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slideMasters/_rels/slideMaster1.xml.rels" ContentType="application/vnd.openxmlformats-package.relationships+xml"/>
  <Override PartName="/ppt/slideMasters/slideMaster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slideLayouts/_rels/slideLayout2.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s/_rels/slide13.xml.rels" ContentType="application/vnd.openxmlformats-package.relationships+xml"/>
  <Override PartName="/ppt/slides/_rels/slide12.xml.rels" ContentType="application/vnd.openxmlformats-package.relationships+xml"/>
  <Override PartName="/ppt/slides/_rels/slide9.xml.rels" ContentType="application/vnd.openxmlformats-package.relationships+xml"/>
  <Override PartName="/ppt/slides/_rels/slide11.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4.xml.rels" ContentType="application/vnd.openxmlformats-package.relationships+xml"/>
  <Override PartName="/ppt/slides/_rels/slide3.xml.rels" ContentType="application/vnd.openxmlformats-package.relationships+xml"/>
  <Override PartName="/ppt/slides/_rels/slide2.xml.rels" ContentType="application/vnd.openxmlformats-package.relationships+xml"/>
  <Override PartName="/ppt/slides/_rels/slide1.xml.rels" ContentType="application/vnd.openxmlformats-package.relationships+xml"/>
  <Override PartName="/ppt/slides/slide13.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2.xml" ContentType="application/vnd.openxmlformats-officedocument.presentationml.slide+xml"/>
  <Override PartName="/ppt/slides/slide1.xml" ContentType="application/vnd.openxmlformats-officedocument.presentationml.slide+xml"/>
  <Override PartName="/ppt/_rels/presentation.xml.rels" ContentType="application/vnd.openxmlformats-package.relationships+xml"/>
  <Override PartName="/ppt/media/image56.png" ContentType="image/png"/>
  <Override PartName="/ppt/media/image55.png" ContentType="image/png"/>
  <Override PartName="/ppt/media/image54.png" ContentType="image/png"/>
  <Override PartName="/ppt/media/image53.png" ContentType="image/png"/>
  <Override PartName="/ppt/media/image52.png" ContentType="image/png"/>
  <Override PartName="/ppt/media/image51.png" ContentType="image/png"/>
  <Override PartName="/ppt/media/image50.png" ContentType="image/png"/>
  <Override PartName="/ppt/media/image46.png" ContentType="image/png"/>
  <Override PartName="/ppt/media/image45.png" ContentType="image/png"/>
  <Override PartName="/ppt/media/image44.png" ContentType="image/png"/>
  <Override PartName="/ppt/media/image43.png" ContentType="image/png"/>
  <Override PartName="/ppt/media/image42.png" ContentType="image/png"/>
  <Override PartName="/ppt/media/image41.png" ContentType="image/png"/>
  <Override PartName="/ppt/media/image40.png" ContentType="image/png"/>
  <Override PartName="/ppt/media/image32.png" ContentType="image/png"/>
  <Override PartName="/ppt/media/image31.png" ContentType="image/png"/>
  <Override PartName="/ppt/media/image30.png" ContentType="image/png"/>
  <Override PartName="/ppt/media/image13.png" ContentType="image/png"/>
  <Override PartName="/ppt/media/image4.png" ContentType="image/png"/>
  <Override PartName="/ppt/media/image36.png" ContentType="image/png"/>
  <Override PartName="/ppt/media/image9.png" ContentType="image/png"/>
  <Override PartName="/ppt/media/image18.png" ContentType="image/png"/>
  <Override PartName="/ppt/media/image83.png" ContentType="image/png"/>
  <Override PartName="/ppt/media/image57.png" ContentType="image/png"/>
  <Override PartName="/ppt/media/image20.png" ContentType="image/png"/>
  <Override PartName="/ppt/media/image22.png" ContentType="image/png"/>
  <Override PartName="/ppt/media/image59.png" ContentType="image/png"/>
  <Override PartName="/ppt/media/image23.png" ContentType="image/png"/>
  <Override PartName="/ppt/media/image60.png" ContentType="image/png"/>
  <Override PartName="/ppt/media/image24.png" ContentType="image/png"/>
  <Override PartName="/ppt/media/image61.png" ContentType="image/png"/>
  <Override PartName="/ppt/media/image25.png" ContentType="image/png"/>
  <Override PartName="/ppt/media/image62.png" ContentType="image/png"/>
  <Override PartName="/ppt/media/image26.png" ContentType="image/png"/>
  <Override PartName="/ppt/media/image63.png" ContentType="image/png"/>
  <Override PartName="/ppt/media/image27.png" ContentType="image/png"/>
  <Override PartName="/ppt/media/image64.png" ContentType="image/png"/>
  <Override PartName="/ppt/media/image28.png" ContentType="image/png"/>
  <Override PartName="/ppt/media/image70.png" ContentType="image/png"/>
  <Override PartName="/ppt/media/image65.png" ContentType="image/png"/>
  <Override PartName="/ppt/media/image29.png" ContentType="image/png"/>
  <Override PartName="/ppt/media/image71.png" ContentType="image/png"/>
  <Override PartName="/ppt/media/image66.png" ContentType="image/png"/>
  <Override PartName="/ppt/media/image79.png" ContentType="image/png"/>
  <Override PartName="/ppt/media/image67.png" ContentType="image/png"/>
  <Override PartName="/ppt/media/image78.png" ContentType="image/png"/>
  <Override PartName="/ppt/media/image77.png" ContentType="image/png"/>
  <Override PartName="/ppt/media/image76.png" ContentType="image/png"/>
  <Override PartName="/ppt/media/image75.png" ContentType="image/png"/>
  <Override PartName="/ppt/media/image74.png" ContentType="image/png"/>
  <Override PartName="/ppt/media/image73.png" ContentType="image/png"/>
  <Override PartName="/ppt/media/image72.png" ContentType="image/png"/>
  <Override PartName="/ppt/media/image69.png" ContentType="image/png"/>
  <Override PartName="/ppt/media/image68.png" ContentType="image/png"/>
  <Override PartName="/ppt/media/image21.png" ContentType="image/png"/>
  <Override PartName="/ppt/media/image58.png" ContentType="image/png"/>
  <Override PartName="/ppt/media/image19.png" ContentType="image/png"/>
  <Override PartName="/ppt/media/image84.png" ContentType="image/png"/>
  <Override PartName="/ppt/media/image14.png" ContentType="image/png"/>
  <Override PartName="/ppt/media/image5.png" ContentType="image/png"/>
  <Override PartName="/ppt/media/image37.png" ContentType="image/png"/>
  <Override PartName="/ppt/media/image38.png" ContentType="image/png"/>
  <Override PartName="/ppt/media/image80.png" ContentType="image/png"/>
  <Override PartName="/ppt/media/image6.png" ContentType="image/png"/>
  <Override PartName="/ppt/media/image15.png" ContentType="image/png"/>
  <Override PartName="/ppt/media/image33.png" ContentType="image/png"/>
  <Override PartName="/ppt/media/image1.png" ContentType="image/png"/>
  <Override PartName="/ppt/media/image10.png" ContentType="image/png"/>
  <Override PartName="/ppt/media/image47.png" ContentType="image/png"/>
  <Override PartName="/ppt/media/image39.png" ContentType="image/png"/>
  <Override PartName="/ppt/media/image81.png" ContentType="image/png"/>
  <Override PartName="/ppt/media/image7.png" ContentType="image/png"/>
  <Override PartName="/ppt/media/image16.png" ContentType="image/png"/>
  <Override PartName="/ppt/media/image34.png" ContentType="image/png"/>
  <Override PartName="/ppt/media/image2.png" ContentType="image/png"/>
  <Override PartName="/ppt/media/image11.png" ContentType="image/png"/>
  <Override PartName="/ppt/media/image48.png" ContentType="image/png"/>
  <Override PartName="/ppt/media/image82.png" ContentType="image/png"/>
  <Override PartName="/ppt/media/image8.png" ContentType="image/png"/>
  <Override PartName="/ppt/media/image17.png" ContentType="image/png"/>
  <Override PartName="/ppt/media/image35.png" ContentType="image/png"/>
  <Override PartName="/ppt/media/image3.png" ContentType="image/png"/>
  <Override PartName="/ppt/media/image12.png" ContentType="image/png"/>
  <Override PartName="/ppt/media/image49.png" ContentType="image/png"/>
</Types>
</file>

<file path=_rels/.rels><?xml version="1.0" encoding="UTF-8"?>
<Relationships xmlns="http://schemas.openxmlformats.org/package/2006/relationships"><Relationship Id="rId1" Type="http://schemas.openxmlformats.org/officedocument/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Lst>
  <p:sldSz cx="10704513" cy="601980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master-page3">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master-page3">
    <p:spTree>
      <p:nvGrpSpPr>
        <p:cNvPr id="1" name=""/>
        <p:cNvGrpSpPr/>
        <p:nvPr/>
      </p:nvGrpSpPr>
      <p:grpSpPr>
        <a:xfrm>
          <a:off x="0" y="0"/>
          <a:ext cx="0" cy="0"/>
          <a:chOff x="0" y="0"/>
          <a:chExt cx="0" cy="0"/>
        </a:xfrm>
      </p:grpSpPr>
      <p:sp>
        <p:nvSpPr>
          <p:cNvPr id="2" name="PlaceHolder 1"/>
          <p:cNvSpPr>
            <a:spLocks noGrp="1"/>
          </p:cNvSpPr>
          <p:nvPr>
            <p:ph type="title"/>
          </p:nvPr>
        </p:nvSpPr>
        <p:spPr>
          <a:xfrm>
            <a:off x="534960" y="225720"/>
            <a:ext cx="9633240" cy="944640"/>
          </a:xfrm>
          <a:prstGeom prst="rect">
            <a:avLst/>
          </a:prstGeom>
          <a:noFill/>
          <a:ln w="0">
            <a:noFill/>
          </a:ln>
        </p:spPr>
        <p:txBody>
          <a:bodyPr lIns="0" rIns="0" tIns="0" bIns="0" anchor="ctr">
            <a:spAutoFit/>
          </a:bodyPr>
          <a:p>
            <a:pPr indent="0" algn="ctr">
              <a:buNone/>
            </a:pPr>
            <a:endParaRPr b="0" lang="en-US" sz="4400" strike="noStrike" u="none">
              <a:solidFill>
                <a:srgbClr val="000000"/>
              </a:solidFill>
              <a:effectLst/>
              <a:uFillTx/>
              <a:latin typeface="Arial"/>
            </a:endParaRPr>
          </a:p>
        </p:txBody>
      </p:sp>
      <p:sp>
        <p:nvSpPr>
          <p:cNvPr id="3" name="PlaceHolder 2"/>
          <p:cNvSpPr>
            <a:spLocks noGrp="1"/>
          </p:cNvSpPr>
          <p:nvPr>
            <p:ph type="subTitle"/>
          </p:nvPr>
        </p:nvSpPr>
        <p:spPr>
          <a:xfrm>
            <a:off x="534960" y="1324080"/>
            <a:ext cx="9633240" cy="3282120"/>
          </a:xfrm>
          <a:prstGeom prst="rect">
            <a:avLst/>
          </a:prstGeom>
          <a:noFill/>
          <a:ln w="0">
            <a:noFill/>
          </a:ln>
        </p:spPr>
        <p:txBody>
          <a:bodyPr lIns="0" rIns="0" tIns="0" bIns="0" anchor="ctr">
            <a:spAutoFit/>
          </a:bodyPr>
          <a:p>
            <a:pPr indent="0" algn="ctr">
              <a:buNone/>
            </a:pPr>
            <a:endParaRPr b="0" lang="en-US" sz="3200" strike="noStrike" u="none">
              <a:solidFill>
                <a:srgbClr val="000000"/>
              </a:solidFill>
              <a:effectLst/>
              <a:uFillTx/>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0" name="PlaceHolder 1"/>
          <p:cNvSpPr>
            <a:spLocks noGrp="1"/>
          </p:cNvSpPr>
          <p:nvPr>
            <p:ph type="title"/>
          </p:nvPr>
        </p:nvSpPr>
        <p:spPr>
          <a:xfrm>
            <a:off x="534960" y="225720"/>
            <a:ext cx="9633240" cy="944640"/>
          </a:xfrm>
          <a:prstGeom prst="rect">
            <a:avLst/>
          </a:prstGeom>
          <a:noFill/>
          <a:ln w="0">
            <a:noFill/>
          </a:ln>
        </p:spPr>
        <p:txBody>
          <a:bodyPr lIns="0" rIns="0" tIns="0" bIns="0" anchor="ctr">
            <a:noAutofit/>
          </a:bodyPr>
          <a:p>
            <a:pPr indent="0" algn="ctr">
              <a:buNone/>
            </a:pPr>
            <a:r>
              <a:rPr b="0" lang="en-US" sz="4400" strike="noStrike" u="none">
                <a:solidFill>
                  <a:srgbClr val="000000"/>
                </a:solidFill>
                <a:effectLst/>
                <a:uFillTx/>
                <a:latin typeface="Arial"/>
              </a:rPr>
              <a:t>Click to edit the title text format</a:t>
            </a:r>
            <a:endParaRPr b="0" lang="en-US" sz="4400" strike="noStrike" u="none">
              <a:solidFill>
                <a:srgbClr val="000000"/>
              </a:solidFill>
              <a:effectLst/>
              <a:uFillTx/>
              <a:latin typeface="Arial"/>
            </a:endParaRPr>
          </a:p>
        </p:txBody>
      </p:sp>
      <p:sp>
        <p:nvSpPr>
          <p:cNvPr id="1" name="PlaceHolder 2"/>
          <p:cNvSpPr>
            <a:spLocks noGrp="1"/>
          </p:cNvSpPr>
          <p:nvPr>
            <p:ph type="body"/>
          </p:nvPr>
        </p:nvSpPr>
        <p:spPr>
          <a:xfrm>
            <a:off x="534960" y="1324080"/>
            <a:ext cx="9633240" cy="32821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trike="noStrike" u="none">
                <a:solidFill>
                  <a:srgbClr val="000000"/>
                </a:solidFill>
                <a:effectLst/>
                <a:uFillTx/>
                <a:latin typeface="Arial"/>
              </a:rPr>
              <a:t>Click to edit the outline text format</a:t>
            </a:r>
            <a:endParaRPr b="0" lang="en-US" sz="32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2800" strike="noStrike" u="none">
                <a:solidFill>
                  <a:srgbClr val="000000"/>
                </a:solidFill>
                <a:effectLst/>
                <a:uFillTx/>
                <a:latin typeface="Arial"/>
              </a:rPr>
              <a:t>Second Outline Level</a:t>
            </a:r>
            <a:endParaRPr b="0" lang="en-US" sz="2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2400" strike="noStrike" u="none">
                <a:solidFill>
                  <a:srgbClr val="000000"/>
                </a:solidFill>
                <a:effectLst/>
                <a:uFillTx/>
                <a:latin typeface="Arial"/>
              </a:rPr>
              <a:t>Third Outline Level</a:t>
            </a:r>
            <a:endParaRPr b="0" lang="en-US" sz="2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2000" strike="noStrike" u="none">
                <a:solidFill>
                  <a:srgbClr val="000000"/>
                </a:solidFill>
                <a:effectLst/>
                <a:uFillTx/>
                <a:latin typeface="Arial"/>
              </a:rPr>
              <a:t>Fourth Outline Level</a:t>
            </a:r>
            <a:endParaRPr b="0" lang="en-US" sz="20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Fifth Outline Level</a:t>
            </a:r>
            <a:endParaRPr b="0" lang="en-US" sz="20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Sixth Outline Level</a:t>
            </a:r>
            <a:endParaRPr b="0" lang="en-US" sz="20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Seventh Outline Level</a:t>
            </a:r>
            <a:endParaRPr b="0" lang="en-US" sz="2000" strike="noStrike" u="none">
              <a:solidFill>
                <a:srgbClr val="000000"/>
              </a:solidFill>
              <a:effectLst/>
              <a:uFillTx/>
              <a:latin typeface="Arial"/>
            </a:endParaRPr>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7.png"/><Relationship Id="rId8" Type="http://schemas.openxmlformats.org/officeDocument/2006/relationships/image" Target="../media/image8.png"/><Relationship Id="rId9" Type="http://schemas.openxmlformats.org/officeDocument/2006/relationships/image" Target="../media/image9.png"/><Relationship Id="rId10" Type="http://schemas.openxmlformats.org/officeDocument/2006/relationships/slideLayout" Target="../slideLayouts/slideLayout2.xml"/>
</Relationships>
</file>

<file path=ppt/slides/_rels/slide2.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14.png"/><Relationship Id="rId6" Type="http://schemas.openxmlformats.org/officeDocument/2006/relationships/image" Target="../media/image15.png"/><Relationship Id="rId7" Type="http://schemas.openxmlformats.org/officeDocument/2006/relationships/image" Target="../media/image16.png"/><Relationship Id="rId8" Type="http://schemas.openxmlformats.org/officeDocument/2006/relationships/image" Target="../media/image17.png"/><Relationship Id="rId9" Type="http://schemas.openxmlformats.org/officeDocument/2006/relationships/image" Target="../media/image18.png"/><Relationship Id="rId10" Type="http://schemas.openxmlformats.org/officeDocument/2006/relationships/image" Target="../media/image19.png"/><Relationship Id="rId11" Type="http://schemas.openxmlformats.org/officeDocument/2006/relationships/image" Target="../media/image19.png"/><Relationship Id="rId12" Type="http://schemas.openxmlformats.org/officeDocument/2006/relationships/image" Target="../media/image19.png"/><Relationship Id="rId13" Type="http://schemas.openxmlformats.org/officeDocument/2006/relationships/image" Target="../media/image19.png"/><Relationship Id="rId14" Type="http://schemas.openxmlformats.org/officeDocument/2006/relationships/slideLayout" Target="../slideLayouts/slideLayout1.xml"/>
</Relationships>
</file>

<file path=ppt/slides/_rels/slide3.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image" Target="../media/image20.png"/><Relationship Id="rId3" Type="http://schemas.openxmlformats.org/officeDocument/2006/relationships/image" Target="../media/image21.png"/><Relationship Id="rId4" Type="http://schemas.openxmlformats.org/officeDocument/2006/relationships/image" Target="../media/image22.png"/><Relationship Id="rId5" Type="http://schemas.openxmlformats.org/officeDocument/2006/relationships/image" Target="../media/image23.png"/><Relationship Id="rId6" Type="http://schemas.openxmlformats.org/officeDocument/2006/relationships/image" Target="../media/image24.png"/><Relationship Id="rId7" Type="http://schemas.openxmlformats.org/officeDocument/2006/relationships/image" Target="../media/image25.png"/><Relationship Id="rId8" Type="http://schemas.openxmlformats.org/officeDocument/2006/relationships/image" Target="../media/image26.png"/><Relationship Id="rId9" Type="http://schemas.openxmlformats.org/officeDocument/2006/relationships/image" Target="../media/image27.png"/><Relationship Id="rId10" Type="http://schemas.openxmlformats.org/officeDocument/2006/relationships/slideLayout" Target="../slideLayouts/slideLayout1.xml"/>
</Relationships>
</file>

<file path=ppt/slides/_rels/slide4.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image" Target="../media/image28.png"/><Relationship Id="rId3" Type="http://schemas.openxmlformats.org/officeDocument/2006/relationships/image" Target="../media/image29.png"/><Relationship Id="rId4" Type="http://schemas.openxmlformats.org/officeDocument/2006/relationships/image" Target="../media/image29.png"/><Relationship Id="rId5" Type="http://schemas.openxmlformats.org/officeDocument/2006/relationships/image" Target="../media/image29.png"/><Relationship Id="rId6" Type="http://schemas.openxmlformats.org/officeDocument/2006/relationships/image" Target="../media/image30.png"/><Relationship Id="rId7" Type="http://schemas.openxmlformats.org/officeDocument/2006/relationships/slideLayout" Target="../slideLayouts/slideLayout1.xml"/>
</Relationships>
</file>

<file path=ppt/slides/_rels/slide5.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image" Target="../media/image31.png"/><Relationship Id="rId3" Type="http://schemas.openxmlformats.org/officeDocument/2006/relationships/image" Target="../media/image32.png"/><Relationship Id="rId4" Type="http://schemas.openxmlformats.org/officeDocument/2006/relationships/image" Target="../media/image33.png"/><Relationship Id="rId5" Type="http://schemas.openxmlformats.org/officeDocument/2006/relationships/image" Target="../media/image34.png"/><Relationship Id="rId6" Type="http://schemas.openxmlformats.org/officeDocument/2006/relationships/image" Target="../media/image35.png"/><Relationship Id="rId7" Type="http://schemas.openxmlformats.org/officeDocument/2006/relationships/image" Target="../media/image32.png"/><Relationship Id="rId8" Type="http://schemas.openxmlformats.org/officeDocument/2006/relationships/image" Target="../media/image36.png"/><Relationship Id="rId9" Type="http://schemas.openxmlformats.org/officeDocument/2006/relationships/image" Target="../media/image37.png"/><Relationship Id="rId10" Type="http://schemas.openxmlformats.org/officeDocument/2006/relationships/image" Target="../media/image38.png"/><Relationship Id="rId11" Type="http://schemas.openxmlformats.org/officeDocument/2006/relationships/image" Target="../media/image39.png"/><Relationship Id="rId12" Type="http://schemas.openxmlformats.org/officeDocument/2006/relationships/image" Target="../media/image40.png"/><Relationship Id="rId13" Type="http://schemas.openxmlformats.org/officeDocument/2006/relationships/image" Target="../media/image41.png"/><Relationship Id="rId14" Type="http://schemas.openxmlformats.org/officeDocument/2006/relationships/image" Target="../media/image42.png"/><Relationship Id="rId15" Type="http://schemas.openxmlformats.org/officeDocument/2006/relationships/slideLayout" Target="../slideLayouts/slideLayout1.xml"/>
</Relationships>
</file>

<file path=ppt/slides/_rels/slide6.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image" Target="../media/image43.png"/><Relationship Id="rId3" Type="http://schemas.openxmlformats.org/officeDocument/2006/relationships/image" Target="../media/image44.png"/><Relationship Id="rId4" Type="http://schemas.openxmlformats.org/officeDocument/2006/relationships/image" Target="../media/image45.png"/><Relationship Id="rId5" Type="http://schemas.openxmlformats.org/officeDocument/2006/relationships/image" Target="../media/image45.png"/><Relationship Id="rId6" Type="http://schemas.openxmlformats.org/officeDocument/2006/relationships/image" Target="../media/image45.png"/><Relationship Id="rId7" Type="http://schemas.openxmlformats.org/officeDocument/2006/relationships/image" Target="../media/image46.png"/><Relationship Id="rId8" Type="http://schemas.openxmlformats.org/officeDocument/2006/relationships/slideLayout" Target="../slideLayouts/slideLayout1.xml"/>
</Relationships>
</file>

<file path=ppt/slides/_rels/slide7.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image" Target="../media/image47.png"/><Relationship Id="rId3" Type="http://schemas.openxmlformats.org/officeDocument/2006/relationships/image" Target="../media/image38.png"/><Relationship Id="rId4" Type="http://schemas.openxmlformats.org/officeDocument/2006/relationships/image" Target="../media/image48.png"/><Relationship Id="rId5" Type="http://schemas.openxmlformats.org/officeDocument/2006/relationships/image" Target="../media/image32.png"/><Relationship Id="rId6" Type="http://schemas.openxmlformats.org/officeDocument/2006/relationships/image" Target="../media/image49.png"/><Relationship Id="rId7" Type="http://schemas.openxmlformats.org/officeDocument/2006/relationships/image" Target="../media/image38.png"/><Relationship Id="rId8" Type="http://schemas.openxmlformats.org/officeDocument/2006/relationships/image" Target="../media/image48.png"/><Relationship Id="rId9" Type="http://schemas.openxmlformats.org/officeDocument/2006/relationships/slideLayout" Target="../slideLayouts/slideLayout1.xml"/>
</Relationships>
</file>

<file path=ppt/slides/_rels/slide8.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image" Target="../media/image50.png"/><Relationship Id="rId3" Type="http://schemas.openxmlformats.org/officeDocument/2006/relationships/image" Target="../media/image51.png"/><Relationship Id="rId4" Type="http://schemas.openxmlformats.org/officeDocument/2006/relationships/image" Target="../media/image52.png"/><Relationship Id="rId5" Type="http://schemas.openxmlformats.org/officeDocument/2006/relationships/image" Target="../media/image52.png"/><Relationship Id="rId6" Type="http://schemas.openxmlformats.org/officeDocument/2006/relationships/image" Target="../media/image53.png"/><Relationship Id="rId7" Type="http://schemas.openxmlformats.org/officeDocument/2006/relationships/image" Target="../media/image52.png"/><Relationship Id="rId8" Type="http://schemas.openxmlformats.org/officeDocument/2006/relationships/image" Target="../media/image52.png"/><Relationship Id="rId9" Type="http://schemas.openxmlformats.org/officeDocument/2006/relationships/image" Target="../media/image54.png"/><Relationship Id="rId10" Type="http://schemas.openxmlformats.org/officeDocument/2006/relationships/image" Target="../media/image52.png"/><Relationship Id="rId11" Type="http://schemas.openxmlformats.org/officeDocument/2006/relationships/image" Target="../media/image52.png"/><Relationship Id="rId12" Type="http://schemas.openxmlformats.org/officeDocument/2006/relationships/slideLayout" Target="../slideLayouts/slideLayout1.xml"/>
</Relationships>
</file>

<file path=ppt/slides/_rels/slide9.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image" Target="../media/image55.png"/><Relationship Id="rId3" Type="http://schemas.openxmlformats.org/officeDocument/2006/relationships/image" Target="../media/image56.png"/><Relationship Id="rId4" Type="http://schemas.openxmlformats.org/officeDocument/2006/relationships/image" Target="../media/image57.png"/><Relationship Id="rId5" Type="http://schemas.openxmlformats.org/officeDocument/2006/relationships/slideLayout" Target="../slideLayouts/slideLayout1.xml"/>
</Relationships>
</file>

<file path=ppt/slides/_rels/slide10.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image" Target="../media/image43.png"/><Relationship Id="rId3" Type="http://schemas.openxmlformats.org/officeDocument/2006/relationships/image" Target="../media/image58.png"/><Relationship Id="rId4" Type="http://schemas.openxmlformats.org/officeDocument/2006/relationships/image" Target="../media/image59.png"/><Relationship Id="rId5" Type="http://schemas.openxmlformats.org/officeDocument/2006/relationships/slideLayout" Target="../slideLayouts/slideLayout1.xml"/>
</Relationships>
</file>

<file path=ppt/slides/_rels/slide11.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image" Target="../media/image60.png"/><Relationship Id="rId3" Type="http://schemas.openxmlformats.org/officeDocument/2006/relationships/image" Target="../media/image61.png"/><Relationship Id="rId4" Type="http://schemas.openxmlformats.org/officeDocument/2006/relationships/image" Target="../media/image62.png"/><Relationship Id="rId5" Type="http://schemas.openxmlformats.org/officeDocument/2006/relationships/image" Target="../media/image63.png"/><Relationship Id="rId6" Type="http://schemas.openxmlformats.org/officeDocument/2006/relationships/image" Target="../media/image64.png"/><Relationship Id="rId7" Type="http://schemas.openxmlformats.org/officeDocument/2006/relationships/image" Target="../media/image65.png"/><Relationship Id="rId8" Type="http://schemas.openxmlformats.org/officeDocument/2006/relationships/image" Target="../media/image66.png"/><Relationship Id="rId9" Type="http://schemas.openxmlformats.org/officeDocument/2006/relationships/image" Target="../media/image65.png"/><Relationship Id="rId10" Type="http://schemas.openxmlformats.org/officeDocument/2006/relationships/image" Target="../media/image67.png"/><Relationship Id="rId11" Type="http://schemas.openxmlformats.org/officeDocument/2006/relationships/slideLayout" Target="../slideLayouts/slideLayout1.xml"/>
</Relationships>
</file>

<file path=ppt/slides/_rels/slide12.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image" Target="../media/image68.png"/><Relationship Id="rId3" Type="http://schemas.openxmlformats.org/officeDocument/2006/relationships/image" Target="../media/image69.png"/><Relationship Id="rId4" Type="http://schemas.openxmlformats.org/officeDocument/2006/relationships/image" Target="../media/image70.png"/><Relationship Id="rId5" Type="http://schemas.openxmlformats.org/officeDocument/2006/relationships/image" Target="../media/image71.png"/><Relationship Id="rId6" Type="http://schemas.openxmlformats.org/officeDocument/2006/relationships/image" Target="../media/image72.png"/><Relationship Id="rId7" Type="http://schemas.openxmlformats.org/officeDocument/2006/relationships/image" Target="../media/image73.png"/><Relationship Id="rId8" Type="http://schemas.openxmlformats.org/officeDocument/2006/relationships/image" Target="../media/image74.png"/><Relationship Id="rId9" Type="http://schemas.openxmlformats.org/officeDocument/2006/relationships/image" Target="../media/image75.png"/><Relationship Id="rId10" Type="http://schemas.openxmlformats.org/officeDocument/2006/relationships/slideLayout" Target="../slideLayouts/slideLayout1.xml"/>
</Relationships>
</file>

<file path=ppt/slides/_rels/slide13.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image" Target="../media/image76.png"/><Relationship Id="rId3" Type="http://schemas.openxmlformats.org/officeDocument/2006/relationships/image" Target="../media/image77.png"/><Relationship Id="rId4" Type="http://schemas.openxmlformats.org/officeDocument/2006/relationships/image" Target="../media/image44.png"/><Relationship Id="rId5" Type="http://schemas.openxmlformats.org/officeDocument/2006/relationships/image" Target="../media/image78.png"/><Relationship Id="rId6" Type="http://schemas.openxmlformats.org/officeDocument/2006/relationships/image" Target="../media/image79.png"/><Relationship Id="rId7" Type="http://schemas.openxmlformats.org/officeDocument/2006/relationships/image" Target="../media/image80.png"/><Relationship Id="rId8" Type="http://schemas.openxmlformats.org/officeDocument/2006/relationships/image" Target="../media/image81.png"/><Relationship Id="rId9" Type="http://schemas.openxmlformats.org/officeDocument/2006/relationships/image" Target="../media/image82.png"/><Relationship Id="rId10" Type="http://schemas.openxmlformats.org/officeDocument/2006/relationships/image" Target="../media/image83.png"/><Relationship Id="rId11" Type="http://schemas.openxmlformats.org/officeDocument/2006/relationships/image" Target="../media/image84.png"/><Relationship Id="rId12" Type="http://schemas.openxmlformats.org/officeDocument/2006/relationships/slideLayout" Target="../slideLayouts/slideLayout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 name=""/>
          <p:cNvSpPr/>
          <p:nvPr/>
        </p:nvSpPr>
        <p:spPr>
          <a:xfrm>
            <a:off x="0" y="0"/>
            <a:ext cx="10696680" cy="6017040"/>
          </a:xfrm>
          <a:custGeom>
            <a:avLst/>
            <a:gdLst/>
            <a:ahLst/>
            <a:rect l="0" t="0" r="r" b="b"/>
            <a:pathLst>
              <a:path w="29713" h="16714">
                <a:moveTo>
                  <a:pt x="0" y="0"/>
                </a:moveTo>
                <a:lnTo>
                  <a:pt x="29713" y="0"/>
                </a:lnTo>
                <a:lnTo>
                  <a:pt x="29713" y="16714"/>
                </a:lnTo>
                <a:lnTo>
                  <a:pt x="0" y="16714"/>
                </a:lnTo>
                <a:lnTo>
                  <a:pt x="0" y="0"/>
                </a:lnTo>
                <a:close/>
              </a:path>
            </a:pathLst>
          </a:custGeom>
          <a:solidFill>
            <a:srgbClr val="1c3d5a"/>
          </a:solidFill>
          <a:ln w="0">
            <a:noFill/>
          </a:ln>
        </p:spPr>
        <p:txBody>
          <a:bodyPr lIns="0" rIns="0" tIns="0" bIns="0" anchor="t">
            <a:noAutofit/>
          </a:bodyPr>
          <a:p>
            <a:endParaRPr b="0" lang="en-US" sz="2400" strike="noStrike" u="none">
              <a:solidFill>
                <a:srgbClr val="ffffff"/>
              </a:solidFill>
              <a:effectLst/>
              <a:uFillTx/>
              <a:latin typeface="Times New Roman"/>
            </a:endParaRPr>
          </a:p>
        </p:txBody>
      </p:sp>
      <p:pic>
        <p:nvPicPr>
          <p:cNvPr id="5" name="" descr=""/>
          <p:cNvPicPr/>
          <p:nvPr/>
        </p:nvPicPr>
        <p:blipFill>
          <a:blip r:embed="rId1"/>
          <a:stretch/>
        </p:blipFill>
        <p:spPr>
          <a:xfrm>
            <a:off x="0" y="0"/>
            <a:ext cx="10696320" cy="6016320"/>
          </a:xfrm>
          <a:prstGeom prst="rect">
            <a:avLst/>
          </a:prstGeom>
          <a:noFill/>
          <a:ln w="0">
            <a:noFill/>
          </a:ln>
        </p:spPr>
      </p:pic>
      <p:sp>
        <p:nvSpPr>
          <p:cNvPr id="6" name=""/>
          <p:cNvSpPr/>
          <p:nvPr/>
        </p:nvSpPr>
        <p:spPr>
          <a:xfrm>
            <a:off x="5339880" y="2999880"/>
            <a:ext cx="16920" cy="16920"/>
          </a:xfrm>
          <a:custGeom>
            <a:avLst/>
            <a:gdLst/>
            <a:ahLst/>
            <a:rect l="0" t="0" r="r" b="b"/>
            <a:pathLst>
              <a:path fill="none" w="47" h="47">
                <a:moveTo>
                  <a:pt x="0" y="0"/>
                </a:moveTo>
                <a:lnTo>
                  <a:pt x="47" y="0"/>
                </a:lnTo>
                <a:lnTo>
                  <a:pt x="47" y="47"/>
                </a:lnTo>
                <a:lnTo>
                  <a:pt x="0" y="47"/>
                </a:lnTo>
                <a:lnTo>
                  <a:pt x="0" y="0"/>
                </a:lnTo>
              </a:path>
            </a:pathLst>
          </a:custGeom>
          <a:ln w="16560">
            <a:solidFill>
              <a:srgbClr val="a7c6d9"/>
            </a:solidFill>
            <a:miter/>
          </a:ln>
        </p:spPr>
        <p:txBody>
          <a:bodyPr lIns="8280" rIns="8280" tIns="8280" bIns="8280" anchor="t">
            <a:noAutofit/>
          </a:bodyPr>
          <a:p>
            <a:endParaRPr b="0" lang="en-US" sz="2400" strike="noStrike" u="none">
              <a:solidFill>
                <a:srgbClr val="000000"/>
              </a:solidFill>
              <a:effectLst/>
              <a:uFillTx/>
              <a:latin typeface="Times New Roman"/>
            </a:endParaRPr>
          </a:p>
        </p:txBody>
      </p:sp>
      <p:sp>
        <p:nvSpPr>
          <p:cNvPr id="7" name=""/>
          <p:cNvSpPr/>
          <p:nvPr/>
        </p:nvSpPr>
        <p:spPr>
          <a:xfrm>
            <a:off x="5339880" y="2999880"/>
            <a:ext cx="16920" cy="16920"/>
          </a:xfrm>
          <a:custGeom>
            <a:avLst/>
            <a:gdLst/>
            <a:ahLst/>
            <a:rect l="0" t="0" r="r" b="b"/>
            <a:pathLst>
              <a:path fill="none" w="47" h="47">
                <a:moveTo>
                  <a:pt x="0" y="0"/>
                </a:moveTo>
                <a:lnTo>
                  <a:pt x="47" y="0"/>
                </a:lnTo>
                <a:lnTo>
                  <a:pt x="47" y="47"/>
                </a:lnTo>
                <a:lnTo>
                  <a:pt x="0" y="47"/>
                </a:lnTo>
                <a:lnTo>
                  <a:pt x="0" y="0"/>
                </a:lnTo>
              </a:path>
            </a:pathLst>
          </a:custGeom>
          <a:ln w="16560">
            <a:solidFill>
              <a:srgbClr val="a7c6d9"/>
            </a:solidFill>
            <a:miter/>
          </a:ln>
        </p:spPr>
        <p:txBody>
          <a:bodyPr lIns="8280" rIns="8280" tIns="8280" bIns="8280" anchor="t">
            <a:noAutofit/>
          </a:bodyPr>
          <a:p>
            <a:endParaRPr b="0" lang="en-US" sz="2400" strike="noStrike" u="none">
              <a:solidFill>
                <a:srgbClr val="000000"/>
              </a:solidFill>
              <a:effectLst/>
              <a:uFillTx/>
              <a:latin typeface="Times New Roman"/>
            </a:endParaRPr>
          </a:p>
        </p:txBody>
      </p:sp>
      <p:sp>
        <p:nvSpPr>
          <p:cNvPr id="8" name=""/>
          <p:cNvSpPr/>
          <p:nvPr/>
        </p:nvSpPr>
        <p:spPr>
          <a:xfrm>
            <a:off x="5339880" y="2999880"/>
            <a:ext cx="16920" cy="16920"/>
          </a:xfrm>
          <a:custGeom>
            <a:avLst/>
            <a:gdLst/>
            <a:ahLst/>
            <a:rect l="0" t="0" r="r" b="b"/>
            <a:pathLst>
              <a:path fill="none" w="47" h="47">
                <a:moveTo>
                  <a:pt x="0" y="0"/>
                </a:moveTo>
                <a:lnTo>
                  <a:pt x="47" y="0"/>
                </a:lnTo>
                <a:lnTo>
                  <a:pt x="47" y="47"/>
                </a:lnTo>
                <a:lnTo>
                  <a:pt x="0" y="47"/>
                </a:lnTo>
                <a:lnTo>
                  <a:pt x="0" y="0"/>
                </a:lnTo>
              </a:path>
            </a:pathLst>
          </a:custGeom>
          <a:ln w="16560">
            <a:solidFill>
              <a:srgbClr val="a7c6d9"/>
            </a:solidFill>
            <a:miter/>
          </a:ln>
        </p:spPr>
        <p:txBody>
          <a:bodyPr lIns="8280" rIns="8280" tIns="8280" bIns="8280" anchor="t">
            <a:noAutofit/>
          </a:bodyPr>
          <a:p>
            <a:endParaRPr b="0" lang="en-US" sz="2400" strike="noStrike" u="none">
              <a:solidFill>
                <a:srgbClr val="000000"/>
              </a:solidFill>
              <a:effectLst/>
              <a:uFillTx/>
              <a:latin typeface="Times New Roman"/>
            </a:endParaRPr>
          </a:p>
        </p:txBody>
      </p:sp>
      <p:sp>
        <p:nvSpPr>
          <p:cNvPr id="9" name=""/>
          <p:cNvSpPr/>
          <p:nvPr/>
        </p:nvSpPr>
        <p:spPr>
          <a:xfrm>
            <a:off x="5339880" y="2999880"/>
            <a:ext cx="16920" cy="16920"/>
          </a:xfrm>
          <a:custGeom>
            <a:avLst/>
            <a:gdLst/>
            <a:ahLst/>
            <a:rect l="0" t="0" r="r" b="b"/>
            <a:pathLst>
              <a:path fill="none" w="47" h="47">
                <a:moveTo>
                  <a:pt x="0" y="0"/>
                </a:moveTo>
                <a:lnTo>
                  <a:pt x="47" y="0"/>
                </a:lnTo>
                <a:lnTo>
                  <a:pt x="47" y="47"/>
                </a:lnTo>
                <a:lnTo>
                  <a:pt x="0" y="47"/>
                </a:lnTo>
                <a:lnTo>
                  <a:pt x="0" y="0"/>
                </a:lnTo>
              </a:path>
            </a:pathLst>
          </a:custGeom>
          <a:ln w="16560">
            <a:solidFill>
              <a:srgbClr val="a7c6d9"/>
            </a:solidFill>
            <a:miter/>
          </a:ln>
        </p:spPr>
        <p:txBody>
          <a:bodyPr lIns="8280" rIns="8280" tIns="8280" bIns="8280" anchor="t">
            <a:noAutofit/>
          </a:bodyPr>
          <a:p>
            <a:endParaRPr b="0" lang="en-US" sz="2400" strike="noStrike" u="none">
              <a:solidFill>
                <a:srgbClr val="000000"/>
              </a:solidFill>
              <a:effectLst/>
              <a:uFillTx/>
              <a:latin typeface="Times New Roman"/>
            </a:endParaRPr>
          </a:p>
        </p:txBody>
      </p:sp>
      <p:pic>
        <p:nvPicPr>
          <p:cNvPr id="10" name="" descr=""/>
          <p:cNvPicPr/>
          <p:nvPr/>
        </p:nvPicPr>
        <p:blipFill>
          <a:blip r:embed="rId2"/>
          <a:stretch/>
        </p:blipFill>
        <p:spPr>
          <a:xfrm>
            <a:off x="1170000" y="-1170000"/>
            <a:ext cx="4178160" cy="4178160"/>
          </a:xfrm>
          <a:prstGeom prst="rect">
            <a:avLst/>
          </a:prstGeom>
          <a:noFill/>
          <a:ln w="0">
            <a:noFill/>
          </a:ln>
        </p:spPr>
      </p:pic>
      <p:sp>
        <p:nvSpPr>
          <p:cNvPr id="11" name=""/>
          <p:cNvSpPr/>
          <p:nvPr/>
        </p:nvSpPr>
        <p:spPr>
          <a:xfrm>
            <a:off x="1544400" y="1544400"/>
            <a:ext cx="922320" cy="922320"/>
          </a:xfrm>
          <a:custGeom>
            <a:avLst/>
            <a:gdLst/>
            <a:ahLst/>
            <a:rect l="0" t="0" r="r" b="b"/>
            <a:pathLst>
              <a:path fill="none" w="2562" h="2562">
                <a:moveTo>
                  <a:pt x="1281" y="0"/>
                </a:moveTo>
                <a:lnTo>
                  <a:pt x="2562" y="1281"/>
                </a:lnTo>
                <a:lnTo>
                  <a:pt x="1281" y="2562"/>
                </a:lnTo>
                <a:lnTo>
                  <a:pt x="0" y="1281"/>
                </a:lnTo>
                <a:lnTo>
                  <a:pt x="1281" y="0"/>
                </a:lnTo>
              </a:path>
            </a:pathLst>
          </a:custGeom>
          <a:ln w="16560">
            <a:solidFill>
              <a:srgbClr val="a7c6d9"/>
            </a:solidFill>
            <a:miter/>
          </a:ln>
        </p:spPr>
        <p:txBody>
          <a:bodyPr lIns="8280" rIns="8280" tIns="8280" bIns="8280" anchor="t">
            <a:noAutofit/>
          </a:bodyPr>
          <a:p>
            <a:endParaRPr b="0" lang="en-US" sz="2400" strike="noStrike" u="none">
              <a:solidFill>
                <a:srgbClr val="000000"/>
              </a:solidFill>
              <a:effectLst/>
              <a:uFillTx/>
              <a:latin typeface="Times New Roman"/>
            </a:endParaRPr>
          </a:p>
        </p:txBody>
      </p:sp>
      <p:pic>
        <p:nvPicPr>
          <p:cNvPr id="12" name="" descr=""/>
          <p:cNvPicPr/>
          <p:nvPr/>
        </p:nvPicPr>
        <p:blipFill>
          <a:blip r:embed="rId3"/>
          <a:stretch/>
        </p:blipFill>
        <p:spPr>
          <a:xfrm rot="2700000">
            <a:off x="1688040" y="1688040"/>
            <a:ext cx="634680" cy="634680"/>
          </a:xfrm>
          <a:prstGeom prst="rect">
            <a:avLst/>
          </a:prstGeom>
          <a:noFill/>
          <a:ln w="0">
            <a:noFill/>
          </a:ln>
        </p:spPr>
      </p:pic>
      <p:sp>
        <p:nvSpPr>
          <p:cNvPr id="13" name=""/>
          <p:cNvSpPr/>
          <p:nvPr/>
        </p:nvSpPr>
        <p:spPr>
          <a:xfrm>
            <a:off x="8532000" y="4186440"/>
            <a:ext cx="484920" cy="485280"/>
          </a:xfrm>
          <a:custGeom>
            <a:avLst/>
            <a:gdLst/>
            <a:ahLst/>
            <a:rect l="0" t="0" r="r" b="b"/>
            <a:pathLst>
              <a:path fill="none" w="1347" h="1348">
                <a:moveTo>
                  <a:pt x="0" y="0"/>
                </a:moveTo>
                <a:lnTo>
                  <a:pt x="1347" y="0"/>
                </a:lnTo>
                <a:lnTo>
                  <a:pt x="1347" y="1348"/>
                </a:lnTo>
                <a:lnTo>
                  <a:pt x="0" y="1348"/>
                </a:lnTo>
                <a:lnTo>
                  <a:pt x="0" y="0"/>
                </a:lnTo>
              </a:path>
            </a:pathLst>
          </a:custGeom>
          <a:ln w="16560">
            <a:solidFill>
              <a:srgbClr val="ff8c00"/>
            </a:solidFill>
            <a:miter/>
          </a:ln>
        </p:spPr>
        <p:txBody>
          <a:bodyPr lIns="8280" rIns="8280" tIns="8280" bIns="8280" anchor="t">
            <a:noAutofit/>
          </a:bodyPr>
          <a:p>
            <a:endParaRPr b="0" lang="en-US" sz="2400" strike="noStrike" u="none">
              <a:solidFill>
                <a:srgbClr val="000000"/>
              </a:solidFill>
              <a:effectLst/>
              <a:uFillTx/>
              <a:latin typeface="Times New Roman"/>
            </a:endParaRPr>
          </a:p>
        </p:txBody>
      </p:sp>
      <p:pic>
        <p:nvPicPr>
          <p:cNvPr id="14" name="" descr=""/>
          <p:cNvPicPr/>
          <p:nvPr/>
        </p:nvPicPr>
        <p:blipFill>
          <a:blip r:embed="rId4"/>
          <a:stretch/>
        </p:blipFill>
        <p:spPr>
          <a:xfrm>
            <a:off x="8540640" y="4195080"/>
            <a:ext cx="467640" cy="467640"/>
          </a:xfrm>
          <a:prstGeom prst="rect">
            <a:avLst/>
          </a:prstGeom>
          <a:noFill/>
          <a:ln w="0">
            <a:noFill/>
          </a:ln>
        </p:spPr>
      </p:pic>
      <p:sp>
        <p:nvSpPr>
          <p:cNvPr id="15" name=""/>
          <p:cNvSpPr/>
          <p:nvPr/>
        </p:nvSpPr>
        <p:spPr>
          <a:xfrm>
            <a:off x="7194960" y="1512360"/>
            <a:ext cx="986400" cy="317880"/>
          </a:xfrm>
          <a:custGeom>
            <a:avLst/>
            <a:gdLst/>
            <a:ahLst/>
            <a:rect l="0" t="0" r="r" b="b"/>
            <a:pathLst>
              <a:path fill="none" w="2740" h="883">
                <a:moveTo>
                  <a:pt x="0" y="0"/>
                </a:moveTo>
                <a:lnTo>
                  <a:pt x="2740" y="0"/>
                </a:lnTo>
                <a:lnTo>
                  <a:pt x="2740" y="883"/>
                </a:lnTo>
                <a:lnTo>
                  <a:pt x="0" y="883"/>
                </a:lnTo>
                <a:lnTo>
                  <a:pt x="0" y="0"/>
                </a:lnTo>
              </a:path>
            </a:pathLst>
          </a:custGeom>
          <a:ln w="16560">
            <a:solidFill>
              <a:srgbClr val="a7c6d9"/>
            </a:solidFill>
            <a:miter/>
          </a:ln>
        </p:spPr>
        <p:txBody>
          <a:bodyPr lIns="8280" rIns="8280" tIns="8280" bIns="8280" anchor="t">
            <a:noAutofit/>
          </a:bodyPr>
          <a:p>
            <a:endParaRPr b="0" lang="en-US" sz="2400" strike="noStrike" u="none">
              <a:solidFill>
                <a:srgbClr val="000000"/>
              </a:solidFill>
              <a:effectLst/>
              <a:uFillTx/>
              <a:latin typeface="Times New Roman"/>
            </a:endParaRPr>
          </a:p>
        </p:txBody>
      </p:sp>
      <p:pic>
        <p:nvPicPr>
          <p:cNvPr id="16" name="" descr=""/>
          <p:cNvPicPr/>
          <p:nvPr/>
        </p:nvPicPr>
        <p:blipFill>
          <a:blip r:embed="rId5"/>
          <a:stretch/>
        </p:blipFill>
        <p:spPr>
          <a:xfrm>
            <a:off x="7203600" y="1521000"/>
            <a:ext cx="969120" cy="300600"/>
          </a:xfrm>
          <a:prstGeom prst="rect">
            <a:avLst/>
          </a:prstGeom>
          <a:noFill/>
          <a:ln w="0">
            <a:noFill/>
          </a:ln>
        </p:spPr>
      </p:pic>
      <p:sp>
        <p:nvSpPr>
          <p:cNvPr id="17" name=""/>
          <p:cNvSpPr txBox="1"/>
          <p:nvPr/>
        </p:nvSpPr>
        <p:spPr>
          <a:xfrm>
            <a:off x="4767480" y="5607360"/>
            <a:ext cx="1411920" cy="169560"/>
          </a:xfrm>
          <a:prstGeom prst="rect">
            <a:avLst/>
          </a:prstGeom>
          <a:noFill/>
          <a:ln w="0">
            <a:noFill/>
          </a:ln>
        </p:spPr>
        <p:txBody>
          <a:bodyPr wrap="none" lIns="0" rIns="0" tIns="0" bIns="0" anchor="t">
            <a:spAutoFit/>
          </a:bodyPr>
          <a:p>
            <a:r>
              <a:rPr b="0" lang="zh-CN" sz="920" strike="noStrike" u="none">
                <a:solidFill>
                  <a:srgbClr val="a7c6d9"/>
                </a:solidFill>
                <a:effectLst/>
                <a:uFillTx/>
                <a:latin typeface="NotoSansJP"/>
                <a:ea typeface="NotoSansJP"/>
              </a:rPr>
              <a:t>報告日</a:t>
            </a:r>
            <a:r>
              <a:rPr b="0" lang="en-US" sz="920" strike="noStrike" u="none">
                <a:solidFill>
                  <a:srgbClr val="a7c6d9"/>
                </a:solidFill>
                <a:effectLst/>
                <a:uFillTx/>
                <a:latin typeface="NotoSansJP"/>
                <a:ea typeface="NotoSansJP"/>
              </a:rPr>
              <a:t>: 2025</a:t>
            </a:r>
            <a:r>
              <a:rPr b="0" lang="zh-CN" sz="920" strike="noStrike" u="none">
                <a:solidFill>
                  <a:srgbClr val="a7c6d9"/>
                </a:solidFill>
                <a:effectLst/>
                <a:uFillTx/>
                <a:latin typeface="NotoSansJP"/>
                <a:ea typeface="NotoSansJP"/>
              </a:rPr>
              <a:t>年</a:t>
            </a:r>
            <a:r>
              <a:rPr b="0" lang="en-US" sz="920" strike="noStrike" u="none">
                <a:solidFill>
                  <a:srgbClr val="a7c6d9"/>
                </a:solidFill>
                <a:effectLst/>
                <a:uFillTx/>
                <a:latin typeface="NotoSansJP"/>
                <a:ea typeface="NotoSansJP"/>
              </a:rPr>
              <a:t>6</a:t>
            </a:r>
            <a:r>
              <a:rPr b="0" lang="zh-CN" sz="920" strike="noStrike" u="none">
                <a:solidFill>
                  <a:srgbClr val="a7c6d9"/>
                </a:solidFill>
                <a:effectLst/>
                <a:uFillTx/>
                <a:latin typeface="NotoSansJP"/>
                <a:ea typeface="NotoSansJP"/>
              </a:rPr>
              <a:t>月</a:t>
            </a:r>
            <a:r>
              <a:rPr b="0" lang="en-US" sz="920" strike="noStrike" u="none">
                <a:solidFill>
                  <a:srgbClr val="a7c6d9"/>
                </a:solidFill>
                <a:effectLst/>
                <a:uFillTx/>
                <a:latin typeface="NotoSansJP"/>
                <a:ea typeface="NotoSansJP"/>
              </a:rPr>
              <a:t>4</a:t>
            </a:r>
            <a:r>
              <a:rPr b="0" lang="zh-CN" sz="920" strike="noStrike" u="none">
                <a:solidFill>
                  <a:srgbClr val="a7c6d9"/>
                </a:solidFill>
                <a:effectLst/>
                <a:uFillTx/>
                <a:latin typeface="NotoSansJP"/>
                <a:ea typeface="NotoSansJP"/>
              </a:rPr>
              <a:t>日</a:t>
            </a:r>
            <a:endParaRPr b="0" lang="en-US" sz="920" strike="noStrike" u="none">
              <a:solidFill>
                <a:srgbClr val="000000"/>
              </a:solidFill>
              <a:effectLst/>
              <a:uFillTx/>
              <a:latin typeface="Times New Roman"/>
            </a:endParaRPr>
          </a:p>
        </p:txBody>
      </p:sp>
      <p:sp>
        <p:nvSpPr>
          <p:cNvPr id="18" name=""/>
          <p:cNvSpPr txBox="1"/>
          <p:nvPr/>
        </p:nvSpPr>
        <p:spPr>
          <a:xfrm>
            <a:off x="2331360" y="1289520"/>
            <a:ext cx="6247080" cy="727200"/>
          </a:xfrm>
          <a:prstGeom prst="rect">
            <a:avLst/>
          </a:prstGeom>
          <a:noFill/>
          <a:ln w="0">
            <a:noFill/>
          </a:ln>
        </p:spPr>
        <p:txBody>
          <a:bodyPr wrap="none" lIns="0" rIns="0" tIns="0" bIns="0" anchor="t">
            <a:spAutoFit/>
          </a:bodyPr>
          <a:p>
            <a:r>
              <a:rPr b="0" lang="en-US" sz="3950" strike="noStrike" u="none">
                <a:solidFill>
                  <a:srgbClr val="ffffff"/>
                </a:solidFill>
                <a:effectLst/>
                <a:uFillTx/>
                <a:latin typeface="NotoSansJP"/>
                <a:ea typeface="NotoSansJP"/>
              </a:rPr>
              <a:t>CGH</a:t>
            </a:r>
            <a:r>
              <a:rPr b="0" lang="zh-CN" sz="3950" strike="noStrike" u="none">
                <a:solidFill>
                  <a:srgbClr val="ffffff"/>
                </a:solidFill>
                <a:effectLst/>
                <a:uFillTx/>
                <a:latin typeface="NotoSansJP"/>
                <a:ea typeface="NotoSansJP"/>
              </a:rPr>
              <a:t>再生像取得プログラム</a:t>
            </a:r>
            <a:endParaRPr b="0" lang="en-US" sz="3950" strike="noStrike" u="none">
              <a:solidFill>
                <a:srgbClr val="000000"/>
              </a:solidFill>
              <a:effectLst/>
              <a:uFillTx/>
              <a:latin typeface="Times New Roman"/>
            </a:endParaRPr>
          </a:p>
        </p:txBody>
      </p:sp>
      <p:sp>
        <p:nvSpPr>
          <p:cNvPr id="19" name=""/>
          <p:cNvSpPr txBox="1"/>
          <p:nvPr/>
        </p:nvSpPr>
        <p:spPr>
          <a:xfrm>
            <a:off x="3259080" y="2068920"/>
            <a:ext cx="4204080" cy="436320"/>
          </a:xfrm>
          <a:prstGeom prst="rect">
            <a:avLst/>
          </a:prstGeom>
          <a:noFill/>
          <a:ln w="0">
            <a:noFill/>
          </a:ln>
        </p:spPr>
        <p:txBody>
          <a:bodyPr wrap="none" lIns="0" rIns="0" tIns="0" bIns="0" anchor="t">
            <a:spAutoFit/>
          </a:bodyPr>
          <a:p>
            <a:r>
              <a:rPr b="0" lang="zh-CN" sz="2370" strike="noStrike" u="none">
                <a:solidFill>
                  <a:srgbClr val="ff8c00"/>
                </a:solidFill>
                <a:effectLst/>
                <a:uFillTx/>
                <a:latin typeface="NotoSansJP"/>
                <a:ea typeface="NotoSansJP"/>
              </a:rPr>
              <a:t>角スペクトル法と瞳レンズ位相</a:t>
            </a:r>
            <a:endParaRPr b="0" lang="en-US" sz="2370" strike="noStrike" u="none">
              <a:solidFill>
                <a:srgbClr val="000000"/>
              </a:solidFill>
              <a:effectLst/>
              <a:uFillTx/>
              <a:latin typeface="Times New Roman"/>
            </a:endParaRPr>
          </a:p>
        </p:txBody>
      </p:sp>
      <p:sp>
        <p:nvSpPr>
          <p:cNvPr id="20" name=""/>
          <p:cNvSpPr txBox="1"/>
          <p:nvPr/>
        </p:nvSpPr>
        <p:spPr>
          <a:xfrm>
            <a:off x="2172600" y="2761560"/>
            <a:ext cx="6496200" cy="244080"/>
          </a:xfrm>
          <a:prstGeom prst="rect">
            <a:avLst/>
          </a:prstGeom>
          <a:noFill/>
          <a:ln w="0">
            <a:noFill/>
          </a:ln>
        </p:spPr>
        <p:txBody>
          <a:bodyPr wrap="none" lIns="0" rIns="0" tIns="0" bIns="0" anchor="t">
            <a:spAutoFit/>
          </a:bodyPr>
          <a:p>
            <a:r>
              <a:rPr b="0" lang="zh-CN" sz="1320" strike="noStrike" u="none">
                <a:solidFill>
                  <a:srgbClr val="a7c6d9"/>
                </a:solidFill>
                <a:effectLst/>
                <a:uFillTx/>
                <a:latin typeface="NotoSansJP"/>
                <a:ea typeface="NotoSansJP"/>
              </a:rPr>
              <a:t>コンピュータ生成ホログラム（</a:t>
            </a:r>
            <a:r>
              <a:rPr b="0" lang="en-US" sz="1320" strike="noStrike" u="none">
                <a:solidFill>
                  <a:srgbClr val="a7c6d9"/>
                </a:solidFill>
                <a:effectLst/>
                <a:uFillTx/>
                <a:latin typeface="NotoSansJP"/>
                <a:ea typeface="NotoSansJP"/>
              </a:rPr>
              <a:t>CGH</a:t>
            </a:r>
            <a:r>
              <a:rPr b="0" lang="zh-CN" sz="1320" strike="noStrike" u="none">
                <a:solidFill>
                  <a:srgbClr val="a7c6d9"/>
                </a:solidFill>
                <a:effectLst/>
                <a:uFillTx/>
                <a:latin typeface="NotoSansJP"/>
                <a:ea typeface="NotoSansJP"/>
              </a:rPr>
              <a:t>）から再生像を取得するための光波伝搬シミュレ</a:t>
            </a:r>
            <a:endParaRPr b="0" lang="en-US" sz="1320" strike="noStrike" u="none">
              <a:solidFill>
                <a:srgbClr val="000000"/>
              </a:solidFill>
              <a:effectLst/>
              <a:uFillTx/>
              <a:latin typeface="Times New Roman"/>
            </a:endParaRPr>
          </a:p>
        </p:txBody>
      </p:sp>
      <p:pic>
        <p:nvPicPr>
          <p:cNvPr id="21" name="" descr=""/>
          <p:cNvPicPr/>
          <p:nvPr/>
        </p:nvPicPr>
        <p:blipFill>
          <a:blip r:embed="rId6"/>
          <a:stretch/>
        </p:blipFill>
        <p:spPr>
          <a:xfrm>
            <a:off x="3125520" y="3660120"/>
            <a:ext cx="317160" cy="300600"/>
          </a:xfrm>
          <a:prstGeom prst="rect">
            <a:avLst/>
          </a:prstGeom>
          <a:noFill/>
          <a:ln w="0">
            <a:noFill/>
          </a:ln>
        </p:spPr>
      </p:pic>
      <p:sp>
        <p:nvSpPr>
          <p:cNvPr id="22" name=""/>
          <p:cNvSpPr txBox="1"/>
          <p:nvPr/>
        </p:nvSpPr>
        <p:spPr>
          <a:xfrm>
            <a:off x="4604400" y="3037320"/>
            <a:ext cx="1509480" cy="244080"/>
          </a:xfrm>
          <a:prstGeom prst="rect">
            <a:avLst/>
          </a:prstGeom>
          <a:noFill/>
          <a:ln w="0">
            <a:noFill/>
          </a:ln>
        </p:spPr>
        <p:txBody>
          <a:bodyPr wrap="none" lIns="0" rIns="0" tIns="0" bIns="0" anchor="t">
            <a:spAutoFit/>
          </a:bodyPr>
          <a:p>
            <a:r>
              <a:rPr b="0" lang="zh-CN" sz="1320" strike="noStrike" u="none">
                <a:solidFill>
                  <a:srgbClr val="a7c6d9"/>
                </a:solidFill>
                <a:effectLst/>
                <a:uFillTx/>
                <a:latin typeface="NotoSansJP"/>
                <a:ea typeface="NotoSansJP"/>
              </a:rPr>
              <a:t>ーションプログラム</a:t>
            </a:r>
            <a:endParaRPr b="0" lang="en-US" sz="1320" strike="noStrike" u="none">
              <a:solidFill>
                <a:srgbClr val="000000"/>
              </a:solidFill>
              <a:effectLst/>
              <a:uFillTx/>
              <a:latin typeface="Times New Roman"/>
            </a:endParaRPr>
          </a:p>
        </p:txBody>
      </p:sp>
      <p:pic>
        <p:nvPicPr>
          <p:cNvPr id="23" name="" descr=""/>
          <p:cNvPicPr/>
          <p:nvPr/>
        </p:nvPicPr>
        <p:blipFill>
          <a:blip r:embed="rId7"/>
          <a:stretch/>
        </p:blipFill>
        <p:spPr>
          <a:xfrm>
            <a:off x="4821840" y="3660120"/>
            <a:ext cx="250200" cy="300600"/>
          </a:xfrm>
          <a:prstGeom prst="rect">
            <a:avLst/>
          </a:prstGeom>
          <a:noFill/>
          <a:ln w="0">
            <a:noFill/>
          </a:ln>
        </p:spPr>
      </p:pic>
      <p:sp>
        <p:nvSpPr>
          <p:cNvPr id="24" name=""/>
          <p:cNvSpPr txBox="1"/>
          <p:nvPr/>
        </p:nvSpPr>
        <p:spPr>
          <a:xfrm>
            <a:off x="2945880" y="4096080"/>
            <a:ext cx="671400" cy="194040"/>
          </a:xfrm>
          <a:prstGeom prst="rect">
            <a:avLst/>
          </a:prstGeom>
          <a:noFill/>
          <a:ln w="0">
            <a:noFill/>
          </a:ln>
        </p:spPr>
        <p:txBody>
          <a:bodyPr wrap="none" lIns="0" rIns="0" tIns="0" bIns="0" anchor="t">
            <a:spAutoFit/>
          </a:bodyPr>
          <a:p>
            <a:r>
              <a:rPr b="0" lang="zh-CN" sz="1050" strike="noStrike" u="none">
                <a:solidFill>
                  <a:srgbClr val="ffffff"/>
                </a:solidFill>
                <a:effectLst/>
                <a:uFillTx/>
                <a:latin typeface="NotoSansJP"/>
                <a:ea typeface="NotoSansJP"/>
              </a:rPr>
              <a:t>参照光乗算</a:t>
            </a:r>
            <a:endParaRPr b="0" lang="en-US" sz="1050" strike="noStrike" u="none">
              <a:solidFill>
                <a:srgbClr val="000000"/>
              </a:solidFill>
              <a:effectLst/>
              <a:uFillTx/>
              <a:latin typeface="Times New Roman"/>
            </a:endParaRPr>
          </a:p>
        </p:txBody>
      </p:sp>
      <p:pic>
        <p:nvPicPr>
          <p:cNvPr id="25" name="" descr=""/>
          <p:cNvPicPr/>
          <p:nvPr/>
        </p:nvPicPr>
        <p:blipFill>
          <a:blip r:embed="rId8"/>
          <a:stretch/>
        </p:blipFill>
        <p:spPr>
          <a:xfrm>
            <a:off x="6142320" y="3660120"/>
            <a:ext cx="283680" cy="300600"/>
          </a:xfrm>
          <a:prstGeom prst="rect">
            <a:avLst/>
          </a:prstGeom>
          <a:noFill/>
          <a:ln w="0">
            <a:noFill/>
          </a:ln>
        </p:spPr>
      </p:pic>
      <p:sp>
        <p:nvSpPr>
          <p:cNvPr id="26" name=""/>
          <p:cNvSpPr txBox="1"/>
          <p:nvPr/>
        </p:nvSpPr>
        <p:spPr>
          <a:xfrm>
            <a:off x="4416480" y="4096080"/>
            <a:ext cx="1073520" cy="194040"/>
          </a:xfrm>
          <a:prstGeom prst="rect">
            <a:avLst/>
          </a:prstGeom>
          <a:noFill/>
          <a:ln w="0">
            <a:noFill/>
          </a:ln>
        </p:spPr>
        <p:txBody>
          <a:bodyPr wrap="none" lIns="0" rIns="0" tIns="0" bIns="0" anchor="t">
            <a:spAutoFit/>
          </a:bodyPr>
          <a:p>
            <a:r>
              <a:rPr b="0" lang="zh-CN" sz="1050" strike="noStrike" u="none">
                <a:solidFill>
                  <a:srgbClr val="ffffff"/>
                </a:solidFill>
                <a:effectLst/>
                <a:uFillTx/>
                <a:latin typeface="NotoSansJP"/>
                <a:ea typeface="NotoSansJP"/>
              </a:rPr>
              <a:t>角スペクトル伝搬</a:t>
            </a:r>
            <a:endParaRPr b="0" lang="en-US" sz="1050" strike="noStrike" u="none">
              <a:solidFill>
                <a:srgbClr val="000000"/>
              </a:solidFill>
              <a:effectLst/>
              <a:uFillTx/>
              <a:latin typeface="Times New Roman"/>
            </a:endParaRPr>
          </a:p>
        </p:txBody>
      </p:sp>
      <p:pic>
        <p:nvPicPr>
          <p:cNvPr id="27" name="" descr=""/>
          <p:cNvPicPr/>
          <p:nvPr/>
        </p:nvPicPr>
        <p:blipFill>
          <a:blip r:embed="rId9"/>
          <a:stretch/>
        </p:blipFill>
        <p:spPr>
          <a:xfrm>
            <a:off x="7295400" y="3660120"/>
            <a:ext cx="250200" cy="300600"/>
          </a:xfrm>
          <a:prstGeom prst="rect">
            <a:avLst/>
          </a:prstGeom>
          <a:noFill/>
          <a:ln w="0">
            <a:noFill/>
          </a:ln>
        </p:spPr>
      </p:pic>
      <p:sp>
        <p:nvSpPr>
          <p:cNvPr id="28" name=""/>
          <p:cNvSpPr txBox="1"/>
          <p:nvPr/>
        </p:nvSpPr>
        <p:spPr>
          <a:xfrm>
            <a:off x="5878800" y="4096080"/>
            <a:ext cx="805320" cy="194040"/>
          </a:xfrm>
          <a:prstGeom prst="rect">
            <a:avLst/>
          </a:prstGeom>
          <a:noFill/>
          <a:ln w="0">
            <a:noFill/>
          </a:ln>
        </p:spPr>
        <p:txBody>
          <a:bodyPr wrap="none" lIns="0" rIns="0" tIns="0" bIns="0" anchor="t">
            <a:spAutoFit/>
          </a:bodyPr>
          <a:p>
            <a:r>
              <a:rPr b="0" lang="zh-CN" sz="1050" strike="noStrike" u="none">
                <a:solidFill>
                  <a:srgbClr val="ffffff"/>
                </a:solidFill>
                <a:effectLst/>
                <a:uFillTx/>
                <a:latin typeface="NotoSansJP"/>
                <a:ea typeface="NotoSansJP"/>
              </a:rPr>
              <a:t>瞳レンズ位相</a:t>
            </a:r>
            <a:endParaRPr b="0" lang="en-US" sz="1050" strike="noStrike" u="none">
              <a:solidFill>
                <a:srgbClr val="000000"/>
              </a:solidFill>
              <a:effectLst/>
              <a:uFillTx/>
              <a:latin typeface="Times New Roman"/>
            </a:endParaRPr>
          </a:p>
        </p:txBody>
      </p:sp>
      <p:sp>
        <p:nvSpPr>
          <p:cNvPr id="29" name=""/>
          <p:cNvSpPr txBox="1"/>
          <p:nvPr/>
        </p:nvSpPr>
        <p:spPr>
          <a:xfrm>
            <a:off x="7082280" y="4096080"/>
            <a:ext cx="671400" cy="194040"/>
          </a:xfrm>
          <a:prstGeom prst="rect">
            <a:avLst/>
          </a:prstGeom>
          <a:noFill/>
          <a:ln w="0">
            <a:noFill/>
          </a:ln>
        </p:spPr>
        <p:txBody>
          <a:bodyPr wrap="none" lIns="0" rIns="0" tIns="0" bIns="0" anchor="t">
            <a:spAutoFit/>
          </a:bodyPr>
          <a:p>
            <a:r>
              <a:rPr b="0" lang="zh-CN" sz="1050" strike="noStrike" u="none">
                <a:solidFill>
                  <a:srgbClr val="ffffff"/>
                </a:solidFill>
                <a:effectLst/>
                <a:uFillTx/>
                <a:latin typeface="NotoSansJP"/>
                <a:ea typeface="NotoSansJP"/>
              </a:rPr>
              <a:t>網膜面結像</a:t>
            </a:r>
            <a:endParaRPr b="0" lang="en-US" sz="1050" strike="noStrike" u="non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 name=""/>
          <p:cNvSpPr/>
          <p:nvPr/>
        </p:nvSpPr>
        <p:spPr>
          <a:xfrm>
            <a:off x="0" y="0"/>
            <a:ext cx="10696680" cy="6017040"/>
          </a:xfrm>
          <a:custGeom>
            <a:avLst/>
            <a:gdLst/>
            <a:ahLst/>
            <a:rect l="0" t="0" r="r" b="b"/>
            <a:pathLst>
              <a:path w="29713" h="16714">
                <a:moveTo>
                  <a:pt x="0" y="0"/>
                </a:moveTo>
                <a:lnTo>
                  <a:pt x="29713" y="0"/>
                </a:lnTo>
                <a:lnTo>
                  <a:pt x="29713" y="16714"/>
                </a:lnTo>
                <a:lnTo>
                  <a:pt x="0" y="16714"/>
                </a:lnTo>
                <a:lnTo>
                  <a:pt x="0" y="0"/>
                </a:lnTo>
                <a:close/>
              </a:path>
            </a:pathLst>
          </a:custGeom>
          <a:solidFill>
            <a:srgbClr val="1c3d5a"/>
          </a:solidFill>
          <a:ln w="0">
            <a:noFill/>
          </a:ln>
        </p:spPr>
        <p:txBody>
          <a:bodyPr lIns="0" rIns="0" tIns="0" bIns="0" anchor="t">
            <a:noAutofit/>
          </a:bodyPr>
          <a:p>
            <a:endParaRPr b="0" lang="en-US" sz="2400" strike="noStrike" u="none">
              <a:solidFill>
                <a:srgbClr val="ffffff"/>
              </a:solidFill>
              <a:effectLst/>
              <a:uFillTx/>
              <a:latin typeface="Times New Roman"/>
            </a:endParaRPr>
          </a:p>
        </p:txBody>
      </p:sp>
      <p:pic>
        <p:nvPicPr>
          <p:cNvPr id="31" name="" descr=""/>
          <p:cNvPicPr/>
          <p:nvPr/>
        </p:nvPicPr>
        <p:blipFill>
          <a:blip r:embed="rId1"/>
          <a:stretch/>
        </p:blipFill>
        <p:spPr>
          <a:xfrm>
            <a:off x="0" y="0"/>
            <a:ext cx="10696320" cy="6016320"/>
          </a:xfrm>
          <a:prstGeom prst="rect">
            <a:avLst/>
          </a:prstGeom>
          <a:noFill/>
          <a:ln w="0">
            <a:noFill/>
          </a:ln>
        </p:spPr>
      </p:pic>
      <p:sp>
        <p:nvSpPr>
          <p:cNvPr id="32" name=""/>
          <p:cNvSpPr/>
          <p:nvPr/>
        </p:nvSpPr>
        <p:spPr>
          <a:xfrm>
            <a:off x="534600" y="601560"/>
            <a:ext cx="1069920" cy="33840"/>
          </a:xfrm>
          <a:custGeom>
            <a:avLst/>
            <a:gdLst/>
            <a:ahLst/>
            <a:rect l="0" t="0" r="r" b="b"/>
            <a:pathLst>
              <a:path w="2972" h="94">
                <a:moveTo>
                  <a:pt x="0" y="0"/>
                </a:moveTo>
                <a:lnTo>
                  <a:pt x="2972" y="0"/>
                </a:lnTo>
                <a:lnTo>
                  <a:pt x="2972" y="94"/>
                </a:lnTo>
                <a:lnTo>
                  <a:pt x="0" y="94"/>
                </a:lnTo>
                <a:lnTo>
                  <a:pt x="0" y="0"/>
                </a:lnTo>
                <a:close/>
              </a:path>
            </a:pathLst>
          </a:custGeom>
          <a:solidFill>
            <a:srgbClr val="ff8c00"/>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33" name=""/>
          <p:cNvSpPr/>
          <p:nvPr/>
        </p:nvSpPr>
        <p:spPr>
          <a:xfrm>
            <a:off x="534600" y="1337040"/>
            <a:ext cx="9627480" cy="1136880"/>
          </a:xfrm>
          <a:custGeom>
            <a:avLst/>
            <a:gdLst/>
            <a:ahLst/>
            <a:rect l="0" t="0" r="r" b="b"/>
            <a:pathLst>
              <a:path w="26743" h="3158">
                <a:moveTo>
                  <a:pt x="0" y="2972"/>
                </a:moveTo>
                <a:lnTo>
                  <a:pt x="0" y="185"/>
                </a:lnTo>
                <a:cubicBezTo>
                  <a:pt x="0" y="173"/>
                  <a:pt x="1" y="161"/>
                  <a:pt x="4" y="149"/>
                </a:cubicBezTo>
                <a:cubicBezTo>
                  <a:pt x="6" y="137"/>
                  <a:pt x="10" y="125"/>
                  <a:pt x="14" y="114"/>
                </a:cubicBezTo>
                <a:cubicBezTo>
                  <a:pt x="19" y="103"/>
                  <a:pt x="25" y="92"/>
                  <a:pt x="31" y="82"/>
                </a:cubicBezTo>
                <a:cubicBezTo>
                  <a:pt x="38" y="72"/>
                  <a:pt x="46" y="63"/>
                  <a:pt x="55" y="54"/>
                </a:cubicBezTo>
                <a:cubicBezTo>
                  <a:pt x="63" y="45"/>
                  <a:pt x="73" y="38"/>
                  <a:pt x="83" y="31"/>
                </a:cubicBezTo>
                <a:cubicBezTo>
                  <a:pt x="93" y="24"/>
                  <a:pt x="104" y="18"/>
                  <a:pt x="115" y="14"/>
                </a:cubicBezTo>
                <a:cubicBezTo>
                  <a:pt x="126" y="9"/>
                  <a:pt x="138" y="6"/>
                  <a:pt x="150" y="3"/>
                </a:cubicBezTo>
                <a:cubicBezTo>
                  <a:pt x="162" y="1"/>
                  <a:pt x="174" y="0"/>
                  <a:pt x="186" y="0"/>
                </a:cubicBezTo>
                <a:lnTo>
                  <a:pt x="26557" y="0"/>
                </a:lnTo>
                <a:cubicBezTo>
                  <a:pt x="26569" y="0"/>
                  <a:pt x="26581" y="1"/>
                  <a:pt x="26593" y="3"/>
                </a:cubicBezTo>
                <a:cubicBezTo>
                  <a:pt x="26605" y="6"/>
                  <a:pt x="26617" y="9"/>
                  <a:pt x="26628" y="14"/>
                </a:cubicBezTo>
                <a:cubicBezTo>
                  <a:pt x="26639" y="18"/>
                  <a:pt x="26650" y="24"/>
                  <a:pt x="26660" y="31"/>
                </a:cubicBezTo>
                <a:cubicBezTo>
                  <a:pt x="26670" y="38"/>
                  <a:pt x="26680" y="45"/>
                  <a:pt x="26688" y="54"/>
                </a:cubicBezTo>
                <a:cubicBezTo>
                  <a:pt x="26697" y="63"/>
                  <a:pt x="26704" y="72"/>
                  <a:pt x="26711" y="82"/>
                </a:cubicBezTo>
                <a:cubicBezTo>
                  <a:pt x="26718" y="92"/>
                  <a:pt x="26724" y="103"/>
                  <a:pt x="26728" y="114"/>
                </a:cubicBezTo>
                <a:cubicBezTo>
                  <a:pt x="26733" y="125"/>
                  <a:pt x="26737" y="137"/>
                  <a:pt x="26739" y="149"/>
                </a:cubicBezTo>
                <a:cubicBezTo>
                  <a:pt x="26741" y="161"/>
                  <a:pt x="26743" y="173"/>
                  <a:pt x="26743" y="185"/>
                </a:cubicBezTo>
                <a:lnTo>
                  <a:pt x="26743" y="2972"/>
                </a:lnTo>
                <a:cubicBezTo>
                  <a:pt x="26743" y="2984"/>
                  <a:pt x="26741" y="2996"/>
                  <a:pt x="26739" y="3008"/>
                </a:cubicBezTo>
                <a:cubicBezTo>
                  <a:pt x="26737" y="3020"/>
                  <a:pt x="26733" y="3032"/>
                  <a:pt x="26728" y="3043"/>
                </a:cubicBezTo>
                <a:cubicBezTo>
                  <a:pt x="26724" y="3054"/>
                  <a:pt x="26718" y="3065"/>
                  <a:pt x="26711" y="3075"/>
                </a:cubicBezTo>
                <a:cubicBezTo>
                  <a:pt x="26704" y="3085"/>
                  <a:pt x="26697" y="3095"/>
                  <a:pt x="26688" y="3103"/>
                </a:cubicBezTo>
                <a:cubicBezTo>
                  <a:pt x="26680" y="3112"/>
                  <a:pt x="26670" y="3119"/>
                  <a:pt x="26660" y="3126"/>
                </a:cubicBezTo>
                <a:cubicBezTo>
                  <a:pt x="26650" y="3133"/>
                  <a:pt x="26639" y="3139"/>
                  <a:pt x="26628" y="3143"/>
                </a:cubicBezTo>
                <a:cubicBezTo>
                  <a:pt x="26617" y="3148"/>
                  <a:pt x="26605" y="3152"/>
                  <a:pt x="26593" y="3154"/>
                </a:cubicBezTo>
                <a:cubicBezTo>
                  <a:pt x="26581" y="3156"/>
                  <a:pt x="26569" y="3158"/>
                  <a:pt x="26557" y="3158"/>
                </a:cubicBezTo>
                <a:lnTo>
                  <a:pt x="186" y="3158"/>
                </a:lnTo>
                <a:cubicBezTo>
                  <a:pt x="174" y="3158"/>
                  <a:pt x="162" y="3156"/>
                  <a:pt x="150" y="3154"/>
                </a:cubicBezTo>
                <a:cubicBezTo>
                  <a:pt x="138" y="3152"/>
                  <a:pt x="126" y="3148"/>
                  <a:pt x="115" y="3143"/>
                </a:cubicBezTo>
                <a:cubicBezTo>
                  <a:pt x="104" y="3139"/>
                  <a:pt x="93" y="3133"/>
                  <a:pt x="83" y="3126"/>
                </a:cubicBezTo>
                <a:cubicBezTo>
                  <a:pt x="73" y="3119"/>
                  <a:pt x="63" y="3112"/>
                  <a:pt x="55" y="3103"/>
                </a:cubicBezTo>
                <a:cubicBezTo>
                  <a:pt x="46" y="3095"/>
                  <a:pt x="38" y="3085"/>
                  <a:pt x="31" y="3075"/>
                </a:cubicBezTo>
                <a:cubicBezTo>
                  <a:pt x="25" y="3065"/>
                  <a:pt x="19" y="3054"/>
                  <a:pt x="14" y="3043"/>
                </a:cubicBezTo>
                <a:cubicBezTo>
                  <a:pt x="10" y="3032"/>
                  <a:pt x="6" y="3020"/>
                  <a:pt x="4" y="3008"/>
                </a:cubicBezTo>
                <a:cubicBezTo>
                  <a:pt x="1" y="2996"/>
                  <a:pt x="0" y="2984"/>
                  <a:pt x="0" y="2972"/>
                </a:cubicBezTo>
                <a:close/>
              </a:path>
            </a:pathLst>
          </a:custGeom>
          <a:solidFill>
            <a:srgbClr val="ffffff">
              <a:alpha val="10000"/>
            </a:srgbClr>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34" name=""/>
          <p:cNvSpPr txBox="1"/>
          <p:nvPr/>
        </p:nvSpPr>
        <p:spPr>
          <a:xfrm>
            <a:off x="534960" y="222120"/>
            <a:ext cx="3303360" cy="436320"/>
          </a:xfrm>
          <a:prstGeom prst="rect">
            <a:avLst/>
          </a:prstGeom>
          <a:noFill/>
          <a:ln w="0">
            <a:noFill/>
          </a:ln>
        </p:spPr>
        <p:txBody>
          <a:bodyPr wrap="none" lIns="0" rIns="0" tIns="0" bIns="0" anchor="t">
            <a:spAutoFit/>
          </a:bodyPr>
          <a:p>
            <a:r>
              <a:rPr b="0" lang="zh-CN" sz="2370" strike="noStrike" u="none">
                <a:solidFill>
                  <a:srgbClr val="ffffff"/>
                </a:solidFill>
                <a:effectLst/>
                <a:uFillTx/>
                <a:latin typeface="NotoSansJP"/>
                <a:ea typeface="NotoSansJP"/>
              </a:rPr>
              <a:t>プログラムの目的と概要</a:t>
            </a:r>
            <a:endParaRPr b="0" lang="en-US" sz="2370" strike="noStrike" u="none">
              <a:solidFill>
                <a:srgbClr val="000000"/>
              </a:solidFill>
              <a:effectLst/>
              <a:uFillTx/>
              <a:latin typeface="Times New Roman"/>
            </a:endParaRPr>
          </a:p>
        </p:txBody>
      </p:sp>
      <p:sp>
        <p:nvSpPr>
          <p:cNvPr id="35" name=""/>
          <p:cNvSpPr txBox="1"/>
          <p:nvPr/>
        </p:nvSpPr>
        <p:spPr>
          <a:xfrm>
            <a:off x="534960" y="966960"/>
            <a:ext cx="1609920" cy="291600"/>
          </a:xfrm>
          <a:prstGeom prst="rect">
            <a:avLst/>
          </a:prstGeom>
          <a:noFill/>
          <a:ln w="0">
            <a:noFill/>
          </a:ln>
        </p:spPr>
        <p:txBody>
          <a:bodyPr wrap="none" lIns="0" rIns="0" tIns="0" bIns="0" anchor="t">
            <a:spAutoFit/>
          </a:bodyPr>
          <a:p>
            <a:r>
              <a:rPr b="0" lang="zh-CN" sz="1580" strike="noStrike" u="none">
                <a:solidFill>
                  <a:srgbClr val="a7c6d9"/>
                </a:solidFill>
                <a:effectLst/>
                <a:uFillTx/>
                <a:latin typeface="NotoSansJP"/>
                <a:ea typeface="NotoSansJP"/>
              </a:rPr>
              <a:t>プログラムの目的</a:t>
            </a:r>
            <a:endParaRPr b="0" lang="en-US" sz="1580" strike="noStrike" u="none">
              <a:solidFill>
                <a:srgbClr val="000000"/>
              </a:solidFill>
              <a:effectLst/>
              <a:uFillTx/>
              <a:latin typeface="Times New Roman"/>
            </a:endParaRPr>
          </a:p>
        </p:txBody>
      </p:sp>
      <p:sp>
        <p:nvSpPr>
          <p:cNvPr id="36" name=""/>
          <p:cNvSpPr txBox="1"/>
          <p:nvPr/>
        </p:nvSpPr>
        <p:spPr>
          <a:xfrm>
            <a:off x="735480" y="1581840"/>
            <a:ext cx="9317160" cy="219960"/>
          </a:xfrm>
          <a:prstGeom prst="rect">
            <a:avLst/>
          </a:prstGeom>
          <a:noFill/>
          <a:ln w="0">
            <a:noFill/>
          </a:ln>
        </p:spPr>
        <p:txBody>
          <a:bodyPr wrap="none" lIns="0" rIns="0" tIns="0" bIns="0" anchor="t">
            <a:spAutoFit/>
          </a:bodyPr>
          <a:p>
            <a:r>
              <a:rPr b="0" lang="zh-CN" sz="1180" strike="noStrike" u="none">
                <a:solidFill>
                  <a:srgbClr val="ffffff"/>
                </a:solidFill>
                <a:effectLst/>
                <a:uFillTx/>
                <a:latin typeface="NotoSansJP"/>
                <a:ea typeface="NotoSansJP"/>
              </a:rPr>
              <a:t>本プログラムは、コンピュータ生成ホログラム（</a:t>
            </a:r>
            <a:r>
              <a:rPr b="0" lang="en-US" sz="1180" strike="noStrike" u="none">
                <a:solidFill>
                  <a:srgbClr val="ffffff"/>
                </a:solidFill>
                <a:effectLst/>
                <a:uFillTx/>
                <a:latin typeface="NotoSansJP"/>
                <a:ea typeface="NotoSansJP"/>
              </a:rPr>
              <a:t>CGH</a:t>
            </a:r>
            <a:r>
              <a:rPr b="0" lang="zh-CN" sz="1180" strike="noStrike" u="none">
                <a:solidFill>
                  <a:srgbClr val="ffffff"/>
                </a:solidFill>
                <a:effectLst/>
                <a:uFillTx/>
                <a:latin typeface="NotoSansJP"/>
                <a:ea typeface="NotoSansJP"/>
              </a:rPr>
              <a:t>）から、人間の眼における再生像をシミュレーションにより得ることを目的として</a:t>
            </a:r>
            <a:endParaRPr b="0" lang="en-US" sz="1180" strike="noStrike" u="none">
              <a:solidFill>
                <a:srgbClr val="000000"/>
              </a:solidFill>
              <a:effectLst/>
              <a:uFillTx/>
              <a:latin typeface="Times New Roman"/>
            </a:endParaRPr>
          </a:p>
        </p:txBody>
      </p:sp>
      <p:sp>
        <p:nvSpPr>
          <p:cNvPr id="37" name=""/>
          <p:cNvSpPr txBox="1"/>
          <p:nvPr/>
        </p:nvSpPr>
        <p:spPr>
          <a:xfrm>
            <a:off x="735480" y="1824120"/>
            <a:ext cx="9317160" cy="219960"/>
          </a:xfrm>
          <a:prstGeom prst="rect">
            <a:avLst/>
          </a:prstGeom>
          <a:noFill/>
          <a:ln w="0">
            <a:noFill/>
          </a:ln>
        </p:spPr>
        <p:txBody>
          <a:bodyPr wrap="none" lIns="0" rIns="0" tIns="0" bIns="0" anchor="t">
            <a:spAutoFit/>
          </a:bodyPr>
          <a:p>
            <a:r>
              <a:rPr b="0" lang="zh-CN" sz="1180" strike="noStrike" u="none">
                <a:solidFill>
                  <a:srgbClr val="ffffff"/>
                </a:solidFill>
                <a:effectLst/>
                <a:uFillTx/>
                <a:latin typeface="NotoSansJP"/>
                <a:ea typeface="NotoSansJP"/>
              </a:rPr>
              <a:t>います。</a:t>
            </a:r>
            <a:r>
              <a:rPr b="0" lang="en-US" sz="1180" strike="noStrike" u="none">
                <a:solidFill>
                  <a:srgbClr val="ffffff"/>
                </a:solidFill>
                <a:effectLst/>
                <a:uFillTx/>
                <a:latin typeface="NotoSansJP"/>
                <a:ea typeface="NotoSansJP"/>
              </a:rPr>
              <a:t>CGH</a:t>
            </a:r>
            <a:r>
              <a:rPr b="0" lang="zh-CN" sz="1180" strike="noStrike" u="none">
                <a:solidFill>
                  <a:srgbClr val="ffffff"/>
                </a:solidFill>
                <a:effectLst/>
                <a:uFillTx/>
                <a:latin typeface="NotoSansJP"/>
                <a:ea typeface="NotoSansJP"/>
              </a:rPr>
              <a:t>がどのようにして三次元像を再生するのか、また、人間の視覚系でどのように観察されるのかを理解するための一助となる</a:t>
            </a:r>
            <a:endParaRPr b="0" lang="en-US" sz="1180" strike="noStrike" u="none">
              <a:solidFill>
                <a:srgbClr val="000000"/>
              </a:solidFill>
              <a:effectLst/>
              <a:uFillTx/>
              <a:latin typeface="Times New Roman"/>
            </a:endParaRPr>
          </a:p>
        </p:txBody>
      </p:sp>
      <p:sp>
        <p:nvSpPr>
          <p:cNvPr id="38" name=""/>
          <p:cNvSpPr txBox="1"/>
          <p:nvPr/>
        </p:nvSpPr>
        <p:spPr>
          <a:xfrm>
            <a:off x="735480" y="2075040"/>
            <a:ext cx="1660320" cy="219960"/>
          </a:xfrm>
          <a:prstGeom prst="rect">
            <a:avLst/>
          </a:prstGeom>
          <a:noFill/>
          <a:ln w="0">
            <a:noFill/>
          </a:ln>
        </p:spPr>
        <p:txBody>
          <a:bodyPr wrap="none" lIns="0" rIns="0" tIns="0" bIns="0" anchor="t">
            <a:spAutoFit/>
          </a:bodyPr>
          <a:p>
            <a:r>
              <a:rPr b="0" lang="zh-CN" sz="1180" strike="noStrike" u="none">
                <a:solidFill>
                  <a:srgbClr val="ffffff"/>
                </a:solidFill>
                <a:effectLst/>
                <a:uFillTx/>
                <a:latin typeface="NotoSansJP"/>
                <a:ea typeface="NotoSansJP"/>
              </a:rPr>
              <a:t>ことを目指しています。</a:t>
            </a:r>
            <a:endParaRPr b="0" lang="en-US" sz="1180" strike="noStrike" u="none">
              <a:solidFill>
                <a:srgbClr val="000000"/>
              </a:solidFill>
              <a:effectLst/>
              <a:uFillTx/>
              <a:latin typeface="Times New Roman"/>
            </a:endParaRPr>
          </a:p>
        </p:txBody>
      </p:sp>
      <p:sp>
        <p:nvSpPr>
          <p:cNvPr id="39" name=""/>
          <p:cNvSpPr/>
          <p:nvPr/>
        </p:nvSpPr>
        <p:spPr>
          <a:xfrm>
            <a:off x="534600" y="3275640"/>
            <a:ext cx="1504440" cy="1471320"/>
          </a:xfrm>
          <a:custGeom>
            <a:avLst/>
            <a:gdLst/>
            <a:ahLst/>
            <a:rect l="0" t="0" r="r" b="b"/>
            <a:pathLst>
              <a:path w="4179" h="4087">
                <a:moveTo>
                  <a:pt x="0" y="3901"/>
                </a:moveTo>
                <a:lnTo>
                  <a:pt x="0" y="186"/>
                </a:lnTo>
                <a:cubicBezTo>
                  <a:pt x="0" y="174"/>
                  <a:pt x="1" y="161"/>
                  <a:pt x="4" y="149"/>
                </a:cubicBezTo>
                <a:cubicBezTo>
                  <a:pt x="6" y="138"/>
                  <a:pt x="10" y="126"/>
                  <a:pt x="14" y="115"/>
                </a:cubicBezTo>
                <a:cubicBezTo>
                  <a:pt x="19" y="103"/>
                  <a:pt x="25" y="93"/>
                  <a:pt x="31" y="83"/>
                </a:cubicBezTo>
                <a:cubicBezTo>
                  <a:pt x="38" y="72"/>
                  <a:pt x="46" y="63"/>
                  <a:pt x="55" y="54"/>
                </a:cubicBezTo>
                <a:cubicBezTo>
                  <a:pt x="63" y="46"/>
                  <a:pt x="73" y="38"/>
                  <a:pt x="83" y="31"/>
                </a:cubicBezTo>
                <a:cubicBezTo>
                  <a:pt x="93" y="25"/>
                  <a:pt x="104" y="19"/>
                  <a:pt x="115" y="14"/>
                </a:cubicBezTo>
                <a:cubicBezTo>
                  <a:pt x="126" y="9"/>
                  <a:pt x="138" y="6"/>
                  <a:pt x="150" y="4"/>
                </a:cubicBezTo>
                <a:cubicBezTo>
                  <a:pt x="162" y="1"/>
                  <a:pt x="174" y="0"/>
                  <a:pt x="186" y="0"/>
                </a:cubicBezTo>
                <a:lnTo>
                  <a:pt x="3994" y="0"/>
                </a:lnTo>
                <a:cubicBezTo>
                  <a:pt x="4006" y="0"/>
                  <a:pt x="4018" y="1"/>
                  <a:pt x="4030" y="4"/>
                </a:cubicBezTo>
                <a:cubicBezTo>
                  <a:pt x="4042" y="6"/>
                  <a:pt x="4054" y="9"/>
                  <a:pt x="4065" y="14"/>
                </a:cubicBezTo>
                <a:cubicBezTo>
                  <a:pt x="4076" y="19"/>
                  <a:pt x="4087" y="25"/>
                  <a:pt x="4097" y="31"/>
                </a:cubicBezTo>
                <a:cubicBezTo>
                  <a:pt x="4107" y="38"/>
                  <a:pt x="4116" y="46"/>
                  <a:pt x="4125" y="54"/>
                </a:cubicBezTo>
                <a:cubicBezTo>
                  <a:pt x="4134" y="63"/>
                  <a:pt x="4141" y="72"/>
                  <a:pt x="4148" y="83"/>
                </a:cubicBezTo>
                <a:cubicBezTo>
                  <a:pt x="4155" y="93"/>
                  <a:pt x="4161" y="103"/>
                  <a:pt x="4165" y="115"/>
                </a:cubicBezTo>
                <a:cubicBezTo>
                  <a:pt x="4170" y="126"/>
                  <a:pt x="4174" y="138"/>
                  <a:pt x="4176" y="149"/>
                </a:cubicBezTo>
                <a:cubicBezTo>
                  <a:pt x="4178" y="161"/>
                  <a:pt x="4179" y="174"/>
                  <a:pt x="4179" y="186"/>
                </a:cubicBezTo>
                <a:lnTo>
                  <a:pt x="4179" y="3901"/>
                </a:lnTo>
                <a:cubicBezTo>
                  <a:pt x="4179" y="3913"/>
                  <a:pt x="4178" y="3925"/>
                  <a:pt x="4176" y="3937"/>
                </a:cubicBezTo>
                <a:cubicBezTo>
                  <a:pt x="4174" y="3949"/>
                  <a:pt x="4170" y="3961"/>
                  <a:pt x="4165" y="3972"/>
                </a:cubicBezTo>
                <a:cubicBezTo>
                  <a:pt x="4161" y="3983"/>
                  <a:pt x="4155" y="3994"/>
                  <a:pt x="4148" y="4004"/>
                </a:cubicBezTo>
                <a:cubicBezTo>
                  <a:pt x="4141" y="4014"/>
                  <a:pt x="4134" y="4023"/>
                  <a:pt x="4125" y="4032"/>
                </a:cubicBezTo>
                <a:cubicBezTo>
                  <a:pt x="4116" y="4041"/>
                  <a:pt x="4107" y="4048"/>
                  <a:pt x="4097" y="4055"/>
                </a:cubicBezTo>
                <a:cubicBezTo>
                  <a:pt x="4087" y="4062"/>
                  <a:pt x="4076" y="4068"/>
                  <a:pt x="4065" y="4072"/>
                </a:cubicBezTo>
                <a:cubicBezTo>
                  <a:pt x="4054" y="4077"/>
                  <a:pt x="4042" y="4081"/>
                  <a:pt x="4030" y="4083"/>
                </a:cubicBezTo>
                <a:cubicBezTo>
                  <a:pt x="4018" y="4085"/>
                  <a:pt x="4006" y="4087"/>
                  <a:pt x="3994" y="4087"/>
                </a:cubicBezTo>
                <a:lnTo>
                  <a:pt x="186" y="4087"/>
                </a:lnTo>
                <a:cubicBezTo>
                  <a:pt x="174" y="4087"/>
                  <a:pt x="162" y="4085"/>
                  <a:pt x="150" y="4083"/>
                </a:cubicBezTo>
                <a:cubicBezTo>
                  <a:pt x="138" y="4081"/>
                  <a:pt x="126" y="4077"/>
                  <a:pt x="115" y="4072"/>
                </a:cubicBezTo>
                <a:cubicBezTo>
                  <a:pt x="104" y="4068"/>
                  <a:pt x="93" y="4062"/>
                  <a:pt x="83" y="4055"/>
                </a:cubicBezTo>
                <a:cubicBezTo>
                  <a:pt x="73" y="4048"/>
                  <a:pt x="63" y="4041"/>
                  <a:pt x="55" y="4032"/>
                </a:cubicBezTo>
                <a:cubicBezTo>
                  <a:pt x="46" y="4023"/>
                  <a:pt x="38" y="4014"/>
                  <a:pt x="31" y="4004"/>
                </a:cubicBezTo>
                <a:cubicBezTo>
                  <a:pt x="25" y="3994"/>
                  <a:pt x="19" y="3983"/>
                  <a:pt x="14" y="3972"/>
                </a:cubicBezTo>
                <a:cubicBezTo>
                  <a:pt x="10" y="3961"/>
                  <a:pt x="6" y="3949"/>
                  <a:pt x="4" y="3937"/>
                </a:cubicBezTo>
                <a:cubicBezTo>
                  <a:pt x="1" y="3925"/>
                  <a:pt x="0" y="3913"/>
                  <a:pt x="0" y="3901"/>
                </a:cubicBezTo>
                <a:close/>
              </a:path>
            </a:pathLst>
          </a:custGeom>
          <a:solidFill>
            <a:srgbClr val="ffffff">
              <a:alpha val="10000"/>
            </a:srgbClr>
          </a:solidFill>
          <a:ln w="0">
            <a:noFill/>
          </a:ln>
        </p:spPr>
        <p:txBody>
          <a:bodyPr lIns="0" rIns="0" tIns="0" bIns="0" anchor="t">
            <a:noAutofit/>
          </a:bodyPr>
          <a:p>
            <a:endParaRPr b="0" lang="en-US" sz="2400" strike="noStrike" u="none">
              <a:solidFill>
                <a:srgbClr val="000000"/>
              </a:solidFill>
              <a:effectLst/>
              <a:uFillTx/>
              <a:latin typeface="Times New Roman"/>
            </a:endParaRPr>
          </a:p>
        </p:txBody>
      </p:sp>
      <p:pic>
        <p:nvPicPr>
          <p:cNvPr id="40" name="" descr=""/>
          <p:cNvPicPr/>
          <p:nvPr/>
        </p:nvPicPr>
        <p:blipFill>
          <a:blip r:embed="rId2"/>
          <a:stretch/>
        </p:blipFill>
        <p:spPr>
          <a:xfrm>
            <a:off x="1161720" y="3409560"/>
            <a:ext cx="250200" cy="300600"/>
          </a:xfrm>
          <a:prstGeom prst="rect">
            <a:avLst/>
          </a:prstGeom>
          <a:noFill/>
          <a:ln w="0">
            <a:noFill/>
          </a:ln>
        </p:spPr>
      </p:pic>
      <p:sp>
        <p:nvSpPr>
          <p:cNvPr id="41" name=""/>
          <p:cNvSpPr txBox="1"/>
          <p:nvPr/>
        </p:nvSpPr>
        <p:spPr>
          <a:xfrm>
            <a:off x="534960" y="2838960"/>
            <a:ext cx="1006560" cy="291600"/>
          </a:xfrm>
          <a:prstGeom prst="rect">
            <a:avLst/>
          </a:prstGeom>
          <a:noFill/>
          <a:ln w="0">
            <a:noFill/>
          </a:ln>
        </p:spPr>
        <p:txBody>
          <a:bodyPr wrap="none" lIns="0" rIns="0" tIns="0" bIns="0" anchor="t">
            <a:spAutoFit/>
          </a:bodyPr>
          <a:p>
            <a:r>
              <a:rPr b="0" lang="zh-CN" sz="1580" strike="noStrike" u="none">
                <a:solidFill>
                  <a:srgbClr val="a7c6d9"/>
                </a:solidFill>
                <a:effectLst/>
                <a:uFillTx/>
                <a:latin typeface="NotoSansJP"/>
                <a:ea typeface="NotoSansJP"/>
              </a:rPr>
              <a:t>処理フロー</a:t>
            </a:r>
            <a:endParaRPr b="0" lang="en-US" sz="1580" strike="noStrike" u="none">
              <a:solidFill>
                <a:srgbClr val="000000"/>
              </a:solidFill>
              <a:effectLst/>
              <a:uFillTx/>
              <a:latin typeface="Times New Roman"/>
            </a:endParaRPr>
          </a:p>
        </p:txBody>
      </p:sp>
      <p:sp>
        <p:nvSpPr>
          <p:cNvPr id="42" name=""/>
          <p:cNvSpPr txBox="1"/>
          <p:nvPr/>
        </p:nvSpPr>
        <p:spPr>
          <a:xfrm>
            <a:off x="685080" y="3845520"/>
            <a:ext cx="1269360" cy="194040"/>
          </a:xfrm>
          <a:prstGeom prst="rect">
            <a:avLst/>
          </a:prstGeom>
          <a:noFill/>
          <a:ln w="0">
            <a:noFill/>
          </a:ln>
        </p:spPr>
        <p:txBody>
          <a:bodyPr wrap="none" lIns="0" rIns="0" tIns="0" bIns="0" anchor="t">
            <a:spAutoFit/>
          </a:bodyPr>
          <a:p>
            <a:r>
              <a:rPr b="0" lang="en-US" sz="1050" strike="noStrike" u="none">
                <a:solidFill>
                  <a:srgbClr val="ffffff"/>
                </a:solidFill>
                <a:effectLst/>
                <a:uFillTx/>
                <a:latin typeface="NotoSansJP"/>
                <a:ea typeface="NotoSansJP"/>
              </a:rPr>
              <a:t>CGH</a:t>
            </a:r>
            <a:r>
              <a:rPr b="0" lang="zh-CN" sz="1050" strike="noStrike" u="none">
                <a:solidFill>
                  <a:srgbClr val="ffffff"/>
                </a:solidFill>
                <a:effectLst/>
                <a:uFillTx/>
                <a:latin typeface="NotoSansJP"/>
                <a:ea typeface="NotoSansJP"/>
              </a:rPr>
              <a:t>データの読み込</a:t>
            </a:r>
            <a:endParaRPr b="0" lang="en-US" sz="1050" strike="noStrike" u="none">
              <a:solidFill>
                <a:srgbClr val="000000"/>
              </a:solidFill>
              <a:effectLst/>
              <a:uFillTx/>
              <a:latin typeface="Times New Roman"/>
            </a:endParaRPr>
          </a:p>
        </p:txBody>
      </p:sp>
      <p:sp>
        <p:nvSpPr>
          <p:cNvPr id="43" name=""/>
          <p:cNvSpPr txBox="1"/>
          <p:nvPr/>
        </p:nvSpPr>
        <p:spPr>
          <a:xfrm>
            <a:off x="1220040" y="4046040"/>
            <a:ext cx="135000" cy="194040"/>
          </a:xfrm>
          <a:prstGeom prst="rect">
            <a:avLst/>
          </a:prstGeom>
          <a:noFill/>
          <a:ln w="0">
            <a:noFill/>
          </a:ln>
        </p:spPr>
        <p:txBody>
          <a:bodyPr wrap="none" lIns="0" rIns="0" tIns="0" bIns="0" anchor="t">
            <a:spAutoFit/>
          </a:bodyPr>
          <a:p>
            <a:r>
              <a:rPr b="0" lang="zh-CN" sz="1050" strike="noStrike" u="none">
                <a:solidFill>
                  <a:srgbClr val="ffffff"/>
                </a:solidFill>
                <a:effectLst/>
                <a:uFillTx/>
                <a:latin typeface="NotoSansJP"/>
                <a:ea typeface="NotoSansJP"/>
              </a:rPr>
              <a:t>み</a:t>
            </a:r>
            <a:endParaRPr b="0" lang="en-US" sz="1050" strike="noStrike" u="none">
              <a:solidFill>
                <a:srgbClr val="000000"/>
              </a:solidFill>
              <a:effectLst/>
              <a:uFillTx/>
              <a:latin typeface="Times New Roman"/>
            </a:endParaRPr>
          </a:p>
        </p:txBody>
      </p:sp>
      <p:sp>
        <p:nvSpPr>
          <p:cNvPr id="44" name=""/>
          <p:cNvSpPr txBox="1"/>
          <p:nvPr/>
        </p:nvSpPr>
        <p:spPr>
          <a:xfrm>
            <a:off x="702000" y="4303800"/>
            <a:ext cx="1174320" cy="169560"/>
          </a:xfrm>
          <a:prstGeom prst="rect">
            <a:avLst/>
          </a:prstGeom>
          <a:noFill/>
          <a:ln w="0">
            <a:noFill/>
          </a:ln>
        </p:spPr>
        <p:txBody>
          <a:bodyPr wrap="none" lIns="0" rIns="0" tIns="0" bIns="0" anchor="t">
            <a:spAutoFit/>
          </a:bodyPr>
          <a:p>
            <a:r>
              <a:rPr b="0" lang="zh-CN" sz="920" strike="noStrike" u="none">
                <a:solidFill>
                  <a:srgbClr val="a7c6d9"/>
                </a:solidFill>
                <a:effectLst/>
                <a:uFillTx/>
                <a:latin typeface="NotoSansJP"/>
                <a:ea typeface="NotoSansJP"/>
              </a:rPr>
              <a:t>ホログラムデータを取</a:t>
            </a:r>
            <a:endParaRPr b="0" lang="en-US" sz="920" strike="noStrike" u="none">
              <a:solidFill>
                <a:srgbClr val="000000"/>
              </a:solidFill>
              <a:effectLst/>
              <a:uFillTx/>
              <a:latin typeface="Times New Roman"/>
            </a:endParaRPr>
          </a:p>
        </p:txBody>
      </p:sp>
      <p:sp>
        <p:nvSpPr>
          <p:cNvPr id="45" name=""/>
          <p:cNvSpPr/>
          <p:nvPr/>
        </p:nvSpPr>
        <p:spPr>
          <a:xfrm>
            <a:off x="2565360" y="3459600"/>
            <a:ext cx="1504440" cy="1103400"/>
          </a:xfrm>
          <a:custGeom>
            <a:avLst/>
            <a:gdLst/>
            <a:ahLst/>
            <a:rect l="0" t="0" r="r" b="b"/>
            <a:pathLst>
              <a:path w="4179" h="3065">
                <a:moveTo>
                  <a:pt x="0" y="2879"/>
                </a:moveTo>
                <a:lnTo>
                  <a:pt x="0" y="185"/>
                </a:lnTo>
                <a:cubicBezTo>
                  <a:pt x="0" y="173"/>
                  <a:pt x="1" y="161"/>
                  <a:pt x="3" y="149"/>
                </a:cubicBezTo>
                <a:cubicBezTo>
                  <a:pt x="6" y="137"/>
                  <a:pt x="9" y="126"/>
                  <a:pt x="14" y="114"/>
                </a:cubicBezTo>
                <a:cubicBezTo>
                  <a:pt x="19" y="103"/>
                  <a:pt x="24" y="92"/>
                  <a:pt x="31" y="82"/>
                </a:cubicBezTo>
                <a:cubicBezTo>
                  <a:pt x="38" y="72"/>
                  <a:pt x="46" y="63"/>
                  <a:pt x="54" y="54"/>
                </a:cubicBezTo>
                <a:cubicBezTo>
                  <a:pt x="63" y="45"/>
                  <a:pt x="72" y="38"/>
                  <a:pt x="82" y="31"/>
                </a:cubicBezTo>
                <a:cubicBezTo>
                  <a:pt x="93" y="24"/>
                  <a:pt x="103" y="19"/>
                  <a:pt x="115" y="14"/>
                </a:cubicBezTo>
                <a:cubicBezTo>
                  <a:pt x="126" y="9"/>
                  <a:pt x="137" y="6"/>
                  <a:pt x="149" y="3"/>
                </a:cubicBezTo>
                <a:cubicBezTo>
                  <a:pt x="161" y="1"/>
                  <a:pt x="173" y="0"/>
                  <a:pt x="186" y="0"/>
                </a:cubicBezTo>
                <a:lnTo>
                  <a:pt x="3994" y="0"/>
                </a:lnTo>
                <a:cubicBezTo>
                  <a:pt x="4006" y="0"/>
                  <a:pt x="4018" y="1"/>
                  <a:pt x="4030" y="3"/>
                </a:cubicBezTo>
                <a:cubicBezTo>
                  <a:pt x="4042" y="6"/>
                  <a:pt x="4053" y="9"/>
                  <a:pt x="4065" y="14"/>
                </a:cubicBezTo>
                <a:cubicBezTo>
                  <a:pt x="4076" y="19"/>
                  <a:pt x="4087" y="24"/>
                  <a:pt x="4097" y="31"/>
                </a:cubicBezTo>
                <a:cubicBezTo>
                  <a:pt x="4107" y="38"/>
                  <a:pt x="4116" y="45"/>
                  <a:pt x="4125" y="54"/>
                </a:cubicBezTo>
                <a:cubicBezTo>
                  <a:pt x="4133" y="63"/>
                  <a:pt x="4141" y="72"/>
                  <a:pt x="4148" y="82"/>
                </a:cubicBezTo>
                <a:cubicBezTo>
                  <a:pt x="4155" y="92"/>
                  <a:pt x="4160" y="103"/>
                  <a:pt x="4165" y="114"/>
                </a:cubicBezTo>
                <a:cubicBezTo>
                  <a:pt x="4170" y="126"/>
                  <a:pt x="4173" y="137"/>
                  <a:pt x="4176" y="149"/>
                </a:cubicBezTo>
                <a:cubicBezTo>
                  <a:pt x="4178" y="161"/>
                  <a:pt x="4179" y="173"/>
                  <a:pt x="4179" y="185"/>
                </a:cubicBezTo>
                <a:lnTo>
                  <a:pt x="4179" y="2879"/>
                </a:lnTo>
                <a:cubicBezTo>
                  <a:pt x="4179" y="2891"/>
                  <a:pt x="4178" y="2903"/>
                  <a:pt x="4176" y="2915"/>
                </a:cubicBezTo>
                <a:cubicBezTo>
                  <a:pt x="4173" y="2927"/>
                  <a:pt x="4170" y="2939"/>
                  <a:pt x="4165" y="2950"/>
                </a:cubicBezTo>
                <a:cubicBezTo>
                  <a:pt x="4160" y="2961"/>
                  <a:pt x="4155" y="2972"/>
                  <a:pt x="4148" y="2982"/>
                </a:cubicBezTo>
                <a:cubicBezTo>
                  <a:pt x="4141" y="2992"/>
                  <a:pt x="4133" y="3002"/>
                  <a:pt x="4125" y="3010"/>
                </a:cubicBezTo>
                <a:cubicBezTo>
                  <a:pt x="4116" y="3019"/>
                  <a:pt x="4107" y="3027"/>
                  <a:pt x="4097" y="3034"/>
                </a:cubicBezTo>
                <a:cubicBezTo>
                  <a:pt x="4087" y="3040"/>
                  <a:pt x="4076" y="3046"/>
                  <a:pt x="4065" y="3051"/>
                </a:cubicBezTo>
                <a:cubicBezTo>
                  <a:pt x="4053" y="3055"/>
                  <a:pt x="4042" y="3059"/>
                  <a:pt x="4030" y="3061"/>
                </a:cubicBezTo>
                <a:cubicBezTo>
                  <a:pt x="4018" y="3064"/>
                  <a:pt x="4006" y="3065"/>
                  <a:pt x="3994" y="3065"/>
                </a:cubicBezTo>
                <a:lnTo>
                  <a:pt x="186" y="3065"/>
                </a:lnTo>
                <a:cubicBezTo>
                  <a:pt x="173" y="3065"/>
                  <a:pt x="161" y="3064"/>
                  <a:pt x="149" y="3061"/>
                </a:cubicBezTo>
                <a:cubicBezTo>
                  <a:pt x="137" y="3059"/>
                  <a:pt x="126" y="3055"/>
                  <a:pt x="115" y="3051"/>
                </a:cubicBezTo>
                <a:cubicBezTo>
                  <a:pt x="103" y="3046"/>
                  <a:pt x="93" y="3040"/>
                  <a:pt x="82" y="3034"/>
                </a:cubicBezTo>
                <a:cubicBezTo>
                  <a:pt x="72" y="3027"/>
                  <a:pt x="63" y="3019"/>
                  <a:pt x="54" y="3010"/>
                </a:cubicBezTo>
                <a:cubicBezTo>
                  <a:pt x="46" y="3002"/>
                  <a:pt x="38" y="2992"/>
                  <a:pt x="31" y="2982"/>
                </a:cubicBezTo>
                <a:cubicBezTo>
                  <a:pt x="24" y="2972"/>
                  <a:pt x="19" y="2961"/>
                  <a:pt x="14" y="2950"/>
                </a:cubicBezTo>
                <a:cubicBezTo>
                  <a:pt x="9" y="2939"/>
                  <a:pt x="6" y="2927"/>
                  <a:pt x="3" y="2915"/>
                </a:cubicBezTo>
                <a:cubicBezTo>
                  <a:pt x="1" y="2903"/>
                  <a:pt x="0" y="2891"/>
                  <a:pt x="0" y="2879"/>
                </a:cubicBezTo>
                <a:close/>
              </a:path>
            </a:pathLst>
          </a:custGeom>
          <a:solidFill>
            <a:srgbClr val="ffffff">
              <a:alpha val="10000"/>
            </a:srgbClr>
          </a:solidFill>
          <a:ln w="0">
            <a:noFill/>
          </a:ln>
        </p:spPr>
        <p:txBody>
          <a:bodyPr lIns="0" rIns="0" tIns="0" bIns="0" anchor="t">
            <a:noAutofit/>
          </a:bodyPr>
          <a:p>
            <a:endParaRPr b="0" lang="en-US" sz="2400" strike="noStrike" u="none">
              <a:solidFill>
                <a:srgbClr val="000000"/>
              </a:solidFill>
              <a:effectLst/>
              <a:uFillTx/>
              <a:latin typeface="Times New Roman"/>
            </a:endParaRPr>
          </a:p>
        </p:txBody>
      </p:sp>
      <p:pic>
        <p:nvPicPr>
          <p:cNvPr id="46" name="" descr=""/>
          <p:cNvPicPr/>
          <p:nvPr/>
        </p:nvPicPr>
        <p:blipFill>
          <a:blip r:embed="rId3"/>
          <a:stretch/>
        </p:blipFill>
        <p:spPr>
          <a:xfrm>
            <a:off x="3159000" y="3593520"/>
            <a:ext cx="317160" cy="300600"/>
          </a:xfrm>
          <a:prstGeom prst="rect">
            <a:avLst/>
          </a:prstGeom>
          <a:noFill/>
          <a:ln w="0">
            <a:noFill/>
          </a:ln>
        </p:spPr>
      </p:pic>
      <p:sp>
        <p:nvSpPr>
          <p:cNvPr id="47" name=""/>
          <p:cNvSpPr txBox="1"/>
          <p:nvPr/>
        </p:nvSpPr>
        <p:spPr>
          <a:xfrm>
            <a:off x="1228320" y="4470840"/>
            <a:ext cx="118080" cy="169560"/>
          </a:xfrm>
          <a:prstGeom prst="rect">
            <a:avLst/>
          </a:prstGeom>
          <a:noFill/>
          <a:ln w="0">
            <a:noFill/>
          </a:ln>
        </p:spPr>
        <p:txBody>
          <a:bodyPr wrap="none" lIns="0" rIns="0" tIns="0" bIns="0" anchor="t">
            <a:spAutoFit/>
          </a:bodyPr>
          <a:p>
            <a:r>
              <a:rPr b="0" lang="zh-CN" sz="920" strike="noStrike" u="none">
                <a:solidFill>
                  <a:srgbClr val="a7c6d9"/>
                </a:solidFill>
                <a:effectLst/>
                <a:uFillTx/>
                <a:latin typeface="NotoSansJP"/>
                <a:ea typeface="NotoSansJP"/>
              </a:rPr>
              <a:t>得</a:t>
            </a:r>
            <a:endParaRPr b="0" lang="en-US" sz="920" strike="noStrike" u="none">
              <a:solidFill>
                <a:srgbClr val="000000"/>
              </a:solidFill>
              <a:effectLst/>
              <a:uFillTx/>
              <a:latin typeface="Times New Roman"/>
            </a:endParaRPr>
          </a:p>
        </p:txBody>
      </p:sp>
      <p:sp>
        <p:nvSpPr>
          <p:cNvPr id="48" name=""/>
          <p:cNvSpPr txBox="1"/>
          <p:nvPr/>
        </p:nvSpPr>
        <p:spPr>
          <a:xfrm>
            <a:off x="2916360" y="4029120"/>
            <a:ext cx="805320" cy="194040"/>
          </a:xfrm>
          <a:prstGeom prst="rect">
            <a:avLst/>
          </a:prstGeom>
          <a:noFill/>
          <a:ln w="0">
            <a:noFill/>
          </a:ln>
        </p:spPr>
        <p:txBody>
          <a:bodyPr wrap="none" lIns="0" rIns="0" tIns="0" bIns="0" anchor="t">
            <a:spAutoFit/>
          </a:bodyPr>
          <a:p>
            <a:r>
              <a:rPr b="0" lang="zh-CN" sz="1050" strike="noStrike" u="none">
                <a:solidFill>
                  <a:srgbClr val="ffffff"/>
                </a:solidFill>
                <a:effectLst/>
                <a:uFillTx/>
                <a:latin typeface="NotoSansJP"/>
                <a:ea typeface="NotoSansJP"/>
              </a:rPr>
              <a:t>参照光の乗算</a:t>
            </a:r>
            <a:endParaRPr b="0" lang="en-US" sz="1050" strike="noStrike" u="none">
              <a:solidFill>
                <a:srgbClr val="000000"/>
              </a:solidFill>
              <a:effectLst/>
              <a:uFillTx/>
              <a:latin typeface="Times New Roman"/>
            </a:endParaRPr>
          </a:p>
        </p:txBody>
      </p:sp>
      <p:sp>
        <p:nvSpPr>
          <p:cNvPr id="49" name=""/>
          <p:cNvSpPr/>
          <p:nvPr/>
        </p:nvSpPr>
        <p:spPr>
          <a:xfrm>
            <a:off x="4596120" y="3459600"/>
            <a:ext cx="1504440" cy="1103400"/>
          </a:xfrm>
          <a:custGeom>
            <a:avLst/>
            <a:gdLst/>
            <a:ahLst/>
            <a:rect l="0" t="0" r="r" b="b"/>
            <a:pathLst>
              <a:path w="4179" h="3065">
                <a:moveTo>
                  <a:pt x="0" y="2879"/>
                </a:moveTo>
                <a:lnTo>
                  <a:pt x="0" y="185"/>
                </a:lnTo>
                <a:cubicBezTo>
                  <a:pt x="0" y="173"/>
                  <a:pt x="1" y="161"/>
                  <a:pt x="3" y="149"/>
                </a:cubicBezTo>
                <a:cubicBezTo>
                  <a:pt x="6" y="137"/>
                  <a:pt x="9" y="126"/>
                  <a:pt x="14" y="114"/>
                </a:cubicBezTo>
                <a:cubicBezTo>
                  <a:pt x="18" y="103"/>
                  <a:pt x="24" y="92"/>
                  <a:pt x="31" y="82"/>
                </a:cubicBezTo>
                <a:cubicBezTo>
                  <a:pt x="38" y="72"/>
                  <a:pt x="45" y="63"/>
                  <a:pt x="54" y="54"/>
                </a:cubicBezTo>
                <a:cubicBezTo>
                  <a:pt x="63" y="45"/>
                  <a:pt x="72" y="38"/>
                  <a:pt x="82" y="31"/>
                </a:cubicBezTo>
                <a:cubicBezTo>
                  <a:pt x="92" y="24"/>
                  <a:pt x="103" y="19"/>
                  <a:pt x="114" y="14"/>
                </a:cubicBezTo>
                <a:cubicBezTo>
                  <a:pt x="126" y="9"/>
                  <a:pt x="137" y="6"/>
                  <a:pt x="149" y="3"/>
                </a:cubicBezTo>
                <a:cubicBezTo>
                  <a:pt x="161" y="1"/>
                  <a:pt x="173" y="0"/>
                  <a:pt x="185" y="0"/>
                </a:cubicBezTo>
                <a:lnTo>
                  <a:pt x="3993" y="0"/>
                </a:lnTo>
                <a:cubicBezTo>
                  <a:pt x="4006" y="0"/>
                  <a:pt x="4018" y="1"/>
                  <a:pt x="4030" y="3"/>
                </a:cubicBezTo>
                <a:cubicBezTo>
                  <a:pt x="4042" y="6"/>
                  <a:pt x="4053" y="9"/>
                  <a:pt x="4064" y="14"/>
                </a:cubicBezTo>
                <a:cubicBezTo>
                  <a:pt x="4076" y="19"/>
                  <a:pt x="4086" y="24"/>
                  <a:pt x="4096" y="31"/>
                </a:cubicBezTo>
                <a:cubicBezTo>
                  <a:pt x="4107" y="38"/>
                  <a:pt x="4116" y="45"/>
                  <a:pt x="4125" y="54"/>
                </a:cubicBezTo>
                <a:cubicBezTo>
                  <a:pt x="4133" y="63"/>
                  <a:pt x="4141" y="72"/>
                  <a:pt x="4148" y="82"/>
                </a:cubicBezTo>
                <a:cubicBezTo>
                  <a:pt x="4155" y="92"/>
                  <a:pt x="4160" y="103"/>
                  <a:pt x="4165" y="114"/>
                </a:cubicBezTo>
                <a:cubicBezTo>
                  <a:pt x="4170" y="126"/>
                  <a:pt x="4173" y="137"/>
                  <a:pt x="4175" y="149"/>
                </a:cubicBezTo>
                <a:cubicBezTo>
                  <a:pt x="4178" y="161"/>
                  <a:pt x="4179" y="173"/>
                  <a:pt x="4179" y="185"/>
                </a:cubicBezTo>
                <a:lnTo>
                  <a:pt x="4179" y="2879"/>
                </a:lnTo>
                <a:cubicBezTo>
                  <a:pt x="4179" y="2891"/>
                  <a:pt x="4178" y="2903"/>
                  <a:pt x="4175" y="2915"/>
                </a:cubicBezTo>
                <a:cubicBezTo>
                  <a:pt x="4173" y="2927"/>
                  <a:pt x="4170" y="2939"/>
                  <a:pt x="4165" y="2950"/>
                </a:cubicBezTo>
                <a:cubicBezTo>
                  <a:pt x="4160" y="2961"/>
                  <a:pt x="4155" y="2972"/>
                  <a:pt x="4148" y="2982"/>
                </a:cubicBezTo>
                <a:cubicBezTo>
                  <a:pt x="4141" y="2992"/>
                  <a:pt x="4133" y="3002"/>
                  <a:pt x="4125" y="3010"/>
                </a:cubicBezTo>
                <a:cubicBezTo>
                  <a:pt x="4116" y="3019"/>
                  <a:pt x="4107" y="3027"/>
                  <a:pt x="4096" y="3034"/>
                </a:cubicBezTo>
                <a:cubicBezTo>
                  <a:pt x="4086" y="3040"/>
                  <a:pt x="4076" y="3046"/>
                  <a:pt x="4064" y="3051"/>
                </a:cubicBezTo>
                <a:cubicBezTo>
                  <a:pt x="4053" y="3055"/>
                  <a:pt x="4042" y="3059"/>
                  <a:pt x="4030" y="3061"/>
                </a:cubicBezTo>
                <a:cubicBezTo>
                  <a:pt x="4018" y="3064"/>
                  <a:pt x="4006" y="3065"/>
                  <a:pt x="3993" y="3065"/>
                </a:cubicBezTo>
                <a:lnTo>
                  <a:pt x="185" y="3065"/>
                </a:lnTo>
                <a:cubicBezTo>
                  <a:pt x="173" y="3065"/>
                  <a:pt x="161" y="3064"/>
                  <a:pt x="149" y="3061"/>
                </a:cubicBezTo>
                <a:cubicBezTo>
                  <a:pt x="137" y="3059"/>
                  <a:pt x="126" y="3055"/>
                  <a:pt x="114" y="3051"/>
                </a:cubicBezTo>
                <a:cubicBezTo>
                  <a:pt x="103" y="3046"/>
                  <a:pt x="92" y="3040"/>
                  <a:pt x="82" y="3034"/>
                </a:cubicBezTo>
                <a:cubicBezTo>
                  <a:pt x="72" y="3027"/>
                  <a:pt x="63" y="3019"/>
                  <a:pt x="54" y="3010"/>
                </a:cubicBezTo>
                <a:cubicBezTo>
                  <a:pt x="45" y="3002"/>
                  <a:pt x="38" y="2992"/>
                  <a:pt x="31" y="2982"/>
                </a:cubicBezTo>
                <a:cubicBezTo>
                  <a:pt x="24" y="2972"/>
                  <a:pt x="18" y="2961"/>
                  <a:pt x="14" y="2950"/>
                </a:cubicBezTo>
                <a:cubicBezTo>
                  <a:pt x="9" y="2939"/>
                  <a:pt x="6" y="2927"/>
                  <a:pt x="3" y="2915"/>
                </a:cubicBezTo>
                <a:cubicBezTo>
                  <a:pt x="1" y="2903"/>
                  <a:pt x="0" y="2891"/>
                  <a:pt x="0" y="2879"/>
                </a:cubicBezTo>
                <a:close/>
              </a:path>
            </a:pathLst>
          </a:custGeom>
          <a:solidFill>
            <a:srgbClr val="ffffff">
              <a:alpha val="10000"/>
            </a:srgbClr>
          </a:solidFill>
          <a:ln w="0">
            <a:noFill/>
          </a:ln>
        </p:spPr>
        <p:txBody>
          <a:bodyPr lIns="0" rIns="0" tIns="0" bIns="0" anchor="t">
            <a:noAutofit/>
          </a:bodyPr>
          <a:p>
            <a:endParaRPr b="0" lang="en-US" sz="2400" strike="noStrike" u="none">
              <a:solidFill>
                <a:srgbClr val="000000"/>
              </a:solidFill>
              <a:effectLst/>
              <a:uFillTx/>
              <a:latin typeface="Times New Roman"/>
            </a:endParaRPr>
          </a:p>
        </p:txBody>
      </p:sp>
      <p:pic>
        <p:nvPicPr>
          <p:cNvPr id="50" name="" descr=""/>
          <p:cNvPicPr/>
          <p:nvPr/>
        </p:nvPicPr>
        <p:blipFill>
          <a:blip r:embed="rId4"/>
          <a:stretch/>
        </p:blipFill>
        <p:spPr>
          <a:xfrm>
            <a:off x="5222880" y="3593520"/>
            <a:ext cx="250200" cy="300600"/>
          </a:xfrm>
          <a:prstGeom prst="rect">
            <a:avLst/>
          </a:prstGeom>
          <a:noFill/>
          <a:ln w="0">
            <a:noFill/>
          </a:ln>
        </p:spPr>
      </p:pic>
      <p:sp>
        <p:nvSpPr>
          <p:cNvPr id="51" name=""/>
          <p:cNvSpPr txBox="1"/>
          <p:nvPr/>
        </p:nvSpPr>
        <p:spPr>
          <a:xfrm>
            <a:off x="2849760" y="4286880"/>
            <a:ext cx="939600" cy="169560"/>
          </a:xfrm>
          <a:prstGeom prst="rect">
            <a:avLst/>
          </a:prstGeom>
          <a:noFill/>
          <a:ln w="0">
            <a:noFill/>
          </a:ln>
        </p:spPr>
        <p:txBody>
          <a:bodyPr wrap="none" lIns="0" rIns="0" tIns="0" bIns="0" anchor="t">
            <a:spAutoFit/>
          </a:bodyPr>
          <a:p>
            <a:r>
              <a:rPr b="0" lang="zh-CN" sz="920" strike="noStrike" u="none">
                <a:solidFill>
                  <a:srgbClr val="a7c6d9"/>
                </a:solidFill>
                <a:effectLst/>
                <a:uFillTx/>
                <a:latin typeface="NotoSansJP"/>
                <a:ea typeface="NotoSansJP"/>
              </a:rPr>
              <a:t>物体光情報を抽出</a:t>
            </a:r>
            <a:endParaRPr b="0" lang="en-US" sz="920" strike="noStrike" u="none">
              <a:solidFill>
                <a:srgbClr val="000000"/>
              </a:solidFill>
              <a:effectLst/>
              <a:uFillTx/>
              <a:latin typeface="Times New Roman"/>
            </a:endParaRPr>
          </a:p>
        </p:txBody>
      </p:sp>
      <p:sp>
        <p:nvSpPr>
          <p:cNvPr id="52" name=""/>
          <p:cNvSpPr txBox="1"/>
          <p:nvPr/>
        </p:nvSpPr>
        <p:spPr>
          <a:xfrm>
            <a:off x="4817520" y="4029120"/>
            <a:ext cx="1073520" cy="194040"/>
          </a:xfrm>
          <a:prstGeom prst="rect">
            <a:avLst/>
          </a:prstGeom>
          <a:noFill/>
          <a:ln w="0">
            <a:noFill/>
          </a:ln>
        </p:spPr>
        <p:txBody>
          <a:bodyPr wrap="none" lIns="0" rIns="0" tIns="0" bIns="0" anchor="t">
            <a:spAutoFit/>
          </a:bodyPr>
          <a:p>
            <a:r>
              <a:rPr b="0" lang="zh-CN" sz="1050" strike="noStrike" u="none">
                <a:solidFill>
                  <a:srgbClr val="ffffff"/>
                </a:solidFill>
                <a:effectLst/>
                <a:uFillTx/>
                <a:latin typeface="NotoSansJP"/>
                <a:ea typeface="NotoSansJP"/>
              </a:rPr>
              <a:t>角スペクトル伝搬</a:t>
            </a:r>
            <a:endParaRPr b="0" lang="en-US" sz="1050" strike="noStrike" u="none">
              <a:solidFill>
                <a:srgbClr val="000000"/>
              </a:solidFill>
              <a:effectLst/>
              <a:uFillTx/>
              <a:latin typeface="Times New Roman"/>
            </a:endParaRPr>
          </a:p>
        </p:txBody>
      </p:sp>
      <p:sp>
        <p:nvSpPr>
          <p:cNvPr id="53" name=""/>
          <p:cNvSpPr/>
          <p:nvPr/>
        </p:nvSpPr>
        <p:spPr>
          <a:xfrm>
            <a:off x="6626520" y="3376080"/>
            <a:ext cx="1504800" cy="1270440"/>
          </a:xfrm>
          <a:custGeom>
            <a:avLst/>
            <a:gdLst/>
            <a:ahLst/>
            <a:rect l="0" t="0" r="r" b="b"/>
            <a:pathLst>
              <a:path w="4180" h="3529">
                <a:moveTo>
                  <a:pt x="0" y="3343"/>
                </a:moveTo>
                <a:lnTo>
                  <a:pt x="0" y="185"/>
                </a:lnTo>
                <a:cubicBezTo>
                  <a:pt x="0" y="173"/>
                  <a:pt x="2" y="161"/>
                  <a:pt x="4" y="149"/>
                </a:cubicBezTo>
                <a:cubicBezTo>
                  <a:pt x="6" y="137"/>
                  <a:pt x="10" y="125"/>
                  <a:pt x="15" y="114"/>
                </a:cubicBezTo>
                <a:cubicBezTo>
                  <a:pt x="19" y="103"/>
                  <a:pt x="25" y="92"/>
                  <a:pt x="32" y="82"/>
                </a:cubicBezTo>
                <a:cubicBezTo>
                  <a:pt x="39" y="72"/>
                  <a:pt x="46" y="63"/>
                  <a:pt x="55" y="54"/>
                </a:cubicBezTo>
                <a:cubicBezTo>
                  <a:pt x="63" y="45"/>
                  <a:pt x="73" y="38"/>
                  <a:pt x="83" y="31"/>
                </a:cubicBezTo>
                <a:cubicBezTo>
                  <a:pt x="93" y="24"/>
                  <a:pt x="104" y="18"/>
                  <a:pt x="115" y="14"/>
                </a:cubicBezTo>
                <a:cubicBezTo>
                  <a:pt x="126" y="9"/>
                  <a:pt x="138" y="6"/>
                  <a:pt x="150" y="3"/>
                </a:cubicBezTo>
                <a:cubicBezTo>
                  <a:pt x="162" y="1"/>
                  <a:pt x="174" y="0"/>
                  <a:pt x="186" y="0"/>
                </a:cubicBezTo>
                <a:lnTo>
                  <a:pt x="3994" y="0"/>
                </a:lnTo>
                <a:cubicBezTo>
                  <a:pt x="4006" y="0"/>
                  <a:pt x="4018" y="1"/>
                  <a:pt x="4030" y="3"/>
                </a:cubicBezTo>
                <a:cubicBezTo>
                  <a:pt x="4042" y="6"/>
                  <a:pt x="4054" y="9"/>
                  <a:pt x="4065" y="14"/>
                </a:cubicBezTo>
                <a:cubicBezTo>
                  <a:pt x="4076" y="18"/>
                  <a:pt x="4087" y="24"/>
                  <a:pt x="4097" y="31"/>
                </a:cubicBezTo>
                <a:cubicBezTo>
                  <a:pt x="4107" y="38"/>
                  <a:pt x="4117" y="45"/>
                  <a:pt x="4125" y="54"/>
                </a:cubicBezTo>
                <a:cubicBezTo>
                  <a:pt x="4134" y="63"/>
                  <a:pt x="4142" y="72"/>
                  <a:pt x="4149" y="82"/>
                </a:cubicBezTo>
                <a:cubicBezTo>
                  <a:pt x="4155" y="92"/>
                  <a:pt x="4161" y="103"/>
                  <a:pt x="4166" y="114"/>
                </a:cubicBezTo>
                <a:cubicBezTo>
                  <a:pt x="4170" y="125"/>
                  <a:pt x="4174" y="137"/>
                  <a:pt x="4176" y="149"/>
                </a:cubicBezTo>
                <a:cubicBezTo>
                  <a:pt x="4179" y="161"/>
                  <a:pt x="4180" y="173"/>
                  <a:pt x="4180" y="185"/>
                </a:cubicBezTo>
                <a:lnTo>
                  <a:pt x="4180" y="3343"/>
                </a:lnTo>
                <a:cubicBezTo>
                  <a:pt x="4180" y="3355"/>
                  <a:pt x="4179" y="3368"/>
                  <a:pt x="4176" y="3379"/>
                </a:cubicBezTo>
                <a:cubicBezTo>
                  <a:pt x="4174" y="3391"/>
                  <a:pt x="4170" y="3403"/>
                  <a:pt x="4166" y="3414"/>
                </a:cubicBezTo>
                <a:cubicBezTo>
                  <a:pt x="4161" y="3426"/>
                  <a:pt x="4155" y="3436"/>
                  <a:pt x="4149" y="3446"/>
                </a:cubicBezTo>
                <a:cubicBezTo>
                  <a:pt x="4142" y="3457"/>
                  <a:pt x="4134" y="3466"/>
                  <a:pt x="4125" y="3475"/>
                </a:cubicBezTo>
                <a:cubicBezTo>
                  <a:pt x="4117" y="3483"/>
                  <a:pt x="4107" y="3491"/>
                  <a:pt x="4097" y="3498"/>
                </a:cubicBezTo>
                <a:cubicBezTo>
                  <a:pt x="4087" y="3504"/>
                  <a:pt x="4076" y="3510"/>
                  <a:pt x="4065" y="3515"/>
                </a:cubicBezTo>
                <a:cubicBezTo>
                  <a:pt x="4054" y="3519"/>
                  <a:pt x="4042" y="3523"/>
                  <a:pt x="4030" y="3525"/>
                </a:cubicBezTo>
                <a:cubicBezTo>
                  <a:pt x="4018" y="3528"/>
                  <a:pt x="4006" y="3529"/>
                  <a:pt x="3994" y="3529"/>
                </a:cubicBezTo>
                <a:lnTo>
                  <a:pt x="186" y="3529"/>
                </a:lnTo>
                <a:cubicBezTo>
                  <a:pt x="174" y="3529"/>
                  <a:pt x="162" y="3528"/>
                  <a:pt x="150" y="3525"/>
                </a:cubicBezTo>
                <a:cubicBezTo>
                  <a:pt x="138" y="3523"/>
                  <a:pt x="126" y="3519"/>
                  <a:pt x="115" y="3515"/>
                </a:cubicBezTo>
                <a:cubicBezTo>
                  <a:pt x="104" y="3510"/>
                  <a:pt x="93" y="3504"/>
                  <a:pt x="83" y="3498"/>
                </a:cubicBezTo>
                <a:cubicBezTo>
                  <a:pt x="73" y="3491"/>
                  <a:pt x="63" y="3483"/>
                  <a:pt x="55" y="3475"/>
                </a:cubicBezTo>
                <a:cubicBezTo>
                  <a:pt x="46" y="3466"/>
                  <a:pt x="39" y="3457"/>
                  <a:pt x="32" y="3446"/>
                </a:cubicBezTo>
                <a:cubicBezTo>
                  <a:pt x="25" y="3436"/>
                  <a:pt x="19" y="3426"/>
                  <a:pt x="15" y="3414"/>
                </a:cubicBezTo>
                <a:cubicBezTo>
                  <a:pt x="10" y="3403"/>
                  <a:pt x="6" y="3391"/>
                  <a:pt x="4" y="3379"/>
                </a:cubicBezTo>
                <a:cubicBezTo>
                  <a:pt x="2" y="3368"/>
                  <a:pt x="0" y="3355"/>
                  <a:pt x="0" y="3343"/>
                </a:cubicBezTo>
                <a:close/>
              </a:path>
            </a:pathLst>
          </a:custGeom>
          <a:solidFill>
            <a:srgbClr val="ffffff">
              <a:alpha val="10000"/>
            </a:srgbClr>
          </a:solidFill>
          <a:ln w="0">
            <a:noFill/>
          </a:ln>
        </p:spPr>
        <p:txBody>
          <a:bodyPr lIns="0" rIns="0" tIns="0" bIns="0" anchor="t">
            <a:noAutofit/>
          </a:bodyPr>
          <a:p>
            <a:endParaRPr b="0" lang="en-US" sz="2400" strike="noStrike" u="none">
              <a:solidFill>
                <a:srgbClr val="000000"/>
              </a:solidFill>
              <a:effectLst/>
              <a:uFillTx/>
              <a:latin typeface="Times New Roman"/>
            </a:endParaRPr>
          </a:p>
        </p:txBody>
      </p:sp>
      <p:pic>
        <p:nvPicPr>
          <p:cNvPr id="54" name="" descr=""/>
          <p:cNvPicPr/>
          <p:nvPr/>
        </p:nvPicPr>
        <p:blipFill>
          <a:blip r:embed="rId5"/>
          <a:stretch/>
        </p:blipFill>
        <p:spPr>
          <a:xfrm>
            <a:off x="7237080" y="3509640"/>
            <a:ext cx="283680" cy="300600"/>
          </a:xfrm>
          <a:prstGeom prst="rect">
            <a:avLst/>
          </a:prstGeom>
          <a:noFill/>
          <a:ln w="0">
            <a:noFill/>
          </a:ln>
        </p:spPr>
      </p:pic>
      <p:sp>
        <p:nvSpPr>
          <p:cNvPr id="55" name=""/>
          <p:cNvSpPr txBox="1"/>
          <p:nvPr/>
        </p:nvSpPr>
        <p:spPr>
          <a:xfrm>
            <a:off x="4821840" y="4286880"/>
            <a:ext cx="1056960" cy="169560"/>
          </a:xfrm>
          <a:prstGeom prst="rect">
            <a:avLst/>
          </a:prstGeom>
          <a:noFill/>
          <a:ln w="0">
            <a:noFill/>
          </a:ln>
        </p:spPr>
        <p:txBody>
          <a:bodyPr wrap="none" lIns="0" rIns="0" tIns="0" bIns="0" anchor="t">
            <a:spAutoFit/>
          </a:bodyPr>
          <a:p>
            <a:r>
              <a:rPr b="0" lang="zh-CN" sz="920" strike="noStrike" u="none">
                <a:solidFill>
                  <a:srgbClr val="a7c6d9"/>
                </a:solidFill>
                <a:effectLst/>
                <a:uFillTx/>
                <a:latin typeface="NotoSansJP"/>
                <a:ea typeface="NotoSansJP"/>
              </a:rPr>
              <a:t>瞳面まで光波を伝搬</a:t>
            </a:r>
            <a:endParaRPr b="0" lang="en-US" sz="920" strike="noStrike" u="none">
              <a:solidFill>
                <a:srgbClr val="000000"/>
              </a:solidFill>
              <a:effectLst/>
              <a:uFillTx/>
              <a:latin typeface="Times New Roman"/>
            </a:endParaRPr>
          </a:p>
        </p:txBody>
      </p:sp>
      <p:sp>
        <p:nvSpPr>
          <p:cNvPr id="56" name=""/>
          <p:cNvSpPr txBox="1"/>
          <p:nvPr/>
        </p:nvSpPr>
        <p:spPr>
          <a:xfrm>
            <a:off x="6806520" y="3945600"/>
            <a:ext cx="1229040" cy="194040"/>
          </a:xfrm>
          <a:prstGeom prst="rect">
            <a:avLst/>
          </a:prstGeom>
          <a:noFill/>
          <a:ln w="0">
            <a:noFill/>
          </a:ln>
        </p:spPr>
        <p:txBody>
          <a:bodyPr wrap="none" lIns="0" rIns="0" tIns="0" bIns="0" anchor="t">
            <a:spAutoFit/>
          </a:bodyPr>
          <a:p>
            <a:r>
              <a:rPr b="0" lang="zh-CN" sz="1050" strike="noStrike" u="none">
                <a:solidFill>
                  <a:srgbClr val="ffffff"/>
                </a:solidFill>
                <a:effectLst/>
                <a:uFillTx/>
                <a:latin typeface="NotoSansJP"/>
                <a:ea typeface="NotoSansJP"/>
              </a:rPr>
              <a:t>瞳レンズの</a:t>
            </a:r>
            <a:r>
              <a:rPr b="0" lang="en-US" sz="1050" strike="noStrike" u="none">
                <a:solidFill>
                  <a:srgbClr val="ffffff"/>
                </a:solidFill>
                <a:effectLst/>
                <a:uFillTx/>
                <a:latin typeface="NotoSansJP"/>
                <a:ea typeface="NotoSansJP"/>
              </a:rPr>
              <a:t>2</a:t>
            </a:r>
            <a:r>
              <a:rPr b="0" lang="zh-CN" sz="1050" strike="noStrike" u="none">
                <a:solidFill>
                  <a:srgbClr val="ffffff"/>
                </a:solidFill>
                <a:effectLst/>
                <a:uFillTx/>
                <a:latin typeface="NotoSansJP"/>
                <a:ea typeface="NotoSansJP"/>
              </a:rPr>
              <a:t>次位相</a:t>
            </a:r>
            <a:endParaRPr b="0" lang="en-US" sz="1050" strike="noStrike" u="none">
              <a:solidFill>
                <a:srgbClr val="000000"/>
              </a:solidFill>
              <a:effectLst/>
              <a:uFillTx/>
              <a:latin typeface="Times New Roman"/>
            </a:endParaRPr>
          </a:p>
        </p:txBody>
      </p:sp>
      <p:sp>
        <p:nvSpPr>
          <p:cNvPr id="57" name=""/>
          <p:cNvSpPr txBox="1"/>
          <p:nvPr/>
        </p:nvSpPr>
        <p:spPr>
          <a:xfrm>
            <a:off x="6793920" y="4203360"/>
            <a:ext cx="1174320" cy="169560"/>
          </a:xfrm>
          <a:prstGeom prst="rect">
            <a:avLst/>
          </a:prstGeom>
          <a:noFill/>
          <a:ln w="0">
            <a:noFill/>
          </a:ln>
        </p:spPr>
        <p:txBody>
          <a:bodyPr wrap="none" lIns="0" rIns="0" tIns="0" bIns="0" anchor="t">
            <a:spAutoFit/>
          </a:bodyPr>
          <a:p>
            <a:r>
              <a:rPr b="0" lang="zh-CN" sz="920" strike="noStrike" u="none">
                <a:solidFill>
                  <a:srgbClr val="a7c6d9"/>
                </a:solidFill>
                <a:effectLst/>
                <a:uFillTx/>
                <a:latin typeface="NotoSansJP"/>
                <a:ea typeface="NotoSansJP"/>
              </a:rPr>
              <a:t>レンズの集光効果を模</a:t>
            </a:r>
            <a:endParaRPr b="0" lang="en-US" sz="920" strike="noStrike" u="none">
              <a:solidFill>
                <a:srgbClr val="000000"/>
              </a:solidFill>
              <a:effectLst/>
              <a:uFillTx/>
              <a:latin typeface="Times New Roman"/>
            </a:endParaRPr>
          </a:p>
        </p:txBody>
      </p:sp>
      <p:sp>
        <p:nvSpPr>
          <p:cNvPr id="58" name=""/>
          <p:cNvSpPr/>
          <p:nvPr/>
        </p:nvSpPr>
        <p:spPr>
          <a:xfrm>
            <a:off x="8657280" y="3459600"/>
            <a:ext cx="1504800" cy="1103400"/>
          </a:xfrm>
          <a:custGeom>
            <a:avLst/>
            <a:gdLst/>
            <a:ahLst/>
            <a:rect l="0" t="0" r="r" b="b"/>
            <a:pathLst>
              <a:path w="4180" h="3065">
                <a:moveTo>
                  <a:pt x="0" y="2879"/>
                </a:moveTo>
                <a:lnTo>
                  <a:pt x="0" y="185"/>
                </a:lnTo>
                <a:cubicBezTo>
                  <a:pt x="0" y="173"/>
                  <a:pt x="1" y="161"/>
                  <a:pt x="4" y="149"/>
                </a:cubicBezTo>
                <a:cubicBezTo>
                  <a:pt x="6" y="137"/>
                  <a:pt x="10" y="126"/>
                  <a:pt x="14" y="114"/>
                </a:cubicBezTo>
                <a:cubicBezTo>
                  <a:pt x="19" y="103"/>
                  <a:pt x="25" y="92"/>
                  <a:pt x="32" y="82"/>
                </a:cubicBezTo>
                <a:cubicBezTo>
                  <a:pt x="38" y="72"/>
                  <a:pt x="46" y="63"/>
                  <a:pt x="55" y="54"/>
                </a:cubicBezTo>
                <a:cubicBezTo>
                  <a:pt x="63" y="45"/>
                  <a:pt x="73" y="38"/>
                  <a:pt x="83" y="31"/>
                </a:cubicBezTo>
                <a:cubicBezTo>
                  <a:pt x="93" y="24"/>
                  <a:pt x="104" y="19"/>
                  <a:pt x="115" y="14"/>
                </a:cubicBezTo>
                <a:cubicBezTo>
                  <a:pt x="126" y="9"/>
                  <a:pt x="138" y="6"/>
                  <a:pt x="150" y="3"/>
                </a:cubicBezTo>
                <a:cubicBezTo>
                  <a:pt x="162" y="1"/>
                  <a:pt x="174" y="0"/>
                  <a:pt x="186" y="0"/>
                </a:cubicBezTo>
                <a:lnTo>
                  <a:pt x="3994" y="0"/>
                </a:lnTo>
                <a:cubicBezTo>
                  <a:pt x="4006" y="0"/>
                  <a:pt x="4018" y="1"/>
                  <a:pt x="4030" y="3"/>
                </a:cubicBezTo>
                <a:cubicBezTo>
                  <a:pt x="4042" y="6"/>
                  <a:pt x="4054" y="9"/>
                  <a:pt x="4065" y="14"/>
                </a:cubicBezTo>
                <a:cubicBezTo>
                  <a:pt x="4076" y="19"/>
                  <a:pt x="4087" y="24"/>
                  <a:pt x="4097" y="31"/>
                </a:cubicBezTo>
                <a:cubicBezTo>
                  <a:pt x="4107" y="38"/>
                  <a:pt x="4117" y="45"/>
                  <a:pt x="4125" y="54"/>
                </a:cubicBezTo>
                <a:cubicBezTo>
                  <a:pt x="4134" y="63"/>
                  <a:pt x="4141" y="72"/>
                  <a:pt x="4148" y="82"/>
                </a:cubicBezTo>
                <a:cubicBezTo>
                  <a:pt x="4155" y="92"/>
                  <a:pt x="4161" y="103"/>
                  <a:pt x="4165" y="114"/>
                </a:cubicBezTo>
                <a:cubicBezTo>
                  <a:pt x="4170" y="126"/>
                  <a:pt x="4174" y="137"/>
                  <a:pt x="4176" y="149"/>
                </a:cubicBezTo>
                <a:cubicBezTo>
                  <a:pt x="4178" y="161"/>
                  <a:pt x="4180" y="173"/>
                  <a:pt x="4180" y="185"/>
                </a:cubicBezTo>
                <a:lnTo>
                  <a:pt x="4180" y="2879"/>
                </a:lnTo>
                <a:cubicBezTo>
                  <a:pt x="4180" y="2891"/>
                  <a:pt x="4178" y="2903"/>
                  <a:pt x="4176" y="2915"/>
                </a:cubicBezTo>
                <a:cubicBezTo>
                  <a:pt x="4174" y="2927"/>
                  <a:pt x="4170" y="2939"/>
                  <a:pt x="4165" y="2950"/>
                </a:cubicBezTo>
                <a:cubicBezTo>
                  <a:pt x="4161" y="2961"/>
                  <a:pt x="4155" y="2972"/>
                  <a:pt x="4148" y="2982"/>
                </a:cubicBezTo>
                <a:cubicBezTo>
                  <a:pt x="4141" y="2992"/>
                  <a:pt x="4134" y="3002"/>
                  <a:pt x="4125" y="3010"/>
                </a:cubicBezTo>
                <a:cubicBezTo>
                  <a:pt x="4117" y="3019"/>
                  <a:pt x="4107" y="3027"/>
                  <a:pt x="4097" y="3034"/>
                </a:cubicBezTo>
                <a:cubicBezTo>
                  <a:pt x="4087" y="3040"/>
                  <a:pt x="4076" y="3046"/>
                  <a:pt x="4065" y="3051"/>
                </a:cubicBezTo>
                <a:cubicBezTo>
                  <a:pt x="4054" y="3055"/>
                  <a:pt x="4042" y="3059"/>
                  <a:pt x="4030" y="3061"/>
                </a:cubicBezTo>
                <a:cubicBezTo>
                  <a:pt x="4018" y="3064"/>
                  <a:pt x="4006" y="3065"/>
                  <a:pt x="3994" y="3065"/>
                </a:cubicBezTo>
                <a:lnTo>
                  <a:pt x="186" y="3065"/>
                </a:lnTo>
                <a:cubicBezTo>
                  <a:pt x="174" y="3065"/>
                  <a:pt x="162" y="3064"/>
                  <a:pt x="150" y="3061"/>
                </a:cubicBezTo>
                <a:cubicBezTo>
                  <a:pt x="138" y="3059"/>
                  <a:pt x="126" y="3055"/>
                  <a:pt x="115" y="3051"/>
                </a:cubicBezTo>
                <a:cubicBezTo>
                  <a:pt x="104" y="3046"/>
                  <a:pt x="93" y="3040"/>
                  <a:pt x="83" y="3034"/>
                </a:cubicBezTo>
                <a:cubicBezTo>
                  <a:pt x="73" y="3027"/>
                  <a:pt x="63" y="3019"/>
                  <a:pt x="55" y="3010"/>
                </a:cubicBezTo>
                <a:cubicBezTo>
                  <a:pt x="46" y="3002"/>
                  <a:pt x="38" y="2992"/>
                  <a:pt x="32" y="2982"/>
                </a:cubicBezTo>
                <a:cubicBezTo>
                  <a:pt x="25" y="2972"/>
                  <a:pt x="19" y="2961"/>
                  <a:pt x="14" y="2950"/>
                </a:cubicBezTo>
                <a:cubicBezTo>
                  <a:pt x="10" y="2939"/>
                  <a:pt x="6" y="2927"/>
                  <a:pt x="4" y="2915"/>
                </a:cubicBezTo>
                <a:cubicBezTo>
                  <a:pt x="1" y="2903"/>
                  <a:pt x="0" y="2891"/>
                  <a:pt x="0" y="2879"/>
                </a:cubicBezTo>
                <a:close/>
              </a:path>
            </a:pathLst>
          </a:custGeom>
          <a:solidFill>
            <a:srgbClr val="ffffff">
              <a:alpha val="10000"/>
            </a:srgbClr>
          </a:solidFill>
          <a:ln w="0">
            <a:noFill/>
          </a:ln>
        </p:spPr>
        <p:txBody>
          <a:bodyPr lIns="0" rIns="0" tIns="0" bIns="0" anchor="t">
            <a:noAutofit/>
          </a:bodyPr>
          <a:p>
            <a:endParaRPr b="0" lang="en-US" sz="2400" strike="noStrike" u="none">
              <a:solidFill>
                <a:srgbClr val="000000"/>
              </a:solidFill>
              <a:effectLst/>
              <a:uFillTx/>
              <a:latin typeface="Times New Roman"/>
            </a:endParaRPr>
          </a:p>
        </p:txBody>
      </p:sp>
      <p:pic>
        <p:nvPicPr>
          <p:cNvPr id="59" name="" descr=""/>
          <p:cNvPicPr/>
          <p:nvPr/>
        </p:nvPicPr>
        <p:blipFill>
          <a:blip r:embed="rId6"/>
          <a:stretch/>
        </p:blipFill>
        <p:spPr>
          <a:xfrm>
            <a:off x="9284400" y="3593520"/>
            <a:ext cx="250200" cy="300600"/>
          </a:xfrm>
          <a:prstGeom prst="rect">
            <a:avLst/>
          </a:prstGeom>
          <a:noFill/>
          <a:ln w="0">
            <a:noFill/>
          </a:ln>
        </p:spPr>
      </p:pic>
      <p:sp>
        <p:nvSpPr>
          <p:cNvPr id="60" name=""/>
          <p:cNvSpPr txBox="1"/>
          <p:nvPr/>
        </p:nvSpPr>
        <p:spPr>
          <a:xfrm>
            <a:off x="7320600" y="4370760"/>
            <a:ext cx="118080" cy="169560"/>
          </a:xfrm>
          <a:prstGeom prst="rect">
            <a:avLst/>
          </a:prstGeom>
          <a:noFill/>
          <a:ln w="0">
            <a:noFill/>
          </a:ln>
        </p:spPr>
        <p:txBody>
          <a:bodyPr wrap="none" lIns="0" rIns="0" tIns="0" bIns="0" anchor="t">
            <a:spAutoFit/>
          </a:bodyPr>
          <a:p>
            <a:r>
              <a:rPr b="0" lang="zh-CN" sz="920" strike="noStrike" u="none">
                <a:solidFill>
                  <a:srgbClr val="a7c6d9"/>
                </a:solidFill>
                <a:effectLst/>
                <a:uFillTx/>
                <a:latin typeface="NotoSansJP"/>
                <a:ea typeface="NotoSansJP"/>
              </a:rPr>
              <a:t>擬</a:t>
            </a:r>
            <a:endParaRPr b="0" lang="en-US" sz="920" strike="noStrike" u="none">
              <a:solidFill>
                <a:srgbClr val="000000"/>
              </a:solidFill>
              <a:effectLst/>
              <a:uFillTx/>
              <a:latin typeface="Times New Roman"/>
            </a:endParaRPr>
          </a:p>
        </p:txBody>
      </p:sp>
      <p:sp>
        <p:nvSpPr>
          <p:cNvPr id="61" name=""/>
          <p:cNvSpPr txBox="1"/>
          <p:nvPr/>
        </p:nvSpPr>
        <p:spPr>
          <a:xfrm>
            <a:off x="8941680" y="4029120"/>
            <a:ext cx="939600" cy="194040"/>
          </a:xfrm>
          <a:prstGeom prst="rect">
            <a:avLst/>
          </a:prstGeom>
          <a:noFill/>
          <a:ln w="0">
            <a:noFill/>
          </a:ln>
        </p:spPr>
        <p:txBody>
          <a:bodyPr wrap="none" lIns="0" rIns="0" tIns="0" bIns="0" anchor="t">
            <a:spAutoFit/>
          </a:bodyPr>
          <a:p>
            <a:r>
              <a:rPr b="0" lang="zh-CN" sz="1050" strike="noStrike" u="none">
                <a:solidFill>
                  <a:srgbClr val="ffffff"/>
                </a:solidFill>
                <a:effectLst/>
                <a:uFillTx/>
                <a:latin typeface="NotoSansJP"/>
                <a:ea typeface="NotoSansJP"/>
              </a:rPr>
              <a:t>網膜面への伝搬</a:t>
            </a:r>
            <a:endParaRPr b="0" lang="en-US" sz="1050" strike="noStrike" u="none">
              <a:solidFill>
                <a:srgbClr val="000000"/>
              </a:solidFill>
              <a:effectLst/>
              <a:uFillTx/>
              <a:latin typeface="Times New Roman"/>
            </a:endParaRPr>
          </a:p>
        </p:txBody>
      </p:sp>
      <p:sp>
        <p:nvSpPr>
          <p:cNvPr id="62" name=""/>
          <p:cNvSpPr txBox="1"/>
          <p:nvPr/>
        </p:nvSpPr>
        <p:spPr>
          <a:xfrm>
            <a:off x="8883000" y="4286880"/>
            <a:ext cx="1056960" cy="169560"/>
          </a:xfrm>
          <a:prstGeom prst="rect">
            <a:avLst/>
          </a:prstGeom>
          <a:noFill/>
          <a:ln w="0">
            <a:noFill/>
          </a:ln>
        </p:spPr>
        <p:txBody>
          <a:bodyPr wrap="none" lIns="0" rIns="0" tIns="0" bIns="0" anchor="t">
            <a:spAutoFit/>
          </a:bodyPr>
          <a:p>
            <a:r>
              <a:rPr b="0" lang="zh-CN" sz="920" strike="noStrike" u="none">
                <a:solidFill>
                  <a:srgbClr val="a7c6d9"/>
                </a:solidFill>
                <a:effectLst/>
                <a:uFillTx/>
                <a:latin typeface="NotoSansJP"/>
                <a:ea typeface="NotoSansJP"/>
              </a:rPr>
              <a:t>再生像の計算‧表示</a:t>
            </a:r>
            <a:endParaRPr b="0" lang="en-US" sz="920" strike="noStrike" u="none">
              <a:solidFill>
                <a:srgbClr val="000000"/>
              </a:solidFill>
              <a:effectLst/>
              <a:uFillTx/>
              <a:latin typeface="Times New Roman"/>
            </a:endParaRPr>
          </a:p>
        </p:txBody>
      </p:sp>
      <p:sp>
        <p:nvSpPr>
          <p:cNvPr id="63" name=""/>
          <p:cNvSpPr/>
          <p:nvPr/>
        </p:nvSpPr>
        <p:spPr>
          <a:xfrm>
            <a:off x="534600" y="5615640"/>
            <a:ext cx="3075840" cy="401400"/>
          </a:xfrm>
          <a:custGeom>
            <a:avLst/>
            <a:gdLst/>
            <a:ahLst/>
            <a:rect l="0" t="0" r="r" b="b"/>
            <a:pathLst>
              <a:path w="8544" h="1115">
                <a:moveTo>
                  <a:pt x="0" y="1115"/>
                </a:moveTo>
                <a:lnTo>
                  <a:pt x="0" y="185"/>
                </a:lnTo>
                <a:cubicBezTo>
                  <a:pt x="0" y="173"/>
                  <a:pt x="1" y="161"/>
                  <a:pt x="4" y="149"/>
                </a:cubicBezTo>
                <a:cubicBezTo>
                  <a:pt x="6" y="137"/>
                  <a:pt x="10" y="126"/>
                  <a:pt x="14" y="114"/>
                </a:cubicBezTo>
                <a:cubicBezTo>
                  <a:pt x="19" y="103"/>
                  <a:pt x="25" y="92"/>
                  <a:pt x="31" y="82"/>
                </a:cubicBezTo>
                <a:cubicBezTo>
                  <a:pt x="38" y="72"/>
                  <a:pt x="46" y="63"/>
                  <a:pt x="55" y="54"/>
                </a:cubicBezTo>
                <a:cubicBezTo>
                  <a:pt x="63" y="45"/>
                  <a:pt x="73" y="38"/>
                  <a:pt x="83" y="31"/>
                </a:cubicBezTo>
                <a:cubicBezTo>
                  <a:pt x="93" y="24"/>
                  <a:pt x="104" y="18"/>
                  <a:pt x="115" y="14"/>
                </a:cubicBezTo>
                <a:cubicBezTo>
                  <a:pt x="126" y="9"/>
                  <a:pt x="138" y="6"/>
                  <a:pt x="150" y="3"/>
                </a:cubicBezTo>
                <a:cubicBezTo>
                  <a:pt x="162" y="1"/>
                  <a:pt x="174" y="0"/>
                  <a:pt x="186" y="0"/>
                </a:cubicBezTo>
                <a:lnTo>
                  <a:pt x="8358" y="0"/>
                </a:lnTo>
                <a:cubicBezTo>
                  <a:pt x="8370" y="0"/>
                  <a:pt x="8382" y="1"/>
                  <a:pt x="8394" y="3"/>
                </a:cubicBezTo>
                <a:cubicBezTo>
                  <a:pt x="8406" y="6"/>
                  <a:pt x="8418" y="9"/>
                  <a:pt x="8429" y="14"/>
                </a:cubicBezTo>
                <a:cubicBezTo>
                  <a:pt x="8440" y="18"/>
                  <a:pt x="8451" y="24"/>
                  <a:pt x="8461" y="31"/>
                </a:cubicBezTo>
                <a:cubicBezTo>
                  <a:pt x="8471" y="38"/>
                  <a:pt x="8481" y="45"/>
                  <a:pt x="8489" y="54"/>
                </a:cubicBezTo>
                <a:cubicBezTo>
                  <a:pt x="8498" y="63"/>
                  <a:pt x="8505" y="72"/>
                  <a:pt x="8512" y="82"/>
                </a:cubicBezTo>
                <a:cubicBezTo>
                  <a:pt x="8519" y="92"/>
                  <a:pt x="8525" y="103"/>
                  <a:pt x="8529" y="114"/>
                </a:cubicBezTo>
                <a:cubicBezTo>
                  <a:pt x="8534" y="126"/>
                  <a:pt x="8538" y="137"/>
                  <a:pt x="8540" y="149"/>
                </a:cubicBezTo>
                <a:cubicBezTo>
                  <a:pt x="8542" y="161"/>
                  <a:pt x="8544" y="173"/>
                  <a:pt x="8544" y="185"/>
                </a:cubicBezTo>
                <a:lnTo>
                  <a:pt x="8544" y="1115"/>
                </a:lnTo>
                <a:lnTo>
                  <a:pt x="0" y="1115"/>
                </a:lnTo>
                <a:close/>
              </a:path>
            </a:pathLst>
          </a:custGeom>
          <a:solidFill>
            <a:srgbClr val="ffffff">
              <a:alpha val="10000"/>
            </a:srgbClr>
          </a:solidFill>
          <a:ln w="0">
            <a:noFill/>
          </a:ln>
        </p:spPr>
        <p:txBody>
          <a:bodyPr lIns="0" rIns="0" tIns="0" bIns="0" anchor="t">
            <a:noAutofit/>
          </a:bodyPr>
          <a:p>
            <a:endParaRPr b="0" lang="en-US" sz="2400" strike="noStrike" u="none">
              <a:solidFill>
                <a:srgbClr val="000000"/>
              </a:solidFill>
              <a:effectLst/>
              <a:uFillTx/>
              <a:latin typeface="Times New Roman"/>
            </a:endParaRPr>
          </a:p>
        </p:txBody>
      </p:sp>
      <p:pic>
        <p:nvPicPr>
          <p:cNvPr id="64" name="" descr=""/>
          <p:cNvPicPr/>
          <p:nvPr/>
        </p:nvPicPr>
        <p:blipFill>
          <a:blip r:embed="rId7"/>
          <a:stretch/>
        </p:blipFill>
        <p:spPr>
          <a:xfrm>
            <a:off x="702000" y="5816160"/>
            <a:ext cx="150120" cy="567720"/>
          </a:xfrm>
          <a:prstGeom prst="rect">
            <a:avLst/>
          </a:prstGeom>
          <a:noFill/>
          <a:ln w="0">
            <a:noFill/>
          </a:ln>
        </p:spPr>
      </p:pic>
      <p:sp>
        <p:nvSpPr>
          <p:cNvPr id="65" name=""/>
          <p:cNvSpPr txBox="1"/>
          <p:nvPr/>
        </p:nvSpPr>
        <p:spPr>
          <a:xfrm>
            <a:off x="534960" y="5245560"/>
            <a:ext cx="1609920" cy="291600"/>
          </a:xfrm>
          <a:prstGeom prst="rect">
            <a:avLst/>
          </a:prstGeom>
          <a:noFill/>
          <a:ln w="0">
            <a:noFill/>
          </a:ln>
        </p:spPr>
        <p:txBody>
          <a:bodyPr wrap="none" lIns="0" rIns="0" tIns="0" bIns="0" anchor="t">
            <a:spAutoFit/>
          </a:bodyPr>
          <a:p>
            <a:r>
              <a:rPr b="0" lang="zh-CN" sz="1580" strike="noStrike" u="none">
                <a:solidFill>
                  <a:srgbClr val="a7c6d9"/>
                </a:solidFill>
                <a:effectLst/>
                <a:uFillTx/>
                <a:latin typeface="NotoSansJP"/>
                <a:ea typeface="NotoSansJP"/>
              </a:rPr>
              <a:t>プログラムの意義</a:t>
            </a:r>
            <a:endParaRPr b="0" lang="en-US" sz="1580" strike="noStrike" u="none">
              <a:solidFill>
                <a:srgbClr val="000000"/>
              </a:solidFill>
              <a:effectLst/>
              <a:uFillTx/>
              <a:latin typeface="Times New Roman"/>
            </a:endParaRPr>
          </a:p>
        </p:txBody>
      </p:sp>
      <p:sp>
        <p:nvSpPr>
          <p:cNvPr id="66" name=""/>
          <p:cNvSpPr/>
          <p:nvPr/>
        </p:nvSpPr>
        <p:spPr>
          <a:xfrm>
            <a:off x="3810600" y="5615640"/>
            <a:ext cx="3075480" cy="401400"/>
          </a:xfrm>
          <a:custGeom>
            <a:avLst/>
            <a:gdLst/>
            <a:ahLst/>
            <a:rect l="0" t="0" r="r" b="b"/>
            <a:pathLst>
              <a:path w="8543" h="1115">
                <a:moveTo>
                  <a:pt x="0" y="1115"/>
                </a:moveTo>
                <a:lnTo>
                  <a:pt x="0" y="185"/>
                </a:lnTo>
                <a:cubicBezTo>
                  <a:pt x="0" y="173"/>
                  <a:pt x="1" y="161"/>
                  <a:pt x="3" y="149"/>
                </a:cubicBezTo>
                <a:cubicBezTo>
                  <a:pt x="6" y="137"/>
                  <a:pt x="9" y="126"/>
                  <a:pt x="14" y="114"/>
                </a:cubicBezTo>
                <a:cubicBezTo>
                  <a:pt x="18" y="103"/>
                  <a:pt x="24" y="92"/>
                  <a:pt x="31" y="82"/>
                </a:cubicBezTo>
                <a:cubicBezTo>
                  <a:pt x="38" y="72"/>
                  <a:pt x="45" y="63"/>
                  <a:pt x="54" y="54"/>
                </a:cubicBezTo>
                <a:cubicBezTo>
                  <a:pt x="63" y="45"/>
                  <a:pt x="72" y="38"/>
                  <a:pt x="82" y="31"/>
                </a:cubicBezTo>
                <a:cubicBezTo>
                  <a:pt x="92" y="24"/>
                  <a:pt x="103" y="18"/>
                  <a:pt x="114" y="14"/>
                </a:cubicBezTo>
                <a:cubicBezTo>
                  <a:pt x="126" y="9"/>
                  <a:pt x="137" y="6"/>
                  <a:pt x="149" y="3"/>
                </a:cubicBezTo>
                <a:cubicBezTo>
                  <a:pt x="161" y="1"/>
                  <a:pt x="173" y="0"/>
                  <a:pt x="185" y="0"/>
                </a:cubicBezTo>
                <a:lnTo>
                  <a:pt x="8357" y="0"/>
                </a:lnTo>
                <a:cubicBezTo>
                  <a:pt x="8370" y="0"/>
                  <a:pt x="8382" y="1"/>
                  <a:pt x="8394" y="3"/>
                </a:cubicBezTo>
                <a:cubicBezTo>
                  <a:pt x="8406" y="6"/>
                  <a:pt x="8417" y="9"/>
                  <a:pt x="8428" y="14"/>
                </a:cubicBezTo>
                <a:cubicBezTo>
                  <a:pt x="8440" y="18"/>
                  <a:pt x="8450" y="24"/>
                  <a:pt x="8461" y="31"/>
                </a:cubicBezTo>
                <a:cubicBezTo>
                  <a:pt x="8471" y="38"/>
                  <a:pt x="8480" y="45"/>
                  <a:pt x="8489" y="54"/>
                </a:cubicBezTo>
                <a:cubicBezTo>
                  <a:pt x="8497" y="63"/>
                  <a:pt x="8505" y="72"/>
                  <a:pt x="8512" y="82"/>
                </a:cubicBezTo>
                <a:cubicBezTo>
                  <a:pt x="8519" y="92"/>
                  <a:pt x="8524" y="103"/>
                  <a:pt x="8529" y="114"/>
                </a:cubicBezTo>
                <a:cubicBezTo>
                  <a:pt x="8534" y="126"/>
                  <a:pt x="8537" y="137"/>
                  <a:pt x="8539" y="149"/>
                </a:cubicBezTo>
                <a:cubicBezTo>
                  <a:pt x="8542" y="161"/>
                  <a:pt x="8543" y="173"/>
                  <a:pt x="8543" y="185"/>
                </a:cubicBezTo>
                <a:lnTo>
                  <a:pt x="8543" y="1115"/>
                </a:lnTo>
                <a:lnTo>
                  <a:pt x="0" y="1115"/>
                </a:lnTo>
                <a:close/>
              </a:path>
            </a:pathLst>
          </a:custGeom>
          <a:solidFill>
            <a:srgbClr val="ffffff">
              <a:alpha val="10000"/>
            </a:srgbClr>
          </a:solidFill>
          <a:ln w="0">
            <a:noFill/>
          </a:ln>
        </p:spPr>
        <p:txBody>
          <a:bodyPr lIns="0" rIns="0" tIns="0" bIns="0" anchor="t">
            <a:noAutofit/>
          </a:bodyPr>
          <a:p>
            <a:endParaRPr b="0" lang="en-US" sz="2400" strike="noStrike" u="none">
              <a:solidFill>
                <a:srgbClr val="000000"/>
              </a:solidFill>
              <a:effectLst/>
              <a:uFillTx/>
              <a:latin typeface="Times New Roman"/>
            </a:endParaRPr>
          </a:p>
        </p:txBody>
      </p:sp>
      <p:pic>
        <p:nvPicPr>
          <p:cNvPr id="67" name="" descr=""/>
          <p:cNvPicPr/>
          <p:nvPr/>
        </p:nvPicPr>
        <p:blipFill>
          <a:blip r:embed="rId8"/>
          <a:stretch/>
        </p:blipFill>
        <p:spPr>
          <a:xfrm>
            <a:off x="3977640" y="5816160"/>
            <a:ext cx="250200" cy="567720"/>
          </a:xfrm>
          <a:prstGeom prst="rect">
            <a:avLst/>
          </a:prstGeom>
          <a:noFill/>
          <a:ln w="0">
            <a:noFill/>
          </a:ln>
        </p:spPr>
      </p:pic>
      <p:sp>
        <p:nvSpPr>
          <p:cNvPr id="68" name=""/>
          <p:cNvSpPr txBox="1"/>
          <p:nvPr/>
        </p:nvSpPr>
        <p:spPr>
          <a:xfrm>
            <a:off x="986040" y="5817600"/>
            <a:ext cx="1073520" cy="194040"/>
          </a:xfrm>
          <a:prstGeom prst="rect">
            <a:avLst/>
          </a:prstGeom>
          <a:noFill/>
          <a:ln w="0">
            <a:noFill/>
          </a:ln>
        </p:spPr>
        <p:txBody>
          <a:bodyPr wrap="none" lIns="0" rIns="0" tIns="0" bIns="0" anchor="t">
            <a:spAutoFit/>
          </a:bodyPr>
          <a:p>
            <a:r>
              <a:rPr b="0" lang="zh-CN" sz="1050" strike="noStrike" u="none">
                <a:solidFill>
                  <a:srgbClr val="ffffff"/>
                </a:solidFill>
                <a:effectLst/>
                <a:uFillTx/>
                <a:latin typeface="NotoSansJP"/>
                <a:ea typeface="NotoSansJP"/>
              </a:rPr>
              <a:t>光学的理解の深化</a:t>
            </a:r>
            <a:endParaRPr b="0" lang="en-US" sz="1050" strike="noStrike" u="none">
              <a:solidFill>
                <a:srgbClr val="000000"/>
              </a:solidFill>
              <a:effectLst/>
              <a:uFillTx/>
              <a:latin typeface="Times New Roman"/>
            </a:endParaRPr>
          </a:p>
        </p:txBody>
      </p:sp>
      <p:sp>
        <p:nvSpPr>
          <p:cNvPr id="69" name=""/>
          <p:cNvSpPr/>
          <p:nvPr/>
        </p:nvSpPr>
        <p:spPr>
          <a:xfrm>
            <a:off x="7086240" y="5615640"/>
            <a:ext cx="3075840" cy="401400"/>
          </a:xfrm>
          <a:custGeom>
            <a:avLst/>
            <a:gdLst/>
            <a:ahLst/>
            <a:rect l="0" t="0" r="r" b="b"/>
            <a:pathLst>
              <a:path w="8544" h="1115">
                <a:moveTo>
                  <a:pt x="0" y="1115"/>
                </a:moveTo>
                <a:lnTo>
                  <a:pt x="0" y="185"/>
                </a:lnTo>
                <a:cubicBezTo>
                  <a:pt x="0" y="173"/>
                  <a:pt x="1" y="161"/>
                  <a:pt x="4" y="149"/>
                </a:cubicBezTo>
                <a:cubicBezTo>
                  <a:pt x="6" y="137"/>
                  <a:pt x="10" y="126"/>
                  <a:pt x="14" y="114"/>
                </a:cubicBezTo>
                <a:cubicBezTo>
                  <a:pt x="19" y="103"/>
                  <a:pt x="25" y="92"/>
                  <a:pt x="31" y="82"/>
                </a:cubicBezTo>
                <a:cubicBezTo>
                  <a:pt x="38" y="72"/>
                  <a:pt x="46" y="63"/>
                  <a:pt x="55" y="54"/>
                </a:cubicBezTo>
                <a:cubicBezTo>
                  <a:pt x="63" y="45"/>
                  <a:pt x="73" y="38"/>
                  <a:pt x="83" y="31"/>
                </a:cubicBezTo>
                <a:cubicBezTo>
                  <a:pt x="93" y="24"/>
                  <a:pt x="104" y="18"/>
                  <a:pt x="115" y="14"/>
                </a:cubicBezTo>
                <a:cubicBezTo>
                  <a:pt x="126" y="9"/>
                  <a:pt x="138" y="6"/>
                  <a:pt x="150" y="3"/>
                </a:cubicBezTo>
                <a:cubicBezTo>
                  <a:pt x="162" y="1"/>
                  <a:pt x="174" y="0"/>
                  <a:pt x="186" y="0"/>
                </a:cubicBezTo>
                <a:lnTo>
                  <a:pt x="8358" y="0"/>
                </a:lnTo>
                <a:cubicBezTo>
                  <a:pt x="8370" y="0"/>
                  <a:pt x="8382" y="1"/>
                  <a:pt x="8394" y="3"/>
                </a:cubicBezTo>
                <a:cubicBezTo>
                  <a:pt x="8406" y="6"/>
                  <a:pt x="8418" y="9"/>
                  <a:pt x="8429" y="14"/>
                </a:cubicBezTo>
                <a:cubicBezTo>
                  <a:pt x="8440" y="18"/>
                  <a:pt x="8451" y="24"/>
                  <a:pt x="8461" y="31"/>
                </a:cubicBezTo>
                <a:cubicBezTo>
                  <a:pt x="8471" y="38"/>
                  <a:pt x="8481" y="45"/>
                  <a:pt x="8489" y="54"/>
                </a:cubicBezTo>
                <a:cubicBezTo>
                  <a:pt x="8498" y="63"/>
                  <a:pt x="8505" y="72"/>
                  <a:pt x="8512" y="82"/>
                </a:cubicBezTo>
                <a:cubicBezTo>
                  <a:pt x="8519" y="92"/>
                  <a:pt x="8525" y="103"/>
                  <a:pt x="8529" y="114"/>
                </a:cubicBezTo>
                <a:cubicBezTo>
                  <a:pt x="8534" y="126"/>
                  <a:pt x="8538" y="137"/>
                  <a:pt x="8540" y="149"/>
                </a:cubicBezTo>
                <a:cubicBezTo>
                  <a:pt x="8542" y="161"/>
                  <a:pt x="8544" y="173"/>
                  <a:pt x="8544" y="185"/>
                </a:cubicBezTo>
                <a:lnTo>
                  <a:pt x="8544" y="1115"/>
                </a:lnTo>
                <a:lnTo>
                  <a:pt x="0" y="1115"/>
                </a:lnTo>
                <a:close/>
              </a:path>
            </a:pathLst>
          </a:custGeom>
          <a:solidFill>
            <a:srgbClr val="ffffff">
              <a:alpha val="10000"/>
            </a:srgbClr>
          </a:solidFill>
          <a:ln w="0">
            <a:noFill/>
          </a:ln>
        </p:spPr>
        <p:txBody>
          <a:bodyPr lIns="0" rIns="0" tIns="0" bIns="0" anchor="t">
            <a:noAutofit/>
          </a:bodyPr>
          <a:p>
            <a:endParaRPr b="0" lang="en-US" sz="2400" strike="noStrike" u="none">
              <a:solidFill>
                <a:srgbClr val="000000"/>
              </a:solidFill>
              <a:effectLst/>
              <a:uFillTx/>
              <a:latin typeface="Times New Roman"/>
            </a:endParaRPr>
          </a:p>
        </p:txBody>
      </p:sp>
      <p:pic>
        <p:nvPicPr>
          <p:cNvPr id="70" name="" descr=""/>
          <p:cNvPicPr/>
          <p:nvPr/>
        </p:nvPicPr>
        <p:blipFill>
          <a:blip r:embed="rId9"/>
          <a:stretch/>
        </p:blipFill>
        <p:spPr>
          <a:xfrm>
            <a:off x="7253640" y="5816160"/>
            <a:ext cx="250200" cy="567720"/>
          </a:xfrm>
          <a:prstGeom prst="rect">
            <a:avLst/>
          </a:prstGeom>
          <a:noFill/>
          <a:ln w="0">
            <a:noFill/>
          </a:ln>
        </p:spPr>
      </p:pic>
      <p:sp>
        <p:nvSpPr>
          <p:cNvPr id="71" name=""/>
          <p:cNvSpPr txBox="1"/>
          <p:nvPr/>
        </p:nvSpPr>
        <p:spPr>
          <a:xfrm>
            <a:off x="4362120" y="5817600"/>
            <a:ext cx="1476000" cy="194040"/>
          </a:xfrm>
          <a:prstGeom prst="rect">
            <a:avLst/>
          </a:prstGeom>
          <a:noFill/>
          <a:ln w="0">
            <a:noFill/>
          </a:ln>
        </p:spPr>
        <p:txBody>
          <a:bodyPr wrap="none" lIns="0" rIns="0" tIns="0" bIns="0" anchor="t">
            <a:spAutoFit/>
          </a:bodyPr>
          <a:p>
            <a:r>
              <a:rPr b="0" lang="zh-CN" sz="1050" strike="noStrike" u="none">
                <a:solidFill>
                  <a:srgbClr val="ffffff"/>
                </a:solidFill>
                <a:effectLst/>
                <a:uFillTx/>
                <a:latin typeface="NotoSansJP"/>
                <a:ea typeface="NotoSansJP"/>
              </a:rPr>
              <a:t>視覚系シミュレーション</a:t>
            </a:r>
            <a:endParaRPr b="0" lang="en-US" sz="1050" strike="noStrike" u="none">
              <a:solidFill>
                <a:srgbClr val="000000"/>
              </a:solidFill>
              <a:effectLst/>
              <a:uFillTx/>
              <a:latin typeface="Times New Roman"/>
            </a:endParaRPr>
          </a:p>
        </p:txBody>
      </p:sp>
      <p:sp>
        <p:nvSpPr>
          <p:cNvPr id="72" name=""/>
          <p:cNvSpPr/>
          <p:nvPr/>
        </p:nvSpPr>
        <p:spPr>
          <a:xfrm>
            <a:off x="2139120" y="4002840"/>
            <a:ext cx="334800" cy="16920"/>
          </a:xfrm>
          <a:custGeom>
            <a:avLst/>
            <a:gdLst/>
            <a:ahLst/>
            <a:rect l="0" t="0" r="r" b="b"/>
            <a:pathLst>
              <a:path w="930" h="47">
                <a:moveTo>
                  <a:pt x="0" y="0"/>
                </a:moveTo>
                <a:lnTo>
                  <a:pt x="930" y="0"/>
                </a:lnTo>
                <a:lnTo>
                  <a:pt x="930" y="47"/>
                </a:lnTo>
                <a:lnTo>
                  <a:pt x="0" y="47"/>
                </a:lnTo>
                <a:lnTo>
                  <a:pt x="0" y="0"/>
                </a:lnTo>
                <a:close/>
              </a:path>
            </a:pathLst>
          </a:custGeom>
          <a:solidFill>
            <a:srgbClr val="a7c6d9"/>
          </a:solidFill>
          <a:ln w="0">
            <a:noFill/>
          </a:ln>
        </p:spPr>
        <p:txBody>
          <a:bodyPr lIns="0" rIns="0" tIns="0" bIns="0" anchor="t">
            <a:noAutofit/>
          </a:bodyPr>
          <a:p>
            <a:endParaRPr b="0" lang="en-US" sz="2400" strike="noStrike" u="none">
              <a:solidFill>
                <a:srgbClr val="000000"/>
              </a:solidFill>
              <a:effectLst/>
              <a:uFillTx/>
              <a:latin typeface="Times New Roman"/>
            </a:endParaRPr>
          </a:p>
        </p:txBody>
      </p:sp>
      <p:pic>
        <p:nvPicPr>
          <p:cNvPr id="73" name="" descr=""/>
          <p:cNvPicPr/>
          <p:nvPr/>
        </p:nvPicPr>
        <p:blipFill>
          <a:blip r:embed="rId10"/>
          <a:stretch/>
        </p:blipFill>
        <p:spPr>
          <a:xfrm>
            <a:off x="2423520" y="3877560"/>
            <a:ext cx="83160" cy="133200"/>
          </a:xfrm>
          <a:prstGeom prst="rect">
            <a:avLst/>
          </a:prstGeom>
          <a:noFill/>
          <a:ln w="0">
            <a:noFill/>
          </a:ln>
        </p:spPr>
      </p:pic>
      <p:sp>
        <p:nvSpPr>
          <p:cNvPr id="74" name=""/>
          <p:cNvSpPr/>
          <p:nvPr/>
        </p:nvSpPr>
        <p:spPr>
          <a:xfrm>
            <a:off x="4169880" y="4002840"/>
            <a:ext cx="334440" cy="16920"/>
          </a:xfrm>
          <a:custGeom>
            <a:avLst/>
            <a:gdLst/>
            <a:ahLst/>
            <a:rect l="0" t="0" r="r" b="b"/>
            <a:pathLst>
              <a:path w="929" h="47">
                <a:moveTo>
                  <a:pt x="0" y="0"/>
                </a:moveTo>
                <a:lnTo>
                  <a:pt x="929" y="0"/>
                </a:lnTo>
                <a:lnTo>
                  <a:pt x="929" y="47"/>
                </a:lnTo>
                <a:lnTo>
                  <a:pt x="0" y="47"/>
                </a:lnTo>
                <a:lnTo>
                  <a:pt x="0" y="0"/>
                </a:lnTo>
                <a:close/>
              </a:path>
            </a:pathLst>
          </a:custGeom>
          <a:solidFill>
            <a:srgbClr val="a7c6d9"/>
          </a:solidFill>
          <a:ln w="0">
            <a:noFill/>
          </a:ln>
        </p:spPr>
        <p:txBody>
          <a:bodyPr lIns="0" rIns="0" tIns="0" bIns="0" anchor="t">
            <a:noAutofit/>
          </a:bodyPr>
          <a:p>
            <a:endParaRPr b="0" lang="en-US" sz="2400" strike="noStrike" u="none">
              <a:solidFill>
                <a:srgbClr val="000000"/>
              </a:solidFill>
              <a:effectLst/>
              <a:uFillTx/>
              <a:latin typeface="Times New Roman"/>
            </a:endParaRPr>
          </a:p>
        </p:txBody>
      </p:sp>
      <p:pic>
        <p:nvPicPr>
          <p:cNvPr id="75" name="" descr=""/>
          <p:cNvPicPr/>
          <p:nvPr/>
        </p:nvPicPr>
        <p:blipFill>
          <a:blip r:embed="rId11"/>
          <a:stretch/>
        </p:blipFill>
        <p:spPr>
          <a:xfrm>
            <a:off x="4454280" y="3877560"/>
            <a:ext cx="83160" cy="133200"/>
          </a:xfrm>
          <a:prstGeom prst="rect">
            <a:avLst/>
          </a:prstGeom>
          <a:noFill/>
          <a:ln w="0">
            <a:noFill/>
          </a:ln>
        </p:spPr>
      </p:pic>
      <p:sp>
        <p:nvSpPr>
          <p:cNvPr id="76" name=""/>
          <p:cNvSpPr/>
          <p:nvPr/>
        </p:nvSpPr>
        <p:spPr>
          <a:xfrm>
            <a:off x="6200640" y="4002840"/>
            <a:ext cx="334440" cy="16920"/>
          </a:xfrm>
          <a:custGeom>
            <a:avLst/>
            <a:gdLst/>
            <a:ahLst/>
            <a:rect l="0" t="0" r="r" b="b"/>
            <a:pathLst>
              <a:path w="929" h="47">
                <a:moveTo>
                  <a:pt x="0" y="0"/>
                </a:moveTo>
                <a:lnTo>
                  <a:pt x="929" y="0"/>
                </a:lnTo>
                <a:lnTo>
                  <a:pt x="929" y="47"/>
                </a:lnTo>
                <a:lnTo>
                  <a:pt x="0" y="47"/>
                </a:lnTo>
                <a:lnTo>
                  <a:pt x="0" y="0"/>
                </a:lnTo>
                <a:close/>
              </a:path>
            </a:pathLst>
          </a:custGeom>
          <a:solidFill>
            <a:srgbClr val="a7c6d9"/>
          </a:solidFill>
          <a:ln w="0">
            <a:noFill/>
          </a:ln>
        </p:spPr>
        <p:txBody>
          <a:bodyPr lIns="0" rIns="0" tIns="0" bIns="0" anchor="t">
            <a:noAutofit/>
          </a:bodyPr>
          <a:p>
            <a:endParaRPr b="0" lang="en-US" sz="2400" strike="noStrike" u="none">
              <a:solidFill>
                <a:srgbClr val="000000"/>
              </a:solidFill>
              <a:effectLst/>
              <a:uFillTx/>
              <a:latin typeface="Times New Roman"/>
            </a:endParaRPr>
          </a:p>
        </p:txBody>
      </p:sp>
      <p:pic>
        <p:nvPicPr>
          <p:cNvPr id="77" name="" descr=""/>
          <p:cNvPicPr/>
          <p:nvPr/>
        </p:nvPicPr>
        <p:blipFill>
          <a:blip r:embed="rId12"/>
          <a:stretch/>
        </p:blipFill>
        <p:spPr>
          <a:xfrm>
            <a:off x="6484680" y="3877560"/>
            <a:ext cx="83160" cy="133200"/>
          </a:xfrm>
          <a:prstGeom prst="rect">
            <a:avLst/>
          </a:prstGeom>
          <a:noFill/>
          <a:ln w="0">
            <a:noFill/>
          </a:ln>
        </p:spPr>
      </p:pic>
      <p:sp>
        <p:nvSpPr>
          <p:cNvPr id="78" name=""/>
          <p:cNvSpPr/>
          <p:nvPr/>
        </p:nvSpPr>
        <p:spPr>
          <a:xfrm>
            <a:off x="8231040" y="4002840"/>
            <a:ext cx="334800" cy="16920"/>
          </a:xfrm>
          <a:custGeom>
            <a:avLst/>
            <a:gdLst/>
            <a:ahLst/>
            <a:rect l="0" t="0" r="r" b="b"/>
            <a:pathLst>
              <a:path w="930" h="47">
                <a:moveTo>
                  <a:pt x="0" y="0"/>
                </a:moveTo>
                <a:lnTo>
                  <a:pt x="930" y="0"/>
                </a:lnTo>
                <a:lnTo>
                  <a:pt x="930" y="47"/>
                </a:lnTo>
                <a:lnTo>
                  <a:pt x="0" y="47"/>
                </a:lnTo>
                <a:lnTo>
                  <a:pt x="0" y="0"/>
                </a:lnTo>
                <a:close/>
              </a:path>
            </a:pathLst>
          </a:custGeom>
          <a:solidFill>
            <a:srgbClr val="a7c6d9"/>
          </a:solidFill>
          <a:ln w="0">
            <a:noFill/>
          </a:ln>
        </p:spPr>
        <p:txBody>
          <a:bodyPr lIns="0" rIns="0" tIns="0" bIns="0" anchor="t">
            <a:noAutofit/>
          </a:bodyPr>
          <a:p>
            <a:endParaRPr b="0" lang="en-US" sz="2400" strike="noStrike" u="none">
              <a:solidFill>
                <a:srgbClr val="000000"/>
              </a:solidFill>
              <a:effectLst/>
              <a:uFillTx/>
              <a:latin typeface="Times New Roman"/>
            </a:endParaRPr>
          </a:p>
        </p:txBody>
      </p:sp>
      <p:pic>
        <p:nvPicPr>
          <p:cNvPr id="79" name="" descr=""/>
          <p:cNvPicPr/>
          <p:nvPr/>
        </p:nvPicPr>
        <p:blipFill>
          <a:blip r:embed="rId13"/>
          <a:stretch/>
        </p:blipFill>
        <p:spPr>
          <a:xfrm>
            <a:off x="8515440" y="3877560"/>
            <a:ext cx="83160" cy="133200"/>
          </a:xfrm>
          <a:prstGeom prst="rect">
            <a:avLst/>
          </a:prstGeom>
          <a:noFill/>
          <a:ln w="0">
            <a:noFill/>
          </a:ln>
        </p:spPr>
      </p:pic>
      <p:sp>
        <p:nvSpPr>
          <p:cNvPr id="80" name=""/>
          <p:cNvSpPr txBox="1"/>
          <p:nvPr/>
        </p:nvSpPr>
        <p:spPr>
          <a:xfrm>
            <a:off x="7638120" y="5817600"/>
            <a:ext cx="1073520" cy="194040"/>
          </a:xfrm>
          <a:prstGeom prst="rect">
            <a:avLst/>
          </a:prstGeom>
          <a:noFill/>
          <a:ln w="0">
            <a:noFill/>
          </a:ln>
        </p:spPr>
        <p:txBody>
          <a:bodyPr wrap="none" lIns="0" rIns="0" tIns="0" bIns="0" anchor="t">
            <a:spAutoFit/>
          </a:bodyPr>
          <a:p>
            <a:r>
              <a:rPr b="0" lang="zh-CN" sz="1050" strike="noStrike" u="none">
                <a:solidFill>
                  <a:srgbClr val="ffffff"/>
                </a:solidFill>
                <a:effectLst/>
                <a:uFillTx/>
                <a:latin typeface="NotoSansJP"/>
                <a:ea typeface="NotoSansJP"/>
              </a:rPr>
              <a:t>表示技術への応用</a:t>
            </a:r>
            <a:endParaRPr b="0" lang="en-US" sz="1050" strike="noStrike" u="none">
              <a:solidFill>
                <a:srgbClr val="000000"/>
              </a:solidFill>
              <a:effectLst/>
              <a:uFillTx/>
              <a:latin typeface="Times New Roman"/>
            </a:endParaRPr>
          </a:p>
        </p:txBody>
      </p:sp>
      <p:sp>
        <p:nvSpPr>
          <p:cNvPr id="81" name=""/>
          <p:cNvSpPr txBox="1"/>
          <p:nvPr/>
        </p:nvSpPr>
        <p:spPr>
          <a:xfrm>
            <a:off x="10203480" y="5741280"/>
            <a:ext cx="338760" cy="136080"/>
          </a:xfrm>
          <a:prstGeom prst="rect">
            <a:avLst/>
          </a:prstGeom>
          <a:noFill/>
          <a:ln w="0">
            <a:noFill/>
          </a:ln>
        </p:spPr>
        <p:txBody>
          <a:bodyPr wrap="none" lIns="0" rIns="0" tIns="0" bIns="0" anchor="t">
            <a:spAutoFit/>
          </a:bodyPr>
          <a:p>
            <a:r>
              <a:rPr b="0" lang="en-US" sz="920" strike="noStrike" u="none">
                <a:solidFill>
                  <a:srgbClr val="a7c6d9"/>
                </a:solidFill>
                <a:effectLst/>
                <a:uFillTx/>
                <a:latin typeface="NotoSansJP"/>
                <a:ea typeface="NotoSansJP"/>
              </a:rPr>
              <a:t>2 / 13</a:t>
            </a:r>
            <a:endParaRPr b="0" lang="en-US" sz="920" strike="noStrike" u="non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2" name=""/>
          <p:cNvSpPr/>
          <p:nvPr/>
        </p:nvSpPr>
        <p:spPr>
          <a:xfrm>
            <a:off x="0" y="0"/>
            <a:ext cx="10696680" cy="6017040"/>
          </a:xfrm>
          <a:custGeom>
            <a:avLst/>
            <a:gdLst/>
            <a:ahLst/>
            <a:rect l="0" t="0" r="r" b="b"/>
            <a:pathLst>
              <a:path w="29713" h="16714">
                <a:moveTo>
                  <a:pt x="0" y="0"/>
                </a:moveTo>
                <a:lnTo>
                  <a:pt x="29713" y="0"/>
                </a:lnTo>
                <a:lnTo>
                  <a:pt x="29713" y="16714"/>
                </a:lnTo>
                <a:lnTo>
                  <a:pt x="0" y="16714"/>
                </a:lnTo>
                <a:lnTo>
                  <a:pt x="0" y="0"/>
                </a:lnTo>
                <a:close/>
              </a:path>
            </a:pathLst>
          </a:custGeom>
          <a:solidFill>
            <a:srgbClr val="1c3d5a"/>
          </a:solidFill>
          <a:ln w="0">
            <a:noFill/>
          </a:ln>
        </p:spPr>
        <p:txBody>
          <a:bodyPr lIns="0" rIns="0" tIns="0" bIns="0" anchor="t">
            <a:noAutofit/>
          </a:bodyPr>
          <a:p>
            <a:endParaRPr b="0" lang="en-US" sz="2400" strike="noStrike" u="none">
              <a:solidFill>
                <a:srgbClr val="ffffff"/>
              </a:solidFill>
              <a:effectLst/>
              <a:uFillTx/>
              <a:latin typeface="Times New Roman"/>
            </a:endParaRPr>
          </a:p>
        </p:txBody>
      </p:sp>
      <p:pic>
        <p:nvPicPr>
          <p:cNvPr id="83" name="" descr=""/>
          <p:cNvPicPr/>
          <p:nvPr/>
        </p:nvPicPr>
        <p:blipFill>
          <a:blip r:embed="rId1"/>
          <a:stretch/>
        </p:blipFill>
        <p:spPr>
          <a:xfrm>
            <a:off x="0" y="0"/>
            <a:ext cx="10696320" cy="6016320"/>
          </a:xfrm>
          <a:prstGeom prst="rect">
            <a:avLst/>
          </a:prstGeom>
          <a:noFill/>
          <a:ln w="0">
            <a:noFill/>
          </a:ln>
        </p:spPr>
      </p:pic>
      <p:sp>
        <p:nvSpPr>
          <p:cNvPr id="84" name=""/>
          <p:cNvSpPr/>
          <p:nvPr/>
        </p:nvSpPr>
        <p:spPr>
          <a:xfrm>
            <a:off x="534600" y="601560"/>
            <a:ext cx="1069920" cy="33840"/>
          </a:xfrm>
          <a:custGeom>
            <a:avLst/>
            <a:gdLst/>
            <a:ahLst/>
            <a:rect l="0" t="0" r="r" b="b"/>
            <a:pathLst>
              <a:path w="2972" h="94">
                <a:moveTo>
                  <a:pt x="0" y="0"/>
                </a:moveTo>
                <a:lnTo>
                  <a:pt x="2972" y="0"/>
                </a:lnTo>
                <a:lnTo>
                  <a:pt x="2972" y="94"/>
                </a:lnTo>
                <a:lnTo>
                  <a:pt x="0" y="94"/>
                </a:lnTo>
                <a:lnTo>
                  <a:pt x="0" y="0"/>
                </a:lnTo>
                <a:close/>
              </a:path>
            </a:pathLst>
          </a:custGeom>
          <a:solidFill>
            <a:srgbClr val="ff8c00"/>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85" name=""/>
          <p:cNvSpPr/>
          <p:nvPr/>
        </p:nvSpPr>
        <p:spPr>
          <a:xfrm>
            <a:off x="534600" y="935640"/>
            <a:ext cx="9627480" cy="1262520"/>
          </a:xfrm>
          <a:custGeom>
            <a:avLst/>
            <a:gdLst/>
            <a:ahLst/>
            <a:rect l="0" t="0" r="r" b="b"/>
            <a:pathLst>
              <a:path w="26743" h="3507">
                <a:moveTo>
                  <a:pt x="0" y="3321"/>
                </a:moveTo>
                <a:lnTo>
                  <a:pt x="0" y="186"/>
                </a:lnTo>
                <a:cubicBezTo>
                  <a:pt x="0" y="174"/>
                  <a:pt x="1" y="162"/>
                  <a:pt x="4" y="150"/>
                </a:cubicBezTo>
                <a:cubicBezTo>
                  <a:pt x="6" y="138"/>
                  <a:pt x="10" y="126"/>
                  <a:pt x="14" y="115"/>
                </a:cubicBezTo>
                <a:cubicBezTo>
                  <a:pt x="19" y="104"/>
                  <a:pt x="25" y="93"/>
                  <a:pt x="31" y="83"/>
                </a:cubicBezTo>
                <a:cubicBezTo>
                  <a:pt x="38" y="73"/>
                  <a:pt x="46" y="63"/>
                  <a:pt x="55" y="55"/>
                </a:cubicBezTo>
                <a:cubicBezTo>
                  <a:pt x="63" y="46"/>
                  <a:pt x="73" y="38"/>
                  <a:pt x="83" y="32"/>
                </a:cubicBezTo>
                <a:cubicBezTo>
                  <a:pt x="93" y="25"/>
                  <a:pt x="104" y="19"/>
                  <a:pt x="115" y="14"/>
                </a:cubicBezTo>
                <a:cubicBezTo>
                  <a:pt x="126" y="10"/>
                  <a:pt x="138" y="6"/>
                  <a:pt x="150" y="4"/>
                </a:cubicBezTo>
                <a:cubicBezTo>
                  <a:pt x="162" y="2"/>
                  <a:pt x="174" y="0"/>
                  <a:pt x="186" y="0"/>
                </a:cubicBezTo>
                <a:lnTo>
                  <a:pt x="26557" y="0"/>
                </a:lnTo>
                <a:cubicBezTo>
                  <a:pt x="26569" y="0"/>
                  <a:pt x="26581" y="2"/>
                  <a:pt x="26593" y="4"/>
                </a:cubicBezTo>
                <a:cubicBezTo>
                  <a:pt x="26605" y="6"/>
                  <a:pt x="26617" y="10"/>
                  <a:pt x="26628" y="14"/>
                </a:cubicBezTo>
                <a:cubicBezTo>
                  <a:pt x="26639" y="19"/>
                  <a:pt x="26650" y="25"/>
                  <a:pt x="26660" y="32"/>
                </a:cubicBezTo>
                <a:cubicBezTo>
                  <a:pt x="26670" y="38"/>
                  <a:pt x="26680" y="46"/>
                  <a:pt x="26688" y="55"/>
                </a:cubicBezTo>
                <a:cubicBezTo>
                  <a:pt x="26697" y="63"/>
                  <a:pt x="26704" y="73"/>
                  <a:pt x="26711" y="83"/>
                </a:cubicBezTo>
                <a:cubicBezTo>
                  <a:pt x="26718" y="93"/>
                  <a:pt x="26724" y="104"/>
                  <a:pt x="26728" y="115"/>
                </a:cubicBezTo>
                <a:cubicBezTo>
                  <a:pt x="26733" y="126"/>
                  <a:pt x="26737" y="138"/>
                  <a:pt x="26739" y="150"/>
                </a:cubicBezTo>
                <a:cubicBezTo>
                  <a:pt x="26741" y="162"/>
                  <a:pt x="26743" y="174"/>
                  <a:pt x="26743" y="186"/>
                </a:cubicBezTo>
                <a:lnTo>
                  <a:pt x="26743" y="3321"/>
                </a:lnTo>
                <a:cubicBezTo>
                  <a:pt x="26743" y="3333"/>
                  <a:pt x="26741" y="3345"/>
                  <a:pt x="26739" y="3357"/>
                </a:cubicBezTo>
                <a:cubicBezTo>
                  <a:pt x="26737" y="3369"/>
                  <a:pt x="26733" y="3381"/>
                  <a:pt x="26728" y="3392"/>
                </a:cubicBezTo>
                <a:cubicBezTo>
                  <a:pt x="26724" y="3403"/>
                  <a:pt x="26718" y="3414"/>
                  <a:pt x="26711" y="3424"/>
                </a:cubicBezTo>
                <a:cubicBezTo>
                  <a:pt x="26704" y="3434"/>
                  <a:pt x="26697" y="3444"/>
                  <a:pt x="26688" y="3452"/>
                </a:cubicBezTo>
                <a:cubicBezTo>
                  <a:pt x="26680" y="3461"/>
                  <a:pt x="26670" y="3468"/>
                  <a:pt x="26660" y="3475"/>
                </a:cubicBezTo>
                <a:cubicBezTo>
                  <a:pt x="26650" y="3482"/>
                  <a:pt x="26639" y="3488"/>
                  <a:pt x="26628" y="3492"/>
                </a:cubicBezTo>
                <a:cubicBezTo>
                  <a:pt x="26617" y="3497"/>
                  <a:pt x="26605" y="3501"/>
                  <a:pt x="26593" y="3503"/>
                </a:cubicBezTo>
                <a:cubicBezTo>
                  <a:pt x="26581" y="3505"/>
                  <a:pt x="26569" y="3507"/>
                  <a:pt x="26557" y="3507"/>
                </a:cubicBezTo>
                <a:lnTo>
                  <a:pt x="186" y="3507"/>
                </a:lnTo>
                <a:cubicBezTo>
                  <a:pt x="174" y="3507"/>
                  <a:pt x="162" y="3505"/>
                  <a:pt x="150" y="3503"/>
                </a:cubicBezTo>
                <a:cubicBezTo>
                  <a:pt x="138" y="3501"/>
                  <a:pt x="126" y="3497"/>
                  <a:pt x="115" y="3492"/>
                </a:cubicBezTo>
                <a:cubicBezTo>
                  <a:pt x="104" y="3488"/>
                  <a:pt x="93" y="3482"/>
                  <a:pt x="83" y="3475"/>
                </a:cubicBezTo>
                <a:cubicBezTo>
                  <a:pt x="73" y="3468"/>
                  <a:pt x="63" y="3461"/>
                  <a:pt x="55" y="3452"/>
                </a:cubicBezTo>
                <a:cubicBezTo>
                  <a:pt x="46" y="3444"/>
                  <a:pt x="38" y="3434"/>
                  <a:pt x="31" y="3424"/>
                </a:cubicBezTo>
                <a:cubicBezTo>
                  <a:pt x="25" y="3414"/>
                  <a:pt x="19" y="3403"/>
                  <a:pt x="14" y="3392"/>
                </a:cubicBezTo>
                <a:cubicBezTo>
                  <a:pt x="10" y="3381"/>
                  <a:pt x="6" y="3369"/>
                  <a:pt x="4" y="3357"/>
                </a:cubicBezTo>
                <a:cubicBezTo>
                  <a:pt x="1" y="3345"/>
                  <a:pt x="0" y="3333"/>
                  <a:pt x="0" y="3321"/>
                </a:cubicBezTo>
                <a:close/>
              </a:path>
            </a:pathLst>
          </a:custGeom>
          <a:solidFill>
            <a:srgbClr val="ffffff">
              <a:alpha val="10000"/>
            </a:srgbClr>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86" name=""/>
          <p:cNvSpPr/>
          <p:nvPr/>
        </p:nvSpPr>
        <p:spPr>
          <a:xfrm>
            <a:off x="534600" y="5540400"/>
            <a:ext cx="9627480" cy="476640"/>
          </a:xfrm>
          <a:custGeom>
            <a:avLst/>
            <a:gdLst/>
            <a:ahLst/>
            <a:rect l="0" t="0" r="r" b="b"/>
            <a:pathLst>
              <a:path w="26743" h="1324">
                <a:moveTo>
                  <a:pt x="0" y="1324"/>
                </a:moveTo>
                <a:lnTo>
                  <a:pt x="0" y="185"/>
                </a:lnTo>
                <a:cubicBezTo>
                  <a:pt x="0" y="173"/>
                  <a:pt x="1" y="161"/>
                  <a:pt x="4" y="149"/>
                </a:cubicBezTo>
                <a:cubicBezTo>
                  <a:pt x="6" y="137"/>
                  <a:pt x="10" y="126"/>
                  <a:pt x="14" y="114"/>
                </a:cubicBezTo>
                <a:cubicBezTo>
                  <a:pt x="19" y="103"/>
                  <a:pt x="25" y="92"/>
                  <a:pt x="31" y="82"/>
                </a:cubicBezTo>
                <a:cubicBezTo>
                  <a:pt x="38" y="72"/>
                  <a:pt x="46" y="63"/>
                  <a:pt x="55" y="54"/>
                </a:cubicBezTo>
                <a:cubicBezTo>
                  <a:pt x="63" y="46"/>
                  <a:pt x="73" y="38"/>
                  <a:pt x="83" y="31"/>
                </a:cubicBezTo>
                <a:cubicBezTo>
                  <a:pt x="93" y="24"/>
                  <a:pt x="104" y="19"/>
                  <a:pt x="115" y="14"/>
                </a:cubicBezTo>
                <a:cubicBezTo>
                  <a:pt x="126" y="9"/>
                  <a:pt x="138" y="6"/>
                  <a:pt x="150" y="3"/>
                </a:cubicBezTo>
                <a:cubicBezTo>
                  <a:pt x="162" y="1"/>
                  <a:pt x="174" y="0"/>
                  <a:pt x="186" y="0"/>
                </a:cubicBezTo>
                <a:lnTo>
                  <a:pt x="26557" y="0"/>
                </a:lnTo>
                <a:cubicBezTo>
                  <a:pt x="26569" y="0"/>
                  <a:pt x="26581" y="1"/>
                  <a:pt x="26593" y="3"/>
                </a:cubicBezTo>
                <a:cubicBezTo>
                  <a:pt x="26605" y="6"/>
                  <a:pt x="26617" y="9"/>
                  <a:pt x="26628" y="14"/>
                </a:cubicBezTo>
                <a:cubicBezTo>
                  <a:pt x="26639" y="19"/>
                  <a:pt x="26650" y="24"/>
                  <a:pt x="26660" y="31"/>
                </a:cubicBezTo>
                <a:cubicBezTo>
                  <a:pt x="26670" y="38"/>
                  <a:pt x="26680" y="46"/>
                  <a:pt x="26688" y="54"/>
                </a:cubicBezTo>
                <a:cubicBezTo>
                  <a:pt x="26697" y="63"/>
                  <a:pt x="26704" y="72"/>
                  <a:pt x="26711" y="82"/>
                </a:cubicBezTo>
                <a:cubicBezTo>
                  <a:pt x="26718" y="92"/>
                  <a:pt x="26724" y="103"/>
                  <a:pt x="26728" y="114"/>
                </a:cubicBezTo>
                <a:cubicBezTo>
                  <a:pt x="26733" y="126"/>
                  <a:pt x="26737" y="137"/>
                  <a:pt x="26739" y="149"/>
                </a:cubicBezTo>
                <a:cubicBezTo>
                  <a:pt x="26741" y="161"/>
                  <a:pt x="26743" y="173"/>
                  <a:pt x="26743" y="185"/>
                </a:cubicBezTo>
                <a:lnTo>
                  <a:pt x="26743" y="1324"/>
                </a:lnTo>
                <a:lnTo>
                  <a:pt x="0" y="1324"/>
                </a:lnTo>
                <a:close/>
              </a:path>
            </a:pathLst>
          </a:custGeom>
          <a:solidFill>
            <a:srgbClr val="ffffff">
              <a:alpha val="10000"/>
            </a:srgbClr>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87" name=""/>
          <p:cNvSpPr txBox="1"/>
          <p:nvPr/>
        </p:nvSpPr>
        <p:spPr>
          <a:xfrm>
            <a:off x="534960" y="222120"/>
            <a:ext cx="3140280" cy="436320"/>
          </a:xfrm>
          <a:prstGeom prst="rect">
            <a:avLst/>
          </a:prstGeom>
          <a:noFill/>
          <a:ln w="0">
            <a:noFill/>
          </a:ln>
        </p:spPr>
        <p:txBody>
          <a:bodyPr wrap="none" lIns="0" rIns="0" tIns="0" bIns="0" anchor="t">
            <a:spAutoFit/>
          </a:bodyPr>
          <a:p>
            <a:r>
              <a:rPr b="0" lang="en-US" sz="2370" strike="noStrike" u="none">
                <a:solidFill>
                  <a:srgbClr val="ffffff"/>
                </a:solidFill>
                <a:effectLst/>
                <a:uFillTx/>
                <a:latin typeface="NotoSansJP"/>
                <a:ea typeface="NotoSansJP"/>
              </a:rPr>
              <a:t>CGH</a:t>
            </a:r>
            <a:r>
              <a:rPr b="0" lang="zh-CN" sz="2370" strike="noStrike" u="none">
                <a:solidFill>
                  <a:srgbClr val="ffffff"/>
                </a:solidFill>
                <a:effectLst/>
                <a:uFillTx/>
                <a:latin typeface="NotoSansJP"/>
                <a:ea typeface="NotoSansJP"/>
              </a:rPr>
              <a:t>再生の理論的背景</a:t>
            </a:r>
            <a:endParaRPr b="0" lang="en-US" sz="2370" strike="noStrike" u="none">
              <a:solidFill>
                <a:srgbClr val="000000"/>
              </a:solidFill>
              <a:effectLst/>
              <a:uFillTx/>
              <a:latin typeface="Times New Roman"/>
            </a:endParaRPr>
          </a:p>
        </p:txBody>
      </p:sp>
      <p:sp>
        <p:nvSpPr>
          <p:cNvPr id="88" name=""/>
          <p:cNvSpPr txBox="1"/>
          <p:nvPr/>
        </p:nvSpPr>
        <p:spPr>
          <a:xfrm>
            <a:off x="735480" y="1167840"/>
            <a:ext cx="2213640" cy="291600"/>
          </a:xfrm>
          <a:prstGeom prst="rect">
            <a:avLst/>
          </a:prstGeom>
          <a:noFill/>
          <a:ln w="0">
            <a:noFill/>
          </a:ln>
        </p:spPr>
        <p:txBody>
          <a:bodyPr wrap="none" lIns="0" rIns="0" tIns="0" bIns="0" anchor="t">
            <a:spAutoFit/>
          </a:bodyPr>
          <a:p>
            <a:r>
              <a:rPr b="0" lang="zh-CN" sz="1580" strike="noStrike" u="none">
                <a:solidFill>
                  <a:srgbClr val="a7c6d9"/>
                </a:solidFill>
                <a:effectLst/>
                <a:uFillTx/>
                <a:latin typeface="NotoSansJP"/>
                <a:ea typeface="NotoSansJP"/>
              </a:rPr>
              <a:t>ホログラフィの基本原理</a:t>
            </a:r>
            <a:endParaRPr b="0" lang="en-US" sz="1580" strike="noStrike" u="none">
              <a:solidFill>
                <a:srgbClr val="000000"/>
              </a:solidFill>
              <a:effectLst/>
              <a:uFillTx/>
              <a:latin typeface="Times New Roman"/>
            </a:endParaRPr>
          </a:p>
        </p:txBody>
      </p:sp>
      <p:sp>
        <p:nvSpPr>
          <p:cNvPr id="89" name=""/>
          <p:cNvSpPr txBox="1"/>
          <p:nvPr/>
        </p:nvSpPr>
        <p:spPr>
          <a:xfrm>
            <a:off x="735480" y="1548360"/>
            <a:ext cx="9237960" cy="219960"/>
          </a:xfrm>
          <a:prstGeom prst="rect">
            <a:avLst/>
          </a:prstGeom>
          <a:noFill/>
          <a:ln w="0">
            <a:noFill/>
          </a:ln>
        </p:spPr>
        <p:txBody>
          <a:bodyPr wrap="none" lIns="0" rIns="0" tIns="0" bIns="0" anchor="t">
            <a:spAutoFit/>
          </a:bodyPr>
          <a:p>
            <a:r>
              <a:rPr b="0" lang="zh-CN" sz="1180" strike="noStrike" u="none">
                <a:solidFill>
                  <a:srgbClr val="ffffff"/>
                </a:solidFill>
                <a:effectLst/>
                <a:uFillTx/>
                <a:latin typeface="NotoSansJP"/>
                <a:ea typeface="NotoSansJP"/>
              </a:rPr>
              <a:t>ホログラフィは、物体からの光波（物体光）と参照光との干渉パターンを記録し、再生時に参照光を照射することで 元の物体光を再現す</a:t>
            </a:r>
            <a:endParaRPr b="0" lang="en-US" sz="1180" strike="noStrike" u="none">
              <a:solidFill>
                <a:srgbClr val="000000"/>
              </a:solidFill>
              <a:effectLst/>
              <a:uFillTx/>
              <a:latin typeface="Times New Roman"/>
            </a:endParaRPr>
          </a:p>
        </p:txBody>
      </p:sp>
      <p:sp>
        <p:nvSpPr>
          <p:cNvPr id="90" name=""/>
          <p:cNvSpPr/>
          <p:nvPr/>
        </p:nvSpPr>
        <p:spPr>
          <a:xfrm>
            <a:off x="534600" y="2464920"/>
            <a:ext cx="4621680" cy="2808360"/>
          </a:xfrm>
          <a:custGeom>
            <a:avLst/>
            <a:gdLst/>
            <a:ahLst/>
            <a:rect l="0" t="0" r="r" b="b"/>
            <a:pathLst>
              <a:path w="12838" h="7801">
                <a:moveTo>
                  <a:pt x="0" y="7615"/>
                </a:moveTo>
                <a:lnTo>
                  <a:pt x="0" y="186"/>
                </a:lnTo>
                <a:cubicBezTo>
                  <a:pt x="0" y="174"/>
                  <a:pt x="1" y="162"/>
                  <a:pt x="4" y="150"/>
                </a:cubicBezTo>
                <a:cubicBezTo>
                  <a:pt x="6" y="138"/>
                  <a:pt x="10" y="126"/>
                  <a:pt x="14" y="115"/>
                </a:cubicBezTo>
                <a:cubicBezTo>
                  <a:pt x="19" y="104"/>
                  <a:pt x="25" y="93"/>
                  <a:pt x="31" y="83"/>
                </a:cubicBezTo>
                <a:cubicBezTo>
                  <a:pt x="38" y="73"/>
                  <a:pt x="46" y="63"/>
                  <a:pt x="55" y="55"/>
                </a:cubicBezTo>
                <a:cubicBezTo>
                  <a:pt x="63" y="46"/>
                  <a:pt x="73" y="38"/>
                  <a:pt x="83" y="32"/>
                </a:cubicBezTo>
                <a:cubicBezTo>
                  <a:pt x="93" y="25"/>
                  <a:pt x="104" y="19"/>
                  <a:pt x="115" y="14"/>
                </a:cubicBezTo>
                <a:cubicBezTo>
                  <a:pt x="126" y="10"/>
                  <a:pt x="138" y="6"/>
                  <a:pt x="150" y="4"/>
                </a:cubicBezTo>
                <a:cubicBezTo>
                  <a:pt x="162" y="2"/>
                  <a:pt x="174" y="0"/>
                  <a:pt x="186" y="0"/>
                </a:cubicBezTo>
                <a:lnTo>
                  <a:pt x="12652" y="0"/>
                </a:lnTo>
                <a:cubicBezTo>
                  <a:pt x="12664" y="0"/>
                  <a:pt x="12677" y="2"/>
                  <a:pt x="12688" y="4"/>
                </a:cubicBezTo>
                <a:cubicBezTo>
                  <a:pt x="12700" y="6"/>
                  <a:pt x="12712" y="10"/>
                  <a:pt x="12723" y="14"/>
                </a:cubicBezTo>
                <a:cubicBezTo>
                  <a:pt x="12735" y="19"/>
                  <a:pt x="12745" y="25"/>
                  <a:pt x="12755" y="32"/>
                </a:cubicBezTo>
                <a:cubicBezTo>
                  <a:pt x="12766" y="38"/>
                  <a:pt x="12775" y="46"/>
                  <a:pt x="12784" y="55"/>
                </a:cubicBezTo>
                <a:cubicBezTo>
                  <a:pt x="12792" y="63"/>
                  <a:pt x="12800" y="73"/>
                  <a:pt x="12807" y="83"/>
                </a:cubicBezTo>
                <a:cubicBezTo>
                  <a:pt x="12813" y="93"/>
                  <a:pt x="12819" y="104"/>
                  <a:pt x="12824" y="115"/>
                </a:cubicBezTo>
                <a:cubicBezTo>
                  <a:pt x="12828" y="126"/>
                  <a:pt x="12832" y="138"/>
                  <a:pt x="12834" y="150"/>
                </a:cubicBezTo>
                <a:cubicBezTo>
                  <a:pt x="12837" y="162"/>
                  <a:pt x="12838" y="174"/>
                  <a:pt x="12838" y="186"/>
                </a:cubicBezTo>
                <a:lnTo>
                  <a:pt x="12838" y="7615"/>
                </a:lnTo>
                <a:cubicBezTo>
                  <a:pt x="12838" y="7627"/>
                  <a:pt x="12837" y="7640"/>
                  <a:pt x="12834" y="7651"/>
                </a:cubicBezTo>
                <a:cubicBezTo>
                  <a:pt x="12832" y="7663"/>
                  <a:pt x="12828" y="7675"/>
                  <a:pt x="12824" y="7686"/>
                </a:cubicBezTo>
                <a:cubicBezTo>
                  <a:pt x="12819" y="7698"/>
                  <a:pt x="12813" y="7708"/>
                  <a:pt x="12807" y="7718"/>
                </a:cubicBezTo>
                <a:cubicBezTo>
                  <a:pt x="12800" y="7729"/>
                  <a:pt x="12792" y="7738"/>
                  <a:pt x="12784" y="7747"/>
                </a:cubicBezTo>
                <a:cubicBezTo>
                  <a:pt x="12775" y="7755"/>
                  <a:pt x="12766" y="7763"/>
                  <a:pt x="12755" y="7770"/>
                </a:cubicBezTo>
                <a:cubicBezTo>
                  <a:pt x="12745" y="7776"/>
                  <a:pt x="12735" y="7782"/>
                  <a:pt x="12723" y="7787"/>
                </a:cubicBezTo>
                <a:cubicBezTo>
                  <a:pt x="12712" y="7791"/>
                  <a:pt x="12700" y="7795"/>
                  <a:pt x="12688" y="7797"/>
                </a:cubicBezTo>
                <a:cubicBezTo>
                  <a:pt x="12677" y="7800"/>
                  <a:pt x="12664" y="7801"/>
                  <a:pt x="12652" y="7801"/>
                </a:cubicBezTo>
                <a:lnTo>
                  <a:pt x="186" y="7801"/>
                </a:lnTo>
                <a:cubicBezTo>
                  <a:pt x="174" y="7801"/>
                  <a:pt x="162" y="7800"/>
                  <a:pt x="150" y="7797"/>
                </a:cubicBezTo>
                <a:cubicBezTo>
                  <a:pt x="138" y="7795"/>
                  <a:pt x="126" y="7791"/>
                  <a:pt x="115" y="7787"/>
                </a:cubicBezTo>
                <a:cubicBezTo>
                  <a:pt x="104" y="7782"/>
                  <a:pt x="93" y="7776"/>
                  <a:pt x="83" y="7770"/>
                </a:cubicBezTo>
                <a:cubicBezTo>
                  <a:pt x="73" y="7763"/>
                  <a:pt x="63" y="7755"/>
                  <a:pt x="55" y="7747"/>
                </a:cubicBezTo>
                <a:cubicBezTo>
                  <a:pt x="46" y="7738"/>
                  <a:pt x="38" y="7729"/>
                  <a:pt x="31" y="7718"/>
                </a:cubicBezTo>
                <a:cubicBezTo>
                  <a:pt x="25" y="7708"/>
                  <a:pt x="19" y="7698"/>
                  <a:pt x="14" y="7686"/>
                </a:cubicBezTo>
                <a:cubicBezTo>
                  <a:pt x="10" y="7675"/>
                  <a:pt x="6" y="7663"/>
                  <a:pt x="4" y="7651"/>
                </a:cubicBezTo>
                <a:cubicBezTo>
                  <a:pt x="1" y="7640"/>
                  <a:pt x="0" y="7627"/>
                  <a:pt x="0" y="7615"/>
                </a:cubicBezTo>
                <a:close/>
              </a:path>
            </a:pathLst>
          </a:custGeom>
          <a:solidFill>
            <a:srgbClr val="ffffff">
              <a:alpha val="10000"/>
            </a:srgbClr>
          </a:solidFill>
          <a:ln w="0">
            <a:noFill/>
          </a:ln>
        </p:spPr>
        <p:txBody>
          <a:bodyPr lIns="0" rIns="0" tIns="0" bIns="0" anchor="t">
            <a:noAutofit/>
          </a:bodyPr>
          <a:p>
            <a:endParaRPr b="0" lang="en-US" sz="2400" strike="noStrike" u="none">
              <a:solidFill>
                <a:srgbClr val="000000"/>
              </a:solidFill>
              <a:effectLst/>
              <a:uFillTx/>
              <a:latin typeface="Times New Roman"/>
            </a:endParaRPr>
          </a:p>
        </p:txBody>
      </p:sp>
      <p:pic>
        <p:nvPicPr>
          <p:cNvPr id="91" name="" descr=""/>
          <p:cNvPicPr/>
          <p:nvPr/>
        </p:nvPicPr>
        <p:blipFill>
          <a:blip r:embed="rId2"/>
          <a:stretch/>
        </p:blipFill>
        <p:spPr>
          <a:xfrm>
            <a:off x="702000" y="2632320"/>
            <a:ext cx="174960" cy="267120"/>
          </a:xfrm>
          <a:prstGeom prst="rect">
            <a:avLst/>
          </a:prstGeom>
          <a:noFill/>
          <a:ln w="0">
            <a:noFill/>
          </a:ln>
        </p:spPr>
      </p:pic>
      <p:sp>
        <p:nvSpPr>
          <p:cNvPr id="92" name=""/>
          <p:cNvSpPr txBox="1"/>
          <p:nvPr/>
        </p:nvSpPr>
        <p:spPr>
          <a:xfrm>
            <a:off x="735480" y="1790640"/>
            <a:ext cx="7993080" cy="219960"/>
          </a:xfrm>
          <a:prstGeom prst="rect">
            <a:avLst/>
          </a:prstGeom>
          <a:noFill/>
          <a:ln w="0">
            <a:noFill/>
          </a:ln>
        </p:spPr>
        <p:txBody>
          <a:bodyPr wrap="none" lIns="0" rIns="0" tIns="0" bIns="0" anchor="t">
            <a:spAutoFit/>
          </a:bodyPr>
          <a:p>
            <a:r>
              <a:rPr b="0" lang="zh-CN" sz="1180" strike="noStrike" u="none">
                <a:solidFill>
                  <a:srgbClr val="ffffff"/>
                </a:solidFill>
                <a:effectLst/>
                <a:uFillTx/>
                <a:latin typeface="NotoSansJP"/>
                <a:ea typeface="NotoSansJP"/>
              </a:rPr>
              <a:t>る技術です。コンピュータ生成ホログラム（</a:t>
            </a:r>
            <a:r>
              <a:rPr b="0" lang="en-US" sz="1180" strike="noStrike" u="none">
                <a:solidFill>
                  <a:srgbClr val="ffffff"/>
                </a:solidFill>
                <a:effectLst/>
                <a:uFillTx/>
                <a:latin typeface="NotoSansJP"/>
                <a:ea typeface="NotoSansJP"/>
              </a:rPr>
              <a:t>CGH</a:t>
            </a:r>
            <a:r>
              <a:rPr b="0" lang="zh-CN" sz="1180" strike="noStrike" u="none">
                <a:solidFill>
                  <a:srgbClr val="ffffff"/>
                </a:solidFill>
                <a:effectLst/>
                <a:uFillTx/>
                <a:latin typeface="NotoSansJP"/>
                <a:ea typeface="NotoSansJP"/>
              </a:rPr>
              <a:t>）は、この干渉パターンをコンピュータで計算して 作成されます。</a:t>
            </a:r>
            <a:endParaRPr b="0" lang="en-US" sz="1180" strike="noStrike" u="none">
              <a:solidFill>
                <a:srgbClr val="000000"/>
              </a:solidFill>
              <a:effectLst/>
              <a:uFillTx/>
              <a:latin typeface="Times New Roman"/>
            </a:endParaRPr>
          </a:p>
        </p:txBody>
      </p:sp>
      <p:sp>
        <p:nvSpPr>
          <p:cNvPr id="93" name=""/>
          <p:cNvSpPr txBox="1"/>
          <p:nvPr/>
        </p:nvSpPr>
        <p:spPr>
          <a:xfrm>
            <a:off x="977760" y="2677680"/>
            <a:ext cx="671400" cy="244080"/>
          </a:xfrm>
          <a:prstGeom prst="rect">
            <a:avLst/>
          </a:prstGeom>
          <a:noFill/>
          <a:ln w="0">
            <a:noFill/>
          </a:ln>
        </p:spPr>
        <p:txBody>
          <a:bodyPr wrap="none" lIns="0" rIns="0" tIns="0" bIns="0" anchor="t">
            <a:spAutoFit/>
          </a:bodyPr>
          <a:p>
            <a:r>
              <a:rPr b="0" lang="zh-CN" sz="1320" strike="noStrike" u="none">
                <a:solidFill>
                  <a:srgbClr val="ffffff"/>
                </a:solidFill>
                <a:effectLst/>
                <a:uFillTx/>
                <a:latin typeface="NotoSansJP"/>
                <a:ea typeface="NotoSansJP"/>
              </a:rPr>
              <a:t>記録過程</a:t>
            </a:r>
            <a:endParaRPr b="0" lang="en-US" sz="1320" strike="noStrike" u="none">
              <a:solidFill>
                <a:srgbClr val="000000"/>
              </a:solidFill>
              <a:effectLst/>
              <a:uFillTx/>
              <a:latin typeface="Times New Roman"/>
            </a:endParaRPr>
          </a:p>
        </p:txBody>
      </p:sp>
      <p:sp>
        <p:nvSpPr>
          <p:cNvPr id="94" name=""/>
          <p:cNvSpPr txBox="1"/>
          <p:nvPr/>
        </p:nvSpPr>
        <p:spPr>
          <a:xfrm>
            <a:off x="702000" y="4538880"/>
            <a:ext cx="1349640" cy="194040"/>
          </a:xfrm>
          <a:prstGeom prst="rect">
            <a:avLst/>
          </a:prstGeom>
          <a:noFill/>
          <a:ln w="0">
            <a:noFill/>
          </a:ln>
        </p:spPr>
        <p:txBody>
          <a:bodyPr wrap="none" lIns="0" rIns="0" tIns="0" bIns="0" anchor="t">
            <a:spAutoFit/>
          </a:bodyPr>
          <a:p>
            <a:r>
              <a:rPr b="0" lang="zh-CN" sz="1050" strike="noStrike" u="none">
                <a:solidFill>
                  <a:srgbClr val="a7c6d9"/>
                </a:solidFill>
                <a:effectLst/>
                <a:uFillTx/>
                <a:latin typeface="NotoSansJP"/>
                <a:ea typeface="NotoSansJP"/>
              </a:rPr>
              <a:t>物体光 </a:t>
            </a:r>
            <a:r>
              <a:rPr b="0" lang="en-US" sz="1050" strike="noStrike" u="none">
                <a:solidFill>
                  <a:srgbClr val="a7c6d9"/>
                </a:solidFill>
                <a:effectLst/>
                <a:uFillTx/>
                <a:latin typeface="NotoSansJP"/>
                <a:ea typeface="NotoSansJP"/>
              </a:rPr>
              <a:t>O </a:t>
            </a:r>
            <a:r>
              <a:rPr b="0" lang="zh-CN" sz="1050" strike="noStrike" u="none">
                <a:solidFill>
                  <a:srgbClr val="a7c6d9"/>
                </a:solidFill>
                <a:effectLst/>
                <a:uFillTx/>
                <a:latin typeface="NotoSansJP"/>
                <a:ea typeface="NotoSansJP"/>
              </a:rPr>
              <a:t>と参照光 </a:t>
            </a:r>
            <a:r>
              <a:rPr b="0" lang="en-US" sz="1050" strike="noStrike" u="none">
                <a:solidFill>
                  <a:srgbClr val="a7c6d9"/>
                </a:solidFill>
                <a:effectLst/>
                <a:uFillTx/>
                <a:latin typeface="NotoSansJP"/>
                <a:ea typeface="NotoSansJP"/>
              </a:rPr>
              <a:t>R</a:t>
            </a:r>
            <a:endParaRPr b="0" lang="en-US" sz="1050" strike="noStrike" u="none">
              <a:solidFill>
                <a:srgbClr val="000000"/>
              </a:solidFill>
              <a:effectLst/>
              <a:uFillTx/>
              <a:latin typeface="Times New Roman"/>
            </a:endParaRPr>
          </a:p>
        </p:txBody>
      </p:sp>
      <p:sp>
        <p:nvSpPr>
          <p:cNvPr id="95" name=""/>
          <p:cNvSpPr txBox="1"/>
          <p:nvPr/>
        </p:nvSpPr>
        <p:spPr>
          <a:xfrm>
            <a:off x="2072520" y="4538880"/>
            <a:ext cx="2168280" cy="194040"/>
          </a:xfrm>
          <a:prstGeom prst="rect">
            <a:avLst/>
          </a:prstGeom>
          <a:noFill/>
          <a:ln w="0">
            <a:noFill/>
          </a:ln>
        </p:spPr>
        <p:txBody>
          <a:bodyPr wrap="none" lIns="0" rIns="0" tIns="0" bIns="0" anchor="t">
            <a:spAutoFit/>
          </a:bodyPr>
          <a:p>
            <a:r>
              <a:rPr b="0" lang="en-US" sz="1050" strike="noStrike" u="none">
                <a:solidFill>
                  <a:srgbClr val="a7c6d9"/>
                </a:solidFill>
                <a:effectLst/>
                <a:uFillTx/>
                <a:latin typeface="NotoSansJP"/>
                <a:ea typeface="NotoSansJP"/>
              </a:rPr>
              <a:t> の干渉により、強度分布 </a:t>
            </a:r>
            <a:r>
              <a:rPr b="0" lang="en-US" sz="1050" strike="noStrike" u="none">
                <a:solidFill>
                  <a:srgbClr val="a7c6d9"/>
                </a:solidFill>
                <a:effectLst/>
                <a:uFillTx/>
                <a:latin typeface="NotoSansJP"/>
                <a:ea typeface="NotoSansJP"/>
              </a:rPr>
              <a:t>I = |O+R</a:t>
            </a:r>
            <a:endParaRPr b="0" lang="en-US" sz="1050" strike="noStrike" u="none">
              <a:solidFill>
                <a:srgbClr val="000000"/>
              </a:solidFill>
              <a:effectLst/>
              <a:uFillTx/>
              <a:latin typeface="Times New Roman"/>
            </a:endParaRPr>
          </a:p>
        </p:txBody>
      </p:sp>
      <p:sp>
        <p:nvSpPr>
          <p:cNvPr id="96" name=""/>
          <p:cNvSpPr txBox="1"/>
          <p:nvPr/>
        </p:nvSpPr>
        <p:spPr>
          <a:xfrm>
            <a:off x="4228560" y="4538880"/>
            <a:ext cx="133200" cy="157320"/>
          </a:xfrm>
          <a:prstGeom prst="rect">
            <a:avLst/>
          </a:prstGeom>
          <a:noFill/>
          <a:ln w="0">
            <a:noFill/>
          </a:ln>
        </p:spPr>
        <p:txBody>
          <a:bodyPr wrap="none" lIns="0" rIns="0" tIns="0" bIns="0" anchor="t">
            <a:spAutoFit/>
          </a:bodyPr>
          <a:p>
            <a:r>
              <a:rPr b="0" lang="en-US" sz="1050" strike="noStrike" u="none">
                <a:solidFill>
                  <a:srgbClr val="a7c6d9"/>
                </a:solidFill>
                <a:effectLst/>
                <a:uFillTx/>
                <a:latin typeface="NotoSansJP"/>
                <a:ea typeface="NotoSansJP"/>
              </a:rPr>
              <a:t>|</a:t>
            </a:r>
            <a:endParaRPr b="0" lang="en-US" sz="1050" strike="noStrike" u="none">
              <a:solidFill>
                <a:srgbClr val="000000"/>
              </a:solidFill>
              <a:effectLst/>
              <a:uFillTx/>
              <a:latin typeface="Times New Roman"/>
            </a:endParaRPr>
          </a:p>
        </p:txBody>
      </p:sp>
      <p:sp>
        <p:nvSpPr>
          <p:cNvPr id="97" name=""/>
          <p:cNvSpPr txBox="1"/>
          <p:nvPr/>
        </p:nvSpPr>
        <p:spPr>
          <a:xfrm>
            <a:off x="4320360" y="4538880"/>
            <a:ext cx="597240" cy="194040"/>
          </a:xfrm>
          <a:prstGeom prst="rect">
            <a:avLst/>
          </a:prstGeom>
          <a:noFill/>
          <a:ln w="0">
            <a:noFill/>
          </a:ln>
        </p:spPr>
        <p:txBody>
          <a:bodyPr wrap="none" lIns="0" rIns="0" tIns="0" bIns="0" anchor="t">
            <a:spAutoFit/>
          </a:bodyPr>
          <a:p>
            <a:r>
              <a:rPr b="0" lang="en-US" sz="1050" strike="noStrike" u="none">
                <a:solidFill>
                  <a:srgbClr val="a7c6d9"/>
                </a:solidFill>
                <a:effectLst/>
                <a:uFillTx/>
                <a:latin typeface="NotoSansJP"/>
                <a:ea typeface="NotoSansJP"/>
              </a:rPr>
              <a:t> が ホログ</a:t>
            </a:r>
            <a:endParaRPr b="0" lang="en-US" sz="1050" strike="noStrike" u="none">
              <a:solidFill>
                <a:srgbClr val="000000"/>
              </a:solidFill>
              <a:effectLst/>
              <a:uFillTx/>
              <a:latin typeface="Times New Roman"/>
            </a:endParaRPr>
          </a:p>
        </p:txBody>
      </p:sp>
      <p:sp>
        <p:nvSpPr>
          <p:cNvPr id="98" name=""/>
          <p:cNvSpPr txBox="1"/>
          <p:nvPr/>
        </p:nvSpPr>
        <p:spPr>
          <a:xfrm>
            <a:off x="702000" y="4739400"/>
            <a:ext cx="4292280" cy="194040"/>
          </a:xfrm>
          <a:prstGeom prst="rect">
            <a:avLst/>
          </a:prstGeom>
          <a:noFill/>
          <a:ln w="0">
            <a:noFill/>
          </a:ln>
        </p:spPr>
        <p:txBody>
          <a:bodyPr wrap="none" lIns="0" rIns="0" tIns="0" bIns="0" anchor="t">
            <a:spAutoFit/>
          </a:bodyPr>
          <a:p>
            <a:r>
              <a:rPr b="0" lang="zh-CN" sz="1050" strike="noStrike" u="none">
                <a:solidFill>
                  <a:srgbClr val="a7c6d9"/>
                </a:solidFill>
                <a:effectLst/>
                <a:uFillTx/>
                <a:latin typeface="NotoSansJP"/>
                <a:ea typeface="NotoSansJP"/>
              </a:rPr>
              <a:t>ラムとして記録されます。この干渉パターンには物体の振幅と位相情報</a:t>
            </a:r>
            <a:endParaRPr b="0" lang="en-US" sz="1050" strike="noStrike" u="none">
              <a:solidFill>
                <a:srgbClr val="000000"/>
              </a:solidFill>
              <a:effectLst/>
              <a:uFillTx/>
              <a:latin typeface="Times New Roman"/>
            </a:endParaRPr>
          </a:p>
        </p:txBody>
      </p:sp>
      <p:sp>
        <p:nvSpPr>
          <p:cNvPr id="99" name=""/>
          <p:cNvSpPr/>
          <p:nvPr/>
        </p:nvSpPr>
        <p:spPr>
          <a:xfrm>
            <a:off x="5540400" y="2464920"/>
            <a:ext cx="4621680" cy="2808360"/>
          </a:xfrm>
          <a:custGeom>
            <a:avLst/>
            <a:gdLst/>
            <a:ahLst/>
            <a:rect l="0" t="0" r="r" b="b"/>
            <a:pathLst>
              <a:path w="12838" h="7801">
                <a:moveTo>
                  <a:pt x="0" y="7615"/>
                </a:moveTo>
                <a:lnTo>
                  <a:pt x="0" y="186"/>
                </a:lnTo>
                <a:cubicBezTo>
                  <a:pt x="0" y="174"/>
                  <a:pt x="1" y="162"/>
                  <a:pt x="3" y="150"/>
                </a:cubicBezTo>
                <a:cubicBezTo>
                  <a:pt x="6" y="138"/>
                  <a:pt x="9" y="126"/>
                  <a:pt x="14" y="115"/>
                </a:cubicBezTo>
                <a:cubicBezTo>
                  <a:pt x="19" y="104"/>
                  <a:pt x="24" y="93"/>
                  <a:pt x="31" y="83"/>
                </a:cubicBezTo>
                <a:cubicBezTo>
                  <a:pt x="38" y="73"/>
                  <a:pt x="46" y="63"/>
                  <a:pt x="54" y="55"/>
                </a:cubicBezTo>
                <a:cubicBezTo>
                  <a:pt x="63" y="46"/>
                  <a:pt x="72" y="38"/>
                  <a:pt x="82" y="32"/>
                </a:cubicBezTo>
                <a:cubicBezTo>
                  <a:pt x="92" y="25"/>
                  <a:pt x="103" y="19"/>
                  <a:pt x="114" y="14"/>
                </a:cubicBezTo>
                <a:cubicBezTo>
                  <a:pt x="126" y="10"/>
                  <a:pt x="137" y="6"/>
                  <a:pt x="149" y="4"/>
                </a:cubicBezTo>
                <a:cubicBezTo>
                  <a:pt x="161" y="2"/>
                  <a:pt x="173" y="0"/>
                  <a:pt x="185" y="0"/>
                </a:cubicBezTo>
                <a:lnTo>
                  <a:pt x="12652" y="0"/>
                </a:lnTo>
                <a:cubicBezTo>
                  <a:pt x="12664" y="0"/>
                  <a:pt x="12676" y="2"/>
                  <a:pt x="12688" y="4"/>
                </a:cubicBezTo>
                <a:cubicBezTo>
                  <a:pt x="12700" y="6"/>
                  <a:pt x="12712" y="10"/>
                  <a:pt x="12723" y="14"/>
                </a:cubicBezTo>
                <a:cubicBezTo>
                  <a:pt x="12734" y="19"/>
                  <a:pt x="12745" y="25"/>
                  <a:pt x="12755" y="32"/>
                </a:cubicBezTo>
                <a:cubicBezTo>
                  <a:pt x="12765" y="38"/>
                  <a:pt x="12775" y="46"/>
                  <a:pt x="12783" y="55"/>
                </a:cubicBezTo>
                <a:cubicBezTo>
                  <a:pt x="12792" y="63"/>
                  <a:pt x="12799" y="73"/>
                  <a:pt x="12806" y="83"/>
                </a:cubicBezTo>
                <a:cubicBezTo>
                  <a:pt x="12813" y="93"/>
                  <a:pt x="12819" y="104"/>
                  <a:pt x="12823" y="115"/>
                </a:cubicBezTo>
                <a:cubicBezTo>
                  <a:pt x="12828" y="126"/>
                  <a:pt x="12832" y="138"/>
                  <a:pt x="12834" y="150"/>
                </a:cubicBezTo>
                <a:cubicBezTo>
                  <a:pt x="12836" y="162"/>
                  <a:pt x="12838" y="174"/>
                  <a:pt x="12838" y="186"/>
                </a:cubicBezTo>
                <a:lnTo>
                  <a:pt x="12838" y="7615"/>
                </a:lnTo>
                <a:cubicBezTo>
                  <a:pt x="12838" y="7627"/>
                  <a:pt x="12836" y="7640"/>
                  <a:pt x="12834" y="7651"/>
                </a:cubicBezTo>
                <a:cubicBezTo>
                  <a:pt x="12832" y="7663"/>
                  <a:pt x="12828" y="7675"/>
                  <a:pt x="12823" y="7686"/>
                </a:cubicBezTo>
                <a:cubicBezTo>
                  <a:pt x="12819" y="7698"/>
                  <a:pt x="12813" y="7708"/>
                  <a:pt x="12806" y="7718"/>
                </a:cubicBezTo>
                <a:cubicBezTo>
                  <a:pt x="12799" y="7729"/>
                  <a:pt x="12792" y="7738"/>
                  <a:pt x="12783" y="7747"/>
                </a:cubicBezTo>
                <a:cubicBezTo>
                  <a:pt x="12775" y="7755"/>
                  <a:pt x="12765" y="7763"/>
                  <a:pt x="12755" y="7770"/>
                </a:cubicBezTo>
                <a:cubicBezTo>
                  <a:pt x="12745" y="7776"/>
                  <a:pt x="12734" y="7782"/>
                  <a:pt x="12723" y="7787"/>
                </a:cubicBezTo>
                <a:cubicBezTo>
                  <a:pt x="12712" y="7791"/>
                  <a:pt x="12700" y="7795"/>
                  <a:pt x="12688" y="7797"/>
                </a:cubicBezTo>
                <a:cubicBezTo>
                  <a:pt x="12676" y="7800"/>
                  <a:pt x="12664" y="7801"/>
                  <a:pt x="12652" y="7801"/>
                </a:cubicBezTo>
                <a:lnTo>
                  <a:pt x="185" y="7801"/>
                </a:lnTo>
                <a:cubicBezTo>
                  <a:pt x="173" y="7801"/>
                  <a:pt x="161" y="7800"/>
                  <a:pt x="149" y="7797"/>
                </a:cubicBezTo>
                <a:cubicBezTo>
                  <a:pt x="137" y="7795"/>
                  <a:pt x="126" y="7791"/>
                  <a:pt x="114" y="7787"/>
                </a:cubicBezTo>
                <a:cubicBezTo>
                  <a:pt x="103" y="7782"/>
                  <a:pt x="92" y="7776"/>
                  <a:pt x="82" y="7770"/>
                </a:cubicBezTo>
                <a:cubicBezTo>
                  <a:pt x="72" y="7763"/>
                  <a:pt x="63" y="7755"/>
                  <a:pt x="54" y="7747"/>
                </a:cubicBezTo>
                <a:cubicBezTo>
                  <a:pt x="46" y="7738"/>
                  <a:pt x="38" y="7729"/>
                  <a:pt x="31" y="7718"/>
                </a:cubicBezTo>
                <a:cubicBezTo>
                  <a:pt x="24" y="7708"/>
                  <a:pt x="19" y="7698"/>
                  <a:pt x="14" y="7686"/>
                </a:cubicBezTo>
                <a:cubicBezTo>
                  <a:pt x="9" y="7675"/>
                  <a:pt x="6" y="7663"/>
                  <a:pt x="3" y="7651"/>
                </a:cubicBezTo>
                <a:cubicBezTo>
                  <a:pt x="1" y="7640"/>
                  <a:pt x="0" y="7627"/>
                  <a:pt x="0" y="7615"/>
                </a:cubicBezTo>
                <a:close/>
              </a:path>
            </a:pathLst>
          </a:custGeom>
          <a:solidFill>
            <a:srgbClr val="ffffff">
              <a:alpha val="10000"/>
            </a:srgbClr>
          </a:solidFill>
          <a:ln w="0">
            <a:noFill/>
          </a:ln>
        </p:spPr>
        <p:txBody>
          <a:bodyPr lIns="0" rIns="0" tIns="0" bIns="0" anchor="t">
            <a:noAutofit/>
          </a:bodyPr>
          <a:p>
            <a:endParaRPr b="0" lang="en-US" sz="2400" strike="noStrike" u="none">
              <a:solidFill>
                <a:srgbClr val="000000"/>
              </a:solidFill>
              <a:effectLst/>
              <a:uFillTx/>
              <a:latin typeface="Times New Roman"/>
            </a:endParaRPr>
          </a:p>
        </p:txBody>
      </p:sp>
      <p:pic>
        <p:nvPicPr>
          <p:cNvPr id="100" name="" descr=""/>
          <p:cNvPicPr/>
          <p:nvPr/>
        </p:nvPicPr>
        <p:blipFill>
          <a:blip r:embed="rId3"/>
          <a:stretch/>
        </p:blipFill>
        <p:spPr>
          <a:xfrm>
            <a:off x="5707800" y="2632320"/>
            <a:ext cx="150120" cy="267120"/>
          </a:xfrm>
          <a:prstGeom prst="rect">
            <a:avLst/>
          </a:prstGeom>
          <a:noFill/>
          <a:ln w="0">
            <a:noFill/>
          </a:ln>
        </p:spPr>
      </p:pic>
      <p:sp>
        <p:nvSpPr>
          <p:cNvPr id="101" name=""/>
          <p:cNvSpPr txBox="1"/>
          <p:nvPr/>
        </p:nvSpPr>
        <p:spPr>
          <a:xfrm>
            <a:off x="702000" y="4939920"/>
            <a:ext cx="1207800" cy="194040"/>
          </a:xfrm>
          <a:prstGeom prst="rect">
            <a:avLst/>
          </a:prstGeom>
          <a:noFill/>
          <a:ln w="0">
            <a:noFill/>
          </a:ln>
        </p:spPr>
        <p:txBody>
          <a:bodyPr wrap="none" lIns="0" rIns="0" tIns="0" bIns="0" anchor="t">
            <a:spAutoFit/>
          </a:bodyPr>
          <a:p>
            <a:r>
              <a:rPr b="0" lang="zh-CN" sz="1050" strike="noStrike" u="none">
                <a:solidFill>
                  <a:srgbClr val="a7c6d9"/>
                </a:solidFill>
                <a:effectLst/>
                <a:uFillTx/>
                <a:latin typeface="NotoSansJP"/>
                <a:ea typeface="NotoSansJP"/>
              </a:rPr>
              <a:t>が含まれています。</a:t>
            </a:r>
            <a:endParaRPr b="0" lang="en-US" sz="1050" strike="noStrike" u="none">
              <a:solidFill>
                <a:srgbClr val="000000"/>
              </a:solidFill>
              <a:effectLst/>
              <a:uFillTx/>
              <a:latin typeface="Times New Roman"/>
            </a:endParaRPr>
          </a:p>
        </p:txBody>
      </p:sp>
      <p:sp>
        <p:nvSpPr>
          <p:cNvPr id="102" name=""/>
          <p:cNvSpPr txBox="1"/>
          <p:nvPr/>
        </p:nvSpPr>
        <p:spPr>
          <a:xfrm>
            <a:off x="5958720" y="2677680"/>
            <a:ext cx="671400" cy="244080"/>
          </a:xfrm>
          <a:prstGeom prst="rect">
            <a:avLst/>
          </a:prstGeom>
          <a:noFill/>
          <a:ln w="0">
            <a:noFill/>
          </a:ln>
        </p:spPr>
        <p:txBody>
          <a:bodyPr wrap="none" lIns="0" rIns="0" tIns="0" bIns="0" anchor="t">
            <a:spAutoFit/>
          </a:bodyPr>
          <a:p>
            <a:r>
              <a:rPr b="0" lang="zh-CN" sz="1320" strike="noStrike" u="none">
                <a:solidFill>
                  <a:srgbClr val="ffffff"/>
                </a:solidFill>
                <a:effectLst/>
                <a:uFillTx/>
                <a:latin typeface="NotoSansJP"/>
                <a:ea typeface="NotoSansJP"/>
              </a:rPr>
              <a:t>再生過程</a:t>
            </a:r>
            <a:endParaRPr b="0" lang="en-US" sz="1320" strike="noStrike" u="none">
              <a:solidFill>
                <a:srgbClr val="000000"/>
              </a:solidFill>
              <a:effectLst/>
              <a:uFillTx/>
              <a:latin typeface="Times New Roman"/>
            </a:endParaRPr>
          </a:p>
        </p:txBody>
      </p:sp>
      <p:sp>
        <p:nvSpPr>
          <p:cNvPr id="103" name=""/>
          <p:cNvSpPr txBox="1"/>
          <p:nvPr/>
        </p:nvSpPr>
        <p:spPr>
          <a:xfrm>
            <a:off x="5708160" y="4538880"/>
            <a:ext cx="2892600" cy="194040"/>
          </a:xfrm>
          <a:prstGeom prst="rect">
            <a:avLst/>
          </a:prstGeom>
          <a:noFill/>
          <a:ln w="0">
            <a:noFill/>
          </a:ln>
        </p:spPr>
        <p:txBody>
          <a:bodyPr wrap="none" lIns="0" rIns="0" tIns="0" bIns="0" anchor="t">
            <a:spAutoFit/>
          </a:bodyPr>
          <a:p>
            <a:r>
              <a:rPr b="0" lang="zh-CN" sz="1050" strike="noStrike" u="none">
                <a:solidFill>
                  <a:srgbClr val="a7c6d9"/>
                </a:solidFill>
                <a:effectLst/>
                <a:uFillTx/>
                <a:latin typeface="NotoSansJP"/>
                <a:ea typeface="NotoSansJP"/>
              </a:rPr>
              <a:t>再生時には記録されたホログラム </a:t>
            </a:r>
            <a:r>
              <a:rPr b="0" lang="en-US" sz="1050" strike="noStrike" u="none">
                <a:solidFill>
                  <a:srgbClr val="a7c6d9"/>
                </a:solidFill>
                <a:effectLst/>
                <a:uFillTx/>
                <a:latin typeface="NotoSansJP"/>
                <a:ea typeface="NotoSansJP"/>
              </a:rPr>
              <a:t>I </a:t>
            </a:r>
            <a:r>
              <a:rPr b="0" lang="zh-CN" sz="1050" strike="noStrike" u="none">
                <a:solidFill>
                  <a:srgbClr val="a7c6d9"/>
                </a:solidFill>
                <a:effectLst/>
                <a:uFillTx/>
                <a:latin typeface="NotoSansJP"/>
                <a:ea typeface="NotoSansJP"/>
              </a:rPr>
              <a:t>に参照光 </a:t>
            </a:r>
            <a:r>
              <a:rPr b="0" lang="en-US" sz="1050" strike="noStrike" u="none">
                <a:solidFill>
                  <a:srgbClr val="a7c6d9"/>
                </a:solidFill>
                <a:effectLst/>
                <a:uFillTx/>
                <a:latin typeface="NotoSansJP"/>
                <a:ea typeface="NotoSansJP"/>
              </a:rPr>
              <a:t>R</a:t>
            </a:r>
            <a:endParaRPr b="0" lang="en-US" sz="1050" strike="noStrike" u="none">
              <a:solidFill>
                <a:srgbClr val="000000"/>
              </a:solidFill>
              <a:effectLst/>
              <a:uFillTx/>
              <a:latin typeface="Times New Roman"/>
            </a:endParaRPr>
          </a:p>
        </p:txBody>
      </p:sp>
      <p:sp>
        <p:nvSpPr>
          <p:cNvPr id="104" name=""/>
          <p:cNvSpPr txBox="1"/>
          <p:nvPr/>
        </p:nvSpPr>
        <p:spPr>
          <a:xfrm>
            <a:off x="8666280" y="4538880"/>
            <a:ext cx="1267920" cy="194040"/>
          </a:xfrm>
          <a:prstGeom prst="rect">
            <a:avLst/>
          </a:prstGeom>
          <a:noFill/>
          <a:ln w="0">
            <a:noFill/>
          </a:ln>
        </p:spPr>
        <p:txBody>
          <a:bodyPr wrap="none" lIns="0" rIns="0" tIns="0" bIns="0" anchor="t">
            <a:spAutoFit/>
          </a:bodyPr>
          <a:p>
            <a:r>
              <a:rPr b="0" lang="en-US" sz="1050" strike="noStrike" u="none">
                <a:solidFill>
                  <a:srgbClr val="a7c6d9"/>
                </a:solidFill>
                <a:effectLst/>
                <a:uFillTx/>
                <a:latin typeface="NotoSansJP"/>
                <a:ea typeface="NotoSansJP"/>
              </a:rPr>
              <a:t> を照射します。 参照</a:t>
            </a:r>
            <a:endParaRPr b="0" lang="en-US" sz="1050" strike="noStrike" u="none">
              <a:solidFill>
                <a:srgbClr val="000000"/>
              </a:solidFill>
              <a:effectLst/>
              <a:uFillTx/>
              <a:latin typeface="Times New Roman"/>
            </a:endParaRPr>
          </a:p>
        </p:txBody>
      </p:sp>
      <p:sp>
        <p:nvSpPr>
          <p:cNvPr id="105" name=""/>
          <p:cNvSpPr txBox="1"/>
          <p:nvPr/>
        </p:nvSpPr>
        <p:spPr>
          <a:xfrm>
            <a:off x="5708160" y="4739400"/>
            <a:ext cx="4292280" cy="194040"/>
          </a:xfrm>
          <a:prstGeom prst="rect">
            <a:avLst/>
          </a:prstGeom>
          <a:noFill/>
          <a:ln w="0">
            <a:noFill/>
          </a:ln>
        </p:spPr>
        <p:txBody>
          <a:bodyPr wrap="none" lIns="0" rIns="0" tIns="0" bIns="0" anchor="t">
            <a:spAutoFit/>
          </a:bodyPr>
          <a:p>
            <a:r>
              <a:rPr b="0" lang="zh-CN" sz="1050" strike="noStrike" u="none">
                <a:solidFill>
                  <a:srgbClr val="a7c6d9"/>
                </a:solidFill>
                <a:effectLst/>
                <a:uFillTx/>
                <a:latin typeface="NotoSansJP"/>
                <a:ea typeface="NotoSansJP"/>
              </a:rPr>
              <a:t>光と干渉パターンの相互作用により、元の物体光に比例した光波が再生</a:t>
            </a:r>
            <a:endParaRPr b="0" lang="en-US" sz="1050" strike="noStrike" u="none">
              <a:solidFill>
                <a:srgbClr val="000000"/>
              </a:solidFill>
              <a:effectLst/>
              <a:uFillTx/>
              <a:latin typeface="Times New Roman"/>
            </a:endParaRPr>
          </a:p>
        </p:txBody>
      </p:sp>
      <p:sp>
        <p:nvSpPr>
          <p:cNvPr id="106" name=""/>
          <p:cNvSpPr txBox="1"/>
          <p:nvPr/>
        </p:nvSpPr>
        <p:spPr>
          <a:xfrm>
            <a:off x="5708160" y="4939920"/>
            <a:ext cx="3383640" cy="194040"/>
          </a:xfrm>
          <a:prstGeom prst="rect">
            <a:avLst/>
          </a:prstGeom>
          <a:noFill/>
          <a:ln w="0">
            <a:noFill/>
          </a:ln>
        </p:spPr>
        <p:txBody>
          <a:bodyPr wrap="none" lIns="0" rIns="0" tIns="0" bIns="0" anchor="t">
            <a:spAutoFit/>
          </a:bodyPr>
          <a:p>
            <a:r>
              <a:rPr b="0" lang="zh-CN" sz="1050" strike="noStrike" u="none">
                <a:solidFill>
                  <a:srgbClr val="a7c6d9"/>
                </a:solidFill>
                <a:effectLst/>
                <a:uFillTx/>
                <a:latin typeface="NotoSansJP"/>
                <a:ea typeface="NotoSansJP"/>
              </a:rPr>
              <a:t>され、 観察者には元の物体が存在するように見えます。</a:t>
            </a:r>
            <a:endParaRPr b="0" lang="en-US" sz="1050" strike="noStrike" u="none">
              <a:solidFill>
                <a:srgbClr val="000000"/>
              </a:solidFill>
              <a:effectLst/>
              <a:uFillTx/>
              <a:latin typeface="Times New Roman"/>
            </a:endParaRPr>
          </a:p>
        </p:txBody>
      </p:sp>
      <p:sp>
        <p:nvSpPr>
          <p:cNvPr id="107" name=""/>
          <p:cNvSpPr/>
          <p:nvPr/>
        </p:nvSpPr>
        <p:spPr>
          <a:xfrm>
            <a:off x="1508040" y="3037320"/>
            <a:ext cx="2666160" cy="1329120"/>
          </a:xfrm>
          <a:custGeom>
            <a:avLst/>
            <a:gdLst/>
            <a:ahLst/>
            <a:rect l="0" t="0" r="r" b="b"/>
            <a:pathLst>
              <a:path fill="none" w="7406" h="3692">
                <a:moveTo>
                  <a:pt x="0" y="3518"/>
                </a:moveTo>
                <a:lnTo>
                  <a:pt x="0" y="175"/>
                </a:lnTo>
                <a:cubicBezTo>
                  <a:pt x="0" y="163"/>
                  <a:pt x="2" y="152"/>
                  <a:pt x="4" y="141"/>
                </a:cubicBezTo>
                <a:cubicBezTo>
                  <a:pt x="6" y="129"/>
                  <a:pt x="9" y="118"/>
                  <a:pt x="14" y="108"/>
                </a:cubicBezTo>
                <a:cubicBezTo>
                  <a:pt x="18" y="97"/>
                  <a:pt x="23" y="87"/>
                  <a:pt x="30" y="78"/>
                </a:cubicBezTo>
                <a:cubicBezTo>
                  <a:pt x="36" y="68"/>
                  <a:pt x="43" y="60"/>
                  <a:pt x="51" y="51"/>
                </a:cubicBezTo>
                <a:cubicBezTo>
                  <a:pt x="60" y="43"/>
                  <a:pt x="68" y="36"/>
                  <a:pt x="78" y="30"/>
                </a:cubicBezTo>
                <a:cubicBezTo>
                  <a:pt x="87" y="23"/>
                  <a:pt x="97" y="18"/>
                  <a:pt x="108" y="14"/>
                </a:cubicBezTo>
                <a:cubicBezTo>
                  <a:pt x="118" y="9"/>
                  <a:pt x="129" y="6"/>
                  <a:pt x="141" y="4"/>
                </a:cubicBezTo>
                <a:cubicBezTo>
                  <a:pt x="152" y="2"/>
                  <a:pt x="163" y="0"/>
                  <a:pt x="175" y="0"/>
                </a:cubicBezTo>
                <a:lnTo>
                  <a:pt x="7232" y="0"/>
                </a:lnTo>
                <a:cubicBezTo>
                  <a:pt x="7244" y="0"/>
                  <a:pt x="7255" y="2"/>
                  <a:pt x="7266" y="4"/>
                </a:cubicBezTo>
                <a:cubicBezTo>
                  <a:pt x="7277" y="6"/>
                  <a:pt x="7288" y="9"/>
                  <a:pt x="7299" y="14"/>
                </a:cubicBezTo>
                <a:cubicBezTo>
                  <a:pt x="7310" y="18"/>
                  <a:pt x="7320" y="23"/>
                  <a:pt x="7329" y="30"/>
                </a:cubicBezTo>
                <a:cubicBezTo>
                  <a:pt x="7339" y="36"/>
                  <a:pt x="7347" y="43"/>
                  <a:pt x="7355" y="51"/>
                </a:cubicBezTo>
                <a:cubicBezTo>
                  <a:pt x="7364" y="60"/>
                  <a:pt x="7371" y="68"/>
                  <a:pt x="7377" y="78"/>
                </a:cubicBezTo>
                <a:cubicBezTo>
                  <a:pt x="7383" y="87"/>
                  <a:pt x="7389" y="97"/>
                  <a:pt x="7393" y="108"/>
                </a:cubicBezTo>
                <a:cubicBezTo>
                  <a:pt x="7398" y="118"/>
                  <a:pt x="7401" y="129"/>
                  <a:pt x="7403" y="141"/>
                </a:cubicBezTo>
                <a:cubicBezTo>
                  <a:pt x="7405" y="152"/>
                  <a:pt x="7406" y="163"/>
                  <a:pt x="7406" y="175"/>
                </a:cubicBezTo>
                <a:lnTo>
                  <a:pt x="7406" y="3518"/>
                </a:lnTo>
                <a:cubicBezTo>
                  <a:pt x="7406" y="3530"/>
                  <a:pt x="7405" y="3541"/>
                  <a:pt x="7403" y="3552"/>
                </a:cubicBezTo>
                <a:cubicBezTo>
                  <a:pt x="7401" y="3563"/>
                  <a:pt x="7398" y="3574"/>
                  <a:pt x="7393" y="3585"/>
                </a:cubicBezTo>
                <a:cubicBezTo>
                  <a:pt x="7389" y="3595"/>
                  <a:pt x="7383" y="3605"/>
                  <a:pt x="7377" y="3615"/>
                </a:cubicBezTo>
                <a:cubicBezTo>
                  <a:pt x="7371" y="3624"/>
                  <a:pt x="7364" y="3633"/>
                  <a:pt x="7355" y="3641"/>
                </a:cubicBezTo>
                <a:cubicBezTo>
                  <a:pt x="7347" y="3649"/>
                  <a:pt x="7339" y="3657"/>
                  <a:pt x="7329" y="3663"/>
                </a:cubicBezTo>
                <a:cubicBezTo>
                  <a:pt x="7320" y="3669"/>
                  <a:pt x="7310" y="3675"/>
                  <a:pt x="7299" y="3679"/>
                </a:cubicBezTo>
                <a:cubicBezTo>
                  <a:pt x="7288" y="3683"/>
                  <a:pt x="7277" y="3687"/>
                  <a:pt x="7266" y="3689"/>
                </a:cubicBezTo>
                <a:cubicBezTo>
                  <a:pt x="7255" y="3691"/>
                  <a:pt x="7244" y="3692"/>
                  <a:pt x="7232" y="3692"/>
                </a:cubicBezTo>
                <a:lnTo>
                  <a:pt x="175" y="3692"/>
                </a:lnTo>
                <a:cubicBezTo>
                  <a:pt x="163" y="3692"/>
                  <a:pt x="152" y="3691"/>
                  <a:pt x="141" y="3689"/>
                </a:cubicBezTo>
                <a:cubicBezTo>
                  <a:pt x="129" y="3687"/>
                  <a:pt x="118" y="3683"/>
                  <a:pt x="108" y="3679"/>
                </a:cubicBezTo>
                <a:cubicBezTo>
                  <a:pt x="97" y="3675"/>
                  <a:pt x="87" y="3669"/>
                  <a:pt x="78" y="3663"/>
                </a:cubicBezTo>
                <a:cubicBezTo>
                  <a:pt x="68" y="3657"/>
                  <a:pt x="60" y="3649"/>
                  <a:pt x="51" y="3641"/>
                </a:cubicBezTo>
                <a:cubicBezTo>
                  <a:pt x="43" y="3633"/>
                  <a:pt x="36" y="3624"/>
                  <a:pt x="30" y="3615"/>
                </a:cubicBezTo>
                <a:cubicBezTo>
                  <a:pt x="23" y="3605"/>
                  <a:pt x="18" y="3595"/>
                  <a:pt x="14" y="3585"/>
                </a:cubicBezTo>
                <a:cubicBezTo>
                  <a:pt x="9" y="3574"/>
                  <a:pt x="6" y="3563"/>
                  <a:pt x="4" y="3552"/>
                </a:cubicBezTo>
                <a:cubicBezTo>
                  <a:pt x="2" y="3541"/>
                  <a:pt x="0" y="3530"/>
                  <a:pt x="0" y="3518"/>
                </a:cubicBezTo>
              </a:path>
            </a:pathLst>
          </a:custGeom>
          <a:ln w="8280">
            <a:solidFill>
              <a:srgbClr val="a7c6d9"/>
            </a:solidFill>
            <a:miter/>
          </a:ln>
        </p:spPr>
        <p:txBody>
          <a:bodyPr lIns="3960" rIns="3960" tIns="3960" bIns="3960" anchor="t">
            <a:noAutofit/>
          </a:bodyPr>
          <a:p>
            <a:endParaRPr b="0" lang="en-US" sz="2400" strike="noStrike" u="none">
              <a:solidFill>
                <a:srgbClr val="000000"/>
              </a:solidFill>
              <a:effectLst/>
              <a:uFillTx/>
              <a:latin typeface="Times New Roman"/>
            </a:endParaRPr>
          </a:p>
        </p:txBody>
      </p:sp>
      <p:pic>
        <p:nvPicPr>
          <p:cNvPr id="108" name="" descr=""/>
          <p:cNvPicPr/>
          <p:nvPr/>
        </p:nvPicPr>
        <p:blipFill>
          <a:blip r:embed="rId4"/>
          <a:stretch/>
        </p:blipFill>
        <p:spPr>
          <a:xfrm>
            <a:off x="1863720" y="3292560"/>
            <a:ext cx="200160" cy="267120"/>
          </a:xfrm>
          <a:prstGeom prst="rect">
            <a:avLst/>
          </a:prstGeom>
          <a:noFill/>
          <a:ln w="0">
            <a:noFill/>
          </a:ln>
        </p:spPr>
      </p:pic>
      <p:sp>
        <p:nvSpPr>
          <p:cNvPr id="109" name=""/>
          <p:cNvSpPr txBox="1"/>
          <p:nvPr/>
        </p:nvSpPr>
        <p:spPr>
          <a:xfrm>
            <a:off x="735480" y="5772240"/>
            <a:ext cx="1006560" cy="291600"/>
          </a:xfrm>
          <a:prstGeom prst="rect">
            <a:avLst/>
          </a:prstGeom>
          <a:noFill/>
          <a:ln w="0">
            <a:noFill/>
          </a:ln>
        </p:spPr>
        <p:txBody>
          <a:bodyPr wrap="none" lIns="0" rIns="0" tIns="0" bIns="0" anchor="t">
            <a:spAutoFit/>
          </a:bodyPr>
          <a:p>
            <a:r>
              <a:rPr b="0" lang="zh-CN" sz="1580" strike="noStrike" u="none">
                <a:solidFill>
                  <a:srgbClr val="a7c6d9"/>
                </a:solidFill>
                <a:effectLst/>
                <a:uFillTx/>
                <a:latin typeface="NotoSansJP"/>
                <a:ea typeface="NotoSansJP"/>
              </a:rPr>
              <a:t>数学的表現</a:t>
            </a:r>
            <a:endParaRPr b="0" lang="en-US" sz="1580" strike="noStrike" u="none">
              <a:solidFill>
                <a:srgbClr val="000000"/>
              </a:solidFill>
              <a:effectLst/>
              <a:uFillTx/>
              <a:latin typeface="Times New Roman"/>
            </a:endParaRPr>
          </a:p>
        </p:txBody>
      </p:sp>
      <p:sp>
        <p:nvSpPr>
          <p:cNvPr id="110" name=""/>
          <p:cNvSpPr/>
          <p:nvPr/>
        </p:nvSpPr>
        <p:spPr>
          <a:xfrm>
            <a:off x="2180880" y="3376080"/>
            <a:ext cx="835920" cy="8640"/>
          </a:xfrm>
          <a:custGeom>
            <a:avLst/>
            <a:gdLst/>
            <a:ahLst/>
            <a:rect l="0" t="0" r="r" b="b"/>
            <a:pathLst>
              <a:path w="2322" h="24">
                <a:moveTo>
                  <a:pt x="0" y="0"/>
                </a:moveTo>
                <a:lnTo>
                  <a:pt x="70" y="0"/>
                </a:lnTo>
                <a:lnTo>
                  <a:pt x="70" y="24"/>
                </a:lnTo>
                <a:lnTo>
                  <a:pt x="0" y="24"/>
                </a:lnTo>
                <a:lnTo>
                  <a:pt x="0" y="0"/>
                </a:lnTo>
                <a:moveTo>
                  <a:pt x="119" y="0"/>
                </a:moveTo>
                <a:lnTo>
                  <a:pt x="188" y="0"/>
                </a:lnTo>
                <a:lnTo>
                  <a:pt x="188" y="24"/>
                </a:lnTo>
                <a:lnTo>
                  <a:pt x="119" y="24"/>
                </a:lnTo>
                <a:lnTo>
                  <a:pt x="119" y="0"/>
                </a:lnTo>
                <a:moveTo>
                  <a:pt x="237" y="0"/>
                </a:moveTo>
                <a:lnTo>
                  <a:pt x="307" y="0"/>
                </a:lnTo>
                <a:lnTo>
                  <a:pt x="307" y="24"/>
                </a:lnTo>
                <a:lnTo>
                  <a:pt x="237" y="24"/>
                </a:lnTo>
                <a:lnTo>
                  <a:pt x="237" y="0"/>
                </a:lnTo>
                <a:moveTo>
                  <a:pt x="356" y="0"/>
                </a:moveTo>
                <a:lnTo>
                  <a:pt x="425" y="0"/>
                </a:lnTo>
                <a:lnTo>
                  <a:pt x="425" y="24"/>
                </a:lnTo>
                <a:lnTo>
                  <a:pt x="356" y="24"/>
                </a:lnTo>
                <a:lnTo>
                  <a:pt x="356" y="0"/>
                </a:lnTo>
                <a:moveTo>
                  <a:pt x="474" y="0"/>
                </a:moveTo>
                <a:lnTo>
                  <a:pt x="544" y="0"/>
                </a:lnTo>
                <a:lnTo>
                  <a:pt x="544" y="24"/>
                </a:lnTo>
                <a:lnTo>
                  <a:pt x="474" y="24"/>
                </a:lnTo>
                <a:lnTo>
                  <a:pt x="474" y="0"/>
                </a:lnTo>
                <a:moveTo>
                  <a:pt x="593" y="0"/>
                </a:moveTo>
                <a:lnTo>
                  <a:pt x="662" y="0"/>
                </a:lnTo>
                <a:lnTo>
                  <a:pt x="662" y="24"/>
                </a:lnTo>
                <a:lnTo>
                  <a:pt x="593" y="24"/>
                </a:lnTo>
                <a:lnTo>
                  <a:pt x="593" y="0"/>
                </a:lnTo>
                <a:moveTo>
                  <a:pt x="711" y="0"/>
                </a:moveTo>
                <a:lnTo>
                  <a:pt x="781" y="0"/>
                </a:lnTo>
                <a:lnTo>
                  <a:pt x="781" y="24"/>
                </a:lnTo>
                <a:lnTo>
                  <a:pt x="711" y="24"/>
                </a:lnTo>
                <a:lnTo>
                  <a:pt x="711" y="0"/>
                </a:lnTo>
                <a:moveTo>
                  <a:pt x="830" y="0"/>
                </a:moveTo>
                <a:lnTo>
                  <a:pt x="899" y="0"/>
                </a:lnTo>
                <a:lnTo>
                  <a:pt x="899" y="24"/>
                </a:lnTo>
                <a:lnTo>
                  <a:pt x="830" y="24"/>
                </a:lnTo>
                <a:lnTo>
                  <a:pt x="830" y="0"/>
                </a:lnTo>
                <a:moveTo>
                  <a:pt x="948" y="0"/>
                </a:moveTo>
                <a:lnTo>
                  <a:pt x="1018" y="0"/>
                </a:lnTo>
                <a:lnTo>
                  <a:pt x="1018" y="24"/>
                </a:lnTo>
                <a:lnTo>
                  <a:pt x="948" y="24"/>
                </a:lnTo>
                <a:lnTo>
                  <a:pt x="948" y="0"/>
                </a:lnTo>
                <a:moveTo>
                  <a:pt x="1067" y="0"/>
                </a:moveTo>
                <a:lnTo>
                  <a:pt x="1136" y="0"/>
                </a:lnTo>
                <a:lnTo>
                  <a:pt x="1136" y="24"/>
                </a:lnTo>
                <a:lnTo>
                  <a:pt x="1067" y="24"/>
                </a:lnTo>
                <a:lnTo>
                  <a:pt x="1067" y="0"/>
                </a:lnTo>
                <a:moveTo>
                  <a:pt x="1185" y="0"/>
                </a:moveTo>
                <a:lnTo>
                  <a:pt x="1255" y="0"/>
                </a:lnTo>
                <a:lnTo>
                  <a:pt x="1255" y="24"/>
                </a:lnTo>
                <a:lnTo>
                  <a:pt x="1185" y="24"/>
                </a:lnTo>
                <a:lnTo>
                  <a:pt x="1185" y="0"/>
                </a:lnTo>
                <a:moveTo>
                  <a:pt x="1304" y="0"/>
                </a:moveTo>
                <a:lnTo>
                  <a:pt x="1373" y="0"/>
                </a:lnTo>
                <a:lnTo>
                  <a:pt x="1373" y="24"/>
                </a:lnTo>
                <a:lnTo>
                  <a:pt x="1304" y="24"/>
                </a:lnTo>
                <a:lnTo>
                  <a:pt x="1304" y="0"/>
                </a:lnTo>
                <a:moveTo>
                  <a:pt x="1422" y="0"/>
                </a:moveTo>
                <a:lnTo>
                  <a:pt x="1492" y="0"/>
                </a:lnTo>
                <a:lnTo>
                  <a:pt x="1492" y="24"/>
                </a:lnTo>
                <a:lnTo>
                  <a:pt x="1422" y="24"/>
                </a:lnTo>
                <a:lnTo>
                  <a:pt x="1422" y="0"/>
                </a:lnTo>
                <a:moveTo>
                  <a:pt x="1541" y="0"/>
                </a:moveTo>
                <a:lnTo>
                  <a:pt x="1610" y="0"/>
                </a:lnTo>
                <a:lnTo>
                  <a:pt x="1610" y="24"/>
                </a:lnTo>
                <a:lnTo>
                  <a:pt x="1541" y="24"/>
                </a:lnTo>
                <a:lnTo>
                  <a:pt x="1541" y="0"/>
                </a:lnTo>
                <a:moveTo>
                  <a:pt x="1659" y="0"/>
                </a:moveTo>
                <a:lnTo>
                  <a:pt x="1729" y="0"/>
                </a:lnTo>
                <a:lnTo>
                  <a:pt x="1729" y="24"/>
                </a:lnTo>
                <a:lnTo>
                  <a:pt x="1659" y="24"/>
                </a:lnTo>
                <a:lnTo>
                  <a:pt x="1659" y="0"/>
                </a:lnTo>
                <a:moveTo>
                  <a:pt x="1778" y="0"/>
                </a:moveTo>
                <a:lnTo>
                  <a:pt x="1847" y="0"/>
                </a:lnTo>
                <a:lnTo>
                  <a:pt x="1847" y="24"/>
                </a:lnTo>
                <a:lnTo>
                  <a:pt x="1778" y="24"/>
                </a:lnTo>
                <a:lnTo>
                  <a:pt x="1778" y="0"/>
                </a:lnTo>
                <a:moveTo>
                  <a:pt x="1896" y="0"/>
                </a:moveTo>
                <a:lnTo>
                  <a:pt x="1966" y="0"/>
                </a:lnTo>
                <a:lnTo>
                  <a:pt x="1966" y="24"/>
                </a:lnTo>
                <a:lnTo>
                  <a:pt x="1896" y="24"/>
                </a:lnTo>
                <a:lnTo>
                  <a:pt x="1896" y="0"/>
                </a:lnTo>
                <a:moveTo>
                  <a:pt x="2015" y="0"/>
                </a:moveTo>
                <a:lnTo>
                  <a:pt x="2085" y="0"/>
                </a:lnTo>
                <a:lnTo>
                  <a:pt x="2085" y="24"/>
                </a:lnTo>
                <a:lnTo>
                  <a:pt x="2015" y="24"/>
                </a:lnTo>
                <a:lnTo>
                  <a:pt x="2015" y="0"/>
                </a:lnTo>
                <a:moveTo>
                  <a:pt x="2134" y="0"/>
                </a:moveTo>
                <a:lnTo>
                  <a:pt x="2204" y="0"/>
                </a:lnTo>
                <a:lnTo>
                  <a:pt x="2204" y="24"/>
                </a:lnTo>
                <a:lnTo>
                  <a:pt x="2134" y="24"/>
                </a:lnTo>
                <a:lnTo>
                  <a:pt x="2134" y="0"/>
                </a:lnTo>
                <a:moveTo>
                  <a:pt x="2253" y="0"/>
                </a:moveTo>
                <a:lnTo>
                  <a:pt x="2322" y="0"/>
                </a:lnTo>
                <a:lnTo>
                  <a:pt x="2322" y="24"/>
                </a:lnTo>
                <a:lnTo>
                  <a:pt x="2253" y="24"/>
                </a:lnTo>
                <a:lnTo>
                  <a:pt x="2253" y="0"/>
                </a:lnTo>
                <a:close/>
              </a:path>
            </a:pathLst>
          </a:custGeom>
          <a:solidFill>
            <a:srgbClr val="ff8c00"/>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111" name=""/>
          <p:cNvSpPr txBox="1"/>
          <p:nvPr/>
        </p:nvSpPr>
        <p:spPr>
          <a:xfrm>
            <a:off x="1850760" y="3618360"/>
            <a:ext cx="235440" cy="169560"/>
          </a:xfrm>
          <a:prstGeom prst="rect">
            <a:avLst/>
          </a:prstGeom>
          <a:noFill/>
          <a:ln w="0">
            <a:noFill/>
          </a:ln>
        </p:spPr>
        <p:txBody>
          <a:bodyPr wrap="none" lIns="0" rIns="0" tIns="0" bIns="0" anchor="t">
            <a:spAutoFit/>
          </a:bodyPr>
          <a:p>
            <a:r>
              <a:rPr b="0" lang="zh-CN" sz="920" strike="noStrike" u="none">
                <a:solidFill>
                  <a:srgbClr val="ffffff"/>
                </a:solidFill>
                <a:effectLst/>
                <a:uFillTx/>
                <a:latin typeface="NotoSansJP"/>
                <a:ea typeface="NotoSansJP"/>
              </a:rPr>
              <a:t>物体</a:t>
            </a:r>
            <a:endParaRPr b="0" lang="en-US" sz="920" strike="noStrike" u="none">
              <a:solidFill>
                <a:srgbClr val="000000"/>
              </a:solidFill>
              <a:effectLst/>
              <a:uFillTx/>
              <a:latin typeface="Times New Roman"/>
            </a:endParaRPr>
          </a:p>
        </p:txBody>
      </p:sp>
      <p:pic>
        <p:nvPicPr>
          <p:cNvPr id="112" name="" descr=""/>
          <p:cNvPicPr/>
          <p:nvPr/>
        </p:nvPicPr>
        <p:blipFill>
          <a:blip r:embed="rId5"/>
          <a:stretch/>
        </p:blipFill>
        <p:spPr>
          <a:xfrm>
            <a:off x="2005560" y="3643560"/>
            <a:ext cx="150120" cy="267120"/>
          </a:xfrm>
          <a:prstGeom prst="rect">
            <a:avLst/>
          </a:prstGeom>
          <a:noFill/>
          <a:ln w="0">
            <a:noFill/>
          </a:ln>
        </p:spPr>
      </p:pic>
      <p:sp>
        <p:nvSpPr>
          <p:cNvPr id="113" name=""/>
          <p:cNvSpPr txBox="1"/>
          <p:nvPr/>
        </p:nvSpPr>
        <p:spPr>
          <a:xfrm>
            <a:off x="3020760" y="3401280"/>
            <a:ext cx="116640" cy="136080"/>
          </a:xfrm>
          <a:prstGeom prst="rect">
            <a:avLst/>
          </a:prstGeom>
          <a:noFill/>
          <a:ln w="0">
            <a:noFill/>
          </a:ln>
        </p:spPr>
        <p:txBody>
          <a:bodyPr wrap="none" lIns="0" rIns="0" tIns="0" bIns="0" anchor="t">
            <a:spAutoFit/>
          </a:bodyPr>
          <a:p>
            <a:r>
              <a:rPr b="0" lang="en-US" sz="920" strike="noStrike" u="none">
                <a:solidFill>
                  <a:srgbClr val="ffffff"/>
                </a:solidFill>
                <a:effectLst/>
                <a:uFillTx/>
                <a:latin typeface="NotoSansJP"/>
                <a:ea typeface="NotoSansJP"/>
              </a:rPr>
              <a:t>O</a:t>
            </a:r>
            <a:endParaRPr b="0" lang="en-US" sz="920" strike="noStrike" u="none">
              <a:solidFill>
                <a:srgbClr val="000000"/>
              </a:solidFill>
              <a:effectLst/>
              <a:uFillTx/>
              <a:latin typeface="Times New Roman"/>
            </a:endParaRPr>
          </a:p>
        </p:txBody>
      </p:sp>
      <p:sp>
        <p:nvSpPr>
          <p:cNvPr id="114" name=""/>
          <p:cNvSpPr/>
          <p:nvPr/>
        </p:nvSpPr>
        <p:spPr>
          <a:xfrm>
            <a:off x="2180880" y="4019400"/>
            <a:ext cx="835920" cy="8640"/>
          </a:xfrm>
          <a:custGeom>
            <a:avLst/>
            <a:gdLst/>
            <a:ahLst/>
            <a:rect l="0" t="0" r="r" b="b"/>
            <a:pathLst>
              <a:path w="2322" h="24">
                <a:moveTo>
                  <a:pt x="0" y="0"/>
                </a:moveTo>
                <a:lnTo>
                  <a:pt x="70" y="0"/>
                </a:lnTo>
                <a:lnTo>
                  <a:pt x="70" y="24"/>
                </a:lnTo>
                <a:lnTo>
                  <a:pt x="0" y="24"/>
                </a:lnTo>
                <a:lnTo>
                  <a:pt x="0" y="0"/>
                </a:lnTo>
                <a:moveTo>
                  <a:pt x="119" y="0"/>
                </a:moveTo>
                <a:lnTo>
                  <a:pt x="188" y="0"/>
                </a:lnTo>
                <a:lnTo>
                  <a:pt x="188" y="24"/>
                </a:lnTo>
                <a:lnTo>
                  <a:pt x="119" y="24"/>
                </a:lnTo>
                <a:lnTo>
                  <a:pt x="119" y="0"/>
                </a:lnTo>
                <a:moveTo>
                  <a:pt x="237" y="0"/>
                </a:moveTo>
                <a:lnTo>
                  <a:pt x="307" y="0"/>
                </a:lnTo>
                <a:lnTo>
                  <a:pt x="307" y="24"/>
                </a:lnTo>
                <a:lnTo>
                  <a:pt x="237" y="24"/>
                </a:lnTo>
                <a:lnTo>
                  <a:pt x="237" y="0"/>
                </a:lnTo>
                <a:moveTo>
                  <a:pt x="356" y="0"/>
                </a:moveTo>
                <a:lnTo>
                  <a:pt x="425" y="0"/>
                </a:lnTo>
                <a:lnTo>
                  <a:pt x="425" y="24"/>
                </a:lnTo>
                <a:lnTo>
                  <a:pt x="356" y="24"/>
                </a:lnTo>
                <a:lnTo>
                  <a:pt x="356" y="0"/>
                </a:lnTo>
                <a:moveTo>
                  <a:pt x="474" y="0"/>
                </a:moveTo>
                <a:lnTo>
                  <a:pt x="544" y="0"/>
                </a:lnTo>
                <a:lnTo>
                  <a:pt x="544" y="24"/>
                </a:lnTo>
                <a:lnTo>
                  <a:pt x="474" y="24"/>
                </a:lnTo>
                <a:lnTo>
                  <a:pt x="474" y="0"/>
                </a:lnTo>
                <a:moveTo>
                  <a:pt x="593" y="0"/>
                </a:moveTo>
                <a:lnTo>
                  <a:pt x="662" y="0"/>
                </a:lnTo>
                <a:lnTo>
                  <a:pt x="662" y="24"/>
                </a:lnTo>
                <a:lnTo>
                  <a:pt x="593" y="24"/>
                </a:lnTo>
                <a:lnTo>
                  <a:pt x="593" y="0"/>
                </a:lnTo>
                <a:moveTo>
                  <a:pt x="711" y="0"/>
                </a:moveTo>
                <a:lnTo>
                  <a:pt x="781" y="0"/>
                </a:lnTo>
                <a:lnTo>
                  <a:pt x="781" y="24"/>
                </a:lnTo>
                <a:lnTo>
                  <a:pt x="711" y="24"/>
                </a:lnTo>
                <a:lnTo>
                  <a:pt x="711" y="0"/>
                </a:lnTo>
                <a:moveTo>
                  <a:pt x="830" y="0"/>
                </a:moveTo>
                <a:lnTo>
                  <a:pt x="899" y="0"/>
                </a:lnTo>
                <a:lnTo>
                  <a:pt x="899" y="24"/>
                </a:lnTo>
                <a:lnTo>
                  <a:pt x="830" y="24"/>
                </a:lnTo>
                <a:lnTo>
                  <a:pt x="830" y="0"/>
                </a:lnTo>
                <a:moveTo>
                  <a:pt x="948" y="0"/>
                </a:moveTo>
                <a:lnTo>
                  <a:pt x="1018" y="0"/>
                </a:lnTo>
                <a:lnTo>
                  <a:pt x="1018" y="24"/>
                </a:lnTo>
                <a:lnTo>
                  <a:pt x="948" y="24"/>
                </a:lnTo>
                <a:lnTo>
                  <a:pt x="948" y="0"/>
                </a:lnTo>
                <a:moveTo>
                  <a:pt x="1067" y="0"/>
                </a:moveTo>
                <a:lnTo>
                  <a:pt x="1136" y="0"/>
                </a:lnTo>
                <a:lnTo>
                  <a:pt x="1136" y="24"/>
                </a:lnTo>
                <a:lnTo>
                  <a:pt x="1067" y="24"/>
                </a:lnTo>
                <a:lnTo>
                  <a:pt x="1067" y="0"/>
                </a:lnTo>
                <a:moveTo>
                  <a:pt x="1185" y="0"/>
                </a:moveTo>
                <a:lnTo>
                  <a:pt x="1255" y="0"/>
                </a:lnTo>
                <a:lnTo>
                  <a:pt x="1255" y="24"/>
                </a:lnTo>
                <a:lnTo>
                  <a:pt x="1185" y="24"/>
                </a:lnTo>
                <a:lnTo>
                  <a:pt x="1185" y="0"/>
                </a:lnTo>
                <a:moveTo>
                  <a:pt x="1304" y="0"/>
                </a:moveTo>
                <a:lnTo>
                  <a:pt x="1373" y="0"/>
                </a:lnTo>
                <a:lnTo>
                  <a:pt x="1373" y="24"/>
                </a:lnTo>
                <a:lnTo>
                  <a:pt x="1304" y="24"/>
                </a:lnTo>
                <a:lnTo>
                  <a:pt x="1304" y="0"/>
                </a:lnTo>
                <a:moveTo>
                  <a:pt x="1422" y="0"/>
                </a:moveTo>
                <a:lnTo>
                  <a:pt x="1492" y="0"/>
                </a:lnTo>
                <a:lnTo>
                  <a:pt x="1492" y="24"/>
                </a:lnTo>
                <a:lnTo>
                  <a:pt x="1422" y="24"/>
                </a:lnTo>
                <a:lnTo>
                  <a:pt x="1422" y="0"/>
                </a:lnTo>
                <a:moveTo>
                  <a:pt x="1541" y="0"/>
                </a:moveTo>
                <a:lnTo>
                  <a:pt x="1610" y="0"/>
                </a:lnTo>
                <a:lnTo>
                  <a:pt x="1610" y="24"/>
                </a:lnTo>
                <a:lnTo>
                  <a:pt x="1541" y="24"/>
                </a:lnTo>
                <a:lnTo>
                  <a:pt x="1541" y="0"/>
                </a:lnTo>
                <a:moveTo>
                  <a:pt x="1659" y="0"/>
                </a:moveTo>
                <a:lnTo>
                  <a:pt x="1729" y="0"/>
                </a:lnTo>
                <a:lnTo>
                  <a:pt x="1729" y="24"/>
                </a:lnTo>
                <a:lnTo>
                  <a:pt x="1659" y="24"/>
                </a:lnTo>
                <a:lnTo>
                  <a:pt x="1659" y="0"/>
                </a:lnTo>
                <a:moveTo>
                  <a:pt x="1778" y="0"/>
                </a:moveTo>
                <a:lnTo>
                  <a:pt x="1847" y="0"/>
                </a:lnTo>
                <a:lnTo>
                  <a:pt x="1847" y="24"/>
                </a:lnTo>
                <a:lnTo>
                  <a:pt x="1778" y="24"/>
                </a:lnTo>
                <a:lnTo>
                  <a:pt x="1778" y="0"/>
                </a:lnTo>
                <a:moveTo>
                  <a:pt x="1896" y="0"/>
                </a:moveTo>
                <a:lnTo>
                  <a:pt x="1966" y="0"/>
                </a:lnTo>
                <a:lnTo>
                  <a:pt x="1966" y="24"/>
                </a:lnTo>
                <a:lnTo>
                  <a:pt x="1896" y="24"/>
                </a:lnTo>
                <a:lnTo>
                  <a:pt x="1896" y="0"/>
                </a:lnTo>
                <a:moveTo>
                  <a:pt x="2015" y="0"/>
                </a:moveTo>
                <a:lnTo>
                  <a:pt x="2085" y="0"/>
                </a:lnTo>
                <a:lnTo>
                  <a:pt x="2085" y="24"/>
                </a:lnTo>
                <a:lnTo>
                  <a:pt x="2015" y="24"/>
                </a:lnTo>
                <a:lnTo>
                  <a:pt x="2015" y="0"/>
                </a:lnTo>
                <a:moveTo>
                  <a:pt x="2134" y="0"/>
                </a:moveTo>
                <a:lnTo>
                  <a:pt x="2204" y="0"/>
                </a:lnTo>
                <a:lnTo>
                  <a:pt x="2204" y="24"/>
                </a:lnTo>
                <a:lnTo>
                  <a:pt x="2134" y="24"/>
                </a:lnTo>
                <a:lnTo>
                  <a:pt x="2134" y="0"/>
                </a:lnTo>
                <a:moveTo>
                  <a:pt x="2253" y="0"/>
                </a:moveTo>
                <a:lnTo>
                  <a:pt x="2322" y="0"/>
                </a:lnTo>
                <a:lnTo>
                  <a:pt x="2322" y="24"/>
                </a:lnTo>
                <a:lnTo>
                  <a:pt x="2253" y="24"/>
                </a:lnTo>
                <a:lnTo>
                  <a:pt x="2253" y="0"/>
                </a:lnTo>
                <a:close/>
              </a:path>
            </a:pathLst>
          </a:custGeom>
          <a:solidFill>
            <a:srgbClr val="a7c6d9"/>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115" name=""/>
          <p:cNvSpPr txBox="1"/>
          <p:nvPr/>
        </p:nvSpPr>
        <p:spPr>
          <a:xfrm>
            <a:off x="1850760" y="3969360"/>
            <a:ext cx="470160" cy="169560"/>
          </a:xfrm>
          <a:prstGeom prst="rect">
            <a:avLst/>
          </a:prstGeom>
          <a:noFill/>
          <a:ln w="0">
            <a:noFill/>
          </a:ln>
        </p:spPr>
        <p:txBody>
          <a:bodyPr wrap="none" lIns="0" rIns="0" tIns="0" bIns="0" anchor="t">
            <a:spAutoFit/>
          </a:bodyPr>
          <a:p>
            <a:r>
              <a:rPr b="0" lang="zh-CN" sz="920" strike="noStrike" u="none">
                <a:solidFill>
                  <a:srgbClr val="ffffff"/>
                </a:solidFill>
                <a:effectLst/>
                <a:uFillTx/>
                <a:latin typeface="NotoSansJP"/>
                <a:ea typeface="NotoSansJP"/>
              </a:rPr>
              <a:t>参照光源</a:t>
            </a:r>
            <a:endParaRPr b="0" lang="en-US" sz="920" strike="noStrike" u="none">
              <a:solidFill>
                <a:srgbClr val="000000"/>
              </a:solidFill>
              <a:effectLst/>
              <a:uFillTx/>
              <a:latin typeface="Times New Roman"/>
            </a:endParaRPr>
          </a:p>
        </p:txBody>
      </p:sp>
      <p:sp>
        <p:nvSpPr>
          <p:cNvPr id="116" name=""/>
          <p:cNvSpPr txBox="1"/>
          <p:nvPr/>
        </p:nvSpPr>
        <p:spPr>
          <a:xfrm>
            <a:off x="3020760" y="3885840"/>
            <a:ext cx="116640" cy="136080"/>
          </a:xfrm>
          <a:prstGeom prst="rect">
            <a:avLst/>
          </a:prstGeom>
          <a:noFill/>
          <a:ln w="0">
            <a:noFill/>
          </a:ln>
        </p:spPr>
        <p:txBody>
          <a:bodyPr wrap="none" lIns="0" rIns="0" tIns="0" bIns="0" anchor="t">
            <a:spAutoFit/>
          </a:bodyPr>
          <a:p>
            <a:r>
              <a:rPr b="0" lang="en-US" sz="920" strike="noStrike" u="none">
                <a:solidFill>
                  <a:srgbClr val="ffffff"/>
                </a:solidFill>
                <a:effectLst/>
                <a:uFillTx/>
                <a:latin typeface="NotoSansJP"/>
                <a:ea typeface="NotoSansJP"/>
              </a:rPr>
              <a:t>R</a:t>
            </a:r>
            <a:endParaRPr b="0" lang="en-US" sz="920" strike="noStrike" u="none">
              <a:solidFill>
                <a:srgbClr val="000000"/>
              </a:solidFill>
              <a:effectLst/>
              <a:uFillTx/>
              <a:latin typeface="Times New Roman"/>
            </a:endParaRPr>
          </a:p>
        </p:txBody>
      </p:sp>
      <p:pic>
        <p:nvPicPr>
          <p:cNvPr id="117" name="" descr=""/>
          <p:cNvPicPr/>
          <p:nvPr/>
        </p:nvPicPr>
        <p:blipFill>
          <a:blip r:embed="rId6"/>
          <a:stretch/>
        </p:blipFill>
        <p:spPr>
          <a:xfrm>
            <a:off x="3443040" y="3710520"/>
            <a:ext cx="200160" cy="267120"/>
          </a:xfrm>
          <a:prstGeom prst="rect">
            <a:avLst/>
          </a:prstGeom>
          <a:noFill/>
          <a:ln w="0">
            <a:noFill/>
          </a:ln>
        </p:spPr>
      </p:pic>
      <p:sp>
        <p:nvSpPr>
          <p:cNvPr id="118" name=""/>
          <p:cNvSpPr txBox="1"/>
          <p:nvPr/>
        </p:nvSpPr>
        <p:spPr>
          <a:xfrm>
            <a:off x="3096000" y="3929760"/>
            <a:ext cx="137520" cy="100800"/>
          </a:xfrm>
          <a:prstGeom prst="rect">
            <a:avLst/>
          </a:prstGeom>
          <a:noFill/>
          <a:ln w="0">
            <a:noFill/>
          </a:ln>
        </p:spPr>
        <p:txBody>
          <a:bodyPr wrap="none" lIns="0" rIns="0" tIns="0" bIns="0" anchor="t">
            <a:spAutoFit/>
          </a:bodyPr>
          <a:p>
            <a:r>
              <a:rPr b="0" lang="en-US" sz="690" strike="noStrike" u="none">
                <a:solidFill>
                  <a:srgbClr val="ffffff"/>
                </a:solidFill>
                <a:effectLst/>
                <a:uFillTx/>
                <a:latin typeface="NotoSansJP"/>
                <a:ea typeface="NotoSansJP"/>
              </a:rPr>
              <a:t>rec</a:t>
            </a:r>
            <a:endParaRPr b="0" lang="en-US" sz="690" strike="noStrike" u="none">
              <a:solidFill>
                <a:srgbClr val="000000"/>
              </a:solidFill>
              <a:effectLst/>
              <a:uFillTx/>
              <a:latin typeface="Times New Roman"/>
            </a:endParaRPr>
          </a:p>
        </p:txBody>
      </p:sp>
      <p:sp>
        <p:nvSpPr>
          <p:cNvPr id="119" name=""/>
          <p:cNvSpPr/>
          <p:nvPr/>
        </p:nvSpPr>
        <p:spPr>
          <a:xfrm>
            <a:off x="2983320" y="3376080"/>
            <a:ext cx="16920" cy="668880"/>
          </a:xfrm>
          <a:custGeom>
            <a:avLst/>
            <a:gdLst/>
            <a:ahLst/>
            <a:rect l="0" t="0" r="r" b="b"/>
            <a:pathLst>
              <a:path w="47" h="1858">
                <a:moveTo>
                  <a:pt x="0" y="0"/>
                </a:moveTo>
                <a:lnTo>
                  <a:pt x="47" y="0"/>
                </a:lnTo>
                <a:lnTo>
                  <a:pt x="47" y="1858"/>
                </a:lnTo>
                <a:lnTo>
                  <a:pt x="0" y="1858"/>
                </a:lnTo>
                <a:lnTo>
                  <a:pt x="0" y="0"/>
                </a:lnTo>
                <a:close/>
              </a:path>
            </a:pathLst>
          </a:custGeom>
          <a:solidFill>
            <a:srgbClr val="ffffff"/>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120" name=""/>
          <p:cNvSpPr txBox="1"/>
          <p:nvPr/>
        </p:nvSpPr>
        <p:spPr>
          <a:xfrm>
            <a:off x="3254760" y="4036320"/>
            <a:ext cx="587520" cy="169560"/>
          </a:xfrm>
          <a:prstGeom prst="rect">
            <a:avLst/>
          </a:prstGeom>
          <a:noFill/>
          <a:ln w="0">
            <a:noFill/>
          </a:ln>
        </p:spPr>
        <p:txBody>
          <a:bodyPr wrap="none" lIns="0" rIns="0" tIns="0" bIns="0" anchor="t">
            <a:spAutoFit/>
          </a:bodyPr>
          <a:p>
            <a:r>
              <a:rPr b="0" lang="zh-CN" sz="920" strike="noStrike" u="none">
                <a:solidFill>
                  <a:srgbClr val="ffffff"/>
                </a:solidFill>
                <a:effectLst/>
                <a:uFillTx/>
                <a:latin typeface="NotoSansJP"/>
                <a:ea typeface="NotoSansJP"/>
              </a:rPr>
              <a:t>ホログラム</a:t>
            </a:r>
            <a:endParaRPr b="0" lang="en-US" sz="920" strike="noStrike" u="none">
              <a:solidFill>
                <a:srgbClr val="000000"/>
              </a:solidFill>
              <a:effectLst/>
              <a:uFillTx/>
              <a:latin typeface="Times New Roman"/>
            </a:endParaRPr>
          </a:p>
        </p:txBody>
      </p:sp>
      <p:sp>
        <p:nvSpPr>
          <p:cNvPr id="121" name=""/>
          <p:cNvSpPr txBox="1"/>
          <p:nvPr/>
        </p:nvSpPr>
        <p:spPr>
          <a:xfrm>
            <a:off x="2719800" y="3735360"/>
            <a:ext cx="519840" cy="136080"/>
          </a:xfrm>
          <a:prstGeom prst="rect">
            <a:avLst/>
          </a:prstGeom>
          <a:noFill/>
          <a:ln w="0">
            <a:noFill/>
          </a:ln>
        </p:spPr>
        <p:txBody>
          <a:bodyPr wrap="none" lIns="0" rIns="0" tIns="0" bIns="0" anchor="t">
            <a:spAutoFit/>
          </a:bodyPr>
          <a:p>
            <a:r>
              <a:rPr b="0" lang="en-US" sz="920" strike="noStrike" u="none">
                <a:solidFill>
                  <a:srgbClr val="ffffff"/>
                </a:solidFill>
                <a:effectLst/>
                <a:uFillTx/>
                <a:latin typeface="NotoSansJP"/>
                <a:ea typeface="NotoSansJP"/>
              </a:rPr>
              <a:t>I = |O+R</a:t>
            </a:r>
            <a:endParaRPr b="0" lang="en-US" sz="920" strike="noStrike" u="none">
              <a:solidFill>
                <a:srgbClr val="000000"/>
              </a:solidFill>
              <a:effectLst/>
              <a:uFillTx/>
              <a:latin typeface="Times New Roman"/>
            </a:endParaRPr>
          </a:p>
        </p:txBody>
      </p:sp>
      <p:sp>
        <p:nvSpPr>
          <p:cNvPr id="122" name=""/>
          <p:cNvSpPr txBox="1"/>
          <p:nvPr/>
        </p:nvSpPr>
        <p:spPr>
          <a:xfrm>
            <a:off x="3254760" y="3735360"/>
            <a:ext cx="116640" cy="136080"/>
          </a:xfrm>
          <a:prstGeom prst="rect">
            <a:avLst/>
          </a:prstGeom>
          <a:noFill/>
          <a:ln w="0">
            <a:noFill/>
          </a:ln>
        </p:spPr>
        <p:txBody>
          <a:bodyPr wrap="none" lIns="0" rIns="0" tIns="0" bIns="0" anchor="t">
            <a:spAutoFit/>
          </a:bodyPr>
          <a:p>
            <a:r>
              <a:rPr b="0" lang="en-US" sz="920" strike="noStrike" u="none">
                <a:solidFill>
                  <a:srgbClr val="ffffff"/>
                </a:solidFill>
                <a:effectLst/>
                <a:uFillTx/>
                <a:latin typeface="NotoSansJP"/>
                <a:ea typeface="NotoSansJP"/>
              </a:rPr>
              <a:t>|</a:t>
            </a:r>
            <a:endParaRPr b="0" lang="en-US" sz="920" strike="noStrike" u="none">
              <a:solidFill>
                <a:srgbClr val="000000"/>
              </a:solidFill>
              <a:effectLst/>
              <a:uFillTx/>
              <a:latin typeface="Times New Roman"/>
            </a:endParaRPr>
          </a:p>
        </p:txBody>
      </p:sp>
      <p:sp>
        <p:nvSpPr>
          <p:cNvPr id="123" name=""/>
          <p:cNvSpPr txBox="1"/>
          <p:nvPr/>
        </p:nvSpPr>
        <p:spPr>
          <a:xfrm>
            <a:off x="3129480" y="3779280"/>
            <a:ext cx="137520" cy="100800"/>
          </a:xfrm>
          <a:prstGeom prst="rect">
            <a:avLst/>
          </a:prstGeom>
          <a:noFill/>
          <a:ln w="0">
            <a:noFill/>
          </a:ln>
        </p:spPr>
        <p:txBody>
          <a:bodyPr wrap="none" lIns="0" rIns="0" tIns="0" bIns="0" anchor="t">
            <a:spAutoFit/>
          </a:bodyPr>
          <a:p>
            <a:r>
              <a:rPr b="0" lang="en-US" sz="690" strike="noStrike" u="none">
                <a:solidFill>
                  <a:srgbClr val="ffffff"/>
                </a:solidFill>
                <a:effectLst/>
                <a:uFillTx/>
                <a:latin typeface="NotoSansJP"/>
                <a:ea typeface="NotoSansJP"/>
              </a:rPr>
              <a:t>rec</a:t>
            </a:r>
            <a:endParaRPr b="0" lang="en-US" sz="690" strike="noStrike" u="none">
              <a:solidFill>
                <a:srgbClr val="000000"/>
              </a:solidFill>
              <a:effectLst/>
              <a:uFillTx/>
              <a:latin typeface="Times New Roman"/>
            </a:endParaRPr>
          </a:p>
        </p:txBody>
      </p:sp>
      <p:sp>
        <p:nvSpPr>
          <p:cNvPr id="124" name=""/>
          <p:cNvSpPr txBox="1"/>
          <p:nvPr/>
        </p:nvSpPr>
        <p:spPr>
          <a:xfrm>
            <a:off x="3288240" y="3712680"/>
            <a:ext cx="87480" cy="100800"/>
          </a:xfrm>
          <a:prstGeom prst="rect">
            <a:avLst/>
          </a:prstGeom>
          <a:noFill/>
          <a:ln w="0">
            <a:noFill/>
          </a:ln>
        </p:spPr>
        <p:txBody>
          <a:bodyPr wrap="none" lIns="0" rIns="0" tIns="0" bIns="0" anchor="t">
            <a:spAutoFit/>
          </a:bodyPr>
          <a:p>
            <a:r>
              <a:rPr b="0" lang="en-US" sz="690" strike="noStrike" u="none">
                <a:solidFill>
                  <a:srgbClr val="ffffff"/>
                </a:solidFill>
                <a:effectLst/>
                <a:uFillTx/>
                <a:latin typeface="NotoSansJP"/>
                <a:ea typeface="NotoSansJP"/>
              </a:rPr>
              <a:t>2</a:t>
            </a:r>
            <a:endParaRPr b="0" lang="en-US" sz="690" strike="noStrike" u="none">
              <a:solidFill>
                <a:srgbClr val="000000"/>
              </a:solidFill>
              <a:effectLst/>
              <a:uFillTx/>
              <a:latin typeface="Times New Roman"/>
            </a:endParaRPr>
          </a:p>
        </p:txBody>
      </p:sp>
      <p:sp>
        <p:nvSpPr>
          <p:cNvPr id="125" name=""/>
          <p:cNvSpPr txBox="1"/>
          <p:nvPr/>
        </p:nvSpPr>
        <p:spPr>
          <a:xfrm>
            <a:off x="1922040" y="4595040"/>
            <a:ext cx="159120" cy="117720"/>
          </a:xfrm>
          <a:prstGeom prst="rect">
            <a:avLst/>
          </a:prstGeom>
          <a:noFill/>
          <a:ln w="0">
            <a:noFill/>
          </a:ln>
        </p:spPr>
        <p:txBody>
          <a:bodyPr wrap="none" lIns="0" rIns="0" tIns="0" bIns="0" anchor="t">
            <a:spAutoFit/>
          </a:bodyPr>
          <a:p>
            <a:r>
              <a:rPr b="0" lang="en-US" sz="790" strike="noStrike" u="none">
                <a:solidFill>
                  <a:srgbClr val="a7c6d9"/>
                </a:solidFill>
                <a:effectLst/>
                <a:uFillTx/>
                <a:latin typeface="NotoSansJP"/>
                <a:ea typeface="NotoSansJP"/>
              </a:rPr>
              <a:t>rec</a:t>
            </a:r>
            <a:endParaRPr b="0" lang="en-US" sz="790" strike="noStrike" u="none">
              <a:solidFill>
                <a:srgbClr val="000000"/>
              </a:solidFill>
              <a:effectLst/>
              <a:uFillTx/>
              <a:latin typeface="Times New Roman"/>
            </a:endParaRPr>
          </a:p>
        </p:txBody>
      </p:sp>
      <p:sp>
        <p:nvSpPr>
          <p:cNvPr id="126" name=""/>
          <p:cNvSpPr txBox="1"/>
          <p:nvPr/>
        </p:nvSpPr>
        <p:spPr>
          <a:xfrm>
            <a:off x="4078080" y="4595040"/>
            <a:ext cx="159120" cy="117720"/>
          </a:xfrm>
          <a:prstGeom prst="rect">
            <a:avLst/>
          </a:prstGeom>
          <a:noFill/>
          <a:ln w="0">
            <a:noFill/>
          </a:ln>
        </p:spPr>
        <p:txBody>
          <a:bodyPr wrap="none" lIns="0" rIns="0" tIns="0" bIns="0" anchor="t">
            <a:spAutoFit/>
          </a:bodyPr>
          <a:p>
            <a:r>
              <a:rPr b="0" lang="en-US" sz="790" strike="noStrike" u="none">
                <a:solidFill>
                  <a:srgbClr val="a7c6d9"/>
                </a:solidFill>
                <a:effectLst/>
                <a:uFillTx/>
                <a:latin typeface="NotoSansJP"/>
                <a:ea typeface="NotoSansJP"/>
              </a:rPr>
              <a:t>rec</a:t>
            </a:r>
            <a:endParaRPr b="0" lang="en-US" sz="790" strike="noStrike" u="none">
              <a:solidFill>
                <a:srgbClr val="000000"/>
              </a:solidFill>
              <a:effectLst/>
              <a:uFillTx/>
              <a:latin typeface="Times New Roman"/>
            </a:endParaRPr>
          </a:p>
        </p:txBody>
      </p:sp>
      <p:sp>
        <p:nvSpPr>
          <p:cNvPr id="127" name=""/>
          <p:cNvSpPr/>
          <p:nvPr/>
        </p:nvSpPr>
        <p:spPr>
          <a:xfrm>
            <a:off x="6522120" y="3037320"/>
            <a:ext cx="2666160" cy="1329120"/>
          </a:xfrm>
          <a:custGeom>
            <a:avLst/>
            <a:gdLst/>
            <a:ahLst/>
            <a:rect l="0" t="0" r="r" b="b"/>
            <a:pathLst>
              <a:path fill="none" w="7406" h="3692">
                <a:moveTo>
                  <a:pt x="0" y="3518"/>
                </a:moveTo>
                <a:lnTo>
                  <a:pt x="0" y="175"/>
                </a:lnTo>
                <a:cubicBezTo>
                  <a:pt x="0" y="163"/>
                  <a:pt x="1" y="152"/>
                  <a:pt x="4" y="141"/>
                </a:cubicBezTo>
                <a:cubicBezTo>
                  <a:pt x="6" y="129"/>
                  <a:pt x="9" y="118"/>
                  <a:pt x="14" y="108"/>
                </a:cubicBezTo>
                <a:cubicBezTo>
                  <a:pt x="18" y="97"/>
                  <a:pt x="23" y="87"/>
                  <a:pt x="30" y="78"/>
                </a:cubicBezTo>
                <a:cubicBezTo>
                  <a:pt x="36" y="68"/>
                  <a:pt x="43" y="60"/>
                  <a:pt x="51" y="51"/>
                </a:cubicBezTo>
                <a:cubicBezTo>
                  <a:pt x="59" y="43"/>
                  <a:pt x="68" y="36"/>
                  <a:pt x="78" y="30"/>
                </a:cubicBezTo>
                <a:cubicBezTo>
                  <a:pt x="87" y="23"/>
                  <a:pt x="97" y="18"/>
                  <a:pt x="108" y="14"/>
                </a:cubicBezTo>
                <a:cubicBezTo>
                  <a:pt x="118" y="9"/>
                  <a:pt x="129" y="6"/>
                  <a:pt x="140" y="4"/>
                </a:cubicBezTo>
                <a:cubicBezTo>
                  <a:pt x="152" y="2"/>
                  <a:pt x="163" y="0"/>
                  <a:pt x="174" y="0"/>
                </a:cubicBezTo>
                <a:lnTo>
                  <a:pt x="7232" y="0"/>
                </a:lnTo>
                <a:cubicBezTo>
                  <a:pt x="7244" y="0"/>
                  <a:pt x="7255" y="2"/>
                  <a:pt x="7266" y="4"/>
                </a:cubicBezTo>
                <a:cubicBezTo>
                  <a:pt x="7277" y="6"/>
                  <a:pt x="7288" y="9"/>
                  <a:pt x="7299" y="14"/>
                </a:cubicBezTo>
                <a:cubicBezTo>
                  <a:pt x="7309" y="18"/>
                  <a:pt x="7319" y="23"/>
                  <a:pt x="7329" y="30"/>
                </a:cubicBezTo>
                <a:cubicBezTo>
                  <a:pt x="7338" y="36"/>
                  <a:pt x="7347" y="43"/>
                  <a:pt x="7355" y="51"/>
                </a:cubicBezTo>
                <a:cubicBezTo>
                  <a:pt x="7363" y="60"/>
                  <a:pt x="7371" y="68"/>
                  <a:pt x="7377" y="78"/>
                </a:cubicBezTo>
                <a:cubicBezTo>
                  <a:pt x="7383" y="87"/>
                  <a:pt x="7389" y="97"/>
                  <a:pt x="7393" y="108"/>
                </a:cubicBezTo>
                <a:cubicBezTo>
                  <a:pt x="7397" y="118"/>
                  <a:pt x="7401" y="129"/>
                  <a:pt x="7403" y="141"/>
                </a:cubicBezTo>
                <a:cubicBezTo>
                  <a:pt x="7405" y="152"/>
                  <a:pt x="7406" y="163"/>
                  <a:pt x="7406" y="175"/>
                </a:cubicBezTo>
                <a:lnTo>
                  <a:pt x="7406" y="3518"/>
                </a:lnTo>
                <a:cubicBezTo>
                  <a:pt x="7406" y="3530"/>
                  <a:pt x="7405" y="3541"/>
                  <a:pt x="7403" y="3552"/>
                </a:cubicBezTo>
                <a:cubicBezTo>
                  <a:pt x="7401" y="3563"/>
                  <a:pt x="7397" y="3574"/>
                  <a:pt x="7393" y="3585"/>
                </a:cubicBezTo>
                <a:cubicBezTo>
                  <a:pt x="7389" y="3595"/>
                  <a:pt x="7383" y="3605"/>
                  <a:pt x="7377" y="3615"/>
                </a:cubicBezTo>
                <a:cubicBezTo>
                  <a:pt x="7371" y="3624"/>
                  <a:pt x="7363" y="3633"/>
                  <a:pt x="7355" y="3641"/>
                </a:cubicBezTo>
                <a:cubicBezTo>
                  <a:pt x="7347" y="3649"/>
                  <a:pt x="7338" y="3657"/>
                  <a:pt x="7329" y="3663"/>
                </a:cubicBezTo>
                <a:cubicBezTo>
                  <a:pt x="7319" y="3669"/>
                  <a:pt x="7309" y="3675"/>
                  <a:pt x="7299" y="3679"/>
                </a:cubicBezTo>
                <a:cubicBezTo>
                  <a:pt x="7288" y="3683"/>
                  <a:pt x="7277" y="3687"/>
                  <a:pt x="7266" y="3689"/>
                </a:cubicBezTo>
                <a:cubicBezTo>
                  <a:pt x="7255" y="3691"/>
                  <a:pt x="7244" y="3692"/>
                  <a:pt x="7232" y="3692"/>
                </a:cubicBezTo>
                <a:lnTo>
                  <a:pt x="174" y="3692"/>
                </a:lnTo>
                <a:cubicBezTo>
                  <a:pt x="163" y="3692"/>
                  <a:pt x="152" y="3691"/>
                  <a:pt x="140" y="3689"/>
                </a:cubicBezTo>
                <a:cubicBezTo>
                  <a:pt x="129" y="3687"/>
                  <a:pt x="118" y="3683"/>
                  <a:pt x="108" y="3679"/>
                </a:cubicBezTo>
                <a:cubicBezTo>
                  <a:pt x="97" y="3675"/>
                  <a:pt x="87" y="3669"/>
                  <a:pt x="78" y="3663"/>
                </a:cubicBezTo>
                <a:cubicBezTo>
                  <a:pt x="68" y="3657"/>
                  <a:pt x="59" y="3649"/>
                  <a:pt x="51" y="3641"/>
                </a:cubicBezTo>
                <a:cubicBezTo>
                  <a:pt x="43" y="3633"/>
                  <a:pt x="36" y="3624"/>
                  <a:pt x="30" y="3615"/>
                </a:cubicBezTo>
                <a:cubicBezTo>
                  <a:pt x="23" y="3605"/>
                  <a:pt x="18" y="3595"/>
                  <a:pt x="14" y="3585"/>
                </a:cubicBezTo>
                <a:cubicBezTo>
                  <a:pt x="9" y="3574"/>
                  <a:pt x="6" y="3563"/>
                  <a:pt x="4" y="3552"/>
                </a:cubicBezTo>
                <a:cubicBezTo>
                  <a:pt x="1" y="3541"/>
                  <a:pt x="0" y="3530"/>
                  <a:pt x="0" y="3518"/>
                </a:cubicBezTo>
              </a:path>
            </a:pathLst>
          </a:custGeom>
          <a:ln w="8280">
            <a:solidFill>
              <a:srgbClr val="a7c6d9"/>
            </a:solidFill>
            <a:miter/>
          </a:ln>
        </p:spPr>
        <p:txBody>
          <a:bodyPr lIns="3960" rIns="3960" tIns="3960" bIns="3960" anchor="t">
            <a:noAutofit/>
          </a:bodyPr>
          <a:p>
            <a:endParaRPr b="0" lang="en-US" sz="2400" strike="noStrike" u="none">
              <a:solidFill>
                <a:srgbClr val="000000"/>
              </a:solidFill>
              <a:effectLst/>
              <a:uFillTx/>
              <a:latin typeface="Times New Roman"/>
            </a:endParaRPr>
          </a:p>
        </p:txBody>
      </p:sp>
      <p:pic>
        <p:nvPicPr>
          <p:cNvPr id="128" name="" descr=""/>
          <p:cNvPicPr/>
          <p:nvPr/>
        </p:nvPicPr>
        <p:blipFill>
          <a:blip r:embed="rId7"/>
          <a:stretch/>
        </p:blipFill>
        <p:spPr>
          <a:xfrm>
            <a:off x="7019640" y="3643560"/>
            <a:ext cx="150120" cy="267120"/>
          </a:xfrm>
          <a:prstGeom prst="rect">
            <a:avLst/>
          </a:prstGeom>
          <a:noFill/>
          <a:ln w="0">
            <a:noFill/>
          </a:ln>
        </p:spPr>
      </p:pic>
      <p:sp>
        <p:nvSpPr>
          <p:cNvPr id="129" name=""/>
          <p:cNvSpPr txBox="1"/>
          <p:nvPr/>
        </p:nvSpPr>
        <p:spPr>
          <a:xfrm>
            <a:off x="4262040" y="4519800"/>
            <a:ext cx="100080" cy="117720"/>
          </a:xfrm>
          <a:prstGeom prst="rect">
            <a:avLst/>
          </a:prstGeom>
          <a:noFill/>
          <a:ln w="0">
            <a:noFill/>
          </a:ln>
        </p:spPr>
        <p:txBody>
          <a:bodyPr wrap="none" lIns="0" rIns="0" tIns="0" bIns="0" anchor="t">
            <a:spAutoFit/>
          </a:bodyPr>
          <a:p>
            <a:r>
              <a:rPr b="0" lang="en-US" sz="790" strike="noStrike" u="none">
                <a:solidFill>
                  <a:srgbClr val="a7c6d9"/>
                </a:solidFill>
                <a:effectLst/>
                <a:uFillTx/>
                <a:latin typeface="NotoSansJP"/>
                <a:ea typeface="NotoSansJP"/>
              </a:rPr>
              <a:t>2</a:t>
            </a:r>
            <a:endParaRPr b="0" lang="en-US" sz="790" strike="noStrike" u="none">
              <a:solidFill>
                <a:srgbClr val="000000"/>
              </a:solidFill>
              <a:effectLst/>
              <a:uFillTx/>
              <a:latin typeface="Times New Roman"/>
            </a:endParaRPr>
          </a:p>
        </p:txBody>
      </p:sp>
      <p:sp>
        <p:nvSpPr>
          <p:cNvPr id="130" name=""/>
          <p:cNvSpPr/>
          <p:nvPr/>
        </p:nvSpPr>
        <p:spPr>
          <a:xfrm>
            <a:off x="7194960" y="4019400"/>
            <a:ext cx="501840" cy="8640"/>
          </a:xfrm>
          <a:custGeom>
            <a:avLst/>
            <a:gdLst/>
            <a:ahLst/>
            <a:rect l="0" t="0" r="r" b="b"/>
            <a:pathLst>
              <a:path w="1394" h="24">
                <a:moveTo>
                  <a:pt x="0" y="0"/>
                </a:moveTo>
                <a:lnTo>
                  <a:pt x="70" y="0"/>
                </a:lnTo>
                <a:lnTo>
                  <a:pt x="70" y="24"/>
                </a:lnTo>
                <a:lnTo>
                  <a:pt x="0" y="24"/>
                </a:lnTo>
                <a:lnTo>
                  <a:pt x="0" y="0"/>
                </a:lnTo>
                <a:moveTo>
                  <a:pt x="120" y="0"/>
                </a:moveTo>
                <a:lnTo>
                  <a:pt x="190" y="0"/>
                </a:lnTo>
                <a:lnTo>
                  <a:pt x="190" y="24"/>
                </a:lnTo>
                <a:lnTo>
                  <a:pt x="120" y="24"/>
                </a:lnTo>
                <a:lnTo>
                  <a:pt x="120" y="0"/>
                </a:lnTo>
                <a:moveTo>
                  <a:pt x="242" y="0"/>
                </a:moveTo>
                <a:lnTo>
                  <a:pt x="311" y="0"/>
                </a:lnTo>
                <a:lnTo>
                  <a:pt x="311" y="24"/>
                </a:lnTo>
                <a:lnTo>
                  <a:pt x="242" y="24"/>
                </a:lnTo>
                <a:lnTo>
                  <a:pt x="242" y="0"/>
                </a:lnTo>
                <a:moveTo>
                  <a:pt x="362" y="0"/>
                </a:moveTo>
                <a:lnTo>
                  <a:pt x="431" y="0"/>
                </a:lnTo>
                <a:lnTo>
                  <a:pt x="431" y="24"/>
                </a:lnTo>
                <a:lnTo>
                  <a:pt x="362" y="24"/>
                </a:lnTo>
                <a:lnTo>
                  <a:pt x="362" y="0"/>
                </a:lnTo>
                <a:moveTo>
                  <a:pt x="482" y="0"/>
                </a:moveTo>
                <a:lnTo>
                  <a:pt x="552" y="0"/>
                </a:lnTo>
                <a:lnTo>
                  <a:pt x="552" y="24"/>
                </a:lnTo>
                <a:lnTo>
                  <a:pt x="482" y="24"/>
                </a:lnTo>
                <a:lnTo>
                  <a:pt x="482" y="0"/>
                </a:lnTo>
                <a:moveTo>
                  <a:pt x="602" y="0"/>
                </a:moveTo>
                <a:lnTo>
                  <a:pt x="672" y="0"/>
                </a:lnTo>
                <a:lnTo>
                  <a:pt x="672" y="24"/>
                </a:lnTo>
                <a:lnTo>
                  <a:pt x="602" y="24"/>
                </a:lnTo>
                <a:lnTo>
                  <a:pt x="602" y="0"/>
                </a:lnTo>
                <a:moveTo>
                  <a:pt x="723" y="0"/>
                </a:moveTo>
                <a:lnTo>
                  <a:pt x="792" y="0"/>
                </a:lnTo>
                <a:lnTo>
                  <a:pt x="792" y="24"/>
                </a:lnTo>
                <a:lnTo>
                  <a:pt x="723" y="24"/>
                </a:lnTo>
                <a:lnTo>
                  <a:pt x="723" y="0"/>
                </a:lnTo>
                <a:moveTo>
                  <a:pt x="843" y="0"/>
                </a:moveTo>
                <a:lnTo>
                  <a:pt x="913" y="0"/>
                </a:lnTo>
                <a:lnTo>
                  <a:pt x="913" y="24"/>
                </a:lnTo>
                <a:lnTo>
                  <a:pt x="843" y="24"/>
                </a:lnTo>
                <a:lnTo>
                  <a:pt x="843" y="0"/>
                </a:lnTo>
                <a:moveTo>
                  <a:pt x="963" y="0"/>
                </a:moveTo>
                <a:lnTo>
                  <a:pt x="1033" y="0"/>
                </a:lnTo>
                <a:lnTo>
                  <a:pt x="1033" y="24"/>
                </a:lnTo>
                <a:lnTo>
                  <a:pt x="963" y="24"/>
                </a:lnTo>
                <a:lnTo>
                  <a:pt x="963" y="0"/>
                </a:lnTo>
                <a:moveTo>
                  <a:pt x="1084" y="0"/>
                </a:moveTo>
                <a:lnTo>
                  <a:pt x="1153" y="0"/>
                </a:lnTo>
                <a:lnTo>
                  <a:pt x="1153" y="24"/>
                </a:lnTo>
                <a:lnTo>
                  <a:pt x="1084" y="24"/>
                </a:lnTo>
                <a:lnTo>
                  <a:pt x="1084" y="0"/>
                </a:lnTo>
                <a:moveTo>
                  <a:pt x="1204" y="0"/>
                </a:moveTo>
                <a:lnTo>
                  <a:pt x="1273" y="0"/>
                </a:lnTo>
                <a:lnTo>
                  <a:pt x="1273" y="24"/>
                </a:lnTo>
                <a:lnTo>
                  <a:pt x="1204" y="24"/>
                </a:lnTo>
                <a:lnTo>
                  <a:pt x="1204" y="0"/>
                </a:lnTo>
                <a:moveTo>
                  <a:pt x="1324" y="0"/>
                </a:moveTo>
                <a:lnTo>
                  <a:pt x="1394" y="0"/>
                </a:lnTo>
                <a:lnTo>
                  <a:pt x="1394" y="24"/>
                </a:lnTo>
                <a:lnTo>
                  <a:pt x="1324" y="24"/>
                </a:lnTo>
                <a:lnTo>
                  <a:pt x="1324" y="0"/>
                </a:lnTo>
                <a:close/>
              </a:path>
            </a:pathLst>
          </a:custGeom>
          <a:solidFill>
            <a:srgbClr val="a7c6d9"/>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131" name=""/>
          <p:cNvSpPr txBox="1"/>
          <p:nvPr/>
        </p:nvSpPr>
        <p:spPr>
          <a:xfrm>
            <a:off x="6856920" y="3969360"/>
            <a:ext cx="470160" cy="169560"/>
          </a:xfrm>
          <a:prstGeom prst="rect">
            <a:avLst/>
          </a:prstGeom>
          <a:noFill/>
          <a:ln w="0">
            <a:noFill/>
          </a:ln>
        </p:spPr>
        <p:txBody>
          <a:bodyPr wrap="none" lIns="0" rIns="0" tIns="0" bIns="0" anchor="t">
            <a:spAutoFit/>
          </a:bodyPr>
          <a:p>
            <a:r>
              <a:rPr b="0" lang="zh-CN" sz="920" strike="noStrike" u="none">
                <a:solidFill>
                  <a:srgbClr val="ffffff"/>
                </a:solidFill>
                <a:effectLst/>
                <a:uFillTx/>
                <a:latin typeface="NotoSansJP"/>
                <a:ea typeface="NotoSansJP"/>
              </a:rPr>
              <a:t>参照光源</a:t>
            </a:r>
            <a:endParaRPr b="0" lang="en-US" sz="920" strike="noStrike" u="none">
              <a:solidFill>
                <a:srgbClr val="000000"/>
              </a:solidFill>
              <a:effectLst/>
              <a:uFillTx/>
              <a:latin typeface="Times New Roman"/>
            </a:endParaRPr>
          </a:p>
        </p:txBody>
      </p:sp>
      <p:sp>
        <p:nvSpPr>
          <p:cNvPr id="132" name=""/>
          <p:cNvSpPr txBox="1"/>
          <p:nvPr/>
        </p:nvSpPr>
        <p:spPr>
          <a:xfrm>
            <a:off x="7692480" y="3885840"/>
            <a:ext cx="116640" cy="136080"/>
          </a:xfrm>
          <a:prstGeom prst="rect">
            <a:avLst/>
          </a:prstGeom>
          <a:noFill/>
          <a:ln w="0">
            <a:noFill/>
          </a:ln>
        </p:spPr>
        <p:txBody>
          <a:bodyPr wrap="none" lIns="0" rIns="0" tIns="0" bIns="0" anchor="t">
            <a:spAutoFit/>
          </a:bodyPr>
          <a:p>
            <a:r>
              <a:rPr b="0" lang="en-US" sz="920" strike="noStrike" u="none">
                <a:solidFill>
                  <a:srgbClr val="ffffff"/>
                </a:solidFill>
                <a:effectLst/>
                <a:uFillTx/>
                <a:latin typeface="NotoSansJP"/>
                <a:ea typeface="NotoSansJP"/>
              </a:rPr>
              <a:t>R</a:t>
            </a:r>
            <a:endParaRPr b="0" lang="en-US" sz="920" strike="noStrike" u="none">
              <a:solidFill>
                <a:srgbClr val="000000"/>
              </a:solidFill>
              <a:effectLst/>
              <a:uFillTx/>
              <a:latin typeface="Times New Roman"/>
            </a:endParaRPr>
          </a:p>
        </p:txBody>
      </p:sp>
      <p:pic>
        <p:nvPicPr>
          <p:cNvPr id="133" name="" descr=""/>
          <p:cNvPicPr/>
          <p:nvPr/>
        </p:nvPicPr>
        <p:blipFill>
          <a:blip r:embed="rId8"/>
          <a:stretch/>
        </p:blipFill>
        <p:spPr>
          <a:xfrm>
            <a:off x="7721640" y="3710520"/>
            <a:ext cx="200160" cy="267120"/>
          </a:xfrm>
          <a:prstGeom prst="rect">
            <a:avLst/>
          </a:prstGeom>
          <a:noFill/>
          <a:ln w="0">
            <a:noFill/>
          </a:ln>
        </p:spPr>
      </p:pic>
      <p:sp>
        <p:nvSpPr>
          <p:cNvPr id="134" name=""/>
          <p:cNvSpPr txBox="1"/>
          <p:nvPr/>
        </p:nvSpPr>
        <p:spPr>
          <a:xfrm>
            <a:off x="7767720" y="3929760"/>
            <a:ext cx="184680" cy="100800"/>
          </a:xfrm>
          <a:prstGeom prst="rect">
            <a:avLst/>
          </a:prstGeom>
          <a:noFill/>
          <a:ln w="0">
            <a:noFill/>
          </a:ln>
        </p:spPr>
        <p:txBody>
          <a:bodyPr wrap="none" lIns="0" rIns="0" tIns="0" bIns="0" anchor="t">
            <a:spAutoFit/>
          </a:bodyPr>
          <a:p>
            <a:r>
              <a:rPr b="0" lang="en-US" sz="690" strike="noStrike" u="none">
                <a:solidFill>
                  <a:srgbClr val="ffffff"/>
                </a:solidFill>
                <a:effectLst/>
                <a:uFillTx/>
                <a:latin typeface="NotoSansJP"/>
                <a:ea typeface="NotoSansJP"/>
              </a:rPr>
              <a:t>play</a:t>
            </a:r>
            <a:endParaRPr b="0" lang="en-US" sz="690" strike="noStrike" u="none">
              <a:solidFill>
                <a:srgbClr val="000000"/>
              </a:solidFill>
              <a:effectLst/>
              <a:uFillTx/>
              <a:latin typeface="Times New Roman"/>
            </a:endParaRPr>
          </a:p>
        </p:txBody>
      </p:sp>
      <p:sp>
        <p:nvSpPr>
          <p:cNvPr id="135" name=""/>
          <p:cNvSpPr/>
          <p:nvPr/>
        </p:nvSpPr>
        <p:spPr>
          <a:xfrm>
            <a:off x="7696440" y="3376080"/>
            <a:ext cx="16920" cy="668880"/>
          </a:xfrm>
          <a:custGeom>
            <a:avLst/>
            <a:gdLst/>
            <a:ahLst/>
            <a:rect l="0" t="0" r="r" b="b"/>
            <a:pathLst>
              <a:path w="47" h="1858">
                <a:moveTo>
                  <a:pt x="0" y="0"/>
                </a:moveTo>
                <a:lnTo>
                  <a:pt x="47" y="0"/>
                </a:lnTo>
                <a:lnTo>
                  <a:pt x="47" y="1858"/>
                </a:lnTo>
                <a:lnTo>
                  <a:pt x="0" y="1858"/>
                </a:lnTo>
                <a:lnTo>
                  <a:pt x="0" y="0"/>
                </a:lnTo>
                <a:close/>
              </a:path>
            </a:pathLst>
          </a:custGeom>
          <a:solidFill>
            <a:srgbClr val="ffffff"/>
          </a:solidFill>
          <a:ln w="0">
            <a:noFill/>
          </a:ln>
        </p:spPr>
        <p:txBody>
          <a:bodyPr lIns="0" rIns="0" tIns="0" bIns="0" anchor="t">
            <a:noAutofit/>
          </a:bodyPr>
          <a:p>
            <a:endParaRPr b="0" lang="en-US" sz="2400" strike="noStrike" u="none">
              <a:solidFill>
                <a:srgbClr val="000000"/>
              </a:solidFill>
              <a:effectLst/>
              <a:uFillTx/>
              <a:latin typeface="Times New Roman"/>
            </a:endParaRPr>
          </a:p>
        </p:txBody>
      </p:sp>
      <p:pic>
        <p:nvPicPr>
          <p:cNvPr id="136" name="" descr=""/>
          <p:cNvPicPr/>
          <p:nvPr/>
        </p:nvPicPr>
        <p:blipFill>
          <a:blip r:embed="rId9"/>
          <a:stretch/>
        </p:blipFill>
        <p:spPr>
          <a:xfrm>
            <a:off x="8574120" y="3292560"/>
            <a:ext cx="200160" cy="267120"/>
          </a:xfrm>
          <a:prstGeom prst="rect">
            <a:avLst/>
          </a:prstGeom>
          <a:noFill/>
          <a:ln w="0">
            <a:noFill/>
          </a:ln>
        </p:spPr>
      </p:pic>
      <p:sp>
        <p:nvSpPr>
          <p:cNvPr id="137" name=""/>
          <p:cNvSpPr txBox="1"/>
          <p:nvPr/>
        </p:nvSpPr>
        <p:spPr>
          <a:xfrm>
            <a:off x="7525440" y="4036320"/>
            <a:ext cx="587520" cy="169560"/>
          </a:xfrm>
          <a:prstGeom prst="rect">
            <a:avLst/>
          </a:prstGeom>
          <a:noFill/>
          <a:ln w="0">
            <a:noFill/>
          </a:ln>
        </p:spPr>
        <p:txBody>
          <a:bodyPr wrap="none" lIns="0" rIns="0" tIns="0" bIns="0" anchor="t">
            <a:spAutoFit/>
          </a:bodyPr>
          <a:p>
            <a:r>
              <a:rPr b="0" lang="zh-CN" sz="920" strike="noStrike" u="none">
                <a:solidFill>
                  <a:srgbClr val="ffffff"/>
                </a:solidFill>
                <a:effectLst/>
                <a:uFillTx/>
                <a:latin typeface="NotoSansJP"/>
                <a:ea typeface="NotoSansJP"/>
              </a:rPr>
              <a:t>ホログラム</a:t>
            </a:r>
            <a:endParaRPr b="0" lang="en-US" sz="920" strike="noStrike" u="none">
              <a:solidFill>
                <a:srgbClr val="000000"/>
              </a:solidFill>
              <a:effectLst/>
              <a:uFillTx/>
              <a:latin typeface="Times New Roman"/>
            </a:endParaRPr>
          </a:p>
        </p:txBody>
      </p:sp>
      <p:sp>
        <p:nvSpPr>
          <p:cNvPr id="138" name=""/>
          <p:cNvSpPr/>
          <p:nvPr/>
        </p:nvSpPr>
        <p:spPr>
          <a:xfrm>
            <a:off x="8013960" y="3376080"/>
            <a:ext cx="501840" cy="8640"/>
          </a:xfrm>
          <a:custGeom>
            <a:avLst/>
            <a:gdLst/>
            <a:ahLst/>
            <a:rect l="0" t="0" r="r" b="b"/>
            <a:pathLst>
              <a:path w="1394" h="24">
                <a:moveTo>
                  <a:pt x="0" y="0"/>
                </a:moveTo>
                <a:lnTo>
                  <a:pt x="69" y="0"/>
                </a:lnTo>
                <a:lnTo>
                  <a:pt x="69" y="24"/>
                </a:lnTo>
                <a:lnTo>
                  <a:pt x="0" y="24"/>
                </a:lnTo>
                <a:lnTo>
                  <a:pt x="0" y="0"/>
                </a:lnTo>
                <a:moveTo>
                  <a:pt x="120" y="0"/>
                </a:moveTo>
                <a:lnTo>
                  <a:pt x="190" y="0"/>
                </a:lnTo>
                <a:lnTo>
                  <a:pt x="190" y="24"/>
                </a:lnTo>
                <a:lnTo>
                  <a:pt x="120" y="24"/>
                </a:lnTo>
                <a:lnTo>
                  <a:pt x="120" y="0"/>
                </a:lnTo>
                <a:moveTo>
                  <a:pt x="240" y="0"/>
                </a:moveTo>
                <a:lnTo>
                  <a:pt x="310" y="0"/>
                </a:lnTo>
                <a:lnTo>
                  <a:pt x="310" y="24"/>
                </a:lnTo>
                <a:lnTo>
                  <a:pt x="240" y="24"/>
                </a:lnTo>
                <a:lnTo>
                  <a:pt x="240" y="0"/>
                </a:lnTo>
                <a:moveTo>
                  <a:pt x="361" y="0"/>
                </a:moveTo>
                <a:lnTo>
                  <a:pt x="430" y="0"/>
                </a:lnTo>
                <a:lnTo>
                  <a:pt x="430" y="24"/>
                </a:lnTo>
                <a:lnTo>
                  <a:pt x="361" y="24"/>
                </a:lnTo>
                <a:lnTo>
                  <a:pt x="361" y="0"/>
                </a:lnTo>
                <a:moveTo>
                  <a:pt x="481" y="0"/>
                </a:moveTo>
                <a:lnTo>
                  <a:pt x="551" y="0"/>
                </a:lnTo>
                <a:lnTo>
                  <a:pt x="551" y="24"/>
                </a:lnTo>
                <a:lnTo>
                  <a:pt x="481" y="24"/>
                </a:lnTo>
                <a:lnTo>
                  <a:pt x="481" y="0"/>
                </a:lnTo>
                <a:moveTo>
                  <a:pt x="601" y="0"/>
                </a:moveTo>
                <a:lnTo>
                  <a:pt x="671" y="0"/>
                </a:lnTo>
                <a:lnTo>
                  <a:pt x="671" y="24"/>
                </a:lnTo>
                <a:lnTo>
                  <a:pt x="601" y="24"/>
                </a:lnTo>
                <a:lnTo>
                  <a:pt x="601" y="0"/>
                </a:lnTo>
                <a:moveTo>
                  <a:pt x="723" y="0"/>
                </a:moveTo>
                <a:lnTo>
                  <a:pt x="792" y="0"/>
                </a:lnTo>
                <a:lnTo>
                  <a:pt x="792" y="24"/>
                </a:lnTo>
                <a:lnTo>
                  <a:pt x="723" y="24"/>
                </a:lnTo>
                <a:lnTo>
                  <a:pt x="723" y="0"/>
                </a:lnTo>
                <a:moveTo>
                  <a:pt x="843" y="0"/>
                </a:moveTo>
                <a:lnTo>
                  <a:pt x="912" y="0"/>
                </a:lnTo>
                <a:lnTo>
                  <a:pt x="912" y="24"/>
                </a:lnTo>
                <a:lnTo>
                  <a:pt x="843" y="24"/>
                </a:lnTo>
                <a:lnTo>
                  <a:pt x="843" y="0"/>
                </a:lnTo>
                <a:moveTo>
                  <a:pt x="963" y="0"/>
                </a:moveTo>
                <a:lnTo>
                  <a:pt x="1033" y="0"/>
                </a:lnTo>
                <a:lnTo>
                  <a:pt x="1033" y="24"/>
                </a:lnTo>
                <a:lnTo>
                  <a:pt x="963" y="24"/>
                </a:lnTo>
                <a:lnTo>
                  <a:pt x="963" y="0"/>
                </a:lnTo>
                <a:moveTo>
                  <a:pt x="1083" y="0"/>
                </a:moveTo>
                <a:lnTo>
                  <a:pt x="1153" y="0"/>
                </a:lnTo>
                <a:lnTo>
                  <a:pt x="1153" y="24"/>
                </a:lnTo>
                <a:lnTo>
                  <a:pt x="1083" y="24"/>
                </a:lnTo>
                <a:lnTo>
                  <a:pt x="1083" y="0"/>
                </a:lnTo>
                <a:moveTo>
                  <a:pt x="1204" y="0"/>
                </a:moveTo>
                <a:lnTo>
                  <a:pt x="1273" y="0"/>
                </a:lnTo>
                <a:lnTo>
                  <a:pt x="1273" y="24"/>
                </a:lnTo>
                <a:lnTo>
                  <a:pt x="1204" y="24"/>
                </a:lnTo>
                <a:lnTo>
                  <a:pt x="1204" y="0"/>
                </a:lnTo>
                <a:moveTo>
                  <a:pt x="1324" y="0"/>
                </a:moveTo>
                <a:lnTo>
                  <a:pt x="1394" y="0"/>
                </a:lnTo>
                <a:lnTo>
                  <a:pt x="1394" y="24"/>
                </a:lnTo>
                <a:lnTo>
                  <a:pt x="1324" y="24"/>
                </a:lnTo>
                <a:lnTo>
                  <a:pt x="1324" y="0"/>
                </a:lnTo>
                <a:close/>
              </a:path>
            </a:pathLst>
          </a:custGeom>
          <a:solidFill>
            <a:srgbClr val="ff8c00"/>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139" name=""/>
          <p:cNvSpPr txBox="1"/>
          <p:nvPr/>
        </p:nvSpPr>
        <p:spPr>
          <a:xfrm>
            <a:off x="8494560" y="3618360"/>
            <a:ext cx="352800" cy="169560"/>
          </a:xfrm>
          <a:prstGeom prst="rect">
            <a:avLst/>
          </a:prstGeom>
          <a:noFill/>
          <a:ln w="0">
            <a:noFill/>
          </a:ln>
        </p:spPr>
        <p:txBody>
          <a:bodyPr wrap="none" lIns="0" rIns="0" tIns="0" bIns="0" anchor="t">
            <a:spAutoFit/>
          </a:bodyPr>
          <a:p>
            <a:r>
              <a:rPr b="0" lang="zh-CN" sz="920" strike="noStrike" u="none">
                <a:solidFill>
                  <a:srgbClr val="ffffff"/>
                </a:solidFill>
                <a:effectLst/>
                <a:uFillTx/>
                <a:latin typeface="NotoSansJP"/>
                <a:ea typeface="NotoSansJP"/>
              </a:rPr>
              <a:t>再生像</a:t>
            </a:r>
            <a:endParaRPr b="0" lang="en-US" sz="920" strike="noStrike" u="none">
              <a:solidFill>
                <a:srgbClr val="000000"/>
              </a:solidFill>
              <a:effectLst/>
              <a:uFillTx/>
              <a:latin typeface="Times New Roman"/>
            </a:endParaRPr>
          </a:p>
        </p:txBody>
      </p:sp>
      <p:sp>
        <p:nvSpPr>
          <p:cNvPr id="140" name=""/>
          <p:cNvSpPr txBox="1"/>
          <p:nvPr/>
        </p:nvSpPr>
        <p:spPr>
          <a:xfrm>
            <a:off x="7809480" y="3401280"/>
            <a:ext cx="125280" cy="136080"/>
          </a:xfrm>
          <a:prstGeom prst="rect">
            <a:avLst/>
          </a:prstGeom>
          <a:noFill/>
          <a:ln w="0">
            <a:noFill/>
          </a:ln>
        </p:spPr>
        <p:txBody>
          <a:bodyPr wrap="none" lIns="0" rIns="0" tIns="0" bIns="0" anchor="t">
            <a:spAutoFit/>
          </a:bodyPr>
          <a:p>
            <a:r>
              <a:rPr b="0" lang="en-US" sz="920" strike="noStrike" u="none">
                <a:solidFill>
                  <a:srgbClr val="ffffff"/>
                </a:solidFill>
                <a:effectLst/>
                <a:uFillTx/>
                <a:latin typeface="NotoSansJP"/>
                <a:ea typeface="NotoSansJP"/>
              </a:rPr>
              <a:t>O'</a:t>
            </a:r>
            <a:endParaRPr b="0" lang="en-US" sz="920" strike="noStrike" u="none">
              <a:solidFill>
                <a:srgbClr val="000000"/>
              </a:solidFill>
              <a:effectLst/>
              <a:uFillTx/>
              <a:latin typeface="Times New Roman"/>
            </a:endParaRPr>
          </a:p>
        </p:txBody>
      </p:sp>
      <p:sp>
        <p:nvSpPr>
          <p:cNvPr id="141" name=""/>
          <p:cNvSpPr txBox="1"/>
          <p:nvPr/>
        </p:nvSpPr>
        <p:spPr>
          <a:xfrm>
            <a:off x="8474040" y="4595040"/>
            <a:ext cx="213840" cy="117720"/>
          </a:xfrm>
          <a:prstGeom prst="rect">
            <a:avLst/>
          </a:prstGeom>
          <a:noFill/>
          <a:ln w="0">
            <a:noFill/>
          </a:ln>
        </p:spPr>
        <p:txBody>
          <a:bodyPr wrap="none" lIns="0" rIns="0" tIns="0" bIns="0" anchor="t">
            <a:spAutoFit/>
          </a:bodyPr>
          <a:p>
            <a:r>
              <a:rPr b="0" lang="en-US" sz="790" strike="noStrike" u="none">
                <a:solidFill>
                  <a:srgbClr val="a7c6d9"/>
                </a:solidFill>
                <a:effectLst/>
                <a:uFillTx/>
                <a:latin typeface="NotoSansJP"/>
                <a:ea typeface="NotoSansJP"/>
              </a:rPr>
              <a:t>play</a:t>
            </a:r>
            <a:endParaRPr b="0" lang="en-US" sz="790" strike="noStrike" u="none">
              <a:solidFill>
                <a:srgbClr val="000000"/>
              </a:solidFill>
              <a:effectLst/>
              <a:uFillTx/>
              <a:latin typeface="Times New Roman"/>
            </a:endParaRPr>
          </a:p>
        </p:txBody>
      </p:sp>
      <p:sp>
        <p:nvSpPr>
          <p:cNvPr id="142" name=""/>
          <p:cNvSpPr txBox="1"/>
          <p:nvPr/>
        </p:nvSpPr>
        <p:spPr>
          <a:xfrm>
            <a:off x="10203480" y="5741280"/>
            <a:ext cx="338760" cy="136080"/>
          </a:xfrm>
          <a:prstGeom prst="rect">
            <a:avLst/>
          </a:prstGeom>
          <a:noFill/>
          <a:ln w="0">
            <a:noFill/>
          </a:ln>
        </p:spPr>
        <p:txBody>
          <a:bodyPr wrap="none" lIns="0" rIns="0" tIns="0" bIns="0" anchor="t">
            <a:spAutoFit/>
          </a:bodyPr>
          <a:p>
            <a:r>
              <a:rPr b="0" lang="en-US" sz="920" strike="noStrike" u="none">
                <a:solidFill>
                  <a:srgbClr val="a7c6d9"/>
                </a:solidFill>
                <a:effectLst/>
                <a:uFillTx/>
                <a:latin typeface="NotoSansJP"/>
                <a:ea typeface="NotoSansJP"/>
              </a:rPr>
              <a:t>3 / 13</a:t>
            </a:r>
            <a:endParaRPr b="0" lang="en-US" sz="920" strike="noStrike" u="non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3" name=""/>
          <p:cNvSpPr/>
          <p:nvPr/>
        </p:nvSpPr>
        <p:spPr>
          <a:xfrm>
            <a:off x="0" y="0"/>
            <a:ext cx="10696680" cy="6017040"/>
          </a:xfrm>
          <a:custGeom>
            <a:avLst/>
            <a:gdLst/>
            <a:ahLst/>
            <a:rect l="0" t="0" r="r" b="b"/>
            <a:pathLst>
              <a:path w="29713" h="16714">
                <a:moveTo>
                  <a:pt x="0" y="0"/>
                </a:moveTo>
                <a:lnTo>
                  <a:pt x="29713" y="0"/>
                </a:lnTo>
                <a:lnTo>
                  <a:pt x="29713" y="16714"/>
                </a:lnTo>
                <a:lnTo>
                  <a:pt x="0" y="16714"/>
                </a:lnTo>
                <a:lnTo>
                  <a:pt x="0" y="0"/>
                </a:lnTo>
                <a:close/>
              </a:path>
            </a:pathLst>
          </a:custGeom>
          <a:solidFill>
            <a:srgbClr val="1c3d5a"/>
          </a:solidFill>
          <a:ln w="0">
            <a:noFill/>
          </a:ln>
        </p:spPr>
        <p:txBody>
          <a:bodyPr lIns="0" rIns="0" tIns="0" bIns="0" anchor="t">
            <a:noAutofit/>
          </a:bodyPr>
          <a:p>
            <a:endParaRPr b="0" lang="en-US" sz="2400" strike="noStrike" u="none">
              <a:solidFill>
                <a:srgbClr val="ffffff"/>
              </a:solidFill>
              <a:effectLst/>
              <a:uFillTx/>
              <a:latin typeface="Times New Roman"/>
            </a:endParaRPr>
          </a:p>
        </p:txBody>
      </p:sp>
      <p:pic>
        <p:nvPicPr>
          <p:cNvPr id="144" name="" descr=""/>
          <p:cNvPicPr/>
          <p:nvPr/>
        </p:nvPicPr>
        <p:blipFill>
          <a:blip r:embed="rId1"/>
          <a:stretch/>
        </p:blipFill>
        <p:spPr>
          <a:xfrm>
            <a:off x="0" y="0"/>
            <a:ext cx="10696320" cy="6016320"/>
          </a:xfrm>
          <a:prstGeom prst="rect">
            <a:avLst/>
          </a:prstGeom>
          <a:noFill/>
          <a:ln w="0">
            <a:noFill/>
          </a:ln>
        </p:spPr>
      </p:pic>
      <p:sp>
        <p:nvSpPr>
          <p:cNvPr id="145" name=""/>
          <p:cNvSpPr/>
          <p:nvPr/>
        </p:nvSpPr>
        <p:spPr>
          <a:xfrm>
            <a:off x="534600" y="601560"/>
            <a:ext cx="1069920" cy="33840"/>
          </a:xfrm>
          <a:custGeom>
            <a:avLst/>
            <a:gdLst/>
            <a:ahLst/>
            <a:rect l="0" t="0" r="r" b="b"/>
            <a:pathLst>
              <a:path w="2972" h="94">
                <a:moveTo>
                  <a:pt x="0" y="0"/>
                </a:moveTo>
                <a:lnTo>
                  <a:pt x="2972" y="0"/>
                </a:lnTo>
                <a:lnTo>
                  <a:pt x="2972" y="94"/>
                </a:lnTo>
                <a:lnTo>
                  <a:pt x="0" y="94"/>
                </a:lnTo>
                <a:lnTo>
                  <a:pt x="0" y="0"/>
                </a:lnTo>
                <a:close/>
              </a:path>
            </a:pathLst>
          </a:custGeom>
          <a:solidFill>
            <a:srgbClr val="ff8c00"/>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146" name=""/>
          <p:cNvSpPr/>
          <p:nvPr/>
        </p:nvSpPr>
        <p:spPr>
          <a:xfrm>
            <a:off x="534600" y="1337040"/>
            <a:ext cx="4813920" cy="1370880"/>
          </a:xfrm>
          <a:custGeom>
            <a:avLst/>
            <a:gdLst/>
            <a:ahLst/>
            <a:rect l="0" t="0" r="r" b="b"/>
            <a:pathLst>
              <a:path w="13372" h="3808">
                <a:moveTo>
                  <a:pt x="0" y="3622"/>
                </a:moveTo>
                <a:lnTo>
                  <a:pt x="0" y="185"/>
                </a:lnTo>
                <a:cubicBezTo>
                  <a:pt x="0" y="173"/>
                  <a:pt x="1" y="161"/>
                  <a:pt x="4" y="149"/>
                </a:cubicBezTo>
                <a:cubicBezTo>
                  <a:pt x="6" y="137"/>
                  <a:pt x="10" y="125"/>
                  <a:pt x="14" y="114"/>
                </a:cubicBezTo>
                <a:cubicBezTo>
                  <a:pt x="19" y="103"/>
                  <a:pt x="25" y="92"/>
                  <a:pt x="31" y="82"/>
                </a:cubicBezTo>
                <a:cubicBezTo>
                  <a:pt x="38" y="72"/>
                  <a:pt x="46" y="63"/>
                  <a:pt x="55" y="54"/>
                </a:cubicBezTo>
                <a:cubicBezTo>
                  <a:pt x="63" y="45"/>
                  <a:pt x="73" y="38"/>
                  <a:pt x="83" y="31"/>
                </a:cubicBezTo>
                <a:cubicBezTo>
                  <a:pt x="93" y="24"/>
                  <a:pt x="104" y="18"/>
                  <a:pt x="115" y="14"/>
                </a:cubicBezTo>
                <a:cubicBezTo>
                  <a:pt x="126" y="9"/>
                  <a:pt x="138" y="6"/>
                  <a:pt x="150" y="3"/>
                </a:cubicBezTo>
                <a:cubicBezTo>
                  <a:pt x="162" y="1"/>
                  <a:pt x="174" y="0"/>
                  <a:pt x="186" y="0"/>
                </a:cubicBezTo>
                <a:lnTo>
                  <a:pt x="13186" y="0"/>
                </a:lnTo>
                <a:cubicBezTo>
                  <a:pt x="13198" y="0"/>
                  <a:pt x="13210" y="1"/>
                  <a:pt x="13222" y="3"/>
                </a:cubicBezTo>
                <a:cubicBezTo>
                  <a:pt x="13234" y="6"/>
                  <a:pt x="13246" y="9"/>
                  <a:pt x="13257" y="14"/>
                </a:cubicBezTo>
                <a:cubicBezTo>
                  <a:pt x="13268" y="18"/>
                  <a:pt x="13279" y="24"/>
                  <a:pt x="13289" y="31"/>
                </a:cubicBezTo>
                <a:cubicBezTo>
                  <a:pt x="13299" y="38"/>
                  <a:pt x="13309" y="45"/>
                  <a:pt x="13317" y="54"/>
                </a:cubicBezTo>
                <a:cubicBezTo>
                  <a:pt x="13326" y="63"/>
                  <a:pt x="13334" y="72"/>
                  <a:pt x="13341" y="82"/>
                </a:cubicBezTo>
                <a:cubicBezTo>
                  <a:pt x="13347" y="92"/>
                  <a:pt x="13353" y="103"/>
                  <a:pt x="13358" y="114"/>
                </a:cubicBezTo>
                <a:cubicBezTo>
                  <a:pt x="13362" y="125"/>
                  <a:pt x="13366" y="137"/>
                  <a:pt x="13368" y="149"/>
                </a:cubicBezTo>
                <a:cubicBezTo>
                  <a:pt x="13371" y="161"/>
                  <a:pt x="13372" y="173"/>
                  <a:pt x="13372" y="185"/>
                </a:cubicBezTo>
                <a:lnTo>
                  <a:pt x="13372" y="3622"/>
                </a:lnTo>
                <a:cubicBezTo>
                  <a:pt x="13372" y="3634"/>
                  <a:pt x="13371" y="3646"/>
                  <a:pt x="13368" y="3658"/>
                </a:cubicBezTo>
                <a:cubicBezTo>
                  <a:pt x="13366" y="3670"/>
                  <a:pt x="13362" y="3682"/>
                  <a:pt x="13358" y="3693"/>
                </a:cubicBezTo>
                <a:cubicBezTo>
                  <a:pt x="13353" y="3704"/>
                  <a:pt x="13347" y="3715"/>
                  <a:pt x="13341" y="3725"/>
                </a:cubicBezTo>
                <a:cubicBezTo>
                  <a:pt x="13334" y="3735"/>
                  <a:pt x="13326" y="3745"/>
                  <a:pt x="13317" y="3753"/>
                </a:cubicBezTo>
                <a:cubicBezTo>
                  <a:pt x="13309" y="3762"/>
                  <a:pt x="13299" y="3769"/>
                  <a:pt x="13289" y="3776"/>
                </a:cubicBezTo>
                <a:cubicBezTo>
                  <a:pt x="13279" y="3783"/>
                  <a:pt x="13268" y="3789"/>
                  <a:pt x="13257" y="3793"/>
                </a:cubicBezTo>
                <a:cubicBezTo>
                  <a:pt x="13246" y="3798"/>
                  <a:pt x="13234" y="3802"/>
                  <a:pt x="13222" y="3804"/>
                </a:cubicBezTo>
                <a:cubicBezTo>
                  <a:pt x="13210" y="3806"/>
                  <a:pt x="13198" y="3808"/>
                  <a:pt x="13186" y="3808"/>
                </a:cubicBezTo>
                <a:lnTo>
                  <a:pt x="186" y="3808"/>
                </a:lnTo>
                <a:cubicBezTo>
                  <a:pt x="174" y="3808"/>
                  <a:pt x="162" y="3806"/>
                  <a:pt x="150" y="3804"/>
                </a:cubicBezTo>
                <a:cubicBezTo>
                  <a:pt x="138" y="3802"/>
                  <a:pt x="126" y="3798"/>
                  <a:pt x="115" y="3793"/>
                </a:cubicBezTo>
                <a:cubicBezTo>
                  <a:pt x="104" y="3789"/>
                  <a:pt x="93" y="3783"/>
                  <a:pt x="83" y="3776"/>
                </a:cubicBezTo>
                <a:cubicBezTo>
                  <a:pt x="73" y="3769"/>
                  <a:pt x="63" y="3762"/>
                  <a:pt x="55" y="3753"/>
                </a:cubicBezTo>
                <a:cubicBezTo>
                  <a:pt x="46" y="3745"/>
                  <a:pt x="38" y="3735"/>
                  <a:pt x="31" y="3725"/>
                </a:cubicBezTo>
                <a:cubicBezTo>
                  <a:pt x="25" y="3715"/>
                  <a:pt x="19" y="3704"/>
                  <a:pt x="14" y="3693"/>
                </a:cubicBezTo>
                <a:cubicBezTo>
                  <a:pt x="10" y="3682"/>
                  <a:pt x="6" y="3670"/>
                  <a:pt x="4" y="3658"/>
                </a:cubicBezTo>
                <a:cubicBezTo>
                  <a:pt x="1" y="3646"/>
                  <a:pt x="0" y="3634"/>
                  <a:pt x="0" y="3622"/>
                </a:cubicBezTo>
                <a:close/>
              </a:path>
            </a:pathLst>
          </a:custGeom>
          <a:solidFill>
            <a:srgbClr val="ffffff">
              <a:alpha val="10000"/>
            </a:srgbClr>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147" name=""/>
          <p:cNvSpPr/>
          <p:nvPr/>
        </p:nvSpPr>
        <p:spPr>
          <a:xfrm>
            <a:off x="534600" y="2841120"/>
            <a:ext cx="4813920" cy="2808360"/>
          </a:xfrm>
          <a:custGeom>
            <a:avLst/>
            <a:gdLst/>
            <a:ahLst/>
            <a:rect l="0" t="0" r="r" b="b"/>
            <a:pathLst>
              <a:path w="13372" h="7801">
                <a:moveTo>
                  <a:pt x="0" y="7615"/>
                </a:moveTo>
                <a:lnTo>
                  <a:pt x="0" y="186"/>
                </a:lnTo>
                <a:cubicBezTo>
                  <a:pt x="0" y="173"/>
                  <a:pt x="1" y="161"/>
                  <a:pt x="4" y="149"/>
                </a:cubicBezTo>
                <a:cubicBezTo>
                  <a:pt x="6" y="137"/>
                  <a:pt x="10" y="126"/>
                  <a:pt x="14" y="115"/>
                </a:cubicBezTo>
                <a:cubicBezTo>
                  <a:pt x="19" y="103"/>
                  <a:pt x="25" y="93"/>
                  <a:pt x="31" y="82"/>
                </a:cubicBezTo>
                <a:cubicBezTo>
                  <a:pt x="38" y="72"/>
                  <a:pt x="46" y="63"/>
                  <a:pt x="55" y="54"/>
                </a:cubicBezTo>
                <a:cubicBezTo>
                  <a:pt x="63" y="46"/>
                  <a:pt x="73" y="38"/>
                  <a:pt x="83" y="31"/>
                </a:cubicBezTo>
                <a:cubicBezTo>
                  <a:pt x="93" y="24"/>
                  <a:pt x="104" y="19"/>
                  <a:pt x="115" y="14"/>
                </a:cubicBezTo>
                <a:cubicBezTo>
                  <a:pt x="126" y="9"/>
                  <a:pt x="138" y="6"/>
                  <a:pt x="150" y="4"/>
                </a:cubicBezTo>
                <a:cubicBezTo>
                  <a:pt x="162" y="1"/>
                  <a:pt x="174" y="0"/>
                  <a:pt x="186" y="0"/>
                </a:cubicBezTo>
                <a:lnTo>
                  <a:pt x="13186" y="0"/>
                </a:lnTo>
                <a:cubicBezTo>
                  <a:pt x="13198" y="0"/>
                  <a:pt x="13210" y="1"/>
                  <a:pt x="13222" y="4"/>
                </a:cubicBezTo>
                <a:cubicBezTo>
                  <a:pt x="13234" y="6"/>
                  <a:pt x="13246" y="9"/>
                  <a:pt x="13257" y="14"/>
                </a:cubicBezTo>
                <a:cubicBezTo>
                  <a:pt x="13268" y="19"/>
                  <a:pt x="13279" y="24"/>
                  <a:pt x="13289" y="31"/>
                </a:cubicBezTo>
                <a:cubicBezTo>
                  <a:pt x="13299" y="38"/>
                  <a:pt x="13309" y="46"/>
                  <a:pt x="13317" y="54"/>
                </a:cubicBezTo>
                <a:cubicBezTo>
                  <a:pt x="13326" y="63"/>
                  <a:pt x="13334" y="72"/>
                  <a:pt x="13341" y="82"/>
                </a:cubicBezTo>
                <a:cubicBezTo>
                  <a:pt x="13347" y="93"/>
                  <a:pt x="13353" y="103"/>
                  <a:pt x="13358" y="115"/>
                </a:cubicBezTo>
                <a:cubicBezTo>
                  <a:pt x="13362" y="126"/>
                  <a:pt x="13366" y="137"/>
                  <a:pt x="13368" y="149"/>
                </a:cubicBezTo>
                <a:cubicBezTo>
                  <a:pt x="13371" y="161"/>
                  <a:pt x="13372" y="173"/>
                  <a:pt x="13372" y="186"/>
                </a:cubicBezTo>
                <a:lnTo>
                  <a:pt x="13372" y="7615"/>
                </a:lnTo>
                <a:cubicBezTo>
                  <a:pt x="13372" y="7627"/>
                  <a:pt x="13371" y="7639"/>
                  <a:pt x="13368" y="7651"/>
                </a:cubicBezTo>
                <a:cubicBezTo>
                  <a:pt x="13366" y="7663"/>
                  <a:pt x="13362" y="7675"/>
                  <a:pt x="13358" y="7686"/>
                </a:cubicBezTo>
                <a:cubicBezTo>
                  <a:pt x="13353" y="7697"/>
                  <a:pt x="13347" y="7708"/>
                  <a:pt x="13341" y="7718"/>
                </a:cubicBezTo>
                <a:cubicBezTo>
                  <a:pt x="13334" y="7728"/>
                  <a:pt x="13326" y="7738"/>
                  <a:pt x="13317" y="7746"/>
                </a:cubicBezTo>
                <a:cubicBezTo>
                  <a:pt x="13309" y="7755"/>
                  <a:pt x="13299" y="7762"/>
                  <a:pt x="13289" y="7769"/>
                </a:cubicBezTo>
                <a:cubicBezTo>
                  <a:pt x="13279" y="7776"/>
                  <a:pt x="13268" y="7782"/>
                  <a:pt x="13257" y="7786"/>
                </a:cubicBezTo>
                <a:cubicBezTo>
                  <a:pt x="13246" y="7791"/>
                  <a:pt x="13234" y="7795"/>
                  <a:pt x="13222" y="7797"/>
                </a:cubicBezTo>
                <a:cubicBezTo>
                  <a:pt x="13210" y="7799"/>
                  <a:pt x="13198" y="7801"/>
                  <a:pt x="13186" y="7801"/>
                </a:cubicBezTo>
                <a:lnTo>
                  <a:pt x="186" y="7801"/>
                </a:lnTo>
                <a:cubicBezTo>
                  <a:pt x="174" y="7801"/>
                  <a:pt x="162" y="7799"/>
                  <a:pt x="150" y="7797"/>
                </a:cubicBezTo>
                <a:cubicBezTo>
                  <a:pt x="138" y="7795"/>
                  <a:pt x="126" y="7791"/>
                  <a:pt x="115" y="7786"/>
                </a:cubicBezTo>
                <a:cubicBezTo>
                  <a:pt x="104" y="7782"/>
                  <a:pt x="93" y="7776"/>
                  <a:pt x="83" y="7769"/>
                </a:cubicBezTo>
                <a:cubicBezTo>
                  <a:pt x="73" y="7762"/>
                  <a:pt x="63" y="7755"/>
                  <a:pt x="55" y="7746"/>
                </a:cubicBezTo>
                <a:cubicBezTo>
                  <a:pt x="46" y="7738"/>
                  <a:pt x="38" y="7728"/>
                  <a:pt x="31" y="7718"/>
                </a:cubicBezTo>
                <a:cubicBezTo>
                  <a:pt x="25" y="7708"/>
                  <a:pt x="19" y="7697"/>
                  <a:pt x="14" y="7686"/>
                </a:cubicBezTo>
                <a:cubicBezTo>
                  <a:pt x="10" y="7675"/>
                  <a:pt x="6" y="7663"/>
                  <a:pt x="4" y="7651"/>
                </a:cubicBezTo>
                <a:cubicBezTo>
                  <a:pt x="1" y="7639"/>
                  <a:pt x="0" y="7627"/>
                  <a:pt x="0" y="7615"/>
                </a:cubicBezTo>
                <a:close/>
              </a:path>
            </a:pathLst>
          </a:custGeom>
          <a:solidFill>
            <a:srgbClr val="ffffff">
              <a:alpha val="10000"/>
            </a:srgbClr>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148" name=""/>
          <p:cNvSpPr/>
          <p:nvPr/>
        </p:nvSpPr>
        <p:spPr>
          <a:xfrm>
            <a:off x="701640" y="3610080"/>
            <a:ext cx="4479840" cy="1872000"/>
          </a:xfrm>
          <a:custGeom>
            <a:avLst/>
            <a:gdLst/>
            <a:ahLst/>
            <a:rect l="0" t="0" r="r" b="b"/>
            <a:pathLst>
              <a:path w="12444" h="5200">
                <a:moveTo>
                  <a:pt x="15" y="114"/>
                </a:moveTo>
                <a:cubicBezTo>
                  <a:pt x="24" y="91"/>
                  <a:pt x="37" y="71"/>
                  <a:pt x="55" y="54"/>
                </a:cubicBezTo>
                <a:cubicBezTo>
                  <a:pt x="72" y="37"/>
                  <a:pt x="92" y="23"/>
                  <a:pt x="115" y="14"/>
                </a:cubicBezTo>
                <a:cubicBezTo>
                  <a:pt x="138" y="4"/>
                  <a:pt x="161" y="0"/>
                  <a:pt x="186" y="0"/>
                </a:cubicBezTo>
                <a:lnTo>
                  <a:pt x="12258" y="0"/>
                </a:lnTo>
                <a:cubicBezTo>
                  <a:pt x="12283" y="0"/>
                  <a:pt x="12306" y="4"/>
                  <a:pt x="12329" y="14"/>
                </a:cubicBezTo>
                <a:cubicBezTo>
                  <a:pt x="12352" y="23"/>
                  <a:pt x="12372" y="37"/>
                  <a:pt x="12389" y="54"/>
                </a:cubicBezTo>
                <a:cubicBezTo>
                  <a:pt x="12407" y="71"/>
                  <a:pt x="12420" y="91"/>
                  <a:pt x="12429" y="114"/>
                </a:cubicBezTo>
                <a:cubicBezTo>
                  <a:pt x="12439" y="137"/>
                  <a:pt x="12444" y="161"/>
                  <a:pt x="12444" y="185"/>
                </a:cubicBezTo>
                <a:lnTo>
                  <a:pt x="12444" y="5015"/>
                </a:lnTo>
                <a:cubicBezTo>
                  <a:pt x="12444" y="5039"/>
                  <a:pt x="12439" y="5063"/>
                  <a:pt x="12429" y="5086"/>
                </a:cubicBezTo>
                <a:cubicBezTo>
                  <a:pt x="12420" y="5108"/>
                  <a:pt x="12407" y="5128"/>
                  <a:pt x="12389" y="5146"/>
                </a:cubicBezTo>
                <a:cubicBezTo>
                  <a:pt x="12372" y="5163"/>
                  <a:pt x="12352" y="5177"/>
                  <a:pt x="12329" y="5186"/>
                </a:cubicBezTo>
                <a:cubicBezTo>
                  <a:pt x="12306" y="5196"/>
                  <a:pt x="12283" y="5200"/>
                  <a:pt x="12258" y="5200"/>
                </a:cubicBezTo>
                <a:lnTo>
                  <a:pt x="186" y="5200"/>
                </a:lnTo>
                <a:cubicBezTo>
                  <a:pt x="161" y="5200"/>
                  <a:pt x="138" y="5196"/>
                  <a:pt x="115" y="5186"/>
                </a:cubicBezTo>
                <a:cubicBezTo>
                  <a:pt x="92" y="5177"/>
                  <a:pt x="72" y="5163"/>
                  <a:pt x="55" y="5146"/>
                </a:cubicBezTo>
                <a:cubicBezTo>
                  <a:pt x="37" y="5128"/>
                  <a:pt x="24" y="5108"/>
                  <a:pt x="15" y="5086"/>
                </a:cubicBezTo>
                <a:cubicBezTo>
                  <a:pt x="5" y="5063"/>
                  <a:pt x="0" y="5039"/>
                  <a:pt x="0" y="5015"/>
                </a:cubicBezTo>
                <a:lnTo>
                  <a:pt x="0" y="185"/>
                </a:lnTo>
                <a:cubicBezTo>
                  <a:pt x="0" y="161"/>
                  <a:pt x="5" y="137"/>
                  <a:pt x="15" y="114"/>
                </a:cubicBezTo>
                <a:close/>
              </a:path>
            </a:pathLst>
          </a:custGeom>
          <a:solidFill>
            <a:srgbClr val="000000">
              <a:alpha val="30000"/>
            </a:srgbClr>
          </a:solidFill>
          <a:ln w="0">
            <a:noFill/>
          </a:ln>
        </p:spPr>
        <p:txBody>
          <a:bodyPr lIns="0" rIns="0" tIns="0" bIns="0" anchor="t">
            <a:noAutofit/>
          </a:bodyPr>
          <a:p>
            <a:endParaRPr b="0" lang="en-US" sz="2400" strike="noStrike" u="none">
              <a:solidFill>
                <a:srgbClr val="ffffff"/>
              </a:solidFill>
              <a:effectLst/>
              <a:uFillTx/>
              <a:latin typeface="Times New Roman"/>
            </a:endParaRPr>
          </a:p>
        </p:txBody>
      </p:sp>
      <p:pic>
        <p:nvPicPr>
          <p:cNvPr id="149" name="" descr=""/>
          <p:cNvPicPr/>
          <p:nvPr/>
        </p:nvPicPr>
        <p:blipFill>
          <a:blip r:embed="rId2"/>
          <a:stretch/>
        </p:blipFill>
        <p:spPr>
          <a:xfrm>
            <a:off x="534960" y="969480"/>
            <a:ext cx="200160" cy="200160"/>
          </a:xfrm>
          <a:prstGeom prst="rect">
            <a:avLst/>
          </a:prstGeom>
          <a:noFill/>
          <a:ln w="0">
            <a:noFill/>
          </a:ln>
        </p:spPr>
      </p:pic>
      <p:sp>
        <p:nvSpPr>
          <p:cNvPr id="150" name=""/>
          <p:cNvSpPr txBox="1"/>
          <p:nvPr/>
        </p:nvSpPr>
        <p:spPr>
          <a:xfrm>
            <a:off x="534960" y="222120"/>
            <a:ext cx="5241960" cy="436320"/>
          </a:xfrm>
          <a:prstGeom prst="rect">
            <a:avLst/>
          </a:prstGeom>
          <a:noFill/>
          <a:ln w="0">
            <a:noFill/>
          </a:ln>
        </p:spPr>
        <p:txBody>
          <a:bodyPr wrap="none" lIns="0" rIns="0" tIns="0" bIns="0" anchor="t">
            <a:spAutoFit/>
          </a:bodyPr>
          <a:p>
            <a:r>
              <a:rPr b="0" lang="en-US" sz="2370" strike="noStrike" u="none">
                <a:solidFill>
                  <a:srgbClr val="ffffff"/>
                </a:solidFill>
                <a:effectLst/>
                <a:uFillTx/>
                <a:latin typeface="NotoSansJP"/>
                <a:ea typeface="NotoSansJP"/>
              </a:rPr>
              <a:t>CGH</a:t>
            </a:r>
            <a:r>
              <a:rPr b="0" lang="zh-CN" sz="2370" strike="noStrike" u="none">
                <a:solidFill>
                  <a:srgbClr val="ffffff"/>
                </a:solidFill>
                <a:effectLst/>
                <a:uFillTx/>
                <a:latin typeface="NotoSansJP"/>
                <a:ea typeface="NotoSansJP"/>
              </a:rPr>
              <a:t>データの読み込みと参照光の乗算</a:t>
            </a:r>
            <a:endParaRPr b="0" lang="en-US" sz="2370" strike="noStrike" u="none">
              <a:solidFill>
                <a:srgbClr val="000000"/>
              </a:solidFill>
              <a:effectLst/>
              <a:uFillTx/>
              <a:latin typeface="Times New Roman"/>
            </a:endParaRPr>
          </a:p>
        </p:txBody>
      </p:sp>
      <p:sp>
        <p:nvSpPr>
          <p:cNvPr id="151" name=""/>
          <p:cNvSpPr txBox="1"/>
          <p:nvPr/>
        </p:nvSpPr>
        <p:spPr>
          <a:xfrm>
            <a:off x="835560" y="966960"/>
            <a:ext cx="2707920" cy="291600"/>
          </a:xfrm>
          <a:prstGeom prst="rect">
            <a:avLst/>
          </a:prstGeom>
          <a:noFill/>
          <a:ln w="0">
            <a:noFill/>
          </a:ln>
        </p:spPr>
        <p:txBody>
          <a:bodyPr wrap="none" lIns="0" rIns="0" tIns="0" bIns="0" anchor="t">
            <a:spAutoFit/>
          </a:bodyPr>
          <a:p>
            <a:r>
              <a:rPr b="0" lang="en-US" sz="1580" strike="noStrike" u="none">
                <a:solidFill>
                  <a:srgbClr val="a7c6d9"/>
                </a:solidFill>
                <a:effectLst/>
                <a:uFillTx/>
                <a:latin typeface="NotoSansJP"/>
                <a:ea typeface="NotoSansJP"/>
              </a:rPr>
              <a:t>CGH</a:t>
            </a:r>
            <a:r>
              <a:rPr b="0" lang="zh-CN" sz="1580" strike="noStrike" u="none">
                <a:solidFill>
                  <a:srgbClr val="a7c6d9"/>
                </a:solidFill>
                <a:effectLst/>
                <a:uFillTx/>
                <a:latin typeface="NotoSansJP"/>
                <a:ea typeface="NotoSansJP"/>
              </a:rPr>
              <a:t>データの種類と読み込み</a:t>
            </a:r>
            <a:endParaRPr b="0" lang="en-US" sz="1580" strike="noStrike" u="none">
              <a:solidFill>
                <a:srgbClr val="000000"/>
              </a:solidFill>
              <a:effectLst/>
              <a:uFillTx/>
              <a:latin typeface="Times New Roman"/>
            </a:endParaRPr>
          </a:p>
        </p:txBody>
      </p:sp>
      <p:pic>
        <p:nvPicPr>
          <p:cNvPr id="152" name="" descr=""/>
          <p:cNvPicPr/>
          <p:nvPr/>
        </p:nvPicPr>
        <p:blipFill>
          <a:blip r:embed="rId3"/>
          <a:stretch/>
        </p:blipFill>
        <p:spPr>
          <a:xfrm>
            <a:off x="702000" y="1855080"/>
            <a:ext cx="100080" cy="133200"/>
          </a:xfrm>
          <a:prstGeom prst="rect">
            <a:avLst/>
          </a:prstGeom>
          <a:noFill/>
          <a:ln w="0">
            <a:noFill/>
          </a:ln>
        </p:spPr>
      </p:pic>
      <p:sp>
        <p:nvSpPr>
          <p:cNvPr id="153" name=""/>
          <p:cNvSpPr txBox="1"/>
          <p:nvPr/>
        </p:nvSpPr>
        <p:spPr>
          <a:xfrm>
            <a:off x="702000" y="1539000"/>
            <a:ext cx="671400" cy="194040"/>
          </a:xfrm>
          <a:prstGeom prst="rect">
            <a:avLst/>
          </a:prstGeom>
          <a:noFill/>
          <a:ln w="0">
            <a:noFill/>
          </a:ln>
        </p:spPr>
        <p:txBody>
          <a:bodyPr wrap="none" lIns="0" rIns="0" tIns="0" bIns="0" anchor="t">
            <a:spAutoFit/>
          </a:bodyPr>
          <a:p>
            <a:r>
              <a:rPr b="0" lang="zh-CN" sz="1050" strike="noStrike" u="none">
                <a:solidFill>
                  <a:srgbClr val="ffffff"/>
                </a:solidFill>
                <a:effectLst/>
                <a:uFillTx/>
                <a:latin typeface="NotoSansJP"/>
                <a:ea typeface="NotoSansJP"/>
              </a:rPr>
              <a:t>データ形式</a:t>
            </a:r>
            <a:endParaRPr b="0" lang="en-US" sz="1050" strike="noStrike" u="none">
              <a:solidFill>
                <a:srgbClr val="000000"/>
              </a:solidFill>
              <a:effectLst/>
              <a:uFillTx/>
              <a:latin typeface="Times New Roman"/>
            </a:endParaRPr>
          </a:p>
        </p:txBody>
      </p:sp>
      <p:pic>
        <p:nvPicPr>
          <p:cNvPr id="154" name="" descr=""/>
          <p:cNvPicPr/>
          <p:nvPr/>
        </p:nvPicPr>
        <p:blipFill>
          <a:blip r:embed="rId4"/>
          <a:stretch/>
        </p:blipFill>
        <p:spPr>
          <a:xfrm>
            <a:off x="702000" y="2122560"/>
            <a:ext cx="100080" cy="133200"/>
          </a:xfrm>
          <a:prstGeom prst="rect">
            <a:avLst/>
          </a:prstGeom>
          <a:noFill/>
          <a:ln w="0">
            <a:noFill/>
          </a:ln>
        </p:spPr>
      </p:pic>
      <p:sp>
        <p:nvSpPr>
          <p:cNvPr id="155" name=""/>
          <p:cNvSpPr txBox="1"/>
          <p:nvPr/>
        </p:nvSpPr>
        <p:spPr>
          <a:xfrm>
            <a:off x="869040" y="1839600"/>
            <a:ext cx="2817000" cy="194040"/>
          </a:xfrm>
          <a:prstGeom prst="rect">
            <a:avLst/>
          </a:prstGeom>
          <a:noFill/>
          <a:ln w="0">
            <a:noFill/>
          </a:ln>
        </p:spPr>
        <p:txBody>
          <a:bodyPr wrap="none" lIns="0" rIns="0" tIns="0" bIns="0" anchor="t">
            <a:spAutoFit/>
          </a:bodyPr>
          <a:p>
            <a:r>
              <a:rPr b="0" lang="zh-CN" sz="1050" strike="noStrike" u="none">
                <a:solidFill>
                  <a:srgbClr val="ffffff"/>
                </a:solidFill>
                <a:effectLst/>
                <a:uFillTx/>
                <a:latin typeface="NotoSansJP"/>
                <a:ea typeface="NotoSansJP"/>
              </a:rPr>
              <a:t>複素振幅データ：</a:t>
            </a:r>
            <a:r>
              <a:rPr b="0" lang="zh-CN" sz="1050" strike="noStrike" u="none">
                <a:solidFill>
                  <a:srgbClr val="a7c6d9"/>
                </a:solidFill>
                <a:effectLst/>
                <a:uFillTx/>
                <a:latin typeface="NotoSansJP"/>
                <a:ea typeface="NotoSansJP"/>
              </a:rPr>
              <a:t>振幅と位相の情報を持つ形式</a:t>
            </a:r>
            <a:endParaRPr b="0" lang="en-US" sz="1050" strike="noStrike" u="none">
              <a:solidFill>
                <a:srgbClr val="000000"/>
              </a:solidFill>
              <a:effectLst/>
              <a:uFillTx/>
              <a:latin typeface="Times New Roman"/>
            </a:endParaRPr>
          </a:p>
        </p:txBody>
      </p:sp>
      <p:pic>
        <p:nvPicPr>
          <p:cNvPr id="156" name="" descr=""/>
          <p:cNvPicPr/>
          <p:nvPr/>
        </p:nvPicPr>
        <p:blipFill>
          <a:blip r:embed="rId5"/>
          <a:stretch/>
        </p:blipFill>
        <p:spPr>
          <a:xfrm>
            <a:off x="702000" y="2390040"/>
            <a:ext cx="100080" cy="133200"/>
          </a:xfrm>
          <a:prstGeom prst="rect">
            <a:avLst/>
          </a:prstGeom>
          <a:noFill/>
          <a:ln w="0">
            <a:noFill/>
          </a:ln>
        </p:spPr>
      </p:pic>
      <p:sp>
        <p:nvSpPr>
          <p:cNvPr id="157" name=""/>
          <p:cNvSpPr txBox="1"/>
          <p:nvPr/>
        </p:nvSpPr>
        <p:spPr>
          <a:xfrm>
            <a:off x="869040" y="2107080"/>
            <a:ext cx="2817000" cy="194040"/>
          </a:xfrm>
          <a:prstGeom prst="rect">
            <a:avLst/>
          </a:prstGeom>
          <a:noFill/>
          <a:ln w="0">
            <a:noFill/>
          </a:ln>
        </p:spPr>
        <p:txBody>
          <a:bodyPr wrap="none" lIns="0" rIns="0" tIns="0" bIns="0" anchor="t">
            <a:spAutoFit/>
          </a:bodyPr>
          <a:p>
            <a:r>
              <a:rPr b="0" lang="zh-CN" sz="1050" strike="noStrike" u="none">
                <a:solidFill>
                  <a:srgbClr val="ffffff"/>
                </a:solidFill>
                <a:effectLst/>
                <a:uFillTx/>
                <a:latin typeface="NotoSansJP"/>
                <a:ea typeface="NotoSansJP"/>
              </a:rPr>
              <a:t>強度データ：</a:t>
            </a:r>
            <a:r>
              <a:rPr b="0" lang="zh-CN" sz="1050" strike="noStrike" u="none">
                <a:solidFill>
                  <a:srgbClr val="a7c6d9"/>
                </a:solidFill>
                <a:effectLst/>
                <a:uFillTx/>
                <a:latin typeface="NotoSansJP"/>
                <a:ea typeface="NotoSansJP"/>
              </a:rPr>
              <a:t>干渉縞の強度のみを記録した形式</a:t>
            </a:r>
            <a:endParaRPr b="0" lang="en-US" sz="1050" strike="noStrike" u="none">
              <a:solidFill>
                <a:srgbClr val="000000"/>
              </a:solidFill>
              <a:effectLst/>
              <a:uFillTx/>
              <a:latin typeface="Times New Roman"/>
            </a:endParaRPr>
          </a:p>
        </p:txBody>
      </p:sp>
      <p:sp>
        <p:nvSpPr>
          <p:cNvPr id="158" name=""/>
          <p:cNvSpPr txBox="1"/>
          <p:nvPr/>
        </p:nvSpPr>
        <p:spPr>
          <a:xfrm>
            <a:off x="869040" y="2374560"/>
            <a:ext cx="3085200" cy="194040"/>
          </a:xfrm>
          <a:prstGeom prst="rect">
            <a:avLst/>
          </a:prstGeom>
          <a:noFill/>
          <a:ln w="0">
            <a:noFill/>
          </a:ln>
        </p:spPr>
        <p:txBody>
          <a:bodyPr wrap="none" lIns="0" rIns="0" tIns="0" bIns="0" anchor="t">
            <a:spAutoFit/>
          </a:bodyPr>
          <a:p>
            <a:r>
              <a:rPr b="0" lang="zh-CN" sz="1050" strike="noStrike" u="none">
                <a:solidFill>
                  <a:srgbClr val="ffffff"/>
                </a:solidFill>
                <a:effectLst/>
                <a:uFillTx/>
                <a:latin typeface="NotoSansJP"/>
                <a:ea typeface="NotoSansJP"/>
              </a:rPr>
              <a:t>位相データ：</a:t>
            </a:r>
            <a:r>
              <a:rPr b="0" lang="zh-CN" sz="1050" strike="noStrike" u="none">
                <a:solidFill>
                  <a:srgbClr val="a7c6d9"/>
                </a:solidFill>
                <a:effectLst/>
                <a:uFillTx/>
                <a:latin typeface="NotoSansJP"/>
                <a:ea typeface="NotoSansJP"/>
              </a:rPr>
              <a:t>キノフォームのように位相のみを変調</a:t>
            </a:r>
            <a:endParaRPr b="0" lang="en-US" sz="1050" strike="noStrike" u="none">
              <a:solidFill>
                <a:srgbClr val="000000"/>
              </a:solidFill>
              <a:effectLst/>
              <a:uFillTx/>
              <a:latin typeface="Times New Roman"/>
            </a:endParaRPr>
          </a:p>
        </p:txBody>
      </p:sp>
      <p:sp>
        <p:nvSpPr>
          <p:cNvPr id="159" name=""/>
          <p:cNvSpPr txBox="1"/>
          <p:nvPr/>
        </p:nvSpPr>
        <p:spPr>
          <a:xfrm>
            <a:off x="702000" y="3043080"/>
            <a:ext cx="805320" cy="194040"/>
          </a:xfrm>
          <a:prstGeom prst="rect">
            <a:avLst/>
          </a:prstGeom>
          <a:noFill/>
          <a:ln w="0">
            <a:noFill/>
          </a:ln>
        </p:spPr>
        <p:txBody>
          <a:bodyPr wrap="none" lIns="0" rIns="0" tIns="0" bIns="0" anchor="t">
            <a:spAutoFit/>
          </a:bodyPr>
          <a:p>
            <a:r>
              <a:rPr b="0" lang="zh-CN" sz="1050" strike="noStrike" u="none">
                <a:solidFill>
                  <a:srgbClr val="ffffff"/>
                </a:solidFill>
                <a:effectLst/>
                <a:uFillTx/>
                <a:latin typeface="NotoSansJP"/>
                <a:ea typeface="NotoSansJP"/>
              </a:rPr>
              <a:t>読み込み方法</a:t>
            </a:r>
            <a:endParaRPr b="0" lang="en-US" sz="1050" strike="noStrike" u="none">
              <a:solidFill>
                <a:srgbClr val="000000"/>
              </a:solidFill>
              <a:effectLst/>
              <a:uFillTx/>
              <a:latin typeface="Times New Roman"/>
            </a:endParaRPr>
          </a:p>
        </p:txBody>
      </p:sp>
      <p:sp>
        <p:nvSpPr>
          <p:cNvPr id="160" name=""/>
          <p:cNvSpPr txBox="1"/>
          <p:nvPr/>
        </p:nvSpPr>
        <p:spPr>
          <a:xfrm>
            <a:off x="702000" y="3344040"/>
            <a:ext cx="3722040" cy="194040"/>
          </a:xfrm>
          <a:prstGeom prst="rect">
            <a:avLst/>
          </a:prstGeom>
          <a:noFill/>
          <a:ln w="0">
            <a:noFill/>
          </a:ln>
        </p:spPr>
        <p:txBody>
          <a:bodyPr wrap="none" lIns="0" rIns="0" tIns="0" bIns="0" anchor="t">
            <a:spAutoFit/>
          </a:bodyPr>
          <a:p>
            <a:r>
              <a:rPr b="0" lang="zh-CN" sz="1050" strike="noStrike" u="none">
                <a:solidFill>
                  <a:srgbClr val="a7c6d9"/>
                </a:solidFill>
                <a:effectLst/>
                <a:uFillTx/>
                <a:latin typeface="NotoSansJP"/>
                <a:ea typeface="NotoSansJP"/>
              </a:rPr>
              <a:t>位相型</a:t>
            </a:r>
            <a:r>
              <a:rPr b="0" lang="en-US" sz="1050" strike="noStrike" u="none">
                <a:solidFill>
                  <a:srgbClr val="a7c6d9"/>
                </a:solidFill>
                <a:effectLst/>
                <a:uFillTx/>
                <a:latin typeface="NotoSansJP"/>
                <a:ea typeface="NotoSansJP"/>
              </a:rPr>
              <a:t>CGH</a:t>
            </a:r>
            <a:r>
              <a:rPr b="0" lang="zh-CN" sz="1050" strike="noStrike" u="none">
                <a:solidFill>
                  <a:srgbClr val="a7c6d9"/>
                </a:solidFill>
                <a:effectLst/>
                <a:uFillTx/>
                <a:latin typeface="NotoSansJP"/>
                <a:ea typeface="NotoSansJP"/>
              </a:rPr>
              <a:t>を画像として読み込み、複素振幅に変換する例：</a:t>
            </a:r>
            <a:endParaRPr b="0" lang="en-US" sz="1050" strike="noStrike" u="none">
              <a:solidFill>
                <a:srgbClr val="000000"/>
              </a:solidFill>
              <a:effectLst/>
              <a:uFillTx/>
              <a:latin typeface="Times New Roman"/>
            </a:endParaRPr>
          </a:p>
        </p:txBody>
      </p:sp>
      <p:sp>
        <p:nvSpPr>
          <p:cNvPr id="161" name=""/>
          <p:cNvSpPr txBox="1"/>
          <p:nvPr/>
        </p:nvSpPr>
        <p:spPr>
          <a:xfrm>
            <a:off x="802080" y="3894120"/>
            <a:ext cx="353880" cy="136080"/>
          </a:xfrm>
          <a:prstGeom prst="rect">
            <a:avLst/>
          </a:prstGeom>
          <a:noFill/>
          <a:ln w="0">
            <a:noFill/>
          </a:ln>
        </p:spPr>
        <p:txBody>
          <a:bodyPr wrap="none" lIns="0" rIns="0" tIns="0" bIns="0" anchor="t">
            <a:spAutoFit/>
          </a:bodyPr>
          <a:p>
            <a:r>
              <a:rPr b="0" lang="en-US" sz="920" strike="noStrike" u="none">
                <a:solidFill>
                  <a:srgbClr val="6b8096"/>
                </a:solidFill>
                <a:effectLst/>
                <a:uFillTx/>
                <a:latin typeface="DejaVuSansMono"/>
                <a:ea typeface="DejaVuSansMono"/>
              </a:rPr>
              <a:t># CGH</a:t>
            </a:r>
            <a:endParaRPr b="0" lang="en-US" sz="920" strike="noStrike" u="none">
              <a:solidFill>
                <a:srgbClr val="000000"/>
              </a:solidFill>
              <a:effectLst/>
              <a:uFillTx/>
              <a:latin typeface="Times New Roman"/>
            </a:endParaRPr>
          </a:p>
        </p:txBody>
      </p:sp>
      <p:sp>
        <p:nvSpPr>
          <p:cNvPr id="162" name=""/>
          <p:cNvSpPr txBox="1"/>
          <p:nvPr/>
        </p:nvSpPr>
        <p:spPr>
          <a:xfrm>
            <a:off x="1154520" y="3890160"/>
            <a:ext cx="2380680" cy="148320"/>
          </a:xfrm>
          <a:prstGeom prst="rect">
            <a:avLst/>
          </a:prstGeom>
          <a:noFill/>
          <a:ln w="0">
            <a:noFill/>
          </a:ln>
        </p:spPr>
        <p:txBody>
          <a:bodyPr wrap="none" lIns="0" rIns="0" tIns="0" bIns="0" anchor="t">
            <a:spAutoFit/>
          </a:bodyPr>
          <a:p>
            <a:r>
              <a:rPr b="0" lang="zh-CN" sz="920" strike="noStrike" u="none">
                <a:solidFill>
                  <a:srgbClr val="6b8096"/>
                </a:solidFill>
                <a:effectLst/>
                <a:uFillTx/>
                <a:latin typeface="WenQuanYiZenHei"/>
                <a:ea typeface="WenQuanYiZenHei"/>
              </a:rPr>
              <a:t>画像ファイル（グレースケール）を読み込む</a:t>
            </a:r>
            <a:endParaRPr b="0" lang="en-US" sz="920" strike="noStrike" u="none">
              <a:solidFill>
                <a:srgbClr val="000000"/>
              </a:solidFill>
              <a:effectLst/>
              <a:uFillTx/>
              <a:latin typeface="Times New Roman"/>
            </a:endParaRPr>
          </a:p>
        </p:txBody>
      </p:sp>
      <p:sp>
        <p:nvSpPr>
          <p:cNvPr id="163" name=""/>
          <p:cNvSpPr txBox="1"/>
          <p:nvPr/>
        </p:nvSpPr>
        <p:spPr>
          <a:xfrm>
            <a:off x="802080" y="4061520"/>
            <a:ext cx="4239720" cy="136080"/>
          </a:xfrm>
          <a:prstGeom prst="rect">
            <a:avLst/>
          </a:prstGeom>
          <a:noFill/>
          <a:ln w="0">
            <a:noFill/>
          </a:ln>
        </p:spPr>
        <p:txBody>
          <a:bodyPr wrap="none" lIns="0" rIns="0" tIns="0" bIns="0" anchor="t">
            <a:spAutoFit/>
          </a:bodyPr>
          <a:p>
            <a:r>
              <a:rPr b="0" lang="en-US" sz="920" strike="noStrike" u="none">
                <a:solidFill>
                  <a:srgbClr val="ff8c00"/>
                </a:solidFill>
                <a:effectLst/>
                <a:uFillTx/>
                <a:latin typeface="DejaVuSansMono"/>
                <a:ea typeface="DejaVuSansMono"/>
              </a:rPr>
              <a:t>cgh_image</a:t>
            </a:r>
            <a:r>
              <a:rPr b="0" lang="en-US" sz="920" strike="noStrike" u="none">
                <a:solidFill>
                  <a:srgbClr val="ffffff"/>
                </a:solidFill>
                <a:effectLst/>
                <a:uFillTx/>
                <a:latin typeface="DejaVuSansMono"/>
                <a:ea typeface="DejaVuSansMono"/>
              </a:rPr>
              <a:t> = cv2.imread("cgh_data.png", cv2.IMREAD_GRAYSCALE)</a:t>
            </a:r>
            <a:endParaRPr b="0" lang="en-US" sz="920" strike="noStrike" u="none">
              <a:solidFill>
                <a:srgbClr val="000000"/>
              </a:solidFill>
              <a:effectLst/>
              <a:uFillTx/>
              <a:latin typeface="Times New Roman"/>
            </a:endParaRPr>
          </a:p>
        </p:txBody>
      </p:sp>
      <p:sp>
        <p:nvSpPr>
          <p:cNvPr id="164" name=""/>
          <p:cNvSpPr txBox="1"/>
          <p:nvPr/>
        </p:nvSpPr>
        <p:spPr>
          <a:xfrm>
            <a:off x="802080" y="4395600"/>
            <a:ext cx="495360" cy="136080"/>
          </a:xfrm>
          <a:prstGeom prst="rect">
            <a:avLst/>
          </a:prstGeom>
          <a:noFill/>
          <a:ln w="0">
            <a:noFill/>
          </a:ln>
        </p:spPr>
        <p:txBody>
          <a:bodyPr wrap="none" lIns="0" rIns="0" tIns="0" bIns="0" anchor="t">
            <a:spAutoFit/>
          </a:bodyPr>
          <a:p>
            <a:r>
              <a:rPr b="0" lang="en-US" sz="920" strike="noStrike" u="none">
                <a:solidFill>
                  <a:srgbClr val="6b8096"/>
                </a:solidFill>
                <a:effectLst/>
                <a:uFillTx/>
                <a:latin typeface="DejaVuSansMono"/>
                <a:ea typeface="DejaVuSansMono"/>
              </a:rPr>
              <a:t># 0-255</a:t>
            </a:r>
            <a:endParaRPr b="0" lang="en-US" sz="920" strike="noStrike" u="none">
              <a:solidFill>
                <a:srgbClr val="000000"/>
              </a:solidFill>
              <a:effectLst/>
              <a:uFillTx/>
              <a:latin typeface="Times New Roman"/>
            </a:endParaRPr>
          </a:p>
        </p:txBody>
      </p:sp>
      <p:sp>
        <p:nvSpPr>
          <p:cNvPr id="165" name=""/>
          <p:cNvSpPr txBox="1"/>
          <p:nvPr/>
        </p:nvSpPr>
        <p:spPr>
          <a:xfrm>
            <a:off x="1295280" y="4391640"/>
            <a:ext cx="358200" cy="148320"/>
          </a:xfrm>
          <a:prstGeom prst="rect">
            <a:avLst/>
          </a:prstGeom>
          <a:noFill/>
          <a:ln w="0">
            <a:noFill/>
          </a:ln>
        </p:spPr>
        <p:txBody>
          <a:bodyPr wrap="none" lIns="0" rIns="0" tIns="0" bIns="0" anchor="t">
            <a:spAutoFit/>
          </a:bodyPr>
          <a:p>
            <a:r>
              <a:rPr b="0" lang="zh-CN" sz="920" strike="noStrike" u="none">
                <a:solidFill>
                  <a:srgbClr val="6b8096"/>
                </a:solidFill>
                <a:effectLst/>
                <a:uFillTx/>
                <a:latin typeface="WenQuanYiZenHei"/>
                <a:ea typeface="WenQuanYiZenHei"/>
              </a:rPr>
              <a:t>の値を</a:t>
            </a:r>
            <a:endParaRPr b="0" lang="en-US" sz="920" strike="noStrike" u="none">
              <a:solidFill>
                <a:srgbClr val="000000"/>
              </a:solidFill>
              <a:effectLst/>
              <a:uFillTx/>
              <a:latin typeface="Times New Roman"/>
            </a:endParaRPr>
          </a:p>
        </p:txBody>
      </p:sp>
      <p:sp>
        <p:nvSpPr>
          <p:cNvPr id="166" name=""/>
          <p:cNvSpPr txBox="1"/>
          <p:nvPr/>
        </p:nvSpPr>
        <p:spPr>
          <a:xfrm>
            <a:off x="1646280" y="4395600"/>
            <a:ext cx="283320" cy="136080"/>
          </a:xfrm>
          <a:prstGeom prst="rect">
            <a:avLst/>
          </a:prstGeom>
          <a:noFill/>
          <a:ln w="0">
            <a:noFill/>
          </a:ln>
        </p:spPr>
        <p:txBody>
          <a:bodyPr wrap="none" lIns="0" rIns="0" tIns="0" bIns="0" anchor="t">
            <a:spAutoFit/>
          </a:bodyPr>
          <a:p>
            <a:r>
              <a:rPr b="0" lang="en-US" sz="920" strike="noStrike" u="none">
                <a:solidFill>
                  <a:srgbClr val="6b8096"/>
                </a:solidFill>
                <a:effectLst/>
                <a:uFillTx/>
                <a:latin typeface="DejaVuSansMono"/>
                <a:ea typeface="DejaVuSansMono"/>
              </a:rPr>
              <a:t>0-2π</a:t>
            </a:r>
            <a:endParaRPr b="0" lang="en-US" sz="920" strike="noStrike" u="none">
              <a:solidFill>
                <a:srgbClr val="000000"/>
              </a:solidFill>
              <a:effectLst/>
              <a:uFillTx/>
              <a:latin typeface="Times New Roman"/>
            </a:endParaRPr>
          </a:p>
        </p:txBody>
      </p:sp>
      <p:sp>
        <p:nvSpPr>
          <p:cNvPr id="167" name=""/>
          <p:cNvSpPr txBox="1"/>
          <p:nvPr/>
        </p:nvSpPr>
        <p:spPr>
          <a:xfrm>
            <a:off x="1928160" y="4391640"/>
            <a:ext cx="945000" cy="148320"/>
          </a:xfrm>
          <a:prstGeom prst="rect">
            <a:avLst/>
          </a:prstGeom>
          <a:noFill/>
          <a:ln w="0">
            <a:noFill/>
          </a:ln>
        </p:spPr>
        <p:txBody>
          <a:bodyPr wrap="none" lIns="0" rIns="0" tIns="0" bIns="0" anchor="t">
            <a:spAutoFit/>
          </a:bodyPr>
          <a:p>
            <a:r>
              <a:rPr b="0" lang="zh-CN" sz="920" strike="noStrike" u="none">
                <a:solidFill>
                  <a:srgbClr val="6b8096"/>
                </a:solidFill>
                <a:effectLst/>
                <a:uFillTx/>
                <a:latin typeface="WenQuanYiZenHei"/>
                <a:ea typeface="WenQuanYiZenHei"/>
              </a:rPr>
              <a:t>の位相値に正規化</a:t>
            </a:r>
            <a:endParaRPr b="0" lang="en-US" sz="920" strike="noStrike" u="none">
              <a:solidFill>
                <a:srgbClr val="000000"/>
              </a:solidFill>
              <a:effectLst/>
              <a:uFillTx/>
              <a:latin typeface="Times New Roman"/>
            </a:endParaRPr>
          </a:p>
        </p:txBody>
      </p:sp>
      <p:sp>
        <p:nvSpPr>
          <p:cNvPr id="168" name=""/>
          <p:cNvSpPr txBox="1"/>
          <p:nvPr/>
        </p:nvSpPr>
        <p:spPr>
          <a:xfrm>
            <a:off x="802080" y="4563000"/>
            <a:ext cx="3108960" cy="136080"/>
          </a:xfrm>
          <a:prstGeom prst="rect">
            <a:avLst/>
          </a:prstGeom>
          <a:noFill/>
          <a:ln w="0">
            <a:noFill/>
          </a:ln>
        </p:spPr>
        <p:txBody>
          <a:bodyPr wrap="none" lIns="0" rIns="0" tIns="0" bIns="0" anchor="t">
            <a:spAutoFit/>
          </a:bodyPr>
          <a:p>
            <a:r>
              <a:rPr b="0" lang="en-US" sz="920" strike="noStrike" u="none">
                <a:solidFill>
                  <a:srgbClr val="ff8c00"/>
                </a:solidFill>
                <a:effectLst/>
                <a:uFillTx/>
                <a:latin typeface="DejaVuSansMono"/>
                <a:ea typeface="DejaVuSansMono"/>
              </a:rPr>
              <a:t>phase_data</a:t>
            </a:r>
            <a:r>
              <a:rPr b="0" lang="en-US" sz="920" strike="noStrike" u="none">
                <a:solidFill>
                  <a:srgbClr val="ffffff"/>
                </a:solidFill>
                <a:effectLst/>
                <a:uFillTx/>
                <a:latin typeface="DejaVuSansMono"/>
                <a:ea typeface="DejaVuSansMono"/>
              </a:rPr>
              <a:t> = (cgh_image / 255.0) * 2 * np.pi</a:t>
            </a:r>
            <a:endParaRPr b="0" lang="en-US" sz="920" strike="noStrike" u="none">
              <a:solidFill>
                <a:srgbClr val="000000"/>
              </a:solidFill>
              <a:effectLst/>
              <a:uFillTx/>
              <a:latin typeface="Times New Roman"/>
            </a:endParaRPr>
          </a:p>
        </p:txBody>
      </p:sp>
      <p:sp>
        <p:nvSpPr>
          <p:cNvPr id="169" name=""/>
          <p:cNvSpPr txBox="1"/>
          <p:nvPr/>
        </p:nvSpPr>
        <p:spPr>
          <a:xfrm>
            <a:off x="802080" y="4897080"/>
            <a:ext cx="141840" cy="136080"/>
          </a:xfrm>
          <a:prstGeom prst="rect">
            <a:avLst/>
          </a:prstGeom>
          <a:noFill/>
          <a:ln w="0">
            <a:noFill/>
          </a:ln>
        </p:spPr>
        <p:txBody>
          <a:bodyPr wrap="none" lIns="0" rIns="0" tIns="0" bIns="0" anchor="t">
            <a:spAutoFit/>
          </a:bodyPr>
          <a:p>
            <a:r>
              <a:rPr b="0" lang="en-US" sz="920" strike="noStrike" u="none">
                <a:solidFill>
                  <a:srgbClr val="6b8096"/>
                </a:solidFill>
                <a:effectLst/>
                <a:uFillTx/>
                <a:latin typeface="DejaVuSansMono"/>
                <a:ea typeface="DejaVuSansMono"/>
              </a:rPr>
              <a:t># </a:t>
            </a:r>
            <a:endParaRPr b="0" lang="en-US" sz="920" strike="noStrike" u="none">
              <a:solidFill>
                <a:srgbClr val="000000"/>
              </a:solidFill>
              <a:effectLst/>
              <a:uFillTx/>
              <a:latin typeface="Times New Roman"/>
            </a:endParaRPr>
          </a:p>
        </p:txBody>
      </p:sp>
      <p:sp>
        <p:nvSpPr>
          <p:cNvPr id="170" name=""/>
          <p:cNvSpPr txBox="1"/>
          <p:nvPr/>
        </p:nvSpPr>
        <p:spPr>
          <a:xfrm>
            <a:off x="943200" y="4893120"/>
            <a:ext cx="355680" cy="148320"/>
          </a:xfrm>
          <a:prstGeom prst="rect">
            <a:avLst/>
          </a:prstGeom>
          <a:noFill/>
          <a:ln w="0">
            <a:noFill/>
          </a:ln>
        </p:spPr>
        <p:txBody>
          <a:bodyPr wrap="none" lIns="0" rIns="0" tIns="0" bIns="0" anchor="t">
            <a:spAutoFit/>
          </a:bodyPr>
          <a:p>
            <a:r>
              <a:rPr b="0" lang="zh-CN" sz="920" strike="noStrike" u="none">
                <a:solidFill>
                  <a:srgbClr val="6b8096"/>
                </a:solidFill>
                <a:effectLst/>
                <a:uFillTx/>
                <a:latin typeface="WenQuanYiZenHei"/>
                <a:ea typeface="WenQuanYiZenHei"/>
              </a:rPr>
              <a:t>振幅を</a:t>
            </a:r>
            <a:endParaRPr b="0" lang="en-US" sz="920" strike="noStrike" u="none">
              <a:solidFill>
                <a:srgbClr val="000000"/>
              </a:solidFill>
              <a:effectLst/>
              <a:uFillTx/>
              <a:latin typeface="Times New Roman"/>
            </a:endParaRPr>
          </a:p>
        </p:txBody>
      </p:sp>
      <p:sp>
        <p:nvSpPr>
          <p:cNvPr id="171" name=""/>
          <p:cNvSpPr txBox="1"/>
          <p:nvPr/>
        </p:nvSpPr>
        <p:spPr>
          <a:xfrm>
            <a:off x="1294200" y="4897080"/>
            <a:ext cx="116640" cy="136080"/>
          </a:xfrm>
          <a:prstGeom prst="rect">
            <a:avLst/>
          </a:prstGeom>
          <a:noFill/>
          <a:ln w="0">
            <a:noFill/>
          </a:ln>
        </p:spPr>
        <p:txBody>
          <a:bodyPr wrap="none" lIns="0" rIns="0" tIns="0" bIns="0" anchor="t">
            <a:spAutoFit/>
          </a:bodyPr>
          <a:p>
            <a:r>
              <a:rPr b="0" lang="en-US" sz="920" strike="noStrike" u="none">
                <a:solidFill>
                  <a:srgbClr val="6b8096"/>
                </a:solidFill>
                <a:effectLst/>
                <a:uFillTx/>
                <a:latin typeface="DejaVuSansMono"/>
                <a:ea typeface="DejaVuSansMono"/>
              </a:rPr>
              <a:t>1</a:t>
            </a:r>
            <a:endParaRPr b="0" lang="en-US" sz="920" strike="noStrike" u="none">
              <a:solidFill>
                <a:srgbClr val="000000"/>
              </a:solidFill>
              <a:effectLst/>
              <a:uFillTx/>
              <a:latin typeface="Times New Roman"/>
            </a:endParaRPr>
          </a:p>
        </p:txBody>
      </p:sp>
      <p:sp>
        <p:nvSpPr>
          <p:cNvPr id="172" name=""/>
          <p:cNvSpPr txBox="1"/>
          <p:nvPr/>
        </p:nvSpPr>
        <p:spPr>
          <a:xfrm>
            <a:off x="1364400" y="4893120"/>
            <a:ext cx="1065240" cy="148320"/>
          </a:xfrm>
          <a:prstGeom prst="rect">
            <a:avLst/>
          </a:prstGeom>
          <a:noFill/>
          <a:ln w="0">
            <a:noFill/>
          </a:ln>
        </p:spPr>
        <p:txBody>
          <a:bodyPr wrap="none" lIns="0" rIns="0" tIns="0" bIns="0" anchor="t">
            <a:spAutoFit/>
          </a:bodyPr>
          <a:p>
            <a:r>
              <a:rPr b="0" lang="zh-CN" sz="920" strike="noStrike" u="none">
                <a:solidFill>
                  <a:srgbClr val="6b8096"/>
                </a:solidFill>
                <a:effectLst/>
                <a:uFillTx/>
                <a:latin typeface="WenQuanYiZenHei"/>
                <a:ea typeface="WenQuanYiZenHei"/>
              </a:rPr>
              <a:t>と仮定して複素振幅</a:t>
            </a:r>
            <a:endParaRPr b="0" lang="en-US" sz="920" strike="noStrike" u="none">
              <a:solidFill>
                <a:srgbClr val="000000"/>
              </a:solidFill>
              <a:effectLst/>
              <a:uFillTx/>
              <a:latin typeface="Times New Roman"/>
            </a:endParaRPr>
          </a:p>
        </p:txBody>
      </p:sp>
      <p:sp>
        <p:nvSpPr>
          <p:cNvPr id="173" name=""/>
          <p:cNvSpPr txBox="1"/>
          <p:nvPr/>
        </p:nvSpPr>
        <p:spPr>
          <a:xfrm>
            <a:off x="2417400" y="4897080"/>
            <a:ext cx="212760" cy="136080"/>
          </a:xfrm>
          <a:prstGeom prst="rect">
            <a:avLst/>
          </a:prstGeom>
          <a:noFill/>
          <a:ln w="0">
            <a:noFill/>
          </a:ln>
        </p:spPr>
        <p:txBody>
          <a:bodyPr wrap="none" lIns="0" rIns="0" tIns="0" bIns="0" anchor="t">
            <a:spAutoFit/>
          </a:bodyPr>
          <a:p>
            <a:r>
              <a:rPr b="0" lang="en-US" sz="920" strike="noStrike" u="none">
                <a:solidFill>
                  <a:srgbClr val="6b8096"/>
                </a:solidFill>
                <a:effectLst/>
                <a:uFillTx/>
                <a:latin typeface="DejaVuSansMono"/>
                <a:ea typeface="DejaVuSansMono"/>
              </a:rPr>
              <a:t>CGH</a:t>
            </a:r>
            <a:endParaRPr b="0" lang="en-US" sz="920" strike="noStrike" u="none">
              <a:solidFill>
                <a:srgbClr val="000000"/>
              </a:solidFill>
              <a:effectLst/>
              <a:uFillTx/>
              <a:latin typeface="Times New Roman"/>
            </a:endParaRPr>
          </a:p>
        </p:txBody>
      </p:sp>
      <p:sp>
        <p:nvSpPr>
          <p:cNvPr id="174" name=""/>
          <p:cNvSpPr txBox="1"/>
          <p:nvPr/>
        </p:nvSpPr>
        <p:spPr>
          <a:xfrm>
            <a:off x="2628720" y="4893120"/>
            <a:ext cx="355680" cy="148320"/>
          </a:xfrm>
          <a:prstGeom prst="rect">
            <a:avLst/>
          </a:prstGeom>
          <a:noFill/>
          <a:ln w="0">
            <a:noFill/>
          </a:ln>
        </p:spPr>
        <p:txBody>
          <a:bodyPr wrap="none" lIns="0" rIns="0" tIns="0" bIns="0" anchor="t">
            <a:spAutoFit/>
          </a:bodyPr>
          <a:p>
            <a:r>
              <a:rPr b="0" lang="zh-CN" sz="920" strike="noStrike" u="none">
                <a:solidFill>
                  <a:srgbClr val="6b8096"/>
                </a:solidFill>
                <a:effectLst/>
                <a:uFillTx/>
                <a:latin typeface="WenQuanYiZenHei"/>
                <a:ea typeface="WenQuanYiZenHei"/>
              </a:rPr>
              <a:t>を生成</a:t>
            </a:r>
            <a:endParaRPr b="0" lang="en-US" sz="920" strike="noStrike" u="none">
              <a:solidFill>
                <a:srgbClr val="000000"/>
              </a:solidFill>
              <a:effectLst/>
              <a:uFillTx/>
              <a:latin typeface="Times New Roman"/>
            </a:endParaRPr>
          </a:p>
        </p:txBody>
      </p:sp>
      <p:sp>
        <p:nvSpPr>
          <p:cNvPr id="175" name=""/>
          <p:cNvSpPr txBox="1"/>
          <p:nvPr/>
        </p:nvSpPr>
        <p:spPr>
          <a:xfrm>
            <a:off x="802080" y="5064120"/>
            <a:ext cx="4451760" cy="136080"/>
          </a:xfrm>
          <a:prstGeom prst="rect">
            <a:avLst/>
          </a:prstGeom>
          <a:noFill/>
          <a:ln w="0">
            <a:noFill/>
          </a:ln>
        </p:spPr>
        <p:txBody>
          <a:bodyPr wrap="none" lIns="0" rIns="0" tIns="0" bIns="0" anchor="t">
            <a:spAutoFit/>
          </a:bodyPr>
          <a:p>
            <a:r>
              <a:rPr b="0" lang="en-US" sz="920" strike="noStrike" u="none">
                <a:solidFill>
                  <a:srgbClr val="ff8c00"/>
                </a:solidFill>
                <a:effectLst/>
                <a:uFillTx/>
                <a:latin typeface="DejaVuSansMono"/>
                <a:ea typeface="DejaVuSansMono"/>
              </a:rPr>
              <a:t>cgh_complex</a:t>
            </a:r>
            <a:r>
              <a:rPr b="0" lang="en-US" sz="920" strike="noStrike" u="none">
                <a:solidFill>
                  <a:srgbClr val="ffffff"/>
                </a:solidFill>
                <a:effectLst/>
                <a:uFillTx/>
                <a:latin typeface="DejaVuSansMono"/>
                <a:ea typeface="DejaVuSansMono"/>
              </a:rPr>
              <a:t> = np.ones_like(phase_data) * np.exp(1j * phase_data</a:t>
            </a:r>
            <a:endParaRPr b="0" lang="en-US" sz="920" strike="noStrike" u="none">
              <a:solidFill>
                <a:srgbClr val="000000"/>
              </a:solidFill>
              <a:effectLst/>
              <a:uFillTx/>
              <a:latin typeface="Times New Roman"/>
            </a:endParaRPr>
          </a:p>
        </p:txBody>
      </p:sp>
      <p:sp>
        <p:nvSpPr>
          <p:cNvPr id="176" name=""/>
          <p:cNvSpPr/>
          <p:nvPr/>
        </p:nvSpPr>
        <p:spPr>
          <a:xfrm>
            <a:off x="5548680" y="1337040"/>
            <a:ext cx="4613400" cy="1838520"/>
          </a:xfrm>
          <a:custGeom>
            <a:avLst/>
            <a:gdLst/>
            <a:ahLst/>
            <a:rect l="0" t="0" r="r" b="b"/>
            <a:pathLst>
              <a:path w="12815" h="5107">
                <a:moveTo>
                  <a:pt x="0" y="4922"/>
                </a:moveTo>
                <a:lnTo>
                  <a:pt x="0" y="185"/>
                </a:lnTo>
                <a:cubicBezTo>
                  <a:pt x="0" y="173"/>
                  <a:pt x="1" y="161"/>
                  <a:pt x="4" y="149"/>
                </a:cubicBezTo>
                <a:cubicBezTo>
                  <a:pt x="6" y="137"/>
                  <a:pt x="9" y="125"/>
                  <a:pt x="14" y="114"/>
                </a:cubicBezTo>
                <a:cubicBezTo>
                  <a:pt x="19" y="103"/>
                  <a:pt x="24" y="92"/>
                  <a:pt x="31" y="82"/>
                </a:cubicBezTo>
                <a:cubicBezTo>
                  <a:pt x="38" y="72"/>
                  <a:pt x="46" y="63"/>
                  <a:pt x="54" y="54"/>
                </a:cubicBezTo>
                <a:cubicBezTo>
                  <a:pt x="63" y="45"/>
                  <a:pt x="72" y="38"/>
                  <a:pt x="83" y="31"/>
                </a:cubicBezTo>
                <a:cubicBezTo>
                  <a:pt x="93" y="24"/>
                  <a:pt x="103" y="18"/>
                  <a:pt x="115" y="14"/>
                </a:cubicBezTo>
                <a:cubicBezTo>
                  <a:pt x="126" y="9"/>
                  <a:pt x="137" y="6"/>
                  <a:pt x="149" y="3"/>
                </a:cubicBezTo>
                <a:cubicBezTo>
                  <a:pt x="161" y="1"/>
                  <a:pt x="173" y="0"/>
                  <a:pt x="186" y="0"/>
                </a:cubicBezTo>
                <a:lnTo>
                  <a:pt x="12629" y="0"/>
                </a:lnTo>
                <a:cubicBezTo>
                  <a:pt x="12641" y="0"/>
                  <a:pt x="12653" y="1"/>
                  <a:pt x="12665" y="3"/>
                </a:cubicBezTo>
                <a:cubicBezTo>
                  <a:pt x="12677" y="6"/>
                  <a:pt x="12689" y="9"/>
                  <a:pt x="12700" y="14"/>
                </a:cubicBezTo>
                <a:cubicBezTo>
                  <a:pt x="12711" y="18"/>
                  <a:pt x="12722" y="24"/>
                  <a:pt x="12732" y="31"/>
                </a:cubicBezTo>
                <a:cubicBezTo>
                  <a:pt x="12742" y="38"/>
                  <a:pt x="12752" y="45"/>
                  <a:pt x="12760" y="54"/>
                </a:cubicBezTo>
                <a:cubicBezTo>
                  <a:pt x="12769" y="63"/>
                  <a:pt x="12776" y="72"/>
                  <a:pt x="12783" y="82"/>
                </a:cubicBezTo>
                <a:cubicBezTo>
                  <a:pt x="12790" y="92"/>
                  <a:pt x="12796" y="103"/>
                  <a:pt x="12800" y="114"/>
                </a:cubicBezTo>
                <a:cubicBezTo>
                  <a:pt x="12805" y="125"/>
                  <a:pt x="12809" y="137"/>
                  <a:pt x="12811" y="149"/>
                </a:cubicBezTo>
                <a:cubicBezTo>
                  <a:pt x="12813" y="161"/>
                  <a:pt x="12815" y="173"/>
                  <a:pt x="12815" y="185"/>
                </a:cubicBezTo>
                <a:lnTo>
                  <a:pt x="12815" y="4922"/>
                </a:lnTo>
                <a:cubicBezTo>
                  <a:pt x="12815" y="4934"/>
                  <a:pt x="12813" y="4946"/>
                  <a:pt x="12811" y="4958"/>
                </a:cubicBezTo>
                <a:cubicBezTo>
                  <a:pt x="12809" y="4970"/>
                  <a:pt x="12805" y="4982"/>
                  <a:pt x="12800" y="4993"/>
                </a:cubicBezTo>
                <a:cubicBezTo>
                  <a:pt x="12796" y="5004"/>
                  <a:pt x="12790" y="5015"/>
                  <a:pt x="12783" y="5025"/>
                </a:cubicBezTo>
                <a:cubicBezTo>
                  <a:pt x="12776" y="5035"/>
                  <a:pt x="12769" y="5044"/>
                  <a:pt x="12760" y="5053"/>
                </a:cubicBezTo>
                <a:cubicBezTo>
                  <a:pt x="12752" y="5062"/>
                  <a:pt x="12742" y="5069"/>
                  <a:pt x="12732" y="5076"/>
                </a:cubicBezTo>
                <a:cubicBezTo>
                  <a:pt x="12722" y="5083"/>
                  <a:pt x="12711" y="5089"/>
                  <a:pt x="12700" y="5093"/>
                </a:cubicBezTo>
                <a:cubicBezTo>
                  <a:pt x="12689" y="5098"/>
                  <a:pt x="12677" y="5102"/>
                  <a:pt x="12665" y="5104"/>
                </a:cubicBezTo>
                <a:cubicBezTo>
                  <a:pt x="12653" y="5106"/>
                  <a:pt x="12641" y="5107"/>
                  <a:pt x="12629" y="5107"/>
                </a:cubicBezTo>
                <a:lnTo>
                  <a:pt x="186" y="5107"/>
                </a:lnTo>
                <a:cubicBezTo>
                  <a:pt x="173" y="5107"/>
                  <a:pt x="161" y="5106"/>
                  <a:pt x="149" y="5104"/>
                </a:cubicBezTo>
                <a:cubicBezTo>
                  <a:pt x="137" y="5102"/>
                  <a:pt x="126" y="5098"/>
                  <a:pt x="115" y="5093"/>
                </a:cubicBezTo>
                <a:cubicBezTo>
                  <a:pt x="103" y="5089"/>
                  <a:pt x="93" y="5083"/>
                  <a:pt x="83" y="5076"/>
                </a:cubicBezTo>
                <a:cubicBezTo>
                  <a:pt x="72" y="5069"/>
                  <a:pt x="63" y="5062"/>
                  <a:pt x="54" y="5053"/>
                </a:cubicBezTo>
                <a:cubicBezTo>
                  <a:pt x="46" y="5044"/>
                  <a:pt x="38" y="5035"/>
                  <a:pt x="31" y="5025"/>
                </a:cubicBezTo>
                <a:cubicBezTo>
                  <a:pt x="24" y="5015"/>
                  <a:pt x="19" y="5004"/>
                  <a:pt x="14" y="4993"/>
                </a:cubicBezTo>
                <a:cubicBezTo>
                  <a:pt x="9" y="4982"/>
                  <a:pt x="6" y="4970"/>
                  <a:pt x="4" y="4958"/>
                </a:cubicBezTo>
                <a:cubicBezTo>
                  <a:pt x="1" y="4946"/>
                  <a:pt x="0" y="4934"/>
                  <a:pt x="0" y="4922"/>
                </a:cubicBezTo>
                <a:close/>
              </a:path>
            </a:pathLst>
          </a:custGeom>
          <a:solidFill>
            <a:srgbClr val="ffffff">
              <a:alpha val="10000"/>
            </a:srgbClr>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177" name=""/>
          <p:cNvSpPr/>
          <p:nvPr/>
        </p:nvSpPr>
        <p:spPr>
          <a:xfrm>
            <a:off x="5548680" y="3309120"/>
            <a:ext cx="4613400" cy="2707920"/>
          </a:xfrm>
          <a:custGeom>
            <a:avLst/>
            <a:gdLst/>
            <a:ahLst/>
            <a:rect l="0" t="0" r="r" b="b"/>
            <a:pathLst>
              <a:path w="12815" h="7522">
                <a:moveTo>
                  <a:pt x="0" y="7522"/>
                </a:moveTo>
                <a:lnTo>
                  <a:pt x="0" y="186"/>
                </a:lnTo>
                <a:cubicBezTo>
                  <a:pt x="0" y="173"/>
                  <a:pt x="1" y="161"/>
                  <a:pt x="4" y="149"/>
                </a:cubicBezTo>
                <a:cubicBezTo>
                  <a:pt x="6" y="137"/>
                  <a:pt x="9" y="126"/>
                  <a:pt x="14" y="115"/>
                </a:cubicBezTo>
                <a:cubicBezTo>
                  <a:pt x="19" y="103"/>
                  <a:pt x="24" y="93"/>
                  <a:pt x="31" y="82"/>
                </a:cubicBezTo>
                <a:cubicBezTo>
                  <a:pt x="38" y="72"/>
                  <a:pt x="46" y="63"/>
                  <a:pt x="54" y="54"/>
                </a:cubicBezTo>
                <a:cubicBezTo>
                  <a:pt x="63" y="46"/>
                  <a:pt x="72" y="38"/>
                  <a:pt x="83" y="31"/>
                </a:cubicBezTo>
                <a:cubicBezTo>
                  <a:pt x="93" y="24"/>
                  <a:pt x="103" y="19"/>
                  <a:pt x="115" y="14"/>
                </a:cubicBezTo>
                <a:cubicBezTo>
                  <a:pt x="126" y="9"/>
                  <a:pt x="137" y="6"/>
                  <a:pt x="149" y="3"/>
                </a:cubicBezTo>
                <a:cubicBezTo>
                  <a:pt x="161" y="1"/>
                  <a:pt x="173" y="0"/>
                  <a:pt x="186" y="0"/>
                </a:cubicBezTo>
                <a:lnTo>
                  <a:pt x="12629" y="0"/>
                </a:lnTo>
                <a:cubicBezTo>
                  <a:pt x="12641" y="0"/>
                  <a:pt x="12653" y="1"/>
                  <a:pt x="12665" y="3"/>
                </a:cubicBezTo>
                <a:cubicBezTo>
                  <a:pt x="12677" y="6"/>
                  <a:pt x="12689" y="9"/>
                  <a:pt x="12700" y="14"/>
                </a:cubicBezTo>
                <a:cubicBezTo>
                  <a:pt x="12711" y="19"/>
                  <a:pt x="12722" y="24"/>
                  <a:pt x="12732" y="31"/>
                </a:cubicBezTo>
                <a:cubicBezTo>
                  <a:pt x="12742" y="38"/>
                  <a:pt x="12752" y="46"/>
                  <a:pt x="12760" y="54"/>
                </a:cubicBezTo>
                <a:cubicBezTo>
                  <a:pt x="12769" y="63"/>
                  <a:pt x="12776" y="72"/>
                  <a:pt x="12783" y="82"/>
                </a:cubicBezTo>
                <a:cubicBezTo>
                  <a:pt x="12790" y="93"/>
                  <a:pt x="12796" y="103"/>
                  <a:pt x="12800" y="115"/>
                </a:cubicBezTo>
                <a:cubicBezTo>
                  <a:pt x="12805" y="126"/>
                  <a:pt x="12809" y="137"/>
                  <a:pt x="12811" y="149"/>
                </a:cubicBezTo>
                <a:cubicBezTo>
                  <a:pt x="12813" y="161"/>
                  <a:pt x="12815" y="173"/>
                  <a:pt x="12815" y="186"/>
                </a:cubicBezTo>
                <a:lnTo>
                  <a:pt x="12815" y="7522"/>
                </a:lnTo>
                <a:lnTo>
                  <a:pt x="0" y="7522"/>
                </a:lnTo>
                <a:close/>
              </a:path>
            </a:pathLst>
          </a:custGeom>
          <a:solidFill>
            <a:srgbClr val="ffffff">
              <a:alpha val="10000"/>
            </a:srgbClr>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178" name=""/>
          <p:cNvSpPr/>
          <p:nvPr/>
        </p:nvSpPr>
        <p:spPr>
          <a:xfrm>
            <a:off x="5715720" y="3777120"/>
            <a:ext cx="4278960" cy="2039400"/>
          </a:xfrm>
          <a:custGeom>
            <a:avLst/>
            <a:gdLst/>
            <a:ahLst/>
            <a:rect l="0" t="0" r="r" b="b"/>
            <a:pathLst>
              <a:path w="11886" h="5665">
                <a:moveTo>
                  <a:pt x="0" y="5479"/>
                </a:moveTo>
                <a:lnTo>
                  <a:pt x="0" y="186"/>
                </a:lnTo>
                <a:cubicBezTo>
                  <a:pt x="0" y="173"/>
                  <a:pt x="1" y="161"/>
                  <a:pt x="4" y="149"/>
                </a:cubicBezTo>
                <a:cubicBezTo>
                  <a:pt x="6" y="137"/>
                  <a:pt x="10" y="126"/>
                  <a:pt x="14" y="114"/>
                </a:cubicBezTo>
                <a:cubicBezTo>
                  <a:pt x="19" y="103"/>
                  <a:pt x="25" y="92"/>
                  <a:pt x="32" y="82"/>
                </a:cubicBezTo>
                <a:cubicBezTo>
                  <a:pt x="38" y="72"/>
                  <a:pt x="46" y="63"/>
                  <a:pt x="55" y="54"/>
                </a:cubicBezTo>
                <a:cubicBezTo>
                  <a:pt x="63" y="46"/>
                  <a:pt x="73" y="38"/>
                  <a:pt x="83" y="31"/>
                </a:cubicBezTo>
                <a:cubicBezTo>
                  <a:pt x="93" y="24"/>
                  <a:pt x="104" y="19"/>
                  <a:pt x="115" y="14"/>
                </a:cubicBezTo>
                <a:cubicBezTo>
                  <a:pt x="126" y="9"/>
                  <a:pt x="138" y="6"/>
                  <a:pt x="150" y="3"/>
                </a:cubicBezTo>
                <a:cubicBezTo>
                  <a:pt x="162" y="1"/>
                  <a:pt x="174" y="0"/>
                  <a:pt x="186" y="0"/>
                </a:cubicBezTo>
                <a:lnTo>
                  <a:pt x="11701" y="0"/>
                </a:lnTo>
                <a:cubicBezTo>
                  <a:pt x="11713" y="0"/>
                  <a:pt x="11725" y="1"/>
                  <a:pt x="11737" y="3"/>
                </a:cubicBezTo>
                <a:cubicBezTo>
                  <a:pt x="11749" y="6"/>
                  <a:pt x="11760" y="9"/>
                  <a:pt x="11772" y="14"/>
                </a:cubicBezTo>
                <a:cubicBezTo>
                  <a:pt x="11783" y="19"/>
                  <a:pt x="11794" y="24"/>
                  <a:pt x="11804" y="31"/>
                </a:cubicBezTo>
                <a:cubicBezTo>
                  <a:pt x="11814" y="38"/>
                  <a:pt x="11823" y="46"/>
                  <a:pt x="11832" y="54"/>
                </a:cubicBezTo>
                <a:cubicBezTo>
                  <a:pt x="11841" y="63"/>
                  <a:pt x="11848" y="72"/>
                  <a:pt x="11855" y="82"/>
                </a:cubicBezTo>
                <a:cubicBezTo>
                  <a:pt x="11862" y="92"/>
                  <a:pt x="11868" y="103"/>
                  <a:pt x="11872" y="114"/>
                </a:cubicBezTo>
                <a:cubicBezTo>
                  <a:pt x="11877" y="126"/>
                  <a:pt x="11880" y="137"/>
                  <a:pt x="11883" y="149"/>
                </a:cubicBezTo>
                <a:cubicBezTo>
                  <a:pt x="11885" y="161"/>
                  <a:pt x="11886" y="173"/>
                  <a:pt x="11886" y="186"/>
                </a:cubicBezTo>
                <a:lnTo>
                  <a:pt x="11886" y="5479"/>
                </a:lnTo>
                <a:cubicBezTo>
                  <a:pt x="11886" y="5491"/>
                  <a:pt x="11885" y="5503"/>
                  <a:pt x="11883" y="5515"/>
                </a:cubicBezTo>
                <a:cubicBezTo>
                  <a:pt x="11880" y="5527"/>
                  <a:pt x="11877" y="5539"/>
                  <a:pt x="11872" y="5550"/>
                </a:cubicBezTo>
                <a:cubicBezTo>
                  <a:pt x="11868" y="5561"/>
                  <a:pt x="11862" y="5572"/>
                  <a:pt x="11855" y="5582"/>
                </a:cubicBezTo>
                <a:cubicBezTo>
                  <a:pt x="11848" y="5592"/>
                  <a:pt x="11841" y="5602"/>
                  <a:pt x="11832" y="5610"/>
                </a:cubicBezTo>
                <a:cubicBezTo>
                  <a:pt x="11823" y="5619"/>
                  <a:pt x="11814" y="5627"/>
                  <a:pt x="11804" y="5633"/>
                </a:cubicBezTo>
                <a:cubicBezTo>
                  <a:pt x="11794" y="5640"/>
                  <a:pt x="11783" y="5646"/>
                  <a:pt x="11772" y="5651"/>
                </a:cubicBezTo>
                <a:cubicBezTo>
                  <a:pt x="11760" y="5655"/>
                  <a:pt x="11749" y="5659"/>
                  <a:pt x="11737" y="5661"/>
                </a:cubicBezTo>
                <a:cubicBezTo>
                  <a:pt x="11725" y="5664"/>
                  <a:pt x="11713" y="5665"/>
                  <a:pt x="11701" y="5665"/>
                </a:cubicBezTo>
                <a:lnTo>
                  <a:pt x="186" y="5665"/>
                </a:lnTo>
                <a:cubicBezTo>
                  <a:pt x="174" y="5665"/>
                  <a:pt x="162" y="5664"/>
                  <a:pt x="150" y="5661"/>
                </a:cubicBezTo>
                <a:cubicBezTo>
                  <a:pt x="138" y="5659"/>
                  <a:pt x="126" y="5655"/>
                  <a:pt x="115" y="5651"/>
                </a:cubicBezTo>
                <a:cubicBezTo>
                  <a:pt x="104" y="5646"/>
                  <a:pt x="93" y="5640"/>
                  <a:pt x="83" y="5633"/>
                </a:cubicBezTo>
                <a:cubicBezTo>
                  <a:pt x="73" y="5627"/>
                  <a:pt x="63" y="5619"/>
                  <a:pt x="55" y="5610"/>
                </a:cubicBezTo>
                <a:cubicBezTo>
                  <a:pt x="46" y="5602"/>
                  <a:pt x="38" y="5592"/>
                  <a:pt x="32" y="5582"/>
                </a:cubicBezTo>
                <a:cubicBezTo>
                  <a:pt x="25" y="5572"/>
                  <a:pt x="19" y="5561"/>
                  <a:pt x="14" y="5550"/>
                </a:cubicBezTo>
                <a:cubicBezTo>
                  <a:pt x="10" y="5539"/>
                  <a:pt x="6" y="5527"/>
                  <a:pt x="4" y="5515"/>
                </a:cubicBezTo>
                <a:cubicBezTo>
                  <a:pt x="1" y="5503"/>
                  <a:pt x="0" y="5491"/>
                  <a:pt x="0" y="5479"/>
                </a:cubicBezTo>
                <a:close/>
              </a:path>
            </a:pathLst>
          </a:custGeom>
          <a:solidFill>
            <a:srgbClr val="000000">
              <a:alpha val="30000"/>
            </a:srgbClr>
          </a:solidFill>
          <a:ln w="0">
            <a:noFill/>
          </a:ln>
        </p:spPr>
        <p:txBody>
          <a:bodyPr lIns="0" rIns="0" tIns="0" bIns="0" anchor="t">
            <a:noAutofit/>
          </a:bodyPr>
          <a:p>
            <a:endParaRPr b="0" lang="en-US" sz="2400" strike="noStrike" u="none">
              <a:solidFill>
                <a:srgbClr val="ffffff"/>
              </a:solidFill>
              <a:effectLst/>
              <a:uFillTx/>
              <a:latin typeface="Times New Roman"/>
            </a:endParaRPr>
          </a:p>
        </p:txBody>
      </p:sp>
      <p:pic>
        <p:nvPicPr>
          <p:cNvPr id="179" name="" descr=""/>
          <p:cNvPicPr/>
          <p:nvPr/>
        </p:nvPicPr>
        <p:blipFill>
          <a:blip r:embed="rId6"/>
          <a:stretch/>
        </p:blipFill>
        <p:spPr>
          <a:xfrm>
            <a:off x="5548680" y="969480"/>
            <a:ext cx="250200" cy="200160"/>
          </a:xfrm>
          <a:prstGeom prst="rect">
            <a:avLst/>
          </a:prstGeom>
          <a:noFill/>
          <a:ln w="0">
            <a:noFill/>
          </a:ln>
        </p:spPr>
      </p:pic>
      <p:sp>
        <p:nvSpPr>
          <p:cNvPr id="180" name=""/>
          <p:cNvSpPr txBox="1"/>
          <p:nvPr/>
        </p:nvSpPr>
        <p:spPr>
          <a:xfrm>
            <a:off x="802080" y="5231520"/>
            <a:ext cx="1696320" cy="136080"/>
          </a:xfrm>
          <a:prstGeom prst="rect">
            <a:avLst/>
          </a:prstGeom>
          <a:noFill/>
          <a:ln w="0">
            <a:noFill/>
          </a:ln>
        </p:spPr>
        <p:txBody>
          <a:bodyPr wrap="none" lIns="0" rIns="0" tIns="0" bIns="0" anchor="t">
            <a:spAutoFit/>
          </a:bodyPr>
          <a:p>
            <a:r>
              <a:rPr b="0" lang="en-US" sz="920" strike="noStrike" u="none">
                <a:solidFill>
                  <a:srgbClr val="ffffff"/>
                </a:solidFill>
                <a:effectLst/>
                <a:uFillTx/>
                <a:latin typeface="DejaVuSansMono"/>
                <a:ea typeface="DejaVuSansMono"/>
              </a:rPr>
              <a:t>                        </a:t>
            </a:r>
            <a:endParaRPr b="0" lang="en-US" sz="920" strike="noStrike" u="none">
              <a:solidFill>
                <a:srgbClr val="000000"/>
              </a:solidFill>
              <a:effectLst/>
              <a:uFillTx/>
              <a:latin typeface="Times New Roman"/>
            </a:endParaRPr>
          </a:p>
        </p:txBody>
      </p:sp>
      <p:sp>
        <p:nvSpPr>
          <p:cNvPr id="181" name=""/>
          <p:cNvSpPr txBox="1"/>
          <p:nvPr/>
        </p:nvSpPr>
        <p:spPr>
          <a:xfrm>
            <a:off x="5899680" y="966960"/>
            <a:ext cx="1811160" cy="291600"/>
          </a:xfrm>
          <a:prstGeom prst="rect">
            <a:avLst/>
          </a:prstGeom>
          <a:noFill/>
          <a:ln w="0">
            <a:noFill/>
          </a:ln>
        </p:spPr>
        <p:txBody>
          <a:bodyPr wrap="none" lIns="0" rIns="0" tIns="0" bIns="0" anchor="t">
            <a:spAutoFit/>
          </a:bodyPr>
          <a:p>
            <a:r>
              <a:rPr b="0" lang="zh-CN" sz="1580" strike="noStrike" u="none">
                <a:solidFill>
                  <a:srgbClr val="a7c6d9"/>
                </a:solidFill>
                <a:effectLst/>
                <a:uFillTx/>
                <a:latin typeface="NotoSansJP"/>
                <a:ea typeface="NotoSansJP"/>
              </a:rPr>
              <a:t>参照光の生成と乗算</a:t>
            </a:r>
            <a:endParaRPr b="0" lang="en-US" sz="1580" strike="noStrike" u="none">
              <a:solidFill>
                <a:srgbClr val="000000"/>
              </a:solidFill>
              <a:effectLst/>
              <a:uFillTx/>
              <a:latin typeface="Times New Roman"/>
            </a:endParaRPr>
          </a:p>
        </p:txBody>
      </p:sp>
      <p:sp>
        <p:nvSpPr>
          <p:cNvPr id="182" name=""/>
          <p:cNvSpPr txBox="1"/>
          <p:nvPr/>
        </p:nvSpPr>
        <p:spPr>
          <a:xfrm>
            <a:off x="5716080" y="1539000"/>
            <a:ext cx="1476000" cy="194040"/>
          </a:xfrm>
          <a:prstGeom prst="rect">
            <a:avLst/>
          </a:prstGeom>
          <a:noFill/>
          <a:ln w="0">
            <a:noFill/>
          </a:ln>
        </p:spPr>
        <p:txBody>
          <a:bodyPr wrap="none" lIns="0" rIns="0" tIns="0" bIns="0" anchor="t">
            <a:spAutoFit/>
          </a:bodyPr>
          <a:p>
            <a:r>
              <a:rPr b="0" lang="zh-CN" sz="1050" strike="noStrike" u="none">
                <a:solidFill>
                  <a:srgbClr val="ffffff"/>
                </a:solidFill>
                <a:effectLst/>
                <a:uFillTx/>
                <a:latin typeface="NotoSansJP"/>
                <a:ea typeface="NotoSansJP"/>
              </a:rPr>
              <a:t>参照光の種類と数式表現</a:t>
            </a:r>
            <a:endParaRPr b="0" lang="en-US" sz="1050" strike="noStrike" u="none">
              <a:solidFill>
                <a:srgbClr val="000000"/>
              </a:solidFill>
              <a:effectLst/>
              <a:uFillTx/>
              <a:latin typeface="Times New Roman"/>
            </a:endParaRPr>
          </a:p>
        </p:txBody>
      </p:sp>
      <p:sp>
        <p:nvSpPr>
          <p:cNvPr id="183" name=""/>
          <p:cNvSpPr txBox="1"/>
          <p:nvPr/>
        </p:nvSpPr>
        <p:spPr>
          <a:xfrm>
            <a:off x="5716080" y="1839600"/>
            <a:ext cx="939600" cy="194040"/>
          </a:xfrm>
          <a:prstGeom prst="rect">
            <a:avLst/>
          </a:prstGeom>
          <a:noFill/>
          <a:ln w="0">
            <a:noFill/>
          </a:ln>
        </p:spPr>
        <p:txBody>
          <a:bodyPr wrap="none" lIns="0" rIns="0" tIns="0" bIns="0" anchor="t">
            <a:spAutoFit/>
          </a:bodyPr>
          <a:p>
            <a:r>
              <a:rPr b="0" lang="zh-CN" sz="1050" strike="noStrike" u="none">
                <a:solidFill>
                  <a:srgbClr val="ffffff"/>
                </a:solidFill>
                <a:effectLst/>
                <a:uFillTx/>
                <a:latin typeface="NotoSansJP"/>
                <a:ea typeface="NotoSansJP"/>
              </a:rPr>
              <a:t>平面波参照光：</a:t>
            </a:r>
            <a:endParaRPr b="0" lang="en-US" sz="1050" strike="noStrike" u="none">
              <a:solidFill>
                <a:srgbClr val="000000"/>
              </a:solidFill>
              <a:effectLst/>
              <a:uFillTx/>
              <a:latin typeface="Times New Roman"/>
            </a:endParaRPr>
          </a:p>
        </p:txBody>
      </p:sp>
      <p:sp>
        <p:nvSpPr>
          <p:cNvPr id="184" name=""/>
          <p:cNvSpPr txBox="1"/>
          <p:nvPr/>
        </p:nvSpPr>
        <p:spPr>
          <a:xfrm>
            <a:off x="5747040" y="2073600"/>
            <a:ext cx="1596600" cy="160560"/>
          </a:xfrm>
          <a:prstGeom prst="rect">
            <a:avLst/>
          </a:prstGeom>
          <a:noFill/>
          <a:ln w="0">
            <a:noFill/>
          </a:ln>
        </p:spPr>
        <p:txBody>
          <a:bodyPr wrap="none" lIns="0" rIns="0" tIns="0" bIns="0" anchor="t">
            <a:spAutoFit/>
          </a:bodyPr>
          <a:p>
            <a:r>
              <a:rPr b="0" lang="en-US" sz="1090" strike="noStrike" u="none">
                <a:solidFill>
                  <a:srgbClr val="a7c6d9"/>
                </a:solidFill>
                <a:effectLst/>
                <a:uFillTx/>
                <a:latin typeface="NotoSansJP"/>
                <a:ea typeface="NotoSansJP"/>
              </a:rPr>
              <a:t>R(x, y) = A  exp[i(k sin </a:t>
            </a:r>
            <a:endParaRPr b="0" lang="en-US" sz="1090" strike="noStrike" u="none">
              <a:solidFill>
                <a:srgbClr val="000000"/>
              </a:solidFill>
              <a:effectLst/>
              <a:uFillTx/>
              <a:latin typeface="Times New Roman"/>
            </a:endParaRPr>
          </a:p>
        </p:txBody>
      </p:sp>
      <p:sp>
        <p:nvSpPr>
          <p:cNvPr id="185" name=""/>
          <p:cNvSpPr txBox="1"/>
          <p:nvPr/>
        </p:nvSpPr>
        <p:spPr>
          <a:xfrm>
            <a:off x="7069680" y="2076840"/>
            <a:ext cx="133200" cy="151200"/>
          </a:xfrm>
          <a:prstGeom prst="rect">
            <a:avLst/>
          </a:prstGeom>
          <a:noFill/>
          <a:ln w="0">
            <a:noFill/>
          </a:ln>
        </p:spPr>
        <p:txBody>
          <a:bodyPr wrap="none" lIns="0" rIns="0" tIns="0" bIns="0" anchor="t">
            <a:spAutoFit/>
          </a:bodyPr>
          <a:p>
            <a:r>
              <a:rPr b="0" i="1" lang="en-US" sz="1050" strike="noStrike" u="none">
                <a:solidFill>
                  <a:srgbClr val="a7c6d9"/>
                </a:solidFill>
                <a:effectLst/>
                <a:uFillTx/>
                <a:latin typeface="Arial"/>
                <a:ea typeface="Arial"/>
              </a:rPr>
              <a:t>θ</a:t>
            </a:r>
            <a:endParaRPr b="0" lang="en-US" sz="1050" strike="noStrike" u="none">
              <a:solidFill>
                <a:srgbClr val="000000"/>
              </a:solidFill>
              <a:effectLst/>
              <a:uFillTx/>
              <a:latin typeface="Times New Roman"/>
            </a:endParaRPr>
          </a:p>
        </p:txBody>
      </p:sp>
      <p:sp>
        <p:nvSpPr>
          <p:cNvPr id="186" name=""/>
          <p:cNvSpPr txBox="1"/>
          <p:nvPr/>
        </p:nvSpPr>
        <p:spPr>
          <a:xfrm>
            <a:off x="7223400" y="2073600"/>
            <a:ext cx="690840" cy="160560"/>
          </a:xfrm>
          <a:prstGeom prst="rect">
            <a:avLst/>
          </a:prstGeom>
          <a:noFill/>
          <a:ln w="0">
            <a:noFill/>
          </a:ln>
        </p:spPr>
        <p:txBody>
          <a:bodyPr wrap="none" lIns="0" rIns="0" tIns="0" bIns="0" anchor="t">
            <a:spAutoFit/>
          </a:bodyPr>
          <a:p>
            <a:r>
              <a:rPr b="0" lang="en-US" sz="1090" strike="noStrike" u="none">
                <a:solidFill>
                  <a:srgbClr val="a7c6d9"/>
                </a:solidFill>
                <a:effectLst/>
                <a:uFillTx/>
                <a:latin typeface="NotoSansJP"/>
                <a:ea typeface="NotoSansJP"/>
              </a:rPr>
              <a:t> x + k sin </a:t>
            </a:r>
            <a:endParaRPr b="0" lang="en-US" sz="1090" strike="noStrike" u="none">
              <a:solidFill>
                <a:srgbClr val="000000"/>
              </a:solidFill>
              <a:effectLst/>
              <a:uFillTx/>
              <a:latin typeface="Times New Roman"/>
            </a:endParaRPr>
          </a:p>
        </p:txBody>
      </p:sp>
      <p:sp>
        <p:nvSpPr>
          <p:cNvPr id="187" name=""/>
          <p:cNvSpPr txBox="1"/>
          <p:nvPr/>
        </p:nvSpPr>
        <p:spPr>
          <a:xfrm>
            <a:off x="7752240" y="2076840"/>
            <a:ext cx="133200" cy="151200"/>
          </a:xfrm>
          <a:prstGeom prst="rect">
            <a:avLst/>
          </a:prstGeom>
          <a:noFill/>
          <a:ln w="0">
            <a:noFill/>
          </a:ln>
        </p:spPr>
        <p:txBody>
          <a:bodyPr wrap="none" lIns="0" rIns="0" tIns="0" bIns="0" anchor="t">
            <a:spAutoFit/>
          </a:bodyPr>
          <a:p>
            <a:r>
              <a:rPr b="0" i="1" lang="en-US" sz="1050" strike="noStrike" u="none">
                <a:solidFill>
                  <a:srgbClr val="a7c6d9"/>
                </a:solidFill>
                <a:effectLst/>
                <a:uFillTx/>
                <a:latin typeface="Arial"/>
                <a:ea typeface="Arial"/>
              </a:rPr>
              <a:t>θ</a:t>
            </a:r>
            <a:endParaRPr b="0" lang="en-US" sz="1050" strike="noStrike" u="none">
              <a:solidFill>
                <a:srgbClr val="000000"/>
              </a:solidFill>
              <a:effectLst/>
              <a:uFillTx/>
              <a:latin typeface="Times New Roman"/>
            </a:endParaRPr>
          </a:p>
        </p:txBody>
      </p:sp>
      <p:sp>
        <p:nvSpPr>
          <p:cNvPr id="188" name=""/>
          <p:cNvSpPr txBox="1"/>
          <p:nvPr/>
        </p:nvSpPr>
        <p:spPr>
          <a:xfrm>
            <a:off x="7906320" y="2073600"/>
            <a:ext cx="327600" cy="160560"/>
          </a:xfrm>
          <a:prstGeom prst="rect">
            <a:avLst/>
          </a:prstGeom>
          <a:noFill/>
          <a:ln w="0">
            <a:noFill/>
          </a:ln>
        </p:spPr>
        <p:txBody>
          <a:bodyPr wrap="none" lIns="0" rIns="0" tIns="0" bIns="0" anchor="t">
            <a:spAutoFit/>
          </a:bodyPr>
          <a:p>
            <a:r>
              <a:rPr b="0" lang="en-US" sz="1090" strike="noStrike" u="none">
                <a:solidFill>
                  <a:srgbClr val="a7c6d9"/>
                </a:solidFill>
                <a:effectLst/>
                <a:uFillTx/>
                <a:latin typeface="NotoSansJP"/>
                <a:ea typeface="NotoSansJP"/>
              </a:rPr>
              <a:t> y + </a:t>
            </a:r>
            <a:endParaRPr b="0" lang="en-US" sz="1090" strike="noStrike" u="none">
              <a:solidFill>
                <a:srgbClr val="000000"/>
              </a:solidFill>
              <a:effectLst/>
              <a:uFillTx/>
              <a:latin typeface="Times New Roman"/>
            </a:endParaRPr>
          </a:p>
        </p:txBody>
      </p:sp>
      <p:sp>
        <p:nvSpPr>
          <p:cNvPr id="189" name=""/>
          <p:cNvSpPr txBox="1"/>
          <p:nvPr/>
        </p:nvSpPr>
        <p:spPr>
          <a:xfrm>
            <a:off x="8117640" y="2076840"/>
            <a:ext cx="133200" cy="151200"/>
          </a:xfrm>
          <a:prstGeom prst="rect">
            <a:avLst/>
          </a:prstGeom>
          <a:noFill/>
          <a:ln w="0">
            <a:noFill/>
          </a:ln>
        </p:spPr>
        <p:txBody>
          <a:bodyPr wrap="none" lIns="0" rIns="0" tIns="0" bIns="0" anchor="t">
            <a:spAutoFit/>
          </a:bodyPr>
          <a:p>
            <a:r>
              <a:rPr b="0" i="1" lang="en-US" sz="1050" strike="noStrike" u="none">
                <a:solidFill>
                  <a:srgbClr val="a7c6d9"/>
                </a:solidFill>
                <a:effectLst/>
                <a:uFillTx/>
                <a:latin typeface="Arial"/>
                <a:ea typeface="Arial"/>
              </a:rPr>
              <a:t>φ</a:t>
            </a:r>
            <a:endParaRPr b="0" lang="en-US" sz="1050" strike="noStrike" u="none">
              <a:solidFill>
                <a:srgbClr val="000000"/>
              </a:solidFill>
              <a:effectLst/>
              <a:uFillTx/>
              <a:latin typeface="Times New Roman"/>
            </a:endParaRPr>
          </a:p>
        </p:txBody>
      </p:sp>
      <p:sp>
        <p:nvSpPr>
          <p:cNvPr id="190" name=""/>
          <p:cNvSpPr txBox="1"/>
          <p:nvPr/>
        </p:nvSpPr>
        <p:spPr>
          <a:xfrm>
            <a:off x="8302680" y="2073600"/>
            <a:ext cx="133200" cy="160560"/>
          </a:xfrm>
          <a:prstGeom prst="rect">
            <a:avLst/>
          </a:prstGeom>
          <a:noFill/>
          <a:ln w="0">
            <a:noFill/>
          </a:ln>
        </p:spPr>
        <p:txBody>
          <a:bodyPr wrap="none" lIns="0" rIns="0" tIns="0" bIns="0" anchor="t">
            <a:spAutoFit/>
          </a:bodyPr>
          <a:p>
            <a:r>
              <a:rPr b="0" lang="en-US" sz="1090" strike="noStrike" u="none">
                <a:solidFill>
                  <a:srgbClr val="a7c6d9"/>
                </a:solidFill>
                <a:effectLst/>
                <a:uFillTx/>
                <a:latin typeface="NotoSansJP"/>
                <a:ea typeface="NotoSansJP"/>
              </a:rPr>
              <a:t>)]</a:t>
            </a:r>
            <a:endParaRPr b="0" lang="en-US" sz="1090" strike="noStrike" u="none">
              <a:solidFill>
                <a:srgbClr val="000000"/>
              </a:solidFill>
              <a:effectLst/>
              <a:uFillTx/>
              <a:latin typeface="Times New Roman"/>
            </a:endParaRPr>
          </a:p>
        </p:txBody>
      </p:sp>
      <p:sp>
        <p:nvSpPr>
          <p:cNvPr id="191" name=""/>
          <p:cNvSpPr txBox="1"/>
          <p:nvPr/>
        </p:nvSpPr>
        <p:spPr>
          <a:xfrm>
            <a:off x="5716080" y="2408040"/>
            <a:ext cx="939600" cy="194040"/>
          </a:xfrm>
          <a:prstGeom prst="rect">
            <a:avLst/>
          </a:prstGeom>
          <a:noFill/>
          <a:ln w="0">
            <a:noFill/>
          </a:ln>
        </p:spPr>
        <p:txBody>
          <a:bodyPr wrap="none" lIns="0" rIns="0" tIns="0" bIns="0" anchor="t">
            <a:spAutoFit/>
          </a:bodyPr>
          <a:p>
            <a:r>
              <a:rPr b="0" lang="zh-CN" sz="1050" strike="noStrike" u="none">
                <a:solidFill>
                  <a:srgbClr val="ffffff"/>
                </a:solidFill>
                <a:effectLst/>
                <a:uFillTx/>
                <a:latin typeface="NotoSansJP"/>
                <a:ea typeface="NotoSansJP"/>
              </a:rPr>
              <a:t>球面波参照光：</a:t>
            </a:r>
            <a:endParaRPr b="0" lang="en-US" sz="1050" strike="noStrike" u="none">
              <a:solidFill>
                <a:srgbClr val="000000"/>
              </a:solidFill>
              <a:effectLst/>
              <a:uFillTx/>
              <a:latin typeface="Times New Roman"/>
            </a:endParaRPr>
          </a:p>
        </p:txBody>
      </p:sp>
      <p:sp>
        <p:nvSpPr>
          <p:cNvPr id="192" name=""/>
          <p:cNvSpPr txBox="1"/>
          <p:nvPr/>
        </p:nvSpPr>
        <p:spPr>
          <a:xfrm>
            <a:off x="5747040" y="2642040"/>
            <a:ext cx="1780920" cy="160560"/>
          </a:xfrm>
          <a:prstGeom prst="rect">
            <a:avLst/>
          </a:prstGeom>
          <a:noFill/>
          <a:ln w="0">
            <a:noFill/>
          </a:ln>
        </p:spPr>
        <p:txBody>
          <a:bodyPr wrap="none" lIns="0" rIns="0" tIns="0" bIns="0" anchor="t">
            <a:spAutoFit/>
          </a:bodyPr>
          <a:p>
            <a:r>
              <a:rPr b="0" lang="en-US" sz="1090" strike="noStrike" u="none">
                <a:solidFill>
                  <a:srgbClr val="a7c6d9"/>
                </a:solidFill>
                <a:effectLst/>
                <a:uFillTx/>
                <a:latin typeface="NotoSansJP"/>
                <a:ea typeface="NotoSansJP"/>
              </a:rPr>
              <a:t>R(x, y) = (A /r) exp[i(kr + </a:t>
            </a:r>
            <a:endParaRPr b="0" lang="en-US" sz="1090" strike="noStrike" u="none">
              <a:solidFill>
                <a:srgbClr val="000000"/>
              </a:solidFill>
              <a:effectLst/>
              <a:uFillTx/>
              <a:latin typeface="Times New Roman"/>
            </a:endParaRPr>
          </a:p>
        </p:txBody>
      </p:sp>
      <p:sp>
        <p:nvSpPr>
          <p:cNvPr id="193" name=""/>
          <p:cNvSpPr txBox="1"/>
          <p:nvPr/>
        </p:nvSpPr>
        <p:spPr>
          <a:xfrm>
            <a:off x="7203600" y="2644920"/>
            <a:ext cx="133200" cy="151200"/>
          </a:xfrm>
          <a:prstGeom prst="rect">
            <a:avLst/>
          </a:prstGeom>
          <a:noFill/>
          <a:ln w="0">
            <a:noFill/>
          </a:ln>
        </p:spPr>
        <p:txBody>
          <a:bodyPr wrap="none" lIns="0" rIns="0" tIns="0" bIns="0" anchor="t">
            <a:spAutoFit/>
          </a:bodyPr>
          <a:p>
            <a:r>
              <a:rPr b="0" i="1" lang="en-US" sz="1050" strike="noStrike" u="none">
                <a:solidFill>
                  <a:srgbClr val="a7c6d9"/>
                </a:solidFill>
                <a:effectLst/>
                <a:uFillTx/>
                <a:latin typeface="Arial"/>
                <a:ea typeface="Arial"/>
              </a:rPr>
              <a:t>φ</a:t>
            </a:r>
            <a:endParaRPr b="0" lang="en-US" sz="1050" strike="noStrike" u="none">
              <a:solidFill>
                <a:srgbClr val="000000"/>
              </a:solidFill>
              <a:effectLst/>
              <a:uFillTx/>
              <a:latin typeface="Times New Roman"/>
            </a:endParaRPr>
          </a:p>
        </p:txBody>
      </p:sp>
      <p:sp>
        <p:nvSpPr>
          <p:cNvPr id="194" name=""/>
          <p:cNvSpPr txBox="1"/>
          <p:nvPr/>
        </p:nvSpPr>
        <p:spPr>
          <a:xfrm>
            <a:off x="7388640" y="2642040"/>
            <a:ext cx="133200" cy="160560"/>
          </a:xfrm>
          <a:prstGeom prst="rect">
            <a:avLst/>
          </a:prstGeom>
          <a:noFill/>
          <a:ln w="0">
            <a:noFill/>
          </a:ln>
        </p:spPr>
        <p:txBody>
          <a:bodyPr wrap="none" lIns="0" rIns="0" tIns="0" bIns="0" anchor="t">
            <a:spAutoFit/>
          </a:bodyPr>
          <a:p>
            <a:r>
              <a:rPr b="0" lang="en-US" sz="1090" strike="noStrike" u="none">
                <a:solidFill>
                  <a:srgbClr val="a7c6d9"/>
                </a:solidFill>
                <a:effectLst/>
                <a:uFillTx/>
                <a:latin typeface="NotoSansJP"/>
                <a:ea typeface="NotoSansJP"/>
              </a:rPr>
              <a:t>)]</a:t>
            </a:r>
            <a:endParaRPr b="0" lang="en-US" sz="1090" strike="noStrike" u="none">
              <a:solidFill>
                <a:srgbClr val="000000"/>
              </a:solidFill>
              <a:effectLst/>
              <a:uFillTx/>
              <a:latin typeface="Times New Roman"/>
            </a:endParaRPr>
          </a:p>
        </p:txBody>
      </p:sp>
      <p:sp>
        <p:nvSpPr>
          <p:cNvPr id="195" name=""/>
          <p:cNvSpPr txBox="1"/>
          <p:nvPr/>
        </p:nvSpPr>
        <p:spPr>
          <a:xfrm>
            <a:off x="5716080" y="2866320"/>
            <a:ext cx="1594080" cy="136080"/>
          </a:xfrm>
          <a:prstGeom prst="rect">
            <a:avLst/>
          </a:prstGeom>
          <a:noFill/>
          <a:ln w="0">
            <a:noFill/>
          </a:ln>
        </p:spPr>
        <p:txBody>
          <a:bodyPr wrap="none" lIns="0" rIns="0" tIns="0" bIns="0" anchor="t">
            <a:spAutoFit/>
          </a:bodyPr>
          <a:p>
            <a:r>
              <a:rPr b="0" lang="en-US" sz="920" strike="noStrike" u="none">
                <a:solidFill>
                  <a:srgbClr val="a7c6d9"/>
                </a:solidFill>
                <a:effectLst/>
                <a:uFillTx/>
                <a:latin typeface="NotoSansJP"/>
                <a:ea typeface="NotoSansJP"/>
              </a:rPr>
              <a:t>r = √[(x-x )² + (y-y )² + z ²]</a:t>
            </a:r>
            <a:endParaRPr b="0" lang="en-US" sz="920" strike="noStrike" u="none">
              <a:solidFill>
                <a:srgbClr val="000000"/>
              </a:solidFill>
              <a:effectLst/>
              <a:uFillTx/>
              <a:latin typeface="Times New Roman"/>
            </a:endParaRPr>
          </a:p>
        </p:txBody>
      </p:sp>
      <p:sp>
        <p:nvSpPr>
          <p:cNvPr id="196" name=""/>
          <p:cNvSpPr txBox="1"/>
          <p:nvPr/>
        </p:nvSpPr>
        <p:spPr>
          <a:xfrm>
            <a:off x="5716080" y="3511080"/>
            <a:ext cx="1207800" cy="194040"/>
          </a:xfrm>
          <a:prstGeom prst="rect">
            <a:avLst/>
          </a:prstGeom>
          <a:noFill/>
          <a:ln w="0">
            <a:noFill/>
          </a:ln>
        </p:spPr>
        <p:txBody>
          <a:bodyPr wrap="none" lIns="0" rIns="0" tIns="0" bIns="0" anchor="t">
            <a:spAutoFit/>
          </a:bodyPr>
          <a:p>
            <a:r>
              <a:rPr b="0" lang="zh-CN" sz="1050" strike="noStrike" u="none">
                <a:solidFill>
                  <a:srgbClr val="ffffff"/>
                </a:solidFill>
                <a:effectLst/>
                <a:uFillTx/>
                <a:latin typeface="NotoSansJP"/>
                <a:ea typeface="NotoSansJP"/>
              </a:rPr>
              <a:t>参照光の生成と乗算</a:t>
            </a:r>
            <a:endParaRPr b="0" lang="en-US" sz="1050" strike="noStrike" u="none">
              <a:solidFill>
                <a:srgbClr val="000000"/>
              </a:solidFill>
              <a:effectLst/>
              <a:uFillTx/>
              <a:latin typeface="Times New Roman"/>
            </a:endParaRPr>
          </a:p>
        </p:txBody>
      </p:sp>
      <p:sp>
        <p:nvSpPr>
          <p:cNvPr id="197" name=""/>
          <p:cNvSpPr txBox="1"/>
          <p:nvPr/>
        </p:nvSpPr>
        <p:spPr>
          <a:xfrm>
            <a:off x="5816160" y="4061520"/>
            <a:ext cx="141840" cy="136080"/>
          </a:xfrm>
          <a:prstGeom prst="rect">
            <a:avLst/>
          </a:prstGeom>
          <a:noFill/>
          <a:ln w="0">
            <a:noFill/>
          </a:ln>
        </p:spPr>
        <p:txBody>
          <a:bodyPr wrap="none" lIns="0" rIns="0" tIns="0" bIns="0" anchor="t">
            <a:spAutoFit/>
          </a:bodyPr>
          <a:p>
            <a:r>
              <a:rPr b="0" lang="en-US" sz="920" strike="noStrike" u="none">
                <a:solidFill>
                  <a:srgbClr val="6b8096"/>
                </a:solidFill>
                <a:effectLst/>
                <a:uFillTx/>
                <a:latin typeface="DejaVuSansMono"/>
                <a:ea typeface="DejaVuSansMono"/>
              </a:rPr>
              <a:t># </a:t>
            </a:r>
            <a:endParaRPr b="0" lang="en-US" sz="920" strike="noStrike" u="none">
              <a:solidFill>
                <a:srgbClr val="000000"/>
              </a:solidFill>
              <a:effectLst/>
              <a:uFillTx/>
              <a:latin typeface="Times New Roman"/>
            </a:endParaRPr>
          </a:p>
        </p:txBody>
      </p:sp>
      <p:sp>
        <p:nvSpPr>
          <p:cNvPr id="198" name=""/>
          <p:cNvSpPr txBox="1"/>
          <p:nvPr/>
        </p:nvSpPr>
        <p:spPr>
          <a:xfrm>
            <a:off x="5957280" y="4057200"/>
            <a:ext cx="1059480" cy="148320"/>
          </a:xfrm>
          <a:prstGeom prst="rect">
            <a:avLst/>
          </a:prstGeom>
          <a:noFill/>
          <a:ln w="0">
            <a:noFill/>
          </a:ln>
        </p:spPr>
        <p:txBody>
          <a:bodyPr wrap="none" lIns="0" rIns="0" tIns="0" bIns="0" anchor="t">
            <a:spAutoFit/>
          </a:bodyPr>
          <a:p>
            <a:r>
              <a:rPr b="0" lang="zh-CN" sz="920" strike="noStrike" u="none">
                <a:solidFill>
                  <a:srgbClr val="6b8096"/>
                </a:solidFill>
                <a:effectLst/>
                <a:uFillTx/>
                <a:latin typeface="WenQuanYiZenHei"/>
                <a:ea typeface="WenQuanYiZenHei"/>
              </a:rPr>
              <a:t>平面波参照光の生成</a:t>
            </a:r>
            <a:endParaRPr b="0" lang="en-US" sz="920" strike="noStrike" u="none">
              <a:solidFill>
                <a:srgbClr val="000000"/>
              </a:solidFill>
              <a:effectLst/>
              <a:uFillTx/>
              <a:latin typeface="Times New Roman"/>
            </a:endParaRPr>
          </a:p>
        </p:txBody>
      </p:sp>
      <p:sp>
        <p:nvSpPr>
          <p:cNvPr id="199" name=""/>
          <p:cNvSpPr txBox="1"/>
          <p:nvPr/>
        </p:nvSpPr>
        <p:spPr>
          <a:xfrm>
            <a:off x="5816160" y="4228560"/>
            <a:ext cx="2685240" cy="136080"/>
          </a:xfrm>
          <a:prstGeom prst="rect">
            <a:avLst/>
          </a:prstGeom>
          <a:noFill/>
          <a:ln w="0">
            <a:noFill/>
          </a:ln>
        </p:spPr>
        <p:txBody>
          <a:bodyPr wrap="none" lIns="0" rIns="0" tIns="0" bIns="0" anchor="t">
            <a:spAutoFit/>
          </a:bodyPr>
          <a:p>
            <a:r>
              <a:rPr b="0" lang="en-US" sz="920" strike="noStrike" u="none">
                <a:solidFill>
                  <a:srgbClr val="ffffff"/>
                </a:solidFill>
                <a:effectLst/>
                <a:uFillTx/>
                <a:latin typeface="DejaVuSansMono"/>
                <a:ea typeface="DejaVuSansMono"/>
              </a:rPr>
              <a:t>x = np.arange(-N/2, N/2) * pixel_pitch</a:t>
            </a:r>
            <a:endParaRPr b="0" lang="en-US" sz="920" strike="noStrike" u="none">
              <a:solidFill>
                <a:srgbClr val="000000"/>
              </a:solidFill>
              <a:effectLst/>
              <a:uFillTx/>
              <a:latin typeface="Times New Roman"/>
            </a:endParaRPr>
          </a:p>
        </p:txBody>
      </p:sp>
      <p:sp>
        <p:nvSpPr>
          <p:cNvPr id="200" name=""/>
          <p:cNvSpPr txBox="1"/>
          <p:nvPr/>
        </p:nvSpPr>
        <p:spPr>
          <a:xfrm>
            <a:off x="5816160" y="4395600"/>
            <a:ext cx="2685240" cy="136080"/>
          </a:xfrm>
          <a:prstGeom prst="rect">
            <a:avLst/>
          </a:prstGeom>
          <a:noFill/>
          <a:ln w="0">
            <a:noFill/>
          </a:ln>
        </p:spPr>
        <p:txBody>
          <a:bodyPr wrap="none" lIns="0" rIns="0" tIns="0" bIns="0" anchor="t">
            <a:spAutoFit/>
          </a:bodyPr>
          <a:p>
            <a:r>
              <a:rPr b="0" lang="en-US" sz="920" strike="noStrike" u="none">
                <a:solidFill>
                  <a:srgbClr val="ffffff"/>
                </a:solidFill>
                <a:effectLst/>
                <a:uFillTx/>
                <a:latin typeface="DejaVuSansMono"/>
                <a:ea typeface="DejaVuSansMono"/>
              </a:rPr>
              <a:t>y = np.arange(-N/2, N/2) * pixel_pitch</a:t>
            </a:r>
            <a:endParaRPr b="0" lang="en-US" sz="920" strike="noStrike" u="none">
              <a:solidFill>
                <a:srgbClr val="000000"/>
              </a:solidFill>
              <a:effectLst/>
              <a:uFillTx/>
              <a:latin typeface="Times New Roman"/>
            </a:endParaRPr>
          </a:p>
        </p:txBody>
      </p:sp>
      <p:sp>
        <p:nvSpPr>
          <p:cNvPr id="201" name=""/>
          <p:cNvSpPr txBox="1"/>
          <p:nvPr/>
        </p:nvSpPr>
        <p:spPr>
          <a:xfrm>
            <a:off x="5816160" y="4563000"/>
            <a:ext cx="1696320" cy="136080"/>
          </a:xfrm>
          <a:prstGeom prst="rect">
            <a:avLst/>
          </a:prstGeom>
          <a:noFill/>
          <a:ln w="0">
            <a:noFill/>
          </a:ln>
        </p:spPr>
        <p:txBody>
          <a:bodyPr wrap="none" lIns="0" rIns="0" tIns="0" bIns="0" anchor="t">
            <a:spAutoFit/>
          </a:bodyPr>
          <a:p>
            <a:r>
              <a:rPr b="0" lang="en-US" sz="920" strike="noStrike" u="none">
                <a:solidFill>
                  <a:srgbClr val="ffffff"/>
                </a:solidFill>
                <a:effectLst/>
                <a:uFillTx/>
                <a:latin typeface="DejaVuSansMono"/>
                <a:ea typeface="DejaVuSansMono"/>
              </a:rPr>
              <a:t>X, Y = np.meshgrid(x, y)</a:t>
            </a:r>
            <a:endParaRPr b="0" lang="en-US" sz="920" strike="noStrike" u="none">
              <a:solidFill>
                <a:srgbClr val="000000"/>
              </a:solidFill>
              <a:effectLst/>
              <a:uFillTx/>
              <a:latin typeface="Times New Roman"/>
            </a:endParaRPr>
          </a:p>
        </p:txBody>
      </p:sp>
      <p:sp>
        <p:nvSpPr>
          <p:cNvPr id="202" name=""/>
          <p:cNvSpPr txBox="1"/>
          <p:nvPr/>
        </p:nvSpPr>
        <p:spPr>
          <a:xfrm>
            <a:off x="5816160" y="4897080"/>
            <a:ext cx="4027680" cy="136080"/>
          </a:xfrm>
          <a:prstGeom prst="rect">
            <a:avLst/>
          </a:prstGeom>
          <a:noFill/>
          <a:ln w="0">
            <a:noFill/>
          </a:ln>
        </p:spPr>
        <p:txBody>
          <a:bodyPr wrap="none" lIns="0" rIns="0" tIns="0" bIns="0" anchor="t">
            <a:spAutoFit/>
          </a:bodyPr>
          <a:p>
            <a:r>
              <a:rPr b="0" lang="en-US" sz="920" strike="noStrike" u="none">
                <a:solidFill>
                  <a:srgbClr val="ff8c00"/>
                </a:solidFill>
                <a:effectLst/>
                <a:uFillTx/>
                <a:latin typeface="DejaVuSansMono"/>
                <a:ea typeface="DejaVuSansMono"/>
              </a:rPr>
              <a:t>reference_wave</a:t>
            </a:r>
            <a:r>
              <a:rPr b="0" lang="en-US" sz="920" strike="noStrike" u="none">
                <a:solidFill>
                  <a:srgbClr val="ffffff"/>
                </a:solidFill>
                <a:effectLst/>
                <a:uFillTx/>
                <a:latin typeface="DejaVuSansMono"/>
                <a:ea typeface="DejaVuSansMono"/>
              </a:rPr>
              <a:t> = np.exp(1j * k * np.sin(theta_x_rad) * X)</a:t>
            </a:r>
            <a:endParaRPr b="0" lang="en-US" sz="920" strike="noStrike" u="none">
              <a:solidFill>
                <a:srgbClr val="000000"/>
              </a:solidFill>
              <a:effectLst/>
              <a:uFillTx/>
              <a:latin typeface="Times New Roman"/>
            </a:endParaRPr>
          </a:p>
        </p:txBody>
      </p:sp>
      <p:sp>
        <p:nvSpPr>
          <p:cNvPr id="203" name=""/>
          <p:cNvSpPr txBox="1"/>
          <p:nvPr/>
        </p:nvSpPr>
        <p:spPr>
          <a:xfrm>
            <a:off x="5816160" y="5231520"/>
            <a:ext cx="353880" cy="136080"/>
          </a:xfrm>
          <a:prstGeom prst="rect">
            <a:avLst/>
          </a:prstGeom>
          <a:noFill/>
          <a:ln w="0">
            <a:noFill/>
          </a:ln>
        </p:spPr>
        <p:txBody>
          <a:bodyPr wrap="none" lIns="0" rIns="0" tIns="0" bIns="0" anchor="t">
            <a:spAutoFit/>
          </a:bodyPr>
          <a:p>
            <a:r>
              <a:rPr b="0" lang="en-US" sz="920" strike="noStrike" u="none">
                <a:solidFill>
                  <a:srgbClr val="6b8096"/>
                </a:solidFill>
                <a:effectLst/>
                <a:uFillTx/>
                <a:latin typeface="DejaVuSansMono"/>
                <a:ea typeface="DejaVuSansMono"/>
              </a:rPr>
              <a:t># CGH</a:t>
            </a:r>
            <a:endParaRPr b="0" lang="en-US" sz="920" strike="noStrike" u="none">
              <a:solidFill>
                <a:srgbClr val="000000"/>
              </a:solidFill>
              <a:effectLst/>
              <a:uFillTx/>
              <a:latin typeface="Times New Roman"/>
            </a:endParaRPr>
          </a:p>
        </p:txBody>
      </p:sp>
      <p:sp>
        <p:nvSpPr>
          <p:cNvPr id="204" name=""/>
          <p:cNvSpPr txBox="1"/>
          <p:nvPr/>
        </p:nvSpPr>
        <p:spPr>
          <a:xfrm>
            <a:off x="6168600" y="5227200"/>
            <a:ext cx="827640" cy="148320"/>
          </a:xfrm>
          <a:prstGeom prst="rect">
            <a:avLst/>
          </a:prstGeom>
          <a:noFill/>
          <a:ln w="0">
            <a:noFill/>
          </a:ln>
        </p:spPr>
        <p:txBody>
          <a:bodyPr wrap="none" lIns="0" rIns="0" tIns="0" bIns="0" anchor="t">
            <a:spAutoFit/>
          </a:bodyPr>
          <a:p>
            <a:r>
              <a:rPr b="0" lang="zh-CN" sz="920" strike="noStrike" u="none">
                <a:solidFill>
                  <a:srgbClr val="6b8096"/>
                </a:solidFill>
                <a:effectLst/>
                <a:uFillTx/>
                <a:latin typeface="WenQuanYiZenHei"/>
                <a:ea typeface="WenQuanYiZenHei"/>
              </a:rPr>
              <a:t>と参照光の乗算</a:t>
            </a:r>
            <a:endParaRPr b="0" lang="en-US" sz="920" strike="noStrike" u="none">
              <a:solidFill>
                <a:srgbClr val="000000"/>
              </a:solidFill>
              <a:effectLst/>
              <a:uFillTx/>
              <a:latin typeface="Times New Roman"/>
            </a:endParaRPr>
          </a:p>
        </p:txBody>
      </p:sp>
      <p:sp>
        <p:nvSpPr>
          <p:cNvPr id="205" name=""/>
          <p:cNvSpPr txBox="1"/>
          <p:nvPr/>
        </p:nvSpPr>
        <p:spPr>
          <a:xfrm>
            <a:off x="5816160" y="5398560"/>
            <a:ext cx="3179880" cy="136080"/>
          </a:xfrm>
          <a:prstGeom prst="rect">
            <a:avLst/>
          </a:prstGeom>
          <a:noFill/>
          <a:ln w="0">
            <a:noFill/>
          </a:ln>
        </p:spPr>
        <p:txBody>
          <a:bodyPr wrap="none" lIns="0" rIns="0" tIns="0" bIns="0" anchor="t">
            <a:spAutoFit/>
          </a:bodyPr>
          <a:p>
            <a:r>
              <a:rPr b="0" lang="en-US" sz="920" strike="noStrike" u="none">
                <a:solidFill>
                  <a:srgbClr val="ff8c00"/>
                </a:solidFill>
                <a:effectLst/>
                <a:uFillTx/>
                <a:latin typeface="DejaVuSansMono"/>
                <a:ea typeface="DejaVuSansMono"/>
              </a:rPr>
              <a:t>modulated_wave</a:t>
            </a:r>
            <a:r>
              <a:rPr b="0" lang="en-US" sz="920" strike="noStrike" u="none">
                <a:solidFill>
                  <a:srgbClr val="ffffff"/>
                </a:solidFill>
                <a:effectLst/>
                <a:uFillTx/>
                <a:latin typeface="DejaVuSansMono"/>
                <a:ea typeface="DejaVuSansMono"/>
              </a:rPr>
              <a:t> = cgh_complex * reference_wave</a:t>
            </a:r>
            <a:endParaRPr b="0" lang="en-US" sz="920" strike="noStrike" u="none">
              <a:solidFill>
                <a:srgbClr val="000000"/>
              </a:solidFill>
              <a:effectLst/>
              <a:uFillTx/>
              <a:latin typeface="Times New Roman"/>
            </a:endParaRPr>
          </a:p>
        </p:txBody>
      </p:sp>
      <p:sp>
        <p:nvSpPr>
          <p:cNvPr id="206" name=""/>
          <p:cNvSpPr txBox="1"/>
          <p:nvPr/>
        </p:nvSpPr>
        <p:spPr>
          <a:xfrm>
            <a:off x="5816160" y="5565600"/>
            <a:ext cx="1696320" cy="136080"/>
          </a:xfrm>
          <a:prstGeom prst="rect">
            <a:avLst/>
          </a:prstGeom>
          <a:noFill/>
          <a:ln w="0">
            <a:noFill/>
          </a:ln>
        </p:spPr>
        <p:txBody>
          <a:bodyPr wrap="none" lIns="0" rIns="0" tIns="0" bIns="0" anchor="t">
            <a:spAutoFit/>
          </a:bodyPr>
          <a:p>
            <a:r>
              <a:rPr b="0" lang="en-US" sz="920" strike="noStrike" u="none">
                <a:solidFill>
                  <a:srgbClr val="ffffff"/>
                </a:solidFill>
                <a:effectLst/>
                <a:uFillTx/>
                <a:latin typeface="DejaVuSansMono"/>
                <a:ea typeface="DejaVuSansMono"/>
              </a:rPr>
              <a:t>                        </a:t>
            </a:r>
            <a:endParaRPr b="0" lang="en-US" sz="920" strike="noStrike" u="none">
              <a:solidFill>
                <a:srgbClr val="000000"/>
              </a:solidFill>
              <a:effectLst/>
              <a:uFillTx/>
              <a:latin typeface="Times New Roman"/>
            </a:endParaRPr>
          </a:p>
        </p:txBody>
      </p:sp>
      <p:sp>
        <p:nvSpPr>
          <p:cNvPr id="207" name=""/>
          <p:cNvSpPr txBox="1"/>
          <p:nvPr/>
        </p:nvSpPr>
        <p:spPr>
          <a:xfrm>
            <a:off x="5716080" y="5941800"/>
            <a:ext cx="4322160" cy="169560"/>
          </a:xfrm>
          <a:prstGeom prst="rect">
            <a:avLst/>
          </a:prstGeom>
          <a:noFill/>
          <a:ln w="0">
            <a:noFill/>
          </a:ln>
        </p:spPr>
        <p:txBody>
          <a:bodyPr wrap="none" lIns="0" rIns="0" tIns="0" bIns="0" anchor="t">
            <a:spAutoFit/>
          </a:bodyPr>
          <a:p>
            <a:r>
              <a:rPr b="0" lang="zh-CN" sz="920" strike="noStrike" u="none">
                <a:solidFill>
                  <a:srgbClr val="a7c6d9"/>
                </a:solidFill>
                <a:effectLst/>
                <a:uFillTx/>
                <a:latin typeface="NotoSansJP"/>
                <a:ea typeface="NotoSansJP"/>
              </a:rPr>
              <a:t>乗算後の</a:t>
            </a:r>
            <a:r>
              <a:rPr b="0" lang="en-US" sz="920" strike="noStrike" u="none">
                <a:solidFill>
                  <a:srgbClr val="ff8c00"/>
                </a:solidFill>
                <a:effectLst/>
                <a:uFillTx/>
                <a:latin typeface="NotoSansJP"/>
                <a:ea typeface="NotoSansJP"/>
              </a:rPr>
              <a:t>modulated wave</a:t>
            </a:r>
            <a:r>
              <a:rPr b="0" lang="zh-CN" sz="920" strike="noStrike" u="none">
                <a:solidFill>
                  <a:srgbClr val="a7c6d9"/>
                </a:solidFill>
                <a:effectLst/>
                <a:uFillTx/>
                <a:latin typeface="NotoSansJP"/>
                <a:ea typeface="NotoSansJP"/>
              </a:rPr>
              <a:t>は </a:t>
            </a:r>
            <a:r>
              <a:rPr b="0" lang="en-US" sz="920" strike="noStrike" u="none">
                <a:solidFill>
                  <a:srgbClr val="a7c6d9"/>
                </a:solidFill>
                <a:effectLst/>
                <a:uFillTx/>
                <a:latin typeface="NotoSansJP"/>
                <a:ea typeface="NotoSansJP"/>
              </a:rPr>
              <a:t>CGH</a:t>
            </a:r>
            <a:r>
              <a:rPr b="0" lang="zh-CN" sz="920" strike="noStrike" u="none">
                <a:solidFill>
                  <a:srgbClr val="a7c6d9"/>
                </a:solidFill>
                <a:effectLst/>
                <a:uFillTx/>
                <a:latin typeface="NotoSansJP"/>
                <a:ea typeface="NotoSansJP"/>
              </a:rPr>
              <a:t>面から出射する直後の光波の複素振幅分布を</a:t>
            </a:r>
            <a:endParaRPr b="0" lang="en-US" sz="920" strike="noStrike" u="none">
              <a:solidFill>
                <a:srgbClr val="000000"/>
              </a:solidFill>
              <a:effectLst/>
              <a:uFillTx/>
              <a:latin typeface="Times New Roman"/>
            </a:endParaRPr>
          </a:p>
        </p:txBody>
      </p:sp>
      <p:sp>
        <p:nvSpPr>
          <p:cNvPr id="208" name=""/>
          <p:cNvSpPr txBox="1"/>
          <p:nvPr/>
        </p:nvSpPr>
        <p:spPr>
          <a:xfrm>
            <a:off x="6332400" y="2129760"/>
            <a:ext cx="100080" cy="120960"/>
          </a:xfrm>
          <a:prstGeom prst="rect">
            <a:avLst/>
          </a:prstGeom>
          <a:noFill/>
          <a:ln w="0">
            <a:noFill/>
          </a:ln>
        </p:spPr>
        <p:txBody>
          <a:bodyPr wrap="none" lIns="0" rIns="0" tIns="0" bIns="0" anchor="t">
            <a:spAutoFit/>
          </a:bodyPr>
          <a:p>
            <a:r>
              <a:rPr b="0" lang="en-US" sz="820" strike="noStrike" u="none">
                <a:solidFill>
                  <a:srgbClr val="a7c6d9"/>
                </a:solidFill>
                <a:effectLst/>
                <a:uFillTx/>
                <a:latin typeface="NotoSansJP"/>
                <a:ea typeface="NotoSansJP"/>
              </a:rPr>
              <a:t>R</a:t>
            </a:r>
            <a:endParaRPr b="0" lang="en-US" sz="820" strike="noStrike" u="none">
              <a:solidFill>
                <a:srgbClr val="000000"/>
              </a:solidFill>
              <a:effectLst/>
              <a:uFillTx/>
              <a:latin typeface="Times New Roman"/>
            </a:endParaRPr>
          </a:p>
        </p:txBody>
      </p:sp>
      <p:sp>
        <p:nvSpPr>
          <p:cNvPr id="209" name=""/>
          <p:cNvSpPr txBox="1"/>
          <p:nvPr/>
        </p:nvSpPr>
        <p:spPr>
          <a:xfrm>
            <a:off x="7165800" y="2129760"/>
            <a:ext cx="100080" cy="120960"/>
          </a:xfrm>
          <a:prstGeom prst="rect">
            <a:avLst/>
          </a:prstGeom>
          <a:noFill/>
          <a:ln w="0">
            <a:noFill/>
          </a:ln>
        </p:spPr>
        <p:txBody>
          <a:bodyPr wrap="none" lIns="0" rIns="0" tIns="0" bIns="0" anchor="t">
            <a:spAutoFit/>
          </a:bodyPr>
          <a:p>
            <a:r>
              <a:rPr b="0" lang="en-US" sz="820" strike="noStrike" u="none">
                <a:solidFill>
                  <a:srgbClr val="a7c6d9"/>
                </a:solidFill>
                <a:effectLst/>
                <a:uFillTx/>
                <a:latin typeface="NotoSansJP"/>
                <a:ea typeface="NotoSansJP"/>
              </a:rPr>
              <a:t>x</a:t>
            </a:r>
            <a:endParaRPr b="0" lang="en-US" sz="820" strike="noStrike" u="none">
              <a:solidFill>
                <a:srgbClr val="000000"/>
              </a:solidFill>
              <a:effectLst/>
              <a:uFillTx/>
              <a:latin typeface="Times New Roman"/>
            </a:endParaRPr>
          </a:p>
        </p:txBody>
      </p:sp>
      <p:sp>
        <p:nvSpPr>
          <p:cNvPr id="210" name=""/>
          <p:cNvSpPr txBox="1"/>
          <p:nvPr/>
        </p:nvSpPr>
        <p:spPr>
          <a:xfrm>
            <a:off x="7848360" y="2129760"/>
            <a:ext cx="100080" cy="120960"/>
          </a:xfrm>
          <a:prstGeom prst="rect">
            <a:avLst/>
          </a:prstGeom>
          <a:noFill/>
          <a:ln w="0">
            <a:noFill/>
          </a:ln>
        </p:spPr>
        <p:txBody>
          <a:bodyPr wrap="none" lIns="0" rIns="0" tIns="0" bIns="0" anchor="t">
            <a:spAutoFit/>
          </a:bodyPr>
          <a:p>
            <a:r>
              <a:rPr b="0" lang="en-US" sz="820" strike="noStrike" u="none">
                <a:solidFill>
                  <a:srgbClr val="a7c6d9"/>
                </a:solidFill>
                <a:effectLst/>
                <a:uFillTx/>
                <a:latin typeface="NotoSansJP"/>
                <a:ea typeface="NotoSansJP"/>
              </a:rPr>
              <a:t>y</a:t>
            </a:r>
            <a:endParaRPr b="0" lang="en-US" sz="820" strike="noStrike" u="none">
              <a:solidFill>
                <a:srgbClr val="000000"/>
              </a:solidFill>
              <a:effectLst/>
              <a:uFillTx/>
              <a:latin typeface="Times New Roman"/>
            </a:endParaRPr>
          </a:p>
        </p:txBody>
      </p:sp>
      <p:sp>
        <p:nvSpPr>
          <p:cNvPr id="211" name=""/>
          <p:cNvSpPr txBox="1"/>
          <p:nvPr/>
        </p:nvSpPr>
        <p:spPr>
          <a:xfrm>
            <a:off x="8227800" y="2129760"/>
            <a:ext cx="100080" cy="120960"/>
          </a:xfrm>
          <a:prstGeom prst="rect">
            <a:avLst/>
          </a:prstGeom>
          <a:noFill/>
          <a:ln w="0">
            <a:noFill/>
          </a:ln>
        </p:spPr>
        <p:txBody>
          <a:bodyPr wrap="none" lIns="0" rIns="0" tIns="0" bIns="0" anchor="t">
            <a:spAutoFit/>
          </a:bodyPr>
          <a:p>
            <a:r>
              <a:rPr b="0" lang="en-US" sz="820" strike="noStrike" u="none">
                <a:solidFill>
                  <a:srgbClr val="a7c6d9"/>
                </a:solidFill>
                <a:effectLst/>
                <a:uFillTx/>
                <a:latin typeface="NotoSansJP"/>
                <a:ea typeface="NotoSansJP"/>
              </a:rPr>
              <a:t>R</a:t>
            </a:r>
            <a:endParaRPr b="0" lang="en-US" sz="820" strike="noStrike" u="none">
              <a:solidFill>
                <a:srgbClr val="000000"/>
              </a:solidFill>
              <a:effectLst/>
              <a:uFillTx/>
              <a:latin typeface="Times New Roman"/>
            </a:endParaRPr>
          </a:p>
        </p:txBody>
      </p:sp>
      <p:sp>
        <p:nvSpPr>
          <p:cNvPr id="212" name=""/>
          <p:cNvSpPr txBox="1"/>
          <p:nvPr/>
        </p:nvSpPr>
        <p:spPr>
          <a:xfrm>
            <a:off x="6374520" y="2698200"/>
            <a:ext cx="100080" cy="120960"/>
          </a:xfrm>
          <a:prstGeom prst="rect">
            <a:avLst/>
          </a:prstGeom>
          <a:noFill/>
          <a:ln w="0">
            <a:noFill/>
          </a:ln>
        </p:spPr>
        <p:txBody>
          <a:bodyPr wrap="none" lIns="0" rIns="0" tIns="0" bIns="0" anchor="t">
            <a:spAutoFit/>
          </a:bodyPr>
          <a:p>
            <a:r>
              <a:rPr b="0" lang="en-US" sz="820" strike="noStrike" u="none">
                <a:solidFill>
                  <a:srgbClr val="a7c6d9"/>
                </a:solidFill>
                <a:effectLst/>
                <a:uFillTx/>
                <a:latin typeface="NotoSansJP"/>
                <a:ea typeface="NotoSansJP"/>
              </a:rPr>
              <a:t>R</a:t>
            </a:r>
            <a:endParaRPr b="0" lang="en-US" sz="820" strike="noStrike" u="none">
              <a:solidFill>
                <a:srgbClr val="000000"/>
              </a:solidFill>
              <a:effectLst/>
              <a:uFillTx/>
              <a:latin typeface="Times New Roman"/>
            </a:endParaRPr>
          </a:p>
        </p:txBody>
      </p:sp>
      <p:sp>
        <p:nvSpPr>
          <p:cNvPr id="213" name=""/>
          <p:cNvSpPr txBox="1"/>
          <p:nvPr/>
        </p:nvSpPr>
        <p:spPr>
          <a:xfrm>
            <a:off x="7314120" y="2698200"/>
            <a:ext cx="100080" cy="120960"/>
          </a:xfrm>
          <a:prstGeom prst="rect">
            <a:avLst/>
          </a:prstGeom>
          <a:noFill/>
          <a:ln w="0">
            <a:noFill/>
          </a:ln>
        </p:spPr>
        <p:txBody>
          <a:bodyPr wrap="none" lIns="0" rIns="0" tIns="0" bIns="0" anchor="t">
            <a:spAutoFit/>
          </a:bodyPr>
          <a:p>
            <a:r>
              <a:rPr b="0" lang="en-US" sz="820" strike="noStrike" u="none">
                <a:solidFill>
                  <a:srgbClr val="a7c6d9"/>
                </a:solidFill>
                <a:effectLst/>
                <a:uFillTx/>
                <a:latin typeface="NotoSansJP"/>
                <a:ea typeface="NotoSansJP"/>
              </a:rPr>
              <a:t>R</a:t>
            </a:r>
            <a:endParaRPr b="0" lang="en-US" sz="820" strike="noStrike" u="none">
              <a:solidFill>
                <a:srgbClr val="000000"/>
              </a:solidFill>
              <a:effectLst/>
              <a:uFillTx/>
              <a:latin typeface="Times New Roman"/>
            </a:endParaRPr>
          </a:p>
        </p:txBody>
      </p:sp>
      <p:sp>
        <p:nvSpPr>
          <p:cNvPr id="214" name=""/>
          <p:cNvSpPr txBox="1"/>
          <p:nvPr/>
        </p:nvSpPr>
        <p:spPr>
          <a:xfrm>
            <a:off x="6234120" y="2918520"/>
            <a:ext cx="87480" cy="100800"/>
          </a:xfrm>
          <a:prstGeom prst="rect">
            <a:avLst/>
          </a:prstGeom>
          <a:noFill/>
          <a:ln w="0">
            <a:noFill/>
          </a:ln>
        </p:spPr>
        <p:txBody>
          <a:bodyPr wrap="none" lIns="0" rIns="0" tIns="0" bIns="0" anchor="t">
            <a:spAutoFit/>
          </a:bodyPr>
          <a:p>
            <a:r>
              <a:rPr b="0" lang="en-US" sz="690" strike="noStrike" u="none">
                <a:solidFill>
                  <a:srgbClr val="a7c6d9"/>
                </a:solidFill>
                <a:effectLst/>
                <a:uFillTx/>
                <a:latin typeface="NotoSansJP"/>
                <a:ea typeface="NotoSansJP"/>
              </a:rPr>
              <a:t>0</a:t>
            </a:r>
            <a:endParaRPr b="0" lang="en-US" sz="690" strike="noStrike" u="none">
              <a:solidFill>
                <a:srgbClr val="000000"/>
              </a:solidFill>
              <a:effectLst/>
              <a:uFillTx/>
              <a:latin typeface="Times New Roman"/>
            </a:endParaRPr>
          </a:p>
        </p:txBody>
      </p:sp>
      <p:sp>
        <p:nvSpPr>
          <p:cNvPr id="215" name=""/>
          <p:cNvSpPr txBox="1"/>
          <p:nvPr/>
        </p:nvSpPr>
        <p:spPr>
          <a:xfrm>
            <a:off x="6693840" y="2918520"/>
            <a:ext cx="87480" cy="100800"/>
          </a:xfrm>
          <a:prstGeom prst="rect">
            <a:avLst/>
          </a:prstGeom>
          <a:noFill/>
          <a:ln w="0">
            <a:noFill/>
          </a:ln>
        </p:spPr>
        <p:txBody>
          <a:bodyPr wrap="none" lIns="0" rIns="0" tIns="0" bIns="0" anchor="t">
            <a:spAutoFit/>
          </a:bodyPr>
          <a:p>
            <a:r>
              <a:rPr b="0" lang="en-US" sz="690" strike="noStrike" u="none">
                <a:solidFill>
                  <a:srgbClr val="a7c6d9"/>
                </a:solidFill>
                <a:effectLst/>
                <a:uFillTx/>
                <a:latin typeface="NotoSansJP"/>
                <a:ea typeface="NotoSansJP"/>
              </a:rPr>
              <a:t>0</a:t>
            </a:r>
            <a:endParaRPr b="0" lang="en-US" sz="690" strike="noStrike" u="none">
              <a:solidFill>
                <a:srgbClr val="000000"/>
              </a:solidFill>
              <a:effectLst/>
              <a:uFillTx/>
              <a:latin typeface="Times New Roman"/>
            </a:endParaRPr>
          </a:p>
        </p:txBody>
      </p:sp>
      <p:sp>
        <p:nvSpPr>
          <p:cNvPr id="216" name=""/>
          <p:cNvSpPr txBox="1"/>
          <p:nvPr/>
        </p:nvSpPr>
        <p:spPr>
          <a:xfrm>
            <a:off x="7011360" y="2918520"/>
            <a:ext cx="87480" cy="100800"/>
          </a:xfrm>
          <a:prstGeom prst="rect">
            <a:avLst/>
          </a:prstGeom>
          <a:noFill/>
          <a:ln w="0">
            <a:noFill/>
          </a:ln>
        </p:spPr>
        <p:txBody>
          <a:bodyPr wrap="none" lIns="0" rIns="0" tIns="0" bIns="0" anchor="t">
            <a:spAutoFit/>
          </a:bodyPr>
          <a:p>
            <a:r>
              <a:rPr b="0" lang="en-US" sz="690" strike="noStrike" u="none">
                <a:solidFill>
                  <a:srgbClr val="a7c6d9"/>
                </a:solidFill>
                <a:effectLst/>
                <a:uFillTx/>
                <a:latin typeface="NotoSansJP"/>
                <a:ea typeface="NotoSansJP"/>
              </a:rPr>
              <a:t>0</a:t>
            </a:r>
            <a:endParaRPr b="0" lang="en-US" sz="690" strike="noStrike" u="none">
              <a:solidFill>
                <a:srgbClr val="000000"/>
              </a:solidFill>
              <a:effectLst/>
              <a:uFillTx/>
              <a:latin typeface="Times New Roman"/>
            </a:endParaRPr>
          </a:p>
        </p:txBody>
      </p:sp>
      <p:sp>
        <p:nvSpPr>
          <p:cNvPr id="217" name=""/>
          <p:cNvSpPr txBox="1"/>
          <p:nvPr/>
        </p:nvSpPr>
        <p:spPr>
          <a:xfrm>
            <a:off x="10203480" y="5741280"/>
            <a:ext cx="338760" cy="136080"/>
          </a:xfrm>
          <a:prstGeom prst="rect">
            <a:avLst/>
          </a:prstGeom>
          <a:noFill/>
          <a:ln w="0">
            <a:noFill/>
          </a:ln>
        </p:spPr>
        <p:txBody>
          <a:bodyPr wrap="none" lIns="0" rIns="0" tIns="0" bIns="0" anchor="t">
            <a:spAutoFit/>
          </a:bodyPr>
          <a:p>
            <a:r>
              <a:rPr b="0" lang="en-US" sz="920" strike="noStrike" u="none">
                <a:solidFill>
                  <a:srgbClr val="a7c6d9"/>
                </a:solidFill>
                <a:effectLst/>
                <a:uFillTx/>
                <a:latin typeface="NotoSansJP"/>
                <a:ea typeface="NotoSansJP"/>
              </a:rPr>
              <a:t>4 / 13</a:t>
            </a:r>
            <a:endParaRPr b="0" lang="en-US" sz="920" strike="noStrike" u="non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8" name=""/>
          <p:cNvSpPr/>
          <p:nvPr/>
        </p:nvSpPr>
        <p:spPr>
          <a:xfrm>
            <a:off x="0" y="0"/>
            <a:ext cx="10696680" cy="6017040"/>
          </a:xfrm>
          <a:custGeom>
            <a:avLst/>
            <a:gdLst/>
            <a:ahLst/>
            <a:rect l="0" t="0" r="r" b="b"/>
            <a:pathLst>
              <a:path w="29713" h="16714">
                <a:moveTo>
                  <a:pt x="0" y="0"/>
                </a:moveTo>
                <a:lnTo>
                  <a:pt x="29713" y="0"/>
                </a:lnTo>
                <a:lnTo>
                  <a:pt x="29713" y="16714"/>
                </a:lnTo>
                <a:lnTo>
                  <a:pt x="0" y="16714"/>
                </a:lnTo>
                <a:lnTo>
                  <a:pt x="0" y="0"/>
                </a:lnTo>
                <a:close/>
              </a:path>
            </a:pathLst>
          </a:custGeom>
          <a:solidFill>
            <a:srgbClr val="1c3d5a"/>
          </a:solidFill>
          <a:ln w="0">
            <a:noFill/>
          </a:ln>
        </p:spPr>
        <p:txBody>
          <a:bodyPr lIns="0" rIns="0" tIns="0" bIns="0" anchor="t">
            <a:noAutofit/>
          </a:bodyPr>
          <a:p>
            <a:endParaRPr b="0" lang="en-US" sz="2400" strike="noStrike" u="none">
              <a:solidFill>
                <a:srgbClr val="ffffff"/>
              </a:solidFill>
              <a:effectLst/>
              <a:uFillTx/>
              <a:latin typeface="Times New Roman"/>
            </a:endParaRPr>
          </a:p>
        </p:txBody>
      </p:sp>
      <p:pic>
        <p:nvPicPr>
          <p:cNvPr id="219" name="" descr=""/>
          <p:cNvPicPr/>
          <p:nvPr/>
        </p:nvPicPr>
        <p:blipFill>
          <a:blip r:embed="rId1"/>
          <a:stretch/>
        </p:blipFill>
        <p:spPr>
          <a:xfrm>
            <a:off x="0" y="0"/>
            <a:ext cx="10696320" cy="6016320"/>
          </a:xfrm>
          <a:prstGeom prst="rect">
            <a:avLst/>
          </a:prstGeom>
          <a:noFill/>
          <a:ln w="0">
            <a:noFill/>
          </a:ln>
        </p:spPr>
      </p:pic>
      <p:sp>
        <p:nvSpPr>
          <p:cNvPr id="220" name=""/>
          <p:cNvSpPr/>
          <p:nvPr/>
        </p:nvSpPr>
        <p:spPr>
          <a:xfrm>
            <a:off x="534600" y="601560"/>
            <a:ext cx="1069920" cy="33840"/>
          </a:xfrm>
          <a:custGeom>
            <a:avLst/>
            <a:gdLst/>
            <a:ahLst/>
            <a:rect l="0" t="0" r="r" b="b"/>
            <a:pathLst>
              <a:path w="2972" h="94">
                <a:moveTo>
                  <a:pt x="0" y="0"/>
                </a:moveTo>
                <a:lnTo>
                  <a:pt x="2972" y="0"/>
                </a:lnTo>
                <a:lnTo>
                  <a:pt x="2972" y="94"/>
                </a:lnTo>
                <a:lnTo>
                  <a:pt x="0" y="94"/>
                </a:lnTo>
                <a:lnTo>
                  <a:pt x="0" y="0"/>
                </a:lnTo>
                <a:close/>
              </a:path>
            </a:pathLst>
          </a:custGeom>
          <a:solidFill>
            <a:srgbClr val="ff8c00"/>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221" name=""/>
          <p:cNvSpPr txBox="1"/>
          <p:nvPr/>
        </p:nvSpPr>
        <p:spPr>
          <a:xfrm>
            <a:off x="534960" y="222120"/>
            <a:ext cx="3603600" cy="436320"/>
          </a:xfrm>
          <a:prstGeom prst="rect">
            <a:avLst/>
          </a:prstGeom>
          <a:noFill/>
          <a:ln w="0">
            <a:noFill/>
          </a:ln>
        </p:spPr>
        <p:txBody>
          <a:bodyPr wrap="none" lIns="0" rIns="0" tIns="0" bIns="0" anchor="t">
            <a:spAutoFit/>
          </a:bodyPr>
          <a:p>
            <a:r>
              <a:rPr b="0" lang="zh-CN" sz="2370" strike="noStrike" u="none">
                <a:solidFill>
                  <a:srgbClr val="ffffff"/>
                </a:solidFill>
                <a:effectLst/>
                <a:uFillTx/>
                <a:latin typeface="NotoSansJP"/>
                <a:ea typeface="NotoSansJP"/>
              </a:rPr>
              <a:t>角スペクトル法の基本原理</a:t>
            </a:r>
            <a:endParaRPr b="0" lang="en-US" sz="2370" strike="noStrike" u="none">
              <a:solidFill>
                <a:srgbClr val="000000"/>
              </a:solidFill>
              <a:effectLst/>
              <a:uFillTx/>
              <a:latin typeface="Times New Roman"/>
            </a:endParaRPr>
          </a:p>
        </p:txBody>
      </p:sp>
      <p:sp>
        <p:nvSpPr>
          <p:cNvPr id="222" name=""/>
          <p:cNvSpPr txBox="1"/>
          <p:nvPr/>
        </p:nvSpPr>
        <p:spPr>
          <a:xfrm>
            <a:off x="534960" y="980280"/>
            <a:ext cx="9656640" cy="219960"/>
          </a:xfrm>
          <a:prstGeom prst="rect">
            <a:avLst/>
          </a:prstGeom>
          <a:noFill/>
          <a:ln w="0">
            <a:noFill/>
          </a:ln>
        </p:spPr>
        <p:txBody>
          <a:bodyPr wrap="none" lIns="0" rIns="0" tIns="0" bIns="0" anchor="t">
            <a:spAutoFit/>
          </a:bodyPr>
          <a:p>
            <a:r>
              <a:rPr b="0" lang="zh-CN" sz="1180" strike="noStrike" u="none">
                <a:solidFill>
                  <a:srgbClr val="ffffff"/>
                </a:solidFill>
                <a:effectLst/>
                <a:uFillTx/>
                <a:latin typeface="NotoSansJP"/>
                <a:ea typeface="NotoSansJP"/>
              </a:rPr>
              <a:t>角スペクトル法は、光波を様々な方向に進む平面波の重ね合わせとして表現し、各平面波成分の伝搬を計算することで、任意の距離における光</a:t>
            </a:r>
            <a:endParaRPr b="0" lang="en-US" sz="1180" strike="noStrike" u="none">
              <a:solidFill>
                <a:srgbClr val="000000"/>
              </a:solidFill>
              <a:effectLst/>
              <a:uFillTx/>
              <a:latin typeface="Times New Roman"/>
            </a:endParaRPr>
          </a:p>
        </p:txBody>
      </p:sp>
      <p:sp>
        <p:nvSpPr>
          <p:cNvPr id="223" name=""/>
          <p:cNvSpPr txBox="1"/>
          <p:nvPr/>
        </p:nvSpPr>
        <p:spPr>
          <a:xfrm>
            <a:off x="534960" y="1222560"/>
            <a:ext cx="9656640" cy="219960"/>
          </a:xfrm>
          <a:prstGeom prst="rect">
            <a:avLst/>
          </a:prstGeom>
          <a:noFill/>
          <a:ln w="0">
            <a:noFill/>
          </a:ln>
        </p:spPr>
        <p:txBody>
          <a:bodyPr wrap="none" lIns="0" rIns="0" tIns="0" bIns="0" anchor="t">
            <a:spAutoFit/>
          </a:bodyPr>
          <a:p>
            <a:r>
              <a:rPr b="0" lang="zh-CN" sz="1180" strike="noStrike" u="none">
                <a:solidFill>
                  <a:srgbClr val="ffffff"/>
                </a:solidFill>
                <a:effectLst/>
                <a:uFillTx/>
                <a:latin typeface="NotoSansJP"/>
                <a:ea typeface="NotoSansJP"/>
              </a:rPr>
              <a:t>波分布を高精度に求める手法です。スカラー回折理論におけるヘルムホルツ方程式に基づいており、特に近距離の伝搬計算において優れた精度</a:t>
            </a:r>
            <a:endParaRPr b="0" lang="en-US" sz="1180" strike="noStrike" u="none">
              <a:solidFill>
                <a:srgbClr val="000000"/>
              </a:solidFill>
              <a:effectLst/>
              <a:uFillTx/>
              <a:latin typeface="Times New Roman"/>
            </a:endParaRPr>
          </a:p>
        </p:txBody>
      </p:sp>
      <p:sp>
        <p:nvSpPr>
          <p:cNvPr id="224" name=""/>
          <p:cNvSpPr/>
          <p:nvPr/>
        </p:nvSpPr>
        <p:spPr>
          <a:xfrm>
            <a:off x="534600" y="1938600"/>
            <a:ext cx="1989360" cy="2047680"/>
          </a:xfrm>
          <a:custGeom>
            <a:avLst/>
            <a:gdLst/>
            <a:ahLst/>
            <a:rect l="0" t="0" r="r" b="b"/>
            <a:pathLst>
              <a:path w="5526" h="5688">
                <a:moveTo>
                  <a:pt x="0" y="5502"/>
                </a:moveTo>
                <a:lnTo>
                  <a:pt x="0" y="186"/>
                </a:lnTo>
                <a:cubicBezTo>
                  <a:pt x="0" y="173"/>
                  <a:pt x="1" y="161"/>
                  <a:pt x="4" y="149"/>
                </a:cubicBezTo>
                <a:cubicBezTo>
                  <a:pt x="6" y="137"/>
                  <a:pt x="10" y="126"/>
                  <a:pt x="14" y="115"/>
                </a:cubicBezTo>
                <a:cubicBezTo>
                  <a:pt x="19" y="103"/>
                  <a:pt x="25" y="93"/>
                  <a:pt x="31" y="82"/>
                </a:cubicBezTo>
                <a:cubicBezTo>
                  <a:pt x="38" y="72"/>
                  <a:pt x="46" y="63"/>
                  <a:pt x="55" y="54"/>
                </a:cubicBezTo>
                <a:cubicBezTo>
                  <a:pt x="63" y="46"/>
                  <a:pt x="73" y="38"/>
                  <a:pt x="83" y="31"/>
                </a:cubicBezTo>
                <a:cubicBezTo>
                  <a:pt x="93" y="24"/>
                  <a:pt x="104" y="19"/>
                  <a:pt x="115" y="14"/>
                </a:cubicBezTo>
                <a:cubicBezTo>
                  <a:pt x="126" y="9"/>
                  <a:pt x="138" y="6"/>
                  <a:pt x="150" y="3"/>
                </a:cubicBezTo>
                <a:cubicBezTo>
                  <a:pt x="162" y="1"/>
                  <a:pt x="174" y="0"/>
                  <a:pt x="186" y="0"/>
                </a:cubicBezTo>
                <a:lnTo>
                  <a:pt x="5340" y="0"/>
                </a:lnTo>
                <a:cubicBezTo>
                  <a:pt x="5352" y="0"/>
                  <a:pt x="5364" y="1"/>
                  <a:pt x="5376" y="3"/>
                </a:cubicBezTo>
                <a:cubicBezTo>
                  <a:pt x="5388" y="6"/>
                  <a:pt x="5400" y="9"/>
                  <a:pt x="5411" y="14"/>
                </a:cubicBezTo>
                <a:cubicBezTo>
                  <a:pt x="5422" y="19"/>
                  <a:pt x="5433" y="24"/>
                  <a:pt x="5443" y="31"/>
                </a:cubicBezTo>
                <a:cubicBezTo>
                  <a:pt x="5453" y="38"/>
                  <a:pt x="5463" y="46"/>
                  <a:pt x="5471" y="54"/>
                </a:cubicBezTo>
                <a:cubicBezTo>
                  <a:pt x="5480" y="63"/>
                  <a:pt x="5488" y="72"/>
                  <a:pt x="5495" y="82"/>
                </a:cubicBezTo>
                <a:cubicBezTo>
                  <a:pt x="5501" y="93"/>
                  <a:pt x="5507" y="103"/>
                  <a:pt x="5512" y="115"/>
                </a:cubicBezTo>
                <a:cubicBezTo>
                  <a:pt x="5516" y="126"/>
                  <a:pt x="5520" y="137"/>
                  <a:pt x="5522" y="149"/>
                </a:cubicBezTo>
                <a:cubicBezTo>
                  <a:pt x="5525" y="161"/>
                  <a:pt x="5526" y="173"/>
                  <a:pt x="5526" y="186"/>
                </a:cubicBezTo>
                <a:lnTo>
                  <a:pt x="5526" y="5502"/>
                </a:lnTo>
                <a:cubicBezTo>
                  <a:pt x="5526" y="5515"/>
                  <a:pt x="5525" y="5527"/>
                  <a:pt x="5522" y="5539"/>
                </a:cubicBezTo>
                <a:cubicBezTo>
                  <a:pt x="5520" y="5551"/>
                  <a:pt x="5516" y="5562"/>
                  <a:pt x="5512" y="5573"/>
                </a:cubicBezTo>
                <a:cubicBezTo>
                  <a:pt x="5507" y="5585"/>
                  <a:pt x="5501" y="5595"/>
                  <a:pt x="5495" y="5606"/>
                </a:cubicBezTo>
                <a:cubicBezTo>
                  <a:pt x="5488" y="5616"/>
                  <a:pt x="5480" y="5625"/>
                  <a:pt x="5471" y="5634"/>
                </a:cubicBezTo>
                <a:cubicBezTo>
                  <a:pt x="5463" y="5642"/>
                  <a:pt x="5453" y="5650"/>
                  <a:pt x="5443" y="5657"/>
                </a:cubicBezTo>
                <a:cubicBezTo>
                  <a:pt x="5433" y="5664"/>
                  <a:pt x="5422" y="5669"/>
                  <a:pt x="5411" y="5674"/>
                </a:cubicBezTo>
                <a:cubicBezTo>
                  <a:pt x="5400" y="5679"/>
                  <a:pt x="5388" y="5682"/>
                  <a:pt x="5376" y="5685"/>
                </a:cubicBezTo>
                <a:cubicBezTo>
                  <a:pt x="5364" y="5687"/>
                  <a:pt x="5352" y="5688"/>
                  <a:pt x="5340" y="5688"/>
                </a:cubicBezTo>
                <a:lnTo>
                  <a:pt x="186" y="5688"/>
                </a:lnTo>
                <a:cubicBezTo>
                  <a:pt x="174" y="5688"/>
                  <a:pt x="162" y="5687"/>
                  <a:pt x="150" y="5685"/>
                </a:cubicBezTo>
                <a:cubicBezTo>
                  <a:pt x="138" y="5682"/>
                  <a:pt x="126" y="5679"/>
                  <a:pt x="115" y="5674"/>
                </a:cubicBezTo>
                <a:cubicBezTo>
                  <a:pt x="104" y="5669"/>
                  <a:pt x="93" y="5664"/>
                  <a:pt x="83" y="5657"/>
                </a:cubicBezTo>
                <a:cubicBezTo>
                  <a:pt x="73" y="5650"/>
                  <a:pt x="63" y="5642"/>
                  <a:pt x="55" y="5634"/>
                </a:cubicBezTo>
                <a:cubicBezTo>
                  <a:pt x="46" y="5625"/>
                  <a:pt x="38" y="5616"/>
                  <a:pt x="31" y="5606"/>
                </a:cubicBezTo>
                <a:cubicBezTo>
                  <a:pt x="25" y="5595"/>
                  <a:pt x="19" y="5585"/>
                  <a:pt x="14" y="5573"/>
                </a:cubicBezTo>
                <a:cubicBezTo>
                  <a:pt x="10" y="5562"/>
                  <a:pt x="6" y="5551"/>
                  <a:pt x="4" y="5539"/>
                </a:cubicBezTo>
                <a:cubicBezTo>
                  <a:pt x="1" y="5527"/>
                  <a:pt x="0" y="5515"/>
                  <a:pt x="0" y="5502"/>
                </a:cubicBezTo>
                <a:close/>
              </a:path>
            </a:pathLst>
          </a:custGeom>
          <a:solidFill>
            <a:srgbClr val="ffffff">
              <a:alpha val="10000"/>
            </a:srgbClr>
          </a:solidFill>
          <a:ln w="0">
            <a:noFill/>
          </a:ln>
        </p:spPr>
        <p:txBody>
          <a:bodyPr lIns="0" rIns="0" tIns="0" bIns="0" anchor="t">
            <a:noAutofit/>
          </a:bodyPr>
          <a:p>
            <a:endParaRPr b="0" lang="en-US" sz="2400" strike="noStrike" u="none">
              <a:solidFill>
                <a:srgbClr val="000000"/>
              </a:solidFill>
              <a:effectLst/>
              <a:uFillTx/>
              <a:latin typeface="Times New Roman"/>
            </a:endParaRPr>
          </a:p>
        </p:txBody>
      </p:sp>
      <p:pic>
        <p:nvPicPr>
          <p:cNvPr id="225" name="" descr=""/>
          <p:cNvPicPr/>
          <p:nvPr/>
        </p:nvPicPr>
        <p:blipFill>
          <a:blip r:embed="rId2"/>
          <a:stretch/>
        </p:blipFill>
        <p:spPr>
          <a:xfrm>
            <a:off x="1345320" y="2106000"/>
            <a:ext cx="375840" cy="334080"/>
          </a:xfrm>
          <a:prstGeom prst="rect">
            <a:avLst/>
          </a:prstGeom>
          <a:noFill/>
          <a:ln w="0">
            <a:noFill/>
          </a:ln>
        </p:spPr>
      </p:pic>
      <p:sp>
        <p:nvSpPr>
          <p:cNvPr id="226" name=""/>
          <p:cNvSpPr txBox="1"/>
          <p:nvPr/>
        </p:nvSpPr>
        <p:spPr>
          <a:xfrm>
            <a:off x="534960" y="1473120"/>
            <a:ext cx="906120" cy="219960"/>
          </a:xfrm>
          <a:prstGeom prst="rect">
            <a:avLst/>
          </a:prstGeom>
          <a:noFill/>
          <a:ln w="0">
            <a:noFill/>
          </a:ln>
        </p:spPr>
        <p:txBody>
          <a:bodyPr wrap="none" lIns="0" rIns="0" tIns="0" bIns="0" anchor="t">
            <a:spAutoFit/>
          </a:bodyPr>
          <a:p>
            <a:r>
              <a:rPr b="0" lang="zh-CN" sz="1180" strike="noStrike" u="none">
                <a:solidFill>
                  <a:srgbClr val="ffffff"/>
                </a:solidFill>
                <a:effectLst/>
                <a:uFillTx/>
                <a:latin typeface="NotoSansJP"/>
                <a:ea typeface="NotoSansJP"/>
              </a:rPr>
              <a:t>を持ちます。</a:t>
            </a:r>
            <a:endParaRPr b="0" lang="en-US" sz="1180" strike="noStrike" u="none">
              <a:solidFill>
                <a:srgbClr val="000000"/>
              </a:solidFill>
              <a:effectLst/>
              <a:uFillTx/>
              <a:latin typeface="Times New Roman"/>
            </a:endParaRPr>
          </a:p>
        </p:txBody>
      </p:sp>
      <p:sp>
        <p:nvSpPr>
          <p:cNvPr id="227" name=""/>
          <p:cNvSpPr txBox="1"/>
          <p:nvPr/>
        </p:nvSpPr>
        <p:spPr>
          <a:xfrm>
            <a:off x="942840" y="2608560"/>
            <a:ext cx="567360" cy="194040"/>
          </a:xfrm>
          <a:prstGeom prst="rect">
            <a:avLst/>
          </a:prstGeom>
          <a:noFill/>
          <a:ln w="0">
            <a:noFill/>
          </a:ln>
        </p:spPr>
        <p:txBody>
          <a:bodyPr wrap="none" lIns="0" rIns="0" tIns="0" bIns="0" anchor="t">
            <a:spAutoFit/>
          </a:bodyPr>
          <a:p>
            <a:r>
              <a:rPr b="0" lang="zh-CN" sz="1050" strike="noStrike" u="none">
                <a:solidFill>
                  <a:srgbClr val="ffffff"/>
                </a:solidFill>
                <a:effectLst/>
                <a:uFillTx/>
                <a:latin typeface="NotoSansJP"/>
                <a:ea typeface="NotoSansJP"/>
              </a:rPr>
              <a:t>初期光波 </a:t>
            </a:r>
            <a:endParaRPr b="0" lang="en-US" sz="1050" strike="noStrike" u="none">
              <a:solidFill>
                <a:srgbClr val="000000"/>
              </a:solidFill>
              <a:effectLst/>
              <a:uFillTx/>
              <a:latin typeface="Times New Roman"/>
            </a:endParaRPr>
          </a:p>
        </p:txBody>
      </p:sp>
      <p:sp>
        <p:nvSpPr>
          <p:cNvPr id="228" name=""/>
          <p:cNvSpPr/>
          <p:nvPr/>
        </p:nvSpPr>
        <p:spPr>
          <a:xfrm>
            <a:off x="705960" y="3121200"/>
            <a:ext cx="1646640" cy="493200"/>
          </a:xfrm>
          <a:custGeom>
            <a:avLst/>
            <a:gdLst/>
            <a:ahLst/>
            <a:rect l="0" t="0" r="r" b="b"/>
            <a:pathLst>
              <a:path fill="none" w="4574" h="1370">
                <a:moveTo>
                  <a:pt x="0" y="1289"/>
                </a:moveTo>
                <a:lnTo>
                  <a:pt x="0" y="81"/>
                </a:lnTo>
                <a:cubicBezTo>
                  <a:pt x="0" y="70"/>
                  <a:pt x="2" y="60"/>
                  <a:pt x="6" y="50"/>
                </a:cubicBezTo>
                <a:cubicBezTo>
                  <a:pt x="10" y="40"/>
                  <a:pt x="16" y="31"/>
                  <a:pt x="24" y="23"/>
                </a:cubicBezTo>
                <a:cubicBezTo>
                  <a:pt x="31" y="16"/>
                  <a:pt x="40" y="10"/>
                  <a:pt x="50" y="6"/>
                </a:cubicBezTo>
                <a:cubicBezTo>
                  <a:pt x="60" y="2"/>
                  <a:pt x="70" y="0"/>
                  <a:pt x="81" y="0"/>
                </a:cubicBezTo>
                <a:lnTo>
                  <a:pt x="4493" y="0"/>
                </a:lnTo>
                <a:cubicBezTo>
                  <a:pt x="4504" y="0"/>
                  <a:pt x="4514" y="2"/>
                  <a:pt x="4524" y="6"/>
                </a:cubicBezTo>
                <a:cubicBezTo>
                  <a:pt x="4534" y="10"/>
                  <a:pt x="4543" y="16"/>
                  <a:pt x="4550" y="23"/>
                </a:cubicBezTo>
                <a:cubicBezTo>
                  <a:pt x="4558" y="31"/>
                  <a:pt x="4564" y="40"/>
                  <a:pt x="4568" y="50"/>
                </a:cubicBezTo>
                <a:cubicBezTo>
                  <a:pt x="4572" y="60"/>
                  <a:pt x="4574" y="70"/>
                  <a:pt x="4574" y="81"/>
                </a:cubicBezTo>
                <a:lnTo>
                  <a:pt x="4574" y="1289"/>
                </a:lnTo>
                <a:cubicBezTo>
                  <a:pt x="4574" y="1300"/>
                  <a:pt x="4572" y="1310"/>
                  <a:pt x="4568" y="1320"/>
                </a:cubicBezTo>
                <a:cubicBezTo>
                  <a:pt x="4564" y="1330"/>
                  <a:pt x="4558" y="1339"/>
                  <a:pt x="4550" y="1346"/>
                </a:cubicBezTo>
                <a:cubicBezTo>
                  <a:pt x="4543" y="1354"/>
                  <a:pt x="4534" y="1360"/>
                  <a:pt x="4524" y="1364"/>
                </a:cubicBezTo>
                <a:cubicBezTo>
                  <a:pt x="4514" y="1368"/>
                  <a:pt x="4504" y="1370"/>
                  <a:pt x="4493" y="1370"/>
                </a:cubicBezTo>
                <a:lnTo>
                  <a:pt x="81" y="1370"/>
                </a:lnTo>
                <a:cubicBezTo>
                  <a:pt x="70" y="1370"/>
                  <a:pt x="60" y="1368"/>
                  <a:pt x="50" y="1364"/>
                </a:cubicBezTo>
                <a:cubicBezTo>
                  <a:pt x="40" y="1360"/>
                  <a:pt x="31" y="1354"/>
                  <a:pt x="24" y="1346"/>
                </a:cubicBezTo>
                <a:cubicBezTo>
                  <a:pt x="16" y="1339"/>
                  <a:pt x="10" y="1330"/>
                  <a:pt x="6" y="1320"/>
                </a:cubicBezTo>
                <a:cubicBezTo>
                  <a:pt x="2" y="1310"/>
                  <a:pt x="0" y="1300"/>
                  <a:pt x="0" y="1289"/>
                </a:cubicBezTo>
              </a:path>
            </a:pathLst>
          </a:custGeom>
          <a:ln w="8280">
            <a:solidFill>
              <a:srgbClr val="a7c6d9">
                <a:alpha val="30000"/>
              </a:srgbClr>
            </a:solidFill>
            <a:miter/>
          </a:ln>
        </p:spPr>
        <p:txBody>
          <a:bodyPr lIns="3960" rIns="3960" tIns="3960" bIns="3960" anchor="t">
            <a:noAutofit/>
          </a:bodyPr>
          <a:p>
            <a:endParaRPr b="0" lang="en-US" sz="2400" strike="noStrike" u="none">
              <a:solidFill>
                <a:srgbClr val="000000"/>
              </a:solidFill>
              <a:effectLst/>
              <a:uFillTx/>
              <a:latin typeface="Times New Roman"/>
            </a:endParaRPr>
          </a:p>
        </p:txBody>
      </p:sp>
      <p:pic>
        <p:nvPicPr>
          <p:cNvPr id="229" name="" descr=""/>
          <p:cNvPicPr/>
          <p:nvPr/>
        </p:nvPicPr>
        <p:blipFill>
          <a:blip r:embed="rId3"/>
          <a:stretch/>
        </p:blipFill>
        <p:spPr>
          <a:xfrm>
            <a:off x="2699280" y="2691000"/>
            <a:ext cx="150120" cy="233640"/>
          </a:xfrm>
          <a:prstGeom prst="rect">
            <a:avLst/>
          </a:prstGeom>
          <a:noFill/>
          <a:ln w="0">
            <a:noFill/>
          </a:ln>
        </p:spPr>
      </p:pic>
      <p:sp>
        <p:nvSpPr>
          <p:cNvPr id="230" name=""/>
          <p:cNvSpPr txBox="1"/>
          <p:nvPr/>
        </p:nvSpPr>
        <p:spPr>
          <a:xfrm>
            <a:off x="883440" y="2908080"/>
            <a:ext cx="1344960" cy="169560"/>
          </a:xfrm>
          <a:prstGeom prst="rect">
            <a:avLst/>
          </a:prstGeom>
          <a:noFill/>
          <a:ln w="0">
            <a:noFill/>
          </a:ln>
        </p:spPr>
        <p:txBody>
          <a:bodyPr wrap="none" lIns="0" rIns="0" tIns="0" bIns="0" anchor="t">
            <a:spAutoFit/>
          </a:bodyPr>
          <a:p>
            <a:r>
              <a:rPr b="0" lang="en-US" sz="920" strike="noStrike" u="none">
                <a:solidFill>
                  <a:srgbClr val="a7c6d9"/>
                </a:solidFill>
                <a:effectLst/>
                <a:uFillTx/>
                <a:latin typeface="NotoSansJP"/>
                <a:ea typeface="NotoSansJP"/>
              </a:rPr>
              <a:t>CGH</a:t>
            </a:r>
            <a:r>
              <a:rPr b="0" lang="zh-CN" sz="920" strike="noStrike" u="none">
                <a:solidFill>
                  <a:srgbClr val="a7c6d9"/>
                </a:solidFill>
                <a:effectLst/>
                <a:uFillTx/>
                <a:latin typeface="NotoSansJP"/>
                <a:ea typeface="NotoSansJP"/>
              </a:rPr>
              <a:t>面での複素振幅分布</a:t>
            </a:r>
            <a:endParaRPr b="0" lang="en-US" sz="920" strike="noStrike" u="none">
              <a:solidFill>
                <a:srgbClr val="000000"/>
              </a:solidFill>
              <a:effectLst/>
              <a:uFillTx/>
              <a:latin typeface="Times New Roman"/>
            </a:endParaRPr>
          </a:p>
        </p:txBody>
      </p:sp>
      <p:sp>
        <p:nvSpPr>
          <p:cNvPr id="231" name=""/>
          <p:cNvSpPr txBox="1"/>
          <p:nvPr/>
        </p:nvSpPr>
        <p:spPr>
          <a:xfrm>
            <a:off x="2527200" y="2973960"/>
            <a:ext cx="403200" cy="146520"/>
          </a:xfrm>
          <a:prstGeom prst="rect">
            <a:avLst/>
          </a:prstGeom>
          <a:noFill/>
          <a:ln w="0">
            <a:noFill/>
          </a:ln>
        </p:spPr>
        <p:txBody>
          <a:bodyPr wrap="none" lIns="0" rIns="0" tIns="0" bIns="0" anchor="t">
            <a:spAutoFit/>
          </a:bodyPr>
          <a:p>
            <a:r>
              <a:rPr b="0" lang="zh-CN" sz="790" strike="noStrike" u="none">
                <a:solidFill>
                  <a:srgbClr val="a7c6d9"/>
                </a:solidFill>
                <a:effectLst/>
                <a:uFillTx/>
                <a:latin typeface="NotoSansJP"/>
                <a:ea typeface="NotoSansJP"/>
              </a:rPr>
              <a:t>フーリエ</a:t>
            </a:r>
            <a:endParaRPr b="0" lang="en-US" sz="790" strike="noStrike" u="none">
              <a:solidFill>
                <a:srgbClr val="000000"/>
              </a:solidFill>
              <a:effectLst/>
              <a:uFillTx/>
              <a:latin typeface="Times New Roman"/>
            </a:endParaRPr>
          </a:p>
        </p:txBody>
      </p:sp>
      <p:sp>
        <p:nvSpPr>
          <p:cNvPr id="232" name=""/>
          <p:cNvSpPr/>
          <p:nvPr/>
        </p:nvSpPr>
        <p:spPr>
          <a:xfrm>
            <a:off x="3025080" y="1938600"/>
            <a:ext cx="1989000" cy="2047680"/>
          </a:xfrm>
          <a:custGeom>
            <a:avLst/>
            <a:gdLst/>
            <a:ahLst/>
            <a:rect l="0" t="0" r="r" b="b"/>
            <a:pathLst>
              <a:path w="5525" h="5688">
                <a:moveTo>
                  <a:pt x="0" y="5502"/>
                </a:moveTo>
                <a:lnTo>
                  <a:pt x="0" y="186"/>
                </a:lnTo>
                <a:cubicBezTo>
                  <a:pt x="0" y="173"/>
                  <a:pt x="1" y="161"/>
                  <a:pt x="3" y="149"/>
                </a:cubicBezTo>
                <a:cubicBezTo>
                  <a:pt x="6" y="137"/>
                  <a:pt x="9" y="126"/>
                  <a:pt x="14" y="115"/>
                </a:cubicBezTo>
                <a:cubicBezTo>
                  <a:pt x="18" y="103"/>
                  <a:pt x="24" y="93"/>
                  <a:pt x="31" y="82"/>
                </a:cubicBezTo>
                <a:cubicBezTo>
                  <a:pt x="38" y="72"/>
                  <a:pt x="45" y="63"/>
                  <a:pt x="54" y="54"/>
                </a:cubicBezTo>
                <a:cubicBezTo>
                  <a:pt x="63" y="46"/>
                  <a:pt x="72" y="38"/>
                  <a:pt x="82" y="31"/>
                </a:cubicBezTo>
                <a:cubicBezTo>
                  <a:pt x="92" y="24"/>
                  <a:pt x="103" y="19"/>
                  <a:pt x="114" y="14"/>
                </a:cubicBezTo>
                <a:cubicBezTo>
                  <a:pt x="126" y="9"/>
                  <a:pt x="137" y="6"/>
                  <a:pt x="149" y="3"/>
                </a:cubicBezTo>
                <a:cubicBezTo>
                  <a:pt x="161" y="1"/>
                  <a:pt x="173" y="0"/>
                  <a:pt x="185" y="0"/>
                </a:cubicBezTo>
                <a:lnTo>
                  <a:pt x="5339" y="0"/>
                </a:lnTo>
                <a:cubicBezTo>
                  <a:pt x="5351" y="0"/>
                  <a:pt x="5363" y="1"/>
                  <a:pt x="5375" y="3"/>
                </a:cubicBezTo>
                <a:cubicBezTo>
                  <a:pt x="5387" y="6"/>
                  <a:pt x="5398" y="9"/>
                  <a:pt x="5411" y="14"/>
                </a:cubicBezTo>
                <a:cubicBezTo>
                  <a:pt x="5422" y="19"/>
                  <a:pt x="5433" y="24"/>
                  <a:pt x="5443" y="31"/>
                </a:cubicBezTo>
                <a:cubicBezTo>
                  <a:pt x="5453" y="38"/>
                  <a:pt x="5462" y="46"/>
                  <a:pt x="5471" y="54"/>
                </a:cubicBezTo>
                <a:cubicBezTo>
                  <a:pt x="5480" y="63"/>
                  <a:pt x="5487" y="72"/>
                  <a:pt x="5494" y="82"/>
                </a:cubicBezTo>
                <a:cubicBezTo>
                  <a:pt x="5501" y="93"/>
                  <a:pt x="5507" y="103"/>
                  <a:pt x="5511" y="115"/>
                </a:cubicBezTo>
                <a:cubicBezTo>
                  <a:pt x="5516" y="126"/>
                  <a:pt x="5519" y="137"/>
                  <a:pt x="5522" y="149"/>
                </a:cubicBezTo>
                <a:cubicBezTo>
                  <a:pt x="5524" y="161"/>
                  <a:pt x="5525" y="173"/>
                  <a:pt x="5525" y="186"/>
                </a:cubicBezTo>
                <a:lnTo>
                  <a:pt x="5525" y="5502"/>
                </a:lnTo>
                <a:cubicBezTo>
                  <a:pt x="5525" y="5515"/>
                  <a:pt x="5524" y="5527"/>
                  <a:pt x="5522" y="5539"/>
                </a:cubicBezTo>
                <a:cubicBezTo>
                  <a:pt x="5519" y="5551"/>
                  <a:pt x="5516" y="5562"/>
                  <a:pt x="5511" y="5573"/>
                </a:cubicBezTo>
                <a:cubicBezTo>
                  <a:pt x="5507" y="5585"/>
                  <a:pt x="5501" y="5595"/>
                  <a:pt x="5494" y="5606"/>
                </a:cubicBezTo>
                <a:cubicBezTo>
                  <a:pt x="5487" y="5616"/>
                  <a:pt x="5480" y="5625"/>
                  <a:pt x="5471" y="5634"/>
                </a:cubicBezTo>
                <a:cubicBezTo>
                  <a:pt x="5462" y="5642"/>
                  <a:pt x="5453" y="5650"/>
                  <a:pt x="5443" y="5657"/>
                </a:cubicBezTo>
                <a:cubicBezTo>
                  <a:pt x="5433" y="5664"/>
                  <a:pt x="5422" y="5669"/>
                  <a:pt x="5411" y="5674"/>
                </a:cubicBezTo>
                <a:cubicBezTo>
                  <a:pt x="5398" y="5679"/>
                  <a:pt x="5387" y="5682"/>
                  <a:pt x="5375" y="5685"/>
                </a:cubicBezTo>
                <a:cubicBezTo>
                  <a:pt x="5363" y="5687"/>
                  <a:pt x="5351" y="5688"/>
                  <a:pt x="5339" y="5688"/>
                </a:cubicBezTo>
                <a:lnTo>
                  <a:pt x="185" y="5688"/>
                </a:lnTo>
                <a:cubicBezTo>
                  <a:pt x="173" y="5688"/>
                  <a:pt x="161" y="5687"/>
                  <a:pt x="149" y="5685"/>
                </a:cubicBezTo>
                <a:cubicBezTo>
                  <a:pt x="137" y="5682"/>
                  <a:pt x="126" y="5679"/>
                  <a:pt x="114" y="5674"/>
                </a:cubicBezTo>
                <a:cubicBezTo>
                  <a:pt x="103" y="5669"/>
                  <a:pt x="92" y="5664"/>
                  <a:pt x="82" y="5657"/>
                </a:cubicBezTo>
                <a:cubicBezTo>
                  <a:pt x="72" y="5650"/>
                  <a:pt x="63" y="5642"/>
                  <a:pt x="54" y="5634"/>
                </a:cubicBezTo>
                <a:cubicBezTo>
                  <a:pt x="45" y="5625"/>
                  <a:pt x="38" y="5616"/>
                  <a:pt x="31" y="5606"/>
                </a:cubicBezTo>
                <a:cubicBezTo>
                  <a:pt x="24" y="5595"/>
                  <a:pt x="18" y="5585"/>
                  <a:pt x="14" y="5573"/>
                </a:cubicBezTo>
                <a:cubicBezTo>
                  <a:pt x="9" y="5562"/>
                  <a:pt x="6" y="5551"/>
                  <a:pt x="3" y="5539"/>
                </a:cubicBezTo>
                <a:cubicBezTo>
                  <a:pt x="1" y="5527"/>
                  <a:pt x="0" y="5515"/>
                  <a:pt x="0" y="5502"/>
                </a:cubicBezTo>
                <a:close/>
              </a:path>
            </a:pathLst>
          </a:custGeom>
          <a:solidFill>
            <a:srgbClr val="ffffff">
              <a:alpha val="10000"/>
            </a:srgbClr>
          </a:solidFill>
          <a:ln w="0">
            <a:noFill/>
          </a:ln>
        </p:spPr>
        <p:txBody>
          <a:bodyPr lIns="0" rIns="0" tIns="0" bIns="0" anchor="t">
            <a:noAutofit/>
          </a:bodyPr>
          <a:p>
            <a:endParaRPr b="0" lang="en-US" sz="2400" strike="noStrike" u="none">
              <a:solidFill>
                <a:srgbClr val="000000"/>
              </a:solidFill>
              <a:effectLst/>
              <a:uFillTx/>
              <a:latin typeface="Times New Roman"/>
            </a:endParaRPr>
          </a:p>
        </p:txBody>
      </p:sp>
      <p:pic>
        <p:nvPicPr>
          <p:cNvPr id="233" name="" descr=""/>
          <p:cNvPicPr/>
          <p:nvPr/>
        </p:nvPicPr>
        <p:blipFill>
          <a:blip r:embed="rId4"/>
          <a:stretch/>
        </p:blipFill>
        <p:spPr>
          <a:xfrm>
            <a:off x="3869280" y="2106000"/>
            <a:ext cx="300600" cy="334080"/>
          </a:xfrm>
          <a:prstGeom prst="rect">
            <a:avLst/>
          </a:prstGeom>
          <a:noFill/>
          <a:ln w="0">
            <a:noFill/>
          </a:ln>
        </p:spPr>
      </p:pic>
      <p:sp>
        <p:nvSpPr>
          <p:cNvPr id="234" name=""/>
          <p:cNvSpPr txBox="1"/>
          <p:nvPr/>
        </p:nvSpPr>
        <p:spPr>
          <a:xfrm>
            <a:off x="2527200" y="3107520"/>
            <a:ext cx="201960" cy="146520"/>
          </a:xfrm>
          <a:prstGeom prst="rect">
            <a:avLst/>
          </a:prstGeom>
          <a:noFill/>
          <a:ln w="0">
            <a:noFill/>
          </a:ln>
        </p:spPr>
        <p:txBody>
          <a:bodyPr wrap="none" lIns="0" rIns="0" tIns="0" bIns="0" anchor="t">
            <a:spAutoFit/>
          </a:bodyPr>
          <a:p>
            <a:r>
              <a:rPr b="0" lang="zh-CN" sz="790" strike="noStrike" u="none">
                <a:solidFill>
                  <a:srgbClr val="a7c6d9"/>
                </a:solidFill>
                <a:effectLst/>
                <a:uFillTx/>
                <a:latin typeface="NotoSansJP"/>
                <a:ea typeface="NotoSansJP"/>
              </a:rPr>
              <a:t>変換</a:t>
            </a:r>
            <a:endParaRPr b="0" lang="en-US" sz="790" strike="noStrike" u="none">
              <a:solidFill>
                <a:srgbClr val="000000"/>
              </a:solidFill>
              <a:effectLst/>
              <a:uFillTx/>
              <a:latin typeface="Times New Roman"/>
            </a:endParaRPr>
          </a:p>
        </p:txBody>
      </p:sp>
      <p:sp>
        <p:nvSpPr>
          <p:cNvPr id="235" name=""/>
          <p:cNvSpPr txBox="1"/>
          <p:nvPr/>
        </p:nvSpPr>
        <p:spPr>
          <a:xfrm>
            <a:off x="3278160" y="2608560"/>
            <a:ext cx="835560" cy="194040"/>
          </a:xfrm>
          <a:prstGeom prst="rect">
            <a:avLst/>
          </a:prstGeom>
          <a:noFill/>
          <a:ln w="0">
            <a:noFill/>
          </a:ln>
        </p:spPr>
        <p:txBody>
          <a:bodyPr wrap="none" lIns="0" rIns="0" tIns="0" bIns="0" anchor="t">
            <a:spAutoFit/>
          </a:bodyPr>
          <a:p>
            <a:r>
              <a:rPr b="0" lang="zh-CN" sz="1050" strike="noStrike" u="none">
                <a:solidFill>
                  <a:srgbClr val="ffffff"/>
                </a:solidFill>
                <a:effectLst/>
                <a:uFillTx/>
                <a:latin typeface="NotoSansJP"/>
                <a:ea typeface="NotoSansJP"/>
              </a:rPr>
              <a:t>角スペクトル </a:t>
            </a:r>
            <a:endParaRPr b="0" lang="en-US" sz="1050" strike="noStrike" u="none">
              <a:solidFill>
                <a:srgbClr val="000000"/>
              </a:solidFill>
              <a:effectLst/>
              <a:uFillTx/>
              <a:latin typeface="Times New Roman"/>
            </a:endParaRPr>
          </a:p>
        </p:txBody>
      </p:sp>
      <p:sp>
        <p:nvSpPr>
          <p:cNvPr id="236" name=""/>
          <p:cNvSpPr/>
          <p:nvPr/>
        </p:nvSpPr>
        <p:spPr>
          <a:xfrm>
            <a:off x="3196080" y="3121200"/>
            <a:ext cx="1646640" cy="493200"/>
          </a:xfrm>
          <a:custGeom>
            <a:avLst/>
            <a:gdLst/>
            <a:ahLst/>
            <a:rect l="0" t="0" r="r" b="b"/>
            <a:pathLst>
              <a:path fill="none" w="4574" h="1370">
                <a:moveTo>
                  <a:pt x="0" y="1289"/>
                </a:moveTo>
                <a:lnTo>
                  <a:pt x="0" y="81"/>
                </a:lnTo>
                <a:cubicBezTo>
                  <a:pt x="0" y="70"/>
                  <a:pt x="3" y="60"/>
                  <a:pt x="7" y="50"/>
                </a:cubicBezTo>
                <a:cubicBezTo>
                  <a:pt x="11" y="40"/>
                  <a:pt x="17" y="31"/>
                  <a:pt x="24" y="23"/>
                </a:cubicBezTo>
                <a:cubicBezTo>
                  <a:pt x="32" y="16"/>
                  <a:pt x="41" y="10"/>
                  <a:pt x="51" y="6"/>
                </a:cubicBezTo>
                <a:cubicBezTo>
                  <a:pt x="61" y="2"/>
                  <a:pt x="71" y="0"/>
                  <a:pt x="82" y="0"/>
                </a:cubicBezTo>
                <a:lnTo>
                  <a:pt x="4493" y="0"/>
                </a:lnTo>
                <a:cubicBezTo>
                  <a:pt x="4504" y="0"/>
                  <a:pt x="4514" y="2"/>
                  <a:pt x="4524" y="6"/>
                </a:cubicBezTo>
                <a:cubicBezTo>
                  <a:pt x="4534" y="10"/>
                  <a:pt x="4543" y="16"/>
                  <a:pt x="4551" y="23"/>
                </a:cubicBezTo>
                <a:cubicBezTo>
                  <a:pt x="4558" y="31"/>
                  <a:pt x="4564" y="40"/>
                  <a:pt x="4568" y="50"/>
                </a:cubicBezTo>
                <a:cubicBezTo>
                  <a:pt x="4572" y="60"/>
                  <a:pt x="4574" y="70"/>
                  <a:pt x="4574" y="81"/>
                </a:cubicBezTo>
                <a:lnTo>
                  <a:pt x="4574" y="1289"/>
                </a:lnTo>
                <a:cubicBezTo>
                  <a:pt x="4574" y="1300"/>
                  <a:pt x="4572" y="1310"/>
                  <a:pt x="4568" y="1320"/>
                </a:cubicBezTo>
                <a:cubicBezTo>
                  <a:pt x="4564" y="1330"/>
                  <a:pt x="4558" y="1339"/>
                  <a:pt x="4551" y="1346"/>
                </a:cubicBezTo>
                <a:cubicBezTo>
                  <a:pt x="4543" y="1354"/>
                  <a:pt x="4534" y="1360"/>
                  <a:pt x="4524" y="1364"/>
                </a:cubicBezTo>
                <a:cubicBezTo>
                  <a:pt x="4514" y="1368"/>
                  <a:pt x="4504" y="1370"/>
                  <a:pt x="4493" y="1370"/>
                </a:cubicBezTo>
                <a:lnTo>
                  <a:pt x="82" y="1370"/>
                </a:lnTo>
                <a:cubicBezTo>
                  <a:pt x="71" y="1370"/>
                  <a:pt x="61" y="1368"/>
                  <a:pt x="51" y="1364"/>
                </a:cubicBezTo>
                <a:cubicBezTo>
                  <a:pt x="41" y="1360"/>
                  <a:pt x="32" y="1354"/>
                  <a:pt x="24" y="1346"/>
                </a:cubicBezTo>
                <a:cubicBezTo>
                  <a:pt x="17" y="1339"/>
                  <a:pt x="11" y="1330"/>
                  <a:pt x="7" y="1320"/>
                </a:cubicBezTo>
                <a:cubicBezTo>
                  <a:pt x="3" y="1310"/>
                  <a:pt x="0" y="1300"/>
                  <a:pt x="0" y="1289"/>
                </a:cubicBezTo>
              </a:path>
            </a:pathLst>
          </a:custGeom>
          <a:ln w="8280">
            <a:solidFill>
              <a:srgbClr val="a7c6d9">
                <a:alpha val="30000"/>
              </a:srgbClr>
            </a:solidFill>
            <a:miter/>
          </a:ln>
        </p:spPr>
        <p:txBody>
          <a:bodyPr lIns="3960" rIns="3960" tIns="3960" bIns="3960" anchor="t">
            <a:noAutofit/>
          </a:bodyPr>
          <a:p>
            <a:endParaRPr b="0" lang="en-US" sz="2400" strike="noStrike" u="none">
              <a:solidFill>
                <a:srgbClr val="000000"/>
              </a:solidFill>
              <a:effectLst/>
              <a:uFillTx/>
              <a:latin typeface="Times New Roman"/>
            </a:endParaRPr>
          </a:p>
        </p:txBody>
      </p:sp>
      <p:pic>
        <p:nvPicPr>
          <p:cNvPr id="237" name="" descr=""/>
          <p:cNvPicPr/>
          <p:nvPr/>
        </p:nvPicPr>
        <p:blipFill>
          <a:blip r:embed="rId5"/>
          <a:stretch/>
        </p:blipFill>
        <p:spPr>
          <a:xfrm>
            <a:off x="3752280" y="3233880"/>
            <a:ext cx="200160" cy="267120"/>
          </a:xfrm>
          <a:prstGeom prst="rect">
            <a:avLst/>
          </a:prstGeom>
          <a:noFill/>
          <a:ln w="0">
            <a:noFill/>
          </a:ln>
        </p:spPr>
      </p:pic>
      <p:pic>
        <p:nvPicPr>
          <p:cNvPr id="238" name="" descr=""/>
          <p:cNvPicPr/>
          <p:nvPr/>
        </p:nvPicPr>
        <p:blipFill>
          <a:blip r:embed="rId6"/>
          <a:stretch/>
        </p:blipFill>
        <p:spPr>
          <a:xfrm>
            <a:off x="4086360" y="3233880"/>
            <a:ext cx="200160" cy="267120"/>
          </a:xfrm>
          <a:prstGeom prst="rect">
            <a:avLst/>
          </a:prstGeom>
          <a:noFill/>
          <a:ln w="0">
            <a:noFill/>
          </a:ln>
        </p:spPr>
      </p:pic>
      <p:pic>
        <p:nvPicPr>
          <p:cNvPr id="239" name="" descr=""/>
          <p:cNvPicPr/>
          <p:nvPr/>
        </p:nvPicPr>
        <p:blipFill>
          <a:blip r:embed="rId7"/>
          <a:stretch/>
        </p:blipFill>
        <p:spPr>
          <a:xfrm>
            <a:off x="5231160" y="2691000"/>
            <a:ext cx="150120" cy="233640"/>
          </a:xfrm>
          <a:prstGeom prst="rect">
            <a:avLst/>
          </a:prstGeom>
          <a:noFill/>
          <a:ln w="0">
            <a:noFill/>
          </a:ln>
        </p:spPr>
      </p:pic>
      <p:sp>
        <p:nvSpPr>
          <p:cNvPr id="240" name=""/>
          <p:cNvSpPr txBox="1"/>
          <p:nvPr/>
        </p:nvSpPr>
        <p:spPr>
          <a:xfrm>
            <a:off x="3377160" y="2908080"/>
            <a:ext cx="1291680" cy="169560"/>
          </a:xfrm>
          <a:prstGeom prst="rect">
            <a:avLst/>
          </a:prstGeom>
          <a:noFill/>
          <a:ln w="0">
            <a:noFill/>
          </a:ln>
        </p:spPr>
        <p:txBody>
          <a:bodyPr wrap="none" lIns="0" rIns="0" tIns="0" bIns="0" anchor="t">
            <a:spAutoFit/>
          </a:bodyPr>
          <a:p>
            <a:r>
              <a:rPr b="0" lang="zh-CN" sz="920" strike="noStrike" u="none">
                <a:solidFill>
                  <a:srgbClr val="a7c6d9"/>
                </a:solidFill>
                <a:effectLst/>
                <a:uFillTx/>
                <a:latin typeface="NotoSansJP"/>
                <a:ea typeface="NotoSansJP"/>
              </a:rPr>
              <a:t>空間周波数領域での表現</a:t>
            </a:r>
            <a:endParaRPr b="0" lang="en-US" sz="920" strike="noStrike" u="none">
              <a:solidFill>
                <a:srgbClr val="000000"/>
              </a:solidFill>
              <a:effectLst/>
              <a:uFillTx/>
              <a:latin typeface="Times New Roman"/>
            </a:endParaRPr>
          </a:p>
        </p:txBody>
      </p:sp>
      <p:sp>
        <p:nvSpPr>
          <p:cNvPr id="241" name=""/>
          <p:cNvSpPr txBox="1"/>
          <p:nvPr/>
        </p:nvSpPr>
        <p:spPr>
          <a:xfrm>
            <a:off x="5016600" y="2973960"/>
            <a:ext cx="503640" cy="146520"/>
          </a:xfrm>
          <a:prstGeom prst="rect">
            <a:avLst/>
          </a:prstGeom>
          <a:noFill/>
          <a:ln w="0">
            <a:noFill/>
          </a:ln>
        </p:spPr>
        <p:txBody>
          <a:bodyPr wrap="none" lIns="0" rIns="0" tIns="0" bIns="0" anchor="t">
            <a:spAutoFit/>
          </a:bodyPr>
          <a:p>
            <a:r>
              <a:rPr b="0" lang="zh-CN" sz="790" strike="noStrike" u="none">
                <a:solidFill>
                  <a:srgbClr val="a7c6d9"/>
                </a:solidFill>
                <a:effectLst/>
                <a:uFillTx/>
                <a:latin typeface="NotoSansJP"/>
                <a:ea typeface="NotoSansJP"/>
              </a:rPr>
              <a:t>伝達関数の</a:t>
            </a:r>
            <a:endParaRPr b="0" lang="en-US" sz="790" strike="noStrike" u="none">
              <a:solidFill>
                <a:srgbClr val="000000"/>
              </a:solidFill>
              <a:effectLst/>
              <a:uFillTx/>
              <a:latin typeface="Times New Roman"/>
            </a:endParaRPr>
          </a:p>
        </p:txBody>
      </p:sp>
      <p:sp>
        <p:nvSpPr>
          <p:cNvPr id="242" name=""/>
          <p:cNvSpPr/>
          <p:nvPr/>
        </p:nvSpPr>
        <p:spPr>
          <a:xfrm>
            <a:off x="5598720" y="1938600"/>
            <a:ext cx="1989360" cy="2047680"/>
          </a:xfrm>
          <a:custGeom>
            <a:avLst/>
            <a:gdLst/>
            <a:ahLst/>
            <a:rect l="0" t="0" r="r" b="b"/>
            <a:pathLst>
              <a:path w="5526" h="5688">
                <a:moveTo>
                  <a:pt x="0" y="5502"/>
                </a:moveTo>
                <a:lnTo>
                  <a:pt x="0" y="186"/>
                </a:lnTo>
                <a:cubicBezTo>
                  <a:pt x="0" y="173"/>
                  <a:pt x="1" y="161"/>
                  <a:pt x="4" y="149"/>
                </a:cubicBezTo>
                <a:cubicBezTo>
                  <a:pt x="6" y="137"/>
                  <a:pt x="10" y="126"/>
                  <a:pt x="14" y="115"/>
                </a:cubicBezTo>
                <a:cubicBezTo>
                  <a:pt x="19" y="103"/>
                  <a:pt x="25" y="93"/>
                  <a:pt x="32" y="82"/>
                </a:cubicBezTo>
                <a:cubicBezTo>
                  <a:pt x="38" y="72"/>
                  <a:pt x="46" y="63"/>
                  <a:pt x="55" y="54"/>
                </a:cubicBezTo>
                <a:cubicBezTo>
                  <a:pt x="63" y="46"/>
                  <a:pt x="73" y="38"/>
                  <a:pt x="83" y="31"/>
                </a:cubicBezTo>
                <a:cubicBezTo>
                  <a:pt x="93" y="24"/>
                  <a:pt x="104" y="19"/>
                  <a:pt x="115" y="14"/>
                </a:cubicBezTo>
                <a:cubicBezTo>
                  <a:pt x="126" y="9"/>
                  <a:pt x="138" y="6"/>
                  <a:pt x="150" y="3"/>
                </a:cubicBezTo>
                <a:cubicBezTo>
                  <a:pt x="162" y="1"/>
                  <a:pt x="174" y="0"/>
                  <a:pt x="186" y="0"/>
                </a:cubicBezTo>
                <a:lnTo>
                  <a:pt x="5340" y="0"/>
                </a:lnTo>
                <a:cubicBezTo>
                  <a:pt x="5352" y="0"/>
                  <a:pt x="5365" y="1"/>
                  <a:pt x="5376" y="3"/>
                </a:cubicBezTo>
                <a:cubicBezTo>
                  <a:pt x="5388" y="6"/>
                  <a:pt x="5400" y="9"/>
                  <a:pt x="5411" y="14"/>
                </a:cubicBezTo>
                <a:cubicBezTo>
                  <a:pt x="5423" y="19"/>
                  <a:pt x="5433" y="24"/>
                  <a:pt x="5443" y="31"/>
                </a:cubicBezTo>
                <a:cubicBezTo>
                  <a:pt x="5454" y="38"/>
                  <a:pt x="5463" y="46"/>
                  <a:pt x="5472" y="54"/>
                </a:cubicBezTo>
                <a:cubicBezTo>
                  <a:pt x="5480" y="63"/>
                  <a:pt x="5488" y="72"/>
                  <a:pt x="5495" y="82"/>
                </a:cubicBezTo>
                <a:cubicBezTo>
                  <a:pt x="5501" y="93"/>
                  <a:pt x="5507" y="103"/>
                  <a:pt x="5512" y="115"/>
                </a:cubicBezTo>
                <a:cubicBezTo>
                  <a:pt x="5516" y="126"/>
                  <a:pt x="5520" y="137"/>
                  <a:pt x="5522" y="149"/>
                </a:cubicBezTo>
                <a:cubicBezTo>
                  <a:pt x="5525" y="161"/>
                  <a:pt x="5526" y="173"/>
                  <a:pt x="5526" y="186"/>
                </a:cubicBezTo>
                <a:lnTo>
                  <a:pt x="5526" y="5502"/>
                </a:lnTo>
                <a:cubicBezTo>
                  <a:pt x="5526" y="5515"/>
                  <a:pt x="5525" y="5527"/>
                  <a:pt x="5522" y="5539"/>
                </a:cubicBezTo>
                <a:cubicBezTo>
                  <a:pt x="5520" y="5551"/>
                  <a:pt x="5516" y="5562"/>
                  <a:pt x="5512" y="5573"/>
                </a:cubicBezTo>
                <a:cubicBezTo>
                  <a:pt x="5507" y="5585"/>
                  <a:pt x="5501" y="5595"/>
                  <a:pt x="5495" y="5606"/>
                </a:cubicBezTo>
                <a:cubicBezTo>
                  <a:pt x="5488" y="5616"/>
                  <a:pt x="5480" y="5625"/>
                  <a:pt x="5472" y="5634"/>
                </a:cubicBezTo>
                <a:cubicBezTo>
                  <a:pt x="5463" y="5642"/>
                  <a:pt x="5454" y="5650"/>
                  <a:pt x="5443" y="5657"/>
                </a:cubicBezTo>
                <a:cubicBezTo>
                  <a:pt x="5433" y="5664"/>
                  <a:pt x="5423" y="5669"/>
                  <a:pt x="5411" y="5674"/>
                </a:cubicBezTo>
                <a:cubicBezTo>
                  <a:pt x="5400" y="5679"/>
                  <a:pt x="5388" y="5682"/>
                  <a:pt x="5376" y="5685"/>
                </a:cubicBezTo>
                <a:cubicBezTo>
                  <a:pt x="5365" y="5687"/>
                  <a:pt x="5352" y="5688"/>
                  <a:pt x="5340" y="5688"/>
                </a:cubicBezTo>
                <a:lnTo>
                  <a:pt x="186" y="5688"/>
                </a:lnTo>
                <a:cubicBezTo>
                  <a:pt x="174" y="5688"/>
                  <a:pt x="162" y="5687"/>
                  <a:pt x="150" y="5685"/>
                </a:cubicBezTo>
                <a:cubicBezTo>
                  <a:pt x="138" y="5682"/>
                  <a:pt x="126" y="5679"/>
                  <a:pt x="115" y="5674"/>
                </a:cubicBezTo>
                <a:cubicBezTo>
                  <a:pt x="104" y="5669"/>
                  <a:pt x="93" y="5664"/>
                  <a:pt x="83" y="5657"/>
                </a:cubicBezTo>
                <a:cubicBezTo>
                  <a:pt x="73" y="5650"/>
                  <a:pt x="63" y="5642"/>
                  <a:pt x="55" y="5634"/>
                </a:cubicBezTo>
                <a:cubicBezTo>
                  <a:pt x="46" y="5625"/>
                  <a:pt x="38" y="5616"/>
                  <a:pt x="32" y="5606"/>
                </a:cubicBezTo>
                <a:cubicBezTo>
                  <a:pt x="25" y="5595"/>
                  <a:pt x="19" y="5585"/>
                  <a:pt x="14" y="5573"/>
                </a:cubicBezTo>
                <a:cubicBezTo>
                  <a:pt x="10" y="5562"/>
                  <a:pt x="6" y="5551"/>
                  <a:pt x="4" y="5539"/>
                </a:cubicBezTo>
                <a:cubicBezTo>
                  <a:pt x="1" y="5527"/>
                  <a:pt x="0" y="5515"/>
                  <a:pt x="0" y="5502"/>
                </a:cubicBezTo>
                <a:close/>
              </a:path>
            </a:pathLst>
          </a:custGeom>
          <a:solidFill>
            <a:srgbClr val="ffffff">
              <a:alpha val="10000"/>
            </a:srgbClr>
          </a:solidFill>
          <a:ln w="0">
            <a:noFill/>
          </a:ln>
        </p:spPr>
        <p:txBody>
          <a:bodyPr lIns="0" rIns="0" tIns="0" bIns="0" anchor="t">
            <a:noAutofit/>
          </a:bodyPr>
          <a:p>
            <a:endParaRPr b="0" lang="en-US" sz="2400" strike="noStrike" u="none">
              <a:solidFill>
                <a:srgbClr val="000000"/>
              </a:solidFill>
              <a:effectLst/>
              <a:uFillTx/>
              <a:latin typeface="Times New Roman"/>
            </a:endParaRPr>
          </a:p>
        </p:txBody>
      </p:sp>
      <p:pic>
        <p:nvPicPr>
          <p:cNvPr id="243" name="" descr=""/>
          <p:cNvPicPr/>
          <p:nvPr/>
        </p:nvPicPr>
        <p:blipFill>
          <a:blip r:embed="rId8"/>
          <a:stretch/>
        </p:blipFill>
        <p:spPr>
          <a:xfrm>
            <a:off x="6442920" y="2106000"/>
            <a:ext cx="300600" cy="334080"/>
          </a:xfrm>
          <a:prstGeom prst="rect">
            <a:avLst/>
          </a:prstGeom>
          <a:noFill/>
          <a:ln w="0">
            <a:noFill/>
          </a:ln>
        </p:spPr>
      </p:pic>
      <p:sp>
        <p:nvSpPr>
          <p:cNvPr id="244" name=""/>
          <p:cNvSpPr txBox="1"/>
          <p:nvPr/>
        </p:nvSpPr>
        <p:spPr>
          <a:xfrm>
            <a:off x="5016600" y="3107520"/>
            <a:ext cx="201960" cy="146520"/>
          </a:xfrm>
          <a:prstGeom prst="rect">
            <a:avLst/>
          </a:prstGeom>
          <a:noFill/>
          <a:ln w="0">
            <a:noFill/>
          </a:ln>
        </p:spPr>
        <p:txBody>
          <a:bodyPr wrap="none" lIns="0" rIns="0" tIns="0" bIns="0" anchor="t">
            <a:spAutoFit/>
          </a:bodyPr>
          <a:p>
            <a:r>
              <a:rPr b="0" lang="zh-CN" sz="790" strike="noStrike" u="none">
                <a:solidFill>
                  <a:srgbClr val="a7c6d9"/>
                </a:solidFill>
                <a:effectLst/>
                <a:uFillTx/>
                <a:latin typeface="NotoSansJP"/>
                <a:ea typeface="NotoSansJP"/>
              </a:rPr>
              <a:t>乗算</a:t>
            </a:r>
            <a:endParaRPr b="0" lang="en-US" sz="790" strike="noStrike" u="none">
              <a:solidFill>
                <a:srgbClr val="000000"/>
              </a:solidFill>
              <a:effectLst/>
              <a:uFillTx/>
              <a:latin typeface="Times New Roman"/>
            </a:endParaRPr>
          </a:p>
        </p:txBody>
      </p:sp>
      <p:sp>
        <p:nvSpPr>
          <p:cNvPr id="245" name=""/>
          <p:cNvSpPr txBox="1"/>
          <p:nvPr/>
        </p:nvSpPr>
        <p:spPr>
          <a:xfrm>
            <a:off x="5928840" y="2608560"/>
            <a:ext cx="1341720" cy="194040"/>
          </a:xfrm>
          <a:prstGeom prst="rect">
            <a:avLst/>
          </a:prstGeom>
          <a:noFill/>
          <a:ln w="0">
            <a:noFill/>
          </a:ln>
        </p:spPr>
        <p:txBody>
          <a:bodyPr wrap="none" lIns="0" rIns="0" tIns="0" bIns="0" anchor="t">
            <a:spAutoFit/>
          </a:bodyPr>
          <a:p>
            <a:r>
              <a:rPr b="0" lang="zh-CN" sz="1050" strike="noStrike" u="none">
                <a:solidFill>
                  <a:srgbClr val="ffffff"/>
                </a:solidFill>
                <a:effectLst/>
                <a:uFillTx/>
                <a:latin typeface="NotoSansJP"/>
                <a:ea typeface="NotoSansJP"/>
              </a:rPr>
              <a:t>伝搬後の角スペクトル</a:t>
            </a:r>
            <a:endParaRPr b="0" lang="en-US" sz="1050" strike="noStrike" u="none">
              <a:solidFill>
                <a:srgbClr val="000000"/>
              </a:solidFill>
              <a:effectLst/>
              <a:uFillTx/>
              <a:latin typeface="Times New Roman"/>
            </a:endParaRPr>
          </a:p>
        </p:txBody>
      </p:sp>
      <p:sp>
        <p:nvSpPr>
          <p:cNvPr id="246" name=""/>
          <p:cNvSpPr/>
          <p:nvPr/>
        </p:nvSpPr>
        <p:spPr>
          <a:xfrm>
            <a:off x="5770080" y="3321720"/>
            <a:ext cx="1646640" cy="493200"/>
          </a:xfrm>
          <a:custGeom>
            <a:avLst/>
            <a:gdLst/>
            <a:ahLst/>
            <a:rect l="0" t="0" r="r" b="b"/>
            <a:pathLst>
              <a:path fill="none" w="4574" h="1370">
                <a:moveTo>
                  <a:pt x="0" y="1289"/>
                </a:moveTo>
                <a:lnTo>
                  <a:pt x="0" y="81"/>
                </a:lnTo>
                <a:cubicBezTo>
                  <a:pt x="0" y="70"/>
                  <a:pt x="2" y="60"/>
                  <a:pt x="6" y="50"/>
                </a:cubicBezTo>
                <a:cubicBezTo>
                  <a:pt x="10" y="40"/>
                  <a:pt x="16" y="31"/>
                  <a:pt x="24" y="23"/>
                </a:cubicBezTo>
                <a:cubicBezTo>
                  <a:pt x="32" y="16"/>
                  <a:pt x="40" y="10"/>
                  <a:pt x="50" y="6"/>
                </a:cubicBezTo>
                <a:cubicBezTo>
                  <a:pt x="60" y="2"/>
                  <a:pt x="71" y="0"/>
                  <a:pt x="81" y="0"/>
                </a:cubicBezTo>
                <a:lnTo>
                  <a:pt x="4492" y="0"/>
                </a:lnTo>
                <a:cubicBezTo>
                  <a:pt x="4503" y="0"/>
                  <a:pt x="4513" y="2"/>
                  <a:pt x="4523" y="6"/>
                </a:cubicBezTo>
                <a:cubicBezTo>
                  <a:pt x="4533" y="10"/>
                  <a:pt x="4542" y="16"/>
                  <a:pt x="4550" y="23"/>
                </a:cubicBezTo>
                <a:cubicBezTo>
                  <a:pt x="4558" y="31"/>
                  <a:pt x="4564" y="40"/>
                  <a:pt x="4568" y="50"/>
                </a:cubicBezTo>
                <a:cubicBezTo>
                  <a:pt x="4572" y="60"/>
                  <a:pt x="4574" y="70"/>
                  <a:pt x="4574" y="81"/>
                </a:cubicBezTo>
                <a:lnTo>
                  <a:pt x="4574" y="1289"/>
                </a:lnTo>
                <a:cubicBezTo>
                  <a:pt x="4574" y="1300"/>
                  <a:pt x="4572" y="1310"/>
                  <a:pt x="4568" y="1320"/>
                </a:cubicBezTo>
                <a:cubicBezTo>
                  <a:pt x="4564" y="1330"/>
                  <a:pt x="4558" y="1339"/>
                  <a:pt x="4550" y="1346"/>
                </a:cubicBezTo>
                <a:cubicBezTo>
                  <a:pt x="4542" y="1354"/>
                  <a:pt x="4533" y="1360"/>
                  <a:pt x="4523" y="1364"/>
                </a:cubicBezTo>
                <a:cubicBezTo>
                  <a:pt x="4513" y="1368"/>
                  <a:pt x="4503" y="1370"/>
                  <a:pt x="4492" y="1370"/>
                </a:cubicBezTo>
                <a:lnTo>
                  <a:pt x="81" y="1370"/>
                </a:lnTo>
                <a:cubicBezTo>
                  <a:pt x="71" y="1370"/>
                  <a:pt x="60" y="1368"/>
                  <a:pt x="50" y="1364"/>
                </a:cubicBezTo>
                <a:cubicBezTo>
                  <a:pt x="40" y="1360"/>
                  <a:pt x="32" y="1354"/>
                  <a:pt x="24" y="1346"/>
                </a:cubicBezTo>
                <a:cubicBezTo>
                  <a:pt x="16" y="1339"/>
                  <a:pt x="10" y="1330"/>
                  <a:pt x="6" y="1320"/>
                </a:cubicBezTo>
                <a:cubicBezTo>
                  <a:pt x="2" y="1310"/>
                  <a:pt x="0" y="1300"/>
                  <a:pt x="0" y="1289"/>
                </a:cubicBezTo>
              </a:path>
            </a:pathLst>
          </a:custGeom>
          <a:ln w="8280">
            <a:solidFill>
              <a:srgbClr val="a7c6d9">
                <a:alpha val="30000"/>
              </a:srgbClr>
            </a:solidFill>
            <a:miter/>
          </a:ln>
        </p:spPr>
        <p:txBody>
          <a:bodyPr lIns="3960" rIns="3960" tIns="3960" bIns="3960" anchor="t">
            <a:noAutofit/>
          </a:bodyPr>
          <a:p>
            <a:endParaRPr b="0" lang="en-US" sz="2400" strike="noStrike" u="none">
              <a:solidFill>
                <a:srgbClr val="000000"/>
              </a:solidFill>
              <a:effectLst/>
              <a:uFillTx/>
              <a:latin typeface="Times New Roman"/>
            </a:endParaRPr>
          </a:p>
        </p:txBody>
      </p:sp>
      <p:pic>
        <p:nvPicPr>
          <p:cNvPr id="247" name="" descr=""/>
          <p:cNvPicPr/>
          <p:nvPr/>
        </p:nvPicPr>
        <p:blipFill>
          <a:blip r:embed="rId9"/>
          <a:stretch/>
        </p:blipFill>
        <p:spPr>
          <a:xfrm>
            <a:off x="6325920" y="3434760"/>
            <a:ext cx="200160" cy="267120"/>
          </a:xfrm>
          <a:prstGeom prst="rect">
            <a:avLst/>
          </a:prstGeom>
          <a:noFill/>
          <a:ln w="0">
            <a:noFill/>
          </a:ln>
        </p:spPr>
      </p:pic>
      <p:pic>
        <p:nvPicPr>
          <p:cNvPr id="248" name="" descr=""/>
          <p:cNvPicPr/>
          <p:nvPr/>
        </p:nvPicPr>
        <p:blipFill>
          <a:blip r:embed="rId10"/>
          <a:stretch/>
        </p:blipFill>
        <p:spPr>
          <a:xfrm>
            <a:off x="7805160" y="2691000"/>
            <a:ext cx="150120" cy="233640"/>
          </a:xfrm>
          <a:prstGeom prst="rect">
            <a:avLst/>
          </a:prstGeom>
          <a:noFill/>
          <a:ln w="0">
            <a:noFill/>
          </a:ln>
        </p:spPr>
      </p:pic>
      <p:sp>
        <p:nvSpPr>
          <p:cNvPr id="249" name=""/>
          <p:cNvSpPr txBox="1"/>
          <p:nvPr/>
        </p:nvSpPr>
        <p:spPr>
          <a:xfrm>
            <a:off x="5774040" y="3108600"/>
            <a:ext cx="1643760" cy="169560"/>
          </a:xfrm>
          <a:prstGeom prst="rect">
            <a:avLst/>
          </a:prstGeom>
          <a:noFill/>
          <a:ln w="0">
            <a:noFill/>
          </a:ln>
        </p:spPr>
        <p:txBody>
          <a:bodyPr wrap="none" lIns="0" rIns="0" tIns="0" bIns="0" anchor="t">
            <a:spAutoFit/>
          </a:bodyPr>
          <a:p>
            <a:r>
              <a:rPr b="0" lang="zh-CN" sz="920" strike="noStrike" u="none">
                <a:solidFill>
                  <a:srgbClr val="a7c6d9"/>
                </a:solidFill>
                <a:effectLst/>
                <a:uFillTx/>
                <a:latin typeface="NotoSansJP"/>
                <a:ea typeface="NotoSansJP"/>
              </a:rPr>
              <a:t>位相変化を考慮した周波数表現</a:t>
            </a:r>
            <a:endParaRPr b="0" lang="en-US" sz="920" strike="noStrike" u="none">
              <a:solidFill>
                <a:srgbClr val="000000"/>
              </a:solidFill>
              <a:effectLst/>
              <a:uFillTx/>
              <a:latin typeface="Times New Roman"/>
            </a:endParaRPr>
          </a:p>
        </p:txBody>
      </p:sp>
      <p:sp>
        <p:nvSpPr>
          <p:cNvPr id="250" name=""/>
          <p:cNvSpPr txBox="1"/>
          <p:nvPr/>
        </p:nvSpPr>
        <p:spPr>
          <a:xfrm>
            <a:off x="7589160" y="2973960"/>
            <a:ext cx="503640" cy="146520"/>
          </a:xfrm>
          <a:prstGeom prst="rect">
            <a:avLst/>
          </a:prstGeom>
          <a:noFill/>
          <a:ln w="0">
            <a:noFill/>
          </a:ln>
        </p:spPr>
        <p:txBody>
          <a:bodyPr wrap="none" lIns="0" rIns="0" tIns="0" bIns="0" anchor="t">
            <a:spAutoFit/>
          </a:bodyPr>
          <a:p>
            <a:r>
              <a:rPr b="0" lang="zh-CN" sz="790" strike="noStrike" u="none">
                <a:solidFill>
                  <a:srgbClr val="a7c6d9"/>
                </a:solidFill>
                <a:effectLst/>
                <a:uFillTx/>
                <a:latin typeface="NotoSansJP"/>
                <a:ea typeface="NotoSansJP"/>
              </a:rPr>
              <a:t>逆フーリエ</a:t>
            </a:r>
            <a:endParaRPr b="0" lang="en-US" sz="790" strike="noStrike" u="none">
              <a:solidFill>
                <a:srgbClr val="000000"/>
              </a:solidFill>
              <a:effectLst/>
              <a:uFillTx/>
              <a:latin typeface="Times New Roman"/>
            </a:endParaRPr>
          </a:p>
        </p:txBody>
      </p:sp>
      <p:sp>
        <p:nvSpPr>
          <p:cNvPr id="251" name=""/>
          <p:cNvSpPr/>
          <p:nvPr/>
        </p:nvSpPr>
        <p:spPr>
          <a:xfrm>
            <a:off x="8172720" y="1938600"/>
            <a:ext cx="1989360" cy="2047680"/>
          </a:xfrm>
          <a:custGeom>
            <a:avLst/>
            <a:gdLst/>
            <a:ahLst/>
            <a:rect l="0" t="0" r="r" b="b"/>
            <a:pathLst>
              <a:path w="5526" h="5688">
                <a:moveTo>
                  <a:pt x="0" y="5502"/>
                </a:moveTo>
                <a:lnTo>
                  <a:pt x="0" y="186"/>
                </a:lnTo>
                <a:cubicBezTo>
                  <a:pt x="0" y="173"/>
                  <a:pt x="1" y="161"/>
                  <a:pt x="3" y="149"/>
                </a:cubicBezTo>
                <a:cubicBezTo>
                  <a:pt x="6" y="137"/>
                  <a:pt x="9" y="126"/>
                  <a:pt x="14" y="115"/>
                </a:cubicBezTo>
                <a:cubicBezTo>
                  <a:pt x="19" y="103"/>
                  <a:pt x="24" y="93"/>
                  <a:pt x="31" y="82"/>
                </a:cubicBezTo>
                <a:cubicBezTo>
                  <a:pt x="38" y="72"/>
                  <a:pt x="46" y="63"/>
                  <a:pt x="54" y="54"/>
                </a:cubicBezTo>
                <a:cubicBezTo>
                  <a:pt x="63" y="46"/>
                  <a:pt x="72" y="38"/>
                  <a:pt x="82" y="31"/>
                </a:cubicBezTo>
                <a:cubicBezTo>
                  <a:pt x="93" y="24"/>
                  <a:pt x="103" y="19"/>
                  <a:pt x="115" y="14"/>
                </a:cubicBezTo>
                <a:cubicBezTo>
                  <a:pt x="126" y="9"/>
                  <a:pt x="137" y="6"/>
                  <a:pt x="149" y="3"/>
                </a:cubicBezTo>
                <a:cubicBezTo>
                  <a:pt x="161" y="1"/>
                  <a:pt x="173" y="0"/>
                  <a:pt x="186" y="0"/>
                </a:cubicBezTo>
                <a:lnTo>
                  <a:pt x="5340" y="0"/>
                </a:lnTo>
                <a:cubicBezTo>
                  <a:pt x="5352" y="0"/>
                  <a:pt x="5364" y="1"/>
                  <a:pt x="5376" y="3"/>
                </a:cubicBezTo>
                <a:cubicBezTo>
                  <a:pt x="5388" y="6"/>
                  <a:pt x="5400" y="9"/>
                  <a:pt x="5411" y="14"/>
                </a:cubicBezTo>
                <a:cubicBezTo>
                  <a:pt x="5422" y="19"/>
                  <a:pt x="5433" y="24"/>
                  <a:pt x="5443" y="31"/>
                </a:cubicBezTo>
                <a:cubicBezTo>
                  <a:pt x="5453" y="38"/>
                  <a:pt x="5463" y="46"/>
                  <a:pt x="5471" y="54"/>
                </a:cubicBezTo>
                <a:cubicBezTo>
                  <a:pt x="5480" y="63"/>
                  <a:pt x="5487" y="72"/>
                  <a:pt x="5494" y="82"/>
                </a:cubicBezTo>
                <a:cubicBezTo>
                  <a:pt x="5501" y="93"/>
                  <a:pt x="5507" y="103"/>
                  <a:pt x="5511" y="115"/>
                </a:cubicBezTo>
                <a:cubicBezTo>
                  <a:pt x="5516" y="126"/>
                  <a:pt x="5520" y="137"/>
                  <a:pt x="5522" y="149"/>
                </a:cubicBezTo>
                <a:cubicBezTo>
                  <a:pt x="5524" y="161"/>
                  <a:pt x="5526" y="173"/>
                  <a:pt x="5526" y="186"/>
                </a:cubicBezTo>
                <a:lnTo>
                  <a:pt x="5526" y="5502"/>
                </a:lnTo>
                <a:cubicBezTo>
                  <a:pt x="5526" y="5515"/>
                  <a:pt x="5524" y="5527"/>
                  <a:pt x="5522" y="5539"/>
                </a:cubicBezTo>
                <a:cubicBezTo>
                  <a:pt x="5520" y="5551"/>
                  <a:pt x="5516" y="5562"/>
                  <a:pt x="5511" y="5573"/>
                </a:cubicBezTo>
                <a:cubicBezTo>
                  <a:pt x="5507" y="5585"/>
                  <a:pt x="5501" y="5595"/>
                  <a:pt x="5494" y="5606"/>
                </a:cubicBezTo>
                <a:cubicBezTo>
                  <a:pt x="5487" y="5616"/>
                  <a:pt x="5480" y="5625"/>
                  <a:pt x="5471" y="5634"/>
                </a:cubicBezTo>
                <a:cubicBezTo>
                  <a:pt x="5463" y="5642"/>
                  <a:pt x="5453" y="5650"/>
                  <a:pt x="5443" y="5657"/>
                </a:cubicBezTo>
                <a:cubicBezTo>
                  <a:pt x="5433" y="5664"/>
                  <a:pt x="5422" y="5669"/>
                  <a:pt x="5411" y="5674"/>
                </a:cubicBezTo>
                <a:cubicBezTo>
                  <a:pt x="5400" y="5679"/>
                  <a:pt x="5388" y="5682"/>
                  <a:pt x="5376" y="5685"/>
                </a:cubicBezTo>
                <a:cubicBezTo>
                  <a:pt x="5364" y="5687"/>
                  <a:pt x="5352" y="5688"/>
                  <a:pt x="5340" y="5688"/>
                </a:cubicBezTo>
                <a:lnTo>
                  <a:pt x="186" y="5688"/>
                </a:lnTo>
                <a:cubicBezTo>
                  <a:pt x="173" y="5688"/>
                  <a:pt x="161" y="5687"/>
                  <a:pt x="149" y="5685"/>
                </a:cubicBezTo>
                <a:cubicBezTo>
                  <a:pt x="137" y="5682"/>
                  <a:pt x="126" y="5679"/>
                  <a:pt x="115" y="5674"/>
                </a:cubicBezTo>
                <a:cubicBezTo>
                  <a:pt x="103" y="5669"/>
                  <a:pt x="93" y="5664"/>
                  <a:pt x="82" y="5657"/>
                </a:cubicBezTo>
                <a:cubicBezTo>
                  <a:pt x="72" y="5650"/>
                  <a:pt x="63" y="5642"/>
                  <a:pt x="54" y="5634"/>
                </a:cubicBezTo>
                <a:cubicBezTo>
                  <a:pt x="46" y="5625"/>
                  <a:pt x="38" y="5616"/>
                  <a:pt x="31" y="5606"/>
                </a:cubicBezTo>
                <a:cubicBezTo>
                  <a:pt x="24" y="5595"/>
                  <a:pt x="19" y="5585"/>
                  <a:pt x="14" y="5573"/>
                </a:cubicBezTo>
                <a:cubicBezTo>
                  <a:pt x="9" y="5562"/>
                  <a:pt x="6" y="5551"/>
                  <a:pt x="3" y="5539"/>
                </a:cubicBezTo>
                <a:cubicBezTo>
                  <a:pt x="1" y="5527"/>
                  <a:pt x="0" y="5515"/>
                  <a:pt x="0" y="5502"/>
                </a:cubicBezTo>
                <a:close/>
              </a:path>
            </a:pathLst>
          </a:custGeom>
          <a:solidFill>
            <a:srgbClr val="ffffff">
              <a:alpha val="10000"/>
            </a:srgbClr>
          </a:solidFill>
          <a:ln w="0">
            <a:noFill/>
          </a:ln>
        </p:spPr>
        <p:txBody>
          <a:bodyPr lIns="0" rIns="0" tIns="0" bIns="0" anchor="t">
            <a:noAutofit/>
          </a:bodyPr>
          <a:p>
            <a:endParaRPr b="0" lang="en-US" sz="2400" strike="noStrike" u="none">
              <a:solidFill>
                <a:srgbClr val="000000"/>
              </a:solidFill>
              <a:effectLst/>
              <a:uFillTx/>
              <a:latin typeface="Times New Roman"/>
            </a:endParaRPr>
          </a:p>
        </p:txBody>
      </p:sp>
      <p:pic>
        <p:nvPicPr>
          <p:cNvPr id="252" name="" descr=""/>
          <p:cNvPicPr/>
          <p:nvPr/>
        </p:nvPicPr>
        <p:blipFill>
          <a:blip r:embed="rId11"/>
          <a:stretch/>
        </p:blipFill>
        <p:spPr>
          <a:xfrm>
            <a:off x="8975160" y="2106000"/>
            <a:ext cx="375840" cy="334080"/>
          </a:xfrm>
          <a:prstGeom prst="rect">
            <a:avLst/>
          </a:prstGeom>
          <a:noFill/>
          <a:ln w="0">
            <a:noFill/>
          </a:ln>
        </p:spPr>
      </p:pic>
      <p:sp>
        <p:nvSpPr>
          <p:cNvPr id="253" name=""/>
          <p:cNvSpPr txBox="1"/>
          <p:nvPr/>
        </p:nvSpPr>
        <p:spPr>
          <a:xfrm>
            <a:off x="7589160" y="3107520"/>
            <a:ext cx="201960" cy="146520"/>
          </a:xfrm>
          <a:prstGeom prst="rect">
            <a:avLst/>
          </a:prstGeom>
          <a:noFill/>
          <a:ln w="0">
            <a:noFill/>
          </a:ln>
        </p:spPr>
        <p:txBody>
          <a:bodyPr wrap="none" lIns="0" rIns="0" tIns="0" bIns="0" anchor="t">
            <a:spAutoFit/>
          </a:bodyPr>
          <a:p>
            <a:r>
              <a:rPr b="0" lang="zh-CN" sz="790" strike="noStrike" u="none">
                <a:solidFill>
                  <a:srgbClr val="a7c6d9"/>
                </a:solidFill>
                <a:effectLst/>
                <a:uFillTx/>
                <a:latin typeface="NotoSansJP"/>
                <a:ea typeface="NotoSansJP"/>
              </a:rPr>
              <a:t>変換</a:t>
            </a:r>
            <a:endParaRPr b="0" lang="en-US" sz="790" strike="noStrike" u="none">
              <a:solidFill>
                <a:srgbClr val="000000"/>
              </a:solidFill>
              <a:effectLst/>
              <a:uFillTx/>
              <a:latin typeface="Times New Roman"/>
            </a:endParaRPr>
          </a:p>
        </p:txBody>
      </p:sp>
      <p:sp>
        <p:nvSpPr>
          <p:cNvPr id="254" name=""/>
          <p:cNvSpPr txBox="1"/>
          <p:nvPr/>
        </p:nvSpPr>
        <p:spPr>
          <a:xfrm>
            <a:off x="8446680" y="2608560"/>
            <a:ext cx="835560" cy="194040"/>
          </a:xfrm>
          <a:prstGeom prst="rect">
            <a:avLst/>
          </a:prstGeom>
          <a:noFill/>
          <a:ln w="0">
            <a:noFill/>
          </a:ln>
        </p:spPr>
        <p:txBody>
          <a:bodyPr wrap="none" lIns="0" rIns="0" tIns="0" bIns="0" anchor="t">
            <a:spAutoFit/>
          </a:bodyPr>
          <a:p>
            <a:r>
              <a:rPr b="0" lang="zh-CN" sz="1050" strike="noStrike" u="none">
                <a:solidFill>
                  <a:srgbClr val="ffffff"/>
                </a:solidFill>
                <a:effectLst/>
                <a:uFillTx/>
                <a:latin typeface="NotoSansJP"/>
                <a:ea typeface="NotoSansJP"/>
              </a:rPr>
              <a:t>伝搬後の光波 </a:t>
            </a:r>
            <a:endParaRPr b="0" lang="en-US" sz="1050" strike="noStrike" u="none">
              <a:solidFill>
                <a:srgbClr val="000000"/>
              </a:solidFill>
              <a:effectLst/>
              <a:uFillTx/>
              <a:latin typeface="Times New Roman"/>
            </a:endParaRPr>
          </a:p>
        </p:txBody>
      </p:sp>
      <p:sp>
        <p:nvSpPr>
          <p:cNvPr id="255" name=""/>
          <p:cNvSpPr/>
          <p:nvPr/>
        </p:nvSpPr>
        <p:spPr>
          <a:xfrm>
            <a:off x="8344080" y="3121200"/>
            <a:ext cx="1646640" cy="493200"/>
          </a:xfrm>
          <a:custGeom>
            <a:avLst/>
            <a:gdLst/>
            <a:ahLst/>
            <a:rect l="0" t="0" r="r" b="b"/>
            <a:pathLst>
              <a:path fill="none" w="4574" h="1370">
                <a:moveTo>
                  <a:pt x="0" y="1289"/>
                </a:moveTo>
                <a:lnTo>
                  <a:pt x="0" y="81"/>
                </a:lnTo>
                <a:cubicBezTo>
                  <a:pt x="0" y="70"/>
                  <a:pt x="2" y="60"/>
                  <a:pt x="6" y="50"/>
                </a:cubicBezTo>
                <a:cubicBezTo>
                  <a:pt x="10" y="40"/>
                  <a:pt x="16" y="31"/>
                  <a:pt x="24" y="23"/>
                </a:cubicBezTo>
                <a:cubicBezTo>
                  <a:pt x="31" y="16"/>
                  <a:pt x="40" y="10"/>
                  <a:pt x="50" y="6"/>
                </a:cubicBezTo>
                <a:cubicBezTo>
                  <a:pt x="60" y="2"/>
                  <a:pt x="70" y="0"/>
                  <a:pt x="81" y="0"/>
                </a:cubicBezTo>
                <a:lnTo>
                  <a:pt x="4492" y="0"/>
                </a:lnTo>
                <a:cubicBezTo>
                  <a:pt x="4503" y="0"/>
                  <a:pt x="4514" y="2"/>
                  <a:pt x="4524" y="6"/>
                </a:cubicBezTo>
                <a:cubicBezTo>
                  <a:pt x="4534" y="10"/>
                  <a:pt x="4542" y="16"/>
                  <a:pt x="4550" y="23"/>
                </a:cubicBezTo>
                <a:cubicBezTo>
                  <a:pt x="4558" y="31"/>
                  <a:pt x="4563" y="40"/>
                  <a:pt x="4568" y="50"/>
                </a:cubicBezTo>
                <a:cubicBezTo>
                  <a:pt x="4572" y="60"/>
                  <a:pt x="4574" y="70"/>
                  <a:pt x="4574" y="81"/>
                </a:cubicBezTo>
                <a:lnTo>
                  <a:pt x="4574" y="1289"/>
                </a:lnTo>
                <a:cubicBezTo>
                  <a:pt x="4574" y="1300"/>
                  <a:pt x="4572" y="1310"/>
                  <a:pt x="4568" y="1320"/>
                </a:cubicBezTo>
                <a:cubicBezTo>
                  <a:pt x="4563" y="1330"/>
                  <a:pt x="4558" y="1339"/>
                  <a:pt x="4550" y="1346"/>
                </a:cubicBezTo>
                <a:cubicBezTo>
                  <a:pt x="4542" y="1354"/>
                  <a:pt x="4534" y="1360"/>
                  <a:pt x="4524" y="1364"/>
                </a:cubicBezTo>
                <a:cubicBezTo>
                  <a:pt x="4514" y="1368"/>
                  <a:pt x="4503" y="1370"/>
                  <a:pt x="4492" y="1370"/>
                </a:cubicBezTo>
                <a:lnTo>
                  <a:pt x="81" y="1370"/>
                </a:lnTo>
                <a:cubicBezTo>
                  <a:pt x="70" y="1370"/>
                  <a:pt x="60" y="1368"/>
                  <a:pt x="50" y="1364"/>
                </a:cubicBezTo>
                <a:cubicBezTo>
                  <a:pt x="40" y="1360"/>
                  <a:pt x="31" y="1354"/>
                  <a:pt x="24" y="1346"/>
                </a:cubicBezTo>
                <a:cubicBezTo>
                  <a:pt x="16" y="1339"/>
                  <a:pt x="10" y="1330"/>
                  <a:pt x="6" y="1320"/>
                </a:cubicBezTo>
                <a:cubicBezTo>
                  <a:pt x="2" y="1310"/>
                  <a:pt x="0" y="1300"/>
                  <a:pt x="0" y="1289"/>
                </a:cubicBezTo>
              </a:path>
            </a:pathLst>
          </a:custGeom>
          <a:ln w="8280">
            <a:solidFill>
              <a:srgbClr val="a7c6d9">
                <a:alpha val="30000"/>
              </a:srgbClr>
            </a:solidFill>
            <a:miter/>
          </a:ln>
        </p:spPr>
        <p:txBody>
          <a:bodyPr lIns="3960" rIns="3960" tIns="3960" bIns="3960" anchor="t">
            <a:noAutofit/>
          </a:bodyPr>
          <a:p>
            <a:endParaRPr b="0" lang="en-US" sz="2400" strike="noStrike" u="none">
              <a:solidFill>
                <a:srgbClr val="000000"/>
              </a:solidFill>
              <a:effectLst/>
              <a:uFillTx/>
              <a:latin typeface="Times New Roman"/>
            </a:endParaRPr>
          </a:p>
        </p:txBody>
      </p:sp>
      <p:sp>
        <p:nvSpPr>
          <p:cNvPr id="256" name=""/>
          <p:cNvSpPr/>
          <p:nvPr/>
        </p:nvSpPr>
        <p:spPr>
          <a:xfrm>
            <a:off x="534600" y="4253400"/>
            <a:ext cx="3075840" cy="1521360"/>
          </a:xfrm>
          <a:custGeom>
            <a:avLst/>
            <a:gdLst/>
            <a:ahLst/>
            <a:rect l="0" t="0" r="r" b="b"/>
            <a:pathLst>
              <a:path w="8544" h="4226">
                <a:moveTo>
                  <a:pt x="0" y="4040"/>
                </a:moveTo>
                <a:lnTo>
                  <a:pt x="0" y="186"/>
                </a:lnTo>
                <a:cubicBezTo>
                  <a:pt x="0" y="173"/>
                  <a:pt x="1" y="161"/>
                  <a:pt x="4" y="149"/>
                </a:cubicBezTo>
                <a:cubicBezTo>
                  <a:pt x="6" y="137"/>
                  <a:pt x="10" y="126"/>
                  <a:pt x="14" y="115"/>
                </a:cubicBezTo>
                <a:cubicBezTo>
                  <a:pt x="19" y="103"/>
                  <a:pt x="25" y="93"/>
                  <a:pt x="31" y="82"/>
                </a:cubicBezTo>
                <a:cubicBezTo>
                  <a:pt x="38" y="72"/>
                  <a:pt x="46" y="63"/>
                  <a:pt x="55" y="54"/>
                </a:cubicBezTo>
                <a:cubicBezTo>
                  <a:pt x="63" y="46"/>
                  <a:pt x="73" y="38"/>
                  <a:pt x="83" y="31"/>
                </a:cubicBezTo>
                <a:cubicBezTo>
                  <a:pt x="93" y="24"/>
                  <a:pt x="104" y="19"/>
                  <a:pt x="115" y="14"/>
                </a:cubicBezTo>
                <a:cubicBezTo>
                  <a:pt x="126" y="9"/>
                  <a:pt x="138" y="6"/>
                  <a:pt x="150" y="4"/>
                </a:cubicBezTo>
                <a:cubicBezTo>
                  <a:pt x="162" y="1"/>
                  <a:pt x="174" y="0"/>
                  <a:pt x="186" y="0"/>
                </a:cubicBezTo>
                <a:lnTo>
                  <a:pt x="8358" y="0"/>
                </a:lnTo>
                <a:cubicBezTo>
                  <a:pt x="8370" y="0"/>
                  <a:pt x="8382" y="1"/>
                  <a:pt x="8394" y="4"/>
                </a:cubicBezTo>
                <a:cubicBezTo>
                  <a:pt x="8406" y="6"/>
                  <a:pt x="8418" y="9"/>
                  <a:pt x="8429" y="14"/>
                </a:cubicBezTo>
                <a:cubicBezTo>
                  <a:pt x="8440" y="19"/>
                  <a:pt x="8451" y="24"/>
                  <a:pt x="8461" y="31"/>
                </a:cubicBezTo>
                <a:cubicBezTo>
                  <a:pt x="8471" y="38"/>
                  <a:pt x="8481" y="46"/>
                  <a:pt x="8489" y="54"/>
                </a:cubicBezTo>
                <a:cubicBezTo>
                  <a:pt x="8498" y="63"/>
                  <a:pt x="8505" y="72"/>
                  <a:pt x="8512" y="82"/>
                </a:cubicBezTo>
                <a:cubicBezTo>
                  <a:pt x="8519" y="93"/>
                  <a:pt x="8525" y="103"/>
                  <a:pt x="8529" y="115"/>
                </a:cubicBezTo>
                <a:cubicBezTo>
                  <a:pt x="8534" y="126"/>
                  <a:pt x="8538" y="137"/>
                  <a:pt x="8540" y="149"/>
                </a:cubicBezTo>
                <a:cubicBezTo>
                  <a:pt x="8542" y="161"/>
                  <a:pt x="8544" y="173"/>
                  <a:pt x="8544" y="186"/>
                </a:cubicBezTo>
                <a:lnTo>
                  <a:pt x="8544" y="4040"/>
                </a:lnTo>
                <a:cubicBezTo>
                  <a:pt x="8544" y="4052"/>
                  <a:pt x="8542" y="4064"/>
                  <a:pt x="8540" y="4076"/>
                </a:cubicBezTo>
                <a:cubicBezTo>
                  <a:pt x="8538" y="4088"/>
                  <a:pt x="8534" y="4100"/>
                  <a:pt x="8529" y="4111"/>
                </a:cubicBezTo>
                <a:cubicBezTo>
                  <a:pt x="8525" y="4122"/>
                  <a:pt x="8519" y="4133"/>
                  <a:pt x="8512" y="4143"/>
                </a:cubicBezTo>
                <a:cubicBezTo>
                  <a:pt x="8505" y="4153"/>
                  <a:pt x="8498" y="4163"/>
                  <a:pt x="8489" y="4171"/>
                </a:cubicBezTo>
                <a:cubicBezTo>
                  <a:pt x="8481" y="4180"/>
                  <a:pt x="8471" y="4188"/>
                  <a:pt x="8461" y="4194"/>
                </a:cubicBezTo>
                <a:cubicBezTo>
                  <a:pt x="8451" y="4201"/>
                  <a:pt x="8440" y="4207"/>
                  <a:pt x="8429" y="4212"/>
                </a:cubicBezTo>
                <a:cubicBezTo>
                  <a:pt x="8418" y="4216"/>
                  <a:pt x="8406" y="4220"/>
                  <a:pt x="8394" y="4222"/>
                </a:cubicBezTo>
                <a:cubicBezTo>
                  <a:pt x="8382" y="4225"/>
                  <a:pt x="8370" y="4226"/>
                  <a:pt x="8358" y="4226"/>
                </a:cubicBezTo>
                <a:lnTo>
                  <a:pt x="186" y="4226"/>
                </a:lnTo>
                <a:cubicBezTo>
                  <a:pt x="174" y="4226"/>
                  <a:pt x="162" y="4225"/>
                  <a:pt x="150" y="4222"/>
                </a:cubicBezTo>
                <a:cubicBezTo>
                  <a:pt x="138" y="4220"/>
                  <a:pt x="126" y="4216"/>
                  <a:pt x="115" y="4212"/>
                </a:cubicBezTo>
                <a:cubicBezTo>
                  <a:pt x="104" y="4207"/>
                  <a:pt x="93" y="4201"/>
                  <a:pt x="83" y="4194"/>
                </a:cubicBezTo>
                <a:cubicBezTo>
                  <a:pt x="73" y="4188"/>
                  <a:pt x="63" y="4180"/>
                  <a:pt x="55" y="4171"/>
                </a:cubicBezTo>
                <a:cubicBezTo>
                  <a:pt x="46" y="4163"/>
                  <a:pt x="38" y="4153"/>
                  <a:pt x="31" y="4143"/>
                </a:cubicBezTo>
                <a:cubicBezTo>
                  <a:pt x="25" y="4133"/>
                  <a:pt x="19" y="4122"/>
                  <a:pt x="14" y="4111"/>
                </a:cubicBezTo>
                <a:cubicBezTo>
                  <a:pt x="10" y="4100"/>
                  <a:pt x="6" y="4088"/>
                  <a:pt x="4" y="4076"/>
                </a:cubicBezTo>
                <a:cubicBezTo>
                  <a:pt x="1" y="4064"/>
                  <a:pt x="0" y="4052"/>
                  <a:pt x="0" y="4040"/>
                </a:cubicBezTo>
                <a:close/>
              </a:path>
            </a:pathLst>
          </a:custGeom>
          <a:solidFill>
            <a:srgbClr val="ffffff">
              <a:alpha val="10000"/>
            </a:srgbClr>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257" name=""/>
          <p:cNvSpPr txBox="1"/>
          <p:nvPr/>
        </p:nvSpPr>
        <p:spPr>
          <a:xfrm>
            <a:off x="8463600" y="2908080"/>
            <a:ext cx="1409040" cy="169560"/>
          </a:xfrm>
          <a:prstGeom prst="rect">
            <a:avLst/>
          </a:prstGeom>
          <a:noFill/>
          <a:ln w="0">
            <a:noFill/>
          </a:ln>
        </p:spPr>
        <p:txBody>
          <a:bodyPr wrap="none" lIns="0" rIns="0" tIns="0" bIns="0" anchor="t">
            <a:spAutoFit/>
          </a:bodyPr>
          <a:p>
            <a:r>
              <a:rPr b="0" lang="zh-CN" sz="920" strike="noStrike" u="none">
                <a:solidFill>
                  <a:srgbClr val="a7c6d9"/>
                </a:solidFill>
                <a:effectLst/>
                <a:uFillTx/>
                <a:latin typeface="NotoSansJP"/>
                <a:ea typeface="NotoSansJP"/>
              </a:rPr>
              <a:t>任意距離での複素振幅分布</a:t>
            </a:r>
            <a:endParaRPr b="0" lang="en-US" sz="920" strike="noStrike" u="none">
              <a:solidFill>
                <a:srgbClr val="000000"/>
              </a:solidFill>
              <a:effectLst/>
              <a:uFillTx/>
              <a:latin typeface="Times New Roman"/>
            </a:endParaRPr>
          </a:p>
        </p:txBody>
      </p:sp>
      <p:sp>
        <p:nvSpPr>
          <p:cNvPr id="258" name=""/>
          <p:cNvSpPr/>
          <p:nvPr/>
        </p:nvSpPr>
        <p:spPr>
          <a:xfrm>
            <a:off x="3810600" y="4253400"/>
            <a:ext cx="3075480" cy="1521360"/>
          </a:xfrm>
          <a:custGeom>
            <a:avLst/>
            <a:gdLst/>
            <a:ahLst/>
            <a:rect l="0" t="0" r="r" b="b"/>
            <a:pathLst>
              <a:path w="8543" h="4226">
                <a:moveTo>
                  <a:pt x="0" y="4040"/>
                </a:moveTo>
                <a:lnTo>
                  <a:pt x="0" y="186"/>
                </a:lnTo>
                <a:cubicBezTo>
                  <a:pt x="0" y="173"/>
                  <a:pt x="1" y="161"/>
                  <a:pt x="3" y="149"/>
                </a:cubicBezTo>
                <a:cubicBezTo>
                  <a:pt x="6" y="137"/>
                  <a:pt x="9" y="126"/>
                  <a:pt x="14" y="115"/>
                </a:cubicBezTo>
                <a:cubicBezTo>
                  <a:pt x="18" y="103"/>
                  <a:pt x="24" y="93"/>
                  <a:pt x="31" y="82"/>
                </a:cubicBezTo>
                <a:cubicBezTo>
                  <a:pt x="38" y="72"/>
                  <a:pt x="45" y="63"/>
                  <a:pt x="54" y="54"/>
                </a:cubicBezTo>
                <a:cubicBezTo>
                  <a:pt x="63" y="46"/>
                  <a:pt x="72" y="38"/>
                  <a:pt x="82" y="31"/>
                </a:cubicBezTo>
                <a:cubicBezTo>
                  <a:pt x="92" y="24"/>
                  <a:pt x="103" y="19"/>
                  <a:pt x="114" y="14"/>
                </a:cubicBezTo>
                <a:cubicBezTo>
                  <a:pt x="126" y="9"/>
                  <a:pt x="137" y="6"/>
                  <a:pt x="149" y="4"/>
                </a:cubicBezTo>
                <a:cubicBezTo>
                  <a:pt x="161" y="1"/>
                  <a:pt x="173" y="0"/>
                  <a:pt x="185" y="0"/>
                </a:cubicBezTo>
                <a:lnTo>
                  <a:pt x="8357" y="0"/>
                </a:lnTo>
                <a:cubicBezTo>
                  <a:pt x="8370" y="0"/>
                  <a:pt x="8382" y="1"/>
                  <a:pt x="8394" y="4"/>
                </a:cubicBezTo>
                <a:cubicBezTo>
                  <a:pt x="8406" y="6"/>
                  <a:pt x="8417" y="9"/>
                  <a:pt x="8428" y="14"/>
                </a:cubicBezTo>
                <a:cubicBezTo>
                  <a:pt x="8440" y="19"/>
                  <a:pt x="8450" y="24"/>
                  <a:pt x="8461" y="31"/>
                </a:cubicBezTo>
                <a:cubicBezTo>
                  <a:pt x="8471" y="38"/>
                  <a:pt x="8480" y="46"/>
                  <a:pt x="8489" y="54"/>
                </a:cubicBezTo>
                <a:cubicBezTo>
                  <a:pt x="8497" y="63"/>
                  <a:pt x="8505" y="72"/>
                  <a:pt x="8512" y="82"/>
                </a:cubicBezTo>
                <a:cubicBezTo>
                  <a:pt x="8519" y="93"/>
                  <a:pt x="8524" y="103"/>
                  <a:pt x="8529" y="115"/>
                </a:cubicBezTo>
                <a:cubicBezTo>
                  <a:pt x="8534" y="126"/>
                  <a:pt x="8537" y="137"/>
                  <a:pt x="8539" y="149"/>
                </a:cubicBezTo>
                <a:cubicBezTo>
                  <a:pt x="8542" y="161"/>
                  <a:pt x="8543" y="173"/>
                  <a:pt x="8543" y="186"/>
                </a:cubicBezTo>
                <a:lnTo>
                  <a:pt x="8543" y="4040"/>
                </a:lnTo>
                <a:cubicBezTo>
                  <a:pt x="8543" y="4052"/>
                  <a:pt x="8542" y="4064"/>
                  <a:pt x="8539" y="4076"/>
                </a:cubicBezTo>
                <a:cubicBezTo>
                  <a:pt x="8537" y="4088"/>
                  <a:pt x="8534" y="4100"/>
                  <a:pt x="8529" y="4111"/>
                </a:cubicBezTo>
                <a:cubicBezTo>
                  <a:pt x="8524" y="4122"/>
                  <a:pt x="8519" y="4133"/>
                  <a:pt x="8512" y="4143"/>
                </a:cubicBezTo>
                <a:cubicBezTo>
                  <a:pt x="8505" y="4153"/>
                  <a:pt x="8497" y="4163"/>
                  <a:pt x="8489" y="4171"/>
                </a:cubicBezTo>
                <a:cubicBezTo>
                  <a:pt x="8480" y="4180"/>
                  <a:pt x="8471" y="4188"/>
                  <a:pt x="8461" y="4194"/>
                </a:cubicBezTo>
                <a:cubicBezTo>
                  <a:pt x="8450" y="4201"/>
                  <a:pt x="8440" y="4207"/>
                  <a:pt x="8428" y="4212"/>
                </a:cubicBezTo>
                <a:cubicBezTo>
                  <a:pt x="8417" y="4216"/>
                  <a:pt x="8406" y="4220"/>
                  <a:pt x="8394" y="4222"/>
                </a:cubicBezTo>
                <a:cubicBezTo>
                  <a:pt x="8382" y="4225"/>
                  <a:pt x="8370" y="4226"/>
                  <a:pt x="8357" y="4226"/>
                </a:cubicBezTo>
                <a:lnTo>
                  <a:pt x="185" y="4226"/>
                </a:lnTo>
                <a:cubicBezTo>
                  <a:pt x="173" y="4226"/>
                  <a:pt x="161" y="4225"/>
                  <a:pt x="149" y="4222"/>
                </a:cubicBezTo>
                <a:cubicBezTo>
                  <a:pt x="137" y="4220"/>
                  <a:pt x="126" y="4216"/>
                  <a:pt x="114" y="4212"/>
                </a:cubicBezTo>
                <a:cubicBezTo>
                  <a:pt x="103" y="4207"/>
                  <a:pt x="92" y="4201"/>
                  <a:pt x="82" y="4194"/>
                </a:cubicBezTo>
                <a:cubicBezTo>
                  <a:pt x="72" y="4188"/>
                  <a:pt x="63" y="4180"/>
                  <a:pt x="54" y="4171"/>
                </a:cubicBezTo>
                <a:cubicBezTo>
                  <a:pt x="45" y="4163"/>
                  <a:pt x="38" y="4153"/>
                  <a:pt x="31" y="4143"/>
                </a:cubicBezTo>
                <a:cubicBezTo>
                  <a:pt x="24" y="4133"/>
                  <a:pt x="18" y="4122"/>
                  <a:pt x="14" y="4111"/>
                </a:cubicBezTo>
                <a:cubicBezTo>
                  <a:pt x="9" y="4100"/>
                  <a:pt x="6" y="4088"/>
                  <a:pt x="3" y="4076"/>
                </a:cubicBezTo>
                <a:cubicBezTo>
                  <a:pt x="1" y="4064"/>
                  <a:pt x="0" y="4052"/>
                  <a:pt x="0" y="4040"/>
                </a:cubicBezTo>
                <a:close/>
              </a:path>
            </a:pathLst>
          </a:custGeom>
          <a:solidFill>
            <a:srgbClr val="ffffff">
              <a:alpha val="10000"/>
            </a:srgbClr>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259" name=""/>
          <p:cNvSpPr txBox="1"/>
          <p:nvPr/>
        </p:nvSpPr>
        <p:spPr>
          <a:xfrm>
            <a:off x="668520" y="4398120"/>
            <a:ext cx="906120" cy="219960"/>
          </a:xfrm>
          <a:prstGeom prst="rect">
            <a:avLst/>
          </a:prstGeom>
          <a:noFill/>
          <a:ln w="0">
            <a:noFill/>
          </a:ln>
        </p:spPr>
        <p:txBody>
          <a:bodyPr wrap="none" lIns="0" rIns="0" tIns="0" bIns="0" anchor="t">
            <a:spAutoFit/>
          </a:bodyPr>
          <a:p>
            <a:r>
              <a:rPr b="0" lang="zh-CN" sz="1180" strike="noStrike" u="none">
                <a:solidFill>
                  <a:srgbClr val="ff8c00"/>
                </a:solidFill>
                <a:effectLst/>
                <a:uFillTx/>
                <a:latin typeface="NotoSansJP"/>
                <a:ea typeface="NotoSansJP"/>
              </a:rPr>
              <a:t>フーリエ変換</a:t>
            </a:r>
            <a:endParaRPr b="0" lang="en-US" sz="1180" strike="noStrike" u="none">
              <a:solidFill>
                <a:srgbClr val="000000"/>
              </a:solidFill>
              <a:effectLst/>
              <a:uFillTx/>
              <a:latin typeface="Times New Roman"/>
            </a:endParaRPr>
          </a:p>
        </p:txBody>
      </p:sp>
      <p:sp>
        <p:nvSpPr>
          <p:cNvPr id="260" name=""/>
          <p:cNvSpPr/>
          <p:nvPr/>
        </p:nvSpPr>
        <p:spPr>
          <a:xfrm>
            <a:off x="7086240" y="4253400"/>
            <a:ext cx="3075840" cy="1521360"/>
          </a:xfrm>
          <a:custGeom>
            <a:avLst/>
            <a:gdLst/>
            <a:ahLst/>
            <a:rect l="0" t="0" r="r" b="b"/>
            <a:pathLst>
              <a:path w="8544" h="4226">
                <a:moveTo>
                  <a:pt x="0" y="4040"/>
                </a:moveTo>
                <a:lnTo>
                  <a:pt x="0" y="186"/>
                </a:lnTo>
                <a:cubicBezTo>
                  <a:pt x="0" y="173"/>
                  <a:pt x="1" y="161"/>
                  <a:pt x="4" y="149"/>
                </a:cubicBezTo>
                <a:cubicBezTo>
                  <a:pt x="6" y="137"/>
                  <a:pt x="10" y="126"/>
                  <a:pt x="14" y="115"/>
                </a:cubicBezTo>
                <a:cubicBezTo>
                  <a:pt x="19" y="103"/>
                  <a:pt x="25" y="93"/>
                  <a:pt x="31" y="82"/>
                </a:cubicBezTo>
                <a:cubicBezTo>
                  <a:pt x="38" y="72"/>
                  <a:pt x="46" y="63"/>
                  <a:pt x="55" y="54"/>
                </a:cubicBezTo>
                <a:cubicBezTo>
                  <a:pt x="63" y="46"/>
                  <a:pt x="73" y="38"/>
                  <a:pt x="83" y="31"/>
                </a:cubicBezTo>
                <a:cubicBezTo>
                  <a:pt x="93" y="24"/>
                  <a:pt x="104" y="19"/>
                  <a:pt x="115" y="14"/>
                </a:cubicBezTo>
                <a:cubicBezTo>
                  <a:pt x="126" y="9"/>
                  <a:pt x="138" y="6"/>
                  <a:pt x="150" y="4"/>
                </a:cubicBezTo>
                <a:cubicBezTo>
                  <a:pt x="162" y="1"/>
                  <a:pt x="174" y="0"/>
                  <a:pt x="186" y="0"/>
                </a:cubicBezTo>
                <a:lnTo>
                  <a:pt x="8358" y="0"/>
                </a:lnTo>
                <a:cubicBezTo>
                  <a:pt x="8370" y="0"/>
                  <a:pt x="8382" y="1"/>
                  <a:pt x="8394" y="4"/>
                </a:cubicBezTo>
                <a:cubicBezTo>
                  <a:pt x="8406" y="6"/>
                  <a:pt x="8418" y="9"/>
                  <a:pt x="8429" y="14"/>
                </a:cubicBezTo>
                <a:cubicBezTo>
                  <a:pt x="8440" y="19"/>
                  <a:pt x="8451" y="24"/>
                  <a:pt x="8461" y="31"/>
                </a:cubicBezTo>
                <a:cubicBezTo>
                  <a:pt x="8471" y="38"/>
                  <a:pt x="8481" y="46"/>
                  <a:pt x="8489" y="54"/>
                </a:cubicBezTo>
                <a:cubicBezTo>
                  <a:pt x="8498" y="63"/>
                  <a:pt x="8505" y="72"/>
                  <a:pt x="8512" y="82"/>
                </a:cubicBezTo>
                <a:cubicBezTo>
                  <a:pt x="8519" y="93"/>
                  <a:pt x="8525" y="103"/>
                  <a:pt x="8529" y="115"/>
                </a:cubicBezTo>
                <a:cubicBezTo>
                  <a:pt x="8534" y="126"/>
                  <a:pt x="8538" y="137"/>
                  <a:pt x="8540" y="149"/>
                </a:cubicBezTo>
                <a:cubicBezTo>
                  <a:pt x="8542" y="161"/>
                  <a:pt x="8544" y="173"/>
                  <a:pt x="8544" y="186"/>
                </a:cubicBezTo>
                <a:lnTo>
                  <a:pt x="8544" y="4040"/>
                </a:lnTo>
                <a:cubicBezTo>
                  <a:pt x="8544" y="4052"/>
                  <a:pt x="8542" y="4064"/>
                  <a:pt x="8540" y="4076"/>
                </a:cubicBezTo>
                <a:cubicBezTo>
                  <a:pt x="8538" y="4088"/>
                  <a:pt x="8534" y="4100"/>
                  <a:pt x="8529" y="4111"/>
                </a:cubicBezTo>
                <a:cubicBezTo>
                  <a:pt x="8525" y="4122"/>
                  <a:pt x="8519" y="4133"/>
                  <a:pt x="8512" y="4143"/>
                </a:cubicBezTo>
                <a:cubicBezTo>
                  <a:pt x="8505" y="4153"/>
                  <a:pt x="8498" y="4163"/>
                  <a:pt x="8489" y="4171"/>
                </a:cubicBezTo>
                <a:cubicBezTo>
                  <a:pt x="8481" y="4180"/>
                  <a:pt x="8471" y="4188"/>
                  <a:pt x="8461" y="4194"/>
                </a:cubicBezTo>
                <a:cubicBezTo>
                  <a:pt x="8451" y="4201"/>
                  <a:pt x="8440" y="4207"/>
                  <a:pt x="8429" y="4212"/>
                </a:cubicBezTo>
                <a:cubicBezTo>
                  <a:pt x="8418" y="4216"/>
                  <a:pt x="8406" y="4220"/>
                  <a:pt x="8394" y="4222"/>
                </a:cubicBezTo>
                <a:cubicBezTo>
                  <a:pt x="8382" y="4225"/>
                  <a:pt x="8370" y="4226"/>
                  <a:pt x="8358" y="4226"/>
                </a:cubicBezTo>
                <a:lnTo>
                  <a:pt x="186" y="4226"/>
                </a:lnTo>
                <a:cubicBezTo>
                  <a:pt x="174" y="4226"/>
                  <a:pt x="162" y="4225"/>
                  <a:pt x="150" y="4222"/>
                </a:cubicBezTo>
                <a:cubicBezTo>
                  <a:pt x="138" y="4220"/>
                  <a:pt x="126" y="4216"/>
                  <a:pt x="115" y="4212"/>
                </a:cubicBezTo>
                <a:cubicBezTo>
                  <a:pt x="104" y="4207"/>
                  <a:pt x="93" y="4201"/>
                  <a:pt x="83" y="4194"/>
                </a:cubicBezTo>
                <a:cubicBezTo>
                  <a:pt x="73" y="4188"/>
                  <a:pt x="63" y="4180"/>
                  <a:pt x="55" y="4171"/>
                </a:cubicBezTo>
                <a:cubicBezTo>
                  <a:pt x="46" y="4163"/>
                  <a:pt x="38" y="4153"/>
                  <a:pt x="31" y="4143"/>
                </a:cubicBezTo>
                <a:cubicBezTo>
                  <a:pt x="25" y="4133"/>
                  <a:pt x="19" y="4122"/>
                  <a:pt x="14" y="4111"/>
                </a:cubicBezTo>
                <a:cubicBezTo>
                  <a:pt x="10" y="4100"/>
                  <a:pt x="6" y="4088"/>
                  <a:pt x="4" y="4076"/>
                </a:cubicBezTo>
                <a:cubicBezTo>
                  <a:pt x="1" y="4064"/>
                  <a:pt x="0" y="4052"/>
                  <a:pt x="0" y="4040"/>
                </a:cubicBezTo>
                <a:close/>
              </a:path>
            </a:pathLst>
          </a:custGeom>
          <a:solidFill>
            <a:srgbClr val="ffffff">
              <a:alpha val="10000"/>
            </a:srgbClr>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261" name=""/>
          <p:cNvSpPr txBox="1"/>
          <p:nvPr/>
        </p:nvSpPr>
        <p:spPr>
          <a:xfrm>
            <a:off x="3944520" y="4398120"/>
            <a:ext cx="604080" cy="219960"/>
          </a:xfrm>
          <a:prstGeom prst="rect">
            <a:avLst/>
          </a:prstGeom>
          <a:noFill/>
          <a:ln w="0">
            <a:noFill/>
          </a:ln>
        </p:spPr>
        <p:txBody>
          <a:bodyPr wrap="none" lIns="0" rIns="0" tIns="0" bIns="0" anchor="t">
            <a:spAutoFit/>
          </a:bodyPr>
          <a:p>
            <a:r>
              <a:rPr b="0" lang="zh-CN" sz="1180" strike="noStrike" u="none">
                <a:solidFill>
                  <a:srgbClr val="ff8c00"/>
                </a:solidFill>
                <a:effectLst/>
                <a:uFillTx/>
                <a:latin typeface="NotoSansJP"/>
                <a:ea typeface="NotoSansJP"/>
              </a:rPr>
              <a:t>伝達関数</a:t>
            </a:r>
            <a:endParaRPr b="0" lang="en-US" sz="1180" strike="noStrike" u="none">
              <a:solidFill>
                <a:srgbClr val="000000"/>
              </a:solidFill>
              <a:effectLst/>
              <a:uFillTx/>
              <a:latin typeface="Times New Roman"/>
            </a:endParaRPr>
          </a:p>
        </p:txBody>
      </p:sp>
      <p:sp>
        <p:nvSpPr>
          <p:cNvPr id="262" name=""/>
          <p:cNvSpPr txBox="1"/>
          <p:nvPr/>
        </p:nvSpPr>
        <p:spPr>
          <a:xfrm>
            <a:off x="7220160" y="4398120"/>
            <a:ext cx="1056960" cy="219960"/>
          </a:xfrm>
          <a:prstGeom prst="rect">
            <a:avLst/>
          </a:prstGeom>
          <a:noFill/>
          <a:ln w="0">
            <a:noFill/>
          </a:ln>
        </p:spPr>
        <p:txBody>
          <a:bodyPr wrap="none" lIns="0" rIns="0" tIns="0" bIns="0" anchor="t">
            <a:spAutoFit/>
          </a:bodyPr>
          <a:p>
            <a:r>
              <a:rPr b="0" lang="zh-CN" sz="1180" strike="noStrike" u="none">
                <a:solidFill>
                  <a:srgbClr val="ff8c00"/>
                </a:solidFill>
                <a:effectLst/>
                <a:uFillTx/>
                <a:latin typeface="NotoSansJP"/>
                <a:ea typeface="NotoSansJP"/>
              </a:rPr>
              <a:t>逆フーリエ変換</a:t>
            </a:r>
            <a:endParaRPr b="0" lang="en-US" sz="1180" strike="noStrike" u="none">
              <a:solidFill>
                <a:srgbClr val="000000"/>
              </a:solidFill>
              <a:effectLst/>
              <a:uFillTx/>
              <a:latin typeface="Times New Roman"/>
            </a:endParaRPr>
          </a:p>
        </p:txBody>
      </p:sp>
      <p:pic>
        <p:nvPicPr>
          <p:cNvPr id="263" name="" descr=""/>
          <p:cNvPicPr/>
          <p:nvPr/>
        </p:nvPicPr>
        <p:blipFill>
          <a:blip r:embed="rId12"/>
          <a:stretch/>
        </p:blipFill>
        <p:spPr>
          <a:xfrm>
            <a:off x="1362240" y="3200760"/>
            <a:ext cx="342360" cy="334080"/>
          </a:xfrm>
          <a:prstGeom prst="rect">
            <a:avLst/>
          </a:prstGeom>
          <a:noFill/>
          <a:ln w="0">
            <a:noFill/>
          </a:ln>
        </p:spPr>
      </p:pic>
      <p:sp>
        <p:nvSpPr>
          <p:cNvPr id="264" name=""/>
          <p:cNvSpPr txBox="1"/>
          <p:nvPr/>
        </p:nvSpPr>
        <p:spPr>
          <a:xfrm>
            <a:off x="1511280" y="2580480"/>
            <a:ext cx="739080" cy="189360"/>
          </a:xfrm>
          <a:prstGeom prst="rect">
            <a:avLst/>
          </a:prstGeom>
          <a:noFill/>
          <a:ln w="0">
            <a:noFill/>
          </a:ln>
        </p:spPr>
        <p:txBody>
          <a:bodyPr wrap="none" lIns="0" rIns="0" tIns="0" bIns="0" anchor="t">
            <a:spAutoFit/>
          </a:bodyPr>
          <a:p>
            <a:r>
              <a:rPr b="0" i="1" lang="en-US" sz="1290" strike="noStrike" u="none">
                <a:solidFill>
                  <a:srgbClr val="ffffff"/>
                </a:solidFill>
                <a:effectLst/>
                <a:uFillTx/>
                <a:latin typeface="MathJax_Math"/>
                <a:ea typeface="MathJax_Math"/>
              </a:rPr>
              <a:t>g</a:t>
            </a:r>
            <a:r>
              <a:rPr b="0" lang="en-US" sz="1290" strike="noStrike" u="none">
                <a:solidFill>
                  <a:srgbClr val="ffffff"/>
                </a:solidFill>
                <a:effectLst/>
                <a:uFillTx/>
                <a:latin typeface="MathJax_Main"/>
                <a:ea typeface="MathJax_Main"/>
              </a:rPr>
              <a:t>(</a:t>
            </a:r>
            <a:r>
              <a:rPr b="0" i="1" lang="en-US" sz="1290" strike="noStrike" u="none">
                <a:solidFill>
                  <a:srgbClr val="ffffff"/>
                </a:solidFill>
                <a:effectLst/>
                <a:uFillTx/>
                <a:latin typeface="MathJax_Math"/>
                <a:ea typeface="MathJax_Math"/>
              </a:rPr>
              <a:t>x</a:t>
            </a:r>
            <a:r>
              <a:rPr b="0" lang="en-US" sz="1290" strike="noStrike" u="none">
                <a:solidFill>
                  <a:srgbClr val="ffffff"/>
                </a:solidFill>
                <a:effectLst/>
                <a:uFillTx/>
                <a:latin typeface="MathJax_Main"/>
                <a:ea typeface="MathJax_Main"/>
              </a:rPr>
              <a:t>,</a:t>
            </a:r>
            <a:r>
              <a:rPr b="0" i="1" lang="en-US" sz="1290" strike="noStrike" u="none">
                <a:solidFill>
                  <a:srgbClr val="ffffff"/>
                </a:solidFill>
                <a:effectLst/>
                <a:uFillTx/>
                <a:latin typeface="MathJax_Math"/>
                <a:ea typeface="MathJax_Math"/>
              </a:rPr>
              <a:t> y</a:t>
            </a:r>
            <a:r>
              <a:rPr b="0" lang="en-US" sz="1290" strike="noStrike" u="none">
                <a:solidFill>
                  <a:srgbClr val="ffffff"/>
                </a:solidFill>
                <a:effectLst/>
                <a:uFillTx/>
                <a:latin typeface="MathJax_Main"/>
                <a:ea typeface="MathJax_Main"/>
              </a:rPr>
              <a:t>; 0)</a:t>
            </a:r>
            <a:endParaRPr b="0" lang="en-US" sz="1290" strike="noStrike" u="none">
              <a:solidFill>
                <a:srgbClr val="000000"/>
              </a:solidFill>
              <a:effectLst/>
              <a:uFillTx/>
              <a:latin typeface="Times New Roman"/>
            </a:endParaRPr>
          </a:p>
        </p:txBody>
      </p:sp>
      <p:sp>
        <p:nvSpPr>
          <p:cNvPr id="265" name=""/>
          <p:cNvSpPr txBox="1"/>
          <p:nvPr/>
        </p:nvSpPr>
        <p:spPr>
          <a:xfrm>
            <a:off x="4105440" y="2580480"/>
            <a:ext cx="768600" cy="189360"/>
          </a:xfrm>
          <a:prstGeom prst="rect">
            <a:avLst/>
          </a:prstGeom>
          <a:noFill/>
          <a:ln w="0">
            <a:noFill/>
          </a:ln>
        </p:spPr>
        <p:txBody>
          <a:bodyPr wrap="none" lIns="0" rIns="0" tIns="0" bIns="0" anchor="t">
            <a:spAutoFit/>
          </a:bodyPr>
          <a:p>
            <a:r>
              <a:rPr b="0" i="1" lang="en-US" sz="1290" strike="noStrike" u="none">
                <a:solidFill>
                  <a:srgbClr val="ffffff"/>
                </a:solidFill>
                <a:effectLst/>
                <a:uFillTx/>
                <a:latin typeface="MathJax_Math"/>
                <a:ea typeface="MathJax_Math"/>
              </a:rPr>
              <a:t>G</a:t>
            </a:r>
            <a:r>
              <a:rPr b="0" lang="en-US" sz="1290" strike="noStrike" u="none">
                <a:solidFill>
                  <a:srgbClr val="ffffff"/>
                </a:solidFill>
                <a:effectLst/>
                <a:uFillTx/>
                <a:latin typeface="MathJax_Main"/>
                <a:ea typeface="MathJax_Main"/>
              </a:rPr>
              <a:t>(</a:t>
            </a:r>
            <a:r>
              <a:rPr b="0" i="1" lang="en-US" sz="1290" strike="noStrike" u="none">
                <a:solidFill>
                  <a:srgbClr val="ffffff"/>
                </a:solidFill>
                <a:effectLst/>
                <a:uFillTx/>
                <a:latin typeface="MathJax_Math"/>
                <a:ea typeface="MathJax_Math"/>
              </a:rPr>
              <a:t>u</a:t>
            </a:r>
            <a:r>
              <a:rPr b="0" lang="en-US" sz="1290" strike="noStrike" u="none">
                <a:solidFill>
                  <a:srgbClr val="ffffff"/>
                </a:solidFill>
                <a:effectLst/>
                <a:uFillTx/>
                <a:latin typeface="MathJax_Main"/>
                <a:ea typeface="MathJax_Main"/>
              </a:rPr>
              <a:t>,</a:t>
            </a:r>
            <a:r>
              <a:rPr b="0" i="1" lang="en-US" sz="1290" strike="noStrike" u="none">
                <a:solidFill>
                  <a:srgbClr val="ffffff"/>
                </a:solidFill>
                <a:effectLst/>
                <a:uFillTx/>
                <a:latin typeface="MathJax_Math"/>
                <a:ea typeface="MathJax_Math"/>
              </a:rPr>
              <a:t> v</a:t>
            </a:r>
            <a:r>
              <a:rPr b="0" lang="en-US" sz="1290" strike="noStrike" u="none">
                <a:solidFill>
                  <a:srgbClr val="ffffff"/>
                </a:solidFill>
                <a:effectLst/>
                <a:uFillTx/>
                <a:latin typeface="MathJax_Main"/>
                <a:ea typeface="MathJax_Main"/>
              </a:rPr>
              <a:t>; 0)</a:t>
            </a:r>
            <a:endParaRPr b="0" lang="en-US" sz="1290" strike="noStrike" u="none">
              <a:solidFill>
                <a:srgbClr val="000000"/>
              </a:solidFill>
              <a:effectLst/>
              <a:uFillTx/>
              <a:latin typeface="Times New Roman"/>
            </a:endParaRPr>
          </a:p>
        </p:txBody>
      </p:sp>
      <p:pic>
        <p:nvPicPr>
          <p:cNvPr id="266" name="" descr=""/>
          <p:cNvPicPr/>
          <p:nvPr/>
        </p:nvPicPr>
        <p:blipFill>
          <a:blip r:embed="rId13"/>
          <a:stretch/>
        </p:blipFill>
        <p:spPr>
          <a:xfrm>
            <a:off x="6660360" y="3434760"/>
            <a:ext cx="200160" cy="267120"/>
          </a:xfrm>
          <a:prstGeom prst="rect">
            <a:avLst/>
          </a:prstGeom>
          <a:noFill/>
          <a:ln w="0">
            <a:noFill/>
          </a:ln>
        </p:spPr>
      </p:pic>
      <p:sp>
        <p:nvSpPr>
          <p:cNvPr id="267" name=""/>
          <p:cNvSpPr txBox="1"/>
          <p:nvPr/>
        </p:nvSpPr>
        <p:spPr>
          <a:xfrm>
            <a:off x="6267240" y="2781000"/>
            <a:ext cx="750600" cy="189360"/>
          </a:xfrm>
          <a:prstGeom prst="rect">
            <a:avLst/>
          </a:prstGeom>
          <a:noFill/>
          <a:ln w="0">
            <a:noFill/>
          </a:ln>
        </p:spPr>
        <p:txBody>
          <a:bodyPr wrap="none" lIns="0" rIns="0" tIns="0" bIns="0" anchor="t">
            <a:spAutoFit/>
          </a:bodyPr>
          <a:p>
            <a:r>
              <a:rPr b="0" i="1" lang="en-US" sz="1290" strike="noStrike" u="none">
                <a:solidFill>
                  <a:srgbClr val="ffffff"/>
                </a:solidFill>
                <a:effectLst/>
                <a:uFillTx/>
                <a:latin typeface="MathJax_Math"/>
                <a:ea typeface="MathJax_Math"/>
              </a:rPr>
              <a:t>G</a:t>
            </a:r>
            <a:r>
              <a:rPr b="0" lang="en-US" sz="1290" strike="noStrike" u="none">
                <a:solidFill>
                  <a:srgbClr val="ffffff"/>
                </a:solidFill>
                <a:effectLst/>
                <a:uFillTx/>
                <a:latin typeface="MathJax_Main"/>
                <a:ea typeface="MathJax_Main"/>
              </a:rPr>
              <a:t>(</a:t>
            </a:r>
            <a:r>
              <a:rPr b="0" i="1" lang="en-US" sz="1290" strike="noStrike" u="none">
                <a:solidFill>
                  <a:srgbClr val="ffffff"/>
                </a:solidFill>
                <a:effectLst/>
                <a:uFillTx/>
                <a:latin typeface="MathJax_Math"/>
                <a:ea typeface="MathJax_Math"/>
              </a:rPr>
              <a:t>u</a:t>
            </a:r>
            <a:r>
              <a:rPr b="0" lang="en-US" sz="1290" strike="noStrike" u="none">
                <a:solidFill>
                  <a:srgbClr val="ffffff"/>
                </a:solidFill>
                <a:effectLst/>
                <a:uFillTx/>
                <a:latin typeface="MathJax_Main"/>
                <a:ea typeface="MathJax_Main"/>
              </a:rPr>
              <a:t>,</a:t>
            </a:r>
            <a:r>
              <a:rPr b="0" i="1" lang="en-US" sz="1290" strike="noStrike" u="none">
                <a:solidFill>
                  <a:srgbClr val="ffffff"/>
                </a:solidFill>
                <a:effectLst/>
                <a:uFillTx/>
                <a:latin typeface="MathJax_Math"/>
                <a:ea typeface="MathJax_Math"/>
              </a:rPr>
              <a:t> v</a:t>
            </a:r>
            <a:r>
              <a:rPr b="0" lang="en-US" sz="1290" strike="noStrike" u="none">
                <a:solidFill>
                  <a:srgbClr val="ffffff"/>
                </a:solidFill>
                <a:effectLst/>
                <a:uFillTx/>
                <a:latin typeface="MathJax_Main"/>
                <a:ea typeface="MathJax_Main"/>
              </a:rPr>
              <a:t>;</a:t>
            </a:r>
            <a:r>
              <a:rPr b="0" i="1" lang="en-US" sz="1290" strike="noStrike" u="none">
                <a:solidFill>
                  <a:srgbClr val="ffffff"/>
                </a:solidFill>
                <a:effectLst/>
                <a:uFillTx/>
                <a:latin typeface="MathJax_Math"/>
                <a:ea typeface="MathJax_Math"/>
              </a:rPr>
              <a:t> z</a:t>
            </a:r>
            <a:r>
              <a:rPr b="0" lang="en-US" sz="1290" strike="noStrike" u="none">
                <a:solidFill>
                  <a:srgbClr val="ffffff"/>
                </a:solidFill>
                <a:effectLst/>
                <a:uFillTx/>
                <a:latin typeface="MathJax_Main"/>
                <a:ea typeface="MathJax_Main"/>
              </a:rPr>
              <a:t>)</a:t>
            </a:r>
            <a:endParaRPr b="0" lang="en-US" sz="1290" strike="noStrike" u="none">
              <a:solidFill>
                <a:srgbClr val="000000"/>
              </a:solidFill>
              <a:effectLst/>
              <a:uFillTx/>
              <a:latin typeface="Times New Roman"/>
            </a:endParaRPr>
          </a:p>
        </p:txBody>
      </p:sp>
      <p:pic>
        <p:nvPicPr>
          <p:cNvPr id="268" name="" descr=""/>
          <p:cNvPicPr/>
          <p:nvPr/>
        </p:nvPicPr>
        <p:blipFill>
          <a:blip r:embed="rId14"/>
          <a:stretch/>
        </p:blipFill>
        <p:spPr>
          <a:xfrm>
            <a:off x="8991720" y="3200760"/>
            <a:ext cx="342360" cy="334080"/>
          </a:xfrm>
          <a:prstGeom prst="rect">
            <a:avLst/>
          </a:prstGeom>
          <a:noFill/>
          <a:ln w="0">
            <a:noFill/>
          </a:ln>
        </p:spPr>
      </p:pic>
      <p:sp>
        <p:nvSpPr>
          <p:cNvPr id="269" name=""/>
          <p:cNvSpPr txBox="1"/>
          <p:nvPr/>
        </p:nvSpPr>
        <p:spPr>
          <a:xfrm>
            <a:off x="9282600" y="2580480"/>
            <a:ext cx="721080" cy="189360"/>
          </a:xfrm>
          <a:prstGeom prst="rect">
            <a:avLst/>
          </a:prstGeom>
          <a:noFill/>
          <a:ln w="0">
            <a:noFill/>
          </a:ln>
        </p:spPr>
        <p:txBody>
          <a:bodyPr wrap="none" lIns="0" rIns="0" tIns="0" bIns="0" anchor="t">
            <a:spAutoFit/>
          </a:bodyPr>
          <a:p>
            <a:r>
              <a:rPr b="0" i="1" lang="en-US" sz="1290" strike="noStrike" u="none">
                <a:solidFill>
                  <a:srgbClr val="ffffff"/>
                </a:solidFill>
                <a:effectLst/>
                <a:uFillTx/>
                <a:latin typeface="MathJax_Math"/>
                <a:ea typeface="MathJax_Math"/>
              </a:rPr>
              <a:t>g</a:t>
            </a:r>
            <a:r>
              <a:rPr b="0" lang="en-US" sz="1290" strike="noStrike" u="none">
                <a:solidFill>
                  <a:srgbClr val="ffffff"/>
                </a:solidFill>
                <a:effectLst/>
                <a:uFillTx/>
                <a:latin typeface="MathJax_Main"/>
                <a:ea typeface="MathJax_Main"/>
              </a:rPr>
              <a:t>(</a:t>
            </a:r>
            <a:r>
              <a:rPr b="0" i="1" lang="en-US" sz="1290" strike="noStrike" u="none">
                <a:solidFill>
                  <a:srgbClr val="ffffff"/>
                </a:solidFill>
                <a:effectLst/>
                <a:uFillTx/>
                <a:latin typeface="MathJax_Math"/>
                <a:ea typeface="MathJax_Math"/>
              </a:rPr>
              <a:t>x</a:t>
            </a:r>
            <a:r>
              <a:rPr b="0" lang="en-US" sz="1290" strike="noStrike" u="none">
                <a:solidFill>
                  <a:srgbClr val="ffffff"/>
                </a:solidFill>
                <a:effectLst/>
                <a:uFillTx/>
                <a:latin typeface="MathJax_Main"/>
                <a:ea typeface="MathJax_Main"/>
              </a:rPr>
              <a:t>,</a:t>
            </a:r>
            <a:r>
              <a:rPr b="0" i="1" lang="en-US" sz="1290" strike="noStrike" u="none">
                <a:solidFill>
                  <a:srgbClr val="ffffff"/>
                </a:solidFill>
                <a:effectLst/>
                <a:uFillTx/>
                <a:latin typeface="MathJax_Math"/>
                <a:ea typeface="MathJax_Math"/>
              </a:rPr>
              <a:t> y</a:t>
            </a:r>
            <a:r>
              <a:rPr b="0" lang="en-US" sz="1290" strike="noStrike" u="none">
                <a:solidFill>
                  <a:srgbClr val="ffffff"/>
                </a:solidFill>
                <a:effectLst/>
                <a:uFillTx/>
                <a:latin typeface="MathJax_Main"/>
                <a:ea typeface="MathJax_Main"/>
              </a:rPr>
              <a:t>;</a:t>
            </a:r>
            <a:r>
              <a:rPr b="0" i="1" lang="en-US" sz="1290" strike="noStrike" u="none">
                <a:solidFill>
                  <a:srgbClr val="ffffff"/>
                </a:solidFill>
                <a:effectLst/>
                <a:uFillTx/>
                <a:latin typeface="MathJax_Math"/>
                <a:ea typeface="MathJax_Math"/>
              </a:rPr>
              <a:t> z</a:t>
            </a:r>
            <a:r>
              <a:rPr b="0" lang="en-US" sz="1290" strike="noStrike" u="none">
                <a:solidFill>
                  <a:srgbClr val="ffffff"/>
                </a:solidFill>
                <a:effectLst/>
                <a:uFillTx/>
                <a:latin typeface="MathJax_Main"/>
                <a:ea typeface="MathJax_Main"/>
              </a:rPr>
              <a:t>)</a:t>
            </a:r>
            <a:endParaRPr b="0" lang="en-US" sz="1290" strike="noStrike" u="none">
              <a:solidFill>
                <a:srgbClr val="000000"/>
              </a:solidFill>
              <a:effectLst/>
              <a:uFillTx/>
              <a:latin typeface="Times New Roman"/>
            </a:endParaRPr>
          </a:p>
        </p:txBody>
      </p:sp>
      <p:sp>
        <p:nvSpPr>
          <p:cNvPr id="270" name=""/>
          <p:cNvSpPr txBox="1"/>
          <p:nvPr/>
        </p:nvSpPr>
        <p:spPr>
          <a:xfrm>
            <a:off x="668520" y="4797000"/>
            <a:ext cx="2167920" cy="166320"/>
          </a:xfrm>
          <a:prstGeom prst="rect">
            <a:avLst/>
          </a:prstGeom>
          <a:noFill/>
          <a:ln w="0">
            <a:noFill/>
          </a:ln>
        </p:spPr>
        <p:txBody>
          <a:bodyPr wrap="none" lIns="0" rIns="0" tIns="0" bIns="0" anchor="t">
            <a:spAutoFit/>
          </a:bodyPr>
          <a:p>
            <a:r>
              <a:rPr b="0" i="1" lang="en-US" sz="1130" strike="noStrike" u="none">
                <a:solidFill>
                  <a:srgbClr val="ffffff"/>
                </a:solidFill>
                <a:effectLst/>
                <a:uFillTx/>
                <a:latin typeface="MathJax_Math"/>
                <a:ea typeface="MathJax_Math"/>
              </a:rPr>
              <a:t>G</a:t>
            </a:r>
            <a:r>
              <a:rPr b="0" lang="en-US" sz="1130" strike="noStrike" u="none">
                <a:solidFill>
                  <a:srgbClr val="ffffff"/>
                </a:solidFill>
                <a:effectLst/>
                <a:uFillTx/>
                <a:latin typeface="MathJax_Main"/>
                <a:ea typeface="MathJax_Main"/>
              </a:rPr>
              <a:t>(</a:t>
            </a:r>
            <a:r>
              <a:rPr b="0" i="1" lang="en-US" sz="1130" strike="noStrike" u="none">
                <a:solidFill>
                  <a:srgbClr val="ffffff"/>
                </a:solidFill>
                <a:effectLst/>
                <a:uFillTx/>
                <a:latin typeface="MathJax_Math"/>
                <a:ea typeface="MathJax_Math"/>
              </a:rPr>
              <a:t>u</a:t>
            </a:r>
            <a:r>
              <a:rPr b="0" lang="en-US" sz="1130" strike="noStrike" u="none">
                <a:solidFill>
                  <a:srgbClr val="ffffff"/>
                </a:solidFill>
                <a:effectLst/>
                <a:uFillTx/>
                <a:latin typeface="MathJax_Main"/>
                <a:ea typeface="MathJax_Main"/>
              </a:rPr>
              <a:t>,</a:t>
            </a:r>
            <a:r>
              <a:rPr b="0" i="1" lang="en-US" sz="1130" strike="noStrike" u="none">
                <a:solidFill>
                  <a:srgbClr val="ffffff"/>
                </a:solidFill>
                <a:effectLst/>
                <a:uFillTx/>
                <a:latin typeface="MathJax_Math"/>
                <a:ea typeface="MathJax_Math"/>
              </a:rPr>
              <a:t> v</a:t>
            </a:r>
            <a:r>
              <a:rPr b="0" lang="en-US" sz="1130" strike="noStrike" u="none">
                <a:solidFill>
                  <a:srgbClr val="ffffff"/>
                </a:solidFill>
                <a:effectLst/>
                <a:uFillTx/>
                <a:latin typeface="MathJax_Main"/>
                <a:ea typeface="MathJax_Main"/>
              </a:rPr>
              <a:t>; 0) =</a:t>
            </a:r>
            <a:r>
              <a:rPr b="0" lang="en-US" sz="1130" strike="noStrike" u="none">
                <a:solidFill>
                  <a:srgbClr val="ffffff"/>
                </a:solidFill>
                <a:effectLst/>
                <a:uFillTx/>
                <a:latin typeface="MathJax_Calligraphic"/>
                <a:ea typeface="MathJax_Calligraphic"/>
              </a:rPr>
              <a:t> F</a:t>
            </a:r>
            <a:r>
              <a:rPr b="0" lang="en-US" sz="1130" strike="noStrike" u="none">
                <a:solidFill>
                  <a:srgbClr val="ffffff"/>
                </a:solidFill>
                <a:effectLst/>
                <a:uFillTx/>
                <a:latin typeface="MathJax_Main"/>
                <a:ea typeface="MathJax_Main"/>
              </a:rPr>
              <a:t> {</a:t>
            </a:r>
            <a:r>
              <a:rPr b="0" i="1" lang="en-US" sz="1130" strike="noStrike" u="none">
                <a:solidFill>
                  <a:srgbClr val="ffffff"/>
                </a:solidFill>
                <a:effectLst/>
                <a:uFillTx/>
                <a:latin typeface="MathJax_Math"/>
                <a:ea typeface="MathJax_Math"/>
              </a:rPr>
              <a:t>g</a:t>
            </a:r>
            <a:r>
              <a:rPr b="0" lang="en-US" sz="1130" strike="noStrike" u="none">
                <a:solidFill>
                  <a:srgbClr val="ffffff"/>
                </a:solidFill>
                <a:effectLst/>
                <a:uFillTx/>
                <a:latin typeface="MathJax_Main"/>
                <a:ea typeface="MathJax_Main"/>
              </a:rPr>
              <a:t>(</a:t>
            </a:r>
            <a:r>
              <a:rPr b="0" i="1" lang="en-US" sz="1130" strike="noStrike" u="none">
                <a:solidFill>
                  <a:srgbClr val="ffffff"/>
                </a:solidFill>
                <a:effectLst/>
                <a:uFillTx/>
                <a:latin typeface="MathJax_Math"/>
                <a:ea typeface="MathJax_Math"/>
              </a:rPr>
              <a:t>x</a:t>
            </a:r>
            <a:r>
              <a:rPr b="0" lang="en-US" sz="1130" strike="noStrike" u="none">
                <a:solidFill>
                  <a:srgbClr val="ffffff"/>
                </a:solidFill>
                <a:effectLst/>
                <a:uFillTx/>
                <a:latin typeface="MathJax_Main"/>
                <a:ea typeface="MathJax_Main"/>
              </a:rPr>
              <a:t>,</a:t>
            </a:r>
            <a:r>
              <a:rPr b="0" i="1" lang="en-US" sz="1130" strike="noStrike" u="none">
                <a:solidFill>
                  <a:srgbClr val="ffffff"/>
                </a:solidFill>
                <a:effectLst/>
                <a:uFillTx/>
                <a:latin typeface="MathJax_Math"/>
                <a:ea typeface="MathJax_Math"/>
              </a:rPr>
              <a:t> y</a:t>
            </a:r>
            <a:r>
              <a:rPr b="0" lang="en-US" sz="1130" strike="noStrike" u="none">
                <a:solidFill>
                  <a:srgbClr val="ffffff"/>
                </a:solidFill>
                <a:effectLst/>
                <a:uFillTx/>
                <a:latin typeface="MathJax_Main"/>
                <a:ea typeface="MathJax_Main"/>
              </a:rPr>
              <a:t>; 0)} =</a:t>
            </a:r>
            <a:r>
              <a:rPr b="0" lang="en-US" sz="1130" strike="noStrike" u="none">
                <a:solidFill>
                  <a:srgbClr val="ffffff"/>
                </a:solidFill>
                <a:effectLst/>
                <a:uFillTx/>
                <a:latin typeface="MathJax_Size2"/>
                <a:ea typeface="MathJax_Size2"/>
              </a:rPr>
              <a:t> ∬</a:t>
            </a:r>
            <a:endParaRPr b="0" lang="en-US" sz="1130" strike="noStrike" u="none">
              <a:solidFill>
                <a:srgbClr val="000000"/>
              </a:solidFill>
              <a:effectLst/>
              <a:uFillTx/>
              <a:latin typeface="Times New Roman"/>
            </a:endParaRPr>
          </a:p>
        </p:txBody>
      </p:sp>
      <p:sp>
        <p:nvSpPr>
          <p:cNvPr id="271" name=""/>
          <p:cNvSpPr txBox="1"/>
          <p:nvPr/>
        </p:nvSpPr>
        <p:spPr>
          <a:xfrm>
            <a:off x="2647800" y="4677480"/>
            <a:ext cx="101160" cy="119160"/>
          </a:xfrm>
          <a:prstGeom prst="rect">
            <a:avLst/>
          </a:prstGeom>
          <a:noFill/>
          <a:ln w="0">
            <a:noFill/>
          </a:ln>
        </p:spPr>
        <p:txBody>
          <a:bodyPr wrap="none" lIns="0" rIns="0" tIns="0" bIns="0" anchor="t">
            <a:spAutoFit/>
          </a:bodyPr>
          <a:p>
            <a:r>
              <a:rPr b="0" lang="en-US" sz="800" strike="noStrike" u="none">
                <a:solidFill>
                  <a:srgbClr val="ffffff"/>
                </a:solidFill>
                <a:effectLst/>
                <a:uFillTx/>
                <a:latin typeface="MathJax_Main"/>
                <a:ea typeface="MathJax_Main"/>
              </a:rPr>
              <a:t>∞</a:t>
            </a:r>
            <a:endParaRPr b="0" lang="en-US" sz="800" strike="noStrike" u="none">
              <a:solidFill>
                <a:srgbClr val="000000"/>
              </a:solidFill>
              <a:effectLst/>
              <a:uFillTx/>
              <a:latin typeface="Times New Roman"/>
            </a:endParaRPr>
          </a:p>
        </p:txBody>
      </p:sp>
      <p:sp>
        <p:nvSpPr>
          <p:cNvPr id="272" name=""/>
          <p:cNvSpPr txBox="1"/>
          <p:nvPr/>
        </p:nvSpPr>
        <p:spPr>
          <a:xfrm>
            <a:off x="2581920" y="4961520"/>
            <a:ext cx="171360" cy="119160"/>
          </a:xfrm>
          <a:prstGeom prst="rect">
            <a:avLst/>
          </a:prstGeom>
          <a:noFill/>
          <a:ln w="0">
            <a:noFill/>
          </a:ln>
        </p:spPr>
        <p:txBody>
          <a:bodyPr wrap="none" lIns="0" rIns="0" tIns="0" bIns="0" anchor="t">
            <a:spAutoFit/>
          </a:bodyPr>
          <a:p>
            <a:r>
              <a:rPr b="0" lang="en-US" sz="800" strike="noStrike" u="none">
                <a:solidFill>
                  <a:srgbClr val="ffffff"/>
                </a:solidFill>
                <a:effectLst/>
                <a:uFillTx/>
                <a:latin typeface="MathJax_Main"/>
                <a:ea typeface="MathJax_Main"/>
              </a:rPr>
              <a:t>−∞</a:t>
            </a:r>
            <a:endParaRPr b="0" lang="en-US" sz="800" strike="noStrike" u="none">
              <a:solidFill>
                <a:srgbClr val="000000"/>
              </a:solidFill>
              <a:effectLst/>
              <a:uFillTx/>
              <a:latin typeface="Times New Roman"/>
            </a:endParaRPr>
          </a:p>
        </p:txBody>
      </p:sp>
      <p:sp>
        <p:nvSpPr>
          <p:cNvPr id="273" name=""/>
          <p:cNvSpPr txBox="1"/>
          <p:nvPr/>
        </p:nvSpPr>
        <p:spPr>
          <a:xfrm>
            <a:off x="2793600" y="4797000"/>
            <a:ext cx="736920" cy="166320"/>
          </a:xfrm>
          <a:prstGeom prst="rect">
            <a:avLst/>
          </a:prstGeom>
          <a:noFill/>
          <a:ln w="0">
            <a:noFill/>
          </a:ln>
        </p:spPr>
        <p:txBody>
          <a:bodyPr wrap="none" lIns="0" rIns="0" tIns="0" bIns="0" anchor="t">
            <a:spAutoFit/>
          </a:bodyPr>
          <a:p>
            <a:r>
              <a:rPr b="0" i="1" lang="en-US" sz="1130" strike="noStrike" u="none">
                <a:solidFill>
                  <a:srgbClr val="ffffff"/>
                </a:solidFill>
                <a:effectLst/>
                <a:uFillTx/>
                <a:latin typeface="MathJax_Math"/>
                <a:ea typeface="MathJax_Math"/>
              </a:rPr>
              <a:t>g</a:t>
            </a:r>
            <a:r>
              <a:rPr b="0" lang="en-US" sz="1130" strike="noStrike" u="none">
                <a:solidFill>
                  <a:srgbClr val="ffffff"/>
                </a:solidFill>
                <a:effectLst/>
                <a:uFillTx/>
                <a:latin typeface="MathJax_Main"/>
                <a:ea typeface="MathJax_Main"/>
              </a:rPr>
              <a:t>(</a:t>
            </a:r>
            <a:r>
              <a:rPr b="0" i="1" lang="en-US" sz="1130" strike="noStrike" u="none">
                <a:solidFill>
                  <a:srgbClr val="ffffff"/>
                </a:solidFill>
                <a:effectLst/>
                <a:uFillTx/>
                <a:latin typeface="MathJax_Math"/>
                <a:ea typeface="MathJax_Math"/>
              </a:rPr>
              <a:t>x</a:t>
            </a:r>
            <a:r>
              <a:rPr b="0" lang="en-US" sz="1130" strike="noStrike" u="none">
                <a:solidFill>
                  <a:srgbClr val="ffffff"/>
                </a:solidFill>
                <a:effectLst/>
                <a:uFillTx/>
                <a:latin typeface="MathJax_Main"/>
                <a:ea typeface="MathJax_Main"/>
              </a:rPr>
              <a:t>,</a:t>
            </a:r>
            <a:r>
              <a:rPr b="0" i="1" lang="en-US" sz="1130" strike="noStrike" u="none">
                <a:solidFill>
                  <a:srgbClr val="ffffff"/>
                </a:solidFill>
                <a:effectLst/>
                <a:uFillTx/>
                <a:latin typeface="MathJax_Math"/>
                <a:ea typeface="MathJax_Math"/>
              </a:rPr>
              <a:t> y</a:t>
            </a:r>
            <a:r>
              <a:rPr b="0" lang="en-US" sz="1130" strike="noStrike" u="none">
                <a:solidFill>
                  <a:srgbClr val="ffffff"/>
                </a:solidFill>
                <a:effectLst/>
                <a:uFillTx/>
                <a:latin typeface="MathJax_Main"/>
                <a:ea typeface="MathJax_Main"/>
              </a:rPr>
              <a:t>; 0)</a:t>
            </a:r>
            <a:r>
              <a:rPr b="0" i="1" lang="en-US" sz="1130" strike="noStrike" u="none">
                <a:solidFill>
                  <a:srgbClr val="ffffff"/>
                </a:solidFill>
                <a:effectLst/>
                <a:uFillTx/>
                <a:latin typeface="MathJax_Math"/>
                <a:ea typeface="MathJax_Math"/>
              </a:rPr>
              <a:t>e</a:t>
            </a:r>
            <a:endParaRPr b="0" lang="en-US" sz="1130" strike="noStrike" u="none">
              <a:solidFill>
                <a:srgbClr val="000000"/>
              </a:solidFill>
              <a:effectLst/>
              <a:uFillTx/>
              <a:latin typeface="Times New Roman"/>
            </a:endParaRPr>
          </a:p>
        </p:txBody>
      </p:sp>
      <p:sp>
        <p:nvSpPr>
          <p:cNvPr id="274" name=""/>
          <p:cNvSpPr txBox="1"/>
          <p:nvPr/>
        </p:nvSpPr>
        <p:spPr>
          <a:xfrm>
            <a:off x="3396960" y="4777560"/>
            <a:ext cx="653040" cy="119160"/>
          </a:xfrm>
          <a:prstGeom prst="rect">
            <a:avLst/>
          </a:prstGeom>
          <a:noFill/>
          <a:ln w="0">
            <a:noFill/>
          </a:ln>
        </p:spPr>
        <p:txBody>
          <a:bodyPr wrap="none" lIns="0" rIns="0" tIns="0" bIns="0" anchor="t">
            <a:spAutoFit/>
          </a:bodyPr>
          <a:p>
            <a:r>
              <a:rPr b="0" lang="en-US" sz="800" strike="noStrike" u="none">
                <a:solidFill>
                  <a:srgbClr val="ffffff"/>
                </a:solidFill>
                <a:effectLst/>
                <a:uFillTx/>
                <a:latin typeface="MathJax_Main"/>
                <a:ea typeface="MathJax_Main"/>
              </a:rPr>
              <a:t>−</a:t>
            </a:r>
            <a:r>
              <a:rPr b="0" i="1" lang="en-US" sz="800" strike="noStrike" u="none">
                <a:solidFill>
                  <a:srgbClr val="ffffff"/>
                </a:solidFill>
                <a:effectLst/>
                <a:uFillTx/>
                <a:latin typeface="MathJax_Math"/>
                <a:ea typeface="MathJax_Math"/>
              </a:rPr>
              <a:t>i</a:t>
            </a:r>
            <a:r>
              <a:rPr b="0" lang="en-US" sz="800" strike="noStrike" u="none">
                <a:solidFill>
                  <a:srgbClr val="ffffff"/>
                </a:solidFill>
                <a:effectLst/>
                <a:uFillTx/>
                <a:latin typeface="MathJax_Main"/>
                <a:ea typeface="MathJax_Main"/>
              </a:rPr>
              <a:t>2</a:t>
            </a:r>
            <a:r>
              <a:rPr b="0" i="1" lang="en-US" sz="800" strike="noStrike" u="none">
                <a:solidFill>
                  <a:srgbClr val="ffffff"/>
                </a:solidFill>
                <a:effectLst/>
                <a:uFillTx/>
                <a:latin typeface="MathJax_Math"/>
                <a:ea typeface="MathJax_Math"/>
              </a:rPr>
              <a:t>π</a:t>
            </a:r>
            <a:r>
              <a:rPr b="0" lang="en-US" sz="800" strike="noStrike" u="none">
                <a:solidFill>
                  <a:srgbClr val="ffffff"/>
                </a:solidFill>
                <a:effectLst/>
                <a:uFillTx/>
                <a:latin typeface="MathJax_Main"/>
                <a:ea typeface="MathJax_Main"/>
              </a:rPr>
              <a:t>(</a:t>
            </a:r>
            <a:r>
              <a:rPr b="0" i="1" lang="en-US" sz="800" strike="noStrike" u="none">
                <a:solidFill>
                  <a:srgbClr val="ffffff"/>
                </a:solidFill>
                <a:effectLst/>
                <a:uFillTx/>
                <a:latin typeface="MathJax_Math"/>
                <a:ea typeface="MathJax_Math"/>
              </a:rPr>
              <a:t>ux</a:t>
            </a:r>
            <a:r>
              <a:rPr b="0" lang="en-US" sz="800" strike="noStrike" u="none">
                <a:solidFill>
                  <a:srgbClr val="ffffff"/>
                </a:solidFill>
                <a:effectLst/>
                <a:uFillTx/>
                <a:latin typeface="MathJax_Main"/>
                <a:ea typeface="MathJax_Main"/>
              </a:rPr>
              <a:t>+</a:t>
            </a:r>
            <a:r>
              <a:rPr b="0" i="1" lang="en-US" sz="800" strike="noStrike" u="none">
                <a:solidFill>
                  <a:srgbClr val="ffffff"/>
                </a:solidFill>
                <a:effectLst/>
                <a:uFillTx/>
                <a:latin typeface="MathJax_Math"/>
                <a:ea typeface="MathJax_Math"/>
              </a:rPr>
              <a:t>vy</a:t>
            </a:r>
            <a:r>
              <a:rPr b="0" lang="en-US" sz="800" strike="noStrike" u="none">
                <a:solidFill>
                  <a:srgbClr val="ffffff"/>
                </a:solidFill>
                <a:effectLst/>
                <a:uFillTx/>
                <a:latin typeface="MathJax_Main"/>
                <a:ea typeface="MathJax_Main"/>
              </a:rPr>
              <a:t>)</a:t>
            </a:r>
            <a:endParaRPr b="0" lang="en-US" sz="800" strike="noStrike" u="none">
              <a:solidFill>
                <a:srgbClr val="000000"/>
              </a:solidFill>
              <a:effectLst/>
              <a:uFillTx/>
              <a:latin typeface="Times New Roman"/>
            </a:endParaRPr>
          </a:p>
        </p:txBody>
      </p:sp>
      <p:sp>
        <p:nvSpPr>
          <p:cNvPr id="275" name=""/>
          <p:cNvSpPr txBox="1"/>
          <p:nvPr/>
        </p:nvSpPr>
        <p:spPr>
          <a:xfrm>
            <a:off x="3999600" y="4797000"/>
            <a:ext cx="352080" cy="166320"/>
          </a:xfrm>
          <a:prstGeom prst="rect">
            <a:avLst/>
          </a:prstGeom>
          <a:noFill/>
          <a:ln w="0">
            <a:noFill/>
          </a:ln>
        </p:spPr>
        <p:txBody>
          <a:bodyPr wrap="none" lIns="0" rIns="0" tIns="0" bIns="0" anchor="t">
            <a:spAutoFit/>
          </a:bodyPr>
          <a:p>
            <a:r>
              <a:rPr b="0" i="1" lang="en-US" sz="1130" strike="noStrike" u="none">
                <a:solidFill>
                  <a:srgbClr val="ffffff"/>
                </a:solidFill>
                <a:effectLst/>
                <a:uFillTx/>
                <a:latin typeface="MathJax_Math"/>
                <a:ea typeface="MathJax_Math"/>
              </a:rPr>
              <a:t>dxdy</a:t>
            </a:r>
            <a:endParaRPr b="0" lang="en-US" sz="1130" strike="noStrike" u="none">
              <a:solidFill>
                <a:srgbClr val="000000"/>
              </a:solidFill>
              <a:effectLst/>
              <a:uFillTx/>
              <a:latin typeface="Times New Roman"/>
            </a:endParaRPr>
          </a:p>
        </p:txBody>
      </p:sp>
      <p:sp>
        <p:nvSpPr>
          <p:cNvPr id="276" name=""/>
          <p:cNvSpPr txBox="1"/>
          <p:nvPr/>
        </p:nvSpPr>
        <p:spPr>
          <a:xfrm>
            <a:off x="4335120" y="4705200"/>
            <a:ext cx="2334960" cy="166320"/>
          </a:xfrm>
          <a:prstGeom prst="rect">
            <a:avLst/>
          </a:prstGeom>
          <a:noFill/>
          <a:ln w="0">
            <a:noFill/>
          </a:ln>
        </p:spPr>
        <p:txBody>
          <a:bodyPr wrap="none" lIns="0" rIns="0" tIns="0" bIns="0" anchor="t">
            <a:spAutoFit/>
          </a:bodyPr>
          <a:p>
            <a:r>
              <a:rPr b="0" i="1" lang="en-US" sz="1130" strike="noStrike" u="none">
                <a:solidFill>
                  <a:srgbClr val="ffffff"/>
                </a:solidFill>
                <a:effectLst/>
                <a:uFillTx/>
                <a:latin typeface="MathJax_Math"/>
                <a:ea typeface="MathJax_Math"/>
              </a:rPr>
              <a:t>G</a:t>
            </a:r>
            <a:r>
              <a:rPr b="0" lang="en-US" sz="1130" strike="noStrike" u="none">
                <a:solidFill>
                  <a:srgbClr val="ffffff"/>
                </a:solidFill>
                <a:effectLst/>
                <a:uFillTx/>
                <a:latin typeface="MathJax_Main"/>
                <a:ea typeface="MathJax_Main"/>
              </a:rPr>
              <a:t>(</a:t>
            </a:r>
            <a:r>
              <a:rPr b="0" i="1" lang="en-US" sz="1130" strike="noStrike" u="none">
                <a:solidFill>
                  <a:srgbClr val="ffffff"/>
                </a:solidFill>
                <a:effectLst/>
                <a:uFillTx/>
                <a:latin typeface="MathJax_Math"/>
                <a:ea typeface="MathJax_Math"/>
              </a:rPr>
              <a:t>u</a:t>
            </a:r>
            <a:r>
              <a:rPr b="0" lang="en-US" sz="1130" strike="noStrike" u="none">
                <a:solidFill>
                  <a:srgbClr val="ffffff"/>
                </a:solidFill>
                <a:effectLst/>
                <a:uFillTx/>
                <a:latin typeface="MathJax_Main"/>
                <a:ea typeface="MathJax_Main"/>
              </a:rPr>
              <a:t>,</a:t>
            </a:r>
            <a:r>
              <a:rPr b="0" i="1" lang="en-US" sz="1130" strike="noStrike" u="none">
                <a:solidFill>
                  <a:srgbClr val="ffffff"/>
                </a:solidFill>
                <a:effectLst/>
                <a:uFillTx/>
                <a:latin typeface="MathJax_Math"/>
                <a:ea typeface="MathJax_Math"/>
              </a:rPr>
              <a:t> v</a:t>
            </a:r>
            <a:r>
              <a:rPr b="0" lang="en-US" sz="1130" strike="noStrike" u="none">
                <a:solidFill>
                  <a:srgbClr val="ffffff"/>
                </a:solidFill>
                <a:effectLst/>
                <a:uFillTx/>
                <a:latin typeface="MathJax_Main"/>
                <a:ea typeface="MathJax_Main"/>
              </a:rPr>
              <a:t>;</a:t>
            </a:r>
            <a:r>
              <a:rPr b="0" i="1" lang="en-US" sz="1130" strike="noStrike" u="none">
                <a:solidFill>
                  <a:srgbClr val="ffffff"/>
                </a:solidFill>
                <a:effectLst/>
                <a:uFillTx/>
                <a:latin typeface="MathJax_Math"/>
                <a:ea typeface="MathJax_Math"/>
              </a:rPr>
              <a:t> z</a:t>
            </a:r>
            <a:r>
              <a:rPr b="0" lang="en-US" sz="1130" strike="noStrike" u="none">
                <a:solidFill>
                  <a:srgbClr val="ffffff"/>
                </a:solidFill>
                <a:effectLst/>
                <a:uFillTx/>
                <a:latin typeface="MathJax_Main"/>
                <a:ea typeface="MathJax_Main"/>
              </a:rPr>
              <a:t>) =</a:t>
            </a:r>
            <a:r>
              <a:rPr b="0" i="1" lang="en-US" sz="1130" strike="noStrike" u="none">
                <a:solidFill>
                  <a:srgbClr val="ffffff"/>
                </a:solidFill>
                <a:effectLst/>
                <a:uFillTx/>
                <a:latin typeface="MathJax_Math"/>
                <a:ea typeface="MathJax_Math"/>
              </a:rPr>
              <a:t> G</a:t>
            </a:r>
            <a:r>
              <a:rPr b="0" lang="en-US" sz="1130" strike="noStrike" u="none">
                <a:solidFill>
                  <a:srgbClr val="ffffff"/>
                </a:solidFill>
                <a:effectLst/>
                <a:uFillTx/>
                <a:latin typeface="MathJax_Main"/>
                <a:ea typeface="MathJax_Main"/>
              </a:rPr>
              <a:t>(</a:t>
            </a:r>
            <a:r>
              <a:rPr b="0" i="1" lang="en-US" sz="1130" strike="noStrike" u="none">
                <a:solidFill>
                  <a:srgbClr val="ffffff"/>
                </a:solidFill>
                <a:effectLst/>
                <a:uFillTx/>
                <a:latin typeface="MathJax_Math"/>
                <a:ea typeface="MathJax_Math"/>
              </a:rPr>
              <a:t>u</a:t>
            </a:r>
            <a:r>
              <a:rPr b="0" lang="en-US" sz="1130" strike="noStrike" u="none">
                <a:solidFill>
                  <a:srgbClr val="ffffff"/>
                </a:solidFill>
                <a:effectLst/>
                <a:uFillTx/>
                <a:latin typeface="MathJax_Main"/>
                <a:ea typeface="MathJax_Main"/>
              </a:rPr>
              <a:t>,</a:t>
            </a:r>
            <a:r>
              <a:rPr b="0" i="1" lang="en-US" sz="1130" strike="noStrike" u="none">
                <a:solidFill>
                  <a:srgbClr val="ffffff"/>
                </a:solidFill>
                <a:effectLst/>
                <a:uFillTx/>
                <a:latin typeface="MathJax_Math"/>
                <a:ea typeface="MathJax_Math"/>
              </a:rPr>
              <a:t> v</a:t>
            </a:r>
            <a:r>
              <a:rPr b="0" lang="en-US" sz="1130" strike="noStrike" u="none">
                <a:solidFill>
                  <a:srgbClr val="ffffff"/>
                </a:solidFill>
                <a:effectLst/>
                <a:uFillTx/>
                <a:latin typeface="MathJax_Main"/>
                <a:ea typeface="MathJax_Main"/>
              </a:rPr>
              <a:t>; 0) ⋅</a:t>
            </a:r>
            <a:r>
              <a:rPr b="0" i="1" lang="en-US" sz="1130" strike="noStrike" u="none">
                <a:solidFill>
                  <a:srgbClr val="ffffff"/>
                </a:solidFill>
                <a:effectLst/>
                <a:uFillTx/>
                <a:latin typeface="MathJax_Math"/>
                <a:ea typeface="MathJax_Math"/>
              </a:rPr>
              <a:t> H</a:t>
            </a:r>
            <a:r>
              <a:rPr b="0" lang="en-US" sz="1130" strike="noStrike" u="none">
                <a:solidFill>
                  <a:srgbClr val="ffffff"/>
                </a:solidFill>
                <a:effectLst/>
                <a:uFillTx/>
                <a:latin typeface="MathJax_Main"/>
                <a:ea typeface="MathJax_Main"/>
              </a:rPr>
              <a:t>(</a:t>
            </a:r>
            <a:r>
              <a:rPr b="0" i="1" lang="en-US" sz="1130" strike="noStrike" u="none">
                <a:solidFill>
                  <a:srgbClr val="ffffff"/>
                </a:solidFill>
                <a:effectLst/>
                <a:uFillTx/>
                <a:latin typeface="MathJax_Math"/>
                <a:ea typeface="MathJax_Math"/>
              </a:rPr>
              <a:t>u</a:t>
            </a:r>
            <a:r>
              <a:rPr b="0" lang="en-US" sz="1130" strike="noStrike" u="none">
                <a:solidFill>
                  <a:srgbClr val="ffffff"/>
                </a:solidFill>
                <a:effectLst/>
                <a:uFillTx/>
                <a:latin typeface="MathJax_Main"/>
                <a:ea typeface="MathJax_Main"/>
              </a:rPr>
              <a:t>,</a:t>
            </a:r>
            <a:r>
              <a:rPr b="0" i="1" lang="en-US" sz="1130" strike="noStrike" u="none">
                <a:solidFill>
                  <a:srgbClr val="ffffff"/>
                </a:solidFill>
                <a:effectLst/>
                <a:uFillTx/>
                <a:latin typeface="MathJax_Math"/>
                <a:ea typeface="MathJax_Math"/>
              </a:rPr>
              <a:t> v</a:t>
            </a:r>
            <a:r>
              <a:rPr b="0" lang="en-US" sz="1130" strike="noStrike" u="none">
                <a:solidFill>
                  <a:srgbClr val="ffffff"/>
                </a:solidFill>
                <a:effectLst/>
                <a:uFillTx/>
                <a:latin typeface="MathJax_Main"/>
                <a:ea typeface="MathJax_Main"/>
              </a:rPr>
              <a:t>;</a:t>
            </a:r>
            <a:r>
              <a:rPr b="0" i="1" lang="en-US" sz="1130" strike="noStrike" u="none">
                <a:solidFill>
                  <a:srgbClr val="ffffff"/>
                </a:solidFill>
                <a:effectLst/>
                <a:uFillTx/>
                <a:latin typeface="MathJax_Math"/>
                <a:ea typeface="MathJax_Math"/>
              </a:rPr>
              <a:t> z</a:t>
            </a:r>
            <a:r>
              <a:rPr b="0" lang="en-US" sz="1130" strike="noStrike" u="none">
                <a:solidFill>
                  <a:srgbClr val="ffffff"/>
                </a:solidFill>
                <a:effectLst/>
                <a:uFillTx/>
                <a:latin typeface="MathJax_Main"/>
                <a:ea typeface="MathJax_Main"/>
              </a:rPr>
              <a:t>)</a:t>
            </a:r>
            <a:endParaRPr b="0" lang="en-US" sz="1130" strike="noStrike" u="none">
              <a:solidFill>
                <a:srgbClr val="000000"/>
              </a:solidFill>
              <a:effectLst/>
              <a:uFillTx/>
              <a:latin typeface="Times New Roman"/>
            </a:endParaRPr>
          </a:p>
        </p:txBody>
      </p:sp>
      <p:sp>
        <p:nvSpPr>
          <p:cNvPr id="277" name=""/>
          <p:cNvSpPr txBox="1"/>
          <p:nvPr/>
        </p:nvSpPr>
        <p:spPr>
          <a:xfrm>
            <a:off x="4010040" y="5173200"/>
            <a:ext cx="1130400" cy="166320"/>
          </a:xfrm>
          <a:prstGeom prst="rect">
            <a:avLst/>
          </a:prstGeom>
          <a:noFill/>
          <a:ln w="0">
            <a:noFill/>
          </a:ln>
        </p:spPr>
        <p:txBody>
          <a:bodyPr wrap="none" lIns="0" rIns="0" tIns="0" bIns="0" anchor="t">
            <a:spAutoFit/>
          </a:bodyPr>
          <a:p>
            <a:r>
              <a:rPr b="0" i="1" lang="en-US" sz="1130" strike="noStrike" u="none">
                <a:solidFill>
                  <a:srgbClr val="ffffff"/>
                </a:solidFill>
                <a:effectLst/>
                <a:uFillTx/>
                <a:latin typeface="MathJax_Math"/>
                <a:ea typeface="MathJax_Math"/>
              </a:rPr>
              <a:t>H</a:t>
            </a:r>
            <a:r>
              <a:rPr b="0" lang="en-US" sz="1130" strike="noStrike" u="none">
                <a:solidFill>
                  <a:srgbClr val="ffffff"/>
                </a:solidFill>
                <a:effectLst/>
                <a:uFillTx/>
                <a:latin typeface="MathJax_Main"/>
                <a:ea typeface="MathJax_Main"/>
              </a:rPr>
              <a:t>(</a:t>
            </a:r>
            <a:r>
              <a:rPr b="0" i="1" lang="en-US" sz="1130" strike="noStrike" u="none">
                <a:solidFill>
                  <a:srgbClr val="ffffff"/>
                </a:solidFill>
                <a:effectLst/>
                <a:uFillTx/>
                <a:latin typeface="MathJax_Math"/>
                <a:ea typeface="MathJax_Math"/>
              </a:rPr>
              <a:t>u</a:t>
            </a:r>
            <a:r>
              <a:rPr b="0" lang="en-US" sz="1130" strike="noStrike" u="none">
                <a:solidFill>
                  <a:srgbClr val="ffffff"/>
                </a:solidFill>
                <a:effectLst/>
                <a:uFillTx/>
                <a:latin typeface="MathJax_Main"/>
                <a:ea typeface="MathJax_Main"/>
              </a:rPr>
              <a:t>,</a:t>
            </a:r>
            <a:r>
              <a:rPr b="0" i="1" lang="en-US" sz="1130" strike="noStrike" u="none">
                <a:solidFill>
                  <a:srgbClr val="ffffff"/>
                </a:solidFill>
                <a:effectLst/>
                <a:uFillTx/>
                <a:latin typeface="MathJax_Math"/>
                <a:ea typeface="MathJax_Math"/>
              </a:rPr>
              <a:t> v</a:t>
            </a:r>
            <a:r>
              <a:rPr b="0" lang="en-US" sz="1130" strike="noStrike" u="none">
                <a:solidFill>
                  <a:srgbClr val="ffffff"/>
                </a:solidFill>
                <a:effectLst/>
                <a:uFillTx/>
                <a:latin typeface="MathJax_Main"/>
                <a:ea typeface="MathJax_Main"/>
              </a:rPr>
              <a:t>;</a:t>
            </a:r>
            <a:r>
              <a:rPr b="0" i="1" lang="en-US" sz="1130" strike="noStrike" u="none">
                <a:solidFill>
                  <a:srgbClr val="ffffff"/>
                </a:solidFill>
                <a:effectLst/>
                <a:uFillTx/>
                <a:latin typeface="MathJax_Math"/>
                <a:ea typeface="MathJax_Math"/>
              </a:rPr>
              <a:t> z</a:t>
            </a:r>
            <a:r>
              <a:rPr b="0" lang="en-US" sz="1130" strike="noStrike" u="none">
                <a:solidFill>
                  <a:srgbClr val="ffffff"/>
                </a:solidFill>
                <a:effectLst/>
                <a:uFillTx/>
                <a:latin typeface="MathJax_Main"/>
                <a:ea typeface="MathJax_Main"/>
              </a:rPr>
              <a:t>) = exp</a:t>
            </a:r>
            <a:endParaRPr b="0" lang="en-US" sz="1130" strike="noStrike" u="none">
              <a:solidFill>
                <a:srgbClr val="000000"/>
              </a:solidFill>
              <a:effectLst/>
              <a:uFillTx/>
              <a:latin typeface="Times New Roman"/>
            </a:endParaRPr>
          </a:p>
        </p:txBody>
      </p:sp>
      <p:sp>
        <p:nvSpPr>
          <p:cNvPr id="278" name=""/>
          <p:cNvSpPr txBox="1"/>
          <p:nvPr/>
        </p:nvSpPr>
        <p:spPr>
          <a:xfrm>
            <a:off x="5029920" y="5047920"/>
            <a:ext cx="143280" cy="166320"/>
          </a:xfrm>
          <a:prstGeom prst="rect">
            <a:avLst/>
          </a:prstGeom>
          <a:noFill/>
          <a:ln w="0">
            <a:noFill/>
          </a:ln>
        </p:spPr>
        <p:txBody>
          <a:bodyPr wrap="none" lIns="0" rIns="0" tIns="0" bIns="0" anchor="t">
            <a:spAutoFit/>
          </a:bodyPr>
          <a:p>
            <a:r>
              <a:rPr b="0" lang="en-US" sz="1130" strike="noStrike" u="none">
                <a:solidFill>
                  <a:srgbClr val="ffffff"/>
                </a:solidFill>
                <a:effectLst/>
                <a:uFillTx/>
                <a:latin typeface="MathJax_Size4"/>
                <a:ea typeface="MathJax_Size4"/>
              </a:rPr>
              <a:t>⎡</a:t>
            </a:r>
            <a:endParaRPr b="0" lang="en-US" sz="1130" strike="noStrike" u="none">
              <a:solidFill>
                <a:srgbClr val="000000"/>
              </a:solidFill>
              <a:effectLst/>
              <a:uFillTx/>
              <a:latin typeface="Times New Roman"/>
            </a:endParaRPr>
          </a:p>
        </p:txBody>
      </p:sp>
      <p:sp>
        <p:nvSpPr>
          <p:cNvPr id="279" name=""/>
          <p:cNvSpPr txBox="1"/>
          <p:nvPr/>
        </p:nvSpPr>
        <p:spPr>
          <a:xfrm>
            <a:off x="5029920" y="5298480"/>
            <a:ext cx="143280" cy="166320"/>
          </a:xfrm>
          <a:prstGeom prst="rect">
            <a:avLst/>
          </a:prstGeom>
          <a:noFill/>
          <a:ln w="0">
            <a:noFill/>
          </a:ln>
        </p:spPr>
        <p:txBody>
          <a:bodyPr wrap="none" lIns="0" rIns="0" tIns="0" bIns="0" anchor="t">
            <a:spAutoFit/>
          </a:bodyPr>
          <a:p>
            <a:r>
              <a:rPr b="0" lang="en-US" sz="1130" strike="noStrike" u="none">
                <a:solidFill>
                  <a:srgbClr val="ffffff"/>
                </a:solidFill>
                <a:effectLst/>
                <a:uFillTx/>
                <a:latin typeface="MathJax_Size4"/>
                <a:ea typeface="MathJax_Size4"/>
              </a:rPr>
              <a:t>⎣</a:t>
            </a:r>
            <a:endParaRPr b="0" lang="en-US" sz="1130" strike="noStrike" u="none">
              <a:solidFill>
                <a:srgbClr val="000000"/>
              </a:solidFill>
              <a:effectLst/>
              <a:uFillTx/>
              <a:latin typeface="Times New Roman"/>
            </a:endParaRPr>
          </a:p>
        </p:txBody>
      </p:sp>
      <p:sp>
        <p:nvSpPr>
          <p:cNvPr id="280" name=""/>
          <p:cNvSpPr txBox="1"/>
          <p:nvPr/>
        </p:nvSpPr>
        <p:spPr>
          <a:xfrm>
            <a:off x="5125680" y="5173200"/>
            <a:ext cx="293040" cy="166320"/>
          </a:xfrm>
          <a:prstGeom prst="rect">
            <a:avLst/>
          </a:prstGeom>
          <a:noFill/>
          <a:ln w="0">
            <a:noFill/>
          </a:ln>
        </p:spPr>
        <p:txBody>
          <a:bodyPr wrap="none" lIns="0" rIns="0" tIns="0" bIns="0" anchor="t">
            <a:spAutoFit/>
          </a:bodyPr>
          <a:p>
            <a:r>
              <a:rPr b="0" i="1" lang="en-US" sz="1130" strike="noStrike" u="none">
                <a:solidFill>
                  <a:srgbClr val="ffffff"/>
                </a:solidFill>
                <a:effectLst/>
                <a:uFillTx/>
                <a:latin typeface="MathJax_Math"/>
                <a:ea typeface="MathJax_Math"/>
              </a:rPr>
              <a:t>i</a:t>
            </a:r>
            <a:r>
              <a:rPr b="0" lang="en-US" sz="1130" strike="noStrike" u="none">
                <a:solidFill>
                  <a:srgbClr val="ffffff"/>
                </a:solidFill>
                <a:effectLst/>
                <a:uFillTx/>
                <a:latin typeface="MathJax_Main"/>
                <a:ea typeface="MathJax_Main"/>
              </a:rPr>
              <a:t>2</a:t>
            </a:r>
            <a:r>
              <a:rPr b="0" i="1" lang="en-US" sz="1130" strike="noStrike" u="none">
                <a:solidFill>
                  <a:srgbClr val="ffffff"/>
                </a:solidFill>
                <a:effectLst/>
                <a:uFillTx/>
                <a:latin typeface="MathJax_Math"/>
                <a:ea typeface="MathJax_Math"/>
              </a:rPr>
              <a:t>πz</a:t>
            </a:r>
            <a:endParaRPr b="0" lang="en-US" sz="1130" strike="noStrike" u="none">
              <a:solidFill>
                <a:srgbClr val="000000"/>
              </a:solidFill>
              <a:effectLst/>
              <a:uFillTx/>
              <a:latin typeface="Times New Roman"/>
            </a:endParaRPr>
          </a:p>
        </p:txBody>
      </p:sp>
      <p:sp>
        <p:nvSpPr>
          <p:cNvPr id="281" name=""/>
          <p:cNvSpPr/>
          <p:nvPr/>
        </p:nvSpPr>
        <p:spPr>
          <a:xfrm>
            <a:off x="5540400" y="5022360"/>
            <a:ext cx="1053360" cy="8640"/>
          </a:xfrm>
          <a:custGeom>
            <a:avLst/>
            <a:gdLst/>
            <a:ahLst/>
            <a:rect l="0" t="0" r="r" b="b"/>
            <a:pathLst>
              <a:path w="2926" h="24">
                <a:moveTo>
                  <a:pt x="0" y="0"/>
                </a:moveTo>
                <a:lnTo>
                  <a:pt x="2926" y="0"/>
                </a:lnTo>
                <a:lnTo>
                  <a:pt x="2926" y="24"/>
                </a:lnTo>
                <a:lnTo>
                  <a:pt x="0" y="24"/>
                </a:lnTo>
                <a:lnTo>
                  <a:pt x="0" y="0"/>
                </a:lnTo>
                <a:close/>
              </a:path>
            </a:pathLst>
          </a:custGeom>
          <a:solidFill>
            <a:srgbClr val="ffffff"/>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282" name=""/>
          <p:cNvSpPr txBox="1"/>
          <p:nvPr/>
        </p:nvSpPr>
        <p:spPr>
          <a:xfrm>
            <a:off x="5395680" y="5148000"/>
            <a:ext cx="143280" cy="166320"/>
          </a:xfrm>
          <a:prstGeom prst="rect">
            <a:avLst/>
          </a:prstGeom>
          <a:noFill/>
          <a:ln w="0">
            <a:noFill/>
          </a:ln>
        </p:spPr>
        <p:txBody>
          <a:bodyPr wrap="none" lIns="0" rIns="0" tIns="0" bIns="0" anchor="t">
            <a:spAutoFit/>
          </a:bodyPr>
          <a:p>
            <a:r>
              <a:rPr b="0" lang="en-US" sz="1130" strike="noStrike" u="none">
                <a:solidFill>
                  <a:srgbClr val="ffffff"/>
                </a:solidFill>
                <a:effectLst/>
                <a:uFillTx/>
                <a:latin typeface="MathJax_Size4"/>
                <a:ea typeface="MathJax_Size4"/>
              </a:rPr>
              <a:t>√</a:t>
            </a:r>
            <a:endParaRPr b="0" lang="en-US" sz="1130" strike="noStrike" u="none">
              <a:solidFill>
                <a:srgbClr val="000000"/>
              </a:solidFill>
              <a:effectLst/>
              <a:uFillTx/>
              <a:latin typeface="Times New Roman"/>
            </a:endParaRPr>
          </a:p>
        </p:txBody>
      </p:sp>
      <p:sp>
        <p:nvSpPr>
          <p:cNvPr id="283" name=""/>
          <p:cNvSpPr txBox="1"/>
          <p:nvPr/>
        </p:nvSpPr>
        <p:spPr>
          <a:xfrm>
            <a:off x="5542200" y="5173200"/>
            <a:ext cx="143280" cy="166320"/>
          </a:xfrm>
          <a:prstGeom prst="rect">
            <a:avLst/>
          </a:prstGeom>
          <a:noFill/>
          <a:ln w="0">
            <a:noFill/>
          </a:ln>
        </p:spPr>
        <p:txBody>
          <a:bodyPr wrap="none" lIns="0" rIns="0" tIns="0" bIns="0" anchor="t">
            <a:spAutoFit/>
          </a:bodyPr>
          <a:p>
            <a:r>
              <a:rPr b="0" lang="en-US" sz="1130" strike="noStrike" u="none">
                <a:solidFill>
                  <a:srgbClr val="ffffff"/>
                </a:solidFill>
                <a:effectLst/>
                <a:uFillTx/>
                <a:latin typeface="MathJax_Size3"/>
                <a:ea typeface="MathJax_Size3"/>
              </a:rPr>
              <a:t>(</a:t>
            </a:r>
            <a:endParaRPr b="0" lang="en-US" sz="1130" strike="noStrike" u="none">
              <a:solidFill>
                <a:srgbClr val="000000"/>
              </a:solidFill>
              <a:effectLst/>
              <a:uFillTx/>
              <a:latin typeface="Times New Roman"/>
            </a:endParaRPr>
          </a:p>
        </p:txBody>
      </p:sp>
      <p:sp>
        <p:nvSpPr>
          <p:cNvPr id="284" name=""/>
          <p:cNvSpPr/>
          <p:nvPr/>
        </p:nvSpPr>
        <p:spPr>
          <a:xfrm>
            <a:off x="5665680" y="5264640"/>
            <a:ext cx="109080" cy="8640"/>
          </a:xfrm>
          <a:custGeom>
            <a:avLst/>
            <a:gdLst/>
            <a:ahLst/>
            <a:rect l="0" t="0" r="r" b="b"/>
            <a:pathLst>
              <a:path w="303" h="24">
                <a:moveTo>
                  <a:pt x="0" y="0"/>
                </a:moveTo>
                <a:lnTo>
                  <a:pt x="303" y="0"/>
                </a:lnTo>
                <a:lnTo>
                  <a:pt x="303" y="24"/>
                </a:lnTo>
                <a:lnTo>
                  <a:pt x="0" y="24"/>
                </a:lnTo>
                <a:lnTo>
                  <a:pt x="0" y="0"/>
                </a:lnTo>
                <a:close/>
              </a:path>
            </a:pathLst>
          </a:custGeom>
          <a:solidFill>
            <a:srgbClr val="ffffff"/>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285" name=""/>
          <p:cNvSpPr txBox="1"/>
          <p:nvPr/>
        </p:nvSpPr>
        <p:spPr>
          <a:xfrm>
            <a:off x="5685120" y="5081400"/>
            <a:ext cx="143280" cy="166320"/>
          </a:xfrm>
          <a:prstGeom prst="rect">
            <a:avLst/>
          </a:prstGeom>
          <a:noFill/>
          <a:ln w="0">
            <a:noFill/>
          </a:ln>
        </p:spPr>
        <p:txBody>
          <a:bodyPr wrap="none" lIns="0" rIns="0" tIns="0" bIns="0" anchor="t">
            <a:spAutoFit/>
          </a:bodyPr>
          <a:p>
            <a:r>
              <a:rPr b="0" lang="en-US" sz="1130" strike="noStrike" u="none">
                <a:solidFill>
                  <a:srgbClr val="ffffff"/>
                </a:solidFill>
                <a:effectLst/>
                <a:uFillTx/>
                <a:latin typeface="MathJax_Main"/>
                <a:ea typeface="MathJax_Main"/>
              </a:rPr>
              <a:t>1</a:t>
            </a:r>
            <a:endParaRPr b="0" lang="en-US" sz="1130" strike="noStrike" u="none">
              <a:solidFill>
                <a:srgbClr val="000000"/>
              </a:solidFill>
              <a:effectLst/>
              <a:uFillTx/>
              <a:latin typeface="Times New Roman"/>
            </a:endParaRPr>
          </a:p>
        </p:txBody>
      </p:sp>
      <p:sp>
        <p:nvSpPr>
          <p:cNvPr id="286" name=""/>
          <p:cNvSpPr txBox="1"/>
          <p:nvPr/>
        </p:nvSpPr>
        <p:spPr>
          <a:xfrm>
            <a:off x="5679360" y="5273640"/>
            <a:ext cx="143280" cy="166320"/>
          </a:xfrm>
          <a:prstGeom prst="rect">
            <a:avLst/>
          </a:prstGeom>
          <a:noFill/>
          <a:ln w="0">
            <a:noFill/>
          </a:ln>
        </p:spPr>
        <p:txBody>
          <a:bodyPr wrap="none" lIns="0" rIns="0" tIns="0" bIns="0" anchor="t">
            <a:spAutoFit/>
          </a:bodyPr>
          <a:p>
            <a:r>
              <a:rPr b="0" i="1" lang="en-US" sz="1130" strike="noStrike" u="none">
                <a:solidFill>
                  <a:srgbClr val="ffffff"/>
                </a:solidFill>
                <a:effectLst/>
                <a:uFillTx/>
                <a:latin typeface="MathJax_Math"/>
                <a:ea typeface="MathJax_Math"/>
              </a:rPr>
              <a:t>λ</a:t>
            </a:r>
            <a:endParaRPr b="0" lang="en-US" sz="1130" strike="noStrike" u="none">
              <a:solidFill>
                <a:srgbClr val="000000"/>
              </a:solidFill>
              <a:effectLst/>
              <a:uFillTx/>
              <a:latin typeface="Times New Roman"/>
            </a:endParaRPr>
          </a:p>
        </p:txBody>
      </p:sp>
      <p:sp>
        <p:nvSpPr>
          <p:cNvPr id="287" name=""/>
          <p:cNvSpPr txBox="1"/>
          <p:nvPr/>
        </p:nvSpPr>
        <p:spPr>
          <a:xfrm>
            <a:off x="5794560" y="5173200"/>
            <a:ext cx="143280" cy="166320"/>
          </a:xfrm>
          <a:prstGeom prst="rect">
            <a:avLst/>
          </a:prstGeom>
          <a:noFill/>
          <a:ln w="0">
            <a:noFill/>
          </a:ln>
        </p:spPr>
        <p:txBody>
          <a:bodyPr wrap="none" lIns="0" rIns="0" tIns="0" bIns="0" anchor="t">
            <a:spAutoFit/>
          </a:bodyPr>
          <a:p>
            <a:r>
              <a:rPr b="0" lang="en-US" sz="1130" strike="noStrike" u="none">
                <a:solidFill>
                  <a:srgbClr val="ffffff"/>
                </a:solidFill>
                <a:effectLst/>
                <a:uFillTx/>
                <a:latin typeface="MathJax_Size3"/>
                <a:ea typeface="MathJax_Size3"/>
              </a:rPr>
              <a:t>)</a:t>
            </a:r>
            <a:endParaRPr b="0" lang="en-US" sz="1130" strike="noStrike" u="none">
              <a:solidFill>
                <a:srgbClr val="000000"/>
              </a:solidFill>
              <a:effectLst/>
              <a:uFillTx/>
              <a:latin typeface="Times New Roman"/>
            </a:endParaRPr>
          </a:p>
        </p:txBody>
      </p:sp>
      <p:sp>
        <p:nvSpPr>
          <p:cNvPr id="288" name=""/>
          <p:cNvSpPr txBox="1"/>
          <p:nvPr/>
        </p:nvSpPr>
        <p:spPr>
          <a:xfrm>
            <a:off x="5905080" y="5045040"/>
            <a:ext cx="101160" cy="119160"/>
          </a:xfrm>
          <a:prstGeom prst="rect">
            <a:avLst/>
          </a:prstGeom>
          <a:noFill/>
          <a:ln w="0">
            <a:noFill/>
          </a:ln>
        </p:spPr>
        <p:txBody>
          <a:bodyPr wrap="none" lIns="0" rIns="0" tIns="0" bIns="0" anchor="t">
            <a:spAutoFit/>
          </a:bodyPr>
          <a:p>
            <a:r>
              <a:rPr b="0" lang="en-US" sz="800" strike="noStrike" u="none">
                <a:solidFill>
                  <a:srgbClr val="ffffff"/>
                </a:solidFill>
                <a:effectLst/>
                <a:uFillTx/>
                <a:latin typeface="MathJax_Main"/>
                <a:ea typeface="MathJax_Main"/>
              </a:rPr>
              <a:t>2</a:t>
            </a:r>
            <a:endParaRPr b="0" lang="en-US" sz="800" strike="noStrike" u="none">
              <a:solidFill>
                <a:srgbClr val="000000"/>
              </a:solidFill>
              <a:effectLst/>
              <a:uFillTx/>
              <a:latin typeface="Times New Roman"/>
            </a:endParaRPr>
          </a:p>
        </p:txBody>
      </p:sp>
      <p:sp>
        <p:nvSpPr>
          <p:cNvPr id="289" name=""/>
          <p:cNvSpPr txBox="1"/>
          <p:nvPr/>
        </p:nvSpPr>
        <p:spPr>
          <a:xfrm>
            <a:off x="5994720" y="5173200"/>
            <a:ext cx="257040" cy="166320"/>
          </a:xfrm>
          <a:prstGeom prst="rect">
            <a:avLst/>
          </a:prstGeom>
          <a:noFill/>
          <a:ln w="0">
            <a:noFill/>
          </a:ln>
        </p:spPr>
        <p:txBody>
          <a:bodyPr wrap="none" lIns="0" rIns="0" tIns="0" bIns="0" anchor="t">
            <a:spAutoFit/>
          </a:bodyPr>
          <a:p>
            <a:r>
              <a:rPr b="0" lang="en-US" sz="1130" strike="noStrike" u="none">
                <a:solidFill>
                  <a:srgbClr val="ffffff"/>
                </a:solidFill>
                <a:effectLst/>
                <a:uFillTx/>
                <a:latin typeface="MathJax_Main"/>
                <a:ea typeface="MathJax_Main"/>
              </a:rPr>
              <a:t>−</a:t>
            </a:r>
            <a:r>
              <a:rPr b="0" i="1" lang="en-US" sz="1130" strike="noStrike" u="none">
                <a:solidFill>
                  <a:srgbClr val="ffffff"/>
                </a:solidFill>
                <a:effectLst/>
                <a:uFillTx/>
                <a:latin typeface="MathJax_Math"/>
                <a:ea typeface="MathJax_Math"/>
              </a:rPr>
              <a:t> u</a:t>
            </a:r>
            <a:endParaRPr b="0" lang="en-US" sz="1130" strike="noStrike" u="none">
              <a:solidFill>
                <a:srgbClr val="000000"/>
              </a:solidFill>
              <a:effectLst/>
              <a:uFillTx/>
              <a:latin typeface="Times New Roman"/>
            </a:endParaRPr>
          </a:p>
        </p:txBody>
      </p:sp>
      <p:sp>
        <p:nvSpPr>
          <p:cNvPr id="290" name=""/>
          <p:cNvSpPr txBox="1"/>
          <p:nvPr/>
        </p:nvSpPr>
        <p:spPr>
          <a:xfrm>
            <a:off x="6225120" y="5170320"/>
            <a:ext cx="101160" cy="119160"/>
          </a:xfrm>
          <a:prstGeom prst="rect">
            <a:avLst/>
          </a:prstGeom>
          <a:noFill/>
          <a:ln w="0">
            <a:noFill/>
          </a:ln>
        </p:spPr>
        <p:txBody>
          <a:bodyPr wrap="none" lIns="0" rIns="0" tIns="0" bIns="0" anchor="t">
            <a:spAutoFit/>
          </a:bodyPr>
          <a:p>
            <a:r>
              <a:rPr b="0" lang="en-US" sz="800" strike="noStrike" u="none">
                <a:solidFill>
                  <a:srgbClr val="ffffff"/>
                </a:solidFill>
                <a:effectLst/>
                <a:uFillTx/>
                <a:latin typeface="MathJax_Main"/>
                <a:ea typeface="MathJax_Main"/>
              </a:rPr>
              <a:t>2</a:t>
            </a:r>
            <a:endParaRPr b="0" lang="en-US" sz="800" strike="noStrike" u="none">
              <a:solidFill>
                <a:srgbClr val="000000"/>
              </a:solidFill>
              <a:effectLst/>
              <a:uFillTx/>
              <a:latin typeface="Times New Roman"/>
            </a:endParaRPr>
          </a:p>
        </p:txBody>
      </p:sp>
      <p:sp>
        <p:nvSpPr>
          <p:cNvPr id="291" name=""/>
          <p:cNvSpPr txBox="1"/>
          <p:nvPr/>
        </p:nvSpPr>
        <p:spPr>
          <a:xfrm>
            <a:off x="6314760" y="5173200"/>
            <a:ext cx="250920" cy="166320"/>
          </a:xfrm>
          <a:prstGeom prst="rect">
            <a:avLst/>
          </a:prstGeom>
          <a:noFill/>
          <a:ln w="0">
            <a:noFill/>
          </a:ln>
        </p:spPr>
        <p:txBody>
          <a:bodyPr wrap="none" lIns="0" rIns="0" tIns="0" bIns="0" anchor="t">
            <a:spAutoFit/>
          </a:bodyPr>
          <a:p>
            <a:r>
              <a:rPr b="0" lang="en-US" sz="1130" strike="noStrike" u="none">
                <a:solidFill>
                  <a:srgbClr val="ffffff"/>
                </a:solidFill>
                <a:effectLst/>
                <a:uFillTx/>
                <a:latin typeface="MathJax_Main"/>
                <a:ea typeface="MathJax_Main"/>
              </a:rPr>
              <a:t>−</a:t>
            </a:r>
            <a:r>
              <a:rPr b="0" i="1" lang="en-US" sz="1130" strike="noStrike" u="none">
                <a:solidFill>
                  <a:srgbClr val="ffffff"/>
                </a:solidFill>
                <a:effectLst/>
                <a:uFillTx/>
                <a:latin typeface="MathJax_Math"/>
                <a:ea typeface="MathJax_Math"/>
              </a:rPr>
              <a:t> v</a:t>
            </a:r>
            <a:endParaRPr b="0" lang="en-US" sz="1130" strike="noStrike" u="none">
              <a:solidFill>
                <a:srgbClr val="000000"/>
              </a:solidFill>
              <a:effectLst/>
              <a:uFillTx/>
              <a:latin typeface="Times New Roman"/>
            </a:endParaRPr>
          </a:p>
        </p:txBody>
      </p:sp>
      <p:sp>
        <p:nvSpPr>
          <p:cNvPr id="292" name=""/>
          <p:cNvSpPr txBox="1"/>
          <p:nvPr/>
        </p:nvSpPr>
        <p:spPr>
          <a:xfrm>
            <a:off x="6532560" y="5170320"/>
            <a:ext cx="101160" cy="119160"/>
          </a:xfrm>
          <a:prstGeom prst="rect">
            <a:avLst/>
          </a:prstGeom>
          <a:noFill/>
          <a:ln w="0">
            <a:noFill/>
          </a:ln>
        </p:spPr>
        <p:txBody>
          <a:bodyPr wrap="none" lIns="0" rIns="0" tIns="0" bIns="0" anchor="t">
            <a:spAutoFit/>
          </a:bodyPr>
          <a:p>
            <a:r>
              <a:rPr b="0" lang="en-US" sz="800" strike="noStrike" u="none">
                <a:solidFill>
                  <a:srgbClr val="ffffff"/>
                </a:solidFill>
                <a:effectLst/>
                <a:uFillTx/>
                <a:latin typeface="MathJax_Main"/>
                <a:ea typeface="MathJax_Main"/>
              </a:rPr>
              <a:t>2</a:t>
            </a:r>
            <a:endParaRPr b="0" lang="en-US" sz="800" strike="noStrike" u="none">
              <a:solidFill>
                <a:srgbClr val="000000"/>
              </a:solidFill>
              <a:effectLst/>
              <a:uFillTx/>
              <a:latin typeface="Times New Roman"/>
            </a:endParaRPr>
          </a:p>
        </p:txBody>
      </p:sp>
      <p:sp>
        <p:nvSpPr>
          <p:cNvPr id="293" name=""/>
          <p:cNvSpPr txBox="1"/>
          <p:nvPr/>
        </p:nvSpPr>
        <p:spPr>
          <a:xfrm>
            <a:off x="6590520" y="5047920"/>
            <a:ext cx="143280" cy="166320"/>
          </a:xfrm>
          <a:prstGeom prst="rect">
            <a:avLst/>
          </a:prstGeom>
          <a:noFill/>
          <a:ln w="0">
            <a:noFill/>
          </a:ln>
        </p:spPr>
        <p:txBody>
          <a:bodyPr wrap="none" lIns="0" rIns="0" tIns="0" bIns="0" anchor="t">
            <a:spAutoFit/>
          </a:bodyPr>
          <a:p>
            <a:r>
              <a:rPr b="0" lang="en-US" sz="1130" strike="noStrike" u="none">
                <a:solidFill>
                  <a:srgbClr val="ffffff"/>
                </a:solidFill>
                <a:effectLst/>
                <a:uFillTx/>
                <a:latin typeface="MathJax_Size4"/>
                <a:ea typeface="MathJax_Size4"/>
              </a:rPr>
              <a:t>⎤</a:t>
            </a:r>
            <a:endParaRPr b="0" lang="en-US" sz="1130" strike="noStrike" u="none">
              <a:solidFill>
                <a:srgbClr val="000000"/>
              </a:solidFill>
              <a:effectLst/>
              <a:uFillTx/>
              <a:latin typeface="Times New Roman"/>
            </a:endParaRPr>
          </a:p>
        </p:txBody>
      </p:sp>
      <p:sp>
        <p:nvSpPr>
          <p:cNvPr id="294" name=""/>
          <p:cNvSpPr txBox="1"/>
          <p:nvPr/>
        </p:nvSpPr>
        <p:spPr>
          <a:xfrm>
            <a:off x="6590520" y="5298480"/>
            <a:ext cx="143280" cy="166320"/>
          </a:xfrm>
          <a:prstGeom prst="rect">
            <a:avLst/>
          </a:prstGeom>
          <a:noFill/>
          <a:ln w="0">
            <a:noFill/>
          </a:ln>
        </p:spPr>
        <p:txBody>
          <a:bodyPr wrap="none" lIns="0" rIns="0" tIns="0" bIns="0" anchor="t">
            <a:spAutoFit/>
          </a:bodyPr>
          <a:p>
            <a:r>
              <a:rPr b="0" lang="en-US" sz="1130" strike="noStrike" u="none">
                <a:solidFill>
                  <a:srgbClr val="ffffff"/>
                </a:solidFill>
                <a:effectLst/>
                <a:uFillTx/>
                <a:latin typeface="MathJax_Size4"/>
                <a:ea typeface="MathJax_Size4"/>
              </a:rPr>
              <a:t>⎦</a:t>
            </a:r>
            <a:endParaRPr b="0" lang="en-US" sz="1130" strike="noStrike" u="none">
              <a:solidFill>
                <a:srgbClr val="000000"/>
              </a:solidFill>
              <a:effectLst/>
              <a:uFillTx/>
              <a:latin typeface="Times New Roman"/>
            </a:endParaRPr>
          </a:p>
        </p:txBody>
      </p:sp>
      <p:sp>
        <p:nvSpPr>
          <p:cNvPr id="295" name=""/>
          <p:cNvSpPr txBox="1"/>
          <p:nvPr/>
        </p:nvSpPr>
        <p:spPr>
          <a:xfrm>
            <a:off x="7220160" y="4797000"/>
            <a:ext cx="925920" cy="166320"/>
          </a:xfrm>
          <a:prstGeom prst="rect">
            <a:avLst/>
          </a:prstGeom>
          <a:noFill/>
          <a:ln w="0">
            <a:noFill/>
          </a:ln>
        </p:spPr>
        <p:txBody>
          <a:bodyPr wrap="none" lIns="0" rIns="0" tIns="0" bIns="0" anchor="t">
            <a:spAutoFit/>
          </a:bodyPr>
          <a:p>
            <a:r>
              <a:rPr b="0" i="1" lang="en-US" sz="1130" strike="noStrike" u="none">
                <a:solidFill>
                  <a:srgbClr val="ffffff"/>
                </a:solidFill>
                <a:effectLst/>
                <a:uFillTx/>
                <a:latin typeface="MathJax_Math"/>
                <a:ea typeface="MathJax_Math"/>
              </a:rPr>
              <a:t>g</a:t>
            </a:r>
            <a:r>
              <a:rPr b="0" lang="en-US" sz="1130" strike="noStrike" u="none">
                <a:solidFill>
                  <a:srgbClr val="ffffff"/>
                </a:solidFill>
                <a:effectLst/>
                <a:uFillTx/>
                <a:latin typeface="MathJax_Main"/>
                <a:ea typeface="MathJax_Main"/>
              </a:rPr>
              <a:t>(</a:t>
            </a:r>
            <a:r>
              <a:rPr b="0" i="1" lang="en-US" sz="1130" strike="noStrike" u="none">
                <a:solidFill>
                  <a:srgbClr val="ffffff"/>
                </a:solidFill>
                <a:effectLst/>
                <a:uFillTx/>
                <a:latin typeface="MathJax_Math"/>
                <a:ea typeface="MathJax_Math"/>
              </a:rPr>
              <a:t>x</a:t>
            </a:r>
            <a:r>
              <a:rPr b="0" lang="en-US" sz="1130" strike="noStrike" u="none">
                <a:solidFill>
                  <a:srgbClr val="ffffff"/>
                </a:solidFill>
                <a:effectLst/>
                <a:uFillTx/>
                <a:latin typeface="MathJax_Main"/>
                <a:ea typeface="MathJax_Main"/>
              </a:rPr>
              <a:t>,</a:t>
            </a:r>
            <a:r>
              <a:rPr b="0" i="1" lang="en-US" sz="1130" strike="noStrike" u="none">
                <a:solidFill>
                  <a:srgbClr val="ffffff"/>
                </a:solidFill>
                <a:effectLst/>
                <a:uFillTx/>
                <a:latin typeface="MathJax_Math"/>
                <a:ea typeface="MathJax_Math"/>
              </a:rPr>
              <a:t> y</a:t>
            </a:r>
            <a:r>
              <a:rPr b="0" lang="en-US" sz="1130" strike="noStrike" u="none">
                <a:solidFill>
                  <a:srgbClr val="ffffff"/>
                </a:solidFill>
                <a:effectLst/>
                <a:uFillTx/>
                <a:latin typeface="MathJax_Main"/>
                <a:ea typeface="MathJax_Main"/>
              </a:rPr>
              <a:t>;</a:t>
            </a:r>
            <a:r>
              <a:rPr b="0" i="1" lang="en-US" sz="1130" strike="noStrike" u="none">
                <a:solidFill>
                  <a:srgbClr val="ffffff"/>
                </a:solidFill>
                <a:effectLst/>
                <a:uFillTx/>
                <a:latin typeface="MathJax_Math"/>
                <a:ea typeface="MathJax_Math"/>
              </a:rPr>
              <a:t> z</a:t>
            </a:r>
            <a:r>
              <a:rPr b="0" lang="en-US" sz="1130" strike="noStrike" u="none">
                <a:solidFill>
                  <a:srgbClr val="ffffff"/>
                </a:solidFill>
                <a:effectLst/>
                <a:uFillTx/>
                <a:latin typeface="MathJax_Main"/>
                <a:ea typeface="MathJax_Main"/>
              </a:rPr>
              <a:t>) =</a:t>
            </a:r>
            <a:r>
              <a:rPr b="0" lang="en-US" sz="1130" strike="noStrike" u="none">
                <a:solidFill>
                  <a:srgbClr val="ffffff"/>
                </a:solidFill>
                <a:effectLst/>
                <a:uFillTx/>
                <a:latin typeface="MathJax_Calligraphic"/>
                <a:ea typeface="MathJax_Calligraphic"/>
              </a:rPr>
              <a:t> F</a:t>
            </a:r>
            <a:endParaRPr b="0" lang="en-US" sz="1130" strike="noStrike" u="none">
              <a:solidFill>
                <a:srgbClr val="000000"/>
              </a:solidFill>
              <a:effectLst/>
              <a:uFillTx/>
              <a:latin typeface="Times New Roman"/>
            </a:endParaRPr>
          </a:p>
        </p:txBody>
      </p:sp>
      <p:sp>
        <p:nvSpPr>
          <p:cNvPr id="296" name=""/>
          <p:cNvSpPr txBox="1"/>
          <p:nvPr/>
        </p:nvSpPr>
        <p:spPr>
          <a:xfrm>
            <a:off x="8070120" y="4777560"/>
            <a:ext cx="151200" cy="119160"/>
          </a:xfrm>
          <a:prstGeom prst="rect">
            <a:avLst/>
          </a:prstGeom>
          <a:noFill/>
          <a:ln w="0">
            <a:noFill/>
          </a:ln>
        </p:spPr>
        <p:txBody>
          <a:bodyPr wrap="none" lIns="0" rIns="0" tIns="0" bIns="0" anchor="t">
            <a:spAutoFit/>
          </a:bodyPr>
          <a:p>
            <a:r>
              <a:rPr b="0" lang="en-US" sz="800" strike="noStrike" u="none">
                <a:solidFill>
                  <a:srgbClr val="ffffff"/>
                </a:solidFill>
                <a:effectLst/>
                <a:uFillTx/>
                <a:latin typeface="MathJax_Main"/>
                <a:ea typeface="MathJax_Main"/>
              </a:rPr>
              <a:t>−1</a:t>
            </a:r>
            <a:endParaRPr b="0" lang="en-US" sz="800" strike="noStrike" u="none">
              <a:solidFill>
                <a:srgbClr val="000000"/>
              </a:solidFill>
              <a:effectLst/>
              <a:uFillTx/>
              <a:latin typeface="Times New Roman"/>
            </a:endParaRPr>
          </a:p>
        </p:txBody>
      </p:sp>
      <p:sp>
        <p:nvSpPr>
          <p:cNvPr id="297" name=""/>
          <p:cNvSpPr txBox="1"/>
          <p:nvPr/>
        </p:nvSpPr>
        <p:spPr>
          <a:xfrm>
            <a:off x="8206920" y="4797000"/>
            <a:ext cx="1164600" cy="166320"/>
          </a:xfrm>
          <a:prstGeom prst="rect">
            <a:avLst/>
          </a:prstGeom>
          <a:noFill/>
          <a:ln w="0">
            <a:noFill/>
          </a:ln>
        </p:spPr>
        <p:txBody>
          <a:bodyPr wrap="none" lIns="0" rIns="0" tIns="0" bIns="0" anchor="t">
            <a:spAutoFit/>
          </a:bodyPr>
          <a:p>
            <a:r>
              <a:rPr b="0" lang="en-US" sz="1130" strike="noStrike" u="none">
                <a:solidFill>
                  <a:srgbClr val="ffffff"/>
                </a:solidFill>
                <a:effectLst/>
                <a:uFillTx/>
                <a:latin typeface="MathJax_Main"/>
                <a:ea typeface="MathJax_Main"/>
              </a:rPr>
              <a:t>{</a:t>
            </a:r>
            <a:r>
              <a:rPr b="0" i="1" lang="en-US" sz="1130" strike="noStrike" u="none">
                <a:solidFill>
                  <a:srgbClr val="ffffff"/>
                </a:solidFill>
                <a:effectLst/>
                <a:uFillTx/>
                <a:latin typeface="MathJax_Math"/>
                <a:ea typeface="MathJax_Math"/>
              </a:rPr>
              <a:t>G</a:t>
            </a:r>
            <a:r>
              <a:rPr b="0" lang="en-US" sz="1130" strike="noStrike" u="none">
                <a:solidFill>
                  <a:srgbClr val="ffffff"/>
                </a:solidFill>
                <a:effectLst/>
                <a:uFillTx/>
                <a:latin typeface="MathJax_Main"/>
                <a:ea typeface="MathJax_Main"/>
              </a:rPr>
              <a:t>(</a:t>
            </a:r>
            <a:r>
              <a:rPr b="0" i="1" lang="en-US" sz="1130" strike="noStrike" u="none">
                <a:solidFill>
                  <a:srgbClr val="ffffff"/>
                </a:solidFill>
                <a:effectLst/>
                <a:uFillTx/>
                <a:latin typeface="MathJax_Math"/>
                <a:ea typeface="MathJax_Math"/>
              </a:rPr>
              <a:t>u</a:t>
            </a:r>
            <a:r>
              <a:rPr b="0" lang="en-US" sz="1130" strike="noStrike" u="none">
                <a:solidFill>
                  <a:srgbClr val="ffffff"/>
                </a:solidFill>
                <a:effectLst/>
                <a:uFillTx/>
                <a:latin typeface="MathJax_Main"/>
                <a:ea typeface="MathJax_Main"/>
              </a:rPr>
              <a:t>,</a:t>
            </a:r>
            <a:r>
              <a:rPr b="0" i="1" lang="en-US" sz="1130" strike="noStrike" u="none">
                <a:solidFill>
                  <a:srgbClr val="ffffff"/>
                </a:solidFill>
                <a:effectLst/>
                <a:uFillTx/>
                <a:latin typeface="MathJax_Math"/>
                <a:ea typeface="MathJax_Math"/>
              </a:rPr>
              <a:t> v</a:t>
            </a:r>
            <a:r>
              <a:rPr b="0" lang="en-US" sz="1130" strike="noStrike" u="none">
                <a:solidFill>
                  <a:srgbClr val="ffffff"/>
                </a:solidFill>
                <a:effectLst/>
                <a:uFillTx/>
                <a:latin typeface="MathJax_Main"/>
                <a:ea typeface="MathJax_Main"/>
              </a:rPr>
              <a:t>;</a:t>
            </a:r>
            <a:r>
              <a:rPr b="0" i="1" lang="en-US" sz="1130" strike="noStrike" u="none">
                <a:solidFill>
                  <a:srgbClr val="ffffff"/>
                </a:solidFill>
                <a:effectLst/>
                <a:uFillTx/>
                <a:latin typeface="MathJax_Math"/>
                <a:ea typeface="MathJax_Math"/>
              </a:rPr>
              <a:t> z</a:t>
            </a:r>
            <a:r>
              <a:rPr b="0" lang="en-US" sz="1130" strike="noStrike" u="none">
                <a:solidFill>
                  <a:srgbClr val="ffffff"/>
                </a:solidFill>
                <a:effectLst/>
                <a:uFillTx/>
                <a:latin typeface="MathJax_Main"/>
                <a:ea typeface="MathJax_Main"/>
              </a:rPr>
              <a:t>)} =</a:t>
            </a:r>
            <a:r>
              <a:rPr b="0" lang="en-US" sz="1130" strike="noStrike" u="none">
                <a:solidFill>
                  <a:srgbClr val="ffffff"/>
                </a:solidFill>
                <a:effectLst/>
                <a:uFillTx/>
                <a:latin typeface="MathJax_Size2"/>
                <a:ea typeface="MathJax_Size2"/>
              </a:rPr>
              <a:t> ∬</a:t>
            </a:r>
            <a:endParaRPr b="0" lang="en-US" sz="1130" strike="noStrike" u="none">
              <a:solidFill>
                <a:srgbClr val="000000"/>
              </a:solidFill>
              <a:effectLst/>
              <a:uFillTx/>
              <a:latin typeface="Times New Roman"/>
            </a:endParaRPr>
          </a:p>
        </p:txBody>
      </p:sp>
      <p:sp>
        <p:nvSpPr>
          <p:cNvPr id="298" name=""/>
          <p:cNvSpPr txBox="1"/>
          <p:nvPr/>
        </p:nvSpPr>
        <p:spPr>
          <a:xfrm>
            <a:off x="9338760" y="4677480"/>
            <a:ext cx="101160" cy="119160"/>
          </a:xfrm>
          <a:prstGeom prst="rect">
            <a:avLst/>
          </a:prstGeom>
          <a:noFill/>
          <a:ln w="0">
            <a:noFill/>
          </a:ln>
        </p:spPr>
        <p:txBody>
          <a:bodyPr wrap="none" lIns="0" rIns="0" tIns="0" bIns="0" anchor="t">
            <a:spAutoFit/>
          </a:bodyPr>
          <a:p>
            <a:r>
              <a:rPr b="0" lang="en-US" sz="800" strike="noStrike" u="none">
                <a:solidFill>
                  <a:srgbClr val="ffffff"/>
                </a:solidFill>
                <a:effectLst/>
                <a:uFillTx/>
                <a:latin typeface="MathJax_Main"/>
                <a:ea typeface="MathJax_Main"/>
              </a:rPr>
              <a:t>∞</a:t>
            </a:r>
            <a:endParaRPr b="0" lang="en-US" sz="800" strike="noStrike" u="none">
              <a:solidFill>
                <a:srgbClr val="000000"/>
              </a:solidFill>
              <a:effectLst/>
              <a:uFillTx/>
              <a:latin typeface="Times New Roman"/>
            </a:endParaRPr>
          </a:p>
        </p:txBody>
      </p:sp>
      <p:sp>
        <p:nvSpPr>
          <p:cNvPr id="299" name=""/>
          <p:cNvSpPr txBox="1"/>
          <p:nvPr/>
        </p:nvSpPr>
        <p:spPr>
          <a:xfrm>
            <a:off x="9273240" y="4961520"/>
            <a:ext cx="171360" cy="119160"/>
          </a:xfrm>
          <a:prstGeom prst="rect">
            <a:avLst/>
          </a:prstGeom>
          <a:noFill/>
          <a:ln w="0">
            <a:noFill/>
          </a:ln>
        </p:spPr>
        <p:txBody>
          <a:bodyPr wrap="none" lIns="0" rIns="0" tIns="0" bIns="0" anchor="t">
            <a:spAutoFit/>
          </a:bodyPr>
          <a:p>
            <a:r>
              <a:rPr b="0" lang="en-US" sz="800" strike="noStrike" u="none">
                <a:solidFill>
                  <a:srgbClr val="ffffff"/>
                </a:solidFill>
                <a:effectLst/>
                <a:uFillTx/>
                <a:latin typeface="MathJax_Main"/>
                <a:ea typeface="MathJax_Main"/>
              </a:rPr>
              <a:t>−∞</a:t>
            </a:r>
            <a:endParaRPr b="0" lang="en-US" sz="800" strike="noStrike" u="none">
              <a:solidFill>
                <a:srgbClr val="000000"/>
              </a:solidFill>
              <a:effectLst/>
              <a:uFillTx/>
              <a:latin typeface="Times New Roman"/>
            </a:endParaRPr>
          </a:p>
        </p:txBody>
      </p:sp>
      <p:sp>
        <p:nvSpPr>
          <p:cNvPr id="300" name=""/>
          <p:cNvSpPr txBox="1"/>
          <p:nvPr/>
        </p:nvSpPr>
        <p:spPr>
          <a:xfrm>
            <a:off x="9484560" y="4797000"/>
            <a:ext cx="746640" cy="166320"/>
          </a:xfrm>
          <a:prstGeom prst="rect">
            <a:avLst/>
          </a:prstGeom>
          <a:noFill/>
          <a:ln w="0">
            <a:noFill/>
          </a:ln>
        </p:spPr>
        <p:txBody>
          <a:bodyPr wrap="none" lIns="0" rIns="0" tIns="0" bIns="0" anchor="t">
            <a:spAutoFit/>
          </a:bodyPr>
          <a:p>
            <a:r>
              <a:rPr b="0" i="1" lang="en-US" sz="1130" strike="noStrike" u="none">
                <a:solidFill>
                  <a:srgbClr val="ffffff"/>
                </a:solidFill>
                <a:effectLst/>
                <a:uFillTx/>
                <a:latin typeface="MathJax_Math"/>
                <a:ea typeface="MathJax_Math"/>
              </a:rPr>
              <a:t>G</a:t>
            </a:r>
            <a:r>
              <a:rPr b="0" lang="en-US" sz="1130" strike="noStrike" u="none">
                <a:solidFill>
                  <a:srgbClr val="ffffff"/>
                </a:solidFill>
                <a:effectLst/>
                <a:uFillTx/>
                <a:latin typeface="MathJax_Main"/>
                <a:ea typeface="MathJax_Main"/>
              </a:rPr>
              <a:t>(</a:t>
            </a:r>
            <a:r>
              <a:rPr b="0" i="1" lang="en-US" sz="1130" strike="noStrike" u="none">
                <a:solidFill>
                  <a:srgbClr val="ffffff"/>
                </a:solidFill>
                <a:effectLst/>
                <a:uFillTx/>
                <a:latin typeface="MathJax_Math"/>
                <a:ea typeface="MathJax_Math"/>
              </a:rPr>
              <a:t>u</a:t>
            </a:r>
            <a:r>
              <a:rPr b="0" lang="en-US" sz="1130" strike="noStrike" u="none">
                <a:solidFill>
                  <a:srgbClr val="ffffff"/>
                </a:solidFill>
                <a:effectLst/>
                <a:uFillTx/>
                <a:latin typeface="MathJax_Main"/>
                <a:ea typeface="MathJax_Main"/>
              </a:rPr>
              <a:t>,</a:t>
            </a:r>
            <a:r>
              <a:rPr b="0" i="1" lang="en-US" sz="1130" strike="noStrike" u="none">
                <a:solidFill>
                  <a:srgbClr val="ffffff"/>
                </a:solidFill>
                <a:effectLst/>
                <a:uFillTx/>
                <a:latin typeface="MathJax_Math"/>
                <a:ea typeface="MathJax_Math"/>
              </a:rPr>
              <a:t> v</a:t>
            </a:r>
            <a:r>
              <a:rPr b="0" lang="en-US" sz="1130" strike="noStrike" u="none">
                <a:solidFill>
                  <a:srgbClr val="ffffff"/>
                </a:solidFill>
                <a:effectLst/>
                <a:uFillTx/>
                <a:latin typeface="MathJax_Main"/>
                <a:ea typeface="MathJax_Main"/>
              </a:rPr>
              <a:t>;</a:t>
            </a:r>
            <a:r>
              <a:rPr b="0" i="1" lang="en-US" sz="1130" strike="noStrike" u="none">
                <a:solidFill>
                  <a:srgbClr val="ffffff"/>
                </a:solidFill>
                <a:effectLst/>
                <a:uFillTx/>
                <a:latin typeface="MathJax_Math"/>
                <a:ea typeface="MathJax_Math"/>
              </a:rPr>
              <a:t> z</a:t>
            </a:r>
            <a:r>
              <a:rPr b="0" lang="en-US" sz="1130" strike="noStrike" u="none">
                <a:solidFill>
                  <a:srgbClr val="ffffff"/>
                </a:solidFill>
                <a:effectLst/>
                <a:uFillTx/>
                <a:latin typeface="MathJax_Main"/>
                <a:ea typeface="MathJax_Main"/>
              </a:rPr>
              <a:t>)</a:t>
            </a:r>
            <a:r>
              <a:rPr b="0" i="1" lang="en-US" sz="1130" strike="noStrike" u="none">
                <a:solidFill>
                  <a:srgbClr val="ffffff"/>
                </a:solidFill>
                <a:effectLst/>
                <a:uFillTx/>
                <a:latin typeface="MathJax_Math"/>
                <a:ea typeface="MathJax_Math"/>
              </a:rPr>
              <a:t>e</a:t>
            </a:r>
            <a:endParaRPr b="0" lang="en-US" sz="1130" strike="noStrike" u="none">
              <a:solidFill>
                <a:srgbClr val="000000"/>
              </a:solidFill>
              <a:effectLst/>
              <a:uFillTx/>
              <a:latin typeface="Times New Roman"/>
            </a:endParaRPr>
          </a:p>
        </p:txBody>
      </p:sp>
      <p:sp>
        <p:nvSpPr>
          <p:cNvPr id="301" name=""/>
          <p:cNvSpPr txBox="1"/>
          <p:nvPr/>
        </p:nvSpPr>
        <p:spPr>
          <a:xfrm>
            <a:off x="10126800" y="4777560"/>
            <a:ext cx="567360" cy="119160"/>
          </a:xfrm>
          <a:prstGeom prst="rect">
            <a:avLst/>
          </a:prstGeom>
          <a:noFill/>
          <a:ln w="0">
            <a:noFill/>
          </a:ln>
        </p:spPr>
        <p:txBody>
          <a:bodyPr wrap="none" lIns="0" rIns="0" tIns="0" bIns="0" anchor="t">
            <a:spAutoFit/>
          </a:bodyPr>
          <a:p>
            <a:r>
              <a:rPr b="0" i="1" lang="en-US" sz="800" strike="noStrike" u="none">
                <a:solidFill>
                  <a:srgbClr val="ffffff"/>
                </a:solidFill>
                <a:effectLst/>
                <a:uFillTx/>
                <a:latin typeface="MathJax_Math"/>
                <a:ea typeface="MathJax_Math"/>
              </a:rPr>
              <a:t>i</a:t>
            </a:r>
            <a:r>
              <a:rPr b="0" lang="en-US" sz="800" strike="noStrike" u="none">
                <a:solidFill>
                  <a:srgbClr val="ffffff"/>
                </a:solidFill>
                <a:effectLst/>
                <a:uFillTx/>
                <a:latin typeface="MathJax_Main"/>
                <a:ea typeface="MathJax_Main"/>
              </a:rPr>
              <a:t>2</a:t>
            </a:r>
            <a:r>
              <a:rPr b="0" i="1" lang="en-US" sz="800" strike="noStrike" u="none">
                <a:solidFill>
                  <a:srgbClr val="ffffff"/>
                </a:solidFill>
                <a:effectLst/>
                <a:uFillTx/>
                <a:latin typeface="MathJax_Math"/>
                <a:ea typeface="MathJax_Math"/>
              </a:rPr>
              <a:t>π</a:t>
            </a:r>
            <a:r>
              <a:rPr b="0" lang="en-US" sz="800" strike="noStrike" u="none">
                <a:solidFill>
                  <a:srgbClr val="ffffff"/>
                </a:solidFill>
                <a:effectLst/>
                <a:uFillTx/>
                <a:latin typeface="MathJax_Main"/>
                <a:ea typeface="MathJax_Main"/>
              </a:rPr>
              <a:t>(</a:t>
            </a:r>
            <a:r>
              <a:rPr b="0" i="1" lang="en-US" sz="800" strike="noStrike" u="none">
                <a:solidFill>
                  <a:srgbClr val="ffffff"/>
                </a:solidFill>
                <a:effectLst/>
                <a:uFillTx/>
                <a:latin typeface="MathJax_Math"/>
                <a:ea typeface="MathJax_Math"/>
              </a:rPr>
              <a:t>ux</a:t>
            </a:r>
            <a:r>
              <a:rPr b="0" lang="en-US" sz="800" strike="noStrike" u="none">
                <a:solidFill>
                  <a:srgbClr val="ffffff"/>
                </a:solidFill>
                <a:effectLst/>
                <a:uFillTx/>
                <a:latin typeface="MathJax_Main"/>
                <a:ea typeface="MathJax_Main"/>
              </a:rPr>
              <a:t>+</a:t>
            </a:r>
            <a:r>
              <a:rPr b="0" i="1" lang="en-US" sz="800" strike="noStrike" u="none">
                <a:solidFill>
                  <a:srgbClr val="ffffff"/>
                </a:solidFill>
                <a:effectLst/>
                <a:uFillTx/>
                <a:latin typeface="MathJax_Math"/>
                <a:ea typeface="MathJax_Math"/>
              </a:rPr>
              <a:t>vy</a:t>
            </a:r>
            <a:r>
              <a:rPr b="0" lang="en-US" sz="800" strike="noStrike" u="none">
                <a:solidFill>
                  <a:srgbClr val="ffffff"/>
                </a:solidFill>
                <a:effectLst/>
                <a:uFillTx/>
                <a:latin typeface="MathJax_Main"/>
                <a:ea typeface="MathJax_Main"/>
              </a:rPr>
              <a:t>)</a:t>
            </a:r>
            <a:endParaRPr b="0" lang="en-US" sz="800" strike="noStrike" u="none">
              <a:solidFill>
                <a:srgbClr val="000000"/>
              </a:solidFill>
              <a:effectLst/>
              <a:uFillTx/>
              <a:latin typeface="Times New Roman"/>
            </a:endParaRPr>
          </a:p>
        </p:txBody>
      </p:sp>
      <p:sp>
        <p:nvSpPr>
          <p:cNvPr id="302" name=""/>
          <p:cNvSpPr txBox="1"/>
          <p:nvPr/>
        </p:nvSpPr>
        <p:spPr>
          <a:xfrm>
            <a:off x="10650240" y="4797000"/>
            <a:ext cx="143280" cy="166320"/>
          </a:xfrm>
          <a:prstGeom prst="rect">
            <a:avLst/>
          </a:prstGeom>
          <a:noFill/>
          <a:ln w="0">
            <a:noFill/>
          </a:ln>
        </p:spPr>
        <p:txBody>
          <a:bodyPr wrap="none" lIns="0" rIns="0" tIns="0" bIns="0" anchor="t">
            <a:spAutoFit/>
          </a:bodyPr>
          <a:p>
            <a:r>
              <a:rPr b="0" i="1" lang="en-US" sz="1130" strike="noStrike" u="none">
                <a:solidFill>
                  <a:srgbClr val="ffffff"/>
                </a:solidFill>
                <a:effectLst/>
                <a:uFillTx/>
                <a:latin typeface="MathJax_Math"/>
                <a:ea typeface="MathJax_Math"/>
              </a:rPr>
              <a:t>d</a:t>
            </a:r>
            <a:endParaRPr b="0" lang="en-US" sz="1130" strike="noStrike" u="none">
              <a:solidFill>
                <a:srgbClr val="000000"/>
              </a:solidFill>
              <a:effectLst/>
              <a:uFillTx/>
              <a:latin typeface="Times New Roman"/>
            </a:endParaRPr>
          </a:p>
        </p:txBody>
      </p:sp>
      <p:sp>
        <p:nvSpPr>
          <p:cNvPr id="303" name=""/>
          <p:cNvSpPr txBox="1"/>
          <p:nvPr/>
        </p:nvSpPr>
        <p:spPr>
          <a:xfrm>
            <a:off x="10203480" y="5741280"/>
            <a:ext cx="338760" cy="136080"/>
          </a:xfrm>
          <a:prstGeom prst="rect">
            <a:avLst/>
          </a:prstGeom>
          <a:noFill/>
          <a:ln w="0">
            <a:noFill/>
          </a:ln>
        </p:spPr>
        <p:txBody>
          <a:bodyPr wrap="none" lIns="0" rIns="0" tIns="0" bIns="0" anchor="t">
            <a:spAutoFit/>
          </a:bodyPr>
          <a:p>
            <a:r>
              <a:rPr b="0" lang="en-US" sz="920" strike="noStrike" u="none">
                <a:solidFill>
                  <a:srgbClr val="a7c6d9"/>
                </a:solidFill>
                <a:effectLst/>
                <a:uFillTx/>
                <a:latin typeface="NotoSansJP"/>
                <a:ea typeface="NotoSansJP"/>
              </a:rPr>
              <a:t>5 / 13</a:t>
            </a:r>
            <a:endParaRPr b="0" lang="en-US" sz="920" strike="noStrike" u="non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4" name=""/>
          <p:cNvSpPr/>
          <p:nvPr/>
        </p:nvSpPr>
        <p:spPr>
          <a:xfrm>
            <a:off x="0" y="0"/>
            <a:ext cx="10696680" cy="6017040"/>
          </a:xfrm>
          <a:custGeom>
            <a:avLst/>
            <a:gdLst/>
            <a:ahLst/>
            <a:rect l="0" t="0" r="r" b="b"/>
            <a:pathLst>
              <a:path w="29713" h="16714">
                <a:moveTo>
                  <a:pt x="0" y="0"/>
                </a:moveTo>
                <a:lnTo>
                  <a:pt x="29713" y="0"/>
                </a:lnTo>
                <a:lnTo>
                  <a:pt x="29713" y="16714"/>
                </a:lnTo>
                <a:lnTo>
                  <a:pt x="0" y="16714"/>
                </a:lnTo>
                <a:lnTo>
                  <a:pt x="0" y="0"/>
                </a:lnTo>
                <a:close/>
              </a:path>
            </a:pathLst>
          </a:custGeom>
          <a:solidFill>
            <a:srgbClr val="1c3d5a"/>
          </a:solidFill>
          <a:ln w="0">
            <a:noFill/>
          </a:ln>
        </p:spPr>
        <p:txBody>
          <a:bodyPr lIns="0" rIns="0" tIns="0" bIns="0" anchor="t">
            <a:noAutofit/>
          </a:bodyPr>
          <a:p>
            <a:endParaRPr b="0" lang="en-US" sz="2400" strike="noStrike" u="none">
              <a:solidFill>
                <a:srgbClr val="ffffff"/>
              </a:solidFill>
              <a:effectLst/>
              <a:uFillTx/>
              <a:latin typeface="Times New Roman"/>
            </a:endParaRPr>
          </a:p>
        </p:txBody>
      </p:sp>
      <p:pic>
        <p:nvPicPr>
          <p:cNvPr id="305" name="" descr=""/>
          <p:cNvPicPr/>
          <p:nvPr/>
        </p:nvPicPr>
        <p:blipFill>
          <a:blip r:embed="rId1"/>
          <a:stretch/>
        </p:blipFill>
        <p:spPr>
          <a:xfrm>
            <a:off x="0" y="0"/>
            <a:ext cx="10696320" cy="6016320"/>
          </a:xfrm>
          <a:prstGeom prst="rect">
            <a:avLst/>
          </a:prstGeom>
          <a:noFill/>
          <a:ln w="0">
            <a:noFill/>
          </a:ln>
        </p:spPr>
      </p:pic>
      <p:sp>
        <p:nvSpPr>
          <p:cNvPr id="306" name=""/>
          <p:cNvSpPr/>
          <p:nvPr/>
        </p:nvSpPr>
        <p:spPr>
          <a:xfrm>
            <a:off x="534600" y="601560"/>
            <a:ext cx="1069920" cy="33840"/>
          </a:xfrm>
          <a:custGeom>
            <a:avLst/>
            <a:gdLst/>
            <a:ahLst/>
            <a:rect l="0" t="0" r="r" b="b"/>
            <a:pathLst>
              <a:path w="2972" h="94">
                <a:moveTo>
                  <a:pt x="0" y="0"/>
                </a:moveTo>
                <a:lnTo>
                  <a:pt x="2972" y="0"/>
                </a:lnTo>
                <a:lnTo>
                  <a:pt x="2972" y="94"/>
                </a:lnTo>
                <a:lnTo>
                  <a:pt x="0" y="94"/>
                </a:lnTo>
                <a:lnTo>
                  <a:pt x="0" y="0"/>
                </a:lnTo>
                <a:close/>
              </a:path>
            </a:pathLst>
          </a:custGeom>
          <a:solidFill>
            <a:srgbClr val="ff8c00"/>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307" name=""/>
          <p:cNvSpPr/>
          <p:nvPr/>
        </p:nvSpPr>
        <p:spPr>
          <a:xfrm>
            <a:off x="534600" y="935640"/>
            <a:ext cx="9627480" cy="2415600"/>
          </a:xfrm>
          <a:custGeom>
            <a:avLst/>
            <a:gdLst/>
            <a:ahLst/>
            <a:rect l="0" t="0" r="r" b="b"/>
            <a:pathLst>
              <a:path w="26743" h="6710">
                <a:moveTo>
                  <a:pt x="0" y="6524"/>
                </a:moveTo>
                <a:lnTo>
                  <a:pt x="0" y="186"/>
                </a:lnTo>
                <a:cubicBezTo>
                  <a:pt x="0" y="174"/>
                  <a:pt x="1" y="162"/>
                  <a:pt x="4" y="150"/>
                </a:cubicBezTo>
                <a:cubicBezTo>
                  <a:pt x="6" y="138"/>
                  <a:pt x="10" y="126"/>
                  <a:pt x="14" y="115"/>
                </a:cubicBezTo>
                <a:cubicBezTo>
                  <a:pt x="19" y="104"/>
                  <a:pt x="25" y="93"/>
                  <a:pt x="31" y="83"/>
                </a:cubicBezTo>
                <a:cubicBezTo>
                  <a:pt x="38" y="73"/>
                  <a:pt x="46" y="63"/>
                  <a:pt x="55" y="55"/>
                </a:cubicBezTo>
                <a:cubicBezTo>
                  <a:pt x="63" y="46"/>
                  <a:pt x="73" y="38"/>
                  <a:pt x="83" y="32"/>
                </a:cubicBezTo>
                <a:cubicBezTo>
                  <a:pt x="93" y="25"/>
                  <a:pt x="104" y="19"/>
                  <a:pt x="115" y="14"/>
                </a:cubicBezTo>
                <a:cubicBezTo>
                  <a:pt x="126" y="10"/>
                  <a:pt x="138" y="6"/>
                  <a:pt x="150" y="4"/>
                </a:cubicBezTo>
                <a:cubicBezTo>
                  <a:pt x="162" y="2"/>
                  <a:pt x="174" y="0"/>
                  <a:pt x="186" y="0"/>
                </a:cubicBezTo>
                <a:lnTo>
                  <a:pt x="26557" y="0"/>
                </a:lnTo>
                <a:cubicBezTo>
                  <a:pt x="26569" y="0"/>
                  <a:pt x="26581" y="2"/>
                  <a:pt x="26593" y="4"/>
                </a:cubicBezTo>
                <a:cubicBezTo>
                  <a:pt x="26605" y="6"/>
                  <a:pt x="26617" y="10"/>
                  <a:pt x="26628" y="14"/>
                </a:cubicBezTo>
                <a:cubicBezTo>
                  <a:pt x="26639" y="19"/>
                  <a:pt x="26650" y="25"/>
                  <a:pt x="26660" y="32"/>
                </a:cubicBezTo>
                <a:cubicBezTo>
                  <a:pt x="26670" y="38"/>
                  <a:pt x="26680" y="46"/>
                  <a:pt x="26688" y="55"/>
                </a:cubicBezTo>
                <a:cubicBezTo>
                  <a:pt x="26697" y="63"/>
                  <a:pt x="26704" y="73"/>
                  <a:pt x="26711" y="83"/>
                </a:cubicBezTo>
                <a:cubicBezTo>
                  <a:pt x="26718" y="93"/>
                  <a:pt x="26724" y="104"/>
                  <a:pt x="26728" y="115"/>
                </a:cubicBezTo>
                <a:cubicBezTo>
                  <a:pt x="26733" y="126"/>
                  <a:pt x="26737" y="138"/>
                  <a:pt x="26739" y="150"/>
                </a:cubicBezTo>
                <a:cubicBezTo>
                  <a:pt x="26741" y="162"/>
                  <a:pt x="26743" y="174"/>
                  <a:pt x="26743" y="186"/>
                </a:cubicBezTo>
                <a:lnTo>
                  <a:pt x="26743" y="6524"/>
                </a:lnTo>
                <a:cubicBezTo>
                  <a:pt x="26743" y="6536"/>
                  <a:pt x="26741" y="6548"/>
                  <a:pt x="26739" y="6560"/>
                </a:cubicBezTo>
                <a:cubicBezTo>
                  <a:pt x="26737" y="6572"/>
                  <a:pt x="26733" y="6584"/>
                  <a:pt x="26728" y="6595"/>
                </a:cubicBezTo>
                <a:cubicBezTo>
                  <a:pt x="26724" y="6607"/>
                  <a:pt x="26718" y="6617"/>
                  <a:pt x="26711" y="6627"/>
                </a:cubicBezTo>
                <a:cubicBezTo>
                  <a:pt x="26704" y="6638"/>
                  <a:pt x="26697" y="6647"/>
                  <a:pt x="26688" y="6656"/>
                </a:cubicBezTo>
                <a:cubicBezTo>
                  <a:pt x="26680" y="6664"/>
                  <a:pt x="26670" y="6672"/>
                  <a:pt x="26660" y="6679"/>
                </a:cubicBezTo>
                <a:cubicBezTo>
                  <a:pt x="26650" y="6685"/>
                  <a:pt x="26639" y="6691"/>
                  <a:pt x="26628" y="6696"/>
                </a:cubicBezTo>
                <a:cubicBezTo>
                  <a:pt x="26617" y="6700"/>
                  <a:pt x="26605" y="6704"/>
                  <a:pt x="26593" y="6706"/>
                </a:cubicBezTo>
                <a:cubicBezTo>
                  <a:pt x="26581" y="6709"/>
                  <a:pt x="26569" y="6710"/>
                  <a:pt x="26557" y="6710"/>
                </a:cubicBezTo>
                <a:lnTo>
                  <a:pt x="186" y="6710"/>
                </a:lnTo>
                <a:cubicBezTo>
                  <a:pt x="174" y="6710"/>
                  <a:pt x="162" y="6709"/>
                  <a:pt x="150" y="6706"/>
                </a:cubicBezTo>
                <a:cubicBezTo>
                  <a:pt x="138" y="6704"/>
                  <a:pt x="126" y="6700"/>
                  <a:pt x="115" y="6696"/>
                </a:cubicBezTo>
                <a:cubicBezTo>
                  <a:pt x="104" y="6691"/>
                  <a:pt x="93" y="6685"/>
                  <a:pt x="83" y="6679"/>
                </a:cubicBezTo>
                <a:cubicBezTo>
                  <a:pt x="73" y="6672"/>
                  <a:pt x="63" y="6664"/>
                  <a:pt x="55" y="6656"/>
                </a:cubicBezTo>
                <a:cubicBezTo>
                  <a:pt x="46" y="6647"/>
                  <a:pt x="38" y="6638"/>
                  <a:pt x="31" y="6627"/>
                </a:cubicBezTo>
                <a:cubicBezTo>
                  <a:pt x="25" y="6617"/>
                  <a:pt x="19" y="6607"/>
                  <a:pt x="14" y="6595"/>
                </a:cubicBezTo>
                <a:cubicBezTo>
                  <a:pt x="10" y="6584"/>
                  <a:pt x="6" y="6572"/>
                  <a:pt x="4" y="6560"/>
                </a:cubicBezTo>
                <a:cubicBezTo>
                  <a:pt x="1" y="6548"/>
                  <a:pt x="0" y="6536"/>
                  <a:pt x="0" y="6524"/>
                </a:cubicBezTo>
                <a:close/>
              </a:path>
            </a:pathLst>
          </a:custGeom>
          <a:solidFill>
            <a:srgbClr val="ffffff">
              <a:alpha val="10000"/>
            </a:srgbClr>
          </a:solidFill>
          <a:ln w="0">
            <a:noFill/>
          </a:ln>
        </p:spPr>
        <p:txBody>
          <a:bodyPr lIns="0" rIns="0" tIns="0" bIns="0" anchor="t">
            <a:noAutofit/>
          </a:bodyPr>
          <a:p>
            <a:endParaRPr b="0" lang="en-US" sz="2400" strike="noStrike" u="none">
              <a:solidFill>
                <a:srgbClr val="000000"/>
              </a:solidFill>
              <a:effectLst/>
              <a:uFillTx/>
              <a:latin typeface="Times New Roman"/>
            </a:endParaRPr>
          </a:p>
        </p:txBody>
      </p:sp>
      <p:pic>
        <p:nvPicPr>
          <p:cNvPr id="308" name="" descr=""/>
          <p:cNvPicPr/>
          <p:nvPr/>
        </p:nvPicPr>
        <p:blipFill>
          <a:blip r:embed="rId2"/>
          <a:stretch/>
        </p:blipFill>
        <p:spPr>
          <a:xfrm>
            <a:off x="735480" y="1170000"/>
            <a:ext cx="225360" cy="200160"/>
          </a:xfrm>
          <a:prstGeom prst="rect">
            <a:avLst/>
          </a:prstGeom>
          <a:noFill/>
          <a:ln w="0">
            <a:noFill/>
          </a:ln>
        </p:spPr>
      </p:pic>
      <p:sp>
        <p:nvSpPr>
          <p:cNvPr id="309" name=""/>
          <p:cNvSpPr txBox="1"/>
          <p:nvPr/>
        </p:nvSpPr>
        <p:spPr>
          <a:xfrm>
            <a:off x="534960" y="222120"/>
            <a:ext cx="4504320" cy="436320"/>
          </a:xfrm>
          <a:prstGeom prst="rect">
            <a:avLst/>
          </a:prstGeom>
          <a:noFill/>
          <a:ln w="0">
            <a:noFill/>
          </a:ln>
        </p:spPr>
        <p:txBody>
          <a:bodyPr wrap="none" lIns="0" rIns="0" tIns="0" bIns="0" anchor="t">
            <a:spAutoFit/>
          </a:bodyPr>
          <a:p>
            <a:r>
              <a:rPr b="0" lang="zh-CN" sz="2370" strike="noStrike" u="none">
                <a:solidFill>
                  <a:srgbClr val="ffffff"/>
                </a:solidFill>
                <a:effectLst/>
                <a:uFillTx/>
                <a:latin typeface="NotoSansJP"/>
                <a:ea typeface="NotoSansJP"/>
              </a:rPr>
              <a:t>角スペクトル法における伝達関数</a:t>
            </a:r>
            <a:endParaRPr b="0" lang="en-US" sz="2370" strike="noStrike" u="none">
              <a:solidFill>
                <a:srgbClr val="000000"/>
              </a:solidFill>
              <a:effectLst/>
              <a:uFillTx/>
              <a:latin typeface="Times New Roman"/>
            </a:endParaRPr>
          </a:p>
        </p:txBody>
      </p:sp>
      <p:sp>
        <p:nvSpPr>
          <p:cNvPr id="310" name=""/>
          <p:cNvSpPr txBox="1"/>
          <p:nvPr/>
        </p:nvSpPr>
        <p:spPr>
          <a:xfrm>
            <a:off x="1061280" y="1167840"/>
            <a:ext cx="2012400" cy="291600"/>
          </a:xfrm>
          <a:prstGeom prst="rect">
            <a:avLst/>
          </a:prstGeom>
          <a:noFill/>
          <a:ln w="0">
            <a:noFill/>
          </a:ln>
        </p:spPr>
        <p:txBody>
          <a:bodyPr wrap="none" lIns="0" rIns="0" tIns="0" bIns="0" anchor="t">
            <a:spAutoFit/>
          </a:bodyPr>
          <a:p>
            <a:r>
              <a:rPr b="0" lang="zh-CN" sz="1580" strike="noStrike" u="none">
                <a:solidFill>
                  <a:srgbClr val="a7c6d9"/>
                </a:solidFill>
                <a:effectLst/>
                <a:uFillTx/>
                <a:latin typeface="NotoSansJP"/>
                <a:ea typeface="NotoSansJP"/>
              </a:rPr>
              <a:t>伝達関数の数学的表現</a:t>
            </a:r>
            <a:endParaRPr b="0" lang="en-US" sz="1580" strike="noStrike" u="none">
              <a:solidFill>
                <a:srgbClr val="000000"/>
              </a:solidFill>
              <a:effectLst/>
              <a:uFillTx/>
              <a:latin typeface="Times New Roman"/>
            </a:endParaRPr>
          </a:p>
        </p:txBody>
      </p:sp>
      <p:sp>
        <p:nvSpPr>
          <p:cNvPr id="311" name=""/>
          <p:cNvSpPr txBox="1"/>
          <p:nvPr/>
        </p:nvSpPr>
        <p:spPr>
          <a:xfrm>
            <a:off x="735480" y="2726640"/>
            <a:ext cx="604080" cy="219960"/>
          </a:xfrm>
          <a:prstGeom prst="rect">
            <a:avLst/>
          </a:prstGeom>
          <a:noFill/>
          <a:ln w="0">
            <a:noFill/>
          </a:ln>
        </p:spPr>
        <p:txBody>
          <a:bodyPr wrap="none" lIns="0" rIns="0" tIns="0" bIns="0" anchor="t">
            <a:spAutoFit/>
          </a:bodyPr>
          <a:p>
            <a:r>
              <a:rPr b="0" lang="zh-CN" sz="1180" strike="noStrike" u="none">
                <a:solidFill>
                  <a:srgbClr val="ffffff"/>
                </a:solidFill>
                <a:effectLst/>
                <a:uFillTx/>
                <a:latin typeface="NotoSansJP"/>
                <a:ea typeface="NotoSansJP"/>
              </a:rPr>
              <a:t>ここで、</a:t>
            </a:r>
            <a:endParaRPr b="0" lang="en-US" sz="1180" strike="noStrike" u="none">
              <a:solidFill>
                <a:srgbClr val="000000"/>
              </a:solidFill>
              <a:effectLst/>
              <a:uFillTx/>
              <a:latin typeface="Times New Roman"/>
            </a:endParaRPr>
          </a:p>
        </p:txBody>
      </p:sp>
      <p:sp>
        <p:nvSpPr>
          <p:cNvPr id="312" name=""/>
          <p:cNvSpPr txBox="1"/>
          <p:nvPr/>
        </p:nvSpPr>
        <p:spPr>
          <a:xfrm>
            <a:off x="1605960" y="2726640"/>
            <a:ext cx="8200080" cy="219960"/>
          </a:xfrm>
          <a:prstGeom prst="rect">
            <a:avLst/>
          </a:prstGeom>
          <a:noFill/>
          <a:ln w="0">
            <a:noFill/>
          </a:ln>
        </p:spPr>
        <p:txBody>
          <a:bodyPr wrap="none" lIns="0" rIns="0" tIns="0" bIns="0" anchor="t">
            <a:spAutoFit/>
          </a:bodyPr>
          <a:p>
            <a:r>
              <a:rPr b="0" lang="en-US" sz="1180" strike="noStrike" u="none">
                <a:solidFill>
                  <a:srgbClr val="ffffff"/>
                </a:solidFill>
                <a:effectLst/>
                <a:uFillTx/>
                <a:latin typeface="NotoSansJP"/>
                <a:ea typeface="NotoSansJP"/>
              </a:rPr>
              <a:t> は空間周波数、  は伝搬距離、  は光の波長を表します。 この伝達関数は、角スペクトル法における光波の伝搬を記述する</a:t>
            </a:r>
            <a:endParaRPr b="0" lang="en-US" sz="1180" strike="noStrike" u="none">
              <a:solidFill>
                <a:srgbClr val="000000"/>
              </a:solidFill>
              <a:effectLst/>
              <a:uFillTx/>
              <a:latin typeface="Times New Roman"/>
            </a:endParaRPr>
          </a:p>
        </p:txBody>
      </p:sp>
      <p:sp>
        <p:nvSpPr>
          <p:cNvPr id="313" name=""/>
          <p:cNvSpPr/>
          <p:nvPr/>
        </p:nvSpPr>
        <p:spPr>
          <a:xfrm>
            <a:off x="534600" y="3618360"/>
            <a:ext cx="4680000" cy="2398680"/>
          </a:xfrm>
          <a:custGeom>
            <a:avLst/>
            <a:gdLst/>
            <a:ahLst/>
            <a:rect l="0" t="0" r="r" b="b"/>
            <a:pathLst>
              <a:path w="13000" h="6663">
                <a:moveTo>
                  <a:pt x="0" y="6663"/>
                </a:moveTo>
                <a:lnTo>
                  <a:pt x="0" y="185"/>
                </a:lnTo>
                <a:cubicBezTo>
                  <a:pt x="0" y="173"/>
                  <a:pt x="1" y="161"/>
                  <a:pt x="4" y="149"/>
                </a:cubicBezTo>
                <a:cubicBezTo>
                  <a:pt x="6" y="137"/>
                  <a:pt x="10" y="126"/>
                  <a:pt x="14" y="114"/>
                </a:cubicBezTo>
                <a:cubicBezTo>
                  <a:pt x="19" y="103"/>
                  <a:pt x="25" y="92"/>
                  <a:pt x="31" y="82"/>
                </a:cubicBezTo>
                <a:cubicBezTo>
                  <a:pt x="38" y="72"/>
                  <a:pt x="46" y="63"/>
                  <a:pt x="55" y="54"/>
                </a:cubicBezTo>
                <a:cubicBezTo>
                  <a:pt x="63" y="46"/>
                  <a:pt x="73" y="38"/>
                  <a:pt x="83" y="31"/>
                </a:cubicBezTo>
                <a:cubicBezTo>
                  <a:pt x="93" y="24"/>
                  <a:pt x="104" y="19"/>
                  <a:pt x="115" y="14"/>
                </a:cubicBezTo>
                <a:cubicBezTo>
                  <a:pt x="126" y="9"/>
                  <a:pt x="138" y="6"/>
                  <a:pt x="150" y="3"/>
                </a:cubicBezTo>
                <a:cubicBezTo>
                  <a:pt x="162" y="1"/>
                  <a:pt x="174" y="0"/>
                  <a:pt x="186" y="0"/>
                </a:cubicBezTo>
                <a:lnTo>
                  <a:pt x="12815" y="0"/>
                </a:lnTo>
                <a:cubicBezTo>
                  <a:pt x="12827" y="0"/>
                  <a:pt x="12839" y="1"/>
                  <a:pt x="12851" y="3"/>
                </a:cubicBezTo>
                <a:cubicBezTo>
                  <a:pt x="12863" y="6"/>
                  <a:pt x="12875" y="9"/>
                  <a:pt x="12886" y="14"/>
                </a:cubicBezTo>
                <a:cubicBezTo>
                  <a:pt x="12897" y="19"/>
                  <a:pt x="12908" y="24"/>
                  <a:pt x="12918" y="31"/>
                </a:cubicBezTo>
                <a:cubicBezTo>
                  <a:pt x="12928" y="38"/>
                  <a:pt x="12937" y="46"/>
                  <a:pt x="12946" y="54"/>
                </a:cubicBezTo>
                <a:cubicBezTo>
                  <a:pt x="12955" y="63"/>
                  <a:pt x="12962" y="72"/>
                  <a:pt x="12969" y="82"/>
                </a:cubicBezTo>
                <a:cubicBezTo>
                  <a:pt x="12976" y="92"/>
                  <a:pt x="12982" y="103"/>
                  <a:pt x="12986" y="114"/>
                </a:cubicBezTo>
                <a:cubicBezTo>
                  <a:pt x="12991" y="126"/>
                  <a:pt x="12994" y="137"/>
                  <a:pt x="12997" y="149"/>
                </a:cubicBezTo>
                <a:cubicBezTo>
                  <a:pt x="12999" y="161"/>
                  <a:pt x="13000" y="173"/>
                  <a:pt x="13000" y="185"/>
                </a:cubicBezTo>
                <a:lnTo>
                  <a:pt x="13000" y="6663"/>
                </a:lnTo>
                <a:lnTo>
                  <a:pt x="0" y="6663"/>
                </a:lnTo>
                <a:close/>
              </a:path>
            </a:pathLst>
          </a:custGeom>
          <a:solidFill>
            <a:srgbClr val="ffffff">
              <a:alpha val="10000"/>
            </a:srgbClr>
          </a:solidFill>
          <a:ln w="0">
            <a:noFill/>
          </a:ln>
        </p:spPr>
        <p:txBody>
          <a:bodyPr lIns="0" rIns="0" tIns="0" bIns="0" anchor="t">
            <a:noAutofit/>
          </a:bodyPr>
          <a:p>
            <a:endParaRPr b="0" lang="en-US" sz="2400" strike="noStrike" u="none">
              <a:solidFill>
                <a:srgbClr val="000000"/>
              </a:solidFill>
              <a:effectLst/>
              <a:uFillTx/>
              <a:latin typeface="Times New Roman"/>
            </a:endParaRPr>
          </a:p>
        </p:txBody>
      </p:sp>
      <p:pic>
        <p:nvPicPr>
          <p:cNvPr id="314" name="" descr=""/>
          <p:cNvPicPr/>
          <p:nvPr/>
        </p:nvPicPr>
        <p:blipFill>
          <a:blip r:embed="rId3"/>
          <a:stretch/>
        </p:blipFill>
        <p:spPr>
          <a:xfrm>
            <a:off x="735480" y="3852360"/>
            <a:ext cx="150120" cy="200160"/>
          </a:xfrm>
          <a:prstGeom prst="rect">
            <a:avLst/>
          </a:prstGeom>
          <a:noFill/>
          <a:ln w="0">
            <a:noFill/>
          </a:ln>
        </p:spPr>
      </p:pic>
      <p:sp>
        <p:nvSpPr>
          <p:cNvPr id="315" name=""/>
          <p:cNvSpPr txBox="1"/>
          <p:nvPr/>
        </p:nvSpPr>
        <p:spPr>
          <a:xfrm>
            <a:off x="735480" y="2960640"/>
            <a:ext cx="1207800" cy="219960"/>
          </a:xfrm>
          <a:prstGeom prst="rect">
            <a:avLst/>
          </a:prstGeom>
          <a:noFill/>
          <a:ln w="0">
            <a:noFill/>
          </a:ln>
        </p:spPr>
        <p:txBody>
          <a:bodyPr wrap="none" lIns="0" rIns="0" tIns="0" bIns="0" anchor="t">
            <a:spAutoFit/>
          </a:bodyPr>
          <a:p>
            <a:r>
              <a:rPr b="0" lang="zh-CN" sz="1180" strike="noStrike" u="none">
                <a:solidFill>
                  <a:srgbClr val="ffffff"/>
                </a:solidFill>
                <a:effectLst/>
                <a:uFillTx/>
                <a:latin typeface="NotoSansJP"/>
                <a:ea typeface="NotoSansJP"/>
              </a:rPr>
              <a:t>重要な関数です。</a:t>
            </a:r>
            <a:endParaRPr b="0" lang="en-US" sz="1180" strike="noStrike" u="none">
              <a:solidFill>
                <a:srgbClr val="000000"/>
              </a:solidFill>
              <a:effectLst/>
              <a:uFillTx/>
              <a:latin typeface="Times New Roman"/>
            </a:endParaRPr>
          </a:p>
        </p:txBody>
      </p:sp>
      <p:pic>
        <p:nvPicPr>
          <p:cNvPr id="316" name="" descr=""/>
          <p:cNvPicPr/>
          <p:nvPr/>
        </p:nvPicPr>
        <p:blipFill>
          <a:blip r:embed="rId4"/>
          <a:stretch/>
        </p:blipFill>
        <p:spPr>
          <a:xfrm>
            <a:off x="735480" y="4253400"/>
            <a:ext cx="133200" cy="133200"/>
          </a:xfrm>
          <a:prstGeom prst="rect">
            <a:avLst/>
          </a:prstGeom>
          <a:noFill/>
          <a:ln w="0">
            <a:noFill/>
          </a:ln>
        </p:spPr>
      </p:pic>
      <p:sp>
        <p:nvSpPr>
          <p:cNvPr id="317" name=""/>
          <p:cNvSpPr txBox="1"/>
          <p:nvPr/>
        </p:nvSpPr>
        <p:spPr>
          <a:xfrm>
            <a:off x="986040" y="3850200"/>
            <a:ext cx="1006560" cy="291600"/>
          </a:xfrm>
          <a:prstGeom prst="rect">
            <a:avLst/>
          </a:prstGeom>
          <a:noFill/>
          <a:ln w="0">
            <a:noFill/>
          </a:ln>
        </p:spPr>
        <p:txBody>
          <a:bodyPr wrap="none" lIns="0" rIns="0" tIns="0" bIns="0" anchor="t">
            <a:spAutoFit/>
          </a:bodyPr>
          <a:p>
            <a:r>
              <a:rPr b="0" lang="zh-CN" sz="1580" strike="noStrike" u="none">
                <a:solidFill>
                  <a:srgbClr val="a7c6d9"/>
                </a:solidFill>
                <a:effectLst/>
                <a:uFillTx/>
                <a:latin typeface="NotoSansJP"/>
                <a:ea typeface="NotoSansJP"/>
              </a:rPr>
              <a:t>物理的意味</a:t>
            </a:r>
            <a:endParaRPr b="0" lang="en-US" sz="1580" strike="noStrike" u="none">
              <a:solidFill>
                <a:srgbClr val="000000"/>
              </a:solidFill>
              <a:effectLst/>
              <a:uFillTx/>
              <a:latin typeface="Times New Roman"/>
            </a:endParaRPr>
          </a:p>
        </p:txBody>
      </p:sp>
      <p:sp>
        <p:nvSpPr>
          <p:cNvPr id="318" name=""/>
          <p:cNvSpPr txBox="1"/>
          <p:nvPr/>
        </p:nvSpPr>
        <p:spPr>
          <a:xfrm>
            <a:off x="969480" y="4254840"/>
            <a:ext cx="2042280" cy="194040"/>
          </a:xfrm>
          <a:prstGeom prst="rect">
            <a:avLst/>
          </a:prstGeom>
          <a:noFill/>
          <a:ln w="0">
            <a:noFill/>
          </a:ln>
        </p:spPr>
        <p:txBody>
          <a:bodyPr wrap="none" lIns="0" rIns="0" tIns="0" bIns="0" anchor="t">
            <a:spAutoFit/>
          </a:bodyPr>
          <a:p>
            <a:r>
              <a:rPr b="0" lang="zh-CN" sz="1050" strike="noStrike" u="none">
                <a:solidFill>
                  <a:srgbClr val="ffffff"/>
                </a:solidFill>
                <a:effectLst/>
                <a:uFillTx/>
                <a:latin typeface="NotoSansJP"/>
                <a:ea typeface="NotoSansJP"/>
              </a:rPr>
              <a:t>伝達関数は、各平面波成分が距離 </a:t>
            </a:r>
            <a:endParaRPr b="0" lang="en-US" sz="1050" strike="noStrike" u="none">
              <a:solidFill>
                <a:srgbClr val="000000"/>
              </a:solidFill>
              <a:effectLst/>
              <a:uFillTx/>
              <a:latin typeface="Times New Roman"/>
            </a:endParaRPr>
          </a:p>
        </p:txBody>
      </p:sp>
      <p:sp>
        <p:nvSpPr>
          <p:cNvPr id="319" name=""/>
          <p:cNvSpPr txBox="1"/>
          <p:nvPr/>
        </p:nvSpPr>
        <p:spPr>
          <a:xfrm>
            <a:off x="3084840" y="4254840"/>
            <a:ext cx="1908360" cy="194040"/>
          </a:xfrm>
          <a:prstGeom prst="rect">
            <a:avLst/>
          </a:prstGeom>
          <a:noFill/>
          <a:ln w="0">
            <a:noFill/>
          </a:ln>
        </p:spPr>
        <p:txBody>
          <a:bodyPr wrap="none" lIns="0" rIns="0" tIns="0" bIns="0" anchor="t">
            <a:spAutoFit/>
          </a:bodyPr>
          <a:p>
            <a:r>
              <a:rPr b="0" lang="en-US" sz="1050" strike="noStrike" u="none">
                <a:solidFill>
                  <a:srgbClr val="ffffff"/>
                </a:solidFill>
                <a:effectLst/>
                <a:uFillTx/>
                <a:latin typeface="NotoSansJP"/>
                <a:ea typeface="NotoSansJP"/>
              </a:rPr>
              <a:t> を伝搬する際に受ける</a:t>
            </a:r>
            <a:r>
              <a:rPr b="0" lang="zh-CN" sz="1050" strike="noStrike" u="none">
                <a:solidFill>
                  <a:srgbClr val="ff8c00"/>
                </a:solidFill>
                <a:effectLst/>
                <a:uFillTx/>
                <a:latin typeface="NotoSansJP"/>
                <a:ea typeface="NotoSansJP"/>
              </a:rPr>
              <a:t>位相変化</a:t>
            </a:r>
            <a:endParaRPr b="0" lang="en-US" sz="1050" strike="noStrike" u="none">
              <a:solidFill>
                <a:srgbClr val="000000"/>
              </a:solidFill>
              <a:effectLst/>
              <a:uFillTx/>
              <a:latin typeface="Times New Roman"/>
            </a:endParaRPr>
          </a:p>
        </p:txBody>
      </p:sp>
      <p:pic>
        <p:nvPicPr>
          <p:cNvPr id="320" name="" descr=""/>
          <p:cNvPicPr/>
          <p:nvPr/>
        </p:nvPicPr>
        <p:blipFill>
          <a:blip r:embed="rId5"/>
          <a:stretch/>
        </p:blipFill>
        <p:spPr>
          <a:xfrm>
            <a:off x="735480" y="4788360"/>
            <a:ext cx="133200" cy="133200"/>
          </a:xfrm>
          <a:prstGeom prst="rect">
            <a:avLst/>
          </a:prstGeom>
          <a:noFill/>
          <a:ln w="0">
            <a:noFill/>
          </a:ln>
        </p:spPr>
      </p:pic>
      <p:sp>
        <p:nvSpPr>
          <p:cNvPr id="321" name=""/>
          <p:cNvSpPr txBox="1"/>
          <p:nvPr/>
        </p:nvSpPr>
        <p:spPr>
          <a:xfrm>
            <a:off x="969480" y="4455360"/>
            <a:ext cx="805320" cy="194040"/>
          </a:xfrm>
          <a:prstGeom prst="rect">
            <a:avLst/>
          </a:prstGeom>
          <a:noFill/>
          <a:ln w="0">
            <a:noFill/>
          </a:ln>
        </p:spPr>
        <p:txBody>
          <a:bodyPr wrap="none" lIns="0" rIns="0" tIns="0" bIns="0" anchor="t">
            <a:spAutoFit/>
          </a:bodyPr>
          <a:p>
            <a:r>
              <a:rPr b="0" lang="zh-CN" sz="1050" strike="noStrike" u="none">
                <a:solidFill>
                  <a:srgbClr val="ffffff"/>
                </a:solidFill>
                <a:effectLst/>
                <a:uFillTx/>
                <a:latin typeface="NotoSansJP"/>
                <a:ea typeface="NotoSansJP"/>
              </a:rPr>
              <a:t>を表します。</a:t>
            </a:r>
            <a:endParaRPr b="0" lang="en-US" sz="1050" strike="noStrike" u="none">
              <a:solidFill>
                <a:srgbClr val="000000"/>
              </a:solidFill>
              <a:effectLst/>
              <a:uFillTx/>
              <a:latin typeface="Times New Roman"/>
            </a:endParaRPr>
          </a:p>
        </p:txBody>
      </p:sp>
      <p:sp>
        <p:nvSpPr>
          <p:cNvPr id="322" name=""/>
          <p:cNvSpPr txBox="1"/>
          <p:nvPr/>
        </p:nvSpPr>
        <p:spPr>
          <a:xfrm>
            <a:off x="969480" y="4789800"/>
            <a:ext cx="835560" cy="194040"/>
          </a:xfrm>
          <a:prstGeom prst="rect">
            <a:avLst/>
          </a:prstGeom>
          <a:noFill/>
          <a:ln w="0">
            <a:noFill/>
          </a:ln>
        </p:spPr>
        <p:txBody>
          <a:bodyPr wrap="none" lIns="0" rIns="0" tIns="0" bIns="0" anchor="t">
            <a:spAutoFit/>
          </a:bodyPr>
          <a:p>
            <a:r>
              <a:rPr b="0" lang="zh-CN" sz="1050" strike="noStrike" u="none">
                <a:solidFill>
                  <a:srgbClr val="ffffff"/>
                </a:solidFill>
                <a:effectLst/>
                <a:uFillTx/>
                <a:latin typeface="NotoSansJP"/>
                <a:ea typeface="NotoSansJP"/>
              </a:rPr>
              <a:t>角スペクトル </a:t>
            </a:r>
            <a:endParaRPr b="0" lang="en-US" sz="1050" strike="noStrike" u="none">
              <a:solidFill>
                <a:srgbClr val="000000"/>
              </a:solidFill>
              <a:effectLst/>
              <a:uFillTx/>
              <a:latin typeface="Times New Roman"/>
            </a:endParaRPr>
          </a:p>
        </p:txBody>
      </p:sp>
      <p:sp>
        <p:nvSpPr>
          <p:cNvPr id="323" name=""/>
          <p:cNvSpPr txBox="1"/>
          <p:nvPr/>
        </p:nvSpPr>
        <p:spPr>
          <a:xfrm>
            <a:off x="2454480" y="4789800"/>
            <a:ext cx="1267920" cy="194040"/>
          </a:xfrm>
          <a:prstGeom prst="rect">
            <a:avLst/>
          </a:prstGeom>
          <a:noFill/>
          <a:ln w="0">
            <a:noFill/>
          </a:ln>
        </p:spPr>
        <p:txBody>
          <a:bodyPr wrap="none" lIns="0" rIns="0" tIns="0" bIns="0" anchor="t">
            <a:spAutoFit/>
          </a:bodyPr>
          <a:p>
            <a:r>
              <a:rPr b="0" lang="en-US" sz="1050" strike="noStrike" u="none">
                <a:solidFill>
                  <a:srgbClr val="ffffff"/>
                </a:solidFill>
                <a:effectLst/>
                <a:uFillTx/>
                <a:latin typeface="NotoSansJP"/>
                <a:ea typeface="NotoSansJP"/>
              </a:rPr>
              <a:t> の各成分に伝達関数 </a:t>
            </a:r>
            <a:endParaRPr b="0" lang="en-US" sz="1050" strike="noStrike" u="none">
              <a:solidFill>
                <a:srgbClr val="000000"/>
              </a:solidFill>
              <a:effectLst/>
              <a:uFillTx/>
              <a:latin typeface="Times New Roman"/>
            </a:endParaRPr>
          </a:p>
        </p:txBody>
      </p:sp>
      <p:sp>
        <p:nvSpPr>
          <p:cNvPr id="324" name=""/>
          <p:cNvSpPr txBox="1"/>
          <p:nvPr/>
        </p:nvSpPr>
        <p:spPr>
          <a:xfrm>
            <a:off x="4393440" y="4789800"/>
            <a:ext cx="567360" cy="194040"/>
          </a:xfrm>
          <a:prstGeom prst="rect">
            <a:avLst/>
          </a:prstGeom>
          <a:noFill/>
          <a:ln w="0">
            <a:noFill/>
          </a:ln>
        </p:spPr>
        <p:txBody>
          <a:bodyPr wrap="none" lIns="0" rIns="0" tIns="0" bIns="0" anchor="t">
            <a:spAutoFit/>
          </a:bodyPr>
          <a:p>
            <a:r>
              <a:rPr b="0" lang="en-US" sz="1050" strike="noStrike" u="none">
                <a:solidFill>
                  <a:srgbClr val="ffffff"/>
                </a:solidFill>
                <a:effectLst/>
                <a:uFillTx/>
                <a:latin typeface="NotoSansJP"/>
                <a:ea typeface="NotoSansJP"/>
              </a:rPr>
              <a:t> を乗算す</a:t>
            </a:r>
            <a:endParaRPr b="0" lang="en-US" sz="1050" strike="noStrike" u="none">
              <a:solidFill>
                <a:srgbClr val="000000"/>
              </a:solidFill>
              <a:effectLst/>
              <a:uFillTx/>
              <a:latin typeface="Times New Roman"/>
            </a:endParaRPr>
          </a:p>
        </p:txBody>
      </p:sp>
      <p:sp>
        <p:nvSpPr>
          <p:cNvPr id="325" name=""/>
          <p:cNvSpPr txBox="1"/>
          <p:nvPr/>
        </p:nvSpPr>
        <p:spPr>
          <a:xfrm>
            <a:off x="969480" y="4998600"/>
            <a:ext cx="2042280" cy="194040"/>
          </a:xfrm>
          <a:prstGeom prst="rect">
            <a:avLst/>
          </a:prstGeom>
          <a:noFill/>
          <a:ln w="0">
            <a:noFill/>
          </a:ln>
        </p:spPr>
        <p:txBody>
          <a:bodyPr wrap="none" lIns="0" rIns="0" tIns="0" bIns="0" anchor="t">
            <a:spAutoFit/>
          </a:bodyPr>
          <a:p>
            <a:r>
              <a:rPr b="0" lang="zh-CN" sz="1050" strike="noStrike" u="none">
                <a:solidFill>
                  <a:srgbClr val="ffffff"/>
                </a:solidFill>
                <a:effectLst/>
                <a:uFillTx/>
                <a:latin typeface="NotoSansJP"/>
                <a:ea typeface="NotoSansJP"/>
              </a:rPr>
              <a:t>ることで、伝搬後の角スペクトル </a:t>
            </a:r>
            <a:endParaRPr b="0" lang="en-US" sz="1050" strike="noStrike" u="none">
              <a:solidFill>
                <a:srgbClr val="000000"/>
              </a:solidFill>
              <a:effectLst/>
              <a:uFillTx/>
              <a:latin typeface="Times New Roman"/>
            </a:endParaRPr>
          </a:p>
        </p:txBody>
      </p:sp>
      <p:pic>
        <p:nvPicPr>
          <p:cNvPr id="326" name="" descr=""/>
          <p:cNvPicPr/>
          <p:nvPr/>
        </p:nvPicPr>
        <p:blipFill>
          <a:blip r:embed="rId6"/>
          <a:stretch/>
        </p:blipFill>
        <p:spPr>
          <a:xfrm>
            <a:off x="735480" y="5339880"/>
            <a:ext cx="133200" cy="133200"/>
          </a:xfrm>
          <a:prstGeom prst="rect">
            <a:avLst/>
          </a:prstGeom>
          <a:noFill/>
          <a:ln w="0">
            <a:noFill/>
          </a:ln>
        </p:spPr>
      </p:pic>
      <p:sp>
        <p:nvSpPr>
          <p:cNvPr id="327" name=""/>
          <p:cNvSpPr txBox="1"/>
          <p:nvPr/>
        </p:nvSpPr>
        <p:spPr>
          <a:xfrm>
            <a:off x="3643920" y="4998600"/>
            <a:ext cx="969480" cy="194040"/>
          </a:xfrm>
          <a:prstGeom prst="rect">
            <a:avLst/>
          </a:prstGeom>
          <a:noFill/>
          <a:ln w="0">
            <a:noFill/>
          </a:ln>
        </p:spPr>
        <p:txBody>
          <a:bodyPr wrap="none" lIns="0" rIns="0" tIns="0" bIns="0" anchor="t">
            <a:spAutoFit/>
          </a:bodyPr>
          <a:p>
            <a:r>
              <a:rPr b="0" lang="en-US" sz="1050" strike="noStrike" u="none">
                <a:solidFill>
                  <a:srgbClr val="ffffff"/>
                </a:solidFill>
                <a:effectLst/>
                <a:uFillTx/>
                <a:latin typeface="NotoSansJP"/>
                <a:ea typeface="NotoSansJP"/>
              </a:rPr>
              <a:t> が得られます。</a:t>
            </a:r>
            <a:endParaRPr b="0" lang="en-US" sz="1050" strike="noStrike" u="none">
              <a:solidFill>
                <a:srgbClr val="000000"/>
              </a:solidFill>
              <a:effectLst/>
              <a:uFillTx/>
              <a:latin typeface="Times New Roman"/>
            </a:endParaRPr>
          </a:p>
        </p:txBody>
      </p:sp>
      <p:sp>
        <p:nvSpPr>
          <p:cNvPr id="328" name=""/>
          <p:cNvSpPr txBox="1"/>
          <p:nvPr/>
        </p:nvSpPr>
        <p:spPr>
          <a:xfrm>
            <a:off x="969480" y="5352120"/>
            <a:ext cx="701280" cy="194040"/>
          </a:xfrm>
          <a:prstGeom prst="rect">
            <a:avLst/>
          </a:prstGeom>
          <a:noFill/>
          <a:ln w="0">
            <a:noFill/>
          </a:ln>
        </p:spPr>
        <p:txBody>
          <a:bodyPr wrap="none" lIns="0" rIns="0" tIns="0" bIns="0" anchor="t">
            <a:spAutoFit/>
          </a:bodyPr>
          <a:p>
            <a:r>
              <a:rPr b="0" lang="zh-CN" sz="1050" strike="noStrike" u="none">
                <a:solidFill>
                  <a:srgbClr val="ffffff"/>
                </a:solidFill>
                <a:effectLst/>
                <a:uFillTx/>
                <a:latin typeface="NotoSansJP"/>
                <a:ea typeface="NotoSansJP"/>
              </a:rPr>
              <a:t>根号内の項 </a:t>
            </a:r>
            <a:endParaRPr b="0" lang="en-US" sz="1050" strike="noStrike" u="none">
              <a:solidFill>
                <a:srgbClr val="000000"/>
              </a:solidFill>
              <a:effectLst/>
              <a:uFillTx/>
              <a:latin typeface="Times New Roman"/>
            </a:endParaRPr>
          </a:p>
        </p:txBody>
      </p:sp>
      <p:sp>
        <p:nvSpPr>
          <p:cNvPr id="329" name=""/>
          <p:cNvSpPr txBox="1"/>
          <p:nvPr/>
        </p:nvSpPr>
        <p:spPr>
          <a:xfrm>
            <a:off x="2974680" y="5352120"/>
            <a:ext cx="2042280" cy="194040"/>
          </a:xfrm>
          <a:prstGeom prst="rect">
            <a:avLst/>
          </a:prstGeom>
          <a:noFill/>
          <a:ln w="0">
            <a:noFill/>
          </a:ln>
        </p:spPr>
        <p:txBody>
          <a:bodyPr wrap="none" lIns="0" rIns="0" tIns="0" bIns="0" anchor="t">
            <a:spAutoFit/>
          </a:bodyPr>
          <a:p>
            <a:r>
              <a:rPr b="0" lang="en-US" sz="1050" strike="noStrike" u="none">
                <a:solidFill>
                  <a:srgbClr val="ffffff"/>
                </a:solidFill>
                <a:effectLst/>
                <a:uFillTx/>
                <a:latin typeface="NotoSansJP"/>
                <a:ea typeface="NotoSansJP"/>
              </a:rPr>
              <a:t> は、平面波の進行方向の波数成分</a:t>
            </a:r>
            <a:endParaRPr b="0" lang="en-US" sz="1050" strike="noStrike" u="none">
              <a:solidFill>
                <a:srgbClr val="000000"/>
              </a:solidFill>
              <a:effectLst/>
              <a:uFillTx/>
              <a:latin typeface="Times New Roman"/>
            </a:endParaRPr>
          </a:p>
        </p:txBody>
      </p:sp>
      <p:sp>
        <p:nvSpPr>
          <p:cNvPr id="330" name=""/>
          <p:cNvSpPr/>
          <p:nvPr/>
        </p:nvSpPr>
        <p:spPr>
          <a:xfrm>
            <a:off x="5481720" y="3618360"/>
            <a:ext cx="4680360" cy="2398680"/>
          </a:xfrm>
          <a:custGeom>
            <a:avLst/>
            <a:gdLst/>
            <a:ahLst/>
            <a:rect l="0" t="0" r="r" b="b"/>
            <a:pathLst>
              <a:path w="13001" h="6663">
                <a:moveTo>
                  <a:pt x="0" y="6663"/>
                </a:moveTo>
                <a:lnTo>
                  <a:pt x="0" y="185"/>
                </a:lnTo>
                <a:cubicBezTo>
                  <a:pt x="0" y="173"/>
                  <a:pt x="1" y="161"/>
                  <a:pt x="4" y="149"/>
                </a:cubicBezTo>
                <a:cubicBezTo>
                  <a:pt x="6" y="137"/>
                  <a:pt x="10" y="126"/>
                  <a:pt x="14" y="114"/>
                </a:cubicBezTo>
                <a:cubicBezTo>
                  <a:pt x="19" y="103"/>
                  <a:pt x="25" y="92"/>
                  <a:pt x="32" y="82"/>
                </a:cubicBezTo>
                <a:cubicBezTo>
                  <a:pt x="38" y="72"/>
                  <a:pt x="46" y="63"/>
                  <a:pt x="55" y="54"/>
                </a:cubicBezTo>
                <a:cubicBezTo>
                  <a:pt x="63" y="46"/>
                  <a:pt x="73" y="38"/>
                  <a:pt x="83" y="31"/>
                </a:cubicBezTo>
                <a:cubicBezTo>
                  <a:pt x="93" y="24"/>
                  <a:pt x="104" y="19"/>
                  <a:pt x="115" y="14"/>
                </a:cubicBezTo>
                <a:cubicBezTo>
                  <a:pt x="126" y="9"/>
                  <a:pt x="138" y="6"/>
                  <a:pt x="150" y="3"/>
                </a:cubicBezTo>
                <a:cubicBezTo>
                  <a:pt x="162" y="1"/>
                  <a:pt x="174" y="0"/>
                  <a:pt x="186" y="0"/>
                </a:cubicBezTo>
                <a:lnTo>
                  <a:pt x="12815" y="0"/>
                </a:lnTo>
                <a:cubicBezTo>
                  <a:pt x="12827" y="0"/>
                  <a:pt x="12839" y="1"/>
                  <a:pt x="12851" y="3"/>
                </a:cubicBezTo>
                <a:cubicBezTo>
                  <a:pt x="12863" y="6"/>
                  <a:pt x="12875" y="9"/>
                  <a:pt x="12886" y="14"/>
                </a:cubicBezTo>
                <a:cubicBezTo>
                  <a:pt x="12897" y="19"/>
                  <a:pt x="12908" y="24"/>
                  <a:pt x="12918" y="31"/>
                </a:cubicBezTo>
                <a:cubicBezTo>
                  <a:pt x="12928" y="38"/>
                  <a:pt x="12938" y="46"/>
                  <a:pt x="12946" y="54"/>
                </a:cubicBezTo>
                <a:cubicBezTo>
                  <a:pt x="12955" y="63"/>
                  <a:pt x="12962" y="72"/>
                  <a:pt x="12969" y="82"/>
                </a:cubicBezTo>
                <a:cubicBezTo>
                  <a:pt x="12976" y="92"/>
                  <a:pt x="12982" y="103"/>
                  <a:pt x="12986" y="114"/>
                </a:cubicBezTo>
                <a:cubicBezTo>
                  <a:pt x="12991" y="126"/>
                  <a:pt x="12995" y="137"/>
                  <a:pt x="12997" y="149"/>
                </a:cubicBezTo>
                <a:cubicBezTo>
                  <a:pt x="12999" y="161"/>
                  <a:pt x="13001" y="173"/>
                  <a:pt x="13001" y="185"/>
                </a:cubicBezTo>
                <a:lnTo>
                  <a:pt x="13001" y="6663"/>
                </a:lnTo>
                <a:lnTo>
                  <a:pt x="0" y="6663"/>
                </a:lnTo>
                <a:close/>
              </a:path>
            </a:pathLst>
          </a:custGeom>
          <a:solidFill>
            <a:srgbClr val="ffffff">
              <a:alpha val="10000"/>
            </a:srgbClr>
          </a:solidFill>
          <a:ln w="0">
            <a:noFill/>
          </a:ln>
        </p:spPr>
        <p:txBody>
          <a:bodyPr lIns="0" rIns="0" tIns="0" bIns="0" anchor="t">
            <a:noAutofit/>
          </a:bodyPr>
          <a:p>
            <a:endParaRPr b="0" lang="en-US" sz="2400" strike="noStrike" u="none">
              <a:solidFill>
                <a:srgbClr val="000000"/>
              </a:solidFill>
              <a:effectLst/>
              <a:uFillTx/>
              <a:latin typeface="Times New Roman"/>
            </a:endParaRPr>
          </a:p>
        </p:txBody>
      </p:sp>
      <p:pic>
        <p:nvPicPr>
          <p:cNvPr id="331" name="" descr=""/>
          <p:cNvPicPr/>
          <p:nvPr/>
        </p:nvPicPr>
        <p:blipFill>
          <a:blip r:embed="rId7"/>
          <a:stretch/>
        </p:blipFill>
        <p:spPr>
          <a:xfrm>
            <a:off x="5682600" y="3852360"/>
            <a:ext cx="250200" cy="200160"/>
          </a:xfrm>
          <a:prstGeom prst="rect">
            <a:avLst/>
          </a:prstGeom>
          <a:noFill/>
          <a:ln w="0">
            <a:noFill/>
          </a:ln>
        </p:spPr>
      </p:pic>
      <p:sp>
        <p:nvSpPr>
          <p:cNvPr id="332" name=""/>
          <p:cNvSpPr txBox="1"/>
          <p:nvPr/>
        </p:nvSpPr>
        <p:spPr>
          <a:xfrm>
            <a:off x="1620720" y="5558400"/>
            <a:ext cx="969480" cy="194040"/>
          </a:xfrm>
          <a:prstGeom prst="rect">
            <a:avLst/>
          </a:prstGeom>
          <a:noFill/>
          <a:ln w="0">
            <a:noFill/>
          </a:ln>
        </p:spPr>
        <p:txBody>
          <a:bodyPr wrap="none" lIns="0" rIns="0" tIns="0" bIns="0" anchor="t">
            <a:spAutoFit/>
          </a:bodyPr>
          <a:p>
            <a:r>
              <a:rPr b="0" lang="en-US" sz="1050" strike="noStrike" u="none">
                <a:solidFill>
                  <a:srgbClr val="ffffff"/>
                </a:solidFill>
                <a:effectLst/>
                <a:uFillTx/>
                <a:latin typeface="NotoSansJP"/>
                <a:ea typeface="NotoSansJP"/>
              </a:rPr>
              <a:t> に対応します。</a:t>
            </a:r>
            <a:endParaRPr b="0" lang="en-US" sz="1050" strike="noStrike" u="none">
              <a:solidFill>
                <a:srgbClr val="000000"/>
              </a:solidFill>
              <a:effectLst/>
              <a:uFillTx/>
              <a:latin typeface="Times New Roman"/>
            </a:endParaRPr>
          </a:p>
        </p:txBody>
      </p:sp>
      <p:sp>
        <p:nvSpPr>
          <p:cNvPr id="333" name=""/>
          <p:cNvSpPr/>
          <p:nvPr/>
        </p:nvSpPr>
        <p:spPr>
          <a:xfrm>
            <a:off x="5682240" y="4269960"/>
            <a:ext cx="100800" cy="100800"/>
          </a:xfrm>
          <a:custGeom>
            <a:avLst/>
            <a:gdLst/>
            <a:ahLst/>
            <a:rect l="0" t="0" r="r" b="b"/>
            <a:pathLst>
              <a:path w="280" h="280">
                <a:moveTo>
                  <a:pt x="280" y="140"/>
                </a:moveTo>
                <a:cubicBezTo>
                  <a:pt x="280" y="158"/>
                  <a:pt x="276" y="176"/>
                  <a:pt x="269" y="193"/>
                </a:cubicBezTo>
                <a:cubicBezTo>
                  <a:pt x="262" y="210"/>
                  <a:pt x="252" y="225"/>
                  <a:pt x="239" y="239"/>
                </a:cubicBezTo>
                <a:cubicBezTo>
                  <a:pt x="226" y="252"/>
                  <a:pt x="211" y="262"/>
                  <a:pt x="193" y="269"/>
                </a:cubicBezTo>
                <a:cubicBezTo>
                  <a:pt x="176" y="276"/>
                  <a:pt x="158" y="280"/>
                  <a:pt x="140" y="280"/>
                </a:cubicBezTo>
                <a:cubicBezTo>
                  <a:pt x="121" y="280"/>
                  <a:pt x="103" y="276"/>
                  <a:pt x="86" y="269"/>
                </a:cubicBezTo>
                <a:cubicBezTo>
                  <a:pt x="69" y="262"/>
                  <a:pt x="54" y="252"/>
                  <a:pt x="41" y="239"/>
                </a:cubicBezTo>
                <a:cubicBezTo>
                  <a:pt x="28" y="225"/>
                  <a:pt x="18" y="210"/>
                  <a:pt x="11" y="193"/>
                </a:cubicBezTo>
                <a:cubicBezTo>
                  <a:pt x="4" y="176"/>
                  <a:pt x="0" y="158"/>
                  <a:pt x="0" y="140"/>
                </a:cubicBezTo>
                <a:cubicBezTo>
                  <a:pt x="0" y="121"/>
                  <a:pt x="4" y="103"/>
                  <a:pt x="11" y="86"/>
                </a:cubicBezTo>
                <a:cubicBezTo>
                  <a:pt x="18" y="69"/>
                  <a:pt x="28" y="54"/>
                  <a:pt x="41" y="41"/>
                </a:cubicBezTo>
                <a:cubicBezTo>
                  <a:pt x="54" y="28"/>
                  <a:pt x="69" y="18"/>
                  <a:pt x="86" y="11"/>
                </a:cubicBezTo>
                <a:cubicBezTo>
                  <a:pt x="103" y="4"/>
                  <a:pt x="121" y="0"/>
                  <a:pt x="140" y="0"/>
                </a:cubicBezTo>
                <a:cubicBezTo>
                  <a:pt x="158" y="0"/>
                  <a:pt x="176" y="4"/>
                  <a:pt x="193" y="11"/>
                </a:cubicBezTo>
                <a:cubicBezTo>
                  <a:pt x="211" y="18"/>
                  <a:pt x="226" y="28"/>
                  <a:pt x="239" y="41"/>
                </a:cubicBezTo>
                <a:cubicBezTo>
                  <a:pt x="252" y="54"/>
                  <a:pt x="262" y="69"/>
                  <a:pt x="269" y="86"/>
                </a:cubicBezTo>
                <a:cubicBezTo>
                  <a:pt x="276" y="103"/>
                  <a:pt x="280" y="121"/>
                  <a:pt x="280" y="140"/>
                </a:cubicBezTo>
                <a:close/>
              </a:path>
            </a:pathLst>
          </a:custGeom>
          <a:solidFill>
            <a:srgbClr val="a7c6d9"/>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334" name=""/>
          <p:cNvSpPr txBox="1"/>
          <p:nvPr/>
        </p:nvSpPr>
        <p:spPr>
          <a:xfrm>
            <a:off x="6033600" y="3850200"/>
            <a:ext cx="1207800" cy="291600"/>
          </a:xfrm>
          <a:prstGeom prst="rect">
            <a:avLst/>
          </a:prstGeom>
          <a:noFill/>
          <a:ln w="0">
            <a:noFill/>
          </a:ln>
        </p:spPr>
        <p:txBody>
          <a:bodyPr wrap="none" lIns="0" rIns="0" tIns="0" bIns="0" anchor="t">
            <a:spAutoFit/>
          </a:bodyPr>
          <a:p>
            <a:r>
              <a:rPr b="0" lang="zh-CN" sz="1580" strike="noStrike" u="none">
                <a:solidFill>
                  <a:srgbClr val="a7c6d9"/>
                </a:solidFill>
                <a:effectLst/>
                <a:uFillTx/>
                <a:latin typeface="NotoSansJP"/>
                <a:ea typeface="NotoSansJP"/>
              </a:rPr>
              <a:t>波の伝搬特性</a:t>
            </a:r>
            <a:endParaRPr b="0" lang="en-US" sz="1580" strike="noStrike" u="none">
              <a:solidFill>
                <a:srgbClr val="000000"/>
              </a:solidFill>
              <a:effectLst/>
              <a:uFillTx/>
              <a:latin typeface="Times New Roman"/>
            </a:endParaRPr>
          </a:p>
        </p:txBody>
      </p:sp>
      <p:sp>
        <p:nvSpPr>
          <p:cNvPr id="335" name=""/>
          <p:cNvSpPr txBox="1"/>
          <p:nvPr/>
        </p:nvSpPr>
        <p:spPr>
          <a:xfrm>
            <a:off x="5849640" y="4254840"/>
            <a:ext cx="1914120" cy="194040"/>
          </a:xfrm>
          <a:prstGeom prst="rect">
            <a:avLst/>
          </a:prstGeom>
          <a:noFill/>
          <a:ln w="0">
            <a:noFill/>
          </a:ln>
        </p:spPr>
        <p:txBody>
          <a:bodyPr wrap="none" lIns="0" rIns="0" tIns="0" bIns="0" anchor="t">
            <a:spAutoFit/>
          </a:bodyPr>
          <a:p>
            <a:r>
              <a:rPr b="0" lang="zh-CN" sz="1050" strike="noStrike" u="none">
                <a:solidFill>
                  <a:srgbClr val="ffffff"/>
                </a:solidFill>
                <a:effectLst/>
                <a:uFillTx/>
                <a:latin typeface="NotoSansJP"/>
                <a:ea typeface="NotoSansJP"/>
              </a:rPr>
              <a:t>進行波 </a:t>
            </a:r>
            <a:r>
              <a:rPr b="0" lang="en-US" sz="1050" strike="noStrike" u="none">
                <a:solidFill>
                  <a:srgbClr val="ffffff"/>
                </a:solidFill>
                <a:effectLst/>
                <a:uFillTx/>
                <a:latin typeface="NotoSansJP"/>
                <a:ea typeface="NotoSansJP"/>
              </a:rPr>
              <a:t>(Propagating Waves):</a:t>
            </a:r>
            <a:endParaRPr b="0" lang="en-US" sz="1050" strike="noStrike" u="none">
              <a:solidFill>
                <a:srgbClr val="000000"/>
              </a:solidFill>
              <a:effectLst/>
              <a:uFillTx/>
              <a:latin typeface="Times New Roman"/>
            </a:endParaRPr>
          </a:p>
        </p:txBody>
      </p:sp>
      <p:sp>
        <p:nvSpPr>
          <p:cNvPr id="336" name=""/>
          <p:cNvSpPr txBox="1"/>
          <p:nvPr/>
        </p:nvSpPr>
        <p:spPr>
          <a:xfrm>
            <a:off x="6906240" y="4579560"/>
            <a:ext cx="433080" cy="194040"/>
          </a:xfrm>
          <a:prstGeom prst="rect">
            <a:avLst/>
          </a:prstGeom>
          <a:noFill/>
          <a:ln w="0">
            <a:noFill/>
          </a:ln>
        </p:spPr>
        <p:txBody>
          <a:bodyPr wrap="none" lIns="0" rIns="0" tIns="0" bIns="0" anchor="t">
            <a:spAutoFit/>
          </a:bodyPr>
          <a:p>
            <a:r>
              <a:rPr b="0" lang="en-US" sz="1050" strike="noStrike" u="none">
                <a:solidFill>
                  <a:srgbClr val="a7c6d9"/>
                </a:solidFill>
                <a:effectLst/>
                <a:uFillTx/>
                <a:latin typeface="NotoSansJP"/>
                <a:ea typeface="NotoSansJP"/>
              </a:rPr>
              <a:t> の場合</a:t>
            </a:r>
            <a:endParaRPr b="0" lang="en-US" sz="1050" strike="noStrike" u="none">
              <a:solidFill>
                <a:srgbClr val="000000"/>
              </a:solidFill>
              <a:effectLst/>
              <a:uFillTx/>
              <a:latin typeface="Times New Roman"/>
            </a:endParaRPr>
          </a:p>
        </p:txBody>
      </p:sp>
      <p:sp>
        <p:nvSpPr>
          <p:cNvPr id="337" name=""/>
          <p:cNvSpPr/>
          <p:nvPr/>
        </p:nvSpPr>
        <p:spPr>
          <a:xfrm>
            <a:off x="5682240" y="5314680"/>
            <a:ext cx="100800" cy="100800"/>
          </a:xfrm>
          <a:custGeom>
            <a:avLst/>
            <a:gdLst/>
            <a:ahLst/>
            <a:rect l="0" t="0" r="r" b="b"/>
            <a:pathLst>
              <a:path w="280" h="280">
                <a:moveTo>
                  <a:pt x="280" y="140"/>
                </a:moveTo>
                <a:cubicBezTo>
                  <a:pt x="280" y="159"/>
                  <a:pt x="276" y="177"/>
                  <a:pt x="269" y="194"/>
                </a:cubicBezTo>
                <a:cubicBezTo>
                  <a:pt x="262" y="211"/>
                  <a:pt x="252" y="226"/>
                  <a:pt x="239" y="239"/>
                </a:cubicBezTo>
                <a:cubicBezTo>
                  <a:pt x="226" y="252"/>
                  <a:pt x="211" y="262"/>
                  <a:pt x="193" y="269"/>
                </a:cubicBezTo>
                <a:cubicBezTo>
                  <a:pt x="176" y="276"/>
                  <a:pt x="158" y="280"/>
                  <a:pt x="140" y="280"/>
                </a:cubicBezTo>
                <a:cubicBezTo>
                  <a:pt x="121" y="280"/>
                  <a:pt x="103" y="276"/>
                  <a:pt x="86" y="269"/>
                </a:cubicBezTo>
                <a:cubicBezTo>
                  <a:pt x="69" y="262"/>
                  <a:pt x="54" y="252"/>
                  <a:pt x="41" y="239"/>
                </a:cubicBezTo>
                <a:cubicBezTo>
                  <a:pt x="28" y="226"/>
                  <a:pt x="18" y="211"/>
                  <a:pt x="11" y="194"/>
                </a:cubicBezTo>
                <a:cubicBezTo>
                  <a:pt x="4" y="177"/>
                  <a:pt x="0" y="159"/>
                  <a:pt x="0" y="140"/>
                </a:cubicBezTo>
                <a:cubicBezTo>
                  <a:pt x="0" y="122"/>
                  <a:pt x="4" y="103"/>
                  <a:pt x="11" y="86"/>
                </a:cubicBezTo>
                <a:cubicBezTo>
                  <a:pt x="18" y="69"/>
                  <a:pt x="28" y="54"/>
                  <a:pt x="41" y="41"/>
                </a:cubicBezTo>
                <a:cubicBezTo>
                  <a:pt x="54" y="28"/>
                  <a:pt x="69" y="18"/>
                  <a:pt x="86" y="11"/>
                </a:cubicBezTo>
                <a:cubicBezTo>
                  <a:pt x="103" y="4"/>
                  <a:pt x="121" y="0"/>
                  <a:pt x="140" y="0"/>
                </a:cubicBezTo>
                <a:cubicBezTo>
                  <a:pt x="158" y="0"/>
                  <a:pt x="176" y="4"/>
                  <a:pt x="193" y="11"/>
                </a:cubicBezTo>
                <a:cubicBezTo>
                  <a:pt x="211" y="18"/>
                  <a:pt x="226" y="28"/>
                  <a:pt x="239" y="41"/>
                </a:cubicBezTo>
                <a:cubicBezTo>
                  <a:pt x="252" y="54"/>
                  <a:pt x="262" y="69"/>
                  <a:pt x="269" y="86"/>
                </a:cubicBezTo>
                <a:cubicBezTo>
                  <a:pt x="276" y="103"/>
                  <a:pt x="280" y="122"/>
                  <a:pt x="280" y="140"/>
                </a:cubicBezTo>
                <a:close/>
              </a:path>
            </a:pathLst>
          </a:custGeom>
          <a:solidFill>
            <a:srgbClr val="ff8c00"/>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338" name=""/>
          <p:cNvSpPr txBox="1"/>
          <p:nvPr/>
        </p:nvSpPr>
        <p:spPr>
          <a:xfrm>
            <a:off x="5849640" y="4898160"/>
            <a:ext cx="4024080" cy="194040"/>
          </a:xfrm>
          <a:prstGeom prst="rect">
            <a:avLst/>
          </a:prstGeom>
          <a:noFill/>
          <a:ln w="0">
            <a:noFill/>
          </a:ln>
        </p:spPr>
        <p:txBody>
          <a:bodyPr wrap="none" lIns="0" rIns="0" tIns="0" bIns="0" anchor="t">
            <a:spAutoFit/>
          </a:bodyPr>
          <a:p>
            <a:r>
              <a:rPr b="0" lang="zh-CN" sz="1050" strike="noStrike" u="none">
                <a:solidFill>
                  <a:srgbClr val="ffffff"/>
                </a:solidFill>
                <a:effectLst/>
                <a:uFillTx/>
                <a:latin typeface="NotoSansJP"/>
                <a:ea typeface="NotoSansJP"/>
              </a:rPr>
              <a:t>伝達関数は位相変化のみを表し、平面波は減衰せずに伝搬します。</a:t>
            </a:r>
            <a:endParaRPr b="0" lang="en-US" sz="1050" strike="noStrike" u="none">
              <a:solidFill>
                <a:srgbClr val="000000"/>
              </a:solidFill>
              <a:effectLst/>
              <a:uFillTx/>
              <a:latin typeface="Times New Roman"/>
            </a:endParaRPr>
          </a:p>
        </p:txBody>
      </p:sp>
      <p:sp>
        <p:nvSpPr>
          <p:cNvPr id="339" name=""/>
          <p:cNvSpPr txBox="1"/>
          <p:nvPr/>
        </p:nvSpPr>
        <p:spPr>
          <a:xfrm>
            <a:off x="5849640" y="5299560"/>
            <a:ext cx="2558880" cy="194040"/>
          </a:xfrm>
          <a:prstGeom prst="rect">
            <a:avLst/>
          </a:prstGeom>
          <a:noFill/>
          <a:ln w="0">
            <a:noFill/>
          </a:ln>
        </p:spPr>
        <p:txBody>
          <a:bodyPr wrap="none" lIns="0" rIns="0" tIns="0" bIns="0" anchor="t">
            <a:spAutoFit/>
          </a:bodyPr>
          <a:p>
            <a:r>
              <a:rPr b="0" lang="zh-CN" sz="1050" strike="noStrike" u="none">
                <a:solidFill>
                  <a:srgbClr val="ffffff"/>
                </a:solidFill>
                <a:effectLst/>
                <a:uFillTx/>
                <a:latin typeface="NotoSansJP"/>
                <a:ea typeface="NotoSansJP"/>
              </a:rPr>
              <a:t>エバネッセント波 </a:t>
            </a:r>
            <a:r>
              <a:rPr b="0" lang="en-US" sz="1050" strike="noStrike" u="none">
                <a:solidFill>
                  <a:srgbClr val="ffffff"/>
                </a:solidFill>
                <a:effectLst/>
                <a:uFillTx/>
                <a:latin typeface="NotoSansJP"/>
                <a:ea typeface="NotoSansJP"/>
              </a:rPr>
              <a:t>(Evanescent Waves):</a:t>
            </a:r>
            <a:endParaRPr b="0" lang="en-US" sz="1050" strike="noStrike" u="none">
              <a:solidFill>
                <a:srgbClr val="000000"/>
              </a:solidFill>
              <a:effectLst/>
              <a:uFillTx/>
              <a:latin typeface="Times New Roman"/>
            </a:endParaRPr>
          </a:p>
        </p:txBody>
      </p:sp>
      <p:sp>
        <p:nvSpPr>
          <p:cNvPr id="340" name=""/>
          <p:cNvSpPr txBox="1"/>
          <p:nvPr/>
        </p:nvSpPr>
        <p:spPr>
          <a:xfrm>
            <a:off x="6906240" y="5624280"/>
            <a:ext cx="433080" cy="194040"/>
          </a:xfrm>
          <a:prstGeom prst="rect">
            <a:avLst/>
          </a:prstGeom>
          <a:noFill/>
          <a:ln w="0">
            <a:noFill/>
          </a:ln>
        </p:spPr>
        <p:txBody>
          <a:bodyPr wrap="none" lIns="0" rIns="0" tIns="0" bIns="0" anchor="t">
            <a:spAutoFit/>
          </a:bodyPr>
          <a:p>
            <a:r>
              <a:rPr b="0" lang="en-US" sz="1050" strike="noStrike" u="none">
                <a:solidFill>
                  <a:srgbClr val="a7c6d9"/>
                </a:solidFill>
                <a:effectLst/>
                <a:uFillTx/>
                <a:latin typeface="NotoSansJP"/>
                <a:ea typeface="NotoSansJP"/>
              </a:rPr>
              <a:t> の場合</a:t>
            </a:r>
            <a:endParaRPr b="0" lang="en-US" sz="1050" strike="noStrike" u="none">
              <a:solidFill>
                <a:srgbClr val="000000"/>
              </a:solidFill>
              <a:effectLst/>
              <a:uFillTx/>
              <a:latin typeface="Times New Roman"/>
            </a:endParaRPr>
          </a:p>
        </p:txBody>
      </p:sp>
      <p:sp>
        <p:nvSpPr>
          <p:cNvPr id="341" name=""/>
          <p:cNvSpPr txBox="1"/>
          <p:nvPr/>
        </p:nvSpPr>
        <p:spPr>
          <a:xfrm>
            <a:off x="5849640" y="5951160"/>
            <a:ext cx="3920040" cy="194040"/>
          </a:xfrm>
          <a:prstGeom prst="rect">
            <a:avLst/>
          </a:prstGeom>
          <a:noFill/>
          <a:ln w="0">
            <a:noFill/>
          </a:ln>
        </p:spPr>
        <p:txBody>
          <a:bodyPr wrap="none" lIns="0" rIns="0" tIns="0" bIns="0" anchor="t">
            <a:spAutoFit/>
          </a:bodyPr>
          <a:p>
            <a:r>
              <a:rPr b="0" lang="zh-CN" sz="1050" strike="noStrike" u="none">
                <a:solidFill>
                  <a:srgbClr val="ffffff"/>
                </a:solidFill>
                <a:effectLst/>
                <a:uFillTx/>
                <a:latin typeface="NotoSansJP"/>
                <a:ea typeface="NotoSansJP"/>
              </a:rPr>
              <a:t>伝達関数は指数関数的に減衰する項となり 波長程度以上離れると</a:t>
            </a:r>
            <a:endParaRPr b="0" lang="en-US" sz="1050" strike="noStrike" u="none">
              <a:solidFill>
                <a:srgbClr val="000000"/>
              </a:solidFill>
              <a:effectLst/>
              <a:uFillTx/>
              <a:latin typeface="Times New Roman"/>
            </a:endParaRPr>
          </a:p>
        </p:txBody>
      </p:sp>
      <p:sp>
        <p:nvSpPr>
          <p:cNvPr id="342" name=""/>
          <p:cNvSpPr txBox="1"/>
          <p:nvPr/>
        </p:nvSpPr>
        <p:spPr>
          <a:xfrm>
            <a:off x="3233520" y="1884240"/>
            <a:ext cx="1815840" cy="268560"/>
          </a:xfrm>
          <a:prstGeom prst="rect">
            <a:avLst/>
          </a:prstGeom>
          <a:noFill/>
          <a:ln w="0">
            <a:noFill/>
          </a:ln>
        </p:spPr>
        <p:txBody>
          <a:bodyPr wrap="none" lIns="0" rIns="0" tIns="0" bIns="0" anchor="t">
            <a:spAutoFit/>
          </a:bodyPr>
          <a:p>
            <a:r>
              <a:rPr b="0" i="1" lang="en-US" sz="1810" strike="noStrike" u="none">
                <a:solidFill>
                  <a:srgbClr val="ffffff"/>
                </a:solidFill>
                <a:effectLst/>
                <a:uFillTx/>
                <a:latin typeface="MathJax_Math"/>
                <a:ea typeface="MathJax_Math"/>
              </a:rPr>
              <a:t>H</a:t>
            </a:r>
            <a:r>
              <a:rPr b="0" lang="en-US" sz="1810" strike="noStrike" u="none">
                <a:solidFill>
                  <a:srgbClr val="ffffff"/>
                </a:solidFill>
                <a:effectLst/>
                <a:uFillTx/>
                <a:latin typeface="MathJax_Main"/>
                <a:ea typeface="MathJax_Main"/>
              </a:rPr>
              <a:t>(</a:t>
            </a:r>
            <a:r>
              <a:rPr b="0" i="1" lang="en-US" sz="1810" strike="noStrike" u="none">
                <a:solidFill>
                  <a:srgbClr val="ffffff"/>
                </a:solidFill>
                <a:effectLst/>
                <a:uFillTx/>
                <a:latin typeface="MathJax_Math"/>
                <a:ea typeface="MathJax_Math"/>
              </a:rPr>
              <a:t>u</a:t>
            </a:r>
            <a:r>
              <a:rPr b="0" lang="en-US" sz="1810" strike="noStrike" u="none">
                <a:solidFill>
                  <a:srgbClr val="ffffff"/>
                </a:solidFill>
                <a:effectLst/>
                <a:uFillTx/>
                <a:latin typeface="MathJax_Main"/>
                <a:ea typeface="MathJax_Main"/>
              </a:rPr>
              <a:t>,</a:t>
            </a:r>
            <a:r>
              <a:rPr b="0" i="1" lang="en-US" sz="1810" strike="noStrike" u="none">
                <a:solidFill>
                  <a:srgbClr val="ffffff"/>
                </a:solidFill>
                <a:effectLst/>
                <a:uFillTx/>
                <a:latin typeface="MathJax_Math"/>
                <a:ea typeface="MathJax_Math"/>
              </a:rPr>
              <a:t> v</a:t>
            </a:r>
            <a:r>
              <a:rPr b="0" lang="en-US" sz="1810" strike="noStrike" u="none">
                <a:solidFill>
                  <a:srgbClr val="ffffff"/>
                </a:solidFill>
                <a:effectLst/>
                <a:uFillTx/>
                <a:latin typeface="MathJax_Main"/>
                <a:ea typeface="MathJax_Main"/>
              </a:rPr>
              <a:t>;</a:t>
            </a:r>
            <a:r>
              <a:rPr b="0" i="1" lang="en-US" sz="1810" strike="noStrike" u="none">
                <a:solidFill>
                  <a:srgbClr val="ffffff"/>
                </a:solidFill>
                <a:effectLst/>
                <a:uFillTx/>
                <a:latin typeface="MathJax_Math"/>
                <a:ea typeface="MathJax_Math"/>
              </a:rPr>
              <a:t> z</a:t>
            </a:r>
            <a:r>
              <a:rPr b="0" lang="en-US" sz="1810" strike="noStrike" u="none">
                <a:solidFill>
                  <a:srgbClr val="ffffff"/>
                </a:solidFill>
                <a:effectLst/>
                <a:uFillTx/>
                <a:latin typeface="MathJax_Main"/>
                <a:ea typeface="MathJax_Main"/>
              </a:rPr>
              <a:t>) = exp</a:t>
            </a:r>
            <a:endParaRPr b="0" lang="en-US" sz="1810" strike="noStrike" u="none">
              <a:solidFill>
                <a:srgbClr val="000000"/>
              </a:solidFill>
              <a:effectLst/>
              <a:uFillTx/>
              <a:latin typeface="Times New Roman"/>
            </a:endParaRPr>
          </a:p>
        </p:txBody>
      </p:sp>
      <p:sp>
        <p:nvSpPr>
          <p:cNvPr id="343" name=""/>
          <p:cNvSpPr txBox="1"/>
          <p:nvPr/>
        </p:nvSpPr>
        <p:spPr>
          <a:xfrm>
            <a:off x="4867200" y="1683720"/>
            <a:ext cx="229680" cy="268560"/>
          </a:xfrm>
          <a:prstGeom prst="rect">
            <a:avLst/>
          </a:prstGeom>
          <a:noFill/>
          <a:ln w="0">
            <a:noFill/>
          </a:ln>
        </p:spPr>
        <p:txBody>
          <a:bodyPr wrap="none" lIns="0" rIns="0" tIns="0" bIns="0" anchor="t">
            <a:spAutoFit/>
          </a:bodyPr>
          <a:p>
            <a:r>
              <a:rPr b="0" lang="en-US" sz="1810" strike="noStrike" u="none">
                <a:solidFill>
                  <a:srgbClr val="ffffff"/>
                </a:solidFill>
                <a:effectLst/>
                <a:uFillTx/>
                <a:latin typeface="MathJax_Size4"/>
                <a:ea typeface="MathJax_Size4"/>
              </a:rPr>
              <a:t>⎡</a:t>
            </a:r>
            <a:endParaRPr b="0" lang="en-US" sz="1810" strike="noStrike" u="none">
              <a:solidFill>
                <a:srgbClr val="000000"/>
              </a:solidFill>
              <a:effectLst/>
              <a:uFillTx/>
              <a:latin typeface="Times New Roman"/>
            </a:endParaRPr>
          </a:p>
        </p:txBody>
      </p:sp>
      <p:sp>
        <p:nvSpPr>
          <p:cNvPr id="344" name=""/>
          <p:cNvSpPr txBox="1"/>
          <p:nvPr/>
        </p:nvSpPr>
        <p:spPr>
          <a:xfrm>
            <a:off x="4867200" y="2084760"/>
            <a:ext cx="229680" cy="268560"/>
          </a:xfrm>
          <a:prstGeom prst="rect">
            <a:avLst/>
          </a:prstGeom>
          <a:noFill/>
          <a:ln w="0">
            <a:noFill/>
          </a:ln>
        </p:spPr>
        <p:txBody>
          <a:bodyPr wrap="none" lIns="0" rIns="0" tIns="0" bIns="0" anchor="t">
            <a:spAutoFit/>
          </a:bodyPr>
          <a:p>
            <a:r>
              <a:rPr b="0" lang="en-US" sz="1810" strike="noStrike" u="none">
                <a:solidFill>
                  <a:srgbClr val="ffffff"/>
                </a:solidFill>
                <a:effectLst/>
                <a:uFillTx/>
                <a:latin typeface="MathJax_Size4"/>
                <a:ea typeface="MathJax_Size4"/>
              </a:rPr>
              <a:t>⎣</a:t>
            </a:r>
            <a:endParaRPr b="0" lang="en-US" sz="1810" strike="noStrike" u="none">
              <a:solidFill>
                <a:srgbClr val="000000"/>
              </a:solidFill>
              <a:effectLst/>
              <a:uFillTx/>
              <a:latin typeface="Times New Roman"/>
            </a:endParaRPr>
          </a:p>
        </p:txBody>
      </p:sp>
      <p:sp>
        <p:nvSpPr>
          <p:cNvPr id="345" name=""/>
          <p:cNvSpPr txBox="1"/>
          <p:nvPr/>
        </p:nvSpPr>
        <p:spPr>
          <a:xfrm>
            <a:off x="5020560" y="1884240"/>
            <a:ext cx="470520" cy="268560"/>
          </a:xfrm>
          <a:prstGeom prst="rect">
            <a:avLst/>
          </a:prstGeom>
          <a:noFill/>
          <a:ln w="0">
            <a:noFill/>
          </a:ln>
        </p:spPr>
        <p:txBody>
          <a:bodyPr wrap="none" lIns="0" rIns="0" tIns="0" bIns="0" anchor="t">
            <a:spAutoFit/>
          </a:bodyPr>
          <a:p>
            <a:r>
              <a:rPr b="0" i="1" lang="en-US" sz="1810" strike="noStrike" u="none">
                <a:solidFill>
                  <a:srgbClr val="ffffff"/>
                </a:solidFill>
                <a:effectLst/>
                <a:uFillTx/>
                <a:latin typeface="MathJax_Math"/>
                <a:ea typeface="MathJax_Math"/>
              </a:rPr>
              <a:t>i</a:t>
            </a:r>
            <a:r>
              <a:rPr b="0" lang="en-US" sz="1810" strike="noStrike" u="none">
                <a:solidFill>
                  <a:srgbClr val="ffffff"/>
                </a:solidFill>
                <a:effectLst/>
                <a:uFillTx/>
                <a:latin typeface="MathJax_Main"/>
                <a:ea typeface="MathJax_Main"/>
              </a:rPr>
              <a:t>2</a:t>
            </a:r>
            <a:r>
              <a:rPr b="0" i="1" lang="en-US" sz="1810" strike="noStrike" u="none">
                <a:solidFill>
                  <a:srgbClr val="ffffff"/>
                </a:solidFill>
                <a:effectLst/>
                <a:uFillTx/>
                <a:latin typeface="MathJax_Math"/>
                <a:ea typeface="MathJax_Math"/>
              </a:rPr>
              <a:t>πz</a:t>
            </a:r>
            <a:endParaRPr b="0" lang="en-US" sz="1810" strike="noStrike" u="none">
              <a:solidFill>
                <a:srgbClr val="000000"/>
              </a:solidFill>
              <a:effectLst/>
              <a:uFillTx/>
              <a:latin typeface="Times New Roman"/>
            </a:endParaRPr>
          </a:p>
        </p:txBody>
      </p:sp>
      <p:sp>
        <p:nvSpPr>
          <p:cNvPr id="346" name=""/>
          <p:cNvSpPr/>
          <p:nvPr/>
        </p:nvSpPr>
        <p:spPr>
          <a:xfrm>
            <a:off x="5690880" y="1654560"/>
            <a:ext cx="1621440" cy="8640"/>
          </a:xfrm>
          <a:custGeom>
            <a:avLst/>
            <a:gdLst/>
            <a:ahLst/>
            <a:rect l="0" t="0" r="r" b="b"/>
            <a:pathLst>
              <a:path w="4504" h="24">
                <a:moveTo>
                  <a:pt x="0" y="0"/>
                </a:moveTo>
                <a:lnTo>
                  <a:pt x="4504" y="0"/>
                </a:lnTo>
                <a:lnTo>
                  <a:pt x="4504" y="24"/>
                </a:lnTo>
                <a:lnTo>
                  <a:pt x="0" y="24"/>
                </a:lnTo>
                <a:lnTo>
                  <a:pt x="0" y="0"/>
                </a:lnTo>
                <a:close/>
              </a:path>
            </a:pathLst>
          </a:custGeom>
          <a:solidFill>
            <a:srgbClr val="ffffff"/>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347" name=""/>
          <p:cNvSpPr txBox="1"/>
          <p:nvPr/>
        </p:nvSpPr>
        <p:spPr>
          <a:xfrm>
            <a:off x="5452920" y="1842480"/>
            <a:ext cx="229680" cy="268560"/>
          </a:xfrm>
          <a:prstGeom prst="rect">
            <a:avLst/>
          </a:prstGeom>
          <a:noFill/>
          <a:ln w="0">
            <a:noFill/>
          </a:ln>
        </p:spPr>
        <p:txBody>
          <a:bodyPr wrap="none" lIns="0" rIns="0" tIns="0" bIns="0" anchor="t">
            <a:spAutoFit/>
          </a:bodyPr>
          <a:p>
            <a:r>
              <a:rPr b="0" lang="en-US" sz="1810" strike="noStrike" u="none">
                <a:solidFill>
                  <a:srgbClr val="ffffff"/>
                </a:solidFill>
                <a:effectLst/>
                <a:uFillTx/>
                <a:latin typeface="MathJax_Size4"/>
                <a:ea typeface="MathJax_Size4"/>
              </a:rPr>
              <a:t>√</a:t>
            </a:r>
            <a:endParaRPr b="0" lang="en-US" sz="1810" strike="noStrike" u="none">
              <a:solidFill>
                <a:srgbClr val="000000"/>
              </a:solidFill>
              <a:effectLst/>
              <a:uFillTx/>
              <a:latin typeface="Times New Roman"/>
            </a:endParaRPr>
          </a:p>
        </p:txBody>
      </p:sp>
      <p:sp>
        <p:nvSpPr>
          <p:cNvPr id="348" name=""/>
          <p:cNvSpPr txBox="1"/>
          <p:nvPr/>
        </p:nvSpPr>
        <p:spPr>
          <a:xfrm>
            <a:off x="5687640" y="1884240"/>
            <a:ext cx="229680" cy="268560"/>
          </a:xfrm>
          <a:prstGeom prst="rect">
            <a:avLst/>
          </a:prstGeom>
          <a:noFill/>
          <a:ln w="0">
            <a:noFill/>
          </a:ln>
        </p:spPr>
        <p:txBody>
          <a:bodyPr wrap="none" lIns="0" rIns="0" tIns="0" bIns="0" anchor="t">
            <a:spAutoFit/>
          </a:bodyPr>
          <a:p>
            <a:r>
              <a:rPr b="0" lang="en-US" sz="1810" strike="noStrike" u="none">
                <a:solidFill>
                  <a:srgbClr val="ffffff"/>
                </a:solidFill>
                <a:effectLst/>
                <a:uFillTx/>
                <a:latin typeface="MathJax_Size3"/>
                <a:ea typeface="MathJax_Size3"/>
              </a:rPr>
              <a:t>(</a:t>
            </a:r>
            <a:endParaRPr b="0" lang="en-US" sz="1810" strike="noStrike" u="none">
              <a:solidFill>
                <a:srgbClr val="000000"/>
              </a:solidFill>
              <a:effectLst/>
              <a:uFillTx/>
              <a:latin typeface="Times New Roman"/>
            </a:endParaRPr>
          </a:p>
        </p:txBody>
      </p:sp>
      <p:sp>
        <p:nvSpPr>
          <p:cNvPr id="349" name=""/>
          <p:cNvSpPr/>
          <p:nvPr/>
        </p:nvSpPr>
        <p:spPr>
          <a:xfrm>
            <a:off x="5882760" y="2038680"/>
            <a:ext cx="184320" cy="9000"/>
          </a:xfrm>
          <a:custGeom>
            <a:avLst/>
            <a:gdLst/>
            <a:ahLst/>
            <a:rect l="0" t="0" r="r" b="b"/>
            <a:pathLst>
              <a:path w="512" h="25">
                <a:moveTo>
                  <a:pt x="0" y="0"/>
                </a:moveTo>
                <a:lnTo>
                  <a:pt x="512" y="0"/>
                </a:lnTo>
                <a:lnTo>
                  <a:pt x="512" y="25"/>
                </a:lnTo>
                <a:lnTo>
                  <a:pt x="0" y="25"/>
                </a:lnTo>
                <a:lnTo>
                  <a:pt x="0" y="0"/>
                </a:lnTo>
                <a:close/>
              </a:path>
            </a:pathLst>
          </a:custGeom>
          <a:solidFill>
            <a:srgbClr val="ffffff"/>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350" name=""/>
          <p:cNvSpPr txBox="1"/>
          <p:nvPr/>
        </p:nvSpPr>
        <p:spPr>
          <a:xfrm>
            <a:off x="5916960" y="1733760"/>
            <a:ext cx="229680" cy="268560"/>
          </a:xfrm>
          <a:prstGeom prst="rect">
            <a:avLst/>
          </a:prstGeom>
          <a:noFill/>
          <a:ln w="0">
            <a:noFill/>
          </a:ln>
        </p:spPr>
        <p:txBody>
          <a:bodyPr wrap="none" lIns="0" rIns="0" tIns="0" bIns="0" anchor="t">
            <a:spAutoFit/>
          </a:bodyPr>
          <a:p>
            <a:r>
              <a:rPr b="0" lang="en-US" sz="1810" strike="noStrike" u="none">
                <a:solidFill>
                  <a:srgbClr val="ffffff"/>
                </a:solidFill>
                <a:effectLst/>
                <a:uFillTx/>
                <a:latin typeface="MathJax_Main"/>
                <a:ea typeface="MathJax_Main"/>
              </a:rPr>
              <a:t>1</a:t>
            </a:r>
            <a:endParaRPr b="0" lang="en-US" sz="1810" strike="noStrike" u="none">
              <a:solidFill>
                <a:srgbClr val="000000"/>
              </a:solidFill>
              <a:effectLst/>
              <a:uFillTx/>
              <a:latin typeface="Times New Roman"/>
            </a:endParaRPr>
          </a:p>
        </p:txBody>
      </p:sp>
      <p:sp>
        <p:nvSpPr>
          <p:cNvPr id="351" name=""/>
          <p:cNvSpPr txBox="1"/>
          <p:nvPr/>
        </p:nvSpPr>
        <p:spPr>
          <a:xfrm>
            <a:off x="5907240" y="2043000"/>
            <a:ext cx="229680" cy="268560"/>
          </a:xfrm>
          <a:prstGeom prst="rect">
            <a:avLst/>
          </a:prstGeom>
          <a:noFill/>
          <a:ln w="0">
            <a:noFill/>
          </a:ln>
        </p:spPr>
        <p:txBody>
          <a:bodyPr wrap="none" lIns="0" rIns="0" tIns="0" bIns="0" anchor="t">
            <a:spAutoFit/>
          </a:bodyPr>
          <a:p>
            <a:r>
              <a:rPr b="0" i="1" lang="en-US" sz="1810" strike="noStrike" u="none">
                <a:solidFill>
                  <a:srgbClr val="ffffff"/>
                </a:solidFill>
                <a:effectLst/>
                <a:uFillTx/>
                <a:latin typeface="MathJax_Math"/>
                <a:ea typeface="MathJax_Math"/>
              </a:rPr>
              <a:t>λ</a:t>
            </a:r>
            <a:endParaRPr b="0" lang="en-US" sz="1810" strike="noStrike" u="none">
              <a:solidFill>
                <a:srgbClr val="000000"/>
              </a:solidFill>
              <a:effectLst/>
              <a:uFillTx/>
              <a:latin typeface="Times New Roman"/>
            </a:endParaRPr>
          </a:p>
        </p:txBody>
      </p:sp>
      <p:sp>
        <p:nvSpPr>
          <p:cNvPr id="352" name=""/>
          <p:cNvSpPr txBox="1"/>
          <p:nvPr/>
        </p:nvSpPr>
        <p:spPr>
          <a:xfrm>
            <a:off x="6091920" y="1884240"/>
            <a:ext cx="229680" cy="268560"/>
          </a:xfrm>
          <a:prstGeom prst="rect">
            <a:avLst/>
          </a:prstGeom>
          <a:noFill/>
          <a:ln w="0">
            <a:noFill/>
          </a:ln>
        </p:spPr>
        <p:txBody>
          <a:bodyPr wrap="none" lIns="0" rIns="0" tIns="0" bIns="0" anchor="t">
            <a:spAutoFit/>
          </a:bodyPr>
          <a:p>
            <a:r>
              <a:rPr b="0" lang="en-US" sz="1810" strike="noStrike" u="none">
                <a:solidFill>
                  <a:srgbClr val="ffffff"/>
                </a:solidFill>
                <a:effectLst/>
                <a:uFillTx/>
                <a:latin typeface="MathJax_Size3"/>
                <a:ea typeface="MathJax_Size3"/>
              </a:rPr>
              <a:t>)</a:t>
            </a:r>
            <a:endParaRPr b="0" lang="en-US" sz="1810" strike="noStrike" u="none">
              <a:solidFill>
                <a:srgbClr val="000000"/>
              </a:solidFill>
              <a:effectLst/>
              <a:uFillTx/>
              <a:latin typeface="Times New Roman"/>
            </a:endParaRPr>
          </a:p>
        </p:txBody>
      </p:sp>
      <p:sp>
        <p:nvSpPr>
          <p:cNvPr id="353" name=""/>
          <p:cNvSpPr txBox="1"/>
          <p:nvPr/>
        </p:nvSpPr>
        <p:spPr>
          <a:xfrm>
            <a:off x="6261120" y="1679040"/>
            <a:ext cx="162360" cy="189360"/>
          </a:xfrm>
          <a:prstGeom prst="rect">
            <a:avLst/>
          </a:prstGeom>
          <a:noFill/>
          <a:ln w="0">
            <a:noFill/>
          </a:ln>
        </p:spPr>
        <p:txBody>
          <a:bodyPr wrap="none" lIns="0" rIns="0" tIns="0" bIns="0" anchor="t">
            <a:spAutoFit/>
          </a:bodyPr>
          <a:p>
            <a:r>
              <a:rPr b="0" lang="en-US" sz="1280" strike="noStrike" u="none">
                <a:solidFill>
                  <a:srgbClr val="ffffff"/>
                </a:solidFill>
                <a:effectLst/>
                <a:uFillTx/>
                <a:latin typeface="MathJax_Main"/>
                <a:ea typeface="MathJax_Main"/>
              </a:rPr>
              <a:t>2</a:t>
            </a:r>
            <a:endParaRPr b="0" lang="en-US" sz="1280" strike="noStrike" u="none">
              <a:solidFill>
                <a:srgbClr val="000000"/>
              </a:solidFill>
              <a:effectLst/>
              <a:uFillTx/>
              <a:latin typeface="Times New Roman"/>
            </a:endParaRPr>
          </a:p>
        </p:txBody>
      </p:sp>
      <p:sp>
        <p:nvSpPr>
          <p:cNvPr id="354" name=""/>
          <p:cNvSpPr txBox="1"/>
          <p:nvPr/>
        </p:nvSpPr>
        <p:spPr>
          <a:xfrm>
            <a:off x="6393240" y="1884240"/>
            <a:ext cx="412560" cy="268560"/>
          </a:xfrm>
          <a:prstGeom prst="rect">
            <a:avLst/>
          </a:prstGeom>
          <a:noFill/>
          <a:ln w="0">
            <a:noFill/>
          </a:ln>
        </p:spPr>
        <p:txBody>
          <a:bodyPr wrap="none" lIns="0" rIns="0" tIns="0" bIns="0" anchor="t">
            <a:spAutoFit/>
          </a:bodyPr>
          <a:p>
            <a:r>
              <a:rPr b="0" lang="en-US" sz="1810" strike="noStrike" u="none">
                <a:solidFill>
                  <a:srgbClr val="ffffff"/>
                </a:solidFill>
                <a:effectLst/>
                <a:uFillTx/>
                <a:latin typeface="MathJax_Main"/>
                <a:ea typeface="MathJax_Main"/>
              </a:rPr>
              <a:t>−</a:t>
            </a:r>
            <a:r>
              <a:rPr b="0" i="1" lang="en-US" sz="1810" strike="noStrike" u="none">
                <a:solidFill>
                  <a:srgbClr val="ffffff"/>
                </a:solidFill>
                <a:effectLst/>
                <a:uFillTx/>
                <a:latin typeface="MathJax_Math"/>
                <a:ea typeface="MathJax_Math"/>
              </a:rPr>
              <a:t> u</a:t>
            </a:r>
            <a:endParaRPr b="0" lang="en-US" sz="1810" strike="noStrike" u="none">
              <a:solidFill>
                <a:srgbClr val="000000"/>
              </a:solidFill>
              <a:effectLst/>
              <a:uFillTx/>
              <a:latin typeface="Times New Roman"/>
            </a:endParaRPr>
          </a:p>
        </p:txBody>
      </p:sp>
      <p:sp>
        <p:nvSpPr>
          <p:cNvPr id="355" name=""/>
          <p:cNvSpPr txBox="1"/>
          <p:nvPr/>
        </p:nvSpPr>
        <p:spPr>
          <a:xfrm>
            <a:off x="6754680" y="1879920"/>
            <a:ext cx="162360" cy="189360"/>
          </a:xfrm>
          <a:prstGeom prst="rect">
            <a:avLst/>
          </a:prstGeom>
          <a:noFill/>
          <a:ln w="0">
            <a:noFill/>
          </a:ln>
        </p:spPr>
        <p:txBody>
          <a:bodyPr wrap="none" lIns="0" rIns="0" tIns="0" bIns="0" anchor="t">
            <a:spAutoFit/>
          </a:bodyPr>
          <a:p>
            <a:r>
              <a:rPr b="0" lang="en-US" sz="1280" strike="noStrike" u="none">
                <a:solidFill>
                  <a:srgbClr val="ffffff"/>
                </a:solidFill>
                <a:effectLst/>
                <a:uFillTx/>
                <a:latin typeface="MathJax_Main"/>
                <a:ea typeface="MathJax_Main"/>
              </a:rPr>
              <a:t>2</a:t>
            </a:r>
            <a:endParaRPr b="0" lang="en-US" sz="1280" strike="noStrike" u="none">
              <a:solidFill>
                <a:srgbClr val="000000"/>
              </a:solidFill>
              <a:effectLst/>
              <a:uFillTx/>
              <a:latin typeface="Times New Roman"/>
            </a:endParaRPr>
          </a:p>
        </p:txBody>
      </p:sp>
      <p:sp>
        <p:nvSpPr>
          <p:cNvPr id="356" name=""/>
          <p:cNvSpPr txBox="1"/>
          <p:nvPr/>
        </p:nvSpPr>
        <p:spPr>
          <a:xfrm>
            <a:off x="6887160" y="1884240"/>
            <a:ext cx="402840" cy="268560"/>
          </a:xfrm>
          <a:prstGeom prst="rect">
            <a:avLst/>
          </a:prstGeom>
          <a:noFill/>
          <a:ln w="0">
            <a:noFill/>
          </a:ln>
        </p:spPr>
        <p:txBody>
          <a:bodyPr wrap="none" lIns="0" rIns="0" tIns="0" bIns="0" anchor="t">
            <a:spAutoFit/>
          </a:bodyPr>
          <a:p>
            <a:r>
              <a:rPr b="0" lang="en-US" sz="1810" strike="noStrike" u="none">
                <a:solidFill>
                  <a:srgbClr val="ffffff"/>
                </a:solidFill>
                <a:effectLst/>
                <a:uFillTx/>
                <a:latin typeface="MathJax_Main"/>
                <a:ea typeface="MathJax_Main"/>
              </a:rPr>
              <a:t>−</a:t>
            </a:r>
            <a:r>
              <a:rPr b="0" i="1" lang="en-US" sz="1810" strike="noStrike" u="none">
                <a:solidFill>
                  <a:srgbClr val="ffffff"/>
                </a:solidFill>
                <a:effectLst/>
                <a:uFillTx/>
                <a:latin typeface="MathJax_Math"/>
                <a:ea typeface="MathJax_Math"/>
              </a:rPr>
              <a:t> v</a:t>
            </a:r>
            <a:endParaRPr b="0" lang="en-US" sz="1810" strike="noStrike" u="none">
              <a:solidFill>
                <a:srgbClr val="000000"/>
              </a:solidFill>
              <a:effectLst/>
              <a:uFillTx/>
              <a:latin typeface="Times New Roman"/>
            </a:endParaRPr>
          </a:p>
        </p:txBody>
      </p:sp>
      <p:sp>
        <p:nvSpPr>
          <p:cNvPr id="357" name=""/>
          <p:cNvSpPr txBox="1"/>
          <p:nvPr/>
        </p:nvSpPr>
        <p:spPr>
          <a:xfrm>
            <a:off x="7228440" y="1879920"/>
            <a:ext cx="162360" cy="189360"/>
          </a:xfrm>
          <a:prstGeom prst="rect">
            <a:avLst/>
          </a:prstGeom>
          <a:noFill/>
          <a:ln w="0">
            <a:noFill/>
          </a:ln>
        </p:spPr>
        <p:txBody>
          <a:bodyPr wrap="none" lIns="0" rIns="0" tIns="0" bIns="0" anchor="t">
            <a:spAutoFit/>
          </a:bodyPr>
          <a:p>
            <a:r>
              <a:rPr b="0" lang="en-US" sz="1280" strike="noStrike" u="none">
                <a:solidFill>
                  <a:srgbClr val="ffffff"/>
                </a:solidFill>
                <a:effectLst/>
                <a:uFillTx/>
                <a:latin typeface="MathJax_Main"/>
                <a:ea typeface="MathJax_Main"/>
              </a:rPr>
              <a:t>2</a:t>
            </a:r>
            <a:endParaRPr b="0" lang="en-US" sz="1280" strike="noStrike" u="none">
              <a:solidFill>
                <a:srgbClr val="000000"/>
              </a:solidFill>
              <a:effectLst/>
              <a:uFillTx/>
              <a:latin typeface="Times New Roman"/>
            </a:endParaRPr>
          </a:p>
        </p:txBody>
      </p:sp>
      <p:sp>
        <p:nvSpPr>
          <p:cNvPr id="358" name=""/>
          <p:cNvSpPr txBox="1"/>
          <p:nvPr/>
        </p:nvSpPr>
        <p:spPr>
          <a:xfrm>
            <a:off x="7309800" y="1683720"/>
            <a:ext cx="229680" cy="268560"/>
          </a:xfrm>
          <a:prstGeom prst="rect">
            <a:avLst/>
          </a:prstGeom>
          <a:noFill/>
          <a:ln w="0">
            <a:noFill/>
          </a:ln>
        </p:spPr>
        <p:txBody>
          <a:bodyPr wrap="none" lIns="0" rIns="0" tIns="0" bIns="0" anchor="t">
            <a:spAutoFit/>
          </a:bodyPr>
          <a:p>
            <a:r>
              <a:rPr b="0" lang="en-US" sz="1810" strike="noStrike" u="none">
                <a:solidFill>
                  <a:srgbClr val="ffffff"/>
                </a:solidFill>
                <a:effectLst/>
                <a:uFillTx/>
                <a:latin typeface="MathJax_Size4"/>
                <a:ea typeface="MathJax_Size4"/>
              </a:rPr>
              <a:t>⎤</a:t>
            </a:r>
            <a:endParaRPr b="0" lang="en-US" sz="1810" strike="noStrike" u="none">
              <a:solidFill>
                <a:srgbClr val="000000"/>
              </a:solidFill>
              <a:effectLst/>
              <a:uFillTx/>
              <a:latin typeface="Times New Roman"/>
            </a:endParaRPr>
          </a:p>
        </p:txBody>
      </p:sp>
      <p:sp>
        <p:nvSpPr>
          <p:cNvPr id="359" name=""/>
          <p:cNvSpPr txBox="1"/>
          <p:nvPr/>
        </p:nvSpPr>
        <p:spPr>
          <a:xfrm>
            <a:off x="7309800" y="2084760"/>
            <a:ext cx="229680" cy="268560"/>
          </a:xfrm>
          <a:prstGeom prst="rect">
            <a:avLst/>
          </a:prstGeom>
          <a:noFill/>
          <a:ln w="0">
            <a:noFill/>
          </a:ln>
        </p:spPr>
        <p:txBody>
          <a:bodyPr wrap="none" lIns="0" rIns="0" tIns="0" bIns="0" anchor="t">
            <a:spAutoFit/>
          </a:bodyPr>
          <a:p>
            <a:r>
              <a:rPr b="0" lang="en-US" sz="1810" strike="noStrike" u="none">
                <a:solidFill>
                  <a:srgbClr val="ffffff"/>
                </a:solidFill>
                <a:effectLst/>
                <a:uFillTx/>
                <a:latin typeface="MathJax_Size4"/>
                <a:ea typeface="MathJax_Size4"/>
              </a:rPr>
              <a:t>⎦</a:t>
            </a:r>
            <a:endParaRPr b="0" lang="en-US" sz="1810" strike="noStrike" u="none">
              <a:solidFill>
                <a:srgbClr val="000000"/>
              </a:solidFill>
              <a:effectLst/>
              <a:uFillTx/>
              <a:latin typeface="Times New Roman"/>
            </a:endParaRPr>
          </a:p>
        </p:txBody>
      </p:sp>
      <p:sp>
        <p:nvSpPr>
          <p:cNvPr id="360" name=""/>
          <p:cNvSpPr txBox="1"/>
          <p:nvPr/>
        </p:nvSpPr>
        <p:spPr>
          <a:xfrm>
            <a:off x="1328760" y="2694960"/>
            <a:ext cx="344160" cy="215280"/>
          </a:xfrm>
          <a:prstGeom prst="rect">
            <a:avLst/>
          </a:prstGeom>
          <a:noFill/>
          <a:ln w="0">
            <a:noFill/>
          </a:ln>
        </p:spPr>
        <p:txBody>
          <a:bodyPr wrap="none" lIns="0" rIns="0" tIns="0" bIns="0" anchor="t">
            <a:spAutoFit/>
          </a:bodyPr>
          <a:p>
            <a:r>
              <a:rPr b="0" i="1" lang="en-US" sz="1450" strike="noStrike" u="none">
                <a:solidFill>
                  <a:srgbClr val="ffffff"/>
                </a:solidFill>
                <a:effectLst/>
                <a:uFillTx/>
                <a:latin typeface="MathJax_Math"/>
                <a:ea typeface="MathJax_Math"/>
              </a:rPr>
              <a:t>u</a:t>
            </a:r>
            <a:r>
              <a:rPr b="0" lang="en-US" sz="1450" strike="noStrike" u="none">
                <a:solidFill>
                  <a:srgbClr val="ffffff"/>
                </a:solidFill>
                <a:effectLst/>
                <a:uFillTx/>
                <a:latin typeface="MathJax_Main"/>
                <a:ea typeface="MathJax_Main"/>
              </a:rPr>
              <a:t>,</a:t>
            </a:r>
            <a:r>
              <a:rPr b="0" i="1" lang="en-US" sz="1450" strike="noStrike" u="none">
                <a:solidFill>
                  <a:srgbClr val="ffffff"/>
                </a:solidFill>
                <a:effectLst/>
                <a:uFillTx/>
                <a:latin typeface="MathJax_Math"/>
                <a:ea typeface="MathJax_Math"/>
              </a:rPr>
              <a:t> v</a:t>
            </a:r>
            <a:endParaRPr b="0" lang="en-US" sz="1450" strike="noStrike" u="none">
              <a:solidFill>
                <a:srgbClr val="000000"/>
              </a:solidFill>
              <a:effectLst/>
              <a:uFillTx/>
              <a:latin typeface="Times New Roman"/>
            </a:endParaRPr>
          </a:p>
        </p:txBody>
      </p:sp>
      <p:sp>
        <p:nvSpPr>
          <p:cNvPr id="361" name=""/>
          <p:cNvSpPr txBox="1"/>
          <p:nvPr/>
        </p:nvSpPr>
        <p:spPr>
          <a:xfrm>
            <a:off x="2692440" y="2694960"/>
            <a:ext cx="184320" cy="215280"/>
          </a:xfrm>
          <a:prstGeom prst="rect">
            <a:avLst/>
          </a:prstGeom>
          <a:noFill/>
          <a:ln w="0">
            <a:noFill/>
          </a:ln>
        </p:spPr>
        <p:txBody>
          <a:bodyPr wrap="none" lIns="0" rIns="0" tIns="0" bIns="0" anchor="t">
            <a:spAutoFit/>
          </a:bodyPr>
          <a:p>
            <a:r>
              <a:rPr b="0" i="1" lang="en-US" sz="1450" strike="noStrike" u="none">
                <a:solidFill>
                  <a:srgbClr val="ffffff"/>
                </a:solidFill>
                <a:effectLst/>
                <a:uFillTx/>
                <a:latin typeface="MathJax_Math"/>
                <a:ea typeface="MathJax_Math"/>
              </a:rPr>
              <a:t>z</a:t>
            </a:r>
            <a:endParaRPr b="0" lang="en-US" sz="1450" strike="noStrike" u="none">
              <a:solidFill>
                <a:srgbClr val="000000"/>
              </a:solidFill>
              <a:effectLst/>
              <a:uFillTx/>
              <a:latin typeface="Times New Roman"/>
            </a:endParaRPr>
          </a:p>
        </p:txBody>
      </p:sp>
      <p:sp>
        <p:nvSpPr>
          <p:cNvPr id="362" name=""/>
          <p:cNvSpPr txBox="1"/>
          <p:nvPr/>
        </p:nvSpPr>
        <p:spPr>
          <a:xfrm>
            <a:off x="3714120" y="2694960"/>
            <a:ext cx="184320" cy="215280"/>
          </a:xfrm>
          <a:prstGeom prst="rect">
            <a:avLst/>
          </a:prstGeom>
          <a:noFill/>
          <a:ln w="0">
            <a:noFill/>
          </a:ln>
        </p:spPr>
        <p:txBody>
          <a:bodyPr wrap="none" lIns="0" rIns="0" tIns="0" bIns="0" anchor="t">
            <a:spAutoFit/>
          </a:bodyPr>
          <a:p>
            <a:r>
              <a:rPr b="0" i="1" lang="en-US" sz="1450" strike="noStrike" u="none">
                <a:solidFill>
                  <a:srgbClr val="ffffff"/>
                </a:solidFill>
                <a:effectLst/>
                <a:uFillTx/>
                <a:latin typeface="MathJax_Math"/>
                <a:ea typeface="MathJax_Math"/>
              </a:rPr>
              <a:t>λ</a:t>
            </a:r>
            <a:endParaRPr b="0" lang="en-US" sz="1450" strike="noStrike" u="none">
              <a:solidFill>
                <a:srgbClr val="000000"/>
              </a:solidFill>
              <a:effectLst/>
              <a:uFillTx/>
              <a:latin typeface="Times New Roman"/>
            </a:endParaRPr>
          </a:p>
        </p:txBody>
      </p:sp>
      <p:sp>
        <p:nvSpPr>
          <p:cNvPr id="363" name=""/>
          <p:cNvSpPr txBox="1"/>
          <p:nvPr/>
        </p:nvSpPr>
        <p:spPr>
          <a:xfrm>
            <a:off x="3008520" y="4226760"/>
            <a:ext cx="163800" cy="189360"/>
          </a:xfrm>
          <a:prstGeom prst="rect">
            <a:avLst/>
          </a:prstGeom>
          <a:noFill/>
          <a:ln w="0">
            <a:noFill/>
          </a:ln>
        </p:spPr>
        <p:txBody>
          <a:bodyPr wrap="none" lIns="0" rIns="0" tIns="0" bIns="0" anchor="t">
            <a:spAutoFit/>
          </a:bodyPr>
          <a:p>
            <a:r>
              <a:rPr b="0" i="1" lang="en-US" sz="1290" strike="noStrike" u="none">
                <a:solidFill>
                  <a:srgbClr val="ffffff"/>
                </a:solidFill>
                <a:effectLst/>
                <a:uFillTx/>
                <a:latin typeface="MathJax_Math"/>
                <a:ea typeface="MathJax_Math"/>
              </a:rPr>
              <a:t>z</a:t>
            </a:r>
            <a:endParaRPr b="0" lang="en-US" sz="1290" strike="noStrike" u="none">
              <a:solidFill>
                <a:srgbClr val="000000"/>
              </a:solidFill>
              <a:effectLst/>
              <a:uFillTx/>
              <a:latin typeface="Times New Roman"/>
            </a:endParaRPr>
          </a:p>
        </p:txBody>
      </p:sp>
      <p:sp>
        <p:nvSpPr>
          <p:cNvPr id="364" name=""/>
          <p:cNvSpPr txBox="1"/>
          <p:nvPr/>
        </p:nvSpPr>
        <p:spPr>
          <a:xfrm>
            <a:off x="1796760" y="4761360"/>
            <a:ext cx="768600" cy="189360"/>
          </a:xfrm>
          <a:prstGeom prst="rect">
            <a:avLst/>
          </a:prstGeom>
          <a:noFill/>
          <a:ln w="0">
            <a:noFill/>
          </a:ln>
        </p:spPr>
        <p:txBody>
          <a:bodyPr wrap="none" lIns="0" rIns="0" tIns="0" bIns="0" anchor="t">
            <a:spAutoFit/>
          </a:bodyPr>
          <a:p>
            <a:r>
              <a:rPr b="0" i="1" lang="en-US" sz="1290" strike="noStrike" u="none">
                <a:solidFill>
                  <a:srgbClr val="ffffff"/>
                </a:solidFill>
                <a:effectLst/>
                <a:uFillTx/>
                <a:latin typeface="MathJax_Math"/>
                <a:ea typeface="MathJax_Math"/>
              </a:rPr>
              <a:t>G</a:t>
            </a:r>
            <a:r>
              <a:rPr b="0" lang="en-US" sz="1290" strike="noStrike" u="none">
                <a:solidFill>
                  <a:srgbClr val="ffffff"/>
                </a:solidFill>
                <a:effectLst/>
                <a:uFillTx/>
                <a:latin typeface="MathJax_Main"/>
                <a:ea typeface="MathJax_Main"/>
              </a:rPr>
              <a:t>(</a:t>
            </a:r>
            <a:r>
              <a:rPr b="0" i="1" lang="en-US" sz="1290" strike="noStrike" u="none">
                <a:solidFill>
                  <a:srgbClr val="ffffff"/>
                </a:solidFill>
                <a:effectLst/>
                <a:uFillTx/>
                <a:latin typeface="MathJax_Math"/>
                <a:ea typeface="MathJax_Math"/>
              </a:rPr>
              <a:t>u</a:t>
            </a:r>
            <a:r>
              <a:rPr b="0" lang="en-US" sz="1290" strike="noStrike" u="none">
                <a:solidFill>
                  <a:srgbClr val="ffffff"/>
                </a:solidFill>
                <a:effectLst/>
                <a:uFillTx/>
                <a:latin typeface="MathJax_Main"/>
                <a:ea typeface="MathJax_Main"/>
              </a:rPr>
              <a:t>,</a:t>
            </a:r>
            <a:r>
              <a:rPr b="0" i="1" lang="en-US" sz="1290" strike="noStrike" u="none">
                <a:solidFill>
                  <a:srgbClr val="ffffff"/>
                </a:solidFill>
                <a:effectLst/>
                <a:uFillTx/>
                <a:latin typeface="MathJax_Math"/>
                <a:ea typeface="MathJax_Math"/>
              </a:rPr>
              <a:t> v</a:t>
            </a:r>
            <a:r>
              <a:rPr b="0" lang="en-US" sz="1290" strike="noStrike" u="none">
                <a:solidFill>
                  <a:srgbClr val="ffffff"/>
                </a:solidFill>
                <a:effectLst/>
                <a:uFillTx/>
                <a:latin typeface="MathJax_Main"/>
                <a:ea typeface="MathJax_Main"/>
              </a:rPr>
              <a:t>; 0)</a:t>
            </a:r>
            <a:endParaRPr b="0" lang="en-US" sz="1290" strike="noStrike" u="none">
              <a:solidFill>
                <a:srgbClr val="000000"/>
              </a:solidFill>
              <a:effectLst/>
              <a:uFillTx/>
              <a:latin typeface="Times New Roman"/>
            </a:endParaRPr>
          </a:p>
        </p:txBody>
      </p:sp>
      <p:sp>
        <p:nvSpPr>
          <p:cNvPr id="365" name=""/>
          <p:cNvSpPr txBox="1"/>
          <p:nvPr/>
        </p:nvSpPr>
        <p:spPr>
          <a:xfrm>
            <a:off x="3724560" y="4761360"/>
            <a:ext cx="747000" cy="189360"/>
          </a:xfrm>
          <a:prstGeom prst="rect">
            <a:avLst/>
          </a:prstGeom>
          <a:noFill/>
          <a:ln w="0">
            <a:noFill/>
          </a:ln>
        </p:spPr>
        <p:txBody>
          <a:bodyPr wrap="none" lIns="0" rIns="0" tIns="0" bIns="0" anchor="t">
            <a:spAutoFit/>
          </a:bodyPr>
          <a:p>
            <a:r>
              <a:rPr b="0" i="1" lang="en-US" sz="1290" strike="noStrike" u="none">
                <a:solidFill>
                  <a:srgbClr val="ffffff"/>
                </a:solidFill>
                <a:effectLst/>
                <a:uFillTx/>
                <a:latin typeface="MathJax_Math"/>
                <a:ea typeface="MathJax_Math"/>
              </a:rPr>
              <a:t>H</a:t>
            </a:r>
            <a:r>
              <a:rPr b="0" lang="en-US" sz="1290" strike="noStrike" u="none">
                <a:solidFill>
                  <a:srgbClr val="ffffff"/>
                </a:solidFill>
                <a:effectLst/>
                <a:uFillTx/>
                <a:latin typeface="MathJax_Main"/>
                <a:ea typeface="MathJax_Main"/>
              </a:rPr>
              <a:t>(</a:t>
            </a:r>
            <a:r>
              <a:rPr b="0" i="1" lang="en-US" sz="1290" strike="noStrike" u="none">
                <a:solidFill>
                  <a:srgbClr val="ffffff"/>
                </a:solidFill>
                <a:effectLst/>
                <a:uFillTx/>
                <a:latin typeface="MathJax_Math"/>
                <a:ea typeface="MathJax_Math"/>
              </a:rPr>
              <a:t>u</a:t>
            </a:r>
            <a:r>
              <a:rPr b="0" lang="en-US" sz="1290" strike="noStrike" u="none">
                <a:solidFill>
                  <a:srgbClr val="ffffff"/>
                </a:solidFill>
                <a:effectLst/>
                <a:uFillTx/>
                <a:latin typeface="MathJax_Main"/>
                <a:ea typeface="MathJax_Main"/>
              </a:rPr>
              <a:t>,</a:t>
            </a:r>
            <a:r>
              <a:rPr b="0" i="1" lang="en-US" sz="1290" strike="noStrike" u="none">
                <a:solidFill>
                  <a:srgbClr val="ffffff"/>
                </a:solidFill>
                <a:effectLst/>
                <a:uFillTx/>
                <a:latin typeface="MathJax_Math"/>
                <a:ea typeface="MathJax_Math"/>
              </a:rPr>
              <a:t> v</a:t>
            </a:r>
            <a:r>
              <a:rPr b="0" lang="en-US" sz="1290" strike="noStrike" u="none">
                <a:solidFill>
                  <a:srgbClr val="ffffff"/>
                </a:solidFill>
                <a:effectLst/>
                <a:uFillTx/>
                <a:latin typeface="MathJax_Main"/>
                <a:ea typeface="MathJax_Main"/>
              </a:rPr>
              <a:t>;</a:t>
            </a:r>
            <a:r>
              <a:rPr b="0" i="1" lang="en-US" sz="1290" strike="noStrike" u="none">
                <a:solidFill>
                  <a:srgbClr val="ffffff"/>
                </a:solidFill>
                <a:effectLst/>
                <a:uFillTx/>
                <a:latin typeface="MathJax_Math"/>
                <a:ea typeface="MathJax_Math"/>
              </a:rPr>
              <a:t> z</a:t>
            </a:r>
            <a:r>
              <a:rPr b="0" lang="en-US" sz="1290" strike="noStrike" u="none">
                <a:solidFill>
                  <a:srgbClr val="ffffff"/>
                </a:solidFill>
                <a:effectLst/>
                <a:uFillTx/>
                <a:latin typeface="MathJax_Main"/>
                <a:ea typeface="MathJax_Main"/>
              </a:rPr>
              <a:t>)</a:t>
            </a:r>
            <a:endParaRPr b="0" lang="en-US" sz="1290" strike="noStrike" u="none">
              <a:solidFill>
                <a:srgbClr val="000000"/>
              </a:solidFill>
              <a:effectLst/>
              <a:uFillTx/>
              <a:latin typeface="Times New Roman"/>
            </a:endParaRPr>
          </a:p>
        </p:txBody>
      </p:sp>
      <p:sp>
        <p:nvSpPr>
          <p:cNvPr id="366" name=""/>
          <p:cNvSpPr txBox="1"/>
          <p:nvPr/>
        </p:nvSpPr>
        <p:spPr>
          <a:xfrm>
            <a:off x="2991600" y="4970520"/>
            <a:ext cx="750600" cy="189360"/>
          </a:xfrm>
          <a:prstGeom prst="rect">
            <a:avLst/>
          </a:prstGeom>
          <a:noFill/>
          <a:ln w="0">
            <a:noFill/>
          </a:ln>
        </p:spPr>
        <p:txBody>
          <a:bodyPr wrap="none" lIns="0" rIns="0" tIns="0" bIns="0" anchor="t">
            <a:spAutoFit/>
          </a:bodyPr>
          <a:p>
            <a:r>
              <a:rPr b="0" i="1" lang="en-US" sz="1290" strike="noStrike" u="none">
                <a:solidFill>
                  <a:srgbClr val="ffffff"/>
                </a:solidFill>
                <a:effectLst/>
                <a:uFillTx/>
                <a:latin typeface="MathJax_Math"/>
                <a:ea typeface="MathJax_Math"/>
              </a:rPr>
              <a:t>G</a:t>
            </a:r>
            <a:r>
              <a:rPr b="0" lang="en-US" sz="1290" strike="noStrike" u="none">
                <a:solidFill>
                  <a:srgbClr val="ffffff"/>
                </a:solidFill>
                <a:effectLst/>
                <a:uFillTx/>
                <a:latin typeface="MathJax_Main"/>
                <a:ea typeface="MathJax_Main"/>
              </a:rPr>
              <a:t>(</a:t>
            </a:r>
            <a:r>
              <a:rPr b="0" i="1" lang="en-US" sz="1290" strike="noStrike" u="none">
                <a:solidFill>
                  <a:srgbClr val="ffffff"/>
                </a:solidFill>
                <a:effectLst/>
                <a:uFillTx/>
                <a:latin typeface="MathJax_Math"/>
                <a:ea typeface="MathJax_Math"/>
              </a:rPr>
              <a:t>u</a:t>
            </a:r>
            <a:r>
              <a:rPr b="0" lang="en-US" sz="1290" strike="noStrike" u="none">
                <a:solidFill>
                  <a:srgbClr val="ffffff"/>
                </a:solidFill>
                <a:effectLst/>
                <a:uFillTx/>
                <a:latin typeface="MathJax_Main"/>
                <a:ea typeface="MathJax_Main"/>
              </a:rPr>
              <a:t>,</a:t>
            </a:r>
            <a:r>
              <a:rPr b="0" i="1" lang="en-US" sz="1290" strike="noStrike" u="none">
                <a:solidFill>
                  <a:srgbClr val="ffffff"/>
                </a:solidFill>
                <a:effectLst/>
                <a:uFillTx/>
                <a:latin typeface="MathJax_Math"/>
                <a:ea typeface="MathJax_Math"/>
              </a:rPr>
              <a:t> v</a:t>
            </a:r>
            <a:r>
              <a:rPr b="0" lang="en-US" sz="1290" strike="noStrike" u="none">
                <a:solidFill>
                  <a:srgbClr val="ffffff"/>
                </a:solidFill>
                <a:effectLst/>
                <a:uFillTx/>
                <a:latin typeface="MathJax_Main"/>
                <a:ea typeface="MathJax_Main"/>
              </a:rPr>
              <a:t>;</a:t>
            </a:r>
            <a:r>
              <a:rPr b="0" i="1" lang="en-US" sz="1290" strike="noStrike" u="none">
                <a:solidFill>
                  <a:srgbClr val="ffffff"/>
                </a:solidFill>
                <a:effectLst/>
                <a:uFillTx/>
                <a:latin typeface="MathJax_Math"/>
                <a:ea typeface="MathJax_Math"/>
              </a:rPr>
              <a:t> z</a:t>
            </a:r>
            <a:r>
              <a:rPr b="0" lang="en-US" sz="1290" strike="noStrike" u="none">
                <a:solidFill>
                  <a:srgbClr val="ffffff"/>
                </a:solidFill>
                <a:effectLst/>
                <a:uFillTx/>
                <a:latin typeface="MathJax_Main"/>
                <a:ea typeface="MathJax_Main"/>
              </a:rPr>
              <a:t>)</a:t>
            </a:r>
            <a:endParaRPr b="0" lang="en-US" sz="1290" strike="noStrike" u="none">
              <a:solidFill>
                <a:srgbClr val="000000"/>
              </a:solidFill>
              <a:effectLst/>
              <a:uFillTx/>
              <a:latin typeface="Times New Roman"/>
            </a:endParaRPr>
          </a:p>
        </p:txBody>
      </p:sp>
      <p:sp>
        <p:nvSpPr>
          <p:cNvPr id="367" name=""/>
          <p:cNvSpPr/>
          <p:nvPr/>
        </p:nvSpPr>
        <p:spPr>
          <a:xfrm>
            <a:off x="1838160" y="5322960"/>
            <a:ext cx="1136880" cy="8640"/>
          </a:xfrm>
          <a:custGeom>
            <a:avLst/>
            <a:gdLst/>
            <a:ahLst/>
            <a:rect l="0" t="0" r="r" b="b"/>
            <a:pathLst>
              <a:path w="3158" h="24">
                <a:moveTo>
                  <a:pt x="0" y="0"/>
                </a:moveTo>
                <a:lnTo>
                  <a:pt x="3158" y="0"/>
                </a:lnTo>
                <a:lnTo>
                  <a:pt x="3158" y="24"/>
                </a:lnTo>
                <a:lnTo>
                  <a:pt x="0" y="24"/>
                </a:lnTo>
                <a:lnTo>
                  <a:pt x="0" y="0"/>
                </a:lnTo>
                <a:close/>
              </a:path>
            </a:pathLst>
          </a:custGeom>
          <a:solidFill>
            <a:srgbClr val="ffffff"/>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368" name=""/>
          <p:cNvSpPr txBox="1"/>
          <p:nvPr/>
        </p:nvSpPr>
        <p:spPr>
          <a:xfrm>
            <a:off x="1671480" y="5312880"/>
            <a:ext cx="163800" cy="189360"/>
          </a:xfrm>
          <a:prstGeom prst="rect">
            <a:avLst/>
          </a:prstGeom>
          <a:noFill/>
          <a:ln w="0">
            <a:noFill/>
          </a:ln>
        </p:spPr>
        <p:txBody>
          <a:bodyPr wrap="none" lIns="0" rIns="0" tIns="0" bIns="0" anchor="t">
            <a:spAutoFit/>
          </a:bodyPr>
          <a:p>
            <a:r>
              <a:rPr b="0" lang="en-US" sz="1290" strike="noStrike" u="none">
                <a:solidFill>
                  <a:srgbClr val="ffffff"/>
                </a:solidFill>
                <a:effectLst/>
                <a:uFillTx/>
                <a:latin typeface="MathJax_Size1"/>
                <a:ea typeface="MathJax_Size1"/>
              </a:rPr>
              <a:t>√</a:t>
            </a:r>
            <a:endParaRPr b="0" lang="en-US" sz="1290" strike="noStrike" u="none">
              <a:solidFill>
                <a:srgbClr val="000000"/>
              </a:solidFill>
              <a:effectLst/>
              <a:uFillTx/>
              <a:latin typeface="Times New Roman"/>
            </a:endParaRPr>
          </a:p>
        </p:txBody>
      </p:sp>
      <p:sp>
        <p:nvSpPr>
          <p:cNvPr id="369" name=""/>
          <p:cNvSpPr txBox="1"/>
          <p:nvPr/>
        </p:nvSpPr>
        <p:spPr>
          <a:xfrm>
            <a:off x="1838880" y="5321160"/>
            <a:ext cx="383400" cy="189360"/>
          </a:xfrm>
          <a:prstGeom prst="rect">
            <a:avLst/>
          </a:prstGeom>
          <a:noFill/>
          <a:ln w="0">
            <a:noFill/>
          </a:ln>
        </p:spPr>
        <p:txBody>
          <a:bodyPr wrap="none" lIns="0" rIns="0" tIns="0" bIns="0" anchor="t">
            <a:spAutoFit/>
          </a:bodyPr>
          <a:p>
            <a:r>
              <a:rPr b="0" lang="en-US" sz="1290" strike="noStrike" u="none">
                <a:solidFill>
                  <a:srgbClr val="ffffff"/>
                </a:solidFill>
                <a:effectLst/>
                <a:uFillTx/>
                <a:latin typeface="MathJax_Main"/>
                <a:ea typeface="MathJax_Main"/>
              </a:rPr>
              <a:t>(1/</a:t>
            </a:r>
            <a:r>
              <a:rPr b="0" i="1" lang="en-US" sz="1290" strike="noStrike" u="none">
                <a:solidFill>
                  <a:srgbClr val="ffffff"/>
                </a:solidFill>
                <a:effectLst/>
                <a:uFillTx/>
                <a:latin typeface="MathJax_Math"/>
                <a:ea typeface="MathJax_Math"/>
              </a:rPr>
              <a:t>λ</a:t>
            </a:r>
            <a:r>
              <a:rPr b="0" lang="en-US" sz="1290" strike="noStrike" u="none">
                <a:solidFill>
                  <a:srgbClr val="ffffff"/>
                </a:solidFill>
                <a:effectLst/>
                <a:uFillTx/>
                <a:latin typeface="MathJax_Main"/>
                <a:ea typeface="MathJax_Main"/>
              </a:rPr>
              <a:t>)</a:t>
            </a:r>
            <a:endParaRPr b="0" lang="en-US" sz="1290" strike="noStrike" u="none">
              <a:solidFill>
                <a:srgbClr val="000000"/>
              </a:solidFill>
              <a:effectLst/>
              <a:uFillTx/>
              <a:latin typeface="Times New Roman"/>
            </a:endParaRPr>
          </a:p>
        </p:txBody>
      </p:sp>
      <p:sp>
        <p:nvSpPr>
          <p:cNvPr id="370" name=""/>
          <p:cNvSpPr txBox="1"/>
          <p:nvPr/>
        </p:nvSpPr>
        <p:spPr>
          <a:xfrm>
            <a:off x="2226240" y="5315760"/>
            <a:ext cx="115560" cy="136080"/>
          </a:xfrm>
          <a:prstGeom prst="rect">
            <a:avLst/>
          </a:prstGeom>
          <a:noFill/>
          <a:ln w="0">
            <a:noFill/>
          </a:ln>
        </p:spPr>
        <p:txBody>
          <a:bodyPr wrap="none" lIns="0" rIns="0" tIns="0" bIns="0" anchor="t">
            <a:spAutoFit/>
          </a:bodyPr>
          <a:p>
            <a:r>
              <a:rPr b="0" lang="en-US" sz="920" strike="noStrike" u="none">
                <a:solidFill>
                  <a:srgbClr val="ffffff"/>
                </a:solidFill>
                <a:effectLst/>
                <a:uFillTx/>
                <a:latin typeface="MathJax_Main"/>
                <a:ea typeface="MathJax_Main"/>
              </a:rPr>
              <a:t>2</a:t>
            </a:r>
            <a:endParaRPr b="0" lang="en-US" sz="920" strike="noStrike" u="none">
              <a:solidFill>
                <a:srgbClr val="000000"/>
              </a:solidFill>
              <a:effectLst/>
              <a:uFillTx/>
              <a:latin typeface="Times New Roman"/>
            </a:endParaRPr>
          </a:p>
        </p:txBody>
      </p:sp>
      <p:sp>
        <p:nvSpPr>
          <p:cNvPr id="371" name=""/>
          <p:cNvSpPr txBox="1"/>
          <p:nvPr/>
        </p:nvSpPr>
        <p:spPr>
          <a:xfrm>
            <a:off x="2320560" y="5321160"/>
            <a:ext cx="292680" cy="189360"/>
          </a:xfrm>
          <a:prstGeom prst="rect">
            <a:avLst/>
          </a:prstGeom>
          <a:noFill/>
          <a:ln w="0">
            <a:noFill/>
          </a:ln>
        </p:spPr>
        <p:txBody>
          <a:bodyPr wrap="none" lIns="0" rIns="0" tIns="0" bIns="0" anchor="t">
            <a:spAutoFit/>
          </a:bodyPr>
          <a:p>
            <a:r>
              <a:rPr b="0" lang="en-US" sz="1290" strike="noStrike" u="none">
                <a:solidFill>
                  <a:srgbClr val="ffffff"/>
                </a:solidFill>
                <a:effectLst/>
                <a:uFillTx/>
                <a:latin typeface="MathJax_Main"/>
                <a:ea typeface="MathJax_Main"/>
              </a:rPr>
              <a:t>−</a:t>
            </a:r>
            <a:r>
              <a:rPr b="0" i="1" lang="en-US" sz="1290" strike="noStrike" u="none">
                <a:solidFill>
                  <a:srgbClr val="ffffff"/>
                </a:solidFill>
                <a:effectLst/>
                <a:uFillTx/>
                <a:latin typeface="MathJax_Math"/>
                <a:ea typeface="MathJax_Math"/>
              </a:rPr>
              <a:t> u</a:t>
            </a:r>
            <a:endParaRPr b="0" lang="en-US" sz="1290" strike="noStrike" u="none">
              <a:solidFill>
                <a:srgbClr val="000000"/>
              </a:solidFill>
              <a:effectLst/>
              <a:uFillTx/>
              <a:latin typeface="Times New Roman"/>
            </a:endParaRPr>
          </a:p>
        </p:txBody>
      </p:sp>
      <p:sp>
        <p:nvSpPr>
          <p:cNvPr id="372" name=""/>
          <p:cNvSpPr txBox="1"/>
          <p:nvPr/>
        </p:nvSpPr>
        <p:spPr>
          <a:xfrm>
            <a:off x="2578680" y="5315760"/>
            <a:ext cx="115560" cy="136080"/>
          </a:xfrm>
          <a:prstGeom prst="rect">
            <a:avLst/>
          </a:prstGeom>
          <a:noFill/>
          <a:ln w="0">
            <a:noFill/>
          </a:ln>
        </p:spPr>
        <p:txBody>
          <a:bodyPr wrap="none" lIns="0" rIns="0" tIns="0" bIns="0" anchor="t">
            <a:spAutoFit/>
          </a:bodyPr>
          <a:p>
            <a:r>
              <a:rPr b="0" lang="en-US" sz="920" strike="noStrike" u="none">
                <a:solidFill>
                  <a:srgbClr val="ffffff"/>
                </a:solidFill>
                <a:effectLst/>
                <a:uFillTx/>
                <a:latin typeface="MathJax_Main"/>
                <a:ea typeface="MathJax_Main"/>
              </a:rPr>
              <a:t>2</a:t>
            </a:r>
            <a:endParaRPr b="0" lang="en-US" sz="920" strike="noStrike" u="none">
              <a:solidFill>
                <a:srgbClr val="000000"/>
              </a:solidFill>
              <a:effectLst/>
              <a:uFillTx/>
              <a:latin typeface="Times New Roman"/>
            </a:endParaRPr>
          </a:p>
        </p:txBody>
      </p:sp>
      <p:sp>
        <p:nvSpPr>
          <p:cNvPr id="373" name=""/>
          <p:cNvSpPr txBox="1"/>
          <p:nvPr/>
        </p:nvSpPr>
        <p:spPr>
          <a:xfrm>
            <a:off x="2673000" y="5321160"/>
            <a:ext cx="285840" cy="189360"/>
          </a:xfrm>
          <a:prstGeom prst="rect">
            <a:avLst/>
          </a:prstGeom>
          <a:noFill/>
          <a:ln w="0">
            <a:noFill/>
          </a:ln>
        </p:spPr>
        <p:txBody>
          <a:bodyPr wrap="none" lIns="0" rIns="0" tIns="0" bIns="0" anchor="t">
            <a:spAutoFit/>
          </a:bodyPr>
          <a:p>
            <a:r>
              <a:rPr b="0" lang="en-US" sz="1290" strike="noStrike" u="none">
                <a:solidFill>
                  <a:srgbClr val="ffffff"/>
                </a:solidFill>
                <a:effectLst/>
                <a:uFillTx/>
                <a:latin typeface="MathJax_Main"/>
                <a:ea typeface="MathJax_Main"/>
              </a:rPr>
              <a:t>−</a:t>
            </a:r>
            <a:r>
              <a:rPr b="0" i="1" lang="en-US" sz="1290" strike="noStrike" u="none">
                <a:solidFill>
                  <a:srgbClr val="ffffff"/>
                </a:solidFill>
                <a:effectLst/>
                <a:uFillTx/>
                <a:latin typeface="MathJax_Math"/>
                <a:ea typeface="MathJax_Math"/>
              </a:rPr>
              <a:t> v</a:t>
            </a:r>
            <a:endParaRPr b="0" lang="en-US" sz="1290" strike="noStrike" u="none">
              <a:solidFill>
                <a:srgbClr val="000000"/>
              </a:solidFill>
              <a:effectLst/>
              <a:uFillTx/>
              <a:latin typeface="Times New Roman"/>
            </a:endParaRPr>
          </a:p>
        </p:txBody>
      </p:sp>
      <p:sp>
        <p:nvSpPr>
          <p:cNvPr id="374" name=""/>
          <p:cNvSpPr txBox="1"/>
          <p:nvPr/>
        </p:nvSpPr>
        <p:spPr>
          <a:xfrm>
            <a:off x="2916720" y="5315760"/>
            <a:ext cx="115560" cy="136080"/>
          </a:xfrm>
          <a:prstGeom prst="rect">
            <a:avLst/>
          </a:prstGeom>
          <a:noFill/>
          <a:ln w="0">
            <a:noFill/>
          </a:ln>
        </p:spPr>
        <p:txBody>
          <a:bodyPr wrap="none" lIns="0" rIns="0" tIns="0" bIns="0" anchor="t">
            <a:spAutoFit/>
          </a:bodyPr>
          <a:p>
            <a:r>
              <a:rPr b="0" lang="en-US" sz="920" strike="noStrike" u="none">
                <a:solidFill>
                  <a:srgbClr val="ffffff"/>
                </a:solidFill>
                <a:effectLst/>
                <a:uFillTx/>
                <a:latin typeface="MathJax_Main"/>
                <a:ea typeface="MathJax_Main"/>
              </a:rPr>
              <a:t>2</a:t>
            </a:r>
            <a:endParaRPr b="0" lang="en-US" sz="920" strike="noStrike" u="none">
              <a:solidFill>
                <a:srgbClr val="000000"/>
              </a:solidFill>
              <a:effectLst/>
              <a:uFillTx/>
              <a:latin typeface="Times New Roman"/>
            </a:endParaRPr>
          </a:p>
        </p:txBody>
      </p:sp>
      <p:sp>
        <p:nvSpPr>
          <p:cNvPr id="375" name=""/>
          <p:cNvSpPr txBox="1"/>
          <p:nvPr/>
        </p:nvSpPr>
        <p:spPr>
          <a:xfrm>
            <a:off x="969480" y="5530320"/>
            <a:ext cx="163800" cy="189360"/>
          </a:xfrm>
          <a:prstGeom prst="rect">
            <a:avLst/>
          </a:prstGeom>
          <a:noFill/>
          <a:ln w="0">
            <a:noFill/>
          </a:ln>
        </p:spPr>
        <p:txBody>
          <a:bodyPr wrap="none" lIns="0" rIns="0" tIns="0" bIns="0" anchor="t">
            <a:spAutoFit/>
          </a:bodyPr>
          <a:p>
            <a:r>
              <a:rPr b="0" i="1" lang="en-US" sz="1290" strike="noStrike" u="none">
                <a:solidFill>
                  <a:srgbClr val="ffffff"/>
                </a:solidFill>
                <a:effectLst/>
                <a:uFillTx/>
                <a:latin typeface="MathJax_Math"/>
                <a:ea typeface="MathJax_Math"/>
              </a:rPr>
              <a:t>k</a:t>
            </a:r>
            <a:endParaRPr b="0" lang="en-US" sz="1290" strike="noStrike" u="none">
              <a:solidFill>
                <a:srgbClr val="000000"/>
              </a:solidFill>
              <a:effectLst/>
              <a:uFillTx/>
              <a:latin typeface="Times New Roman"/>
            </a:endParaRPr>
          </a:p>
        </p:txBody>
      </p:sp>
      <p:sp>
        <p:nvSpPr>
          <p:cNvPr id="376" name=""/>
          <p:cNvSpPr txBox="1"/>
          <p:nvPr/>
        </p:nvSpPr>
        <p:spPr>
          <a:xfrm>
            <a:off x="1054800" y="5599800"/>
            <a:ext cx="115560" cy="136080"/>
          </a:xfrm>
          <a:prstGeom prst="rect">
            <a:avLst/>
          </a:prstGeom>
          <a:noFill/>
          <a:ln w="0">
            <a:noFill/>
          </a:ln>
        </p:spPr>
        <p:txBody>
          <a:bodyPr wrap="none" lIns="0" rIns="0" tIns="0" bIns="0" anchor="t">
            <a:spAutoFit/>
          </a:bodyPr>
          <a:p>
            <a:r>
              <a:rPr b="0" i="1" lang="en-US" sz="920" strike="noStrike" u="none">
                <a:solidFill>
                  <a:srgbClr val="ffffff"/>
                </a:solidFill>
                <a:effectLst/>
                <a:uFillTx/>
                <a:latin typeface="MathJax_Math"/>
                <a:ea typeface="MathJax_Math"/>
              </a:rPr>
              <a:t>z</a:t>
            </a:r>
            <a:endParaRPr b="0" lang="en-US" sz="920" strike="noStrike" u="none">
              <a:solidFill>
                <a:srgbClr val="000000"/>
              </a:solidFill>
              <a:effectLst/>
              <a:uFillTx/>
              <a:latin typeface="Times New Roman"/>
            </a:endParaRPr>
          </a:p>
        </p:txBody>
      </p:sp>
      <p:sp>
        <p:nvSpPr>
          <p:cNvPr id="377" name=""/>
          <p:cNvSpPr txBox="1"/>
          <p:nvPr/>
        </p:nvSpPr>
        <p:spPr>
          <a:xfrm>
            <a:off x="1154520" y="5530320"/>
            <a:ext cx="524520" cy="189360"/>
          </a:xfrm>
          <a:prstGeom prst="rect">
            <a:avLst/>
          </a:prstGeom>
          <a:noFill/>
          <a:ln w="0">
            <a:noFill/>
          </a:ln>
        </p:spPr>
        <p:txBody>
          <a:bodyPr wrap="none" lIns="0" rIns="0" tIns="0" bIns="0" anchor="t">
            <a:spAutoFit/>
          </a:bodyPr>
          <a:p>
            <a:r>
              <a:rPr b="0" lang="en-US" sz="1290" strike="noStrike" u="none">
                <a:solidFill>
                  <a:srgbClr val="ffffff"/>
                </a:solidFill>
                <a:effectLst/>
                <a:uFillTx/>
                <a:latin typeface="MathJax_Main"/>
                <a:ea typeface="MathJax_Main"/>
              </a:rPr>
              <a:t>= 2</a:t>
            </a:r>
            <a:r>
              <a:rPr b="0" i="1" lang="en-US" sz="1290" strike="noStrike" u="none">
                <a:solidFill>
                  <a:srgbClr val="ffffff"/>
                </a:solidFill>
                <a:effectLst/>
                <a:uFillTx/>
                <a:latin typeface="MathJax_Math"/>
                <a:ea typeface="MathJax_Math"/>
              </a:rPr>
              <a:t>πw</a:t>
            </a:r>
            <a:endParaRPr b="0" lang="en-US" sz="1290" strike="noStrike" u="none">
              <a:solidFill>
                <a:srgbClr val="000000"/>
              </a:solidFill>
              <a:effectLst/>
              <a:uFillTx/>
              <a:latin typeface="Times New Roman"/>
            </a:endParaRPr>
          </a:p>
        </p:txBody>
      </p:sp>
      <p:sp>
        <p:nvSpPr>
          <p:cNvPr id="378" name=""/>
          <p:cNvSpPr txBox="1"/>
          <p:nvPr/>
        </p:nvSpPr>
        <p:spPr>
          <a:xfrm>
            <a:off x="5849640" y="4552560"/>
            <a:ext cx="163800" cy="189360"/>
          </a:xfrm>
          <a:prstGeom prst="rect">
            <a:avLst/>
          </a:prstGeom>
          <a:noFill/>
          <a:ln w="0">
            <a:noFill/>
          </a:ln>
        </p:spPr>
        <p:txBody>
          <a:bodyPr wrap="none" lIns="0" rIns="0" tIns="0" bIns="0" anchor="t">
            <a:spAutoFit/>
          </a:bodyPr>
          <a:p>
            <a:r>
              <a:rPr b="0" lang="en-US" sz="1290" strike="noStrike" u="none">
                <a:solidFill>
                  <a:srgbClr val="a7c6d9"/>
                </a:solidFill>
                <a:effectLst/>
                <a:uFillTx/>
                <a:latin typeface="MathJax_Size1"/>
                <a:ea typeface="MathJax_Size1"/>
              </a:rPr>
              <a:t>(</a:t>
            </a:r>
            <a:endParaRPr b="0" lang="en-US" sz="1290" strike="noStrike" u="none">
              <a:solidFill>
                <a:srgbClr val="000000"/>
              </a:solidFill>
              <a:effectLst/>
              <a:uFillTx/>
              <a:latin typeface="Times New Roman"/>
            </a:endParaRPr>
          </a:p>
        </p:txBody>
      </p:sp>
      <p:sp>
        <p:nvSpPr>
          <p:cNvPr id="379" name=""/>
          <p:cNvSpPr/>
          <p:nvPr/>
        </p:nvSpPr>
        <p:spPr>
          <a:xfrm>
            <a:off x="5941440" y="4654440"/>
            <a:ext cx="100800" cy="8640"/>
          </a:xfrm>
          <a:custGeom>
            <a:avLst/>
            <a:gdLst/>
            <a:ahLst/>
            <a:rect l="0" t="0" r="r" b="b"/>
            <a:pathLst>
              <a:path w="280" h="24">
                <a:moveTo>
                  <a:pt x="0" y="0"/>
                </a:moveTo>
                <a:lnTo>
                  <a:pt x="280" y="0"/>
                </a:lnTo>
                <a:lnTo>
                  <a:pt x="280" y="24"/>
                </a:lnTo>
                <a:lnTo>
                  <a:pt x="0" y="24"/>
                </a:lnTo>
                <a:lnTo>
                  <a:pt x="0" y="0"/>
                </a:lnTo>
                <a:close/>
              </a:path>
            </a:pathLst>
          </a:custGeom>
          <a:solidFill>
            <a:srgbClr val="a7c6d9"/>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380" name=""/>
          <p:cNvSpPr txBox="1"/>
          <p:nvPr/>
        </p:nvSpPr>
        <p:spPr>
          <a:xfrm>
            <a:off x="5965560" y="4530240"/>
            <a:ext cx="115560" cy="136080"/>
          </a:xfrm>
          <a:prstGeom prst="rect">
            <a:avLst/>
          </a:prstGeom>
          <a:noFill/>
          <a:ln w="0">
            <a:noFill/>
          </a:ln>
        </p:spPr>
        <p:txBody>
          <a:bodyPr wrap="none" lIns="0" rIns="0" tIns="0" bIns="0" anchor="t">
            <a:spAutoFit/>
          </a:bodyPr>
          <a:p>
            <a:r>
              <a:rPr b="0" lang="en-US" sz="920" strike="noStrike" u="none">
                <a:solidFill>
                  <a:srgbClr val="a7c6d9"/>
                </a:solidFill>
                <a:effectLst/>
                <a:uFillTx/>
                <a:latin typeface="MathJax_Main"/>
                <a:ea typeface="MathJax_Main"/>
              </a:rPr>
              <a:t>1</a:t>
            </a:r>
            <a:endParaRPr b="0" lang="en-US" sz="920" strike="noStrike" u="none">
              <a:solidFill>
                <a:srgbClr val="000000"/>
              </a:solidFill>
              <a:effectLst/>
              <a:uFillTx/>
              <a:latin typeface="Times New Roman"/>
            </a:endParaRPr>
          </a:p>
        </p:txBody>
      </p:sp>
      <p:sp>
        <p:nvSpPr>
          <p:cNvPr id="381" name=""/>
          <p:cNvSpPr txBox="1"/>
          <p:nvPr/>
        </p:nvSpPr>
        <p:spPr>
          <a:xfrm>
            <a:off x="5960880" y="4647240"/>
            <a:ext cx="115560" cy="136080"/>
          </a:xfrm>
          <a:prstGeom prst="rect">
            <a:avLst/>
          </a:prstGeom>
          <a:noFill/>
          <a:ln w="0">
            <a:noFill/>
          </a:ln>
        </p:spPr>
        <p:txBody>
          <a:bodyPr wrap="none" lIns="0" rIns="0" tIns="0" bIns="0" anchor="t">
            <a:spAutoFit/>
          </a:bodyPr>
          <a:p>
            <a:r>
              <a:rPr b="0" i="1" lang="en-US" sz="920" strike="noStrike" u="none">
                <a:solidFill>
                  <a:srgbClr val="a7c6d9"/>
                </a:solidFill>
                <a:effectLst/>
                <a:uFillTx/>
                <a:latin typeface="MathJax_Math"/>
                <a:ea typeface="MathJax_Math"/>
              </a:rPr>
              <a:t>λ</a:t>
            </a:r>
            <a:endParaRPr b="0" lang="en-US" sz="920" strike="noStrike" u="none">
              <a:solidFill>
                <a:srgbClr val="000000"/>
              </a:solidFill>
              <a:effectLst/>
              <a:uFillTx/>
              <a:latin typeface="Times New Roman"/>
            </a:endParaRPr>
          </a:p>
        </p:txBody>
      </p:sp>
      <p:sp>
        <p:nvSpPr>
          <p:cNvPr id="382" name=""/>
          <p:cNvSpPr txBox="1"/>
          <p:nvPr/>
        </p:nvSpPr>
        <p:spPr>
          <a:xfrm>
            <a:off x="6064560" y="4552560"/>
            <a:ext cx="163800" cy="189360"/>
          </a:xfrm>
          <a:prstGeom prst="rect">
            <a:avLst/>
          </a:prstGeom>
          <a:noFill/>
          <a:ln w="0">
            <a:noFill/>
          </a:ln>
        </p:spPr>
        <p:txBody>
          <a:bodyPr wrap="none" lIns="0" rIns="0" tIns="0" bIns="0" anchor="t">
            <a:spAutoFit/>
          </a:bodyPr>
          <a:p>
            <a:r>
              <a:rPr b="0" lang="en-US" sz="1290" strike="noStrike" u="none">
                <a:solidFill>
                  <a:srgbClr val="a7c6d9"/>
                </a:solidFill>
                <a:effectLst/>
                <a:uFillTx/>
                <a:latin typeface="MathJax_Size1"/>
                <a:ea typeface="MathJax_Size1"/>
              </a:rPr>
              <a:t>)</a:t>
            </a:r>
            <a:endParaRPr b="0" lang="en-US" sz="1290" strike="noStrike" u="none">
              <a:solidFill>
                <a:srgbClr val="000000"/>
              </a:solidFill>
              <a:effectLst/>
              <a:uFillTx/>
              <a:latin typeface="Times New Roman"/>
            </a:endParaRPr>
          </a:p>
        </p:txBody>
      </p:sp>
      <p:sp>
        <p:nvSpPr>
          <p:cNvPr id="383" name=""/>
          <p:cNvSpPr txBox="1"/>
          <p:nvPr/>
        </p:nvSpPr>
        <p:spPr>
          <a:xfrm>
            <a:off x="6139440" y="4496760"/>
            <a:ext cx="115560" cy="136080"/>
          </a:xfrm>
          <a:prstGeom prst="rect">
            <a:avLst/>
          </a:prstGeom>
          <a:noFill/>
          <a:ln w="0">
            <a:noFill/>
          </a:ln>
        </p:spPr>
        <p:txBody>
          <a:bodyPr wrap="none" lIns="0" rIns="0" tIns="0" bIns="0" anchor="t">
            <a:spAutoFit/>
          </a:bodyPr>
          <a:p>
            <a:r>
              <a:rPr b="0" lang="en-US" sz="920" strike="noStrike" u="none">
                <a:solidFill>
                  <a:srgbClr val="a7c6d9"/>
                </a:solidFill>
                <a:effectLst/>
                <a:uFillTx/>
                <a:latin typeface="MathJax_Main"/>
                <a:ea typeface="MathJax_Main"/>
              </a:rPr>
              <a:t>2</a:t>
            </a:r>
            <a:endParaRPr b="0" lang="en-US" sz="920" strike="noStrike" u="none">
              <a:solidFill>
                <a:srgbClr val="000000"/>
              </a:solidFill>
              <a:effectLst/>
              <a:uFillTx/>
              <a:latin typeface="Times New Roman"/>
            </a:endParaRPr>
          </a:p>
        </p:txBody>
      </p:sp>
      <p:sp>
        <p:nvSpPr>
          <p:cNvPr id="384" name=""/>
          <p:cNvSpPr txBox="1"/>
          <p:nvPr/>
        </p:nvSpPr>
        <p:spPr>
          <a:xfrm>
            <a:off x="6243120" y="4552560"/>
            <a:ext cx="292680" cy="189360"/>
          </a:xfrm>
          <a:prstGeom prst="rect">
            <a:avLst/>
          </a:prstGeom>
          <a:noFill/>
          <a:ln w="0">
            <a:noFill/>
          </a:ln>
        </p:spPr>
        <p:txBody>
          <a:bodyPr wrap="none" lIns="0" rIns="0" tIns="0" bIns="0" anchor="t">
            <a:spAutoFit/>
          </a:bodyPr>
          <a:p>
            <a:r>
              <a:rPr b="0" lang="en-US" sz="1290" strike="noStrike" u="none">
                <a:solidFill>
                  <a:srgbClr val="a7c6d9"/>
                </a:solidFill>
                <a:effectLst/>
                <a:uFillTx/>
                <a:latin typeface="MathJax_Main"/>
                <a:ea typeface="MathJax_Main"/>
              </a:rPr>
              <a:t>&gt;</a:t>
            </a:r>
            <a:r>
              <a:rPr b="0" i="1" lang="en-US" sz="1290" strike="noStrike" u="none">
                <a:solidFill>
                  <a:srgbClr val="a7c6d9"/>
                </a:solidFill>
                <a:effectLst/>
                <a:uFillTx/>
                <a:latin typeface="MathJax_Math"/>
                <a:ea typeface="MathJax_Math"/>
              </a:rPr>
              <a:t> u</a:t>
            </a:r>
            <a:endParaRPr b="0" lang="en-US" sz="1290" strike="noStrike" u="none">
              <a:solidFill>
                <a:srgbClr val="000000"/>
              </a:solidFill>
              <a:effectLst/>
              <a:uFillTx/>
              <a:latin typeface="Times New Roman"/>
            </a:endParaRPr>
          </a:p>
        </p:txBody>
      </p:sp>
      <p:sp>
        <p:nvSpPr>
          <p:cNvPr id="385" name=""/>
          <p:cNvSpPr txBox="1"/>
          <p:nvPr/>
        </p:nvSpPr>
        <p:spPr>
          <a:xfrm>
            <a:off x="6510240" y="4530240"/>
            <a:ext cx="115560" cy="136080"/>
          </a:xfrm>
          <a:prstGeom prst="rect">
            <a:avLst/>
          </a:prstGeom>
          <a:noFill/>
          <a:ln w="0">
            <a:noFill/>
          </a:ln>
        </p:spPr>
        <p:txBody>
          <a:bodyPr wrap="none" lIns="0" rIns="0" tIns="0" bIns="0" anchor="t">
            <a:spAutoFit/>
          </a:bodyPr>
          <a:p>
            <a:r>
              <a:rPr b="0" lang="en-US" sz="920" strike="noStrike" u="none">
                <a:solidFill>
                  <a:srgbClr val="a7c6d9"/>
                </a:solidFill>
                <a:effectLst/>
                <a:uFillTx/>
                <a:latin typeface="MathJax_Main"/>
                <a:ea typeface="MathJax_Main"/>
              </a:rPr>
              <a:t>2</a:t>
            </a:r>
            <a:endParaRPr b="0" lang="en-US" sz="920" strike="noStrike" u="none">
              <a:solidFill>
                <a:srgbClr val="000000"/>
              </a:solidFill>
              <a:effectLst/>
              <a:uFillTx/>
              <a:latin typeface="Times New Roman"/>
            </a:endParaRPr>
          </a:p>
        </p:txBody>
      </p:sp>
      <p:sp>
        <p:nvSpPr>
          <p:cNvPr id="386" name=""/>
          <p:cNvSpPr txBox="1"/>
          <p:nvPr/>
        </p:nvSpPr>
        <p:spPr>
          <a:xfrm>
            <a:off x="6604560" y="4552560"/>
            <a:ext cx="285840" cy="189360"/>
          </a:xfrm>
          <a:prstGeom prst="rect">
            <a:avLst/>
          </a:prstGeom>
          <a:noFill/>
          <a:ln w="0">
            <a:noFill/>
          </a:ln>
        </p:spPr>
        <p:txBody>
          <a:bodyPr wrap="none" lIns="0" rIns="0" tIns="0" bIns="0" anchor="t">
            <a:spAutoFit/>
          </a:bodyPr>
          <a:p>
            <a:r>
              <a:rPr b="0" lang="en-US" sz="1290" strike="noStrike" u="none">
                <a:solidFill>
                  <a:srgbClr val="a7c6d9"/>
                </a:solidFill>
                <a:effectLst/>
                <a:uFillTx/>
                <a:latin typeface="MathJax_Main"/>
                <a:ea typeface="MathJax_Main"/>
              </a:rPr>
              <a:t>+</a:t>
            </a:r>
            <a:r>
              <a:rPr b="0" i="1" lang="en-US" sz="1290" strike="noStrike" u="none">
                <a:solidFill>
                  <a:srgbClr val="a7c6d9"/>
                </a:solidFill>
                <a:effectLst/>
                <a:uFillTx/>
                <a:latin typeface="MathJax_Math"/>
                <a:ea typeface="MathJax_Math"/>
              </a:rPr>
              <a:t> v</a:t>
            </a:r>
            <a:endParaRPr b="0" lang="en-US" sz="1290" strike="noStrike" u="none">
              <a:solidFill>
                <a:srgbClr val="000000"/>
              </a:solidFill>
              <a:effectLst/>
              <a:uFillTx/>
              <a:latin typeface="Times New Roman"/>
            </a:endParaRPr>
          </a:p>
        </p:txBody>
      </p:sp>
      <p:sp>
        <p:nvSpPr>
          <p:cNvPr id="387" name=""/>
          <p:cNvSpPr txBox="1"/>
          <p:nvPr/>
        </p:nvSpPr>
        <p:spPr>
          <a:xfrm>
            <a:off x="6848280" y="4530240"/>
            <a:ext cx="115560" cy="136080"/>
          </a:xfrm>
          <a:prstGeom prst="rect">
            <a:avLst/>
          </a:prstGeom>
          <a:noFill/>
          <a:ln w="0">
            <a:noFill/>
          </a:ln>
        </p:spPr>
        <p:txBody>
          <a:bodyPr wrap="none" lIns="0" rIns="0" tIns="0" bIns="0" anchor="t">
            <a:spAutoFit/>
          </a:bodyPr>
          <a:p>
            <a:r>
              <a:rPr b="0" lang="en-US" sz="920" strike="noStrike" u="none">
                <a:solidFill>
                  <a:srgbClr val="a7c6d9"/>
                </a:solidFill>
                <a:effectLst/>
                <a:uFillTx/>
                <a:latin typeface="MathJax_Main"/>
                <a:ea typeface="MathJax_Main"/>
              </a:rPr>
              <a:t>2</a:t>
            </a:r>
            <a:endParaRPr b="0" lang="en-US" sz="920" strike="noStrike" u="none">
              <a:solidFill>
                <a:srgbClr val="000000"/>
              </a:solidFill>
              <a:effectLst/>
              <a:uFillTx/>
              <a:latin typeface="Times New Roman"/>
            </a:endParaRPr>
          </a:p>
        </p:txBody>
      </p:sp>
      <p:sp>
        <p:nvSpPr>
          <p:cNvPr id="388" name=""/>
          <p:cNvSpPr txBox="1"/>
          <p:nvPr/>
        </p:nvSpPr>
        <p:spPr>
          <a:xfrm>
            <a:off x="5849640" y="5597280"/>
            <a:ext cx="163800" cy="189360"/>
          </a:xfrm>
          <a:prstGeom prst="rect">
            <a:avLst/>
          </a:prstGeom>
          <a:noFill/>
          <a:ln w="0">
            <a:noFill/>
          </a:ln>
        </p:spPr>
        <p:txBody>
          <a:bodyPr wrap="none" lIns="0" rIns="0" tIns="0" bIns="0" anchor="t">
            <a:spAutoFit/>
          </a:bodyPr>
          <a:p>
            <a:r>
              <a:rPr b="0" lang="en-US" sz="1290" strike="noStrike" u="none">
                <a:solidFill>
                  <a:srgbClr val="a7c6d9"/>
                </a:solidFill>
                <a:effectLst/>
                <a:uFillTx/>
                <a:latin typeface="MathJax_Size1"/>
                <a:ea typeface="MathJax_Size1"/>
              </a:rPr>
              <a:t>(</a:t>
            </a:r>
            <a:endParaRPr b="0" lang="en-US" sz="1290" strike="noStrike" u="none">
              <a:solidFill>
                <a:srgbClr val="000000"/>
              </a:solidFill>
              <a:effectLst/>
              <a:uFillTx/>
              <a:latin typeface="Times New Roman"/>
            </a:endParaRPr>
          </a:p>
        </p:txBody>
      </p:sp>
      <p:sp>
        <p:nvSpPr>
          <p:cNvPr id="389" name=""/>
          <p:cNvSpPr/>
          <p:nvPr/>
        </p:nvSpPr>
        <p:spPr>
          <a:xfrm>
            <a:off x="5941440" y="5707440"/>
            <a:ext cx="100800" cy="8640"/>
          </a:xfrm>
          <a:custGeom>
            <a:avLst/>
            <a:gdLst/>
            <a:ahLst/>
            <a:rect l="0" t="0" r="r" b="b"/>
            <a:pathLst>
              <a:path w="280" h="24">
                <a:moveTo>
                  <a:pt x="0" y="0"/>
                </a:moveTo>
                <a:lnTo>
                  <a:pt x="280" y="0"/>
                </a:lnTo>
                <a:lnTo>
                  <a:pt x="280" y="24"/>
                </a:lnTo>
                <a:lnTo>
                  <a:pt x="0" y="24"/>
                </a:lnTo>
                <a:lnTo>
                  <a:pt x="0" y="0"/>
                </a:lnTo>
                <a:close/>
              </a:path>
            </a:pathLst>
          </a:custGeom>
          <a:solidFill>
            <a:srgbClr val="a7c6d9"/>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390" name=""/>
          <p:cNvSpPr txBox="1"/>
          <p:nvPr/>
        </p:nvSpPr>
        <p:spPr>
          <a:xfrm>
            <a:off x="5965560" y="5574960"/>
            <a:ext cx="115560" cy="136080"/>
          </a:xfrm>
          <a:prstGeom prst="rect">
            <a:avLst/>
          </a:prstGeom>
          <a:noFill/>
          <a:ln w="0">
            <a:noFill/>
          </a:ln>
        </p:spPr>
        <p:txBody>
          <a:bodyPr wrap="none" lIns="0" rIns="0" tIns="0" bIns="0" anchor="t">
            <a:spAutoFit/>
          </a:bodyPr>
          <a:p>
            <a:r>
              <a:rPr b="0" lang="en-US" sz="920" strike="noStrike" u="none">
                <a:solidFill>
                  <a:srgbClr val="a7c6d9"/>
                </a:solidFill>
                <a:effectLst/>
                <a:uFillTx/>
                <a:latin typeface="MathJax_Main"/>
                <a:ea typeface="MathJax_Main"/>
              </a:rPr>
              <a:t>1</a:t>
            </a:r>
            <a:endParaRPr b="0" lang="en-US" sz="920" strike="noStrike" u="none">
              <a:solidFill>
                <a:srgbClr val="000000"/>
              </a:solidFill>
              <a:effectLst/>
              <a:uFillTx/>
              <a:latin typeface="Times New Roman"/>
            </a:endParaRPr>
          </a:p>
        </p:txBody>
      </p:sp>
      <p:sp>
        <p:nvSpPr>
          <p:cNvPr id="391" name=""/>
          <p:cNvSpPr txBox="1"/>
          <p:nvPr/>
        </p:nvSpPr>
        <p:spPr>
          <a:xfrm>
            <a:off x="5960880" y="5700240"/>
            <a:ext cx="115560" cy="136080"/>
          </a:xfrm>
          <a:prstGeom prst="rect">
            <a:avLst/>
          </a:prstGeom>
          <a:noFill/>
          <a:ln w="0">
            <a:noFill/>
          </a:ln>
        </p:spPr>
        <p:txBody>
          <a:bodyPr wrap="none" lIns="0" rIns="0" tIns="0" bIns="0" anchor="t">
            <a:spAutoFit/>
          </a:bodyPr>
          <a:p>
            <a:r>
              <a:rPr b="0" i="1" lang="en-US" sz="920" strike="noStrike" u="none">
                <a:solidFill>
                  <a:srgbClr val="a7c6d9"/>
                </a:solidFill>
                <a:effectLst/>
                <a:uFillTx/>
                <a:latin typeface="MathJax_Math"/>
                <a:ea typeface="MathJax_Math"/>
              </a:rPr>
              <a:t>λ</a:t>
            </a:r>
            <a:endParaRPr b="0" lang="en-US" sz="920" strike="noStrike" u="none">
              <a:solidFill>
                <a:srgbClr val="000000"/>
              </a:solidFill>
              <a:effectLst/>
              <a:uFillTx/>
              <a:latin typeface="Times New Roman"/>
            </a:endParaRPr>
          </a:p>
        </p:txBody>
      </p:sp>
      <p:sp>
        <p:nvSpPr>
          <p:cNvPr id="392" name=""/>
          <p:cNvSpPr txBox="1"/>
          <p:nvPr/>
        </p:nvSpPr>
        <p:spPr>
          <a:xfrm>
            <a:off x="6064560" y="5597280"/>
            <a:ext cx="163800" cy="189360"/>
          </a:xfrm>
          <a:prstGeom prst="rect">
            <a:avLst/>
          </a:prstGeom>
          <a:noFill/>
          <a:ln w="0">
            <a:noFill/>
          </a:ln>
        </p:spPr>
        <p:txBody>
          <a:bodyPr wrap="none" lIns="0" rIns="0" tIns="0" bIns="0" anchor="t">
            <a:spAutoFit/>
          </a:bodyPr>
          <a:p>
            <a:r>
              <a:rPr b="0" lang="en-US" sz="1290" strike="noStrike" u="none">
                <a:solidFill>
                  <a:srgbClr val="a7c6d9"/>
                </a:solidFill>
                <a:effectLst/>
                <a:uFillTx/>
                <a:latin typeface="MathJax_Size1"/>
                <a:ea typeface="MathJax_Size1"/>
              </a:rPr>
              <a:t>)</a:t>
            </a:r>
            <a:endParaRPr b="0" lang="en-US" sz="1290" strike="noStrike" u="none">
              <a:solidFill>
                <a:srgbClr val="000000"/>
              </a:solidFill>
              <a:effectLst/>
              <a:uFillTx/>
              <a:latin typeface="Times New Roman"/>
            </a:endParaRPr>
          </a:p>
        </p:txBody>
      </p:sp>
      <p:sp>
        <p:nvSpPr>
          <p:cNvPr id="393" name=""/>
          <p:cNvSpPr txBox="1"/>
          <p:nvPr/>
        </p:nvSpPr>
        <p:spPr>
          <a:xfrm>
            <a:off x="6139440" y="5549760"/>
            <a:ext cx="115560" cy="136080"/>
          </a:xfrm>
          <a:prstGeom prst="rect">
            <a:avLst/>
          </a:prstGeom>
          <a:noFill/>
          <a:ln w="0">
            <a:noFill/>
          </a:ln>
        </p:spPr>
        <p:txBody>
          <a:bodyPr wrap="none" lIns="0" rIns="0" tIns="0" bIns="0" anchor="t">
            <a:spAutoFit/>
          </a:bodyPr>
          <a:p>
            <a:r>
              <a:rPr b="0" lang="en-US" sz="920" strike="noStrike" u="none">
                <a:solidFill>
                  <a:srgbClr val="a7c6d9"/>
                </a:solidFill>
                <a:effectLst/>
                <a:uFillTx/>
                <a:latin typeface="MathJax_Main"/>
                <a:ea typeface="MathJax_Main"/>
              </a:rPr>
              <a:t>2</a:t>
            </a:r>
            <a:endParaRPr b="0" lang="en-US" sz="920" strike="noStrike" u="none">
              <a:solidFill>
                <a:srgbClr val="000000"/>
              </a:solidFill>
              <a:effectLst/>
              <a:uFillTx/>
              <a:latin typeface="Times New Roman"/>
            </a:endParaRPr>
          </a:p>
        </p:txBody>
      </p:sp>
      <p:sp>
        <p:nvSpPr>
          <p:cNvPr id="394" name=""/>
          <p:cNvSpPr txBox="1"/>
          <p:nvPr/>
        </p:nvSpPr>
        <p:spPr>
          <a:xfrm>
            <a:off x="6243120" y="5597280"/>
            <a:ext cx="292680" cy="189360"/>
          </a:xfrm>
          <a:prstGeom prst="rect">
            <a:avLst/>
          </a:prstGeom>
          <a:noFill/>
          <a:ln w="0">
            <a:noFill/>
          </a:ln>
        </p:spPr>
        <p:txBody>
          <a:bodyPr wrap="none" lIns="0" rIns="0" tIns="0" bIns="0" anchor="t">
            <a:spAutoFit/>
          </a:bodyPr>
          <a:p>
            <a:r>
              <a:rPr b="0" lang="en-US" sz="1290" strike="noStrike" u="none">
                <a:solidFill>
                  <a:srgbClr val="a7c6d9"/>
                </a:solidFill>
                <a:effectLst/>
                <a:uFillTx/>
                <a:latin typeface="MathJax_Main"/>
                <a:ea typeface="MathJax_Main"/>
              </a:rPr>
              <a:t>&lt;</a:t>
            </a:r>
            <a:r>
              <a:rPr b="0" i="1" lang="en-US" sz="1290" strike="noStrike" u="none">
                <a:solidFill>
                  <a:srgbClr val="a7c6d9"/>
                </a:solidFill>
                <a:effectLst/>
                <a:uFillTx/>
                <a:latin typeface="MathJax_Math"/>
                <a:ea typeface="MathJax_Math"/>
              </a:rPr>
              <a:t> u</a:t>
            </a:r>
            <a:endParaRPr b="0" lang="en-US" sz="1290" strike="noStrike" u="none">
              <a:solidFill>
                <a:srgbClr val="000000"/>
              </a:solidFill>
              <a:effectLst/>
              <a:uFillTx/>
              <a:latin typeface="Times New Roman"/>
            </a:endParaRPr>
          </a:p>
        </p:txBody>
      </p:sp>
      <p:sp>
        <p:nvSpPr>
          <p:cNvPr id="395" name=""/>
          <p:cNvSpPr txBox="1"/>
          <p:nvPr/>
        </p:nvSpPr>
        <p:spPr>
          <a:xfrm>
            <a:off x="6510240" y="5583240"/>
            <a:ext cx="115560" cy="136080"/>
          </a:xfrm>
          <a:prstGeom prst="rect">
            <a:avLst/>
          </a:prstGeom>
          <a:noFill/>
          <a:ln w="0">
            <a:noFill/>
          </a:ln>
        </p:spPr>
        <p:txBody>
          <a:bodyPr wrap="none" lIns="0" rIns="0" tIns="0" bIns="0" anchor="t">
            <a:spAutoFit/>
          </a:bodyPr>
          <a:p>
            <a:r>
              <a:rPr b="0" lang="en-US" sz="920" strike="noStrike" u="none">
                <a:solidFill>
                  <a:srgbClr val="a7c6d9"/>
                </a:solidFill>
                <a:effectLst/>
                <a:uFillTx/>
                <a:latin typeface="MathJax_Main"/>
                <a:ea typeface="MathJax_Main"/>
              </a:rPr>
              <a:t>2</a:t>
            </a:r>
            <a:endParaRPr b="0" lang="en-US" sz="920" strike="noStrike" u="none">
              <a:solidFill>
                <a:srgbClr val="000000"/>
              </a:solidFill>
              <a:effectLst/>
              <a:uFillTx/>
              <a:latin typeface="Times New Roman"/>
            </a:endParaRPr>
          </a:p>
        </p:txBody>
      </p:sp>
      <p:sp>
        <p:nvSpPr>
          <p:cNvPr id="396" name=""/>
          <p:cNvSpPr txBox="1"/>
          <p:nvPr/>
        </p:nvSpPr>
        <p:spPr>
          <a:xfrm>
            <a:off x="6604560" y="5597280"/>
            <a:ext cx="285840" cy="189360"/>
          </a:xfrm>
          <a:prstGeom prst="rect">
            <a:avLst/>
          </a:prstGeom>
          <a:noFill/>
          <a:ln w="0">
            <a:noFill/>
          </a:ln>
        </p:spPr>
        <p:txBody>
          <a:bodyPr wrap="none" lIns="0" rIns="0" tIns="0" bIns="0" anchor="t">
            <a:spAutoFit/>
          </a:bodyPr>
          <a:p>
            <a:r>
              <a:rPr b="0" lang="en-US" sz="1290" strike="noStrike" u="none">
                <a:solidFill>
                  <a:srgbClr val="a7c6d9"/>
                </a:solidFill>
                <a:effectLst/>
                <a:uFillTx/>
                <a:latin typeface="MathJax_Main"/>
                <a:ea typeface="MathJax_Main"/>
              </a:rPr>
              <a:t>+</a:t>
            </a:r>
            <a:r>
              <a:rPr b="0" i="1" lang="en-US" sz="1290" strike="noStrike" u="none">
                <a:solidFill>
                  <a:srgbClr val="a7c6d9"/>
                </a:solidFill>
                <a:effectLst/>
                <a:uFillTx/>
                <a:latin typeface="MathJax_Math"/>
                <a:ea typeface="MathJax_Math"/>
              </a:rPr>
              <a:t> v</a:t>
            </a:r>
            <a:endParaRPr b="0" lang="en-US" sz="1290" strike="noStrike" u="none">
              <a:solidFill>
                <a:srgbClr val="000000"/>
              </a:solidFill>
              <a:effectLst/>
              <a:uFillTx/>
              <a:latin typeface="Times New Roman"/>
            </a:endParaRPr>
          </a:p>
        </p:txBody>
      </p:sp>
      <p:sp>
        <p:nvSpPr>
          <p:cNvPr id="397" name=""/>
          <p:cNvSpPr txBox="1"/>
          <p:nvPr/>
        </p:nvSpPr>
        <p:spPr>
          <a:xfrm>
            <a:off x="6848280" y="5583240"/>
            <a:ext cx="115560" cy="136080"/>
          </a:xfrm>
          <a:prstGeom prst="rect">
            <a:avLst/>
          </a:prstGeom>
          <a:noFill/>
          <a:ln w="0">
            <a:noFill/>
          </a:ln>
        </p:spPr>
        <p:txBody>
          <a:bodyPr wrap="none" lIns="0" rIns="0" tIns="0" bIns="0" anchor="t">
            <a:spAutoFit/>
          </a:bodyPr>
          <a:p>
            <a:r>
              <a:rPr b="0" lang="en-US" sz="920" strike="noStrike" u="none">
                <a:solidFill>
                  <a:srgbClr val="a7c6d9"/>
                </a:solidFill>
                <a:effectLst/>
                <a:uFillTx/>
                <a:latin typeface="MathJax_Main"/>
                <a:ea typeface="MathJax_Main"/>
              </a:rPr>
              <a:t>2</a:t>
            </a:r>
            <a:endParaRPr b="0" lang="en-US" sz="920" strike="noStrike" u="none">
              <a:solidFill>
                <a:srgbClr val="000000"/>
              </a:solidFill>
              <a:effectLst/>
              <a:uFillTx/>
              <a:latin typeface="Times New Roman"/>
            </a:endParaRPr>
          </a:p>
        </p:txBody>
      </p:sp>
      <p:sp>
        <p:nvSpPr>
          <p:cNvPr id="398" name=""/>
          <p:cNvSpPr txBox="1"/>
          <p:nvPr/>
        </p:nvSpPr>
        <p:spPr>
          <a:xfrm>
            <a:off x="10203480" y="5741280"/>
            <a:ext cx="338760" cy="136080"/>
          </a:xfrm>
          <a:prstGeom prst="rect">
            <a:avLst/>
          </a:prstGeom>
          <a:noFill/>
          <a:ln w="0">
            <a:noFill/>
          </a:ln>
        </p:spPr>
        <p:txBody>
          <a:bodyPr wrap="none" lIns="0" rIns="0" tIns="0" bIns="0" anchor="t">
            <a:spAutoFit/>
          </a:bodyPr>
          <a:p>
            <a:r>
              <a:rPr b="0" lang="en-US" sz="920" strike="noStrike" u="none">
                <a:solidFill>
                  <a:srgbClr val="a7c6d9"/>
                </a:solidFill>
                <a:effectLst/>
                <a:uFillTx/>
                <a:latin typeface="NotoSansJP"/>
                <a:ea typeface="NotoSansJP"/>
              </a:rPr>
              <a:t>6 / 13</a:t>
            </a:r>
            <a:endParaRPr b="0" lang="en-US" sz="920" strike="noStrike" u="non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9" name=""/>
          <p:cNvSpPr/>
          <p:nvPr/>
        </p:nvSpPr>
        <p:spPr>
          <a:xfrm>
            <a:off x="0" y="0"/>
            <a:ext cx="10696680" cy="6017040"/>
          </a:xfrm>
          <a:custGeom>
            <a:avLst/>
            <a:gdLst/>
            <a:ahLst/>
            <a:rect l="0" t="0" r="r" b="b"/>
            <a:pathLst>
              <a:path w="29713" h="16714">
                <a:moveTo>
                  <a:pt x="0" y="0"/>
                </a:moveTo>
                <a:lnTo>
                  <a:pt x="29713" y="0"/>
                </a:lnTo>
                <a:lnTo>
                  <a:pt x="29713" y="16714"/>
                </a:lnTo>
                <a:lnTo>
                  <a:pt x="0" y="16714"/>
                </a:lnTo>
                <a:lnTo>
                  <a:pt x="0" y="0"/>
                </a:lnTo>
                <a:close/>
              </a:path>
            </a:pathLst>
          </a:custGeom>
          <a:solidFill>
            <a:srgbClr val="1c3d5a"/>
          </a:solidFill>
          <a:ln w="0">
            <a:noFill/>
          </a:ln>
        </p:spPr>
        <p:txBody>
          <a:bodyPr lIns="0" rIns="0" tIns="0" bIns="0" anchor="t">
            <a:noAutofit/>
          </a:bodyPr>
          <a:p>
            <a:endParaRPr b="0" lang="en-US" sz="2400" strike="noStrike" u="none">
              <a:solidFill>
                <a:srgbClr val="ffffff"/>
              </a:solidFill>
              <a:effectLst/>
              <a:uFillTx/>
              <a:latin typeface="Times New Roman"/>
            </a:endParaRPr>
          </a:p>
        </p:txBody>
      </p:sp>
      <p:pic>
        <p:nvPicPr>
          <p:cNvPr id="400" name="" descr=""/>
          <p:cNvPicPr/>
          <p:nvPr/>
        </p:nvPicPr>
        <p:blipFill>
          <a:blip r:embed="rId1"/>
          <a:stretch/>
        </p:blipFill>
        <p:spPr>
          <a:xfrm>
            <a:off x="0" y="0"/>
            <a:ext cx="10696320" cy="6016320"/>
          </a:xfrm>
          <a:prstGeom prst="rect">
            <a:avLst/>
          </a:prstGeom>
          <a:noFill/>
          <a:ln w="0">
            <a:noFill/>
          </a:ln>
        </p:spPr>
      </p:pic>
      <p:sp>
        <p:nvSpPr>
          <p:cNvPr id="401" name=""/>
          <p:cNvSpPr/>
          <p:nvPr/>
        </p:nvSpPr>
        <p:spPr>
          <a:xfrm>
            <a:off x="534600" y="601560"/>
            <a:ext cx="1069920" cy="33840"/>
          </a:xfrm>
          <a:custGeom>
            <a:avLst/>
            <a:gdLst/>
            <a:ahLst/>
            <a:rect l="0" t="0" r="r" b="b"/>
            <a:pathLst>
              <a:path w="2972" h="94">
                <a:moveTo>
                  <a:pt x="0" y="0"/>
                </a:moveTo>
                <a:lnTo>
                  <a:pt x="2972" y="0"/>
                </a:lnTo>
                <a:lnTo>
                  <a:pt x="2972" y="94"/>
                </a:lnTo>
                <a:lnTo>
                  <a:pt x="0" y="94"/>
                </a:lnTo>
                <a:lnTo>
                  <a:pt x="0" y="0"/>
                </a:lnTo>
                <a:close/>
              </a:path>
            </a:pathLst>
          </a:custGeom>
          <a:solidFill>
            <a:srgbClr val="ff8c00"/>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402" name=""/>
          <p:cNvSpPr/>
          <p:nvPr/>
        </p:nvSpPr>
        <p:spPr>
          <a:xfrm>
            <a:off x="534600" y="3309120"/>
            <a:ext cx="9627480" cy="2707920"/>
          </a:xfrm>
          <a:custGeom>
            <a:avLst/>
            <a:gdLst/>
            <a:ahLst/>
            <a:rect l="0" t="0" r="r" b="b"/>
            <a:pathLst>
              <a:path w="26743" h="7522">
                <a:moveTo>
                  <a:pt x="0" y="7522"/>
                </a:moveTo>
                <a:lnTo>
                  <a:pt x="0" y="93"/>
                </a:lnTo>
                <a:cubicBezTo>
                  <a:pt x="0" y="80"/>
                  <a:pt x="2" y="69"/>
                  <a:pt x="7" y="57"/>
                </a:cubicBezTo>
                <a:cubicBezTo>
                  <a:pt x="12" y="46"/>
                  <a:pt x="19" y="36"/>
                  <a:pt x="27" y="27"/>
                </a:cubicBezTo>
                <a:cubicBezTo>
                  <a:pt x="36" y="18"/>
                  <a:pt x="46" y="12"/>
                  <a:pt x="57" y="7"/>
                </a:cubicBezTo>
                <a:cubicBezTo>
                  <a:pt x="69" y="2"/>
                  <a:pt x="81" y="0"/>
                  <a:pt x="93" y="0"/>
                </a:cubicBezTo>
                <a:lnTo>
                  <a:pt x="26650" y="0"/>
                </a:lnTo>
                <a:cubicBezTo>
                  <a:pt x="26662" y="0"/>
                  <a:pt x="26674" y="2"/>
                  <a:pt x="26685" y="7"/>
                </a:cubicBezTo>
                <a:cubicBezTo>
                  <a:pt x="26697" y="12"/>
                  <a:pt x="26707" y="18"/>
                  <a:pt x="26715" y="27"/>
                </a:cubicBezTo>
                <a:cubicBezTo>
                  <a:pt x="26724" y="36"/>
                  <a:pt x="26731" y="46"/>
                  <a:pt x="26736" y="57"/>
                </a:cubicBezTo>
                <a:cubicBezTo>
                  <a:pt x="26740" y="69"/>
                  <a:pt x="26743" y="80"/>
                  <a:pt x="26743" y="93"/>
                </a:cubicBezTo>
                <a:lnTo>
                  <a:pt x="26743" y="7522"/>
                </a:lnTo>
                <a:lnTo>
                  <a:pt x="0" y="7522"/>
                </a:lnTo>
                <a:close/>
              </a:path>
            </a:pathLst>
          </a:custGeom>
          <a:solidFill>
            <a:srgbClr val="000000">
              <a:alpha val="20000"/>
            </a:srgbClr>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403" name=""/>
          <p:cNvSpPr/>
          <p:nvPr/>
        </p:nvSpPr>
        <p:spPr>
          <a:xfrm>
            <a:off x="668520" y="935640"/>
            <a:ext cx="1930680" cy="1705320"/>
          </a:xfrm>
          <a:custGeom>
            <a:avLst/>
            <a:gdLst/>
            <a:ahLst/>
            <a:rect l="0" t="0" r="r" b="b"/>
            <a:pathLst>
              <a:path w="5363" h="4737">
                <a:moveTo>
                  <a:pt x="0" y="4551"/>
                </a:moveTo>
                <a:lnTo>
                  <a:pt x="0" y="186"/>
                </a:lnTo>
                <a:cubicBezTo>
                  <a:pt x="0" y="174"/>
                  <a:pt x="1" y="162"/>
                  <a:pt x="3" y="150"/>
                </a:cubicBezTo>
                <a:cubicBezTo>
                  <a:pt x="5" y="138"/>
                  <a:pt x="9" y="126"/>
                  <a:pt x="14" y="115"/>
                </a:cubicBezTo>
                <a:cubicBezTo>
                  <a:pt x="18" y="104"/>
                  <a:pt x="24" y="93"/>
                  <a:pt x="31" y="83"/>
                </a:cubicBezTo>
                <a:cubicBezTo>
                  <a:pt x="38" y="73"/>
                  <a:pt x="45" y="63"/>
                  <a:pt x="54" y="55"/>
                </a:cubicBezTo>
                <a:cubicBezTo>
                  <a:pt x="63" y="46"/>
                  <a:pt x="72" y="38"/>
                  <a:pt x="82" y="32"/>
                </a:cubicBezTo>
                <a:cubicBezTo>
                  <a:pt x="92" y="25"/>
                  <a:pt x="103" y="19"/>
                  <a:pt x="114" y="14"/>
                </a:cubicBezTo>
                <a:cubicBezTo>
                  <a:pt x="125" y="10"/>
                  <a:pt x="137" y="6"/>
                  <a:pt x="149" y="4"/>
                </a:cubicBezTo>
                <a:cubicBezTo>
                  <a:pt x="161" y="2"/>
                  <a:pt x="173" y="0"/>
                  <a:pt x="185" y="0"/>
                </a:cubicBezTo>
                <a:lnTo>
                  <a:pt x="5177" y="0"/>
                </a:lnTo>
                <a:cubicBezTo>
                  <a:pt x="5189" y="0"/>
                  <a:pt x="5201" y="2"/>
                  <a:pt x="5213" y="4"/>
                </a:cubicBezTo>
                <a:cubicBezTo>
                  <a:pt x="5225" y="6"/>
                  <a:pt x="5237" y="10"/>
                  <a:pt x="5248" y="14"/>
                </a:cubicBezTo>
                <a:cubicBezTo>
                  <a:pt x="5259" y="19"/>
                  <a:pt x="5270" y="25"/>
                  <a:pt x="5280" y="32"/>
                </a:cubicBezTo>
                <a:cubicBezTo>
                  <a:pt x="5290" y="38"/>
                  <a:pt x="5300" y="46"/>
                  <a:pt x="5308" y="55"/>
                </a:cubicBezTo>
                <a:cubicBezTo>
                  <a:pt x="5317" y="63"/>
                  <a:pt x="5325" y="73"/>
                  <a:pt x="5331" y="83"/>
                </a:cubicBezTo>
                <a:cubicBezTo>
                  <a:pt x="5338" y="93"/>
                  <a:pt x="5344" y="104"/>
                  <a:pt x="5349" y="115"/>
                </a:cubicBezTo>
                <a:cubicBezTo>
                  <a:pt x="5353" y="126"/>
                  <a:pt x="5357" y="138"/>
                  <a:pt x="5359" y="150"/>
                </a:cubicBezTo>
                <a:cubicBezTo>
                  <a:pt x="5362" y="162"/>
                  <a:pt x="5363" y="174"/>
                  <a:pt x="5363" y="186"/>
                </a:cubicBezTo>
                <a:lnTo>
                  <a:pt x="5363" y="4551"/>
                </a:lnTo>
                <a:cubicBezTo>
                  <a:pt x="5363" y="4563"/>
                  <a:pt x="5362" y="4575"/>
                  <a:pt x="5359" y="4587"/>
                </a:cubicBezTo>
                <a:cubicBezTo>
                  <a:pt x="5357" y="4599"/>
                  <a:pt x="5353" y="4611"/>
                  <a:pt x="5349" y="4622"/>
                </a:cubicBezTo>
                <a:cubicBezTo>
                  <a:pt x="5344" y="4633"/>
                  <a:pt x="5338" y="4644"/>
                  <a:pt x="5331" y="4654"/>
                </a:cubicBezTo>
                <a:cubicBezTo>
                  <a:pt x="5325" y="4664"/>
                  <a:pt x="5317" y="4674"/>
                  <a:pt x="5308" y="4682"/>
                </a:cubicBezTo>
                <a:cubicBezTo>
                  <a:pt x="5300" y="4691"/>
                  <a:pt x="5290" y="4699"/>
                  <a:pt x="5280" y="4706"/>
                </a:cubicBezTo>
                <a:cubicBezTo>
                  <a:pt x="5270" y="4712"/>
                  <a:pt x="5259" y="4718"/>
                  <a:pt x="5248" y="4723"/>
                </a:cubicBezTo>
                <a:cubicBezTo>
                  <a:pt x="5237" y="4727"/>
                  <a:pt x="5225" y="4731"/>
                  <a:pt x="5213" y="4733"/>
                </a:cubicBezTo>
                <a:cubicBezTo>
                  <a:pt x="5201" y="4736"/>
                  <a:pt x="5189" y="4737"/>
                  <a:pt x="5177" y="4737"/>
                </a:cubicBezTo>
                <a:lnTo>
                  <a:pt x="185" y="4737"/>
                </a:lnTo>
                <a:cubicBezTo>
                  <a:pt x="173" y="4737"/>
                  <a:pt x="161" y="4736"/>
                  <a:pt x="149" y="4733"/>
                </a:cubicBezTo>
                <a:cubicBezTo>
                  <a:pt x="137" y="4731"/>
                  <a:pt x="125" y="4727"/>
                  <a:pt x="114" y="4723"/>
                </a:cubicBezTo>
                <a:cubicBezTo>
                  <a:pt x="103" y="4718"/>
                  <a:pt x="92" y="4712"/>
                  <a:pt x="82" y="4706"/>
                </a:cubicBezTo>
                <a:cubicBezTo>
                  <a:pt x="72" y="4699"/>
                  <a:pt x="63" y="4691"/>
                  <a:pt x="54" y="4682"/>
                </a:cubicBezTo>
                <a:cubicBezTo>
                  <a:pt x="45" y="4674"/>
                  <a:pt x="38" y="4664"/>
                  <a:pt x="31" y="4654"/>
                </a:cubicBezTo>
                <a:cubicBezTo>
                  <a:pt x="24" y="4644"/>
                  <a:pt x="18" y="4633"/>
                  <a:pt x="14" y="4622"/>
                </a:cubicBezTo>
                <a:cubicBezTo>
                  <a:pt x="9" y="4611"/>
                  <a:pt x="5" y="4599"/>
                  <a:pt x="3" y="4587"/>
                </a:cubicBezTo>
                <a:cubicBezTo>
                  <a:pt x="1" y="4575"/>
                  <a:pt x="0" y="4563"/>
                  <a:pt x="0" y="4551"/>
                </a:cubicBezTo>
                <a:close/>
              </a:path>
            </a:pathLst>
          </a:custGeom>
          <a:solidFill>
            <a:srgbClr val="ffffff">
              <a:alpha val="10000"/>
            </a:srgbClr>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404" name=""/>
          <p:cNvSpPr/>
          <p:nvPr/>
        </p:nvSpPr>
        <p:spPr>
          <a:xfrm>
            <a:off x="1437120" y="1111320"/>
            <a:ext cx="384840" cy="384840"/>
          </a:xfrm>
          <a:custGeom>
            <a:avLst/>
            <a:gdLst/>
            <a:ahLst/>
            <a:rect l="0" t="0" r="r" b="b"/>
            <a:pathLst>
              <a:path w="1069" h="1069">
                <a:moveTo>
                  <a:pt x="1069" y="534"/>
                </a:moveTo>
                <a:cubicBezTo>
                  <a:pt x="1069" y="569"/>
                  <a:pt x="1066" y="604"/>
                  <a:pt x="1059" y="638"/>
                </a:cubicBezTo>
                <a:cubicBezTo>
                  <a:pt x="1052" y="673"/>
                  <a:pt x="1042" y="707"/>
                  <a:pt x="1028" y="739"/>
                </a:cubicBezTo>
                <a:cubicBezTo>
                  <a:pt x="1015" y="771"/>
                  <a:pt x="998" y="802"/>
                  <a:pt x="979" y="831"/>
                </a:cubicBezTo>
                <a:cubicBezTo>
                  <a:pt x="959" y="861"/>
                  <a:pt x="937" y="887"/>
                  <a:pt x="913" y="912"/>
                </a:cubicBezTo>
                <a:cubicBezTo>
                  <a:pt x="888" y="937"/>
                  <a:pt x="861" y="959"/>
                  <a:pt x="832" y="979"/>
                </a:cubicBezTo>
                <a:cubicBezTo>
                  <a:pt x="802" y="998"/>
                  <a:pt x="771" y="1015"/>
                  <a:pt x="738" y="1028"/>
                </a:cubicBezTo>
                <a:cubicBezTo>
                  <a:pt x="706" y="1041"/>
                  <a:pt x="673" y="1052"/>
                  <a:pt x="638" y="1058"/>
                </a:cubicBezTo>
                <a:cubicBezTo>
                  <a:pt x="604" y="1065"/>
                  <a:pt x="569" y="1069"/>
                  <a:pt x="534" y="1069"/>
                </a:cubicBezTo>
                <a:cubicBezTo>
                  <a:pt x="499" y="1069"/>
                  <a:pt x="464" y="1065"/>
                  <a:pt x="430" y="1058"/>
                </a:cubicBezTo>
                <a:cubicBezTo>
                  <a:pt x="396" y="1052"/>
                  <a:pt x="362" y="1041"/>
                  <a:pt x="330" y="1028"/>
                </a:cubicBezTo>
                <a:cubicBezTo>
                  <a:pt x="297" y="1015"/>
                  <a:pt x="267" y="998"/>
                  <a:pt x="237" y="979"/>
                </a:cubicBezTo>
                <a:cubicBezTo>
                  <a:pt x="208" y="959"/>
                  <a:pt x="181" y="937"/>
                  <a:pt x="157" y="912"/>
                </a:cubicBezTo>
                <a:cubicBezTo>
                  <a:pt x="132" y="887"/>
                  <a:pt x="110" y="861"/>
                  <a:pt x="90" y="831"/>
                </a:cubicBezTo>
                <a:cubicBezTo>
                  <a:pt x="71" y="802"/>
                  <a:pt x="54" y="771"/>
                  <a:pt x="41" y="739"/>
                </a:cubicBezTo>
                <a:cubicBezTo>
                  <a:pt x="27" y="707"/>
                  <a:pt x="17" y="673"/>
                  <a:pt x="10" y="638"/>
                </a:cubicBezTo>
                <a:cubicBezTo>
                  <a:pt x="4" y="604"/>
                  <a:pt x="0" y="569"/>
                  <a:pt x="0" y="534"/>
                </a:cubicBezTo>
                <a:cubicBezTo>
                  <a:pt x="0" y="499"/>
                  <a:pt x="4" y="464"/>
                  <a:pt x="10" y="430"/>
                </a:cubicBezTo>
                <a:cubicBezTo>
                  <a:pt x="17" y="395"/>
                  <a:pt x="27" y="362"/>
                  <a:pt x="41" y="329"/>
                </a:cubicBezTo>
                <a:cubicBezTo>
                  <a:pt x="54" y="297"/>
                  <a:pt x="71" y="266"/>
                  <a:pt x="90" y="237"/>
                </a:cubicBezTo>
                <a:cubicBezTo>
                  <a:pt x="110" y="208"/>
                  <a:pt x="132" y="181"/>
                  <a:pt x="157" y="156"/>
                </a:cubicBezTo>
                <a:cubicBezTo>
                  <a:pt x="181" y="131"/>
                  <a:pt x="208" y="109"/>
                  <a:pt x="237" y="90"/>
                </a:cubicBezTo>
                <a:cubicBezTo>
                  <a:pt x="267" y="70"/>
                  <a:pt x="297" y="54"/>
                  <a:pt x="330" y="40"/>
                </a:cubicBezTo>
                <a:cubicBezTo>
                  <a:pt x="362" y="27"/>
                  <a:pt x="396" y="17"/>
                  <a:pt x="430" y="10"/>
                </a:cubicBezTo>
                <a:cubicBezTo>
                  <a:pt x="464" y="3"/>
                  <a:pt x="499" y="0"/>
                  <a:pt x="534" y="0"/>
                </a:cubicBezTo>
                <a:cubicBezTo>
                  <a:pt x="569" y="0"/>
                  <a:pt x="604" y="3"/>
                  <a:pt x="638" y="10"/>
                </a:cubicBezTo>
                <a:cubicBezTo>
                  <a:pt x="673" y="17"/>
                  <a:pt x="706" y="27"/>
                  <a:pt x="738" y="40"/>
                </a:cubicBezTo>
                <a:cubicBezTo>
                  <a:pt x="771" y="54"/>
                  <a:pt x="802" y="70"/>
                  <a:pt x="832" y="90"/>
                </a:cubicBezTo>
                <a:cubicBezTo>
                  <a:pt x="861" y="109"/>
                  <a:pt x="888" y="131"/>
                  <a:pt x="913" y="156"/>
                </a:cubicBezTo>
                <a:cubicBezTo>
                  <a:pt x="937" y="181"/>
                  <a:pt x="959" y="208"/>
                  <a:pt x="979" y="237"/>
                </a:cubicBezTo>
                <a:cubicBezTo>
                  <a:pt x="998" y="266"/>
                  <a:pt x="1015" y="297"/>
                  <a:pt x="1028" y="329"/>
                </a:cubicBezTo>
                <a:cubicBezTo>
                  <a:pt x="1042" y="362"/>
                  <a:pt x="1052" y="395"/>
                  <a:pt x="1059" y="430"/>
                </a:cubicBezTo>
                <a:cubicBezTo>
                  <a:pt x="1066" y="464"/>
                  <a:pt x="1069" y="499"/>
                  <a:pt x="1069" y="534"/>
                </a:cubicBezTo>
                <a:close/>
              </a:path>
            </a:pathLst>
          </a:custGeom>
          <a:solidFill>
            <a:srgbClr val="1c3d5a"/>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405" name=""/>
          <p:cNvSpPr/>
          <p:nvPr/>
        </p:nvSpPr>
        <p:spPr>
          <a:xfrm>
            <a:off x="1437120" y="1111320"/>
            <a:ext cx="384840" cy="384840"/>
          </a:xfrm>
          <a:custGeom>
            <a:avLst/>
            <a:gdLst/>
            <a:ahLst/>
            <a:rect l="0" t="0" r="r" b="b"/>
            <a:pathLst>
              <a:path fill="none" w="1069" h="1069">
                <a:moveTo>
                  <a:pt x="1069" y="534"/>
                </a:moveTo>
                <a:cubicBezTo>
                  <a:pt x="1069" y="569"/>
                  <a:pt x="1066" y="604"/>
                  <a:pt x="1059" y="638"/>
                </a:cubicBezTo>
                <a:cubicBezTo>
                  <a:pt x="1052" y="673"/>
                  <a:pt x="1042" y="707"/>
                  <a:pt x="1028" y="739"/>
                </a:cubicBezTo>
                <a:cubicBezTo>
                  <a:pt x="1015" y="771"/>
                  <a:pt x="998" y="802"/>
                  <a:pt x="979" y="831"/>
                </a:cubicBezTo>
                <a:cubicBezTo>
                  <a:pt x="959" y="861"/>
                  <a:pt x="937" y="887"/>
                  <a:pt x="913" y="912"/>
                </a:cubicBezTo>
                <a:cubicBezTo>
                  <a:pt x="888" y="937"/>
                  <a:pt x="861" y="959"/>
                  <a:pt x="832" y="979"/>
                </a:cubicBezTo>
                <a:cubicBezTo>
                  <a:pt x="802" y="998"/>
                  <a:pt x="771" y="1015"/>
                  <a:pt x="738" y="1028"/>
                </a:cubicBezTo>
                <a:cubicBezTo>
                  <a:pt x="706" y="1041"/>
                  <a:pt x="673" y="1052"/>
                  <a:pt x="638" y="1058"/>
                </a:cubicBezTo>
                <a:cubicBezTo>
                  <a:pt x="604" y="1065"/>
                  <a:pt x="569" y="1069"/>
                  <a:pt x="534" y="1069"/>
                </a:cubicBezTo>
                <a:cubicBezTo>
                  <a:pt x="499" y="1069"/>
                  <a:pt x="464" y="1065"/>
                  <a:pt x="430" y="1058"/>
                </a:cubicBezTo>
                <a:cubicBezTo>
                  <a:pt x="396" y="1052"/>
                  <a:pt x="362" y="1041"/>
                  <a:pt x="330" y="1028"/>
                </a:cubicBezTo>
                <a:cubicBezTo>
                  <a:pt x="297" y="1015"/>
                  <a:pt x="267" y="998"/>
                  <a:pt x="237" y="979"/>
                </a:cubicBezTo>
                <a:cubicBezTo>
                  <a:pt x="208" y="959"/>
                  <a:pt x="181" y="937"/>
                  <a:pt x="157" y="912"/>
                </a:cubicBezTo>
                <a:cubicBezTo>
                  <a:pt x="132" y="887"/>
                  <a:pt x="110" y="861"/>
                  <a:pt x="90" y="831"/>
                </a:cubicBezTo>
                <a:cubicBezTo>
                  <a:pt x="71" y="802"/>
                  <a:pt x="54" y="771"/>
                  <a:pt x="41" y="739"/>
                </a:cubicBezTo>
                <a:cubicBezTo>
                  <a:pt x="27" y="707"/>
                  <a:pt x="17" y="673"/>
                  <a:pt x="10" y="638"/>
                </a:cubicBezTo>
                <a:cubicBezTo>
                  <a:pt x="4" y="604"/>
                  <a:pt x="0" y="569"/>
                  <a:pt x="0" y="534"/>
                </a:cubicBezTo>
                <a:cubicBezTo>
                  <a:pt x="0" y="499"/>
                  <a:pt x="4" y="464"/>
                  <a:pt x="10" y="430"/>
                </a:cubicBezTo>
                <a:cubicBezTo>
                  <a:pt x="17" y="395"/>
                  <a:pt x="27" y="362"/>
                  <a:pt x="41" y="329"/>
                </a:cubicBezTo>
                <a:cubicBezTo>
                  <a:pt x="54" y="297"/>
                  <a:pt x="71" y="266"/>
                  <a:pt x="90" y="237"/>
                </a:cubicBezTo>
                <a:cubicBezTo>
                  <a:pt x="110" y="208"/>
                  <a:pt x="132" y="181"/>
                  <a:pt x="157" y="156"/>
                </a:cubicBezTo>
                <a:cubicBezTo>
                  <a:pt x="181" y="131"/>
                  <a:pt x="208" y="109"/>
                  <a:pt x="237" y="90"/>
                </a:cubicBezTo>
                <a:cubicBezTo>
                  <a:pt x="267" y="70"/>
                  <a:pt x="297" y="54"/>
                  <a:pt x="330" y="40"/>
                </a:cubicBezTo>
                <a:cubicBezTo>
                  <a:pt x="362" y="27"/>
                  <a:pt x="396" y="17"/>
                  <a:pt x="430" y="10"/>
                </a:cubicBezTo>
                <a:cubicBezTo>
                  <a:pt x="464" y="3"/>
                  <a:pt x="499" y="0"/>
                  <a:pt x="534" y="0"/>
                </a:cubicBezTo>
                <a:cubicBezTo>
                  <a:pt x="569" y="0"/>
                  <a:pt x="604" y="3"/>
                  <a:pt x="638" y="10"/>
                </a:cubicBezTo>
                <a:cubicBezTo>
                  <a:pt x="673" y="17"/>
                  <a:pt x="706" y="27"/>
                  <a:pt x="738" y="40"/>
                </a:cubicBezTo>
                <a:cubicBezTo>
                  <a:pt x="771" y="54"/>
                  <a:pt x="802" y="70"/>
                  <a:pt x="832" y="90"/>
                </a:cubicBezTo>
                <a:cubicBezTo>
                  <a:pt x="861" y="109"/>
                  <a:pt x="888" y="131"/>
                  <a:pt x="913" y="156"/>
                </a:cubicBezTo>
                <a:cubicBezTo>
                  <a:pt x="937" y="181"/>
                  <a:pt x="959" y="208"/>
                  <a:pt x="979" y="237"/>
                </a:cubicBezTo>
                <a:cubicBezTo>
                  <a:pt x="998" y="266"/>
                  <a:pt x="1015" y="297"/>
                  <a:pt x="1028" y="329"/>
                </a:cubicBezTo>
                <a:cubicBezTo>
                  <a:pt x="1042" y="362"/>
                  <a:pt x="1052" y="395"/>
                  <a:pt x="1059" y="430"/>
                </a:cubicBezTo>
                <a:cubicBezTo>
                  <a:pt x="1066" y="464"/>
                  <a:pt x="1069" y="499"/>
                  <a:pt x="1069" y="534"/>
                </a:cubicBezTo>
              </a:path>
            </a:pathLst>
          </a:custGeom>
          <a:ln w="16560">
            <a:solidFill>
              <a:srgbClr val="ff8c00"/>
            </a:solidFill>
            <a:miter/>
          </a:ln>
        </p:spPr>
        <p:txBody>
          <a:bodyPr lIns="8280" rIns="8280" tIns="8280" bIns="8280" anchor="t">
            <a:noAutofit/>
          </a:bodyPr>
          <a:p>
            <a:endParaRPr b="0" lang="en-US" sz="2400" strike="noStrike" u="none">
              <a:solidFill>
                <a:srgbClr val="000000"/>
              </a:solidFill>
              <a:effectLst/>
              <a:uFillTx/>
              <a:latin typeface="Times New Roman"/>
            </a:endParaRPr>
          </a:p>
        </p:txBody>
      </p:sp>
      <p:sp>
        <p:nvSpPr>
          <p:cNvPr id="406" name=""/>
          <p:cNvSpPr txBox="1"/>
          <p:nvPr/>
        </p:nvSpPr>
        <p:spPr>
          <a:xfrm>
            <a:off x="534960" y="222120"/>
            <a:ext cx="3603600" cy="436320"/>
          </a:xfrm>
          <a:prstGeom prst="rect">
            <a:avLst/>
          </a:prstGeom>
          <a:noFill/>
          <a:ln w="0">
            <a:noFill/>
          </a:ln>
        </p:spPr>
        <p:txBody>
          <a:bodyPr wrap="none" lIns="0" rIns="0" tIns="0" bIns="0" anchor="t">
            <a:spAutoFit/>
          </a:bodyPr>
          <a:p>
            <a:r>
              <a:rPr b="0" lang="zh-CN" sz="2370" strike="noStrike" u="none">
                <a:solidFill>
                  <a:srgbClr val="ffffff"/>
                </a:solidFill>
                <a:effectLst/>
                <a:uFillTx/>
                <a:latin typeface="NotoSansJP"/>
                <a:ea typeface="NotoSansJP"/>
              </a:rPr>
              <a:t>角スペクトル法の実装手順</a:t>
            </a:r>
            <a:endParaRPr b="0" lang="en-US" sz="2370" strike="noStrike" u="none">
              <a:solidFill>
                <a:srgbClr val="000000"/>
              </a:solidFill>
              <a:effectLst/>
              <a:uFillTx/>
              <a:latin typeface="Times New Roman"/>
            </a:endParaRPr>
          </a:p>
        </p:txBody>
      </p:sp>
      <p:sp>
        <p:nvSpPr>
          <p:cNvPr id="407" name=""/>
          <p:cNvSpPr txBox="1"/>
          <p:nvPr/>
        </p:nvSpPr>
        <p:spPr>
          <a:xfrm>
            <a:off x="1594080" y="1238040"/>
            <a:ext cx="133200" cy="157320"/>
          </a:xfrm>
          <a:prstGeom prst="rect">
            <a:avLst/>
          </a:prstGeom>
          <a:noFill/>
          <a:ln w="0">
            <a:noFill/>
          </a:ln>
        </p:spPr>
        <p:txBody>
          <a:bodyPr wrap="none" lIns="0" rIns="0" tIns="0" bIns="0" anchor="t">
            <a:spAutoFit/>
          </a:bodyPr>
          <a:p>
            <a:r>
              <a:rPr b="0" lang="en-US" sz="1050" strike="noStrike" u="none">
                <a:solidFill>
                  <a:srgbClr val="ffffff"/>
                </a:solidFill>
                <a:effectLst/>
                <a:uFillTx/>
                <a:latin typeface="NotoSansJP"/>
                <a:ea typeface="NotoSansJP"/>
              </a:rPr>
              <a:t>1</a:t>
            </a:r>
            <a:endParaRPr b="0" lang="en-US" sz="1050" strike="noStrike" u="none">
              <a:solidFill>
                <a:srgbClr val="000000"/>
              </a:solidFill>
              <a:effectLst/>
              <a:uFillTx/>
              <a:latin typeface="Times New Roman"/>
            </a:endParaRPr>
          </a:p>
        </p:txBody>
      </p:sp>
      <p:pic>
        <p:nvPicPr>
          <p:cNvPr id="408" name="" descr=""/>
          <p:cNvPicPr/>
          <p:nvPr/>
        </p:nvPicPr>
        <p:blipFill>
          <a:blip r:embed="rId2"/>
          <a:stretch/>
        </p:blipFill>
        <p:spPr>
          <a:xfrm>
            <a:off x="1470600" y="1905480"/>
            <a:ext cx="317160" cy="300600"/>
          </a:xfrm>
          <a:prstGeom prst="rect">
            <a:avLst/>
          </a:prstGeom>
          <a:noFill/>
          <a:ln w="0">
            <a:noFill/>
          </a:ln>
        </p:spPr>
      </p:pic>
      <p:sp>
        <p:nvSpPr>
          <p:cNvPr id="409" name=""/>
          <p:cNvSpPr txBox="1"/>
          <p:nvPr/>
        </p:nvSpPr>
        <p:spPr>
          <a:xfrm>
            <a:off x="1180440" y="1648800"/>
            <a:ext cx="906120" cy="219960"/>
          </a:xfrm>
          <a:prstGeom prst="rect">
            <a:avLst/>
          </a:prstGeom>
          <a:noFill/>
          <a:ln w="0">
            <a:noFill/>
          </a:ln>
        </p:spPr>
        <p:txBody>
          <a:bodyPr wrap="none" lIns="0" rIns="0" tIns="0" bIns="0" anchor="t">
            <a:spAutoFit/>
          </a:bodyPr>
          <a:p>
            <a:r>
              <a:rPr b="0" lang="zh-CN" sz="1180" strike="noStrike" u="none">
                <a:solidFill>
                  <a:srgbClr val="a7c6d9"/>
                </a:solidFill>
                <a:effectLst/>
                <a:uFillTx/>
                <a:latin typeface="NotoSansJP"/>
                <a:ea typeface="NotoSansJP"/>
              </a:rPr>
              <a:t>初期光波分布</a:t>
            </a:r>
            <a:endParaRPr b="0" lang="en-US" sz="1180" strike="noStrike" u="none">
              <a:solidFill>
                <a:srgbClr val="000000"/>
              </a:solidFill>
              <a:effectLst/>
              <a:uFillTx/>
              <a:latin typeface="Times New Roman"/>
            </a:endParaRPr>
          </a:p>
        </p:txBody>
      </p:sp>
      <p:pic>
        <p:nvPicPr>
          <p:cNvPr id="410" name="" descr=""/>
          <p:cNvPicPr/>
          <p:nvPr/>
        </p:nvPicPr>
        <p:blipFill>
          <a:blip r:embed="rId3"/>
          <a:stretch/>
        </p:blipFill>
        <p:spPr>
          <a:xfrm>
            <a:off x="2799360" y="1671480"/>
            <a:ext cx="150120" cy="233640"/>
          </a:xfrm>
          <a:prstGeom prst="rect">
            <a:avLst/>
          </a:prstGeom>
          <a:noFill/>
          <a:ln w="0">
            <a:noFill/>
          </a:ln>
        </p:spPr>
      </p:pic>
      <p:sp>
        <p:nvSpPr>
          <p:cNvPr id="411" name=""/>
          <p:cNvSpPr/>
          <p:nvPr/>
        </p:nvSpPr>
        <p:spPr>
          <a:xfrm>
            <a:off x="3150360" y="935640"/>
            <a:ext cx="1922400" cy="1705320"/>
          </a:xfrm>
          <a:custGeom>
            <a:avLst/>
            <a:gdLst/>
            <a:ahLst/>
            <a:rect l="0" t="0" r="r" b="b"/>
            <a:pathLst>
              <a:path w="5340" h="4737">
                <a:moveTo>
                  <a:pt x="0" y="4551"/>
                </a:moveTo>
                <a:lnTo>
                  <a:pt x="0" y="186"/>
                </a:lnTo>
                <a:cubicBezTo>
                  <a:pt x="0" y="174"/>
                  <a:pt x="1" y="162"/>
                  <a:pt x="3" y="150"/>
                </a:cubicBezTo>
                <a:cubicBezTo>
                  <a:pt x="6" y="138"/>
                  <a:pt x="9" y="126"/>
                  <a:pt x="14" y="115"/>
                </a:cubicBezTo>
                <a:cubicBezTo>
                  <a:pt x="19" y="104"/>
                  <a:pt x="24" y="93"/>
                  <a:pt x="31" y="83"/>
                </a:cubicBezTo>
                <a:cubicBezTo>
                  <a:pt x="38" y="73"/>
                  <a:pt x="46" y="63"/>
                  <a:pt x="54" y="55"/>
                </a:cubicBezTo>
                <a:cubicBezTo>
                  <a:pt x="63" y="46"/>
                  <a:pt x="72" y="38"/>
                  <a:pt x="82" y="32"/>
                </a:cubicBezTo>
                <a:cubicBezTo>
                  <a:pt x="92" y="25"/>
                  <a:pt x="103" y="19"/>
                  <a:pt x="114" y="14"/>
                </a:cubicBezTo>
                <a:cubicBezTo>
                  <a:pt x="126" y="10"/>
                  <a:pt x="137" y="6"/>
                  <a:pt x="149" y="4"/>
                </a:cubicBezTo>
                <a:cubicBezTo>
                  <a:pt x="161" y="2"/>
                  <a:pt x="173" y="0"/>
                  <a:pt x="186" y="0"/>
                </a:cubicBezTo>
                <a:lnTo>
                  <a:pt x="5154" y="0"/>
                </a:lnTo>
                <a:cubicBezTo>
                  <a:pt x="5166" y="0"/>
                  <a:pt x="5178" y="2"/>
                  <a:pt x="5190" y="4"/>
                </a:cubicBezTo>
                <a:cubicBezTo>
                  <a:pt x="5202" y="6"/>
                  <a:pt x="5214" y="10"/>
                  <a:pt x="5225" y="14"/>
                </a:cubicBezTo>
                <a:cubicBezTo>
                  <a:pt x="5236" y="19"/>
                  <a:pt x="5247" y="25"/>
                  <a:pt x="5257" y="32"/>
                </a:cubicBezTo>
                <a:cubicBezTo>
                  <a:pt x="5267" y="38"/>
                  <a:pt x="5277" y="46"/>
                  <a:pt x="5285" y="55"/>
                </a:cubicBezTo>
                <a:cubicBezTo>
                  <a:pt x="5294" y="63"/>
                  <a:pt x="5302" y="73"/>
                  <a:pt x="5309" y="83"/>
                </a:cubicBezTo>
                <a:cubicBezTo>
                  <a:pt x="5315" y="93"/>
                  <a:pt x="5321" y="104"/>
                  <a:pt x="5326" y="115"/>
                </a:cubicBezTo>
                <a:cubicBezTo>
                  <a:pt x="5330" y="126"/>
                  <a:pt x="5334" y="138"/>
                  <a:pt x="5336" y="150"/>
                </a:cubicBezTo>
                <a:cubicBezTo>
                  <a:pt x="5339" y="162"/>
                  <a:pt x="5340" y="174"/>
                  <a:pt x="5340" y="186"/>
                </a:cubicBezTo>
                <a:lnTo>
                  <a:pt x="5340" y="4551"/>
                </a:lnTo>
                <a:cubicBezTo>
                  <a:pt x="5340" y="4563"/>
                  <a:pt x="5339" y="4575"/>
                  <a:pt x="5336" y="4587"/>
                </a:cubicBezTo>
                <a:cubicBezTo>
                  <a:pt x="5334" y="4599"/>
                  <a:pt x="5330" y="4611"/>
                  <a:pt x="5326" y="4622"/>
                </a:cubicBezTo>
                <a:cubicBezTo>
                  <a:pt x="5321" y="4633"/>
                  <a:pt x="5315" y="4644"/>
                  <a:pt x="5309" y="4654"/>
                </a:cubicBezTo>
                <a:cubicBezTo>
                  <a:pt x="5302" y="4664"/>
                  <a:pt x="5294" y="4674"/>
                  <a:pt x="5285" y="4682"/>
                </a:cubicBezTo>
                <a:cubicBezTo>
                  <a:pt x="5277" y="4691"/>
                  <a:pt x="5267" y="4699"/>
                  <a:pt x="5257" y="4706"/>
                </a:cubicBezTo>
                <a:cubicBezTo>
                  <a:pt x="5247" y="4712"/>
                  <a:pt x="5236" y="4718"/>
                  <a:pt x="5225" y="4723"/>
                </a:cubicBezTo>
                <a:cubicBezTo>
                  <a:pt x="5214" y="4727"/>
                  <a:pt x="5202" y="4731"/>
                  <a:pt x="5190" y="4733"/>
                </a:cubicBezTo>
                <a:cubicBezTo>
                  <a:pt x="5178" y="4736"/>
                  <a:pt x="5166" y="4737"/>
                  <a:pt x="5154" y="4737"/>
                </a:cubicBezTo>
                <a:lnTo>
                  <a:pt x="186" y="4737"/>
                </a:lnTo>
                <a:cubicBezTo>
                  <a:pt x="173" y="4737"/>
                  <a:pt x="161" y="4736"/>
                  <a:pt x="149" y="4733"/>
                </a:cubicBezTo>
                <a:cubicBezTo>
                  <a:pt x="137" y="4731"/>
                  <a:pt x="126" y="4727"/>
                  <a:pt x="114" y="4723"/>
                </a:cubicBezTo>
                <a:cubicBezTo>
                  <a:pt x="103" y="4718"/>
                  <a:pt x="92" y="4712"/>
                  <a:pt x="82" y="4706"/>
                </a:cubicBezTo>
                <a:cubicBezTo>
                  <a:pt x="72" y="4699"/>
                  <a:pt x="63" y="4691"/>
                  <a:pt x="54" y="4682"/>
                </a:cubicBezTo>
                <a:cubicBezTo>
                  <a:pt x="46" y="4674"/>
                  <a:pt x="38" y="4664"/>
                  <a:pt x="31" y="4654"/>
                </a:cubicBezTo>
                <a:cubicBezTo>
                  <a:pt x="24" y="4644"/>
                  <a:pt x="19" y="4633"/>
                  <a:pt x="14" y="4622"/>
                </a:cubicBezTo>
                <a:cubicBezTo>
                  <a:pt x="9" y="4611"/>
                  <a:pt x="6" y="4599"/>
                  <a:pt x="3" y="4587"/>
                </a:cubicBezTo>
                <a:cubicBezTo>
                  <a:pt x="1" y="4575"/>
                  <a:pt x="0" y="4563"/>
                  <a:pt x="0" y="4551"/>
                </a:cubicBezTo>
                <a:close/>
              </a:path>
            </a:pathLst>
          </a:custGeom>
          <a:solidFill>
            <a:srgbClr val="ffffff">
              <a:alpha val="10000"/>
            </a:srgbClr>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412" name=""/>
          <p:cNvSpPr/>
          <p:nvPr/>
        </p:nvSpPr>
        <p:spPr>
          <a:xfrm>
            <a:off x="3918960" y="1111320"/>
            <a:ext cx="384840" cy="384840"/>
          </a:xfrm>
          <a:custGeom>
            <a:avLst/>
            <a:gdLst/>
            <a:ahLst/>
            <a:rect l="0" t="0" r="r" b="b"/>
            <a:pathLst>
              <a:path w="1069" h="1069">
                <a:moveTo>
                  <a:pt x="1069" y="534"/>
                </a:moveTo>
                <a:cubicBezTo>
                  <a:pt x="1069" y="569"/>
                  <a:pt x="1066" y="604"/>
                  <a:pt x="1059" y="638"/>
                </a:cubicBezTo>
                <a:cubicBezTo>
                  <a:pt x="1052" y="673"/>
                  <a:pt x="1042" y="707"/>
                  <a:pt x="1029" y="739"/>
                </a:cubicBezTo>
                <a:cubicBezTo>
                  <a:pt x="1015" y="771"/>
                  <a:pt x="999" y="802"/>
                  <a:pt x="979" y="831"/>
                </a:cubicBezTo>
                <a:cubicBezTo>
                  <a:pt x="960" y="861"/>
                  <a:pt x="938" y="887"/>
                  <a:pt x="913" y="912"/>
                </a:cubicBezTo>
                <a:cubicBezTo>
                  <a:pt x="888" y="937"/>
                  <a:pt x="861" y="959"/>
                  <a:pt x="832" y="979"/>
                </a:cubicBezTo>
                <a:cubicBezTo>
                  <a:pt x="803" y="998"/>
                  <a:pt x="772" y="1015"/>
                  <a:pt x="740" y="1028"/>
                </a:cubicBezTo>
                <a:cubicBezTo>
                  <a:pt x="707" y="1041"/>
                  <a:pt x="674" y="1052"/>
                  <a:pt x="639" y="1058"/>
                </a:cubicBezTo>
                <a:cubicBezTo>
                  <a:pt x="605" y="1065"/>
                  <a:pt x="570" y="1069"/>
                  <a:pt x="535" y="1069"/>
                </a:cubicBezTo>
                <a:cubicBezTo>
                  <a:pt x="500" y="1069"/>
                  <a:pt x="466" y="1065"/>
                  <a:pt x="431" y="1058"/>
                </a:cubicBezTo>
                <a:cubicBezTo>
                  <a:pt x="397" y="1052"/>
                  <a:pt x="363" y="1041"/>
                  <a:pt x="331" y="1028"/>
                </a:cubicBezTo>
                <a:cubicBezTo>
                  <a:pt x="298" y="1015"/>
                  <a:pt x="267" y="998"/>
                  <a:pt x="238" y="979"/>
                </a:cubicBezTo>
                <a:cubicBezTo>
                  <a:pt x="209" y="959"/>
                  <a:pt x="182" y="937"/>
                  <a:pt x="157" y="912"/>
                </a:cubicBezTo>
                <a:cubicBezTo>
                  <a:pt x="132" y="887"/>
                  <a:pt x="110" y="861"/>
                  <a:pt x="90" y="831"/>
                </a:cubicBezTo>
                <a:cubicBezTo>
                  <a:pt x="71" y="802"/>
                  <a:pt x="54" y="771"/>
                  <a:pt x="41" y="739"/>
                </a:cubicBezTo>
                <a:cubicBezTo>
                  <a:pt x="28" y="707"/>
                  <a:pt x="18" y="673"/>
                  <a:pt x="11" y="638"/>
                </a:cubicBezTo>
                <a:cubicBezTo>
                  <a:pt x="4" y="604"/>
                  <a:pt x="0" y="569"/>
                  <a:pt x="0" y="534"/>
                </a:cubicBezTo>
                <a:cubicBezTo>
                  <a:pt x="0" y="499"/>
                  <a:pt x="4" y="464"/>
                  <a:pt x="11" y="430"/>
                </a:cubicBezTo>
                <a:cubicBezTo>
                  <a:pt x="18" y="395"/>
                  <a:pt x="28" y="362"/>
                  <a:pt x="41" y="329"/>
                </a:cubicBezTo>
                <a:cubicBezTo>
                  <a:pt x="54" y="297"/>
                  <a:pt x="71" y="266"/>
                  <a:pt x="90" y="237"/>
                </a:cubicBezTo>
                <a:cubicBezTo>
                  <a:pt x="110" y="208"/>
                  <a:pt x="132" y="181"/>
                  <a:pt x="157" y="156"/>
                </a:cubicBezTo>
                <a:cubicBezTo>
                  <a:pt x="182" y="131"/>
                  <a:pt x="209" y="109"/>
                  <a:pt x="238" y="90"/>
                </a:cubicBezTo>
                <a:cubicBezTo>
                  <a:pt x="267" y="70"/>
                  <a:pt x="298" y="54"/>
                  <a:pt x="331" y="40"/>
                </a:cubicBezTo>
                <a:cubicBezTo>
                  <a:pt x="363" y="27"/>
                  <a:pt x="397" y="17"/>
                  <a:pt x="431" y="10"/>
                </a:cubicBezTo>
                <a:cubicBezTo>
                  <a:pt x="466" y="3"/>
                  <a:pt x="500" y="0"/>
                  <a:pt x="535" y="0"/>
                </a:cubicBezTo>
                <a:cubicBezTo>
                  <a:pt x="570" y="0"/>
                  <a:pt x="605" y="3"/>
                  <a:pt x="639" y="10"/>
                </a:cubicBezTo>
                <a:cubicBezTo>
                  <a:pt x="674" y="17"/>
                  <a:pt x="707" y="27"/>
                  <a:pt x="740" y="40"/>
                </a:cubicBezTo>
                <a:cubicBezTo>
                  <a:pt x="772" y="54"/>
                  <a:pt x="803" y="70"/>
                  <a:pt x="832" y="90"/>
                </a:cubicBezTo>
                <a:cubicBezTo>
                  <a:pt x="861" y="109"/>
                  <a:pt x="888" y="131"/>
                  <a:pt x="913" y="156"/>
                </a:cubicBezTo>
                <a:cubicBezTo>
                  <a:pt x="938" y="181"/>
                  <a:pt x="960" y="208"/>
                  <a:pt x="979" y="237"/>
                </a:cubicBezTo>
                <a:cubicBezTo>
                  <a:pt x="999" y="266"/>
                  <a:pt x="1015" y="297"/>
                  <a:pt x="1029" y="329"/>
                </a:cubicBezTo>
                <a:cubicBezTo>
                  <a:pt x="1042" y="362"/>
                  <a:pt x="1052" y="395"/>
                  <a:pt x="1059" y="430"/>
                </a:cubicBezTo>
                <a:cubicBezTo>
                  <a:pt x="1066" y="464"/>
                  <a:pt x="1069" y="499"/>
                  <a:pt x="1069" y="534"/>
                </a:cubicBezTo>
                <a:close/>
              </a:path>
            </a:pathLst>
          </a:custGeom>
          <a:solidFill>
            <a:srgbClr val="1c3d5a"/>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413" name=""/>
          <p:cNvSpPr/>
          <p:nvPr/>
        </p:nvSpPr>
        <p:spPr>
          <a:xfrm>
            <a:off x="3918960" y="1111320"/>
            <a:ext cx="384840" cy="384840"/>
          </a:xfrm>
          <a:custGeom>
            <a:avLst/>
            <a:gdLst/>
            <a:ahLst/>
            <a:rect l="0" t="0" r="r" b="b"/>
            <a:pathLst>
              <a:path fill="none" w="1069" h="1069">
                <a:moveTo>
                  <a:pt x="1069" y="534"/>
                </a:moveTo>
                <a:cubicBezTo>
                  <a:pt x="1069" y="569"/>
                  <a:pt x="1066" y="604"/>
                  <a:pt x="1059" y="638"/>
                </a:cubicBezTo>
                <a:cubicBezTo>
                  <a:pt x="1052" y="673"/>
                  <a:pt x="1042" y="707"/>
                  <a:pt x="1029" y="739"/>
                </a:cubicBezTo>
                <a:cubicBezTo>
                  <a:pt x="1015" y="771"/>
                  <a:pt x="999" y="802"/>
                  <a:pt x="979" y="831"/>
                </a:cubicBezTo>
                <a:cubicBezTo>
                  <a:pt x="960" y="861"/>
                  <a:pt x="938" y="887"/>
                  <a:pt x="913" y="912"/>
                </a:cubicBezTo>
                <a:cubicBezTo>
                  <a:pt x="888" y="937"/>
                  <a:pt x="861" y="959"/>
                  <a:pt x="832" y="979"/>
                </a:cubicBezTo>
                <a:cubicBezTo>
                  <a:pt x="803" y="998"/>
                  <a:pt x="772" y="1015"/>
                  <a:pt x="740" y="1028"/>
                </a:cubicBezTo>
                <a:cubicBezTo>
                  <a:pt x="707" y="1041"/>
                  <a:pt x="674" y="1052"/>
                  <a:pt x="639" y="1058"/>
                </a:cubicBezTo>
                <a:cubicBezTo>
                  <a:pt x="605" y="1065"/>
                  <a:pt x="570" y="1069"/>
                  <a:pt x="535" y="1069"/>
                </a:cubicBezTo>
                <a:cubicBezTo>
                  <a:pt x="500" y="1069"/>
                  <a:pt x="466" y="1065"/>
                  <a:pt x="431" y="1058"/>
                </a:cubicBezTo>
                <a:cubicBezTo>
                  <a:pt x="397" y="1052"/>
                  <a:pt x="363" y="1041"/>
                  <a:pt x="331" y="1028"/>
                </a:cubicBezTo>
                <a:cubicBezTo>
                  <a:pt x="298" y="1015"/>
                  <a:pt x="267" y="998"/>
                  <a:pt x="238" y="979"/>
                </a:cubicBezTo>
                <a:cubicBezTo>
                  <a:pt x="209" y="959"/>
                  <a:pt x="182" y="937"/>
                  <a:pt x="157" y="912"/>
                </a:cubicBezTo>
                <a:cubicBezTo>
                  <a:pt x="132" y="887"/>
                  <a:pt x="110" y="861"/>
                  <a:pt x="90" y="831"/>
                </a:cubicBezTo>
                <a:cubicBezTo>
                  <a:pt x="71" y="802"/>
                  <a:pt x="54" y="771"/>
                  <a:pt x="41" y="739"/>
                </a:cubicBezTo>
                <a:cubicBezTo>
                  <a:pt x="28" y="707"/>
                  <a:pt x="18" y="673"/>
                  <a:pt x="11" y="638"/>
                </a:cubicBezTo>
                <a:cubicBezTo>
                  <a:pt x="4" y="604"/>
                  <a:pt x="0" y="569"/>
                  <a:pt x="0" y="534"/>
                </a:cubicBezTo>
                <a:cubicBezTo>
                  <a:pt x="0" y="499"/>
                  <a:pt x="4" y="464"/>
                  <a:pt x="11" y="430"/>
                </a:cubicBezTo>
                <a:cubicBezTo>
                  <a:pt x="18" y="395"/>
                  <a:pt x="28" y="362"/>
                  <a:pt x="41" y="329"/>
                </a:cubicBezTo>
                <a:cubicBezTo>
                  <a:pt x="54" y="297"/>
                  <a:pt x="71" y="266"/>
                  <a:pt x="90" y="237"/>
                </a:cubicBezTo>
                <a:cubicBezTo>
                  <a:pt x="110" y="208"/>
                  <a:pt x="132" y="181"/>
                  <a:pt x="157" y="156"/>
                </a:cubicBezTo>
                <a:cubicBezTo>
                  <a:pt x="182" y="131"/>
                  <a:pt x="209" y="109"/>
                  <a:pt x="238" y="90"/>
                </a:cubicBezTo>
                <a:cubicBezTo>
                  <a:pt x="267" y="70"/>
                  <a:pt x="298" y="54"/>
                  <a:pt x="331" y="40"/>
                </a:cubicBezTo>
                <a:cubicBezTo>
                  <a:pt x="363" y="27"/>
                  <a:pt x="397" y="17"/>
                  <a:pt x="431" y="10"/>
                </a:cubicBezTo>
                <a:cubicBezTo>
                  <a:pt x="466" y="3"/>
                  <a:pt x="500" y="0"/>
                  <a:pt x="535" y="0"/>
                </a:cubicBezTo>
                <a:cubicBezTo>
                  <a:pt x="570" y="0"/>
                  <a:pt x="605" y="3"/>
                  <a:pt x="639" y="10"/>
                </a:cubicBezTo>
                <a:cubicBezTo>
                  <a:pt x="674" y="17"/>
                  <a:pt x="707" y="27"/>
                  <a:pt x="740" y="40"/>
                </a:cubicBezTo>
                <a:cubicBezTo>
                  <a:pt x="772" y="54"/>
                  <a:pt x="803" y="70"/>
                  <a:pt x="832" y="90"/>
                </a:cubicBezTo>
                <a:cubicBezTo>
                  <a:pt x="861" y="109"/>
                  <a:pt x="888" y="131"/>
                  <a:pt x="913" y="156"/>
                </a:cubicBezTo>
                <a:cubicBezTo>
                  <a:pt x="938" y="181"/>
                  <a:pt x="960" y="208"/>
                  <a:pt x="979" y="237"/>
                </a:cubicBezTo>
                <a:cubicBezTo>
                  <a:pt x="999" y="266"/>
                  <a:pt x="1015" y="297"/>
                  <a:pt x="1029" y="329"/>
                </a:cubicBezTo>
                <a:cubicBezTo>
                  <a:pt x="1042" y="362"/>
                  <a:pt x="1052" y="395"/>
                  <a:pt x="1059" y="430"/>
                </a:cubicBezTo>
                <a:cubicBezTo>
                  <a:pt x="1066" y="464"/>
                  <a:pt x="1069" y="499"/>
                  <a:pt x="1069" y="534"/>
                </a:cubicBezTo>
              </a:path>
            </a:pathLst>
          </a:custGeom>
          <a:ln w="16560">
            <a:solidFill>
              <a:srgbClr val="ff8c00"/>
            </a:solidFill>
            <a:miter/>
          </a:ln>
        </p:spPr>
        <p:txBody>
          <a:bodyPr lIns="8280" rIns="8280" tIns="8280" bIns="8280" anchor="t">
            <a:noAutofit/>
          </a:bodyPr>
          <a:p>
            <a:endParaRPr b="0" lang="en-US" sz="2400" strike="noStrike" u="none">
              <a:solidFill>
                <a:srgbClr val="000000"/>
              </a:solidFill>
              <a:effectLst/>
              <a:uFillTx/>
              <a:latin typeface="Times New Roman"/>
            </a:endParaRPr>
          </a:p>
        </p:txBody>
      </p:sp>
      <p:sp>
        <p:nvSpPr>
          <p:cNvPr id="414" name=""/>
          <p:cNvSpPr txBox="1"/>
          <p:nvPr/>
        </p:nvSpPr>
        <p:spPr>
          <a:xfrm>
            <a:off x="1067400" y="2331720"/>
            <a:ext cx="1217520" cy="169560"/>
          </a:xfrm>
          <a:prstGeom prst="rect">
            <a:avLst/>
          </a:prstGeom>
          <a:noFill/>
          <a:ln w="0">
            <a:noFill/>
          </a:ln>
        </p:spPr>
        <p:txBody>
          <a:bodyPr wrap="none" lIns="0" rIns="0" tIns="0" bIns="0" anchor="t">
            <a:spAutoFit/>
          </a:bodyPr>
          <a:p>
            <a:r>
              <a:rPr b="0" lang="zh-CN" sz="920" strike="noStrike" u="none">
                <a:solidFill>
                  <a:srgbClr val="ffffff"/>
                </a:solidFill>
                <a:effectLst/>
                <a:uFillTx/>
                <a:latin typeface="NotoSansJP"/>
                <a:ea typeface="NotoSansJP"/>
              </a:rPr>
              <a:t>複素振幅分布 </a:t>
            </a:r>
            <a:r>
              <a:rPr b="0" lang="en-US" sz="920" strike="noStrike" u="none">
                <a:solidFill>
                  <a:srgbClr val="ffffff"/>
                </a:solidFill>
                <a:effectLst/>
                <a:uFillTx/>
                <a:latin typeface="NotoSansJP"/>
                <a:ea typeface="NotoSansJP"/>
              </a:rPr>
              <a:t>g(x,y;0)</a:t>
            </a:r>
            <a:endParaRPr b="0" lang="en-US" sz="920" strike="noStrike" u="none">
              <a:solidFill>
                <a:srgbClr val="000000"/>
              </a:solidFill>
              <a:effectLst/>
              <a:uFillTx/>
              <a:latin typeface="Times New Roman"/>
            </a:endParaRPr>
          </a:p>
        </p:txBody>
      </p:sp>
      <p:sp>
        <p:nvSpPr>
          <p:cNvPr id="415" name=""/>
          <p:cNvSpPr txBox="1"/>
          <p:nvPr/>
        </p:nvSpPr>
        <p:spPr>
          <a:xfrm>
            <a:off x="4071960" y="1238040"/>
            <a:ext cx="133200" cy="157320"/>
          </a:xfrm>
          <a:prstGeom prst="rect">
            <a:avLst/>
          </a:prstGeom>
          <a:noFill/>
          <a:ln w="0">
            <a:noFill/>
          </a:ln>
        </p:spPr>
        <p:txBody>
          <a:bodyPr wrap="none" lIns="0" rIns="0" tIns="0" bIns="0" anchor="t">
            <a:spAutoFit/>
          </a:bodyPr>
          <a:p>
            <a:r>
              <a:rPr b="0" lang="en-US" sz="1050" strike="noStrike" u="none">
                <a:solidFill>
                  <a:srgbClr val="ffffff"/>
                </a:solidFill>
                <a:effectLst/>
                <a:uFillTx/>
                <a:latin typeface="NotoSansJP"/>
                <a:ea typeface="NotoSansJP"/>
              </a:rPr>
              <a:t>2</a:t>
            </a:r>
            <a:endParaRPr b="0" lang="en-US" sz="1050" strike="noStrike" u="none">
              <a:solidFill>
                <a:srgbClr val="000000"/>
              </a:solidFill>
              <a:effectLst/>
              <a:uFillTx/>
              <a:latin typeface="Times New Roman"/>
            </a:endParaRPr>
          </a:p>
        </p:txBody>
      </p:sp>
      <p:pic>
        <p:nvPicPr>
          <p:cNvPr id="416" name="" descr=""/>
          <p:cNvPicPr/>
          <p:nvPr/>
        </p:nvPicPr>
        <p:blipFill>
          <a:blip r:embed="rId4"/>
          <a:stretch/>
        </p:blipFill>
        <p:spPr>
          <a:xfrm>
            <a:off x="3986280" y="1905480"/>
            <a:ext cx="250200" cy="300600"/>
          </a:xfrm>
          <a:prstGeom prst="rect">
            <a:avLst/>
          </a:prstGeom>
          <a:noFill/>
          <a:ln w="0">
            <a:noFill/>
          </a:ln>
        </p:spPr>
      </p:pic>
      <p:sp>
        <p:nvSpPr>
          <p:cNvPr id="417" name=""/>
          <p:cNvSpPr txBox="1"/>
          <p:nvPr/>
        </p:nvSpPr>
        <p:spPr>
          <a:xfrm>
            <a:off x="3829320" y="1648800"/>
            <a:ext cx="603000" cy="219960"/>
          </a:xfrm>
          <a:prstGeom prst="rect">
            <a:avLst/>
          </a:prstGeom>
          <a:noFill/>
          <a:ln w="0">
            <a:noFill/>
          </a:ln>
        </p:spPr>
        <p:txBody>
          <a:bodyPr wrap="none" lIns="0" rIns="0" tIns="0" bIns="0" anchor="t">
            <a:spAutoFit/>
          </a:bodyPr>
          <a:p>
            <a:r>
              <a:rPr b="0" lang="en-US" sz="1180" strike="noStrike" u="none">
                <a:solidFill>
                  <a:srgbClr val="a7c6d9"/>
                </a:solidFill>
                <a:effectLst/>
                <a:uFillTx/>
                <a:latin typeface="NotoSansJP"/>
                <a:ea typeface="NotoSansJP"/>
              </a:rPr>
              <a:t>FFT</a:t>
            </a:r>
            <a:r>
              <a:rPr b="0" lang="zh-CN" sz="1180" strike="noStrike" u="none">
                <a:solidFill>
                  <a:srgbClr val="a7c6d9"/>
                </a:solidFill>
                <a:effectLst/>
                <a:uFillTx/>
                <a:latin typeface="NotoSansJP"/>
                <a:ea typeface="NotoSansJP"/>
              </a:rPr>
              <a:t>変換</a:t>
            </a:r>
            <a:endParaRPr b="0" lang="en-US" sz="1180" strike="noStrike" u="none">
              <a:solidFill>
                <a:srgbClr val="000000"/>
              </a:solidFill>
              <a:effectLst/>
              <a:uFillTx/>
              <a:latin typeface="Times New Roman"/>
            </a:endParaRPr>
          </a:p>
        </p:txBody>
      </p:sp>
      <p:pic>
        <p:nvPicPr>
          <p:cNvPr id="418" name="" descr=""/>
          <p:cNvPicPr/>
          <p:nvPr/>
        </p:nvPicPr>
        <p:blipFill>
          <a:blip r:embed="rId5"/>
          <a:stretch/>
        </p:blipFill>
        <p:spPr>
          <a:xfrm>
            <a:off x="5272920" y="1671480"/>
            <a:ext cx="150120" cy="233640"/>
          </a:xfrm>
          <a:prstGeom prst="rect">
            <a:avLst/>
          </a:prstGeom>
          <a:noFill/>
          <a:ln w="0">
            <a:noFill/>
          </a:ln>
        </p:spPr>
      </p:pic>
      <p:sp>
        <p:nvSpPr>
          <p:cNvPr id="419" name=""/>
          <p:cNvSpPr/>
          <p:nvPr/>
        </p:nvSpPr>
        <p:spPr>
          <a:xfrm>
            <a:off x="5623920" y="935640"/>
            <a:ext cx="1930680" cy="1705320"/>
          </a:xfrm>
          <a:custGeom>
            <a:avLst/>
            <a:gdLst/>
            <a:ahLst/>
            <a:rect l="0" t="0" r="r" b="b"/>
            <a:pathLst>
              <a:path w="5363" h="4737">
                <a:moveTo>
                  <a:pt x="0" y="4551"/>
                </a:moveTo>
                <a:lnTo>
                  <a:pt x="0" y="186"/>
                </a:lnTo>
                <a:cubicBezTo>
                  <a:pt x="0" y="174"/>
                  <a:pt x="1" y="162"/>
                  <a:pt x="3" y="150"/>
                </a:cubicBezTo>
                <a:cubicBezTo>
                  <a:pt x="6" y="138"/>
                  <a:pt x="9" y="126"/>
                  <a:pt x="14" y="115"/>
                </a:cubicBezTo>
                <a:cubicBezTo>
                  <a:pt x="19" y="104"/>
                  <a:pt x="24" y="93"/>
                  <a:pt x="31" y="83"/>
                </a:cubicBezTo>
                <a:cubicBezTo>
                  <a:pt x="38" y="73"/>
                  <a:pt x="46" y="63"/>
                  <a:pt x="54" y="55"/>
                </a:cubicBezTo>
                <a:cubicBezTo>
                  <a:pt x="63" y="46"/>
                  <a:pt x="72" y="38"/>
                  <a:pt x="82" y="32"/>
                </a:cubicBezTo>
                <a:cubicBezTo>
                  <a:pt x="93" y="25"/>
                  <a:pt x="103" y="19"/>
                  <a:pt x="115" y="14"/>
                </a:cubicBezTo>
                <a:cubicBezTo>
                  <a:pt x="126" y="10"/>
                  <a:pt x="137" y="6"/>
                  <a:pt x="149" y="4"/>
                </a:cubicBezTo>
                <a:cubicBezTo>
                  <a:pt x="161" y="2"/>
                  <a:pt x="173" y="0"/>
                  <a:pt x="186" y="0"/>
                </a:cubicBezTo>
                <a:lnTo>
                  <a:pt x="5177" y="0"/>
                </a:lnTo>
                <a:cubicBezTo>
                  <a:pt x="5190" y="0"/>
                  <a:pt x="5202" y="2"/>
                  <a:pt x="5214" y="4"/>
                </a:cubicBezTo>
                <a:cubicBezTo>
                  <a:pt x="5226" y="6"/>
                  <a:pt x="5237" y="10"/>
                  <a:pt x="5248" y="14"/>
                </a:cubicBezTo>
                <a:cubicBezTo>
                  <a:pt x="5260" y="19"/>
                  <a:pt x="5270" y="25"/>
                  <a:pt x="5281" y="32"/>
                </a:cubicBezTo>
                <a:cubicBezTo>
                  <a:pt x="5291" y="38"/>
                  <a:pt x="5300" y="46"/>
                  <a:pt x="5309" y="55"/>
                </a:cubicBezTo>
                <a:cubicBezTo>
                  <a:pt x="5317" y="63"/>
                  <a:pt x="5325" y="73"/>
                  <a:pt x="5332" y="83"/>
                </a:cubicBezTo>
                <a:cubicBezTo>
                  <a:pt x="5339" y="93"/>
                  <a:pt x="5344" y="104"/>
                  <a:pt x="5349" y="115"/>
                </a:cubicBezTo>
                <a:cubicBezTo>
                  <a:pt x="5354" y="126"/>
                  <a:pt x="5357" y="138"/>
                  <a:pt x="5360" y="150"/>
                </a:cubicBezTo>
                <a:cubicBezTo>
                  <a:pt x="5362" y="162"/>
                  <a:pt x="5363" y="174"/>
                  <a:pt x="5363" y="186"/>
                </a:cubicBezTo>
                <a:lnTo>
                  <a:pt x="5363" y="4551"/>
                </a:lnTo>
                <a:cubicBezTo>
                  <a:pt x="5363" y="4563"/>
                  <a:pt x="5362" y="4575"/>
                  <a:pt x="5360" y="4587"/>
                </a:cubicBezTo>
                <a:cubicBezTo>
                  <a:pt x="5357" y="4599"/>
                  <a:pt x="5354" y="4611"/>
                  <a:pt x="5349" y="4622"/>
                </a:cubicBezTo>
                <a:cubicBezTo>
                  <a:pt x="5344" y="4633"/>
                  <a:pt x="5339" y="4644"/>
                  <a:pt x="5332" y="4654"/>
                </a:cubicBezTo>
                <a:cubicBezTo>
                  <a:pt x="5325" y="4664"/>
                  <a:pt x="5317" y="4674"/>
                  <a:pt x="5309" y="4682"/>
                </a:cubicBezTo>
                <a:cubicBezTo>
                  <a:pt x="5300" y="4691"/>
                  <a:pt x="5291" y="4699"/>
                  <a:pt x="5281" y="4706"/>
                </a:cubicBezTo>
                <a:cubicBezTo>
                  <a:pt x="5270" y="4712"/>
                  <a:pt x="5260" y="4718"/>
                  <a:pt x="5248" y="4723"/>
                </a:cubicBezTo>
                <a:cubicBezTo>
                  <a:pt x="5237" y="4727"/>
                  <a:pt x="5226" y="4731"/>
                  <a:pt x="5214" y="4733"/>
                </a:cubicBezTo>
                <a:cubicBezTo>
                  <a:pt x="5202" y="4736"/>
                  <a:pt x="5190" y="4737"/>
                  <a:pt x="5177" y="4737"/>
                </a:cubicBezTo>
                <a:lnTo>
                  <a:pt x="186" y="4737"/>
                </a:lnTo>
                <a:cubicBezTo>
                  <a:pt x="173" y="4737"/>
                  <a:pt x="161" y="4736"/>
                  <a:pt x="149" y="4733"/>
                </a:cubicBezTo>
                <a:cubicBezTo>
                  <a:pt x="137" y="4731"/>
                  <a:pt x="126" y="4727"/>
                  <a:pt x="115" y="4723"/>
                </a:cubicBezTo>
                <a:cubicBezTo>
                  <a:pt x="103" y="4718"/>
                  <a:pt x="93" y="4712"/>
                  <a:pt x="82" y="4706"/>
                </a:cubicBezTo>
                <a:cubicBezTo>
                  <a:pt x="72" y="4699"/>
                  <a:pt x="63" y="4691"/>
                  <a:pt x="54" y="4682"/>
                </a:cubicBezTo>
                <a:cubicBezTo>
                  <a:pt x="46" y="4674"/>
                  <a:pt x="38" y="4664"/>
                  <a:pt x="31" y="4654"/>
                </a:cubicBezTo>
                <a:cubicBezTo>
                  <a:pt x="24" y="4644"/>
                  <a:pt x="19" y="4633"/>
                  <a:pt x="14" y="4622"/>
                </a:cubicBezTo>
                <a:cubicBezTo>
                  <a:pt x="9" y="4611"/>
                  <a:pt x="6" y="4599"/>
                  <a:pt x="3" y="4587"/>
                </a:cubicBezTo>
                <a:cubicBezTo>
                  <a:pt x="1" y="4575"/>
                  <a:pt x="0" y="4563"/>
                  <a:pt x="0" y="4551"/>
                </a:cubicBezTo>
                <a:close/>
              </a:path>
            </a:pathLst>
          </a:custGeom>
          <a:solidFill>
            <a:srgbClr val="ffffff">
              <a:alpha val="10000"/>
            </a:srgbClr>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420" name=""/>
          <p:cNvSpPr/>
          <p:nvPr/>
        </p:nvSpPr>
        <p:spPr>
          <a:xfrm>
            <a:off x="6392520" y="1111320"/>
            <a:ext cx="384840" cy="384840"/>
          </a:xfrm>
          <a:custGeom>
            <a:avLst/>
            <a:gdLst/>
            <a:ahLst/>
            <a:rect l="0" t="0" r="r" b="b"/>
            <a:pathLst>
              <a:path w="1069" h="1069">
                <a:moveTo>
                  <a:pt x="1069" y="534"/>
                </a:moveTo>
                <a:cubicBezTo>
                  <a:pt x="1069" y="569"/>
                  <a:pt x="1066" y="604"/>
                  <a:pt x="1059" y="638"/>
                </a:cubicBezTo>
                <a:cubicBezTo>
                  <a:pt x="1052" y="673"/>
                  <a:pt x="1042" y="707"/>
                  <a:pt x="1029" y="739"/>
                </a:cubicBezTo>
                <a:cubicBezTo>
                  <a:pt x="1015" y="771"/>
                  <a:pt x="999" y="802"/>
                  <a:pt x="979" y="831"/>
                </a:cubicBezTo>
                <a:cubicBezTo>
                  <a:pt x="960" y="861"/>
                  <a:pt x="938" y="887"/>
                  <a:pt x="912" y="912"/>
                </a:cubicBezTo>
                <a:cubicBezTo>
                  <a:pt x="887" y="937"/>
                  <a:pt x="860" y="959"/>
                  <a:pt x="831" y="979"/>
                </a:cubicBezTo>
                <a:cubicBezTo>
                  <a:pt x="802" y="998"/>
                  <a:pt x="771" y="1015"/>
                  <a:pt x="739" y="1028"/>
                </a:cubicBezTo>
                <a:cubicBezTo>
                  <a:pt x="706" y="1041"/>
                  <a:pt x="673" y="1052"/>
                  <a:pt x="639" y="1058"/>
                </a:cubicBezTo>
                <a:cubicBezTo>
                  <a:pt x="604" y="1065"/>
                  <a:pt x="569" y="1069"/>
                  <a:pt x="534" y="1069"/>
                </a:cubicBezTo>
                <a:cubicBezTo>
                  <a:pt x="499" y="1069"/>
                  <a:pt x="465" y="1065"/>
                  <a:pt x="430" y="1058"/>
                </a:cubicBezTo>
                <a:cubicBezTo>
                  <a:pt x="396" y="1052"/>
                  <a:pt x="362" y="1041"/>
                  <a:pt x="330" y="1028"/>
                </a:cubicBezTo>
                <a:cubicBezTo>
                  <a:pt x="298" y="1015"/>
                  <a:pt x="267" y="998"/>
                  <a:pt x="238" y="979"/>
                </a:cubicBezTo>
                <a:cubicBezTo>
                  <a:pt x="209" y="959"/>
                  <a:pt x="182" y="937"/>
                  <a:pt x="157" y="912"/>
                </a:cubicBezTo>
                <a:cubicBezTo>
                  <a:pt x="132" y="887"/>
                  <a:pt x="110" y="861"/>
                  <a:pt x="90" y="831"/>
                </a:cubicBezTo>
                <a:cubicBezTo>
                  <a:pt x="71" y="802"/>
                  <a:pt x="55" y="771"/>
                  <a:pt x="41" y="739"/>
                </a:cubicBezTo>
                <a:cubicBezTo>
                  <a:pt x="28" y="707"/>
                  <a:pt x="18" y="673"/>
                  <a:pt x="11" y="638"/>
                </a:cubicBezTo>
                <a:cubicBezTo>
                  <a:pt x="4" y="604"/>
                  <a:pt x="0" y="569"/>
                  <a:pt x="0" y="534"/>
                </a:cubicBezTo>
                <a:cubicBezTo>
                  <a:pt x="0" y="499"/>
                  <a:pt x="4" y="464"/>
                  <a:pt x="11" y="430"/>
                </a:cubicBezTo>
                <a:cubicBezTo>
                  <a:pt x="18" y="395"/>
                  <a:pt x="28" y="362"/>
                  <a:pt x="41" y="329"/>
                </a:cubicBezTo>
                <a:cubicBezTo>
                  <a:pt x="55" y="297"/>
                  <a:pt x="71" y="266"/>
                  <a:pt x="90" y="237"/>
                </a:cubicBezTo>
                <a:cubicBezTo>
                  <a:pt x="110" y="208"/>
                  <a:pt x="132" y="181"/>
                  <a:pt x="157" y="156"/>
                </a:cubicBezTo>
                <a:cubicBezTo>
                  <a:pt x="182" y="131"/>
                  <a:pt x="209" y="109"/>
                  <a:pt x="238" y="90"/>
                </a:cubicBezTo>
                <a:cubicBezTo>
                  <a:pt x="267" y="70"/>
                  <a:pt x="298" y="54"/>
                  <a:pt x="330" y="40"/>
                </a:cubicBezTo>
                <a:cubicBezTo>
                  <a:pt x="362" y="27"/>
                  <a:pt x="396" y="17"/>
                  <a:pt x="430" y="10"/>
                </a:cubicBezTo>
                <a:cubicBezTo>
                  <a:pt x="465" y="3"/>
                  <a:pt x="499" y="0"/>
                  <a:pt x="534" y="0"/>
                </a:cubicBezTo>
                <a:cubicBezTo>
                  <a:pt x="569" y="0"/>
                  <a:pt x="604" y="3"/>
                  <a:pt x="639" y="10"/>
                </a:cubicBezTo>
                <a:cubicBezTo>
                  <a:pt x="673" y="17"/>
                  <a:pt x="706" y="27"/>
                  <a:pt x="739" y="40"/>
                </a:cubicBezTo>
                <a:cubicBezTo>
                  <a:pt x="771" y="54"/>
                  <a:pt x="802" y="70"/>
                  <a:pt x="831" y="90"/>
                </a:cubicBezTo>
                <a:cubicBezTo>
                  <a:pt x="860" y="109"/>
                  <a:pt x="887" y="131"/>
                  <a:pt x="912" y="156"/>
                </a:cubicBezTo>
                <a:cubicBezTo>
                  <a:pt x="938" y="181"/>
                  <a:pt x="960" y="208"/>
                  <a:pt x="979" y="237"/>
                </a:cubicBezTo>
                <a:cubicBezTo>
                  <a:pt x="999" y="266"/>
                  <a:pt x="1015" y="297"/>
                  <a:pt x="1029" y="329"/>
                </a:cubicBezTo>
                <a:cubicBezTo>
                  <a:pt x="1042" y="362"/>
                  <a:pt x="1052" y="395"/>
                  <a:pt x="1059" y="430"/>
                </a:cubicBezTo>
                <a:cubicBezTo>
                  <a:pt x="1066" y="464"/>
                  <a:pt x="1069" y="499"/>
                  <a:pt x="1069" y="534"/>
                </a:cubicBezTo>
                <a:close/>
              </a:path>
            </a:pathLst>
          </a:custGeom>
          <a:solidFill>
            <a:srgbClr val="1c3d5a"/>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421" name=""/>
          <p:cNvSpPr/>
          <p:nvPr/>
        </p:nvSpPr>
        <p:spPr>
          <a:xfrm>
            <a:off x="6392520" y="1111320"/>
            <a:ext cx="384840" cy="384840"/>
          </a:xfrm>
          <a:custGeom>
            <a:avLst/>
            <a:gdLst/>
            <a:ahLst/>
            <a:rect l="0" t="0" r="r" b="b"/>
            <a:pathLst>
              <a:path fill="none" w="1069" h="1069">
                <a:moveTo>
                  <a:pt x="1069" y="534"/>
                </a:moveTo>
                <a:cubicBezTo>
                  <a:pt x="1069" y="569"/>
                  <a:pt x="1066" y="604"/>
                  <a:pt x="1059" y="638"/>
                </a:cubicBezTo>
                <a:cubicBezTo>
                  <a:pt x="1052" y="673"/>
                  <a:pt x="1042" y="707"/>
                  <a:pt x="1029" y="739"/>
                </a:cubicBezTo>
                <a:cubicBezTo>
                  <a:pt x="1015" y="771"/>
                  <a:pt x="999" y="802"/>
                  <a:pt x="979" y="831"/>
                </a:cubicBezTo>
                <a:cubicBezTo>
                  <a:pt x="960" y="861"/>
                  <a:pt x="938" y="887"/>
                  <a:pt x="912" y="912"/>
                </a:cubicBezTo>
                <a:cubicBezTo>
                  <a:pt x="887" y="937"/>
                  <a:pt x="860" y="959"/>
                  <a:pt x="831" y="979"/>
                </a:cubicBezTo>
                <a:cubicBezTo>
                  <a:pt x="802" y="998"/>
                  <a:pt x="771" y="1015"/>
                  <a:pt x="739" y="1028"/>
                </a:cubicBezTo>
                <a:cubicBezTo>
                  <a:pt x="706" y="1041"/>
                  <a:pt x="673" y="1052"/>
                  <a:pt x="639" y="1058"/>
                </a:cubicBezTo>
                <a:cubicBezTo>
                  <a:pt x="604" y="1065"/>
                  <a:pt x="569" y="1069"/>
                  <a:pt x="534" y="1069"/>
                </a:cubicBezTo>
                <a:cubicBezTo>
                  <a:pt x="499" y="1069"/>
                  <a:pt x="465" y="1065"/>
                  <a:pt x="430" y="1058"/>
                </a:cubicBezTo>
                <a:cubicBezTo>
                  <a:pt x="396" y="1052"/>
                  <a:pt x="362" y="1041"/>
                  <a:pt x="330" y="1028"/>
                </a:cubicBezTo>
                <a:cubicBezTo>
                  <a:pt x="298" y="1015"/>
                  <a:pt x="267" y="998"/>
                  <a:pt x="238" y="979"/>
                </a:cubicBezTo>
                <a:cubicBezTo>
                  <a:pt x="209" y="959"/>
                  <a:pt x="182" y="937"/>
                  <a:pt x="157" y="912"/>
                </a:cubicBezTo>
                <a:cubicBezTo>
                  <a:pt x="132" y="887"/>
                  <a:pt x="110" y="861"/>
                  <a:pt x="90" y="831"/>
                </a:cubicBezTo>
                <a:cubicBezTo>
                  <a:pt x="71" y="802"/>
                  <a:pt x="55" y="771"/>
                  <a:pt x="41" y="739"/>
                </a:cubicBezTo>
                <a:cubicBezTo>
                  <a:pt x="28" y="707"/>
                  <a:pt x="18" y="673"/>
                  <a:pt x="11" y="638"/>
                </a:cubicBezTo>
                <a:cubicBezTo>
                  <a:pt x="4" y="604"/>
                  <a:pt x="0" y="569"/>
                  <a:pt x="0" y="534"/>
                </a:cubicBezTo>
                <a:cubicBezTo>
                  <a:pt x="0" y="499"/>
                  <a:pt x="4" y="464"/>
                  <a:pt x="11" y="430"/>
                </a:cubicBezTo>
                <a:cubicBezTo>
                  <a:pt x="18" y="395"/>
                  <a:pt x="28" y="362"/>
                  <a:pt x="41" y="329"/>
                </a:cubicBezTo>
                <a:cubicBezTo>
                  <a:pt x="55" y="297"/>
                  <a:pt x="71" y="266"/>
                  <a:pt x="90" y="237"/>
                </a:cubicBezTo>
                <a:cubicBezTo>
                  <a:pt x="110" y="208"/>
                  <a:pt x="132" y="181"/>
                  <a:pt x="157" y="156"/>
                </a:cubicBezTo>
                <a:cubicBezTo>
                  <a:pt x="182" y="131"/>
                  <a:pt x="209" y="109"/>
                  <a:pt x="238" y="90"/>
                </a:cubicBezTo>
                <a:cubicBezTo>
                  <a:pt x="267" y="70"/>
                  <a:pt x="298" y="54"/>
                  <a:pt x="330" y="40"/>
                </a:cubicBezTo>
                <a:cubicBezTo>
                  <a:pt x="362" y="27"/>
                  <a:pt x="396" y="17"/>
                  <a:pt x="430" y="10"/>
                </a:cubicBezTo>
                <a:cubicBezTo>
                  <a:pt x="465" y="3"/>
                  <a:pt x="499" y="0"/>
                  <a:pt x="534" y="0"/>
                </a:cubicBezTo>
                <a:cubicBezTo>
                  <a:pt x="569" y="0"/>
                  <a:pt x="604" y="3"/>
                  <a:pt x="639" y="10"/>
                </a:cubicBezTo>
                <a:cubicBezTo>
                  <a:pt x="673" y="17"/>
                  <a:pt x="706" y="27"/>
                  <a:pt x="739" y="40"/>
                </a:cubicBezTo>
                <a:cubicBezTo>
                  <a:pt x="771" y="54"/>
                  <a:pt x="802" y="70"/>
                  <a:pt x="831" y="90"/>
                </a:cubicBezTo>
                <a:cubicBezTo>
                  <a:pt x="860" y="109"/>
                  <a:pt x="887" y="131"/>
                  <a:pt x="912" y="156"/>
                </a:cubicBezTo>
                <a:cubicBezTo>
                  <a:pt x="938" y="181"/>
                  <a:pt x="960" y="208"/>
                  <a:pt x="979" y="237"/>
                </a:cubicBezTo>
                <a:cubicBezTo>
                  <a:pt x="999" y="266"/>
                  <a:pt x="1015" y="297"/>
                  <a:pt x="1029" y="329"/>
                </a:cubicBezTo>
                <a:cubicBezTo>
                  <a:pt x="1042" y="362"/>
                  <a:pt x="1052" y="395"/>
                  <a:pt x="1059" y="430"/>
                </a:cubicBezTo>
                <a:cubicBezTo>
                  <a:pt x="1066" y="464"/>
                  <a:pt x="1069" y="499"/>
                  <a:pt x="1069" y="534"/>
                </a:cubicBezTo>
              </a:path>
            </a:pathLst>
          </a:custGeom>
          <a:ln w="16560">
            <a:solidFill>
              <a:srgbClr val="ff8c00"/>
            </a:solidFill>
            <a:miter/>
          </a:ln>
        </p:spPr>
        <p:txBody>
          <a:bodyPr lIns="8280" rIns="8280" tIns="8280" bIns="8280" anchor="t">
            <a:noAutofit/>
          </a:bodyPr>
          <a:p>
            <a:endParaRPr b="0" lang="en-US" sz="2400" strike="noStrike" u="none">
              <a:solidFill>
                <a:srgbClr val="000000"/>
              </a:solidFill>
              <a:effectLst/>
              <a:uFillTx/>
              <a:latin typeface="Times New Roman"/>
            </a:endParaRPr>
          </a:p>
        </p:txBody>
      </p:sp>
      <p:sp>
        <p:nvSpPr>
          <p:cNvPr id="422" name=""/>
          <p:cNvSpPr txBox="1"/>
          <p:nvPr/>
        </p:nvSpPr>
        <p:spPr>
          <a:xfrm>
            <a:off x="3537000" y="2331720"/>
            <a:ext cx="1242720" cy="169560"/>
          </a:xfrm>
          <a:prstGeom prst="rect">
            <a:avLst/>
          </a:prstGeom>
          <a:noFill/>
          <a:ln w="0">
            <a:noFill/>
          </a:ln>
        </p:spPr>
        <p:txBody>
          <a:bodyPr wrap="none" lIns="0" rIns="0" tIns="0" bIns="0" anchor="t">
            <a:spAutoFit/>
          </a:bodyPr>
          <a:p>
            <a:r>
              <a:rPr b="0" lang="zh-CN" sz="920" strike="noStrike" u="none">
                <a:solidFill>
                  <a:srgbClr val="ffffff"/>
                </a:solidFill>
                <a:effectLst/>
                <a:uFillTx/>
                <a:latin typeface="NotoSansJP"/>
                <a:ea typeface="NotoSansJP"/>
              </a:rPr>
              <a:t>角スペクトル </a:t>
            </a:r>
            <a:r>
              <a:rPr b="0" lang="en-US" sz="920" strike="noStrike" u="none">
                <a:solidFill>
                  <a:srgbClr val="ffffff"/>
                </a:solidFill>
                <a:effectLst/>
                <a:uFillTx/>
                <a:latin typeface="NotoSansJP"/>
                <a:ea typeface="NotoSansJP"/>
              </a:rPr>
              <a:t>G(u,v;0)</a:t>
            </a:r>
            <a:endParaRPr b="0" lang="en-US" sz="920" strike="noStrike" u="none">
              <a:solidFill>
                <a:srgbClr val="000000"/>
              </a:solidFill>
              <a:effectLst/>
              <a:uFillTx/>
              <a:latin typeface="Times New Roman"/>
            </a:endParaRPr>
          </a:p>
        </p:txBody>
      </p:sp>
      <p:sp>
        <p:nvSpPr>
          <p:cNvPr id="423" name=""/>
          <p:cNvSpPr txBox="1"/>
          <p:nvPr/>
        </p:nvSpPr>
        <p:spPr>
          <a:xfrm>
            <a:off x="6549480" y="1238040"/>
            <a:ext cx="133200" cy="157320"/>
          </a:xfrm>
          <a:prstGeom prst="rect">
            <a:avLst/>
          </a:prstGeom>
          <a:noFill/>
          <a:ln w="0">
            <a:noFill/>
          </a:ln>
        </p:spPr>
        <p:txBody>
          <a:bodyPr wrap="none" lIns="0" rIns="0" tIns="0" bIns="0" anchor="t">
            <a:spAutoFit/>
          </a:bodyPr>
          <a:p>
            <a:r>
              <a:rPr b="0" lang="en-US" sz="1050" strike="noStrike" u="none">
                <a:solidFill>
                  <a:srgbClr val="ffffff"/>
                </a:solidFill>
                <a:effectLst/>
                <a:uFillTx/>
                <a:latin typeface="NotoSansJP"/>
                <a:ea typeface="NotoSansJP"/>
              </a:rPr>
              <a:t>3</a:t>
            </a:r>
            <a:endParaRPr b="0" lang="en-US" sz="1050" strike="noStrike" u="none">
              <a:solidFill>
                <a:srgbClr val="000000"/>
              </a:solidFill>
              <a:effectLst/>
              <a:uFillTx/>
              <a:latin typeface="Times New Roman"/>
            </a:endParaRPr>
          </a:p>
        </p:txBody>
      </p:sp>
      <p:pic>
        <p:nvPicPr>
          <p:cNvPr id="424" name="" descr=""/>
          <p:cNvPicPr/>
          <p:nvPr/>
        </p:nvPicPr>
        <p:blipFill>
          <a:blip r:embed="rId6"/>
          <a:stretch/>
        </p:blipFill>
        <p:spPr>
          <a:xfrm>
            <a:off x="6493320" y="1905480"/>
            <a:ext cx="191880" cy="300600"/>
          </a:xfrm>
          <a:prstGeom prst="rect">
            <a:avLst/>
          </a:prstGeom>
          <a:noFill/>
          <a:ln w="0">
            <a:noFill/>
          </a:ln>
        </p:spPr>
      </p:pic>
      <p:sp>
        <p:nvSpPr>
          <p:cNvPr id="425" name=""/>
          <p:cNvSpPr txBox="1"/>
          <p:nvPr/>
        </p:nvSpPr>
        <p:spPr>
          <a:xfrm>
            <a:off x="6135840" y="1648800"/>
            <a:ext cx="906120" cy="219960"/>
          </a:xfrm>
          <a:prstGeom prst="rect">
            <a:avLst/>
          </a:prstGeom>
          <a:noFill/>
          <a:ln w="0">
            <a:noFill/>
          </a:ln>
        </p:spPr>
        <p:txBody>
          <a:bodyPr wrap="none" lIns="0" rIns="0" tIns="0" bIns="0" anchor="t">
            <a:spAutoFit/>
          </a:bodyPr>
          <a:p>
            <a:r>
              <a:rPr b="0" lang="zh-CN" sz="1180" strike="noStrike" u="none">
                <a:solidFill>
                  <a:srgbClr val="a7c6d9"/>
                </a:solidFill>
                <a:effectLst/>
                <a:uFillTx/>
                <a:latin typeface="NotoSansJP"/>
                <a:ea typeface="NotoSansJP"/>
              </a:rPr>
              <a:t>伝達関数適用</a:t>
            </a:r>
            <a:endParaRPr b="0" lang="en-US" sz="1180" strike="noStrike" u="none">
              <a:solidFill>
                <a:srgbClr val="000000"/>
              </a:solidFill>
              <a:effectLst/>
              <a:uFillTx/>
              <a:latin typeface="Times New Roman"/>
            </a:endParaRPr>
          </a:p>
        </p:txBody>
      </p:sp>
      <p:pic>
        <p:nvPicPr>
          <p:cNvPr id="426" name="" descr=""/>
          <p:cNvPicPr/>
          <p:nvPr/>
        </p:nvPicPr>
        <p:blipFill>
          <a:blip r:embed="rId7"/>
          <a:stretch/>
        </p:blipFill>
        <p:spPr>
          <a:xfrm>
            <a:off x="7755120" y="1671480"/>
            <a:ext cx="150120" cy="233640"/>
          </a:xfrm>
          <a:prstGeom prst="rect">
            <a:avLst/>
          </a:prstGeom>
          <a:noFill/>
          <a:ln w="0">
            <a:noFill/>
          </a:ln>
        </p:spPr>
      </p:pic>
      <p:sp>
        <p:nvSpPr>
          <p:cNvPr id="427" name=""/>
          <p:cNvSpPr/>
          <p:nvPr/>
        </p:nvSpPr>
        <p:spPr>
          <a:xfrm>
            <a:off x="8105760" y="935640"/>
            <a:ext cx="1922400" cy="1705320"/>
          </a:xfrm>
          <a:custGeom>
            <a:avLst/>
            <a:gdLst/>
            <a:ahLst/>
            <a:rect l="0" t="0" r="r" b="b"/>
            <a:pathLst>
              <a:path w="5340" h="4737">
                <a:moveTo>
                  <a:pt x="0" y="4551"/>
                </a:moveTo>
                <a:lnTo>
                  <a:pt x="0" y="186"/>
                </a:lnTo>
                <a:cubicBezTo>
                  <a:pt x="0" y="174"/>
                  <a:pt x="1" y="162"/>
                  <a:pt x="4" y="150"/>
                </a:cubicBezTo>
                <a:cubicBezTo>
                  <a:pt x="6" y="138"/>
                  <a:pt x="10" y="126"/>
                  <a:pt x="14" y="115"/>
                </a:cubicBezTo>
                <a:cubicBezTo>
                  <a:pt x="19" y="104"/>
                  <a:pt x="25" y="93"/>
                  <a:pt x="31" y="83"/>
                </a:cubicBezTo>
                <a:cubicBezTo>
                  <a:pt x="38" y="73"/>
                  <a:pt x="46" y="63"/>
                  <a:pt x="55" y="55"/>
                </a:cubicBezTo>
                <a:cubicBezTo>
                  <a:pt x="63" y="46"/>
                  <a:pt x="73" y="38"/>
                  <a:pt x="83" y="32"/>
                </a:cubicBezTo>
                <a:cubicBezTo>
                  <a:pt x="93" y="25"/>
                  <a:pt x="104" y="19"/>
                  <a:pt x="115" y="14"/>
                </a:cubicBezTo>
                <a:cubicBezTo>
                  <a:pt x="126" y="10"/>
                  <a:pt x="138" y="6"/>
                  <a:pt x="150" y="4"/>
                </a:cubicBezTo>
                <a:cubicBezTo>
                  <a:pt x="162" y="2"/>
                  <a:pt x="174" y="0"/>
                  <a:pt x="186" y="0"/>
                </a:cubicBezTo>
                <a:lnTo>
                  <a:pt x="5154" y="0"/>
                </a:lnTo>
                <a:cubicBezTo>
                  <a:pt x="5167" y="0"/>
                  <a:pt x="5179" y="2"/>
                  <a:pt x="5191" y="4"/>
                </a:cubicBezTo>
                <a:cubicBezTo>
                  <a:pt x="5203" y="6"/>
                  <a:pt x="5214" y="10"/>
                  <a:pt x="5226" y="14"/>
                </a:cubicBezTo>
                <a:cubicBezTo>
                  <a:pt x="5237" y="19"/>
                  <a:pt x="5247" y="25"/>
                  <a:pt x="5258" y="32"/>
                </a:cubicBezTo>
                <a:cubicBezTo>
                  <a:pt x="5268" y="38"/>
                  <a:pt x="5277" y="46"/>
                  <a:pt x="5286" y="55"/>
                </a:cubicBezTo>
                <a:cubicBezTo>
                  <a:pt x="5294" y="63"/>
                  <a:pt x="5302" y="73"/>
                  <a:pt x="5309" y="83"/>
                </a:cubicBezTo>
                <a:cubicBezTo>
                  <a:pt x="5316" y="93"/>
                  <a:pt x="5321" y="104"/>
                  <a:pt x="5326" y="115"/>
                </a:cubicBezTo>
                <a:cubicBezTo>
                  <a:pt x="5331" y="126"/>
                  <a:pt x="5334" y="138"/>
                  <a:pt x="5337" y="150"/>
                </a:cubicBezTo>
                <a:cubicBezTo>
                  <a:pt x="5339" y="162"/>
                  <a:pt x="5340" y="174"/>
                  <a:pt x="5340" y="186"/>
                </a:cubicBezTo>
                <a:lnTo>
                  <a:pt x="5340" y="4551"/>
                </a:lnTo>
                <a:cubicBezTo>
                  <a:pt x="5340" y="4563"/>
                  <a:pt x="5339" y="4575"/>
                  <a:pt x="5337" y="4587"/>
                </a:cubicBezTo>
                <a:cubicBezTo>
                  <a:pt x="5334" y="4599"/>
                  <a:pt x="5331" y="4611"/>
                  <a:pt x="5326" y="4622"/>
                </a:cubicBezTo>
                <a:cubicBezTo>
                  <a:pt x="5321" y="4633"/>
                  <a:pt x="5316" y="4644"/>
                  <a:pt x="5309" y="4654"/>
                </a:cubicBezTo>
                <a:cubicBezTo>
                  <a:pt x="5302" y="4664"/>
                  <a:pt x="5294" y="4674"/>
                  <a:pt x="5286" y="4682"/>
                </a:cubicBezTo>
                <a:cubicBezTo>
                  <a:pt x="5277" y="4691"/>
                  <a:pt x="5268" y="4699"/>
                  <a:pt x="5258" y="4706"/>
                </a:cubicBezTo>
                <a:cubicBezTo>
                  <a:pt x="5247" y="4712"/>
                  <a:pt x="5237" y="4718"/>
                  <a:pt x="5226" y="4723"/>
                </a:cubicBezTo>
                <a:cubicBezTo>
                  <a:pt x="5214" y="4727"/>
                  <a:pt x="5203" y="4731"/>
                  <a:pt x="5191" y="4733"/>
                </a:cubicBezTo>
                <a:cubicBezTo>
                  <a:pt x="5179" y="4736"/>
                  <a:pt x="5167" y="4737"/>
                  <a:pt x="5154" y="4737"/>
                </a:cubicBezTo>
                <a:lnTo>
                  <a:pt x="186" y="4737"/>
                </a:lnTo>
                <a:cubicBezTo>
                  <a:pt x="174" y="4737"/>
                  <a:pt x="162" y="4736"/>
                  <a:pt x="150" y="4733"/>
                </a:cubicBezTo>
                <a:cubicBezTo>
                  <a:pt x="138" y="4731"/>
                  <a:pt x="126" y="4727"/>
                  <a:pt x="115" y="4723"/>
                </a:cubicBezTo>
                <a:cubicBezTo>
                  <a:pt x="104" y="4718"/>
                  <a:pt x="93" y="4712"/>
                  <a:pt x="83" y="4706"/>
                </a:cubicBezTo>
                <a:cubicBezTo>
                  <a:pt x="73" y="4699"/>
                  <a:pt x="63" y="4691"/>
                  <a:pt x="55" y="4682"/>
                </a:cubicBezTo>
                <a:cubicBezTo>
                  <a:pt x="46" y="4674"/>
                  <a:pt x="38" y="4664"/>
                  <a:pt x="31" y="4654"/>
                </a:cubicBezTo>
                <a:cubicBezTo>
                  <a:pt x="25" y="4644"/>
                  <a:pt x="19" y="4633"/>
                  <a:pt x="14" y="4622"/>
                </a:cubicBezTo>
                <a:cubicBezTo>
                  <a:pt x="10" y="4611"/>
                  <a:pt x="6" y="4599"/>
                  <a:pt x="4" y="4587"/>
                </a:cubicBezTo>
                <a:cubicBezTo>
                  <a:pt x="1" y="4575"/>
                  <a:pt x="0" y="4563"/>
                  <a:pt x="0" y="4551"/>
                </a:cubicBezTo>
                <a:close/>
              </a:path>
            </a:pathLst>
          </a:custGeom>
          <a:solidFill>
            <a:srgbClr val="ffffff">
              <a:alpha val="10000"/>
            </a:srgbClr>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428" name=""/>
          <p:cNvSpPr/>
          <p:nvPr/>
        </p:nvSpPr>
        <p:spPr>
          <a:xfrm>
            <a:off x="8874720" y="1111320"/>
            <a:ext cx="384840" cy="384840"/>
          </a:xfrm>
          <a:custGeom>
            <a:avLst/>
            <a:gdLst/>
            <a:ahLst/>
            <a:rect l="0" t="0" r="r" b="b"/>
            <a:pathLst>
              <a:path w="1069" h="1069">
                <a:moveTo>
                  <a:pt x="1069" y="534"/>
                </a:moveTo>
                <a:cubicBezTo>
                  <a:pt x="1069" y="569"/>
                  <a:pt x="1065" y="604"/>
                  <a:pt x="1058" y="638"/>
                </a:cubicBezTo>
                <a:cubicBezTo>
                  <a:pt x="1051" y="673"/>
                  <a:pt x="1041" y="707"/>
                  <a:pt x="1028" y="739"/>
                </a:cubicBezTo>
                <a:cubicBezTo>
                  <a:pt x="1015" y="771"/>
                  <a:pt x="998" y="802"/>
                  <a:pt x="979" y="831"/>
                </a:cubicBezTo>
                <a:cubicBezTo>
                  <a:pt x="959" y="861"/>
                  <a:pt x="937" y="887"/>
                  <a:pt x="912" y="912"/>
                </a:cubicBezTo>
                <a:cubicBezTo>
                  <a:pt x="887" y="937"/>
                  <a:pt x="860" y="959"/>
                  <a:pt x="831" y="979"/>
                </a:cubicBezTo>
                <a:cubicBezTo>
                  <a:pt x="802" y="998"/>
                  <a:pt x="771" y="1015"/>
                  <a:pt x="739" y="1028"/>
                </a:cubicBezTo>
                <a:cubicBezTo>
                  <a:pt x="707" y="1041"/>
                  <a:pt x="673" y="1052"/>
                  <a:pt x="639" y="1058"/>
                </a:cubicBezTo>
                <a:cubicBezTo>
                  <a:pt x="604" y="1065"/>
                  <a:pt x="570" y="1069"/>
                  <a:pt x="535" y="1069"/>
                </a:cubicBezTo>
                <a:cubicBezTo>
                  <a:pt x="500" y="1069"/>
                  <a:pt x="465" y="1065"/>
                  <a:pt x="431" y="1058"/>
                </a:cubicBezTo>
                <a:cubicBezTo>
                  <a:pt x="395" y="1052"/>
                  <a:pt x="362" y="1041"/>
                  <a:pt x="329" y="1028"/>
                </a:cubicBezTo>
                <a:cubicBezTo>
                  <a:pt x="297" y="1015"/>
                  <a:pt x="266" y="998"/>
                  <a:pt x="237" y="979"/>
                </a:cubicBezTo>
                <a:cubicBezTo>
                  <a:pt x="208" y="959"/>
                  <a:pt x="181" y="937"/>
                  <a:pt x="156" y="912"/>
                </a:cubicBezTo>
                <a:cubicBezTo>
                  <a:pt x="131" y="887"/>
                  <a:pt x="109" y="861"/>
                  <a:pt x="90" y="831"/>
                </a:cubicBezTo>
                <a:cubicBezTo>
                  <a:pt x="70" y="802"/>
                  <a:pt x="54" y="771"/>
                  <a:pt x="40" y="739"/>
                </a:cubicBezTo>
                <a:cubicBezTo>
                  <a:pt x="27" y="707"/>
                  <a:pt x="17" y="673"/>
                  <a:pt x="10" y="638"/>
                </a:cubicBezTo>
                <a:cubicBezTo>
                  <a:pt x="3" y="604"/>
                  <a:pt x="0" y="569"/>
                  <a:pt x="0" y="534"/>
                </a:cubicBezTo>
                <a:cubicBezTo>
                  <a:pt x="0" y="499"/>
                  <a:pt x="3" y="464"/>
                  <a:pt x="10" y="430"/>
                </a:cubicBezTo>
                <a:cubicBezTo>
                  <a:pt x="17" y="395"/>
                  <a:pt x="27" y="362"/>
                  <a:pt x="40" y="329"/>
                </a:cubicBezTo>
                <a:cubicBezTo>
                  <a:pt x="54" y="297"/>
                  <a:pt x="70" y="266"/>
                  <a:pt x="90" y="237"/>
                </a:cubicBezTo>
                <a:cubicBezTo>
                  <a:pt x="109" y="208"/>
                  <a:pt x="131" y="181"/>
                  <a:pt x="156" y="156"/>
                </a:cubicBezTo>
                <a:cubicBezTo>
                  <a:pt x="181" y="131"/>
                  <a:pt x="208" y="109"/>
                  <a:pt x="237" y="90"/>
                </a:cubicBezTo>
                <a:cubicBezTo>
                  <a:pt x="266" y="70"/>
                  <a:pt x="297" y="54"/>
                  <a:pt x="329" y="40"/>
                </a:cubicBezTo>
                <a:cubicBezTo>
                  <a:pt x="362" y="27"/>
                  <a:pt x="395" y="17"/>
                  <a:pt x="431" y="10"/>
                </a:cubicBezTo>
                <a:cubicBezTo>
                  <a:pt x="465" y="3"/>
                  <a:pt x="500" y="0"/>
                  <a:pt x="535" y="0"/>
                </a:cubicBezTo>
                <a:cubicBezTo>
                  <a:pt x="570" y="0"/>
                  <a:pt x="604" y="3"/>
                  <a:pt x="639" y="10"/>
                </a:cubicBezTo>
                <a:cubicBezTo>
                  <a:pt x="673" y="17"/>
                  <a:pt x="707" y="27"/>
                  <a:pt x="739" y="40"/>
                </a:cubicBezTo>
                <a:cubicBezTo>
                  <a:pt x="771" y="54"/>
                  <a:pt x="802" y="70"/>
                  <a:pt x="831" y="90"/>
                </a:cubicBezTo>
                <a:cubicBezTo>
                  <a:pt x="860" y="109"/>
                  <a:pt x="887" y="131"/>
                  <a:pt x="912" y="156"/>
                </a:cubicBezTo>
                <a:cubicBezTo>
                  <a:pt x="937" y="181"/>
                  <a:pt x="959" y="208"/>
                  <a:pt x="979" y="237"/>
                </a:cubicBezTo>
                <a:cubicBezTo>
                  <a:pt x="998" y="266"/>
                  <a:pt x="1015" y="297"/>
                  <a:pt x="1028" y="329"/>
                </a:cubicBezTo>
                <a:cubicBezTo>
                  <a:pt x="1041" y="362"/>
                  <a:pt x="1051" y="395"/>
                  <a:pt x="1058" y="430"/>
                </a:cubicBezTo>
                <a:cubicBezTo>
                  <a:pt x="1065" y="464"/>
                  <a:pt x="1069" y="499"/>
                  <a:pt x="1069" y="534"/>
                </a:cubicBezTo>
                <a:close/>
              </a:path>
            </a:pathLst>
          </a:custGeom>
          <a:solidFill>
            <a:srgbClr val="1c3d5a"/>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429" name=""/>
          <p:cNvSpPr/>
          <p:nvPr/>
        </p:nvSpPr>
        <p:spPr>
          <a:xfrm>
            <a:off x="8874720" y="1111320"/>
            <a:ext cx="384840" cy="384840"/>
          </a:xfrm>
          <a:custGeom>
            <a:avLst/>
            <a:gdLst/>
            <a:ahLst/>
            <a:rect l="0" t="0" r="r" b="b"/>
            <a:pathLst>
              <a:path fill="none" w="1069" h="1069">
                <a:moveTo>
                  <a:pt x="1069" y="534"/>
                </a:moveTo>
                <a:cubicBezTo>
                  <a:pt x="1069" y="569"/>
                  <a:pt x="1065" y="604"/>
                  <a:pt x="1058" y="638"/>
                </a:cubicBezTo>
                <a:cubicBezTo>
                  <a:pt x="1051" y="673"/>
                  <a:pt x="1041" y="707"/>
                  <a:pt x="1028" y="739"/>
                </a:cubicBezTo>
                <a:cubicBezTo>
                  <a:pt x="1015" y="771"/>
                  <a:pt x="998" y="802"/>
                  <a:pt x="979" y="831"/>
                </a:cubicBezTo>
                <a:cubicBezTo>
                  <a:pt x="959" y="861"/>
                  <a:pt x="937" y="887"/>
                  <a:pt x="912" y="912"/>
                </a:cubicBezTo>
                <a:cubicBezTo>
                  <a:pt x="887" y="937"/>
                  <a:pt x="860" y="959"/>
                  <a:pt x="831" y="979"/>
                </a:cubicBezTo>
                <a:cubicBezTo>
                  <a:pt x="802" y="998"/>
                  <a:pt x="771" y="1015"/>
                  <a:pt x="739" y="1028"/>
                </a:cubicBezTo>
                <a:cubicBezTo>
                  <a:pt x="707" y="1041"/>
                  <a:pt x="673" y="1052"/>
                  <a:pt x="639" y="1058"/>
                </a:cubicBezTo>
                <a:cubicBezTo>
                  <a:pt x="604" y="1065"/>
                  <a:pt x="570" y="1069"/>
                  <a:pt x="535" y="1069"/>
                </a:cubicBezTo>
                <a:cubicBezTo>
                  <a:pt x="500" y="1069"/>
                  <a:pt x="465" y="1065"/>
                  <a:pt x="431" y="1058"/>
                </a:cubicBezTo>
                <a:cubicBezTo>
                  <a:pt x="395" y="1052"/>
                  <a:pt x="362" y="1041"/>
                  <a:pt x="329" y="1028"/>
                </a:cubicBezTo>
                <a:cubicBezTo>
                  <a:pt x="297" y="1015"/>
                  <a:pt x="266" y="998"/>
                  <a:pt x="237" y="979"/>
                </a:cubicBezTo>
                <a:cubicBezTo>
                  <a:pt x="208" y="959"/>
                  <a:pt x="181" y="937"/>
                  <a:pt x="156" y="912"/>
                </a:cubicBezTo>
                <a:cubicBezTo>
                  <a:pt x="131" y="887"/>
                  <a:pt x="109" y="861"/>
                  <a:pt x="90" y="831"/>
                </a:cubicBezTo>
                <a:cubicBezTo>
                  <a:pt x="70" y="802"/>
                  <a:pt x="54" y="771"/>
                  <a:pt x="40" y="739"/>
                </a:cubicBezTo>
                <a:cubicBezTo>
                  <a:pt x="27" y="707"/>
                  <a:pt x="17" y="673"/>
                  <a:pt x="10" y="638"/>
                </a:cubicBezTo>
                <a:cubicBezTo>
                  <a:pt x="3" y="604"/>
                  <a:pt x="0" y="569"/>
                  <a:pt x="0" y="534"/>
                </a:cubicBezTo>
                <a:cubicBezTo>
                  <a:pt x="0" y="499"/>
                  <a:pt x="3" y="464"/>
                  <a:pt x="10" y="430"/>
                </a:cubicBezTo>
                <a:cubicBezTo>
                  <a:pt x="17" y="395"/>
                  <a:pt x="27" y="362"/>
                  <a:pt x="40" y="329"/>
                </a:cubicBezTo>
                <a:cubicBezTo>
                  <a:pt x="54" y="297"/>
                  <a:pt x="70" y="266"/>
                  <a:pt x="90" y="237"/>
                </a:cubicBezTo>
                <a:cubicBezTo>
                  <a:pt x="109" y="208"/>
                  <a:pt x="131" y="181"/>
                  <a:pt x="156" y="156"/>
                </a:cubicBezTo>
                <a:cubicBezTo>
                  <a:pt x="181" y="131"/>
                  <a:pt x="208" y="109"/>
                  <a:pt x="237" y="90"/>
                </a:cubicBezTo>
                <a:cubicBezTo>
                  <a:pt x="266" y="70"/>
                  <a:pt x="297" y="54"/>
                  <a:pt x="329" y="40"/>
                </a:cubicBezTo>
                <a:cubicBezTo>
                  <a:pt x="362" y="27"/>
                  <a:pt x="395" y="17"/>
                  <a:pt x="431" y="10"/>
                </a:cubicBezTo>
                <a:cubicBezTo>
                  <a:pt x="465" y="3"/>
                  <a:pt x="500" y="0"/>
                  <a:pt x="535" y="0"/>
                </a:cubicBezTo>
                <a:cubicBezTo>
                  <a:pt x="570" y="0"/>
                  <a:pt x="604" y="3"/>
                  <a:pt x="639" y="10"/>
                </a:cubicBezTo>
                <a:cubicBezTo>
                  <a:pt x="673" y="17"/>
                  <a:pt x="707" y="27"/>
                  <a:pt x="739" y="40"/>
                </a:cubicBezTo>
                <a:cubicBezTo>
                  <a:pt x="771" y="54"/>
                  <a:pt x="802" y="70"/>
                  <a:pt x="831" y="90"/>
                </a:cubicBezTo>
                <a:cubicBezTo>
                  <a:pt x="860" y="109"/>
                  <a:pt x="887" y="131"/>
                  <a:pt x="912" y="156"/>
                </a:cubicBezTo>
                <a:cubicBezTo>
                  <a:pt x="937" y="181"/>
                  <a:pt x="959" y="208"/>
                  <a:pt x="979" y="237"/>
                </a:cubicBezTo>
                <a:cubicBezTo>
                  <a:pt x="998" y="266"/>
                  <a:pt x="1015" y="297"/>
                  <a:pt x="1028" y="329"/>
                </a:cubicBezTo>
                <a:cubicBezTo>
                  <a:pt x="1041" y="362"/>
                  <a:pt x="1051" y="395"/>
                  <a:pt x="1058" y="430"/>
                </a:cubicBezTo>
                <a:cubicBezTo>
                  <a:pt x="1065" y="464"/>
                  <a:pt x="1069" y="499"/>
                  <a:pt x="1069" y="534"/>
                </a:cubicBezTo>
              </a:path>
            </a:pathLst>
          </a:custGeom>
          <a:ln w="16560">
            <a:solidFill>
              <a:srgbClr val="ff8c00"/>
            </a:solidFill>
            <a:miter/>
          </a:ln>
        </p:spPr>
        <p:txBody>
          <a:bodyPr lIns="8280" rIns="8280" tIns="8280" bIns="8280" anchor="t">
            <a:noAutofit/>
          </a:bodyPr>
          <a:p>
            <a:endParaRPr b="0" lang="en-US" sz="2400" strike="noStrike" u="none">
              <a:solidFill>
                <a:srgbClr val="000000"/>
              </a:solidFill>
              <a:effectLst/>
              <a:uFillTx/>
              <a:latin typeface="Times New Roman"/>
            </a:endParaRPr>
          </a:p>
        </p:txBody>
      </p:sp>
      <p:sp>
        <p:nvSpPr>
          <p:cNvPr id="430" name=""/>
          <p:cNvSpPr txBox="1"/>
          <p:nvPr/>
        </p:nvSpPr>
        <p:spPr>
          <a:xfrm>
            <a:off x="5839200" y="2331720"/>
            <a:ext cx="1614960" cy="136080"/>
          </a:xfrm>
          <a:prstGeom prst="rect">
            <a:avLst/>
          </a:prstGeom>
          <a:noFill/>
          <a:ln w="0">
            <a:noFill/>
          </a:ln>
        </p:spPr>
        <p:txBody>
          <a:bodyPr wrap="none" lIns="0" rIns="0" tIns="0" bIns="0" anchor="t">
            <a:spAutoFit/>
          </a:bodyPr>
          <a:p>
            <a:r>
              <a:rPr b="0" lang="en-US" sz="920" strike="noStrike" u="none">
                <a:solidFill>
                  <a:srgbClr val="ffffff"/>
                </a:solidFill>
                <a:effectLst/>
                <a:uFillTx/>
                <a:latin typeface="NotoSansJP"/>
                <a:ea typeface="NotoSansJP"/>
              </a:rPr>
              <a:t>G(u,v;z) = G(u,v;0)‧H(u,v;z)</a:t>
            </a:r>
            <a:endParaRPr b="0" lang="en-US" sz="920" strike="noStrike" u="none">
              <a:solidFill>
                <a:srgbClr val="000000"/>
              </a:solidFill>
              <a:effectLst/>
              <a:uFillTx/>
              <a:latin typeface="Times New Roman"/>
            </a:endParaRPr>
          </a:p>
        </p:txBody>
      </p:sp>
      <p:sp>
        <p:nvSpPr>
          <p:cNvPr id="431" name=""/>
          <p:cNvSpPr txBox="1"/>
          <p:nvPr/>
        </p:nvSpPr>
        <p:spPr>
          <a:xfrm>
            <a:off x="9027360" y="1238040"/>
            <a:ext cx="133200" cy="157320"/>
          </a:xfrm>
          <a:prstGeom prst="rect">
            <a:avLst/>
          </a:prstGeom>
          <a:noFill/>
          <a:ln w="0">
            <a:noFill/>
          </a:ln>
        </p:spPr>
        <p:txBody>
          <a:bodyPr wrap="none" lIns="0" rIns="0" tIns="0" bIns="0" anchor="t">
            <a:spAutoFit/>
          </a:bodyPr>
          <a:p>
            <a:r>
              <a:rPr b="0" lang="en-US" sz="1050" strike="noStrike" u="none">
                <a:solidFill>
                  <a:srgbClr val="ffffff"/>
                </a:solidFill>
                <a:effectLst/>
                <a:uFillTx/>
                <a:latin typeface="NotoSansJP"/>
                <a:ea typeface="NotoSansJP"/>
              </a:rPr>
              <a:t>4</a:t>
            </a:r>
            <a:endParaRPr b="0" lang="en-US" sz="1050" strike="noStrike" u="none">
              <a:solidFill>
                <a:srgbClr val="000000"/>
              </a:solidFill>
              <a:effectLst/>
              <a:uFillTx/>
              <a:latin typeface="Times New Roman"/>
            </a:endParaRPr>
          </a:p>
        </p:txBody>
      </p:sp>
      <p:pic>
        <p:nvPicPr>
          <p:cNvPr id="432" name="" descr=""/>
          <p:cNvPicPr/>
          <p:nvPr/>
        </p:nvPicPr>
        <p:blipFill>
          <a:blip r:embed="rId8"/>
          <a:stretch/>
        </p:blipFill>
        <p:spPr>
          <a:xfrm>
            <a:off x="8941680" y="1905480"/>
            <a:ext cx="250200" cy="300600"/>
          </a:xfrm>
          <a:prstGeom prst="rect">
            <a:avLst/>
          </a:prstGeom>
          <a:noFill/>
          <a:ln w="0">
            <a:noFill/>
          </a:ln>
        </p:spPr>
      </p:pic>
      <p:sp>
        <p:nvSpPr>
          <p:cNvPr id="433" name=""/>
          <p:cNvSpPr txBox="1"/>
          <p:nvPr/>
        </p:nvSpPr>
        <p:spPr>
          <a:xfrm>
            <a:off x="8709840" y="1648800"/>
            <a:ext cx="797760" cy="219960"/>
          </a:xfrm>
          <a:prstGeom prst="rect">
            <a:avLst/>
          </a:prstGeom>
          <a:noFill/>
          <a:ln w="0">
            <a:noFill/>
          </a:ln>
        </p:spPr>
        <p:txBody>
          <a:bodyPr wrap="none" lIns="0" rIns="0" tIns="0" bIns="0" anchor="t">
            <a:spAutoFit/>
          </a:bodyPr>
          <a:p>
            <a:r>
              <a:rPr b="0" lang="zh-CN" sz="1180" strike="noStrike" u="none">
                <a:solidFill>
                  <a:srgbClr val="a7c6d9"/>
                </a:solidFill>
                <a:effectLst/>
                <a:uFillTx/>
                <a:latin typeface="NotoSansJP"/>
                <a:ea typeface="NotoSansJP"/>
              </a:rPr>
              <a:t>逆</a:t>
            </a:r>
            <a:r>
              <a:rPr b="0" lang="en-US" sz="1180" strike="noStrike" u="none">
                <a:solidFill>
                  <a:srgbClr val="a7c6d9"/>
                </a:solidFill>
                <a:effectLst/>
                <a:uFillTx/>
                <a:latin typeface="NotoSansJP"/>
                <a:ea typeface="NotoSansJP"/>
              </a:rPr>
              <a:t>FFT</a:t>
            </a:r>
            <a:r>
              <a:rPr b="0" lang="zh-CN" sz="1180" strike="noStrike" u="none">
                <a:solidFill>
                  <a:srgbClr val="a7c6d9"/>
                </a:solidFill>
                <a:effectLst/>
                <a:uFillTx/>
                <a:latin typeface="NotoSansJP"/>
                <a:ea typeface="NotoSansJP"/>
              </a:rPr>
              <a:t>変換</a:t>
            </a:r>
            <a:endParaRPr b="0" lang="en-US" sz="1180" strike="noStrike" u="none">
              <a:solidFill>
                <a:srgbClr val="000000"/>
              </a:solidFill>
              <a:effectLst/>
              <a:uFillTx/>
              <a:latin typeface="Times New Roman"/>
            </a:endParaRPr>
          </a:p>
        </p:txBody>
      </p:sp>
      <p:sp>
        <p:nvSpPr>
          <p:cNvPr id="434" name=""/>
          <p:cNvSpPr txBox="1"/>
          <p:nvPr/>
        </p:nvSpPr>
        <p:spPr>
          <a:xfrm>
            <a:off x="8388000" y="2331720"/>
            <a:ext cx="1438920" cy="169560"/>
          </a:xfrm>
          <a:prstGeom prst="rect">
            <a:avLst/>
          </a:prstGeom>
          <a:noFill/>
          <a:ln w="0">
            <a:noFill/>
          </a:ln>
        </p:spPr>
        <p:txBody>
          <a:bodyPr wrap="none" lIns="0" rIns="0" tIns="0" bIns="0" anchor="t">
            <a:spAutoFit/>
          </a:bodyPr>
          <a:p>
            <a:r>
              <a:rPr b="0" lang="zh-CN" sz="920" strike="noStrike" u="none">
                <a:solidFill>
                  <a:srgbClr val="ffffff"/>
                </a:solidFill>
                <a:effectLst/>
                <a:uFillTx/>
                <a:latin typeface="NotoSansJP"/>
                <a:ea typeface="NotoSansJP"/>
              </a:rPr>
              <a:t>伝搬後の光波分布 </a:t>
            </a:r>
            <a:r>
              <a:rPr b="0" lang="en-US" sz="920" strike="noStrike" u="none">
                <a:solidFill>
                  <a:srgbClr val="ffffff"/>
                </a:solidFill>
                <a:effectLst/>
                <a:uFillTx/>
                <a:latin typeface="NotoSansJP"/>
                <a:ea typeface="NotoSansJP"/>
              </a:rPr>
              <a:t>g(x,y;z)</a:t>
            </a:r>
            <a:endParaRPr b="0" lang="en-US" sz="920" strike="noStrike" u="none">
              <a:solidFill>
                <a:srgbClr val="000000"/>
              </a:solidFill>
              <a:effectLst/>
              <a:uFillTx/>
              <a:latin typeface="Times New Roman"/>
            </a:endParaRPr>
          </a:p>
        </p:txBody>
      </p:sp>
      <p:sp>
        <p:nvSpPr>
          <p:cNvPr id="435" name=""/>
          <p:cNvSpPr txBox="1"/>
          <p:nvPr/>
        </p:nvSpPr>
        <p:spPr>
          <a:xfrm>
            <a:off x="534960" y="2939400"/>
            <a:ext cx="1808640" cy="291600"/>
          </a:xfrm>
          <a:prstGeom prst="rect">
            <a:avLst/>
          </a:prstGeom>
          <a:noFill/>
          <a:ln w="0">
            <a:noFill/>
          </a:ln>
        </p:spPr>
        <p:txBody>
          <a:bodyPr wrap="none" lIns="0" rIns="0" tIns="0" bIns="0" anchor="t">
            <a:spAutoFit/>
          </a:bodyPr>
          <a:p>
            <a:r>
              <a:rPr b="0" lang="zh-CN" sz="1580" strike="noStrike" u="none">
                <a:solidFill>
                  <a:srgbClr val="a7c6d9"/>
                </a:solidFill>
                <a:effectLst/>
                <a:uFillTx/>
                <a:latin typeface="NotoSansJP"/>
                <a:ea typeface="NotoSansJP"/>
              </a:rPr>
              <a:t>実装例（</a:t>
            </a:r>
            <a:r>
              <a:rPr b="0" lang="en-US" sz="1580" strike="noStrike" u="none">
                <a:solidFill>
                  <a:srgbClr val="a7c6d9"/>
                </a:solidFill>
                <a:effectLst/>
                <a:uFillTx/>
                <a:latin typeface="NotoSansJP"/>
                <a:ea typeface="NotoSansJP"/>
              </a:rPr>
              <a:t>Python</a:t>
            </a:r>
            <a:r>
              <a:rPr b="0" lang="zh-CN" sz="1580" strike="noStrike" u="none">
                <a:solidFill>
                  <a:srgbClr val="a7c6d9"/>
                </a:solidFill>
                <a:effectLst/>
                <a:uFillTx/>
                <a:latin typeface="NotoSansJP"/>
                <a:ea typeface="NotoSansJP"/>
              </a:rPr>
              <a:t>）</a:t>
            </a:r>
            <a:endParaRPr b="0" lang="en-US" sz="1580" strike="noStrike" u="none">
              <a:solidFill>
                <a:srgbClr val="000000"/>
              </a:solidFill>
              <a:effectLst/>
              <a:uFillTx/>
              <a:latin typeface="Times New Roman"/>
            </a:endParaRPr>
          </a:p>
        </p:txBody>
      </p:sp>
      <p:sp>
        <p:nvSpPr>
          <p:cNvPr id="436" name=""/>
          <p:cNvSpPr txBox="1"/>
          <p:nvPr/>
        </p:nvSpPr>
        <p:spPr>
          <a:xfrm>
            <a:off x="635040" y="3593520"/>
            <a:ext cx="3038760" cy="136080"/>
          </a:xfrm>
          <a:prstGeom prst="rect">
            <a:avLst/>
          </a:prstGeom>
          <a:noFill/>
          <a:ln w="0">
            <a:noFill/>
          </a:ln>
        </p:spPr>
        <p:txBody>
          <a:bodyPr wrap="none" lIns="0" rIns="0" tIns="0" bIns="0" anchor="t">
            <a:spAutoFit/>
          </a:bodyPr>
          <a:p>
            <a:r>
              <a:rPr b="0" lang="en-US" sz="920" strike="noStrike" u="none">
                <a:solidFill>
                  <a:srgbClr val="ffffff"/>
                </a:solidFill>
                <a:effectLst/>
                <a:uFillTx/>
                <a:latin typeface="DejaVuSansMono"/>
                <a:ea typeface="DejaVuSansMono"/>
              </a:rPr>
              <a:t>initial_wave = cgh_complex * reference_wave</a:t>
            </a:r>
            <a:endParaRPr b="0" lang="en-US" sz="920" strike="noStrike" u="none">
              <a:solidFill>
                <a:srgbClr val="000000"/>
              </a:solidFill>
              <a:effectLst/>
              <a:uFillTx/>
              <a:latin typeface="Times New Roman"/>
            </a:endParaRPr>
          </a:p>
        </p:txBody>
      </p:sp>
      <p:sp>
        <p:nvSpPr>
          <p:cNvPr id="437" name=""/>
          <p:cNvSpPr txBox="1"/>
          <p:nvPr/>
        </p:nvSpPr>
        <p:spPr>
          <a:xfrm>
            <a:off x="635040" y="4095000"/>
            <a:ext cx="3391920" cy="136080"/>
          </a:xfrm>
          <a:prstGeom prst="rect">
            <a:avLst/>
          </a:prstGeom>
          <a:noFill/>
          <a:ln w="0">
            <a:noFill/>
          </a:ln>
        </p:spPr>
        <p:txBody>
          <a:bodyPr wrap="none" lIns="0" rIns="0" tIns="0" bIns="0" anchor="t">
            <a:spAutoFit/>
          </a:bodyPr>
          <a:p>
            <a:r>
              <a:rPr b="0" lang="en-US" sz="920" strike="noStrike" u="none">
                <a:solidFill>
                  <a:srgbClr val="ffffff"/>
                </a:solidFill>
                <a:effectLst/>
                <a:uFillTx/>
                <a:latin typeface="DejaVuSansMono"/>
                <a:ea typeface="DejaVuSansMono"/>
              </a:rPr>
              <a:t>initial_wave_shifted = np.fftshift(initial_wave)</a:t>
            </a:r>
            <a:endParaRPr b="0" lang="en-US" sz="920" strike="noStrike" u="none">
              <a:solidFill>
                <a:srgbClr val="000000"/>
              </a:solidFill>
              <a:effectLst/>
              <a:uFillTx/>
              <a:latin typeface="Times New Roman"/>
            </a:endParaRPr>
          </a:p>
        </p:txBody>
      </p:sp>
      <p:sp>
        <p:nvSpPr>
          <p:cNvPr id="438" name=""/>
          <p:cNvSpPr txBox="1"/>
          <p:nvPr/>
        </p:nvSpPr>
        <p:spPr>
          <a:xfrm>
            <a:off x="635040" y="4596120"/>
            <a:ext cx="2473560" cy="136080"/>
          </a:xfrm>
          <a:prstGeom prst="rect">
            <a:avLst/>
          </a:prstGeom>
          <a:noFill/>
          <a:ln w="0">
            <a:noFill/>
          </a:ln>
        </p:spPr>
        <p:txBody>
          <a:bodyPr wrap="none" lIns="0" rIns="0" tIns="0" bIns="0" anchor="t">
            <a:spAutoFit/>
          </a:bodyPr>
          <a:p>
            <a:r>
              <a:rPr b="0" lang="en-US" sz="920" strike="noStrike" u="none">
                <a:solidFill>
                  <a:srgbClr val="ffffff"/>
                </a:solidFill>
                <a:effectLst/>
                <a:uFillTx/>
                <a:latin typeface="DejaVuSansMono"/>
                <a:ea typeface="DejaVuSansMono"/>
              </a:rPr>
              <a:t>G_0 = np.fft2(initial_wave_shifted)</a:t>
            </a:r>
            <a:endParaRPr b="0" lang="en-US" sz="920" strike="noStrike" u="none">
              <a:solidFill>
                <a:srgbClr val="000000"/>
              </a:solidFill>
              <a:effectLst/>
              <a:uFillTx/>
              <a:latin typeface="Times New Roman"/>
            </a:endParaRPr>
          </a:p>
        </p:txBody>
      </p:sp>
      <p:sp>
        <p:nvSpPr>
          <p:cNvPr id="439" name=""/>
          <p:cNvSpPr txBox="1"/>
          <p:nvPr/>
        </p:nvSpPr>
        <p:spPr>
          <a:xfrm>
            <a:off x="635040" y="5097600"/>
            <a:ext cx="5299560" cy="136080"/>
          </a:xfrm>
          <a:prstGeom prst="rect">
            <a:avLst/>
          </a:prstGeom>
          <a:noFill/>
          <a:ln w="0">
            <a:noFill/>
          </a:ln>
        </p:spPr>
        <p:txBody>
          <a:bodyPr wrap="none" lIns="0" rIns="0" tIns="0" bIns="0" anchor="t">
            <a:spAutoFit/>
          </a:bodyPr>
          <a:p>
            <a:r>
              <a:rPr b="0" lang="en-US" sz="920" strike="noStrike" u="none">
                <a:solidFill>
                  <a:srgbClr val="ffffff"/>
                </a:solidFill>
                <a:effectLst/>
                <a:uFillTx/>
                <a:latin typeface="DejaVuSansMono"/>
                <a:ea typeface="DejaVuSansMono"/>
              </a:rPr>
              <a:t>H_z = np.exp(1j * 2 * np.pi * z * np.sqrt((1/wavelength)**2 - u**2 - v**2))</a:t>
            </a:r>
            <a:endParaRPr b="0" lang="en-US" sz="920" strike="noStrike" u="none">
              <a:solidFill>
                <a:srgbClr val="000000"/>
              </a:solidFill>
              <a:effectLst/>
              <a:uFillTx/>
              <a:latin typeface="Times New Roman"/>
            </a:endParaRPr>
          </a:p>
        </p:txBody>
      </p:sp>
      <p:sp>
        <p:nvSpPr>
          <p:cNvPr id="440" name=""/>
          <p:cNvSpPr txBox="1"/>
          <p:nvPr/>
        </p:nvSpPr>
        <p:spPr>
          <a:xfrm>
            <a:off x="635040" y="5264640"/>
            <a:ext cx="1060560" cy="136080"/>
          </a:xfrm>
          <a:prstGeom prst="rect">
            <a:avLst/>
          </a:prstGeom>
          <a:noFill/>
          <a:ln w="0">
            <a:noFill/>
          </a:ln>
        </p:spPr>
        <p:txBody>
          <a:bodyPr wrap="none" lIns="0" rIns="0" tIns="0" bIns="0" anchor="t">
            <a:spAutoFit/>
          </a:bodyPr>
          <a:p>
            <a:r>
              <a:rPr b="0" lang="en-US" sz="920" strike="noStrike" u="none">
                <a:solidFill>
                  <a:srgbClr val="ffffff"/>
                </a:solidFill>
                <a:effectLst/>
                <a:uFillTx/>
                <a:latin typeface="DejaVuSansMono"/>
                <a:ea typeface="DejaVuSansMono"/>
              </a:rPr>
              <a:t>G_z = G_0 * H_z</a:t>
            </a:r>
            <a:endParaRPr b="0" lang="en-US" sz="920" strike="noStrike" u="none">
              <a:solidFill>
                <a:srgbClr val="000000"/>
              </a:solidFill>
              <a:effectLst/>
              <a:uFillTx/>
              <a:latin typeface="Times New Roman"/>
            </a:endParaRPr>
          </a:p>
        </p:txBody>
      </p:sp>
      <p:sp>
        <p:nvSpPr>
          <p:cNvPr id="441" name=""/>
          <p:cNvSpPr txBox="1"/>
          <p:nvPr/>
        </p:nvSpPr>
        <p:spPr>
          <a:xfrm>
            <a:off x="635040" y="5766120"/>
            <a:ext cx="2190960" cy="136080"/>
          </a:xfrm>
          <a:prstGeom prst="rect">
            <a:avLst/>
          </a:prstGeom>
          <a:noFill/>
          <a:ln w="0">
            <a:noFill/>
          </a:ln>
        </p:spPr>
        <p:txBody>
          <a:bodyPr wrap="none" lIns="0" rIns="0" tIns="0" bIns="0" anchor="t">
            <a:spAutoFit/>
          </a:bodyPr>
          <a:p>
            <a:r>
              <a:rPr b="0" lang="en-US" sz="920" strike="noStrike" u="none">
                <a:solidFill>
                  <a:srgbClr val="ffffff"/>
                </a:solidFill>
                <a:effectLst/>
                <a:uFillTx/>
                <a:latin typeface="DejaVuSansMono"/>
                <a:ea typeface="DejaVuSansMono"/>
              </a:rPr>
              <a:t>propagated_wave = np.ifft2(G_z)</a:t>
            </a:r>
            <a:endParaRPr b="0" lang="en-US" sz="920" strike="noStrike" u="none">
              <a:solidFill>
                <a:srgbClr val="000000"/>
              </a:solidFill>
              <a:effectLst/>
              <a:uFillTx/>
              <a:latin typeface="Times New Roman"/>
            </a:endParaRPr>
          </a:p>
        </p:txBody>
      </p:sp>
      <p:sp>
        <p:nvSpPr>
          <p:cNvPr id="442" name=""/>
          <p:cNvSpPr txBox="1"/>
          <p:nvPr/>
        </p:nvSpPr>
        <p:spPr>
          <a:xfrm>
            <a:off x="635040" y="5933160"/>
            <a:ext cx="3250440" cy="136080"/>
          </a:xfrm>
          <a:prstGeom prst="rect">
            <a:avLst/>
          </a:prstGeom>
          <a:noFill/>
          <a:ln w="0">
            <a:noFill/>
          </a:ln>
        </p:spPr>
        <p:txBody>
          <a:bodyPr wrap="none" lIns="0" rIns="0" tIns="0" bIns="0" anchor="t">
            <a:spAutoFit/>
          </a:bodyPr>
          <a:p>
            <a:r>
              <a:rPr b="0" lang="en-US" sz="920" strike="noStrike" u="none">
                <a:solidFill>
                  <a:srgbClr val="ffffff"/>
                </a:solidFill>
                <a:effectLst/>
                <a:uFillTx/>
                <a:latin typeface="DejaVuSansMono"/>
                <a:ea typeface="DejaVuSansMono"/>
              </a:rPr>
              <a:t>propagated wave = np fftshift(propagated wave)</a:t>
            </a:r>
            <a:endParaRPr b="0" lang="en-US" sz="920" strike="noStrike" u="none">
              <a:solidFill>
                <a:srgbClr val="000000"/>
              </a:solidFill>
              <a:effectLst/>
              <a:uFillTx/>
              <a:latin typeface="Times New Roman"/>
            </a:endParaRPr>
          </a:p>
        </p:txBody>
      </p:sp>
      <p:sp>
        <p:nvSpPr>
          <p:cNvPr id="443" name=""/>
          <p:cNvSpPr txBox="1"/>
          <p:nvPr/>
        </p:nvSpPr>
        <p:spPr>
          <a:xfrm>
            <a:off x="10203480" y="5741280"/>
            <a:ext cx="338760" cy="136080"/>
          </a:xfrm>
          <a:prstGeom prst="rect">
            <a:avLst/>
          </a:prstGeom>
          <a:noFill/>
          <a:ln w="0">
            <a:noFill/>
          </a:ln>
        </p:spPr>
        <p:txBody>
          <a:bodyPr wrap="none" lIns="0" rIns="0" tIns="0" bIns="0" anchor="t">
            <a:spAutoFit/>
          </a:bodyPr>
          <a:p>
            <a:r>
              <a:rPr b="0" lang="en-US" sz="920" strike="noStrike" u="none">
                <a:solidFill>
                  <a:srgbClr val="a7c6d9"/>
                </a:solidFill>
                <a:effectLst/>
                <a:uFillTx/>
                <a:latin typeface="NotoSansJP"/>
                <a:ea typeface="NotoSansJP"/>
              </a:rPr>
              <a:t>7 / 13</a:t>
            </a:r>
            <a:endParaRPr b="0" lang="en-US" sz="920" strike="noStrike" u="non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4" name=""/>
          <p:cNvSpPr/>
          <p:nvPr/>
        </p:nvSpPr>
        <p:spPr>
          <a:xfrm>
            <a:off x="0" y="0"/>
            <a:ext cx="10696680" cy="6017040"/>
          </a:xfrm>
          <a:custGeom>
            <a:avLst/>
            <a:gdLst/>
            <a:ahLst/>
            <a:rect l="0" t="0" r="r" b="b"/>
            <a:pathLst>
              <a:path w="29713" h="16714">
                <a:moveTo>
                  <a:pt x="0" y="0"/>
                </a:moveTo>
                <a:lnTo>
                  <a:pt x="29713" y="0"/>
                </a:lnTo>
                <a:lnTo>
                  <a:pt x="29713" y="16714"/>
                </a:lnTo>
                <a:lnTo>
                  <a:pt x="0" y="16714"/>
                </a:lnTo>
                <a:lnTo>
                  <a:pt x="0" y="0"/>
                </a:lnTo>
                <a:close/>
              </a:path>
            </a:pathLst>
          </a:custGeom>
          <a:solidFill>
            <a:srgbClr val="1c3d5a"/>
          </a:solidFill>
          <a:ln w="0">
            <a:noFill/>
          </a:ln>
        </p:spPr>
        <p:txBody>
          <a:bodyPr lIns="0" rIns="0" tIns="0" bIns="0" anchor="t">
            <a:noAutofit/>
          </a:bodyPr>
          <a:p>
            <a:endParaRPr b="0" lang="en-US" sz="2400" strike="noStrike" u="none">
              <a:solidFill>
                <a:srgbClr val="ffffff"/>
              </a:solidFill>
              <a:effectLst/>
              <a:uFillTx/>
              <a:latin typeface="Times New Roman"/>
            </a:endParaRPr>
          </a:p>
        </p:txBody>
      </p:sp>
      <p:pic>
        <p:nvPicPr>
          <p:cNvPr id="445" name="" descr=""/>
          <p:cNvPicPr/>
          <p:nvPr/>
        </p:nvPicPr>
        <p:blipFill>
          <a:blip r:embed="rId1"/>
          <a:stretch/>
        </p:blipFill>
        <p:spPr>
          <a:xfrm>
            <a:off x="0" y="0"/>
            <a:ext cx="10696320" cy="6016320"/>
          </a:xfrm>
          <a:prstGeom prst="rect">
            <a:avLst/>
          </a:prstGeom>
          <a:noFill/>
          <a:ln w="0">
            <a:noFill/>
          </a:ln>
        </p:spPr>
      </p:pic>
      <p:sp>
        <p:nvSpPr>
          <p:cNvPr id="446" name=""/>
          <p:cNvSpPr/>
          <p:nvPr/>
        </p:nvSpPr>
        <p:spPr>
          <a:xfrm>
            <a:off x="534600" y="601560"/>
            <a:ext cx="1069920" cy="33840"/>
          </a:xfrm>
          <a:custGeom>
            <a:avLst/>
            <a:gdLst/>
            <a:ahLst/>
            <a:rect l="0" t="0" r="r" b="b"/>
            <a:pathLst>
              <a:path w="2972" h="94">
                <a:moveTo>
                  <a:pt x="0" y="0"/>
                </a:moveTo>
                <a:lnTo>
                  <a:pt x="2972" y="0"/>
                </a:lnTo>
                <a:lnTo>
                  <a:pt x="2972" y="94"/>
                </a:lnTo>
                <a:lnTo>
                  <a:pt x="0" y="94"/>
                </a:lnTo>
                <a:lnTo>
                  <a:pt x="0" y="0"/>
                </a:lnTo>
                <a:close/>
              </a:path>
            </a:pathLst>
          </a:custGeom>
          <a:solidFill>
            <a:srgbClr val="ff8c00"/>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447" name=""/>
          <p:cNvSpPr/>
          <p:nvPr/>
        </p:nvSpPr>
        <p:spPr>
          <a:xfrm>
            <a:off x="534600" y="1337040"/>
            <a:ext cx="4613400" cy="1755000"/>
          </a:xfrm>
          <a:custGeom>
            <a:avLst/>
            <a:gdLst/>
            <a:ahLst/>
            <a:rect l="0" t="0" r="r" b="b"/>
            <a:pathLst>
              <a:path w="12815" h="4875">
                <a:moveTo>
                  <a:pt x="0" y="4690"/>
                </a:moveTo>
                <a:lnTo>
                  <a:pt x="0" y="185"/>
                </a:lnTo>
                <a:cubicBezTo>
                  <a:pt x="0" y="173"/>
                  <a:pt x="1" y="161"/>
                  <a:pt x="4" y="149"/>
                </a:cubicBezTo>
                <a:cubicBezTo>
                  <a:pt x="6" y="137"/>
                  <a:pt x="10" y="125"/>
                  <a:pt x="14" y="114"/>
                </a:cubicBezTo>
                <a:cubicBezTo>
                  <a:pt x="19" y="103"/>
                  <a:pt x="25" y="92"/>
                  <a:pt x="31" y="82"/>
                </a:cubicBezTo>
                <a:cubicBezTo>
                  <a:pt x="38" y="72"/>
                  <a:pt x="46" y="63"/>
                  <a:pt x="55" y="54"/>
                </a:cubicBezTo>
                <a:cubicBezTo>
                  <a:pt x="63" y="45"/>
                  <a:pt x="73" y="38"/>
                  <a:pt x="83" y="31"/>
                </a:cubicBezTo>
                <a:cubicBezTo>
                  <a:pt x="93" y="24"/>
                  <a:pt x="104" y="18"/>
                  <a:pt x="115" y="14"/>
                </a:cubicBezTo>
                <a:cubicBezTo>
                  <a:pt x="126" y="9"/>
                  <a:pt x="138" y="6"/>
                  <a:pt x="150" y="3"/>
                </a:cubicBezTo>
                <a:cubicBezTo>
                  <a:pt x="162" y="1"/>
                  <a:pt x="174" y="0"/>
                  <a:pt x="186" y="0"/>
                </a:cubicBezTo>
                <a:lnTo>
                  <a:pt x="12629" y="0"/>
                </a:lnTo>
                <a:cubicBezTo>
                  <a:pt x="12641" y="0"/>
                  <a:pt x="12653" y="1"/>
                  <a:pt x="12665" y="3"/>
                </a:cubicBezTo>
                <a:cubicBezTo>
                  <a:pt x="12677" y="6"/>
                  <a:pt x="12689" y="9"/>
                  <a:pt x="12700" y="14"/>
                </a:cubicBezTo>
                <a:cubicBezTo>
                  <a:pt x="12711" y="18"/>
                  <a:pt x="12722" y="24"/>
                  <a:pt x="12732" y="31"/>
                </a:cubicBezTo>
                <a:cubicBezTo>
                  <a:pt x="12742" y="38"/>
                  <a:pt x="12752" y="45"/>
                  <a:pt x="12760" y="54"/>
                </a:cubicBezTo>
                <a:cubicBezTo>
                  <a:pt x="12769" y="63"/>
                  <a:pt x="12777" y="72"/>
                  <a:pt x="12783" y="82"/>
                </a:cubicBezTo>
                <a:cubicBezTo>
                  <a:pt x="12790" y="92"/>
                  <a:pt x="12796" y="103"/>
                  <a:pt x="12801" y="114"/>
                </a:cubicBezTo>
                <a:cubicBezTo>
                  <a:pt x="12805" y="125"/>
                  <a:pt x="12809" y="137"/>
                  <a:pt x="12811" y="149"/>
                </a:cubicBezTo>
                <a:cubicBezTo>
                  <a:pt x="12814" y="161"/>
                  <a:pt x="12815" y="173"/>
                  <a:pt x="12815" y="185"/>
                </a:cubicBezTo>
                <a:lnTo>
                  <a:pt x="12815" y="4690"/>
                </a:lnTo>
                <a:cubicBezTo>
                  <a:pt x="12815" y="4702"/>
                  <a:pt x="12814" y="4714"/>
                  <a:pt x="12811" y="4726"/>
                </a:cubicBezTo>
                <a:cubicBezTo>
                  <a:pt x="12809" y="4738"/>
                  <a:pt x="12805" y="4749"/>
                  <a:pt x="12801" y="4761"/>
                </a:cubicBezTo>
                <a:cubicBezTo>
                  <a:pt x="12796" y="4772"/>
                  <a:pt x="12790" y="4783"/>
                  <a:pt x="12783" y="4793"/>
                </a:cubicBezTo>
                <a:cubicBezTo>
                  <a:pt x="12777" y="4803"/>
                  <a:pt x="12769" y="4812"/>
                  <a:pt x="12760" y="4821"/>
                </a:cubicBezTo>
                <a:cubicBezTo>
                  <a:pt x="12752" y="4830"/>
                  <a:pt x="12742" y="4837"/>
                  <a:pt x="12732" y="4844"/>
                </a:cubicBezTo>
                <a:cubicBezTo>
                  <a:pt x="12722" y="4851"/>
                  <a:pt x="12711" y="4857"/>
                  <a:pt x="12700" y="4861"/>
                </a:cubicBezTo>
                <a:cubicBezTo>
                  <a:pt x="12689" y="4866"/>
                  <a:pt x="12677" y="4869"/>
                  <a:pt x="12665" y="4872"/>
                </a:cubicBezTo>
                <a:cubicBezTo>
                  <a:pt x="12653" y="4874"/>
                  <a:pt x="12641" y="4875"/>
                  <a:pt x="12629" y="4875"/>
                </a:cubicBezTo>
                <a:lnTo>
                  <a:pt x="186" y="4875"/>
                </a:lnTo>
                <a:cubicBezTo>
                  <a:pt x="174" y="4875"/>
                  <a:pt x="162" y="4874"/>
                  <a:pt x="150" y="4872"/>
                </a:cubicBezTo>
                <a:cubicBezTo>
                  <a:pt x="138" y="4869"/>
                  <a:pt x="126" y="4866"/>
                  <a:pt x="115" y="4861"/>
                </a:cubicBezTo>
                <a:cubicBezTo>
                  <a:pt x="104" y="4857"/>
                  <a:pt x="93" y="4851"/>
                  <a:pt x="83" y="4844"/>
                </a:cubicBezTo>
                <a:cubicBezTo>
                  <a:pt x="73" y="4837"/>
                  <a:pt x="63" y="4830"/>
                  <a:pt x="55" y="4821"/>
                </a:cubicBezTo>
                <a:cubicBezTo>
                  <a:pt x="46" y="4812"/>
                  <a:pt x="38" y="4803"/>
                  <a:pt x="31" y="4793"/>
                </a:cubicBezTo>
                <a:cubicBezTo>
                  <a:pt x="25" y="4783"/>
                  <a:pt x="19" y="4772"/>
                  <a:pt x="14" y="4761"/>
                </a:cubicBezTo>
                <a:cubicBezTo>
                  <a:pt x="10" y="4749"/>
                  <a:pt x="6" y="4738"/>
                  <a:pt x="4" y="4726"/>
                </a:cubicBezTo>
                <a:cubicBezTo>
                  <a:pt x="1" y="4714"/>
                  <a:pt x="0" y="4702"/>
                  <a:pt x="0" y="4690"/>
                </a:cubicBezTo>
                <a:close/>
              </a:path>
            </a:pathLst>
          </a:custGeom>
          <a:solidFill>
            <a:srgbClr val="ffffff">
              <a:alpha val="10000"/>
            </a:srgbClr>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448" name=""/>
          <p:cNvSpPr txBox="1"/>
          <p:nvPr/>
        </p:nvSpPr>
        <p:spPr>
          <a:xfrm>
            <a:off x="534960" y="222120"/>
            <a:ext cx="5104440" cy="436320"/>
          </a:xfrm>
          <a:prstGeom prst="rect">
            <a:avLst/>
          </a:prstGeom>
          <a:noFill/>
          <a:ln w="0">
            <a:noFill/>
          </a:ln>
        </p:spPr>
        <p:txBody>
          <a:bodyPr wrap="none" lIns="0" rIns="0" tIns="0" bIns="0" anchor="t">
            <a:spAutoFit/>
          </a:bodyPr>
          <a:p>
            <a:r>
              <a:rPr b="0" lang="zh-CN" sz="2370" strike="noStrike" u="none">
                <a:solidFill>
                  <a:srgbClr val="ffffff"/>
                </a:solidFill>
                <a:effectLst/>
                <a:uFillTx/>
                <a:latin typeface="NotoSansJP"/>
                <a:ea typeface="NotoSansJP"/>
              </a:rPr>
              <a:t>エイリアシング対策と計算精度の向上</a:t>
            </a:r>
            <a:endParaRPr b="0" lang="en-US" sz="2370" strike="noStrike" u="none">
              <a:solidFill>
                <a:srgbClr val="000000"/>
              </a:solidFill>
              <a:effectLst/>
              <a:uFillTx/>
              <a:latin typeface="Times New Roman"/>
            </a:endParaRPr>
          </a:p>
        </p:txBody>
      </p:sp>
      <p:sp>
        <p:nvSpPr>
          <p:cNvPr id="449" name=""/>
          <p:cNvSpPr txBox="1"/>
          <p:nvPr/>
        </p:nvSpPr>
        <p:spPr>
          <a:xfrm>
            <a:off x="534960" y="966960"/>
            <a:ext cx="2012400" cy="291600"/>
          </a:xfrm>
          <a:prstGeom prst="rect">
            <a:avLst/>
          </a:prstGeom>
          <a:noFill/>
          <a:ln w="0">
            <a:noFill/>
          </a:ln>
        </p:spPr>
        <p:txBody>
          <a:bodyPr wrap="none" lIns="0" rIns="0" tIns="0" bIns="0" anchor="t">
            <a:spAutoFit/>
          </a:bodyPr>
          <a:p>
            <a:r>
              <a:rPr b="0" lang="zh-CN" sz="1580" strike="noStrike" u="none">
                <a:solidFill>
                  <a:srgbClr val="a7c6d9"/>
                </a:solidFill>
                <a:effectLst/>
                <a:uFillTx/>
                <a:latin typeface="NotoSansJP"/>
                <a:ea typeface="NotoSansJP"/>
              </a:rPr>
              <a:t>エイリアシングの問題</a:t>
            </a:r>
            <a:endParaRPr b="0" lang="en-US" sz="1580" strike="noStrike" u="none">
              <a:solidFill>
                <a:srgbClr val="000000"/>
              </a:solidFill>
              <a:effectLst/>
              <a:uFillTx/>
              <a:latin typeface="Times New Roman"/>
            </a:endParaRPr>
          </a:p>
        </p:txBody>
      </p:sp>
      <p:sp>
        <p:nvSpPr>
          <p:cNvPr id="450" name=""/>
          <p:cNvSpPr txBox="1"/>
          <p:nvPr/>
        </p:nvSpPr>
        <p:spPr>
          <a:xfrm>
            <a:off x="735480" y="1581840"/>
            <a:ext cx="4225320" cy="219960"/>
          </a:xfrm>
          <a:prstGeom prst="rect">
            <a:avLst/>
          </a:prstGeom>
          <a:noFill/>
          <a:ln w="0">
            <a:noFill/>
          </a:ln>
        </p:spPr>
        <p:txBody>
          <a:bodyPr wrap="none" lIns="0" rIns="0" tIns="0" bIns="0" anchor="t">
            <a:spAutoFit/>
          </a:bodyPr>
          <a:p>
            <a:r>
              <a:rPr b="0" lang="zh-CN" sz="1180" strike="noStrike" u="none">
                <a:solidFill>
                  <a:srgbClr val="ffffff"/>
                </a:solidFill>
                <a:effectLst/>
                <a:uFillTx/>
                <a:latin typeface="NotoSansJP"/>
                <a:ea typeface="NotoSansJP"/>
              </a:rPr>
              <a:t>角スペクトル法による長距離伝搬では、伝達関数の振動が激し</a:t>
            </a:r>
            <a:endParaRPr b="0" lang="en-US" sz="1180" strike="noStrike" u="none">
              <a:solidFill>
                <a:srgbClr val="000000"/>
              </a:solidFill>
              <a:effectLst/>
              <a:uFillTx/>
              <a:latin typeface="Times New Roman"/>
            </a:endParaRPr>
          </a:p>
        </p:txBody>
      </p:sp>
      <p:sp>
        <p:nvSpPr>
          <p:cNvPr id="451" name=""/>
          <p:cNvSpPr txBox="1"/>
          <p:nvPr/>
        </p:nvSpPr>
        <p:spPr>
          <a:xfrm>
            <a:off x="735480" y="1824120"/>
            <a:ext cx="4225320" cy="219960"/>
          </a:xfrm>
          <a:prstGeom prst="rect">
            <a:avLst/>
          </a:prstGeom>
          <a:noFill/>
          <a:ln w="0">
            <a:noFill/>
          </a:ln>
        </p:spPr>
        <p:txBody>
          <a:bodyPr wrap="none" lIns="0" rIns="0" tIns="0" bIns="0" anchor="t">
            <a:spAutoFit/>
          </a:bodyPr>
          <a:p>
            <a:r>
              <a:rPr b="0" lang="zh-CN" sz="1180" strike="noStrike" u="none">
                <a:solidFill>
                  <a:srgbClr val="ffffff"/>
                </a:solidFill>
                <a:effectLst/>
                <a:uFillTx/>
                <a:latin typeface="NotoSansJP"/>
                <a:ea typeface="NotoSansJP"/>
              </a:rPr>
              <a:t>くなり、サンプリング定理の制約からエイリアシング（折り返</a:t>
            </a:r>
            <a:endParaRPr b="0" lang="en-US" sz="1180" strike="noStrike" u="none">
              <a:solidFill>
                <a:srgbClr val="000000"/>
              </a:solidFill>
              <a:effectLst/>
              <a:uFillTx/>
              <a:latin typeface="Times New Roman"/>
            </a:endParaRPr>
          </a:p>
        </p:txBody>
      </p:sp>
      <p:sp>
        <p:nvSpPr>
          <p:cNvPr id="452" name=""/>
          <p:cNvSpPr txBox="1"/>
          <p:nvPr/>
        </p:nvSpPr>
        <p:spPr>
          <a:xfrm>
            <a:off x="735480" y="2075040"/>
            <a:ext cx="2414880" cy="219960"/>
          </a:xfrm>
          <a:prstGeom prst="rect">
            <a:avLst/>
          </a:prstGeom>
          <a:noFill/>
          <a:ln w="0">
            <a:noFill/>
          </a:ln>
        </p:spPr>
        <p:txBody>
          <a:bodyPr wrap="none" lIns="0" rIns="0" tIns="0" bIns="0" anchor="t">
            <a:spAutoFit/>
          </a:bodyPr>
          <a:p>
            <a:r>
              <a:rPr b="0" lang="zh-CN" sz="1180" strike="noStrike" u="none">
                <a:solidFill>
                  <a:srgbClr val="ffffff"/>
                </a:solidFill>
                <a:effectLst/>
                <a:uFillTx/>
                <a:latin typeface="NotoSansJP"/>
                <a:ea typeface="NotoSansJP"/>
              </a:rPr>
              <a:t>し誤差）が発生しやすくなります。</a:t>
            </a:r>
            <a:endParaRPr b="0" lang="en-US" sz="1180" strike="noStrike" u="none">
              <a:solidFill>
                <a:srgbClr val="000000"/>
              </a:solidFill>
              <a:effectLst/>
              <a:uFillTx/>
              <a:latin typeface="Times New Roman"/>
            </a:endParaRPr>
          </a:p>
        </p:txBody>
      </p:sp>
      <p:sp>
        <p:nvSpPr>
          <p:cNvPr id="453" name=""/>
          <p:cNvSpPr txBox="1"/>
          <p:nvPr/>
        </p:nvSpPr>
        <p:spPr>
          <a:xfrm>
            <a:off x="735480" y="2450880"/>
            <a:ext cx="4225320" cy="219960"/>
          </a:xfrm>
          <a:prstGeom prst="rect">
            <a:avLst/>
          </a:prstGeom>
          <a:noFill/>
          <a:ln w="0">
            <a:noFill/>
          </a:ln>
        </p:spPr>
        <p:txBody>
          <a:bodyPr wrap="none" lIns="0" rIns="0" tIns="0" bIns="0" anchor="t">
            <a:spAutoFit/>
          </a:bodyPr>
          <a:p>
            <a:r>
              <a:rPr b="0" lang="zh-CN" sz="1180" strike="noStrike" u="none">
                <a:solidFill>
                  <a:srgbClr val="ffffff"/>
                </a:solidFill>
                <a:effectLst/>
                <a:uFillTx/>
                <a:latin typeface="NotoSansJP"/>
                <a:ea typeface="NotoSansJP"/>
              </a:rPr>
              <a:t>特に伝搬距離が長い場合や、光波が大きく広がる場合に問題と</a:t>
            </a:r>
            <a:endParaRPr b="0" lang="en-US" sz="1180" strike="noStrike" u="none">
              <a:solidFill>
                <a:srgbClr val="000000"/>
              </a:solidFill>
              <a:effectLst/>
              <a:uFillTx/>
              <a:latin typeface="Times New Roman"/>
            </a:endParaRPr>
          </a:p>
        </p:txBody>
      </p:sp>
      <p:sp>
        <p:nvSpPr>
          <p:cNvPr id="454" name=""/>
          <p:cNvSpPr/>
          <p:nvPr/>
        </p:nvSpPr>
        <p:spPr>
          <a:xfrm>
            <a:off x="5548680" y="1337040"/>
            <a:ext cx="4613400" cy="1504440"/>
          </a:xfrm>
          <a:custGeom>
            <a:avLst/>
            <a:gdLst/>
            <a:ahLst/>
            <a:rect l="0" t="0" r="r" b="b"/>
            <a:pathLst>
              <a:path w="12815" h="4179">
                <a:moveTo>
                  <a:pt x="0" y="3993"/>
                </a:moveTo>
                <a:lnTo>
                  <a:pt x="0" y="185"/>
                </a:lnTo>
                <a:cubicBezTo>
                  <a:pt x="0" y="173"/>
                  <a:pt x="1" y="161"/>
                  <a:pt x="4" y="149"/>
                </a:cubicBezTo>
                <a:cubicBezTo>
                  <a:pt x="6" y="137"/>
                  <a:pt x="9" y="125"/>
                  <a:pt x="14" y="114"/>
                </a:cubicBezTo>
                <a:cubicBezTo>
                  <a:pt x="19" y="103"/>
                  <a:pt x="24" y="92"/>
                  <a:pt x="31" y="82"/>
                </a:cubicBezTo>
                <a:cubicBezTo>
                  <a:pt x="38" y="72"/>
                  <a:pt x="46" y="63"/>
                  <a:pt x="54" y="54"/>
                </a:cubicBezTo>
                <a:cubicBezTo>
                  <a:pt x="63" y="45"/>
                  <a:pt x="72" y="38"/>
                  <a:pt x="83" y="31"/>
                </a:cubicBezTo>
                <a:cubicBezTo>
                  <a:pt x="93" y="24"/>
                  <a:pt x="103" y="18"/>
                  <a:pt x="115" y="14"/>
                </a:cubicBezTo>
                <a:cubicBezTo>
                  <a:pt x="126" y="9"/>
                  <a:pt x="137" y="6"/>
                  <a:pt x="149" y="3"/>
                </a:cubicBezTo>
                <a:cubicBezTo>
                  <a:pt x="161" y="1"/>
                  <a:pt x="173" y="0"/>
                  <a:pt x="186" y="0"/>
                </a:cubicBezTo>
                <a:lnTo>
                  <a:pt x="12629" y="0"/>
                </a:lnTo>
                <a:cubicBezTo>
                  <a:pt x="12641" y="0"/>
                  <a:pt x="12653" y="1"/>
                  <a:pt x="12665" y="3"/>
                </a:cubicBezTo>
                <a:cubicBezTo>
                  <a:pt x="12677" y="6"/>
                  <a:pt x="12689" y="9"/>
                  <a:pt x="12700" y="14"/>
                </a:cubicBezTo>
                <a:cubicBezTo>
                  <a:pt x="12711" y="18"/>
                  <a:pt x="12722" y="24"/>
                  <a:pt x="12732" y="31"/>
                </a:cubicBezTo>
                <a:cubicBezTo>
                  <a:pt x="12742" y="38"/>
                  <a:pt x="12752" y="45"/>
                  <a:pt x="12760" y="54"/>
                </a:cubicBezTo>
                <a:cubicBezTo>
                  <a:pt x="12769" y="63"/>
                  <a:pt x="12776" y="72"/>
                  <a:pt x="12783" y="82"/>
                </a:cubicBezTo>
                <a:cubicBezTo>
                  <a:pt x="12790" y="92"/>
                  <a:pt x="12796" y="103"/>
                  <a:pt x="12800" y="114"/>
                </a:cubicBezTo>
                <a:cubicBezTo>
                  <a:pt x="12805" y="125"/>
                  <a:pt x="12809" y="137"/>
                  <a:pt x="12811" y="149"/>
                </a:cubicBezTo>
                <a:cubicBezTo>
                  <a:pt x="12813" y="161"/>
                  <a:pt x="12815" y="173"/>
                  <a:pt x="12815" y="185"/>
                </a:cubicBezTo>
                <a:lnTo>
                  <a:pt x="12815" y="3993"/>
                </a:lnTo>
                <a:cubicBezTo>
                  <a:pt x="12815" y="4005"/>
                  <a:pt x="12813" y="4018"/>
                  <a:pt x="12811" y="4029"/>
                </a:cubicBezTo>
                <a:cubicBezTo>
                  <a:pt x="12809" y="4041"/>
                  <a:pt x="12805" y="4053"/>
                  <a:pt x="12800" y="4064"/>
                </a:cubicBezTo>
                <a:cubicBezTo>
                  <a:pt x="12796" y="4076"/>
                  <a:pt x="12790" y="4086"/>
                  <a:pt x="12783" y="4096"/>
                </a:cubicBezTo>
                <a:cubicBezTo>
                  <a:pt x="12776" y="4107"/>
                  <a:pt x="12769" y="4116"/>
                  <a:pt x="12760" y="4125"/>
                </a:cubicBezTo>
                <a:cubicBezTo>
                  <a:pt x="12752" y="4133"/>
                  <a:pt x="12742" y="4141"/>
                  <a:pt x="12732" y="4148"/>
                </a:cubicBezTo>
                <a:cubicBezTo>
                  <a:pt x="12722" y="4154"/>
                  <a:pt x="12711" y="4160"/>
                  <a:pt x="12700" y="4165"/>
                </a:cubicBezTo>
                <a:cubicBezTo>
                  <a:pt x="12689" y="4169"/>
                  <a:pt x="12677" y="4173"/>
                  <a:pt x="12665" y="4175"/>
                </a:cubicBezTo>
                <a:cubicBezTo>
                  <a:pt x="12653" y="4178"/>
                  <a:pt x="12641" y="4179"/>
                  <a:pt x="12629" y="4179"/>
                </a:cubicBezTo>
                <a:lnTo>
                  <a:pt x="186" y="4179"/>
                </a:lnTo>
                <a:cubicBezTo>
                  <a:pt x="173" y="4179"/>
                  <a:pt x="161" y="4178"/>
                  <a:pt x="149" y="4175"/>
                </a:cubicBezTo>
                <a:cubicBezTo>
                  <a:pt x="137" y="4173"/>
                  <a:pt x="126" y="4169"/>
                  <a:pt x="115" y="4165"/>
                </a:cubicBezTo>
                <a:cubicBezTo>
                  <a:pt x="103" y="4160"/>
                  <a:pt x="93" y="4154"/>
                  <a:pt x="83" y="4148"/>
                </a:cubicBezTo>
                <a:cubicBezTo>
                  <a:pt x="72" y="4141"/>
                  <a:pt x="63" y="4133"/>
                  <a:pt x="54" y="4125"/>
                </a:cubicBezTo>
                <a:cubicBezTo>
                  <a:pt x="46" y="4116"/>
                  <a:pt x="38" y="4107"/>
                  <a:pt x="31" y="4096"/>
                </a:cubicBezTo>
                <a:cubicBezTo>
                  <a:pt x="24" y="4086"/>
                  <a:pt x="19" y="4076"/>
                  <a:pt x="14" y="4064"/>
                </a:cubicBezTo>
                <a:cubicBezTo>
                  <a:pt x="9" y="4053"/>
                  <a:pt x="6" y="4041"/>
                  <a:pt x="4" y="4029"/>
                </a:cubicBezTo>
                <a:cubicBezTo>
                  <a:pt x="1" y="4018"/>
                  <a:pt x="0" y="4005"/>
                  <a:pt x="0" y="3993"/>
                </a:cubicBezTo>
                <a:close/>
              </a:path>
            </a:pathLst>
          </a:custGeom>
          <a:solidFill>
            <a:srgbClr val="ffffff">
              <a:alpha val="10000"/>
            </a:srgbClr>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455" name=""/>
          <p:cNvSpPr txBox="1"/>
          <p:nvPr/>
        </p:nvSpPr>
        <p:spPr>
          <a:xfrm>
            <a:off x="735480" y="2693160"/>
            <a:ext cx="3470760" cy="219960"/>
          </a:xfrm>
          <a:prstGeom prst="rect">
            <a:avLst/>
          </a:prstGeom>
          <a:noFill/>
          <a:ln w="0">
            <a:noFill/>
          </a:ln>
        </p:spPr>
        <p:txBody>
          <a:bodyPr wrap="none" lIns="0" rIns="0" tIns="0" bIns="0" anchor="t">
            <a:spAutoFit/>
          </a:bodyPr>
          <a:p>
            <a:r>
              <a:rPr b="0" lang="zh-CN" sz="1180" strike="noStrike" u="none">
                <a:solidFill>
                  <a:srgbClr val="ffffff"/>
                </a:solidFill>
                <a:effectLst/>
                <a:uFillTx/>
                <a:latin typeface="NotoSansJP"/>
                <a:ea typeface="NotoSansJP"/>
              </a:rPr>
              <a:t>なりやすく、再生像の品質低下の原因となります。</a:t>
            </a:r>
            <a:endParaRPr b="0" lang="en-US" sz="1180" strike="noStrike" u="none">
              <a:solidFill>
                <a:srgbClr val="000000"/>
              </a:solidFill>
              <a:effectLst/>
              <a:uFillTx/>
              <a:latin typeface="Times New Roman"/>
            </a:endParaRPr>
          </a:p>
        </p:txBody>
      </p:sp>
      <p:pic>
        <p:nvPicPr>
          <p:cNvPr id="456" name="" descr=""/>
          <p:cNvPicPr/>
          <p:nvPr/>
        </p:nvPicPr>
        <p:blipFill>
          <a:blip r:embed="rId2"/>
          <a:stretch/>
        </p:blipFill>
        <p:spPr>
          <a:xfrm>
            <a:off x="5682600" y="1378800"/>
            <a:ext cx="4345200" cy="1420200"/>
          </a:xfrm>
          <a:prstGeom prst="rect">
            <a:avLst/>
          </a:prstGeom>
          <a:noFill/>
          <a:ln w="0">
            <a:noFill/>
          </a:ln>
        </p:spPr>
      </p:pic>
      <p:sp>
        <p:nvSpPr>
          <p:cNvPr id="457" name=""/>
          <p:cNvSpPr txBox="1"/>
          <p:nvPr/>
        </p:nvSpPr>
        <p:spPr>
          <a:xfrm>
            <a:off x="5548680" y="966960"/>
            <a:ext cx="1409040" cy="291600"/>
          </a:xfrm>
          <a:prstGeom prst="rect">
            <a:avLst/>
          </a:prstGeom>
          <a:noFill/>
          <a:ln w="0">
            <a:noFill/>
          </a:ln>
        </p:spPr>
        <p:txBody>
          <a:bodyPr wrap="none" lIns="0" rIns="0" tIns="0" bIns="0" anchor="t">
            <a:spAutoFit/>
          </a:bodyPr>
          <a:p>
            <a:r>
              <a:rPr b="0" lang="zh-CN" sz="1580" strike="noStrike" u="none">
                <a:solidFill>
                  <a:srgbClr val="a7c6d9"/>
                </a:solidFill>
                <a:effectLst/>
                <a:uFillTx/>
                <a:latin typeface="NotoSansJP"/>
                <a:ea typeface="NotoSansJP"/>
              </a:rPr>
              <a:t>発生メカニズム</a:t>
            </a:r>
            <a:endParaRPr b="0" lang="en-US" sz="1580" strike="noStrike" u="none">
              <a:solidFill>
                <a:srgbClr val="000000"/>
              </a:solidFill>
              <a:effectLst/>
              <a:uFillTx/>
              <a:latin typeface="Times New Roman"/>
            </a:endParaRPr>
          </a:p>
        </p:txBody>
      </p:sp>
      <p:sp>
        <p:nvSpPr>
          <p:cNvPr id="458" name=""/>
          <p:cNvSpPr/>
          <p:nvPr/>
        </p:nvSpPr>
        <p:spPr>
          <a:xfrm>
            <a:off x="534600" y="3760200"/>
            <a:ext cx="3075840" cy="2223360"/>
          </a:xfrm>
          <a:custGeom>
            <a:avLst/>
            <a:gdLst/>
            <a:ahLst/>
            <a:rect l="0" t="0" r="r" b="b"/>
            <a:pathLst>
              <a:path w="8544" h="6176">
                <a:moveTo>
                  <a:pt x="0" y="5990"/>
                </a:moveTo>
                <a:lnTo>
                  <a:pt x="0" y="186"/>
                </a:lnTo>
                <a:cubicBezTo>
                  <a:pt x="0" y="161"/>
                  <a:pt x="5" y="138"/>
                  <a:pt x="14" y="115"/>
                </a:cubicBezTo>
                <a:cubicBezTo>
                  <a:pt x="24" y="92"/>
                  <a:pt x="37" y="72"/>
                  <a:pt x="55" y="55"/>
                </a:cubicBezTo>
                <a:cubicBezTo>
                  <a:pt x="72" y="37"/>
                  <a:pt x="92" y="24"/>
                  <a:pt x="115" y="15"/>
                </a:cubicBezTo>
                <a:cubicBezTo>
                  <a:pt x="138" y="5"/>
                  <a:pt x="161" y="0"/>
                  <a:pt x="186" y="0"/>
                </a:cubicBezTo>
                <a:lnTo>
                  <a:pt x="8358" y="0"/>
                </a:lnTo>
                <a:cubicBezTo>
                  <a:pt x="8382" y="0"/>
                  <a:pt x="8406" y="5"/>
                  <a:pt x="8429" y="15"/>
                </a:cubicBezTo>
                <a:cubicBezTo>
                  <a:pt x="8452" y="24"/>
                  <a:pt x="8472" y="37"/>
                  <a:pt x="8489" y="55"/>
                </a:cubicBezTo>
                <a:cubicBezTo>
                  <a:pt x="8507" y="72"/>
                  <a:pt x="8520" y="92"/>
                  <a:pt x="8529" y="115"/>
                </a:cubicBezTo>
                <a:cubicBezTo>
                  <a:pt x="8539" y="138"/>
                  <a:pt x="8544" y="161"/>
                  <a:pt x="8544" y="186"/>
                </a:cubicBezTo>
                <a:lnTo>
                  <a:pt x="8544" y="5990"/>
                </a:lnTo>
                <a:cubicBezTo>
                  <a:pt x="8544" y="6015"/>
                  <a:pt x="8539" y="6039"/>
                  <a:pt x="8529" y="6061"/>
                </a:cubicBezTo>
                <a:cubicBezTo>
                  <a:pt x="8520" y="6084"/>
                  <a:pt x="8507" y="6104"/>
                  <a:pt x="8489" y="6122"/>
                </a:cubicBezTo>
                <a:cubicBezTo>
                  <a:pt x="8472" y="6139"/>
                  <a:pt x="8452" y="6152"/>
                  <a:pt x="8429" y="6162"/>
                </a:cubicBezTo>
                <a:cubicBezTo>
                  <a:pt x="8406" y="6171"/>
                  <a:pt x="8382" y="6176"/>
                  <a:pt x="8358" y="6176"/>
                </a:cubicBezTo>
                <a:lnTo>
                  <a:pt x="186" y="6176"/>
                </a:lnTo>
                <a:cubicBezTo>
                  <a:pt x="161" y="6176"/>
                  <a:pt x="138" y="6171"/>
                  <a:pt x="115" y="6162"/>
                </a:cubicBezTo>
                <a:cubicBezTo>
                  <a:pt x="92" y="6152"/>
                  <a:pt x="72" y="6139"/>
                  <a:pt x="55" y="6122"/>
                </a:cubicBezTo>
                <a:cubicBezTo>
                  <a:pt x="37" y="6104"/>
                  <a:pt x="24" y="6084"/>
                  <a:pt x="14" y="6061"/>
                </a:cubicBezTo>
                <a:cubicBezTo>
                  <a:pt x="5" y="6039"/>
                  <a:pt x="0" y="6015"/>
                  <a:pt x="0" y="5990"/>
                </a:cubicBezTo>
                <a:close/>
              </a:path>
            </a:pathLst>
          </a:custGeom>
          <a:solidFill>
            <a:srgbClr val="ffffff">
              <a:alpha val="10000"/>
            </a:srgbClr>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459" name=""/>
          <p:cNvSpPr/>
          <p:nvPr/>
        </p:nvSpPr>
        <p:spPr>
          <a:xfrm>
            <a:off x="534600" y="3760200"/>
            <a:ext cx="3075840" cy="2223360"/>
          </a:xfrm>
          <a:custGeom>
            <a:avLst/>
            <a:gdLst/>
            <a:ahLst/>
            <a:rect l="0" t="0" r="r" b="b"/>
            <a:pathLst>
              <a:path w="8544" h="6176">
                <a:moveTo>
                  <a:pt x="0" y="5990"/>
                </a:moveTo>
                <a:lnTo>
                  <a:pt x="0" y="186"/>
                </a:lnTo>
                <a:cubicBezTo>
                  <a:pt x="0" y="161"/>
                  <a:pt x="5" y="138"/>
                  <a:pt x="14" y="115"/>
                </a:cubicBezTo>
                <a:cubicBezTo>
                  <a:pt x="24" y="92"/>
                  <a:pt x="37" y="72"/>
                  <a:pt x="55" y="55"/>
                </a:cubicBezTo>
                <a:cubicBezTo>
                  <a:pt x="72" y="37"/>
                  <a:pt x="92" y="24"/>
                  <a:pt x="115" y="15"/>
                </a:cubicBezTo>
                <a:cubicBezTo>
                  <a:pt x="138" y="5"/>
                  <a:pt x="161" y="0"/>
                  <a:pt x="186" y="0"/>
                </a:cubicBezTo>
                <a:lnTo>
                  <a:pt x="8358" y="0"/>
                </a:lnTo>
                <a:cubicBezTo>
                  <a:pt x="8382" y="0"/>
                  <a:pt x="8406" y="5"/>
                  <a:pt x="8429" y="15"/>
                </a:cubicBezTo>
                <a:cubicBezTo>
                  <a:pt x="8452" y="24"/>
                  <a:pt x="8472" y="37"/>
                  <a:pt x="8489" y="55"/>
                </a:cubicBezTo>
                <a:cubicBezTo>
                  <a:pt x="8507" y="72"/>
                  <a:pt x="8520" y="92"/>
                  <a:pt x="8529" y="115"/>
                </a:cubicBezTo>
                <a:cubicBezTo>
                  <a:pt x="8539" y="138"/>
                  <a:pt x="8544" y="161"/>
                  <a:pt x="8544" y="186"/>
                </a:cubicBezTo>
                <a:lnTo>
                  <a:pt x="8544" y="5990"/>
                </a:lnTo>
                <a:cubicBezTo>
                  <a:pt x="8544" y="6015"/>
                  <a:pt x="8539" y="6039"/>
                  <a:pt x="8529" y="6061"/>
                </a:cubicBezTo>
                <a:cubicBezTo>
                  <a:pt x="8520" y="6084"/>
                  <a:pt x="8507" y="6104"/>
                  <a:pt x="8489" y="6122"/>
                </a:cubicBezTo>
                <a:cubicBezTo>
                  <a:pt x="8472" y="6139"/>
                  <a:pt x="8452" y="6152"/>
                  <a:pt x="8429" y="6162"/>
                </a:cubicBezTo>
                <a:cubicBezTo>
                  <a:pt x="8406" y="6171"/>
                  <a:pt x="8382" y="6176"/>
                  <a:pt x="8358" y="6176"/>
                </a:cubicBezTo>
                <a:lnTo>
                  <a:pt x="186" y="6176"/>
                </a:lnTo>
                <a:cubicBezTo>
                  <a:pt x="161" y="6176"/>
                  <a:pt x="138" y="6171"/>
                  <a:pt x="115" y="6162"/>
                </a:cubicBezTo>
                <a:cubicBezTo>
                  <a:pt x="92" y="6152"/>
                  <a:pt x="72" y="6139"/>
                  <a:pt x="55" y="6122"/>
                </a:cubicBezTo>
                <a:cubicBezTo>
                  <a:pt x="37" y="6104"/>
                  <a:pt x="24" y="6084"/>
                  <a:pt x="14" y="6061"/>
                </a:cubicBezTo>
                <a:cubicBezTo>
                  <a:pt x="5" y="6039"/>
                  <a:pt x="0" y="6015"/>
                  <a:pt x="0" y="5990"/>
                </a:cubicBezTo>
                <a:moveTo>
                  <a:pt x="23" y="186"/>
                </a:moveTo>
                <a:lnTo>
                  <a:pt x="23" y="5990"/>
                </a:lnTo>
                <a:cubicBezTo>
                  <a:pt x="23" y="6001"/>
                  <a:pt x="24" y="6012"/>
                  <a:pt x="26" y="6022"/>
                </a:cubicBezTo>
                <a:cubicBezTo>
                  <a:pt x="29" y="6033"/>
                  <a:pt x="32" y="6043"/>
                  <a:pt x="36" y="6053"/>
                </a:cubicBezTo>
                <a:cubicBezTo>
                  <a:pt x="40" y="6062"/>
                  <a:pt x="45" y="6072"/>
                  <a:pt x="51" y="6081"/>
                </a:cubicBezTo>
                <a:cubicBezTo>
                  <a:pt x="57" y="6089"/>
                  <a:pt x="63" y="6098"/>
                  <a:pt x="71" y="6105"/>
                </a:cubicBezTo>
                <a:cubicBezTo>
                  <a:pt x="78" y="6113"/>
                  <a:pt x="87" y="6120"/>
                  <a:pt x="96" y="6125"/>
                </a:cubicBezTo>
                <a:cubicBezTo>
                  <a:pt x="104" y="6131"/>
                  <a:pt x="114" y="6136"/>
                  <a:pt x="124" y="6140"/>
                </a:cubicBezTo>
                <a:cubicBezTo>
                  <a:pt x="134" y="6145"/>
                  <a:pt x="144" y="6148"/>
                  <a:pt x="154" y="6150"/>
                </a:cubicBezTo>
                <a:cubicBezTo>
                  <a:pt x="165" y="6152"/>
                  <a:pt x="175" y="6153"/>
                  <a:pt x="186" y="6153"/>
                </a:cubicBezTo>
                <a:lnTo>
                  <a:pt x="8358" y="6153"/>
                </a:lnTo>
                <a:cubicBezTo>
                  <a:pt x="8369" y="6153"/>
                  <a:pt x="8379" y="6152"/>
                  <a:pt x="8390" y="6150"/>
                </a:cubicBezTo>
                <a:cubicBezTo>
                  <a:pt x="8400" y="6148"/>
                  <a:pt x="8410" y="6145"/>
                  <a:pt x="8420" y="6140"/>
                </a:cubicBezTo>
                <a:cubicBezTo>
                  <a:pt x="8430" y="6136"/>
                  <a:pt x="8439" y="6131"/>
                  <a:pt x="8448" y="6125"/>
                </a:cubicBezTo>
                <a:cubicBezTo>
                  <a:pt x="8457" y="6120"/>
                  <a:pt x="8465" y="6113"/>
                  <a:pt x="8473" y="6105"/>
                </a:cubicBezTo>
                <a:cubicBezTo>
                  <a:pt x="8480" y="6098"/>
                  <a:pt x="8487" y="6089"/>
                  <a:pt x="8493" y="6081"/>
                </a:cubicBezTo>
                <a:cubicBezTo>
                  <a:pt x="8499" y="6072"/>
                  <a:pt x="8504" y="6062"/>
                  <a:pt x="8508" y="6053"/>
                </a:cubicBezTo>
                <a:cubicBezTo>
                  <a:pt x="8512" y="6043"/>
                  <a:pt x="8515" y="6033"/>
                  <a:pt x="8517" y="6022"/>
                </a:cubicBezTo>
                <a:cubicBezTo>
                  <a:pt x="8519" y="6012"/>
                  <a:pt x="8520" y="6001"/>
                  <a:pt x="8520" y="5990"/>
                </a:cubicBezTo>
                <a:lnTo>
                  <a:pt x="8520" y="186"/>
                </a:lnTo>
                <a:cubicBezTo>
                  <a:pt x="8520" y="175"/>
                  <a:pt x="8519" y="165"/>
                  <a:pt x="8517" y="154"/>
                </a:cubicBezTo>
                <a:cubicBezTo>
                  <a:pt x="8515" y="144"/>
                  <a:pt x="8512" y="134"/>
                  <a:pt x="8508" y="124"/>
                </a:cubicBezTo>
                <a:cubicBezTo>
                  <a:pt x="8504" y="114"/>
                  <a:pt x="8499" y="105"/>
                  <a:pt x="8493" y="96"/>
                </a:cubicBezTo>
                <a:cubicBezTo>
                  <a:pt x="8487" y="87"/>
                  <a:pt x="8480" y="79"/>
                  <a:pt x="8473" y="71"/>
                </a:cubicBezTo>
                <a:cubicBezTo>
                  <a:pt x="8465" y="64"/>
                  <a:pt x="8457" y="57"/>
                  <a:pt x="8448" y="51"/>
                </a:cubicBezTo>
                <a:cubicBezTo>
                  <a:pt x="8439" y="45"/>
                  <a:pt x="8430" y="40"/>
                  <a:pt x="8420" y="36"/>
                </a:cubicBezTo>
                <a:cubicBezTo>
                  <a:pt x="8410" y="32"/>
                  <a:pt x="8400" y="29"/>
                  <a:pt x="8390" y="27"/>
                </a:cubicBezTo>
                <a:cubicBezTo>
                  <a:pt x="8379" y="25"/>
                  <a:pt x="8369" y="24"/>
                  <a:pt x="8358" y="24"/>
                </a:cubicBezTo>
                <a:lnTo>
                  <a:pt x="186" y="24"/>
                </a:lnTo>
                <a:cubicBezTo>
                  <a:pt x="175" y="24"/>
                  <a:pt x="165" y="25"/>
                  <a:pt x="154" y="27"/>
                </a:cubicBezTo>
                <a:cubicBezTo>
                  <a:pt x="144" y="29"/>
                  <a:pt x="134" y="32"/>
                  <a:pt x="124" y="36"/>
                </a:cubicBezTo>
                <a:cubicBezTo>
                  <a:pt x="114" y="40"/>
                  <a:pt x="104" y="45"/>
                  <a:pt x="96" y="51"/>
                </a:cubicBezTo>
                <a:cubicBezTo>
                  <a:pt x="87" y="57"/>
                  <a:pt x="78" y="64"/>
                  <a:pt x="71" y="71"/>
                </a:cubicBezTo>
                <a:cubicBezTo>
                  <a:pt x="63" y="79"/>
                  <a:pt x="57" y="87"/>
                  <a:pt x="51" y="96"/>
                </a:cubicBezTo>
                <a:cubicBezTo>
                  <a:pt x="45" y="105"/>
                  <a:pt x="40" y="114"/>
                  <a:pt x="36" y="124"/>
                </a:cubicBezTo>
                <a:cubicBezTo>
                  <a:pt x="32" y="134"/>
                  <a:pt x="29" y="144"/>
                  <a:pt x="26" y="154"/>
                </a:cubicBezTo>
                <a:cubicBezTo>
                  <a:pt x="24" y="165"/>
                  <a:pt x="23" y="175"/>
                  <a:pt x="23" y="186"/>
                </a:cubicBezTo>
                <a:close/>
              </a:path>
            </a:pathLst>
          </a:custGeom>
          <a:solidFill>
            <a:srgbClr val="a7c6d9">
              <a:alpha val="30000"/>
            </a:srgbClr>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460" name=""/>
          <p:cNvSpPr/>
          <p:nvPr/>
        </p:nvSpPr>
        <p:spPr>
          <a:xfrm>
            <a:off x="710280" y="5005440"/>
            <a:ext cx="2724480" cy="802800"/>
          </a:xfrm>
          <a:custGeom>
            <a:avLst/>
            <a:gdLst/>
            <a:ahLst/>
            <a:rect l="0" t="0" r="r" b="b"/>
            <a:pathLst>
              <a:path w="7568" h="2230">
                <a:moveTo>
                  <a:pt x="0" y="2137"/>
                </a:moveTo>
                <a:lnTo>
                  <a:pt x="0" y="93"/>
                </a:lnTo>
                <a:cubicBezTo>
                  <a:pt x="0" y="81"/>
                  <a:pt x="2" y="69"/>
                  <a:pt x="7" y="57"/>
                </a:cubicBezTo>
                <a:cubicBezTo>
                  <a:pt x="11" y="46"/>
                  <a:pt x="18" y="36"/>
                  <a:pt x="27" y="27"/>
                </a:cubicBezTo>
                <a:cubicBezTo>
                  <a:pt x="36" y="19"/>
                  <a:pt x="46" y="12"/>
                  <a:pt x="57" y="7"/>
                </a:cubicBezTo>
                <a:cubicBezTo>
                  <a:pt x="68" y="2"/>
                  <a:pt x="80" y="0"/>
                  <a:pt x="92" y="0"/>
                </a:cubicBezTo>
                <a:lnTo>
                  <a:pt x="7475" y="0"/>
                </a:lnTo>
                <a:cubicBezTo>
                  <a:pt x="7488" y="0"/>
                  <a:pt x="7499" y="2"/>
                  <a:pt x="7511" y="7"/>
                </a:cubicBezTo>
                <a:cubicBezTo>
                  <a:pt x="7522" y="12"/>
                  <a:pt x="7532" y="19"/>
                  <a:pt x="7541" y="27"/>
                </a:cubicBezTo>
                <a:cubicBezTo>
                  <a:pt x="7550" y="36"/>
                  <a:pt x="7556" y="46"/>
                  <a:pt x="7561" y="57"/>
                </a:cubicBezTo>
                <a:cubicBezTo>
                  <a:pt x="7566" y="69"/>
                  <a:pt x="7568" y="81"/>
                  <a:pt x="7568" y="93"/>
                </a:cubicBezTo>
                <a:lnTo>
                  <a:pt x="7568" y="2137"/>
                </a:lnTo>
                <a:cubicBezTo>
                  <a:pt x="7568" y="2149"/>
                  <a:pt x="7566" y="2161"/>
                  <a:pt x="7561" y="2172"/>
                </a:cubicBezTo>
                <a:cubicBezTo>
                  <a:pt x="7556" y="2184"/>
                  <a:pt x="7550" y="2194"/>
                  <a:pt x="7541" y="2202"/>
                </a:cubicBezTo>
                <a:cubicBezTo>
                  <a:pt x="7532" y="2211"/>
                  <a:pt x="7522" y="2218"/>
                  <a:pt x="7511" y="2223"/>
                </a:cubicBezTo>
                <a:cubicBezTo>
                  <a:pt x="7499" y="2227"/>
                  <a:pt x="7488" y="2230"/>
                  <a:pt x="7475" y="2230"/>
                </a:cubicBezTo>
                <a:lnTo>
                  <a:pt x="92" y="2230"/>
                </a:lnTo>
                <a:cubicBezTo>
                  <a:pt x="80" y="2230"/>
                  <a:pt x="68" y="2227"/>
                  <a:pt x="57" y="2223"/>
                </a:cubicBezTo>
                <a:cubicBezTo>
                  <a:pt x="46" y="2218"/>
                  <a:pt x="36" y="2211"/>
                  <a:pt x="27" y="2202"/>
                </a:cubicBezTo>
                <a:cubicBezTo>
                  <a:pt x="18" y="2194"/>
                  <a:pt x="11" y="2184"/>
                  <a:pt x="7" y="2172"/>
                </a:cubicBezTo>
                <a:cubicBezTo>
                  <a:pt x="2" y="2161"/>
                  <a:pt x="0" y="2149"/>
                  <a:pt x="0" y="2137"/>
                </a:cubicBezTo>
                <a:close/>
              </a:path>
            </a:pathLst>
          </a:custGeom>
          <a:solidFill>
            <a:srgbClr val="ffffff">
              <a:alpha val="5000"/>
            </a:srgbClr>
          </a:solidFill>
          <a:ln w="0">
            <a:noFill/>
          </a:ln>
        </p:spPr>
        <p:txBody>
          <a:bodyPr lIns="0" rIns="0" tIns="0" bIns="0" anchor="t">
            <a:noAutofit/>
          </a:bodyPr>
          <a:p>
            <a:endParaRPr b="0" lang="en-US" sz="2400" strike="noStrike" u="none">
              <a:solidFill>
                <a:srgbClr val="000000"/>
              </a:solidFill>
              <a:effectLst/>
              <a:uFillTx/>
              <a:latin typeface="Times New Roman"/>
            </a:endParaRPr>
          </a:p>
        </p:txBody>
      </p:sp>
      <p:pic>
        <p:nvPicPr>
          <p:cNvPr id="461" name="" descr=""/>
          <p:cNvPicPr/>
          <p:nvPr/>
        </p:nvPicPr>
        <p:blipFill>
          <a:blip r:embed="rId3"/>
          <a:stretch/>
        </p:blipFill>
        <p:spPr>
          <a:xfrm>
            <a:off x="710280" y="3935880"/>
            <a:ext cx="200160" cy="267120"/>
          </a:xfrm>
          <a:prstGeom prst="rect">
            <a:avLst/>
          </a:prstGeom>
          <a:noFill/>
          <a:ln w="0">
            <a:noFill/>
          </a:ln>
        </p:spPr>
      </p:pic>
      <p:sp>
        <p:nvSpPr>
          <p:cNvPr id="462" name=""/>
          <p:cNvSpPr txBox="1"/>
          <p:nvPr/>
        </p:nvSpPr>
        <p:spPr>
          <a:xfrm>
            <a:off x="534960" y="3390480"/>
            <a:ext cx="2213640" cy="291600"/>
          </a:xfrm>
          <a:prstGeom prst="rect">
            <a:avLst/>
          </a:prstGeom>
          <a:noFill/>
          <a:ln w="0">
            <a:noFill/>
          </a:ln>
        </p:spPr>
        <p:txBody>
          <a:bodyPr wrap="none" lIns="0" rIns="0" tIns="0" bIns="0" anchor="t">
            <a:spAutoFit/>
          </a:bodyPr>
          <a:p>
            <a:r>
              <a:rPr b="0" lang="zh-CN" sz="1580" strike="noStrike" u="none">
                <a:solidFill>
                  <a:srgbClr val="a7c6d9"/>
                </a:solidFill>
                <a:effectLst/>
                <a:uFillTx/>
                <a:latin typeface="NotoSansJP"/>
                <a:ea typeface="NotoSansJP"/>
              </a:rPr>
              <a:t>エイリアシング対策手法</a:t>
            </a:r>
            <a:endParaRPr b="0" lang="en-US" sz="1580" strike="noStrike" u="none">
              <a:solidFill>
                <a:srgbClr val="000000"/>
              </a:solidFill>
              <a:effectLst/>
              <a:uFillTx/>
              <a:latin typeface="Times New Roman"/>
            </a:endParaRPr>
          </a:p>
        </p:txBody>
      </p:sp>
      <p:sp>
        <p:nvSpPr>
          <p:cNvPr id="463" name=""/>
          <p:cNvSpPr txBox="1"/>
          <p:nvPr/>
        </p:nvSpPr>
        <p:spPr>
          <a:xfrm>
            <a:off x="1044720" y="3981600"/>
            <a:ext cx="1844640" cy="244080"/>
          </a:xfrm>
          <a:prstGeom prst="rect">
            <a:avLst/>
          </a:prstGeom>
          <a:noFill/>
          <a:ln w="0">
            <a:noFill/>
          </a:ln>
        </p:spPr>
        <p:txBody>
          <a:bodyPr wrap="none" lIns="0" rIns="0" tIns="0" bIns="0" anchor="t">
            <a:spAutoFit/>
          </a:bodyPr>
          <a:p>
            <a:r>
              <a:rPr b="0" lang="zh-CN" sz="1320" strike="noStrike" u="none">
                <a:solidFill>
                  <a:srgbClr val="ffffff"/>
                </a:solidFill>
                <a:effectLst/>
                <a:uFillTx/>
                <a:latin typeface="NotoSansJP"/>
                <a:ea typeface="NotoSansJP"/>
              </a:rPr>
              <a:t>帯域制限角スペクトル法</a:t>
            </a:r>
            <a:endParaRPr b="0" lang="en-US" sz="1320" strike="noStrike" u="none">
              <a:solidFill>
                <a:srgbClr val="000000"/>
              </a:solidFill>
              <a:effectLst/>
              <a:uFillTx/>
              <a:latin typeface="Times New Roman"/>
            </a:endParaRPr>
          </a:p>
        </p:txBody>
      </p:sp>
      <p:sp>
        <p:nvSpPr>
          <p:cNvPr id="464" name=""/>
          <p:cNvSpPr txBox="1"/>
          <p:nvPr/>
        </p:nvSpPr>
        <p:spPr>
          <a:xfrm>
            <a:off x="710280" y="4338360"/>
            <a:ext cx="2683080" cy="194040"/>
          </a:xfrm>
          <a:prstGeom prst="rect">
            <a:avLst/>
          </a:prstGeom>
          <a:noFill/>
          <a:ln w="0">
            <a:noFill/>
          </a:ln>
        </p:spPr>
        <p:txBody>
          <a:bodyPr wrap="none" lIns="0" rIns="0" tIns="0" bIns="0" anchor="t">
            <a:spAutoFit/>
          </a:bodyPr>
          <a:p>
            <a:r>
              <a:rPr b="0" lang="zh-CN" sz="1050" strike="noStrike" u="none">
                <a:solidFill>
                  <a:srgbClr val="a7c6d9"/>
                </a:solidFill>
                <a:effectLst/>
                <a:uFillTx/>
                <a:latin typeface="NotoSansJP"/>
                <a:ea typeface="NotoSansJP"/>
              </a:rPr>
              <a:t>伝達関数が急激に変化する高周波領域をフィ</a:t>
            </a:r>
            <a:endParaRPr b="0" lang="en-US" sz="1050" strike="noStrike" u="none">
              <a:solidFill>
                <a:srgbClr val="000000"/>
              </a:solidFill>
              <a:effectLst/>
              <a:uFillTx/>
              <a:latin typeface="Times New Roman"/>
            </a:endParaRPr>
          </a:p>
        </p:txBody>
      </p:sp>
      <p:sp>
        <p:nvSpPr>
          <p:cNvPr id="465" name=""/>
          <p:cNvSpPr txBox="1"/>
          <p:nvPr/>
        </p:nvSpPr>
        <p:spPr>
          <a:xfrm>
            <a:off x="710280" y="4538880"/>
            <a:ext cx="2683080" cy="194040"/>
          </a:xfrm>
          <a:prstGeom prst="rect">
            <a:avLst/>
          </a:prstGeom>
          <a:noFill/>
          <a:ln w="0">
            <a:noFill/>
          </a:ln>
        </p:spPr>
        <p:txBody>
          <a:bodyPr wrap="none" lIns="0" rIns="0" tIns="0" bIns="0" anchor="t">
            <a:spAutoFit/>
          </a:bodyPr>
          <a:p>
            <a:r>
              <a:rPr b="0" lang="zh-CN" sz="1050" strike="noStrike" u="none">
                <a:solidFill>
                  <a:srgbClr val="a7c6d9"/>
                </a:solidFill>
                <a:effectLst/>
                <a:uFillTx/>
                <a:latin typeface="NotoSansJP"/>
                <a:ea typeface="NotoSansJP"/>
              </a:rPr>
              <a:t>ルタリングしてエイリアシングを抑制する手</a:t>
            </a:r>
            <a:endParaRPr b="0" lang="en-US" sz="1050" strike="noStrike" u="none">
              <a:solidFill>
                <a:srgbClr val="000000"/>
              </a:solidFill>
              <a:effectLst/>
              <a:uFillTx/>
              <a:latin typeface="Times New Roman"/>
            </a:endParaRPr>
          </a:p>
        </p:txBody>
      </p:sp>
      <p:pic>
        <p:nvPicPr>
          <p:cNvPr id="466" name="" descr=""/>
          <p:cNvPicPr/>
          <p:nvPr/>
        </p:nvPicPr>
        <p:blipFill>
          <a:blip r:embed="rId4"/>
          <a:stretch/>
        </p:blipFill>
        <p:spPr>
          <a:xfrm>
            <a:off x="777240" y="5105880"/>
            <a:ext cx="100080" cy="116640"/>
          </a:xfrm>
          <a:prstGeom prst="rect">
            <a:avLst/>
          </a:prstGeom>
          <a:noFill/>
          <a:ln w="0">
            <a:noFill/>
          </a:ln>
        </p:spPr>
      </p:pic>
      <p:sp>
        <p:nvSpPr>
          <p:cNvPr id="467" name=""/>
          <p:cNvSpPr txBox="1"/>
          <p:nvPr/>
        </p:nvSpPr>
        <p:spPr>
          <a:xfrm>
            <a:off x="710280" y="4739400"/>
            <a:ext cx="135000" cy="194040"/>
          </a:xfrm>
          <a:prstGeom prst="rect">
            <a:avLst/>
          </a:prstGeom>
          <a:noFill/>
          <a:ln w="0">
            <a:noFill/>
          </a:ln>
        </p:spPr>
        <p:txBody>
          <a:bodyPr wrap="none" lIns="0" rIns="0" tIns="0" bIns="0" anchor="t">
            <a:spAutoFit/>
          </a:bodyPr>
          <a:p>
            <a:r>
              <a:rPr b="0" lang="zh-CN" sz="1050" strike="noStrike" u="none">
                <a:solidFill>
                  <a:srgbClr val="a7c6d9"/>
                </a:solidFill>
                <a:effectLst/>
                <a:uFillTx/>
                <a:latin typeface="NotoSansJP"/>
                <a:ea typeface="NotoSansJP"/>
              </a:rPr>
              <a:t>法</a:t>
            </a:r>
            <a:endParaRPr b="0" lang="en-US" sz="1050" strike="noStrike" u="none">
              <a:solidFill>
                <a:srgbClr val="000000"/>
              </a:solidFill>
              <a:effectLst/>
              <a:uFillTx/>
              <a:latin typeface="Times New Roman"/>
            </a:endParaRPr>
          </a:p>
        </p:txBody>
      </p:sp>
      <p:sp>
        <p:nvSpPr>
          <p:cNvPr id="468" name=""/>
          <p:cNvSpPr txBox="1"/>
          <p:nvPr/>
        </p:nvSpPr>
        <p:spPr>
          <a:xfrm>
            <a:off x="944280" y="5097600"/>
            <a:ext cx="2347560" cy="169560"/>
          </a:xfrm>
          <a:prstGeom prst="rect">
            <a:avLst/>
          </a:prstGeom>
          <a:noFill/>
          <a:ln w="0">
            <a:noFill/>
          </a:ln>
        </p:spPr>
        <p:txBody>
          <a:bodyPr wrap="none" lIns="0" rIns="0" tIns="0" bIns="0" anchor="t">
            <a:spAutoFit/>
          </a:bodyPr>
          <a:p>
            <a:r>
              <a:rPr b="0" lang="zh-CN" sz="920" strike="noStrike" u="none">
                <a:solidFill>
                  <a:srgbClr val="ffffff"/>
                </a:solidFill>
                <a:effectLst/>
                <a:uFillTx/>
                <a:latin typeface="NotoSansJP"/>
                <a:ea typeface="NotoSansJP"/>
              </a:rPr>
              <a:t>ナイキスト周波数近傍で伝達関数を滑らかに</a:t>
            </a:r>
            <a:endParaRPr b="0" lang="en-US" sz="920" strike="noStrike" u="none">
              <a:solidFill>
                <a:srgbClr val="000000"/>
              </a:solidFill>
              <a:effectLst/>
              <a:uFillTx/>
              <a:latin typeface="Times New Roman"/>
            </a:endParaRPr>
          </a:p>
        </p:txBody>
      </p:sp>
      <p:pic>
        <p:nvPicPr>
          <p:cNvPr id="469" name="" descr=""/>
          <p:cNvPicPr/>
          <p:nvPr/>
        </p:nvPicPr>
        <p:blipFill>
          <a:blip r:embed="rId5"/>
          <a:stretch/>
        </p:blipFill>
        <p:spPr>
          <a:xfrm>
            <a:off x="777240" y="5440320"/>
            <a:ext cx="100080" cy="116640"/>
          </a:xfrm>
          <a:prstGeom prst="rect">
            <a:avLst/>
          </a:prstGeom>
          <a:noFill/>
          <a:ln w="0">
            <a:noFill/>
          </a:ln>
        </p:spPr>
      </p:pic>
      <p:sp>
        <p:nvSpPr>
          <p:cNvPr id="470" name=""/>
          <p:cNvSpPr txBox="1"/>
          <p:nvPr/>
        </p:nvSpPr>
        <p:spPr>
          <a:xfrm>
            <a:off x="777240" y="5264640"/>
            <a:ext cx="235440" cy="169560"/>
          </a:xfrm>
          <a:prstGeom prst="rect">
            <a:avLst/>
          </a:prstGeom>
          <a:noFill/>
          <a:ln w="0">
            <a:noFill/>
          </a:ln>
        </p:spPr>
        <p:txBody>
          <a:bodyPr wrap="none" lIns="0" rIns="0" tIns="0" bIns="0" anchor="t">
            <a:spAutoFit/>
          </a:bodyPr>
          <a:p>
            <a:r>
              <a:rPr b="0" lang="zh-CN" sz="920" strike="noStrike" u="none">
                <a:solidFill>
                  <a:srgbClr val="ffffff"/>
                </a:solidFill>
                <a:effectLst/>
                <a:uFillTx/>
                <a:latin typeface="NotoSansJP"/>
                <a:ea typeface="NotoSansJP"/>
              </a:rPr>
              <a:t>減衰</a:t>
            </a:r>
            <a:endParaRPr b="0" lang="en-US" sz="920" strike="noStrike" u="none">
              <a:solidFill>
                <a:srgbClr val="000000"/>
              </a:solidFill>
              <a:effectLst/>
              <a:uFillTx/>
              <a:latin typeface="Times New Roman"/>
            </a:endParaRPr>
          </a:p>
        </p:txBody>
      </p:sp>
      <p:sp>
        <p:nvSpPr>
          <p:cNvPr id="471" name=""/>
          <p:cNvSpPr txBox="1"/>
          <p:nvPr/>
        </p:nvSpPr>
        <p:spPr>
          <a:xfrm>
            <a:off x="944280" y="5432040"/>
            <a:ext cx="2347560" cy="169560"/>
          </a:xfrm>
          <a:prstGeom prst="rect">
            <a:avLst/>
          </a:prstGeom>
          <a:noFill/>
          <a:ln w="0">
            <a:noFill/>
          </a:ln>
        </p:spPr>
        <p:txBody>
          <a:bodyPr wrap="none" lIns="0" rIns="0" tIns="0" bIns="0" anchor="t">
            <a:spAutoFit/>
          </a:bodyPr>
          <a:p>
            <a:r>
              <a:rPr b="0" lang="zh-CN" sz="920" strike="noStrike" u="none">
                <a:solidFill>
                  <a:srgbClr val="ffffff"/>
                </a:solidFill>
                <a:effectLst/>
                <a:uFillTx/>
                <a:latin typeface="NotoSansJP"/>
                <a:ea typeface="NotoSansJP"/>
              </a:rPr>
              <a:t>高周波成分のカットオフによる影響は通常小</a:t>
            </a:r>
            <a:endParaRPr b="0" lang="en-US" sz="920" strike="noStrike" u="none">
              <a:solidFill>
                <a:srgbClr val="000000"/>
              </a:solidFill>
              <a:effectLst/>
              <a:uFillTx/>
              <a:latin typeface="Times New Roman"/>
            </a:endParaRPr>
          </a:p>
        </p:txBody>
      </p:sp>
      <p:sp>
        <p:nvSpPr>
          <p:cNvPr id="472" name=""/>
          <p:cNvSpPr/>
          <p:nvPr/>
        </p:nvSpPr>
        <p:spPr>
          <a:xfrm>
            <a:off x="3810600" y="3760200"/>
            <a:ext cx="3075480" cy="2223360"/>
          </a:xfrm>
          <a:custGeom>
            <a:avLst/>
            <a:gdLst/>
            <a:ahLst/>
            <a:rect l="0" t="0" r="r" b="b"/>
            <a:pathLst>
              <a:path w="8543" h="6176">
                <a:moveTo>
                  <a:pt x="0" y="5990"/>
                </a:moveTo>
                <a:lnTo>
                  <a:pt x="0" y="186"/>
                </a:lnTo>
                <a:cubicBezTo>
                  <a:pt x="0" y="161"/>
                  <a:pt x="4" y="138"/>
                  <a:pt x="14" y="115"/>
                </a:cubicBezTo>
                <a:cubicBezTo>
                  <a:pt x="23" y="92"/>
                  <a:pt x="37" y="72"/>
                  <a:pt x="54" y="55"/>
                </a:cubicBezTo>
                <a:cubicBezTo>
                  <a:pt x="71" y="37"/>
                  <a:pt x="92" y="24"/>
                  <a:pt x="114" y="15"/>
                </a:cubicBezTo>
                <a:cubicBezTo>
                  <a:pt x="137" y="5"/>
                  <a:pt x="161" y="0"/>
                  <a:pt x="185" y="0"/>
                </a:cubicBezTo>
                <a:lnTo>
                  <a:pt x="8357" y="0"/>
                </a:lnTo>
                <a:cubicBezTo>
                  <a:pt x="8382" y="0"/>
                  <a:pt x="8406" y="5"/>
                  <a:pt x="8428" y="15"/>
                </a:cubicBezTo>
                <a:cubicBezTo>
                  <a:pt x="8451" y="24"/>
                  <a:pt x="8471" y="37"/>
                  <a:pt x="8489" y="55"/>
                </a:cubicBezTo>
                <a:cubicBezTo>
                  <a:pt x="8506" y="72"/>
                  <a:pt x="8519" y="92"/>
                  <a:pt x="8529" y="115"/>
                </a:cubicBezTo>
                <a:cubicBezTo>
                  <a:pt x="8538" y="138"/>
                  <a:pt x="8543" y="161"/>
                  <a:pt x="8543" y="186"/>
                </a:cubicBezTo>
                <a:lnTo>
                  <a:pt x="8543" y="5990"/>
                </a:lnTo>
                <a:cubicBezTo>
                  <a:pt x="8543" y="6015"/>
                  <a:pt x="8538" y="6039"/>
                  <a:pt x="8529" y="6061"/>
                </a:cubicBezTo>
                <a:cubicBezTo>
                  <a:pt x="8519" y="6084"/>
                  <a:pt x="8506" y="6104"/>
                  <a:pt x="8489" y="6122"/>
                </a:cubicBezTo>
                <a:cubicBezTo>
                  <a:pt x="8471" y="6139"/>
                  <a:pt x="8451" y="6152"/>
                  <a:pt x="8428" y="6162"/>
                </a:cubicBezTo>
                <a:cubicBezTo>
                  <a:pt x="8406" y="6171"/>
                  <a:pt x="8382" y="6176"/>
                  <a:pt x="8357" y="6176"/>
                </a:cubicBezTo>
                <a:lnTo>
                  <a:pt x="185" y="6176"/>
                </a:lnTo>
                <a:cubicBezTo>
                  <a:pt x="161" y="6176"/>
                  <a:pt x="137" y="6171"/>
                  <a:pt x="114" y="6162"/>
                </a:cubicBezTo>
                <a:cubicBezTo>
                  <a:pt x="92" y="6152"/>
                  <a:pt x="71" y="6139"/>
                  <a:pt x="54" y="6122"/>
                </a:cubicBezTo>
                <a:cubicBezTo>
                  <a:pt x="37" y="6104"/>
                  <a:pt x="23" y="6084"/>
                  <a:pt x="14" y="6061"/>
                </a:cubicBezTo>
                <a:cubicBezTo>
                  <a:pt x="4" y="6039"/>
                  <a:pt x="0" y="6015"/>
                  <a:pt x="0" y="5990"/>
                </a:cubicBezTo>
                <a:close/>
              </a:path>
            </a:pathLst>
          </a:custGeom>
          <a:solidFill>
            <a:srgbClr val="ffffff">
              <a:alpha val="10000"/>
            </a:srgbClr>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473" name=""/>
          <p:cNvSpPr/>
          <p:nvPr/>
        </p:nvSpPr>
        <p:spPr>
          <a:xfrm>
            <a:off x="3810600" y="3760200"/>
            <a:ext cx="3075480" cy="2223360"/>
          </a:xfrm>
          <a:custGeom>
            <a:avLst/>
            <a:gdLst/>
            <a:ahLst/>
            <a:rect l="0" t="0" r="r" b="b"/>
            <a:pathLst>
              <a:path w="8543" h="6176">
                <a:moveTo>
                  <a:pt x="0" y="5990"/>
                </a:moveTo>
                <a:lnTo>
                  <a:pt x="0" y="186"/>
                </a:lnTo>
                <a:cubicBezTo>
                  <a:pt x="0" y="161"/>
                  <a:pt x="4" y="138"/>
                  <a:pt x="14" y="115"/>
                </a:cubicBezTo>
                <a:cubicBezTo>
                  <a:pt x="23" y="92"/>
                  <a:pt x="37" y="72"/>
                  <a:pt x="54" y="55"/>
                </a:cubicBezTo>
                <a:cubicBezTo>
                  <a:pt x="71" y="37"/>
                  <a:pt x="92" y="24"/>
                  <a:pt x="114" y="15"/>
                </a:cubicBezTo>
                <a:cubicBezTo>
                  <a:pt x="137" y="5"/>
                  <a:pt x="161" y="0"/>
                  <a:pt x="185" y="0"/>
                </a:cubicBezTo>
                <a:lnTo>
                  <a:pt x="8357" y="0"/>
                </a:lnTo>
                <a:cubicBezTo>
                  <a:pt x="8382" y="0"/>
                  <a:pt x="8406" y="5"/>
                  <a:pt x="8428" y="15"/>
                </a:cubicBezTo>
                <a:cubicBezTo>
                  <a:pt x="8451" y="24"/>
                  <a:pt x="8471" y="37"/>
                  <a:pt x="8489" y="55"/>
                </a:cubicBezTo>
                <a:cubicBezTo>
                  <a:pt x="8506" y="72"/>
                  <a:pt x="8519" y="92"/>
                  <a:pt x="8529" y="115"/>
                </a:cubicBezTo>
                <a:cubicBezTo>
                  <a:pt x="8538" y="138"/>
                  <a:pt x="8543" y="161"/>
                  <a:pt x="8543" y="186"/>
                </a:cubicBezTo>
                <a:lnTo>
                  <a:pt x="8543" y="5990"/>
                </a:lnTo>
                <a:cubicBezTo>
                  <a:pt x="8543" y="6015"/>
                  <a:pt x="8538" y="6039"/>
                  <a:pt x="8529" y="6061"/>
                </a:cubicBezTo>
                <a:cubicBezTo>
                  <a:pt x="8519" y="6084"/>
                  <a:pt x="8506" y="6104"/>
                  <a:pt x="8489" y="6122"/>
                </a:cubicBezTo>
                <a:cubicBezTo>
                  <a:pt x="8471" y="6139"/>
                  <a:pt x="8451" y="6152"/>
                  <a:pt x="8428" y="6162"/>
                </a:cubicBezTo>
                <a:cubicBezTo>
                  <a:pt x="8406" y="6171"/>
                  <a:pt x="8382" y="6176"/>
                  <a:pt x="8357" y="6176"/>
                </a:cubicBezTo>
                <a:lnTo>
                  <a:pt x="185" y="6176"/>
                </a:lnTo>
                <a:cubicBezTo>
                  <a:pt x="161" y="6176"/>
                  <a:pt x="137" y="6171"/>
                  <a:pt x="114" y="6162"/>
                </a:cubicBezTo>
                <a:cubicBezTo>
                  <a:pt x="92" y="6152"/>
                  <a:pt x="71" y="6139"/>
                  <a:pt x="54" y="6122"/>
                </a:cubicBezTo>
                <a:cubicBezTo>
                  <a:pt x="37" y="6104"/>
                  <a:pt x="23" y="6084"/>
                  <a:pt x="14" y="6061"/>
                </a:cubicBezTo>
                <a:cubicBezTo>
                  <a:pt x="4" y="6039"/>
                  <a:pt x="0" y="6015"/>
                  <a:pt x="0" y="5990"/>
                </a:cubicBezTo>
                <a:moveTo>
                  <a:pt x="23" y="186"/>
                </a:moveTo>
                <a:lnTo>
                  <a:pt x="23" y="5990"/>
                </a:lnTo>
                <a:cubicBezTo>
                  <a:pt x="23" y="6001"/>
                  <a:pt x="24" y="6012"/>
                  <a:pt x="26" y="6022"/>
                </a:cubicBezTo>
                <a:cubicBezTo>
                  <a:pt x="28" y="6033"/>
                  <a:pt x="31" y="6043"/>
                  <a:pt x="35" y="6053"/>
                </a:cubicBezTo>
                <a:cubicBezTo>
                  <a:pt x="39" y="6062"/>
                  <a:pt x="44" y="6072"/>
                  <a:pt x="50" y="6081"/>
                </a:cubicBezTo>
                <a:cubicBezTo>
                  <a:pt x="56" y="6089"/>
                  <a:pt x="63" y="6098"/>
                  <a:pt x="70" y="6105"/>
                </a:cubicBezTo>
                <a:cubicBezTo>
                  <a:pt x="78" y="6113"/>
                  <a:pt x="86" y="6120"/>
                  <a:pt x="95" y="6125"/>
                </a:cubicBezTo>
                <a:cubicBezTo>
                  <a:pt x="104" y="6131"/>
                  <a:pt x="113" y="6136"/>
                  <a:pt x="123" y="6140"/>
                </a:cubicBezTo>
                <a:cubicBezTo>
                  <a:pt x="133" y="6145"/>
                  <a:pt x="143" y="6148"/>
                  <a:pt x="154" y="6150"/>
                </a:cubicBezTo>
                <a:cubicBezTo>
                  <a:pt x="164" y="6152"/>
                  <a:pt x="175" y="6153"/>
                  <a:pt x="185" y="6153"/>
                </a:cubicBezTo>
                <a:lnTo>
                  <a:pt x="8357" y="6153"/>
                </a:lnTo>
                <a:cubicBezTo>
                  <a:pt x="8368" y="6153"/>
                  <a:pt x="8379" y="6152"/>
                  <a:pt x="8389" y="6150"/>
                </a:cubicBezTo>
                <a:cubicBezTo>
                  <a:pt x="8400" y="6148"/>
                  <a:pt x="8410" y="6145"/>
                  <a:pt x="8420" y="6140"/>
                </a:cubicBezTo>
                <a:cubicBezTo>
                  <a:pt x="8429" y="6136"/>
                  <a:pt x="8439" y="6131"/>
                  <a:pt x="8448" y="6125"/>
                </a:cubicBezTo>
                <a:cubicBezTo>
                  <a:pt x="8456" y="6120"/>
                  <a:pt x="8465" y="6113"/>
                  <a:pt x="8472" y="6105"/>
                </a:cubicBezTo>
                <a:cubicBezTo>
                  <a:pt x="8480" y="6098"/>
                  <a:pt x="8487" y="6089"/>
                  <a:pt x="8492" y="6081"/>
                </a:cubicBezTo>
                <a:cubicBezTo>
                  <a:pt x="8498" y="6072"/>
                  <a:pt x="8503" y="6062"/>
                  <a:pt x="8507" y="6053"/>
                </a:cubicBezTo>
                <a:cubicBezTo>
                  <a:pt x="8512" y="6043"/>
                  <a:pt x="8515" y="6033"/>
                  <a:pt x="8517" y="6022"/>
                </a:cubicBezTo>
                <a:cubicBezTo>
                  <a:pt x="8519" y="6012"/>
                  <a:pt x="8520" y="6001"/>
                  <a:pt x="8520" y="5990"/>
                </a:cubicBezTo>
                <a:lnTo>
                  <a:pt x="8520" y="186"/>
                </a:lnTo>
                <a:cubicBezTo>
                  <a:pt x="8520" y="175"/>
                  <a:pt x="8519" y="165"/>
                  <a:pt x="8517" y="154"/>
                </a:cubicBezTo>
                <a:cubicBezTo>
                  <a:pt x="8515" y="144"/>
                  <a:pt x="8512" y="134"/>
                  <a:pt x="8507" y="124"/>
                </a:cubicBezTo>
                <a:cubicBezTo>
                  <a:pt x="8503" y="114"/>
                  <a:pt x="8498" y="105"/>
                  <a:pt x="8492" y="96"/>
                </a:cubicBezTo>
                <a:cubicBezTo>
                  <a:pt x="8487" y="87"/>
                  <a:pt x="8480" y="79"/>
                  <a:pt x="8472" y="71"/>
                </a:cubicBezTo>
                <a:cubicBezTo>
                  <a:pt x="8465" y="64"/>
                  <a:pt x="8456" y="57"/>
                  <a:pt x="8448" y="51"/>
                </a:cubicBezTo>
                <a:cubicBezTo>
                  <a:pt x="8439" y="45"/>
                  <a:pt x="8429" y="40"/>
                  <a:pt x="8420" y="36"/>
                </a:cubicBezTo>
                <a:cubicBezTo>
                  <a:pt x="8410" y="32"/>
                  <a:pt x="8400" y="29"/>
                  <a:pt x="8389" y="27"/>
                </a:cubicBezTo>
                <a:cubicBezTo>
                  <a:pt x="8379" y="25"/>
                  <a:pt x="8368" y="24"/>
                  <a:pt x="8357" y="24"/>
                </a:cubicBezTo>
                <a:lnTo>
                  <a:pt x="185" y="24"/>
                </a:lnTo>
                <a:cubicBezTo>
                  <a:pt x="175" y="24"/>
                  <a:pt x="164" y="25"/>
                  <a:pt x="154" y="27"/>
                </a:cubicBezTo>
                <a:cubicBezTo>
                  <a:pt x="143" y="29"/>
                  <a:pt x="133" y="32"/>
                  <a:pt x="123" y="36"/>
                </a:cubicBezTo>
                <a:cubicBezTo>
                  <a:pt x="113" y="40"/>
                  <a:pt x="104" y="45"/>
                  <a:pt x="95" y="51"/>
                </a:cubicBezTo>
                <a:cubicBezTo>
                  <a:pt x="86" y="57"/>
                  <a:pt x="78" y="64"/>
                  <a:pt x="70" y="71"/>
                </a:cubicBezTo>
                <a:cubicBezTo>
                  <a:pt x="63" y="79"/>
                  <a:pt x="56" y="87"/>
                  <a:pt x="50" y="96"/>
                </a:cubicBezTo>
                <a:cubicBezTo>
                  <a:pt x="44" y="105"/>
                  <a:pt x="39" y="114"/>
                  <a:pt x="35" y="124"/>
                </a:cubicBezTo>
                <a:cubicBezTo>
                  <a:pt x="31" y="134"/>
                  <a:pt x="28" y="144"/>
                  <a:pt x="26" y="154"/>
                </a:cubicBezTo>
                <a:cubicBezTo>
                  <a:pt x="24" y="165"/>
                  <a:pt x="23" y="175"/>
                  <a:pt x="23" y="186"/>
                </a:cubicBezTo>
                <a:close/>
              </a:path>
            </a:pathLst>
          </a:custGeom>
          <a:solidFill>
            <a:srgbClr val="a7c6d9">
              <a:alpha val="30000"/>
            </a:srgbClr>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474" name=""/>
          <p:cNvSpPr/>
          <p:nvPr/>
        </p:nvSpPr>
        <p:spPr>
          <a:xfrm>
            <a:off x="3985920" y="4804920"/>
            <a:ext cx="2724840" cy="468360"/>
          </a:xfrm>
          <a:custGeom>
            <a:avLst/>
            <a:gdLst/>
            <a:ahLst/>
            <a:rect l="0" t="0" r="r" b="b"/>
            <a:pathLst>
              <a:path w="7569" h="1301">
                <a:moveTo>
                  <a:pt x="0" y="1208"/>
                </a:moveTo>
                <a:lnTo>
                  <a:pt x="0" y="93"/>
                </a:lnTo>
                <a:cubicBezTo>
                  <a:pt x="0" y="81"/>
                  <a:pt x="2" y="69"/>
                  <a:pt x="7" y="57"/>
                </a:cubicBezTo>
                <a:cubicBezTo>
                  <a:pt x="12" y="46"/>
                  <a:pt x="19" y="36"/>
                  <a:pt x="27" y="27"/>
                </a:cubicBezTo>
                <a:cubicBezTo>
                  <a:pt x="36" y="18"/>
                  <a:pt x="46" y="12"/>
                  <a:pt x="57" y="7"/>
                </a:cubicBezTo>
                <a:cubicBezTo>
                  <a:pt x="69" y="2"/>
                  <a:pt x="81" y="0"/>
                  <a:pt x="93" y="0"/>
                </a:cubicBezTo>
                <a:lnTo>
                  <a:pt x="7476" y="0"/>
                </a:lnTo>
                <a:cubicBezTo>
                  <a:pt x="7488" y="0"/>
                  <a:pt x="7500" y="2"/>
                  <a:pt x="7511" y="7"/>
                </a:cubicBezTo>
                <a:cubicBezTo>
                  <a:pt x="7523" y="12"/>
                  <a:pt x="7533" y="18"/>
                  <a:pt x="7541" y="27"/>
                </a:cubicBezTo>
                <a:cubicBezTo>
                  <a:pt x="7550" y="36"/>
                  <a:pt x="7557" y="46"/>
                  <a:pt x="7562" y="57"/>
                </a:cubicBezTo>
                <a:cubicBezTo>
                  <a:pt x="7566" y="69"/>
                  <a:pt x="7569" y="81"/>
                  <a:pt x="7569" y="93"/>
                </a:cubicBezTo>
                <a:lnTo>
                  <a:pt x="7569" y="1208"/>
                </a:lnTo>
                <a:cubicBezTo>
                  <a:pt x="7569" y="1220"/>
                  <a:pt x="7566" y="1232"/>
                  <a:pt x="7562" y="1244"/>
                </a:cubicBezTo>
                <a:cubicBezTo>
                  <a:pt x="7557" y="1255"/>
                  <a:pt x="7550" y="1265"/>
                  <a:pt x="7541" y="1274"/>
                </a:cubicBezTo>
                <a:cubicBezTo>
                  <a:pt x="7533" y="1282"/>
                  <a:pt x="7523" y="1289"/>
                  <a:pt x="7511" y="1294"/>
                </a:cubicBezTo>
                <a:cubicBezTo>
                  <a:pt x="7500" y="1299"/>
                  <a:pt x="7488" y="1301"/>
                  <a:pt x="7476" y="1301"/>
                </a:cubicBezTo>
                <a:lnTo>
                  <a:pt x="93" y="1301"/>
                </a:lnTo>
                <a:cubicBezTo>
                  <a:pt x="81" y="1301"/>
                  <a:pt x="69" y="1299"/>
                  <a:pt x="57" y="1294"/>
                </a:cubicBezTo>
                <a:cubicBezTo>
                  <a:pt x="46" y="1289"/>
                  <a:pt x="36" y="1282"/>
                  <a:pt x="27" y="1274"/>
                </a:cubicBezTo>
                <a:cubicBezTo>
                  <a:pt x="19" y="1265"/>
                  <a:pt x="12" y="1255"/>
                  <a:pt x="7" y="1244"/>
                </a:cubicBezTo>
                <a:cubicBezTo>
                  <a:pt x="2" y="1232"/>
                  <a:pt x="0" y="1220"/>
                  <a:pt x="0" y="1208"/>
                </a:cubicBezTo>
                <a:close/>
              </a:path>
            </a:pathLst>
          </a:custGeom>
          <a:solidFill>
            <a:srgbClr val="ffffff">
              <a:alpha val="5000"/>
            </a:srgbClr>
          </a:solidFill>
          <a:ln w="0">
            <a:noFill/>
          </a:ln>
        </p:spPr>
        <p:txBody>
          <a:bodyPr lIns="0" rIns="0" tIns="0" bIns="0" anchor="t">
            <a:noAutofit/>
          </a:bodyPr>
          <a:p>
            <a:endParaRPr b="0" lang="en-US" sz="2400" strike="noStrike" u="none">
              <a:solidFill>
                <a:srgbClr val="000000"/>
              </a:solidFill>
              <a:effectLst/>
              <a:uFillTx/>
              <a:latin typeface="Times New Roman"/>
            </a:endParaRPr>
          </a:p>
        </p:txBody>
      </p:sp>
      <p:pic>
        <p:nvPicPr>
          <p:cNvPr id="475" name="" descr=""/>
          <p:cNvPicPr/>
          <p:nvPr/>
        </p:nvPicPr>
        <p:blipFill>
          <a:blip r:embed="rId6"/>
          <a:stretch/>
        </p:blipFill>
        <p:spPr>
          <a:xfrm>
            <a:off x="3986280" y="3935880"/>
            <a:ext cx="200160" cy="267120"/>
          </a:xfrm>
          <a:prstGeom prst="rect">
            <a:avLst/>
          </a:prstGeom>
          <a:noFill/>
          <a:ln w="0">
            <a:noFill/>
          </a:ln>
        </p:spPr>
      </p:pic>
      <p:sp>
        <p:nvSpPr>
          <p:cNvPr id="476" name=""/>
          <p:cNvSpPr txBox="1"/>
          <p:nvPr/>
        </p:nvSpPr>
        <p:spPr>
          <a:xfrm>
            <a:off x="777240" y="5599080"/>
            <a:ext cx="235440" cy="169560"/>
          </a:xfrm>
          <a:prstGeom prst="rect">
            <a:avLst/>
          </a:prstGeom>
          <a:noFill/>
          <a:ln w="0">
            <a:noFill/>
          </a:ln>
        </p:spPr>
        <p:txBody>
          <a:bodyPr wrap="none" lIns="0" rIns="0" tIns="0" bIns="0" anchor="t">
            <a:spAutoFit/>
          </a:bodyPr>
          <a:p>
            <a:r>
              <a:rPr b="0" lang="zh-CN" sz="920" strike="noStrike" u="none">
                <a:solidFill>
                  <a:srgbClr val="ffffff"/>
                </a:solidFill>
                <a:effectLst/>
                <a:uFillTx/>
                <a:latin typeface="NotoSansJP"/>
                <a:ea typeface="NotoSansJP"/>
              </a:rPr>
              <a:t>さい</a:t>
            </a:r>
            <a:endParaRPr b="0" lang="en-US" sz="920" strike="noStrike" u="none">
              <a:solidFill>
                <a:srgbClr val="000000"/>
              </a:solidFill>
              <a:effectLst/>
              <a:uFillTx/>
              <a:latin typeface="Times New Roman"/>
            </a:endParaRPr>
          </a:p>
        </p:txBody>
      </p:sp>
      <p:sp>
        <p:nvSpPr>
          <p:cNvPr id="477" name=""/>
          <p:cNvSpPr txBox="1"/>
          <p:nvPr/>
        </p:nvSpPr>
        <p:spPr>
          <a:xfrm>
            <a:off x="4320360" y="3981600"/>
            <a:ext cx="1509480" cy="244080"/>
          </a:xfrm>
          <a:prstGeom prst="rect">
            <a:avLst/>
          </a:prstGeom>
          <a:noFill/>
          <a:ln w="0">
            <a:noFill/>
          </a:ln>
        </p:spPr>
        <p:txBody>
          <a:bodyPr wrap="none" lIns="0" rIns="0" tIns="0" bIns="0" anchor="t">
            <a:spAutoFit/>
          </a:bodyPr>
          <a:p>
            <a:r>
              <a:rPr b="0" lang="zh-CN" sz="1320" strike="noStrike" u="none">
                <a:solidFill>
                  <a:srgbClr val="ffffff"/>
                </a:solidFill>
                <a:effectLst/>
                <a:uFillTx/>
                <a:latin typeface="NotoSansJP"/>
                <a:ea typeface="NotoSansJP"/>
              </a:rPr>
              <a:t>拡張角スペクトル法</a:t>
            </a:r>
            <a:endParaRPr b="0" lang="en-US" sz="1320" strike="noStrike" u="none">
              <a:solidFill>
                <a:srgbClr val="000000"/>
              </a:solidFill>
              <a:effectLst/>
              <a:uFillTx/>
              <a:latin typeface="Times New Roman"/>
            </a:endParaRPr>
          </a:p>
        </p:txBody>
      </p:sp>
      <p:sp>
        <p:nvSpPr>
          <p:cNvPr id="478" name=""/>
          <p:cNvSpPr txBox="1"/>
          <p:nvPr/>
        </p:nvSpPr>
        <p:spPr>
          <a:xfrm>
            <a:off x="3986280" y="4338360"/>
            <a:ext cx="2683080" cy="194040"/>
          </a:xfrm>
          <a:prstGeom prst="rect">
            <a:avLst/>
          </a:prstGeom>
          <a:noFill/>
          <a:ln w="0">
            <a:noFill/>
          </a:ln>
        </p:spPr>
        <p:txBody>
          <a:bodyPr wrap="none" lIns="0" rIns="0" tIns="0" bIns="0" anchor="t">
            <a:spAutoFit/>
          </a:bodyPr>
          <a:p>
            <a:r>
              <a:rPr b="0" lang="zh-CN" sz="1050" strike="noStrike" u="none">
                <a:solidFill>
                  <a:srgbClr val="a7c6d9"/>
                </a:solidFill>
                <a:effectLst/>
                <a:uFillTx/>
                <a:latin typeface="NotoSansJP"/>
                <a:ea typeface="NotoSansJP"/>
              </a:rPr>
              <a:t>計算領域を拡張（ゼロパディング）すること</a:t>
            </a:r>
            <a:endParaRPr b="0" lang="en-US" sz="1050" strike="noStrike" u="none">
              <a:solidFill>
                <a:srgbClr val="000000"/>
              </a:solidFill>
              <a:effectLst/>
              <a:uFillTx/>
              <a:latin typeface="Times New Roman"/>
            </a:endParaRPr>
          </a:p>
        </p:txBody>
      </p:sp>
      <p:pic>
        <p:nvPicPr>
          <p:cNvPr id="479" name="" descr=""/>
          <p:cNvPicPr/>
          <p:nvPr/>
        </p:nvPicPr>
        <p:blipFill>
          <a:blip r:embed="rId7"/>
          <a:stretch/>
        </p:blipFill>
        <p:spPr>
          <a:xfrm>
            <a:off x="4052880" y="4905360"/>
            <a:ext cx="100080" cy="116640"/>
          </a:xfrm>
          <a:prstGeom prst="rect">
            <a:avLst/>
          </a:prstGeom>
          <a:noFill/>
          <a:ln w="0">
            <a:noFill/>
          </a:ln>
        </p:spPr>
      </p:pic>
      <p:sp>
        <p:nvSpPr>
          <p:cNvPr id="480" name=""/>
          <p:cNvSpPr txBox="1"/>
          <p:nvPr/>
        </p:nvSpPr>
        <p:spPr>
          <a:xfrm>
            <a:off x="3986280" y="4538880"/>
            <a:ext cx="2683080" cy="194040"/>
          </a:xfrm>
          <a:prstGeom prst="rect">
            <a:avLst/>
          </a:prstGeom>
          <a:noFill/>
          <a:ln w="0">
            <a:noFill/>
          </a:ln>
        </p:spPr>
        <p:txBody>
          <a:bodyPr wrap="none" lIns="0" rIns="0" tIns="0" bIns="0" anchor="t">
            <a:spAutoFit/>
          </a:bodyPr>
          <a:p>
            <a:r>
              <a:rPr b="0" lang="zh-CN" sz="1050" strike="noStrike" u="none">
                <a:solidFill>
                  <a:srgbClr val="a7c6d9"/>
                </a:solidFill>
                <a:effectLst/>
                <a:uFillTx/>
                <a:latin typeface="NotoSansJP"/>
                <a:ea typeface="NotoSansJP"/>
              </a:rPr>
              <a:t>で実質的なサンプリング周波数を上げる方法</a:t>
            </a:r>
            <a:endParaRPr b="0" lang="en-US" sz="1050" strike="noStrike" u="none">
              <a:solidFill>
                <a:srgbClr val="000000"/>
              </a:solidFill>
              <a:effectLst/>
              <a:uFillTx/>
              <a:latin typeface="Times New Roman"/>
            </a:endParaRPr>
          </a:p>
        </p:txBody>
      </p:sp>
      <p:pic>
        <p:nvPicPr>
          <p:cNvPr id="481" name="" descr=""/>
          <p:cNvPicPr/>
          <p:nvPr/>
        </p:nvPicPr>
        <p:blipFill>
          <a:blip r:embed="rId8"/>
          <a:stretch/>
        </p:blipFill>
        <p:spPr>
          <a:xfrm>
            <a:off x="4052880" y="5072400"/>
            <a:ext cx="100080" cy="116640"/>
          </a:xfrm>
          <a:prstGeom prst="rect">
            <a:avLst/>
          </a:prstGeom>
          <a:noFill/>
          <a:ln w="0">
            <a:noFill/>
          </a:ln>
        </p:spPr>
      </p:pic>
      <p:sp>
        <p:nvSpPr>
          <p:cNvPr id="482" name=""/>
          <p:cNvSpPr txBox="1"/>
          <p:nvPr/>
        </p:nvSpPr>
        <p:spPr>
          <a:xfrm>
            <a:off x="4220280" y="4897080"/>
            <a:ext cx="2232720" cy="169560"/>
          </a:xfrm>
          <a:prstGeom prst="rect">
            <a:avLst/>
          </a:prstGeom>
          <a:noFill/>
          <a:ln w="0">
            <a:noFill/>
          </a:ln>
        </p:spPr>
        <p:txBody>
          <a:bodyPr wrap="none" lIns="0" rIns="0" tIns="0" bIns="0" anchor="t">
            <a:spAutoFit/>
          </a:bodyPr>
          <a:p>
            <a:r>
              <a:rPr b="0" lang="en-US" sz="920" strike="noStrike" u="none">
                <a:solidFill>
                  <a:srgbClr val="ffffff"/>
                </a:solidFill>
                <a:effectLst/>
                <a:uFillTx/>
                <a:latin typeface="NotoSansJP"/>
                <a:ea typeface="NotoSansJP"/>
              </a:rPr>
              <a:t>2</a:t>
            </a:r>
            <a:r>
              <a:rPr b="0" lang="zh-CN" sz="920" strike="noStrike" u="none">
                <a:solidFill>
                  <a:srgbClr val="ffffff"/>
                </a:solidFill>
                <a:effectLst/>
                <a:uFillTx/>
                <a:latin typeface="NotoSansJP"/>
                <a:ea typeface="NotoSansJP"/>
              </a:rPr>
              <a:t>倍や</a:t>
            </a:r>
            <a:r>
              <a:rPr b="0" lang="en-US" sz="920" strike="noStrike" u="none">
                <a:solidFill>
                  <a:srgbClr val="ffffff"/>
                </a:solidFill>
                <a:effectLst/>
                <a:uFillTx/>
                <a:latin typeface="NotoSansJP"/>
                <a:ea typeface="NotoSansJP"/>
              </a:rPr>
              <a:t>4</a:t>
            </a:r>
            <a:r>
              <a:rPr b="0" lang="zh-CN" sz="920" strike="noStrike" u="none">
                <a:solidFill>
                  <a:srgbClr val="ffffff"/>
                </a:solidFill>
                <a:effectLst/>
                <a:uFillTx/>
                <a:latin typeface="NotoSansJP"/>
                <a:ea typeface="NotoSansJP"/>
              </a:rPr>
              <a:t>倍にゼロパディングして精度向上</a:t>
            </a:r>
            <a:endParaRPr b="0" lang="en-US" sz="920" strike="noStrike" u="none">
              <a:solidFill>
                <a:srgbClr val="000000"/>
              </a:solidFill>
              <a:effectLst/>
              <a:uFillTx/>
              <a:latin typeface="Times New Roman"/>
            </a:endParaRPr>
          </a:p>
        </p:txBody>
      </p:sp>
      <p:sp>
        <p:nvSpPr>
          <p:cNvPr id="483" name=""/>
          <p:cNvSpPr/>
          <p:nvPr/>
        </p:nvSpPr>
        <p:spPr>
          <a:xfrm>
            <a:off x="7086240" y="3760200"/>
            <a:ext cx="3075840" cy="2223360"/>
          </a:xfrm>
          <a:custGeom>
            <a:avLst/>
            <a:gdLst/>
            <a:ahLst/>
            <a:rect l="0" t="0" r="r" b="b"/>
            <a:pathLst>
              <a:path w="8544" h="6176">
                <a:moveTo>
                  <a:pt x="0" y="5990"/>
                </a:moveTo>
                <a:lnTo>
                  <a:pt x="0" y="186"/>
                </a:lnTo>
                <a:cubicBezTo>
                  <a:pt x="0" y="161"/>
                  <a:pt x="5" y="138"/>
                  <a:pt x="14" y="115"/>
                </a:cubicBezTo>
                <a:cubicBezTo>
                  <a:pt x="24" y="92"/>
                  <a:pt x="37" y="72"/>
                  <a:pt x="55" y="55"/>
                </a:cubicBezTo>
                <a:cubicBezTo>
                  <a:pt x="72" y="37"/>
                  <a:pt x="92" y="24"/>
                  <a:pt x="115" y="15"/>
                </a:cubicBezTo>
                <a:cubicBezTo>
                  <a:pt x="138" y="5"/>
                  <a:pt x="161" y="0"/>
                  <a:pt x="186" y="0"/>
                </a:cubicBezTo>
                <a:lnTo>
                  <a:pt x="8358" y="0"/>
                </a:lnTo>
                <a:cubicBezTo>
                  <a:pt x="8382" y="0"/>
                  <a:pt x="8406" y="5"/>
                  <a:pt x="8429" y="15"/>
                </a:cubicBezTo>
                <a:cubicBezTo>
                  <a:pt x="8452" y="24"/>
                  <a:pt x="8472" y="37"/>
                  <a:pt x="8489" y="55"/>
                </a:cubicBezTo>
                <a:cubicBezTo>
                  <a:pt x="8507" y="72"/>
                  <a:pt x="8520" y="92"/>
                  <a:pt x="8529" y="115"/>
                </a:cubicBezTo>
                <a:cubicBezTo>
                  <a:pt x="8539" y="138"/>
                  <a:pt x="8544" y="161"/>
                  <a:pt x="8544" y="186"/>
                </a:cubicBezTo>
                <a:lnTo>
                  <a:pt x="8544" y="5990"/>
                </a:lnTo>
                <a:cubicBezTo>
                  <a:pt x="8544" y="6015"/>
                  <a:pt x="8539" y="6039"/>
                  <a:pt x="8529" y="6061"/>
                </a:cubicBezTo>
                <a:cubicBezTo>
                  <a:pt x="8520" y="6084"/>
                  <a:pt x="8507" y="6104"/>
                  <a:pt x="8489" y="6122"/>
                </a:cubicBezTo>
                <a:cubicBezTo>
                  <a:pt x="8472" y="6139"/>
                  <a:pt x="8452" y="6152"/>
                  <a:pt x="8429" y="6162"/>
                </a:cubicBezTo>
                <a:cubicBezTo>
                  <a:pt x="8406" y="6171"/>
                  <a:pt x="8382" y="6176"/>
                  <a:pt x="8358" y="6176"/>
                </a:cubicBezTo>
                <a:lnTo>
                  <a:pt x="186" y="6176"/>
                </a:lnTo>
                <a:cubicBezTo>
                  <a:pt x="161" y="6176"/>
                  <a:pt x="138" y="6171"/>
                  <a:pt x="115" y="6162"/>
                </a:cubicBezTo>
                <a:cubicBezTo>
                  <a:pt x="92" y="6152"/>
                  <a:pt x="72" y="6139"/>
                  <a:pt x="55" y="6122"/>
                </a:cubicBezTo>
                <a:cubicBezTo>
                  <a:pt x="37" y="6104"/>
                  <a:pt x="24" y="6084"/>
                  <a:pt x="14" y="6061"/>
                </a:cubicBezTo>
                <a:cubicBezTo>
                  <a:pt x="5" y="6039"/>
                  <a:pt x="0" y="6015"/>
                  <a:pt x="0" y="5990"/>
                </a:cubicBezTo>
                <a:close/>
              </a:path>
            </a:pathLst>
          </a:custGeom>
          <a:solidFill>
            <a:srgbClr val="ffffff">
              <a:alpha val="10000"/>
            </a:srgbClr>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484" name=""/>
          <p:cNvSpPr/>
          <p:nvPr/>
        </p:nvSpPr>
        <p:spPr>
          <a:xfrm>
            <a:off x="7086240" y="3760200"/>
            <a:ext cx="3075840" cy="2223360"/>
          </a:xfrm>
          <a:custGeom>
            <a:avLst/>
            <a:gdLst/>
            <a:ahLst/>
            <a:rect l="0" t="0" r="r" b="b"/>
            <a:pathLst>
              <a:path w="8544" h="6176">
                <a:moveTo>
                  <a:pt x="0" y="5990"/>
                </a:moveTo>
                <a:lnTo>
                  <a:pt x="0" y="186"/>
                </a:lnTo>
                <a:cubicBezTo>
                  <a:pt x="0" y="161"/>
                  <a:pt x="5" y="138"/>
                  <a:pt x="14" y="115"/>
                </a:cubicBezTo>
                <a:cubicBezTo>
                  <a:pt x="24" y="92"/>
                  <a:pt x="37" y="72"/>
                  <a:pt x="55" y="55"/>
                </a:cubicBezTo>
                <a:cubicBezTo>
                  <a:pt x="72" y="37"/>
                  <a:pt x="92" y="24"/>
                  <a:pt x="115" y="15"/>
                </a:cubicBezTo>
                <a:cubicBezTo>
                  <a:pt x="138" y="5"/>
                  <a:pt x="161" y="0"/>
                  <a:pt x="186" y="0"/>
                </a:cubicBezTo>
                <a:lnTo>
                  <a:pt x="8358" y="0"/>
                </a:lnTo>
                <a:cubicBezTo>
                  <a:pt x="8382" y="0"/>
                  <a:pt x="8406" y="5"/>
                  <a:pt x="8429" y="15"/>
                </a:cubicBezTo>
                <a:cubicBezTo>
                  <a:pt x="8452" y="24"/>
                  <a:pt x="8472" y="37"/>
                  <a:pt x="8489" y="55"/>
                </a:cubicBezTo>
                <a:cubicBezTo>
                  <a:pt x="8507" y="72"/>
                  <a:pt x="8520" y="92"/>
                  <a:pt x="8529" y="115"/>
                </a:cubicBezTo>
                <a:cubicBezTo>
                  <a:pt x="8539" y="138"/>
                  <a:pt x="8544" y="161"/>
                  <a:pt x="8544" y="186"/>
                </a:cubicBezTo>
                <a:lnTo>
                  <a:pt x="8544" y="5990"/>
                </a:lnTo>
                <a:cubicBezTo>
                  <a:pt x="8544" y="6015"/>
                  <a:pt x="8539" y="6039"/>
                  <a:pt x="8529" y="6061"/>
                </a:cubicBezTo>
                <a:cubicBezTo>
                  <a:pt x="8520" y="6084"/>
                  <a:pt x="8507" y="6104"/>
                  <a:pt x="8489" y="6122"/>
                </a:cubicBezTo>
                <a:cubicBezTo>
                  <a:pt x="8472" y="6139"/>
                  <a:pt x="8452" y="6152"/>
                  <a:pt x="8429" y="6162"/>
                </a:cubicBezTo>
                <a:cubicBezTo>
                  <a:pt x="8406" y="6171"/>
                  <a:pt x="8382" y="6176"/>
                  <a:pt x="8358" y="6176"/>
                </a:cubicBezTo>
                <a:lnTo>
                  <a:pt x="186" y="6176"/>
                </a:lnTo>
                <a:cubicBezTo>
                  <a:pt x="161" y="6176"/>
                  <a:pt x="138" y="6171"/>
                  <a:pt x="115" y="6162"/>
                </a:cubicBezTo>
                <a:cubicBezTo>
                  <a:pt x="92" y="6152"/>
                  <a:pt x="72" y="6139"/>
                  <a:pt x="55" y="6122"/>
                </a:cubicBezTo>
                <a:cubicBezTo>
                  <a:pt x="37" y="6104"/>
                  <a:pt x="24" y="6084"/>
                  <a:pt x="14" y="6061"/>
                </a:cubicBezTo>
                <a:cubicBezTo>
                  <a:pt x="5" y="6039"/>
                  <a:pt x="0" y="6015"/>
                  <a:pt x="0" y="5990"/>
                </a:cubicBezTo>
                <a:moveTo>
                  <a:pt x="23" y="186"/>
                </a:moveTo>
                <a:lnTo>
                  <a:pt x="23" y="5990"/>
                </a:lnTo>
                <a:cubicBezTo>
                  <a:pt x="23" y="6001"/>
                  <a:pt x="24" y="6012"/>
                  <a:pt x="27" y="6022"/>
                </a:cubicBezTo>
                <a:cubicBezTo>
                  <a:pt x="29" y="6033"/>
                  <a:pt x="32" y="6043"/>
                  <a:pt x="36" y="6053"/>
                </a:cubicBezTo>
                <a:cubicBezTo>
                  <a:pt x="40" y="6062"/>
                  <a:pt x="45" y="6072"/>
                  <a:pt x="51" y="6081"/>
                </a:cubicBezTo>
                <a:cubicBezTo>
                  <a:pt x="57" y="6089"/>
                  <a:pt x="63" y="6098"/>
                  <a:pt x="71" y="6105"/>
                </a:cubicBezTo>
                <a:cubicBezTo>
                  <a:pt x="79" y="6113"/>
                  <a:pt x="87" y="6120"/>
                  <a:pt x="96" y="6125"/>
                </a:cubicBezTo>
                <a:cubicBezTo>
                  <a:pt x="104" y="6131"/>
                  <a:pt x="114" y="6136"/>
                  <a:pt x="124" y="6140"/>
                </a:cubicBezTo>
                <a:cubicBezTo>
                  <a:pt x="134" y="6145"/>
                  <a:pt x="144" y="6148"/>
                  <a:pt x="154" y="6150"/>
                </a:cubicBezTo>
                <a:cubicBezTo>
                  <a:pt x="165" y="6152"/>
                  <a:pt x="175" y="6153"/>
                  <a:pt x="186" y="6153"/>
                </a:cubicBezTo>
                <a:lnTo>
                  <a:pt x="8358" y="6153"/>
                </a:lnTo>
                <a:cubicBezTo>
                  <a:pt x="8369" y="6153"/>
                  <a:pt x="8379" y="6152"/>
                  <a:pt x="8390" y="6150"/>
                </a:cubicBezTo>
                <a:cubicBezTo>
                  <a:pt x="8400" y="6148"/>
                  <a:pt x="8410" y="6145"/>
                  <a:pt x="8420" y="6140"/>
                </a:cubicBezTo>
                <a:cubicBezTo>
                  <a:pt x="8430" y="6136"/>
                  <a:pt x="8439" y="6131"/>
                  <a:pt x="8448" y="6125"/>
                </a:cubicBezTo>
                <a:cubicBezTo>
                  <a:pt x="8457" y="6120"/>
                  <a:pt x="8465" y="6113"/>
                  <a:pt x="8473" y="6105"/>
                </a:cubicBezTo>
                <a:cubicBezTo>
                  <a:pt x="8480" y="6098"/>
                  <a:pt x="8487" y="6089"/>
                  <a:pt x="8493" y="6081"/>
                </a:cubicBezTo>
                <a:cubicBezTo>
                  <a:pt x="8499" y="6072"/>
                  <a:pt x="8504" y="6062"/>
                  <a:pt x="8508" y="6053"/>
                </a:cubicBezTo>
                <a:cubicBezTo>
                  <a:pt x="8512" y="6043"/>
                  <a:pt x="8515" y="6033"/>
                  <a:pt x="8517" y="6022"/>
                </a:cubicBezTo>
                <a:cubicBezTo>
                  <a:pt x="8519" y="6012"/>
                  <a:pt x="8520" y="6001"/>
                  <a:pt x="8520" y="5990"/>
                </a:cubicBezTo>
                <a:lnTo>
                  <a:pt x="8520" y="186"/>
                </a:lnTo>
                <a:cubicBezTo>
                  <a:pt x="8520" y="175"/>
                  <a:pt x="8519" y="165"/>
                  <a:pt x="8517" y="154"/>
                </a:cubicBezTo>
                <a:cubicBezTo>
                  <a:pt x="8515" y="144"/>
                  <a:pt x="8512" y="134"/>
                  <a:pt x="8508" y="124"/>
                </a:cubicBezTo>
                <a:cubicBezTo>
                  <a:pt x="8504" y="114"/>
                  <a:pt x="8499" y="105"/>
                  <a:pt x="8493" y="96"/>
                </a:cubicBezTo>
                <a:cubicBezTo>
                  <a:pt x="8487" y="87"/>
                  <a:pt x="8480" y="79"/>
                  <a:pt x="8473" y="71"/>
                </a:cubicBezTo>
                <a:cubicBezTo>
                  <a:pt x="8465" y="64"/>
                  <a:pt x="8457" y="57"/>
                  <a:pt x="8448" y="51"/>
                </a:cubicBezTo>
                <a:cubicBezTo>
                  <a:pt x="8439" y="45"/>
                  <a:pt x="8430" y="40"/>
                  <a:pt x="8420" y="36"/>
                </a:cubicBezTo>
                <a:cubicBezTo>
                  <a:pt x="8410" y="32"/>
                  <a:pt x="8400" y="29"/>
                  <a:pt x="8390" y="27"/>
                </a:cubicBezTo>
                <a:cubicBezTo>
                  <a:pt x="8379" y="25"/>
                  <a:pt x="8369" y="24"/>
                  <a:pt x="8358" y="24"/>
                </a:cubicBezTo>
                <a:lnTo>
                  <a:pt x="186" y="24"/>
                </a:lnTo>
                <a:cubicBezTo>
                  <a:pt x="175" y="24"/>
                  <a:pt x="165" y="25"/>
                  <a:pt x="154" y="27"/>
                </a:cubicBezTo>
                <a:cubicBezTo>
                  <a:pt x="144" y="29"/>
                  <a:pt x="134" y="32"/>
                  <a:pt x="124" y="36"/>
                </a:cubicBezTo>
                <a:cubicBezTo>
                  <a:pt x="114" y="40"/>
                  <a:pt x="104" y="45"/>
                  <a:pt x="96" y="51"/>
                </a:cubicBezTo>
                <a:cubicBezTo>
                  <a:pt x="87" y="57"/>
                  <a:pt x="79" y="64"/>
                  <a:pt x="71" y="71"/>
                </a:cubicBezTo>
                <a:cubicBezTo>
                  <a:pt x="63" y="79"/>
                  <a:pt x="57" y="87"/>
                  <a:pt x="51" y="96"/>
                </a:cubicBezTo>
                <a:cubicBezTo>
                  <a:pt x="45" y="105"/>
                  <a:pt x="40" y="114"/>
                  <a:pt x="36" y="124"/>
                </a:cubicBezTo>
                <a:cubicBezTo>
                  <a:pt x="32" y="134"/>
                  <a:pt x="29" y="144"/>
                  <a:pt x="27" y="154"/>
                </a:cubicBezTo>
                <a:cubicBezTo>
                  <a:pt x="24" y="165"/>
                  <a:pt x="23" y="175"/>
                  <a:pt x="23" y="186"/>
                </a:cubicBezTo>
                <a:close/>
              </a:path>
            </a:pathLst>
          </a:custGeom>
          <a:solidFill>
            <a:srgbClr val="a7c6d9">
              <a:alpha val="30000"/>
            </a:srgbClr>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485" name=""/>
          <p:cNvSpPr/>
          <p:nvPr/>
        </p:nvSpPr>
        <p:spPr>
          <a:xfrm>
            <a:off x="7261920" y="4804920"/>
            <a:ext cx="2724480" cy="468360"/>
          </a:xfrm>
          <a:custGeom>
            <a:avLst/>
            <a:gdLst/>
            <a:ahLst/>
            <a:rect l="0" t="0" r="r" b="b"/>
            <a:pathLst>
              <a:path w="7568" h="1301">
                <a:moveTo>
                  <a:pt x="0" y="1208"/>
                </a:moveTo>
                <a:lnTo>
                  <a:pt x="0" y="93"/>
                </a:lnTo>
                <a:cubicBezTo>
                  <a:pt x="0" y="81"/>
                  <a:pt x="2" y="69"/>
                  <a:pt x="7" y="57"/>
                </a:cubicBezTo>
                <a:cubicBezTo>
                  <a:pt x="11" y="46"/>
                  <a:pt x="18" y="36"/>
                  <a:pt x="27" y="27"/>
                </a:cubicBezTo>
                <a:cubicBezTo>
                  <a:pt x="36" y="18"/>
                  <a:pt x="46" y="12"/>
                  <a:pt x="57" y="7"/>
                </a:cubicBezTo>
                <a:cubicBezTo>
                  <a:pt x="68" y="2"/>
                  <a:pt x="80" y="0"/>
                  <a:pt x="92" y="0"/>
                </a:cubicBezTo>
                <a:lnTo>
                  <a:pt x="7475" y="0"/>
                </a:lnTo>
                <a:cubicBezTo>
                  <a:pt x="7488" y="0"/>
                  <a:pt x="7499" y="2"/>
                  <a:pt x="7511" y="7"/>
                </a:cubicBezTo>
                <a:cubicBezTo>
                  <a:pt x="7522" y="12"/>
                  <a:pt x="7532" y="18"/>
                  <a:pt x="7541" y="27"/>
                </a:cubicBezTo>
                <a:cubicBezTo>
                  <a:pt x="7550" y="36"/>
                  <a:pt x="7556" y="46"/>
                  <a:pt x="7561" y="57"/>
                </a:cubicBezTo>
                <a:cubicBezTo>
                  <a:pt x="7566" y="69"/>
                  <a:pt x="7568" y="81"/>
                  <a:pt x="7568" y="93"/>
                </a:cubicBezTo>
                <a:lnTo>
                  <a:pt x="7568" y="1208"/>
                </a:lnTo>
                <a:cubicBezTo>
                  <a:pt x="7568" y="1220"/>
                  <a:pt x="7566" y="1232"/>
                  <a:pt x="7561" y="1244"/>
                </a:cubicBezTo>
                <a:cubicBezTo>
                  <a:pt x="7556" y="1255"/>
                  <a:pt x="7550" y="1265"/>
                  <a:pt x="7541" y="1274"/>
                </a:cubicBezTo>
                <a:cubicBezTo>
                  <a:pt x="7532" y="1282"/>
                  <a:pt x="7522" y="1289"/>
                  <a:pt x="7511" y="1294"/>
                </a:cubicBezTo>
                <a:cubicBezTo>
                  <a:pt x="7499" y="1299"/>
                  <a:pt x="7488" y="1301"/>
                  <a:pt x="7475" y="1301"/>
                </a:cubicBezTo>
                <a:lnTo>
                  <a:pt x="92" y="1301"/>
                </a:lnTo>
                <a:cubicBezTo>
                  <a:pt x="80" y="1301"/>
                  <a:pt x="68" y="1299"/>
                  <a:pt x="57" y="1294"/>
                </a:cubicBezTo>
                <a:cubicBezTo>
                  <a:pt x="46" y="1289"/>
                  <a:pt x="36" y="1282"/>
                  <a:pt x="27" y="1274"/>
                </a:cubicBezTo>
                <a:cubicBezTo>
                  <a:pt x="18" y="1265"/>
                  <a:pt x="11" y="1255"/>
                  <a:pt x="7" y="1244"/>
                </a:cubicBezTo>
                <a:cubicBezTo>
                  <a:pt x="2" y="1232"/>
                  <a:pt x="0" y="1220"/>
                  <a:pt x="0" y="1208"/>
                </a:cubicBezTo>
                <a:close/>
              </a:path>
            </a:pathLst>
          </a:custGeom>
          <a:solidFill>
            <a:srgbClr val="ffffff">
              <a:alpha val="5000"/>
            </a:srgbClr>
          </a:solidFill>
          <a:ln w="0">
            <a:noFill/>
          </a:ln>
        </p:spPr>
        <p:txBody>
          <a:bodyPr lIns="0" rIns="0" tIns="0" bIns="0" anchor="t">
            <a:noAutofit/>
          </a:bodyPr>
          <a:p>
            <a:endParaRPr b="0" lang="en-US" sz="2400" strike="noStrike" u="none">
              <a:solidFill>
                <a:srgbClr val="000000"/>
              </a:solidFill>
              <a:effectLst/>
              <a:uFillTx/>
              <a:latin typeface="Times New Roman"/>
            </a:endParaRPr>
          </a:p>
        </p:txBody>
      </p:sp>
      <p:pic>
        <p:nvPicPr>
          <p:cNvPr id="486" name="" descr=""/>
          <p:cNvPicPr/>
          <p:nvPr/>
        </p:nvPicPr>
        <p:blipFill>
          <a:blip r:embed="rId9"/>
          <a:stretch/>
        </p:blipFill>
        <p:spPr>
          <a:xfrm>
            <a:off x="7261920" y="3935880"/>
            <a:ext cx="200160" cy="267120"/>
          </a:xfrm>
          <a:prstGeom prst="rect">
            <a:avLst/>
          </a:prstGeom>
          <a:noFill/>
          <a:ln w="0">
            <a:noFill/>
          </a:ln>
        </p:spPr>
      </p:pic>
      <p:sp>
        <p:nvSpPr>
          <p:cNvPr id="487" name=""/>
          <p:cNvSpPr txBox="1"/>
          <p:nvPr/>
        </p:nvSpPr>
        <p:spPr>
          <a:xfrm>
            <a:off x="4220280" y="5064120"/>
            <a:ext cx="2112840" cy="169560"/>
          </a:xfrm>
          <a:prstGeom prst="rect">
            <a:avLst/>
          </a:prstGeom>
          <a:noFill/>
          <a:ln w="0">
            <a:noFill/>
          </a:ln>
        </p:spPr>
        <p:txBody>
          <a:bodyPr wrap="none" lIns="0" rIns="0" tIns="0" bIns="0" anchor="t">
            <a:spAutoFit/>
          </a:bodyPr>
          <a:p>
            <a:r>
              <a:rPr b="0" lang="zh-CN" sz="920" strike="noStrike" u="none">
                <a:solidFill>
                  <a:srgbClr val="ffffff"/>
                </a:solidFill>
                <a:effectLst/>
                <a:uFillTx/>
                <a:latin typeface="NotoSansJP"/>
                <a:ea typeface="NotoSansJP"/>
              </a:rPr>
              <a:t>計算コスト増加するが精度は大幅に改善</a:t>
            </a:r>
            <a:endParaRPr b="0" lang="en-US" sz="920" strike="noStrike" u="none">
              <a:solidFill>
                <a:srgbClr val="000000"/>
              </a:solidFill>
              <a:effectLst/>
              <a:uFillTx/>
              <a:latin typeface="Times New Roman"/>
            </a:endParaRPr>
          </a:p>
        </p:txBody>
      </p:sp>
      <p:sp>
        <p:nvSpPr>
          <p:cNvPr id="488" name=""/>
          <p:cNvSpPr txBox="1"/>
          <p:nvPr/>
        </p:nvSpPr>
        <p:spPr>
          <a:xfrm>
            <a:off x="7596360" y="3981600"/>
            <a:ext cx="1509480" cy="244080"/>
          </a:xfrm>
          <a:prstGeom prst="rect">
            <a:avLst/>
          </a:prstGeom>
          <a:noFill/>
          <a:ln w="0">
            <a:noFill/>
          </a:ln>
        </p:spPr>
        <p:txBody>
          <a:bodyPr wrap="none" lIns="0" rIns="0" tIns="0" bIns="0" anchor="t">
            <a:spAutoFit/>
          </a:bodyPr>
          <a:p>
            <a:r>
              <a:rPr b="0" lang="zh-CN" sz="1320" strike="noStrike" u="none">
                <a:solidFill>
                  <a:srgbClr val="ffffff"/>
                </a:solidFill>
                <a:effectLst/>
                <a:uFillTx/>
                <a:latin typeface="NotoSansJP"/>
                <a:ea typeface="NotoSansJP"/>
              </a:rPr>
              <a:t>適切なサンプリング</a:t>
            </a:r>
            <a:endParaRPr b="0" lang="en-US" sz="1320" strike="noStrike" u="none">
              <a:solidFill>
                <a:srgbClr val="000000"/>
              </a:solidFill>
              <a:effectLst/>
              <a:uFillTx/>
              <a:latin typeface="Times New Roman"/>
            </a:endParaRPr>
          </a:p>
        </p:txBody>
      </p:sp>
      <p:sp>
        <p:nvSpPr>
          <p:cNvPr id="489" name=""/>
          <p:cNvSpPr txBox="1"/>
          <p:nvPr/>
        </p:nvSpPr>
        <p:spPr>
          <a:xfrm>
            <a:off x="7261920" y="4338360"/>
            <a:ext cx="2683080" cy="194040"/>
          </a:xfrm>
          <a:prstGeom prst="rect">
            <a:avLst/>
          </a:prstGeom>
          <a:noFill/>
          <a:ln w="0">
            <a:noFill/>
          </a:ln>
        </p:spPr>
        <p:txBody>
          <a:bodyPr wrap="none" lIns="0" rIns="0" tIns="0" bIns="0" anchor="t">
            <a:spAutoFit/>
          </a:bodyPr>
          <a:p>
            <a:r>
              <a:rPr b="0" lang="zh-CN" sz="1050" strike="noStrike" u="none">
                <a:solidFill>
                  <a:srgbClr val="a7c6d9"/>
                </a:solidFill>
                <a:effectLst/>
                <a:uFillTx/>
                <a:latin typeface="NotoSansJP"/>
                <a:ea typeface="NotoSansJP"/>
              </a:rPr>
              <a:t>空間領域のサンプリング間隔を小さく（画素</a:t>
            </a:r>
            <a:endParaRPr b="0" lang="en-US" sz="1050" strike="noStrike" u="none">
              <a:solidFill>
                <a:srgbClr val="000000"/>
              </a:solidFill>
              <a:effectLst/>
              <a:uFillTx/>
              <a:latin typeface="Times New Roman"/>
            </a:endParaRPr>
          </a:p>
        </p:txBody>
      </p:sp>
      <p:pic>
        <p:nvPicPr>
          <p:cNvPr id="490" name="" descr=""/>
          <p:cNvPicPr/>
          <p:nvPr/>
        </p:nvPicPr>
        <p:blipFill>
          <a:blip r:embed="rId10"/>
          <a:stretch/>
        </p:blipFill>
        <p:spPr>
          <a:xfrm>
            <a:off x="7328880" y="4905360"/>
            <a:ext cx="100080" cy="116640"/>
          </a:xfrm>
          <a:prstGeom prst="rect">
            <a:avLst/>
          </a:prstGeom>
          <a:noFill/>
          <a:ln w="0">
            <a:noFill/>
          </a:ln>
        </p:spPr>
      </p:pic>
      <p:sp>
        <p:nvSpPr>
          <p:cNvPr id="491" name=""/>
          <p:cNvSpPr txBox="1"/>
          <p:nvPr/>
        </p:nvSpPr>
        <p:spPr>
          <a:xfrm>
            <a:off x="7261920" y="4538880"/>
            <a:ext cx="2280600" cy="194040"/>
          </a:xfrm>
          <a:prstGeom prst="rect">
            <a:avLst/>
          </a:prstGeom>
          <a:noFill/>
          <a:ln w="0">
            <a:noFill/>
          </a:ln>
        </p:spPr>
        <p:txBody>
          <a:bodyPr wrap="none" lIns="0" rIns="0" tIns="0" bIns="0" anchor="t">
            <a:spAutoFit/>
          </a:bodyPr>
          <a:p>
            <a:r>
              <a:rPr b="0" lang="zh-CN" sz="1050" strike="noStrike" u="none">
                <a:solidFill>
                  <a:srgbClr val="a7c6d9"/>
                </a:solidFill>
                <a:effectLst/>
                <a:uFillTx/>
                <a:latin typeface="NotoSansJP"/>
                <a:ea typeface="NotoSansJP"/>
              </a:rPr>
              <a:t>数を多く）するか計算領域を広くとる</a:t>
            </a:r>
            <a:endParaRPr b="0" lang="en-US" sz="1050" strike="noStrike" u="none">
              <a:solidFill>
                <a:srgbClr val="000000"/>
              </a:solidFill>
              <a:effectLst/>
              <a:uFillTx/>
              <a:latin typeface="Times New Roman"/>
            </a:endParaRPr>
          </a:p>
        </p:txBody>
      </p:sp>
      <p:pic>
        <p:nvPicPr>
          <p:cNvPr id="492" name="" descr=""/>
          <p:cNvPicPr/>
          <p:nvPr/>
        </p:nvPicPr>
        <p:blipFill>
          <a:blip r:embed="rId11"/>
          <a:stretch/>
        </p:blipFill>
        <p:spPr>
          <a:xfrm>
            <a:off x="7328880" y="5072400"/>
            <a:ext cx="100080" cy="116640"/>
          </a:xfrm>
          <a:prstGeom prst="rect">
            <a:avLst/>
          </a:prstGeom>
          <a:noFill/>
          <a:ln w="0">
            <a:noFill/>
          </a:ln>
        </p:spPr>
      </p:pic>
      <p:sp>
        <p:nvSpPr>
          <p:cNvPr id="493" name=""/>
          <p:cNvSpPr txBox="1"/>
          <p:nvPr/>
        </p:nvSpPr>
        <p:spPr>
          <a:xfrm>
            <a:off x="7495920" y="4897080"/>
            <a:ext cx="2112840" cy="169560"/>
          </a:xfrm>
          <a:prstGeom prst="rect">
            <a:avLst/>
          </a:prstGeom>
          <a:noFill/>
          <a:ln w="0">
            <a:noFill/>
          </a:ln>
        </p:spPr>
        <p:txBody>
          <a:bodyPr wrap="none" lIns="0" rIns="0" tIns="0" bIns="0" anchor="t">
            <a:spAutoFit/>
          </a:bodyPr>
          <a:p>
            <a:r>
              <a:rPr b="0" lang="zh-CN" sz="920" strike="noStrike" u="none">
                <a:solidFill>
                  <a:srgbClr val="ffffff"/>
                </a:solidFill>
                <a:effectLst/>
                <a:uFillTx/>
                <a:latin typeface="NotoSansJP"/>
                <a:ea typeface="NotoSansJP"/>
              </a:rPr>
              <a:t>周波数領域でのサンプリング密度を向上</a:t>
            </a:r>
            <a:endParaRPr b="0" lang="en-US" sz="920" strike="noStrike" u="none">
              <a:solidFill>
                <a:srgbClr val="000000"/>
              </a:solidFill>
              <a:effectLst/>
              <a:uFillTx/>
              <a:latin typeface="Times New Roman"/>
            </a:endParaRPr>
          </a:p>
        </p:txBody>
      </p:sp>
      <p:sp>
        <p:nvSpPr>
          <p:cNvPr id="494" name=""/>
          <p:cNvSpPr txBox="1"/>
          <p:nvPr/>
        </p:nvSpPr>
        <p:spPr>
          <a:xfrm>
            <a:off x="7495920" y="5064120"/>
            <a:ext cx="2112840" cy="169560"/>
          </a:xfrm>
          <a:prstGeom prst="rect">
            <a:avLst/>
          </a:prstGeom>
          <a:noFill/>
          <a:ln w="0">
            <a:noFill/>
          </a:ln>
        </p:spPr>
        <p:txBody>
          <a:bodyPr wrap="none" lIns="0" rIns="0" tIns="0" bIns="0" anchor="t">
            <a:spAutoFit/>
          </a:bodyPr>
          <a:p>
            <a:r>
              <a:rPr b="0" lang="zh-CN" sz="920" strike="noStrike" u="none">
                <a:solidFill>
                  <a:srgbClr val="ffffff"/>
                </a:solidFill>
                <a:effectLst/>
                <a:uFillTx/>
                <a:latin typeface="NotoSansJP"/>
                <a:ea typeface="NotoSansJP"/>
              </a:rPr>
              <a:t>メモリ使用量と計算時間のトレードオフ</a:t>
            </a:r>
            <a:endParaRPr b="0" lang="en-US" sz="920" strike="noStrike" u="none">
              <a:solidFill>
                <a:srgbClr val="000000"/>
              </a:solidFill>
              <a:effectLst/>
              <a:uFillTx/>
              <a:latin typeface="Times New Roman"/>
            </a:endParaRPr>
          </a:p>
        </p:txBody>
      </p:sp>
      <p:sp>
        <p:nvSpPr>
          <p:cNvPr id="495" name=""/>
          <p:cNvSpPr txBox="1"/>
          <p:nvPr/>
        </p:nvSpPr>
        <p:spPr>
          <a:xfrm>
            <a:off x="10203480" y="5741280"/>
            <a:ext cx="338760" cy="136080"/>
          </a:xfrm>
          <a:prstGeom prst="rect">
            <a:avLst/>
          </a:prstGeom>
          <a:noFill/>
          <a:ln w="0">
            <a:noFill/>
          </a:ln>
        </p:spPr>
        <p:txBody>
          <a:bodyPr wrap="none" lIns="0" rIns="0" tIns="0" bIns="0" anchor="t">
            <a:spAutoFit/>
          </a:bodyPr>
          <a:p>
            <a:r>
              <a:rPr b="0" lang="en-US" sz="920" strike="noStrike" u="none">
                <a:solidFill>
                  <a:srgbClr val="a7c6d9"/>
                </a:solidFill>
                <a:effectLst/>
                <a:uFillTx/>
                <a:latin typeface="NotoSansJP"/>
                <a:ea typeface="NotoSansJP"/>
              </a:rPr>
              <a:t>8 / 13</a:t>
            </a:r>
            <a:endParaRPr b="0" lang="en-US" sz="920" strike="noStrike" u="non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6" name=""/>
          <p:cNvSpPr/>
          <p:nvPr/>
        </p:nvSpPr>
        <p:spPr>
          <a:xfrm>
            <a:off x="0" y="0"/>
            <a:ext cx="10696680" cy="6017040"/>
          </a:xfrm>
          <a:custGeom>
            <a:avLst/>
            <a:gdLst/>
            <a:ahLst/>
            <a:rect l="0" t="0" r="r" b="b"/>
            <a:pathLst>
              <a:path w="29713" h="16714">
                <a:moveTo>
                  <a:pt x="0" y="0"/>
                </a:moveTo>
                <a:lnTo>
                  <a:pt x="29713" y="0"/>
                </a:lnTo>
                <a:lnTo>
                  <a:pt x="29713" y="16714"/>
                </a:lnTo>
                <a:lnTo>
                  <a:pt x="0" y="16714"/>
                </a:lnTo>
                <a:lnTo>
                  <a:pt x="0" y="0"/>
                </a:lnTo>
                <a:close/>
              </a:path>
            </a:pathLst>
          </a:custGeom>
          <a:solidFill>
            <a:srgbClr val="1c3d5a"/>
          </a:solidFill>
          <a:ln w="0">
            <a:noFill/>
          </a:ln>
        </p:spPr>
        <p:txBody>
          <a:bodyPr lIns="0" rIns="0" tIns="0" bIns="0" anchor="t">
            <a:noAutofit/>
          </a:bodyPr>
          <a:p>
            <a:endParaRPr b="0" lang="en-US" sz="2400" strike="noStrike" u="none">
              <a:solidFill>
                <a:srgbClr val="ffffff"/>
              </a:solidFill>
              <a:effectLst/>
              <a:uFillTx/>
              <a:latin typeface="Times New Roman"/>
            </a:endParaRPr>
          </a:p>
        </p:txBody>
      </p:sp>
      <p:pic>
        <p:nvPicPr>
          <p:cNvPr id="497" name="" descr=""/>
          <p:cNvPicPr/>
          <p:nvPr/>
        </p:nvPicPr>
        <p:blipFill>
          <a:blip r:embed="rId1"/>
          <a:stretch/>
        </p:blipFill>
        <p:spPr>
          <a:xfrm>
            <a:off x="0" y="0"/>
            <a:ext cx="10696320" cy="6016320"/>
          </a:xfrm>
          <a:prstGeom prst="rect">
            <a:avLst/>
          </a:prstGeom>
          <a:noFill/>
          <a:ln w="0">
            <a:noFill/>
          </a:ln>
        </p:spPr>
      </p:pic>
      <p:sp>
        <p:nvSpPr>
          <p:cNvPr id="498" name=""/>
          <p:cNvSpPr/>
          <p:nvPr/>
        </p:nvSpPr>
        <p:spPr>
          <a:xfrm>
            <a:off x="534600" y="601560"/>
            <a:ext cx="1069920" cy="33840"/>
          </a:xfrm>
          <a:custGeom>
            <a:avLst/>
            <a:gdLst/>
            <a:ahLst/>
            <a:rect l="0" t="0" r="r" b="b"/>
            <a:pathLst>
              <a:path w="2972" h="94">
                <a:moveTo>
                  <a:pt x="0" y="0"/>
                </a:moveTo>
                <a:lnTo>
                  <a:pt x="2972" y="0"/>
                </a:lnTo>
                <a:lnTo>
                  <a:pt x="2972" y="94"/>
                </a:lnTo>
                <a:lnTo>
                  <a:pt x="0" y="94"/>
                </a:lnTo>
                <a:lnTo>
                  <a:pt x="0" y="0"/>
                </a:lnTo>
                <a:close/>
              </a:path>
            </a:pathLst>
          </a:custGeom>
          <a:solidFill>
            <a:srgbClr val="ff8c00"/>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499" name=""/>
          <p:cNvSpPr/>
          <p:nvPr/>
        </p:nvSpPr>
        <p:spPr>
          <a:xfrm>
            <a:off x="534600" y="1370160"/>
            <a:ext cx="4680000" cy="1320840"/>
          </a:xfrm>
          <a:custGeom>
            <a:avLst/>
            <a:gdLst/>
            <a:ahLst/>
            <a:rect l="0" t="0" r="r" b="b"/>
            <a:pathLst>
              <a:path w="13000" h="3669">
                <a:moveTo>
                  <a:pt x="0" y="3483"/>
                </a:moveTo>
                <a:lnTo>
                  <a:pt x="0" y="186"/>
                </a:lnTo>
                <a:cubicBezTo>
                  <a:pt x="0" y="174"/>
                  <a:pt x="1" y="162"/>
                  <a:pt x="4" y="150"/>
                </a:cubicBezTo>
                <a:cubicBezTo>
                  <a:pt x="6" y="138"/>
                  <a:pt x="10" y="126"/>
                  <a:pt x="14" y="115"/>
                </a:cubicBezTo>
                <a:cubicBezTo>
                  <a:pt x="19" y="104"/>
                  <a:pt x="25" y="93"/>
                  <a:pt x="31" y="83"/>
                </a:cubicBezTo>
                <a:cubicBezTo>
                  <a:pt x="38" y="73"/>
                  <a:pt x="46" y="63"/>
                  <a:pt x="55" y="55"/>
                </a:cubicBezTo>
                <a:cubicBezTo>
                  <a:pt x="63" y="46"/>
                  <a:pt x="73" y="39"/>
                  <a:pt x="83" y="32"/>
                </a:cubicBezTo>
                <a:cubicBezTo>
                  <a:pt x="93" y="25"/>
                  <a:pt x="104" y="19"/>
                  <a:pt x="115" y="15"/>
                </a:cubicBezTo>
                <a:cubicBezTo>
                  <a:pt x="126" y="10"/>
                  <a:pt x="138" y="6"/>
                  <a:pt x="150" y="4"/>
                </a:cubicBezTo>
                <a:cubicBezTo>
                  <a:pt x="162" y="2"/>
                  <a:pt x="174" y="0"/>
                  <a:pt x="186" y="0"/>
                </a:cubicBezTo>
                <a:lnTo>
                  <a:pt x="12815" y="0"/>
                </a:lnTo>
                <a:cubicBezTo>
                  <a:pt x="12827" y="0"/>
                  <a:pt x="12839" y="2"/>
                  <a:pt x="12851" y="4"/>
                </a:cubicBezTo>
                <a:cubicBezTo>
                  <a:pt x="12863" y="6"/>
                  <a:pt x="12875" y="10"/>
                  <a:pt x="12886" y="15"/>
                </a:cubicBezTo>
                <a:cubicBezTo>
                  <a:pt x="12897" y="19"/>
                  <a:pt x="12908" y="25"/>
                  <a:pt x="12918" y="32"/>
                </a:cubicBezTo>
                <a:cubicBezTo>
                  <a:pt x="12928" y="39"/>
                  <a:pt x="12937" y="46"/>
                  <a:pt x="12946" y="55"/>
                </a:cubicBezTo>
                <a:cubicBezTo>
                  <a:pt x="12955" y="63"/>
                  <a:pt x="12962" y="73"/>
                  <a:pt x="12969" y="83"/>
                </a:cubicBezTo>
                <a:cubicBezTo>
                  <a:pt x="12976" y="93"/>
                  <a:pt x="12982" y="104"/>
                  <a:pt x="12986" y="115"/>
                </a:cubicBezTo>
                <a:cubicBezTo>
                  <a:pt x="12991" y="126"/>
                  <a:pt x="12994" y="138"/>
                  <a:pt x="12997" y="150"/>
                </a:cubicBezTo>
                <a:cubicBezTo>
                  <a:pt x="12999" y="162"/>
                  <a:pt x="13000" y="174"/>
                  <a:pt x="13000" y="186"/>
                </a:cubicBezTo>
                <a:lnTo>
                  <a:pt x="13000" y="3483"/>
                </a:lnTo>
                <a:cubicBezTo>
                  <a:pt x="13000" y="3496"/>
                  <a:pt x="12999" y="3508"/>
                  <a:pt x="12997" y="3520"/>
                </a:cubicBezTo>
                <a:cubicBezTo>
                  <a:pt x="12994" y="3532"/>
                  <a:pt x="12991" y="3543"/>
                  <a:pt x="12986" y="3554"/>
                </a:cubicBezTo>
                <a:cubicBezTo>
                  <a:pt x="12982" y="3566"/>
                  <a:pt x="12976" y="3576"/>
                  <a:pt x="12969" y="3587"/>
                </a:cubicBezTo>
                <a:cubicBezTo>
                  <a:pt x="12962" y="3597"/>
                  <a:pt x="12955" y="3606"/>
                  <a:pt x="12946" y="3615"/>
                </a:cubicBezTo>
                <a:cubicBezTo>
                  <a:pt x="12937" y="3623"/>
                  <a:pt x="12928" y="3631"/>
                  <a:pt x="12918" y="3638"/>
                </a:cubicBezTo>
                <a:cubicBezTo>
                  <a:pt x="12908" y="3645"/>
                  <a:pt x="12897" y="3650"/>
                  <a:pt x="12886" y="3655"/>
                </a:cubicBezTo>
                <a:cubicBezTo>
                  <a:pt x="12875" y="3660"/>
                  <a:pt x="12863" y="3663"/>
                  <a:pt x="12851" y="3666"/>
                </a:cubicBezTo>
                <a:cubicBezTo>
                  <a:pt x="12839" y="3668"/>
                  <a:pt x="12827" y="3669"/>
                  <a:pt x="12815" y="3669"/>
                </a:cubicBezTo>
                <a:lnTo>
                  <a:pt x="186" y="3669"/>
                </a:lnTo>
                <a:cubicBezTo>
                  <a:pt x="174" y="3669"/>
                  <a:pt x="162" y="3668"/>
                  <a:pt x="150" y="3666"/>
                </a:cubicBezTo>
                <a:cubicBezTo>
                  <a:pt x="138" y="3663"/>
                  <a:pt x="126" y="3660"/>
                  <a:pt x="115" y="3655"/>
                </a:cubicBezTo>
                <a:cubicBezTo>
                  <a:pt x="104" y="3650"/>
                  <a:pt x="93" y="3645"/>
                  <a:pt x="83" y="3638"/>
                </a:cubicBezTo>
                <a:cubicBezTo>
                  <a:pt x="73" y="3631"/>
                  <a:pt x="63" y="3623"/>
                  <a:pt x="55" y="3615"/>
                </a:cubicBezTo>
                <a:cubicBezTo>
                  <a:pt x="46" y="3606"/>
                  <a:pt x="38" y="3597"/>
                  <a:pt x="31" y="3587"/>
                </a:cubicBezTo>
                <a:cubicBezTo>
                  <a:pt x="25" y="3576"/>
                  <a:pt x="19" y="3566"/>
                  <a:pt x="14" y="3554"/>
                </a:cubicBezTo>
                <a:cubicBezTo>
                  <a:pt x="10" y="3543"/>
                  <a:pt x="6" y="3532"/>
                  <a:pt x="4" y="3520"/>
                </a:cubicBezTo>
                <a:cubicBezTo>
                  <a:pt x="1" y="3508"/>
                  <a:pt x="0" y="3496"/>
                  <a:pt x="0" y="3483"/>
                </a:cubicBezTo>
                <a:close/>
              </a:path>
            </a:pathLst>
          </a:custGeom>
          <a:solidFill>
            <a:srgbClr val="ffffff">
              <a:alpha val="10000"/>
            </a:srgbClr>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500" name=""/>
          <p:cNvSpPr/>
          <p:nvPr/>
        </p:nvSpPr>
        <p:spPr>
          <a:xfrm>
            <a:off x="534600" y="2891160"/>
            <a:ext cx="4680000" cy="1320840"/>
          </a:xfrm>
          <a:custGeom>
            <a:avLst/>
            <a:gdLst/>
            <a:ahLst/>
            <a:rect l="0" t="0" r="r" b="b"/>
            <a:pathLst>
              <a:path w="13000" h="3669">
                <a:moveTo>
                  <a:pt x="0" y="3483"/>
                </a:moveTo>
                <a:lnTo>
                  <a:pt x="0" y="186"/>
                </a:lnTo>
                <a:cubicBezTo>
                  <a:pt x="0" y="174"/>
                  <a:pt x="1" y="162"/>
                  <a:pt x="4" y="150"/>
                </a:cubicBezTo>
                <a:cubicBezTo>
                  <a:pt x="6" y="138"/>
                  <a:pt x="10" y="126"/>
                  <a:pt x="14" y="115"/>
                </a:cubicBezTo>
                <a:cubicBezTo>
                  <a:pt x="19" y="104"/>
                  <a:pt x="25" y="93"/>
                  <a:pt x="31" y="83"/>
                </a:cubicBezTo>
                <a:cubicBezTo>
                  <a:pt x="38" y="73"/>
                  <a:pt x="46" y="63"/>
                  <a:pt x="55" y="55"/>
                </a:cubicBezTo>
                <a:cubicBezTo>
                  <a:pt x="63" y="46"/>
                  <a:pt x="73" y="38"/>
                  <a:pt x="83" y="32"/>
                </a:cubicBezTo>
                <a:cubicBezTo>
                  <a:pt x="93" y="25"/>
                  <a:pt x="104" y="19"/>
                  <a:pt x="115" y="14"/>
                </a:cubicBezTo>
                <a:cubicBezTo>
                  <a:pt x="126" y="10"/>
                  <a:pt x="138" y="6"/>
                  <a:pt x="150" y="4"/>
                </a:cubicBezTo>
                <a:cubicBezTo>
                  <a:pt x="162" y="1"/>
                  <a:pt x="174" y="0"/>
                  <a:pt x="186" y="0"/>
                </a:cubicBezTo>
                <a:lnTo>
                  <a:pt x="12815" y="0"/>
                </a:lnTo>
                <a:cubicBezTo>
                  <a:pt x="12827" y="0"/>
                  <a:pt x="12839" y="1"/>
                  <a:pt x="12851" y="4"/>
                </a:cubicBezTo>
                <a:cubicBezTo>
                  <a:pt x="12863" y="6"/>
                  <a:pt x="12875" y="10"/>
                  <a:pt x="12886" y="14"/>
                </a:cubicBezTo>
                <a:cubicBezTo>
                  <a:pt x="12897" y="19"/>
                  <a:pt x="12908" y="25"/>
                  <a:pt x="12918" y="32"/>
                </a:cubicBezTo>
                <a:cubicBezTo>
                  <a:pt x="12928" y="38"/>
                  <a:pt x="12937" y="46"/>
                  <a:pt x="12946" y="55"/>
                </a:cubicBezTo>
                <a:cubicBezTo>
                  <a:pt x="12955" y="63"/>
                  <a:pt x="12962" y="73"/>
                  <a:pt x="12969" y="83"/>
                </a:cubicBezTo>
                <a:cubicBezTo>
                  <a:pt x="12976" y="93"/>
                  <a:pt x="12982" y="104"/>
                  <a:pt x="12986" y="115"/>
                </a:cubicBezTo>
                <a:cubicBezTo>
                  <a:pt x="12991" y="126"/>
                  <a:pt x="12994" y="138"/>
                  <a:pt x="12997" y="150"/>
                </a:cubicBezTo>
                <a:cubicBezTo>
                  <a:pt x="12999" y="162"/>
                  <a:pt x="13000" y="174"/>
                  <a:pt x="13000" y="186"/>
                </a:cubicBezTo>
                <a:lnTo>
                  <a:pt x="13000" y="3483"/>
                </a:lnTo>
                <a:cubicBezTo>
                  <a:pt x="13000" y="3495"/>
                  <a:pt x="12999" y="3507"/>
                  <a:pt x="12997" y="3519"/>
                </a:cubicBezTo>
                <a:cubicBezTo>
                  <a:pt x="12994" y="3531"/>
                  <a:pt x="12991" y="3543"/>
                  <a:pt x="12986" y="3554"/>
                </a:cubicBezTo>
                <a:cubicBezTo>
                  <a:pt x="12982" y="3566"/>
                  <a:pt x="12976" y="3576"/>
                  <a:pt x="12969" y="3586"/>
                </a:cubicBezTo>
                <a:cubicBezTo>
                  <a:pt x="12962" y="3596"/>
                  <a:pt x="12955" y="3606"/>
                  <a:pt x="12946" y="3614"/>
                </a:cubicBezTo>
                <a:cubicBezTo>
                  <a:pt x="12937" y="3623"/>
                  <a:pt x="12928" y="3631"/>
                  <a:pt x="12918" y="3638"/>
                </a:cubicBezTo>
                <a:cubicBezTo>
                  <a:pt x="12908" y="3644"/>
                  <a:pt x="12897" y="3650"/>
                  <a:pt x="12886" y="3655"/>
                </a:cubicBezTo>
                <a:cubicBezTo>
                  <a:pt x="12875" y="3659"/>
                  <a:pt x="12863" y="3663"/>
                  <a:pt x="12851" y="3665"/>
                </a:cubicBezTo>
                <a:cubicBezTo>
                  <a:pt x="12839" y="3668"/>
                  <a:pt x="12827" y="3669"/>
                  <a:pt x="12815" y="3669"/>
                </a:cubicBezTo>
                <a:lnTo>
                  <a:pt x="186" y="3669"/>
                </a:lnTo>
                <a:cubicBezTo>
                  <a:pt x="174" y="3669"/>
                  <a:pt x="162" y="3668"/>
                  <a:pt x="150" y="3665"/>
                </a:cubicBezTo>
                <a:cubicBezTo>
                  <a:pt x="138" y="3663"/>
                  <a:pt x="126" y="3659"/>
                  <a:pt x="115" y="3655"/>
                </a:cubicBezTo>
                <a:cubicBezTo>
                  <a:pt x="104" y="3650"/>
                  <a:pt x="93" y="3644"/>
                  <a:pt x="83" y="3638"/>
                </a:cubicBezTo>
                <a:cubicBezTo>
                  <a:pt x="73" y="3631"/>
                  <a:pt x="63" y="3623"/>
                  <a:pt x="55" y="3614"/>
                </a:cubicBezTo>
                <a:cubicBezTo>
                  <a:pt x="46" y="3606"/>
                  <a:pt x="38" y="3596"/>
                  <a:pt x="31" y="3586"/>
                </a:cubicBezTo>
                <a:cubicBezTo>
                  <a:pt x="25" y="3576"/>
                  <a:pt x="19" y="3566"/>
                  <a:pt x="14" y="3554"/>
                </a:cubicBezTo>
                <a:cubicBezTo>
                  <a:pt x="10" y="3543"/>
                  <a:pt x="6" y="3531"/>
                  <a:pt x="4" y="3519"/>
                </a:cubicBezTo>
                <a:cubicBezTo>
                  <a:pt x="1" y="3507"/>
                  <a:pt x="0" y="3495"/>
                  <a:pt x="0" y="3483"/>
                </a:cubicBezTo>
                <a:close/>
              </a:path>
            </a:pathLst>
          </a:custGeom>
          <a:solidFill>
            <a:srgbClr val="ffffff">
              <a:alpha val="10000"/>
            </a:srgbClr>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501" name=""/>
          <p:cNvSpPr/>
          <p:nvPr/>
        </p:nvSpPr>
        <p:spPr>
          <a:xfrm>
            <a:off x="534600" y="4412160"/>
            <a:ext cx="4680000" cy="1537920"/>
          </a:xfrm>
          <a:custGeom>
            <a:avLst/>
            <a:gdLst/>
            <a:ahLst/>
            <a:rect l="0" t="0" r="r" b="b"/>
            <a:pathLst>
              <a:path w="13000" h="4272">
                <a:moveTo>
                  <a:pt x="0" y="4086"/>
                </a:moveTo>
                <a:lnTo>
                  <a:pt x="0" y="186"/>
                </a:lnTo>
                <a:cubicBezTo>
                  <a:pt x="0" y="174"/>
                  <a:pt x="1" y="161"/>
                  <a:pt x="4" y="149"/>
                </a:cubicBezTo>
                <a:cubicBezTo>
                  <a:pt x="6" y="138"/>
                  <a:pt x="10" y="126"/>
                  <a:pt x="14" y="115"/>
                </a:cubicBezTo>
                <a:cubicBezTo>
                  <a:pt x="19" y="103"/>
                  <a:pt x="25" y="93"/>
                  <a:pt x="31" y="83"/>
                </a:cubicBezTo>
                <a:cubicBezTo>
                  <a:pt x="38" y="72"/>
                  <a:pt x="46" y="63"/>
                  <a:pt x="55" y="54"/>
                </a:cubicBezTo>
                <a:cubicBezTo>
                  <a:pt x="63" y="46"/>
                  <a:pt x="73" y="38"/>
                  <a:pt x="83" y="31"/>
                </a:cubicBezTo>
                <a:cubicBezTo>
                  <a:pt x="93" y="25"/>
                  <a:pt x="104" y="19"/>
                  <a:pt x="115" y="14"/>
                </a:cubicBezTo>
                <a:cubicBezTo>
                  <a:pt x="126" y="9"/>
                  <a:pt x="138" y="6"/>
                  <a:pt x="150" y="4"/>
                </a:cubicBezTo>
                <a:cubicBezTo>
                  <a:pt x="162" y="1"/>
                  <a:pt x="174" y="0"/>
                  <a:pt x="186" y="0"/>
                </a:cubicBezTo>
                <a:lnTo>
                  <a:pt x="12815" y="0"/>
                </a:lnTo>
                <a:cubicBezTo>
                  <a:pt x="12827" y="0"/>
                  <a:pt x="12839" y="1"/>
                  <a:pt x="12851" y="4"/>
                </a:cubicBezTo>
                <a:cubicBezTo>
                  <a:pt x="12863" y="6"/>
                  <a:pt x="12875" y="9"/>
                  <a:pt x="12886" y="14"/>
                </a:cubicBezTo>
                <a:cubicBezTo>
                  <a:pt x="12897" y="19"/>
                  <a:pt x="12908" y="25"/>
                  <a:pt x="12918" y="31"/>
                </a:cubicBezTo>
                <a:cubicBezTo>
                  <a:pt x="12928" y="38"/>
                  <a:pt x="12937" y="46"/>
                  <a:pt x="12946" y="54"/>
                </a:cubicBezTo>
                <a:cubicBezTo>
                  <a:pt x="12955" y="63"/>
                  <a:pt x="12962" y="72"/>
                  <a:pt x="12969" y="83"/>
                </a:cubicBezTo>
                <a:cubicBezTo>
                  <a:pt x="12976" y="93"/>
                  <a:pt x="12982" y="103"/>
                  <a:pt x="12986" y="115"/>
                </a:cubicBezTo>
                <a:cubicBezTo>
                  <a:pt x="12991" y="126"/>
                  <a:pt x="12994" y="138"/>
                  <a:pt x="12997" y="149"/>
                </a:cubicBezTo>
                <a:cubicBezTo>
                  <a:pt x="12999" y="161"/>
                  <a:pt x="13000" y="174"/>
                  <a:pt x="13000" y="186"/>
                </a:cubicBezTo>
                <a:lnTo>
                  <a:pt x="13000" y="4086"/>
                </a:lnTo>
                <a:cubicBezTo>
                  <a:pt x="13000" y="4099"/>
                  <a:pt x="12999" y="4111"/>
                  <a:pt x="12997" y="4123"/>
                </a:cubicBezTo>
                <a:cubicBezTo>
                  <a:pt x="12994" y="4135"/>
                  <a:pt x="12991" y="4146"/>
                  <a:pt x="12986" y="4158"/>
                </a:cubicBezTo>
                <a:cubicBezTo>
                  <a:pt x="12982" y="4169"/>
                  <a:pt x="12976" y="4180"/>
                  <a:pt x="12969" y="4190"/>
                </a:cubicBezTo>
                <a:cubicBezTo>
                  <a:pt x="12962" y="4200"/>
                  <a:pt x="12955" y="4209"/>
                  <a:pt x="12946" y="4218"/>
                </a:cubicBezTo>
                <a:cubicBezTo>
                  <a:pt x="12937" y="4226"/>
                  <a:pt x="12928" y="4234"/>
                  <a:pt x="12918" y="4241"/>
                </a:cubicBezTo>
                <a:cubicBezTo>
                  <a:pt x="12908" y="4248"/>
                  <a:pt x="12897" y="4253"/>
                  <a:pt x="12886" y="4258"/>
                </a:cubicBezTo>
                <a:cubicBezTo>
                  <a:pt x="12875" y="4263"/>
                  <a:pt x="12863" y="4266"/>
                  <a:pt x="12851" y="4269"/>
                </a:cubicBezTo>
                <a:cubicBezTo>
                  <a:pt x="12839" y="4271"/>
                  <a:pt x="12827" y="4272"/>
                  <a:pt x="12815" y="4272"/>
                </a:cubicBezTo>
                <a:lnTo>
                  <a:pt x="186" y="4272"/>
                </a:lnTo>
                <a:cubicBezTo>
                  <a:pt x="174" y="4272"/>
                  <a:pt x="162" y="4271"/>
                  <a:pt x="150" y="4269"/>
                </a:cubicBezTo>
                <a:cubicBezTo>
                  <a:pt x="138" y="4266"/>
                  <a:pt x="126" y="4263"/>
                  <a:pt x="115" y="4258"/>
                </a:cubicBezTo>
                <a:cubicBezTo>
                  <a:pt x="104" y="4253"/>
                  <a:pt x="93" y="4248"/>
                  <a:pt x="83" y="4241"/>
                </a:cubicBezTo>
                <a:cubicBezTo>
                  <a:pt x="73" y="4234"/>
                  <a:pt x="63" y="4226"/>
                  <a:pt x="55" y="4218"/>
                </a:cubicBezTo>
                <a:cubicBezTo>
                  <a:pt x="46" y="4209"/>
                  <a:pt x="38" y="4200"/>
                  <a:pt x="31" y="4190"/>
                </a:cubicBezTo>
                <a:cubicBezTo>
                  <a:pt x="25" y="4180"/>
                  <a:pt x="19" y="4169"/>
                  <a:pt x="14" y="4158"/>
                </a:cubicBezTo>
                <a:cubicBezTo>
                  <a:pt x="10" y="4146"/>
                  <a:pt x="6" y="4135"/>
                  <a:pt x="4" y="4123"/>
                </a:cubicBezTo>
                <a:cubicBezTo>
                  <a:pt x="1" y="4111"/>
                  <a:pt x="0" y="4099"/>
                  <a:pt x="0" y="4086"/>
                </a:cubicBezTo>
                <a:close/>
              </a:path>
            </a:pathLst>
          </a:custGeom>
          <a:solidFill>
            <a:srgbClr val="ffffff">
              <a:alpha val="10000"/>
            </a:srgbClr>
          </a:solidFill>
          <a:ln w="0">
            <a:noFill/>
          </a:ln>
        </p:spPr>
        <p:txBody>
          <a:bodyPr lIns="0" rIns="0" tIns="0" bIns="0" anchor="t">
            <a:noAutofit/>
          </a:bodyPr>
          <a:p>
            <a:endParaRPr b="0" lang="en-US" sz="2400" strike="noStrike" u="none">
              <a:solidFill>
                <a:srgbClr val="000000"/>
              </a:solidFill>
              <a:effectLst/>
              <a:uFillTx/>
              <a:latin typeface="Times New Roman"/>
            </a:endParaRPr>
          </a:p>
        </p:txBody>
      </p:sp>
      <p:pic>
        <p:nvPicPr>
          <p:cNvPr id="502" name="" descr=""/>
          <p:cNvPicPr/>
          <p:nvPr/>
        </p:nvPicPr>
        <p:blipFill>
          <a:blip r:embed="rId2"/>
          <a:stretch/>
        </p:blipFill>
        <p:spPr>
          <a:xfrm>
            <a:off x="534960" y="977760"/>
            <a:ext cx="225360" cy="200160"/>
          </a:xfrm>
          <a:prstGeom prst="rect">
            <a:avLst/>
          </a:prstGeom>
          <a:noFill/>
          <a:ln w="0">
            <a:noFill/>
          </a:ln>
        </p:spPr>
      </p:pic>
      <p:sp>
        <p:nvSpPr>
          <p:cNvPr id="503" name=""/>
          <p:cNvSpPr txBox="1"/>
          <p:nvPr/>
        </p:nvSpPr>
        <p:spPr>
          <a:xfrm>
            <a:off x="534960" y="222120"/>
            <a:ext cx="4251600" cy="436320"/>
          </a:xfrm>
          <a:prstGeom prst="rect">
            <a:avLst/>
          </a:prstGeom>
          <a:noFill/>
          <a:ln w="0">
            <a:noFill/>
          </a:ln>
        </p:spPr>
        <p:txBody>
          <a:bodyPr wrap="none" lIns="0" rIns="0" tIns="0" bIns="0" anchor="t">
            <a:spAutoFit/>
          </a:bodyPr>
          <a:p>
            <a:r>
              <a:rPr b="0" lang="zh-CN" sz="2370" strike="noStrike" u="none">
                <a:solidFill>
                  <a:srgbClr val="ffffff"/>
                </a:solidFill>
                <a:effectLst/>
                <a:uFillTx/>
                <a:latin typeface="NotoSansJP"/>
                <a:ea typeface="NotoSansJP"/>
              </a:rPr>
              <a:t>瞳レンズのモデル化と</a:t>
            </a:r>
            <a:r>
              <a:rPr b="0" lang="en-US" sz="2370" strike="noStrike" u="none">
                <a:solidFill>
                  <a:srgbClr val="ffffff"/>
                </a:solidFill>
                <a:effectLst/>
                <a:uFillTx/>
                <a:latin typeface="NotoSansJP"/>
                <a:ea typeface="NotoSansJP"/>
              </a:rPr>
              <a:t>2</a:t>
            </a:r>
            <a:r>
              <a:rPr b="0" lang="zh-CN" sz="2370" strike="noStrike" u="none">
                <a:solidFill>
                  <a:srgbClr val="ffffff"/>
                </a:solidFill>
                <a:effectLst/>
                <a:uFillTx/>
                <a:latin typeface="NotoSansJP"/>
                <a:ea typeface="NotoSansJP"/>
              </a:rPr>
              <a:t>次位相</a:t>
            </a:r>
            <a:endParaRPr b="0" lang="en-US" sz="2370" strike="noStrike" u="none">
              <a:solidFill>
                <a:srgbClr val="000000"/>
              </a:solidFill>
              <a:effectLst/>
              <a:uFillTx/>
              <a:latin typeface="Times New Roman"/>
            </a:endParaRPr>
          </a:p>
        </p:txBody>
      </p:sp>
      <p:sp>
        <p:nvSpPr>
          <p:cNvPr id="504" name=""/>
          <p:cNvSpPr txBox="1"/>
          <p:nvPr/>
        </p:nvSpPr>
        <p:spPr>
          <a:xfrm>
            <a:off x="860760" y="966960"/>
            <a:ext cx="2012400" cy="291600"/>
          </a:xfrm>
          <a:prstGeom prst="rect">
            <a:avLst/>
          </a:prstGeom>
          <a:noFill/>
          <a:ln w="0">
            <a:noFill/>
          </a:ln>
        </p:spPr>
        <p:txBody>
          <a:bodyPr wrap="none" lIns="0" rIns="0" tIns="0" bIns="0" anchor="t">
            <a:spAutoFit/>
          </a:bodyPr>
          <a:p>
            <a:r>
              <a:rPr b="0" lang="zh-CN" sz="1580" strike="noStrike" u="none">
                <a:solidFill>
                  <a:srgbClr val="a7c6d9"/>
                </a:solidFill>
                <a:effectLst/>
                <a:uFillTx/>
                <a:latin typeface="NotoSansJP"/>
                <a:ea typeface="NotoSansJP"/>
              </a:rPr>
              <a:t>眼球光学系のモデル化</a:t>
            </a:r>
            <a:endParaRPr b="0" lang="en-US" sz="1580" strike="noStrike" u="none">
              <a:solidFill>
                <a:srgbClr val="000000"/>
              </a:solidFill>
              <a:effectLst/>
              <a:uFillTx/>
              <a:latin typeface="Times New Roman"/>
            </a:endParaRPr>
          </a:p>
        </p:txBody>
      </p:sp>
      <p:sp>
        <p:nvSpPr>
          <p:cNvPr id="505" name=""/>
          <p:cNvSpPr txBox="1"/>
          <p:nvPr/>
        </p:nvSpPr>
        <p:spPr>
          <a:xfrm>
            <a:off x="702000" y="1566360"/>
            <a:ext cx="1341720" cy="244080"/>
          </a:xfrm>
          <a:prstGeom prst="rect">
            <a:avLst/>
          </a:prstGeom>
          <a:noFill/>
          <a:ln w="0">
            <a:noFill/>
          </a:ln>
        </p:spPr>
        <p:txBody>
          <a:bodyPr wrap="none" lIns="0" rIns="0" tIns="0" bIns="0" anchor="t">
            <a:spAutoFit/>
          </a:bodyPr>
          <a:p>
            <a:r>
              <a:rPr b="0" lang="zh-CN" sz="1320" strike="noStrike" u="none">
                <a:solidFill>
                  <a:srgbClr val="ffffff"/>
                </a:solidFill>
                <a:effectLst/>
                <a:uFillTx/>
                <a:latin typeface="NotoSansJP"/>
                <a:ea typeface="NotoSansJP"/>
              </a:rPr>
              <a:t>眼球レンズの機能</a:t>
            </a:r>
            <a:endParaRPr b="0" lang="en-US" sz="1320" strike="noStrike" u="none">
              <a:solidFill>
                <a:srgbClr val="000000"/>
              </a:solidFill>
              <a:effectLst/>
              <a:uFillTx/>
              <a:latin typeface="Times New Roman"/>
            </a:endParaRPr>
          </a:p>
        </p:txBody>
      </p:sp>
      <p:sp>
        <p:nvSpPr>
          <p:cNvPr id="506" name=""/>
          <p:cNvSpPr txBox="1"/>
          <p:nvPr/>
        </p:nvSpPr>
        <p:spPr>
          <a:xfrm>
            <a:off x="702000" y="1914840"/>
            <a:ext cx="4292280" cy="194040"/>
          </a:xfrm>
          <a:prstGeom prst="rect">
            <a:avLst/>
          </a:prstGeom>
          <a:noFill/>
          <a:ln w="0">
            <a:noFill/>
          </a:ln>
        </p:spPr>
        <p:txBody>
          <a:bodyPr wrap="none" lIns="0" rIns="0" tIns="0" bIns="0" anchor="t">
            <a:spAutoFit/>
          </a:bodyPr>
          <a:p>
            <a:r>
              <a:rPr b="0" lang="zh-CN" sz="1050" strike="noStrike" u="none">
                <a:solidFill>
                  <a:srgbClr val="a7c6d9"/>
                </a:solidFill>
                <a:effectLst/>
                <a:uFillTx/>
                <a:latin typeface="NotoSansJP"/>
                <a:ea typeface="NotoSansJP"/>
              </a:rPr>
              <a:t>眼球内のレンズ（主に角膜と水晶体）は入射光を屈折させ、網膜上に像</a:t>
            </a:r>
            <a:endParaRPr b="0" lang="en-US" sz="1050" strike="noStrike" u="none">
              <a:solidFill>
                <a:srgbClr val="000000"/>
              </a:solidFill>
              <a:effectLst/>
              <a:uFillTx/>
              <a:latin typeface="Times New Roman"/>
            </a:endParaRPr>
          </a:p>
        </p:txBody>
      </p:sp>
      <p:sp>
        <p:nvSpPr>
          <p:cNvPr id="507" name=""/>
          <p:cNvSpPr txBox="1"/>
          <p:nvPr/>
        </p:nvSpPr>
        <p:spPr>
          <a:xfrm>
            <a:off x="702000" y="2132280"/>
            <a:ext cx="4292280" cy="194040"/>
          </a:xfrm>
          <a:prstGeom prst="rect">
            <a:avLst/>
          </a:prstGeom>
          <a:noFill/>
          <a:ln w="0">
            <a:noFill/>
          </a:ln>
        </p:spPr>
        <p:txBody>
          <a:bodyPr wrap="none" lIns="0" rIns="0" tIns="0" bIns="0" anchor="t">
            <a:spAutoFit/>
          </a:bodyPr>
          <a:p>
            <a:r>
              <a:rPr b="0" lang="zh-CN" sz="1050" strike="noStrike" u="none">
                <a:solidFill>
                  <a:srgbClr val="a7c6d9"/>
                </a:solidFill>
                <a:effectLst/>
                <a:uFillTx/>
                <a:latin typeface="NotoSansJP"/>
                <a:ea typeface="NotoSansJP"/>
              </a:rPr>
              <a:t>を結像させる役割を持ちます。これにより、三次元空間の物体を認識す</a:t>
            </a:r>
            <a:endParaRPr b="0" lang="en-US" sz="1050" strike="noStrike" u="none">
              <a:solidFill>
                <a:srgbClr val="000000"/>
              </a:solidFill>
              <a:effectLst/>
              <a:uFillTx/>
              <a:latin typeface="Times New Roman"/>
            </a:endParaRPr>
          </a:p>
        </p:txBody>
      </p:sp>
      <p:sp>
        <p:nvSpPr>
          <p:cNvPr id="508" name=""/>
          <p:cNvSpPr txBox="1"/>
          <p:nvPr/>
        </p:nvSpPr>
        <p:spPr>
          <a:xfrm>
            <a:off x="702000" y="2349360"/>
            <a:ext cx="1609920" cy="194040"/>
          </a:xfrm>
          <a:prstGeom prst="rect">
            <a:avLst/>
          </a:prstGeom>
          <a:noFill/>
          <a:ln w="0">
            <a:noFill/>
          </a:ln>
        </p:spPr>
        <p:txBody>
          <a:bodyPr wrap="none" lIns="0" rIns="0" tIns="0" bIns="0" anchor="t">
            <a:spAutoFit/>
          </a:bodyPr>
          <a:p>
            <a:r>
              <a:rPr b="0" lang="zh-CN" sz="1050" strike="noStrike" u="none">
                <a:solidFill>
                  <a:srgbClr val="a7c6d9"/>
                </a:solidFill>
                <a:effectLst/>
                <a:uFillTx/>
                <a:latin typeface="NotoSansJP"/>
                <a:ea typeface="NotoSansJP"/>
              </a:rPr>
              <a:t>ることが可能になります。</a:t>
            </a:r>
            <a:endParaRPr b="0" lang="en-US" sz="1050" strike="noStrike" u="none">
              <a:solidFill>
                <a:srgbClr val="000000"/>
              </a:solidFill>
              <a:effectLst/>
              <a:uFillTx/>
              <a:latin typeface="Times New Roman"/>
            </a:endParaRPr>
          </a:p>
        </p:txBody>
      </p:sp>
      <p:sp>
        <p:nvSpPr>
          <p:cNvPr id="509" name=""/>
          <p:cNvSpPr txBox="1"/>
          <p:nvPr/>
        </p:nvSpPr>
        <p:spPr>
          <a:xfrm>
            <a:off x="702000" y="3087360"/>
            <a:ext cx="1174320" cy="244080"/>
          </a:xfrm>
          <a:prstGeom prst="rect">
            <a:avLst/>
          </a:prstGeom>
          <a:noFill/>
          <a:ln w="0">
            <a:noFill/>
          </a:ln>
        </p:spPr>
        <p:txBody>
          <a:bodyPr wrap="none" lIns="0" rIns="0" tIns="0" bIns="0" anchor="t">
            <a:spAutoFit/>
          </a:bodyPr>
          <a:p>
            <a:r>
              <a:rPr b="0" lang="zh-CN" sz="1320" strike="noStrike" u="none">
                <a:solidFill>
                  <a:srgbClr val="ffffff"/>
                </a:solidFill>
                <a:effectLst/>
                <a:uFillTx/>
                <a:latin typeface="NotoSansJP"/>
                <a:ea typeface="NotoSansJP"/>
              </a:rPr>
              <a:t>薄レンズモデル</a:t>
            </a:r>
            <a:endParaRPr b="0" lang="en-US" sz="1320" strike="noStrike" u="none">
              <a:solidFill>
                <a:srgbClr val="000000"/>
              </a:solidFill>
              <a:effectLst/>
              <a:uFillTx/>
              <a:latin typeface="Times New Roman"/>
            </a:endParaRPr>
          </a:p>
        </p:txBody>
      </p:sp>
      <p:sp>
        <p:nvSpPr>
          <p:cNvPr id="510" name=""/>
          <p:cNvSpPr txBox="1"/>
          <p:nvPr/>
        </p:nvSpPr>
        <p:spPr>
          <a:xfrm>
            <a:off x="702000" y="3435840"/>
            <a:ext cx="4292280" cy="194040"/>
          </a:xfrm>
          <a:prstGeom prst="rect">
            <a:avLst/>
          </a:prstGeom>
          <a:noFill/>
          <a:ln w="0">
            <a:noFill/>
          </a:ln>
        </p:spPr>
        <p:txBody>
          <a:bodyPr wrap="none" lIns="0" rIns="0" tIns="0" bIns="0" anchor="t">
            <a:spAutoFit/>
          </a:bodyPr>
          <a:p>
            <a:r>
              <a:rPr b="0" lang="zh-CN" sz="1050" strike="noStrike" u="none">
                <a:solidFill>
                  <a:srgbClr val="a7c6d9"/>
                </a:solidFill>
                <a:effectLst/>
                <a:uFillTx/>
                <a:latin typeface="NotoSansJP"/>
                <a:ea typeface="NotoSansJP"/>
              </a:rPr>
              <a:t>シミュレーションでは、眼球の複雑な光学系を単一の薄レンズとして簡</a:t>
            </a:r>
            <a:endParaRPr b="0" lang="en-US" sz="1050" strike="noStrike" u="none">
              <a:solidFill>
                <a:srgbClr val="000000"/>
              </a:solidFill>
              <a:effectLst/>
              <a:uFillTx/>
              <a:latin typeface="Times New Roman"/>
            </a:endParaRPr>
          </a:p>
        </p:txBody>
      </p:sp>
      <p:sp>
        <p:nvSpPr>
          <p:cNvPr id="511" name=""/>
          <p:cNvSpPr txBox="1"/>
          <p:nvPr/>
        </p:nvSpPr>
        <p:spPr>
          <a:xfrm>
            <a:off x="702000" y="3653280"/>
            <a:ext cx="4447440" cy="194040"/>
          </a:xfrm>
          <a:prstGeom prst="rect">
            <a:avLst/>
          </a:prstGeom>
          <a:noFill/>
          <a:ln w="0">
            <a:noFill/>
          </a:ln>
        </p:spPr>
        <p:txBody>
          <a:bodyPr wrap="none" lIns="0" rIns="0" tIns="0" bIns="0" anchor="t">
            <a:spAutoFit/>
          </a:bodyPr>
          <a:p>
            <a:r>
              <a:rPr b="0" lang="zh-CN" sz="1050" strike="noStrike" u="none">
                <a:solidFill>
                  <a:srgbClr val="a7c6d9"/>
                </a:solidFill>
                <a:effectLst/>
                <a:uFillTx/>
                <a:latin typeface="NotoSansJP"/>
                <a:ea typeface="NotoSansJP"/>
              </a:rPr>
              <a:t>略化します。このモデルでは、レンズは入射する光波の位相を</a:t>
            </a:r>
            <a:r>
              <a:rPr b="0" lang="en-US" sz="1050" strike="noStrike" u="none">
                <a:solidFill>
                  <a:srgbClr val="a7c6d9"/>
                </a:solidFill>
                <a:effectLst/>
                <a:uFillTx/>
                <a:latin typeface="NotoSansJP"/>
                <a:ea typeface="NotoSansJP"/>
              </a:rPr>
              <a:t>2</a:t>
            </a:r>
            <a:r>
              <a:rPr b="0" lang="zh-CN" sz="1050" strike="noStrike" u="none">
                <a:solidFill>
                  <a:srgbClr val="a7c6d9"/>
                </a:solidFill>
                <a:effectLst/>
                <a:uFillTx/>
                <a:latin typeface="NotoSansJP"/>
                <a:ea typeface="NotoSansJP"/>
              </a:rPr>
              <a:t>次関数的</a:t>
            </a:r>
            <a:endParaRPr b="0" lang="en-US" sz="1050" strike="noStrike" u="none">
              <a:solidFill>
                <a:srgbClr val="000000"/>
              </a:solidFill>
              <a:effectLst/>
              <a:uFillTx/>
              <a:latin typeface="Times New Roman"/>
            </a:endParaRPr>
          </a:p>
        </p:txBody>
      </p:sp>
      <p:sp>
        <p:nvSpPr>
          <p:cNvPr id="512" name=""/>
          <p:cNvSpPr txBox="1"/>
          <p:nvPr/>
        </p:nvSpPr>
        <p:spPr>
          <a:xfrm>
            <a:off x="702000" y="3870360"/>
            <a:ext cx="2414880" cy="194040"/>
          </a:xfrm>
          <a:prstGeom prst="rect">
            <a:avLst/>
          </a:prstGeom>
          <a:noFill/>
          <a:ln w="0">
            <a:noFill/>
          </a:ln>
        </p:spPr>
        <p:txBody>
          <a:bodyPr wrap="none" lIns="0" rIns="0" tIns="0" bIns="0" anchor="t">
            <a:spAutoFit/>
          </a:bodyPr>
          <a:p>
            <a:r>
              <a:rPr b="0" lang="zh-CN" sz="1050" strike="noStrike" u="none">
                <a:solidFill>
                  <a:srgbClr val="a7c6d9"/>
                </a:solidFill>
                <a:effectLst/>
                <a:uFillTx/>
                <a:latin typeface="NotoSansJP"/>
                <a:ea typeface="NotoSansJP"/>
              </a:rPr>
              <a:t>に変化させることで光を屈折させます。</a:t>
            </a:r>
            <a:endParaRPr b="0" lang="en-US" sz="1050" strike="noStrike" u="none">
              <a:solidFill>
                <a:srgbClr val="000000"/>
              </a:solidFill>
              <a:effectLst/>
              <a:uFillTx/>
              <a:latin typeface="Times New Roman"/>
            </a:endParaRPr>
          </a:p>
        </p:txBody>
      </p:sp>
      <p:sp>
        <p:nvSpPr>
          <p:cNvPr id="513" name=""/>
          <p:cNvSpPr txBox="1"/>
          <p:nvPr/>
        </p:nvSpPr>
        <p:spPr>
          <a:xfrm>
            <a:off x="702000" y="4608360"/>
            <a:ext cx="1006560" cy="244080"/>
          </a:xfrm>
          <a:prstGeom prst="rect">
            <a:avLst/>
          </a:prstGeom>
          <a:noFill/>
          <a:ln w="0">
            <a:noFill/>
          </a:ln>
        </p:spPr>
        <p:txBody>
          <a:bodyPr wrap="none" lIns="0" rIns="0" tIns="0" bIns="0" anchor="t">
            <a:spAutoFit/>
          </a:bodyPr>
          <a:p>
            <a:r>
              <a:rPr b="0" lang="zh-CN" sz="1320" strike="noStrike" u="none">
                <a:solidFill>
                  <a:srgbClr val="ffffff"/>
                </a:solidFill>
                <a:effectLst/>
                <a:uFillTx/>
                <a:latin typeface="NotoSansJP"/>
                <a:ea typeface="NotoSansJP"/>
              </a:rPr>
              <a:t>モデルの限界</a:t>
            </a:r>
            <a:endParaRPr b="0" lang="en-US" sz="1320" strike="noStrike" u="none">
              <a:solidFill>
                <a:srgbClr val="000000"/>
              </a:solidFill>
              <a:effectLst/>
              <a:uFillTx/>
              <a:latin typeface="Times New Roman"/>
            </a:endParaRPr>
          </a:p>
        </p:txBody>
      </p:sp>
      <p:sp>
        <p:nvSpPr>
          <p:cNvPr id="514" name=""/>
          <p:cNvSpPr txBox="1"/>
          <p:nvPr/>
        </p:nvSpPr>
        <p:spPr>
          <a:xfrm>
            <a:off x="702000" y="4956840"/>
            <a:ext cx="4313520" cy="194040"/>
          </a:xfrm>
          <a:prstGeom prst="rect">
            <a:avLst/>
          </a:prstGeom>
          <a:noFill/>
          <a:ln w="0">
            <a:noFill/>
          </a:ln>
        </p:spPr>
        <p:txBody>
          <a:bodyPr wrap="none" lIns="0" rIns="0" tIns="0" bIns="0" anchor="t">
            <a:spAutoFit/>
          </a:bodyPr>
          <a:p>
            <a:r>
              <a:rPr b="0" lang="zh-CN" sz="1050" strike="noStrike" u="none">
                <a:solidFill>
                  <a:srgbClr val="a7c6d9"/>
                </a:solidFill>
                <a:effectLst/>
                <a:uFillTx/>
                <a:latin typeface="NotoSansJP"/>
                <a:ea typeface="NotoSansJP"/>
              </a:rPr>
              <a:t>この単純な</a:t>
            </a:r>
            <a:r>
              <a:rPr b="0" lang="en-US" sz="1050" strike="noStrike" u="none">
                <a:solidFill>
                  <a:srgbClr val="a7c6d9"/>
                </a:solidFill>
                <a:effectLst/>
                <a:uFillTx/>
                <a:latin typeface="NotoSansJP"/>
                <a:ea typeface="NotoSansJP"/>
              </a:rPr>
              <a:t>2</a:t>
            </a:r>
            <a:r>
              <a:rPr b="0" lang="zh-CN" sz="1050" strike="noStrike" u="none">
                <a:solidFill>
                  <a:srgbClr val="a7c6d9"/>
                </a:solidFill>
                <a:effectLst/>
                <a:uFillTx/>
                <a:latin typeface="NotoSansJP"/>
                <a:ea typeface="NotoSansJP"/>
              </a:rPr>
              <a:t>次位相モデルは、レンズの収差（球面収差、色収差など）</a:t>
            </a:r>
            <a:endParaRPr b="0" lang="en-US" sz="1050" strike="noStrike" u="none">
              <a:solidFill>
                <a:srgbClr val="000000"/>
              </a:solidFill>
              <a:effectLst/>
              <a:uFillTx/>
              <a:latin typeface="Times New Roman"/>
            </a:endParaRPr>
          </a:p>
        </p:txBody>
      </p:sp>
      <p:sp>
        <p:nvSpPr>
          <p:cNvPr id="515" name=""/>
          <p:cNvSpPr txBox="1"/>
          <p:nvPr/>
        </p:nvSpPr>
        <p:spPr>
          <a:xfrm>
            <a:off x="702000" y="5173920"/>
            <a:ext cx="4385160" cy="194040"/>
          </a:xfrm>
          <a:prstGeom prst="rect">
            <a:avLst/>
          </a:prstGeom>
          <a:noFill/>
          <a:ln w="0">
            <a:noFill/>
          </a:ln>
        </p:spPr>
        <p:txBody>
          <a:bodyPr wrap="none" lIns="0" rIns="0" tIns="0" bIns="0" anchor="t">
            <a:spAutoFit/>
          </a:bodyPr>
          <a:p>
            <a:r>
              <a:rPr b="0" lang="zh-CN" sz="1050" strike="noStrike" u="none">
                <a:solidFill>
                  <a:srgbClr val="a7c6d9"/>
                </a:solidFill>
                <a:effectLst/>
                <a:uFillTx/>
                <a:latin typeface="NotoSansJP"/>
                <a:ea typeface="NotoSansJP"/>
              </a:rPr>
              <a:t>を考慮していません。より精密なシミュレーションでは、</a:t>
            </a:r>
            <a:r>
              <a:rPr b="0" lang="en-US" sz="1050" strike="noStrike" u="none">
                <a:solidFill>
                  <a:srgbClr val="a7c6d9"/>
                </a:solidFill>
                <a:effectLst/>
                <a:uFillTx/>
                <a:latin typeface="NotoSansJP"/>
                <a:ea typeface="NotoSansJP"/>
              </a:rPr>
              <a:t>Gullstrand</a:t>
            </a:r>
            <a:r>
              <a:rPr b="0" lang="zh-CN" sz="1050" strike="noStrike" u="none">
                <a:solidFill>
                  <a:srgbClr val="a7c6d9"/>
                </a:solidFill>
                <a:effectLst/>
                <a:uFillTx/>
                <a:latin typeface="NotoSansJP"/>
                <a:ea typeface="NotoSansJP"/>
              </a:rPr>
              <a:t>の</a:t>
            </a:r>
            <a:endParaRPr b="0" lang="en-US" sz="1050" strike="noStrike" u="none">
              <a:solidFill>
                <a:srgbClr val="000000"/>
              </a:solidFill>
              <a:effectLst/>
              <a:uFillTx/>
              <a:latin typeface="Times New Roman"/>
            </a:endParaRPr>
          </a:p>
        </p:txBody>
      </p:sp>
      <p:sp>
        <p:nvSpPr>
          <p:cNvPr id="516" name=""/>
          <p:cNvSpPr txBox="1"/>
          <p:nvPr/>
        </p:nvSpPr>
        <p:spPr>
          <a:xfrm>
            <a:off x="702000" y="5391360"/>
            <a:ext cx="4337640" cy="194040"/>
          </a:xfrm>
          <a:prstGeom prst="rect">
            <a:avLst/>
          </a:prstGeom>
          <a:noFill/>
          <a:ln w="0">
            <a:noFill/>
          </a:ln>
        </p:spPr>
        <p:txBody>
          <a:bodyPr wrap="none" lIns="0" rIns="0" tIns="0" bIns="0" anchor="t">
            <a:spAutoFit/>
          </a:bodyPr>
          <a:p>
            <a:r>
              <a:rPr b="0" lang="zh-CN" sz="1050" strike="noStrike" u="none">
                <a:solidFill>
                  <a:srgbClr val="a7c6d9"/>
                </a:solidFill>
                <a:effectLst/>
                <a:uFillTx/>
                <a:latin typeface="NotoSansJP"/>
                <a:ea typeface="NotoSansJP"/>
              </a:rPr>
              <a:t>模型眼などの詳細な眼球光学モデルや</a:t>
            </a:r>
            <a:r>
              <a:rPr b="0" lang="en-US" sz="1050" strike="noStrike" u="none">
                <a:solidFill>
                  <a:srgbClr val="a7c6d9"/>
                </a:solidFill>
                <a:effectLst/>
                <a:uFillTx/>
                <a:latin typeface="NotoSansJP"/>
                <a:ea typeface="NotoSansJP"/>
              </a:rPr>
              <a:t>Zernike</a:t>
            </a:r>
            <a:r>
              <a:rPr b="0" lang="zh-CN" sz="1050" strike="noStrike" u="none">
                <a:solidFill>
                  <a:srgbClr val="a7c6d9"/>
                </a:solidFill>
                <a:effectLst/>
                <a:uFillTx/>
                <a:latin typeface="NotoSansJP"/>
                <a:ea typeface="NotoSansJP"/>
              </a:rPr>
              <a:t>多項式を用いた波面収差</a:t>
            </a:r>
            <a:endParaRPr b="0" lang="en-US" sz="1050" strike="noStrike" u="none">
              <a:solidFill>
                <a:srgbClr val="000000"/>
              </a:solidFill>
              <a:effectLst/>
              <a:uFillTx/>
              <a:latin typeface="Times New Roman"/>
            </a:endParaRPr>
          </a:p>
        </p:txBody>
      </p:sp>
      <p:sp>
        <p:nvSpPr>
          <p:cNvPr id="517" name=""/>
          <p:cNvSpPr/>
          <p:nvPr/>
        </p:nvSpPr>
        <p:spPr>
          <a:xfrm>
            <a:off x="5481720" y="1370160"/>
            <a:ext cx="4680360" cy="2173320"/>
          </a:xfrm>
          <a:custGeom>
            <a:avLst/>
            <a:gdLst/>
            <a:ahLst/>
            <a:rect l="0" t="0" r="r" b="b"/>
            <a:pathLst>
              <a:path w="13001" h="6037">
                <a:moveTo>
                  <a:pt x="0" y="5851"/>
                </a:moveTo>
                <a:lnTo>
                  <a:pt x="0" y="186"/>
                </a:lnTo>
                <a:cubicBezTo>
                  <a:pt x="0" y="174"/>
                  <a:pt x="1" y="162"/>
                  <a:pt x="4" y="150"/>
                </a:cubicBezTo>
                <a:cubicBezTo>
                  <a:pt x="6" y="138"/>
                  <a:pt x="10" y="126"/>
                  <a:pt x="14" y="115"/>
                </a:cubicBezTo>
                <a:cubicBezTo>
                  <a:pt x="19" y="104"/>
                  <a:pt x="25" y="93"/>
                  <a:pt x="32" y="83"/>
                </a:cubicBezTo>
                <a:cubicBezTo>
                  <a:pt x="38" y="73"/>
                  <a:pt x="46" y="63"/>
                  <a:pt x="55" y="55"/>
                </a:cubicBezTo>
                <a:cubicBezTo>
                  <a:pt x="63" y="46"/>
                  <a:pt x="73" y="39"/>
                  <a:pt x="83" y="32"/>
                </a:cubicBezTo>
                <a:cubicBezTo>
                  <a:pt x="93" y="25"/>
                  <a:pt x="104" y="19"/>
                  <a:pt x="115" y="15"/>
                </a:cubicBezTo>
                <a:cubicBezTo>
                  <a:pt x="126" y="10"/>
                  <a:pt x="138" y="6"/>
                  <a:pt x="150" y="4"/>
                </a:cubicBezTo>
                <a:cubicBezTo>
                  <a:pt x="162" y="2"/>
                  <a:pt x="174" y="0"/>
                  <a:pt x="186" y="0"/>
                </a:cubicBezTo>
                <a:lnTo>
                  <a:pt x="12815" y="0"/>
                </a:lnTo>
                <a:cubicBezTo>
                  <a:pt x="12827" y="0"/>
                  <a:pt x="12839" y="2"/>
                  <a:pt x="12851" y="4"/>
                </a:cubicBezTo>
                <a:cubicBezTo>
                  <a:pt x="12863" y="6"/>
                  <a:pt x="12875" y="10"/>
                  <a:pt x="12886" y="15"/>
                </a:cubicBezTo>
                <a:cubicBezTo>
                  <a:pt x="12897" y="19"/>
                  <a:pt x="12908" y="25"/>
                  <a:pt x="12918" y="32"/>
                </a:cubicBezTo>
                <a:cubicBezTo>
                  <a:pt x="12928" y="39"/>
                  <a:pt x="12938" y="46"/>
                  <a:pt x="12946" y="55"/>
                </a:cubicBezTo>
                <a:cubicBezTo>
                  <a:pt x="12955" y="63"/>
                  <a:pt x="12962" y="73"/>
                  <a:pt x="12969" y="83"/>
                </a:cubicBezTo>
                <a:cubicBezTo>
                  <a:pt x="12976" y="93"/>
                  <a:pt x="12982" y="104"/>
                  <a:pt x="12986" y="115"/>
                </a:cubicBezTo>
                <a:cubicBezTo>
                  <a:pt x="12991" y="126"/>
                  <a:pt x="12995" y="138"/>
                  <a:pt x="12997" y="150"/>
                </a:cubicBezTo>
                <a:cubicBezTo>
                  <a:pt x="12999" y="162"/>
                  <a:pt x="13001" y="174"/>
                  <a:pt x="13001" y="186"/>
                </a:cubicBezTo>
                <a:lnTo>
                  <a:pt x="13001" y="5851"/>
                </a:lnTo>
                <a:cubicBezTo>
                  <a:pt x="13001" y="5863"/>
                  <a:pt x="12999" y="5875"/>
                  <a:pt x="12997" y="5887"/>
                </a:cubicBezTo>
                <a:cubicBezTo>
                  <a:pt x="12995" y="5899"/>
                  <a:pt x="12991" y="5911"/>
                  <a:pt x="12986" y="5922"/>
                </a:cubicBezTo>
                <a:cubicBezTo>
                  <a:pt x="12982" y="5933"/>
                  <a:pt x="12976" y="5944"/>
                  <a:pt x="12969" y="5954"/>
                </a:cubicBezTo>
                <a:cubicBezTo>
                  <a:pt x="12962" y="5964"/>
                  <a:pt x="12955" y="5974"/>
                  <a:pt x="12946" y="5982"/>
                </a:cubicBezTo>
                <a:cubicBezTo>
                  <a:pt x="12938" y="5991"/>
                  <a:pt x="12928" y="5999"/>
                  <a:pt x="12918" y="6006"/>
                </a:cubicBezTo>
                <a:cubicBezTo>
                  <a:pt x="12908" y="6012"/>
                  <a:pt x="12897" y="6018"/>
                  <a:pt x="12886" y="6023"/>
                </a:cubicBezTo>
                <a:cubicBezTo>
                  <a:pt x="12875" y="6027"/>
                  <a:pt x="12863" y="6031"/>
                  <a:pt x="12851" y="6033"/>
                </a:cubicBezTo>
                <a:cubicBezTo>
                  <a:pt x="12839" y="6036"/>
                  <a:pt x="12827" y="6037"/>
                  <a:pt x="12815" y="6037"/>
                </a:cubicBezTo>
                <a:lnTo>
                  <a:pt x="186" y="6037"/>
                </a:lnTo>
                <a:cubicBezTo>
                  <a:pt x="174" y="6037"/>
                  <a:pt x="162" y="6036"/>
                  <a:pt x="150" y="6033"/>
                </a:cubicBezTo>
                <a:cubicBezTo>
                  <a:pt x="138" y="6031"/>
                  <a:pt x="126" y="6027"/>
                  <a:pt x="115" y="6023"/>
                </a:cubicBezTo>
                <a:cubicBezTo>
                  <a:pt x="104" y="6018"/>
                  <a:pt x="93" y="6012"/>
                  <a:pt x="83" y="6006"/>
                </a:cubicBezTo>
                <a:cubicBezTo>
                  <a:pt x="73" y="5999"/>
                  <a:pt x="63" y="5991"/>
                  <a:pt x="55" y="5982"/>
                </a:cubicBezTo>
                <a:cubicBezTo>
                  <a:pt x="46" y="5974"/>
                  <a:pt x="38" y="5964"/>
                  <a:pt x="32" y="5954"/>
                </a:cubicBezTo>
                <a:cubicBezTo>
                  <a:pt x="25" y="5944"/>
                  <a:pt x="19" y="5933"/>
                  <a:pt x="14" y="5922"/>
                </a:cubicBezTo>
                <a:cubicBezTo>
                  <a:pt x="10" y="5911"/>
                  <a:pt x="6" y="5899"/>
                  <a:pt x="4" y="5887"/>
                </a:cubicBezTo>
                <a:cubicBezTo>
                  <a:pt x="1" y="5875"/>
                  <a:pt x="0" y="5863"/>
                  <a:pt x="0" y="5851"/>
                </a:cubicBezTo>
                <a:close/>
              </a:path>
            </a:pathLst>
          </a:custGeom>
          <a:solidFill>
            <a:srgbClr val="ffffff">
              <a:alpha val="10000"/>
            </a:srgbClr>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518" name=""/>
          <p:cNvSpPr/>
          <p:nvPr/>
        </p:nvSpPr>
        <p:spPr>
          <a:xfrm>
            <a:off x="5481720" y="3743640"/>
            <a:ext cx="4680360" cy="2273400"/>
          </a:xfrm>
          <a:custGeom>
            <a:avLst/>
            <a:gdLst/>
            <a:ahLst/>
            <a:rect l="0" t="0" r="r" b="b"/>
            <a:pathLst>
              <a:path w="13001" h="6315">
                <a:moveTo>
                  <a:pt x="0" y="6315"/>
                </a:moveTo>
                <a:lnTo>
                  <a:pt x="0" y="186"/>
                </a:lnTo>
                <a:cubicBezTo>
                  <a:pt x="0" y="173"/>
                  <a:pt x="1" y="161"/>
                  <a:pt x="4" y="149"/>
                </a:cubicBezTo>
                <a:cubicBezTo>
                  <a:pt x="6" y="137"/>
                  <a:pt x="10" y="126"/>
                  <a:pt x="14" y="115"/>
                </a:cubicBezTo>
                <a:cubicBezTo>
                  <a:pt x="19" y="103"/>
                  <a:pt x="25" y="93"/>
                  <a:pt x="32" y="82"/>
                </a:cubicBezTo>
                <a:cubicBezTo>
                  <a:pt x="38" y="72"/>
                  <a:pt x="46" y="63"/>
                  <a:pt x="55" y="54"/>
                </a:cubicBezTo>
                <a:cubicBezTo>
                  <a:pt x="63" y="46"/>
                  <a:pt x="73" y="38"/>
                  <a:pt x="83" y="31"/>
                </a:cubicBezTo>
                <a:cubicBezTo>
                  <a:pt x="93" y="24"/>
                  <a:pt x="104" y="19"/>
                  <a:pt x="115" y="14"/>
                </a:cubicBezTo>
                <a:cubicBezTo>
                  <a:pt x="126" y="9"/>
                  <a:pt x="138" y="6"/>
                  <a:pt x="150" y="4"/>
                </a:cubicBezTo>
                <a:cubicBezTo>
                  <a:pt x="162" y="1"/>
                  <a:pt x="174" y="0"/>
                  <a:pt x="186" y="0"/>
                </a:cubicBezTo>
                <a:lnTo>
                  <a:pt x="12815" y="0"/>
                </a:lnTo>
                <a:cubicBezTo>
                  <a:pt x="12827" y="0"/>
                  <a:pt x="12839" y="1"/>
                  <a:pt x="12851" y="4"/>
                </a:cubicBezTo>
                <a:cubicBezTo>
                  <a:pt x="12863" y="6"/>
                  <a:pt x="12875" y="9"/>
                  <a:pt x="12886" y="14"/>
                </a:cubicBezTo>
                <a:cubicBezTo>
                  <a:pt x="12897" y="19"/>
                  <a:pt x="12908" y="24"/>
                  <a:pt x="12918" y="31"/>
                </a:cubicBezTo>
                <a:cubicBezTo>
                  <a:pt x="12928" y="38"/>
                  <a:pt x="12938" y="46"/>
                  <a:pt x="12946" y="54"/>
                </a:cubicBezTo>
                <a:cubicBezTo>
                  <a:pt x="12955" y="63"/>
                  <a:pt x="12962" y="72"/>
                  <a:pt x="12969" y="82"/>
                </a:cubicBezTo>
                <a:cubicBezTo>
                  <a:pt x="12976" y="93"/>
                  <a:pt x="12982" y="103"/>
                  <a:pt x="12986" y="115"/>
                </a:cubicBezTo>
                <a:cubicBezTo>
                  <a:pt x="12991" y="126"/>
                  <a:pt x="12995" y="137"/>
                  <a:pt x="12997" y="149"/>
                </a:cubicBezTo>
                <a:cubicBezTo>
                  <a:pt x="12999" y="161"/>
                  <a:pt x="13001" y="173"/>
                  <a:pt x="13001" y="186"/>
                </a:cubicBezTo>
                <a:lnTo>
                  <a:pt x="13001" y="6315"/>
                </a:lnTo>
                <a:lnTo>
                  <a:pt x="0" y="6315"/>
                </a:lnTo>
                <a:close/>
              </a:path>
            </a:pathLst>
          </a:custGeom>
          <a:solidFill>
            <a:srgbClr val="ffffff">
              <a:alpha val="10000"/>
            </a:srgbClr>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519" name=""/>
          <p:cNvSpPr/>
          <p:nvPr/>
        </p:nvSpPr>
        <p:spPr>
          <a:xfrm>
            <a:off x="5607000" y="4203360"/>
            <a:ext cx="4429440" cy="651960"/>
          </a:xfrm>
          <a:custGeom>
            <a:avLst/>
            <a:gdLst/>
            <a:ahLst/>
            <a:rect l="0" t="0" r="r" b="b"/>
            <a:pathLst>
              <a:path w="12304" h="1811">
                <a:moveTo>
                  <a:pt x="0" y="1626"/>
                </a:moveTo>
                <a:lnTo>
                  <a:pt x="0" y="186"/>
                </a:lnTo>
                <a:cubicBezTo>
                  <a:pt x="0" y="174"/>
                  <a:pt x="2" y="162"/>
                  <a:pt x="4" y="150"/>
                </a:cubicBezTo>
                <a:cubicBezTo>
                  <a:pt x="6" y="138"/>
                  <a:pt x="10" y="127"/>
                  <a:pt x="15" y="115"/>
                </a:cubicBezTo>
                <a:cubicBezTo>
                  <a:pt x="19" y="104"/>
                  <a:pt x="25" y="93"/>
                  <a:pt x="32" y="82"/>
                </a:cubicBezTo>
                <a:cubicBezTo>
                  <a:pt x="39" y="72"/>
                  <a:pt x="46" y="63"/>
                  <a:pt x="55" y="54"/>
                </a:cubicBezTo>
                <a:cubicBezTo>
                  <a:pt x="63" y="45"/>
                  <a:pt x="73" y="38"/>
                  <a:pt x="83" y="31"/>
                </a:cubicBezTo>
                <a:cubicBezTo>
                  <a:pt x="93" y="24"/>
                  <a:pt x="104" y="18"/>
                  <a:pt x="115" y="14"/>
                </a:cubicBezTo>
                <a:cubicBezTo>
                  <a:pt x="126" y="9"/>
                  <a:pt x="138" y="6"/>
                  <a:pt x="150" y="3"/>
                </a:cubicBezTo>
                <a:cubicBezTo>
                  <a:pt x="162" y="1"/>
                  <a:pt x="174" y="0"/>
                  <a:pt x="186" y="0"/>
                </a:cubicBezTo>
                <a:lnTo>
                  <a:pt x="12119" y="0"/>
                </a:lnTo>
                <a:cubicBezTo>
                  <a:pt x="12131" y="0"/>
                  <a:pt x="12143" y="1"/>
                  <a:pt x="12155" y="3"/>
                </a:cubicBezTo>
                <a:cubicBezTo>
                  <a:pt x="12167" y="6"/>
                  <a:pt x="12178" y="9"/>
                  <a:pt x="12190" y="14"/>
                </a:cubicBezTo>
                <a:cubicBezTo>
                  <a:pt x="12201" y="18"/>
                  <a:pt x="12212" y="24"/>
                  <a:pt x="12222" y="31"/>
                </a:cubicBezTo>
                <a:cubicBezTo>
                  <a:pt x="12232" y="38"/>
                  <a:pt x="12241" y="45"/>
                  <a:pt x="12250" y="54"/>
                </a:cubicBezTo>
                <a:cubicBezTo>
                  <a:pt x="12259" y="63"/>
                  <a:pt x="12266" y="72"/>
                  <a:pt x="12273" y="82"/>
                </a:cubicBezTo>
                <a:cubicBezTo>
                  <a:pt x="12280" y="93"/>
                  <a:pt x="12286" y="104"/>
                  <a:pt x="12290" y="115"/>
                </a:cubicBezTo>
                <a:cubicBezTo>
                  <a:pt x="12295" y="127"/>
                  <a:pt x="12298" y="138"/>
                  <a:pt x="12301" y="150"/>
                </a:cubicBezTo>
                <a:cubicBezTo>
                  <a:pt x="12303" y="162"/>
                  <a:pt x="12304" y="174"/>
                  <a:pt x="12304" y="186"/>
                </a:cubicBezTo>
                <a:lnTo>
                  <a:pt x="12304" y="1626"/>
                </a:lnTo>
                <a:cubicBezTo>
                  <a:pt x="12304" y="1638"/>
                  <a:pt x="12303" y="1650"/>
                  <a:pt x="12301" y="1662"/>
                </a:cubicBezTo>
                <a:cubicBezTo>
                  <a:pt x="12298" y="1674"/>
                  <a:pt x="12295" y="1685"/>
                  <a:pt x="12290" y="1697"/>
                </a:cubicBezTo>
                <a:cubicBezTo>
                  <a:pt x="12286" y="1708"/>
                  <a:pt x="12280" y="1719"/>
                  <a:pt x="12273" y="1729"/>
                </a:cubicBezTo>
                <a:cubicBezTo>
                  <a:pt x="12266" y="1739"/>
                  <a:pt x="12259" y="1748"/>
                  <a:pt x="12250" y="1757"/>
                </a:cubicBezTo>
                <a:cubicBezTo>
                  <a:pt x="12241" y="1766"/>
                  <a:pt x="12232" y="1773"/>
                  <a:pt x="12222" y="1780"/>
                </a:cubicBezTo>
                <a:cubicBezTo>
                  <a:pt x="12212" y="1787"/>
                  <a:pt x="12201" y="1792"/>
                  <a:pt x="12190" y="1797"/>
                </a:cubicBezTo>
                <a:cubicBezTo>
                  <a:pt x="12178" y="1802"/>
                  <a:pt x="12167" y="1805"/>
                  <a:pt x="12155" y="1808"/>
                </a:cubicBezTo>
                <a:cubicBezTo>
                  <a:pt x="12143" y="1810"/>
                  <a:pt x="12131" y="1811"/>
                  <a:pt x="12119" y="1811"/>
                </a:cubicBezTo>
                <a:lnTo>
                  <a:pt x="186" y="1811"/>
                </a:lnTo>
                <a:cubicBezTo>
                  <a:pt x="174" y="1811"/>
                  <a:pt x="162" y="1810"/>
                  <a:pt x="150" y="1808"/>
                </a:cubicBezTo>
                <a:cubicBezTo>
                  <a:pt x="138" y="1805"/>
                  <a:pt x="126" y="1802"/>
                  <a:pt x="115" y="1797"/>
                </a:cubicBezTo>
                <a:cubicBezTo>
                  <a:pt x="104" y="1792"/>
                  <a:pt x="93" y="1787"/>
                  <a:pt x="83" y="1780"/>
                </a:cubicBezTo>
                <a:cubicBezTo>
                  <a:pt x="73" y="1773"/>
                  <a:pt x="63" y="1766"/>
                  <a:pt x="55" y="1757"/>
                </a:cubicBezTo>
                <a:cubicBezTo>
                  <a:pt x="46" y="1748"/>
                  <a:pt x="39" y="1739"/>
                  <a:pt x="32" y="1729"/>
                </a:cubicBezTo>
                <a:cubicBezTo>
                  <a:pt x="25" y="1719"/>
                  <a:pt x="19" y="1708"/>
                  <a:pt x="15" y="1697"/>
                </a:cubicBezTo>
                <a:cubicBezTo>
                  <a:pt x="10" y="1685"/>
                  <a:pt x="6" y="1674"/>
                  <a:pt x="4" y="1662"/>
                </a:cubicBezTo>
                <a:cubicBezTo>
                  <a:pt x="2" y="1650"/>
                  <a:pt x="0" y="1638"/>
                  <a:pt x="0" y="1626"/>
                </a:cubicBezTo>
                <a:close/>
              </a:path>
            </a:pathLst>
          </a:custGeom>
          <a:solidFill>
            <a:srgbClr val="ffffff">
              <a:alpha val="5000"/>
            </a:srgbClr>
          </a:solidFill>
          <a:ln w="0">
            <a:noFill/>
          </a:ln>
        </p:spPr>
        <p:txBody>
          <a:bodyPr lIns="0" rIns="0" tIns="0" bIns="0" anchor="t">
            <a:noAutofit/>
          </a:bodyPr>
          <a:p>
            <a:endParaRPr b="0" lang="en-US" sz="2400" strike="noStrike" u="none">
              <a:solidFill>
                <a:srgbClr val="000000"/>
              </a:solidFill>
              <a:effectLst/>
              <a:uFillTx/>
              <a:latin typeface="Times New Roman"/>
            </a:endParaRPr>
          </a:p>
        </p:txBody>
      </p:sp>
      <p:pic>
        <p:nvPicPr>
          <p:cNvPr id="520" name="" descr=""/>
          <p:cNvPicPr/>
          <p:nvPr/>
        </p:nvPicPr>
        <p:blipFill>
          <a:blip r:embed="rId3"/>
          <a:stretch/>
        </p:blipFill>
        <p:spPr>
          <a:xfrm>
            <a:off x="5482080" y="977760"/>
            <a:ext cx="225360" cy="200160"/>
          </a:xfrm>
          <a:prstGeom prst="rect">
            <a:avLst/>
          </a:prstGeom>
          <a:noFill/>
          <a:ln w="0">
            <a:noFill/>
          </a:ln>
        </p:spPr>
      </p:pic>
      <p:sp>
        <p:nvSpPr>
          <p:cNvPr id="521" name=""/>
          <p:cNvSpPr txBox="1"/>
          <p:nvPr/>
        </p:nvSpPr>
        <p:spPr>
          <a:xfrm>
            <a:off x="702000" y="5608440"/>
            <a:ext cx="1744200" cy="194040"/>
          </a:xfrm>
          <a:prstGeom prst="rect">
            <a:avLst/>
          </a:prstGeom>
          <a:noFill/>
          <a:ln w="0">
            <a:noFill/>
          </a:ln>
        </p:spPr>
        <p:txBody>
          <a:bodyPr wrap="none" lIns="0" rIns="0" tIns="0" bIns="0" anchor="t">
            <a:spAutoFit/>
          </a:bodyPr>
          <a:p>
            <a:r>
              <a:rPr b="0" lang="zh-CN" sz="1050" strike="noStrike" u="none">
                <a:solidFill>
                  <a:srgbClr val="a7c6d9"/>
                </a:solidFill>
                <a:effectLst/>
                <a:uFillTx/>
                <a:latin typeface="NotoSansJP"/>
                <a:ea typeface="NotoSansJP"/>
              </a:rPr>
              <a:t>を考慮することがあります。</a:t>
            </a:r>
            <a:endParaRPr b="0" lang="en-US" sz="1050" strike="noStrike" u="none">
              <a:solidFill>
                <a:srgbClr val="000000"/>
              </a:solidFill>
              <a:effectLst/>
              <a:uFillTx/>
              <a:latin typeface="Times New Roman"/>
            </a:endParaRPr>
          </a:p>
        </p:txBody>
      </p:sp>
      <p:sp>
        <p:nvSpPr>
          <p:cNvPr id="522" name=""/>
          <p:cNvSpPr txBox="1"/>
          <p:nvPr/>
        </p:nvSpPr>
        <p:spPr>
          <a:xfrm>
            <a:off x="5807880" y="966960"/>
            <a:ext cx="1986120" cy="291600"/>
          </a:xfrm>
          <a:prstGeom prst="rect">
            <a:avLst/>
          </a:prstGeom>
          <a:noFill/>
          <a:ln w="0">
            <a:noFill/>
          </a:ln>
        </p:spPr>
        <p:txBody>
          <a:bodyPr wrap="none" lIns="0" rIns="0" tIns="0" bIns="0" anchor="t">
            <a:spAutoFit/>
          </a:bodyPr>
          <a:p>
            <a:r>
              <a:rPr b="0" lang="en-US" sz="1580" strike="noStrike" u="none">
                <a:solidFill>
                  <a:srgbClr val="a7c6d9"/>
                </a:solidFill>
                <a:effectLst/>
                <a:uFillTx/>
                <a:latin typeface="NotoSansJP"/>
                <a:ea typeface="NotoSansJP"/>
              </a:rPr>
              <a:t>2</a:t>
            </a:r>
            <a:r>
              <a:rPr b="0" lang="zh-CN" sz="1580" strike="noStrike" u="none">
                <a:solidFill>
                  <a:srgbClr val="a7c6d9"/>
                </a:solidFill>
                <a:effectLst/>
                <a:uFillTx/>
                <a:latin typeface="NotoSansJP"/>
                <a:ea typeface="NotoSansJP"/>
              </a:rPr>
              <a:t>次位相の数学的表現</a:t>
            </a:r>
            <a:endParaRPr b="0" lang="en-US" sz="1580" strike="noStrike" u="none">
              <a:solidFill>
                <a:srgbClr val="000000"/>
              </a:solidFill>
              <a:effectLst/>
              <a:uFillTx/>
              <a:latin typeface="Times New Roman"/>
            </a:endParaRPr>
          </a:p>
        </p:txBody>
      </p:sp>
      <p:pic>
        <p:nvPicPr>
          <p:cNvPr id="523" name="" descr=""/>
          <p:cNvPicPr/>
          <p:nvPr/>
        </p:nvPicPr>
        <p:blipFill>
          <a:blip r:embed="rId4"/>
          <a:stretch/>
        </p:blipFill>
        <p:spPr>
          <a:xfrm>
            <a:off x="5649120" y="1872000"/>
            <a:ext cx="4345200" cy="1503720"/>
          </a:xfrm>
          <a:prstGeom prst="rect">
            <a:avLst/>
          </a:prstGeom>
          <a:noFill/>
          <a:ln w="0">
            <a:noFill/>
          </a:ln>
        </p:spPr>
      </p:pic>
      <p:sp>
        <p:nvSpPr>
          <p:cNvPr id="524" name=""/>
          <p:cNvSpPr txBox="1"/>
          <p:nvPr/>
        </p:nvSpPr>
        <p:spPr>
          <a:xfrm>
            <a:off x="5649120" y="1566360"/>
            <a:ext cx="1677240" cy="244080"/>
          </a:xfrm>
          <a:prstGeom prst="rect">
            <a:avLst/>
          </a:prstGeom>
          <a:noFill/>
          <a:ln w="0">
            <a:noFill/>
          </a:ln>
        </p:spPr>
        <p:txBody>
          <a:bodyPr wrap="none" lIns="0" rIns="0" tIns="0" bIns="0" anchor="t">
            <a:spAutoFit/>
          </a:bodyPr>
          <a:p>
            <a:r>
              <a:rPr b="0" lang="zh-CN" sz="1320" strike="noStrike" u="none">
                <a:solidFill>
                  <a:srgbClr val="ffffff"/>
                </a:solidFill>
                <a:effectLst/>
                <a:uFillTx/>
                <a:latin typeface="NotoSansJP"/>
                <a:ea typeface="NotoSansJP"/>
              </a:rPr>
              <a:t>レンズによる位相変化</a:t>
            </a:r>
            <a:endParaRPr b="0" lang="en-US" sz="1320" strike="noStrike" u="none">
              <a:solidFill>
                <a:srgbClr val="000000"/>
              </a:solidFill>
              <a:effectLst/>
              <a:uFillTx/>
              <a:latin typeface="Times New Roman"/>
            </a:endParaRPr>
          </a:p>
        </p:txBody>
      </p:sp>
      <p:sp>
        <p:nvSpPr>
          <p:cNvPr id="525" name=""/>
          <p:cNvSpPr/>
          <p:nvPr/>
        </p:nvSpPr>
        <p:spPr>
          <a:xfrm>
            <a:off x="5607000" y="4988880"/>
            <a:ext cx="2148120" cy="426600"/>
          </a:xfrm>
          <a:custGeom>
            <a:avLst/>
            <a:gdLst/>
            <a:ahLst/>
            <a:rect l="0" t="0" r="r" b="b"/>
            <a:pathLst>
              <a:path w="5967" h="1185">
                <a:moveTo>
                  <a:pt x="0" y="999"/>
                </a:moveTo>
                <a:lnTo>
                  <a:pt x="0" y="185"/>
                </a:lnTo>
                <a:cubicBezTo>
                  <a:pt x="0" y="173"/>
                  <a:pt x="2" y="161"/>
                  <a:pt x="4" y="149"/>
                </a:cubicBezTo>
                <a:cubicBezTo>
                  <a:pt x="6" y="137"/>
                  <a:pt x="10" y="126"/>
                  <a:pt x="15" y="114"/>
                </a:cubicBezTo>
                <a:cubicBezTo>
                  <a:pt x="19" y="103"/>
                  <a:pt x="25" y="92"/>
                  <a:pt x="32" y="82"/>
                </a:cubicBezTo>
                <a:cubicBezTo>
                  <a:pt x="39" y="72"/>
                  <a:pt x="46" y="63"/>
                  <a:pt x="55" y="54"/>
                </a:cubicBezTo>
                <a:cubicBezTo>
                  <a:pt x="63" y="45"/>
                  <a:pt x="73" y="38"/>
                  <a:pt x="83" y="31"/>
                </a:cubicBezTo>
                <a:cubicBezTo>
                  <a:pt x="93" y="24"/>
                  <a:pt x="104" y="18"/>
                  <a:pt x="115" y="14"/>
                </a:cubicBezTo>
                <a:cubicBezTo>
                  <a:pt x="126" y="9"/>
                  <a:pt x="138" y="6"/>
                  <a:pt x="150" y="3"/>
                </a:cubicBezTo>
                <a:cubicBezTo>
                  <a:pt x="162" y="1"/>
                  <a:pt x="174" y="0"/>
                  <a:pt x="186" y="0"/>
                </a:cubicBezTo>
                <a:lnTo>
                  <a:pt x="5782" y="0"/>
                </a:lnTo>
                <a:cubicBezTo>
                  <a:pt x="5794" y="0"/>
                  <a:pt x="5806" y="1"/>
                  <a:pt x="5818" y="3"/>
                </a:cubicBezTo>
                <a:cubicBezTo>
                  <a:pt x="5830" y="6"/>
                  <a:pt x="5841" y="9"/>
                  <a:pt x="5853" y="14"/>
                </a:cubicBezTo>
                <a:cubicBezTo>
                  <a:pt x="5864" y="18"/>
                  <a:pt x="5875" y="24"/>
                  <a:pt x="5885" y="31"/>
                </a:cubicBezTo>
                <a:cubicBezTo>
                  <a:pt x="5895" y="38"/>
                  <a:pt x="5904" y="45"/>
                  <a:pt x="5913" y="54"/>
                </a:cubicBezTo>
                <a:cubicBezTo>
                  <a:pt x="5921" y="63"/>
                  <a:pt x="5929" y="72"/>
                  <a:pt x="5936" y="82"/>
                </a:cubicBezTo>
                <a:cubicBezTo>
                  <a:pt x="5943" y="92"/>
                  <a:pt x="5948" y="103"/>
                  <a:pt x="5953" y="114"/>
                </a:cubicBezTo>
                <a:cubicBezTo>
                  <a:pt x="5958" y="126"/>
                  <a:pt x="5961" y="137"/>
                  <a:pt x="5964" y="149"/>
                </a:cubicBezTo>
                <a:cubicBezTo>
                  <a:pt x="5966" y="161"/>
                  <a:pt x="5967" y="173"/>
                  <a:pt x="5967" y="185"/>
                </a:cubicBezTo>
                <a:lnTo>
                  <a:pt x="5967" y="999"/>
                </a:lnTo>
                <a:cubicBezTo>
                  <a:pt x="5967" y="1011"/>
                  <a:pt x="5966" y="1023"/>
                  <a:pt x="5964" y="1035"/>
                </a:cubicBezTo>
                <a:cubicBezTo>
                  <a:pt x="5961" y="1047"/>
                  <a:pt x="5958" y="1059"/>
                  <a:pt x="5953" y="1070"/>
                </a:cubicBezTo>
                <a:cubicBezTo>
                  <a:pt x="5948" y="1081"/>
                  <a:pt x="5943" y="1092"/>
                  <a:pt x="5936" y="1102"/>
                </a:cubicBezTo>
                <a:cubicBezTo>
                  <a:pt x="5929" y="1112"/>
                  <a:pt x="5921" y="1122"/>
                  <a:pt x="5913" y="1130"/>
                </a:cubicBezTo>
                <a:cubicBezTo>
                  <a:pt x="5904" y="1139"/>
                  <a:pt x="5895" y="1146"/>
                  <a:pt x="5885" y="1153"/>
                </a:cubicBezTo>
                <a:cubicBezTo>
                  <a:pt x="5875" y="1160"/>
                  <a:pt x="5864" y="1166"/>
                  <a:pt x="5853" y="1170"/>
                </a:cubicBezTo>
                <a:cubicBezTo>
                  <a:pt x="5841" y="1175"/>
                  <a:pt x="5830" y="1179"/>
                  <a:pt x="5818" y="1181"/>
                </a:cubicBezTo>
                <a:cubicBezTo>
                  <a:pt x="5806" y="1183"/>
                  <a:pt x="5794" y="1185"/>
                  <a:pt x="5782" y="1185"/>
                </a:cubicBezTo>
                <a:lnTo>
                  <a:pt x="186" y="1185"/>
                </a:lnTo>
                <a:cubicBezTo>
                  <a:pt x="174" y="1185"/>
                  <a:pt x="162" y="1183"/>
                  <a:pt x="150" y="1181"/>
                </a:cubicBezTo>
                <a:cubicBezTo>
                  <a:pt x="138" y="1179"/>
                  <a:pt x="126" y="1175"/>
                  <a:pt x="115" y="1170"/>
                </a:cubicBezTo>
                <a:cubicBezTo>
                  <a:pt x="104" y="1166"/>
                  <a:pt x="93" y="1160"/>
                  <a:pt x="83" y="1153"/>
                </a:cubicBezTo>
                <a:cubicBezTo>
                  <a:pt x="73" y="1146"/>
                  <a:pt x="63" y="1139"/>
                  <a:pt x="55" y="1130"/>
                </a:cubicBezTo>
                <a:cubicBezTo>
                  <a:pt x="46" y="1122"/>
                  <a:pt x="39" y="1112"/>
                  <a:pt x="32" y="1102"/>
                </a:cubicBezTo>
                <a:cubicBezTo>
                  <a:pt x="25" y="1092"/>
                  <a:pt x="19" y="1081"/>
                  <a:pt x="15" y="1070"/>
                </a:cubicBezTo>
                <a:cubicBezTo>
                  <a:pt x="10" y="1059"/>
                  <a:pt x="6" y="1047"/>
                  <a:pt x="4" y="1035"/>
                </a:cubicBezTo>
                <a:cubicBezTo>
                  <a:pt x="2" y="1023"/>
                  <a:pt x="0" y="1011"/>
                  <a:pt x="0" y="999"/>
                </a:cubicBezTo>
                <a:close/>
              </a:path>
            </a:pathLst>
          </a:custGeom>
          <a:solidFill>
            <a:srgbClr val="ffffff">
              <a:alpha val="5000"/>
            </a:srgbClr>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526" name=""/>
          <p:cNvSpPr txBox="1"/>
          <p:nvPr/>
        </p:nvSpPr>
        <p:spPr>
          <a:xfrm>
            <a:off x="5607360" y="3897720"/>
            <a:ext cx="1509480" cy="244080"/>
          </a:xfrm>
          <a:prstGeom prst="rect">
            <a:avLst/>
          </a:prstGeom>
          <a:noFill/>
          <a:ln w="0">
            <a:noFill/>
          </a:ln>
        </p:spPr>
        <p:txBody>
          <a:bodyPr wrap="none" lIns="0" rIns="0" tIns="0" bIns="0" anchor="t">
            <a:spAutoFit/>
          </a:bodyPr>
          <a:p>
            <a:r>
              <a:rPr b="0" lang="zh-CN" sz="1320" strike="noStrike" u="none">
                <a:solidFill>
                  <a:srgbClr val="ffffff"/>
                </a:solidFill>
                <a:effectLst/>
                <a:uFillTx/>
                <a:latin typeface="NotoSansJP"/>
                <a:ea typeface="NotoSansJP"/>
              </a:rPr>
              <a:t>薄レンズの透過関数</a:t>
            </a:r>
            <a:endParaRPr b="0" lang="en-US" sz="1320" strike="noStrike" u="none">
              <a:solidFill>
                <a:srgbClr val="000000"/>
              </a:solidFill>
              <a:effectLst/>
              <a:uFillTx/>
              <a:latin typeface="Times New Roman"/>
            </a:endParaRPr>
          </a:p>
        </p:txBody>
      </p:sp>
      <p:sp>
        <p:nvSpPr>
          <p:cNvPr id="527" name=""/>
          <p:cNvSpPr/>
          <p:nvPr/>
        </p:nvSpPr>
        <p:spPr>
          <a:xfrm>
            <a:off x="7888680" y="4988880"/>
            <a:ext cx="2147760" cy="426600"/>
          </a:xfrm>
          <a:custGeom>
            <a:avLst/>
            <a:gdLst/>
            <a:ahLst/>
            <a:rect l="0" t="0" r="r" b="b"/>
            <a:pathLst>
              <a:path w="5966" h="1185">
                <a:moveTo>
                  <a:pt x="0" y="999"/>
                </a:moveTo>
                <a:lnTo>
                  <a:pt x="0" y="185"/>
                </a:lnTo>
                <a:cubicBezTo>
                  <a:pt x="0" y="173"/>
                  <a:pt x="1" y="161"/>
                  <a:pt x="3" y="149"/>
                </a:cubicBezTo>
                <a:cubicBezTo>
                  <a:pt x="6" y="137"/>
                  <a:pt x="9" y="126"/>
                  <a:pt x="14" y="114"/>
                </a:cubicBezTo>
                <a:cubicBezTo>
                  <a:pt x="18" y="103"/>
                  <a:pt x="24" y="92"/>
                  <a:pt x="31" y="82"/>
                </a:cubicBezTo>
                <a:cubicBezTo>
                  <a:pt x="38" y="72"/>
                  <a:pt x="45" y="63"/>
                  <a:pt x="54" y="54"/>
                </a:cubicBezTo>
                <a:cubicBezTo>
                  <a:pt x="63" y="45"/>
                  <a:pt x="72" y="38"/>
                  <a:pt x="82" y="31"/>
                </a:cubicBezTo>
                <a:cubicBezTo>
                  <a:pt x="92" y="24"/>
                  <a:pt x="103" y="18"/>
                  <a:pt x="114" y="14"/>
                </a:cubicBezTo>
                <a:cubicBezTo>
                  <a:pt x="126" y="9"/>
                  <a:pt x="137" y="6"/>
                  <a:pt x="149" y="3"/>
                </a:cubicBezTo>
                <a:cubicBezTo>
                  <a:pt x="161" y="1"/>
                  <a:pt x="173" y="0"/>
                  <a:pt x="185" y="0"/>
                </a:cubicBezTo>
                <a:lnTo>
                  <a:pt x="5781" y="0"/>
                </a:lnTo>
                <a:cubicBezTo>
                  <a:pt x="5793" y="0"/>
                  <a:pt x="5805" y="1"/>
                  <a:pt x="5817" y="3"/>
                </a:cubicBezTo>
                <a:cubicBezTo>
                  <a:pt x="5829" y="6"/>
                  <a:pt x="5840" y="9"/>
                  <a:pt x="5852" y="14"/>
                </a:cubicBezTo>
                <a:cubicBezTo>
                  <a:pt x="5863" y="18"/>
                  <a:pt x="5874" y="24"/>
                  <a:pt x="5884" y="31"/>
                </a:cubicBezTo>
                <a:cubicBezTo>
                  <a:pt x="5894" y="38"/>
                  <a:pt x="5903" y="45"/>
                  <a:pt x="5912" y="54"/>
                </a:cubicBezTo>
                <a:cubicBezTo>
                  <a:pt x="5921" y="63"/>
                  <a:pt x="5928" y="72"/>
                  <a:pt x="5935" y="82"/>
                </a:cubicBezTo>
                <a:cubicBezTo>
                  <a:pt x="5942" y="92"/>
                  <a:pt x="5948" y="103"/>
                  <a:pt x="5952" y="114"/>
                </a:cubicBezTo>
                <a:cubicBezTo>
                  <a:pt x="5957" y="126"/>
                  <a:pt x="5960" y="137"/>
                  <a:pt x="5963" y="149"/>
                </a:cubicBezTo>
                <a:cubicBezTo>
                  <a:pt x="5965" y="161"/>
                  <a:pt x="5966" y="173"/>
                  <a:pt x="5966" y="185"/>
                </a:cubicBezTo>
                <a:lnTo>
                  <a:pt x="5966" y="999"/>
                </a:lnTo>
                <a:cubicBezTo>
                  <a:pt x="5966" y="1011"/>
                  <a:pt x="5965" y="1023"/>
                  <a:pt x="5963" y="1035"/>
                </a:cubicBezTo>
                <a:cubicBezTo>
                  <a:pt x="5960" y="1047"/>
                  <a:pt x="5957" y="1059"/>
                  <a:pt x="5952" y="1070"/>
                </a:cubicBezTo>
                <a:cubicBezTo>
                  <a:pt x="5948" y="1081"/>
                  <a:pt x="5942" y="1092"/>
                  <a:pt x="5935" y="1102"/>
                </a:cubicBezTo>
                <a:cubicBezTo>
                  <a:pt x="5928" y="1112"/>
                  <a:pt x="5921" y="1122"/>
                  <a:pt x="5912" y="1130"/>
                </a:cubicBezTo>
                <a:cubicBezTo>
                  <a:pt x="5903" y="1139"/>
                  <a:pt x="5894" y="1146"/>
                  <a:pt x="5884" y="1153"/>
                </a:cubicBezTo>
                <a:cubicBezTo>
                  <a:pt x="5874" y="1160"/>
                  <a:pt x="5863" y="1166"/>
                  <a:pt x="5852" y="1170"/>
                </a:cubicBezTo>
                <a:cubicBezTo>
                  <a:pt x="5840" y="1175"/>
                  <a:pt x="5829" y="1179"/>
                  <a:pt x="5817" y="1181"/>
                </a:cubicBezTo>
                <a:cubicBezTo>
                  <a:pt x="5805" y="1183"/>
                  <a:pt x="5793" y="1185"/>
                  <a:pt x="5781" y="1185"/>
                </a:cubicBezTo>
                <a:lnTo>
                  <a:pt x="185" y="1185"/>
                </a:lnTo>
                <a:cubicBezTo>
                  <a:pt x="173" y="1185"/>
                  <a:pt x="161" y="1183"/>
                  <a:pt x="149" y="1181"/>
                </a:cubicBezTo>
                <a:cubicBezTo>
                  <a:pt x="137" y="1179"/>
                  <a:pt x="126" y="1175"/>
                  <a:pt x="114" y="1170"/>
                </a:cubicBezTo>
                <a:cubicBezTo>
                  <a:pt x="103" y="1166"/>
                  <a:pt x="92" y="1160"/>
                  <a:pt x="82" y="1153"/>
                </a:cubicBezTo>
                <a:cubicBezTo>
                  <a:pt x="72" y="1146"/>
                  <a:pt x="63" y="1139"/>
                  <a:pt x="54" y="1130"/>
                </a:cubicBezTo>
                <a:cubicBezTo>
                  <a:pt x="45" y="1122"/>
                  <a:pt x="38" y="1112"/>
                  <a:pt x="31" y="1102"/>
                </a:cubicBezTo>
                <a:cubicBezTo>
                  <a:pt x="24" y="1092"/>
                  <a:pt x="18" y="1081"/>
                  <a:pt x="14" y="1070"/>
                </a:cubicBezTo>
                <a:cubicBezTo>
                  <a:pt x="9" y="1059"/>
                  <a:pt x="6" y="1047"/>
                  <a:pt x="3" y="1035"/>
                </a:cubicBezTo>
                <a:cubicBezTo>
                  <a:pt x="1" y="1023"/>
                  <a:pt x="0" y="1011"/>
                  <a:pt x="0" y="999"/>
                </a:cubicBezTo>
                <a:close/>
              </a:path>
            </a:pathLst>
          </a:custGeom>
          <a:solidFill>
            <a:srgbClr val="ffffff">
              <a:alpha val="5000"/>
            </a:srgbClr>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528" name=""/>
          <p:cNvSpPr txBox="1"/>
          <p:nvPr/>
        </p:nvSpPr>
        <p:spPr>
          <a:xfrm>
            <a:off x="6208200" y="5123880"/>
            <a:ext cx="403200" cy="194040"/>
          </a:xfrm>
          <a:prstGeom prst="rect">
            <a:avLst/>
          </a:prstGeom>
          <a:noFill/>
          <a:ln w="0">
            <a:noFill/>
          </a:ln>
        </p:spPr>
        <p:txBody>
          <a:bodyPr wrap="none" lIns="0" rIns="0" tIns="0" bIns="0" anchor="t">
            <a:spAutoFit/>
          </a:bodyPr>
          <a:p>
            <a:r>
              <a:rPr b="0" lang="zh-CN" sz="1050" strike="noStrike" u="none">
                <a:solidFill>
                  <a:srgbClr val="a7c6d9"/>
                </a:solidFill>
                <a:effectLst/>
                <a:uFillTx/>
                <a:latin typeface="NotoSansJP"/>
                <a:ea typeface="NotoSansJP"/>
              </a:rPr>
              <a:t>：波数</a:t>
            </a:r>
            <a:endParaRPr b="0" lang="en-US" sz="1050" strike="noStrike" u="none">
              <a:solidFill>
                <a:srgbClr val="000000"/>
              </a:solidFill>
              <a:effectLst/>
              <a:uFillTx/>
              <a:latin typeface="Times New Roman"/>
            </a:endParaRPr>
          </a:p>
        </p:txBody>
      </p:sp>
      <p:sp>
        <p:nvSpPr>
          <p:cNvPr id="529" name=""/>
          <p:cNvSpPr/>
          <p:nvPr/>
        </p:nvSpPr>
        <p:spPr>
          <a:xfrm>
            <a:off x="5607000" y="5548680"/>
            <a:ext cx="2148120" cy="418320"/>
          </a:xfrm>
          <a:custGeom>
            <a:avLst/>
            <a:gdLst/>
            <a:ahLst/>
            <a:rect l="0" t="0" r="r" b="b"/>
            <a:pathLst>
              <a:path w="5967" h="1162">
                <a:moveTo>
                  <a:pt x="0" y="976"/>
                </a:moveTo>
                <a:lnTo>
                  <a:pt x="0" y="186"/>
                </a:lnTo>
                <a:cubicBezTo>
                  <a:pt x="0" y="173"/>
                  <a:pt x="2" y="161"/>
                  <a:pt x="4" y="149"/>
                </a:cubicBezTo>
                <a:cubicBezTo>
                  <a:pt x="6" y="137"/>
                  <a:pt x="10" y="126"/>
                  <a:pt x="15" y="115"/>
                </a:cubicBezTo>
                <a:cubicBezTo>
                  <a:pt x="19" y="103"/>
                  <a:pt x="25" y="93"/>
                  <a:pt x="32" y="83"/>
                </a:cubicBezTo>
                <a:cubicBezTo>
                  <a:pt x="39" y="72"/>
                  <a:pt x="46" y="63"/>
                  <a:pt x="55" y="54"/>
                </a:cubicBezTo>
                <a:cubicBezTo>
                  <a:pt x="63" y="46"/>
                  <a:pt x="73" y="38"/>
                  <a:pt x="83" y="31"/>
                </a:cubicBezTo>
                <a:cubicBezTo>
                  <a:pt x="93" y="24"/>
                  <a:pt x="104" y="19"/>
                  <a:pt x="115" y="14"/>
                </a:cubicBezTo>
                <a:cubicBezTo>
                  <a:pt x="126" y="9"/>
                  <a:pt x="138" y="6"/>
                  <a:pt x="150" y="4"/>
                </a:cubicBezTo>
                <a:cubicBezTo>
                  <a:pt x="162" y="1"/>
                  <a:pt x="174" y="0"/>
                  <a:pt x="186" y="0"/>
                </a:cubicBezTo>
                <a:lnTo>
                  <a:pt x="5782" y="0"/>
                </a:lnTo>
                <a:cubicBezTo>
                  <a:pt x="5794" y="0"/>
                  <a:pt x="5806" y="1"/>
                  <a:pt x="5818" y="4"/>
                </a:cubicBezTo>
                <a:cubicBezTo>
                  <a:pt x="5830" y="6"/>
                  <a:pt x="5841" y="9"/>
                  <a:pt x="5853" y="14"/>
                </a:cubicBezTo>
                <a:cubicBezTo>
                  <a:pt x="5864" y="19"/>
                  <a:pt x="5875" y="24"/>
                  <a:pt x="5885" y="31"/>
                </a:cubicBezTo>
                <a:cubicBezTo>
                  <a:pt x="5895" y="38"/>
                  <a:pt x="5904" y="46"/>
                  <a:pt x="5913" y="54"/>
                </a:cubicBezTo>
                <a:cubicBezTo>
                  <a:pt x="5921" y="63"/>
                  <a:pt x="5929" y="72"/>
                  <a:pt x="5936" y="83"/>
                </a:cubicBezTo>
                <a:cubicBezTo>
                  <a:pt x="5943" y="93"/>
                  <a:pt x="5948" y="103"/>
                  <a:pt x="5953" y="115"/>
                </a:cubicBezTo>
                <a:cubicBezTo>
                  <a:pt x="5958" y="126"/>
                  <a:pt x="5961" y="137"/>
                  <a:pt x="5964" y="149"/>
                </a:cubicBezTo>
                <a:cubicBezTo>
                  <a:pt x="5966" y="161"/>
                  <a:pt x="5967" y="173"/>
                  <a:pt x="5967" y="186"/>
                </a:cubicBezTo>
                <a:lnTo>
                  <a:pt x="5967" y="976"/>
                </a:lnTo>
                <a:cubicBezTo>
                  <a:pt x="5967" y="988"/>
                  <a:pt x="5966" y="1000"/>
                  <a:pt x="5964" y="1012"/>
                </a:cubicBezTo>
                <a:cubicBezTo>
                  <a:pt x="5961" y="1024"/>
                  <a:pt x="5958" y="1036"/>
                  <a:pt x="5953" y="1047"/>
                </a:cubicBezTo>
                <a:cubicBezTo>
                  <a:pt x="5948" y="1058"/>
                  <a:pt x="5943" y="1069"/>
                  <a:pt x="5936" y="1079"/>
                </a:cubicBezTo>
                <a:cubicBezTo>
                  <a:pt x="5929" y="1089"/>
                  <a:pt x="5921" y="1099"/>
                  <a:pt x="5913" y="1107"/>
                </a:cubicBezTo>
                <a:cubicBezTo>
                  <a:pt x="5904" y="1116"/>
                  <a:pt x="5895" y="1124"/>
                  <a:pt x="5885" y="1130"/>
                </a:cubicBezTo>
                <a:cubicBezTo>
                  <a:pt x="5875" y="1137"/>
                  <a:pt x="5864" y="1143"/>
                  <a:pt x="5853" y="1147"/>
                </a:cubicBezTo>
                <a:cubicBezTo>
                  <a:pt x="5841" y="1152"/>
                  <a:pt x="5830" y="1156"/>
                  <a:pt x="5818" y="1158"/>
                </a:cubicBezTo>
                <a:cubicBezTo>
                  <a:pt x="5806" y="1160"/>
                  <a:pt x="5794" y="1162"/>
                  <a:pt x="5782" y="1162"/>
                </a:cubicBezTo>
                <a:lnTo>
                  <a:pt x="186" y="1162"/>
                </a:lnTo>
                <a:cubicBezTo>
                  <a:pt x="174" y="1162"/>
                  <a:pt x="162" y="1160"/>
                  <a:pt x="150" y="1158"/>
                </a:cubicBezTo>
                <a:cubicBezTo>
                  <a:pt x="138" y="1156"/>
                  <a:pt x="126" y="1152"/>
                  <a:pt x="115" y="1147"/>
                </a:cubicBezTo>
                <a:cubicBezTo>
                  <a:pt x="104" y="1143"/>
                  <a:pt x="93" y="1137"/>
                  <a:pt x="83" y="1130"/>
                </a:cubicBezTo>
                <a:cubicBezTo>
                  <a:pt x="73" y="1124"/>
                  <a:pt x="63" y="1116"/>
                  <a:pt x="55" y="1107"/>
                </a:cubicBezTo>
                <a:cubicBezTo>
                  <a:pt x="46" y="1099"/>
                  <a:pt x="39" y="1089"/>
                  <a:pt x="32" y="1079"/>
                </a:cubicBezTo>
                <a:cubicBezTo>
                  <a:pt x="25" y="1069"/>
                  <a:pt x="19" y="1058"/>
                  <a:pt x="15" y="1047"/>
                </a:cubicBezTo>
                <a:cubicBezTo>
                  <a:pt x="10" y="1036"/>
                  <a:pt x="6" y="1024"/>
                  <a:pt x="4" y="1012"/>
                </a:cubicBezTo>
                <a:cubicBezTo>
                  <a:pt x="2" y="1000"/>
                  <a:pt x="0" y="988"/>
                  <a:pt x="0" y="976"/>
                </a:cubicBezTo>
                <a:close/>
              </a:path>
            </a:pathLst>
          </a:custGeom>
          <a:solidFill>
            <a:srgbClr val="ffffff">
              <a:alpha val="5000"/>
            </a:srgbClr>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530" name=""/>
          <p:cNvSpPr txBox="1"/>
          <p:nvPr/>
        </p:nvSpPr>
        <p:spPr>
          <a:xfrm>
            <a:off x="8247960" y="5123880"/>
            <a:ext cx="1476000" cy="194040"/>
          </a:xfrm>
          <a:prstGeom prst="rect">
            <a:avLst/>
          </a:prstGeom>
          <a:noFill/>
          <a:ln w="0">
            <a:noFill/>
          </a:ln>
        </p:spPr>
        <p:txBody>
          <a:bodyPr wrap="none" lIns="0" rIns="0" tIns="0" bIns="0" anchor="t">
            <a:spAutoFit/>
          </a:bodyPr>
          <a:p>
            <a:r>
              <a:rPr b="0" lang="zh-CN" sz="1050" strike="noStrike" u="none">
                <a:solidFill>
                  <a:srgbClr val="a7c6d9"/>
                </a:solidFill>
                <a:effectLst/>
                <a:uFillTx/>
                <a:latin typeface="NotoSansJP"/>
                <a:ea typeface="NotoSansJP"/>
              </a:rPr>
              <a:t>：眼のレンズの焦点距離</a:t>
            </a:r>
            <a:endParaRPr b="0" lang="en-US" sz="1050" strike="noStrike" u="none">
              <a:solidFill>
                <a:srgbClr val="000000"/>
              </a:solidFill>
              <a:effectLst/>
              <a:uFillTx/>
              <a:latin typeface="Times New Roman"/>
            </a:endParaRPr>
          </a:p>
        </p:txBody>
      </p:sp>
      <p:sp>
        <p:nvSpPr>
          <p:cNvPr id="531" name=""/>
          <p:cNvSpPr/>
          <p:nvPr/>
        </p:nvSpPr>
        <p:spPr>
          <a:xfrm>
            <a:off x="7888680" y="5548680"/>
            <a:ext cx="2147760" cy="418320"/>
          </a:xfrm>
          <a:custGeom>
            <a:avLst/>
            <a:gdLst/>
            <a:ahLst/>
            <a:rect l="0" t="0" r="r" b="b"/>
            <a:pathLst>
              <a:path w="5966" h="1162">
                <a:moveTo>
                  <a:pt x="0" y="976"/>
                </a:moveTo>
                <a:lnTo>
                  <a:pt x="0" y="186"/>
                </a:lnTo>
                <a:cubicBezTo>
                  <a:pt x="0" y="173"/>
                  <a:pt x="1" y="161"/>
                  <a:pt x="3" y="149"/>
                </a:cubicBezTo>
                <a:cubicBezTo>
                  <a:pt x="6" y="137"/>
                  <a:pt x="9" y="126"/>
                  <a:pt x="14" y="115"/>
                </a:cubicBezTo>
                <a:cubicBezTo>
                  <a:pt x="18" y="103"/>
                  <a:pt x="24" y="93"/>
                  <a:pt x="31" y="83"/>
                </a:cubicBezTo>
                <a:cubicBezTo>
                  <a:pt x="38" y="72"/>
                  <a:pt x="45" y="63"/>
                  <a:pt x="54" y="54"/>
                </a:cubicBezTo>
                <a:cubicBezTo>
                  <a:pt x="63" y="46"/>
                  <a:pt x="72" y="38"/>
                  <a:pt x="82" y="31"/>
                </a:cubicBezTo>
                <a:cubicBezTo>
                  <a:pt x="92" y="24"/>
                  <a:pt x="103" y="19"/>
                  <a:pt x="114" y="14"/>
                </a:cubicBezTo>
                <a:cubicBezTo>
                  <a:pt x="126" y="9"/>
                  <a:pt x="137" y="6"/>
                  <a:pt x="149" y="4"/>
                </a:cubicBezTo>
                <a:cubicBezTo>
                  <a:pt x="161" y="1"/>
                  <a:pt x="173" y="0"/>
                  <a:pt x="185" y="0"/>
                </a:cubicBezTo>
                <a:lnTo>
                  <a:pt x="5781" y="0"/>
                </a:lnTo>
                <a:cubicBezTo>
                  <a:pt x="5793" y="0"/>
                  <a:pt x="5805" y="1"/>
                  <a:pt x="5817" y="4"/>
                </a:cubicBezTo>
                <a:cubicBezTo>
                  <a:pt x="5829" y="6"/>
                  <a:pt x="5840" y="9"/>
                  <a:pt x="5852" y="14"/>
                </a:cubicBezTo>
                <a:cubicBezTo>
                  <a:pt x="5863" y="19"/>
                  <a:pt x="5874" y="24"/>
                  <a:pt x="5884" y="31"/>
                </a:cubicBezTo>
                <a:cubicBezTo>
                  <a:pt x="5894" y="38"/>
                  <a:pt x="5903" y="46"/>
                  <a:pt x="5912" y="54"/>
                </a:cubicBezTo>
                <a:cubicBezTo>
                  <a:pt x="5921" y="63"/>
                  <a:pt x="5928" y="72"/>
                  <a:pt x="5935" y="83"/>
                </a:cubicBezTo>
                <a:cubicBezTo>
                  <a:pt x="5942" y="93"/>
                  <a:pt x="5948" y="103"/>
                  <a:pt x="5952" y="115"/>
                </a:cubicBezTo>
                <a:cubicBezTo>
                  <a:pt x="5957" y="126"/>
                  <a:pt x="5960" y="137"/>
                  <a:pt x="5963" y="149"/>
                </a:cubicBezTo>
                <a:cubicBezTo>
                  <a:pt x="5965" y="161"/>
                  <a:pt x="5966" y="173"/>
                  <a:pt x="5966" y="186"/>
                </a:cubicBezTo>
                <a:lnTo>
                  <a:pt x="5966" y="976"/>
                </a:lnTo>
                <a:cubicBezTo>
                  <a:pt x="5966" y="988"/>
                  <a:pt x="5965" y="1000"/>
                  <a:pt x="5963" y="1012"/>
                </a:cubicBezTo>
                <a:cubicBezTo>
                  <a:pt x="5960" y="1024"/>
                  <a:pt x="5957" y="1036"/>
                  <a:pt x="5952" y="1047"/>
                </a:cubicBezTo>
                <a:cubicBezTo>
                  <a:pt x="5948" y="1058"/>
                  <a:pt x="5942" y="1069"/>
                  <a:pt x="5935" y="1079"/>
                </a:cubicBezTo>
                <a:cubicBezTo>
                  <a:pt x="5928" y="1089"/>
                  <a:pt x="5921" y="1099"/>
                  <a:pt x="5912" y="1107"/>
                </a:cubicBezTo>
                <a:cubicBezTo>
                  <a:pt x="5903" y="1116"/>
                  <a:pt x="5894" y="1124"/>
                  <a:pt x="5884" y="1130"/>
                </a:cubicBezTo>
                <a:cubicBezTo>
                  <a:pt x="5874" y="1137"/>
                  <a:pt x="5863" y="1143"/>
                  <a:pt x="5852" y="1147"/>
                </a:cubicBezTo>
                <a:cubicBezTo>
                  <a:pt x="5840" y="1152"/>
                  <a:pt x="5829" y="1156"/>
                  <a:pt x="5817" y="1158"/>
                </a:cubicBezTo>
                <a:cubicBezTo>
                  <a:pt x="5805" y="1160"/>
                  <a:pt x="5793" y="1162"/>
                  <a:pt x="5781" y="1162"/>
                </a:cubicBezTo>
                <a:lnTo>
                  <a:pt x="185" y="1162"/>
                </a:lnTo>
                <a:cubicBezTo>
                  <a:pt x="173" y="1162"/>
                  <a:pt x="161" y="1160"/>
                  <a:pt x="149" y="1158"/>
                </a:cubicBezTo>
                <a:cubicBezTo>
                  <a:pt x="137" y="1156"/>
                  <a:pt x="126" y="1152"/>
                  <a:pt x="114" y="1147"/>
                </a:cubicBezTo>
                <a:cubicBezTo>
                  <a:pt x="103" y="1143"/>
                  <a:pt x="92" y="1137"/>
                  <a:pt x="82" y="1130"/>
                </a:cubicBezTo>
                <a:cubicBezTo>
                  <a:pt x="72" y="1124"/>
                  <a:pt x="63" y="1116"/>
                  <a:pt x="54" y="1107"/>
                </a:cubicBezTo>
                <a:cubicBezTo>
                  <a:pt x="45" y="1099"/>
                  <a:pt x="38" y="1089"/>
                  <a:pt x="31" y="1079"/>
                </a:cubicBezTo>
                <a:cubicBezTo>
                  <a:pt x="24" y="1069"/>
                  <a:pt x="18" y="1058"/>
                  <a:pt x="14" y="1047"/>
                </a:cubicBezTo>
                <a:cubicBezTo>
                  <a:pt x="9" y="1036"/>
                  <a:pt x="6" y="1024"/>
                  <a:pt x="3" y="1012"/>
                </a:cubicBezTo>
                <a:cubicBezTo>
                  <a:pt x="1" y="1000"/>
                  <a:pt x="0" y="988"/>
                  <a:pt x="0" y="976"/>
                </a:cubicBezTo>
                <a:close/>
              </a:path>
            </a:pathLst>
          </a:custGeom>
          <a:solidFill>
            <a:srgbClr val="ffffff">
              <a:alpha val="5000"/>
            </a:srgbClr>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532" name=""/>
          <p:cNvSpPr txBox="1"/>
          <p:nvPr/>
        </p:nvSpPr>
        <p:spPr>
          <a:xfrm>
            <a:off x="6098400" y="5683680"/>
            <a:ext cx="939600" cy="194040"/>
          </a:xfrm>
          <a:prstGeom prst="rect">
            <a:avLst/>
          </a:prstGeom>
          <a:noFill/>
          <a:ln w="0">
            <a:noFill/>
          </a:ln>
        </p:spPr>
        <p:txBody>
          <a:bodyPr wrap="none" lIns="0" rIns="0" tIns="0" bIns="0" anchor="t">
            <a:spAutoFit/>
          </a:bodyPr>
          <a:p>
            <a:r>
              <a:rPr b="0" lang="zh-CN" sz="1050" strike="noStrike" u="none">
                <a:solidFill>
                  <a:srgbClr val="a7c6d9"/>
                </a:solidFill>
                <a:effectLst/>
                <a:uFillTx/>
                <a:latin typeface="NotoSansJP"/>
                <a:ea typeface="NotoSansJP"/>
              </a:rPr>
              <a:t>：瞳面上の座標</a:t>
            </a:r>
            <a:endParaRPr b="0" lang="en-US" sz="1050" strike="noStrike" u="none">
              <a:solidFill>
                <a:srgbClr val="000000"/>
              </a:solidFill>
              <a:effectLst/>
              <a:uFillTx/>
              <a:latin typeface="Times New Roman"/>
            </a:endParaRPr>
          </a:p>
        </p:txBody>
      </p:sp>
      <p:sp>
        <p:nvSpPr>
          <p:cNvPr id="533" name=""/>
          <p:cNvSpPr txBox="1"/>
          <p:nvPr/>
        </p:nvSpPr>
        <p:spPr>
          <a:xfrm>
            <a:off x="8045640" y="5683680"/>
            <a:ext cx="671400" cy="194040"/>
          </a:xfrm>
          <a:prstGeom prst="rect">
            <a:avLst/>
          </a:prstGeom>
          <a:noFill/>
          <a:ln w="0">
            <a:noFill/>
          </a:ln>
        </p:spPr>
        <p:txBody>
          <a:bodyPr wrap="none" lIns="0" rIns="0" tIns="0" bIns="0" anchor="t">
            <a:spAutoFit/>
          </a:bodyPr>
          <a:p>
            <a:r>
              <a:rPr b="0" lang="zh-CN" sz="1050" strike="noStrike" u="none">
                <a:solidFill>
                  <a:srgbClr val="a7c6d9"/>
                </a:solidFill>
                <a:effectLst/>
                <a:uFillTx/>
                <a:latin typeface="NotoSansJP"/>
                <a:ea typeface="NotoSansJP"/>
              </a:rPr>
              <a:t>：虚数単位</a:t>
            </a:r>
            <a:endParaRPr b="0" lang="en-US" sz="1050" strike="noStrike" u="none">
              <a:solidFill>
                <a:srgbClr val="000000"/>
              </a:solidFill>
              <a:effectLst/>
              <a:uFillTx/>
              <a:latin typeface="Times New Roman"/>
            </a:endParaRPr>
          </a:p>
        </p:txBody>
      </p:sp>
      <p:sp>
        <p:nvSpPr>
          <p:cNvPr id="534" name=""/>
          <p:cNvSpPr txBox="1"/>
          <p:nvPr/>
        </p:nvSpPr>
        <p:spPr>
          <a:xfrm>
            <a:off x="6279840" y="4388760"/>
            <a:ext cx="205200" cy="239760"/>
          </a:xfrm>
          <a:prstGeom prst="rect">
            <a:avLst/>
          </a:prstGeom>
          <a:noFill/>
          <a:ln w="0">
            <a:noFill/>
          </a:ln>
        </p:spPr>
        <p:txBody>
          <a:bodyPr wrap="none" lIns="0" rIns="0" tIns="0" bIns="0" anchor="t">
            <a:spAutoFit/>
          </a:bodyPr>
          <a:p>
            <a:r>
              <a:rPr b="0" i="1" lang="en-US" sz="1620" strike="noStrike" u="none">
                <a:solidFill>
                  <a:srgbClr val="ffffff"/>
                </a:solidFill>
                <a:effectLst/>
                <a:uFillTx/>
                <a:latin typeface="MathJax_Math"/>
                <a:ea typeface="MathJax_Math"/>
              </a:rPr>
              <a:t>t</a:t>
            </a:r>
            <a:endParaRPr b="0" lang="en-US" sz="1620" strike="noStrike" u="none">
              <a:solidFill>
                <a:srgbClr val="000000"/>
              </a:solidFill>
              <a:effectLst/>
              <a:uFillTx/>
              <a:latin typeface="Times New Roman"/>
            </a:endParaRPr>
          </a:p>
        </p:txBody>
      </p:sp>
      <p:sp>
        <p:nvSpPr>
          <p:cNvPr id="535" name=""/>
          <p:cNvSpPr txBox="1"/>
          <p:nvPr/>
        </p:nvSpPr>
        <p:spPr>
          <a:xfrm>
            <a:off x="6360480" y="4478040"/>
            <a:ext cx="144720" cy="168120"/>
          </a:xfrm>
          <a:prstGeom prst="rect">
            <a:avLst/>
          </a:prstGeom>
          <a:noFill/>
          <a:ln w="0">
            <a:noFill/>
          </a:ln>
        </p:spPr>
        <p:txBody>
          <a:bodyPr wrap="none" lIns="0" rIns="0" tIns="0" bIns="0" anchor="t">
            <a:spAutoFit/>
          </a:bodyPr>
          <a:p>
            <a:r>
              <a:rPr b="0" i="1" lang="en-US" sz="1150" strike="noStrike" u="none">
                <a:solidFill>
                  <a:srgbClr val="ffffff"/>
                </a:solidFill>
                <a:effectLst/>
                <a:uFillTx/>
                <a:latin typeface="MathJax_Math"/>
                <a:ea typeface="MathJax_Math"/>
              </a:rPr>
              <a:t>L</a:t>
            </a:r>
            <a:endParaRPr b="0" lang="en-US" sz="1150" strike="noStrike" u="none">
              <a:solidFill>
                <a:srgbClr val="000000"/>
              </a:solidFill>
              <a:effectLst/>
              <a:uFillTx/>
              <a:latin typeface="Times New Roman"/>
            </a:endParaRPr>
          </a:p>
        </p:txBody>
      </p:sp>
      <p:sp>
        <p:nvSpPr>
          <p:cNvPr id="536" name=""/>
          <p:cNvSpPr txBox="1"/>
          <p:nvPr/>
        </p:nvSpPr>
        <p:spPr>
          <a:xfrm>
            <a:off x="6469560" y="4388760"/>
            <a:ext cx="205200" cy="239760"/>
          </a:xfrm>
          <a:prstGeom prst="rect">
            <a:avLst/>
          </a:prstGeom>
          <a:noFill/>
          <a:ln w="0">
            <a:noFill/>
          </a:ln>
        </p:spPr>
        <p:txBody>
          <a:bodyPr wrap="none" lIns="0" rIns="0" tIns="0" bIns="0" anchor="t">
            <a:spAutoFit/>
          </a:bodyPr>
          <a:p>
            <a:r>
              <a:rPr b="0" lang="en-US" sz="1620" strike="noStrike" u="none">
                <a:solidFill>
                  <a:srgbClr val="ffffff"/>
                </a:solidFill>
                <a:effectLst/>
                <a:uFillTx/>
                <a:latin typeface="MathJax_Main"/>
                <a:ea typeface="MathJax_Main"/>
              </a:rPr>
              <a:t>(</a:t>
            </a:r>
            <a:r>
              <a:rPr b="0" i="1" lang="en-US" sz="1620" strike="noStrike" u="none">
                <a:solidFill>
                  <a:srgbClr val="ffffff"/>
                </a:solidFill>
                <a:effectLst/>
                <a:uFillTx/>
                <a:latin typeface="MathJax_Math"/>
                <a:ea typeface="MathJax_Math"/>
              </a:rPr>
              <a:t>x</a:t>
            </a:r>
            <a:endParaRPr b="0" lang="en-US" sz="1620" strike="noStrike" u="none">
              <a:solidFill>
                <a:srgbClr val="000000"/>
              </a:solidFill>
              <a:effectLst/>
              <a:uFillTx/>
              <a:latin typeface="Times New Roman"/>
            </a:endParaRPr>
          </a:p>
        </p:txBody>
      </p:sp>
      <p:sp>
        <p:nvSpPr>
          <p:cNvPr id="537" name=""/>
          <p:cNvSpPr txBox="1"/>
          <p:nvPr/>
        </p:nvSpPr>
        <p:spPr>
          <a:xfrm>
            <a:off x="6673320" y="4478040"/>
            <a:ext cx="144720" cy="168120"/>
          </a:xfrm>
          <a:prstGeom prst="rect">
            <a:avLst/>
          </a:prstGeom>
          <a:noFill/>
          <a:ln w="0">
            <a:noFill/>
          </a:ln>
        </p:spPr>
        <p:txBody>
          <a:bodyPr wrap="none" lIns="0" rIns="0" tIns="0" bIns="0" anchor="t">
            <a:spAutoFit/>
          </a:bodyPr>
          <a:p>
            <a:r>
              <a:rPr b="0" i="1" lang="en-US" sz="1150" strike="noStrike" u="none">
                <a:solidFill>
                  <a:srgbClr val="ffffff"/>
                </a:solidFill>
                <a:effectLst/>
                <a:uFillTx/>
                <a:latin typeface="MathJax_Math"/>
                <a:ea typeface="MathJax_Math"/>
              </a:rPr>
              <a:t>p</a:t>
            </a:r>
            <a:endParaRPr b="0" lang="en-US" sz="1150" strike="noStrike" u="none">
              <a:solidFill>
                <a:srgbClr val="000000"/>
              </a:solidFill>
              <a:effectLst/>
              <a:uFillTx/>
              <a:latin typeface="Times New Roman"/>
            </a:endParaRPr>
          </a:p>
        </p:txBody>
      </p:sp>
      <p:sp>
        <p:nvSpPr>
          <p:cNvPr id="538" name=""/>
          <p:cNvSpPr txBox="1"/>
          <p:nvPr/>
        </p:nvSpPr>
        <p:spPr>
          <a:xfrm>
            <a:off x="6756480" y="4388760"/>
            <a:ext cx="253440" cy="239760"/>
          </a:xfrm>
          <a:prstGeom prst="rect">
            <a:avLst/>
          </a:prstGeom>
          <a:noFill/>
          <a:ln w="0">
            <a:noFill/>
          </a:ln>
        </p:spPr>
        <p:txBody>
          <a:bodyPr wrap="none" lIns="0" rIns="0" tIns="0" bIns="0" anchor="t">
            <a:spAutoFit/>
          </a:bodyPr>
          <a:p>
            <a:r>
              <a:rPr b="0" lang="en-US" sz="1620" strike="noStrike" u="none">
                <a:solidFill>
                  <a:srgbClr val="ffffff"/>
                </a:solidFill>
                <a:effectLst/>
                <a:uFillTx/>
                <a:latin typeface="MathJax_Main"/>
                <a:ea typeface="MathJax_Main"/>
              </a:rPr>
              <a:t>,</a:t>
            </a:r>
            <a:r>
              <a:rPr b="0" i="1" lang="en-US" sz="1620" strike="noStrike" u="none">
                <a:solidFill>
                  <a:srgbClr val="ffffff"/>
                </a:solidFill>
                <a:effectLst/>
                <a:uFillTx/>
                <a:latin typeface="MathJax_Math"/>
                <a:ea typeface="MathJax_Math"/>
              </a:rPr>
              <a:t> y</a:t>
            </a:r>
            <a:endParaRPr b="0" lang="en-US" sz="1620" strike="noStrike" u="none">
              <a:solidFill>
                <a:srgbClr val="000000"/>
              </a:solidFill>
              <a:effectLst/>
              <a:uFillTx/>
              <a:latin typeface="Times New Roman"/>
            </a:endParaRPr>
          </a:p>
        </p:txBody>
      </p:sp>
      <p:sp>
        <p:nvSpPr>
          <p:cNvPr id="539" name=""/>
          <p:cNvSpPr txBox="1"/>
          <p:nvPr/>
        </p:nvSpPr>
        <p:spPr>
          <a:xfrm>
            <a:off x="6955200" y="4478040"/>
            <a:ext cx="144720" cy="168120"/>
          </a:xfrm>
          <a:prstGeom prst="rect">
            <a:avLst/>
          </a:prstGeom>
          <a:noFill/>
          <a:ln w="0">
            <a:noFill/>
          </a:ln>
        </p:spPr>
        <p:txBody>
          <a:bodyPr wrap="none" lIns="0" rIns="0" tIns="0" bIns="0" anchor="t">
            <a:spAutoFit/>
          </a:bodyPr>
          <a:p>
            <a:r>
              <a:rPr b="0" i="1" lang="en-US" sz="1150" strike="noStrike" u="none">
                <a:solidFill>
                  <a:srgbClr val="ffffff"/>
                </a:solidFill>
                <a:effectLst/>
                <a:uFillTx/>
                <a:latin typeface="MathJax_Math"/>
                <a:ea typeface="MathJax_Math"/>
              </a:rPr>
              <a:t>p</a:t>
            </a:r>
            <a:endParaRPr b="0" lang="en-US" sz="1150" strike="noStrike" u="none">
              <a:solidFill>
                <a:srgbClr val="000000"/>
              </a:solidFill>
              <a:effectLst/>
              <a:uFillTx/>
              <a:latin typeface="Times New Roman"/>
            </a:endParaRPr>
          </a:p>
        </p:txBody>
      </p:sp>
      <p:sp>
        <p:nvSpPr>
          <p:cNvPr id="540" name=""/>
          <p:cNvSpPr txBox="1"/>
          <p:nvPr/>
        </p:nvSpPr>
        <p:spPr>
          <a:xfrm>
            <a:off x="7038360" y="4388760"/>
            <a:ext cx="1138680" cy="239760"/>
          </a:xfrm>
          <a:prstGeom prst="rect">
            <a:avLst/>
          </a:prstGeom>
          <a:noFill/>
          <a:ln w="0">
            <a:noFill/>
          </a:ln>
        </p:spPr>
        <p:txBody>
          <a:bodyPr wrap="none" lIns="0" rIns="0" tIns="0" bIns="0" anchor="t">
            <a:spAutoFit/>
          </a:bodyPr>
          <a:p>
            <a:r>
              <a:rPr b="0" lang="en-US" sz="1620" strike="noStrike" u="none">
                <a:solidFill>
                  <a:srgbClr val="ffffff"/>
                </a:solidFill>
                <a:effectLst/>
                <a:uFillTx/>
                <a:latin typeface="MathJax_Main"/>
                <a:ea typeface="MathJax_Main"/>
              </a:rPr>
              <a:t>) = exp</a:t>
            </a:r>
            <a:r>
              <a:rPr b="0" lang="en-US" sz="1620" strike="noStrike" u="none">
                <a:solidFill>
                  <a:srgbClr val="ffffff"/>
                </a:solidFill>
                <a:effectLst/>
                <a:uFillTx/>
                <a:latin typeface="MathJax_Size2"/>
                <a:ea typeface="MathJax_Size2"/>
              </a:rPr>
              <a:t> [</a:t>
            </a:r>
            <a:r>
              <a:rPr b="0" lang="en-US" sz="1620" strike="noStrike" u="none">
                <a:solidFill>
                  <a:srgbClr val="ffffff"/>
                </a:solidFill>
                <a:effectLst/>
                <a:uFillTx/>
                <a:latin typeface="MathJax_Main"/>
                <a:ea typeface="MathJax_Main"/>
              </a:rPr>
              <a:t>−</a:t>
            </a:r>
            <a:r>
              <a:rPr b="0" i="1" lang="en-US" sz="1620" strike="noStrike" u="none">
                <a:solidFill>
                  <a:srgbClr val="ffffff"/>
                </a:solidFill>
                <a:effectLst/>
                <a:uFillTx/>
                <a:latin typeface="MathJax_Math"/>
                <a:ea typeface="MathJax_Math"/>
              </a:rPr>
              <a:t>i</a:t>
            </a:r>
            <a:endParaRPr b="0" lang="en-US" sz="1620" strike="noStrike" u="none">
              <a:solidFill>
                <a:srgbClr val="000000"/>
              </a:solidFill>
              <a:effectLst/>
              <a:uFillTx/>
              <a:latin typeface="Times New Roman"/>
            </a:endParaRPr>
          </a:p>
        </p:txBody>
      </p:sp>
      <p:sp>
        <p:nvSpPr>
          <p:cNvPr id="541" name=""/>
          <p:cNvSpPr/>
          <p:nvPr/>
        </p:nvSpPr>
        <p:spPr>
          <a:xfrm>
            <a:off x="8089200" y="4520880"/>
            <a:ext cx="342720" cy="8640"/>
          </a:xfrm>
          <a:custGeom>
            <a:avLst/>
            <a:gdLst/>
            <a:ahLst/>
            <a:rect l="0" t="0" r="r" b="b"/>
            <a:pathLst>
              <a:path w="952" h="24">
                <a:moveTo>
                  <a:pt x="0" y="0"/>
                </a:moveTo>
                <a:lnTo>
                  <a:pt x="952" y="0"/>
                </a:lnTo>
                <a:lnTo>
                  <a:pt x="952" y="24"/>
                </a:lnTo>
                <a:lnTo>
                  <a:pt x="0" y="24"/>
                </a:lnTo>
                <a:lnTo>
                  <a:pt x="0" y="0"/>
                </a:lnTo>
                <a:close/>
              </a:path>
            </a:pathLst>
          </a:custGeom>
          <a:solidFill>
            <a:srgbClr val="ffffff"/>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542" name=""/>
          <p:cNvSpPr txBox="1"/>
          <p:nvPr/>
        </p:nvSpPr>
        <p:spPr>
          <a:xfrm>
            <a:off x="8225280" y="4361040"/>
            <a:ext cx="144720" cy="168120"/>
          </a:xfrm>
          <a:prstGeom prst="rect">
            <a:avLst/>
          </a:prstGeom>
          <a:noFill/>
          <a:ln w="0">
            <a:noFill/>
          </a:ln>
        </p:spPr>
        <p:txBody>
          <a:bodyPr wrap="none" lIns="0" rIns="0" tIns="0" bIns="0" anchor="t">
            <a:spAutoFit/>
          </a:bodyPr>
          <a:p>
            <a:r>
              <a:rPr b="0" i="1" lang="en-US" sz="1150" strike="noStrike" u="none">
                <a:solidFill>
                  <a:srgbClr val="ffffff"/>
                </a:solidFill>
                <a:effectLst/>
                <a:uFillTx/>
                <a:latin typeface="MathJax_Math"/>
                <a:ea typeface="MathJax_Math"/>
              </a:rPr>
              <a:t>k</a:t>
            </a:r>
            <a:endParaRPr b="0" lang="en-US" sz="1150" strike="noStrike" u="none">
              <a:solidFill>
                <a:srgbClr val="000000"/>
              </a:solidFill>
              <a:effectLst/>
              <a:uFillTx/>
              <a:latin typeface="Times New Roman"/>
            </a:endParaRPr>
          </a:p>
        </p:txBody>
      </p:sp>
      <p:sp>
        <p:nvSpPr>
          <p:cNvPr id="543" name=""/>
          <p:cNvSpPr txBox="1"/>
          <p:nvPr/>
        </p:nvSpPr>
        <p:spPr>
          <a:xfrm>
            <a:off x="8112240" y="4519800"/>
            <a:ext cx="144720" cy="168120"/>
          </a:xfrm>
          <a:prstGeom prst="rect">
            <a:avLst/>
          </a:prstGeom>
          <a:noFill/>
          <a:ln w="0">
            <a:noFill/>
          </a:ln>
        </p:spPr>
        <p:txBody>
          <a:bodyPr wrap="none" lIns="0" rIns="0" tIns="0" bIns="0" anchor="t">
            <a:spAutoFit/>
          </a:bodyPr>
          <a:p>
            <a:r>
              <a:rPr b="0" lang="en-US" sz="1150" strike="noStrike" u="none">
                <a:solidFill>
                  <a:srgbClr val="ffffff"/>
                </a:solidFill>
                <a:effectLst/>
                <a:uFillTx/>
                <a:latin typeface="MathJax_Main"/>
                <a:ea typeface="MathJax_Main"/>
              </a:rPr>
              <a:t>2</a:t>
            </a:r>
            <a:r>
              <a:rPr b="0" i="1" lang="en-US" sz="1150" strike="noStrike" u="none">
                <a:solidFill>
                  <a:srgbClr val="ffffff"/>
                </a:solidFill>
                <a:effectLst/>
                <a:uFillTx/>
                <a:latin typeface="MathJax_Math"/>
                <a:ea typeface="MathJax_Math"/>
              </a:rPr>
              <a:t>f</a:t>
            </a:r>
            <a:endParaRPr b="0" lang="en-US" sz="1150" strike="noStrike" u="none">
              <a:solidFill>
                <a:srgbClr val="000000"/>
              </a:solidFill>
              <a:effectLst/>
              <a:uFillTx/>
              <a:latin typeface="Times New Roman"/>
            </a:endParaRPr>
          </a:p>
        </p:txBody>
      </p:sp>
      <p:sp>
        <p:nvSpPr>
          <p:cNvPr id="544" name=""/>
          <p:cNvSpPr txBox="1"/>
          <p:nvPr/>
        </p:nvSpPr>
        <p:spPr>
          <a:xfrm>
            <a:off x="8260560" y="4576320"/>
            <a:ext cx="189720" cy="120960"/>
          </a:xfrm>
          <a:prstGeom prst="rect">
            <a:avLst/>
          </a:prstGeom>
          <a:noFill/>
          <a:ln w="0">
            <a:noFill/>
          </a:ln>
        </p:spPr>
        <p:txBody>
          <a:bodyPr wrap="none" lIns="0" rIns="0" tIns="0" bIns="0" anchor="t">
            <a:spAutoFit/>
          </a:bodyPr>
          <a:p>
            <a:r>
              <a:rPr b="0" i="1" lang="en-US" sz="810" strike="noStrike" u="none">
                <a:solidFill>
                  <a:srgbClr val="ffffff"/>
                </a:solidFill>
                <a:effectLst/>
                <a:uFillTx/>
                <a:latin typeface="MathJax_Math"/>
                <a:ea typeface="MathJax_Math"/>
              </a:rPr>
              <a:t>eye</a:t>
            </a:r>
            <a:endParaRPr b="0" lang="en-US" sz="810" strike="noStrike" u="none">
              <a:solidFill>
                <a:srgbClr val="000000"/>
              </a:solidFill>
              <a:effectLst/>
              <a:uFillTx/>
              <a:latin typeface="Times New Roman"/>
            </a:endParaRPr>
          </a:p>
        </p:txBody>
      </p:sp>
      <p:sp>
        <p:nvSpPr>
          <p:cNvPr id="545" name=""/>
          <p:cNvSpPr txBox="1"/>
          <p:nvPr/>
        </p:nvSpPr>
        <p:spPr>
          <a:xfrm>
            <a:off x="8458920" y="4388760"/>
            <a:ext cx="205200" cy="239760"/>
          </a:xfrm>
          <a:prstGeom prst="rect">
            <a:avLst/>
          </a:prstGeom>
          <a:noFill/>
          <a:ln w="0">
            <a:noFill/>
          </a:ln>
        </p:spPr>
        <p:txBody>
          <a:bodyPr wrap="none" lIns="0" rIns="0" tIns="0" bIns="0" anchor="t">
            <a:spAutoFit/>
          </a:bodyPr>
          <a:p>
            <a:r>
              <a:rPr b="0" lang="en-US" sz="1620" strike="noStrike" u="none">
                <a:solidFill>
                  <a:srgbClr val="ffffff"/>
                </a:solidFill>
                <a:effectLst/>
                <a:uFillTx/>
                <a:latin typeface="MathJax_Main"/>
                <a:ea typeface="MathJax_Main"/>
              </a:rPr>
              <a:t>(</a:t>
            </a:r>
            <a:r>
              <a:rPr b="0" i="1" lang="en-US" sz="1620" strike="noStrike" u="none">
                <a:solidFill>
                  <a:srgbClr val="ffffff"/>
                </a:solidFill>
                <a:effectLst/>
                <a:uFillTx/>
                <a:latin typeface="MathJax_Math"/>
                <a:ea typeface="MathJax_Math"/>
              </a:rPr>
              <a:t>x</a:t>
            </a:r>
            <a:endParaRPr b="0" lang="en-US" sz="1620" strike="noStrike" u="none">
              <a:solidFill>
                <a:srgbClr val="000000"/>
              </a:solidFill>
              <a:effectLst/>
              <a:uFillTx/>
              <a:latin typeface="Times New Roman"/>
            </a:endParaRPr>
          </a:p>
        </p:txBody>
      </p:sp>
      <p:sp>
        <p:nvSpPr>
          <p:cNvPr id="546" name=""/>
          <p:cNvSpPr txBox="1"/>
          <p:nvPr/>
        </p:nvSpPr>
        <p:spPr>
          <a:xfrm>
            <a:off x="8662680" y="4369680"/>
            <a:ext cx="144720" cy="168120"/>
          </a:xfrm>
          <a:prstGeom prst="rect">
            <a:avLst/>
          </a:prstGeom>
          <a:noFill/>
          <a:ln w="0">
            <a:noFill/>
          </a:ln>
        </p:spPr>
        <p:txBody>
          <a:bodyPr wrap="none" lIns="0" rIns="0" tIns="0" bIns="0" anchor="t">
            <a:spAutoFit/>
          </a:bodyPr>
          <a:p>
            <a:r>
              <a:rPr b="0" lang="en-US" sz="1150" strike="noStrike" u="none">
                <a:solidFill>
                  <a:srgbClr val="ffffff"/>
                </a:solidFill>
                <a:effectLst/>
                <a:uFillTx/>
                <a:latin typeface="MathJax_Main"/>
                <a:ea typeface="MathJax_Main"/>
              </a:rPr>
              <a:t>2</a:t>
            </a:r>
            <a:endParaRPr b="0" lang="en-US" sz="1150" strike="noStrike" u="none">
              <a:solidFill>
                <a:srgbClr val="000000"/>
              </a:solidFill>
              <a:effectLst/>
              <a:uFillTx/>
              <a:latin typeface="Times New Roman"/>
            </a:endParaRPr>
          </a:p>
        </p:txBody>
      </p:sp>
      <p:sp>
        <p:nvSpPr>
          <p:cNvPr id="547" name=""/>
          <p:cNvSpPr txBox="1"/>
          <p:nvPr/>
        </p:nvSpPr>
        <p:spPr>
          <a:xfrm>
            <a:off x="8662680" y="4494960"/>
            <a:ext cx="144720" cy="168120"/>
          </a:xfrm>
          <a:prstGeom prst="rect">
            <a:avLst/>
          </a:prstGeom>
          <a:noFill/>
          <a:ln w="0">
            <a:noFill/>
          </a:ln>
        </p:spPr>
        <p:txBody>
          <a:bodyPr wrap="none" lIns="0" rIns="0" tIns="0" bIns="0" anchor="t">
            <a:spAutoFit/>
          </a:bodyPr>
          <a:p>
            <a:r>
              <a:rPr b="0" i="1" lang="en-US" sz="1150" strike="noStrike" u="none">
                <a:solidFill>
                  <a:srgbClr val="ffffff"/>
                </a:solidFill>
                <a:effectLst/>
                <a:uFillTx/>
                <a:latin typeface="MathJax_Math"/>
                <a:ea typeface="MathJax_Math"/>
              </a:rPr>
              <a:t>p</a:t>
            </a:r>
            <a:endParaRPr b="0" lang="en-US" sz="1150" strike="noStrike" u="none">
              <a:solidFill>
                <a:srgbClr val="000000"/>
              </a:solidFill>
              <a:effectLst/>
              <a:uFillTx/>
              <a:latin typeface="Times New Roman"/>
            </a:endParaRPr>
          </a:p>
        </p:txBody>
      </p:sp>
      <p:sp>
        <p:nvSpPr>
          <p:cNvPr id="548" name=""/>
          <p:cNvSpPr txBox="1"/>
          <p:nvPr/>
        </p:nvSpPr>
        <p:spPr>
          <a:xfrm>
            <a:off x="8791560" y="4388760"/>
            <a:ext cx="360360" cy="239760"/>
          </a:xfrm>
          <a:prstGeom prst="rect">
            <a:avLst/>
          </a:prstGeom>
          <a:noFill/>
          <a:ln w="0">
            <a:noFill/>
          </a:ln>
        </p:spPr>
        <p:txBody>
          <a:bodyPr wrap="none" lIns="0" rIns="0" tIns="0" bIns="0" anchor="t">
            <a:spAutoFit/>
          </a:bodyPr>
          <a:p>
            <a:r>
              <a:rPr b="0" lang="en-US" sz="1620" strike="noStrike" u="none">
                <a:solidFill>
                  <a:srgbClr val="ffffff"/>
                </a:solidFill>
                <a:effectLst/>
                <a:uFillTx/>
                <a:latin typeface="MathJax_Main"/>
                <a:ea typeface="MathJax_Main"/>
              </a:rPr>
              <a:t>+</a:t>
            </a:r>
            <a:r>
              <a:rPr b="0" i="1" lang="en-US" sz="1620" strike="noStrike" u="none">
                <a:solidFill>
                  <a:srgbClr val="ffffff"/>
                </a:solidFill>
                <a:effectLst/>
                <a:uFillTx/>
                <a:latin typeface="MathJax_Math"/>
                <a:ea typeface="MathJax_Math"/>
              </a:rPr>
              <a:t> y</a:t>
            </a:r>
            <a:endParaRPr b="0" lang="en-US" sz="1620" strike="noStrike" u="none">
              <a:solidFill>
                <a:srgbClr val="000000"/>
              </a:solidFill>
              <a:effectLst/>
              <a:uFillTx/>
              <a:latin typeface="Times New Roman"/>
            </a:endParaRPr>
          </a:p>
        </p:txBody>
      </p:sp>
      <p:sp>
        <p:nvSpPr>
          <p:cNvPr id="549" name=""/>
          <p:cNvSpPr txBox="1"/>
          <p:nvPr/>
        </p:nvSpPr>
        <p:spPr>
          <a:xfrm>
            <a:off x="9104040" y="4369680"/>
            <a:ext cx="144720" cy="168120"/>
          </a:xfrm>
          <a:prstGeom prst="rect">
            <a:avLst/>
          </a:prstGeom>
          <a:noFill/>
          <a:ln w="0">
            <a:noFill/>
          </a:ln>
        </p:spPr>
        <p:txBody>
          <a:bodyPr wrap="none" lIns="0" rIns="0" tIns="0" bIns="0" anchor="t">
            <a:spAutoFit/>
          </a:bodyPr>
          <a:p>
            <a:r>
              <a:rPr b="0" lang="en-US" sz="1150" strike="noStrike" u="none">
                <a:solidFill>
                  <a:srgbClr val="ffffff"/>
                </a:solidFill>
                <a:effectLst/>
                <a:uFillTx/>
                <a:latin typeface="MathJax_Main"/>
                <a:ea typeface="MathJax_Main"/>
              </a:rPr>
              <a:t>2</a:t>
            </a:r>
            <a:endParaRPr b="0" lang="en-US" sz="1150" strike="noStrike" u="none">
              <a:solidFill>
                <a:srgbClr val="000000"/>
              </a:solidFill>
              <a:effectLst/>
              <a:uFillTx/>
              <a:latin typeface="Times New Roman"/>
            </a:endParaRPr>
          </a:p>
        </p:txBody>
      </p:sp>
      <p:sp>
        <p:nvSpPr>
          <p:cNvPr id="550" name=""/>
          <p:cNvSpPr txBox="1"/>
          <p:nvPr/>
        </p:nvSpPr>
        <p:spPr>
          <a:xfrm>
            <a:off x="9104040" y="4494960"/>
            <a:ext cx="144720" cy="168120"/>
          </a:xfrm>
          <a:prstGeom prst="rect">
            <a:avLst/>
          </a:prstGeom>
          <a:noFill/>
          <a:ln w="0">
            <a:noFill/>
          </a:ln>
        </p:spPr>
        <p:txBody>
          <a:bodyPr wrap="none" lIns="0" rIns="0" tIns="0" bIns="0" anchor="t">
            <a:spAutoFit/>
          </a:bodyPr>
          <a:p>
            <a:r>
              <a:rPr b="0" i="1" lang="en-US" sz="1150" strike="noStrike" u="none">
                <a:solidFill>
                  <a:srgbClr val="ffffff"/>
                </a:solidFill>
                <a:effectLst/>
                <a:uFillTx/>
                <a:latin typeface="MathJax_Math"/>
                <a:ea typeface="MathJax_Math"/>
              </a:rPr>
              <a:t>p</a:t>
            </a:r>
            <a:endParaRPr b="0" lang="en-US" sz="1150" strike="noStrike" u="none">
              <a:solidFill>
                <a:srgbClr val="000000"/>
              </a:solidFill>
              <a:effectLst/>
              <a:uFillTx/>
              <a:latin typeface="Times New Roman"/>
            </a:endParaRPr>
          </a:p>
        </p:txBody>
      </p:sp>
      <p:sp>
        <p:nvSpPr>
          <p:cNvPr id="551" name=""/>
          <p:cNvSpPr txBox="1"/>
          <p:nvPr/>
        </p:nvSpPr>
        <p:spPr>
          <a:xfrm>
            <a:off x="9187200" y="4388760"/>
            <a:ext cx="205200" cy="239760"/>
          </a:xfrm>
          <a:prstGeom prst="rect">
            <a:avLst/>
          </a:prstGeom>
          <a:noFill/>
          <a:ln w="0">
            <a:noFill/>
          </a:ln>
        </p:spPr>
        <p:txBody>
          <a:bodyPr wrap="none" lIns="0" rIns="0" tIns="0" bIns="0" anchor="t">
            <a:spAutoFit/>
          </a:bodyPr>
          <a:p>
            <a:r>
              <a:rPr b="0" lang="en-US" sz="1620" strike="noStrike" u="none">
                <a:solidFill>
                  <a:srgbClr val="ffffff"/>
                </a:solidFill>
                <a:effectLst/>
                <a:uFillTx/>
                <a:latin typeface="MathJax_Main"/>
                <a:ea typeface="MathJax_Main"/>
              </a:rPr>
              <a:t>)</a:t>
            </a:r>
            <a:r>
              <a:rPr b="0" lang="en-US" sz="1620" strike="noStrike" u="none">
                <a:solidFill>
                  <a:srgbClr val="ffffff"/>
                </a:solidFill>
                <a:effectLst/>
                <a:uFillTx/>
                <a:latin typeface="MathJax_Size2"/>
                <a:ea typeface="MathJax_Size2"/>
              </a:rPr>
              <a:t>]</a:t>
            </a:r>
            <a:endParaRPr b="0" lang="en-US" sz="1620" strike="noStrike" u="none">
              <a:solidFill>
                <a:srgbClr val="000000"/>
              </a:solidFill>
              <a:effectLst/>
              <a:uFillTx/>
              <a:latin typeface="Times New Roman"/>
            </a:endParaRPr>
          </a:p>
        </p:txBody>
      </p:sp>
      <p:sp>
        <p:nvSpPr>
          <p:cNvPr id="552" name=""/>
          <p:cNvSpPr txBox="1"/>
          <p:nvPr/>
        </p:nvSpPr>
        <p:spPr>
          <a:xfrm>
            <a:off x="5707800" y="5095800"/>
            <a:ext cx="283680" cy="189360"/>
          </a:xfrm>
          <a:prstGeom prst="rect">
            <a:avLst/>
          </a:prstGeom>
          <a:noFill/>
          <a:ln w="0">
            <a:noFill/>
          </a:ln>
        </p:spPr>
        <p:txBody>
          <a:bodyPr wrap="none" lIns="0" rIns="0" tIns="0" bIns="0" anchor="t">
            <a:spAutoFit/>
          </a:bodyPr>
          <a:p>
            <a:r>
              <a:rPr b="0" i="1" lang="en-US" sz="1290" strike="noStrike" u="none">
                <a:solidFill>
                  <a:srgbClr val="a7c6d9"/>
                </a:solidFill>
                <a:effectLst/>
                <a:uFillTx/>
                <a:latin typeface="MathJax_Math"/>
                <a:ea typeface="MathJax_Math"/>
              </a:rPr>
              <a:t>k</a:t>
            </a:r>
            <a:r>
              <a:rPr b="0" lang="en-US" sz="1290" strike="noStrike" u="none">
                <a:solidFill>
                  <a:srgbClr val="a7c6d9"/>
                </a:solidFill>
                <a:effectLst/>
                <a:uFillTx/>
                <a:latin typeface="MathJax_Main"/>
                <a:ea typeface="MathJax_Main"/>
              </a:rPr>
              <a:t> =</a:t>
            </a:r>
            <a:endParaRPr b="0" lang="en-US" sz="1290" strike="noStrike" u="none">
              <a:solidFill>
                <a:srgbClr val="000000"/>
              </a:solidFill>
              <a:effectLst/>
              <a:uFillTx/>
              <a:latin typeface="Times New Roman"/>
            </a:endParaRPr>
          </a:p>
        </p:txBody>
      </p:sp>
      <p:sp>
        <p:nvSpPr>
          <p:cNvPr id="553" name=""/>
          <p:cNvSpPr/>
          <p:nvPr/>
        </p:nvSpPr>
        <p:spPr>
          <a:xfrm>
            <a:off x="6033240" y="5205960"/>
            <a:ext cx="159120" cy="8640"/>
          </a:xfrm>
          <a:custGeom>
            <a:avLst/>
            <a:gdLst/>
            <a:ahLst/>
            <a:rect l="0" t="0" r="r" b="b"/>
            <a:pathLst>
              <a:path w="442" h="24">
                <a:moveTo>
                  <a:pt x="0" y="0"/>
                </a:moveTo>
                <a:lnTo>
                  <a:pt x="442" y="0"/>
                </a:lnTo>
                <a:lnTo>
                  <a:pt x="442" y="24"/>
                </a:lnTo>
                <a:lnTo>
                  <a:pt x="0" y="24"/>
                </a:lnTo>
                <a:lnTo>
                  <a:pt x="0" y="0"/>
                </a:lnTo>
                <a:close/>
              </a:path>
            </a:pathLst>
          </a:custGeom>
          <a:solidFill>
            <a:srgbClr val="a7c6d9"/>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554" name=""/>
          <p:cNvSpPr txBox="1"/>
          <p:nvPr/>
        </p:nvSpPr>
        <p:spPr>
          <a:xfrm>
            <a:off x="6048000" y="5073480"/>
            <a:ext cx="144360" cy="136080"/>
          </a:xfrm>
          <a:prstGeom prst="rect">
            <a:avLst/>
          </a:prstGeom>
          <a:noFill/>
          <a:ln w="0">
            <a:noFill/>
          </a:ln>
        </p:spPr>
        <p:txBody>
          <a:bodyPr wrap="none" lIns="0" rIns="0" tIns="0" bIns="0" anchor="t">
            <a:spAutoFit/>
          </a:bodyPr>
          <a:p>
            <a:r>
              <a:rPr b="0" lang="en-US" sz="920" strike="noStrike" u="none">
                <a:solidFill>
                  <a:srgbClr val="a7c6d9"/>
                </a:solidFill>
                <a:effectLst/>
                <a:uFillTx/>
                <a:latin typeface="MathJax_Main"/>
                <a:ea typeface="MathJax_Main"/>
              </a:rPr>
              <a:t>2</a:t>
            </a:r>
            <a:r>
              <a:rPr b="0" i="1" lang="en-US" sz="920" strike="noStrike" u="none">
                <a:solidFill>
                  <a:srgbClr val="a7c6d9"/>
                </a:solidFill>
                <a:effectLst/>
                <a:uFillTx/>
                <a:latin typeface="MathJax_Math"/>
                <a:ea typeface="MathJax_Math"/>
              </a:rPr>
              <a:t>π</a:t>
            </a:r>
            <a:endParaRPr b="0" lang="en-US" sz="920" strike="noStrike" u="none">
              <a:solidFill>
                <a:srgbClr val="000000"/>
              </a:solidFill>
              <a:effectLst/>
              <a:uFillTx/>
              <a:latin typeface="Times New Roman"/>
            </a:endParaRPr>
          </a:p>
        </p:txBody>
      </p:sp>
      <p:sp>
        <p:nvSpPr>
          <p:cNvPr id="555" name=""/>
          <p:cNvSpPr txBox="1"/>
          <p:nvPr/>
        </p:nvSpPr>
        <p:spPr>
          <a:xfrm>
            <a:off x="6076080" y="5198760"/>
            <a:ext cx="115560" cy="136080"/>
          </a:xfrm>
          <a:prstGeom prst="rect">
            <a:avLst/>
          </a:prstGeom>
          <a:noFill/>
          <a:ln w="0">
            <a:noFill/>
          </a:ln>
        </p:spPr>
        <p:txBody>
          <a:bodyPr wrap="none" lIns="0" rIns="0" tIns="0" bIns="0" anchor="t">
            <a:spAutoFit/>
          </a:bodyPr>
          <a:p>
            <a:r>
              <a:rPr b="0" i="1" lang="en-US" sz="920" strike="noStrike" u="none">
                <a:solidFill>
                  <a:srgbClr val="a7c6d9"/>
                </a:solidFill>
                <a:effectLst/>
                <a:uFillTx/>
                <a:latin typeface="MathJax_Math"/>
                <a:ea typeface="MathJax_Math"/>
              </a:rPr>
              <a:t>λ</a:t>
            </a:r>
            <a:endParaRPr b="0" lang="en-US" sz="920" strike="noStrike" u="none">
              <a:solidFill>
                <a:srgbClr val="000000"/>
              </a:solidFill>
              <a:effectLst/>
              <a:uFillTx/>
              <a:latin typeface="Times New Roman"/>
            </a:endParaRPr>
          </a:p>
        </p:txBody>
      </p:sp>
      <p:sp>
        <p:nvSpPr>
          <p:cNvPr id="556" name=""/>
          <p:cNvSpPr txBox="1"/>
          <p:nvPr/>
        </p:nvSpPr>
        <p:spPr>
          <a:xfrm>
            <a:off x="7989120" y="5095800"/>
            <a:ext cx="163800" cy="189360"/>
          </a:xfrm>
          <a:prstGeom prst="rect">
            <a:avLst/>
          </a:prstGeom>
          <a:noFill/>
          <a:ln w="0">
            <a:noFill/>
          </a:ln>
        </p:spPr>
        <p:txBody>
          <a:bodyPr wrap="none" lIns="0" rIns="0" tIns="0" bIns="0" anchor="t">
            <a:spAutoFit/>
          </a:bodyPr>
          <a:p>
            <a:r>
              <a:rPr b="0" i="1" lang="en-US" sz="1290" strike="noStrike" u="none">
                <a:solidFill>
                  <a:srgbClr val="a7c6d9"/>
                </a:solidFill>
                <a:effectLst/>
                <a:uFillTx/>
                <a:latin typeface="MathJax_Math"/>
                <a:ea typeface="MathJax_Math"/>
              </a:rPr>
              <a:t>f</a:t>
            </a:r>
            <a:endParaRPr b="0" lang="en-US" sz="1290" strike="noStrike" u="none">
              <a:solidFill>
                <a:srgbClr val="000000"/>
              </a:solidFill>
              <a:effectLst/>
              <a:uFillTx/>
              <a:latin typeface="Times New Roman"/>
            </a:endParaRPr>
          </a:p>
        </p:txBody>
      </p:sp>
      <p:sp>
        <p:nvSpPr>
          <p:cNvPr id="557" name=""/>
          <p:cNvSpPr txBox="1"/>
          <p:nvPr/>
        </p:nvSpPr>
        <p:spPr>
          <a:xfrm>
            <a:off x="8074800" y="5165280"/>
            <a:ext cx="211680" cy="136080"/>
          </a:xfrm>
          <a:prstGeom prst="rect">
            <a:avLst/>
          </a:prstGeom>
          <a:noFill/>
          <a:ln w="0">
            <a:noFill/>
          </a:ln>
        </p:spPr>
        <p:txBody>
          <a:bodyPr wrap="none" lIns="0" rIns="0" tIns="0" bIns="0" anchor="t">
            <a:spAutoFit/>
          </a:bodyPr>
          <a:p>
            <a:r>
              <a:rPr b="0" i="1" lang="en-US" sz="920" strike="noStrike" u="none">
                <a:solidFill>
                  <a:srgbClr val="a7c6d9"/>
                </a:solidFill>
                <a:effectLst/>
                <a:uFillTx/>
                <a:latin typeface="MathJax_Math"/>
                <a:ea typeface="MathJax_Math"/>
              </a:rPr>
              <a:t>eye</a:t>
            </a:r>
            <a:endParaRPr b="0" lang="en-US" sz="920" strike="noStrike" u="none">
              <a:solidFill>
                <a:srgbClr val="000000"/>
              </a:solidFill>
              <a:effectLst/>
              <a:uFillTx/>
              <a:latin typeface="Times New Roman"/>
            </a:endParaRPr>
          </a:p>
        </p:txBody>
      </p:sp>
      <p:sp>
        <p:nvSpPr>
          <p:cNvPr id="558" name=""/>
          <p:cNvSpPr txBox="1"/>
          <p:nvPr/>
        </p:nvSpPr>
        <p:spPr>
          <a:xfrm>
            <a:off x="5707800" y="5655600"/>
            <a:ext cx="163800" cy="189360"/>
          </a:xfrm>
          <a:prstGeom prst="rect">
            <a:avLst/>
          </a:prstGeom>
          <a:noFill/>
          <a:ln w="0">
            <a:noFill/>
          </a:ln>
        </p:spPr>
        <p:txBody>
          <a:bodyPr wrap="none" lIns="0" rIns="0" tIns="0" bIns="0" anchor="t">
            <a:spAutoFit/>
          </a:bodyPr>
          <a:p>
            <a:r>
              <a:rPr b="0" i="1" lang="en-US" sz="1290" strike="noStrike" u="none">
                <a:solidFill>
                  <a:srgbClr val="a7c6d9"/>
                </a:solidFill>
                <a:effectLst/>
                <a:uFillTx/>
                <a:latin typeface="MathJax_Math"/>
                <a:ea typeface="MathJax_Math"/>
              </a:rPr>
              <a:t>x</a:t>
            </a:r>
            <a:endParaRPr b="0" lang="en-US" sz="1290" strike="noStrike" u="none">
              <a:solidFill>
                <a:srgbClr val="000000"/>
              </a:solidFill>
              <a:effectLst/>
              <a:uFillTx/>
              <a:latin typeface="Times New Roman"/>
            </a:endParaRPr>
          </a:p>
        </p:txBody>
      </p:sp>
      <p:sp>
        <p:nvSpPr>
          <p:cNvPr id="559" name=""/>
          <p:cNvSpPr txBox="1"/>
          <p:nvPr/>
        </p:nvSpPr>
        <p:spPr>
          <a:xfrm>
            <a:off x="5806800" y="5725080"/>
            <a:ext cx="115560" cy="136080"/>
          </a:xfrm>
          <a:prstGeom prst="rect">
            <a:avLst/>
          </a:prstGeom>
          <a:noFill/>
          <a:ln w="0">
            <a:noFill/>
          </a:ln>
        </p:spPr>
        <p:txBody>
          <a:bodyPr wrap="none" lIns="0" rIns="0" tIns="0" bIns="0" anchor="t">
            <a:spAutoFit/>
          </a:bodyPr>
          <a:p>
            <a:r>
              <a:rPr b="0" i="1" lang="en-US" sz="920" strike="noStrike" u="none">
                <a:solidFill>
                  <a:srgbClr val="a7c6d9"/>
                </a:solidFill>
                <a:effectLst/>
                <a:uFillTx/>
                <a:latin typeface="MathJax_Math"/>
                <a:ea typeface="MathJax_Math"/>
              </a:rPr>
              <a:t>p</a:t>
            </a:r>
            <a:endParaRPr b="0" lang="en-US" sz="920" strike="noStrike" u="none">
              <a:solidFill>
                <a:srgbClr val="000000"/>
              </a:solidFill>
              <a:effectLst/>
              <a:uFillTx/>
              <a:latin typeface="Times New Roman"/>
            </a:endParaRPr>
          </a:p>
        </p:txBody>
      </p:sp>
      <p:sp>
        <p:nvSpPr>
          <p:cNvPr id="560" name=""/>
          <p:cNvSpPr txBox="1"/>
          <p:nvPr/>
        </p:nvSpPr>
        <p:spPr>
          <a:xfrm>
            <a:off x="5873400" y="5655600"/>
            <a:ext cx="200880" cy="189360"/>
          </a:xfrm>
          <a:prstGeom prst="rect">
            <a:avLst/>
          </a:prstGeom>
          <a:noFill/>
          <a:ln w="0">
            <a:noFill/>
          </a:ln>
        </p:spPr>
        <p:txBody>
          <a:bodyPr wrap="none" lIns="0" rIns="0" tIns="0" bIns="0" anchor="t">
            <a:spAutoFit/>
          </a:bodyPr>
          <a:p>
            <a:r>
              <a:rPr b="0" lang="en-US" sz="1290" strike="noStrike" u="none">
                <a:solidFill>
                  <a:srgbClr val="a7c6d9"/>
                </a:solidFill>
                <a:effectLst/>
                <a:uFillTx/>
                <a:latin typeface="MathJax_Main"/>
                <a:ea typeface="MathJax_Main"/>
              </a:rPr>
              <a:t>,</a:t>
            </a:r>
            <a:r>
              <a:rPr b="0" i="1" lang="en-US" sz="1290" strike="noStrike" u="none">
                <a:solidFill>
                  <a:srgbClr val="a7c6d9"/>
                </a:solidFill>
                <a:effectLst/>
                <a:uFillTx/>
                <a:latin typeface="MathJax_Math"/>
                <a:ea typeface="MathJax_Math"/>
              </a:rPr>
              <a:t> y</a:t>
            </a:r>
            <a:endParaRPr b="0" lang="en-US" sz="1290" strike="noStrike" u="none">
              <a:solidFill>
                <a:srgbClr val="000000"/>
              </a:solidFill>
              <a:effectLst/>
              <a:uFillTx/>
              <a:latin typeface="Times New Roman"/>
            </a:endParaRPr>
          </a:p>
        </p:txBody>
      </p:sp>
      <p:sp>
        <p:nvSpPr>
          <p:cNvPr id="561" name=""/>
          <p:cNvSpPr txBox="1"/>
          <p:nvPr/>
        </p:nvSpPr>
        <p:spPr>
          <a:xfrm>
            <a:off x="6031800" y="5725080"/>
            <a:ext cx="115560" cy="136080"/>
          </a:xfrm>
          <a:prstGeom prst="rect">
            <a:avLst/>
          </a:prstGeom>
          <a:noFill/>
          <a:ln w="0">
            <a:noFill/>
          </a:ln>
        </p:spPr>
        <p:txBody>
          <a:bodyPr wrap="none" lIns="0" rIns="0" tIns="0" bIns="0" anchor="t">
            <a:spAutoFit/>
          </a:bodyPr>
          <a:p>
            <a:r>
              <a:rPr b="0" i="1" lang="en-US" sz="920" strike="noStrike" u="none">
                <a:solidFill>
                  <a:srgbClr val="a7c6d9"/>
                </a:solidFill>
                <a:effectLst/>
                <a:uFillTx/>
                <a:latin typeface="MathJax_Math"/>
                <a:ea typeface="MathJax_Math"/>
              </a:rPr>
              <a:t>p</a:t>
            </a:r>
            <a:endParaRPr b="0" lang="en-US" sz="920" strike="noStrike" u="none">
              <a:solidFill>
                <a:srgbClr val="000000"/>
              </a:solidFill>
              <a:effectLst/>
              <a:uFillTx/>
              <a:latin typeface="Times New Roman"/>
            </a:endParaRPr>
          </a:p>
        </p:txBody>
      </p:sp>
      <p:sp>
        <p:nvSpPr>
          <p:cNvPr id="562" name=""/>
          <p:cNvSpPr txBox="1"/>
          <p:nvPr/>
        </p:nvSpPr>
        <p:spPr>
          <a:xfrm>
            <a:off x="7989120" y="5655600"/>
            <a:ext cx="163800" cy="189360"/>
          </a:xfrm>
          <a:prstGeom prst="rect">
            <a:avLst/>
          </a:prstGeom>
          <a:noFill/>
          <a:ln w="0">
            <a:noFill/>
          </a:ln>
        </p:spPr>
        <p:txBody>
          <a:bodyPr wrap="none" lIns="0" rIns="0" tIns="0" bIns="0" anchor="t">
            <a:spAutoFit/>
          </a:bodyPr>
          <a:p>
            <a:r>
              <a:rPr b="0" i="1" lang="en-US" sz="1290" strike="noStrike" u="none">
                <a:solidFill>
                  <a:srgbClr val="a7c6d9"/>
                </a:solidFill>
                <a:effectLst/>
                <a:uFillTx/>
                <a:latin typeface="MathJax_Math"/>
                <a:ea typeface="MathJax_Math"/>
              </a:rPr>
              <a:t>i</a:t>
            </a:r>
            <a:endParaRPr b="0" lang="en-US" sz="1290" strike="noStrike" u="none">
              <a:solidFill>
                <a:srgbClr val="000000"/>
              </a:solidFill>
              <a:effectLst/>
              <a:uFillTx/>
              <a:latin typeface="Times New Roman"/>
            </a:endParaRPr>
          </a:p>
        </p:txBody>
      </p:sp>
      <p:sp>
        <p:nvSpPr>
          <p:cNvPr id="563" name=""/>
          <p:cNvSpPr txBox="1"/>
          <p:nvPr/>
        </p:nvSpPr>
        <p:spPr>
          <a:xfrm>
            <a:off x="10203480" y="5741280"/>
            <a:ext cx="338760" cy="136080"/>
          </a:xfrm>
          <a:prstGeom prst="rect">
            <a:avLst/>
          </a:prstGeom>
          <a:noFill/>
          <a:ln w="0">
            <a:noFill/>
          </a:ln>
        </p:spPr>
        <p:txBody>
          <a:bodyPr wrap="none" lIns="0" rIns="0" tIns="0" bIns="0" anchor="t">
            <a:spAutoFit/>
          </a:bodyPr>
          <a:p>
            <a:r>
              <a:rPr b="0" lang="en-US" sz="920" strike="noStrike" u="none">
                <a:solidFill>
                  <a:srgbClr val="a7c6d9"/>
                </a:solidFill>
                <a:effectLst/>
                <a:uFillTx/>
                <a:latin typeface="NotoSansJP"/>
                <a:ea typeface="NotoSansJP"/>
              </a:rPr>
              <a:t>9 / 13</a:t>
            </a:r>
            <a:endParaRPr b="0" lang="en-US" sz="920" strike="noStrike" u="non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4" name=""/>
          <p:cNvSpPr/>
          <p:nvPr/>
        </p:nvSpPr>
        <p:spPr>
          <a:xfrm>
            <a:off x="0" y="0"/>
            <a:ext cx="10696680" cy="6017040"/>
          </a:xfrm>
          <a:custGeom>
            <a:avLst/>
            <a:gdLst/>
            <a:ahLst/>
            <a:rect l="0" t="0" r="r" b="b"/>
            <a:pathLst>
              <a:path w="29713" h="16714">
                <a:moveTo>
                  <a:pt x="0" y="0"/>
                </a:moveTo>
                <a:lnTo>
                  <a:pt x="29713" y="0"/>
                </a:lnTo>
                <a:lnTo>
                  <a:pt x="29713" y="16714"/>
                </a:lnTo>
                <a:lnTo>
                  <a:pt x="0" y="16714"/>
                </a:lnTo>
                <a:lnTo>
                  <a:pt x="0" y="0"/>
                </a:lnTo>
                <a:close/>
              </a:path>
            </a:pathLst>
          </a:custGeom>
          <a:solidFill>
            <a:srgbClr val="1c3d5a"/>
          </a:solidFill>
          <a:ln w="0">
            <a:noFill/>
          </a:ln>
        </p:spPr>
        <p:txBody>
          <a:bodyPr lIns="0" rIns="0" tIns="0" bIns="0" anchor="t">
            <a:noAutofit/>
          </a:bodyPr>
          <a:p>
            <a:endParaRPr b="0" lang="en-US" sz="2400" strike="noStrike" u="none">
              <a:solidFill>
                <a:srgbClr val="ffffff"/>
              </a:solidFill>
              <a:effectLst/>
              <a:uFillTx/>
              <a:latin typeface="Times New Roman"/>
            </a:endParaRPr>
          </a:p>
        </p:txBody>
      </p:sp>
      <p:pic>
        <p:nvPicPr>
          <p:cNvPr id="565" name="" descr=""/>
          <p:cNvPicPr/>
          <p:nvPr/>
        </p:nvPicPr>
        <p:blipFill>
          <a:blip r:embed="rId1"/>
          <a:stretch/>
        </p:blipFill>
        <p:spPr>
          <a:xfrm>
            <a:off x="0" y="0"/>
            <a:ext cx="10696320" cy="6016320"/>
          </a:xfrm>
          <a:prstGeom prst="rect">
            <a:avLst/>
          </a:prstGeom>
          <a:noFill/>
          <a:ln w="0">
            <a:noFill/>
          </a:ln>
        </p:spPr>
      </p:pic>
      <p:sp>
        <p:nvSpPr>
          <p:cNvPr id="566" name=""/>
          <p:cNvSpPr/>
          <p:nvPr/>
        </p:nvSpPr>
        <p:spPr>
          <a:xfrm>
            <a:off x="534600" y="601560"/>
            <a:ext cx="1069920" cy="33840"/>
          </a:xfrm>
          <a:custGeom>
            <a:avLst/>
            <a:gdLst/>
            <a:ahLst/>
            <a:rect l="0" t="0" r="r" b="b"/>
            <a:pathLst>
              <a:path w="2972" h="94">
                <a:moveTo>
                  <a:pt x="0" y="0"/>
                </a:moveTo>
                <a:lnTo>
                  <a:pt x="2972" y="0"/>
                </a:lnTo>
                <a:lnTo>
                  <a:pt x="2972" y="94"/>
                </a:lnTo>
                <a:lnTo>
                  <a:pt x="0" y="94"/>
                </a:lnTo>
                <a:lnTo>
                  <a:pt x="0" y="0"/>
                </a:lnTo>
                <a:close/>
              </a:path>
            </a:pathLst>
          </a:custGeom>
          <a:solidFill>
            <a:srgbClr val="ff8c00"/>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567" name=""/>
          <p:cNvSpPr/>
          <p:nvPr/>
        </p:nvSpPr>
        <p:spPr>
          <a:xfrm>
            <a:off x="534600" y="935640"/>
            <a:ext cx="3894480" cy="2524320"/>
          </a:xfrm>
          <a:custGeom>
            <a:avLst/>
            <a:gdLst/>
            <a:ahLst/>
            <a:rect l="0" t="0" r="r" b="b"/>
            <a:pathLst>
              <a:path w="10818" h="7012">
                <a:moveTo>
                  <a:pt x="0" y="6826"/>
                </a:moveTo>
                <a:lnTo>
                  <a:pt x="0" y="186"/>
                </a:lnTo>
                <a:cubicBezTo>
                  <a:pt x="0" y="174"/>
                  <a:pt x="1" y="162"/>
                  <a:pt x="4" y="150"/>
                </a:cubicBezTo>
                <a:cubicBezTo>
                  <a:pt x="6" y="138"/>
                  <a:pt x="10" y="126"/>
                  <a:pt x="14" y="115"/>
                </a:cubicBezTo>
                <a:cubicBezTo>
                  <a:pt x="19" y="104"/>
                  <a:pt x="25" y="93"/>
                  <a:pt x="31" y="83"/>
                </a:cubicBezTo>
                <a:cubicBezTo>
                  <a:pt x="38" y="73"/>
                  <a:pt x="46" y="63"/>
                  <a:pt x="55" y="55"/>
                </a:cubicBezTo>
                <a:cubicBezTo>
                  <a:pt x="63" y="46"/>
                  <a:pt x="73" y="38"/>
                  <a:pt x="83" y="32"/>
                </a:cubicBezTo>
                <a:cubicBezTo>
                  <a:pt x="93" y="25"/>
                  <a:pt x="104" y="19"/>
                  <a:pt x="115" y="14"/>
                </a:cubicBezTo>
                <a:cubicBezTo>
                  <a:pt x="126" y="10"/>
                  <a:pt x="138" y="6"/>
                  <a:pt x="150" y="4"/>
                </a:cubicBezTo>
                <a:cubicBezTo>
                  <a:pt x="162" y="2"/>
                  <a:pt x="174" y="0"/>
                  <a:pt x="186" y="0"/>
                </a:cubicBezTo>
                <a:lnTo>
                  <a:pt x="10633" y="0"/>
                </a:lnTo>
                <a:cubicBezTo>
                  <a:pt x="10645" y="0"/>
                  <a:pt x="10657" y="2"/>
                  <a:pt x="10669" y="4"/>
                </a:cubicBezTo>
                <a:cubicBezTo>
                  <a:pt x="10681" y="6"/>
                  <a:pt x="10693" y="10"/>
                  <a:pt x="10704" y="14"/>
                </a:cubicBezTo>
                <a:cubicBezTo>
                  <a:pt x="10715" y="19"/>
                  <a:pt x="10726" y="25"/>
                  <a:pt x="10736" y="32"/>
                </a:cubicBezTo>
                <a:cubicBezTo>
                  <a:pt x="10746" y="38"/>
                  <a:pt x="10755" y="46"/>
                  <a:pt x="10764" y="55"/>
                </a:cubicBezTo>
                <a:cubicBezTo>
                  <a:pt x="10773" y="63"/>
                  <a:pt x="10780" y="73"/>
                  <a:pt x="10787" y="83"/>
                </a:cubicBezTo>
                <a:cubicBezTo>
                  <a:pt x="10794" y="93"/>
                  <a:pt x="10800" y="104"/>
                  <a:pt x="10804" y="115"/>
                </a:cubicBezTo>
                <a:cubicBezTo>
                  <a:pt x="10809" y="126"/>
                  <a:pt x="10812" y="138"/>
                  <a:pt x="10815" y="150"/>
                </a:cubicBezTo>
                <a:cubicBezTo>
                  <a:pt x="10817" y="162"/>
                  <a:pt x="10818" y="174"/>
                  <a:pt x="10818" y="186"/>
                </a:cubicBezTo>
                <a:lnTo>
                  <a:pt x="10818" y="6826"/>
                </a:lnTo>
                <a:cubicBezTo>
                  <a:pt x="10818" y="6838"/>
                  <a:pt x="10817" y="6850"/>
                  <a:pt x="10815" y="6862"/>
                </a:cubicBezTo>
                <a:cubicBezTo>
                  <a:pt x="10812" y="6874"/>
                  <a:pt x="10809" y="6886"/>
                  <a:pt x="10804" y="6897"/>
                </a:cubicBezTo>
                <a:cubicBezTo>
                  <a:pt x="10800" y="6908"/>
                  <a:pt x="10794" y="6919"/>
                  <a:pt x="10787" y="6929"/>
                </a:cubicBezTo>
                <a:cubicBezTo>
                  <a:pt x="10780" y="6939"/>
                  <a:pt x="10773" y="6949"/>
                  <a:pt x="10764" y="6957"/>
                </a:cubicBezTo>
                <a:cubicBezTo>
                  <a:pt x="10755" y="6966"/>
                  <a:pt x="10746" y="6974"/>
                  <a:pt x="10736" y="6980"/>
                </a:cubicBezTo>
                <a:cubicBezTo>
                  <a:pt x="10726" y="6987"/>
                  <a:pt x="10715" y="6993"/>
                  <a:pt x="10704" y="6998"/>
                </a:cubicBezTo>
                <a:cubicBezTo>
                  <a:pt x="10693" y="7002"/>
                  <a:pt x="10681" y="7006"/>
                  <a:pt x="10669" y="7008"/>
                </a:cubicBezTo>
                <a:cubicBezTo>
                  <a:pt x="10657" y="7011"/>
                  <a:pt x="10645" y="7012"/>
                  <a:pt x="10633" y="7012"/>
                </a:cubicBezTo>
                <a:lnTo>
                  <a:pt x="186" y="7012"/>
                </a:lnTo>
                <a:cubicBezTo>
                  <a:pt x="174" y="7012"/>
                  <a:pt x="162" y="7011"/>
                  <a:pt x="150" y="7008"/>
                </a:cubicBezTo>
                <a:cubicBezTo>
                  <a:pt x="138" y="7006"/>
                  <a:pt x="126" y="7002"/>
                  <a:pt x="115" y="6998"/>
                </a:cubicBezTo>
                <a:cubicBezTo>
                  <a:pt x="104" y="6993"/>
                  <a:pt x="93" y="6987"/>
                  <a:pt x="83" y="6980"/>
                </a:cubicBezTo>
                <a:cubicBezTo>
                  <a:pt x="73" y="6974"/>
                  <a:pt x="63" y="6966"/>
                  <a:pt x="55" y="6957"/>
                </a:cubicBezTo>
                <a:cubicBezTo>
                  <a:pt x="46" y="6949"/>
                  <a:pt x="38" y="6939"/>
                  <a:pt x="31" y="6929"/>
                </a:cubicBezTo>
                <a:cubicBezTo>
                  <a:pt x="25" y="6919"/>
                  <a:pt x="19" y="6908"/>
                  <a:pt x="14" y="6897"/>
                </a:cubicBezTo>
                <a:cubicBezTo>
                  <a:pt x="10" y="6886"/>
                  <a:pt x="6" y="6874"/>
                  <a:pt x="4" y="6862"/>
                </a:cubicBezTo>
                <a:cubicBezTo>
                  <a:pt x="1" y="6850"/>
                  <a:pt x="0" y="6838"/>
                  <a:pt x="0" y="6826"/>
                </a:cubicBezTo>
                <a:close/>
              </a:path>
            </a:pathLst>
          </a:custGeom>
          <a:solidFill>
            <a:srgbClr val="ffffff">
              <a:alpha val="10000"/>
            </a:srgbClr>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568" name=""/>
          <p:cNvSpPr/>
          <p:nvPr/>
        </p:nvSpPr>
        <p:spPr>
          <a:xfrm>
            <a:off x="735120" y="1537560"/>
            <a:ext cx="3493440" cy="852480"/>
          </a:xfrm>
          <a:custGeom>
            <a:avLst/>
            <a:gdLst/>
            <a:ahLst/>
            <a:rect l="0" t="0" r="r" b="b"/>
            <a:pathLst>
              <a:path w="9704" h="2368">
                <a:moveTo>
                  <a:pt x="0" y="2183"/>
                </a:moveTo>
                <a:lnTo>
                  <a:pt x="0" y="185"/>
                </a:lnTo>
                <a:cubicBezTo>
                  <a:pt x="0" y="173"/>
                  <a:pt x="1" y="161"/>
                  <a:pt x="4" y="149"/>
                </a:cubicBezTo>
                <a:cubicBezTo>
                  <a:pt x="6" y="137"/>
                  <a:pt x="10" y="126"/>
                  <a:pt x="14" y="114"/>
                </a:cubicBezTo>
                <a:cubicBezTo>
                  <a:pt x="19" y="103"/>
                  <a:pt x="25" y="92"/>
                  <a:pt x="32" y="82"/>
                </a:cubicBezTo>
                <a:cubicBezTo>
                  <a:pt x="38" y="72"/>
                  <a:pt x="46" y="63"/>
                  <a:pt x="55" y="54"/>
                </a:cubicBezTo>
                <a:cubicBezTo>
                  <a:pt x="63" y="45"/>
                  <a:pt x="73" y="38"/>
                  <a:pt x="83" y="31"/>
                </a:cubicBezTo>
                <a:cubicBezTo>
                  <a:pt x="93" y="24"/>
                  <a:pt x="104" y="19"/>
                  <a:pt x="115" y="14"/>
                </a:cubicBezTo>
                <a:cubicBezTo>
                  <a:pt x="126" y="9"/>
                  <a:pt x="138" y="6"/>
                  <a:pt x="150" y="3"/>
                </a:cubicBezTo>
                <a:cubicBezTo>
                  <a:pt x="162" y="1"/>
                  <a:pt x="174" y="0"/>
                  <a:pt x="186" y="0"/>
                </a:cubicBezTo>
                <a:lnTo>
                  <a:pt x="9519" y="0"/>
                </a:lnTo>
                <a:cubicBezTo>
                  <a:pt x="9531" y="0"/>
                  <a:pt x="9543" y="1"/>
                  <a:pt x="9555" y="3"/>
                </a:cubicBezTo>
                <a:cubicBezTo>
                  <a:pt x="9567" y="6"/>
                  <a:pt x="9578" y="9"/>
                  <a:pt x="9590" y="14"/>
                </a:cubicBezTo>
                <a:cubicBezTo>
                  <a:pt x="9601" y="19"/>
                  <a:pt x="9612" y="24"/>
                  <a:pt x="9622" y="31"/>
                </a:cubicBezTo>
                <a:cubicBezTo>
                  <a:pt x="9632" y="38"/>
                  <a:pt x="9641" y="45"/>
                  <a:pt x="9650" y="54"/>
                </a:cubicBezTo>
                <a:cubicBezTo>
                  <a:pt x="9659" y="63"/>
                  <a:pt x="9666" y="72"/>
                  <a:pt x="9673" y="82"/>
                </a:cubicBezTo>
                <a:cubicBezTo>
                  <a:pt x="9680" y="92"/>
                  <a:pt x="9686" y="103"/>
                  <a:pt x="9690" y="114"/>
                </a:cubicBezTo>
                <a:cubicBezTo>
                  <a:pt x="9695" y="126"/>
                  <a:pt x="9698" y="137"/>
                  <a:pt x="9701" y="149"/>
                </a:cubicBezTo>
                <a:cubicBezTo>
                  <a:pt x="9703" y="161"/>
                  <a:pt x="9704" y="173"/>
                  <a:pt x="9704" y="185"/>
                </a:cubicBezTo>
                <a:lnTo>
                  <a:pt x="9704" y="2183"/>
                </a:lnTo>
                <a:cubicBezTo>
                  <a:pt x="9704" y="2195"/>
                  <a:pt x="9703" y="2207"/>
                  <a:pt x="9701" y="2219"/>
                </a:cubicBezTo>
                <a:cubicBezTo>
                  <a:pt x="9698" y="2231"/>
                  <a:pt x="9695" y="2243"/>
                  <a:pt x="9690" y="2254"/>
                </a:cubicBezTo>
                <a:cubicBezTo>
                  <a:pt x="9686" y="2265"/>
                  <a:pt x="9680" y="2276"/>
                  <a:pt x="9673" y="2286"/>
                </a:cubicBezTo>
                <a:cubicBezTo>
                  <a:pt x="9666" y="2296"/>
                  <a:pt x="9659" y="2305"/>
                  <a:pt x="9650" y="2314"/>
                </a:cubicBezTo>
                <a:cubicBezTo>
                  <a:pt x="9641" y="2323"/>
                  <a:pt x="9632" y="2330"/>
                  <a:pt x="9622" y="2337"/>
                </a:cubicBezTo>
                <a:cubicBezTo>
                  <a:pt x="9612" y="2344"/>
                  <a:pt x="9601" y="2350"/>
                  <a:pt x="9590" y="2354"/>
                </a:cubicBezTo>
                <a:cubicBezTo>
                  <a:pt x="9578" y="2359"/>
                  <a:pt x="9567" y="2362"/>
                  <a:pt x="9555" y="2365"/>
                </a:cubicBezTo>
                <a:cubicBezTo>
                  <a:pt x="9543" y="2367"/>
                  <a:pt x="9531" y="2368"/>
                  <a:pt x="9519" y="2368"/>
                </a:cubicBezTo>
                <a:lnTo>
                  <a:pt x="186" y="2368"/>
                </a:lnTo>
                <a:cubicBezTo>
                  <a:pt x="174" y="2368"/>
                  <a:pt x="162" y="2367"/>
                  <a:pt x="150" y="2365"/>
                </a:cubicBezTo>
                <a:cubicBezTo>
                  <a:pt x="138" y="2362"/>
                  <a:pt x="126" y="2359"/>
                  <a:pt x="115" y="2354"/>
                </a:cubicBezTo>
                <a:cubicBezTo>
                  <a:pt x="104" y="2350"/>
                  <a:pt x="93" y="2344"/>
                  <a:pt x="83" y="2337"/>
                </a:cubicBezTo>
                <a:cubicBezTo>
                  <a:pt x="73" y="2330"/>
                  <a:pt x="63" y="2323"/>
                  <a:pt x="55" y="2314"/>
                </a:cubicBezTo>
                <a:cubicBezTo>
                  <a:pt x="46" y="2305"/>
                  <a:pt x="38" y="2296"/>
                  <a:pt x="32" y="2286"/>
                </a:cubicBezTo>
                <a:cubicBezTo>
                  <a:pt x="25" y="2276"/>
                  <a:pt x="19" y="2265"/>
                  <a:pt x="14" y="2254"/>
                </a:cubicBezTo>
                <a:cubicBezTo>
                  <a:pt x="10" y="2243"/>
                  <a:pt x="6" y="2231"/>
                  <a:pt x="4" y="2219"/>
                </a:cubicBezTo>
                <a:cubicBezTo>
                  <a:pt x="1" y="2207"/>
                  <a:pt x="0" y="2195"/>
                  <a:pt x="0" y="2183"/>
                </a:cubicBezTo>
                <a:close/>
              </a:path>
            </a:pathLst>
          </a:custGeom>
          <a:solidFill>
            <a:srgbClr val="000000">
              <a:alpha val="20000"/>
            </a:srgbClr>
          </a:solidFill>
          <a:ln w="0">
            <a:noFill/>
          </a:ln>
        </p:spPr>
        <p:txBody>
          <a:bodyPr lIns="0" rIns="0" tIns="0" bIns="0" anchor="t">
            <a:noAutofit/>
          </a:bodyPr>
          <a:p>
            <a:endParaRPr b="0" lang="en-US" sz="2400" strike="noStrike" u="none">
              <a:solidFill>
                <a:srgbClr val="ffffff"/>
              </a:solidFill>
              <a:effectLst/>
              <a:uFillTx/>
              <a:latin typeface="Times New Roman"/>
            </a:endParaRPr>
          </a:p>
        </p:txBody>
      </p:sp>
      <p:sp>
        <p:nvSpPr>
          <p:cNvPr id="569" name=""/>
          <p:cNvSpPr/>
          <p:nvPr/>
        </p:nvSpPr>
        <p:spPr>
          <a:xfrm>
            <a:off x="534600" y="3660120"/>
            <a:ext cx="3894480" cy="2356920"/>
          </a:xfrm>
          <a:custGeom>
            <a:avLst/>
            <a:gdLst/>
            <a:ahLst/>
            <a:rect l="0" t="0" r="r" b="b"/>
            <a:pathLst>
              <a:path w="10818" h="6547">
                <a:moveTo>
                  <a:pt x="0" y="6547"/>
                </a:moveTo>
                <a:lnTo>
                  <a:pt x="0" y="186"/>
                </a:lnTo>
                <a:cubicBezTo>
                  <a:pt x="0" y="173"/>
                  <a:pt x="1" y="161"/>
                  <a:pt x="4" y="149"/>
                </a:cubicBezTo>
                <a:cubicBezTo>
                  <a:pt x="6" y="137"/>
                  <a:pt x="10" y="126"/>
                  <a:pt x="14" y="114"/>
                </a:cubicBezTo>
                <a:cubicBezTo>
                  <a:pt x="19" y="103"/>
                  <a:pt x="25" y="92"/>
                  <a:pt x="31" y="82"/>
                </a:cubicBezTo>
                <a:cubicBezTo>
                  <a:pt x="38" y="72"/>
                  <a:pt x="46" y="63"/>
                  <a:pt x="55" y="54"/>
                </a:cubicBezTo>
                <a:cubicBezTo>
                  <a:pt x="63" y="46"/>
                  <a:pt x="73" y="38"/>
                  <a:pt x="83" y="31"/>
                </a:cubicBezTo>
                <a:cubicBezTo>
                  <a:pt x="93" y="24"/>
                  <a:pt x="104" y="19"/>
                  <a:pt x="115" y="14"/>
                </a:cubicBezTo>
                <a:cubicBezTo>
                  <a:pt x="126" y="9"/>
                  <a:pt x="138" y="6"/>
                  <a:pt x="150" y="3"/>
                </a:cubicBezTo>
                <a:cubicBezTo>
                  <a:pt x="162" y="1"/>
                  <a:pt x="174" y="0"/>
                  <a:pt x="186" y="0"/>
                </a:cubicBezTo>
                <a:lnTo>
                  <a:pt x="10633" y="0"/>
                </a:lnTo>
                <a:cubicBezTo>
                  <a:pt x="10645" y="0"/>
                  <a:pt x="10657" y="1"/>
                  <a:pt x="10669" y="3"/>
                </a:cubicBezTo>
                <a:cubicBezTo>
                  <a:pt x="10681" y="6"/>
                  <a:pt x="10693" y="9"/>
                  <a:pt x="10704" y="14"/>
                </a:cubicBezTo>
                <a:cubicBezTo>
                  <a:pt x="10715" y="19"/>
                  <a:pt x="10726" y="24"/>
                  <a:pt x="10736" y="31"/>
                </a:cubicBezTo>
                <a:cubicBezTo>
                  <a:pt x="10746" y="38"/>
                  <a:pt x="10755" y="46"/>
                  <a:pt x="10764" y="54"/>
                </a:cubicBezTo>
                <a:cubicBezTo>
                  <a:pt x="10773" y="63"/>
                  <a:pt x="10780" y="72"/>
                  <a:pt x="10787" y="82"/>
                </a:cubicBezTo>
                <a:cubicBezTo>
                  <a:pt x="10794" y="92"/>
                  <a:pt x="10800" y="103"/>
                  <a:pt x="10804" y="114"/>
                </a:cubicBezTo>
                <a:cubicBezTo>
                  <a:pt x="10809" y="126"/>
                  <a:pt x="10812" y="137"/>
                  <a:pt x="10815" y="149"/>
                </a:cubicBezTo>
                <a:cubicBezTo>
                  <a:pt x="10817" y="161"/>
                  <a:pt x="10818" y="173"/>
                  <a:pt x="10818" y="186"/>
                </a:cubicBezTo>
                <a:lnTo>
                  <a:pt x="10818" y="6547"/>
                </a:lnTo>
                <a:lnTo>
                  <a:pt x="0" y="6547"/>
                </a:lnTo>
                <a:close/>
              </a:path>
            </a:pathLst>
          </a:custGeom>
          <a:solidFill>
            <a:srgbClr val="ffffff">
              <a:alpha val="10000"/>
            </a:srgbClr>
          </a:solidFill>
          <a:ln w="0">
            <a:noFill/>
          </a:ln>
        </p:spPr>
        <p:txBody>
          <a:bodyPr lIns="0" rIns="0" tIns="0" bIns="0" anchor="t">
            <a:noAutofit/>
          </a:bodyPr>
          <a:p>
            <a:endParaRPr b="0" lang="en-US" sz="2400" strike="noStrike" u="none">
              <a:solidFill>
                <a:srgbClr val="000000"/>
              </a:solidFill>
              <a:effectLst/>
              <a:uFillTx/>
              <a:latin typeface="Times New Roman"/>
            </a:endParaRPr>
          </a:p>
        </p:txBody>
      </p:sp>
      <p:pic>
        <p:nvPicPr>
          <p:cNvPr id="570" name="" descr=""/>
          <p:cNvPicPr/>
          <p:nvPr/>
        </p:nvPicPr>
        <p:blipFill>
          <a:blip r:embed="rId2"/>
          <a:stretch/>
        </p:blipFill>
        <p:spPr>
          <a:xfrm>
            <a:off x="735480" y="1170000"/>
            <a:ext cx="225360" cy="200160"/>
          </a:xfrm>
          <a:prstGeom prst="rect">
            <a:avLst/>
          </a:prstGeom>
          <a:noFill/>
          <a:ln w="0">
            <a:noFill/>
          </a:ln>
        </p:spPr>
      </p:pic>
      <p:sp>
        <p:nvSpPr>
          <p:cNvPr id="571" name=""/>
          <p:cNvSpPr txBox="1"/>
          <p:nvPr/>
        </p:nvSpPr>
        <p:spPr>
          <a:xfrm>
            <a:off x="534960" y="222120"/>
            <a:ext cx="3651120" cy="436320"/>
          </a:xfrm>
          <a:prstGeom prst="rect">
            <a:avLst/>
          </a:prstGeom>
          <a:noFill/>
          <a:ln w="0">
            <a:noFill/>
          </a:ln>
        </p:spPr>
        <p:txBody>
          <a:bodyPr wrap="none" lIns="0" rIns="0" tIns="0" bIns="0" anchor="t">
            <a:spAutoFit/>
          </a:bodyPr>
          <a:p>
            <a:r>
              <a:rPr b="0" lang="zh-CN" sz="2370" strike="noStrike" u="none">
                <a:solidFill>
                  <a:srgbClr val="ffffff"/>
                </a:solidFill>
                <a:effectLst/>
                <a:uFillTx/>
                <a:latin typeface="NotoSansJP"/>
                <a:ea typeface="NotoSansJP"/>
              </a:rPr>
              <a:t>瞳レンズの</a:t>
            </a:r>
            <a:r>
              <a:rPr b="0" lang="en-US" sz="2370" strike="noStrike" u="none">
                <a:solidFill>
                  <a:srgbClr val="ffffff"/>
                </a:solidFill>
                <a:effectLst/>
                <a:uFillTx/>
                <a:latin typeface="NotoSansJP"/>
                <a:ea typeface="NotoSansJP"/>
              </a:rPr>
              <a:t>2</a:t>
            </a:r>
            <a:r>
              <a:rPr b="0" lang="zh-CN" sz="2370" strike="noStrike" u="none">
                <a:solidFill>
                  <a:srgbClr val="ffffff"/>
                </a:solidFill>
                <a:effectLst/>
                <a:uFillTx/>
                <a:latin typeface="NotoSansJP"/>
                <a:ea typeface="NotoSansJP"/>
              </a:rPr>
              <a:t>次位相の実装</a:t>
            </a:r>
            <a:endParaRPr b="0" lang="en-US" sz="2370" strike="noStrike" u="none">
              <a:solidFill>
                <a:srgbClr val="000000"/>
              </a:solidFill>
              <a:effectLst/>
              <a:uFillTx/>
              <a:latin typeface="Times New Roman"/>
            </a:endParaRPr>
          </a:p>
        </p:txBody>
      </p:sp>
      <p:sp>
        <p:nvSpPr>
          <p:cNvPr id="572" name=""/>
          <p:cNvSpPr txBox="1"/>
          <p:nvPr/>
        </p:nvSpPr>
        <p:spPr>
          <a:xfrm>
            <a:off x="1061280" y="1167840"/>
            <a:ext cx="1811160" cy="291600"/>
          </a:xfrm>
          <a:prstGeom prst="rect">
            <a:avLst/>
          </a:prstGeom>
          <a:noFill/>
          <a:ln w="0">
            <a:noFill/>
          </a:ln>
        </p:spPr>
        <p:txBody>
          <a:bodyPr wrap="none" lIns="0" rIns="0" tIns="0" bIns="0" anchor="t">
            <a:spAutoFit/>
          </a:bodyPr>
          <a:p>
            <a:r>
              <a:rPr b="0" lang="zh-CN" sz="1580" strike="noStrike" u="none">
                <a:solidFill>
                  <a:srgbClr val="a7c6d9"/>
                </a:solidFill>
                <a:effectLst/>
                <a:uFillTx/>
                <a:latin typeface="NotoSansJP"/>
                <a:ea typeface="NotoSansJP"/>
              </a:rPr>
              <a:t>薄レンズの透過関数</a:t>
            </a:r>
            <a:endParaRPr b="0" lang="en-US" sz="1580" strike="noStrike" u="none">
              <a:solidFill>
                <a:srgbClr val="000000"/>
              </a:solidFill>
              <a:effectLst/>
              <a:uFillTx/>
              <a:latin typeface="Times New Roman"/>
            </a:endParaRPr>
          </a:p>
        </p:txBody>
      </p:sp>
      <p:sp>
        <p:nvSpPr>
          <p:cNvPr id="573" name=""/>
          <p:cNvSpPr txBox="1"/>
          <p:nvPr/>
        </p:nvSpPr>
        <p:spPr>
          <a:xfrm>
            <a:off x="735480" y="2558520"/>
            <a:ext cx="361440" cy="157320"/>
          </a:xfrm>
          <a:prstGeom prst="rect">
            <a:avLst/>
          </a:prstGeom>
          <a:noFill/>
          <a:ln w="0">
            <a:noFill/>
          </a:ln>
        </p:spPr>
        <p:txBody>
          <a:bodyPr wrap="none" lIns="0" rIns="0" tIns="0" bIns="0" anchor="t">
            <a:spAutoFit/>
          </a:bodyPr>
          <a:p>
            <a:r>
              <a:rPr b="0" lang="en-US" sz="1050" strike="noStrike" u="none">
                <a:solidFill>
                  <a:srgbClr val="ff8c00"/>
                </a:solidFill>
                <a:effectLst/>
                <a:uFillTx/>
                <a:latin typeface="NotoSansJP"/>
                <a:ea typeface="NotoSansJP"/>
              </a:rPr>
              <a:t>k = 2</a:t>
            </a:r>
            <a:endParaRPr b="0" lang="en-US" sz="1050" strike="noStrike" u="none">
              <a:solidFill>
                <a:srgbClr val="000000"/>
              </a:solidFill>
              <a:effectLst/>
              <a:uFillTx/>
              <a:latin typeface="Times New Roman"/>
            </a:endParaRPr>
          </a:p>
        </p:txBody>
      </p:sp>
      <p:sp>
        <p:nvSpPr>
          <p:cNvPr id="574" name=""/>
          <p:cNvSpPr txBox="1"/>
          <p:nvPr/>
        </p:nvSpPr>
        <p:spPr>
          <a:xfrm>
            <a:off x="1027800" y="2561400"/>
            <a:ext cx="133200" cy="151200"/>
          </a:xfrm>
          <a:prstGeom prst="rect">
            <a:avLst/>
          </a:prstGeom>
          <a:noFill/>
          <a:ln w="0">
            <a:noFill/>
          </a:ln>
        </p:spPr>
        <p:txBody>
          <a:bodyPr wrap="none" lIns="0" rIns="0" tIns="0" bIns="0" anchor="t">
            <a:spAutoFit/>
          </a:bodyPr>
          <a:p>
            <a:r>
              <a:rPr b="0" lang="en-US" sz="1050" strike="noStrike" u="none">
                <a:solidFill>
                  <a:srgbClr val="ff8c00"/>
                </a:solidFill>
                <a:effectLst/>
                <a:uFillTx/>
                <a:latin typeface="Arial"/>
                <a:ea typeface="Arial"/>
              </a:rPr>
              <a:t>π</a:t>
            </a:r>
            <a:endParaRPr b="0" lang="en-US" sz="1050" strike="noStrike" u="none">
              <a:solidFill>
                <a:srgbClr val="000000"/>
              </a:solidFill>
              <a:effectLst/>
              <a:uFillTx/>
              <a:latin typeface="Times New Roman"/>
            </a:endParaRPr>
          </a:p>
        </p:txBody>
      </p:sp>
      <p:sp>
        <p:nvSpPr>
          <p:cNvPr id="575" name=""/>
          <p:cNvSpPr txBox="1"/>
          <p:nvPr/>
        </p:nvSpPr>
        <p:spPr>
          <a:xfrm>
            <a:off x="1119960" y="2558520"/>
            <a:ext cx="133200" cy="157320"/>
          </a:xfrm>
          <a:prstGeom prst="rect">
            <a:avLst/>
          </a:prstGeom>
          <a:noFill/>
          <a:ln w="0">
            <a:noFill/>
          </a:ln>
        </p:spPr>
        <p:txBody>
          <a:bodyPr wrap="none" lIns="0" rIns="0" tIns="0" bIns="0" anchor="t">
            <a:spAutoFit/>
          </a:bodyPr>
          <a:p>
            <a:r>
              <a:rPr b="0" lang="en-US" sz="1050" strike="noStrike" u="none">
                <a:solidFill>
                  <a:srgbClr val="ff8c00"/>
                </a:solidFill>
                <a:effectLst/>
                <a:uFillTx/>
                <a:latin typeface="NotoSansJP"/>
                <a:ea typeface="NotoSansJP"/>
              </a:rPr>
              <a:t>/</a:t>
            </a:r>
            <a:endParaRPr b="0" lang="en-US" sz="1050" strike="noStrike" u="none">
              <a:solidFill>
                <a:srgbClr val="000000"/>
              </a:solidFill>
              <a:effectLst/>
              <a:uFillTx/>
              <a:latin typeface="Times New Roman"/>
            </a:endParaRPr>
          </a:p>
        </p:txBody>
      </p:sp>
      <p:sp>
        <p:nvSpPr>
          <p:cNvPr id="576" name=""/>
          <p:cNvSpPr txBox="1"/>
          <p:nvPr/>
        </p:nvSpPr>
        <p:spPr>
          <a:xfrm>
            <a:off x="1170360" y="2561400"/>
            <a:ext cx="133200" cy="151200"/>
          </a:xfrm>
          <a:prstGeom prst="rect">
            <a:avLst/>
          </a:prstGeom>
          <a:noFill/>
          <a:ln w="0">
            <a:noFill/>
          </a:ln>
        </p:spPr>
        <p:txBody>
          <a:bodyPr wrap="none" lIns="0" rIns="0" tIns="0" bIns="0" anchor="t">
            <a:spAutoFit/>
          </a:bodyPr>
          <a:p>
            <a:r>
              <a:rPr b="0" lang="en-US" sz="1050" strike="noStrike" u="none">
                <a:solidFill>
                  <a:srgbClr val="ff8c00"/>
                </a:solidFill>
                <a:effectLst/>
                <a:uFillTx/>
                <a:latin typeface="Arial"/>
                <a:ea typeface="Arial"/>
              </a:rPr>
              <a:t>λ</a:t>
            </a:r>
            <a:endParaRPr b="0" lang="en-US" sz="1050" strike="noStrike" u="none">
              <a:solidFill>
                <a:srgbClr val="000000"/>
              </a:solidFill>
              <a:effectLst/>
              <a:uFillTx/>
              <a:latin typeface="Times New Roman"/>
            </a:endParaRPr>
          </a:p>
        </p:txBody>
      </p:sp>
      <p:sp>
        <p:nvSpPr>
          <p:cNvPr id="577" name=""/>
          <p:cNvSpPr txBox="1"/>
          <p:nvPr/>
        </p:nvSpPr>
        <p:spPr>
          <a:xfrm>
            <a:off x="1237320" y="2558520"/>
            <a:ext cx="523800" cy="194040"/>
          </a:xfrm>
          <a:prstGeom prst="rect">
            <a:avLst/>
          </a:prstGeom>
          <a:noFill/>
          <a:ln w="0">
            <a:noFill/>
          </a:ln>
        </p:spPr>
        <p:txBody>
          <a:bodyPr wrap="none" lIns="0" rIns="0" tIns="0" bIns="0" anchor="t">
            <a:spAutoFit/>
          </a:bodyPr>
          <a:p>
            <a:r>
              <a:rPr b="0" lang="zh-CN" sz="1050" strike="noStrike" u="none">
                <a:solidFill>
                  <a:srgbClr val="ffffff"/>
                </a:solidFill>
                <a:effectLst/>
                <a:uFillTx/>
                <a:latin typeface="NotoSansJP"/>
                <a:ea typeface="NotoSansJP"/>
              </a:rPr>
              <a:t>：波数 </a:t>
            </a:r>
            <a:r>
              <a:rPr b="0" lang="en-US" sz="1050" strike="noStrike" u="none">
                <a:solidFill>
                  <a:srgbClr val="ffffff"/>
                </a:solidFill>
                <a:effectLst/>
                <a:uFillTx/>
                <a:latin typeface="NotoSansJP"/>
                <a:ea typeface="NotoSansJP"/>
              </a:rPr>
              <a:t>(</a:t>
            </a:r>
            <a:endParaRPr b="0" lang="en-US" sz="1050" strike="noStrike" u="none">
              <a:solidFill>
                <a:srgbClr val="000000"/>
              </a:solidFill>
              <a:effectLst/>
              <a:uFillTx/>
              <a:latin typeface="Times New Roman"/>
            </a:endParaRPr>
          </a:p>
        </p:txBody>
      </p:sp>
      <p:sp>
        <p:nvSpPr>
          <p:cNvPr id="578" name=""/>
          <p:cNvSpPr txBox="1"/>
          <p:nvPr/>
        </p:nvSpPr>
        <p:spPr>
          <a:xfrm>
            <a:off x="1713600" y="2561400"/>
            <a:ext cx="133200" cy="151200"/>
          </a:xfrm>
          <a:prstGeom prst="rect">
            <a:avLst/>
          </a:prstGeom>
          <a:noFill/>
          <a:ln w="0">
            <a:noFill/>
          </a:ln>
        </p:spPr>
        <p:txBody>
          <a:bodyPr wrap="none" lIns="0" rIns="0" tIns="0" bIns="0" anchor="t">
            <a:spAutoFit/>
          </a:bodyPr>
          <a:p>
            <a:r>
              <a:rPr b="0" lang="en-US" sz="1050" strike="noStrike" u="none">
                <a:solidFill>
                  <a:srgbClr val="ffffff"/>
                </a:solidFill>
                <a:effectLst/>
                <a:uFillTx/>
                <a:latin typeface="Arial"/>
                <a:ea typeface="Arial"/>
              </a:rPr>
              <a:t>λ</a:t>
            </a:r>
            <a:endParaRPr b="0" lang="en-US" sz="1050" strike="noStrike" u="none">
              <a:solidFill>
                <a:srgbClr val="000000"/>
              </a:solidFill>
              <a:effectLst/>
              <a:uFillTx/>
              <a:latin typeface="Times New Roman"/>
            </a:endParaRPr>
          </a:p>
        </p:txBody>
      </p:sp>
      <p:sp>
        <p:nvSpPr>
          <p:cNvPr id="579" name=""/>
          <p:cNvSpPr txBox="1"/>
          <p:nvPr/>
        </p:nvSpPr>
        <p:spPr>
          <a:xfrm>
            <a:off x="1780200" y="2558520"/>
            <a:ext cx="493920" cy="194040"/>
          </a:xfrm>
          <a:prstGeom prst="rect">
            <a:avLst/>
          </a:prstGeom>
          <a:noFill/>
          <a:ln w="0">
            <a:noFill/>
          </a:ln>
        </p:spPr>
        <p:txBody>
          <a:bodyPr wrap="none" lIns="0" rIns="0" tIns="0" bIns="0" anchor="t">
            <a:spAutoFit/>
          </a:bodyPr>
          <a:p>
            <a:r>
              <a:rPr b="0" lang="zh-CN" sz="1050" strike="noStrike" u="none">
                <a:solidFill>
                  <a:srgbClr val="ffffff"/>
                </a:solidFill>
                <a:effectLst/>
                <a:uFillTx/>
                <a:latin typeface="NotoSansJP"/>
                <a:ea typeface="NotoSansJP"/>
              </a:rPr>
              <a:t>は波長</a:t>
            </a:r>
            <a:r>
              <a:rPr b="0" lang="en-US" sz="1050" strike="noStrike" u="none">
                <a:solidFill>
                  <a:srgbClr val="ffffff"/>
                </a:solidFill>
                <a:effectLst/>
                <a:uFillTx/>
                <a:latin typeface="NotoSansJP"/>
                <a:ea typeface="NotoSansJP"/>
              </a:rPr>
              <a:t>)</a:t>
            </a:r>
            <a:endParaRPr b="0" lang="en-US" sz="1050" strike="noStrike" u="none">
              <a:solidFill>
                <a:srgbClr val="000000"/>
              </a:solidFill>
              <a:effectLst/>
              <a:uFillTx/>
              <a:latin typeface="Times New Roman"/>
            </a:endParaRPr>
          </a:p>
        </p:txBody>
      </p:sp>
      <p:sp>
        <p:nvSpPr>
          <p:cNvPr id="580" name=""/>
          <p:cNvSpPr txBox="1"/>
          <p:nvPr/>
        </p:nvSpPr>
        <p:spPr>
          <a:xfrm>
            <a:off x="735480" y="2826000"/>
            <a:ext cx="133200" cy="157320"/>
          </a:xfrm>
          <a:prstGeom prst="rect">
            <a:avLst/>
          </a:prstGeom>
          <a:noFill/>
          <a:ln w="0">
            <a:noFill/>
          </a:ln>
        </p:spPr>
        <p:txBody>
          <a:bodyPr wrap="none" lIns="0" rIns="0" tIns="0" bIns="0" anchor="t">
            <a:spAutoFit/>
          </a:bodyPr>
          <a:p>
            <a:r>
              <a:rPr b="0" lang="en-US" sz="1050" strike="noStrike" u="none">
                <a:solidFill>
                  <a:srgbClr val="ff8c00"/>
                </a:solidFill>
                <a:effectLst/>
                <a:uFillTx/>
                <a:latin typeface="NotoSansJP"/>
                <a:ea typeface="NotoSansJP"/>
              </a:rPr>
              <a:t>f</a:t>
            </a:r>
            <a:endParaRPr b="0" lang="en-US" sz="1050" strike="noStrike" u="none">
              <a:solidFill>
                <a:srgbClr val="000000"/>
              </a:solidFill>
              <a:effectLst/>
              <a:uFillTx/>
              <a:latin typeface="Times New Roman"/>
            </a:endParaRPr>
          </a:p>
        </p:txBody>
      </p:sp>
      <p:sp>
        <p:nvSpPr>
          <p:cNvPr id="581" name=""/>
          <p:cNvSpPr txBox="1"/>
          <p:nvPr/>
        </p:nvSpPr>
        <p:spPr>
          <a:xfrm>
            <a:off x="961200" y="2826000"/>
            <a:ext cx="1207800" cy="194040"/>
          </a:xfrm>
          <a:prstGeom prst="rect">
            <a:avLst/>
          </a:prstGeom>
          <a:noFill/>
          <a:ln w="0">
            <a:noFill/>
          </a:ln>
        </p:spPr>
        <p:txBody>
          <a:bodyPr wrap="none" lIns="0" rIns="0" tIns="0" bIns="0" anchor="t">
            <a:spAutoFit/>
          </a:bodyPr>
          <a:p>
            <a:r>
              <a:rPr b="0" lang="zh-CN" sz="1050" strike="noStrike" u="none">
                <a:solidFill>
                  <a:srgbClr val="ffffff"/>
                </a:solidFill>
                <a:effectLst/>
                <a:uFillTx/>
                <a:latin typeface="NotoSansJP"/>
                <a:ea typeface="NotoSansJP"/>
              </a:rPr>
              <a:t>：レンズの焦点距離</a:t>
            </a:r>
            <a:endParaRPr b="0" lang="en-US" sz="1050" strike="noStrike" u="none">
              <a:solidFill>
                <a:srgbClr val="000000"/>
              </a:solidFill>
              <a:effectLst/>
              <a:uFillTx/>
              <a:latin typeface="Times New Roman"/>
            </a:endParaRPr>
          </a:p>
        </p:txBody>
      </p:sp>
      <p:pic>
        <p:nvPicPr>
          <p:cNvPr id="582" name="" descr=""/>
          <p:cNvPicPr/>
          <p:nvPr/>
        </p:nvPicPr>
        <p:blipFill>
          <a:blip r:embed="rId3"/>
          <a:stretch/>
        </p:blipFill>
        <p:spPr>
          <a:xfrm>
            <a:off x="735480" y="3894120"/>
            <a:ext cx="200160" cy="200160"/>
          </a:xfrm>
          <a:prstGeom prst="rect">
            <a:avLst/>
          </a:prstGeom>
          <a:noFill/>
          <a:ln w="0">
            <a:noFill/>
          </a:ln>
        </p:spPr>
      </p:pic>
      <p:sp>
        <p:nvSpPr>
          <p:cNvPr id="583" name=""/>
          <p:cNvSpPr txBox="1"/>
          <p:nvPr/>
        </p:nvSpPr>
        <p:spPr>
          <a:xfrm>
            <a:off x="735480" y="3093120"/>
            <a:ext cx="1404720" cy="194040"/>
          </a:xfrm>
          <a:prstGeom prst="rect">
            <a:avLst/>
          </a:prstGeom>
          <a:noFill/>
          <a:ln w="0">
            <a:noFill/>
          </a:ln>
        </p:spPr>
        <p:txBody>
          <a:bodyPr wrap="none" lIns="0" rIns="0" tIns="0" bIns="0" anchor="t">
            <a:spAutoFit/>
          </a:bodyPr>
          <a:p>
            <a:r>
              <a:rPr b="0" lang="en-US" sz="1050" strike="noStrike" u="none">
                <a:solidFill>
                  <a:srgbClr val="ff8c00"/>
                </a:solidFill>
                <a:effectLst/>
                <a:uFillTx/>
                <a:latin typeface="NotoSansJP"/>
                <a:ea typeface="NotoSansJP"/>
              </a:rPr>
              <a:t>(x , y )</a:t>
            </a:r>
            <a:r>
              <a:rPr b="0" lang="zh-CN" sz="1050" strike="noStrike" u="none">
                <a:solidFill>
                  <a:srgbClr val="ffffff"/>
                </a:solidFill>
                <a:effectLst/>
                <a:uFillTx/>
                <a:latin typeface="NotoSansJP"/>
                <a:ea typeface="NotoSansJP"/>
              </a:rPr>
              <a:t>：瞳面上の座標</a:t>
            </a:r>
            <a:endParaRPr b="0" lang="en-US" sz="1050" strike="noStrike" u="none">
              <a:solidFill>
                <a:srgbClr val="000000"/>
              </a:solidFill>
              <a:effectLst/>
              <a:uFillTx/>
              <a:latin typeface="Times New Roman"/>
            </a:endParaRPr>
          </a:p>
        </p:txBody>
      </p:sp>
      <p:sp>
        <p:nvSpPr>
          <p:cNvPr id="584" name=""/>
          <p:cNvSpPr/>
          <p:nvPr/>
        </p:nvSpPr>
        <p:spPr>
          <a:xfrm>
            <a:off x="743400" y="4345200"/>
            <a:ext cx="50760" cy="50760"/>
          </a:xfrm>
          <a:custGeom>
            <a:avLst/>
            <a:gdLst/>
            <a:ahLst/>
            <a:rect l="0" t="0" r="r" b="b"/>
            <a:pathLst>
              <a:path w="141" h="141">
                <a:moveTo>
                  <a:pt x="141" y="70"/>
                </a:moveTo>
                <a:cubicBezTo>
                  <a:pt x="141" y="79"/>
                  <a:pt x="139" y="88"/>
                  <a:pt x="135" y="98"/>
                </a:cubicBezTo>
                <a:cubicBezTo>
                  <a:pt x="132" y="106"/>
                  <a:pt x="127" y="114"/>
                  <a:pt x="120" y="120"/>
                </a:cubicBezTo>
                <a:cubicBezTo>
                  <a:pt x="114" y="127"/>
                  <a:pt x="106" y="132"/>
                  <a:pt x="98" y="135"/>
                </a:cubicBezTo>
                <a:cubicBezTo>
                  <a:pt x="88" y="139"/>
                  <a:pt x="79" y="141"/>
                  <a:pt x="70" y="141"/>
                </a:cubicBezTo>
                <a:cubicBezTo>
                  <a:pt x="61" y="141"/>
                  <a:pt x="52" y="139"/>
                  <a:pt x="43" y="135"/>
                </a:cubicBezTo>
                <a:cubicBezTo>
                  <a:pt x="35" y="132"/>
                  <a:pt x="27" y="127"/>
                  <a:pt x="21" y="120"/>
                </a:cubicBezTo>
                <a:cubicBezTo>
                  <a:pt x="14" y="114"/>
                  <a:pt x="9" y="106"/>
                  <a:pt x="6" y="98"/>
                </a:cubicBezTo>
                <a:cubicBezTo>
                  <a:pt x="2" y="88"/>
                  <a:pt x="0" y="79"/>
                  <a:pt x="0" y="70"/>
                </a:cubicBezTo>
                <a:cubicBezTo>
                  <a:pt x="0" y="61"/>
                  <a:pt x="2" y="52"/>
                  <a:pt x="6" y="43"/>
                </a:cubicBezTo>
                <a:cubicBezTo>
                  <a:pt x="9" y="35"/>
                  <a:pt x="14" y="27"/>
                  <a:pt x="21" y="21"/>
                </a:cubicBezTo>
                <a:cubicBezTo>
                  <a:pt x="27" y="14"/>
                  <a:pt x="35" y="9"/>
                  <a:pt x="43" y="6"/>
                </a:cubicBezTo>
                <a:cubicBezTo>
                  <a:pt x="52" y="2"/>
                  <a:pt x="61" y="0"/>
                  <a:pt x="70" y="0"/>
                </a:cubicBezTo>
                <a:cubicBezTo>
                  <a:pt x="79" y="0"/>
                  <a:pt x="88" y="2"/>
                  <a:pt x="98" y="6"/>
                </a:cubicBezTo>
                <a:cubicBezTo>
                  <a:pt x="106" y="9"/>
                  <a:pt x="114" y="14"/>
                  <a:pt x="120" y="21"/>
                </a:cubicBezTo>
                <a:cubicBezTo>
                  <a:pt x="127" y="27"/>
                  <a:pt x="132" y="35"/>
                  <a:pt x="135" y="43"/>
                </a:cubicBezTo>
                <a:cubicBezTo>
                  <a:pt x="139" y="52"/>
                  <a:pt x="141" y="61"/>
                  <a:pt x="141" y="70"/>
                </a:cubicBezTo>
                <a:close/>
              </a:path>
            </a:pathLst>
          </a:custGeom>
          <a:solidFill>
            <a:srgbClr val="ffffff"/>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585" name=""/>
          <p:cNvSpPr txBox="1"/>
          <p:nvPr/>
        </p:nvSpPr>
        <p:spPr>
          <a:xfrm>
            <a:off x="1036080" y="3891960"/>
            <a:ext cx="1409040" cy="291600"/>
          </a:xfrm>
          <a:prstGeom prst="rect">
            <a:avLst/>
          </a:prstGeom>
          <a:noFill/>
          <a:ln w="0">
            <a:noFill/>
          </a:ln>
        </p:spPr>
        <p:txBody>
          <a:bodyPr wrap="none" lIns="0" rIns="0" tIns="0" bIns="0" anchor="t">
            <a:spAutoFit/>
          </a:bodyPr>
          <a:p>
            <a:r>
              <a:rPr b="0" lang="zh-CN" sz="1580" strike="noStrike" u="none">
                <a:solidFill>
                  <a:srgbClr val="a7c6d9"/>
                </a:solidFill>
                <a:effectLst/>
                <a:uFillTx/>
                <a:latin typeface="NotoSansJP"/>
                <a:ea typeface="NotoSansJP"/>
              </a:rPr>
              <a:t>実装上の注意点</a:t>
            </a:r>
            <a:endParaRPr b="0" lang="en-US" sz="1580" strike="noStrike" u="none">
              <a:solidFill>
                <a:srgbClr val="000000"/>
              </a:solidFill>
              <a:effectLst/>
              <a:uFillTx/>
              <a:latin typeface="Times New Roman"/>
            </a:endParaRPr>
          </a:p>
        </p:txBody>
      </p:sp>
      <p:sp>
        <p:nvSpPr>
          <p:cNvPr id="586" name=""/>
          <p:cNvSpPr txBox="1"/>
          <p:nvPr/>
        </p:nvSpPr>
        <p:spPr>
          <a:xfrm>
            <a:off x="902520" y="4296600"/>
            <a:ext cx="622800" cy="194040"/>
          </a:xfrm>
          <a:prstGeom prst="rect">
            <a:avLst/>
          </a:prstGeom>
          <a:noFill/>
          <a:ln w="0">
            <a:noFill/>
          </a:ln>
        </p:spPr>
        <p:txBody>
          <a:bodyPr wrap="none" lIns="0" rIns="0" tIns="0" bIns="0" anchor="t">
            <a:spAutoFit/>
          </a:bodyPr>
          <a:p>
            <a:r>
              <a:rPr b="0" lang="zh-CN" sz="1050" strike="noStrike" u="none">
                <a:solidFill>
                  <a:srgbClr val="ffffff"/>
                </a:solidFill>
                <a:effectLst/>
                <a:uFillTx/>
                <a:latin typeface="NotoSansJP"/>
                <a:ea typeface="NotoSansJP"/>
              </a:rPr>
              <a:t>焦点距離</a:t>
            </a:r>
            <a:r>
              <a:rPr b="0" lang="en-US" sz="1050" strike="noStrike" u="none">
                <a:solidFill>
                  <a:srgbClr val="ff8c00"/>
                </a:solidFill>
                <a:effectLst/>
                <a:uFillTx/>
                <a:latin typeface="NotoSansJP"/>
                <a:ea typeface="NotoSansJP"/>
              </a:rPr>
              <a:t>f</a:t>
            </a:r>
            <a:endParaRPr b="0" lang="en-US" sz="1050" strike="noStrike" u="none">
              <a:solidFill>
                <a:srgbClr val="000000"/>
              </a:solidFill>
              <a:effectLst/>
              <a:uFillTx/>
              <a:latin typeface="Times New Roman"/>
            </a:endParaRPr>
          </a:p>
        </p:txBody>
      </p:sp>
      <p:sp>
        <p:nvSpPr>
          <p:cNvPr id="587" name=""/>
          <p:cNvSpPr txBox="1"/>
          <p:nvPr/>
        </p:nvSpPr>
        <p:spPr>
          <a:xfrm>
            <a:off x="1662840" y="4296600"/>
            <a:ext cx="2548800" cy="194040"/>
          </a:xfrm>
          <a:prstGeom prst="rect">
            <a:avLst/>
          </a:prstGeom>
          <a:noFill/>
          <a:ln w="0">
            <a:noFill/>
          </a:ln>
        </p:spPr>
        <p:txBody>
          <a:bodyPr wrap="none" lIns="0" rIns="0" tIns="0" bIns="0" anchor="t">
            <a:spAutoFit/>
          </a:bodyPr>
          <a:p>
            <a:r>
              <a:rPr b="0" lang="zh-CN" sz="1050" strike="noStrike" u="none">
                <a:solidFill>
                  <a:srgbClr val="ffffff"/>
                </a:solidFill>
                <a:effectLst/>
                <a:uFillTx/>
                <a:latin typeface="NotoSansJP"/>
                <a:ea typeface="NotoSansJP"/>
              </a:rPr>
              <a:t>は、眼球がどの距離にピントを合わせてい</a:t>
            </a:r>
            <a:endParaRPr b="0" lang="en-US" sz="1050" strike="noStrike" u="none">
              <a:solidFill>
                <a:srgbClr val="000000"/>
              </a:solidFill>
              <a:effectLst/>
              <a:uFillTx/>
              <a:latin typeface="Times New Roman"/>
            </a:endParaRPr>
          </a:p>
        </p:txBody>
      </p:sp>
      <p:sp>
        <p:nvSpPr>
          <p:cNvPr id="588" name=""/>
          <p:cNvSpPr/>
          <p:nvPr/>
        </p:nvSpPr>
        <p:spPr>
          <a:xfrm>
            <a:off x="743400" y="4846680"/>
            <a:ext cx="50760" cy="50400"/>
          </a:xfrm>
          <a:custGeom>
            <a:avLst/>
            <a:gdLst/>
            <a:ahLst/>
            <a:rect l="0" t="0" r="r" b="b"/>
            <a:pathLst>
              <a:path w="141" h="140">
                <a:moveTo>
                  <a:pt x="141" y="70"/>
                </a:moveTo>
                <a:cubicBezTo>
                  <a:pt x="141" y="79"/>
                  <a:pt x="139" y="88"/>
                  <a:pt x="135" y="97"/>
                </a:cubicBezTo>
                <a:cubicBezTo>
                  <a:pt x="132" y="106"/>
                  <a:pt x="127" y="113"/>
                  <a:pt x="120" y="120"/>
                </a:cubicBezTo>
                <a:cubicBezTo>
                  <a:pt x="114" y="126"/>
                  <a:pt x="106" y="132"/>
                  <a:pt x="98" y="135"/>
                </a:cubicBezTo>
                <a:cubicBezTo>
                  <a:pt x="88" y="139"/>
                  <a:pt x="79" y="140"/>
                  <a:pt x="70" y="140"/>
                </a:cubicBezTo>
                <a:cubicBezTo>
                  <a:pt x="61" y="140"/>
                  <a:pt x="52" y="139"/>
                  <a:pt x="43" y="135"/>
                </a:cubicBezTo>
                <a:cubicBezTo>
                  <a:pt x="35" y="132"/>
                  <a:pt x="27" y="126"/>
                  <a:pt x="21" y="120"/>
                </a:cubicBezTo>
                <a:cubicBezTo>
                  <a:pt x="14" y="113"/>
                  <a:pt x="9" y="106"/>
                  <a:pt x="6" y="97"/>
                </a:cubicBezTo>
                <a:cubicBezTo>
                  <a:pt x="2" y="88"/>
                  <a:pt x="0" y="79"/>
                  <a:pt x="0" y="70"/>
                </a:cubicBezTo>
                <a:cubicBezTo>
                  <a:pt x="0" y="60"/>
                  <a:pt x="2" y="52"/>
                  <a:pt x="6" y="43"/>
                </a:cubicBezTo>
                <a:cubicBezTo>
                  <a:pt x="9" y="35"/>
                  <a:pt x="14" y="27"/>
                  <a:pt x="21" y="20"/>
                </a:cubicBezTo>
                <a:cubicBezTo>
                  <a:pt x="27" y="14"/>
                  <a:pt x="35" y="9"/>
                  <a:pt x="43" y="5"/>
                </a:cubicBezTo>
                <a:cubicBezTo>
                  <a:pt x="52" y="2"/>
                  <a:pt x="61" y="0"/>
                  <a:pt x="70" y="0"/>
                </a:cubicBezTo>
                <a:cubicBezTo>
                  <a:pt x="79" y="0"/>
                  <a:pt x="88" y="2"/>
                  <a:pt x="98" y="5"/>
                </a:cubicBezTo>
                <a:cubicBezTo>
                  <a:pt x="106" y="9"/>
                  <a:pt x="114" y="14"/>
                  <a:pt x="120" y="20"/>
                </a:cubicBezTo>
                <a:cubicBezTo>
                  <a:pt x="127" y="27"/>
                  <a:pt x="132" y="35"/>
                  <a:pt x="135" y="43"/>
                </a:cubicBezTo>
                <a:cubicBezTo>
                  <a:pt x="139" y="52"/>
                  <a:pt x="141" y="60"/>
                  <a:pt x="141" y="70"/>
                </a:cubicBezTo>
                <a:close/>
              </a:path>
            </a:pathLst>
          </a:custGeom>
          <a:solidFill>
            <a:srgbClr val="ffffff"/>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589" name=""/>
          <p:cNvSpPr txBox="1"/>
          <p:nvPr/>
        </p:nvSpPr>
        <p:spPr>
          <a:xfrm>
            <a:off x="902520" y="4497120"/>
            <a:ext cx="1878120" cy="194040"/>
          </a:xfrm>
          <a:prstGeom prst="rect">
            <a:avLst/>
          </a:prstGeom>
          <a:noFill/>
          <a:ln w="0">
            <a:noFill/>
          </a:ln>
        </p:spPr>
        <p:txBody>
          <a:bodyPr wrap="none" lIns="0" rIns="0" tIns="0" bIns="0" anchor="t">
            <a:spAutoFit/>
          </a:bodyPr>
          <a:p>
            <a:r>
              <a:rPr b="0" lang="zh-CN" sz="1050" strike="noStrike" u="none">
                <a:solidFill>
                  <a:srgbClr val="ffffff"/>
                </a:solidFill>
                <a:effectLst/>
                <a:uFillTx/>
                <a:latin typeface="NotoSansJP"/>
                <a:ea typeface="NotoSansJP"/>
              </a:rPr>
              <a:t>るか（調節状態）によって変化</a:t>
            </a:r>
            <a:endParaRPr b="0" lang="en-US" sz="1050" strike="noStrike" u="none">
              <a:solidFill>
                <a:srgbClr val="000000"/>
              </a:solidFill>
              <a:effectLst/>
              <a:uFillTx/>
              <a:latin typeface="Times New Roman"/>
            </a:endParaRPr>
          </a:p>
        </p:txBody>
      </p:sp>
      <p:sp>
        <p:nvSpPr>
          <p:cNvPr id="590" name=""/>
          <p:cNvSpPr/>
          <p:nvPr/>
        </p:nvSpPr>
        <p:spPr>
          <a:xfrm>
            <a:off x="743400" y="5147640"/>
            <a:ext cx="50760" cy="50400"/>
          </a:xfrm>
          <a:custGeom>
            <a:avLst/>
            <a:gdLst/>
            <a:ahLst/>
            <a:rect l="0" t="0" r="r" b="b"/>
            <a:pathLst>
              <a:path w="141" h="140">
                <a:moveTo>
                  <a:pt x="141" y="69"/>
                </a:moveTo>
                <a:cubicBezTo>
                  <a:pt x="141" y="79"/>
                  <a:pt x="139" y="87"/>
                  <a:pt x="135" y="97"/>
                </a:cubicBezTo>
                <a:cubicBezTo>
                  <a:pt x="132" y="106"/>
                  <a:pt x="127" y="113"/>
                  <a:pt x="120" y="120"/>
                </a:cubicBezTo>
                <a:cubicBezTo>
                  <a:pt x="114" y="126"/>
                  <a:pt x="106" y="131"/>
                  <a:pt x="98" y="135"/>
                </a:cubicBezTo>
                <a:cubicBezTo>
                  <a:pt x="88" y="138"/>
                  <a:pt x="79" y="140"/>
                  <a:pt x="70" y="140"/>
                </a:cubicBezTo>
                <a:cubicBezTo>
                  <a:pt x="61" y="140"/>
                  <a:pt x="52" y="138"/>
                  <a:pt x="43" y="135"/>
                </a:cubicBezTo>
                <a:cubicBezTo>
                  <a:pt x="35" y="131"/>
                  <a:pt x="27" y="126"/>
                  <a:pt x="21" y="120"/>
                </a:cubicBezTo>
                <a:cubicBezTo>
                  <a:pt x="14" y="113"/>
                  <a:pt x="9" y="106"/>
                  <a:pt x="6" y="97"/>
                </a:cubicBezTo>
                <a:cubicBezTo>
                  <a:pt x="2" y="87"/>
                  <a:pt x="0" y="79"/>
                  <a:pt x="0" y="69"/>
                </a:cubicBezTo>
                <a:cubicBezTo>
                  <a:pt x="0" y="60"/>
                  <a:pt x="2" y="51"/>
                  <a:pt x="6" y="43"/>
                </a:cubicBezTo>
                <a:cubicBezTo>
                  <a:pt x="9" y="34"/>
                  <a:pt x="14" y="27"/>
                  <a:pt x="21" y="20"/>
                </a:cubicBezTo>
                <a:cubicBezTo>
                  <a:pt x="27" y="14"/>
                  <a:pt x="35" y="9"/>
                  <a:pt x="43" y="5"/>
                </a:cubicBezTo>
                <a:cubicBezTo>
                  <a:pt x="52" y="2"/>
                  <a:pt x="61" y="0"/>
                  <a:pt x="70" y="0"/>
                </a:cubicBezTo>
                <a:cubicBezTo>
                  <a:pt x="79" y="0"/>
                  <a:pt x="88" y="2"/>
                  <a:pt x="98" y="5"/>
                </a:cubicBezTo>
                <a:cubicBezTo>
                  <a:pt x="106" y="9"/>
                  <a:pt x="114" y="14"/>
                  <a:pt x="120" y="20"/>
                </a:cubicBezTo>
                <a:cubicBezTo>
                  <a:pt x="127" y="27"/>
                  <a:pt x="132" y="34"/>
                  <a:pt x="135" y="43"/>
                </a:cubicBezTo>
                <a:cubicBezTo>
                  <a:pt x="139" y="51"/>
                  <a:pt x="141" y="60"/>
                  <a:pt x="141" y="69"/>
                </a:cubicBezTo>
                <a:close/>
              </a:path>
            </a:pathLst>
          </a:custGeom>
          <a:solidFill>
            <a:srgbClr val="ffffff"/>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591" name=""/>
          <p:cNvSpPr txBox="1"/>
          <p:nvPr/>
        </p:nvSpPr>
        <p:spPr>
          <a:xfrm>
            <a:off x="902520" y="4798080"/>
            <a:ext cx="3418560" cy="194040"/>
          </a:xfrm>
          <a:prstGeom prst="rect">
            <a:avLst/>
          </a:prstGeom>
          <a:noFill/>
          <a:ln w="0">
            <a:noFill/>
          </a:ln>
        </p:spPr>
        <p:txBody>
          <a:bodyPr wrap="none" lIns="0" rIns="0" tIns="0" bIns="0" anchor="t">
            <a:spAutoFit/>
          </a:bodyPr>
          <a:p>
            <a:r>
              <a:rPr b="0" lang="zh-CN" sz="1050" strike="noStrike" u="none">
                <a:solidFill>
                  <a:srgbClr val="ffffff"/>
                </a:solidFill>
                <a:effectLst/>
                <a:uFillTx/>
                <a:latin typeface="NotoSansJP"/>
                <a:ea typeface="NotoSansJP"/>
              </a:rPr>
              <a:t>通常、成人の眼球では</a:t>
            </a:r>
            <a:r>
              <a:rPr b="0" lang="en-US" sz="1050" strike="noStrike" u="none">
                <a:solidFill>
                  <a:srgbClr val="ff8c00"/>
                </a:solidFill>
                <a:effectLst/>
                <a:uFillTx/>
                <a:latin typeface="NotoSansJP"/>
                <a:ea typeface="NotoSansJP"/>
              </a:rPr>
              <a:t>17mm</a:t>
            </a:r>
            <a:r>
              <a:rPr b="0" lang="zh-CN" sz="1050" strike="noStrike" u="none">
                <a:solidFill>
                  <a:srgbClr val="ff8c00"/>
                </a:solidFill>
                <a:effectLst/>
                <a:uFillTx/>
                <a:latin typeface="NotoSansJP"/>
                <a:ea typeface="NotoSansJP"/>
              </a:rPr>
              <a:t>～</a:t>
            </a:r>
            <a:r>
              <a:rPr b="0" lang="en-US" sz="1050" strike="noStrike" u="none">
                <a:solidFill>
                  <a:srgbClr val="ff8c00"/>
                </a:solidFill>
                <a:effectLst/>
                <a:uFillTx/>
                <a:latin typeface="NotoSansJP"/>
                <a:ea typeface="NotoSansJP"/>
              </a:rPr>
              <a:t>24mm</a:t>
            </a:r>
            <a:r>
              <a:rPr b="0" lang="zh-CN" sz="1050" strike="noStrike" u="none">
                <a:solidFill>
                  <a:srgbClr val="ffffff"/>
                </a:solidFill>
                <a:effectLst/>
                <a:uFillTx/>
                <a:latin typeface="NotoSansJP"/>
                <a:ea typeface="NotoSansJP"/>
              </a:rPr>
              <a:t>程度の値をとる</a:t>
            </a:r>
            <a:endParaRPr b="0" lang="en-US" sz="1050" strike="noStrike" u="none">
              <a:solidFill>
                <a:srgbClr val="000000"/>
              </a:solidFill>
              <a:effectLst/>
              <a:uFillTx/>
              <a:latin typeface="Times New Roman"/>
            </a:endParaRPr>
          </a:p>
        </p:txBody>
      </p:sp>
      <p:sp>
        <p:nvSpPr>
          <p:cNvPr id="592" name=""/>
          <p:cNvSpPr txBox="1"/>
          <p:nvPr/>
        </p:nvSpPr>
        <p:spPr>
          <a:xfrm>
            <a:off x="902520" y="5098680"/>
            <a:ext cx="3219480" cy="194040"/>
          </a:xfrm>
          <a:prstGeom prst="rect">
            <a:avLst/>
          </a:prstGeom>
          <a:noFill/>
          <a:ln w="0">
            <a:noFill/>
          </a:ln>
        </p:spPr>
        <p:txBody>
          <a:bodyPr wrap="none" lIns="0" rIns="0" tIns="0" bIns="0" anchor="t">
            <a:spAutoFit/>
          </a:bodyPr>
          <a:p>
            <a:r>
              <a:rPr b="0" lang="zh-CN" sz="1050" strike="noStrike" u="none">
                <a:solidFill>
                  <a:srgbClr val="ffffff"/>
                </a:solidFill>
                <a:effectLst/>
                <a:uFillTx/>
                <a:latin typeface="NotoSansJP"/>
                <a:ea typeface="NotoSansJP"/>
              </a:rPr>
              <a:t>座標系の原点を瞳の中心に設定することで計算を簡略</a:t>
            </a:r>
            <a:endParaRPr b="0" lang="en-US" sz="1050" strike="noStrike" u="none">
              <a:solidFill>
                <a:srgbClr val="000000"/>
              </a:solidFill>
              <a:effectLst/>
              <a:uFillTx/>
              <a:latin typeface="Times New Roman"/>
            </a:endParaRPr>
          </a:p>
        </p:txBody>
      </p:sp>
      <p:sp>
        <p:nvSpPr>
          <p:cNvPr id="593" name=""/>
          <p:cNvSpPr/>
          <p:nvPr/>
        </p:nvSpPr>
        <p:spPr>
          <a:xfrm>
            <a:off x="743400" y="5649120"/>
            <a:ext cx="50760" cy="50400"/>
          </a:xfrm>
          <a:custGeom>
            <a:avLst/>
            <a:gdLst/>
            <a:ahLst/>
            <a:rect l="0" t="0" r="r" b="b"/>
            <a:pathLst>
              <a:path w="141" h="140">
                <a:moveTo>
                  <a:pt x="141" y="69"/>
                </a:moveTo>
                <a:cubicBezTo>
                  <a:pt x="141" y="78"/>
                  <a:pt x="139" y="88"/>
                  <a:pt x="135" y="97"/>
                </a:cubicBezTo>
                <a:cubicBezTo>
                  <a:pt x="132" y="105"/>
                  <a:pt x="127" y="113"/>
                  <a:pt x="120" y="119"/>
                </a:cubicBezTo>
                <a:cubicBezTo>
                  <a:pt x="114" y="126"/>
                  <a:pt x="106" y="131"/>
                  <a:pt x="98" y="135"/>
                </a:cubicBezTo>
                <a:cubicBezTo>
                  <a:pt x="88" y="138"/>
                  <a:pt x="79" y="140"/>
                  <a:pt x="70" y="140"/>
                </a:cubicBezTo>
                <a:cubicBezTo>
                  <a:pt x="61" y="140"/>
                  <a:pt x="52" y="138"/>
                  <a:pt x="43" y="135"/>
                </a:cubicBezTo>
                <a:cubicBezTo>
                  <a:pt x="35" y="131"/>
                  <a:pt x="27" y="126"/>
                  <a:pt x="21" y="119"/>
                </a:cubicBezTo>
                <a:cubicBezTo>
                  <a:pt x="14" y="113"/>
                  <a:pt x="9" y="105"/>
                  <a:pt x="6" y="97"/>
                </a:cubicBezTo>
                <a:cubicBezTo>
                  <a:pt x="2" y="88"/>
                  <a:pt x="0" y="78"/>
                  <a:pt x="0" y="69"/>
                </a:cubicBezTo>
                <a:cubicBezTo>
                  <a:pt x="0" y="60"/>
                  <a:pt x="2" y="51"/>
                  <a:pt x="6" y="43"/>
                </a:cubicBezTo>
                <a:cubicBezTo>
                  <a:pt x="9" y="34"/>
                  <a:pt x="14" y="26"/>
                  <a:pt x="21" y="20"/>
                </a:cubicBezTo>
                <a:cubicBezTo>
                  <a:pt x="27" y="13"/>
                  <a:pt x="35" y="8"/>
                  <a:pt x="43" y="5"/>
                </a:cubicBezTo>
                <a:cubicBezTo>
                  <a:pt x="52" y="1"/>
                  <a:pt x="61" y="0"/>
                  <a:pt x="70" y="0"/>
                </a:cubicBezTo>
                <a:cubicBezTo>
                  <a:pt x="79" y="0"/>
                  <a:pt x="88" y="1"/>
                  <a:pt x="98" y="5"/>
                </a:cubicBezTo>
                <a:cubicBezTo>
                  <a:pt x="106" y="8"/>
                  <a:pt x="114" y="13"/>
                  <a:pt x="120" y="20"/>
                </a:cubicBezTo>
                <a:cubicBezTo>
                  <a:pt x="127" y="26"/>
                  <a:pt x="132" y="34"/>
                  <a:pt x="135" y="43"/>
                </a:cubicBezTo>
                <a:cubicBezTo>
                  <a:pt x="139" y="51"/>
                  <a:pt x="141" y="60"/>
                  <a:pt x="141" y="69"/>
                </a:cubicBezTo>
                <a:close/>
              </a:path>
            </a:pathLst>
          </a:custGeom>
          <a:solidFill>
            <a:srgbClr val="ffffff"/>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594" name=""/>
          <p:cNvSpPr txBox="1"/>
          <p:nvPr/>
        </p:nvSpPr>
        <p:spPr>
          <a:xfrm>
            <a:off x="902520" y="5299560"/>
            <a:ext cx="135000" cy="194040"/>
          </a:xfrm>
          <a:prstGeom prst="rect">
            <a:avLst/>
          </a:prstGeom>
          <a:noFill/>
          <a:ln w="0">
            <a:noFill/>
          </a:ln>
        </p:spPr>
        <p:txBody>
          <a:bodyPr wrap="none" lIns="0" rIns="0" tIns="0" bIns="0" anchor="t">
            <a:spAutoFit/>
          </a:bodyPr>
          <a:p>
            <a:r>
              <a:rPr b="0" lang="zh-CN" sz="1050" strike="noStrike" u="none">
                <a:solidFill>
                  <a:srgbClr val="ffffff"/>
                </a:solidFill>
                <a:effectLst/>
                <a:uFillTx/>
                <a:latin typeface="NotoSansJP"/>
                <a:ea typeface="NotoSansJP"/>
              </a:rPr>
              <a:t>化</a:t>
            </a:r>
            <a:endParaRPr b="0" lang="en-US" sz="1050" strike="noStrike" u="none">
              <a:solidFill>
                <a:srgbClr val="000000"/>
              </a:solidFill>
              <a:effectLst/>
              <a:uFillTx/>
              <a:latin typeface="Times New Roman"/>
            </a:endParaRPr>
          </a:p>
        </p:txBody>
      </p:sp>
      <p:sp>
        <p:nvSpPr>
          <p:cNvPr id="595" name=""/>
          <p:cNvSpPr txBox="1"/>
          <p:nvPr/>
        </p:nvSpPr>
        <p:spPr>
          <a:xfrm>
            <a:off x="902520" y="5600160"/>
            <a:ext cx="3374640" cy="194040"/>
          </a:xfrm>
          <a:prstGeom prst="rect">
            <a:avLst/>
          </a:prstGeom>
          <a:noFill/>
          <a:ln w="0">
            <a:noFill/>
          </a:ln>
        </p:spPr>
        <p:txBody>
          <a:bodyPr wrap="none" lIns="0" rIns="0" tIns="0" bIns="0" anchor="t">
            <a:spAutoFit/>
          </a:bodyPr>
          <a:p>
            <a:r>
              <a:rPr b="0" lang="zh-CN" sz="1050" strike="noStrike" u="none">
                <a:solidFill>
                  <a:srgbClr val="ffffff"/>
                </a:solidFill>
                <a:effectLst/>
                <a:uFillTx/>
                <a:latin typeface="NotoSansJP"/>
                <a:ea typeface="NotoSansJP"/>
              </a:rPr>
              <a:t>瞳径を考慮し、実際の瞳の範囲外では透過関数を</a:t>
            </a:r>
            <a:r>
              <a:rPr b="0" lang="en-US" sz="1050" strike="noStrike" u="none">
                <a:solidFill>
                  <a:srgbClr val="ffffff"/>
                </a:solidFill>
                <a:effectLst/>
                <a:uFillTx/>
                <a:latin typeface="NotoSansJP"/>
                <a:ea typeface="NotoSansJP"/>
              </a:rPr>
              <a:t>0</a:t>
            </a:r>
            <a:r>
              <a:rPr b="0" lang="zh-CN" sz="1050" strike="noStrike" u="none">
                <a:solidFill>
                  <a:srgbClr val="ffffff"/>
                </a:solidFill>
                <a:effectLst/>
                <a:uFillTx/>
                <a:latin typeface="NotoSansJP"/>
                <a:ea typeface="NotoSansJP"/>
              </a:rPr>
              <a:t>とす</a:t>
            </a:r>
            <a:endParaRPr b="0" lang="en-US" sz="1050" strike="noStrike" u="none">
              <a:solidFill>
                <a:srgbClr val="000000"/>
              </a:solidFill>
              <a:effectLst/>
              <a:uFillTx/>
              <a:latin typeface="Times New Roman"/>
            </a:endParaRPr>
          </a:p>
        </p:txBody>
      </p:sp>
      <p:sp>
        <p:nvSpPr>
          <p:cNvPr id="596" name=""/>
          <p:cNvSpPr/>
          <p:nvPr/>
        </p:nvSpPr>
        <p:spPr>
          <a:xfrm>
            <a:off x="4629600" y="935640"/>
            <a:ext cx="5532480" cy="5081400"/>
          </a:xfrm>
          <a:custGeom>
            <a:avLst/>
            <a:gdLst/>
            <a:ahLst/>
            <a:rect l="0" t="0" r="r" b="b"/>
            <a:pathLst>
              <a:path w="15368" h="14115">
                <a:moveTo>
                  <a:pt x="0" y="14115"/>
                </a:moveTo>
                <a:lnTo>
                  <a:pt x="0" y="186"/>
                </a:lnTo>
                <a:cubicBezTo>
                  <a:pt x="0" y="174"/>
                  <a:pt x="1" y="162"/>
                  <a:pt x="3" y="150"/>
                </a:cubicBezTo>
                <a:cubicBezTo>
                  <a:pt x="5" y="138"/>
                  <a:pt x="9" y="126"/>
                  <a:pt x="14" y="115"/>
                </a:cubicBezTo>
                <a:cubicBezTo>
                  <a:pt x="18" y="104"/>
                  <a:pt x="24" y="93"/>
                  <a:pt x="31" y="83"/>
                </a:cubicBezTo>
                <a:cubicBezTo>
                  <a:pt x="38" y="73"/>
                  <a:pt x="45" y="63"/>
                  <a:pt x="54" y="55"/>
                </a:cubicBezTo>
                <a:cubicBezTo>
                  <a:pt x="63" y="46"/>
                  <a:pt x="72" y="38"/>
                  <a:pt x="82" y="32"/>
                </a:cubicBezTo>
                <a:cubicBezTo>
                  <a:pt x="92" y="25"/>
                  <a:pt x="103" y="19"/>
                  <a:pt x="114" y="14"/>
                </a:cubicBezTo>
                <a:cubicBezTo>
                  <a:pt x="125" y="10"/>
                  <a:pt x="137" y="6"/>
                  <a:pt x="149" y="4"/>
                </a:cubicBezTo>
                <a:cubicBezTo>
                  <a:pt x="161" y="2"/>
                  <a:pt x="173" y="0"/>
                  <a:pt x="185" y="0"/>
                </a:cubicBezTo>
                <a:lnTo>
                  <a:pt x="15182" y="0"/>
                </a:lnTo>
                <a:cubicBezTo>
                  <a:pt x="15194" y="0"/>
                  <a:pt x="15206" y="2"/>
                  <a:pt x="15218" y="4"/>
                </a:cubicBezTo>
                <a:cubicBezTo>
                  <a:pt x="15230" y="6"/>
                  <a:pt x="15242" y="10"/>
                  <a:pt x="15253" y="14"/>
                </a:cubicBezTo>
                <a:cubicBezTo>
                  <a:pt x="15264" y="19"/>
                  <a:pt x="15275" y="25"/>
                  <a:pt x="15285" y="32"/>
                </a:cubicBezTo>
                <a:cubicBezTo>
                  <a:pt x="15295" y="38"/>
                  <a:pt x="15305" y="46"/>
                  <a:pt x="15313" y="55"/>
                </a:cubicBezTo>
                <a:cubicBezTo>
                  <a:pt x="15322" y="63"/>
                  <a:pt x="15329" y="73"/>
                  <a:pt x="15336" y="83"/>
                </a:cubicBezTo>
                <a:cubicBezTo>
                  <a:pt x="15343" y="93"/>
                  <a:pt x="15349" y="104"/>
                  <a:pt x="15353" y="115"/>
                </a:cubicBezTo>
                <a:cubicBezTo>
                  <a:pt x="15358" y="126"/>
                  <a:pt x="15362" y="138"/>
                  <a:pt x="15364" y="150"/>
                </a:cubicBezTo>
                <a:cubicBezTo>
                  <a:pt x="15366" y="162"/>
                  <a:pt x="15368" y="174"/>
                  <a:pt x="15368" y="186"/>
                </a:cubicBezTo>
                <a:lnTo>
                  <a:pt x="15368" y="14115"/>
                </a:lnTo>
                <a:lnTo>
                  <a:pt x="0" y="14115"/>
                </a:lnTo>
                <a:close/>
              </a:path>
            </a:pathLst>
          </a:custGeom>
          <a:solidFill>
            <a:srgbClr val="ffffff">
              <a:alpha val="10000"/>
            </a:srgbClr>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597" name=""/>
          <p:cNvSpPr/>
          <p:nvPr/>
        </p:nvSpPr>
        <p:spPr>
          <a:xfrm>
            <a:off x="4830120" y="1537560"/>
            <a:ext cx="5131080" cy="4379040"/>
          </a:xfrm>
          <a:custGeom>
            <a:avLst/>
            <a:gdLst/>
            <a:ahLst/>
            <a:rect l="0" t="0" r="r" b="b"/>
            <a:pathLst>
              <a:path w="14253" h="12164">
                <a:moveTo>
                  <a:pt x="0" y="12071"/>
                </a:moveTo>
                <a:lnTo>
                  <a:pt x="0" y="93"/>
                </a:lnTo>
                <a:cubicBezTo>
                  <a:pt x="0" y="80"/>
                  <a:pt x="2" y="68"/>
                  <a:pt x="7" y="57"/>
                </a:cubicBezTo>
                <a:cubicBezTo>
                  <a:pt x="11" y="46"/>
                  <a:pt x="18" y="36"/>
                  <a:pt x="27" y="27"/>
                </a:cubicBezTo>
                <a:cubicBezTo>
                  <a:pt x="36" y="18"/>
                  <a:pt x="46" y="11"/>
                  <a:pt x="57" y="7"/>
                </a:cubicBezTo>
                <a:cubicBezTo>
                  <a:pt x="68" y="2"/>
                  <a:pt x="80" y="0"/>
                  <a:pt x="92" y="0"/>
                </a:cubicBezTo>
                <a:lnTo>
                  <a:pt x="14161" y="0"/>
                </a:lnTo>
                <a:cubicBezTo>
                  <a:pt x="14173" y="0"/>
                  <a:pt x="14185" y="2"/>
                  <a:pt x="14196" y="7"/>
                </a:cubicBezTo>
                <a:cubicBezTo>
                  <a:pt x="14208" y="11"/>
                  <a:pt x="14218" y="18"/>
                  <a:pt x="14226" y="27"/>
                </a:cubicBezTo>
                <a:cubicBezTo>
                  <a:pt x="14235" y="36"/>
                  <a:pt x="14242" y="46"/>
                  <a:pt x="14246" y="57"/>
                </a:cubicBezTo>
                <a:cubicBezTo>
                  <a:pt x="14251" y="68"/>
                  <a:pt x="14253" y="80"/>
                  <a:pt x="14253" y="93"/>
                </a:cubicBezTo>
                <a:lnTo>
                  <a:pt x="14253" y="12071"/>
                </a:lnTo>
                <a:cubicBezTo>
                  <a:pt x="14253" y="12084"/>
                  <a:pt x="14251" y="12096"/>
                  <a:pt x="14246" y="12107"/>
                </a:cubicBezTo>
                <a:cubicBezTo>
                  <a:pt x="14242" y="12118"/>
                  <a:pt x="14235" y="12128"/>
                  <a:pt x="14226" y="12137"/>
                </a:cubicBezTo>
                <a:cubicBezTo>
                  <a:pt x="14218" y="12146"/>
                  <a:pt x="14208" y="12153"/>
                  <a:pt x="14196" y="12157"/>
                </a:cubicBezTo>
                <a:cubicBezTo>
                  <a:pt x="14185" y="12162"/>
                  <a:pt x="14173" y="12164"/>
                  <a:pt x="14161" y="12164"/>
                </a:cubicBezTo>
                <a:lnTo>
                  <a:pt x="92" y="12164"/>
                </a:lnTo>
                <a:cubicBezTo>
                  <a:pt x="80" y="12164"/>
                  <a:pt x="68" y="12162"/>
                  <a:pt x="57" y="12157"/>
                </a:cubicBezTo>
                <a:cubicBezTo>
                  <a:pt x="46" y="12153"/>
                  <a:pt x="36" y="12146"/>
                  <a:pt x="27" y="12137"/>
                </a:cubicBezTo>
                <a:cubicBezTo>
                  <a:pt x="18" y="12128"/>
                  <a:pt x="11" y="12118"/>
                  <a:pt x="7" y="12107"/>
                </a:cubicBezTo>
                <a:cubicBezTo>
                  <a:pt x="2" y="12096"/>
                  <a:pt x="0" y="12084"/>
                  <a:pt x="0" y="12071"/>
                </a:cubicBezTo>
                <a:close/>
              </a:path>
            </a:pathLst>
          </a:custGeom>
          <a:solidFill>
            <a:srgbClr val="000000">
              <a:alpha val="30000"/>
            </a:srgbClr>
          </a:solidFill>
          <a:ln w="0">
            <a:noFill/>
          </a:ln>
        </p:spPr>
        <p:txBody>
          <a:bodyPr lIns="0" rIns="0" tIns="0" bIns="0" anchor="t">
            <a:noAutofit/>
          </a:bodyPr>
          <a:p>
            <a:endParaRPr b="0" lang="en-US" sz="2400" strike="noStrike" u="none">
              <a:solidFill>
                <a:srgbClr val="ffffff"/>
              </a:solidFill>
              <a:effectLst/>
              <a:uFillTx/>
              <a:latin typeface="Times New Roman"/>
            </a:endParaRPr>
          </a:p>
        </p:txBody>
      </p:sp>
      <p:pic>
        <p:nvPicPr>
          <p:cNvPr id="598" name="" descr=""/>
          <p:cNvPicPr/>
          <p:nvPr/>
        </p:nvPicPr>
        <p:blipFill>
          <a:blip r:embed="rId4"/>
          <a:stretch/>
        </p:blipFill>
        <p:spPr>
          <a:xfrm>
            <a:off x="4830120" y="1170000"/>
            <a:ext cx="250200" cy="200160"/>
          </a:xfrm>
          <a:prstGeom prst="rect">
            <a:avLst/>
          </a:prstGeom>
          <a:noFill/>
          <a:ln w="0">
            <a:noFill/>
          </a:ln>
        </p:spPr>
      </p:pic>
      <p:sp>
        <p:nvSpPr>
          <p:cNvPr id="599" name=""/>
          <p:cNvSpPr txBox="1"/>
          <p:nvPr/>
        </p:nvSpPr>
        <p:spPr>
          <a:xfrm>
            <a:off x="902520" y="5800680"/>
            <a:ext cx="1341720" cy="194040"/>
          </a:xfrm>
          <a:prstGeom prst="rect">
            <a:avLst/>
          </a:prstGeom>
          <a:noFill/>
          <a:ln w="0">
            <a:noFill/>
          </a:ln>
        </p:spPr>
        <p:txBody>
          <a:bodyPr wrap="none" lIns="0" rIns="0" tIns="0" bIns="0" anchor="t">
            <a:spAutoFit/>
          </a:bodyPr>
          <a:p>
            <a:r>
              <a:rPr b="0" lang="zh-CN" sz="1050" strike="noStrike" u="none">
                <a:solidFill>
                  <a:srgbClr val="ffffff"/>
                </a:solidFill>
                <a:effectLst/>
                <a:uFillTx/>
                <a:latin typeface="NotoSansJP"/>
                <a:ea typeface="NotoSansJP"/>
              </a:rPr>
              <a:t>る（マスキング処理）</a:t>
            </a:r>
            <a:endParaRPr b="0" lang="en-US" sz="1050" strike="noStrike" u="none">
              <a:solidFill>
                <a:srgbClr val="000000"/>
              </a:solidFill>
              <a:effectLst/>
              <a:uFillTx/>
              <a:latin typeface="Times New Roman"/>
            </a:endParaRPr>
          </a:p>
        </p:txBody>
      </p:sp>
      <p:sp>
        <p:nvSpPr>
          <p:cNvPr id="600" name=""/>
          <p:cNvSpPr txBox="1"/>
          <p:nvPr/>
        </p:nvSpPr>
        <p:spPr>
          <a:xfrm>
            <a:off x="5181120" y="1167840"/>
            <a:ext cx="1808640" cy="291600"/>
          </a:xfrm>
          <a:prstGeom prst="rect">
            <a:avLst/>
          </a:prstGeom>
          <a:noFill/>
          <a:ln w="0">
            <a:noFill/>
          </a:ln>
        </p:spPr>
        <p:txBody>
          <a:bodyPr wrap="none" lIns="0" rIns="0" tIns="0" bIns="0" anchor="t">
            <a:spAutoFit/>
          </a:bodyPr>
          <a:p>
            <a:r>
              <a:rPr b="0" lang="zh-CN" sz="1580" strike="noStrike" u="none">
                <a:solidFill>
                  <a:srgbClr val="a7c6d9"/>
                </a:solidFill>
                <a:effectLst/>
                <a:uFillTx/>
                <a:latin typeface="NotoSansJP"/>
                <a:ea typeface="NotoSansJP"/>
              </a:rPr>
              <a:t>実装例（</a:t>
            </a:r>
            <a:r>
              <a:rPr b="0" lang="en-US" sz="1580" strike="noStrike" u="none">
                <a:solidFill>
                  <a:srgbClr val="a7c6d9"/>
                </a:solidFill>
                <a:effectLst/>
                <a:uFillTx/>
                <a:latin typeface="NotoSansJP"/>
                <a:ea typeface="NotoSansJP"/>
              </a:rPr>
              <a:t>Python</a:t>
            </a:r>
            <a:r>
              <a:rPr b="0" lang="zh-CN" sz="1580" strike="noStrike" u="none">
                <a:solidFill>
                  <a:srgbClr val="a7c6d9"/>
                </a:solidFill>
                <a:effectLst/>
                <a:uFillTx/>
                <a:latin typeface="NotoSansJP"/>
                <a:ea typeface="NotoSansJP"/>
              </a:rPr>
              <a:t>）</a:t>
            </a:r>
            <a:endParaRPr b="0" lang="en-US" sz="1580" strike="noStrike" u="none">
              <a:solidFill>
                <a:srgbClr val="000000"/>
              </a:solidFill>
              <a:effectLst/>
              <a:uFillTx/>
              <a:latin typeface="Times New Roman"/>
            </a:endParaRPr>
          </a:p>
        </p:txBody>
      </p:sp>
      <p:sp>
        <p:nvSpPr>
          <p:cNvPr id="601" name=""/>
          <p:cNvSpPr txBox="1"/>
          <p:nvPr/>
        </p:nvSpPr>
        <p:spPr>
          <a:xfrm>
            <a:off x="4930560" y="1657440"/>
            <a:ext cx="141480" cy="132840"/>
          </a:xfrm>
          <a:prstGeom prst="rect">
            <a:avLst/>
          </a:prstGeom>
          <a:noFill/>
          <a:ln w="0">
            <a:noFill/>
          </a:ln>
        </p:spPr>
        <p:txBody>
          <a:bodyPr wrap="none" lIns="0" rIns="0" tIns="0" bIns="0" anchor="t">
            <a:spAutoFit/>
          </a:bodyPr>
          <a:p>
            <a:r>
              <a:rPr b="0" lang="en-US" sz="920" strike="noStrike" u="none">
                <a:solidFill>
                  <a:srgbClr val="6a9955"/>
                </a:solidFill>
                <a:effectLst/>
                <a:uFillTx/>
                <a:latin typeface="Courier New"/>
                <a:ea typeface="Courier New"/>
              </a:rPr>
              <a:t># </a:t>
            </a:r>
            <a:endParaRPr b="0" lang="en-US" sz="920" strike="noStrike" u="none">
              <a:solidFill>
                <a:srgbClr val="000000"/>
              </a:solidFill>
              <a:effectLst/>
              <a:uFillTx/>
              <a:latin typeface="Times New Roman"/>
            </a:endParaRPr>
          </a:p>
        </p:txBody>
      </p:sp>
      <p:sp>
        <p:nvSpPr>
          <p:cNvPr id="602" name=""/>
          <p:cNvSpPr txBox="1"/>
          <p:nvPr/>
        </p:nvSpPr>
        <p:spPr>
          <a:xfrm>
            <a:off x="5070960" y="1642320"/>
            <a:ext cx="833040" cy="148320"/>
          </a:xfrm>
          <a:prstGeom prst="rect">
            <a:avLst/>
          </a:prstGeom>
          <a:noFill/>
          <a:ln w="0">
            <a:noFill/>
          </a:ln>
        </p:spPr>
        <p:txBody>
          <a:bodyPr wrap="none" lIns="0" rIns="0" tIns="0" bIns="0" anchor="t">
            <a:spAutoFit/>
          </a:bodyPr>
          <a:p>
            <a:r>
              <a:rPr b="0" lang="zh-CN" sz="920" strike="noStrike" u="none">
                <a:solidFill>
                  <a:srgbClr val="6a9955"/>
                </a:solidFill>
                <a:effectLst/>
                <a:uFillTx/>
                <a:latin typeface="WenQuanYiZenHei"/>
                <a:ea typeface="WenQuanYiZenHei"/>
              </a:rPr>
              <a:t>パラメータ設定</a:t>
            </a:r>
            <a:endParaRPr b="0" lang="en-US" sz="920" strike="noStrike" u="none">
              <a:solidFill>
                <a:srgbClr val="000000"/>
              </a:solidFill>
              <a:effectLst/>
              <a:uFillTx/>
              <a:latin typeface="Times New Roman"/>
            </a:endParaRPr>
          </a:p>
        </p:txBody>
      </p:sp>
      <p:sp>
        <p:nvSpPr>
          <p:cNvPr id="603" name=""/>
          <p:cNvSpPr txBox="1"/>
          <p:nvPr/>
        </p:nvSpPr>
        <p:spPr>
          <a:xfrm>
            <a:off x="4930560" y="1824480"/>
            <a:ext cx="1972800" cy="132840"/>
          </a:xfrm>
          <a:prstGeom prst="rect">
            <a:avLst/>
          </a:prstGeom>
          <a:noFill/>
          <a:ln w="0">
            <a:noFill/>
          </a:ln>
        </p:spPr>
        <p:txBody>
          <a:bodyPr wrap="none" lIns="0" rIns="0" tIns="0" bIns="0" anchor="t">
            <a:spAutoFit/>
          </a:bodyPr>
          <a:p>
            <a:r>
              <a:rPr b="0" lang="en-US" sz="920" strike="noStrike" u="none">
                <a:solidFill>
                  <a:srgbClr val="9cdcfe"/>
                </a:solidFill>
                <a:effectLst/>
                <a:uFillTx/>
                <a:latin typeface="Courier New"/>
                <a:ea typeface="Courier New"/>
              </a:rPr>
              <a:t>N</a:t>
            </a:r>
            <a:r>
              <a:rPr b="0" lang="en-US" sz="920" strike="noStrike" u="none">
                <a:solidFill>
                  <a:srgbClr val="ffffff"/>
                </a:solidFill>
                <a:effectLst/>
                <a:uFillTx/>
                <a:latin typeface="Courier New"/>
                <a:ea typeface="Courier New"/>
              </a:rPr>
              <a:t> = </a:t>
            </a:r>
            <a:r>
              <a:rPr b="0" lang="en-US" sz="920" strike="noStrike" u="none">
                <a:solidFill>
                  <a:srgbClr val="b5cea8"/>
                </a:solidFill>
                <a:effectLst/>
                <a:uFillTx/>
                <a:latin typeface="Courier New"/>
                <a:ea typeface="Courier New"/>
              </a:rPr>
              <a:t>512</a:t>
            </a:r>
            <a:r>
              <a:rPr b="0" lang="en-US" sz="920" strike="noStrike" u="none">
                <a:solidFill>
                  <a:srgbClr val="ffffff"/>
                </a:solidFill>
                <a:effectLst/>
                <a:uFillTx/>
                <a:latin typeface="Courier New"/>
                <a:ea typeface="Courier New"/>
              </a:rPr>
              <a:t>                   </a:t>
            </a:r>
            <a:r>
              <a:rPr b="0" lang="en-US" sz="920" strike="noStrike" u="none">
                <a:solidFill>
                  <a:srgbClr val="6a9955"/>
                </a:solidFill>
                <a:effectLst/>
                <a:uFillTx/>
                <a:latin typeface="Courier New"/>
                <a:ea typeface="Courier New"/>
              </a:rPr>
              <a:t># </a:t>
            </a:r>
            <a:endParaRPr b="0" lang="en-US" sz="920" strike="noStrike" u="none">
              <a:solidFill>
                <a:srgbClr val="000000"/>
              </a:solidFill>
              <a:effectLst/>
              <a:uFillTx/>
              <a:latin typeface="Times New Roman"/>
            </a:endParaRPr>
          </a:p>
        </p:txBody>
      </p:sp>
      <p:sp>
        <p:nvSpPr>
          <p:cNvPr id="604" name=""/>
          <p:cNvSpPr txBox="1"/>
          <p:nvPr/>
        </p:nvSpPr>
        <p:spPr>
          <a:xfrm>
            <a:off x="6896520" y="1809360"/>
            <a:ext cx="598320" cy="148320"/>
          </a:xfrm>
          <a:prstGeom prst="rect">
            <a:avLst/>
          </a:prstGeom>
          <a:noFill/>
          <a:ln w="0">
            <a:noFill/>
          </a:ln>
        </p:spPr>
        <p:txBody>
          <a:bodyPr wrap="none" lIns="0" rIns="0" tIns="0" bIns="0" anchor="t">
            <a:spAutoFit/>
          </a:bodyPr>
          <a:p>
            <a:r>
              <a:rPr b="0" lang="zh-CN" sz="920" strike="noStrike" u="none">
                <a:solidFill>
                  <a:srgbClr val="6a9955"/>
                </a:solidFill>
                <a:effectLst/>
                <a:uFillTx/>
                <a:latin typeface="WenQuanYiZenHei"/>
                <a:ea typeface="WenQuanYiZenHei"/>
              </a:rPr>
              <a:t>ピクセル数</a:t>
            </a:r>
            <a:endParaRPr b="0" lang="en-US" sz="920" strike="noStrike" u="none">
              <a:solidFill>
                <a:srgbClr val="000000"/>
              </a:solidFill>
              <a:effectLst/>
              <a:uFillTx/>
              <a:latin typeface="Times New Roman"/>
            </a:endParaRPr>
          </a:p>
        </p:txBody>
      </p:sp>
      <p:sp>
        <p:nvSpPr>
          <p:cNvPr id="605" name=""/>
          <p:cNvSpPr txBox="1"/>
          <p:nvPr/>
        </p:nvSpPr>
        <p:spPr>
          <a:xfrm>
            <a:off x="4930560" y="1991880"/>
            <a:ext cx="2113560" cy="132840"/>
          </a:xfrm>
          <a:prstGeom prst="rect">
            <a:avLst/>
          </a:prstGeom>
          <a:noFill/>
          <a:ln w="0">
            <a:noFill/>
          </a:ln>
        </p:spPr>
        <p:txBody>
          <a:bodyPr wrap="none" lIns="0" rIns="0" tIns="0" bIns="0" anchor="t">
            <a:spAutoFit/>
          </a:bodyPr>
          <a:p>
            <a:r>
              <a:rPr b="0" lang="en-US" sz="920" strike="noStrike" u="none">
                <a:solidFill>
                  <a:srgbClr val="9cdcfe"/>
                </a:solidFill>
                <a:effectLst/>
                <a:uFillTx/>
                <a:latin typeface="Courier New"/>
                <a:ea typeface="Courier New"/>
              </a:rPr>
              <a:t>pixel_pitch</a:t>
            </a:r>
            <a:r>
              <a:rPr b="0" lang="en-US" sz="920" strike="noStrike" u="none">
                <a:solidFill>
                  <a:srgbClr val="ffffff"/>
                </a:solidFill>
                <a:effectLst/>
                <a:uFillTx/>
                <a:latin typeface="Courier New"/>
                <a:ea typeface="Courier New"/>
              </a:rPr>
              <a:t> = </a:t>
            </a:r>
            <a:r>
              <a:rPr b="0" lang="en-US" sz="920" strike="noStrike" u="none">
                <a:solidFill>
                  <a:srgbClr val="b5cea8"/>
                </a:solidFill>
                <a:effectLst/>
                <a:uFillTx/>
                <a:latin typeface="Courier New"/>
                <a:ea typeface="Courier New"/>
              </a:rPr>
              <a:t>10e-6</a:t>
            </a:r>
            <a:r>
              <a:rPr b="0" lang="en-US" sz="920" strike="noStrike" u="none">
                <a:solidFill>
                  <a:srgbClr val="ffffff"/>
                </a:solidFill>
                <a:effectLst/>
                <a:uFillTx/>
                <a:latin typeface="Courier New"/>
                <a:ea typeface="Courier New"/>
              </a:rPr>
              <a:t>         </a:t>
            </a:r>
            <a:r>
              <a:rPr b="0" lang="en-US" sz="920" strike="noStrike" u="none">
                <a:solidFill>
                  <a:srgbClr val="6a9955"/>
                </a:solidFill>
                <a:effectLst/>
                <a:uFillTx/>
                <a:latin typeface="Courier New"/>
                <a:ea typeface="Courier New"/>
              </a:rPr>
              <a:t># </a:t>
            </a:r>
            <a:endParaRPr b="0" lang="en-US" sz="920" strike="noStrike" u="none">
              <a:solidFill>
                <a:srgbClr val="000000"/>
              </a:solidFill>
              <a:effectLst/>
              <a:uFillTx/>
              <a:latin typeface="Times New Roman"/>
            </a:endParaRPr>
          </a:p>
        </p:txBody>
      </p:sp>
      <p:sp>
        <p:nvSpPr>
          <p:cNvPr id="606" name=""/>
          <p:cNvSpPr txBox="1"/>
          <p:nvPr/>
        </p:nvSpPr>
        <p:spPr>
          <a:xfrm>
            <a:off x="7036920" y="1976400"/>
            <a:ext cx="841320" cy="148320"/>
          </a:xfrm>
          <a:prstGeom prst="rect">
            <a:avLst/>
          </a:prstGeom>
          <a:noFill/>
          <a:ln w="0">
            <a:noFill/>
          </a:ln>
        </p:spPr>
        <p:txBody>
          <a:bodyPr wrap="none" lIns="0" rIns="0" tIns="0" bIns="0" anchor="t">
            <a:spAutoFit/>
          </a:bodyPr>
          <a:p>
            <a:r>
              <a:rPr b="0" lang="zh-CN" sz="920" strike="noStrike" u="none">
                <a:solidFill>
                  <a:srgbClr val="6a9955"/>
                </a:solidFill>
                <a:effectLst/>
                <a:uFillTx/>
                <a:latin typeface="WenQuanYiZenHei"/>
                <a:ea typeface="WenQuanYiZenHei"/>
              </a:rPr>
              <a:t>ピクセルピッチ</a:t>
            </a:r>
            <a:endParaRPr b="0" lang="en-US" sz="920" strike="noStrike" u="none">
              <a:solidFill>
                <a:srgbClr val="000000"/>
              </a:solidFill>
              <a:effectLst/>
              <a:uFillTx/>
              <a:latin typeface="Times New Roman"/>
            </a:endParaRPr>
          </a:p>
        </p:txBody>
      </p:sp>
      <p:sp>
        <p:nvSpPr>
          <p:cNvPr id="607" name=""/>
          <p:cNvSpPr txBox="1"/>
          <p:nvPr/>
        </p:nvSpPr>
        <p:spPr>
          <a:xfrm>
            <a:off x="7855920" y="1991880"/>
            <a:ext cx="282240" cy="132840"/>
          </a:xfrm>
          <a:prstGeom prst="rect">
            <a:avLst/>
          </a:prstGeom>
          <a:noFill/>
          <a:ln w="0">
            <a:noFill/>
          </a:ln>
        </p:spPr>
        <p:txBody>
          <a:bodyPr wrap="none" lIns="0" rIns="0" tIns="0" bIns="0" anchor="t">
            <a:spAutoFit/>
          </a:bodyPr>
          <a:p>
            <a:r>
              <a:rPr b="0" lang="en-US" sz="920" strike="noStrike" u="none">
                <a:solidFill>
                  <a:srgbClr val="6a9955"/>
                </a:solidFill>
                <a:effectLst/>
                <a:uFillTx/>
                <a:latin typeface="Courier New"/>
                <a:ea typeface="Courier New"/>
              </a:rPr>
              <a:t> (m)</a:t>
            </a:r>
            <a:endParaRPr b="0" lang="en-US" sz="920" strike="noStrike" u="none">
              <a:solidFill>
                <a:srgbClr val="000000"/>
              </a:solidFill>
              <a:effectLst/>
              <a:uFillTx/>
              <a:latin typeface="Times New Roman"/>
            </a:endParaRPr>
          </a:p>
        </p:txBody>
      </p:sp>
      <p:sp>
        <p:nvSpPr>
          <p:cNvPr id="608" name=""/>
          <p:cNvSpPr txBox="1"/>
          <p:nvPr/>
        </p:nvSpPr>
        <p:spPr>
          <a:xfrm>
            <a:off x="4930560" y="2158920"/>
            <a:ext cx="2043000" cy="132840"/>
          </a:xfrm>
          <a:prstGeom prst="rect">
            <a:avLst/>
          </a:prstGeom>
          <a:noFill/>
          <a:ln w="0">
            <a:noFill/>
          </a:ln>
        </p:spPr>
        <p:txBody>
          <a:bodyPr wrap="none" lIns="0" rIns="0" tIns="0" bIns="0" anchor="t">
            <a:spAutoFit/>
          </a:bodyPr>
          <a:p>
            <a:r>
              <a:rPr b="0" lang="en-US" sz="920" strike="noStrike" u="none">
                <a:solidFill>
                  <a:srgbClr val="9cdcfe"/>
                </a:solidFill>
                <a:effectLst/>
                <a:uFillTx/>
                <a:latin typeface="Courier New"/>
                <a:ea typeface="Courier New"/>
              </a:rPr>
              <a:t>wavelength</a:t>
            </a:r>
            <a:r>
              <a:rPr b="0" lang="en-US" sz="920" strike="noStrike" u="none">
                <a:solidFill>
                  <a:srgbClr val="ffffff"/>
                </a:solidFill>
                <a:effectLst/>
                <a:uFillTx/>
                <a:latin typeface="Courier New"/>
                <a:ea typeface="Courier New"/>
              </a:rPr>
              <a:t> = </a:t>
            </a:r>
            <a:r>
              <a:rPr b="0" lang="en-US" sz="920" strike="noStrike" u="none">
                <a:solidFill>
                  <a:srgbClr val="b5cea8"/>
                </a:solidFill>
                <a:effectLst/>
                <a:uFillTx/>
                <a:latin typeface="Courier New"/>
                <a:ea typeface="Courier New"/>
              </a:rPr>
              <a:t>633e-9</a:t>
            </a:r>
            <a:r>
              <a:rPr b="0" lang="en-US" sz="920" strike="noStrike" u="none">
                <a:solidFill>
                  <a:srgbClr val="ffffff"/>
                </a:solidFill>
                <a:effectLst/>
                <a:uFillTx/>
                <a:latin typeface="Courier New"/>
                <a:ea typeface="Courier New"/>
              </a:rPr>
              <a:t>        </a:t>
            </a:r>
            <a:r>
              <a:rPr b="0" lang="en-US" sz="920" strike="noStrike" u="none">
                <a:solidFill>
                  <a:srgbClr val="6a9955"/>
                </a:solidFill>
                <a:effectLst/>
                <a:uFillTx/>
                <a:latin typeface="Courier New"/>
                <a:ea typeface="Courier New"/>
              </a:rPr>
              <a:t># </a:t>
            </a:r>
            <a:endParaRPr b="0" lang="en-US" sz="920" strike="noStrike" u="none">
              <a:solidFill>
                <a:srgbClr val="000000"/>
              </a:solidFill>
              <a:effectLst/>
              <a:uFillTx/>
              <a:latin typeface="Times New Roman"/>
            </a:endParaRPr>
          </a:p>
        </p:txBody>
      </p:sp>
      <p:sp>
        <p:nvSpPr>
          <p:cNvPr id="609" name=""/>
          <p:cNvSpPr txBox="1"/>
          <p:nvPr/>
        </p:nvSpPr>
        <p:spPr>
          <a:xfrm>
            <a:off x="6966720" y="2143800"/>
            <a:ext cx="235440" cy="148320"/>
          </a:xfrm>
          <a:prstGeom prst="rect">
            <a:avLst/>
          </a:prstGeom>
          <a:noFill/>
          <a:ln w="0">
            <a:noFill/>
          </a:ln>
        </p:spPr>
        <p:txBody>
          <a:bodyPr wrap="none" lIns="0" rIns="0" tIns="0" bIns="0" anchor="t">
            <a:spAutoFit/>
          </a:bodyPr>
          <a:p>
            <a:r>
              <a:rPr b="0" lang="zh-CN" sz="920" strike="noStrike" u="none">
                <a:solidFill>
                  <a:srgbClr val="6a9955"/>
                </a:solidFill>
                <a:effectLst/>
                <a:uFillTx/>
                <a:latin typeface="WenQuanYiZenHei"/>
                <a:ea typeface="WenQuanYiZenHei"/>
              </a:rPr>
              <a:t>波長</a:t>
            </a:r>
            <a:endParaRPr b="0" lang="en-US" sz="920" strike="noStrike" u="none">
              <a:solidFill>
                <a:srgbClr val="000000"/>
              </a:solidFill>
              <a:effectLst/>
              <a:uFillTx/>
              <a:latin typeface="Times New Roman"/>
            </a:endParaRPr>
          </a:p>
        </p:txBody>
      </p:sp>
      <p:sp>
        <p:nvSpPr>
          <p:cNvPr id="610" name=""/>
          <p:cNvSpPr txBox="1"/>
          <p:nvPr/>
        </p:nvSpPr>
        <p:spPr>
          <a:xfrm>
            <a:off x="7200720" y="2158920"/>
            <a:ext cx="282240" cy="132840"/>
          </a:xfrm>
          <a:prstGeom prst="rect">
            <a:avLst/>
          </a:prstGeom>
          <a:noFill/>
          <a:ln w="0">
            <a:noFill/>
          </a:ln>
        </p:spPr>
        <p:txBody>
          <a:bodyPr wrap="none" lIns="0" rIns="0" tIns="0" bIns="0" anchor="t">
            <a:spAutoFit/>
          </a:bodyPr>
          <a:p>
            <a:r>
              <a:rPr b="0" lang="en-US" sz="920" strike="noStrike" u="none">
                <a:solidFill>
                  <a:srgbClr val="6a9955"/>
                </a:solidFill>
                <a:effectLst/>
                <a:uFillTx/>
                <a:latin typeface="Courier New"/>
                <a:ea typeface="Courier New"/>
              </a:rPr>
              <a:t> (m)</a:t>
            </a:r>
            <a:endParaRPr b="0" lang="en-US" sz="920" strike="noStrike" u="none">
              <a:solidFill>
                <a:srgbClr val="000000"/>
              </a:solidFill>
              <a:effectLst/>
              <a:uFillTx/>
              <a:latin typeface="Times New Roman"/>
            </a:endParaRPr>
          </a:p>
        </p:txBody>
      </p:sp>
      <p:sp>
        <p:nvSpPr>
          <p:cNvPr id="611" name=""/>
          <p:cNvSpPr txBox="1"/>
          <p:nvPr/>
        </p:nvSpPr>
        <p:spPr>
          <a:xfrm>
            <a:off x="4930560" y="2325960"/>
            <a:ext cx="1972440" cy="132840"/>
          </a:xfrm>
          <a:prstGeom prst="rect">
            <a:avLst/>
          </a:prstGeom>
          <a:noFill/>
          <a:ln w="0">
            <a:noFill/>
          </a:ln>
        </p:spPr>
        <p:txBody>
          <a:bodyPr wrap="none" lIns="0" rIns="0" tIns="0" bIns="0" anchor="t">
            <a:spAutoFit/>
          </a:bodyPr>
          <a:p>
            <a:r>
              <a:rPr b="0" lang="en-US" sz="920" strike="noStrike" u="none">
                <a:solidFill>
                  <a:srgbClr val="9cdcfe"/>
                </a:solidFill>
                <a:effectLst/>
                <a:uFillTx/>
                <a:latin typeface="Courier New"/>
                <a:ea typeface="Courier New"/>
              </a:rPr>
              <a:t>f_eye</a:t>
            </a:r>
            <a:r>
              <a:rPr b="0" lang="en-US" sz="920" strike="noStrike" u="none">
                <a:solidFill>
                  <a:srgbClr val="ffffff"/>
                </a:solidFill>
                <a:effectLst/>
                <a:uFillTx/>
                <a:latin typeface="Courier New"/>
                <a:ea typeface="Courier New"/>
              </a:rPr>
              <a:t> = </a:t>
            </a:r>
            <a:r>
              <a:rPr b="0" lang="en-US" sz="920" strike="noStrike" u="none">
                <a:solidFill>
                  <a:srgbClr val="b5cea8"/>
                </a:solidFill>
                <a:effectLst/>
                <a:uFillTx/>
                <a:latin typeface="Courier New"/>
                <a:ea typeface="Courier New"/>
              </a:rPr>
              <a:t>22e-3</a:t>
            </a:r>
            <a:r>
              <a:rPr b="0" lang="en-US" sz="920" strike="noStrike" u="none">
                <a:solidFill>
                  <a:srgbClr val="ffffff"/>
                </a:solidFill>
                <a:effectLst/>
                <a:uFillTx/>
                <a:latin typeface="Courier New"/>
                <a:ea typeface="Courier New"/>
              </a:rPr>
              <a:t>             </a:t>
            </a:r>
            <a:r>
              <a:rPr b="0" lang="en-US" sz="920" strike="noStrike" u="none">
                <a:solidFill>
                  <a:srgbClr val="6a9955"/>
                </a:solidFill>
                <a:effectLst/>
                <a:uFillTx/>
                <a:latin typeface="Courier New"/>
                <a:ea typeface="Courier New"/>
              </a:rPr>
              <a:t># </a:t>
            </a:r>
            <a:endParaRPr b="0" lang="en-US" sz="920" strike="noStrike" u="none">
              <a:solidFill>
                <a:srgbClr val="000000"/>
              </a:solidFill>
              <a:effectLst/>
              <a:uFillTx/>
              <a:latin typeface="Times New Roman"/>
            </a:endParaRPr>
          </a:p>
        </p:txBody>
      </p:sp>
      <p:sp>
        <p:nvSpPr>
          <p:cNvPr id="612" name=""/>
          <p:cNvSpPr txBox="1"/>
          <p:nvPr/>
        </p:nvSpPr>
        <p:spPr>
          <a:xfrm>
            <a:off x="6896520" y="2310840"/>
            <a:ext cx="824760" cy="148320"/>
          </a:xfrm>
          <a:prstGeom prst="rect">
            <a:avLst/>
          </a:prstGeom>
          <a:noFill/>
          <a:ln w="0">
            <a:noFill/>
          </a:ln>
        </p:spPr>
        <p:txBody>
          <a:bodyPr wrap="none" lIns="0" rIns="0" tIns="0" bIns="0" anchor="t">
            <a:spAutoFit/>
          </a:bodyPr>
          <a:p>
            <a:r>
              <a:rPr b="0" lang="zh-CN" sz="920" strike="noStrike" u="none">
                <a:solidFill>
                  <a:srgbClr val="6a9955"/>
                </a:solidFill>
                <a:effectLst/>
                <a:uFillTx/>
                <a:latin typeface="WenQuanYiZenHei"/>
                <a:ea typeface="WenQuanYiZenHei"/>
              </a:rPr>
              <a:t>眼球の焦点距離</a:t>
            </a:r>
            <a:endParaRPr b="0" lang="en-US" sz="920" strike="noStrike" u="none">
              <a:solidFill>
                <a:srgbClr val="000000"/>
              </a:solidFill>
              <a:effectLst/>
              <a:uFillTx/>
              <a:latin typeface="Times New Roman"/>
            </a:endParaRPr>
          </a:p>
        </p:txBody>
      </p:sp>
      <p:sp>
        <p:nvSpPr>
          <p:cNvPr id="613" name=""/>
          <p:cNvSpPr txBox="1"/>
          <p:nvPr/>
        </p:nvSpPr>
        <p:spPr>
          <a:xfrm>
            <a:off x="7715520" y="2325960"/>
            <a:ext cx="282240" cy="132840"/>
          </a:xfrm>
          <a:prstGeom prst="rect">
            <a:avLst/>
          </a:prstGeom>
          <a:noFill/>
          <a:ln w="0">
            <a:noFill/>
          </a:ln>
        </p:spPr>
        <p:txBody>
          <a:bodyPr wrap="none" lIns="0" rIns="0" tIns="0" bIns="0" anchor="t">
            <a:spAutoFit/>
          </a:bodyPr>
          <a:p>
            <a:r>
              <a:rPr b="0" lang="en-US" sz="920" strike="noStrike" u="none">
                <a:solidFill>
                  <a:srgbClr val="6a9955"/>
                </a:solidFill>
                <a:effectLst/>
                <a:uFillTx/>
                <a:latin typeface="Courier New"/>
                <a:ea typeface="Courier New"/>
              </a:rPr>
              <a:t> (m)</a:t>
            </a:r>
            <a:endParaRPr b="0" lang="en-US" sz="920" strike="noStrike" u="none">
              <a:solidFill>
                <a:srgbClr val="000000"/>
              </a:solidFill>
              <a:effectLst/>
              <a:uFillTx/>
              <a:latin typeface="Times New Roman"/>
            </a:endParaRPr>
          </a:p>
        </p:txBody>
      </p:sp>
      <p:sp>
        <p:nvSpPr>
          <p:cNvPr id="614" name=""/>
          <p:cNvSpPr txBox="1"/>
          <p:nvPr/>
        </p:nvSpPr>
        <p:spPr>
          <a:xfrm>
            <a:off x="4930560" y="2493000"/>
            <a:ext cx="2043000" cy="132840"/>
          </a:xfrm>
          <a:prstGeom prst="rect">
            <a:avLst/>
          </a:prstGeom>
          <a:noFill/>
          <a:ln w="0">
            <a:noFill/>
          </a:ln>
        </p:spPr>
        <p:txBody>
          <a:bodyPr wrap="none" lIns="0" rIns="0" tIns="0" bIns="0" anchor="t">
            <a:spAutoFit/>
          </a:bodyPr>
          <a:p>
            <a:r>
              <a:rPr b="0" lang="en-US" sz="920" strike="noStrike" u="none">
                <a:solidFill>
                  <a:srgbClr val="9cdcfe"/>
                </a:solidFill>
                <a:effectLst/>
                <a:uFillTx/>
                <a:latin typeface="Courier New"/>
                <a:ea typeface="Courier New"/>
              </a:rPr>
              <a:t>pupil_diameter</a:t>
            </a:r>
            <a:r>
              <a:rPr b="0" lang="en-US" sz="920" strike="noStrike" u="none">
                <a:solidFill>
                  <a:srgbClr val="ffffff"/>
                </a:solidFill>
                <a:effectLst/>
                <a:uFillTx/>
                <a:latin typeface="Courier New"/>
                <a:ea typeface="Courier New"/>
              </a:rPr>
              <a:t> = </a:t>
            </a:r>
            <a:r>
              <a:rPr b="0" lang="en-US" sz="920" strike="noStrike" u="none">
                <a:solidFill>
                  <a:srgbClr val="b5cea8"/>
                </a:solidFill>
                <a:effectLst/>
                <a:uFillTx/>
                <a:latin typeface="Courier New"/>
                <a:ea typeface="Courier New"/>
              </a:rPr>
              <a:t>4e-3</a:t>
            </a:r>
            <a:r>
              <a:rPr b="0" lang="en-US" sz="920" strike="noStrike" u="none">
                <a:solidFill>
                  <a:srgbClr val="ffffff"/>
                </a:solidFill>
                <a:effectLst/>
                <a:uFillTx/>
                <a:latin typeface="Courier New"/>
                <a:ea typeface="Courier New"/>
              </a:rPr>
              <a:t>      </a:t>
            </a:r>
            <a:r>
              <a:rPr b="0" lang="en-US" sz="920" strike="noStrike" u="none">
                <a:solidFill>
                  <a:srgbClr val="6a9955"/>
                </a:solidFill>
                <a:effectLst/>
                <a:uFillTx/>
                <a:latin typeface="Courier New"/>
                <a:ea typeface="Courier New"/>
              </a:rPr>
              <a:t># </a:t>
            </a:r>
            <a:endParaRPr b="0" lang="en-US" sz="920" strike="noStrike" u="none">
              <a:solidFill>
                <a:srgbClr val="000000"/>
              </a:solidFill>
              <a:effectLst/>
              <a:uFillTx/>
              <a:latin typeface="Times New Roman"/>
            </a:endParaRPr>
          </a:p>
        </p:txBody>
      </p:sp>
      <p:sp>
        <p:nvSpPr>
          <p:cNvPr id="615" name=""/>
          <p:cNvSpPr txBox="1"/>
          <p:nvPr/>
        </p:nvSpPr>
        <p:spPr>
          <a:xfrm>
            <a:off x="6966720" y="2477880"/>
            <a:ext cx="235440" cy="148320"/>
          </a:xfrm>
          <a:prstGeom prst="rect">
            <a:avLst/>
          </a:prstGeom>
          <a:noFill/>
          <a:ln w="0">
            <a:noFill/>
          </a:ln>
        </p:spPr>
        <p:txBody>
          <a:bodyPr wrap="none" lIns="0" rIns="0" tIns="0" bIns="0" anchor="t">
            <a:spAutoFit/>
          </a:bodyPr>
          <a:p>
            <a:r>
              <a:rPr b="0" lang="zh-CN" sz="920" strike="noStrike" u="none">
                <a:solidFill>
                  <a:srgbClr val="6a9955"/>
                </a:solidFill>
                <a:effectLst/>
                <a:uFillTx/>
                <a:latin typeface="WenQuanYiZenHei"/>
                <a:ea typeface="WenQuanYiZenHei"/>
              </a:rPr>
              <a:t>瞳径</a:t>
            </a:r>
            <a:endParaRPr b="0" lang="en-US" sz="920" strike="noStrike" u="none">
              <a:solidFill>
                <a:srgbClr val="000000"/>
              </a:solidFill>
              <a:effectLst/>
              <a:uFillTx/>
              <a:latin typeface="Times New Roman"/>
            </a:endParaRPr>
          </a:p>
        </p:txBody>
      </p:sp>
      <p:sp>
        <p:nvSpPr>
          <p:cNvPr id="616" name=""/>
          <p:cNvSpPr txBox="1"/>
          <p:nvPr/>
        </p:nvSpPr>
        <p:spPr>
          <a:xfrm>
            <a:off x="7200720" y="2493000"/>
            <a:ext cx="282240" cy="132840"/>
          </a:xfrm>
          <a:prstGeom prst="rect">
            <a:avLst/>
          </a:prstGeom>
          <a:noFill/>
          <a:ln w="0">
            <a:noFill/>
          </a:ln>
        </p:spPr>
        <p:txBody>
          <a:bodyPr wrap="none" lIns="0" rIns="0" tIns="0" bIns="0" anchor="t">
            <a:spAutoFit/>
          </a:bodyPr>
          <a:p>
            <a:r>
              <a:rPr b="0" lang="en-US" sz="920" strike="noStrike" u="none">
                <a:solidFill>
                  <a:srgbClr val="6a9955"/>
                </a:solidFill>
                <a:effectLst/>
                <a:uFillTx/>
                <a:latin typeface="Courier New"/>
                <a:ea typeface="Courier New"/>
              </a:rPr>
              <a:t> (m)</a:t>
            </a:r>
            <a:endParaRPr b="0" lang="en-US" sz="920" strike="noStrike" u="none">
              <a:solidFill>
                <a:srgbClr val="000000"/>
              </a:solidFill>
              <a:effectLst/>
              <a:uFillTx/>
              <a:latin typeface="Times New Roman"/>
            </a:endParaRPr>
          </a:p>
        </p:txBody>
      </p:sp>
      <p:sp>
        <p:nvSpPr>
          <p:cNvPr id="617" name=""/>
          <p:cNvSpPr txBox="1"/>
          <p:nvPr/>
        </p:nvSpPr>
        <p:spPr>
          <a:xfrm>
            <a:off x="4930560" y="2827440"/>
            <a:ext cx="141480" cy="132840"/>
          </a:xfrm>
          <a:prstGeom prst="rect">
            <a:avLst/>
          </a:prstGeom>
          <a:noFill/>
          <a:ln w="0">
            <a:noFill/>
          </a:ln>
        </p:spPr>
        <p:txBody>
          <a:bodyPr wrap="none" lIns="0" rIns="0" tIns="0" bIns="0" anchor="t">
            <a:spAutoFit/>
          </a:bodyPr>
          <a:p>
            <a:r>
              <a:rPr b="0" lang="en-US" sz="920" strike="noStrike" u="none">
                <a:solidFill>
                  <a:srgbClr val="6a9955"/>
                </a:solidFill>
                <a:effectLst/>
                <a:uFillTx/>
                <a:latin typeface="Courier New"/>
                <a:ea typeface="Courier New"/>
              </a:rPr>
              <a:t># </a:t>
            </a:r>
            <a:endParaRPr b="0" lang="en-US" sz="920" strike="noStrike" u="none">
              <a:solidFill>
                <a:srgbClr val="000000"/>
              </a:solidFill>
              <a:effectLst/>
              <a:uFillTx/>
              <a:latin typeface="Times New Roman"/>
            </a:endParaRPr>
          </a:p>
        </p:txBody>
      </p:sp>
      <p:sp>
        <p:nvSpPr>
          <p:cNvPr id="618" name=""/>
          <p:cNvSpPr txBox="1"/>
          <p:nvPr/>
        </p:nvSpPr>
        <p:spPr>
          <a:xfrm>
            <a:off x="5070960" y="2812320"/>
            <a:ext cx="590040" cy="148320"/>
          </a:xfrm>
          <a:prstGeom prst="rect">
            <a:avLst/>
          </a:prstGeom>
          <a:noFill/>
          <a:ln w="0">
            <a:noFill/>
          </a:ln>
        </p:spPr>
        <p:txBody>
          <a:bodyPr wrap="none" lIns="0" rIns="0" tIns="0" bIns="0" anchor="t">
            <a:spAutoFit/>
          </a:bodyPr>
          <a:p>
            <a:r>
              <a:rPr b="0" lang="zh-CN" sz="920" strike="noStrike" u="none">
                <a:solidFill>
                  <a:srgbClr val="6a9955"/>
                </a:solidFill>
                <a:effectLst/>
                <a:uFillTx/>
                <a:latin typeface="WenQuanYiZenHei"/>
                <a:ea typeface="WenQuanYiZenHei"/>
              </a:rPr>
              <a:t>波数の計算</a:t>
            </a:r>
            <a:endParaRPr b="0" lang="en-US" sz="920" strike="noStrike" u="none">
              <a:solidFill>
                <a:srgbClr val="000000"/>
              </a:solidFill>
              <a:effectLst/>
              <a:uFillTx/>
              <a:latin typeface="Times New Roman"/>
            </a:endParaRPr>
          </a:p>
        </p:txBody>
      </p:sp>
      <p:sp>
        <p:nvSpPr>
          <p:cNvPr id="619" name=""/>
          <p:cNvSpPr txBox="1"/>
          <p:nvPr/>
        </p:nvSpPr>
        <p:spPr>
          <a:xfrm>
            <a:off x="4930560" y="2994480"/>
            <a:ext cx="1832040" cy="132840"/>
          </a:xfrm>
          <a:prstGeom prst="rect">
            <a:avLst/>
          </a:prstGeom>
          <a:noFill/>
          <a:ln w="0">
            <a:noFill/>
          </a:ln>
        </p:spPr>
        <p:txBody>
          <a:bodyPr wrap="none" lIns="0" rIns="0" tIns="0" bIns="0" anchor="t">
            <a:spAutoFit/>
          </a:bodyPr>
          <a:p>
            <a:r>
              <a:rPr b="0" lang="en-US" sz="920" strike="noStrike" u="none">
                <a:solidFill>
                  <a:srgbClr val="9cdcfe"/>
                </a:solidFill>
                <a:effectLst/>
                <a:uFillTx/>
                <a:latin typeface="Courier New"/>
                <a:ea typeface="Courier New"/>
              </a:rPr>
              <a:t>k</a:t>
            </a:r>
            <a:r>
              <a:rPr b="0" lang="en-US" sz="920" strike="noStrike" u="none">
                <a:solidFill>
                  <a:srgbClr val="ffffff"/>
                </a:solidFill>
                <a:effectLst/>
                <a:uFillTx/>
                <a:latin typeface="Courier New"/>
                <a:ea typeface="Courier New"/>
              </a:rPr>
              <a:t> = </a:t>
            </a:r>
            <a:r>
              <a:rPr b="0" lang="en-US" sz="920" strike="noStrike" u="none">
                <a:solidFill>
                  <a:srgbClr val="b5cea8"/>
                </a:solidFill>
                <a:effectLst/>
                <a:uFillTx/>
                <a:latin typeface="Courier New"/>
                <a:ea typeface="Courier New"/>
              </a:rPr>
              <a:t>2</a:t>
            </a:r>
            <a:r>
              <a:rPr b="0" lang="en-US" sz="920" strike="noStrike" u="none">
                <a:solidFill>
                  <a:srgbClr val="ffffff"/>
                </a:solidFill>
                <a:effectLst/>
                <a:uFillTx/>
                <a:latin typeface="Courier New"/>
                <a:ea typeface="Courier New"/>
              </a:rPr>
              <a:t> * np.pi / </a:t>
            </a:r>
            <a:r>
              <a:rPr b="0" lang="en-US" sz="920" strike="noStrike" u="none">
                <a:solidFill>
                  <a:srgbClr val="9cdcfe"/>
                </a:solidFill>
                <a:effectLst/>
                <a:uFillTx/>
                <a:latin typeface="Courier New"/>
                <a:ea typeface="Courier New"/>
              </a:rPr>
              <a:t>wavelength</a:t>
            </a:r>
            <a:endParaRPr b="0" lang="en-US" sz="920" strike="noStrike" u="none">
              <a:solidFill>
                <a:srgbClr val="000000"/>
              </a:solidFill>
              <a:effectLst/>
              <a:uFillTx/>
              <a:latin typeface="Times New Roman"/>
            </a:endParaRPr>
          </a:p>
        </p:txBody>
      </p:sp>
      <p:sp>
        <p:nvSpPr>
          <p:cNvPr id="620" name=""/>
          <p:cNvSpPr txBox="1"/>
          <p:nvPr/>
        </p:nvSpPr>
        <p:spPr>
          <a:xfrm>
            <a:off x="4930560" y="3328920"/>
            <a:ext cx="141480" cy="132840"/>
          </a:xfrm>
          <a:prstGeom prst="rect">
            <a:avLst/>
          </a:prstGeom>
          <a:noFill/>
          <a:ln w="0">
            <a:noFill/>
          </a:ln>
        </p:spPr>
        <p:txBody>
          <a:bodyPr wrap="none" lIns="0" rIns="0" tIns="0" bIns="0" anchor="t">
            <a:spAutoFit/>
          </a:bodyPr>
          <a:p>
            <a:r>
              <a:rPr b="0" lang="en-US" sz="920" strike="noStrike" u="none">
                <a:solidFill>
                  <a:srgbClr val="6a9955"/>
                </a:solidFill>
                <a:effectLst/>
                <a:uFillTx/>
                <a:latin typeface="Courier New"/>
                <a:ea typeface="Courier New"/>
              </a:rPr>
              <a:t># </a:t>
            </a:r>
            <a:endParaRPr b="0" lang="en-US" sz="920" strike="noStrike" u="none">
              <a:solidFill>
                <a:srgbClr val="000000"/>
              </a:solidFill>
              <a:effectLst/>
              <a:uFillTx/>
              <a:latin typeface="Times New Roman"/>
            </a:endParaRPr>
          </a:p>
        </p:txBody>
      </p:sp>
      <p:sp>
        <p:nvSpPr>
          <p:cNvPr id="621" name=""/>
          <p:cNvSpPr txBox="1"/>
          <p:nvPr/>
        </p:nvSpPr>
        <p:spPr>
          <a:xfrm>
            <a:off x="5070960" y="3313440"/>
            <a:ext cx="2255040" cy="148320"/>
          </a:xfrm>
          <a:prstGeom prst="rect">
            <a:avLst/>
          </a:prstGeom>
          <a:noFill/>
          <a:ln w="0">
            <a:noFill/>
          </a:ln>
        </p:spPr>
        <p:txBody>
          <a:bodyPr wrap="none" lIns="0" rIns="0" tIns="0" bIns="0" anchor="t">
            <a:spAutoFit/>
          </a:bodyPr>
          <a:p>
            <a:r>
              <a:rPr b="0" lang="zh-CN" sz="920" strike="noStrike" u="none">
                <a:solidFill>
                  <a:srgbClr val="6a9955"/>
                </a:solidFill>
                <a:effectLst/>
                <a:uFillTx/>
                <a:latin typeface="WenQuanYiZenHei"/>
                <a:ea typeface="WenQuanYiZenHei"/>
              </a:rPr>
              <a:t>座標グリッドの生成（中心を原点とする）</a:t>
            </a:r>
            <a:endParaRPr b="0" lang="en-US" sz="920" strike="noStrike" u="none">
              <a:solidFill>
                <a:srgbClr val="000000"/>
              </a:solidFill>
              <a:effectLst/>
              <a:uFillTx/>
              <a:latin typeface="Times New Roman"/>
            </a:endParaRPr>
          </a:p>
        </p:txBody>
      </p:sp>
      <p:sp>
        <p:nvSpPr>
          <p:cNvPr id="622" name=""/>
          <p:cNvSpPr txBox="1"/>
          <p:nvPr/>
        </p:nvSpPr>
        <p:spPr>
          <a:xfrm>
            <a:off x="4930560" y="3495960"/>
            <a:ext cx="3311640" cy="132840"/>
          </a:xfrm>
          <a:prstGeom prst="rect">
            <a:avLst/>
          </a:prstGeom>
          <a:noFill/>
          <a:ln w="0">
            <a:noFill/>
          </a:ln>
        </p:spPr>
        <p:txBody>
          <a:bodyPr wrap="none" lIns="0" rIns="0" tIns="0" bIns="0" anchor="t">
            <a:spAutoFit/>
          </a:bodyPr>
          <a:p>
            <a:r>
              <a:rPr b="0" lang="en-US" sz="920" strike="noStrike" u="none">
                <a:solidFill>
                  <a:srgbClr val="9cdcfe"/>
                </a:solidFill>
                <a:effectLst/>
                <a:uFillTx/>
                <a:latin typeface="Courier New"/>
                <a:ea typeface="Courier New"/>
              </a:rPr>
              <a:t>x</a:t>
            </a:r>
            <a:r>
              <a:rPr b="0" lang="en-US" sz="920" strike="noStrike" u="none">
                <a:solidFill>
                  <a:srgbClr val="ffffff"/>
                </a:solidFill>
                <a:effectLst/>
                <a:uFillTx/>
                <a:latin typeface="Courier New"/>
                <a:ea typeface="Courier New"/>
              </a:rPr>
              <a:t> = np.linspace(-</a:t>
            </a:r>
            <a:r>
              <a:rPr b="0" lang="en-US" sz="920" strike="noStrike" u="none">
                <a:solidFill>
                  <a:srgbClr val="9cdcfe"/>
                </a:solidFill>
                <a:effectLst/>
                <a:uFillTx/>
                <a:latin typeface="Courier New"/>
                <a:ea typeface="Courier New"/>
              </a:rPr>
              <a:t>N</a:t>
            </a:r>
            <a:r>
              <a:rPr b="0" lang="en-US" sz="920" strike="noStrike" u="none">
                <a:solidFill>
                  <a:srgbClr val="ffffff"/>
                </a:solidFill>
                <a:effectLst/>
                <a:uFillTx/>
                <a:latin typeface="Courier New"/>
                <a:ea typeface="Courier New"/>
              </a:rPr>
              <a:t>/</a:t>
            </a:r>
            <a:r>
              <a:rPr b="0" lang="en-US" sz="920" strike="noStrike" u="none">
                <a:solidFill>
                  <a:srgbClr val="b5cea8"/>
                </a:solidFill>
                <a:effectLst/>
                <a:uFillTx/>
                <a:latin typeface="Courier New"/>
                <a:ea typeface="Courier New"/>
              </a:rPr>
              <a:t>2</a:t>
            </a:r>
            <a:r>
              <a:rPr b="0" lang="en-US" sz="920" strike="noStrike" u="none">
                <a:solidFill>
                  <a:srgbClr val="ffffff"/>
                </a:solidFill>
                <a:effectLst/>
                <a:uFillTx/>
                <a:latin typeface="Courier New"/>
                <a:ea typeface="Courier New"/>
              </a:rPr>
              <a:t>, </a:t>
            </a:r>
            <a:r>
              <a:rPr b="0" lang="en-US" sz="920" strike="noStrike" u="none">
                <a:solidFill>
                  <a:srgbClr val="9cdcfe"/>
                </a:solidFill>
                <a:effectLst/>
                <a:uFillTx/>
                <a:latin typeface="Courier New"/>
                <a:ea typeface="Courier New"/>
              </a:rPr>
              <a:t>N</a:t>
            </a:r>
            <a:r>
              <a:rPr b="0" lang="en-US" sz="920" strike="noStrike" u="none">
                <a:solidFill>
                  <a:srgbClr val="ffffff"/>
                </a:solidFill>
                <a:effectLst/>
                <a:uFillTx/>
                <a:latin typeface="Courier New"/>
                <a:ea typeface="Courier New"/>
              </a:rPr>
              <a:t>/</a:t>
            </a:r>
            <a:r>
              <a:rPr b="0" lang="en-US" sz="920" strike="noStrike" u="none">
                <a:solidFill>
                  <a:srgbClr val="b5cea8"/>
                </a:solidFill>
                <a:effectLst/>
                <a:uFillTx/>
                <a:latin typeface="Courier New"/>
                <a:ea typeface="Courier New"/>
              </a:rPr>
              <a:t>2</a:t>
            </a:r>
            <a:r>
              <a:rPr b="0" lang="en-US" sz="920" strike="noStrike" u="none">
                <a:solidFill>
                  <a:srgbClr val="ffffff"/>
                </a:solidFill>
                <a:effectLst/>
                <a:uFillTx/>
                <a:latin typeface="Courier New"/>
                <a:ea typeface="Courier New"/>
              </a:rPr>
              <a:t> - </a:t>
            </a:r>
            <a:r>
              <a:rPr b="0" lang="en-US" sz="920" strike="noStrike" u="none">
                <a:solidFill>
                  <a:srgbClr val="b5cea8"/>
                </a:solidFill>
                <a:effectLst/>
                <a:uFillTx/>
                <a:latin typeface="Courier New"/>
                <a:ea typeface="Courier New"/>
              </a:rPr>
              <a:t>1</a:t>
            </a:r>
            <a:r>
              <a:rPr b="0" lang="en-US" sz="920" strike="noStrike" u="none">
                <a:solidFill>
                  <a:srgbClr val="ffffff"/>
                </a:solidFill>
                <a:effectLst/>
                <a:uFillTx/>
                <a:latin typeface="Courier New"/>
                <a:ea typeface="Courier New"/>
              </a:rPr>
              <a:t>, </a:t>
            </a:r>
            <a:r>
              <a:rPr b="0" lang="en-US" sz="920" strike="noStrike" u="none">
                <a:solidFill>
                  <a:srgbClr val="9cdcfe"/>
                </a:solidFill>
                <a:effectLst/>
                <a:uFillTx/>
                <a:latin typeface="Courier New"/>
                <a:ea typeface="Courier New"/>
              </a:rPr>
              <a:t>N</a:t>
            </a:r>
            <a:r>
              <a:rPr b="0" lang="en-US" sz="920" strike="noStrike" u="none">
                <a:solidFill>
                  <a:srgbClr val="ffffff"/>
                </a:solidFill>
                <a:effectLst/>
                <a:uFillTx/>
                <a:latin typeface="Courier New"/>
                <a:ea typeface="Courier New"/>
              </a:rPr>
              <a:t>) * </a:t>
            </a:r>
            <a:r>
              <a:rPr b="0" lang="en-US" sz="920" strike="noStrike" u="none">
                <a:solidFill>
                  <a:srgbClr val="9cdcfe"/>
                </a:solidFill>
                <a:effectLst/>
                <a:uFillTx/>
                <a:latin typeface="Courier New"/>
                <a:ea typeface="Courier New"/>
              </a:rPr>
              <a:t>pixel_pitch</a:t>
            </a:r>
            <a:endParaRPr b="0" lang="en-US" sz="920" strike="noStrike" u="none">
              <a:solidFill>
                <a:srgbClr val="000000"/>
              </a:solidFill>
              <a:effectLst/>
              <a:uFillTx/>
              <a:latin typeface="Times New Roman"/>
            </a:endParaRPr>
          </a:p>
        </p:txBody>
      </p:sp>
      <p:sp>
        <p:nvSpPr>
          <p:cNvPr id="623" name=""/>
          <p:cNvSpPr txBox="1"/>
          <p:nvPr/>
        </p:nvSpPr>
        <p:spPr>
          <a:xfrm>
            <a:off x="4930560" y="3663000"/>
            <a:ext cx="3311640" cy="132840"/>
          </a:xfrm>
          <a:prstGeom prst="rect">
            <a:avLst/>
          </a:prstGeom>
          <a:noFill/>
          <a:ln w="0">
            <a:noFill/>
          </a:ln>
        </p:spPr>
        <p:txBody>
          <a:bodyPr wrap="none" lIns="0" rIns="0" tIns="0" bIns="0" anchor="t">
            <a:spAutoFit/>
          </a:bodyPr>
          <a:p>
            <a:r>
              <a:rPr b="0" lang="en-US" sz="920" strike="noStrike" u="none">
                <a:solidFill>
                  <a:srgbClr val="9cdcfe"/>
                </a:solidFill>
                <a:effectLst/>
                <a:uFillTx/>
                <a:latin typeface="Courier New"/>
                <a:ea typeface="Courier New"/>
              </a:rPr>
              <a:t>y</a:t>
            </a:r>
            <a:r>
              <a:rPr b="0" lang="en-US" sz="920" strike="noStrike" u="none">
                <a:solidFill>
                  <a:srgbClr val="ffffff"/>
                </a:solidFill>
                <a:effectLst/>
                <a:uFillTx/>
                <a:latin typeface="Courier New"/>
                <a:ea typeface="Courier New"/>
              </a:rPr>
              <a:t> = np.linspace(-</a:t>
            </a:r>
            <a:r>
              <a:rPr b="0" lang="en-US" sz="920" strike="noStrike" u="none">
                <a:solidFill>
                  <a:srgbClr val="9cdcfe"/>
                </a:solidFill>
                <a:effectLst/>
                <a:uFillTx/>
                <a:latin typeface="Courier New"/>
                <a:ea typeface="Courier New"/>
              </a:rPr>
              <a:t>N</a:t>
            </a:r>
            <a:r>
              <a:rPr b="0" lang="en-US" sz="920" strike="noStrike" u="none">
                <a:solidFill>
                  <a:srgbClr val="ffffff"/>
                </a:solidFill>
                <a:effectLst/>
                <a:uFillTx/>
                <a:latin typeface="Courier New"/>
                <a:ea typeface="Courier New"/>
              </a:rPr>
              <a:t>/</a:t>
            </a:r>
            <a:r>
              <a:rPr b="0" lang="en-US" sz="920" strike="noStrike" u="none">
                <a:solidFill>
                  <a:srgbClr val="b5cea8"/>
                </a:solidFill>
                <a:effectLst/>
                <a:uFillTx/>
                <a:latin typeface="Courier New"/>
                <a:ea typeface="Courier New"/>
              </a:rPr>
              <a:t>2</a:t>
            </a:r>
            <a:r>
              <a:rPr b="0" lang="en-US" sz="920" strike="noStrike" u="none">
                <a:solidFill>
                  <a:srgbClr val="ffffff"/>
                </a:solidFill>
                <a:effectLst/>
                <a:uFillTx/>
                <a:latin typeface="Courier New"/>
                <a:ea typeface="Courier New"/>
              </a:rPr>
              <a:t>, </a:t>
            </a:r>
            <a:r>
              <a:rPr b="0" lang="en-US" sz="920" strike="noStrike" u="none">
                <a:solidFill>
                  <a:srgbClr val="9cdcfe"/>
                </a:solidFill>
                <a:effectLst/>
                <a:uFillTx/>
                <a:latin typeface="Courier New"/>
                <a:ea typeface="Courier New"/>
              </a:rPr>
              <a:t>N</a:t>
            </a:r>
            <a:r>
              <a:rPr b="0" lang="en-US" sz="920" strike="noStrike" u="none">
                <a:solidFill>
                  <a:srgbClr val="ffffff"/>
                </a:solidFill>
                <a:effectLst/>
                <a:uFillTx/>
                <a:latin typeface="Courier New"/>
                <a:ea typeface="Courier New"/>
              </a:rPr>
              <a:t>/</a:t>
            </a:r>
            <a:r>
              <a:rPr b="0" lang="en-US" sz="920" strike="noStrike" u="none">
                <a:solidFill>
                  <a:srgbClr val="b5cea8"/>
                </a:solidFill>
                <a:effectLst/>
                <a:uFillTx/>
                <a:latin typeface="Courier New"/>
                <a:ea typeface="Courier New"/>
              </a:rPr>
              <a:t>2</a:t>
            </a:r>
            <a:r>
              <a:rPr b="0" lang="en-US" sz="920" strike="noStrike" u="none">
                <a:solidFill>
                  <a:srgbClr val="ffffff"/>
                </a:solidFill>
                <a:effectLst/>
                <a:uFillTx/>
                <a:latin typeface="Courier New"/>
                <a:ea typeface="Courier New"/>
              </a:rPr>
              <a:t> - </a:t>
            </a:r>
            <a:r>
              <a:rPr b="0" lang="en-US" sz="920" strike="noStrike" u="none">
                <a:solidFill>
                  <a:srgbClr val="b5cea8"/>
                </a:solidFill>
                <a:effectLst/>
                <a:uFillTx/>
                <a:latin typeface="Courier New"/>
                <a:ea typeface="Courier New"/>
              </a:rPr>
              <a:t>1</a:t>
            </a:r>
            <a:r>
              <a:rPr b="0" lang="en-US" sz="920" strike="noStrike" u="none">
                <a:solidFill>
                  <a:srgbClr val="ffffff"/>
                </a:solidFill>
                <a:effectLst/>
                <a:uFillTx/>
                <a:latin typeface="Courier New"/>
                <a:ea typeface="Courier New"/>
              </a:rPr>
              <a:t>, </a:t>
            </a:r>
            <a:r>
              <a:rPr b="0" lang="en-US" sz="920" strike="noStrike" u="none">
                <a:solidFill>
                  <a:srgbClr val="9cdcfe"/>
                </a:solidFill>
                <a:effectLst/>
                <a:uFillTx/>
                <a:latin typeface="Courier New"/>
                <a:ea typeface="Courier New"/>
              </a:rPr>
              <a:t>N</a:t>
            </a:r>
            <a:r>
              <a:rPr b="0" lang="en-US" sz="920" strike="noStrike" u="none">
                <a:solidFill>
                  <a:srgbClr val="ffffff"/>
                </a:solidFill>
                <a:effectLst/>
                <a:uFillTx/>
                <a:latin typeface="Courier New"/>
                <a:ea typeface="Courier New"/>
              </a:rPr>
              <a:t>) * </a:t>
            </a:r>
            <a:r>
              <a:rPr b="0" lang="en-US" sz="920" strike="noStrike" u="none">
                <a:solidFill>
                  <a:srgbClr val="9cdcfe"/>
                </a:solidFill>
                <a:effectLst/>
                <a:uFillTx/>
                <a:latin typeface="Courier New"/>
                <a:ea typeface="Courier New"/>
              </a:rPr>
              <a:t>pixel_pitch</a:t>
            </a:r>
            <a:endParaRPr b="0" lang="en-US" sz="920" strike="noStrike" u="none">
              <a:solidFill>
                <a:srgbClr val="000000"/>
              </a:solidFill>
              <a:effectLst/>
              <a:uFillTx/>
              <a:latin typeface="Times New Roman"/>
            </a:endParaRPr>
          </a:p>
        </p:txBody>
      </p:sp>
      <p:sp>
        <p:nvSpPr>
          <p:cNvPr id="624" name=""/>
          <p:cNvSpPr txBox="1"/>
          <p:nvPr/>
        </p:nvSpPr>
        <p:spPr>
          <a:xfrm>
            <a:off x="4930560" y="3830040"/>
            <a:ext cx="1691280" cy="132840"/>
          </a:xfrm>
          <a:prstGeom prst="rect">
            <a:avLst/>
          </a:prstGeom>
          <a:noFill/>
          <a:ln w="0">
            <a:noFill/>
          </a:ln>
        </p:spPr>
        <p:txBody>
          <a:bodyPr wrap="none" lIns="0" rIns="0" tIns="0" bIns="0" anchor="t">
            <a:spAutoFit/>
          </a:bodyPr>
          <a:p>
            <a:r>
              <a:rPr b="0" lang="en-US" sz="920" strike="noStrike" u="none">
                <a:solidFill>
                  <a:srgbClr val="9cdcfe"/>
                </a:solidFill>
                <a:effectLst/>
                <a:uFillTx/>
                <a:latin typeface="Courier New"/>
                <a:ea typeface="Courier New"/>
              </a:rPr>
              <a:t>X</a:t>
            </a:r>
            <a:r>
              <a:rPr b="0" lang="en-US" sz="920" strike="noStrike" u="none">
                <a:solidFill>
                  <a:srgbClr val="ffffff"/>
                </a:solidFill>
                <a:effectLst/>
                <a:uFillTx/>
                <a:latin typeface="Courier New"/>
                <a:ea typeface="Courier New"/>
              </a:rPr>
              <a:t>, </a:t>
            </a:r>
            <a:r>
              <a:rPr b="0" lang="en-US" sz="920" strike="noStrike" u="none">
                <a:solidFill>
                  <a:srgbClr val="9cdcfe"/>
                </a:solidFill>
                <a:effectLst/>
                <a:uFillTx/>
                <a:latin typeface="Courier New"/>
                <a:ea typeface="Courier New"/>
              </a:rPr>
              <a:t>Y</a:t>
            </a:r>
            <a:r>
              <a:rPr b="0" lang="en-US" sz="920" strike="noStrike" u="none">
                <a:solidFill>
                  <a:srgbClr val="ffffff"/>
                </a:solidFill>
                <a:effectLst/>
                <a:uFillTx/>
                <a:latin typeface="Courier New"/>
                <a:ea typeface="Courier New"/>
              </a:rPr>
              <a:t> = np.meshgrid(</a:t>
            </a:r>
            <a:r>
              <a:rPr b="0" lang="en-US" sz="920" strike="noStrike" u="none">
                <a:solidFill>
                  <a:srgbClr val="9cdcfe"/>
                </a:solidFill>
                <a:effectLst/>
                <a:uFillTx/>
                <a:latin typeface="Courier New"/>
                <a:ea typeface="Courier New"/>
              </a:rPr>
              <a:t>x</a:t>
            </a:r>
            <a:r>
              <a:rPr b="0" lang="en-US" sz="920" strike="noStrike" u="none">
                <a:solidFill>
                  <a:srgbClr val="ffffff"/>
                </a:solidFill>
                <a:effectLst/>
                <a:uFillTx/>
                <a:latin typeface="Courier New"/>
                <a:ea typeface="Courier New"/>
              </a:rPr>
              <a:t>, </a:t>
            </a:r>
            <a:r>
              <a:rPr b="0" lang="en-US" sz="920" strike="noStrike" u="none">
                <a:solidFill>
                  <a:srgbClr val="9cdcfe"/>
                </a:solidFill>
                <a:effectLst/>
                <a:uFillTx/>
                <a:latin typeface="Courier New"/>
                <a:ea typeface="Courier New"/>
              </a:rPr>
              <a:t>y</a:t>
            </a:r>
            <a:r>
              <a:rPr b="0" lang="en-US" sz="920" strike="noStrike" u="none">
                <a:solidFill>
                  <a:srgbClr val="ffffff"/>
                </a:solidFill>
                <a:effectLst/>
                <a:uFillTx/>
                <a:latin typeface="Courier New"/>
                <a:ea typeface="Courier New"/>
              </a:rPr>
              <a:t>)</a:t>
            </a:r>
            <a:endParaRPr b="0" lang="en-US" sz="920" strike="noStrike" u="none">
              <a:solidFill>
                <a:srgbClr val="000000"/>
              </a:solidFill>
              <a:effectLst/>
              <a:uFillTx/>
              <a:latin typeface="Times New Roman"/>
            </a:endParaRPr>
          </a:p>
        </p:txBody>
      </p:sp>
      <p:sp>
        <p:nvSpPr>
          <p:cNvPr id="625" name=""/>
          <p:cNvSpPr txBox="1"/>
          <p:nvPr/>
        </p:nvSpPr>
        <p:spPr>
          <a:xfrm>
            <a:off x="4930560" y="4164480"/>
            <a:ext cx="141480" cy="132840"/>
          </a:xfrm>
          <a:prstGeom prst="rect">
            <a:avLst/>
          </a:prstGeom>
          <a:noFill/>
          <a:ln w="0">
            <a:noFill/>
          </a:ln>
        </p:spPr>
        <p:txBody>
          <a:bodyPr wrap="none" lIns="0" rIns="0" tIns="0" bIns="0" anchor="t">
            <a:spAutoFit/>
          </a:bodyPr>
          <a:p>
            <a:r>
              <a:rPr b="0" lang="en-US" sz="920" strike="noStrike" u="none">
                <a:solidFill>
                  <a:srgbClr val="6a9955"/>
                </a:solidFill>
                <a:effectLst/>
                <a:uFillTx/>
                <a:latin typeface="Courier New"/>
                <a:ea typeface="Courier New"/>
              </a:rPr>
              <a:t># </a:t>
            </a:r>
            <a:endParaRPr b="0" lang="en-US" sz="920" strike="noStrike" u="none">
              <a:solidFill>
                <a:srgbClr val="000000"/>
              </a:solidFill>
              <a:effectLst/>
              <a:uFillTx/>
              <a:latin typeface="Times New Roman"/>
            </a:endParaRPr>
          </a:p>
        </p:txBody>
      </p:sp>
      <p:sp>
        <p:nvSpPr>
          <p:cNvPr id="626" name=""/>
          <p:cNvSpPr txBox="1"/>
          <p:nvPr/>
        </p:nvSpPr>
        <p:spPr>
          <a:xfrm>
            <a:off x="5070960" y="4149360"/>
            <a:ext cx="1894680" cy="148320"/>
          </a:xfrm>
          <a:prstGeom prst="rect">
            <a:avLst/>
          </a:prstGeom>
          <a:noFill/>
          <a:ln w="0">
            <a:noFill/>
          </a:ln>
        </p:spPr>
        <p:txBody>
          <a:bodyPr wrap="none" lIns="0" rIns="0" tIns="0" bIns="0" anchor="t">
            <a:spAutoFit/>
          </a:bodyPr>
          <a:p>
            <a:r>
              <a:rPr b="0" lang="zh-CN" sz="920" strike="noStrike" u="none">
                <a:solidFill>
                  <a:srgbClr val="6a9955"/>
                </a:solidFill>
                <a:effectLst/>
                <a:uFillTx/>
                <a:latin typeface="WenQuanYiZenHei"/>
                <a:ea typeface="WenQuanYiZenHei"/>
              </a:rPr>
              <a:t>瞳マスクの生成（円形の瞳を想定）</a:t>
            </a:r>
            <a:endParaRPr b="0" lang="en-US" sz="920" strike="noStrike" u="none">
              <a:solidFill>
                <a:srgbClr val="000000"/>
              </a:solidFill>
              <a:effectLst/>
              <a:uFillTx/>
              <a:latin typeface="Times New Roman"/>
            </a:endParaRPr>
          </a:p>
        </p:txBody>
      </p:sp>
      <p:sp>
        <p:nvSpPr>
          <p:cNvPr id="627" name=""/>
          <p:cNvSpPr txBox="1"/>
          <p:nvPr/>
        </p:nvSpPr>
        <p:spPr>
          <a:xfrm>
            <a:off x="4930560" y="4331520"/>
            <a:ext cx="2324880" cy="132840"/>
          </a:xfrm>
          <a:prstGeom prst="rect">
            <a:avLst/>
          </a:prstGeom>
          <a:noFill/>
          <a:ln w="0">
            <a:noFill/>
          </a:ln>
        </p:spPr>
        <p:txBody>
          <a:bodyPr wrap="none" lIns="0" rIns="0" tIns="0" bIns="0" anchor="t">
            <a:spAutoFit/>
          </a:bodyPr>
          <a:p>
            <a:r>
              <a:rPr b="0" lang="en-US" sz="920" strike="noStrike" u="none">
                <a:solidFill>
                  <a:srgbClr val="9cdcfe"/>
                </a:solidFill>
                <a:effectLst/>
                <a:uFillTx/>
                <a:latin typeface="Courier New"/>
                <a:ea typeface="Courier New"/>
              </a:rPr>
              <a:t>pupil_radius</a:t>
            </a:r>
            <a:r>
              <a:rPr b="0" lang="en-US" sz="920" strike="noStrike" u="none">
                <a:solidFill>
                  <a:srgbClr val="ffffff"/>
                </a:solidFill>
                <a:effectLst/>
                <a:uFillTx/>
                <a:latin typeface="Courier New"/>
                <a:ea typeface="Courier New"/>
              </a:rPr>
              <a:t> = </a:t>
            </a:r>
            <a:r>
              <a:rPr b="0" lang="en-US" sz="920" strike="noStrike" u="none">
                <a:solidFill>
                  <a:srgbClr val="9cdcfe"/>
                </a:solidFill>
                <a:effectLst/>
                <a:uFillTx/>
                <a:latin typeface="Courier New"/>
                <a:ea typeface="Courier New"/>
              </a:rPr>
              <a:t>pupil_diameter</a:t>
            </a:r>
            <a:r>
              <a:rPr b="0" lang="en-US" sz="920" strike="noStrike" u="none">
                <a:solidFill>
                  <a:srgbClr val="ffffff"/>
                </a:solidFill>
                <a:effectLst/>
                <a:uFillTx/>
                <a:latin typeface="Courier New"/>
                <a:ea typeface="Courier New"/>
              </a:rPr>
              <a:t> / </a:t>
            </a:r>
            <a:r>
              <a:rPr b="0" lang="en-US" sz="920" strike="noStrike" u="none">
                <a:solidFill>
                  <a:srgbClr val="b5cea8"/>
                </a:solidFill>
                <a:effectLst/>
                <a:uFillTx/>
                <a:latin typeface="Courier New"/>
                <a:ea typeface="Courier New"/>
              </a:rPr>
              <a:t>2</a:t>
            </a:r>
            <a:endParaRPr b="0" lang="en-US" sz="920" strike="noStrike" u="none">
              <a:solidFill>
                <a:srgbClr val="000000"/>
              </a:solidFill>
              <a:effectLst/>
              <a:uFillTx/>
              <a:latin typeface="Times New Roman"/>
            </a:endParaRPr>
          </a:p>
        </p:txBody>
      </p:sp>
      <p:sp>
        <p:nvSpPr>
          <p:cNvPr id="628" name=""/>
          <p:cNvSpPr txBox="1"/>
          <p:nvPr/>
        </p:nvSpPr>
        <p:spPr>
          <a:xfrm>
            <a:off x="4930560" y="4498560"/>
            <a:ext cx="3169800" cy="132840"/>
          </a:xfrm>
          <a:prstGeom prst="rect">
            <a:avLst/>
          </a:prstGeom>
          <a:noFill/>
          <a:ln w="0">
            <a:noFill/>
          </a:ln>
        </p:spPr>
        <p:txBody>
          <a:bodyPr wrap="none" lIns="0" rIns="0" tIns="0" bIns="0" anchor="t">
            <a:spAutoFit/>
          </a:bodyPr>
          <a:p>
            <a:r>
              <a:rPr b="0" lang="en-US" sz="920" strike="noStrike" u="none">
                <a:solidFill>
                  <a:srgbClr val="9cdcfe"/>
                </a:solidFill>
                <a:effectLst/>
                <a:uFillTx/>
                <a:latin typeface="Courier New"/>
                <a:ea typeface="Courier New"/>
              </a:rPr>
              <a:t>pupil_mask</a:t>
            </a:r>
            <a:r>
              <a:rPr b="0" lang="en-US" sz="920" strike="noStrike" u="none">
                <a:solidFill>
                  <a:srgbClr val="ffffff"/>
                </a:solidFill>
                <a:effectLst/>
                <a:uFillTx/>
                <a:latin typeface="Courier New"/>
                <a:ea typeface="Courier New"/>
              </a:rPr>
              <a:t> = (</a:t>
            </a:r>
            <a:r>
              <a:rPr b="0" lang="en-US" sz="920" strike="noStrike" u="none">
                <a:solidFill>
                  <a:srgbClr val="9cdcfe"/>
                </a:solidFill>
                <a:effectLst/>
                <a:uFillTx/>
                <a:latin typeface="Courier New"/>
                <a:ea typeface="Courier New"/>
              </a:rPr>
              <a:t>X</a:t>
            </a:r>
            <a:r>
              <a:rPr b="0" lang="en-US" sz="920" strike="noStrike" u="none">
                <a:solidFill>
                  <a:srgbClr val="ffffff"/>
                </a:solidFill>
                <a:effectLst/>
                <a:uFillTx/>
                <a:latin typeface="Courier New"/>
                <a:ea typeface="Courier New"/>
              </a:rPr>
              <a:t>**</a:t>
            </a:r>
            <a:r>
              <a:rPr b="0" lang="en-US" sz="920" strike="noStrike" u="none">
                <a:solidFill>
                  <a:srgbClr val="b5cea8"/>
                </a:solidFill>
                <a:effectLst/>
                <a:uFillTx/>
                <a:latin typeface="Courier New"/>
                <a:ea typeface="Courier New"/>
              </a:rPr>
              <a:t>2</a:t>
            </a:r>
            <a:r>
              <a:rPr b="0" lang="en-US" sz="920" strike="noStrike" u="none">
                <a:solidFill>
                  <a:srgbClr val="ffffff"/>
                </a:solidFill>
                <a:effectLst/>
                <a:uFillTx/>
                <a:latin typeface="Courier New"/>
                <a:ea typeface="Courier New"/>
              </a:rPr>
              <a:t> + </a:t>
            </a:r>
            <a:r>
              <a:rPr b="0" lang="en-US" sz="920" strike="noStrike" u="none">
                <a:solidFill>
                  <a:srgbClr val="9cdcfe"/>
                </a:solidFill>
                <a:effectLst/>
                <a:uFillTx/>
                <a:latin typeface="Courier New"/>
                <a:ea typeface="Courier New"/>
              </a:rPr>
              <a:t>Y</a:t>
            </a:r>
            <a:r>
              <a:rPr b="0" lang="en-US" sz="920" strike="noStrike" u="none">
                <a:solidFill>
                  <a:srgbClr val="ffffff"/>
                </a:solidFill>
                <a:effectLst/>
                <a:uFillTx/>
                <a:latin typeface="Courier New"/>
                <a:ea typeface="Courier New"/>
              </a:rPr>
              <a:t>**</a:t>
            </a:r>
            <a:r>
              <a:rPr b="0" lang="en-US" sz="920" strike="noStrike" u="none">
                <a:solidFill>
                  <a:srgbClr val="b5cea8"/>
                </a:solidFill>
                <a:effectLst/>
                <a:uFillTx/>
                <a:latin typeface="Courier New"/>
                <a:ea typeface="Courier New"/>
              </a:rPr>
              <a:t>2</a:t>
            </a:r>
            <a:r>
              <a:rPr b="0" lang="en-US" sz="920" strike="noStrike" u="none">
                <a:solidFill>
                  <a:srgbClr val="ffffff"/>
                </a:solidFill>
                <a:effectLst/>
                <a:uFillTx/>
                <a:latin typeface="Courier New"/>
                <a:ea typeface="Courier New"/>
              </a:rPr>
              <a:t>) &lt;= </a:t>
            </a:r>
            <a:r>
              <a:rPr b="0" lang="en-US" sz="920" strike="noStrike" u="none">
                <a:solidFill>
                  <a:srgbClr val="9cdcfe"/>
                </a:solidFill>
                <a:effectLst/>
                <a:uFillTx/>
                <a:latin typeface="Courier New"/>
                <a:ea typeface="Courier New"/>
              </a:rPr>
              <a:t>pupil_radius</a:t>
            </a:r>
            <a:r>
              <a:rPr b="0" lang="en-US" sz="920" strike="noStrike" u="none">
                <a:solidFill>
                  <a:srgbClr val="ffffff"/>
                </a:solidFill>
                <a:effectLst/>
                <a:uFillTx/>
                <a:latin typeface="Courier New"/>
                <a:ea typeface="Courier New"/>
              </a:rPr>
              <a:t>**</a:t>
            </a:r>
            <a:r>
              <a:rPr b="0" lang="en-US" sz="920" strike="noStrike" u="none">
                <a:solidFill>
                  <a:srgbClr val="b5cea8"/>
                </a:solidFill>
                <a:effectLst/>
                <a:uFillTx/>
                <a:latin typeface="Courier New"/>
                <a:ea typeface="Courier New"/>
              </a:rPr>
              <a:t>2</a:t>
            </a:r>
            <a:endParaRPr b="0" lang="en-US" sz="920" strike="noStrike" u="none">
              <a:solidFill>
                <a:srgbClr val="000000"/>
              </a:solidFill>
              <a:effectLst/>
              <a:uFillTx/>
              <a:latin typeface="Times New Roman"/>
            </a:endParaRPr>
          </a:p>
        </p:txBody>
      </p:sp>
      <p:sp>
        <p:nvSpPr>
          <p:cNvPr id="629" name=""/>
          <p:cNvSpPr txBox="1"/>
          <p:nvPr/>
        </p:nvSpPr>
        <p:spPr>
          <a:xfrm>
            <a:off x="4930560" y="4833000"/>
            <a:ext cx="141480" cy="132840"/>
          </a:xfrm>
          <a:prstGeom prst="rect">
            <a:avLst/>
          </a:prstGeom>
          <a:noFill/>
          <a:ln w="0">
            <a:noFill/>
          </a:ln>
        </p:spPr>
        <p:txBody>
          <a:bodyPr wrap="none" lIns="0" rIns="0" tIns="0" bIns="0" anchor="t">
            <a:spAutoFit/>
          </a:bodyPr>
          <a:p>
            <a:r>
              <a:rPr b="0" lang="en-US" sz="920" strike="noStrike" u="none">
                <a:solidFill>
                  <a:srgbClr val="6a9955"/>
                </a:solidFill>
                <a:effectLst/>
                <a:uFillTx/>
                <a:latin typeface="Courier New"/>
                <a:ea typeface="Courier New"/>
              </a:rPr>
              <a:t># </a:t>
            </a:r>
            <a:endParaRPr b="0" lang="en-US" sz="920" strike="noStrike" u="none">
              <a:solidFill>
                <a:srgbClr val="000000"/>
              </a:solidFill>
              <a:effectLst/>
              <a:uFillTx/>
              <a:latin typeface="Times New Roman"/>
            </a:endParaRPr>
          </a:p>
        </p:txBody>
      </p:sp>
      <p:sp>
        <p:nvSpPr>
          <p:cNvPr id="630" name=""/>
          <p:cNvSpPr txBox="1"/>
          <p:nvPr/>
        </p:nvSpPr>
        <p:spPr>
          <a:xfrm>
            <a:off x="5070960" y="4817880"/>
            <a:ext cx="480960" cy="148320"/>
          </a:xfrm>
          <a:prstGeom prst="rect">
            <a:avLst/>
          </a:prstGeom>
          <a:noFill/>
          <a:ln w="0">
            <a:noFill/>
          </a:ln>
        </p:spPr>
        <p:txBody>
          <a:bodyPr wrap="none" lIns="0" rIns="0" tIns="0" bIns="0" anchor="t">
            <a:spAutoFit/>
          </a:bodyPr>
          <a:p>
            <a:r>
              <a:rPr b="0" lang="zh-CN" sz="920" strike="noStrike" u="none">
                <a:solidFill>
                  <a:srgbClr val="6a9955"/>
                </a:solidFill>
                <a:effectLst/>
                <a:uFillTx/>
                <a:latin typeface="WenQuanYiZenHei"/>
                <a:ea typeface="WenQuanYiZenHei"/>
              </a:rPr>
              <a:t>レンズの</a:t>
            </a:r>
            <a:endParaRPr b="0" lang="en-US" sz="920" strike="noStrike" u="none">
              <a:solidFill>
                <a:srgbClr val="000000"/>
              </a:solidFill>
              <a:effectLst/>
              <a:uFillTx/>
              <a:latin typeface="Times New Roman"/>
            </a:endParaRPr>
          </a:p>
        </p:txBody>
      </p:sp>
      <p:sp>
        <p:nvSpPr>
          <p:cNvPr id="631" name=""/>
          <p:cNvSpPr txBox="1"/>
          <p:nvPr/>
        </p:nvSpPr>
        <p:spPr>
          <a:xfrm>
            <a:off x="5538960" y="4833000"/>
            <a:ext cx="116640" cy="132840"/>
          </a:xfrm>
          <a:prstGeom prst="rect">
            <a:avLst/>
          </a:prstGeom>
          <a:noFill/>
          <a:ln w="0">
            <a:noFill/>
          </a:ln>
        </p:spPr>
        <p:txBody>
          <a:bodyPr wrap="none" lIns="0" rIns="0" tIns="0" bIns="0" anchor="t">
            <a:spAutoFit/>
          </a:bodyPr>
          <a:p>
            <a:r>
              <a:rPr b="0" lang="en-US" sz="920" strike="noStrike" u="none">
                <a:solidFill>
                  <a:srgbClr val="6a9955"/>
                </a:solidFill>
                <a:effectLst/>
                <a:uFillTx/>
                <a:latin typeface="Courier New"/>
                <a:ea typeface="Courier New"/>
              </a:rPr>
              <a:t>2</a:t>
            </a:r>
            <a:endParaRPr b="0" lang="en-US" sz="920" strike="noStrike" u="none">
              <a:solidFill>
                <a:srgbClr val="000000"/>
              </a:solidFill>
              <a:effectLst/>
              <a:uFillTx/>
              <a:latin typeface="Times New Roman"/>
            </a:endParaRPr>
          </a:p>
        </p:txBody>
      </p:sp>
      <p:sp>
        <p:nvSpPr>
          <p:cNvPr id="632" name=""/>
          <p:cNvSpPr txBox="1"/>
          <p:nvPr/>
        </p:nvSpPr>
        <p:spPr>
          <a:xfrm>
            <a:off x="5609160" y="4817880"/>
            <a:ext cx="707400" cy="148320"/>
          </a:xfrm>
          <a:prstGeom prst="rect">
            <a:avLst/>
          </a:prstGeom>
          <a:noFill/>
          <a:ln w="0">
            <a:noFill/>
          </a:ln>
        </p:spPr>
        <p:txBody>
          <a:bodyPr wrap="none" lIns="0" rIns="0" tIns="0" bIns="0" anchor="t">
            <a:spAutoFit/>
          </a:bodyPr>
          <a:p>
            <a:r>
              <a:rPr b="0" lang="zh-CN" sz="920" strike="noStrike" u="none">
                <a:solidFill>
                  <a:srgbClr val="6a9955"/>
                </a:solidFill>
                <a:effectLst/>
                <a:uFillTx/>
                <a:latin typeface="WenQuanYiZenHei"/>
                <a:ea typeface="WenQuanYiZenHei"/>
              </a:rPr>
              <a:t>次位相の計算</a:t>
            </a:r>
            <a:endParaRPr b="0" lang="en-US" sz="920" strike="noStrike" u="none">
              <a:solidFill>
                <a:srgbClr val="000000"/>
              </a:solidFill>
              <a:effectLst/>
              <a:uFillTx/>
              <a:latin typeface="Times New Roman"/>
            </a:endParaRPr>
          </a:p>
        </p:txBody>
      </p:sp>
      <p:sp>
        <p:nvSpPr>
          <p:cNvPr id="633" name=""/>
          <p:cNvSpPr txBox="1"/>
          <p:nvPr/>
        </p:nvSpPr>
        <p:spPr>
          <a:xfrm>
            <a:off x="4930560" y="5000040"/>
            <a:ext cx="3522240" cy="132840"/>
          </a:xfrm>
          <a:prstGeom prst="rect">
            <a:avLst/>
          </a:prstGeom>
          <a:noFill/>
          <a:ln w="0">
            <a:noFill/>
          </a:ln>
        </p:spPr>
        <p:txBody>
          <a:bodyPr wrap="none" lIns="0" rIns="0" tIns="0" bIns="0" anchor="t">
            <a:spAutoFit/>
          </a:bodyPr>
          <a:p>
            <a:r>
              <a:rPr b="0" lang="en-US" sz="920" strike="noStrike" u="none">
                <a:solidFill>
                  <a:srgbClr val="9cdcfe"/>
                </a:solidFill>
                <a:effectLst/>
                <a:uFillTx/>
                <a:latin typeface="Courier New"/>
                <a:ea typeface="Courier New"/>
              </a:rPr>
              <a:t>phase_term</a:t>
            </a:r>
            <a:r>
              <a:rPr b="0" lang="en-US" sz="920" strike="noStrike" u="none">
                <a:solidFill>
                  <a:srgbClr val="ffffff"/>
                </a:solidFill>
                <a:effectLst/>
                <a:uFillTx/>
                <a:latin typeface="Courier New"/>
                <a:ea typeface="Courier New"/>
              </a:rPr>
              <a:t> = -</a:t>
            </a:r>
            <a:r>
              <a:rPr b="0" lang="en-US" sz="920" strike="noStrike" u="none">
                <a:solidFill>
                  <a:srgbClr val="b5cea8"/>
                </a:solidFill>
                <a:effectLst/>
                <a:uFillTx/>
                <a:latin typeface="Courier New"/>
                <a:ea typeface="Courier New"/>
              </a:rPr>
              <a:t>1</a:t>
            </a:r>
            <a:r>
              <a:rPr b="0" lang="en-US" sz="920" strike="noStrike" u="none">
                <a:solidFill>
                  <a:srgbClr val="ffffff"/>
                </a:solidFill>
                <a:effectLst/>
                <a:uFillTx/>
                <a:latin typeface="Courier New"/>
                <a:ea typeface="Courier New"/>
              </a:rPr>
              <a:t>j * </a:t>
            </a:r>
            <a:r>
              <a:rPr b="0" lang="en-US" sz="920" strike="noStrike" u="none">
                <a:solidFill>
                  <a:srgbClr val="9cdcfe"/>
                </a:solidFill>
                <a:effectLst/>
                <a:uFillTx/>
                <a:latin typeface="Courier New"/>
                <a:ea typeface="Courier New"/>
              </a:rPr>
              <a:t>k</a:t>
            </a:r>
            <a:r>
              <a:rPr b="0" lang="en-US" sz="920" strike="noStrike" u="none">
                <a:solidFill>
                  <a:srgbClr val="ffffff"/>
                </a:solidFill>
                <a:effectLst/>
                <a:uFillTx/>
                <a:latin typeface="Courier New"/>
                <a:ea typeface="Courier New"/>
              </a:rPr>
              <a:t> / (</a:t>
            </a:r>
            <a:r>
              <a:rPr b="0" lang="en-US" sz="920" strike="noStrike" u="none">
                <a:solidFill>
                  <a:srgbClr val="b5cea8"/>
                </a:solidFill>
                <a:effectLst/>
                <a:uFillTx/>
                <a:latin typeface="Courier New"/>
                <a:ea typeface="Courier New"/>
              </a:rPr>
              <a:t>2</a:t>
            </a:r>
            <a:r>
              <a:rPr b="0" lang="en-US" sz="920" strike="noStrike" u="none">
                <a:solidFill>
                  <a:srgbClr val="ffffff"/>
                </a:solidFill>
                <a:effectLst/>
                <a:uFillTx/>
                <a:latin typeface="Courier New"/>
                <a:ea typeface="Courier New"/>
              </a:rPr>
              <a:t> * </a:t>
            </a:r>
            <a:r>
              <a:rPr b="0" lang="en-US" sz="920" strike="noStrike" u="none">
                <a:solidFill>
                  <a:srgbClr val="9cdcfe"/>
                </a:solidFill>
                <a:effectLst/>
                <a:uFillTx/>
                <a:latin typeface="Courier New"/>
                <a:ea typeface="Courier New"/>
              </a:rPr>
              <a:t>f_eye</a:t>
            </a:r>
            <a:r>
              <a:rPr b="0" lang="en-US" sz="920" strike="noStrike" u="none">
                <a:solidFill>
                  <a:srgbClr val="ffffff"/>
                </a:solidFill>
                <a:effectLst/>
                <a:uFillTx/>
                <a:latin typeface="Courier New"/>
                <a:ea typeface="Courier New"/>
              </a:rPr>
              <a:t>) * (</a:t>
            </a:r>
            <a:r>
              <a:rPr b="0" lang="en-US" sz="920" strike="noStrike" u="none">
                <a:solidFill>
                  <a:srgbClr val="9cdcfe"/>
                </a:solidFill>
                <a:effectLst/>
                <a:uFillTx/>
                <a:latin typeface="Courier New"/>
                <a:ea typeface="Courier New"/>
              </a:rPr>
              <a:t>X</a:t>
            </a:r>
            <a:r>
              <a:rPr b="0" lang="en-US" sz="920" strike="noStrike" u="none">
                <a:solidFill>
                  <a:srgbClr val="ffffff"/>
                </a:solidFill>
                <a:effectLst/>
                <a:uFillTx/>
                <a:latin typeface="Courier New"/>
                <a:ea typeface="Courier New"/>
              </a:rPr>
              <a:t>**</a:t>
            </a:r>
            <a:r>
              <a:rPr b="0" lang="en-US" sz="920" strike="noStrike" u="none">
                <a:solidFill>
                  <a:srgbClr val="b5cea8"/>
                </a:solidFill>
                <a:effectLst/>
                <a:uFillTx/>
                <a:latin typeface="Courier New"/>
                <a:ea typeface="Courier New"/>
              </a:rPr>
              <a:t>2</a:t>
            </a:r>
            <a:r>
              <a:rPr b="0" lang="en-US" sz="920" strike="noStrike" u="none">
                <a:solidFill>
                  <a:srgbClr val="ffffff"/>
                </a:solidFill>
                <a:effectLst/>
                <a:uFillTx/>
                <a:latin typeface="Courier New"/>
                <a:ea typeface="Courier New"/>
              </a:rPr>
              <a:t> + </a:t>
            </a:r>
            <a:r>
              <a:rPr b="0" lang="en-US" sz="920" strike="noStrike" u="none">
                <a:solidFill>
                  <a:srgbClr val="9cdcfe"/>
                </a:solidFill>
                <a:effectLst/>
                <a:uFillTx/>
                <a:latin typeface="Courier New"/>
                <a:ea typeface="Courier New"/>
              </a:rPr>
              <a:t>Y</a:t>
            </a:r>
            <a:r>
              <a:rPr b="0" lang="en-US" sz="920" strike="noStrike" u="none">
                <a:solidFill>
                  <a:srgbClr val="ffffff"/>
                </a:solidFill>
                <a:effectLst/>
                <a:uFillTx/>
                <a:latin typeface="Courier New"/>
                <a:ea typeface="Courier New"/>
              </a:rPr>
              <a:t>**</a:t>
            </a:r>
            <a:r>
              <a:rPr b="0" lang="en-US" sz="920" strike="noStrike" u="none">
                <a:solidFill>
                  <a:srgbClr val="b5cea8"/>
                </a:solidFill>
                <a:effectLst/>
                <a:uFillTx/>
                <a:latin typeface="Courier New"/>
                <a:ea typeface="Courier New"/>
              </a:rPr>
              <a:t>2</a:t>
            </a:r>
            <a:r>
              <a:rPr b="0" lang="en-US" sz="920" strike="noStrike" u="none">
                <a:solidFill>
                  <a:srgbClr val="ffffff"/>
                </a:solidFill>
                <a:effectLst/>
                <a:uFillTx/>
                <a:latin typeface="Courier New"/>
                <a:ea typeface="Courier New"/>
              </a:rPr>
              <a:t>)</a:t>
            </a:r>
            <a:endParaRPr b="0" lang="en-US" sz="920" strike="noStrike" u="none">
              <a:solidFill>
                <a:srgbClr val="000000"/>
              </a:solidFill>
              <a:effectLst/>
              <a:uFillTx/>
              <a:latin typeface="Times New Roman"/>
            </a:endParaRPr>
          </a:p>
        </p:txBody>
      </p:sp>
      <p:sp>
        <p:nvSpPr>
          <p:cNvPr id="634" name=""/>
          <p:cNvSpPr txBox="1"/>
          <p:nvPr/>
        </p:nvSpPr>
        <p:spPr>
          <a:xfrm>
            <a:off x="4930560" y="5167440"/>
            <a:ext cx="3310200" cy="132840"/>
          </a:xfrm>
          <a:prstGeom prst="rect">
            <a:avLst/>
          </a:prstGeom>
          <a:noFill/>
          <a:ln w="0">
            <a:noFill/>
          </a:ln>
        </p:spPr>
        <p:txBody>
          <a:bodyPr wrap="none" lIns="0" rIns="0" tIns="0" bIns="0" anchor="t">
            <a:spAutoFit/>
          </a:bodyPr>
          <a:p>
            <a:r>
              <a:rPr b="0" lang="en-US" sz="920" strike="noStrike" u="none">
                <a:solidFill>
                  <a:srgbClr val="9cdcfe"/>
                </a:solidFill>
                <a:effectLst/>
                <a:uFillTx/>
                <a:latin typeface="Courier New"/>
                <a:ea typeface="Courier New"/>
              </a:rPr>
              <a:t>lens_function</a:t>
            </a:r>
            <a:r>
              <a:rPr b="0" lang="en-US" sz="920" strike="noStrike" u="none">
                <a:solidFill>
                  <a:srgbClr val="ffffff"/>
                </a:solidFill>
                <a:effectLst/>
                <a:uFillTx/>
                <a:latin typeface="Courier New"/>
                <a:ea typeface="Courier New"/>
              </a:rPr>
              <a:t> = np.exp(</a:t>
            </a:r>
            <a:r>
              <a:rPr b="0" lang="en-US" sz="920" strike="noStrike" u="none">
                <a:solidFill>
                  <a:srgbClr val="9cdcfe"/>
                </a:solidFill>
                <a:effectLst/>
                <a:uFillTx/>
                <a:latin typeface="Courier New"/>
                <a:ea typeface="Courier New"/>
              </a:rPr>
              <a:t>phase_term</a:t>
            </a:r>
            <a:r>
              <a:rPr b="0" lang="en-US" sz="920" strike="noStrike" u="none">
                <a:solidFill>
                  <a:srgbClr val="ffffff"/>
                </a:solidFill>
                <a:effectLst/>
                <a:uFillTx/>
                <a:latin typeface="Courier New"/>
                <a:ea typeface="Courier New"/>
              </a:rPr>
              <a:t>) * </a:t>
            </a:r>
            <a:r>
              <a:rPr b="0" lang="en-US" sz="920" strike="noStrike" u="none">
                <a:solidFill>
                  <a:srgbClr val="9cdcfe"/>
                </a:solidFill>
                <a:effectLst/>
                <a:uFillTx/>
                <a:latin typeface="Courier New"/>
                <a:ea typeface="Courier New"/>
              </a:rPr>
              <a:t>pupil_mask</a:t>
            </a:r>
            <a:endParaRPr b="0" lang="en-US" sz="920" strike="noStrike" u="none">
              <a:solidFill>
                <a:srgbClr val="000000"/>
              </a:solidFill>
              <a:effectLst/>
              <a:uFillTx/>
              <a:latin typeface="Times New Roman"/>
            </a:endParaRPr>
          </a:p>
        </p:txBody>
      </p:sp>
      <p:sp>
        <p:nvSpPr>
          <p:cNvPr id="635" name=""/>
          <p:cNvSpPr txBox="1"/>
          <p:nvPr/>
        </p:nvSpPr>
        <p:spPr>
          <a:xfrm>
            <a:off x="4930560" y="5501520"/>
            <a:ext cx="141480" cy="132840"/>
          </a:xfrm>
          <a:prstGeom prst="rect">
            <a:avLst/>
          </a:prstGeom>
          <a:noFill/>
          <a:ln w="0">
            <a:noFill/>
          </a:ln>
        </p:spPr>
        <p:txBody>
          <a:bodyPr wrap="none" lIns="0" rIns="0" tIns="0" bIns="0" anchor="t">
            <a:spAutoFit/>
          </a:bodyPr>
          <a:p>
            <a:r>
              <a:rPr b="0" lang="en-US" sz="920" strike="noStrike" u="none">
                <a:solidFill>
                  <a:srgbClr val="6a9955"/>
                </a:solidFill>
                <a:effectLst/>
                <a:uFillTx/>
                <a:latin typeface="Courier New"/>
                <a:ea typeface="Courier New"/>
              </a:rPr>
              <a:t># </a:t>
            </a:r>
            <a:endParaRPr b="0" lang="en-US" sz="920" strike="noStrike" u="none">
              <a:solidFill>
                <a:srgbClr val="000000"/>
              </a:solidFill>
              <a:effectLst/>
              <a:uFillTx/>
              <a:latin typeface="Times New Roman"/>
            </a:endParaRPr>
          </a:p>
        </p:txBody>
      </p:sp>
      <p:sp>
        <p:nvSpPr>
          <p:cNvPr id="636" name=""/>
          <p:cNvSpPr txBox="1"/>
          <p:nvPr/>
        </p:nvSpPr>
        <p:spPr>
          <a:xfrm>
            <a:off x="5070960" y="5486400"/>
            <a:ext cx="830520" cy="148320"/>
          </a:xfrm>
          <a:prstGeom prst="rect">
            <a:avLst/>
          </a:prstGeom>
          <a:noFill/>
          <a:ln w="0">
            <a:noFill/>
          </a:ln>
        </p:spPr>
        <p:txBody>
          <a:bodyPr wrap="none" lIns="0" rIns="0" tIns="0" bIns="0" anchor="t">
            <a:spAutoFit/>
          </a:bodyPr>
          <a:p>
            <a:r>
              <a:rPr b="0" lang="zh-CN" sz="920" strike="noStrike" u="none">
                <a:solidFill>
                  <a:srgbClr val="6a9955"/>
                </a:solidFill>
                <a:effectLst/>
                <a:uFillTx/>
                <a:latin typeface="WenQuanYiZenHei"/>
                <a:ea typeface="WenQuanYiZenHei"/>
              </a:rPr>
              <a:t>瞳面での光波に</a:t>
            </a:r>
            <a:endParaRPr b="0" lang="en-US" sz="920" strike="noStrike" u="none">
              <a:solidFill>
                <a:srgbClr val="000000"/>
              </a:solidFill>
              <a:effectLst/>
              <a:uFillTx/>
              <a:latin typeface="Times New Roman"/>
            </a:endParaRPr>
          </a:p>
        </p:txBody>
      </p:sp>
      <p:sp>
        <p:nvSpPr>
          <p:cNvPr id="637" name=""/>
          <p:cNvSpPr txBox="1"/>
          <p:nvPr/>
        </p:nvSpPr>
        <p:spPr>
          <a:xfrm>
            <a:off x="5889960" y="5501520"/>
            <a:ext cx="116640" cy="132840"/>
          </a:xfrm>
          <a:prstGeom prst="rect">
            <a:avLst/>
          </a:prstGeom>
          <a:noFill/>
          <a:ln w="0">
            <a:noFill/>
          </a:ln>
        </p:spPr>
        <p:txBody>
          <a:bodyPr wrap="none" lIns="0" rIns="0" tIns="0" bIns="0" anchor="t">
            <a:spAutoFit/>
          </a:bodyPr>
          <a:p>
            <a:r>
              <a:rPr b="0" lang="en-US" sz="920" strike="noStrike" u="none">
                <a:solidFill>
                  <a:srgbClr val="6a9955"/>
                </a:solidFill>
                <a:effectLst/>
                <a:uFillTx/>
                <a:latin typeface="Courier New"/>
                <a:ea typeface="Courier New"/>
              </a:rPr>
              <a:t>2</a:t>
            </a:r>
            <a:endParaRPr b="0" lang="en-US" sz="920" strike="noStrike" u="none">
              <a:solidFill>
                <a:srgbClr val="000000"/>
              </a:solidFill>
              <a:effectLst/>
              <a:uFillTx/>
              <a:latin typeface="Times New Roman"/>
            </a:endParaRPr>
          </a:p>
        </p:txBody>
      </p:sp>
      <p:sp>
        <p:nvSpPr>
          <p:cNvPr id="638" name=""/>
          <p:cNvSpPr txBox="1"/>
          <p:nvPr/>
        </p:nvSpPr>
        <p:spPr>
          <a:xfrm>
            <a:off x="5960160" y="5486400"/>
            <a:ext cx="707400" cy="148320"/>
          </a:xfrm>
          <a:prstGeom prst="rect">
            <a:avLst/>
          </a:prstGeom>
          <a:noFill/>
          <a:ln w="0">
            <a:noFill/>
          </a:ln>
        </p:spPr>
        <p:txBody>
          <a:bodyPr wrap="none" lIns="0" rIns="0" tIns="0" bIns="0" anchor="t">
            <a:spAutoFit/>
          </a:bodyPr>
          <a:p>
            <a:r>
              <a:rPr b="0" lang="zh-CN" sz="920" strike="noStrike" u="none">
                <a:solidFill>
                  <a:srgbClr val="6a9955"/>
                </a:solidFill>
                <a:effectLst/>
                <a:uFillTx/>
                <a:latin typeface="WenQuanYiZenHei"/>
                <a:ea typeface="WenQuanYiZenHei"/>
              </a:rPr>
              <a:t>次位相を乗算</a:t>
            </a:r>
            <a:endParaRPr b="0" lang="en-US" sz="920" strike="noStrike" u="none">
              <a:solidFill>
                <a:srgbClr val="000000"/>
              </a:solidFill>
              <a:effectLst/>
              <a:uFillTx/>
              <a:latin typeface="Times New Roman"/>
            </a:endParaRPr>
          </a:p>
        </p:txBody>
      </p:sp>
      <p:sp>
        <p:nvSpPr>
          <p:cNvPr id="639" name=""/>
          <p:cNvSpPr txBox="1"/>
          <p:nvPr/>
        </p:nvSpPr>
        <p:spPr>
          <a:xfrm>
            <a:off x="4930560" y="5668560"/>
            <a:ext cx="3099240" cy="132840"/>
          </a:xfrm>
          <a:prstGeom prst="rect">
            <a:avLst/>
          </a:prstGeom>
          <a:noFill/>
          <a:ln w="0">
            <a:noFill/>
          </a:ln>
        </p:spPr>
        <p:txBody>
          <a:bodyPr wrap="none" lIns="0" rIns="0" tIns="0" bIns="0" anchor="t">
            <a:spAutoFit/>
          </a:bodyPr>
          <a:p>
            <a:r>
              <a:rPr b="0" lang="en-US" sz="920" strike="noStrike" u="none">
                <a:solidFill>
                  <a:srgbClr val="9cdcfe"/>
                </a:solidFill>
                <a:effectLst/>
                <a:uFillTx/>
                <a:latin typeface="Courier New"/>
                <a:ea typeface="Courier New"/>
              </a:rPr>
              <a:t>U_pupil_after_lens</a:t>
            </a:r>
            <a:r>
              <a:rPr b="0" lang="en-US" sz="920" strike="noStrike" u="none">
                <a:solidFill>
                  <a:srgbClr val="ffffff"/>
                </a:solidFill>
                <a:effectLst/>
                <a:uFillTx/>
                <a:latin typeface="Courier New"/>
                <a:ea typeface="Courier New"/>
              </a:rPr>
              <a:t> = </a:t>
            </a:r>
            <a:r>
              <a:rPr b="0" lang="en-US" sz="920" strike="noStrike" u="none">
                <a:solidFill>
                  <a:srgbClr val="9cdcfe"/>
                </a:solidFill>
                <a:effectLst/>
                <a:uFillTx/>
                <a:latin typeface="Courier New"/>
                <a:ea typeface="Courier New"/>
              </a:rPr>
              <a:t>U_pupil</a:t>
            </a:r>
            <a:r>
              <a:rPr b="0" lang="en-US" sz="920" strike="noStrike" u="none">
                <a:solidFill>
                  <a:srgbClr val="ffffff"/>
                </a:solidFill>
                <a:effectLst/>
                <a:uFillTx/>
                <a:latin typeface="Courier New"/>
                <a:ea typeface="Courier New"/>
              </a:rPr>
              <a:t> * </a:t>
            </a:r>
            <a:r>
              <a:rPr b="0" lang="en-US" sz="920" strike="noStrike" u="none">
                <a:solidFill>
                  <a:srgbClr val="9cdcfe"/>
                </a:solidFill>
                <a:effectLst/>
                <a:uFillTx/>
                <a:latin typeface="Courier New"/>
                <a:ea typeface="Courier New"/>
              </a:rPr>
              <a:t>lens_function</a:t>
            </a:r>
            <a:endParaRPr b="0" lang="en-US" sz="920" strike="noStrike" u="none">
              <a:solidFill>
                <a:srgbClr val="000000"/>
              </a:solidFill>
              <a:effectLst/>
              <a:uFillTx/>
              <a:latin typeface="Times New Roman"/>
            </a:endParaRPr>
          </a:p>
        </p:txBody>
      </p:sp>
      <p:sp>
        <p:nvSpPr>
          <p:cNvPr id="640" name=""/>
          <p:cNvSpPr txBox="1"/>
          <p:nvPr/>
        </p:nvSpPr>
        <p:spPr>
          <a:xfrm>
            <a:off x="939960" y="1823400"/>
            <a:ext cx="205200" cy="239760"/>
          </a:xfrm>
          <a:prstGeom prst="rect">
            <a:avLst/>
          </a:prstGeom>
          <a:noFill/>
          <a:ln w="0">
            <a:noFill/>
          </a:ln>
        </p:spPr>
        <p:txBody>
          <a:bodyPr wrap="none" lIns="0" rIns="0" tIns="0" bIns="0" anchor="t">
            <a:spAutoFit/>
          </a:bodyPr>
          <a:p>
            <a:r>
              <a:rPr b="0" i="1" lang="en-US" sz="1620" strike="noStrike" u="none">
                <a:solidFill>
                  <a:srgbClr val="ffffff"/>
                </a:solidFill>
                <a:effectLst/>
                <a:uFillTx/>
                <a:latin typeface="MathJax_Math"/>
                <a:ea typeface="MathJax_Math"/>
              </a:rPr>
              <a:t>t</a:t>
            </a:r>
            <a:endParaRPr b="0" lang="en-US" sz="1620" strike="noStrike" u="none">
              <a:solidFill>
                <a:srgbClr val="000000"/>
              </a:solidFill>
              <a:effectLst/>
              <a:uFillTx/>
              <a:latin typeface="Times New Roman"/>
            </a:endParaRPr>
          </a:p>
        </p:txBody>
      </p:sp>
      <p:sp>
        <p:nvSpPr>
          <p:cNvPr id="641" name=""/>
          <p:cNvSpPr txBox="1"/>
          <p:nvPr/>
        </p:nvSpPr>
        <p:spPr>
          <a:xfrm>
            <a:off x="1020600" y="1912680"/>
            <a:ext cx="144720" cy="168120"/>
          </a:xfrm>
          <a:prstGeom prst="rect">
            <a:avLst/>
          </a:prstGeom>
          <a:noFill/>
          <a:ln w="0">
            <a:noFill/>
          </a:ln>
        </p:spPr>
        <p:txBody>
          <a:bodyPr wrap="none" lIns="0" rIns="0" tIns="0" bIns="0" anchor="t">
            <a:spAutoFit/>
          </a:bodyPr>
          <a:p>
            <a:r>
              <a:rPr b="0" i="1" lang="en-US" sz="1150" strike="noStrike" u="none">
                <a:solidFill>
                  <a:srgbClr val="ffffff"/>
                </a:solidFill>
                <a:effectLst/>
                <a:uFillTx/>
                <a:latin typeface="MathJax_Math"/>
                <a:ea typeface="MathJax_Math"/>
              </a:rPr>
              <a:t>L</a:t>
            </a:r>
            <a:endParaRPr b="0" lang="en-US" sz="1150" strike="noStrike" u="none">
              <a:solidFill>
                <a:srgbClr val="000000"/>
              </a:solidFill>
              <a:effectLst/>
              <a:uFillTx/>
              <a:latin typeface="Times New Roman"/>
            </a:endParaRPr>
          </a:p>
        </p:txBody>
      </p:sp>
      <p:sp>
        <p:nvSpPr>
          <p:cNvPr id="642" name=""/>
          <p:cNvSpPr txBox="1"/>
          <p:nvPr/>
        </p:nvSpPr>
        <p:spPr>
          <a:xfrm>
            <a:off x="1129680" y="1823400"/>
            <a:ext cx="205200" cy="239760"/>
          </a:xfrm>
          <a:prstGeom prst="rect">
            <a:avLst/>
          </a:prstGeom>
          <a:noFill/>
          <a:ln w="0">
            <a:noFill/>
          </a:ln>
        </p:spPr>
        <p:txBody>
          <a:bodyPr wrap="none" lIns="0" rIns="0" tIns="0" bIns="0" anchor="t">
            <a:spAutoFit/>
          </a:bodyPr>
          <a:p>
            <a:r>
              <a:rPr b="0" lang="en-US" sz="1620" strike="noStrike" u="none">
                <a:solidFill>
                  <a:srgbClr val="ffffff"/>
                </a:solidFill>
                <a:effectLst/>
                <a:uFillTx/>
                <a:latin typeface="MathJax_Main"/>
                <a:ea typeface="MathJax_Main"/>
              </a:rPr>
              <a:t>(</a:t>
            </a:r>
            <a:r>
              <a:rPr b="0" i="1" lang="en-US" sz="1620" strike="noStrike" u="none">
                <a:solidFill>
                  <a:srgbClr val="ffffff"/>
                </a:solidFill>
                <a:effectLst/>
                <a:uFillTx/>
                <a:latin typeface="MathJax_Math"/>
                <a:ea typeface="MathJax_Math"/>
              </a:rPr>
              <a:t>x</a:t>
            </a:r>
            <a:endParaRPr b="0" lang="en-US" sz="1620" strike="noStrike" u="none">
              <a:solidFill>
                <a:srgbClr val="000000"/>
              </a:solidFill>
              <a:effectLst/>
              <a:uFillTx/>
              <a:latin typeface="Times New Roman"/>
            </a:endParaRPr>
          </a:p>
        </p:txBody>
      </p:sp>
      <p:sp>
        <p:nvSpPr>
          <p:cNvPr id="643" name=""/>
          <p:cNvSpPr txBox="1"/>
          <p:nvPr/>
        </p:nvSpPr>
        <p:spPr>
          <a:xfrm>
            <a:off x="1333440" y="1912680"/>
            <a:ext cx="144720" cy="168120"/>
          </a:xfrm>
          <a:prstGeom prst="rect">
            <a:avLst/>
          </a:prstGeom>
          <a:noFill/>
          <a:ln w="0">
            <a:noFill/>
          </a:ln>
        </p:spPr>
        <p:txBody>
          <a:bodyPr wrap="none" lIns="0" rIns="0" tIns="0" bIns="0" anchor="t">
            <a:spAutoFit/>
          </a:bodyPr>
          <a:p>
            <a:r>
              <a:rPr b="0" i="1" lang="en-US" sz="1150" strike="noStrike" u="none">
                <a:solidFill>
                  <a:srgbClr val="ffffff"/>
                </a:solidFill>
                <a:effectLst/>
                <a:uFillTx/>
                <a:latin typeface="MathJax_Math"/>
                <a:ea typeface="MathJax_Math"/>
              </a:rPr>
              <a:t>p</a:t>
            </a:r>
            <a:endParaRPr b="0" lang="en-US" sz="1150" strike="noStrike" u="none">
              <a:solidFill>
                <a:srgbClr val="000000"/>
              </a:solidFill>
              <a:effectLst/>
              <a:uFillTx/>
              <a:latin typeface="Times New Roman"/>
            </a:endParaRPr>
          </a:p>
        </p:txBody>
      </p:sp>
      <p:sp>
        <p:nvSpPr>
          <p:cNvPr id="644" name=""/>
          <p:cNvSpPr txBox="1"/>
          <p:nvPr/>
        </p:nvSpPr>
        <p:spPr>
          <a:xfrm>
            <a:off x="1416600" y="1823400"/>
            <a:ext cx="253440" cy="239760"/>
          </a:xfrm>
          <a:prstGeom prst="rect">
            <a:avLst/>
          </a:prstGeom>
          <a:noFill/>
          <a:ln w="0">
            <a:noFill/>
          </a:ln>
        </p:spPr>
        <p:txBody>
          <a:bodyPr wrap="none" lIns="0" rIns="0" tIns="0" bIns="0" anchor="t">
            <a:spAutoFit/>
          </a:bodyPr>
          <a:p>
            <a:r>
              <a:rPr b="0" lang="en-US" sz="1620" strike="noStrike" u="none">
                <a:solidFill>
                  <a:srgbClr val="ffffff"/>
                </a:solidFill>
                <a:effectLst/>
                <a:uFillTx/>
                <a:latin typeface="MathJax_Main"/>
                <a:ea typeface="MathJax_Main"/>
              </a:rPr>
              <a:t>,</a:t>
            </a:r>
            <a:r>
              <a:rPr b="0" i="1" lang="en-US" sz="1620" strike="noStrike" u="none">
                <a:solidFill>
                  <a:srgbClr val="ffffff"/>
                </a:solidFill>
                <a:effectLst/>
                <a:uFillTx/>
                <a:latin typeface="MathJax_Math"/>
                <a:ea typeface="MathJax_Math"/>
              </a:rPr>
              <a:t> y</a:t>
            </a:r>
            <a:endParaRPr b="0" lang="en-US" sz="1620" strike="noStrike" u="none">
              <a:solidFill>
                <a:srgbClr val="000000"/>
              </a:solidFill>
              <a:effectLst/>
              <a:uFillTx/>
              <a:latin typeface="Times New Roman"/>
            </a:endParaRPr>
          </a:p>
        </p:txBody>
      </p:sp>
      <p:sp>
        <p:nvSpPr>
          <p:cNvPr id="645" name=""/>
          <p:cNvSpPr txBox="1"/>
          <p:nvPr/>
        </p:nvSpPr>
        <p:spPr>
          <a:xfrm>
            <a:off x="1615320" y="1912680"/>
            <a:ext cx="144720" cy="168120"/>
          </a:xfrm>
          <a:prstGeom prst="rect">
            <a:avLst/>
          </a:prstGeom>
          <a:noFill/>
          <a:ln w="0">
            <a:noFill/>
          </a:ln>
        </p:spPr>
        <p:txBody>
          <a:bodyPr wrap="none" lIns="0" rIns="0" tIns="0" bIns="0" anchor="t">
            <a:spAutoFit/>
          </a:bodyPr>
          <a:p>
            <a:r>
              <a:rPr b="0" i="1" lang="en-US" sz="1150" strike="noStrike" u="none">
                <a:solidFill>
                  <a:srgbClr val="ffffff"/>
                </a:solidFill>
                <a:effectLst/>
                <a:uFillTx/>
                <a:latin typeface="MathJax_Math"/>
                <a:ea typeface="MathJax_Math"/>
              </a:rPr>
              <a:t>p</a:t>
            </a:r>
            <a:endParaRPr b="0" lang="en-US" sz="1150" strike="noStrike" u="none">
              <a:solidFill>
                <a:srgbClr val="000000"/>
              </a:solidFill>
              <a:effectLst/>
              <a:uFillTx/>
              <a:latin typeface="Times New Roman"/>
            </a:endParaRPr>
          </a:p>
        </p:txBody>
      </p:sp>
      <p:sp>
        <p:nvSpPr>
          <p:cNvPr id="646" name=""/>
          <p:cNvSpPr txBox="1"/>
          <p:nvPr/>
        </p:nvSpPr>
        <p:spPr>
          <a:xfrm>
            <a:off x="1698480" y="1823400"/>
            <a:ext cx="1138680" cy="239760"/>
          </a:xfrm>
          <a:prstGeom prst="rect">
            <a:avLst/>
          </a:prstGeom>
          <a:noFill/>
          <a:ln w="0">
            <a:noFill/>
          </a:ln>
        </p:spPr>
        <p:txBody>
          <a:bodyPr wrap="none" lIns="0" rIns="0" tIns="0" bIns="0" anchor="t">
            <a:spAutoFit/>
          </a:bodyPr>
          <a:p>
            <a:r>
              <a:rPr b="0" lang="en-US" sz="1620" strike="noStrike" u="none">
                <a:solidFill>
                  <a:srgbClr val="ffffff"/>
                </a:solidFill>
                <a:effectLst/>
                <a:uFillTx/>
                <a:latin typeface="MathJax_Main"/>
                <a:ea typeface="MathJax_Main"/>
              </a:rPr>
              <a:t>) = exp</a:t>
            </a:r>
            <a:r>
              <a:rPr b="0" lang="en-US" sz="1620" strike="noStrike" u="none">
                <a:solidFill>
                  <a:srgbClr val="ffffff"/>
                </a:solidFill>
                <a:effectLst/>
                <a:uFillTx/>
                <a:latin typeface="MathJax_Size2"/>
                <a:ea typeface="MathJax_Size2"/>
              </a:rPr>
              <a:t> [</a:t>
            </a:r>
            <a:r>
              <a:rPr b="0" lang="en-US" sz="1620" strike="noStrike" u="none">
                <a:solidFill>
                  <a:srgbClr val="ffffff"/>
                </a:solidFill>
                <a:effectLst/>
                <a:uFillTx/>
                <a:latin typeface="MathJax_Main"/>
                <a:ea typeface="MathJax_Main"/>
              </a:rPr>
              <a:t>−</a:t>
            </a:r>
            <a:r>
              <a:rPr b="0" i="1" lang="en-US" sz="1620" strike="noStrike" u="none">
                <a:solidFill>
                  <a:srgbClr val="ffffff"/>
                </a:solidFill>
                <a:effectLst/>
                <a:uFillTx/>
                <a:latin typeface="MathJax_Math"/>
                <a:ea typeface="MathJax_Math"/>
              </a:rPr>
              <a:t>i</a:t>
            </a:r>
            <a:endParaRPr b="0" lang="en-US" sz="1620" strike="noStrike" u="none">
              <a:solidFill>
                <a:srgbClr val="000000"/>
              </a:solidFill>
              <a:effectLst/>
              <a:uFillTx/>
              <a:latin typeface="Times New Roman"/>
            </a:endParaRPr>
          </a:p>
        </p:txBody>
      </p:sp>
      <p:sp>
        <p:nvSpPr>
          <p:cNvPr id="647" name=""/>
          <p:cNvSpPr/>
          <p:nvPr/>
        </p:nvSpPr>
        <p:spPr>
          <a:xfrm>
            <a:off x="2749320" y="1955160"/>
            <a:ext cx="342720" cy="9000"/>
          </a:xfrm>
          <a:custGeom>
            <a:avLst/>
            <a:gdLst/>
            <a:ahLst/>
            <a:rect l="0" t="0" r="r" b="b"/>
            <a:pathLst>
              <a:path w="952" h="25">
                <a:moveTo>
                  <a:pt x="0" y="0"/>
                </a:moveTo>
                <a:lnTo>
                  <a:pt x="952" y="0"/>
                </a:lnTo>
                <a:lnTo>
                  <a:pt x="952" y="25"/>
                </a:lnTo>
                <a:lnTo>
                  <a:pt x="0" y="25"/>
                </a:lnTo>
                <a:lnTo>
                  <a:pt x="0" y="0"/>
                </a:lnTo>
                <a:close/>
              </a:path>
            </a:pathLst>
          </a:custGeom>
          <a:solidFill>
            <a:srgbClr val="ffffff"/>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648" name=""/>
          <p:cNvSpPr txBox="1"/>
          <p:nvPr/>
        </p:nvSpPr>
        <p:spPr>
          <a:xfrm>
            <a:off x="2885400" y="1795680"/>
            <a:ext cx="144720" cy="168120"/>
          </a:xfrm>
          <a:prstGeom prst="rect">
            <a:avLst/>
          </a:prstGeom>
          <a:noFill/>
          <a:ln w="0">
            <a:noFill/>
          </a:ln>
        </p:spPr>
        <p:txBody>
          <a:bodyPr wrap="none" lIns="0" rIns="0" tIns="0" bIns="0" anchor="t">
            <a:spAutoFit/>
          </a:bodyPr>
          <a:p>
            <a:r>
              <a:rPr b="0" i="1" lang="en-US" sz="1150" strike="noStrike" u="none">
                <a:solidFill>
                  <a:srgbClr val="ffffff"/>
                </a:solidFill>
                <a:effectLst/>
                <a:uFillTx/>
                <a:latin typeface="MathJax_Math"/>
                <a:ea typeface="MathJax_Math"/>
              </a:rPr>
              <a:t>k</a:t>
            </a:r>
            <a:endParaRPr b="0" lang="en-US" sz="1150" strike="noStrike" u="none">
              <a:solidFill>
                <a:srgbClr val="000000"/>
              </a:solidFill>
              <a:effectLst/>
              <a:uFillTx/>
              <a:latin typeface="Times New Roman"/>
            </a:endParaRPr>
          </a:p>
        </p:txBody>
      </p:sp>
      <p:sp>
        <p:nvSpPr>
          <p:cNvPr id="649" name=""/>
          <p:cNvSpPr txBox="1"/>
          <p:nvPr/>
        </p:nvSpPr>
        <p:spPr>
          <a:xfrm>
            <a:off x="2772360" y="1954440"/>
            <a:ext cx="144720" cy="168120"/>
          </a:xfrm>
          <a:prstGeom prst="rect">
            <a:avLst/>
          </a:prstGeom>
          <a:noFill/>
          <a:ln w="0">
            <a:noFill/>
          </a:ln>
        </p:spPr>
        <p:txBody>
          <a:bodyPr wrap="none" lIns="0" rIns="0" tIns="0" bIns="0" anchor="t">
            <a:spAutoFit/>
          </a:bodyPr>
          <a:p>
            <a:r>
              <a:rPr b="0" lang="en-US" sz="1150" strike="noStrike" u="none">
                <a:solidFill>
                  <a:srgbClr val="ffffff"/>
                </a:solidFill>
                <a:effectLst/>
                <a:uFillTx/>
                <a:latin typeface="MathJax_Main"/>
                <a:ea typeface="MathJax_Main"/>
              </a:rPr>
              <a:t>2</a:t>
            </a:r>
            <a:r>
              <a:rPr b="0" i="1" lang="en-US" sz="1150" strike="noStrike" u="none">
                <a:solidFill>
                  <a:srgbClr val="ffffff"/>
                </a:solidFill>
                <a:effectLst/>
                <a:uFillTx/>
                <a:latin typeface="MathJax_Math"/>
                <a:ea typeface="MathJax_Math"/>
              </a:rPr>
              <a:t>f</a:t>
            </a:r>
            <a:endParaRPr b="0" lang="en-US" sz="1150" strike="noStrike" u="none">
              <a:solidFill>
                <a:srgbClr val="000000"/>
              </a:solidFill>
              <a:effectLst/>
              <a:uFillTx/>
              <a:latin typeface="Times New Roman"/>
            </a:endParaRPr>
          </a:p>
        </p:txBody>
      </p:sp>
      <p:sp>
        <p:nvSpPr>
          <p:cNvPr id="650" name=""/>
          <p:cNvSpPr txBox="1"/>
          <p:nvPr/>
        </p:nvSpPr>
        <p:spPr>
          <a:xfrm>
            <a:off x="2920680" y="2010600"/>
            <a:ext cx="189720" cy="120960"/>
          </a:xfrm>
          <a:prstGeom prst="rect">
            <a:avLst/>
          </a:prstGeom>
          <a:noFill/>
          <a:ln w="0">
            <a:noFill/>
          </a:ln>
        </p:spPr>
        <p:txBody>
          <a:bodyPr wrap="none" lIns="0" rIns="0" tIns="0" bIns="0" anchor="t">
            <a:spAutoFit/>
          </a:bodyPr>
          <a:p>
            <a:r>
              <a:rPr b="0" i="1" lang="en-US" sz="810" strike="noStrike" u="none">
                <a:solidFill>
                  <a:srgbClr val="ffffff"/>
                </a:solidFill>
                <a:effectLst/>
                <a:uFillTx/>
                <a:latin typeface="MathJax_Math"/>
                <a:ea typeface="MathJax_Math"/>
              </a:rPr>
              <a:t>eye</a:t>
            </a:r>
            <a:endParaRPr b="0" lang="en-US" sz="810" strike="noStrike" u="none">
              <a:solidFill>
                <a:srgbClr val="000000"/>
              </a:solidFill>
              <a:effectLst/>
              <a:uFillTx/>
              <a:latin typeface="Times New Roman"/>
            </a:endParaRPr>
          </a:p>
        </p:txBody>
      </p:sp>
      <p:sp>
        <p:nvSpPr>
          <p:cNvPr id="651" name=""/>
          <p:cNvSpPr txBox="1"/>
          <p:nvPr/>
        </p:nvSpPr>
        <p:spPr>
          <a:xfrm>
            <a:off x="3119040" y="1823400"/>
            <a:ext cx="205200" cy="239760"/>
          </a:xfrm>
          <a:prstGeom prst="rect">
            <a:avLst/>
          </a:prstGeom>
          <a:noFill/>
          <a:ln w="0">
            <a:noFill/>
          </a:ln>
        </p:spPr>
        <p:txBody>
          <a:bodyPr wrap="none" lIns="0" rIns="0" tIns="0" bIns="0" anchor="t">
            <a:spAutoFit/>
          </a:bodyPr>
          <a:p>
            <a:r>
              <a:rPr b="0" lang="en-US" sz="1620" strike="noStrike" u="none">
                <a:solidFill>
                  <a:srgbClr val="ffffff"/>
                </a:solidFill>
                <a:effectLst/>
                <a:uFillTx/>
                <a:latin typeface="MathJax_Main"/>
                <a:ea typeface="MathJax_Main"/>
              </a:rPr>
              <a:t>(</a:t>
            </a:r>
            <a:r>
              <a:rPr b="0" i="1" lang="en-US" sz="1620" strike="noStrike" u="none">
                <a:solidFill>
                  <a:srgbClr val="ffffff"/>
                </a:solidFill>
                <a:effectLst/>
                <a:uFillTx/>
                <a:latin typeface="MathJax_Math"/>
                <a:ea typeface="MathJax_Math"/>
              </a:rPr>
              <a:t>x</a:t>
            </a:r>
            <a:endParaRPr b="0" lang="en-US" sz="1620" strike="noStrike" u="none">
              <a:solidFill>
                <a:srgbClr val="000000"/>
              </a:solidFill>
              <a:effectLst/>
              <a:uFillTx/>
              <a:latin typeface="Times New Roman"/>
            </a:endParaRPr>
          </a:p>
        </p:txBody>
      </p:sp>
      <p:sp>
        <p:nvSpPr>
          <p:cNvPr id="652" name=""/>
          <p:cNvSpPr txBox="1"/>
          <p:nvPr/>
        </p:nvSpPr>
        <p:spPr>
          <a:xfrm>
            <a:off x="3322800" y="1803960"/>
            <a:ext cx="144720" cy="168120"/>
          </a:xfrm>
          <a:prstGeom prst="rect">
            <a:avLst/>
          </a:prstGeom>
          <a:noFill/>
          <a:ln w="0">
            <a:noFill/>
          </a:ln>
        </p:spPr>
        <p:txBody>
          <a:bodyPr wrap="none" lIns="0" rIns="0" tIns="0" bIns="0" anchor="t">
            <a:spAutoFit/>
          </a:bodyPr>
          <a:p>
            <a:r>
              <a:rPr b="0" lang="en-US" sz="1150" strike="noStrike" u="none">
                <a:solidFill>
                  <a:srgbClr val="ffffff"/>
                </a:solidFill>
                <a:effectLst/>
                <a:uFillTx/>
                <a:latin typeface="MathJax_Main"/>
                <a:ea typeface="MathJax_Main"/>
              </a:rPr>
              <a:t>2</a:t>
            </a:r>
            <a:endParaRPr b="0" lang="en-US" sz="1150" strike="noStrike" u="none">
              <a:solidFill>
                <a:srgbClr val="000000"/>
              </a:solidFill>
              <a:effectLst/>
              <a:uFillTx/>
              <a:latin typeface="Times New Roman"/>
            </a:endParaRPr>
          </a:p>
        </p:txBody>
      </p:sp>
      <p:sp>
        <p:nvSpPr>
          <p:cNvPr id="653" name=""/>
          <p:cNvSpPr txBox="1"/>
          <p:nvPr/>
        </p:nvSpPr>
        <p:spPr>
          <a:xfrm>
            <a:off x="3322800" y="1929240"/>
            <a:ext cx="144720" cy="168120"/>
          </a:xfrm>
          <a:prstGeom prst="rect">
            <a:avLst/>
          </a:prstGeom>
          <a:noFill/>
          <a:ln w="0">
            <a:noFill/>
          </a:ln>
        </p:spPr>
        <p:txBody>
          <a:bodyPr wrap="none" lIns="0" rIns="0" tIns="0" bIns="0" anchor="t">
            <a:spAutoFit/>
          </a:bodyPr>
          <a:p>
            <a:r>
              <a:rPr b="0" i="1" lang="en-US" sz="1150" strike="noStrike" u="none">
                <a:solidFill>
                  <a:srgbClr val="ffffff"/>
                </a:solidFill>
                <a:effectLst/>
                <a:uFillTx/>
                <a:latin typeface="MathJax_Math"/>
                <a:ea typeface="MathJax_Math"/>
              </a:rPr>
              <a:t>p</a:t>
            </a:r>
            <a:endParaRPr b="0" lang="en-US" sz="1150" strike="noStrike" u="none">
              <a:solidFill>
                <a:srgbClr val="000000"/>
              </a:solidFill>
              <a:effectLst/>
              <a:uFillTx/>
              <a:latin typeface="Times New Roman"/>
            </a:endParaRPr>
          </a:p>
        </p:txBody>
      </p:sp>
      <p:sp>
        <p:nvSpPr>
          <p:cNvPr id="654" name=""/>
          <p:cNvSpPr txBox="1"/>
          <p:nvPr/>
        </p:nvSpPr>
        <p:spPr>
          <a:xfrm>
            <a:off x="3451680" y="1823400"/>
            <a:ext cx="360360" cy="239760"/>
          </a:xfrm>
          <a:prstGeom prst="rect">
            <a:avLst/>
          </a:prstGeom>
          <a:noFill/>
          <a:ln w="0">
            <a:noFill/>
          </a:ln>
        </p:spPr>
        <p:txBody>
          <a:bodyPr wrap="none" lIns="0" rIns="0" tIns="0" bIns="0" anchor="t">
            <a:spAutoFit/>
          </a:bodyPr>
          <a:p>
            <a:r>
              <a:rPr b="0" lang="en-US" sz="1620" strike="noStrike" u="none">
                <a:solidFill>
                  <a:srgbClr val="ffffff"/>
                </a:solidFill>
                <a:effectLst/>
                <a:uFillTx/>
                <a:latin typeface="MathJax_Main"/>
                <a:ea typeface="MathJax_Main"/>
              </a:rPr>
              <a:t>+</a:t>
            </a:r>
            <a:r>
              <a:rPr b="0" i="1" lang="en-US" sz="1620" strike="noStrike" u="none">
                <a:solidFill>
                  <a:srgbClr val="ffffff"/>
                </a:solidFill>
                <a:effectLst/>
                <a:uFillTx/>
                <a:latin typeface="MathJax_Math"/>
                <a:ea typeface="MathJax_Math"/>
              </a:rPr>
              <a:t> y</a:t>
            </a:r>
            <a:endParaRPr b="0" lang="en-US" sz="1620" strike="noStrike" u="none">
              <a:solidFill>
                <a:srgbClr val="000000"/>
              </a:solidFill>
              <a:effectLst/>
              <a:uFillTx/>
              <a:latin typeface="Times New Roman"/>
            </a:endParaRPr>
          </a:p>
        </p:txBody>
      </p:sp>
      <p:sp>
        <p:nvSpPr>
          <p:cNvPr id="655" name=""/>
          <p:cNvSpPr txBox="1"/>
          <p:nvPr/>
        </p:nvSpPr>
        <p:spPr>
          <a:xfrm>
            <a:off x="3764160" y="1803960"/>
            <a:ext cx="144720" cy="168120"/>
          </a:xfrm>
          <a:prstGeom prst="rect">
            <a:avLst/>
          </a:prstGeom>
          <a:noFill/>
          <a:ln w="0">
            <a:noFill/>
          </a:ln>
        </p:spPr>
        <p:txBody>
          <a:bodyPr wrap="none" lIns="0" rIns="0" tIns="0" bIns="0" anchor="t">
            <a:spAutoFit/>
          </a:bodyPr>
          <a:p>
            <a:r>
              <a:rPr b="0" lang="en-US" sz="1150" strike="noStrike" u="none">
                <a:solidFill>
                  <a:srgbClr val="ffffff"/>
                </a:solidFill>
                <a:effectLst/>
                <a:uFillTx/>
                <a:latin typeface="MathJax_Main"/>
                <a:ea typeface="MathJax_Main"/>
              </a:rPr>
              <a:t>2</a:t>
            </a:r>
            <a:endParaRPr b="0" lang="en-US" sz="1150" strike="noStrike" u="none">
              <a:solidFill>
                <a:srgbClr val="000000"/>
              </a:solidFill>
              <a:effectLst/>
              <a:uFillTx/>
              <a:latin typeface="Times New Roman"/>
            </a:endParaRPr>
          </a:p>
        </p:txBody>
      </p:sp>
      <p:sp>
        <p:nvSpPr>
          <p:cNvPr id="656" name=""/>
          <p:cNvSpPr txBox="1"/>
          <p:nvPr/>
        </p:nvSpPr>
        <p:spPr>
          <a:xfrm>
            <a:off x="3764160" y="1929240"/>
            <a:ext cx="144720" cy="168120"/>
          </a:xfrm>
          <a:prstGeom prst="rect">
            <a:avLst/>
          </a:prstGeom>
          <a:noFill/>
          <a:ln w="0">
            <a:noFill/>
          </a:ln>
        </p:spPr>
        <p:txBody>
          <a:bodyPr wrap="none" lIns="0" rIns="0" tIns="0" bIns="0" anchor="t">
            <a:spAutoFit/>
          </a:bodyPr>
          <a:p>
            <a:r>
              <a:rPr b="0" i="1" lang="en-US" sz="1150" strike="noStrike" u="none">
                <a:solidFill>
                  <a:srgbClr val="ffffff"/>
                </a:solidFill>
                <a:effectLst/>
                <a:uFillTx/>
                <a:latin typeface="MathJax_Math"/>
                <a:ea typeface="MathJax_Math"/>
              </a:rPr>
              <a:t>p</a:t>
            </a:r>
            <a:endParaRPr b="0" lang="en-US" sz="1150" strike="noStrike" u="none">
              <a:solidFill>
                <a:srgbClr val="000000"/>
              </a:solidFill>
              <a:effectLst/>
              <a:uFillTx/>
              <a:latin typeface="Times New Roman"/>
            </a:endParaRPr>
          </a:p>
        </p:txBody>
      </p:sp>
      <p:sp>
        <p:nvSpPr>
          <p:cNvPr id="657" name=""/>
          <p:cNvSpPr txBox="1"/>
          <p:nvPr/>
        </p:nvSpPr>
        <p:spPr>
          <a:xfrm>
            <a:off x="3847320" y="1823400"/>
            <a:ext cx="205200" cy="239760"/>
          </a:xfrm>
          <a:prstGeom prst="rect">
            <a:avLst/>
          </a:prstGeom>
          <a:noFill/>
          <a:ln w="0">
            <a:noFill/>
          </a:ln>
        </p:spPr>
        <p:txBody>
          <a:bodyPr wrap="none" lIns="0" rIns="0" tIns="0" bIns="0" anchor="t">
            <a:spAutoFit/>
          </a:bodyPr>
          <a:p>
            <a:r>
              <a:rPr b="0" lang="en-US" sz="1620" strike="noStrike" u="none">
                <a:solidFill>
                  <a:srgbClr val="ffffff"/>
                </a:solidFill>
                <a:effectLst/>
                <a:uFillTx/>
                <a:latin typeface="MathJax_Main"/>
                <a:ea typeface="MathJax_Main"/>
              </a:rPr>
              <a:t>)</a:t>
            </a:r>
            <a:r>
              <a:rPr b="0" lang="en-US" sz="1620" strike="noStrike" u="none">
                <a:solidFill>
                  <a:srgbClr val="ffffff"/>
                </a:solidFill>
                <a:effectLst/>
                <a:uFillTx/>
                <a:latin typeface="MathJax_Size2"/>
                <a:ea typeface="MathJax_Size2"/>
              </a:rPr>
              <a:t>]</a:t>
            </a:r>
            <a:endParaRPr b="0" lang="en-US" sz="1620" strike="noStrike" u="none">
              <a:solidFill>
                <a:srgbClr val="000000"/>
              </a:solidFill>
              <a:effectLst/>
              <a:uFillTx/>
              <a:latin typeface="Times New Roman"/>
            </a:endParaRPr>
          </a:p>
        </p:txBody>
      </p:sp>
      <p:sp>
        <p:nvSpPr>
          <p:cNvPr id="658" name=""/>
          <p:cNvSpPr txBox="1"/>
          <p:nvPr/>
        </p:nvSpPr>
        <p:spPr>
          <a:xfrm>
            <a:off x="785520" y="2881800"/>
            <a:ext cx="183960" cy="117720"/>
          </a:xfrm>
          <a:prstGeom prst="rect">
            <a:avLst/>
          </a:prstGeom>
          <a:noFill/>
          <a:ln w="0">
            <a:noFill/>
          </a:ln>
        </p:spPr>
        <p:txBody>
          <a:bodyPr wrap="none" lIns="0" rIns="0" tIns="0" bIns="0" anchor="t">
            <a:spAutoFit/>
          </a:bodyPr>
          <a:p>
            <a:r>
              <a:rPr b="0" lang="en-US" sz="790" strike="noStrike" u="none">
                <a:solidFill>
                  <a:srgbClr val="ff8c00"/>
                </a:solidFill>
                <a:effectLst/>
                <a:uFillTx/>
                <a:latin typeface="NotoSansJP"/>
                <a:ea typeface="NotoSansJP"/>
              </a:rPr>
              <a:t>eye</a:t>
            </a:r>
            <a:endParaRPr b="0" lang="en-US" sz="790" strike="noStrike" u="none">
              <a:solidFill>
                <a:srgbClr val="000000"/>
              </a:solidFill>
              <a:effectLst/>
              <a:uFillTx/>
              <a:latin typeface="Times New Roman"/>
            </a:endParaRPr>
          </a:p>
        </p:txBody>
      </p:sp>
      <p:sp>
        <p:nvSpPr>
          <p:cNvPr id="659" name=""/>
          <p:cNvSpPr txBox="1"/>
          <p:nvPr/>
        </p:nvSpPr>
        <p:spPr>
          <a:xfrm>
            <a:off x="852480" y="3149280"/>
            <a:ext cx="100080" cy="117720"/>
          </a:xfrm>
          <a:prstGeom prst="rect">
            <a:avLst/>
          </a:prstGeom>
          <a:noFill/>
          <a:ln w="0">
            <a:noFill/>
          </a:ln>
        </p:spPr>
        <p:txBody>
          <a:bodyPr wrap="none" lIns="0" rIns="0" tIns="0" bIns="0" anchor="t">
            <a:spAutoFit/>
          </a:bodyPr>
          <a:p>
            <a:r>
              <a:rPr b="0" lang="en-US" sz="790" strike="noStrike" u="none">
                <a:solidFill>
                  <a:srgbClr val="ff8c00"/>
                </a:solidFill>
                <a:effectLst/>
                <a:uFillTx/>
                <a:latin typeface="NotoSansJP"/>
                <a:ea typeface="NotoSansJP"/>
              </a:rPr>
              <a:t>p</a:t>
            </a:r>
            <a:endParaRPr b="0" lang="en-US" sz="790" strike="noStrike" u="none">
              <a:solidFill>
                <a:srgbClr val="000000"/>
              </a:solidFill>
              <a:effectLst/>
              <a:uFillTx/>
              <a:latin typeface="Times New Roman"/>
            </a:endParaRPr>
          </a:p>
        </p:txBody>
      </p:sp>
      <p:sp>
        <p:nvSpPr>
          <p:cNvPr id="660" name=""/>
          <p:cNvSpPr txBox="1"/>
          <p:nvPr/>
        </p:nvSpPr>
        <p:spPr>
          <a:xfrm>
            <a:off x="1069560" y="3149280"/>
            <a:ext cx="100080" cy="117720"/>
          </a:xfrm>
          <a:prstGeom prst="rect">
            <a:avLst/>
          </a:prstGeom>
          <a:noFill/>
          <a:ln w="0">
            <a:noFill/>
          </a:ln>
        </p:spPr>
        <p:txBody>
          <a:bodyPr wrap="none" lIns="0" rIns="0" tIns="0" bIns="0" anchor="t">
            <a:spAutoFit/>
          </a:bodyPr>
          <a:p>
            <a:r>
              <a:rPr b="0" lang="en-US" sz="790" strike="noStrike" u="none">
                <a:solidFill>
                  <a:srgbClr val="ff8c00"/>
                </a:solidFill>
                <a:effectLst/>
                <a:uFillTx/>
                <a:latin typeface="NotoSansJP"/>
                <a:ea typeface="NotoSansJP"/>
              </a:rPr>
              <a:t>p</a:t>
            </a:r>
            <a:endParaRPr b="0" lang="en-US" sz="790" strike="noStrike" u="none">
              <a:solidFill>
                <a:srgbClr val="000000"/>
              </a:solidFill>
              <a:effectLst/>
              <a:uFillTx/>
              <a:latin typeface="Times New Roman"/>
            </a:endParaRPr>
          </a:p>
        </p:txBody>
      </p:sp>
      <p:sp>
        <p:nvSpPr>
          <p:cNvPr id="661" name=""/>
          <p:cNvSpPr txBox="1"/>
          <p:nvPr/>
        </p:nvSpPr>
        <p:spPr>
          <a:xfrm>
            <a:off x="1487520" y="4352760"/>
            <a:ext cx="183960" cy="117720"/>
          </a:xfrm>
          <a:prstGeom prst="rect">
            <a:avLst/>
          </a:prstGeom>
          <a:noFill/>
          <a:ln w="0">
            <a:noFill/>
          </a:ln>
        </p:spPr>
        <p:txBody>
          <a:bodyPr wrap="none" lIns="0" rIns="0" tIns="0" bIns="0" anchor="t">
            <a:spAutoFit/>
          </a:bodyPr>
          <a:p>
            <a:r>
              <a:rPr b="0" lang="en-US" sz="790" strike="noStrike" u="none">
                <a:solidFill>
                  <a:srgbClr val="ff8c00"/>
                </a:solidFill>
                <a:effectLst/>
                <a:uFillTx/>
                <a:latin typeface="NotoSansJP"/>
                <a:ea typeface="NotoSansJP"/>
              </a:rPr>
              <a:t>eye</a:t>
            </a:r>
            <a:endParaRPr b="0" lang="en-US" sz="790" strike="noStrike" u="none">
              <a:solidFill>
                <a:srgbClr val="000000"/>
              </a:solidFill>
              <a:effectLst/>
              <a:uFillTx/>
              <a:latin typeface="Times New Roman"/>
            </a:endParaRPr>
          </a:p>
        </p:txBody>
      </p:sp>
      <p:sp>
        <p:nvSpPr>
          <p:cNvPr id="662" name=""/>
          <p:cNvSpPr txBox="1"/>
          <p:nvPr/>
        </p:nvSpPr>
        <p:spPr>
          <a:xfrm>
            <a:off x="10136520" y="5741280"/>
            <a:ext cx="413640" cy="136080"/>
          </a:xfrm>
          <a:prstGeom prst="rect">
            <a:avLst/>
          </a:prstGeom>
          <a:noFill/>
          <a:ln w="0">
            <a:noFill/>
          </a:ln>
        </p:spPr>
        <p:txBody>
          <a:bodyPr wrap="none" lIns="0" rIns="0" tIns="0" bIns="0" anchor="t">
            <a:spAutoFit/>
          </a:bodyPr>
          <a:p>
            <a:r>
              <a:rPr b="0" lang="en-US" sz="920" strike="noStrike" u="none">
                <a:solidFill>
                  <a:srgbClr val="a7c6d9"/>
                </a:solidFill>
                <a:effectLst/>
                <a:uFillTx/>
                <a:latin typeface="NotoSansJP"/>
                <a:ea typeface="NotoSansJP"/>
              </a:rPr>
              <a:t>10 / 13</a:t>
            </a:r>
            <a:endParaRPr b="0" lang="en-US" sz="920" strike="noStrike" u="non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3" name=""/>
          <p:cNvSpPr/>
          <p:nvPr/>
        </p:nvSpPr>
        <p:spPr>
          <a:xfrm>
            <a:off x="0" y="0"/>
            <a:ext cx="10696680" cy="6017040"/>
          </a:xfrm>
          <a:custGeom>
            <a:avLst/>
            <a:gdLst/>
            <a:ahLst/>
            <a:rect l="0" t="0" r="r" b="b"/>
            <a:pathLst>
              <a:path w="29713" h="16714">
                <a:moveTo>
                  <a:pt x="0" y="0"/>
                </a:moveTo>
                <a:lnTo>
                  <a:pt x="29713" y="0"/>
                </a:lnTo>
                <a:lnTo>
                  <a:pt x="29713" y="16714"/>
                </a:lnTo>
                <a:lnTo>
                  <a:pt x="0" y="16714"/>
                </a:lnTo>
                <a:lnTo>
                  <a:pt x="0" y="0"/>
                </a:lnTo>
                <a:close/>
              </a:path>
            </a:pathLst>
          </a:custGeom>
          <a:solidFill>
            <a:srgbClr val="1c3d5a"/>
          </a:solidFill>
          <a:ln w="0">
            <a:noFill/>
          </a:ln>
        </p:spPr>
        <p:txBody>
          <a:bodyPr lIns="0" rIns="0" tIns="0" bIns="0" anchor="t">
            <a:noAutofit/>
          </a:bodyPr>
          <a:p>
            <a:endParaRPr b="0" lang="en-US" sz="2400" strike="noStrike" u="none">
              <a:solidFill>
                <a:srgbClr val="ffffff"/>
              </a:solidFill>
              <a:effectLst/>
              <a:uFillTx/>
              <a:latin typeface="Times New Roman"/>
            </a:endParaRPr>
          </a:p>
        </p:txBody>
      </p:sp>
      <p:pic>
        <p:nvPicPr>
          <p:cNvPr id="664" name="" descr=""/>
          <p:cNvPicPr/>
          <p:nvPr/>
        </p:nvPicPr>
        <p:blipFill>
          <a:blip r:embed="rId1"/>
          <a:stretch/>
        </p:blipFill>
        <p:spPr>
          <a:xfrm>
            <a:off x="0" y="0"/>
            <a:ext cx="10696320" cy="6016320"/>
          </a:xfrm>
          <a:prstGeom prst="rect">
            <a:avLst/>
          </a:prstGeom>
          <a:noFill/>
          <a:ln w="0">
            <a:noFill/>
          </a:ln>
        </p:spPr>
      </p:pic>
      <p:sp>
        <p:nvSpPr>
          <p:cNvPr id="665" name=""/>
          <p:cNvSpPr/>
          <p:nvPr/>
        </p:nvSpPr>
        <p:spPr>
          <a:xfrm>
            <a:off x="534600" y="601560"/>
            <a:ext cx="1069920" cy="33840"/>
          </a:xfrm>
          <a:custGeom>
            <a:avLst/>
            <a:gdLst/>
            <a:ahLst/>
            <a:rect l="0" t="0" r="r" b="b"/>
            <a:pathLst>
              <a:path w="2972" h="94">
                <a:moveTo>
                  <a:pt x="0" y="0"/>
                </a:moveTo>
                <a:lnTo>
                  <a:pt x="2972" y="0"/>
                </a:lnTo>
                <a:lnTo>
                  <a:pt x="2972" y="94"/>
                </a:lnTo>
                <a:lnTo>
                  <a:pt x="0" y="94"/>
                </a:lnTo>
                <a:lnTo>
                  <a:pt x="0" y="0"/>
                </a:lnTo>
                <a:close/>
              </a:path>
            </a:pathLst>
          </a:custGeom>
          <a:solidFill>
            <a:srgbClr val="ff8c00"/>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666" name=""/>
          <p:cNvSpPr/>
          <p:nvPr/>
        </p:nvSpPr>
        <p:spPr>
          <a:xfrm>
            <a:off x="534600" y="2740680"/>
            <a:ext cx="4680000" cy="2841840"/>
          </a:xfrm>
          <a:custGeom>
            <a:avLst/>
            <a:gdLst/>
            <a:ahLst/>
            <a:rect l="0" t="0" r="r" b="b"/>
            <a:pathLst>
              <a:path w="13000" h="7894">
                <a:moveTo>
                  <a:pt x="0" y="7708"/>
                </a:moveTo>
                <a:lnTo>
                  <a:pt x="0" y="186"/>
                </a:lnTo>
                <a:cubicBezTo>
                  <a:pt x="0" y="174"/>
                  <a:pt x="1" y="162"/>
                  <a:pt x="4" y="150"/>
                </a:cubicBezTo>
                <a:cubicBezTo>
                  <a:pt x="6" y="138"/>
                  <a:pt x="10" y="126"/>
                  <a:pt x="14" y="115"/>
                </a:cubicBezTo>
                <a:cubicBezTo>
                  <a:pt x="19" y="104"/>
                  <a:pt x="25" y="93"/>
                  <a:pt x="31" y="83"/>
                </a:cubicBezTo>
                <a:cubicBezTo>
                  <a:pt x="38" y="73"/>
                  <a:pt x="46" y="63"/>
                  <a:pt x="55" y="55"/>
                </a:cubicBezTo>
                <a:cubicBezTo>
                  <a:pt x="63" y="46"/>
                  <a:pt x="73" y="38"/>
                  <a:pt x="83" y="32"/>
                </a:cubicBezTo>
                <a:cubicBezTo>
                  <a:pt x="93" y="25"/>
                  <a:pt x="104" y="19"/>
                  <a:pt x="115" y="15"/>
                </a:cubicBezTo>
                <a:cubicBezTo>
                  <a:pt x="126" y="10"/>
                  <a:pt x="138" y="6"/>
                  <a:pt x="150" y="4"/>
                </a:cubicBezTo>
                <a:cubicBezTo>
                  <a:pt x="162" y="2"/>
                  <a:pt x="174" y="0"/>
                  <a:pt x="186" y="0"/>
                </a:cubicBezTo>
                <a:lnTo>
                  <a:pt x="12815" y="0"/>
                </a:lnTo>
                <a:cubicBezTo>
                  <a:pt x="12827" y="0"/>
                  <a:pt x="12839" y="2"/>
                  <a:pt x="12851" y="4"/>
                </a:cubicBezTo>
                <a:cubicBezTo>
                  <a:pt x="12863" y="6"/>
                  <a:pt x="12875" y="10"/>
                  <a:pt x="12886" y="15"/>
                </a:cubicBezTo>
                <a:cubicBezTo>
                  <a:pt x="12897" y="19"/>
                  <a:pt x="12908" y="25"/>
                  <a:pt x="12918" y="32"/>
                </a:cubicBezTo>
                <a:cubicBezTo>
                  <a:pt x="12928" y="38"/>
                  <a:pt x="12937" y="46"/>
                  <a:pt x="12946" y="55"/>
                </a:cubicBezTo>
                <a:cubicBezTo>
                  <a:pt x="12955" y="63"/>
                  <a:pt x="12962" y="73"/>
                  <a:pt x="12969" y="83"/>
                </a:cubicBezTo>
                <a:cubicBezTo>
                  <a:pt x="12976" y="93"/>
                  <a:pt x="12982" y="104"/>
                  <a:pt x="12986" y="115"/>
                </a:cubicBezTo>
                <a:cubicBezTo>
                  <a:pt x="12991" y="126"/>
                  <a:pt x="12994" y="138"/>
                  <a:pt x="12997" y="150"/>
                </a:cubicBezTo>
                <a:cubicBezTo>
                  <a:pt x="12999" y="162"/>
                  <a:pt x="13000" y="174"/>
                  <a:pt x="13000" y="186"/>
                </a:cubicBezTo>
                <a:lnTo>
                  <a:pt x="13000" y="7708"/>
                </a:lnTo>
                <a:cubicBezTo>
                  <a:pt x="13000" y="7720"/>
                  <a:pt x="12999" y="7732"/>
                  <a:pt x="12997" y="7744"/>
                </a:cubicBezTo>
                <a:cubicBezTo>
                  <a:pt x="12994" y="7756"/>
                  <a:pt x="12991" y="7768"/>
                  <a:pt x="12986" y="7779"/>
                </a:cubicBezTo>
                <a:cubicBezTo>
                  <a:pt x="12982" y="7790"/>
                  <a:pt x="12976" y="7801"/>
                  <a:pt x="12969" y="7811"/>
                </a:cubicBezTo>
                <a:cubicBezTo>
                  <a:pt x="12962" y="7821"/>
                  <a:pt x="12955" y="7831"/>
                  <a:pt x="12946" y="7839"/>
                </a:cubicBezTo>
                <a:cubicBezTo>
                  <a:pt x="12937" y="7848"/>
                  <a:pt x="12928" y="7856"/>
                  <a:pt x="12918" y="7863"/>
                </a:cubicBezTo>
                <a:cubicBezTo>
                  <a:pt x="12908" y="7869"/>
                  <a:pt x="12897" y="7875"/>
                  <a:pt x="12886" y="7880"/>
                </a:cubicBezTo>
                <a:cubicBezTo>
                  <a:pt x="12875" y="7884"/>
                  <a:pt x="12863" y="7888"/>
                  <a:pt x="12851" y="7890"/>
                </a:cubicBezTo>
                <a:cubicBezTo>
                  <a:pt x="12839" y="7893"/>
                  <a:pt x="12827" y="7894"/>
                  <a:pt x="12815" y="7894"/>
                </a:cubicBezTo>
                <a:lnTo>
                  <a:pt x="186" y="7894"/>
                </a:lnTo>
                <a:cubicBezTo>
                  <a:pt x="174" y="7894"/>
                  <a:pt x="162" y="7893"/>
                  <a:pt x="150" y="7890"/>
                </a:cubicBezTo>
                <a:cubicBezTo>
                  <a:pt x="138" y="7888"/>
                  <a:pt x="126" y="7884"/>
                  <a:pt x="115" y="7880"/>
                </a:cubicBezTo>
                <a:cubicBezTo>
                  <a:pt x="104" y="7875"/>
                  <a:pt x="93" y="7869"/>
                  <a:pt x="83" y="7863"/>
                </a:cubicBezTo>
                <a:cubicBezTo>
                  <a:pt x="73" y="7856"/>
                  <a:pt x="63" y="7848"/>
                  <a:pt x="55" y="7839"/>
                </a:cubicBezTo>
                <a:cubicBezTo>
                  <a:pt x="46" y="7831"/>
                  <a:pt x="38" y="7821"/>
                  <a:pt x="31" y="7811"/>
                </a:cubicBezTo>
                <a:cubicBezTo>
                  <a:pt x="25" y="7801"/>
                  <a:pt x="19" y="7790"/>
                  <a:pt x="14" y="7779"/>
                </a:cubicBezTo>
                <a:cubicBezTo>
                  <a:pt x="10" y="7768"/>
                  <a:pt x="6" y="7756"/>
                  <a:pt x="4" y="7744"/>
                </a:cubicBezTo>
                <a:cubicBezTo>
                  <a:pt x="1" y="7732"/>
                  <a:pt x="0" y="7720"/>
                  <a:pt x="0" y="7708"/>
                </a:cubicBezTo>
                <a:close/>
              </a:path>
            </a:pathLst>
          </a:custGeom>
          <a:solidFill>
            <a:srgbClr val="ffffff">
              <a:alpha val="10000"/>
            </a:srgbClr>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667" name=""/>
          <p:cNvSpPr txBox="1"/>
          <p:nvPr/>
        </p:nvSpPr>
        <p:spPr>
          <a:xfrm>
            <a:off x="534960" y="222120"/>
            <a:ext cx="4204080" cy="436320"/>
          </a:xfrm>
          <a:prstGeom prst="rect">
            <a:avLst/>
          </a:prstGeom>
          <a:noFill/>
          <a:ln w="0">
            <a:noFill/>
          </a:ln>
        </p:spPr>
        <p:txBody>
          <a:bodyPr wrap="none" lIns="0" rIns="0" tIns="0" bIns="0" anchor="t">
            <a:spAutoFit/>
          </a:bodyPr>
          <a:p>
            <a:r>
              <a:rPr b="0" lang="zh-CN" sz="2370" strike="noStrike" u="none">
                <a:solidFill>
                  <a:srgbClr val="ffffff"/>
                </a:solidFill>
                <a:effectLst/>
                <a:uFillTx/>
                <a:latin typeface="NotoSansJP"/>
                <a:ea typeface="NotoSansJP"/>
              </a:rPr>
              <a:t>網膜面への伝搬と再生像の取得</a:t>
            </a:r>
            <a:endParaRPr b="0" lang="en-US" sz="2370" strike="noStrike" u="none">
              <a:solidFill>
                <a:srgbClr val="000000"/>
              </a:solidFill>
              <a:effectLst/>
              <a:uFillTx/>
              <a:latin typeface="Times New Roman"/>
            </a:endParaRPr>
          </a:p>
        </p:txBody>
      </p:sp>
      <p:pic>
        <p:nvPicPr>
          <p:cNvPr id="668" name="" descr=""/>
          <p:cNvPicPr/>
          <p:nvPr/>
        </p:nvPicPr>
        <p:blipFill>
          <a:blip r:embed="rId2"/>
          <a:stretch/>
        </p:blipFill>
        <p:spPr>
          <a:xfrm>
            <a:off x="735480" y="2975040"/>
            <a:ext cx="208440" cy="233640"/>
          </a:xfrm>
          <a:prstGeom prst="rect">
            <a:avLst/>
          </a:prstGeom>
          <a:noFill/>
          <a:ln w="0">
            <a:noFill/>
          </a:ln>
        </p:spPr>
      </p:pic>
      <p:sp>
        <p:nvSpPr>
          <p:cNvPr id="669" name=""/>
          <p:cNvSpPr txBox="1"/>
          <p:nvPr/>
        </p:nvSpPr>
        <p:spPr>
          <a:xfrm>
            <a:off x="534960" y="2370960"/>
            <a:ext cx="2213640" cy="291600"/>
          </a:xfrm>
          <a:prstGeom prst="rect">
            <a:avLst/>
          </a:prstGeom>
          <a:noFill/>
          <a:ln w="0">
            <a:noFill/>
          </a:ln>
        </p:spPr>
        <p:txBody>
          <a:bodyPr wrap="none" lIns="0" rIns="0" tIns="0" bIns="0" anchor="t">
            <a:spAutoFit/>
          </a:bodyPr>
          <a:p>
            <a:r>
              <a:rPr b="0" lang="zh-CN" sz="1580" strike="noStrike" u="none">
                <a:solidFill>
                  <a:srgbClr val="a7c6d9"/>
                </a:solidFill>
                <a:effectLst/>
                <a:uFillTx/>
                <a:latin typeface="NotoSansJP"/>
                <a:ea typeface="NotoSansJP"/>
              </a:rPr>
              <a:t>眼球モデルのパラメータ</a:t>
            </a:r>
            <a:endParaRPr b="0" lang="en-US" sz="1580" strike="noStrike" u="none">
              <a:solidFill>
                <a:srgbClr val="000000"/>
              </a:solidFill>
              <a:effectLst/>
              <a:uFillTx/>
              <a:latin typeface="Times New Roman"/>
            </a:endParaRPr>
          </a:p>
        </p:txBody>
      </p:sp>
      <p:sp>
        <p:nvSpPr>
          <p:cNvPr id="670" name=""/>
          <p:cNvSpPr txBox="1"/>
          <p:nvPr/>
        </p:nvSpPr>
        <p:spPr>
          <a:xfrm>
            <a:off x="1077840" y="2976120"/>
            <a:ext cx="1341720" cy="194040"/>
          </a:xfrm>
          <a:prstGeom prst="rect">
            <a:avLst/>
          </a:prstGeom>
          <a:noFill/>
          <a:ln w="0">
            <a:noFill/>
          </a:ln>
        </p:spPr>
        <p:txBody>
          <a:bodyPr wrap="none" lIns="0" rIns="0" tIns="0" bIns="0" anchor="t">
            <a:spAutoFit/>
          </a:bodyPr>
          <a:p>
            <a:r>
              <a:rPr b="0" lang="zh-CN" sz="1050" strike="noStrike" u="none">
                <a:solidFill>
                  <a:srgbClr val="ffffff"/>
                </a:solidFill>
                <a:effectLst/>
                <a:uFillTx/>
                <a:latin typeface="NotoSansJP"/>
                <a:ea typeface="NotoSansJP"/>
              </a:rPr>
              <a:t>瞳から網膜までの距離</a:t>
            </a:r>
            <a:endParaRPr b="0" lang="en-US" sz="1050" strike="noStrike" u="none">
              <a:solidFill>
                <a:srgbClr val="000000"/>
              </a:solidFill>
              <a:effectLst/>
              <a:uFillTx/>
              <a:latin typeface="Times New Roman"/>
            </a:endParaRPr>
          </a:p>
        </p:txBody>
      </p:sp>
      <p:sp>
        <p:nvSpPr>
          <p:cNvPr id="671" name=""/>
          <p:cNvSpPr txBox="1"/>
          <p:nvPr/>
        </p:nvSpPr>
        <p:spPr>
          <a:xfrm>
            <a:off x="1077840" y="3210120"/>
            <a:ext cx="3889800" cy="194040"/>
          </a:xfrm>
          <a:prstGeom prst="rect">
            <a:avLst/>
          </a:prstGeom>
          <a:noFill/>
          <a:ln w="0">
            <a:noFill/>
          </a:ln>
        </p:spPr>
        <p:txBody>
          <a:bodyPr wrap="none" lIns="0" rIns="0" tIns="0" bIns="0" anchor="t">
            <a:spAutoFit/>
          </a:bodyPr>
          <a:p>
            <a:r>
              <a:rPr b="0" lang="zh-CN" sz="1050" strike="noStrike" u="none">
                <a:solidFill>
                  <a:srgbClr val="a7c6d9"/>
                </a:solidFill>
                <a:effectLst/>
                <a:uFillTx/>
                <a:latin typeface="NotoSansJP"/>
                <a:ea typeface="NotoSansJP"/>
              </a:rPr>
              <a:t>標準的な模型眼では、角膜頂点から網膜までの距離（眼軸長）は</a:t>
            </a:r>
            <a:endParaRPr b="0" lang="en-US" sz="1050" strike="noStrike" u="none">
              <a:solidFill>
                <a:srgbClr val="000000"/>
              </a:solidFill>
              <a:effectLst/>
              <a:uFillTx/>
              <a:latin typeface="Times New Roman"/>
            </a:endParaRPr>
          </a:p>
        </p:txBody>
      </p:sp>
      <p:sp>
        <p:nvSpPr>
          <p:cNvPr id="672" name=""/>
          <p:cNvSpPr txBox="1"/>
          <p:nvPr/>
        </p:nvSpPr>
        <p:spPr>
          <a:xfrm>
            <a:off x="1077840" y="3410640"/>
            <a:ext cx="3989520" cy="194040"/>
          </a:xfrm>
          <a:prstGeom prst="rect">
            <a:avLst/>
          </a:prstGeom>
          <a:noFill/>
          <a:ln w="0">
            <a:noFill/>
          </a:ln>
        </p:spPr>
        <p:txBody>
          <a:bodyPr wrap="none" lIns="0" rIns="0" tIns="0" bIns="0" anchor="t">
            <a:spAutoFit/>
          </a:bodyPr>
          <a:p>
            <a:r>
              <a:rPr b="0" lang="zh-CN" sz="1050" strike="noStrike" u="none">
                <a:solidFill>
                  <a:srgbClr val="a7c6d9"/>
                </a:solidFill>
                <a:effectLst/>
                <a:uFillTx/>
                <a:latin typeface="NotoSansJP"/>
                <a:ea typeface="NotoSansJP"/>
              </a:rPr>
              <a:t>約</a:t>
            </a:r>
            <a:r>
              <a:rPr b="0" lang="en-US" sz="1050" strike="noStrike" u="none">
                <a:solidFill>
                  <a:srgbClr val="a7c6d9"/>
                </a:solidFill>
                <a:effectLst/>
                <a:uFillTx/>
                <a:latin typeface="NotoSansJP"/>
                <a:ea typeface="NotoSansJP"/>
              </a:rPr>
              <a:t>24mm</a:t>
            </a:r>
            <a:r>
              <a:rPr b="0" lang="zh-CN" sz="1050" strike="noStrike" u="none">
                <a:solidFill>
                  <a:srgbClr val="a7c6d9"/>
                </a:solidFill>
                <a:effectLst/>
                <a:uFillTx/>
                <a:latin typeface="NotoSansJP"/>
                <a:ea typeface="NotoSansJP"/>
              </a:rPr>
              <a:t>程度。レンズの主点の位置を考慮して実効的な伝搬距離</a:t>
            </a:r>
            <a:endParaRPr b="0" lang="en-US" sz="1050" strike="noStrike" u="none">
              <a:solidFill>
                <a:srgbClr val="000000"/>
              </a:solidFill>
              <a:effectLst/>
              <a:uFillTx/>
              <a:latin typeface="Times New Roman"/>
            </a:endParaRPr>
          </a:p>
        </p:txBody>
      </p:sp>
      <p:pic>
        <p:nvPicPr>
          <p:cNvPr id="673" name="" descr=""/>
          <p:cNvPicPr/>
          <p:nvPr/>
        </p:nvPicPr>
        <p:blipFill>
          <a:blip r:embed="rId3"/>
          <a:stretch/>
        </p:blipFill>
        <p:spPr>
          <a:xfrm>
            <a:off x="735480" y="3977640"/>
            <a:ext cx="124920" cy="233640"/>
          </a:xfrm>
          <a:prstGeom prst="rect">
            <a:avLst/>
          </a:prstGeom>
          <a:noFill/>
          <a:ln w="0">
            <a:noFill/>
          </a:ln>
        </p:spPr>
      </p:pic>
      <p:sp>
        <p:nvSpPr>
          <p:cNvPr id="674" name=""/>
          <p:cNvSpPr txBox="1"/>
          <p:nvPr/>
        </p:nvSpPr>
        <p:spPr>
          <a:xfrm>
            <a:off x="1077840" y="3611520"/>
            <a:ext cx="939600" cy="194040"/>
          </a:xfrm>
          <a:prstGeom prst="rect">
            <a:avLst/>
          </a:prstGeom>
          <a:noFill/>
          <a:ln w="0">
            <a:noFill/>
          </a:ln>
        </p:spPr>
        <p:txBody>
          <a:bodyPr wrap="none" lIns="0" rIns="0" tIns="0" bIns="0" anchor="t">
            <a:spAutoFit/>
          </a:bodyPr>
          <a:p>
            <a:r>
              <a:rPr b="0" lang="zh-CN" sz="1050" strike="noStrike" u="none">
                <a:solidFill>
                  <a:srgbClr val="a7c6d9"/>
                </a:solidFill>
                <a:effectLst/>
                <a:uFillTx/>
                <a:latin typeface="NotoSansJP"/>
                <a:ea typeface="NotoSansJP"/>
              </a:rPr>
              <a:t>を設定します。</a:t>
            </a:r>
            <a:endParaRPr b="0" lang="en-US" sz="1050" strike="noStrike" u="none">
              <a:solidFill>
                <a:srgbClr val="000000"/>
              </a:solidFill>
              <a:effectLst/>
              <a:uFillTx/>
              <a:latin typeface="Times New Roman"/>
            </a:endParaRPr>
          </a:p>
        </p:txBody>
      </p:sp>
      <p:sp>
        <p:nvSpPr>
          <p:cNvPr id="675" name=""/>
          <p:cNvSpPr txBox="1"/>
          <p:nvPr/>
        </p:nvSpPr>
        <p:spPr>
          <a:xfrm>
            <a:off x="994320" y="3979080"/>
            <a:ext cx="939600" cy="194040"/>
          </a:xfrm>
          <a:prstGeom prst="rect">
            <a:avLst/>
          </a:prstGeom>
          <a:noFill/>
          <a:ln w="0">
            <a:noFill/>
          </a:ln>
        </p:spPr>
        <p:txBody>
          <a:bodyPr wrap="none" lIns="0" rIns="0" tIns="0" bIns="0" anchor="t">
            <a:spAutoFit/>
          </a:bodyPr>
          <a:p>
            <a:r>
              <a:rPr b="0" lang="zh-CN" sz="1050" strike="noStrike" u="none">
                <a:solidFill>
                  <a:srgbClr val="ffffff"/>
                </a:solidFill>
                <a:effectLst/>
                <a:uFillTx/>
                <a:latin typeface="NotoSansJP"/>
                <a:ea typeface="NotoSansJP"/>
              </a:rPr>
              <a:t>硝子体の屈折率</a:t>
            </a:r>
            <a:endParaRPr b="0" lang="en-US" sz="1050" strike="noStrike" u="none">
              <a:solidFill>
                <a:srgbClr val="000000"/>
              </a:solidFill>
              <a:effectLst/>
              <a:uFillTx/>
              <a:latin typeface="Times New Roman"/>
            </a:endParaRPr>
          </a:p>
        </p:txBody>
      </p:sp>
      <p:sp>
        <p:nvSpPr>
          <p:cNvPr id="676" name=""/>
          <p:cNvSpPr txBox="1"/>
          <p:nvPr/>
        </p:nvSpPr>
        <p:spPr>
          <a:xfrm>
            <a:off x="994320" y="4213080"/>
            <a:ext cx="4075560" cy="194040"/>
          </a:xfrm>
          <a:prstGeom prst="rect">
            <a:avLst/>
          </a:prstGeom>
          <a:noFill/>
          <a:ln w="0">
            <a:noFill/>
          </a:ln>
        </p:spPr>
        <p:txBody>
          <a:bodyPr wrap="none" lIns="0" rIns="0" tIns="0" bIns="0" anchor="t">
            <a:spAutoFit/>
          </a:bodyPr>
          <a:p>
            <a:r>
              <a:rPr b="0" lang="zh-CN" sz="1050" strike="noStrike" u="none">
                <a:solidFill>
                  <a:srgbClr val="a7c6d9"/>
                </a:solidFill>
                <a:effectLst/>
                <a:uFillTx/>
                <a:latin typeface="NotoSansJP"/>
                <a:ea typeface="NotoSansJP"/>
              </a:rPr>
              <a:t>硝子体の屈折率（約</a:t>
            </a:r>
            <a:r>
              <a:rPr b="0" lang="en-US" sz="1050" strike="noStrike" u="none">
                <a:solidFill>
                  <a:srgbClr val="a7c6d9"/>
                </a:solidFill>
                <a:effectLst/>
                <a:uFillTx/>
                <a:latin typeface="NotoSansJP"/>
                <a:ea typeface="NotoSansJP"/>
              </a:rPr>
              <a:t>1.336</a:t>
            </a:r>
            <a:r>
              <a:rPr b="0" lang="zh-CN" sz="1050" strike="noStrike" u="none">
                <a:solidFill>
                  <a:srgbClr val="a7c6d9"/>
                </a:solidFill>
                <a:effectLst/>
                <a:uFillTx/>
                <a:latin typeface="NotoSansJP"/>
                <a:ea typeface="NotoSansJP"/>
              </a:rPr>
              <a:t>）を考慮して、伝搬計算における波長や</a:t>
            </a:r>
            <a:endParaRPr b="0" lang="en-US" sz="1050" strike="noStrike" u="none">
              <a:solidFill>
                <a:srgbClr val="000000"/>
              </a:solidFill>
              <a:effectLst/>
              <a:uFillTx/>
              <a:latin typeface="Times New Roman"/>
            </a:endParaRPr>
          </a:p>
        </p:txBody>
      </p:sp>
      <p:pic>
        <p:nvPicPr>
          <p:cNvPr id="677" name="" descr=""/>
          <p:cNvPicPr/>
          <p:nvPr/>
        </p:nvPicPr>
        <p:blipFill>
          <a:blip r:embed="rId4"/>
          <a:stretch/>
        </p:blipFill>
        <p:spPr>
          <a:xfrm>
            <a:off x="735480" y="4780080"/>
            <a:ext cx="166680" cy="233640"/>
          </a:xfrm>
          <a:prstGeom prst="rect">
            <a:avLst/>
          </a:prstGeom>
          <a:noFill/>
          <a:ln w="0">
            <a:noFill/>
          </a:ln>
        </p:spPr>
      </p:pic>
      <p:sp>
        <p:nvSpPr>
          <p:cNvPr id="678" name=""/>
          <p:cNvSpPr txBox="1"/>
          <p:nvPr/>
        </p:nvSpPr>
        <p:spPr>
          <a:xfrm>
            <a:off x="994320" y="4413600"/>
            <a:ext cx="1207800" cy="194040"/>
          </a:xfrm>
          <a:prstGeom prst="rect">
            <a:avLst/>
          </a:prstGeom>
          <a:noFill/>
          <a:ln w="0">
            <a:noFill/>
          </a:ln>
        </p:spPr>
        <p:txBody>
          <a:bodyPr wrap="none" lIns="0" rIns="0" tIns="0" bIns="0" anchor="t">
            <a:spAutoFit/>
          </a:bodyPr>
          <a:p>
            <a:r>
              <a:rPr b="0" lang="zh-CN" sz="1050" strike="noStrike" u="none">
                <a:solidFill>
                  <a:srgbClr val="a7c6d9"/>
                </a:solidFill>
                <a:effectLst/>
                <a:uFillTx/>
                <a:latin typeface="NotoSansJP"/>
                <a:ea typeface="NotoSansJP"/>
              </a:rPr>
              <a:t>波数を調整します。</a:t>
            </a:r>
            <a:endParaRPr b="0" lang="en-US" sz="1050" strike="noStrike" u="none">
              <a:solidFill>
                <a:srgbClr val="000000"/>
              </a:solidFill>
              <a:effectLst/>
              <a:uFillTx/>
              <a:latin typeface="Times New Roman"/>
            </a:endParaRPr>
          </a:p>
        </p:txBody>
      </p:sp>
      <p:sp>
        <p:nvSpPr>
          <p:cNvPr id="679" name=""/>
          <p:cNvSpPr txBox="1"/>
          <p:nvPr/>
        </p:nvSpPr>
        <p:spPr>
          <a:xfrm>
            <a:off x="1036080" y="4781160"/>
            <a:ext cx="939600" cy="194040"/>
          </a:xfrm>
          <a:prstGeom prst="rect">
            <a:avLst/>
          </a:prstGeom>
          <a:noFill/>
          <a:ln w="0">
            <a:noFill/>
          </a:ln>
        </p:spPr>
        <p:txBody>
          <a:bodyPr wrap="none" lIns="0" rIns="0" tIns="0" bIns="0" anchor="t">
            <a:spAutoFit/>
          </a:bodyPr>
          <a:p>
            <a:r>
              <a:rPr b="0" lang="zh-CN" sz="1050" strike="noStrike" u="none">
                <a:solidFill>
                  <a:srgbClr val="ffffff"/>
                </a:solidFill>
                <a:effectLst/>
                <a:uFillTx/>
                <a:latin typeface="NotoSansJP"/>
                <a:ea typeface="NotoSansJP"/>
              </a:rPr>
              <a:t>計算領域の設定</a:t>
            </a:r>
            <a:endParaRPr b="0" lang="en-US" sz="1050" strike="noStrike" u="none">
              <a:solidFill>
                <a:srgbClr val="000000"/>
              </a:solidFill>
              <a:effectLst/>
              <a:uFillTx/>
              <a:latin typeface="Times New Roman"/>
            </a:endParaRPr>
          </a:p>
        </p:txBody>
      </p:sp>
      <p:sp>
        <p:nvSpPr>
          <p:cNvPr id="680" name=""/>
          <p:cNvSpPr txBox="1"/>
          <p:nvPr/>
        </p:nvSpPr>
        <p:spPr>
          <a:xfrm>
            <a:off x="1036080" y="5015160"/>
            <a:ext cx="3889800" cy="194040"/>
          </a:xfrm>
          <a:prstGeom prst="rect">
            <a:avLst/>
          </a:prstGeom>
          <a:noFill/>
          <a:ln w="0">
            <a:noFill/>
          </a:ln>
        </p:spPr>
        <p:txBody>
          <a:bodyPr wrap="none" lIns="0" rIns="0" tIns="0" bIns="0" anchor="t">
            <a:spAutoFit/>
          </a:bodyPr>
          <a:p>
            <a:r>
              <a:rPr b="0" lang="zh-CN" sz="1050" strike="noStrike" u="none">
                <a:solidFill>
                  <a:srgbClr val="a7c6d9"/>
                </a:solidFill>
                <a:effectLst/>
                <a:uFillTx/>
                <a:latin typeface="NotoSansJP"/>
                <a:ea typeface="NotoSansJP"/>
              </a:rPr>
              <a:t>網膜面における計算領域は、視野角と眼球パラメータに基づいて</a:t>
            </a:r>
            <a:endParaRPr b="0" lang="en-US" sz="1050" strike="noStrike" u="none">
              <a:solidFill>
                <a:srgbClr val="000000"/>
              </a:solidFill>
              <a:effectLst/>
              <a:uFillTx/>
              <a:latin typeface="Times New Roman"/>
            </a:endParaRPr>
          </a:p>
        </p:txBody>
      </p:sp>
      <p:sp>
        <p:nvSpPr>
          <p:cNvPr id="681" name=""/>
          <p:cNvSpPr/>
          <p:nvPr/>
        </p:nvSpPr>
        <p:spPr>
          <a:xfrm>
            <a:off x="5481720" y="2740680"/>
            <a:ext cx="4680360" cy="3058920"/>
          </a:xfrm>
          <a:custGeom>
            <a:avLst/>
            <a:gdLst/>
            <a:ahLst/>
            <a:rect l="0" t="0" r="r" b="b"/>
            <a:pathLst>
              <a:path w="13001" h="8497">
                <a:moveTo>
                  <a:pt x="0" y="8312"/>
                </a:moveTo>
                <a:lnTo>
                  <a:pt x="0" y="186"/>
                </a:lnTo>
                <a:cubicBezTo>
                  <a:pt x="0" y="174"/>
                  <a:pt x="1" y="162"/>
                  <a:pt x="4" y="150"/>
                </a:cubicBezTo>
                <a:cubicBezTo>
                  <a:pt x="6" y="138"/>
                  <a:pt x="10" y="126"/>
                  <a:pt x="14" y="115"/>
                </a:cubicBezTo>
                <a:cubicBezTo>
                  <a:pt x="19" y="104"/>
                  <a:pt x="25" y="93"/>
                  <a:pt x="32" y="83"/>
                </a:cubicBezTo>
                <a:cubicBezTo>
                  <a:pt x="38" y="73"/>
                  <a:pt x="46" y="63"/>
                  <a:pt x="55" y="55"/>
                </a:cubicBezTo>
                <a:cubicBezTo>
                  <a:pt x="63" y="46"/>
                  <a:pt x="73" y="38"/>
                  <a:pt x="83" y="32"/>
                </a:cubicBezTo>
                <a:cubicBezTo>
                  <a:pt x="93" y="25"/>
                  <a:pt x="104" y="19"/>
                  <a:pt x="115" y="15"/>
                </a:cubicBezTo>
                <a:cubicBezTo>
                  <a:pt x="126" y="10"/>
                  <a:pt x="138" y="6"/>
                  <a:pt x="150" y="4"/>
                </a:cubicBezTo>
                <a:cubicBezTo>
                  <a:pt x="162" y="2"/>
                  <a:pt x="174" y="0"/>
                  <a:pt x="186" y="0"/>
                </a:cubicBezTo>
                <a:lnTo>
                  <a:pt x="12815" y="0"/>
                </a:lnTo>
                <a:cubicBezTo>
                  <a:pt x="12827" y="0"/>
                  <a:pt x="12839" y="2"/>
                  <a:pt x="12851" y="4"/>
                </a:cubicBezTo>
                <a:cubicBezTo>
                  <a:pt x="12863" y="6"/>
                  <a:pt x="12875" y="10"/>
                  <a:pt x="12886" y="15"/>
                </a:cubicBezTo>
                <a:cubicBezTo>
                  <a:pt x="12897" y="19"/>
                  <a:pt x="12908" y="25"/>
                  <a:pt x="12918" y="32"/>
                </a:cubicBezTo>
                <a:cubicBezTo>
                  <a:pt x="12928" y="38"/>
                  <a:pt x="12938" y="46"/>
                  <a:pt x="12946" y="55"/>
                </a:cubicBezTo>
                <a:cubicBezTo>
                  <a:pt x="12955" y="63"/>
                  <a:pt x="12962" y="73"/>
                  <a:pt x="12969" y="83"/>
                </a:cubicBezTo>
                <a:cubicBezTo>
                  <a:pt x="12976" y="93"/>
                  <a:pt x="12982" y="104"/>
                  <a:pt x="12986" y="115"/>
                </a:cubicBezTo>
                <a:cubicBezTo>
                  <a:pt x="12991" y="126"/>
                  <a:pt x="12995" y="138"/>
                  <a:pt x="12997" y="150"/>
                </a:cubicBezTo>
                <a:cubicBezTo>
                  <a:pt x="12999" y="162"/>
                  <a:pt x="13001" y="174"/>
                  <a:pt x="13001" y="186"/>
                </a:cubicBezTo>
                <a:lnTo>
                  <a:pt x="13001" y="8312"/>
                </a:lnTo>
                <a:cubicBezTo>
                  <a:pt x="13001" y="8324"/>
                  <a:pt x="12999" y="8336"/>
                  <a:pt x="12997" y="8348"/>
                </a:cubicBezTo>
                <a:cubicBezTo>
                  <a:pt x="12995" y="8360"/>
                  <a:pt x="12991" y="8371"/>
                  <a:pt x="12986" y="8383"/>
                </a:cubicBezTo>
                <a:cubicBezTo>
                  <a:pt x="12982" y="8394"/>
                  <a:pt x="12976" y="8405"/>
                  <a:pt x="12969" y="8415"/>
                </a:cubicBezTo>
                <a:cubicBezTo>
                  <a:pt x="12962" y="8425"/>
                  <a:pt x="12955" y="8434"/>
                  <a:pt x="12946" y="8443"/>
                </a:cubicBezTo>
                <a:cubicBezTo>
                  <a:pt x="12938" y="8452"/>
                  <a:pt x="12928" y="8459"/>
                  <a:pt x="12918" y="8466"/>
                </a:cubicBezTo>
                <a:cubicBezTo>
                  <a:pt x="12908" y="8473"/>
                  <a:pt x="12897" y="8479"/>
                  <a:pt x="12886" y="8483"/>
                </a:cubicBezTo>
                <a:cubicBezTo>
                  <a:pt x="12875" y="8488"/>
                  <a:pt x="12863" y="8491"/>
                  <a:pt x="12851" y="8494"/>
                </a:cubicBezTo>
                <a:cubicBezTo>
                  <a:pt x="12839" y="8496"/>
                  <a:pt x="12827" y="8497"/>
                  <a:pt x="12815" y="8497"/>
                </a:cubicBezTo>
                <a:lnTo>
                  <a:pt x="186" y="8497"/>
                </a:lnTo>
                <a:cubicBezTo>
                  <a:pt x="174" y="8497"/>
                  <a:pt x="162" y="8496"/>
                  <a:pt x="150" y="8494"/>
                </a:cubicBezTo>
                <a:cubicBezTo>
                  <a:pt x="138" y="8491"/>
                  <a:pt x="126" y="8488"/>
                  <a:pt x="115" y="8483"/>
                </a:cubicBezTo>
                <a:cubicBezTo>
                  <a:pt x="104" y="8479"/>
                  <a:pt x="93" y="8473"/>
                  <a:pt x="83" y="8466"/>
                </a:cubicBezTo>
                <a:cubicBezTo>
                  <a:pt x="73" y="8459"/>
                  <a:pt x="63" y="8452"/>
                  <a:pt x="55" y="8443"/>
                </a:cubicBezTo>
                <a:cubicBezTo>
                  <a:pt x="46" y="8434"/>
                  <a:pt x="38" y="8425"/>
                  <a:pt x="32" y="8415"/>
                </a:cubicBezTo>
                <a:cubicBezTo>
                  <a:pt x="25" y="8405"/>
                  <a:pt x="19" y="8394"/>
                  <a:pt x="14" y="8383"/>
                </a:cubicBezTo>
                <a:cubicBezTo>
                  <a:pt x="10" y="8371"/>
                  <a:pt x="6" y="8360"/>
                  <a:pt x="4" y="8348"/>
                </a:cubicBezTo>
                <a:cubicBezTo>
                  <a:pt x="1" y="8336"/>
                  <a:pt x="0" y="8324"/>
                  <a:pt x="0" y="8312"/>
                </a:cubicBezTo>
                <a:close/>
              </a:path>
            </a:pathLst>
          </a:custGeom>
          <a:solidFill>
            <a:srgbClr val="ffffff">
              <a:alpha val="10000"/>
            </a:srgbClr>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682" name=""/>
          <p:cNvSpPr/>
          <p:nvPr/>
        </p:nvSpPr>
        <p:spPr>
          <a:xfrm>
            <a:off x="5682240" y="3242160"/>
            <a:ext cx="4278960" cy="1354320"/>
          </a:xfrm>
          <a:custGeom>
            <a:avLst/>
            <a:gdLst/>
            <a:ahLst/>
            <a:rect l="0" t="0" r="r" b="b"/>
            <a:pathLst>
              <a:path w="11886" h="3762">
                <a:moveTo>
                  <a:pt x="0" y="3576"/>
                </a:moveTo>
                <a:lnTo>
                  <a:pt x="0" y="186"/>
                </a:lnTo>
                <a:cubicBezTo>
                  <a:pt x="0" y="174"/>
                  <a:pt x="2" y="162"/>
                  <a:pt x="4" y="150"/>
                </a:cubicBezTo>
                <a:cubicBezTo>
                  <a:pt x="6" y="138"/>
                  <a:pt x="10" y="126"/>
                  <a:pt x="15" y="115"/>
                </a:cubicBezTo>
                <a:cubicBezTo>
                  <a:pt x="19" y="104"/>
                  <a:pt x="25" y="93"/>
                  <a:pt x="32" y="83"/>
                </a:cubicBezTo>
                <a:cubicBezTo>
                  <a:pt x="38" y="73"/>
                  <a:pt x="46" y="63"/>
                  <a:pt x="55" y="55"/>
                </a:cubicBezTo>
                <a:cubicBezTo>
                  <a:pt x="63" y="46"/>
                  <a:pt x="73" y="38"/>
                  <a:pt x="83" y="31"/>
                </a:cubicBezTo>
                <a:cubicBezTo>
                  <a:pt x="93" y="25"/>
                  <a:pt x="104" y="19"/>
                  <a:pt x="115" y="14"/>
                </a:cubicBezTo>
                <a:cubicBezTo>
                  <a:pt x="126" y="10"/>
                  <a:pt x="138" y="6"/>
                  <a:pt x="150" y="4"/>
                </a:cubicBezTo>
                <a:cubicBezTo>
                  <a:pt x="162" y="1"/>
                  <a:pt x="174" y="0"/>
                  <a:pt x="186" y="0"/>
                </a:cubicBezTo>
                <a:lnTo>
                  <a:pt x="11701" y="0"/>
                </a:lnTo>
                <a:cubicBezTo>
                  <a:pt x="11713" y="0"/>
                  <a:pt x="11725" y="1"/>
                  <a:pt x="11737" y="4"/>
                </a:cubicBezTo>
                <a:cubicBezTo>
                  <a:pt x="11749" y="6"/>
                  <a:pt x="11761" y="10"/>
                  <a:pt x="11772" y="14"/>
                </a:cubicBezTo>
                <a:cubicBezTo>
                  <a:pt x="11783" y="19"/>
                  <a:pt x="11794" y="25"/>
                  <a:pt x="11804" y="31"/>
                </a:cubicBezTo>
                <a:cubicBezTo>
                  <a:pt x="11814" y="38"/>
                  <a:pt x="11823" y="46"/>
                  <a:pt x="11832" y="55"/>
                </a:cubicBezTo>
                <a:cubicBezTo>
                  <a:pt x="11841" y="63"/>
                  <a:pt x="11848" y="73"/>
                  <a:pt x="11855" y="83"/>
                </a:cubicBezTo>
                <a:cubicBezTo>
                  <a:pt x="11862" y="93"/>
                  <a:pt x="11868" y="104"/>
                  <a:pt x="11872" y="115"/>
                </a:cubicBezTo>
                <a:cubicBezTo>
                  <a:pt x="11877" y="126"/>
                  <a:pt x="11881" y="138"/>
                  <a:pt x="11883" y="150"/>
                </a:cubicBezTo>
                <a:cubicBezTo>
                  <a:pt x="11885" y="162"/>
                  <a:pt x="11886" y="174"/>
                  <a:pt x="11886" y="186"/>
                </a:cubicBezTo>
                <a:lnTo>
                  <a:pt x="11886" y="3576"/>
                </a:lnTo>
                <a:cubicBezTo>
                  <a:pt x="11886" y="3588"/>
                  <a:pt x="11885" y="3600"/>
                  <a:pt x="11883" y="3612"/>
                </a:cubicBezTo>
                <a:cubicBezTo>
                  <a:pt x="11881" y="3624"/>
                  <a:pt x="11877" y="3636"/>
                  <a:pt x="11872" y="3647"/>
                </a:cubicBezTo>
                <a:cubicBezTo>
                  <a:pt x="11868" y="3658"/>
                  <a:pt x="11862" y="3669"/>
                  <a:pt x="11855" y="3679"/>
                </a:cubicBezTo>
                <a:cubicBezTo>
                  <a:pt x="11848" y="3689"/>
                  <a:pt x="11841" y="3699"/>
                  <a:pt x="11832" y="3707"/>
                </a:cubicBezTo>
                <a:cubicBezTo>
                  <a:pt x="11823" y="3716"/>
                  <a:pt x="11814" y="3724"/>
                  <a:pt x="11804" y="3730"/>
                </a:cubicBezTo>
                <a:cubicBezTo>
                  <a:pt x="11794" y="3737"/>
                  <a:pt x="11783" y="3743"/>
                  <a:pt x="11772" y="3748"/>
                </a:cubicBezTo>
                <a:cubicBezTo>
                  <a:pt x="11761" y="3752"/>
                  <a:pt x="11749" y="3756"/>
                  <a:pt x="11737" y="3758"/>
                </a:cubicBezTo>
                <a:cubicBezTo>
                  <a:pt x="11725" y="3760"/>
                  <a:pt x="11713" y="3762"/>
                  <a:pt x="11701" y="3762"/>
                </a:cubicBezTo>
                <a:lnTo>
                  <a:pt x="186" y="3762"/>
                </a:lnTo>
                <a:cubicBezTo>
                  <a:pt x="174" y="3762"/>
                  <a:pt x="162" y="3760"/>
                  <a:pt x="150" y="3758"/>
                </a:cubicBezTo>
                <a:cubicBezTo>
                  <a:pt x="138" y="3756"/>
                  <a:pt x="126" y="3752"/>
                  <a:pt x="115" y="3748"/>
                </a:cubicBezTo>
                <a:cubicBezTo>
                  <a:pt x="104" y="3743"/>
                  <a:pt x="93" y="3737"/>
                  <a:pt x="83" y="3730"/>
                </a:cubicBezTo>
                <a:cubicBezTo>
                  <a:pt x="73" y="3724"/>
                  <a:pt x="63" y="3716"/>
                  <a:pt x="55" y="3707"/>
                </a:cubicBezTo>
                <a:cubicBezTo>
                  <a:pt x="46" y="3699"/>
                  <a:pt x="38" y="3689"/>
                  <a:pt x="32" y="3679"/>
                </a:cubicBezTo>
                <a:cubicBezTo>
                  <a:pt x="25" y="3669"/>
                  <a:pt x="19" y="3658"/>
                  <a:pt x="15" y="3647"/>
                </a:cubicBezTo>
                <a:cubicBezTo>
                  <a:pt x="10" y="3636"/>
                  <a:pt x="6" y="3624"/>
                  <a:pt x="4" y="3612"/>
                </a:cubicBezTo>
                <a:cubicBezTo>
                  <a:pt x="2" y="3600"/>
                  <a:pt x="0" y="3588"/>
                  <a:pt x="0" y="3576"/>
                </a:cubicBezTo>
                <a:close/>
              </a:path>
            </a:pathLst>
          </a:custGeom>
          <a:solidFill>
            <a:srgbClr val="ffffff">
              <a:alpha val="10000"/>
            </a:srgbClr>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683" name=""/>
          <p:cNvSpPr txBox="1"/>
          <p:nvPr/>
        </p:nvSpPr>
        <p:spPr>
          <a:xfrm>
            <a:off x="1036080" y="5215680"/>
            <a:ext cx="1207800" cy="194040"/>
          </a:xfrm>
          <a:prstGeom prst="rect">
            <a:avLst/>
          </a:prstGeom>
          <a:noFill/>
          <a:ln w="0">
            <a:noFill/>
          </a:ln>
        </p:spPr>
        <p:txBody>
          <a:bodyPr wrap="none" lIns="0" rIns="0" tIns="0" bIns="0" anchor="t">
            <a:spAutoFit/>
          </a:bodyPr>
          <a:p>
            <a:r>
              <a:rPr b="0" lang="zh-CN" sz="1050" strike="noStrike" u="none">
                <a:solidFill>
                  <a:srgbClr val="a7c6d9"/>
                </a:solidFill>
                <a:effectLst/>
                <a:uFillTx/>
                <a:latin typeface="NotoSansJP"/>
                <a:ea typeface="NotoSansJP"/>
              </a:rPr>
              <a:t>適切に設定します。</a:t>
            </a:r>
            <a:endParaRPr b="0" lang="en-US" sz="1050" strike="noStrike" u="none">
              <a:solidFill>
                <a:srgbClr val="000000"/>
              </a:solidFill>
              <a:effectLst/>
              <a:uFillTx/>
              <a:latin typeface="Times New Roman"/>
            </a:endParaRPr>
          </a:p>
        </p:txBody>
      </p:sp>
      <p:sp>
        <p:nvSpPr>
          <p:cNvPr id="684" name=""/>
          <p:cNvSpPr txBox="1"/>
          <p:nvPr/>
        </p:nvSpPr>
        <p:spPr>
          <a:xfrm>
            <a:off x="5482080" y="2370960"/>
            <a:ext cx="1609920" cy="291600"/>
          </a:xfrm>
          <a:prstGeom prst="rect">
            <a:avLst/>
          </a:prstGeom>
          <a:noFill/>
          <a:ln w="0">
            <a:noFill/>
          </a:ln>
        </p:spPr>
        <p:txBody>
          <a:bodyPr wrap="none" lIns="0" rIns="0" tIns="0" bIns="0" anchor="t">
            <a:spAutoFit/>
          </a:bodyPr>
          <a:p>
            <a:r>
              <a:rPr b="0" lang="zh-CN" sz="1580" strike="noStrike" u="none">
                <a:solidFill>
                  <a:srgbClr val="a7c6d9"/>
                </a:solidFill>
                <a:effectLst/>
                <a:uFillTx/>
                <a:latin typeface="NotoSansJP"/>
                <a:ea typeface="NotoSansJP"/>
              </a:rPr>
              <a:t>光強度分布の計算</a:t>
            </a:r>
            <a:endParaRPr b="0" lang="en-US" sz="1580" strike="noStrike" u="none">
              <a:solidFill>
                <a:srgbClr val="000000"/>
              </a:solidFill>
              <a:effectLst/>
              <a:uFillTx/>
              <a:latin typeface="Times New Roman"/>
            </a:endParaRPr>
          </a:p>
        </p:txBody>
      </p:sp>
      <p:sp>
        <p:nvSpPr>
          <p:cNvPr id="685" name=""/>
          <p:cNvSpPr txBox="1"/>
          <p:nvPr/>
        </p:nvSpPr>
        <p:spPr>
          <a:xfrm>
            <a:off x="5682600" y="2976120"/>
            <a:ext cx="671400" cy="194040"/>
          </a:xfrm>
          <a:prstGeom prst="rect">
            <a:avLst/>
          </a:prstGeom>
          <a:noFill/>
          <a:ln w="0">
            <a:noFill/>
          </a:ln>
        </p:spPr>
        <p:txBody>
          <a:bodyPr wrap="none" lIns="0" rIns="0" tIns="0" bIns="0" anchor="t">
            <a:spAutoFit/>
          </a:bodyPr>
          <a:p>
            <a:r>
              <a:rPr b="0" lang="zh-CN" sz="1050" strike="noStrike" u="none">
                <a:solidFill>
                  <a:srgbClr val="ffffff"/>
                </a:solidFill>
                <a:effectLst/>
                <a:uFillTx/>
                <a:latin typeface="NotoSansJP"/>
                <a:ea typeface="NotoSansJP"/>
              </a:rPr>
              <a:t>数学的表現</a:t>
            </a:r>
            <a:endParaRPr b="0" lang="en-US" sz="1050" strike="noStrike" u="none">
              <a:solidFill>
                <a:srgbClr val="000000"/>
              </a:solidFill>
              <a:effectLst/>
              <a:uFillTx/>
              <a:latin typeface="Times New Roman"/>
            </a:endParaRPr>
          </a:p>
        </p:txBody>
      </p:sp>
      <p:sp>
        <p:nvSpPr>
          <p:cNvPr id="686" name=""/>
          <p:cNvSpPr txBox="1"/>
          <p:nvPr/>
        </p:nvSpPr>
        <p:spPr>
          <a:xfrm>
            <a:off x="6685200" y="3410640"/>
            <a:ext cx="2280600" cy="194040"/>
          </a:xfrm>
          <a:prstGeom prst="rect">
            <a:avLst/>
          </a:prstGeom>
          <a:noFill/>
          <a:ln w="0">
            <a:noFill/>
          </a:ln>
        </p:spPr>
        <p:txBody>
          <a:bodyPr wrap="none" lIns="0" rIns="0" tIns="0" bIns="0" anchor="t">
            <a:spAutoFit/>
          </a:bodyPr>
          <a:p>
            <a:r>
              <a:rPr b="0" lang="zh-CN" sz="1050" strike="noStrike" u="none">
                <a:solidFill>
                  <a:srgbClr val="ffffff"/>
                </a:solidFill>
                <a:effectLst/>
                <a:uFillTx/>
                <a:latin typeface="NotoSansJP"/>
                <a:ea typeface="NotoSansJP"/>
              </a:rPr>
              <a:t>網膜面における光波の複素振幅分布：</a:t>
            </a:r>
            <a:endParaRPr b="0" lang="en-US" sz="1050" strike="noStrike" u="none">
              <a:solidFill>
                <a:srgbClr val="000000"/>
              </a:solidFill>
              <a:effectLst/>
              <a:uFillTx/>
              <a:latin typeface="Times New Roman"/>
            </a:endParaRPr>
          </a:p>
        </p:txBody>
      </p:sp>
      <p:pic>
        <p:nvPicPr>
          <p:cNvPr id="687" name="" descr=""/>
          <p:cNvPicPr/>
          <p:nvPr/>
        </p:nvPicPr>
        <p:blipFill>
          <a:blip r:embed="rId5"/>
          <a:stretch/>
        </p:blipFill>
        <p:spPr>
          <a:xfrm>
            <a:off x="5682600" y="4796640"/>
            <a:ext cx="208440" cy="233640"/>
          </a:xfrm>
          <a:prstGeom prst="rect">
            <a:avLst/>
          </a:prstGeom>
          <a:noFill/>
          <a:ln w="0">
            <a:noFill/>
          </a:ln>
        </p:spPr>
      </p:pic>
      <p:sp>
        <p:nvSpPr>
          <p:cNvPr id="688" name=""/>
          <p:cNvSpPr txBox="1"/>
          <p:nvPr/>
        </p:nvSpPr>
        <p:spPr>
          <a:xfrm>
            <a:off x="6752160" y="3953880"/>
            <a:ext cx="2146680" cy="194040"/>
          </a:xfrm>
          <a:prstGeom prst="rect">
            <a:avLst/>
          </a:prstGeom>
          <a:noFill/>
          <a:ln w="0">
            <a:noFill/>
          </a:ln>
        </p:spPr>
        <p:txBody>
          <a:bodyPr wrap="none" lIns="0" rIns="0" tIns="0" bIns="0" anchor="t">
            <a:spAutoFit/>
          </a:bodyPr>
          <a:p>
            <a:r>
              <a:rPr b="0" lang="zh-CN" sz="1050" strike="noStrike" u="none">
                <a:solidFill>
                  <a:srgbClr val="ffffff"/>
                </a:solidFill>
                <a:effectLst/>
                <a:uFillTx/>
                <a:latin typeface="NotoSansJP"/>
                <a:ea typeface="NotoSansJP"/>
              </a:rPr>
              <a:t>網膜面で知覚される光の強度分布：</a:t>
            </a:r>
            <a:endParaRPr b="0" lang="en-US" sz="1050" strike="noStrike" u="none">
              <a:solidFill>
                <a:srgbClr val="000000"/>
              </a:solidFill>
              <a:effectLst/>
              <a:uFillTx/>
              <a:latin typeface="Times New Roman"/>
            </a:endParaRPr>
          </a:p>
        </p:txBody>
      </p:sp>
      <p:sp>
        <p:nvSpPr>
          <p:cNvPr id="689" name=""/>
          <p:cNvSpPr txBox="1"/>
          <p:nvPr/>
        </p:nvSpPr>
        <p:spPr>
          <a:xfrm>
            <a:off x="6025320" y="4798080"/>
            <a:ext cx="671400" cy="194040"/>
          </a:xfrm>
          <a:prstGeom prst="rect">
            <a:avLst/>
          </a:prstGeom>
          <a:noFill/>
          <a:ln w="0">
            <a:noFill/>
          </a:ln>
        </p:spPr>
        <p:txBody>
          <a:bodyPr wrap="none" lIns="0" rIns="0" tIns="0" bIns="0" anchor="t">
            <a:spAutoFit/>
          </a:bodyPr>
          <a:p>
            <a:r>
              <a:rPr b="0" lang="zh-CN" sz="1050" strike="noStrike" u="none">
                <a:solidFill>
                  <a:srgbClr val="ffffff"/>
                </a:solidFill>
                <a:effectLst/>
                <a:uFillTx/>
                <a:latin typeface="NotoSansJP"/>
                <a:ea typeface="NotoSansJP"/>
              </a:rPr>
              <a:t>計算の実装</a:t>
            </a:r>
            <a:endParaRPr b="0" lang="en-US" sz="1050" strike="noStrike" u="none">
              <a:solidFill>
                <a:srgbClr val="000000"/>
              </a:solidFill>
              <a:effectLst/>
              <a:uFillTx/>
              <a:latin typeface="Times New Roman"/>
            </a:endParaRPr>
          </a:p>
        </p:txBody>
      </p:sp>
      <p:sp>
        <p:nvSpPr>
          <p:cNvPr id="690" name=""/>
          <p:cNvSpPr txBox="1"/>
          <p:nvPr/>
        </p:nvSpPr>
        <p:spPr>
          <a:xfrm>
            <a:off x="6025320" y="5032080"/>
            <a:ext cx="3889800" cy="194040"/>
          </a:xfrm>
          <a:prstGeom prst="rect">
            <a:avLst/>
          </a:prstGeom>
          <a:noFill/>
          <a:ln w="0">
            <a:noFill/>
          </a:ln>
        </p:spPr>
        <p:txBody>
          <a:bodyPr wrap="none" lIns="0" rIns="0" tIns="0" bIns="0" anchor="t">
            <a:spAutoFit/>
          </a:bodyPr>
          <a:p>
            <a:r>
              <a:rPr b="0" lang="zh-CN" sz="1050" strike="noStrike" u="none">
                <a:solidFill>
                  <a:srgbClr val="a7c6d9"/>
                </a:solidFill>
                <a:effectLst/>
                <a:uFillTx/>
                <a:latin typeface="NotoSansJP"/>
                <a:ea typeface="NotoSansJP"/>
              </a:rPr>
              <a:t>瞳面から網膜面までの伝搬も角スペクトル法で計算し、網膜面で</a:t>
            </a:r>
            <a:endParaRPr b="0" lang="en-US" sz="1050" strike="noStrike" u="none">
              <a:solidFill>
                <a:srgbClr val="000000"/>
              </a:solidFill>
              <a:effectLst/>
              <a:uFillTx/>
              <a:latin typeface="Times New Roman"/>
            </a:endParaRPr>
          </a:p>
        </p:txBody>
      </p:sp>
      <p:sp>
        <p:nvSpPr>
          <p:cNvPr id="691" name=""/>
          <p:cNvSpPr txBox="1"/>
          <p:nvPr/>
        </p:nvSpPr>
        <p:spPr>
          <a:xfrm>
            <a:off x="6025320" y="5232600"/>
            <a:ext cx="3911040" cy="194040"/>
          </a:xfrm>
          <a:prstGeom prst="rect">
            <a:avLst/>
          </a:prstGeom>
          <a:noFill/>
          <a:ln w="0">
            <a:noFill/>
          </a:ln>
        </p:spPr>
        <p:txBody>
          <a:bodyPr wrap="none" lIns="0" rIns="0" tIns="0" bIns="0" anchor="t">
            <a:spAutoFit/>
          </a:bodyPr>
          <a:p>
            <a:r>
              <a:rPr b="0" lang="zh-CN" sz="1050" strike="noStrike" u="none">
                <a:solidFill>
                  <a:srgbClr val="a7c6d9"/>
                </a:solidFill>
                <a:effectLst/>
                <a:uFillTx/>
                <a:latin typeface="NotoSansJP"/>
                <a:ea typeface="NotoSansJP"/>
              </a:rPr>
              <a:t>の複素振幅の絶対値の</a:t>
            </a:r>
            <a:r>
              <a:rPr b="0" lang="en-US" sz="1050" strike="noStrike" u="none">
                <a:solidFill>
                  <a:srgbClr val="a7c6d9"/>
                </a:solidFill>
                <a:effectLst/>
                <a:uFillTx/>
                <a:latin typeface="NotoSansJP"/>
                <a:ea typeface="NotoSansJP"/>
              </a:rPr>
              <a:t>2</a:t>
            </a:r>
            <a:r>
              <a:rPr b="0" lang="zh-CN" sz="1050" strike="noStrike" u="none">
                <a:solidFill>
                  <a:srgbClr val="a7c6d9"/>
                </a:solidFill>
                <a:effectLst/>
                <a:uFillTx/>
                <a:latin typeface="NotoSansJP"/>
                <a:ea typeface="NotoSansJP"/>
              </a:rPr>
              <a:t>乗を取ることで、最終的な再生像を得ま</a:t>
            </a:r>
            <a:endParaRPr b="0" lang="en-US" sz="1050" strike="noStrike" u="none">
              <a:solidFill>
                <a:srgbClr val="000000"/>
              </a:solidFill>
              <a:effectLst/>
              <a:uFillTx/>
              <a:latin typeface="Times New Roman"/>
            </a:endParaRPr>
          </a:p>
        </p:txBody>
      </p:sp>
      <p:sp>
        <p:nvSpPr>
          <p:cNvPr id="692" name=""/>
          <p:cNvSpPr/>
          <p:nvPr/>
        </p:nvSpPr>
        <p:spPr>
          <a:xfrm>
            <a:off x="0" y="643320"/>
            <a:ext cx="5340240" cy="819360"/>
          </a:xfrm>
          <a:custGeom>
            <a:avLst/>
            <a:gdLst/>
            <a:ahLst/>
            <a:rect l="0" t="0" r="r" b="b"/>
            <a:pathLst>
              <a:path fill="none" w="14834" h="2276">
                <a:moveTo>
                  <a:pt x="0" y="0"/>
                </a:moveTo>
                <a:lnTo>
                  <a:pt x="13696" y="0"/>
                </a:lnTo>
                <a:cubicBezTo>
                  <a:pt x="13733" y="0"/>
                  <a:pt x="13771" y="2"/>
                  <a:pt x="13808" y="5"/>
                </a:cubicBezTo>
                <a:cubicBezTo>
                  <a:pt x="13845" y="9"/>
                  <a:pt x="13882" y="14"/>
                  <a:pt x="13918" y="22"/>
                </a:cubicBezTo>
                <a:cubicBezTo>
                  <a:pt x="13955" y="29"/>
                  <a:pt x="13991" y="38"/>
                  <a:pt x="14026" y="49"/>
                </a:cubicBezTo>
                <a:cubicBezTo>
                  <a:pt x="14062" y="60"/>
                  <a:pt x="14097" y="72"/>
                  <a:pt x="14131" y="86"/>
                </a:cubicBezTo>
                <a:cubicBezTo>
                  <a:pt x="14166" y="101"/>
                  <a:pt x="14200" y="117"/>
                  <a:pt x="14232" y="134"/>
                </a:cubicBezTo>
                <a:cubicBezTo>
                  <a:pt x="14265" y="152"/>
                  <a:pt x="14297" y="171"/>
                  <a:pt x="14328" y="192"/>
                </a:cubicBezTo>
                <a:cubicBezTo>
                  <a:pt x="14359" y="212"/>
                  <a:pt x="14389" y="234"/>
                  <a:pt x="14418" y="258"/>
                </a:cubicBezTo>
                <a:cubicBezTo>
                  <a:pt x="14447" y="282"/>
                  <a:pt x="14474" y="307"/>
                  <a:pt x="14500" y="333"/>
                </a:cubicBezTo>
                <a:cubicBezTo>
                  <a:pt x="14527" y="359"/>
                  <a:pt x="14552" y="387"/>
                  <a:pt x="14575" y="416"/>
                </a:cubicBezTo>
                <a:cubicBezTo>
                  <a:pt x="14599" y="445"/>
                  <a:pt x="14621" y="474"/>
                  <a:pt x="14642" y="505"/>
                </a:cubicBezTo>
                <a:cubicBezTo>
                  <a:pt x="14663" y="536"/>
                  <a:pt x="14682" y="568"/>
                  <a:pt x="14699" y="601"/>
                </a:cubicBezTo>
                <a:cubicBezTo>
                  <a:pt x="14717" y="634"/>
                  <a:pt x="14733" y="668"/>
                  <a:pt x="14747" y="702"/>
                </a:cubicBezTo>
                <a:cubicBezTo>
                  <a:pt x="14761" y="736"/>
                  <a:pt x="14774" y="772"/>
                  <a:pt x="14785" y="807"/>
                </a:cubicBezTo>
                <a:cubicBezTo>
                  <a:pt x="14795" y="843"/>
                  <a:pt x="14805" y="879"/>
                  <a:pt x="14812" y="915"/>
                </a:cubicBezTo>
                <a:cubicBezTo>
                  <a:pt x="14819" y="952"/>
                  <a:pt x="14825" y="989"/>
                  <a:pt x="14828" y="1026"/>
                </a:cubicBezTo>
                <a:cubicBezTo>
                  <a:pt x="14832" y="1063"/>
                  <a:pt x="14834" y="1100"/>
                  <a:pt x="14834" y="1137"/>
                </a:cubicBezTo>
                <a:cubicBezTo>
                  <a:pt x="14834" y="1175"/>
                  <a:pt x="14832" y="1212"/>
                  <a:pt x="14828" y="1249"/>
                </a:cubicBezTo>
                <a:cubicBezTo>
                  <a:pt x="14825" y="1286"/>
                  <a:pt x="14819" y="1323"/>
                  <a:pt x="14812" y="1359"/>
                </a:cubicBezTo>
                <a:cubicBezTo>
                  <a:pt x="14805" y="1396"/>
                  <a:pt x="14795" y="1432"/>
                  <a:pt x="14785" y="1468"/>
                </a:cubicBezTo>
                <a:cubicBezTo>
                  <a:pt x="14774" y="1503"/>
                  <a:pt x="14761" y="1538"/>
                  <a:pt x="14747" y="1573"/>
                </a:cubicBezTo>
                <a:cubicBezTo>
                  <a:pt x="14733" y="1607"/>
                  <a:pt x="14717" y="1642"/>
                  <a:pt x="14699" y="1675"/>
                </a:cubicBezTo>
                <a:cubicBezTo>
                  <a:pt x="14682" y="1707"/>
                  <a:pt x="14663" y="1739"/>
                  <a:pt x="14642" y="1770"/>
                </a:cubicBezTo>
                <a:cubicBezTo>
                  <a:pt x="14621" y="1801"/>
                  <a:pt x="14599" y="1831"/>
                  <a:pt x="14575" y="1860"/>
                </a:cubicBezTo>
                <a:cubicBezTo>
                  <a:pt x="14552" y="1889"/>
                  <a:pt x="14527" y="1916"/>
                  <a:pt x="14500" y="1943"/>
                </a:cubicBezTo>
                <a:cubicBezTo>
                  <a:pt x="14474" y="1969"/>
                  <a:pt x="14447" y="1994"/>
                  <a:pt x="14418" y="2018"/>
                </a:cubicBezTo>
                <a:cubicBezTo>
                  <a:pt x="14389" y="2041"/>
                  <a:pt x="14359" y="2063"/>
                  <a:pt x="14328" y="2084"/>
                </a:cubicBezTo>
                <a:cubicBezTo>
                  <a:pt x="14297" y="2105"/>
                  <a:pt x="14265" y="2124"/>
                  <a:pt x="14232" y="2141"/>
                </a:cubicBezTo>
                <a:cubicBezTo>
                  <a:pt x="14200" y="2159"/>
                  <a:pt x="14166" y="2175"/>
                  <a:pt x="14131" y="2189"/>
                </a:cubicBezTo>
                <a:cubicBezTo>
                  <a:pt x="14097" y="2203"/>
                  <a:pt x="14062" y="2216"/>
                  <a:pt x="14026" y="2227"/>
                </a:cubicBezTo>
                <a:cubicBezTo>
                  <a:pt x="13991" y="2238"/>
                  <a:pt x="13955" y="2247"/>
                  <a:pt x="13918" y="2254"/>
                </a:cubicBezTo>
                <a:cubicBezTo>
                  <a:pt x="13882" y="2261"/>
                  <a:pt x="13845" y="2267"/>
                  <a:pt x="13808" y="2270"/>
                </a:cubicBezTo>
                <a:cubicBezTo>
                  <a:pt x="13771" y="2274"/>
                  <a:pt x="13733" y="2276"/>
                  <a:pt x="13696" y="2276"/>
                </a:cubicBezTo>
                <a:lnTo>
                  <a:pt x="0" y="2276"/>
                </a:lnTo>
              </a:path>
            </a:pathLst>
          </a:custGeom>
          <a:ln w="16560">
            <a:solidFill>
              <a:srgbClr val="a7c6d9">
                <a:alpha val="20000"/>
              </a:srgbClr>
            </a:solidFill>
            <a:miter/>
          </a:ln>
        </p:spPr>
        <p:txBody>
          <a:bodyPr lIns="8280" rIns="8280" tIns="8280" bIns="8280" anchor="t">
            <a:noAutofit/>
          </a:bodyPr>
          <a:p>
            <a:endParaRPr b="0" lang="en-US" sz="2400" strike="noStrike" u="none">
              <a:solidFill>
                <a:srgbClr val="000000"/>
              </a:solidFill>
              <a:effectLst/>
              <a:uFillTx/>
              <a:latin typeface="Times New Roman"/>
            </a:endParaRPr>
          </a:p>
        </p:txBody>
      </p:sp>
      <p:sp>
        <p:nvSpPr>
          <p:cNvPr id="693" name=""/>
          <p:cNvSpPr/>
          <p:nvPr/>
        </p:nvSpPr>
        <p:spPr>
          <a:xfrm>
            <a:off x="0" y="810360"/>
            <a:ext cx="5340240" cy="652320"/>
          </a:xfrm>
          <a:custGeom>
            <a:avLst/>
            <a:gdLst/>
            <a:ahLst/>
            <a:rect l="0" t="0" r="r" b="b"/>
            <a:pathLst>
              <a:path fill="none" w="14834" h="1812">
                <a:moveTo>
                  <a:pt x="0" y="327"/>
                </a:moveTo>
                <a:cubicBezTo>
                  <a:pt x="17" y="306"/>
                  <a:pt x="36" y="285"/>
                  <a:pt x="56" y="265"/>
                </a:cubicBezTo>
                <a:cubicBezTo>
                  <a:pt x="77" y="244"/>
                  <a:pt x="99" y="224"/>
                  <a:pt x="122" y="206"/>
                </a:cubicBezTo>
                <a:cubicBezTo>
                  <a:pt x="144" y="187"/>
                  <a:pt x="168" y="169"/>
                  <a:pt x="193" y="153"/>
                </a:cubicBezTo>
                <a:cubicBezTo>
                  <a:pt x="218" y="136"/>
                  <a:pt x="243" y="121"/>
                  <a:pt x="269" y="107"/>
                </a:cubicBezTo>
                <a:cubicBezTo>
                  <a:pt x="295" y="93"/>
                  <a:pt x="322" y="80"/>
                  <a:pt x="349" y="69"/>
                </a:cubicBezTo>
                <a:cubicBezTo>
                  <a:pt x="377" y="58"/>
                  <a:pt x="405" y="48"/>
                  <a:pt x="433" y="39"/>
                </a:cubicBezTo>
                <a:cubicBezTo>
                  <a:pt x="461" y="31"/>
                  <a:pt x="490" y="23"/>
                  <a:pt x="519" y="18"/>
                </a:cubicBezTo>
                <a:cubicBezTo>
                  <a:pt x="548" y="12"/>
                  <a:pt x="578" y="7"/>
                  <a:pt x="607" y="5"/>
                </a:cubicBezTo>
                <a:cubicBezTo>
                  <a:pt x="637" y="2"/>
                  <a:pt x="666" y="0"/>
                  <a:pt x="696" y="0"/>
                </a:cubicBezTo>
                <a:lnTo>
                  <a:pt x="13928" y="0"/>
                </a:lnTo>
                <a:cubicBezTo>
                  <a:pt x="13958" y="0"/>
                  <a:pt x="13988" y="2"/>
                  <a:pt x="14017" y="5"/>
                </a:cubicBezTo>
                <a:cubicBezTo>
                  <a:pt x="14047" y="7"/>
                  <a:pt x="14076" y="12"/>
                  <a:pt x="14105" y="18"/>
                </a:cubicBezTo>
                <a:cubicBezTo>
                  <a:pt x="14134" y="23"/>
                  <a:pt x="14163" y="31"/>
                  <a:pt x="14191" y="39"/>
                </a:cubicBezTo>
                <a:cubicBezTo>
                  <a:pt x="14220" y="48"/>
                  <a:pt x="14247" y="58"/>
                  <a:pt x="14275" y="69"/>
                </a:cubicBezTo>
                <a:cubicBezTo>
                  <a:pt x="14302" y="80"/>
                  <a:pt x="14329" y="93"/>
                  <a:pt x="14355" y="107"/>
                </a:cubicBezTo>
                <a:cubicBezTo>
                  <a:pt x="14381" y="121"/>
                  <a:pt x="14407" y="136"/>
                  <a:pt x="14431" y="153"/>
                </a:cubicBezTo>
                <a:cubicBezTo>
                  <a:pt x="14456" y="169"/>
                  <a:pt x="14480" y="187"/>
                  <a:pt x="14503" y="206"/>
                </a:cubicBezTo>
                <a:cubicBezTo>
                  <a:pt x="14526" y="224"/>
                  <a:pt x="14548" y="244"/>
                  <a:pt x="14568" y="265"/>
                </a:cubicBezTo>
                <a:cubicBezTo>
                  <a:pt x="14589" y="286"/>
                  <a:pt x="14609" y="308"/>
                  <a:pt x="14628" y="331"/>
                </a:cubicBezTo>
                <a:cubicBezTo>
                  <a:pt x="14647" y="354"/>
                  <a:pt x="14665" y="378"/>
                  <a:pt x="14681" y="403"/>
                </a:cubicBezTo>
                <a:cubicBezTo>
                  <a:pt x="14698" y="427"/>
                  <a:pt x="14713" y="453"/>
                  <a:pt x="14727" y="480"/>
                </a:cubicBezTo>
                <a:cubicBezTo>
                  <a:pt x="14741" y="506"/>
                  <a:pt x="14753" y="533"/>
                  <a:pt x="14765" y="560"/>
                </a:cubicBezTo>
                <a:cubicBezTo>
                  <a:pt x="14776" y="587"/>
                  <a:pt x="14786" y="615"/>
                  <a:pt x="14795" y="644"/>
                </a:cubicBezTo>
                <a:cubicBezTo>
                  <a:pt x="14803" y="672"/>
                  <a:pt x="14810" y="701"/>
                  <a:pt x="14816" y="730"/>
                </a:cubicBezTo>
                <a:cubicBezTo>
                  <a:pt x="14822" y="759"/>
                  <a:pt x="14826" y="788"/>
                  <a:pt x="14829" y="818"/>
                </a:cubicBezTo>
                <a:cubicBezTo>
                  <a:pt x="14832" y="847"/>
                  <a:pt x="14834" y="877"/>
                  <a:pt x="14834" y="906"/>
                </a:cubicBezTo>
                <a:cubicBezTo>
                  <a:pt x="14834" y="936"/>
                  <a:pt x="14832" y="966"/>
                  <a:pt x="14829" y="995"/>
                </a:cubicBezTo>
                <a:cubicBezTo>
                  <a:pt x="14826" y="1025"/>
                  <a:pt x="14822" y="1054"/>
                  <a:pt x="14816" y="1083"/>
                </a:cubicBezTo>
                <a:cubicBezTo>
                  <a:pt x="14810" y="1112"/>
                  <a:pt x="14803" y="1141"/>
                  <a:pt x="14795" y="1169"/>
                </a:cubicBezTo>
                <a:cubicBezTo>
                  <a:pt x="14786" y="1198"/>
                  <a:pt x="14776" y="1226"/>
                  <a:pt x="14765" y="1253"/>
                </a:cubicBezTo>
                <a:cubicBezTo>
                  <a:pt x="14753" y="1280"/>
                  <a:pt x="14741" y="1307"/>
                  <a:pt x="14727" y="1333"/>
                </a:cubicBezTo>
                <a:cubicBezTo>
                  <a:pt x="14713" y="1359"/>
                  <a:pt x="14698" y="1385"/>
                  <a:pt x="14681" y="1409"/>
                </a:cubicBezTo>
                <a:cubicBezTo>
                  <a:pt x="14665" y="1434"/>
                  <a:pt x="14647" y="1458"/>
                  <a:pt x="14628" y="1481"/>
                </a:cubicBezTo>
                <a:cubicBezTo>
                  <a:pt x="14609" y="1504"/>
                  <a:pt x="14589" y="1526"/>
                  <a:pt x="14568" y="1547"/>
                </a:cubicBezTo>
                <a:cubicBezTo>
                  <a:pt x="14548" y="1568"/>
                  <a:pt x="14526" y="1587"/>
                  <a:pt x="14503" y="1606"/>
                </a:cubicBezTo>
                <a:cubicBezTo>
                  <a:pt x="14480" y="1625"/>
                  <a:pt x="14456" y="1643"/>
                  <a:pt x="14431" y="1659"/>
                </a:cubicBezTo>
                <a:cubicBezTo>
                  <a:pt x="14407" y="1676"/>
                  <a:pt x="14381" y="1691"/>
                  <a:pt x="14355" y="1705"/>
                </a:cubicBezTo>
                <a:cubicBezTo>
                  <a:pt x="14329" y="1719"/>
                  <a:pt x="14302" y="1732"/>
                  <a:pt x="14275" y="1743"/>
                </a:cubicBezTo>
                <a:cubicBezTo>
                  <a:pt x="14247" y="1754"/>
                  <a:pt x="14220" y="1764"/>
                  <a:pt x="14191" y="1773"/>
                </a:cubicBezTo>
                <a:cubicBezTo>
                  <a:pt x="14163" y="1781"/>
                  <a:pt x="14134" y="1789"/>
                  <a:pt x="14105" y="1794"/>
                </a:cubicBezTo>
                <a:cubicBezTo>
                  <a:pt x="14076" y="1800"/>
                  <a:pt x="14047" y="1805"/>
                  <a:pt x="14017" y="1807"/>
                </a:cubicBezTo>
                <a:cubicBezTo>
                  <a:pt x="13988" y="1810"/>
                  <a:pt x="13958" y="1812"/>
                  <a:pt x="13928" y="1812"/>
                </a:cubicBezTo>
                <a:lnTo>
                  <a:pt x="696" y="1812"/>
                </a:lnTo>
                <a:cubicBezTo>
                  <a:pt x="666" y="1812"/>
                  <a:pt x="637" y="1810"/>
                  <a:pt x="607" y="1807"/>
                </a:cubicBezTo>
                <a:cubicBezTo>
                  <a:pt x="578" y="1805"/>
                  <a:pt x="548" y="1800"/>
                  <a:pt x="519" y="1794"/>
                </a:cubicBezTo>
                <a:cubicBezTo>
                  <a:pt x="490" y="1789"/>
                  <a:pt x="461" y="1781"/>
                  <a:pt x="433" y="1773"/>
                </a:cubicBezTo>
                <a:cubicBezTo>
                  <a:pt x="405" y="1764"/>
                  <a:pt x="377" y="1754"/>
                  <a:pt x="349" y="1743"/>
                </a:cubicBezTo>
                <a:cubicBezTo>
                  <a:pt x="322" y="1732"/>
                  <a:pt x="295" y="1719"/>
                  <a:pt x="269" y="1705"/>
                </a:cubicBezTo>
                <a:cubicBezTo>
                  <a:pt x="243" y="1691"/>
                  <a:pt x="218" y="1676"/>
                  <a:pt x="193" y="1659"/>
                </a:cubicBezTo>
                <a:cubicBezTo>
                  <a:pt x="168" y="1643"/>
                  <a:pt x="144" y="1625"/>
                  <a:pt x="122" y="1606"/>
                </a:cubicBezTo>
                <a:cubicBezTo>
                  <a:pt x="99" y="1587"/>
                  <a:pt x="77" y="1568"/>
                  <a:pt x="56" y="1547"/>
                </a:cubicBezTo>
                <a:cubicBezTo>
                  <a:pt x="36" y="1527"/>
                  <a:pt x="17" y="1506"/>
                  <a:pt x="0" y="1485"/>
                </a:cubicBezTo>
              </a:path>
            </a:pathLst>
          </a:custGeom>
          <a:ln w="16560">
            <a:solidFill>
              <a:srgbClr val="a7c6d9">
                <a:alpha val="10000"/>
              </a:srgbClr>
            </a:solidFill>
            <a:miter/>
          </a:ln>
        </p:spPr>
        <p:txBody>
          <a:bodyPr lIns="8280" rIns="8280" tIns="8280" bIns="8280" anchor="t">
            <a:noAutofit/>
          </a:bodyPr>
          <a:p>
            <a:endParaRPr b="0" lang="en-US" sz="2400" strike="noStrike" u="none">
              <a:solidFill>
                <a:srgbClr val="000000"/>
              </a:solidFill>
              <a:effectLst/>
              <a:uFillTx/>
              <a:latin typeface="Times New Roman"/>
            </a:endParaRPr>
          </a:p>
        </p:txBody>
      </p:sp>
      <p:sp>
        <p:nvSpPr>
          <p:cNvPr id="694" name=""/>
          <p:cNvSpPr txBox="1"/>
          <p:nvPr/>
        </p:nvSpPr>
        <p:spPr>
          <a:xfrm>
            <a:off x="6025320" y="5433120"/>
            <a:ext cx="268920" cy="194040"/>
          </a:xfrm>
          <a:prstGeom prst="rect">
            <a:avLst/>
          </a:prstGeom>
          <a:noFill/>
          <a:ln w="0">
            <a:noFill/>
          </a:ln>
        </p:spPr>
        <p:txBody>
          <a:bodyPr wrap="none" lIns="0" rIns="0" tIns="0" bIns="0" anchor="t">
            <a:spAutoFit/>
          </a:bodyPr>
          <a:p>
            <a:r>
              <a:rPr b="0" lang="zh-CN" sz="1050" strike="noStrike" u="none">
                <a:solidFill>
                  <a:srgbClr val="a7c6d9"/>
                </a:solidFill>
                <a:effectLst/>
                <a:uFillTx/>
                <a:latin typeface="NotoSansJP"/>
                <a:ea typeface="NotoSansJP"/>
              </a:rPr>
              <a:t>す。</a:t>
            </a:r>
            <a:endParaRPr b="0" lang="en-US" sz="1050" strike="noStrike" u="none">
              <a:solidFill>
                <a:srgbClr val="000000"/>
              </a:solidFill>
              <a:effectLst/>
              <a:uFillTx/>
              <a:latin typeface="Times New Roman"/>
            </a:endParaRPr>
          </a:p>
        </p:txBody>
      </p:sp>
      <p:sp>
        <p:nvSpPr>
          <p:cNvPr id="695" name=""/>
          <p:cNvSpPr txBox="1"/>
          <p:nvPr/>
        </p:nvSpPr>
        <p:spPr>
          <a:xfrm>
            <a:off x="7366680" y="3650040"/>
            <a:ext cx="163800" cy="189360"/>
          </a:xfrm>
          <a:prstGeom prst="rect">
            <a:avLst/>
          </a:prstGeom>
          <a:noFill/>
          <a:ln w="0">
            <a:noFill/>
          </a:ln>
        </p:spPr>
        <p:txBody>
          <a:bodyPr wrap="none" lIns="0" rIns="0" tIns="0" bIns="0" anchor="t">
            <a:spAutoFit/>
          </a:bodyPr>
          <a:p>
            <a:r>
              <a:rPr b="0" i="1" lang="en-US" sz="1290" strike="noStrike" u="none">
                <a:solidFill>
                  <a:srgbClr val="ff8c00"/>
                </a:solidFill>
                <a:effectLst/>
                <a:uFillTx/>
                <a:latin typeface="MathJax_Math"/>
                <a:ea typeface="MathJax_Math"/>
              </a:rPr>
              <a:t>U</a:t>
            </a:r>
            <a:endParaRPr b="0" lang="en-US" sz="1290" strike="noStrike" u="none">
              <a:solidFill>
                <a:srgbClr val="000000"/>
              </a:solidFill>
              <a:effectLst/>
              <a:uFillTx/>
              <a:latin typeface="Times New Roman"/>
            </a:endParaRPr>
          </a:p>
        </p:txBody>
      </p:sp>
      <p:sp>
        <p:nvSpPr>
          <p:cNvPr id="696" name=""/>
          <p:cNvSpPr txBox="1"/>
          <p:nvPr/>
        </p:nvSpPr>
        <p:spPr>
          <a:xfrm>
            <a:off x="7478640" y="3719520"/>
            <a:ext cx="341640" cy="136080"/>
          </a:xfrm>
          <a:prstGeom prst="rect">
            <a:avLst/>
          </a:prstGeom>
          <a:noFill/>
          <a:ln w="0">
            <a:noFill/>
          </a:ln>
        </p:spPr>
        <p:txBody>
          <a:bodyPr wrap="none" lIns="0" rIns="0" tIns="0" bIns="0" anchor="t">
            <a:spAutoFit/>
          </a:bodyPr>
          <a:p>
            <a:r>
              <a:rPr b="0" i="1" lang="en-US" sz="920" strike="noStrike" u="none">
                <a:solidFill>
                  <a:srgbClr val="ff8c00"/>
                </a:solidFill>
                <a:effectLst/>
                <a:uFillTx/>
                <a:latin typeface="MathJax_Math"/>
                <a:ea typeface="MathJax_Math"/>
              </a:rPr>
              <a:t>retina</a:t>
            </a:r>
            <a:endParaRPr b="0" lang="en-US" sz="920" strike="noStrike" u="none">
              <a:solidFill>
                <a:srgbClr val="000000"/>
              </a:solidFill>
              <a:effectLst/>
              <a:uFillTx/>
              <a:latin typeface="Times New Roman"/>
            </a:endParaRPr>
          </a:p>
        </p:txBody>
      </p:sp>
      <p:sp>
        <p:nvSpPr>
          <p:cNvPr id="697" name=""/>
          <p:cNvSpPr txBox="1"/>
          <p:nvPr/>
        </p:nvSpPr>
        <p:spPr>
          <a:xfrm>
            <a:off x="7797600" y="3650040"/>
            <a:ext cx="163800" cy="189360"/>
          </a:xfrm>
          <a:prstGeom prst="rect">
            <a:avLst/>
          </a:prstGeom>
          <a:noFill/>
          <a:ln w="0">
            <a:noFill/>
          </a:ln>
        </p:spPr>
        <p:txBody>
          <a:bodyPr wrap="none" lIns="0" rIns="0" tIns="0" bIns="0" anchor="t">
            <a:spAutoFit/>
          </a:bodyPr>
          <a:p>
            <a:r>
              <a:rPr b="0" lang="en-US" sz="1290" strike="noStrike" u="none">
                <a:solidFill>
                  <a:srgbClr val="ff8c00"/>
                </a:solidFill>
                <a:effectLst/>
                <a:uFillTx/>
                <a:latin typeface="MathJax_Main"/>
                <a:ea typeface="MathJax_Main"/>
              </a:rPr>
              <a:t>(</a:t>
            </a:r>
            <a:r>
              <a:rPr b="0" i="1" lang="en-US" sz="1290" strike="noStrike" u="none">
                <a:solidFill>
                  <a:srgbClr val="ff8c00"/>
                </a:solidFill>
                <a:effectLst/>
                <a:uFillTx/>
                <a:latin typeface="MathJax_Math"/>
                <a:ea typeface="MathJax_Math"/>
              </a:rPr>
              <a:t>x</a:t>
            </a:r>
            <a:endParaRPr b="0" lang="en-US" sz="1290" strike="noStrike" u="none">
              <a:solidFill>
                <a:srgbClr val="000000"/>
              </a:solidFill>
              <a:effectLst/>
              <a:uFillTx/>
              <a:latin typeface="Times New Roman"/>
            </a:endParaRPr>
          </a:p>
        </p:txBody>
      </p:sp>
      <p:sp>
        <p:nvSpPr>
          <p:cNvPr id="698" name=""/>
          <p:cNvSpPr txBox="1"/>
          <p:nvPr/>
        </p:nvSpPr>
        <p:spPr>
          <a:xfrm>
            <a:off x="7955280" y="3719520"/>
            <a:ext cx="115560" cy="136080"/>
          </a:xfrm>
          <a:prstGeom prst="rect">
            <a:avLst/>
          </a:prstGeom>
          <a:noFill/>
          <a:ln w="0">
            <a:noFill/>
          </a:ln>
        </p:spPr>
        <p:txBody>
          <a:bodyPr wrap="none" lIns="0" rIns="0" tIns="0" bIns="0" anchor="t">
            <a:spAutoFit/>
          </a:bodyPr>
          <a:p>
            <a:r>
              <a:rPr b="0" i="1" lang="en-US" sz="920" strike="noStrike" u="none">
                <a:solidFill>
                  <a:srgbClr val="ff8c00"/>
                </a:solidFill>
                <a:effectLst/>
                <a:uFillTx/>
                <a:latin typeface="MathJax_Math"/>
                <a:ea typeface="MathJax_Math"/>
              </a:rPr>
              <a:t>r</a:t>
            </a:r>
            <a:endParaRPr b="0" lang="en-US" sz="920" strike="noStrike" u="none">
              <a:solidFill>
                <a:srgbClr val="000000"/>
              </a:solidFill>
              <a:effectLst/>
              <a:uFillTx/>
              <a:latin typeface="Times New Roman"/>
            </a:endParaRPr>
          </a:p>
        </p:txBody>
      </p:sp>
      <p:sp>
        <p:nvSpPr>
          <p:cNvPr id="699" name=""/>
          <p:cNvSpPr txBox="1"/>
          <p:nvPr/>
        </p:nvSpPr>
        <p:spPr>
          <a:xfrm>
            <a:off x="8007840" y="3650040"/>
            <a:ext cx="200880" cy="189360"/>
          </a:xfrm>
          <a:prstGeom prst="rect">
            <a:avLst/>
          </a:prstGeom>
          <a:noFill/>
          <a:ln w="0">
            <a:noFill/>
          </a:ln>
        </p:spPr>
        <p:txBody>
          <a:bodyPr wrap="none" lIns="0" rIns="0" tIns="0" bIns="0" anchor="t">
            <a:spAutoFit/>
          </a:bodyPr>
          <a:p>
            <a:r>
              <a:rPr b="0" lang="en-US" sz="1290" strike="noStrike" u="none">
                <a:solidFill>
                  <a:srgbClr val="ff8c00"/>
                </a:solidFill>
                <a:effectLst/>
                <a:uFillTx/>
                <a:latin typeface="MathJax_Main"/>
                <a:ea typeface="MathJax_Main"/>
              </a:rPr>
              <a:t>,</a:t>
            </a:r>
            <a:r>
              <a:rPr b="0" i="1" lang="en-US" sz="1290" strike="noStrike" u="none">
                <a:solidFill>
                  <a:srgbClr val="ff8c00"/>
                </a:solidFill>
                <a:effectLst/>
                <a:uFillTx/>
                <a:latin typeface="MathJax_Math"/>
                <a:ea typeface="MathJax_Math"/>
              </a:rPr>
              <a:t> y</a:t>
            </a:r>
            <a:endParaRPr b="0" lang="en-US" sz="1290" strike="noStrike" u="none">
              <a:solidFill>
                <a:srgbClr val="000000"/>
              </a:solidFill>
              <a:effectLst/>
              <a:uFillTx/>
              <a:latin typeface="Times New Roman"/>
            </a:endParaRPr>
          </a:p>
        </p:txBody>
      </p:sp>
      <p:sp>
        <p:nvSpPr>
          <p:cNvPr id="700" name=""/>
          <p:cNvSpPr txBox="1"/>
          <p:nvPr/>
        </p:nvSpPr>
        <p:spPr>
          <a:xfrm>
            <a:off x="8160840" y="3719520"/>
            <a:ext cx="115560" cy="136080"/>
          </a:xfrm>
          <a:prstGeom prst="rect">
            <a:avLst/>
          </a:prstGeom>
          <a:noFill/>
          <a:ln w="0">
            <a:noFill/>
          </a:ln>
        </p:spPr>
        <p:txBody>
          <a:bodyPr wrap="none" lIns="0" rIns="0" tIns="0" bIns="0" anchor="t">
            <a:spAutoFit/>
          </a:bodyPr>
          <a:p>
            <a:r>
              <a:rPr b="0" i="1" lang="en-US" sz="920" strike="noStrike" u="none">
                <a:solidFill>
                  <a:srgbClr val="ff8c00"/>
                </a:solidFill>
                <a:effectLst/>
                <a:uFillTx/>
                <a:latin typeface="MathJax_Math"/>
                <a:ea typeface="MathJax_Math"/>
              </a:rPr>
              <a:t>r</a:t>
            </a:r>
            <a:endParaRPr b="0" lang="en-US" sz="920" strike="noStrike" u="none">
              <a:solidFill>
                <a:srgbClr val="000000"/>
              </a:solidFill>
              <a:effectLst/>
              <a:uFillTx/>
              <a:latin typeface="Times New Roman"/>
            </a:endParaRPr>
          </a:p>
        </p:txBody>
      </p:sp>
      <p:sp>
        <p:nvSpPr>
          <p:cNvPr id="701" name=""/>
          <p:cNvSpPr txBox="1"/>
          <p:nvPr/>
        </p:nvSpPr>
        <p:spPr>
          <a:xfrm>
            <a:off x="8213040" y="3650040"/>
            <a:ext cx="163800" cy="189360"/>
          </a:xfrm>
          <a:prstGeom prst="rect">
            <a:avLst/>
          </a:prstGeom>
          <a:noFill/>
          <a:ln w="0">
            <a:noFill/>
          </a:ln>
        </p:spPr>
        <p:txBody>
          <a:bodyPr wrap="none" lIns="0" rIns="0" tIns="0" bIns="0" anchor="t">
            <a:spAutoFit/>
          </a:bodyPr>
          <a:p>
            <a:r>
              <a:rPr b="0" lang="en-US" sz="1290" strike="noStrike" u="none">
                <a:solidFill>
                  <a:srgbClr val="ff8c00"/>
                </a:solidFill>
                <a:effectLst/>
                <a:uFillTx/>
                <a:latin typeface="MathJax_Main"/>
                <a:ea typeface="MathJax_Main"/>
              </a:rPr>
              <a:t>)</a:t>
            </a:r>
            <a:endParaRPr b="0" lang="en-US" sz="1290" strike="noStrike" u="none">
              <a:solidFill>
                <a:srgbClr val="000000"/>
              </a:solidFill>
              <a:effectLst/>
              <a:uFillTx/>
              <a:latin typeface="Times New Roman"/>
            </a:endParaRPr>
          </a:p>
        </p:txBody>
      </p:sp>
      <p:sp>
        <p:nvSpPr>
          <p:cNvPr id="702" name=""/>
          <p:cNvSpPr txBox="1"/>
          <p:nvPr/>
        </p:nvSpPr>
        <p:spPr>
          <a:xfrm>
            <a:off x="6747480" y="4193280"/>
            <a:ext cx="163800" cy="189360"/>
          </a:xfrm>
          <a:prstGeom prst="rect">
            <a:avLst/>
          </a:prstGeom>
          <a:noFill/>
          <a:ln w="0">
            <a:noFill/>
          </a:ln>
        </p:spPr>
        <p:txBody>
          <a:bodyPr wrap="none" lIns="0" rIns="0" tIns="0" bIns="0" anchor="t">
            <a:spAutoFit/>
          </a:bodyPr>
          <a:p>
            <a:r>
              <a:rPr b="0" i="1" lang="en-US" sz="1290" strike="noStrike" u="none">
                <a:solidFill>
                  <a:srgbClr val="ff8c00"/>
                </a:solidFill>
                <a:effectLst/>
                <a:uFillTx/>
                <a:latin typeface="MathJax_Math"/>
                <a:ea typeface="MathJax_Math"/>
              </a:rPr>
              <a:t>I</a:t>
            </a:r>
            <a:endParaRPr b="0" lang="en-US" sz="1290" strike="noStrike" u="none">
              <a:solidFill>
                <a:srgbClr val="000000"/>
              </a:solidFill>
              <a:effectLst/>
              <a:uFillTx/>
              <a:latin typeface="Times New Roman"/>
            </a:endParaRPr>
          </a:p>
        </p:txBody>
      </p:sp>
      <p:sp>
        <p:nvSpPr>
          <p:cNvPr id="703" name=""/>
          <p:cNvSpPr txBox="1"/>
          <p:nvPr/>
        </p:nvSpPr>
        <p:spPr>
          <a:xfrm>
            <a:off x="6819480" y="4262760"/>
            <a:ext cx="341640" cy="136080"/>
          </a:xfrm>
          <a:prstGeom prst="rect">
            <a:avLst/>
          </a:prstGeom>
          <a:noFill/>
          <a:ln w="0">
            <a:noFill/>
          </a:ln>
        </p:spPr>
        <p:txBody>
          <a:bodyPr wrap="none" lIns="0" rIns="0" tIns="0" bIns="0" anchor="t">
            <a:spAutoFit/>
          </a:bodyPr>
          <a:p>
            <a:r>
              <a:rPr b="0" i="1" lang="en-US" sz="920" strike="noStrike" u="none">
                <a:solidFill>
                  <a:srgbClr val="ff8c00"/>
                </a:solidFill>
                <a:effectLst/>
                <a:uFillTx/>
                <a:latin typeface="MathJax_Math"/>
                <a:ea typeface="MathJax_Math"/>
              </a:rPr>
              <a:t>retina</a:t>
            </a:r>
            <a:endParaRPr b="0" lang="en-US" sz="920" strike="noStrike" u="none">
              <a:solidFill>
                <a:srgbClr val="000000"/>
              </a:solidFill>
              <a:effectLst/>
              <a:uFillTx/>
              <a:latin typeface="Times New Roman"/>
            </a:endParaRPr>
          </a:p>
        </p:txBody>
      </p:sp>
      <p:sp>
        <p:nvSpPr>
          <p:cNvPr id="704" name=""/>
          <p:cNvSpPr txBox="1"/>
          <p:nvPr/>
        </p:nvSpPr>
        <p:spPr>
          <a:xfrm>
            <a:off x="7138440" y="4193280"/>
            <a:ext cx="163800" cy="189360"/>
          </a:xfrm>
          <a:prstGeom prst="rect">
            <a:avLst/>
          </a:prstGeom>
          <a:noFill/>
          <a:ln w="0">
            <a:noFill/>
          </a:ln>
        </p:spPr>
        <p:txBody>
          <a:bodyPr wrap="none" lIns="0" rIns="0" tIns="0" bIns="0" anchor="t">
            <a:spAutoFit/>
          </a:bodyPr>
          <a:p>
            <a:r>
              <a:rPr b="0" lang="en-US" sz="1290" strike="noStrike" u="none">
                <a:solidFill>
                  <a:srgbClr val="ff8c00"/>
                </a:solidFill>
                <a:effectLst/>
                <a:uFillTx/>
                <a:latin typeface="MathJax_Main"/>
                <a:ea typeface="MathJax_Main"/>
              </a:rPr>
              <a:t>(</a:t>
            </a:r>
            <a:r>
              <a:rPr b="0" i="1" lang="en-US" sz="1290" strike="noStrike" u="none">
                <a:solidFill>
                  <a:srgbClr val="ff8c00"/>
                </a:solidFill>
                <a:effectLst/>
                <a:uFillTx/>
                <a:latin typeface="MathJax_Math"/>
                <a:ea typeface="MathJax_Math"/>
              </a:rPr>
              <a:t>x</a:t>
            </a:r>
            <a:endParaRPr b="0" lang="en-US" sz="1290" strike="noStrike" u="none">
              <a:solidFill>
                <a:srgbClr val="000000"/>
              </a:solidFill>
              <a:effectLst/>
              <a:uFillTx/>
              <a:latin typeface="Times New Roman"/>
            </a:endParaRPr>
          </a:p>
        </p:txBody>
      </p:sp>
      <p:sp>
        <p:nvSpPr>
          <p:cNvPr id="705" name=""/>
          <p:cNvSpPr txBox="1"/>
          <p:nvPr/>
        </p:nvSpPr>
        <p:spPr>
          <a:xfrm>
            <a:off x="7296480" y="4262760"/>
            <a:ext cx="115560" cy="136080"/>
          </a:xfrm>
          <a:prstGeom prst="rect">
            <a:avLst/>
          </a:prstGeom>
          <a:noFill/>
          <a:ln w="0">
            <a:noFill/>
          </a:ln>
        </p:spPr>
        <p:txBody>
          <a:bodyPr wrap="none" lIns="0" rIns="0" tIns="0" bIns="0" anchor="t">
            <a:spAutoFit/>
          </a:bodyPr>
          <a:p>
            <a:r>
              <a:rPr b="0" i="1" lang="en-US" sz="920" strike="noStrike" u="none">
                <a:solidFill>
                  <a:srgbClr val="ff8c00"/>
                </a:solidFill>
                <a:effectLst/>
                <a:uFillTx/>
                <a:latin typeface="MathJax_Math"/>
                <a:ea typeface="MathJax_Math"/>
              </a:rPr>
              <a:t>r</a:t>
            </a:r>
            <a:endParaRPr b="0" lang="en-US" sz="920" strike="noStrike" u="none">
              <a:solidFill>
                <a:srgbClr val="000000"/>
              </a:solidFill>
              <a:effectLst/>
              <a:uFillTx/>
              <a:latin typeface="Times New Roman"/>
            </a:endParaRPr>
          </a:p>
        </p:txBody>
      </p:sp>
      <p:sp>
        <p:nvSpPr>
          <p:cNvPr id="706" name=""/>
          <p:cNvSpPr txBox="1"/>
          <p:nvPr/>
        </p:nvSpPr>
        <p:spPr>
          <a:xfrm>
            <a:off x="7348680" y="4193280"/>
            <a:ext cx="200880" cy="189360"/>
          </a:xfrm>
          <a:prstGeom prst="rect">
            <a:avLst/>
          </a:prstGeom>
          <a:noFill/>
          <a:ln w="0">
            <a:noFill/>
          </a:ln>
        </p:spPr>
        <p:txBody>
          <a:bodyPr wrap="none" lIns="0" rIns="0" tIns="0" bIns="0" anchor="t">
            <a:spAutoFit/>
          </a:bodyPr>
          <a:p>
            <a:r>
              <a:rPr b="0" lang="en-US" sz="1290" strike="noStrike" u="none">
                <a:solidFill>
                  <a:srgbClr val="ff8c00"/>
                </a:solidFill>
                <a:effectLst/>
                <a:uFillTx/>
                <a:latin typeface="MathJax_Main"/>
                <a:ea typeface="MathJax_Main"/>
              </a:rPr>
              <a:t>,</a:t>
            </a:r>
            <a:r>
              <a:rPr b="0" i="1" lang="en-US" sz="1290" strike="noStrike" u="none">
                <a:solidFill>
                  <a:srgbClr val="ff8c00"/>
                </a:solidFill>
                <a:effectLst/>
                <a:uFillTx/>
                <a:latin typeface="MathJax_Math"/>
                <a:ea typeface="MathJax_Math"/>
              </a:rPr>
              <a:t> y</a:t>
            </a:r>
            <a:endParaRPr b="0" lang="en-US" sz="1290" strike="noStrike" u="none">
              <a:solidFill>
                <a:srgbClr val="000000"/>
              </a:solidFill>
              <a:effectLst/>
              <a:uFillTx/>
              <a:latin typeface="Times New Roman"/>
            </a:endParaRPr>
          </a:p>
        </p:txBody>
      </p:sp>
      <p:sp>
        <p:nvSpPr>
          <p:cNvPr id="707" name=""/>
          <p:cNvSpPr txBox="1"/>
          <p:nvPr/>
        </p:nvSpPr>
        <p:spPr>
          <a:xfrm>
            <a:off x="7501680" y="4262760"/>
            <a:ext cx="115560" cy="136080"/>
          </a:xfrm>
          <a:prstGeom prst="rect">
            <a:avLst/>
          </a:prstGeom>
          <a:noFill/>
          <a:ln w="0">
            <a:noFill/>
          </a:ln>
        </p:spPr>
        <p:txBody>
          <a:bodyPr wrap="none" lIns="0" rIns="0" tIns="0" bIns="0" anchor="t">
            <a:spAutoFit/>
          </a:bodyPr>
          <a:p>
            <a:r>
              <a:rPr b="0" i="1" lang="en-US" sz="920" strike="noStrike" u="none">
                <a:solidFill>
                  <a:srgbClr val="ff8c00"/>
                </a:solidFill>
                <a:effectLst/>
                <a:uFillTx/>
                <a:latin typeface="MathJax_Math"/>
                <a:ea typeface="MathJax_Math"/>
              </a:rPr>
              <a:t>r</a:t>
            </a:r>
            <a:endParaRPr b="0" lang="en-US" sz="920" strike="noStrike" u="none">
              <a:solidFill>
                <a:srgbClr val="000000"/>
              </a:solidFill>
              <a:effectLst/>
              <a:uFillTx/>
              <a:latin typeface="Times New Roman"/>
            </a:endParaRPr>
          </a:p>
        </p:txBody>
      </p:sp>
      <p:sp>
        <p:nvSpPr>
          <p:cNvPr id="708" name=""/>
          <p:cNvSpPr txBox="1"/>
          <p:nvPr/>
        </p:nvSpPr>
        <p:spPr>
          <a:xfrm>
            <a:off x="7554240" y="4193280"/>
            <a:ext cx="479160" cy="189360"/>
          </a:xfrm>
          <a:prstGeom prst="rect">
            <a:avLst/>
          </a:prstGeom>
          <a:noFill/>
          <a:ln w="0">
            <a:noFill/>
          </a:ln>
        </p:spPr>
        <p:txBody>
          <a:bodyPr wrap="none" lIns="0" rIns="0" tIns="0" bIns="0" anchor="t">
            <a:spAutoFit/>
          </a:bodyPr>
          <a:p>
            <a:r>
              <a:rPr b="0" lang="en-US" sz="1290" strike="noStrike" u="none">
                <a:solidFill>
                  <a:srgbClr val="ff8c00"/>
                </a:solidFill>
                <a:effectLst/>
                <a:uFillTx/>
                <a:latin typeface="MathJax_Main"/>
                <a:ea typeface="MathJax_Main"/>
              </a:rPr>
              <a:t>) = |</a:t>
            </a:r>
            <a:r>
              <a:rPr b="0" i="1" lang="en-US" sz="1290" strike="noStrike" u="none">
                <a:solidFill>
                  <a:srgbClr val="ff8c00"/>
                </a:solidFill>
                <a:effectLst/>
                <a:uFillTx/>
                <a:latin typeface="MathJax_Math"/>
                <a:ea typeface="MathJax_Math"/>
              </a:rPr>
              <a:t>U</a:t>
            </a:r>
            <a:endParaRPr b="0" lang="en-US" sz="1290" strike="noStrike" u="none">
              <a:solidFill>
                <a:srgbClr val="000000"/>
              </a:solidFill>
              <a:effectLst/>
              <a:uFillTx/>
              <a:latin typeface="Times New Roman"/>
            </a:endParaRPr>
          </a:p>
        </p:txBody>
      </p:sp>
      <p:sp>
        <p:nvSpPr>
          <p:cNvPr id="709" name=""/>
          <p:cNvSpPr txBox="1"/>
          <p:nvPr/>
        </p:nvSpPr>
        <p:spPr>
          <a:xfrm>
            <a:off x="7994520" y="4262760"/>
            <a:ext cx="341640" cy="136080"/>
          </a:xfrm>
          <a:prstGeom prst="rect">
            <a:avLst/>
          </a:prstGeom>
          <a:noFill/>
          <a:ln w="0">
            <a:noFill/>
          </a:ln>
        </p:spPr>
        <p:txBody>
          <a:bodyPr wrap="none" lIns="0" rIns="0" tIns="0" bIns="0" anchor="t">
            <a:spAutoFit/>
          </a:bodyPr>
          <a:p>
            <a:r>
              <a:rPr b="0" i="1" lang="en-US" sz="920" strike="noStrike" u="none">
                <a:solidFill>
                  <a:srgbClr val="ff8c00"/>
                </a:solidFill>
                <a:effectLst/>
                <a:uFillTx/>
                <a:latin typeface="MathJax_Math"/>
                <a:ea typeface="MathJax_Math"/>
              </a:rPr>
              <a:t>retina</a:t>
            </a:r>
            <a:endParaRPr b="0" lang="en-US" sz="920" strike="noStrike" u="none">
              <a:solidFill>
                <a:srgbClr val="000000"/>
              </a:solidFill>
              <a:effectLst/>
              <a:uFillTx/>
              <a:latin typeface="Times New Roman"/>
            </a:endParaRPr>
          </a:p>
        </p:txBody>
      </p:sp>
      <p:sp>
        <p:nvSpPr>
          <p:cNvPr id="710" name=""/>
          <p:cNvSpPr txBox="1"/>
          <p:nvPr/>
        </p:nvSpPr>
        <p:spPr>
          <a:xfrm>
            <a:off x="8313480" y="4193280"/>
            <a:ext cx="163800" cy="189360"/>
          </a:xfrm>
          <a:prstGeom prst="rect">
            <a:avLst/>
          </a:prstGeom>
          <a:noFill/>
          <a:ln w="0">
            <a:noFill/>
          </a:ln>
        </p:spPr>
        <p:txBody>
          <a:bodyPr wrap="none" lIns="0" rIns="0" tIns="0" bIns="0" anchor="t">
            <a:spAutoFit/>
          </a:bodyPr>
          <a:p>
            <a:r>
              <a:rPr b="0" lang="en-US" sz="1290" strike="noStrike" u="none">
                <a:solidFill>
                  <a:srgbClr val="ff8c00"/>
                </a:solidFill>
                <a:effectLst/>
                <a:uFillTx/>
                <a:latin typeface="MathJax_Main"/>
                <a:ea typeface="MathJax_Main"/>
              </a:rPr>
              <a:t>(</a:t>
            </a:r>
            <a:r>
              <a:rPr b="0" i="1" lang="en-US" sz="1290" strike="noStrike" u="none">
                <a:solidFill>
                  <a:srgbClr val="ff8c00"/>
                </a:solidFill>
                <a:effectLst/>
                <a:uFillTx/>
                <a:latin typeface="MathJax_Math"/>
                <a:ea typeface="MathJax_Math"/>
              </a:rPr>
              <a:t>x</a:t>
            </a:r>
            <a:endParaRPr b="0" lang="en-US" sz="1290" strike="noStrike" u="none">
              <a:solidFill>
                <a:srgbClr val="000000"/>
              </a:solidFill>
              <a:effectLst/>
              <a:uFillTx/>
              <a:latin typeface="Times New Roman"/>
            </a:endParaRPr>
          </a:p>
        </p:txBody>
      </p:sp>
      <p:sp>
        <p:nvSpPr>
          <p:cNvPr id="711" name=""/>
          <p:cNvSpPr txBox="1"/>
          <p:nvPr/>
        </p:nvSpPr>
        <p:spPr>
          <a:xfrm>
            <a:off x="8471160" y="4262760"/>
            <a:ext cx="115560" cy="136080"/>
          </a:xfrm>
          <a:prstGeom prst="rect">
            <a:avLst/>
          </a:prstGeom>
          <a:noFill/>
          <a:ln w="0">
            <a:noFill/>
          </a:ln>
        </p:spPr>
        <p:txBody>
          <a:bodyPr wrap="none" lIns="0" rIns="0" tIns="0" bIns="0" anchor="t">
            <a:spAutoFit/>
          </a:bodyPr>
          <a:p>
            <a:r>
              <a:rPr b="0" i="1" lang="en-US" sz="920" strike="noStrike" u="none">
                <a:solidFill>
                  <a:srgbClr val="ff8c00"/>
                </a:solidFill>
                <a:effectLst/>
                <a:uFillTx/>
                <a:latin typeface="MathJax_Math"/>
                <a:ea typeface="MathJax_Math"/>
              </a:rPr>
              <a:t>r</a:t>
            </a:r>
            <a:endParaRPr b="0" lang="en-US" sz="920" strike="noStrike" u="none">
              <a:solidFill>
                <a:srgbClr val="000000"/>
              </a:solidFill>
              <a:effectLst/>
              <a:uFillTx/>
              <a:latin typeface="Times New Roman"/>
            </a:endParaRPr>
          </a:p>
        </p:txBody>
      </p:sp>
      <p:sp>
        <p:nvSpPr>
          <p:cNvPr id="712" name=""/>
          <p:cNvSpPr txBox="1"/>
          <p:nvPr/>
        </p:nvSpPr>
        <p:spPr>
          <a:xfrm>
            <a:off x="8523360" y="4193280"/>
            <a:ext cx="200880" cy="189360"/>
          </a:xfrm>
          <a:prstGeom prst="rect">
            <a:avLst/>
          </a:prstGeom>
          <a:noFill/>
          <a:ln w="0">
            <a:noFill/>
          </a:ln>
        </p:spPr>
        <p:txBody>
          <a:bodyPr wrap="none" lIns="0" rIns="0" tIns="0" bIns="0" anchor="t">
            <a:spAutoFit/>
          </a:bodyPr>
          <a:p>
            <a:r>
              <a:rPr b="0" lang="en-US" sz="1290" strike="noStrike" u="none">
                <a:solidFill>
                  <a:srgbClr val="ff8c00"/>
                </a:solidFill>
                <a:effectLst/>
                <a:uFillTx/>
                <a:latin typeface="MathJax_Main"/>
                <a:ea typeface="MathJax_Main"/>
              </a:rPr>
              <a:t>,</a:t>
            </a:r>
            <a:r>
              <a:rPr b="0" i="1" lang="en-US" sz="1290" strike="noStrike" u="none">
                <a:solidFill>
                  <a:srgbClr val="ff8c00"/>
                </a:solidFill>
                <a:effectLst/>
                <a:uFillTx/>
                <a:latin typeface="MathJax_Math"/>
                <a:ea typeface="MathJax_Math"/>
              </a:rPr>
              <a:t> y</a:t>
            </a:r>
            <a:endParaRPr b="0" lang="en-US" sz="1290" strike="noStrike" u="none">
              <a:solidFill>
                <a:srgbClr val="000000"/>
              </a:solidFill>
              <a:effectLst/>
              <a:uFillTx/>
              <a:latin typeface="Times New Roman"/>
            </a:endParaRPr>
          </a:p>
        </p:txBody>
      </p:sp>
      <p:sp>
        <p:nvSpPr>
          <p:cNvPr id="713" name=""/>
          <p:cNvSpPr txBox="1"/>
          <p:nvPr/>
        </p:nvSpPr>
        <p:spPr>
          <a:xfrm>
            <a:off x="8676720" y="4262760"/>
            <a:ext cx="115560" cy="136080"/>
          </a:xfrm>
          <a:prstGeom prst="rect">
            <a:avLst/>
          </a:prstGeom>
          <a:noFill/>
          <a:ln w="0">
            <a:noFill/>
          </a:ln>
        </p:spPr>
        <p:txBody>
          <a:bodyPr wrap="none" lIns="0" rIns="0" tIns="0" bIns="0" anchor="t">
            <a:spAutoFit/>
          </a:bodyPr>
          <a:p>
            <a:r>
              <a:rPr b="0" i="1" lang="en-US" sz="920" strike="noStrike" u="none">
                <a:solidFill>
                  <a:srgbClr val="ff8c00"/>
                </a:solidFill>
                <a:effectLst/>
                <a:uFillTx/>
                <a:latin typeface="MathJax_Math"/>
                <a:ea typeface="MathJax_Math"/>
              </a:rPr>
              <a:t>r</a:t>
            </a:r>
            <a:endParaRPr b="0" lang="en-US" sz="920" strike="noStrike" u="none">
              <a:solidFill>
                <a:srgbClr val="000000"/>
              </a:solidFill>
              <a:effectLst/>
              <a:uFillTx/>
              <a:latin typeface="Times New Roman"/>
            </a:endParaRPr>
          </a:p>
        </p:txBody>
      </p:sp>
      <p:sp>
        <p:nvSpPr>
          <p:cNvPr id="714" name=""/>
          <p:cNvSpPr txBox="1"/>
          <p:nvPr/>
        </p:nvSpPr>
        <p:spPr>
          <a:xfrm>
            <a:off x="8728920" y="4193280"/>
            <a:ext cx="163800" cy="189360"/>
          </a:xfrm>
          <a:prstGeom prst="rect">
            <a:avLst/>
          </a:prstGeom>
          <a:noFill/>
          <a:ln w="0">
            <a:noFill/>
          </a:ln>
        </p:spPr>
        <p:txBody>
          <a:bodyPr wrap="none" lIns="0" rIns="0" tIns="0" bIns="0" anchor="t">
            <a:spAutoFit/>
          </a:bodyPr>
          <a:p>
            <a:r>
              <a:rPr b="0" lang="en-US" sz="1290" strike="noStrike" u="none">
                <a:solidFill>
                  <a:srgbClr val="ff8c00"/>
                </a:solidFill>
                <a:effectLst/>
                <a:uFillTx/>
                <a:latin typeface="MathJax_Main"/>
                <a:ea typeface="MathJax_Main"/>
              </a:rPr>
              <a:t>)|</a:t>
            </a:r>
            <a:endParaRPr b="0" lang="en-US" sz="1290" strike="noStrike" u="none">
              <a:solidFill>
                <a:srgbClr val="000000"/>
              </a:solidFill>
              <a:effectLst/>
              <a:uFillTx/>
              <a:latin typeface="Times New Roman"/>
            </a:endParaRPr>
          </a:p>
        </p:txBody>
      </p:sp>
      <p:sp>
        <p:nvSpPr>
          <p:cNvPr id="715" name=""/>
          <p:cNvSpPr txBox="1"/>
          <p:nvPr/>
        </p:nvSpPr>
        <p:spPr>
          <a:xfrm>
            <a:off x="8838360" y="4179240"/>
            <a:ext cx="115560" cy="136080"/>
          </a:xfrm>
          <a:prstGeom prst="rect">
            <a:avLst/>
          </a:prstGeom>
          <a:noFill/>
          <a:ln w="0">
            <a:noFill/>
          </a:ln>
        </p:spPr>
        <p:txBody>
          <a:bodyPr wrap="none" lIns="0" rIns="0" tIns="0" bIns="0" anchor="t">
            <a:spAutoFit/>
          </a:bodyPr>
          <a:p>
            <a:r>
              <a:rPr b="0" lang="en-US" sz="920" strike="noStrike" u="none">
                <a:solidFill>
                  <a:srgbClr val="ff8c00"/>
                </a:solidFill>
                <a:effectLst/>
                <a:uFillTx/>
                <a:latin typeface="MathJax_Main"/>
                <a:ea typeface="MathJax_Main"/>
              </a:rPr>
              <a:t>2</a:t>
            </a:r>
            <a:endParaRPr b="0" lang="en-US" sz="920" strike="noStrike" u="none">
              <a:solidFill>
                <a:srgbClr val="000000"/>
              </a:solidFill>
              <a:effectLst/>
              <a:uFillTx/>
              <a:latin typeface="Times New Roman"/>
            </a:endParaRPr>
          </a:p>
        </p:txBody>
      </p:sp>
      <p:sp>
        <p:nvSpPr>
          <p:cNvPr id="716" name=""/>
          <p:cNvSpPr/>
          <p:nvPr/>
        </p:nvSpPr>
        <p:spPr>
          <a:xfrm>
            <a:off x="534600" y="935640"/>
            <a:ext cx="2122920" cy="1070280"/>
          </a:xfrm>
          <a:custGeom>
            <a:avLst/>
            <a:gdLst/>
            <a:ahLst/>
            <a:rect l="0" t="0" r="r" b="b"/>
            <a:pathLst>
              <a:path w="5897" h="2973">
                <a:moveTo>
                  <a:pt x="0" y="2787"/>
                </a:moveTo>
                <a:lnTo>
                  <a:pt x="0" y="186"/>
                </a:lnTo>
                <a:cubicBezTo>
                  <a:pt x="0" y="174"/>
                  <a:pt x="1" y="162"/>
                  <a:pt x="4" y="150"/>
                </a:cubicBezTo>
                <a:cubicBezTo>
                  <a:pt x="6" y="138"/>
                  <a:pt x="10" y="126"/>
                  <a:pt x="14" y="115"/>
                </a:cubicBezTo>
                <a:cubicBezTo>
                  <a:pt x="19" y="104"/>
                  <a:pt x="25" y="93"/>
                  <a:pt x="31" y="83"/>
                </a:cubicBezTo>
                <a:cubicBezTo>
                  <a:pt x="38" y="73"/>
                  <a:pt x="46" y="63"/>
                  <a:pt x="55" y="55"/>
                </a:cubicBezTo>
                <a:cubicBezTo>
                  <a:pt x="63" y="46"/>
                  <a:pt x="73" y="38"/>
                  <a:pt x="83" y="32"/>
                </a:cubicBezTo>
                <a:cubicBezTo>
                  <a:pt x="93" y="25"/>
                  <a:pt x="104" y="19"/>
                  <a:pt x="115" y="14"/>
                </a:cubicBezTo>
                <a:cubicBezTo>
                  <a:pt x="126" y="10"/>
                  <a:pt x="138" y="6"/>
                  <a:pt x="150" y="4"/>
                </a:cubicBezTo>
                <a:cubicBezTo>
                  <a:pt x="162" y="2"/>
                  <a:pt x="174" y="0"/>
                  <a:pt x="186" y="0"/>
                </a:cubicBezTo>
                <a:lnTo>
                  <a:pt x="5712" y="0"/>
                </a:lnTo>
                <a:cubicBezTo>
                  <a:pt x="5724" y="0"/>
                  <a:pt x="5736" y="2"/>
                  <a:pt x="5748" y="4"/>
                </a:cubicBezTo>
                <a:cubicBezTo>
                  <a:pt x="5760" y="6"/>
                  <a:pt x="5771" y="10"/>
                  <a:pt x="5783" y="14"/>
                </a:cubicBezTo>
                <a:cubicBezTo>
                  <a:pt x="5794" y="19"/>
                  <a:pt x="5805" y="25"/>
                  <a:pt x="5815" y="32"/>
                </a:cubicBezTo>
                <a:cubicBezTo>
                  <a:pt x="5825" y="38"/>
                  <a:pt x="5834" y="46"/>
                  <a:pt x="5843" y="55"/>
                </a:cubicBezTo>
                <a:cubicBezTo>
                  <a:pt x="5851" y="63"/>
                  <a:pt x="5859" y="73"/>
                  <a:pt x="5866" y="83"/>
                </a:cubicBezTo>
                <a:cubicBezTo>
                  <a:pt x="5873" y="93"/>
                  <a:pt x="5878" y="104"/>
                  <a:pt x="5883" y="115"/>
                </a:cubicBezTo>
                <a:cubicBezTo>
                  <a:pt x="5888" y="126"/>
                  <a:pt x="5891" y="138"/>
                  <a:pt x="5894" y="150"/>
                </a:cubicBezTo>
                <a:cubicBezTo>
                  <a:pt x="5896" y="162"/>
                  <a:pt x="5897" y="174"/>
                  <a:pt x="5897" y="186"/>
                </a:cubicBezTo>
                <a:lnTo>
                  <a:pt x="5897" y="2787"/>
                </a:lnTo>
                <a:cubicBezTo>
                  <a:pt x="5897" y="2799"/>
                  <a:pt x="5896" y="2811"/>
                  <a:pt x="5894" y="2823"/>
                </a:cubicBezTo>
                <a:cubicBezTo>
                  <a:pt x="5891" y="2835"/>
                  <a:pt x="5888" y="2847"/>
                  <a:pt x="5883" y="2858"/>
                </a:cubicBezTo>
                <a:cubicBezTo>
                  <a:pt x="5878" y="2869"/>
                  <a:pt x="5873" y="2880"/>
                  <a:pt x="5866" y="2890"/>
                </a:cubicBezTo>
                <a:cubicBezTo>
                  <a:pt x="5859" y="2900"/>
                  <a:pt x="5851" y="2910"/>
                  <a:pt x="5843" y="2918"/>
                </a:cubicBezTo>
                <a:cubicBezTo>
                  <a:pt x="5834" y="2927"/>
                  <a:pt x="5825" y="2935"/>
                  <a:pt x="5815" y="2941"/>
                </a:cubicBezTo>
                <a:cubicBezTo>
                  <a:pt x="5805" y="2948"/>
                  <a:pt x="5794" y="2954"/>
                  <a:pt x="5783" y="2958"/>
                </a:cubicBezTo>
                <a:cubicBezTo>
                  <a:pt x="5771" y="2963"/>
                  <a:pt x="5760" y="2967"/>
                  <a:pt x="5748" y="2969"/>
                </a:cubicBezTo>
                <a:cubicBezTo>
                  <a:pt x="5736" y="2971"/>
                  <a:pt x="5724" y="2973"/>
                  <a:pt x="5712" y="2973"/>
                </a:cubicBezTo>
                <a:lnTo>
                  <a:pt x="186" y="2973"/>
                </a:lnTo>
                <a:cubicBezTo>
                  <a:pt x="174" y="2973"/>
                  <a:pt x="162" y="2971"/>
                  <a:pt x="150" y="2969"/>
                </a:cubicBezTo>
                <a:cubicBezTo>
                  <a:pt x="138" y="2967"/>
                  <a:pt x="126" y="2963"/>
                  <a:pt x="115" y="2958"/>
                </a:cubicBezTo>
                <a:cubicBezTo>
                  <a:pt x="104" y="2954"/>
                  <a:pt x="93" y="2948"/>
                  <a:pt x="83" y="2941"/>
                </a:cubicBezTo>
                <a:cubicBezTo>
                  <a:pt x="73" y="2935"/>
                  <a:pt x="63" y="2927"/>
                  <a:pt x="55" y="2918"/>
                </a:cubicBezTo>
                <a:cubicBezTo>
                  <a:pt x="46" y="2910"/>
                  <a:pt x="38" y="2900"/>
                  <a:pt x="31" y="2890"/>
                </a:cubicBezTo>
                <a:cubicBezTo>
                  <a:pt x="25" y="2880"/>
                  <a:pt x="19" y="2869"/>
                  <a:pt x="14" y="2858"/>
                </a:cubicBezTo>
                <a:cubicBezTo>
                  <a:pt x="10" y="2847"/>
                  <a:pt x="6" y="2835"/>
                  <a:pt x="4" y="2823"/>
                </a:cubicBezTo>
                <a:cubicBezTo>
                  <a:pt x="1" y="2811"/>
                  <a:pt x="0" y="2799"/>
                  <a:pt x="0" y="2787"/>
                </a:cubicBezTo>
                <a:close/>
              </a:path>
            </a:pathLst>
          </a:custGeom>
          <a:solidFill>
            <a:srgbClr val="ffffff">
              <a:alpha val="10000"/>
            </a:srgbClr>
          </a:solidFill>
          <a:ln w="0">
            <a:noFill/>
          </a:ln>
        </p:spPr>
        <p:txBody>
          <a:bodyPr lIns="0" rIns="0" tIns="0" bIns="0" anchor="t">
            <a:noAutofit/>
          </a:bodyPr>
          <a:p>
            <a:endParaRPr b="0" lang="en-US" sz="2400" strike="noStrike" u="none">
              <a:solidFill>
                <a:srgbClr val="000000"/>
              </a:solidFill>
              <a:effectLst/>
              <a:uFillTx/>
              <a:latin typeface="Times New Roman"/>
            </a:endParaRPr>
          </a:p>
        </p:txBody>
      </p:sp>
      <p:pic>
        <p:nvPicPr>
          <p:cNvPr id="717" name="" descr=""/>
          <p:cNvPicPr/>
          <p:nvPr/>
        </p:nvPicPr>
        <p:blipFill>
          <a:blip r:embed="rId6"/>
          <a:stretch/>
        </p:blipFill>
        <p:spPr>
          <a:xfrm>
            <a:off x="1428840" y="1069560"/>
            <a:ext cx="342360" cy="334080"/>
          </a:xfrm>
          <a:prstGeom prst="rect">
            <a:avLst/>
          </a:prstGeom>
          <a:noFill/>
          <a:ln w="0">
            <a:noFill/>
          </a:ln>
        </p:spPr>
      </p:pic>
      <p:sp>
        <p:nvSpPr>
          <p:cNvPr id="718" name=""/>
          <p:cNvSpPr txBox="1"/>
          <p:nvPr/>
        </p:nvSpPr>
        <p:spPr>
          <a:xfrm>
            <a:off x="10136520" y="5741280"/>
            <a:ext cx="413640" cy="136080"/>
          </a:xfrm>
          <a:prstGeom prst="rect">
            <a:avLst/>
          </a:prstGeom>
          <a:noFill/>
          <a:ln w="0">
            <a:noFill/>
          </a:ln>
        </p:spPr>
        <p:txBody>
          <a:bodyPr wrap="none" lIns="0" rIns="0" tIns="0" bIns="0" anchor="t">
            <a:spAutoFit/>
          </a:bodyPr>
          <a:p>
            <a:r>
              <a:rPr b="0" lang="en-US" sz="920" strike="noStrike" u="none">
                <a:solidFill>
                  <a:srgbClr val="a7c6d9"/>
                </a:solidFill>
                <a:effectLst/>
                <a:uFillTx/>
                <a:latin typeface="NotoSansJP"/>
                <a:ea typeface="NotoSansJP"/>
              </a:rPr>
              <a:t>11 / 13</a:t>
            </a:r>
            <a:endParaRPr b="0" lang="en-US" sz="920" strike="noStrike" u="none">
              <a:solidFill>
                <a:srgbClr val="000000"/>
              </a:solidFill>
              <a:effectLst/>
              <a:uFillTx/>
              <a:latin typeface="Times New Roman"/>
            </a:endParaRPr>
          </a:p>
        </p:txBody>
      </p:sp>
      <p:sp>
        <p:nvSpPr>
          <p:cNvPr id="719" name=""/>
          <p:cNvSpPr txBox="1"/>
          <p:nvPr/>
        </p:nvSpPr>
        <p:spPr>
          <a:xfrm>
            <a:off x="928080" y="1505520"/>
            <a:ext cx="1341720" cy="194040"/>
          </a:xfrm>
          <a:prstGeom prst="rect">
            <a:avLst/>
          </a:prstGeom>
          <a:noFill/>
          <a:ln w="0">
            <a:noFill/>
          </a:ln>
        </p:spPr>
        <p:txBody>
          <a:bodyPr wrap="none" lIns="0" rIns="0" tIns="0" bIns="0" anchor="t">
            <a:spAutoFit/>
          </a:bodyPr>
          <a:p>
            <a:r>
              <a:rPr b="0" lang="zh-CN" sz="1050" strike="noStrike" u="none">
                <a:solidFill>
                  <a:srgbClr val="ffffff"/>
                </a:solidFill>
                <a:effectLst/>
                <a:uFillTx/>
                <a:latin typeface="NotoSansJP"/>
                <a:ea typeface="NotoSansJP"/>
              </a:rPr>
              <a:t>瞳レンズ通過後の光波</a:t>
            </a:r>
            <a:endParaRPr b="0" lang="en-US" sz="1050" strike="noStrike" u="none">
              <a:solidFill>
                <a:srgbClr val="000000"/>
              </a:solidFill>
              <a:effectLst/>
              <a:uFillTx/>
              <a:latin typeface="Times New Roman"/>
            </a:endParaRPr>
          </a:p>
        </p:txBody>
      </p:sp>
      <p:sp>
        <p:nvSpPr>
          <p:cNvPr id="720" name=""/>
          <p:cNvSpPr/>
          <p:nvPr/>
        </p:nvSpPr>
        <p:spPr>
          <a:xfrm>
            <a:off x="3016440" y="1261800"/>
            <a:ext cx="1070280" cy="16920"/>
          </a:xfrm>
          <a:custGeom>
            <a:avLst/>
            <a:gdLst/>
            <a:ahLst/>
            <a:rect l="0" t="0" r="r" b="b"/>
            <a:pathLst>
              <a:path w="2973" h="47">
                <a:moveTo>
                  <a:pt x="0" y="0"/>
                </a:moveTo>
                <a:lnTo>
                  <a:pt x="2973" y="0"/>
                </a:lnTo>
                <a:lnTo>
                  <a:pt x="2973" y="47"/>
                </a:lnTo>
                <a:lnTo>
                  <a:pt x="0" y="47"/>
                </a:lnTo>
                <a:lnTo>
                  <a:pt x="0" y="0"/>
                </a:lnTo>
                <a:close/>
              </a:path>
            </a:pathLst>
          </a:custGeom>
          <a:solidFill>
            <a:srgbClr val="a7c6d9"/>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721" name=""/>
          <p:cNvSpPr txBox="1"/>
          <p:nvPr/>
        </p:nvSpPr>
        <p:spPr>
          <a:xfrm>
            <a:off x="1095120" y="1729800"/>
            <a:ext cx="1041120" cy="169560"/>
          </a:xfrm>
          <a:prstGeom prst="rect">
            <a:avLst/>
          </a:prstGeom>
          <a:noFill/>
          <a:ln w="0">
            <a:noFill/>
          </a:ln>
        </p:spPr>
        <p:txBody>
          <a:bodyPr wrap="none" lIns="0" rIns="0" tIns="0" bIns="0" anchor="t">
            <a:spAutoFit/>
          </a:bodyPr>
          <a:p>
            <a:r>
              <a:rPr b="0" lang="en-US" sz="920" strike="noStrike" u="none">
                <a:solidFill>
                  <a:srgbClr val="a7c6d9"/>
                </a:solidFill>
                <a:effectLst/>
                <a:uFillTx/>
                <a:latin typeface="NotoSansJP"/>
                <a:ea typeface="NotoSansJP"/>
              </a:rPr>
              <a:t>2</a:t>
            </a:r>
            <a:r>
              <a:rPr b="0" lang="zh-CN" sz="920" strike="noStrike" u="none">
                <a:solidFill>
                  <a:srgbClr val="a7c6d9"/>
                </a:solidFill>
                <a:effectLst/>
                <a:uFillTx/>
                <a:latin typeface="NotoSansJP"/>
                <a:ea typeface="NotoSansJP"/>
              </a:rPr>
              <a:t>次位相を乗算済み</a:t>
            </a:r>
            <a:endParaRPr b="0" lang="en-US" sz="920" strike="noStrike" u="none">
              <a:solidFill>
                <a:srgbClr val="000000"/>
              </a:solidFill>
              <a:effectLst/>
              <a:uFillTx/>
              <a:latin typeface="Times New Roman"/>
            </a:endParaRPr>
          </a:p>
        </p:txBody>
      </p:sp>
      <p:sp>
        <p:nvSpPr>
          <p:cNvPr id="722" name=""/>
          <p:cNvSpPr txBox="1"/>
          <p:nvPr/>
        </p:nvSpPr>
        <p:spPr>
          <a:xfrm>
            <a:off x="2859120" y="1370520"/>
            <a:ext cx="1291680" cy="169560"/>
          </a:xfrm>
          <a:prstGeom prst="rect">
            <a:avLst/>
          </a:prstGeom>
          <a:noFill/>
          <a:ln w="0">
            <a:noFill/>
          </a:ln>
        </p:spPr>
        <p:txBody>
          <a:bodyPr wrap="none" lIns="0" rIns="0" tIns="0" bIns="0" anchor="t">
            <a:spAutoFit/>
          </a:bodyPr>
          <a:p>
            <a:r>
              <a:rPr b="0" lang="zh-CN" sz="920" strike="noStrike" u="none">
                <a:solidFill>
                  <a:srgbClr val="a7c6d9"/>
                </a:solidFill>
                <a:effectLst/>
                <a:uFillTx/>
                <a:latin typeface="NotoSansJP"/>
                <a:ea typeface="NotoSansJP"/>
              </a:rPr>
              <a:t>角スペクトル法による伝</a:t>
            </a:r>
            <a:endParaRPr b="0" lang="en-US" sz="920" strike="noStrike" u="none">
              <a:solidFill>
                <a:srgbClr val="000000"/>
              </a:solidFill>
              <a:effectLst/>
              <a:uFillTx/>
              <a:latin typeface="Times New Roman"/>
            </a:endParaRPr>
          </a:p>
        </p:txBody>
      </p:sp>
      <p:pic>
        <p:nvPicPr>
          <p:cNvPr id="723" name="" descr=""/>
          <p:cNvPicPr/>
          <p:nvPr/>
        </p:nvPicPr>
        <p:blipFill>
          <a:blip r:embed="rId7"/>
          <a:stretch/>
        </p:blipFill>
        <p:spPr>
          <a:xfrm>
            <a:off x="4161600" y="1404000"/>
            <a:ext cx="83160" cy="133200"/>
          </a:xfrm>
          <a:prstGeom prst="rect">
            <a:avLst/>
          </a:prstGeom>
          <a:noFill/>
          <a:ln w="0">
            <a:noFill/>
          </a:ln>
        </p:spPr>
      </p:pic>
      <p:sp>
        <p:nvSpPr>
          <p:cNvPr id="724" name=""/>
          <p:cNvSpPr/>
          <p:nvPr/>
        </p:nvSpPr>
        <p:spPr>
          <a:xfrm>
            <a:off x="4445640" y="935640"/>
            <a:ext cx="2122920" cy="1070280"/>
          </a:xfrm>
          <a:custGeom>
            <a:avLst/>
            <a:gdLst/>
            <a:ahLst/>
            <a:rect l="0" t="0" r="r" b="b"/>
            <a:pathLst>
              <a:path w="5897" h="2973">
                <a:moveTo>
                  <a:pt x="0" y="2787"/>
                </a:moveTo>
                <a:lnTo>
                  <a:pt x="0" y="186"/>
                </a:lnTo>
                <a:cubicBezTo>
                  <a:pt x="0" y="174"/>
                  <a:pt x="1" y="162"/>
                  <a:pt x="3" y="150"/>
                </a:cubicBezTo>
                <a:cubicBezTo>
                  <a:pt x="6" y="138"/>
                  <a:pt x="9" y="126"/>
                  <a:pt x="14" y="115"/>
                </a:cubicBezTo>
                <a:cubicBezTo>
                  <a:pt x="19" y="104"/>
                  <a:pt x="24" y="93"/>
                  <a:pt x="31" y="83"/>
                </a:cubicBezTo>
                <a:cubicBezTo>
                  <a:pt x="38" y="73"/>
                  <a:pt x="46" y="63"/>
                  <a:pt x="54" y="55"/>
                </a:cubicBezTo>
                <a:cubicBezTo>
                  <a:pt x="63" y="46"/>
                  <a:pt x="72" y="38"/>
                  <a:pt x="82" y="32"/>
                </a:cubicBezTo>
                <a:cubicBezTo>
                  <a:pt x="93" y="25"/>
                  <a:pt x="103" y="19"/>
                  <a:pt x="114" y="14"/>
                </a:cubicBezTo>
                <a:cubicBezTo>
                  <a:pt x="126" y="10"/>
                  <a:pt x="137" y="6"/>
                  <a:pt x="149" y="4"/>
                </a:cubicBezTo>
                <a:cubicBezTo>
                  <a:pt x="161" y="2"/>
                  <a:pt x="173" y="0"/>
                  <a:pt x="186" y="0"/>
                </a:cubicBezTo>
                <a:lnTo>
                  <a:pt x="5711" y="0"/>
                </a:lnTo>
                <a:cubicBezTo>
                  <a:pt x="5723" y="0"/>
                  <a:pt x="5736" y="2"/>
                  <a:pt x="5747" y="4"/>
                </a:cubicBezTo>
                <a:cubicBezTo>
                  <a:pt x="5759" y="6"/>
                  <a:pt x="5771" y="10"/>
                  <a:pt x="5782" y="14"/>
                </a:cubicBezTo>
                <a:cubicBezTo>
                  <a:pt x="5794" y="19"/>
                  <a:pt x="5804" y="25"/>
                  <a:pt x="5814" y="32"/>
                </a:cubicBezTo>
                <a:cubicBezTo>
                  <a:pt x="5825" y="38"/>
                  <a:pt x="5834" y="46"/>
                  <a:pt x="5843" y="55"/>
                </a:cubicBezTo>
                <a:cubicBezTo>
                  <a:pt x="5851" y="63"/>
                  <a:pt x="5859" y="73"/>
                  <a:pt x="5866" y="83"/>
                </a:cubicBezTo>
                <a:cubicBezTo>
                  <a:pt x="5872" y="93"/>
                  <a:pt x="5878" y="104"/>
                  <a:pt x="5883" y="115"/>
                </a:cubicBezTo>
                <a:cubicBezTo>
                  <a:pt x="5887" y="126"/>
                  <a:pt x="5891" y="138"/>
                  <a:pt x="5893" y="150"/>
                </a:cubicBezTo>
                <a:cubicBezTo>
                  <a:pt x="5896" y="162"/>
                  <a:pt x="5897" y="174"/>
                  <a:pt x="5897" y="186"/>
                </a:cubicBezTo>
                <a:lnTo>
                  <a:pt x="5897" y="2787"/>
                </a:lnTo>
                <a:cubicBezTo>
                  <a:pt x="5897" y="2799"/>
                  <a:pt x="5896" y="2811"/>
                  <a:pt x="5893" y="2823"/>
                </a:cubicBezTo>
                <a:cubicBezTo>
                  <a:pt x="5891" y="2835"/>
                  <a:pt x="5887" y="2847"/>
                  <a:pt x="5883" y="2858"/>
                </a:cubicBezTo>
                <a:cubicBezTo>
                  <a:pt x="5878" y="2869"/>
                  <a:pt x="5872" y="2880"/>
                  <a:pt x="5866" y="2890"/>
                </a:cubicBezTo>
                <a:cubicBezTo>
                  <a:pt x="5859" y="2900"/>
                  <a:pt x="5851" y="2910"/>
                  <a:pt x="5843" y="2918"/>
                </a:cubicBezTo>
                <a:cubicBezTo>
                  <a:pt x="5834" y="2927"/>
                  <a:pt x="5825" y="2935"/>
                  <a:pt x="5814" y="2941"/>
                </a:cubicBezTo>
                <a:cubicBezTo>
                  <a:pt x="5804" y="2948"/>
                  <a:pt x="5794" y="2954"/>
                  <a:pt x="5782" y="2958"/>
                </a:cubicBezTo>
                <a:cubicBezTo>
                  <a:pt x="5771" y="2963"/>
                  <a:pt x="5759" y="2967"/>
                  <a:pt x="5747" y="2969"/>
                </a:cubicBezTo>
                <a:cubicBezTo>
                  <a:pt x="5736" y="2971"/>
                  <a:pt x="5723" y="2973"/>
                  <a:pt x="5711" y="2973"/>
                </a:cubicBezTo>
                <a:lnTo>
                  <a:pt x="186" y="2973"/>
                </a:lnTo>
                <a:cubicBezTo>
                  <a:pt x="173" y="2973"/>
                  <a:pt x="161" y="2971"/>
                  <a:pt x="149" y="2969"/>
                </a:cubicBezTo>
                <a:cubicBezTo>
                  <a:pt x="137" y="2967"/>
                  <a:pt x="126" y="2963"/>
                  <a:pt x="114" y="2958"/>
                </a:cubicBezTo>
                <a:cubicBezTo>
                  <a:pt x="103" y="2954"/>
                  <a:pt x="93" y="2948"/>
                  <a:pt x="82" y="2941"/>
                </a:cubicBezTo>
                <a:cubicBezTo>
                  <a:pt x="72" y="2935"/>
                  <a:pt x="63" y="2927"/>
                  <a:pt x="54" y="2918"/>
                </a:cubicBezTo>
                <a:cubicBezTo>
                  <a:pt x="46" y="2910"/>
                  <a:pt x="38" y="2900"/>
                  <a:pt x="31" y="2890"/>
                </a:cubicBezTo>
                <a:cubicBezTo>
                  <a:pt x="24" y="2880"/>
                  <a:pt x="19" y="2869"/>
                  <a:pt x="14" y="2858"/>
                </a:cubicBezTo>
                <a:cubicBezTo>
                  <a:pt x="9" y="2847"/>
                  <a:pt x="6" y="2835"/>
                  <a:pt x="3" y="2823"/>
                </a:cubicBezTo>
                <a:cubicBezTo>
                  <a:pt x="1" y="2811"/>
                  <a:pt x="0" y="2799"/>
                  <a:pt x="0" y="2787"/>
                </a:cubicBezTo>
                <a:close/>
              </a:path>
            </a:pathLst>
          </a:custGeom>
          <a:solidFill>
            <a:srgbClr val="ffffff">
              <a:alpha val="10000"/>
            </a:srgbClr>
          </a:solidFill>
          <a:ln w="0">
            <a:noFill/>
          </a:ln>
        </p:spPr>
        <p:txBody>
          <a:bodyPr lIns="0" rIns="0" tIns="0" bIns="0" anchor="t">
            <a:noAutofit/>
          </a:bodyPr>
          <a:p>
            <a:endParaRPr b="0" lang="en-US" sz="2400" strike="noStrike" u="none">
              <a:solidFill>
                <a:srgbClr val="000000"/>
              </a:solidFill>
              <a:effectLst/>
              <a:uFillTx/>
              <a:latin typeface="Times New Roman"/>
            </a:endParaRPr>
          </a:p>
        </p:txBody>
      </p:sp>
      <p:pic>
        <p:nvPicPr>
          <p:cNvPr id="725" name="" descr=""/>
          <p:cNvPicPr/>
          <p:nvPr/>
        </p:nvPicPr>
        <p:blipFill>
          <a:blip r:embed="rId8"/>
          <a:stretch/>
        </p:blipFill>
        <p:spPr>
          <a:xfrm>
            <a:off x="5356800" y="1069560"/>
            <a:ext cx="300600" cy="334080"/>
          </a:xfrm>
          <a:prstGeom prst="rect">
            <a:avLst/>
          </a:prstGeom>
          <a:noFill/>
          <a:ln w="0">
            <a:noFill/>
          </a:ln>
        </p:spPr>
      </p:pic>
      <p:sp>
        <p:nvSpPr>
          <p:cNvPr id="726" name=""/>
          <p:cNvSpPr txBox="1"/>
          <p:nvPr/>
        </p:nvSpPr>
        <p:spPr>
          <a:xfrm>
            <a:off x="2859120" y="1537560"/>
            <a:ext cx="118080" cy="169560"/>
          </a:xfrm>
          <a:prstGeom prst="rect">
            <a:avLst/>
          </a:prstGeom>
          <a:noFill/>
          <a:ln w="0">
            <a:noFill/>
          </a:ln>
        </p:spPr>
        <p:txBody>
          <a:bodyPr wrap="none" lIns="0" rIns="0" tIns="0" bIns="0" anchor="t">
            <a:spAutoFit/>
          </a:bodyPr>
          <a:p>
            <a:r>
              <a:rPr b="0" lang="zh-CN" sz="920" strike="noStrike" u="none">
                <a:solidFill>
                  <a:srgbClr val="a7c6d9"/>
                </a:solidFill>
                <a:effectLst/>
                <a:uFillTx/>
                <a:latin typeface="NotoSansJP"/>
                <a:ea typeface="NotoSansJP"/>
              </a:rPr>
              <a:t>搬</a:t>
            </a:r>
            <a:endParaRPr b="0" lang="en-US" sz="920" strike="noStrike" u="none">
              <a:solidFill>
                <a:srgbClr val="000000"/>
              </a:solidFill>
              <a:effectLst/>
              <a:uFillTx/>
              <a:latin typeface="Times New Roman"/>
            </a:endParaRPr>
          </a:p>
        </p:txBody>
      </p:sp>
      <p:sp>
        <p:nvSpPr>
          <p:cNvPr id="727" name=""/>
          <p:cNvSpPr txBox="1"/>
          <p:nvPr/>
        </p:nvSpPr>
        <p:spPr>
          <a:xfrm>
            <a:off x="5037480" y="1505520"/>
            <a:ext cx="939600" cy="194040"/>
          </a:xfrm>
          <a:prstGeom prst="rect">
            <a:avLst/>
          </a:prstGeom>
          <a:noFill/>
          <a:ln w="0">
            <a:noFill/>
          </a:ln>
        </p:spPr>
        <p:txBody>
          <a:bodyPr wrap="none" lIns="0" rIns="0" tIns="0" bIns="0" anchor="t">
            <a:spAutoFit/>
          </a:bodyPr>
          <a:p>
            <a:r>
              <a:rPr b="0" lang="zh-CN" sz="1050" strike="noStrike" u="none">
                <a:solidFill>
                  <a:srgbClr val="ffffff"/>
                </a:solidFill>
                <a:effectLst/>
                <a:uFillTx/>
                <a:latin typeface="NotoSansJP"/>
                <a:ea typeface="NotoSansJP"/>
              </a:rPr>
              <a:t>網膜面での光波</a:t>
            </a:r>
            <a:endParaRPr b="0" lang="en-US" sz="1050" strike="noStrike" u="none">
              <a:solidFill>
                <a:srgbClr val="000000"/>
              </a:solidFill>
              <a:effectLst/>
              <a:uFillTx/>
              <a:latin typeface="Times New Roman"/>
            </a:endParaRPr>
          </a:p>
        </p:txBody>
      </p:sp>
      <p:sp>
        <p:nvSpPr>
          <p:cNvPr id="728" name=""/>
          <p:cNvSpPr/>
          <p:nvPr/>
        </p:nvSpPr>
        <p:spPr>
          <a:xfrm>
            <a:off x="6768720" y="1345320"/>
            <a:ext cx="1069920" cy="16920"/>
          </a:xfrm>
          <a:custGeom>
            <a:avLst/>
            <a:gdLst/>
            <a:ahLst/>
            <a:rect l="0" t="0" r="r" b="b"/>
            <a:pathLst>
              <a:path w="2972" h="47">
                <a:moveTo>
                  <a:pt x="0" y="0"/>
                </a:moveTo>
                <a:lnTo>
                  <a:pt x="2972" y="0"/>
                </a:lnTo>
                <a:lnTo>
                  <a:pt x="2972" y="47"/>
                </a:lnTo>
                <a:lnTo>
                  <a:pt x="0" y="47"/>
                </a:lnTo>
                <a:lnTo>
                  <a:pt x="0" y="0"/>
                </a:lnTo>
                <a:close/>
              </a:path>
            </a:pathLst>
          </a:custGeom>
          <a:solidFill>
            <a:srgbClr val="a7c6d9"/>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729" name=""/>
          <p:cNvSpPr txBox="1"/>
          <p:nvPr/>
        </p:nvSpPr>
        <p:spPr>
          <a:xfrm>
            <a:off x="5095800" y="1729800"/>
            <a:ext cx="822240" cy="169560"/>
          </a:xfrm>
          <a:prstGeom prst="rect">
            <a:avLst/>
          </a:prstGeom>
          <a:noFill/>
          <a:ln w="0">
            <a:noFill/>
          </a:ln>
        </p:spPr>
        <p:txBody>
          <a:bodyPr wrap="none" lIns="0" rIns="0" tIns="0" bIns="0" anchor="t">
            <a:spAutoFit/>
          </a:bodyPr>
          <a:p>
            <a:r>
              <a:rPr b="0" lang="zh-CN" sz="920" strike="noStrike" u="none">
                <a:solidFill>
                  <a:srgbClr val="a7c6d9"/>
                </a:solidFill>
                <a:effectLst/>
                <a:uFillTx/>
                <a:latin typeface="NotoSansJP"/>
                <a:ea typeface="NotoSansJP"/>
              </a:rPr>
              <a:t>結像した再生像</a:t>
            </a:r>
            <a:endParaRPr b="0" lang="en-US" sz="920" strike="noStrike" u="none">
              <a:solidFill>
                <a:srgbClr val="000000"/>
              </a:solidFill>
              <a:effectLst/>
              <a:uFillTx/>
              <a:latin typeface="Times New Roman"/>
            </a:endParaRPr>
          </a:p>
        </p:txBody>
      </p:sp>
      <p:pic>
        <p:nvPicPr>
          <p:cNvPr id="730" name="" descr=""/>
          <p:cNvPicPr/>
          <p:nvPr/>
        </p:nvPicPr>
        <p:blipFill>
          <a:blip r:embed="rId9"/>
          <a:stretch/>
        </p:blipFill>
        <p:spPr>
          <a:xfrm>
            <a:off x="7755120" y="1404000"/>
            <a:ext cx="83160" cy="133200"/>
          </a:xfrm>
          <a:prstGeom prst="rect">
            <a:avLst/>
          </a:prstGeom>
          <a:noFill/>
          <a:ln w="0">
            <a:noFill/>
          </a:ln>
        </p:spPr>
      </p:pic>
      <p:sp>
        <p:nvSpPr>
          <p:cNvPr id="731" name=""/>
          <p:cNvSpPr/>
          <p:nvPr/>
        </p:nvSpPr>
        <p:spPr>
          <a:xfrm>
            <a:off x="8038800" y="935640"/>
            <a:ext cx="2123280" cy="1070280"/>
          </a:xfrm>
          <a:custGeom>
            <a:avLst/>
            <a:gdLst/>
            <a:ahLst/>
            <a:rect l="0" t="0" r="r" b="b"/>
            <a:pathLst>
              <a:path w="5898" h="2973">
                <a:moveTo>
                  <a:pt x="0" y="2787"/>
                </a:moveTo>
                <a:lnTo>
                  <a:pt x="0" y="186"/>
                </a:lnTo>
                <a:cubicBezTo>
                  <a:pt x="0" y="174"/>
                  <a:pt x="2" y="162"/>
                  <a:pt x="4" y="150"/>
                </a:cubicBezTo>
                <a:cubicBezTo>
                  <a:pt x="6" y="138"/>
                  <a:pt x="10" y="126"/>
                  <a:pt x="15" y="115"/>
                </a:cubicBezTo>
                <a:cubicBezTo>
                  <a:pt x="19" y="104"/>
                  <a:pt x="25" y="93"/>
                  <a:pt x="32" y="83"/>
                </a:cubicBezTo>
                <a:cubicBezTo>
                  <a:pt x="39" y="73"/>
                  <a:pt x="46" y="63"/>
                  <a:pt x="55" y="55"/>
                </a:cubicBezTo>
                <a:cubicBezTo>
                  <a:pt x="63" y="46"/>
                  <a:pt x="73" y="38"/>
                  <a:pt x="83" y="32"/>
                </a:cubicBezTo>
                <a:cubicBezTo>
                  <a:pt x="93" y="25"/>
                  <a:pt x="104" y="19"/>
                  <a:pt x="115" y="14"/>
                </a:cubicBezTo>
                <a:cubicBezTo>
                  <a:pt x="126" y="10"/>
                  <a:pt x="138" y="6"/>
                  <a:pt x="150" y="4"/>
                </a:cubicBezTo>
                <a:cubicBezTo>
                  <a:pt x="162" y="2"/>
                  <a:pt x="174" y="0"/>
                  <a:pt x="186" y="0"/>
                </a:cubicBezTo>
                <a:lnTo>
                  <a:pt x="5712" y="0"/>
                </a:lnTo>
                <a:cubicBezTo>
                  <a:pt x="5724" y="0"/>
                  <a:pt x="5736" y="2"/>
                  <a:pt x="5748" y="4"/>
                </a:cubicBezTo>
                <a:cubicBezTo>
                  <a:pt x="5760" y="6"/>
                  <a:pt x="5772" y="10"/>
                  <a:pt x="5783" y="14"/>
                </a:cubicBezTo>
                <a:cubicBezTo>
                  <a:pt x="5794" y="19"/>
                  <a:pt x="5805" y="25"/>
                  <a:pt x="5815" y="32"/>
                </a:cubicBezTo>
                <a:cubicBezTo>
                  <a:pt x="5825" y="38"/>
                  <a:pt x="5835" y="46"/>
                  <a:pt x="5843" y="55"/>
                </a:cubicBezTo>
                <a:cubicBezTo>
                  <a:pt x="5852" y="63"/>
                  <a:pt x="5859" y="73"/>
                  <a:pt x="5866" y="83"/>
                </a:cubicBezTo>
                <a:cubicBezTo>
                  <a:pt x="5873" y="93"/>
                  <a:pt x="5879" y="104"/>
                  <a:pt x="5883" y="115"/>
                </a:cubicBezTo>
                <a:cubicBezTo>
                  <a:pt x="5888" y="126"/>
                  <a:pt x="5892" y="138"/>
                  <a:pt x="5894" y="150"/>
                </a:cubicBezTo>
                <a:cubicBezTo>
                  <a:pt x="5896" y="162"/>
                  <a:pt x="5898" y="174"/>
                  <a:pt x="5898" y="186"/>
                </a:cubicBezTo>
                <a:lnTo>
                  <a:pt x="5898" y="2787"/>
                </a:lnTo>
                <a:cubicBezTo>
                  <a:pt x="5898" y="2799"/>
                  <a:pt x="5896" y="2811"/>
                  <a:pt x="5894" y="2823"/>
                </a:cubicBezTo>
                <a:cubicBezTo>
                  <a:pt x="5892" y="2835"/>
                  <a:pt x="5888" y="2847"/>
                  <a:pt x="5883" y="2858"/>
                </a:cubicBezTo>
                <a:cubicBezTo>
                  <a:pt x="5879" y="2869"/>
                  <a:pt x="5873" y="2880"/>
                  <a:pt x="5866" y="2890"/>
                </a:cubicBezTo>
                <a:cubicBezTo>
                  <a:pt x="5859" y="2900"/>
                  <a:pt x="5852" y="2910"/>
                  <a:pt x="5843" y="2918"/>
                </a:cubicBezTo>
                <a:cubicBezTo>
                  <a:pt x="5835" y="2927"/>
                  <a:pt x="5825" y="2935"/>
                  <a:pt x="5815" y="2941"/>
                </a:cubicBezTo>
                <a:cubicBezTo>
                  <a:pt x="5805" y="2948"/>
                  <a:pt x="5794" y="2954"/>
                  <a:pt x="5783" y="2958"/>
                </a:cubicBezTo>
                <a:cubicBezTo>
                  <a:pt x="5772" y="2963"/>
                  <a:pt x="5760" y="2967"/>
                  <a:pt x="5748" y="2969"/>
                </a:cubicBezTo>
                <a:cubicBezTo>
                  <a:pt x="5736" y="2971"/>
                  <a:pt x="5724" y="2973"/>
                  <a:pt x="5712" y="2973"/>
                </a:cubicBezTo>
                <a:lnTo>
                  <a:pt x="186" y="2973"/>
                </a:lnTo>
                <a:cubicBezTo>
                  <a:pt x="174" y="2973"/>
                  <a:pt x="162" y="2971"/>
                  <a:pt x="150" y="2969"/>
                </a:cubicBezTo>
                <a:cubicBezTo>
                  <a:pt x="138" y="2967"/>
                  <a:pt x="126" y="2963"/>
                  <a:pt x="115" y="2958"/>
                </a:cubicBezTo>
                <a:cubicBezTo>
                  <a:pt x="104" y="2954"/>
                  <a:pt x="93" y="2948"/>
                  <a:pt x="83" y="2941"/>
                </a:cubicBezTo>
                <a:cubicBezTo>
                  <a:pt x="73" y="2935"/>
                  <a:pt x="63" y="2927"/>
                  <a:pt x="55" y="2918"/>
                </a:cubicBezTo>
                <a:cubicBezTo>
                  <a:pt x="46" y="2910"/>
                  <a:pt x="39" y="2900"/>
                  <a:pt x="32" y="2890"/>
                </a:cubicBezTo>
                <a:cubicBezTo>
                  <a:pt x="25" y="2880"/>
                  <a:pt x="19" y="2869"/>
                  <a:pt x="15" y="2858"/>
                </a:cubicBezTo>
                <a:cubicBezTo>
                  <a:pt x="10" y="2847"/>
                  <a:pt x="6" y="2835"/>
                  <a:pt x="4" y="2823"/>
                </a:cubicBezTo>
                <a:cubicBezTo>
                  <a:pt x="2" y="2811"/>
                  <a:pt x="0" y="2799"/>
                  <a:pt x="0" y="2787"/>
                </a:cubicBezTo>
                <a:close/>
              </a:path>
            </a:pathLst>
          </a:custGeom>
          <a:solidFill>
            <a:srgbClr val="ffffff">
              <a:alpha val="10000"/>
            </a:srgbClr>
          </a:solidFill>
          <a:ln w="0">
            <a:noFill/>
          </a:ln>
        </p:spPr>
        <p:txBody>
          <a:bodyPr lIns="0" rIns="0" tIns="0" bIns="0" anchor="t">
            <a:noAutofit/>
          </a:bodyPr>
          <a:p>
            <a:endParaRPr b="0" lang="en-US" sz="2400" strike="noStrike" u="none">
              <a:solidFill>
                <a:srgbClr val="000000"/>
              </a:solidFill>
              <a:effectLst/>
              <a:uFillTx/>
              <a:latin typeface="Times New Roman"/>
            </a:endParaRPr>
          </a:p>
        </p:txBody>
      </p:sp>
      <p:pic>
        <p:nvPicPr>
          <p:cNvPr id="732" name="" descr=""/>
          <p:cNvPicPr/>
          <p:nvPr/>
        </p:nvPicPr>
        <p:blipFill>
          <a:blip r:embed="rId10"/>
          <a:stretch/>
        </p:blipFill>
        <p:spPr>
          <a:xfrm>
            <a:off x="8949960" y="1069560"/>
            <a:ext cx="300600" cy="334080"/>
          </a:xfrm>
          <a:prstGeom prst="rect">
            <a:avLst/>
          </a:prstGeom>
          <a:noFill/>
          <a:ln w="0">
            <a:noFill/>
          </a:ln>
        </p:spPr>
      </p:pic>
      <p:sp>
        <p:nvSpPr>
          <p:cNvPr id="733" name=""/>
          <p:cNvSpPr txBox="1"/>
          <p:nvPr/>
        </p:nvSpPr>
        <p:spPr>
          <a:xfrm>
            <a:off x="6834600" y="1454040"/>
            <a:ext cx="939600" cy="169560"/>
          </a:xfrm>
          <a:prstGeom prst="rect">
            <a:avLst/>
          </a:prstGeom>
          <a:noFill/>
          <a:ln w="0">
            <a:noFill/>
          </a:ln>
        </p:spPr>
        <p:txBody>
          <a:bodyPr wrap="none" lIns="0" rIns="0" tIns="0" bIns="0" anchor="t">
            <a:spAutoFit/>
          </a:bodyPr>
          <a:p>
            <a:r>
              <a:rPr b="0" lang="zh-CN" sz="920" strike="noStrike" u="none">
                <a:solidFill>
                  <a:srgbClr val="a7c6d9"/>
                </a:solidFill>
                <a:effectLst/>
                <a:uFillTx/>
                <a:latin typeface="NotoSansJP"/>
                <a:ea typeface="NotoSansJP"/>
              </a:rPr>
              <a:t>光強度分布の計算</a:t>
            </a:r>
            <a:endParaRPr b="0" lang="en-US" sz="920" strike="noStrike" u="none">
              <a:solidFill>
                <a:srgbClr val="000000"/>
              </a:solidFill>
              <a:effectLst/>
              <a:uFillTx/>
              <a:latin typeface="Times New Roman"/>
            </a:endParaRPr>
          </a:p>
        </p:txBody>
      </p:sp>
      <p:sp>
        <p:nvSpPr>
          <p:cNvPr id="734" name=""/>
          <p:cNvSpPr txBox="1"/>
          <p:nvPr/>
        </p:nvSpPr>
        <p:spPr>
          <a:xfrm>
            <a:off x="8698680" y="1505520"/>
            <a:ext cx="805320" cy="194040"/>
          </a:xfrm>
          <a:prstGeom prst="rect">
            <a:avLst/>
          </a:prstGeom>
          <a:noFill/>
          <a:ln w="0">
            <a:noFill/>
          </a:ln>
        </p:spPr>
        <p:txBody>
          <a:bodyPr wrap="none" lIns="0" rIns="0" tIns="0" bIns="0" anchor="t">
            <a:spAutoFit/>
          </a:bodyPr>
          <a:p>
            <a:r>
              <a:rPr b="0" lang="zh-CN" sz="1050" strike="noStrike" u="none">
                <a:solidFill>
                  <a:srgbClr val="ffffff"/>
                </a:solidFill>
                <a:effectLst/>
                <a:uFillTx/>
                <a:latin typeface="NotoSansJP"/>
                <a:ea typeface="NotoSansJP"/>
              </a:rPr>
              <a:t>再生像の取得</a:t>
            </a:r>
            <a:endParaRPr b="0" lang="en-US" sz="1050" strike="noStrike" u="none">
              <a:solidFill>
                <a:srgbClr val="000000"/>
              </a:solidFill>
              <a:effectLst/>
              <a:uFillTx/>
              <a:latin typeface="Times New Roman"/>
            </a:endParaRPr>
          </a:p>
        </p:txBody>
      </p:sp>
      <p:sp>
        <p:nvSpPr>
          <p:cNvPr id="735" name=""/>
          <p:cNvSpPr txBox="1"/>
          <p:nvPr/>
        </p:nvSpPr>
        <p:spPr>
          <a:xfrm>
            <a:off x="8748720" y="1729800"/>
            <a:ext cx="704880" cy="169560"/>
          </a:xfrm>
          <a:prstGeom prst="rect">
            <a:avLst/>
          </a:prstGeom>
          <a:noFill/>
          <a:ln w="0">
            <a:noFill/>
          </a:ln>
        </p:spPr>
        <p:txBody>
          <a:bodyPr wrap="none" lIns="0" rIns="0" tIns="0" bIns="0" anchor="t">
            <a:spAutoFit/>
          </a:bodyPr>
          <a:p>
            <a:r>
              <a:rPr b="0" lang="zh-CN" sz="920" strike="noStrike" u="none">
                <a:solidFill>
                  <a:srgbClr val="a7c6d9"/>
                </a:solidFill>
                <a:effectLst/>
                <a:uFillTx/>
                <a:latin typeface="NotoSansJP"/>
                <a:ea typeface="NotoSansJP"/>
              </a:rPr>
              <a:t>可視化と保存</a:t>
            </a:r>
            <a:endParaRPr b="0" lang="en-US" sz="920" strike="noStrike" u="non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6" name=""/>
          <p:cNvSpPr/>
          <p:nvPr/>
        </p:nvSpPr>
        <p:spPr>
          <a:xfrm>
            <a:off x="0" y="0"/>
            <a:ext cx="10696680" cy="6017040"/>
          </a:xfrm>
          <a:custGeom>
            <a:avLst/>
            <a:gdLst/>
            <a:ahLst/>
            <a:rect l="0" t="0" r="r" b="b"/>
            <a:pathLst>
              <a:path w="29713" h="16714">
                <a:moveTo>
                  <a:pt x="0" y="0"/>
                </a:moveTo>
                <a:lnTo>
                  <a:pt x="29713" y="0"/>
                </a:lnTo>
                <a:lnTo>
                  <a:pt x="29713" y="16714"/>
                </a:lnTo>
                <a:lnTo>
                  <a:pt x="0" y="16714"/>
                </a:lnTo>
                <a:lnTo>
                  <a:pt x="0" y="0"/>
                </a:lnTo>
                <a:close/>
              </a:path>
            </a:pathLst>
          </a:custGeom>
          <a:solidFill>
            <a:srgbClr val="1c3d5a"/>
          </a:solidFill>
          <a:ln w="0">
            <a:noFill/>
          </a:ln>
        </p:spPr>
        <p:txBody>
          <a:bodyPr lIns="0" rIns="0" tIns="0" bIns="0" anchor="t">
            <a:noAutofit/>
          </a:bodyPr>
          <a:p>
            <a:endParaRPr b="0" lang="en-US" sz="2400" strike="noStrike" u="none">
              <a:solidFill>
                <a:srgbClr val="ffffff"/>
              </a:solidFill>
              <a:effectLst/>
              <a:uFillTx/>
              <a:latin typeface="Times New Roman"/>
            </a:endParaRPr>
          </a:p>
        </p:txBody>
      </p:sp>
      <p:pic>
        <p:nvPicPr>
          <p:cNvPr id="737" name="" descr=""/>
          <p:cNvPicPr/>
          <p:nvPr/>
        </p:nvPicPr>
        <p:blipFill>
          <a:blip r:embed="rId1"/>
          <a:stretch/>
        </p:blipFill>
        <p:spPr>
          <a:xfrm>
            <a:off x="0" y="0"/>
            <a:ext cx="10696320" cy="6016320"/>
          </a:xfrm>
          <a:prstGeom prst="rect">
            <a:avLst/>
          </a:prstGeom>
          <a:noFill/>
          <a:ln w="0">
            <a:noFill/>
          </a:ln>
        </p:spPr>
      </p:pic>
      <p:sp>
        <p:nvSpPr>
          <p:cNvPr id="738" name=""/>
          <p:cNvSpPr/>
          <p:nvPr/>
        </p:nvSpPr>
        <p:spPr>
          <a:xfrm>
            <a:off x="534600" y="601560"/>
            <a:ext cx="1069920" cy="33840"/>
          </a:xfrm>
          <a:custGeom>
            <a:avLst/>
            <a:gdLst/>
            <a:ahLst/>
            <a:rect l="0" t="0" r="r" b="b"/>
            <a:pathLst>
              <a:path w="2972" h="94">
                <a:moveTo>
                  <a:pt x="0" y="0"/>
                </a:moveTo>
                <a:lnTo>
                  <a:pt x="2972" y="0"/>
                </a:lnTo>
                <a:lnTo>
                  <a:pt x="2972" y="94"/>
                </a:lnTo>
                <a:lnTo>
                  <a:pt x="0" y="94"/>
                </a:lnTo>
                <a:lnTo>
                  <a:pt x="0" y="0"/>
                </a:lnTo>
                <a:close/>
              </a:path>
            </a:pathLst>
          </a:custGeom>
          <a:solidFill>
            <a:srgbClr val="ff8c00"/>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739" name=""/>
          <p:cNvSpPr txBox="1"/>
          <p:nvPr/>
        </p:nvSpPr>
        <p:spPr>
          <a:xfrm>
            <a:off x="534960" y="222120"/>
            <a:ext cx="4204080" cy="436320"/>
          </a:xfrm>
          <a:prstGeom prst="rect">
            <a:avLst/>
          </a:prstGeom>
          <a:noFill/>
          <a:ln w="0">
            <a:noFill/>
          </a:ln>
        </p:spPr>
        <p:txBody>
          <a:bodyPr wrap="none" lIns="0" rIns="0" tIns="0" bIns="0" anchor="t">
            <a:spAutoFit/>
          </a:bodyPr>
          <a:p>
            <a:r>
              <a:rPr b="0" lang="zh-CN" sz="2370" strike="noStrike" u="none">
                <a:solidFill>
                  <a:srgbClr val="ffffff"/>
                </a:solidFill>
                <a:effectLst/>
                <a:uFillTx/>
                <a:latin typeface="NotoSansJP"/>
                <a:ea typeface="NotoSansJP"/>
              </a:rPr>
              <a:t>プログラム実装上の課題と対策</a:t>
            </a:r>
            <a:endParaRPr b="0" lang="en-US" sz="2370" strike="noStrike" u="none">
              <a:solidFill>
                <a:srgbClr val="000000"/>
              </a:solidFill>
              <a:effectLst/>
              <a:uFillTx/>
              <a:latin typeface="Times New Roman"/>
            </a:endParaRPr>
          </a:p>
        </p:txBody>
      </p:sp>
      <p:sp>
        <p:nvSpPr>
          <p:cNvPr id="740" name=""/>
          <p:cNvSpPr/>
          <p:nvPr/>
        </p:nvSpPr>
        <p:spPr>
          <a:xfrm>
            <a:off x="551520" y="1771560"/>
            <a:ext cx="4696560" cy="1103400"/>
          </a:xfrm>
          <a:custGeom>
            <a:avLst/>
            <a:gdLst/>
            <a:ahLst/>
            <a:rect l="0" t="0" r="r" b="b"/>
            <a:pathLst>
              <a:path w="13046" h="3065">
                <a:moveTo>
                  <a:pt x="0" y="2879"/>
                </a:moveTo>
                <a:lnTo>
                  <a:pt x="0" y="185"/>
                </a:lnTo>
                <a:cubicBezTo>
                  <a:pt x="0" y="173"/>
                  <a:pt x="0" y="161"/>
                  <a:pt x="2" y="149"/>
                </a:cubicBezTo>
                <a:cubicBezTo>
                  <a:pt x="4" y="137"/>
                  <a:pt x="7" y="126"/>
                  <a:pt x="10" y="114"/>
                </a:cubicBezTo>
                <a:cubicBezTo>
                  <a:pt x="14" y="103"/>
                  <a:pt x="18" y="92"/>
                  <a:pt x="23" y="82"/>
                </a:cubicBezTo>
                <a:cubicBezTo>
                  <a:pt x="28" y="72"/>
                  <a:pt x="34" y="63"/>
                  <a:pt x="40" y="54"/>
                </a:cubicBezTo>
                <a:cubicBezTo>
                  <a:pt x="47" y="45"/>
                  <a:pt x="54" y="38"/>
                  <a:pt x="61" y="31"/>
                </a:cubicBezTo>
                <a:cubicBezTo>
                  <a:pt x="69" y="24"/>
                  <a:pt x="77" y="18"/>
                  <a:pt x="86" y="14"/>
                </a:cubicBezTo>
                <a:cubicBezTo>
                  <a:pt x="94" y="9"/>
                  <a:pt x="103" y="6"/>
                  <a:pt x="112" y="3"/>
                </a:cubicBezTo>
                <a:cubicBezTo>
                  <a:pt x="121" y="1"/>
                  <a:pt x="130" y="0"/>
                  <a:pt x="139" y="0"/>
                </a:cubicBezTo>
                <a:lnTo>
                  <a:pt x="12861" y="0"/>
                </a:lnTo>
                <a:cubicBezTo>
                  <a:pt x="12873" y="0"/>
                  <a:pt x="12885" y="1"/>
                  <a:pt x="12897" y="3"/>
                </a:cubicBezTo>
                <a:cubicBezTo>
                  <a:pt x="12909" y="6"/>
                  <a:pt x="12920" y="9"/>
                  <a:pt x="12932" y="14"/>
                </a:cubicBezTo>
                <a:cubicBezTo>
                  <a:pt x="12943" y="18"/>
                  <a:pt x="12954" y="24"/>
                  <a:pt x="12964" y="31"/>
                </a:cubicBezTo>
                <a:cubicBezTo>
                  <a:pt x="12974" y="38"/>
                  <a:pt x="12983" y="45"/>
                  <a:pt x="12992" y="54"/>
                </a:cubicBezTo>
                <a:cubicBezTo>
                  <a:pt x="13001" y="63"/>
                  <a:pt x="13008" y="72"/>
                  <a:pt x="13015" y="82"/>
                </a:cubicBezTo>
                <a:cubicBezTo>
                  <a:pt x="13022" y="92"/>
                  <a:pt x="13027" y="103"/>
                  <a:pt x="13032" y="114"/>
                </a:cubicBezTo>
                <a:cubicBezTo>
                  <a:pt x="13037" y="126"/>
                  <a:pt x="13040" y="137"/>
                  <a:pt x="13043" y="149"/>
                </a:cubicBezTo>
                <a:cubicBezTo>
                  <a:pt x="13045" y="161"/>
                  <a:pt x="13046" y="173"/>
                  <a:pt x="13046" y="185"/>
                </a:cubicBezTo>
                <a:lnTo>
                  <a:pt x="13046" y="2879"/>
                </a:lnTo>
                <a:cubicBezTo>
                  <a:pt x="13046" y="2891"/>
                  <a:pt x="13045" y="2903"/>
                  <a:pt x="13043" y="2915"/>
                </a:cubicBezTo>
                <a:cubicBezTo>
                  <a:pt x="13040" y="2927"/>
                  <a:pt x="13037" y="2939"/>
                  <a:pt x="13032" y="2950"/>
                </a:cubicBezTo>
                <a:cubicBezTo>
                  <a:pt x="13027" y="2961"/>
                  <a:pt x="13022" y="2972"/>
                  <a:pt x="13015" y="2982"/>
                </a:cubicBezTo>
                <a:cubicBezTo>
                  <a:pt x="13008" y="2992"/>
                  <a:pt x="13001" y="3002"/>
                  <a:pt x="12992" y="3010"/>
                </a:cubicBezTo>
                <a:cubicBezTo>
                  <a:pt x="12983" y="3019"/>
                  <a:pt x="12974" y="3027"/>
                  <a:pt x="12964" y="3033"/>
                </a:cubicBezTo>
                <a:cubicBezTo>
                  <a:pt x="12954" y="3040"/>
                  <a:pt x="12943" y="3046"/>
                  <a:pt x="12932" y="3051"/>
                </a:cubicBezTo>
                <a:cubicBezTo>
                  <a:pt x="12920" y="3055"/>
                  <a:pt x="12909" y="3059"/>
                  <a:pt x="12897" y="3061"/>
                </a:cubicBezTo>
                <a:cubicBezTo>
                  <a:pt x="12885" y="3064"/>
                  <a:pt x="12873" y="3065"/>
                  <a:pt x="12861" y="3065"/>
                </a:cubicBezTo>
                <a:lnTo>
                  <a:pt x="139" y="3065"/>
                </a:lnTo>
                <a:cubicBezTo>
                  <a:pt x="130" y="3065"/>
                  <a:pt x="121" y="3064"/>
                  <a:pt x="112" y="3061"/>
                </a:cubicBezTo>
                <a:cubicBezTo>
                  <a:pt x="103" y="3059"/>
                  <a:pt x="94" y="3055"/>
                  <a:pt x="86" y="3051"/>
                </a:cubicBezTo>
                <a:cubicBezTo>
                  <a:pt x="77" y="3046"/>
                  <a:pt x="69" y="3040"/>
                  <a:pt x="61" y="3033"/>
                </a:cubicBezTo>
                <a:cubicBezTo>
                  <a:pt x="54" y="3027"/>
                  <a:pt x="47" y="3019"/>
                  <a:pt x="40" y="3010"/>
                </a:cubicBezTo>
                <a:cubicBezTo>
                  <a:pt x="34" y="3002"/>
                  <a:pt x="28" y="2992"/>
                  <a:pt x="23" y="2982"/>
                </a:cubicBezTo>
                <a:cubicBezTo>
                  <a:pt x="18" y="2972"/>
                  <a:pt x="14" y="2961"/>
                  <a:pt x="10" y="2950"/>
                </a:cubicBezTo>
                <a:cubicBezTo>
                  <a:pt x="7" y="2939"/>
                  <a:pt x="4" y="2927"/>
                  <a:pt x="2" y="2915"/>
                </a:cubicBezTo>
                <a:cubicBezTo>
                  <a:pt x="0" y="2903"/>
                  <a:pt x="0" y="2891"/>
                  <a:pt x="0" y="2879"/>
                </a:cubicBezTo>
                <a:close/>
              </a:path>
            </a:pathLst>
          </a:custGeom>
          <a:solidFill>
            <a:srgbClr val="ffffff">
              <a:alpha val="10000"/>
            </a:srgbClr>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741" name=""/>
          <p:cNvSpPr/>
          <p:nvPr/>
        </p:nvSpPr>
        <p:spPr>
          <a:xfrm>
            <a:off x="534600" y="1771560"/>
            <a:ext cx="67320" cy="1103400"/>
          </a:xfrm>
          <a:custGeom>
            <a:avLst/>
            <a:gdLst/>
            <a:ahLst/>
            <a:rect l="0" t="0" r="r" b="b"/>
            <a:pathLst>
              <a:path w="187" h="3065">
                <a:moveTo>
                  <a:pt x="0" y="0"/>
                </a:moveTo>
                <a:lnTo>
                  <a:pt x="187" y="0"/>
                </a:lnTo>
                <a:lnTo>
                  <a:pt x="187" y="3065"/>
                </a:lnTo>
                <a:lnTo>
                  <a:pt x="0" y="3065"/>
                </a:lnTo>
                <a:lnTo>
                  <a:pt x="0" y="0"/>
                </a:lnTo>
                <a:close/>
              </a:path>
            </a:pathLst>
          </a:custGeom>
          <a:solidFill>
            <a:srgbClr val="ff8c00"/>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742" name=""/>
          <p:cNvSpPr/>
          <p:nvPr/>
        </p:nvSpPr>
        <p:spPr>
          <a:xfrm>
            <a:off x="551520" y="3008160"/>
            <a:ext cx="4696560" cy="936360"/>
          </a:xfrm>
          <a:custGeom>
            <a:avLst/>
            <a:gdLst/>
            <a:ahLst/>
            <a:rect l="0" t="0" r="r" b="b"/>
            <a:pathLst>
              <a:path w="13046" h="2601">
                <a:moveTo>
                  <a:pt x="0" y="2415"/>
                </a:moveTo>
                <a:lnTo>
                  <a:pt x="0" y="186"/>
                </a:lnTo>
                <a:cubicBezTo>
                  <a:pt x="0" y="174"/>
                  <a:pt x="0" y="162"/>
                  <a:pt x="2" y="150"/>
                </a:cubicBezTo>
                <a:cubicBezTo>
                  <a:pt x="4" y="138"/>
                  <a:pt x="7" y="126"/>
                  <a:pt x="10" y="115"/>
                </a:cubicBezTo>
                <a:cubicBezTo>
                  <a:pt x="14" y="104"/>
                  <a:pt x="18" y="93"/>
                  <a:pt x="23" y="83"/>
                </a:cubicBezTo>
                <a:cubicBezTo>
                  <a:pt x="28" y="73"/>
                  <a:pt x="34" y="63"/>
                  <a:pt x="40" y="55"/>
                </a:cubicBezTo>
                <a:cubicBezTo>
                  <a:pt x="47" y="46"/>
                  <a:pt x="54" y="38"/>
                  <a:pt x="61" y="31"/>
                </a:cubicBezTo>
                <a:cubicBezTo>
                  <a:pt x="69" y="25"/>
                  <a:pt x="77" y="19"/>
                  <a:pt x="86" y="14"/>
                </a:cubicBezTo>
                <a:cubicBezTo>
                  <a:pt x="94" y="10"/>
                  <a:pt x="103" y="6"/>
                  <a:pt x="112" y="4"/>
                </a:cubicBezTo>
                <a:cubicBezTo>
                  <a:pt x="121" y="1"/>
                  <a:pt x="130" y="0"/>
                  <a:pt x="139" y="0"/>
                </a:cubicBezTo>
                <a:lnTo>
                  <a:pt x="12861" y="0"/>
                </a:lnTo>
                <a:cubicBezTo>
                  <a:pt x="12873" y="0"/>
                  <a:pt x="12885" y="1"/>
                  <a:pt x="12897" y="4"/>
                </a:cubicBezTo>
                <a:cubicBezTo>
                  <a:pt x="12909" y="6"/>
                  <a:pt x="12920" y="10"/>
                  <a:pt x="12932" y="14"/>
                </a:cubicBezTo>
                <a:cubicBezTo>
                  <a:pt x="12943" y="19"/>
                  <a:pt x="12954" y="25"/>
                  <a:pt x="12964" y="31"/>
                </a:cubicBezTo>
                <a:cubicBezTo>
                  <a:pt x="12974" y="38"/>
                  <a:pt x="12983" y="46"/>
                  <a:pt x="12992" y="55"/>
                </a:cubicBezTo>
                <a:cubicBezTo>
                  <a:pt x="13001" y="63"/>
                  <a:pt x="13008" y="73"/>
                  <a:pt x="13015" y="83"/>
                </a:cubicBezTo>
                <a:cubicBezTo>
                  <a:pt x="13022" y="93"/>
                  <a:pt x="13027" y="104"/>
                  <a:pt x="13032" y="115"/>
                </a:cubicBezTo>
                <a:cubicBezTo>
                  <a:pt x="13037" y="126"/>
                  <a:pt x="13040" y="138"/>
                  <a:pt x="13043" y="150"/>
                </a:cubicBezTo>
                <a:cubicBezTo>
                  <a:pt x="13045" y="162"/>
                  <a:pt x="13046" y="174"/>
                  <a:pt x="13046" y="186"/>
                </a:cubicBezTo>
                <a:lnTo>
                  <a:pt x="13046" y="2415"/>
                </a:lnTo>
                <a:cubicBezTo>
                  <a:pt x="13046" y="2428"/>
                  <a:pt x="13045" y="2440"/>
                  <a:pt x="13043" y="2452"/>
                </a:cubicBezTo>
                <a:cubicBezTo>
                  <a:pt x="13040" y="2464"/>
                  <a:pt x="13037" y="2475"/>
                  <a:pt x="13032" y="2486"/>
                </a:cubicBezTo>
                <a:cubicBezTo>
                  <a:pt x="13027" y="2498"/>
                  <a:pt x="13022" y="2508"/>
                  <a:pt x="13015" y="2519"/>
                </a:cubicBezTo>
                <a:cubicBezTo>
                  <a:pt x="13008" y="2529"/>
                  <a:pt x="13001" y="2538"/>
                  <a:pt x="12992" y="2547"/>
                </a:cubicBezTo>
                <a:cubicBezTo>
                  <a:pt x="12983" y="2555"/>
                  <a:pt x="12974" y="2563"/>
                  <a:pt x="12964" y="2570"/>
                </a:cubicBezTo>
                <a:cubicBezTo>
                  <a:pt x="12954" y="2577"/>
                  <a:pt x="12943" y="2582"/>
                  <a:pt x="12932" y="2587"/>
                </a:cubicBezTo>
                <a:cubicBezTo>
                  <a:pt x="12920" y="2592"/>
                  <a:pt x="12909" y="2595"/>
                  <a:pt x="12897" y="2597"/>
                </a:cubicBezTo>
                <a:cubicBezTo>
                  <a:pt x="12885" y="2600"/>
                  <a:pt x="12873" y="2601"/>
                  <a:pt x="12861" y="2601"/>
                </a:cubicBezTo>
                <a:lnTo>
                  <a:pt x="139" y="2601"/>
                </a:lnTo>
                <a:cubicBezTo>
                  <a:pt x="130" y="2601"/>
                  <a:pt x="121" y="2600"/>
                  <a:pt x="112" y="2597"/>
                </a:cubicBezTo>
                <a:cubicBezTo>
                  <a:pt x="103" y="2595"/>
                  <a:pt x="94" y="2592"/>
                  <a:pt x="86" y="2587"/>
                </a:cubicBezTo>
                <a:cubicBezTo>
                  <a:pt x="77" y="2582"/>
                  <a:pt x="69" y="2577"/>
                  <a:pt x="61" y="2570"/>
                </a:cubicBezTo>
                <a:cubicBezTo>
                  <a:pt x="54" y="2563"/>
                  <a:pt x="47" y="2555"/>
                  <a:pt x="40" y="2547"/>
                </a:cubicBezTo>
                <a:cubicBezTo>
                  <a:pt x="34" y="2538"/>
                  <a:pt x="28" y="2529"/>
                  <a:pt x="23" y="2519"/>
                </a:cubicBezTo>
                <a:cubicBezTo>
                  <a:pt x="18" y="2508"/>
                  <a:pt x="14" y="2498"/>
                  <a:pt x="10" y="2486"/>
                </a:cubicBezTo>
                <a:cubicBezTo>
                  <a:pt x="7" y="2475"/>
                  <a:pt x="4" y="2464"/>
                  <a:pt x="2" y="2452"/>
                </a:cubicBezTo>
                <a:cubicBezTo>
                  <a:pt x="0" y="2440"/>
                  <a:pt x="0" y="2428"/>
                  <a:pt x="0" y="2415"/>
                </a:cubicBezTo>
                <a:close/>
              </a:path>
            </a:pathLst>
          </a:custGeom>
          <a:solidFill>
            <a:srgbClr val="ffffff">
              <a:alpha val="10000"/>
            </a:srgbClr>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743" name=""/>
          <p:cNvSpPr/>
          <p:nvPr/>
        </p:nvSpPr>
        <p:spPr>
          <a:xfrm>
            <a:off x="534600" y="3008160"/>
            <a:ext cx="67320" cy="936360"/>
          </a:xfrm>
          <a:custGeom>
            <a:avLst/>
            <a:gdLst/>
            <a:ahLst/>
            <a:rect l="0" t="0" r="r" b="b"/>
            <a:pathLst>
              <a:path w="187" h="2601">
                <a:moveTo>
                  <a:pt x="0" y="0"/>
                </a:moveTo>
                <a:lnTo>
                  <a:pt x="187" y="0"/>
                </a:lnTo>
                <a:lnTo>
                  <a:pt x="187" y="2601"/>
                </a:lnTo>
                <a:lnTo>
                  <a:pt x="0" y="2601"/>
                </a:lnTo>
                <a:lnTo>
                  <a:pt x="0" y="0"/>
                </a:lnTo>
                <a:close/>
              </a:path>
            </a:pathLst>
          </a:custGeom>
          <a:solidFill>
            <a:srgbClr val="ff8c00"/>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744" name=""/>
          <p:cNvSpPr/>
          <p:nvPr/>
        </p:nvSpPr>
        <p:spPr>
          <a:xfrm>
            <a:off x="551520" y="4077720"/>
            <a:ext cx="4696560" cy="1103760"/>
          </a:xfrm>
          <a:custGeom>
            <a:avLst/>
            <a:gdLst/>
            <a:ahLst/>
            <a:rect l="0" t="0" r="r" b="b"/>
            <a:pathLst>
              <a:path w="13046" h="3066">
                <a:moveTo>
                  <a:pt x="0" y="2880"/>
                </a:moveTo>
                <a:lnTo>
                  <a:pt x="0" y="186"/>
                </a:lnTo>
                <a:cubicBezTo>
                  <a:pt x="0" y="174"/>
                  <a:pt x="0" y="162"/>
                  <a:pt x="2" y="150"/>
                </a:cubicBezTo>
                <a:cubicBezTo>
                  <a:pt x="4" y="138"/>
                  <a:pt x="7" y="126"/>
                  <a:pt x="10" y="115"/>
                </a:cubicBezTo>
                <a:cubicBezTo>
                  <a:pt x="14" y="104"/>
                  <a:pt x="18" y="93"/>
                  <a:pt x="23" y="83"/>
                </a:cubicBezTo>
                <a:cubicBezTo>
                  <a:pt x="28" y="73"/>
                  <a:pt x="34" y="63"/>
                  <a:pt x="40" y="55"/>
                </a:cubicBezTo>
                <a:cubicBezTo>
                  <a:pt x="47" y="46"/>
                  <a:pt x="54" y="39"/>
                  <a:pt x="61" y="32"/>
                </a:cubicBezTo>
                <a:cubicBezTo>
                  <a:pt x="69" y="25"/>
                  <a:pt x="77" y="19"/>
                  <a:pt x="86" y="15"/>
                </a:cubicBezTo>
                <a:cubicBezTo>
                  <a:pt x="94" y="10"/>
                  <a:pt x="103" y="6"/>
                  <a:pt x="112" y="4"/>
                </a:cubicBezTo>
                <a:cubicBezTo>
                  <a:pt x="121" y="2"/>
                  <a:pt x="130" y="0"/>
                  <a:pt x="139" y="0"/>
                </a:cubicBezTo>
                <a:lnTo>
                  <a:pt x="12861" y="0"/>
                </a:lnTo>
                <a:cubicBezTo>
                  <a:pt x="12873" y="0"/>
                  <a:pt x="12885" y="2"/>
                  <a:pt x="12897" y="4"/>
                </a:cubicBezTo>
                <a:cubicBezTo>
                  <a:pt x="12909" y="6"/>
                  <a:pt x="12920" y="10"/>
                  <a:pt x="12932" y="15"/>
                </a:cubicBezTo>
                <a:cubicBezTo>
                  <a:pt x="12943" y="19"/>
                  <a:pt x="12954" y="25"/>
                  <a:pt x="12964" y="32"/>
                </a:cubicBezTo>
                <a:cubicBezTo>
                  <a:pt x="12974" y="39"/>
                  <a:pt x="12983" y="46"/>
                  <a:pt x="12992" y="55"/>
                </a:cubicBezTo>
                <a:cubicBezTo>
                  <a:pt x="13001" y="63"/>
                  <a:pt x="13008" y="73"/>
                  <a:pt x="13015" y="83"/>
                </a:cubicBezTo>
                <a:cubicBezTo>
                  <a:pt x="13022" y="93"/>
                  <a:pt x="13027" y="104"/>
                  <a:pt x="13032" y="115"/>
                </a:cubicBezTo>
                <a:cubicBezTo>
                  <a:pt x="13037" y="126"/>
                  <a:pt x="13040" y="138"/>
                  <a:pt x="13043" y="150"/>
                </a:cubicBezTo>
                <a:cubicBezTo>
                  <a:pt x="13045" y="162"/>
                  <a:pt x="13046" y="174"/>
                  <a:pt x="13046" y="186"/>
                </a:cubicBezTo>
                <a:lnTo>
                  <a:pt x="13046" y="2880"/>
                </a:lnTo>
                <a:cubicBezTo>
                  <a:pt x="13046" y="2892"/>
                  <a:pt x="13045" y="2904"/>
                  <a:pt x="13043" y="2916"/>
                </a:cubicBezTo>
                <a:cubicBezTo>
                  <a:pt x="13040" y="2928"/>
                  <a:pt x="13037" y="2940"/>
                  <a:pt x="13032" y="2951"/>
                </a:cubicBezTo>
                <a:cubicBezTo>
                  <a:pt x="13027" y="2962"/>
                  <a:pt x="13022" y="2973"/>
                  <a:pt x="13015" y="2983"/>
                </a:cubicBezTo>
                <a:cubicBezTo>
                  <a:pt x="13008" y="2993"/>
                  <a:pt x="13001" y="3003"/>
                  <a:pt x="12992" y="3011"/>
                </a:cubicBezTo>
                <a:cubicBezTo>
                  <a:pt x="12983" y="3020"/>
                  <a:pt x="12974" y="3028"/>
                  <a:pt x="12964" y="3034"/>
                </a:cubicBezTo>
                <a:cubicBezTo>
                  <a:pt x="12954" y="3041"/>
                  <a:pt x="12943" y="3047"/>
                  <a:pt x="12932" y="3051"/>
                </a:cubicBezTo>
                <a:cubicBezTo>
                  <a:pt x="12920" y="3056"/>
                  <a:pt x="12909" y="3060"/>
                  <a:pt x="12897" y="3062"/>
                </a:cubicBezTo>
                <a:cubicBezTo>
                  <a:pt x="12885" y="3064"/>
                  <a:pt x="12873" y="3066"/>
                  <a:pt x="12861" y="3066"/>
                </a:cubicBezTo>
                <a:lnTo>
                  <a:pt x="139" y="3066"/>
                </a:lnTo>
                <a:cubicBezTo>
                  <a:pt x="130" y="3066"/>
                  <a:pt x="121" y="3064"/>
                  <a:pt x="112" y="3062"/>
                </a:cubicBezTo>
                <a:cubicBezTo>
                  <a:pt x="103" y="3060"/>
                  <a:pt x="94" y="3056"/>
                  <a:pt x="86" y="3051"/>
                </a:cubicBezTo>
                <a:cubicBezTo>
                  <a:pt x="77" y="3047"/>
                  <a:pt x="69" y="3041"/>
                  <a:pt x="61" y="3034"/>
                </a:cubicBezTo>
                <a:cubicBezTo>
                  <a:pt x="54" y="3028"/>
                  <a:pt x="47" y="3020"/>
                  <a:pt x="40" y="3011"/>
                </a:cubicBezTo>
                <a:cubicBezTo>
                  <a:pt x="34" y="3003"/>
                  <a:pt x="28" y="2993"/>
                  <a:pt x="23" y="2983"/>
                </a:cubicBezTo>
                <a:cubicBezTo>
                  <a:pt x="18" y="2973"/>
                  <a:pt x="14" y="2962"/>
                  <a:pt x="10" y="2951"/>
                </a:cubicBezTo>
                <a:cubicBezTo>
                  <a:pt x="7" y="2940"/>
                  <a:pt x="4" y="2928"/>
                  <a:pt x="2" y="2916"/>
                </a:cubicBezTo>
                <a:cubicBezTo>
                  <a:pt x="0" y="2904"/>
                  <a:pt x="0" y="2892"/>
                  <a:pt x="0" y="2880"/>
                </a:cubicBezTo>
                <a:close/>
              </a:path>
            </a:pathLst>
          </a:custGeom>
          <a:solidFill>
            <a:srgbClr val="ffffff">
              <a:alpha val="10000"/>
            </a:srgbClr>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745" name=""/>
          <p:cNvSpPr/>
          <p:nvPr/>
        </p:nvSpPr>
        <p:spPr>
          <a:xfrm>
            <a:off x="534600" y="4077720"/>
            <a:ext cx="67320" cy="1103760"/>
          </a:xfrm>
          <a:custGeom>
            <a:avLst/>
            <a:gdLst/>
            <a:ahLst/>
            <a:rect l="0" t="0" r="r" b="b"/>
            <a:pathLst>
              <a:path w="187" h="3066">
                <a:moveTo>
                  <a:pt x="0" y="0"/>
                </a:moveTo>
                <a:lnTo>
                  <a:pt x="187" y="0"/>
                </a:lnTo>
                <a:lnTo>
                  <a:pt x="187" y="3066"/>
                </a:lnTo>
                <a:lnTo>
                  <a:pt x="0" y="3066"/>
                </a:lnTo>
                <a:lnTo>
                  <a:pt x="0" y="0"/>
                </a:lnTo>
                <a:close/>
              </a:path>
            </a:pathLst>
          </a:custGeom>
          <a:solidFill>
            <a:srgbClr val="ff8c00"/>
          </a:solidFill>
          <a:ln w="0">
            <a:noFill/>
          </a:ln>
        </p:spPr>
        <p:txBody>
          <a:bodyPr lIns="0" rIns="0" tIns="0" bIns="0" anchor="t">
            <a:noAutofit/>
          </a:bodyPr>
          <a:p>
            <a:endParaRPr b="0" lang="en-US" sz="2400" strike="noStrike" u="none">
              <a:solidFill>
                <a:srgbClr val="000000"/>
              </a:solidFill>
              <a:effectLst/>
              <a:uFillTx/>
              <a:latin typeface="Times New Roman"/>
            </a:endParaRPr>
          </a:p>
        </p:txBody>
      </p:sp>
      <p:pic>
        <p:nvPicPr>
          <p:cNvPr id="746" name="" descr=""/>
          <p:cNvPicPr/>
          <p:nvPr/>
        </p:nvPicPr>
        <p:blipFill>
          <a:blip r:embed="rId2"/>
          <a:stretch/>
        </p:blipFill>
        <p:spPr>
          <a:xfrm>
            <a:off x="534960" y="1404000"/>
            <a:ext cx="200160" cy="200160"/>
          </a:xfrm>
          <a:prstGeom prst="rect">
            <a:avLst/>
          </a:prstGeom>
          <a:noFill/>
          <a:ln w="0">
            <a:noFill/>
          </a:ln>
        </p:spPr>
      </p:pic>
      <p:sp>
        <p:nvSpPr>
          <p:cNvPr id="747" name=""/>
          <p:cNvSpPr txBox="1"/>
          <p:nvPr/>
        </p:nvSpPr>
        <p:spPr>
          <a:xfrm>
            <a:off x="534960" y="980280"/>
            <a:ext cx="9608760" cy="219960"/>
          </a:xfrm>
          <a:prstGeom prst="rect">
            <a:avLst/>
          </a:prstGeom>
          <a:noFill/>
          <a:ln w="0">
            <a:noFill/>
          </a:ln>
        </p:spPr>
        <p:txBody>
          <a:bodyPr wrap="none" lIns="0" rIns="0" tIns="0" bIns="0" anchor="t">
            <a:spAutoFit/>
          </a:bodyPr>
          <a:p>
            <a:r>
              <a:rPr b="0" lang="en-US" sz="1180" strike="noStrike" u="none">
                <a:solidFill>
                  <a:srgbClr val="a7c6d9"/>
                </a:solidFill>
                <a:effectLst/>
                <a:uFillTx/>
                <a:latin typeface="NotoSansJP"/>
                <a:ea typeface="NotoSansJP"/>
              </a:rPr>
              <a:t>CGH</a:t>
            </a:r>
            <a:r>
              <a:rPr b="0" lang="zh-CN" sz="1180" strike="noStrike" u="none">
                <a:solidFill>
                  <a:srgbClr val="a7c6d9"/>
                </a:solidFill>
                <a:effectLst/>
                <a:uFillTx/>
                <a:latin typeface="NotoSansJP"/>
                <a:ea typeface="NotoSansJP"/>
              </a:rPr>
              <a:t>再生像取得プログラムの実装においては、計算精度と処理速度のバランスをとりながら、 様々な技術的課題を解決する必要があります。</a:t>
            </a:r>
            <a:endParaRPr b="0" lang="en-US" sz="1180" strike="noStrike" u="none">
              <a:solidFill>
                <a:srgbClr val="000000"/>
              </a:solidFill>
              <a:effectLst/>
              <a:uFillTx/>
              <a:latin typeface="Times New Roman"/>
            </a:endParaRPr>
          </a:p>
        </p:txBody>
      </p:sp>
      <p:pic>
        <p:nvPicPr>
          <p:cNvPr id="748" name="" descr=""/>
          <p:cNvPicPr/>
          <p:nvPr/>
        </p:nvPicPr>
        <p:blipFill>
          <a:blip r:embed="rId3"/>
          <a:stretch/>
        </p:blipFill>
        <p:spPr>
          <a:xfrm>
            <a:off x="735480" y="1972080"/>
            <a:ext cx="166680" cy="133200"/>
          </a:xfrm>
          <a:prstGeom prst="rect">
            <a:avLst/>
          </a:prstGeom>
          <a:noFill/>
          <a:ln w="0">
            <a:noFill/>
          </a:ln>
        </p:spPr>
      </p:pic>
      <p:sp>
        <p:nvSpPr>
          <p:cNvPr id="749" name=""/>
          <p:cNvSpPr txBox="1"/>
          <p:nvPr/>
        </p:nvSpPr>
        <p:spPr>
          <a:xfrm>
            <a:off x="835560" y="1401480"/>
            <a:ext cx="805320" cy="291600"/>
          </a:xfrm>
          <a:prstGeom prst="rect">
            <a:avLst/>
          </a:prstGeom>
          <a:noFill/>
          <a:ln w="0">
            <a:noFill/>
          </a:ln>
        </p:spPr>
        <p:txBody>
          <a:bodyPr wrap="none" lIns="0" rIns="0" tIns="0" bIns="0" anchor="t">
            <a:spAutoFit/>
          </a:bodyPr>
          <a:p>
            <a:r>
              <a:rPr b="0" lang="zh-CN" sz="1580" strike="noStrike" u="none">
                <a:solidFill>
                  <a:srgbClr val="ffffff"/>
                </a:solidFill>
                <a:effectLst/>
                <a:uFillTx/>
                <a:latin typeface="NotoSansJP"/>
                <a:ea typeface="NotoSansJP"/>
              </a:rPr>
              <a:t>主な課題</a:t>
            </a:r>
            <a:endParaRPr b="0" lang="en-US" sz="1580" strike="noStrike" u="none">
              <a:solidFill>
                <a:srgbClr val="000000"/>
              </a:solidFill>
              <a:effectLst/>
              <a:uFillTx/>
              <a:latin typeface="Times New Roman"/>
            </a:endParaRPr>
          </a:p>
        </p:txBody>
      </p:sp>
      <p:sp>
        <p:nvSpPr>
          <p:cNvPr id="750" name=""/>
          <p:cNvSpPr txBox="1"/>
          <p:nvPr/>
        </p:nvSpPr>
        <p:spPr>
          <a:xfrm>
            <a:off x="969480" y="1973520"/>
            <a:ext cx="1207800" cy="194040"/>
          </a:xfrm>
          <a:prstGeom prst="rect">
            <a:avLst/>
          </a:prstGeom>
          <a:noFill/>
          <a:ln w="0">
            <a:noFill/>
          </a:ln>
        </p:spPr>
        <p:txBody>
          <a:bodyPr wrap="none" lIns="0" rIns="0" tIns="0" bIns="0" anchor="t">
            <a:spAutoFit/>
          </a:bodyPr>
          <a:p>
            <a:r>
              <a:rPr b="0" lang="zh-CN" sz="1050" strike="noStrike" u="none">
                <a:solidFill>
                  <a:srgbClr val="ffffff"/>
                </a:solidFill>
                <a:effectLst/>
                <a:uFillTx/>
                <a:latin typeface="NotoSansJP"/>
                <a:ea typeface="NotoSansJP"/>
              </a:rPr>
              <a:t>エイリアシング問題</a:t>
            </a:r>
            <a:endParaRPr b="0" lang="en-US" sz="1050" strike="noStrike" u="none">
              <a:solidFill>
                <a:srgbClr val="000000"/>
              </a:solidFill>
              <a:effectLst/>
              <a:uFillTx/>
              <a:latin typeface="Times New Roman"/>
            </a:endParaRPr>
          </a:p>
        </p:txBody>
      </p:sp>
      <p:sp>
        <p:nvSpPr>
          <p:cNvPr id="751" name=""/>
          <p:cNvSpPr txBox="1"/>
          <p:nvPr/>
        </p:nvSpPr>
        <p:spPr>
          <a:xfrm>
            <a:off x="735480" y="2231280"/>
            <a:ext cx="4368960" cy="169560"/>
          </a:xfrm>
          <a:prstGeom prst="rect">
            <a:avLst/>
          </a:prstGeom>
          <a:noFill/>
          <a:ln w="0">
            <a:noFill/>
          </a:ln>
        </p:spPr>
        <p:txBody>
          <a:bodyPr wrap="none" lIns="0" rIns="0" tIns="0" bIns="0" anchor="t">
            <a:spAutoFit/>
          </a:bodyPr>
          <a:p>
            <a:r>
              <a:rPr b="0" lang="zh-CN" sz="920" strike="noStrike" u="none">
                <a:solidFill>
                  <a:srgbClr val="a7c6d9"/>
                </a:solidFill>
                <a:effectLst/>
                <a:uFillTx/>
                <a:latin typeface="NotoSansJP"/>
                <a:ea typeface="NotoSansJP"/>
              </a:rPr>
              <a:t>角スペクトル法を用いた長距離伝搬では、伝達関数の振動が激しくなり、 サンプリ</a:t>
            </a:r>
            <a:endParaRPr b="0" lang="en-US" sz="920" strike="noStrike" u="none">
              <a:solidFill>
                <a:srgbClr val="000000"/>
              </a:solidFill>
              <a:effectLst/>
              <a:uFillTx/>
              <a:latin typeface="Times New Roman"/>
            </a:endParaRPr>
          </a:p>
        </p:txBody>
      </p:sp>
      <p:sp>
        <p:nvSpPr>
          <p:cNvPr id="752" name=""/>
          <p:cNvSpPr txBox="1"/>
          <p:nvPr/>
        </p:nvSpPr>
        <p:spPr>
          <a:xfrm>
            <a:off x="735480" y="2398320"/>
            <a:ext cx="4368960" cy="169560"/>
          </a:xfrm>
          <a:prstGeom prst="rect">
            <a:avLst/>
          </a:prstGeom>
          <a:noFill/>
          <a:ln w="0">
            <a:noFill/>
          </a:ln>
        </p:spPr>
        <p:txBody>
          <a:bodyPr wrap="none" lIns="0" rIns="0" tIns="0" bIns="0" anchor="t">
            <a:spAutoFit/>
          </a:bodyPr>
          <a:p>
            <a:r>
              <a:rPr b="0" lang="zh-CN" sz="920" strike="noStrike" u="none">
                <a:solidFill>
                  <a:srgbClr val="a7c6d9"/>
                </a:solidFill>
                <a:effectLst/>
                <a:uFillTx/>
                <a:latin typeface="NotoSansJP"/>
                <a:ea typeface="NotoSansJP"/>
              </a:rPr>
              <a:t>ング定理の制約からエイリアシングが発生しやすくなります。 特に伝搬距離が長い</a:t>
            </a:r>
            <a:endParaRPr b="0" lang="en-US" sz="920" strike="noStrike" u="none">
              <a:solidFill>
                <a:srgbClr val="000000"/>
              </a:solidFill>
              <a:effectLst/>
              <a:uFillTx/>
              <a:latin typeface="Times New Roman"/>
            </a:endParaRPr>
          </a:p>
        </p:txBody>
      </p:sp>
      <p:pic>
        <p:nvPicPr>
          <p:cNvPr id="753" name="" descr=""/>
          <p:cNvPicPr/>
          <p:nvPr/>
        </p:nvPicPr>
        <p:blipFill>
          <a:blip r:embed="rId4"/>
          <a:stretch/>
        </p:blipFill>
        <p:spPr>
          <a:xfrm>
            <a:off x="735480" y="3209040"/>
            <a:ext cx="133200" cy="133200"/>
          </a:xfrm>
          <a:prstGeom prst="rect">
            <a:avLst/>
          </a:prstGeom>
          <a:noFill/>
          <a:ln w="0">
            <a:noFill/>
          </a:ln>
        </p:spPr>
      </p:pic>
      <p:sp>
        <p:nvSpPr>
          <p:cNvPr id="754" name=""/>
          <p:cNvSpPr txBox="1"/>
          <p:nvPr/>
        </p:nvSpPr>
        <p:spPr>
          <a:xfrm>
            <a:off x="735480" y="2565720"/>
            <a:ext cx="2817000" cy="169560"/>
          </a:xfrm>
          <a:prstGeom prst="rect">
            <a:avLst/>
          </a:prstGeom>
          <a:noFill/>
          <a:ln w="0">
            <a:noFill/>
          </a:ln>
        </p:spPr>
        <p:txBody>
          <a:bodyPr wrap="none" lIns="0" rIns="0" tIns="0" bIns="0" anchor="t">
            <a:spAutoFit/>
          </a:bodyPr>
          <a:p>
            <a:r>
              <a:rPr b="0" lang="zh-CN" sz="920" strike="noStrike" u="none">
                <a:solidFill>
                  <a:srgbClr val="a7c6d9"/>
                </a:solidFill>
                <a:effectLst/>
                <a:uFillTx/>
                <a:latin typeface="NotoSansJP"/>
                <a:ea typeface="NotoSansJP"/>
              </a:rPr>
              <a:t>場合や、光波が大きく広がる場合に問題となります。</a:t>
            </a:r>
            <a:endParaRPr b="0" lang="en-US" sz="920" strike="noStrike" u="none">
              <a:solidFill>
                <a:srgbClr val="000000"/>
              </a:solidFill>
              <a:effectLst/>
              <a:uFillTx/>
              <a:latin typeface="Times New Roman"/>
            </a:endParaRPr>
          </a:p>
        </p:txBody>
      </p:sp>
      <p:sp>
        <p:nvSpPr>
          <p:cNvPr id="755" name=""/>
          <p:cNvSpPr txBox="1"/>
          <p:nvPr/>
        </p:nvSpPr>
        <p:spPr>
          <a:xfrm>
            <a:off x="936000" y="3210120"/>
            <a:ext cx="939600" cy="194040"/>
          </a:xfrm>
          <a:prstGeom prst="rect">
            <a:avLst/>
          </a:prstGeom>
          <a:noFill/>
          <a:ln w="0">
            <a:noFill/>
          </a:ln>
        </p:spPr>
        <p:txBody>
          <a:bodyPr wrap="none" lIns="0" rIns="0" tIns="0" bIns="0" anchor="t">
            <a:spAutoFit/>
          </a:bodyPr>
          <a:p>
            <a:r>
              <a:rPr b="0" lang="zh-CN" sz="1050" strike="noStrike" u="none">
                <a:solidFill>
                  <a:srgbClr val="ffffff"/>
                </a:solidFill>
                <a:effectLst/>
                <a:uFillTx/>
                <a:latin typeface="NotoSansJP"/>
                <a:ea typeface="NotoSansJP"/>
              </a:rPr>
              <a:t>計算速度の制約</a:t>
            </a:r>
            <a:endParaRPr b="0" lang="en-US" sz="1050" strike="noStrike" u="none">
              <a:solidFill>
                <a:srgbClr val="000000"/>
              </a:solidFill>
              <a:effectLst/>
              <a:uFillTx/>
              <a:latin typeface="Times New Roman"/>
            </a:endParaRPr>
          </a:p>
        </p:txBody>
      </p:sp>
      <p:sp>
        <p:nvSpPr>
          <p:cNvPr id="756" name=""/>
          <p:cNvSpPr txBox="1"/>
          <p:nvPr/>
        </p:nvSpPr>
        <p:spPr>
          <a:xfrm>
            <a:off x="735480" y="3468240"/>
            <a:ext cx="4401720" cy="169560"/>
          </a:xfrm>
          <a:prstGeom prst="rect">
            <a:avLst/>
          </a:prstGeom>
          <a:noFill/>
          <a:ln w="0">
            <a:noFill/>
          </a:ln>
        </p:spPr>
        <p:txBody>
          <a:bodyPr wrap="none" lIns="0" rIns="0" tIns="0" bIns="0" anchor="t">
            <a:spAutoFit/>
          </a:bodyPr>
          <a:p>
            <a:r>
              <a:rPr b="0" lang="zh-CN" sz="920" strike="noStrike" u="none">
                <a:solidFill>
                  <a:srgbClr val="a7c6d9"/>
                </a:solidFill>
                <a:effectLst/>
                <a:uFillTx/>
                <a:latin typeface="NotoSansJP"/>
                <a:ea typeface="NotoSansJP"/>
              </a:rPr>
              <a:t>高精度な伝搬計算には大量の</a:t>
            </a:r>
            <a:r>
              <a:rPr b="0" lang="en-US" sz="920" strike="noStrike" u="none">
                <a:solidFill>
                  <a:srgbClr val="a7c6d9"/>
                </a:solidFill>
                <a:effectLst/>
                <a:uFillTx/>
                <a:latin typeface="NotoSansJP"/>
                <a:ea typeface="NotoSansJP"/>
              </a:rPr>
              <a:t>FFT</a:t>
            </a:r>
            <a:r>
              <a:rPr b="0" lang="zh-CN" sz="920" strike="noStrike" u="none">
                <a:solidFill>
                  <a:srgbClr val="a7c6d9"/>
                </a:solidFill>
                <a:effectLst/>
                <a:uFillTx/>
                <a:latin typeface="NotoSansJP"/>
                <a:ea typeface="NotoSansJP"/>
              </a:rPr>
              <a:t>計算が必要となり、処理に時間がかかります。 特</a:t>
            </a:r>
            <a:endParaRPr b="0" lang="en-US" sz="920" strike="noStrike" u="none">
              <a:solidFill>
                <a:srgbClr val="000000"/>
              </a:solidFill>
              <a:effectLst/>
              <a:uFillTx/>
              <a:latin typeface="Times New Roman"/>
            </a:endParaRPr>
          </a:p>
        </p:txBody>
      </p:sp>
      <p:pic>
        <p:nvPicPr>
          <p:cNvPr id="757" name="" descr=""/>
          <p:cNvPicPr/>
          <p:nvPr/>
        </p:nvPicPr>
        <p:blipFill>
          <a:blip r:embed="rId5"/>
          <a:stretch/>
        </p:blipFill>
        <p:spPr>
          <a:xfrm>
            <a:off x="735480" y="4278600"/>
            <a:ext cx="150120" cy="133200"/>
          </a:xfrm>
          <a:prstGeom prst="rect">
            <a:avLst/>
          </a:prstGeom>
          <a:noFill/>
          <a:ln w="0">
            <a:noFill/>
          </a:ln>
        </p:spPr>
      </p:pic>
      <p:sp>
        <p:nvSpPr>
          <p:cNvPr id="758" name=""/>
          <p:cNvSpPr txBox="1"/>
          <p:nvPr/>
        </p:nvSpPr>
        <p:spPr>
          <a:xfrm>
            <a:off x="735480" y="3635280"/>
            <a:ext cx="3725640" cy="169560"/>
          </a:xfrm>
          <a:prstGeom prst="rect">
            <a:avLst/>
          </a:prstGeom>
          <a:noFill/>
          <a:ln w="0">
            <a:noFill/>
          </a:ln>
        </p:spPr>
        <p:txBody>
          <a:bodyPr wrap="none" lIns="0" rIns="0" tIns="0" bIns="0" anchor="t">
            <a:spAutoFit/>
          </a:bodyPr>
          <a:p>
            <a:r>
              <a:rPr b="0" lang="zh-CN" sz="920" strike="noStrike" u="none">
                <a:solidFill>
                  <a:srgbClr val="a7c6d9"/>
                </a:solidFill>
                <a:effectLst/>
                <a:uFillTx/>
                <a:latin typeface="NotoSansJP"/>
                <a:ea typeface="NotoSansJP"/>
              </a:rPr>
              <a:t>に大規模な</a:t>
            </a:r>
            <a:r>
              <a:rPr b="0" lang="en-US" sz="920" strike="noStrike" u="none">
                <a:solidFill>
                  <a:srgbClr val="a7c6d9"/>
                </a:solidFill>
                <a:effectLst/>
                <a:uFillTx/>
                <a:latin typeface="NotoSansJP"/>
                <a:ea typeface="NotoSansJP"/>
              </a:rPr>
              <a:t>CGH</a:t>
            </a:r>
            <a:r>
              <a:rPr b="0" lang="zh-CN" sz="920" strike="noStrike" u="none">
                <a:solidFill>
                  <a:srgbClr val="a7c6d9"/>
                </a:solidFill>
                <a:effectLst/>
                <a:uFillTx/>
                <a:latin typeface="NotoSansJP"/>
                <a:ea typeface="NotoSansJP"/>
              </a:rPr>
              <a:t>データや、高解像度の再生像を扱う場合に顕著です。</a:t>
            </a:r>
            <a:endParaRPr b="0" lang="en-US" sz="920" strike="noStrike" u="none">
              <a:solidFill>
                <a:srgbClr val="000000"/>
              </a:solidFill>
              <a:effectLst/>
              <a:uFillTx/>
              <a:latin typeface="Times New Roman"/>
            </a:endParaRPr>
          </a:p>
        </p:txBody>
      </p:sp>
      <p:sp>
        <p:nvSpPr>
          <p:cNvPr id="759" name=""/>
          <p:cNvSpPr txBox="1"/>
          <p:nvPr/>
        </p:nvSpPr>
        <p:spPr>
          <a:xfrm>
            <a:off x="952560" y="4280040"/>
            <a:ext cx="1207800" cy="194040"/>
          </a:xfrm>
          <a:prstGeom prst="rect">
            <a:avLst/>
          </a:prstGeom>
          <a:noFill/>
          <a:ln w="0">
            <a:noFill/>
          </a:ln>
        </p:spPr>
        <p:txBody>
          <a:bodyPr wrap="none" lIns="0" rIns="0" tIns="0" bIns="0" anchor="t">
            <a:spAutoFit/>
          </a:bodyPr>
          <a:p>
            <a:r>
              <a:rPr b="0" lang="zh-CN" sz="1050" strike="noStrike" u="none">
                <a:solidFill>
                  <a:srgbClr val="ffffff"/>
                </a:solidFill>
                <a:effectLst/>
                <a:uFillTx/>
                <a:latin typeface="NotoSansJP"/>
                <a:ea typeface="NotoSansJP"/>
              </a:rPr>
              <a:t>眼球モデルの単純化</a:t>
            </a:r>
            <a:endParaRPr b="0" lang="en-US" sz="1050" strike="noStrike" u="none">
              <a:solidFill>
                <a:srgbClr val="000000"/>
              </a:solidFill>
              <a:effectLst/>
              <a:uFillTx/>
              <a:latin typeface="Times New Roman"/>
            </a:endParaRPr>
          </a:p>
        </p:txBody>
      </p:sp>
      <p:sp>
        <p:nvSpPr>
          <p:cNvPr id="760" name=""/>
          <p:cNvSpPr txBox="1"/>
          <p:nvPr/>
        </p:nvSpPr>
        <p:spPr>
          <a:xfrm>
            <a:off x="735480" y="4537800"/>
            <a:ext cx="4386960" cy="169560"/>
          </a:xfrm>
          <a:prstGeom prst="rect">
            <a:avLst/>
          </a:prstGeom>
          <a:noFill/>
          <a:ln w="0">
            <a:noFill/>
          </a:ln>
        </p:spPr>
        <p:txBody>
          <a:bodyPr wrap="none" lIns="0" rIns="0" tIns="0" bIns="0" anchor="t">
            <a:spAutoFit/>
          </a:bodyPr>
          <a:p>
            <a:r>
              <a:rPr b="0" lang="zh-CN" sz="920" strike="noStrike" u="none">
                <a:solidFill>
                  <a:srgbClr val="a7c6d9"/>
                </a:solidFill>
                <a:effectLst/>
                <a:uFillTx/>
                <a:latin typeface="NotoSansJP"/>
                <a:ea typeface="NotoSansJP"/>
              </a:rPr>
              <a:t>現在の実装では、眼球のレンズ機能を単一の薄レンズとして扱い、 </a:t>
            </a:r>
            <a:r>
              <a:rPr b="0" lang="en-US" sz="920" strike="noStrike" u="none">
                <a:solidFill>
                  <a:srgbClr val="a7c6d9"/>
                </a:solidFill>
                <a:effectLst/>
                <a:uFillTx/>
                <a:latin typeface="NotoSansJP"/>
                <a:ea typeface="NotoSansJP"/>
              </a:rPr>
              <a:t>2</a:t>
            </a:r>
            <a:r>
              <a:rPr b="0" lang="zh-CN" sz="920" strike="noStrike" u="none">
                <a:solidFill>
                  <a:srgbClr val="a7c6d9"/>
                </a:solidFill>
                <a:effectLst/>
                <a:uFillTx/>
                <a:latin typeface="NotoSansJP"/>
                <a:ea typeface="NotoSansJP"/>
              </a:rPr>
              <a:t>次位相モデル</a:t>
            </a:r>
            <a:endParaRPr b="0" lang="en-US" sz="920" strike="noStrike" u="none">
              <a:solidFill>
                <a:srgbClr val="000000"/>
              </a:solidFill>
              <a:effectLst/>
              <a:uFillTx/>
              <a:latin typeface="Times New Roman"/>
            </a:endParaRPr>
          </a:p>
        </p:txBody>
      </p:sp>
      <p:sp>
        <p:nvSpPr>
          <p:cNvPr id="761" name=""/>
          <p:cNvSpPr txBox="1"/>
          <p:nvPr/>
        </p:nvSpPr>
        <p:spPr>
          <a:xfrm>
            <a:off x="735480" y="4704840"/>
            <a:ext cx="4368960" cy="169560"/>
          </a:xfrm>
          <a:prstGeom prst="rect">
            <a:avLst/>
          </a:prstGeom>
          <a:noFill/>
          <a:ln w="0">
            <a:noFill/>
          </a:ln>
        </p:spPr>
        <p:txBody>
          <a:bodyPr wrap="none" lIns="0" rIns="0" tIns="0" bIns="0" anchor="t">
            <a:spAutoFit/>
          </a:bodyPr>
          <a:p>
            <a:r>
              <a:rPr b="0" lang="zh-CN" sz="920" strike="noStrike" u="none">
                <a:solidFill>
                  <a:srgbClr val="a7c6d9"/>
                </a:solidFill>
                <a:effectLst/>
                <a:uFillTx/>
                <a:latin typeface="NotoSansJP"/>
                <a:ea typeface="NotoSansJP"/>
              </a:rPr>
              <a:t>で近似していますが、実際の眼球はより複雑な光学系です。 レンズの収差（球面収</a:t>
            </a:r>
            <a:endParaRPr b="0" lang="en-US" sz="920" strike="noStrike" u="none">
              <a:solidFill>
                <a:srgbClr val="000000"/>
              </a:solidFill>
              <a:effectLst/>
              <a:uFillTx/>
              <a:latin typeface="Times New Roman"/>
            </a:endParaRPr>
          </a:p>
        </p:txBody>
      </p:sp>
      <p:sp>
        <p:nvSpPr>
          <p:cNvPr id="762" name=""/>
          <p:cNvSpPr/>
          <p:nvPr/>
        </p:nvSpPr>
        <p:spPr>
          <a:xfrm>
            <a:off x="5465160" y="1771560"/>
            <a:ext cx="4696920" cy="1303920"/>
          </a:xfrm>
          <a:custGeom>
            <a:avLst/>
            <a:gdLst/>
            <a:ahLst/>
            <a:rect l="0" t="0" r="r" b="b"/>
            <a:pathLst>
              <a:path w="13047" h="3622">
                <a:moveTo>
                  <a:pt x="0" y="3436"/>
                </a:moveTo>
                <a:lnTo>
                  <a:pt x="0" y="185"/>
                </a:lnTo>
                <a:cubicBezTo>
                  <a:pt x="0" y="173"/>
                  <a:pt x="1" y="161"/>
                  <a:pt x="3" y="149"/>
                </a:cubicBezTo>
                <a:cubicBezTo>
                  <a:pt x="4" y="137"/>
                  <a:pt x="7" y="126"/>
                  <a:pt x="10" y="114"/>
                </a:cubicBezTo>
                <a:cubicBezTo>
                  <a:pt x="14" y="103"/>
                  <a:pt x="18" y="92"/>
                  <a:pt x="23" y="82"/>
                </a:cubicBezTo>
                <a:cubicBezTo>
                  <a:pt x="28" y="72"/>
                  <a:pt x="34" y="63"/>
                  <a:pt x="41" y="54"/>
                </a:cubicBezTo>
                <a:cubicBezTo>
                  <a:pt x="47" y="45"/>
                  <a:pt x="54" y="38"/>
                  <a:pt x="62" y="31"/>
                </a:cubicBezTo>
                <a:cubicBezTo>
                  <a:pt x="69" y="24"/>
                  <a:pt x="77" y="18"/>
                  <a:pt x="86" y="14"/>
                </a:cubicBezTo>
                <a:cubicBezTo>
                  <a:pt x="94" y="9"/>
                  <a:pt x="103" y="6"/>
                  <a:pt x="112" y="3"/>
                </a:cubicBezTo>
                <a:cubicBezTo>
                  <a:pt x="121" y="1"/>
                  <a:pt x="130" y="0"/>
                  <a:pt x="139" y="0"/>
                </a:cubicBezTo>
                <a:lnTo>
                  <a:pt x="12861" y="0"/>
                </a:lnTo>
                <a:cubicBezTo>
                  <a:pt x="12873" y="0"/>
                  <a:pt x="12885" y="1"/>
                  <a:pt x="12897" y="3"/>
                </a:cubicBezTo>
                <a:cubicBezTo>
                  <a:pt x="12909" y="6"/>
                  <a:pt x="12921" y="9"/>
                  <a:pt x="12932" y="14"/>
                </a:cubicBezTo>
                <a:cubicBezTo>
                  <a:pt x="12943" y="18"/>
                  <a:pt x="12954" y="24"/>
                  <a:pt x="12964" y="31"/>
                </a:cubicBezTo>
                <a:cubicBezTo>
                  <a:pt x="12974" y="38"/>
                  <a:pt x="12984" y="45"/>
                  <a:pt x="12992" y="54"/>
                </a:cubicBezTo>
                <a:cubicBezTo>
                  <a:pt x="13001" y="63"/>
                  <a:pt x="13008" y="72"/>
                  <a:pt x="13015" y="82"/>
                </a:cubicBezTo>
                <a:cubicBezTo>
                  <a:pt x="13022" y="92"/>
                  <a:pt x="13028" y="103"/>
                  <a:pt x="13032" y="114"/>
                </a:cubicBezTo>
                <a:cubicBezTo>
                  <a:pt x="13037" y="126"/>
                  <a:pt x="13041" y="137"/>
                  <a:pt x="13043" y="149"/>
                </a:cubicBezTo>
                <a:cubicBezTo>
                  <a:pt x="13045" y="161"/>
                  <a:pt x="13047" y="173"/>
                  <a:pt x="13047" y="185"/>
                </a:cubicBezTo>
                <a:lnTo>
                  <a:pt x="13047" y="3436"/>
                </a:lnTo>
                <a:cubicBezTo>
                  <a:pt x="13047" y="3448"/>
                  <a:pt x="13045" y="3460"/>
                  <a:pt x="13043" y="3472"/>
                </a:cubicBezTo>
                <a:cubicBezTo>
                  <a:pt x="13041" y="3484"/>
                  <a:pt x="13037" y="3496"/>
                  <a:pt x="13032" y="3507"/>
                </a:cubicBezTo>
                <a:cubicBezTo>
                  <a:pt x="13028" y="3519"/>
                  <a:pt x="13022" y="3529"/>
                  <a:pt x="13015" y="3539"/>
                </a:cubicBezTo>
                <a:cubicBezTo>
                  <a:pt x="13008" y="3550"/>
                  <a:pt x="13001" y="3559"/>
                  <a:pt x="12992" y="3568"/>
                </a:cubicBezTo>
                <a:cubicBezTo>
                  <a:pt x="12984" y="3576"/>
                  <a:pt x="12974" y="3584"/>
                  <a:pt x="12964" y="3591"/>
                </a:cubicBezTo>
                <a:cubicBezTo>
                  <a:pt x="12954" y="3597"/>
                  <a:pt x="12943" y="3603"/>
                  <a:pt x="12932" y="3608"/>
                </a:cubicBezTo>
                <a:cubicBezTo>
                  <a:pt x="12921" y="3612"/>
                  <a:pt x="12909" y="3616"/>
                  <a:pt x="12897" y="3618"/>
                </a:cubicBezTo>
                <a:cubicBezTo>
                  <a:pt x="12885" y="3621"/>
                  <a:pt x="12873" y="3622"/>
                  <a:pt x="12861" y="3622"/>
                </a:cubicBezTo>
                <a:lnTo>
                  <a:pt x="139" y="3622"/>
                </a:lnTo>
                <a:cubicBezTo>
                  <a:pt x="130" y="3622"/>
                  <a:pt x="121" y="3621"/>
                  <a:pt x="112" y="3618"/>
                </a:cubicBezTo>
                <a:cubicBezTo>
                  <a:pt x="103" y="3616"/>
                  <a:pt x="94" y="3612"/>
                  <a:pt x="86" y="3608"/>
                </a:cubicBezTo>
                <a:cubicBezTo>
                  <a:pt x="77" y="3603"/>
                  <a:pt x="69" y="3597"/>
                  <a:pt x="62" y="3591"/>
                </a:cubicBezTo>
                <a:cubicBezTo>
                  <a:pt x="54" y="3584"/>
                  <a:pt x="47" y="3576"/>
                  <a:pt x="41" y="3568"/>
                </a:cubicBezTo>
                <a:cubicBezTo>
                  <a:pt x="34" y="3559"/>
                  <a:pt x="28" y="3550"/>
                  <a:pt x="23" y="3539"/>
                </a:cubicBezTo>
                <a:cubicBezTo>
                  <a:pt x="18" y="3529"/>
                  <a:pt x="14" y="3519"/>
                  <a:pt x="10" y="3507"/>
                </a:cubicBezTo>
                <a:cubicBezTo>
                  <a:pt x="7" y="3496"/>
                  <a:pt x="4" y="3484"/>
                  <a:pt x="3" y="3472"/>
                </a:cubicBezTo>
                <a:cubicBezTo>
                  <a:pt x="1" y="3460"/>
                  <a:pt x="0" y="3448"/>
                  <a:pt x="0" y="3436"/>
                </a:cubicBezTo>
                <a:close/>
              </a:path>
            </a:pathLst>
          </a:custGeom>
          <a:solidFill>
            <a:srgbClr val="ffffff">
              <a:alpha val="10000"/>
            </a:srgbClr>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763" name=""/>
          <p:cNvSpPr/>
          <p:nvPr/>
        </p:nvSpPr>
        <p:spPr>
          <a:xfrm>
            <a:off x="5448240" y="1771560"/>
            <a:ext cx="67320" cy="1303920"/>
          </a:xfrm>
          <a:custGeom>
            <a:avLst/>
            <a:gdLst/>
            <a:ahLst/>
            <a:rect l="0" t="0" r="r" b="b"/>
            <a:pathLst>
              <a:path w="187" h="3622">
                <a:moveTo>
                  <a:pt x="0" y="0"/>
                </a:moveTo>
                <a:lnTo>
                  <a:pt x="187" y="0"/>
                </a:lnTo>
                <a:lnTo>
                  <a:pt x="187" y="3622"/>
                </a:lnTo>
                <a:lnTo>
                  <a:pt x="0" y="3622"/>
                </a:lnTo>
                <a:lnTo>
                  <a:pt x="0" y="0"/>
                </a:lnTo>
                <a:close/>
              </a:path>
            </a:pathLst>
          </a:custGeom>
          <a:solidFill>
            <a:srgbClr val="a7c6d9"/>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764" name=""/>
          <p:cNvSpPr/>
          <p:nvPr/>
        </p:nvSpPr>
        <p:spPr>
          <a:xfrm>
            <a:off x="5465160" y="3208680"/>
            <a:ext cx="4696920" cy="1304280"/>
          </a:xfrm>
          <a:custGeom>
            <a:avLst/>
            <a:gdLst/>
            <a:ahLst/>
            <a:rect l="0" t="0" r="r" b="b"/>
            <a:pathLst>
              <a:path w="13047" h="3623">
                <a:moveTo>
                  <a:pt x="0" y="3437"/>
                </a:moveTo>
                <a:lnTo>
                  <a:pt x="0" y="187"/>
                </a:lnTo>
                <a:cubicBezTo>
                  <a:pt x="0" y="175"/>
                  <a:pt x="1" y="163"/>
                  <a:pt x="3" y="151"/>
                </a:cubicBezTo>
                <a:cubicBezTo>
                  <a:pt x="4" y="138"/>
                  <a:pt x="7" y="126"/>
                  <a:pt x="10" y="115"/>
                </a:cubicBezTo>
                <a:cubicBezTo>
                  <a:pt x="14" y="104"/>
                  <a:pt x="18" y="93"/>
                  <a:pt x="23" y="83"/>
                </a:cubicBezTo>
                <a:cubicBezTo>
                  <a:pt x="28" y="73"/>
                  <a:pt x="34" y="63"/>
                  <a:pt x="41" y="55"/>
                </a:cubicBezTo>
                <a:cubicBezTo>
                  <a:pt x="47" y="46"/>
                  <a:pt x="54" y="38"/>
                  <a:pt x="62" y="32"/>
                </a:cubicBezTo>
                <a:cubicBezTo>
                  <a:pt x="69" y="25"/>
                  <a:pt x="77" y="19"/>
                  <a:pt x="86" y="14"/>
                </a:cubicBezTo>
                <a:cubicBezTo>
                  <a:pt x="94" y="10"/>
                  <a:pt x="103" y="6"/>
                  <a:pt x="112" y="4"/>
                </a:cubicBezTo>
                <a:cubicBezTo>
                  <a:pt x="121" y="2"/>
                  <a:pt x="130" y="0"/>
                  <a:pt x="139" y="0"/>
                </a:cubicBezTo>
                <a:lnTo>
                  <a:pt x="12861" y="0"/>
                </a:lnTo>
                <a:cubicBezTo>
                  <a:pt x="12873" y="0"/>
                  <a:pt x="12885" y="2"/>
                  <a:pt x="12897" y="4"/>
                </a:cubicBezTo>
                <a:cubicBezTo>
                  <a:pt x="12909" y="6"/>
                  <a:pt x="12921" y="10"/>
                  <a:pt x="12932" y="14"/>
                </a:cubicBezTo>
                <a:cubicBezTo>
                  <a:pt x="12943" y="19"/>
                  <a:pt x="12954" y="25"/>
                  <a:pt x="12964" y="32"/>
                </a:cubicBezTo>
                <a:cubicBezTo>
                  <a:pt x="12974" y="38"/>
                  <a:pt x="12984" y="46"/>
                  <a:pt x="12992" y="55"/>
                </a:cubicBezTo>
                <a:cubicBezTo>
                  <a:pt x="13001" y="63"/>
                  <a:pt x="13008" y="73"/>
                  <a:pt x="13015" y="83"/>
                </a:cubicBezTo>
                <a:cubicBezTo>
                  <a:pt x="13022" y="93"/>
                  <a:pt x="13028" y="104"/>
                  <a:pt x="13032" y="115"/>
                </a:cubicBezTo>
                <a:cubicBezTo>
                  <a:pt x="13037" y="126"/>
                  <a:pt x="13041" y="138"/>
                  <a:pt x="13043" y="151"/>
                </a:cubicBezTo>
                <a:cubicBezTo>
                  <a:pt x="13045" y="163"/>
                  <a:pt x="13047" y="175"/>
                  <a:pt x="13047" y="187"/>
                </a:cubicBezTo>
                <a:lnTo>
                  <a:pt x="13047" y="3437"/>
                </a:lnTo>
                <a:cubicBezTo>
                  <a:pt x="13047" y="3449"/>
                  <a:pt x="13045" y="3461"/>
                  <a:pt x="13043" y="3473"/>
                </a:cubicBezTo>
                <a:cubicBezTo>
                  <a:pt x="13041" y="3485"/>
                  <a:pt x="13037" y="3497"/>
                  <a:pt x="13032" y="3508"/>
                </a:cubicBezTo>
                <a:cubicBezTo>
                  <a:pt x="13028" y="3519"/>
                  <a:pt x="13022" y="3530"/>
                  <a:pt x="13015" y="3540"/>
                </a:cubicBezTo>
                <a:cubicBezTo>
                  <a:pt x="13008" y="3550"/>
                  <a:pt x="13001" y="3560"/>
                  <a:pt x="12992" y="3568"/>
                </a:cubicBezTo>
                <a:cubicBezTo>
                  <a:pt x="12984" y="3577"/>
                  <a:pt x="12974" y="3584"/>
                  <a:pt x="12964" y="3591"/>
                </a:cubicBezTo>
                <a:cubicBezTo>
                  <a:pt x="12954" y="3598"/>
                  <a:pt x="12943" y="3604"/>
                  <a:pt x="12932" y="3608"/>
                </a:cubicBezTo>
                <a:cubicBezTo>
                  <a:pt x="12921" y="3613"/>
                  <a:pt x="12909" y="3617"/>
                  <a:pt x="12897" y="3619"/>
                </a:cubicBezTo>
                <a:cubicBezTo>
                  <a:pt x="12885" y="3621"/>
                  <a:pt x="12873" y="3623"/>
                  <a:pt x="12861" y="3623"/>
                </a:cubicBezTo>
                <a:lnTo>
                  <a:pt x="139" y="3623"/>
                </a:lnTo>
                <a:cubicBezTo>
                  <a:pt x="130" y="3623"/>
                  <a:pt x="121" y="3621"/>
                  <a:pt x="112" y="3619"/>
                </a:cubicBezTo>
                <a:cubicBezTo>
                  <a:pt x="103" y="3617"/>
                  <a:pt x="94" y="3613"/>
                  <a:pt x="86" y="3608"/>
                </a:cubicBezTo>
                <a:cubicBezTo>
                  <a:pt x="77" y="3604"/>
                  <a:pt x="69" y="3598"/>
                  <a:pt x="62" y="3591"/>
                </a:cubicBezTo>
                <a:cubicBezTo>
                  <a:pt x="54" y="3584"/>
                  <a:pt x="47" y="3577"/>
                  <a:pt x="41" y="3568"/>
                </a:cubicBezTo>
                <a:cubicBezTo>
                  <a:pt x="34" y="3560"/>
                  <a:pt x="28" y="3550"/>
                  <a:pt x="23" y="3540"/>
                </a:cubicBezTo>
                <a:cubicBezTo>
                  <a:pt x="18" y="3530"/>
                  <a:pt x="14" y="3519"/>
                  <a:pt x="10" y="3508"/>
                </a:cubicBezTo>
                <a:cubicBezTo>
                  <a:pt x="7" y="3497"/>
                  <a:pt x="4" y="3485"/>
                  <a:pt x="3" y="3473"/>
                </a:cubicBezTo>
                <a:cubicBezTo>
                  <a:pt x="1" y="3461"/>
                  <a:pt x="0" y="3449"/>
                  <a:pt x="0" y="3437"/>
                </a:cubicBezTo>
                <a:close/>
              </a:path>
            </a:pathLst>
          </a:custGeom>
          <a:solidFill>
            <a:srgbClr val="ffffff">
              <a:alpha val="10000"/>
            </a:srgbClr>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765" name=""/>
          <p:cNvSpPr/>
          <p:nvPr/>
        </p:nvSpPr>
        <p:spPr>
          <a:xfrm>
            <a:off x="5448240" y="3208680"/>
            <a:ext cx="67320" cy="1304280"/>
          </a:xfrm>
          <a:custGeom>
            <a:avLst/>
            <a:gdLst/>
            <a:ahLst/>
            <a:rect l="0" t="0" r="r" b="b"/>
            <a:pathLst>
              <a:path w="187" h="3623">
                <a:moveTo>
                  <a:pt x="0" y="0"/>
                </a:moveTo>
                <a:lnTo>
                  <a:pt x="187" y="0"/>
                </a:lnTo>
                <a:lnTo>
                  <a:pt x="187" y="3623"/>
                </a:lnTo>
                <a:lnTo>
                  <a:pt x="0" y="3623"/>
                </a:lnTo>
                <a:lnTo>
                  <a:pt x="0" y="0"/>
                </a:lnTo>
                <a:close/>
              </a:path>
            </a:pathLst>
          </a:custGeom>
          <a:solidFill>
            <a:srgbClr val="a7c6d9"/>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766" name=""/>
          <p:cNvSpPr/>
          <p:nvPr/>
        </p:nvSpPr>
        <p:spPr>
          <a:xfrm>
            <a:off x="5465160" y="4646160"/>
            <a:ext cx="4696920" cy="1303920"/>
          </a:xfrm>
          <a:custGeom>
            <a:avLst/>
            <a:gdLst/>
            <a:ahLst/>
            <a:rect l="0" t="0" r="r" b="b"/>
            <a:pathLst>
              <a:path w="13047" h="3622">
                <a:moveTo>
                  <a:pt x="0" y="3436"/>
                </a:moveTo>
                <a:lnTo>
                  <a:pt x="0" y="186"/>
                </a:lnTo>
                <a:cubicBezTo>
                  <a:pt x="0" y="173"/>
                  <a:pt x="1" y="161"/>
                  <a:pt x="3" y="149"/>
                </a:cubicBezTo>
                <a:cubicBezTo>
                  <a:pt x="4" y="137"/>
                  <a:pt x="7" y="126"/>
                  <a:pt x="10" y="115"/>
                </a:cubicBezTo>
                <a:cubicBezTo>
                  <a:pt x="14" y="103"/>
                  <a:pt x="18" y="93"/>
                  <a:pt x="23" y="82"/>
                </a:cubicBezTo>
                <a:cubicBezTo>
                  <a:pt x="28" y="72"/>
                  <a:pt x="34" y="63"/>
                  <a:pt x="41" y="54"/>
                </a:cubicBezTo>
                <a:cubicBezTo>
                  <a:pt x="47" y="46"/>
                  <a:pt x="54" y="38"/>
                  <a:pt x="62" y="31"/>
                </a:cubicBezTo>
                <a:cubicBezTo>
                  <a:pt x="69" y="24"/>
                  <a:pt x="77" y="19"/>
                  <a:pt x="86" y="14"/>
                </a:cubicBezTo>
                <a:cubicBezTo>
                  <a:pt x="94" y="9"/>
                  <a:pt x="103" y="6"/>
                  <a:pt x="112" y="4"/>
                </a:cubicBezTo>
                <a:cubicBezTo>
                  <a:pt x="121" y="1"/>
                  <a:pt x="130" y="0"/>
                  <a:pt x="139" y="0"/>
                </a:cubicBezTo>
                <a:lnTo>
                  <a:pt x="12861" y="0"/>
                </a:lnTo>
                <a:cubicBezTo>
                  <a:pt x="12873" y="0"/>
                  <a:pt x="12885" y="1"/>
                  <a:pt x="12897" y="4"/>
                </a:cubicBezTo>
                <a:cubicBezTo>
                  <a:pt x="12909" y="6"/>
                  <a:pt x="12921" y="9"/>
                  <a:pt x="12932" y="14"/>
                </a:cubicBezTo>
                <a:cubicBezTo>
                  <a:pt x="12943" y="19"/>
                  <a:pt x="12954" y="24"/>
                  <a:pt x="12964" y="31"/>
                </a:cubicBezTo>
                <a:cubicBezTo>
                  <a:pt x="12974" y="38"/>
                  <a:pt x="12984" y="46"/>
                  <a:pt x="12992" y="54"/>
                </a:cubicBezTo>
                <a:cubicBezTo>
                  <a:pt x="13001" y="63"/>
                  <a:pt x="13008" y="72"/>
                  <a:pt x="13015" y="82"/>
                </a:cubicBezTo>
                <a:cubicBezTo>
                  <a:pt x="13022" y="93"/>
                  <a:pt x="13028" y="103"/>
                  <a:pt x="13032" y="115"/>
                </a:cubicBezTo>
                <a:cubicBezTo>
                  <a:pt x="13037" y="126"/>
                  <a:pt x="13041" y="137"/>
                  <a:pt x="13043" y="149"/>
                </a:cubicBezTo>
                <a:cubicBezTo>
                  <a:pt x="13045" y="161"/>
                  <a:pt x="13047" y="173"/>
                  <a:pt x="13047" y="186"/>
                </a:cubicBezTo>
                <a:lnTo>
                  <a:pt x="13047" y="3436"/>
                </a:lnTo>
                <a:cubicBezTo>
                  <a:pt x="13047" y="3449"/>
                  <a:pt x="13045" y="3461"/>
                  <a:pt x="13043" y="3473"/>
                </a:cubicBezTo>
                <a:cubicBezTo>
                  <a:pt x="13041" y="3485"/>
                  <a:pt x="13037" y="3496"/>
                  <a:pt x="13032" y="3508"/>
                </a:cubicBezTo>
                <a:cubicBezTo>
                  <a:pt x="13028" y="3519"/>
                  <a:pt x="13022" y="3530"/>
                  <a:pt x="13015" y="3540"/>
                </a:cubicBezTo>
                <a:cubicBezTo>
                  <a:pt x="13008" y="3550"/>
                  <a:pt x="13001" y="3559"/>
                  <a:pt x="12992" y="3568"/>
                </a:cubicBezTo>
                <a:cubicBezTo>
                  <a:pt x="12984" y="3576"/>
                  <a:pt x="12974" y="3584"/>
                  <a:pt x="12964" y="3591"/>
                </a:cubicBezTo>
                <a:cubicBezTo>
                  <a:pt x="12954" y="3598"/>
                  <a:pt x="12943" y="3603"/>
                  <a:pt x="12932" y="3608"/>
                </a:cubicBezTo>
                <a:cubicBezTo>
                  <a:pt x="12921" y="3613"/>
                  <a:pt x="12909" y="3616"/>
                  <a:pt x="12897" y="3619"/>
                </a:cubicBezTo>
                <a:cubicBezTo>
                  <a:pt x="12885" y="3621"/>
                  <a:pt x="12873" y="3622"/>
                  <a:pt x="12861" y="3622"/>
                </a:cubicBezTo>
                <a:lnTo>
                  <a:pt x="139" y="3622"/>
                </a:lnTo>
                <a:cubicBezTo>
                  <a:pt x="130" y="3622"/>
                  <a:pt x="121" y="3621"/>
                  <a:pt x="112" y="3619"/>
                </a:cubicBezTo>
                <a:cubicBezTo>
                  <a:pt x="103" y="3616"/>
                  <a:pt x="94" y="3613"/>
                  <a:pt x="86" y="3608"/>
                </a:cubicBezTo>
                <a:cubicBezTo>
                  <a:pt x="77" y="3603"/>
                  <a:pt x="69" y="3598"/>
                  <a:pt x="62" y="3591"/>
                </a:cubicBezTo>
                <a:cubicBezTo>
                  <a:pt x="54" y="3584"/>
                  <a:pt x="47" y="3576"/>
                  <a:pt x="41" y="3568"/>
                </a:cubicBezTo>
                <a:cubicBezTo>
                  <a:pt x="34" y="3559"/>
                  <a:pt x="28" y="3550"/>
                  <a:pt x="23" y="3540"/>
                </a:cubicBezTo>
                <a:cubicBezTo>
                  <a:pt x="18" y="3530"/>
                  <a:pt x="14" y="3519"/>
                  <a:pt x="10" y="3508"/>
                </a:cubicBezTo>
                <a:cubicBezTo>
                  <a:pt x="7" y="3496"/>
                  <a:pt x="4" y="3485"/>
                  <a:pt x="3" y="3473"/>
                </a:cubicBezTo>
                <a:cubicBezTo>
                  <a:pt x="1" y="3461"/>
                  <a:pt x="0" y="3449"/>
                  <a:pt x="0" y="3436"/>
                </a:cubicBezTo>
                <a:close/>
              </a:path>
            </a:pathLst>
          </a:custGeom>
          <a:solidFill>
            <a:srgbClr val="ffffff">
              <a:alpha val="10000"/>
            </a:srgbClr>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767" name=""/>
          <p:cNvSpPr/>
          <p:nvPr/>
        </p:nvSpPr>
        <p:spPr>
          <a:xfrm>
            <a:off x="5448240" y="4646160"/>
            <a:ext cx="67320" cy="1303920"/>
          </a:xfrm>
          <a:custGeom>
            <a:avLst/>
            <a:gdLst/>
            <a:ahLst/>
            <a:rect l="0" t="0" r="r" b="b"/>
            <a:pathLst>
              <a:path w="187" h="3622">
                <a:moveTo>
                  <a:pt x="0" y="0"/>
                </a:moveTo>
                <a:lnTo>
                  <a:pt x="187" y="0"/>
                </a:lnTo>
                <a:lnTo>
                  <a:pt x="187" y="3622"/>
                </a:lnTo>
                <a:lnTo>
                  <a:pt x="0" y="3622"/>
                </a:lnTo>
                <a:lnTo>
                  <a:pt x="0" y="0"/>
                </a:lnTo>
                <a:close/>
              </a:path>
            </a:pathLst>
          </a:custGeom>
          <a:solidFill>
            <a:srgbClr val="a7c6d9"/>
          </a:solidFill>
          <a:ln w="0">
            <a:noFill/>
          </a:ln>
        </p:spPr>
        <p:txBody>
          <a:bodyPr lIns="0" rIns="0" tIns="0" bIns="0" anchor="t">
            <a:noAutofit/>
          </a:bodyPr>
          <a:p>
            <a:endParaRPr b="0" lang="en-US" sz="2400" strike="noStrike" u="none">
              <a:solidFill>
                <a:srgbClr val="000000"/>
              </a:solidFill>
              <a:effectLst/>
              <a:uFillTx/>
              <a:latin typeface="Times New Roman"/>
            </a:endParaRPr>
          </a:p>
        </p:txBody>
      </p:sp>
      <p:pic>
        <p:nvPicPr>
          <p:cNvPr id="768" name="" descr=""/>
          <p:cNvPicPr/>
          <p:nvPr/>
        </p:nvPicPr>
        <p:blipFill>
          <a:blip r:embed="rId6"/>
          <a:stretch/>
        </p:blipFill>
        <p:spPr>
          <a:xfrm>
            <a:off x="5448600" y="1404000"/>
            <a:ext cx="150120" cy="200160"/>
          </a:xfrm>
          <a:prstGeom prst="rect">
            <a:avLst/>
          </a:prstGeom>
          <a:noFill/>
          <a:ln w="0">
            <a:noFill/>
          </a:ln>
        </p:spPr>
      </p:pic>
      <p:sp>
        <p:nvSpPr>
          <p:cNvPr id="769" name=""/>
          <p:cNvSpPr txBox="1"/>
          <p:nvPr/>
        </p:nvSpPr>
        <p:spPr>
          <a:xfrm>
            <a:off x="735480" y="4871880"/>
            <a:ext cx="2230200" cy="169560"/>
          </a:xfrm>
          <a:prstGeom prst="rect">
            <a:avLst/>
          </a:prstGeom>
          <a:noFill/>
          <a:ln w="0">
            <a:noFill/>
          </a:ln>
        </p:spPr>
        <p:txBody>
          <a:bodyPr wrap="none" lIns="0" rIns="0" tIns="0" bIns="0" anchor="t">
            <a:spAutoFit/>
          </a:bodyPr>
          <a:p>
            <a:r>
              <a:rPr b="0" lang="zh-CN" sz="920" strike="noStrike" u="none">
                <a:solidFill>
                  <a:srgbClr val="a7c6d9"/>
                </a:solidFill>
                <a:effectLst/>
                <a:uFillTx/>
                <a:latin typeface="NotoSansJP"/>
                <a:ea typeface="NotoSansJP"/>
              </a:rPr>
              <a:t>差、色収差など）は考慮されていません。</a:t>
            </a:r>
            <a:endParaRPr b="0" lang="en-US" sz="920" strike="noStrike" u="none">
              <a:solidFill>
                <a:srgbClr val="000000"/>
              </a:solidFill>
              <a:effectLst/>
              <a:uFillTx/>
              <a:latin typeface="Times New Roman"/>
            </a:endParaRPr>
          </a:p>
        </p:txBody>
      </p:sp>
      <p:pic>
        <p:nvPicPr>
          <p:cNvPr id="770" name="" descr=""/>
          <p:cNvPicPr/>
          <p:nvPr/>
        </p:nvPicPr>
        <p:blipFill>
          <a:blip r:embed="rId7"/>
          <a:stretch/>
        </p:blipFill>
        <p:spPr>
          <a:xfrm>
            <a:off x="5649120" y="1972080"/>
            <a:ext cx="133200" cy="133200"/>
          </a:xfrm>
          <a:prstGeom prst="rect">
            <a:avLst/>
          </a:prstGeom>
          <a:noFill/>
          <a:ln w="0">
            <a:noFill/>
          </a:ln>
        </p:spPr>
      </p:pic>
      <p:sp>
        <p:nvSpPr>
          <p:cNvPr id="771" name=""/>
          <p:cNvSpPr txBox="1"/>
          <p:nvPr/>
        </p:nvSpPr>
        <p:spPr>
          <a:xfrm>
            <a:off x="5699160" y="1401480"/>
            <a:ext cx="1207800" cy="291600"/>
          </a:xfrm>
          <a:prstGeom prst="rect">
            <a:avLst/>
          </a:prstGeom>
          <a:noFill/>
          <a:ln w="0">
            <a:noFill/>
          </a:ln>
        </p:spPr>
        <p:txBody>
          <a:bodyPr wrap="none" lIns="0" rIns="0" tIns="0" bIns="0" anchor="t">
            <a:spAutoFit/>
          </a:bodyPr>
          <a:p>
            <a:r>
              <a:rPr b="0" lang="zh-CN" sz="1580" strike="noStrike" u="none">
                <a:solidFill>
                  <a:srgbClr val="ffffff"/>
                </a:solidFill>
                <a:effectLst/>
                <a:uFillTx/>
                <a:latin typeface="NotoSansJP"/>
                <a:ea typeface="NotoSansJP"/>
              </a:rPr>
              <a:t>対策と解決策</a:t>
            </a:r>
            <a:endParaRPr b="0" lang="en-US" sz="1580" strike="noStrike" u="none">
              <a:solidFill>
                <a:srgbClr val="000000"/>
              </a:solidFill>
              <a:effectLst/>
              <a:uFillTx/>
              <a:latin typeface="Times New Roman"/>
            </a:endParaRPr>
          </a:p>
        </p:txBody>
      </p:sp>
      <p:sp>
        <p:nvSpPr>
          <p:cNvPr id="772" name=""/>
          <p:cNvSpPr txBox="1"/>
          <p:nvPr/>
        </p:nvSpPr>
        <p:spPr>
          <a:xfrm>
            <a:off x="5849640" y="1973520"/>
            <a:ext cx="1207800" cy="194040"/>
          </a:xfrm>
          <a:prstGeom prst="rect">
            <a:avLst/>
          </a:prstGeom>
          <a:noFill/>
          <a:ln w="0">
            <a:noFill/>
          </a:ln>
        </p:spPr>
        <p:txBody>
          <a:bodyPr wrap="none" lIns="0" rIns="0" tIns="0" bIns="0" anchor="t">
            <a:spAutoFit/>
          </a:bodyPr>
          <a:p>
            <a:r>
              <a:rPr b="0" lang="zh-CN" sz="1050" strike="noStrike" u="none">
                <a:solidFill>
                  <a:srgbClr val="ffffff"/>
                </a:solidFill>
                <a:effectLst/>
                <a:uFillTx/>
                <a:latin typeface="NotoSansJP"/>
                <a:ea typeface="NotoSansJP"/>
              </a:rPr>
              <a:t>エイリアシング対策</a:t>
            </a:r>
            <a:endParaRPr b="0" lang="en-US" sz="1050" strike="noStrike" u="none">
              <a:solidFill>
                <a:srgbClr val="000000"/>
              </a:solidFill>
              <a:effectLst/>
              <a:uFillTx/>
              <a:latin typeface="Times New Roman"/>
            </a:endParaRPr>
          </a:p>
        </p:txBody>
      </p:sp>
      <p:sp>
        <p:nvSpPr>
          <p:cNvPr id="773" name=""/>
          <p:cNvSpPr txBox="1"/>
          <p:nvPr/>
        </p:nvSpPr>
        <p:spPr>
          <a:xfrm>
            <a:off x="5649120" y="2231280"/>
            <a:ext cx="4342680" cy="169560"/>
          </a:xfrm>
          <a:prstGeom prst="rect">
            <a:avLst/>
          </a:prstGeom>
          <a:noFill/>
          <a:ln w="0">
            <a:noFill/>
          </a:ln>
        </p:spPr>
        <p:txBody>
          <a:bodyPr wrap="none" lIns="0" rIns="0" tIns="0" bIns="0" anchor="t">
            <a:spAutoFit/>
          </a:bodyPr>
          <a:p>
            <a:r>
              <a:rPr b="0" lang="zh-CN" sz="920" strike="noStrike" u="none">
                <a:solidFill>
                  <a:srgbClr val="ffffff"/>
                </a:solidFill>
                <a:effectLst/>
                <a:uFillTx/>
                <a:latin typeface="NotoSansJP"/>
                <a:ea typeface="NotoSansJP"/>
              </a:rPr>
              <a:t>帯域制限角スペクトル法：</a:t>
            </a:r>
            <a:r>
              <a:rPr b="0" lang="zh-CN" sz="920" strike="noStrike" u="none">
                <a:solidFill>
                  <a:srgbClr val="a7c6d9"/>
                </a:solidFill>
                <a:effectLst/>
                <a:uFillTx/>
                <a:latin typeface="NotoSansJP"/>
                <a:ea typeface="NotoSansJP"/>
              </a:rPr>
              <a:t>伝達関数が急激に変化する高周波領域をフィルタリング</a:t>
            </a:r>
            <a:endParaRPr b="0" lang="en-US" sz="920" strike="noStrike" u="none">
              <a:solidFill>
                <a:srgbClr val="000000"/>
              </a:solidFill>
              <a:effectLst/>
              <a:uFillTx/>
              <a:latin typeface="Times New Roman"/>
            </a:endParaRPr>
          </a:p>
        </p:txBody>
      </p:sp>
      <p:sp>
        <p:nvSpPr>
          <p:cNvPr id="774" name=""/>
          <p:cNvSpPr txBox="1"/>
          <p:nvPr/>
        </p:nvSpPr>
        <p:spPr>
          <a:xfrm>
            <a:off x="5649120" y="2398320"/>
            <a:ext cx="2230200" cy="169560"/>
          </a:xfrm>
          <a:prstGeom prst="rect">
            <a:avLst/>
          </a:prstGeom>
          <a:noFill/>
          <a:ln w="0">
            <a:noFill/>
          </a:ln>
        </p:spPr>
        <p:txBody>
          <a:bodyPr wrap="none" lIns="0" rIns="0" tIns="0" bIns="0" anchor="t">
            <a:spAutoFit/>
          </a:bodyPr>
          <a:p>
            <a:r>
              <a:rPr b="0" lang="zh-CN" sz="920" strike="noStrike" u="none">
                <a:solidFill>
                  <a:srgbClr val="a7c6d9"/>
                </a:solidFill>
                <a:effectLst/>
                <a:uFillTx/>
                <a:latin typeface="NotoSansJP"/>
                <a:ea typeface="NotoSansJP"/>
              </a:rPr>
              <a:t>することでエイリアシングを抑制します。</a:t>
            </a:r>
            <a:endParaRPr b="0" lang="en-US" sz="920" strike="noStrike" u="none">
              <a:solidFill>
                <a:srgbClr val="000000"/>
              </a:solidFill>
              <a:effectLst/>
              <a:uFillTx/>
              <a:latin typeface="Times New Roman"/>
            </a:endParaRPr>
          </a:p>
        </p:txBody>
      </p:sp>
      <p:sp>
        <p:nvSpPr>
          <p:cNvPr id="775" name=""/>
          <p:cNvSpPr txBox="1"/>
          <p:nvPr/>
        </p:nvSpPr>
        <p:spPr>
          <a:xfrm>
            <a:off x="5649120" y="2598840"/>
            <a:ext cx="4342680" cy="169560"/>
          </a:xfrm>
          <a:prstGeom prst="rect">
            <a:avLst/>
          </a:prstGeom>
          <a:noFill/>
          <a:ln w="0">
            <a:noFill/>
          </a:ln>
        </p:spPr>
        <p:txBody>
          <a:bodyPr wrap="none" lIns="0" rIns="0" tIns="0" bIns="0" anchor="t">
            <a:spAutoFit/>
          </a:bodyPr>
          <a:p>
            <a:r>
              <a:rPr b="0" lang="zh-CN" sz="920" strike="noStrike" u="none">
                <a:solidFill>
                  <a:srgbClr val="ffffff"/>
                </a:solidFill>
                <a:effectLst/>
                <a:uFillTx/>
                <a:latin typeface="NotoSansJP"/>
                <a:ea typeface="NotoSansJP"/>
              </a:rPr>
              <a:t>拡張角スペクトル法：</a:t>
            </a:r>
            <a:r>
              <a:rPr b="0" lang="zh-CN" sz="920" strike="noStrike" u="none">
                <a:solidFill>
                  <a:srgbClr val="a7c6d9"/>
                </a:solidFill>
                <a:effectLst/>
                <a:uFillTx/>
                <a:latin typeface="NotoSansJP"/>
                <a:ea typeface="NotoSansJP"/>
              </a:rPr>
              <a:t>計算領域を拡張（ゼロパディング）することで、実質的なサ</a:t>
            </a:r>
            <a:endParaRPr b="0" lang="en-US" sz="920" strike="noStrike" u="none">
              <a:solidFill>
                <a:srgbClr val="000000"/>
              </a:solidFill>
              <a:effectLst/>
              <a:uFillTx/>
              <a:latin typeface="Times New Roman"/>
            </a:endParaRPr>
          </a:p>
        </p:txBody>
      </p:sp>
      <p:pic>
        <p:nvPicPr>
          <p:cNvPr id="776" name="" descr=""/>
          <p:cNvPicPr/>
          <p:nvPr/>
        </p:nvPicPr>
        <p:blipFill>
          <a:blip r:embed="rId8"/>
          <a:stretch/>
        </p:blipFill>
        <p:spPr>
          <a:xfrm>
            <a:off x="5649120" y="3409560"/>
            <a:ext cx="133200" cy="133200"/>
          </a:xfrm>
          <a:prstGeom prst="rect">
            <a:avLst/>
          </a:prstGeom>
          <a:noFill/>
          <a:ln w="0">
            <a:noFill/>
          </a:ln>
        </p:spPr>
      </p:pic>
      <p:sp>
        <p:nvSpPr>
          <p:cNvPr id="777" name=""/>
          <p:cNvSpPr txBox="1"/>
          <p:nvPr/>
        </p:nvSpPr>
        <p:spPr>
          <a:xfrm>
            <a:off x="5649120" y="2766240"/>
            <a:ext cx="3403800" cy="169560"/>
          </a:xfrm>
          <a:prstGeom prst="rect">
            <a:avLst/>
          </a:prstGeom>
          <a:noFill/>
          <a:ln w="0">
            <a:noFill/>
          </a:ln>
        </p:spPr>
        <p:txBody>
          <a:bodyPr wrap="none" lIns="0" rIns="0" tIns="0" bIns="0" anchor="t">
            <a:spAutoFit/>
          </a:bodyPr>
          <a:p>
            <a:r>
              <a:rPr b="0" lang="zh-CN" sz="920" strike="noStrike" u="none">
                <a:solidFill>
                  <a:srgbClr val="a7c6d9"/>
                </a:solidFill>
                <a:effectLst/>
                <a:uFillTx/>
                <a:latin typeface="NotoSansJP"/>
                <a:ea typeface="NotoSansJP"/>
              </a:rPr>
              <a:t>ンプリング周波数を上げ、エイリアシングの影響を低減します。</a:t>
            </a:r>
            <a:endParaRPr b="0" lang="en-US" sz="920" strike="noStrike" u="none">
              <a:solidFill>
                <a:srgbClr val="000000"/>
              </a:solidFill>
              <a:effectLst/>
              <a:uFillTx/>
              <a:latin typeface="Times New Roman"/>
            </a:endParaRPr>
          </a:p>
        </p:txBody>
      </p:sp>
      <p:sp>
        <p:nvSpPr>
          <p:cNvPr id="778" name=""/>
          <p:cNvSpPr txBox="1"/>
          <p:nvPr/>
        </p:nvSpPr>
        <p:spPr>
          <a:xfrm>
            <a:off x="5849640" y="3410640"/>
            <a:ext cx="939600" cy="194040"/>
          </a:xfrm>
          <a:prstGeom prst="rect">
            <a:avLst/>
          </a:prstGeom>
          <a:noFill/>
          <a:ln w="0">
            <a:noFill/>
          </a:ln>
        </p:spPr>
        <p:txBody>
          <a:bodyPr wrap="none" lIns="0" rIns="0" tIns="0" bIns="0" anchor="t">
            <a:spAutoFit/>
          </a:bodyPr>
          <a:p>
            <a:r>
              <a:rPr b="0" lang="zh-CN" sz="1050" strike="noStrike" u="none">
                <a:solidFill>
                  <a:srgbClr val="ffffff"/>
                </a:solidFill>
                <a:effectLst/>
                <a:uFillTx/>
                <a:latin typeface="NotoSansJP"/>
                <a:ea typeface="NotoSansJP"/>
              </a:rPr>
              <a:t>計算速度の向上</a:t>
            </a:r>
            <a:endParaRPr b="0" lang="en-US" sz="1050" strike="noStrike" u="none">
              <a:solidFill>
                <a:srgbClr val="000000"/>
              </a:solidFill>
              <a:effectLst/>
              <a:uFillTx/>
              <a:latin typeface="Times New Roman"/>
            </a:endParaRPr>
          </a:p>
        </p:txBody>
      </p:sp>
      <p:sp>
        <p:nvSpPr>
          <p:cNvPr id="779" name=""/>
          <p:cNvSpPr txBox="1"/>
          <p:nvPr/>
        </p:nvSpPr>
        <p:spPr>
          <a:xfrm>
            <a:off x="5649120" y="3668760"/>
            <a:ext cx="4489560" cy="169560"/>
          </a:xfrm>
          <a:prstGeom prst="rect">
            <a:avLst/>
          </a:prstGeom>
          <a:noFill/>
          <a:ln w="0">
            <a:noFill/>
          </a:ln>
        </p:spPr>
        <p:txBody>
          <a:bodyPr wrap="none" lIns="0" rIns="0" tIns="0" bIns="0" anchor="t">
            <a:spAutoFit/>
          </a:bodyPr>
          <a:p>
            <a:r>
              <a:rPr b="0" lang="en-US" sz="920" strike="noStrike" u="none">
                <a:solidFill>
                  <a:srgbClr val="ffffff"/>
                </a:solidFill>
                <a:effectLst/>
                <a:uFillTx/>
                <a:latin typeface="NotoSansJP"/>
                <a:ea typeface="NotoSansJP"/>
              </a:rPr>
              <a:t>GPU</a:t>
            </a:r>
            <a:r>
              <a:rPr b="0" lang="zh-CN" sz="920" strike="noStrike" u="none">
                <a:solidFill>
                  <a:srgbClr val="ffffff"/>
                </a:solidFill>
                <a:effectLst/>
                <a:uFillTx/>
                <a:latin typeface="NotoSansJP"/>
                <a:ea typeface="NotoSansJP"/>
              </a:rPr>
              <a:t>活用：</a:t>
            </a:r>
            <a:r>
              <a:rPr b="0" lang="zh-CN" sz="920" strike="noStrike" u="none">
                <a:solidFill>
                  <a:srgbClr val="a7c6d9"/>
                </a:solidFill>
                <a:effectLst/>
                <a:uFillTx/>
                <a:latin typeface="NotoSansJP"/>
                <a:ea typeface="NotoSansJP"/>
              </a:rPr>
              <a:t>大規模な並列計算が可能な</a:t>
            </a:r>
            <a:r>
              <a:rPr b="0" lang="en-US" sz="920" strike="noStrike" u="none">
                <a:solidFill>
                  <a:srgbClr val="a7c6d9"/>
                </a:solidFill>
                <a:effectLst/>
                <a:uFillTx/>
                <a:latin typeface="NotoSansJP"/>
                <a:ea typeface="NotoSansJP"/>
              </a:rPr>
              <a:t>GPU</a:t>
            </a:r>
            <a:r>
              <a:rPr b="0" lang="zh-CN" sz="920" strike="noStrike" u="none">
                <a:solidFill>
                  <a:srgbClr val="a7c6d9"/>
                </a:solidFill>
                <a:effectLst/>
                <a:uFillTx/>
                <a:latin typeface="NotoSansJP"/>
                <a:ea typeface="NotoSansJP"/>
              </a:rPr>
              <a:t>を活用することで、特に</a:t>
            </a:r>
            <a:r>
              <a:rPr b="0" lang="en-US" sz="920" strike="noStrike" u="none">
                <a:solidFill>
                  <a:srgbClr val="a7c6d9"/>
                </a:solidFill>
                <a:effectLst/>
                <a:uFillTx/>
                <a:latin typeface="NotoSansJP"/>
                <a:ea typeface="NotoSansJP"/>
              </a:rPr>
              <a:t>FFT</a:t>
            </a:r>
            <a:r>
              <a:rPr b="0" lang="zh-CN" sz="920" strike="noStrike" u="none">
                <a:solidFill>
                  <a:srgbClr val="a7c6d9"/>
                </a:solidFill>
                <a:effectLst/>
                <a:uFillTx/>
                <a:latin typeface="NotoSansJP"/>
                <a:ea typeface="NotoSansJP"/>
              </a:rPr>
              <a:t>計算を高速</a:t>
            </a:r>
            <a:endParaRPr b="0" lang="en-US" sz="920" strike="noStrike" u="none">
              <a:solidFill>
                <a:srgbClr val="000000"/>
              </a:solidFill>
              <a:effectLst/>
              <a:uFillTx/>
              <a:latin typeface="Times New Roman"/>
            </a:endParaRPr>
          </a:p>
        </p:txBody>
      </p:sp>
      <p:sp>
        <p:nvSpPr>
          <p:cNvPr id="780" name=""/>
          <p:cNvSpPr txBox="1"/>
          <p:nvPr/>
        </p:nvSpPr>
        <p:spPr>
          <a:xfrm>
            <a:off x="5649120" y="3835800"/>
            <a:ext cx="704880" cy="169560"/>
          </a:xfrm>
          <a:prstGeom prst="rect">
            <a:avLst/>
          </a:prstGeom>
          <a:noFill/>
          <a:ln w="0">
            <a:noFill/>
          </a:ln>
        </p:spPr>
        <p:txBody>
          <a:bodyPr wrap="none" lIns="0" rIns="0" tIns="0" bIns="0" anchor="t">
            <a:spAutoFit/>
          </a:bodyPr>
          <a:p>
            <a:r>
              <a:rPr b="0" lang="zh-CN" sz="920" strike="noStrike" u="none">
                <a:solidFill>
                  <a:srgbClr val="a7c6d9"/>
                </a:solidFill>
                <a:effectLst/>
                <a:uFillTx/>
                <a:latin typeface="NotoSansJP"/>
                <a:ea typeface="NotoSansJP"/>
              </a:rPr>
              <a:t>化できます。</a:t>
            </a:r>
            <a:endParaRPr b="0" lang="en-US" sz="920" strike="noStrike" u="none">
              <a:solidFill>
                <a:srgbClr val="000000"/>
              </a:solidFill>
              <a:effectLst/>
              <a:uFillTx/>
              <a:latin typeface="Times New Roman"/>
            </a:endParaRPr>
          </a:p>
        </p:txBody>
      </p:sp>
      <p:sp>
        <p:nvSpPr>
          <p:cNvPr id="781" name=""/>
          <p:cNvSpPr txBox="1"/>
          <p:nvPr/>
        </p:nvSpPr>
        <p:spPr>
          <a:xfrm>
            <a:off x="5649120" y="4036320"/>
            <a:ext cx="4342680" cy="169560"/>
          </a:xfrm>
          <a:prstGeom prst="rect">
            <a:avLst/>
          </a:prstGeom>
          <a:noFill/>
          <a:ln w="0">
            <a:noFill/>
          </a:ln>
        </p:spPr>
        <p:txBody>
          <a:bodyPr wrap="none" lIns="0" rIns="0" tIns="0" bIns="0" anchor="t">
            <a:spAutoFit/>
          </a:bodyPr>
          <a:p>
            <a:r>
              <a:rPr b="0" lang="zh-CN" sz="920" strike="noStrike" u="none">
                <a:solidFill>
                  <a:srgbClr val="ffffff"/>
                </a:solidFill>
                <a:effectLst/>
                <a:uFillTx/>
                <a:latin typeface="NotoSansJP"/>
                <a:ea typeface="NotoSansJP"/>
              </a:rPr>
              <a:t>アルゴリズム最適化：</a:t>
            </a:r>
            <a:r>
              <a:rPr b="0" lang="zh-CN" sz="920" strike="noStrike" u="none">
                <a:solidFill>
                  <a:srgbClr val="a7c6d9"/>
                </a:solidFill>
                <a:effectLst/>
                <a:uFillTx/>
                <a:latin typeface="NotoSansJP"/>
                <a:ea typeface="NotoSansJP"/>
              </a:rPr>
              <a:t>中間角スペクトル法など、効率的な伝搬計算アルゴリズムを</a:t>
            </a:r>
            <a:endParaRPr b="0" lang="en-US" sz="920" strike="noStrike" u="none">
              <a:solidFill>
                <a:srgbClr val="000000"/>
              </a:solidFill>
              <a:effectLst/>
              <a:uFillTx/>
              <a:latin typeface="Times New Roman"/>
            </a:endParaRPr>
          </a:p>
        </p:txBody>
      </p:sp>
      <p:pic>
        <p:nvPicPr>
          <p:cNvPr id="782" name="" descr=""/>
          <p:cNvPicPr/>
          <p:nvPr/>
        </p:nvPicPr>
        <p:blipFill>
          <a:blip r:embed="rId9"/>
          <a:stretch/>
        </p:blipFill>
        <p:spPr>
          <a:xfrm>
            <a:off x="5649120" y="4847040"/>
            <a:ext cx="150120" cy="133200"/>
          </a:xfrm>
          <a:prstGeom prst="rect">
            <a:avLst/>
          </a:prstGeom>
          <a:noFill/>
          <a:ln w="0">
            <a:noFill/>
          </a:ln>
        </p:spPr>
      </p:pic>
      <p:sp>
        <p:nvSpPr>
          <p:cNvPr id="783" name=""/>
          <p:cNvSpPr txBox="1"/>
          <p:nvPr/>
        </p:nvSpPr>
        <p:spPr>
          <a:xfrm>
            <a:off x="5649120" y="4203360"/>
            <a:ext cx="2230200" cy="169560"/>
          </a:xfrm>
          <a:prstGeom prst="rect">
            <a:avLst/>
          </a:prstGeom>
          <a:noFill/>
          <a:ln w="0">
            <a:noFill/>
          </a:ln>
        </p:spPr>
        <p:txBody>
          <a:bodyPr wrap="none" lIns="0" rIns="0" tIns="0" bIns="0" anchor="t">
            <a:spAutoFit/>
          </a:bodyPr>
          <a:p>
            <a:r>
              <a:rPr b="0" lang="zh-CN" sz="920" strike="noStrike" u="none">
                <a:solidFill>
                  <a:srgbClr val="a7c6d9"/>
                </a:solidFill>
                <a:effectLst/>
                <a:uFillTx/>
                <a:latin typeface="NotoSansJP"/>
                <a:ea typeface="NotoSansJP"/>
              </a:rPr>
              <a:t>導入することで計算時間を短縮できます。</a:t>
            </a:r>
            <a:endParaRPr b="0" lang="en-US" sz="920" strike="noStrike" u="none">
              <a:solidFill>
                <a:srgbClr val="000000"/>
              </a:solidFill>
              <a:effectLst/>
              <a:uFillTx/>
              <a:latin typeface="Times New Roman"/>
            </a:endParaRPr>
          </a:p>
        </p:txBody>
      </p:sp>
      <p:sp>
        <p:nvSpPr>
          <p:cNvPr id="784" name=""/>
          <p:cNvSpPr txBox="1"/>
          <p:nvPr/>
        </p:nvSpPr>
        <p:spPr>
          <a:xfrm>
            <a:off x="5866560" y="4848120"/>
            <a:ext cx="1073520" cy="194040"/>
          </a:xfrm>
          <a:prstGeom prst="rect">
            <a:avLst/>
          </a:prstGeom>
          <a:noFill/>
          <a:ln w="0">
            <a:noFill/>
          </a:ln>
        </p:spPr>
        <p:txBody>
          <a:bodyPr wrap="none" lIns="0" rIns="0" tIns="0" bIns="0" anchor="t">
            <a:spAutoFit/>
          </a:bodyPr>
          <a:p>
            <a:r>
              <a:rPr b="0" lang="zh-CN" sz="1050" strike="noStrike" u="none">
                <a:solidFill>
                  <a:srgbClr val="ffffff"/>
                </a:solidFill>
                <a:effectLst/>
                <a:uFillTx/>
                <a:latin typeface="NotoSansJP"/>
                <a:ea typeface="NotoSansJP"/>
              </a:rPr>
              <a:t>眼球モデルの改良</a:t>
            </a:r>
            <a:endParaRPr b="0" lang="en-US" sz="1050" strike="noStrike" u="none">
              <a:solidFill>
                <a:srgbClr val="000000"/>
              </a:solidFill>
              <a:effectLst/>
              <a:uFillTx/>
              <a:latin typeface="Times New Roman"/>
            </a:endParaRPr>
          </a:p>
        </p:txBody>
      </p:sp>
      <p:sp>
        <p:nvSpPr>
          <p:cNvPr id="785" name=""/>
          <p:cNvSpPr txBox="1"/>
          <p:nvPr/>
        </p:nvSpPr>
        <p:spPr>
          <a:xfrm>
            <a:off x="5649120" y="5105880"/>
            <a:ext cx="4423320" cy="169560"/>
          </a:xfrm>
          <a:prstGeom prst="rect">
            <a:avLst/>
          </a:prstGeom>
          <a:noFill/>
          <a:ln w="0">
            <a:noFill/>
          </a:ln>
        </p:spPr>
        <p:txBody>
          <a:bodyPr wrap="none" lIns="0" rIns="0" tIns="0" bIns="0" anchor="t">
            <a:spAutoFit/>
          </a:bodyPr>
          <a:p>
            <a:r>
              <a:rPr b="0" lang="zh-CN" sz="920" strike="noStrike" u="none">
                <a:solidFill>
                  <a:srgbClr val="ffffff"/>
                </a:solidFill>
                <a:effectLst/>
                <a:uFillTx/>
                <a:latin typeface="NotoSansJP"/>
                <a:ea typeface="NotoSansJP"/>
              </a:rPr>
              <a:t>詳細な眼球モデル：</a:t>
            </a:r>
            <a:r>
              <a:rPr b="0" lang="en-US" sz="920" strike="noStrike" u="none">
                <a:solidFill>
                  <a:srgbClr val="a7c6d9"/>
                </a:solidFill>
                <a:effectLst/>
                <a:uFillTx/>
                <a:latin typeface="NotoSansJP"/>
                <a:ea typeface="NotoSansJP"/>
              </a:rPr>
              <a:t>Gullstrand</a:t>
            </a:r>
            <a:r>
              <a:rPr b="0" lang="zh-CN" sz="920" strike="noStrike" u="none">
                <a:solidFill>
                  <a:srgbClr val="a7c6d9"/>
                </a:solidFill>
                <a:effectLst/>
                <a:uFillTx/>
                <a:latin typeface="NotoSansJP"/>
                <a:ea typeface="NotoSansJP"/>
              </a:rPr>
              <a:t>の模型眼など、より詳細な眼球光学モデルを採用す</a:t>
            </a:r>
            <a:endParaRPr b="0" lang="en-US" sz="920" strike="noStrike" u="none">
              <a:solidFill>
                <a:srgbClr val="000000"/>
              </a:solidFill>
              <a:effectLst/>
              <a:uFillTx/>
              <a:latin typeface="Times New Roman"/>
            </a:endParaRPr>
          </a:p>
        </p:txBody>
      </p:sp>
      <p:sp>
        <p:nvSpPr>
          <p:cNvPr id="786" name=""/>
          <p:cNvSpPr txBox="1"/>
          <p:nvPr/>
        </p:nvSpPr>
        <p:spPr>
          <a:xfrm>
            <a:off x="5649120" y="5273280"/>
            <a:ext cx="1643760" cy="169560"/>
          </a:xfrm>
          <a:prstGeom prst="rect">
            <a:avLst/>
          </a:prstGeom>
          <a:noFill/>
          <a:ln w="0">
            <a:noFill/>
          </a:ln>
        </p:spPr>
        <p:txBody>
          <a:bodyPr wrap="none" lIns="0" rIns="0" tIns="0" bIns="0" anchor="t">
            <a:spAutoFit/>
          </a:bodyPr>
          <a:p>
            <a:r>
              <a:rPr b="0" lang="zh-CN" sz="920" strike="noStrike" u="none">
                <a:solidFill>
                  <a:srgbClr val="a7c6d9"/>
                </a:solidFill>
                <a:effectLst/>
                <a:uFillTx/>
                <a:latin typeface="NotoSansJP"/>
                <a:ea typeface="NotoSansJP"/>
              </a:rPr>
              <a:t>ることで精度を向上できます。</a:t>
            </a:r>
            <a:endParaRPr b="0" lang="en-US" sz="920" strike="noStrike" u="none">
              <a:solidFill>
                <a:srgbClr val="000000"/>
              </a:solidFill>
              <a:effectLst/>
              <a:uFillTx/>
              <a:latin typeface="Times New Roman"/>
            </a:endParaRPr>
          </a:p>
        </p:txBody>
      </p:sp>
      <p:sp>
        <p:nvSpPr>
          <p:cNvPr id="787" name=""/>
          <p:cNvSpPr txBox="1"/>
          <p:nvPr/>
        </p:nvSpPr>
        <p:spPr>
          <a:xfrm>
            <a:off x="5649120" y="5473800"/>
            <a:ext cx="4381920" cy="169560"/>
          </a:xfrm>
          <a:prstGeom prst="rect">
            <a:avLst/>
          </a:prstGeom>
          <a:noFill/>
          <a:ln w="0">
            <a:noFill/>
          </a:ln>
        </p:spPr>
        <p:txBody>
          <a:bodyPr wrap="none" lIns="0" rIns="0" tIns="0" bIns="0" anchor="t">
            <a:spAutoFit/>
          </a:bodyPr>
          <a:p>
            <a:r>
              <a:rPr b="0" lang="zh-CN" sz="920" strike="noStrike" u="none">
                <a:solidFill>
                  <a:srgbClr val="ffffff"/>
                </a:solidFill>
                <a:effectLst/>
                <a:uFillTx/>
                <a:latin typeface="NotoSansJP"/>
                <a:ea typeface="NotoSansJP"/>
              </a:rPr>
              <a:t>収差補正：</a:t>
            </a:r>
            <a:r>
              <a:rPr b="0" lang="en-US" sz="920" strike="noStrike" u="none">
                <a:solidFill>
                  <a:srgbClr val="a7c6d9"/>
                </a:solidFill>
                <a:effectLst/>
                <a:uFillTx/>
                <a:latin typeface="NotoSansJP"/>
                <a:ea typeface="NotoSansJP"/>
              </a:rPr>
              <a:t>Zernike</a:t>
            </a:r>
            <a:r>
              <a:rPr b="0" lang="zh-CN" sz="920" strike="noStrike" u="none">
                <a:solidFill>
                  <a:srgbClr val="a7c6d9"/>
                </a:solidFill>
                <a:effectLst/>
                <a:uFillTx/>
                <a:latin typeface="NotoSansJP"/>
                <a:ea typeface="NotoSansJP"/>
              </a:rPr>
              <a:t>多項式を用いた波面収差のモデル化により、より現実に近い視</a:t>
            </a:r>
            <a:endParaRPr b="0" lang="en-US" sz="920" strike="noStrike" u="none">
              <a:solidFill>
                <a:srgbClr val="000000"/>
              </a:solidFill>
              <a:effectLst/>
              <a:uFillTx/>
              <a:latin typeface="Times New Roman"/>
            </a:endParaRPr>
          </a:p>
        </p:txBody>
      </p:sp>
      <p:sp>
        <p:nvSpPr>
          <p:cNvPr id="788" name=""/>
          <p:cNvSpPr txBox="1"/>
          <p:nvPr/>
        </p:nvSpPr>
        <p:spPr>
          <a:xfrm>
            <a:off x="5649120" y="5640840"/>
            <a:ext cx="2112840" cy="169560"/>
          </a:xfrm>
          <a:prstGeom prst="rect">
            <a:avLst/>
          </a:prstGeom>
          <a:noFill/>
          <a:ln w="0">
            <a:noFill/>
          </a:ln>
        </p:spPr>
        <p:txBody>
          <a:bodyPr wrap="none" lIns="0" rIns="0" tIns="0" bIns="0" anchor="t">
            <a:spAutoFit/>
          </a:bodyPr>
          <a:p>
            <a:r>
              <a:rPr b="0" lang="zh-CN" sz="920" strike="noStrike" u="none">
                <a:solidFill>
                  <a:srgbClr val="a7c6d9"/>
                </a:solidFill>
                <a:effectLst/>
                <a:uFillTx/>
                <a:latin typeface="NotoSansJP"/>
                <a:ea typeface="NotoSansJP"/>
              </a:rPr>
              <a:t>覚シミュレーションが可能になります。</a:t>
            </a:r>
            <a:endParaRPr b="0" lang="en-US" sz="920" strike="noStrike" u="none">
              <a:solidFill>
                <a:srgbClr val="000000"/>
              </a:solidFill>
              <a:effectLst/>
              <a:uFillTx/>
              <a:latin typeface="Times New Roman"/>
            </a:endParaRPr>
          </a:p>
        </p:txBody>
      </p:sp>
      <p:sp>
        <p:nvSpPr>
          <p:cNvPr id="789" name=""/>
          <p:cNvSpPr txBox="1"/>
          <p:nvPr/>
        </p:nvSpPr>
        <p:spPr>
          <a:xfrm>
            <a:off x="10136520" y="5741280"/>
            <a:ext cx="413640" cy="136080"/>
          </a:xfrm>
          <a:prstGeom prst="rect">
            <a:avLst/>
          </a:prstGeom>
          <a:noFill/>
          <a:ln w="0">
            <a:noFill/>
          </a:ln>
        </p:spPr>
        <p:txBody>
          <a:bodyPr wrap="none" lIns="0" rIns="0" tIns="0" bIns="0" anchor="t">
            <a:spAutoFit/>
          </a:bodyPr>
          <a:p>
            <a:r>
              <a:rPr b="0" lang="en-US" sz="920" strike="noStrike" u="none">
                <a:solidFill>
                  <a:srgbClr val="a7c6d9"/>
                </a:solidFill>
                <a:effectLst/>
                <a:uFillTx/>
                <a:latin typeface="NotoSansJP"/>
                <a:ea typeface="NotoSansJP"/>
              </a:rPr>
              <a:t>12 / 13</a:t>
            </a:r>
            <a:endParaRPr b="0" lang="en-US" sz="920" strike="noStrike" u="non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90" name=""/>
          <p:cNvSpPr/>
          <p:nvPr/>
        </p:nvSpPr>
        <p:spPr>
          <a:xfrm>
            <a:off x="0" y="0"/>
            <a:ext cx="10696680" cy="6017040"/>
          </a:xfrm>
          <a:custGeom>
            <a:avLst/>
            <a:gdLst/>
            <a:ahLst/>
            <a:rect l="0" t="0" r="r" b="b"/>
            <a:pathLst>
              <a:path w="29713" h="16714">
                <a:moveTo>
                  <a:pt x="0" y="0"/>
                </a:moveTo>
                <a:lnTo>
                  <a:pt x="29713" y="0"/>
                </a:lnTo>
                <a:lnTo>
                  <a:pt x="29713" y="16714"/>
                </a:lnTo>
                <a:lnTo>
                  <a:pt x="0" y="16714"/>
                </a:lnTo>
                <a:lnTo>
                  <a:pt x="0" y="0"/>
                </a:lnTo>
                <a:close/>
              </a:path>
            </a:pathLst>
          </a:custGeom>
          <a:solidFill>
            <a:srgbClr val="1c3d5a"/>
          </a:solidFill>
          <a:ln w="0">
            <a:noFill/>
          </a:ln>
        </p:spPr>
        <p:txBody>
          <a:bodyPr lIns="0" rIns="0" tIns="0" bIns="0" anchor="t">
            <a:noAutofit/>
          </a:bodyPr>
          <a:p>
            <a:endParaRPr b="0" lang="en-US" sz="2400" strike="noStrike" u="none">
              <a:solidFill>
                <a:srgbClr val="ffffff"/>
              </a:solidFill>
              <a:effectLst/>
              <a:uFillTx/>
              <a:latin typeface="Times New Roman"/>
            </a:endParaRPr>
          </a:p>
        </p:txBody>
      </p:sp>
      <p:pic>
        <p:nvPicPr>
          <p:cNvPr id="791" name="" descr=""/>
          <p:cNvPicPr/>
          <p:nvPr/>
        </p:nvPicPr>
        <p:blipFill>
          <a:blip r:embed="rId1"/>
          <a:stretch/>
        </p:blipFill>
        <p:spPr>
          <a:xfrm>
            <a:off x="0" y="0"/>
            <a:ext cx="10696320" cy="6016320"/>
          </a:xfrm>
          <a:prstGeom prst="rect">
            <a:avLst/>
          </a:prstGeom>
          <a:noFill/>
          <a:ln w="0">
            <a:noFill/>
          </a:ln>
        </p:spPr>
      </p:pic>
      <p:sp>
        <p:nvSpPr>
          <p:cNvPr id="792" name=""/>
          <p:cNvSpPr/>
          <p:nvPr/>
        </p:nvSpPr>
        <p:spPr>
          <a:xfrm>
            <a:off x="534600" y="601560"/>
            <a:ext cx="1069920" cy="33840"/>
          </a:xfrm>
          <a:custGeom>
            <a:avLst/>
            <a:gdLst/>
            <a:ahLst/>
            <a:rect l="0" t="0" r="r" b="b"/>
            <a:pathLst>
              <a:path w="2972" h="94">
                <a:moveTo>
                  <a:pt x="0" y="0"/>
                </a:moveTo>
                <a:lnTo>
                  <a:pt x="2972" y="0"/>
                </a:lnTo>
                <a:lnTo>
                  <a:pt x="2972" y="94"/>
                </a:lnTo>
                <a:lnTo>
                  <a:pt x="0" y="94"/>
                </a:lnTo>
                <a:lnTo>
                  <a:pt x="0" y="0"/>
                </a:lnTo>
                <a:close/>
              </a:path>
            </a:pathLst>
          </a:custGeom>
          <a:solidFill>
            <a:srgbClr val="ff8c00"/>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793" name=""/>
          <p:cNvSpPr/>
          <p:nvPr/>
        </p:nvSpPr>
        <p:spPr>
          <a:xfrm>
            <a:off x="534600" y="935640"/>
            <a:ext cx="9627480" cy="1504800"/>
          </a:xfrm>
          <a:custGeom>
            <a:avLst/>
            <a:gdLst/>
            <a:ahLst/>
            <a:rect l="0" t="0" r="r" b="b"/>
            <a:pathLst>
              <a:path w="26743" h="4180">
                <a:moveTo>
                  <a:pt x="0" y="3994"/>
                </a:moveTo>
                <a:lnTo>
                  <a:pt x="0" y="186"/>
                </a:lnTo>
                <a:cubicBezTo>
                  <a:pt x="0" y="174"/>
                  <a:pt x="1" y="162"/>
                  <a:pt x="4" y="150"/>
                </a:cubicBezTo>
                <a:cubicBezTo>
                  <a:pt x="6" y="138"/>
                  <a:pt x="10" y="126"/>
                  <a:pt x="14" y="115"/>
                </a:cubicBezTo>
                <a:cubicBezTo>
                  <a:pt x="19" y="104"/>
                  <a:pt x="25" y="93"/>
                  <a:pt x="31" y="83"/>
                </a:cubicBezTo>
                <a:cubicBezTo>
                  <a:pt x="38" y="73"/>
                  <a:pt x="46" y="63"/>
                  <a:pt x="55" y="55"/>
                </a:cubicBezTo>
                <a:cubicBezTo>
                  <a:pt x="63" y="46"/>
                  <a:pt x="73" y="38"/>
                  <a:pt x="83" y="32"/>
                </a:cubicBezTo>
                <a:cubicBezTo>
                  <a:pt x="93" y="25"/>
                  <a:pt x="104" y="19"/>
                  <a:pt x="115" y="14"/>
                </a:cubicBezTo>
                <a:cubicBezTo>
                  <a:pt x="126" y="10"/>
                  <a:pt x="138" y="6"/>
                  <a:pt x="150" y="4"/>
                </a:cubicBezTo>
                <a:cubicBezTo>
                  <a:pt x="162" y="2"/>
                  <a:pt x="174" y="0"/>
                  <a:pt x="186" y="0"/>
                </a:cubicBezTo>
                <a:lnTo>
                  <a:pt x="26557" y="0"/>
                </a:lnTo>
                <a:cubicBezTo>
                  <a:pt x="26569" y="0"/>
                  <a:pt x="26581" y="2"/>
                  <a:pt x="26593" y="4"/>
                </a:cubicBezTo>
                <a:cubicBezTo>
                  <a:pt x="26605" y="6"/>
                  <a:pt x="26617" y="10"/>
                  <a:pt x="26628" y="14"/>
                </a:cubicBezTo>
                <a:cubicBezTo>
                  <a:pt x="26639" y="19"/>
                  <a:pt x="26650" y="25"/>
                  <a:pt x="26660" y="32"/>
                </a:cubicBezTo>
                <a:cubicBezTo>
                  <a:pt x="26670" y="38"/>
                  <a:pt x="26680" y="46"/>
                  <a:pt x="26688" y="55"/>
                </a:cubicBezTo>
                <a:cubicBezTo>
                  <a:pt x="26697" y="63"/>
                  <a:pt x="26704" y="73"/>
                  <a:pt x="26711" y="83"/>
                </a:cubicBezTo>
                <a:cubicBezTo>
                  <a:pt x="26718" y="93"/>
                  <a:pt x="26724" y="104"/>
                  <a:pt x="26728" y="115"/>
                </a:cubicBezTo>
                <a:cubicBezTo>
                  <a:pt x="26733" y="126"/>
                  <a:pt x="26737" y="138"/>
                  <a:pt x="26739" y="150"/>
                </a:cubicBezTo>
                <a:cubicBezTo>
                  <a:pt x="26741" y="162"/>
                  <a:pt x="26743" y="174"/>
                  <a:pt x="26743" y="186"/>
                </a:cubicBezTo>
                <a:lnTo>
                  <a:pt x="26743" y="3994"/>
                </a:lnTo>
                <a:cubicBezTo>
                  <a:pt x="26743" y="4006"/>
                  <a:pt x="26741" y="4018"/>
                  <a:pt x="26739" y="4030"/>
                </a:cubicBezTo>
                <a:cubicBezTo>
                  <a:pt x="26737" y="4042"/>
                  <a:pt x="26733" y="4054"/>
                  <a:pt x="26728" y="4065"/>
                </a:cubicBezTo>
                <a:cubicBezTo>
                  <a:pt x="26724" y="4076"/>
                  <a:pt x="26718" y="4087"/>
                  <a:pt x="26711" y="4097"/>
                </a:cubicBezTo>
                <a:cubicBezTo>
                  <a:pt x="26704" y="4107"/>
                  <a:pt x="26697" y="4117"/>
                  <a:pt x="26688" y="4125"/>
                </a:cubicBezTo>
                <a:cubicBezTo>
                  <a:pt x="26680" y="4134"/>
                  <a:pt x="26670" y="4142"/>
                  <a:pt x="26660" y="4148"/>
                </a:cubicBezTo>
                <a:cubicBezTo>
                  <a:pt x="26650" y="4155"/>
                  <a:pt x="26639" y="4161"/>
                  <a:pt x="26628" y="4166"/>
                </a:cubicBezTo>
                <a:cubicBezTo>
                  <a:pt x="26617" y="4170"/>
                  <a:pt x="26605" y="4174"/>
                  <a:pt x="26593" y="4176"/>
                </a:cubicBezTo>
                <a:cubicBezTo>
                  <a:pt x="26581" y="4179"/>
                  <a:pt x="26569" y="4180"/>
                  <a:pt x="26557" y="4180"/>
                </a:cubicBezTo>
                <a:lnTo>
                  <a:pt x="186" y="4180"/>
                </a:lnTo>
                <a:cubicBezTo>
                  <a:pt x="174" y="4180"/>
                  <a:pt x="162" y="4179"/>
                  <a:pt x="150" y="4176"/>
                </a:cubicBezTo>
                <a:cubicBezTo>
                  <a:pt x="138" y="4174"/>
                  <a:pt x="126" y="4170"/>
                  <a:pt x="115" y="4166"/>
                </a:cubicBezTo>
                <a:cubicBezTo>
                  <a:pt x="104" y="4161"/>
                  <a:pt x="93" y="4155"/>
                  <a:pt x="83" y="4148"/>
                </a:cubicBezTo>
                <a:cubicBezTo>
                  <a:pt x="73" y="4142"/>
                  <a:pt x="63" y="4134"/>
                  <a:pt x="55" y="4125"/>
                </a:cubicBezTo>
                <a:cubicBezTo>
                  <a:pt x="46" y="4117"/>
                  <a:pt x="38" y="4107"/>
                  <a:pt x="31" y="4097"/>
                </a:cubicBezTo>
                <a:cubicBezTo>
                  <a:pt x="25" y="4087"/>
                  <a:pt x="19" y="4076"/>
                  <a:pt x="14" y="4065"/>
                </a:cubicBezTo>
                <a:cubicBezTo>
                  <a:pt x="10" y="4054"/>
                  <a:pt x="6" y="4042"/>
                  <a:pt x="4" y="4030"/>
                </a:cubicBezTo>
                <a:cubicBezTo>
                  <a:pt x="1" y="4018"/>
                  <a:pt x="0" y="4006"/>
                  <a:pt x="0" y="3994"/>
                </a:cubicBezTo>
                <a:close/>
              </a:path>
            </a:pathLst>
          </a:custGeom>
          <a:solidFill>
            <a:srgbClr val="ffffff">
              <a:alpha val="10000"/>
            </a:srgbClr>
          </a:solidFill>
          <a:ln w="0">
            <a:noFill/>
          </a:ln>
        </p:spPr>
        <p:txBody>
          <a:bodyPr lIns="0" rIns="0" tIns="0" bIns="0" anchor="t">
            <a:noAutofit/>
          </a:bodyPr>
          <a:p>
            <a:endParaRPr b="0" lang="en-US" sz="2400" strike="noStrike" u="none">
              <a:solidFill>
                <a:srgbClr val="000000"/>
              </a:solidFill>
              <a:effectLst/>
              <a:uFillTx/>
              <a:latin typeface="Times New Roman"/>
            </a:endParaRPr>
          </a:p>
        </p:txBody>
      </p:sp>
      <p:pic>
        <p:nvPicPr>
          <p:cNvPr id="794" name="" descr=""/>
          <p:cNvPicPr/>
          <p:nvPr/>
        </p:nvPicPr>
        <p:blipFill>
          <a:blip r:embed="rId2"/>
          <a:stretch/>
        </p:blipFill>
        <p:spPr>
          <a:xfrm>
            <a:off x="534960" y="5816160"/>
            <a:ext cx="9626400" cy="943920"/>
          </a:xfrm>
          <a:prstGeom prst="rect">
            <a:avLst/>
          </a:prstGeom>
          <a:noFill/>
          <a:ln w="0">
            <a:noFill/>
          </a:ln>
        </p:spPr>
      </p:pic>
      <p:pic>
        <p:nvPicPr>
          <p:cNvPr id="795" name="" descr=""/>
          <p:cNvPicPr/>
          <p:nvPr/>
        </p:nvPicPr>
        <p:blipFill>
          <a:blip r:embed="rId3"/>
          <a:stretch/>
        </p:blipFill>
        <p:spPr>
          <a:xfrm>
            <a:off x="735480" y="1170000"/>
            <a:ext cx="200160" cy="200160"/>
          </a:xfrm>
          <a:prstGeom prst="rect">
            <a:avLst/>
          </a:prstGeom>
          <a:noFill/>
          <a:ln w="0">
            <a:noFill/>
          </a:ln>
        </p:spPr>
      </p:pic>
      <p:sp>
        <p:nvSpPr>
          <p:cNvPr id="796" name=""/>
          <p:cNvSpPr txBox="1"/>
          <p:nvPr/>
        </p:nvSpPr>
        <p:spPr>
          <a:xfrm>
            <a:off x="534960" y="222120"/>
            <a:ext cx="2702880" cy="436320"/>
          </a:xfrm>
          <a:prstGeom prst="rect">
            <a:avLst/>
          </a:prstGeom>
          <a:noFill/>
          <a:ln w="0">
            <a:noFill/>
          </a:ln>
        </p:spPr>
        <p:txBody>
          <a:bodyPr wrap="none" lIns="0" rIns="0" tIns="0" bIns="0" anchor="t">
            <a:spAutoFit/>
          </a:bodyPr>
          <a:p>
            <a:r>
              <a:rPr b="0" lang="zh-CN" sz="2370" strike="noStrike" u="none">
                <a:solidFill>
                  <a:srgbClr val="ffffff"/>
                </a:solidFill>
                <a:effectLst/>
                <a:uFillTx/>
                <a:latin typeface="NotoSansJP"/>
                <a:ea typeface="NotoSansJP"/>
              </a:rPr>
              <a:t>まとめと今後の展望</a:t>
            </a:r>
            <a:endParaRPr b="0" lang="en-US" sz="2370" strike="noStrike" u="none">
              <a:solidFill>
                <a:srgbClr val="000000"/>
              </a:solidFill>
              <a:effectLst/>
              <a:uFillTx/>
              <a:latin typeface="Times New Roman"/>
            </a:endParaRPr>
          </a:p>
        </p:txBody>
      </p:sp>
      <p:sp>
        <p:nvSpPr>
          <p:cNvPr id="797" name=""/>
          <p:cNvSpPr txBox="1"/>
          <p:nvPr/>
        </p:nvSpPr>
        <p:spPr>
          <a:xfrm>
            <a:off x="1036080" y="1167840"/>
            <a:ext cx="1609920" cy="291600"/>
          </a:xfrm>
          <a:prstGeom prst="rect">
            <a:avLst/>
          </a:prstGeom>
          <a:noFill/>
          <a:ln w="0">
            <a:noFill/>
          </a:ln>
        </p:spPr>
        <p:txBody>
          <a:bodyPr wrap="none" lIns="0" rIns="0" tIns="0" bIns="0" anchor="t">
            <a:spAutoFit/>
          </a:bodyPr>
          <a:p>
            <a:r>
              <a:rPr b="0" lang="zh-CN" sz="1580" strike="noStrike" u="none">
                <a:solidFill>
                  <a:srgbClr val="a7c6d9"/>
                </a:solidFill>
                <a:effectLst/>
                <a:uFillTx/>
                <a:latin typeface="NotoSansJP"/>
                <a:ea typeface="NotoSansJP"/>
              </a:rPr>
              <a:t>プログラムの概要</a:t>
            </a:r>
            <a:endParaRPr b="0" lang="en-US" sz="1580" strike="noStrike" u="none">
              <a:solidFill>
                <a:srgbClr val="000000"/>
              </a:solidFill>
              <a:effectLst/>
              <a:uFillTx/>
              <a:latin typeface="Times New Roman"/>
            </a:endParaRPr>
          </a:p>
        </p:txBody>
      </p:sp>
      <p:sp>
        <p:nvSpPr>
          <p:cNvPr id="798" name=""/>
          <p:cNvSpPr txBox="1"/>
          <p:nvPr/>
        </p:nvSpPr>
        <p:spPr>
          <a:xfrm>
            <a:off x="735480" y="1548360"/>
            <a:ext cx="9430200" cy="219960"/>
          </a:xfrm>
          <a:prstGeom prst="rect">
            <a:avLst/>
          </a:prstGeom>
          <a:noFill/>
          <a:ln w="0">
            <a:noFill/>
          </a:ln>
        </p:spPr>
        <p:txBody>
          <a:bodyPr wrap="none" lIns="0" rIns="0" tIns="0" bIns="0" anchor="t">
            <a:spAutoFit/>
          </a:bodyPr>
          <a:p>
            <a:r>
              <a:rPr b="0" lang="zh-CN" sz="1180" strike="noStrike" u="none">
                <a:solidFill>
                  <a:srgbClr val="ffffff"/>
                </a:solidFill>
                <a:effectLst/>
                <a:uFillTx/>
                <a:latin typeface="NotoSansJP"/>
                <a:ea typeface="NotoSansJP"/>
              </a:rPr>
              <a:t>本プログラムは、</a:t>
            </a:r>
            <a:r>
              <a:rPr b="0" lang="en-US" sz="1180" strike="noStrike" u="none">
                <a:solidFill>
                  <a:srgbClr val="ffffff"/>
                </a:solidFill>
                <a:effectLst/>
                <a:uFillTx/>
                <a:latin typeface="NotoSansJP"/>
                <a:ea typeface="NotoSansJP"/>
              </a:rPr>
              <a:t>CGH</a:t>
            </a:r>
            <a:r>
              <a:rPr b="0" lang="zh-CN" sz="1180" strike="noStrike" u="none">
                <a:solidFill>
                  <a:srgbClr val="ffffff"/>
                </a:solidFill>
                <a:effectLst/>
                <a:uFillTx/>
                <a:latin typeface="NotoSansJP"/>
                <a:ea typeface="NotoSansJP"/>
              </a:rPr>
              <a:t>から再生像を得るための一連の計算処理を実装したものです。</a:t>
            </a:r>
            <a:r>
              <a:rPr b="0" lang="en-US" sz="1180" strike="noStrike" u="none">
                <a:solidFill>
                  <a:srgbClr val="ffffff"/>
                </a:solidFill>
                <a:effectLst/>
                <a:uFillTx/>
                <a:latin typeface="NotoSansJP"/>
                <a:ea typeface="NotoSansJP"/>
              </a:rPr>
              <a:t>CGH</a:t>
            </a:r>
            <a:r>
              <a:rPr b="0" lang="zh-CN" sz="1180" strike="noStrike" u="none">
                <a:solidFill>
                  <a:srgbClr val="ffffff"/>
                </a:solidFill>
                <a:effectLst/>
                <a:uFillTx/>
                <a:latin typeface="NotoSansJP"/>
                <a:ea typeface="NotoSansJP"/>
              </a:rPr>
              <a:t>データに参照光を乗算し、角スペクトル法で瞳</a:t>
            </a:r>
            <a:endParaRPr b="0" lang="en-US" sz="1180" strike="noStrike" u="none">
              <a:solidFill>
                <a:srgbClr val="000000"/>
              </a:solidFill>
              <a:effectLst/>
              <a:uFillTx/>
              <a:latin typeface="Times New Roman"/>
            </a:endParaRPr>
          </a:p>
        </p:txBody>
      </p:sp>
      <p:sp>
        <p:nvSpPr>
          <p:cNvPr id="799" name=""/>
          <p:cNvSpPr txBox="1"/>
          <p:nvPr/>
        </p:nvSpPr>
        <p:spPr>
          <a:xfrm>
            <a:off x="735480" y="1790640"/>
            <a:ext cx="9379080" cy="219960"/>
          </a:xfrm>
          <a:prstGeom prst="rect">
            <a:avLst/>
          </a:prstGeom>
          <a:noFill/>
          <a:ln w="0">
            <a:noFill/>
          </a:ln>
        </p:spPr>
        <p:txBody>
          <a:bodyPr wrap="none" lIns="0" rIns="0" tIns="0" bIns="0" anchor="t">
            <a:spAutoFit/>
          </a:bodyPr>
          <a:p>
            <a:r>
              <a:rPr b="0" lang="zh-CN" sz="1180" strike="noStrike" u="none">
                <a:solidFill>
                  <a:srgbClr val="ffffff"/>
                </a:solidFill>
                <a:effectLst/>
                <a:uFillTx/>
                <a:latin typeface="NotoSansJP"/>
                <a:ea typeface="NotoSansJP"/>
              </a:rPr>
              <a:t>面まで伝搬させ、瞳レンズの</a:t>
            </a:r>
            <a:r>
              <a:rPr b="0" lang="en-US" sz="1180" strike="noStrike" u="none">
                <a:solidFill>
                  <a:srgbClr val="ffffff"/>
                </a:solidFill>
                <a:effectLst/>
                <a:uFillTx/>
                <a:latin typeface="NotoSansJP"/>
                <a:ea typeface="NotoSansJP"/>
              </a:rPr>
              <a:t>2</a:t>
            </a:r>
            <a:r>
              <a:rPr b="0" lang="zh-CN" sz="1180" strike="noStrike" u="none">
                <a:solidFill>
                  <a:srgbClr val="ffffff"/>
                </a:solidFill>
                <a:effectLst/>
                <a:uFillTx/>
                <a:latin typeface="NotoSansJP"/>
                <a:ea typeface="NotoSansJP"/>
              </a:rPr>
              <a:t>次位相を模擬し、最終的に網膜面まで伝搬することで、結像した再生像を取得します。この処理フローによ</a:t>
            </a:r>
            <a:endParaRPr b="0" lang="en-US" sz="1180" strike="noStrike" u="none">
              <a:solidFill>
                <a:srgbClr val="000000"/>
              </a:solidFill>
              <a:effectLst/>
              <a:uFillTx/>
              <a:latin typeface="Times New Roman"/>
            </a:endParaRPr>
          </a:p>
        </p:txBody>
      </p:sp>
      <p:sp>
        <p:nvSpPr>
          <p:cNvPr id="800" name=""/>
          <p:cNvSpPr/>
          <p:nvPr/>
        </p:nvSpPr>
        <p:spPr>
          <a:xfrm>
            <a:off x="534600" y="3108600"/>
            <a:ext cx="4680000" cy="835920"/>
          </a:xfrm>
          <a:custGeom>
            <a:avLst/>
            <a:gdLst/>
            <a:ahLst/>
            <a:rect l="0" t="0" r="r" b="b"/>
            <a:pathLst>
              <a:path w="13000" h="2322">
                <a:moveTo>
                  <a:pt x="0" y="2136"/>
                </a:moveTo>
                <a:lnTo>
                  <a:pt x="0" y="185"/>
                </a:lnTo>
                <a:cubicBezTo>
                  <a:pt x="0" y="173"/>
                  <a:pt x="1" y="161"/>
                  <a:pt x="4" y="149"/>
                </a:cubicBezTo>
                <a:cubicBezTo>
                  <a:pt x="6" y="137"/>
                  <a:pt x="10" y="126"/>
                  <a:pt x="14" y="114"/>
                </a:cubicBezTo>
                <a:cubicBezTo>
                  <a:pt x="19" y="103"/>
                  <a:pt x="25" y="92"/>
                  <a:pt x="31" y="82"/>
                </a:cubicBezTo>
                <a:cubicBezTo>
                  <a:pt x="38" y="72"/>
                  <a:pt x="46" y="63"/>
                  <a:pt x="55" y="54"/>
                </a:cubicBezTo>
                <a:cubicBezTo>
                  <a:pt x="63" y="46"/>
                  <a:pt x="73" y="38"/>
                  <a:pt x="83" y="31"/>
                </a:cubicBezTo>
                <a:cubicBezTo>
                  <a:pt x="93" y="24"/>
                  <a:pt x="104" y="19"/>
                  <a:pt x="115" y="14"/>
                </a:cubicBezTo>
                <a:cubicBezTo>
                  <a:pt x="126" y="9"/>
                  <a:pt x="138" y="6"/>
                  <a:pt x="150" y="3"/>
                </a:cubicBezTo>
                <a:cubicBezTo>
                  <a:pt x="162" y="1"/>
                  <a:pt x="174" y="0"/>
                  <a:pt x="186" y="0"/>
                </a:cubicBezTo>
                <a:lnTo>
                  <a:pt x="12815" y="0"/>
                </a:lnTo>
                <a:cubicBezTo>
                  <a:pt x="12827" y="0"/>
                  <a:pt x="12839" y="1"/>
                  <a:pt x="12851" y="3"/>
                </a:cubicBezTo>
                <a:cubicBezTo>
                  <a:pt x="12863" y="6"/>
                  <a:pt x="12875" y="9"/>
                  <a:pt x="12886" y="14"/>
                </a:cubicBezTo>
                <a:cubicBezTo>
                  <a:pt x="12897" y="19"/>
                  <a:pt x="12908" y="24"/>
                  <a:pt x="12918" y="31"/>
                </a:cubicBezTo>
                <a:cubicBezTo>
                  <a:pt x="12928" y="38"/>
                  <a:pt x="12937" y="46"/>
                  <a:pt x="12946" y="54"/>
                </a:cubicBezTo>
                <a:cubicBezTo>
                  <a:pt x="12955" y="63"/>
                  <a:pt x="12962" y="72"/>
                  <a:pt x="12969" y="82"/>
                </a:cubicBezTo>
                <a:cubicBezTo>
                  <a:pt x="12976" y="92"/>
                  <a:pt x="12982" y="103"/>
                  <a:pt x="12986" y="114"/>
                </a:cubicBezTo>
                <a:cubicBezTo>
                  <a:pt x="12991" y="126"/>
                  <a:pt x="12994" y="137"/>
                  <a:pt x="12997" y="149"/>
                </a:cubicBezTo>
                <a:cubicBezTo>
                  <a:pt x="12999" y="161"/>
                  <a:pt x="13000" y="173"/>
                  <a:pt x="13000" y="185"/>
                </a:cubicBezTo>
                <a:lnTo>
                  <a:pt x="13000" y="2136"/>
                </a:lnTo>
                <a:cubicBezTo>
                  <a:pt x="13000" y="2149"/>
                  <a:pt x="12999" y="2161"/>
                  <a:pt x="12997" y="2173"/>
                </a:cubicBezTo>
                <a:cubicBezTo>
                  <a:pt x="12994" y="2185"/>
                  <a:pt x="12991" y="2196"/>
                  <a:pt x="12986" y="2207"/>
                </a:cubicBezTo>
                <a:cubicBezTo>
                  <a:pt x="12982" y="2219"/>
                  <a:pt x="12976" y="2229"/>
                  <a:pt x="12969" y="2240"/>
                </a:cubicBezTo>
                <a:cubicBezTo>
                  <a:pt x="12962" y="2250"/>
                  <a:pt x="12955" y="2259"/>
                  <a:pt x="12946" y="2268"/>
                </a:cubicBezTo>
                <a:cubicBezTo>
                  <a:pt x="12937" y="2276"/>
                  <a:pt x="12928" y="2284"/>
                  <a:pt x="12918" y="2291"/>
                </a:cubicBezTo>
                <a:cubicBezTo>
                  <a:pt x="12908" y="2298"/>
                  <a:pt x="12897" y="2303"/>
                  <a:pt x="12886" y="2308"/>
                </a:cubicBezTo>
                <a:cubicBezTo>
                  <a:pt x="12875" y="2313"/>
                  <a:pt x="12863" y="2316"/>
                  <a:pt x="12851" y="2318"/>
                </a:cubicBezTo>
                <a:cubicBezTo>
                  <a:pt x="12839" y="2321"/>
                  <a:pt x="12827" y="2322"/>
                  <a:pt x="12815" y="2322"/>
                </a:cubicBezTo>
                <a:lnTo>
                  <a:pt x="186" y="2322"/>
                </a:lnTo>
                <a:cubicBezTo>
                  <a:pt x="174" y="2322"/>
                  <a:pt x="162" y="2321"/>
                  <a:pt x="150" y="2318"/>
                </a:cubicBezTo>
                <a:cubicBezTo>
                  <a:pt x="138" y="2316"/>
                  <a:pt x="126" y="2313"/>
                  <a:pt x="115" y="2308"/>
                </a:cubicBezTo>
                <a:cubicBezTo>
                  <a:pt x="104" y="2303"/>
                  <a:pt x="93" y="2298"/>
                  <a:pt x="83" y="2291"/>
                </a:cubicBezTo>
                <a:cubicBezTo>
                  <a:pt x="73" y="2284"/>
                  <a:pt x="63" y="2276"/>
                  <a:pt x="55" y="2268"/>
                </a:cubicBezTo>
                <a:cubicBezTo>
                  <a:pt x="46" y="2259"/>
                  <a:pt x="38" y="2250"/>
                  <a:pt x="31" y="2240"/>
                </a:cubicBezTo>
                <a:cubicBezTo>
                  <a:pt x="25" y="2229"/>
                  <a:pt x="19" y="2219"/>
                  <a:pt x="14" y="2207"/>
                </a:cubicBezTo>
                <a:cubicBezTo>
                  <a:pt x="10" y="2196"/>
                  <a:pt x="6" y="2185"/>
                  <a:pt x="4" y="2173"/>
                </a:cubicBezTo>
                <a:cubicBezTo>
                  <a:pt x="1" y="2161"/>
                  <a:pt x="0" y="2149"/>
                  <a:pt x="0" y="2136"/>
                </a:cubicBezTo>
                <a:close/>
              </a:path>
            </a:pathLst>
          </a:custGeom>
          <a:solidFill>
            <a:srgbClr val="ffffff">
              <a:alpha val="10000"/>
            </a:srgbClr>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801" name=""/>
          <p:cNvSpPr/>
          <p:nvPr/>
        </p:nvSpPr>
        <p:spPr>
          <a:xfrm>
            <a:off x="534600" y="4077720"/>
            <a:ext cx="4680000" cy="669240"/>
          </a:xfrm>
          <a:custGeom>
            <a:avLst/>
            <a:gdLst/>
            <a:ahLst/>
            <a:rect l="0" t="0" r="r" b="b"/>
            <a:pathLst>
              <a:path w="13000" h="1859">
                <a:moveTo>
                  <a:pt x="0" y="1673"/>
                </a:moveTo>
                <a:lnTo>
                  <a:pt x="0" y="186"/>
                </a:lnTo>
                <a:cubicBezTo>
                  <a:pt x="0" y="174"/>
                  <a:pt x="1" y="162"/>
                  <a:pt x="4" y="150"/>
                </a:cubicBezTo>
                <a:cubicBezTo>
                  <a:pt x="6" y="138"/>
                  <a:pt x="10" y="126"/>
                  <a:pt x="14" y="115"/>
                </a:cubicBezTo>
                <a:cubicBezTo>
                  <a:pt x="19" y="104"/>
                  <a:pt x="25" y="93"/>
                  <a:pt x="31" y="83"/>
                </a:cubicBezTo>
                <a:cubicBezTo>
                  <a:pt x="38" y="73"/>
                  <a:pt x="46" y="63"/>
                  <a:pt x="55" y="55"/>
                </a:cubicBezTo>
                <a:cubicBezTo>
                  <a:pt x="63" y="46"/>
                  <a:pt x="73" y="39"/>
                  <a:pt x="83" y="32"/>
                </a:cubicBezTo>
                <a:cubicBezTo>
                  <a:pt x="93" y="25"/>
                  <a:pt x="104" y="19"/>
                  <a:pt x="115" y="15"/>
                </a:cubicBezTo>
                <a:cubicBezTo>
                  <a:pt x="126" y="10"/>
                  <a:pt x="138" y="6"/>
                  <a:pt x="150" y="4"/>
                </a:cubicBezTo>
                <a:cubicBezTo>
                  <a:pt x="162" y="2"/>
                  <a:pt x="174" y="0"/>
                  <a:pt x="186" y="0"/>
                </a:cubicBezTo>
                <a:lnTo>
                  <a:pt x="12815" y="0"/>
                </a:lnTo>
                <a:cubicBezTo>
                  <a:pt x="12827" y="0"/>
                  <a:pt x="12839" y="2"/>
                  <a:pt x="12851" y="4"/>
                </a:cubicBezTo>
                <a:cubicBezTo>
                  <a:pt x="12863" y="6"/>
                  <a:pt x="12875" y="10"/>
                  <a:pt x="12886" y="15"/>
                </a:cubicBezTo>
                <a:cubicBezTo>
                  <a:pt x="12897" y="19"/>
                  <a:pt x="12908" y="25"/>
                  <a:pt x="12918" y="32"/>
                </a:cubicBezTo>
                <a:cubicBezTo>
                  <a:pt x="12928" y="39"/>
                  <a:pt x="12937" y="46"/>
                  <a:pt x="12946" y="55"/>
                </a:cubicBezTo>
                <a:cubicBezTo>
                  <a:pt x="12955" y="63"/>
                  <a:pt x="12962" y="73"/>
                  <a:pt x="12969" y="83"/>
                </a:cubicBezTo>
                <a:cubicBezTo>
                  <a:pt x="12976" y="93"/>
                  <a:pt x="12982" y="104"/>
                  <a:pt x="12986" y="115"/>
                </a:cubicBezTo>
                <a:cubicBezTo>
                  <a:pt x="12991" y="126"/>
                  <a:pt x="12994" y="138"/>
                  <a:pt x="12997" y="150"/>
                </a:cubicBezTo>
                <a:cubicBezTo>
                  <a:pt x="12999" y="162"/>
                  <a:pt x="13000" y="174"/>
                  <a:pt x="13000" y="186"/>
                </a:cubicBezTo>
                <a:lnTo>
                  <a:pt x="13000" y="1673"/>
                </a:lnTo>
                <a:cubicBezTo>
                  <a:pt x="13000" y="1685"/>
                  <a:pt x="12999" y="1697"/>
                  <a:pt x="12997" y="1709"/>
                </a:cubicBezTo>
                <a:cubicBezTo>
                  <a:pt x="12994" y="1721"/>
                  <a:pt x="12991" y="1733"/>
                  <a:pt x="12986" y="1744"/>
                </a:cubicBezTo>
                <a:cubicBezTo>
                  <a:pt x="12982" y="1755"/>
                  <a:pt x="12976" y="1766"/>
                  <a:pt x="12969" y="1776"/>
                </a:cubicBezTo>
                <a:cubicBezTo>
                  <a:pt x="12962" y="1786"/>
                  <a:pt x="12955" y="1795"/>
                  <a:pt x="12946" y="1804"/>
                </a:cubicBezTo>
                <a:cubicBezTo>
                  <a:pt x="12937" y="1813"/>
                  <a:pt x="12928" y="1820"/>
                  <a:pt x="12918" y="1827"/>
                </a:cubicBezTo>
                <a:cubicBezTo>
                  <a:pt x="12908" y="1834"/>
                  <a:pt x="12897" y="1840"/>
                  <a:pt x="12886" y="1844"/>
                </a:cubicBezTo>
                <a:cubicBezTo>
                  <a:pt x="12875" y="1849"/>
                  <a:pt x="12863" y="1853"/>
                  <a:pt x="12851" y="1855"/>
                </a:cubicBezTo>
                <a:cubicBezTo>
                  <a:pt x="12839" y="1857"/>
                  <a:pt x="12827" y="1859"/>
                  <a:pt x="12815" y="1859"/>
                </a:cubicBezTo>
                <a:lnTo>
                  <a:pt x="186" y="1859"/>
                </a:lnTo>
                <a:cubicBezTo>
                  <a:pt x="174" y="1859"/>
                  <a:pt x="162" y="1857"/>
                  <a:pt x="150" y="1855"/>
                </a:cubicBezTo>
                <a:cubicBezTo>
                  <a:pt x="138" y="1853"/>
                  <a:pt x="126" y="1849"/>
                  <a:pt x="115" y="1844"/>
                </a:cubicBezTo>
                <a:cubicBezTo>
                  <a:pt x="104" y="1840"/>
                  <a:pt x="93" y="1834"/>
                  <a:pt x="83" y="1827"/>
                </a:cubicBezTo>
                <a:cubicBezTo>
                  <a:pt x="73" y="1820"/>
                  <a:pt x="63" y="1813"/>
                  <a:pt x="55" y="1804"/>
                </a:cubicBezTo>
                <a:cubicBezTo>
                  <a:pt x="46" y="1795"/>
                  <a:pt x="38" y="1786"/>
                  <a:pt x="31" y="1776"/>
                </a:cubicBezTo>
                <a:cubicBezTo>
                  <a:pt x="25" y="1766"/>
                  <a:pt x="19" y="1755"/>
                  <a:pt x="14" y="1744"/>
                </a:cubicBezTo>
                <a:cubicBezTo>
                  <a:pt x="10" y="1733"/>
                  <a:pt x="6" y="1721"/>
                  <a:pt x="4" y="1709"/>
                </a:cubicBezTo>
                <a:cubicBezTo>
                  <a:pt x="1" y="1697"/>
                  <a:pt x="0" y="1685"/>
                  <a:pt x="0" y="1673"/>
                </a:cubicBezTo>
                <a:close/>
              </a:path>
            </a:pathLst>
          </a:custGeom>
          <a:solidFill>
            <a:srgbClr val="ffffff">
              <a:alpha val="10000"/>
            </a:srgbClr>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802" name=""/>
          <p:cNvSpPr/>
          <p:nvPr/>
        </p:nvSpPr>
        <p:spPr>
          <a:xfrm>
            <a:off x="534600" y="4880160"/>
            <a:ext cx="4680000" cy="668880"/>
          </a:xfrm>
          <a:custGeom>
            <a:avLst/>
            <a:gdLst/>
            <a:ahLst/>
            <a:rect l="0" t="0" r="r" b="b"/>
            <a:pathLst>
              <a:path w="13000" h="1858">
                <a:moveTo>
                  <a:pt x="0" y="1672"/>
                </a:moveTo>
                <a:lnTo>
                  <a:pt x="0" y="186"/>
                </a:lnTo>
                <a:cubicBezTo>
                  <a:pt x="0" y="173"/>
                  <a:pt x="1" y="161"/>
                  <a:pt x="4" y="149"/>
                </a:cubicBezTo>
                <a:cubicBezTo>
                  <a:pt x="6" y="137"/>
                  <a:pt x="10" y="126"/>
                  <a:pt x="14" y="115"/>
                </a:cubicBezTo>
                <a:cubicBezTo>
                  <a:pt x="19" y="103"/>
                  <a:pt x="25" y="93"/>
                  <a:pt x="31" y="82"/>
                </a:cubicBezTo>
                <a:cubicBezTo>
                  <a:pt x="38" y="72"/>
                  <a:pt x="46" y="63"/>
                  <a:pt x="55" y="54"/>
                </a:cubicBezTo>
                <a:cubicBezTo>
                  <a:pt x="63" y="46"/>
                  <a:pt x="73" y="38"/>
                  <a:pt x="83" y="31"/>
                </a:cubicBezTo>
                <a:cubicBezTo>
                  <a:pt x="93" y="24"/>
                  <a:pt x="104" y="19"/>
                  <a:pt x="115" y="14"/>
                </a:cubicBezTo>
                <a:cubicBezTo>
                  <a:pt x="126" y="9"/>
                  <a:pt x="138" y="6"/>
                  <a:pt x="150" y="3"/>
                </a:cubicBezTo>
                <a:cubicBezTo>
                  <a:pt x="162" y="1"/>
                  <a:pt x="174" y="0"/>
                  <a:pt x="186" y="0"/>
                </a:cubicBezTo>
                <a:lnTo>
                  <a:pt x="12815" y="0"/>
                </a:lnTo>
                <a:cubicBezTo>
                  <a:pt x="12827" y="0"/>
                  <a:pt x="12839" y="1"/>
                  <a:pt x="12851" y="3"/>
                </a:cubicBezTo>
                <a:cubicBezTo>
                  <a:pt x="12863" y="6"/>
                  <a:pt x="12875" y="9"/>
                  <a:pt x="12886" y="14"/>
                </a:cubicBezTo>
                <a:cubicBezTo>
                  <a:pt x="12897" y="19"/>
                  <a:pt x="12908" y="24"/>
                  <a:pt x="12918" y="31"/>
                </a:cubicBezTo>
                <a:cubicBezTo>
                  <a:pt x="12928" y="38"/>
                  <a:pt x="12937" y="46"/>
                  <a:pt x="12946" y="54"/>
                </a:cubicBezTo>
                <a:cubicBezTo>
                  <a:pt x="12955" y="63"/>
                  <a:pt x="12962" y="72"/>
                  <a:pt x="12969" y="82"/>
                </a:cubicBezTo>
                <a:cubicBezTo>
                  <a:pt x="12976" y="93"/>
                  <a:pt x="12982" y="103"/>
                  <a:pt x="12986" y="115"/>
                </a:cubicBezTo>
                <a:cubicBezTo>
                  <a:pt x="12991" y="126"/>
                  <a:pt x="12994" y="137"/>
                  <a:pt x="12997" y="149"/>
                </a:cubicBezTo>
                <a:cubicBezTo>
                  <a:pt x="12999" y="161"/>
                  <a:pt x="13000" y="173"/>
                  <a:pt x="13000" y="186"/>
                </a:cubicBezTo>
                <a:lnTo>
                  <a:pt x="13000" y="1672"/>
                </a:lnTo>
                <a:cubicBezTo>
                  <a:pt x="13000" y="1684"/>
                  <a:pt x="12999" y="1697"/>
                  <a:pt x="12997" y="1708"/>
                </a:cubicBezTo>
                <a:cubicBezTo>
                  <a:pt x="12994" y="1720"/>
                  <a:pt x="12991" y="1732"/>
                  <a:pt x="12986" y="1743"/>
                </a:cubicBezTo>
                <a:cubicBezTo>
                  <a:pt x="12982" y="1755"/>
                  <a:pt x="12976" y="1765"/>
                  <a:pt x="12969" y="1775"/>
                </a:cubicBezTo>
                <a:cubicBezTo>
                  <a:pt x="12962" y="1786"/>
                  <a:pt x="12955" y="1795"/>
                  <a:pt x="12946" y="1804"/>
                </a:cubicBezTo>
                <a:cubicBezTo>
                  <a:pt x="12937" y="1812"/>
                  <a:pt x="12928" y="1820"/>
                  <a:pt x="12918" y="1827"/>
                </a:cubicBezTo>
                <a:cubicBezTo>
                  <a:pt x="12908" y="1833"/>
                  <a:pt x="12897" y="1839"/>
                  <a:pt x="12886" y="1844"/>
                </a:cubicBezTo>
                <a:cubicBezTo>
                  <a:pt x="12875" y="1848"/>
                  <a:pt x="12863" y="1852"/>
                  <a:pt x="12851" y="1854"/>
                </a:cubicBezTo>
                <a:cubicBezTo>
                  <a:pt x="12839" y="1857"/>
                  <a:pt x="12827" y="1858"/>
                  <a:pt x="12815" y="1858"/>
                </a:cubicBezTo>
                <a:lnTo>
                  <a:pt x="186" y="1858"/>
                </a:lnTo>
                <a:cubicBezTo>
                  <a:pt x="174" y="1858"/>
                  <a:pt x="162" y="1857"/>
                  <a:pt x="150" y="1854"/>
                </a:cubicBezTo>
                <a:cubicBezTo>
                  <a:pt x="138" y="1852"/>
                  <a:pt x="126" y="1848"/>
                  <a:pt x="115" y="1844"/>
                </a:cubicBezTo>
                <a:cubicBezTo>
                  <a:pt x="104" y="1839"/>
                  <a:pt x="93" y="1833"/>
                  <a:pt x="83" y="1827"/>
                </a:cubicBezTo>
                <a:cubicBezTo>
                  <a:pt x="73" y="1820"/>
                  <a:pt x="63" y="1812"/>
                  <a:pt x="55" y="1804"/>
                </a:cubicBezTo>
                <a:cubicBezTo>
                  <a:pt x="46" y="1795"/>
                  <a:pt x="38" y="1786"/>
                  <a:pt x="31" y="1775"/>
                </a:cubicBezTo>
                <a:cubicBezTo>
                  <a:pt x="25" y="1765"/>
                  <a:pt x="19" y="1755"/>
                  <a:pt x="14" y="1743"/>
                </a:cubicBezTo>
                <a:cubicBezTo>
                  <a:pt x="10" y="1732"/>
                  <a:pt x="6" y="1720"/>
                  <a:pt x="4" y="1708"/>
                </a:cubicBezTo>
                <a:cubicBezTo>
                  <a:pt x="1" y="1697"/>
                  <a:pt x="0" y="1684"/>
                  <a:pt x="0" y="1672"/>
                </a:cubicBezTo>
                <a:close/>
              </a:path>
            </a:pathLst>
          </a:custGeom>
          <a:solidFill>
            <a:srgbClr val="ffffff">
              <a:alpha val="10000"/>
            </a:srgbClr>
          </a:solidFill>
          <a:ln w="0">
            <a:noFill/>
          </a:ln>
        </p:spPr>
        <p:txBody>
          <a:bodyPr lIns="0" rIns="0" tIns="0" bIns="0" anchor="t">
            <a:noAutofit/>
          </a:bodyPr>
          <a:p>
            <a:endParaRPr b="0" lang="en-US" sz="2400" strike="noStrike" u="none">
              <a:solidFill>
                <a:srgbClr val="000000"/>
              </a:solidFill>
              <a:effectLst/>
              <a:uFillTx/>
              <a:latin typeface="Times New Roman"/>
            </a:endParaRPr>
          </a:p>
        </p:txBody>
      </p:sp>
      <p:pic>
        <p:nvPicPr>
          <p:cNvPr id="803" name="" descr=""/>
          <p:cNvPicPr/>
          <p:nvPr/>
        </p:nvPicPr>
        <p:blipFill>
          <a:blip r:embed="rId4"/>
          <a:stretch/>
        </p:blipFill>
        <p:spPr>
          <a:xfrm>
            <a:off x="534960" y="2741040"/>
            <a:ext cx="150120" cy="200160"/>
          </a:xfrm>
          <a:prstGeom prst="rect">
            <a:avLst/>
          </a:prstGeom>
          <a:noFill/>
          <a:ln w="0">
            <a:noFill/>
          </a:ln>
        </p:spPr>
      </p:pic>
      <p:sp>
        <p:nvSpPr>
          <p:cNvPr id="804" name=""/>
          <p:cNvSpPr txBox="1"/>
          <p:nvPr/>
        </p:nvSpPr>
        <p:spPr>
          <a:xfrm>
            <a:off x="735480" y="2041560"/>
            <a:ext cx="6499080" cy="219960"/>
          </a:xfrm>
          <a:prstGeom prst="rect">
            <a:avLst/>
          </a:prstGeom>
          <a:noFill/>
          <a:ln w="0">
            <a:noFill/>
          </a:ln>
        </p:spPr>
        <p:txBody>
          <a:bodyPr wrap="none" lIns="0" rIns="0" tIns="0" bIns="0" anchor="t">
            <a:spAutoFit/>
          </a:bodyPr>
          <a:p>
            <a:r>
              <a:rPr b="0" lang="zh-CN" sz="1180" strike="noStrike" u="none">
                <a:solidFill>
                  <a:srgbClr val="ffffff"/>
                </a:solidFill>
                <a:effectLst/>
                <a:uFillTx/>
                <a:latin typeface="NotoSansJP"/>
                <a:ea typeface="NotoSansJP"/>
              </a:rPr>
              <a:t>り、</a:t>
            </a:r>
            <a:r>
              <a:rPr b="0" lang="en-US" sz="1180" strike="noStrike" u="none">
                <a:solidFill>
                  <a:srgbClr val="ffffff"/>
                </a:solidFill>
                <a:effectLst/>
                <a:uFillTx/>
                <a:latin typeface="NotoSansJP"/>
                <a:ea typeface="NotoSansJP"/>
              </a:rPr>
              <a:t>CGH</a:t>
            </a:r>
            <a:r>
              <a:rPr b="0" lang="zh-CN" sz="1180" strike="noStrike" u="none">
                <a:solidFill>
                  <a:srgbClr val="ffffff"/>
                </a:solidFill>
                <a:effectLst/>
                <a:uFillTx/>
                <a:latin typeface="NotoSansJP"/>
                <a:ea typeface="NotoSansJP"/>
              </a:rPr>
              <a:t>に記録された</a:t>
            </a:r>
            <a:r>
              <a:rPr b="0" lang="en-US" sz="1180" strike="noStrike" u="none">
                <a:solidFill>
                  <a:srgbClr val="ffffff"/>
                </a:solidFill>
                <a:effectLst/>
                <a:uFillTx/>
                <a:latin typeface="NotoSansJP"/>
                <a:ea typeface="NotoSansJP"/>
              </a:rPr>
              <a:t>3</a:t>
            </a:r>
            <a:r>
              <a:rPr b="0" lang="zh-CN" sz="1180" strike="noStrike" u="none">
                <a:solidFill>
                  <a:srgbClr val="ffffff"/>
                </a:solidFill>
                <a:effectLst/>
                <a:uFillTx/>
                <a:latin typeface="NotoSansJP"/>
                <a:ea typeface="NotoSansJP"/>
              </a:rPr>
              <a:t>次元情報を</a:t>
            </a:r>
            <a:r>
              <a:rPr b="0" lang="en-US" sz="1180" strike="noStrike" u="none">
                <a:solidFill>
                  <a:srgbClr val="ffffff"/>
                </a:solidFill>
                <a:effectLst/>
                <a:uFillTx/>
                <a:latin typeface="NotoSansJP"/>
                <a:ea typeface="NotoSansJP"/>
              </a:rPr>
              <a:t>2</a:t>
            </a:r>
            <a:r>
              <a:rPr b="0" lang="zh-CN" sz="1180" strike="noStrike" u="none">
                <a:solidFill>
                  <a:srgbClr val="ffffff"/>
                </a:solidFill>
                <a:effectLst/>
                <a:uFillTx/>
                <a:latin typeface="NotoSansJP"/>
                <a:ea typeface="NotoSansJP"/>
              </a:rPr>
              <a:t>次元の再生像として可視化することが可能となります。</a:t>
            </a:r>
            <a:endParaRPr b="0" lang="en-US" sz="1180" strike="noStrike" u="none">
              <a:solidFill>
                <a:srgbClr val="000000"/>
              </a:solidFill>
              <a:effectLst/>
              <a:uFillTx/>
              <a:latin typeface="Times New Roman"/>
            </a:endParaRPr>
          </a:p>
        </p:txBody>
      </p:sp>
      <p:pic>
        <p:nvPicPr>
          <p:cNvPr id="805" name="" descr=""/>
          <p:cNvPicPr/>
          <p:nvPr/>
        </p:nvPicPr>
        <p:blipFill>
          <a:blip r:embed="rId5"/>
          <a:stretch/>
        </p:blipFill>
        <p:spPr>
          <a:xfrm>
            <a:off x="668520" y="3276000"/>
            <a:ext cx="261360" cy="534600"/>
          </a:xfrm>
          <a:prstGeom prst="rect">
            <a:avLst/>
          </a:prstGeom>
          <a:noFill/>
          <a:ln w="0">
            <a:noFill/>
          </a:ln>
        </p:spPr>
      </p:pic>
      <p:sp>
        <p:nvSpPr>
          <p:cNvPr id="806" name=""/>
          <p:cNvSpPr txBox="1"/>
          <p:nvPr/>
        </p:nvSpPr>
        <p:spPr>
          <a:xfrm>
            <a:off x="785520" y="2738880"/>
            <a:ext cx="1207800" cy="291600"/>
          </a:xfrm>
          <a:prstGeom prst="rect">
            <a:avLst/>
          </a:prstGeom>
          <a:noFill/>
          <a:ln w="0">
            <a:noFill/>
          </a:ln>
        </p:spPr>
        <p:txBody>
          <a:bodyPr wrap="none" lIns="0" rIns="0" tIns="0" bIns="0" anchor="t">
            <a:spAutoFit/>
          </a:bodyPr>
          <a:p>
            <a:r>
              <a:rPr b="0" lang="zh-CN" sz="1580" strike="noStrike" u="none">
                <a:solidFill>
                  <a:srgbClr val="a7c6d9"/>
                </a:solidFill>
                <a:effectLst/>
                <a:uFillTx/>
                <a:latin typeface="NotoSansJP"/>
                <a:ea typeface="NotoSansJP"/>
              </a:rPr>
              <a:t>今後の改善点</a:t>
            </a:r>
            <a:endParaRPr b="0" lang="en-US" sz="1580" strike="noStrike" u="none">
              <a:solidFill>
                <a:srgbClr val="000000"/>
              </a:solidFill>
              <a:effectLst/>
              <a:uFillTx/>
              <a:latin typeface="Times New Roman"/>
            </a:endParaRPr>
          </a:p>
        </p:txBody>
      </p:sp>
      <p:sp>
        <p:nvSpPr>
          <p:cNvPr id="807" name=""/>
          <p:cNvSpPr txBox="1"/>
          <p:nvPr/>
        </p:nvSpPr>
        <p:spPr>
          <a:xfrm>
            <a:off x="1058760" y="3277080"/>
            <a:ext cx="939600" cy="194040"/>
          </a:xfrm>
          <a:prstGeom prst="rect">
            <a:avLst/>
          </a:prstGeom>
          <a:noFill/>
          <a:ln w="0">
            <a:noFill/>
          </a:ln>
        </p:spPr>
        <p:txBody>
          <a:bodyPr wrap="none" lIns="0" rIns="0" tIns="0" bIns="0" anchor="t">
            <a:spAutoFit/>
          </a:bodyPr>
          <a:p>
            <a:r>
              <a:rPr b="0" lang="zh-CN" sz="1050" strike="noStrike" u="none">
                <a:solidFill>
                  <a:srgbClr val="ffffff"/>
                </a:solidFill>
                <a:effectLst/>
                <a:uFillTx/>
                <a:latin typeface="NotoSansJP"/>
                <a:ea typeface="NotoSansJP"/>
              </a:rPr>
              <a:t>計算速度の向上</a:t>
            </a:r>
            <a:endParaRPr b="0" lang="en-US" sz="1050" strike="noStrike" u="none">
              <a:solidFill>
                <a:srgbClr val="000000"/>
              </a:solidFill>
              <a:effectLst/>
              <a:uFillTx/>
              <a:latin typeface="Times New Roman"/>
            </a:endParaRPr>
          </a:p>
        </p:txBody>
      </p:sp>
      <p:sp>
        <p:nvSpPr>
          <p:cNvPr id="808" name=""/>
          <p:cNvSpPr txBox="1"/>
          <p:nvPr/>
        </p:nvSpPr>
        <p:spPr>
          <a:xfrm>
            <a:off x="1058760" y="3501360"/>
            <a:ext cx="4030560" cy="169560"/>
          </a:xfrm>
          <a:prstGeom prst="rect">
            <a:avLst/>
          </a:prstGeom>
          <a:noFill/>
          <a:ln w="0">
            <a:noFill/>
          </a:ln>
        </p:spPr>
        <p:txBody>
          <a:bodyPr wrap="none" lIns="0" rIns="0" tIns="0" bIns="0" anchor="t">
            <a:spAutoFit/>
          </a:bodyPr>
          <a:p>
            <a:r>
              <a:rPr b="0" lang="en-US" sz="920" strike="noStrike" u="none">
                <a:solidFill>
                  <a:srgbClr val="a7c6d9"/>
                </a:solidFill>
                <a:effectLst/>
                <a:uFillTx/>
                <a:latin typeface="NotoSansJP"/>
                <a:ea typeface="NotoSansJP"/>
              </a:rPr>
              <a:t>GPU</a:t>
            </a:r>
            <a:r>
              <a:rPr b="0" lang="zh-CN" sz="920" strike="noStrike" u="none">
                <a:solidFill>
                  <a:srgbClr val="a7c6d9"/>
                </a:solidFill>
                <a:effectLst/>
                <a:uFillTx/>
                <a:latin typeface="NotoSansJP"/>
                <a:ea typeface="NotoSansJP"/>
              </a:rPr>
              <a:t>活用による並列計算の実装で処理速度を大幅に向上させることが可能で</a:t>
            </a:r>
            <a:endParaRPr b="0" lang="en-US" sz="920" strike="noStrike" u="none">
              <a:solidFill>
                <a:srgbClr val="000000"/>
              </a:solidFill>
              <a:effectLst/>
              <a:uFillTx/>
              <a:latin typeface="Times New Roman"/>
            </a:endParaRPr>
          </a:p>
        </p:txBody>
      </p:sp>
      <p:pic>
        <p:nvPicPr>
          <p:cNvPr id="809" name="" descr=""/>
          <p:cNvPicPr/>
          <p:nvPr/>
        </p:nvPicPr>
        <p:blipFill>
          <a:blip r:embed="rId6"/>
          <a:stretch/>
        </p:blipFill>
        <p:spPr>
          <a:xfrm>
            <a:off x="668520" y="4245120"/>
            <a:ext cx="267120" cy="367200"/>
          </a:xfrm>
          <a:prstGeom prst="rect">
            <a:avLst/>
          </a:prstGeom>
          <a:noFill/>
          <a:ln w="0">
            <a:noFill/>
          </a:ln>
        </p:spPr>
      </p:pic>
      <p:sp>
        <p:nvSpPr>
          <p:cNvPr id="810" name=""/>
          <p:cNvSpPr txBox="1"/>
          <p:nvPr/>
        </p:nvSpPr>
        <p:spPr>
          <a:xfrm>
            <a:off x="1058760" y="3668760"/>
            <a:ext cx="118080" cy="169560"/>
          </a:xfrm>
          <a:prstGeom prst="rect">
            <a:avLst/>
          </a:prstGeom>
          <a:noFill/>
          <a:ln w="0">
            <a:noFill/>
          </a:ln>
        </p:spPr>
        <p:txBody>
          <a:bodyPr wrap="none" lIns="0" rIns="0" tIns="0" bIns="0" anchor="t">
            <a:spAutoFit/>
          </a:bodyPr>
          <a:p>
            <a:r>
              <a:rPr b="0" lang="zh-CN" sz="920" strike="noStrike" u="none">
                <a:solidFill>
                  <a:srgbClr val="a7c6d9"/>
                </a:solidFill>
                <a:effectLst/>
                <a:uFillTx/>
                <a:latin typeface="NotoSansJP"/>
                <a:ea typeface="NotoSansJP"/>
              </a:rPr>
              <a:t>す</a:t>
            </a:r>
            <a:endParaRPr b="0" lang="en-US" sz="920" strike="noStrike" u="none">
              <a:solidFill>
                <a:srgbClr val="000000"/>
              </a:solidFill>
              <a:effectLst/>
              <a:uFillTx/>
              <a:latin typeface="Times New Roman"/>
            </a:endParaRPr>
          </a:p>
        </p:txBody>
      </p:sp>
      <p:sp>
        <p:nvSpPr>
          <p:cNvPr id="811" name=""/>
          <p:cNvSpPr txBox="1"/>
          <p:nvPr/>
        </p:nvSpPr>
        <p:spPr>
          <a:xfrm>
            <a:off x="1069560" y="4246560"/>
            <a:ext cx="1609920" cy="194040"/>
          </a:xfrm>
          <a:prstGeom prst="rect">
            <a:avLst/>
          </a:prstGeom>
          <a:noFill/>
          <a:ln w="0">
            <a:noFill/>
          </a:ln>
        </p:spPr>
        <p:txBody>
          <a:bodyPr wrap="none" lIns="0" rIns="0" tIns="0" bIns="0" anchor="t">
            <a:spAutoFit/>
          </a:bodyPr>
          <a:p>
            <a:r>
              <a:rPr b="0" lang="zh-CN" sz="1050" strike="noStrike" u="none">
                <a:solidFill>
                  <a:srgbClr val="ffffff"/>
                </a:solidFill>
                <a:effectLst/>
                <a:uFillTx/>
                <a:latin typeface="NotoSansJP"/>
                <a:ea typeface="NotoSansJP"/>
              </a:rPr>
              <a:t>より現実に近い眼球モデル</a:t>
            </a:r>
            <a:endParaRPr b="0" lang="en-US" sz="1050" strike="noStrike" u="none">
              <a:solidFill>
                <a:srgbClr val="000000"/>
              </a:solidFill>
              <a:effectLst/>
              <a:uFillTx/>
              <a:latin typeface="Times New Roman"/>
            </a:endParaRPr>
          </a:p>
        </p:txBody>
      </p:sp>
      <p:pic>
        <p:nvPicPr>
          <p:cNvPr id="812" name="" descr=""/>
          <p:cNvPicPr/>
          <p:nvPr/>
        </p:nvPicPr>
        <p:blipFill>
          <a:blip r:embed="rId7"/>
          <a:stretch/>
        </p:blipFill>
        <p:spPr>
          <a:xfrm>
            <a:off x="668520" y="5047560"/>
            <a:ext cx="267120" cy="367200"/>
          </a:xfrm>
          <a:prstGeom prst="rect">
            <a:avLst/>
          </a:prstGeom>
          <a:noFill/>
          <a:ln w="0">
            <a:noFill/>
          </a:ln>
        </p:spPr>
      </p:pic>
      <p:sp>
        <p:nvSpPr>
          <p:cNvPr id="813" name=""/>
          <p:cNvSpPr txBox="1"/>
          <p:nvPr/>
        </p:nvSpPr>
        <p:spPr>
          <a:xfrm>
            <a:off x="1069560" y="4470840"/>
            <a:ext cx="3286440" cy="169560"/>
          </a:xfrm>
          <a:prstGeom prst="rect">
            <a:avLst/>
          </a:prstGeom>
          <a:noFill/>
          <a:ln w="0">
            <a:noFill/>
          </a:ln>
        </p:spPr>
        <p:txBody>
          <a:bodyPr wrap="none" lIns="0" rIns="0" tIns="0" bIns="0" anchor="t">
            <a:spAutoFit/>
          </a:bodyPr>
          <a:p>
            <a:r>
              <a:rPr b="0" lang="zh-CN" sz="920" strike="noStrike" u="none">
                <a:solidFill>
                  <a:srgbClr val="a7c6d9"/>
                </a:solidFill>
                <a:effectLst/>
                <a:uFillTx/>
                <a:latin typeface="NotoSansJP"/>
                <a:ea typeface="NotoSansJP"/>
              </a:rPr>
              <a:t>複数の屈折面や複雑な形状を持つ詳細な眼球光学モデルの導入</a:t>
            </a:r>
            <a:endParaRPr b="0" lang="en-US" sz="920" strike="noStrike" u="none">
              <a:solidFill>
                <a:srgbClr val="000000"/>
              </a:solidFill>
              <a:effectLst/>
              <a:uFillTx/>
              <a:latin typeface="Times New Roman"/>
            </a:endParaRPr>
          </a:p>
        </p:txBody>
      </p:sp>
      <p:sp>
        <p:nvSpPr>
          <p:cNvPr id="814" name=""/>
          <p:cNvSpPr txBox="1"/>
          <p:nvPr/>
        </p:nvSpPr>
        <p:spPr>
          <a:xfrm>
            <a:off x="1069560" y="5048640"/>
            <a:ext cx="1207800" cy="194040"/>
          </a:xfrm>
          <a:prstGeom prst="rect">
            <a:avLst/>
          </a:prstGeom>
          <a:noFill/>
          <a:ln w="0">
            <a:noFill/>
          </a:ln>
        </p:spPr>
        <p:txBody>
          <a:bodyPr wrap="none" lIns="0" rIns="0" tIns="0" bIns="0" anchor="t">
            <a:spAutoFit/>
          </a:bodyPr>
          <a:p>
            <a:r>
              <a:rPr b="0" lang="zh-CN" sz="1050" strike="noStrike" u="none">
                <a:solidFill>
                  <a:srgbClr val="ffffff"/>
                </a:solidFill>
                <a:effectLst/>
                <a:uFillTx/>
                <a:latin typeface="NotoSansJP"/>
                <a:ea typeface="NotoSansJP"/>
              </a:rPr>
              <a:t>収差補正機能の追加</a:t>
            </a:r>
            <a:endParaRPr b="0" lang="en-US" sz="1050" strike="noStrike" u="none">
              <a:solidFill>
                <a:srgbClr val="000000"/>
              </a:solidFill>
              <a:effectLst/>
              <a:uFillTx/>
              <a:latin typeface="Times New Roman"/>
            </a:endParaRPr>
          </a:p>
        </p:txBody>
      </p:sp>
      <p:sp>
        <p:nvSpPr>
          <p:cNvPr id="815" name=""/>
          <p:cNvSpPr/>
          <p:nvPr/>
        </p:nvSpPr>
        <p:spPr>
          <a:xfrm>
            <a:off x="5481720" y="3108600"/>
            <a:ext cx="4680360" cy="668880"/>
          </a:xfrm>
          <a:custGeom>
            <a:avLst/>
            <a:gdLst/>
            <a:ahLst/>
            <a:rect l="0" t="0" r="r" b="b"/>
            <a:pathLst>
              <a:path w="13001" h="1858">
                <a:moveTo>
                  <a:pt x="0" y="1672"/>
                </a:moveTo>
                <a:lnTo>
                  <a:pt x="0" y="185"/>
                </a:lnTo>
                <a:cubicBezTo>
                  <a:pt x="0" y="173"/>
                  <a:pt x="1" y="161"/>
                  <a:pt x="4" y="149"/>
                </a:cubicBezTo>
                <a:cubicBezTo>
                  <a:pt x="6" y="137"/>
                  <a:pt x="10" y="126"/>
                  <a:pt x="14" y="114"/>
                </a:cubicBezTo>
                <a:cubicBezTo>
                  <a:pt x="19" y="103"/>
                  <a:pt x="25" y="92"/>
                  <a:pt x="32" y="82"/>
                </a:cubicBezTo>
                <a:cubicBezTo>
                  <a:pt x="38" y="72"/>
                  <a:pt x="46" y="63"/>
                  <a:pt x="55" y="54"/>
                </a:cubicBezTo>
                <a:cubicBezTo>
                  <a:pt x="63" y="46"/>
                  <a:pt x="73" y="38"/>
                  <a:pt x="83" y="31"/>
                </a:cubicBezTo>
                <a:cubicBezTo>
                  <a:pt x="93" y="24"/>
                  <a:pt x="104" y="19"/>
                  <a:pt x="115" y="14"/>
                </a:cubicBezTo>
                <a:cubicBezTo>
                  <a:pt x="126" y="9"/>
                  <a:pt x="138" y="6"/>
                  <a:pt x="150" y="3"/>
                </a:cubicBezTo>
                <a:cubicBezTo>
                  <a:pt x="162" y="1"/>
                  <a:pt x="174" y="0"/>
                  <a:pt x="186" y="0"/>
                </a:cubicBezTo>
                <a:lnTo>
                  <a:pt x="12815" y="0"/>
                </a:lnTo>
                <a:cubicBezTo>
                  <a:pt x="12827" y="0"/>
                  <a:pt x="12839" y="1"/>
                  <a:pt x="12851" y="3"/>
                </a:cubicBezTo>
                <a:cubicBezTo>
                  <a:pt x="12863" y="6"/>
                  <a:pt x="12875" y="9"/>
                  <a:pt x="12886" y="14"/>
                </a:cubicBezTo>
                <a:cubicBezTo>
                  <a:pt x="12897" y="19"/>
                  <a:pt x="12908" y="24"/>
                  <a:pt x="12918" y="31"/>
                </a:cubicBezTo>
                <a:cubicBezTo>
                  <a:pt x="12928" y="38"/>
                  <a:pt x="12938" y="46"/>
                  <a:pt x="12946" y="54"/>
                </a:cubicBezTo>
                <a:cubicBezTo>
                  <a:pt x="12955" y="63"/>
                  <a:pt x="12962" y="72"/>
                  <a:pt x="12969" y="82"/>
                </a:cubicBezTo>
                <a:cubicBezTo>
                  <a:pt x="12976" y="92"/>
                  <a:pt x="12982" y="103"/>
                  <a:pt x="12986" y="114"/>
                </a:cubicBezTo>
                <a:cubicBezTo>
                  <a:pt x="12991" y="126"/>
                  <a:pt x="12995" y="137"/>
                  <a:pt x="12997" y="149"/>
                </a:cubicBezTo>
                <a:cubicBezTo>
                  <a:pt x="12999" y="161"/>
                  <a:pt x="13001" y="173"/>
                  <a:pt x="13001" y="185"/>
                </a:cubicBezTo>
                <a:lnTo>
                  <a:pt x="13001" y="1672"/>
                </a:lnTo>
                <a:cubicBezTo>
                  <a:pt x="13001" y="1684"/>
                  <a:pt x="12999" y="1696"/>
                  <a:pt x="12997" y="1708"/>
                </a:cubicBezTo>
                <a:cubicBezTo>
                  <a:pt x="12995" y="1720"/>
                  <a:pt x="12991" y="1732"/>
                  <a:pt x="12986" y="1743"/>
                </a:cubicBezTo>
                <a:cubicBezTo>
                  <a:pt x="12982" y="1754"/>
                  <a:pt x="12976" y="1765"/>
                  <a:pt x="12969" y="1775"/>
                </a:cubicBezTo>
                <a:cubicBezTo>
                  <a:pt x="12962" y="1785"/>
                  <a:pt x="12955" y="1795"/>
                  <a:pt x="12946" y="1803"/>
                </a:cubicBezTo>
                <a:cubicBezTo>
                  <a:pt x="12938" y="1812"/>
                  <a:pt x="12928" y="1820"/>
                  <a:pt x="12918" y="1827"/>
                </a:cubicBezTo>
                <a:cubicBezTo>
                  <a:pt x="12908" y="1833"/>
                  <a:pt x="12897" y="1839"/>
                  <a:pt x="12886" y="1844"/>
                </a:cubicBezTo>
                <a:cubicBezTo>
                  <a:pt x="12875" y="1848"/>
                  <a:pt x="12863" y="1852"/>
                  <a:pt x="12851" y="1854"/>
                </a:cubicBezTo>
                <a:cubicBezTo>
                  <a:pt x="12839" y="1857"/>
                  <a:pt x="12827" y="1858"/>
                  <a:pt x="12815" y="1858"/>
                </a:cubicBezTo>
                <a:lnTo>
                  <a:pt x="186" y="1858"/>
                </a:lnTo>
                <a:cubicBezTo>
                  <a:pt x="174" y="1858"/>
                  <a:pt x="162" y="1857"/>
                  <a:pt x="150" y="1854"/>
                </a:cubicBezTo>
                <a:cubicBezTo>
                  <a:pt x="138" y="1852"/>
                  <a:pt x="126" y="1848"/>
                  <a:pt x="115" y="1844"/>
                </a:cubicBezTo>
                <a:cubicBezTo>
                  <a:pt x="104" y="1839"/>
                  <a:pt x="93" y="1833"/>
                  <a:pt x="83" y="1827"/>
                </a:cubicBezTo>
                <a:cubicBezTo>
                  <a:pt x="73" y="1820"/>
                  <a:pt x="63" y="1812"/>
                  <a:pt x="55" y="1803"/>
                </a:cubicBezTo>
                <a:cubicBezTo>
                  <a:pt x="46" y="1795"/>
                  <a:pt x="38" y="1785"/>
                  <a:pt x="32" y="1775"/>
                </a:cubicBezTo>
                <a:cubicBezTo>
                  <a:pt x="25" y="1765"/>
                  <a:pt x="19" y="1754"/>
                  <a:pt x="14" y="1743"/>
                </a:cubicBezTo>
                <a:cubicBezTo>
                  <a:pt x="10" y="1732"/>
                  <a:pt x="6" y="1720"/>
                  <a:pt x="4" y="1708"/>
                </a:cubicBezTo>
                <a:cubicBezTo>
                  <a:pt x="1" y="1696"/>
                  <a:pt x="0" y="1684"/>
                  <a:pt x="0" y="1672"/>
                </a:cubicBezTo>
                <a:close/>
              </a:path>
            </a:pathLst>
          </a:custGeom>
          <a:solidFill>
            <a:srgbClr val="ffffff">
              <a:alpha val="10000"/>
            </a:srgbClr>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816" name=""/>
          <p:cNvSpPr/>
          <p:nvPr/>
        </p:nvSpPr>
        <p:spPr>
          <a:xfrm>
            <a:off x="5481720" y="3910680"/>
            <a:ext cx="4680360" cy="668880"/>
          </a:xfrm>
          <a:custGeom>
            <a:avLst/>
            <a:gdLst/>
            <a:ahLst/>
            <a:rect l="0" t="0" r="r" b="b"/>
            <a:pathLst>
              <a:path w="13001" h="1858">
                <a:moveTo>
                  <a:pt x="0" y="1673"/>
                </a:moveTo>
                <a:lnTo>
                  <a:pt x="0" y="186"/>
                </a:lnTo>
                <a:cubicBezTo>
                  <a:pt x="0" y="174"/>
                  <a:pt x="1" y="162"/>
                  <a:pt x="4" y="150"/>
                </a:cubicBezTo>
                <a:cubicBezTo>
                  <a:pt x="6" y="138"/>
                  <a:pt x="10" y="126"/>
                  <a:pt x="14" y="115"/>
                </a:cubicBezTo>
                <a:cubicBezTo>
                  <a:pt x="19" y="104"/>
                  <a:pt x="25" y="93"/>
                  <a:pt x="32" y="83"/>
                </a:cubicBezTo>
                <a:cubicBezTo>
                  <a:pt x="38" y="73"/>
                  <a:pt x="46" y="63"/>
                  <a:pt x="55" y="55"/>
                </a:cubicBezTo>
                <a:cubicBezTo>
                  <a:pt x="63" y="46"/>
                  <a:pt x="73" y="38"/>
                  <a:pt x="83" y="32"/>
                </a:cubicBezTo>
                <a:cubicBezTo>
                  <a:pt x="93" y="25"/>
                  <a:pt x="104" y="19"/>
                  <a:pt x="115" y="14"/>
                </a:cubicBezTo>
                <a:cubicBezTo>
                  <a:pt x="126" y="10"/>
                  <a:pt x="138" y="6"/>
                  <a:pt x="150" y="4"/>
                </a:cubicBezTo>
                <a:cubicBezTo>
                  <a:pt x="162" y="1"/>
                  <a:pt x="174" y="0"/>
                  <a:pt x="186" y="0"/>
                </a:cubicBezTo>
                <a:lnTo>
                  <a:pt x="12815" y="0"/>
                </a:lnTo>
                <a:cubicBezTo>
                  <a:pt x="12827" y="0"/>
                  <a:pt x="12839" y="1"/>
                  <a:pt x="12851" y="4"/>
                </a:cubicBezTo>
                <a:cubicBezTo>
                  <a:pt x="12863" y="6"/>
                  <a:pt x="12875" y="10"/>
                  <a:pt x="12886" y="14"/>
                </a:cubicBezTo>
                <a:cubicBezTo>
                  <a:pt x="12897" y="19"/>
                  <a:pt x="12908" y="25"/>
                  <a:pt x="12918" y="32"/>
                </a:cubicBezTo>
                <a:cubicBezTo>
                  <a:pt x="12928" y="38"/>
                  <a:pt x="12938" y="46"/>
                  <a:pt x="12946" y="55"/>
                </a:cubicBezTo>
                <a:cubicBezTo>
                  <a:pt x="12955" y="63"/>
                  <a:pt x="12962" y="73"/>
                  <a:pt x="12969" y="83"/>
                </a:cubicBezTo>
                <a:cubicBezTo>
                  <a:pt x="12976" y="93"/>
                  <a:pt x="12982" y="104"/>
                  <a:pt x="12986" y="115"/>
                </a:cubicBezTo>
                <a:cubicBezTo>
                  <a:pt x="12991" y="126"/>
                  <a:pt x="12995" y="138"/>
                  <a:pt x="12997" y="150"/>
                </a:cubicBezTo>
                <a:cubicBezTo>
                  <a:pt x="12999" y="162"/>
                  <a:pt x="13001" y="174"/>
                  <a:pt x="13001" y="186"/>
                </a:cubicBezTo>
                <a:lnTo>
                  <a:pt x="13001" y="1673"/>
                </a:lnTo>
                <a:cubicBezTo>
                  <a:pt x="13001" y="1685"/>
                  <a:pt x="12999" y="1697"/>
                  <a:pt x="12997" y="1709"/>
                </a:cubicBezTo>
                <a:cubicBezTo>
                  <a:pt x="12995" y="1721"/>
                  <a:pt x="12991" y="1732"/>
                  <a:pt x="12986" y="1744"/>
                </a:cubicBezTo>
                <a:cubicBezTo>
                  <a:pt x="12982" y="1755"/>
                  <a:pt x="12976" y="1766"/>
                  <a:pt x="12969" y="1776"/>
                </a:cubicBezTo>
                <a:cubicBezTo>
                  <a:pt x="12962" y="1786"/>
                  <a:pt x="12955" y="1795"/>
                  <a:pt x="12946" y="1804"/>
                </a:cubicBezTo>
                <a:cubicBezTo>
                  <a:pt x="12938" y="1812"/>
                  <a:pt x="12928" y="1820"/>
                  <a:pt x="12918" y="1827"/>
                </a:cubicBezTo>
                <a:cubicBezTo>
                  <a:pt x="12908" y="1834"/>
                  <a:pt x="12897" y="1839"/>
                  <a:pt x="12886" y="1844"/>
                </a:cubicBezTo>
                <a:cubicBezTo>
                  <a:pt x="12875" y="1849"/>
                  <a:pt x="12863" y="1852"/>
                  <a:pt x="12851" y="1855"/>
                </a:cubicBezTo>
                <a:cubicBezTo>
                  <a:pt x="12839" y="1857"/>
                  <a:pt x="12827" y="1858"/>
                  <a:pt x="12815" y="1858"/>
                </a:cubicBezTo>
                <a:lnTo>
                  <a:pt x="186" y="1858"/>
                </a:lnTo>
                <a:cubicBezTo>
                  <a:pt x="174" y="1858"/>
                  <a:pt x="162" y="1857"/>
                  <a:pt x="150" y="1855"/>
                </a:cubicBezTo>
                <a:cubicBezTo>
                  <a:pt x="138" y="1852"/>
                  <a:pt x="126" y="1849"/>
                  <a:pt x="115" y="1844"/>
                </a:cubicBezTo>
                <a:cubicBezTo>
                  <a:pt x="104" y="1839"/>
                  <a:pt x="93" y="1834"/>
                  <a:pt x="83" y="1827"/>
                </a:cubicBezTo>
                <a:cubicBezTo>
                  <a:pt x="73" y="1820"/>
                  <a:pt x="63" y="1812"/>
                  <a:pt x="55" y="1804"/>
                </a:cubicBezTo>
                <a:cubicBezTo>
                  <a:pt x="46" y="1795"/>
                  <a:pt x="38" y="1786"/>
                  <a:pt x="32" y="1776"/>
                </a:cubicBezTo>
                <a:cubicBezTo>
                  <a:pt x="25" y="1766"/>
                  <a:pt x="19" y="1755"/>
                  <a:pt x="14" y="1744"/>
                </a:cubicBezTo>
                <a:cubicBezTo>
                  <a:pt x="10" y="1732"/>
                  <a:pt x="6" y="1721"/>
                  <a:pt x="4" y="1709"/>
                </a:cubicBezTo>
                <a:cubicBezTo>
                  <a:pt x="1" y="1697"/>
                  <a:pt x="0" y="1685"/>
                  <a:pt x="0" y="1673"/>
                </a:cubicBezTo>
                <a:close/>
              </a:path>
            </a:pathLst>
          </a:custGeom>
          <a:solidFill>
            <a:srgbClr val="ffffff">
              <a:alpha val="10000"/>
            </a:srgbClr>
          </a:solidFill>
          <a:ln w="0">
            <a:noFill/>
          </a:ln>
        </p:spPr>
        <p:txBody>
          <a:bodyPr lIns="0" rIns="0" tIns="0" bIns="0" anchor="t">
            <a:noAutofit/>
          </a:bodyPr>
          <a:p>
            <a:endParaRPr b="0" lang="en-US" sz="2400" strike="noStrike" u="none">
              <a:solidFill>
                <a:srgbClr val="000000"/>
              </a:solidFill>
              <a:effectLst/>
              <a:uFillTx/>
              <a:latin typeface="Times New Roman"/>
            </a:endParaRPr>
          </a:p>
        </p:txBody>
      </p:sp>
      <p:sp>
        <p:nvSpPr>
          <p:cNvPr id="817" name=""/>
          <p:cNvSpPr/>
          <p:nvPr/>
        </p:nvSpPr>
        <p:spPr>
          <a:xfrm>
            <a:off x="5481720" y="4713120"/>
            <a:ext cx="4680360" cy="668880"/>
          </a:xfrm>
          <a:custGeom>
            <a:avLst/>
            <a:gdLst/>
            <a:ahLst/>
            <a:rect l="0" t="0" r="r" b="b"/>
            <a:pathLst>
              <a:path w="13001" h="1858">
                <a:moveTo>
                  <a:pt x="0" y="1672"/>
                </a:moveTo>
                <a:lnTo>
                  <a:pt x="0" y="185"/>
                </a:lnTo>
                <a:cubicBezTo>
                  <a:pt x="0" y="173"/>
                  <a:pt x="1" y="161"/>
                  <a:pt x="4" y="149"/>
                </a:cubicBezTo>
                <a:cubicBezTo>
                  <a:pt x="6" y="137"/>
                  <a:pt x="10" y="126"/>
                  <a:pt x="14" y="114"/>
                </a:cubicBezTo>
                <a:cubicBezTo>
                  <a:pt x="19" y="103"/>
                  <a:pt x="25" y="92"/>
                  <a:pt x="32" y="82"/>
                </a:cubicBezTo>
                <a:cubicBezTo>
                  <a:pt x="38" y="72"/>
                  <a:pt x="46" y="63"/>
                  <a:pt x="55" y="54"/>
                </a:cubicBezTo>
                <a:cubicBezTo>
                  <a:pt x="63" y="45"/>
                  <a:pt x="73" y="38"/>
                  <a:pt x="83" y="31"/>
                </a:cubicBezTo>
                <a:cubicBezTo>
                  <a:pt x="93" y="24"/>
                  <a:pt x="104" y="18"/>
                  <a:pt x="115" y="14"/>
                </a:cubicBezTo>
                <a:cubicBezTo>
                  <a:pt x="126" y="9"/>
                  <a:pt x="138" y="6"/>
                  <a:pt x="150" y="3"/>
                </a:cubicBezTo>
                <a:cubicBezTo>
                  <a:pt x="162" y="1"/>
                  <a:pt x="174" y="0"/>
                  <a:pt x="186" y="0"/>
                </a:cubicBezTo>
                <a:lnTo>
                  <a:pt x="12815" y="0"/>
                </a:lnTo>
                <a:cubicBezTo>
                  <a:pt x="12827" y="0"/>
                  <a:pt x="12839" y="1"/>
                  <a:pt x="12851" y="3"/>
                </a:cubicBezTo>
                <a:cubicBezTo>
                  <a:pt x="12863" y="6"/>
                  <a:pt x="12875" y="9"/>
                  <a:pt x="12886" y="14"/>
                </a:cubicBezTo>
                <a:cubicBezTo>
                  <a:pt x="12897" y="18"/>
                  <a:pt x="12908" y="24"/>
                  <a:pt x="12918" y="31"/>
                </a:cubicBezTo>
                <a:cubicBezTo>
                  <a:pt x="12928" y="38"/>
                  <a:pt x="12938" y="45"/>
                  <a:pt x="12946" y="54"/>
                </a:cubicBezTo>
                <a:cubicBezTo>
                  <a:pt x="12955" y="63"/>
                  <a:pt x="12962" y="72"/>
                  <a:pt x="12969" y="82"/>
                </a:cubicBezTo>
                <a:cubicBezTo>
                  <a:pt x="12976" y="92"/>
                  <a:pt x="12982" y="103"/>
                  <a:pt x="12986" y="114"/>
                </a:cubicBezTo>
                <a:cubicBezTo>
                  <a:pt x="12991" y="126"/>
                  <a:pt x="12995" y="137"/>
                  <a:pt x="12997" y="149"/>
                </a:cubicBezTo>
                <a:cubicBezTo>
                  <a:pt x="12999" y="161"/>
                  <a:pt x="13001" y="173"/>
                  <a:pt x="13001" y="185"/>
                </a:cubicBezTo>
                <a:lnTo>
                  <a:pt x="13001" y="1672"/>
                </a:lnTo>
                <a:cubicBezTo>
                  <a:pt x="13001" y="1684"/>
                  <a:pt x="12999" y="1696"/>
                  <a:pt x="12997" y="1708"/>
                </a:cubicBezTo>
                <a:cubicBezTo>
                  <a:pt x="12995" y="1720"/>
                  <a:pt x="12991" y="1732"/>
                  <a:pt x="12986" y="1743"/>
                </a:cubicBezTo>
                <a:cubicBezTo>
                  <a:pt x="12982" y="1754"/>
                  <a:pt x="12976" y="1765"/>
                  <a:pt x="12969" y="1775"/>
                </a:cubicBezTo>
                <a:cubicBezTo>
                  <a:pt x="12962" y="1785"/>
                  <a:pt x="12955" y="1795"/>
                  <a:pt x="12946" y="1803"/>
                </a:cubicBezTo>
                <a:cubicBezTo>
                  <a:pt x="12938" y="1812"/>
                  <a:pt x="12928" y="1820"/>
                  <a:pt x="12918" y="1826"/>
                </a:cubicBezTo>
                <a:cubicBezTo>
                  <a:pt x="12908" y="1833"/>
                  <a:pt x="12897" y="1839"/>
                  <a:pt x="12886" y="1844"/>
                </a:cubicBezTo>
                <a:cubicBezTo>
                  <a:pt x="12875" y="1848"/>
                  <a:pt x="12863" y="1852"/>
                  <a:pt x="12851" y="1854"/>
                </a:cubicBezTo>
                <a:cubicBezTo>
                  <a:pt x="12839" y="1857"/>
                  <a:pt x="12827" y="1858"/>
                  <a:pt x="12815" y="1858"/>
                </a:cubicBezTo>
                <a:lnTo>
                  <a:pt x="186" y="1858"/>
                </a:lnTo>
                <a:cubicBezTo>
                  <a:pt x="174" y="1858"/>
                  <a:pt x="162" y="1857"/>
                  <a:pt x="150" y="1854"/>
                </a:cubicBezTo>
                <a:cubicBezTo>
                  <a:pt x="138" y="1852"/>
                  <a:pt x="126" y="1848"/>
                  <a:pt x="115" y="1844"/>
                </a:cubicBezTo>
                <a:cubicBezTo>
                  <a:pt x="104" y="1839"/>
                  <a:pt x="93" y="1833"/>
                  <a:pt x="83" y="1826"/>
                </a:cubicBezTo>
                <a:cubicBezTo>
                  <a:pt x="73" y="1820"/>
                  <a:pt x="63" y="1812"/>
                  <a:pt x="55" y="1803"/>
                </a:cubicBezTo>
                <a:cubicBezTo>
                  <a:pt x="46" y="1795"/>
                  <a:pt x="38" y="1785"/>
                  <a:pt x="32" y="1775"/>
                </a:cubicBezTo>
                <a:cubicBezTo>
                  <a:pt x="25" y="1765"/>
                  <a:pt x="19" y="1754"/>
                  <a:pt x="14" y="1743"/>
                </a:cubicBezTo>
                <a:cubicBezTo>
                  <a:pt x="10" y="1732"/>
                  <a:pt x="6" y="1720"/>
                  <a:pt x="4" y="1708"/>
                </a:cubicBezTo>
                <a:cubicBezTo>
                  <a:pt x="1" y="1696"/>
                  <a:pt x="0" y="1684"/>
                  <a:pt x="0" y="1672"/>
                </a:cubicBezTo>
                <a:close/>
              </a:path>
            </a:pathLst>
          </a:custGeom>
          <a:solidFill>
            <a:srgbClr val="ffffff">
              <a:alpha val="10000"/>
            </a:srgbClr>
          </a:solidFill>
          <a:ln w="0">
            <a:noFill/>
          </a:ln>
        </p:spPr>
        <p:txBody>
          <a:bodyPr lIns="0" rIns="0" tIns="0" bIns="0" anchor="t">
            <a:noAutofit/>
          </a:bodyPr>
          <a:p>
            <a:endParaRPr b="0" lang="en-US" sz="2400" strike="noStrike" u="none">
              <a:solidFill>
                <a:srgbClr val="000000"/>
              </a:solidFill>
              <a:effectLst/>
              <a:uFillTx/>
              <a:latin typeface="Times New Roman"/>
            </a:endParaRPr>
          </a:p>
        </p:txBody>
      </p:sp>
      <p:pic>
        <p:nvPicPr>
          <p:cNvPr id="818" name="" descr=""/>
          <p:cNvPicPr/>
          <p:nvPr/>
        </p:nvPicPr>
        <p:blipFill>
          <a:blip r:embed="rId8"/>
          <a:stretch/>
        </p:blipFill>
        <p:spPr>
          <a:xfrm>
            <a:off x="5482080" y="2741040"/>
            <a:ext cx="200160" cy="200160"/>
          </a:xfrm>
          <a:prstGeom prst="rect">
            <a:avLst/>
          </a:prstGeom>
          <a:noFill/>
          <a:ln w="0">
            <a:noFill/>
          </a:ln>
        </p:spPr>
      </p:pic>
      <p:sp>
        <p:nvSpPr>
          <p:cNvPr id="819" name=""/>
          <p:cNvSpPr txBox="1"/>
          <p:nvPr/>
        </p:nvSpPr>
        <p:spPr>
          <a:xfrm>
            <a:off x="1069560" y="5273280"/>
            <a:ext cx="3677760" cy="169560"/>
          </a:xfrm>
          <a:prstGeom prst="rect">
            <a:avLst/>
          </a:prstGeom>
          <a:noFill/>
          <a:ln w="0">
            <a:noFill/>
          </a:ln>
        </p:spPr>
        <p:txBody>
          <a:bodyPr wrap="none" lIns="0" rIns="0" tIns="0" bIns="0" anchor="t">
            <a:spAutoFit/>
          </a:bodyPr>
          <a:p>
            <a:r>
              <a:rPr b="0" lang="zh-CN" sz="920" strike="noStrike" u="none">
                <a:solidFill>
                  <a:srgbClr val="a7c6d9"/>
                </a:solidFill>
                <a:effectLst/>
                <a:uFillTx/>
                <a:latin typeface="NotoSansJP"/>
                <a:ea typeface="NotoSansJP"/>
              </a:rPr>
              <a:t>波面収差を考慮した</a:t>
            </a:r>
            <a:r>
              <a:rPr b="0" lang="en-US" sz="920" strike="noStrike" u="none">
                <a:solidFill>
                  <a:srgbClr val="a7c6d9"/>
                </a:solidFill>
                <a:effectLst/>
                <a:uFillTx/>
                <a:latin typeface="NotoSansJP"/>
                <a:ea typeface="NotoSansJP"/>
              </a:rPr>
              <a:t>Zernike</a:t>
            </a:r>
            <a:r>
              <a:rPr b="0" lang="zh-CN" sz="920" strike="noStrike" u="none">
                <a:solidFill>
                  <a:srgbClr val="a7c6d9"/>
                </a:solidFill>
                <a:effectLst/>
                <a:uFillTx/>
                <a:latin typeface="NotoSansJP"/>
                <a:ea typeface="NotoSansJP"/>
              </a:rPr>
              <a:t>多項式などを用いた光学補正機能の実装</a:t>
            </a:r>
            <a:endParaRPr b="0" lang="en-US" sz="920" strike="noStrike" u="none">
              <a:solidFill>
                <a:srgbClr val="000000"/>
              </a:solidFill>
              <a:effectLst/>
              <a:uFillTx/>
              <a:latin typeface="Times New Roman"/>
            </a:endParaRPr>
          </a:p>
        </p:txBody>
      </p:sp>
      <p:pic>
        <p:nvPicPr>
          <p:cNvPr id="820" name="" descr=""/>
          <p:cNvPicPr/>
          <p:nvPr/>
        </p:nvPicPr>
        <p:blipFill>
          <a:blip r:embed="rId9"/>
          <a:stretch/>
        </p:blipFill>
        <p:spPr>
          <a:xfrm>
            <a:off x="5615640" y="3276000"/>
            <a:ext cx="267120" cy="367200"/>
          </a:xfrm>
          <a:prstGeom prst="rect">
            <a:avLst/>
          </a:prstGeom>
          <a:noFill/>
          <a:ln w="0">
            <a:noFill/>
          </a:ln>
        </p:spPr>
      </p:pic>
      <p:sp>
        <p:nvSpPr>
          <p:cNvPr id="821" name=""/>
          <p:cNvSpPr txBox="1"/>
          <p:nvPr/>
        </p:nvSpPr>
        <p:spPr>
          <a:xfrm>
            <a:off x="5782680" y="2738880"/>
            <a:ext cx="1006560" cy="291600"/>
          </a:xfrm>
          <a:prstGeom prst="rect">
            <a:avLst/>
          </a:prstGeom>
          <a:noFill/>
          <a:ln w="0">
            <a:noFill/>
          </a:ln>
        </p:spPr>
        <p:txBody>
          <a:bodyPr wrap="none" lIns="0" rIns="0" tIns="0" bIns="0" anchor="t">
            <a:spAutoFit/>
          </a:bodyPr>
          <a:p>
            <a:r>
              <a:rPr b="0" lang="zh-CN" sz="1580" strike="noStrike" u="none">
                <a:solidFill>
                  <a:srgbClr val="a7c6d9"/>
                </a:solidFill>
                <a:effectLst/>
                <a:uFillTx/>
                <a:latin typeface="NotoSansJP"/>
                <a:ea typeface="NotoSansJP"/>
              </a:rPr>
              <a:t>応用可能性</a:t>
            </a:r>
            <a:endParaRPr b="0" lang="en-US" sz="1580" strike="noStrike" u="none">
              <a:solidFill>
                <a:srgbClr val="000000"/>
              </a:solidFill>
              <a:effectLst/>
              <a:uFillTx/>
              <a:latin typeface="Times New Roman"/>
            </a:endParaRPr>
          </a:p>
        </p:txBody>
      </p:sp>
      <p:sp>
        <p:nvSpPr>
          <p:cNvPr id="822" name=""/>
          <p:cNvSpPr txBox="1"/>
          <p:nvPr/>
        </p:nvSpPr>
        <p:spPr>
          <a:xfrm>
            <a:off x="6016680" y="3277080"/>
            <a:ext cx="2280600" cy="194040"/>
          </a:xfrm>
          <a:prstGeom prst="rect">
            <a:avLst/>
          </a:prstGeom>
          <a:noFill/>
          <a:ln w="0">
            <a:noFill/>
          </a:ln>
        </p:spPr>
        <p:txBody>
          <a:bodyPr wrap="none" lIns="0" rIns="0" tIns="0" bIns="0" anchor="t">
            <a:spAutoFit/>
          </a:bodyPr>
          <a:p>
            <a:r>
              <a:rPr b="0" lang="zh-CN" sz="1050" strike="noStrike" u="none">
                <a:solidFill>
                  <a:srgbClr val="ffffff"/>
                </a:solidFill>
                <a:effectLst/>
                <a:uFillTx/>
                <a:latin typeface="NotoSansJP"/>
                <a:ea typeface="NotoSansJP"/>
              </a:rPr>
              <a:t>ホログラフィックディスプレイの開発</a:t>
            </a:r>
            <a:endParaRPr b="0" lang="en-US" sz="1050" strike="noStrike" u="none">
              <a:solidFill>
                <a:srgbClr val="000000"/>
              </a:solidFill>
              <a:effectLst/>
              <a:uFillTx/>
              <a:latin typeface="Times New Roman"/>
            </a:endParaRPr>
          </a:p>
        </p:txBody>
      </p:sp>
      <p:pic>
        <p:nvPicPr>
          <p:cNvPr id="823" name="" descr=""/>
          <p:cNvPicPr/>
          <p:nvPr/>
        </p:nvPicPr>
        <p:blipFill>
          <a:blip r:embed="rId10"/>
          <a:stretch/>
        </p:blipFill>
        <p:spPr>
          <a:xfrm>
            <a:off x="5615640" y="4078080"/>
            <a:ext cx="267120" cy="367200"/>
          </a:xfrm>
          <a:prstGeom prst="rect">
            <a:avLst/>
          </a:prstGeom>
          <a:noFill/>
          <a:ln w="0">
            <a:noFill/>
          </a:ln>
        </p:spPr>
      </p:pic>
      <p:sp>
        <p:nvSpPr>
          <p:cNvPr id="824" name=""/>
          <p:cNvSpPr txBox="1"/>
          <p:nvPr/>
        </p:nvSpPr>
        <p:spPr>
          <a:xfrm>
            <a:off x="6016680" y="3501360"/>
            <a:ext cx="3373920" cy="169560"/>
          </a:xfrm>
          <a:prstGeom prst="rect">
            <a:avLst/>
          </a:prstGeom>
          <a:noFill/>
          <a:ln w="0">
            <a:noFill/>
          </a:ln>
        </p:spPr>
        <p:txBody>
          <a:bodyPr wrap="none" lIns="0" rIns="0" tIns="0" bIns="0" anchor="t">
            <a:spAutoFit/>
          </a:bodyPr>
          <a:p>
            <a:r>
              <a:rPr b="0" lang="zh-CN" sz="920" strike="noStrike" u="none">
                <a:solidFill>
                  <a:srgbClr val="a7c6d9"/>
                </a:solidFill>
                <a:effectLst/>
                <a:uFillTx/>
                <a:latin typeface="NotoSansJP"/>
                <a:ea typeface="NotoSansJP"/>
              </a:rPr>
              <a:t>実際の観察条件を考慮した</a:t>
            </a:r>
            <a:r>
              <a:rPr b="0" lang="en-US" sz="920" strike="noStrike" u="none">
                <a:solidFill>
                  <a:srgbClr val="a7c6d9"/>
                </a:solidFill>
                <a:effectLst/>
                <a:uFillTx/>
                <a:latin typeface="NotoSansJP"/>
                <a:ea typeface="NotoSansJP"/>
              </a:rPr>
              <a:t>CGH</a:t>
            </a:r>
            <a:r>
              <a:rPr b="0" lang="zh-CN" sz="920" strike="noStrike" u="none">
                <a:solidFill>
                  <a:srgbClr val="a7c6d9"/>
                </a:solidFill>
                <a:effectLst/>
                <a:uFillTx/>
                <a:latin typeface="NotoSansJP"/>
                <a:ea typeface="NotoSansJP"/>
              </a:rPr>
              <a:t>の設計‧最適化に活用できます</a:t>
            </a:r>
            <a:endParaRPr b="0" lang="en-US" sz="920" strike="noStrike" u="none">
              <a:solidFill>
                <a:srgbClr val="000000"/>
              </a:solidFill>
              <a:effectLst/>
              <a:uFillTx/>
              <a:latin typeface="Times New Roman"/>
            </a:endParaRPr>
          </a:p>
        </p:txBody>
      </p:sp>
      <p:sp>
        <p:nvSpPr>
          <p:cNvPr id="825" name=""/>
          <p:cNvSpPr txBox="1"/>
          <p:nvPr/>
        </p:nvSpPr>
        <p:spPr>
          <a:xfrm>
            <a:off x="6016680" y="4079160"/>
            <a:ext cx="1251720" cy="194040"/>
          </a:xfrm>
          <a:prstGeom prst="rect">
            <a:avLst/>
          </a:prstGeom>
          <a:noFill/>
          <a:ln w="0">
            <a:noFill/>
          </a:ln>
        </p:spPr>
        <p:txBody>
          <a:bodyPr wrap="none" lIns="0" rIns="0" tIns="0" bIns="0" anchor="t">
            <a:spAutoFit/>
          </a:bodyPr>
          <a:p>
            <a:r>
              <a:rPr b="0" lang="en-US" sz="1050" strike="noStrike" u="none">
                <a:solidFill>
                  <a:srgbClr val="ffffff"/>
                </a:solidFill>
                <a:effectLst/>
                <a:uFillTx/>
                <a:latin typeface="NotoSansJP"/>
                <a:ea typeface="NotoSansJP"/>
              </a:rPr>
              <a:t>AR/VR</a:t>
            </a:r>
            <a:r>
              <a:rPr b="0" lang="zh-CN" sz="1050" strike="noStrike" u="none">
                <a:solidFill>
                  <a:srgbClr val="ffffff"/>
                </a:solidFill>
                <a:effectLst/>
                <a:uFillTx/>
                <a:latin typeface="NotoSansJP"/>
                <a:ea typeface="NotoSansJP"/>
              </a:rPr>
              <a:t>技術への展開</a:t>
            </a:r>
            <a:endParaRPr b="0" lang="en-US" sz="1050" strike="noStrike" u="none">
              <a:solidFill>
                <a:srgbClr val="000000"/>
              </a:solidFill>
              <a:effectLst/>
              <a:uFillTx/>
              <a:latin typeface="Times New Roman"/>
            </a:endParaRPr>
          </a:p>
        </p:txBody>
      </p:sp>
      <p:pic>
        <p:nvPicPr>
          <p:cNvPr id="826" name="" descr=""/>
          <p:cNvPicPr/>
          <p:nvPr/>
        </p:nvPicPr>
        <p:blipFill>
          <a:blip r:embed="rId11"/>
          <a:stretch/>
        </p:blipFill>
        <p:spPr>
          <a:xfrm>
            <a:off x="5615640" y="4880160"/>
            <a:ext cx="267120" cy="367200"/>
          </a:xfrm>
          <a:prstGeom prst="rect">
            <a:avLst/>
          </a:prstGeom>
          <a:noFill/>
          <a:ln w="0">
            <a:noFill/>
          </a:ln>
        </p:spPr>
      </p:pic>
      <p:sp>
        <p:nvSpPr>
          <p:cNvPr id="827" name=""/>
          <p:cNvSpPr txBox="1"/>
          <p:nvPr/>
        </p:nvSpPr>
        <p:spPr>
          <a:xfrm>
            <a:off x="6016680" y="4303800"/>
            <a:ext cx="3873240" cy="169560"/>
          </a:xfrm>
          <a:prstGeom prst="rect">
            <a:avLst/>
          </a:prstGeom>
          <a:noFill/>
          <a:ln w="0">
            <a:noFill/>
          </a:ln>
        </p:spPr>
        <p:txBody>
          <a:bodyPr wrap="none" lIns="0" rIns="0" tIns="0" bIns="0" anchor="t">
            <a:spAutoFit/>
          </a:bodyPr>
          <a:p>
            <a:r>
              <a:rPr b="0" lang="zh-CN" sz="920" strike="noStrike" u="none">
                <a:solidFill>
                  <a:srgbClr val="a7c6d9"/>
                </a:solidFill>
                <a:effectLst/>
                <a:uFillTx/>
                <a:latin typeface="NotoSansJP"/>
                <a:ea typeface="NotoSansJP"/>
              </a:rPr>
              <a:t>より自然な立体視を実現するための光学シミュレーション技術として活用</a:t>
            </a:r>
            <a:endParaRPr b="0" lang="en-US" sz="920" strike="noStrike" u="none">
              <a:solidFill>
                <a:srgbClr val="000000"/>
              </a:solidFill>
              <a:effectLst/>
              <a:uFillTx/>
              <a:latin typeface="Times New Roman"/>
            </a:endParaRPr>
          </a:p>
        </p:txBody>
      </p:sp>
      <p:sp>
        <p:nvSpPr>
          <p:cNvPr id="828" name=""/>
          <p:cNvSpPr txBox="1"/>
          <p:nvPr/>
        </p:nvSpPr>
        <p:spPr>
          <a:xfrm>
            <a:off x="6016680" y="4881600"/>
            <a:ext cx="2129040" cy="194040"/>
          </a:xfrm>
          <a:prstGeom prst="rect">
            <a:avLst/>
          </a:prstGeom>
          <a:noFill/>
          <a:ln w="0">
            <a:noFill/>
          </a:ln>
        </p:spPr>
        <p:txBody>
          <a:bodyPr wrap="none" lIns="0" rIns="0" tIns="0" bIns="0" anchor="t">
            <a:spAutoFit/>
          </a:bodyPr>
          <a:p>
            <a:r>
              <a:rPr b="0" lang="en-US" sz="1050" strike="noStrike" u="none">
                <a:solidFill>
                  <a:srgbClr val="ffffff"/>
                </a:solidFill>
                <a:effectLst/>
                <a:uFillTx/>
                <a:latin typeface="NotoSansJP"/>
                <a:ea typeface="NotoSansJP"/>
              </a:rPr>
              <a:t>3</a:t>
            </a:r>
            <a:r>
              <a:rPr b="0" lang="zh-CN" sz="1050" strike="noStrike" u="none">
                <a:solidFill>
                  <a:srgbClr val="ffffff"/>
                </a:solidFill>
                <a:effectLst/>
                <a:uFillTx/>
                <a:latin typeface="NotoSansJP"/>
                <a:ea typeface="NotoSansJP"/>
              </a:rPr>
              <a:t>次元計測‧視覚シミュレーション</a:t>
            </a:r>
            <a:endParaRPr b="0" lang="en-US" sz="1050" strike="noStrike" u="none">
              <a:solidFill>
                <a:srgbClr val="000000"/>
              </a:solidFill>
              <a:effectLst/>
              <a:uFillTx/>
              <a:latin typeface="Times New Roman"/>
            </a:endParaRPr>
          </a:p>
        </p:txBody>
      </p:sp>
      <p:sp>
        <p:nvSpPr>
          <p:cNvPr id="829" name=""/>
          <p:cNvSpPr txBox="1"/>
          <p:nvPr/>
        </p:nvSpPr>
        <p:spPr>
          <a:xfrm>
            <a:off x="6016680" y="5105880"/>
            <a:ext cx="3773880" cy="169560"/>
          </a:xfrm>
          <a:prstGeom prst="rect">
            <a:avLst/>
          </a:prstGeom>
          <a:noFill/>
          <a:ln w="0">
            <a:noFill/>
          </a:ln>
        </p:spPr>
        <p:txBody>
          <a:bodyPr wrap="none" lIns="0" rIns="0" tIns="0" bIns="0" anchor="t">
            <a:spAutoFit/>
          </a:bodyPr>
          <a:p>
            <a:r>
              <a:rPr b="0" lang="zh-CN" sz="920" strike="noStrike" u="none">
                <a:solidFill>
                  <a:srgbClr val="a7c6d9"/>
                </a:solidFill>
                <a:effectLst/>
                <a:uFillTx/>
                <a:latin typeface="NotoSansJP"/>
                <a:ea typeface="NotoSansJP"/>
              </a:rPr>
              <a:t>医療分野や工業分野での精密な</a:t>
            </a:r>
            <a:r>
              <a:rPr b="0" lang="en-US" sz="920" strike="noStrike" u="none">
                <a:solidFill>
                  <a:srgbClr val="a7c6d9"/>
                </a:solidFill>
                <a:effectLst/>
                <a:uFillTx/>
                <a:latin typeface="NotoSansJP"/>
                <a:ea typeface="NotoSansJP"/>
              </a:rPr>
              <a:t>3</a:t>
            </a:r>
            <a:r>
              <a:rPr b="0" lang="zh-CN" sz="920" strike="noStrike" u="none">
                <a:solidFill>
                  <a:srgbClr val="a7c6d9"/>
                </a:solidFill>
                <a:effectLst/>
                <a:uFillTx/>
                <a:latin typeface="NotoSansJP"/>
                <a:ea typeface="NotoSansJP"/>
              </a:rPr>
              <a:t>次元イメージング技術として応用可能</a:t>
            </a:r>
            <a:endParaRPr b="0" lang="en-US" sz="920" strike="noStrike" u="none">
              <a:solidFill>
                <a:srgbClr val="000000"/>
              </a:solidFill>
              <a:effectLst/>
              <a:uFillTx/>
              <a:latin typeface="Times New Roman"/>
            </a:endParaRPr>
          </a:p>
        </p:txBody>
      </p:sp>
      <p:sp>
        <p:nvSpPr>
          <p:cNvPr id="830" name=""/>
          <p:cNvSpPr txBox="1"/>
          <p:nvPr/>
        </p:nvSpPr>
        <p:spPr>
          <a:xfrm>
            <a:off x="10136520" y="5741280"/>
            <a:ext cx="413640" cy="136080"/>
          </a:xfrm>
          <a:prstGeom prst="rect">
            <a:avLst/>
          </a:prstGeom>
          <a:noFill/>
          <a:ln w="0">
            <a:noFill/>
          </a:ln>
        </p:spPr>
        <p:txBody>
          <a:bodyPr wrap="none" lIns="0" rIns="0" tIns="0" bIns="0" anchor="t">
            <a:spAutoFit/>
          </a:bodyPr>
          <a:p>
            <a:r>
              <a:rPr b="0" lang="en-US" sz="920" strike="noStrike" u="none">
                <a:solidFill>
                  <a:srgbClr val="a7c6d9"/>
                </a:solidFill>
                <a:effectLst/>
                <a:uFillTx/>
                <a:latin typeface="NotoSansJP"/>
                <a:ea typeface="NotoSansJP"/>
              </a:rPr>
              <a:t>13 / 13</a:t>
            </a:r>
            <a:endParaRPr b="0" lang="en-US" sz="920" strike="noStrike" u="non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LibreOffice/25.2.3.2$Linux_X86_64 LibreOffice_project/bbb074479178df812d175f709636b368952c2ce3</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dc:description/>
  <dc:language>en-US</dc:language>
  <cp:lastModifiedBy/>
  <cp:revision>0</cp:revision>
  <dc:subject/>
  <dc:title/>
</cp:coreProperties>
</file>