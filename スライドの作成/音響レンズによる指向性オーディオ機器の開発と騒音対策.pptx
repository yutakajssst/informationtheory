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0704513" cy="601632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60">
    <p:spTree>
      <p:nvGrpSpPr>
        <p:cNvPr id="1" name=""/>
        <p:cNvGrpSpPr/>
        <p:nvPr/>
      </p:nvGrpSpPr>
      <p:grpSpPr>
        <a:xfrm>
          <a:off x="0" y="0"/>
          <a:ext cx="0" cy="0"/>
          <a:chOff x="0" y="0"/>
          <a:chExt cx="0" cy="0"/>
        </a:xfrm>
      </p:grpSpPr>
      <p:sp>
        <p:nvSpPr>
          <p:cNvPr id="0"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125">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64">
    <p:spTree>
      <p:nvGrpSpPr>
        <p:cNvPr id="1" name=""/>
        <p:cNvGrpSpPr/>
        <p:nvPr/>
      </p:nvGrpSpPr>
      <p:grpSpPr>
        <a:xfrm>
          <a:off x="0" y="0"/>
          <a:ext cx="0" cy="0"/>
          <a:chOff x="0" y="0"/>
          <a:chExt cx="0" cy="0"/>
        </a:xfrm>
      </p:grpSpPr>
      <p:sp>
        <p:nvSpPr>
          <p:cNvPr id="4"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5"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4">
    <p:spTree>
      <p:nvGrpSpPr>
        <p:cNvPr id="1" name=""/>
        <p:cNvGrpSpPr/>
        <p:nvPr/>
      </p:nvGrpSpPr>
      <p:grpSpPr>
        <a:xfrm>
          <a:off x="0" y="0"/>
          <a:ext cx="0" cy="0"/>
          <a:chOff x="0" y="0"/>
          <a:chExt cx="0" cy="0"/>
        </a:xfrm>
      </p:grpSpPr>
      <p:sp>
        <p:nvSpPr>
          <p:cNvPr id="6"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8"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9"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158">
    <p:spTree>
      <p:nvGrpSpPr>
        <p:cNvPr id="1" name=""/>
        <p:cNvGrpSpPr/>
        <p:nvPr/>
      </p:nvGrpSpPr>
      <p:grpSpPr>
        <a:xfrm>
          <a:off x="0" y="0"/>
          <a:ext cx="0" cy="0"/>
          <a:chOff x="0" y="0"/>
          <a:chExt cx="0" cy="0"/>
        </a:xfrm>
      </p:grpSpPr>
      <p:sp>
        <p:nvSpPr>
          <p:cNvPr id="10"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1"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193">
    <p:spTree>
      <p:nvGrpSpPr>
        <p:cNvPr id="1" name=""/>
        <p:cNvGrpSpPr/>
        <p:nvPr/>
      </p:nvGrpSpPr>
      <p:grpSpPr>
        <a:xfrm>
          <a:off x="0" y="0"/>
          <a:ext cx="0" cy="0"/>
          <a:chOff x="0" y="0"/>
          <a:chExt cx="0" cy="0"/>
        </a:xfrm>
      </p:grpSpPr>
      <p:sp>
        <p:nvSpPr>
          <p:cNvPr id="12"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06">
    <p:spTree>
      <p:nvGrpSpPr>
        <p:cNvPr id="1" name=""/>
        <p:cNvGrpSpPr/>
        <p:nvPr/>
      </p:nvGrpSpPr>
      <p:grpSpPr>
        <a:xfrm>
          <a:off x="0" y="0"/>
          <a:ext cx="0" cy="0"/>
          <a:chOff x="0" y="0"/>
          <a:chExt cx="0" cy="0"/>
        </a:xfrm>
      </p:grpSpPr>
      <p:sp>
        <p:nvSpPr>
          <p:cNvPr id="14"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5"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15">
    <p:spTree>
      <p:nvGrpSpPr>
        <p:cNvPr id="1" name=""/>
        <p:cNvGrpSpPr/>
        <p:nvPr/>
      </p:nvGrpSpPr>
      <p:grpSpPr>
        <a:xfrm>
          <a:off x="0" y="0"/>
          <a:ext cx="0" cy="0"/>
          <a:chOff x="0" y="0"/>
          <a:chExt cx="0" cy="0"/>
        </a:xfrm>
      </p:grpSpPr>
      <p:sp>
        <p:nvSpPr>
          <p:cNvPr id="16"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7"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28">
    <p:spTree>
      <p:nvGrpSpPr>
        <p:cNvPr id="1" name=""/>
        <p:cNvGrpSpPr/>
        <p:nvPr/>
      </p:nvGrpSpPr>
      <p:grpSpPr>
        <a:xfrm>
          <a:off x="0" y="0"/>
          <a:ext cx="0" cy="0"/>
          <a:chOff x="0" y="0"/>
          <a:chExt cx="0" cy="0"/>
        </a:xfrm>
      </p:grpSpPr>
      <p:sp>
        <p:nvSpPr>
          <p:cNvPr id="18"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9"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39">
    <p:spTree>
      <p:nvGrpSpPr>
        <p:cNvPr id="1" name=""/>
        <p:cNvGrpSpPr/>
        <p:nvPr/>
      </p:nvGrpSpPr>
      <p:grpSpPr>
        <a:xfrm>
          <a:off x="0" y="0"/>
          <a:ext cx="0" cy="0"/>
          <a:chOff x="0" y="0"/>
          <a:chExt cx="0" cy="0"/>
        </a:xfrm>
      </p:grpSpPr>
      <p:sp>
        <p:nvSpPr>
          <p:cNvPr id="20" name="PlaceHolder 1"/>
          <p:cNvSpPr>
            <a:spLocks noGrp="1"/>
          </p:cNvSpPr>
          <p:nvPr>
            <p:ph type="title"/>
          </p:nvPr>
        </p:nvSpPr>
        <p:spPr>
          <a:xfrm>
            <a:off x="534960" y="244800"/>
            <a:ext cx="9633240" cy="102492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1" name="PlaceHolder 2"/>
          <p:cNvSpPr>
            <a:spLocks noGrp="1"/>
          </p:cNvSpPr>
          <p:nvPr>
            <p:ph type="body"/>
          </p:nvPr>
        </p:nvSpPr>
        <p:spPr>
          <a:xfrm>
            <a:off x="534960" y="1436760"/>
            <a:ext cx="9633240" cy="3561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0.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2.png"/><Relationship Id="rId8"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3.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6.png"/><Relationship Id="rId14" Type="http://schemas.openxmlformats.org/officeDocument/2006/relationships/image" Target="../media/image38.png"/><Relationship Id="rId15" Type="http://schemas.openxmlformats.org/officeDocument/2006/relationships/image" Target="../media/image39.png"/><Relationship Id="rId16" Type="http://schemas.openxmlformats.org/officeDocument/2006/relationships/image" Target="../media/image40.png"/><Relationship Id="rId17" Type="http://schemas.openxmlformats.org/officeDocument/2006/relationships/image" Target="../media/image41.png"/><Relationship Id="rId18" Type="http://schemas.openxmlformats.org/officeDocument/2006/relationships/image" Target="../media/image42.png"/><Relationship Id="rId19" Type="http://schemas.openxmlformats.org/officeDocument/2006/relationships/image" Target="../media/image43.png"/><Relationship Id="rId20" Type="http://schemas.openxmlformats.org/officeDocument/2006/relationships/image" Target="../media/image44.png"/><Relationship Id="rId21" Type="http://schemas.openxmlformats.org/officeDocument/2006/relationships/image" Target="../media/image45.png"/><Relationship Id="rId22" Type="http://schemas.openxmlformats.org/officeDocument/2006/relationships/image" Target="../media/image46.png"/><Relationship Id="rId23" Type="http://schemas.openxmlformats.org/officeDocument/2006/relationships/image" Target="../media/image47.png"/><Relationship Id="rId24" Type="http://schemas.openxmlformats.org/officeDocument/2006/relationships/image" Target="../media/image48.png"/><Relationship Id="rId25" Type="http://schemas.openxmlformats.org/officeDocument/2006/relationships/image" Target="../media/image47.png"/><Relationship Id="rId26" Type="http://schemas.openxmlformats.org/officeDocument/2006/relationships/image" Target="../media/image48.png"/><Relationship Id="rId27" Type="http://schemas.openxmlformats.org/officeDocument/2006/relationships/image" Target="../media/image49.png"/><Relationship Id="rId28" Type="http://schemas.openxmlformats.org/officeDocument/2006/relationships/image" Target="../media/image48.png"/><Relationship Id="rId29" Type="http://schemas.openxmlformats.org/officeDocument/2006/relationships/image" Target="../media/image47.png"/><Relationship Id="rId30" Type="http://schemas.openxmlformats.org/officeDocument/2006/relationships/image" Target="../media/image48.png"/><Relationship Id="rId31" Type="http://schemas.openxmlformats.org/officeDocument/2006/relationships/image" Target="../media/image47.png"/><Relationship Id="rId32" Type="http://schemas.openxmlformats.org/officeDocument/2006/relationships/image" Target="../media/image50.png"/><Relationship Id="rId33" Type="http://schemas.openxmlformats.org/officeDocument/2006/relationships/image" Target="../media/image51.png"/><Relationship Id="rId34" Type="http://schemas.openxmlformats.org/officeDocument/2006/relationships/image" Target="../media/image50.png"/><Relationship Id="rId35" Type="http://schemas.openxmlformats.org/officeDocument/2006/relationships/image" Target="../media/image52.png"/><Relationship Id="rId36" Type="http://schemas.openxmlformats.org/officeDocument/2006/relationships/image" Target="../media/image50.png"/><Relationship Id="rId37" Type="http://schemas.openxmlformats.org/officeDocument/2006/relationships/image" Target="../media/image53.png"/><Relationship Id="rId38"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5.png"/><Relationship Id="rId5" Type="http://schemas.openxmlformats.org/officeDocument/2006/relationships/image" Target="../media/image55.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0.png"/><Relationship Id="rId14" Type="http://schemas.openxmlformats.org/officeDocument/2006/relationships/image" Target="../media/image61.png"/><Relationship Id="rId15"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6.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0.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3.png"/><Relationship Id="rId13" Type="http://schemas.openxmlformats.org/officeDocument/2006/relationships/image" Target="../media/image74.png"/><Relationship Id="rId14" Type="http://schemas.openxmlformats.org/officeDocument/2006/relationships/image" Target="../media/image74.png"/><Relationship Id="rId15" Type="http://schemas.openxmlformats.org/officeDocument/2006/relationships/image" Target="../media/image74.png"/><Relationship Id="rId16" Type="http://schemas.openxmlformats.org/officeDocument/2006/relationships/image" Target="../media/image75.png"/><Relationship Id="rId17" Type="http://schemas.openxmlformats.org/officeDocument/2006/relationships/image" Target="../media/image59.png"/><Relationship Id="rId18" Type="http://schemas.openxmlformats.org/officeDocument/2006/relationships/image" Target="../media/image59.png"/><Relationship Id="rId19" Type="http://schemas.openxmlformats.org/officeDocument/2006/relationships/image" Target="../media/image76.png"/><Relationship Id="rId20" Type="http://schemas.openxmlformats.org/officeDocument/2006/relationships/image" Target="../media/image76.png"/><Relationship Id="rId21" Type="http://schemas.openxmlformats.org/officeDocument/2006/relationships/image" Target="../media/image58.png"/><Relationship Id="rId22" Type="http://schemas.openxmlformats.org/officeDocument/2006/relationships/image" Target="../media/image77.png"/><Relationship Id="rId23"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79.png"/><Relationship Id="rId5" Type="http://schemas.openxmlformats.org/officeDocument/2006/relationships/image" Target="../media/image79.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 Id="rId12" Type="http://schemas.openxmlformats.org/officeDocument/2006/relationships/image" Target="../media/image84.png"/><Relationship Id="rId13" Type="http://schemas.openxmlformats.org/officeDocument/2006/relationships/image" Target="../media/image85.png"/><Relationship Id="rId14" Type="http://schemas.openxmlformats.org/officeDocument/2006/relationships/image" Target="../media/image86.png"/><Relationship Id="rId15" Type="http://schemas.openxmlformats.org/officeDocument/2006/relationships/image" Target="../media/image87.png"/><Relationship Id="rId16"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88.png"/><Relationship Id="rId4" Type="http://schemas.openxmlformats.org/officeDocument/2006/relationships/image" Target="../media/image88.png"/><Relationship Id="rId5" Type="http://schemas.openxmlformats.org/officeDocument/2006/relationships/image" Target="../media/image88.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79.png"/><Relationship Id="rId9" Type="http://schemas.openxmlformats.org/officeDocument/2006/relationships/image" Target="../media/image79.png"/><Relationship Id="rId10" Type="http://schemas.openxmlformats.org/officeDocument/2006/relationships/image" Target="../media/image79.pn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png"/><Relationship Id="rId14" Type="http://schemas.openxmlformats.org/officeDocument/2006/relationships/image" Target="../media/image93.png"/><Relationship Id="rId15" Type="http://schemas.openxmlformats.org/officeDocument/2006/relationships/image" Target="../media/image94.png"/><Relationship Id="rId16" Type="http://schemas.openxmlformats.org/officeDocument/2006/relationships/image" Target="../media/image95.png"/><Relationship Id="rId17" Type="http://schemas.openxmlformats.org/officeDocument/2006/relationships/image" Target="../media/image96.png"/><Relationship Id="rId18" Type="http://schemas.openxmlformats.org/officeDocument/2006/relationships/image" Target="../media/image97.png"/><Relationship Id="rId19" Type="http://schemas.openxmlformats.org/officeDocument/2006/relationships/image" Target="../media/image98.png"/><Relationship Id="rId20" Type="http://schemas.openxmlformats.org/officeDocument/2006/relationships/image" Target="../media/image97.png"/><Relationship Id="rId21" Type="http://schemas.openxmlformats.org/officeDocument/2006/relationships/image" Target="../media/image99.png"/><Relationship Id="rId22" Type="http://schemas.openxmlformats.org/officeDocument/2006/relationships/image" Target="../media/image100.png"/><Relationship Id="rId23" Type="http://schemas.openxmlformats.org/officeDocument/2006/relationships/image" Target="../media/image101.png"/><Relationship Id="rId24" Type="http://schemas.openxmlformats.org/officeDocument/2006/relationships/image" Target="../media/image102.png"/><Relationship Id="rId25" Type="http://schemas.openxmlformats.org/officeDocument/2006/relationships/image" Target="../media/image103.png"/><Relationship Id="rId26" Type="http://schemas.openxmlformats.org/officeDocument/2006/relationships/image" Target="../media/image104.png"/><Relationship Id="rId27" Type="http://schemas.openxmlformats.org/officeDocument/2006/relationships/image" Target="../media/image105.png"/><Relationship Id="rId28" Type="http://schemas.openxmlformats.org/officeDocument/2006/relationships/image" Target="../media/image106.png"/><Relationship Id="rId29" Type="http://schemas.openxmlformats.org/officeDocument/2006/relationships/image" Target="../media/image107.png"/><Relationship Id="rId30"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08.png"/><Relationship Id="rId3" Type="http://schemas.openxmlformats.org/officeDocument/2006/relationships/image" Target="../media/image59.png"/><Relationship Id="rId4" Type="http://schemas.openxmlformats.org/officeDocument/2006/relationships/image" Target="../media/image59.png"/><Relationship Id="rId5" Type="http://schemas.openxmlformats.org/officeDocument/2006/relationships/image" Target="../media/image59.png"/><Relationship Id="rId6" Type="http://schemas.openxmlformats.org/officeDocument/2006/relationships/image" Target="../media/image109.png"/><Relationship Id="rId7" Type="http://schemas.openxmlformats.org/officeDocument/2006/relationships/image" Target="../media/image109.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114.png"/><Relationship Id="rId14" Type="http://schemas.openxmlformats.org/officeDocument/2006/relationships/image" Target="../media/image115.png"/><Relationship Id="rId15"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image" Target="../media/image117.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 Id="rId8" Type="http://schemas.openxmlformats.org/officeDocument/2006/relationships/image" Target="../media/image118.pn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1.png"/><Relationship Id="rId12" Type="http://schemas.openxmlformats.org/officeDocument/2006/relationships/image" Target="../media/image121.png"/><Relationship Id="rId13" Type="http://schemas.openxmlformats.org/officeDocument/2006/relationships/image" Target="../media/image8.png"/><Relationship Id="rId14" Type="http://schemas.openxmlformats.org/officeDocument/2006/relationships/image" Target="../media/image122.png"/><Relationship Id="rId15" Type="http://schemas.openxmlformats.org/officeDocument/2006/relationships/image" Target="../media/image122.png"/><Relationship Id="rId16" Type="http://schemas.openxmlformats.org/officeDocument/2006/relationships/image" Target="../media/image122.png"/><Relationship Id="rId17" Type="http://schemas.openxmlformats.org/officeDocument/2006/relationships/image" Target="../media/image90.png"/><Relationship Id="rId18" Type="http://schemas.openxmlformats.org/officeDocument/2006/relationships/image" Target="../media/image123.png"/><Relationship Id="rId19" Type="http://schemas.openxmlformats.org/officeDocument/2006/relationships/image" Target="../media/image124.png"/><Relationship Id="rId20" Type="http://schemas.openxmlformats.org/officeDocument/2006/relationships/image" Target="../media/image125.png"/><Relationship Id="rId21" Type="http://schemas.openxmlformats.org/officeDocument/2006/relationships/image" Target="../media/image126.png"/><Relationship Id="rId22" Type="http://schemas.openxmlformats.org/officeDocument/2006/relationships/image" Target="../media/image126.png"/><Relationship Id="rId23" Type="http://schemas.openxmlformats.org/officeDocument/2006/relationships/image" Target="../media/image126.png"/><Relationship Id="rId24"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78.png"/><Relationship Id="rId3" Type="http://schemas.openxmlformats.org/officeDocument/2006/relationships/image" Target="../media/image127.png"/><Relationship Id="rId4"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133.png"/><Relationship Id="rId12" Type="http://schemas.openxmlformats.org/officeDocument/2006/relationships/image" Target="../media/image134.png"/><Relationship Id="rId13" Type="http://schemas.openxmlformats.org/officeDocument/2006/relationships/image" Target="../media/image135.png"/><Relationship Id="rId1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36.png"/><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9.png"/><Relationship Id="rId6" Type="http://schemas.openxmlformats.org/officeDocument/2006/relationships/image" Target="../media/image140.png"/><Relationship Id="rId7" Type="http://schemas.openxmlformats.org/officeDocument/2006/relationships/image" Target="../media/image141.png"/><Relationship Id="rId8" Type="http://schemas.openxmlformats.org/officeDocument/2006/relationships/image" Target="../media/image139.png"/><Relationship Id="rId9" Type="http://schemas.openxmlformats.org/officeDocument/2006/relationships/image" Target="../media/image142.png"/><Relationship Id="rId10" Type="http://schemas.openxmlformats.org/officeDocument/2006/relationships/image" Target="../media/image140.png"/><Relationship Id="rId11" Type="http://schemas.openxmlformats.org/officeDocument/2006/relationships/image" Target="../media/image143.png"/><Relationship Id="rId12" Type="http://schemas.openxmlformats.org/officeDocument/2006/relationships/image" Target="../media/image144.png"/><Relationship Id="rId13"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 name="" descr=""/>
          <p:cNvPicPr/>
          <p:nvPr/>
        </p:nvPicPr>
        <p:blipFill>
          <a:blip r:embed="rId1"/>
          <a:stretch/>
        </p:blipFill>
        <p:spPr>
          <a:xfrm>
            <a:off x="0" y="0"/>
            <a:ext cx="10696320" cy="6016320"/>
          </a:xfrm>
          <a:prstGeom prst="rect">
            <a:avLst/>
          </a:prstGeom>
          <a:noFill/>
          <a:ln w="0">
            <a:noFill/>
          </a:ln>
        </p:spPr>
      </p:pic>
      <p:sp>
        <p:nvSpPr>
          <p:cNvPr id="23" name=""/>
          <p:cNvSpPr txBox="1"/>
          <p:nvPr/>
        </p:nvSpPr>
        <p:spPr>
          <a:xfrm>
            <a:off x="802080" y="1500840"/>
            <a:ext cx="480420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音響レンズを応用した指向性オーデ</a:t>
            </a:r>
            <a:endParaRPr b="0" lang="en-US" sz="2370" strike="noStrike" u="none">
              <a:solidFill>
                <a:srgbClr val="000000"/>
              </a:solidFill>
              <a:effectLst/>
              <a:uFillTx/>
              <a:latin typeface="Times New Roman"/>
            </a:endParaRPr>
          </a:p>
        </p:txBody>
      </p:sp>
      <p:sp>
        <p:nvSpPr>
          <p:cNvPr id="24" name=""/>
          <p:cNvSpPr/>
          <p:nvPr/>
        </p:nvSpPr>
        <p:spPr>
          <a:xfrm>
            <a:off x="802080" y="2498400"/>
            <a:ext cx="835920" cy="67320"/>
          </a:xfrm>
          <a:custGeom>
            <a:avLst/>
            <a:gdLst/>
            <a:ahLst/>
            <a:rect l="0" t="0" r="r" b="b"/>
            <a:pathLst>
              <a:path w="2322" h="187">
                <a:moveTo>
                  <a:pt x="0" y="0"/>
                </a:moveTo>
                <a:lnTo>
                  <a:pt x="2322" y="0"/>
                </a:lnTo>
                <a:lnTo>
                  <a:pt x="2322" y="187"/>
                </a:lnTo>
                <a:lnTo>
                  <a:pt x="0" y="187"/>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 name=""/>
          <p:cNvSpPr txBox="1"/>
          <p:nvPr/>
        </p:nvSpPr>
        <p:spPr>
          <a:xfrm>
            <a:off x="802080" y="1893600"/>
            <a:ext cx="360360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ィオ機器の開発と騒音対策</a:t>
            </a:r>
            <a:endParaRPr b="0" lang="en-US" sz="2370" strike="noStrike" u="none">
              <a:solidFill>
                <a:srgbClr val="000000"/>
              </a:solidFill>
              <a:effectLst/>
              <a:uFillTx/>
              <a:latin typeface="Times New Roman"/>
            </a:endParaRPr>
          </a:p>
        </p:txBody>
      </p:sp>
      <p:sp>
        <p:nvSpPr>
          <p:cNvPr id="26" name=""/>
          <p:cNvSpPr txBox="1"/>
          <p:nvPr/>
        </p:nvSpPr>
        <p:spPr>
          <a:xfrm>
            <a:off x="802080" y="2719440"/>
            <a:ext cx="5478120" cy="195480"/>
          </a:xfrm>
          <a:prstGeom prst="rect">
            <a:avLst/>
          </a:prstGeom>
          <a:noFill/>
          <a:ln w="0">
            <a:noFill/>
          </a:ln>
        </p:spPr>
        <p:txBody>
          <a:bodyPr wrap="none" lIns="0" rIns="0" tIns="0" bIns="0" anchor="t">
            <a:spAutoFit/>
          </a:bodyPr>
          <a:p>
            <a:r>
              <a:rPr b="0" lang="en-US" sz="1320" strike="noStrike" u="none">
                <a:solidFill>
                  <a:srgbClr val="c0c0c0"/>
                </a:solidFill>
                <a:effectLst/>
                <a:uFillTx/>
                <a:latin typeface="NotoSansJP"/>
                <a:ea typeface="NotoSansJP"/>
              </a:rPr>
              <a:t>Consideration of an audio device that can specify the destination</a:t>
            </a:r>
            <a:endParaRPr b="0" lang="en-US" sz="1320" strike="noStrike" u="none">
              <a:solidFill>
                <a:srgbClr val="000000"/>
              </a:solidFill>
              <a:effectLst/>
              <a:uFillTx/>
              <a:latin typeface="Times New Roman"/>
            </a:endParaRPr>
          </a:p>
        </p:txBody>
      </p:sp>
      <p:sp>
        <p:nvSpPr>
          <p:cNvPr id="27" name=""/>
          <p:cNvSpPr txBox="1"/>
          <p:nvPr/>
        </p:nvSpPr>
        <p:spPr>
          <a:xfrm>
            <a:off x="802080" y="2953440"/>
            <a:ext cx="1593000" cy="195480"/>
          </a:xfrm>
          <a:prstGeom prst="rect">
            <a:avLst/>
          </a:prstGeom>
          <a:noFill/>
          <a:ln w="0">
            <a:noFill/>
          </a:ln>
        </p:spPr>
        <p:txBody>
          <a:bodyPr wrap="none" lIns="0" rIns="0" tIns="0" bIns="0" anchor="t">
            <a:spAutoFit/>
          </a:bodyPr>
          <a:p>
            <a:r>
              <a:rPr b="0" lang="en-US" sz="1320" strike="noStrike" u="none">
                <a:solidFill>
                  <a:srgbClr val="c0c0c0"/>
                </a:solidFill>
                <a:effectLst/>
                <a:uFillTx/>
                <a:latin typeface="NotoSansJP"/>
                <a:ea typeface="NotoSansJP"/>
              </a:rPr>
              <a:t>using acoustic lens</a:t>
            </a:r>
            <a:endParaRPr b="0" lang="en-US" sz="1320" strike="noStrike" u="none">
              <a:solidFill>
                <a:srgbClr val="000000"/>
              </a:solidFill>
              <a:effectLst/>
              <a:uFillTx/>
              <a:latin typeface="Times New Roman"/>
            </a:endParaRPr>
          </a:p>
        </p:txBody>
      </p:sp>
      <p:sp>
        <p:nvSpPr>
          <p:cNvPr id="28" name=""/>
          <p:cNvSpPr txBox="1"/>
          <p:nvPr/>
        </p:nvSpPr>
        <p:spPr>
          <a:xfrm>
            <a:off x="802080" y="3789360"/>
            <a:ext cx="218016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日本大学理工学部電子工学科</a:t>
            </a:r>
            <a:endParaRPr b="0" lang="en-US" sz="1320" strike="noStrike" u="none">
              <a:solidFill>
                <a:srgbClr val="000000"/>
              </a:solidFill>
              <a:effectLst/>
              <a:uFillTx/>
              <a:latin typeface="Times New Roman"/>
            </a:endParaRPr>
          </a:p>
        </p:txBody>
      </p:sp>
      <p:sp>
        <p:nvSpPr>
          <p:cNvPr id="29" name=""/>
          <p:cNvSpPr txBox="1"/>
          <p:nvPr/>
        </p:nvSpPr>
        <p:spPr>
          <a:xfrm>
            <a:off x="802080" y="4089960"/>
            <a:ext cx="194688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学生番号</a:t>
            </a:r>
            <a:r>
              <a:rPr b="0" lang="en-US" sz="1320" strike="noStrike" u="none">
                <a:solidFill>
                  <a:srgbClr val="ffffff"/>
                </a:solidFill>
                <a:effectLst/>
                <a:uFillTx/>
                <a:latin typeface="NotoSansJP"/>
                <a:ea typeface="NotoSansJP"/>
              </a:rPr>
              <a:t>1010 </a:t>
            </a:r>
            <a:r>
              <a:rPr b="0" lang="zh-CN" sz="1320" strike="noStrike" u="none">
                <a:solidFill>
                  <a:srgbClr val="ffffff"/>
                </a:solidFill>
                <a:effectLst/>
                <a:uFillTx/>
                <a:latin typeface="NotoSansJP"/>
                <a:ea typeface="NotoSansJP"/>
              </a:rPr>
              <a:t>市川 大悟</a:t>
            </a:r>
            <a:endParaRPr b="0" lang="en-US" sz="1320" strike="noStrike" u="none">
              <a:solidFill>
                <a:srgbClr val="000000"/>
              </a:solidFill>
              <a:effectLst/>
              <a:uFillTx/>
              <a:latin typeface="Times New Roman"/>
            </a:endParaRPr>
          </a:p>
        </p:txBody>
      </p:sp>
      <p:pic>
        <p:nvPicPr>
          <p:cNvPr id="30" name="" descr=""/>
          <p:cNvPicPr/>
          <p:nvPr/>
        </p:nvPicPr>
        <p:blipFill>
          <a:blip r:embed="rId2"/>
          <a:stretch/>
        </p:blipFill>
        <p:spPr>
          <a:xfrm>
            <a:off x="0" y="0"/>
            <a:ext cx="10696320" cy="6016320"/>
          </a:xfrm>
          <a:prstGeom prst="rect">
            <a:avLst/>
          </a:prstGeom>
          <a:noFill/>
          <a:ln w="0">
            <a:noFill/>
          </a:ln>
        </p:spPr>
      </p:pic>
      <p:pic>
        <p:nvPicPr>
          <p:cNvPr id="31" name="" descr=""/>
          <p:cNvPicPr/>
          <p:nvPr/>
        </p:nvPicPr>
        <p:blipFill>
          <a:blip r:embed="rId3"/>
          <a:stretch/>
        </p:blipFill>
        <p:spPr>
          <a:xfrm>
            <a:off x="6418080" y="1955520"/>
            <a:ext cx="3743280" cy="2105640"/>
          </a:xfrm>
          <a:prstGeom prst="rect">
            <a:avLst/>
          </a:prstGeom>
          <a:noFill/>
          <a:ln w="0">
            <a:noFill/>
          </a:ln>
        </p:spPr>
      </p:pic>
      <p:pic>
        <p:nvPicPr>
          <p:cNvPr id="32" name="" descr=""/>
          <p:cNvPicPr/>
          <p:nvPr/>
        </p:nvPicPr>
        <p:blipFill>
          <a:blip r:embed="rId4"/>
          <a:stretch/>
        </p:blipFill>
        <p:spPr>
          <a:xfrm>
            <a:off x="6418080" y="1955520"/>
            <a:ext cx="3743280" cy="2105640"/>
          </a:xfrm>
          <a:prstGeom prst="rect">
            <a:avLst/>
          </a:prstGeom>
          <a:noFill/>
          <a:ln w="0">
            <a:noFill/>
          </a:ln>
        </p:spPr>
      </p:pic>
      <p:sp>
        <p:nvSpPr>
          <p:cNvPr id="33" name=""/>
          <p:cNvSpPr txBox="1"/>
          <p:nvPr/>
        </p:nvSpPr>
        <p:spPr>
          <a:xfrm>
            <a:off x="802080" y="4357440"/>
            <a:ext cx="128700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指導 今池 健 助教</a:t>
            </a:r>
            <a:endParaRPr b="0" lang="en-US" sz="13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5" name="" descr=""/>
          <p:cNvPicPr/>
          <p:nvPr/>
        </p:nvPicPr>
        <p:blipFill>
          <a:blip r:embed="rId1"/>
          <a:stretch/>
        </p:blipFill>
        <p:spPr>
          <a:xfrm>
            <a:off x="0" y="0"/>
            <a:ext cx="10696320" cy="668160"/>
          </a:xfrm>
          <a:prstGeom prst="rect">
            <a:avLst/>
          </a:prstGeom>
          <a:noFill/>
          <a:ln w="0">
            <a:noFill/>
          </a:ln>
        </p:spPr>
      </p:pic>
      <p:pic>
        <p:nvPicPr>
          <p:cNvPr id="36" name="" descr=""/>
          <p:cNvPicPr/>
          <p:nvPr/>
        </p:nvPicPr>
        <p:blipFill>
          <a:blip r:embed="rId2"/>
          <a:stretch/>
        </p:blipFill>
        <p:spPr>
          <a:xfrm>
            <a:off x="417960" y="969480"/>
            <a:ext cx="208440" cy="166680"/>
          </a:xfrm>
          <a:prstGeom prst="rect">
            <a:avLst/>
          </a:prstGeom>
          <a:noFill/>
          <a:ln w="0">
            <a:noFill/>
          </a:ln>
        </p:spPr>
      </p:pic>
      <p:sp>
        <p:nvSpPr>
          <p:cNvPr id="37" name=""/>
          <p:cNvSpPr txBox="1"/>
          <p:nvPr/>
        </p:nvSpPr>
        <p:spPr>
          <a:xfrm>
            <a:off x="334440" y="210240"/>
            <a:ext cx="176112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研究背景と目的</a:t>
            </a:r>
            <a:endParaRPr b="0" lang="en-US" sz="1979" strike="noStrike" u="none">
              <a:solidFill>
                <a:srgbClr val="000000"/>
              </a:solidFill>
              <a:effectLst/>
              <a:uFillTx/>
              <a:latin typeface="Times New Roman"/>
            </a:endParaRPr>
          </a:p>
        </p:txBody>
      </p:sp>
      <p:pic>
        <p:nvPicPr>
          <p:cNvPr id="38" name="" descr=""/>
          <p:cNvPicPr/>
          <p:nvPr/>
        </p:nvPicPr>
        <p:blipFill>
          <a:blip r:embed="rId3"/>
          <a:stretch/>
        </p:blipFill>
        <p:spPr>
          <a:xfrm>
            <a:off x="752040" y="1353960"/>
            <a:ext cx="166680" cy="166680"/>
          </a:xfrm>
          <a:prstGeom prst="rect">
            <a:avLst/>
          </a:prstGeom>
          <a:noFill/>
          <a:ln w="0">
            <a:noFill/>
          </a:ln>
        </p:spPr>
      </p:pic>
      <p:sp>
        <p:nvSpPr>
          <p:cNvPr id="39" name=""/>
          <p:cNvSpPr txBox="1"/>
          <p:nvPr/>
        </p:nvSpPr>
        <p:spPr>
          <a:xfrm>
            <a:off x="727200" y="950400"/>
            <a:ext cx="8053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研究背景</a:t>
            </a:r>
            <a:endParaRPr b="0" lang="en-US" sz="1580" strike="noStrike" u="none">
              <a:solidFill>
                <a:srgbClr val="000000"/>
              </a:solidFill>
              <a:effectLst/>
              <a:uFillTx/>
              <a:latin typeface="Times New Roman"/>
            </a:endParaRPr>
          </a:p>
        </p:txBody>
      </p:sp>
      <p:pic>
        <p:nvPicPr>
          <p:cNvPr id="40" name="" descr=""/>
          <p:cNvPicPr/>
          <p:nvPr/>
        </p:nvPicPr>
        <p:blipFill>
          <a:blip r:embed="rId4"/>
          <a:stretch/>
        </p:blipFill>
        <p:spPr>
          <a:xfrm>
            <a:off x="752040" y="1721520"/>
            <a:ext cx="166680" cy="166680"/>
          </a:xfrm>
          <a:prstGeom prst="rect">
            <a:avLst/>
          </a:prstGeom>
          <a:noFill/>
          <a:ln w="0">
            <a:noFill/>
          </a:ln>
        </p:spPr>
      </p:pic>
      <p:sp>
        <p:nvSpPr>
          <p:cNvPr id="41" name=""/>
          <p:cNvSpPr txBox="1"/>
          <p:nvPr/>
        </p:nvSpPr>
        <p:spPr>
          <a:xfrm>
            <a:off x="1044720" y="1357560"/>
            <a:ext cx="6706080" cy="24408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NotoSansJP"/>
                <a:ea typeface="NotoSansJP"/>
              </a:rPr>
              <a:t>音は</a:t>
            </a:r>
            <a:r>
              <a:rPr b="0" lang="zh-CN" sz="1320" strike="noStrike" u="none">
                <a:solidFill>
                  <a:srgbClr val="ff8c00"/>
                </a:solidFill>
                <a:effectLst/>
                <a:uFillTx/>
                <a:latin typeface="NotoSansJP"/>
                <a:ea typeface="NotoSansJP"/>
              </a:rPr>
              <a:t>拡散する性質</a:t>
            </a:r>
            <a:r>
              <a:rPr b="0" lang="zh-CN" sz="1320" strike="noStrike" u="none">
                <a:solidFill>
                  <a:srgbClr val="000000"/>
                </a:solidFill>
                <a:effectLst/>
                <a:uFillTx/>
                <a:latin typeface="NotoSansJP"/>
                <a:ea typeface="NotoSansJP"/>
              </a:rPr>
              <a:t>を持つため、昨今では騒音問題は避けられないものとして扱われてきた</a:t>
            </a:r>
            <a:endParaRPr b="0" lang="en-US" sz="1320" strike="noStrike" u="none">
              <a:solidFill>
                <a:srgbClr val="000000"/>
              </a:solidFill>
              <a:effectLst/>
              <a:uFillTx/>
              <a:latin typeface="Times New Roman"/>
            </a:endParaRPr>
          </a:p>
        </p:txBody>
      </p:sp>
      <p:pic>
        <p:nvPicPr>
          <p:cNvPr id="42" name="" descr=""/>
          <p:cNvPicPr/>
          <p:nvPr/>
        </p:nvPicPr>
        <p:blipFill>
          <a:blip r:embed="rId5"/>
          <a:stretch/>
        </p:blipFill>
        <p:spPr>
          <a:xfrm>
            <a:off x="752040" y="2089080"/>
            <a:ext cx="124920" cy="166680"/>
          </a:xfrm>
          <a:prstGeom prst="rect">
            <a:avLst/>
          </a:prstGeom>
          <a:noFill/>
          <a:ln w="0">
            <a:noFill/>
          </a:ln>
        </p:spPr>
      </p:pic>
      <p:sp>
        <p:nvSpPr>
          <p:cNvPr id="43" name=""/>
          <p:cNvSpPr txBox="1"/>
          <p:nvPr/>
        </p:nvSpPr>
        <p:spPr>
          <a:xfrm>
            <a:off x="1044720" y="1725120"/>
            <a:ext cx="6539040" cy="24408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NotoSansJP"/>
                <a:ea typeface="NotoSansJP"/>
              </a:rPr>
              <a:t>放送される音楽などの音響は</a:t>
            </a:r>
            <a:r>
              <a:rPr b="0" lang="zh-CN" sz="1320" strike="noStrike" u="none">
                <a:solidFill>
                  <a:srgbClr val="ff8c00"/>
                </a:solidFill>
                <a:effectLst/>
                <a:uFillTx/>
                <a:latin typeface="NotoSansJP"/>
                <a:ea typeface="NotoSansJP"/>
              </a:rPr>
              <a:t>必要な場所以外</a:t>
            </a:r>
            <a:r>
              <a:rPr b="0" lang="zh-CN" sz="1320" strike="noStrike" u="none">
                <a:solidFill>
                  <a:srgbClr val="000000"/>
                </a:solidFill>
                <a:effectLst/>
                <a:uFillTx/>
                <a:latin typeface="NotoSansJP"/>
                <a:ea typeface="NotoSansJP"/>
              </a:rPr>
              <a:t>では音が漏れ出ないようにする必要がある</a:t>
            </a:r>
            <a:endParaRPr b="0" lang="en-US" sz="1320" strike="noStrike" u="none">
              <a:solidFill>
                <a:srgbClr val="000000"/>
              </a:solidFill>
              <a:effectLst/>
              <a:uFillTx/>
              <a:latin typeface="Times New Roman"/>
            </a:endParaRPr>
          </a:p>
        </p:txBody>
      </p:sp>
      <p:sp>
        <p:nvSpPr>
          <p:cNvPr id="44" name=""/>
          <p:cNvSpPr txBox="1"/>
          <p:nvPr/>
        </p:nvSpPr>
        <p:spPr>
          <a:xfrm>
            <a:off x="1002960" y="2092680"/>
            <a:ext cx="9220680" cy="244080"/>
          </a:xfrm>
          <a:prstGeom prst="rect">
            <a:avLst/>
          </a:prstGeom>
          <a:noFill/>
          <a:ln w="0">
            <a:noFill/>
          </a:ln>
        </p:spPr>
        <p:txBody>
          <a:bodyPr wrap="none" lIns="0" rIns="0" tIns="0" bIns="0" anchor="t">
            <a:spAutoFit/>
          </a:bodyPr>
          <a:p>
            <a:r>
              <a:rPr b="0" lang="zh-CN" sz="1320" strike="noStrike" u="none">
                <a:solidFill>
                  <a:srgbClr val="ff8c00"/>
                </a:solidFill>
                <a:effectLst/>
                <a:uFillTx/>
                <a:latin typeface="NotoSansJP"/>
                <a:ea typeface="NotoSansJP"/>
              </a:rPr>
              <a:t>音響レンズ</a:t>
            </a:r>
            <a:r>
              <a:rPr b="0" lang="zh-CN" sz="1320" strike="noStrike" u="none">
                <a:solidFill>
                  <a:srgbClr val="000000"/>
                </a:solidFill>
                <a:effectLst/>
                <a:uFillTx/>
                <a:latin typeface="NotoSansJP"/>
                <a:ea typeface="NotoSansJP"/>
              </a:rPr>
              <a:t>の音を屈折する原理を利用し、特定の位置にのみ音を伝搬させることができる</a:t>
            </a:r>
            <a:r>
              <a:rPr b="0" lang="zh-CN" sz="1320" strike="noStrike" u="none">
                <a:solidFill>
                  <a:srgbClr val="ff8c00"/>
                </a:solidFill>
                <a:effectLst/>
                <a:uFillTx/>
                <a:latin typeface="NotoSansJP"/>
                <a:ea typeface="NotoSansJP"/>
              </a:rPr>
              <a:t>オーディオスポット</a:t>
            </a:r>
            <a:r>
              <a:rPr b="0" lang="zh-CN" sz="1320" strike="noStrike" u="none">
                <a:solidFill>
                  <a:srgbClr val="000000"/>
                </a:solidFill>
                <a:effectLst/>
                <a:uFillTx/>
                <a:latin typeface="NotoSansJP"/>
                <a:ea typeface="NotoSansJP"/>
              </a:rPr>
              <a:t>の形成により</a:t>
            </a:r>
            <a:endParaRPr b="0" lang="en-US" sz="1320" strike="noStrike" u="none">
              <a:solidFill>
                <a:srgbClr val="000000"/>
              </a:solidFill>
              <a:effectLst/>
              <a:uFillTx/>
              <a:latin typeface="Times New Roman"/>
            </a:endParaRPr>
          </a:p>
        </p:txBody>
      </p:sp>
      <p:sp>
        <p:nvSpPr>
          <p:cNvPr id="45" name=""/>
          <p:cNvSpPr/>
          <p:nvPr/>
        </p:nvSpPr>
        <p:spPr>
          <a:xfrm>
            <a:off x="417600" y="3158640"/>
            <a:ext cx="9861480" cy="25560"/>
          </a:xfrm>
          <a:custGeom>
            <a:avLst/>
            <a:gdLst/>
            <a:ahLst/>
            <a:rect l="0" t="0" r="r" b="b"/>
            <a:pathLst>
              <a:path w="27393" h="71">
                <a:moveTo>
                  <a:pt x="0" y="0"/>
                </a:moveTo>
                <a:lnTo>
                  <a:pt x="27393" y="0"/>
                </a:lnTo>
                <a:lnTo>
                  <a:pt x="27393" y="71"/>
                </a:lnTo>
                <a:lnTo>
                  <a:pt x="0" y="71"/>
                </a:lnTo>
                <a:lnTo>
                  <a:pt x="0" y="0"/>
                </a:lnTo>
                <a:close/>
              </a:path>
            </a:pathLst>
          </a:custGeom>
          <a:solidFill>
            <a:srgbClr val="c0c0c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6" name="" descr=""/>
          <p:cNvPicPr/>
          <p:nvPr/>
        </p:nvPicPr>
        <p:blipFill>
          <a:blip r:embed="rId6"/>
          <a:stretch/>
        </p:blipFill>
        <p:spPr>
          <a:xfrm>
            <a:off x="417960" y="3443040"/>
            <a:ext cx="166680" cy="166680"/>
          </a:xfrm>
          <a:prstGeom prst="rect">
            <a:avLst/>
          </a:prstGeom>
          <a:noFill/>
          <a:ln w="0">
            <a:noFill/>
          </a:ln>
        </p:spPr>
      </p:pic>
      <p:sp>
        <p:nvSpPr>
          <p:cNvPr id="47" name=""/>
          <p:cNvSpPr txBox="1"/>
          <p:nvPr/>
        </p:nvSpPr>
        <p:spPr>
          <a:xfrm>
            <a:off x="1002960" y="2360160"/>
            <a:ext cx="1341720" cy="24408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NotoSansJP"/>
                <a:ea typeface="NotoSansJP"/>
              </a:rPr>
              <a:t>騒音対策が可能に</a:t>
            </a:r>
            <a:endParaRPr b="0" lang="en-US" sz="1320" strike="noStrike" u="none">
              <a:solidFill>
                <a:srgbClr val="000000"/>
              </a:solidFill>
              <a:effectLst/>
              <a:uFillTx/>
              <a:latin typeface="Times New Roman"/>
            </a:endParaRPr>
          </a:p>
        </p:txBody>
      </p:sp>
      <p:pic>
        <p:nvPicPr>
          <p:cNvPr id="48" name="" descr=""/>
          <p:cNvPicPr/>
          <p:nvPr/>
        </p:nvPicPr>
        <p:blipFill>
          <a:blip r:embed="rId7"/>
          <a:stretch/>
        </p:blipFill>
        <p:spPr>
          <a:xfrm>
            <a:off x="752040" y="3827520"/>
            <a:ext cx="166680" cy="166680"/>
          </a:xfrm>
          <a:prstGeom prst="rect">
            <a:avLst/>
          </a:prstGeom>
          <a:noFill/>
          <a:ln w="0">
            <a:noFill/>
          </a:ln>
        </p:spPr>
      </p:pic>
      <p:sp>
        <p:nvSpPr>
          <p:cNvPr id="49" name=""/>
          <p:cNvSpPr txBox="1"/>
          <p:nvPr/>
        </p:nvSpPr>
        <p:spPr>
          <a:xfrm>
            <a:off x="685080" y="3423960"/>
            <a:ext cx="8053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研究目的</a:t>
            </a:r>
            <a:endParaRPr b="0" lang="en-US" sz="1580" strike="noStrike" u="none">
              <a:solidFill>
                <a:srgbClr val="000000"/>
              </a:solidFill>
              <a:effectLst/>
              <a:uFillTx/>
              <a:latin typeface="Times New Roman"/>
            </a:endParaRPr>
          </a:p>
        </p:txBody>
      </p:sp>
      <p:pic>
        <p:nvPicPr>
          <p:cNvPr id="50" name="" descr=""/>
          <p:cNvPicPr/>
          <p:nvPr/>
        </p:nvPicPr>
        <p:blipFill>
          <a:blip r:embed="rId8"/>
          <a:stretch/>
        </p:blipFill>
        <p:spPr>
          <a:xfrm>
            <a:off x="752040" y="4195080"/>
            <a:ext cx="166680" cy="166680"/>
          </a:xfrm>
          <a:prstGeom prst="rect">
            <a:avLst/>
          </a:prstGeom>
          <a:noFill/>
          <a:ln w="0">
            <a:noFill/>
          </a:ln>
        </p:spPr>
      </p:pic>
      <p:sp>
        <p:nvSpPr>
          <p:cNvPr id="51" name=""/>
          <p:cNvSpPr txBox="1"/>
          <p:nvPr/>
        </p:nvSpPr>
        <p:spPr>
          <a:xfrm>
            <a:off x="1044720" y="3831120"/>
            <a:ext cx="2515320" cy="244080"/>
          </a:xfrm>
          <a:prstGeom prst="rect">
            <a:avLst/>
          </a:prstGeom>
          <a:noFill/>
          <a:ln w="0">
            <a:noFill/>
          </a:ln>
        </p:spPr>
        <p:txBody>
          <a:bodyPr wrap="none" lIns="0" rIns="0" tIns="0" bIns="0" anchor="t">
            <a:spAutoFit/>
          </a:bodyPr>
          <a:p>
            <a:r>
              <a:rPr b="0" lang="zh-CN" sz="1320" strike="noStrike" u="none">
                <a:solidFill>
                  <a:srgbClr val="ff8c00"/>
                </a:solidFill>
                <a:effectLst/>
                <a:uFillTx/>
                <a:latin typeface="NotoSansJP"/>
                <a:ea typeface="NotoSansJP"/>
              </a:rPr>
              <a:t>指向先が鋭い</a:t>
            </a:r>
            <a:r>
              <a:rPr b="0" lang="zh-CN" sz="1320" strike="noStrike" u="none">
                <a:solidFill>
                  <a:srgbClr val="000000"/>
                </a:solidFill>
                <a:effectLst/>
                <a:uFillTx/>
                <a:latin typeface="NotoSansJP"/>
                <a:ea typeface="NotoSansJP"/>
              </a:rPr>
              <a:t>音響システムの開発</a:t>
            </a:r>
            <a:endParaRPr b="0" lang="en-US" sz="1320" strike="noStrike" u="none">
              <a:solidFill>
                <a:srgbClr val="000000"/>
              </a:solidFill>
              <a:effectLst/>
              <a:uFillTx/>
              <a:latin typeface="Times New Roman"/>
            </a:endParaRPr>
          </a:p>
        </p:txBody>
      </p:sp>
      <p:pic>
        <p:nvPicPr>
          <p:cNvPr id="52" name="" descr=""/>
          <p:cNvPicPr/>
          <p:nvPr/>
        </p:nvPicPr>
        <p:blipFill>
          <a:blip r:embed="rId9"/>
          <a:stretch/>
        </p:blipFill>
        <p:spPr>
          <a:xfrm>
            <a:off x="752040" y="4562640"/>
            <a:ext cx="166680" cy="166680"/>
          </a:xfrm>
          <a:prstGeom prst="rect">
            <a:avLst/>
          </a:prstGeom>
          <a:noFill/>
          <a:ln w="0">
            <a:noFill/>
          </a:ln>
        </p:spPr>
      </p:pic>
      <p:sp>
        <p:nvSpPr>
          <p:cNvPr id="53" name=""/>
          <p:cNvSpPr txBox="1"/>
          <p:nvPr/>
        </p:nvSpPr>
        <p:spPr>
          <a:xfrm>
            <a:off x="1044720" y="4198680"/>
            <a:ext cx="3186000" cy="244080"/>
          </a:xfrm>
          <a:prstGeom prst="rect">
            <a:avLst/>
          </a:prstGeom>
          <a:noFill/>
          <a:ln w="0">
            <a:noFill/>
          </a:ln>
        </p:spPr>
        <p:txBody>
          <a:bodyPr wrap="none" lIns="0" rIns="0" tIns="0" bIns="0" anchor="t">
            <a:spAutoFit/>
          </a:bodyPr>
          <a:p>
            <a:r>
              <a:rPr b="0" lang="zh-CN" sz="1320" strike="noStrike" u="none">
                <a:solidFill>
                  <a:srgbClr val="ff8c00"/>
                </a:solidFill>
                <a:effectLst/>
                <a:uFillTx/>
                <a:latin typeface="NotoSansJP"/>
                <a:ea typeface="NotoSansJP"/>
              </a:rPr>
              <a:t>特定の方向以外</a:t>
            </a:r>
            <a:r>
              <a:rPr b="0" lang="zh-CN" sz="1320" strike="noStrike" u="none">
                <a:solidFill>
                  <a:srgbClr val="000000"/>
                </a:solidFill>
                <a:effectLst/>
                <a:uFillTx/>
                <a:latin typeface="NotoSansJP"/>
                <a:ea typeface="NotoSansJP"/>
              </a:rPr>
              <a:t>では騒音として流出しない</a:t>
            </a:r>
            <a:endParaRPr b="0" lang="en-US" sz="1320" strike="noStrike" u="none">
              <a:solidFill>
                <a:srgbClr val="000000"/>
              </a:solidFill>
              <a:effectLst/>
              <a:uFillTx/>
              <a:latin typeface="Times New Roman"/>
            </a:endParaRPr>
          </a:p>
        </p:txBody>
      </p:sp>
      <p:pic>
        <p:nvPicPr>
          <p:cNvPr id="54" name="" descr=""/>
          <p:cNvPicPr/>
          <p:nvPr/>
        </p:nvPicPr>
        <p:blipFill>
          <a:blip r:embed="rId10"/>
          <a:stretch/>
        </p:blipFill>
        <p:spPr>
          <a:xfrm>
            <a:off x="752040" y="4964040"/>
            <a:ext cx="150120" cy="166680"/>
          </a:xfrm>
          <a:prstGeom prst="rect">
            <a:avLst/>
          </a:prstGeom>
          <a:noFill/>
          <a:ln w="0">
            <a:noFill/>
          </a:ln>
        </p:spPr>
      </p:pic>
      <p:sp>
        <p:nvSpPr>
          <p:cNvPr id="55" name=""/>
          <p:cNvSpPr txBox="1"/>
          <p:nvPr/>
        </p:nvSpPr>
        <p:spPr>
          <a:xfrm>
            <a:off x="1044720" y="4566600"/>
            <a:ext cx="3018240" cy="244080"/>
          </a:xfrm>
          <a:prstGeom prst="rect">
            <a:avLst/>
          </a:prstGeom>
          <a:noFill/>
          <a:ln w="0">
            <a:noFill/>
          </a:ln>
        </p:spPr>
        <p:txBody>
          <a:bodyPr wrap="none" lIns="0" rIns="0" tIns="0" bIns="0" anchor="t">
            <a:spAutoFit/>
          </a:bodyPr>
          <a:p>
            <a:r>
              <a:rPr b="0" lang="zh-CN" sz="1320" strike="noStrike" u="none">
                <a:solidFill>
                  <a:srgbClr val="ff8c00"/>
                </a:solidFill>
                <a:effectLst/>
                <a:uFillTx/>
                <a:latin typeface="NotoSansJP"/>
                <a:ea typeface="NotoSansJP"/>
              </a:rPr>
              <a:t>単一の構造</a:t>
            </a:r>
            <a:r>
              <a:rPr b="0" lang="zh-CN" sz="1320" strike="noStrike" u="none">
                <a:solidFill>
                  <a:srgbClr val="000000"/>
                </a:solidFill>
                <a:effectLst/>
                <a:uFillTx/>
                <a:latin typeface="NotoSansJP"/>
                <a:ea typeface="NotoSansJP"/>
              </a:rPr>
              <a:t>で複数の指向先に設定できる</a:t>
            </a:r>
            <a:endParaRPr b="0" lang="en-US" sz="1320" strike="noStrike" u="none">
              <a:solidFill>
                <a:srgbClr val="000000"/>
              </a:solidFill>
              <a:effectLst/>
              <a:uFillTx/>
              <a:latin typeface="Times New Roman"/>
            </a:endParaRPr>
          </a:p>
        </p:txBody>
      </p:sp>
      <p:sp>
        <p:nvSpPr>
          <p:cNvPr id="56" name=""/>
          <p:cNvSpPr txBox="1"/>
          <p:nvPr/>
        </p:nvSpPr>
        <p:spPr>
          <a:xfrm>
            <a:off x="1027800" y="4967640"/>
            <a:ext cx="4191480" cy="24408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NotoSansJP"/>
                <a:ea typeface="NotoSansJP"/>
              </a:rPr>
              <a:t>発振周波数、配置間隔、発振遅延時間などの</a:t>
            </a:r>
            <a:r>
              <a:rPr b="0" lang="zh-CN" sz="1320" strike="noStrike" u="none">
                <a:solidFill>
                  <a:srgbClr val="ff8c00"/>
                </a:solidFill>
                <a:effectLst/>
                <a:uFillTx/>
                <a:latin typeface="NotoSansJP"/>
                <a:ea typeface="NotoSansJP"/>
              </a:rPr>
              <a:t>初期条件と</a:t>
            </a:r>
            <a:endParaRPr b="0" lang="en-US" sz="1320" strike="noStrike" u="none">
              <a:solidFill>
                <a:srgbClr val="000000"/>
              </a:solidFill>
              <a:effectLst/>
              <a:uFillTx/>
              <a:latin typeface="Times New Roman"/>
            </a:endParaRPr>
          </a:p>
        </p:txBody>
      </p:sp>
      <p:sp>
        <p:nvSpPr>
          <p:cNvPr id="57" name=""/>
          <p:cNvSpPr/>
          <p:nvPr/>
        </p:nvSpPr>
        <p:spPr>
          <a:xfrm>
            <a:off x="5619600" y="3396960"/>
            <a:ext cx="4655160" cy="2264760"/>
          </a:xfrm>
          <a:custGeom>
            <a:avLst/>
            <a:gdLst/>
            <a:ahLst/>
            <a:rect l="0" t="0" r="r" b="b"/>
            <a:pathLst>
              <a:path w="12931" h="6291">
                <a:moveTo>
                  <a:pt x="0" y="6070"/>
                </a:moveTo>
                <a:lnTo>
                  <a:pt x="0" y="220"/>
                </a:lnTo>
                <a:cubicBezTo>
                  <a:pt x="0" y="206"/>
                  <a:pt x="2" y="191"/>
                  <a:pt x="5" y="177"/>
                </a:cubicBezTo>
                <a:cubicBezTo>
                  <a:pt x="7" y="163"/>
                  <a:pt x="12" y="149"/>
                  <a:pt x="17" y="136"/>
                </a:cubicBezTo>
                <a:cubicBezTo>
                  <a:pt x="23" y="122"/>
                  <a:pt x="29" y="110"/>
                  <a:pt x="37" y="98"/>
                </a:cubicBezTo>
                <a:cubicBezTo>
                  <a:pt x="45" y="86"/>
                  <a:pt x="55" y="74"/>
                  <a:pt x="65" y="64"/>
                </a:cubicBezTo>
                <a:cubicBezTo>
                  <a:pt x="75" y="54"/>
                  <a:pt x="86" y="45"/>
                  <a:pt x="98" y="37"/>
                </a:cubicBezTo>
                <a:cubicBezTo>
                  <a:pt x="110" y="29"/>
                  <a:pt x="123" y="22"/>
                  <a:pt x="136" y="16"/>
                </a:cubicBezTo>
                <a:cubicBezTo>
                  <a:pt x="150" y="11"/>
                  <a:pt x="164" y="7"/>
                  <a:pt x="178" y="4"/>
                </a:cubicBezTo>
                <a:cubicBezTo>
                  <a:pt x="192" y="1"/>
                  <a:pt x="206" y="0"/>
                  <a:pt x="221" y="0"/>
                </a:cubicBezTo>
                <a:lnTo>
                  <a:pt x="12710" y="0"/>
                </a:lnTo>
                <a:cubicBezTo>
                  <a:pt x="12725" y="0"/>
                  <a:pt x="12739" y="1"/>
                  <a:pt x="12753" y="4"/>
                </a:cubicBezTo>
                <a:cubicBezTo>
                  <a:pt x="12768" y="7"/>
                  <a:pt x="12781" y="11"/>
                  <a:pt x="12795" y="16"/>
                </a:cubicBezTo>
                <a:cubicBezTo>
                  <a:pt x="12808" y="22"/>
                  <a:pt x="12821" y="29"/>
                  <a:pt x="12833" y="37"/>
                </a:cubicBezTo>
                <a:cubicBezTo>
                  <a:pt x="12845" y="45"/>
                  <a:pt x="12856" y="54"/>
                  <a:pt x="12866" y="64"/>
                </a:cubicBezTo>
                <a:cubicBezTo>
                  <a:pt x="12877" y="74"/>
                  <a:pt x="12886" y="86"/>
                  <a:pt x="12894" y="98"/>
                </a:cubicBezTo>
                <a:cubicBezTo>
                  <a:pt x="12902" y="110"/>
                  <a:pt x="12909" y="122"/>
                  <a:pt x="12914" y="136"/>
                </a:cubicBezTo>
                <a:cubicBezTo>
                  <a:pt x="12920" y="149"/>
                  <a:pt x="12924" y="163"/>
                  <a:pt x="12927" y="177"/>
                </a:cubicBezTo>
                <a:cubicBezTo>
                  <a:pt x="12930" y="191"/>
                  <a:pt x="12931" y="206"/>
                  <a:pt x="12931" y="220"/>
                </a:cubicBezTo>
                <a:lnTo>
                  <a:pt x="12931" y="6070"/>
                </a:lnTo>
                <a:cubicBezTo>
                  <a:pt x="12931" y="6084"/>
                  <a:pt x="12930" y="6099"/>
                  <a:pt x="12927" y="6113"/>
                </a:cubicBezTo>
                <a:cubicBezTo>
                  <a:pt x="12924" y="6127"/>
                  <a:pt x="12920" y="6141"/>
                  <a:pt x="12914" y="6154"/>
                </a:cubicBezTo>
                <a:cubicBezTo>
                  <a:pt x="12909" y="6168"/>
                  <a:pt x="12902" y="6180"/>
                  <a:pt x="12894" y="6192"/>
                </a:cubicBezTo>
                <a:cubicBezTo>
                  <a:pt x="12886" y="6204"/>
                  <a:pt x="12877" y="6216"/>
                  <a:pt x="12866" y="6226"/>
                </a:cubicBezTo>
                <a:cubicBezTo>
                  <a:pt x="12856" y="6236"/>
                  <a:pt x="12845" y="6245"/>
                  <a:pt x="12833" y="6253"/>
                </a:cubicBezTo>
                <a:cubicBezTo>
                  <a:pt x="12821" y="6261"/>
                  <a:pt x="12808" y="6268"/>
                  <a:pt x="12795" y="6274"/>
                </a:cubicBezTo>
                <a:cubicBezTo>
                  <a:pt x="12781" y="6279"/>
                  <a:pt x="12768" y="6283"/>
                  <a:pt x="12753" y="6286"/>
                </a:cubicBezTo>
                <a:cubicBezTo>
                  <a:pt x="12739" y="6290"/>
                  <a:pt x="12725" y="6291"/>
                  <a:pt x="12710" y="6291"/>
                </a:cubicBezTo>
                <a:lnTo>
                  <a:pt x="221" y="6291"/>
                </a:lnTo>
                <a:cubicBezTo>
                  <a:pt x="206" y="6291"/>
                  <a:pt x="192" y="6290"/>
                  <a:pt x="178" y="6286"/>
                </a:cubicBezTo>
                <a:cubicBezTo>
                  <a:pt x="164" y="6283"/>
                  <a:pt x="150" y="6279"/>
                  <a:pt x="136" y="6274"/>
                </a:cubicBezTo>
                <a:cubicBezTo>
                  <a:pt x="123" y="6268"/>
                  <a:pt x="110" y="6261"/>
                  <a:pt x="98" y="6253"/>
                </a:cubicBezTo>
                <a:cubicBezTo>
                  <a:pt x="86" y="6245"/>
                  <a:pt x="75" y="6236"/>
                  <a:pt x="65" y="6226"/>
                </a:cubicBezTo>
                <a:cubicBezTo>
                  <a:pt x="55" y="6216"/>
                  <a:pt x="45" y="6204"/>
                  <a:pt x="37" y="6192"/>
                </a:cubicBezTo>
                <a:cubicBezTo>
                  <a:pt x="29" y="6180"/>
                  <a:pt x="23" y="6168"/>
                  <a:pt x="17" y="6154"/>
                </a:cubicBezTo>
                <a:cubicBezTo>
                  <a:pt x="12" y="6141"/>
                  <a:pt x="7" y="6127"/>
                  <a:pt x="5" y="6113"/>
                </a:cubicBezTo>
                <a:cubicBezTo>
                  <a:pt x="2" y="6099"/>
                  <a:pt x="0" y="6084"/>
                  <a:pt x="0" y="6070"/>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8" name=""/>
          <p:cNvSpPr/>
          <p:nvPr/>
        </p:nvSpPr>
        <p:spPr>
          <a:xfrm>
            <a:off x="5619600" y="3396960"/>
            <a:ext cx="4655160" cy="2264760"/>
          </a:xfrm>
          <a:custGeom>
            <a:avLst/>
            <a:gdLst/>
            <a:ahLst/>
            <a:rect l="0" t="0" r="r" b="b"/>
            <a:pathLst>
              <a:path fill="none" w="12931" h="6291">
                <a:moveTo>
                  <a:pt x="0" y="6070"/>
                </a:moveTo>
                <a:lnTo>
                  <a:pt x="0" y="220"/>
                </a:lnTo>
                <a:cubicBezTo>
                  <a:pt x="0" y="206"/>
                  <a:pt x="2" y="191"/>
                  <a:pt x="5" y="177"/>
                </a:cubicBezTo>
                <a:cubicBezTo>
                  <a:pt x="7" y="163"/>
                  <a:pt x="12" y="149"/>
                  <a:pt x="17" y="136"/>
                </a:cubicBezTo>
                <a:cubicBezTo>
                  <a:pt x="23" y="122"/>
                  <a:pt x="29" y="110"/>
                  <a:pt x="37" y="98"/>
                </a:cubicBezTo>
                <a:cubicBezTo>
                  <a:pt x="45" y="86"/>
                  <a:pt x="55" y="74"/>
                  <a:pt x="65" y="64"/>
                </a:cubicBezTo>
                <a:cubicBezTo>
                  <a:pt x="75" y="54"/>
                  <a:pt x="86" y="45"/>
                  <a:pt x="98" y="37"/>
                </a:cubicBezTo>
                <a:cubicBezTo>
                  <a:pt x="110" y="29"/>
                  <a:pt x="123" y="22"/>
                  <a:pt x="136" y="16"/>
                </a:cubicBezTo>
                <a:cubicBezTo>
                  <a:pt x="150" y="11"/>
                  <a:pt x="164" y="7"/>
                  <a:pt x="178" y="4"/>
                </a:cubicBezTo>
                <a:cubicBezTo>
                  <a:pt x="192" y="1"/>
                  <a:pt x="206" y="0"/>
                  <a:pt x="221" y="0"/>
                </a:cubicBezTo>
                <a:lnTo>
                  <a:pt x="12710" y="0"/>
                </a:lnTo>
                <a:cubicBezTo>
                  <a:pt x="12725" y="0"/>
                  <a:pt x="12739" y="1"/>
                  <a:pt x="12753" y="4"/>
                </a:cubicBezTo>
                <a:cubicBezTo>
                  <a:pt x="12768" y="7"/>
                  <a:pt x="12781" y="11"/>
                  <a:pt x="12795" y="16"/>
                </a:cubicBezTo>
                <a:cubicBezTo>
                  <a:pt x="12808" y="22"/>
                  <a:pt x="12821" y="29"/>
                  <a:pt x="12833" y="37"/>
                </a:cubicBezTo>
                <a:cubicBezTo>
                  <a:pt x="12845" y="45"/>
                  <a:pt x="12856" y="54"/>
                  <a:pt x="12866" y="64"/>
                </a:cubicBezTo>
                <a:cubicBezTo>
                  <a:pt x="12877" y="74"/>
                  <a:pt x="12886" y="86"/>
                  <a:pt x="12894" y="98"/>
                </a:cubicBezTo>
                <a:cubicBezTo>
                  <a:pt x="12902" y="110"/>
                  <a:pt x="12909" y="122"/>
                  <a:pt x="12914" y="136"/>
                </a:cubicBezTo>
                <a:cubicBezTo>
                  <a:pt x="12920" y="149"/>
                  <a:pt x="12924" y="163"/>
                  <a:pt x="12927" y="177"/>
                </a:cubicBezTo>
                <a:cubicBezTo>
                  <a:pt x="12930" y="191"/>
                  <a:pt x="12931" y="206"/>
                  <a:pt x="12931" y="220"/>
                </a:cubicBezTo>
                <a:lnTo>
                  <a:pt x="12931" y="6070"/>
                </a:lnTo>
                <a:cubicBezTo>
                  <a:pt x="12931" y="6084"/>
                  <a:pt x="12930" y="6099"/>
                  <a:pt x="12927" y="6113"/>
                </a:cubicBezTo>
                <a:cubicBezTo>
                  <a:pt x="12924" y="6127"/>
                  <a:pt x="12920" y="6141"/>
                  <a:pt x="12914" y="6154"/>
                </a:cubicBezTo>
                <a:cubicBezTo>
                  <a:pt x="12909" y="6168"/>
                  <a:pt x="12902" y="6180"/>
                  <a:pt x="12894" y="6192"/>
                </a:cubicBezTo>
                <a:cubicBezTo>
                  <a:pt x="12886" y="6204"/>
                  <a:pt x="12877" y="6216"/>
                  <a:pt x="12866" y="6226"/>
                </a:cubicBezTo>
                <a:cubicBezTo>
                  <a:pt x="12856" y="6236"/>
                  <a:pt x="12845" y="6245"/>
                  <a:pt x="12833" y="6253"/>
                </a:cubicBezTo>
                <a:cubicBezTo>
                  <a:pt x="12821" y="6261"/>
                  <a:pt x="12808" y="6268"/>
                  <a:pt x="12795" y="6274"/>
                </a:cubicBezTo>
                <a:cubicBezTo>
                  <a:pt x="12781" y="6279"/>
                  <a:pt x="12768" y="6283"/>
                  <a:pt x="12753" y="6286"/>
                </a:cubicBezTo>
                <a:cubicBezTo>
                  <a:pt x="12739" y="6290"/>
                  <a:pt x="12725" y="6291"/>
                  <a:pt x="12710" y="6291"/>
                </a:cubicBezTo>
                <a:lnTo>
                  <a:pt x="221" y="6291"/>
                </a:lnTo>
                <a:cubicBezTo>
                  <a:pt x="206" y="6291"/>
                  <a:pt x="192" y="6290"/>
                  <a:pt x="178" y="6286"/>
                </a:cubicBezTo>
                <a:cubicBezTo>
                  <a:pt x="164" y="6283"/>
                  <a:pt x="150" y="6279"/>
                  <a:pt x="136" y="6274"/>
                </a:cubicBezTo>
                <a:cubicBezTo>
                  <a:pt x="123" y="6268"/>
                  <a:pt x="110" y="6261"/>
                  <a:pt x="98" y="6253"/>
                </a:cubicBezTo>
                <a:cubicBezTo>
                  <a:pt x="86" y="6245"/>
                  <a:pt x="75" y="6236"/>
                  <a:pt x="65" y="6226"/>
                </a:cubicBezTo>
                <a:cubicBezTo>
                  <a:pt x="55" y="6216"/>
                  <a:pt x="45" y="6204"/>
                  <a:pt x="37" y="6192"/>
                </a:cubicBezTo>
                <a:cubicBezTo>
                  <a:pt x="29" y="6180"/>
                  <a:pt x="23" y="6168"/>
                  <a:pt x="17" y="6154"/>
                </a:cubicBezTo>
                <a:cubicBezTo>
                  <a:pt x="12" y="6141"/>
                  <a:pt x="7" y="6127"/>
                  <a:pt x="5" y="6113"/>
                </a:cubicBezTo>
                <a:cubicBezTo>
                  <a:pt x="2" y="6099"/>
                  <a:pt x="0" y="6084"/>
                  <a:pt x="0" y="6070"/>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59" name=""/>
          <p:cNvSpPr txBox="1"/>
          <p:nvPr/>
        </p:nvSpPr>
        <p:spPr>
          <a:xfrm>
            <a:off x="1027800" y="5235120"/>
            <a:ext cx="3856680" cy="244080"/>
          </a:xfrm>
          <a:prstGeom prst="rect">
            <a:avLst/>
          </a:prstGeom>
          <a:noFill/>
          <a:ln w="0">
            <a:noFill/>
          </a:ln>
        </p:spPr>
        <p:txBody>
          <a:bodyPr wrap="none" lIns="0" rIns="0" tIns="0" bIns="0" anchor="t">
            <a:spAutoFit/>
          </a:bodyPr>
          <a:p>
            <a:r>
              <a:rPr b="0" lang="zh-CN" sz="1320" strike="noStrike" u="none">
                <a:solidFill>
                  <a:srgbClr val="ff8c00"/>
                </a:solidFill>
                <a:effectLst/>
                <a:uFillTx/>
                <a:latin typeface="NotoSansJP"/>
                <a:ea typeface="NotoSansJP"/>
              </a:rPr>
              <a:t>発信角度の関係</a:t>
            </a:r>
            <a:r>
              <a:rPr b="0" lang="zh-CN" sz="1320" strike="noStrike" u="none">
                <a:solidFill>
                  <a:srgbClr val="000000"/>
                </a:solidFill>
                <a:effectLst/>
                <a:uFillTx/>
                <a:latin typeface="NotoSansJP"/>
                <a:ea typeface="NotoSansJP"/>
              </a:rPr>
              <a:t>を試算し、シミュレーションで検証</a:t>
            </a:r>
            <a:endParaRPr b="0" lang="en-US" sz="1320" strike="noStrike" u="none">
              <a:solidFill>
                <a:srgbClr val="000000"/>
              </a:solidFill>
              <a:effectLst/>
              <a:uFillTx/>
              <a:latin typeface="Times New Roman"/>
            </a:endParaRPr>
          </a:p>
        </p:txBody>
      </p:sp>
      <p:pic>
        <p:nvPicPr>
          <p:cNvPr id="60" name="" descr=""/>
          <p:cNvPicPr/>
          <p:nvPr/>
        </p:nvPicPr>
        <p:blipFill>
          <a:blip r:embed="rId11"/>
          <a:stretch/>
        </p:blipFill>
        <p:spPr>
          <a:xfrm>
            <a:off x="6476400" y="4128120"/>
            <a:ext cx="375840" cy="300600"/>
          </a:xfrm>
          <a:prstGeom prst="rect">
            <a:avLst/>
          </a:prstGeom>
          <a:noFill/>
          <a:ln w="0">
            <a:noFill/>
          </a:ln>
        </p:spPr>
      </p:pic>
      <p:sp>
        <p:nvSpPr>
          <p:cNvPr id="61" name=""/>
          <p:cNvSpPr txBox="1"/>
          <p:nvPr/>
        </p:nvSpPr>
        <p:spPr>
          <a:xfrm>
            <a:off x="6710400" y="3570840"/>
            <a:ext cx="2592720" cy="219960"/>
          </a:xfrm>
          <a:prstGeom prst="rect">
            <a:avLst/>
          </a:prstGeom>
          <a:noFill/>
          <a:ln w="0">
            <a:noFill/>
          </a:ln>
        </p:spPr>
        <p:txBody>
          <a:bodyPr wrap="none" lIns="0" rIns="0" tIns="0" bIns="0" anchor="t">
            <a:spAutoFit/>
          </a:bodyPr>
          <a:p>
            <a:r>
              <a:rPr b="0" lang="zh-CN" sz="1180" strike="noStrike" u="none">
                <a:solidFill>
                  <a:srgbClr val="374151"/>
                </a:solidFill>
                <a:effectLst/>
                <a:uFillTx/>
                <a:latin typeface="NotoSansJP"/>
                <a:ea typeface="NotoSansJP"/>
              </a:rPr>
              <a:t>従来の音響拡散 </a:t>
            </a:r>
            <a:r>
              <a:rPr b="0" lang="en-US" sz="1180" strike="noStrike" u="none">
                <a:solidFill>
                  <a:srgbClr val="374151"/>
                </a:solidFill>
                <a:effectLst/>
                <a:uFillTx/>
                <a:latin typeface="NotoSansJP"/>
                <a:ea typeface="NotoSansJP"/>
              </a:rPr>
              <a:t>vs </a:t>
            </a:r>
            <a:r>
              <a:rPr b="0" lang="zh-CN" sz="1180" strike="noStrike" u="none">
                <a:solidFill>
                  <a:srgbClr val="374151"/>
                </a:solidFill>
                <a:effectLst/>
                <a:uFillTx/>
                <a:latin typeface="NotoSansJP"/>
                <a:ea typeface="NotoSansJP"/>
              </a:rPr>
              <a:t>指向性オーディオ</a:t>
            </a:r>
            <a:endParaRPr b="0" lang="en-US" sz="1180" strike="noStrike" u="none">
              <a:solidFill>
                <a:srgbClr val="000000"/>
              </a:solidFill>
              <a:effectLst/>
              <a:uFillTx/>
              <a:latin typeface="Times New Roman"/>
            </a:endParaRPr>
          </a:p>
        </p:txBody>
      </p:sp>
      <p:sp>
        <p:nvSpPr>
          <p:cNvPr id="62" name=""/>
          <p:cNvSpPr txBox="1"/>
          <p:nvPr/>
        </p:nvSpPr>
        <p:spPr>
          <a:xfrm>
            <a:off x="6197040" y="4955760"/>
            <a:ext cx="9396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音が全方向に拡散</a:t>
            </a:r>
            <a:endParaRPr b="0" lang="en-US" sz="920" strike="noStrike" u="none">
              <a:solidFill>
                <a:srgbClr val="000000"/>
              </a:solidFill>
              <a:effectLst/>
              <a:uFillTx/>
              <a:latin typeface="Times New Roman"/>
            </a:endParaRPr>
          </a:p>
        </p:txBody>
      </p:sp>
      <p:sp>
        <p:nvSpPr>
          <p:cNvPr id="63" name=""/>
          <p:cNvSpPr txBox="1"/>
          <p:nvPr/>
        </p:nvSpPr>
        <p:spPr>
          <a:xfrm>
            <a:off x="6184440" y="5122800"/>
            <a:ext cx="965880" cy="169560"/>
          </a:xfrm>
          <a:prstGeom prst="rect">
            <a:avLst/>
          </a:prstGeom>
          <a:noFill/>
          <a:ln w="0">
            <a:noFill/>
          </a:ln>
        </p:spPr>
        <p:txBody>
          <a:bodyPr wrap="none" lIns="0" rIns="0" tIns="0" bIns="0" anchor="t">
            <a:spAutoFit/>
          </a:bodyPr>
          <a:p>
            <a:r>
              <a:rPr b="0" lang="en-US" sz="920" strike="noStrike" u="none">
                <a:solidFill>
                  <a:srgbClr val="ef4444"/>
                </a:solidFill>
                <a:effectLst/>
                <a:uFillTx/>
                <a:latin typeface="NotoSansJP"/>
                <a:ea typeface="NotoSansJP"/>
              </a:rPr>
              <a:t>→ 騒音問題の発生</a:t>
            </a:r>
            <a:endParaRPr b="0" lang="en-US" sz="920" strike="noStrike" u="none">
              <a:solidFill>
                <a:srgbClr val="000000"/>
              </a:solidFill>
              <a:effectLst/>
              <a:uFillTx/>
              <a:latin typeface="Times New Roman"/>
            </a:endParaRPr>
          </a:p>
        </p:txBody>
      </p:sp>
      <p:pic>
        <p:nvPicPr>
          <p:cNvPr id="64" name="" descr=""/>
          <p:cNvPicPr/>
          <p:nvPr/>
        </p:nvPicPr>
        <p:blipFill>
          <a:blip r:embed="rId12"/>
          <a:stretch/>
        </p:blipFill>
        <p:spPr>
          <a:xfrm>
            <a:off x="9075240" y="3860640"/>
            <a:ext cx="300600" cy="300600"/>
          </a:xfrm>
          <a:prstGeom prst="rect">
            <a:avLst/>
          </a:prstGeom>
          <a:noFill/>
          <a:ln w="0">
            <a:noFill/>
          </a:ln>
        </p:spPr>
      </p:pic>
      <p:sp>
        <p:nvSpPr>
          <p:cNvPr id="65" name=""/>
          <p:cNvSpPr txBox="1"/>
          <p:nvPr/>
        </p:nvSpPr>
        <p:spPr>
          <a:xfrm>
            <a:off x="7821720" y="4593960"/>
            <a:ext cx="266040" cy="235080"/>
          </a:xfrm>
          <a:prstGeom prst="rect">
            <a:avLst/>
          </a:prstGeom>
          <a:noFill/>
          <a:ln w="0">
            <a:noFill/>
          </a:ln>
        </p:spPr>
        <p:txBody>
          <a:bodyPr wrap="none" lIns="0" rIns="0" tIns="0" bIns="0" anchor="t">
            <a:spAutoFit/>
          </a:bodyPr>
          <a:p>
            <a:r>
              <a:rPr b="0" lang="en-US" sz="1580" strike="noStrike" u="none">
                <a:solidFill>
                  <a:srgbClr val="9ca3af"/>
                </a:solidFill>
                <a:effectLst/>
                <a:uFillTx/>
                <a:latin typeface="NotoSansJP"/>
                <a:ea typeface="NotoSansJP"/>
              </a:rPr>
              <a:t>VS</a:t>
            </a:r>
            <a:endParaRPr b="0" lang="en-US" sz="1580" strike="noStrike" u="none">
              <a:solidFill>
                <a:srgbClr val="000000"/>
              </a:solidFill>
              <a:effectLst/>
              <a:uFillTx/>
              <a:latin typeface="Times New Roman"/>
            </a:endParaRPr>
          </a:p>
        </p:txBody>
      </p:sp>
      <p:sp>
        <p:nvSpPr>
          <p:cNvPr id="66" name=""/>
          <p:cNvSpPr txBox="1"/>
          <p:nvPr/>
        </p:nvSpPr>
        <p:spPr>
          <a:xfrm>
            <a:off x="8586000" y="5222880"/>
            <a:ext cx="1291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特定方向のみに音が伝搬</a:t>
            </a:r>
            <a:endParaRPr b="0" lang="en-US" sz="920" strike="noStrike" u="none">
              <a:solidFill>
                <a:srgbClr val="000000"/>
              </a:solidFill>
              <a:effectLst/>
              <a:uFillTx/>
              <a:latin typeface="Times New Roman"/>
            </a:endParaRPr>
          </a:p>
        </p:txBody>
      </p:sp>
      <p:pic>
        <p:nvPicPr>
          <p:cNvPr id="67" name="" descr=""/>
          <p:cNvPicPr/>
          <p:nvPr/>
        </p:nvPicPr>
        <p:blipFill>
          <a:blip r:embed="rId13"/>
          <a:stretch/>
        </p:blipFill>
        <p:spPr>
          <a:xfrm>
            <a:off x="6367680" y="4529160"/>
            <a:ext cx="601200" cy="601200"/>
          </a:xfrm>
          <a:prstGeom prst="rect">
            <a:avLst/>
          </a:prstGeom>
          <a:noFill/>
          <a:ln w="0">
            <a:noFill/>
          </a:ln>
        </p:spPr>
      </p:pic>
      <p:pic>
        <p:nvPicPr>
          <p:cNvPr id="68" name="" descr=""/>
          <p:cNvPicPr/>
          <p:nvPr/>
        </p:nvPicPr>
        <p:blipFill>
          <a:blip r:embed="rId14"/>
          <a:stretch/>
        </p:blipFill>
        <p:spPr>
          <a:xfrm>
            <a:off x="9159120" y="4328640"/>
            <a:ext cx="133200" cy="668160"/>
          </a:xfrm>
          <a:prstGeom prst="rect">
            <a:avLst/>
          </a:prstGeom>
          <a:noFill/>
          <a:ln w="0">
            <a:noFill/>
          </a:ln>
        </p:spPr>
      </p:pic>
      <p:pic>
        <p:nvPicPr>
          <p:cNvPr id="69" name="" descr=""/>
          <p:cNvPicPr/>
          <p:nvPr/>
        </p:nvPicPr>
        <p:blipFill>
          <a:blip r:embed="rId15"/>
          <a:stretch/>
        </p:blipFill>
        <p:spPr>
          <a:xfrm rot="18900000">
            <a:off x="8991360" y="4395600"/>
            <a:ext cx="133200" cy="534600"/>
          </a:xfrm>
          <a:prstGeom prst="rect">
            <a:avLst/>
          </a:prstGeom>
          <a:noFill/>
          <a:ln w="0">
            <a:noFill/>
          </a:ln>
        </p:spPr>
      </p:pic>
      <p:pic>
        <p:nvPicPr>
          <p:cNvPr id="70" name="" descr=""/>
          <p:cNvPicPr/>
          <p:nvPr/>
        </p:nvPicPr>
        <p:blipFill>
          <a:blip r:embed="rId16"/>
          <a:stretch/>
        </p:blipFill>
        <p:spPr>
          <a:xfrm rot="2700000">
            <a:off x="9325800" y="4395240"/>
            <a:ext cx="133200" cy="534600"/>
          </a:xfrm>
          <a:prstGeom prst="rect">
            <a:avLst/>
          </a:prstGeom>
          <a:noFill/>
          <a:ln w="0">
            <a:noFill/>
          </a:ln>
        </p:spPr>
      </p:pic>
      <p:sp>
        <p:nvSpPr>
          <p:cNvPr id="71" name=""/>
          <p:cNvSpPr txBox="1"/>
          <p:nvPr/>
        </p:nvSpPr>
        <p:spPr>
          <a:xfrm>
            <a:off x="8460360" y="5390280"/>
            <a:ext cx="1552680" cy="169560"/>
          </a:xfrm>
          <a:prstGeom prst="rect">
            <a:avLst/>
          </a:prstGeom>
          <a:noFill/>
          <a:ln w="0">
            <a:noFill/>
          </a:ln>
        </p:spPr>
        <p:txBody>
          <a:bodyPr wrap="none" lIns="0" rIns="0" tIns="0" bIns="0" anchor="t">
            <a:spAutoFit/>
          </a:bodyPr>
          <a:p>
            <a:r>
              <a:rPr b="0" lang="en-US" sz="920" strike="noStrike" u="none">
                <a:solidFill>
                  <a:srgbClr val="10b981"/>
                </a:solidFill>
                <a:effectLst/>
                <a:uFillTx/>
                <a:latin typeface="NotoSansJP"/>
                <a:ea typeface="NotoSansJP"/>
              </a:rPr>
              <a:t>→ オーディオスポットの形成</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
          <p:cNvSpPr/>
          <p:nvPr/>
        </p:nvSpPr>
        <p:spPr>
          <a:xfrm>
            <a:off x="0" y="0"/>
            <a:ext cx="10696680" cy="6576840"/>
          </a:xfrm>
          <a:custGeom>
            <a:avLst/>
            <a:gdLst/>
            <a:ahLst/>
            <a:rect l="0" t="0" r="r" b="b"/>
            <a:pathLst>
              <a:path w="29713" h="18269">
                <a:moveTo>
                  <a:pt x="0" y="0"/>
                </a:moveTo>
                <a:lnTo>
                  <a:pt x="29713" y="0"/>
                </a:lnTo>
                <a:lnTo>
                  <a:pt x="29713" y="18269"/>
                </a:lnTo>
                <a:lnTo>
                  <a:pt x="0" y="18269"/>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 name="" descr=""/>
          <p:cNvPicPr/>
          <p:nvPr/>
        </p:nvPicPr>
        <p:blipFill>
          <a:blip r:embed="rId1"/>
          <a:stretch/>
        </p:blipFill>
        <p:spPr>
          <a:xfrm>
            <a:off x="0" y="0"/>
            <a:ext cx="10696320" cy="668160"/>
          </a:xfrm>
          <a:prstGeom prst="rect">
            <a:avLst/>
          </a:prstGeom>
          <a:noFill/>
          <a:ln w="0">
            <a:noFill/>
          </a:ln>
        </p:spPr>
      </p:pic>
      <p:sp>
        <p:nvSpPr>
          <p:cNvPr id="74" name=""/>
          <p:cNvSpPr/>
          <p:nvPr/>
        </p:nvSpPr>
        <p:spPr>
          <a:xfrm>
            <a:off x="421920" y="4341240"/>
            <a:ext cx="4721760" cy="1980720"/>
          </a:xfrm>
          <a:custGeom>
            <a:avLst/>
            <a:gdLst/>
            <a:ahLst/>
            <a:rect l="0" t="0" r="r" b="b"/>
            <a:pathLst>
              <a:path w="13116" h="5502">
                <a:moveTo>
                  <a:pt x="0" y="5328"/>
                </a:moveTo>
                <a:lnTo>
                  <a:pt x="0" y="174"/>
                </a:lnTo>
                <a:cubicBezTo>
                  <a:pt x="0" y="162"/>
                  <a:pt x="1" y="151"/>
                  <a:pt x="3" y="140"/>
                </a:cubicBezTo>
                <a:cubicBezTo>
                  <a:pt x="5" y="129"/>
                  <a:pt x="9" y="118"/>
                  <a:pt x="13" y="107"/>
                </a:cubicBezTo>
                <a:cubicBezTo>
                  <a:pt x="17" y="97"/>
                  <a:pt x="23" y="87"/>
                  <a:pt x="29" y="77"/>
                </a:cubicBezTo>
                <a:cubicBezTo>
                  <a:pt x="35" y="68"/>
                  <a:pt x="43" y="59"/>
                  <a:pt x="51" y="51"/>
                </a:cubicBezTo>
                <a:cubicBezTo>
                  <a:pt x="59" y="43"/>
                  <a:pt x="68" y="35"/>
                  <a:pt x="77" y="29"/>
                </a:cubicBezTo>
                <a:cubicBezTo>
                  <a:pt x="87" y="23"/>
                  <a:pt x="97" y="17"/>
                  <a:pt x="107" y="13"/>
                </a:cubicBezTo>
                <a:cubicBezTo>
                  <a:pt x="118" y="9"/>
                  <a:pt x="129" y="5"/>
                  <a:pt x="140" y="3"/>
                </a:cubicBezTo>
                <a:cubicBezTo>
                  <a:pt x="151" y="1"/>
                  <a:pt x="162" y="0"/>
                  <a:pt x="174" y="0"/>
                </a:cubicBezTo>
                <a:lnTo>
                  <a:pt x="12942" y="0"/>
                </a:lnTo>
                <a:cubicBezTo>
                  <a:pt x="12953" y="0"/>
                  <a:pt x="12965" y="1"/>
                  <a:pt x="12976" y="3"/>
                </a:cubicBezTo>
                <a:cubicBezTo>
                  <a:pt x="12987" y="5"/>
                  <a:pt x="12998" y="9"/>
                  <a:pt x="13009" y="13"/>
                </a:cubicBezTo>
                <a:cubicBezTo>
                  <a:pt x="13019" y="17"/>
                  <a:pt x="13029" y="23"/>
                  <a:pt x="13039" y="29"/>
                </a:cubicBezTo>
                <a:cubicBezTo>
                  <a:pt x="13048" y="35"/>
                  <a:pt x="13057" y="43"/>
                  <a:pt x="13065" y="51"/>
                </a:cubicBezTo>
                <a:cubicBezTo>
                  <a:pt x="13073" y="59"/>
                  <a:pt x="13080" y="68"/>
                  <a:pt x="13087" y="77"/>
                </a:cubicBezTo>
                <a:cubicBezTo>
                  <a:pt x="13093" y="87"/>
                  <a:pt x="13099" y="97"/>
                  <a:pt x="13103" y="107"/>
                </a:cubicBezTo>
                <a:cubicBezTo>
                  <a:pt x="13107" y="118"/>
                  <a:pt x="13111" y="129"/>
                  <a:pt x="13113" y="140"/>
                </a:cubicBezTo>
                <a:cubicBezTo>
                  <a:pt x="13115" y="151"/>
                  <a:pt x="13116" y="162"/>
                  <a:pt x="13116" y="174"/>
                </a:cubicBezTo>
                <a:lnTo>
                  <a:pt x="13116" y="5328"/>
                </a:lnTo>
                <a:cubicBezTo>
                  <a:pt x="13116" y="5340"/>
                  <a:pt x="13115" y="5351"/>
                  <a:pt x="13113" y="5362"/>
                </a:cubicBezTo>
                <a:cubicBezTo>
                  <a:pt x="13111" y="5373"/>
                  <a:pt x="13107" y="5384"/>
                  <a:pt x="13103" y="5395"/>
                </a:cubicBezTo>
                <a:cubicBezTo>
                  <a:pt x="13099" y="5405"/>
                  <a:pt x="13093" y="5415"/>
                  <a:pt x="13087" y="5425"/>
                </a:cubicBezTo>
                <a:cubicBezTo>
                  <a:pt x="13080" y="5434"/>
                  <a:pt x="13073" y="5443"/>
                  <a:pt x="13065" y="5451"/>
                </a:cubicBezTo>
                <a:cubicBezTo>
                  <a:pt x="13057" y="5459"/>
                  <a:pt x="13048" y="5466"/>
                  <a:pt x="13039" y="5473"/>
                </a:cubicBezTo>
                <a:cubicBezTo>
                  <a:pt x="13029" y="5479"/>
                  <a:pt x="13019" y="5485"/>
                  <a:pt x="13009" y="5489"/>
                </a:cubicBezTo>
                <a:cubicBezTo>
                  <a:pt x="12998" y="5493"/>
                  <a:pt x="12987" y="5497"/>
                  <a:pt x="12976" y="5499"/>
                </a:cubicBezTo>
                <a:cubicBezTo>
                  <a:pt x="12965" y="5501"/>
                  <a:pt x="12953" y="5502"/>
                  <a:pt x="12942" y="5502"/>
                </a:cubicBezTo>
                <a:lnTo>
                  <a:pt x="174" y="5502"/>
                </a:lnTo>
                <a:cubicBezTo>
                  <a:pt x="162" y="5502"/>
                  <a:pt x="151" y="5501"/>
                  <a:pt x="140" y="5499"/>
                </a:cubicBezTo>
                <a:cubicBezTo>
                  <a:pt x="129" y="5497"/>
                  <a:pt x="118" y="5493"/>
                  <a:pt x="107" y="5489"/>
                </a:cubicBezTo>
                <a:cubicBezTo>
                  <a:pt x="97" y="5485"/>
                  <a:pt x="87" y="5479"/>
                  <a:pt x="77" y="5473"/>
                </a:cubicBezTo>
                <a:cubicBezTo>
                  <a:pt x="68" y="5466"/>
                  <a:pt x="59" y="5459"/>
                  <a:pt x="51" y="5451"/>
                </a:cubicBezTo>
                <a:cubicBezTo>
                  <a:pt x="43" y="5443"/>
                  <a:pt x="35" y="5434"/>
                  <a:pt x="29" y="5425"/>
                </a:cubicBezTo>
                <a:cubicBezTo>
                  <a:pt x="23" y="5415"/>
                  <a:pt x="17" y="5405"/>
                  <a:pt x="13" y="5395"/>
                </a:cubicBezTo>
                <a:cubicBezTo>
                  <a:pt x="9" y="5384"/>
                  <a:pt x="5" y="5373"/>
                  <a:pt x="3" y="5362"/>
                </a:cubicBezTo>
                <a:cubicBezTo>
                  <a:pt x="1" y="5351"/>
                  <a:pt x="0" y="5340"/>
                  <a:pt x="0" y="5328"/>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5" name=""/>
          <p:cNvSpPr/>
          <p:nvPr/>
        </p:nvSpPr>
        <p:spPr>
          <a:xfrm>
            <a:off x="421920" y="4341240"/>
            <a:ext cx="4721760" cy="1980720"/>
          </a:xfrm>
          <a:custGeom>
            <a:avLst/>
            <a:gdLst/>
            <a:ahLst/>
            <a:rect l="0" t="0" r="r" b="b"/>
            <a:pathLst>
              <a:path fill="none" w="13116" h="5502">
                <a:moveTo>
                  <a:pt x="0" y="5328"/>
                </a:moveTo>
                <a:lnTo>
                  <a:pt x="0" y="174"/>
                </a:lnTo>
                <a:cubicBezTo>
                  <a:pt x="0" y="162"/>
                  <a:pt x="1" y="151"/>
                  <a:pt x="3" y="140"/>
                </a:cubicBezTo>
                <a:cubicBezTo>
                  <a:pt x="5" y="129"/>
                  <a:pt x="9" y="118"/>
                  <a:pt x="13" y="107"/>
                </a:cubicBezTo>
                <a:cubicBezTo>
                  <a:pt x="17" y="97"/>
                  <a:pt x="23" y="87"/>
                  <a:pt x="29" y="77"/>
                </a:cubicBezTo>
                <a:cubicBezTo>
                  <a:pt x="35" y="68"/>
                  <a:pt x="43" y="59"/>
                  <a:pt x="51" y="51"/>
                </a:cubicBezTo>
                <a:cubicBezTo>
                  <a:pt x="59" y="43"/>
                  <a:pt x="68" y="35"/>
                  <a:pt x="77" y="29"/>
                </a:cubicBezTo>
                <a:cubicBezTo>
                  <a:pt x="87" y="23"/>
                  <a:pt x="97" y="17"/>
                  <a:pt x="107" y="13"/>
                </a:cubicBezTo>
                <a:cubicBezTo>
                  <a:pt x="118" y="9"/>
                  <a:pt x="129" y="5"/>
                  <a:pt x="140" y="3"/>
                </a:cubicBezTo>
                <a:cubicBezTo>
                  <a:pt x="151" y="1"/>
                  <a:pt x="162" y="0"/>
                  <a:pt x="174" y="0"/>
                </a:cubicBezTo>
                <a:lnTo>
                  <a:pt x="12942" y="0"/>
                </a:lnTo>
                <a:cubicBezTo>
                  <a:pt x="12953" y="0"/>
                  <a:pt x="12965" y="1"/>
                  <a:pt x="12976" y="3"/>
                </a:cubicBezTo>
                <a:cubicBezTo>
                  <a:pt x="12987" y="5"/>
                  <a:pt x="12998" y="9"/>
                  <a:pt x="13009" y="13"/>
                </a:cubicBezTo>
                <a:cubicBezTo>
                  <a:pt x="13019" y="17"/>
                  <a:pt x="13029" y="23"/>
                  <a:pt x="13039" y="29"/>
                </a:cubicBezTo>
                <a:cubicBezTo>
                  <a:pt x="13048" y="35"/>
                  <a:pt x="13057" y="43"/>
                  <a:pt x="13065" y="51"/>
                </a:cubicBezTo>
                <a:cubicBezTo>
                  <a:pt x="13073" y="59"/>
                  <a:pt x="13080" y="68"/>
                  <a:pt x="13087" y="77"/>
                </a:cubicBezTo>
                <a:cubicBezTo>
                  <a:pt x="13093" y="87"/>
                  <a:pt x="13099" y="97"/>
                  <a:pt x="13103" y="107"/>
                </a:cubicBezTo>
                <a:cubicBezTo>
                  <a:pt x="13107" y="118"/>
                  <a:pt x="13111" y="129"/>
                  <a:pt x="13113" y="140"/>
                </a:cubicBezTo>
                <a:cubicBezTo>
                  <a:pt x="13115" y="151"/>
                  <a:pt x="13116" y="162"/>
                  <a:pt x="13116" y="174"/>
                </a:cubicBezTo>
                <a:lnTo>
                  <a:pt x="13116" y="5328"/>
                </a:lnTo>
                <a:cubicBezTo>
                  <a:pt x="13116" y="5340"/>
                  <a:pt x="13115" y="5351"/>
                  <a:pt x="13113" y="5362"/>
                </a:cubicBezTo>
                <a:cubicBezTo>
                  <a:pt x="13111" y="5373"/>
                  <a:pt x="13107" y="5384"/>
                  <a:pt x="13103" y="5395"/>
                </a:cubicBezTo>
                <a:cubicBezTo>
                  <a:pt x="13099" y="5405"/>
                  <a:pt x="13093" y="5415"/>
                  <a:pt x="13087" y="5425"/>
                </a:cubicBezTo>
                <a:cubicBezTo>
                  <a:pt x="13080" y="5434"/>
                  <a:pt x="13073" y="5443"/>
                  <a:pt x="13065" y="5451"/>
                </a:cubicBezTo>
                <a:cubicBezTo>
                  <a:pt x="13057" y="5459"/>
                  <a:pt x="13048" y="5466"/>
                  <a:pt x="13039" y="5473"/>
                </a:cubicBezTo>
                <a:cubicBezTo>
                  <a:pt x="13029" y="5479"/>
                  <a:pt x="13019" y="5485"/>
                  <a:pt x="13009" y="5489"/>
                </a:cubicBezTo>
                <a:cubicBezTo>
                  <a:pt x="12998" y="5493"/>
                  <a:pt x="12987" y="5497"/>
                  <a:pt x="12976" y="5499"/>
                </a:cubicBezTo>
                <a:cubicBezTo>
                  <a:pt x="12965" y="5501"/>
                  <a:pt x="12953" y="5502"/>
                  <a:pt x="12942" y="5502"/>
                </a:cubicBezTo>
                <a:lnTo>
                  <a:pt x="174" y="5502"/>
                </a:lnTo>
                <a:cubicBezTo>
                  <a:pt x="162" y="5502"/>
                  <a:pt x="151" y="5501"/>
                  <a:pt x="140" y="5499"/>
                </a:cubicBezTo>
                <a:cubicBezTo>
                  <a:pt x="129" y="5497"/>
                  <a:pt x="118" y="5493"/>
                  <a:pt x="107" y="5489"/>
                </a:cubicBezTo>
                <a:cubicBezTo>
                  <a:pt x="97" y="5485"/>
                  <a:pt x="87" y="5479"/>
                  <a:pt x="77" y="5473"/>
                </a:cubicBezTo>
                <a:cubicBezTo>
                  <a:pt x="68" y="5466"/>
                  <a:pt x="59" y="5459"/>
                  <a:pt x="51" y="5451"/>
                </a:cubicBezTo>
                <a:cubicBezTo>
                  <a:pt x="43" y="5443"/>
                  <a:pt x="35" y="5434"/>
                  <a:pt x="29" y="5425"/>
                </a:cubicBezTo>
                <a:cubicBezTo>
                  <a:pt x="23" y="5415"/>
                  <a:pt x="17" y="5405"/>
                  <a:pt x="13" y="5395"/>
                </a:cubicBezTo>
                <a:cubicBezTo>
                  <a:pt x="9" y="5384"/>
                  <a:pt x="5" y="5373"/>
                  <a:pt x="3" y="5362"/>
                </a:cubicBezTo>
                <a:cubicBezTo>
                  <a:pt x="1" y="5351"/>
                  <a:pt x="0" y="5340"/>
                  <a:pt x="0" y="5328"/>
                </a:cubicBezTo>
              </a:path>
            </a:pathLst>
          </a:custGeom>
          <a:ln w="8280">
            <a:solidFill>
              <a:srgbClr val="bfdbfe"/>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76" name=""/>
          <p:cNvSpPr txBox="1"/>
          <p:nvPr/>
        </p:nvSpPr>
        <p:spPr>
          <a:xfrm>
            <a:off x="334440" y="210240"/>
            <a:ext cx="201240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音響レンズの原理</a:t>
            </a:r>
            <a:endParaRPr b="0" lang="en-US" sz="1979" strike="noStrike" u="none">
              <a:solidFill>
                <a:srgbClr val="000000"/>
              </a:solidFill>
              <a:effectLst/>
              <a:uFillTx/>
              <a:latin typeface="Times New Roman"/>
            </a:endParaRPr>
          </a:p>
        </p:txBody>
      </p:sp>
      <p:sp>
        <p:nvSpPr>
          <p:cNvPr id="77" name=""/>
          <p:cNvSpPr txBox="1"/>
          <p:nvPr/>
        </p:nvSpPr>
        <p:spPr>
          <a:xfrm>
            <a:off x="417960" y="964080"/>
            <a:ext cx="459756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音響レンズとは、進行する音波を</a:t>
            </a:r>
            <a:r>
              <a:rPr b="0" lang="zh-CN" sz="1250" strike="noStrike" u="none">
                <a:solidFill>
                  <a:srgbClr val="ff8c00"/>
                </a:solidFill>
                <a:effectLst/>
                <a:uFillTx/>
                <a:latin typeface="NotoSansJP"/>
                <a:ea typeface="NotoSansJP"/>
              </a:rPr>
              <a:t>屈折</a:t>
            </a:r>
            <a:r>
              <a:rPr b="0" lang="zh-CN" sz="1250" strike="noStrike" u="none">
                <a:solidFill>
                  <a:srgbClr val="333333"/>
                </a:solidFill>
                <a:effectLst/>
                <a:uFillTx/>
                <a:latin typeface="NotoSansJP"/>
                <a:ea typeface="NotoSansJP"/>
              </a:rPr>
              <a:t>させ、</a:t>
            </a:r>
            <a:r>
              <a:rPr b="0" lang="zh-CN" sz="1250" strike="noStrike" u="none">
                <a:solidFill>
                  <a:srgbClr val="ff8c00"/>
                </a:solidFill>
                <a:effectLst/>
                <a:uFillTx/>
                <a:latin typeface="NotoSansJP"/>
                <a:ea typeface="NotoSansJP"/>
              </a:rPr>
              <a:t>焦点</a:t>
            </a:r>
            <a:r>
              <a:rPr b="0" lang="zh-CN" sz="1250" strike="noStrike" u="none">
                <a:solidFill>
                  <a:srgbClr val="333333"/>
                </a:solidFill>
                <a:effectLst/>
                <a:uFillTx/>
                <a:latin typeface="NotoSansJP"/>
                <a:ea typeface="NotoSansJP"/>
              </a:rPr>
              <a:t>を作ることがで</a:t>
            </a:r>
            <a:endParaRPr b="0" lang="en-US" sz="1250" strike="noStrike" u="none">
              <a:solidFill>
                <a:srgbClr val="000000"/>
              </a:solidFill>
              <a:effectLst/>
              <a:uFillTx/>
              <a:latin typeface="Times New Roman"/>
            </a:endParaRPr>
          </a:p>
        </p:txBody>
      </p:sp>
      <p:sp>
        <p:nvSpPr>
          <p:cNvPr id="78" name=""/>
          <p:cNvSpPr txBox="1"/>
          <p:nvPr/>
        </p:nvSpPr>
        <p:spPr>
          <a:xfrm>
            <a:off x="417960" y="1214640"/>
            <a:ext cx="475560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きる装置です。音響工学や、超音波を使用して音響画像を得る装置</a:t>
            </a:r>
            <a:endParaRPr b="0" lang="en-US" sz="1250" strike="noStrike" u="none">
              <a:solidFill>
                <a:srgbClr val="000000"/>
              </a:solidFill>
              <a:effectLst/>
              <a:uFillTx/>
              <a:latin typeface="Times New Roman"/>
            </a:endParaRPr>
          </a:p>
        </p:txBody>
      </p:sp>
      <p:pic>
        <p:nvPicPr>
          <p:cNvPr id="79" name="" descr=""/>
          <p:cNvPicPr/>
          <p:nvPr/>
        </p:nvPicPr>
        <p:blipFill>
          <a:blip r:embed="rId2"/>
          <a:stretch/>
        </p:blipFill>
        <p:spPr>
          <a:xfrm>
            <a:off x="417960" y="1846800"/>
            <a:ext cx="208440" cy="166680"/>
          </a:xfrm>
          <a:prstGeom prst="rect">
            <a:avLst/>
          </a:prstGeom>
          <a:noFill/>
          <a:ln w="0">
            <a:noFill/>
          </a:ln>
        </p:spPr>
      </p:pic>
      <p:sp>
        <p:nvSpPr>
          <p:cNvPr id="80" name=""/>
          <p:cNvSpPr txBox="1"/>
          <p:nvPr/>
        </p:nvSpPr>
        <p:spPr>
          <a:xfrm>
            <a:off x="417960" y="1473840"/>
            <a:ext cx="126864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に利用されます。</a:t>
            </a:r>
            <a:endParaRPr b="0" lang="en-US" sz="1250" strike="noStrike" u="none">
              <a:solidFill>
                <a:srgbClr val="000000"/>
              </a:solidFill>
              <a:effectLst/>
              <a:uFillTx/>
              <a:latin typeface="Times New Roman"/>
            </a:endParaRPr>
          </a:p>
        </p:txBody>
      </p:sp>
      <p:sp>
        <p:nvSpPr>
          <p:cNvPr id="81" name=""/>
          <p:cNvSpPr/>
          <p:nvPr/>
        </p:nvSpPr>
        <p:spPr>
          <a:xfrm>
            <a:off x="417600" y="2172600"/>
            <a:ext cx="200880" cy="200880"/>
          </a:xfrm>
          <a:custGeom>
            <a:avLst/>
            <a:gdLst/>
            <a:ahLst/>
            <a:rect l="0" t="0" r="r" b="b"/>
            <a:pathLst>
              <a:path w="558" h="558">
                <a:moveTo>
                  <a:pt x="558" y="278"/>
                </a:moveTo>
                <a:cubicBezTo>
                  <a:pt x="558" y="297"/>
                  <a:pt x="556" y="315"/>
                  <a:pt x="553" y="333"/>
                </a:cubicBezTo>
                <a:cubicBezTo>
                  <a:pt x="549" y="351"/>
                  <a:pt x="544" y="368"/>
                  <a:pt x="537" y="386"/>
                </a:cubicBezTo>
                <a:cubicBezTo>
                  <a:pt x="530" y="403"/>
                  <a:pt x="521" y="419"/>
                  <a:pt x="511" y="434"/>
                </a:cubicBezTo>
                <a:cubicBezTo>
                  <a:pt x="501" y="449"/>
                  <a:pt x="490" y="463"/>
                  <a:pt x="477" y="476"/>
                </a:cubicBezTo>
                <a:cubicBezTo>
                  <a:pt x="464" y="489"/>
                  <a:pt x="450" y="501"/>
                  <a:pt x="434" y="511"/>
                </a:cubicBezTo>
                <a:cubicBezTo>
                  <a:pt x="419" y="521"/>
                  <a:pt x="403" y="530"/>
                  <a:pt x="386" y="537"/>
                </a:cubicBezTo>
                <a:cubicBezTo>
                  <a:pt x="369" y="544"/>
                  <a:pt x="352" y="549"/>
                  <a:pt x="334" y="553"/>
                </a:cubicBezTo>
                <a:cubicBezTo>
                  <a:pt x="316" y="556"/>
                  <a:pt x="298" y="558"/>
                  <a:pt x="280" y="558"/>
                </a:cubicBezTo>
                <a:cubicBezTo>
                  <a:pt x="261" y="558"/>
                  <a:pt x="243" y="556"/>
                  <a:pt x="224" y="553"/>
                </a:cubicBezTo>
                <a:cubicBezTo>
                  <a:pt x="206" y="549"/>
                  <a:pt x="189" y="544"/>
                  <a:pt x="172" y="537"/>
                </a:cubicBezTo>
                <a:cubicBezTo>
                  <a:pt x="155" y="530"/>
                  <a:pt x="139" y="521"/>
                  <a:pt x="124" y="511"/>
                </a:cubicBezTo>
                <a:cubicBezTo>
                  <a:pt x="109" y="501"/>
                  <a:pt x="95" y="489"/>
                  <a:pt x="82" y="476"/>
                </a:cubicBezTo>
                <a:cubicBezTo>
                  <a:pt x="69" y="463"/>
                  <a:pt x="57" y="449"/>
                  <a:pt x="47" y="434"/>
                </a:cubicBezTo>
                <a:cubicBezTo>
                  <a:pt x="37" y="419"/>
                  <a:pt x="28" y="403"/>
                  <a:pt x="21" y="386"/>
                </a:cubicBezTo>
                <a:cubicBezTo>
                  <a:pt x="14" y="368"/>
                  <a:pt x="9" y="351"/>
                  <a:pt x="6" y="333"/>
                </a:cubicBezTo>
                <a:cubicBezTo>
                  <a:pt x="2" y="315"/>
                  <a:pt x="0" y="297"/>
                  <a:pt x="0" y="278"/>
                </a:cubicBezTo>
                <a:cubicBezTo>
                  <a:pt x="0" y="260"/>
                  <a:pt x="2" y="242"/>
                  <a:pt x="6" y="224"/>
                </a:cubicBezTo>
                <a:cubicBezTo>
                  <a:pt x="9" y="206"/>
                  <a:pt x="14" y="189"/>
                  <a:pt x="21" y="172"/>
                </a:cubicBezTo>
                <a:cubicBezTo>
                  <a:pt x="28" y="155"/>
                  <a:pt x="37" y="139"/>
                  <a:pt x="47" y="124"/>
                </a:cubicBezTo>
                <a:cubicBezTo>
                  <a:pt x="57" y="108"/>
                  <a:pt x="69" y="94"/>
                  <a:pt x="82" y="81"/>
                </a:cubicBezTo>
                <a:cubicBezTo>
                  <a:pt x="95" y="69"/>
                  <a:pt x="109" y="57"/>
                  <a:pt x="124" y="47"/>
                </a:cubicBezTo>
                <a:cubicBezTo>
                  <a:pt x="139" y="37"/>
                  <a:pt x="155" y="28"/>
                  <a:pt x="172" y="21"/>
                </a:cubicBezTo>
                <a:cubicBezTo>
                  <a:pt x="189" y="14"/>
                  <a:pt x="206" y="9"/>
                  <a:pt x="224" y="5"/>
                </a:cubicBezTo>
                <a:cubicBezTo>
                  <a:pt x="243" y="2"/>
                  <a:pt x="261" y="0"/>
                  <a:pt x="280" y="0"/>
                </a:cubicBezTo>
                <a:cubicBezTo>
                  <a:pt x="298" y="0"/>
                  <a:pt x="316" y="2"/>
                  <a:pt x="334" y="5"/>
                </a:cubicBezTo>
                <a:cubicBezTo>
                  <a:pt x="352" y="9"/>
                  <a:pt x="369" y="14"/>
                  <a:pt x="386" y="21"/>
                </a:cubicBezTo>
                <a:cubicBezTo>
                  <a:pt x="403" y="28"/>
                  <a:pt x="419" y="37"/>
                  <a:pt x="434" y="47"/>
                </a:cubicBezTo>
                <a:cubicBezTo>
                  <a:pt x="450" y="57"/>
                  <a:pt x="464" y="69"/>
                  <a:pt x="477" y="81"/>
                </a:cubicBezTo>
                <a:cubicBezTo>
                  <a:pt x="490" y="94"/>
                  <a:pt x="501" y="108"/>
                  <a:pt x="511" y="124"/>
                </a:cubicBezTo>
                <a:cubicBezTo>
                  <a:pt x="521" y="139"/>
                  <a:pt x="530" y="155"/>
                  <a:pt x="537" y="172"/>
                </a:cubicBezTo>
                <a:cubicBezTo>
                  <a:pt x="544" y="189"/>
                  <a:pt x="549" y="206"/>
                  <a:pt x="553" y="224"/>
                </a:cubicBezTo>
                <a:cubicBezTo>
                  <a:pt x="556" y="242"/>
                  <a:pt x="558" y="260"/>
                  <a:pt x="558" y="278"/>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2" name=""/>
          <p:cNvSpPr txBox="1"/>
          <p:nvPr/>
        </p:nvSpPr>
        <p:spPr>
          <a:xfrm>
            <a:off x="693720" y="1842120"/>
            <a:ext cx="167724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音波屈折のメカニズム</a:t>
            </a:r>
            <a:endParaRPr b="0" lang="en-US" sz="1320" strike="noStrike" u="none">
              <a:solidFill>
                <a:srgbClr val="000000"/>
              </a:solidFill>
              <a:effectLst/>
              <a:uFillTx/>
              <a:latin typeface="Times New Roman"/>
            </a:endParaRPr>
          </a:p>
        </p:txBody>
      </p:sp>
      <p:sp>
        <p:nvSpPr>
          <p:cNvPr id="83" name=""/>
          <p:cNvSpPr txBox="1"/>
          <p:nvPr/>
        </p:nvSpPr>
        <p:spPr>
          <a:xfrm>
            <a:off x="484560" y="221472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1</a:t>
            </a:r>
            <a:endParaRPr b="0" lang="en-US" sz="920" strike="noStrike" u="none">
              <a:solidFill>
                <a:srgbClr val="000000"/>
              </a:solidFill>
              <a:effectLst/>
              <a:uFillTx/>
              <a:latin typeface="Times New Roman"/>
            </a:endParaRPr>
          </a:p>
        </p:txBody>
      </p:sp>
      <p:sp>
        <p:nvSpPr>
          <p:cNvPr id="84" name=""/>
          <p:cNvSpPr txBox="1"/>
          <p:nvPr/>
        </p:nvSpPr>
        <p:spPr>
          <a:xfrm>
            <a:off x="718560" y="2217600"/>
            <a:ext cx="428040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音響レンズは</a:t>
            </a:r>
            <a:r>
              <a:rPr b="0" lang="zh-CN" sz="1250" strike="noStrike" u="none">
                <a:solidFill>
                  <a:srgbClr val="ff8c00"/>
                </a:solidFill>
                <a:effectLst/>
                <a:uFillTx/>
                <a:latin typeface="NotoSansJP"/>
                <a:ea typeface="NotoSansJP"/>
              </a:rPr>
              <a:t>長さの異なるスリット</a:t>
            </a:r>
            <a:r>
              <a:rPr b="0" lang="zh-CN" sz="1250" strike="noStrike" u="none">
                <a:solidFill>
                  <a:srgbClr val="333333"/>
                </a:solidFill>
                <a:effectLst/>
                <a:uFillTx/>
                <a:latin typeface="NotoSansJP"/>
                <a:ea typeface="NotoSansJP"/>
              </a:rPr>
              <a:t>が一列に並んだ構造を持</a:t>
            </a:r>
            <a:endParaRPr b="0" lang="en-US" sz="1250" strike="noStrike" u="none">
              <a:solidFill>
                <a:srgbClr val="000000"/>
              </a:solidFill>
              <a:effectLst/>
              <a:uFillTx/>
              <a:latin typeface="Times New Roman"/>
            </a:endParaRPr>
          </a:p>
        </p:txBody>
      </p:sp>
      <p:sp>
        <p:nvSpPr>
          <p:cNvPr id="85" name=""/>
          <p:cNvSpPr/>
          <p:nvPr/>
        </p:nvSpPr>
        <p:spPr>
          <a:xfrm>
            <a:off x="417600" y="2765880"/>
            <a:ext cx="200880" cy="200880"/>
          </a:xfrm>
          <a:custGeom>
            <a:avLst/>
            <a:gdLst/>
            <a:ahLst/>
            <a:rect l="0" t="0" r="r" b="b"/>
            <a:pathLst>
              <a:path w="558" h="558">
                <a:moveTo>
                  <a:pt x="558" y="279"/>
                </a:moveTo>
                <a:cubicBezTo>
                  <a:pt x="558" y="297"/>
                  <a:pt x="556" y="315"/>
                  <a:pt x="553" y="333"/>
                </a:cubicBezTo>
                <a:cubicBezTo>
                  <a:pt x="549" y="351"/>
                  <a:pt x="544" y="368"/>
                  <a:pt x="537" y="385"/>
                </a:cubicBezTo>
                <a:cubicBezTo>
                  <a:pt x="530" y="403"/>
                  <a:pt x="521" y="419"/>
                  <a:pt x="511" y="434"/>
                </a:cubicBezTo>
                <a:cubicBezTo>
                  <a:pt x="501" y="450"/>
                  <a:pt x="490" y="464"/>
                  <a:pt x="477" y="477"/>
                </a:cubicBezTo>
                <a:cubicBezTo>
                  <a:pt x="464" y="489"/>
                  <a:pt x="450" y="501"/>
                  <a:pt x="434" y="511"/>
                </a:cubicBezTo>
                <a:cubicBezTo>
                  <a:pt x="419" y="521"/>
                  <a:pt x="403" y="530"/>
                  <a:pt x="386" y="537"/>
                </a:cubicBezTo>
                <a:cubicBezTo>
                  <a:pt x="369" y="544"/>
                  <a:pt x="352" y="549"/>
                  <a:pt x="334" y="553"/>
                </a:cubicBezTo>
                <a:cubicBezTo>
                  <a:pt x="316" y="556"/>
                  <a:pt x="298" y="558"/>
                  <a:pt x="280" y="558"/>
                </a:cubicBezTo>
                <a:cubicBezTo>
                  <a:pt x="261" y="558"/>
                  <a:pt x="243" y="556"/>
                  <a:pt x="224" y="553"/>
                </a:cubicBezTo>
                <a:cubicBezTo>
                  <a:pt x="206" y="549"/>
                  <a:pt x="189" y="544"/>
                  <a:pt x="172" y="537"/>
                </a:cubicBezTo>
                <a:cubicBezTo>
                  <a:pt x="155" y="530"/>
                  <a:pt x="139" y="521"/>
                  <a:pt x="124" y="511"/>
                </a:cubicBezTo>
                <a:cubicBezTo>
                  <a:pt x="109" y="501"/>
                  <a:pt x="95" y="489"/>
                  <a:pt x="82" y="477"/>
                </a:cubicBezTo>
                <a:cubicBezTo>
                  <a:pt x="69" y="464"/>
                  <a:pt x="57" y="450"/>
                  <a:pt x="47" y="434"/>
                </a:cubicBezTo>
                <a:cubicBezTo>
                  <a:pt x="37" y="419"/>
                  <a:pt x="28" y="403"/>
                  <a:pt x="21" y="385"/>
                </a:cubicBezTo>
                <a:cubicBezTo>
                  <a:pt x="14" y="368"/>
                  <a:pt x="9" y="351"/>
                  <a:pt x="6" y="333"/>
                </a:cubicBezTo>
                <a:cubicBezTo>
                  <a:pt x="2" y="315"/>
                  <a:pt x="0" y="297"/>
                  <a:pt x="0" y="279"/>
                </a:cubicBezTo>
                <a:cubicBezTo>
                  <a:pt x="0" y="260"/>
                  <a:pt x="2" y="242"/>
                  <a:pt x="6" y="224"/>
                </a:cubicBezTo>
                <a:cubicBezTo>
                  <a:pt x="9" y="206"/>
                  <a:pt x="14" y="189"/>
                  <a:pt x="21" y="172"/>
                </a:cubicBezTo>
                <a:cubicBezTo>
                  <a:pt x="28" y="155"/>
                  <a:pt x="37" y="139"/>
                  <a:pt x="47" y="124"/>
                </a:cubicBezTo>
                <a:cubicBezTo>
                  <a:pt x="57" y="109"/>
                  <a:pt x="69" y="95"/>
                  <a:pt x="82" y="82"/>
                </a:cubicBezTo>
                <a:cubicBezTo>
                  <a:pt x="95" y="69"/>
                  <a:pt x="109" y="57"/>
                  <a:pt x="124" y="47"/>
                </a:cubicBezTo>
                <a:cubicBezTo>
                  <a:pt x="139" y="37"/>
                  <a:pt x="155" y="28"/>
                  <a:pt x="172" y="21"/>
                </a:cubicBezTo>
                <a:cubicBezTo>
                  <a:pt x="189" y="14"/>
                  <a:pt x="206" y="9"/>
                  <a:pt x="224" y="5"/>
                </a:cubicBezTo>
                <a:cubicBezTo>
                  <a:pt x="243" y="2"/>
                  <a:pt x="261" y="0"/>
                  <a:pt x="280" y="0"/>
                </a:cubicBezTo>
                <a:cubicBezTo>
                  <a:pt x="298" y="0"/>
                  <a:pt x="316" y="2"/>
                  <a:pt x="334" y="5"/>
                </a:cubicBezTo>
                <a:cubicBezTo>
                  <a:pt x="352" y="9"/>
                  <a:pt x="369" y="14"/>
                  <a:pt x="386" y="21"/>
                </a:cubicBezTo>
                <a:cubicBezTo>
                  <a:pt x="403" y="28"/>
                  <a:pt x="419" y="37"/>
                  <a:pt x="434" y="47"/>
                </a:cubicBezTo>
                <a:cubicBezTo>
                  <a:pt x="450" y="57"/>
                  <a:pt x="464" y="69"/>
                  <a:pt x="477" y="82"/>
                </a:cubicBezTo>
                <a:cubicBezTo>
                  <a:pt x="490" y="95"/>
                  <a:pt x="501" y="109"/>
                  <a:pt x="511" y="124"/>
                </a:cubicBezTo>
                <a:cubicBezTo>
                  <a:pt x="521" y="139"/>
                  <a:pt x="530" y="155"/>
                  <a:pt x="537" y="172"/>
                </a:cubicBezTo>
                <a:cubicBezTo>
                  <a:pt x="544" y="189"/>
                  <a:pt x="549" y="206"/>
                  <a:pt x="553" y="224"/>
                </a:cubicBezTo>
                <a:cubicBezTo>
                  <a:pt x="556" y="242"/>
                  <a:pt x="558" y="260"/>
                  <a:pt x="558" y="279"/>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 name=""/>
          <p:cNvSpPr txBox="1"/>
          <p:nvPr/>
        </p:nvSpPr>
        <p:spPr>
          <a:xfrm>
            <a:off x="718560" y="2476800"/>
            <a:ext cx="15912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つ</a:t>
            </a:r>
            <a:endParaRPr b="0" lang="en-US" sz="1250" strike="noStrike" u="none">
              <a:solidFill>
                <a:srgbClr val="000000"/>
              </a:solidFill>
              <a:effectLst/>
              <a:uFillTx/>
              <a:latin typeface="Times New Roman"/>
            </a:endParaRPr>
          </a:p>
        </p:txBody>
      </p:sp>
      <p:sp>
        <p:nvSpPr>
          <p:cNvPr id="87" name=""/>
          <p:cNvSpPr txBox="1"/>
          <p:nvPr/>
        </p:nvSpPr>
        <p:spPr>
          <a:xfrm>
            <a:off x="484560" y="279972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2</a:t>
            </a:r>
            <a:endParaRPr b="0" lang="en-US" sz="920" strike="noStrike" u="none">
              <a:solidFill>
                <a:srgbClr val="000000"/>
              </a:solidFill>
              <a:effectLst/>
              <a:uFillTx/>
              <a:latin typeface="Times New Roman"/>
            </a:endParaRPr>
          </a:p>
        </p:txBody>
      </p:sp>
      <p:sp>
        <p:nvSpPr>
          <p:cNvPr id="88" name=""/>
          <p:cNvSpPr txBox="1"/>
          <p:nvPr/>
        </p:nvSpPr>
        <p:spPr>
          <a:xfrm>
            <a:off x="718560" y="2810880"/>
            <a:ext cx="428004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音波がスリットを通過する際、</a:t>
            </a:r>
            <a:r>
              <a:rPr b="0" lang="zh-CN" sz="1250" strike="noStrike" u="none">
                <a:solidFill>
                  <a:srgbClr val="ff8c00"/>
                </a:solidFill>
                <a:effectLst/>
                <a:uFillTx/>
                <a:latin typeface="NotoSansJP"/>
                <a:ea typeface="NotoSansJP"/>
              </a:rPr>
              <a:t>スリットの長さに応じた遅延</a:t>
            </a:r>
            <a:endParaRPr b="0" lang="en-US" sz="1250" strike="noStrike" u="none">
              <a:solidFill>
                <a:srgbClr val="000000"/>
              </a:solidFill>
              <a:effectLst/>
              <a:uFillTx/>
              <a:latin typeface="Times New Roman"/>
            </a:endParaRPr>
          </a:p>
        </p:txBody>
      </p:sp>
      <p:sp>
        <p:nvSpPr>
          <p:cNvPr id="89" name=""/>
          <p:cNvSpPr/>
          <p:nvPr/>
        </p:nvSpPr>
        <p:spPr>
          <a:xfrm>
            <a:off x="417600" y="3359160"/>
            <a:ext cx="200880" cy="200880"/>
          </a:xfrm>
          <a:custGeom>
            <a:avLst/>
            <a:gdLst/>
            <a:ahLst/>
            <a:rect l="0" t="0" r="r" b="b"/>
            <a:pathLst>
              <a:path w="558" h="558">
                <a:moveTo>
                  <a:pt x="558" y="279"/>
                </a:moveTo>
                <a:cubicBezTo>
                  <a:pt x="558" y="297"/>
                  <a:pt x="556" y="315"/>
                  <a:pt x="553" y="333"/>
                </a:cubicBezTo>
                <a:cubicBezTo>
                  <a:pt x="549" y="351"/>
                  <a:pt x="544" y="368"/>
                  <a:pt x="537" y="385"/>
                </a:cubicBezTo>
                <a:cubicBezTo>
                  <a:pt x="530" y="402"/>
                  <a:pt x="521" y="419"/>
                  <a:pt x="511" y="434"/>
                </a:cubicBezTo>
                <a:cubicBezTo>
                  <a:pt x="501" y="450"/>
                  <a:pt x="490" y="464"/>
                  <a:pt x="477" y="477"/>
                </a:cubicBezTo>
                <a:cubicBezTo>
                  <a:pt x="464" y="490"/>
                  <a:pt x="450" y="501"/>
                  <a:pt x="434" y="511"/>
                </a:cubicBezTo>
                <a:cubicBezTo>
                  <a:pt x="419" y="521"/>
                  <a:pt x="403" y="530"/>
                  <a:pt x="386" y="537"/>
                </a:cubicBezTo>
                <a:cubicBezTo>
                  <a:pt x="369" y="544"/>
                  <a:pt x="352" y="549"/>
                  <a:pt x="334" y="553"/>
                </a:cubicBezTo>
                <a:cubicBezTo>
                  <a:pt x="316" y="556"/>
                  <a:pt x="298" y="558"/>
                  <a:pt x="280" y="558"/>
                </a:cubicBezTo>
                <a:cubicBezTo>
                  <a:pt x="261" y="558"/>
                  <a:pt x="243" y="556"/>
                  <a:pt x="224" y="553"/>
                </a:cubicBezTo>
                <a:cubicBezTo>
                  <a:pt x="206" y="549"/>
                  <a:pt x="189" y="544"/>
                  <a:pt x="172" y="537"/>
                </a:cubicBezTo>
                <a:cubicBezTo>
                  <a:pt x="155" y="530"/>
                  <a:pt x="139" y="521"/>
                  <a:pt x="124" y="511"/>
                </a:cubicBezTo>
                <a:cubicBezTo>
                  <a:pt x="109" y="501"/>
                  <a:pt x="95" y="490"/>
                  <a:pt x="82" y="477"/>
                </a:cubicBezTo>
                <a:cubicBezTo>
                  <a:pt x="69" y="464"/>
                  <a:pt x="57" y="450"/>
                  <a:pt x="47" y="434"/>
                </a:cubicBezTo>
                <a:cubicBezTo>
                  <a:pt x="37" y="419"/>
                  <a:pt x="28" y="402"/>
                  <a:pt x="21" y="385"/>
                </a:cubicBezTo>
                <a:cubicBezTo>
                  <a:pt x="14" y="368"/>
                  <a:pt x="9" y="351"/>
                  <a:pt x="6" y="333"/>
                </a:cubicBezTo>
                <a:cubicBezTo>
                  <a:pt x="2" y="315"/>
                  <a:pt x="0" y="297"/>
                  <a:pt x="0" y="279"/>
                </a:cubicBezTo>
                <a:cubicBezTo>
                  <a:pt x="0" y="260"/>
                  <a:pt x="2" y="242"/>
                  <a:pt x="6" y="224"/>
                </a:cubicBezTo>
                <a:cubicBezTo>
                  <a:pt x="9" y="206"/>
                  <a:pt x="14" y="189"/>
                  <a:pt x="21" y="172"/>
                </a:cubicBezTo>
                <a:cubicBezTo>
                  <a:pt x="28" y="155"/>
                  <a:pt x="37" y="139"/>
                  <a:pt x="47" y="124"/>
                </a:cubicBezTo>
                <a:cubicBezTo>
                  <a:pt x="57" y="109"/>
                  <a:pt x="69" y="95"/>
                  <a:pt x="82" y="82"/>
                </a:cubicBezTo>
                <a:cubicBezTo>
                  <a:pt x="95" y="69"/>
                  <a:pt x="109" y="57"/>
                  <a:pt x="124" y="47"/>
                </a:cubicBezTo>
                <a:cubicBezTo>
                  <a:pt x="139" y="37"/>
                  <a:pt x="155" y="28"/>
                  <a:pt x="172" y="21"/>
                </a:cubicBezTo>
                <a:cubicBezTo>
                  <a:pt x="189" y="14"/>
                  <a:pt x="206" y="9"/>
                  <a:pt x="224" y="6"/>
                </a:cubicBezTo>
                <a:cubicBezTo>
                  <a:pt x="243" y="2"/>
                  <a:pt x="261" y="0"/>
                  <a:pt x="280" y="0"/>
                </a:cubicBezTo>
                <a:cubicBezTo>
                  <a:pt x="298" y="0"/>
                  <a:pt x="316" y="2"/>
                  <a:pt x="334" y="6"/>
                </a:cubicBezTo>
                <a:cubicBezTo>
                  <a:pt x="352" y="9"/>
                  <a:pt x="369" y="14"/>
                  <a:pt x="386" y="21"/>
                </a:cubicBezTo>
                <a:cubicBezTo>
                  <a:pt x="403" y="28"/>
                  <a:pt x="419" y="37"/>
                  <a:pt x="434" y="47"/>
                </a:cubicBezTo>
                <a:cubicBezTo>
                  <a:pt x="450" y="57"/>
                  <a:pt x="464" y="69"/>
                  <a:pt x="477" y="82"/>
                </a:cubicBezTo>
                <a:cubicBezTo>
                  <a:pt x="490" y="95"/>
                  <a:pt x="501" y="109"/>
                  <a:pt x="511" y="124"/>
                </a:cubicBezTo>
                <a:cubicBezTo>
                  <a:pt x="521" y="139"/>
                  <a:pt x="530" y="155"/>
                  <a:pt x="537" y="172"/>
                </a:cubicBezTo>
                <a:cubicBezTo>
                  <a:pt x="544" y="189"/>
                  <a:pt x="549" y="206"/>
                  <a:pt x="553" y="224"/>
                </a:cubicBezTo>
                <a:cubicBezTo>
                  <a:pt x="556" y="242"/>
                  <a:pt x="558" y="260"/>
                  <a:pt x="558" y="279"/>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 name=""/>
          <p:cNvSpPr txBox="1"/>
          <p:nvPr/>
        </p:nvSpPr>
        <p:spPr>
          <a:xfrm>
            <a:off x="718560" y="3061800"/>
            <a:ext cx="47628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が発生</a:t>
            </a:r>
            <a:endParaRPr b="0" lang="en-US" sz="1250" strike="noStrike" u="none">
              <a:solidFill>
                <a:srgbClr val="000000"/>
              </a:solidFill>
              <a:effectLst/>
              <a:uFillTx/>
              <a:latin typeface="Times New Roman"/>
            </a:endParaRPr>
          </a:p>
        </p:txBody>
      </p:sp>
      <p:sp>
        <p:nvSpPr>
          <p:cNvPr id="91" name=""/>
          <p:cNvSpPr txBox="1"/>
          <p:nvPr/>
        </p:nvSpPr>
        <p:spPr>
          <a:xfrm>
            <a:off x="484560" y="339300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3</a:t>
            </a:r>
            <a:endParaRPr b="0" lang="en-US" sz="920" strike="noStrike" u="none">
              <a:solidFill>
                <a:srgbClr val="000000"/>
              </a:solidFill>
              <a:effectLst/>
              <a:uFillTx/>
              <a:latin typeface="Times New Roman"/>
            </a:endParaRPr>
          </a:p>
        </p:txBody>
      </p:sp>
      <p:sp>
        <p:nvSpPr>
          <p:cNvPr id="92" name=""/>
          <p:cNvSpPr/>
          <p:nvPr/>
        </p:nvSpPr>
        <p:spPr>
          <a:xfrm>
            <a:off x="417600" y="3693600"/>
            <a:ext cx="200880" cy="200880"/>
          </a:xfrm>
          <a:custGeom>
            <a:avLst/>
            <a:gdLst/>
            <a:ahLst/>
            <a:rect l="0" t="0" r="r" b="b"/>
            <a:pathLst>
              <a:path w="558" h="558">
                <a:moveTo>
                  <a:pt x="558" y="279"/>
                </a:moveTo>
                <a:cubicBezTo>
                  <a:pt x="558" y="298"/>
                  <a:pt x="556" y="316"/>
                  <a:pt x="553" y="334"/>
                </a:cubicBezTo>
                <a:cubicBezTo>
                  <a:pt x="549" y="352"/>
                  <a:pt x="544" y="369"/>
                  <a:pt x="537" y="386"/>
                </a:cubicBezTo>
                <a:cubicBezTo>
                  <a:pt x="530" y="403"/>
                  <a:pt x="521" y="419"/>
                  <a:pt x="511" y="434"/>
                </a:cubicBezTo>
                <a:cubicBezTo>
                  <a:pt x="501" y="449"/>
                  <a:pt x="490" y="463"/>
                  <a:pt x="477" y="476"/>
                </a:cubicBezTo>
                <a:cubicBezTo>
                  <a:pt x="464" y="489"/>
                  <a:pt x="450" y="501"/>
                  <a:pt x="434" y="511"/>
                </a:cubicBezTo>
                <a:cubicBezTo>
                  <a:pt x="419" y="521"/>
                  <a:pt x="403" y="530"/>
                  <a:pt x="386" y="537"/>
                </a:cubicBezTo>
                <a:cubicBezTo>
                  <a:pt x="369" y="544"/>
                  <a:pt x="352" y="549"/>
                  <a:pt x="334" y="552"/>
                </a:cubicBezTo>
                <a:cubicBezTo>
                  <a:pt x="316" y="556"/>
                  <a:pt x="298" y="558"/>
                  <a:pt x="280" y="558"/>
                </a:cubicBezTo>
                <a:cubicBezTo>
                  <a:pt x="261" y="558"/>
                  <a:pt x="243" y="556"/>
                  <a:pt x="224" y="552"/>
                </a:cubicBezTo>
                <a:cubicBezTo>
                  <a:pt x="206" y="549"/>
                  <a:pt x="189" y="544"/>
                  <a:pt x="172" y="537"/>
                </a:cubicBezTo>
                <a:cubicBezTo>
                  <a:pt x="155" y="530"/>
                  <a:pt x="139" y="521"/>
                  <a:pt x="124" y="511"/>
                </a:cubicBezTo>
                <a:cubicBezTo>
                  <a:pt x="109" y="501"/>
                  <a:pt x="95" y="489"/>
                  <a:pt x="82" y="476"/>
                </a:cubicBezTo>
                <a:cubicBezTo>
                  <a:pt x="69" y="463"/>
                  <a:pt x="57" y="449"/>
                  <a:pt x="47" y="434"/>
                </a:cubicBezTo>
                <a:cubicBezTo>
                  <a:pt x="37" y="419"/>
                  <a:pt x="28" y="403"/>
                  <a:pt x="21" y="386"/>
                </a:cubicBezTo>
                <a:cubicBezTo>
                  <a:pt x="14" y="369"/>
                  <a:pt x="9" y="352"/>
                  <a:pt x="6" y="334"/>
                </a:cubicBezTo>
                <a:cubicBezTo>
                  <a:pt x="2" y="316"/>
                  <a:pt x="0" y="298"/>
                  <a:pt x="0" y="279"/>
                </a:cubicBezTo>
                <a:cubicBezTo>
                  <a:pt x="0" y="261"/>
                  <a:pt x="2" y="243"/>
                  <a:pt x="6" y="225"/>
                </a:cubicBezTo>
                <a:cubicBezTo>
                  <a:pt x="9" y="207"/>
                  <a:pt x="14" y="190"/>
                  <a:pt x="21" y="173"/>
                </a:cubicBezTo>
                <a:cubicBezTo>
                  <a:pt x="28" y="156"/>
                  <a:pt x="37" y="140"/>
                  <a:pt x="47" y="124"/>
                </a:cubicBezTo>
                <a:cubicBezTo>
                  <a:pt x="57" y="109"/>
                  <a:pt x="69" y="95"/>
                  <a:pt x="82" y="82"/>
                </a:cubicBezTo>
                <a:cubicBezTo>
                  <a:pt x="95" y="69"/>
                  <a:pt x="109" y="58"/>
                  <a:pt x="124" y="48"/>
                </a:cubicBezTo>
                <a:cubicBezTo>
                  <a:pt x="139" y="36"/>
                  <a:pt x="155" y="28"/>
                  <a:pt x="172" y="21"/>
                </a:cubicBezTo>
                <a:cubicBezTo>
                  <a:pt x="189" y="14"/>
                  <a:pt x="206" y="9"/>
                  <a:pt x="224" y="5"/>
                </a:cubicBezTo>
                <a:cubicBezTo>
                  <a:pt x="243" y="1"/>
                  <a:pt x="261" y="0"/>
                  <a:pt x="280" y="0"/>
                </a:cubicBezTo>
                <a:cubicBezTo>
                  <a:pt x="298" y="0"/>
                  <a:pt x="316" y="1"/>
                  <a:pt x="334" y="5"/>
                </a:cubicBezTo>
                <a:cubicBezTo>
                  <a:pt x="352" y="9"/>
                  <a:pt x="369" y="14"/>
                  <a:pt x="386" y="21"/>
                </a:cubicBezTo>
                <a:cubicBezTo>
                  <a:pt x="403" y="28"/>
                  <a:pt x="419" y="36"/>
                  <a:pt x="434" y="48"/>
                </a:cubicBezTo>
                <a:cubicBezTo>
                  <a:pt x="450" y="58"/>
                  <a:pt x="464" y="69"/>
                  <a:pt x="477" y="82"/>
                </a:cubicBezTo>
                <a:cubicBezTo>
                  <a:pt x="490" y="95"/>
                  <a:pt x="501" y="109"/>
                  <a:pt x="511" y="124"/>
                </a:cubicBezTo>
                <a:cubicBezTo>
                  <a:pt x="521" y="140"/>
                  <a:pt x="530" y="156"/>
                  <a:pt x="537" y="173"/>
                </a:cubicBezTo>
                <a:cubicBezTo>
                  <a:pt x="544" y="190"/>
                  <a:pt x="549" y="207"/>
                  <a:pt x="553" y="225"/>
                </a:cubicBezTo>
                <a:cubicBezTo>
                  <a:pt x="556" y="243"/>
                  <a:pt x="558" y="261"/>
                  <a:pt x="558" y="279"/>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3" name=""/>
          <p:cNvSpPr txBox="1"/>
          <p:nvPr/>
        </p:nvSpPr>
        <p:spPr>
          <a:xfrm>
            <a:off x="718560" y="3404160"/>
            <a:ext cx="428040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遅延の違いにより、スリット通過後の</a:t>
            </a:r>
            <a:r>
              <a:rPr b="0" lang="zh-CN" sz="1250" strike="noStrike" u="none">
                <a:solidFill>
                  <a:srgbClr val="ff8c00"/>
                </a:solidFill>
                <a:effectLst/>
                <a:uFillTx/>
                <a:latin typeface="NotoSansJP"/>
                <a:ea typeface="NotoSansJP"/>
              </a:rPr>
              <a:t>波面の形状が変化</a:t>
            </a:r>
            <a:r>
              <a:rPr b="0" lang="zh-CN" sz="1250" strike="noStrike" u="none">
                <a:solidFill>
                  <a:srgbClr val="333333"/>
                </a:solidFill>
                <a:effectLst/>
                <a:uFillTx/>
                <a:latin typeface="NotoSansJP"/>
                <a:ea typeface="NotoSansJP"/>
              </a:rPr>
              <a:t>する</a:t>
            </a:r>
            <a:endParaRPr b="0" lang="en-US" sz="1250" strike="noStrike" u="none">
              <a:solidFill>
                <a:srgbClr val="000000"/>
              </a:solidFill>
              <a:effectLst/>
              <a:uFillTx/>
              <a:latin typeface="Times New Roman"/>
            </a:endParaRPr>
          </a:p>
        </p:txBody>
      </p:sp>
      <p:sp>
        <p:nvSpPr>
          <p:cNvPr id="94" name=""/>
          <p:cNvSpPr txBox="1"/>
          <p:nvPr/>
        </p:nvSpPr>
        <p:spPr>
          <a:xfrm>
            <a:off x="484560" y="373536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4</a:t>
            </a:r>
            <a:endParaRPr b="0" lang="en-US" sz="920" strike="noStrike" u="none">
              <a:solidFill>
                <a:srgbClr val="000000"/>
              </a:solidFill>
              <a:effectLst/>
              <a:uFillTx/>
              <a:latin typeface="Times New Roman"/>
            </a:endParaRPr>
          </a:p>
        </p:txBody>
      </p:sp>
      <p:sp>
        <p:nvSpPr>
          <p:cNvPr id="95" name=""/>
          <p:cNvSpPr txBox="1"/>
          <p:nvPr/>
        </p:nvSpPr>
        <p:spPr>
          <a:xfrm>
            <a:off x="718560" y="3738600"/>
            <a:ext cx="428040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音波は</a:t>
            </a:r>
            <a:r>
              <a:rPr b="0" lang="zh-CN" sz="1250" strike="noStrike" u="none">
                <a:solidFill>
                  <a:srgbClr val="ff8c00"/>
                </a:solidFill>
                <a:effectLst/>
                <a:uFillTx/>
                <a:latin typeface="NotoSansJP"/>
                <a:ea typeface="NotoSansJP"/>
              </a:rPr>
              <a:t>波面に対して垂直方向</a:t>
            </a:r>
            <a:r>
              <a:rPr b="0" lang="zh-CN" sz="1250" strike="noStrike" u="none">
                <a:solidFill>
                  <a:srgbClr val="333333"/>
                </a:solidFill>
                <a:effectLst/>
                <a:uFillTx/>
                <a:latin typeface="NotoSansJP"/>
                <a:ea typeface="NotoSansJP"/>
              </a:rPr>
              <a:t>に進行するため、進行方向が屈</a:t>
            </a:r>
            <a:endParaRPr b="0" lang="en-US" sz="1250" strike="noStrike" u="none">
              <a:solidFill>
                <a:srgbClr val="000000"/>
              </a:solidFill>
              <a:effectLst/>
              <a:uFillTx/>
              <a:latin typeface="Times New Roman"/>
            </a:endParaRPr>
          </a:p>
        </p:txBody>
      </p:sp>
      <p:pic>
        <p:nvPicPr>
          <p:cNvPr id="96" name="" descr=""/>
          <p:cNvPicPr/>
          <p:nvPr/>
        </p:nvPicPr>
        <p:blipFill>
          <a:blip r:embed="rId3"/>
          <a:stretch/>
        </p:blipFill>
        <p:spPr>
          <a:xfrm>
            <a:off x="559800" y="4529160"/>
            <a:ext cx="116640" cy="150120"/>
          </a:xfrm>
          <a:prstGeom prst="rect">
            <a:avLst/>
          </a:prstGeom>
          <a:noFill/>
          <a:ln w="0">
            <a:noFill/>
          </a:ln>
        </p:spPr>
      </p:pic>
      <p:sp>
        <p:nvSpPr>
          <p:cNvPr id="97" name=""/>
          <p:cNvSpPr txBox="1"/>
          <p:nvPr/>
        </p:nvSpPr>
        <p:spPr>
          <a:xfrm>
            <a:off x="718560" y="3997440"/>
            <a:ext cx="47628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折する</a:t>
            </a:r>
            <a:endParaRPr b="0" lang="en-US" sz="1250" strike="noStrike" u="none">
              <a:solidFill>
                <a:srgbClr val="000000"/>
              </a:solidFill>
              <a:effectLst/>
              <a:uFillTx/>
              <a:latin typeface="Times New Roman"/>
            </a:endParaRPr>
          </a:p>
        </p:txBody>
      </p:sp>
      <p:sp>
        <p:nvSpPr>
          <p:cNvPr id="98" name=""/>
          <p:cNvSpPr/>
          <p:nvPr/>
        </p:nvSpPr>
        <p:spPr>
          <a:xfrm>
            <a:off x="551520" y="4888440"/>
            <a:ext cx="58680" cy="59040"/>
          </a:xfrm>
          <a:custGeom>
            <a:avLst/>
            <a:gdLst/>
            <a:ahLst/>
            <a:rect l="0" t="0" r="r" b="b"/>
            <a:pathLst>
              <a:path w="163" h="164">
                <a:moveTo>
                  <a:pt x="163" y="81"/>
                </a:moveTo>
                <a:cubicBezTo>
                  <a:pt x="163" y="92"/>
                  <a:pt x="161" y="103"/>
                  <a:pt x="157" y="113"/>
                </a:cubicBezTo>
                <a:cubicBezTo>
                  <a:pt x="153" y="123"/>
                  <a:pt x="147" y="132"/>
                  <a:pt x="139" y="140"/>
                </a:cubicBezTo>
                <a:cubicBezTo>
                  <a:pt x="132" y="147"/>
                  <a:pt x="123" y="153"/>
                  <a:pt x="113" y="157"/>
                </a:cubicBezTo>
                <a:cubicBezTo>
                  <a:pt x="103" y="162"/>
                  <a:pt x="93" y="164"/>
                  <a:pt x="82" y="164"/>
                </a:cubicBezTo>
                <a:cubicBezTo>
                  <a:pt x="71" y="164"/>
                  <a:pt x="61" y="162"/>
                  <a:pt x="51" y="157"/>
                </a:cubicBezTo>
                <a:cubicBezTo>
                  <a:pt x="41" y="153"/>
                  <a:pt x="32" y="147"/>
                  <a:pt x="24" y="140"/>
                </a:cubicBezTo>
                <a:cubicBezTo>
                  <a:pt x="17" y="132"/>
                  <a:pt x="11" y="123"/>
                  <a:pt x="6" y="113"/>
                </a:cubicBezTo>
                <a:cubicBezTo>
                  <a:pt x="2" y="103"/>
                  <a:pt x="0" y="92"/>
                  <a:pt x="0" y="81"/>
                </a:cubicBezTo>
                <a:cubicBezTo>
                  <a:pt x="0" y="71"/>
                  <a:pt x="2" y="60"/>
                  <a:pt x="6" y="50"/>
                </a:cubicBezTo>
                <a:cubicBezTo>
                  <a:pt x="11" y="40"/>
                  <a:pt x="17" y="32"/>
                  <a:pt x="24" y="24"/>
                </a:cubicBezTo>
                <a:cubicBezTo>
                  <a:pt x="32" y="16"/>
                  <a:pt x="41" y="10"/>
                  <a:pt x="51" y="6"/>
                </a:cubicBezTo>
                <a:cubicBezTo>
                  <a:pt x="61" y="2"/>
                  <a:pt x="71" y="0"/>
                  <a:pt x="82" y="0"/>
                </a:cubicBezTo>
                <a:cubicBezTo>
                  <a:pt x="93" y="0"/>
                  <a:pt x="103" y="2"/>
                  <a:pt x="113" y="6"/>
                </a:cubicBezTo>
                <a:cubicBezTo>
                  <a:pt x="123" y="10"/>
                  <a:pt x="132" y="16"/>
                  <a:pt x="139" y="24"/>
                </a:cubicBezTo>
                <a:cubicBezTo>
                  <a:pt x="147" y="32"/>
                  <a:pt x="153" y="40"/>
                  <a:pt x="157" y="50"/>
                </a:cubicBezTo>
                <a:cubicBezTo>
                  <a:pt x="161" y="60"/>
                  <a:pt x="163" y="71"/>
                  <a:pt x="163" y="81"/>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9" name=""/>
          <p:cNvSpPr txBox="1"/>
          <p:nvPr/>
        </p:nvSpPr>
        <p:spPr>
          <a:xfrm>
            <a:off x="743760" y="4523400"/>
            <a:ext cx="604080" cy="219960"/>
          </a:xfrm>
          <a:prstGeom prst="rect">
            <a:avLst/>
          </a:prstGeom>
          <a:noFill/>
          <a:ln w="0">
            <a:noFill/>
          </a:ln>
        </p:spPr>
        <p:txBody>
          <a:bodyPr wrap="none" lIns="0" rIns="0" tIns="0" bIns="0" anchor="t">
            <a:spAutoFit/>
          </a:bodyPr>
          <a:p>
            <a:r>
              <a:rPr b="0" lang="zh-CN" sz="1180" strike="noStrike" u="none">
                <a:solidFill>
                  <a:srgbClr val="1e40af"/>
                </a:solidFill>
                <a:effectLst/>
                <a:uFillTx/>
                <a:latin typeface="NotoSansJP"/>
                <a:ea typeface="NotoSansJP"/>
              </a:rPr>
              <a:t>ポイント</a:t>
            </a:r>
            <a:endParaRPr b="0" lang="en-US" sz="1180" strike="noStrike" u="none">
              <a:solidFill>
                <a:srgbClr val="000000"/>
              </a:solidFill>
              <a:effectLst/>
              <a:uFillTx/>
              <a:latin typeface="Times New Roman"/>
            </a:endParaRPr>
          </a:p>
        </p:txBody>
      </p:sp>
      <p:sp>
        <p:nvSpPr>
          <p:cNvPr id="100" name=""/>
          <p:cNvSpPr/>
          <p:nvPr/>
        </p:nvSpPr>
        <p:spPr>
          <a:xfrm>
            <a:off x="551520" y="5205960"/>
            <a:ext cx="58680" cy="59040"/>
          </a:xfrm>
          <a:custGeom>
            <a:avLst/>
            <a:gdLst/>
            <a:ahLst/>
            <a:rect l="0" t="0" r="r" b="b"/>
            <a:pathLst>
              <a:path w="163" h="164">
                <a:moveTo>
                  <a:pt x="163" y="82"/>
                </a:moveTo>
                <a:cubicBezTo>
                  <a:pt x="163" y="93"/>
                  <a:pt x="161" y="104"/>
                  <a:pt x="157" y="114"/>
                </a:cubicBezTo>
                <a:cubicBezTo>
                  <a:pt x="153" y="124"/>
                  <a:pt x="147" y="132"/>
                  <a:pt x="139" y="140"/>
                </a:cubicBezTo>
                <a:cubicBezTo>
                  <a:pt x="132" y="148"/>
                  <a:pt x="123" y="153"/>
                  <a:pt x="113" y="158"/>
                </a:cubicBezTo>
                <a:cubicBezTo>
                  <a:pt x="103" y="162"/>
                  <a:pt x="93" y="164"/>
                  <a:pt x="82" y="164"/>
                </a:cubicBezTo>
                <a:cubicBezTo>
                  <a:pt x="71" y="164"/>
                  <a:pt x="61" y="162"/>
                  <a:pt x="51" y="158"/>
                </a:cubicBezTo>
                <a:cubicBezTo>
                  <a:pt x="41" y="153"/>
                  <a:pt x="32" y="148"/>
                  <a:pt x="24" y="140"/>
                </a:cubicBezTo>
                <a:cubicBezTo>
                  <a:pt x="17" y="132"/>
                  <a:pt x="11" y="124"/>
                  <a:pt x="6" y="114"/>
                </a:cubicBezTo>
                <a:cubicBezTo>
                  <a:pt x="2" y="104"/>
                  <a:pt x="0" y="93"/>
                  <a:pt x="0" y="82"/>
                </a:cubicBezTo>
                <a:cubicBezTo>
                  <a:pt x="0" y="72"/>
                  <a:pt x="2" y="61"/>
                  <a:pt x="6" y="51"/>
                </a:cubicBezTo>
                <a:cubicBezTo>
                  <a:pt x="11" y="41"/>
                  <a:pt x="17" y="32"/>
                  <a:pt x="24" y="24"/>
                </a:cubicBezTo>
                <a:cubicBezTo>
                  <a:pt x="32" y="16"/>
                  <a:pt x="41" y="11"/>
                  <a:pt x="51" y="6"/>
                </a:cubicBezTo>
                <a:cubicBezTo>
                  <a:pt x="61" y="2"/>
                  <a:pt x="71" y="0"/>
                  <a:pt x="82" y="0"/>
                </a:cubicBezTo>
                <a:cubicBezTo>
                  <a:pt x="93" y="0"/>
                  <a:pt x="103" y="2"/>
                  <a:pt x="113" y="6"/>
                </a:cubicBezTo>
                <a:cubicBezTo>
                  <a:pt x="123" y="11"/>
                  <a:pt x="132" y="16"/>
                  <a:pt x="139" y="24"/>
                </a:cubicBezTo>
                <a:cubicBezTo>
                  <a:pt x="147" y="32"/>
                  <a:pt x="153" y="41"/>
                  <a:pt x="157" y="51"/>
                </a:cubicBezTo>
                <a:cubicBezTo>
                  <a:pt x="161" y="61"/>
                  <a:pt x="163" y="72"/>
                  <a:pt x="163" y="8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1" name=""/>
          <p:cNvSpPr txBox="1"/>
          <p:nvPr/>
        </p:nvSpPr>
        <p:spPr>
          <a:xfrm>
            <a:off x="727200" y="4824720"/>
            <a:ext cx="285372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スリットが長いほど通過に</a:t>
            </a:r>
            <a:r>
              <a:rPr b="0" lang="zh-CN" sz="1250" strike="noStrike" u="none">
                <a:solidFill>
                  <a:srgbClr val="ff8c00"/>
                </a:solidFill>
                <a:effectLst/>
                <a:uFillTx/>
                <a:latin typeface="NotoSansJP"/>
                <a:ea typeface="NotoSansJP"/>
              </a:rPr>
              <a:t>時間がかかる</a:t>
            </a:r>
            <a:endParaRPr b="0" lang="en-US" sz="1250" strike="noStrike" u="none">
              <a:solidFill>
                <a:srgbClr val="000000"/>
              </a:solidFill>
              <a:effectLst/>
              <a:uFillTx/>
              <a:latin typeface="Times New Roman"/>
            </a:endParaRPr>
          </a:p>
        </p:txBody>
      </p:sp>
      <p:sp>
        <p:nvSpPr>
          <p:cNvPr id="102" name=""/>
          <p:cNvSpPr txBox="1"/>
          <p:nvPr/>
        </p:nvSpPr>
        <p:spPr>
          <a:xfrm>
            <a:off x="727200" y="5142600"/>
            <a:ext cx="428004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スリットの長さを調整することで</a:t>
            </a:r>
            <a:r>
              <a:rPr b="0" lang="zh-CN" sz="1250" strike="noStrike" u="none">
                <a:solidFill>
                  <a:srgbClr val="ff8c00"/>
                </a:solidFill>
                <a:effectLst/>
                <a:uFillTx/>
                <a:latin typeface="NotoSansJP"/>
                <a:ea typeface="NotoSansJP"/>
              </a:rPr>
              <a:t>特定の方向</a:t>
            </a:r>
            <a:r>
              <a:rPr b="0" lang="zh-CN" sz="1250" strike="noStrike" u="none">
                <a:solidFill>
                  <a:srgbClr val="333333"/>
                </a:solidFill>
                <a:effectLst/>
                <a:uFillTx/>
                <a:latin typeface="NotoSansJP"/>
                <a:ea typeface="NotoSansJP"/>
              </a:rPr>
              <a:t>に音を集中させ</a:t>
            </a:r>
            <a:endParaRPr b="0" lang="en-US" sz="1250" strike="noStrike" u="none">
              <a:solidFill>
                <a:srgbClr val="000000"/>
              </a:solidFill>
              <a:effectLst/>
              <a:uFillTx/>
              <a:latin typeface="Times New Roman"/>
            </a:endParaRPr>
          </a:p>
        </p:txBody>
      </p:sp>
      <p:sp>
        <p:nvSpPr>
          <p:cNvPr id="103" name=""/>
          <p:cNvSpPr/>
          <p:nvPr/>
        </p:nvSpPr>
        <p:spPr>
          <a:xfrm>
            <a:off x="551520" y="5782680"/>
            <a:ext cx="58680" cy="58680"/>
          </a:xfrm>
          <a:custGeom>
            <a:avLst/>
            <a:gdLst/>
            <a:ahLst/>
            <a:rect l="0" t="0" r="r" b="b"/>
            <a:pathLst>
              <a:path w="163" h="163">
                <a:moveTo>
                  <a:pt x="163" y="82"/>
                </a:moveTo>
                <a:cubicBezTo>
                  <a:pt x="163" y="93"/>
                  <a:pt x="161" y="103"/>
                  <a:pt x="157" y="113"/>
                </a:cubicBezTo>
                <a:cubicBezTo>
                  <a:pt x="153" y="123"/>
                  <a:pt x="147" y="132"/>
                  <a:pt x="139" y="140"/>
                </a:cubicBezTo>
                <a:cubicBezTo>
                  <a:pt x="132" y="147"/>
                  <a:pt x="123" y="153"/>
                  <a:pt x="113" y="157"/>
                </a:cubicBezTo>
                <a:cubicBezTo>
                  <a:pt x="103" y="161"/>
                  <a:pt x="93" y="163"/>
                  <a:pt x="82" y="163"/>
                </a:cubicBezTo>
                <a:cubicBezTo>
                  <a:pt x="71" y="163"/>
                  <a:pt x="61" y="161"/>
                  <a:pt x="51" y="157"/>
                </a:cubicBezTo>
                <a:cubicBezTo>
                  <a:pt x="41" y="153"/>
                  <a:pt x="32" y="147"/>
                  <a:pt x="24" y="140"/>
                </a:cubicBezTo>
                <a:cubicBezTo>
                  <a:pt x="17" y="132"/>
                  <a:pt x="11" y="123"/>
                  <a:pt x="6" y="113"/>
                </a:cubicBezTo>
                <a:cubicBezTo>
                  <a:pt x="2" y="103"/>
                  <a:pt x="0" y="93"/>
                  <a:pt x="0" y="82"/>
                </a:cubicBezTo>
                <a:cubicBezTo>
                  <a:pt x="0" y="71"/>
                  <a:pt x="2" y="61"/>
                  <a:pt x="6" y="50"/>
                </a:cubicBezTo>
                <a:cubicBezTo>
                  <a:pt x="11" y="40"/>
                  <a:pt x="17" y="31"/>
                  <a:pt x="24" y="24"/>
                </a:cubicBezTo>
                <a:cubicBezTo>
                  <a:pt x="32" y="16"/>
                  <a:pt x="41" y="10"/>
                  <a:pt x="51" y="6"/>
                </a:cubicBezTo>
                <a:cubicBezTo>
                  <a:pt x="61" y="2"/>
                  <a:pt x="71" y="0"/>
                  <a:pt x="82" y="0"/>
                </a:cubicBezTo>
                <a:cubicBezTo>
                  <a:pt x="93" y="0"/>
                  <a:pt x="103" y="2"/>
                  <a:pt x="113" y="6"/>
                </a:cubicBezTo>
                <a:cubicBezTo>
                  <a:pt x="123" y="10"/>
                  <a:pt x="132" y="16"/>
                  <a:pt x="139" y="24"/>
                </a:cubicBezTo>
                <a:cubicBezTo>
                  <a:pt x="147" y="31"/>
                  <a:pt x="153" y="40"/>
                  <a:pt x="157" y="50"/>
                </a:cubicBezTo>
                <a:cubicBezTo>
                  <a:pt x="161" y="61"/>
                  <a:pt x="163" y="71"/>
                  <a:pt x="163" y="82"/>
                </a:cubicBezTo>
                <a:close/>
              </a:path>
            </a:pathLst>
          </a:custGeom>
          <a:solidFill>
            <a:srgbClr val="33333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4" name=""/>
          <p:cNvSpPr txBox="1"/>
          <p:nvPr/>
        </p:nvSpPr>
        <p:spPr>
          <a:xfrm>
            <a:off x="727200" y="5401440"/>
            <a:ext cx="95184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ることが可能</a:t>
            </a:r>
            <a:endParaRPr b="0" lang="en-US" sz="1250" strike="noStrike" u="none">
              <a:solidFill>
                <a:srgbClr val="000000"/>
              </a:solidFill>
              <a:effectLst/>
              <a:uFillTx/>
              <a:latin typeface="Times New Roman"/>
            </a:endParaRPr>
          </a:p>
        </p:txBody>
      </p:sp>
      <p:sp>
        <p:nvSpPr>
          <p:cNvPr id="105" name=""/>
          <p:cNvSpPr txBox="1"/>
          <p:nvPr/>
        </p:nvSpPr>
        <p:spPr>
          <a:xfrm>
            <a:off x="727200" y="5718960"/>
            <a:ext cx="428004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これにより、空間内の</a:t>
            </a:r>
            <a:r>
              <a:rPr b="0" lang="zh-CN" sz="1250" strike="noStrike" u="none">
                <a:solidFill>
                  <a:srgbClr val="ff8c00"/>
                </a:solidFill>
                <a:effectLst/>
                <a:uFillTx/>
                <a:latin typeface="NotoSansJP"/>
                <a:ea typeface="NotoSansJP"/>
              </a:rPr>
              <a:t>特定の位置</a:t>
            </a:r>
            <a:r>
              <a:rPr b="0" lang="zh-CN" sz="1250" strike="noStrike" u="none">
                <a:solidFill>
                  <a:srgbClr val="333333"/>
                </a:solidFill>
                <a:effectLst/>
                <a:uFillTx/>
                <a:latin typeface="NotoSansJP"/>
                <a:ea typeface="NotoSansJP"/>
              </a:rPr>
              <a:t>にオーディオスポットを形</a:t>
            </a:r>
            <a:endParaRPr b="0" lang="en-US" sz="1250" strike="noStrike" u="none">
              <a:solidFill>
                <a:srgbClr val="000000"/>
              </a:solidFill>
              <a:effectLst/>
              <a:uFillTx/>
              <a:latin typeface="Times New Roman"/>
            </a:endParaRPr>
          </a:p>
        </p:txBody>
      </p:sp>
      <p:sp>
        <p:nvSpPr>
          <p:cNvPr id="106" name=""/>
          <p:cNvSpPr/>
          <p:nvPr/>
        </p:nvSpPr>
        <p:spPr>
          <a:xfrm>
            <a:off x="5553000" y="4332600"/>
            <a:ext cx="4721760" cy="1179000"/>
          </a:xfrm>
          <a:custGeom>
            <a:avLst/>
            <a:gdLst/>
            <a:ahLst/>
            <a:rect l="0" t="0" r="r" b="b"/>
            <a:pathLst>
              <a:path w="13116" h="3275">
                <a:moveTo>
                  <a:pt x="0" y="3100"/>
                </a:moveTo>
                <a:lnTo>
                  <a:pt x="0" y="175"/>
                </a:lnTo>
                <a:cubicBezTo>
                  <a:pt x="0" y="163"/>
                  <a:pt x="1" y="152"/>
                  <a:pt x="3" y="141"/>
                </a:cubicBezTo>
                <a:cubicBezTo>
                  <a:pt x="5" y="129"/>
                  <a:pt x="8" y="119"/>
                  <a:pt x="13" y="108"/>
                </a:cubicBezTo>
                <a:cubicBezTo>
                  <a:pt x="17" y="97"/>
                  <a:pt x="23" y="87"/>
                  <a:pt x="29" y="78"/>
                </a:cubicBezTo>
                <a:cubicBezTo>
                  <a:pt x="35" y="68"/>
                  <a:pt x="42" y="60"/>
                  <a:pt x="51" y="51"/>
                </a:cubicBezTo>
                <a:cubicBezTo>
                  <a:pt x="59" y="43"/>
                  <a:pt x="67" y="36"/>
                  <a:pt x="77" y="30"/>
                </a:cubicBezTo>
                <a:cubicBezTo>
                  <a:pt x="86" y="23"/>
                  <a:pt x="96" y="18"/>
                  <a:pt x="107" y="14"/>
                </a:cubicBezTo>
                <a:cubicBezTo>
                  <a:pt x="118" y="9"/>
                  <a:pt x="128" y="6"/>
                  <a:pt x="140" y="4"/>
                </a:cubicBezTo>
                <a:cubicBezTo>
                  <a:pt x="151" y="2"/>
                  <a:pt x="162" y="0"/>
                  <a:pt x="174" y="0"/>
                </a:cubicBezTo>
                <a:lnTo>
                  <a:pt x="12942" y="0"/>
                </a:lnTo>
                <a:cubicBezTo>
                  <a:pt x="12953" y="0"/>
                  <a:pt x="12965" y="2"/>
                  <a:pt x="12976" y="4"/>
                </a:cubicBezTo>
                <a:cubicBezTo>
                  <a:pt x="12987" y="6"/>
                  <a:pt x="12998" y="9"/>
                  <a:pt x="13008" y="14"/>
                </a:cubicBezTo>
                <a:cubicBezTo>
                  <a:pt x="13019" y="18"/>
                  <a:pt x="13029" y="23"/>
                  <a:pt x="13039" y="30"/>
                </a:cubicBezTo>
                <a:cubicBezTo>
                  <a:pt x="13048" y="36"/>
                  <a:pt x="13057" y="43"/>
                  <a:pt x="13065" y="51"/>
                </a:cubicBezTo>
                <a:cubicBezTo>
                  <a:pt x="13073" y="60"/>
                  <a:pt x="13080" y="68"/>
                  <a:pt x="13087" y="78"/>
                </a:cubicBezTo>
                <a:cubicBezTo>
                  <a:pt x="13093" y="87"/>
                  <a:pt x="13098" y="97"/>
                  <a:pt x="13103" y="108"/>
                </a:cubicBezTo>
                <a:cubicBezTo>
                  <a:pt x="13107" y="119"/>
                  <a:pt x="13110" y="129"/>
                  <a:pt x="13113" y="141"/>
                </a:cubicBezTo>
                <a:cubicBezTo>
                  <a:pt x="13115" y="152"/>
                  <a:pt x="13116" y="163"/>
                  <a:pt x="13116" y="175"/>
                </a:cubicBezTo>
                <a:lnTo>
                  <a:pt x="13116" y="3100"/>
                </a:lnTo>
                <a:cubicBezTo>
                  <a:pt x="13116" y="3112"/>
                  <a:pt x="13115" y="3123"/>
                  <a:pt x="13113" y="3134"/>
                </a:cubicBezTo>
                <a:cubicBezTo>
                  <a:pt x="13110" y="3146"/>
                  <a:pt x="13107" y="3156"/>
                  <a:pt x="13103" y="3167"/>
                </a:cubicBezTo>
                <a:cubicBezTo>
                  <a:pt x="13098" y="3178"/>
                  <a:pt x="13093" y="3188"/>
                  <a:pt x="13087" y="3197"/>
                </a:cubicBezTo>
                <a:cubicBezTo>
                  <a:pt x="13080" y="3207"/>
                  <a:pt x="13073" y="3215"/>
                  <a:pt x="13065" y="3224"/>
                </a:cubicBezTo>
                <a:cubicBezTo>
                  <a:pt x="13057" y="3232"/>
                  <a:pt x="13048" y="3239"/>
                  <a:pt x="13039" y="3245"/>
                </a:cubicBezTo>
                <a:cubicBezTo>
                  <a:pt x="13029" y="3252"/>
                  <a:pt x="13019" y="3257"/>
                  <a:pt x="13008" y="3261"/>
                </a:cubicBezTo>
                <a:cubicBezTo>
                  <a:pt x="12998" y="3266"/>
                  <a:pt x="12987" y="3269"/>
                  <a:pt x="12976" y="3271"/>
                </a:cubicBezTo>
                <a:cubicBezTo>
                  <a:pt x="12965" y="3273"/>
                  <a:pt x="12953" y="3275"/>
                  <a:pt x="12942" y="3275"/>
                </a:cubicBezTo>
                <a:lnTo>
                  <a:pt x="174" y="3275"/>
                </a:lnTo>
                <a:cubicBezTo>
                  <a:pt x="162" y="3275"/>
                  <a:pt x="151" y="3273"/>
                  <a:pt x="140" y="3271"/>
                </a:cubicBezTo>
                <a:cubicBezTo>
                  <a:pt x="128" y="3269"/>
                  <a:pt x="118" y="3266"/>
                  <a:pt x="107" y="3261"/>
                </a:cubicBezTo>
                <a:cubicBezTo>
                  <a:pt x="96" y="3257"/>
                  <a:pt x="86" y="3252"/>
                  <a:pt x="77" y="3245"/>
                </a:cubicBezTo>
                <a:cubicBezTo>
                  <a:pt x="67" y="3239"/>
                  <a:pt x="59" y="3232"/>
                  <a:pt x="51" y="3224"/>
                </a:cubicBezTo>
                <a:cubicBezTo>
                  <a:pt x="42" y="3215"/>
                  <a:pt x="35" y="3207"/>
                  <a:pt x="29" y="3197"/>
                </a:cubicBezTo>
                <a:cubicBezTo>
                  <a:pt x="23" y="3188"/>
                  <a:pt x="17" y="3178"/>
                  <a:pt x="13" y="3167"/>
                </a:cubicBezTo>
                <a:cubicBezTo>
                  <a:pt x="8" y="3156"/>
                  <a:pt x="5" y="3146"/>
                  <a:pt x="3" y="3134"/>
                </a:cubicBezTo>
                <a:cubicBezTo>
                  <a:pt x="1" y="3123"/>
                  <a:pt x="0" y="3112"/>
                  <a:pt x="0" y="3100"/>
                </a:cubicBezTo>
                <a:close/>
              </a:path>
            </a:pathLst>
          </a:custGeom>
          <a:solidFill>
            <a:srgbClr val="f9faf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7" name=""/>
          <p:cNvSpPr/>
          <p:nvPr/>
        </p:nvSpPr>
        <p:spPr>
          <a:xfrm>
            <a:off x="5553000" y="4332600"/>
            <a:ext cx="4721760" cy="1179000"/>
          </a:xfrm>
          <a:custGeom>
            <a:avLst/>
            <a:gdLst/>
            <a:ahLst/>
            <a:rect l="0" t="0" r="r" b="b"/>
            <a:pathLst>
              <a:path fill="none" w="13116" h="3275">
                <a:moveTo>
                  <a:pt x="0" y="3100"/>
                </a:moveTo>
                <a:lnTo>
                  <a:pt x="0" y="175"/>
                </a:lnTo>
                <a:cubicBezTo>
                  <a:pt x="0" y="163"/>
                  <a:pt x="1" y="152"/>
                  <a:pt x="3" y="141"/>
                </a:cubicBezTo>
                <a:cubicBezTo>
                  <a:pt x="5" y="129"/>
                  <a:pt x="8" y="119"/>
                  <a:pt x="13" y="108"/>
                </a:cubicBezTo>
                <a:cubicBezTo>
                  <a:pt x="17" y="97"/>
                  <a:pt x="23" y="87"/>
                  <a:pt x="29" y="78"/>
                </a:cubicBezTo>
                <a:cubicBezTo>
                  <a:pt x="35" y="68"/>
                  <a:pt x="42" y="60"/>
                  <a:pt x="51" y="51"/>
                </a:cubicBezTo>
                <a:cubicBezTo>
                  <a:pt x="59" y="43"/>
                  <a:pt x="67" y="36"/>
                  <a:pt x="77" y="30"/>
                </a:cubicBezTo>
                <a:cubicBezTo>
                  <a:pt x="86" y="23"/>
                  <a:pt x="96" y="18"/>
                  <a:pt x="107" y="14"/>
                </a:cubicBezTo>
                <a:cubicBezTo>
                  <a:pt x="118" y="9"/>
                  <a:pt x="128" y="6"/>
                  <a:pt x="140" y="4"/>
                </a:cubicBezTo>
                <a:cubicBezTo>
                  <a:pt x="151" y="2"/>
                  <a:pt x="162" y="0"/>
                  <a:pt x="174" y="0"/>
                </a:cubicBezTo>
                <a:lnTo>
                  <a:pt x="12942" y="0"/>
                </a:lnTo>
                <a:cubicBezTo>
                  <a:pt x="12953" y="0"/>
                  <a:pt x="12965" y="2"/>
                  <a:pt x="12976" y="4"/>
                </a:cubicBezTo>
                <a:cubicBezTo>
                  <a:pt x="12987" y="6"/>
                  <a:pt x="12998" y="9"/>
                  <a:pt x="13008" y="14"/>
                </a:cubicBezTo>
                <a:cubicBezTo>
                  <a:pt x="13019" y="18"/>
                  <a:pt x="13029" y="23"/>
                  <a:pt x="13039" y="30"/>
                </a:cubicBezTo>
                <a:cubicBezTo>
                  <a:pt x="13048" y="36"/>
                  <a:pt x="13057" y="43"/>
                  <a:pt x="13065" y="51"/>
                </a:cubicBezTo>
                <a:cubicBezTo>
                  <a:pt x="13073" y="60"/>
                  <a:pt x="13080" y="68"/>
                  <a:pt x="13087" y="78"/>
                </a:cubicBezTo>
                <a:cubicBezTo>
                  <a:pt x="13093" y="87"/>
                  <a:pt x="13098" y="97"/>
                  <a:pt x="13103" y="108"/>
                </a:cubicBezTo>
                <a:cubicBezTo>
                  <a:pt x="13107" y="119"/>
                  <a:pt x="13110" y="129"/>
                  <a:pt x="13113" y="141"/>
                </a:cubicBezTo>
                <a:cubicBezTo>
                  <a:pt x="13115" y="152"/>
                  <a:pt x="13116" y="163"/>
                  <a:pt x="13116" y="175"/>
                </a:cubicBezTo>
                <a:lnTo>
                  <a:pt x="13116" y="3100"/>
                </a:lnTo>
                <a:cubicBezTo>
                  <a:pt x="13116" y="3112"/>
                  <a:pt x="13115" y="3123"/>
                  <a:pt x="13113" y="3134"/>
                </a:cubicBezTo>
                <a:cubicBezTo>
                  <a:pt x="13110" y="3146"/>
                  <a:pt x="13107" y="3156"/>
                  <a:pt x="13103" y="3167"/>
                </a:cubicBezTo>
                <a:cubicBezTo>
                  <a:pt x="13098" y="3178"/>
                  <a:pt x="13093" y="3188"/>
                  <a:pt x="13087" y="3197"/>
                </a:cubicBezTo>
                <a:cubicBezTo>
                  <a:pt x="13080" y="3207"/>
                  <a:pt x="13073" y="3215"/>
                  <a:pt x="13065" y="3224"/>
                </a:cubicBezTo>
                <a:cubicBezTo>
                  <a:pt x="13057" y="3232"/>
                  <a:pt x="13048" y="3239"/>
                  <a:pt x="13039" y="3245"/>
                </a:cubicBezTo>
                <a:cubicBezTo>
                  <a:pt x="13029" y="3252"/>
                  <a:pt x="13019" y="3257"/>
                  <a:pt x="13008" y="3261"/>
                </a:cubicBezTo>
                <a:cubicBezTo>
                  <a:pt x="12998" y="3266"/>
                  <a:pt x="12987" y="3269"/>
                  <a:pt x="12976" y="3271"/>
                </a:cubicBezTo>
                <a:cubicBezTo>
                  <a:pt x="12965" y="3273"/>
                  <a:pt x="12953" y="3275"/>
                  <a:pt x="12942" y="3275"/>
                </a:cubicBezTo>
                <a:lnTo>
                  <a:pt x="174" y="3275"/>
                </a:lnTo>
                <a:cubicBezTo>
                  <a:pt x="162" y="3275"/>
                  <a:pt x="151" y="3273"/>
                  <a:pt x="140" y="3271"/>
                </a:cubicBezTo>
                <a:cubicBezTo>
                  <a:pt x="128" y="3269"/>
                  <a:pt x="118" y="3266"/>
                  <a:pt x="107" y="3261"/>
                </a:cubicBezTo>
                <a:cubicBezTo>
                  <a:pt x="96" y="3257"/>
                  <a:pt x="86" y="3252"/>
                  <a:pt x="77" y="3245"/>
                </a:cubicBezTo>
                <a:cubicBezTo>
                  <a:pt x="67" y="3239"/>
                  <a:pt x="59" y="3232"/>
                  <a:pt x="51" y="3224"/>
                </a:cubicBezTo>
                <a:cubicBezTo>
                  <a:pt x="42" y="3215"/>
                  <a:pt x="35" y="3207"/>
                  <a:pt x="29" y="3197"/>
                </a:cubicBezTo>
                <a:cubicBezTo>
                  <a:pt x="23" y="3188"/>
                  <a:pt x="17" y="3178"/>
                  <a:pt x="13" y="3167"/>
                </a:cubicBezTo>
                <a:cubicBezTo>
                  <a:pt x="8" y="3156"/>
                  <a:pt x="5" y="3146"/>
                  <a:pt x="3" y="3134"/>
                </a:cubicBezTo>
                <a:cubicBezTo>
                  <a:pt x="1" y="3123"/>
                  <a:pt x="0" y="3112"/>
                  <a:pt x="0" y="3100"/>
                </a:cubicBezTo>
              </a:path>
            </a:pathLst>
          </a:custGeom>
          <a:ln w="8280">
            <a:solidFill>
              <a:srgbClr val="e5e7eb"/>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108" name=""/>
          <p:cNvSpPr txBox="1"/>
          <p:nvPr/>
        </p:nvSpPr>
        <p:spPr>
          <a:xfrm>
            <a:off x="727200" y="5969880"/>
            <a:ext cx="634680" cy="230400"/>
          </a:xfrm>
          <a:prstGeom prst="rect">
            <a:avLst/>
          </a:prstGeom>
          <a:noFill/>
          <a:ln w="0">
            <a:noFill/>
          </a:ln>
        </p:spPr>
        <p:txBody>
          <a:bodyPr wrap="none" lIns="0" rIns="0" tIns="0" bIns="0" anchor="t">
            <a:spAutoFit/>
          </a:bodyPr>
          <a:p>
            <a:r>
              <a:rPr b="0" lang="zh-CN" sz="1250" strike="noStrike" u="none">
                <a:solidFill>
                  <a:srgbClr val="333333"/>
                </a:solidFill>
                <a:effectLst/>
                <a:uFillTx/>
                <a:latin typeface="NotoSansJP"/>
                <a:ea typeface="NotoSansJP"/>
              </a:rPr>
              <a:t>成できる</a:t>
            </a:r>
            <a:endParaRPr b="0" lang="en-US" sz="1250" strike="noStrike" u="none">
              <a:solidFill>
                <a:srgbClr val="000000"/>
              </a:solidFill>
              <a:effectLst/>
              <a:uFillTx/>
              <a:latin typeface="Times New Roman"/>
            </a:endParaRPr>
          </a:p>
        </p:txBody>
      </p:sp>
      <p:sp>
        <p:nvSpPr>
          <p:cNvPr id="109" name=""/>
          <p:cNvSpPr txBox="1"/>
          <p:nvPr/>
        </p:nvSpPr>
        <p:spPr>
          <a:xfrm>
            <a:off x="5690880" y="4515120"/>
            <a:ext cx="1207800" cy="219960"/>
          </a:xfrm>
          <a:prstGeom prst="rect">
            <a:avLst/>
          </a:prstGeom>
          <a:noFill/>
          <a:ln w="0">
            <a:noFill/>
          </a:ln>
        </p:spPr>
        <p:txBody>
          <a:bodyPr wrap="none" lIns="0" rIns="0" tIns="0" bIns="0" anchor="t">
            <a:spAutoFit/>
          </a:bodyPr>
          <a:p>
            <a:r>
              <a:rPr b="0" lang="zh-CN" sz="1180" strike="noStrike" u="none">
                <a:solidFill>
                  <a:srgbClr val="374151"/>
                </a:solidFill>
                <a:effectLst/>
                <a:uFillTx/>
                <a:latin typeface="NotoSansJP"/>
                <a:ea typeface="NotoSansJP"/>
              </a:rPr>
              <a:t>音響レンズの効果</a:t>
            </a:r>
            <a:endParaRPr b="0" lang="en-US" sz="1180" strike="noStrike" u="none">
              <a:solidFill>
                <a:srgbClr val="000000"/>
              </a:solidFill>
              <a:effectLst/>
              <a:uFillTx/>
              <a:latin typeface="Times New Roman"/>
            </a:endParaRPr>
          </a:p>
        </p:txBody>
      </p:sp>
      <p:sp>
        <p:nvSpPr>
          <p:cNvPr id="110" name=""/>
          <p:cNvSpPr txBox="1"/>
          <p:nvPr/>
        </p:nvSpPr>
        <p:spPr>
          <a:xfrm>
            <a:off x="5690880" y="4806360"/>
            <a:ext cx="44262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スリットを通過した後の波面は</a:t>
            </a:r>
            <a:r>
              <a:rPr b="0" lang="zh-CN" sz="1050" strike="noStrike" u="none">
                <a:solidFill>
                  <a:srgbClr val="ff8c00"/>
                </a:solidFill>
                <a:effectLst/>
                <a:uFillTx/>
                <a:latin typeface="NotoSansJP"/>
                <a:ea typeface="NotoSansJP"/>
              </a:rPr>
              <a:t>傾斜</a:t>
            </a:r>
            <a:r>
              <a:rPr b="0" lang="zh-CN" sz="1050" strike="noStrike" u="none">
                <a:solidFill>
                  <a:srgbClr val="000000"/>
                </a:solidFill>
                <a:effectLst/>
                <a:uFillTx/>
                <a:latin typeface="NotoSansJP"/>
                <a:ea typeface="NotoSansJP"/>
              </a:rPr>
              <a:t>しており、音波は波面に対して</a:t>
            </a:r>
            <a:r>
              <a:rPr b="0" lang="zh-CN" sz="1050" strike="noStrike" u="none">
                <a:solidFill>
                  <a:srgbClr val="ff8c00"/>
                </a:solidFill>
                <a:effectLst/>
                <a:uFillTx/>
                <a:latin typeface="NotoSansJP"/>
                <a:ea typeface="NotoSansJP"/>
              </a:rPr>
              <a:t>垂直方</a:t>
            </a:r>
            <a:endParaRPr b="0" lang="en-US" sz="1050" strike="noStrike" u="none">
              <a:solidFill>
                <a:srgbClr val="000000"/>
              </a:solidFill>
              <a:effectLst/>
              <a:uFillTx/>
              <a:latin typeface="Times New Roman"/>
            </a:endParaRPr>
          </a:p>
        </p:txBody>
      </p:sp>
      <p:sp>
        <p:nvSpPr>
          <p:cNvPr id="111" name=""/>
          <p:cNvSpPr txBox="1"/>
          <p:nvPr/>
        </p:nvSpPr>
        <p:spPr>
          <a:xfrm>
            <a:off x="5690880" y="5006880"/>
            <a:ext cx="442656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向</a:t>
            </a:r>
            <a:r>
              <a:rPr b="0" lang="zh-CN" sz="1050" strike="noStrike" u="none">
                <a:solidFill>
                  <a:srgbClr val="000000"/>
                </a:solidFill>
                <a:effectLst/>
                <a:uFillTx/>
                <a:latin typeface="NotoSansJP"/>
                <a:ea typeface="NotoSansJP"/>
              </a:rPr>
              <a:t>に進行するため、音の進行方向が変わります。これにより、特定の方向</a:t>
            </a:r>
            <a:endParaRPr b="0" lang="en-US" sz="1050" strike="noStrike" u="none">
              <a:solidFill>
                <a:srgbClr val="000000"/>
              </a:solidFill>
              <a:effectLst/>
              <a:uFillTx/>
              <a:latin typeface="Times New Roman"/>
            </a:endParaRPr>
          </a:p>
        </p:txBody>
      </p:sp>
      <p:sp>
        <p:nvSpPr>
          <p:cNvPr id="112" name=""/>
          <p:cNvSpPr/>
          <p:nvPr/>
        </p:nvSpPr>
        <p:spPr>
          <a:xfrm>
            <a:off x="5556960" y="927360"/>
            <a:ext cx="4713480" cy="3192840"/>
          </a:xfrm>
          <a:custGeom>
            <a:avLst/>
            <a:gdLst/>
            <a:ahLst/>
            <a:rect l="0" t="0" r="r" b="b"/>
            <a:pathLst>
              <a:path w="13093" h="8869">
                <a:moveTo>
                  <a:pt x="0" y="8660"/>
                </a:moveTo>
                <a:lnTo>
                  <a:pt x="0" y="209"/>
                </a:lnTo>
                <a:cubicBezTo>
                  <a:pt x="0" y="195"/>
                  <a:pt x="2" y="182"/>
                  <a:pt x="4" y="168"/>
                </a:cubicBezTo>
                <a:cubicBezTo>
                  <a:pt x="7" y="155"/>
                  <a:pt x="11" y="142"/>
                  <a:pt x="16" y="129"/>
                </a:cubicBezTo>
                <a:cubicBezTo>
                  <a:pt x="21" y="116"/>
                  <a:pt x="28" y="104"/>
                  <a:pt x="35" y="93"/>
                </a:cubicBezTo>
                <a:cubicBezTo>
                  <a:pt x="43" y="82"/>
                  <a:pt x="52" y="71"/>
                  <a:pt x="61" y="61"/>
                </a:cubicBezTo>
                <a:cubicBezTo>
                  <a:pt x="71" y="52"/>
                  <a:pt x="82" y="43"/>
                  <a:pt x="93" y="35"/>
                </a:cubicBezTo>
                <a:cubicBezTo>
                  <a:pt x="104" y="28"/>
                  <a:pt x="116" y="21"/>
                  <a:pt x="129" y="16"/>
                </a:cubicBezTo>
                <a:cubicBezTo>
                  <a:pt x="142" y="11"/>
                  <a:pt x="155" y="7"/>
                  <a:pt x="168" y="4"/>
                </a:cubicBezTo>
                <a:cubicBezTo>
                  <a:pt x="182" y="1"/>
                  <a:pt x="195" y="0"/>
                  <a:pt x="209" y="0"/>
                </a:cubicBezTo>
                <a:lnTo>
                  <a:pt x="12884" y="0"/>
                </a:lnTo>
                <a:cubicBezTo>
                  <a:pt x="12898" y="0"/>
                  <a:pt x="12912" y="1"/>
                  <a:pt x="12925" y="4"/>
                </a:cubicBezTo>
                <a:cubicBezTo>
                  <a:pt x="12939" y="7"/>
                  <a:pt x="12952" y="11"/>
                  <a:pt x="12964" y="16"/>
                </a:cubicBezTo>
                <a:cubicBezTo>
                  <a:pt x="12977" y="21"/>
                  <a:pt x="12989" y="28"/>
                  <a:pt x="13000" y="35"/>
                </a:cubicBezTo>
                <a:cubicBezTo>
                  <a:pt x="13012" y="43"/>
                  <a:pt x="13022" y="52"/>
                  <a:pt x="13032" y="61"/>
                </a:cubicBezTo>
                <a:cubicBezTo>
                  <a:pt x="13042" y="71"/>
                  <a:pt x="13051" y="82"/>
                  <a:pt x="13058" y="93"/>
                </a:cubicBezTo>
                <a:cubicBezTo>
                  <a:pt x="13066" y="104"/>
                  <a:pt x="13072" y="116"/>
                  <a:pt x="13077" y="129"/>
                </a:cubicBezTo>
                <a:cubicBezTo>
                  <a:pt x="13083" y="142"/>
                  <a:pt x="13087" y="155"/>
                  <a:pt x="13089" y="168"/>
                </a:cubicBezTo>
                <a:cubicBezTo>
                  <a:pt x="13092" y="182"/>
                  <a:pt x="13093" y="195"/>
                  <a:pt x="13093" y="209"/>
                </a:cubicBezTo>
                <a:lnTo>
                  <a:pt x="13093" y="8660"/>
                </a:lnTo>
                <a:cubicBezTo>
                  <a:pt x="13093" y="8673"/>
                  <a:pt x="13092" y="8687"/>
                  <a:pt x="13089" y="8700"/>
                </a:cubicBezTo>
                <a:cubicBezTo>
                  <a:pt x="13087" y="8714"/>
                  <a:pt x="13083" y="8727"/>
                  <a:pt x="13077" y="8740"/>
                </a:cubicBezTo>
                <a:cubicBezTo>
                  <a:pt x="13072" y="8752"/>
                  <a:pt x="13066" y="8764"/>
                  <a:pt x="13058" y="8776"/>
                </a:cubicBezTo>
                <a:cubicBezTo>
                  <a:pt x="13051" y="8787"/>
                  <a:pt x="13042" y="8798"/>
                  <a:pt x="13032" y="8807"/>
                </a:cubicBezTo>
                <a:cubicBezTo>
                  <a:pt x="13022" y="8817"/>
                  <a:pt x="13012" y="8826"/>
                  <a:pt x="13000" y="8833"/>
                </a:cubicBezTo>
                <a:cubicBezTo>
                  <a:pt x="12989" y="8841"/>
                  <a:pt x="12977" y="8847"/>
                  <a:pt x="12964" y="8853"/>
                </a:cubicBezTo>
                <a:cubicBezTo>
                  <a:pt x="12952" y="8858"/>
                  <a:pt x="12939" y="8862"/>
                  <a:pt x="12925" y="8865"/>
                </a:cubicBezTo>
                <a:cubicBezTo>
                  <a:pt x="12912" y="8867"/>
                  <a:pt x="12898" y="8869"/>
                  <a:pt x="12884" y="8869"/>
                </a:cubicBezTo>
                <a:lnTo>
                  <a:pt x="209" y="8869"/>
                </a:lnTo>
                <a:cubicBezTo>
                  <a:pt x="195" y="8869"/>
                  <a:pt x="182" y="8867"/>
                  <a:pt x="168" y="8865"/>
                </a:cubicBezTo>
                <a:cubicBezTo>
                  <a:pt x="155" y="8862"/>
                  <a:pt x="142" y="8858"/>
                  <a:pt x="129" y="8853"/>
                </a:cubicBezTo>
                <a:cubicBezTo>
                  <a:pt x="116" y="8847"/>
                  <a:pt x="104" y="8841"/>
                  <a:pt x="93" y="8833"/>
                </a:cubicBezTo>
                <a:cubicBezTo>
                  <a:pt x="82" y="8826"/>
                  <a:pt x="71" y="8817"/>
                  <a:pt x="61" y="8807"/>
                </a:cubicBezTo>
                <a:cubicBezTo>
                  <a:pt x="52" y="8798"/>
                  <a:pt x="43" y="8787"/>
                  <a:pt x="35" y="8776"/>
                </a:cubicBezTo>
                <a:cubicBezTo>
                  <a:pt x="28" y="8764"/>
                  <a:pt x="21" y="8752"/>
                  <a:pt x="16" y="8740"/>
                </a:cubicBezTo>
                <a:cubicBezTo>
                  <a:pt x="11" y="8727"/>
                  <a:pt x="7" y="8714"/>
                  <a:pt x="4" y="8700"/>
                </a:cubicBezTo>
                <a:cubicBezTo>
                  <a:pt x="2" y="8687"/>
                  <a:pt x="0" y="8673"/>
                  <a:pt x="0" y="8660"/>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3" name=""/>
          <p:cNvSpPr/>
          <p:nvPr/>
        </p:nvSpPr>
        <p:spPr>
          <a:xfrm>
            <a:off x="5556960" y="927360"/>
            <a:ext cx="4713480" cy="3192840"/>
          </a:xfrm>
          <a:custGeom>
            <a:avLst/>
            <a:gdLst/>
            <a:ahLst/>
            <a:rect l="0" t="0" r="r" b="b"/>
            <a:pathLst>
              <a:path fill="none" w="13093" h="8869">
                <a:moveTo>
                  <a:pt x="0" y="8660"/>
                </a:moveTo>
                <a:lnTo>
                  <a:pt x="0" y="209"/>
                </a:lnTo>
                <a:cubicBezTo>
                  <a:pt x="0" y="195"/>
                  <a:pt x="2" y="182"/>
                  <a:pt x="4" y="168"/>
                </a:cubicBezTo>
                <a:cubicBezTo>
                  <a:pt x="7" y="155"/>
                  <a:pt x="11" y="142"/>
                  <a:pt x="16" y="129"/>
                </a:cubicBezTo>
                <a:cubicBezTo>
                  <a:pt x="21" y="116"/>
                  <a:pt x="28" y="104"/>
                  <a:pt x="35" y="93"/>
                </a:cubicBezTo>
                <a:cubicBezTo>
                  <a:pt x="43" y="82"/>
                  <a:pt x="52" y="71"/>
                  <a:pt x="61" y="61"/>
                </a:cubicBezTo>
                <a:cubicBezTo>
                  <a:pt x="71" y="52"/>
                  <a:pt x="82" y="43"/>
                  <a:pt x="93" y="35"/>
                </a:cubicBezTo>
                <a:cubicBezTo>
                  <a:pt x="104" y="28"/>
                  <a:pt x="116" y="21"/>
                  <a:pt x="129" y="16"/>
                </a:cubicBezTo>
                <a:cubicBezTo>
                  <a:pt x="142" y="11"/>
                  <a:pt x="155" y="7"/>
                  <a:pt x="168" y="4"/>
                </a:cubicBezTo>
                <a:cubicBezTo>
                  <a:pt x="182" y="1"/>
                  <a:pt x="195" y="0"/>
                  <a:pt x="209" y="0"/>
                </a:cubicBezTo>
                <a:lnTo>
                  <a:pt x="12884" y="0"/>
                </a:lnTo>
                <a:cubicBezTo>
                  <a:pt x="12898" y="0"/>
                  <a:pt x="12912" y="1"/>
                  <a:pt x="12925" y="4"/>
                </a:cubicBezTo>
                <a:cubicBezTo>
                  <a:pt x="12939" y="7"/>
                  <a:pt x="12952" y="11"/>
                  <a:pt x="12964" y="16"/>
                </a:cubicBezTo>
                <a:cubicBezTo>
                  <a:pt x="12977" y="21"/>
                  <a:pt x="12989" y="28"/>
                  <a:pt x="13000" y="35"/>
                </a:cubicBezTo>
                <a:cubicBezTo>
                  <a:pt x="13012" y="43"/>
                  <a:pt x="13022" y="52"/>
                  <a:pt x="13032" y="61"/>
                </a:cubicBezTo>
                <a:cubicBezTo>
                  <a:pt x="13042" y="71"/>
                  <a:pt x="13051" y="82"/>
                  <a:pt x="13058" y="93"/>
                </a:cubicBezTo>
                <a:cubicBezTo>
                  <a:pt x="13066" y="104"/>
                  <a:pt x="13072" y="116"/>
                  <a:pt x="13077" y="129"/>
                </a:cubicBezTo>
                <a:cubicBezTo>
                  <a:pt x="13083" y="142"/>
                  <a:pt x="13087" y="155"/>
                  <a:pt x="13089" y="168"/>
                </a:cubicBezTo>
                <a:cubicBezTo>
                  <a:pt x="13092" y="182"/>
                  <a:pt x="13093" y="195"/>
                  <a:pt x="13093" y="209"/>
                </a:cubicBezTo>
                <a:lnTo>
                  <a:pt x="13093" y="8660"/>
                </a:lnTo>
                <a:cubicBezTo>
                  <a:pt x="13093" y="8673"/>
                  <a:pt x="13092" y="8687"/>
                  <a:pt x="13089" y="8700"/>
                </a:cubicBezTo>
                <a:cubicBezTo>
                  <a:pt x="13087" y="8714"/>
                  <a:pt x="13083" y="8727"/>
                  <a:pt x="13077" y="8740"/>
                </a:cubicBezTo>
                <a:cubicBezTo>
                  <a:pt x="13072" y="8752"/>
                  <a:pt x="13066" y="8764"/>
                  <a:pt x="13058" y="8776"/>
                </a:cubicBezTo>
                <a:cubicBezTo>
                  <a:pt x="13051" y="8787"/>
                  <a:pt x="13042" y="8798"/>
                  <a:pt x="13032" y="8807"/>
                </a:cubicBezTo>
                <a:cubicBezTo>
                  <a:pt x="13022" y="8817"/>
                  <a:pt x="13012" y="8826"/>
                  <a:pt x="13000" y="8833"/>
                </a:cubicBezTo>
                <a:cubicBezTo>
                  <a:pt x="12989" y="8841"/>
                  <a:pt x="12977" y="8847"/>
                  <a:pt x="12964" y="8853"/>
                </a:cubicBezTo>
                <a:cubicBezTo>
                  <a:pt x="12952" y="8858"/>
                  <a:pt x="12939" y="8862"/>
                  <a:pt x="12925" y="8865"/>
                </a:cubicBezTo>
                <a:cubicBezTo>
                  <a:pt x="12912" y="8867"/>
                  <a:pt x="12898" y="8869"/>
                  <a:pt x="12884" y="8869"/>
                </a:cubicBezTo>
                <a:lnTo>
                  <a:pt x="209" y="8869"/>
                </a:lnTo>
                <a:cubicBezTo>
                  <a:pt x="195" y="8869"/>
                  <a:pt x="182" y="8867"/>
                  <a:pt x="168" y="8865"/>
                </a:cubicBezTo>
                <a:cubicBezTo>
                  <a:pt x="155" y="8862"/>
                  <a:pt x="142" y="8858"/>
                  <a:pt x="129" y="8853"/>
                </a:cubicBezTo>
                <a:cubicBezTo>
                  <a:pt x="116" y="8847"/>
                  <a:pt x="104" y="8841"/>
                  <a:pt x="93" y="8833"/>
                </a:cubicBezTo>
                <a:cubicBezTo>
                  <a:pt x="82" y="8826"/>
                  <a:pt x="71" y="8817"/>
                  <a:pt x="61" y="8807"/>
                </a:cubicBezTo>
                <a:cubicBezTo>
                  <a:pt x="52" y="8798"/>
                  <a:pt x="43" y="8787"/>
                  <a:pt x="35" y="8776"/>
                </a:cubicBezTo>
                <a:cubicBezTo>
                  <a:pt x="28" y="8764"/>
                  <a:pt x="21" y="8752"/>
                  <a:pt x="16" y="8740"/>
                </a:cubicBezTo>
                <a:cubicBezTo>
                  <a:pt x="11" y="8727"/>
                  <a:pt x="7" y="8714"/>
                  <a:pt x="4" y="8700"/>
                </a:cubicBezTo>
                <a:cubicBezTo>
                  <a:pt x="2" y="8687"/>
                  <a:pt x="0" y="8673"/>
                  <a:pt x="0" y="8660"/>
                </a:cubicBezTo>
              </a:path>
            </a:pathLst>
          </a:custGeom>
          <a:ln w="16560">
            <a:solidFill>
              <a:srgbClr val="c0c0c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114" name=""/>
          <p:cNvSpPr/>
          <p:nvPr/>
        </p:nvSpPr>
        <p:spPr>
          <a:xfrm>
            <a:off x="7713000" y="1103040"/>
            <a:ext cx="401400" cy="334440"/>
          </a:xfrm>
          <a:custGeom>
            <a:avLst/>
            <a:gdLst/>
            <a:ahLst/>
            <a:rect l="0" t="0" r="r" b="b"/>
            <a:pathLst>
              <a:path w="1115" h="929">
                <a:moveTo>
                  <a:pt x="0" y="0"/>
                </a:moveTo>
                <a:lnTo>
                  <a:pt x="1115" y="0"/>
                </a:lnTo>
                <a:lnTo>
                  <a:pt x="1115" y="929"/>
                </a:lnTo>
                <a:lnTo>
                  <a:pt x="0" y="929"/>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 name=""/>
          <p:cNvSpPr/>
          <p:nvPr/>
        </p:nvSpPr>
        <p:spPr>
          <a:xfrm>
            <a:off x="7646040" y="1478880"/>
            <a:ext cx="535320" cy="334800"/>
          </a:xfrm>
          <a:custGeom>
            <a:avLst/>
            <a:gdLst/>
            <a:ahLst/>
            <a:rect l="0" t="0" r="r" b="b"/>
            <a:pathLst>
              <a:path w="1487" h="930">
                <a:moveTo>
                  <a:pt x="0" y="0"/>
                </a:moveTo>
                <a:lnTo>
                  <a:pt x="1487" y="0"/>
                </a:lnTo>
                <a:lnTo>
                  <a:pt x="1487" y="930"/>
                </a:lnTo>
                <a:lnTo>
                  <a:pt x="0" y="930"/>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6" name=""/>
          <p:cNvSpPr/>
          <p:nvPr/>
        </p:nvSpPr>
        <p:spPr>
          <a:xfrm>
            <a:off x="7579440" y="1855080"/>
            <a:ext cx="668880" cy="334440"/>
          </a:xfrm>
          <a:custGeom>
            <a:avLst/>
            <a:gdLst/>
            <a:ahLst/>
            <a:rect l="0" t="0" r="r" b="b"/>
            <a:pathLst>
              <a:path w="1858" h="929">
                <a:moveTo>
                  <a:pt x="0" y="0"/>
                </a:moveTo>
                <a:lnTo>
                  <a:pt x="1858" y="0"/>
                </a:lnTo>
                <a:lnTo>
                  <a:pt x="1858" y="929"/>
                </a:lnTo>
                <a:lnTo>
                  <a:pt x="0" y="929"/>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7" name=""/>
          <p:cNvSpPr/>
          <p:nvPr/>
        </p:nvSpPr>
        <p:spPr>
          <a:xfrm>
            <a:off x="7512480" y="2230920"/>
            <a:ext cx="802440" cy="334800"/>
          </a:xfrm>
          <a:custGeom>
            <a:avLst/>
            <a:gdLst/>
            <a:ahLst/>
            <a:rect l="0" t="0" r="r" b="b"/>
            <a:pathLst>
              <a:path w="2229" h="930">
                <a:moveTo>
                  <a:pt x="0" y="0"/>
                </a:moveTo>
                <a:lnTo>
                  <a:pt x="2229" y="0"/>
                </a:lnTo>
                <a:lnTo>
                  <a:pt x="2229" y="930"/>
                </a:lnTo>
                <a:lnTo>
                  <a:pt x="0" y="930"/>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8" name=""/>
          <p:cNvSpPr/>
          <p:nvPr/>
        </p:nvSpPr>
        <p:spPr>
          <a:xfrm>
            <a:off x="7445520" y="2607120"/>
            <a:ext cx="936360" cy="334440"/>
          </a:xfrm>
          <a:custGeom>
            <a:avLst/>
            <a:gdLst/>
            <a:ahLst/>
            <a:rect l="0" t="0" r="r" b="b"/>
            <a:pathLst>
              <a:path w="2601" h="929">
                <a:moveTo>
                  <a:pt x="0" y="0"/>
                </a:moveTo>
                <a:lnTo>
                  <a:pt x="2601" y="0"/>
                </a:lnTo>
                <a:lnTo>
                  <a:pt x="2601" y="929"/>
                </a:lnTo>
                <a:lnTo>
                  <a:pt x="0" y="929"/>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19" name="" descr=""/>
          <p:cNvPicPr/>
          <p:nvPr/>
        </p:nvPicPr>
        <p:blipFill>
          <a:blip r:embed="rId4"/>
          <a:stretch/>
        </p:blipFill>
        <p:spPr>
          <a:xfrm>
            <a:off x="5732640" y="1128240"/>
            <a:ext cx="1002600" cy="2088720"/>
          </a:xfrm>
          <a:prstGeom prst="rect">
            <a:avLst/>
          </a:prstGeom>
          <a:noFill/>
          <a:ln w="0">
            <a:noFill/>
          </a:ln>
        </p:spPr>
      </p:pic>
      <p:pic>
        <p:nvPicPr>
          <p:cNvPr id="120" name="" descr=""/>
          <p:cNvPicPr/>
          <p:nvPr/>
        </p:nvPicPr>
        <p:blipFill>
          <a:blip r:embed="rId5"/>
          <a:stretch/>
        </p:blipFill>
        <p:spPr>
          <a:xfrm>
            <a:off x="7913880" y="1128240"/>
            <a:ext cx="1671120" cy="2088720"/>
          </a:xfrm>
          <a:prstGeom prst="rect">
            <a:avLst/>
          </a:prstGeom>
          <a:noFill/>
          <a:ln w="0">
            <a:noFill/>
          </a:ln>
        </p:spPr>
      </p:pic>
      <p:sp>
        <p:nvSpPr>
          <p:cNvPr id="121" name=""/>
          <p:cNvSpPr txBox="1"/>
          <p:nvPr/>
        </p:nvSpPr>
        <p:spPr>
          <a:xfrm>
            <a:off x="5690880" y="5207400"/>
            <a:ext cx="3487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（図の左上方向）に</a:t>
            </a:r>
            <a:r>
              <a:rPr b="0" lang="zh-CN" sz="1050" strike="noStrike" u="none">
                <a:solidFill>
                  <a:srgbClr val="ff8c00"/>
                </a:solidFill>
                <a:effectLst/>
                <a:uFillTx/>
                <a:latin typeface="NotoSansJP"/>
                <a:ea typeface="NotoSansJP"/>
              </a:rPr>
              <a:t>オーディオスポット</a:t>
            </a:r>
            <a:r>
              <a:rPr b="0" lang="zh-CN" sz="1050" strike="noStrike" u="none">
                <a:solidFill>
                  <a:srgbClr val="000000"/>
                </a:solidFill>
                <a:effectLst/>
                <a:uFillTx/>
                <a:latin typeface="NotoSansJP"/>
                <a:ea typeface="NotoSansJP"/>
              </a:rPr>
              <a:t>が形成されます。</a:t>
            </a:r>
            <a:endParaRPr b="0" lang="en-US" sz="1050" strike="noStrike" u="none">
              <a:solidFill>
                <a:srgbClr val="000000"/>
              </a:solidFill>
              <a:effectLst/>
              <a:uFillTx/>
              <a:latin typeface="Times New Roman"/>
            </a:endParaRPr>
          </a:p>
        </p:txBody>
      </p:sp>
      <p:sp>
        <p:nvSpPr>
          <p:cNvPr id="122" name=""/>
          <p:cNvSpPr txBox="1"/>
          <p:nvPr/>
        </p:nvSpPr>
        <p:spPr>
          <a:xfrm>
            <a:off x="5699160" y="3835800"/>
            <a:ext cx="352800" cy="169560"/>
          </a:xfrm>
          <a:prstGeom prst="rect">
            <a:avLst/>
          </a:prstGeom>
          <a:noFill/>
          <a:ln w="0">
            <a:noFill/>
          </a:ln>
        </p:spPr>
        <p:txBody>
          <a:bodyPr wrap="none" lIns="0" rIns="0" tIns="0" bIns="0" anchor="t">
            <a:spAutoFit/>
          </a:bodyPr>
          <a:p>
            <a:r>
              <a:rPr b="0" lang="zh-CN" sz="920" strike="noStrike" u="none">
                <a:solidFill>
                  <a:srgbClr val="374151"/>
                </a:solidFill>
                <a:effectLst/>
                <a:uFillTx/>
                <a:latin typeface="NotoSansJP"/>
                <a:ea typeface="NotoSansJP"/>
              </a:rPr>
              <a:t>入射波</a:t>
            </a:r>
            <a:endParaRPr b="0" lang="en-US" sz="920" strike="noStrike" u="none">
              <a:solidFill>
                <a:srgbClr val="000000"/>
              </a:solidFill>
              <a:effectLst/>
              <a:uFillTx/>
              <a:latin typeface="Times New Roman"/>
            </a:endParaRPr>
          </a:p>
        </p:txBody>
      </p:sp>
      <p:sp>
        <p:nvSpPr>
          <p:cNvPr id="123" name=""/>
          <p:cNvSpPr txBox="1"/>
          <p:nvPr/>
        </p:nvSpPr>
        <p:spPr>
          <a:xfrm>
            <a:off x="9777240" y="3835800"/>
            <a:ext cx="352800" cy="169560"/>
          </a:xfrm>
          <a:prstGeom prst="rect">
            <a:avLst/>
          </a:prstGeom>
          <a:noFill/>
          <a:ln w="0">
            <a:noFill/>
          </a:ln>
        </p:spPr>
        <p:txBody>
          <a:bodyPr wrap="none" lIns="0" rIns="0" tIns="0" bIns="0" anchor="t">
            <a:spAutoFit/>
          </a:bodyPr>
          <a:p>
            <a:r>
              <a:rPr b="0" lang="zh-CN" sz="920" strike="noStrike" u="none">
                <a:solidFill>
                  <a:srgbClr val="374151"/>
                </a:solidFill>
                <a:effectLst/>
                <a:uFillTx/>
                <a:latin typeface="NotoSansJP"/>
                <a:ea typeface="NotoSansJP"/>
              </a:rPr>
              <a:t>屈折波</a:t>
            </a:r>
            <a:endParaRPr b="0" lang="en-US" sz="920" strike="noStrike" u="none">
              <a:solidFill>
                <a:srgbClr val="000000"/>
              </a:solidFill>
              <a:effectLst/>
              <a:uFillTx/>
              <a:latin typeface="Times New Roman"/>
            </a:endParaRPr>
          </a:p>
        </p:txBody>
      </p:sp>
      <p:pic>
        <p:nvPicPr>
          <p:cNvPr id="124" name="" descr=""/>
          <p:cNvPicPr/>
          <p:nvPr/>
        </p:nvPicPr>
        <p:blipFill>
          <a:blip r:embed="rId6"/>
          <a:stretch/>
        </p:blipFill>
        <p:spPr>
          <a:xfrm>
            <a:off x="6100560" y="3200760"/>
            <a:ext cx="91440" cy="100080"/>
          </a:xfrm>
          <a:prstGeom prst="rect">
            <a:avLst/>
          </a:prstGeom>
          <a:noFill/>
          <a:ln w="0">
            <a:noFill/>
          </a:ln>
        </p:spPr>
      </p:pic>
      <p:sp>
        <p:nvSpPr>
          <p:cNvPr id="125" name=""/>
          <p:cNvSpPr txBox="1"/>
          <p:nvPr/>
        </p:nvSpPr>
        <p:spPr>
          <a:xfrm>
            <a:off x="6518160" y="1094760"/>
            <a:ext cx="1504080" cy="169560"/>
          </a:xfrm>
          <a:prstGeom prst="rect">
            <a:avLst/>
          </a:prstGeom>
          <a:noFill/>
          <a:ln w="0">
            <a:noFill/>
          </a:ln>
        </p:spPr>
        <p:txBody>
          <a:bodyPr wrap="none" lIns="0" rIns="0" tIns="0" bIns="0" anchor="t">
            <a:spAutoFit/>
          </a:bodyPr>
          <a:p>
            <a:r>
              <a:rPr b="0" lang="zh-CN" sz="920" strike="noStrike" u="none">
                <a:solidFill>
                  <a:srgbClr val="374151"/>
                </a:solidFill>
                <a:effectLst/>
                <a:uFillTx/>
                <a:latin typeface="NotoSansJP"/>
                <a:ea typeface="NotoSansJP"/>
              </a:rPr>
              <a:t>音響レンズ </a:t>
            </a:r>
            <a:r>
              <a:rPr b="0" lang="en-US" sz="920" strike="noStrike" u="none">
                <a:solidFill>
                  <a:srgbClr val="374151"/>
                </a:solidFill>
                <a:effectLst/>
                <a:uFillTx/>
                <a:latin typeface="NotoSansJP"/>
                <a:ea typeface="NotoSansJP"/>
              </a:rPr>
              <a:t>(</a:t>
            </a:r>
            <a:r>
              <a:rPr b="0" lang="zh-CN" sz="920" strike="noStrike" u="none">
                <a:solidFill>
                  <a:srgbClr val="374151"/>
                </a:solidFill>
                <a:effectLst/>
                <a:uFillTx/>
                <a:latin typeface="NotoSansJP"/>
                <a:ea typeface="NotoSansJP"/>
              </a:rPr>
              <a:t>スリット構造</a:t>
            </a:r>
            <a:r>
              <a:rPr b="0" lang="en-US" sz="920" strike="noStrike" u="none">
                <a:solidFill>
                  <a:srgbClr val="374151"/>
                </a:solidFill>
                <a:effectLst/>
                <a:uFillTx/>
                <a:latin typeface="NotoSansJP"/>
                <a:ea typeface="NotoSansJP"/>
              </a:rPr>
              <a:t>)</a:t>
            </a:r>
            <a:endParaRPr b="0" lang="en-US" sz="920" strike="noStrike" u="none">
              <a:solidFill>
                <a:srgbClr val="000000"/>
              </a:solidFill>
              <a:effectLst/>
              <a:uFillTx/>
              <a:latin typeface="Times New Roman"/>
            </a:endParaRPr>
          </a:p>
        </p:txBody>
      </p:sp>
      <p:pic>
        <p:nvPicPr>
          <p:cNvPr id="126" name="" descr=""/>
          <p:cNvPicPr/>
          <p:nvPr/>
        </p:nvPicPr>
        <p:blipFill>
          <a:blip r:embed="rId7"/>
          <a:stretch/>
        </p:blipFill>
        <p:spPr>
          <a:xfrm>
            <a:off x="8598960" y="2799360"/>
            <a:ext cx="91440" cy="100080"/>
          </a:xfrm>
          <a:prstGeom prst="rect">
            <a:avLst/>
          </a:prstGeom>
          <a:noFill/>
          <a:ln w="0">
            <a:noFill/>
          </a:ln>
        </p:spPr>
      </p:pic>
      <p:sp>
        <p:nvSpPr>
          <p:cNvPr id="127" name=""/>
          <p:cNvSpPr txBox="1"/>
          <p:nvPr/>
        </p:nvSpPr>
        <p:spPr>
          <a:xfrm>
            <a:off x="6225840" y="3191040"/>
            <a:ext cx="1006560" cy="146520"/>
          </a:xfrm>
          <a:prstGeom prst="rect">
            <a:avLst/>
          </a:prstGeom>
          <a:noFill/>
          <a:ln w="0">
            <a:noFill/>
          </a:ln>
        </p:spPr>
        <p:txBody>
          <a:bodyPr wrap="none" lIns="0" rIns="0" tIns="0" bIns="0" anchor="t">
            <a:spAutoFit/>
          </a:bodyPr>
          <a:p>
            <a:r>
              <a:rPr b="0" lang="zh-CN" sz="790" strike="noStrike" u="none">
                <a:solidFill>
                  <a:srgbClr val="4b5563"/>
                </a:solidFill>
                <a:effectLst/>
                <a:uFillTx/>
                <a:latin typeface="NotoSansJP"/>
                <a:ea typeface="NotoSansJP"/>
              </a:rPr>
              <a:t>波面に垂直方向に進行</a:t>
            </a:r>
            <a:endParaRPr b="0" lang="en-US" sz="790" strike="noStrike" u="none">
              <a:solidFill>
                <a:srgbClr val="000000"/>
              </a:solidFill>
              <a:effectLst/>
              <a:uFillTx/>
              <a:latin typeface="Times New Roman"/>
            </a:endParaRPr>
          </a:p>
        </p:txBody>
      </p:sp>
      <p:sp>
        <p:nvSpPr>
          <p:cNvPr id="128" name=""/>
          <p:cNvSpPr txBox="1"/>
          <p:nvPr/>
        </p:nvSpPr>
        <p:spPr>
          <a:xfrm>
            <a:off x="8724240" y="2790000"/>
            <a:ext cx="1006560" cy="146520"/>
          </a:xfrm>
          <a:prstGeom prst="rect">
            <a:avLst/>
          </a:prstGeom>
          <a:noFill/>
          <a:ln w="0">
            <a:noFill/>
          </a:ln>
        </p:spPr>
        <p:txBody>
          <a:bodyPr wrap="none" lIns="0" rIns="0" tIns="0" bIns="0" anchor="t">
            <a:spAutoFit/>
          </a:bodyPr>
          <a:p>
            <a:r>
              <a:rPr b="0" lang="zh-CN" sz="790" strike="noStrike" u="none">
                <a:solidFill>
                  <a:srgbClr val="4b5563"/>
                </a:solidFill>
                <a:effectLst/>
                <a:uFillTx/>
                <a:latin typeface="NotoSansJP"/>
                <a:ea typeface="NotoSansJP"/>
              </a:rPr>
              <a:t>波面に垂直方向に進行</a:t>
            </a:r>
            <a:endParaRPr b="0" lang="en-US" sz="79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0" name="" descr=""/>
          <p:cNvPicPr/>
          <p:nvPr/>
        </p:nvPicPr>
        <p:blipFill>
          <a:blip r:embed="rId1"/>
          <a:stretch/>
        </p:blipFill>
        <p:spPr>
          <a:xfrm>
            <a:off x="0" y="0"/>
            <a:ext cx="10696320" cy="668160"/>
          </a:xfrm>
          <a:prstGeom prst="rect">
            <a:avLst/>
          </a:prstGeom>
          <a:noFill/>
          <a:ln w="0">
            <a:noFill/>
          </a:ln>
        </p:spPr>
      </p:pic>
      <p:sp>
        <p:nvSpPr>
          <p:cNvPr id="131" name=""/>
          <p:cNvSpPr txBox="1"/>
          <p:nvPr/>
        </p:nvSpPr>
        <p:spPr>
          <a:xfrm>
            <a:off x="334440" y="210240"/>
            <a:ext cx="3990960" cy="364680"/>
          </a:xfrm>
          <a:prstGeom prst="rect">
            <a:avLst/>
          </a:prstGeom>
          <a:noFill/>
          <a:ln w="0">
            <a:noFill/>
          </a:ln>
        </p:spPr>
        <p:txBody>
          <a:bodyPr wrap="none" lIns="0" rIns="0" tIns="0" bIns="0" anchor="t">
            <a:spAutoFit/>
          </a:bodyPr>
          <a:p>
            <a:r>
              <a:rPr b="0" lang="en-US" sz="1979" strike="noStrike" u="none">
                <a:solidFill>
                  <a:srgbClr val="ffffff"/>
                </a:solidFill>
                <a:effectLst/>
                <a:uFillTx/>
                <a:latin typeface="NotoSansJP"/>
                <a:ea typeface="NotoSansJP"/>
              </a:rPr>
              <a:t>1</a:t>
            </a:r>
            <a:r>
              <a:rPr b="0" lang="zh-CN" sz="1979" strike="noStrike" u="none">
                <a:solidFill>
                  <a:srgbClr val="ffffff"/>
                </a:solidFill>
                <a:effectLst/>
                <a:uFillTx/>
                <a:latin typeface="NotoSansJP"/>
                <a:ea typeface="NotoSansJP"/>
              </a:rPr>
              <a:t>次元配列型スピーカの理論モデル</a:t>
            </a:r>
            <a:endParaRPr b="0" lang="en-US" sz="1979" strike="noStrike" u="none">
              <a:solidFill>
                <a:srgbClr val="000000"/>
              </a:solidFill>
              <a:effectLst/>
              <a:uFillTx/>
              <a:latin typeface="Times New Roman"/>
            </a:endParaRPr>
          </a:p>
        </p:txBody>
      </p:sp>
      <p:sp>
        <p:nvSpPr>
          <p:cNvPr id="132" name=""/>
          <p:cNvSpPr txBox="1"/>
          <p:nvPr/>
        </p:nvSpPr>
        <p:spPr>
          <a:xfrm>
            <a:off x="334440" y="866880"/>
            <a:ext cx="34207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音響レンズからスピーカ配列への展開</a:t>
            </a:r>
            <a:endParaRPr b="0" lang="en-US" sz="1580" strike="noStrike" u="none">
              <a:solidFill>
                <a:srgbClr val="000000"/>
              </a:solidFill>
              <a:effectLst/>
              <a:uFillTx/>
              <a:latin typeface="Times New Roman"/>
            </a:endParaRPr>
          </a:p>
        </p:txBody>
      </p:sp>
      <p:sp>
        <p:nvSpPr>
          <p:cNvPr id="133" name=""/>
          <p:cNvSpPr txBox="1"/>
          <p:nvPr/>
        </p:nvSpPr>
        <p:spPr>
          <a:xfrm>
            <a:off x="334440" y="1272600"/>
            <a:ext cx="48290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音響レンズのスリットを通過する進行波を</a:t>
            </a:r>
            <a:r>
              <a:rPr b="0" lang="zh-CN" sz="1180" strike="noStrike" u="none">
                <a:solidFill>
                  <a:srgbClr val="ff6900"/>
                </a:solidFill>
                <a:effectLst/>
                <a:uFillTx/>
                <a:latin typeface="NotoSansJP"/>
                <a:ea typeface="NotoSansJP"/>
              </a:rPr>
              <a:t>新しい波源</a:t>
            </a:r>
            <a:r>
              <a:rPr b="0" lang="zh-CN" sz="1180" strike="noStrike" u="none">
                <a:solidFill>
                  <a:srgbClr val="000000"/>
                </a:solidFill>
                <a:effectLst/>
                <a:uFillTx/>
                <a:latin typeface="NotoSansJP"/>
                <a:ea typeface="NotoSansJP"/>
              </a:rPr>
              <a:t>とみなし、一次元</a:t>
            </a:r>
            <a:endParaRPr b="0" lang="en-US" sz="1180" strike="noStrike" u="none">
              <a:solidFill>
                <a:srgbClr val="000000"/>
              </a:solidFill>
              <a:effectLst/>
              <a:uFillTx/>
              <a:latin typeface="Times New Roman"/>
            </a:endParaRPr>
          </a:p>
        </p:txBody>
      </p:sp>
      <p:pic>
        <p:nvPicPr>
          <p:cNvPr id="134" name="" descr=""/>
          <p:cNvPicPr/>
          <p:nvPr/>
        </p:nvPicPr>
        <p:blipFill>
          <a:blip r:embed="rId2"/>
          <a:stretch/>
        </p:blipFill>
        <p:spPr>
          <a:xfrm>
            <a:off x="334440" y="5289840"/>
            <a:ext cx="150120" cy="150120"/>
          </a:xfrm>
          <a:prstGeom prst="rect">
            <a:avLst/>
          </a:prstGeom>
          <a:noFill/>
          <a:ln w="0">
            <a:noFill/>
          </a:ln>
        </p:spPr>
      </p:pic>
      <p:sp>
        <p:nvSpPr>
          <p:cNvPr id="135" name=""/>
          <p:cNvSpPr txBox="1"/>
          <p:nvPr/>
        </p:nvSpPr>
        <p:spPr>
          <a:xfrm>
            <a:off x="334440" y="1506600"/>
            <a:ext cx="19620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配列型のスピーカで再現する</a:t>
            </a:r>
            <a:endParaRPr b="0" lang="en-US" sz="1180" strike="noStrike" u="none">
              <a:solidFill>
                <a:srgbClr val="000000"/>
              </a:solidFill>
              <a:effectLst/>
              <a:uFillTx/>
              <a:latin typeface="Times New Roman"/>
            </a:endParaRPr>
          </a:p>
        </p:txBody>
      </p:sp>
      <p:pic>
        <p:nvPicPr>
          <p:cNvPr id="136" name="" descr=""/>
          <p:cNvPicPr/>
          <p:nvPr/>
        </p:nvPicPr>
        <p:blipFill>
          <a:blip r:embed="rId3"/>
          <a:stretch/>
        </p:blipFill>
        <p:spPr>
          <a:xfrm>
            <a:off x="334440" y="5590800"/>
            <a:ext cx="150120" cy="150120"/>
          </a:xfrm>
          <a:prstGeom prst="rect">
            <a:avLst/>
          </a:prstGeom>
          <a:noFill/>
          <a:ln w="0">
            <a:noFill/>
          </a:ln>
        </p:spPr>
      </p:pic>
      <p:sp>
        <p:nvSpPr>
          <p:cNvPr id="137" name=""/>
          <p:cNvSpPr txBox="1"/>
          <p:nvPr/>
        </p:nvSpPr>
        <p:spPr>
          <a:xfrm>
            <a:off x="551520" y="5284080"/>
            <a:ext cx="25027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各スピーカに</a:t>
            </a:r>
            <a:r>
              <a:rPr b="0" lang="zh-CN" sz="1180" strike="noStrike" u="none">
                <a:solidFill>
                  <a:srgbClr val="ff6900"/>
                </a:solidFill>
                <a:effectLst/>
                <a:uFillTx/>
                <a:latin typeface="NotoSansJP"/>
                <a:ea typeface="NotoSansJP"/>
              </a:rPr>
              <a:t>位相遅延時間 </a:t>
            </a:r>
            <a:r>
              <a:rPr b="0" lang="en-US" sz="1180" strike="noStrike" u="none">
                <a:solidFill>
                  <a:srgbClr val="ff6900"/>
                </a:solidFill>
                <a:effectLst/>
                <a:uFillTx/>
                <a:latin typeface="NotoSansJP"/>
                <a:ea typeface="NotoSansJP"/>
              </a:rPr>
              <a:t>s</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を設定</a:t>
            </a:r>
            <a:endParaRPr b="0" lang="en-US" sz="1180" strike="noStrike" u="none">
              <a:solidFill>
                <a:srgbClr val="000000"/>
              </a:solidFill>
              <a:effectLst/>
              <a:uFillTx/>
              <a:latin typeface="Times New Roman"/>
            </a:endParaRPr>
          </a:p>
        </p:txBody>
      </p:sp>
      <p:sp>
        <p:nvSpPr>
          <p:cNvPr id="138" name=""/>
          <p:cNvSpPr/>
          <p:nvPr/>
        </p:nvSpPr>
        <p:spPr>
          <a:xfrm>
            <a:off x="5565240" y="1829880"/>
            <a:ext cx="4797360" cy="886320"/>
          </a:xfrm>
          <a:custGeom>
            <a:avLst/>
            <a:gdLst/>
            <a:ahLst/>
            <a:rect l="0" t="0" r="r" b="b"/>
            <a:pathLst>
              <a:path w="13326" h="2462">
                <a:moveTo>
                  <a:pt x="0" y="2276"/>
                </a:moveTo>
                <a:lnTo>
                  <a:pt x="0" y="186"/>
                </a:lnTo>
                <a:cubicBezTo>
                  <a:pt x="0" y="174"/>
                  <a:pt x="1" y="162"/>
                  <a:pt x="3" y="150"/>
                </a:cubicBezTo>
                <a:cubicBezTo>
                  <a:pt x="5" y="138"/>
                  <a:pt x="7" y="126"/>
                  <a:pt x="11" y="115"/>
                </a:cubicBezTo>
                <a:cubicBezTo>
                  <a:pt x="14" y="104"/>
                  <a:pt x="19" y="93"/>
                  <a:pt x="24" y="83"/>
                </a:cubicBezTo>
                <a:cubicBezTo>
                  <a:pt x="29" y="73"/>
                  <a:pt x="35" y="63"/>
                  <a:pt x="41" y="55"/>
                </a:cubicBezTo>
                <a:cubicBezTo>
                  <a:pt x="48" y="46"/>
                  <a:pt x="55" y="38"/>
                  <a:pt x="62" y="31"/>
                </a:cubicBezTo>
                <a:cubicBezTo>
                  <a:pt x="70" y="25"/>
                  <a:pt x="78" y="19"/>
                  <a:pt x="86" y="14"/>
                </a:cubicBezTo>
                <a:cubicBezTo>
                  <a:pt x="95" y="10"/>
                  <a:pt x="104" y="6"/>
                  <a:pt x="112" y="4"/>
                </a:cubicBezTo>
                <a:cubicBezTo>
                  <a:pt x="121" y="1"/>
                  <a:pt x="131" y="0"/>
                  <a:pt x="140" y="0"/>
                </a:cubicBezTo>
                <a:lnTo>
                  <a:pt x="13140" y="0"/>
                </a:lnTo>
                <a:cubicBezTo>
                  <a:pt x="13152" y="0"/>
                  <a:pt x="13164" y="1"/>
                  <a:pt x="13176" y="4"/>
                </a:cubicBezTo>
                <a:cubicBezTo>
                  <a:pt x="13188" y="6"/>
                  <a:pt x="13200" y="10"/>
                  <a:pt x="13211" y="14"/>
                </a:cubicBezTo>
                <a:cubicBezTo>
                  <a:pt x="13222" y="19"/>
                  <a:pt x="13233" y="25"/>
                  <a:pt x="13243" y="31"/>
                </a:cubicBezTo>
                <a:cubicBezTo>
                  <a:pt x="13253" y="38"/>
                  <a:pt x="13263" y="46"/>
                  <a:pt x="13271" y="55"/>
                </a:cubicBezTo>
                <a:cubicBezTo>
                  <a:pt x="13280" y="63"/>
                  <a:pt x="13288" y="73"/>
                  <a:pt x="13294" y="83"/>
                </a:cubicBezTo>
                <a:cubicBezTo>
                  <a:pt x="13301" y="93"/>
                  <a:pt x="13307" y="104"/>
                  <a:pt x="13312" y="115"/>
                </a:cubicBezTo>
                <a:cubicBezTo>
                  <a:pt x="13316" y="126"/>
                  <a:pt x="13320" y="138"/>
                  <a:pt x="13322" y="150"/>
                </a:cubicBezTo>
                <a:cubicBezTo>
                  <a:pt x="13324" y="162"/>
                  <a:pt x="13326" y="174"/>
                  <a:pt x="13326" y="186"/>
                </a:cubicBezTo>
                <a:lnTo>
                  <a:pt x="13326" y="2276"/>
                </a:lnTo>
                <a:cubicBezTo>
                  <a:pt x="13326" y="2288"/>
                  <a:pt x="13324" y="2300"/>
                  <a:pt x="13322" y="2312"/>
                </a:cubicBezTo>
                <a:cubicBezTo>
                  <a:pt x="13320" y="2324"/>
                  <a:pt x="13316" y="2336"/>
                  <a:pt x="13312" y="2347"/>
                </a:cubicBezTo>
                <a:cubicBezTo>
                  <a:pt x="13307" y="2358"/>
                  <a:pt x="13301" y="2369"/>
                  <a:pt x="13294" y="2379"/>
                </a:cubicBezTo>
                <a:cubicBezTo>
                  <a:pt x="13288" y="2389"/>
                  <a:pt x="13280" y="2399"/>
                  <a:pt x="13271" y="2407"/>
                </a:cubicBezTo>
                <a:cubicBezTo>
                  <a:pt x="13263" y="2416"/>
                  <a:pt x="13253" y="2424"/>
                  <a:pt x="13243" y="2430"/>
                </a:cubicBezTo>
                <a:cubicBezTo>
                  <a:pt x="13233" y="2437"/>
                  <a:pt x="13222" y="2443"/>
                  <a:pt x="13211" y="2448"/>
                </a:cubicBezTo>
                <a:cubicBezTo>
                  <a:pt x="13200" y="2452"/>
                  <a:pt x="13188" y="2456"/>
                  <a:pt x="13176" y="2458"/>
                </a:cubicBezTo>
                <a:cubicBezTo>
                  <a:pt x="13164" y="2461"/>
                  <a:pt x="13152" y="2462"/>
                  <a:pt x="13140" y="2462"/>
                </a:cubicBezTo>
                <a:lnTo>
                  <a:pt x="140" y="2462"/>
                </a:lnTo>
                <a:cubicBezTo>
                  <a:pt x="131" y="2462"/>
                  <a:pt x="121" y="2461"/>
                  <a:pt x="112" y="2458"/>
                </a:cubicBezTo>
                <a:cubicBezTo>
                  <a:pt x="104" y="2456"/>
                  <a:pt x="95" y="2452"/>
                  <a:pt x="86" y="2448"/>
                </a:cubicBezTo>
                <a:cubicBezTo>
                  <a:pt x="78" y="2443"/>
                  <a:pt x="70" y="2437"/>
                  <a:pt x="62" y="2430"/>
                </a:cubicBezTo>
                <a:cubicBezTo>
                  <a:pt x="55" y="2424"/>
                  <a:pt x="48" y="2416"/>
                  <a:pt x="41" y="2407"/>
                </a:cubicBezTo>
                <a:cubicBezTo>
                  <a:pt x="35" y="2399"/>
                  <a:pt x="29" y="2389"/>
                  <a:pt x="24" y="2379"/>
                </a:cubicBezTo>
                <a:cubicBezTo>
                  <a:pt x="19" y="2369"/>
                  <a:pt x="14" y="2358"/>
                  <a:pt x="11" y="2347"/>
                </a:cubicBezTo>
                <a:cubicBezTo>
                  <a:pt x="7" y="2336"/>
                  <a:pt x="5" y="2324"/>
                  <a:pt x="3" y="2312"/>
                </a:cubicBezTo>
                <a:cubicBezTo>
                  <a:pt x="1" y="2300"/>
                  <a:pt x="0" y="2288"/>
                  <a:pt x="0" y="2276"/>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9" name=""/>
          <p:cNvSpPr/>
          <p:nvPr/>
        </p:nvSpPr>
        <p:spPr>
          <a:xfrm>
            <a:off x="5548680" y="1829880"/>
            <a:ext cx="67320" cy="886320"/>
          </a:xfrm>
          <a:custGeom>
            <a:avLst/>
            <a:gdLst/>
            <a:ahLst/>
            <a:rect l="0" t="0" r="r" b="b"/>
            <a:pathLst>
              <a:path w="187" h="2462">
                <a:moveTo>
                  <a:pt x="0" y="0"/>
                </a:moveTo>
                <a:lnTo>
                  <a:pt x="187" y="0"/>
                </a:lnTo>
                <a:lnTo>
                  <a:pt x="187" y="2462"/>
                </a:lnTo>
                <a:lnTo>
                  <a:pt x="0" y="2462"/>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0" name=""/>
          <p:cNvSpPr/>
          <p:nvPr/>
        </p:nvSpPr>
        <p:spPr>
          <a:xfrm>
            <a:off x="5565240" y="4554360"/>
            <a:ext cx="4797360" cy="1036440"/>
          </a:xfrm>
          <a:custGeom>
            <a:avLst/>
            <a:gdLst/>
            <a:ahLst/>
            <a:rect l="0" t="0" r="r" b="b"/>
            <a:pathLst>
              <a:path w="13326" h="2879">
                <a:moveTo>
                  <a:pt x="0" y="2693"/>
                </a:moveTo>
                <a:lnTo>
                  <a:pt x="0" y="185"/>
                </a:lnTo>
                <a:cubicBezTo>
                  <a:pt x="0" y="173"/>
                  <a:pt x="1" y="161"/>
                  <a:pt x="3" y="149"/>
                </a:cubicBezTo>
                <a:cubicBezTo>
                  <a:pt x="5" y="137"/>
                  <a:pt x="7" y="126"/>
                  <a:pt x="11" y="114"/>
                </a:cubicBezTo>
                <a:cubicBezTo>
                  <a:pt x="14" y="103"/>
                  <a:pt x="19" y="92"/>
                  <a:pt x="24" y="82"/>
                </a:cubicBezTo>
                <a:cubicBezTo>
                  <a:pt x="29" y="72"/>
                  <a:pt x="35" y="63"/>
                  <a:pt x="41" y="54"/>
                </a:cubicBezTo>
                <a:cubicBezTo>
                  <a:pt x="48" y="45"/>
                  <a:pt x="55" y="38"/>
                  <a:pt x="62" y="31"/>
                </a:cubicBezTo>
                <a:cubicBezTo>
                  <a:pt x="70" y="24"/>
                  <a:pt x="78" y="18"/>
                  <a:pt x="86" y="14"/>
                </a:cubicBezTo>
                <a:cubicBezTo>
                  <a:pt x="95" y="9"/>
                  <a:pt x="104" y="6"/>
                  <a:pt x="112" y="3"/>
                </a:cubicBezTo>
                <a:cubicBezTo>
                  <a:pt x="121" y="1"/>
                  <a:pt x="131" y="0"/>
                  <a:pt x="140" y="0"/>
                </a:cubicBezTo>
                <a:lnTo>
                  <a:pt x="13140" y="0"/>
                </a:lnTo>
                <a:cubicBezTo>
                  <a:pt x="13152" y="0"/>
                  <a:pt x="13164" y="1"/>
                  <a:pt x="13176" y="3"/>
                </a:cubicBezTo>
                <a:cubicBezTo>
                  <a:pt x="13188" y="6"/>
                  <a:pt x="13200" y="9"/>
                  <a:pt x="13211" y="14"/>
                </a:cubicBezTo>
                <a:cubicBezTo>
                  <a:pt x="13222" y="18"/>
                  <a:pt x="13233" y="24"/>
                  <a:pt x="13243" y="31"/>
                </a:cubicBezTo>
                <a:cubicBezTo>
                  <a:pt x="13253" y="38"/>
                  <a:pt x="13263" y="45"/>
                  <a:pt x="13271" y="54"/>
                </a:cubicBezTo>
                <a:cubicBezTo>
                  <a:pt x="13280" y="63"/>
                  <a:pt x="13288" y="72"/>
                  <a:pt x="13294" y="82"/>
                </a:cubicBezTo>
                <a:cubicBezTo>
                  <a:pt x="13301" y="92"/>
                  <a:pt x="13307" y="103"/>
                  <a:pt x="13312" y="114"/>
                </a:cubicBezTo>
                <a:cubicBezTo>
                  <a:pt x="13316" y="126"/>
                  <a:pt x="13320" y="137"/>
                  <a:pt x="13322" y="149"/>
                </a:cubicBezTo>
                <a:cubicBezTo>
                  <a:pt x="13324" y="161"/>
                  <a:pt x="13326" y="173"/>
                  <a:pt x="13326" y="185"/>
                </a:cubicBezTo>
                <a:lnTo>
                  <a:pt x="13326" y="2693"/>
                </a:lnTo>
                <a:cubicBezTo>
                  <a:pt x="13326" y="2706"/>
                  <a:pt x="13324" y="2718"/>
                  <a:pt x="13322" y="2730"/>
                </a:cubicBezTo>
                <a:cubicBezTo>
                  <a:pt x="13320" y="2742"/>
                  <a:pt x="13316" y="2753"/>
                  <a:pt x="13312" y="2764"/>
                </a:cubicBezTo>
                <a:cubicBezTo>
                  <a:pt x="13307" y="2776"/>
                  <a:pt x="13301" y="2786"/>
                  <a:pt x="13294" y="2796"/>
                </a:cubicBezTo>
                <a:cubicBezTo>
                  <a:pt x="13288" y="2807"/>
                  <a:pt x="13280" y="2816"/>
                  <a:pt x="13271" y="2825"/>
                </a:cubicBezTo>
                <a:cubicBezTo>
                  <a:pt x="13263" y="2833"/>
                  <a:pt x="13253" y="2841"/>
                  <a:pt x="13243" y="2848"/>
                </a:cubicBezTo>
                <a:cubicBezTo>
                  <a:pt x="13233" y="2855"/>
                  <a:pt x="13222" y="2860"/>
                  <a:pt x="13211" y="2865"/>
                </a:cubicBezTo>
                <a:cubicBezTo>
                  <a:pt x="13200" y="2870"/>
                  <a:pt x="13188" y="2873"/>
                  <a:pt x="13176" y="2875"/>
                </a:cubicBezTo>
                <a:cubicBezTo>
                  <a:pt x="13164" y="2878"/>
                  <a:pt x="13152" y="2879"/>
                  <a:pt x="13140" y="2879"/>
                </a:cubicBezTo>
                <a:lnTo>
                  <a:pt x="140" y="2879"/>
                </a:lnTo>
                <a:cubicBezTo>
                  <a:pt x="131" y="2879"/>
                  <a:pt x="121" y="2878"/>
                  <a:pt x="112" y="2875"/>
                </a:cubicBezTo>
                <a:cubicBezTo>
                  <a:pt x="104" y="2873"/>
                  <a:pt x="95" y="2870"/>
                  <a:pt x="86" y="2865"/>
                </a:cubicBezTo>
                <a:cubicBezTo>
                  <a:pt x="78" y="2860"/>
                  <a:pt x="70" y="2855"/>
                  <a:pt x="62" y="2848"/>
                </a:cubicBezTo>
                <a:cubicBezTo>
                  <a:pt x="55" y="2841"/>
                  <a:pt x="48" y="2833"/>
                  <a:pt x="41" y="2825"/>
                </a:cubicBezTo>
                <a:cubicBezTo>
                  <a:pt x="35" y="2816"/>
                  <a:pt x="29" y="2807"/>
                  <a:pt x="24" y="2796"/>
                </a:cubicBezTo>
                <a:cubicBezTo>
                  <a:pt x="19" y="2786"/>
                  <a:pt x="14" y="2776"/>
                  <a:pt x="11" y="2764"/>
                </a:cubicBezTo>
                <a:cubicBezTo>
                  <a:pt x="7" y="2753"/>
                  <a:pt x="5" y="2742"/>
                  <a:pt x="3" y="2730"/>
                </a:cubicBezTo>
                <a:cubicBezTo>
                  <a:pt x="1" y="2718"/>
                  <a:pt x="0" y="2706"/>
                  <a:pt x="0" y="2693"/>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1" name=""/>
          <p:cNvSpPr/>
          <p:nvPr/>
        </p:nvSpPr>
        <p:spPr>
          <a:xfrm>
            <a:off x="5548680" y="4554360"/>
            <a:ext cx="67320" cy="1036440"/>
          </a:xfrm>
          <a:custGeom>
            <a:avLst/>
            <a:gdLst/>
            <a:ahLst/>
            <a:rect l="0" t="0" r="r" b="b"/>
            <a:pathLst>
              <a:path w="187" h="2879">
                <a:moveTo>
                  <a:pt x="0" y="0"/>
                </a:moveTo>
                <a:lnTo>
                  <a:pt x="187" y="0"/>
                </a:lnTo>
                <a:lnTo>
                  <a:pt x="187" y="2879"/>
                </a:lnTo>
                <a:lnTo>
                  <a:pt x="0" y="2879"/>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42" name=""/>
          <p:cNvSpPr txBox="1"/>
          <p:nvPr/>
        </p:nvSpPr>
        <p:spPr>
          <a:xfrm>
            <a:off x="551520" y="5584680"/>
            <a:ext cx="34707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波面に対して垂直方向に進行する音波の特性を利用</a:t>
            </a:r>
            <a:endParaRPr b="0" lang="en-US" sz="1180" strike="noStrike" u="none">
              <a:solidFill>
                <a:srgbClr val="000000"/>
              </a:solidFill>
              <a:effectLst/>
              <a:uFillTx/>
              <a:latin typeface="Times New Roman"/>
            </a:endParaRPr>
          </a:p>
        </p:txBody>
      </p:sp>
      <p:sp>
        <p:nvSpPr>
          <p:cNvPr id="143" name=""/>
          <p:cNvSpPr txBox="1"/>
          <p:nvPr/>
        </p:nvSpPr>
        <p:spPr>
          <a:xfrm>
            <a:off x="5548680" y="866880"/>
            <a:ext cx="201240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発振方向角度の理論式</a:t>
            </a:r>
            <a:endParaRPr b="0" lang="en-US" sz="1580" strike="noStrike" u="none">
              <a:solidFill>
                <a:srgbClr val="000000"/>
              </a:solidFill>
              <a:effectLst/>
              <a:uFillTx/>
              <a:latin typeface="Times New Roman"/>
            </a:endParaRPr>
          </a:p>
        </p:txBody>
      </p:sp>
      <p:sp>
        <p:nvSpPr>
          <p:cNvPr id="144" name=""/>
          <p:cNvSpPr txBox="1"/>
          <p:nvPr/>
        </p:nvSpPr>
        <p:spPr>
          <a:xfrm>
            <a:off x="5548680" y="1272600"/>
            <a:ext cx="48286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隣接する波源間の遅延により形成される波面の傾きから、音波の進行方</a:t>
            </a:r>
            <a:endParaRPr b="0" lang="en-US" sz="1180" strike="noStrike" u="none">
              <a:solidFill>
                <a:srgbClr val="000000"/>
              </a:solidFill>
              <a:effectLst/>
              <a:uFillTx/>
              <a:latin typeface="Times New Roman"/>
            </a:endParaRPr>
          </a:p>
        </p:txBody>
      </p:sp>
      <p:sp>
        <p:nvSpPr>
          <p:cNvPr id="145" name=""/>
          <p:cNvSpPr txBox="1"/>
          <p:nvPr/>
        </p:nvSpPr>
        <p:spPr>
          <a:xfrm>
            <a:off x="5548680" y="1506600"/>
            <a:ext cx="10569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向が決定される</a:t>
            </a:r>
            <a:endParaRPr b="0" lang="en-US" sz="1180" strike="noStrike" u="none">
              <a:solidFill>
                <a:srgbClr val="000000"/>
              </a:solidFill>
              <a:effectLst/>
              <a:uFillTx/>
              <a:latin typeface="Times New Roman"/>
            </a:endParaRPr>
          </a:p>
        </p:txBody>
      </p:sp>
      <p:sp>
        <p:nvSpPr>
          <p:cNvPr id="146" name=""/>
          <p:cNvSpPr txBox="1"/>
          <p:nvPr/>
        </p:nvSpPr>
        <p:spPr>
          <a:xfrm>
            <a:off x="5707800" y="1969920"/>
            <a:ext cx="1684800" cy="21240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WenQuanYiZenHei"/>
                <a:ea typeface="WenQuanYiZenHei"/>
              </a:rPr>
              <a:t>音波の進行方向の角度</a:t>
            </a:r>
            <a:endParaRPr b="0" lang="en-US" sz="1320" strike="noStrike" u="none">
              <a:solidFill>
                <a:srgbClr val="000000"/>
              </a:solidFill>
              <a:effectLst/>
              <a:uFillTx/>
              <a:latin typeface="Times New Roman"/>
            </a:endParaRPr>
          </a:p>
        </p:txBody>
      </p:sp>
      <p:sp>
        <p:nvSpPr>
          <p:cNvPr id="147" name=""/>
          <p:cNvSpPr txBox="1"/>
          <p:nvPr/>
        </p:nvSpPr>
        <p:spPr>
          <a:xfrm>
            <a:off x="7378920" y="1982160"/>
            <a:ext cx="166680" cy="186480"/>
          </a:xfrm>
          <a:prstGeom prst="rect">
            <a:avLst/>
          </a:prstGeom>
          <a:noFill/>
          <a:ln w="0">
            <a:noFill/>
          </a:ln>
        </p:spPr>
        <p:txBody>
          <a:bodyPr wrap="none" lIns="0" rIns="0" tIns="0" bIns="0" anchor="t">
            <a:spAutoFit/>
          </a:bodyPr>
          <a:p>
            <a:r>
              <a:rPr b="0" lang="en-US" sz="1320" strike="noStrike" u="none">
                <a:solidFill>
                  <a:srgbClr val="000000"/>
                </a:solidFill>
                <a:effectLst/>
                <a:uFillTx/>
                <a:latin typeface="Times New Roman"/>
                <a:ea typeface="Times New Roman"/>
              </a:rPr>
              <a:t> θ</a:t>
            </a:r>
            <a:endParaRPr b="0" lang="en-US" sz="1320" strike="noStrike" u="none">
              <a:solidFill>
                <a:srgbClr val="000000"/>
              </a:solidFill>
              <a:effectLst/>
              <a:uFillTx/>
              <a:latin typeface="Times New Roman"/>
            </a:endParaRPr>
          </a:p>
        </p:txBody>
      </p:sp>
      <p:sp>
        <p:nvSpPr>
          <p:cNvPr id="148" name=""/>
          <p:cNvSpPr txBox="1"/>
          <p:nvPr/>
        </p:nvSpPr>
        <p:spPr>
          <a:xfrm>
            <a:off x="7500960" y="1969920"/>
            <a:ext cx="168480" cy="212400"/>
          </a:xfrm>
          <a:prstGeom prst="rect">
            <a:avLst/>
          </a:prstGeom>
          <a:noFill/>
          <a:ln w="0">
            <a:noFill/>
          </a:ln>
        </p:spPr>
        <p:txBody>
          <a:bodyPr wrap="none" lIns="0" rIns="0" tIns="0" bIns="0" anchor="t">
            <a:spAutoFit/>
          </a:bodyPr>
          <a:p>
            <a:r>
              <a:rPr b="0" lang="zh-CN" sz="1320" strike="noStrike" u="none">
                <a:solidFill>
                  <a:srgbClr val="000000"/>
                </a:solidFill>
                <a:effectLst/>
                <a:uFillTx/>
                <a:latin typeface="WenQuanYiZenHei"/>
                <a:ea typeface="WenQuanYiZenHei"/>
              </a:rPr>
              <a:t>：</a:t>
            </a:r>
            <a:endParaRPr b="0" lang="en-US" sz="1320" strike="noStrike" u="none">
              <a:solidFill>
                <a:srgbClr val="000000"/>
              </a:solidFill>
              <a:effectLst/>
              <a:uFillTx/>
              <a:latin typeface="Times New Roman"/>
            </a:endParaRPr>
          </a:p>
        </p:txBody>
      </p:sp>
      <p:sp>
        <p:nvSpPr>
          <p:cNvPr id="149" name=""/>
          <p:cNvSpPr txBox="1"/>
          <p:nvPr/>
        </p:nvSpPr>
        <p:spPr>
          <a:xfrm>
            <a:off x="7021440" y="2278080"/>
            <a:ext cx="1832040" cy="224640"/>
          </a:xfrm>
          <a:prstGeom prst="rect">
            <a:avLst/>
          </a:prstGeom>
          <a:noFill/>
          <a:ln w="0">
            <a:noFill/>
          </a:ln>
        </p:spPr>
        <p:txBody>
          <a:bodyPr wrap="none" lIns="0" rIns="0" tIns="0" bIns="0" anchor="t">
            <a:spAutoFit/>
          </a:bodyPr>
          <a:p>
            <a:r>
              <a:rPr b="0" lang="en-US" sz="1580" strike="noStrike" u="none">
                <a:solidFill>
                  <a:srgbClr val="000000"/>
                </a:solidFill>
                <a:effectLst/>
                <a:uFillTx/>
                <a:latin typeface="Times New Roman"/>
                <a:ea typeface="Times New Roman"/>
              </a:rPr>
              <a:t>θ = tan (</a:t>
            </a:r>
            <a:r>
              <a:rPr b="0" lang="en-US" sz="1580" strike="noStrike" u="none">
                <a:solidFill>
                  <a:srgbClr val="003366"/>
                </a:solidFill>
                <a:effectLst/>
                <a:uFillTx/>
                <a:latin typeface="Times New Roman"/>
                <a:ea typeface="Times New Roman"/>
              </a:rPr>
              <a:t>v</a:t>
            </a:r>
            <a:r>
              <a:rPr b="0" lang="en-US" sz="1580" strike="noStrike" u="none">
                <a:solidFill>
                  <a:srgbClr val="000000"/>
                </a:solidFill>
                <a:effectLst/>
                <a:uFillTx/>
                <a:latin typeface="Times New Roman"/>
                <a:ea typeface="Times New Roman"/>
              </a:rPr>
              <a:t> × </a:t>
            </a:r>
            <a:r>
              <a:rPr b="0" lang="en-US" sz="1580" strike="noStrike" u="none">
                <a:solidFill>
                  <a:srgbClr val="003366"/>
                </a:solidFill>
                <a:effectLst/>
                <a:uFillTx/>
                <a:latin typeface="Times New Roman"/>
                <a:ea typeface="Times New Roman"/>
              </a:rPr>
              <a:t>s</a:t>
            </a:r>
            <a:r>
              <a:rPr b="0" lang="en-US" sz="1580" strike="noStrike" u="none">
                <a:solidFill>
                  <a:srgbClr val="000000"/>
                </a:solidFill>
                <a:effectLst/>
                <a:uFillTx/>
                <a:latin typeface="Times New Roman"/>
                <a:ea typeface="Times New Roman"/>
              </a:rPr>
              <a:t> / </a:t>
            </a:r>
            <a:r>
              <a:rPr b="0" lang="en-US" sz="1580" strike="noStrike" u="none">
                <a:solidFill>
                  <a:srgbClr val="003366"/>
                </a:solidFill>
                <a:effectLst/>
                <a:uFillTx/>
                <a:latin typeface="Times New Roman"/>
                <a:ea typeface="Times New Roman"/>
              </a:rPr>
              <a:t>d</a:t>
            </a:r>
            <a:r>
              <a:rPr b="0" lang="en-US" sz="1580" strike="noStrike" u="none">
                <a:solidFill>
                  <a:srgbClr val="000000"/>
                </a:solidFill>
                <a:effectLst/>
                <a:uFillTx/>
                <a:latin typeface="Times New Roman"/>
                <a:ea typeface="Times New Roman"/>
              </a:rPr>
              <a:t>) [rad]</a:t>
            </a:r>
            <a:endParaRPr b="0" lang="en-US" sz="1580" strike="noStrike" u="none">
              <a:solidFill>
                <a:srgbClr val="000000"/>
              </a:solidFill>
              <a:effectLst/>
              <a:uFillTx/>
              <a:latin typeface="Times New Roman"/>
            </a:endParaRPr>
          </a:p>
        </p:txBody>
      </p:sp>
      <p:sp>
        <p:nvSpPr>
          <p:cNvPr id="150" name=""/>
          <p:cNvSpPr txBox="1"/>
          <p:nvPr/>
        </p:nvSpPr>
        <p:spPr>
          <a:xfrm>
            <a:off x="5548680" y="2960640"/>
            <a:ext cx="9061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変数の定義：</a:t>
            </a:r>
            <a:endParaRPr b="0" lang="en-US" sz="1180" strike="noStrike" u="none">
              <a:solidFill>
                <a:srgbClr val="000000"/>
              </a:solidFill>
              <a:effectLst/>
              <a:uFillTx/>
              <a:latin typeface="Times New Roman"/>
            </a:endParaRPr>
          </a:p>
        </p:txBody>
      </p:sp>
      <p:sp>
        <p:nvSpPr>
          <p:cNvPr id="151" name=""/>
          <p:cNvSpPr txBox="1"/>
          <p:nvPr/>
        </p:nvSpPr>
        <p:spPr>
          <a:xfrm>
            <a:off x="5769720" y="3250080"/>
            <a:ext cx="166680" cy="187920"/>
          </a:xfrm>
          <a:prstGeom prst="rect">
            <a:avLst/>
          </a:prstGeom>
          <a:noFill/>
          <a:ln w="0">
            <a:noFill/>
          </a:ln>
        </p:spPr>
        <p:txBody>
          <a:bodyPr wrap="none" lIns="0" rIns="0" tIns="0" bIns="0" anchor="t">
            <a:spAutoFit/>
          </a:bodyPr>
          <a:p>
            <a:r>
              <a:rPr b="0" lang="en-US" sz="1320" strike="noStrike" u="none">
                <a:solidFill>
                  <a:srgbClr val="003366"/>
                </a:solidFill>
                <a:effectLst/>
                <a:uFillTx/>
                <a:latin typeface="Arial"/>
                <a:ea typeface="Arial"/>
              </a:rPr>
              <a:t>θ</a:t>
            </a:r>
            <a:endParaRPr b="0" lang="en-US" sz="1320" strike="noStrike" u="none">
              <a:solidFill>
                <a:srgbClr val="000000"/>
              </a:solidFill>
              <a:effectLst/>
              <a:uFillTx/>
              <a:latin typeface="Times New Roman"/>
            </a:endParaRPr>
          </a:p>
        </p:txBody>
      </p:sp>
      <p:sp>
        <p:nvSpPr>
          <p:cNvPr id="152" name=""/>
          <p:cNvSpPr txBox="1"/>
          <p:nvPr/>
        </p:nvSpPr>
        <p:spPr>
          <a:xfrm>
            <a:off x="6016680" y="3251880"/>
            <a:ext cx="146088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音波の進行方向の角度</a:t>
            </a:r>
            <a:endParaRPr b="0" lang="en-US" sz="1050" strike="noStrike" u="none">
              <a:solidFill>
                <a:srgbClr val="000000"/>
              </a:solidFill>
              <a:effectLst/>
              <a:uFillTx/>
              <a:latin typeface="Times New Roman"/>
            </a:endParaRPr>
          </a:p>
        </p:txBody>
      </p:sp>
      <p:sp>
        <p:nvSpPr>
          <p:cNvPr id="153" name=""/>
          <p:cNvSpPr txBox="1"/>
          <p:nvPr/>
        </p:nvSpPr>
        <p:spPr>
          <a:xfrm>
            <a:off x="5770440" y="3547080"/>
            <a:ext cx="166680" cy="195480"/>
          </a:xfrm>
          <a:prstGeom prst="rect">
            <a:avLst/>
          </a:prstGeom>
          <a:noFill/>
          <a:ln w="0">
            <a:noFill/>
          </a:ln>
        </p:spPr>
        <p:txBody>
          <a:bodyPr wrap="none" lIns="0" rIns="0" tIns="0" bIns="0" anchor="t">
            <a:spAutoFit/>
          </a:bodyPr>
          <a:p>
            <a:r>
              <a:rPr b="0" lang="en-US" sz="1320" strike="noStrike" u="none">
                <a:solidFill>
                  <a:srgbClr val="003366"/>
                </a:solidFill>
                <a:effectLst/>
                <a:uFillTx/>
                <a:latin typeface="NotoSansJP"/>
                <a:ea typeface="NotoSansJP"/>
              </a:rPr>
              <a:t>v</a:t>
            </a:r>
            <a:endParaRPr b="0" lang="en-US" sz="1320" strike="noStrike" u="none">
              <a:solidFill>
                <a:srgbClr val="000000"/>
              </a:solidFill>
              <a:effectLst/>
              <a:uFillTx/>
              <a:latin typeface="Times New Roman"/>
            </a:endParaRPr>
          </a:p>
        </p:txBody>
      </p:sp>
      <p:sp>
        <p:nvSpPr>
          <p:cNvPr id="154" name=""/>
          <p:cNvSpPr txBox="1"/>
          <p:nvPr/>
        </p:nvSpPr>
        <p:spPr>
          <a:xfrm>
            <a:off x="6016680" y="3552840"/>
            <a:ext cx="110592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音速 </a:t>
            </a:r>
            <a:r>
              <a:rPr b="0" lang="en-US" sz="1050" strike="noStrike" u="none">
                <a:solidFill>
                  <a:srgbClr val="000000"/>
                </a:solidFill>
                <a:effectLst/>
                <a:uFillTx/>
                <a:latin typeface="NotoSansJP"/>
                <a:ea typeface="NotoSansJP"/>
              </a:rPr>
              <a:t>(340 m/s)</a:t>
            </a:r>
            <a:endParaRPr b="0" lang="en-US" sz="1050" strike="noStrike" u="none">
              <a:solidFill>
                <a:srgbClr val="000000"/>
              </a:solidFill>
              <a:effectLst/>
              <a:uFillTx/>
              <a:latin typeface="Times New Roman"/>
            </a:endParaRPr>
          </a:p>
        </p:txBody>
      </p:sp>
      <p:sp>
        <p:nvSpPr>
          <p:cNvPr id="155" name=""/>
          <p:cNvSpPr txBox="1"/>
          <p:nvPr/>
        </p:nvSpPr>
        <p:spPr>
          <a:xfrm>
            <a:off x="5774400" y="3847680"/>
            <a:ext cx="166680" cy="195480"/>
          </a:xfrm>
          <a:prstGeom prst="rect">
            <a:avLst/>
          </a:prstGeom>
          <a:noFill/>
          <a:ln w="0">
            <a:noFill/>
          </a:ln>
        </p:spPr>
        <p:txBody>
          <a:bodyPr wrap="none" lIns="0" rIns="0" tIns="0" bIns="0" anchor="t">
            <a:spAutoFit/>
          </a:bodyPr>
          <a:p>
            <a:r>
              <a:rPr b="0" lang="en-US" sz="1320" strike="noStrike" u="none">
                <a:solidFill>
                  <a:srgbClr val="003366"/>
                </a:solidFill>
                <a:effectLst/>
                <a:uFillTx/>
                <a:latin typeface="NotoSansJP"/>
                <a:ea typeface="NotoSansJP"/>
              </a:rPr>
              <a:t>s</a:t>
            </a:r>
            <a:endParaRPr b="0" lang="en-US" sz="1320" strike="noStrike" u="none">
              <a:solidFill>
                <a:srgbClr val="000000"/>
              </a:solidFill>
              <a:effectLst/>
              <a:uFillTx/>
              <a:latin typeface="Times New Roman"/>
            </a:endParaRPr>
          </a:p>
        </p:txBody>
      </p:sp>
      <p:sp>
        <p:nvSpPr>
          <p:cNvPr id="156" name=""/>
          <p:cNvSpPr txBox="1"/>
          <p:nvPr/>
        </p:nvSpPr>
        <p:spPr>
          <a:xfrm>
            <a:off x="6016680" y="3853800"/>
            <a:ext cx="116784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位相遅延時間 </a:t>
            </a:r>
            <a:r>
              <a:rPr b="0" lang="en-US" sz="1050" strike="noStrike" u="none">
                <a:solidFill>
                  <a:srgbClr val="000000"/>
                </a:solidFill>
                <a:effectLst/>
                <a:uFillTx/>
                <a:latin typeface="NotoSansJP"/>
                <a:ea typeface="NotoSansJP"/>
              </a:rPr>
              <a:t>[s]</a:t>
            </a:r>
            <a:endParaRPr b="0" lang="en-US" sz="1050" strike="noStrike" u="none">
              <a:solidFill>
                <a:srgbClr val="000000"/>
              </a:solidFill>
              <a:effectLst/>
              <a:uFillTx/>
              <a:latin typeface="Times New Roman"/>
            </a:endParaRPr>
          </a:p>
        </p:txBody>
      </p:sp>
      <p:sp>
        <p:nvSpPr>
          <p:cNvPr id="157" name=""/>
          <p:cNvSpPr txBox="1"/>
          <p:nvPr/>
        </p:nvSpPr>
        <p:spPr>
          <a:xfrm>
            <a:off x="5761800" y="4148640"/>
            <a:ext cx="166680" cy="195480"/>
          </a:xfrm>
          <a:prstGeom prst="rect">
            <a:avLst/>
          </a:prstGeom>
          <a:noFill/>
          <a:ln w="0">
            <a:noFill/>
          </a:ln>
        </p:spPr>
        <p:txBody>
          <a:bodyPr wrap="none" lIns="0" rIns="0" tIns="0" bIns="0" anchor="t">
            <a:spAutoFit/>
          </a:bodyPr>
          <a:p>
            <a:r>
              <a:rPr b="0" lang="en-US" sz="1320" strike="noStrike" u="none">
                <a:solidFill>
                  <a:srgbClr val="003366"/>
                </a:solidFill>
                <a:effectLst/>
                <a:uFillTx/>
                <a:latin typeface="NotoSansJP"/>
                <a:ea typeface="NotoSansJP"/>
              </a:rPr>
              <a:t>d</a:t>
            </a:r>
            <a:endParaRPr b="0" lang="en-US" sz="1320" strike="noStrike" u="none">
              <a:solidFill>
                <a:srgbClr val="000000"/>
              </a:solidFill>
              <a:effectLst/>
              <a:uFillTx/>
              <a:latin typeface="Times New Roman"/>
            </a:endParaRPr>
          </a:p>
        </p:txBody>
      </p:sp>
      <p:sp>
        <p:nvSpPr>
          <p:cNvPr id="158" name=""/>
          <p:cNvSpPr txBox="1"/>
          <p:nvPr/>
        </p:nvSpPr>
        <p:spPr>
          <a:xfrm>
            <a:off x="6016680" y="4154400"/>
            <a:ext cx="122868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スピーカ間隔 </a:t>
            </a:r>
            <a:r>
              <a:rPr b="0" lang="en-US" sz="1050" strike="noStrike" u="none">
                <a:solidFill>
                  <a:srgbClr val="000000"/>
                </a:solidFill>
                <a:effectLst/>
                <a:uFillTx/>
                <a:latin typeface="NotoSansJP"/>
                <a:ea typeface="NotoSansJP"/>
              </a:rPr>
              <a:t>[m]</a:t>
            </a:r>
            <a:endParaRPr b="0" lang="en-US" sz="1050" strike="noStrike" u="none">
              <a:solidFill>
                <a:srgbClr val="000000"/>
              </a:solidFill>
              <a:effectLst/>
              <a:uFillTx/>
              <a:latin typeface="Times New Roman"/>
            </a:endParaRPr>
          </a:p>
        </p:txBody>
      </p:sp>
      <p:sp>
        <p:nvSpPr>
          <p:cNvPr id="159" name=""/>
          <p:cNvSpPr txBox="1"/>
          <p:nvPr/>
        </p:nvSpPr>
        <p:spPr>
          <a:xfrm>
            <a:off x="5716080" y="4732200"/>
            <a:ext cx="21668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オーディオスポットの位置 </a:t>
            </a:r>
            <a:r>
              <a:rPr b="0" lang="en-US" sz="1180" strike="noStrike" u="none">
                <a:solidFill>
                  <a:srgbClr val="000000"/>
                </a:solidFill>
                <a:effectLst/>
                <a:uFillTx/>
                <a:latin typeface="NotoSansJP"/>
                <a:ea typeface="NotoSansJP"/>
              </a:rPr>
              <a:t>Y</a:t>
            </a:r>
            <a:r>
              <a:rPr b="0" lang="zh-CN" sz="1180" strike="noStrike" u="none">
                <a:solidFill>
                  <a:srgbClr val="000000"/>
                </a:solidFill>
                <a:effectLst/>
                <a:uFillTx/>
                <a:latin typeface="NotoSansJP"/>
                <a:ea typeface="NotoSansJP"/>
              </a:rPr>
              <a:t>：</a:t>
            </a:r>
            <a:endParaRPr b="0" lang="en-US" sz="1180" strike="noStrike" u="none">
              <a:solidFill>
                <a:srgbClr val="000000"/>
              </a:solidFill>
              <a:effectLst/>
              <a:uFillTx/>
              <a:latin typeface="Times New Roman"/>
            </a:endParaRPr>
          </a:p>
        </p:txBody>
      </p:sp>
      <p:sp>
        <p:nvSpPr>
          <p:cNvPr id="160" name=""/>
          <p:cNvSpPr txBox="1"/>
          <p:nvPr/>
        </p:nvSpPr>
        <p:spPr>
          <a:xfrm>
            <a:off x="6814440" y="5017680"/>
            <a:ext cx="1100520" cy="195480"/>
          </a:xfrm>
          <a:prstGeom prst="rect">
            <a:avLst/>
          </a:prstGeom>
          <a:noFill/>
          <a:ln w="0">
            <a:noFill/>
          </a:ln>
        </p:spPr>
        <p:txBody>
          <a:bodyPr wrap="none" lIns="0" rIns="0" tIns="0" bIns="0" anchor="t">
            <a:spAutoFit/>
          </a:bodyPr>
          <a:p>
            <a:r>
              <a:rPr b="0" lang="en-US" sz="1320" strike="noStrike" u="none">
                <a:solidFill>
                  <a:srgbClr val="000000"/>
                </a:solidFill>
                <a:effectLst/>
                <a:uFillTx/>
                <a:latin typeface="NotoSansJP"/>
                <a:ea typeface="NotoSansJP"/>
              </a:rPr>
              <a:t>Y = -X × tan </a:t>
            </a:r>
            <a:endParaRPr b="0" lang="en-US" sz="1320" strike="noStrike" u="none">
              <a:solidFill>
                <a:srgbClr val="000000"/>
              </a:solidFill>
              <a:effectLst/>
              <a:uFillTx/>
              <a:latin typeface="Times New Roman"/>
            </a:endParaRPr>
          </a:p>
        </p:txBody>
      </p:sp>
      <p:sp>
        <p:nvSpPr>
          <p:cNvPr id="161" name=""/>
          <p:cNvSpPr txBox="1"/>
          <p:nvPr/>
        </p:nvSpPr>
        <p:spPr>
          <a:xfrm>
            <a:off x="7725240" y="5021640"/>
            <a:ext cx="166680" cy="187920"/>
          </a:xfrm>
          <a:prstGeom prst="rect">
            <a:avLst/>
          </a:prstGeom>
          <a:noFill/>
          <a:ln w="0">
            <a:noFill/>
          </a:ln>
        </p:spPr>
        <p:txBody>
          <a:bodyPr wrap="none" lIns="0" rIns="0" tIns="0" bIns="0" anchor="t">
            <a:spAutoFit/>
          </a:bodyPr>
          <a:p>
            <a:r>
              <a:rPr b="0" lang="en-US" sz="1320" strike="noStrike" u="none">
                <a:solidFill>
                  <a:srgbClr val="000000"/>
                </a:solidFill>
                <a:effectLst/>
                <a:uFillTx/>
                <a:latin typeface="Arial"/>
                <a:ea typeface="Arial"/>
              </a:rPr>
              <a:t>θ</a:t>
            </a:r>
            <a:endParaRPr b="0" lang="en-US" sz="1320" strike="noStrike" u="none">
              <a:solidFill>
                <a:srgbClr val="000000"/>
              </a:solidFill>
              <a:effectLst/>
              <a:uFillTx/>
              <a:latin typeface="Times New Roman"/>
            </a:endParaRPr>
          </a:p>
        </p:txBody>
      </p:sp>
      <p:sp>
        <p:nvSpPr>
          <p:cNvPr id="162" name=""/>
          <p:cNvSpPr txBox="1"/>
          <p:nvPr/>
        </p:nvSpPr>
        <p:spPr>
          <a:xfrm>
            <a:off x="7818120" y="5017680"/>
            <a:ext cx="1504440" cy="195480"/>
          </a:xfrm>
          <a:prstGeom prst="rect">
            <a:avLst/>
          </a:prstGeom>
          <a:noFill/>
          <a:ln w="0">
            <a:noFill/>
          </a:ln>
        </p:spPr>
        <p:txBody>
          <a:bodyPr wrap="none" lIns="0" rIns="0" tIns="0" bIns="0" anchor="t">
            <a:spAutoFit/>
          </a:bodyPr>
          <a:p>
            <a:r>
              <a:rPr b="0" lang="en-US" sz="1320" strike="noStrike" u="none">
                <a:solidFill>
                  <a:srgbClr val="000000"/>
                </a:solidFill>
                <a:effectLst/>
                <a:uFillTx/>
                <a:latin typeface="NotoSansJP"/>
                <a:ea typeface="NotoSansJP"/>
              </a:rPr>
              <a:t> = -X × (</a:t>
            </a:r>
            <a:r>
              <a:rPr b="0" lang="en-US" sz="1320" strike="noStrike" u="none">
                <a:solidFill>
                  <a:srgbClr val="003366"/>
                </a:solidFill>
                <a:effectLst/>
                <a:uFillTx/>
                <a:latin typeface="NotoSansJP"/>
                <a:ea typeface="NotoSansJP"/>
              </a:rPr>
              <a:t>v</a:t>
            </a:r>
            <a:r>
              <a:rPr b="0" lang="en-US" sz="1320" strike="noStrike" u="none">
                <a:solidFill>
                  <a:srgbClr val="000000"/>
                </a:solidFill>
                <a:effectLst/>
                <a:uFillTx/>
                <a:latin typeface="NotoSansJP"/>
                <a:ea typeface="NotoSansJP"/>
              </a:rPr>
              <a:t> × </a:t>
            </a:r>
            <a:r>
              <a:rPr b="0" lang="en-US" sz="1320" strike="noStrike" u="none">
                <a:solidFill>
                  <a:srgbClr val="003366"/>
                </a:solidFill>
                <a:effectLst/>
                <a:uFillTx/>
                <a:latin typeface="NotoSansJP"/>
                <a:ea typeface="NotoSansJP"/>
              </a:rPr>
              <a:t>s</a:t>
            </a:r>
            <a:r>
              <a:rPr b="0" lang="en-US" sz="1320" strike="noStrike" u="none">
                <a:solidFill>
                  <a:srgbClr val="000000"/>
                </a:solidFill>
                <a:effectLst/>
                <a:uFillTx/>
                <a:latin typeface="NotoSansJP"/>
                <a:ea typeface="NotoSansJP"/>
              </a:rPr>
              <a:t> / </a:t>
            </a:r>
            <a:r>
              <a:rPr b="0" lang="en-US" sz="1320" strike="noStrike" u="none">
                <a:solidFill>
                  <a:srgbClr val="003366"/>
                </a:solidFill>
                <a:effectLst/>
                <a:uFillTx/>
                <a:latin typeface="NotoSansJP"/>
                <a:ea typeface="NotoSansJP"/>
              </a:rPr>
              <a:t>d</a:t>
            </a:r>
            <a:r>
              <a:rPr b="0" lang="en-US" sz="1320" strike="noStrike" u="none">
                <a:solidFill>
                  <a:srgbClr val="000000"/>
                </a:solidFill>
                <a:effectLst/>
                <a:uFillTx/>
                <a:latin typeface="NotoSansJP"/>
                <a:ea typeface="NotoSansJP"/>
              </a:rPr>
              <a:t>)</a:t>
            </a:r>
            <a:endParaRPr b="0" lang="en-US" sz="1320" strike="noStrike" u="none">
              <a:solidFill>
                <a:srgbClr val="000000"/>
              </a:solidFill>
              <a:effectLst/>
              <a:uFillTx/>
              <a:latin typeface="Times New Roman"/>
            </a:endParaRPr>
          </a:p>
        </p:txBody>
      </p:sp>
      <p:sp>
        <p:nvSpPr>
          <p:cNvPr id="163" name=""/>
          <p:cNvSpPr/>
          <p:nvPr/>
        </p:nvSpPr>
        <p:spPr>
          <a:xfrm>
            <a:off x="338400" y="1834200"/>
            <a:ext cx="4805280" cy="3200760"/>
          </a:xfrm>
          <a:custGeom>
            <a:avLst/>
            <a:gdLst/>
            <a:ahLst/>
            <a:rect l="0" t="0" r="r" b="b"/>
            <a:pathLst>
              <a:path w="13348" h="8891">
                <a:moveTo>
                  <a:pt x="0" y="8717"/>
                </a:moveTo>
                <a:lnTo>
                  <a:pt x="0" y="174"/>
                </a:lnTo>
                <a:cubicBezTo>
                  <a:pt x="0" y="162"/>
                  <a:pt x="1" y="151"/>
                  <a:pt x="3" y="140"/>
                </a:cubicBezTo>
                <a:cubicBezTo>
                  <a:pt x="5" y="129"/>
                  <a:pt x="9" y="118"/>
                  <a:pt x="13" y="107"/>
                </a:cubicBezTo>
                <a:cubicBezTo>
                  <a:pt x="17" y="97"/>
                  <a:pt x="23" y="87"/>
                  <a:pt x="29" y="77"/>
                </a:cubicBezTo>
                <a:cubicBezTo>
                  <a:pt x="35" y="68"/>
                  <a:pt x="43" y="59"/>
                  <a:pt x="51" y="51"/>
                </a:cubicBezTo>
                <a:cubicBezTo>
                  <a:pt x="59" y="43"/>
                  <a:pt x="67" y="35"/>
                  <a:pt x="77" y="29"/>
                </a:cubicBezTo>
                <a:cubicBezTo>
                  <a:pt x="87" y="23"/>
                  <a:pt x="97" y="17"/>
                  <a:pt x="107" y="13"/>
                </a:cubicBezTo>
                <a:cubicBezTo>
                  <a:pt x="118" y="9"/>
                  <a:pt x="129" y="5"/>
                  <a:pt x="140" y="3"/>
                </a:cubicBezTo>
                <a:cubicBezTo>
                  <a:pt x="151" y="1"/>
                  <a:pt x="162" y="0"/>
                  <a:pt x="174" y="0"/>
                </a:cubicBezTo>
                <a:lnTo>
                  <a:pt x="13174" y="0"/>
                </a:lnTo>
                <a:cubicBezTo>
                  <a:pt x="13185" y="0"/>
                  <a:pt x="13197" y="1"/>
                  <a:pt x="13208" y="3"/>
                </a:cubicBezTo>
                <a:cubicBezTo>
                  <a:pt x="13219" y="5"/>
                  <a:pt x="13230" y="9"/>
                  <a:pt x="13241" y="13"/>
                </a:cubicBezTo>
                <a:cubicBezTo>
                  <a:pt x="13251" y="17"/>
                  <a:pt x="13261" y="23"/>
                  <a:pt x="13271" y="29"/>
                </a:cubicBezTo>
                <a:cubicBezTo>
                  <a:pt x="13280" y="35"/>
                  <a:pt x="13289" y="43"/>
                  <a:pt x="13297" y="51"/>
                </a:cubicBezTo>
                <a:cubicBezTo>
                  <a:pt x="13305" y="59"/>
                  <a:pt x="13312" y="68"/>
                  <a:pt x="13319" y="77"/>
                </a:cubicBezTo>
                <a:cubicBezTo>
                  <a:pt x="13325" y="87"/>
                  <a:pt x="13331" y="97"/>
                  <a:pt x="13335" y="107"/>
                </a:cubicBezTo>
                <a:cubicBezTo>
                  <a:pt x="13339" y="118"/>
                  <a:pt x="13343" y="129"/>
                  <a:pt x="13345" y="140"/>
                </a:cubicBezTo>
                <a:cubicBezTo>
                  <a:pt x="13347" y="151"/>
                  <a:pt x="13348" y="162"/>
                  <a:pt x="13348" y="174"/>
                </a:cubicBezTo>
                <a:lnTo>
                  <a:pt x="13348" y="8717"/>
                </a:lnTo>
                <a:cubicBezTo>
                  <a:pt x="13348" y="8729"/>
                  <a:pt x="13347" y="8740"/>
                  <a:pt x="13345" y="8751"/>
                </a:cubicBezTo>
                <a:cubicBezTo>
                  <a:pt x="13343" y="8762"/>
                  <a:pt x="13339" y="8773"/>
                  <a:pt x="13335" y="8784"/>
                </a:cubicBezTo>
                <a:cubicBezTo>
                  <a:pt x="13331" y="8794"/>
                  <a:pt x="13325" y="8804"/>
                  <a:pt x="13319" y="8814"/>
                </a:cubicBezTo>
                <a:cubicBezTo>
                  <a:pt x="13312" y="8823"/>
                  <a:pt x="13305" y="8832"/>
                  <a:pt x="13297" y="8840"/>
                </a:cubicBezTo>
                <a:cubicBezTo>
                  <a:pt x="13289" y="8848"/>
                  <a:pt x="13280" y="8856"/>
                  <a:pt x="13271" y="8862"/>
                </a:cubicBezTo>
                <a:cubicBezTo>
                  <a:pt x="13261" y="8868"/>
                  <a:pt x="13251" y="8874"/>
                  <a:pt x="13241" y="8878"/>
                </a:cubicBezTo>
                <a:cubicBezTo>
                  <a:pt x="13230" y="8882"/>
                  <a:pt x="13219" y="8886"/>
                  <a:pt x="13208" y="8888"/>
                </a:cubicBezTo>
                <a:cubicBezTo>
                  <a:pt x="13197" y="8890"/>
                  <a:pt x="13185" y="8891"/>
                  <a:pt x="13174" y="8891"/>
                </a:cubicBezTo>
                <a:lnTo>
                  <a:pt x="174" y="8891"/>
                </a:lnTo>
                <a:cubicBezTo>
                  <a:pt x="162" y="8891"/>
                  <a:pt x="151" y="8890"/>
                  <a:pt x="140" y="8888"/>
                </a:cubicBezTo>
                <a:cubicBezTo>
                  <a:pt x="129" y="8886"/>
                  <a:pt x="118" y="8882"/>
                  <a:pt x="107" y="8878"/>
                </a:cubicBezTo>
                <a:cubicBezTo>
                  <a:pt x="97" y="8874"/>
                  <a:pt x="87" y="8868"/>
                  <a:pt x="77" y="8862"/>
                </a:cubicBezTo>
                <a:cubicBezTo>
                  <a:pt x="67" y="8856"/>
                  <a:pt x="59" y="8848"/>
                  <a:pt x="51" y="8840"/>
                </a:cubicBezTo>
                <a:cubicBezTo>
                  <a:pt x="43" y="8832"/>
                  <a:pt x="35" y="8823"/>
                  <a:pt x="29" y="8814"/>
                </a:cubicBezTo>
                <a:cubicBezTo>
                  <a:pt x="23" y="8804"/>
                  <a:pt x="17" y="8794"/>
                  <a:pt x="13" y="8784"/>
                </a:cubicBezTo>
                <a:cubicBezTo>
                  <a:pt x="9" y="8773"/>
                  <a:pt x="5" y="8762"/>
                  <a:pt x="3" y="8751"/>
                </a:cubicBezTo>
                <a:cubicBezTo>
                  <a:pt x="1" y="8740"/>
                  <a:pt x="0" y="8729"/>
                  <a:pt x="0" y="8717"/>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64" name=""/>
          <p:cNvSpPr/>
          <p:nvPr/>
        </p:nvSpPr>
        <p:spPr>
          <a:xfrm>
            <a:off x="338400" y="1834200"/>
            <a:ext cx="4805280" cy="3200760"/>
          </a:xfrm>
          <a:custGeom>
            <a:avLst/>
            <a:gdLst/>
            <a:ahLst/>
            <a:rect l="0" t="0" r="r" b="b"/>
            <a:pathLst>
              <a:path fill="none" w="13348" h="8891">
                <a:moveTo>
                  <a:pt x="0" y="8717"/>
                </a:moveTo>
                <a:lnTo>
                  <a:pt x="0" y="174"/>
                </a:lnTo>
                <a:cubicBezTo>
                  <a:pt x="0" y="162"/>
                  <a:pt x="1" y="151"/>
                  <a:pt x="3" y="140"/>
                </a:cubicBezTo>
                <a:cubicBezTo>
                  <a:pt x="5" y="129"/>
                  <a:pt x="9" y="118"/>
                  <a:pt x="13" y="107"/>
                </a:cubicBezTo>
                <a:cubicBezTo>
                  <a:pt x="17" y="97"/>
                  <a:pt x="23" y="87"/>
                  <a:pt x="29" y="77"/>
                </a:cubicBezTo>
                <a:cubicBezTo>
                  <a:pt x="35" y="68"/>
                  <a:pt x="43" y="59"/>
                  <a:pt x="51" y="51"/>
                </a:cubicBezTo>
                <a:cubicBezTo>
                  <a:pt x="59" y="43"/>
                  <a:pt x="67" y="35"/>
                  <a:pt x="77" y="29"/>
                </a:cubicBezTo>
                <a:cubicBezTo>
                  <a:pt x="87" y="23"/>
                  <a:pt x="97" y="17"/>
                  <a:pt x="107" y="13"/>
                </a:cubicBezTo>
                <a:cubicBezTo>
                  <a:pt x="118" y="9"/>
                  <a:pt x="129" y="5"/>
                  <a:pt x="140" y="3"/>
                </a:cubicBezTo>
                <a:cubicBezTo>
                  <a:pt x="151" y="1"/>
                  <a:pt x="162" y="0"/>
                  <a:pt x="174" y="0"/>
                </a:cubicBezTo>
                <a:lnTo>
                  <a:pt x="13174" y="0"/>
                </a:lnTo>
                <a:cubicBezTo>
                  <a:pt x="13185" y="0"/>
                  <a:pt x="13197" y="1"/>
                  <a:pt x="13208" y="3"/>
                </a:cubicBezTo>
                <a:cubicBezTo>
                  <a:pt x="13219" y="5"/>
                  <a:pt x="13230" y="9"/>
                  <a:pt x="13241" y="13"/>
                </a:cubicBezTo>
                <a:cubicBezTo>
                  <a:pt x="13251" y="17"/>
                  <a:pt x="13261" y="23"/>
                  <a:pt x="13271" y="29"/>
                </a:cubicBezTo>
                <a:cubicBezTo>
                  <a:pt x="13280" y="35"/>
                  <a:pt x="13289" y="43"/>
                  <a:pt x="13297" y="51"/>
                </a:cubicBezTo>
                <a:cubicBezTo>
                  <a:pt x="13305" y="59"/>
                  <a:pt x="13312" y="68"/>
                  <a:pt x="13319" y="77"/>
                </a:cubicBezTo>
                <a:cubicBezTo>
                  <a:pt x="13325" y="87"/>
                  <a:pt x="13331" y="97"/>
                  <a:pt x="13335" y="107"/>
                </a:cubicBezTo>
                <a:cubicBezTo>
                  <a:pt x="13339" y="118"/>
                  <a:pt x="13343" y="129"/>
                  <a:pt x="13345" y="140"/>
                </a:cubicBezTo>
                <a:cubicBezTo>
                  <a:pt x="13347" y="151"/>
                  <a:pt x="13348" y="162"/>
                  <a:pt x="13348" y="174"/>
                </a:cubicBezTo>
                <a:lnTo>
                  <a:pt x="13348" y="8717"/>
                </a:lnTo>
                <a:cubicBezTo>
                  <a:pt x="13348" y="8729"/>
                  <a:pt x="13347" y="8740"/>
                  <a:pt x="13345" y="8751"/>
                </a:cubicBezTo>
                <a:cubicBezTo>
                  <a:pt x="13343" y="8762"/>
                  <a:pt x="13339" y="8773"/>
                  <a:pt x="13335" y="8784"/>
                </a:cubicBezTo>
                <a:cubicBezTo>
                  <a:pt x="13331" y="8794"/>
                  <a:pt x="13325" y="8804"/>
                  <a:pt x="13319" y="8814"/>
                </a:cubicBezTo>
                <a:cubicBezTo>
                  <a:pt x="13312" y="8823"/>
                  <a:pt x="13305" y="8832"/>
                  <a:pt x="13297" y="8840"/>
                </a:cubicBezTo>
                <a:cubicBezTo>
                  <a:pt x="13289" y="8848"/>
                  <a:pt x="13280" y="8856"/>
                  <a:pt x="13271" y="8862"/>
                </a:cubicBezTo>
                <a:cubicBezTo>
                  <a:pt x="13261" y="8868"/>
                  <a:pt x="13251" y="8874"/>
                  <a:pt x="13241" y="8878"/>
                </a:cubicBezTo>
                <a:cubicBezTo>
                  <a:pt x="13230" y="8882"/>
                  <a:pt x="13219" y="8886"/>
                  <a:pt x="13208" y="8888"/>
                </a:cubicBezTo>
                <a:cubicBezTo>
                  <a:pt x="13197" y="8890"/>
                  <a:pt x="13185" y="8891"/>
                  <a:pt x="13174" y="8891"/>
                </a:cubicBezTo>
                <a:lnTo>
                  <a:pt x="174" y="8891"/>
                </a:lnTo>
                <a:cubicBezTo>
                  <a:pt x="162" y="8891"/>
                  <a:pt x="151" y="8890"/>
                  <a:pt x="140" y="8888"/>
                </a:cubicBezTo>
                <a:cubicBezTo>
                  <a:pt x="129" y="8886"/>
                  <a:pt x="118" y="8882"/>
                  <a:pt x="107" y="8878"/>
                </a:cubicBezTo>
                <a:cubicBezTo>
                  <a:pt x="97" y="8874"/>
                  <a:pt x="87" y="8868"/>
                  <a:pt x="77" y="8862"/>
                </a:cubicBezTo>
                <a:cubicBezTo>
                  <a:pt x="67" y="8856"/>
                  <a:pt x="59" y="8848"/>
                  <a:pt x="51" y="8840"/>
                </a:cubicBezTo>
                <a:cubicBezTo>
                  <a:pt x="43" y="8832"/>
                  <a:pt x="35" y="8823"/>
                  <a:pt x="29" y="8814"/>
                </a:cubicBezTo>
                <a:cubicBezTo>
                  <a:pt x="23" y="8804"/>
                  <a:pt x="17" y="8794"/>
                  <a:pt x="13" y="8784"/>
                </a:cubicBezTo>
                <a:cubicBezTo>
                  <a:pt x="9" y="8773"/>
                  <a:pt x="5" y="8762"/>
                  <a:pt x="3" y="8751"/>
                </a:cubicBezTo>
                <a:cubicBezTo>
                  <a:pt x="1" y="8740"/>
                  <a:pt x="0" y="8729"/>
                  <a:pt x="0" y="8717"/>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165" name="" descr=""/>
          <p:cNvPicPr/>
          <p:nvPr/>
        </p:nvPicPr>
        <p:blipFill>
          <a:blip r:embed="rId4"/>
          <a:stretch/>
        </p:blipFill>
        <p:spPr>
          <a:xfrm>
            <a:off x="468000" y="1963800"/>
            <a:ext cx="4545720" cy="2941200"/>
          </a:xfrm>
          <a:prstGeom prst="rect">
            <a:avLst/>
          </a:prstGeom>
          <a:noFill/>
          <a:ln w="0">
            <a:noFill/>
          </a:ln>
        </p:spPr>
      </p:pic>
      <p:sp>
        <p:nvSpPr>
          <p:cNvPr id="166" name=""/>
          <p:cNvSpPr txBox="1"/>
          <p:nvPr/>
        </p:nvSpPr>
        <p:spPr>
          <a:xfrm>
            <a:off x="5716080" y="5315040"/>
            <a:ext cx="1924200" cy="169560"/>
          </a:xfrm>
          <a:prstGeom prst="rect">
            <a:avLst/>
          </a:prstGeom>
          <a:noFill/>
          <a:ln w="0">
            <a:noFill/>
          </a:ln>
        </p:spPr>
        <p:txBody>
          <a:bodyPr wrap="none" lIns="0" rIns="0" tIns="0" bIns="0" anchor="t">
            <a:spAutoFit/>
          </a:bodyPr>
          <a:p>
            <a:r>
              <a:rPr b="0" lang="en-US" sz="920" strike="noStrike" u="none">
                <a:solidFill>
                  <a:srgbClr val="000000"/>
                </a:solidFill>
                <a:effectLst/>
                <a:uFillTx/>
                <a:latin typeface="NotoSansJP"/>
                <a:ea typeface="NotoSansJP"/>
              </a:rPr>
              <a:t>※ X </a:t>
            </a:r>
            <a:r>
              <a:rPr b="0" lang="zh-CN" sz="920" strike="noStrike" u="none">
                <a:solidFill>
                  <a:srgbClr val="000000"/>
                </a:solidFill>
                <a:effectLst/>
                <a:uFillTx/>
                <a:latin typeface="NotoSansJP"/>
                <a:ea typeface="NotoSansJP"/>
              </a:rPr>
              <a:t>はスピーカユニットからの距離</a:t>
            </a:r>
            <a:endParaRPr b="0" lang="en-US" sz="920" strike="noStrike" u="none">
              <a:solidFill>
                <a:srgbClr val="000000"/>
              </a:solidFill>
              <a:effectLst/>
              <a:uFillTx/>
              <a:latin typeface="Times New Roman"/>
            </a:endParaRPr>
          </a:p>
        </p:txBody>
      </p:sp>
      <p:sp>
        <p:nvSpPr>
          <p:cNvPr id="167" name=""/>
          <p:cNvSpPr txBox="1"/>
          <p:nvPr/>
        </p:nvSpPr>
        <p:spPr>
          <a:xfrm>
            <a:off x="7575840" y="2247480"/>
            <a:ext cx="150120" cy="166680"/>
          </a:xfrm>
          <a:prstGeom prst="rect">
            <a:avLst/>
          </a:prstGeom>
          <a:noFill/>
          <a:ln w="0">
            <a:noFill/>
          </a:ln>
        </p:spPr>
        <p:txBody>
          <a:bodyPr wrap="none" lIns="0" rIns="0" tIns="0" bIns="0" anchor="t">
            <a:spAutoFit/>
          </a:bodyPr>
          <a:p>
            <a:r>
              <a:rPr b="0" lang="en-US" sz="1180" strike="noStrike" u="none">
                <a:solidFill>
                  <a:srgbClr val="000000"/>
                </a:solidFill>
                <a:effectLst/>
                <a:uFillTx/>
                <a:latin typeface="Times New Roman"/>
                <a:ea typeface="Times New Roman"/>
              </a:rPr>
              <a:t>-1</a:t>
            </a:r>
            <a:endParaRPr b="0" lang="en-US" sz="11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
          <p:cNvSpPr/>
          <p:nvPr/>
        </p:nvSpPr>
        <p:spPr>
          <a:xfrm>
            <a:off x="0" y="0"/>
            <a:ext cx="10696680" cy="6936120"/>
          </a:xfrm>
          <a:custGeom>
            <a:avLst/>
            <a:gdLst/>
            <a:ahLst/>
            <a:rect l="0" t="0" r="r" b="b"/>
            <a:pathLst>
              <a:path w="29713" h="19267">
                <a:moveTo>
                  <a:pt x="0" y="0"/>
                </a:moveTo>
                <a:lnTo>
                  <a:pt x="29713" y="0"/>
                </a:lnTo>
                <a:lnTo>
                  <a:pt x="29713" y="19267"/>
                </a:lnTo>
                <a:lnTo>
                  <a:pt x="0" y="19267"/>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69" name="" descr=""/>
          <p:cNvPicPr/>
          <p:nvPr/>
        </p:nvPicPr>
        <p:blipFill>
          <a:blip r:embed="rId1"/>
          <a:stretch/>
        </p:blipFill>
        <p:spPr>
          <a:xfrm>
            <a:off x="0" y="0"/>
            <a:ext cx="10696320" cy="668160"/>
          </a:xfrm>
          <a:prstGeom prst="rect">
            <a:avLst/>
          </a:prstGeom>
          <a:noFill/>
          <a:ln w="0">
            <a:noFill/>
          </a:ln>
        </p:spPr>
      </p:pic>
      <p:sp>
        <p:nvSpPr>
          <p:cNvPr id="170" name=""/>
          <p:cNvSpPr/>
          <p:nvPr/>
        </p:nvSpPr>
        <p:spPr>
          <a:xfrm>
            <a:off x="421920" y="5703120"/>
            <a:ext cx="9852840" cy="978120"/>
          </a:xfrm>
          <a:custGeom>
            <a:avLst/>
            <a:gdLst/>
            <a:ahLst/>
            <a:rect l="0" t="0" r="r" b="b"/>
            <a:pathLst>
              <a:path w="27369" h="2717">
                <a:moveTo>
                  <a:pt x="0" y="2543"/>
                </a:moveTo>
                <a:lnTo>
                  <a:pt x="0" y="175"/>
                </a:lnTo>
                <a:cubicBezTo>
                  <a:pt x="0" y="163"/>
                  <a:pt x="1" y="152"/>
                  <a:pt x="3" y="141"/>
                </a:cubicBezTo>
                <a:cubicBezTo>
                  <a:pt x="5" y="129"/>
                  <a:pt x="9" y="118"/>
                  <a:pt x="13" y="108"/>
                </a:cubicBezTo>
                <a:cubicBezTo>
                  <a:pt x="17" y="97"/>
                  <a:pt x="23" y="87"/>
                  <a:pt x="29" y="78"/>
                </a:cubicBezTo>
                <a:cubicBezTo>
                  <a:pt x="35" y="68"/>
                  <a:pt x="43" y="59"/>
                  <a:pt x="51" y="51"/>
                </a:cubicBezTo>
                <a:cubicBezTo>
                  <a:pt x="59" y="43"/>
                  <a:pt x="68" y="36"/>
                  <a:pt x="77" y="30"/>
                </a:cubicBezTo>
                <a:cubicBezTo>
                  <a:pt x="87" y="23"/>
                  <a:pt x="97" y="18"/>
                  <a:pt x="107" y="14"/>
                </a:cubicBezTo>
                <a:cubicBezTo>
                  <a:pt x="118" y="9"/>
                  <a:pt x="129" y="6"/>
                  <a:pt x="140" y="4"/>
                </a:cubicBezTo>
                <a:cubicBezTo>
                  <a:pt x="151" y="2"/>
                  <a:pt x="162" y="0"/>
                  <a:pt x="174" y="0"/>
                </a:cubicBezTo>
                <a:lnTo>
                  <a:pt x="27195" y="0"/>
                </a:lnTo>
                <a:cubicBezTo>
                  <a:pt x="27206" y="0"/>
                  <a:pt x="27218" y="2"/>
                  <a:pt x="27229" y="4"/>
                </a:cubicBezTo>
                <a:cubicBezTo>
                  <a:pt x="27240" y="6"/>
                  <a:pt x="27251" y="9"/>
                  <a:pt x="27261" y="14"/>
                </a:cubicBezTo>
                <a:cubicBezTo>
                  <a:pt x="27272" y="18"/>
                  <a:pt x="27282" y="23"/>
                  <a:pt x="27292" y="30"/>
                </a:cubicBezTo>
                <a:cubicBezTo>
                  <a:pt x="27301" y="36"/>
                  <a:pt x="27310" y="43"/>
                  <a:pt x="27318" y="51"/>
                </a:cubicBezTo>
                <a:cubicBezTo>
                  <a:pt x="27326" y="59"/>
                  <a:pt x="27333" y="68"/>
                  <a:pt x="27340" y="78"/>
                </a:cubicBezTo>
                <a:cubicBezTo>
                  <a:pt x="27346" y="87"/>
                  <a:pt x="27351" y="97"/>
                  <a:pt x="27356" y="108"/>
                </a:cubicBezTo>
                <a:cubicBezTo>
                  <a:pt x="27360" y="118"/>
                  <a:pt x="27363" y="129"/>
                  <a:pt x="27366" y="141"/>
                </a:cubicBezTo>
                <a:cubicBezTo>
                  <a:pt x="27368" y="152"/>
                  <a:pt x="27369" y="163"/>
                  <a:pt x="27369" y="175"/>
                </a:cubicBezTo>
                <a:lnTo>
                  <a:pt x="27369" y="2543"/>
                </a:lnTo>
                <a:cubicBezTo>
                  <a:pt x="27369" y="2555"/>
                  <a:pt x="27368" y="2566"/>
                  <a:pt x="27366" y="2577"/>
                </a:cubicBezTo>
                <a:cubicBezTo>
                  <a:pt x="27363" y="2588"/>
                  <a:pt x="27360" y="2599"/>
                  <a:pt x="27356" y="2610"/>
                </a:cubicBezTo>
                <a:cubicBezTo>
                  <a:pt x="27351" y="2620"/>
                  <a:pt x="27346" y="2630"/>
                  <a:pt x="27340" y="2640"/>
                </a:cubicBezTo>
                <a:cubicBezTo>
                  <a:pt x="27333" y="2649"/>
                  <a:pt x="27326" y="2658"/>
                  <a:pt x="27318" y="2666"/>
                </a:cubicBezTo>
                <a:cubicBezTo>
                  <a:pt x="27310" y="2674"/>
                  <a:pt x="27301" y="2682"/>
                  <a:pt x="27292" y="2688"/>
                </a:cubicBezTo>
                <a:cubicBezTo>
                  <a:pt x="27282" y="2694"/>
                  <a:pt x="27272" y="2700"/>
                  <a:pt x="27261" y="2704"/>
                </a:cubicBezTo>
                <a:cubicBezTo>
                  <a:pt x="27251" y="2708"/>
                  <a:pt x="27240" y="2712"/>
                  <a:pt x="27229" y="2714"/>
                </a:cubicBezTo>
                <a:cubicBezTo>
                  <a:pt x="27218" y="2716"/>
                  <a:pt x="27206" y="2717"/>
                  <a:pt x="27195" y="2717"/>
                </a:cubicBezTo>
                <a:lnTo>
                  <a:pt x="174" y="2717"/>
                </a:lnTo>
                <a:cubicBezTo>
                  <a:pt x="162" y="2717"/>
                  <a:pt x="151" y="2716"/>
                  <a:pt x="140" y="2714"/>
                </a:cubicBezTo>
                <a:cubicBezTo>
                  <a:pt x="129" y="2712"/>
                  <a:pt x="118" y="2708"/>
                  <a:pt x="107" y="2704"/>
                </a:cubicBezTo>
                <a:cubicBezTo>
                  <a:pt x="97" y="2700"/>
                  <a:pt x="87" y="2694"/>
                  <a:pt x="77" y="2688"/>
                </a:cubicBezTo>
                <a:cubicBezTo>
                  <a:pt x="68" y="2682"/>
                  <a:pt x="59" y="2674"/>
                  <a:pt x="51" y="2666"/>
                </a:cubicBezTo>
                <a:cubicBezTo>
                  <a:pt x="43" y="2658"/>
                  <a:pt x="35" y="2649"/>
                  <a:pt x="29" y="2640"/>
                </a:cubicBezTo>
                <a:cubicBezTo>
                  <a:pt x="23" y="2630"/>
                  <a:pt x="17" y="2620"/>
                  <a:pt x="13" y="2610"/>
                </a:cubicBezTo>
                <a:cubicBezTo>
                  <a:pt x="9" y="2599"/>
                  <a:pt x="5" y="2588"/>
                  <a:pt x="3" y="2577"/>
                </a:cubicBezTo>
                <a:cubicBezTo>
                  <a:pt x="1" y="2566"/>
                  <a:pt x="0" y="2555"/>
                  <a:pt x="0" y="2543"/>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1" name=""/>
          <p:cNvSpPr/>
          <p:nvPr/>
        </p:nvSpPr>
        <p:spPr>
          <a:xfrm>
            <a:off x="421920" y="5703120"/>
            <a:ext cx="9852840" cy="978120"/>
          </a:xfrm>
          <a:custGeom>
            <a:avLst/>
            <a:gdLst/>
            <a:ahLst/>
            <a:rect l="0" t="0" r="r" b="b"/>
            <a:pathLst>
              <a:path fill="none" w="27369" h="2717">
                <a:moveTo>
                  <a:pt x="0" y="2543"/>
                </a:moveTo>
                <a:lnTo>
                  <a:pt x="0" y="175"/>
                </a:lnTo>
                <a:cubicBezTo>
                  <a:pt x="0" y="163"/>
                  <a:pt x="1" y="152"/>
                  <a:pt x="3" y="141"/>
                </a:cubicBezTo>
                <a:cubicBezTo>
                  <a:pt x="5" y="129"/>
                  <a:pt x="9" y="118"/>
                  <a:pt x="13" y="108"/>
                </a:cubicBezTo>
                <a:cubicBezTo>
                  <a:pt x="17" y="97"/>
                  <a:pt x="23" y="87"/>
                  <a:pt x="29" y="78"/>
                </a:cubicBezTo>
                <a:cubicBezTo>
                  <a:pt x="35" y="68"/>
                  <a:pt x="43" y="59"/>
                  <a:pt x="51" y="51"/>
                </a:cubicBezTo>
                <a:cubicBezTo>
                  <a:pt x="59" y="43"/>
                  <a:pt x="68" y="36"/>
                  <a:pt x="77" y="30"/>
                </a:cubicBezTo>
                <a:cubicBezTo>
                  <a:pt x="87" y="23"/>
                  <a:pt x="97" y="18"/>
                  <a:pt x="107" y="14"/>
                </a:cubicBezTo>
                <a:cubicBezTo>
                  <a:pt x="118" y="9"/>
                  <a:pt x="129" y="6"/>
                  <a:pt x="140" y="4"/>
                </a:cubicBezTo>
                <a:cubicBezTo>
                  <a:pt x="151" y="2"/>
                  <a:pt x="162" y="0"/>
                  <a:pt x="174" y="0"/>
                </a:cubicBezTo>
                <a:lnTo>
                  <a:pt x="27195" y="0"/>
                </a:lnTo>
                <a:cubicBezTo>
                  <a:pt x="27206" y="0"/>
                  <a:pt x="27218" y="2"/>
                  <a:pt x="27229" y="4"/>
                </a:cubicBezTo>
                <a:cubicBezTo>
                  <a:pt x="27240" y="6"/>
                  <a:pt x="27251" y="9"/>
                  <a:pt x="27261" y="14"/>
                </a:cubicBezTo>
                <a:cubicBezTo>
                  <a:pt x="27272" y="18"/>
                  <a:pt x="27282" y="23"/>
                  <a:pt x="27292" y="30"/>
                </a:cubicBezTo>
                <a:cubicBezTo>
                  <a:pt x="27301" y="36"/>
                  <a:pt x="27310" y="43"/>
                  <a:pt x="27318" y="51"/>
                </a:cubicBezTo>
                <a:cubicBezTo>
                  <a:pt x="27326" y="59"/>
                  <a:pt x="27333" y="68"/>
                  <a:pt x="27340" y="78"/>
                </a:cubicBezTo>
                <a:cubicBezTo>
                  <a:pt x="27346" y="87"/>
                  <a:pt x="27351" y="97"/>
                  <a:pt x="27356" y="108"/>
                </a:cubicBezTo>
                <a:cubicBezTo>
                  <a:pt x="27360" y="118"/>
                  <a:pt x="27363" y="129"/>
                  <a:pt x="27366" y="141"/>
                </a:cubicBezTo>
                <a:cubicBezTo>
                  <a:pt x="27368" y="152"/>
                  <a:pt x="27369" y="163"/>
                  <a:pt x="27369" y="175"/>
                </a:cubicBezTo>
                <a:lnTo>
                  <a:pt x="27369" y="2543"/>
                </a:lnTo>
                <a:cubicBezTo>
                  <a:pt x="27369" y="2555"/>
                  <a:pt x="27368" y="2566"/>
                  <a:pt x="27366" y="2577"/>
                </a:cubicBezTo>
                <a:cubicBezTo>
                  <a:pt x="27363" y="2588"/>
                  <a:pt x="27360" y="2599"/>
                  <a:pt x="27356" y="2610"/>
                </a:cubicBezTo>
                <a:cubicBezTo>
                  <a:pt x="27351" y="2620"/>
                  <a:pt x="27346" y="2630"/>
                  <a:pt x="27340" y="2640"/>
                </a:cubicBezTo>
                <a:cubicBezTo>
                  <a:pt x="27333" y="2649"/>
                  <a:pt x="27326" y="2658"/>
                  <a:pt x="27318" y="2666"/>
                </a:cubicBezTo>
                <a:cubicBezTo>
                  <a:pt x="27310" y="2674"/>
                  <a:pt x="27301" y="2682"/>
                  <a:pt x="27292" y="2688"/>
                </a:cubicBezTo>
                <a:cubicBezTo>
                  <a:pt x="27282" y="2694"/>
                  <a:pt x="27272" y="2700"/>
                  <a:pt x="27261" y="2704"/>
                </a:cubicBezTo>
                <a:cubicBezTo>
                  <a:pt x="27251" y="2708"/>
                  <a:pt x="27240" y="2712"/>
                  <a:pt x="27229" y="2714"/>
                </a:cubicBezTo>
                <a:cubicBezTo>
                  <a:pt x="27218" y="2716"/>
                  <a:pt x="27206" y="2717"/>
                  <a:pt x="27195" y="2717"/>
                </a:cubicBezTo>
                <a:lnTo>
                  <a:pt x="174" y="2717"/>
                </a:lnTo>
                <a:cubicBezTo>
                  <a:pt x="162" y="2717"/>
                  <a:pt x="151" y="2716"/>
                  <a:pt x="140" y="2714"/>
                </a:cubicBezTo>
                <a:cubicBezTo>
                  <a:pt x="129" y="2712"/>
                  <a:pt x="118" y="2708"/>
                  <a:pt x="107" y="2704"/>
                </a:cubicBezTo>
                <a:cubicBezTo>
                  <a:pt x="97" y="2700"/>
                  <a:pt x="87" y="2694"/>
                  <a:pt x="77" y="2688"/>
                </a:cubicBezTo>
                <a:cubicBezTo>
                  <a:pt x="68" y="2682"/>
                  <a:pt x="59" y="2674"/>
                  <a:pt x="51" y="2666"/>
                </a:cubicBezTo>
                <a:cubicBezTo>
                  <a:pt x="43" y="2658"/>
                  <a:pt x="35" y="2649"/>
                  <a:pt x="29" y="2640"/>
                </a:cubicBezTo>
                <a:cubicBezTo>
                  <a:pt x="23" y="2630"/>
                  <a:pt x="17" y="2620"/>
                  <a:pt x="13" y="2610"/>
                </a:cubicBezTo>
                <a:cubicBezTo>
                  <a:pt x="9" y="2599"/>
                  <a:pt x="5" y="2588"/>
                  <a:pt x="3" y="2577"/>
                </a:cubicBezTo>
                <a:cubicBezTo>
                  <a:pt x="1" y="2566"/>
                  <a:pt x="0" y="2555"/>
                  <a:pt x="0" y="2543"/>
                </a:cubicBezTo>
              </a:path>
            </a:pathLst>
          </a:custGeom>
          <a:ln w="8280">
            <a:solidFill>
              <a:srgbClr val="bfdbfe"/>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172" name=""/>
          <p:cNvSpPr/>
          <p:nvPr/>
        </p:nvSpPr>
        <p:spPr>
          <a:xfrm>
            <a:off x="425880" y="927360"/>
            <a:ext cx="4780440" cy="1981080"/>
          </a:xfrm>
          <a:custGeom>
            <a:avLst/>
            <a:gdLst/>
            <a:ahLst/>
            <a:rect l="0" t="0" r="r" b="b"/>
            <a:pathLst>
              <a:path w="13279" h="5503">
                <a:moveTo>
                  <a:pt x="0" y="5294"/>
                </a:moveTo>
                <a:lnTo>
                  <a:pt x="0" y="210"/>
                </a:lnTo>
                <a:cubicBezTo>
                  <a:pt x="0" y="196"/>
                  <a:pt x="2" y="183"/>
                  <a:pt x="4" y="168"/>
                </a:cubicBezTo>
                <a:cubicBezTo>
                  <a:pt x="7" y="155"/>
                  <a:pt x="11" y="142"/>
                  <a:pt x="16" y="129"/>
                </a:cubicBezTo>
                <a:cubicBezTo>
                  <a:pt x="22" y="116"/>
                  <a:pt x="28" y="104"/>
                  <a:pt x="36" y="93"/>
                </a:cubicBezTo>
                <a:cubicBezTo>
                  <a:pt x="43" y="82"/>
                  <a:pt x="52" y="71"/>
                  <a:pt x="62" y="61"/>
                </a:cubicBezTo>
                <a:cubicBezTo>
                  <a:pt x="71" y="52"/>
                  <a:pt x="82" y="43"/>
                  <a:pt x="93" y="35"/>
                </a:cubicBezTo>
                <a:cubicBezTo>
                  <a:pt x="105" y="28"/>
                  <a:pt x="117" y="21"/>
                  <a:pt x="129" y="16"/>
                </a:cubicBezTo>
                <a:cubicBezTo>
                  <a:pt x="142" y="11"/>
                  <a:pt x="155" y="7"/>
                  <a:pt x="169" y="4"/>
                </a:cubicBezTo>
                <a:cubicBezTo>
                  <a:pt x="182" y="1"/>
                  <a:pt x="196" y="0"/>
                  <a:pt x="209" y="0"/>
                </a:cubicBezTo>
                <a:lnTo>
                  <a:pt x="13070" y="0"/>
                </a:lnTo>
                <a:cubicBezTo>
                  <a:pt x="13084" y="0"/>
                  <a:pt x="13098" y="1"/>
                  <a:pt x="13111" y="4"/>
                </a:cubicBezTo>
                <a:cubicBezTo>
                  <a:pt x="13125" y="7"/>
                  <a:pt x="13138" y="11"/>
                  <a:pt x="13150" y="16"/>
                </a:cubicBezTo>
                <a:cubicBezTo>
                  <a:pt x="13163" y="21"/>
                  <a:pt x="13175" y="28"/>
                  <a:pt x="13186" y="35"/>
                </a:cubicBezTo>
                <a:cubicBezTo>
                  <a:pt x="13198" y="43"/>
                  <a:pt x="13208" y="52"/>
                  <a:pt x="13218" y="61"/>
                </a:cubicBezTo>
                <a:cubicBezTo>
                  <a:pt x="13228" y="71"/>
                  <a:pt x="13236" y="82"/>
                  <a:pt x="13244" y="93"/>
                </a:cubicBezTo>
                <a:cubicBezTo>
                  <a:pt x="13252" y="104"/>
                  <a:pt x="13258" y="116"/>
                  <a:pt x="13263" y="129"/>
                </a:cubicBezTo>
                <a:cubicBezTo>
                  <a:pt x="13269" y="142"/>
                  <a:pt x="13273" y="155"/>
                  <a:pt x="13275" y="168"/>
                </a:cubicBezTo>
                <a:cubicBezTo>
                  <a:pt x="13278" y="183"/>
                  <a:pt x="13279" y="196"/>
                  <a:pt x="13279" y="210"/>
                </a:cubicBezTo>
                <a:lnTo>
                  <a:pt x="13279" y="5294"/>
                </a:lnTo>
                <a:cubicBezTo>
                  <a:pt x="13279" y="5307"/>
                  <a:pt x="13278" y="5321"/>
                  <a:pt x="13275" y="5334"/>
                </a:cubicBezTo>
                <a:cubicBezTo>
                  <a:pt x="13273" y="5348"/>
                  <a:pt x="13269" y="5361"/>
                  <a:pt x="13263" y="5374"/>
                </a:cubicBezTo>
                <a:cubicBezTo>
                  <a:pt x="13258" y="5386"/>
                  <a:pt x="13252" y="5398"/>
                  <a:pt x="13244" y="5410"/>
                </a:cubicBezTo>
                <a:cubicBezTo>
                  <a:pt x="13236" y="5421"/>
                  <a:pt x="13228" y="5432"/>
                  <a:pt x="13218" y="5441"/>
                </a:cubicBezTo>
                <a:cubicBezTo>
                  <a:pt x="13208" y="5451"/>
                  <a:pt x="13198" y="5460"/>
                  <a:pt x="13186" y="5467"/>
                </a:cubicBezTo>
                <a:cubicBezTo>
                  <a:pt x="13175" y="5475"/>
                  <a:pt x="13163" y="5481"/>
                  <a:pt x="13150" y="5487"/>
                </a:cubicBezTo>
                <a:cubicBezTo>
                  <a:pt x="13138" y="5492"/>
                  <a:pt x="13125" y="5496"/>
                  <a:pt x="13111" y="5499"/>
                </a:cubicBezTo>
                <a:cubicBezTo>
                  <a:pt x="13098" y="5501"/>
                  <a:pt x="13084" y="5503"/>
                  <a:pt x="13070" y="5503"/>
                </a:cubicBezTo>
                <a:lnTo>
                  <a:pt x="209" y="5503"/>
                </a:lnTo>
                <a:cubicBezTo>
                  <a:pt x="196" y="5503"/>
                  <a:pt x="182" y="5501"/>
                  <a:pt x="169" y="5499"/>
                </a:cubicBezTo>
                <a:cubicBezTo>
                  <a:pt x="155" y="5496"/>
                  <a:pt x="142" y="5492"/>
                  <a:pt x="129" y="5487"/>
                </a:cubicBezTo>
                <a:cubicBezTo>
                  <a:pt x="117" y="5481"/>
                  <a:pt x="105" y="5475"/>
                  <a:pt x="93" y="5467"/>
                </a:cubicBezTo>
                <a:cubicBezTo>
                  <a:pt x="82" y="5460"/>
                  <a:pt x="71" y="5451"/>
                  <a:pt x="62" y="5441"/>
                </a:cubicBezTo>
                <a:cubicBezTo>
                  <a:pt x="52" y="5432"/>
                  <a:pt x="43" y="5421"/>
                  <a:pt x="36" y="5410"/>
                </a:cubicBezTo>
                <a:cubicBezTo>
                  <a:pt x="28" y="5398"/>
                  <a:pt x="22" y="5386"/>
                  <a:pt x="16" y="5374"/>
                </a:cubicBezTo>
                <a:cubicBezTo>
                  <a:pt x="11" y="5361"/>
                  <a:pt x="7" y="5348"/>
                  <a:pt x="4" y="5334"/>
                </a:cubicBezTo>
                <a:cubicBezTo>
                  <a:pt x="2" y="5321"/>
                  <a:pt x="0" y="5307"/>
                  <a:pt x="0" y="5294"/>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3" name=""/>
          <p:cNvSpPr/>
          <p:nvPr/>
        </p:nvSpPr>
        <p:spPr>
          <a:xfrm>
            <a:off x="425880" y="927360"/>
            <a:ext cx="4780440" cy="1981080"/>
          </a:xfrm>
          <a:custGeom>
            <a:avLst/>
            <a:gdLst/>
            <a:ahLst/>
            <a:rect l="0" t="0" r="r" b="b"/>
            <a:pathLst>
              <a:path fill="none" w="13279" h="5503">
                <a:moveTo>
                  <a:pt x="0" y="5294"/>
                </a:moveTo>
                <a:lnTo>
                  <a:pt x="0" y="210"/>
                </a:lnTo>
                <a:cubicBezTo>
                  <a:pt x="0" y="196"/>
                  <a:pt x="2" y="183"/>
                  <a:pt x="4" y="168"/>
                </a:cubicBezTo>
                <a:cubicBezTo>
                  <a:pt x="7" y="155"/>
                  <a:pt x="11" y="142"/>
                  <a:pt x="16" y="129"/>
                </a:cubicBezTo>
                <a:cubicBezTo>
                  <a:pt x="22" y="116"/>
                  <a:pt x="28" y="104"/>
                  <a:pt x="36" y="93"/>
                </a:cubicBezTo>
                <a:cubicBezTo>
                  <a:pt x="43" y="82"/>
                  <a:pt x="52" y="71"/>
                  <a:pt x="62" y="61"/>
                </a:cubicBezTo>
                <a:cubicBezTo>
                  <a:pt x="71" y="52"/>
                  <a:pt x="82" y="43"/>
                  <a:pt x="93" y="35"/>
                </a:cubicBezTo>
                <a:cubicBezTo>
                  <a:pt x="105" y="28"/>
                  <a:pt x="117" y="21"/>
                  <a:pt x="129" y="16"/>
                </a:cubicBezTo>
                <a:cubicBezTo>
                  <a:pt x="142" y="11"/>
                  <a:pt x="155" y="7"/>
                  <a:pt x="169" y="4"/>
                </a:cubicBezTo>
                <a:cubicBezTo>
                  <a:pt x="182" y="1"/>
                  <a:pt x="196" y="0"/>
                  <a:pt x="209" y="0"/>
                </a:cubicBezTo>
                <a:lnTo>
                  <a:pt x="13070" y="0"/>
                </a:lnTo>
                <a:cubicBezTo>
                  <a:pt x="13084" y="0"/>
                  <a:pt x="13098" y="1"/>
                  <a:pt x="13111" y="4"/>
                </a:cubicBezTo>
                <a:cubicBezTo>
                  <a:pt x="13125" y="7"/>
                  <a:pt x="13138" y="11"/>
                  <a:pt x="13150" y="16"/>
                </a:cubicBezTo>
                <a:cubicBezTo>
                  <a:pt x="13163" y="21"/>
                  <a:pt x="13175" y="28"/>
                  <a:pt x="13186" y="35"/>
                </a:cubicBezTo>
                <a:cubicBezTo>
                  <a:pt x="13198" y="43"/>
                  <a:pt x="13208" y="52"/>
                  <a:pt x="13218" y="61"/>
                </a:cubicBezTo>
                <a:cubicBezTo>
                  <a:pt x="13228" y="71"/>
                  <a:pt x="13236" y="82"/>
                  <a:pt x="13244" y="93"/>
                </a:cubicBezTo>
                <a:cubicBezTo>
                  <a:pt x="13252" y="104"/>
                  <a:pt x="13258" y="116"/>
                  <a:pt x="13263" y="129"/>
                </a:cubicBezTo>
                <a:cubicBezTo>
                  <a:pt x="13269" y="142"/>
                  <a:pt x="13273" y="155"/>
                  <a:pt x="13275" y="168"/>
                </a:cubicBezTo>
                <a:cubicBezTo>
                  <a:pt x="13278" y="183"/>
                  <a:pt x="13279" y="196"/>
                  <a:pt x="13279" y="210"/>
                </a:cubicBezTo>
                <a:lnTo>
                  <a:pt x="13279" y="5294"/>
                </a:lnTo>
                <a:cubicBezTo>
                  <a:pt x="13279" y="5307"/>
                  <a:pt x="13278" y="5321"/>
                  <a:pt x="13275" y="5334"/>
                </a:cubicBezTo>
                <a:cubicBezTo>
                  <a:pt x="13273" y="5348"/>
                  <a:pt x="13269" y="5361"/>
                  <a:pt x="13263" y="5374"/>
                </a:cubicBezTo>
                <a:cubicBezTo>
                  <a:pt x="13258" y="5386"/>
                  <a:pt x="13252" y="5398"/>
                  <a:pt x="13244" y="5410"/>
                </a:cubicBezTo>
                <a:cubicBezTo>
                  <a:pt x="13236" y="5421"/>
                  <a:pt x="13228" y="5432"/>
                  <a:pt x="13218" y="5441"/>
                </a:cubicBezTo>
                <a:cubicBezTo>
                  <a:pt x="13208" y="5451"/>
                  <a:pt x="13198" y="5460"/>
                  <a:pt x="13186" y="5467"/>
                </a:cubicBezTo>
                <a:cubicBezTo>
                  <a:pt x="13175" y="5475"/>
                  <a:pt x="13163" y="5481"/>
                  <a:pt x="13150" y="5487"/>
                </a:cubicBezTo>
                <a:cubicBezTo>
                  <a:pt x="13138" y="5492"/>
                  <a:pt x="13125" y="5496"/>
                  <a:pt x="13111" y="5499"/>
                </a:cubicBezTo>
                <a:cubicBezTo>
                  <a:pt x="13098" y="5501"/>
                  <a:pt x="13084" y="5503"/>
                  <a:pt x="13070" y="5503"/>
                </a:cubicBezTo>
                <a:lnTo>
                  <a:pt x="209" y="5503"/>
                </a:lnTo>
                <a:cubicBezTo>
                  <a:pt x="196" y="5503"/>
                  <a:pt x="182" y="5501"/>
                  <a:pt x="169" y="5499"/>
                </a:cubicBezTo>
                <a:cubicBezTo>
                  <a:pt x="155" y="5496"/>
                  <a:pt x="142" y="5492"/>
                  <a:pt x="129" y="5487"/>
                </a:cubicBezTo>
                <a:cubicBezTo>
                  <a:pt x="117" y="5481"/>
                  <a:pt x="105" y="5475"/>
                  <a:pt x="93" y="5467"/>
                </a:cubicBezTo>
                <a:cubicBezTo>
                  <a:pt x="82" y="5460"/>
                  <a:pt x="71" y="5451"/>
                  <a:pt x="62" y="5441"/>
                </a:cubicBezTo>
                <a:cubicBezTo>
                  <a:pt x="52" y="5432"/>
                  <a:pt x="43" y="5421"/>
                  <a:pt x="36" y="5410"/>
                </a:cubicBezTo>
                <a:cubicBezTo>
                  <a:pt x="28" y="5398"/>
                  <a:pt x="22" y="5386"/>
                  <a:pt x="16" y="5374"/>
                </a:cubicBezTo>
                <a:cubicBezTo>
                  <a:pt x="11" y="5361"/>
                  <a:pt x="7" y="5348"/>
                  <a:pt x="4" y="5334"/>
                </a:cubicBezTo>
                <a:cubicBezTo>
                  <a:pt x="2" y="5321"/>
                  <a:pt x="0" y="5307"/>
                  <a:pt x="0" y="5294"/>
                </a:cubicBezTo>
              </a:path>
            </a:pathLst>
          </a:custGeom>
          <a:ln w="16560">
            <a:solidFill>
              <a:srgbClr val="c0c0c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174" name=""/>
          <p:cNvSpPr/>
          <p:nvPr/>
        </p:nvSpPr>
        <p:spPr>
          <a:xfrm>
            <a:off x="425880" y="3091680"/>
            <a:ext cx="4780440" cy="1362600"/>
          </a:xfrm>
          <a:custGeom>
            <a:avLst/>
            <a:gdLst/>
            <a:ahLst/>
            <a:rect l="0" t="0" r="r" b="b"/>
            <a:pathLst>
              <a:path w="13279" h="3785">
                <a:moveTo>
                  <a:pt x="0" y="3576"/>
                </a:moveTo>
                <a:lnTo>
                  <a:pt x="0" y="209"/>
                </a:lnTo>
                <a:cubicBezTo>
                  <a:pt x="0" y="196"/>
                  <a:pt x="2" y="182"/>
                  <a:pt x="4" y="168"/>
                </a:cubicBezTo>
                <a:cubicBezTo>
                  <a:pt x="7" y="155"/>
                  <a:pt x="11" y="142"/>
                  <a:pt x="16" y="129"/>
                </a:cubicBezTo>
                <a:cubicBezTo>
                  <a:pt x="22" y="117"/>
                  <a:pt x="28" y="105"/>
                  <a:pt x="36" y="93"/>
                </a:cubicBezTo>
                <a:cubicBezTo>
                  <a:pt x="43" y="82"/>
                  <a:pt x="52" y="71"/>
                  <a:pt x="62" y="62"/>
                </a:cubicBezTo>
                <a:cubicBezTo>
                  <a:pt x="71" y="52"/>
                  <a:pt x="82" y="43"/>
                  <a:pt x="93" y="36"/>
                </a:cubicBezTo>
                <a:cubicBezTo>
                  <a:pt x="105" y="28"/>
                  <a:pt x="117" y="21"/>
                  <a:pt x="129" y="16"/>
                </a:cubicBezTo>
                <a:cubicBezTo>
                  <a:pt x="142" y="11"/>
                  <a:pt x="155" y="7"/>
                  <a:pt x="169" y="4"/>
                </a:cubicBezTo>
                <a:cubicBezTo>
                  <a:pt x="182" y="2"/>
                  <a:pt x="196" y="0"/>
                  <a:pt x="209" y="0"/>
                </a:cubicBezTo>
                <a:lnTo>
                  <a:pt x="13070" y="0"/>
                </a:lnTo>
                <a:cubicBezTo>
                  <a:pt x="13084" y="0"/>
                  <a:pt x="13098" y="2"/>
                  <a:pt x="13111" y="4"/>
                </a:cubicBezTo>
                <a:cubicBezTo>
                  <a:pt x="13125" y="7"/>
                  <a:pt x="13138" y="11"/>
                  <a:pt x="13150" y="16"/>
                </a:cubicBezTo>
                <a:cubicBezTo>
                  <a:pt x="13163" y="21"/>
                  <a:pt x="13175" y="28"/>
                  <a:pt x="13186" y="36"/>
                </a:cubicBezTo>
                <a:cubicBezTo>
                  <a:pt x="13198" y="43"/>
                  <a:pt x="13208" y="52"/>
                  <a:pt x="13218" y="62"/>
                </a:cubicBezTo>
                <a:cubicBezTo>
                  <a:pt x="13228" y="71"/>
                  <a:pt x="13236" y="82"/>
                  <a:pt x="13244" y="93"/>
                </a:cubicBezTo>
                <a:cubicBezTo>
                  <a:pt x="13252" y="105"/>
                  <a:pt x="13258" y="117"/>
                  <a:pt x="13263" y="129"/>
                </a:cubicBezTo>
                <a:cubicBezTo>
                  <a:pt x="13269" y="142"/>
                  <a:pt x="13273" y="155"/>
                  <a:pt x="13275" y="168"/>
                </a:cubicBezTo>
                <a:cubicBezTo>
                  <a:pt x="13278" y="182"/>
                  <a:pt x="13279" y="196"/>
                  <a:pt x="13279" y="209"/>
                </a:cubicBezTo>
                <a:lnTo>
                  <a:pt x="13279" y="3576"/>
                </a:lnTo>
                <a:cubicBezTo>
                  <a:pt x="13279" y="3590"/>
                  <a:pt x="13278" y="3603"/>
                  <a:pt x="13275" y="3617"/>
                </a:cubicBezTo>
                <a:cubicBezTo>
                  <a:pt x="13273" y="3630"/>
                  <a:pt x="13269" y="3643"/>
                  <a:pt x="13263" y="3656"/>
                </a:cubicBezTo>
                <a:cubicBezTo>
                  <a:pt x="13258" y="3669"/>
                  <a:pt x="13252" y="3681"/>
                  <a:pt x="13244" y="3692"/>
                </a:cubicBezTo>
                <a:cubicBezTo>
                  <a:pt x="13236" y="3704"/>
                  <a:pt x="13228" y="3714"/>
                  <a:pt x="13218" y="3724"/>
                </a:cubicBezTo>
                <a:cubicBezTo>
                  <a:pt x="13208" y="3734"/>
                  <a:pt x="13198" y="3742"/>
                  <a:pt x="13186" y="3750"/>
                </a:cubicBezTo>
                <a:cubicBezTo>
                  <a:pt x="13175" y="3757"/>
                  <a:pt x="13163" y="3764"/>
                  <a:pt x="13150" y="3769"/>
                </a:cubicBezTo>
                <a:cubicBezTo>
                  <a:pt x="13138" y="3774"/>
                  <a:pt x="13125" y="3778"/>
                  <a:pt x="13111" y="3781"/>
                </a:cubicBezTo>
                <a:cubicBezTo>
                  <a:pt x="13098" y="3784"/>
                  <a:pt x="13084" y="3785"/>
                  <a:pt x="13070" y="3785"/>
                </a:cubicBezTo>
                <a:lnTo>
                  <a:pt x="209" y="3785"/>
                </a:lnTo>
                <a:cubicBezTo>
                  <a:pt x="196" y="3785"/>
                  <a:pt x="182" y="3784"/>
                  <a:pt x="169" y="3781"/>
                </a:cubicBezTo>
                <a:cubicBezTo>
                  <a:pt x="155" y="3778"/>
                  <a:pt x="142" y="3774"/>
                  <a:pt x="129" y="3769"/>
                </a:cubicBezTo>
                <a:cubicBezTo>
                  <a:pt x="117" y="3764"/>
                  <a:pt x="105" y="3757"/>
                  <a:pt x="93" y="3750"/>
                </a:cubicBezTo>
                <a:cubicBezTo>
                  <a:pt x="82" y="3742"/>
                  <a:pt x="71" y="3734"/>
                  <a:pt x="62" y="3724"/>
                </a:cubicBezTo>
                <a:cubicBezTo>
                  <a:pt x="52" y="3714"/>
                  <a:pt x="43" y="3704"/>
                  <a:pt x="36" y="3692"/>
                </a:cubicBezTo>
                <a:cubicBezTo>
                  <a:pt x="28" y="3681"/>
                  <a:pt x="22" y="3669"/>
                  <a:pt x="16" y="3656"/>
                </a:cubicBezTo>
                <a:cubicBezTo>
                  <a:pt x="11" y="3643"/>
                  <a:pt x="7" y="3630"/>
                  <a:pt x="4" y="3617"/>
                </a:cubicBezTo>
                <a:cubicBezTo>
                  <a:pt x="2" y="3603"/>
                  <a:pt x="0" y="3590"/>
                  <a:pt x="0" y="3576"/>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5" name=""/>
          <p:cNvSpPr/>
          <p:nvPr/>
        </p:nvSpPr>
        <p:spPr>
          <a:xfrm>
            <a:off x="425880" y="3091680"/>
            <a:ext cx="4780440" cy="1362600"/>
          </a:xfrm>
          <a:custGeom>
            <a:avLst/>
            <a:gdLst/>
            <a:ahLst/>
            <a:rect l="0" t="0" r="r" b="b"/>
            <a:pathLst>
              <a:path fill="none" w="13279" h="3785">
                <a:moveTo>
                  <a:pt x="0" y="3576"/>
                </a:moveTo>
                <a:lnTo>
                  <a:pt x="0" y="209"/>
                </a:lnTo>
                <a:cubicBezTo>
                  <a:pt x="0" y="196"/>
                  <a:pt x="2" y="182"/>
                  <a:pt x="4" y="168"/>
                </a:cubicBezTo>
                <a:cubicBezTo>
                  <a:pt x="7" y="155"/>
                  <a:pt x="11" y="142"/>
                  <a:pt x="16" y="129"/>
                </a:cubicBezTo>
                <a:cubicBezTo>
                  <a:pt x="22" y="117"/>
                  <a:pt x="28" y="105"/>
                  <a:pt x="36" y="93"/>
                </a:cubicBezTo>
                <a:cubicBezTo>
                  <a:pt x="43" y="82"/>
                  <a:pt x="52" y="71"/>
                  <a:pt x="62" y="62"/>
                </a:cubicBezTo>
                <a:cubicBezTo>
                  <a:pt x="71" y="52"/>
                  <a:pt x="82" y="43"/>
                  <a:pt x="93" y="36"/>
                </a:cubicBezTo>
                <a:cubicBezTo>
                  <a:pt x="105" y="28"/>
                  <a:pt x="117" y="21"/>
                  <a:pt x="129" y="16"/>
                </a:cubicBezTo>
                <a:cubicBezTo>
                  <a:pt x="142" y="11"/>
                  <a:pt x="155" y="7"/>
                  <a:pt x="169" y="4"/>
                </a:cubicBezTo>
                <a:cubicBezTo>
                  <a:pt x="182" y="2"/>
                  <a:pt x="196" y="0"/>
                  <a:pt x="209" y="0"/>
                </a:cubicBezTo>
                <a:lnTo>
                  <a:pt x="13070" y="0"/>
                </a:lnTo>
                <a:cubicBezTo>
                  <a:pt x="13084" y="0"/>
                  <a:pt x="13098" y="2"/>
                  <a:pt x="13111" y="4"/>
                </a:cubicBezTo>
                <a:cubicBezTo>
                  <a:pt x="13125" y="7"/>
                  <a:pt x="13138" y="11"/>
                  <a:pt x="13150" y="16"/>
                </a:cubicBezTo>
                <a:cubicBezTo>
                  <a:pt x="13163" y="21"/>
                  <a:pt x="13175" y="28"/>
                  <a:pt x="13186" y="36"/>
                </a:cubicBezTo>
                <a:cubicBezTo>
                  <a:pt x="13198" y="43"/>
                  <a:pt x="13208" y="52"/>
                  <a:pt x="13218" y="62"/>
                </a:cubicBezTo>
                <a:cubicBezTo>
                  <a:pt x="13228" y="71"/>
                  <a:pt x="13236" y="82"/>
                  <a:pt x="13244" y="93"/>
                </a:cubicBezTo>
                <a:cubicBezTo>
                  <a:pt x="13252" y="105"/>
                  <a:pt x="13258" y="117"/>
                  <a:pt x="13263" y="129"/>
                </a:cubicBezTo>
                <a:cubicBezTo>
                  <a:pt x="13269" y="142"/>
                  <a:pt x="13273" y="155"/>
                  <a:pt x="13275" y="168"/>
                </a:cubicBezTo>
                <a:cubicBezTo>
                  <a:pt x="13278" y="182"/>
                  <a:pt x="13279" y="196"/>
                  <a:pt x="13279" y="209"/>
                </a:cubicBezTo>
                <a:lnTo>
                  <a:pt x="13279" y="3576"/>
                </a:lnTo>
                <a:cubicBezTo>
                  <a:pt x="13279" y="3590"/>
                  <a:pt x="13278" y="3603"/>
                  <a:pt x="13275" y="3617"/>
                </a:cubicBezTo>
                <a:cubicBezTo>
                  <a:pt x="13273" y="3630"/>
                  <a:pt x="13269" y="3643"/>
                  <a:pt x="13263" y="3656"/>
                </a:cubicBezTo>
                <a:cubicBezTo>
                  <a:pt x="13258" y="3669"/>
                  <a:pt x="13252" y="3681"/>
                  <a:pt x="13244" y="3692"/>
                </a:cubicBezTo>
                <a:cubicBezTo>
                  <a:pt x="13236" y="3704"/>
                  <a:pt x="13228" y="3714"/>
                  <a:pt x="13218" y="3724"/>
                </a:cubicBezTo>
                <a:cubicBezTo>
                  <a:pt x="13208" y="3734"/>
                  <a:pt x="13198" y="3742"/>
                  <a:pt x="13186" y="3750"/>
                </a:cubicBezTo>
                <a:cubicBezTo>
                  <a:pt x="13175" y="3757"/>
                  <a:pt x="13163" y="3764"/>
                  <a:pt x="13150" y="3769"/>
                </a:cubicBezTo>
                <a:cubicBezTo>
                  <a:pt x="13138" y="3774"/>
                  <a:pt x="13125" y="3778"/>
                  <a:pt x="13111" y="3781"/>
                </a:cubicBezTo>
                <a:cubicBezTo>
                  <a:pt x="13098" y="3784"/>
                  <a:pt x="13084" y="3785"/>
                  <a:pt x="13070" y="3785"/>
                </a:cubicBezTo>
                <a:lnTo>
                  <a:pt x="209" y="3785"/>
                </a:lnTo>
                <a:cubicBezTo>
                  <a:pt x="196" y="3785"/>
                  <a:pt x="182" y="3784"/>
                  <a:pt x="169" y="3781"/>
                </a:cubicBezTo>
                <a:cubicBezTo>
                  <a:pt x="155" y="3778"/>
                  <a:pt x="142" y="3774"/>
                  <a:pt x="129" y="3769"/>
                </a:cubicBezTo>
                <a:cubicBezTo>
                  <a:pt x="117" y="3764"/>
                  <a:pt x="105" y="3757"/>
                  <a:pt x="93" y="3750"/>
                </a:cubicBezTo>
                <a:cubicBezTo>
                  <a:pt x="82" y="3742"/>
                  <a:pt x="71" y="3734"/>
                  <a:pt x="62" y="3724"/>
                </a:cubicBezTo>
                <a:cubicBezTo>
                  <a:pt x="52" y="3714"/>
                  <a:pt x="43" y="3704"/>
                  <a:pt x="36" y="3692"/>
                </a:cubicBezTo>
                <a:cubicBezTo>
                  <a:pt x="28" y="3681"/>
                  <a:pt x="22" y="3669"/>
                  <a:pt x="16" y="3656"/>
                </a:cubicBezTo>
                <a:cubicBezTo>
                  <a:pt x="11" y="3643"/>
                  <a:pt x="7" y="3630"/>
                  <a:pt x="4" y="3617"/>
                </a:cubicBezTo>
                <a:cubicBezTo>
                  <a:pt x="2" y="3603"/>
                  <a:pt x="0" y="3590"/>
                  <a:pt x="0" y="3576"/>
                </a:cubicBezTo>
              </a:path>
            </a:pathLst>
          </a:custGeom>
          <a:ln w="16560">
            <a:solidFill>
              <a:srgbClr val="c0c0c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176" name=""/>
          <p:cNvSpPr txBox="1"/>
          <p:nvPr/>
        </p:nvSpPr>
        <p:spPr>
          <a:xfrm>
            <a:off x="334440" y="210240"/>
            <a:ext cx="226404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指向性制御の理論式</a:t>
            </a:r>
            <a:endParaRPr b="0" lang="en-US" sz="1979" strike="noStrike" u="none">
              <a:solidFill>
                <a:srgbClr val="000000"/>
              </a:solidFill>
              <a:effectLst/>
              <a:uFillTx/>
              <a:latin typeface="Times New Roman"/>
            </a:endParaRPr>
          </a:p>
        </p:txBody>
      </p:sp>
      <p:sp>
        <p:nvSpPr>
          <p:cNvPr id="177" name=""/>
          <p:cNvSpPr txBox="1"/>
          <p:nvPr/>
        </p:nvSpPr>
        <p:spPr>
          <a:xfrm>
            <a:off x="1539360" y="1167120"/>
            <a:ext cx="233640" cy="261000"/>
          </a:xfrm>
          <a:prstGeom prst="rect">
            <a:avLst/>
          </a:prstGeom>
          <a:noFill/>
          <a:ln w="0">
            <a:noFill/>
          </a:ln>
        </p:spPr>
        <p:txBody>
          <a:bodyPr wrap="none" lIns="0" rIns="0" tIns="0" bIns="0" anchor="t">
            <a:spAutoFit/>
          </a:bodyPr>
          <a:p>
            <a:r>
              <a:rPr b="0" lang="en-US" sz="1840" strike="noStrike" u="none">
                <a:solidFill>
                  <a:srgbClr val="000000"/>
                </a:solidFill>
                <a:effectLst/>
                <a:uFillTx/>
                <a:latin typeface="Arial"/>
                <a:ea typeface="Arial"/>
              </a:rPr>
              <a:t>θ</a:t>
            </a:r>
            <a:endParaRPr b="0" lang="en-US" sz="1840" strike="noStrike" u="none">
              <a:solidFill>
                <a:srgbClr val="000000"/>
              </a:solidFill>
              <a:effectLst/>
              <a:uFillTx/>
              <a:latin typeface="Times New Roman"/>
            </a:endParaRPr>
          </a:p>
        </p:txBody>
      </p:sp>
      <p:sp>
        <p:nvSpPr>
          <p:cNvPr id="178" name=""/>
          <p:cNvSpPr txBox="1"/>
          <p:nvPr/>
        </p:nvSpPr>
        <p:spPr>
          <a:xfrm>
            <a:off x="1669320" y="1161720"/>
            <a:ext cx="2603160" cy="271800"/>
          </a:xfrm>
          <a:prstGeom prst="rect">
            <a:avLst/>
          </a:prstGeom>
          <a:noFill/>
          <a:ln w="0">
            <a:noFill/>
          </a:ln>
        </p:spPr>
        <p:txBody>
          <a:bodyPr wrap="none" lIns="0" rIns="0" tIns="0" bIns="0" anchor="t">
            <a:spAutoFit/>
          </a:bodyPr>
          <a:p>
            <a:r>
              <a:rPr b="0" lang="en-US" sz="1840" strike="noStrike" u="none">
                <a:solidFill>
                  <a:srgbClr val="000000"/>
                </a:solidFill>
                <a:effectLst/>
                <a:uFillTx/>
                <a:latin typeface="NotoSansJP"/>
                <a:ea typeface="NotoSansJP"/>
              </a:rPr>
              <a:t> = tan (v × s / d) [rad]</a:t>
            </a:r>
            <a:endParaRPr b="0" lang="en-US" sz="1840" strike="noStrike" u="none">
              <a:solidFill>
                <a:srgbClr val="000000"/>
              </a:solidFill>
              <a:effectLst/>
              <a:uFillTx/>
              <a:latin typeface="Times New Roman"/>
            </a:endParaRPr>
          </a:p>
        </p:txBody>
      </p:sp>
      <p:sp>
        <p:nvSpPr>
          <p:cNvPr id="179" name=""/>
          <p:cNvSpPr txBox="1"/>
          <p:nvPr/>
        </p:nvSpPr>
        <p:spPr>
          <a:xfrm>
            <a:off x="601560" y="1618920"/>
            <a:ext cx="150120" cy="16956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Arial"/>
                <a:ea typeface="Arial"/>
              </a:rPr>
              <a:t>θ</a:t>
            </a:r>
            <a:endParaRPr b="0" lang="en-US" sz="1180" strike="noStrike" u="none">
              <a:solidFill>
                <a:srgbClr val="000000"/>
              </a:solidFill>
              <a:effectLst/>
              <a:uFillTx/>
              <a:latin typeface="Times New Roman"/>
            </a:endParaRPr>
          </a:p>
        </p:txBody>
      </p:sp>
      <p:sp>
        <p:nvSpPr>
          <p:cNvPr id="180" name=""/>
          <p:cNvSpPr txBox="1"/>
          <p:nvPr/>
        </p:nvSpPr>
        <p:spPr>
          <a:xfrm>
            <a:off x="685440" y="1615320"/>
            <a:ext cx="15012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a:t>
            </a:r>
            <a:endParaRPr b="0" lang="en-US" sz="1180" strike="noStrike" u="none">
              <a:solidFill>
                <a:srgbClr val="000000"/>
              </a:solidFill>
              <a:effectLst/>
              <a:uFillTx/>
              <a:latin typeface="Times New Roman"/>
            </a:endParaRPr>
          </a:p>
        </p:txBody>
      </p:sp>
      <p:sp>
        <p:nvSpPr>
          <p:cNvPr id="181" name=""/>
          <p:cNvSpPr txBox="1"/>
          <p:nvPr/>
        </p:nvSpPr>
        <p:spPr>
          <a:xfrm>
            <a:off x="819000" y="1615320"/>
            <a:ext cx="22640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音の指向角（進行方向の屈折角）</a:t>
            </a:r>
            <a:endParaRPr b="0" lang="en-US" sz="1180" strike="noStrike" u="none">
              <a:solidFill>
                <a:srgbClr val="000000"/>
              </a:solidFill>
              <a:effectLst/>
              <a:uFillTx/>
              <a:latin typeface="Times New Roman"/>
            </a:endParaRPr>
          </a:p>
        </p:txBody>
      </p:sp>
      <p:sp>
        <p:nvSpPr>
          <p:cNvPr id="182" name=""/>
          <p:cNvSpPr txBox="1"/>
          <p:nvPr/>
        </p:nvSpPr>
        <p:spPr>
          <a:xfrm>
            <a:off x="601560" y="1924560"/>
            <a:ext cx="15012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v:</a:t>
            </a:r>
            <a:endParaRPr b="0" lang="en-US" sz="1180" strike="noStrike" u="none">
              <a:solidFill>
                <a:srgbClr val="000000"/>
              </a:solidFill>
              <a:effectLst/>
              <a:uFillTx/>
              <a:latin typeface="Times New Roman"/>
            </a:endParaRPr>
          </a:p>
        </p:txBody>
      </p:sp>
      <p:sp>
        <p:nvSpPr>
          <p:cNvPr id="183" name=""/>
          <p:cNvSpPr txBox="1"/>
          <p:nvPr/>
        </p:nvSpPr>
        <p:spPr>
          <a:xfrm>
            <a:off x="819000" y="1924560"/>
            <a:ext cx="1110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音速 </a:t>
            </a:r>
            <a:r>
              <a:rPr b="0" lang="en-US" sz="1180" strike="noStrike" u="none">
                <a:solidFill>
                  <a:srgbClr val="000000"/>
                </a:solidFill>
                <a:effectLst/>
                <a:uFillTx/>
                <a:latin typeface="NotoSansJP"/>
                <a:ea typeface="NotoSansJP"/>
              </a:rPr>
              <a:t>(340 m/s)</a:t>
            </a:r>
            <a:endParaRPr b="0" lang="en-US" sz="1180" strike="noStrike" u="none">
              <a:solidFill>
                <a:srgbClr val="000000"/>
              </a:solidFill>
              <a:effectLst/>
              <a:uFillTx/>
              <a:latin typeface="Times New Roman"/>
            </a:endParaRPr>
          </a:p>
        </p:txBody>
      </p:sp>
      <p:sp>
        <p:nvSpPr>
          <p:cNvPr id="184" name=""/>
          <p:cNvSpPr txBox="1"/>
          <p:nvPr/>
        </p:nvSpPr>
        <p:spPr>
          <a:xfrm>
            <a:off x="601560" y="2233800"/>
            <a:ext cx="15012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s:</a:t>
            </a:r>
            <a:endParaRPr b="0" lang="en-US" sz="1180" strike="noStrike" u="none">
              <a:solidFill>
                <a:srgbClr val="000000"/>
              </a:solidFill>
              <a:effectLst/>
              <a:uFillTx/>
              <a:latin typeface="Times New Roman"/>
            </a:endParaRPr>
          </a:p>
        </p:txBody>
      </p:sp>
      <p:sp>
        <p:nvSpPr>
          <p:cNvPr id="185" name=""/>
          <p:cNvSpPr txBox="1"/>
          <p:nvPr/>
        </p:nvSpPr>
        <p:spPr>
          <a:xfrm>
            <a:off x="819000" y="2233800"/>
            <a:ext cx="28674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位相遅延時間（隣接する音源間の時間差）</a:t>
            </a:r>
            <a:endParaRPr b="0" lang="en-US" sz="1180" strike="noStrike" u="none">
              <a:solidFill>
                <a:srgbClr val="000000"/>
              </a:solidFill>
              <a:effectLst/>
              <a:uFillTx/>
              <a:latin typeface="Times New Roman"/>
            </a:endParaRPr>
          </a:p>
        </p:txBody>
      </p:sp>
      <p:sp>
        <p:nvSpPr>
          <p:cNvPr id="186" name=""/>
          <p:cNvSpPr txBox="1"/>
          <p:nvPr/>
        </p:nvSpPr>
        <p:spPr>
          <a:xfrm>
            <a:off x="601560" y="2543040"/>
            <a:ext cx="15012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d:</a:t>
            </a:r>
            <a:endParaRPr b="0" lang="en-US" sz="1180" strike="noStrike" u="none">
              <a:solidFill>
                <a:srgbClr val="000000"/>
              </a:solidFill>
              <a:effectLst/>
              <a:uFillTx/>
              <a:latin typeface="Times New Roman"/>
            </a:endParaRPr>
          </a:p>
        </p:txBody>
      </p:sp>
      <p:sp>
        <p:nvSpPr>
          <p:cNvPr id="187" name=""/>
          <p:cNvSpPr txBox="1"/>
          <p:nvPr/>
        </p:nvSpPr>
        <p:spPr>
          <a:xfrm>
            <a:off x="819000" y="2543040"/>
            <a:ext cx="18111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音源間隔（スリット間隔）</a:t>
            </a:r>
            <a:endParaRPr b="0" lang="en-US" sz="1180" strike="noStrike" u="none">
              <a:solidFill>
                <a:srgbClr val="000000"/>
              </a:solidFill>
              <a:effectLst/>
              <a:uFillTx/>
              <a:latin typeface="Times New Roman"/>
            </a:endParaRPr>
          </a:p>
        </p:txBody>
      </p:sp>
      <p:sp>
        <p:nvSpPr>
          <p:cNvPr id="188" name=""/>
          <p:cNvSpPr txBox="1"/>
          <p:nvPr/>
        </p:nvSpPr>
        <p:spPr>
          <a:xfrm>
            <a:off x="1459800" y="3326040"/>
            <a:ext cx="1212840" cy="271800"/>
          </a:xfrm>
          <a:prstGeom prst="rect">
            <a:avLst/>
          </a:prstGeom>
          <a:noFill/>
          <a:ln w="0">
            <a:noFill/>
          </a:ln>
        </p:spPr>
        <p:txBody>
          <a:bodyPr wrap="none" lIns="0" rIns="0" tIns="0" bIns="0" anchor="t">
            <a:spAutoFit/>
          </a:bodyPr>
          <a:p>
            <a:r>
              <a:rPr b="0" lang="en-US" sz="1840" strike="noStrike" u="none">
                <a:solidFill>
                  <a:srgbClr val="000000"/>
                </a:solidFill>
                <a:effectLst/>
                <a:uFillTx/>
                <a:latin typeface="NotoSansJP"/>
                <a:ea typeface="NotoSansJP"/>
              </a:rPr>
              <a:t>Y = -X sin </a:t>
            </a:r>
            <a:endParaRPr b="0" lang="en-US" sz="1840" strike="noStrike" u="none">
              <a:solidFill>
                <a:srgbClr val="000000"/>
              </a:solidFill>
              <a:effectLst/>
              <a:uFillTx/>
              <a:latin typeface="Times New Roman"/>
            </a:endParaRPr>
          </a:p>
        </p:txBody>
      </p:sp>
      <p:sp>
        <p:nvSpPr>
          <p:cNvPr id="189" name=""/>
          <p:cNvSpPr txBox="1"/>
          <p:nvPr/>
        </p:nvSpPr>
        <p:spPr>
          <a:xfrm>
            <a:off x="2454480" y="3331440"/>
            <a:ext cx="233640" cy="261000"/>
          </a:xfrm>
          <a:prstGeom prst="rect">
            <a:avLst/>
          </a:prstGeom>
          <a:noFill/>
          <a:ln w="0">
            <a:noFill/>
          </a:ln>
        </p:spPr>
        <p:txBody>
          <a:bodyPr wrap="none" lIns="0" rIns="0" tIns="0" bIns="0" anchor="t">
            <a:spAutoFit/>
          </a:bodyPr>
          <a:p>
            <a:r>
              <a:rPr b="0" lang="en-US" sz="1840" strike="noStrike" u="none">
                <a:solidFill>
                  <a:srgbClr val="000000"/>
                </a:solidFill>
                <a:effectLst/>
                <a:uFillTx/>
                <a:latin typeface="Arial"/>
                <a:ea typeface="Arial"/>
              </a:rPr>
              <a:t>θ</a:t>
            </a:r>
            <a:endParaRPr b="0" lang="en-US" sz="1840" strike="noStrike" u="none">
              <a:solidFill>
                <a:srgbClr val="000000"/>
              </a:solidFill>
              <a:effectLst/>
              <a:uFillTx/>
              <a:latin typeface="Times New Roman"/>
            </a:endParaRPr>
          </a:p>
        </p:txBody>
      </p:sp>
      <p:sp>
        <p:nvSpPr>
          <p:cNvPr id="190" name=""/>
          <p:cNvSpPr txBox="1"/>
          <p:nvPr/>
        </p:nvSpPr>
        <p:spPr>
          <a:xfrm>
            <a:off x="2584440" y="3326040"/>
            <a:ext cx="1822320" cy="271800"/>
          </a:xfrm>
          <a:prstGeom prst="rect">
            <a:avLst/>
          </a:prstGeom>
          <a:noFill/>
          <a:ln w="0">
            <a:noFill/>
          </a:ln>
        </p:spPr>
        <p:txBody>
          <a:bodyPr wrap="none" lIns="0" rIns="0" tIns="0" bIns="0" anchor="t">
            <a:spAutoFit/>
          </a:bodyPr>
          <a:p>
            <a:r>
              <a:rPr b="0" lang="en-US" sz="1840" strike="noStrike" u="none">
                <a:solidFill>
                  <a:srgbClr val="000000"/>
                </a:solidFill>
                <a:effectLst/>
                <a:uFillTx/>
                <a:latin typeface="NotoSansJP"/>
                <a:ea typeface="NotoSansJP"/>
              </a:rPr>
              <a:t> = -X </a:t>
            </a:r>
            <a:r>
              <a:rPr b="0" lang="en-US" sz="1840" strike="noStrike" u="none">
                <a:solidFill>
                  <a:srgbClr val="1d4ed8"/>
                </a:solidFill>
                <a:effectLst/>
                <a:uFillTx/>
                <a:latin typeface="NotoSansJP"/>
                <a:ea typeface="NotoSansJP"/>
              </a:rPr>
              <a:t>(v × s) / d</a:t>
            </a:r>
            <a:endParaRPr b="0" lang="en-US" sz="1840" strike="noStrike" u="none">
              <a:solidFill>
                <a:srgbClr val="000000"/>
              </a:solidFill>
              <a:effectLst/>
              <a:uFillTx/>
              <a:latin typeface="Times New Roman"/>
            </a:endParaRPr>
          </a:p>
        </p:txBody>
      </p:sp>
      <p:sp>
        <p:nvSpPr>
          <p:cNvPr id="191" name=""/>
          <p:cNvSpPr txBox="1"/>
          <p:nvPr/>
        </p:nvSpPr>
        <p:spPr>
          <a:xfrm>
            <a:off x="601560" y="3779640"/>
            <a:ext cx="15012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Y:</a:t>
            </a:r>
            <a:endParaRPr b="0" lang="en-US" sz="1180" strike="noStrike" u="none">
              <a:solidFill>
                <a:srgbClr val="000000"/>
              </a:solidFill>
              <a:effectLst/>
              <a:uFillTx/>
              <a:latin typeface="Times New Roman"/>
            </a:endParaRPr>
          </a:p>
        </p:txBody>
      </p:sp>
      <p:sp>
        <p:nvSpPr>
          <p:cNvPr id="192" name=""/>
          <p:cNvSpPr txBox="1"/>
          <p:nvPr/>
        </p:nvSpPr>
        <p:spPr>
          <a:xfrm>
            <a:off x="819000" y="3779640"/>
            <a:ext cx="30664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距離</a:t>
            </a:r>
            <a:r>
              <a:rPr b="0" lang="en-US" sz="1180" strike="noStrike" u="none">
                <a:solidFill>
                  <a:srgbClr val="000000"/>
                </a:solidFill>
                <a:effectLst/>
                <a:uFillTx/>
                <a:latin typeface="NotoSansJP"/>
                <a:ea typeface="NotoSansJP"/>
              </a:rPr>
              <a:t>X</a:t>
            </a:r>
            <a:r>
              <a:rPr b="0" lang="zh-CN" sz="1180" strike="noStrike" u="none">
                <a:solidFill>
                  <a:srgbClr val="000000"/>
                </a:solidFill>
                <a:effectLst/>
                <a:uFillTx/>
                <a:latin typeface="NotoSansJP"/>
                <a:ea typeface="NotoSansJP"/>
              </a:rPr>
              <a:t>におけるオーディオスポットの</a:t>
            </a:r>
            <a:r>
              <a:rPr b="0" lang="en-US" sz="1180" strike="noStrike" u="none">
                <a:solidFill>
                  <a:srgbClr val="000000"/>
                </a:solidFill>
                <a:effectLst/>
                <a:uFillTx/>
                <a:latin typeface="NotoSansJP"/>
                <a:ea typeface="NotoSansJP"/>
              </a:rPr>
              <a:t>y</a:t>
            </a:r>
            <a:r>
              <a:rPr b="0" lang="zh-CN" sz="1180" strike="noStrike" u="none">
                <a:solidFill>
                  <a:srgbClr val="000000"/>
                </a:solidFill>
                <a:effectLst/>
                <a:uFillTx/>
                <a:latin typeface="NotoSansJP"/>
                <a:ea typeface="NotoSansJP"/>
              </a:rPr>
              <a:t>座標</a:t>
            </a:r>
            <a:endParaRPr b="0" lang="en-US" sz="1180" strike="noStrike" u="none">
              <a:solidFill>
                <a:srgbClr val="000000"/>
              </a:solidFill>
              <a:effectLst/>
              <a:uFillTx/>
              <a:latin typeface="Times New Roman"/>
            </a:endParaRPr>
          </a:p>
        </p:txBody>
      </p:sp>
      <p:sp>
        <p:nvSpPr>
          <p:cNvPr id="193" name=""/>
          <p:cNvSpPr txBox="1"/>
          <p:nvPr/>
        </p:nvSpPr>
        <p:spPr>
          <a:xfrm>
            <a:off x="601560" y="4088880"/>
            <a:ext cx="154800" cy="175680"/>
          </a:xfrm>
          <a:prstGeom prst="rect">
            <a:avLst/>
          </a:prstGeom>
          <a:noFill/>
          <a:ln w="0">
            <a:noFill/>
          </a:ln>
        </p:spPr>
        <p:txBody>
          <a:bodyPr wrap="none" lIns="0" rIns="0" tIns="0" bIns="0" anchor="t">
            <a:spAutoFit/>
          </a:bodyPr>
          <a:p>
            <a:r>
              <a:rPr b="0" lang="en-US" sz="1180" strike="noStrike" u="none">
                <a:solidFill>
                  <a:srgbClr val="003366"/>
                </a:solidFill>
                <a:effectLst/>
                <a:uFillTx/>
                <a:latin typeface="NotoSansJP"/>
                <a:ea typeface="NotoSansJP"/>
              </a:rPr>
              <a:t>X:</a:t>
            </a:r>
            <a:endParaRPr b="0" lang="en-US" sz="1180" strike="noStrike" u="none">
              <a:solidFill>
                <a:srgbClr val="000000"/>
              </a:solidFill>
              <a:effectLst/>
              <a:uFillTx/>
              <a:latin typeface="Times New Roman"/>
            </a:endParaRPr>
          </a:p>
        </p:txBody>
      </p:sp>
      <p:sp>
        <p:nvSpPr>
          <p:cNvPr id="194" name=""/>
          <p:cNvSpPr/>
          <p:nvPr/>
        </p:nvSpPr>
        <p:spPr>
          <a:xfrm>
            <a:off x="5486040" y="923400"/>
            <a:ext cx="4788720" cy="2415240"/>
          </a:xfrm>
          <a:custGeom>
            <a:avLst/>
            <a:gdLst/>
            <a:ahLst/>
            <a:rect l="0" t="0" r="r" b="b"/>
            <a:pathLst>
              <a:path w="13302" h="6709">
                <a:moveTo>
                  <a:pt x="0" y="6489"/>
                </a:moveTo>
                <a:lnTo>
                  <a:pt x="0" y="220"/>
                </a:lnTo>
                <a:cubicBezTo>
                  <a:pt x="0" y="206"/>
                  <a:pt x="1" y="191"/>
                  <a:pt x="4" y="177"/>
                </a:cubicBezTo>
                <a:cubicBezTo>
                  <a:pt x="7" y="163"/>
                  <a:pt x="11" y="149"/>
                  <a:pt x="17" y="136"/>
                </a:cubicBezTo>
                <a:cubicBezTo>
                  <a:pt x="22" y="122"/>
                  <a:pt x="29" y="110"/>
                  <a:pt x="37" y="98"/>
                </a:cubicBezTo>
                <a:cubicBezTo>
                  <a:pt x="45" y="86"/>
                  <a:pt x="54" y="74"/>
                  <a:pt x="64" y="64"/>
                </a:cubicBezTo>
                <a:cubicBezTo>
                  <a:pt x="75" y="54"/>
                  <a:pt x="86" y="45"/>
                  <a:pt x="98" y="37"/>
                </a:cubicBezTo>
                <a:cubicBezTo>
                  <a:pt x="110" y="29"/>
                  <a:pt x="123" y="22"/>
                  <a:pt x="136" y="16"/>
                </a:cubicBezTo>
                <a:cubicBezTo>
                  <a:pt x="149" y="11"/>
                  <a:pt x="163" y="7"/>
                  <a:pt x="177" y="4"/>
                </a:cubicBezTo>
                <a:cubicBezTo>
                  <a:pt x="192" y="1"/>
                  <a:pt x="206" y="0"/>
                  <a:pt x="220" y="0"/>
                </a:cubicBezTo>
                <a:lnTo>
                  <a:pt x="13081" y="0"/>
                </a:lnTo>
                <a:cubicBezTo>
                  <a:pt x="13096" y="0"/>
                  <a:pt x="13110" y="1"/>
                  <a:pt x="13124" y="4"/>
                </a:cubicBezTo>
                <a:cubicBezTo>
                  <a:pt x="13139" y="7"/>
                  <a:pt x="13152" y="11"/>
                  <a:pt x="13166" y="16"/>
                </a:cubicBezTo>
                <a:cubicBezTo>
                  <a:pt x="13179" y="22"/>
                  <a:pt x="13192" y="29"/>
                  <a:pt x="13204" y="37"/>
                </a:cubicBezTo>
                <a:cubicBezTo>
                  <a:pt x="13216" y="45"/>
                  <a:pt x="13227" y="54"/>
                  <a:pt x="13237" y="64"/>
                </a:cubicBezTo>
                <a:cubicBezTo>
                  <a:pt x="13248" y="74"/>
                  <a:pt x="13257" y="86"/>
                  <a:pt x="13265" y="98"/>
                </a:cubicBezTo>
                <a:cubicBezTo>
                  <a:pt x="13273" y="110"/>
                  <a:pt x="13280" y="122"/>
                  <a:pt x="13285" y="136"/>
                </a:cubicBezTo>
                <a:cubicBezTo>
                  <a:pt x="13291" y="149"/>
                  <a:pt x="13295" y="163"/>
                  <a:pt x="13298" y="177"/>
                </a:cubicBezTo>
                <a:cubicBezTo>
                  <a:pt x="13301" y="191"/>
                  <a:pt x="13302" y="206"/>
                  <a:pt x="13302" y="220"/>
                </a:cubicBezTo>
                <a:lnTo>
                  <a:pt x="13302" y="6489"/>
                </a:lnTo>
                <a:cubicBezTo>
                  <a:pt x="13302" y="6503"/>
                  <a:pt x="13301" y="6517"/>
                  <a:pt x="13298" y="6532"/>
                </a:cubicBezTo>
                <a:cubicBezTo>
                  <a:pt x="13295" y="6546"/>
                  <a:pt x="13291" y="6560"/>
                  <a:pt x="13285" y="6573"/>
                </a:cubicBezTo>
                <a:cubicBezTo>
                  <a:pt x="13280" y="6586"/>
                  <a:pt x="13273" y="6599"/>
                  <a:pt x="13265" y="6611"/>
                </a:cubicBezTo>
                <a:cubicBezTo>
                  <a:pt x="13257" y="6623"/>
                  <a:pt x="13248" y="6634"/>
                  <a:pt x="13237" y="6645"/>
                </a:cubicBezTo>
                <a:cubicBezTo>
                  <a:pt x="13227" y="6655"/>
                  <a:pt x="13216" y="6664"/>
                  <a:pt x="13204" y="6672"/>
                </a:cubicBezTo>
                <a:cubicBezTo>
                  <a:pt x="13192" y="6680"/>
                  <a:pt x="13179" y="6687"/>
                  <a:pt x="13166" y="6692"/>
                </a:cubicBezTo>
                <a:cubicBezTo>
                  <a:pt x="13152" y="6698"/>
                  <a:pt x="13139" y="6702"/>
                  <a:pt x="13124" y="6705"/>
                </a:cubicBezTo>
                <a:cubicBezTo>
                  <a:pt x="13110" y="6708"/>
                  <a:pt x="13096" y="6709"/>
                  <a:pt x="13081" y="6709"/>
                </a:cubicBezTo>
                <a:lnTo>
                  <a:pt x="220" y="6709"/>
                </a:lnTo>
                <a:cubicBezTo>
                  <a:pt x="206" y="6709"/>
                  <a:pt x="192" y="6708"/>
                  <a:pt x="177" y="6705"/>
                </a:cubicBezTo>
                <a:cubicBezTo>
                  <a:pt x="163" y="6702"/>
                  <a:pt x="149" y="6698"/>
                  <a:pt x="136" y="6692"/>
                </a:cubicBezTo>
                <a:cubicBezTo>
                  <a:pt x="123" y="6687"/>
                  <a:pt x="110" y="6680"/>
                  <a:pt x="98" y="6672"/>
                </a:cubicBezTo>
                <a:cubicBezTo>
                  <a:pt x="86" y="6664"/>
                  <a:pt x="75" y="6655"/>
                  <a:pt x="64" y="6645"/>
                </a:cubicBezTo>
                <a:cubicBezTo>
                  <a:pt x="54" y="6634"/>
                  <a:pt x="45" y="6623"/>
                  <a:pt x="37" y="6611"/>
                </a:cubicBezTo>
                <a:cubicBezTo>
                  <a:pt x="29" y="6599"/>
                  <a:pt x="22" y="6586"/>
                  <a:pt x="17" y="6573"/>
                </a:cubicBezTo>
                <a:cubicBezTo>
                  <a:pt x="11" y="6560"/>
                  <a:pt x="7" y="6546"/>
                  <a:pt x="4" y="6532"/>
                </a:cubicBezTo>
                <a:cubicBezTo>
                  <a:pt x="1" y="6517"/>
                  <a:pt x="0" y="6503"/>
                  <a:pt x="0" y="6489"/>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95" name=""/>
          <p:cNvSpPr/>
          <p:nvPr/>
        </p:nvSpPr>
        <p:spPr>
          <a:xfrm>
            <a:off x="5486040" y="923400"/>
            <a:ext cx="4788720" cy="2415240"/>
          </a:xfrm>
          <a:custGeom>
            <a:avLst/>
            <a:gdLst/>
            <a:ahLst/>
            <a:rect l="0" t="0" r="r" b="b"/>
            <a:pathLst>
              <a:path fill="none" w="13302" h="6709">
                <a:moveTo>
                  <a:pt x="0" y="6489"/>
                </a:moveTo>
                <a:lnTo>
                  <a:pt x="0" y="220"/>
                </a:lnTo>
                <a:cubicBezTo>
                  <a:pt x="0" y="206"/>
                  <a:pt x="1" y="191"/>
                  <a:pt x="4" y="177"/>
                </a:cubicBezTo>
                <a:cubicBezTo>
                  <a:pt x="7" y="163"/>
                  <a:pt x="11" y="149"/>
                  <a:pt x="17" y="136"/>
                </a:cubicBezTo>
                <a:cubicBezTo>
                  <a:pt x="22" y="122"/>
                  <a:pt x="29" y="110"/>
                  <a:pt x="37" y="98"/>
                </a:cubicBezTo>
                <a:cubicBezTo>
                  <a:pt x="45" y="86"/>
                  <a:pt x="54" y="74"/>
                  <a:pt x="64" y="64"/>
                </a:cubicBezTo>
                <a:cubicBezTo>
                  <a:pt x="75" y="54"/>
                  <a:pt x="86" y="45"/>
                  <a:pt x="98" y="37"/>
                </a:cubicBezTo>
                <a:cubicBezTo>
                  <a:pt x="110" y="29"/>
                  <a:pt x="123" y="22"/>
                  <a:pt x="136" y="16"/>
                </a:cubicBezTo>
                <a:cubicBezTo>
                  <a:pt x="149" y="11"/>
                  <a:pt x="163" y="7"/>
                  <a:pt x="177" y="4"/>
                </a:cubicBezTo>
                <a:cubicBezTo>
                  <a:pt x="192" y="1"/>
                  <a:pt x="206" y="0"/>
                  <a:pt x="220" y="0"/>
                </a:cubicBezTo>
                <a:lnTo>
                  <a:pt x="13081" y="0"/>
                </a:lnTo>
                <a:cubicBezTo>
                  <a:pt x="13096" y="0"/>
                  <a:pt x="13110" y="1"/>
                  <a:pt x="13124" y="4"/>
                </a:cubicBezTo>
                <a:cubicBezTo>
                  <a:pt x="13139" y="7"/>
                  <a:pt x="13152" y="11"/>
                  <a:pt x="13166" y="16"/>
                </a:cubicBezTo>
                <a:cubicBezTo>
                  <a:pt x="13179" y="22"/>
                  <a:pt x="13192" y="29"/>
                  <a:pt x="13204" y="37"/>
                </a:cubicBezTo>
                <a:cubicBezTo>
                  <a:pt x="13216" y="45"/>
                  <a:pt x="13227" y="54"/>
                  <a:pt x="13237" y="64"/>
                </a:cubicBezTo>
                <a:cubicBezTo>
                  <a:pt x="13248" y="74"/>
                  <a:pt x="13257" y="86"/>
                  <a:pt x="13265" y="98"/>
                </a:cubicBezTo>
                <a:cubicBezTo>
                  <a:pt x="13273" y="110"/>
                  <a:pt x="13280" y="122"/>
                  <a:pt x="13285" y="136"/>
                </a:cubicBezTo>
                <a:cubicBezTo>
                  <a:pt x="13291" y="149"/>
                  <a:pt x="13295" y="163"/>
                  <a:pt x="13298" y="177"/>
                </a:cubicBezTo>
                <a:cubicBezTo>
                  <a:pt x="13301" y="191"/>
                  <a:pt x="13302" y="206"/>
                  <a:pt x="13302" y="220"/>
                </a:cubicBezTo>
                <a:lnTo>
                  <a:pt x="13302" y="6489"/>
                </a:lnTo>
                <a:cubicBezTo>
                  <a:pt x="13302" y="6503"/>
                  <a:pt x="13301" y="6517"/>
                  <a:pt x="13298" y="6532"/>
                </a:cubicBezTo>
                <a:cubicBezTo>
                  <a:pt x="13295" y="6546"/>
                  <a:pt x="13291" y="6560"/>
                  <a:pt x="13285" y="6573"/>
                </a:cubicBezTo>
                <a:cubicBezTo>
                  <a:pt x="13280" y="6586"/>
                  <a:pt x="13273" y="6599"/>
                  <a:pt x="13265" y="6611"/>
                </a:cubicBezTo>
                <a:cubicBezTo>
                  <a:pt x="13257" y="6623"/>
                  <a:pt x="13248" y="6634"/>
                  <a:pt x="13237" y="6645"/>
                </a:cubicBezTo>
                <a:cubicBezTo>
                  <a:pt x="13227" y="6655"/>
                  <a:pt x="13216" y="6664"/>
                  <a:pt x="13204" y="6672"/>
                </a:cubicBezTo>
                <a:cubicBezTo>
                  <a:pt x="13192" y="6680"/>
                  <a:pt x="13179" y="6687"/>
                  <a:pt x="13166" y="6692"/>
                </a:cubicBezTo>
                <a:cubicBezTo>
                  <a:pt x="13152" y="6698"/>
                  <a:pt x="13139" y="6702"/>
                  <a:pt x="13124" y="6705"/>
                </a:cubicBezTo>
                <a:cubicBezTo>
                  <a:pt x="13110" y="6708"/>
                  <a:pt x="13096" y="6709"/>
                  <a:pt x="13081" y="6709"/>
                </a:cubicBezTo>
                <a:lnTo>
                  <a:pt x="220" y="6709"/>
                </a:lnTo>
                <a:cubicBezTo>
                  <a:pt x="206" y="6709"/>
                  <a:pt x="192" y="6708"/>
                  <a:pt x="177" y="6705"/>
                </a:cubicBezTo>
                <a:cubicBezTo>
                  <a:pt x="163" y="6702"/>
                  <a:pt x="149" y="6698"/>
                  <a:pt x="136" y="6692"/>
                </a:cubicBezTo>
                <a:cubicBezTo>
                  <a:pt x="123" y="6687"/>
                  <a:pt x="110" y="6680"/>
                  <a:pt x="98" y="6672"/>
                </a:cubicBezTo>
                <a:cubicBezTo>
                  <a:pt x="86" y="6664"/>
                  <a:pt x="75" y="6655"/>
                  <a:pt x="64" y="6645"/>
                </a:cubicBezTo>
                <a:cubicBezTo>
                  <a:pt x="54" y="6634"/>
                  <a:pt x="45" y="6623"/>
                  <a:pt x="37" y="6611"/>
                </a:cubicBezTo>
                <a:cubicBezTo>
                  <a:pt x="29" y="6599"/>
                  <a:pt x="22" y="6586"/>
                  <a:pt x="17" y="6573"/>
                </a:cubicBezTo>
                <a:cubicBezTo>
                  <a:pt x="11" y="6560"/>
                  <a:pt x="7" y="6546"/>
                  <a:pt x="4" y="6532"/>
                </a:cubicBezTo>
                <a:cubicBezTo>
                  <a:pt x="1" y="6517"/>
                  <a:pt x="0" y="6503"/>
                  <a:pt x="0" y="6489"/>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196" name=""/>
          <p:cNvSpPr/>
          <p:nvPr/>
        </p:nvSpPr>
        <p:spPr>
          <a:xfrm>
            <a:off x="5481720" y="3476160"/>
            <a:ext cx="4797360" cy="2022840"/>
          </a:xfrm>
          <a:custGeom>
            <a:avLst/>
            <a:gdLst/>
            <a:ahLst/>
            <a:rect l="0" t="0" r="r" b="b"/>
            <a:pathLst>
              <a:path w="13326" h="5619">
                <a:moveTo>
                  <a:pt x="0" y="0"/>
                </a:moveTo>
                <a:lnTo>
                  <a:pt x="13326" y="0"/>
                </a:lnTo>
                <a:lnTo>
                  <a:pt x="13326" y="5619"/>
                </a:lnTo>
                <a:lnTo>
                  <a:pt x="0" y="5619"/>
                </a:lnTo>
                <a:lnTo>
                  <a:pt x="0" y="0"/>
                </a:lnTo>
                <a:close/>
              </a:path>
            </a:pathLst>
          </a:custGeom>
          <a:solidFill>
            <a:srgbClr val="fff8e6"/>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97" name=""/>
          <p:cNvSpPr/>
          <p:nvPr/>
        </p:nvSpPr>
        <p:spPr>
          <a:xfrm>
            <a:off x="5481720" y="3476160"/>
            <a:ext cx="33840" cy="2022840"/>
          </a:xfrm>
          <a:custGeom>
            <a:avLst/>
            <a:gdLst/>
            <a:ahLst/>
            <a:rect l="0" t="0" r="r" b="b"/>
            <a:pathLst>
              <a:path w="94" h="5619">
                <a:moveTo>
                  <a:pt x="0" y="0"/>
                </a:moveTo>
                <a:lnTo>
                  <a:pt x="94" y="0"/>
                </a:lnTo>
                <a:lnTo>
                  <a:pt x="94" y="5619"/>
                </a:lnTo>
                <a:lnTo>
                  <a:pt x="0" y="5619"/>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98" name=""/>
          <p:cNvSpPr txBox="1"/>
          <p:nvPr/>
        </p:nvSpPr>
        <p:spPr>
          <a:xfrm>
            <a:off x="819000" y="4088880"/>
            <a:ext cx="16603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スピーカからの観測距離</a:t>
            </a:r>
            <a:endParaRPr b="0" lang="en-US" sz="1180" strike="noStrike" u="none">
              <a:solidFill>
                <a:srgbClr val="000000"/>
              </a:solidFill>
              <a:effectLst/>
              <a:uFillTx/>
              <a:latin typeface="Times New Roman"/>
            </a:endParaRPr>
          </a:p>
        </p:txBody>
      </p:sp>
      <p:sp>
        <p:nvSpPr>
          <p:cNvPr id="199" name=""/>
          <p:cNvSpPr txBox="1"/>
          <p:nvPr/>
        </p:nvSpPr>
        <p:spPr>
          <a:xfrm>
            <a:off x="7083000" y="1081800"/>
            <a:ext cx="50364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指向角</a:t>
            </a:r>
            <a:endParaRPr b="0" lang="en-US" sz="1320" strike="noStrike" u="none">
              <a:solidFill>
                <a:srgbClr val="000000"/>
              </a:solidFill>
              <a:effectLst/>
              <a:uFillTx/>
              <a:latin typeface="Times New Roman"/>
            </a:endParaRPr>
          </a:p>
        </p:txBody>
      </p:sp>
      <p:sp>
        <p:nvSpPr>
          <p:cNvPr id="200" name=""/>
          <p:cNvSpPr txBox="1"/>
          <p:nvPr/>
        </p:nvSpPr>
        <p:spPr>
          <a:xfrm>
            <a:off x="7584480" y="1085400"/>
            <a:ext cx="166680" cy="187920"/>
          </a:xfrm>
          <a:prstGeom prst="rect">
            <a:avLst/>
          </a:prstGeom>
          <a:noFill/>
          <a:ln w="0">
            <a:noFill/>
          </a:ln>
        </p:spPr>
        <p:txBody>
          <a:bodyPr wrap="none" lIns="0" rIns="0" tIns="0" bIns="0" anchor="t">
            <a:spAutoFit/>
          </a:bodyPr>
          <a:p>
            <a:r>
              <a:rPr b="1" lang="en-US" sz="1320" strike="noStrike" u="none">
                <a:solidFill>
                  <a:srgbClr val="003366"/>
                </a:solidFill>
                <a:effectLst/>
                <a:uFillTx/>
                <a:latin typeface="Arial"/>
                <a:ea typeface="Arial"/>
              </a:rPr>
              <a:t>θ</a:t>
            </a:r>
            <a:endParaRPr b="0" lang="en-US" sz="1320" strike="noStrike" u="none">
              <a:solidFill>
                <a:srgbClr val="000000"/>
              </a:solidFill>
              <a:effectLst/>
              <a:uFillTx/>
              <a:latin typeface="Times New Roman"/>
            </a:endParaRPr>
          </a:p>
        </p:txBody>
      </p:sp>
      <p:pic>
        <p:nvPicPr>
          <p:cNvPr id="201" name="" descr=""/>
          <p:cNvPicPr/>
          <p:nvPr/>
        </p:nvPicPr>
        <p:blipFill>
          <a:blip r:embed="rId2"/>
          <a:stretch/>
        </p:blipFill>
        <p:spPr>
          <a:xfrm>
            <a:off x="5615640" y="1370520"/>
            <a:ext cx="4528800" cy="1829880"/>
          </a:xfrm>
          <a:prstGeom prst="rect">
            <a:avLst/>
          </a:prstGeom>
          <a:noFill/>
          <a:ln w="0">
            <a:noFill/>
          </a:ln>
        </p:spPr>
      </p:pic>
      <p:pic>
        <p:nvPicPr>
          <p:cNvPr id="202" name="" descr=""/>
          <p:cNvPicPr/>
          <p:nvPr/>
        </p:nvPicPr>
        <p:blipFill>
          <a:blip r:embed="rId3"/>
          <a:stretch/>
        </p:blipFill>
        <p:spPr>
          <a:xfrm>
            <a:off x="5640840" y="3618360"/>
            <a:ext cx="116640" cy="150120"/>
          </a:xfrm>
          <a:prstGeom prst="rect">
            <a:avLst/>
          </a:prstGeom>
          <a:noFill/>
          <a:ln w="0">
            <a:noFill/>
          </a:ln>
        </p:spPr>
      </p:pic>
      <p:sp>
        <p:nvSpPr>
          <p:cNvPr id="203" name=""/>
          <p:cNvSpPr txBox="1"/>
          <p:nvPr/>
        </p:nvSpPr>
        <p:spPr>
          <a:xfrm>
            <a:off x="7674840" y="1081800"/>
            <a:ext cx="100656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と変数の関係</a:t>
            </a:r>
            <a:endParaRPr b="0" lang="en-US" sz="1320" strike="noStrike" u="none">
              <a:solidFill>
                <a:srgbClr val="000000"/>
              </a:solidFill>
              <a:effectLst/>
              <a:uFillTx/>
              <a:latin typeface="Times New Roman"/>
            </a:endParaRPr>
          </a:p>
        </p:txBody>
      </p:sp>
      <p:sp>
        <p:nvSpPr>
          <p:cNvPr id="204" name=""/>
          <p:cNvSpPr/>
          <p:nvPr/>
        </p:nvSpPr>
        <p:spPr>
          <a:xfrm>
            <a:off x="5665680" y="3927600"/>
            <a:ext cx="58680" cy="58680"/>
          </a:xfrm>
          <a:custGeom>
            <a:avLst/>
            <a:gdLst/>
            <a:ahLst/>
            <a:rect l="0" t="0" r="r" b="b"/>
            <a:pathLst>
              <a:path w="163" h="163">
                <a:moveTo>
                  <a:pt x="163" y="82"/>
                </a:moveTo>
                <a:cubicBezTo>
                  <a:pt x="163" y="93"/>
                  <a:pt x="161" y="103"/>
                  <a:pt x="157" y="113"/>
                </a:cubicBezTo>
                <a:cubicBezTo>
                  <a:pt x="153" y="123"/>
                  <a:pt x="147" y="132"/>
                  <a:pt x="140" y="139"/>
                </a:cubicBezTo>
                <a:cubicBezTo>
                  <a:pt x="132" y="147"/>
                  <a:pt x="123" y="153"/>
                  <a:pt x="113" y="157"/>
                </a:cubicBezTo>
                <a:cubicBezTo>
                  <a:pt x="103" y="161"/>
                  <a:pt x="93" y="163"/>
                  <a:pt x="82" y="163"/>
                </a:cubicBezTo>
                <a:cubicBezTo>
                  <a:pt x="71" y="163"/>
                  <a:pt x="61" y="161"/>
                  <a:pt x="50" y="157"/>
                </a:cubicBezTo>
                <a:cubicBezTo>
                  <a:pt x="40" y="153"/>
                  <a:pt x="31" y="147"/>
                  <a:pt x="24" y="139"/>
                </a:cubicBezTo>
                <a:cubicBezTo>
                  <a:pt x="16" y="132"/>
                  <a:pt x="10" y="123"/>
                  <a:pt x="6" y="113"/>
                </a:cubicBezTo>
                <a:cubicBezTo>
                  <a:pt x="2" y="103"/>
                  <a:pt x="0" y="93"/>
                  <a:pt x="0" y="82"/>
                </a:cubicBezTo>
                <a:cubicBezTo>
                  <a:pt x="0" y="71"/>
                  <a:pt x="2" y="61"/>
                  <a:pt x="6" y="51"/>
                </a:cubicBezTo>
                <a:cubicBezTo>
                  <a:pt x="10" y="41"/>
                  <a:pt x="16" y="32"/>
                  <a:pt x="24" y="23"/>
                </a:cubicBezTo>
                <a:cubicBezTo>
                  <a:pt x="31" y="16"/>
                  <a:pt x="40" y="10"/>
                  <a:pt x="50" y="6"/>
                </a:cubicBezTo>
                <a:cubicBezTo>
                  <a:pt x="61" y="2"/>
                  <a:pt x="71" y="0"/>
                  <a:pt x="82" y="0"/>
                </a:cubicBezTo>
                <a:cubicBezTo>
                  <a:pt x="93" y="0"/>
                  <a:pt x="103" y="2"/>
                  <a:pt x="113" y="6"/>
                </a:cubicBezTo>
                <a:cubicBezTo>
                  <a:pt x="123" y="10"/>
                  <a:pt x="132" y="16"/>
                  <a:pt x="140" y="23"/>
                </a:cubicBezTo>
                <a:cubicBezTo>
                  <a:pt x="147" y="32"/>
                  <a:pt x="153" y="41"/>
                  <a:pt x="157" y="51"/>
                </a:cubicBezTo>
                <a:cubicBezTo>
                  <a:pt x="161" y="61"/>
                  <a:pt x="163" y="71"/>
                  <a:pt x="163" y="82"/>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05" name=""/>
          <p:cNvSpPr txBox="1"/>
          <p:nvPr/>
        </p:nvSpPr>
        <p:spPr>
          <a:xfrm>
            <a:off x="5824440" y="3612600"/>
            <a:ext cx="181116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指向性制御の実用ポイント</a:t>
            </a:r>
            <a:endParaRPr b="0" lang="en-US" sz="1180" strike="noStrike" u="none">
              <a:solidFill>
                <a:srgbClr val="000000"/>
              </a:solidFill>
              <a:effectLst/>
              <a:uFillTx/>
              <a:latin typeface="Times New Roman"/>
            </a:endParaRPr>
          </a:p>
        </p:txBody>
      </p:sp>
      <p:sp>
        <p:nvSpPr>
          <p:cNvPr id="206" name=""/>
          <p:cNvSpPr txBox="1"/>
          <p:nvPr/>
        </p:nvSpPr>
        <p:spPr>
          <a:xfrm>
            <a:off x="5841360" y="3880080"/>
            <a:ext cx="45360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音速</a:t>
            </a:r>
            <a:r>
              <a:rPr b="0" lang="en-US" sz="1180" strike="noStrike" u="none">
                <a:solidFill>
                  <a:srgbClr val="000000"/>
                </a:solidFill>
                <a:effectLst/>
                <a:uFillTx/>
                <a:latin typeface="NotoSansJP"/>
                <a:ea typeface="NotoSansJP"/>
              </a:rPr>
              <a:t>v</a:t>
            </a:r>
            <a:r>
              <a:rPr b="0" lang="zh-CN" sz="1180" strike="noStrike" u="none">
                <a:solidFill>
                  <a:srgbClr val="000000"/>
                </a:solidFill>
                <a:effectLst/>
                <a:uFillTx/>
                <a:latin typeface="NotoSansJP"/>
                <a:ea typeface="NotoSansJP"/>
              </a:rPr>
              <a:t>は一定値 </a:t>
            </a:r>
            <a:r>
              <a:rPr b="0" lang="en-US" sz="1180" strike="noStrike" u="none">
                <a:solidFill>
                  <a:srgbClr val="000000"/>
                </a:solidFill>
                <a:effectLst/>
                <a:uFillTx/>
                <a:latin typeface="NotoSansJP"/>
                <a:ea typeface="NotoSansJP"/>
              </a:rPr>
              <a:t>(340 m/s) </a:t>
            </a:r>
            <a:r>
              <a:rPr b="0" lang="zh-CN" sz="1180" strike="noStrike" u="none">
                <a:solidFill>
                  <a:srgbClr val="000000"/>
                </a:solidFill>
                <a:effectLst/>
                <a:uFillTx/>
                <a:latin typeface="NotoSansJP"/>
                <a:ea typeface="NotoSansJP"/>
              </a:rPr>
              <a:t>のため、主に</a:t>
            </a:r>
            <a:r>
              <a:rPr b="0" lang="zh-CN" sz="1180" strike="noStrike" u="none">
                <a:solidFill>
                  <a:srgbClr val="1d4ed8"/>
                </a:solidFill>
                <a:effectLst/>
                <a:uFillTx/>
                <a:latin typeface="NotoSansJP"/>
                <a:ea typeface="NotoSansJP"/>
              </a:rPr>
              <a:t>位相遅延時間</a:t>
            </a:r>
            <a:r>
              <a:rPr b="0" lang="en-US" sz="1180" strike="noStrike" u="none">
                <a:solidFill>
                  <a:srgbClr val="1d4ed8"/>
                </a:solidFill>
                <a:effectLst/>
                <a:uFillTx/>
                <a:latin typeface="NotoSansJP"/>
                <a:ea typeface="NotoSansJP"/>
              </a:rPr>
              <a:t>s</a:t>
            </a:r>
            <a:r>
              <a:rPr b="0" lang="zh-CN" sz="1180" strike="noStrike" u="none">
                <a:solidFill>
                  <a:srgbClr val="000000"/>
                </a:solidFill>
                <a:effectLst/>
                <a:uFillTx/>
                <a:latin typeface="NotoSansJP"/>
                <a:ea typeface="NotoSansJP"/>
              </a:rPr>
              <a:t>を調整す</a:t>
            </a:r>
            <a:endParaRPr b="0" lang="en-US" sz="1180" strike="noStrike" u="none">
              <a:solidFill>
                <a:srgbClr val="000000"/>
              </a:solidFill>
              <a:effectLst/>
              <a:uFillTx/>
              <a:latin typeface="Times New Roman"/>
            </a:endParaRPr>
          </a:p>
        </p:txBody>
      </p:sp>
      <p:sp>
        <p:nvSpPr>
          <p:cNvPr id="207" name=""/>
          <p:cNvSpPr txBox="1"/>
          <p:nvPr/>
        </p:nvSpPr>
        <p:spPr>
          <a:xfrm>
            <a:off x="5841360" y="4105440"/>
            <a:ext cx="10569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ることで指向角</a:t>
            </a:r>
            <a:endParaRPr b="0" lang="en-US" sz="1180" strike="noStrike" u="none">
              <a:solidFill>
                <a:srgbClr val="000000"/>
              </a:solidFill>
              <a:effectLst/>
              <a:uFillTx/>
              <a:latin typeface="Times New Roman"/>
            </a:endParaRPr>
          </a:p>
        </p:txBody>
      </p:sp>
      <p:sp>
        <p:nvSpPr>
          <p:cNvPr id="208" name=""/>
          <p:cNvSpPr txBox="1"/>
          <p:nvPr/>
        </p:nvSpPr>
        <p:spPr>
          <a:xfrm>
            <a:off x="6886080" y="4109040"/>
            <a:ext cx="150120" cy="169560"/>
          </a:xfrm>
          <a:prstGeom prst="rect">
            <a:avLst/>
          </a:prstGeom>
          <a:noFill/>
          <a:ln w="0">
            <a:noFill/>
          </a:ln>
        </p:spPr>
        <p:txBody>
          <a:bodyPr wrap="none" lIns="0" rIns="0" tIns="0" bIns="0" anchor="t">
            <a:spAutoFit/>
          </a:bodyPr>
          <a:p>
            <a:r>
              <a:rPr b="0" lang="en-US" sz="1180" strike="noStrike" u="none">
                <a:solidFill>
                  <a:srgbClr val="000000"/>
                </a:solidFill>
                <a:effectLst/>
                <a:uFillTx/>
                <a:latin typeface="Arial"/>
                <a:ea typeface="Arial"/>
              </a:rPr>
              <a:t>θ</a:t>
            </a:r>
            <a:endParaRPr b="0" lang="en-US" sz="1180" strike="noStrike" u="none">
              <a:solidFill>
                <a:srgbClr val="000000"/>
              </a:solidFill>
              <a:effectLst/>
              <a:uFillTx/>
              <a:latin typeface="Times New Roman"/>
            </a:endParaRPr>
          </a:p>
        </p:txBody>
      </p:sp>
      <p:sp>
        <p:nvSpPr>
          <p:cNvPr id="209" name=""/>
          <p:cNvSpPr/>
          <p:nvPr/>
        </p:nvSpPr>
        <p:spPr>
          <a:xfrm>
            <a:off x="5665680" y="4445640"/>
            <a:ext cx="58680" cy="58680"/>
          </a:xfrm>
          <a:custGeom>
            <a:avLst/>
            <a:gdLst/>
            <a:ahLst/>
            <a:rect l="0" t="0" r="r" b="b"/>
            <a:pathLst>
              <a:path w="163" h="163">
                <a:moveTo>
                  <a:pt x="163" y="82"/>
                </a:moveTo>
                <a:cubicBezTo>
                  <a:pt x="163" y="93"/>
                  <a:pt x="161" y="103"/>
                  <a:pt x="157" y="113"/>
                </a:cubicBezTo>
                <a:cubicBezTo>
                  <a:pt x="153" y="123"/>
                  <a:pt x="147" y="132"/>
                  <a:pt x="140" y="140"/>
                </a:cubicBezTo>
                <a:cubicBezTo>
                  <a:pt x="132" y="147"/>
                  <a:pt x="123" y="153"/>
                  <a:pt x="113" y="157"/>
                </a:cubicBezTo>
                <a:cubicBezTo>
                  <a:pt x="103" y="161"/>
                  <a:pt x="93" y="163"/>
                  <a:pt x="82" y="163"/>
                </a:cubicBezTo>
                <a:cubicBezTo>
                  <a:pt x="71" y="163"/>
                  <a:pt x="61" y="161"/>
                  <a:pt x="50" y="157"/>
                </a:cubicBezTo>
                <a:cubicBezTo>
                  <a:pt x="40" y="153"/>
                  <a:pt x="31" y="147"/>
                  <a:pt x="24" y="140"/>
                </a:cubicBezTo>
                <a:cubicBezTo>
                  <a:pt x="16" y="132"/>
                  <a:pt x="10" y="123"/>
                  <a:pt x="6" y="113"/>
                </a:cubicBezTo>
                <a:cubicBezTo>
                  <a:pt x="2" y="103"/>
                  <a:pt x="0" y="93"/>
                  <a:pt x="0" y="82"/>
                </a:cubicBezTo>
                <a:cubicBezTo>
                  <a:pt x="0" y="71"/>
                  <a:pt x="2" y="61"/>
                  <a:pt x="6" y="51"/>
                </a:cubicBezTo>
                <a:cubicBezTo>
                  <a:pt x="10" y="40"/>
                  <a:pt x="16" y="31"/>
                  <a:pt x="24" y="24"/>
                </a:cubicBezTo>
                <a:cubicBezTo>
                  <a:pt x="31" y="16"/>
                  <a:pt x="40" y="10"/>
                  <a:pt x="50" y="6"/>
                </a:cubicBezTo>
                <a:cubicBezTo>
                  <a:pt x="61" y="2"/>
                  <a:pt x="71" y="0"/>
                  <a:pt x="82" y="0"/>
                </a:cubicBezTo>
                <a:cubicBezTo>
                  <a:pt x="93" y="0"/>
                  <a:pt x="103" y="2"/>
                  <a:pt x="113" y="6"/>
                </a:cubicBezTo>
                <a:cubicBezTo>
                  <a:pt x="123" y="10"/>
                  <a:pt x="132" y="16"/>
                  <a:pt x="140" y="24"/>
                </a:cubicBezTo>
                <a:cubicBezTo>
                  <a:pt x="147" y="31"/>
                  <a:pt x="153" y="40"/>
                  <a:pt x="157" y="51"/>
                </a:cubicBezTo>
                <a:cubicBezTo>
                  <a:pt x="161" y="61"/>
                  <a:pt x="163" y="71"/>
                  <a:pt x="163" y="82"/>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0" name=""/>
          <p:cNvSpPr txBox="1"/>
          <p:nvPr/>
        </p:nvSpPr>
        <p:spPr>
          <a:xfrm>
            <a:off x="6969600" y="4105440"/>
            <a:ext cx="453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を制御</a:t>
            </a:r>
            <a:endParaRPr b="0" lang="en-US" sz="1180" strike="noStrike" u="none">
              <a:solidFill>
                <a:srgbClr val="000000"/>
              </a:solidFill>
              <a:effectLst/>
              <a:uFillTx/>
              <a:latin typeface="Times New Roman"/>
            </a:endParaRPr>
          </a:p>
        </p:txBody>
      </p:sp>
      <p:sp>
        <p:nvSpPr>
          <p:cNvPr id="211" name=""/>
          <p:cNvSpPr/>
          <p:nvPr/>
        </p:nvSpPr>
        <p:spPr>
          <a:xfrm>
            <a:off x="5665680" y="4737960"/>
            <a:ext cx="58680" cy="59040"/>
          </a:xfrm>
          <a:custGeom>
            <a:avLst/>
            <a:gdLst/>
            <a:ahLst/>
            <a:rect l="0" t="0" r="r" b="b"/>
            <a:pathLst>
              <a:path w="163" h="164">
                <a:moveTo>
                  <a:pt x="163" y="83"/>
                </a:moveTo>
                <a:cubicBezTo>
                  <a:pt x="163" y="93"/>
                  <a:pt x="161" y="104"/>
                  <a:pt x="157" y="114"/>
                </a:cubicBezTo>
                <a:cubicBezTo>
                  <a:pt x="153" y="124"/>
                  <a:pt x="147" y="132"/>
                  <a:pt x="140" y="140"/>
                </a:cubicBezTo>
                <a:cubicBezTo>
                  <a:pt x="132" y="148"/>
                  <a:pt x="123" y="153"/>
                  <a:pt x="113" y="158"/>
                </a:cubicBezTo>
                <a:cubicBezTo>
                  <a:pt x="103" y="162"/>
                  <a:pt x="93" y="164"/>
                  <a:pt x="82" y="164"/>
                </a:cubicBezTo>
                <a:cubicBezTo>
                  <a:pt x="71" y="164"/>
                  <a:pt x="61" y="162"/>
                  <a:pt x="50" y="158"/>
                </a:cubicBezTo>
                <a:cubicBezTo>
                  <a:pt x="40" y="153"/>
                  <a:pt x="31" y="148"/>
                  <a:pt x="24" y="140"/>
                </a:cubicBezTo>
                <a:cubicBezTo>
                  <a:pt x="16" y="132"/>
                  <a:pt x="10" y="124"/>
                  <a:pt x="6" y="114"/>
                </a:cubicBezTo>
                <a:cubicBezTo>
                  <a:pt x="2" y="104"/>
                  <a:pt x="0" y="93"/>
                  <a:pt x="0" y="83"/>
                </a:cubicBezTo>
                <a:cubicBezTo>
                  <a:pt x="0" y="72"/>
                  <a:pt x="2" y="61"/>
                  <a:pt x="6" y="51"/>
                </a:cubicBezTo>
                <a:cubicBezTo>
                  <a:pt x="10" y="41"/>
                  <a:pt x="16" y="32"/>
                  <a:pt x="24" y="24"/>
                </a:cubicBezTo>
                <a:cubicBezTo>
                  <a:pt x="31" y="16"/>
                  <a:pt x="40" y="11"/>
                  <a:pt x="50" y="6"/>
                </a:cubicBezTo>
                <a:cubicBezTo>
                  <a:pt x="61" y="2"/>
                  <a:pt x="71" y="0"/>
                  <a:pt x="82" y="0"/>
                </a:cubicBezTo>
                <a:cubicBezTo>
                  <a:pt x="93" y="0"/>
                  <a:pt x="103" y="2"/>
                  <a:pt x="113" y="6"/>
                </a:cubicBezTo>
                <a:cubicBezTo>
                  <a:pt x="123" y="11"/>
                  <a:pt x="132" y="16"/>
                  <a:pt x="140" y="24"/>
                </a:cubicBezTo>
                <a:cubicBezTo>
                  <a:pt x="147" y="32"/>
                  <a:pt x="153" y="41"/>
                  <a:pt x="157" y="51"/>
                </a:cubicBezTo>
                <a:cubicBezTo>
                  <a:pt x="161" y="61"/>
                  <a:pt x="163" y="72"/>
                  <a:pt x="163" y="83"/>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2" name=""/>
          <p:cNvSpPr txBox="1"/>
          <p:nvPr/>
        </p:nvSpPr>
        <p:spPr>
          <a:xfrm>
            <a:off x="5841360" y="4398120"/>
            <a:ext cx="34776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位相遅延時間</a:t>
            </a:r>
            <a:r>
              <a:rPr b="0" lang="en-US" sz="1180" strike="noStrike" u="none">
                <a:solidFill>
                  <a:srgbClr val="000000"/>
                </a:solidFill>
                <a:effectLst/>
                <a:uFillTx/>
                <a:latin typeface="NotoSansJP"/>
                <a:ea typeface="NotoSansJP"/>
              </a:rPr>
              <a:t>s</a:t>
            </a:r>
            <a:r>
              <a:rPr b="0" lang="zh-CN" sz="1180" strike="noStrike" u="none">
                <a:solidFill>
                  <a:srgbClr val="000000"/>
                </a:solidFill>
                <a:effectLst/>
                <a:uFillTx/>
                <a:latin typeface="NotoSansJP"/>
                <a:ea typeface="NotoSansJP"/>
              </a:rPr>
              <a:t>が正の値の場合、上方向に音が屈折</a:t>
            </a:r>
            <a:endParaRPr b="0" lang="en-US" sz="1180" strike="noStrike" u="none">
              <a:solidFill>
                <a:srgbClr val="000000"/>
              </a:solidFill>
              <a:effectLst/>
              <a:uFillTx/>
              <a:latin typeface="Times New Roman"/>
            </a:endParaRPr>
          </a:p>
        </p:txBody>
      </p:sp>
      <p:sp>
        <p:nvSpPr>
          <p:cNvPr id="213" name=""/>
          <p:cNvSpPr/>
          <p:nvPr/>
        </p:nvSpPr>
        <p:spPr>
          <a:xfrm>
            <a:off x="5665680" y="5030640"/>
            <a:ext cx="58680" cy="58680"/>
          </a:xfrm>
          <a:custGeom>
            <a:avLst/>
            <a:gdLst/>
            <a:ahLst/>
            <a:rect l="0" t="0" r="r" b="b"/>
            <a:pathLst>
              <a:path w="163" h="163">
                <a:moveTo>
                  <a:pt x="163" y="82"/>
                </a:moveTo>
                <a:cubicBezTo>
                  <a:pt x="163" y="93"/>
                  <a:pt x="161" y="103"/>
                  <a:pt x="157" y="113"/>
                </a:cubicBezTo>
                <a:cubicBezTo>
                  <a:pt x="153" y="123"/>
                  <a:pt x="147" y="132"/>
                  <a:pt x="140" y="139"/>
                </a:cubicBezTo>
                <a:cubicBezTo>
                  <a:pt x="132" y="147"/>
                  <a:pt x="123" y="153"/>
                  <a:pt x="113" y="157"/>
                </a:cubicBezTo>
                <a:cubicBezTo>
                  <a:pt x="103" y="161"/>
                  <a:pt x="93" y="163"/>
                  <a:pt x="82" y="163"/>
                </a:cubicBezTo>
                <a:cubicBezTo>
                  <a:pt x="71" y="163"/>
                  <a:pt x="61" y="161"/>
                  <a:pt x="50" y="157"/>
                </a:cubicBezTo>
                <a:cubicBezTo>
                  <a:pt x="40" y="153"/>
                  <a:pt x="31" y="147"/>
                  <a:pt x="24" y="139"/>
                </a:cubicBezTo>
                <a:cubicBezTo>
                  <a:pt x="16" y="132"/>
                  <a:pt x="10" y="123"/>
                  <a:pt x="6" y="113"/>
                </a:cubicBezTo>
                <a:cubicBezTo>
                  <a:pt x="2" y="103"/>
                  <a:pt x="0" y="93"/>
                  <a:pt x="0" y="82"/>
                </a:cubicBezTo>
                <a:cubicBezTo>
                  <a:pt x="0" y="71"/>
                  <a:pt x="2" y="61"/>
                  <a:pt x="6" y="51"/>
                </a:cubicBezTo>
                <a:cubicBezTo>
                  <a:pt x="10" y="41"/>
                  <a:pt x="16" y="31"/>
                  <a:pt x="24" y="24"/>
                </a:cubicBezTo>
                <a:cubicBezTo>
                  <a:pt x="31" y="16"/>
                  <a:pt x="40" y="10"/>
                  <a:pt x="50" y="6"/>
                </a:cubicBezTo>
                <a:cubicBezTo>
                  <a:pt x="61" y="2"/>
                  <a:pt x="71" y="0"/>
                  <a:pt x="82" y="0"/>
                </a:cubicBezTo>
                <a:cubicBezTo>
                  <a:pt x="93" y="0"/>
                  <a:pt x="103" y="2"/>
                  <a:pt x="113" y="6"/>
                </a:cubicBezTo>
                <a:cubicBezTo>
                  <a:pt x="123" y="10"/>
                  <a:pt x="132" y="16"/>
                  <a:pt x="140" y="24"/>
                </a:cubicBezTo>
                <a:cubicBezTo>
                  <a:pt x="147" y="31"/>
                  <a:pt x="153" y="41"/>
                  <a:pt x="157" y="51"/>
                </a:cubicBezTo>
                <a:cubicBezTo>
                  <a:pt x="161" y="61"/>
                  <a:pt x="163" y="71"/>
                  <a:pt x="163" y="82"/>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14" name=""/>
          <p:cNvSpPr txBox="1"/>
          <p:nvPr/>
        </p:nvSpPr>
        <p:spPr>
          <a:xfrm>
            <a:off x="5841360" y="4690440"/>
            <a:ext cx="34776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位相遅延時間</a:t>
            </a:r>
            <a:r>
              <a:rPr b="0" lang="en-US" sz="1180" strike="noStrike" u="none">
                <a:solidFill>
                  <a:srgbClr val="000000"/>
                </a:solidFill>
                <a:effectLst/>
                <a:uFillTx/>
                <a:latin typeface="NotoSansJP"/>
                <a:ea typeface="NotoSansJP"/>
              </a:rPr>
              <a:t>s</a:t>
            </a:r>
            <a:r>
              <a:rPr b="0" lang="zh-CN" sz="1180" strike="noStrike" u="none">
                <a:solidFill>
                  <a:srgbClr val="000000"/>
                </a:solidFill>
                <a:effectLst/>
                <a:uFillTx/>
                <a:latin typeface="NotoSansJP"/>
                <a:ea typeface="NotoSansJP"/>
              </a:rPr>
              <a:t>が負の値の場合、下方向に音が屈折</a:t>
            </a:r>
            <a:endParaRPr b="0" lang="en-US" sz="1180" strike="noStrike" u="none">
              <a:solidFill>
                <a:srgbClr val="000000"/>
              </a:solidFill>
              <a:effectLst/>
              <a:uFillTx/>
              <a:latin typeface="Times New Roman"/>
            </a:endParaRPr>
          </a:p>
        </p:txBody>
      </p:sp>
      <p:sp>
        <p:nvSpPr>
          <p:cNvPr id="215" name=""/>
          <p:cNvSpPr txBox="1"/>
          <p:nvPr/>
        </p:nvSpPr>
        <p:spPr>
          <a:xfrm>
            <a:off x="5841360" y="4983120"/>
            <a:ext cx="43995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音源間隔</a:t>
            </a:r>
            <a:r>
              <a:rPr b="0" lang="en-US" sz="1180" strike="noStrike" u="none">
                <a:solidFill>
                  <a:srgbClr val="000000"/>
                </a:solidFill>
                <a:effectLst/>
                <a:uFillTx/>
                <a:latin typeface="NotoSansJP"/>
                <a:ea typeface="NotoSansJP"/>
              </a:rPr>
              <a:t>d</a:t>
            </a:r>
            <a:r>
              <a:rPr b="0" lang="zh-CN" sz="1180" strike="noStrike" u="none">
                <a:solidFill>
                  <a:srgbClr val="000000"/>
                </a:solidFill>
                <a:effectLst/>
                <a:uFillTx/>
                <a:latin typeface="NotoSansJP"/>
                <a:ea typeface="NotoSansJP"/>
              </a:rPr>
              <a:t>を狭めるほど、同じ位相遅延時間でより大きな指向角</a:t>
            </a:r>
            <a:endParaRPr b="0" lang="en-US" sz="1180" strike="noStrike" u="none">
              <a:solidFill>
                <a:srgbClr val="000000"/>
              </a:solidFill>
              <a:effectLst/>
              <a:uFillTx/>
              <a:latin typeface="Times New Roman"/>
            </a:endParaRPr>
          </a:p>
        </p:txBody>
      </p:sp>
      <p:pic>
        <p:nvPicPr>
          <p:cNvPr id="216" name="" descr=""/>
          <p:cNvPicPr/>
          <p:nvPr/>
        </p:nvPicPr>
        <p:blipFill>
          <a:blip r:embed="rId4"/>
          <a:stretch/>
        </p:blipFill>
        <p:spPr>
          <a:xfrm>
            <a:off x="559800" y="5874840"/>
            <a:ext cx="166680" cy="166680"/>
          </a:xfrm>
          <a:prstGeom prst="rect">
            <a:avLst/>
          </a:prstGeom>
          <a:noFill/>
          <a:ln w="0">
            <a:noFill/>
          </a:ln>
        </p:spPr>
      </p:pic>
      <p:sp>
        <p:nvSpPr>
          <p:cNvPr id="217" name=""/>
          <p:cNvSpPr txBox="1"/>
          <p:nvPr/>
        </p:nvSpPr>
        <p:spPr>
          <a:xfrm>
            <a:off x="5841360" y="5208840"/>
            <a:ext cx="7552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を得られる</a:t>
            </a:r>
            <a:endParaRPr b="0" lang="en-US" sz="1180" strike="noStrike" u="none">
              <a:solidFill>
                <a:srgbClr val="000000"/>
              </a:solidFill>
              <a:effectLst/>
              <a:uFillTx/>
              <a:latin typeface="Times New Roman"/>
            </a:endParaRPr>
          </a:p>
        </p:txBody>
      </p:sp>
      <p:sp>
        <p:nvSpPr>
          <p:cNvPr id="218" name=""/>
          <p:cNvSpPr txBox="1"/>
          <p:nvPr/>
        </p:nvSpPr>
        <p:spPr>
          <a:xfrm>
            <a:off x="827280" y="5875920"/>
            <a:ext cx="805320" cy="194040"/>
          </a:xfrm>
          <a:prstGeom prst="rect">
            <a:avLst/>
          </a:prstGeom>
          <a:noFill/>
          <a:ln w="0">
            <a:noFill/>
          </a:ln>
        </p:spPr>
        <p:txBody>
          <a:bodyPr wrap="none" lIns="0" rIns="0" tIns="0" bIns="0" anchor="t">
            <a:spAutoFit/>
          </a:bodyPr>
          <a:p>
            <a:r>
              <a:rPr b="0" lang="zh-CN" sz="1050" strike="noStrike" u="none">
                <a:solidFill>
                  <a:srgbClr val="1e40af"/>
                </a:solidFill>
                <a:effectLst/>
                <a:uFillTx/>
                <a:latin typeface="NotoSansJP"/>
                <a:ea typeface="NotoSansJP"/>
              </a:rPr>
              <a:t>理論式の応用</a:t>
            </a:r>
            <a:endParaRPr b="0" lang="en-US" sz="1050" strike="noStrike" u="none">
              <a:solidFill>
                <a:srgbClr val="000000"/>
              </a:solidFill>
              <a:effectLst/>
              <a:uFillTx/>
              <a:latin typeface="Times New Roman"/>
            </a:endParaRPr>
          </a:p>
        </p:txBody>
      </p:sp>
      <p:sp>
        <p:nvSpPr>
          <p:cNvPr id="219" name=""/>
          <p:cNvSpPr txBox="1"/>
          <p:nvPr/>
        </p:nvSpPr>
        <p:spPr>
          <a:xfrm>
            <a:off x="827280" y="6119640"/>
            <a:ext cx="93618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この理論式により、位相遅延時間</a:t>
            </a:r>
            <a:r>
              <a:rPr b="0" lang="en-US" sz="1180" strike="noStrike" u="none">
                <a:solidFill>
                  <a:srgbClr val="000000"/>
                </a:solidFill>
                <a:effectLst/>
                <a:uFillTx/>
                <a:latin typeface="NotoSansJP"/>
                <a:ea typeface="NotoSansJP"/>
              </a:rPr>
              <a:t>s</a:t>
            </a:r>
            <a:r>
              <a:rPr b="0" lang="zh-CN" sz="1180" strike="noStrike" u="none">
                <a:solidFill>
                  <a:srgbClr val="000000"/>
                </a:solidFill>
                <a:effectLst/>
                <a:uFillTx/>
                <a:latin typeface="NotoSansJP"/>
                <a:ea typeface="NotoSansJP"/>
              </a:rPr>
              <a:t>を変更するだけで物理的な移動なしに音の指向先を自在に調整できる。これは従来の音響レンズでは物</a:t>
            </a:r>
            <a:endParaRPr b="0" lang="en-US" sz="1180" strike="noStrike" u="none">
              <a:solidFill>
                <a:srgbClr val="000000"/>
              </a:solidFill>
              <a:effectLst/>
              <a:uFillTx/>
              <a:latin typeface="Times New Roman"/>
            </a:endParaRPr>
          </a:p>
        </p:txBody>
      </p:sp>
      <p:sp>
        <p:nvSpPr>
          <p:cNvPr id="220" name=""/>
          <p:cNvSpPr txBox="1"/>
          <p:nvPr/>
        </p:nvSpPr>
        <p:spPr>
          <a:xfrm>
            <a:off x="827280" y="6353640"/>
            <a:ext cx="90532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理的な移動や交換が必要だった問題を解決し、ソフトウェア操作のみでオーディオスポットの位置を制御できる革新的な手法となる。</a:t>
            </a:r>
            <a:endParaRPr b="0" lang="en-US" sz="1180" strike="noStrike" u="none">
              <a:solidFill>
                <a:srgbClr val="000000"/>
              </a:solidFill>
              <a:effectLst/>
              <a:uFillTx/>
              <a:latin typeface="Times New Roman"/>
            </a:endParaRPr>
          </a:p>
        </p:txBody>
      </p:sp>
      <p:sp>
        <p:nvSpPr>
          <p:cNvPr id="221" name=""/>
          <p:cNvSpPr txBox="1"/>
          <p:nvPr/>
        </p:nvSpPr>
        <p:spPr>
          <a:xfrm>
            <a:off x="2262960" y="1132560"/>
            <a:ext cx="175320" cy="204480"/>
          </a:xfrm>
          <a:prstGeom prst="rect">
            <a:avLst/>
          </a:prstGeom>
          <a:noFill/>
          <a:ln w="0">
            <a:noFill/>
          </a:ln>
        </p:spPr>
        <p:txBody>
          <a:bodyPr wrap="none" lIns="0" rIns="0" tIns="0" bIns="0" anchor="t">
            <a:spAutoFit/>
          </a:bodyPr>
          <a:p>
            <a:r>
              <a:rPr b="0" lang="en-US" sz="1380" strike="noStrike" u="none">
                <a:solidFill>
                  <a:srgbClr val="000000"/>
                </a:solidFill>
                <a:effectLst/>
                <a:uFillTx/>
                <a:latin typeface="NotoSansJP"/>
                <a:ea typeface="NotoSansJP"/>
              </a:rPr>
              <a:t>-1</a:t>
            </a:r>
            <a:endParaRPr b="0" lang="en-US" sz="13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
          <p:cNvSpPr/>
          <p:nvPr/>
        </p:nvSpPr>
        <p:spPr>
          <a:xfrm>
            <a:off x="0" y="0"/>
            <a:ext cx="10696680" cy="6368040"/>
          </a:xfrm>
          <a:custGeom>
            <a:avLst/>
            <a:gdLst/>
            <a:ahLst/>
            <a:rect l="0" t="0" r="r" b="b"/>
            <a:pathLst>
              <a:path w="29713" h="17689">
                <a:moveTo>
                  <a:pt x="0" y="0"/>
                </a:moveTo>
                <a:lnTo>
                  <a:pt x="29713" y="0"/>
                </a:lnTo>
                <a:lnTo>
                  <a:pt x="29713" y="17689"/>
                </a:lnTo>
                <a:lnTo>
                  <a:pt x="0" y="17689"/>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23" name="" descr=""/>
          <p:cNvPicPr/>
          <p:nvPr/>
        </p:nvPicPr>
        <p:blipFill>
          <a:blip r:embed="rId1"/>
          <a:stretch/>
        </p:blipFill>
        <p:spPr>
          <a:xfrm>
            <a:off x="0" y="0"/>
            <a:ext cx="10696320" cy="668160"/>
          </a:xfrm>
          <a:prstGeom prst="rect">
            <a:avLst/>
          </a:prstGeom>
          <a:noFill/>
          <a:ln w="0">
            <a:noFill/>
          </a:ln>
        </p:spPr>
      </p:pic>
      <p:sp>
        <p:nvSpPr>
          <p:cNvPr id="224" name=""/>
          <p:cNvSpPr/>
          <p:nvPr/>
        </p:nvSpPr>
        <p:spPr>
          <a:xfrm>
            <a:off x="417600" y="2607120"/>
            <a:ext cx="4730400" cy="16920"/>
          </a:xfrm>
          <a:custGeom>
            <a:avLst/>
            <a:gdLst/>
            <a:ahLst/>
            <a:rect l="0" t="0" r="r" b="b"/>
            <a:pathLst>
              <a:path w="13140" h="47">
                <a:moveTo>
                  <a:pt x="0" y="0"/>
                </a:moveTo>
                <a:lnTo>
                  <a:pt x="13140" y="0"/>
                </a:lnTo>
                <a:lnTo>
                  <a:pt x="13140" y="47"/>
                </a:lnTo>
                <a:lnTo>
                  <a:pt x="0" y="47"/>
                </a:lnTo>
                <a:lnTo>
                  <a:pt x="0" y="0"/>
                </a:lnTo>
                <a:close/>
              </a:path>
            </a:pathLst>
          </a:custGeom>
          <a:solidFill>
            <a:srgbClr val="c0c0c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5" name=""/>
          <p:cNvSpPr/>
          <p:nvPr/>
        </p:nvSpPr>
        <p:spPr>
          <a:xfrm>
            <a:off x="417600" y="4178160"/>
            <a:ext cx="4730400" cy="16920"/>
          </a:xfrm>
          <a:custGeom>
            <a:avLst/>
            <a:gdLst/>
            <a:ahLst/>
            <a:rect l="0" t="0" r="r" b="b"/>
            <a:pathLst>
              <a:path w="13140" h="47">
                <a:moveTo>
                  <a:pt x="0" y="0"/>
                </a:moveTo>
                <a:lnTo>
                  <a:pt x="13140" y="0"/>
                </a:lnTo>
                <a:lnTo>
                  <a:pt x="13140" y="47"/>
                </a:lnTo>
                <a:lnTo>
                  <a:pt x="0" y="47"/>
                </a:lnTo>
                <a:lnTo>
                  <a:pt x="0" y="0"/>
                </a:lnTo>
                <a:close/>
              </a:path>
            </a:pathLst>
          </a:custGeom>
          <a:solidFill>
            <a:srgbClr val="c0c0c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26" name="" descr=""/>
          <p:cNvPicPr/>
          <p:nvPr/>
        </p:nvPicPr>
        <p:blipFill>
          <a:blip r:embed="rId2"/>
          <a:stretch/>
        </p:blipFill>
        <p:spPr>
          <a:xfrm>
            <a:off x="417960" y="969480"/>
            <a:ext cx="208440" cy="166680"/>
          </a:xfrm>
          <a:prstGeom prst="rect">
            <a:avLst/>
          </a:prstGeom>
          <a:noFill/>
          <a:ln w="0">
            <a:noFill/>
          </a:ln>
        </p:spPr>
      </p:pic>
      <p:sp>
        <p:nvSpPr>
          <p:cNvPr id="227" name=""/>
          <p:cNvSpPr txBox="1"/>
          <p:nvPr/>
        </p:nvSpPr>
        <p:spPr>
          <a:xfrm>
            <a:off x="334440" y="210240"/>
            <a:ext cx="326988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シミュレーション環境の構築</a:t>
            </a:r>
            <a:endParaRPr b="0" lang="en-US" sz="1979" strike="noStrike" u="none">
              <a:solidFill>
                <a:srgbClr val="000000"/>
              </a:solidFill>
              <a:effectLst/>
              <a:uFillTx/>
              <a:latin typeface="Times New Roman"/>
            </a:endParaRPr>
          </a:p>
        </p:txBody>
      </p:sp>
      <p:pic>
        <p:nvPicPr>
          <p:cNvPr id="228" name="" descr=""/>
          <p:cNvPicPr/>
          <p:nvPr/>
        </p:nvPicPr>
        <p:blipFill>
          <a:blip r:embed="rId3"/>
          <a:stretch/>
        </p:blipFill>
        <p:spPr>
          <a:xfrm>
            <a:off x="752040" y="1328760"/>
            <a:ext cx="138240" cy="158400"/>
          </a:xfrm>
          <a:prstGeom prst="rect">
            <a:avLst/>
          </a:prstGeom>
          <a:noFill/>
          <a:ln w="0">
            <a:noFill/>
          </a:ln>
        </p:spPr>
      </p:pic>
      <p:sp>
        <p:nvSpPr>
          <p:cNvPr id="229" name=""/>
          <p:cNvSpPr txBox="1"/>
          <p:nvPr/>
        </p:nvSpPr>
        <p:spPr>
          <a:xfrm>
            <a:off x="727200" y="950400"/>
            <a:ext cx="3636720" cy="291600"/>
          </a:xfrm>
          <a:prstGeom prst="rect">
            <a:avLst/>
          </a:prstGeom>
          <a:noFill/>
          <a:ln w="0">
            <a:noFill/>
          </a:ln>
        </p:spPr>
        <p:txBody>
          <a:bodyPr wrap="none" lIns="0" rIns="0" tIns="0" bIns="0" anchor="t">
            <a:spAutoFit/>
          </a:bodyPr>
          <a:p>
            <a:r>
              <a:rPr b="0" lang="en-US" sz="1580" strike="noStrike" u="none">
                <a:solidFill>
                  <a:srgbClr val="003366"/>
                </a:solidFill>
                <a:effectLst/>
                <a:uFillTx/>
                <a:latin typeface="NotoSansJP"/>
                <a:ea typeface="NotoSansJP"/>
              </a:rPr>
              <a:t>EASE focus 3 </a:t>
            </a:r>
            <a:r>
              <a:rPr b="0" lang="zh-CN" sz="1580" strike="noStrike" u="none">
                <a:solidFill>
                  <a:srgbClr val="003366"/>
                </a:solidFill>
                <a:effectLst/>
                <a:uFillTx/>
                <a:latin typeface="NotoSansJP"/>
                <a:ea typeface="NotoSansJP"/>
              </a:rPr>
              <a:t>シミュレーションソフト</a:t>
            </a:r>
            <a:endParaRPr b="0" lang="en-US" sz="1580" strike="noStrike" u="none">
              <a:solidFill>
                <a:srgbClr val="000000"/>
              </a:solidFill>
              <a:effectLst/>
              <a:uFillTx/>
              <a:latin typeface="Times New Roman"/>
            </a:endParaRPr>
          </a:p>
        </p:txBody>
      </p:sp>
      <p:sp>
        <p:nvSpPr>
          <p:cNvPr id="230" name=""/>
          <p:cNvSpPr txBox="1"/>
          <p:nvPr/>
        </p:nvSpPr>
        <p:spPr>
          <a:xfrm>
            <a:off x="1014480" y="1331640"/>
            <a:ext cx="412164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空間やスピーカなどの音源ユニットを配置し、音響効果を</a:t>
            </a:r>
            <a:endParaRPr b="0" lang="en-US" sz="1250" strike="noStrike" u="none">
              <a:solidFill>
                <a:srgbClr val="000000"/>
              </a:solidFill>
              <a:effectLst/>
              <a:uFillTx/>
              <a:latin typeface="Times New Roman"/>
            </a:endParaRPr>
          </a:p>
        </p:txBody>
      </p:sp>
      <p:pic>
        <p:nvPicPr>
          <p:cNvPr id="231" name="" descr=""/>
          <p:cNvPicPr/>
          <p:nvPr/>
        </p:nvPicPr>
        <p:blipFill>
          <a:blip r:embed="rId4"/>
          <a:stretch/>
        </p:blipFill>
        <p:spPr>
          <a:xfrm>
            <a:off x="752040" y="1922040"/>
            <a:ext cx="158400" cy="158400"/>
          </a:xfrm>
          <a:prstGeom prst="rect">
            <a:avLst/>
          </a:prstGeom>
          <a:noFill/>
          <a:ln w="0">
            <a:noFill/>
          </a:ln>
        </p:spPr>
      </p:pic>
      <p:sp>
        <p:nvSpPr>
          <p:cNvPr id="232" name=""/>
          <p:cNvSpPr txBox="1"/>
          <p:nvPr/>
        </p:nvSpPr>
        <p:spPr>
          <a:xfrm>
            <a:off x="1014480" y="1582560"/>
            <a:ext cx="31788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測定</a:t>
            </a:r>
            <a:endParaRPr b="0" lang="en-US" sz="1250" strike="noStrike" u="none">
              <a:solidFill>
                <a:srgbClr val="000000"/>
              </a:solidFill>
              <a:effectLst/>
              <a:uFillTx/>
              <a:latin typeface="Times New Roman"/>
            </a:endParaRPr>
          </a:p>
        </p:txBody>
      </p:sp>
      <p:pic>
        <p:nvPicPr>
          <p:cNvPr id="233" name="" descr=""/>
          <p:cNvPicPr/>
          <p:nvPr/>
        </p:nvPicPr>
        <p:blipFill>
          <a:blip r:embed="rId5"/>
          <a:stretch/>
        </p:blipFill>
        <p:spPr>
          <a:xfrm>
            <a:off x="752040" y="2256480"/>
            <a:ext cx="158400" cy="158400"/>
          </a:xfrm>
          <a:prstGeom prst="rect">
            <a:avLst/>
          </a:prstGeom>
          <a:noFill/>
          <a:ln w="0">
            <a:noFill/>
          </a:ln>
        </p:spPr>
      </p:pic>
      <p:sp>
        <p:nvSpPr>
          <p:cNvPr id="234" name=""/>
          <p:cNvSpPr txBox="1"/>
          <p:nvPr/>
        </p:nvSpPr>
        <p:spPr>
          <a:xfrm>
            <a:off x="1036080" y="1925280"/>
            <a:ext cx="332928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音源の発振周波数や初期条件を自由に設定可能</a:t>
            </a:r>
            <a:endParaRPr b="0" lang="en-US" sz="1250" strike="noStrike" u="none">
              <a:solidFill>
                <a:srgbClr val="000000"/>
              </a:solidFill>
              <a:effectLst/>
              <a:uFillTx/>
              <a:latin typeface="Times New Roman"/>
            </a:endParaRPr>
          </a:p>
        </p:txBody>
      </p:sp>
      <p:pic>
        <p:nvPicPr>
          <p:cNvPr id="235" name="" descr=""/>
          <p:cNvPicPr/>
          <p:nvPr/>
        </p:nvPicPr>
        <p:blipFill>
          <a:blip r:embed="rId6"/>
          <a:stretch/>
        </p:blipFill>
        <p:spPr>
          <a:xfrm>
            <a:off x="417960" y="2799360"/>
            <a:ext cx="208440" cy="166680"/>
          </a:xfrm>
          <a:prstGeom prst="rect">
            <a:avLst/>
          </a:prstGeom>
          <a:noFill/>
          <a:ln w="0">
            <a:noFill/>
          </a:ln>
        </p:spPr>
      </p:pic>
      <p:sp>
        <p:nvSpPr>
          <p:cNvPr id="236" name=""/>
          <p:cNvSpPr txBox="1"/>
          <p:nvPr/>
        </p:nvSpPr>
        <p:spPr>
          <a:xfrm>
            <a:off x="1036080" y="2259360"/>
            <a:ext cx="348768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点波源として全方位に均等に音が発散される特性</a:t>
            </a:r>
            <a:endParaRPr b="0" lang="en-US" sz="1250" strike="noStrike" u="none">
              <a:solidFill>
                <a:srgbClr val="000000"/>
              </a:solidFill>
              <a:effectLst/>
              <a:uFillTx/>
              <a:latin typeface="Times New Roman"/>
            </a:endParaRPr>
          </a:p>
        </p:txBody>
      </p:sp>
      <p:pic>
        <p:nvPicPr>
          <p:cNvPr id="237" name="" descr=""/>
          <p:cNvPicPr/>
          <p:nvPr/>
        </p:nvPicPr>
        <p:blipFill>
          <a:blip r:embed="rId7"/>
          <a:stretch/>
        </p:blipFill>
        <p:spPr>
          <a:xfrm>
            <a:off x="752040" y="3159000"/>
            <a:ext cx="158400" cy="158400"/>
          </a:xfrm>
          <a:prstGeom prst="rect">
            <a:avLst/>
          </a:prstGeom>
          <a:noFill/>
          <a:ln w="0">
            <a:noFill/>
          </a:ln>
        </p:spPr>
      </p:pic>
      <p:sp>
        <p:nvSpPr>
          <p:cNvPr id="238" name=""/>
          <p:cNvSpPr txBox="1"/>
          <p:nvPr/>
        </p:nvSpPr>
        <p:spPr>
          <a:xfrm>
            <a:off x="727200" y="2780640"/>
            <a:ext cx="120780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スピーカ配置</a:t>
            </a:r>
            <a:endParaRPr b="0" lang="en-US" sz="1580" strike="noStrike" u="none">
              <a:solidFill>
                <a:srgbClr val="000000"/>
              </a:solidFill>
              <a:effectLst/>
              <a:uFillTx/>
              <a:latin typeface="Times New Roman"/>
            </a:endParaRPr>
          </a:p>
        </p:txBody>
      </p:sp>
      <p:pic>
        <p:nvPicPr>
          <p:cNvPr id="239" name="" descr=""/>
          <p:cNvPicPr/>
          <p:nvPr/>
        </p:nvPicPr>
        <p:blipFill>
          <a:blip r:embed="rId8"/>
          <a:stretch/>
        </p:blipFill>
        <p:spPr>
          <a:xfrm>
            <a:off x="752040" y="3493080"/>
            <a:ext cx="158400" cy="158400"/>
          </a:xfrm>
          <a:prstGeom prst="rect">
            <a:avLst/>
          </a:prstGeom>
          <a:noFill/>
          <a:ln w="0">
            <a:noFill/>
          </a:ln>
        </p:spPr>
      </p:pic>
      <p:sp>
        <p:nvSpPr>
          <p:cNvPr id="240" name=""/>
          <p:cNvSpPr txBox="1"/>
          <p:nvPr/>
        </p:nvSpPr>
        <p:spPr>
          <a:xfrm>
            <a:off x="1036080" y="3161880"/>
            <a:ext cx="353808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原点を中心に</a:t>
            </a:r>
            <a:r>
              <a:rPr b="0" lang="en-US" sz="1250" strike="noStrike" u="none">
                <a:solidFill>
                  <a:srgbClr val="ff8c00"/>
                </a:solidFill>
                <a:effectLst/>
                <a:uFillTx/>
                <a:latin typeface="NotoSansJP"/>
                <a:ea typeface="NotoSansJP"/>
              </a:rPr>
              <a:t>9</a:t>
            </a:r>
            <a:r>
              <a:rPr b="0" lang="zh-CN" sz="1250" strike="noStrike" u="none">
                <a:solidFill>
                  <a:srgbClr val="ff8c00"/>
                </a:solidFill>
                <a:effectLst/>
                <a:uFillTx/>
                <a:latin typeface="NotoSansJP"/>
                <a:ea typeface="NotoSansJP"/>
              </a:rPr>
              <a:t>個のスピーカ</a:t>
            </a:r>
            <a:r>
              <a:rPr b="0" lang="zh-CN" sz="1250" strike="noStrike" u="none">
                <a:solidFill>
                  <a:srgbClr val="000000"/>
                </a:solidFill>
                <a:effectLst/>
                <a:uFillTx/>
                <a:latin typeface="NotoSansJP"/>
                <a:ea typeface="NotoSansJP"/>
              </a:rPr>
              <a:t>を</a:t>
            </a:r>
            <a:r>
              <a:rPr b="0" lang="en-US" sz="1250" strike="noStrike" u="none">
                <a:solidFill>
                  <a:srgbClr val="000000"/>
                </a:solidFill>
                <a:effectLst/>
                <a:uFillTx/>
                <a:latin typeface="NotoSansJP"/>
                <a:ea typeface="NotoSansJP"/>
              </a:rPr>
              <a:t>1</a:t>
            </a:r>
            <a:r>
              <a:rPr b="0" lang="zh-CN" sz="1250" strike="noStrike" u="none">
                <a:solidFill>
                  <a:srgbClr val="000000"/>
                </a:solidFill>
                <a:effectLst/>
                <a:uFillTx/>
                <a:latin typeface="NotoSansJP"/>
                <a:ea typeface="NotoSansJP"/>
              </a:rPr>
              <a:t>次元配列で配置</a:t>
            </a:r>
            <a:endParaRPr b="0" lang="en-US" sz="1250" strike="noStrike" u="none">
              <a:solidFill>
                <a:srgbClr val="000000"/>
              </a:solidFill>
              <a:effectLst/>
              <a:uFillTx/>
              <a:latin typeface="Times New Roman"/>
            </a:endParaRPr>
          </a:p>
        </p:txBody>
      </p:sp>
      <p:pic>
        <p:nvPicPr>
          <p:cNvPr id="241" name="" descr=""/>
          <p:cNvPicPr/>
          <p:nvPr/>
        </p:nvPicPr>
        <p:blipFill>
          <a:blip r:embed="rId9"/>
          <a:stretch/>
        </p:blipFill>
        <p:spPr>
          <a:xfrm>
            <a:off x="752040" y="3827520"/>
            <a:ext cx="158400" cy="158400"/>
          </a:xfrm>
          <a:prstGeom prst="rect">
            <a:avLst/>
          </a:prstGeom>
          <a:noFill/>
          <a:ln w="0">
            <a:noFill/>
          </a:ln>
        </p:spPr>
      </p:pic>
      <p:sp>
        <p:nvSpPr>
          <p:cNvPr id="242" name=""/>
          <p:cNvSpPr txBox="1"/>
          <p:nvPr/>
        </p:nvSpPr>
        <p:spPr>
          <a:xfrm>
            <a:off x="1036080" y="3496320"/>
            <a:ext cx="247284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使用部品</a:t>
            </a:r>
            <a:r>
              <a:rPr b="0" lang="en-US" sz="1250" strike="noStrike" u="none">
                <a:solidFill>
                  <a:srgbClr val="000000"/>
                </a:solidFill>
                <a:effectLst/>
                <a:uFillTx/>
                <a:latin typeface="NotoSansJP"/>
                <a:ea typeface="NotoSansJP"/>
              </a:rPr>
              <a:t>: </a:t>
            </a:r>
            <a:r>
              <a:rPr b="0" lang="en-US" sz="1250" strike="noStrike" u="none">
                <a:solidFill>
                  <a:srgbClr val="ff8c00"/>
                </a:solidFill>
                <a:effectLst/>
                <a:uFillTx/>
                <a:latin typeface="NotoSansJP"/>
                <a:ea typeface="NotoSansJP"/>
              </a:rPr>
              <a:t>AFMG 2-way Speaker</a:t>
            </a:r>
            <a:endParaRPr b="0" lang="en-US" sz="1250" strike="noStrike" u="none">
              <a:solidFill>
                <a:srgbClr val="000000"/>
              </a:solidFill>
              <a:effectLst/>
              <a:uFillTx/>
              <a:latin typeface="Times New Roman"/>
            </a:endParaRPr>
          </a:p>
        </p:txBody>
      </p:sp>
      <p:pic>
        <p:nvPicPr>
          <p:cNvPr id="243" name="" descr=""/>
          <p:cNvPicPr/>
          <p:nvPr/>
        </p:nvPicPr>
        <p:blipFill>
          <a:blip r:embed="rId10"/>
          <a:stretch/>
        </p:blipFill>
        <p:spPr>
          <a:xfrm>
            <a:off x="417960" y="4370400"/>
            <a:ext cx="166680" cy="166680"/>
          </a:xfrm>
          <a:prstGeom prst="rect">
            <a:avLst/>
          </a:prstGeom>
          <a:noFill/>
          <a:ln w="0">
            <a:noFill/>
          </a:ln>
        </p:spPr>
      </p:pic>
      <p:sp>
        <p:nvSpPr>
          <p:cNvPr id="244" name=""/>
          <p:cNvSpPr txBox="1"/>
          <p:nvPr/>
        </p:nvSpPr>
        <p:spPr>
          <a:xfrm>
            <a:off x="1036080" y="3830400"/>
            <a:ext cx="428004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等間隔に配置（</a:t>
            </a:r>
            <a:r>
              <a:rPr b="0" lang="en-US" sz="1250" strike="noStrike" u="none">
                <a:solidFill>
                  <a:srgbClr val="000000"/>
                </a:solidFill>
                <a:effectLst/>
                <a:uFillTx/>
                <a:latin typeface="NotoSansJP"/>
                <a:ea typeface="NotoSansJP"/>
              </a:rPr>
              <a:t>y=-20, -15, -10, -5, 0, 5, 10, 15, 20m</a:t>
            </a:r>
            <a:r>
              <a:rPr b="0" lang="zh-CN" sz="1250" strike="noStrike" u="none">
                <a:solidFill>
                  <a:srgbClr val="000000"/>
                </a:solidFill>
                <a:effectLst/>
                <a:uFillTx/>
                <a:latin typeface="NotoSansJP"/>
                <a:ea typeface="NotoSansJP"/>
              </a:rPr>
              <a:t>）</a:t>
            </a:r>
            <a:endParaRPr b="0" lang="en-US" sz="1250" strike="noStrike" u="none">
              <a:solidFill>
                <a:srgbClr val="000000"/>
              </a:solidFill>
              <a:effectLst/>
              <a:uFillTx/>
              <a:latin typeface="Times New Roman"/>
            </a:endParaRPr>
          </a:p>
        </p:txBody>
      </p:sp>
      <p:pic>
        <p:nvPicPr>
          <p:cNvPr id="245" name="" descr=""/>
          <p:cNvPicPr/>
          <p:nvPr/>
        </p:nvPicPr>
        <p:blipFill>
          <a:blip r:embed="rId11"/>
          <a:stretch/>
        </p:blipFill>
        <p:spPr>
          <a:xfrm>
            <a:off x="752040" y="4730040"/>
            <a:ext cx="158400" cy="158400"/>
          </a:xfrm>
          <a:prstGeom prst="rect">
            <a:avLst/>
          </a:prstGeom>
          <a:noFill/>
          <a:ln w="0">
            <a:noFill/>
          </a:ln>
        </p:spPr>
      </p:pic>
      <p:sp>
        <p:nvSpPr>
          <p:cNvPr id="246" name=""/>
          <p:cNvSpPr txBox="1"/>
          <p:nvPr/>
        </p:nvSpPr>
        <p:spPr>
          <a:xfrm>
            <a:off x="685080" y="4351680"/>
            <a:ext cx="8053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測定方法</a:t>
            </a:r>
            <a:endParaRPr b="0" lang="en-US" sz="1580" strike="noStrike" u="none">
              <a:solidFill>
                <a:srgbClr val="000000"/>
              </a:solidFill>
              <a:effectLst/>
              <a:uFillTx/>
              <a:latin typeface="Times New Roman"/>
            </a:endParaRPr>
          </a:p>
        </p:txBody>
      </p:sp>
      <p:pic>
        <p:nvPicPr>
          <p:cNvPr id="247" name="" descr=""/>
          <p:cNvPicPr/>
          <p:nvPr/>
        </p:nvPicPr>
        <p:blipFill>
          <a:blip r:embed="rId12"/>
          <a:stretch/>
        </p:blipFill>
        <p:spPr>
          <a:xfrm>
            <a:off x="752040" y="5064120"/>
            <a:ext cx="158400" cy="158400"/>
          </a:xfrm>
          <a:prstGeom prst="rect">
            <a:avLst/>
          </a:prstGeom>
          <a:noFill/>
          <a:ln w="0">
            <a:noFill/>
          </a:ln>
        </p:spPr>
      </p:pic>
      <p:sp>
        <p:nvSpPr>
          <p:cNvPr id="248" name=""/>
          <p:cNvSpPr txBox="1"/>
          <p:nvPr/>
        </p:nvSpPr>
        <p:spPr>
          <a:xfrm>
            <a:off x="1036080" y="4732920"/>
            <a:ext cx="355176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レシーバをスピーカから</a:t>
            </a:r>
            <a:r>
              <a:rPr b="0" lang="en-US" sz="1250" strike="noStrike" u="none">
                <a:solidFill>
                  <a:srgbClr val="ff8c00"/>
                </a:solidFill>
                <a:effectLst/>
                <a:uFillTx/>
                <a:latin typeface="NotoSansJP"/>
                <a:ea typeface="NotoSansJP"/>
              </a:rPr>
              <a:t>200m</a:t>
            </a:r>
            <a:r>
              <a:rPr b="0" lang="zh-CN" sz="1250" strike="noStrike" u="none">
                <a:solidFill>
                  <a:srgbClr val="ff8c00"/>
                </a:solidFill>
                <a:effectLst/>
                <a:uFillTx/>
                <a:latin typeface="NotoSansJP"/>
                <a:ea typeface="NotoSansJP"/>
              </a:rPr>
              <a:t>離れた位置</a:t>
            </a:r>
            <a:r>
              <a:rPr b="0" lang="zh-CN" sz="1250" strike="noStrike" u="none">
                <a:solidFill>
                  <a:srgbClr val="000000"/>
                </a:solidFill>
                <a:effectLst/>
                <a:uFillTx/>
                <a:latin typeface="NotoSansJP"/>
                <a:ea typeface="NotoSansJP"/>
              </a:rPr>
              <a:t>に設置</a:t>
            </a:r>
            <a:endParaRPr b="0" lang="en-US" sz="1250" strike="noStrike" u="none">
              <a:solidFill>
                <a:srgbClr val="000000"/>
              </a:solidFill>
              <a:effectLst/>
              <a:uFillTx/>
              <a:latin typeface="Times New Roman"/>
            </a:endParaRPr>
          </a:p>
        </p:txBody>
      </p:sp>
      <p:pic>
        <p:nvPicPr>
          <p:cNvPr id="249" name="" descr=""/>
          <p:cNvPicPr/>
          <p:nvPr/>
        </p:nvPicPr>
        <p:blipFill>
          <a:blip r:embed="rId13"/>
          <a:stretch/>
        </p:blipFill>
        <p:spPr>
          <a:xfrm>
            <a:off x="752040" y="5406840"/>
            <a:ext cx="158400" cy="158400"/>
          </a:xfrm>
          <a:prstGeom prst="rect">
            <a:avLst/>
          </a:prstGeom>
          <a:noFill/>
          <a:ln w="0">
            <a:noFill/>
          </a:ln>
        </p:spPr>
      </p:pic>
      <p:sp>
        <p:nvSpPr>
          <p:cNvPr id="250" name=""/>
          <p:cNvSpPr txBox="1"/>
          <p:nvPr/>
        </p:nvSpPr>
        <p:spPr>
          <a:xfrm>
            <a:off x="1036080" y="5067360"/>
            <a:ext cx="396324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レシーバから得られる利得グラフからピーク位置を特定</a:t>
            </a:r>
            <a:endParaRPr b="0" lang="en-US" sz="1250" strike="noStrike" u="none">
              <a:solidFill>
                <a:srgbClr val="000000"/>
              </a:solidFill>
              <a:effectLst/>
              <a:uFillTx/>
              <a:latin typeface="Times New Roman"/>
            </a:endParaRPr>
          </a:p>
        </p:txBody>
      </p:sp>
      <p:sp>
        <p:nvSpPr>
          <p:cNvPr id="251" name=""/>
          <p:cNvSpPr txBox="1"/>
          <p:nvPr/>
        </p:nvSpPr>
        <p:spPr>
          <a:xfrm>
            <a:off x="1036080" y="5409720"/>
            <a:ext cx="634680" cy="230400"/>
          </a:xfrm>
          <a:prstGeom prst="rect">
            <a:avLst/>
          </a:prstGeom>
          <a:noFill/>
          <a:ln w="0">
            <a:noFill/>
          </a:ln>
        </p:spPr>
        <p:txBody>
          <a:bodyPr wrap="none" lIns="0" rIns="0" tIns="0" bIns="0" anchor="t">
            <a:spAutoFit/>
          </a:bodyPr>
          <a:p>
            <a:r>
              <a:rPr b="0" lang="zh-CN" sz="1250" strike="noStrike" u="none">
                <a:solidFill>
                  <a:srgbClr val="000000"/>
                </a:solidFill>
                <a:effectLst/>
                <a:uFillTx/>
                <a:latin typeface="NotoSansJP"/>
                <a:ea typeface="NotoSansJP"/>
              </a:rPr>
              <a:t>指向角度</a:t>
            </a:r>
            <a:endParaRPr b="0" lang="en-US" sz="1250" strike="noStrike" u="none">
              <a:solidFill>
                <a:srgbClr val="000000"/>
              </a:solidFill>
              <a:effectLst/>
              <a:uFillTx/>
              <a:latin typeface="Times New Roman"/>
            </a:endParaRPr>
          </a:p>
        </p:txBody>
      </p:sp>
      <p:sp>
        <p:nvSpPr>
          <p:cNvPr id="252" name=""/>
          <p:cNvSpPr txBox="1"/>
          <p:nvPr/>
        </p:nvSpPr>
        <p:spPr>
          <a:xfrm>
            <a:off x="1671480" y="5413680"/>
            <a:ext cx="158400" cy="177120"/>
          </a:xfrm>
          <a:prstGeom prst="rect">
            <a:avLst/>
          </a:prstGeom>
          <a:noFill/>
          <a:ln w="0">
            <a:noFill/>
          </a:ln>
        </p:spPr>
        <p:txBody>
          <a:bodyPr wrap="none" lIns="0" rIns="0" tIns="0" bIns="0" anchor="t">
            <a:spAutoFit/>
          </a:bodyPr>
          <a:p>
            <a:r>
              <a:rPr b="0" lang="en-US" sz="1250" strike="noStrike" u="none">
                <a:solidFill>
                  <a:srgbClr val="000000"/>
                </a:solidFill>
                <a:effectLst/>
                <a:uFillTx/>
                <a:latin typeface="Arial"/>
                <a:ea typeface="Arial"/>
              </a:rPr>
              <a:t>θ</a:t>
            </a:r>
            <a:endParaRPr b="0" lang="en-US" sz="1250" strike="noStrike" u="none">
              <a:solidFill>
                <a:srgbClr val="000000"/>
              </a:solidFill>
              <a:effectLst/>
              <a:uFillTx/>
              <a:latin typeface="Times New Roman"/>
            </a:endParaRPr>
          </a:p>
        </p:txBody>
      </p:sp>
      <p:sp>
        <p:nvSpPr>
          <p:cNvPr id="253" name=""/>
          <p:cNvSpPr txBox="1"/>
          <p:nvPr/>
        </p:nvSpPr>
        <p:spPr>
          <a:xfrm>
            <a:off x="1759680" y="5409720"/>
            <a:ext cx="703080" cy="186480"/>
          </a:xfrm>
          <a:prstGeom prst="rect">
            <a:avLst/>
          </a:prstGeom>
          <a:noFill/>
          <a:ln w="0">
            <a:noFill/>
          </a:ln>
        </p:spPr>
        <p:txBody>
          <a:bodyPr wrap="none" lIns="0" rIns="0" tIns="0" bIns="0" anchor="t">
            <a:spAutoFit/>
          </a:bodyPr>
          <a:p>
            <a:r>
              <a:rPr b="0" lang="en-US" sz="1250" strike="noStrike" u="none">
                <a:solidFill>
                  <a:srgbClr val="000000"/>
                </a:solidFill>
                <a:effectLst/>
                <a:uFillTx/>
                <a:latin typeface="NotoSansJP"/>
                <a:ea typeface="NotoSansJP"/>
              </a:rPr>
              <a:t> = tan (Y</a:t>
            </a:r>
            <a:endParaRPr b="0" lang="en-US" sz="1250" strike="noStrike" u="none">
              <a:solidFill>
                <a:srgbClr val="000000"/>
              </a:solidFill>
              <a:effectLst/>
              <a:uFillTx/>
              <a:latin typeface="Times New Roman"/>
            </a:endParaRPr>
          </a:p>
        </p:txBody>
      </p:sp>
      <p:sp>
        <p:nvSpPr>
          <p:cNvPr id="254" name=""/>
          <p:cNvSpPr/>
          <p:nvPr/>
        </p:nvSpPr>
        <p:spPr>
          <a:xfrm>
            <a:off x="5565240" y="4211640"/>
            <a:ext cx="4713840" cy="1270440"/>
          </a:xfrm>
          <a:custGeom>
            <a:avLst/>
            <a:gdLst/>
            <a:ahLst/>
            <a:rect l="0" t="0" r="r" b="b"/>
            <a:pathLst>
              <a:path w="13094" h="3529">
                <a:moveTo>
                  <a:pt x="0" y="3529"/>
                </a:moveTo>
                <a:lnTo>
                  <a:pt x="0" y="0"/>
                </a:lnTo>
                <a:lnTo>
                  <a:pt x="12977" y="0"/>
                </a:lnTo>
                <a:cubicBezTo>
                  <a:pt x="12993" y="0"/>
                  <a:pt x="13008" y="3"/>
                  <a:pt x="13022" y="9"/>
                </a:cubicBezTo>
                <a:cubicBezTo>
                  <a:pt x="13036" y="15"/>
                  <a:pt x="13049" y="23"/>
                  <a:pt x="13060" y="34"/>
                </a:cubicBezTo>
                <a:cubicBezTo>
                  <a:pt x="13070" y="45"/>
                  <a:pt x="13079" y="57"/>
                  <a:pt x="13085" y="72"/>
                </a:cubicBezTo>
                <a:cubicBezTo>
                  <a:pt x="13091" y="86"/>
                  <a:pt x="13094" y="101"/>
                  <a:pt x="13094" y="116"/>
                </a:cubicBezTo>
                <a:lnTo>
                  <a:pt x="13094" y="3413"/>
                </a:lnTo>
                <a:cubicBezTo>
                  <a:pt x="13094" y="3429"/>
                  <a:pt x="13091" y="3443"/>
                  <a:pt x="13085" y="3458"/>
                </a:cubicBezTo>
                <a:cubicBezTo>
                  <a:pt x="13079" y="3472"/>
                  <a:pt x="13070" y="3484"/>
                  <a:pt x="13060" y="3495"/>
                </a:cubicBezTo>
                <a:cubicBezTo>
                  <a:pt x="13049" y="3506"/>
                  <a:pt x="13036" y="3515"/>
                  <a:pt x="13022" y="3520"/>
                </a:cubicBezTo>
                <a:cubicBezTo>
                  <a:pt x="13008" y="3526"/>
                  <a:pt x="12993" y="3529"/>
                  <a:pt x="12977" y="3529"/>
                </a:cubicBezTo>
                <a:lnTo>
                  <a:pt x="0" y="3529"/>
                </a:lnTo>
                <a:close/>
              </a:path>
            </a:pathLst>
          </a:custGeom>
          <a:solidFill>
            <a:srgbClr val="e6f0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5" name=""/>
          <p:cNvSpPr/>
          <p:nvPr/>
        </p:nvSpPr>
        <p:spPr>
          <a:xfrm>
            <a:off x="5548680" y="4211640"/>
            <a:ext cx="33840" cy="1270440"/>
          </a:xfrm>
          <a:custGeom>
            <a:avLst/>
            <a:gdLst/>
            <a:ahLst/>
            <a:rect l="0" t="0" r="r" b="b"/>
            <a:pathLst>
              <a:path w="94" h="3529">
                <a:moveTo>
                  <a:pt x="0" y="0"/>
                </a:moveTo>
                <a:lnTo>
                  <a:pt x="94" y="0"/>
                </a:lnTo>
                <a:lnTo>
                  <a:pt x="94" y="3529"/>
                </a:lnTo>
                <a:lnTo>
                  <a:pt x="0" y="3529"/>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256" name=""/>
          <p:cNvSpPr txBox="1"/>
          <p:nvPr/>
        </p:nvSpPr>
        <p:spPr>
          <a:xfrm>
            <a:off x="2679120" y="5409720"/>
            <a:ext cx="418320" cy="186480"/>
          </a:xfrm>
          <a:prstGeom prst="rect">
            <a:avLst/>
          </a:prstGeom>
          <a:noFill/>
          <a:ln w="0">
            <a:noFill/>
          </a:ln>
        </p:spPr>
        <p:txBody>
          <a:bodyPr wrap="none" lIns="0" rIns="0" tIns="0" bIns="0" anchor="t">
            <a:spAutoFit/>
          </a:bodyPr>
          <a:p>
            <a:r>
              <a:rPr b="0" lang="en-US" sz="1250" strike="noStrike" u="none">
                <a:solidFill>
                  <a:srgbClr val="000000"/>
                </a:solidFill>
                <a:effectLst/>
                <a:uFillTx/>
                <a:latin typeface="NotoSansJP"/>
                <a:ea typeface="NotoSansJP"/>
              </a:rPr>
              <a:t>/200)</a:t>
            </a:r>
            <a:endParaRPr b="0" lang="en-US" sz="1250" strike="noStrike" u="none">
              <a:solidFill>
                <a:srgbClr val="000000"/>
              </a:solidFill>
              <a:effectLst/>
              <a:uFillTx/>
              <a:latin typeface="Times New Roman"/>
            </a:endParaRPr>
          </a:p>
        </p:txBody>
      </p:sp>
      <p:pic>
        <p:nvPicPr>
          <p:cNvPr id="257" name="" descr=""/>
          <p:cNvPicPr/>
          <p:nvPr/>
        </p:nvPicPr>
        <p:blipFill>
          <a:blip r:embed="rId14"/>
          <a:stretch/>
        </p:blipFill>
        <p:spPr>
          <a:xfrm>
            <a:off x="5707800" y="4571280"/>
            <a:ext cx="133200" cy="133200"/>
          </a:xfrm>
          <a:prstGeom prst="rect">
            <a:avLst/>
          </a:prstGeom>
          <a:noFill/>
          <a:ln w="0">
            <a:noFill/>
          </a:ln>
        </p:spPr>
      </p:pic>
      <p:sp>
        <p:nvSpPr>
          <p:cNvPr id="258" name=""/>
          <p:cNvSpPr txBox="1"/>
          <p:nvPr/>
        </p:nvSpPr>
        <p:spPr>
          <a:xfrm>
            <a:off x="5707800" y="4330080"/>
            <a:ext cx="120780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パラメータ設定項目</a:t>
            </a:r>
            <a:endParaRPr b="0" lang="en-US" sz="1050" strike="noStrike" u="none">
              <a:solidFill>
                <a:srgbClr val="000000"/>
              </a:solidFill>
              <a:effectLst/>
              <a:uFillTx/>
              <a:latin typeface="Times New Roman"/>
            </a:endParaRPr>
          </a:p>
        </p:txBody>
      </p:sp>
      <p:pic>
        <p:nvPicPr>
          <p:cNvPr id="259" name="" descr=""/>
          <p:cNvPicPr/>
          <p:nvPr/>
        </p:nvPicPr>
        <p:blipFill>
          <a:blip r:embed="rId15"/>
          <a:stretch/>
        </p:blipFill>
        <p:spPr>
          <a:xfrm>
            <a:off x="7963920" y="4571280"/>
            <a:ext cx="133200" cy="133200"/>
          </a:xfrm>
          <a:prstGeom prst="rect">
            <a:avLst/>
          </a:prstGeom>
          <a:noFill/>
          <a:ln w="0">
            <a:noFill/>
          </a:ln>
        </p:spPr>
      </p:pic>
      <p:sp>
        <p:nvSpPr>
          <p:cNvPr id="260" name=""/>
          <p:cNvSpPr txBox="1"/>
          <p:nvPr/>
        </p:nvSpPr>
        <p:spPr>
          <a:xfrm>
            <a:off x="5924880" y="4572360"/>
            <a:ext cx="111024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位置座標 </a:t>
            </a:r>
            <a:r>
              <a:rPr b="0" lang="en-US" sz="1050" strike="noStrike" u="none">
                <a:solidFill>
                  <a:srgbClr val="000000"/>
                </a:solidFill>
                <a:effectLst/>
                <a:uFillTx/>
                <a:latin typeface="NotoSansJP"/>
                <a:ea typeface="NotoSansJP"/>
              </a:rPr>
              <a:t>(x, y, z)</a:t>
            </a:r>
            <a:endParaRPr b="0" lang="en-US" sz="1050" strike="noStrike" u="none">
              <a:solidFill>
                <a:srgbClr val="000000"/>
              </a:solidFill>
              <a:effectLst/>
              <a:uFillTx/>
              <a:latin typeface="Times New Roman"/>
            </a:endParaRPr>
          </a:p>
        </p:txBody>
      </p:sp>
      <p:pic>
        <p:nvPicPr>
          <p:cNvPr id="261" name="" descr=""/>
          <p:cNvPicPr/>
          <p:nvPr/>
        </p:nvPicPr>
        <p:blipFill>
          <a:blip r:embed="rId16"/>
          <a:stretch/>
        </p:blipFill>
        <p:spPr>
          <a:xfrm>
            <a:off x="5707800" y="4880160"/>
            <a:ext cx="166680" cy="133200"/>
          </a:xfrm>
          <a:prstGeom prst="rect">
            <a:avLst/>
          </a:prstGeom>
          <a:noFill/>
          <a:ln w="0">
            <a:noFill/>
          </a:ln>
        </p:spPr>
      </p:pic>
      <p:sp>
        <p:nvSpPr>
          <p:cNvPr id="262" name=""/>
          <p:cNvSpPr txBox="1"/>
          <p:nvPr/>
        </p:nvSpPr>
        <p:spPr>
          <a:xfrm>
            <a:off x="8181360" y="4572360"/>
            <a:ext cx="4032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回転角</a:t>
            </a:r>
            <a:endParaRPr b="0" lang="en-US" sz="1050" strike="noStrike" u="none">
              <a:solidFill>
                <a:srgbClr val="000000"/>
              </a:solidFill>
              <a:effectLst/>
              <a:uFillTx/>
              <a:latin typeface="Times New Roman"/>
            </a:endParaRPr>
          </a:p>
        </p:txBody>
      </p:sp>
      <p:pic>
        <p:nvPicPr>
          <p:cNvPr id="263" name="" descr=""/>
          <p:cNvPicPr/>
          <p:nvPr/>
        </p:nvPicPr>
        <p:blipFill>
          <a:blip r:embed="rId17"/>
          <a:stretch/>
        </p:blipFill>
        <p:spPr>
          <a:xfrm>
            <a:off x="7963920" y="4880160"/>
            <a:ext cx="133200" cy="133200"/>
          </a:xfrm>
          <a:prstGeom prst="rect">
            <a:avLst/>
          </a:prstGeom>
          <a:noFill/>
          <a:ln w="0">
            <a:noFill/>
          </a:ln>
        </p:spPr>
      </p:pic>
      <p:sp>
        <p:nvSpPr>
          <p:cNvPr id="264" name=""/>
          <p:cNvSpPr txBox="1"/>
          <p:nvPr/>
        </p:nvSpPr>
        <p:spPr>
          <a:xfrm>
            <a:off x="5958360" y="4881600"/>
            <a:ext cx="61524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利得 </a:t>
            </a:r>
            <a:r>
              <a:rPr b="0" lang="en-US" sz="1050" strike="noStrike" u="none">
                <a:solidFill>
                  <a:srgbClr val="000000"/>
                </a:solidFill>
                <a:effectLst/>
                <a:uFillTx/>
                <a:latin typeface="NotoSansJP"/>
                <a:ea typeface="NotoSansJP"/>
              </a:rPr>
              <a:t>(dB)</a:t>
            </a:r>
            <a:endParaRPr b="0" lang="en-US" sz="1050" strike="noStrike" u="none">
              <a:solidFill>
                <a:srgbClr val="000000"/>
              </a:solidFill>
              <a:effectLst/>
              <a:uFillTx/>
              <a:latin typeface="Times New Roman"/>
            </a:endParaRPr>
          </a:p>
        </p:txBody>
      </p:sp>
      <p:pic>
        <p:nvPicPr>
          <p:cNvPr id="265" name="" descr=""/>
          <p:cNvPicPr/>
          <p:nvPr/>
        </p:nvPicPr>
        <p:blipFill>
          <a:blip r:embed="rId18"/>
          <a:stretch/>
        </p:blipFill>
        <p:spPr>
          <a:xfrm>
            <a:off x="5707800" y="5189400"/>
            <a:ext cx="166680" cy="133200"/>
          </a:xfrm>
          <a:prstGeom prst="rect">
            <a:avLst/>
          </a:prstGeom>
          <a:noFill/>
          <a:ln w="0">
            <a:noFill/>
          </a:ln>
        </p:spPr>
      </p:pic>
      <p:sp>
        <p:nvSpPr>
          <p:cNvPr id="266" name=""/>
          <p:cNvSpPr txBox="1"/>
          <p:nvPr/>
        </p:nvSpPr>
        <p:spPr>
          <a:xfrm>
            <a:off x="8181360" y="4881600"/>
            <a:ext cx="9111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遅延時間 </a:t>
            </a:r>
            <a:r>
              <a:rPr b="0" lang="en-US" sz="1050" strike="noStrike" u="none">
                <a:solidFill>
                  <a:srgbClr val="000000"/>
                </a:solidFill>
                <a:effectLst/>
                <a:uFillTx/>
                <a:latin typeface="NotoSansJP"/>
                <a:ea typeface="NotoSansJP"/>
              </a:rPr>
              <a:t>(ms)</a:t>
            </a:r>
            <a:endParaRPr b="0" lang="en-US" sz="1050" strike="noStrike" u="none">
              <a:solidFill>
                <a:srgbClr val="000000"/>
              </a:solidFill>
              <a:effectLst/>
              <a:uFillTx/>
              <a:latin typeface="Times New Roman"/>
            </a:endParaRPr>
          </a:p>
        </p:txBody>
      </p:sp>
      <p:sp>
        <p:nvSpPr>
          <p:cNvPr id="267" name=""/>
          <p:cNvSpPr txBox="1"/>
          <p:nvPr/>
        </p:nvSpPr>
        <p:spPr>
          <a:xfrm>
            <a:off x="5958360" y="5190840"/>
            <a:ext cx="7473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周波数 </a:t>
            </a:r>
            <a:r>
              <a:rPr b="0" lang="en-US" sz="1050" strike="noStrike" u="none">
                <a:solidFill>
                  <a:srgbClr val="000000"/>
                </a:solidFill>
                <a:effectLst/>
                <a:uFillTx/>
                <a:latin typeface="NotoSansJP"/>
                <a:ea typeface="NotoSansJP"/>
              </a:rPr>
              <a:t>(Hz)</a:t>
            </a:r>
            <a:endParaRPr b="0" lang="en-US" sz="1050" strike="noStrike" u="none">
              <a:solidFill>
                <a:srgbClr val="000000"/>
              </a:solidFill>
              <a:effectLst/>
              <a:uFillTx/>
              <a:latin typeface="Times New Roman"/>
            </a:endParaRPr>
          </a:p>
        </p:txBody>
      </p:sp>
      <p:sp>
        <p:nvSpPr>
          <p:cNvPr id="268" name=""/>
          <p:cNvSpPr/>
          <p:nvPr/>
        </p:nvSpPr>
        <p:spPr>
          <a:xfrm>
            <a:off x="5586120" y="5619600"/>
            <a:ext cx="1504800" cy="493560"/>
          </a:xfrm>
          <a:custGeom>
            <a:avLst/>
            <a:gdLst/>
            <a:ahLst/>
            <a:rect l="0" t="0" r="r" b="b"/>
            <a:pathLst>
              <a:path w="4180" h="1371">
                <a:moveTo>
                  <a:pt x="0" y="1243"/>
                </a:moveTo>
                <a:lnTo>
                  <a:pt x="0" y="128"/>
                </a:lnTo>
                <a:cubicBezTo>
                  <a:pt x="0" y="111"/>
                  <a:pt x="4" y="95"/>
                  <a:pt x="10" y="79"/>
                </a:cubicBezTo>
                <a:cubicBezTo>
                  <a:pt x="17" y="63"/>
                  <a:pt x="26" y="50"/>
                  <a:pt x="38" y="38"/>
                </a:cubicBezTo>
                <a:cubicBezTo>
                  <a:pt x="50" y="26"/>
                  <a:pt x="64" y="16"/>
                  <a:pt x="79" y="10"/>
                </a:cubicBezTo>
                <a:cubicBezTo>
                  <a:pt x="95" y="4"/>
                  <a:pt x="111" y="0"/>
                  <a:pt x="128" y="0"/>
                </a:cubicBezTo>
                <a:lnTo>
                  <a:pt x="4052" y="0"/>
                </a:lnTo>
                <a:cubicBezTo>
                  <a:pt x="4069" y="0"/>
                  <a:pt x="4085" y="4"/>
                  <a:pt x="4101" y="10"/>
                </a:cubicBezTo>
                <a:cubicBezTo>
                  <a:pt x="4117" y="16"/>
                  <a:pt x="4130" y="26"/>
                  <a:pt x="4142" y="38"/>
                </a:cubicBezTo>
                <a:cubicBezTo>
                  <a:pt x="4154" y="50"/>
                  <a:pt x="4164" y="63"/>
                  <a:pt x="4170" y="79"/>
                </a:cubicBezTo>
                <a:cubicBezTo>
                  <a:pt x="4177" y="95"/>
                  <a:pt x="4180" y="111"/>
                  <a:pt x="4180" y="128"/>
                </a:cubicBezTo>
                <a:lnTo>
                  <a:pt x="4180" y="1243"/>
                </a:lnTo>
                <a:cubicBezTo>
                  <a:pt x="4180" y="1260"/>
                  <a:pt x="4177" y="1276"/>
                  <a:pt x="4170" y="1292"/>
                </a:cubicBezTo>
                <a:cubicBezTo>
                  <a:pt x="4164" y="1308"/>
                  <a:pt x="4154" y="1321"/>
                  <a:pt x="4142" y="1333"/>
                </a:cubicBezTo>
                <a:cubicBezTo>
                  <a:pt x="4130" y="1345"/>
                  <a:pt x="4117" y="1355"/>
                  <a:pt x="4101" y="1361"/>
                </a:cubicBezTo>
                <a:cubicBezTo>
                  <a:pt x="4085" y="1368"/>
                  <a:pt x="4069" y="1371"/>
                  <a:pt x="4052" y="1371"/>
                </a:cubicBezTo>
                <a:lnTo>
                  <a:pt x="128" y="1371"/>
                </a:lnTo>
                <a:cubicBezTo>
                  <a:pt x="111" y="1371"/>
                  <a:pt x="95" y="1368"/>
                  <a:pt x="79" y="1361"/>
                </a:cubicBezTo>
                <a:cubicBezTo>
                  <a:pt x="64" y="1355"/>
                  <a:pt x="50" y="1345"/>
                  <a:pt x="38" y="1333"/>
                </a:cubicBezTo>
                <a:cubicBezTo>
                  <a:pt x="26" y="1321"/>
                  <a:pt x="17" y="1308"/>
                  <a:pt x="10" y="1292"/>
                </a:cubicBezTo>
                <a:cubicBezTo>
                  <a:pt x="4" y="1276"/>
                  <a:pt x="0" y="1260"/>
                  <a:pt x="0" y="1243"/>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69" name=""/>
          <p:cNvSpPr/>
          <p:nvPr/>
        </p:nvSpPr>
        <p:spPr>
          <a:xfrm>
            <a:off x="5586120" y="5619600"/>
            <a:ext cx="1504800" cy="493560"/>
          </a:xfrm>
          <a:custGeom>
            <a:avLst/>
            <a:gdLst/>
            <a:ahLst/>
            <a:rect l="0" t="0" r="r" b="b"/>
            <a:pathLst>
              <a:path fill="none" w="4180" h="1371">
                <a:moveTo>
                  <a:pt x="0" y="1243"/>
                </a:moveTo>
                <a:lnTo>
                  <a:pt x="0" y="128"/>
                </a:lnTo>
                <a:cubicBezTo>
                  <a:pt x="0" y="111"/>
                  <a:pt x="4" y="95"/>
                  <a:pt x="10" y="79"/>
                </a:cubicBezTo>
                <a:cubicBezTo>
                  <a:pt x="17" y="63"/>
                  <a:pt x="26" y="50"/>
                  <a:pt x="38" y="38"/>
                </a:cubicBezTo>
                <a:cubicBezTo>
                  <a:pt x="50" y="26"/>
                  <a:pt x="64" y="16"/>
                  <a:pt x="79" y="10"/>
                </a:cubicBezTo>
                <a:cubicBezTo>
                  <a:pt x="95" y="4"/>
                  <a:pt x="111" y="0"/>
                  <a:pt x="128" y="0"/>
                </a:cubicBezTo>
                <a:lnTo>
                  <a:pt x="4052" y="0"/>
                </a:lnTo>
                <a:cubicBezTo>
                  <a:pt x="4069" y="0"/>
                  <a:pt x="4085" y="4"/>
                  <a:pt x="4101" y="10"/>
                </a:cubicBezTo>
                <a:cubicBezTo>
                  <a:pt x="4117" y="16"/>
                  <a:pt x="4130" y="26"/>
                  <a:pt x="4142" y="38"/>
                </a:cubicBezTo>
                <a:cubicBezTo>
                  <a:pt x="4154" y="50"/>
                  <a:pt x="4164" y="63"/>
                  <a:pt x="4170" y="79"/>
                </a:cubicBezTo>
                <a:cubicBezTo>
                  <a:pt x="4177" y="95"/>
                  <a:pt x="4180" y="111"/>
                  <a:pt x="4180" y="128"/>
                </a:cubicBezTo>
                <a:lnTo>
                  <a:pt x="4180" y="1243"/>
                </a:lnTo>
                <a:cubicBezTo>
                  <a:pt x="4180" y="1260"/>
                  <a:pt x="4177" y="1276"/>
                  <a:pt x="4170" y="1292"/>
                </a:cubicBezTo>
                <a:cubicBezTo>
                  <a:pt x="4164" y="1308"/>
                  <a:pt x="4154" y="1321"/>
                  <a:pt x="4142" y="1333"/>
                </a:cubicBezTo>
                <a:cubicBezTo>
                  <a:pt x="4130" y="1345"/>
                  <a:pt x="4117" y="1355"/>
                  <a:pt x="4101" y="1361"/>
                </a:cubicBezTo>
                <a:cubicBezTo>
                  <a:pt x="4085" y="1368"/>
                  <a:pt x="4069" y="1371"/>
                  <a:pt x="4052" y="1371"/>
                </a:cubicBezTo>
                <a:lnTo>
                  <a:pt x="128" y="1371"/>
                </a:lnTo>
                <a:cubicBezTo>
                  <a:pt x="111" y="1371"/>
                  <a:pt x="95" y="1368"/>
                  <a:pt x="79" y="1361"/>
                </a:cubicBezTo>
                <a:cubicBezTo>
                  <a:pt x="64" y="1355"/>
                  <a:pt x="50" y="1345"/>
                  <a:pt x="38" y="1333"/>
                </a:cubicBezTo>
                <a:cubicBezTo>
                  <a:pt x="26" y="1321"/>
                  <a:pt x="17" y="1308"/>
                  <a:pt x="10" y="1292"/>
                </a:cubicBezTo>
                <a:cubicBezTo>
                  <a:pt x="4" y="1276"/>
                  <a:pt x="0" y="1260"/>
                  <a:pt x="0" y="1243"/>
                </a:cubicBezTo>
              </a:path>
            </a:pathLst>
          </a:custGeom>
          <a:ln w="8280">
            <a:solidFill>
              <a:srgbClr val="93c5fd"/>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270" name="" descr=""/>
          <p:cNvPicPr/>
          <p:nvPr/>
        </p:nvPicPr>
        <p:blipFill>
          <a:blip r:embed="rId19"/>
          <a:stretch/>
        </p:blipFill>
        <p:spPr>
          <a:xfrm>
            <a:off x="6275880" y="5724360"/>
            <a:ext cx="116640" cy="116640"/>
          </a:xfrm>
          <a:prstGeom prst="rect">
            <a:avLst/>
          </a:prstGeom>
          <a:noFill/>
          <a:ln w="0">
            <a:noFill/>
          </a:ln>
        </p:spPr>
      </p:pic>
      <p:sp>
        <p:nvSpPr>
          <p:cNvPr id="271" name=""/>
          <p:cNvSpPr txBox="1"/>
          <p:nvPr/>
        </p:nvSpPr>
        <p:spPr>
          <a:xfrm>
            <a:off x="8047440" y="5190840"/>
            <a:ext cx="8413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配置間隔 </a:t>
            </a:r>
            <a:r>
              <a:rPr b="0" lang="en-US" sz="1050" strike="noStrike" u="none">
                <a:solidFill>
                  <a:srgbClr val="000000"/>
                </a:solidFill>
                <a:effectLst/>
                <a:uFillTx/>
                <a:latin typeface="NotoSansJP"/>
                <a:ea typeface="NotoSansJP"/>
              </a:rPr>
              <a:t>(m)</a:t>
            </a:r>
            <a:endParaRPr b="0" lang="en-US" sz="1050" strike="noStrike" u="none">
              <a:solidFill>
                <a:srgbClr val="000000"/>
              </a:solidFill>
              <a:effectLst/>
              <a:uFillTx/>
              <a:latin typeface="Times New Roman"/>
            </a:endParaRPr>
          </a:p>
        </p:txBody>
      </p:sp>
      <p:sp>
        <p:nvSpPr>
          <p:cNvPr id="272" name=""/>
          <p:cNvSpPr/>
          <p:nvPr/>
        </p:nvSpPr>
        <p:spPr>
          <a:xfrm>
            <a:off x="7165800" y="5619600"/>
            <a:ext cx="1496160" cy="493560"/>
          </a:xfrm>
          <a:custGeom>
            <a:avLst/>
            <a:gdLst/>
            <a:ahLst/>
            <a:rect l="0" t="0" r="r" b="b"/>
            <a:pathLst>
              <a:path w="4156" h="1371">
                <a:moveTo>
                  <a:pt x="0" y="1243"/>
                </a:moveTo>
                <a:lnTo>
                  <a:pt x="0" y="128"/>
                </a:lnTo>
                <a:cubicBezTo>
                  <a:pt x="0" y="111"/>
                  <a:pt x="3" y="95"/>
                  <a:pt x="9" y="79"/>
                </a:cubicBezTo>
                <a:cubicBezTo>
                  <a:pt x="16" y="63"/>
                  <a:pt x="25" y="50"/>
                  <a:pt x="37" y="38"/>
                </a:cubicBezTo>
                <a:cubicBezTo>
                  <a:pt x="49" y="26"/>
                  <a:pt x="63" y="16"/>
                  <a:pt x="79" y="10"/>
                </a:cubicBezTo>
                <a:cubicBezTo>
                  <a:pt x="94" y="4"/>
                  <a:pt x="110" y="0"/>
                  <a:pt x="127" y="0"/>
                </a:cubicBezTo>
                <a:lnTo>
                  <a:pt x="4028" y="0"/>
                </a:lnTo>
                <a:cubicBezTo>
                  <a:pt x="4045" y="0"/>
                  <a:pt x="4061" y="4"/>
                  <a:pt x="4077" y="10"/>
                </a:cubicBezTo>
                <a:cubicBezTo>
                  <a:pt x="4093" y="16"/>
                  <a:pt x="4106" y="26"/>
                  <a:pt x="4118" y="38"/>
                </a:cubicBezTo>
                <a:cubicBezTo>
                  <a:pt x="4130" y="50"/>
                  <a:pt x="4140" y="63"/>
                  <a:pt x="4146" y="79"/>
                </a:cubicBezTo>
                <a:cubicBezTo>
                  <a:pt x="4153" y="95"/>
                  <a:pt x="4156" y="111"/>
                  <a:pt x="4156" y="128"/>
                </a:cubicBezTo>
                <a:lnTo>
                  <a:pt x="4156" y="1243"/>
                </a:lnTo>
                <a:cubicBezTo>
                  <a:pt x="4156" y="1260"/>
                  <a:pt x="4153" y="1276"/>
                  <a:pt x="4146" y="1292"/>
                </a:cubicBezTo>
                <a:cubicBezTo>
                  <a:pt x="4140" y="1308"/>
                  <a:pt x="4130" y="1321"/>
                  <a:pt x="4118" y="1333"/>
                </a:cubicBezTo>
                <a:cubicBezTo>
                  <a:pt x="4106" y="1345"/>
                  <a:pt x="4093" y="1355"/>
                  <a:pt x="4077" y="1361"/>
                </a:cubicBezTo>
                <a:cubicBezTo>
                  <a:pt x="4061" y="1368"/>
                  <a:pt x="4045" y="1371"/>
                  <a:pt x="4028" y="1371"/>
                </a:cubicBezTo>
                <a:lnTo>
                  <a:pt x="127" y="1371"/>
                </a:lnTo>
                <a:cubicBezTo>
                  <a:pt x="110" y="1371"/>
                  <a:pt x="94" y="1368"/>
                  <a:pt x="79" y="1361"/>
                </a:cubicBezTo>
                <a:cubicBezTo>
                  <a:pt x="63" y="1355"/>
                  <a:pt x="49" y="1345"/>
                  <a:pt x="37" y="1333"/>
                </a:cubicBezTo>
                <a:cubicBezTo>
                  <a:pt x="25" y="1321"/>
                  <a:pt x="16" y="1308"/>
                  <a:pt x="9" y="1292"/>
                </a:cubicBezTo>
                <a:cubicBezTo>
                  <a:pt x="3" y="1276"/>
                  <a:pt x="0" y="1260"/>
                  <a:pt x="0" y="1243"/>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73" name=""/>
          <p:cNvSpPr/>
          <p:nvPr/>
        </p:nvSpPr>
        <p:spPr>
          <a:xfrm>
            <a:off x="7165800" y="5619600"/>
            <a:ext cx="1496160" cy="493560"/>
          </a:xfrm>
          <a:custGeom>
            <a:avLst/>
            <a:gdLst/>
            <a:ahLst/>
            <a:rect l="0" t="0" r="r" b="b"/>
            <a:pathLst>
              <a:path fill="none" w="4156" h="1371">
                <a:moveTo>
                  <a:pt x="0" y="1243"/>
                </a:moveTo>
                <a:lnTo>
                  <a:pt x="0" y="128"/>
                </a:lnTo>
                <a:cubicBezTo>
                  <a:pt x="0" y="111"/>
                  <a:pt x="3" y="95"/>
                  <a:pt x="9" y="79"/>
                </a:cubicBezTo>
                <a:cubicBezTo>
                  <a:pt x="16" y="63"/>
                  <a:pt x="25" y="50"/>
                  <a:pt x="37" y="38"/>
                </a:cubicBezTo>
                <a:cubicBezTo>
                  <a:pt x="49" y="26"/>
                  <a:pt x="63" y="16"/>
                  <a:pt x="79" y="10"/>
                </a:cubicBezTo>
                <a:cubicBezTo>
                  <a:pt x="94" y="4"/>
                  <a:pt x="110" y="0"/>
                  <a:pt x="127" y="0"/>
                </a:cubicBezTo>
                <a:lnTo>
                  <a:pt x="4028" y="0"/>
                </a:lnTo>
                <a:cubicBezTo>
                  <a:pt x="4045" y="0"/>
                  <a:pt x="4061" y="4"/>
                  <a:pt x="4077" y="10"/>
                </a:cubicBezTo>
                <a:cubicBezTo>
                  <a:pt x="4093" y="16"/>
                  <a:pt x="4106" y="26"/>
                  <a:pt x="4118" y="38"/>
                </a:cubicBezTo>
                <a:cubicBezTo>
                  <a:pt x="4130" y="50"/>
                  <a:pt x="4140" y="63"/>
                  <a:pt x="4146" y="79"/>
                </a:cubicBezTo>
                <a:cubicBezTo>
                  <a:pt x="4153" y="95"/>
                  <a:pt x="4156" y="111"/>
                  <a:pt x="4156" y="128"/>
                </a:cubicBezTo>
                <a:lnTo>
                  <a:pt x="4156" y="1243"/>
                </a:lnTo>
                <a:cubicBezTo>
                  <a:pt x="4156" y="1260"/>
                  <a:pt x="4153" y="1276"/>
                  <a:pt x="4146" y="1292"/>
                </a:cubicBezTo>
                <a:cubicBezTo>
                  <a:pt x="4140" y="1308"/>
                  <a:pt x="4130" y="1321"/>
                  <a:pt x="4118" y="1333"/>
                </a:cubicBezTo>
                <a:cubicBezTo>
                  <a:pt x="4106" y="1345"/>
                  <a:pt x="4093" y="1355"/>
                  <a:pt x="4077" y="1361"/>
                </a:cubicBezTo>
                <a:cubicBezTo>
                  <a:pt x="4061" y="1368"/>
                  <a:pt x="4045" y="1371"/>
                  <a:pt x="4028" y="1371"/>
                </a:cubicBezTo>
                <a:lnTo>
                  <a:pt x="127" y="1371"/>
                </a:lnTo>
                <a:cubicBezTo>
                  <a:pt x="110" y="1371"/>
                  <a:pt x="94" y="1368"/>
                  <a:pt x="79" y="1361"/>
                </a:cubicBezTo>
                <a:cubicBezTo>
                  <a:pt x="63" y="1355"/>
                  <a:pt x="49" y="1345"/>
                  <a:pt x="37" y="1333"/>
                </a:cubicBezTo>
                <a:cubicBezTo>
                  <a:pt x="25" y="1321"/>
                  <a:pt x="16" y="1308"/>
                  <a:pt x="9" y="1292"/>
                </a:cubicBezTo>
                <a:cubicBezTo>
                  <a:pt x="3" y="1276"/>
                  <a:pt x="0" y="1260"/>
                  <a:pt x="0" y="1243"/>
                </a:cubicBezTo>
              </a:path>
            </a:pathLst>
          </a:custGeom>
          <a:ln w="8280">
            <a:solidFill>
              <a:srgbClr val="93c5fd"/>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274" name="" descr=""/>
          <p:cNvPicPr/>
          <p:nvPr/>
        </p:nvPicPr>
        <p:blipFill>
          <a:blip r:embed="rId20"/>
          <a:stretch/>
        </p:blipFill>
        <p:spPr>
          <a:xfrm>
            <a:off x="7838640" y="5724360"/>
            <a:ext cx="150120" cy="116640"/>
          </a:xfrm>
          <a:prstGeom prst="rect">
            <a:avLst/>
          </a:prstGeom>
          <a:noFill/>
          <a:ln w="0">
            <a:noFill/>
          </a:ln>
        </p:spPr>
      </p:pic>
      <p:sp>
        <p:nvSpPr>
          <p:cNvPr id="275" name=""/>
          <p:cNvSpPr txBox="1"/>
          <p:nvPr/>
        </p:nvSpPr>
        <p:spPr>
          <a:xfrm>
            <a:off x="5848200" y="5900040"/>
            <a:ext cx="10429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位相遅延</a:t>
            </a:r>
            <a:r>
              <a:rPr b="0" lang="en-US" sz="920" strike="noStrike" u="none">
                <a:solidFill>
                  <a:srgbClr val="000000"/>
                </a:solidFill>
                <a:effectLst/>
                <a:uFillTx/>
                <a:latin typeface="NotoSansJP"/>
                <a:ea typeface="NotoSansJP"/>
              </a:rPr>
              <a:t>-</a:t>
            </a:r>
            <a:r>
              <a:rPr b="0" lang="zh-CN" sz="920" strike="noStrike" u="none">
                <a:solidFill>
                  <a:srgbClr val="000000"/>
                </a:solidFill>
                <a:effectLst/>
                <a:uFillTx/>
                <a:latin typeface="NotoSansJP"/>
                <a:ea typeface="NotoSansJP"/>
              </a:rPr>
              <a:t>角度特性</a:t>
            </a:r>
            <a:endParaRPr b="0" lang="en-US" sz="920" strike="noStrike" u="none">
              <a:solidFill>
                <a:srgbClr val="000000"/>
              </a:solidFill>
              <a:effectLst/>
              <a:uFillTx/>
              <a:latin typeface="Times New Roman"/>
            </a:endParaRPr>
          </a:p>
        </p:txBody>
      </p:sp>
      <p:sp>
        <p:nvSpPr>
          <p:cNvPr id="276" name=""/>
          <p:cNvSpPr/>
          <p:nvPr/>
        </p:nvSpPr>
        <p:spPr>
          <a:xfrm>
            <a:off x="8736840" y="5619600"/>
            <a:ext cx="1504440" cy="493560"/>
          </a:xfrm>
          <a:custGeom>
            <a:avLst/>
            <a:gdLst/>
            <a:ahLst/>
            <a:rect l="0" t="0" r="r" b="b"/>
            <a:pathLst>
              <a:path w="4179" h="1371">
                <a:moveTo>
                  <a:pt x="0" y="1243"/>
                </a:moveTo>
                <a:lnTo>
                  <a:pt x="0" y="128"/>
                </a:lnTo>
                <a:cubicBezTo>
                  <a:pt x="0" y="111"/>
                  <a:pt x="3" y="95"/>
                  <a:pt x="9" y="79"/>
                </a:cubicBezTo>
                <a:cubicBezTo>
                  <a:pt x="16" y="63"/>
                  <a:pt x="25" y="50"/>
                  <a:pt x="37" y="38"/>
                </a:cubicBezTo>
                <a:cubicBezTo>
                  <a:pt x="49" y="26"/>
                  <a:pt x="63" y="16"/>
                  <a:pt x="79" y="10"/>
                </a:cubicBezTo>
                <a:cubicBezTo>
                  <a:pt x="94" y="4"/>
                  <a:pt x="110" y="0"/>
                  <a:pt x="127" y="0"/>
                </a:cubicBezTo>
                <a:lnTo>
                  <a:pt x="4051" y="0"/>
                </a:lnTo>
                <a:cubicBezTo>
                  <a:pt x="4068" y="0"/>
                  <a:pt x="4085" y="4"/>
                  <a:pt x="4100" y="10"/>
                </a:cubicBezTo>
                <a:cubicBezTo>
                  <a:pt x="4116" y="16"/>
                  <a:pt x="4130" y="26"/>
                  <a:pt x="4142" y="38"/>
                </a:cubicBezTo>
                <a:cubicBezTo>
                  <a:pt x="4154" y="50"/>
                  <a:pt x="4163" y="63"/>
                  <a:pt x="4169" y="79"/>
                </a:cubicBezTo>
                <a:cubicBezTo>
                  <a:pt x="4176" y="95"/>
                  <a:pt x="4179" y="111"/>
                  <a:pt x="4179" y="128"/>
                </a:cubicBezTo>
                <a:lnTo>
                  <a:pt x="4179" y="1243"/>
                </a:lnTo>
                <a:cubicBezTo>
                  <a:pt x="4179" y="1260"/>
                  <a:pt x="4176" y="1276"/>
                  <a:pt x="4169" y="1292"/>
                </a:cubicBezTo>
                <a:cubicBezTo>
                  <a:pt x="4163" y="1308"/>
                  <a:pt x="4154" y="1321"/>
                  <a:pt x="4142" y="1333"/>
                </a:cubicBezTo>
                <a:cubicBezTo>
                  <a:pt x="4130" y="1345"/>
                  <a:pt x="4116" y="1355"/>
                  <a:pt x="4100" y="1361"/>
                </a:cubicBezTo>
                <a:cubicBezTo>
                  <a:pt x="4085" y="1368"/>
                  <a:pt x="4068" y="1371"/>
                  <a:pt x="4051" y="1371"/>
                </a:cubicBezTo>
                <a:lnTo>
                  <a:pt x="127" y="1371"/>
                </a:lnTo>
                <a:cubicBezTo>
                  <a:pt x="110" y="1371"/>
                  <a:pt x="94" y="1368"/>
                  <a:pt x="79" y="1361"/>
                </a:cubicBezTo>
                <a:cubicBezTo>
                  <a:pt x="63" y="1355"/>
                  <a:pt x="49" y="1345"/>
                  <a:pt x="37" y="1333"/>
                </a:cubicBezTo>
                <a:cubicBezTo>
                  <a:pt x="25" y="1321"/>
                  <a:pt x="16" y="1308"/>
                  <a:pt x="9" y="1292"/>
                </a:cubicBezTo>
                <a:cubicBezTo>
                  <a:pt x="3" y="1276"/>
                  <a:pt x="0" y="1260"/>
                  <a:pt x="0" y="1243"/>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77" name=""/>
          <p:cNvSpPr/>
          <p:nvPr/>
        </p:nvSpPr>
        <p:spPr>
          <a:xfrm>
            <a:off x="8736840" y="5619600"/>
            <a:ext cx="1504440" cy="493560"/>
          </a:xfrm>
          <a:custGeom>
            <a:avLst/>
            <a:gdLst/>
            <a:ahLst/>
            <a:rect l="0" t="0" r="r" b="b"/>
            <a:pathLst>
              <a:path fill="none" w="4179" h="1371">
                <a:moveTo>
                  <a:pt x="0" y="1243"/>
                </a:moveTo>
                <a:lnTo>
                  <a:pt x="0" y="128"/>
                </a:lnTo>
                <a:cubicBezTo>
                  <a:pt x="0" y="111"/>
                  <a:pt x="3" y="95"/>
                  <a:pt x="9" y="79"/>
                </a:cubicBezTo>
                <a:cubicBezTo>
                  <a:pt x="16" y="63"/>
                  <a:pt x="25" y="50"/>
                  <a:pt x="37" y="38"/>
                </a:cubicBezTo>
                <a:cubicBezTo>
                  <a:pt x="49" y="26"/>
                  <a:pt x="63" y="16"/>
                  <a:pt x="79" y="10"/>
                </a:cubicBezTo>
                <a:cubicBezTo>
                  <a:pt x="94" y="4"/>
                  <a:pt x="110" y="0"/>
                  <a:pt x="127" y="0"/>
                </a:cubicBezTo>
                <a:lnTo>
                  <a:pt x="4051" y="0"/>
                </a:lnTo>
                <a:cubicBezTo>
                  <a:pt x="4068" y="0"/>
                  <a:pt x="4085" y="4"/>
                  <a:pt x="4100" y="10"/>
                </a:cubicBezTo>
                <a:cubicBezTo>
                  <a:pt x="4116" y="16"/>
                  <a:pt x="4130" y="26"/>
                  <a:pt x="4142" y="38"/>
                </a:cubicBezTo>
                <a:cubicBezTo>
                  <a:pt x="4154" y="50"/>
                  <a:pt x="4163" y="63"/>
                  <a:pt x="4169" y="79"/>
                </a:cubicBezTo>
                <a:cubicBezTo>
                  <a:pt x="4176" y="95"/>
                  <a:pt x="4179" y="111"/>
                  <a:pt x="4179" y="128"/>
                </a:cubicBezTo>
                <a:lnTo>
                  <a:pt x="4179" y="1243"/>
                </a:lnTo>
                <a:cubicBezTo>
                  <a:pt x="4179" y="1260"/>
                  <a:pt x="4176" y="1276"/>
                  <a:pt x="4169" y="1292"/>
                </a:cubicBezTo>
                <a:cubicBezTo>
                  <a:pt x="4163" y="1308"/>
                  <a:pt x="4154" y="1321"/>
                  <a:pt x="4142" y="1333"/>
                </a:cubicBezTo>
                <a:cubicBezTo>
                  <a:pt x="4130" y="1345"/>
                  <a:pt x="4116" y="1355"/>
                  <a:pt x="4100" y="1361"/>
                </a:cubicBezTo>
                <a:cubicBezTo>
                  <a:pt x="4085" y="1368"/>
                  <a:pt x="4068" y="1371"/>
                  <a:pt x="4051" y="1371"/>
                </a:cubicBezTo>
                <a:lnTo>
                  <a:pt x="127" y="1371"/>
                </a:lnTo>
                <a:cubicBezTo>
                  <a:pt x="110" y="1371"/>
                  <a:pt x="94" y="1368"/>
                  <a:pt x="79" y="1361"/>
                </a:cubicBezTo>
                <a:cubicBezTo>
                  <a:pt x="63" y="1355"/>
                  <a:pt x="49" y="1345"/>
                  <a:pt x="37" y="1333"/>
                </a:cubicBezTo>
                <a:cubicBezTo>
                  <a:pt x="25" y="1321"/>
                  <a:pt x="16" y="1308"/>
                  <a:pt x="9" y="1292"/>
                </a:cubicBezTo>
                <a:cubicBezTo>
                  <a:pt x="3" y="1276"/>
                  <a:pt x="0" y="1260"/>
                  <a:pt x="0" y="1243"/>
                </a:cubicBezTo>
              </a:path>
            </a:pathLst>
          </a:custGeom>
          <a:ln w="8280">
            <a:solidFill>
              <a:srgbClr val="93c5fd"/>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278" name=""/>
          <p:cNvSpPr txBox="1"/>
          <p:nvPr/>
        </p:nvSpPr>
        <p:spPr>
          <a:xfrm>
            <a:off x="7366320" y="5900040"/>
            <a:ext cx="11602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発振周波数</a:t>
            </a:r>
            <a:r>
              <a:rPr b="0" lang="en-US" sz="920" strike="noStrike" u="none">
                <a:solidFill>
                  <a:srgbClr val="000000"/>
                </a:solidFill>
                <a:effectLst/>
                <a:uFillTx/>
                <a:latin typeface="NotoSansJP"/>
                <a:ea typeface="NotoSansJP"/>
              </a:rPr>
              <a:t>-</a:t>
            </a:r>
            <a:r>
              <a:rPr b="0" lang="zh-CN" sz="920" strike="noStrike" u="none">
                <a:solidFill>
                  <a:srgbClr val="000000"/>
                </a:solidFill>
                <a:effectLst/>
                <a:uFillTx/>
                <a:latin typeface="NotoSansJP"/>
                <a:ea typeface="NotoSansJP"/>
              </a:rPr>
              <a:t>角度特性</a:t>
            </a:r>
            <a:endParaRPr b="0" lang="en-US" sz="920" strike="noStrike" u="none">
              <a:solidFill>
                <a:srgbClr val="000000"/>
              </a:solidFill>
              <a:effectLst/>
              <a:uFillTx/>
              <a:latin typeface="Times New Roman"/>
            </a:endParaRPr>
          </a:p>
        </p:txBody>
      </p:sp>
      <p:sp>
        <p:nvSpPr>
          <p:cNvPr id="279" name=""/>
          <p:cNvSpPr txBox="1"/>
          <p:nvPr/>
        </p:nvSpPr>
        <p:spPr>
          <a:xfrm>
            <a:off x="8884440" y="5883120"/>
            <a:ext cx="127764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音源配置間隔</a:t>
            </a:r>
            <a:r>
              <a:rPr b="0" lang="en-US" sz="920" strike="noStrike" u="none">
                <a:solidFill>
                  <a:srgbClr val="000000"/>
                </a:solidFill>
                <a:effectLst/>
                <a:uFillTx/>
                <a:latin typeface="NotoSansJP"/>
                <a:ea typeface="NotoSansJP"/>
              </a:rPr>
              <a:t>-</a:t>
            </a:r>
            <a:r>
              <a:rPr b="0" lang="zh-CN" sz="920" strike="noStrike" u="none">
                <a:solidFill>
                  <a:srgbClr val="000000"/>
                </a:solidFill>
                <a:effectLst/>
                <a:uFillTx/>
                <a:latin typeface="NotoSansJP"/>
                <a:ea typeface="NotoSansJP"/>
              </a:rPr>
              <a:t>角度特性</a:t>
            </a:r>
            <a:endParaRPr b="0" lang="en-US" sz="920" strike="noStrike" u="none">
              <a:solidFill>
                <a:srgbClr val="000000"/>
              </a:solidFill>
              <a:effectLst/>
              <a:uFillTx/>
              <a:latin typeface="Times New Roman"/>
            </a:endParaRPr>
          </a:p>
        </p:txBody>
      </p:sp>
      <p:sp>
        <p:nvSpPr>
          <p:cNvPr id="280" name=""/>
          <p:cNvSpPr txBox="1"/>
          <p:nvPr/>
        </p:nvSpPr>
        <p:spPr>
          <a:xfrm>
            <a:off x="2160720" y="5379840"/>
            <a:ext cx="119160" cy="137520"/>
          </a:xfrm>
          <a:prstGeom prst="rect">
            <a:avLst/>
          </a:prstGeom>
          <a:noFill/>
          <a:ln w="0">
            <a:noFill/>
          </a:ln>
        </p:spPr>
        <p:txBody>
          <a:bodyPr wrap="none" lIns="0" rIns="0" tIns="0" bIns="0" anchor="t">
            <a:spAutoFit/>
          </a:bodyPr>
          <a:p>
            <a:r>
              <a:rPr b="0" lang="en-US" sz="939" strike="noStrike" u="none">
                <a:solidFill>
                  <a:srgbClr val="000000"/>
                </a:solidFill>
                <a:effectLst/>
                <a:uFillTx/>
                <a:latin typeface="NotoSansJP"/>
                <a:ea typeface="NotoSansJP"/>
              </a:rPr>
              <a:t>-1</a:t>
            </a:r>
            <a:endParaRPr b="0" lang="en-US" sz="939" strike="noStrike" u="none">
              <a:solidFill>
                <a:srgbClr val="000000"/>
              </a:solidFill>
              <a:effectLst/>
              <a:uFillTx/>
              <a:latin typeface="Times New Roman"/>
            </a:endParaRPr>
          </a:p>
        </p:txBody>
      </p:sp>
      <p:sp>
        <p:nvSpPr>
          <p:cNvPr id="281" name=""/>
          <p:cNvSpPr/>
          <p:nvPr/>
        </p:nvSpPr>
        <p:spPr>
          <a:xfrm>
            <a:off x="5556960" y="927360"/>
            <a:ext cx="4713480" cy="3192840"/>
          </a:xfrm>
          <a:custGeom>
            <a:avLst/>
            <a:gdLst/>
            <a:ahLst/>
            <a:rect l="0" t="0" r="r" b="b"/>
            <a:pathLst>
              <a:path w="13093" h="8869">
                <a:moveTo>
                  <a:pt x="0" y="8660"/>
                </a:moveTo>
                <a:lnTo>
                  <a:pt x="0" y="209"/>
                </a:lnTo>
                <a:cubicBezTo>
                  <a:pt x="0" y="195"/>
                  <a:pt x="2" y="182"/>
                  <a:pt x="4" y="168"/>
                </a:cubicBezTo>
                <a:cubicBezTo>
                  <a:pt x="7" y="155"/>
                  <a:pt x="11" y="142"/>
                  <a:pt x="16" y="129"/>
                </a:cubicBezTo>
                <a:cubicBezTo>
                  <a:pt x="21" y="116"/>
                  <a:pt x="28" y="104"/>
                  <a:pt x="35" y="93"/>
                </a:cubicBezTo>
                <a:cubicBezTo>
                  <a:pt x="43" y="82"/>
                  <a:pt x="52" y="71"/>
                  <a:pt x="61" y="61"/>
                </a:cubicBezTo>
                <a:cubicBezTo>
                  <a:pt x="71" y="52"/>
                  <a:pt x="82" y="43"/>
                  <a:pt x="93" y="35"/>
                </a:cubicBezTo>
                <a:cubicBezTo>
                  <a:pt x="104" y="28"/>
                  <a:pt x="116" y="21"/>
                  <a:pt x="129" y="16"/>
                </a:cubicBezTo>
                <a:cubicBezTo>
                  <a:pt x="142" y="11"/>
                  <a:pt x="155" y="7"/>
                  <a:pt x="168" y="4"/>
                </a:cubicBezTo>
                <a:cubicBezTo>
                  <a:pt x="182" y="1"/>
                  <a:pt x="195" y="0"/>
                  <a:pt x="209" y="0"/>
                </a:cubicBezTo>
                <a:lnTo>
                  <a:pt x="12884" y="0"/>
                </a:lnTo>
                <a:cubicBezTo>
                  <a:pt x="12898" y="0"/>
                  <a:pt x="12912" y="1"/>
                  <a:pt x="12925" y="4"/>
                </a:cubicBezTo>
                <a:cubicBezTo>
                  <a:pt x="12939" y="7"/>
                  <a:pt x="12952" y="11"/>
                  <a:pt x="12964" y="16"/>
                </a:cubicBezTo>
                <a:cubicBezTo>
                  <a:pt x="12977" y="21"/>
                  <a:pt x="12989" y="28"/>
                  <a:pt x="13000" y="35"/>
                </a:cubicBezTo>
                <a:cubicBezTo>
                  <a:pt x="13012" y="43"/>
                  <a:pt x="13022" y="52"/>
                  <a:pt x="13032" y="61"/>
                </a:cubicBezTo>
                <a:cubicBezTo>
                  <a:pt x="13042" y="71"/>
                  <a:pt x="13051" y="82"/>
                  <a:pt x="13058" y="93"/>
                </a:cubicBezTo>
                <a:cubicBezTo>
                  <a:pt x="13066" y="104"/>
                  <a:pt x="13072" y="116"/>
                  <a:pt x="13077" y="129"/>
                </a:cubicBezTo>
                <a:cubicBezTo>
                  <a:pt x="13083" y="142"/>
                  <a:pt x="13087" y="155"/>
                  <a:pt x="13089" y="168"/>
                </a:cubicBezTo>
                <a:cubicBezTo>
                  <a:pt x="13092" y="182"/>
                  <a:pt x="13093" y="195"/>
                  <a:pt x="13093" y="209"/>
                </a:cubicBezTo>
                <a:lnTo>
                  <a:pt x="13093" y="8660"/>
                </a:lnTo>
                <a:cubicBezTo>
                  <a:pt x="13093" y="8673"/>
                  <a:pt x="13092" y="8687"/>
                  <a:pt x="13089" y="8700"/>
                </a:cubicBezTo>
                <a:cubicBezTo>
                  <a:pt x="13087" y="8714"/>
                  <a:pt x="13083" y="8727"/>
                  <a:pt x="13077" y="8740"/>
                </a:cubicBezTo>
                <a:cubicBezTo>
                  <a:pt x="13072" y="8752"/>
                  <a:pt x="13066" y="8764"/>
                  <a:pt x="13058" y="8776"/>
                </a:cubicBezTo>
                <a:cubicBezTo>
                  <a:pt x="13051" y="8787"/>
                  <a:pt x="13042" y="8798"/>
                  <a:pt x="13032" y="8807"/>
                </a:cubicBezTo>
                <a:cubicBezTo>
                  <a:pt x="13022" y="8817"/>
                  <a:pt x="13012" y="8826"/>
                  <a:pt x="13000" y="8833"/>
                </a:cubicBezTo>
                <a:cubicBezTo>
                  <a:pt x="12989" y="8841"/>
                  <a:pt x="12977" y="8847"/>
                  <a:pt x="12964" y="8853"/>
                </a:cubicBezTo>
                <a:cubicBezTo>
                  <a:pt x="12952" y="8858"/>
                  <a:pt x="12939" y="8862"/>
                  <a:pt x="12925" y="8865"/>
                </a:cubicBezTo>
                <a:cubicBezTo>
                  <a:pt x="12912" y="8867"/>
                  <a:pt x="12898" y="8869"/>
                  <a:pt x="12884" y="8869"/>
                </a:cubicBezTo>
                <a:lnTo>
                  <a:pt x="209" y="8869"/>
                </a:lnTo>
                <a:cubicBezTo>
                  <a:pt x="195" y="8869"/>
                  <a:pt x="182" y="8867"/>
                  <a:pt x="168" y="8865"/>
                </a:cubicBezTo>
                <a:cubicBezTo>
                  <a:pt x="155" y="8862"/>
                  <a:pt x="142" y="8858"/>
                  <a:pt x="129" y="8853"/>
                </a:cubicBezTo>
                <a:cubicBezTo>
                  <a:pt x="116" y="8847"/>
                  <a:pt x="104" y="8841"/>
                  <a:pt x="93" y="8833"/>
                </a:cubicBezTo>
                <a:cubicBezTo>
                  <a:pt x="82" y="8826"/>
                  <a:pt x="71" y="8817"/>
                  <a:pt x="61" y="8807"/>
                </a:cubicBezTo>
                <a:cubicBezTo>
                  <a:pt x="52" y="8798"/>
                  <a:pt x="43" y="8787"/>
                  <a:pt x="35" y="8776"/>
                </a:cubicBezTo>
                <a:cubicBezTo>
                  <a:pt x="28" y="8764"/>
                  <a:pt x="21" y="8752"/>
                  <a:pt x="16" y="8740"/>
                </a:cubicBezTo>
                <a:cubicBezTo>
                  <a:pt x="11" y="8727"/>
                  <a:pt x="7" y="8714"/>
                  <a:pt x="4" y="8700"/>
                </a:cubicBezTo>
                <a:cubicBezTo>
                  <a:pt x="2" y="8687"/>
                  <a:pt x="0" y="8673"/>
                  <a:pt x="0" y="8660"/>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82" name=""/>
          <p:cNvSpPr/>
          <p:nvPr/>
        </p:nvSpPr>
        <p:spPr>
          <a:xfrm>
            <a:off x="5556960" y="927360"/>
            <a:ext cx="4713480" cy="3192840"/>
          </a:xfrm>
          <a:custGeom>
            <a:avLst/>
            <a:gdLst/>
            <a:ahLst/>
            <a:rect l="0" t="0" r="r" b="b"/>
            <a:pathLst>
              <a:path fill="none" w="13093" h="8869">
                <a:moveTo>
                  <a:pt x="0" y="8660"/>
                </a:moveTo>
                <a:lnTo>
                  <a:pt x="0" y="209"/>
                </a:lnTo>
                <a:cubicBezTo>
                  <a:pt x="0" y="195"/>
                  <a:pt x="2" y="182"/>
                  <a:pt x="4" y="168"/>
                </a:cubicBezTo>
                <a:cubicBezTo>
                  <a:pt x="7" y="155"/>
                  <a:pt x="11" y="142"/>
                  <a:pt x="16" y="129"/>
                </a:cubicBezTo>
                <a:cubicBezTo>
                  <a:pt x="21" y="116"/>
                  <a:pt x="28" y="104"/>
                  <a:pt x="35" y="93"/>
                </a:cubicBezTo>
                <a:cubicBezTo>
                  <a:pt x="43" y="82"/>
                  <a:pt x="52" y="71"/>
                  <a:pt x="61" y="61"/>
                </a:cubicBezTo>
                <a:cubicBezTo>
                  <a:pt x="71" y="52"/>
                  <a:pt x="82" y="43"/>
                  <a:pt x="93" y="35"/>
                </a:cubicBezTo>
                <a:cubicBezTo>
                  <a:pt x="104" y="28"/>
                  <a:pt x="116" y="21"/>
                  <a:pt x="129" y="16"/>
                </a:cubicBezTo>
                <a:cubicBezTo>
                  <a:pt x="142" y="11"/>
                  <a:pt x="155" y="7"/>
                  <a:pt x="168" y="4"/>
                </a:cubicBezTo>
                <a:cubicBezTo>
                  <a:pt x="182" y="1"/>
                  <a:pt x="195" y="0"/>
                  <a:pt x="209" y="0"/>
                </a:cubicBezTo>
                <a:lnTo>
                  <a:pt x="12884" y="0"/>
                </a:lnTo>
                <a:cubicBezTo>
                  <a:pt x="12898" y="0"/>
                  <a:pt x="12912" y="1"/>
                  <a:pt x="12925" y="4"/>
                </a:cubicBezTo>
                <a:cubicBezTo>
                  <a:pt x="12939" y="7"/>
                  <a:pt x="12952" y="11"/>
                  <a:pt x="12964" y="16"/>
                </a:cubicBezTo>
                <a:cubicBezTo>
                  <a:pt x="12977" y="21"/>
                  <a:pt x="12989" y="28"/>
                  <a:pt x="13000" y="35"/>
                </a:cubicBezTo>
                <a:cubicBezTo>
                  <a:pt x="13012" y="43"/>
                  <a:pt x="13022" y="52"/>
                  <a:pt x="13032" y="61"/>
                </a:cubicBezTo>
                <a:cubicBezTo>
                  <a:pt x="13042" y="71"/>
                  <a:pt x="13051" y="82"/>
                  <a:pt x="13058" y="93"/>
                </a:cubicBezTo>
                <a:cubicBezTo>
                  <a:pt x="13066" y="104"/>
                  <a:pt x="13072" y="116"/>
                  <a:pt x="13077" y="129"/>
                </a:cubicBezTo>
                <a:cubicBezTo>
                  <a:pt x="13083" y="142"/>
                  <a:pt x="13087" y="155"/>
                  <a:pt x="13089" y="168"/>
                </a:cubicBezTo>
                <a:cubicBezTo>
                  <a:pt x="13092" y="182"/>
                  <a:pt x="13093" y="195"/>
                  <a:pt x="13093" y="209"/>
                </a:cubicBezTo>
                <a:lnTo>
                  <a:pt x="13093" y="8660"/>
                </a:lnTo>
                <a:cubicBezTo>
                  <a:pt x="13093" y="8673"/>
                  <a:pt x="13092" y="8687"/>
                  <a:pt x="13089" y="8700"/>
                </a:cubicBezTo>
                <a:cubicBezTo>
                  <a:pt x="13087" y="8714"/>
                  <a:pt x="13083" y="8727"/>
                  <a:pt x="13077" y="8740"/>
                </a:cubicBezTo>
                <a:cubicBezTo>
                  <a:pt x="13072" y="8752"/>
                  <a:pt x="13066" y="8764"/>
                  <a:pt x="13058" y="8776"/>
                </a:cubicBezTo>
                <a:cubicBezTo>
                  <a:pt x="13051" y="8787"/>
                  <a:pt x="13042" y="8798"/>
                  <a:pt x="13032" y="8807"/>
                </a:cubicBezTo>
                <a:cubicBezTo>
                  <a:pt x="13022" y="8817"/>
                  <a:pt x="13012" y="8826"/>
                  <a:pt x="13000" y="8833"/>
                </a:cubicBezTo>
                <a:cubicBezTo>
                  <a:pt x="12989" y="8841"/>
                  <a:pt x="12977" y="8847"/>
                  <a:pt x="12964" y="8853"/>
                </a:cubicBezTo>
                <a:cubicBezTo>
                  <a:pt x="12952" y="8858"/>
                  <a:pt x="12939" y="8862"/>
                  <a:pt x="12925" y="8865"/>
                </a:cubicBezTo>
                <a:cubicBezTo>
                  <a:pt x="12912" y="8867"/>
                  <a:pt x="12898" y="8869"/>
                  <a:pt x="12884" y="8869"/>
                </a:cubicBezTo>
                <a:lnTo>
                  <a:pt x="209" y="8869"/>
                </a:lnTo>
                <a:cubicBezTo>
                  <a:pt x="195" y="8869"/>
                  <a:pt x="182" y="8867"/>
                  <a:pt x="168" y="8865"/>
                </a:cubicBezTo>
                <a:cubicBezTo>
                  <a:pt x="155" y="8862"/>
                  <a:pt x="142" y="8858"/>
                  <a:pt x="129" y="8853"/>
                </a:cubicBezTo>
                <a:cubicBezTo>
                  <a:pt x="116" y="8847"/>
                  <a:pt x="104" y="8841"/>
                  <a:pt x="93" y="8833"/>
                </a:cubicBezTo>
                <a:cubicBezTo>
                  <a:pt x="82" y="8826"/>
                  <a:pt x="71" y="8817"/>
                  <a:pt x="61" y="8807"/>
                </a:cubicBezTo>
                <a:cubicBezTo>
                  <a:pt x="52" y="8798"/>
                  <a:pt x="43" y="8787"/>
                  <a:pt x="35" y="8776"/>
                </a:cubicBezTo>
                <a:cubicBezTo>
                  <a:pt x="28" y="8764"/>
                  <a:pt x="21" y="8752"/>
                  <a:pt x="16" y="8740"/>
                </a:cubicBezTo>
                <a:cubicBezTo>
                  <a:pt x="11" y="8727"/>
                  <a:pt x="7" y="8714"/>
                  <a:pt x="4" y="8700"/>
                </a:cubicBezTo>
                <a:cubicBezTo>
                  <a:pt x="2" y="8687"/>
                  <a:pt x="0" y="8673"/>
                  <a:pt x="0" y="8660"/>
                </a:cubicBezTo>
              </a:path>
            </a:pathLst>
          </a:custGeom>
          <a:ln w="16560">
            <a:solidFill>
              <a:srgbClr val="c0c0c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283" name=""/>
          <p:cNvSpPr txBox="1"/>
          <p:nvPr/>
        </p:nvSpPr>
        <p:spPr>
          <a:xfrm>
            <a:off x="2403360" y="5471640"/>
            <a:ext cx="290880" cy="137520"/>
          </a:xfrm>
          <a:prstGeom prst="rect">
            <a:avLst/>
          </a:prstGeom>
          <a:noFill/>
          <a:ln w="0">
            <a:noFill/>
          </a:ln>
        </p:spPr>
        <p:txBody>
          <a:bodyPr wrap="none" lIns="0" rIns="0" tIns="0" bIns="0" anchor="t">
            <a:spAutoFit/>
          </a:bodyPr>
          <a:p>
            <a:r>
              <a:rPr b="0" lang="en-US" sz="939" strike="noStrike" u="none">
                <a:solidFill>
                  <a:srgbClr val="000000"/>
                </a:solidFill>
                <a:effectLst/>
                <a:uFillTx/>
                <a:latin typeface="NotoSansJP"/>
                <a:ea typeface="NotoSansJP"/>
              </a:rPr>
              <a:t>peak</a:t>
            </a:r>
            <a:endParaRPr b="0" lang="en-US" sz="939" strike="noStrike" u="none">
              <a:solidFill>
                <a:srgbClr val="000000"/>
              </a:solidFill>
              <a:effectLst/>
              <a:uFillTx/>
              <a:latin typeface="Times New Roman"/>
            </a:endParaRPr>
          </a:p>
        </p:txBody>
      </p:sp>
      <p:pic>
        <p:nvPicPr>
          <p:cNvPr id="284" name="" descr=""/>
          <p:cNvPicPr/>
          <p:nvPr/>
        </p:nvPicPr>
        <p:blipFill>
          <a:blip r:embed="rId21"/>
          <a:stretch/>
        </p:blipFill>
        <p:spPr>
          <a:xfrm>
            <a:off x="5891400" y="1662840"/>
            <a:ext cx="100080" cy="133200"/>
          </a:xfrm>
          <a:prstGeom prst="rect">
            <a:avLst/>
          </a:prstGeom>
          <a:noFill/>
          <a:ln w="0">
            <a:noFill/>
          </a:ln>
        </p:spPr>
      </p:pic>
      <p:sp>
        <p:nvSpPr>
          <p:cNvPr id="285" name=""/>
          <p:cNvSpPr txBox="1"/>
          <p:nvPr/>
        </p:nvSpPr>
        <p:spPr>
          <a:xfrm>
            <a:off x="6994440" y="1090080"/>
            <a:ext cx="1844640" cy="244080"/>
          </a:xfrm>
          <a:prstGeom prst="rect">
            <a:avLst/>
          </a:prstGeom>
          <a:noFill/>
          <a:ln w="0">
            <a:noFill/>
          </a:ln>
        </p:spPr>
        <p:txBody>
          <a:bodyPr wrap="none" lIns="0" rIns="0" tIns="0" bIns="0" anchor="t">
            <a:spAutoFit/>
          </a:bodyPr>
          <a:p>
            <a:r>
              <a:rPr b="0" lang="zh-CN" sz="1320" strike="noStrike" u="none">
                <a:solidFill>
                  <a:srgbClr val="374151"/>
                </a:solidFill>
                <a:effectLst/>
                <a:uFillTx/>
                <a:latin typeface="NotoSansJP"/>
                <a:ea typeface="NotoSansJP"/>
              </a:rPr>
              <a:t>シミュレーション構成図</a:t>
            </a:r>
            <a:endParaRPr b="0" lang="en-US" sz="1320" strike="noStrike" u="none">
              <a:solidFill>
                <a:srgbClr val="000000"/>
              </a:solidFill>
              <a:effectLst/>
              <a:uFillTx/>
              <a:latin typeface="Times New Roman"/>
            </a:endParaRPr>
          </a:p>
        </p:txBody>
      </p:sp>
      <p:pic>
        <p:nvPicPr>
          <p:cNvPr id="286" name="" descr=""/>
          <p:cNvPicPr/>
          <p:nvPr/>
        </p:nvPicPr>
        <p:blipFill>
          <a:blip r:embed="rId22"/>
          <a:stretch/>
        </p:blipFill>
        <p:spPr>
          <a:xfrm>
            <a:off x="5891400" y="1896840"/>
            <a:ext cx="116640" cy="133200"/>
          </a:xfrm>
          <a:prstGeom prst="rect">
            <a:avLst/>
          </a:prstGeom>
          <a:noFill/>
          <a:ln w="0">
            <a:noFill/>
          </a:ln>
        </p:spPr>
      </p:pic>
      <p:sp>
        <p:nvSpPr>
          <p:cNvPr id="287" name=""/>
          <p:cNvSpPr txBox="1"/>
          <p:nvPr/>
        </p:nvSpPr>
        <p:spPr>
          <a:xfrm>
            <a:off x="6025320" y="1664280"/>
            <a:ext cx="133200" cy="157320"/>
          </a:xfrm>
          <a:prstGeom prst="rect">
            <a:avLst/>
          </a:prstGeom>
          <a:noFill/>
          <a:ln w="0">
            <a:noFill/>
          </a:ln>
        </p:spPr>
        <p:txBody>
          <a:bodyPr wrap="none" lIns="0" rIns="0" tIns="0" bIns="0" anchor="t">
            <a:spAutoFit/>
          </a:bodyPr>
          <a:p>
            <a:r>
              <a:rPr b="0" lang="en-US" sz="1050" strike="noStrike" u="none">
                <a:solidFill>
                  <a:srgbClr val="6b7280"/>
                </a:solidFill>
                <a:effectLst/>
                <a:uFillTx/>
                <a:latin typeface="NotoSansJP"/>
                <a:ea typeface="NotoSansJP"/>
              </a:rPr>
              <a:t>y</a:t>
            </a:r>
            <a:endParaRPr b="0" lang="en-US" sz="1050" strike="noStrike" u="none">
              <a:solidFill>
                <a:srgbClr val="000000"/>
              </a:solidFill>
              <a:effectLst/>
              <a:uFillTx/>
              <a:latin typeface="Times New Roman"/>
            </a:endParaRPr>
          </a:p>
        </p:txBody>
      </p:sp>
      <p:sp>
        <p:nvSpPr>
          <p:cNvPr id="288" name=""/>
          <p:cNvSpPr txBox="1"/>
          <p:nvPr/>
        </p:nvSpPr>
        <p:spPr>
          <a:xfrm>
            <a:off x="6041880" y="1898280"/>
            <a:ext cx="133200" cy="157320"/>
          </a:xfrm>
          <a:prstGeom prst="rect">
            <a:avLst/>
          </a:prstGeom>
          <a:noFill/>
          <a:ln w="0">
            <a:noFill/>
          </a:ln>
        </p:spPr>
        <p:txBody>
          <a:bodyPr wrap="none" lIns="0" rIns="0" tIns="0" bIns="0" anchor="t">
            <a:spAutoFit/>
          </a:bodyPr>
          <a:p>
            <a:r>
              <a:rPr b="0" lang="en-US" sz="1050" strike="noStrike" u="none">
                <a:solidFill>
                  <a:srgbClr val="6b7280"/>
                </a:solidFill>
                <a:effectLst/>
                <a:uFillTx/>
                <a:latin typeface="NotoSansJP"/>
                <a:ea typeface="NotoSansJP"/>
              </a:rPr>
              <a:t>x</a:t>
            </a:r>
            <a:endParaRPr b="0" lang="en-US" sz="1050" strike="noStrike" u="none">
              <a:solidFill>
                <a:srgbClr val="000000"/>
              </a:solidFill>
              <a:effectLst/>
              <a:uFillTx/>
              <a:latin typeface="Times New Roman"/>
            </a:endParaRPr>
          </a:p>
        </p:txBody>
      </p:sp>
      <p:pic>
        <p:nvPicPr>
          <p:cNvPr id="289" name="" descr=""/>
          <p:cNvPicPr/>
          <p:nvPr/>
        </p:nvPicPr>
        <p:blipFill>
          <a:blip r:embed="rId23"/>
          <a:stretch/>
        </p:blipFill>
        <p:spPr>
          <a:xfrm>
            <a:off x="7947360" y="2699280"/>
            <a:ext cx="208440" cy="133200"/>
          </a:xfrm>
          <a:prstGeom prst="rect">
            <a:avLst/>
          </a:prstGeom>
          <a:noFill/>
          <a:ln w="0">
            <a:noFill/>
          </a:ln>
        </p:spPr>
      </p:pic>
      <p:pic>
        <p:nvPicPr>
          <p:cNvPr id="290" name="" descr=""/>
          <p:cNvPicPr/>
          <p:nvPr/>
        </p:nvPicPr>
        <p:blipFill>
          <a:blip r:embed="rId24"/>
          <a:stretch/>
        </p:blipFill>
        <p:spPr>
          <a:xfrm>
            <a:off x="7947360" y="2883240"/>
            <a:ext cx="208440" cy="133200"/>
          </a:xfrm>
          <a:prstGeom prst="rect">
            <a:avLst/>
          </a:prstGeom>
          <a:noFill/>
          <a:ln w="0">
            <a:noFill/>
          </a:ln>
        </p:spPr>
      </p:pic>
      <p:pic>
        <p:nvPicPr>
          <p:cNvPr id="291" name="" descr=""/>
          <p:cNvPicPr/>
          <p:nvPr/>
        </p:nvPicPr>
        <p:blipFill>
          <a:blip r:embed="rId25"/>
          <a:stretch/>
        </p:blipFill>
        <p:spPr>
          <a:xfrm>
            <a:off x="7947360" y="3058560"/>
            <a:ext cx="208440" cy="133200"/>
          </a:xfrm>
          <a:prstGeom prst="rect">
            <a:avLst/>
          </a:prstGeom>
          <a:noFill/>
          <a:ln w="0">
            <a:noFill/>
          </a:ln>
        </p:spPr>
      </p:pic>
      <p:pic>
        <p:nvPicPr>
          <p:cNvPr id="292" name="" descr=""/>
          <p:cNvPicPr/>
          <p:nvPr/>
        </p:nvPicPr>
        <p:blipFill>
          <a:blip r:embed="rId26"/>
          <a:stretch/>
        </p:blipFill>
        <p:spPr>
          <a:xfrm>
            <a:off x="7947360" y="3242520"/>
            <a:ext cx="208440" cy="133200"/>
          </a:xfrm>
          <a:prstGeom prst="rect">
            <a:avLst/>
          </a:prstGeom>
          <a:noFill/>
          <a:ln w="0">
            <a:noFill/>
          </a:ln>
        </p:spPr>
      </p:pic>
      <p:pic>
        <p:nvPicPr>
          <p:cNvPr id="293" name="" descr=""/>
          <p:cNvPicPr/>
          <p:nvPr/>
        </p:nvPicPr>
        <p:blipFill>
          <a:blip r:embed="rId27"/>
          <a:stretch/>
        </p:blipFill>
        <p:spPr>
          <a:xfrm>
            <a:off x="7947360" y="3417840"/>
            <a:ext cx="208440" cy="166680"/>
          </a:xfrm>
          <a:prstGeom prst="rect">
            <a:avLst/>
          </a:prstGeom>
          <a:noFill/>
          <a:ln w="0">
            <a:noFill/>
          </a:ln>
        </p:spPr>
      </p:pic>
      <p:pic>
        <p:nvPicPr>
          <p:cNvPr id="294" name="" descr=""/>
          <p:cNvPicPr/>
          <p:nvPr/>
        </p:nvPicPr>
        <p:blipFill>
          <a:blip r:embed="rId28"/>
          <a:stretch/>
        </p:blipFill>
        <p:spPr>
          <a:xfrm>
            <a:off x="7947360" y="3635280"/>
            <a:ext cx="208440" cy="133200"/>
          </a:xfrm>
          <a:prstGeom prst="rect">
            <a:avLst/>
          </a:prstGeom>
          <a:noFill/>
          <a:ln w="0">
            <a:noFill/>
          </a:ln>
        </p:spPr>
      </p:pic>
      <p:pic>
        <p:nvPicPr>
          <p:cNvPr id="295" name="" descr=""/>
          <p:cNvPicPr/>
          <p:nvPr/>
        </p:nvPicPr>
        <p:blipFill>
          <a:blip r:embed="rId29"/>
          <a:stretch/>
        </p:blipFill>
        <p:spPr>
          <a:xfrm>
            <a:off x="7947360" y="3810600"/>
            <a:ext cx="208440" cy="133200"/>
          </a:xfrm>
          <a:prstGeom prst="rect">
            <a:avLst/>
          </a:prstGeom>
          <a:noFill/>
          <a:ln w="0">
            <a:noFill/>
          </a:ln>
        </p:spPr>
      </p:pic>
      <p:pic>
        <p:nvPicPr>
          <p:cNvPr id="296" name="" descr=""/>
          <p:cNvPicPr/>
          <p:nvPr/>
        </p:nvPicPr>
        <p:blipFill>
          <a:blip r:embed="rId30"/>
          <a:stretch/>
        </p:blipFill>
        <p:spPr>
          <a:xfrm>
            <a:off x="7947360" y="3994560"/>
            <a:ext cx="208440" cy="133200"/>
          </a:xfrm>
          <a:prstGeom prst="rect">
            <a:avLst/>
          </a:prstGeom>
          <a:noFill/>
          <a:ln w="0">
            <a:noFill/>
          </a:ln>
        </p:spPr>
      </p:pic>
      <p:pic>
        <p:nvPicPr>
          <p:cNvPr id="297" name="" descr=""/>
          <p:cNvPicPr/>
          <p:nvPr/>
        </p:nvPicPr>
        <p:blipFill>
          <a:blip r:embed="rId31"/>
          <a:stretch/>
        </p:blipFill>
        <p:spPr>
          <a:xfrm>
            <a:off x="7947360" y="4169880"/>
            <a:ext cx="208440" cy="133200"/>
          </a:xfrm>
          <a:prstGeom prst="rect">
            <a:avLst/>
          </a:prstGeom>
          <a:noFill/>
          <a:ln w="0">
            <a:noFill/>
          </a:ln>
        </p:spPr>
      </p:pic>
      <p:sp>
        <p:nvSpPr>
          <p:cNvPr id="298" name=""/>
          <p:cNvSpPr txBox="1"/>
          <p:nvPr/>
        </p:nvSpPr>
        <p:spPr>
          <a:xfrm>
            <a:off x="7696440" y="2523960"/>
            <a:ext cx="704880" cy="169560"/>
          </a:xfrm>
          <a:prstGeom prst="rect">
            <a:avLst/>
          </a:prstGeom>
          <a:noFill/>
          <a:ln w="0">
            <a:noFill/>
          </a:ln>
        </p:spPr>
        <p:txBody>
          <a:bodyPr wrap="none" lIns="0" rIns="0" tIns="0" bIns="0" anchor="t">
            <a:spAutoFit/>
          </a:bodyPr>
          <a:p>
            <a:r>
              <a:rPr b="0" lang="zh-CN" sz="920" strike="noStrike" u="none">
                <a:solidFill>
                  <a:srgbClr val="6b7280"/>
                </a:solidFill>
                <a:effectLst/>
                <a:uFillTx/>
                <a:latin typeface="NotoSansJP"/>
                <a:ea typeface="NotoSansJP"/>
              </a:rPr>
              <a:t>スピーカ配列</a:t>
            </a:r>
            <a:endParaRPr b="0" lang="en-US" sz="920" strike="noStrike" u="none">
              <a:solidFill>
                <a:srgbClr val="000000"/>
              </a:solidFill>
              <a:effectLst/>
              <a:uFillTx/>
              <a:latin typeface="Times New Roman"/>
            </a:endParaRPr>
          </a:p>
        </p:txBody>
      </p:sp>
      <p:pic>
        <p:nvPicPr>
          <p:cNvPr id="299" name="" descr=""/>
          <p:cNvPicPr/>
          <p:nvPr/>
        </p:nvPicPr>
        <p:blipFill>
          <a:blip r:embed="rId32"/>
          <a:stretch/>
        </p:blipFill>
        <p:spPr>
          <a:xfrm>
            <a:off x="8364960" y="3284280"/>
            <a:ext cx="2139120" cy="33120"/>
          </a:xfrm>
          <a:prstGeom prst="rect">
            <a:avLst/>
          </a:prstGeom>
          <a:noFill/>
          <a:ln w="0">
            <a:noFill/>
          </a:ln>
        </p:spPr>
      </p:pic>
      <p:pic>
        <p:nvPicPr>
          <p:cNvPr id="300" name="" descr=""/>
          <p:cNvPicPr/>
          <p:nvPr/>
        </p:nvPicPr>
        <p:blipFill>
          <a:blip r:embed="rId33"/>
          <a:stretch/>
        </p:blipFill>
        <p:spPr>
          <a:xfrm rot="21240000">
            <a:off x="8364960" y="3685320"/>
            <a:ext cx="2139120" cy="33120"/>
          </a:xfrm>
          <a:prstGeom prst="rect">
            <a:avLst/>
          </a:prstGeom>
          <a:noFill/>
          <a:ln w="0">
            <a:noFill/>
          </a:ln>
        </p:spPr>
      </p:pic>
      <p:pic>
        <p:nvPicPr>
          <p:cNvPr id="301" name="" descr=""/>
          <p:cNvPicPr/>
          <p:nvPr/>
        </p:nvPicPr>
        <p:blipFill>
          <a:blip r:embed="rId34"/>
          <a:stretch/>
        </p:blipFill>
        <p:spPr>
          <a:xfrm>
            <a:off x="8364960" y="4086360"/>
            <a:ext cx="2139120" cy="33120"/>
          </a:xfrm>
          <a:prstGeom prst="rect">
            <a:avLst/>
          </a:prstGeom>
          <a:noFill/>
          <a:ln w="0">
            <a:noFill/>
          </a:ln>
        </p:spPr>
      </p:pic>
      <p:pic>
        <p:nvPicPr>
          <p:cNvPr id="302" name="" descr=""/>
          <p:cNvPicPr/>
          <p:nvPr/>
        </p:nvPicPr>
        <p:blipFill>
          <a:blip r:embed="rId35"/>
          <a:stretch/>
        </p:blipFill>
        <p:spPr>
          <a:xfrm rot="360000">
            <a:off x="8364600" y="4487400"/>
            <a:ext cx="2139120" cy="33120"/>
          </a:xfrm>
          <a:prstGeom prst="rect">
            <a:avLst/>
          </a:prstGeom>
          <a:noFill/>
          <a:ln w="0">
            <a:noFill/>
          </a:ln>
        </p:spPr>
      </p:pic>
      <p:pic>
        <p:nvPicPr>
          <p:cNvPr id="303" name="" descr=""/>
          <p:cNvPicPr/>
          <p:nvPr/>
        </p:nvPicPr>
        <p:blipFill>
          <a:blip r:embed="rId36"/>
          <a:stretch/>
        </p:blipFill>
        <p:spPr>
          <a:xfrm>
            <a:off x="8364960" y="4888800"/>
            <a:ext cx="2139120" cy="33120"/>
          </a:xfrm>
          <a:prstGeom prst="rect">
            <a:avLst/>
          </a:prstGeom>
          <a:noFill/>
          <a:ln w="0">
            <a:noFill/>
          </a:ln>
        </p:spPr>
      </p:pic>
      <p:pic>
        <p:nvPicPr>
          <p:cNvPr id="304" name="" descr=""/>
          <p:cNvPicPr/>
          <p:nvPr/>
        </p:nvPicPr>
        <p:blipFill>
          <a:blip r:embed="rId37"/>
          <a:stretch/>
        </p:blipFill>
        <p:spPr>
          <a:xfrm>
            <a:off x="9417960" y="2498760"/>
            <a:ext cx="166680" cy="166680"/>
          </a:xfrm>
          <a:prstGeom prst="rect">
            <a:avLst/>
          </a:prstGeom>
          <a:noFill/>
          <a:ln w="0">
            <a:noFill/>
          </a:ln>
        </p:spPr>
      </p:pic>
      <p:sp>
        <p:nvSpPr>
          <p:cNvPr id="305" name=""/>
          <p:cNvSpPr txBox="1"/>
          <p:nvPr/>
        </p:nvSpPr>
        <p:spPr>
          <a:xfrm>
            <a:off x="7805160" y="4362120"/>
            <a:ext cx="547560" cy="169560"/>
          </a:xfrm>
          <a:prstGeom prst="rect">
            <a:avLst/>
          </a:prstGeom>
          <a:noFill/>
          <a:ln w="0">
            <a:noFill/>
          </a:ln>
        </p:spPr>
        <p:txBody>
          <a:bodyPr wrap="none" lIns="0" rIns="0" tIns="0" bIns="0" anchor="t">
            <a:spAutoFit/>
          </a:bodyPr>
          <a:p>
            <a:r>
              <a:rPr b="0" lang="zh-CN" sz="920" strike="noStrike" u="none">
                <a:solidFill>
                  <a:srgbClr val="6b7280"/>
                </a:solidFill>
                <a:effectLst/>
                <a:uFillTx/>
                <a:latin typeface="NotoSansJP"/>
                <a:ea typeface="NotoSansJP"/>
              </a:rPr>
              <a:t>原点</a:t>
            </a:r>
            <a:r>
              <a:rPr b="0" lang="en-US" sz="920" strike="noStrike" u="none">
                <a:solidFill>
                  <a:srgbClr val="6b7280"/>
                </a:solidFill>
                <a:effectLst/>
                <a:uFillTx/>
                <a:latin typeface="NotoSansJP"/>
                <a:ea typeface="NotoSansJP"/>
              </a:rPr>
              <a:t>(0,0)</a:t>
            </a:r>
            <a:endParaRPr b="0" lang="en-US" sz="920" strike="noStrike" u="none">
              <a:solidFill>
                <a:srgbClr val="000000"/>
              </a:solidFill>
              <a:effectLst/>
              <a:uFillTx/>
              <a:latin typeface="Times New Roman"/>
            </a:endParaRPr>
          </a:p>
        </p:txBody>
      </p:sp>
      <p:sp>
        <p:nvSpPr>
          <p:cNvPr id="306" name=""/>
          <p:cNvSpPr txBox="1"/>
          <p:nvPr/>
        </p:nvSpPr>
        <p:spPr>
          <a:xfrm>
            <a:off x="9263520" y="2724480"/>
            <a:ext cx="470160" cy="169560"/>
          </a:xfrm>
          <a:prstGeom prst="rect">
            <a:avLst/>
          </a:prstGeom>
          <a:noFill/>
          <a:ln w="0">
            <a:noFill/>
          </a:ln>
        </p:spPr>
        <p:txBody>
          <a:bodyPr wrap="none" lIns="0" rIns="0" tIns="0" bIns="0" anchor="t">
            <a:spAutoFit/>
          </a:bodyPr>
          <a:p>
            <a:r>
              <a:rPr b="0" lang="zh-CN" sz="920" strike="noStrike" u="none">
                <a:solidFill>
                  <a:srgbClr val="6b7280"/>
                </a:solidFill>
                <a:effectLst/>
                <a:uFillTx/>
                <a:latin typeface="NotoSansJP"/>
                <a:ea typeface="NotoSansJP"/>
              </a:rPr>
              <a:t>レシーバ</a:t>
            </a:r>
            <a:endParaRPr b="0" lang="en-US" sz="920" strike="noStrike" u="none">
              <a:solidFill>
                <a:srgbClr val="000000"/>
              </a:solidFill>
              <a:effectLst/>
              <a:uFillTx/>
              <a:latin typeface="Times New Roman"/>
            </a:endParaRPr>
          </a:p>
        </p:txBody>
      </p:sp>
      <p:sp>
        <p:nvSpPr>
          <p:cNvPr id="307" name=""/>
          <p:cNvSpPr txBox="1"/>
          <p:nvPr/>
        </p:nvSpPr>
        <p:spPr>
          <a:xfrm>
            <a:off x="9192240" y="2881800"/>
            <a:ext cx="45540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(200m, Y</a:t>
            </a:r>
            <a:endParaRPr b="0" lang="en-US" sz="790" strike="noStrike" u="none">
              <a:solidFill>
                <a:srgbClr val="000000"/>
              </a:solidFill>
              <a:effectLst/>
              <a:uFillTx/>
              <a:latin typeface="Times New Roman"/>
            </a:endParaRPr>
          </a:p>
        </p:txBody>
      </p:sp>
      <p:sp>
        <p:nvSpPr>
          <p:cNvPr id="308" name=""/>
          <p:cNvSpPr txBox="1"/>
          <p:nvPr/>
        </p:nvSpPr>
        <p:spPr>
          <a:xfrm>
            <a:off x="9768960" y="2881800"/>
            <a:ext cx="10008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a:t>
            </a:r>
            <a:endParaRPr b="0" lang="en-US" sz="790" strike="noStrike" u="none">
              <a:solidFill>
                <a:srgbClr val="000000"/>
              </a:solidFill>
              <a:effectLst/>
              <a:uFillTx/>
              <a:latin typeface="Times New Roman"/>
            </a:endParaRPr>
          </a:p>
        </p:txBody>
      </p:sp>
      <p:sp>
        <p:nvSpPr>
          <p:cNvPr id="309" name=""/>
          <p:cNvSpPr/>
          <p:nvPr/>
        </p:nvSpPr>
        <p:spPr>
          <a:xfrm>
            <a:off x="7696440" y="3844080"/>
            <a:ext cx="2106000" cy="8640"/>
          </a:xfrm>
          <a:custGeom>
            <a:avLst/>
            <a:gdLst/>
            <a:ahLst/>
            <a:rect l="0" t="0" r="r" b="b"/>
            <a:pathLst>
              <a:path w="5850" h="24">
                <a:moveTo>
                  <a:pt x="0" y="0"/>
                </a:moveTo>
                <a:lnTo>
                  <a:pt x="5850" y="0"/>
                </a:lnTo>
                <a:lnTo>
                  <a:pt x="5850" y="24"/>
                </a:lnTo>
                <a:lnTo>
                  <a:pt x="0" y="24"/>
                </a:lnTo>
                <a:lnTo>
                  <a:pt x="0" y="0"/>
                </a:lnTo>
                <a:close/>
              </a:path>
            </a:pathLst>
          </a:custGeom>
          <a:solidFill>
            <a:srgbClr val="9ca3a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10" name=""/>
          <p:cNvSpPr txBox="1"/>
          <p:nvPr/>
        </p:nvSpPr>
        <p:spPr>
          <a:xfrm>
            <a:off x="9593640" y="2921760"/>
            <a:ext cx="183240" cy="87480"/>
          </a:xfrm>
          <a:prstGeom prst="rect">
            <a:avLst/>
          </a:prstGeom>
          <a:noFill/>
          <a:ln w="0">
            <a:noFill/>
          </a:ln>
        </p:spPr>
        <p:txBody>
          <a:bodyPr wrap="none" lIns="0" rIns="0" tIns="0" bIns="0" anchor="t">
            <a:spAutoFit/>
          </a:bodyPr>
          <a:p>
            <a:r>
              <a:rPr b="0" lang="en-US" sz="590" strike="noStrike" u="none">
                <a:solidFill>
                  <a:srgbClr val="6b7280"/>
                </a:solidFill>
                <a:effectLst/>
                <a:uFillTx/>
                <a:latin typeface="NotoSansJP"/>
                <a:ea typeface="NotoSansJP"/>
              </a:rPr>
              <a:t>peak</a:t>
            </a:r>
            <a:endParaRPr b="0" lang="en-US" sz="590" strike="noStrike" u="none">
              <a:solidFill>
                <a:srgbClr val="000000"/>
              </a:solidFill>
              <a:effectLst/>
              <a:uFillTx/>
              <a:latin typeface="Times New Roman"/>
            </a:endParaRPr>
          </a:p>
        </p:txBody>
      </p:sp>
      <p:sp>
        <p:nvSpPr>
          <p:cNvPr id="311" name=""/>
          <p:cNvSpPr txBox="1"/>
          <p:nvPr/>
        </p:nvSpPr>
        <p:spPr>
          <a:xfrm>
            <a:off x="7696440" y="3767760"/>
            <a:ext cx="10008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0</a:t>
            </a:r>
            <a:endParaRPr b="0" lang="en-US" sz="790" strike="noStrike" u="none">
              <a:solidFill>
                <a:srgbClr val="000000"/>
              </a:solidFill>
              <a:effectLst/>
              <a:uFillTx/>
              <a:latin typeface="Times New Roman"/>
            </a:endParaRPr>
          </a:p>
        </p:txBody>
      </p:sp>
      <p:sp>
        <p:nvSpPr>
          <p:cNvPr id="312" name=""/>
          <p:cNvSpPr txBox="1"/>
          <p:nvPr/>
        </p:nvSpPr>
        <p:spPr>
          <a:xfrm>
            <a:off x="9534960" y="3767760"/>
            <a:ext cx="29052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200m</a:t>
            </a:r>
            <a:endParaRPr b="0" lang="en-US" sz="790" strike="noStrike" u="none">
              <a:solidFill>
                <a:srgbClr val="000000"/>
              </a:solidFill>
              <a:effectLst/>
              <a:uFillTx/>
              <a:latin typeface="Times New Roman"/>
            </a:endParaRPr>
          </a:p>
        </p:txBody>
      </p:sp>
      <p:sp>
        <p:nvSpPr>
          <p:cNvPr id="313" name=""/>
          <p:cNvSpPr txBox="1"/>
          <p:nvPr/>
        </p:nvSpPr>
        <p:spPr>
          <a:xfrm>
            <a:off x="8515440" y="3844080"/>
            <a:ext cx="470160" cy="169560"/>
          </a:xfrm>
          <a:prstGeom prst="rect">
            <a:avLst/>
          </a:prstGeom>
          <a:noFill/>
          <a:ln w="0">
            <a:noFill/>
          </a:ln>
        </p:spPr>
        <p:txBody>
          <a:bodyPr wrap="none" lIns="0" rIns="0" tIns="0" bIns="0" anchor="t">
            <a:spAutoFit/>
          </a:bodyPr>
          <a:p>
            <a:r>
              <a:rPr b="0" lang="zh-CN" sz="920" strike="noStrike" u="none">
                <a:solidFill>
                  <a:srgbClr val="4b5563"/>
                </a:solidFill>
                <a:effectLst/>
                <a:uFillTx/>
                <a:latin typeface="NotoSansJP"/>
                <a:ea typeface="NotoSansJP"/>
              </a:rPr>
              <a:t>測定距離</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
          <p:cNvSpPr/>
          <p:nvPr/>
        </p:nvSpPr>
        <p:spPr>
          <a:xfrm>
            <a:off x="0" y="0"/>
            <a:ext cx="10696680" cy="6234120"/>
          </a:xfrm>
          <a:custGeom>
            <a:avLst/>
            <a:gdLst/>
            <a:ahLst/>
            <a:rect l="0" t="0" r="r" b="b"/>
            <a:pathLst>
              <a:path w="29713" h="17317">
                <a:moveTo>
                  <a:pt x="0" y="0"/>
                </a:moveTo>
                <a:lnTo>
                  <a:pt x="29713" y="0"/>
                </a:lnTo>
                <a:lnTo>
                  <a:pt x="29713" y="17317"/>
                </a:lnTo>
                <a:lnTo>
                  <a:pt x="0" y="17317"/>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15" name="" descr=""/>
          <p:cNvPicPr/>
          <p:nvPr/>
        </p:nvPicPr>
        <p:blipFill>
          <a:blip r:embed="rId1"/>
          <a:stretch/>
        </p:blipFill>
        <p:spPr>
          <a:xfrm>
            <a:off x="0" y="0"/>
            <a:ext cx="10696320" cy="668160"/>
          </a:xfrm>
          <a:prstGeom prst="rect">
            <a:avLst/>
          </a:prstGeom>
          <a:noFill/>
          <a:ln w="0">
            <a:noFill/>
          </a:ln>
        </p:spPr>
      </p:pic>
      <p:pic>
        <p:nvPicPr>
          <p:cNvPr id="316" name="" descr=""/>
          <p:cNvPicPr/>
          <p:nvPr/>
        </p:nvPicPr>
        <p:blipFill>
          <a:blip r:embed="rId2"/>
          <a:stretch/>
        </p:blipFill>
        <p:spPr>
          <a:xfrm>
            <a:off x="334440" y="885960"/>
            <a:ext cx="133200" cy="150120"/>
          </a:xfrm>
          <a:prstGeom prst="rect">
            <a:avLst/>
          </a:prstGeom>
          <a:noFill/>
          <a:ln w="0">
            <a:noFill/>
          </a:ln>
        </p:spPr>
      </p:pic>
      <p:sp>
        <p:nvSpPr>
          <p:cNvPr id="317" name=""/>
          <p:cNvSpPr txBox="1"/>
          <p:nvPr/>
        </p:nvSpPr>
        <p:spPr>
          <a:xfrm>
            <a:off x="334440" y="210240"/>
            <a:ext cx="298872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位相遅延</a:t>
            </a:r>
            <a:r>
              <a:rPr b="0" lang="en-US" sz="1979" strike="noStrike" u="none">
                <a:solidFill>
                  <a:srgbClr val="ffffff"/>
                </a:solidFill>
                <a:effectLst/>
                <a:uFillTx/>
                <a:latin typeface="NotoSansJP"/>
                <a:ea typeface="NotoSansJP"/>
              </a:rPr>
              <a:t>-</a:t>
            </a:r>
            <a:r>
              <a:rPr b="0" lang="zh-CN" sz="1979" strike="noStrike" u="none">
                <a:solidFill>
                  <a:srgbClr val="ffffff"/>
                </a:solidFill>
                <a:effectLst/>
                <a:uFillTx/>
                <a:latin typeface="NotoSansJP"/>
                <a:ea typeface="NotoSansJP"/>
              </a:rPr>
              <a:t>角度特性の評価</a:t>
            </a:r>
            <a:endParaRPr b="0" lang="en-US" sz="1979" strike="noStrike" u="none">
              <a:solidFill>
                <a:srgbClr val="000000"/>
              </a:solidFill>
              <a:effectLst/>
              <a:uFillTx/>
              <a:latin typeface="Times New Roman"/>
            </a:endParaRPr>
          </a:p>
        </p:txBody>
      </p:sp>
      <p:pic>
        <p:nvPicPr>
          <p:cNvPr id="318" name="" descr=""/>
          <p:cNvPicPr/>
          <p:nvPr/>
        </p:nvPicPr>
        <p:blipFill>
          <a:blip r:embed="rId3"/>
          <a:stretch/>
        </p:blipFill>
        <p:spPr>
          <a:xfrm>
            <a:off x="401040" y="1194840"/>
            <a:ext cx="74880" cy="150120"/>
          </a:xfrm>
          <a:prstGeom prst="rect">
            <a:avLst/>
          </a:prstGeom>
          <a:noFill/>
          <a:ln w="0">
            <a:noFill/>
          </a:ln>
        </p:spPr>
      </p:pic>
      <p:sp>
        <p:nvSpPr>
          <p:cNvPr id="319" name=""/>
          <p:cNvSpPr txBox="1"/>
          <p:nvPr/>
        </p:nvSpPr>
        <p:spPr>
          <a:xfrm>
            <a:off x="534960" y="864360"/>
            <a:ext cx="67140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実験条件</a:t>
            </a:r>
            <a:endParaRPr b="0" lang="en-US" sz="1320" strike="noStrike" u="none">
              <a:solidFill>
                <a:srgbClr val="000000"/>
              </a:solidFill>
              <a:effectLst/>
              <a:uFillTx/>
              <a:latin typeface="Times New Roman"/>
            </a:endParaRPr>
          </a:p>
        </p:txBody>
      </p:sp>
      <p:pic>
        <p:nvPicPr>
          <p:cNvPr id="320" name="" descr=""/>
          <p:cNvPicPr/>
          <p:nvPr/>
        </p:nvPicPr>
        <p:blipFill>
          <a:blip r:embed="rId4"/>
          <a:stretch/>
        </p:blipFill>
        <p:spPr>
          <a:xfrm>
            <a:off x="401040" y="1512720"/>
            <a:ext cx="74880" cy="150120"/>
          </a:xfrm>
          <a:prstGeom prst="rect">
            <a:avLst/>
          </a:prstGeom>
          <a:noFill/>
          <a:ln w="0">
            <a:noFill/>
          </a:ln>
        </p:spPr>
      </p:pic>
      <p:sp>
        <p:nvSpPr>
          <p:cNvPr id="321" name=""/>
          <p:cNvSpPr txBox="1"/>
          <p:nvPr/>
        </p:nvSpPr>
        <p:spPr>
          <a:xfrm>
            <a:off x="601560" y="1197360"/>
            <a:ext cx="1992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位相遅延</a:t>
            </a:r>
            <a:r>
              <a:rPr b="0" lang="en-US" sz="1180" strike="noStrike" u="none">
                <a:solidFill>
                  <a:srgbClr val="000000"/>
                </a:solidFill>
                <a:effectLst/>
                <a:uFillTx/>
                <a:latin typeface="NotoSansJP"/>
                <a:ea typeface="NotoSansJP"/>
              </a:rPr>
              <a:t>: </a:t>
            </a:r>
            <a:r>
              <a:rPr b="0" lang="en-US" sz="1180" strike="noStrike" u="none">
                <a:solidFill>
                  <a:srgbClr val="ff8c00"/>
                </a:solidFill>
                <a:effectLst/>
                <a:uFillTx/>
                <a:latin typeface="NotoSansJP"/>
                <a:ea typeface="NotoSansJP"/>
              </a:rPr>
              <a:t>-12ms</a:t>
            </a:r>
            <a:r>
              <a:rPr b="0" lang="zh-CN" sz="1180" strike="noStrike" u="none">
                <a:solidFill>
                  <a:srgbClr val="ff8c00"/>
                </a:solidFill>
                <a:effectLst/>
                <a:uFillTx/>
                <a:latin typeface="NotoSansJP"/>
                <a:ea typeface="NotoSansJP"/>
              </a:rPr>
              <a:t>～</a:t>
            </a:r>
            <a:r>
              <a:rPr b="0" lang="en-US" sz="1180" strike="noStrike" u="none">
                <a:solidFill>
                  <a:srgbClr val="ff8c00"/>
                </a:solidFill>
                <a:effectLst/>
                <a:uFillTx/>
                <a:latin typeface="NotoSansJP"/>
                <a:ea typeface="NotoSansJP"/>
              </a:rPr>
              <a:t>+12ms</a:t>
            </a:r>
            <a:endParaRPr b="0" lang="en-US" sz="1180" strike="noStrike" u="none">
              <a:solidFill>
                <a:srgbClr val="000000"/>
              </a:solidFill>
              <a:effectLst/>
              <a:uFillTx/>
              <a:latin typeface="Times New Roman"/>
            </a:endParaRPr>
          </a:p>
        </p:txBody>
      </p:sp>
      <p:pic>
        <p:nvPicPr>
          <p:cNvPr id="322" name="" descr=""/>
          <p:cNvPicPr/>
          <p:nvPr/>
        </p:nvPicPr>
        <p:blipFill>
          <a:blip r:embed="rId5"/>
          <a:stretch/>
        </p:blipFill>
        <p:spPr>
          <a:xfrm>
            <a:off x="401040" y="1830240"/>
            <a:ext cx="74880" cy="150120"/>
          </a:xfrm>
          <a:prstGeom prst="rect">
            <a:avLst/>
          </a:prstGeom>
          <a:noFill/>
          <a:ln w="0">
            <a:noFill/>
          </a:ln>
        </p:spPr>
      </p:pic>
      <p:sp>
        <p:nvSpPr>
          <p:cNvPr id="323" name=""/>
          <p:cNvSpPr txBox="1"/>
          <p:nvPr/>
        </p:nvSpPr>
        <p:spPr>
          <a:xfrm>
            <a:off x="601560" y="1514880"/>
            <a:ext cx="9896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音源間隔</a:t>
            </a:r>
            <a:r>
              <a:rPr b="0" lang="en-US" sz="1180" strike="noStrike" u="none">
                <a:solidFill>
                  <a:srgbClr val="000000"/>
                </a:solidFill>
                <a:effectLst/>
                <a:uFillTx/>
                <a:latin typeface="NotoSansJP"/>
                <a:ea typeface="NotoSansJP"/>
              </a:rPr>
              <a:t>: </a:t>
            </a:r>
            <a:r>
              <a:rPr b="0" lang="en-US" sz="1180" strike="noStrike" u="none">
                <a:solidFill>
                  <a:srgbClr val="ff8c00"/>
                </a:solidFill>
                <a:effectLst/>
                <a:uFillTx/>
                <a:latin typeface="NotoSansJP"/>
                <a:ea typeface="NotoSansJP"/>
              </a:rPr>
              <a:t>5m</a:t>
            </a:r>
            <a:endParaRPr b="0" lang="en-US" sz="1180" strike="noStrike" u="none">
              <a:solidFill>
                <a:srgbClr val="000000"/>
              </a:solidFill>
              <a:effectLst/>
              <a:uFillTx/>
              <a:latin typeface="Times New Roman"/>
            </a:endParaRPr>
          </a:p>
        </p:txBody>
      </p:sp>
      <p:pic>
        <p:nvPicPr>
          <p:cNvPr id="324" name="" descr=""/>
          <p:cNvPicPr/>
          <p:nvPr/>
        </p:nvPicPr>
        <p:blipFill>
          <a:blip r:embed="rId6"/>
          <a:stretch/>
        </p:blipFill>
        <p:spPr>
          <a:xfrm>
            <a:off x="401040" y="2147760"/>
            <a:ext cx="74880" cy="150120"/>
          </a:xfrm>
          <a:prstGeom prst="rect">
            <a:avLst/>
          </a:prstGeom>
          <a:noFill/>
          <a:ln w="0">
            <a:noFill/>
          </a:ln>
        </p:spPr>
      </p:pic>
      <p:sp>
        <p:nvSpPr>
          <p:cNvPr id="325" name=""/>
          <p:cNvSpPr txBox="1"/>
          <p:nvPr/>
        </p:nvSpPr>
        <p:spPr>
          <a:xfrm>
            <a:off x="601560" y="1832760"/>
            <a:ext cx="9716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周波数</a:t>
            </a:r>
            <a:r>
              <a:rPr b="0" lang="en-US" sz="1180" strike="noStrike" u="none">
                <a:solidFill>
                  <a:srgbClr val="000000"/>
                </a:solidFill>
                <a:effectLst/>
                <a:uFillTx/>
                <a:latin typeface="NotoSansJP"/>
                <a:ea typeface="NotoSansJP"/>
              </a:rPr>
              <a:t>: </a:t>
            </a:r>
            <a:r>
              <a:rPr b="0" lang="en-US" sz="1180" strike="noStrike" u="none">
                <a:solidFill>
                  <a:srgbClr val="ff8c00"/>
                </a:solidFill>
                <a:effectLst/>
                <a:uFillTx/>
                <a:latin typeface="NotoSansJP"/>
                <a:ea typeface="NotoSansJP"/>
              </a:rPr>
              <a:t>1kHz</a:t>
            </a:r>
            <a:endParaRPr b="0" lang="en-US" sz="1180" strike="noStrike" u="none">
              <a:solidFill>
                <a:srgbClr val="000000"/>
              </a:solidFill>
              <a:effectLst/>
              <a:uFillTx/>
              <a:latin typeface="Times New Roman"/>
            </a:endParaRPr>
          </a:p>
        </p:txBody>
      </p:sp>
      <p:sp>
        <p:nvSpPr>
          <p:cNvPr id="326" name=""/>
          <p:cNvSpPr/>
          <p:nvPr/>
        </p:nvSpPr>
        <p:spPr>
          <a:xfrm>
            <a:off x="3681000" y="1199160"/>
            <a:ext cx="6677280" cy="3050280"/>
          </a:xfrm>
          <a:custGeom>
            <a:avLst/>
            <a:gdLst/>
            <a:ahLst/>
            <a:rect l="0" t="0" r="r" b="b"/>
            <a:pathLst>
              <a:path w="18548" h="8473">
                <a:moveTo>
                  <a:pt x="0" y="8299"/>
                </a:moveTo>
                <a:lnTo>
                  <a:pt x="0" y="174"/>
                </a:lnTo>
                <a:cubicBezTo>
                  <a:pt x="0" y="162"/>
                  <a:pt x="1" y="151"/>
                  <a:pt x="3" y="140"/>
                </a:cubicBezTo>
                <a:cubicBezTo>
                  <a:pt x="5" y="128"/>
                  <a:pt x="9" y="118"/>
                  <a:pt x="13" y="107"/>
                </a:cubicBezTo>
                <a:cubicBezTo>
                  <a:pt x="17" y="96"/>
                  <a:pt x="23" y="86"/>
                  <a:pt x="29" y="77"/>
                </a:cubicBezTo>
                <a:cubicBezTo>
                  <a:pt x="36" y="67"/>
                  <a:pt x="43" y="59"/>
                  <a:pt x="51" y="51"/>
                </a:cubicBezTo>
                <a:cubicBezTo>
                  <a:pt x="59" y="42"/>
                  <a:pt x="68" y="35"/>
                  <a:pt x="77" y="29"/>
                </a:cubicBezTo>
                <a:cubicBezTo>
                  <a:pt x="87" y="23"/>
                  <a:pt x="97" y="17"/>
                  <a:pt x="107" y="13"/>
                </a:cubicBezTo>
                <a:cubicBezTo>
                  <a:pt x="118" y="8"/>
                  <a:pt x="129" y="5"/>
                  <a:pt x="140" y="3"/>
                </a:cubicBezTo>
                <a:cubicBezTo>
                  <a:pt x="151" y="1"/>
                  <a:pt x="163" y="0"/>
                  <a:pt x="174" y="0"/>
                </a:cubicBezTo>
                <a:lnTo>
                  <a:pt x="18374" y="0"/>
                </a:lnTo>
                <a:cubicBezTo>
                  <a:pt x="18385" y="0"/>
                  <a:pt x="18397" y="1"/>
                  <a:pt x="18408" y="3"/>
                </a:cubicBezTo>
                <a:cubicBezTo>
                  <a:pt x="18419" y="5"/>
                  <a:pt x="18430" y="8"/>
                  <a:pt x="18441" y="13"/>
                </a:cubicBezTo>
                <a:cubicBezTo>
                  <a:pt x="18451" y="17"/>
                  <a:pt x="18461" y="23"/>
                  <a:pt x="18471" y="29"/>
                </a:cubicBezTo>
                <a:cubicBezTo>
                  <a:pt x="18480" y="35"/>
                  <a:pt x="18489" y="42"/>
                  <a:pt x="18497" y="51"/>
                </a:cubicBezTo>
                <a:cubicBezTo>
                  <a:pt x="18505" y="59"/>
                  <a:pt x="18512" y="67"/>
                  <a:pt x="18519" y="77"/>
                </a:cubicBezTo>
                <a:cubicBezTo>
                  <a:pt x="18525" y="86"/>
                  <a:pt x="18530" y="96"/>
                  <a:pt x="18535" y="107"/>
                </a:cubicBezTo>
                <a:cubicBezTo>
                  <a:pt x="18539" y="118"/>
                  <a:pt x="18543" y="128"/>
                  <a:pt x="18545" y="140"/>
                </a:cubicBezTo>
                <a:cubicBezTo>
                  <a:pt x="18547" y="151"/>
                  <a:pt x="18548" y="162"/>
                  <a:pt x="18548" y="174"/>
                </a:cubicBezTo>
                <a:lnTo>
                  <a:pt x="18548" y="8299"/>
                </a:lnTo>
                <a:cubicBezTo>
                  <a:pt x="18548" y="8311"/>
                  <a:pt x="18547" y="8322"/>
                  <a:pt x="18545" y="8333"/>
                </a:cubicBezTo>
                <a:cubicBezTo>
                  <a:pt x="18543" y="8344"/>
                  <a:pt x="18539" y="8355"/>
                  <a:pt x="18535" y="8366"/>
                </a:cubicBezTo>
                <a:cubicBezTo>
                  <a:pt x="18530" y="8376"/>
                  <a:pt x="18525" y="8386"/>
                  <a:pt x="18519" y="8396"/>
                </a:cubicBezTo>
                <a:cubicBezTo>
                  <a:pt x="18512" y="8405"/>
                  <a:pt x="18505" y="8414"/>
                  <a:pt x="18497" y="8422"/>
                </a:cubicBezTo>
                <a:cubicBezTo>
                  <a:pt x="18489" y="8430"/>
                  <a:pt x="18480" y="8438"/>
                  <a:pt x="18471" y="8444"/>
                </a:cubicBezTo>
                <a:cubicBezTo>
                  <a:pt x="18461" y="8450"/>
                  <a:pt x="18451" y="8456"/>
                  <a:pt x="18441" y="8460"/>
                </a:cubicBezTo>
                <a:cubicBezTo>
                  <a:pt x="18430" y="8464"/>
                  <a:pt x="18419" y="8468"/>
                  <a:pt x="18408" y="8470"/>
                </a:cubicBezTo>
                <a:cubicBezTo>
                  <a:pt x="18397" y="8472"/>
                  <a:pt x="18385" y="8473"/>
                  <a:pt x="18374" y="8473"/>
                </a:cubicBezTo>
                <a:lnTo>
                  <a:pt x="174" y="8473"/>
                </a:lnTo>
                <a:cubicBezTo>
                  <a:pt x="163" y="8473"/>
                  <a:pt x="151" y="8472"/>
                  <a:pt x="140" y="8470"/>
                </a:cubicBezTo>
                <a:cubicBezTo>
                  <a:pt x="129" y="8468"/>
                  <a:pt x="118" y="8464"/>
                  <a:pt x="107" y="8460"/>
                </a:cubicBezTo>
                <a:cubicBezTo>
                  <a:pt x="97" y="8456"/>
                  <a:pt x="87" y="8450"/>
                  <a:pt x="77" y="8444"/>
                </a:cubicBezTo>
                <a:cubicBezTo>
                  <a:pt x="68" y="8438"/>
                  <a:pt x="59" y="8430"/>
                  <a:pt x="51" y="8422"/>
                </a:cubicBezTo>
                <a:cubicBezTo>
                  <a:pt x="43" y="8414"/>
                  <a:pt x="36" y="8405"/>
                  <a:pt x="29" y="8396"/>
                </a:cubicBezTo>
                <a:cubicBezTo>
                  <a:pt x="23" y="8386"/>
                  <a:pt x="17" y="8376"/>
                  <a:pt x="13" y="8366"/>
                </a:cubicBezTo>
                <a:cubicBezTo>
                  <a:pt x="9" y="8355"/>
                  <a:pt x="5" y="8344"/>
                  <a:pt x="3" y="8333"/>
                </a:cubicBezTo>
                <a:cubicBezTo>
                  <a:pt x="1" y="8322"/>
                  <a:pt x="0" y="8311"/>
                  <a:pt x="0" y="8299"/>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27" name=""/>
          <p:cNvSpPr/>
          <p:nvPr/>
        </p:nvSpPr>
        <p:spPr>
          <a:xfrm>
            <a:off x="3681000" y="1199160"/>
            <a:ext cx="6677280" cy="3050280"/>
          </a:xfrm>
          <a:custGeom>
            <a:avLst/>
            <a:gdLst/>
            <a:ahLst/>
            <a:rect l="0" t="0" r="r" b="b"/>
            <a:pathLst>
              <a:path fill="none" w="18548" h="8473">
                <a:moveTo>
                  <a:pt x="0" y="8299"/>
                </a:moveTo>
                <a:lnTo>
                  <a:pt x="0" y="174"/>
                </a:lnTo>
                <a:cubicBezTo>
                  <a:pt x="0" y="162"/>
                  <a:pt x="1" y="151"/>
                  <a:pt x="3" y="140"/>
                </a:cubicBezTo>
                <a:cubicBezTo>
                  <a:pt x="5" y="128"/>
                  <a:pt x="9" y="118"/>
                  <a:pt x="13" y="107"/>
                </a:cubicBezTo>
                <a:cubicBezTo>
                  <a:pt x="17" y="96"/>
                  <a:pt x="23" y="86"/>
                  <a:pt x="29" y="77"/>
                </a:cubicBezTo>
                <a:cubicBezTo>
                  <a:pt x="36" y="67"/>
                  <a:pt x="43" y="59"/>
                  <a:pt x="51" y="51"/>
                </a:cubicBezTo>
                <a:cubicBezTo>
                  <a:pt x="59" y="42"/>
                  <a:pt x="68" y="35"/>
                  <a:pt x="77" y="29"/>
                </a:cubicBezTo>
                <a:cubicBezTo>
                  <a:pt x="87" y="23"/>
                  <a:pt x="97" y="17"/>
                  <a:pt x="107" y="13"/>
                </a:cubicBezTo>
                <a:cubicBezTo>
                  <a:pt x="118" y="8"/>
                  <a:pt x="129" y="5"/>
                  <a:pt x="140" y="3"/>
                </a:cubicBezTo>
                <a:cubicBezTo>
                  <a:pt x="151" y="1"/>
                  <a:pt x="163" y="0"/>
                  <a:pt x="174" y="0"/>
                </a:cubicBezTo>
                <a:lnTo>
                  <a:pt x="18374" y="0"/>
                </a:lnTo>
                <a:cubicBezTo>
                  <a:pt x="18385" y="0"/>
                  <a:pt x="18397" y="1"/>
                  <a:pt x="18408" y="3"/>
                </a:cubicBezTo>
                <a:cubicBezTo>
                  <a:pt x="18419" y="5"/>
                  <a:pt x="18430" y="8"/>
                  <a:pt x="18441" y="13"/>
                </a:cubicBezTo>
                <a:cubicBezTo>
                  <a:pt x="18451" y="17"/>
                  <a:pt x="18461" y="23"/>
                  <a:pt x="18471" y="29"/>
                </a:cubicBezTo>
                <a:cubicBezTo>
                  <a:pt x="18480" y="35"/>
                  <a:pt x="18489" y="42"/>
                  <a:pt x="18497" y="51"/>
                </a:cubicBezTo>
                <a:cubicBezTo>
                  <a:pt x="18505" y="59"/>
                  <a:pt x="18512" y="67"/>
                  <a:pt x="18519" y="77"/>
                </a:cubicBezTo>
                <a:cubicBezTo>
                  <a:pt x="18525" y="86"/>
                  <a:pt x="18530" y="96"/>
                  <a:pt x="18535" y="107"/>
                </a:cubicBezTo>
                <a:cubicBezTo>
                  <a:pt x="18539" y="118"/>
                  <a:pt x="18543" y="128"/>
                  <a:pt x="18545" y="140"/>
                </a:cubicBezTo>
                <a:cubicBezTo>
                  <a:pt x="18547" y="151"/>
                  <a:pt x="18548" y="162"/>
                  <a:pt x="18548" y="174"/>
                </a:cubicBezTo>
                <a:lnTo>
                  <a:pt x="18548" y="8299"/>
                </a:lnTo>
                <a:cubicBezTo>
                  <a:pt x="18548" y="8311"/>
                  <a:pt x="18547" y="8322"/>
                  <a:pt x="18545" y="8333"/>
                </a:cubicBezTo>
                <a:cubicBezTo>
                  <a:pt x="18543" y="8344"/>
                  <a:pt x="18539" y="8355"/>
                  <a:pt x="18535" y="8366"/>
                </a:cubicBezTo>
                <a:cubicBezTo>
                  <a:pt x="18530" y="8376"/>
                  <a:pt x="18525" y="8386"/>
                  <a:pt x="18519" y="8396"/>
                </a:cubicBezTo>
                <a:cubicBezTo>
                  <a:pt x="18512" y="8405"/>
                  <a:pt x="18505" y="8414"/>
                  <a:pt x="18497" y="8422"/>
                </a:cubicBezTo>
                <a:cubicBezTo>
                  <a:pt x="18489" y="8430"/>
                  <a:pt x="18480" y="8438"/>
                  <a:pt x="18471" y="8444"/>
                </a:cubicBezTo>
                <a:cubicBezTo>
                  <a:pt x="18461" y="8450"/>
                  <a:pt x="18451" y="8456"/>
                  <a:pt x="18441" y="8460"/>
                </a:cubicBezTo>
                <a:cubicBezTo>
                  <a:pt x="18430" y="8464"/>
                  <a:pt x="18419" y="8468"/>
                  <a:pt x="18408" y="8470"/>
                </a:cubicBezTo>
                <a:cubicBezTo>
                  <a:pt x="18397" y="8472"/>
                  <a:pt x="18385" y="8473"/>
                  <a:pt x="18374" y="8473"/>
                </a:cubicBezTo>
                <a:lnTo>
                  <a:pt x="174" y="8473"/>
                </a:lnTo>
                <a:cubicBezTo>
                  <a:pt x="163" y="8473"/>
                  <a:pt x="151" y="8472"/>
                  <a:pt x="140" y="8470"/>
                </a:cubicBezTo>
                <a:cubicBezTo>
                  <a:pt x="129" y="8468"/>
                  <a:pt x="118" y="8464"/>
                  <a:pt x="107" y="8460"/>
                </a:cubicBezTo>
                <a:cubicBezTo>
                  <a:pt x="97" y="8456"/>
                  <a:pt x="87" y="8450"/>
                  <a:pt x="77" y="8444"/>
                </a:cubicBezTo>
                <a:cubicBezTo>
                  <a:pt x="68" y="8438"/>
                  <a:pt x="59" y="8430"/>
                  <a:pt x="51" y="8422"/>
                </a:cubicBezTo>
                <a:cubicBezTo>
                  <a:pt x="43" y="8414"/>
                  <a:pt x="36" y="8405"/>
                  <a:pt x="29" y="8396"/>
                </a:cubicBezTo>
                <a:cubicBezTo>
                  <a:pt x="23" y="8386"/>
                  <a:pt x="17" y="8376"/>
                  <a:pt x="13" y="8366"/>
                </a:cubicBezTo>
                <a:cubicBezTo>
                  <a:pt x="9" y="8355"/>
                  <a:pt x="5" y="8344"/>
                  <a:pt x="3" y="8333"/>
                </a:cubicBezTo>
                <a:cubicBezTo>
                  <a:pt x="1" y="8322"/>
                  <a:pt x="0" y="8311"/>
                  <a:pt x="0" y="8299"/>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328" name="" descr=""/>
          <p:cNvPicPr/>
          <p:nvPr/>
        </p:nvPicPr>
        <p:blipFill>
          <a:blip r:embed="rId7"/>
          <a:stretch/>
        </p:blipFill>
        <p:spPr>
          <a:xfrm>
            <a:off x="3677040" y="885960"/>
            <a:ext cx="150120" cy="150120"/>
          </a:xfrm>
          <a:prstGeom prst="rect">
            <a:avLst/>
          </a:prstGeom>
          <a:noFill/>
          <a:ln w="0">
            <a:noFill/>
          </a:ln>
        </p:spPr>
      </p:pic>
      <p:sp>
        <p:nvSpPr>
          <p:cNvPr id="329" name=""/>
          <p:cNvSpPr txBox="1"/>
          <p:nvPr/>
        </p:nvSpPr>
        <p:spPr>
          <a:xfrm>
            <a:off x="601560" y="2150280"/>
            <a:ext cx="11815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観測距離</a:t>
            </a:r>
            <a:r>
              <a:rPr b="0" lang="en-US" sz="1180" strike="noStrike" u="none">
                <a:solidFill>
                  <a:srgbClr val="000000"/>
                </a:solidFill>
                <a:effectLst/>
                <a:uFillTx/>
                <a:latin typeface="NotoSansJP"/>
                <a:ea typeface="NotoSansJP"/>
              </a:rPr>
              <a:t>: </a:t>
            </a:r>
            <a:r>
              <a:rPr b="0" lang="en-US" sz="1180" strike="noStrike" u="none">
                <a:solidFill>
                  <a:srgbClr val="ff8c00"/>
                </a:solidFill>
                <a:effectLst/>
                <a:uFillTx/>
                <a:latin typeface="NotoSansJP"/>
                <a:ea typeface="NotoSansJP"/>
              </a:rPr>
              <a:t>200m</a:t>
            </a:r>
            <a:endParaRPr b="0" lang="en-US" sz="1180" strike="noStrike" u="none">
              <a:solidFill>
                <a:srgbClr val="000000"/>
              </a:solidFill>
              <a:effectLst/>
              <a:uFillTx/>
              <a:latin typeface="Times New Roman"/>
            </a:endParaRPr>
          </a:p>
        </p:txBody>
      </p:sp>
      <p:pic>
        <p:nvPicPr>
          <p:cNvPr id="330" name="" descr=""/>
          <p:cNvPicPr/>
          <p:nvPr/>
        </p:nvPicPr>
        <p:blipFill>
          <a:blip r:embed="rId8"/>
          <a:stretch/>
        </p:blipFill>
        <p:spPr>
          <a:xfrm>
            <a:off x="3810600" y="1328760"/>
            <a:ext cx="6417720" cy="2506680"/>
          </a:xfrm>
          <a:prstGeom prst="rect">
            <a:avLst/>
          </a:prstGeom>
          <a:noFill/>
          <a:ln w="0">
            <a:noFill/>
          </a:ln>
        </p:spPr>
      </p:pic>
      <p:sp>
        <p:nvSpPr>
          <p:cNvPr id="331" name=""/>
          <p:cNvSpPr/>
          <p:nvPr/>
        </p:nvSpPr>
        <p:spPr>
          <a:xfrm>
            <a:off x="6258960" y="4011120"/>
            <a:ext cx="167400" cy="25200"/>
          </a:xfrm>
          <a:custGeom>
            <a:avLst/>
            <a:gdLst/>
            <a:ahLst/>
            <a:rect l="0" t="0" r="r" b="b"/>
            <a:pathLst>
              <a:path w="465" h="70">
                <a:moveTo>
                  <a:pt x="0" y="0"/>
                </a:moveTo>
                <a:lnTo>
                  <a:pt x="465" y="0"/>
                </a:lnTo>
                <a:lnTo>
                  <a:pt x="465" y="70"/>
                </a:lnTo>
                <a:lnTo>
                  <a:pt x="0" y="70"/>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32" name=""/>
          <p:cNvSpPr txBox="1"/>
          <p:nvPr/>
        </p:nvSpPr>
        <p:spPr>
          <a:xfrm>
            <a:off x="3894120" y="864360"/>
            <a:ext cx="232812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位相遅延</a:t>
            </a:r>
            <a:r>
              <a:rPr b="0" lang="en-US" sz="1320" strike="noStrike" u="none">
                <a:solidFill>
                  <a:srgbClr val="003366"/>
                </a:solidFill>
                <a:effectLst/>
                <a:uFillTx/>
                <a:latin typeface="NotoSansJP"/>
                <a:ea typeface="NotoSansJP"/>
              </a:rPr>
              <a:t>-</a:t>
            </a:r>
            <a:r>
              <a:rPr b="0" lang="zh-CN" sz="1320" strike="noStrike" u="none">
                <a:solidFill>
                  <a:srgbClr val="003366"/>
                </a:solidFill>
                <a:effectLst/>
                <a:uFillTx/>
                <a:latin typeface="NotoSansJP"/>
                <a:ea typeface="NotoSansJP"/>
              </a:rPr>
              <a:t>角度特性の評価結果</a:t>
            </a:r>
            <a:endParaRPr b="0" lang="en-US" sz="1320" strike="noStrike" u="none">
              <a:solidFill>
                <a:srgbClr val="000000"/>
              </a:solidFill>
              <a:effectLst/>
              <a:uFillTx/>
              <a:latin typeface="Times New Roman"/>
            </a:endParaRPr>
          </a:p>
        </p:txBody>
      </p:sp>
      <p:sp>
        <p:nvSpPr>
          <p:cNvPr id="333" name=""/>
          <p:cNvSpPr/>
          <p:nvPr/>
        </p:nvSpPr>
        <p:spPr>
          <a:xfrm>
            <a:off x="7144920" y="4011120"/>
            <a:ext cx="167400" cy="25200"/>
          </a:xfrm>
          <a:custGeom>
            <a:avLst/>
            <a:gdLst/>
            <a:ahLst/>
            <a:rect l="0" t="0" r="r" b="b"/>
            <a:pathLst>
              <a:path w="465" h="70">
                <a:moveTo>
                  <a:pt x="0" y="0"/>
                </a:moveTo>
                <a:lnTo>
                  <a:pt x="465" y="0"/>
                </a:lnTo>
                <a:lnTo>
                  <a:pt x="465" y="70"/>
                </a:lnTo>
                <a:lnTo>
                  <a:pt x="0" y="70"/>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34" name=""/>
          <p:cNvSpPr txBox="1"/>
          <p:nvPr/>
        </p:nvSpPr>
        <p:spPr>
          <a:xfrm>
            <a:off x="6493320" y="3953880"/>
            <a:ext cx="4032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理論値</a:t>
            </a:r>
            <a:endParaRPr b="0" lang="en-US" sz="1050" strike="noStrike" u="none">
              <a:solidFill>
                <a:srgbClr val="000000"/>
              </a:solidFill>
              <a:effectLst/>
              <a:uFillTx/>
              <a:latin typeface="Times New Roman"/>
            </a:endParaRPr>
          </a:p>
        </p:txBody>
      </p:sp>
      <p:sp>
        <p:nvSpPr>
          <p:cNvPr id="335" name=""/>
          <p:cNvSpPr/>
          <p:nvPr/>
        </p:nvSpPr>
        <p:spPr>
          <a:xfrm>
            <a:off x="350640" y="4479120"/>
            <a:ext cx="10011960" cy="1587960"/>
          </a:xfrm>
          <a:custGeom>
            <a:avLst/>
            <a:gdLst/>
            <a:ahLst/>
            <a:rect l="0" t="0" r="r" b="b"/>
            <a:pathLst>
              <a:path w="27811" h="4411">
                <a:moveTo>
                  <a:pt x="0" y="4411"/>
                </a:moveTo>
                <a:lnTo>
                  <a:pt x="0" y="0"/>
                </a:lnTo>
                <a:lnTo>
                  <a:pt x="27625" y="0"/>
                </a:lnTo>
                <a:cubicBezTo>
                  <a:pt x="27637" y="0"/>
                  <a:pt x="27649" y="1"/>
                  <a:pt x="27661" y="3"/>
                </a:cubicBezTo>
                <a:cubicBezTo>
                  <a:pt x="27673" y="6"/>
                  <a:pt x="27685" y="9"/>
                  <a:pt x="27696" y="14"/>
                </a:cubicBezTo>
                <a:cubicBezTo>
                  <a:pt x="27707" y="18"/>
                  <a:pt x="27718" y="24"/>
                  <a:pt x="27728" y="31"/>
                </a:cubicBezTo>
                <a:cubicBezTo>
                  <a:pt x="27738" y="38"/>
                  <a:pt x="27748" y="45"/>
                  <a:pt x="27756" y="54"/>
                </a:cubicBezTo>
                <a:cubicBezTo>
                  <a:pt x="27765" y="63"/>
                  <a:pt x="27773" y="72"/>
                  <a:pt x="27779" y="82"/>
                </a:cubicBezTo>
                <a:cubicBezTo>
                  <a:pt x="27786" y="92"/>
                  <a:pt x="27792" y="103"/>
                  <a:pt x="27797" y="114"/>
                </a:cubicBezTo>
                <a:cubicBezTo>
                  <a:pt x="27801" y="126"/>
                  <a:pt x="27805" y="137"/>
                  <a:pt x="27807" y="149"/>
                </a:cubicBezTo>
                <a:cubicBezTo>
                  <a:pt x="27809" y="161"/>
                  <a:pt x="27811" y="173"/>
                  <a:pt x="27811" y="185"/>
                </a:cubicBezTo>
                <a:lnTo>
                  <a:pt x="27811" y="4225"/>
                </a:lnTo>
                <a:cubicBezTo>
                  <a:pt x="27811" y="4238"/>
                  <a:pt x="27809" y="4250"/>
                  <a:pt x="27807" y="4262"/>
                </a:cubicBezTo>
                <a:cubicBezTo>
                  <a:pt x="27805" y="4274"/>
                  <a:pt x="27801" y="4285"/>
                  <a:pt x="27797" y="4297"/>
                </a:cubicBezTo>
                <a:cubicBezTo>
                  <a:pt x="27792" y="4308"/>
                  <a:pt x="27786" y="4319"/>
                  <a:pt x="27779" y="4329"/>
                </a:cubicBezTo>
                <a:cubicBezTo>
                  <a:pt x="27773" y="4339"/>
                  <a:pt x="27765" y="4348"/>
                  <a:pt x="27756" y="4357"/>
                </a:cubicBezTo>
                <a:cubicBezTo>
                  <a:pt x="27748" y="4365"/>
                  <a:pt x="27738" y="4373"/>
                  <a:pt x="27728" y="4380"/>
                </a:cubicBezTo>
                <a:cubicBezTo>
                  <a:pt x="27718" y="4387"/>
                  <a:pt x="27707" y="4392"/>
                  <a:pt x="27696" y="4397"/>
                </a:cubicBezTo>
                <a:cubicBezTo>
                  <a:pt x="27685" y="4402"/>
                  <a:pt x="27673" y="4405"/>
                  <a:pt x="27661" y="4408"/>
                </a:cubicBezTo>
                <a:cubicBezTo>
                  <a:pt x="27649" y="4410"/>
                  <a:pt x="27637" y="4411"/>
                  <a:pt x="27625" y="4411"/>
                </a:cubicBezTo>
                <a:lnTo>
                  <a:pt x="0" y="4411"/>
                </a:lnTo>
                <a:close/>
              </a:path>
            </a:pathLst>
          </a:custGeom>
          <a:solidFill>
            <a:srgbClr val="f0f4f8"/>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36" name=""/>
          <p:cNvSpPr/>
          <p:nvPr/>
        </p:nvSpPr>
        <p:spPr>
          <a:xfrm>
            <a:off x="334080" y="4479120"/>
            <a:ext cx="33840" cy="1587960"/>
          </a:xfrm>
          <a:custGeom>
            <a:avLst/>
            <a:gdLst/>
            <a:ahLst/>
            <a:rect l="0" t="0" r="r" b="b"/>
            <a:pathLst>
              <a:path w="94" h="4411">
                <a:moveTo>
                  <a:pt x="0" y="0"/>
                </a:moveTo>
                <a:lnTo>
                  <a:pt x="94" y="0"/>
                </a:lnTo>
                <a:lnTo>
                  <a:pt x="94" y="4411"/>
                </a:lnTo>
                <a:lnTo>
                  <a:pt x="0" y="4411"/>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337" name="" descr=""/>
          <p:cNvPicPr/>
          <p:nvPr/>
        </p:nvPicPr>
        <p:blipFill>
          <a:blip r:embed="rId9"/>
          <a:stretch/>
        </p:blipFill>
        <p:spPr>
          <a:xfrm>
            <a:off x="493200" y="4654800"/>
            <a:ext cx="116640" cy="150120"/>
          </a:xfrm>
          <a:prstGeom prst="rect">
            <a:avLst/>
          </a:prstGeom>
          <a:noFill/>
          <a:ln w="0">
            <a:noFill/>
          </a:ln>
        </p:spPr>
      </p:pic>
      <p:sp>
        <p:nvSpPr>
          <p:cNvPr id="338" name=""/>
          <p:cNvSpPr txBox="1"/>
          <p:nvPr/>
        </p:nvSpPr>
        <p:spPr>
          <a:xfrm>
            <a:off x="7378920" y="3953880"/>
            <a:ext cx="4032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実測値</a:t>
            </a:r>
            <a:endParaRPr b="0" lang="en-US" sz="1050" strike="noStrike" u="none">
              <a:solidFill>
                <a:srgbClr val="000000"/>
              </a:solidFill>
              <a:effectLst/>
              <a:uFillTx/>
              <a:latin typeface="Times New Roman"/>
            </a:endParaRPr>
          </a:p>
        </p:txBody>
      </p:sp>
      <p:pic>
        <p:nvPicPr>
          <p:cNvPr id="339" name="" descr=""/>
          <p:cNvPicPr/>
          <p:nvPr/>
        </p:nvPicPr>
        <p:blipFill>
          <a:blip r:embed="rId10"/>
          <a:stretch/>
        </p:blipFill>
        <p:spPr>
          <a:xfrm>
            <a:off x="493200" y="4947120"/>
            <a:ext cx="133200" cy="133200"/>
          </a:xfrm>
          <a:prstGeom prst="rect">
            <a:avLst/>
          </a:prstGeom>
          <a:noFill/>
          <a:ln w="0">
            <a:noFill/>
          </a:ln>
        </p:spPr>
      </p:pic>
      <p:sp>
        <p:nvSpPr>
          <p:cNvPr id="340" name=""/>
          <p:cNvSpPr txBox="1"/>
          <p:nvPr/>
        </p:nvSpPr>
        <p:spPr>
          <a:xfrm>
            <a:off x="676800" y="4648680"/>
            <a:ext cx="906120" cy="219960"/>
          </a:xfrm>
          <a:prstGeom prst="rect">
            <a:avLst/>
          </a:prstGeom>
          <a:noFill/>
          <a:ln w="0">
            <a:noFill/>
          </a:ln>
        </p:spPr>
        <p:txBody>
          <a:bodyPr wrap="none" lIns="0" rIns="0" tIns="0" bIns="0" anchor="t">
            <a:spAutoFit/>
          </a:bodyPr>
          <a:p>
            <a:r>
              <a:rPr b="0" lang="zh-CN" sz="1180" strike="noStrike" u="none">
                <a:solidFill>
                  <a:srgbClr val="1e40af"/>
                </a:solidFill>
                <a:effectLst/>
                <a:uFillTx/>
                <a:latin typeface="NotoSansJP"/>
                <a:ea typeface="NotoSansJP"/>
              </a:rPr>
              <a:t>主な観測結果</a:t>
            </a:r>
            <a:endParaRPr b="0" lang="en-US" sz="1180" strike="noStrike" u="none">
              <a:solidFill>
                <a:srgbClr val="000000"/>
              </a:solidFill>
              <a:effectLst/>
              <a:uFillTx/>
              <a:latin typeface="Times New Roman"/>
            </a:endParaRPr>
          </a:p>
        </p:txBody>
      </p:sp>
      <p:pic>
        <p:nvPicPr>
          <p:cNvPr id="341" name="" descr=""/>
          <p:cNvPicPr/>
          <p:nvPr/>
        </p:nvPicPr>
        <p:blipFill>
          <a:blip r:embed="rId11"/>
          <a:stretch/>
        </p:blipFill>
        <p:spPr>
          <a:xfrm>
            <a:off x="5431680" y="4947120"/>
            <a:ext cx="133200" cy="133200"/>
          </a:xfrm>
          <a:prstGeom prst="rect">
            <a:avLst/>
          </a:prstGeom>
          <a:noFill/>
          <a:ln w="0">
            <a:noFill/>
          </a:ln>
        </p:spPr>
      </p:pic>
      <p:sp>
        <p:nvSpPr>
          <p:cNvPr id="342" name=""/>
          <p:cNvSpPr txBox="1"/>
          <p:nvPr/>
        </p:nvSpPr>
        <p:spPr>
          <a:xfrm>
            <a:off x="752040" y="4939920"/>
            <a:ext cx="37558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位相遅延の絶対値が</a:t>
            </a:r>
            <a:r>
              <a:rPr b="0" lang="zh-CN" sz="1050" strike="noStrike" u="none">
                <a:solidFill>
                  <a:srgbClr val="ff8c00"/>
                </a:solidFill>
                <a:effectLst/>
                <a:uFillTx/>
                <a:latin typeface="NotoSansJP"/>
                <a:ea typeface="NotoSansJP"/>
              </a:rPr>
              <a:t>小さい領域</a:t>
            </a:r>
            <a:r>
              <a:rPr b="0" lang="zh-CN" sz="1050" strike="noStrike" u="none">
                <a:solidFill>
                  <a:srgbClr val="000000"/>
                </a:solidFill>
                <a:effectLst/>
                <a:uFillTx/>
                <a:latin typeface="NotoSansJP"/>
                <a:ea typeface="NotoSansJP"/>
              </a:rPr>
              <a:t>では理論値と近い値を得られた</a:t>
            </a:r>
            <a:endParaRPr b="0" lang="en-US" sz="1050" strike="noStrike" u="none">
              <a:solidFill>
                <a:srgbClr val="000000"/>
              </a:solidFill>
              <a:effectLst/>
              <a:uFillTx/>
              <a:latin typeface="Times New Roman"/>
            </a:endParaRPr>
          </a:p>
        </p:txBody>
      </p:sp>
      <p:pic>
        <p:nvPicPr>
          <p:cNvPr id="343" name="" descr=""/>
          <p:cNvPicPr/>
          <p:nvPr/>
        </p:nvPicPr>
        <p:blipFill>
          <a:blip r:embed="rId12"/>
          <a:stretch/>
        </p:blipFill>
        <p:spPr>
          <a:xfrm>
            <a:off x="493200" y="5365080"/>
            <a:ext cx="133200" cy="133200"/>
          </a:xfrm>
          <a:prstGeom prst="rect">
            <a:avLst/>
          </a:prstGeom>
          <a:noFill/>
          <a:ln w="0">
            <a:noFill/>
          </a:ln>
        </p:spPr>
      </p:pic>
      <p:sp>
        <p:nvSpPr>
          <p:cNvPr id="344" name=""/>
          <p:cNvSpPr txBox="1"/>
          <p:nvPr/>
        </p:nvSpPr>
        <p:spPr>
          <a:xfrm>
            <a:off x="5690880" y="4939920"/>
            <a:ext cx="2683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グラフは原点を中心に</a:t>
            </a:r>
            <a:r>
              <a:rPr b="0" lang="zh-CN" sz="1050" strike="noStrike" u="none">
                <a:solidFill>
                  <a:srgbClr val="ff8c00"/>
                </a:solidFill>
                <a:effectLst/>
                <a:uFillTx/>
                <a:latin typeface="NotoSansJP"/>
                <a:ea typeface="NotoSansJP"/>
              </a:rPr>
              <a:t>点対称</a:t>
            </a:r>
            <a:r>
              <a:rPr b="0" lang="zh-CN" sz="1050" strike="noStrike" u="none">
                <a:solidFill>
                  <a:srgbClr val="000000"/>
                </a:solidFill>
                <a:effectLst/>
                <a:uFillTx/>
                <a:latin typeface="NotoSansJP"/>
                <a:ea typeface="NotoSansJP"/>
              </a:rPr>
              <a:t>の形状を示した</a:t>
            </a:r>
            <a:endParaRPr b="0" lang="en-US" sz="1050" strike="noStrike" u="none">
              <a:solidFill>
                <a:srgbClr val="000000"/>
              </a:solidFill>
              <a:effectLst/>
              <a:uFillTx/>
              <a:latin typeface="Times New Roman"/>
            </a:endParaRPr>
          </a:p>
        </p:txBody>
      </p:sp>
      <p:pic>
        <p:nvPicPr>
          <p:cNvPr id="345" name="" descr=""/>
          <p:cNvPicPr/>
          <p:nvPr/>
        </p:nvPicPr>
        <p:blipFill>
          <a:blip r:embed="rId13"/>
          <a:stretch/>
        </p:blipFill>
        <p:spPr>
          <a:xfrm>
            <a:off x="5431680" y="5365080"/>
            <a:ext cx="133200" cy="133200"/>
          </a:xfrm>
          <a:prstGeom prst="rect">
            <a:avLst/>
          </a:prstGeom>
          <a:noFill/>
          <a:ln w="0">
            <a:noFill/>
          </a:ln>
        </p:spPr>
      </p:pic>
      <p:sp>
        <p:nvSpPr>
          <p:cNvPr id="346" name=""/>
          <p:cNvSpPr txBox="1"/>
          <p:nvPr/>
        </p:nvSpPr>
        <p:spPr>
          <a:xfrm>
            <a:off x="752040" y="5357880"/>
            <a:ext cx="2978280" cy="19404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NotoSansJP"/>
                <a:ea typeface="NotoSansJP"/>
              </a:rPr>
              <a:t>±6ms</a:t>
            </a:r>
            <a:r>
              <a:rPr b="0" lang="zh-CN" sz="1050" strike="noStrike" u="none">
                <a:solidFill>
                  <a:srgbClr val="000000"/>
                </a:solidFill>
                <a:effectLst/>
                <a:uFillTx/>
                <a:latin typeface="NotoSansJP"/>
                <a:ea typeface="NotoSansJP"/>
              </a:rPr>
              <a:t>を超える領域では実測値が理論値を上回る</a:t>
            </a:r>
            <a:endParaRPr b="0" lang="en-US" sz="1050" strike="noStrike" u="none">
              <a:solidFill>
                <a:srgbClr val="000000"/>
              </a:solidFill>
              <a:effectLst/>
              <a:uFillTx/>
              <a:latin typeface="Times New Roman"/>
            </a:endParaRPr>
          </a:p>
        </p:txBody>
      </p:sp>
      <p:pic>
        <p:nvPicPr>
          <p:cNvPr id="347" name="" descr=""/>
          <p:cNvPicPr/>
          <p:nvPr/>
        </p:nvPicPr>
        <p:blipFill>
          <a:blip r:embed="rId14"/>
          <a:stretch/>
        </p:blipFill>
        <p:spPr>
          <a:xfrm>
            <a:off x="493200" y="5757840"/>
            <a:ext cx="133200" cy="150120"/>
          </a:xfrm>
          <a:prstGeom prst="rect">
            <a:avLst/>
          </a:prstGeom>
          <a:noFill/>
          <a:ln w="0">
            <a:noFill/>
          </a:ln>
        </p:spPr>
      </p:pic>
      <p:sp>
        <p:nvSpPr>
          <p:cNvPr id="348" name=""/>
          <p:cNvSpPr txBox="1"/>
          <p:nvPr/>
        </p:nvSpPr>
        <p:spPr>
          <a:xfrm>
            <a:off x="5690880" y="5357880"/>
            <a:ext cx="33534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位相遅延が大きいほど</a:t>
            </a:r>
            <a:r>
              <a:rPr b="0" lang="zh-CN" sz="1050" strike="noStrike" u="none">
                <a:solidFill>
                  <a:srgbClr val="ff8c00"/>
                </a:solidFill>
                <a:effectLst/>
                <a:uFillTx/>
                <a:latin typeface="NotoSansJP"/>
                <a:ea typeface="NotoSansJP"/>
              </a:rPr>
              <a:t>勾配が緩やか</a:t>
            </a:r>
            <a:r>
              <a:rPr b="0" lang="zh-CN" sz="1050" strike="noStrike" u="none">
                <a:solidFill>
                  <a:srgbClr val="000000"/>
                </a:solidFill>
                <a:effectLst/>
                <a:uFillTx/>
                <a:latin typeface="NotoSansJP"/>
                <a:ea typeface="NotoSansJP"/>
              </a:rPr>
              <a:t>になり指向性が低下</a:t>
            </a:r>
            <a:endParaRPr b="0" lang="en-US" sz="1050" strike="noStrike" u="none">
              <a:solidFill>
                <a:srgbClr val="000000"/>
              </a:solidFill>
              <a:effectLst/>
              <a:uFillTx/>
              <a:latin typeface="Times New Roman"/>
            </a:endParaRPr>
          </a:p>
        </p:txBody>
      </p:sp>
      <p:sp>
        <p:nvSpPr>
          <p:cNvPr id="349" name=""/>
          <p:cNvSpPr txBox="1"/>
          <p:nvPr/>
        </p:nvSpPr>
        <p:spPr>
          <a:xfrm>
            <a:off x="727200" y="5751720"/>
            <a:ext cx="59450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結論</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位相遅延値の操作により</a:t>
            </a:r>
            <a:r>
              <a:rPr b="0" lang="zh-CN" sz="1180" strike="noStrike" u="none">
                <a:solidFill>
                  <a:srgbClr val="ff8c00"/>
                </a:solidFill>
                <a:effectLst/>
                <a:uFillTx/>
                <a:latin typeface="NotoSansJP"/>
                <a:ea typeface="NotoSansJP"/>
              </a:rPr>
              <a:t>最大約</a:t>
            </a:r>
            <a:r>
              <a:rPr b="0" lang="en-US" sz="1180" strike="noStrike" u="none">
                <a:solidFill>
                  <a:srgbClr val="ff8c00"/>
                </a:solidFill>
                <a:effectLst/>
                <a:uFillTx/>
                <a:latin typeface="NotoSansJP"/>
                <a:ea typeface="NotoSansJP"/>
              </a:rPr>
              <a:t>54</a:t>
            </a:r>
            <a:r>
              <a:rPr b="0" lang="zh-CN" sz="1180" strike="noStrike" u="none">
                <a:solidFill>
                  <a:srgbClr val="ff8c00"/>
                </a:solidFill>
                <a:effectLst/>
                <a:uFillTx/>
                <a:latin typeface="NotoSansJP"/>
                <a:ea typeface="NotoSansJP"/>
              </a:rPr>
              <a:t>度</a:t>
            </a:r>
            <a:r>
              <a:rPr b="0" lang="zh-CN" sz="1180" strike="noStrike" u="none">
                <a:solidFill>
                  <a:srgbClr val="000000"/>
                </a:solidFill>
                <a:effectLst/>
                <a:uFillTx/>
                <a:latin typeface="NotoSansJP"/>
                <a:ea typeface="NotoSansJP"/>
              </a:rPr>
              <a:t>の指向先変化が可能（全体で</a:t>
            </a:r>
            <a:r>
              <a:rPr b="0" lang="en-US" sz="1180" strike="noStrike" u="none">
                <a:solidFill>
                  <a:srgbClr val="000000"/>
                </a:solidFill>
                <a:effectLst/>
                <a:uFillTx/>
                <a:latin typeface="NotoSansJP"/>
                <a:ea typeface="NotoSansJP"/>
              </a:rPr>
              <a:t>100</a:t>
            </a:r>
            <a:r>
              <a:rPr b="0" lang="zh-CN" sz="1180" strike="noStrike" u="none">
                <a:solidFill>
                  <a:srgbClr val="000000"/>
                </a:solidFill>
                <a:effectLst/>
                <a:uFillTx/>
                <a:latin typeface="NotoSansJP"/>
                <a:ea typeface="NotoSansJP"/>
              </a:rPr>
              <a:t>度以上）</a:t>
            </a:r>
            <a:endParaRPr b="0" lang="en-US" sz="11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51" name="" descr=""/>
          <p:cNvPicPr/>
          <p:nvPr/>
        </p:nvPicPr>
        <p:blipFill>
          <a:blip r:embed="rId1"/>
          <a:stretch/>
        </p:blipFill>
        <p:spPr>
          <a:xfrm>
            <a:off x="0" y="0"/>
            <a:ext cx="10696320" cy="668160"/>
          </a:xfrm>
          <a:prstGeom prst="rect">
            <a:avLst/>
          </a:prstGeom>
          <a:noFill/>
          <a:ln w="0">
            <a:noFill/>
          </a:ln>
        </p:spPr>
      </p:pic>
      <p:sp>
        <p:nvSpPr>
          <p:cNvPr id="352" name=""/>
          <p:cNvSpPr/>
          <p:nvPr/>
        </p:nvSpPr>
        <p:spPr>
          <a:xfrm>
            <a:off x="434520" y="3593160"/>
            <a:ext cx="3827520" cy="1103400"/>
          </a:xfrm>
          <a:custGeom>
            <a:avLst/>
            <a:gdLst/>
            <a:ahLst/>
            <a:rect l="0" t="0" r="r" b="b"/>
            <a:pathLst>
              <a:path w="10632" h="3065">
                <a:moveTo>
                  <a:pt x="0" y="3065"/>
                </a:moveTo>
                <a:lnTo>
                  <a:pt x="0" y="0"/>
                </a:lnTo>
                <a:lnTo>
                  <a:pt x="10539" y="0"/>
                </a:lnTo>
                <a:cubicBezTo>
                  <a:pt x="10552" y="0"/>
                  <a:pt x="10563" y="2"/>
                  <a:pt x="10575" y="7"/>
                </a:cubicBezTo>
                <a:cubicBezTo>
                  <a:pt x="10586" y="12"/>
                  <a:pt x="10596" y="19"/>
                  <a:pt x="10605" y="27"/>
                </a:cubicBezTo>
                <a:cubicBezTo>
                  <a:pt x="10614" y="36"/>
                  <a:pt x="10620" y="46"/>
                  <a:pt x="10625" y="57"/>
                </a:cubicBezTo>
                <a:cubicBezTo>
                  <a:pt x="10630" y="69"/>
                  <a:pt x="10632" y="81"/>
                  <a:pt x="10632" y="93"/>
                </a:cubicBezTo>
                <a:lnTo>
                  <a:pt x="10632" y="2972"/>
                </a:lnTo>
                <a:cubicBezTo>
                  <a:pt x="10632" y="2985"/>
                  <a:pt x="10630" y="2997"/>
                  <a:pt x="10625" y="3008"/>
                </a:cubicBezTo>
                <a:cubicBezTo>
                  <a:pt x="10620" y="3019"/>
                  <a:pt x="10614" y="3029"/>
                  <a:pt x="10605" y="3038"/>
                </a:cubicBezTo>
                <a:cubicBezTo>
                  <a:pt x="10596" y="3047"/>
                  <a:pt x="10586" y="3053"/>
                  <a:pt x="10575" y="3058"/>
                </a:cubicBezTo>
                <a:cubicBezTo>
                  <a:pt x="10563" y="3063"/>
                  <a:pt x="10552" y="3065"/>
                  <a:pt x="10539" y="3065"/>
                </a:cubicBezTo>
                <a:lnTo>
                  <a:pt x="0" y="3065"/>
                </a:lnTo>
                <a:close/>
              </a:path>
            </a:pathLst>
          </a:custGeom>
          <a:solidFill>
            <a:srgbClr val="f0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53" name=""/>
          <p:cNvSpPr/>
          <p:nvPr/>
        </p:nvSpPr>
        <p:spPr>
          <a:xfrm>
            <a:off x="417600" y="3593160"/>
            <a:ext cx="33840" cy="1103400"/>
          </a:xfrm>
          <a:custGeom>
            <a:avLst/>
            <a:gdLst/>
            <a:ahLst/>
            <a:rect l="0" t="0" r="r" b="b"/>
            <a:pathLst>
              <a:path w="94" h="3065">
                <a:moveTo>
                  <a:pt x="0" y="0"/>
                </a:moveTo>
                <a:lnTo>
                  <a:pt x="94" y="0"/>
                </a:lnTo>
                <a:lnTo>
                  <a:pt x="94" y="3065"/>
                </a:lnTo>
                <a:lnTo>
                  <a:pt x="0" y="3065"/>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354" name="" descr=""/>
          <p:cNvPicPr/>
          <p:nvPr/>
        </p:nvPicPr>
        <p:blipFill>
          <a:blip r:embed="rId2"/>
          <a:stretch/>
        </p:blipFill>
        <p:spPr>
          <a:xfrm>
            <a:off x="417960" y="969480"/>
            <a:ext cx="208440" cy="166680"/>
          </a:xfrm>
          <a:prstGeom prst="rect">
            <a:avLst/>
          </a:prstGeom>
          <a:noFill/>
          <a:ln w="0">
            <a:noFill/>
          </a:ln>
        </p:spPr>
      </p:pic>
      <p:sp>
        <p:nvSpPr>
          <p:cNvPr id="355" name=""/>
          <p:cNvSpPr txBox="1"/>
          <p:nvPr/>
        </p:nvSpPr>
        <p:spPr>
          <a:xfrm>
            <a:off x="334440" y="210240"/>
            <a:ext cx="324036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発振周波数</a:t>
            </a:r>
            <a:r>
              <a:rPr b="0" lang="en-US" sz="1979" strike="noStrike" u="none">
                <a:solidFill>
                  <a:srgbClr val="ffffff"/>
                </a:solidFill>
                <a:effectLst/>
                <a:uFillTx/>
                <a:latin typeface="NotoSansJP"/>
                <a:ea typeface="NotoSansJP"/>
              </a:rPr>
              <a:t>-</a:t>
            </a:r>
            <a:r>
              <a:rPr b="0" lang="zh-CN" sz="1979" strike="noStrike" u="none">
                <a:solidFill>
                  <a:srgbClr val="ffffff"/>
                </a:solidFill>
                <a:effectLst/>
                <a:uFillTx/>
                <a:latin typeface="NotoSansJP"/>
                <a:ea typeface="NotoSansJP"/>
              </a:rPr>
              <a:t>角度特性の評価</a:t>
            </a:r>
            <a:endParaRPr b="0" lang="en-US" sz="1979" strike="noStrike" u="none">
              <a:solidFill>
                <a:srgbClr val="000000"/>
              </a:solidFill>
              <a:effectLst/>
              <a:uFillTx/>
              <a:latin typeface="Times New Roman"/>
            </a:endParaRPr>
          </a:p>
        </p:txBody>
      </p:sp>
      <p:pic>
        <p:nvPicPr>
          <p:cNvPr id="356" name="" descr=""/>
          <p:cNvPicPr/>
          <p:nvPr/>
        </p:nvPicPr>
        <p:blipFill>
          <a:blip r:embed="rId3"/>
          <a:stretch/>
        </p:blipFill>
        <p:spPr>
          <a:xfrm>
            <a:off x="417960" y="1353960"/>
            <a:ext cx="150120" cy="150120"/>
          </a:xfrm>
          <a:prstGeom prst="rect">
            <a:avLst/>
          </a:prstGeom>
          <a:noFill/>
          <a:ln w="0">
            <a:noFill/>
          </a:ln>
        </p:spPr>
      </p:pic>
      <p:sp>
        <p:nvSpPr>
          <p:cNvPr id="357" name=""/>
          <p:cNvSpPr txBox="1"/>
          <p:nvPr/>
        </p:nvSpPr>
        <p:spPr>
          <a:xfrm>
            <a:off x="727200" y="950400"/>
            <a:ext cx="8053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実験結果</a:t>
            </a:r>
            <a:endParaRPr b="0" lang="en-US" sz="1580" strike="noStrike" u="none">
              <a:solidFill>
                <a:srgbClr val="000000"/>
              </a:solidFill>
              <a:effectLst/>
              <a:uFillTx/>
              <a:latin typeface="Times New Roman"/>
            </a:endParaRPr>
          </a:p>
        </p:txBody>
      </p:sp>
      <p:sp>
        <p:nvSpPr>
          <p:cNvPr id="358" name=""/>
          <p:cNvSpPr txBox="1"/>
          <p:nvPr/>
        </p:nvSpPr>
        <p:spPr>
          <a:xfrm>
            <a:off x="693720" y="1356120"/>
            <a:ext cx="36759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発振周波数を</a:t>
            </a:r>
            <a:r>
              <a:rPr b="0" lang="en-US" sz="1180" strike="noStrike" u="none">
                <a:solidFill>
                  <a:srgbClr val="ff8c00"/>
                </a:solidFill>
                <a:effectLst/>
                <a:uFillTx/>
                <a:latin typeface="NotoSansJP"/>
                <a:ea typeface="NotoSansJP"/>
              </a:rPr>
              <a:t>100Hz</a:t>
            </a:r>
            <a:r>
              <a:rPr b="0" lang="zh-CN" sz="1180" strike="noStrike" u="none">
                <a:solidFill>
                  <a:srgbClr val="ff8c00"/>
                </a:solidFill>
                <a:effectLst/>
                <a:uFillTx/>
                <a:latin typeface="NotoSansJP"/>
                <a:ea typeface="NotoSansJP"/>
              </a:rPr>
              <a:t>〜</a:t>
            </a:r>
            <a:r>
              <a:rPr b="0" lang="en-US" sz="1180" strike="noStrike" u="none">
                <a:solidFill>
                  <a:srgbClr val="ff8c00"/>
                </a:solidFill>
                <a:effectLst/>
                <a:uFillTx/>
                <a:latin typeface="NotoSansJP"/>
                <a:ea typeface="NotoSansJP"/>
              </a:rPr>
              <a:t>16kHz</a:t>
            </a:r>
            <a:r>
              <a:rPr b="0" lang="zh-CN" sz="1180" strike="noStrike" u="none">
                <a:solidFill>
                  <a:srgbClr val="000000"/>
                </a:solidFill>
                <a:effectLst/>
                <a:uFillTx/>
                <a:latin typeface="NotoSansJP"/>
                <a:ea typeface="NotoSansJP"/>
              </a:rPr>
              <a:t>まで段階的に変化させ</a:t>
            </a:r>
            <a:endParaRPr b="0" lang="en-US" sz="1180" strike="noStrike" u="none">
              <a:solidFill>
                <a:srgbClr val="000000"/>
              </a:solidFill>
              <a:effectLst/>
              <a:uFillTx/>
              <a:latin typeface="Times New Roman"/>
            </a:endParaRPr>
          </a:p>
        </p:txBody>
      </p:sp>
      <p:pic>
        <p:nvPicPr>
          <p:cNvPr id="359" name="" descr=""/>
          <p:cNvPicPr/>
          <p:nvPr/>
        </p:nvPicPr>
        <p:blipFill>
          <a:blip r:embed="rId4"/>
          <a:stretch/>
        </p:blipFill>
        <p:spPr>
          <a:xfrm>
            <a:off x="417960" y="1980360"/>
            <a:ext cx="150120" cy="150120"/>
          </a:xfrm>
          <a:prstGeom prst="rect">
            <a:avLst/>
          </a:prstGeom>
          <a:noFill/>
          <a:ln w="0">
            <a:noFill/>
          </a:ln>
        </p:spPr>
      </p:pic>
      <p:sp>
        <p:nvSpPr>
          <p:cNvPr id="360" name=""/>
          <p:cNvSpPr txBox="1"/>
          <p:nvPr/>
        </p:nvSpPr>
        <p:spPr>
          <a:xfrm>
            <a:off x="693720" y="1598760"/>
            <a:ext cx="453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て測定</a:t>
            </a:r>
            <a:endParaRPr b="0" lang="en-US" sz="1180" strike="noStrike" u="none">
              <a:solidFill>
                <a:srgbClr val="000000"/>
              </a:solidFill>
              <a:effectLst/>
              <a:uFillTx/>
              <a:latin typeface="Times New Roman"/>
            </a:endParaRPr>
          </a:p>
        </p:txBody>
      </p:sp>
      <p:pic>
        <p:nvPicPr>
          <p:cNvPr id="361" name="" descr=""/>
          <p:cNvPicPr/>
          <p:nvPr/>
        </p:nvPicPr>
        <p:blipFill>
          <a:blip r:embed="rId5"/>
          <a:stretch/>
        </p:blipFill>
        <p:spPr>
          <a:xfrm>
            <a:off x="417960" y="2356560"/>
            <a:ext cx="141840" cy="150120"/>
          </a:xfrm>
          <a:prstGeom prst="rect">
            <a:avLst/>
          </a:prstGeom>
          <a:noFill/>
          <a:ln w="0">
            <a:noFill/>
          </a:ln>
        </p:spPr>
      </p:pic>
      <p:sp>
        <p:nvSpPr>
          <p:cNvPr id="362" name=""/>
          <p:cNvSpPr txBox="1"/>
          <p:nvPr/>
        </p:nvSpPr>
        <p:spPr>
          <a:xfrm>
            <a:off x="693720" y="1982880"/>
            <a:ext cx="347112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すべての周波数</a:t>
            </a:r>
            <a:r>
              <a:rPr b="0" lang="zh-CN" sz="1180" strike="noStrike" u="none">
                <a:solidFill>
                  <a:srgbClr val="000000"/>
                </a:solidFill>
                <a:effectLst/>
                <a:uFillTx/>
                <a:latin typeface="NotoSansJP"/>
                <a:ea typeface="NotoSansJP"/>
              </a:rPr>
              <a:t>において理論値と近い実測値を観測</a:t>
            </a:r>
            <a:endParaRPr b="0" lang="en-US" sz="1180" strike="noStrike" u="none">
              <a:solidFill>
                <a:srgbClr val="000000"/>
              </a:solidFill>
              <a:effectLst/>
              <a:uFillTx/>
              <a:latin typeface="Times New Roman"/>
            </a:endParaRPr>
          </a:p>
        </p:txBody>
      </p:sp>
      <p:sp>
        <p:nvSpPr>
          <p:cNvPr id="363" name=""/>
          <p:cNvSpPr txBox="1"/>
          <p:nvPr/>
        </p:nvSpPr>
        <p:spPr>
          <a:xfrm>
            <a:off x="685080" y="2359080"/>
            <a:ext cx="19620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周波数が変わっても</a:t>
            </a:r>
            <a:r>
              <a:rPr b="0" lang="zh-CN" sz="1180" strike="noStrike" u="none">
                <a:solidFill>
                  <a:srgbClr val="ff8c00"/>
                </a:solidFill>
                <a:effectLst/>
                <a:uFillTx/>
                <a:latin typeface="NotoSansJP"/>
                <a:ea typeface="NotoSansJP"/>
              </a:rPr>
              <a:t>指向角度</a:t>
            </a:r>
            <a:endParaRPr b="0" lang="en-US" sz="1180" strike="noStrike" u="none">
              <a:solidFill>
                <a:srgbClr val="000000"/>
              </a:solidFill>
              <a:effectLst/>
              <a:uFillTx/>
              <a:latin typeface="Times New Roman"/>
            </a:endParaRPr>
          </a:p>
        </p:txBody>
      </p:sp>
      <p:sp>
        <p:nvSpPr>
          <p:cNvPr id="364" name=""/>
          <p:cNvSpPr txBox="1"/>
          <p:nvPr/>
        </p:nvSpPr>
        <p:spPr>
          <a:xfrm>
            <a:off x="2624040" y="2362680"/>
            <a:ext cx="150120" cy="169560"/>
          </a:xfrm>
          <a:prstGeom prst="rect">
            <a:avLst/>
          </a:prstGeom>
          <a:noFill/>
          <a:ln w="0">
            <a:noFill/>
          </a:ln>
        </p:spPr>
        <p:txBody>
          <a:bodyPr wrap="none" lIns="0" rIns="0" tIns="0" bIns="0" anchor="t">
            <a:spAutoFit/>
          </a:bodyPr>
          <a:p>
            <a:r>
              <a:rPr b="0" lang="en-US" sz="1180" strike="noStrike" u="none">
                <a:solidFill>
                  <a:srgbClr val="ff8c00"/>
                </a:solidFill>
                <a:effectLst/>
                <a:uFillTx/>
                <a:latin typeface="Arial"/>
                <a:ea typeface="Arial"/>
              </a:rPr>
              <a:t>θ</a:t>
            </a:r>
            <a:endParaRPr b="0" lang="en-US" sz="1180" strike="noStrike" u="none">
              <a:solidFill>
                <a:srgbClr val="000000"/>
              </a:solidFill>
              <a:effectLst/>
              <a:uFillTx/>
              <a:latin typeface="Times New Roman"/>
            </a:endParaRPr>
          </a:p>
        </p:txBody>
      </p:sp>
      <p:sp>
        <p:nvSpPr>
          <p:cNvPr id="365" name=""/>
          <p:cNvSpPr txBox="1"/>
          <p:nvPr/>
        </p:nvSpPr>
        <p:spPr>
          <a:xfrm>
            <a:off x="2707560" y="2359080"/>
            <a:ext cx="150948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に変化がない</a:t>
            </a:r>
            <a:r>
              <a:rPr b="0" lang="zh-CN" sz="1180" strike="noStrike" u="none">
                <a:solidFill>
                  <a:srgbClr val="000000"/>
                </a:solidFill>
                <a:effectLst/>
                <a:uFillTx/>
                <a:latin typeface="NotoSansJP"/>
                <a:ea typeface="NotoSansJP"/>
              </a:rPr>
              <a:t>ことを確</a:t>
            </a:r>
            <a:endParaRPr b="0" lang="en-US" sz="1180" strike="noStrike" u="none">
              <a:solidFill>
                <a:srgbClr val="000000"/>
              </a:solidFill>
              <a:effectLst/>
              <a:uFillTx/>
              <a:latin typeface="Times New Roman"/>
            </a:endParaRPr>
          </a:p>
        </p:txBody>
      </p:sp>
      <p:pic>
        <p:nvPicPr>
          <p:cNvPr id="366" name="" descr=""/>
          <p:cNvPicPr/>
          <p:nvPr/>
        </p:nvPicPr>
        <p:blipFill>
          <a:blip r:embed="rId6"/>
          <a:stretch/>
        </p:blipFill>
        <p:spPr>
          <a:xfrm>
            <a:off x="417960" y="2975040"/>
            <a:ext cx="150120" cy="150120"/>
          </a:xfrm>
          <a:prstGeom prst="rect">
            <a:avLst/>
          </a:prstGeom>
          <a:noFill/>
          <a:ln w="0">
            <a:noFill/>
          </a:ln>
        </p:spPr>
      </p:pic>
      <p:sp>
        <p:nvSpPr>
          <p:cNvPr id="367" name=""/>
          <p:cNvSpPr txBox="1"/>
          <p:nvPr/>
        </p:nvSpPr>
        <p:spPr>
          <a:xfrm>
            <a:off x="685080" y="2601360"/>
            <a:ext cx="1515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認</a:t>
            </a:r>
            <a:endParaRPr b="0" lang="en-US" sz="1180" strike="noStrike" u="none">
              <a:solidFill>
                <a:srgbClr val="000000"/>
              </a:solidFill>
              <a:effectLst/>
              <a:uFillTx/>
              <a:latin typeface="Times New Roman"/>
            </a:endParaRPr>
          </a:p>
        </p:txBody>
      </p:sp>
      <p:sp>
        <p:nvSpPr>
          <p:cNvPr id="368" name=""/>
          <p:cNvSpPr txBox="1"/>
          <p:nvPr/>
        </p:nvSpPr>
        <p:spPr>
          <a:xfrm>
            <a:off x="693720" y="2977560"/>
            <a:ext cx="34707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位相遅延実験とは異なり、周波数領域による指向性</a:t>
            </a:r>
            <a:endParaRPr b="0" lang="en-US" sz="1180" strike="noStrike" u="none">
              <a:solidFill>
                <a:srgbClr val="000000"/>
              </a:solidFill>
              <a:effectLst/>
              <a:uFillTx/>
              <a:latin typeface="Times New Roman"/>
            </a:endParaRPr>
          </a:p>
        </p:txBody>
      </p:sp>
      <p:sp>
        <p:nvSpPr>
          <p:cNvPr id="369" name=""/>
          <p:cNvSpPr txBox="1"/>
          <p:nvPr/>
        </p:nvSpPr>
        <p:spPr>
          <a:xfrm>
            <a:off x="693720" y="3228120"/>
            <a:ext cx="19620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の上下変動は見られなかった</a:t>
            </a:r>
            <a:endParaRPr b="0" lang="en-US" sz="1180" strike="noStrike" u="none">
              <a:solidFill>
                <a:srgbClr val="000000"/>
              </a:solidFill>
              <a:effectLst/>
              <a:uFillTx/>
              <a:latin typeface="Times New Roman"/>
            </a:endParaRPr>
          </a:p>
        </p:txBody>
      </p:sp>
      <p:sp>
        <p:nvSpPr>
          <p:cNvPr id="370" name=""/>
          <p:cNvSpPr txBox="1"/>
          <p:nvPr/>
        </p:nvSpPr>
        <p:spPr>
          <a:xfrm>
            <a:off x="576720" y="3737880"/>
            <a:ext cx="755280" cy="219960"/>
          </a:xfrm>
          <a:prstGeom prst="rect">
            <a:avLst/>
          </a:prstGeom>
          <a:noFill/>
          <a:ln w="0">
            <a:noFill/>
          </a:ln>
        </p:spPr>
        <p:txBody>
          <a:bodyPr wrap="none" lIns="0" rIns="0" tIns="0" bIns="0" anchor="t">
            <a:spAutoFit/>
          </a:bodyPr>
          <a:p>
            <a:r>
              <a:rPr b="0" lang="zh-CN" sz="1180" strike="noStrike" u="none">
                <a:solidFill>
                  <a:srgbClr val="1e40af"/>
                </a:solidFill>
                <a:effectLst/>
                <a:uFillTx/>
                <a:latin typeface="NotoSansJP"/>
                <a:ea typeface="NotoSansJP"/>
              </a:rPr>
              <a:t>考察と応用</a:t>
            </a:r>
            <a:endParaRPr b="0" lang="en-US" sz="1180" strike="noStrike" u="none">
              <a:solidFill>
                <a:srgbClr val="000000"/>
              </a:solidFill>
              <a:effectLst/>
              <a:uFillTx/>
              <a:latin typeface="Times New Roman"/>
            </a:endParaRPr>
          </a:p>
        </p:txBody>
      </p:sp>
      <p:sp>
        <p:nvSpPr>
          <p:cNvPr id="371" name=""/>
          <p:cNvSpPr txBox="1"/>
          <p:nvPr/>
        </p:nvSpPr>
        <p:spPr>
          <a:xfrm>
            <a:off x="576720" y="4029120"/>
            <a:ext cx="3487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音声は複数の周波数が混合したものだが、同じ遅延を適用</a:t>
            </a:r>
            <a:endParaRPr b="0" lang="en-US" sz="1050" strike="noStrike" u="none">
              <a:solidFill>
                <a:srgbClr val="000000"/>
              </a:solidFill>
              <a:effectLst/>
              <a:uFillTx/>
              <a:latin typeface="Times New Roman"/>
            </a:endParaRPr>
          </a:p>
        </p:txBody>
      </p:sp>
      <p:sp>
        <p:nvSpPr>
          <p:cNvPr id="372" name=""/>
          <p:cNvSpPr txBox="1"/>
          <p:nvPr/>
        </p:nvSpPr>
        <p:spPr>
          <a:xfrm>
            <a:off x="576720" y="4229640"/>
            <a:ext cx="3487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するだけで音がそのまま伝搬できる。これは実用化にあた</a:t>
            </a:r>
            <a:endParaRPr b="0" lang="en-US" sz="1050" strike="noStrike" u="none">
              <a:solidFill>
                <a:srgbClr val="000000"/>
              </a:solidFill>
              <a:effectLst/>
              <a:uFillTx/>
              <a:latin typeface="Times New Roman"/>
            </a:endParaRPr>
          </a:p>
        </p:txBody>
      </p:sp>
      <p:sp>
        <p:nvSpPr>
          <p:cNvPr id="373" name=""/>
          <p:cNvSpPr/>
          <p:nvPr/>
        </p:nvSpPr>
        <p:spPr>
          <a:xfrm>
            <a:off x="4533480" y="923400"/>
            <a:ext cx="5741280" cy="3167280"/>
          </a:xfrm>
          <a:custGeom>
            <a:avLst/>
            <a:gdLst/>
            <a:ahLst/>
            <a:rect l="0" t="0" r="r" b="b"/>
            <a:pathLst>
              <a:path w="15948" h="8798">
                <a:moveTo>
                  <a:pt x="0" y="8624"/>
                </a:moveTo>
                <a:lnTo>
                  <a:pt x="0" y="174"/>
                </a:lnTo>
                <a:cubicBezTo>
                  <a:pt x="0" y="162"/>
                  <a:pt x="1" y="151"/>
                  <a:pt x="3" y="140"/>
                </a:cubicBezTo>
                <a:cubicBezTo>
                  <a:pt x="5" y="128"/>
                  <a:pt x="8" y="118"/>
                  <a:pt x="13" y="107"/>
                </a:cubicBezTo>
                <a:cubicBezTo>
                  <a:pt x="17" y="96"/>
                  <a:pt x="23" y="86"/>
                  <a:pt x="29" y="77"/>
                </a:cubicBezTo>
                <a:cubicBezTo>
                  <a:pt x="35" y="67"/>
                  <a:pt x="42" y="59"/>
                  <a:pt x="51" y="51"/>
                </a:cubicBezTo>
                <a:cubicBezTo>
                  <a:pt x="59" y="42"/>
                  <a:pt x="67" y="35"/>
                  <a:pt x="77" y="29"/>
                </a:cubicBezTo>
                <a:cubicBezTo>
                  <a:pt x="86" y="23"/>
                  <a:pt x="96" y="17"/>
                  <a:pt x="107" y="13"/>
                </a:cubicBezTo>
                <a:cubicBezTo>
                  <a:pt x="118" y="8"/>
                  <a:pt x="129" y="5"/>
                  <a:pt x="140" y="3"/>
                </a:cubicBezTo>
                <a:cubicBezTo>
                  <a:pt x="151" y="1"/>
                  <a:pt x="162" y="0"/>
                  <a:pt x="174" y="0"/>
                </a:cubicBezTo>
                <a:lnTo>
                  <a:pt x="15774" y="0"/>
                </a:lnTo>
                <a:cubicBezTo>
                  <a:pt x="15785" y="0"/>
                  <a:pt x="15797" y="1"/>
                  <a:pt x="15808" y="3"/>
                </a:cubicBezTo>
                <a:cubicBezTo>
                  <a:pt x="15819" y="5"/>
                  <a:pt x="15830" y="8"/>
                  <a:pt x="15840" y="13"/>
                </a:cubicBezTo>
                <a:cubicBezTo>
                  <a:pt x="15851" y="17"/>
                  <a:pt x="15861" y="23"/>
                  <a:pt x="15871" y="29"/>
                </a:cubicBezTo>
                <a:cubicBezTo>
                  <a:pt x="15880" y="35"/>
                  <a:pt x="15889" y="42"/>
                  <a:pt x="15897" y="51"/>
                </a:cubicBezTo>
                <a:cubicBezTo>
                  <a:pt x="15905" y="59"/>
                  <a:pt x="15912" y="67"/>
                  <a:pt x="15919" y="77"/>
                </a:cubicBezTo>
                <a:cubicBezTo>
                  <a:pt x="15925" y="86"/>
                  <a:pt x="15930" y="96"/>
                  <a:pt x="15935" y="107"/>
                </a:cubicBezTo>
                <a:cubicBezTo>
                  <a:pt x="15939" y="118"/>
                  <a:pt x="15942" y="128"/>
                  <a:pt x="15945" y="140"/>
                </a:cubicBezTo>
                <a:cubicBezTo>
                  <a:pt x="15947" y="151"/>
                  <a:pt x="15948" y="162"/>
                  <a:pt x="15948" y="174"/>
                </a:cubicBezTo>
                <a:lnTo>
                  <a:pt x="15948" y="8624"/>
                </a:lnTo>
                <a:cubicBezTo>
                  <a:pt x="15948" y="8636"/>
                  <a:pt x="15947" y="8647"/>
                  <a:pt x="15945" y="8658"/>
                </a:cubicBezTo>
                <a:cubicBezTo>
                  <a:pt x="15942" y="8669"/>
                  <a:pt x="15939" y="8680"/>
                  <a:pt x="15935" y="8691"/>
                </a:cubicBezTo>
                <a:cubicBezTo>
                  <a:pt x="15930" y="8701"/>
                  <a:pt x="15925" y="8711"/>
                  <a:pt x="15919" y="8721"/>
                </a:cubicBezTo>
                <a:cubicBezTo>
                  <a:pt x="15912" y="8730"/>
                  <a:pt x="15905" y="8739"/>
                  <a:pt x="15897" y="8747"/>
                </a:cubicBezTo>
                <a:cubicBezTo>
                  <a:pt x="15889" y="8755"/>
                  <a:pt x="15880" y="8763"/>
                  <a:pt x="15871" y="8769"/>
                </a:cubicBezTo>
                <a:cubicBezTo>
                  <a:pt x="15861" y="8775"/>
                  <a:pt x="15851" y="8781"/>
                  <a:pt x="15840" y="8785"/>
                </a:cubicBezTo>
                <a:cubicBezTo>
                  <a:pt x="15830" y="8789"/>
                  <a:pt x="15819" y="8793"/>
                  <a:pt x="15808" y="8795"/>
                </a:cubicBezTo>
                <a:cubicBezTo>
                  <a:pt x="15797" y="8797"/>
                  <a:pt x="15785" y="8798"/>
                  <a:pt x="15774" y="8798"/>
                </a:cubicBezTo>
                <a:lnTo>
                  <a:pt x="174" y="8798"/>
                </a:lnTo>
                <a:cubicBezTo>
                  <a:pt x="162" y="8798"/>
                  <a:pt x="151" y="8797"/>
                  <a:pt x="140" y="8795"/>
                </a:cubicBezTo>
                <a:cubicBezTo>
                  <a:pt x="129" y="8793"/>
                  <a:pt x="118" y="8789"/>
                  <a:pt x="107" y="8785"/>
                </a:cubicBezTo>
                <a:cubicBezTo>
                  <a:pt x="96" y="8781"/>
                  <a:pt x="86" y="8775"/>
                  <a:pt x="77" y="8769"/>
                </a:cubicBezTo>
                <a:cubicBezTo>
                  <a:pt x="67" y="8763"/>
                  <a:pt x="59" y="8755"/>
                  <a:pt x="51" y="8747"/>
                </a:cubicBezTo>
                <a:cubicBezTo>
                  <a:pt x="42" y="8739"/>
                  <a:pt x="35" y="8730"/>
                  <a:pt x="29" y="8721"/>
                </a:cubicBezTo>
                <a:cubicBezTo>
                  <a:pt x="23" y="8711"/>
                  <a:pt x="17" y="8701"/>
                  <a:pt x="13" y="8691"/>
                </a:cubicBezTo>
                <a:cubicBezTo>
                  <a:pt x="8" y="8680"/>
                  <a:pt x="5" y="8669"/>
                  <a:pt x="3" y="8658"/>
                </a:cubicBezTo>
                <a:cubicBezTo>
                  <a:pt x="1" y="8647"/>
                  <a:pt x="0" y="8636"/>
                  <a:pt x="0" y="8624"/>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74" name=""/>
          <p:cNvSpPr/>
          <p:nvPr/>
        </p:nvSpPr>
        <p:spPr>
          <a:xfrm>
            <a:off x="4533480" y="923400"/>
            <a:ext cx="5741280" cy="3167280"/>
          </a:xfrm>
          <a:custGeom>
            <a:avLst/>
            <a:gdLst/>
            <a:ahLst/>
            <a:rect l="0" t="0" r="r" b="b"/>
            <a:pathLst>
              <a:path fill="none" w="15948" h="8798">
                <a:moveTo>
                  <a:pt x="0" y="8624"/>
                </a:moveTo>
                <a:lnTo>
                  <a:pt x="0" y="174"/>
                </a:lnTo>
                <a:cubicBezTo>
                  <a:pt x="0" y="162"/>
                  <a:pt x="1" y="151"/>
                  <a:pt x="3" y="140"/>
                </a:cubicBezTo>
                <a:cubicBezTo>
                  <a:pt x="5" y="128"/>
                  <a:pt x="8" y="118"/>
                  <a:pt x="13" y="107"/>
                </a:cubicBezTo>
                <a:cubicBezTo>
                  <a:pt x="17" y="96"/>
                  <a:pt x="23" y="86"/>
                  <a:pt x="29" y="77"/>
                </a:cubicBezTo>
                <a:cubicBezTo>
                  <a:pt x="35" y="67"/>
                  <a:pt x="42" y="59"/>
                  <a:pt x="51" y="51"/>
                </a:cubicBezTo>
                <a:cubicBezTo>
                  <a:pt x="59" y="42"/>
                  <a:pt x="67" y="35"/>
                  <a:pt x="77" y="29"/>
                </a:cubicBezTo>
                <a:cubicBezTo>
                  <a:pt x="86" y="23"/>
                  <a:pt x="96" y="17"/>
                  <a:pt x="107" y="13"/>
                </a:cubicBezTo>
                <a:cubicBezTo>
                  <a:pt x="118" y="8"/>
                  <a:pt x="129" y="5"/>
                  <a:pt x="140" y="3"/>
                </a:cubicBezTo>
                <a:cubicBezTo>
                  <a:pt x="151" y="1"/>
                  <a:pt x="162" y="0"/>
                  <a:pt x="174" y="0"/>
                </a:cubicBezTo>
                <a:lnTo>
                  <a:pt x="15774" y="0"/>
                </a:lnTo>
                <a:cubicBezTo>
                  <a:pt x="15785" y="0"/>
                  <a:pt x="15797" y="1"/>
                  <a:pt x="15808" y="3"/>
                </a:cubicBezTo>
                <a:cubicBezTo>
                  <a:pt x="15819" y="5"/>
                  <a:pt x="15830" y="8"/>
                  <a:pt x="15840" y="13"/>
                </a:cubicBezTo>
                <a:cubicBezTo>
                  <a:pt x="15851" y="17"/>
                  <a:pt x="15861" y="23"/>
                  <a:pt x="15871" y="29"/>
                </a:cubicBezTo>
                <a:cubicBezTo>
                  <a:pt x="15880" y="35"/>
                  <a:pt x="15889" y="42"/>
                  <a:pt x="15897" y="51"/>
                </a:cubicBezTo>
                <a:cubicBezTo>
                  <a:pt x="15905" y="59"/>
                  <a:pt x="15912" y="67"/>
                  <a:pt x="15919" y="77"/>
                </a:cubicBezTo>
                <a:cubicBezTo>
                  <a:pt x="15925" y="86"/>
                  <a:pt x="15930" y="96"/>
                  <a:pt x="15935" y="107"/>
                </a:cubicBezTo>
                <a:cubicBezTo>
                  <a:pt x="15939" y="118"/>
                  <a:pt x="15942" y="128"/>
                  <a:pt x="15945" y="140"/>
                </a:cubicBezTo>
                <a:cubicBezTo>
                  <a:pt x="15947" y="151"/>
                  <a:pt x="15948" y="162"/>
                  <a:pt x="15948" y="174"/>
                </a:cubicBezTo>
                <a:lnTo>
                  <a:pt x="15948" y="8624"/>
                </a:lnTo>
                <a:cubicBezTo>
                  <a:pt x="15948" y="8636"/>
                  <a:pt x="15947" y="8647"/>
                  <a:pt x="15945" y="8658"/>
                </a:cubicBezTo>
                <a:cubicBezTo>
                  <a:pt x="15942" y="8669"/>
                  <a:pt x="15939" y="8680"/>
                  <a:pt x="15935" y="8691"/>
                </a:cubicBezTo>
                <a:cubicBezTo>
                  <a:pt x="15930" y="8701"/>
                  <a:pt x="15925" y="8711"/>
                  <a:pt x="15919" y="8721"/>
                </a:cubicBezTo>
                <a:cubicBezTo>
                  <a:pt x="15912" y="8730"/>
                  <a:pt x="15905" y="8739"/>
                  <a:pt x="15897" y="8747"/>
                </a:cubicBezTo>
                <a:cubicBezTo>
                  <a:pt x="15889" y="8755"/>
                  <a:pt x="15880" y="8763"/>
                  <a:pt x="15871" y="8769"/>
                </a:cubicBezTo>
                <a:cubicBezTo>
                  <a:pt x="15861" y="8775"/>
                  <a:pt x="15851" y="8781"/>
                  <a:pt x="15840" y="8785"/>
                </a:cubicBezTo>
                <a:cubicBezTo>
                  <a:pt x="15830" y="8789"/>
                  <a:pt x="15819" y="8793"/>
                  <a:pt x="15808" y="8795"/>
                </a:cubicBezTo>
                <a:cubicBezTo>
                  <a:pt x="15797" y="8797"/>
                  <a:pt x="15785" y="8798"/>
                  <a:pt x="15774" y="8798"/>
                </a:cubicBezTo>
                <a:lnTo>
                  <a:pt x="174" y="8798"/>
                </a:lnTo>
                <a:cubicBezTo>
                  <a:pt x="162" y="8798"/>
                  <a:pt x="151" y="8797"/>
                  <a:pt x="140" y="8795"/>
                </a:cubicBezTo>
                <a:cubicBezTo>
                  <a:pt x="129" y="8793"/>
                  <a:pt x="118" y="8789"/>
                  <a:pt x="107" y="8785"/>
                </a:cubicBezTo>
                <a:cubicBezTo>
                  <a:pt x="96" y="8781"/>
                  <a:pt x="86" y="8775"/>
                  <a:pt x="77" y="8769"/>
                </a:cubicBezTo>
                <a:cubicBezTo>
                  <a:pt x="67" y="8763"/>
                  <a:pt x="59" y="8755"/>
                  <a:pt x="51" y="8747"/>
                </a:cubicBezTo>
                <a:cubicBezTo>
                  <a:pt x="42" y="8739"/>
                  <a:pt x="35" y="8730"/>
                  <a:pt x="29" y="8721"/>
                </a:cubicBezTo>
                <a:cubicBezTo>
                  <a:pt x="23" y="8711"/>
                  <a:pt x="17" y="8701"/>
                  <a:pt x="13" y="8691"/>
                </a:cubicBezTo>
                <a:cubicBezTo>
                  <a:pt x="8" y="8680"/>
                  <a:pt x="5" y="8669"/>
                  <a:pt x="3" y="8658"/>
                </a:cubicBezTo>
                <a:cubicBezTo>
                  <a:pt x="1" y="8647"/>
                  <a:pt x="0" y="8636"/>
                  <a:pt x="0" y="8624"/>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375" name=""/>
          <p:cNvSpPr txBox="1"/>
          <p:nvPr/>
        </p:nvSpPr>
        <p:spPr>
          <a:xfrm>
            <a:off x="576720" y="4430160"/>
            <a:ext cx="3487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り</a:t>
            </a:r>
            <a:r>
              <a:rPr b="0" lang="zh-CN" sz="1050" strike="noStrike" u="none">
                <a:solidFill>
                  <a:srgbClr val="ff8c00"/>
                </a:solidFill>
                <a:effectLst/>
                <a:uFillTx/>
                <a:latin typeface="NotoSansJP"/>
                <a:ea typeface="NotoSansJP"/>
              </a:rPr>
              <a:t>周波数ごとの個別処理が不要</a:t>
            </a:r>
            <a:r>
              <a:rPr b="0" lang="zh-CN" sz="1050" strike="noStrike" u="none">
                <a:solidFill>
                  <a:srgbClr val="000000"/>
                </a:solidFill>
                <a:effectLst/>
                <a:uFillTx/>
                <a:latin typeface="NotoSansJP"/>
                <a:ea typeface="NotoSansJP"/>
              </a:rPr>
              <a:t>という大きな利点である。</a:t>
            </a:r>
            <a:endParaRPr b="0" lang="en-US" sz="1050" strike="noStrike" u="none">
              <a:solidFill>
                <a:srgbClr val="000000"/>
              </a:solidFill>
              <a:effectLst/>
              <a:uFillTx/>
              <a:latin typeface="Times New Roman"/>
            </a:endParaRPr>
          </a:p>
        </p:txBody>
      </p:sp>
      <p:pic>
        <p:nvPicPr>
          <p:cNvPr id="376" name="" descr=""/>
          <p:cNvPicPr/>
          <p:nvPr/>
        </p:nvPicPr>
        <p:blipFill>
          <a:blip r:embed="rId7"/>
          <a:stretch/>
        </p:blipFill>
        <p:spPr>
          <a:xfrm>
            <a:off x="4663080" y="1353960"/>
            <a:ext cx="5013720" cy="2506680"/>
          </a:xfrm>
          <a:prstGeom prst="rect">
            <a:avLst/>
          </a:prstGeom>
          <a:noFill/>
          <a:ln w="0">
            <a:noFill/>
          </a:ln>
        </p:spPr>
      </p:pic>
      <p:sp>
        <p:nvSpPr>
          <p:cNvPr id="377" name=""/>
          <p:cNvSpPr/>
          <p:nvPr/>
        </p:nvSpPr>
        <p:spPr>
          <a:xfrm>
            <a:off x="6635160" y="4061160"/>
            <a:ext cx="167400" cy="16920"/>
          </a:xfrm>
          <a:custGeom>
            <a:avLst/>
            <a:gdLst/>
            <a:ahLst/>
            <a:rect l="0" t="0" r="r" b="b"/>
            <a:pathLst>
              <a:path w="465" h="47">
                <a:moveTo>
                  <a:pt x="0" y="0"/>
                </a:moveTo>
                <a:lnTo>
                  <a:pt x="465" y="0"/>
                </a:lnTo>
                <a:lnTo>
                  <a:pt x="465" y="47"/>
                </a:lnTo>
                <a:lnTo>
                  <a:pt x="0" y="47"/>
                </a:lnTo>
                <a:lnTo>
                  <a:pt x="0" y="0"/>
                </a:lnTo>
                <a:close/>
              </a:path>
            </a:pathLst>
          </a:custGeom>
          <a:solidFill>
            <a:srgbClr val="1e40af"/>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78" name=""/>
          <p:cNvSpPr txBox="1"/>
          <p:nvPr/>
        </p:nvSpPr>
        <p:spPr>
          <a:xfrm>
            <a:off x="6474960" y="1097280"/>
            <a:ext cx="1944720" cy="219960"/>
          </a:xfrm>
          <a:prstGeom prst="rect">
            <a:avLst/>
          </a:prstGeom>
          <a:noFill/>
          <a:ln w="0">
            <a:noFill/>
          </a:ln>
        </p:spPr>
        <p:txBody>
          <a:bodyPr wrap="none" lIns="0" rIns="0" tIns="0" bIns="0" anchor="t">
            <a:spAutoFit/>
          </a:bodyPr>
          <a:p>
            <a:r>
              <a:rPr b="0" lang="zh-CN" sz="1180" strike="noStrike" u="none">
                <a:solidFill>
                  <a:srgbClr val="374151"/>
                </a:solidFill>
                <a:effectLst/>
                <a:uFillTx/>
                <a:latin typeface="NotoSansJP"/>
                <a:ea typeface="NotoSansJP"/>
              </a:rPr>
              <a:t>発振周波数</a:t>
            </a:r>
            <a:r>
              <a:rPr b="0" lang="en-US" sz="1180" strike="noStrike" u="none">
                <a:solidFill>
                  <a:srgbClr val="374151"/>
                </a:solidFill>
                <a:effectLst/>
                <a:uFillTx/>
                <a:latin typeface="NotoSansJP"/>
                <a:ea typeface="NotoSansJP"/>
              </a:rPr>
              <a:t>-</a:t>
            </a:r>
            <a:r>
              <a:rPr b="0" lang="zh-CN" sz="1180" strike="noStrike" u="none">
                <a:solidFill>
                  <a:srgbClr val="374151"/>
                </a:solidFill>
                <a:effectLst/>
                <a:uFillTx/>
                <a:latin typeface="NotoSansJP"/>
                <a:ea typeface="NotoSansJP"/>
              </a:rPr>
              <a:t>角度特性グラフ</a:t>
            </a:r>
            <a:endParaRPr b="0" lang="en-US" sz="1180" strike="noStrike" u="none">
              <a:solidFill>
                <a:srgbClr val="000000"/>
              </a:solidFill>
              <a:effectLst/>
              <a:uFillTx/>
              <a:latin typeface="Times New Roman"/>
            </a:endParaRPr>
          </a:p>
        </p:txBody>
      </p:sp>
      <p:sp>
        <p:nvSpPr>
          <p:cNvPr id="379" name=""/>
          <p:cNvSpPr/>
          <p:nvPr/>
        </p:nvSpPr>
        <p:spPr>
          <a:xfrm>
            <a:off x="7412040" y="4061160"/>
            <a:ext cx="167760" cy="16920"/>
          </a:xfrm>
          <a:custGeom>
            <a:avLst/>
            <a:gdLst/>
            <a:ahLst/>
            <a:rect l="0" t="0" r="r" b="b"/>
            <a:pathLst>
              <a:path w="466" h="47">
                <a:moveTo>
                  <a:pt x="0" y="0"/>
                </a:moveTo>
                <a:lnTo>
                  <a:pt x="466" y="0"/>
                </a:lnTo>
                <a:lnTo>
                  <a:pt x="466" y="47"/>
                </a:lnTo>
                <a:lnTo>
                  <a:pt x="0" y="47"/>
                </a:lnTo>
                <a:lnTo>
                  <a:pt x="0" y="0"/>
                </a:lnTo>
                <a:close/>
              </a:path>
            </a:pathLst>
          </a:custGeom>
          <a:solidFill>
            <a:srgbClr val="ff69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80" name=""/>
          <p:cNvSpPr txBox="1"/>
          <p:nvPr/>
        </p:nvSpPr>
        <p:spPr>
          <a:xfrm>
            <a:off x="6871680" y="4002840"/>
            <a:ext cx="3528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理論値</a:t>
            </a:r>
            <a:endParaRPr b="0" lang="en-US" sz="920" strike="noStrike" u="none">
              <a:solidFill>
                <a:srgbClr val="000000"/>
              </a:solidFill>
              <a:effectLst/>
              <a:uFillTx/>
              <a:latin typeface="Times New Roman"/>
            </a:endParaRPr>
          </a:p>
        </p:txBody>
      </p:sp>
      <p:pic>
        <p:nvPicPr>
          <p:cNvPr id="381" name="" descr=""/>
          <p:cNvPicPr/>
          <p:nvPr/>
        </p:nvPicPr>
        <p:blipFill>
          <a:blip r:embed="rId8"/>
          <a:stretch/>
        </p:blipFill>
        <p:spPr>
          <a:xfrm>
            <a:off x="4529160" y="4328640"/>
            <a:ext cx="116640" cy="150120"/>
          </a:xfrm>
          <a:prstGeom prst="rect">
            <a:avLst/>
          </a:prstGeom>
          <a:noFill/>
          <a:ln w="0">
            <a:noFill/>
          </a:ln>
        </p:spPr>
      </p:pic>
      <p:sp>
        <p:nvSpPr>
          <p:cNvPr id="382" name=""/>
          <p:cNvSpPr txBox="1"/>
          <p:nvPr/>
        </p:nvSpPr>
        <p:spPr>
          <a:xfrm>
            <a:off x="7648920" y="4002840"/>
            <a:ext cx="3528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実測値</a:t>
            </a:r>
            <a:endParaRPr b="0" lang="en-US" sz="920" strike="noStrike" u="none">
              <a:solidFill>
                <a:srgbClr val="000000"/>
              </a:solidFill>
              <a:effectLst/>
              <a:uFillTx/>
              <a:latin typeface="Times New Roman"/>
            </a:endParaRPr>
          </a:p>
        </p:txBody>
      </p:sp>
      <p:sp>
        <p:nvSpPr>
          <p:cNvPr id="383" name=""/>
          <p:cNvSpPr txBox="1"/>
          <p:nvPr/>
        </p:nvSpPr>
        <p:spPr>
          <a:xfrm>
            <a:off x="4743720" y="4339440"/>
            <a:ext cx="5574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重要な発見：式</a:t>
            </a:r>
            <a:r>
              <a:rPr b="0" lang="en-US" sz="1180" strike="noStrike" u="none">
                <a:solidFill>
                  <a:srgbClr val="000000"/>
                </a:solidFill>
                <a:effectLst/>
                <a:uFillTx/>
                <a:latin typeface="NotoSansJP"/>
                <a:ea typeface="NotoSansJP"/>
              </a:rPr>
              <a:t>(1)</a:t>
            </a:r>
            <a:r>
              <a:rPr b="0" lang="zh-CN" sz="1180" strike="noStrike" u="none">
                <a:solidFill>
                  <a:srgbClr val="000000"/>
                </a:solidFill>
                <a:effectLst/>
                <a:uFillTx/>
                <a:latin typeface="NotoSansJP"/>
                <a:ea typeface="NotoSansJP"/>
              </a:rPr>
              <a:t>の理論式には周波数の要素が含まれておらず、シミュレーショ</a:t>
            </a:r>
            <a:endParaRPr b="0" lang="en-US" sz="1180" strike="noStrike" u="none">
              <a:solidFill>
                <a:srgbClr val="000000"/>
              </a:solidFill>
              <a:effectLst/>
              <a:uFillTx/>
              <a:latin typeface="Times New Roman"/>
            </a:endParaRPr>
          </a:p>
        </p:txBody>
      </p:sp>
      <p:sp>
        <p:nvSpPr>
          <p:cNvPr id="384" name=""/>
          <p:cNvSpPr txBox="1"/>
          <p:nvPr/>
        </p:nvSpPr>
        <p:spPr>
          <a:xfrm>
            <a:off x="4743720" y="4573440"/>
            <a:ext cx="49795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ンでもその通り周波数によらず指向角度は一定であることが確認された。</a:t>
            </a:r>
            <a:endParaRPr b="0" lang="en-US" sz="11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
          <p:cNvSpPr/>
          <p:nvPr/>
        </p:nvSpPr>
        <p:spPr>
          <a:xfrm>
            <a:off x="0" y="0"/>
            <a:ext cx="10696680" cy="6284520"/>
          </a:xfrm>
          <a:custGeom>
            <a:avLst/>
            <a:gdLst/>
            <a:ahLst/>
            <a:rect l="0" t="0" r="r" b="b"/>
            <a:pathLst>
              <a:path w="29713" h="17457">
                <a:moveTo>
                  <a:pt x="0" y="0"/>
                </a:moveTo>
                <a:lnTo>
                  <a:pt x="29713" y="0"/>
                </a:lnTo>
                <a:lnTo>
                  <a:pt x="29713" y="17457"/>
                </a:lnTo>
                <a:lnTo>
                  <a:pt x="0" y="17457"/>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86" name="" descr=""/>
          <p:cNvPicPr/>
          <p:nvPr/>
        </p:nvPicPr>
        <p:blipFill>
          <a:blip r:embed="rId1"/>
          <a:stretch/>
        </p:blipFill>
        <p:spPr>
          <a:xfrm>
            <a:off x="0" y="0"/>
            <a:ext cx="10696320" cy="668160"/>
          </a:xfrm>
          <a:prstGeom prst="rect">
            <a:avLst/>
          </a:prstGeom>
          <a:noFill/>
          <a:ln w="0">
            <a:noFill/>
          </a:ln>
        </p:spPr>
      </p:pic>
      <p:sp>
        <p:nvSpPr>
          <p:cNvPr id="387" name=""/>
          <p:cNvSpPr/>
          <p:nvPr/>
        </p:nvSpPr>
        <p:spPr>
          <a:xfrm>
            <a:off x="338400" y="1157400"/>
            <a:ext cx="5640840" cy="2665800"/>
          </a:xfrm>
          <a:custGeom>
            <a:avLst/>
            <a:gdLst/>
            <a:ahLst/>
            <a:rect l="0" t="0" r="r" b="b"/>
            <a:pathLst>
              <a:path w="15669" h="7405">
                <a:moveTo>
                  <a:pt x="0" y="7185"/>
                </a:moveTo>
                <a:lnTo>
                  <a:pt x="0" y="220"/>
                </a:lnTo>
                <a:cubicBezTo>
                  <a:pt x="0" y="206"/>
                  <a:pt x="1" y="191"/>
                  <a:pt x="4" y="177"/>
                </a:cubicBezTo>
                <a:cubicBezTo>
                  <a:pt x="7" y="163"/>
                  <a:pt x="11" y="149"/>
                  <a:pt x="16" y="136"/>
                </a:cubicBezTo>
                <a:cubicBezTo>
                  <a:pt x="22" y="122"/>
                  <a:pt x="29" y="110"/>
                  <a:pt x="37" y="98"/>
                </a:cubicBezTo>
                <a:cubicBezTo>
                  <a:pt x="45" y="85"/>
                  <a:pt x="54" y="74"/>
                  <a:pt x="64" y="64"/>
                </a:cubicBezTo>
                <a:cubicBezTo>
                  <a:pt x="74" y="54"/>
                  <a:pt x="86" y="45"/>
                  <a:pt x="98" y="37"/>
                </a:cubicBezTo>
                <a:cubicBezTo>
                  <a:pt x="110" y="29"/>
                  <a:pt x="122" y="22"/>
                  <a:pt x="136" y="16"/>
                </a:cubicBezTo>
                <a:cubicBezTo>
                  <a:pt x="149" y="11"/>
                  <a:pt x="163" y="7"/>
                  <a:pt x="177" y="4"/>
                </a:cubicBezTo>
                <a:cubicBezTo>
                  <a:pt x="191" y="1"/>
                  <a:pt x="206" y="0"/>
                  <a:pt x="220" y="0"/>
                </a:cubicBezTo>
                <a:lnTo>
                  <a:pt x="15449" y="0"/>
                </a:lnTo>
                <a:cubicBezTo>
                  <a:pt x="15463" y="0"/>
                  <a:pt x="15478" y="1"/>
                  <a:pt x="15492" y="4"/>
                </a:cubicBezTo>
                <a:cubicBezTo>
                  <a:pt x="15506" y="7"/>
                  <a:pt x="15520" y="11"/>
                  <a:pt x="15533" y="16"/>
                </a:cubicBezTo>
                <a:cubicBezTo>
                  <a:pt x="15547" y="22"/>
                  <a:pt x="15559" y="29"/>
                  <a:pt x="15571" y="37"/>
                </a:cubicBezTo>
                <a:cubicBezTo>
                  <a:pt x="15583" y="45"/>
                  <a:pt x="15595" y="54"/>
                  <a:pt x="15605" y="64"/>
                </a:cubicBezTo>
                <a:cubicBezTo>
                  <a:pt x="15615" y="74"/>
                  <a:pt x="15624" y="85"/>
                  <a:pt x="15632" y="98"/>
                </a:cubicBezTo>
                <a:cubicBezTo>
                  <a:pt x="15640" y="110"/>
                  <a:pt x="15647" y="122"/>
                  <a:pt x="15653" y="136"/>
                </a:cubicBezTo>
                <a:cubicBezTo>
                  <a:pt x="15658" y="149"/>
                  <a:pt x="15662" y="163"/>
                  <a:pt x="15665" y="177"/>
                </a:cubicBezTo>
                <a:cubicBezTo>
                  <a:pt x="15668" y="191"/>
                  <a:pt x="15669" y="206"/>
                  <a:pt x="15669" y="220"/>
                </a:cubicBezTo>
                <a:lnTo>
                  <a:pt x="15669" y="7185"/>
                </a:lnTo>
                <a:cubicBezTo>
                  <a:pt x="15669" y="7199"/>
                  <a:pt x="15668" y="7214"/>
                  <a:pt x="15665" y="7228"/>
                </a:cubicBezTo>
                <a:cubicBezTo>
                  <a:pt x="15662" y="7242"/>
                  <a:pt x="15658" y="7256"/>
                  <a:pt x="15653" y="7269"/>
                </a:cubicBezTo>
                <a:cubicBezTo>
                  <a:pt x="15647" y="7283"/>
                  <a:pt x="15640" y="7295"/>
                  <a:pt x="15632" y="7307"/>
                </a:cubicBezTo>
                <a:cubicBezTo>
                  <a:pt x="15624" y="7320"/>
                  <a:pt x="15615" y="7331"/>
                  <a:pt x="15605" y="7341"/>
                </a:cubicBezTo>
                <a:cubicBezTo>
                  <a:pt x="15595" y="7351"/>
                  <a:pt x="15583" y="7360"/>
                  <a:pt x="15571" y="7368"/>
                </a:cubicBezTo>
                <a:cubicBezTo>
                  <a:pt x="15559" y="7376"/>
                  <a:pt x="15547" y="7383"/>
                  <a:pt x="15533" y="7389"/>
                </a:cubicBezTo>
                <a:cubicBezTo>
                  <a:pt x="15520" y="7394"/>
                  <a:pt x="15506" y="7398"/>
                  <a:pt x="15492" y="7401"/>
                </a:cubicBezTo>
                <a:cubicBezTo>
                  <a:pt x="15478" y="7404"/>
                  <a:pt x="15463" y="7405"/>
                  <a:pt x="15449" y="7405"/>
                </a:cubicBezTo>
                <a:lnTo>
                  <a:pt x="220" y="7405"/>
                </a:lnTo>
                <a:cubicBezTo>
                  <a:pt x="206" y="7405"/>
                  <a:pt x="191" y="7404"/>
                  <a:pt x="177" y="7401"/>
                </a:cubicBezTo>
                <a:cubicBezTo>
                  <a:pt x="163" y="7398"/>
                  <a:pt x="149" y="7394"/>
                  <a:pt x="136" y="7389"/>
                </a:cubicBezTo>
                <a:cubicBezTo>
                  <a:pt x="122" y="7383"/>
                  <a:pt x="110" y="7376"/>
                  <a:pt x="98" y="7368"/>
                </a:cubicBezTo>
                <a:cubicBezTo>
                  <a:pt x="86" y="7360"/>
                  <a:pt x="74" y="7351"/>
                  <a:pt x="64" y="7341"/>
                </a:cubicBezTo>
                <a:cubicBezTo>
                  <a:pt x="54" y="7331"/>
                  <a:pt x="45" y="7320"/>
                  <a:pt x="37" y="7307"/>
                </a:cubicBezTo>
                <a:cubicBezTo>
                  <a:pt x="29" y="7295"/>
                  <a:pt x="22" y="7283"/>
                  <a:pt x="16" y="7269"/>
                </a:cubicBezTo>
                <a:cubicBezTo>
                  <a:pt x="11" y="7256"/>
                  <a:pt x="7" y="7242"/>
                  <a:pt x="4" y="7228"/>
                </a:cubicBezTo>
                <a:cubicBezTo>
                  <a:pt x="1" y="7214"/>
                  <a:pt x="0" y="7199"/>
                  <a:pt x="0" y="7185"/>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88" name=""/>
          <p:cNvSpPr/>
          <p:nvPr/>
        </p:nvSpPr>
        <p:spPr>
          <a:xfrm>
            <a:off x="338400" y="1157400"/>
            <a:ext cx="5640840" cy="2665800"/>
          </a:xfrm>
          <a:custGeom>
            <a:avLst/>
            <a:gdLst/>
            <a:ahLst/>
            <a:rect l="0" t="0" r="r" b="b"/>
            <a:pathLst>
              <a:path fill="none" w="15669" h="7405">
                <a:moveTo>
                  <a:pt x="0" y="7185"/>
                </a:moveTo>
                <a:lnTo>
                  <a:pt x="0" y="220"/>
                </a:lnTo>
                <a:cubicBezTo>
                  <a:pt x="0" y="206"/>
                  <a:pt x="1" y="191"/>
                  <a:pt x="4" y="177"/>
                </a:cubicBezTo>
                <a:cubicBezTo>
                  <a:pt x="7" y="163"/>
                  <a:pt x="11" y="149"/>
                  <a:pt x="16" y="136"/>
                </a:cubicBezTo>
                <a:cubicBezTo>
                  <a:pt x="22" y="122"/>
                  <a:pt x="29" y="110"/>
                  <a:pt x="37" y="98"/>
                </a:cubicBezTo>
                <a:cubicBezTo>
                  <a:pt x="45" y="85"/>
                  <a:pt x="54" y="74"/>
                  <a:pt x="64" y="64"/>
                </a:cubicBezTo>
                <a:cubicBezTo>
                  <a:pt x="74" y="54"/>
                  <a:pt x="86" y="45"/>
                  <a:pt x="98" y="37"/>
                </a:cubicBezTo>
                <a:cubicBezTo>
                  <a:pt x="110" y="29"/>
                  <a:pt x="122" y="22"/>
                  <a:pt x="136" y="16"/>
                </a:cubicBezTo>
                <a:cubicBezTo>
                  <a:pt x="149" y="11"/>
                  <a:pt x="163" y="7"/>
                  <a:pt x="177" y="4"/>
                </a:cubicBezTo>
                <a:cubicBezTo>
                  <a:pt x="191" y="1"/>
                  <a:pt x="206" y="0"/>
                  <a:pt x="220" y="0"/>
                </a:cubicBezTo>
                <a:lnTo>
                  <a:pt x="15449" y="0"/>
                </a:lnTo>
                <a:cubicBezTo>
                  <a:pt x="15463" y="0"/>
                  <a:pt x="15478" y="1"/>
                  <a:pt x="15492" y="4"/>
                </a:cubicBezTo>
                <a:cubicBezTo>
                  <a:pt x="15506" y="7"/>
                  <a:pt x="15520" y="11"/>
                  <a:pt x="15533" y="16"/>
                </a:cubicBezTo>
                <a:cubicBezTo>
                  <a:pt x="15547" y="22"/>
                  <a:pt x="15559" y="29"/>
                  <a:pt x="15571" y="37"/>
                </a:cubicBezTo>
                <a:cubicBezTo>
                  <a:pt x="15583" y="45"/>
                  <a:pt x="15595" y="54"/>
                  <a:pt x="15605" y="64"/>
                </a:cubicBezTo>
                <a:cubicBezTo>
                  <a:pt x="15615" y="74"/>
                  <a:pt x="15624" y="85"/>
                  <a:pt x="15632" y="98"/>
                </a:cubicBezTo>
                <a:cubicBezTo>
                  <a:pt x="15640" y="110"/>
                  <a:pt x="15647" y="122"/>
                  <a:pt x="15653" y="136"/>
                </a:cubicBezTo>
                <a:cubicBezTo>
                  <a:pt x="15658" y="149"/>
                  <a:pt x="15662" y="163"/>
                  <a:pt x="15665" y="177"/>
                </a:cubicBezTo>
                <a:cubicBezTo>
                  <a:pt x="15668" y="191"/>
                  <a:pt x="15669" y="206"/>
                  <a:pt x="15669" y="220"/>
                </a:cubicBezTo>
                <a:lnTo>
                  <a:pt x="15669" y="7185"/>
                </a:lnTo>
                <a:cubicBezTo>
                  <a:pt x="15669" y="7199"/>
                  <a:pt x="15668" y="7214"/>
                  <a:pt x="15665" y="7228"/>
                </a:cubicBezTo>
                <a:cubicBezTo>
                  <a:pt x="15662" y="7242"/>
                  <a:pt x="15658" y="7256"/>
                  <a:pt x="15653" y="7269"/>
                </a:cubicBezTo>
                <a:cubicBezTo>
                  <a:pt x="15647" y="7283"/>
                  <a:pt x="15640" y="7295"/>
                  <a:pt x="15632" y="7307"/>
                </a:cubicBezTo>
                <a:cubicBezTo>
                  <a:pt x="15624" y="7320"/>
                  <a:pt x="15615" y="7331"/>
                  <a:pt x="15605" y="7341"/>
                </a:cubicBezTo>
                <a:cubicBezTo>
                  <a:pt x="15595" y="7351"/>
                  <a:pt x="15583" y="7360"/>
                  <a:pt x="15571" y="7368"/>
                </a:cubicBezTo>
                <a:cubicBezTo>
                  <a:pt x="15559" y="7376"/>
                  <a:pt x="15547" y="7383"/>
                  <a:pt x="15533" y="7389"/>
                </a:cubicBezTo>
                <a:cubicBezTo>
                  <a:pt x="15520" y="7394"/>
                  <a:pt x="15506" y="7398"/>
                  <a:pt x="15492" y="7401"/>
                </a:cubicBezTo>
                <a:cubicBezTo>
                  <a:pt x="15478" y="7404"/>
                  <a:pt x="15463" y="7405"/>
                  <a:pt x="15449" y="7405"/>
                </a:cubicBezTo>
                <a:lnTo>
                  <a:pt x="220" y="7405"/>
                </a:lnTo>
                <a:cubicBezTo>
                  <a:pt x="206" y="7405"/>
                  <a:pt x="191" y="7404"/>
                  <a:pt x="177" y="7401"/>
                </a:cubicBezTo>
                <a:cubicBezTo>
                  <a:pt x="163" y="7398"/>
                  <a:pt x="149" y="7394"/>
                  <a:pt x="136" y="7389"/>
                </a:cubicBezTo>
                <a:cubicBezTo>
                  <a:pt x="122" y="7383"/>
                  <a:pt x="110" y="7376"/>
                  <a:pt x="98" y="7368"/>
                </a:cubicBezTo>
                <a:cubicBezTo>
                  <a:pt x="86" y="7360"/>
                  <a:pt x="74" y="7351"/>
                  <a:pt x="64" y="7341"/>
                </a:cubicBezTo>
                <a:cubicBezTo>
                  <a:pt x="54" y="7331"/>
                  <a:pt x="45" y="7320"/>
                  <a:pt x="37" y="7307"/>
                </a:cubicBezTo>
                <a:cubicBezTo>
                  <a:pt x="29" y="7295"/>
                  <a:pt x="22" y="7283"/>
                  <a:pt x="16" y="7269"/>
                </a:cubicBezTo>
                <a:cubicBezTo>
                  <a:pt x="11" y="7256"/>
                  <a:pt x="7" y="7242"/>
                  <a:pt x="4" y="7228"/>
                </a:cubicBezTo>
                <a:cubicBezTo>
                  <a:pt x="1" y="7214"/>
                  <a:pt x="0" y="7199"/>
                  <a:pt x="0" y="7185"/>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389" name=""/>
          <p:cNvSpPr/>
          <p:nvPr/>
        </p:nvSpPr>
        <p:spPr>
          <a:xfrm>
            <a:off x="338400" y="4282560"/>
            <a:ext cx="5640840" cy="1830600"/>
          </a:xfrm>
          <a:custGeom>
            <a:avLst/>
            <a:gdLst/>
            <a:ahLst/>
            <a:rect l="0" t="0" r="r" b="b"/>
            <a:pathLst>
              <a:path w="15669" h="5085">
                <a:moveTo>
                  <a:pt x="0" y="4864"/>
                </a:moveTo>
                <a:lnTo>
                  <a:pt x="0" y="221"/>
                </a:lnTo>
                <a:cubicBezTo>
                  <a:pt x="0" y="206"/>
                  <a:pt x="1" y="192"/>
                  <a:pt x="4" y="178"/>
                </a:cubicBezTo>
                <a:cubicBezTo>
                  <a:pt x="7" y="163"/>
                  <a:pt x="11" y="150"/>
                  <a:pt x="16" y="136"/>
                </a:cubicBezTo>
                <a:cubicBezTo>
                  <a:pt x="22" y="123"/>
                  <a:pt x="29" y="110"/>
                  <a:pt x="37" y="98"/>
                </a:cubicBezTo>
                <a:cubicBezTo>
                  <a:pt x="45" y="86"/>
                  <a:pt x="54" y="75"/>
                  <a:pt x="64" y="65"/>
                </a:cubicBezTo>
                <a:cubicBezTo>
                  <a:pt x="74" y="55"/>
                  <a:pt x="86" y="45"/>
                  <a:pt x="98" y="37"/>
                </a:cubicBezTo>
                <a:cubicBezTo>
                  <a:pt x="110" y="29"/>
                  <a:pt x="122" y="23"/>
                  <a:pt x="136" y="17"/>
                </a:cubicBezTo>
                <a:cubicBezTo>
                  <a:pt x="149" y="11"/>
                  <a:pt x="163" y="7"/>
                  <a:pt x="177" y="4"/>
                </a:cubicBezTo>
                <a:cubicBezTo>
                  <a:pt x="191" y="2"/>
                  <a:pt x="206" y="0"/>
                  <a:pt x="220" y="0"/>
                </a:cubicBezTo>
                <a:lnTo>
                  <a:pt x="15449" y="0"/>
                </a:lnTo>
                <a:cubicBezTo>
                  <a:pt x="15463" y="0"/>
                  <a:pt x="15478" y="2"/>
                  <a:pt x="15492" y="4"/>
                </a:cubicBezTo>
                <a:cubicBezTo>
                  <a:pt x="15506" y="7"/>
                  <a:pt x="15520" y="11"/>
                  <a:pt x="15533" y="17"/>
                </a:cubicBezTo>
                <a:cubicBezTo>
                  <a:pt x="15547" y="23"/>
                  <a:pt x="15559" y="29"/>
                  <a:pt x="15571" y="37"/>
                </a:cubicBezTo>
                <a:cubicBezTo>
                  <a:pt x="15583" y="45"/>
                  <a:pt x="15595" y="55"/>
                  <a:pt x="15605" y="65"/>
                </a:cubicBezTo>
                <a:cubicBezTo>
                  <a:pt x="15615" y="75"/>
                  <a:pt x="15624" y="86"/>
                  <a:pt x="15632" y="98"/>
                </a:cubicBezTo>
                <a:cubicBezTo>
                  <a:pt x="15640" y="110"/>
                  <a:pt x="15647" y="123"/>
                  <a:pt x="15653" y="136"/>
                </a:cubicBezTo>
                <a:cubicBezTo>
                  <a:pt x="15658" y="150"/>
                  <a:pt x="15662" y="163"/>
                  <a:pt x="15665" y="178"/>
                </a:cubicBezTo>
                <a:cubicBezTo>
                  <a:pt x="15668" y="192"/>
                  <a:pt x="15669" y="206"/>
                  <a:pt x="15669" y="221"/>
                </a:cubicBezTo>
                <a:lnTo>
                  <a:pt x="15669" y="4864"/>
                </a:lnTo>
                <a:cubicBezTo>
                  <a:pt x="15669" y="4879"/>
                  <a:pt x="15668" y="4893"/>
                  <a:pt x="15665" y="4907"/>
                </a:cubicBezTo>
                <a:cubicBezTo>
                  <a:pt x="15662" y="4922"/>
                  <a:pt x="15658" y="4935"/>
                  <a:pt x="15653" y="4949"/>
                </a:cubicBezTo>
                <a:cubicBezTo>
                  <a:pt x="15647" y="4962"/>
                  <a:pt x="15640" y="4975"/>
                  <a:pt x="15632" y="4987"/>
                </a:cubicBezTo>
                <a:cubicBezTo>
                  <a:pt x="15624" y="4999"/>
                  <a:pt x="15615" y="5010"/>
                  <a:pt x="15605" y="5020"/>
                </a:cubicBezTo>
                <a:cubicBezTo>
                  <a:pt x="15595" y="5030"/>
                  <a:pt x="15583" y="5040"/>
                  <a:pt x="15571" y="5048"/>
                </a:cubicBezTo>
                <a:cubicBezTo>
                  <a:pt x="15559" y="5056"/>
                  <a:pt x="15547" y="5063"/>
                  <a:pt x="15533" y="5068"/>
                </a:cubicBezTo>
                <a:cubicBezTo>
                  <a:pt x="15520" y="5074"/>
                  <a:pt x="15506" y="5078"/>
                  <a:pt x="15492" y="5081"/>
                </a:cubicBezTo>
                <a:cubicBezTo>
                  <a:pt x="15478" y="5083"/>
                  <a:pt x="15463" y="5085"/>
                  <a:pt x="15449" y="5085"/>
                </a:cubicBezTo>
                <a:lnTo>
                  <a:pt x="220" y="5085"/>
                </a:lnTo>
                <a:cubicBezTo>
                  <a:pt x="206" y="5085"/>
                  <a:pt x="191" y="5083"/>
                  <a:pt x="177" y="5081"/>
                </a:cubicBezTo>
                <a:cubicBezTo>
                  <a:pt x="163" y="5078"/>
                  <a:pt x="149" y="5074"/>
                  <a:pt x="136" y="5068"/>
                </a:cubicBezTo>
                <a:cubicBezTo>
                  <a:pt x="122" y="5063"/>
                  <a:pt x="110" y="5056"/>
                  <a:pt x="98" y="5048"/>
                </a:cubicBezTo>
                <a:cubicBezTo>
                  <a:pt x="86" y="5040"/>
                  <a:pt x="74" y="5030"/>
                  <a:pt x="64" y="5020"/>
                </a:cubicBezTo>
                <a:cubicBezTo>
                  <a:pt x="54" y="5010"/>
                  <a:pt x="45" y="4999"/>
                  <a:pt x="37" y="4987"/>
                </a:cubicBezTo>
                <a:cubicBezTo>
                  <a:pt x="29" y="4975"/>
                  <a:pt x="22" y="4962"/>
                  <a:pt x="16" y="4949"/>
                </a:cubicBezTo>
                <a:cubicBezTo>
                  <a:pt x="11" y="4935"/>
                  <a:pt x="7" y="4922"/>
                  <a:pt x="4" y="4907"/>
                </a:cubicBezTo>
                <a:cubicBezTo>
                  <a:pt x="1" y="4893"/>
                  <a:pt x="0" y="4879"/>
                  <a:pt x="0" y="4864"/>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90" name=""/>
          <p:cNvSpPr/>
          <p:nvPr/>
        </p:nvSpPr>
        <p:spPr>
          <a:xfrm>
            <a:off x="338400" y="4282560"/>
            <a:ext cx="5640840" cy="1830600"/>
          </a:xfrm>
          <a:custGeom>
            <a:avLst/>
            <a:gdLst/>
            <a:ahLst/>
            <a:rect l="0" t="0" r="r" b="b"/>
            <a:pathLst>
              <a:path fill="none" w="15669" h="5085">
                <a:moveTo>
                  <a:pt x="0" y="4864"/>
                </a:moveTo>
                <a:lnTo>
                  <a:pt x="0" y="221"/>
                </a:lnTo>
                <a:cubicBezTo>
                  <a:pt x="0" y="206"/>
                  <a:pt x="1" y="192"/>
                  <a:pt x="4" y="178"/>
                </a:cubicBezTo>
                <a:cubicBezTo>
                  <a:pt x="7" y="163"/>
                  <a:pt x="11" y="150"/>
                  <a:pt x="16" y="136"/>
                </a:cubicBezTo>
                <a:cubicBezTo>
                  <a:pt x="22" y="123"/>
                  <a:pt x="29" y="110"/>
                  <a:pt x="37" y="98"/>
                </a:cubicBezTo>
                <a:cubicBezTo>
                  <a:pt x="45" y="86"/>
                  <a:pt x="54" y="75"/>
                  <a:pt x="64" y="65"/>
                </a:cubicBezTo>
                <a:cubicBezTo>
                  <a:pt x="74" y="55"/>
                  <a:pt x="86" y="45"/>
                  <a:pt x="98" y="37"/>
                </a:cubicBezTo>
                <a:cubicBezTo>
                  <a:pt x="110" y="29"/>
                  <a:pt x="122" y="23"/>
                  <a:pt x="136" y="17"/>
                </a:cubicBezTo>
                <a:cubicBezTo>
                  <a:pt x="149" y="11"/>
                  <a:pt x="163" y="7"/>
                  <a:pt x="177" y="4"/>
                </a:cubicBezTo>
                <a:cubicBezTo>
                  <a:pt x="191" y="2"/>
                  <a:pt x="206" y="0"/>
                  <a:pt x="220" y="0"/>
                </a:cubicBezTo>
                <a:lnTo>
                  <a:pt x="15449" y="0"/>
                </a:lnTo>
                <a:cubicBezTo>
                  <a:pt x="15463" y="0"/>
                  <a:pt x="15478" y="2"/>
                  <a:pt x="15492" y="4"/>
                </a:cubicBezTo>
                <a:cubicBezTo>
                  <a:pt x="15506" y="7"/>
                  <a:pt x="15520" y="11"/>
                  <a:pt x="15533" y="17"/>
                </a:cubicBezTo>
                <a:cubicBezTo>
                  <a:pt x="15547" y="23"/>
                  <a:pt x="15559" y="29"/>
                  <a:pt x="15571" y="37"/>
                </a:cubicBezTo>
                <a:cubicBezTo>
                  <a:pt x="15583" y="45"/>
                  <a:pt x="15595" y="55"/>
                  <a:pt x="15605" y="65"/>
                </a:cubicBezTo>
                <a:cubicBezTo>
                  <a:pt x="15615" y="75"/>
                  <a:pt x="15624" y="86"/>
                  <a:pt x="15632" y="98"/>
                </a:cubicBezTo>
                <a:cubicBezTo>
                  <a:pt x="15640" y="110"/>
                  <a:pt x="15647" y="123"/>
                  <a:pt x="15653" y="136"/>
                </a:cubicBezTo>
                <a:cubicBezTo>
                  <a:pt x="15658" y="150"/>
                  <a:pt x="15662" y="163"/>
                  <a:pt x="15665" y="178"/>
                </a:cubicBezTo>
                <a:cubicBezTo>
                  <a:pt x="15668" y="192"/>
                  <a:pt x="15669" y="206"/>
                  <a:pt x="15669" y="221"/>
                </a:cubicBezTo>
                <a:lnTo>
                  <a:pt x="15669" y="4864"/>
                </a:lnTo>
                <a:cubicBezTo>
                  <a:pt x="15669" y="4879"/>
                  <a:pt x="15668" y="4893"/>
                  <a:pt x="15665" y="4907"/>
                </a:cubicBezTo>
                <a:cubicBezTo>
                  <a:pt x="15662" y="4922"/>
                  <a:pt x="15658" y="4935"/>
                  <a:pt x="15653" y="4949"/>
                </a:cubicBezTo>
                <a:cubicBezTo>
                  <a:pt x="15647" y="4962"/>
                  <a:pt x="15640" y="4975"/>
                  <a:pt x="15632" y="4987"/>
                </a:cubicBezTo>
                <a:cubicBezTo>
                  <a:pt x="15624" y="4999"/>
                  <a:pt x="15615" y="5010"/>
                  <a:pt x="15605" y="5020"/>
                </a:cubicBezTo>
                <a:cubicBezTo>
                  <a:pt x="15595" y="5030"/>
                  <a:pt x="15583" y="5040"/>
                  <a:pt x="15571" y="5048"/>
                </a:cubicBezTo>
                <a:cubicBezTo>
                  <a:pt x="15559" y="5056"/>
                  <a:pt x="15547" y="5063"/>
                  <a:pt x="15533" y="5068"/>
                </a:cubicBezTo>
                <a:cubicBezTo>
                  <a:pt x="15520" y="5074"/>
                  <a:pt x="15506" y="5078"/>
                  <a:pt x="15492" y="5081"/>
                </a:cubicBezTo>
                <a:cubicBezTo>
                  <a:pt x="15478" y="5083"/>
                  <a:pt x="15463" y="5085"/>
                  <a:pt x="15449" y="5085"/>
                </a:cubicBezTo>
                <a:lnTo>
                  <a:pt x="220" y="5085"/>
                </a:lnTo>
                <a:cubicBezTo>
                  <a:pt x="206" y="5085"/>
                  <a:pt x="191" y="5083"/>
                  <a:pt x="177" y="5081"/>
                </a:cubicBezTo>
                <a:cubicBezTo>
                  <a:pt x="163" y="5078"/>
                  <a:pt x="149" y="5074"/>
                  <a:pt x="136" y="5068"/>
                </a:cubicBezTo>
                <a:cubicBezTo>
                  <a:pt x="122" y="5063"/>
                  <a:pt x="110" y="5056"/>
                  <a:pt x="98" y="5048"/>
                </a:cubicBezTo>
                <a:cubicBezTo>
                  <a:pt x="86" y="5040"/>
                  <a:pt x="74" y="5030"/>
                  <a:pt x="64" y="5020"/>
                </a:cubicBezTo>
                <a:cubicBezTo>
                  <a:pt x="54" y="5010"/>
                  <a:pt x="45" y="4999"/>
                  <a:pt x="37" y="4987"/>
                </a:cubicBezTo>
                <a:cubicBezTo>
                  <a:pt x="29" y="4975"/>
                  <a:pt x="22" y="4962"/>
                  <a:pt x="16" y="4949"/>
                </a:cubicBezTo>
                <a:cubicBezTo>
                  <a:pt x="11" y="4935"/>
                  <a:pt x="7" y="4922"/>
                  <a:pt x="4" y="4907"/>
                </a:cubicBezTo>
                <a:cubicBezTo>
                  <a:pt x="1" y="4893"/>
                  <a:pt x="0" y="4879"/>
                  <a:pt x="0" y="4864"/>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391" name="" descr=""/>
          <p:cNvPicPr/>
          <p:nvPr/>
        </p:nvPicPr>
        <p:blipFill>
          <a:blip r:embed="rId2"/>
          <a:stretch/>
        </p:blipFill>
        <p:spPr>
          <a:xfrm>
            <a:off x="334440" y="877320"/>
            <a:ext cx="150120" cy="150120"/>
          </a:xfrm>
          <a:prstGeom prst="rect">
            <a:avLst/>
          </a:prstGeom>
          <a:noFill/>
          <a:ln w="0">
            <a:noFill/>
          </a:ln>
        </p:spPr>
      </p:pic>
      <p:sp>
        <p:nvSpPr>
          <p:cNvPr id="392" name=""/>
          <p:cNvSpPr txBox="1"/>
          <p:nvPr/>
        </p:nvSpPr>
        <p:spPr>
          <a:xfrm>
            <a:off x="334440" y="210240"/>
            <a:ext cx="349164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音源配置間隔</a:t>
            </a:r>
            <a:r>
              <a:rPr b="0" lang="en-US" sz="1979" strike="noStrike" u="none">
                <a:solidFill>
                  <a:srgbClr val="ffffff"/>
                </a:solidFill>
                <a:effectLst/>
                <a:uFillTx/>
                <a:latin typeface="NotoSansJP"/>
                <a:ea typeface="NotoSansJP"/>
              </a:rPr>
              <a:t>-</a:t>
            </a:r>
            <a:r>
              <a:rPr b="0" lang="zh-CN" sz="1979" strike="noStrike" u="none">
                <a:solidFill>
                  <a:srgbClr val="ffffff"/>
                </a:solidFill>
                <a:effectLst/>
                <a:uFillTx/>
                <a:latin typeface="NotoSansJP"/>
                <a:ea typeface="NotoSansJP"/>
              </a:rPr>
              <a:t>角度特性の評価</a:t>
            </a:r>
            <a:endParaRPr b="0" lang="en-US" sz="1979" strike="noStrike" u="none">
              <a:solidFill>
                <a:srgbClr val="000000"/>
              </a:solidFill>
              <a:effectLst/>
              <a:uFillTx/>
              <a:latin typeface="Times New Roman"/>
            </a:endParaRPr>
          </a:p>
        </p:txBody>
      </p:sp>
      <p:sp>
        <p:nvSpPr>
          <p:cNvPr id="393" name=""/>
          <p:cNvSpPr txBox="1"/>
          <p:nvPr/>
        </p:nvSpPr>
        <p:spPr>
          <a:xfrm>
            <a:off x="551520" y="864360"/>
            <a:ext cx="149760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音源配置間隔と</a:t>
            </a:r>
            <a:r>
              <a:rPr b="0" lang="en-US" sz="1320" strike="noStrike" u="none">
                <a:solidFill>
                  <a:srgbClr val="003366"/>
                </a:solidFill>
                <a:effectLst/>
                <a:uFillTx/>
                <a:latin typeface="NotoSansJP"/>
                <a:ea typeface="NotoSansJP"/>
              </a:rPr>
              <a:t>tan</a:t>
            </a:r>
            <a:endParaRPr b="0" lang="en-US" sz="1320" strike="noStrike" u="none">
              <a:solidFill>
                <a:srgbClr val="000000"/>
              </a:solidFill>
              <a:effectLst/>
              <a:uFillTx/>
              <a:latin typeface="Times New Roman"/>
            </a:endParaRPr>
          </a:p>
        </p:txBody>
      </p:sp>
      <p:sp>
        <p:nvSpPr>
          <p:cNvPr id="394" name=""/>
          <p:cNvSpPr txBox="1"/>
          <p:nvPr/>
        </p:nvSpPr>
        <p:spPr>
          <a:xfrm>
            <a:off x="1989000" y="868320"/>
            <a:ext cx="166680" cy="187920"/>
          </a:xfrm>
          <a:prstGeom prst="rect">
            <a:avLst/>
          </a:prstGeom>
          <a:noFill/>
          <a:ln w="0">
            <a:noFill/>
          </a:ln>
        </p:spPr>
        <p:txBody>
          <a:bodyPr wrap="none" lIns="0" rIns="0" tIns="0" bIns="0" anchor="t">
            <a:spAutoFit/>
          </a:bodyPr>
          <a:p>
            <a:r>
              <a:rPr b="1" lang="en-US" sz="1320" strike="noStrike" u="none">
                <a:solidFill>
                  <a:srgbClr val="003366"/>
                </a:solidFill>
                <a:effectLst/>
                <a:uFillTx/>
                <a:latin typeface="Arial"/>
                <a:ea typeface="Arial"/>
              </a:rPr>
              <a:t>θ</a:t>
            </a:r>
            <a:endParaRPr b="0" lang="en-US" sz="1320" strike="noStrike" u="none">
              <a:solidFill>
                <a:srgbClr val="000000"/>
              </a:solidFill>
              <a:effectLst/>
              <a:uFillTx/>
              <a:latin typeface="Times New Roman"/>
            </a:endParaRPr>
          </a:p>
        </p:txBody>
      </p:sp>
      <p:pic>
        <p:nvPicPr>
          <p:cNvPr id="395" name="" descr=""/>
          <p:cNvPicPr/>
          <p:nvPr/>
        </p:nvPicPr>
        <p:blipFill>
          <a:blip r:embed="rId3"/>
          <a:stretch/>
        </p:blipFill>
        <p:spPr>
          <a:xfrm>
            <a:off x="468000" y="1287000"/>
            <a:ext cx="4178160" cy="2088720"/>
          </a:xfrm>
          <a:prstGeom prst="rect">
            <a:avLst/>
          </a:prstGeom>
          <a:noFill/>
          <a:ln w="0">
            <a:noFill/>
          </a:ln>
        </p:spPr>
      </p:pic>
      <p:sp>
        <p:nvSpPr>
          <p:cNvPr id="396" name=""/>
          <p:cNvSpPr/>
          <p:nvPr/>
        </p:nvSpPr>
        <p:spPr>
          <a:xfrm>
            <a:off x="2473560" y="3517920"/>
            <a:ext cx="125640" cy="25560"/>
          </a:xfrm>
          <a:custGeom>
            <a:avLst/>
            <a:gdLst/>
            <a:ahLst/>
            <a:rect l="0" t="0" r="r" b="b"/>
            <a:pathLst>
              <a:path w="349" h="71">
                <a:moveTo>
                  <a:pt x="0" y="0"/>
                </a:moveTo>
                <a:lnTo>
                  <a:pt x="349" y="0"/>
                </a:lnTo>
                <a:lnTo>
                  <a:pt x="349" y="71"/>
                </a:lnTo>
                <a:lnTo>
                  <a:pt x="0" y="71"/>
                </a:lnTo>
                <a:lnTo>
                  <a:pt x="0" y="0"/>
                </a:lnTo>
                <a:close/>
              </a:path>
            </a:pathLst>
          </a:custGeom>
          <a:solidFill>
            <a:srgbClr val="1e40af"/>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7" name=""/>
          <p:cNvSpPr txBox="1"/>
          <p:nvPr/>
        </p:nvSpPr>
        <p:spPr>
          <a:xfrm>
            <a:off x="2079360" y="864360"/>
            <a:ext cx="50364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の関係</a:t>
            </a:r>
            <a:endParaRPr b="0" lang="en-US" sz="1320" strike="noStrike" u="none">
              <a:solidFill>
                <a:srgbClr val="000000"/>
              </a:solidFill>
              <a:effectLst/>
              <a:uFillTx/>
              <a:latin typeface="Times New Roman"/>
            </a:endParaRPr>
          </a:p>
        </p:txBody>
      </p:sp>
      <p:sp>
        <p:nvSpPr>
          <p:cNvPr id="398" name=""/>
          <p:cNvSpPr/>
          <p:nvPr/>
        </p:nvSpPr>
        <p:spPr>
          <a:xfrm>
            <a:off x="3158640" y="3517920"/>
            <a:ext cx="125640" cy="25560"/>
          </a:xfrm>
          <a:custGeom>
            <a:avLst/>
            <a:gdLst/>
            <a:ahLst/>
            <a:rect l="0" t="0" r="r" b="b"/>
            <a:pathLst>
              <a:path w="349" h="71">
                <a:moveTo>
                  <a:pt x="0" y="0"/>
                </a:moveTo>
                <a:lnTo>
                  <a:pt x="349" y="0"/>
                </a:lnTo>
                <a:lnTo>
                  <a:pt x="349" y="71"/>
                </a:lnTo>
                <a:lnTo>
                  <a:pt x="0" y="71"/>
                </a:lnTo>
                <a:lnTo>
                  <a:pt x="0" y="0"/>
                </a:lnTo>
                <a:close/>
              </a:path>
            </a:pathLst>
          </a:custGeom>
          <a:solidFill>
            <a:srgbClr val="ff69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99" name=""/>
          <p:cNvSpPr txBox="1"/>
          <p:nvPr/>
        </p:nvSpPr>
        <p:spPr>
          <a:xfrm>
            <a:off x="2640600" y="3468240"/>
            <a:ext cx="3528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理論値</a:t>
            </a:r>
            <a:endParaRPr b="0" lang="en-US" sz="920" strike="noStrike" u="none">
              <a:solidFill>
                <a:srgbClr val="000000"/>
              </a:solidFill>
              <a:effectLst/>
              <a:uFillTx/>
              <a:latin typeface="Times New Roman"/>
            </a:endParaRPr>
          </a:p>
        </p:txBody>
      </p:sp>
      <p:pic>
        <p:nvPicPr>
          <p:cNvPr id="400" name="" descr=""/>
          <p:cNvPicPr/>
          <p:nvPr/>
        </p:nvPicPr>
        <p:blipFill>
          <a:blip r:embed="rId4"/>
          <a:stretch/>
        </p:blipFill>
        <p:spPr>
          <a:xfrm>
            <a:off x="334440" y="4002840"/>
            <a:ext cx="150120" cy="150120"/>
          </a:xfrm>
          <a:prstGeom prst="rect">
            <a:avLst/>
          </a:prstGeom>
          <a:noFill/>
          <a:ln w="0">
            <a:noFill/>
          </a:ln>
        </p:spPr>
      </p:pic>
      <p:sp>
        <p:nvSpPr>
          <p:cNvPr id="401" name=""/>
          <p:cNvSpPr txBox="1"/>
          <p:nvPr/>
        </p:nvSpPr>
        <p:spPr>
          <a:xfrm>
            <a:off x="3326040" y="3468240"/>
            <a:ext cx="3528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測定値</a:t>
            </a:r>
            <a:endParaRPr b="0" lang="en-US" sz="920" strike="noStrike" u="none">
              <a:solidFill>
                <a:srgbClr val="000000"/>
              </a:solidFill>
              <a:effectLst/>
              <a:uFillTx/>
              <a:latin typeface="Times New Roman"/>
            </a:endParaRPr>
          </a:p>
        </p:txBody>
      </p:sp>
      <p:sp>
        <p:nvSpPr>
          <p:cNvPr id="402" name=""/>
          <p:cNvSpPr txBox="1"/>
          <p:nvPr/>
        </p:nvSpPr>
        <p:spPr>
          <a:xfrm>
            <a:off x="551520" y="3989880"/>
            <a:ext cx="234756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配置間隔による指向性への影響</a:t>
            </a:r>
            <a:endParaRPr b="0" lang="en-US" sz="1320" strike="noStrike" u="none">
              <a:solidFill>
                <a:srgbClr val="000000"/>
              </a:solidFill>
              <a:effectLst/>
              <a:uFillTx/>
              <a:latin typeface="Times New Roman"/>
            </a:endParaRPr>
          </a:p>
        </p:txBody>
      </p:sp>
      <p:pic>
        <p:nvPicPr>
          <p:cNvPr id="403" name="" descr=""/>
          <p:cNvPicPr/>
          <p:nvPr/>
        </p:nvPicPr>
        <p:blipFill>
          <a:blip r:embed="rId5"/>
          <a:stretch/>
        </p:blipFill>
        <p:spPr>
          <a:xfrm>
            <a:off x="1061280" y="4780080"/>
            <a:ext cx="166680" cy="133200"/>
          </a:xfrm>
          <a:prstGeom prst="rect">
            <a:avLst/>
          </a:prstGeom>
          <a:noFill/>
          <a:ln w="0">
            <a:noFill/>
          </a:ln>
        </p:spPr>
      </p:pic>
      <p:pic>
        <p:nvPicPr>
          <p:cNvPr id="404" name="" descr=""/>
          <p:cNvPicPr/>
          <p:nvPr/>
        </p:nvPicPr>
        <p:blipFill>
          <a:blip r:embed="rId6"/>
          <a:stretch/>
        </p:blipFill>
        <p:spPr>
          <a:xfrm>
            <a:off x="1295280" y="4780080"/>
            <a:ext cx="166680" cy="133200"/>
          </a:xfrm>
          <a:prstGeom prst="rect">
            <a:avLst/>
          </a:prstGeom>
          <a:noFill/>
          <a:ln w="0">
            <a:noFill/>
          </a:ln>
        </p:spPr>
      </p:pic>
      <p:pic>
        <p:nvPicPr>
          <p:cNvPr id="405" name="" descr=""/>
          <p:cNvPicPr/>
          <p:nvPr/>
        </p:nvPicPr>
        <p:blipFill>
          <a:blip r:embed="rId7"/>
          <a:stretch/>
        </p:blipFill>
        <p:spPr>
          <a:xfrm>
            <a:off x="1495800" y="4780080"/>
            <a:ext cx="166680" cy="133200"/>
          </a:xfrm>
          <a:prstGeom prst="rect">
            <a:avLst/>
          </a:prstGeom>
          <a:noFill/>
          <a:ln w="0">
            <a:noFill/>
          </a:ln>
        </p:spPr>
      </p:pic>
      <p:pic>
        <p:nvPicPr>
          <p:cNvPr id="406" name="" descr=""/>
          <p:cNvPicPr/>
          <p:nvPr/>
        </p:nvPicPr>
        <p:blipFill>
          <a:blip r:embed="rId8"/>
          <a:stretch/>
        </p:blipFill>
        <p:spPr>
          <a:xfrm>
            <a:off x="1027800" y="4980600"/>
            <a:ext cx="668160" cy="534600"/>
          </a:xfrm>
          <a:prstGeom prst="rect">
            <a:avLst/>
          </a:prstGeom>
          <a:noFill/>
          <a:ln w="0">
            <a:noFill/>
          </a:ln>
        </p:spPr>
      </p:pic>
      <p:sp>
        <p:nvSpPr>
          <p:cNvPr id="407" name=""/>
          <p:cNvSpPr txBox="1"/>
          <p:nvPr/>
        </p:nvSpPr>
        <p:spPr>
          <a:xfrm>
            <a:off x="926280" y="4571280"/>
            <a:ext cx="9889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狭い間隔 </a:t>
            </a:r>
            <a:r>
              <a:rPr b="0" lang="en-US" sz="920" strike="noStrike" u="none">
                <a:solidFill>
                  <a:srgbClr val="000000"/>
                </a:solidFill>
                <a:effectLst/>
                <a:uFillTx/>
                <a:latin typeface="NotoSansJP"/>
                <a:ea typeface="NotoSansJP"/>
              </a:rPr>
              <a:t>(</a:t>
            </a:r>
            <a:r>
              <a:rPr b="0" lang="zh-CN" sz="920" strike="noStrike" u="none">
                <a:solidFill>
                  <a:srgbClr val="000000"/>
                </a:solidFill>
                <a:effectLst/>
                <a:uFillTx/>
                <a:latin typeface="NotoSansJP"/>
                <a:ea typeface="NotoSansJP"/>
              </a:rPr>
              <a:t>＜</a:t>
            </a:r>
            <a:r>
              <a:rPr b="0" lang="en-US" sz="920" strike="noStrike" u="none">
                <a:solidFill>
                  <a:srgbClr val="000000"/>
                </a:solidFill>
                <a:effectLst/>
                <a:uFillTx/>
                <a:latin typeface="NotoSansJP"/>
                <a:ea typeface="NotoSansJP"/>
              </a:rPr>
              <a:t>1m)</a:t>
            </a:r>
            <a:endParaRPr b="0" lang="en-US" sz="920" strike="noStrike" u="none">
              <a:solidFill>
                <a:srgbClr val="000000"/>
              </a:solidFill>
              <a:effectLst/>
              <a:uFillTx/>
              <a:latin typeface="Times New Roman"/>
            </a:endParaRPr>
          </a:p>
        </p:txBody>
      </p:sp>
      <p:sp>
        <p:nvSpPr>
          <p:cNvPr id="408" name=""/>
          <p:cNvSpPr txBox="1"/>
          <p:nvPr/>
        </p:nvSpPr>
        <p:spPr>
          <a:xfrm>
            <a:off x="1064160" y="5598000"/>
            <a:ext cx="6040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勾配が緩やか</a:t>
            </a:r>
            <a:endParaRPr b="0" lang="en-US" sz="790" strike="noStrike" u="none">
              <a:solidFill>
                <a:srgbClr val="000000"/>
              </a:solidFill>
              <a:effectLst/>
              <a:uFillTx/>
              <a:latin typeface="Times New Roman"/>
            </a:endParaRPr>
          </a:p>
        </p:txBody>
      </p:sp>
      <p:sp>
        <p:nvSpPr>
          <p:cNvPr id="409" name=""/>
          <p:cNvSpPr txBox="1"/>
          <p:nvPr/>
        </p:nvSpPr>
        <p:spPr>
          <a:xfrm>
            <a:off x="1064160" y="5731560"/>
            <a:ext cx="6040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指向性が低い</a:t>
            </a:r>
            <a:endParaRPr b="0" lang="en-US" sz="790" strike="noStrike" u="none">
              <a:solidFill>
                <a:srgbClr val="000000"/>
              </a:solidFill>
              <a:effectLst/>
              <a:uFillTx/>
              <a:latin typeface="Times New Roman"/>
            </a:endParaRPr>
          </a:p>
        </p:txBody>
      </p:sp>
      <p:pic>
        <p:nvPicPr>
          <p:cNvPr id="410" name="" descr=""/>
          <p:cNvPicPr/>
          <p:nvPr/>
        </p:nvPicPr>
        <p:blipFill>
          <a:blip r:embed="rId9"/>
          <a:stretch/>
        </p:blipFill>
        <p:spPr>
          <a:xfrm>
            <a:off x="2757600" y="4713120"/>
            <a:ext cx="166680" cy="133200"/>
          </a:xfrm>
          <a:prstGeom prst="rect">
            <a:avLst/>
          </a:prstGeom>
          <a:noFill/>
          <a:ln w="0">
            <a:noFill/>
          </a:ln>
        </p:spPr>
      </p:pic>
      <p:pic>
        <p:nvPicPr>
          <p:cNvPr id="411" name="" descr=""/>
          <p:cNvPicPr/>
          <p:nvPr/>
        </p:nvPicPr>
        <p:blipFill>
          <a:blip r:embed="rId10"/>
          <a:stretch/>
        </p:blipFill>
        <p:spPr>
          <a:xfrm>
            <a:off x="3125520" y="4713120"/>
            <a:ext cx="166680" cy="133200"/>
          </a:xfrm>
          <a:prstGeom prst="rect">
            <a:avLst/>
          </a:prstGeom>
          <a:noFill/>
          <a:ln w="0">
            <a:noFill/>
          </a:ln>
        </p:spPr>
      </p:pic>
      <p:pic>
        <p:nvPicPr>
          <p:cNvPr id="412" name="" descr=""/>
          <p:cNvPicPr/>
          <p:nvPr/>
        </p:nvPicPr>
        <p:blipFill>
          <a:blip r:embed="rId11"/>
          <a:stretch/>
        </p:blipFill>
        <p:spPr>
          <a:xfrm>
            <a:off x="3393000" y="4713120"/>
            <a:ext cx="166680" cy="133200"/>
          </a:xfrm>
          <a:prstGeom prst="rect">
            <a:avLst/>
          </a:prstGeom>
          <a:noFill/>
          <a:ln w="0">
            <a:noFill/>
          </a:ln>
        </p:spPr>
      </p:pic>
      <p:pic>
        <p:nvPicPr>
          <p:cNvPr id="413" name="" descr=""/>
          <p:cNvPicPr/>
          <p:nvPr/>
        </p:nvPicPr>
        <p:blipFill>
          <a:blip r:embed="rId12"/>
          <a:stretch/>
        </p:blipFill>
        <p:spPr>
          <a:xfrm>
            <a:off x="2958120" y="4913640"/>
            <a:ext cx="400680" cy="668160"/>
          </a:xfrm>
          <a:prstGeom prst="rect">
            <a:avLst/>
          </a:prstGeom>
          <a:noFill/>
          <a:ln w="0">
            <a:noFill/>
          </a:ln>
        </p:spPr>
      </p:pic>
      <p:sp>
        <p:nvSpPr>
          <p:cNvPr id="414" name=""/>
          <p:cNvSpPr txBox="1"/>
          <p:nvPr/>
        </p:nvSpPr>
        <p:spPr>
          <a:xfrm>
            <a:off x="2540520" y="4504320"/>
            <a:ext cx="1364400" cy="169560"/>
          </a:xfrm>
          <a:prstGeom prst="rect">
            <a:avLst/>
          </a:prstGeom>
          <a:noFill/>
          <a:ln w="0">
            <a:noFill/>
          </a:ln>
        </p:spPr>
        <p:txBody>
          <a:bodyPr wrap="none" lIns="0" rIns="0" tIns="0" bIns="0" anchor="t">
            <a:spAutoFit/>
          </a:bodyPr>
          <a:p>
            <a:r>
              <a:rPr b="0" lang="zh-CN" sz="920" strike="noStrike" u="none">
                <a:solidFill>
                  <a:srgbClr val="ff6900"/>
                </a:solidFill>
                <a:effectLst/>
                <a:uFillTx/>
                <a:latin typeface="NotoSansJP"/>
                <a:ea typeface="NotoSansJP"/>
              </a:rPr>
              <a:t>最適間隔 </a:t>
            </a:r>
            <a:r>
              <a:rPr b="0" lang="en-US" sz="920" strike="noStrike" u="none">
                <a:solidFill>
                  <a:srgbClr val="ff6900"/>
                </a:solidFill>
                <a:effectLst/>
                <a:uFillTx/>
                <a:latin typeface="NotoSansJP"/>
                <a:ea typeface="NotoSansJP"/>
              </a:rPr>
              <a:t>(0.5m</a:t>
            </a:r>
            <a:r>
              <a:rPr b="0" lang="zh-CN" sz="920" strike="noStrike" u="none">
                <a:solidFill>
                  <a:srgbClr val="ff6900"/>
                </a:solidFill>
                <a:effectLst/>
                <a:uFillTx/>
                <a:latin typeface="NotoSansJP"/>
                <a:ea typeface="NotoSansJP"/>
              </a:rPr>
              <a:t>～</a:t>
            </a:r>
            <a:r>
              <a:rPr b="0" lang="en-US" sz="920" strike="noStrike" u="none">
                <a:solidFill>
                  <a:srgbClr val="ff6900"/>
                </a:solidFill>
                <a:effectLst/>
                <a:uFillTx/>
                <a:latin typeface="NotoSansJP"/>
                <a:ea typeface="NotoSansJP"/>
              </a:rPr>
              <a:t>10m)</a:t>
            </a:r>
            <a:endParaRPr b="0" lang="en-US" sz="920" strike="noStrike" u="none">
              <a:solidFill>
                <a:srgbClr val="000000"/>
              </a:solidFill>
              <a:effectLst/>
              <a:uFillTx/>
              <a:latin typeface="Times New Roman"/>
            </a:endParaRPr>
          </a:p>
        </p:txBody>
      </p:sp>
      <p:sp>
        <p:nvSpPr>
          <p:cNvPr id="415" name=""/>
          <p:cNvSpPr txBox="1"/>
          <p:nvPr/>
        </p:nvSpPr>
        <p:spPr>
          <a:xfrm>
            <a:off x="2858040" y="5664600"/>
            <a:ext cx="6040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明確なピーク</a:t>
            </a:r>
            <a:endParaRPr b="0" lang="en-US" sz="790" strike="noStrike" u="none">
              <a:solidFill>
                <a:srgbClr val="000000"/>
              </a:solidFill>
              <a:effectLst/>
              <a:uFillTx/>
              <a:latin typeface="Times New Roman"/>
            </a:endParaRPr>
          </a:p>
        </p:txBody>
      </p:sp>
      <p:sp>
        <p:nvSpPr>
          <p:cNvPr id="416" name=""/>
          <p:cNvSpPr txBox="1"/>
          <p:nvPr/>
        </p:nvSpPr>
        <p:spPr>
          <a:xfrm>
            <a:off x="2858040" y="5798520"/>
            <a:ext cx="6040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適切な指向性</a:t>
            </a:r>
            <a:endParaRPr b="0" lang="en-US" sz="790" strike="noStrike" u="none">
              <a:solidFill>
                <a:srgbClr val="000000"/>
              </a:solidFill>
              <a:effectLst/>
              <a:uFillTx/>
              <a:latin typeface="Times New Roman"/>
            </a:endParaRPr>
          </a:p>
        </p:txBody>
      </p:sp>
      <p:pic>
        <p:nvPicPr>
          <p:cNvPr id="417" name="" descr=""/>
          <p:cNvPicPr/>
          <p:nvPr/>
        </p:nvPicPr>
        <p:blipFill>
          <a:blip r:embed="rId13"/>
          <a:stretch/>
        </p:blipFill>
        <p:spPr>
          <a:xfrm>
            <a:off x="4454280" y="4746600"/>
            <a:ext cx="166680" cy="133200"/>
          </a:xfrm>
          <a:prstGeom prst="rect">
            <a:avLst/>
          </a:prstGeom>
          <a:noFill/>
          <a:ln w="0">
            <a:noFill/>
          </a:ln>
        </p:spPr>
      </p:pic>
      <p:pic>
        <p:nvPicPr>
          <p:cNvPr id="418" name="" descr=""/>
          <p:cNvPicPr/>
          <p:nvPr/>
        </p:nvPicPr>
        <p:blipFill>
          <a:blip r:embed="rId14"/>
          <a:stretch/>
        </p:blipFill>
        <p:spPr>
          <a:xfrm>
            <a:off x="4955400" y="4746600"/>
            <a:ext cx="166680" cy="133200"/>
          </a:xfrm>
          <a:prstGeom prst="rect">
            <a:avLst/>
          </a:prstGeom>
          <a:noFill/>
          <a:ln w="0">
            <a:noFill/>
          </a:ln>
        </p:spPr>
      </p:pic>
      <p:pic>
        <p:nvPicPr>
          <p:cNvPr id="419" name="" descr=""/>
          <p:cNvPicPr/>
          <p:nvPr/>
        </p:nvPicPr>
        <p:blipFill>
          <a:blip r:embed="rId15"/>
          <a:stretch/>
        </p:blipFill>
        <p:spPr>
          <a:xfrm>
            <a:off x="5289840" y="4746600"/>
            <a:ext cx="166680" cy="133200"/>
          </a:xfrm>
          <a:prstGeom prst="rect">
            <a:avLst/>
          </a:prstGeom>
          <a:noFill/>
          <a:ln w="0">
            <a:noFill/>
          </a:ln>
        </p:spPr>
      </p:pic>
      <p:sp>
        <p:nvSpPr>
          <p:cNvPr id="420" name=""/>
          <p:cNvSpPr txBox="1"/>
          <p:nvPr/>
        </p:nvSpPr>
        <p:spPr>
          <a:xfrm>
            <a:off x="4480560" y="4537800"/>
            <a:ext cx="106344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広い間隔 </a:t>
            </a:r>
            <a:r>
              <a:rPr b="0" lang="en-US" sz="920" strike="noStrike" u="none">
                <a:solidFill>
                  <a:srgbClr val="000000"/>
                </a:solidFill>
                <a:effectLst/>
                <a:uFillTx/>
                <a:latin typeface="NotoSansJP"/>
                <a:ea typeface="NotoSansJP"/>
              </a:rPr>
              <a:t>(</a:t>
            </a:r>
            <a:r>
              <a:rPr b="0" lang="zh-CN" sz="920" strike="noStrike" u="none">
                <a:solidFill>
                  <a:srgbClr val="000000"/>
                </a:solidFill>
                <a:effectLst/>
                <a:uFillTx/>
                <a:latin typeface="NotoSansJP"/>
                <a:ea typeface="NotoSansJP"/>
              </a:rPr>
              <a:t>＞</a:t>
            </a:r>
            <a:r>
              <a:rPr b="0" lang="en-US" sz="920" strike="noStrike" u="none">
                <a:solidFill>
                  <a:srgbClr val="000000"/>
                </a:solidFill>
                <a:effectLst/>
                <a:uFillTx/>
                <a:latin typeface="NotoSansJP"/>
                <a:ea typeface="NotoSansJP"/>
              </a:rPr>
              <a:t>10m)</a:t>
            </a:r>
            <a:endParaRPr b="0" lang="en-US" sz="920" strike="noStrike" u="none">
              <a:solidFill>
                <a:srgbClr val="000000"/>
              </a:solidFill>
              <a:effectLst/>
              <a:uFillTx/>
              <a:latin typeface="Times New Roman"/>
            </a:endParaRPr>
          </a:p>
        </p:txBody>
      </p:sp>
      <p:sp>
        <p:nvSpPr>
          <p:cNvPr id="421" name=""/>
          <p:cNvSpPr txBox="1"/>
          <p:nvPr/>
        </p:nvSpPr>
        <p:spPr>
          <a:xfrm>
            <a:off x="4601880" y="5631120"/>
            <a:ext cx="7048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複数ピーク発生</a:t>
            </a:r>
            <a:endParaRPr b="0" lang="en-US" sz="790" strike="noStrike" u="none">
              <a:solidFill>
                <a:srgbClr val="000000"/>
              </a:solidFill>
              <a:effectLst/>
              <a:uFillTx/>
              <a:latin typeface="Times New Roman"/>
            </a:endParaRPr>
          </a:p>
        </p:txBody>
      </p:sp>
      <p:sp>
        <p:nvSpPr>
          <p:cNvPr id="422" name=""/>
          <p:cNvSpPr/>
          <p:nvPr/>
        </p:nvSpPr>
        <p:spPr>
          <a:xfrm>
            <a:off x="6321600" y="3146040"/>
            <a:ext cx="4036680" cy="1145160"/>
          </a:xfrm>
          <a:custGeom>
            <a:avLst/>
            <a:gdLst/>
            <a:ahLst/>
            <a:rect l="0" t="0" r="r" b="b"/>
            <a:pathLst>
              <a:path w="11213" h="3181">
                <a:moveTo>
                  <a:pt x="0" y="2961"/>
                </a:moveTo>
                <a:lnTo>
                  <a:pt x="0" y="221"/>
                </a:lnTo>
                <a:cubicBezTo>
                  <a:pt x="0" y="206"/>
                  <a:pt x="2" y="192"/>
                  <a:pt x="4" y="178"/>
                </a:cubicBezTo>
                <a:cubicBezTo>
                  <a:pt x="7" y="164"/>
                  <a:pt x="11" y="150"/>
                  <a:pt x="17" y="136"/>
                </a:cubicBezTo>
                <a:cubicBezTo>
                  <a:pt x="23" y="123"/>
                  <a:pt x="29" y="110"/>
                  <a:pt x="37" y="98"/>
                </a:cubicBezTo>
                <a:cubicBezTo>
                  <a:pt x="45" y="86"/>
                  <a:pt x="55" y="75"/>
                  <a:pt x="65" y="65"/>
                </a:cubicBezTo>
                <a:cubicBezTo>
                  <a:pt x="75" y="55"/>
                  <a:pt x="86" y="45"/>
                  <a:pt x="98" y="37"/>
                </a:cubicBezTo>
                <a:cubicBezTo>
                  <a:pt x="110" y="29"/>
                  <a:pt x="123" y="23"/>
                  <a:pt x="136" y="17"/>
                </a:cubicBezTo>
                <a:cubicBezTo>
                  <a:pt x="150" y="11"/>
                  <a:pt x="163" y="7"/>
                  <a:pt x="178" y="4"/>
                </a:cubicBezTo>
                <a:cubicBezTo>
                  <a:pt x="192" y="2"/>
                  <a:pt x="206" y="0"/>
                  <a:pt x="221" y="0"/>
                </a:cubicBezTo>
                <a:lnTo>
                  <a:pt x="10993" y="0"/>
                </a:lnTo>
                <a:cubicBezTo>
                  <a:pt x="11007" y="0"/>
                  <a:pt x="11021" y="2"/>
                  <a:pt x="11036" y="4"/>
                </a:cubicBezTo>
                <a:cubicBezTo>
                  <a:pt x="11050" y="7"/>
                  <a:pt x="11064" y="11"/>
                  <a:pt x="11077" y="17"/>
                </a:cubicBezTo>
                <a:cubicBezTo>
                  <a:pt x="11090" y="23"/>
                  <a:pt x="11103" y="29"/>
                  <a:pt x="11115" y="37"/>
                </a:cubicBezTo>
                <a:cubicBezTo>
                  <a:pt x="11127" y="45"/>
                  <a:pt x="11138" y="55"/>
                  <a:pt x="11148" y="65"/>
                </a:cubicBezTo>
                <a:cubicBezTo>
                  <a:pt x="11159" y="75"/>
                  <a:pt x="11168" y="86"/>
                  <a:pt x="11176" y="98"/>
                </a:cubicBezTo>
                <a:cubicBezTo>
                  <a:pt x="11184" y="110"/>
                  <a:pt x="11191" y="123"/>
                  <a:pt x="11196" y="136"/>
                </a:cubicBezTo>
                <a:cubicBezTo>
                  <a:pt x="11202" y="150"/>
                  <a:pt x="11206" y="164"/>
                  <a:pt x="11209" y="178"/>
                </a:cubicBezTo>
                <a:cubicBezTo>
                  <a:pt x="11212" y="192"/>
                  <a:pt x="11213" y="206"/>
                  <a:pt x="11213" y="221"/>
                </a:cubicBezTo>
                <a:lnTo>
                  <a:pt x="11213" y="2961"/>
                </a:lnTo>
                <a:cubicBezTo>
                  <a:pt x="11213" y="2975"/>
                  <a:pt x="11212" y="2990"/>
                  <a:pt x="11209" y="3004"/>
                </a:cubicBezTo>
                <a:cubicBezTo>
                  <a:pt x="11206" y="3018"/>
                  <a:pt x="11202" y="3032"/>
                  <a:pt x="11196" y="3045"/>
                </a:cubicBezTo>
                <a:cubicBezTo>
                  <a:pt x="11191" y="3059"/>
                  <a:pt x="11184" y="3071"/>
                  <a:pt x="11176" y="3083"/>
                </a:cubicBezTo>
                <a:cubicBezTo>
                  <a:pt x="11168" y="3095"/>
                  <a:pt x="11159" y="3107"/>
                  <a:pt x="11148" y="3117"/>
                </a:cubicBezTo>
                <a:cubicBezTo>
                  <a:pt x="11138" y="3127"/>
                  <a:pt x="11127" y="3136"/>
                  <a:pt x="11115" y="3144"/>
                </a:cubicBezTo>
                <a:cubicBezTo>
                  <a:pt x="11103" y="3152"/>
                  <a:pt x="11090" y="3159"/>
                  <a:pt x="11077" y="3165"/>
                </a:cubicBezTo>
                <a:cubicBezTo>
                  <a:pt x="11064" y="3170"/>
                  <a:pt x="11050" y="3174"/>
                  <a:pt x="11036" y="3177"/>
                </a:cubicBezTo>
                <a:cubicBezTo>
                  <a:pt x="11021" y="3180"/>
                  <a:pt x="11007" y="3181"/>
                  <a:pt x="10993" y="3181"/>
                </a:cubicBezTo>
                <a:lnTo>
                  <a:pt x="221" y="3181"/>
                </a:lnTo>
                <a:cubicBezTo>
                  <a:pt x="206" y="3181"/>
                  <a:pt x="192" y="3180"/>
                  <a:pt x="178" y="3177"/>
                </a:cubicBezTo>
                <a:cubicBezTo>
                  <a:pt x="163" y="3174"/>
                  <a:pt x="150" y="3170"/>
                  <a:pt x="136" y="3165"/>
                </a:cubicBezTo>
                <a:cubicBezTo>
                  <a:pt x="123" y="3159"/>
                  <a:pt x="110" y="3152"/>
                  <a:pt x="98" y="3144"/>
                </a:cubicBezTo>
                <a:cubicBezTo>
                  <a:pt x="86" y="3136"/>
                  <a:pt x="75" y="3127"/>
                  <a:pt x="65" y="3117"/>
                </a:cubicBezTo>
                <a:cubicBezTo>
                  <a:pt x="55" y="3107"/>
                  <a:pt x="45" y="3095"/>
                  <a:pt x="37" y="3083"/>
                </a:cubicBezTo>
                <a:cubicBezTo>
                  <a:pt x="29" y="3071"/>
                  <a:pt x="23" y="3059"/>
                  <a:pt x="17" y="3045"/>
                </a:cubicBezTo>
                <a:cubicBezTo>
                  <a:pt x="11" y="3032"/>
                  <a:pt x="7" y="3018"/>
                  <a:pt x="4" y="3004"/>
                </a:cubicBezTo>
                <a:cubicBezTo>
                  <a:pt x="2" y="2990"/>
                  <a:pt x="0" y="2975"/>
                  <a:pt x="0" y="2961"/>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23" name=""/>
          <p:cNvSpPr/>
          <p:nvPr/>
        </p:nvSpPr>
        <p:spPr>
          <a:xfrm>
            <a:off x="6321600" y="3146040"/>
            <a:ext cx="4036680" cy="1145160"/>
          </a:xfrm>
          <a:custGeom>
            <a:avLst/>
            <a:gdLst/>
            <a:ahLst/>
            <a:rect l="0" t="0" r="r" b="b"/>
            <a:pathLst>
              <a:path fill="none" w="11213" h="3181">
                <a:moveTo>
                  <a:pt x="0" y="2961"/>
                </a:moveTo>
                <a:lnTo>
                  <a:pt x="0" y="221"/>
                </a:lnTo>
                <a:cubicBezTo>
                  <a:pt x="0" y="206"/>
                  <a:pt x="2" y="192"/>
                  <a:pt x="4" y="178"/>
                </a:cubicBezTo>
                <a:cubicBezTo>
                  <a:pt x="7" y="164"/>
                  <a:pt x="11" y="150"/>
                  <a:pt x="17" y="136"/>
                </a:cubicBezTo>
                <a:cubicBezTo>
                  <a:pt x="23" y="123"/>
                  <a:pt x="29" y="110"/>
                  <a:pt x="37" y="98"/>
                </a:cubicBezTo>
                <a:cubicBezTo>
                  <a:pt x="45" y="86"/>
                  <a:pt x="55" y="75"/>
                  <a:pt x="65" y="65"/>
                </a:cubicBezTo>
                <a:cubicBezTo>
                  <a:pt x="75" y="55"/>
                  <a:pt x="86" y="45"/>
                  <a:pt x="98" y="37"/>
                </a:cubicBezTo>
                <a:cubicBezTo>
                  <a:pt x="110" y="29"/>
                  <a:pt x="123" y="23"/>
                  <a:pt x="136" y="17"/>
                </a:cubicBezTo>
                <a:cubicBezTo>
                  <a:pt x="150" y="11"/>
                  <a:pt x="163" y="7"/>
                  <a:pt x="178" y="4"/>
                </a:cubicBezTo>
                <a:cubicBezTo>
                  <a:pt x="192" y="2"/>
                  <a:pt x="206" y="0"/>
                  <a:pt x="221" y="0"/>
                </a:cubicBezTo>
                <a:lnTo>
                  <a:pt x="10993" y="0"/>
                </a:lnTo>
                <a:cubicBezTo>
                  <a:pt x="11007" y="0"/>
                  <a:pt x="11021" y="2"/>
                  <a:pt x="11036" y="4"/>
                </a:cubicBezTo>
                <a:cubicBezTo>
                  <a:pt x="11050" y="7"/>
                  <a:pt x="11064" y="11"/>
                  <a:pt x="11077" y="17"/>
                </a:cubicBezTo>
                <a:cubicBezTo>
                  <a:pt x="11090" y="23"/>
                  <a:pt x="11103" y="29"/>
                  <a:pt x="11115" y="37"/>
                </a:cubicBezTo>
                <a:cubicBezTo>
                  <a:pt x="11127" y="45"/>
                  <a:pt x="11138" y="55"/>
                  <a:pt x="11148" y="65"/>
                </a:cubicBezTo>
                <a:cubicBezTo>
                  <a:pt x="11159" y="75"/>
                  <a:pt x="11168" y="86"/>
                  <a:pt x="11176" y="98"/>
                </a:cubicBezTo>
                <a:cubicBezTo>
                  <a:pt x="11184" y="110"/>
                  <a:pt x="11191" y="123"/>
                  <a:pt x="11196" y="136"/>
                </a:cubicBezTo>
                <a:cubicBezTo>
                  <a:pt x="11202" y="150"/>
                  <a:pt x="11206" y="164"/>
                  <a:pt x="11209" y="178"/>
                </a:cubicBezTo>
                <a:cubicBezTo>
                  <a:pt x="11212" y="192"/>
                  <a:pt x="11213" y="206"/>
                  <a:pt x="11213" y="221"/>
                </a:cubicBezTo>
                <a:lnTo>
                  <a:pt x="11213" y="2961"/>
                </a:lnTo>
                <a:cubicBezTo>
                  <a:pt x="11213" y="2975"/>
                  <a:pt x="11212" y="2990"/>
                  <a:pt x="11209" y="3004"/>
                </a:cubicBezTo>
                <a:cubicBezTo>
                  <a:pt x="11206" y="3018"/>
                  <a:pt x="11202" y="3032"/>
                  <a:pt x="11196" y="3045"/>
                </a:cubicBezTo>
                <a:cubicBezTo>
                  <a:pt x="11191" y="3059"/>
                  <a:pt x="11184" y="3071"/>
                  <a:pt x="11176" y="3083"/>
                </a:cubicBezTo>
                <a:cubicBezTo>
                  <a:pt x="11168" y="3095"/>
                  <a:pt x="11159" y="3107"/>
                  <a:pt x="11148" y="3117"/>
                </a:cubicBezTo>
                <a:cubicBezTo>
                  <a:pt x="11138" y="3127"/>
                  <a:pt x="11127" y="3136"/>
                  <a:pt x="11115" y="3144"/>
                </a:cubicBezTo>
                <a:cubicBezTo>
                  <a:pt x="11103" y="3152"/>
                  <a:pt x="11090" y="3159"/>
                  <a:pt x="11077" y="3165"/>
                </a:cubicBezTo>
                <a:cubicBezTo>
                  <a:pt x="11064" y="3170"/>
                  <a:pt x="11050" y="3174"/>
                  <a:pt x="11036" y="3177"/>
                </a:cubicBezTo>
                <a:cubicBezTo>
                  <a:pt x="11021" y="3180"/>
                  <a:pt x="11007" y="3181"/>
                  <a:pt x="10993" y="3181"/>
                </a:cubicBezTo>
                <a:lnTo>
                  <a:pt x="221" y="3181"/>
                </a:lnTo>
                <a:cubicBezTo>
                  <a:pt x="206" y="3181"/>
                  <a:pt x="192" y="3180"/>
                  <a:pt x="178" y="3177"/>
                </a:cubicBezTo>
                <a:cubicBezTo>
                  <a:pt x="163" y="3174"/>
                  <a:pt x="150" y="3170"/>
                  <a:pt x="136" y="3165"/>
                </a:cubicBezTo>
                <a:cubicBezTo>
                  <a:pt x="123" y="3159"/>
                  <a:pt x="110" y="3152"/>
                  <a:pt x="98" y="3144"/>
                </a:cubicBezTo>
                <a:cubicBezTo>
                  <a:pt x="86" y="3136"/>
                  <a:pt x="75" y="3127"/>
                  <a:pt x="65" y="3117"/>
                </a:cubicBezTo>
                <a:cubicBezTo>
                  <a:pt x="55" y="3107"/>
                  <a:pt x="45" y="3095"/>
                  <a:pt x="37" y="3083"/>
                </a:cubicBezTo>
                <a:cubicBezTo>
                  <a:pt x="29" y="3071"/>
                  <a:pt x="23" y="3059"/>
                  <a:pt x="17" y="3045"/>
                </a:cubicBezTo>
                <a:cubicBezTo>
                  <a:pt x="11" y="3032"/>
                  <a:pt x="7" y="3018"/>
                  <a:pt x="4" y="3004"/>
                </a:cubicBezTo>
                <a:cubicBezTo>
                  <a:pt x="2" y="2990"/>
                  <a:pt x="0" y="2975"/>
                  <a:pt x="0" y="2961"/>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424" name=""/>
          <p:cNvSpPr/>
          <p:nvPr/>
        </p:nvSpPr>
        <p:spPr>
          <a:xfrm>
            <a:off x="6321600" y="4399560"/>
            <a:ext cx="4036680" cy="1145160"/>
          </a:xfrm>
          <a:custGeom>
            <a:avLst/>
            <a:gdLst/>
            <a:ahLst/>
            <a:rect l="0" t="0" r="r" b="b"/>
            <a:pathLst>
              <a:path w="11213" h="3181">
                <a:moveTo>
                  <a:pt x="0" y="2961"/>
                </a:moveTo>
                <a:lnTo>
                  <a:pt x="0" y="221"/>
                </a:lnTo>
                <a:cubicBezTo>
                  <a:pt x="0" y="206"/>
                  <a:pt x="2" y="192"/>
                  <a:pt x="4" y="178"/>
                </a:cubicBezTo>
                <a:cubicBezTo>
                  <a:pt x="7" y="163"/>
                  <a:pt x="11" y="150"/>
                  <a:pt x="17" y="136"/>
                </a:cubicBezTo>
                <a:cubicBezTo>
                  <a:pt x="23" y="123"/>
                  <a:pt x="29" y="110"/>
                  <a:pt x="37" y="98"/>
                </a:cubicBezTo>
                <a:cubicBezTo>
                  <a:pt x="45" y="86"/>
                  <a:pt x="55" y="75"/>
                  <a:pt x="65" y="65"/>
                </a:cubicBezTo>
                <a:cubicBezTo>
                  <a:pt x="75" y="55"/>
                  <a:pt x="86" y="45"/>
                  <a:pt x="98" y="37"/>
                </a:cubicBezTo>
                <a:cubicBezTo>
                  <a:pt x="110" y="29"/>
                  <a:pt x="123" y="22"/>
                  <a:pt x="136" y="17"/>
                </a:cubicBezTo>
                <a:cubicBezTo>
                  <a:pt x="150" y="11"/>
                  <a:pt x="163" y="7"/>
                  <a:pt x="178" y="4"/>
                </a:cubicBezTo>
                <a:cubicBezTo>
                  <a:pt x="192" y="2"/>
                  <a:pt x="206" y="0"/>
                  <a:pt x="221" y="0"/>
                </a:cubicBezTo>
                <a:lnTo>
                  <a:pt x="10993" y="0"/>
                </a:lnTo>
                <a:cubicBezTo>
                  <a:pt x="11007" y="0"/>
                  <a:pt x="11021" y="2"/>
                  <a:pt x="11036" y="4"/>
                </a:cubicBezTo>
                <a:cubicBezTo>
                  <a:pt x="11050" y="7"/>
                  <a:pt x="11064" y="11"/>
                  <a:pt x="11077" y="17"/>
                </a:cubicBezTo>
                <a:cubicBezTo>
                  <a:pt x="11090" y="22"/>
                  <a:pt x="11103" y="29"/>
                  <a:pt x="11115" y="37"/>
                </a:cubicBezTo>
                <a:cubicBezTo>
                  <a:pt x="11127" y="45"/>
                  <a:pt x="11138" y="55"/>
                  <a:pt x="11148" y="65"/>
                </a:cubicBezTo>
                <a:cubicBezTo>
                  <a:pt x="11159" y="75"/>
                  <a:pt x="11168" y="86"/>
                  <a:pt x="11176" y="98"/>
                </a:cubicBezTo>
                <a:cubicBezTo>
                  <a:pt x="11184" y="110"/>
                  <a:pt x="11191" y="123"/>
                  <a:pt x="11196" y="136"/>
                </a:cubicBezTo>
                <a:cubicBezTo>
                  <a:pt x="11202" y="150"/>
                  <a:pt x="11206" y="163"/>
                  <a:pt x="11209" y="178"/>
                </a:cubicBezTo>
                <a:cubicBezTo>
                  <a:pt x="11212" y="192"/>
                  <a:pt x="11213" y="206"/>
                  <a:pt x="11213" y="221"/>
                </a:cubicBezTo>
                <a:lnTo>
                  <a:pt x="11213" y="2961"/>
                </a:lnTo>
                <a:cubicBezTo>
                  <a:pt x="11213" y="2975"/>
                  <a:pt x="11212" y="2990"/>
                  <a:pt x="11209" y="3004"/>
                </a:cubicBezTo>
                <a:cubicBezTo>
                  <a:pt x="11206" y="3018"/>
                  <a:pt x="11202" y="3032"/>
                  <a:pt x="11196" y="3045"/>
                </a:cubicBezTo>
                <a:cubicBezTo>
                  <a:pt x="11191" y="3059"/>
                  <a:pt x="11184" y="3071"/>
                  <a:pt x="11176" y="3083"/>
                </a:cubicBezTo>
                <a:cubicBezTo>
                  <a:pt x="11168" y="3095"/>
                  <a:pt x="11159" y="3107"/>
                  <a:pt x="11148" y="3117"/>
                </a:cubicBezTo>
                <a:cubicBezTo>
                  <a:pt x="11138" y="3127"/>
                  <a:pt x="11127" y="3136"/>
                  <a:pt x="11115" y="3144"/>
                </a:cubicBezTo>
                <a:cubicBezTo>
                  <a:pt x="11103" y="3152"/>
                  <a:pt x="11090" y="3159"/>
                  <a:pt x="11077" y="3165"/>
                </a:cubicBezTo>
                <a:cubicBezTo>
                  <a:pt x="11064" y="3170"/>
                  <a:pt x="11050" y="3174"/>
                  <a:pt x="11036" y="3177"/>
                </a:cubicBezTo>
                <a:cubicBezTo>
                  <a:pt x="11021" y="3180"/>
                  <a:pt x="11007" y="3181"/>
                  <a:pt x="10993" y="3181"/>
                </a:cubicBezTo>
                <a:lnTo>
                  <a:pt x="221" y="3181"/>
                </a:lnTo>
                <a:cubicBezTo>
                  <a:pt x="206" y="3181"/>
                  <a:pt x="192" y="3180"/>
                  <a:pt x="178" y="3177"/>
                </a:cubicBezTo>
                <a:cubicBezTo>
                  <a:pt x="163" y="3174"/>
                  <a:pt x="150" y="3170"/>
                  <a:pt x="136" y="3165"/>
                </a:cubicBezTo>
                <a:cubicBezTo>
                  <a:pt x="123" y="3159"/>
                  <a:pt x="110" y="3152"/>
                  <a:pt x="98" y="3144"/>
                </a:cubicBezTo>
                <a:cubicBezTo>
                  <a:pt x="86" y="3136"/>
                  <a:pt x="75" y="3127"/>
                  <a:pt x="65" y="3117"/>
                </a:cubicBezTo>
                <a:cubicBezTo>
                  <a:pt x="55" y="3107"/>
                  <a:pt x="45" y="3095"/>
                  <a:pt x="37" y="3083"/>
                </a:cubicBezTo>
                <a:cubicBezTo>
                  <a:pt x="29" y="3071"/>
                  <a:pt x="23" y="3059"/>
                  <a:pt x="17" y="3045"/>
                </a:cubicBezTo>
                <a:cubicBezTo>
                  <a:pt x="11" y="3032"/>
                  <a:pt x="7" y="3018"/>
                  <a:pt x="4" y="3004"/>
                </a:cubicBezTo>
                <a:cubicBezTo>
                  <a:pt x="2" y="2990"/>
                  <a:pt x="0" y="2975"/>
                  <a:pt x="0" y="2961"/>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25" name=""/>
          <p:cNvSpPr/>
          <p:nvPr/>
        </p:nvSpPr>
        <p:spPr>
          <a:xfrm>
            <a:off x="6321600" y="4399560"/>
            <a:ext cx="4036680" cy="1145160"/>
          </a:xfrm>
          <a:custGeom>
            <a:avLst/>
            <a:gdLst/>
            <a:ahLst/>
            <a:rect l="0" t="0" r="r" b="b"/>
            <a:pathLst>
              <a:path fill="none" w="11213" h="3181">
                <a:moveTo>
                  <a:pt x="0" y="2961"/>
                </a:moveTo>
                <a:lnTo>
                  <a:pt x="0" y="221"/>
                </a:lnTo>
                <a:cubicBezTo>
                  <a:pt x="0" y="206"/>
                  <a:pt x="2" y="192"/>
                  <a:pt x="4" y="178"/>
                </a:cubicBezTo>
                <a:cubicBezTo>
                  <a:pt x="7" y="163"/>
                  <a:pt x="11" y="150"/>
                  <a:pt x="17" y="136"/>
                </a:cubicBezTo>
                <a:cubicBezTo>
                  <a:pt x="23" y="123"/>
                  <a:pt x="29" y="110"/>
                  <a:pt x="37" y="98"/>
                </a:cubicBezTo>
                <a:cubicBezTo>
                  <a:pt x="45" y="86"/>
                  <a:pt x="55" y="75"/>
                  <a:pt x="65" y="65"/>
                </a:cubicBezTo>
                <a:cubicBezTo>
                  <a:pt x="75" y="55"/>
                  <a:pt x="86" y="45"/>
                  <a:pt x="98" y="37"/>
                </a:cubicBezTo>
                <a:cubicBezTo>
                  <a:pt x="110" y="29"/>
                  <a:pt x="123" y="22"/>
                  <a:pt x="136" y="17"/>
                </a:cubicBezTo>
                <a:cubicBezTo>
                  <a:pt x="150" y="11"/>
                  <a:pt x="163" y="7"/>
                  <a:pt x="178" y="4"/>
                </a:cubicBezTo>
                <a:cubicBezTo>
                  <a:pt x="192" y="2"/>
                  <a:pt x="206" y="0"/>
                  <a:pt x="221" y="0"/>
                </a:cubicBezTo>
                <a:lnTo>
                  <a:pt x="10993" y="0"/>
                </a:lnTo>
                <a:cubicBezTo>
                  <a:pt x="11007" y="0"/>
                  <a:pt x="11021" y="2"/>
                  <a:pt x="11036" y="4"/>
                </a:cubicBezTo>
                <a:cubicBezTo>
                  <a:pt x="11050" y="7"/>
                  <a:pt x="11064" y="11"/>
                  <a:pt x="11077" y="17"/>
                </a:cubicBezTo>
                <a:cubicBezTo>
                  <a:pt x="11090" y="22"/>
                  <a:pt x="11103" y="29"/>
                  <a:pt x="11115" y="37"/>
                </a:cubicBezTo>
                <a:cubicBezTo>
                  <a:pt x="11127" y="45"/>
                  <a:pt x="11138" y="55"/>
                  <a:pt x="11148" y="65"/>
                </a:cubicBezTo>
                <a:cubicBezTo>
                  <a:pt x="11159" y="75"/>
                  <a:pt x="11168" y="86"/>
                  <a:pt x="11176" y="98"/>
                </a:cubicBezTo>
                <a:cubicBezTo>
                  <a:pt x="11184" y="110"/>
                  <a:pt x="11191" y="123"/>
                  <a:pt x="11196" y="136"/>
                </a:cubicBezTo>
                <a:cubicBezTo>
                  <a:pt x="11202" y="150"/>
                  <a:pt x="11206" y="163"/>
                  <a:pt x="11209" y="178"/>
                </a:cubicBezTo>
                <a:cubicBezTo>
                  <a:pt x="11212" y="192"/>
                  <a:pt x="11213" y="206"/>
                  <a:pt x="11213" y="221"/>
                </a:cubicBezTo>
                <a:lnTo>
                  <a:pt x="11213" y="2961"/>
                </a:lnTo>
                <a:cubicBezTo>
                  <a:pt x="11213" y="2975"/>
                  <a:pt x="11212" y="2990"/>
                  <a:pt x="11209" y="3004"/>
                </a:cubicBezTo>
                <a:cubicBezTo>
                  <a:pt x="11206" y="3018"/>
                  <a:pt x="11202" y="3032"/>
                  <a:pt x="11196" y="3045"/>
                </a:cubicBezTo>
                <a:cubicBezTo>
                  <a:pt x="11191" y="3059"/>
                  <a:pt x="11184" y="3071"/>
                  <a:pt x="11176" y="3083"/>
                </a:cubicBezTo>
                <a:cubicBezTo>
                  <a:pt x="11168" y="3095"/>
                  <a:pt x="11159" y="3107"/>
                  <a:pt x="11148" y="3117"/>
                </a:cubicBezTo>
                <a:cubicBezTo>
                  <a:pt x="11138" y="3127"/>
                  <a:pt x="11127" y="3136"/>
                  <a:pt x="11115" y="3144"/>
                </a:cubicBezTo>
                <a:cubicBezTo>
                  <a:pt x="11103" y="3152"/>
                  <a:pt x="11090" y="3159"/>
                  <a:pt x="11077" y="3165"/>
                </a:cubicBezTo>
                <a:cubicBezTo>
                  <a:pt x="11064" y="3170"/>
                  <a:pt x="11050" y="3174"/>
                  <a:pt x="11036" y="3177"/>
                </a:cubicBezTo>
                <a:cubicBezTo>
                  <a:pt x="11021" y="3180"/>
                  <a:pt x="11007" y="3181"/>
                  <a:pt x="10993" y="3181"/>
                </a:cubicBezTo>
                <a:lnTo>
                  <a:pt x="221" y="3181"/>
                </a:lnTo>
                <a:cubicBezTo>
                  <a:pt x="206" y="3181"/>
                  <a:pt x="192" y="3180"/>
                  <a:pt x="178" y="3177"/>
                </a:cubicBezTo>
                <a:cubicBezTo>
                  <a:pt x="163" y="3174"/>
                  <a:pt x="150" y="3170"/>
                  <a:pt x="136" y="3165"/>
                </a:cubicBezTo>
                <a:cubicBezTo>
                  <a:pt x="123" y="3159"/>
                  <a:pt x="110" y="3152"/>
                  <a:pt x="98" y="3144"/>
                </a:cubicBezTo>
                <a:cubicBezTo>
                  <a:pt x="86" y="3136"/>
                  <a:pt x="75" y="3127"/>
                  <a:pt x="65" y="3117"/>
                </a:cubicBezTo>
                <a:cubicBezTo>
                  <a:pt x="55" y="3107"/>
                  <a:pt x="45" y="3095"/>
                  <a:pt x="37" y="3083"/>
                </a:cubicBezTo>
                <a:cubicBezTo>
                  <a:pt x="29" y="3071"/>
                  <a:pt x="23" y="3059"/>
                  <a:pt x="17" y="3045"/>
                </a:cubicBezTo>
                <a:cubicBezTo>
                  <a:pt x="11" y="3032"/>
                  <a:pt x="7" y="3018"/>
                  <a:pt x="4" y="3004"/>
                </a:cubicBezTo>
                <a:cubicBezTo>
                  <a:pt x="2" y="2990"/>
                  <a:pt x="0" y="2975"/>
                  <a:pt x="0" y="2961"/>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426" name="" descr=""/>
          <p:cNvPicPr/>
          <p:nvPr/>
        </p:nvPicPr>
        <p:blipFill>
          <a:blip r:embed="rId16"/>
          <a:stretch/>
        </p:blipFill>
        <p:spPr>
          <a:xfrm>
            <a:off x="6317640" y="877320"/>
            <a:ext cx="116640" cy="150120"/>
          </a:xfrm>
          <a:prstGeom prst="rect">
            <a:avLst/>
          </a:prstGeom>
          <a:noFill/>
          <a:ln w="0">
            <a:noFill/>
          </a:ln>
        </p:spPr>
      </p:pic>
      <p:sp>
        <p:nvSpPr>
          <p:cNvPr id="427" name=""/>
          <p:cNvSpPr txBox="1"/>
          <p:nvPr/>
        </p:nvSpPr>
        <p:spPr>
          <a:xfrm>
            <a:off x="4651920" y="5765040"/>
            <a:ext cx="60408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干渉が少ない</a:t>
            </a:r>
            <a:endParaRPr b="0" lang="en-US" sz="790" strike="noStrike" u="none">
              <a:solidFill>
                <a:srgbClr val="000000"/>
              </a:solidFill>
              <a:effectLst/>
              <a:uFillTx/>
              <a:latin typeface="Times New Roman"/>
            </a:endParaRPr>
          </a:p>
        </p:txBody>
      </p:sp>
      <p:pic>
        <p:nvPicPr>
          <p:cNvPr id="428" name="" descr=""/>
          <p:cNvPicPr/>
          <p:nvPr/>
        </p:nvPicPr>
        <p:blipFill>
          <a:blip r:embed="rId17"/>
          <a:stretch/>
        </p:blipFill>
        <p:spPr>
          <a:xfrm>
            <a:off x="6317640" y="1194840"/>
            <a:ext cx="133200" cy="133200"/>
          </a:xfrm>
          <a:prstGeom prst="rect">
            <a:avLst/>
          </a:prstGeom>
          <a:noFill/>
          <a:ln w="0">
            <a:noFill/>
          </a:ln>
        </p:spPr>
      </p:pic>
      <p:sp>
        <p:nvSpPr>
          <p:cNvPr id="429" name=""/>
          <p:cNvSpPr txBox="1"/>
          <p:nvPr/>
        </p:nvSpPr>
        <p:spPr>
          <a:xfrm>
            <a:off x="6501600" y="864360"/>
            <a:ext cx="117432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実験結果と考察</a:t>
            </a:r>
            <a:endParaRPr b="0" lang="en-US" sz="1320" strike="noStrike" u="none">
              <a:solidFill>
                <a:srgbClr val="000000"/>
              </a:solidFill>
              <a:effectLst/>
              <a:uFillTx/>
              <a:latin typeface="Times New Roman"/>
            </a:endParaRPr>
          </a:p>
        </p:txBody>
      </p:sp>
      <p:pic>
        <p:nvPicPr>
          <p:cNvPr id="430" name="" descr=""/>
          <p:cNvPicPr/>
          <p:nvPr/>
        </p:nvPicPr>
        <p:blipFill>
          <a:blip r:embed="rId18"/>
          <a:stretch/>
        </p:blipFill>
        <p:spPr>
          <a:xfrm>
            <a:off x="6317640" y="1495800"/>
            <a:ext cx="133200" cy="133200"/>
          </a:xfrm>
          <a:prstGeom prst="rect">
            <a:avLst/>
          </a:prstGeom>
          <a:noFill/>
          <a:ln w="0">
            <a:noFill/>
          </a:ln>
        </p:spPr>
      </p:pic>
      <p:sp>
        <p:nvSpPr>
          <p:cNvPr id="431" name=""/>
          <p:cNvSpPr txBox="1"/>
          <p:nvPr/>
        </p:nvSpPr>
        <p:spPr>
          <a:xfrm>
            <a:off x="6551640" y="1188000"/>
            <a:ext cx="34678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配置間隔が</a:t>
            </a:r>
            <a:r>
              <a:rPr b="0" lang="en-US" sz="1050" strike="noStrike" u="none">
                <a:solidFill>
                  <a:srgbClr val="ff8c00"/>
                </a:solidFill>
                <a:effectLst/>
                <a:uFillTx/>
                <a:latin typeface="NotoSansJP"/>
                <a:ea typeface="NotoSansJP"/>
              </a:rPr>
              <a:t>0.5m</a:t>
            </a:r>
            <a:r>
              <a:rPr b="0" lang="zh-CN" sz="1050" strike="noStrike" u="none">
                <a:solidFill>
                  <a:srgbClr val="ff8c00"/>
                </a:solidFill>
                <a:effectLst/>
                <a:uFillTx/>
                <a:latin typeface="NotoSansJP"/>
                <a:ea typeface="NotoSansJP"/>
              </a:rPr>
              <a:t>～</a:t>
            </a:r>
            <a:r>
              <a:rPr b="0" lang="en-US" sz="1050" strike="noStrike" u="none">
                <a:solidFill>
                  <a:srgbClr val="ff8c00"/>
                </a:solidFill>
                <a:effectLst/>
                <a:uFillTx/>
                <a:latin typeface="NotoSansJP"/>
                <a:ea typeface="NotoSansJP"/>
              </a:rPr>
              <a:t>10m</a:t>
            </a:r>
            <a:r>
              <a:rPr b="0" lang="zh-CN" sz="1050" strike="noStrike" u="none">
                <a:solidFill>
                  <a:srgbClr val="000000"/>
                </a:solidFill>
                <a:effectLst/>
                <a:uFillTx/>
                <a:latin typeface="NotoSansJP"/>
                <a:ea typeface="NotoSansJP"/>
              </a:rPr>
              <a:t>の範囲で測定可能な結果を得た</a:t>
            </a:r>
            <a:endParaRPr b="0" lang="en-US" sz="1050" strike="noStrike" u="none">
              <a:solidFill>
                <a:srgbClr val="000000"/>
              </a:solidFill>
              <a:effectLst/>
              <a:uFillTx/>
              <a:latin typeface="Times New Roman"/>
            </a:endParaRPr>
          </a:p>
        </p:txBody>
      </p:sp>
      <p:pic>
        <p:nvPicPr>
          <p:cNvPr id="432" name="" descr=""/>
          <p:cNvPicPr/>
          <p:nvPr/>
        </p:nvPicPr>
        <p:blipFill>
          <a:blip r:embed="rId19"/>
          <a:stretch/>
        </p:blipFill>
        <p:spPr>
          <a:xfrm>
            <a:off x="6317640" y="1796760"/>
            <a:ext cx="133200" cy="133200"/>
          </a:xfrm>
          <a:prstGeom prst="rect">
            <a:avLst/>
          </a:prstGeom>
          <a:noFill/>
          <a:ln w="0">
            <a:noFill/>
          </a:ln>
        </p:spPr>
      </p:pic>
      <p:sp>
        <p:nvSpPr>
          <p:cNvPr id="433" name=""/>
          <p:cNvSpPr txBox="1"/>
          <p:nvPr/>
        </p:nvSpPr>
        <p:spPr>
          <a:xfrm>
            <a:off x="6551640" y="1488600"/>
            <a:ext cx="30855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多くの測定点で</a:t>
            </a:r>
            <a:r>
              <a:rPr b="0" lang="zh-CN" sz="1050" strike="noStrike" u="none">
                <a:solidFill>
                  <a:srgbClr val="ff8c00"/>
                </a:solidFill>
                <a:effectLst/>
                <a:uFillTx/>
                <a:latin typeface="NotoSansJP"/>
                <a:ea typeface="NotoSansJP"/>
              </a:rPr>
              <a:t>理論値と近い値</a:t>
            </a:r>
            <a:r>
              <a:rPr b="0" lang="zh-CN" sz="1050" strike="noStrike" u="none">
                <a:solidFill>
                  <a:srgbClr val="000000"/>
                </a:solidFill>
                <a:effectLst/>
                <a:uFillTx/>
                <a:latin typeface="NotoSansJP"/>
                <a:ea typeface="NotoSansJP"/>
              </a:rPr>
              <a:t>を得ることができた</a:t>
            </a:r>
            <a:endParaRPr b="0" lang="en-US" sz="1050" strike="noStrike" u="none">
              <a:solidFill>
                <a:srgbClr val="000000"/>
              </a:solidFill>
              <a:effectLst/>
              <a:uFillTx/>
              <a:latin typeface="Times New Roman"/>
            </a:endParaRPr>
          </a:p>
        </p:txBody>
      </p:sp>
      <p:sp>
        <p:nvSpPr>
          <p:cNvPr id="434" name=""/>
          <p:cNvSpPr txBox="1"/>
          <p:nvPr/>
        </p:nvSpPr>
        <p:spPr>
          <a:xfrm>
            <a:off x="6551640" y="1789560"/>
            <a:ext cx="39078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配置間隔が</a:t>
            </a:r>
            <a:r>
              <a:rPr b="0" lang="en-US" sz="1050" strike="noStrike" u="none">
                <a:solidFill>
                  <a:srgbClr val="ff8c00"/>
                </a:solidFill>
                <a:effectLst/>
                <a:uFillTx/>
                <a:latin typeface="NotoSansJP"/>
                <a:ea typeface="NotoSansJP"/>
              </a:rPr>
              <a:t>1m</a:t>
            </a:r>
            <a:r>
              <a:rPr b="0" lang="zh-CN" sz="1050" strike="noStrike" u="none">
                <a:solidFill>
                  <a:srgbClr val="ff8c00"/>
                </a:solidFill>
                <a:effectLst/>
                <a:uFillTx/>
                <a:latin typeface="NotoSansJP"/>
                <a:ea typeface="NotoSansJP"/>
              </a:rPr>
              <a:t>以下</a:t>
            </a:r>
            <a:r>
              <a:rPr b="0" lang="zh-CN" sz="1050" strike="noStrike" u="none">
                <a:solidFill>
                  <a:srgbClr val="000000"/>
                </a:solidFill>
                <a:effectLst/>
                <a:uFillTx/>
                <a:latin typeface="NotoSansJP"/>
                <a:ea typeface="NotoSansJP"/>
              </a:rPr>
              <a:t>では、レシーバの特性グラフの勾配が緩やか</a:t>
            </a:r>
            <a:endParaRPr b="0" lang="en-US" sz="1050" strike="noStrike" u="none">
              <a:solidFill>
                <a:srgbClr val="000000"/>
              </a:solidFill>
              <a:effectLst/>
              <a:uFillTx/>
              <a:latin typeface="Times New Roman"/>
            </a:endParaRPr>
          </a:p>
        </p:txBody>
      </p:sp>
      <p:pic>
        <p:nvPicPr>
          <p:cNvPr id="435" name="" descr=""/>
          <p:cNvPicPr/>
          <p:nvPr/>
        </p:nvPicPr>
        <p:blipFill>
          <a:blip r:embed="rId20"/>
          <a:stretch/>
        </p:blipFill>
        <p:spPr>
          <a:xfrm>
            <a:off x="6317640" y="2298240"/>
            <a:ext cx="133200" cy="133200"/>
          </a:xfrm>
          <a:prstGeom prst="rect">
            <a:avLst/>
          </a:prstGeom>
          <a:noFill/>
          <a:ln w="0">
            <a:noFill/>
          </a:ln>
        </p:spPr>
      </p:pic>
      <p:sp>
        <p:nvSpPr>
          <p:cNvPr id="436" name=""/>
          <p:cNvSpPr txBox="1"/>
          <p:nvPr/>
        </p:nvSpPr>
        <p:spPr>
          <a:xfrm>
            <a:off x="6551640" y="1990080"/>
            <a:ext cx="16099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になり、</a:t>
            </a:r>
            <a:r>
              <a:rPr b="0" lang="zh-CN" sz="1050" strike="noStrike" u="none">
                <a:solidFill>
                  <a:srgbClr val="ff8c00"/>
                </a:solidFill>
                <a:effectLst/>
                <a:uFillTx/>
                <a:latin typeface="NotoSansJP"/>
                <a:ea typeface="NotoSansJP"/>
              </a:rPr>
              <a:t>頂点の特定が困難</a:t>
            </a:r>
            <a:endParaRPr b="0" lang="en-US" sz="1050" strike="noStrike" u="none">
              <a:solidFill>
                <a:srgbClr val="000000"/>
              </a:solidFill>
              <a:effectLst/>
              <a:uFillTx/>
              <a:latin typeface="Times New Roman"/>
            </a:endParaRPr>
          </a:p>
        </p:txBody>
      </p:sp>
      <p:sp>
        <p:nvSpPr>
          <p:cNvPr id="437" name=""/>
          <p:cNvSpPr txBox="1"/>
          <p:nvPr/>
        </p:nvSpPr>
        <p:spPr>
          <a:xfrm>
            <a:off x="6551640" y="2291040"/>
            <a:ext cx="37558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間隔が大きくなると、スピーカ同士の干渉がなくなり、</a:t>
            </a:r>
            <a:r>
              <a:rPr b="0" lang="zh-CN" sz="1050" strike="noStrike" u="none">
                <a:solidFill>
                  <a:srgbClr val="ff8c00"/>
                </a:solidFill>
                <a:effectLst/>
                <a:uFillTx/>
                <a:latin typeface="NotoSansJP"/>
                <a:ea typeface="NotoSansJP"/>
              </a:rPr>
              <a:t>複数の</a:t>
            </a:r>
            <a:endParaRPr b="0" lang="en-US" sz="1050" strike="noStrike" u="none">
              <a:solidFill>
                <a:srgbClr val="000000"/>
              </a:solidFill>
              <a:effectLst/>
              <a:uFillTx/>
              <a:latin typeface="Times New Roman"/>
            </a:endParaRPr>
          </a:p>
        </p:txBody>
      </p:sp>
      <p:pic>
        <p:nvPicPr>
          <p:cNvPr id="438" name="" descr=""/>
          <p:cNvPicPr/>
          <p:nvPr/>
        </p:nvPicPr>
        <p:blipFill>
          <a:blip r:embed="rId21"/>
          <a:stretch/>
        </p:blipFill>
        <p:spPr>
          <a:xfrm>
            <a:off x="6317640" y="2866320"/>
            <a:ext cx="116640" cy="150120"/>
          </a:xfrm>
          <a:prstGeom prst="rect">
            <a:avLst/>
          </a:prstGeom>
          <a:noFill/>
          <a:ln w="0">
            <a:noFill/>
          </a:ln>
        </p:spPr>
      </p:pic>
      <p:sp>
        <p:nvSpPr>
          <p:cNvPr id="439" name=""/>
          <p:cNvSpPr txBox="1"/>
          <p:nvPr/>
        </p:nvSpPr>
        <p:spPr>
          <a:xfrm>
            <a:off x="6551640" y="2491560"/>
            <a:ext cx="93960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ピーク点</a:t>
            </a:r>
            <a:r>
              <a:rPr b="0" lang="zh-CN" sz="1050" strike="noStrike" u="none">
                <a:solidFill>
                  <a:srgbClr val="000000"/>
                </a:solidFill>
                <a:effectLst/>
                <a:uFillTx/>
                <a:latin typeface="NotoSansJP"/>
                <a:ea typeface="NotoSansJP"/>
              </a:rPr>
              <a:t>が発生</a:t>
            </a:r>
            <a:endParaRPr b="0" lang="en-US" sz="1050" strike="noStrike" u="none">
              <a:solidFill>
                <a:srgbClr val="000000"/>
              </a:solidFill>
              <a:effectLst/>
              <a:uFillTx/>
              <a:latin typeface="Times New Roman"/>
            </a:endParaRPr>
          </a:p>
        </p:txBody>
      </p:sp>
      <p:pic>
        <p:nvPicPr>
          <p:cNvPr id="440" name="" descr=""/>
          <p:cNvPicPr/>
          <p:nvPr/>
        </p:nvPicPr>
        <p:blipFill>
          <a:blip r:embed="rId22"/>
          <a:stretch/>
        </p:blipFill>
        <p:spPr>
          <a:xfrm>
            <a:off x="6451200" y="3317760"/>
            <a:ext cx="150120" cy="133200"/>
          </a:xfrm>
          <a:prstGeom prst="rect">
            <a:avLst/>
          </a:prstGeom>
          <a:noFill/>
          <a:ln w="0">
            <a:noFill/>
          </a:ln>
        </p:spPr>
      </p:pic>
      <p:sp>
        <p:nvSpPr>
          <p:cNvPr id="441" name=""/>
          <p:cNvSpPr txBox="1"/>
          <p:nvPr/>
        </p:nvSpPr>
        <p:spPr>
          <a:xfrm>
            <a:off x="6501600" y="2853360"/>
            <a:ext cx="83880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重要な知見</a:t>
            </a:r>
            <a:endParaRPr b="0" lang="en-US" sz="1320" strike="noStrike" u="none">
              <a:solidFill>
                <a:srgbClr val="000000"/>
              </a:solidFill>
              <a:effectLst/>
              <a:uFillTx/>
              <a:latin typeface="Times New Roman"/>
            </a:endParaRPr>
          </a:p>
        </p:txBody>
      </p:sp>
      <p:sp>
        <p:nvSpPr>
          <p:cNvPr id="442" name=""/>
          <p:cNvSpPr txBox="1"/>
          <p:nvPr/>
        </p:nvSpPr>
        <p:spPr>
          <a:xfrm>
            <a:off x="6702120" y="3310560"/>
            <a:ext cx="29617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位相遅延を変更した場合（図</a:t>
            </a:r>
            <a:r>
              <a:rPr b="0" lang="en-US" sz="1050" strike="noStrike" u="none">
                <a:solidFill>
                  <a:srgbClr val="000000"/>
                </a:solidFill>
                <a:effectLst/>
                <a:uFillTx/>
                <a:latin typeface="NotoSansJP"/>
                <a:ea typeface="NotoSansJP"/>
              </a:rPr>
              <a:t>3-6</a:t>
            </a:r>
            <a:r>
              <a:rPr b="0" lang="zh-CN" sz="1050" strike="noStrike" u="none">
                <a:solidFill>
                  <a:srgbClr val="000000"/>
                </a:solidFill>
                <a:effectLst/>
                <a:uFillTx/>
                <a:latin typeface="NotoSansJP"/>
                <a:ea typeface="NotoSansJP"/>
              </a:rPr>
              <a:t>）に比べて</a:t>
            </a:r>
            <a:r>
              <a:rPr b="0" lang="en-US" sz="1050" strike="noStrike" u="none">
                <a:solidFill>
                  <a:srgbClr val="ff8c00"/>
                </a:solidFill>
                <a:effectLst/>
                <a:uFillTx/>
                <a:latin typeface="NotoSansJP"/>
                <a:ea typeface="NotoSansJP"/>
              </a:rPr>
              <a:t>tan</a:t>
            </a:r>
            <a:endParaRPr b="0" lang="en-US" sz="1050" strike="noStrike" u="none">
              <a:solidFill>
                <a:srgbClr val="000000"/>
              </a:solidFill>
              <a:effectLst/>
              <a:uFillTx/>
              <a:latin typeface="Times New Roman"/>
            </a:endParaRPr>
          </a:p>
        </p:txBody>
      </p:sp>
      <p:sp>
        <p:nvSpPr>
          <p:cNvPr id="443" name=""/>
          <p:cNvSpPr txBox="1"/>
          <p:nvPr/>
        </p:nvSpPr>
        <p:spPr>
          <a:xfrm>
            <a:off x="9509760" y="3313440"/>
            <a:ext cx="133200" cy="15120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Arial"/>
                <a:ea typeface="Arial"/>
              </a:rPr>
              <a:t>θ</a:t>
            </a:r>
            <a:endParaRPr b="0" lang="en-US" sz="1050" strike="noStrike" u="none">
              <a:solidFill>
                <a:srgbClr val="000000"/>
              </a:solidFill>
              <a:effectLst/>
              <a:uFillTx/>
              <a:latin typeface="Times New Roman"/>
            </a:endParaRPr>
          </a:p>
        </p:txBody>
      </p:sp>
      <p:sp>
        <p:nvSpPr>
          <p:cNvPr id="444" name=""/>
          <p:cNvSpPr txBox="1"/>
          <p:nvPr/>
        </p:nvSpPr>
        <p:spPr>
          <a:xfrm>
            <a:off x="9584280" y="3310560"/>
            <a:ext cx="53712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の変化量</a:t>
            </a:r>
            <a:endParaRPr b="0" lang="en-US" sz="1050" strike="noStrike" u="none">
              <a:solidFill>
                <a:srgbClr val="000000"/>
              </a:solidFill>
              <a:effectLst/>
              <a:uFillTx/>
              <a:latin typeface="Times New Roman"/>
            </a:endParaRPr>
          </a:p>
        </p:txBody>
      </p:sp>
      <p:sp>
        <p:nvSpPr>
          <p:cNvPr id="445" name=""/>
          <p:cNvSpPr txBox="1"/>
          <p:nvPr/>
        </p:nvSpPr>
        <p:spPr>
          <a:xfrm>
            <a:off x="6702120" y="3511080"/>
            <a:ext cx="53712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が少ない</a:t>
            </a:r>
            <a:endParaRPr b="0" lang="en-US" sz="1050" strike="noStrike" u="none">
              <a:solidFill>
                <a:srgbClr val="000000"/>
              </a:solidFill>
              <a:effectLst/>
              <a:uFillTx/>
              <a:latin typeface="Times New Roman"/>
            </a:endParaRPr>
          </a:p>
        </p:txBody>
      </p:sp>
      <p:sp>
        <p:nvSpPr>
          <p:cNvPr id="446" name=""/>
          <p:cNvSpPr txBox="1"/>
          <p:nvPr/>
        </p:nvSpPr>
        <p:spPr>
          <a:xfrm>
            <a:off x="6718680" y="3795120"/>
            <a:ext cx="351756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オーディオスポットの選択性は</a:t>
            </a:r>
            <a:r>
              <a:rPr b="0" lang="zh-CN" sz="1050" strike="noStrike" u="none">
                <a:solidFill>
                  <a:srgbClr val="ff8c00"/>
                </a:solidFill>
                <a:effectLst/>
                <a:uFillTx/>
                <a:latin typeface="NotoSansJP"/>
                <a:ea typeface="NotoSansJP"/>
              </a:rPr>
              <a:t>位相遅延の操作を行うほ</a:t>
            </a:r>
            <a:endParaRPr b="0" lang="en-US" sz="1050" strike="noStrike" u="none">
              <a:solidFill>
                <a:srgbClr val="000000"/>
              </a:solidFill>
              <a:effectLst/>
              <a:uFillTx/>
              <a:latin typeface="Times New Roman"/>
            </a:endParaRPr>
          </a:p>
        </p:txBody>
      </p:sp>
      <p:sp>
        <p:nvSpPr>
          <p:cNvPr id="447" name=""/>
          <p:cNvSpPr txBox="1"/>
          <p:nvPr/>
        </p:nvSpPr>
        <p:spPr>
          <a:xfrm>
            <a:off x="6718680" y="3995640"/>
            <a:ext cx="53712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うが有利</a:t>
            </a:r>
            <a:endParaRPr b="0" lang="en-US" sz="1050" strike="noStrike" u="none">
              <a:solidFill>
                <a:srgbClr val="000000"/>
              </a:solidFill>
              <a:effectLst/>
              <a:uFillTx/>
              <a:latin typeface="Times New Roman"/>
            </a:endParaRPr>
          </a:p>
        </p:txBody>
      </p:sp>
      <p:sp>
        <p:nvSpPr>
          <p:cNvPr id="448" name=""/>
          <p:cNvSpPr txBox="1"/>
          <p:nvPr/>
        </p:nvSpPr>
        <p:spPr>
          <a:xfrm>
            <a:off x="6551640" y="4564080"/>
            <a:ext cx="36219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音源配置の間隔が変わると、</a:t>
            </a:r>
            <a:r>
              <a:rPr b="0" lang="zh-CN" sz="1050" strike="noStrike" u="none">
                <a:solidFill>
                  <a:srgbClr val="ff8c00"/>
                </a:solidFill>
                <a:effectLst/>
                <a:uFillTx/>
                <a:latin typeface="NotoSansJP"/>
                <a:ea typeface="NotoSansJP"/>
              </a:rPr>
              <a:t>指向性</a:t>
            </a:r>
            <a:r>
              <a:rPr b="0" lang="zh-CN" sz="1050" strike="noStrike" u="none">
                <a:solidFill>
                  <a:srgbClr val="000000"/>
                </a:solidFill>
                <a:effectLst/>
                <a:uFillTx/>
                <a:latin typeface="NotoSansJP"/>
                <a:ea typeface="NotoSansJP"/>
              </a:rPr>
              <a:t>（形成されるオーディオ</a:t>
            </a:r>
            <a:endParaRPr b="0" lang="en-US" sz="1050" strike="noStrike" u="none">
              <a:solidFill>
                <a:srgbClr val="000000"/>
              </a:solidFill>
              <a:effectLst/>
              <a:uFillTx/>
              <a:latin typeface="Times New Roman"/>
            </a:endParaRPr>
          </a:p>
        </p:txBody>
      </p:sp>
      <p:sp>
        <p:nvSpPr>
          <p:cNvPr id="449" name=""/>
          <p:cNvSpPr txBox="1"/>
          <p:nvPr/>
        </p:nvSpPr>
        <p:spPr>
          <a:xfrm>
            <a:off x="6551640" y="4764600"/>
            <a:ext cx="14760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スポットの狭さ）が変化</a:t>
            </a:r>
            <a:endParaRPr b="0" lang="en-US" sz="1050" strike="noStrike" u="none">
              <a:solidFill>
                <a:srgbClr val="000000"/>
              </a:solidFill>
              <a:effectLst/>
              <a:uFillTx/>
              <a:latin typeface="Times New Roman"/>
            </a:endParaRPr>
          </a:p>
        </p:txBody>
      </p:sp>
      <p:sp>
        <p:nvSpPr>
          <p:cNvPr id="450" name=""/>
          <p:cNvSpPr txBox="1"/>
          <p:nvPr/>
        </p:nvSpPr>
        <p:spPr>
          <a:xfrm>
            <a:off x="6718680" y="5048640"/>
            <a:ext cx="351756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 目的に応じて</a:t>
            </a:r>
            <a:r>
              <a:rPr b="0" lang="zh-CN" sz="1050" strike="noStrike" u="none">
                <a:solidFill>
                  <a:srgbClr val="ff8c00"/>
                </a:solidFill>
                <a:effectLst/>
                <a:uFillTx/>
                <a:latin typeface="NotoSansJP"/>
                <a:ea typeface="NotoSansJP"/>
              </a:rPr>
              <a:t>適切な配置間隔を選択</a:t>
            </a:r>
            <a:r>
              <a:rPr b="0" lang="zh-CN" sz="1050" strike="noStrike" u="none">
                <a:solidFill>
                  <a:srgbClr val="000000"/>
                </a:solidFill>
                <a:effectLst/>
                <a:uFillTx/>
                <a:latin typeface="NotoSansJP"/>
                <a:ea typeface="NotoSansJP"/>
              </a:rPr>
              <a:t>することで、異なる</a:t>
            </a:r>
            <a:endParaRPr b="0" lang="en-US" sz="1050" strike="noStrike" u="none">
              <a:solidFill>
                <a:srgbClr val="000000"/>
              </a:solidFill>
              <a:effectLst/>
              <a:uFillTx/>
              <a:latin typeface="Times New Roman"/>
            </a:endParaRPr>
          </a:p>
        </p:txBody>
      </p:sp>
      <p:sp>
        <p:nvSpPr>
          <p:cNvPr id="451" name=""/>
          <p:cNvSpPr txBox="1"/>
          <p:nvPr/>
        </p:nvSpPr>
        <p:spPr>
          <a:xfrm>
            <a:off x="6718680" y="5249160"/>
            <a:ext cx="6714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表現が可能</a:t>
            </a:r>
            <a:endParaRPr b="0" lang="en-US" sz="10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
          <p:cNvSpPr/>
          <p:nvPr/>
        </p:nvSpPr>
        <p:spPr>
          <a:xfrm>
            <a:off x="0" y="0"/>
            <a:ext cx="10696680" cy="6794280"/>
          </a:xfrm>
          <a:custGeom>
            <a:avLst/>
            <a:gdLst/>
            <a:ahLst/>
            <a:rect l="0" t="0" r="r" b="b"/>
            <a:pathLst>
              <a:path w="29713" h="18873">
                <a:moveTo>
                  <a:pt x="0" y="0"/>
                </a:moveTo>
                <a:lnTo>
                  <a:pt x="29713" y="0"/>
                </a:lnTo>
                <a:lnTo>
                  <a:pt x="29713" y="18873"/>
                </a:lnTo>
                <a:lnTo>
                  <a:pt x="0" y="18873"/>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53" name="" descr=""/>
          <p:cNvPicPr/>
          <p:nvPr/>
        </p:nvPicPr>
        <p:blipFill>
          <a:blip r:embed="rId1"/>
          <a:stretch/>
        </p:blipFill>
        <p:spPr>
          <a:xfrm>
            <a:off x="0" y="0"/>
            <a:ext cx="10696320" cy="668160"/>
          </a:xfrm>
          <a:prstGeom prst="rect">
            <a:avLst/>
          </a:prstGeom>
          <a:noFill/>
          <a:ln w="0">
            <a:noFill/>
          </a:ln>
        </p:spPr>
      </p:pic>
      <p:sp>
        <p:nvSpPr>
          <p:cNvPr id="454" name=""/>
          <p:cNvSpPr/>
          <p:nvPr/>
        </p:nvSpPr>
        <p:spPr>
          <a:xfrm>
            <a:off x="434520" y="4587480"/>
            <a:ext cx="4813560" cy="986760"/>
          </a:xfrm>
          <a:custGeom>
            <a:avLst/>
            <a:gdLst/>
            <a:ahLst/>
            <a:rect l="0" t="0" r="r" b="b"/>
            <a:pathLst>
              <a:path w="13371" h="2741">
                <a:moveTo>
                  <a:pt x="0" y="2741"/>
                </a:moveTo>
                <a:lnTo>
                  <a:pt x="0" y="0"/>
                </a:lnTo>
                <a:lnTo>
                  <a:pt x="13255" y="0"/>
                </a:lnTo>
                <a:cubicBezTo>
                  <a:pt x="13271" y="0"/>
                  <a:pt x="13285" y="3"/>
                  <a:pt x="13300" y="9"/>
                </a:cubicBezTo>
                <a:cubicBezTo>
                  <a:pt x="13314" y="15"/>
                  <a:pt x="13326" y="24"/>
                  <a:pt x="13337" y="34"/>
                </a:cubicBezTo>
                <a:cubicBezTo>
                  <a:pt x="13348" y="45"/>
                  <a:pt x="13357" y="58"/>
                  <a:pt x="13362" y="72"/>
                </a:cubicBezTo>
                <a:cubicBezTo>
                  <a:pt x="13368" y="86"/>
                  <a:pt x="13371" y="101"/>
                  <a:pt x="13371" y="117"/>
                </a:cubicBezTo>
                <a:lnTo>
                  <a:pt x="13371" y="2625"/>
                </a:lnTo>
                <a:cubicBezTo>
                  <a:pt x="13371" y="2640"/>
                  <a:pt x="13368" y="2655"/>
                  <a:pt x="13362" y="2669"/>
                </a:cubicBezTo>
                <a:cubicBezTo>
                  <a:pt x="13357" y="2683"/>
                  <a:pt x="13348" y="2696"/>
                  <a:pt x="13337" y="2707"/>
                </a:cubicBezTo>
                <a:cubicBezTo>
                  <a:pt x="13326" y="2717"/>
                  <a:pt x="13314" y="2726"/>
                  <a:pt x="13300" y="2732"/>
                </a:cubicBezTo>
                <a:cubicBezTo>
                  <a:pt x="13285" y="2738"/>
                  <a:pt x="13271" y="2741"/>
                  <a:pt x="13255" y="2741"/>
                </a:cubicBezTo>
                <a:lnTo>
                  <a:pt x="0" y="2741"/>
                </a:lnTo>
                <a:close/>
              </a:path>
            </a:pathLst>
          </a:custGeom>
          <a:solidFill>
            <a:srgbClr val="f0f7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55" name=""/>
          <p:cNvSpPr/>
          <p:nvPr/>
        </p:nvSpPr>
        <p:spPr>
          <a:xfrm>
            <a:off x="417600" y="4587480"/>
            <a:ext cx="33840" cy="986760"/>
          </a:xfrm>
          <a:custGeom>
            <a:avLst/>
            <a:gdLst/>
            <a:ahLst/>
            <a:rect l="0" t="0" r="r" b="b"/>
            <a:pathLst>
              <a:path w="94" h="2741">
                <a:moveTo>
                  <a:pt x="0" y="0"/>
                </a:moveTo>
                <a:lnTo>
                  <a:pt x="94" y="0"/>
                </a:lnTo>
                <a:lnTo>
                  <a:pt x="94" y="2741"/>
                </a:lnTo>
                <a:lnTo>
                  <a:pt x="0" y="2741"/>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456" name="" descr=""/>
          <p:cNvPicPr/>
          <p:nvPr/>
        </p:nvPicPr>
        <p:blipFill>
          <a:blip r:embed="rId2"/>
          <a:stretch/>
        </p:blipFill>
        <p:spPr>
          <a:xfrm>
            <a:off x="417960" y="2824560"/>
            <a:ext cx="166680" cy="166680"/>
          </a:xfrm>
          <a:prstGeom prst="rect">
            <a:avLst/>
          </a:prstGeom>
          <a:noFill/>
          <a:ln w="0">
            <a:noFill/>
          </a:ln>
        </p:spPr>
      </p:pic>
      <p:sp>
        <p:nvSpPr>
          <p:cNvPr id="457" name=""/>
          <p:cNvSpPr txBox="1"/>
          <p:nvPr/>
        </p:nvSpPr>
        <p:spPr>
          <a:xfrm>
            <a:off x="334440" y="210240"/>
            <a:ext cx="352116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可聴領域における指向性の考察</a:t>
            </a:r>
            <a:endParaRPr b="0" lang="en-US" sz="1979" strike="noStrike" u="none">
              <a:solidFill>
                <a:srgbClr val="000000"/>
              </a:solidFill>
              <a:effectLst/>
              <a:uFillTx/>
              <a:latin typeface="Times New Roman"/>
            </a:endParaRPr>
          </a:p>
        </p:txBody>
      </p:sp>
      <p:pic>
        <p:nvPicPr>
          <p:cNvPr id="458" name="" descr=""/>
          <p:cNvPicPr/>
          <p:nvPr/>
        </p:nvPicPr>
        <p:blipFill>
          <a:blip r:embed="rId3"/>
          <a:stretch/>
        </p:blipFill>
        <p:spPr>
          <a:xfrm>
            <a:off x="685080" y="3192120"/>
            <a:ext cx="133200" cy="133200"/>
          </a:xfrm>
          <a:prstGeom prst="rect">
            <a:avLst/>
          </a:prstGeom>
          <a:noFill/>
          <a:ln w="0">
            <a:noFill/>
          </a:ln>
        </p:spPr>
      </p:pic>
      <p:sp>
        <p:nvSpPr>
          <p:cNvPr id="459" name=""/>
          <p:cNvSpPr txBox="1"/>
          <p:nvPr/>
        </p:nvSpPr>
        <p:spPr>
          <a:xfrm>
            <a:off x="685080" y="2819880"/>
            <a:ext cx="251532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シミュレーションによる確認事項</a:t>
            </a:r>
            <a:endParaRPr b="0" lang="en-US" sz="1320" strike="noStrike" u="none">
              <a:solidFill>
                <a:srgbClr val="000000"/>
              </a:solidFill>
              <a:effectLst/>
              <a:uFillTx/>
              <a:latin typeface="Times New Roman"/>
            </a:endParaRPr>
          </a:p>
        </p:txBody>
      </p:sp>
      <p:sp>
        <p:nvSpPr>
          <p:cNvPr id="460" name=""/>
          <p:cNvSpPr txBox="1"/>
          <p:nvPr/>
        </p:nvSpPr>
        <p:spPr>
          <a:xfrm>
            <a:off x="944280" y="3185280"/>
            <a:ext cx="42922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スピーカから</a:t>
            </a:r>
            <a:r>
              <a:rPr b="0" lang="zh-CN" sz="1050" strike="noStrike" u="none">
                <a:solidFill>
                  <a:srgbClr val="ff8c00"/>
                </a:solidFill>
                <a:effectLst/>
                <a:uFillTx/>
                <a:latin typeface="NotoSansJP"/>
                <a:ea typeface="NotoSansJP"/>
              </a:rPr>
              <a:t>十分に離れた空間</a:t>
            </a:r>
            <a:r>
              <a:rPr b="0" lang="zh-CN" sz="1050" strike="noStrike" u="none">
                <a:solidFill>
                  <a:srgbClr val="000000"/>
                </a:solidFill>
                <a:effectLst/>
                <a:uFillTx/>
                <a:latin typeface="NotoSansJP"/>
                <a:ea typeface="NotoSansJP"/>
              </a:rPr>
              <a:t>ではオーディオスポットの形成が確認で</a:t>
            </a:r>
            <a:endParaRPr b="0" lang="en-US" sz="1050" strike="noStrike" u="none">
              <a:solidFill>
                <a:srgbClr val="000000"/>
              </a:solidFill>
              <a:effectLst/>
              <a:uFillTx/>
              <a:latin typeface="Times New Roman"/>
            </a:endParaRPr>
          </a:p>
        </p:txBody>
      </p:sp>
      <p:pic>
        <p:nvPicPr>
          <p:cNvPr id="461" name="" descr=""/>
          <p:cNvPicPr/>
          <p:nvPr/>
        </p:nvPicPr>
        <p:blipFill>
          <a:blip r:embed="rId4"/>
          <a:stretch/>
        </p:blipFill>
        <p:spPr>
          <a:xfrm>
            <a:off x="685080" y="3693600"/>
            <a:ext cx="133200" cy="133200"/>
          </a:xfrm>
          <a:prstGeom prst="rect">
            <a:avLst/>
          </a:prstGeom>
          <a:noFill/>
          <a:ln w="0">
            <a:noFill/>
          </a:ln>
        </p:spPr>
      </p:pic>
      <p:sp>
        <p:nvSpPr>
          <p:cNvPr id="462" name=""/>
          <p:cNvSpPr txBox="1"/>
          <p:nvPr/>
        </p:nvSpPr>
        <p:spPr>
          <a:xfrm>
            <a:off x="944280" y="3385800"/>
            <a:ext cx="2689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きた</a:t>
            </a:r>
            <a:endParaRPr b="0" lang="en-US" sz="1050" strike="noStrike" u="none">
              <a:solidFill>
                <a:srgbClr val="000000"/>
              </a:solidFill>
              <a:effectLst/>
              <a:uFillTx/>
              <a:latin typeface="Times New Roman"/>
            </a:endParaRPr>
          </a:p>
        </p:txBody>
      </p:sp>
      <p:pic>
        <p:nvPicPr>
          <p:cNvPr id="463" name="" descr=""/>
          <p:cNvPicPr/>
          <p:nvPr/>
        </p:nvPicPr>
        <p:blipFill>
          <a:blip r:embed="rId5"/>
          <a:stretch/>
        </p:blipFill>
        <p:spPr>
          <a:xfrm>
            <a:off x="685080" y="3994560"/>
            <a:ext cx="133200" cy="133200"/>
          </a:xfrm>
          <a:prstGeom prst="rect">
            <a:avLst/>
          </a:prstGeom>
          <a:noFill/>
          <a:ln w="0">
            <a:noFill/>
          </a:ln>
        </p:spPr>
      </p:pic>
      <p:sp>
        <p:nvSpPr>
          <p:cNvPr id="464" name=""/>
          <p:cNvSpPr txBox="1"/>
          <p:nvPr/>
        </p:nvSpPr>
        <p:spPr>
          <a:xfrm>
            <a:off x="944280" y="3686400"/>
            <a:ext cx="36219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位相遅延が大きい状態を除いて、</a:t>
            </a:r>
            <a:r>
              <a:rPr b="0" lang="zh-CN" sz="1050" strike="noStrike" u="none">
                <a:solidFill>
                  <a:srgbClr val="ff8c00"/>
                </a:solidFill>
                <a:effectLst/>
                <a:uFillTx/>
                <a:latin typeface="NotoSansJP"/>
                <a:ea typeface="NotoSansJP"/>
              </a:rPr>
              <a:t>理論式と近い実測値</a:t>
            </a:r>
            <a:r>
              <a:rPr b="0" lang="zh-CN" sz="1050" strike="noStrike" u="none">
                <a:solidFill>
                  <a:srgbClr val="000000"/>
                </a:solidFill>
                <a:effectLst/>
                <a:uFillTx/>
                <a:latin typeface="NotoSansJP"/>
                <a:ea typeface="NotoSansJP"/>
              </a:rPr>
              <a:t>を観測</a:t>
            </a:r>
            <a:endParaRPr b="0" lang="en-US" sz="1050" strike="noStrike" u="none">
              <a:solidFill>
                <a:srgbClr val="000000"/>
              </a:solidFill>
              <a:effectLst/>
              <a:uFillTx/>
              <a:latin typeface="Times New Roman"/>
            </a:endParaRPr>
          </a:p>
        </p:txBody>
      </p:sp>
      <p:pic>
        <p:nvPicPr>
          <p:cNvPr id="465" name="" descr=""/>
          <p:cNvPicPr/>
          <p:nvPr/>
        </p:nvPicPr>
        <p:blipFill>
          <a:blip r:embed="rId6"/>
          <a:stretch/>
        </p:blipFill>
        <p:spPr>
          <a:xfrm>
            <a:off x="685080" y="4295520"/>
            <a:ext cx="133200" cy="133200"/>
          </a:xfrm>
          <a:prstGeom prst="rect">
            <a:avLst/>
          </a:prstGeom>
          <a:noFill/>
          <a:ln w="0">
            <a:noFill/>
          </a:ln>
        </p:spPr>
      </p:pic>
      <p:sp>
        <p:nvSpPr>
          <p:cNvPr id="466" name=""/>
          <p:cNvSpPr txBox="1"/>
          <p:nvPr/>
        </p:nvSpPr>
        <p:spPr>
          <a:xfrm>
            <a:off x="944280" y="3987360"/>
            <a:ext cx="34113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位相遅延の操作により、</a:t>
            </a:r>
            <a:r>
              <a:rPr b="0" lang="en-US" sz="1050" strike="noStrike" u="none">
                <a:solidFill>
                  <a:srgbClr val="ff8c00"/>
                </a:solidFill>
                <a:effectLst/>
                <a:uFillTx/>
                <a:latin typeface="NotoSansJP"/>
                <a:ea typeface="NotoSansJP"/>
              </a:rPr>
              <a:t>100</a:t>
            </a:r>
            <a:r>
              <a:rPr b="0" lang="zh-CN" sz="1050" strike="noStrike" u="none">
                <a:solidFill>
                  <a:srgbClr val="ff8c00"/>
                </a:solidFill>
                <a:effectLst/>
                <a:uFillTx/>
                <a:latin typeface="NotoSansJP"/>
                <a:ea typeface="NotoSansJP"/>
              </a:rPr>
              <a:t>度以上</a:t>
            </a:r>
            <a:r>
              <a:rPr b="0" lang="zh-CN" sz="1050" strike="noStrike" u="none">
                <a:solidFill>
                  <a:srgbClr val="000000"/>
                </a:solidFill>
                <a:effectLst/>
                <a:uFillTx/>
                <a:latin typeface="NotoSansJP"/>
                <a:ea typeface="NotoSansJP"/>
              </a:rPr>
              <a:t>の指向先変化が可能</a:t>
            </a:r>
            <a:endParaRPr b="0" lang="en-US" sz="1050" strike="noStrike" u="none">
              <a:solidFill>
                <a:srgbClr val="000000"/>
              </a:solidFill>
              <a:effectLst/>
              <a:uFillTx/>
              <a:latin typeface="Times New Roman"/>
            </a:endParaRPr>
          </a:p>
        </p:txBody>
      </p:sp>
      <p:sp>
        <p:nvSpPr>
          <p:cNvPr id="467" name=""/>
          <p:cNvSpPr txBox="1"/>
          <p:nvPr/>
        </p:nvSpPr>
        <p:spPr>
          <a:xfrm>
            <a:off x="944280" y="4288320"/>
            <a:ext cx="4024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周波数が変わっても</a:t>
            </a:r>
            <a:r>
              <a:rPr b="0" lang="zh-CN" sz="1050" strike="noStrike" u="none">
                <a:solidFill>
                  <a:srgbClr val="ff8c00"/>
                </a:solidFill>
                <a:effectLst/>
                <a:uFillTx/>
                <a:latin typeface="NotoSansJP"/>
                <a:ea typeface="NotoSansJP"/>
              </a:rPr>
              <a:t>指向先が変化しない</a:t>
            </a:r>
            <a:r>
              <a:rPr b="0" lang="zh-CN" sz="1050" strike="noStrike" u="none">
                <a:solidFill>
                  <a:srgbClr val="000000"/>
                </a:solidFill>
                <a:effectLst/>
                <a:uFillTx/>
                <a:latin typeface="NotoSansJP"/>
                <a:ea typeface="NotoSansJP"/>
              </a:rPr>
              <a:t>ため、複合音の処理が容易</a:t>
            </a:r>
            <a:endParaRPr b="0" lang="en-US" sz="1050" strike="noStrike" u="none">
              <a:solidFill>
                <a:srgbClr val="000000"/>
              </a:solidFill>
              <a:effectLst/>
              <a:uFillTx/>
              <a:latin typeface="Times New Roman"/>
            </a:endParaRPr>
          </a:p>
        </p:txBody>
      </p:sp>
      <p:pic>
        <p:nvPicPr>
          <p:cNvPr id="468" name="" descr=""/>
          <p:cNvPicPr/>
          <p:nvPr/>
        </p:nvPicPr>
        <p:blipFill>
          <a:blip r:embed="rId7"/>
          <a:stretch/>
        </p:blipFill>
        <p:spPr>
          <a:xfrm>
            <a:off x="576720" y="5014080"/>
            <a:ext cx="116640" cy="133200"/>
          </a:xfrm>
          <a:prstGeom prst="rect">
            <a:avLst/>
          </a:prstGeom>
          <a:noFill/>
          <a:ln w="0">
            <a:noFill/>
          </a:ln>
        </p:spPr>
      </p:pic>
      <p:sp>
        <p:nvSpPr>
          <p:cNvPr id="469" name=""/>
          <p:cNvSpPr txBox="1"/>
          <p:nvPr/>
        </p:nvSpPr>
        <p:spPr>
          <a:xfrm>
            <a:off x="576720" y="4748040"/>
            <a:ext cx="6714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有効条件：</a:t>
            </a:r>
            <a:endParaRPr b="0" lang="en-US" sz="1050" strike="noStrike" u="none">
              <a:solidFill>
                <a:srgbClr val="000000"/>
              </a:solidFill>
              <a:effectLst/>
              <a:uFillTx/>
              <a:latin typeface="Times New Roman"/>
            </a:endParaRPr>
          </a:p>
        </p:txBody>
      </p:sp>
      <p:pic>
        <p:nvPicPr>
          <p:cNvPr id="470" name="" descr=""/>
          <p:cNvPicPr/>
          <p:nvPr/>
        </p:nvPicPr>
        <p:blipFill>
          <a:blip r:embed="rId8"/>
          <a:stretch/>
        </p:blipFill>
        <p:spPr>
          <a:xfrm>
            <a:off x="576720" y="5281560"/>
            <a:ext cx="116640" cy="133200"/>
          </a:xfrm>
          <a:prstGeom prst="rect">
            <a:avLst/>
          </a:prstGeom>
          <a:noFill/>
          <a:ln w="0">
            <a:noFill/>
          </a:ln>
        </p:spPr>
      </p:pic>
      <p:sp>
        <p:nvSpPr>
          <p:cNvPr id="471" name=""/>
          <p:cNvSpPr txBox="1"/>
          <p:nvPr/>
        </p:nvSpPr>
        <p:spPr>
          <a:xfrm>
            <a:off x="793800" y="5015160"/>
            <a:ext cx="30855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a:t>
            </a:r>
            <a:r>
              <a:rPr b="0" lang="zh-CN" sz="1050" strike="noStrike" u="none">
                <a:solidFill>
                  <a:srgbClr val="ff8c00"/>
                </a:solidFill>
                <a:effectLst/>
                <a:uFillTx/>
                <a:latin typeface="NotoSansJP"/>
                <a:ea typeface="NotoSansJP"/>
              </a:rPr>
              <a:t>スピーカユニットから距離が適当に離れている</a:t>
            </a:r>
            <a:r>
              <a:rPr b="0" lang="zh-CN" sz="1050" strike="noStrike" u="none">
                <a:solidFill>
                  <a:srgbClr val="000000"/>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472" name=""/>
          <p:cNvSpPr/>
          <p:nvPr/>
        </p:nvSpPr>
        <p:spPr>
          <a:xfrm>
            <a:off x="5452560" y="5427360"/>
            <a:ext cx="4822200" cy="1112040"/>
          </a:xfrm>
          <a:custGeom>
            <a:avLst/>
            <a:gdLst/>
            <a:ahLst/>
            <a:rect l="0" t="0" r="r" b="b"/>
            <a:pathLst>
              <a:path w="13395" h="3089">
                <a:moveTo>
                  <a:pt x="0" y="2915"/>
                </a:moveTo>
                <a:lnTo>
                  <a:pt x="0" y="174"/>
                </a:lnTo>
                <a:cubicBezTo>
                  <a:pt x="0" y="163"/>
                  <a:pt x="1" y="152"/>
                  <a:pt x="3" y="141"/>
                </a:cubicBezTo>
                <a:cubicBezTo>
                  <a:pt x="6" y="129"/>
                  <a:pt x="9" y="118"/>
                  <a:pt x="13" y="108"/>
                </a:cubicBezTo>
                <a:cubicBezTo>
                  <a:pt x="18" y="97"/>
                  <a:pt x="23" y="87"/>
                  <a:pt x="29" y="78"/>
                </a:cubicBezTo>
                <a:cubicBezTo>
                  <a:pt x="36" y="68"/>
                  <a:pt x="43" y="59"/>
                  <a:pt x="51" y="51"/>
                </a:cubicBezTo>
                <a:cubicBezTo>
                  <a:pt x="59" y="43"/>
                  <a:pt x="68" y="36"/>
                  <a:pt x="77" y="30"/>
                </a:cubicBezTo>
                <a:cubicBezTo>
                  <a:pt x="87" y="23"/>
                  <a:pt x="97" y="18"/>
                  <a:pt x="107" y="14"/>
                </a:cubicBezTo>
                <a:cubicBezTo>
                  <a:pt x="118" y="9"/>
                  <a:pt x="129" y="6"/>
                  <a:pt x="140" y="4"/>
                </a:cubicBezTo>
                <a:cubicBezTo>
                  <a:pt x="151" y="1"/>
                  <a:pt x="163" y="0"/>
                  <a:pt x="174" y="0"/>
                </a:cubicBezTo>
                <a:lnTo>
                  <a:pt x="13221" y="0"/>
                </a:lnTo>
                <a:cubicBezTo>
                  <a:pt x="13232" y="0"/>
                  <a:pt x="13244" y="1"/>
                  <a:pt x="13255" y="4"/>
                </a:cubicBezTo>
                <a:cubicBezTo>
                  <a:pt x="13266" y="6"/>
                  <a:pt x="13277" y="9"/>
                  <a:pt x="13287" y="14"/>
                </a:cubicBezTo>
                <a:cubicBezTo>
                  <a:pt x="13298" y="18"/>
                  <a:pt x="13308" y="23"/>
                  <a:pt x="13318" y="30"/>
                </a:cubicBezTo>
                <a:cubicBezTo>
                  <a:pt x="13327" y="36"/>
                  <a:pt x="13336" y="43"/>
                  <a:pt x="13344" y="51"/>
                </a:cubicBezTo>
                <a:cubicBezTo>
                  <a:pt x="13352" y="59"/>
                  <a:pt x="13359" y="68"/>
                  <a:pt x="13366" y="78"/>
                </a:cubicBezTo>
                <a:cubicBezTo>
                  <a:pt x="13372" y="87"/>
                  <a:pt x="13377" y="97"/>
                  <a:pt x="13382" y="108"/>
                </a:cubicBezTo>
                <a:cubicBezTo>
                  <a:pt x="13386" y="118"/>
                  <a:pt x="13389" y="129"/>
                  <a:pt x="13392" y="141"/>
                </a:cubicBezTo>
                <a:cubicBezTo>
                  <a:pt x="13394" y="152"/>
                  <a:pt x="13395" y="163"/>
                  <a:pt x="13395" y="174"/>
                </a:cubicBezTo>
                <a:lnTo>
                  <a:pt x="13395" y="2915"/>
                </a:lnTo>
                <a:cubicBezTo>
                  <a:pt x="13395" y="2926"/>
                  <a:pt x="13394" y="2937"/>
                  <a:pt x="13392" y="2949"/>
                </a:cubicBezTo>
                <a:cubicBezTo>
                  <a:pt x="13389" y="2960"/>
                  <a:pt x="13386" y="2971"/>
                  <a:pt x="13382" y="2981"/>
                </a:cubicBezTo>
                <a:cubicBezTo>
                  <a:pt x="13377" y="2992"/>
                  <a:pt x="13372" y="3002"/>
                  <a:pt x="13366" y="3011"/>
                </a:cubicBezTo>
                <a:cubicBezTo>
                  <a:pt x="13359" y="3021"/>
                  <a:pt x="13352" y="3030"/>
                  <a:pt x="13344" y="3038"/>
                </a:cubicBezTo>
                <a:cubicBezTo>
                  <a:pt x="13336" y="3046"/>
                  <a:pt x="13327" y="3053"/>
                  <a:pt x="13318" y="3059"/>
                </a:cubicBezTo>
                <a:cubicBezTo>
                  <a:pt x="13308" y="3066"/>
                  <a:pt x="13298" y="3071"/>
                  <a:pt x="13287" y="3075"/>
                </a:cubicBezTo>
                <a:cubicBezTo>
                  <a:pt x="13277" y="3080"/>
                  <a:pt x="13266" y="3083"/>
                  <a:pt x="13255" y="3085"/>
                </a:cubicBezTo>
                <a:cubicBezTo>
                  <a:pt x="13244" y="3088"/>
                  <a:pt x="13232" y="3089"/>
                  <a:pt x="13221" y="3089"/>
                </a:cubicBezTo>
                <a:lnTo>
                  <a:pt x="174" y="3089"/>
                </a:lnTo>
                <a:cubicBezTo>
                  <a:pt x="163" y="3089"/>
                  <a:pt x="151" y="3088"/>
                  <a:pt x="140" y="3085"/>
                </a:cubicBezTo>
                <a:cubicBezTo>
                  <a:pt x="129" y="3083"/>
                  <a:pt x="118" y="3080"/>
                  <a:pt x="107" y="3075"/>
                </a:cubicBezTo>
                <a:cubicBezTo>
                  <a:pt x="97" y="3071"/>
                  <a:pt x="87" y="3066"/>
                  <a:pt x="77" y="3059"/>
                </a:cubicBezTo>
                <a:cubicBezTo>
                  <a:pt x="68" y="3053"/>
                  <a:pt x="59" y="3046"/>
                  <a:pt x="51" y="3038"/>
                </a:cubicBezTo>
                <a:cubicBezTo>
                  <a:pt x="43" y="3030"/>
                  <a:pt x="36" y="3021"/>
                  <a:pt x="29" y="3011"/>
                </a:cubicBezTo>
                <a:cubicBezTo>
                  <a:pt x="23" y="3002"/>
                  <a:pt x="18" y="2992"/>
                  <a:pt x="13" y="2981"/>
                </a:cubicBezTo>
                <a:cubicBezTo>
                  <a:pt x="9" y="2971"/>
                  <a:pt x="6" y="2960"/>
                  <a:pt x="3" y="2949"/>
                </a:cubicBezTo>
                <a:cubicBezTo>
                  <a:pt x="1" y="2937"/>
                  <a:pt x="0" y="2926"/>
                  <a:pt x="0" y="2915"/>
                </a:cubicBezTo>
                <a:close/>
              </a:path>
            </a:pathLst>
          </a:custGeom>
          <a:solidFill>
            <a:srgbClr val="f3f4f6"/>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73" name=""/>
          <p:cNvSpPr/>
          <p:nvPr/>
        </p:nvSpPr>
        <p:spPr>
          <a:xfrm>
            <a:off x="5452560" y="5427360"/>
            <a:ext cx="4822200" cy="1112040"/>
          </a:xfrm>
          <a:custGeom>
            <a:avLst/>
            <a:gdLst/>
            <a:ahLst/>
            <a:rect l="0" t="0" r="r" b="b"/>
            <a:pathLst>
              <a:path fill="none" w="13395" h="3089">
                <a:moveTo>
                  <a:pt x="0" y="2915"/>
                </a:moveTo>
                <a:lnTo>
                  <a:pt x="0" y="174"/>
                </a:lnTo>
                <a:cubicBezTo>
                  <a:pt x="0" y="163"/>
                  <a:pt x="1" y="152"/>
                  <a:pt x="3" y="141"/>
                </a:cubicBezTo>
                <a:cubicBezTo>
                  <a:pt x="6" y="129"/>
                  <a:pt x="9" y="118"/>
                  <a:pt x="13" y="108"/>
                </a:cubicBezTo>
                <a:cubicBezTo>
                  <a:pt x="18" y="97"/>
                  <a:pt x="23" y="87"/>
                  <a:pt x="29" y="78"/>
                </a:cubicBezTo>
                <a:cubicBezTo>
                  <a:pt x="36" y="68"/>
                  <a:pt x="43" y="59"/>
                  <a:pt x="51" y="51"/>
                </a:cubicBezTo>
                <a:cubicBezTo>
                  <a:pt x="59" y="43"/>
                  <a:pt x="68" y="36"/>
                  <a:pt x="77" y="30"/>
                </a:cubicBezTo>
                <a:cubicBezTo>
                  <a:pt x="87" y="23"/>
                  <a:pt x="97" y="18"/>
                  <a:pt x="107" y="14"/>
                </a:cubicBezTo>
                <a:cubicBezTo>
                  <a:pt x="118" y="9"/>
                  <a:pt x="129" y="6"/>
                  <a:pt x="140" y="4"/>
                </a:cubicBezTo>
                <a:cubicBezTo>
                  <a:pt x="151" y="1"/>
                  <a:pt x="163" y="0"/>
                  <a:pt x="174" y="0"/>
                </a:cubicBezTo>
                <a:lnTo>
                  <a:pt x="13221" y="0"/>
                </a:lnTo>
                <a:cubicBezTo>
                  <a:pt x="13232" y="0"/>
                  <a:pt x="13244" y="1"/>
                  <a:pt x="13255" y="4"/>
                </a:cubicBezTo>
                <a:cubicBezTo>
                  <a:pt x="13266" y="6"/>
                  <a:pt x="13277" y="9"/>
                  <a:pt x="13287" y="14"/>
                </a:cubicBezTo>
                <a:cubicBezTo>
                  <a:pt x="13298" y="18"/>
                  <a:pt x="13308" y="23"/>
                  <a:pt x="13318" y="30"/>
                </a:cubicBezTo>
                <a:cubicBezTo>
                  <a:pt x="13327" y="36"/>
                  <a:pt x="13336" y="43"/>
                  <a:pt x="13344" y="51"/>
                </a:cubicBezTo>
                <a:cubicBezTo>
                  <a:pt x="13352" y="59"/>
                  <a:pt x="13359" y="68"/>
                  <a:pt x="13366" y="78"/>
                </a:cubicBezTo>
                <a:cubicBezTo>
                  <a:pt x="13372" y="87"/>
                  <a:pt x="13377" y="97"/>
                  <a:pt x="13382" y="108"/>
                </a:cubicBezTo>
                <a:cubicBezTo>
                  <a:pt x="13386" y="118"/>
                  <a:pt x="13389" y="129"/>
                  <a:pt x="13392" y="141"/>
                </a:cubicBezTo>
                <a:cubicBezTo>
                  <a:pt x="13394" y="152"/>
                  <a:pt x="13395" y="163"/>
                  <a:pt x="13395" y="174"/>
                </a:cubicBezTo>
                <a:lnTo>
                  <a:pt x="13395" y="2915"/>
                </a:lnTo>
                <a:cubicBezTo>
                  <a:pt x="13395" y="2926"/>
                  <a:pt x="13394" y="2937"/>
                  <a:pt x="13392" y="2949"/>
                </a:cubicBezTo>
                <a:cubicBezTo>
                  <a:pt x="13389" y="2960"/>
                  <a:pt x="13386" y="2971"/>
                  <a:pt x="13382" y="2981"/>
                </a:cubicBezTo>
                <a:cubicBezTo>
                  <a:pt x="13377" y="2992"/>
                  <a:pt x="13372" y="3002"/>
                  <a:pt x="13366" y="3011"/>
                </a:cubicBezTo>
                <a:cubicBezTo>
                  <a:pt x="13359" y="3021"/>
                  <a:pt x="13352" y="3030"/>
                  <a:pt x="13344" y="3038"/>
                </a:cubicBezTo>
                <a:cubicBezTo>
                  <a:pt x="13336" y="3046"/>
                  <a:pt x="13327" y="3053"/>
                  <a:pt x="13318" y="3059"/>
                </a:cubicBezTo>
                <a:cubicBezTo>
                  <a:pt x="13308" y="3066"/>
                  <a:pt x="13298" y="3071"/>
                  <a:pt x="13287" y="3075"/>
                </a:cubicBezTo>
                <a:cubicBezTo>
                  <a:pt x="13277" y="3080"/>
                  <a:pt x="13266" y="3083"/>
                  <a:pt x="13255" y="3085"/>
                </a:cubicBezTo>
                <a:cubicBezTo>
                  <a:pt x="13244" y="3088"/>
                  <a:pt x="13232" y="3089"/>
                  <a:pt x="13221" y="3089"/>
                </a:cubicBezTo>
                <a:lnTo>
                  <a:pt x="174" y="3089"/>
                </a:lnTo>
                <a:cubicBezTo>
                  <a:pt x="163" y="3089"/>
                  <a:pt x="151" y="3088"/>
                  <a:pt x="140" y="3085"/>
                </a:cubicBezTo>
                <a:cubicBezTo>
                  <a:pt x="129" y="3083"/>
                  <a:pt x="118" y="3080"/>
                  <a:pt x="107" y="3075"/>
                </a:cubicBezTo>
                <a:cubicBezTo>
                  <a:pt x="97" y="3071"/>
                  <a:pt x="87" y="3066"/>
                  <a:pt x="77" y="3059"/>
                </a:cubicBezTo>
                <a:cubicBezTo>
                  <a:pt x="68" y="3053"/>
                  <a:pt x="59" y="3046"/>
                  <a:pt x="51" y="3038"/>
                </a:cubicBezTo>
                <a:cubicBezTo>
                  <a:pt x="43" y="3030"/>
                  <a:pt x="36" y="3021"/>
                  <a:pt x="29" y="3011"/>
                </a:cubicBezTo>
                <a:cubicBezTo>
                  <a:pt x="23" y="3002"/>
                  <a:pt x="18" y="2992"/>
                  <a:pt x="13" y="2981"/>
                </a:cubicBezTo>
                <a:cubicBezTo>
                  <a:pt x="9" y="2971"/>
                  <a:pt x="6" y="2960"/>
                  <a:pt x="3" y="2949"/>
                </a:cubicBezTo>
                <a:cubicBezTo>
                  <a:pt x="1" y="2937"/>
                  <a:pt x="0" y="2926"/>
                  <a:pt x="0" y="2915"/>
                </a:cubicBezTo>
              </a:path>
            </a:pathLst>
          </a:custGeom>
          <a:ln w="8280">
            <a:solidFill>
              <a:srgbClr val="d1d5db"/>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474" name="" descr=""/>
          <p:cNvPicPr/>
          <p:nvPr/>
        </p:nvPicPr>
        <p:blipFill>
          <a:blip r:embed="rId9"/>
          <a:stretch/>
        </p:blipFill>
        <p:spPr>
          <a:xfrm>
            <a:off x="5448600" y="2824560"/>
            <a:ext cx="166680" cy="166680"/>
          </a:xfrm>
          <a:prstGeom prst="rect">
            <a:avLst/>
          </a:prstGeom>
          <a:noFill/>
          <a:ln w="0">
            <a:noFill/>
          </a:ln>
        </p:spPr>
      </p:pic>
      <p:sp>
        <p:nvSpPr>
          <p:cNvPr id="475" name=""/>
          <p:cNvSpPr txBox="1"/>
          <p:nvPr/>
        </p:nvSpPr>
        <p:spPr>
          <a:xfrm>
            <a:off x="793800" y="5282640"/>
            <a:ext cx="1342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a:t>
            </a:r>
            <a:r>
              <a:rPr b="0" lang="zh-CN" sz="1050" strike="noStrike" u="none">
                <a:solidFill>
                  <a:srgbClr val="ff8c00"/>
                </a:solidFill>
                <a:effectLst/>
                <a:uFillTx/>
                <a:latin typeface="NotoSansJP"/>
                <a:ea typeface="NotoSansJP"/>
              </a:rPr>
              <a:t>位相遅延が小さい</a:t>
            </a:r>
            <a:r>
              <a:rPr b="0" lang="zh-CN" sz="1050" strike="noStrike" u="none">
                <a:solidFill>
                  <a:srgbClr val="000000"/>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476" name=""/>
          <p:cNvSpPr/>
          <p:nvPr/>
        </p:nvSpPr>
        <p:spPr>
          <a:xfrm>
            <a:off x="5452560" y="3154320"/>
            <a:ext cx="4822200" cy="995040"/>
          </a:xfrm>
          <a:custGeom>
            <a:avLst/>
            <a:gdLst/>
            <a:ahLst/>
            <a:rect l="0" t="0" r="r" b="b"/>
            <a:pathLst>
              <a:path w="13395" h="2764">
                <a:moveTo>
                  <a:pt x="0" y="2590"/>
                </a:moveTo>
                <a:lnTo>
                  <a:pt x="0" y="175"/>
                </a:lnTo>
                <a:cubicBezTo>
                  <a:pt x="0" y="163"/>
                  <a:pt x="1" y="152"/>
                  <a:pt x="3" y="141"/>
                </a:cubicBezTo>
                <a:cubicBezTo>
                  <a:pt x="6" y="129"/>
                  <a:pt x="9" y="118"/>
                  <a:pt x="13" y="108"/>
                </a:cubicBezTo>
                <a:cubicBezTo>
                  <a:pt x="18" y="97"/>
                  <a:pt x="23" y="87"/>
                  <a:pt x="29" y="78"/>
                </a:cubicBezTo>
                <a:cubicBezTo>
                  <a:pt x="36" y="68"/>
                  <a:pt x="43" y="60"/>
                  <a:pt x="51" y="51"/>
                </a:cubicBezTo>
                <a:cubicBezTo>
                  <a:pt x="59" y="43"/>
                  <a:pt x="68" y="36"/>
                  <a:pt x="77" y="30"/>
                </a:cubicBezTo>
                <a:cubicBezTo>
                  <a:pt x="87" y="23"/>
                  <a:pt x="97" y="18"/>
                  <a:pt x="107" y="14"/>
                </a:cubicBezTo>
                <a:cubicBezTo>
                  <a:pt x="118" y="9"/>
                  <a:pt x="129" y="6"/>
                  <a:pt x="140" y="4"/>
                </a:cubicBezTo>
                <a:cubicBezTo>
                  <a:pt x="151" y="2"/>
                  <a:pt x="163" y="0"/>
                  <a:pt x="174" y="0"/>
                </a:cubicBezTo>
                <a:lnTo>
                  <a:pt x="13221" y="0"/>
                </a:lnTo>
                <a:cubicBezTo>
                  <a:pt x="13232" y="0"/>
                  <a:pt x="13244" y="2"/>
                  <a:pt x="13255" y="4"/>
                </a:cubicBezTo>
                <a:cubicBezTo>
                  <a:pt x="13266" y="6"/>
                  <a:pt x="13277" y="9"/>
                  <a:pt x="13287" y="14"/>
                </a:cubicBezTo>
                <a:cubicBezTo>
                  <a:pt x="13298" y="18"/>
                  <a:pt x="13308" y="23"/>
                  <a:pt x="13318" y="30"/>
                </a:cubicBezTo>
                <a:cubicBezTo>
                  <a:pt x="13327" y="36"/>
                  <a:pt x="13336" y="43"/>
                  <a:pt x="13344" y="51"/>
                </a:cubicBezTo>
                <a:cubicBezTo>
                  <a:pt x="13352" y="60"/>
                  <a:pt x="13359" y="68"/>
                  <a:pt x="13366" y="78"/>
                </a:cubicBezTo>
                <a:cubicBezTo>
                  <a:pt x="13372" y="87"/>
                  <a:pt x="13377" y="97"/>
                  <a:pt x="13382" y="108"/>
                </a:cubicBezTo>
                <a:cubicBezTo>
                  <a:pt x="13386" y="118"/>
                  <a:pt x="13389" y="129"/>
                  <a:pt x="13392" y="141"/>
                </a:cubicBezTo>
                <a:cubicBezTo>
                  <a:pt x="13394" y="152"/>
                  <a:pt x="13395" y="163"/>
                  <a:pt x="13395" y="175"/>
                </a:cubicBezTo>
                <a:lnTo>
                  <a:pt x="13395" y="2590"/>
                </a:lnTo>
                <a:cubicBezTo>
                  <a:pt x="13395" y="2601"/>
                  <a:pt x="13394" y="2612"/>
                  <a:pt x="13392" y="2624"/>
                </a:cubicBezTo>
                <a:cubicBezTo>
                  <a:pt x="13389" y="2635"/>
                  <a:pt x="13386" y="2646"/>
                  <a:pt x="13382" y="2656"/>
                </a:cubicBezTo>
                <a:cubicBezTo>
                  <a:pt x="13377" y="2667"/>
                  <a:pt x="13372" y="2677"/>
                  <a:pt x="13366" y="2686"/>
                </a:cubicBezTo>
                <a:cubicBezTo>
                  <a:pt x="13359" y="2696"/>
                  <a:pt x="13352" y="2705"/>
                  <a:pt x="13344" y="2713"/>
                </a:cubicBezTo>
                <a:cubicBezTo>
                  <a:pt x="13336" y="2721"/>
                  <a:pt x="13327" y="2728"/>
                  <a:pt x="13318" y="2734"/>
                </a:cubicBezTo>
                <a:cubicBezTo>
                  <a:pt x="13308" y="2741"/>
                  <a:pt x="13298" y="2746"/>
                  <a:pt x="13287" y="2751"/>
                </a:cubicBezTo>
                <a:cubicBezTo>
                  <a:pt x="13277" y="2755"/>
                  <a:pt x="13266" y="2758"/>
                  <a:pt x="13255" y="2760"/>
                </a:cubicBezTo>
                <a:cubicBezTo>
                  <a:pt x="13244" y="2763"/>
                  <a:pt x="13232" y="2764"/>
                  <a:pt x="13221" y="2764"/>
                </a:cubicBezTo>
                <a:lnTo>
                  <a:pt x="174" y="2764"/>
                </a:lnTo>
                <a:cubicBezTo>
                  <a:pt x="163" y="2764"/>
                  <a:pt x="151" y="2763"/>
                  <a:pt x="140" y="2760"/>
                </a:cubicBezTo>
                <a:cubicBezTo>
                  <a:pt x="129" y="2758"/>
                  <a:pt x="118" y="2755"/>
                  <a:pt x="107" y="2751"/>
                </a:cubicBezTo>
                <a:cubicBezTo>
                  <a:pt x="97" y="2746"/>
                  <a:pt x="87" y="2741"/>
                  <a:pt x="77" y="2734"/>
                </a:cubicBezTo>
                <a:cubicBezTo>
                  <a:pt x="68" y="2728"/>
                  <a:pt x="59" y="2721"/>
                  <a:pt x="51" y="2713"/>
                </a:cubicBezTo>
                <a:cubicBezTo>
                  <a:pt x="43" y="2705"/>
                  <a:pt x="36" y="2696"/>
                  <a:pt x="29" y="2686"/>
                </a:cubicBezTo>
                <a:cubicBezTo>
                  <a:pt x="23" y="2677"/>
                  <a:pt x="18" y="2667"/>
                  <a:pt x="13" y="2656"/>
                </a:cubicBezTo>
                <a:cubicBezTo>
                  <a:pt x="9" y="2646"/>
                  <a:pt x="6" y="2635"/>
                  <a:pt x="3" y="2624"/>
                </a:cubicBezTo>
                <a:cubicBezTo>
                  <a:pt x="1" y="2612"/>
                  <a:pt x="0" y="2601"/>
                  <a:pt x="0" y="259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77" name=""/>
          <p:cNvSpPr/>
          <p:nvPr/>
        </p:nvSpPr>
        <p:spPr>
          <a:xfrm>
            <a:off x="5452560" y="3154320"/>
            <a:ext cx="4822200" cy="995040"/>
          </a:xfrm>
          <a:custGeom>
            <a:avLst/>
            <a:gdLst/>
            <a:ahLst/>
            <a:rect l="0" t="0" r="r" b="b"/>
            <a:pathLst>
              <a:path fill="none" w="13395" h="2764">
                <a:moveTo>
                  <a:pt x="0" y="2590"/>
                </a:moveTo>
                <a:lnTo>
                  <a:pt x="0" y="175"/>
                </a:lnTo>
                <a:cubicBezTo>
                  <a:pt x="0" y="163"/>
                  <a:pt x="1" y="152"/>
                  <a:pt x="3" y="141"/>
                </a:cubicBezTo>
                <a:cubicBezTo>
                  <a:pt x="6" y="129"/>
                  <a:pt x="9" y="118"/>
                  <a:pt x="13" y="108"/>
                </a:cubicBezTo>
                <a:cubicBezTo>
                  <a:pt x="18" y="97"/>
                  <a:pt x="23" y="87"/>
                  <a:pt x="29" y="78"/>
                </a:cubicBezTo>
                <a:cubicBezTo>
                  <a:pt x="36" y="68"/>
                  <a:pt x="43" y="60"/>
                  <a:pt x="51" y="51"/>
                </a:cubicBezTo>
                <a:cubicBezTo>
                  <a:pt x="59" y="43"/>
                  <a:pt x="68" y="36"/>
                  <a:pt x="77" y="30"/>
                </a:cubicBezTo>
                <a:cubicBezTo>
                  <a:pt x="87" y="23"/>
                  <a:pt x="97" y="18"/>
                  <a:pt x="107" y="14"/>
                </a:cubicBezTo>
                <a:cubicBezTo>
                  <a:pt x="118" y="9"/>
                  <a:pt x="129" y="6"/>
                  <a:pt x="140" y="4"/>
                </a:cubicBezTo>
                <a:cubicBezTo>
                  <a:pt x="151" y="2"/>
                  <a:pt x="163" y="0"/>
                  <a:pt x="174" y="0"/>
                </a:cubicBezTo>
                <a:lnTo>
                  <a:pt x="13221" y="0"/>
                </a:lnTo>
                <a:cubicBezTo>
                  <a:pt x="13232" y="0"/>
                  <a:pt x="13244" y="2"/>
                  <a:pt x="13255" y="4"/>
                </a:cubicBezTo>
                <a:cubicBezTo>
                  <a:pt x="13266" y="6"/>
                  <a:pt x="13277" y="9"/>
                  <a:pt x="13287" y="14"/>
                </a:cubicBezTo>
                <a:cubicBezTo>
                  <a:pt x="13298" y="18"/>
                  <a:pt x="13308" y="23"/>
                  <a:pt x="13318" y="30"/>
                </a:cubicBezTo>
                <a:cubicBezTo>
                  <a:pt x="13327" y="36"/>
                  <a:pt x="13336" y="43"/>
                  <a:pt x="13344" y="51"/>
                </a:cubicBezTo>
                <a:cubicBezTo>
                  <a:pt x="13352" y="60"/>
                  <a:pt x="13359" y="68"/>
                  <a:pt x="13366" y="78"/>
                </a:cubicBezTo>
                <a:cubicBezTo>
                  <a:pt x="13372" y="87"/>
                  <a:pt x="13377" y="97"/>
                  <a:pt x="13382" y="108"/>
                </a:cubicBezTo>
                <a:cubicBezTo>
                  <a:pt x="13386" y="118"/>
                  <a:pt x="13389" y="129"/>
                  <a:pt x="13392" y="141"/>
                </a:cubicBezTo>
                <a:cubicBezTo>
                  <a:pt x="13394" y="152"/>
                  <a:pt x="13395" y="163"/>
                  <a:pt x="13395" y="175"/>
                </a:cubicBezTo>
                <a:lnTo>
                  <a:pt x="13395" y="2590"/>
                </a:lnTo>
                <a:cubicBezTo>
                  <a:pt x="13395" y="2601"/>
                  <a:pt x="13394" y="2612"/>
                  <a:pt x="13392" y="2624"/>
                </a:cubicBezTo>
                <a:cubicBezTo>
                  <a:pt x="13389" y="2635"/>
                  <a:pt x="13386" y="2646"/>
                  <a:pt x="13382" y="2656"/>
                </a:cubicBezTo>
                <a:cubicBezTo>
                  <a:pt x="13377" y="2667"/>
                  <a:pt x="13372" y="2677"/>
                  <a:pt x="13366" y="2686"/>
                </a:cubicBezTo>
                <a:cubicBezTo>
                  <a:pt x="13359" y="2696"/>
                  <a:pt x="13352" y="2705"/>
                  <a:pt x="13344" y="2713"/>
                </a:cubicBezTo>
                <a:cubicBezTo>
                  <a:pt x="13336" y="2721"/>
                  <a:pt x="13327" y="2728"/>
                  <a:pt x="13318" y="2734"/>
                </a:cubicBezTo>
                <a:cubicBezTo>
                  <a:pt x="13308" y="2741"/>
                  <a:pt x="13298" y="2746"/>
                  <a:pt x="13287" y="2751"/>
                </a:cubicBezTo>
                <a:cubicBezTo>
                  <a:pt x="13277" y="2755"/>
                  <a:pt x="13266" y="2758"/>
                  <a:pt x="13255" y="2760"/>
                </a:cubicBezTo>
                <a:cubicBezTo>
                  <a:pt x="13244" y="2763"/>
                  <a:pt x="13232" y="2764"/>
                  <a:pt x="13221" y="2764"/>
                </a:cubicBezTo>
                <a:lnTo>
                  <a:pt x="174" y="2764"/>
                </a:lnTo>
                <a:cubicBezTo>
                  <a:pt x="163" y="2764"/>
                  <a:pt x="151" y="2763"/>
                  <a:pt x="140" y="2760"/>
                </a:cubicBezTo>
                <a:cubicBezTo>
                  <a:pt x="129" y="2758"/>
                  <a:pt x="118" y="2755"/>
                  <a:pt x="107" y="2751"/>
                </a:cubicBezTo>
                <a:cubicBezTo>
                  <a:pt x="97" y="2746"/>
                  <a:pt x="87" y="2741"/>
                  <a:pt x="77" y="2734"/>
                </a:cubicBezTo>
                <a:cubicBezTo>
                  <a:pt x="68" y="2728"/>
                  <a:pt x="59" y="2721"/>
                  <a:pt x="51" y="2713"/>
                </a:cubicBezTo>
                <a:cubicBezTo>
                  <a:pt x="43" y="2705"/>
                  <a:pt x="36" y="2696"/>
                  <a:pt x="29" y="2686"/>
                </a:cubicBezTo>
                <a:cubicBezTo>
                  <a:pt x="23" y="2677"/>
                  <a:pt x="18" y="2667"/>
                  <a:pt x="13" y="2656"/>
                </a:cubicBezTo>
                <a:cubicBezTo>
                  <a:pt x="9" y="2646"/>
                  <a:pt x="6" y="2635"/>
                  <a:pt x="3" y="2624"/>
                </a:cubicBezTo>
                <a:cubicBezTo>
                  <a:pt x="1" y="2612"/>
                  <a:pt x="0" y="2601"/>
                  <a:pt x="0" y="2590"/>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478" name="" descr=""/>
          <p:cNvPicPr/>
          <p:nvPr/>
        </p:nvPicPr>
        <p:blipFill>
          <a:blip r:embed="rId10"/>
          <a:stretch/>
        </p:blipFill>
        <p:spPr>
          <a:xfrm>
            <a:off x="5582160" y="3317760"/>
            <a:ext cx="108360" cy="166680"/>
          </a:xfrm>
          <a:prstGeom prst="rect">
            <a:avLst/>
          </a:prstGeom>
          <a:noFill/>
          <a:ln w="0">
            <a:noFill/>
          </a:ln>
        </p:spPr>
      </p:pic>
      <p:sp>
        <p:nvSpPr>
          <p:cNvPr id="479" name=""/>
          <p:cNvSpPr txBox="1"/>
          <p:nvPr/>
        </p:nvSpPr>
        <p:spPr>
          <a:xfrm>
            <a:off x="5716080" y="2819880"/>
            <a:ext cx="218016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可聴領域における限界と課題</a:t>
            </a:r>
            <a:endParaRPr b="0" lang="en-US" sz="1320" strike="noStrike" u="none">
              <a:solidFill>
                <a:srgbClr val="000000"/>
              </a:solidFill>
              <a:effectLst/>
              <a:uFillTx/>
              <a:latin typeface="Times New Roman"/>
            </a:endParaRPr>
          </a:p>
        </p:txBody>
      </p:sp>
      <p:sp>
        <p:nvSpPr>
          <p:cNvPr id="480" name=""/>
          <p:cNvSpPr/>
          <p:nvPr/>
        </p:nvSpPr>
        <p:spPr>
          <a:xfrm>
            <a:off x="5816160" y="3593160"/>
            <a:ext cx="42120" cy="42120"/>
          </a:xfrm>
          <a:custGeom>
            <a:avLst/>
            <a:gdLst/>
            <a:ahLst/>
            <a:rect l="0" t="0" r="r" b="b"/>
            <a:pathLst>
              <a:path w="117" h="117">
                <a:moveTo>
                  <a:pt x="117" y="59"/>
                </a:moveTo>
                <a:cubicBezTo>
                  <a:pt x="117" y="67"/>
                  <a:pt x="115" y="74"/>
                  <a:pt x="112" y="81"/>
                </a:cubicBezTo>
                <a:cubicBezTo>
                  <a:pt x="109" y="88"/>
                  <a:pt x="105" y="95"/>
                  <a:pt x="100" y="100"/>
                </a:cubicBezTo>
                <a:cubicBezTo>
                  <a:pt x="94" y="106"/>
                  <a:pt x="88" y="110"/>
                  <a:pt x="81" y="113"/>
                </a:cubicBezTo>
                <a:cubicBezTo>
                  <a:pt x="74" y="116"/>
                  <a:pt x="67" y="117"/>
                  <a:pt x="59" y="117"/>
                </a:cubicBezTo>
                <a:cubicBezTo>
                  <a:pt x="51" y="117"/>
                  <a:pt x="44" y="116"/>
                  <a:pt x="37" y="113"/>
                </a:cubicBezTo>
                <a:cubicBezTo>
                  <a:pt x="29" y="110"/>
                  <a:pt x="22" y="106"/>
                  <a:pt x="17" y="100"/>
                </a:cubicBezTo>
                <a:cubicBezTo>
                  <a:pt x="11" y="95"/>
                  <a:pt x="7" y="88"/>
                  <a:pt x="4" y="81"/>
                </a:cubicBezTo>
                <a:cubicBezTo>
                  <a:pt x="1" y="74"/>
                  <a:pt x="0" y="67"/>
                  <a:pt x="0" y="59"/>
                </a:cubicBezTo>
                <a:cubicBezTo>
                  <a:pt x="0" y="50"/>
                  <a:pt x="1" y="43"/>
                  <a:pt x="4" y="36"/>
                </a:cubicBezTo>
                <a:cubicBezTo>
                  <a:pt x="7" y="29"/>
                  <a:pt x="11" y="23"/>
                  <a:pt x="17" y="17"/>
                </a:cubicBezTo>
                <a:cubicBezTo>
                  <a:pt x="22" y="12"/>
                  <a:pt x="29" y="7"/>
                  <a:pt x="37" y="5"/>
                </a:cubicBezTo>
                <a:cubicBezTo>
                  <a:pt x="44" y="2"/>
                  <a:pt x="51" y="0"/>
                  <a:pt x="59" y="0"/>
                </a:cubicBezTo>
                <a:cubicBezTo>
                  <a:pt x="67" y="0"/>
                  <a:pt x="74" y="2"/>
                  <a:pt x="81" y="5"/>
                </a:cubicBezTo>
                <a:cubicBezTo>
                  <a:pt x="88" y="7"/>
                  <a:pt x="94" y="12"/>
                  <a:pt x="100" y="17"/>
                </a:cubicBezTo>
                <a:cubicBezTo>
                  <a:pt x="105" y="23"/>
                  <a:pt x="109" y="29"/>
                  <a:pt x="112" y="36"/>
                </a:cubicBezTo>
                <a:cubicBezTo>
                  <a:pt x="115" y="43"/>
                  <a:pt x="117" y="50"/>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1" name=""/>
          <p:cNvSpPr txBox="1"/>
          <p:nvPr/>
        </p:nvSpPr>
        <p:spPr>
          <a:xfrm>
            <a:off x="5791320" y="3318840"/>
            <a:ext cx="13417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近距離での指向性欠如</a:t>
            </a:r>
            <a:endParaRPr b="0" lang="en-US" sz="1050" strike="noStrike" u="none">
              <a:solidFill>
                <a:srgbClr val="000000"/>
              </a:solidFill>
              <a:effectLst/>
              <a:uFillTx/>
              <a:latin typeface="Times New Roman"/>
            </a:endParaRPr>
          </a:p>
        </p:txBody>
      </p:sp>
      <p:sp>
        <p:nvSpPr>
          <p:cNvPr id="482" name=""/>
          <p:cNvSpPr/>
          <p:nvPr/>
        </p:nvSpPr>
        <p:spPr>
          <a:xfrm>
            <a:off x="5816160" y="3760200"/>
            <a:ext cx="42120" cy="42120"/>
          </a:xfrm>
          <a:custGeom>
            <a:avLst/>
            <a:gdLst/>
            <a:ahLst/>
            <a:rect l="0" t="0" r="r" b="b"/>
            <a:pathLst>
              <a:path w="117" h="117">
                <a:moveTo>
                  <a:pt x="117" y="59"/>
                </a:moveTo>
                <a:cubicBezTo>
                  <a:pt x="117" y="67"/>
                  <a:pt x="115" y="75"/>
                  <a:pt x="112" y="82"/>
                </a:cubicBezTo>
                <a:cubicBezTo>
                  <a:pt x="109" y="89"/>
                  <a:pt x="105" y="95"/>
                  <a:pt x="100" y="100"/>
                </a:cubicBezTo>
                <a:cubicBezTo>
                  <a:pt x="94" y="106"/>
                  <a:pt x="88" y="110"/>
                  <a:pt x="81" y="113"/>
                </a:cubicBezTo>
                <a:cubicBezTo>
                  <a:pt x="74" y="116"/>
                  <a:pt x="67" y="117"/>
                  <a:pt x="59" y="117"/>
                </a:cubicBezTo>
                <a:cubicBezTo>
                  <a:pt x="51" y="117"/>
                  <a:pt x="44" y="116"/>
                  <a:pt x="37" y="113"/>
                </a:cubicBezTo>
                <a:cubicBezTo>
                  <a:pt x="29" y="110"/>
                  <a:pt x="22" y="106"/>
                  <a:pt x="17" y="100"/>
                </a:cubicBezTo>
                <a:cubicBezTo>
                  <a:pt x="11" y="95"/>
                  <a:pt x="7" y="89"/>
                  <a:pt x="4" y="82"/>
                </a:cubicBezTo>
                <a:cubicBezTo>
                  <a:pt x="1" y="75"/>
                  <a:pt x="0" y="67"/>
                  <a:pt x="0" y="59"/>
                </a:cubicBezTo>
                <a:cubicBezTo>
                  <a:pt x="0" y="51"/>
                  <a:pt x="1" y="43"/>
                  <a:pt x="4" y="36"/>
                </a:cubicBezTo>
                <a:cubicBezTo>
                  <a:pt x="7" y="29"/>
                  <a:pt x="11" y="23"/>
                  <a:pt x="17" y="17"/>
                </a:cubicBezTo>
                <a:cubicBezTo>
                  <a:pt x="22" y="12"/>
                  <a:pt x="29" y="8"/>
                  <a:pt x="37" y="5"/>
                </a:cubicBezTo>
                <a:cubicBezTo>
                  <a:pt x="44" y="2"/>
                  <a:pt x="51" y="0"/>
                  <a:pt x="59" y="0"/>
                </a:cubicBezTo>
                <a:cubicBezTo>
                  <a:pt x="67" y="0"/>
                  <a:pt x="74" y="2"/>
                  <a:pt x="81" y="5"/>
                </a:cubicBezTo>
                <a:cubicBezTo>
                  <a:pt x="88" y="8"/>
                  <a:pt x="94" y="12"/>
                  <a:pt x="100" y="17"/>
                </a:cubicBezTo>
                <a:cubicBezTo>
                  <a:pt x="105" y="23"/>
                  <a:pt x="109" y="29"/>
                  <a:pt x="112" y="36"/>
                </a:cubicBezTo>
                <a:cubicBezTo>
                  <a:pt x="115" y="43"/>
                  <a:pt x="117" y="51"/>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3" name=""/>
          <p:cNvSpPr txBox="1"/>
          <p:nvPr/>
        </p:nvSpPr>
        <p:spPr>
          <a:xfrm>
            <a:off x="5958360" y="3543480"/>
            <a:ext cx="21132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スピーカ近傍では</a:t>
            </a:r>
            <a:r>
              <a:rPr b="0" lang="zh-CN" sz="920" strike="noStrike" u="none">
                <a:solidFill>
                  <a:srgbClr val="ff8c00"/>
                </a:solidFill>
                <a:effectLst/>
                <a:uFillTx/>
                <a:latin typeface="NotoSansJP"/>
                <a:ea typeface="NotoSansJP"/>
              </a:rPr>
              <a:t>全方位に同じ利得特性</a:t>
            </a:r>
            <a:endParaRPr b="0" lang="en-US" sz="920" strike="noStrike" u="none">
              <a:solidFill>
                <a:srgbClr val="000000"/>
              </a:solidFill>
              <a:effectLst/>
              <a:uFillTx/>
              <a:latin typeface="Times New Roman"/>
            </a:endParaRPr>
          </a:p>
        </p:txBody>
      </p:sp>
      <p:sp>
        <p:nvSpPr>
          <p:cNvPr id="484" name=""/>
          <p:cNvSpPr/>
          <p:nvPr/>
        </p:nvSpPr>
        <p:spPr>
          <a:xfrm>
            <a:off x="5816160" y="3927600"/>
            <a:ext cx="42120" cy="42120"/>
          </a:xfrm>
          <a:custGeom>
            <a:avLst/>
            <a:gdLst/>
            <a:ahLst/>
            <a:rect l="0" t="0" r="r" b="b"/>
            <a:pathLst>
              <a:path w="117" h="117">
                <a:moveTo>
                  <a:pt x="117" y="59"/>
                </a:moveTo>
                <a:cubicBezTo>
                  <a:pt x="117" y="66"/>
                  <a:pt x="115" y="74"/>
                  <a:pt x="112" y="81"/>
                </a:cubicBezTo>
                <a:cubicBezTo>
                  <a:pt x="109" y="88"/>
                  <a:pt x="105" y="94"/>
                  <a:pt x="100" y="100"/>
                </a:cubicBezTo>
                <a:cubicBezTo>
                  <a:pt x="94" y="105"/>
                  <a:pt x="88" y="109"/>
                  <a:pt x="81" y="112"/>
                </a:cubicBezTo>
                <a:cubicBezTo>
                  <a:pt x="74" y="115"/>
                  <a:pt x="67" y="117"/>
                  <a:pt x="59" y="117"/>
                </a:cubicBezTo>
                <a:cubicBezTo>
                  <a:pt x="51" y="117"/>
                  <a:pt x="44" y="115"/>
                  <a:pt x="37" y="112"/>
                </a:cubicBezTo>
                <a:cubicBezTo>
                  <a:pt x="29" y="109"/>
                  <a:pt x="22" y="105"/>
                  <a:pt x="17" y="100"/>
                </a:cubicBezTo>
                <a:cubicBezTo>
                  <a:pt x="11" y="94"/>
                  <a:pt x="7" y="88"/>
                  <a:pt x="4" y="81"/>
                </a:cubicBezTo>
                <a:cubicBezTo>
                  <a:pt x="1" y="74"/>
                  <a:pt x="0" y="66"/>
                  <a:pt x="0" y="59"/>
                </a:cubicBezTo>
                <a:cubicBezTo>
                  <a:pt x="0" y="50"/>
                  <a:pt x="1" y="43"/>
                  <a:pt x="4" y="35"/>
                </a:cubicBezTo>
                <a:cubicBezTo>
                  <a:pt x="7" y="28"/>
                  <a:pt x="11" y="22"/>
                  <a:pt x="17" y="17"/>
                </a:cubicBezTo>
                <a:cubicBezTo>
                  <a:pt x="22" y="11"/>
                  <a:pt x="29" y="7"/>
                  <a:pt x="37" y="4"/>
                </a:cubicBezTo>
                <a:cubicBezTo>
                  <a:pt x="44" y="1"/>
                  <a:pt x="51" y="0"/>
                  <a:pt x="59" y="0"/>
                </a:cubicBezTo>
                <a:cubicBezTo>
                  <a:pt x="67" y="0"/>
                  <a:pt x="74" y="1"/>
                  <a:pt x="81" y="4"/>
                </a:cubicBezTo>
                <a:cubicBezTo>
                  <a:pt x="88" y="7"/>
                  <a:pt x="94" y="11"/>
                  <a:pt x="100" y="17"/>
                </a:cubicBezTo>
                <a:cubicBezTo>
                  <a:pt x="105" y="22"/>
                  <a:pt x="109" y="28"/>
                  <a:pt x="112" y="35"/>
                </a:cubicBezTo>
                <a:cubicBezTo>
                  <a:pt x="115" y="43"/>
                  <a:pt x="117" y="50"/>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85" name=""/>
          <p:cNvSpPr txBox="1"/>
          <p:nvPr/>
        </p:nvSpPr>
        <p:spPr>
          <a:xfrm>
            <a:off x="5958360" y="3710520"/>
            <a:ext cx="24649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全方向に伝搬する点波源を使用したことが原因</a:t>
            </a:r>
            <a:endParaRPr b="0" lang="en-US" sz="920" strike="noStrike" u="none">
              <a:solidFill>
                <a:srgbClr val="000000"/>
              </a:solidFill>
              <a:effectLst/>
              <a:uFillTx/>
              <a:latin typeface="Times New Roman"/>
            </a:endParaRPr>
          </a:p>
        </p:txBody>
      </p:sp>
      <p:sp>
        <p:nvSpPr>
          <p:cNvPr id="486" name=""/>
          <p:cNvSpPr/>
          <p:nvPr/>
        </p:nvSpPr>
        <p:spPr>
          <a:xfrm>
            <a:off x="5452560" y="4290840"/>
            <a:ext cx="4822200" cy="995040"/>
          </a:xfrm>
          <a:custGeom>
            <a:avLst/>
            <a:gdLst/>
            <a:ahLst/>
            <a:rect l="0" t="0" r="r" b="b"/>
            <a:pathLst>
              <a:path w="13395" h="2764">
                <a:moveTo>
                  <a:pt x="0" y="2590"/>
                </a:moveTo>
                <a:lnTo>
                  <a:pt x="0" y="175"/>
                </a:lnTo>
                <a:cubicBezTo>
                  <a:pt x="0" y="163"/>
                  <a:pt x="1" y="152"/>
                  <a:pt x="3" y="141"/>
                </a:cubicBezTo>
                <a:cubicBezTo>
                  <a:pt x="6" y="129"/>
                  <a:pt x="9" y="118"/>
                  <a:pt x="13" y="108"/>
                </a:cubicBezTo>
                <a:cubicBezTo>
                  <a:pt x="18" y="97"/>
                  <a:pt x="23" y="87"/>
                  <a:pt x="29" y="78"/>
                </a:cubicBezTo>
                <a:cubicBezTo>
                  <a:pt x="36" y="68"/>
                  <a:pt x="43" y="59"/>
                  <a:pt x="51" y="51"/>
                </a:cubicBezTo>
                <a:cubicBezTo>
                  <a:pt x="59" y="43"/>
                  <a:pt x="68" y="36"/>
                  <a:pt x="77" y="30"/>
                </a:cubicBezTo>
                <a:cubicBezTo>
                  <a:pt x="87" y="23"/>
                  <a:pt x="97" y="18"/>
                  <a:pt x="107" y="14"/>
                </a:cubicBezTo>
                <a:cubicBezTo>
                  <a:pt x="118" y="9"/>
                  <a:pt x="129" y="6"/>
                  <a:pt x="140" y="4"/>
                </a:cubicBezTo>
                <a:cubicBezTo>
                  <a:pt x="151" y="2"/>
                  <a:pt x="163" y="0"/>
                  <a:pt x="174" y="0"/>
                </a:cubicBezTo>
                <a:lnTo>
                  <a:pt x="13221" y="0"/>
                </a:lnTo>
                <a:cubicBezTo>
                  <a:pt x="13232" y="0"/>
                  <a:pt x="13244" y="2"/>
                  <a:pt x="13255" y="4"/>
                </a:cubicBezTo>
                <a:cubicBezTo>
                  <a:pt x="13266" y="6"/>
                  <a:pt x="13277" y="9"/>
                  <a:pt x="13287" y="14"/>
                </a:cubicBezTo>
                <a:cubicBezTo>
                  <a:pt x="13298" y="18"/>
                  <a:pt x="13308" y="23"/>
                  <a:pt x="13318" y="30"/>
                </a:cubicBezTo>
                <a:cubicBezTo>
                  <a:pt x="13327" y="36"/>
                  <a:pt x="13336" y="43"/>
                  <a:pt x="13344" y="51"/>
                </a:cubicBezTo>
                <a:cubicBezTo>
                  <a:pt x="13352" y="59"/>
                  <a:pt x="13359" y="68"/>
                  <a:pt x="13366" y="78"/>
                </a:cubicBezTo>
                <a:cubicBezTo>
                  <a:pt x="13372" y="87"/>
                  <a:pt x="13377" y="97"/>
                  <a:pt x="13382" y="108"/>
                </a:cubicBezTo>
                <a:cubicBezTo>
                  <a:pt x="13386" y="118"/>
                  <a:pt x="13389" y="129"/>
                  <a:pt x="13392" y="141"/>
                </a:cubicBezTo>
                <a:cubicBezTo>
                  <a:pt x="13394" y="152"/>
                  <a:pt x="13395" y="163"/>
                  <a:pt x="13395" y="175"/>
                </a:cubicBezTo>
                <a:lnTo>
                  <a:pt x="13395" y="2590"/>
                </a:lnTo>
                <a:cubicBezTo>
                  <a:pt x="13395" y="2601"/>
                  <a:pt x="13394" y="2612"/>
                  <a:pt x="13392" y="2624"/>
                </a:cubicBezTo>
                <a:cubicBezTo>
                  <a:pt x="13389" y="2635"/>
                  <a:pt x="13386" y="2646"/>
                  <a:pt x="13382" y="2656"/>
                </a:cubicBezTo>
                <a:cubicBezTo>
                  <a:pt x="13377" y="2667"/>
                  <a:pt x="13372" y="2677"/>
                  <a:pt x="13366" y="2686"/>
                </a:cubicBezTo>
                <a:cubicBezTo>
                  <a:pt x="13359" y="2696"/>
                  <a:pt x="13352" y="2705"/>
                  <a:pt x="13344" y="2713"/>
                </a:cubicBezTo>
                <a:cubicBezTo>
                  <a:pt x="13336" y="2721"/>
                  <a:pt x="13327" y="2728"/>
                  <a:pt x="13318" y="2734"/>
                </a:cubicBezTo>
                <a:cubicBezTo>
                  <a:pt x="13308" y="2741"/>
                  <a:pt x="13298" y="2746"/>
                  <a:pt x="13287" y="2751"/>
                </a:cubicBezTo>
                <a:cubicBezTo>
                  <a:pt x="13277" y="2755"/>
                  <a:pt x="13266" y="2758"/>
                  <a:pt x="13255" y="2760"/>
                </a:cubicBezTo>
                <a:cubicBezTo>
                  <a:pt x="13244" y="2763"/>
                  <a:pt x="13232" y="2764"/>
                  <a:pt x="13221" y="2764"/>
                </a:cubicBezTo>
                <a:lnTo>
                  <a:pt x="174" y="2764"/>
                </a:lnTo>
                <a:cubicBezTo>
                  <a:pt x="163" y="2764"/>
                  <a:pt x="151" y="2763"/>
                  <a:pt x="140" y="2760"/>
                </a:cubicBezTo>
                <a:cubicBezTo>
                  <a:pt x="129" y="2758"/>
                  <a:pt x="118" y="2755"/>
                  <a:pt x="107" y="2751"/>
                </a:cubicBezTo>
                <a:cubicBezTo>
                  <a:pt x="97" y="2746"/>
                  <a:pt x="87" y="2741"/>
                  <a:pt x="77" y="2734"/>
                </a:cubicBezTo>
                <a:cubicBezTo>
                  <a:pt x="68" y="2728"/>
                  <a:pt x="59" y="2721"/>
                  <a:pt x="51" y="2713"/>
                </a:cubicBezTo>
                <a:cubicBezTo>
                  <a:pt x="43" y="2705"/>
                  <a:pt x="36" y="2696"/>
                  <a:pt x="29" y="2686"/>
                </a:cubicBezTo>
                <a:cubicBezTo>
                  <a:pt x="23" y="2677"/>
                  <a:pt x="18" y="2667"/>
                  <a:pt x="13" y="2656"/>
                </a:cubicBezTo>
                <a:cubicBezTo>
                  <a:pt x="9" y="2646"/>
                  <a:pt x="6" y="2635"/>
                  <a:pt x="3" y="2624"/>
                </a:cubicBezTo>
                <a:cubicBezTo>
                  <a:pt x="1" y="2612"/>
                  <a:pt x="0" y="2601"/>
                  <a:pt x="0" y="259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87" name=""/>
          <p:cNvSpPr/>
          <p:nvPr/>
        </p:nvSpPr>
        <p:spPr>
          <a:xfrm>
            <a:off x="5452560" y="4290840"/>
            <a:ext cx="4822200" cy="995040"/>
          </a:xfrm>
          <a:custGeom>
            <a:avLst/>
            <a:gdLst/>
            <a:ahLst/>
            <a:rect l="0" t="0" r="r" b="b"/>
            <a:pathLst>
              <a:path fill="none" w="13395" h="2764">
                <a:moveTo>
                  <a:pt x="0" y="2590"/>
                </a:moveTo>
                <a:lnTo>
                  <a:pt x="0" y="175"/>
                </a:lnTo>
                <a:cubicBezTo>
                  <a:pt x="0" y="163"/>
                  <a:pt x="1" y="152"/>
                  <a:pt x="3" y="141"/>
                </a:cubicBezTo>
                <a:cubicBezTo>
                  <a:pt x="6" y="129"/>
                  <a:pt x="9" y="118"/>
                  <a:pt x="13" y="108"/>
                </a:cubicBezTo>
                <a:cubicBezTo>
                  <a:pt x="18" y="97"/>
                  <a:pt x="23" y="87"/>
                  <a:pt x="29" y="78"/>
                </a:cubicBezTo>
                <a:cubicBezTo>
                  <a:pt x="36" y="68"/>
                  <a:pt x="43" y="59"/>
                  <a:pt x="51" y="51"/>
                </a:cubicBezTo>
                <a:cubicBezTo>
                  <a:pt x="59" y="43"/>
                  <a:pt x="68" y="36"/>
                  <a:pt x="77" y="30"/>
                </a:cubicBezTo>
                <a:cubicBezTo>
                  <a:pt x="87" y="23"/>
                  <a:pt x="97" y="18"/>
                  <a:pt x="107" y="14"/>
                </a:cubicBezTo>
                <a:cubicBezTo>
                  <a:pt x="118" y="9"/>
                  <a:pt x="129" y="6"/>
                  <a:pt x="140" y="4"/>
                </a:cubicBezTo>
                <a:cubicBezTo>
                  <a:pt x="151" y="2"/>
                  <a:pt x="163" y="0"/>
                  <a:pt x="174" y="0"/>
                </a:cubicBezTo>
                <a:lnTo>
                  <a:pt x="13221" y="0"/>
                </a:lnTo>
                <a:cubicBezTo>
                  <a:pt x="13232" y="0"/>
                  <a:pt x="13244" y="2"/>
                  <a:pt x="13255" y="4"/>
                </a:cubicBezTo>
                <a:cubicBezTo>
                  <a:pt x="13266" y="6"/>
                  <a:pt x="13277" y="9"/>
                  <a:pt x="13287" y="14"/>
                </a:cubicBezTo>
                <a:cubicBezTo>
                  <a:pt x="13298" y="18"/>
                  <a:pt x="13308" y="23"/>
                  <a:pt x="13318" y="30"/>
                </a:cubicBezTo>
                <a:cubicBezTo>
                  <a:pt x="13327" y="36"/>
                  <a:pt x="13336" y="43"/>
                  <a:pt x="13344" y="51"/>
                </a:cubicBezTo>
                <a:cubicBezTo>
                  <a:pt x="13352" y="59"/>
                  <a:pt x="13359" y="68"/>
                  <a:pt x="13366" y="78"/>
                </a:cubicBezTo>
                <a:cubicBezTo>
                  <a:pt x="13372" y="87"/>
                  <a:pt x="13377" y="97"/>
                  <a:pt x="13382" y="108"/>
                </a:cubicBezTo>
                <a:cubicBezTo>
                  <a:pt x="13386" y="118"/>
                  <a:pt x="13389" y="129"/>
                  <a:pt x="13392" y="141"/>
                </a:cubicBezTo>
                <a:cubicBezTo>
                  <a:pt x="13394" y="152"/>
                  <a:pt x="13395" y="163"/>
                  <a:pt x="13395" y="175"/>
                </a:cubicBezTo>
                <a:lnTo>
                  <a:pt x="13395" y="2590"/>
                </a:lnTo>
                <a:cubicBezTo>
                  <a:pt x="13395" y="2601"/>
                  <a:pt x="13394" y="2612"/>
                  <a:pt x="13392" y="2624"/>
                </a:cubicBezTo>
                <a:cubicBezTo>
                  <a:pt x="13389" y="2635"/>
                  <a:pt x="13386" y="2646"/>
                  <a:pt x="13382" y="2656"/>
                </a:cubicBezTo>
                <a:cubicBezTo>
                  <a:pt x="13377" y="2667"/>
                  <a:pt x="13372" y="2677"/>
                  <a:pt x="13366" y="2686"/>
                </a:cubicBezTo>
                <a:cubicBezTo>
                  <a:pt x="13359" y="2696"/>
                  <a:pt x="13352" y="2705"/>
                  <a:pt x="13344" y="2713"/>
                </a:cubicBezTo>
                <a:cubicBezTo>
                  <a:pt x="13336" y="2721"/>
                  <a:pt x="13327" y="2728"/>
                  <a:pt x="13318" y="2734"/>
                </a:cubicBezTo>
                <a:cubicBezTo>
                  <a:pt x="13308" y="2741"/>
                  <a:pt x="13298" y="2746"/>
                  <a:pt x="13287" y="2751"/>
                </a:cubicBezTo>
                <a:cubicBezTo>
                  <a:pt x="13277" y="2755"/>
                  <a:pt x="13266" y="2758"/>
                  <a:pt x="13255" y="2760"/>
                </a:cubicBezTo>
                <a:cubicBezTo>
                  <a:pt x="13244" y="2763"/>
                  <a:pt x="13232" y="2764"/>
                  <a:pt x="13221" y="2764"/>
                </a:cubicBezTo>
                <a:lnTo>
                  <a:pt x="174" y="2764"/>
                </a:lnTo>
                <a:cubicBezTo>
                  <a:pt x="163" y="2764"/>
                  <a:pt x="151" y="2763"/>
                  <a:pt x="140" y="2760"/>
                </a:cubicBezTo>
                <a:cubicBezTo>
                  <a:pt x="129" y="2758"/>
                  <a:pt x="118" y="2755"/>
                  <a:pt x="107" y="2751"/>
                </a:cubicBezTo>
                <a:cubicBezTo>
                  <a:pt x="97" y="2746"/>
                  <a:pt x="87" y="2741"/>
                  <a:pt x="77" y="2734"/>
                </a:cubicBezTo>
                <a:cubicBezTo>
                  <a:pt x="68" y="2728"/>
                  <a:pt x="59" y="2721"/>
                  <a:pt x="51" y="2713"/>
                </a:cubicBezTo>
                <a:cubicBezTo>
                  <a:pt x="43" y="2705"/>
                  <a:pt x="36" y="2696"/>
                  <a:pt x="29" y="2686"/>
                </a:cubicBezTo>
                <a:cubicBezTo>
                  <a:pt x="23" y="2677"/>
                  <a:pt x="18" y="2667"/>
                  <a:pt x="13" y="2656"/>
                </a:cubicBezTo>
                <a:cubicBezTo>
                  <a:pt x="9" y="2646"/>
                  <a:pt x="6" y="2635"/>
                  <a:pt x="3" y="2624"/>
                </a:cubicBezTo>
                <a:cubicBezTo>
                  <a:pt x="1" y="2612"/>
                  <a:pt x="0" y="2601"/>
                  <a:pt x="0" y="2590"/>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488" name="" descr=""/>
          <p:cNvPicPr/>
          <p:nvPr/>
        </p:nvPicPr>
        <p:blipFill>
          <a:blip r:embed="rId11"/>
          <a:stretch/>
        </p:blipFill>
        <p:spPr>
          <a:xfrm>
            <a:off x="5582160" y="4454280"/>
            <a:ext cx="166680" cy="166680"/>
          </a:xfrm>
          <a:prstGeom prst="rect">
            <a:avLst/>
          </a:prstGeom>
          <a:noFill/>
          <a:ln w="0">
            <a:noFill/>
          </a:ln>
        </p:spPr>
      </p:pic>
      <p:sp>
        <p:nvSpPr>
          <p:cNvPr id="489" name=""/>
          <p:cNvSpPr txBox="1"/>
          <p:nvPr/>
        </p:nvSpPr>
        <p:spPr>
          <a:xfrm>
            <a:off x="5958360" y="3877560"/>
            <a:ext cx="25822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実際のスピーカは固有の指向性や伝搬特性を持つ</a:t>
            </a:r>
            <a:endParaRPr b="0" lang="en-US" sz="920" strike="noStrike" u="none">
              <a:solidFill>
                <a:srgbClr val="000000"/>
              </a:solidFill>
              <a:effectLst/>
              <a:uFillTx/>
              <a:latin typeface="Times New Roman"/>
            </a:endParaRPr>
          </a:p>
        </p:txBody>
      </p:sp>
      <p:sp>
        <p:nvSpPr>
          <p:cNvPr id="490" name=""/>
          <p:cNvSpPr/>
          <p:nvPr/>
        </p:nvSpPr>
        <p:spPr>
          <a:xfrm>
            <a:off x="5874480" y="4729680"/>
            <a:ext cx="42120" cy="42120"/>
          </a:xfrm>
          <a:custGeom>
            <a:avLst/>
            <a:gdLst/>
            <a:ahLst/>
            <a:rect l="0" t="0" r="r" b="b"/>
            <a:pathLst>
              <a:path w="117" h="117">
                <a:moveTo>
                  <a:pt x="117" y="59"/>
                </a:moveTo>
                <a:cubicBezTo>
                  <a:pt x="117" y="67"/>
                  <a:pt x="116" y="74"/>
                  <a:pt x="113" y="81"/>
                </a:cubicBezTo>
                <a:cubicBezTo>
                  <a:pt x="110" y="88"/>
                  <a:pt x="106" y="95"/>
                  <a:pt x="100" y="100"/>
                </a:cubicBezTo>
                <a:cubicBezTo>
                  <a:pt x="94" y="106"/>
                  <a:pt x="88" y="110"/>
                  <a:pt x="81" y="113"/>
                </a:cubicBezTo>
                <a:cubicBezTo>
                  <a:pt x="73" y="116"/>
                  <a:pt x="66" y="117"/>
                  <a:pt x="58" y="117"/>
                </a:cubicBezTo>
                <a:cubicBezTo>
                  <a:pt x="51" y="117"/>
                  <a:pt x="43" y="116"/>
                  <a:pt x="36" y="113"/>
                </a:cubicBezTo>
                <a:cubicBezTo>
                  <a:pt x="29" y="110"/>
                  <a:pt x="23" y="106"/>
                  <a:pt x="17" y="100"/>
                </a:cubicBezTo>
                <a:cubicBezTo>
                  <a:pt x="12" y="95"/>
                  <a:pt x="8" y="88"/>
                  <a:pt x="5" y="81"/>
                </a:cubicBezTo>
                <a:cubicBezTo>
                  <a:pt x="2" y="74"/>
                  <a:pt x="0" y="67"/>
                  <a:pt x="0" y="59"/>
                </a:cubicBezTo>
                <a:cubicBezTo>
                  <a:pt x="0" y="51"/>
                  <a:pt x="2" y="44"/>
                  <a:pt x="5" y="37"/>
                </a:cubicBezTo>
                <a:cubicBezTo>
                  <a:pt x="8" y="30"/>
                  <a:pt x="12" y="23"/>
                  <a:pt x="17" y="17"/>
                </a:cubicBezTo>
                <a:cubicBezTo>
                  <a:pt x="23" y="12"/>
                  <a:pt x="29" y="7"/>
                  <a:pt x="36" y="5"/>
                </a:cubicBezTo>
                <a:cubicBezTo>
                  <a:pt x="43" y="2"/>
                  <a:pt x="51" y="0"/>
                  <a:pt x="58" y="0"/>
                </a:cubicBezTo>
                <a:cubicBezTo>
                  <a:pt x="66" y="0"/>
                  <a:pt x="73" y="2"/>
                  <a:pt x="81" y="5"/>
                </a:cubicBezTo>
                <a:cubicBezTo>
                  <a:pt x="88" y="7"/>
                  <a:pt x="94" y="12"/>
                  <a:pt x="100" y="17"/>
                </a:cubicBezTo>
                <a:cubicBezTo>
                  <a:pt x="106" y="23"/>
                  <a:pt x="110" y="30"/>
                  <a:pt x="113" y="37"/>
                </a:cubicBezTo>
                <a:cubicBezTo>
                  <a:pt x="116" y="44"/>
                  <a:pt x="117" y="51"/>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1" name=""/>
          <p:cNvSpPr txBox="1"/>
          <p:nvPr/>
        </p:nvSpPr>
        <p:spPr>
          <a:xfrm>
            <a:off x="5849640" y="4455360"/>
            <a:ext cx="13417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空間的スケールの問題</a:t>
            </a:r>
            <a:endParaRPr b="0" lang="en-US" sz="1050" strike="noStrike" u="none">
              <a:solidFill>
                <a:srgbClr val="000000"/>
              </a:solidFill>
              <a:effectLst/>
              <a:uFillTx/>
              <a:latin typeface="Times New Roman"/>
            </a:endParaRPr>
          </a:p>
        </p:txBody>
      </p:sp>
      <p:sp>
        <p:nvSpPr>
          <p:cNvPr id="492" name=""/>
          <p:cNvSpPr/>
          <p:nvPr/>
        </p:nvSpPr>
        <p:spPr>
          <a:xfrm>
            <a:off x="5874480" y="4896720"/>
            <a:ext cx="42120" cy="42120"/>
          </a:xfrm>
          <a:custGeom>
            <a:avLst/>
            <a:gdLst/>
            <a:ahLst/>
            <a:rect l="0" t="0" r="r" b="b"/>
            <a:pathLst>
              <a:path w="117" h="117">
                <a:moveTo>
                  <a:pt x="117" y="59"/>
                </a:moveTo>
                <a:cubicBezTo>
                  <a:pt x="117" y="67"/>
                  <a:pt x="116" y="74"/>
                  <a:pt x="113" y="82"/>
                </a:cubicBezTo>
                <a:cubicBezTo>
                  <a:pt x="110" y="89"/>
                  <a:pt x="106" y="95"/>
                  <a:pt x="100" y="100"/>
                </a:cubicBezTo>
                <a:cubicBezTo>
                  <a:pt x="94" y="106"/>
                  <a:pt x="88" y="110"/>
                  <a:pt x="81" y="113"/>
                </a:cubicBezTo>
                <a:cubicBezTo>
                  <a:pt x="73" y="116"/>
                  <a:pt x="66" y="117"/>
                  <a:pt x="58" y="117"/>
                </a:cubicBezTo>
                <a:cubicBezTo>
                  <a:pt x="51" y="117"/>
                  <a:pt x="43" y="116"/>
                  <a:pt x="36" y="113"/>
                </a:cubicBezTo>
                <a:cubicBezTo>
                  <a:pt x="29" y="110"/>
                  <a:pt x="23" y="106"/>
                  <a:pt x="17" y="100"/>
                </a:cubicBezTo>
                <a:cubicBezTo>
                  <a:pt x="12" y="95"/>
                  <a:pt x="8" y="89"/>
                  <a:pt x="5" y="82"/>
                </a:cubicBezTo>
                <a:cubicBezTo>
                  <a:pt x="2" y="74"/>
                  <a:pt x="0" y="67"/>
                  <a:pt x="0" y="59"/>
                </a:cubicBezTo>
                <a:cubicBezTo>
                  <a:pt x="0" y="52"/>
                  <a:pt x="2" y="44"/>
                  <a:pt x="5" y="37"/>
                </a:cubicBezTo>
                <a:cubicBezTo>
                  <a:pt x="8" y="30"/>
                  <a:pt x="12" y="23"/>
                  <a:pt x="17" y="17"/>
                </a:cubicBezTo>
                <a:cubicBezTo>
                  <a:pt x="23" y="12"/>
                  <a:pt x="29" y="8"/>
                  <a:pt x="36" y="5"/>
                </a:cubicBezTo>
                <a:cubicBezTo>
                  <a:pt x="43" y="2"/>
                  <a:pt x="51" y="0"/>
                  <a:pt x="58" y="0"/>
                </a:cubicBezTo>
                <a:cubicBezTo>
                  <a:pt x="66" y="0"/>
                  <a:pt x="73" y="2"/>
                  <a:pt x="81" y="5"/>
                </a:cubicBezTo>
                <a:cubicBezTo>
                  <a:pt x="88" y="8"/>
                  <a:pt x="94" y="12"/>
                  <a:pt x="100" y="17"/>
                </a:cubicBezTo>
                <a:cubicBezTo>
                  <a:pt x="106" y="23"/>
                  <a:pt x="110" y="30"/>
                  <a:pt x="113" y="37"/>
                </a:cubicBezTo>
                <a:cubicBezTo>
                  <a:pt x="116" y="44"/>
                  <a:pt x="117" y="52"/>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3" name=""/>
          <p:cNvSpPr txBox="1"/>
          <p:nvPr/>
        </p:nvSpPr>
        <p:spPr>
          <a:xfrm>
            <a:off x="6016680" y="4679640"/>
            <a:ext cx="38034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シミュレーションでは</a:t>
            </a:r>
            <a:r>
              <a:rPr b="0" lang="zh-CN" sz="920" strike="noStrike" u="none">
                <a:solidFill>
                  <a:srgbClr val="ff8c00"/>
                </a:solidFill>
                <a:effectLst/>
                <a:uFillTx/>
                <a:latin typeface="NotoSansJP"/>
                <a:ea typeface="NotoSansJP"/>
              </a:rPr>
              <a:t>メートルオーダーの配置間隔</a:t>
            </a:r>
            <a:r>
              <a:rPr b="0" lang="zh-CN" sz="920" strike="noStrike" u="none">
                <a:solidFill>
                  <a:srgbClr val="000000"/>
                </a:solidFill>
                <a:effectLst/>
                <a:uFillTx/>
                <a:latin typeface="NotoSansJP"/>
                <a:ea typeface="NotoSansJP"/>
              </a:rPr>
              <a:t>と</a:t>
            </a:r>
            <a:r>
              <a:rPr b="0" lang="en-US" sz="920" strike="noStrike" u="none">
                <a:solidFill>
                  <a:srgbClr val="ff8c00"/>
                </a:solidFill>
                <a:effectLst/>
                <a:uFillTx/>
                <a:latin typeface="NotoSansJP"/>
                <a:ea typeface="NotoSansJP"/>
              </a:rPr>
              <a:t>200m</a:t>
            </a:r>
            <a:r>
              <a:rPr b="0" lang="zh-CN" sz="920" strike="noStrike" u="none">
                <a:solidFill>
                  <a:srgbClr val="ff8c00"/>
                </a:solidFill>
                <a:effectLst/>
                <a:uFillTx/>
                <a:latin typeface="NotoSansJP"/>
                <a:ea typeface="NotoSansJP"/>
              </a:rPr>
              <a:t>の聴取距離</a:t>
            </a:r>
            <a:endParaRPr b="0" lang="en-US" sz="920" strike="noStrike" u="none">
              <a:solidFill>
                <a:srgbClr val="000000"/>
              </a:solidFill>
              <a:effectLst/>
              <a:uFillTx/>
              <a:latin typeface="Times New Roman"/>
            </a:endParaRPr>
          </a:p>
        </p:txBody>
      </p:sp>
      <p:sp>
        <p:nvSpPr>
          <p:cNvPr id="494" name=""/>
          <p:cNvSpPr/>
          <p:nvPr/>
        </p:nvSpPr>
        <p:spPr>
          <a:xfrm>
            <a:off x="5874480" y="5064120"/>
            <a:ext cx="42120" cy="42120"/>
          </a:xfrm>
          <a:custGeom>
            <a:avLst/>
            <a:gdLst/>
            <a:ahLst/>
            <a:rect l="0" t="0" r="r" b="b"/>
            <a:pathLst>
              <a:path w="117" h="117">
                <a:moveTo>
                  <a:pt x="117" y="59"/>
                </a:moveTo>
                <a:cubicBezTo>
                  <a:pt x="117" y="66"/>
                  <a:pt x="116" y="74"/>
                  <a:pt x="113" y="81"/>
                </a:cubicBezTo>
                <a:cubicBezTo>
                  <a:pt x="110" y="88"/>
                  <a:pt x="106" y="94"/>
                  <a:pt x="100" y="100"/>
                </a:cubicBezTo>
                <a:cubicBezTo>
                  <a:pt x="94" y="105"/>
                  <a:pt x="88" y="109"/>
                  <a:pt x="81" y="112"/>
                </a:cubicBezTo>
                <a:cubicBezTo>
                  <a:pt x="73" y="115"/>
                  <a:pt x="66" y="117"/>
                  <a:pt x="58" y="117"/>
                </a:cubicBezTo>
                <a:cubicBezTo>
                  <a:pt x="51" y="117"/>
                  <a:pt x="43" y="115"/>
                  <a:pt x="36" y="112"/>
                </a:cubicBezTo>
                <a:cubicBezTo>
                  <a:pt x="29" y="109"/>
                  <a:pt x="23" y="105"/>
                  <a:pt x="17" y="100"/>
                </a:cubicBezTo>
                <a:cubicBezTo>
                  <a:pt x="12" y="94"/>
                  <a:pt x="8" y="88"/>
                  <a:pt x="5" y="81"/>
                </a:cubicBezTo>
                <a:cubicBezTo>
                  <a:pt x="2" y="74"/>
                  <a:pt x="0" y="66"/>
                  <a:pt x="0" y="59"/>
                </a:cubicBezTo>
                <a:cubicBezTo>
                  <a:pt x="0" y="51"/>
                  <a:pt x="2" y="44"/>
                  <a:pt x="5" y="36"/>
                </a:cubicBezTo>
                <a:cubicBezTo>
                  <a:pt x="8" y="29"/>
                  <a:pt x="12" y="22"/>
                  <a:pt x="17" y="17"/>
                </a:cubicBezTo>
                <a:cubicBezTo>
                  <a:pt x="23" y="11"/>
                  <a:pt x="29" y="7"/>
                  <a:pt x="36" y="4"/>
                </a:cubicBezTo>
                <a:cubicBezTo>
                  <a:pt x="43" y="1"/>
                  <a:pt x="51" y="0"/>
                  <a:pt x="58" y="0"/>
                </a:cubicBezTo>
                <a:cubicBezTo>
                  <a:pt x="66" y="0"/>
                  <a:pt x="73" y="1"/>
                  <a:pt x="81" y="4"/>
                </a:cubicBezTo>
                <a:cubicBezTo>
                  <a:pt x="88" y="7"/>
                  <a:pt x="94" y="11"/>
                  <a:pt x="100" y="17"/>
                </a:cubicBezTo>
                <a:cubicBezTo>
                  <a:pt x="106" y="22"/>
                  <a:pt x="110" y="29"/>
                  <a:pt x="113" y="36"/>
                </a:cubicBezTo>
                <a:cubicBezTo>
                  <a:pt x="116" y="44"/>
                  <a:pt x="117" y="51"/>
                  <a:pt x="117" y="59"/>
                </a:cubicBez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5" name=""/>
          <p:cNvSpPr txBox="1"/>
          <p:nvPr/>
        </p:nvSpPr>
        <p:spPr>
          <a:xfrm>
            <a:off x="6016680" y="4847040"/>
            <a:ext cx="255996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実用では配置間隔</a:t>
            </a:r>
            <a:r>
              <a:rPr b="0" lang="zh-CN" sz="920" strike="noStrike" u="none">
                <a:solidFill>
                  <a:srgbClr val="ff8c00"/>
                </a:solidFill>
                <a:effectLst/>
                <a:uFillTx/>
                <a:latin typeface="NotoSansJP"/>
                <a:ea typeface="NotoSansJP"/>
              </a:rPr>
              <a:t>約</a:t>
            </a:r>
            <a:r>
              <a:rPr b="0" lang="en-US" sz="920" strike="noStrike" u="none">
                <a:solidFill>
                  <a:srgbClr val="ff8c00"/>
                </a:solidFill>
                <a:effectLst/>
                <a:uFillTx/>
                <a:latin typeface="NotoSansJP"/>
                <a:ea typeface="NotoSansJP"/>
              </a:rPr>
              <a:t>1cm</a:t>
            </a:r>
            <a:r>
              <a:rPr b="0" lang="zh-CN" sz="920" strike="noStrike" u="none">
                <a:solidFill>
                  <a:srgbClr val="000000"/>
                </a:solidFill>
                <a:effectLst/>
                <a:uFillTx/>
                <a:latin typeface="NotoSansJP"/>
                <a:ea typeface="NotoSansJP"/>
              </a:rPr>
              <a:t>、聴取距離</a:t>
            </a:r>
            <a:r>
              <a:rPr b="0" lang="zh-CN" sz="920" strike="noStrike" u="none">
                <a:solidFill>
                  <a:srgbClr val="ff8c00"/>
                </a:solidFill>
                <a:effectLst/>
                <a:uFillTx/>
                <a:latin typeface="NotoSansJP"/>
                <a:ea typeface="NotoSansJP"/>
              </a:rPr>
              <a:t>約</a:t>
            </a:r>
            <a:r>
              <a:rPr b="0" lang="en-US" sz="920" strike="noStrike" u="none">
                <a:solidFill>
                  <a:srgbClr val="ff8c00"/>
                </a:solidFill>
                <a:effectLst/>
                <a:uFillTx/>
                <a:latin typeface="NotoSansJP"/>
                <a:ea typeface="NotoSansJP"/>
              </a:rPr>
              <a:t>1m</a:t>
            </a:r>
            <a:r>
              <a:rPr b="0" lang="zh-CN" sz="920" strike="noStrike" u="none">
                <a:solidFill>
                  <a:srgbClr val="000000"/>
                </a:solidFill>
                <a:effectLst/>
                <a:uFillTx/>
                <a:latin typeface="NotoSansJP"/>
                <a:ea typeface="NotoSansJP"/>
              </a:rPr>
              <a:t>程度</a:t>
            </a:r>
            <a:endParaRPr b="0" lang="en-US" sz="920" strike="noStrike" u="none">
              <a:solidFill>
                <a:srgbClr val="000000"/>
              </a:solidFill>
              <a:effectLst/>
              <a:uFillTx/>
              <a:latin typeface="Times New Roman"/>
            </a:endParaRPr>
          </a:p>
        </p:txBody>
      </p:sp>
      <p:sp>
        <p:nvSpPr>
          <p:cNvPr id="496" name=""/>
          <p:cNvSpPr txBox="1"/>
          <p:nvPr/>
        </p:nvSpPr>
        <p:spPr>
          <a:xfrm>
            <a:off x="6016680" y="5014080"/>
            <a:ext cx="410796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実用化には空間配置の考慮と使用オーディオ固有の特性を踏まえたシミュレー</a:t>
            </a:r>
            <a:endParaRPr b="0" lang="en-US" sz="920" strike="noStrike" u="none">
              <a:solidFill>
                <a:srgbClr val="000000"/>
              </a:solidFill>
              <a:effectLst/>
              <a:uFillTx/>
              <a:latin typeface="Times New Roman"/>
            </a:endParaRPr>
          </a:p>
        </p:txBody>
      </p:sp>
      <p:pic>
        <p:nvPicPr>
          <p:cNvPr id="497" name="" descr=""/>
          <p:cNvPicPr/>
          <p:nvPr/>
        </p:nvPicPr>
        <p:blipFill>
          <a:blip r:embed="rId12"/>
          <a:stretch/>
        </p:blipFill>
        <p:spPr>
          <a:xfrm>
            <a:off x="5557320" y="5548680"/>
            <a:ext cx="124920" cy="166680"/>
          </a:xfrm>
          <a:prstGeom prst="rect">
            <a:avLst/>
          </a:prstGeom>
          <a:noFill/>
          <a:ln w="0">
            <a:noFill/>
          </a:ln>
        </p:spPr>
      </p:pic>
      <p:sp>
        <p:nvSpPr>
          <p:cNvPr id="498" name=""/>
          <p:cNvSpPr txBox="1"/>
          <p:nvPr/>
        </p:nvSpPr>
        <p:spPr>
          <a:xfrm>
            <a:off x="6016680" y="5181120"/>
            <a:ext cx="7048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ションが必要</a:t>
            </a:r>
            <a:endParaRPr b="0" lang="en-US" sz="920" strike="noStrike" u="none">
              <a:solidFill>
                <a:srgbClr val="000000"/>
              </a:solidFill>
              <a:effectLst/>
              <a:uFillTx/>
              <a:latin typeface="Times New Roman"/>
            </a:endParaRPr>
          </a:p>
        </p:txBody>
      </p:sp>
      <p:pic>
        <p:nvPicPr>
          <p:cNvPr id="499" name="" descr=""/>
          <p:cNvPicPr/>
          <p:nvPr/>
        </p:nvPicPr>
        <p:blipFill>
          <a:blip r:embed="rId13"/>
          <a:stretch/>
        </p:blipFill>
        <p:spPr>
          <a:xfrm>
            <a:off x="5824440" y="5841360"/>
            <a:ext cx="133200" cy="133200"/>
          </a:xfrm>
          <a:prstGeom prst="rect">
            <a:avLst/>
          </a:prstGeom>
          <a:noFill/>
          <a:ln w="0">
            <a:noFill/>
          </a:ln>
        </p:spPr>
      </p:pic>
      <p:sp>
        <p:nvSpPr>
          <p:cNvPr id="500" name=""/>
          <p:cNvSpPr txBox="1"/>
          <p:nvPr/>
        </p:nvSpPr>
        <p:spPr>
          <a:xfrm>
            <a:off x="5782680" y="5566680"/>
            <a:ext cx="10735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解決策の方向性：</a:t>
            </a:r>
            <a:endParaRPr b="0" lang="en-US" sz="1050" strike="noStrike" u="none">
              <a:solidFill>
                <a:srgbClr val="000000"/>
              </a:solidFill>
              <a:effectLst/>
              <a:uFillTx/>
              <a:latin typeface="Times New Roman"/>
            </a:endParaRPr>
          </a:p>
        </p:txBody>
      </p:sp>
      <p:sp>
        <p:nvSpPr>
          <p:cNvPr id="501" name=""/>
          <p:cNvSpPr txBox="1"/>
          <p:nvPr/>
        </p:nvSpPr>
        <p:spPr>
          <a:xfrm>
            <a:off x="6083640" y="5834160"/>
            <a:ext cx="241488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超音波</a:t>
            </a:r>
            <a:r>
              <a:rPr b="0" lang="zh-CN" sz="1050" strike="noStrike" u="none">
                <a:solidFill>
                  <a:srgbClr val="000000"/>
                </a:solidFill>
                <a:effectLst/>
                <a:uFillTx/>
                <a:latin typeface="NotoSansJP"/>
                <a:ea typeface="NotoSansJP"/>
              </a:rPr>
              <a:t>を用いたスピーカユニットの活用</a:t>
            </a:r>
            <a:endParaRPr b="0" lang="en-US" sz="1050" strike="noStrike" u="none">
              <a:solidFill>
                <a:srgbClr val="000000"/>
              </a:solidFill>
              <a:effectLst/>
              <a:uFillTx/>
              <a:latin typeface="Times New Roman"/>
            </a:endParaRPr>
          </a:p>
        </p:txBody>
      </p:sp>
      <p:sp>
        <p:nvSpPr>
          <p:cNvPr id="502" name=""/>
          <p:cNvSpPr txBox="1"/>
          <p:nvPr/>
        </p:nvSpPr>
        <p:spPr>
          <a:xfrm>
            <a:off x="6091920" y="6125400"/>
            <a:ext cx="2021760" cy="169560"/>
          </a:xfrm>
          <a:prstGeom prst="rect">
            <a:avLst/>
          </a:prstGeom>
          <a:noFill/>
          <a:ln w="0">
            <a:noFill/>
          </a:ln>
        </p:spPr>
        <p:txBody>
          <a:bodyPr wrap="none" lIns="0" rIns="0" tIns="0" bIns="0" anchor="t">
            <a:spAutoFit/>
          </a:bodyPr>
          <a:p>
            <a:r>
              <a:rPr b="0" lang="en-US" sz="920" strike="noStrike" u="none">
                <a:solidFill>
                  <a:srgbClr val="374151"/>
                </a:solidFill>
                <a:effectLst/>
                <a:uFillTx/>
                <a:latin typeface="NotoSansJP"/>
                <a:ea typeface="NotoSansJP"/>
              </a:rPr>
              <a:t>→ より高い周波数による指向性の向上</a:t>
            </a:r>
            <a:endParaRPr b="0" lang="en-US" sz="920" strike="noStrike" u="none">
              <a:solidFill>
                <a:srgbClr val="000000"/>
              </a:solidFill>
              <a:effectLst/>
              <a:uFillTx/>
              <a:latin typeface="Times New Roman"/>
            </a:endParaRPr>
          </a:p>
        </p:txBody>
      </p:sp>
      <p:sp>
        <p:nvSpPr>
          <p:cNvPr id="503" name=""/>
          <p:cNvSpPr/>
          <p:nvPr/>
        </p:nvSpPr>
        <p:spPr>
          <a:xfrm>
            <a:off x="421920" y="923400"/>
            <a:ext cx="9852840" cy="1663200"/>
          </a:xfrm>
          <a:custGeom>
            <a:avLst/>
            <a:gdLst/>
            <a:ahLst/>
            <a:rect l="0" t="0" r="r" b="b"/>
            <a:pathLst>
              <a:path w="27369" h="4620">
                <a:moveTo>
                  <a:pt x="0" y="4399"/>
                </a:moveTo>
                <a:lnTo>
                  <a:pt x="0" y="220"/>
                </a:lnTo>
                <a:cubicBezTo>
                  <a:pt x="0" y="206"/>
                  <a:pt x="1" y="191"/>
                  <a:pt x="4" y="177"/>
                </a:cubicBezTo>
                <a:cubicBezTo>
                  <a:pt x="7" y="163"/>
                  <a:pt x="11" y="149"/>
                  <a:pt x="17" y="136"/>
                </a:cubicBezTo>
                <a:cubicBezTo>
                  <a:pt x="22" y="122"/>
                  <a:pt x="29" y="110"/>
                  <a:pt x="37" y="98"/>
                </a:cubicBezTo>
                <a:cubicBezTo>
                  <a:pt x="45" y="86"/>
                  <a:pt x="54" y="74"/>
                  <a:pt x="64" y="64"/>
                </a:cubicBezTo>
                <a:cubicBezTo>
                  <a:pt x="75" y="54"/>
                  <a:pt x="86" y="45"/>
                  <a:pt x="98" y="37"/>
                </a:cubicBezTo>
                <a:cubicBezTo>
                  <a:pt x="110" y="29"/>
                  <a:pt x="123" y="22"/>
                  <a:pt x="136" y="16"/>
                </a:cubicBezTo>
                <a:cubicBezTo>
                  <a:pt x="149" y="11"/>
                  <a:pt x="163" y="7"/>
                  <a:pt x="177" y="4"/>
                </a:cubicBezTo>
                <a:cubicBezTo>
                  <a:pt x="191" y="1"/>
                  <a:pt x="206" y="0"/>
                  <a:pt x="220" y="0"/>
                </a:cubicBezTo>
                <a:lnTo>
                  <a:pt x="27148" y="0"/>
                </a:lnTo>
                <a:cubicBezTo>
                  <a:pt x="27163" y="0"/>
                  <a:pt x="27177" y="1"/>
                  <a:pt x="27191" y="4"/>
                </a:cubicBezTo>
                <a:cubicBezTo>
                  <a:pt x="27206" y="7"/>
                  <a:pt x="27219" y="11"/>
                  <a:pt x="27233" y="16"/>
                </a:cubicBezTo>
                <a:cubicBezTo>
                  <a:pt x="27246" y="22"/>
                  <a:pt x="27259" y="29"/>
                  <a:pt x="27271" y="37"/>
                </a:cubicBezTo>
                <a:cubicBezTo>
                  <a:pt x="27283" y="45"/>
                  <a:pt x="27294" y="54"/>
                  <a:pt x="27304" y="64"/>
                </a:cubicBezTo>
                <a:cubicBezTo>
                  <a:pt x="27315" y="74"/>
                  <a:pt x="27324" y="86"/>
                  <a:pt x="27332" y="98"/>
                </a:cubicBezTo>
                <a:cubicBezTo>
                  <a:pt x="27340" y="110"/>
                  <a:pt x="27347" y="122"/>
                  <a:pt x="27352" y="136"/>
                </a:cubicBezTo>
                <a:cubicBezTo>
                  <a:pt x="27358" y="149"/>
                  <a:pt x="27362" y="163"/>
                  <a:pt x="27365" y="177"/>
                </a:cubicBezTo>
                <a:cubicBezTo>
                  <a:pt x="27368" y="191"/>
                  <a:pt x="27369" y="206"/>
                  <a:pt x="27369" y="220"/>
                </a:cubicBezTo>
                <a:lnTo>
                  <a:pt x="27369" y="4399"/>
                </a:lnTo>
                <a:cubicBezTo>
                  <a:pt x="27369" y="4414"/>
                  <a:pt x="27368" y="4428"/>
                  <a:pt x="27365" y="4442"/>
                </a:cubicBezTo>
                <a:cubicBezTo>
                  <a:pt x="27362" y="4457"/>
                  <a:pt x="27358" y="4470"/>
                  <a:pt x="27352" y="4484"/>
                </a:cubicBezTo>
                <a:cubicBezTo>
                  <a:pt x="27347" y="4497"/>
                  <a:pt x="27340" y="4510"/>
                  <a:pt x="27332" y="4522"/>
                </a:cubicBezTo>
                <a:cubicBezTo>
                  <a:pt x="27324" y="4534"/>
                  <a:pt x="27315" y="4545"/>
                  <a:pt x="27304" y="4555"/>
                </a:cubicBezTo>
                <a:cubicBezTo>
                  <a:pt x="27294" y="4566"/>
                  <a:pt x="27283" y="4575"/>
                  <a:pt x="27271" y="4583"/>
                </a:cubicBezTo>
                <a:cubicBezTo>
                  <a:pt x="27259" y="4591"/>
                  <a:pt x="27246" y="4598"/>
                  <a:pt x="27233" y="4603"/>
                </a:cubicBezTo>
                <a:cubicBezTo>
                  <a:pt x="27219" y="4609"/>
                  <a:pt x="27206" y="4613"/>
                  <a:pt x="27191" y="4616"/>
                </a:cubicBezTo>
                <a:cubicBezTo>
                  <a:pt x="27177" y="4619"/>
                  <a:pt x="27163" y="4620"/>
                  <a:pt x="27148" y="4620"/>
                </a:cubicBezTo>
                <a:lnTo>
                  <a:pt x="220" y="4620"/>
                </a:lnTo>
                <a:cubicBezTo>
                  <a:pt x="206" y="4620"/>
                  <a:pt x="191" y="4619"/>
                  <a:pt x="177" y="4616"/>
                </a:cubicBezTo>
                <a:cubicBezTo>
                  <a:pt x="163" y="4613"/>
                  <a:pt x="149" y="4609"/>
                  <a:pt x="136" y="4603"/>
                </a:cubicBezTo>
                <a:cubicBezTo>
                  <a:pt x="123" y="4598"/>
                  <a:pt x="110" y="4591"/>
                  <a:pt x="98" y="4583"/>
                </a:cubicBezTo>
                <a:cubicBezTo>
                  <a:pt x="86" y="4575"/>
                  <a:pt x="75" y="4566"/>
                  <a:pt x="64" y="4555"/>
                </a:cubicBezTo>
                <a:cubicBezTo>
                  <a:pt x="54" y="4545"/>
                  <a:pt x="45" y="4534"/>
                  <a:pt x="37" y="4522"/>
                </a:cubicBezTo>
                <a:cubicBezTo>
                  <a:pt x="29" y="4510"/>
                  <a:pt x="22" y="4497"/>
                  <a:pt x="17" y="4484"/>
                </a:cubicBezTo>
                <a:cubicBezTo>
                  <a:pt x="11" y="4470"/>
                  <a:pt x="7" y="4457"/>
                  <a:pt x="4" y="4442"/>
                </a:cubicBezTo>
                <a:cubicBezTo>
                  <a:pt x="1" y="4428"/>
                  <a:pt x="0" y="4414"/>
                  <a:pt x="0" y="4399"/>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4" name=""/>
          <p:cNvSpPr/>
          <p:nvPr/>
        </p:nvSpPr>
        <p:spPr>
          <a:xfrm>
            <a:off x="421920" y="923400"/>
            <a:ext cx="9852840" cy="1663200"/>
          </a:xfrm>
          <a:custGeom>
            <a:avLst/>
            <a:gdLst/>
            <a:ahLst/>
            <a:rect l="0" t="0" r="r" b="b"/>
            <a:pathLst>
              <a:path fill="none" w="27369" h="4620">
                <a:moveTo>
                  <a:pt x="0" y="4399"/>
                </a:moveTo>
                <a:lnTo>
                  <a:pt x="0" y="220"/>
                </a:lnTo>
                <a:cubicBezTo>
                  <a:pt x="0" y="206"/>
                  <a:pt x="1" y="191"/>
                  <a:pt x="4" y="177"/>
                </a:cubicBezTo>
                <a:cubicBezTo>
                  <a:pt x="7" y="163"/>
                  <a:pt x="11" y="149"/>
                  <a:pt x="17" y="136"/>
                </a:cubicBezTo>
                <a:cubicBezTo>
                  <a:pt x="22" y="122"/>
                  <a:pt x="29" y="110"/>
                  <a:pt x="37" y="98"/>
                </a:cubicBezTo>
                <a:cubicBezTo>
                  <a:pt x="45" y="86"/>
                  <a:pt x="54" y="74"/>
                  <a:pt x="64" y="64"/>
                </a:cubicBezTo>
                <a:cubicBezTo>
                  <a:pt x="75" y="54"/>
                  <a:pt x="86" y="45"/>
                  <a:pt x="98" y="37"/>
                </a:cubicBezTo>
                <a:cubicBezTo>
                  <a:pt x="110" y="29"/>
                  <a:pt x="123" y="22"/>
                  <a:pt x="136" y="16"/>
                </a:cubicBezTo>
                <a:cubicBezTo>
                  <a:pt x="149" y="11"/>
                  <a:pt x="163" y="7"/>
                  <a:pt x="177" y="4"/>
                </a:cubicBezTo>
                <a:cubicBezTo>
                  <a:pt x="191" y="1"/>
                  <a:pt x="206" y="0"/>
                  <a:pt x="220" y="0"/>
                </a:cubicBezTo>
                <a:lnTo>
                  <a:pt x="27148" y="0"/>
                </a:lnTo>
                <a:cubicBezTo>
                  <a:pt x="27163" y="0"/>
                  <a:pt x="27177" y="1"/>
                  <a:pt x="27191" y="4"/>
                </a:cubicBezTo>
                <a:cubicBezTo>
                  <a:pt x="27206" y="7"/>
                  <a:pt x="27219" y="11"/>
                  <a:pt x="27233" y="16"/>
                </a:cubicBezTo>
                <a:cubicBezTo>
                  <a:pt x="27246" y="22"/>
                  <a:pt x="27259" y="29"/>
                  <a:pt x="27271" y="37"/>
                </a:cubicBezTo>
                <a:cubicBezTo>
                  <a:pt x="27283" y="45"/>
                  <a:pt x="27294" y="54"/>
                  <a:pt x="27304" y="64"/>
                </a:cubicBezTo>
                <a:cubicBezTo>
                  <a:pt x="27315" y="74"/>
                  <a:pt x="27324" y="86"/>
                  <a:pt x="27332" y="98"/>
                </a:cubicBezTo>
                <a:cubicBezTo>
                  <a:pt x="27340" y="110"/>
                  <a:pt x="27347" y="122"/>
                  <a:pt x="27352" y="136"/>
                </a:cubicBezTo>
                <a:cubicBezTo>
                  <a:pt x="27358" y="149"/>
                  <a:pt x="27362" y="163"/>
                  <a:pt x="27365" y="177"/>
                </a:cubicBezTo>
                <a:cubicBezTo>
                  <a:pt x="27368" y="191"/>
                  <a:pt x="27369" y="206"/>
                  <a:pt x="27369" y="220"/>
                </a:cubicBezTo>
                <a:lnTo>
                  <a:pt x="27369" y="4399"/>
                </a:lnTo>
                <a:cubicBezTo>
                  <a:pt x="27369" y="4414"/>
                  <a:pt x="27368" y="4428"/>
                  <a:pt x="27365" y="4442"/>
                </a:cubicBezTo>
                <a:cubicBezTo>
                  <a:pt x="27362" y="4457"/>
                  <a:pt x="27358" y="4470"/>
                  <a:pt x="27352" y="4484"/>
                </a:cubicBezTo>
                <a:cubicBezTo>
                  <a:pt x="27347" y="4497"/>
                  <a:pt x="27340" y="4510"/>
                  <a:pt x="27332" y="4522"/>
                </a:cubicBezTo>
                <a:cubicBezTo>
                  <a:pt x="27324" y="4534"/>
                  <a:pt x="27315" y="4545"/>
                  <a:pt x="27304" y="4555"/>
                </a:cubicBezTo>
                <a:cubicBezTo>
                  <a:pt x="27294" y="4566"/>
                  <a:pt x="27283" y="4575"/>
                  <a:pt x="27271" y="4583"/>
                </a:cubicBezTo>
                <a:cubicBezTo>
                  <a:pt x="27259" y="4591"/>
                  <a:pt x="27246" y="4598"/>
                  <a:pt x="27233" y="4603"/>
                </a:cubicBezTo>
                <a:cubicBezTo>
                  <a:pt x="27219" y="4609"/>
                  <a:pt x="27206" y="4613"/>
                  <a:pt x="27191" y="4616"/>
                </a:cubicBezTo>
                <a:cubicBezTo>
                  <a:pt x="27177" y="4619"/>
                  <a:pt x="27163" y="4620"/>
                  <a:pt x="27148" y="4620"/>
                </a:cubicBezTo>
                <a:lnTo>
                  <a:pt x="220" y="4620"/>
                </a:lnTo>
                <a:cubicBezTo>
                  <a:pt x="206" y="4620"/>
                  <a:pt x="191" y="4619"/>
                  <a:pt x="177" y="4616"/>
                </a:cubicBezTo>
                <a:cubicBezTo>
                  <a:pt x="163" y="4613"/>
                  <a:pt x="149" y="4609"/>
                  <a:pt x="136" y="4603"/>
                </a:cubicBezTo>
                <a:cubicBezTo>
                  <a:pt x="123" y="4598"/>
                  <a:pt x="110" y="4591"/>
                  <a:pt x="98" y="4583"/>
                </a:cubicBezTo>
                <a:cubicBezTo>
                  <a:pt x="86" y="4575"/>
                  <a:pt x="75" y="4566"/>
                  <a:pt x="64" y="4555"/>
                </a:cubicBezTo>
                <a:cubicBezTo>
                  <a:pt x="54" y="4545"/>
                  <a:pt x="45" y="4534"/>
                  <a:pt x="37" y="4522"/>
                </a:cubicBezTo>
                <a:cubicBezTo>
                  <a:pt x="29" y="4510"/>
                  <a:pt x="22" y="4497"/>
                  <a:pt x="17" y="4484"/>
                </a:cubicBezTo>
                <a:cubicBezTo>
                  <a:pt x="11" y="4470"/>
                  <a:pt x="7" y="4457"/>
                  <a:pt x="4" y="4442"/>
                </a:cubicBezTo>
                <a:cubicBezTo>
                  <a:pt x="1" y="4428"/>
                  <a:pt x="0" y="4414"/>
                  <a:pt x="0" y="4399"/>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505" name="" descr=""/>
          <p:cNvPicPr/>
          <p:nvPr/>
        </p:nvPicPr>
        <p:blipFill>
          <a:blip r:embed="rId14"/>
          <a:stretch/>
        </p:blipFill>
        <p:spPr>
          <a:xfrm>
            <a:off x="1103040" y="1529280"/>
            <a:ext cx="250200" cy="250200"/>
          </a:xfrm>
          <a:prstGeom prst="rect">
            <a:avLst/>
          </a:prstGeom>
          <a:noFill/>
          <a:ln w="0">
            <a:noFill/>
          </a:ln>
        </p:spPr>
      </p:pic>
      <p:sp>
        <p:nvSpPr>
          <p:cNvPr id="506" name=""/>
          <p:cNvSpPr txBox="1"/>
          <p:nvPr/>
        </p:nvSpPr>
        <p:spPr>
          <a:xfrm>
            <a:off x="6091920" y="6292800"/>
            <a:ext cx="2021760" cy="169560"/>
          </a:xfrm>
          <a:prstGeom prst="rect">
            <a:avLst/>
          </a:prstGeom>
          <a:noFill/>
          <a:ln w="0">
            <a:noFill/>
          </a:ln>
        </p:spPr>
        <p:txBody>
          <a:bodyPr wrap="none" lIns="0" rIns="0" tIns="0" bIns="0" anchor="t">
            <a:spAutoFit/>
          </a:bodyPr>
          <a:p>
            <a:r>
              <a:rPr b="0" lang="en-US" sz="920" strike="noStrike" u="none">
                <a:solidFill>
                  <a:srgbClr val="374151"/>
                </a:solidFill>
                <a:effectLst/>
                <a:uFillTx/>
                <a:latin typeface="NotoSansJP"/>
                <a:ea typeface="NotoSansJP"/>
              </a:rPr>
              <a:t>→ より狭いオーディオスポットの形成</a:t>
            </a:r>
            <a:endParaRPr b="0" lang="en-US" sz="920" strike="noStrike" u="none">
              <a:solidFill>
                <a:srgbClr val="000000"/>
              </a:solidFill>
              <a:effectLst/>
              <a:uFillTx/>
              <a:latin typeface="Times New Roman"/>
            </a:endParaRPr>
          </a:p>
        </p:txBody>
      </p:sp>
      <p:sp>
        <p:nvSpPr>
          <p:cNvPr id="507" name=""/>
          <p:cNvSpPr txBox="1"/>
          <p:nvPr/>
        </p:nvSpPr>
        <p:spPr>
          <a:xfrm>
            <a:off x="760320" y="1838520"/>
            <a:ext cx="9396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スピーカユニット</a:t>
            </a:r>
            <a:endParaRPr b="0" lang="en-US" sz="920" strike="noStrike" u="none">
              <a:solidFill>
                <a:srgbClr val="000000"/>
              </a:solidFill>
              <a:effectLst/>
              <a:uFillTx/>
              <a:latin typeface="Times New Roman"/>
            </a:endParaRPr>
          </a:p>
        </p:txBody>
      </p:sp>
      <p:pic>
        <p:nvPicPr>
          <p:cNvPr id="508" name="" descr=""/>
          <p:cNvPicPr/>
          <p:nvPr/>
        </p:nvPicPr>
        <p:blipFill>
          <a:blip r:embed="rId15"/>
          <a:stretch/>
        </p:blipFill>
        <p:spPr>
          <a:xfrm>
            <a:off x="7462440" y="351000"/>
            <a:ext cx="2005200" cy="801720"/>
          </a:xfrm>
          <a:prstGeom prst="rect">
            <a:avLst/>
          </a:prstGeom>
          <a:noFill/>
          <a:ln w="0">
            <a:noFill/>
          </a:ln>
        </p:spPr>
      </p:pic>
      <p:sp>
        <p:nvSpPr>
          <p:cNvPr id="509" name=""/>
          <p:cNvSpPr txBox="1"/>
          <p:nvPr/>
        </p:nvSpPr>
        <p:spPr>
          <a:xfrm>
            <a:off x="1311840" y="1813320"/>
            <a:ext cx="11743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近距離：</a:t>
            </a:r>
            <a:r>
              <a:rPr b="0" lang="zh-CN" sz="920" strike="noStrike" u="none">
                <a:solidFill>
                  <a:srgbClr val="ef4444"/>
                </a:solidFill>
                <a:effectLst/>
                <a:uFillTx/>
                <a:latin typeface="NotoSansJP"/>
                <a:ea typeface="NotoSansJP"/>
              </a:rPr>
              <a:t>全方向に拡散</a:t>
            </a:r>
            <a:endParaRPr b="0" lang="en-US" sz="920" strike="noStrike" u="none">
              <a:solidFill>
                <a:srgbClr val="000000"/>
              </a:solidFill>
              <a:effectLst/>
              <a:uFillTx/>
              <a:latin typeface="Times New Roman"/>
            </a:endParaRPr>
          </a:p>
        </p:txBody>
      </p:sp>
      <p:sp>
        <p:nvSpPr>
          <p:cNvPr id="510" name=""/>
          <p:cNvSpPr/>
          <p:nvPr/>
        </p:nvSpPr>
        <p:spPr>
          <a:xfrm>
            <a:off x="760320" y="2264400"/>
            <a:ext cx="9176040" cy="17280"/>
          </a:xfrm>
          <a:custGeom>
            <a:avLst/>
            <a:gdLst/>
            <a:ahLst/>
            <a:rect l="0" t="0" r="r" b="b"/>
            <a:pathLst>
              <a:path w="25489" h="48">
                <a:moveTo>
                  <a:pt x="0" y="0"/>
                </a:moveTo>
                <a:lnTo>
                  <a:pt x="25489" y="0"/>
                </a:lnTo>
                <a:lnTo>
                  <a:pt x="25489" y="48"/>
                </a:lnTo>
                <a:lnTo>
                  <a:pt x="0" y="48"/>
                </a:lnTo>
                <a:lnTo>
                  <a:pt x="0" y="0"/>
                </a:lnTo>
                <a:close/>
              </a:path>
            </a:pathLst>
          </a:custGeom>
          <a:solidFill>
            <a:srgbClr val="d1d5d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1" name=""/>
          <p:cNvSpPr txBox="1"/>
          <p:nvPr/>
        </p:nvSpPr>
        <p:spPr>
          <a:xfrm>
            <a:off x="7880400" y="1612800"/>
            <a:ext cx="11743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遠距離：</a:t>
            </a:r>
            <a:r>
              <a:rPr b="0" lang="zh-CN" sz="920" strike="noStrike" u="none">
                <a:solidFill>
                  <a:srgbClr val="10b981"/>
                </a:solidFill>
                <a:effectLst/>
                <a:uFillTx/>
                <a:latin typeface="NotoSansJP"/>
                <a:ea typeface="NotoSansJP"/>
              </a:rPr>
              <a:t>指向性を形成</a:t>
            </a:r>
            <a:endParaRPr b="0" lang="en-US" sz="920" strike="noStrike" u="none">
              <a:solidFill>
                <a:srgbClr val="000000"/>
              </a:solidFill>
              <a:effectLst/>
              <a:uFillTx/>
              <a:latin typeface="Times New Roman"/>
            </a:endParaRPr>
          </a:p>
        </p:txBody>
      </p:sp>
      <p:sp>
        <p:nvSpPr>
          <p:cNvPr id="512" name=""/>
          <p:cNvSpPr txBox="1"/>
          <p:nvPr/>
        </p:nvSpPr>
        <p:spPr>
          <a:xfrm>
            <a:off x="760320" y="2330280"/>
            <a:ext cx="16272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0m</a:t>
            </a:r>
            <a:endParaRPr b="0" lang="en-US" sz="790" strike="noStrike" u="none">
              <a:solidFill>
                <a:srgbClr val="000000"/>
              </a:solidFill>
              <a:effectLst/>
              <a:uFillTx/>
              <a:latin typeface="Times New Roman"/>
            </a:endParaRPr>
          </a:p>
        </p:txBody>
      </p:sp>
      <p:sp>
        <p:nvSpPr>
          <p:cNvPr id="513" name=""/>
          <p:cNvSpPr txBox="1"/>
          <p:nvPr/>
        </p:nvSpPr>
        <p:spPr>
          <a:xfrm>
            <a:off x="5189400" y="2330280"/>
            <a:ext cx="201960" cy="146520"/>
          </a:xfrm>
          <a:prstGeom prst="rect">
            <a:avLst/>
          </a:prstGeom>
          <a:noFill/>
          <a:ln w="0">
            <a:noFill/>
          </a:ln>
        </p:spPr>
        <p:txBody>
          <a:bodyPr wrap="none" lIns="0" rIns="0" tIns="0" bIns="0" anchor="t">
            <a:spAutoFit/>
          </a:bodyPr>
          <a:p>
            <a:r>
              <a:rPr b="0" lang="zh-CN" sz="790" strike="noStrike" u="none">
                <a:solidFill>
                  <a:srgbClr val="6b7280"/>
                </a:solidFill>
                <a:effectLst/>
                <a:uFillTx/>
                <a:latin typeface="NotoSansJP"/>
                <a:ea typeface="NotoSansJP"/>
              </a:rPr>
              <a:t>距離</a:t>
            </a:r>
            <a:endParaRPr b="0" lang="en-US" sz="790" strike="noStrike" u="none">
              <a:solidFill>
                <a:srgbClr val="000000"/>
              </a:solidFill>
              <a:effectLst/>
              <a:uFillTx/>
              <a:latin typeface="Times New Roman"/>
            </a:endParaRPr>
          </a:p>
        </p:txBody>
      </p:sp>
      <p:sp>
        <p:nvSpPr>
          <p:cNvPr id="514" name=""/>
          <p:cNvSpPr txBox="1"/>
          <p:nvPr/>
        </p:nvSpPr>
        <p:spPr>
          <a:xfrm>
            <a:off x="9668880" y="2330280"/>
            <a:ext cx="290520" cy="117720"/>
          </a:xfrm>
          <a:prstGeom prst="rect">
            <a:avLst/>
          </a:prstGeom>
          <a:noFill/>
          <a:ln w="0">
            <a:noFill/>
          </a:ln>
        </p:spPr>
        <p:txBody>
          <a:bodyPr wrap="none" lIns="0" rIns="0" tIns="0" bIns="0" anchor="t">
            <a:spAutoFit/>
          </a:bodyPr>
          <a:p>
            <a:r>
              <a:rPr b="0" lang="en-US" sz="790" strike="noStrike" u="none">
                <a:solidFill>
                  <a:srgbClr val="6b7280"/>
                </a:solidFill>
                <a:effectLst/>
                <a:uFillTx/>
                <a:latin typeface="NotoSansJP"/>
                <a:ea typeface="NotoSansJP"/>
              </a:rPr>
              <a:t>200m</a:t>
            </a:r>
            <a:endParaRPr b="0" lang="en-US" sz="79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
          <p:cNvSpPr/>
          <p:nvPr/>
        </p:nvSpPr>
        <p:spPr>
          <a:xfrm>
            <a:off x="0" y="0"/>
            <a:ext cx="10696680" cy="7379280"/>
          </a:xfrm>
          <a:custGeom>
            <a:avLst/>
            <a:gdLst/>
            <a:ahLst/>
            <a:rect l="0" t="0" r="r" b="b"/>
            <a:pathLst>
              <a:path w="29713" h="20498">
                <a:moveTo>
                  <a:pt x="0" y="0"/>
                </a:moveTo>
                <a:lnTo>
                  <a:pt x="29713" y="0"/>
                </a:lnTo>
                <a:lnTo>
                  <a:pt x="29713" y="20498"/>
                </a:lnTo>
                <a:lnTo>
                  <a:pt x="0" y="20498"/>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16" name="" descr=""/>
          <p:cNvPicPr/>
          <p:nvPr/>
        </p:nvPicPr>
        <p:blipFill>
          <a:blip r:embed="rId1"/>
          <a:stretch/>
        </p:blipFill>
        <p:spPr>
          <a:xfrm>
            <a:off x="0" y="0"/>
            <a:ext cx="10696320" cy="668160"/>
          </a:xfrm>
          <a:prstGeom prst="rect">
            <a:avLst/>
          </a:prstGeom>
          <a:noFill/>
          <a:ln w="0">
            <a:noFill/>
          </a:ln>
        </p:spPr>
      </p:pic>
      <p:sp>
        <p:nvSpPr>
          <p:cNvPr id="517" name=""/>
          <p:cNvSpPr/>
          <p:nvPr/>
        </p:nvSpPr>
        <p:spPr>
          <a:xfrm>
            <a:off x="334080" y="6175440"/>
            <a:ext cx="10028520" cy="1036440"/>
          </a:xfrm>
          <a:custGeom>
            <a:avLst/>
            <a:gdLst/>
            <a:ahLst/>
            <a:rect l="0" t="0" r="r" b="b"/>
            <a:pathLst>
              <a:path w="27857" h="2879">
                <a:moveTo>
                  <a:pt x="0" y="2694"/>
                </a:moveTo>
                <a:lnTo>
                  <a:pt x="0" y="186"/>
                </a:lnTo>
                <a:cubicBezTo>
                  <a:pt x="0" y="173"/>
                  <a:pt x="1" y="161"/>
                  <a:pt x="4" y="149"/>
                </a:cubicBezTo>
                <a:cubicBezTo>
                  <a:pt x="6" y="137"/>
                  <a:pt x="9" y="126"/>
                  <a:pt x="14" y="115"/>
                </a:cubicBezTo>
                <a:cubicBezTo>
                  <a:pt x="19" y="103"/>
                  <a:pt x="25" y="93"/>
                  <a:pt x="31" y="82"/>
                </a:cubicBezTo>
                <a:cubicBezTo>
                  <a:pt x="38" y="72"/>
                  <a:pt x="46" y="63"/>
                  <a:pt x="54" y="54"/>
                </a:cubicBezTo>
                <a:cubicBezTo>
                  <a:pt x="63" y="46"/>
                  <a:pt x="72" y="38"/>
                  <a:pt x="83" y="31"/>
                </a:cubicBezTo>
                <a:cubicBezTo>
                  <a:pt x="93" y="24"/>
                  <a:pt x="103" y="19"/>
                  <a:pt x="115" y="14"/>
                </a:cubicBezTo>
                <a:cubicBezTo>
                  <a:pt x="126" y="9"/>
                  <a:pt x="138" y="6"/>
                  <a:pt x="149" y="4"/>
                </a:cubicBezTo>
                <a:cubicBezTo>
                  <a:pt x="161" y="1"/>
                  <a:pt x="174" y="0"/>
                  <a:pt x="186" y="0"/>
                </a:cubicBezTo>
                <a:lnTo>
                  <a:pt x="27671" y="0"/>
                </a:lnTo>
                <a:cubicBezTo>
                  <a:pt x="27683" y="0"/>
                  <a:pt x="27695" y="1"/>
                  <a:pt x="27707" y="4"/>
                </a:cubicBezTo>
                <a:cubicBezTo>
                  <a:pt x="27719" y="6"/>
                  <a:pt x="27731" y="9"/>
                  <a:pt x="27742" y="14"/>
                </a:cubicBezTo>
                <a:cubicBezTo>
                  <a:pt x="27753" y="19"/>
                  <a:pt x="27764" y="24"/>
                  <a:pt x="27774" y="31"/>
                </a:cubicBezTo>
                <a:cubicBezTo>
                  <a:pt x="27784" y="38"/>
                  <a:pt x="27794" y="46"/>
                  <a:pt x="27802" y="54"/>
                </a:cubicBezTo>
                <a:cubicBezTo>
                  <a:pt x="27811" y="63"/>
                  <a:pt x="27819" y="72"/>
                  <a:pt x="27825" y="82"/>
                </a:cubicBezTo>
                <a:cubicBezTo>
                  <a:pt x="27832" y="93"/>
                  <a:pt x="27838" y="103"/>
                  <a:pt x="27843" y="115"/>
                </a:cubicBezTo>
                <a:cubicBezTo>
                  <a:pt x="27847" y="126"/>
                  <a:pt x="27851" y="137"/>
                  <a:pt x="27853" y="149"/>
                </a:cubicBezTo>
                <a:cubicBezTo>
                  <a:pt x="27855" y="161"/>
                  <a:pt x="27857" y="173"/>
                  <a:pt x="27857" y="186"/>
                </a:cubicBezTo>
                <a:lnTo>
                  <a:pt x="27857" y="2694"/>
                </a:lnTo>
                <a:cubicBezTo>
                  <a:pt x="27857" y="2706"/>
                  <a:pt x="27855" y="2718"/>
                  <a:pt x="27853" y="2730"/>
                </a:cubicBezTo>
                <a:cubicBezTo>
                  <a:pt x="27851" y="2742"/>
                  <a:pt x="27847" y="2753"/>
                  <a:pt x="27843" y="2765"/>
                </a:cubicBezTo>
                <a:cubicBezTo>
                  <a:pt x="27838" y="2776"/>
                  <a:pt x="27832" y="2787"/>
                  <a:pt x="27825" y="2797"/>
                </a:cubicBezTo>
                <a:cubicBezTo>
                  <a:pt x="27819" y="2807"/>
                  <a:pt x="27811" y="2816"/>
                  <a:pt x="27802" y="2825"/>
                </a:cubicBezTo>
                <a:cubicBezTo>
                  <a:pt x="27794" y="2834"/>
                  <a:pt x="27784" y="2841"/>
                  <a:pt x="27774" y="2848"/>
                </a:cubicBezTo>
                <a:cubicBezTo>
                  <a:pt x="27764" y="2855"/>
                  <a:pt x="27753" y="2861"/>
                  <a:pt x="27742" y="2865"/>
                </a:cubicBezTo>
                <a:cubicBezTo>
                  <a:pt x="27731" y="2870"/>
                  <a:pt x="27719" y="2873"/>
                  <a:pt x="27707" y="2876"/>
                </a:cubicBezTo>
                <a:cubicBezTo>
                  <a:pt x="27695" y="2878"/>
                  <a:pt x="27683" y="2879"/>
                  <a:pt x="27671" y="2879"/>
                </a:cubicBezTo>
                <a:lnTo>
                  <a:pt x="186" y="2879"/>
                </a:lnTo>
                <a:cubicBezTo>
                  <a:pt x="174" y="2879"/>
                  <a:pt x="161" y="2878"/>
                  <a:pt x="149" y="2876"/>
                </a:cubicBezTo>
                <a:cubicBezTo>
                  <a:pt x="138" y="2873"/>
                  <a:pt x="126" y="2870"/>
                  <a:pt x="115" y="2865"/>
                </a:cubicBezTo>
                <a:cubicBezTo>
                  <a:pt x="103" y="2861"/>
                  <a:pt x="93" y="2855"/>
                  <a:pt x="83" y="2848"/>
                </a:cubicBezTo>
                <a:cubicBezTo>
                  <a:pt x="72" y="2841"/>
                  <a:pt x="63" y="2834"/>
                  <a:pt x="54" y="2825"/>
                </a:cubicBezTo>
                <a:cubicBezTo>
                  <a:pt x="46" y="2816"/>
                  <a:pt x="38" y="2807"/>
                  <a:pt x="31" y="2797"/>
                </a:cubicBezTo>
                <a:cubicBezTo>
                  <a:pt x="25" y="2787"/>
                  <a:pt x="19" y="2776"/>
                  <a:pt x="14" y="2765"/>
                </a:cubicBezTo>
                <a:cubicBezTo>
                  <a:pt x="9" y="2753"/>
                  <a:pt x="6" y="2742"/>
                  <a:pt x="4" y="2730"/>
                </a:cubicBezTo>
                <a:cubicBezTo>
                  <a:pt x="1" y="2718"/>
                  <a:pt x="0" y="2706"/>
                  <a:pt x="0" y="2694"/>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8" name=""/>
          <p:cNvSpPr/>
          <p:nvPr/>
        </p:nvSpPr>
        <p:spPr>
          <a:xfrm>
            <a:off x="338400" y="2970720"/>
            <a:ext cx="4805280" cy="1897200"/>
          </a:xfrm>
          <a:custGeom>
            <a:avLst/>
            <a:gdLst/>
            <a:ahLst/>
            <a:rect l="0" t="0" r="r" b="b"/>
            <a:pathLst>
              <a:path w="13348" h="5270">
                <a:moveTo>
                  <a:pt x="0" y="5050"/>
                </a:moveTo>
                <a:lnTo>
                  <a:pt x="0" y="220"/>
                </a:lnTo>
                <a:cubicBezTo>
                  <a:pt x="0" y="206"/>
                  <a:pt x="1" y="191"/>
                  <a:pt x="4" y="177"/>
                </a:cubicBezTo>
                <a:cubicBezTo>
                  <a:pt x="7" y="163"/>
                  <a:pt x="11" y="149"/>
                  <a:pt x="16" y="136"/>
                </a:cubicBezTo>
                <a:cubicBezTo>
                  <a:pt x="22" y="122"/>
                  <a:pt x="29" y="110"/>
                  <a:pt x="37" y="98"/>
                </a:cubicBezTo>
                <a:cubicBezTo>
                  <a:pt x="45" y="86"/>
                  <a:pt x="54" y="75"/>
                  <a:pt x="64" y="64"/>
                </a:cubicBezTo>
                <a:cubicBezTo>
                  <a:pt x="74" y="54"/>
                  <a:pt x="86" y="45"/>
                  <a:pt x="98" y="37"/>
                </a:cubicBezTo>
                <a:cubicBezTo>
                  <a:pt x="110" y="29"/>
                  <a:pt x="122" y="22"/>
                  <a:pt x="136" y="17"/>
                </a:cubicBezTo>
                <a:cubicBezTo>
                  <a:pt x="149" y="11"/>
                  <a:pt x="163" y="7"/>
                  <a:pt x="177" y="4"/>
                </a:cubicBezTo>
                <a:cubicBezTo>
                  <a:pt x="191" y="1"/>
                  <a:pt x="206" y="0"/>
                  <a:pt x="220" y="0"/>
                </a:cubicBezTo>
                <a:lnTo>
                  <a:pt x="13128" y="0"/>
                </a:lnTo>
                <a:cubicBezTo>
                  <a:pt x="13142" y="0"/>
                  <a:pt x="13156" y="1"/>
                  <a:pt x="13171" y="4"/>
                </a:cubicBezTo>
                <a:cubicBezTo>
                  <a:pt x="13185" y="7"/>
                  <a:pt x="13199" y="11"/>
                  <a:pt x="13212" y="17"/>
                </a:cubicBezTo>
                <a:cubicBezTo>
                  <a:pt x="13225" y="22"/>
                  <a:pt x="13238" y="29"/>
                  <a:pt x="13250" y="37"/>
                </a:cubicBezTo>
                <a:cubicBezTo>
                  <a:pt x="13262" y="45"/>
                  <a:pt x="13273" y="54"/>
                  <a:pt x="13284" y="64"/>
                </a:cubicBezTo>
                <a:cubicBezTo>
                  <a:pt x="13294" y="75"/>
                  <a:pt x="13303" y="86"/>
                  <a:pt x="13311" y="98"/>
                </a:cubicBezTo>
                <a:cubicBezTo>
                  <a:pt x="13319" y="110"/>
                  <a:pt x="13326" y="122"/>
                  <a:pt x="13331" y="136"/>
                </a:cubicBezTo>
                <a:cubicBezTo>
                  <a:pt x="13337" y="149"/>
                  <a:pt x="13341" y="163"/>
                  <a:pt x="13344" y="177"/>
                </a:cubicBezTo>
                <a:cubicBezTo>
                  <a:pt x="13347" y="191"/>
                  <a:pt x="13348" y="206"/>
                  <a:pt x="13348" y="220"/>
                </a:cubicBezTo>
                <a:lnTo>
                  <a:pt x="13348" y="5050"/>
                </a:lnTo>
                <a:cubicBezTo>
                  <a:pt x="13348" y="5064"/>
                  <a:pt x="13347" y="5078"/>
                  <a:pt x="13344" y="5093"/>
                </a:cubicBezTo>
                <a:cubicBezTo>
                  <a:pt x="13341" y="5107"/>
                  <a:pt x="13337" y="5121"/>
                  <a:pt x="13331" y="5134"/>
                </a:cubicBezTo>
                <a:cubicBezTo>
                  <a:pt x="13326" y="5147"/>
                  <a:pt x="13319" y="5160"/>
                  <a:pt x="13311" y="5172"/>
                </a:cubicBezTo>
                <a:cubicBezTo>
                  <a:pt x="13303" y="5184"/>
                  <a:pt x="13294" y="5195"/>
                  <a:pt x="13284" y="5206"/>
                </a:cubicBezTo>
                <a:cubicBezTo>
                  <a:pt x="13273" y="5216"/>
                  <a:pt x="13262" y="5225"/>
                  <a:pt x="13250" y="5233"/>
                </a:cubicBezTo>
                <a:cubicBezTo>
                  <a:pt x="13238" y="5241"/>
                  <a:pt x="13225" y="5248"/>
                  <a:pt x="13212" y="5253"/>
                </a:cubicBezTo>
                <a:cubicBezTo>
                  <a:pt x="13199" y="5259"/>
                  <a:pt x="13185" y="5263"/>
                  <a:pt x="13171" y="5266"/>
                </a:cubicBezTo>
                <a:cubicBezTo>
                  <a:pt x="13156" y="5269"/>
                  <a:pt x="13142" y="5270"/>
                  <a:pt x="13128" y="5270"/>
                </a:cubicBezTo>
                <a:lnTo>
                  <a:pt x="220" y="5270"/>
                </a:lnTo>
                <a:cubicBezTo>
                  <a:pt x="206" y="5270"/>
                  <a:pt x="191" y="5269"/>
                  <a:pt x="177" y="5266"/>
                </a:cubicBezTo>
                <a:cubicBezTo>
                  <a:pt x="163" y="5263"/>
                  <a:pt x="149" y="5259"/>
                  <a:pt x="136" y="5253"/>
                </a:cubicBezTo>
                <a:cubicBezTo>
                  <a:pt x="122" y="5248"/>
                  <a:pt x="110" y="5241"/>
                  <a:pt x="98" y="5233"/>
                </a:cubicBezTo>
                <a:cubicBezTo>
                  <a:pt x="86" y="5225"/>
                  <a:pt x="74" y="5216"/>
                  <a:pt x="64" y="5206"/>
                </a:cubicBezTo>
                <a:cubicBezTo>
                  <a:pt x="54" y="5195"/>
                  <a:pt x="45" y="5184"/>
                  <a:pt x="37" y="5172"/>
                </a:cubicBezTo>
                <a:cubicBezTo>
                  <a:pt x="29" y="5160"/>
                  <a:pt x="22" y="5147"/>
                  <a:pt x="16" y="5134"/>
                </a:cubicBezTo>
                <a:cubicBezTo>
                  <a:pt x="11" y="5121"/>
                  <a:pt x="7" y="5107"/>
                  <a:pt x="4" y="5093"/>
                </a:cubicBezTo>
                <a:cubicBezTo>
                  <a:pt x="1" y="5078"/>
                  <a:pt x="0" y="5064"/>
                  <a:pt x="0" y="5050"/>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9" name=""/>
          <p:cNvSpPr/>
          <p:nvPr/>
        </p:nvSpPr>
        <p:spPr>
          <a:xfrm>
            <a:off x="338400" y="2970720"/>
            <a:ext cx="4805280" cy="1897200"/>
          </a:xfrm>
          <a:custGeom>
            <a:avLst/>
            <a:gdLst/>
            <a:ahLst/>
            <a:rect l="0" t="0" r="r" b="b"/>
            <a:pathLst>
              <a:path fill="none" w="13348" h="5270">
                <a:moveTo>
                  <a:pt x="0" y="5050"/>
                </a:moveTo>
                <a:lnTo>
                  <a:pt x="0" y="220"/>
                </a:lnTo>
                <a:cubicBezTo>
                  <a:pt x="0" y="206"/>
                  <a:pt x="1" y="191"/>
                  <a:pt x="4" y="177"/>
                </a:cubicBezTo>
                <a:cubicBezTo>
                  <a:pt x="7" y="163"/>
                  <a:pt x="11" y="149"/>
                  <a:pt x="16" y="136"/>
                </a:cubicBezTo>
                <a:cubicBezTo>
                  <a:pt x="22" y="122"/>
                  <a:pt x="29" y="110"/>
                  <a:pt x="37" y="98"/>
                </a:cubicBezTo>
                <a:cubicBezTo>
                  <a:pt x="45" y="86"/>
                  <a:pt x="54" y="75"/>
                  <a:pt x="64" y="64"/>
                </a:cubicBezTo>
                <a:cubicBezTo>
                  <a:pt x="74" y="54"/>
                  <a:pt x="86" y="45"/>
                  <a:pt x="98" y="37"/>
                </a:cubicBezTo>
                <a:cubicBezTo>
                  <a:pt x="110" y="29"/>
                  <a:pt x="122" y="22"/>
                  <a:pt x="136" y="17"/>
                </a:cubicBezTo>
                <a:cubicBezTo>
                  <a:pt x="149" y="11"/>
                  <a:pt x="163" y="7"/>
                  <a:pt x="177" y="4"/>
                </a:cubicBezTo>
                <a:cubicBezTo>
                  <a:pt x="191" y="1"/>
                  <a:pt x="206" y="0"/>
                  <a:pt x="220" y="0"/>
                </a:cubicBezTo>
                <a:lnTo>
                  <a:pt x="13128" y="0"/>
                </a:lnTo>
                <a:cubicBezTo>
                  <a:pt x="13142" y="0"/>
                  <a:pt x="13156" y="1"/>
                  <a:pt x="13171" y="4"/>
                </a:cubicBezTo>
                <a:cubicBezTo>
                  <a:pt x="13185" y="7"/>
                  <a:pt x="13199" y="11"/>
                  <a:pt x="13212" y="17"/>
                </a:cubicBezTo>
                <a:cubicBezTo>
                  <a:pt x="13225" y="22"/>
                  <a:pt x="13238" y="29"/>
                  <a:pt x="13250" y="37"/>
                </a:cubicBezTo>
                <a:cubicBezTo>
                  <a:pt x="13262" y="45"/>
                  <a:pt x="13273" y="54"/>
                  <a:pt x="13284" y="64"/>
                </a:cubicBezTo>
                <a:cubicBezTo>
                  <a:pt x="13294" y="75"/>
                  <a:pt x="13303" y="86"/>
                  <a:pt x="13311" y="98"/>
                </a:cubicBezTo>
                <a:cubicBezTo>
                  <a:pt x="13319" y="110"/>
                  <a:pt x="13326" y="122"/>
                  <a:pt x="13331" y="136"/>
                </a:cubicBezTo>
                <a:cubicBezTo>
                  <a:pt x="13337" y="149"/>
                  <a:pt x="13341" y="163"/>
                  <a:pt x="13344" y="177"/>
                </a:cubicBezTo>
                <a:cubicBezTo>
                  <a:pt x="13347" y="191"/>
                  <a:pt x="13348" y="206"/>
                  <a:pt x="13348" y="220"/>
                </a:cubicBezTo>
                <a:lnTo>
                  <a:pt x="13348" y="5050"/>
                </a:lnTo>
                <a:cubicBezTo>
                  <a:pt x="13348" y="5064"/>
                  <a:pt x="13347" y="5078"/>
                  <a:pt x="13344" y="5093"/>
                </a:cubicBezTo>
                <a:cubicBezTo>
                  <a:pt x="13341" y="5107"/>
                  <a:pt x="13337" y="5121"/>
                  <a:pt x="13331" y="5134"/>
                </a:cubicBezTo>
                <a:cubicBezTo>
                  <a:pt x="13326" y="5147"/>
                  <a:pt x="13319" y="5160"/>
                  <a:pt x="13311" y="5172"/>
                </a:cubicBezTo>
                <a:cubicBezTo>
                  <a:pt x="13303" y="5184"/>
                  <a:pt x="13294" y="5195"/>
                  <a:pt x="13284" y="5206"/>
                </a:cubicBezTo>
                <a:cubicBezTo>
                  <a:pt x="13273" y="5216"/>
                  <a:pt x="13262" y="5225"/>
                  <a:pt x="13250" y="5233"/>
                </a:cubicBezTo>
                <a:cubicBezTo>
                  <a:pt x="13238" y="5241"/>
                  <a:pt x="13225" y="5248"/>
                  <a:pt x="13212" y="5253"/>
                </a:cubicBezTo>
                <a:cubicBezTo>
                  <a:pt x="13199" y="5259"/>
                  <a:pt x="13185" y="5263"/>
                  <a:pt x="13171" y="5266"/>
                </a:cubicBezTo>
                <a:cubicBezTo>
                  <a:pt x="13156" y="5269"/>
                  <a:pt x="13142" y="5270"/>
                  <a:pt x="13128" y="5270"/>
                </a:cubicBezTo>
                <a:lnTo>
                  <a:pt x="220" y="5270"/>
                </a:lnTo>
                <a:cubicBezTo>
                  <a:pt x="206" y="5270"/>
                  <a:pt x="191" y="5269"/>
                  <a:pt x="177" y="5266"/>
                </a:cubicBezTo>
                <a:cubicBezTo>
                  <a:pt x="163" y="5263"/>
                  <a:pt x="149" y="5259"/>
                  <a:pt x="136" y="5253"/>
                </a:cubicBezTo>
                <a:cubicBezTo>
                  <a:pt x="122" y="5248"/>
                  <a:pt x="110" y="5241"/>
                  <a:pt x="98" y="5233"/>
                </a:cubicBezTo>
                <a:cubicBezTo>
                  <a:pt x="86" y="5225"/>
                  <a:pt x="74" y="5216"/>
                  <a:pt x="64" y="5206"/>
                </a:cubicBezTo>
                <a:cubicBezTo>
                  <a:pt x="54" y="5195"/>
                  <a:pt x="45" y="5184"/>
                  <a:pt x="37" y="5172"/>
                </a:cubicBezTo>
                <a:cubicBezTo>
                  <a:pt x="29" y="5160"/>
                  <a:pt x="22" y="5147"/>
                  <a:pt x="16" y="5134"/>
                </a:cubicBezTo>
                <a:cubicBezTo>
                  <a:pt x="11" y="5121"/>
                  <a:pt x="7" y="5107"/>
                  <a:pt x="4" y="5093"/>
                </a:cubicBezTo>
                <a:cubicBezTo>
                  <a:pt x="1" y="5078"/>
                  <a:pt x="0" y="5064"/>
                  <a:pt x="0" y="5050"/>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520" name="" descr=""/>
          <p:cNvPicPr/>
          <p:nvPr/>
        </p:nvPicPr>
        <p:blipFill>
          <a:blip r:embed="rId2"/>
          <a:stretch/>
        </p:blipFill>
        <p:spPr>
          <a:xfrm>
            <a:off x="334440" y="885960"/>
            <a:ext cx="208440" cy="166680"/>
          </a:xfrm>
          <a:prstGeom prst="rect">
            <a:avLst/>
          </a:prstGeom>
          <a:noFill/>
          <a:ln w="0">
            <a:noFill/>
          </a:ln>
        </p:spPr>
      </p:pic>
      <p:sp>
        <p:nvSpPr>
          <p:cNvPr id="521" name=""/>
          <p:cNvSpPr txBox="1"/>
          <p:nvPr/>
        </p:nvSpPr>
        <p:spPr>
          <a:xfrm>
            <a:off x="334440" y="210240"/>
            <a:ext cx="377280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パラメトリックスピーカへの応用</a:t>
            </a:r>
            <a:endParaRPr b="0" lang="en-US" sz="1979" strike="noStrike" u="none">
              <a:solidFill>
                <a:srgbClr val="000000"/>
              </a:solidFill>
              <a:effectLst/>
              <a:uFillTx/>
              <a:latin typeface="Times New Roman"/>
            </a:endParaRPr>
          </a:p>
        </p:txBody>
      </p:sp>
      <p:pic>
        <p:nvPicPr>
          <p:cNvPr id="522" name="" descr=""/>
          <p:cNvPicPr/>
          <p:nvPr/>
        </p:nvPicPr>
        <p:blipFill>
          <a:blip r:embed="rId3"/>
          <a:stretch/>
        </p:blipFill>
        <p:spPr>
          <a:xfrm>
            <a:off x="334440" y="1270080"/>
            <a:ext cx="66600" cy="133200"/>
          </a:xfrm>
          <a:prstGeom prst="rect">
            <a:avLst/>
          </a:prstGeom>
          <a:noFill/>
          <a:ln w="0">
            <a:noFill/>
          </a:ln>
        </p:spPr>
      </p:pic>
      <p:sp>
        <p:nvSpPr>
          <p:cNvPr id="523" name=""/>
          <p:cNvSpPr txBox="1"/>
          <p:nvPr/>
        </p:nvSpPr>
        <p:spPr>
          <a:xfrm>
            <a:off x="643320" y="866880"/>
            <a:ext cx="261576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パラメトリックスピーカとは</a:t>
            </a:r>
            <a:endParaRPr b="0" lang="en-US" sz="1580" strike="noStrike" u="none">
              <a:solidFill>
                <a:srgbClr val="000000"/>
              </a:solidFill>
              <a:effectLst/>
              <a:uFillTx/>
              <a:latin typeface="Times New Roman"/>
            </a:endParaRPr>
          </a:p>
        </p:txBody>
      </p:sp>
      <p:pic>
        <p:nvPicPr>
          <p:cNvPr id="524" name="" descr=""/>
          <p:cNvPicPr/>
          <p:nvPr/>
        </p:nvPicPr>
        <p:blipFill>
          <a:blip r:embed="rId4"/>
          <a:stretch/>
        </p:blipFill>
        <p:spPr>
          <a:xfrm>
            <a:off x="334440" y="1571040"/>
            <a:ext cx="66600" cy="133200"/>
          </a:xfrm>
          <a:prstGeom prst="rect">
            <a:avLst/>
          </a:prstGeom>
          <a:noFill/>
          <a:ln w="0">
            <a:noFill/>
          </a:ln>
        </p:spPr>
      </p:pic>
      <p:sp>
        <p:nvSpPr>
          <p:cNvPr id="525" name=""/>
          <p:cNvSpPr txBox="1"/>
          <p:nvPr/>
        </p:nvSpPr>
        <p:spPr>
          <a:xfrm>
            <a:off x="526320" y="1263240"/>
            <a:ext cx="2280600" cy="194040"/>
          </a:xfrm>
          <a:prstGeom prst="rect">
            <a:avLst/>
          </a:prstGeom>
          <a:noFill/>
          <a:ln w="0">
            <a:noFill/>
          </a:ln>
        </p:spPr>
        <p:txBody>
          <a:bodyPr wrap="none" lIns="0" rIns="0" tIns="0" bIns="0" anchor="t">
            <a:spAutoFit/>
          </a:bodyPr>
          <a:p>
            <a:r>
              <a:rPr b="0" lang="zh-CN" sz="1050" strike="noStrike" u="none">
                <a:solidFill>
                  <a:srgbClr val="ff8c00"/>
                </a:solidFill>
                <a:effectLst/>
                <a:uFillTx/>
                <a:latin typeface="NotoSansJP"/>
                <a:ea typeface="NotoSansJP"/>
              </a:rPr>
              <a:t>超音波を使った超指向性スピーカ</a:t>
            </a:r>
            <a:r>
              <a:rPr b="0" lang="zh-CN" sz="1050" strike="noStrike" u="none">
                <a:solidFill>
                  <a:srgbClr val="000000"/>
                </a:solidFill>
                <a:effectLst/>
                <a:uFillTx/>
                <a:latin typeface="NotoSansJP"/>
                <a:ea typeface="NotoSansJP"/>
              </a:rPr>
              <a:t>技術</a:t>
            </a:r>
            <a:endParaRPr b="0" lang="en-US" sz="1050" strike="noStrike" u="none">
              <a:solidFill>
                <a:srgbClr val="000000"/>
              </a:solidFill>
              <a:effectLst/>
              <a:uFillTx/>
              <a:latin typeface="Times New Roman"/>
            </a:endParaRPr>
          </a:p>
        </p:txBody>
      </p:sp>
      <p:sp>
        <p:nvSpPr>
          <p:cNvPr id="526" name=""/>
          <p:cNvSpPr txBox="1"/>
          <p:nvPr/>
        </p:nvSpPr>
        <p:spPr>
          <a:xfrm>
            <a:off x="526320" y="1563840"/>
            <a:ext cx="145836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2</a:t>
            </a:r>
            <a:r>
              <a:rPr b="0" lang="zh-CN" sz="1050" strike="noStrike" u="none">
                <a:solidFill>
                  <a:srgbClr val="000000"/>
                </a:solidFill>
                <a:effectLst/>
                <a:uFillTx/>
                <a:latin typeface="NotoSansJP"/>
                <a:ea typeface="NotoSansJP"/>
              </a:rPr>
              <a:t>つのスピーカを使用：</a:t>
            </a:r>
            <a:endParaRPr b="0" lang="en-US" sz="1050" strike="noStrike" u="none">
              <a:solidFill>
                <a:srgbClr val="000000"/>
              </a:solidFill>
              <a:effectLst/>
              <a:uFillTx/>
              <a:latin typeface="Times New Roman"/>
            </a:endParaRPr>
          </a:p>
        </p:txBody>
      </p:sp>
      <p:sp>
        <p:nvSpPr>
          <p:cNvPr id="527" name=""/>
          <p:cNvSpPr txBox="1"/>
          <p:nvPr/>
        </p:nvSpPr>
        <p:spPr>
          <a:xfrm>
            <a:off x="793800" y="1797840"/>
            <a:ext cx="228996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①可聴音を</a:t>
            </a:r>
            <a:r>
              <a:rPr b="0" lang="en-US" sz="1050" strike="noStrike" u="none">
                <a:solidFill>
                  <a:srgbClr val="000000"/>
                </a:solidFill>
                <a:effectLst/>
                <a:uFillTx/>
                <a:latin typeface="NotoSansJP"/>
                <a:ea typeface="NotoSansJP"/>
              </a:rPr>
              <a:t>AM</a:t>
            </a:r>
            <a:r>
              <a:rPr b="0" lang="zh-CN" sz="1050" strike="noStrike" u="none">
                <a:solidFill>
                  <a:srgbClr val="000000"/>
                </a:solidFill>
                <a:effectLst/>
                <a:uFillTx/>
                <a:latin typeface="NotoSansJP"/>
                <a:ea typeface="NotoSansJP"/>
              </a:rPr>
              <a:t>変調した</a:t>
            </a:r>
            <a:r>
              <a:rPr b="0" lang="zh-CN" sz="1050" strike="noStrike" u="none">
                <a:solidFill>
                  <a:srgbClr val="ff8c00"/>
                </a:solidFill>
                <a:effectLst/>
                <a:uFillTx/>
                <a:latin typeface="NotoSansJP"/>
                <a:ea typeface="NotoSansJP"/>
              </a:rPr>
              <a:t>側帯波</a:t>
            </a:r>
            <a:r>
              <a:rPr b="0" lang="zh-CN" sz="1050" strike="noStrike" u="none">
                <a:solidFill>
                  <a:srgbClr val="000000"/>
                </a:solidFill>
                <a:effectLst/>
                <a:uFillTx/>
                <a:latin typeface="NotoSansJP"/>
                <a:ea typeface="NotoSansJP"/>
              </a:rPr>
              <a:t>を放射</a:t>
            </a:r>
            <a:endParaRPr b="0" lang="en-US" sz="1050" strike="noStrike" u="none">
              <a:solidFill>
                <a:srgbClr val="000000"/>
              </a:solidFill>
              <a:effectLst/>
              <a:uFillTx/>
              <a:latin typeface="Times New Roman"/>
            </a:endParaRPr>
          </a:p>
        </p:txBody>
      </p:sp>
      <p:pic>
        <p:nvPicPr>
          <p:cNvPr id="528" name="" descr=""/>
          <p:cNvPicPr/>
          <p:nvPr/>
        </p:nvPicPr>
        <p:blipFill>
          <a:blip r:embed="rId5"/>
          <a:stretch/>
        </p:blipFill>
        <p:spPr>
          <a:xfrm>
            <a:off x="334440" y="2306520"/>
            <a:ext cx="66600" cy="133200"/>
          </a:xfrm>
          <a:prstGeom prst="rect">
            <a:avLst/>
          </a:prstGeom>
          <a:noFill/>
          <a:ln w="0">
            <a:noFill/>
          </a:ln>
        </p:spPr>
      </p:pic>
      <p:sp>
        <p:nvSpPr>
          <p:cNvPr id="529" name=""/>
          <p:cNvSpPr txBox="1"/>
          <p:nvPr/>
        </p:nvSpPr>
        <p:spPr>
          <a:xfrm>
            <a:off x="793800" y="1998360"/>
            <a:ext cx="264024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②AM</a:t>
            </a:r>
            <a:r>
              <a:rPr b="0" lang="zh-CN" sz="1050" strike="noStrike" u="none">
                <a:solidFill>
                  <a:srgbClr val="000000"/>
                </a:solidFill>
                <a:effectLst/>
                <a:uFillTx/>
                <a:latin typeface="NotoSansJP"/>
                <a:ea typeface="NotoSansJP"/>
              </a:rPr>
              <a:t>変調の中心周波数である</a:t>
            </a:r>
            <a:r>
              <a:rPr b="0" lang="zh-CN" sz="1050" strike="noStrike" u="none">
                <a:solidFill>
                  <a:srgbClr val="ff8c00"/>
                </a:solidFill>
                <a:effectLst/>
                <a:uFillTx/>
                <a:latin typeface="NotoSansJP"/>
                <a:ea typeface="NotoSansJP"/>
              </a:rPr>
              <a:t>搬送波</a:t>
            </a:r>
            <a:r>
              <a:rPr b="0" lang="zh-CN" sz="1050" strike="noStrike" u="none">
                <a:solidFill>
                  <a:srgbClr val="000000"/>
                </a:solidFill>
                <a:effectLst/>
                <a:uFillTx/>
                <a:latin typeface="NotoSansJP"/>
                <a:ea typeface="NotoSansJP"/>
              </a:rPr>
              <a:t>を放射</a:t>
            </a:r>
            <a:endParaRPr b="0" lang="en-US" sz="1050" strike="noStrike" u="none">
              <a:solidFill>
                <a:srgbClr val="000000"/>
              </a:solidFill>
              <a:effectLst/>
              <a:uFillTx/>
              <a:latin typeface="Times New Roman"/>
            </a:endParaRPr>
          </a:p>
        </p:txBody>
      </p:sp>
      <p:pic>
        <p:nvPicPr>
          <p:cNvPr id="530" name="" descr=""/>
          <p:cNvPicPr/>
          <p:nvPr/>
        </p:nvPicPr>
        <p:blipFill>
          <a:blip r:embed="rId6"/>
          <a:stretch/>
        </p:blipFill>
        <p:spPr>
          <a:xfrm>
            <a:off x="334440" y="2607120"/>
            <a:ext cx="66600" cy="133200"/>
          </a:xfrm>
          <a:prstGeom prst="rect">
            <a:avLst/>
          </a:prstGeom>
          <a:noFill/>
          <a:ln w="0">
            <a:noFill/>
          </a:ln>
        </p:spPr>
      </p:pic>
      <p:sp>
        <p:nvSpPr>
          <p:cNvPr id="531" name=""/>
          <p:cNvSpPr txBox="1"/>
          <p:nvPr/>
        </p:nvSpPr>
        <p:spPr>
          <a:xfrm>
            <a:off x="526320" y="2299320"/>
            <a:ext cx="4024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超音波同士が</a:t>
            </a:r>
            <a:r>
              <a:rPr b="0" lang="zh-CN" sz="1050" strike="noStrike" u="none">
                <a:solidFill>
                  <a:srgbClr val="ff8c00"/>
                </a:solidFill>
                <a:effectLst/>
                <a:uFillTx/>
                <a:latin typeface="NotoSansJP"/>
                <a:ea typeface="NotoSansJP"/>
              </a:rPr>
              <a:t>衝突すると空気中で復調</a:t>
            </a:r>
            <a:r>
              <a:rPr b="0" lang="zh-CN" sz="1050" strike="noStrike" u="none">
                <a:solidFill>
                  <a:srgbClr val="000000"/>
                </a:solidFill>
                <a:effectLst/>
                <a:uFillTx/>
                <a:latin typeface="NotoSansJP"/>
                <a:ea typeface="NotoSansJP"/>
              </a:rPr>
              <a:t>され、可聴音が直線的に伝搬</a:t>
            </a:r>
            <a:endParaRPr b="0" lang="en-US" sz="1050" strike="noStrike" u="none">
              <a:solidFill>
                <a:srgbClr val="000000"/>
              </a:solidFill>
              <a:effectLst/>
              <a:uFillTx/>
              <a:latin typeface="Times New Roman"/>
            </a:endParaRPr>
          </a:p>
        </p:txBody>
      </p:sp>
      <p:sp>
        <p:nvSpPr>
          <p:cNvPr id="532" name=""/>
          <p:cNvSpPr txBox="1"/>
          <p:nvPr/>
        </p:nvSpPr>
        <p:spPr>
          <a:xfrm>
            <a:off x="526320" y="2600280"/>
            <a:ext cx="2146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衝突しない領域では人に</a:t>
            </a:r>
            <a:r>
              <a:rPr b="0" lang="zh-CN" sz="1050" strike="noStrike" u="none">
                <a:solidFill>
                  <a:srgbClr val="ff8c00"/>
                </a:solidFill>
                <a:effectLst/>
                <a:uFillTx/>
                <a:latin typeface="NotoSansJP"/>
                <a:ea typeface="NotoSansJP"/>
              </a:rPr>
              <a:t>聞こえない</a:t>
            </a:r>
            <a:endParaRPr b="0" lang="en-US" sz="1050" strike="noStrike" u="none">
              <a:solidFill>
                <a:srgbClr val="000000"/>
              </a:solidFill>
              <a:effectLst/>
              <a:uFillTx/>
              <a:latin typeface="Times New Roman"/>
            </a:endParaRPr>
          </a:p>
        </p:txBody>
      </p:sp>
      <p:sp>
        <p:nvSpPr>
          <p:cNvPr id="533" name=""/>
          <p:cNvSpPr/>
          <p:nvPr/>
        </p:nvSpPr>
        <p:spPr>
          <a:xfrm>
            <a:off x="5553000" y="2368800"/>
            <a:ext cx="4805280" cy="2298600"/>
          </a:xfrm>
          <a:custGeom>
            <a:avLst/>
            <a:gdLst/>
            <a:ahLst/>
            <a:rect l="0" t="0" r="r" b="b"/>
            <a:pathLst>
              <a:path w="13348" h="6385">
                <a:moveTo>
                  <a:pt x="0" y="6164"/>
                </a:moveTo>
                <a:lnTo>
                  <a:pt x="0" y="221"/>
                </a:lnTo>
                <a:cubicBezTo>
                  <a:pt x="0" y="206"/>
                  <a:pt x="1" y="192"/>
                  <a:pt x="4" y="178"/>
                </a:cubicBezTo>
                <a:cubicBezTo>
                  <a:pt x="7" y="164"/>
                  <a:pt x="11" y="150"/>
                  <a:pt x="16" y="137"/>
                </a:cubicBezTo>
                <a:cubicBezTo>
                  <a:pt x="22" y="123"/>
                  <a:pt x="29" y="110"/>
                  <a:pt x="37" y="98"/>
                </a:cubicBezTo>
                <a:cubicBezTo>
                  <a:pt x="45" y="86"/>
                  <a:pt x="54" y="75"/>
                  <a:pt x="64" y="65"/>
                </a:cubicBezTo>
                <a:cubicBezTo>
                  <a:pt x="74" y="55"/>
                  <a:pt x="86" y="46"/>
                  <a:pt x="98" y="38"/>
                </a:cubicBezTo>
                <a:cubicBezTo>
                  <a:pt x="110" y="30"/>
                  <a:pt x="122" y="23"/>
                  <a:pt x="136" y="17"/>
                </a:cubicBezTo>
                <a:cubicBezTo>
                  <a:pt x="149" y="12"/>
                  <a:pt x="163" y="7"/>
                  <a:pt x="177" y="5"/>
                </a:cubicBezTo>
                <a:cubicBezTo>
                  <a:pt x="191" y="2"/>
                  <a:pt x="206" y="0"/>
                  <a:pt x="220" y="0"/>
                </a:cubicBezTo>
                <a:lnTo>
                  <a:pt x="13128" y="0"/>
                </a:lnTo>
                <a:cubicBezTo>
                  <a:pt x="13142" y="0"/>
                  <a:pt x="13156" y="2"/>
                  <a:pt x="13171" y="5"/>
                </a:cubicBezTo>
                <a:cubicBezTo>
                  <a:pt x="13185" y="7"/>
                  <a:pt x="13199" y="12"/>
                  <a:pt x="13212" y="17"/>
                </a:cubicBezTo>
                <a:cubicBezTo>
                  <a:pt x="13225" y="23"/>
                  <a:pt x="13238" y="30"/>
                  <a:pt x="13250" y="38"/>
                </a:cubicBezTo>
                <a:cubicBezTo>
                  <a:pt x="13262" y="46"/>
                  <a:pt x="13273" y="55"/>
                  <a:pt x="13283" y="65"/>
                </a:cubicBezTo>
                <a:cubicBezTo>
                  <a:pt x="13294" y="75"/>
                  <a:pt x="13303" y="86"/>
                  <a:pt x="13311" y="98"/>
                </a:cubicBezTo>
                <a:cubicBezTo>
                  <a:pt x="13319" y="110"/>
                  <a:pt x="13326" y="123"/>
                  <a:pt x="13331" y="137"/>
                </a:cubicBezTo>
                <a:cubicBezTo>
                  <a:pt x="13337" y="150"/>
                  <a:pt x="13341" y="164"/>
                  <a:pt x="13344" y="178"/>
                </a:cubicBezTo>
                <a:cubicBezTo>
                  <a:pt x="13347" y="192"/>
                  <a:pt x="13348" y="206"/>
                  <a:pt x="13348" y="221"/>
                </a:cubicBezTo>
                <a:lnTo>
                  <a:pt x="13348" y="6164"/>
                </a:lnTo>
                <a:cubicBezTo>
                  <a:pt x="13348" y="6179"/>
                  <a:pt x="13347" y="6193"/>
                  <a:pt x="13344" y="6207"/>
                </a:cubicBezTo>
                <a:cubicBezTo>
                  <a:pt x="13341" y="6222"/>
                  <a:pt x="13337" y="6235"/>
                  <a:pt x="13331" y="6249"/>
                </a:cubicBezTo>
                <a:cubicBezTo>
                  <a:pt x="13326" y="6262"/>
                  <a:pt x="13319" y="6275"/>
                  <a:pt x="13311" y="6287"/>
                </a:cubicBezTo>
                <a:cubicBezTo>
                  <a:pt x="13303" y="6299"/>
                  <a:pt x="13294" y="6310"/>
                  <a:pt x="13283" y="6320"/>
                </a:cubicBezTo>
                <a:cubicBezTo>
                  <a:pt x="13273" y="6331"/>
                  <a:pt x="13262" y="6340"/>
                  <a:pt x="13250" y="6348"/>
                </a:cubicBezTo>
                <a:cubicBezTo>
                  <a:pt x="13238" y="6356"/>
                  <a:pt x="13225" y="6363"/>
                  <a:pt x="13212" y="6368"/>
                </a:cubicBezTo>
                <a:cubicBezTo>
                  <a:pt x="13199" y="6374"/>
                  <a:pt x="13185" y="6378"/>
                  <a:pt x="13171" y="6381"/>
                </a:cubicBezTo>
                <a:cubicBezTo>
                  <a:pt x="13156" y="6384"/>
                  <a:pt x="13142" y="6385"/>
                  <a:pt x="13128" y="6385"/>
                </a:cubicBezTo>
                <a:lnTo>
                  <a:pt x="220" y="6385"/>
                </a:lnTo>
                <a:cubicBezTo>
                  <a:pt x="206" y="6385"/>
                  <a:pt x="191" y="6384"/>
                  <a:pt x="177" y="6381"/>
                </a:cubicBezTo>
                <a:cubicBezTo>
                  <a:pt x="163" y="6378"/>
                  <a:pt x="149" y="6374"/>
                  <a:pt x="136" y="6368"/>
                </a:cubicBezTo>
                <a:cubicBezTo>
                  <a:pt x="122" y="6363"/>
                  <a:pt x="110" y="6356"/>
                  <a:pt x="98" y="6348"/>
                </a:cubicBezTo>
                <a:cubicBezTo>
                  <a:pt x="86" y="6340"/>
                  <a:pt x="74" y="6331"/>
                  <a:pt x="64" y="6320"/>
                </a:cubicBezTo>
                <a:cubicBezTo>
                  <a:pt x="54" y="6310"/>
                  <a:pt x="45" y="6299"/>
                  <a:pt x="37" y="6287"/>
                </a:cubicBezTo>
                <a:cubicBezTo>
                  <a:pt x="29" y="6275"/>
                  <a:pt x="22" y="6262"/>
                  <a:pt x="16" y="6249"/>
                </a:cubicBezTo>
                <a:cubicBezTo>
                  <a:pt x="11" y="6235"/>
                  <a:pt x="7" y="6222"/>
                  <a:pt x="4" y="6207"/>
                </a:cubicBezTo>
                <a:cubicBezTo>
                  <a:pt x="1" y="6193"/>
                  <a:pt x="0" y="6179"/>
                  <a:pt x="0" y="6164"/>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4" name=""/>
          <p:cNvSpPr/>
          <p:nvPr/>
        </p:nvSpPr>
        <p:spPr>
          <a:xfrm>
            <a:off x="5553000" y="2368800"/>
            <a:ext cx="4805280" cy="2298600"/>
          </a:xfrm>
          <a:custGeom>
            <a:avLst/>
            <a:gdLst/>
            <a:ahLst/>
            <a:rect l="0" t="0" r="r" b="b"/>
            <a:pathLst>
              <a:path fill="none" w="13348" h="6385">
                <a:moveTo>
                  <a:pt x="0" y="6164"/>
                </a:moveTo>
                <a:lnTo>
                  <a:pt x="0" y="221"/>
                </a:lnTo>
                <a:cubicBezTo>
                  <a:pt x="0" y="206"/>
                  <a:pt x="1" y="192"/>
                  <a:pt x="4" y="178"/>
                </a:cubicBezTo>
                <a:cubicBezTo>
                  <a:pt x="7" y="164"/>
                  <a:pt x="11" y="150"/>
                  <a:pt x="16" y="137"/>
                </a:cubicBezTo>
                <a:cubicBezTo>
                  <a:pt x="22" y="123"/>
                  <a:pt x="29" y="110"/>
                  <a:pt x="37" y="98"/>
                </a:cubicBezTo>
                <a:cubicBezTo>
                  <a:pt x="45" y="86"/>
                  <a:pt x="54" y="75"/>
                  <a:pt x="64" y="65"/>
                </a:cubicBezTo>
                <a:cubicBezTo>
                  <a:pt x="74" y="55"/>
                  <a:pt x="86" y="46"/>
                  <a:pt x="98" y="38"/>
                </a:cubicBezTo>
                <a:cubicBezTo>
                  <a:pt x="110" y="30"/>
                  <a:pt x="122" y="23"/>
                  <a:pt x="136" y="17"/>
                </a:cubicBezTo>
                <a:cubicBezTo>
                  <a:pt x="149" y="12"/>
                  <a:pt x="163" y="7"/>
                  <a:pt x="177" y="5"/>
                </a:cubicBezTo>
                <a:cubicBezTo>
                  <a:pt x="191" y="2"/>
                  <a:pt x="206" y="0"/>
                  <a:pt x="220" y="0"/>
                </a:cubicBezTo>
                <a:lnTo>
                  <a:pt x="13128" y="0"/>
                </a:lnTo>
                <a:cubicBezTo>
                  <a:pt x="13142" y="0"/>
                  <a:pt x="13156" y="2"/>
                  <a:pt x="13171" y="5"/>
                </a:cubicBezTo>
                <a:cubicBezTo>
                  <a:pt x="13185" y="7"/>
                  <a:pt x="13199" y="12"/>
                  <a:pt x="13212" y="17"/>
                </a:cubicBezTo>
                <a:cubicBezTo>
                  <a:pt x="13225" y="23"/>
                  <a:pt x="13238" y="30"/>
                  <a:pt x="13250" y="38"/>
                </a:cubicBezTo>
                <a:cubicBezTo>
                  <a:pt x="13262" y="46"/>
                  <a:pt x="13273" y="55"/>
                  <a:pt x="13283" y="65"/>
                </a:cubicBezTo>
                <a:cubicBezTo>
                  <a:pt x="13294" y="75"/>
                  <a:pt x="13303" y="86"/>
                  <a:pt x="13311" y="98"/>
                </a:cubicBezTo>
                <a:cubicBezTo>
                  <a:pt x="13319" y="110"/>
                  <a:pt x="13326" y="123"/>
                  <a:pt x="13331" y="137"/>
                </a:cubicBezTo>
                <a:cubicBezTo>
                  <a:pt x="13337" y="150"/>
                  <a:pt x="13341" y="164"/>
                  <a:pt x="13344" y="178"/>
                </a:cubicBezTo>
                <a:cubicBezTo>
                  <a:pt x="13347" y="192"/>
                  <a:pt x="13348" y="206"/>
                  <a:pt x="13348" y="221"/>
                </a:cubicBezTo>
                <a:lnTo>
                  <a:pt x="13348" y="6164"/>
                </a:lnTo>
                <a:cubicBezTo>
                  <a:pt x="13348" y="6179"/>
                  <a:pt x="13347" y="6193"/>
                  <a:pt x="13344" y="6207"/>
                </a:cubicBezTo>
                <a:cubicBezTo>
                  <a:pt x="13341" y="6222"/>
                  <a:pt x="13337" y="6235"/>
                  <a:pt x="13331" y="6249"/>
                </a:cubicBezTo>
                <a:cubicBezTo>
                  <a:pt x="13326" y="6262"/>
                  <a:pt x="13319" y="6275"/>
                  <a:pt x="13311" y="6287"/>
                </a:cubicBezTo>
                <a:cubicBezTo>
                  <a:pt x="13303" y="6299"/>
                  <a:pt x="13294" y="6310"/>
                  <a:pt x="13283" y="6320"/>
                </a:cubicBezTo>
                <a:cubicBezTo>
                  <a:pt x="13273" y="6331"/>
                  <a:pt x="13262" y="6340"/>
                  <a:pt x="13250" y="6348"/>
                </a:cubicBezTo>
                <a:cubicBezTo>
                  <a:pt x="13238" y="6356"/>
                  <a:pt x="13225" y="6363"/>
                  <a:pt x="13212" y="6368"/>
                </a:cubicBezTo>
                <a:cubicBezTo>
                  <a:pt x="13199" y="6374"/>
                  <a:pt x="13185" y="6378"/>
                  <a:pt x="13171" y="6381"/>
                </a:cubicBezTo>
                <a:cubicBezTo>
                  <a:pt x="13156" y="6384"/>
                  <a:pt x="13142" y="6385"/>
                  <a:pt x="13128" y="6385"/>
                </a:cubicBezTo>
                <a:lnTo>
                  <a:pt x="220" y="6385"/>
                </a:lnTo>
                <a:cubicBezTo>
                  <a:pt x="206" y="6385"/>
                  <a:pt x="191" y="6384"/>
                  <a:pt x="177" y="6381"/>
                </a:cubicBezTo>
                <a:cubicBezTo>
                  <a:pt x="163" y="6378"/>
                  <a:pt x="149" y="6374"/>
                  <a:pt x="136" y="6368"/>
                </a:cubicBezTo>
                <a:cubicBezTo>
                  <a:pt x="122" y="6363"/>
                  <a:pt x="110" y="6356"/>
                  <a:pt x="98" y="6348"/>
                </a:cubicBezTo>
                <a:cubicBezTo>
                  <a:pt x="86" y="6340"/>
                  <a:pt x="74" y="6331"/>
                  <a:pt x="64" y="6320"/>
                </a:cubicBezTo>
                <a:cubicBezTo>
                  <a:pt x="54" y="6310"/>
                  <a:pt x="45" y="6299"/>
                  <a:pt x="37" y="6287"/>
                </a:cubicBezTo>
                <a:cubicBezTo>
                  <a:pt x="29" y="6275"/>
                  <a:pt x="22" y="6262"/>
                  <a:pt x="16" y="6249"/>
                </a:cubicBezTo>
                <a:cubicBezTo>
                  <a:pt x="11" y="6235"/>
                  <a:pt x="7" y="6222"/>
                  <a:pt x="4" y="6207"/>
                </a:cubicBezTo>
                <a:cubicBezTo>
                  <a:pt x="1" y="6193"/>
                  <a:pt x="0" y="6179"/>
                  <a:pt x="0" y="6164"/>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535" name="" descr=""/>
          <p:cNvPicPr/>
          <p:nvPr/>
        </p:nvPicPr>
        <p:blipFill>
          <a:blip r:embed="rId7"/>
          <a:stretch/>
        </p:blipFill>
        <p:spPr>
          <a:xfrm>
            <a:off x="5548680" y="885960"/>
            <a:ext cx="124920" cy="166680"/>
          </a:xfrm>
          <a:prstGeom prst="rect">
            <a:avLst/>
          </a:prstGeom>
          <a:noFill/>
          <a:ln w="0">
            <a:noFill/>
          </a:ln>
        </p:spPr>
      </p:pic>
      <p:sp>
        <p:nvSpPr>
          <p:cNvPr id="536" name=""/>
          <p:cNvSpPr txBox="1"/>
          <p:nvPr/>
        </p:nvSpPr>
        <p:spPr>
          <a:xfrm>
            <a:off x="1805040" y="3134880"/>
            <a:ext cx="18781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パラメトリックスピーカの原理</a:t>
            </a:r>
            <a:endParaRPr b="0" lang="en-US" sz="1050" strike="noStrike" u="none">
              <a:solidFill>
                <a:srgbClr val="000000"/>
              </a:solidFill>
              <a:effectLst/>
              <a:uFillTx/>
              <a:latin typeface="Times New Roman"/>
            </a:endParaRPr>
          </a:p>
        </p:txBody>
      </p:sp>
      <p:pic>
        <p:nvPicPr>
          <p:cNvPr id="537" name="" descr=""/>
          <p:cNvPicPr/>
          <p:nvPr/>
        </p:nvPicPr>
        <p:blipFill>
          <a:blip r:embed="rId8"/>
          <a:stretch/>
        </p:blipFill>
        <p:spPr>
          <a:xfrm>
            <a:off x="5548680" y="1270080"/>
            <a:ext cx="133200" cy="133200"/>
          </a:xfrm>
          <a:prstGeom prst="rect">
            <a:avLst/>
          </a:prstGeom>
          <a:noFill/>
          <a:ln w="0">
            <a:noFill/>
          </a:ln>
        </p:spPr>
      </p:pic>
      <p:sp>
        <p:nvSpPr>
          <p:cNvPr id="538" name=""/>
          <p:cNvSpPr txBox="1"/>
          <p:nvPr/>
        </p:nvSpPr>
        <p:spPr>
          <a:xfrm>
            <a:off x="5774400" y="866880"/>
            <a:ext cx="221364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音響レンズ技術との応用</a:t>
            </a:r>
            <a:endParaRPr b="0" lang="en-US" sz="1580" strike="noStrike" u="none">
              <a:solidFill>
                <a:srgbClr val="000000"/>
              </a:solidFill>
              <a:effectLst/>
              <a:uFillTx/>
              <a:latin typeface="Times New Roman"/>
            </a:endParaRPr>
          </a:p>
        </p:txBody>
      </p:sp>
      <p:pic>
        <p:nvPicPr>
          <p:cNvPr id="539" name="" descr=""/>
          <p:cNvPicPr/>
          <p:nvPr/>
        </p:nvPicPr>
        <p:blipFill>
          <a:blip r:embed="rId9"/>
          <a:stretch/>
        </p:blipFill>
        <p:spPr>
          <a:xfrm>
            <a:off x="5548680" y="1571040"/>
            <a:ext cx="133200" cy="133200"/>
          </a:xfrm>
          <a:prstGeom prst="rect">
            <a:avLst/>
          </a:prstGeom>
          <a:noFill/>
          <a:ln w="0">
            <a:noFill/>
          </a:ln>
        </p:spPr>
      </p:pic>
      <p:sp>
        <p:nvSpPr>
          <p:cNvPr id="540" name=""/>
          <p:cNvSpPr txBox="1"/>
          <p:nvPr/>
        </p:nvSpPr>
        <p:spPr>
          <a:xfrm>
            <a:off x="5807880" y="1263240"/>
            <a:ext cx="415836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超音波の</a:t>
            </a:r>
            <a:r>
              <a:rPr b="0" lang="zh-CN" sz="1050" strike="noStrike" u="none">
                <a:solidFill>
                  <a:srgbClr val="ff8c00"/>
                </a:solidFill>
                <a:effectLst/>
                <a:uFillTx/>
                <a:latin typeface="NotoSansJP"/>
                <a:ea typeface="NotoSansJP"/>
              </a:rPr>
              <a:t>高い直進性</a:t>
            </a:r>
            <a:r>
              <a:rPr b="0" lang="zh-CN" sz="1050" strike="noStrike" u="none">
                <a:solidFill>
                  <a:srgbClr val="000000"/>
                </a:solidFill>
                <a:effectLst/>
                <a:uFillTx/>
                <a:latin typeface="NotoSansJP"/>
                <a:ea typeface="NotoSansJP"/>
              </a:rPr>
              <a:t>を活かし、より正確なオーディオスポットを形成</a:t>
            </a:r>
            <a:endParaRPr b="0" lang="en-US" sz="1050" strike="noStrike" u="none">
              <a:solidFill>
                <a:srgbClr val="000000"/>
              </a:solidFill>
              <a:effectLst/>
              <a:uFillTx/>
              <a:latin typeface="Times New Roman"/>
            </a:endParaRPr>
          </a:p>
        </p:txBody>
      </p:sp>
      <p:pic>
        <p:nvPicPr>
          <p:cNvPr id="541" name="" descr=""/>
          <p:cNvPicPr/>
          <p:nvPr/>
        </p:nvPicPr>
        <p:blipFill>
          <a:blip r:embed="rId10"/>
          <a:stretch/>
        </p:blipFill>
        <p:spPr>
          <a:xfrm>
            <a:off x="5548680" y="1872000"/>
            <a:ext cx="133200" cy="133200"/>
          </a:xfrm>
          <a:prstGeom prst="rect">
            <a:avLst/>
          </a:prstGeom>
          <a:noFill/>
          <a:ln w="0">
            <a:noFill/>
          </a:ln>
        </p:spPr>
      </p:pic>
      <p:sp>
        <p:nvSpPr>
          <p:cNvPr id="542" name=""/>
          <p:cNvSpPr txBox="1"/>
          <p:nvPr/>
        </p:nvSpPr>
        <p:spPr>
          <a:xfrm>
            <a:off x="5807880" y="1563840"/>
            <a:ext cx="34876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従来の問題点：スピーカユニット近傍での</a:t>
            </a:r>
            <a:r>
              <a:rPr b="0" lang="zh-CN" sz="1050" strike="noStrike" u="none">
                <a:solidFill>
                  <a:srgbClr val="ff8c00"/>
                </a:solidFill>
                <a:effectLst/>
                <a:uFillTx/>
                <a:latin typeface="NotoSansJP"/>
                <a:ea typeface="NotoSansJP"/>
              </a:rPr>
              <a:t>音の拡散</a:t>
            </a:r>
            <a:r>
              <a:rPr b="0" lang="zh-CN" sz="1050" strike="noStrike" u="none">
                <a:solidFill>
                  <a:srgbClr val="000000"/>
                </a:solidFill>
                <a:effectLst/>
                <a:uFillTx/>
                <a:latin typeface="NotoSansJP"/>
                <a:ea typeface="NotoSansJP"/>
              </a:rPr>
              <a:t>を解決</a:t>
            </a:r>
            <a:endParaRPr b="0" lang="en-US" sz="1050" strike="noStrike" u="none">
              <a:solidFill>
                <a:srgbClr val="000000"/>
              </a:solidFill>
              <a:effectLst/>
              <a:uFillTx/>
              <a:latin typeface="Times New Roman"/>
            </a:endParaRPr>
          </a:p>
        </p:txBody>
      </p:sp>
      <p:sp>
        <p:nvSpPr>
          <p:cNvPr id="543" name=""/>
          <p:cNvSpPr txBox="1"/>
          <p:nvPr/>
        </p:nvSpPr>
        <p:spPr>
          <a:xfrm>
            <a:off x="5807880" y="1864800"/>
            <a:ext cx="45604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提案構造：</a:t>
            </a:r>
            <a:r>
              <a:rPr b="0" lang="zh-CN" sz="1050" strike="noStrike" u="none">
                <a:solidFill>
                  <a:srgbClr val="ff8c00"/>
                </a:solidFill>
                <a:effectLst/>
                <a:uFillTx/>
                <a:latin typeface="NotoSansJP"/>
                <a:ea typeface="NotoSansJP"/>
              </a:rPr>
              <a:t>一次元配列型スピーカ</a:t>
            </a:r>
            <a:r>
              <a:rPr b="0" lang="zh-CN" sz="1050" strike="noStrike" u="none">
                <a:solidFill>
                  <a:srgbClr val="000000"/>
                </a:solidFill>
                <a:effectLst/>
                <a:uFillTx/>
                <a:latin typeface="NotoSansJP"/>
                <a:ea typeface="NotoSansJP"/>
              </a:rPr>
              <a:t>に搬送波、全体を覆う</a:t>
            </a:r>
            <a:r>
              <a:rPr b="0" lang="zh-CN" sz="1050" strike="noStrike" u="none">
                <a:solidFill>
                  <a:srgbClr val="ff8c00"/>
                </a:solidFill>
                <a:effectLst/>
                <a:uFillTx/>
                <a:latin typeface="NotoSansJP"/>
                <a:ea typeface="NotoSansJP"/>
              </a:rPr>
              <a:t>別スピーカ</a:t>
            </a:r>
            <a:r>
              <a:rPr b="0" lang="zh-CN" sz="1050" strike="noStrike" u="none">
                <a:solidFill>
                  <a:srgbClr val="000000"/>
                </a:solidFill>
                <a:effectLst/>
                <a:uFillTx/>
                <a:latin typeface="NotoSansJP"/>
                <a:ea typeface="NotoSansJP"/>
              </a:rPr>
              <a:t>で側帯波</a:t>
            </a:r>
            <a:endParaRPr b="0" lang="en-US" sz="1050" strike="noStrike" u="none">
              <a:solidFill>
                <a:srgbClr val="000000"/>
              </a:solidFill>
              <a:effectLst/>
              <a:uFillTx/>
              <a:latin typeface="Times New Roman"/>
            </a:endParaRPr>
          </a:p>
        </p:txBody>
      </p:sp>
      <p:sp>
        <p:nvSpPr>
          <p:cNvPr id="544" name=""/>
          <p:cNvSpPr txBox="1"/>
          <p:nvPr/>
        </p:nvSpPr>
        <p:spPr>
          <a:xfrm>
            <a:off x="5807880" y="2065320"/>
            <a:ext cx="4032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を発振</a:t>
            </a:r>
            <a:endParaRPr b="0" lang="en-US" sz="1050" strike="noStrike" u="none">
              <a:solidFill>
                <a:srgbClr val="000000"/>
              </a:solidFill>
              <a:effectLst/>
              <a:uFillTx/>
              <a:latin typeface="Times New Roman"/>
            </a:endParaRPr>
          </a:p>
        </p:txBody>
      </p:sp>
      <p:pic>
        <p:nvPicPr>
          <p:cNvPr id="545" name="" descr=""/>
          <p:cNvPicPr/>
          <p:nvPr/>
        </p:nvPicPr>
        <p:blipFill>
          <a:blip r:embed="rId11"/>
          <a:stretch/>
        </p:blipFill>
        <p:spPr>
          <a:xfrm>
            <a:off x="7420680" y="4805280"/>
            <a:ext cx="1069200" cy="1069200"/>
          </a:xfrm>
          <a:prstGeom prst="rect">
            <a:avLst/>
          </a:prstGeom>
          <a:noFill/>
          <a:ln w="0">
            <a:noFill/>
          </a:ln>
        </p:spPr>
      </p:pic>
      <p:sp>
        <p:nvSpPr>
          <p:cNvPr id="546" name=""/>
          <p:cNvSpPr txBox="1"/>
          <p:nvPr/>
        </p:nvSpPr>
        <p:spPr>
          <a:xfrm>
            <a:off x="6819120" y="2533320"/>
            <a:ext cx="2280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パラメトリックスピーカへの応用構造</a:t>
            </a:r>
            <a:endParaRPr b="0" lang="en-US" sz="1050" strike="noStrike" u="none">
              <a:solidFill>
                <a:srgbClr val="000000"/>
              </a:solidFill>
              <a:effectLst/>
              <a:uFillTx/>
              <a:latin typeface="Times New Roman"/>
            </a:endParaRPr>
          </a:p>
        </p:txBody>
      </p:sp>
      <p:pic>
        <p:nvPicPr>
          <p:cNvPr id="547" name="" descr=""/>
          <p:cNvPicPr/>
          <p:nvPr/>
        </p:nvPicPr>
        <p:blipFill>
          <a:blip r:embed="rId12"/>
          <a:stretch/>
        </p:blipFill>
        <p:spPr>
          <a:xfrm>
            <a:off x="434520" y="6317640"/>
            <a:ext cx="150120" cy="150120"/>
          </a:xfrm>
          <a:prstGeom prst="rect">
            <a:avLst/>
          </a:prstGeom>
          <a:noFill/>
          <a:ln w="0">
            <a:noFill/>
          </a:ln>
        </p:spPr>
      </p:pic>
      <p:sp>
        <p:nvSpPr>
          <p:cNvPr id="548" name=""/>
          <p:cNvSpPr txBox="1"/>
          <p:nvPr/>
        </p:nvSpPr>
        <p:spPr>
          <a:xfrm>
            <a:off x="6455520" y="5923800"/>
            <a:ext cx="3134520" cy="146520"/>
          </a:xfrm>
          <a:prstGeom prst="rect">
            <a:avLst/>
          </a:prstGeom>
          <a:noFill/>
          <a:ln w="0">
            <a:noFill/>
          </a:ln>
        </p:spPr>
        <p:txBody>
          <a:bodyPr wrap="none" lIns="0" rIns="0" tIns="0" bIns="0" anchor="t">
            <a:spAutoFit/>
          </a:bodyPr>
          <a:p>
            <a:r>
              <a:rPr b="0" lang="en-US" sz="790" strike="noStrike" u="none">
                <a:solidFill>
                  <a:srgbClr val="4b5563"/>
                </a:solidFill>
                <a:effectLst/>
                <a:uFillTx/>
                <a:latin typeface="NotoSansJP"/>
                <a:ea typeface="NotoSansJP"/>
              </a:rPr>
              <a:t>Acouspade</a:t>
            </a:r>
            <a:r>
              <a:rPr b="0" lang="zh-CN" sz="790" strike="noStrike" u="none">
                <a:solidFill>
                  <a:srgbClr val="4b5563"/>
                </a:solidFill>
                <a:effectLst/>
                <a:uFillTx/>
                <a:latin typeface="NotoSansJP"/>
                <a:ea typeface="NotoSansJP"/>
              </a:rPr>
              <a:t>指向性スピーカ </a:t>
            </a:r>
            <a:r>
              <a:rPr b="0" lang="en-US" sz="790" strike="noStrike" u="none">
                <a:solidFill>
                  <a:srgbClr val="4b5563"/>
                </a:solidFill>
                <a:effectLst/>
                <a:uFillTx/>
                <a:latin typeface="NotoSansJP"/>
                <a:ea typeface="NotoSansJP"/>
              </a:rPr>
              <a:t>- </a:t>
            </a:r>
            <a:r>
              <a:rPr b="0" lang="zh-CN" sz="790" strike="noStrike" u="none">
                <a:solidFill>
                  <a:srgbClr val="4b5563"/>
                </a:solidFill>
                <a:effectLst/>
                <a:uFillTx/>
                <a:latin typeface="NotoSansJP"/>
                <a:ea typeface="NotoSansJP"/>
              </a:rPr>
              <a:t>パラメトリック技術を使用した製品例</a:t>
            </a:r>
            <a:endParaRPr b="0" lang="en-US" sz="790" strike="noStrike" u="none">
              <a:solidFill>
                <a:srgbClr val="000000"/>
              </a:solidFill>
              <a:effectLst/>
              <a:uFillTx/>
              <a:latin typeface="Times New Roman"/>
            </a:endParaRPr>
          </a:p>
        </p:txBody>
      </p:sp>
      <p:pic>
        <p:nvPicPr>
          <p:cNvPr id="549" name="" descr=""/>
          <p:cNvPicPr/>
          <p:nvPr/>
        </p:nvPicPr>
        <p:blipFill>
          <a:blip r:embed="rId13"/>
          <a:stretch/>
        </p:blipFill>
        <p:spPr>
          <a:xfrm>
            <a:off x="534960" y="6610320"/>
            <a:ext cx="133200" cy="133200"/>
          </a:xfrm>
          <a:prstGeom prst="rect">
            <a:avLst/>
          </a:prstGeom>
          <a:noFill/>
          <a:ln w="0">
            <a:noFill/>
          </a:ln>
        </p:spPr>
      </p:pic>
      <p:sp>
        <p:nvSpPr>
          <p:cNvPr id="550" name=""/>
          <p:cNvSpPr txBox="1"/>
          <p:nvPr/>
        </p:nvSpPr>
        <p:spPr>
          <a:xfrm>
            <a:off x="651960" y="6320160"/>
            <a:ext cx="1056960" cy="219960"/>
          </a:xfrm>
          <a:prstGeom prst="rect">
            <a:avLst/>
          </a:prstGeom>
          <a:noFill/>
          <a:ln w="0">
            <a:noFill/>
          </a:ln>
        </p:spPr>
        <p:txBody>
          <a:bodyPr wrap="none" lIns="0" rIns="0" tIns="0" bIns="0" anchor="t">
            <a:spAutoFit/>
          </a:bodyPr>
          <a:p>
            <a:r>
              <a:rPr b="0" lang="zh-CN" sz="1180" strike="noStrike" u="none">
                <a:solidFill>
                  <a:srgbClr val="1e40af"/>
                </a:solidFill>
                <a:effectLst/>
                <a:uFillTx/>
                <a:latin typeface="NotoSansJP"/>
                <a:ea typeface="NotoSansJP"/>
              </a:rPr>
              <a:t>期待される効果</a:t>
            </a:r>
            <a:endParaRPr b="0" lang="en-US" sz="1180" strike="noStrike" u="none">
              <a:solidFill>
                <a:srgbClr val="000000"/>
              </a:solidFill>
              <a:effectLst/>
              <a:uFillTx/>
              <a:latin typeface="Times New Roman"/>
            </a:endParaRPr>
          </a:p>
        </p:txBody>
      </p:sp>
      <p:sp>
        <p:nvSpPr>
          <p:cNvPr id="551" name=""/>
          <p:cNvSpPr txBox="1"/>
          <p:nvPr/>
        </p:nvSpPr>
        <p:spPr>
          <a:xfrm>
            <a:off x="735480" y="6611400"/>
            <a:ext cx="16099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精密なオーディオスポット</a:t>
            </a:r>
            <a:endParaRPr b="0" lang="en-US" sz="1050" strike="noStrike" u="none">
              <a:solidFill>
                <a:srgbClr val="000000"/>
              </a:solidFill>
              <a:effectLst/>
              <a:uFillTx/>
              <a:latin typeface="Times New Roman"/>
            </a:endParaRPr>
          </a:p>
        </p:txBody>
      </p:sp>
      <p:sp>
        <p:nvSpPr>
          <p:cNvPr id="552" name=""/>
          <p:cNvSpPr txBox="1"/>
          <p:nvPr/>
        </p:nvSpPr>
        <p:spPr>
          <a:xfrm>
            <a:off x="735480" y="6802560"/>
            <a:ext cx="28170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超音波の直進性により、より狭く正確な可聴領域を形</a:t>
            </a:r>
            <a:endParaRPr b="0" lang="en-US" sz="920" strike="noStrike" u="none">
              <a:solidFill>
                <a:srgbClr val="000000"/>
              </a:solidFill>
              <a:effectLst/>
              <a:uFillTx/>
              <a:latin typeface="Times New Roman"/>
            </a:endParaRPr>
          </a:p>
        </p:txBody>
      </p:sp>
      <p:pic>
        <p:nvPicPr>
          <p:cNvPr id="553" name="" descr=""/>
          <p:cNvPicPr/>
          <p:nvPr/>
        </p:nvPicPr>
        <p:blipFill>
          <a:blip r:embed="rId14"/>
          <a:stretch/>
        </p:blipFill>
        <p:spPr>
          <a:xfrm>
            <a:off x="3810600" y="6610320"/>
            <a:ext cx="150120" cy="133200"/>
          </a:xfrm>
          <a:prstGeom prst="rect">
            <a:avLst/>
          </a:prstGeom>
          <a:noFill/>
          <a:ln w="0">
            <a:noFill/>
          </a:ln>
        </p:spPr>
      </p:pic>
      <p:sp>
        <p:nvSpPr>
          <p:cNvPr id="554" name=""/>
          <p:cNvSpPr txBox="1"/>
          <p:nvPr/>
        </p:nvSpPr>
        <p:spPr>
          <a:xfrm>
            <a:off x="735480" y="6969600"/>
            <a:ext cx="1180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成</a:t>
            </a:r>
            <a:endParaRPr b="0" lang="en-US" sz="920" strike="noStrike" u="none">
              <a:solidFill>
                <a:srgbClr val="000000"/>
              </a:solidFill>
              <a:effectLst/>
              <a:uFillTx/>
              <a:latin typeface="Times New Roman"/>
            </a:endParaRPr>
          </a:p>
        </p:txBody>
      </p:sp>
      <p:sp>
        <p:nvSpPr>
          <p:cNvPr id="555" name=""/>
          <p:cNvSpPr txBox="1"/>
          <p:nvPr/>
        </p:nvSpPr>
        <p:spPr>
          <a:xfrm>
            <a:off x="4028040" y="6611400"/>
            <a:ext cx="13417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近接領域の音漏れ防止</a:t>
            </a:r>
            <a:endParaRPr b="0" lang="en-US" sz="1050" strike="noStrike" u="none">
              <a:solidFill>
                <a:srgbClr val="000000"/>
              </a:solidFill>
              <a:effectLst/>
              <a:uFillTx/>
              <a:latin typeface="Times New Roman"/>
            </a:endParaRPr>
          </a:p>
        </p:txBody>
      </p:sp>
      <p:sp>
        <p:nvSpPr>
          <p:cNvPr id="556" name=""/>
          <p:cNvSpPr txBox="1"/>
          <p:nvPr/>
        </p:nvSpPr>
        <p:spPr>
          <a:xfrm>
            <a:off x="4011120" y="6802560"/>
            <a:ext cx="28170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スピーカユニット近くでも指向性が保たれ、騒音問題</a:t>
            </a:r>
            <a:endParaRPr b="0" lang="en-US" sz="920" strike="noStrike" u="none">
              <a:solidFill>
                <a:srgbClr val="000000"/>
              </a:solidFill>
              <a:effectLst/>
              <a:uFillTx/>
              <a:latin typeface="Times New Roman"/>
            </a:endParaRPr>
          </a:p>
        </p:txBody>
      </p:sp>
      <p:pic>
        <p:nvPicPr>
          <p:cNvPr id="557" name="" descr=""/>
          <p:cNvPicPr/>
          <p:nvPr/>
        </p:nvPicPr>
        <p:blipFill>
          <a:blip r:embed="rId15"/>
          <a:stretch/>
        </p:blipFill>
        <p:spPr>
          <a:xfrm>
            <a:off x="7086600" y="6610320"/>
            <a:ext cx="133200" cy="133200"/>
          </a:xfrm>
          <a:prstGeom prst="rect">
            <a:avLst/>
          </a:prstGeom>
          <a:noFill/>
          <a:ln w="0">
            <a:noFill/>
          </a:ln>
        </p:spPr>
      </p:pic>
      <p:sp>
        <p:nvSpPr>
          <p:cNvPr id="558" name=""/>
          <p:cNvSpPr txBox="1"/>
          <p:nvPr/>
        </p:nvSpPr>
        <p:spPr>
          <a:xfrm>
            <a:off x="4011120" y="6969600"/>
            <a:ext cx="3528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を軽減</a:t>
            </a:r>
            <a:endParaRPr b="0" lang="en-US" sz="920" strike="noStrike" u="none">
              <a:solidFill>
                <a:srgbClr val="000000"/>
              </a:solidFill>
              <a:effectLst/>
              <a:uFillTx/>
              <a:latin typeface="Times New Roman"/>
            </a:endParaRPr>
          </a:p>
        </p:txBody>
      </p:sp>
      <p:sp>
        <p:nvSpPr>
          <p:cNvPr id="559" name=""/>
          <p:cNvSpPr txBox="1"/>
          <p:nvPr/>
        </p:nvSpPr>
        <p:spPr>
          <a:xfrm>
            <a:off x="7287120" y="6611400"/>
            <a:ext cx="939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柔軟な指向制御</a:t>
            </a:r>
            <a:endParaRPr b="0" lang="en-US" sz="1050" strike="noStrike" u="none">
              <a:solidFill>
                <a:srgbClr val="000000"/>
              </a:solidFill>
              <a:effectLst/>
              <a:uFillTx/>
              <a:latin typeface="Times New Roman"/>
            </a:endParaRPr>
          </a:p>
        </p:txBody>
      </p:sp>
      <p:pic>
        <p:nvPicPr>
          <p:cNvPr id="560" name="" descr=""/>
          <p:cNvPicPr/>
          <p:nvPr/>
        </p:nvPicPr>
        <p:blipFill>
          <a:blip r:embed="rId16"/>
          <a:stretch/>
        </p:blipFill>
        <p:spPr>
          <a:xfrm>
            <a:off x="534960" y="3802320"/>
            <a:ext cx="200160" cy="200160"/>
          </a:xfrm>
          <a:prstGeom prst="rect">
            <a:avLst/>
          </a:prstGeom>
          <a:noFill/>
          <a:ln w="0">
            <a:noFill/>
          </a:ln>
        </p:spPr>
      </p:pic>
      <p:sp>
        <p:nvSpPr>
          <p:cNvPr id="561" name=""/>
          <p:cNvSpPr txBox="1"/>
          <p:nvPr/>
        </p:nvSpPr>
        <p:spPr>
          <a:xfrm>
            <a:off x="7287120" y="6802560"/>
            <a:ext cx="24649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位相遅延の調整のみで指向先を容易に変更可能</a:t>
            </a:r>
            <a:endParaRPr b="0" lang="en-US" sz="920" strike="noStrike" u="none">
              <a:solidFill>
                <a:srgbClr val="000000"/>
              </a:solidFill>
              <a:effectLst/>
              <a:uFillTx/>
              <a:latin typeface="Times New Roman"/>
            </a:endParaRPr>
          </a:p>
        </p:txBody>
      </p:sp>
      <p:pic>
        <p:nvPicPr>
          <p:cNvPr id="562" name="" descr=""/>
          <p:cNvPicPr/>
          <p:nvPr/>
        </p:nvPicPr>
        <p:blipFill>
          <a:blip r:embed="rId17"/>
          <a:stretch/>
        </p:blipFill>
        <p:spPr>
          <a:xfrm>
            <a:off x="534960" y="4337280"/>
            <a:ext cx="200160" cy="200160"/>
          </a:xfrm>
          <a:prstGeom prst="rect">
            <a:avLst/>
          </a:prstGeom>
          <a:noFill/>
          <a:ln w="0">
            <a:noFill/>
          </a:ln>
        </p:spPr>
      </p:pic>
      <p:sp>
        <p:nvSpPr>
          <p:cNvPr id="563" name=""/>
          <p:cNvSpPr txBox="1"/>
          <p:nvPr/>
        </p:nvSpPr>
        <p:spPr>
          <a:xfrm>
            <a:off x="534960" y="4068720"/>
            <a:ext cx="30240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側帯波</a:t>
            </a:r>
            <a:endParaRPr b="0" lang="en-US" sz="790" strike="noStrike" u="none">
              <a:solidFill>
                <a:srgbClr val="000000"/>
              </a:solidFill>
              <a:effectLst/>
              <a:uFillTx/>
              <a:latin typeface="Times New Roman"/>
            </a:endParaRPr>
          </a:p>
        </p:txBody>
      </p:sp>
      <p:pic>
        <p:nvPicPr>
          <p:cNvPr id="564" name="" descr=""/>
          <p:cNvPicPr/>
          <p:nvPr/>
        </p:nvPicPr>
        <p:blipFill>
          <a:blip r:embed="rId18"/>
          <a:stretch/>
        </p:blipFill>
        <p:spPr>
          <a:xfrm>
            <a:off x="869040" y="3935880"/>
            <a:ext cx="4010760" cy="16200"/>
          </a:xfrm>
          <a:prstGeom prst="rect">
            <a:avLst/>
          </a:prstGeom>
          <a:noFill/>
          <a:ln w="0">
            <a:noFill/>
          </a:ln>
        </p:spPr>
      </p:pic>
      <p:pic>
        <p:nvPicPr>
          <p:cNvPr id="565" name="" descr=""/>
          <p:cNvPicPr/>
          <p:nvPr/>
        </p:nvPicPr>
        <p:blipFill>
          <a:blip r:embed="rId19"/>
          <a:stretch/>
        </p:blipFill>
        <p:spPr>
          <a:xfrm>
            <a:off x="869040" y="3935880"/>
            <a:ext cx="4010760" cy="166680"/>
          </a:xfrm>
          <a:prstGeom prst="rect">
            <a:avLst/>
          </a:prstGeom>
          <a:noFill/>
          <a:ln w="0">
            <a:noFill/>
          </a:ln>
        </p:spPr>
      </p:pic>
      <p:pic>
        <p:nvPicPr>
          <p:cNvPr id="566" name="" descr=""/>
          <p:cNvPicPr/>
          <p:nvPr/>
        </p:nvPicPr>
        <p:blipFill>
          <a:blip r:embed="rId20"/>
          <a:stretch/>
        </p:blipFill>
        <p:spPr>
          <a:xfrm>
            <a:off x="869040" y="4470840"/>
            <a:ext cx="4010760" cy="16200"/>
          </a:xfrm>
          <a:prstGeom prst="rect">
            <a:avLst/>
          </a:prstGeom>
          <a:noFill/>
          <a:ln w="0">
            <a:noFill/>
          </a:ln>
        </p:spPr>
      </p:pic>
      <p:pic>
        <p:nvPicPr>
          <p:cNvPr id="567" name="" descr=""/>
          <p:cNvPicPr/>
          <p:nvPr/>
        </p:nvPicPr>
        <p:blipFill>
          <a:blip r:embed="rId21"/>
          <a:stretch/>
        </p:blipFill>
        <p:spPr>
          <a:xfrm>
            <a:off x="869040" y="4470840"/>
            <a:ext cx="4010760" cy="166680"/>
          </a:xfrm>
          <a:prstGeom prst="rect">
            <a:avLst/>
          </a:prstGeom>
          <a:noFill/>
          <a:ln w="0">
            <a:noFill/>
          </a:ln>
        </p:spPr>
      </p:pic>
      <p:pic>
        <p:nvPicPr>
          <p:cNvPr id="568" name="" descr=""/>
          <p:cNvPicPr/>
          <p:nvPr/>
        </p:nvPicPr>
        <p:blipFill>
          <a:blip r:embed="rId22"/>
          <a:stretch/>
        </p:blipFill>
        <p:spPr>
          <a:xfrm>
            <a:off x="3100320" y="3986280"/>
            <a:ext cx="83160" cy="166680"/>
          </a:xfrm>
          <a:prstGeom prst="rect">
            <a:avLst/>
          </a:prstGeom>
          <a:noFill/>
          <a:ln w="0">
            <a:noFill/>
          </a:ln>
        </p:spPr>
      </p:pic>
      <p:pic>
        <p:nvPicPr>
          <p:cNvPr id="569" name="" descr=""/>
          <p:cNvPicPr/>
          <p:nvPr/>
        </p:nvPicPr>
        <p:blipFill>
          <a:blip r:embed="rId23"/>
          <a:stretch/>
        </p:blipFill>
        <p:spPr>
          <a:xfrm>
            <a:off x="3142080" y="3401280"/>
            <a:ext cx="668160" cy="1336680"/>
          </a:xfrm>
          <a:prstGeom prst="rect">
            <a:avLst/>
          </a:prstGeom>
          <a:noFill/>
          <a:ln w="0">
            <a:noFill/>
          </a:ln>
        </p:spPr>
      </p:pic>
      <p:sp>
        <p:nvSpPr>
          <p:cNvPr id="570" name=""/>
          <p:cNvSpPr txBox="1"/>
          <p:nvPr/>
        </p:nvSpPr>
        <p:spPr>
          <a:xfrm>
            <a:off x="534960" y="4603320"/>
            <a:ext cx="30240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搬送波</a:t>
            </a:r>
            <a:endParaRPr b="0" lang="en-US" sz="790" strike="noStrike" u="none">
              <a:solidFill>
                <a:srgbClr val="000000"/>
              </a:solidFill>
              <a:effectLst/>
              <a:uFillTx/>
              <a:latin typeface="Times New Roman"/>
            </a:endParaRPr>
          </a:p>
        </p:txBody>
      </p:sp>
      <p:sp>
        <p:nvSpPr>
          <p:cNvPr id="571" name=""/>
          <p:cNvSpPr txBox="1"/>
          <p:nvPr/>
        </p:nvSpPr>
        <p:spPr>
          <a:xfrm>
            <a:off x="4078080" y="3751200"/>
            <a:ext cx="805320" cy="146520"/>
          </a:xfrm>
          <a:prstGeom prst="rect">
            <a:avLst/>
          </a:prstGeom>
          <a:noFill/>
          <a:ln w="0">
            <a:noFill/>
          </a:ln>
        </p:spPr>
        <p:txBody>
          <a:bodyPr wrap="none" lIns="0" rIns="0" tIns="0" bIns="0" anchor="t">
            <a:spAutoFit/>
          </a:bodyPr>
          <a:p>
            <a:r>
              <a:rPr b="0" lang="zh-CN" sz="790" strike="noStrike" u="none">
                <a:solidFill>
                  <a:srgbClr val="1e40af"/>
                </a:solidFill>
                <a:effectLst/>
                <a:uFillTx/>
                <a:latin typeface="NotoSansJP"/>
                <a:ea typeface="NotoSansJP"/>
              </a:rPr>
              <a:t>超音波（側帯波）</a:t>
            </a:r>
            <a:endParaRPr b="0" lang="en-US" sz="790" strike="noStrike" u="none">
              <a:solidFill>
                <a:srgbClr val="000000"/>
              </a:solidFill>
              <a:effectLst/>
              <a:uFillTx/>
              <a:latin typeface="Times New Roman"/>
            </a:endParaRPr>
          </a:p>
        </p:txBody>
      </p:sp>
      <p:sp>
        <p:nvSpPr>
          <p:cNvPr id="572" name=""/>
          <p:cNvSpPr txBox="1"/>
          <p:nvPr/>
        </p:nvSpPr>
        <p:spPr>
          <a:xfrm>
            <a:off x="4078080" y="4486320"/>
            <a:ext cx="805320" cy="146520"/>
          </a:xfrm>
          <a:prstGeom prst="rect">
            <a:avLst/>
          </a:prstGeom>
          <a:noFill/>
          <a:ln w="0">
            <a:noFill/>
          </a:ln>
        </p:spPr>
        <p:txBody>
          <a:bodyPr wrap="none" lIns="0" rIns="0" tIns="0" bIns="0" anchor="t">
            <a:spAutoFit/>
          </a:bodyPr>
          <a:p>
            <a:r>
              <a:rPr b="0" lang="zh-CN" sz="790" strike="noStrike" u="none">
                <a:solidFill>
                  <a:srgbClr val="ff6900"/>
                </a:solidFill>
                <a:effectLst/>
                <a:uFillTx/>
                <a:latin typeface="NotoSansJP"/>
                <a:ea typeface="NotoSansJP"/>
              </a:rPr>
              <a:t>超音波（搬送波）</a:t>
            </a:r>
            <a:endParaRPr b="0" lang="en-US" sz="790" strike="noStrike" u="none">
              <a:solidFill>
                <a:srgbClr val="000000"/>
              </a:solidFill>
              <a:effectLst/>
              <a:uFillTx/>
              <a:latin typeface="Times New Roman"/>
            </a:endParaRPr>
          </a:p>
        </p:txBody>
      </p:sp>
      <p:pic>
        <p:nvPicPr>
          <p:cNvPr id="573" name="" descr=""/>
          <p:cNvPicPr/>
          <p:nvPr/>
        </p:nvPicPr>
        <p:blipFill>
          <a:blip r:embed="rId24"/>
          <a:stretch/>
        </p:blipFill>
        <p:spPr>
          <a:xfrm>
            <a:off x="4253400" y="4094640"/>
            <a:ext cx="91440" cy="100080"/>
          </a:xfrm>
          <a:prstGeom prst="rect">
            <a:avLst/>
          </a:prstGeom>
          <a:noFill/>
          <a:ln w="0">
            <a:noFill/>
          </a:ln>
        </p:spPr>
      </p:pic>
      <p:sp>
        <p:nvSpPr>
          <p:cNvPr id="574" name=""/>
          <p:cNvSpPr/>
          <p:nvPr/>
        </p:nvSpPr>
        <p:spPr>
          <a:xfrm>
            <a:off x="6058440" y="4035960"/>
            <a:ext cx="133920" cy="134280"/>
          </a:xfrm>
          <a:custGeom>
            <a:avLst/>
            <a:gdLst/>
            <a:ahLst/>
            <a:rect l="0" t="0" r="r" b="b"/>
            <a:pathLst>
              <a:path w="372" h="373">
                <a:moveTo>
                  <a:pt x="372" y="187"/>
                </a:moveTo>
                <a:cubicBezTo>
                  <a:pt x="372" y="199"/>
                  <a:pt x="371" y="211"/>
                  <a:pt x="369" y="223"/>
                </a:cubicBezTo>
                <a:cubicBezTo>
                  <a:pt x="366" y="235"/>
                  <a:pt x="363" y="247"/>
                  <a:pt x="358" y="258"/>
                </a:cubicBezTo>
                <a:cubicBezTo>
                  <a:pt x="354" y="269"/>
                  <a:pt x="348" y="280"/>
                  <a:pt x="341" y="290"/>
                </a:cubicBezTo>
                <a:cubicBezTo>
                  <a:pt x="334" y="300"/>
                  <a:pt x="327" y="310"/>
                  <a:pt x="318" y="318"/>
                </a:cubicBezTo>
                <a:cubicBezTo>
                  <a:pt x="309" y="327"/>
                  <a:pt x="300" y="335"/>
                  <a:pt x="290" y="342"/>
                </a:cubicBezTo>
                <a:cubicBezTo>
                  <a:pt x="280" y="348"/>
                  <a:pt x="269" y="354"/>
                  <a:pt x="258" y="359"/>
                </a:cubicBezTo>
                <a:cubicBezTo>
                  <a:pt x="246" y="363"/>
                  <a:pt x="235" y="367"/>
                  <a:pt x="223" y="369"/>
                </a:cubicBezTo>
                <a:cubicBezTo>
                  <a:pt x="211" y="372"/>
                  <a:pt x="199" y="373"/>
                  <a:pt x="187" y="373"/>
                </a:cubicBezTo>
                <a:cubicBezTo>
                  <a:pt x="174" y="373"/>
                  <a:pt x="162" y="372"/>
                  <a:pt x="150" y="369"/>
                </a:cubicBezTo>
                <a:cubicBezTo>
                  <a:pt x="138" y="367"/>
                  <a:pt x="127" y="363"/>
                  <a:pt x="116" y="359"/>
                </a:cubicBezTo>
                <a:cubicBezTo>
                  <a:pt x="104" y="354"/>
                  <a:pt x="94" y="348"/>
                  <a:pt x="83" y="342"/>
                </a:cubicBezTo>
                <a:cubicBezTo>
                  <a:pt x="73" y="335"/>
                  <a:pt x="64" y="327"/>
                  <a:pt x="55" y="318"/>
                </a:cubicBezTo>
                <a:cubicBezTo>
                  <a:pt x="46" y="310"/>
                  <a:pt x="38" y="300"/>
                  <a:pt x="31" y="290"/>
                </a:cubicBezTo>
                <a:cubicBezTo>
                  <a:pt x="24" y="280"/>
                  <a:pt x="19" y="269"/>
                  <a:pt x="14" y="258"/>
                </a:cubicBezTo>
                <a:cubicBezTo>
                  <a:pt x="9" y="247"/>
                  <a:pt x="6" y="235"/>
                  <a:pt x="4" y="223"/>
                </a:cubicBezTo>
                <a:cubicBezTo>
                  <a:pt x="1" y="211"/>
                  <a:pt x="0" y="199"/>
                  <a:pt x="0" y="187"/>
                </a:cubicBezTo>
                <a:cubicBezTo>
                  <a:pt x="0" y="175"/>
                  <a:pt x="1" y="163"/>
                  <a:pt x="4" y="151"/>
                </a:cubicBezTo>
                <a:cubicBezTo>
                  <a:pt x="6" y="139"/>
                  <a:pt x="9" y="127"/>
                  <a:pt x="14" y="116"/>
                </a:cubicBezTo>
                <a:cubicBezTo>
                  <a:pt x="19" y="104"/>
                  <a:pt x="24" y="93"/>
                  <a:pt x="31" y="83"/>
                </a:cubicBezTo>
                <a:cubicBezTo>
                  <a:pt x="38" y="73"/>
                  <a:pt x="46" y="63"/>
                  <a:pt x="55" y="55"/>
                </a:cubicBezTo>
                <a:cubicBezTo>
                  <a:pt x="64" y="46"/>
                  <a:pt x="73" y="38"/>
                  <a:pt x="83" y="32"/>
                </a:cubicBezTo>
                <a:cubicBezTo>
                  <a:pt x="94" y="25"/>
                  <a:pt x="104" y="19"/>
                  <a:pt x="116" y="15"/>
                </a:cubicBezTo>
                <a:cubicBezTo>
                  <a:pt x="127" y="10"/>
                  <a:pt x="138" y="6"/>
                  <a:pt x="150" y="4"/>
                </a:cubicBezTo>
                <a:cubicBezTo>
                  <a:pt x="162" y="2"/>
                  <a:pt x="174" y="0"/>
                  <a:pt x="187" y="0"/>
                </a:cubicBezTo>
                <a:cubicBezTo>
                  <a:pt x="199" y="0"/>
                  <a:pt x="211" y="2"/>
                  <a:pt x="223" y="4"/>
                </a:cubicBezTo>
                <a:cubicBezTo>
                  <a:pt x="235" y="6"/>
                  <a:pt x="246" y="10"/>
                  <a:pt x="258" y="15"/>
                </a:cubicBezTo>
                <a:cubicBezTo>
                  <a:pt x="269" y="19"/>
                  <a:pt x="280" y="25"/>
                  <a:pt x="290" y="32"/>
                </a:cubicBezTo>
                <a:cubicBezTo>
                  <a:pt x="300" y="38"/>
                  <a:pt x="309" y="46"/>
                  <a:pt x="318" y="55"/>
                </a:cubicBezTo>
                <a:cubicBezTo>
                  <a:pt x="327" y="63"/>
                  <a:pt x="334" y="73"/>
                  <a:pt x="341" y="83"/>
                </a:cubicBezTo>
                <a:cubicBezTo>
                  <a:pt x="348" y="93"/>
                  <a:pt x="354" y="104"/>
                  <a:pt x="358" y="116"/>
                </a:cubicBezTo>
                <a:cubicBezTo>
                  <a:pt x="363" y="127"/>
                  <a:pt x="366" y="139"/>
                  <a:pt x="369" y="151"/>
                </a:cubicBezTo>
                <a:cubicBezTo>
                  <a:pt x="371" y="163"/>
                  <a:pt x="372" y="175"/>
                  <a:pt x="372"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5" name=""/>
          <p:cNvSpPr/>
          <p:nvPr/>
        </p:nvSpPr>
        <p:spPr>
          <a:xfrm>
            <a:off x="6668640" y="4035960"/>
            <a:ext cx="133920" cy="134280"/>
          </a:xfrm>
          <a:custGeom>
            <a:avLst/>
            <a:gdLst/>
            <a:ahLst/>
            <a:rect l="0" t="0" r="r" b="b"/>
            <a:pathLst>
              <a:path w="372" h="373">
                <a:moveTo>
                  <a:pt x="372" y="187"/>
                </a:moveTo>
                <a:cubicBezTo>
                  <a:pt x="372" y="199"/>
                  <a:pt x="371" y="211"/>
                  <a:pt x="368" y="223"/>
                </a:cubicBezTo>
                <a:cubicBezTo>
                  <a:pt x="366" y="235"/>
                  <a:pt x="362" y="247"/>
                  <a:pt x="358" y="258"/>
                </a:cubicBezTo>
                <a:cubicBezTo>
                  <a:pt x="353" y="269"/>
                  <a:pt x="347" y="280"/>
                  <a:pt x="341" y="290"/>
                </a:cubicBezTo>
                <a:cubicBezTo>
                  <a:pt x="334" y="300"/>
                  <a:pt x="326" y="310"/>
                  <a:pt x="318" y="318"/>
                </a:cubicBezTo>
                <a:cubicBezTo>
                  <a:pt x="309" y="327"/>
                  <a:pt x="300" y="335"/>
                  <a:pt x="289" y="342"/>
                </a:cubicBezTo>
                <a:cubicBezTo>
                  <a:pt x="279" y="348"/>
                  <a:pt x="269" y="354"/>
                  <a:pt x="257" y="359"/>
                </a:cubicBezTo>
                <a:cubicBezTo>
                  <a:pt x="246" y="363"/>
                  <a:pt x="234" y="367"/>
                  <a:pt x="222" y="369"/>
                </a:cubicBezTo>
                <a:cubicBezTo>
                  <a:pt x="209" y="372"/>
                  <a:pt x="197" y="373"/>
                  <a:pt x="185" y="373"/>
                </a:cubicBezTo>
                <a:cubicBezTo>
                  <a:pt x="173" y="373"/>
                  <a:pt x="161" y="372"/>
                  <a:pt x="149" y="369"/>
                </a:cubicBezTo>
                <a:cubicBezTo>
                  <a:pt x="137" y="367"/>
                  <a:pt x="125" y="363"/>
                  <a:pt x="114" y="359"/>
                </a:cubicBezTo>
                <a:cubicBezTo>
                  <a:pt x="103" y="354"/>
                  <a:pt x="92" y="348"/>
                  <a:pt x="82" y="342"/>
                </a:cubicBezTo>
                <a:cubicBezTo>
                  <a:pt x="72" y="335"/>
                  <a:pt x="63" y="327"/>
                  <a:pt x="54" y="318"/>
                </a:cubicBezTo>
                <a:cubicBezTo>
                  <a:pt x="45" y="310"/>
                  <a:pt x="38" y="300"/>
                  <a:pt x="31" y="290"/>
                </a:cubicBezTo>
                <a:cubicBezTo>
                  <a:pt x="24" y="280"/>
                  <a:pt x="18" y="269"/>
                  <a:pt x="14" y="258"/>
                </a:cubicBezTo>
                <a:cubicBezTo>
                  <a:pt x="9" y="247"/>
                  <a:pt x="5" y="235"/>
                  <a:pt x="3" y="223"/>
                </a:cubicBezTo>
                <a:cubicBezTo>
                  <a:pt x="1" y="211"/>
                  <a:pt x="0" y="199"/>
                  <a:pt x="0" y="187"/>
                </a:cubicBezTo>
                <a:cubicBezTo>
                  <a:pt x="0" y="175"/>
                  <a:pt x="1" y="163"/>
                  <a:pt x="3" y="151"/>
                </a:cubicBezTo>
                <a:cubicBezTo>
                  <a:pt x="5" y="139"/>
                  <a:pt x="9" y="127"/>
                  <a:pt x="14" y="116"/>
                </a:cubicBezTo>
                <a:cubicBezTo>
                  <a:pt x="18" y="104"/>
                  <a:pt x="24" y="93"/>
                  <a:pt x="31" y="83"/>
                </a:cubicBezTo>
                <a:cubicBezTo>
                  <a:pt x="38" y="73"/>
                  <a:pt x="45" y="63"/>
                  <a:pt x="54" y="55"/>
                </a:cubicBezTo>
                <a:cubicBezTo>
                  <a:pt x="63" y="46"/>
                  <a:pt x="72" y="38"/>
                  <a:pt x="82" y="32"/>
                </a:cubicBezTo>
                <a:cubicBezTo>
                  <a:pt x="92" y="25"/>
                  <a:pt x="103" y="19"/>
                  <a:pt x="114" y="15"/>
                </a:cubicBezTo>
                <a:cubicBezTo>
                  <a:pt x="125" y="10"/>
                  <a:pt x="137" y="6"/>
                  <a:pt x="149" y="4"/>
                </a:cubicBezTo>
                <a:cubicBezTo>
                  <a:pt x="161" y="2"/>
                  <a:pt x="173" y="0"/>
                  <a:pt x="185" y="0"/>
                </a:cubicBezTo>
                <a:cubicBezTo>
                  <a:pt x="197" y="0"/>
                  <a:pt x="209" y="2"/>
                  <a:pt x="222" y="4"/>
                </a:cubicBezTo>
                <a:cubicBezTo>
                  <a:pt x="234" y="6"/>
                  <a:pt x="246" y="10"/>
                  <a:pt x="257" y="15"/>
                </a:cubicBezTo>
                <a:cubicBezTo>
                  <a:pt x="269" y="19"/>
                  <a:pt x="279" y="25"/>
                  <a:pt x="289" y="32"/>
                </a:cubicBezTo>
                <a:cubicBezTo>
                  <a:pt x="300" y="38"/>
                  <a:pt x="309" y="46"/>
                  <a:pt x="318" y="55"/>
                </a:cubicBezTo>
                <a:cubicBezTo>
                  <a:pt x="326" y="63"/>
                  <a:pt x="334" y="73"/>
                  <a:pt x="341" y="83"/>
                </a:cubicBezTo>
                <a:cubicBezTo>
                  <a:pt x="347" y="93"/>
                  <a:pt x="353" y="104"/>
                  <a:pt x="358" y="116"/>
                </a:cubicBezTo>
                <a:cubicBezTo>
                  <a:pt x="362" y="127"/>
                  <a:pt x="366" y="139"/>
                  <a:pt x="368" y="151"/>
                </a:cubicBezTo>
                <a:cubicBezTo>
                  <a:pt x="371" y="163"/>
                  <a:pt x="372" y="175"/>
                  <a:pt x="372"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6" name=""/>
          <p:cNvSpPr/>
          <p:nvPr/>
        </p:nvSpPr>
        <p:spPr>
          <a:xfrm>
            <a:off x="7278480" y="4035960"/>
            <a:ext cx="133920" cy="134280"/>
          </a:xfrm>
          <a:custGeom>
            <a:avLst/>
            <a:gdLst/>
            <a:ahLst/>
            <a:rect l="0" t="0" r="r" b="b"/>
            <a:pathLst>
              <a:path w="372" h="373">
                <a:moveTo>
                  <a:pt x="372" y="187"/>
                </a:moveTo>
                <a:cubicBezTo>
                  <a:pt x="372" y="199"/>
                  <a:pt x="371" y="211"/>
                  <a:pt x="369" y="223"/>
                </a:cubicBezTo>
                <a:cubicBezTo>
                  <a:pt x="367" y="235"/>
                  <a:pt x="363" y="247"/>
                  <a:pt x="358" y="258"/>
                </a:cubicBezTo>
                <a:cubicBezTo>
                  <a:pt x="354" y="269"/>
                  <a:pt x="348" y="280"/>
                  <a:pt x="341" y="290"/>
                </a:cubicBezTo>
                <a:cubicBezTo>
                  <a:pt x="334" y="300"/>
                  <a:pt x="327" y="310"/>
                  <a:pt x="318" y="318"/>
                </a:cubicBezTo>
                <a:cubicBezTo>
                  <a:pt x="309" y="327"/>
                  <a:pt x="300" y="335"/>
                  <a:pt x="290" y="342"/>
                </a:cubicBezTo>
                <a:cubicBezTo>
                  <a:pt x="280" y="348"/>
                  <a:pt x="269" y="354"/>
                  <a:pt x="258" y="359"/>
                </a:cubicBezTo>
                <a:cubicBezTo>
                  <a:pt x="247" y="363"/>
                  <a:pt x="235" y="367"/>
                  <a:pt x="223" y="369"/>
                </a:cubicBezTo>
                <a:cubicBezTo>
                  <a:pt x="211" y="372"/>
                  <a:pt x="199" y="373"/>
                  <a:pt x="187" y="373"/>
                </a:cubicBezTo>
                <a:cubicBezTo>
                  <a:pt x="175" y="373"/>
                  <a:pt x="163" y="372"/>
                  <a:pt x="151" y="369"/>
                </a:cubicBezTo>
                <a:cubicBezTo>
                  <a:pt x="139" y="367"/>
                  <a:pt x="127" y="363"/>
                  <a:pt x="116" y="359"/>
                </a:cubicBezTo>
                <a:cubicBezTo>
                  <a:pt x="104" y="354"/>
                  <a:pt x="94" y="348"/>
                  <a:pt x="84" y="342"/>
                </a:cubicBezTo>
                <a:cubicBezTo>
                  <a:pt x="73" y="335"/>
                  <a:pt x="64" y="327"/>
                  <a:pt x="55" y="318"/>
                </a:cubicBezTo>
                <a:cubicBezTo>
                  <a:pt x="47" y="310"/>
                  <a:pt x="39" y="300"/>
                  <a:pt x="32" y="290"/>
                </a:cubicBezTo>
                <a:cubicBezTo>
                  <a:pt x="26" y="280"/>
                  <a:pt x="20" y="269"/>
                  <a:pt x="15" y="258"/>
                </a:cubicBezTo>
                <a:cubicBezTo>
                  <a:pt x="11" y="247"/>
                  <a:pt x="7" y="235"/>
                  <a:pt x="5" y="223"/>
                </a:cubicBezTo>
                <a:cubicBezTo>
                  <a:pt x="1" y="211"/>
                  <a:pt x="0" y="199"/>
                  <a:pt x="0" y="187"/>
                </a:cubicBezTo>
                <a:cubicBezTo>
                  <a:pt x="0" y="175"/>
                  <a:pt x="1" y="163"/>
                  <a:pt x="5" y="151"/>
                </a:cubicBezTo>
                <a:cubicBezTo>
                  <a:pt x="7" y="139"/>
                  <a:pt x="11" y="127"/>
                  <a:pt x="15" y="116"/>
                </a:cubicBezTo>
                <a:cubicBezTo>
                  <a:pt x="20" y="104"/>
                  <a:pt x="26" y="93"/>
                  <a:pt x="32" y="83"/>
                </a:cubicBezTo>
                <a:cubicBezTo>
                  <a:pt x="39" y="73"/>
                  <a:pt x="47" y="63"/>
                  <a:pt x="55" y="55"/>
                </a:cubicBezTo>
                <a:cubicBezTo>
                  <a:pt x="64" y="46"/>
                  <a:pt x="73" y="38"/>
                  <a:pt x="84" y="32"/>
                </a:cubicBezTo>
                <a:cubicBezTo>
                  <a:pt x="94" y="25"/>
                  <a:pt x="104" y="19"/>
                  <a:pt x="116" y="15"/>
                </a:cubicBezTo>
                <a:cubicBezTo>
                  <a:pt x="127" y="10"/>
                  <a:pt x="139" y="6"/>
                  <a:pt x="151" y="4"/>
                </a:cubicBezTo>
                <a:cubicBezTo>
                  <a:pt x="163" y="2"/>
                  <a:pt x="175" y="0"/>
                  <a:pt x="187" y="0"/>
                </a:cubicBezTo>
                <a:cubicBezTo>
                  <a:pt x="199" y="0"/>
                  <a:pt x="211" y="2"/>
                  <a:pt x="223" y="4"/>
                </a:cubicBezTo>
                <a:cubicBezTo>
                  <a:pt x="235" y="6"/>
                  <a:pt x="247" y="10"/>
                  <a:pt x="258" y="15"/>
                </a:cubicBezTo>
                <a:cubicBezTo>
                  <a:pt x="269" y="19"/>
                  <a:pt x="280" y="25"/>
                  <a:pt x="290" y="32"/>
                </a:cubicBezTo>
                <a:cubicBezTo>
                  <a:pt x="300" y="38"/>
                  <a:pt x="309" y="46"/>
                  <a:pt x="318" y="55"/>
                </a:cubicBezTo>
                <a:cubicBezTo>
                  <a:pt x="327" y="63"/>
                  <a:pt x="334" y="73"/>
                  <a:pt x="341" y="83"/>
                </a:cubicBezTo>
                <a:cubicBezTo>
                  <a:pt x="348" y="93"/>
                  <a:pt x="354" y="104"/>
                  <a:pt x="358" y="116"/>
                </a:cubicBezTo>
                <a:cubicBezTo>
                  <a:pt x="363" y="127"/>
                  <a:pt x="367" y="139"/>
                  <a:pt x="369" y="151"/>
                </a:cubicBezTo>
                <a:cubicBezTo>
                  <a:pt x="371" y="163"/>
                  <a:pt x="372" y="175"/>
                  <a:pt x="372"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7" name=""/>
          <p:cNvSpPr/>
          <p:nvPr/>
        </p:nvSpPr>
        <p:spPr>
          <a:xfrm>
            <a:off x="7888680" y="4035960"/>
            <a:ext cx="133920" cy="134280"/>
          </a:xfrm>
          <a:custGeom>
            <a:avLst/>
            <a:gdLst/>
            <a:ahLst/>
            <a:rect l="0" t="0" r="r" b="b"/>
            <a:pathLst>
              <a:path w="372" h="373">
                <a:moveTo>
                  <a:pt x="372" y="187"/>
                </a:moveTo>
                <a:cubicBezTo>
                  <a:pt x="372" y="199"/>
                  <a:pt x="371" y="211"/>
                  <a:pt x="368" y="223"/>
                </a:cubicBezTo>
                <a:cubicBezTo>
                  <a:pt x="366" y="235"/>
                  <a:pt x="363" y="247"/>
                  <a:pt x="358" y="258"/>
                </a:cubicBezTo>
                <a:cubicBezTo>
                  <a:pt x="353" y="269"/>
                  <a:pt x="348" y="280"/>
                  <a:pt x="341" y="290"/>
                </a:cubicBezTo>
                <a:cubicBezTo>
                  <a:pt x="334" y="300"/>
                  <a:pt x="326" y="310"/>
                  <a:pt x="318" y="318"/>
                </a:cubicBezTo>
                <a:cubicBezTo>
                  <a:pt x="309" y="327"/>
                  <a:pt x="300" y="335"/>
                  <a:pt x="289" y="342"/>
                </a:cubicBezTo>
                <a:cubicBezTo>
                  <a:pt x="279" y="348"/>
                  <a:pt x="269" y="354"/>
                  <a:pt x="257" y="359"/>
                </a:cubicBezTo>
                <a:cubicBezTo>
                  <a:pt x="246" y="363"/>
                  <a:pt x="235" y="367"/>
                  <a:pt x="223" y="369"/>
                </a:cubicBezTo>
                <a:cubicBezTo>
                  <a:pt x="211" y="372"/>
                  <a:pt x="199" y="373"/>
                  <a:pt x="186" y="373"/>
                </a:cubicBezTo>
                <a:cubicBezTo>
                  <a:pt x="174" y="373"/>
                  <a:pt x="161" y="372"/>
                  <a:pt x="149" y="369"/>
                </a:cubicBezTo>
                <a:cubicBezTo>
                  <a:pt x="137" y="367"/>
                  <a:pt x="126" y="363"/>
                  <a:pt x="114" y="359"/>
                </a:cubicBezTo>
                <a:cubicBezTo>
                  <a:pt x="103" y="354"/>
                  <a:pt x="92" y="348"/>
                  <a:pt x="82" y="342"/>
                </a:cubicBezTo>
                <a:cubicBezTo>
                  <a:pt x="72" y="335"/>
                  <a:pt x="63" y="327"/>
                  <a:pt x="54" y="318"/>
                </a:cubicBezTo>
                <a:cubicBezTo>
                  <a:pt x="45" y="310"/>
                  <a:pt x="38" y="300"/>
                  <a:pt x="31" y="290"/>
                </a:cubicBezTo>
                <a:cubicBezTo>
                  <a:pt x="24" y="280"/>
                  <a:pt x="18" y="269"/>
                  <a:pt x="14" y="258"/>
                </a:cubicBezTo>
                <a:cubicBezTo>
                  <a:pt x="9" y="247"/>
                  <a:pt x="6" y="235"/>
                  <a:pt x="3" y="223"/>
                </a:cubicBezTo>
                <a:cubicBezTo>
                  <a:pt x="1" y="211"/>
                  <a:pt x="0" y="199"/>
                  <a:pt x="0" y="187"/>
                </a:cubicBezTo>
                <a:cubicBezTo>
                  <a:pt x="0" y="175"/>
                  <a:pt x="1" y="163"/>
                  <a:pt x="3" y="151"/>
                </a:cubicBezTo>
                <a:cubicBezTo>
                  <a:pt x="6" y="139"/>
                  <a:pt x="9" y="127"/>
                  <a:pt x="14" y="116"/>
                </a:cubicBezTo>
                <a:cubicBezTo>
                  <a:pt x="18" y="104"/>
                  <a:pt x="24" y="93"/>
                  <a:pt x="31" y="83"/>
                </a:cubicBezTo>
                <a:cubicBezTo>
                  <a:pt x="38" y="73"/>
                  <a:pt x="45" y="63"/>
                  <a:pt x="54" y="55"/>
                </a:cubicBezTo>
                <a:cubicBezTo>
                  <a:pt x="63" y="46"/>
                  <a:pt x="72" y="38"/>
                  <a:pt x="82" y="32"/>
                </a:cubicBezTo>
                <a:cubicBezTo>
                  <a:pt x="92" y="25"/>
                  <a:pt x="103" y="19"/>
                  <a:pt x="114" y="15"/>
                </a:cubicBezTo>
                <a:cubicBezTo>
                  <a:pt x="126" y="10"/>
                  <a:pt x="137" y="6"/>
                  <a:pt x="149" y="4"/>
                </a:cubicBezTo>
                <a:cubicBezTo>
                  <a:pt x="161" y="2"/>
                  <a:pt x="174" y="0"/>
                  <a:pt x="186" y="0"/>
                </a:cubicBezTo>
                <a:cubicBezTo>
                  <a:pt x="199" y="0"/>
                  <a:pt x="211" y="2"/>
                  <a:pt x="223" y="4"/>
                </a:cubicBezTo>
                <a:cubicBezTo>
                  <a:pt x="235" y="6"/>
                  <a:pt x="246" y="10"/>
                  <a:pt x="257" y="15"/>
                </a:cubicBezTo>
                <a:cubicBezTo>
                  <a:pt x="269" y="19"/>
                  <a:pt x="279" y="25"/>
                  <a:pt x="289" y="32"/>
                </a:cubicBezTo>
                <a:cubicBezTo>
                  <a:pt x="300" y="38"/>
                  <a:pt x="309" y="46"/>
                  <a:pt x="318" y="55"/>
                </a:cubicBezTo>
                <a:cubicBezTo>
                  <a:pt x="326" y="63"/>
                  <a:pt x="334" y="73"/>
                  <a:pt x="341" y="83"/>
                </a:cubicBezTo>
                <a:cubicBezTo>
                  <a:pt x="348" y="93"/>
                  <a:pt x="353" y="104"/>
                  <a:pt x="358" y="116"/>
                </a:cubicBezTo>
                <a:cubicBezTo>
                  <a:pt x="363" y="127"/>
                  <a:pt x="366" y="139"/>
                  <a:pt x="368" y="151"/>
                </a:cubicBezTo>
                <a:cubicBezTo>
                  <a:pt x="371" y="163"/>
                  <a:pt x="372" y="175"/>
                  <a:pt x="372"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8" name=""/>
          <p:cNvSpPr/>
          <p:nvPr/>
        </p:nvSpPr>
        <p:spPr>
          <a:xfrm>
            <a:off x="8498520" y="4035960"/>
            <a:ext cx="134280" cy="134280"/>
          </a:xfrm>
          <a:custGeom>
            <a:avLst/>
            <a:gdLst/>
            <a:ahLst/>
            <a:rect l="0" t="0" r="r" b="b"/>
            <a:pathLst>
              <a:path w="373" h="373">
                <a:moveTo>
                  <a:pt x="373" y="187"/>
                </a:moveTo>
                <a:cubicBezTo>
                  <a:pt x="373" y="199"/>
                  <a:pt x="371" y="211"/>
                  <a:pt x="369" y="223"/>
                </a:cubicBezTo>
                <a:cubicBezTo>
                  <a:pt x="367" y="235"/>
                  <a:pt x="363" y="247"/>
                  <a:pt x="358" y="258"/>
                </a:cubicBezTo>
                <a:cubicBezTo>
                  <a:pt x="354" y="269"/>
                  <a:pt x="348" y="280"/>
                  <a:pt x="341" y="290"/>
                </a:cubicBezTo>
                <a:cubicBezTo>
                  <a:pt x="335" y="300"/>
                  <a:pt x="327" y="310"/>
                  <a:pt x="317" y="318"/>
                </a:cubicBezTo>
                <a:cubicBezTo>
                  <a:pt x="309" y="327"/>
                  <a:pt x="299" y="335"/>
                  <a:pt x="289" y="342"/>
                </a:cubicBezTo>
                <a:cubicBezTo>
                  <a:pt x="279" y="348"/>
                  <a:pt x="268" y="354"/>
                  <a:pt x="257" y="359"/>
                </a:cubicBezTo>
                <a:cubicBezTo>
                  <a:pt x="246" y="363"/>
                  <a:pt x="234" y="367"/>
                  <a:pt x="222" y="369"/>
                </a:cubicBezTo>
                <a:cubicBezTo>
                  <a:pt x="210" y="372"/>
                  <a:pt x="198" y="373"/>
                  <a:pt x="186" y="373"/>
                </a:cubicBezTo>
                <a:cubicBezTo>
                  <a:pt x="174" y="373"/>
                  <a:pt x="162" y="372"/>
                  <a:pt x="150" y="369"/>
                </a:cubicBezTo>
                <a:cubicBezTo>
                  <a:pt x="138" y="367"/>
                  <a:pt x="126" y="363"/>
                  <a:pt x="115" y="359"/>
                </a:cubicBezTo>
                <a:cubicBezTo>
                  <a:pt x="104" y="354"/>
                  <a:pt x="93" y="348"/>
                  <a:pt x="83" y="342"/>
                </a:cubicBezTo>
                <a:cubicBezTo>
                  <a:pt x="73" y="335"/>
                  <a:pt x="63" y="327"/>
                  <a:pt x="55" y="318"/>
                </a:cubicBezTo>
                <a:cubicBezTo>
                  <a:pt x="46" y="310"/>
                  <a:pt x="38" y="300"/>
                  <a:pt x="31" y="290"/>
                </a:cubicBezTo>
                <a:cubicBezTo>
                  <a:pt x="25" y="280"/>
                  <a:pt x="19" y="269"/>
                  <a:pt x="14" y="258"/>
                </a:cubicBezTo>
                <a:cubicBezTo>
                  <a:pt x="10" y="247"/>
                  <a:pt x="6" y="235"/>
                  <a:pt x="4" y="223"/>
                </a:cubicBezTo>
                <a:cubicBezTo>
                  <a:pt x="1" y="211"/>
                  <a:pt x="0" y="199"/>
                  <a:pt x="0" y="187"/>
                </a:cubicBezTo>
                <a:cubicBezTo>
                  <a:pt x="0" y="175"/>
                  <a:pt x="1" y="163"/>
                  <a:pt x="4" y="151"/>
                </a:cubicBezTo>
                <a:cubicBezTo>
                  <a:pt x="6" y="139"/>
                  <a:pt x="10" y="127"/>
                  <a:pt x="14" y="116"/>
                </a:cubicBezTo>
                <a:cubicBezTo>
                  <a:pt x="19" y="104"/>
                  <a:pt x="25" y="93"/>
                  <a:pt x="31" y="83"/>
                </a:cubicBezTo>
                <a:cubicBezTo>
                  <a:pt x="38"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cubicBezTo>
                  <a:pt x="198" y="0"/>
                  <a:pt x="210" y="2"/>
                  <a:pt x="222" y="4"/>
                </a:cubicBezTo>
                <a:cubicBezTo>
                  <a:pt x="234" y="6"/>
                  <a:pt x="246" y="10"/>
                  <a:pt x="257" y="15"/>
                </a:cubicBezTo>
                <a:cubicBezTo>
                  <a:pt x="268" y="19"/>
                  <a:pt x="279" y="25"/>
                  <a:pt x="289" y="32"/>
                </a:cubicBezTo>
                <a:cubicBezTo>
                  <a:pt x="299" y="38"/>
                  <a:pt x="309" y="46"/>
                  <a:pt x="317" y="55"/>
                </a:cubicBezTo>
                <a:cubicBezTo>
                  <a:pt x="327" y="63"/>
                  <a:pt x="335" y="73"/>
                  <a:pt x="341" y="83"/>
                </a:cubicBezTo>
                <a:cubicBezTo>
                  <a:pt x="348" y="93"/>
                  <a:pt x="354" y="104"/>
                  <a:pt x="358" y="116"/>
                </a:cubicBezTo>
                <a:cubicBezTo>
                  <a:pt x="363" y="127"/>
                  <a:pt x="367" y="139"/>
                  <a:pt x="369" y="151"/>
                </a:cubicBezTo>
                <a:cubicBezTo>
                  <a:pt x="371" y="163"/>
                  <a:pt x="373" y="175"/>
                  <a:pt x="373"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79" name=""/>
          <p:cNvSpPr/>
          <p:nvPr/>
        </p:nvSpPr>
        <p:spPr>
          <a:xfrm>
            <a:off x="9108720" y="4035960"/>
            <a:ext cx="133920" cy="134280"/>
          </a:xfrm>
          <a:custGeom>
            <a:avLst/>
            <a:gdLst/>
            <a:ahLst/>
            <a:rect l="0" t="0" r="r" b="b"/>
            <a:pathLst>
              <a:path w="372" h="373">
                <a:moveTo>
                  <a:pt x="372" y="187"/>
                </a:moveTo>
                <a:cubicBezTo>
                  <a:pt x="372" y="199"/>
                  <a:pt x="371" y="211"/>
                  <a:pt x="369" y="223"/>
                </a:cubicBezTo>
                <a:cubicBezTo>
                  <a:pt x="366" y="235"/>
                  <a:pt x="363" y="247"/>
                  <a:pt x="358" y="258"/>
                </a:cubicBezTo>
                <a:cubicBezTo>
                  <a:pt x="353" y="269"/>
                  <a:pt x="348" y="280"/>
                  <a:pt x="341" y="290"/>
                </a:cubicBezTo>
                <a:cubicBezTo>
                  <a:pt x="334" y="300"/>
                  <a:pt x="326" y="310"/>
                  <a:pt x="318" y="318"/>
                </a:cubicBezTo>
                <a:cubicBezTo>
                  <a:pt x="309" y="327"/>
                  <a:pt x="300" y="335"/>
                  <a:pt x="290" y="342"/>
                </a:cubicBezTo>
                <a:cubicBezTo>
                  <a:pt x="279" y="348"/>
                  <a:pt x="269" y="354"/>
                  <a:pt x="257" y="359"/>
                </a:cubicBezTo>
                <a:cubicBezTo>
                  <a:pt x="246" y="363"/>
                  <a:pt x="235" y="367"/>
                  <a:pt x="223" y="369"/>
                </a:cubicBezTo>
                <a:cubicBezTo>
                  <a:pt x="211" y="372"/>
                  <a:pt x="199" y="373"/>
                  <a:pt x="186" y="373"/>
                </a:cubicBezTo>
                <a:cubicBezTo>
                  <a:pt x="174" y="373"/>
                  <a:pt x="162" y="372"/>
                  <a:pt x="150" y="369"/>
                </a:cubicBezTo>
                <a:cubicBezTo>
                  <a:pt x="138" y="367"/>
                  <a:pt x="127" y="363"/>
                  <a:pt x="115" y="359"/>
                </a:cubicBezTo>
                <a:cubicBezTo>
                  <a:pt x="103" y="354"/>
                  <a:pt x="92" y="348"/>
                  <a:pt x="82" y="342"/>
                </a:cubicBezTo>
                <a:cubicBezTo>
                  <a:pt x="72" y="335"/>
                  <a:pt x="63" y="327"/>
                  <a:pt x="54" y="318"/>
                </a:cubicBezTo>
                <a:cubicBezTo>
                  <a:pt x="45" y="310"/>
                  <a:pt x="38" y="300"/>
                  <a:pt x="31" y="290"/>
                </a:cubicBezTo>
                <a:cubicBezTo>
                  <a:pt x="24" y="280"/>
                  <a:pt x="19" y="269"/>
                  <a:pt x="14" y="258"/>
                </a:cubicBezTo>
                <a:cubicBezTo>
                  <a:pt x="9" y="247"/>
                  <a:pt x="6" y="235"/>
                  <a:pt x="3" y="223"/>
                </a:cubicBezTo>
                <a:cubicBezTo>
                  <a:pt x="1" y="211"/>
                  <a:pt x="0" y="199"/>
                  <a:pt x="0" y="187"/>
                </a:cubicBezTo>
                <a:cubicBezTo>
                  <a:pt x="0" y="175"/>
                  <a:pt x="1" y="163"/>
                  <a:pt x="3" y="151"/>
                </a:cubicBezTo>
                <a:cubicBezTo>
                  <a:pt x="6" y="139"/>
                  <a:pt x="9" y="127"/>
                  <a:pt x="14" y="116"/>
                </a:cubicBezTo>
                <a:cubicBezTo>
                  <a:pt x="19" y="104"/>
                  <a:pt x="24" y="93"/>
                  <a:pt x="31" y="83"/>
                </a:cubicBezTo>
                <a:cubicBezTo>
                  <a:pt x="38" y="73"/>
                  <a:pt x="45" y="63"/>
                  <a:pt x="54" y="55"/>
                </a:cubicBezTo>
                <a:cubicBezTo>
                  <a:pt x="63" y="46"/>
                  <a:pt x="72" y="38"/>
                  <a:pt x="82" y="32"/>
                </a:cubicBezTo>
                <a:cubicBezTo>
                  <a:pt x="92" y="25"/>
                  <a:pt x="103" y="19"/>
                  <a:pt x="115" y="15"/>
                </a:cubicBezTo>
                <a:cubicBezTo>
                  <a:pt x="127" y="10"/>
                  <a:pt x="138" y="6"/>
                  <a:pt x="150" y="4"/>
                </a:cubicBezTo>
                <a:cubicBezTo>
                  <a:pt x="162" y="2"/>
                  <a:pt x="174" y="0"/>
                  <a:pt x="186" y="0"/>
                </a:cubicBezTo>
                <a:cubicBezTo>
                  <a:pt x="199" y="0"/>
                  <a:pt x="211" y="2"/>
                  <a:pt x="223" y="4"/>
                </a:cubicBezTo>
                <a:cubicBezTo>
                  <a:pt x="235" y="6"/>
                  <a:pt x="246" y="10"/>
                  <a:pt x="257" y="15"/>
                </a:cubicBezTo>
                <a:cubicBezTo>
                  <a:pt x="269" y="19"/>
                  <a:pt x="279" y="25"/>
                  <a:pt x="290" y="32"/>
                </a:cubicBezTo>
                <a:cubicBezTo>
                  <a:pt x="300" y="38"/>
                  <a:pt x="309" y="46"/>
                  <a:pt x="318" y="55"/>
                </a:cubicBezTo>
                <a:cubicBezTo>
                  <a:pt x="326" y="63"/>
                  <a:pt x="334" y="73"/>
                  <a:pt x="341" y="83"/>
                </a:cubicBezTo>
                <a:cubicBezTo>
                  <a:pt x="348" y="93"/>
                  <a:pt x="353" y="104"/>
                  <a:pt x="358" y="116"/>
                </a:cubicBezTo>
                <a:cubicBezTo>
                  <a:pt x="363" y="127"/>
                  <a:pt x="366" y="139"/>
                  <a:pt x="369" y="151"/>
                </a:cubicBezTo>
                <a:cubicBezTo>
                  <a:pt x="371" y="163"/>
                  <a:pt x="372" y="175"/>
                  <a:pt x="372"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0" name=""/>
          <p:cNvSpPr/>
          <p:nvPr/>
        </p:nvSpPr>
        <p:spPr>
          <a:xfrm>
            <a:off x="9718560" y="4035960"/>
            <a:ext cx="134280" cy="134280"/>
          </a:xfrm>
          <a:custGeom>
            <a:avLst/>
            <a:gdLst/>
            <a:ahLst/>
            <a:rect l="0" t="0" r="r" b="b"/>
            <a:pathLst>
              <a:path w="373" h="373">
                <a:moveTo>
                  <a:pt x="373" y="187"/>
                </a:moveTo>
                <a:cubicBezTo>
                  <a:pt x="373" y="199"/>
                  <a:pt x="371" y="211"/>
                  <a:pt x="369" y="223"/>
                </a:cubicBezTo>
                <a:cubicBezTo>
                  <a:pt x="367" y="235"/>
                  <a:pt x="363" y="247"/>
                  <a:pt x="359" y="258"/>
                </a:cubicBezTo>
                <a:cubicBezTo>
                  <a:pt x="354" y="269"/>
                  <a:pt x="348" y="280"/>
                  <a:pt x="341" y="290"/>
                </a:cubicBezTo>
                <a:cubicBezTo>
                  <a:pt x="335" y="300"/>
                  <a:pt x="327" y="310"/>
                  <a:pt x="318" y="318"/>
                </a:cubicBezTo>
                <a:cubicBezTo>
                  <a:pt x="310" y="327"/>
                  <a:pt x="300" y="335"/>
                  <a:pt x="290" y="342"/>
                </a:cubicBezTo>
                <a:cubicBezTo>
                  <a:pt x="280" y="348"/>
                  <a:pt x="268" y="354"/>
                  <a:pt x="257" y="359"/>
                </a:cubicBezTo>
                <a:cubicBezTo>
                  <a:pt x="246" y="363"/>
                  <a:pt x="234" y="367"/>
                  <a:pt x="222" y="369"/>
                </a:cubicBezTo>
                <a:cubicBezTo>
                  <a:pt x="210" y="372"/>
                  <a:pt x="198" y="373"/>
                  <a:pt x="186" y="373"/>
                </a:cubicBezTo>
                <a:cubicBezTo>
                  <a:pt x="174" y="373"/>
                  <a:pt x="162" y="372"/>
                  <a:pt x="150" y="369"/>
                </a:cubicBezTo>
                <a:cubicBezTo>
                  <a:pt x="138" y="367"/>
                  <a:pt x="126" y="363"/>
                  <a:pt x="115" y="359"/>
                </a:cubicBezTo>
                <a:cubicBezTo>
                  <a:pt x="104" y="354"/>
                  <a:pt x="93" y="348"/>
                  <a:pt x="83" y="342"/>
                </a:cubicBezTo>
                <a:cubicBezTo>
                  <a:pt x="73" y="335"/>
                  <a:pt x="63" y="327"/>
                  <a:pt x="55" y="318"/>
                </a:cubicBezTo>
                <a:cubicBezTo>
                  <a:pt x="46" y="310"/>
                  <a:pt x="38" y="300"/>
                  <a:pt x="32" y="290"/>
                </a:cubicBezTo>
                <a:cubicBezTo>
                  <a:pt x="25" y="280"/>
                  <a:pt x="19" y="269"/>
                  <a:pt x="14" y="258"/>
                </a:cubicBezTo>
                <a:cubicBezTo>
                  <a:pt x="10" y="247"/>
                  <a:pt x="6" y="235"/>
                  <a:pt x="4" y="223"/>
                </a:cubicBezTo>
                <a:cubicBezTo>
                  <a:pt x="1" y="211"/>
                  <a:pt x="0" y="199"/>
                  <a:pt x="0" y="187"/>
                </a:cubicBezTo>
                <a:cubicBezTo>
                  <a:pt x="0" y="175"/>
                  <a:pt x="1" y="163"/>
                  <a:pt x="4" y="151"/>
                </a:cubicBezTo>
                <a:cubicBezTo>
                  <a:pt x="6" y="139"/>
                  <a:pt x="10" y="127"/>
                  <a:pt x="14" y="116"/>
                </a:cubicBezTo>
                <a:cubicBezTo>
                  <a:pt x="19" y="104"/>
                  <a:pt x="25" y="93"/>
                  <a:pt x="32" y="83"/>
                </a:cubicBezTo>
                <a:cubicBezTo>
                  <a:pt x="38"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cubicBezTo>
                  <a:pt x="198" y="0"/>
                  <a:pt x="210" y="2"/>
                  <a:pt x="222" y="4"/>
                </a:cubicBezTo>
                <a:cubicBezTo>
                  <a:pt x="234" y="6"/>
                  <a:pt x="246" y="10"/>
                  <a:pt x="257" y="15"/>
                </a:cubicBezTo>
                <a:cubicBezTo>
                  <a:pt x="268" y="19"/>
                  <a:pt x="280" y="25"/>
                  <a:pt x="290" y="32"/>
                </a:cubicBezTo>
                <a:cubicBezTo>
                  <a:pt x="300" y="38"/>
                  <a:pt x="310" y="46"/>
                  <a:pt x="318" y="55"/>
                </a:cubicBezTo>
                <a:cubicBezTo>
                  <a:pt x="327" y="63"/>
                  <a:pt x="335" y="73"/>
                  <a:pt x="341" y="83"/>
                </a:cubicBezTo>
                <a:cubicBezTo>
                  <a:pt x="348" y="93"/>
                  <a:pt x="354" y="104"/>
                  <a:pt x="359" y="116"/>
                </a:cubicBezTo>
                <a:cubicBezTo>
                  <a:pt x="363" y="127"/>
                  <a:pt x="367" y="139"/>
                  <a:pt x="369" y="151"/>
                </a:cubicBezTo>
                <a:cubicBezTo>
                  <a:pt x="371" y="163"/>
                  <a:pt x="373" y="175"/>
                  <a:pt x="373" y="187"/>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81" name=""/>
          <p:cNvSpPr txBox="1"/>
          <p:nvPr/>
        </p:nvSpPr>
        <p:spPr>
          <a:xfrm>
            <a:off x="3818880" y="4085280"/>
            <a:ext cx="403200" cy="146520"/>
          </a:xfrm>
          <a:prstGeom prst="rect">
            <a:avLst/>
          </a:prstGeom>
          <a:noFill/>
          <a:ln w="0">
            <a:noFill/>
          </a:ln>
        </p:spPr>
        <p:txBody>
          <a:bodyPr wrap="none" lIns="0" rIns="0" tIns="0" bIns="0" anchor="t">
            <a:spAutoFit/>
          </a:bodyPr>
          <a:p>
            <a:r>
              <a:rPr b="0" lang="zh-CN" sz="790" strike="noStrike" u="none">
                <a:solidFill>
                  <a:srgbClr val="ff6900"/>
                </a:solidFill>
                <a:effectLst/>
                <a:uFillTx/>
                <a:latin typeface="NotoSansJP"/>
                <a:ea typeface="NotoSansJP"/>
              </a:rPr>
              <a:t>可聴領域</a:t>
            </a:r>
            <a:endParaRPr b="0" lang="en-US" sz="790" strike="noStrike" u="none">
              <a:solidFill>
                <a:srgbClr val="000000"/>
              </a:solidFill>
              <a:effectLst/>
              <a:uFillTx/>
              <a:latin typeface="Times New Roman"/>
            </a:endParaRPr>
          </a:p>
        </p:txBody>
      </p:sp>
      <p:sp>
        <p:nvSpPr>
          <p:cNvPr id="582" name=""/>
          <p:cNvSpPr/>
          <p:nvPr/>
        </p:nvSpPr>
        <p:spPr>
          <a:xfrm>
            <a:off x="5816160" y="2799360"/>
            <a:ext cx="200880" cy="1069920"/>
          </a:xfrm>
          <a:custGeom>
            <a:avLst/>
            <a:gdLst/>
            <a:ahLst/>
            <a:rect l="0" t="0" r="r" b="b"/>
            <a:pathLst>
              <a:path w="558" h="2972">
                <a:moveTo>
                  <a:pt x="0" y="2879"/>
                </a:moveTo>
                <a:lnTo>
                  <a:pt x="0" y="93"/>
                </a:lnTo>
                <a:cubicBezTo>
                  <a:pt x="0" y="80"/>
                  <a:pt x="2" y="69"/>
                  <a:pt x="7" y="57"/>
                </a:cubicBezTo>
                <a:cubicBezTo>
                  <a:pt x="12" y="46"/>
                  <a:pt x="18" y="36"/>
                  <a:pt x="27" y="27"/>
                </a:cubicBezTo>
                <a:cubicBezTo>
                  <a:pt x="36" y="18"/>
                  <a:pt x="46" y="12"/>
                  <a:pt x="57" y="7"/>
                </a:cubicBezTo>
                <a:cubicBezTo>
                  <a:pt x="68" y="2"/>
                  <a:pt x="80" y="0"/>
                  <a:pt x="93" y="0"/>
                </a:cubicBezTo>
                <a:lnTo>
                  <a:pt x="465" y="0"/>
                </a:lnTo>
                <a:cubicBezTo>
                  <a:pt x="477" y="0"/>
                  <a:pt x="489" y="2"/>
                  <a:pt x="501" y="7"/>
                </a:cubicBezTo>
                <a:cubicBezTo>
                  <a:pt x="512" y="12"/>
                  <a:pt x="522" y="18"/>
                  <a:pt x="531" y="27"/>
                </a:cubicBezTo>
                <a:cubicBezTo>
                  <a:pt x="539" y="36"/>
                  <a:pt x="546" y="46"/>
                  <a:pt x="551" y="57"/>
                </a:cubicBezTo>
                <a:cubicBezTo>
                  <a:pt x="556" y="69"/>
                  <a:pt x="558" y="80"/>
                  <a:pt x="558" y="93"/>
                </a:cubicBezTo>
                <a:lnTo>
                  <a:pt x="558" y="2879"/>
                </a:lnTo>
                <a:cubicBezTo>
                  <a:pt x="558" y="2892"/>
                  <a:pt x="556" y="2903"/>
                  <a:pt x="551" y="2915"/>
                </a:cubicBezTo>
                <a:cubicBezTo>
                  <a:pt x="546" y="2926"/>
                  <a:pt x="539" y="2936"/>
                  <a:pt x="531" y="2945"/>
                </a:cubicBezTo>
                <a:cubicBezTo>
                  <a:pt x="522" y="2954"/>
                  <a:pt x="512" y="2960"/>
                  <a:pt x="501" y="2965"/>
                </a:cubicBezTo>
                <a:cubicBezTo>
                  <a:pt x="489" y="2970"/>
                  <a:pt x="477" y="2972"/>
                  <a:pt x="465" y="2972"/>
                </a:cubicBezTo>
                <a:lnTo>
                  <a:pt x="93" y="2972"/>
                </a:lnTo>
                <a:cubicBezTo>
                  <a:pt x="80" y="2972"/>
                  <a:pt x="68" y="2970"/>
                  <a:pt x="57" y="2965"/>
                </a:cubicBezTo>
                <a:cubicBezTo>
                  <a:pt x="46" y="2960"/>
                  <a:pt x="36" y="2954"/>
                  <a:pt x="27" y="2945"/>
                </a:cubicBezTo>
                <a:cubicBezTo>
                  <a:pt x="18" y="2936"/>
                  <a:pt x="12" y="2926"/>
                  <a:pt x="7" y="2915"/>
                </a:cubicBezTo>
                <a:cubicBezTo>
                  <a:pt x="2" y="2903"/>
                  <a:pt x="0" y="2892"/>
                  <a:pt x="0" y="2879"/>
                </a:cubicBezTo>
                <a:close/>
              </a:path>
            </a:pathLst>
          </a:custGeom>
          <a:solidFill>
            <a:srgbClr val="d1d5d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83" name="" descr=""/>
          <p:cNvPicPr/>
          <p:nvPr/>
        </p:nvPicPr>
        <p:blipFill>
          <a:blip r:embed="rId25"/>
          <a:stretch/>
        </p:blipFill>
        <p:spPr>
          <a:xfrm>
            <a:off x="5841360" y="3267360"/>
            <a:ext cx="150120" cy="133200"/>
          </a:xfrm>
          <a:prstGeom prst="rect">
            <a:avLst/>
          </a:prstGeom>
          <a:noFill/>
          <a:ln w="0">
            <a:noFill/>
          </a:ln>
        </p:spPr>
      </p:pic>
      <p:sp>
        <p:nvSpPr>
          <p:cNvPr id="584" name=""/>
          <p:cNvSpPr txBox="1"/>
          <p:nvPr/>
        </p:nvSpPr>
        <p:spPr>
          <a:xfrm>
            <a:off x="7253640" y="4352760"/>
            <a:ext cx="140904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一次元配列スピーカ（搬送波）</a:t>
            </a:r>
            <a:endParaRPr b="0" lang="en-US" sz="790" strike="noStrike" u="none">
              <a:solidFill>
                <a:srgbClr val="000000"/>
              </a:solidFill>
              <a:effectLst/>
              <a:uFillTx/>
              <a:latin typeface="Times New Roman"/>
            </a:endParaRPr>
          </a:p>
        </p:txBody>
      </p:sp>
      <p:sp>
        <p:nvSpPr>
          <p:cNvPr id="585" name=""/>
          <p:cNvSpPr txBox="1"/>
          <p:nvPr/>
        </p:nvSpPr>
        <p:spPr>
          <a:xfrm>
            <a:off x="6083640" y="3617280"/>
            <a:ext cx="40320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側帯波用</a:t>
            </a:r>
            <a:endParaRPr b="0" lang="en-US" sz="790" strike="noStrike" u="none">
              <a:solidFill>
                <a:srgbClr val="000000"/>
              </a:solidFill>
              <a:effectLst/>
              <a:uFillTx/>
              <a:latin typeface="Times New Roman"/>
            </a:endParaRPr>
          </a:p>
        </p:txBody>
      </p:sp>
      <p:sp>
        <p:nvSpPr>
          <p:cNvPr id="586" name=""/>
          <p:cNvSpPr/>
          <p:nvPr/>
        </p:nvSpPr>
        <p:spPr>
          <a:xfrm>
            <a:off x="6350760" y="2799360"/>
            <a:ext cx="3744360" cy="1203840"/>
          </a:xfrm>
          <a:custGeom>
            <a:avLst/>
            <a:gdLst/>
            <a:ahLst/>
            <a:rect l="0" t="0" r="r" b="b"/>
            <a:pathLst>
              <a:path w="10401" h="3344">
                <a:moveTo>
                  <a:pt x="0" y="3251"/>
                </a:moveTo>
                <a:lnTo>
                  <a:pt x="0" y="93"/>
                </a:lnTo>
                <a:cubicBezTo>
                  <a:pt x="0" y="80"/>
                  <a:pt x="3" y="69"/>
                  <a:pt x="7" y="57"/>
                </a:cubicBezTo>
                <a:cubicBezTo>
                  <a:pt x="12" y="46"/>
                  <a:pt x="19" y="36"/>
                  <a:pt x="28" y="27"/>
                </a:cubicBezTo>
                <a:cubicBezTo>
                  <a:pt x="36" y="18"/>
                  <a:pt x="46" y="12"/>
                  <a:pt x="58" y="7"/>
                </a:cubicBezTo>
                <a:cubicBezTo>
                  <a:pt x="69" y="2"/>
                  <a:pt x="81" y="0"/>
                  <a:pt x="93" y="0"/>
                </a:cubicBezTo>
                <a:lnTo>
                  <a:pt x="10308" y="0"/>
                </a:lnTo>
                <a:cubicBezTo>
                  <a:pt x="10320" y="0"/>
                  <a:pt x="10332" y="2"/>
                  <a:pt x="10344" y="7"/>
                </a:cubicBezTo>
                <a:cubicBezTo>
                  <a:pt x="10355" y="12"/>
                  <a:pt x="10365" y="18"/>
                  <a:pt x="10374" y="27"/>
                </a:cubicBezTo>
                <a:cubicBezTo>
                  <a:pt x="10382" y="36"/>
                  <a:pt x="10389" y="46"/>
                  <a:pt x="10394" y="57"/>
                </a:cubicBezTo>
                <a:cubicBezTo>
                  <a:pt x="10399" y="69"/>
                  <a:pt x="10401" y="80"/>
                  <a:pt x="10401" y="93"/>
                </a:cubicBezTo>
                <a:lnTo>
                  <a:pt x="10401" y="3251"/>
                </a:lnTo>
                <a:cubicBezTo>
                  <a:pt x="10401" y="3263"/>
                  <a:pt x="10399" y="3275"/>
                  <a:pt x="10394" y="3286"/>
                </a:cubicBezTo>
                <a:cubicBezTo>
                  <a:pt x="10389" y="3298"/>
                  <a:pt x="10382" y="3308"/>
                  <a:pt x="10374" y="3316"/>
                </a:cubicBezTo>
                <a:cubicBezTo>
                  <a:pt x="10365" y="3325"/>
                  <a:pt x="10355" y="3332"/>
                  <a:pt x="10344" y="3336"/>
                </a:cubicBezTo>
                <a:cubicBezTo>
                  <a:pt x="10332" y="3341"/>
                  <a:pt x="10320" y="3344"/>
                  <a:pt x="10308" y="3344"/>
                </a:cubicBezTo>
                <a:lnTo>
                  <a:pt x="93" y="3344"/>
                </a:lnTo>
                <a:cubicBezTo>
                  <a:pt x="81" y="3344"/>
                  <a:pt x="69" y="3341"/>
                  <a:pt x="58" y="3336"/>
                </a:cubicBezTo>
                <a:cubicBezTo>
                  <a:pt x="46" y="3332"/>
                  <a:pt x="36" y="3325"/>
                  <a:pt x="28" y="3316"/>
                </a:cubicBezTo>
                <a:cubicBezTo>
                  <a:pt x="19" y="3308"/>
                  <a:pt x="12" y="3298"/>
                  <a:pt x="7" y="3286"/>
                </a:cubicBezTo>
                <a:cubicBezTo>
                  <a:pt x="3" y="3275"/>
                  <a:pt x="0" y="3263"/>
                  <a:pt x="0" y="3251"/>
                </a:cubicBezTo>
                <a:close/>
              </a:path>
            </a:pathLst>
          </a:custGeom>
          <a:solidFill>
            <a:srgbClr val="f3f4f6">
              <a:alpha val="5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87" name=""/>
          <p:cNvSpPr/>
          <p:nvPr/>
        </p:nvSpPr>
        <p:spPr>
          <a:xfrm flipV="1">
            <a:off x="6990840" y="2885040"/>
            <a:ext cx="7560" cy="4680"/>
          </a:xfrm>
          <a:prstGeom prst="line">
            <a:avLst/>
          </a:prstGeom>
          <a:ln w="16560">
            <a:solidFill>
              <a:srgbClr val="003366">
                <a:alpha val="30000"/>
              </a:srgbClr>
            </a:solidFill>
            <a:miter/>
          </a:ln>
        </p:spPr>
        <p:style>
          <a:lnRef idx="0"/>
          <a:fillRef idx="0"/>
          <a:effectRef idx="0"/>
          <a:fontRef idx="minor"/>
        </p:style>
        <p:txBody>
          <a:bodyPr lIns="8280" rIns="8280" tIns="-3600" bIns="-3600" anchor="t">
            <a:noAutofit/>
          </a:bodyPr>
          <a:p>
            <a:endParaRPr b="0" lang="en-US" sz="2400" strike="noStrike" u="none">
              <a:solidFill>
                <a:srgbClr val="000000"/>
              </a:solidFill>
              <a:effectLst/>
              <a:uFillTx/>
              <a:latin typeface="Times New Roman"/>
            </a:endParaRPr>
          </a:p>
        </p:txBody>
      </p:sp>
      <p:sp>
        <p:nvSpPr>
          <p:cNvPr id="588" name=""/>
          <p:cNvSpPr/>
          <p:nvPr/>
        </p:nvSpPr>
        <p:spPr>
          <a:xfrm>
            <a:off x="8222760" y="2807640"/>
            <a:ext cx="8280" cy="0"/>
          </a:xfrm>
          <a:prstGeom prst="line">
            <a:avLst/>
          </a:prstGeom>
          <a:ln w="16560">
            <a:solidFill>
              <a:srgbClr val="003366">
                <a:alpha val="30000"/>
              </a:srgbClr>
            </a:solidFill>
            <a:miter/>
          </a:ln>
        </p:spPr>
        <p:style>
          <a:lnRef idx="0"/>
          <a:fillRef idx="0"/>
          <a:effectRef idx="0"/>
          <a:fontRef idx="minor"/>
        </p:style>
        <p:txBody>
          <a:bodyPr lIns="8280" rIns="8280" tIns="-8280" bIns="-8280" anchor="t">
            <a:noAutofit/>
          </a:bodyPr>
          <a:p>
            <a:endParaRPr b="0" lang="en-US" sz="2400" strike="noStrike" u="none">
              <a:solidFill>
                <a:srgbClr val="000000"/>
              </a:solidFill>
              <a:effectLst/>
              <a:uFillTx/>
              <a:latin typeface="Times New Roman"/>
            </a:endParaRPr>
          </a:p>
        </p:txBody>
      </p:sp>
      <p:sp>
        <p:nvSpPr>
          <p:cNvPr id="589" name=""/>
          <p:cNvSpPr/>
          <p:nvPr/>
        </p:nvSpPr>
        <p:spPr>
          <a:xfrm>
            <a:off x="9456120" y="2885040"/>
            <a:ext cx="7560" cy="4680"/>
          </a:xfrm>
          <a:prstGeom prst="line">
            <a:avLst/>
          </a:prstGeom>
          <a:ln w="16560">
            <a:solidFill>
              <a:srgbClr val="003366">
                <a:alpha val="30000"/>
              </a:srgbClr>
            </a:solidFill>
            <a:miter/>
          </a:ln>
        </p:spPr>
        <p:style>
          <a:lnRef idx="0"/>
          <a:fillRef idx="0"/>
          <a:effectRef idx="0"/>
          <a:fontRef idx="minor"/>
        </p:style>
        <p:txBody>
          <a:bodyPr lIns="8280" rIns="8280" tIns="-3600" bIns="-3600" anchor="t">
            <a:noAutofit/>
          </a:bodyPr>
          <a:p>
            <a:endParaRPr b="0" lang="en-US" sz="2400" strike="noStrike" u="none">
              <a:solidFill>
                <a:srgbClr val="000000"/>
              </a:solidFill>
              <a:effectLst/>
              <a:uFillTx/>
              <a:latin typeface="Times New Roman"/>
            </a:endParaRPr>
          </a:p>
        </p:txBody>
      </p:sp>
      <p:sp>
        <p:nvSpPr>
          <p:cNvPr id="590" name=""/>
          <p:cNvSpPr/>
          <p:nvPr/>
        </p:nvSpPr>
        <p:spPr>
          <a:xfrm>
            <a:off x="6350760" y="2799360"/>
            <a:ext cx="3744360" cy="1203840"/>
          </a:xfrm>
          <a:custGeom>
            <a:avLst/>
            <a:gdLst/>
            <a:ahLst/>
            <a:rect l="0" t="0" r="r" b="b"/>
            <a:pathLst>
              <a:path w="10401" h="3344">
                <a:moveTo>
                  <a:pt x="0" y="0"/>
                </a:moveTo>
                <a:lnTo>
                  <a:pt x="10401" y="0"/>
                </a:lnTo>
                <a:lnTo>
                  <a:pt x="10401" y="3344"/>
                </a:lnTo>
                <a:lnTo>
                  <a:pt x="0" y="3344"/>
                </a:lnTo>
                <a:lnTo>
                  <a:pt x="0" y="0"/>
                </a:lnTo>
                <a:close/>
              </a:path>
            </a:pathLst>
          </a:custGeom>
          <a:solidFill>
            <a:srgbClr val="ff69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591" name="" descr=""/>
          <p:cNvPicPr/>
          <p:nvPr/>
        </p:nvPicPr>
        <p:blipFill>
          <a:blip r:embed="rId26"/>
          <a:stretch/>
        </p:blipFill>
        <p:spPr>
          <a:xfrm>
            <a:off x="7287120" y="3100320"/>
            <a:ext cx="400680" cy="400680"/>
          </a:xfrm>
          <a:prstGeom prst="rect">
            <a:avLst/>
          </a:prstGeom>
          <a:noFill/>
          <a:ln w="0">
            <a:noFill/>
          </a:ln>
        </p:spPr>
      </p:pic>
      <p:pic>
        <p:nvPicPr>
          <p:cNvPr id="592" name="" descr=""/>
          <p:cNvPicPr/>
          <p:nvPr/>
        </p:nvPicPr>
        <p:blipFill>
          <a:blip r:embed="rId27"/>
          <a:stretch/>
        </p:blipFill>
        <p:spPr>
          <a:xfrm>
            <a:off x="8223120" y="3401280"/>
            <a:ext cx="400680" cy="400680"/>
          </a:xfrm>
          <a:prstGeom prst="rect">
            <a:avLst/>
          </a:prstGeom>
          <a:noFill/>
          <a:ln w="0">
            <a:noFill/>
          </a:ln>
        </p:spPr>
      </p:pic>
      <p:pic>
        <p:nvPicPr>
          <p:cNvPr id="593" name="" descr=""/>
          <p:cNvPicPr/>
          <p:nvPr/>
        </p:nvPicPr>
        <p:blipFill>
          <a:blip r:embed="rId28"/>
          <a:stretch/>
        </p:blipFill>
        <p:spPr>
          <a:xfrm>
            <a:off x="9159120" y="3701880"/>
            <a:ext cx="400680" cy="400680"/>
          </a:xfrm>
          <a:prstGeom prst="rect">
            <a:avLst/>
          </a:prstGeom>
          <a:noFill/>
          <a:ln w="0">
            <a:noFill/>
          </a:ln>
        </p:spPr>
      </p:pic>
      <p:sp>
        <p:nvSpPr>
          <p:cNvPr id="594" name=""/>
          <p:cNvSpPr txBox="1"/>
          <p:nvPr/>
        </p:nvSpPr>
        <p:spPr>
          <a:xfrm>
            <a:off x="6083640" y="3751200"/>
            <a:ext cx="403200" cy="146520"/>
          </a:xfrm>
          <a:prstGeom prst="rect">
            <a:avLst/>
          </a:prstGeom>
          <a:noFill/>
          <a:ln w="0">
            <a:noFill/>
          </a:ln>
        </p:spPr>
        <p:txBody>
          <a:bodyPr wrap="none" lIns="0" rIns="0" tIns="0" bIns="0" anchor="t">
            <a:spAutoFit/>
          </a:bodyPr>
          <a:p>
            <a:r>
              <a:rPr b="0" lang="zh-CN" sz="790" strike="noStrike" u="none">
                <a:solidFill>
                  <a:srgbClr val="000000"/>
                </a:solidFill>
                <a:effectLst/>
                <a:uFillTx/>
                <a:latin typeface="NotoSansJP"/>
                <a:ea typeface="NotoSansJP"/>
              </a:rPr>
              <a:t>スピーカ</a:t>
            </a:r>
            <a:endParaRPr b="0" lang="en-US" sz="790" strike="noStrike" u="none">
              <a:solidFill>
                <a:srgbClr val="000000"/>
              </a:solidFill>
              <a:effectLst/>
              <a:uFillTx/>
              <a:latin typeface="Times New Roman"/>
            </a:endParaRPr>
          </a:p>
        </p:txBody>
      </p:sp>
      <p:pic>
        <p:nvPicPr>
          <p:cNvPr id="595" name="" descr=""/>
          <p:cNvPicPr/>
          <p:nvPr/>
        </p:nvPicPr>
        <p:blipFill>
          <a:blip r:embed="rId29"/>
          <a:stretch/>
        </p:blipFill>
        <p:spPr>
          <a:xfrm>
            <a:off x="7287120" y="3259080"/>
            <a:ext cx="91440" cy="100080"/>
          </a:xfrm>
          <a:prstGeom prst="rect">
            <a:avLst/>
          </a:prstGeom>
          <a:noFill/>
          <a:ln w="0">
            <a:noFill/>
          </a:ln>
        </p:spPr>
      </p:pic>
      <p:sp>
        <p:nvSpPr>
          <p:cNvPr id="596" name=""/>
          <p:cNvSpPr txBox="1"/>
          <p:nvPr/>
        </p:nvSpPr>
        <p:spPr>
          <a:xfrm>
            <a:off x="6752160" y="2881800"/>
            <a:ext cx="604080" cy="146520"/>
          </a:xfrm>
          <a:prstGeom prst="rect">
            <a:avLst/>
          </a:prstGeom>
          <a:noFill/>
          <a:ln w="0">
            <a:noFill/>
          </a:ln>
        </p:spPr>
        <p:txBody>
          <a:bodyPr wrap="none" lIns="0" rIns="0" tIns="0" bIns="0" anchor="t">
            <a:spAutoFit/>
          </a:bodyPr>
          <a:p>
            <a:r>
              <a:rPr b="0" lang="zh-CN" sz="790" strike="noStrike" u="none">
                <a:solidFill>
                  <a:srgbClr val="4b5563"/>
                </a:solidFill>
                <a:effectLst/>
                <a:uFillTx/>
                <a:latin typeface="NotoSansJP"/>
                <a:ea typeface="NotoSansJP"/>
              </a:rPr>
              <a:t>側帯波エリア</a:t>
            </a:r>
            <a:endParaRPr b="0" lang="en-US" sz="790" strike="noStrike" u="none">
              <a:solidFill>
                <a:srgbClr val="000000"/>
              </a:solidFill>
              <a:effectLst/>
              <a:uFillTx/>
              <a:latin typeface="Times New Roman"/>
            </a:endParaRPr>
          </a:p>
        </p:txBody>
      </p:sp>
      <p:sp>
        <p:nvSpPr>
          <p:cNvPr id="597" name=""/>
          <p:cNvSpPr txBox="1"/>
          <p:nvPr/>
        </p:nvSpPr>
        <p:spPr>
          <a:xfrm>
            <a:off x="7412400" y="3249720"/>
            <a:ext cx="906120" cy="146520"/>
          </a:xfrm>
          <a:prstGeom prst="rect">
            <a:avLst/>
          </a:prstGeom>
          <a:noFill/>
          <a:ln w="0">
            <a:noFill/>
          </a:ln>
        </p:spPr>
        <p:txBody>
          <a:bodyPr wrap="none" lIns="0" rIns="0" tIns="0" bIns="0" anchor="t">
            <a:spAutoFit/>
          </a:bodyPr>
          <a:p>
            <a:r>
              <a:rPr b="0" lang="zh-CN" sz="790" strike="noStrike" u="none">
                <a:solidFill>
                  <a:srgbClr val="ff6900"/>
                </a:solidFill>
                <a:effectLst/>
                <a:uFillTx/>
                <a:latin typeface="NotoSansJP"/>
                <a:ea typeface="NotoSansJP"/>
              </a:rPr>
              <a:t>オーディオスポット</a:t>
            </a:r>
            <a:endParaRPr b="0" lang="en-US" sz="79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
          <p:cNvSpPr/>
          <p:nvPr/>
        </p:nvSpPr>
        <p:spPr>
          <a:xfrm>
            <a:off x="0" y="0"/>
            <a:ext cx="10696680" cy="6493320"/>
          </a:xfrm>
          <a:custGeom>
            <a:avLst/>
            <a:gdLst/>
            <a:ahLst/>
            <a:rect l="0" t="0" r="r" b="b"/>
            <a:pathLst>
              <a:path w="29713" h="18037">
                <a:moveTo>
                  <a:pt x="0" y="0"/>
                </a:moveTo>
                <a:lnTo>
                  <a:pt x="29713" y="0"/>
                </a:lnTo>
                <a:lnTo>
                  <a:pt x="29713" y="18037"/>
                </a:lnTo>
                <a:lnTo>
                  <a:pt x="0" y="18037"/>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99" name="" descr=""/>
          <p:cNvPicPr/>
          <p:nvPr/>
        </p:nvPicPr>
        <p:blipFill>
          <a:blip r:embed="rId1"/>
          <a:stretch/>
        </p:blipFill>
        <p:spPr>
          <a:xfrm>
            <a:off x="0" y="0"/>
            <a:ext cx="10696320" cy="668160"/>
          </a:xfrm>
          <a:prstGeom prst="rect">
            <a:avLst/>
          </a:prstGeom>
          <a:noFill/>
          <a:ln w="0">
            <a:noFill/>
          </a:ln>
        </p:spPr>
      </p:pic>
      <p:pic>
        <p:nvPicPr>
          <p:cNvPr id="600" name="" descr=""/>
          <p:cNvPicPr/>
          <p:nvPr/>
        </p:nvPicPr>
        <p:blipFill>
          <a:blip r:embed="rId2"/>
          <a:stretch/>
        </p:blipFill>
        <p:spPr>
          <a:xfrm>
            <a:off x="417960" y="952560"/>
            <a:ext cx="200160" cy="200160"/>
          </a:xfrm>
          <a:prstGeom prst="rect">
            <a:avLst/>
          </a:prstGeom>
          <a:noFill/>
          <a:ln w="0">
            <a:noFill/>
          </a:ln>
        </p:spPr>
      </p:pic>
      <p:sp>
        <p:nvSpPr>
          <p:cNvPr id="601" name=""/>
          <p:cNvSpPr txBox="1"/>
          <p:nvPr/>
        </p:nvSpPr>
        <p:spPr>
          <a:xfrm>
            <a:off x="334440" y="210240"/>
            <a:ext cx="477864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周波数多重分割による複数発振構造の提案</a:t>
            </a:r>
            <a:endParaRPr b="0" lang="en-US" sz="1979" strike="noStrike" u="none">
              <a:solidFill>
                <a:srgbClr val="000000"/>
              </a:solidFill>
              <a:effectLst/>
              <a:uFillTx/>
              <a:latin typeface="Times New Roman"/>
            </a:endParaRPr>
          </a:p>
        </p:txBody>
      </p:sp>
      <p:sp>
        <p:nvSpPr>
          <p:cNvPr id="602" name=""/>
          <p:cNvSpPr txBox="1"/>
          <p:nvPr/>
        </p:nvSpPr>
        <p:spPr>
          <a:xfrm>
            <a:off x="718560" y="950400"/>
            <a:ext cx="310104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周波数多重分割（</a:t>
            </a:r>
            <a:r>
              <a:rPr b="0" lang="en-US" sz="1580" strike="noStrike" u="none">
                <a:solidFill>
                  <a:srgbClr val="003366"/>
                </a:solidFill>
                <a:effectLst/>
                <a:uFillTx/>
                <a:latin typeface="NotoSansJP"/>
                <a:ea typeface="NotoSansJP"/>
              </a:rPr>
              <a:t>FDMA</a:t>
            </a:r>
            <a:r>
              <a:rPr b="0" lang="zh-CN" sz="1580" strike="noStrike" u="none">
                <a:solidFill>
                  <a:srgbClr val="003366"/>
                </a:solidFill>
                <a:effectLst/>
                <a:uFillTx/>
                <a:latin typeface="NotoSansJP"/>
                <a:ea typeface="NotoSansJP"/>
              </a:rPr>
              <a:t>）の応用</a:t>
            </a:r>
            <a:endParaRPr b="0" lang="en-US" sz="1580" strike="noStrike" u="none">
              <a:solidFill>
                <a:srgbClr val="000000"/>
              </a:solidFill>
              <a:effectLst/>
              <a:uFillTx/>
              <a:latin typeface="Times New Roman"/>
            </a:endParaRPr>
          </a:p>
        </p:txBody>
      </p:sp>
      <p:sp>
        <p:nvSpPr>
          <p:cNvPr id="603" name=""/>
          <p:cNvSpPr txBox="1"/>
          <p:nvPr/>
        </p:nvSpPr>
        <p:spPr>
          <a:xfrm>
            <a:off x="752040" y="1356120"/>
            <a:ext cx="95396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パラメトリックスピーカの高い直進性を生かし、</a:t>
            </a:r>
            <a:r>
              <a:rPr b="0" lang="zh-CN" sz="1180" strike="noStrike" u="none">
                <a:solidFill>
                  <a:srgbClr val="ff8c00"/>
                </a:solidFill>
                <a:effectLst/>
                <a:uFillTx/>
                <a:latin typeface="NotoSansJP"/>
                <a:ea typeface="NotoSansJP"/>
              </a:rPr>
              <a:t>周波数多重分割</a:t>
            </a:r>
            <a:r>
              <a:rPr b="0" lang="zh-CN" sz="1180" strike="noStrike" u="none">
                <a:solidFill>
                  <a:srgbClr val="000000"/>
                </a:solidFill>
                <a:effectLst/>
                <a:uFillTx/>
                <a:latin typeface="NotoSansJP"/>
                <a:ea typeface="NotoSansJP"/>
              </a:rPr>
              <a:t>を利用することで、 同一空間内に</a:t>
            </a:r>
            <a:r>
              <a:rPr b="0" lang="zh-CN" sz="1180" strike="noStrike" u="none">
                <a:solidFill>
                  <a:srgbClr val="ff8c00"/>
                </a:solidFill>
                <a:effectLst/>
                <a:uFillTx/>
                <a:latin typeface="NotoSansJP"/>
                <a:ea typeface="NotoSansJP"/>
              </a:rPr>
              <a:t>複数の独立したオーディオスポット</a:t>
            </a:r>
            <a:r>
              <a:rPr b="0" lang="zh-CN" sz="1180" strike="noStrike" u="none">
                <a:solidFill>
                  <a:srgbClr val="000000"/>
                </a:solidFill>
                <a:effectLst/>
                <a:uFillTx/>
                <a:latin typeface="NotoSansJP"/>
                <a:ea typeface="NotoSansJP"/>
              </a:rPr>
              <a:t>を形成</a:t>
            </a:r>
            <a:endParaRPr b="0" lang="en-US" sz="1180" strike="noStrike" u="none">
              <a:solidFill>
                <a:srgbClr val="000000"/>
              </a:solidFill>
              <a:effectLst/>
              <a:uFillTx/>
              <a:latin typeface="Times New Roman"/>
            </a:endParaRPr>
          </a:p>
        </p:txBody>
      </p:sp>
      <p:sp>
        <p:nvSpPr>
          <p:cNvPr id="604" name=""/>
          <p:cNvSpPr txBox="1"/>
          <p:nvPr/>
        </p:nvSpPr>
        <p:spPr>
          <a:xfrm>
            <a:off x="752040" y="1590120"/>
            <a:ext cx="10569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することが可能</a:t>
            </a:r>
            <a:endParaRPr b="0" lang="en-US" sz="1180" strike="noStrike" u="none">
              <a:solidFill>
                <a:srgbClr val="000000"/>
              </a:solidFill>
              <a:effectLst/>
              <a:uFillTx/>
              <a:latin typeface="Times New Roman"/>
            </a:endParaRPr>
          </a:p>
        </p:txBody>
      </p:sp>
      <p:pic>
        <p:nvPicPr>
          <p:cNvPr id="605" name="" descr=""/>
          <p:cNvPicPr/>
          <p:nvPr/>
        </p:nvPicPr>
        <p:blipFill>
          <a:blip r:embed="rId3"/>
          <a:stretch/>
        </p:blipFill>
        <p:spPr>
          <a:xfrm>
            <a:off x="551520" y="2323080"/>
            <a:ext cx="133200" cy="133200"/>
          </a:xfrm>
          <a:prstGeom prst="rect">
            <a:avLst/>
          </a:prstGeom>
          <a:noFill/>
          <a:ln w="0">
            <a:noFill/>
          </a:ln>
        </p:spPr>
      </p:pic>
      <p:sp>
        <p:nvSpPr>
          <p:cNvPr id="606" name=""/>
          <p:cNvSpPr txBox="1"/>
          <p:nvPr/>
        </p:nvSpPr>
        <p:spPr>
          <a:xfrm>
            <a:off x="417960" y="2009160"/>
            <a:ext cx="1509480" cy="244080"/>
          </a:xfrm>
          <a:prstGeom prst="rect">
            <a:avLst/>
          </a:prstGeom>
          <a:noFill/>
          <a:ln w="0">
            <a:noFill/>
          </a:ln>
        </p:spPr>
        <p:txBody>
          <a:bodyPr wrap="none" lIns="0" rIns="0" tIns="0" bIns="0" anchor="t">
            <a:spAutoFit/>
          </a:bodyPr>
          <a:p>
            <a:r>
              <a:rPr b="0" lang="zh-CN" sz="1320" strike="noStrike" u="none">
                <a:solidFill>
                  <a:srgbClr val="1e40af"/>
                </a:solidFill>
                <a:effectLst/>
                <a:uFillTx/>
                <a:latin typeface="NotoSansJP"/>
                <a:ea typeface="NotoSansJP"/>
              </a:rPr>
              <a:t>提案手法のメリット</a:t>
            </a:r>
            <a:endParaRPr b="0" lang="en-US" sz="1320" strike="noStrike" u="none">
              <a:solidFill>
                <a:srgbClr val="000000"/>
              </a:solidFill>
              <a:effectLst/>
              <a:uFillTx/>
              <a:latin typeface="Times New Roman"/>
            </a:endParaRPr>
          </a:p>
        </p:txBody>
      </p:sp>
      <p:pic>
        <p:nvPicPr>
          <p:cNvPr id="607" name="" descr=""/>
          <p:cNvPicPr/>
          <p:nvPr/>
        </p:nvPicPr>
        <p:blipFill>
          <a:blip r:embed="rId4"/>
          <a:stretch/>
        </p:blipFill>
        <p:spPr>
          <a:xfrm>
            <a:off x="551520" y="2624040"/>
            <a:ext cx="133200" cy="133200"/>
          </a:xfrm>
          <a:prstGeom prst="rect">
            <a:avLst/>
          </a:prstGeom>
          <a:noFill/>
          <a:ln w="0">
            <a:noFill/>
          </a:ln>
        </p:spPr>
      </p:pic>
      <p:sp>
        <p:nvSpPr>
          <p:cNvPr id="608" name=""/>
          <p:cNvSpPr txBox="1"/>
          <p:nvPr/>
        </p:nvSpPr>
        <p:spPr>
          <a:xfrm>
            <a:off x="810720" y="2316240"/>
            <a:ext cx="25488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複数の音声が互いに干渉せず同時発信可能</a:t>
            </a:r>
            <a:endParaRPr b="0" lang="en-US" sz="1050" strike="noStrike" u="none">
              <a:solidFill>
                <a:srgbClr val="000000"/>
              </a:solidFill>
              <a:effectLst/>
              <a:uFillTx/>
              <a:latin typeface="Times New Roman"/>
            </a:endParaRPr>
          </a:p>
        </p:txBody>
      </p:sp>
      <p:pic>
        <p:nvPicPr>
          <p:cNvPr id="609" name="" descr=""/>
          <p:cNvPicPr/>
          <p:nvPr/>
        </p:nvPicPr>
        <p:blipFill>
          <a:blip r:embed="rId5"/>
          <a:stretch/>
        </p:blipFill>
        <p:spPr>
          <a:xfrm>
            <a:off x="551520" y="2925000"/>
            <a:ext cx="133200" cy="133200"/>
          </a:xfrm>
          <a:prstGeom prst="rect">
            <a:avLst/>
          </a:prstGeom>
          <a:noFill/>
          <a:ln w="0">
            <a:noFill/>
          </a:ln>
        </p:spPr>
      </p:pic>
      <p:sp>
        <p:nvSpPr>
          <p:cNvPr id="610" name=""/>
          <p:cNvSpPr txBox="1"/>
          <p:nvPr/>
        </p:nvSpPr>
        <p:spPr>
          <a:xfrm>
            <a:off x="810720" y="2616840"/>
            <a:ext cx="18781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空間の効率的な利用が実現可能</a:t>
            </a:r>
            <a:endParaRPr b="0" lang="en-US" sz="1050" strike="noStrike" u="none">
              <a:solidFill>
                <a:srgbClr val="000000"/>
              </a:solidFill>
              <a:effectLst/>
              <a:uFillTx/>
              <a:latin typeface="Times New Roman"/>
            </a:endParaRPr>
          </a:p>
        </p:txBody>
      </p:sp>
      <p:sp>
        <p:nvSpPr>
          <p:cNvPr id="611" name=""/>
          <p:cNvSpPr txBox="1"/>
          <p:nvPr/>
        </p:nvSpPr>
        <p:spPr>
          <a:xfrm>
            <a:off x="810720" y="2917800"/>
            <a:ext cx="2683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一つのスピーカユニットから複数の場所に音</a:t>
            </a:r>
            <a:endParaRPr b="0" lang="en-US" sz="1050" strike="noStrike" u="none">
              <a:solidFill>
                <a:srgbClr val="000000"/>
              </a:solidFill>
              <a:effectLst/>
              <a:uFillTx/>
              <a:latin typeface="Times New Roman"/>
            </a:endParaRPr>
          </a:p>
        </p:txBody>
      </p:sp>
      <p:sp>
        <p:nvSpPr>
          <p:cNvPr id="612" name=""/>
          <p:cNvSpPr txBox="1"/>
          <p:nvPr/>
        </p:nvSpPr>
        <p:spPr>
          <a:xfrm>
            <a:off x="810720" y="3118320"/>
            <a:ext cx="939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声を届けられる</a:t>
            </a:r>
            <a:endParaRPr b="0" lang="en-US" sz="1050" strike="noStrike" u="none">
              <a:solidFill>
                <a:srgbClr val="000000"/>
              </a:solidFill>
              <a:effectLst/>
              <a:uFillTx/>
              <a:latin typeface="Times New Roman"/>
            </a:endParaRPr>
          </a:p>
        </p:txBody>
      </p:sp>
      <p:pic>
        <p:nvPicPr>
          <p:cNvPr id="613" name="" descr=""/>
          <p:cNvPicPr/>
          <p:nvPr/>
        </p:nvPicPr>
        <p:blipFill>
          <a:blip r:embed="rId6"/>
          <a:stretch/>
        </p:blipFill>
        <p:spPr>
          <a:xfrm>
            <a:off x="551520" y="3794040"/>
            <a:ext cx="133200" cy="133200"/>
          </a:xfrm>
          <a:prstGeom prst="rect">
            <a:avLst/>
          </a:prstGeom>
          <a:noFill/>
          <a:ln w="0">
            <a:noFill/>
          </a:ln>
        </p:spPr>
      </p:pic>
      <p:sp>
        <p:nvSpPr>
          <p:cNvPr id="614" name=""/>
          <p:cNvSpPr txBox="1"/>
          <p:nvPr/>
        </p:nvSpPr>
        <p:spPr>
          <a:xfrm>
            <a:off x="417960" y="3480120"/>
            <a:ext cx="671400" cy="244080"/>
          </a:xfrm>
          <a:prstGeom prst="rect">
            <a:avLst/>
          </a:prstGeom>
          <a:noFill/>
          <a:ln w="0">
            <a:noFill/>
          </a:ln>
        </p:spPr>
        <p:txBody>
          <a:bodyPr wrap="none" lIns="0" rIns="0" tIns="0" bIns="0" anchor="t">
            <a:spAutoFit/>
          </a:bodyPr>
          <a:p>
            <a:r>
              <a:rPr b="0" lang="zh-CN" sz="1320" strike="noStrike" u="none">
                <a:solidFill>
                  <a:srgbClr val="1e40af"/>
                </a:solidFill>
                <a:effectLst/>
                <a:uFillTx/>
                <a:latin typeface="NotoSansJP"/>
                <a:ea typeface="NotoSansJP"/>
              </a:rPr>
              <a:t>実装方法</a:t>
            </a:r>
            <a:endParaRPr b="0" lang="en-US" sz="1320" strike="noStrike" u="none">
              <a:solidFill>
                <a:srgbClr val="000000"/>
              </a:solidFill>
              <a:effectLst/>
              <a:uFillTx/>
              <a:latin typeface="Times New Roman"/>
            </a:endParaRPr>
          </a:p>
        </p:txBody>
      </p:sp>
      <p:sp>
        <p:nvSpPr>
          <p:cNvPr id="615" name=""/>
          <p:cNvSpPr txBox="1"/>
          <p:nvPr/>
        </p:nvSpPr>
        <p:spPr>
          <a:xfrm>
            <a:off x="810720" y="3786840"/>
            <a:ext cx="2683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チャンネルごとに異なる周波数の搬送波を使</a:t>
            </a:r>
            <a:endParaRPr b="0" lang="en-US" sz="1050" strike="noStrike" u="none">
              <a:solidFill>
                <a:srgbClr val="000000"/>
              </a:solidFill>
              <a:effectLst/>
              <a:uFillTx/>
              <a:latin typeface="Times New Roman"/>
            </a:endParaRPr>
          </a:p>
        </p:txBody>
      </p:sp>
      <p:pic>
        <p:nvPicPr>
          <p:cNvPr id="616" name="" descr=""/>
          <p:cNvPicPr/>
          <p:nvPr/>
        </p:nvPicPr>
        <p:blipFill>
          <a:blip r:embed="rId7"/>
          <a:stretch/>
        </p:blipFill>
        <p:spPr>
          <a:xfrm>
            <a:off x="551520" y="4295520"/>
            <a:ext cx="133200" cy="133200"/>
          </a:xfrm>
          <a:prstGeom prst="rect">
            <a:avLst/>
          </a:prstGeom>
          <a:noFill/>
          <a:ln w="0">
            <a:noFill/>
          </a:ln>
        </p:spPr>
      </p:pic>
      <p:sp>
        <p:nvSpPr>
          <p:cNvPr id="617" name=""/>
          <p:cNvSpPr txBox="1"/>
          <p:nvPr/>
        </p:nvSpPr>
        <p:spPr>
          <a:xfrm>
            <a:off x="810720" y="3987360"/>
            <a:ext cx="1350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用</a:t>
            </a:r>
            <a:endParaRPr b="0" lang="en-US" sz="1050" strike="noStrike" u="none">
              <a:solidFill>
                <a:srgbClr val="000000"/>
              </a:solidFill>
              <a:effectLst/>
              <a:uFillTx/>
              <a:latin typeface="Times New Roman"/>
            </a:endParaRPr>
          </a:p>
        </p:txBody>
      </p:sp>
      <p:sp>
        <p:nvSpPr>
          <p:cNvPr id="618" name=""/>
          <p:cNvSpPr txBox="1"/>
          <p:nvPr/>
        </p:nvSpPr>
        <p:spPr>
          <a:xfrm>
            <a:off x="810720" y="4288320"/>
            <a:ext cx="2683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各チャンネルに異なる位相遅延を適用し、異</a:t>
            </a:r>
            <a:endParaRPr b="0" lang="en-US" sz="1050" strike="noStrike" u="none">
              <a:solidFill>
                <a:srgbClr val="000000"/>
              </a:solidFill>
              <a:effectLst/>
              <a:uFillTx/>
              <a:latin typeface="Times New Roman"/>
            </a:endParaRPr>
          </a:p>
        </p:txBody>
      </p:sp>
      <p:pic>
        <p:nvPicPr>
          <p:cNvPr id="619" name="" descr=""/>
          <p:cNvPicPr/>
          <p:nvPr/>
        </p:nvPicPr>
        <p:blipFill>
          <a:blip r:embed="rId8"/>
          <a:stretch/>
        </p:blipFill>
        <p:spPr>
          <a:xfrm>
            <a:off x="551520" y="4796640"/>
            <a:ext cx="133200" cy="133200"/>
          </a:xfrm>
          <a:prstGeom prst="rect">
            <a:avLst/>
          </a:prstGeom>
          <a:noFill/>
          <a:ln w="0">
            <a:noFill/>
          </a:ln>
        </p:spPr>
      </p:pic>
      <p:sp>
        <p:nvSpPr>
          <p:cNvPr id="620" name=""/>
          <p:cNvSpPr txBox="1"/>
          <p:nvPr/>
        </p:nvSpPr>
        <p:spPr>
          <a:xfrm>
            <a:off x="810720" y="4488840"/>
            <a:ext cx="939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なる方向に指向</a:t>
            </a:r>
            <a:endParaRPr b="0" lang="en-US" sz="1050" strike="noStrike" u="none">
              <a:solidFill>
                <a:srgbClr val="000000"/>
              </a:solidFill>
              <a:effectLst/>
              <a:uFillTx/>
              <a:latin typeface="Times New Roman"/>
            </a:endParaRPr>
          </a:p>
        </p:txBody>
      </p:sp>
      <p:sp>
        <p:nvSpPr>
          <p:cNvPr id="621" name=""/>
          <p:cNvSpPr txBox="1"/>
          <p:nvPr/>
        </p:nvSpPr>
        <p:spPr>
          <a:xfrm>
            <a:off x="810720" y="4789800"/>
            <a:ext cx="2683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すべての信号を合成して単一のスピーカユニ</a:t>
            </a:r>
            <a:endParaRPr b="0" lang="en-US" sz="1050" strike="noStrike" u="none">
              <a:solidFill>
                <a:srgbClr val="000000"/>
              </a:solidFill>
              <a:effectLst/>
              <a:uFillTx/>
              <a:latin typeface="Times New Roman"/>
            </a:endParaRPr>
          </a:p>
        </p:txBody>
      </p:sp>
      <p:sp>
        <p:nvSpPr>
          <p:cNvPr id="622" name=""/>
          <p:cNvSpPr/>
          <p:nvPr/>
        </p:nvSpPr>
        <p:spPr>
          <a:xfrm>
            <a:off x="3705840" y="1984680"/>
            <a:ext cx="6568920" cy="4253760"/>
          </a:xfrm>
          <a:custGeom>
            <a:avLst/>
            <a:gdLst/>
            <a:ahLst/>
            <a:rect l="0" t="0" r="r" b="b"/>
            <a:pathLst>
              <a:path w="18247" h="11816">
                <a:moveTo>
                  <a:pt x="0" y="11596"/>
                </a:moveTo>
                <a:lnTo>
                  <a:pt x="0" y="220"/>
                </a:lnTo>
                <a:cubicBezTo>
                  <a:pt x="0" y="206"/>
                  <a:pt x="2" y="191"/>
                  <a:pt x="5" y="177"/>
                </a:cubicBezTo>
                <a:cubicBezTo>
                  <a:pt x="8" y="163"/>
                  <a:pt x="12" y="149"/>
                  <a:pt x="17" y="136"/>
                </a:cubicBezTo>
                <a:cubicBezTo>
                  <a:pt x="23" y="122"/>
                  <a:pt x="30" y="110"/>
                  <a:pt x="38" y="98"/>
                </a:cubicBezTo>
                <a:cubicBezTo>
                  <a:pt x="46" y="86"/>
                  <a:pt x="55" y="74"/>
                  <a:pt x="65" y="64"/>
                </a:cubicBezTo>
                <a:cubicBezTo>
                  <a:pt x="75" y="54"/>
                  <a:pt x="86" y="45"/>
                  <a:pt x="98" y="37"/>
                </a:cubicBezTo>
                <a:cubicBezTo>
                  <a:pt x="111" y="29"/>
                  <a:pt x="123" y="22"/>
                  <a:pt x="137" y="16"/>
                </a:cubicBezTo>
                <a:cubicBezTo>
                  <a:pt x="150" y="11"/>
                  <a:pt x="164" y="7"/>
                  <a:pt x="178" y="4"/>
                </a:cubicBezTo>
                <a:cubicBezTo>
                  <a:pt x="192" y="1"/>
                  <a:pt x="207" y="0"/>
                  <a:pt x="221" y="0"/>
                </a:cubicBezTo>
                <a:lnTo>
                  <a:pt x="18026" y="0"/>
                </a:lnTo>
                <a:cubicBezTo>
                  <a:pt x="18041" y="0"/>
                  <a:pt x="18055" y="1"/>
                  <a:pt x="18069" y="4"/>
                </a:cubicBezTo>
                <a:cubicBezTo>
                  <a:pt x="18084" y="7"/>
                  <a:pt x="18097" y="11"/>
                  <a:pt x="18111" y="16"/>
                </a:cubicBezTo>
                <a:cubicBezTo>
                  <a:pt x="18124" y="22"/>
                  <a:pt x="18137" y="29"/>
                  <a:pt x="18149" y="37"/>
                </a:cubicBezTo>
                <a:cubicBezTo>
                  <a:pt x="18161" y="45"/>
                  <a:pt x="18172" y="54"/>
                  <a:pt x="18182" y="64"/>
                </a:cubicBezTo>
                <a:cubicBezTo>
                  <a:pt x="18193" y="74"/>
                  <a:pt x="18202" y="86"/>
                  <a:pt x="18210" y="98"/>
                </a:cubicBezTo>
                <a:cubicBezTo>
                  <a:pt x="18218" y="110"/>
                  <a:pt x="18225" y="122"/>
                  <a:pt x="18230" y="136"/>
                </a:cubicBezTo>
                <a:cubicBezTo>
                  <a:pt x="18236" y="149"/>
                  <a:pt x="18240" y="163"/>
                  <a:pt x="18243" y="177"/>
                </a:cubicBezTo>
                <a:cubicBezTo>
                  <a:pt x="18246" y="191"/>
                  <a:pt x="18247" y="206"/>
                  <a:pt x="18247" y="220"/>
                </a:cubicBezTo>
                <a:lnTo>
                  <a:pt x="18247" y="11596"/>
                </a:lnTo>
                <a:cubicBezTo>
                  <a:pt x="18247" y="11610"/>
                  <a:pt x="18246" y="11624"/>
                  <a:pt x="18243" y="11639"/>
                </a:cubicBezTo>
                <a:cubicBezTo>
                  <a:pt x="18240" y="11653"/>
                  <a:pt x="18236" y="11667"/>
                  <a:pt x="18230" y="11680"/>
                </a:cubicBezTo>
                <a:cubicBezTo>
                  <a:pt x="18225" y="11693"/>
                  <a:pt x="18218" y="11706"/>
                  <a:pt x="18210" y="11718"/>
                </a:cubicBezTo>
                <a:cubicBezTo>
                  <a:pt x="18202" y="11730"/>
                  <a:pt x="18193" y="11741"/>
                  <a:pt x="18182" y="11751"/>
                </a:cubicBezTo>
                <a:cubicBezTo>
                  <a:pt x="18172" y="11762"/>
                  <a:pt x="18161" y="11771"/>
                  <a:pt x="18149" y="11779"/>
                </a:cubicBezTo>
                <a:cubicBezTo>
                  <a:pt x="18137" y="11787"/>
                  <a:pt x="18124" y="11794"/>
                  <a:pt x="18111" y="11799"/>
                </a:cubicBezTo>
                <a:cubicBezTo>
                  <a:pt x="18097" y="11805"/>
                  <a:pt x="18084" y="11809"/>
                  <a:pt x="18069" y="11812"/>
                </a:cubicBezTo>
                <a:cubicBezTo>
                  <a:pt x="18055" y="11815"/>
                  <a:pt x="18041" y="11816"/>
                  <a:pt x="18026" y="11816"/>
                </a:cubicBezTo>
                <a:lnTo>
                  <a:pt x="221" y="11816"/>
                </a:lnTo>
                <a:cubicBezTo>
                  <a:pt x="207" y="11816"/>
                  <a:pt x="192" y="11815"/>
                  <a:pt x="178" y="11812"/>
                </a:cubicBezTo>
                <a:cubicBezTo>
                  <a:pt x="164" y="11809"/>
                  <a:pt x="150" y="11805"/>
                  <a:pt x="137" y="11799"/>
                </a:cubicBezTo>
                <a:cubicBezTo>
                  <a:pt x="123" y="11794"/>
                  <a:pt x="111" y="11787"/>
                  <a:pt x="98" y="11779"/>
                </a:cubicBezTo>
                <a:cubicBezTo>
                  <a:pt x="86" y="11771"/>
                  <a:pt x="75" y="11762"/>
                  <a:pt x="65" y="11751"/>
                </a:cubicBezTo>
                <a:cubicBezTo>
                  <a:pt x="55" y="11741"/>
                  <a:pt x="46" y="11730"/>
                  <a:pt x="38" y="11718"/>
                </a:cubicBezTo>
                <a:cubicBezTo>
                  <a:pt x="30" y="11706"/>
                  <a:pt x="23" y="11693"/>
                  <a:pt x="17" y="11680"/>
                </a:cubicBezTo>
                <a:cubicBezTo>
                  <a:pt x="12" y="11667"/>
                  <a:pt x="8" y="11653"/>
                  <a:pt x="5" y="11639"/>
                </a:cubicBezTo>
                <a:cubicBezTo>
                  <a:pt x="2" y="11624"/>
                  <a:pt x="0" y="11610"/>
                  <a:pt x="0" y="11596"/>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23" name=""/>
          <p:cNvSpPr/>
          <p:nvPr/>
        </p:nvSpPr>
        <p:spPr>
          <a:xfrm>
            <a:off x="3705840" y="1984680"/>
            <a:ext cx="6568920" cy="4253760"/>
          </a:xfrm>
          <a:custGeom>
            <a:avLst/>
            <a:gdLst/>
            <a:ahLst/>
            <a:rect l="0" t="0" r="r" b="b"/>
            <a:pathLst>
              <a:path fill="none" w="18247" h="11816">
                <a:moveTo>
                  <a:pt x="0" y="11596"/>
                </a:moveTo>
                <a:lnTo>
                  <a:pt x="0" y="220"/>
                </a:lnTo>
                <a:cubicBezTo>
                  <a:pt x="0" y="206"/>
                  <a:pt x="2" y="191"/>
                  <a:pt x="5" y="177"/>
                </a:cubicBezTo>
                <a:cubicBezTo>
                  <a:pt x="8" y="163"/>
                  <a:pt x="12" y="149"/>
                  <a:pt x="17" y="136"/>
                </a:cubicBezTo>
                <a:cubicBezTo>
                  <a:pt x="23" y="122"/>
                  <a:pt x="30" y="110"/>
                  <a:pt x="38" y="98"/>
                </a:cubicBezTo>
                <a:cubicBezTo>
                  <a:pt x="46" y="86"/>
                  <a:pt x="55" y="74"/>
                  <a:pt x="65" y="64"/>
                </a:cubicBezTo>
                <a:cubicBezTo>
                  <a:pt x="75" y="54"/>
                  <a:pt x="86" y="45"/>
                  <a:pt x="98" y="37"/>
                </a:cubicBezTo>
                <a:cubicBezTo>
                  <a:pt x="111" y="29"/>
                  <a:pt x="123" y="22"/>
                  <a:pt x="137" y="16"/>
                </a:cubicBezTo>
                <a:cubicBezTo>
                  <a:pt x="150" y="11"/>
                  <a:pt x="164" y="7"/>
                  <a:pt x="178" y="4"/>
                </a:cubicBezTo>
                <a:cubicBezTo>
                  <a:pt x="192" y="1"/>
                  <a:pt x="207" y="0"/>
                  <a:pt x="221" y="0"/>
                </a:cubicBezTo>
                <a:lnTo>
                  <a:pt x="18026" y="0"/>
                </a:lnTo>
                <a:cubicBezTo>
                  <a:pt x="18041" y="0"/>
                  <a:pt x="18055" y="1"/>
                  <a:pt x="18069" y="4"/>
                </a:cubicBezTo>
                <a:cubicBezTo>
                  <a:pt x="18084" y="7"/>
                  <a:pt x="18097" y="11"/>
                  <a:pt x="18111" y="16"/>
                </a:cubicBezTo>
                <a:cubicBezTo>
                  <a:pt x="18124" y="22"/>
                  <a:pt x="18137" y="29"/>
                  <a:pt x="18149" y="37"/>
                </a:cubicBezTo>
                <a:cubicBezTo>
                  <a:pt x="18161" y="45"/>
                  <a:pt x="18172" y="54"/>
                  <a:pt x="18182" y="64"/>
                </a:cubicBezTo>
                <a:cubicBezTo>
                  <a:pt x="18193" y="74"/>
                  <a:pt x="18202" y="86"/>
                  <a:pt x="18210" y="98"/>
                </a:cubicBezTo>
                <a:cubicBezTo>
                  <a:pt x="18218" y="110"/>
                  <a:pt x="18225" y="122"/>
                  <a:pt x="18230" y="136"/>
                </a:cubicBezTo>
                <a:cubicBezTo>
                  <a:pt x="18236" y="149"/>
                  <a:pt x="18240" y="163"/>
                  <a:pt x="18243" y="177"/>
                </a:cubicBezTo>
                <a:cubicBezTo>
                  <a:pt x="18246" y="191"/>
                  <a:pt x="18247" y="206"/>
                  <a:pt x="18247" y="220"/>
                </a:cubicBezTo>
                <a:lnTo>
                  <a:pt x="18247" y="11596"/>
                </a:lnTo>
                <a:cubicBezTo>
                  <a:pt x="18247" y="11610"/>
                  <a:pt x="18246" y="11624"/>
                  <a:pt x="18243" y="11639"/>
                </a:cubicBezTo>
                <a:cubicBezTo>
                  <a:pt x="18240" y="11653"/>
                  <a:pt x="18236" y="11667"/>
                  <a:pt x="18230" y="11680"/>
                </a:cubicBezTo>
                <a:cubicBezTo>
                  <a:pt x="18225" y="11693"/>
                  <a:pt x="18218" y="11706"/>
                  <a:pt x="18210" y="11718"/>
                </a:cubicBezTo>
                <a:cubicBezTo>
                  <a:pt x="18202" y="11730"/>
                  <a:pt x="18193" y="11741"/>
                  <a:pt x="18182" y="11751"/>
                </a:cubicBezTo>
                <a:cubicBezTo>
                  <a:pt x="18172" y="11762"/>
                  <a:pt x="18161" y="11771"/>
                  <a:pt x="18149" y="11779"/>
                </a:cubicBezTo>
                <a:cubicBezTo>
                  <a:pt x="18137" y="11787"/>
                  <a:pt x="18124" y="11794"/>
                  <a:pt x="18111" y="11799"/>
                </a:cubicBezTo>
                <a:cubicBezTo>
                  <a:pt x="18097" y="11805"/>
                  <a:pt x="18084" y="11809"/>
                  <a:pt x="18069" y="11812"/>
                </a:cubicBezTo>
                <a:cubicBezTo>
                  <a:pt x="18055" y="11815"/>
                  <a:pt x="18041" y="11816"/>
                  <a:pt x="18026" y="11816"/>
                </a:cubicBezTo>
                <a:lnTo>
                  <a:pt x="221" y="11816"/>
                </a:lnTo>
                <a:cubicBezTo>
                  <a:pt x="207" y="11816"/>
                  <a:pt x="192" y="11815"/>
                  <a:pt x="178" y="11812"/>
                </a:cubicBezTo>
                <a:cubicBezTo>
                  <a:pt x="164" y="11809"/>
                  <a:pt x="150" y="11805"/>
                  <a:pt x="137" y="11799"/>
                </a:cubicBezTo>
                <a:cubicBezTo>
                  <a:pt x="123" y="11794"/>
                  <a:pt x="111" y="11787"/>
                  <a:pt x="98" y="11779"/>
                </a:cubicBezTo>
                <a:cubicBezTo>
                  <a:pt x="86" y="11771"/>
                  <a:pt x="75" y="11762"/>
                  <a:pt x="65" y="11751"/>
                </a:cubicBezTo>
                <a:cubicBezTo>
                  <a:pt x="55" y="11741"/>
                  <a:pt x="46" y="11730"/>
                  <a:pt x="38" y="11718"/>
                </a:cubicBezTo>
                <a:cubicBezTo>
                  <a:pt x="30" y="11706"/>
                  <a:pt x="23" y="11693"/>
                  <a:pt x="17" y="11680"/>
                </a:cubicBezTo>
                <a:cubicBezTo>
                  <a:pt x="12" y="11667"/>
                  <a:pt x="8" y="11653"/>
                  <a:pt x="5" y="11639"/>
                </a:cubicBezTo>
                <a:cubicBezTo>
                  <a:pt x="2" y="11624"/>
                  <a:pt x="0" y="11610"/>
                  <a:pt x="0" y="11596"/>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624" name=""/>
          <p:cNvSpPr txBox="1"/>
          <p:nvPr/>
        </p:nvSpPr>
        <p:spPr>
          <a:xfrm>
            <a:off x="810720" y="4990320"/>
            <a:ext cx="8053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ットから発振</a:t>
            </a:r>
            <a:endParaRPr b="0" lang="en-US" sz="1050" strike="noStrike" u="none">
              <a:solidFill>
                <a:srgbClr val="000000"/>
              </a:solidFill>
              <a:effectLst/>
              <a:uFillTx/>
              <a:latin typeface="Times New Roman"/>
            </a:endParaRPr>
          </a:p>
        </p:txBody>
      </p:sp>
      <p:sp>
        <p:nvSpPr>
          <p:cNvPr id="625" name=""/>
          <p:cNvSpPr/>
          <p:nvPr/>
        </p:nvSpPr>
        <p:spPr>
          <a:xfrm>
            <a:off x="3894120" y="2523600"/>
            <a:ext cx="3033720" cy="969840"/>
          </a:xfrm>
          <a:custGeom>
            <a:avLst/>
            <a:gdLst/>
            <a:ahLst/>
            <a:rect l="0" t="0" r="r" b="b"/>
            <a:pathLst>
              <a:path w="8427" h="2694">
                <a:moveTo>
                  <a:pt x="0" y="2577"/>
                </a:moveTo>
                <a:lnTo>
                  <a:pt x="0" y="116"/>
                </a:lnTo>
                <a:cubicBezTo>
                  <a:pt x="0" y="101"/>
                  <a:pt x="2" y="86"/>
                  <a:pt x="5" y="71"/>
                </a:cubicBezTo>
                <a:cubicBezTo>
                  <a:pt x="9" y="57"/>
                  <a:pt x="14" y="45"/>
                  <a:pt x="20" y="34"/>
                </a:cubicBezTo>
                <a:cubicBezTo>
                  <a:pt x="27" y="23"/>
                  <a:pt x="34" y="15"/>
                  <a:pt x="43" y="9"/>
                </a:cubicBezTo>
                <a:cubicBezTo>
                  <a:pt x="51" y="3"/>
                  <a:pt x="60" y="0"/>
                  <a:pt x="69" y="0"/>
                </a:cubicBezTo>
                <a:lnTo>
                  <a:pt x="8311" y="0"/>
                </a:lnTo>
                <a:cubicBezTo>
                  <a:pt x="8326" y="0"/>
                  <a:pt x="8341" y="3"/>
                  <a:pt x="8355" y="9"/>
                </a:cubicBezTo>
                <a:cubicBezTo>
                  <a:pt x="8370" y="15"/>
                  <a:pt x="8382" y="23"/>
                  <a:pt x="8393" y="34"/>
                </a:cubicBezTo>
                <a:cubicBezTo>
                  <a:pt x="8404" y="45"/>
                  <a:pt x="8412" y="57"/>
                  <a:pt x="8418" y="71"/>
                </a:cubicBezTo>
                <a:cubicBezTo>
                  <a:pt x="8424" y="86"/>
                  <a:pt x="8427" y="101"/>
                  <a:pt x="8427" y="116"/>
                </a:cubicBezTo>
                <a:lnTo>
                  <a:pt x="8427" y="2577"/>
                </a:lnTo>
                <a:cubicBezTo>
                  <a:pt x="8427" y="2593"/>
                  <a:pt x="8424" y="2608"/>
                  <a:pt x="8418" y="2622"/>
                </a:cubicBezTo>
                <a:cubicBezTo>
                  <a:pt x="8412" y="2636"/>
                  <a:pt x="8404" y="2649"/>
                  <a:pt x="8393" y="2660"/>
                </a:cubicBezTo>
                <a:cubicBezTo>
                  <a:pt x="8382" y="2670"/>
                  <a:pt x="8370" y="2679"/>
                  <a:pt x="8355" y="2685"/>
                </a:cubicBezTo>
                <a:cubicBezTo>
                  <a:pt x="8341" y="2691"/>
                  <a:pt x="8326" y="2694"/>
                  <a:pt x="8311" y="2694"/>
                </a:cubicBezTo>
                <a:lnTo>
                  <a:pt x="69" y="2694"/>
                </a:lnTo>
                <a:cubicBezTo>
                  <a:pt x="60" y="2694"/>
                  <a:pt x="51" y="2691"/>
                  <a:pt x="43" y="2685"/>
                </a:cubicBezTo>
                <a:cubicBezTo>
                  <a:pt x="34" y="2679"/>
                  <a:pt x="27" y="2670"/>
                  <a:pt x="20" y="2660"/>
                </a:cubicBezTo>
                <a:cubicBezTo>
                  <a:pt x="14" y="2649"/>
                  <a:pt x="9" y="2636"/>
                  <a:pt x="5" y="2622"/>
                </a:cubicBezTo>
                <a:cubicBezTo>
                  <a:pt x="2" y="2608"/>
                  <a:pt x="0" y="2593"/>
                  <a:pt x="0" y="2577"/>
                </a:cubicBezTo>
                <a:close/>
              </a:path>
            </a:pathLst>
          </a:custGeom>
          <a:solidFill>
            <a:srgbClr val="00336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6" name=""/>
          <p:cNvSpPr/>
          <p:nvPr/>
        </p:nvSpPr>
        <p:spPr>
          <a:xfrm>
            <a:off x="3877200" y="2523600"/>
            <a:ext cx="42120" cy="969840"/>
          </a:xfrm>
          <a:custGeom>
            <a:avLst/>
            <a:gdLst/>
            <a:ahLst/>
            <a:rect l="0" t="0" r="r" b="b"/>
            <a:pathLst>
              <a:path w="117" h="2694">
                <a:moveTo>
                  <a:pt x="0" y="0"/>
                </a:moveTo>
                <a:lnTo>
                  <a:pt x="117" y="0"/>
                </a:lnTo>
                <a:lnTo>
                  <a:pt x="117" y="2694"/>
                </a:lnTo>
                <a:lnTo>
                  <a:pt x="0" y="2694"/>
                </a:lnTo>
                <a:lnTo>
                  <a:pt x="0" y="0"/>
                </a:ln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627" name="" descr=""/>
          <p:cNvPicPr/>
          <p:nvPr/>
        </p:nvPicPr>
        <p:blipFill>
          <a:blip r:embed="rId9"/>
          <a:stretch/>
        </p:blipFill>
        <p:spPr>
          <a:xfrm>
            <a:off x="3994560" y="2640600"/>
            <a:ext cx="150120" cy="133200"/>
          </a:xfrm>
          <a:prstGeom prst="rect">
            <a:avLst/>
          </a:prstGeom>
          <a:noFill/>
          <a:ln w="0">
            <a:noFill/>
          </a:ln>
        </p:spPr>
      </p:pic>
      <p:sp>
        <p:nvSpPr>
          <p:cNvPr id="628" name=""/>
          <p:cNvSpPr txBox="1"/>
          <p:nvPr/>
        </p:nvSpPr>
        <p:spPr>
          <a:xfrm>
            <a:off x="4597560" y="2200320"/>
            <a:ext cx="4895280" cy="219960"/>
          </a:xfrm>
          <a:prstGeom prst="rect">
            <a:avLst/>
          </a:prstGeom>
          <a:noFill/>
          <a:ln w="0">
            <a:noFill/>
          </a:ln>
        </p:spPr>
        <p:txBody>
          <a:bodyPr wrap="none" lIns="0" rIns="0" tIns="0" bIns="0" anchor="t">
            <a:spAutoFit/>
          </a:bodyPr>
          <a:p>
            <a:r>
              <a:rPr b="0" lang="en-US" sz="1180" strike="noStrike" u="none">
                <a:solidFill>
                  <a:srgbClr val="374151"/>
                </a:solidFill>
                <a:effectLst/>
                <a:uFillTx/>
                <a:latin typeface="NotoSansJP"/>
                <a:ea typeface="NotoSansJP"/>
              </a:rPr>
              <a:t>FDMA </a:t>
            </a:r>
            <a:r>
              <a:rPr b="0" lang="zh-CN" sz="1180" strike="noStrike" u="none">
                <a:solidFill>
                  <a:srgbClr val="374151"/>
                </a:solidFill>
                <a:effectLst/>
                <a:uFillTx/>
                <a:latin typeface="NotoSansJP"/>
                <a:ea typeface="NotoSansJP"/>
              </a:rPr>
              <a:t>を用いた一次元配列スピーカによる複数オーディオスポット形成</a:t>
            </a:r>
            <a:endParaRPr b="0" lang="en-US" sz="1180" strike="noStrike" u="none">
              <a:solidFill>
                <a:srgbClr val="000000"/>
              </a:solidFill>
              <a:effectLst/>
              <a:uFillTx/>
              <a:latin typeface="Times New Roman"/>
            </a:endParaRPr>
          </a:p>
        </p:txBody>
      </p:sp>
      <p:sp>
        <p:nvSpPr>
          <p:cNvPr id="629" name=""/>
          <p:cNvSpPr txBox="1"/>
          <p:nvPr/>
        </p:nvSpPr>
        <p:spPr>
          <a:xfrm>
            <a:off x="4214520" y="2642040"/>
            <a:ext cx="154152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Ch1 (</a:t>
            </a:r>
            <a:r>
              <a:rPr b="0" lang="zh-CN" sz="1050" strike="noStrike" u="none">
                <a:solidFill>
                  <a:srgbClr val="000000"/>
                </a:solidFill>
                <a:effectLst/>
                <a:uFillTx/>
                <a:latin typeface="NotoSansJP"/>
                <a:ea typeface="NotoSansJP"/>
              </a:rPr>
              <a:t>搬送波 </a:t>
            </a:r>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側帯波</a:t>
            </a:r>
            <a:r>
              <a:rPr b="0" lang="en-US" sz="1050" strike="noStrike" u="none">
                <a:solidFill>
                  <a:srgbClr val="000000"/>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630" name=""/>
          <p:cNvSpPr txBox="1"/>
          <p:nvPr/>
        </p:nvSpPr>
        <p:spPr>
          <a:xfrm>
            <a:off x="3997080" y="2866320"/>
            <a:ext cx="580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位相遅延</a:t>
            </a:r>
            <a:r>
              <a:rPr b="0" lang="en-US" sz="920" strike="noStrike" u="none">
                <a:solidFill>
                  <a:srgbClr val="000000"/>
                </a:solidFill>
                <a:effectLst/>
                <a:uFillTx/>
                <a:latin typeface="NotoSansJP"/>
                <a:ea typeface="NotoSansJP"/>
              </a:rPr>
              <a:t>: </a:t>
            </a:r>
            <a:endParaRPr b="0" lang="en-US" sz="920" strike="noStrike" u="none">
              <a:solidFill>
                <a:srgbClr val="000000"/>
              </a:solidFill>
              <a:effectLst/>
              <a:uFillTx/>
              <a:latin typeface="Times New Roman"/>
            </a:endParaRPr>
          </a:p>
        </p:txBody>
      </p:sp>
      <p:sp>
        <p:nvSpPr>
          <p:cNvPr id="631" name=""/>
          <p:cNvSpPr txBox="1"/>
          <p:nvPr/>
        </p:nvSpPr>
        <p:spPr>
          <a:xfrm>
            <a:off x="4523760" y="2869200"/>
            <a:ext cx="116640" cy="131400"/>
          </a:xfrm>
          <a:prstGeom prst="rect">
            <a:avLst/>
          </a:prstGeom>
          <a:noFill/>
          <a:ln w="0">
            <a:noFill/>
          </a:ln>
        </p:spPr>
        <p:txBody>
          <a:bodyPr wrap="none" lIns="0" rIns="0" tIns="0" bIns="0" anchor="t">
            <a:spAutoFit/>
          </a:bodyPr>
          <a:p>
            <a:r>
              <a:rPr b="0" lang="en-US" sz="920" strike="noStrike" u="none">
                <a:solidFill>
                  <a:srgbClr val="000000"/>
                </a:solidFill>
                <a:effectLst/>
                <a:uFillTx/>
                <a:latin typeface="Arial"/>
                <a:ea typeface="Arial"/>
              </a:rPr>
              <a:t>θ</a:t>
            </a:r>
            <a:endParaRPr b="0" lang="en-US" sz="920" strike="noStrike" u="none">
              <a:solidFill>
                <a:srgbClr val="000000"/>
              </a:solidFill>
              <a:effectLst/>
              <a:uFillTx/>
              <a:latin typeface="Times New Roman"/>
            </a:endParaRPr>
          </a:p>
        </p:txBody>
      </p:sp>
      <p:sp>
        <p:nvSpPr>
          <p:cNvPr id="632" name=""/>
          <p:cNvSpPr/>
          <p:nvPr/>
        </p:nvSpPr>
        <p:spPr>
          <a:xfrm>
            <a:off x="7077960" y="2523600"/>
            <a:ext cx="3025440" cy="969840"/>
          </a:xfrm>
          <a:custGeom>
            <a:avLst/>
            <a:gdLst/>
            <a:ahLst/>
            <a:rect l="0" t="0" r="r" b="b"/>
            <a:pathLst>
              <a:path w="8404" h="2694">
                <a:moveTo>
                  <a:pt x="0" y="2577"/>
                </a:moveTo>
                <a:lnTo>
                  <a:pt x="0" y="116"/>
                </a:lnTo>
                <a:cubicBezTo>
                  <a:pt x="0" y="101"/>
                  <a:pt x="2" y="86"/>
                  <a:pt x="5" y="71"/>
                </a:cubicBezTo>
                <a:cubicBezTo>
                  <a:pt x="9" y="57"/>
                  <a:pt x="14" y="45"/>
                  <a:pt x="20" y="34"/>
                </a:cubicBezTo>
                <a:cubicBezTo>
                  <a:pt x="27" y="23"/>
                  <a:pt x="34" y="15"/>
                  <a:pt x="43" y="9"/>
                </a:cubicBezTo>
                <a:cubicBezTo>
                  <a:pt x="51" y="3"/>
                  <a:pt x="60" y="0"/>
                  <a:pt x="70" y="0"/>
                </a:cubicBezTo>
                <a:lnTo>
                  <a:pt x="8288" y="0"/>
                </a:lnTo>
                <a:cubicBezTo>
                  <a:pt x="8303" y="0"/>
                  <a:pt x="8318" y="3"/>
                  <a:pt x="8332" y="9"/>
                </a:cubicBezTo>
                <a:cubicBezTo>
                  <a:pt x="8347" y="15"/>
                  <a:pt x="8359" y="23"/>
                  <a:pt x="8370" y="34"/>
                </a:cubicBezTo>
                <a:cubicBezTo>
                  <a:pt x="8381" y="45"/>
                  <a:pt x="8389" y="57"/>
                  <a:pt x="8395" y="71"/>
                </a:cubicBezTo>
                <a:cubicBezTo>
                  <a:pt x="8401" y="86"/>
                  <a:pt x="8404" y="101"/>
                  <a:pt x="8404" y="116"/>
                </a:cubicBezTo>
                <a:lnTo>
                  <a:pt x="8404" y="2577"/>
                </a:lnTo>
                <a:cubicBezTo>
                  <a:pt x="8404" y="2593"/>
                  <a:pt x="8401" y="2608"/>
                  <a:pt x="8395" y="2622"/>
                </a:cubicBezTo>
                <a:cubicBezTo>
                  <a:pt x="8389" y="2636"/>
                  <a:pt x="8381" y="2649"/>
                  <a:pt x="8370" y="2660"/>
                </a:cubicBezTo>
                <a:cubicBezTo>
                  <a:pt x="8359" y="2670"/>
                  <a:pt x="8347" y="2679"/>
                  <a:pt x="8332" y="2685"/>
                </a:cubicBezTo>
                <a:cubicBezTo>
                  <a:pt x="8318" y="2691"/>
                  <a:pt x="8303" y="2694"/>
                  <a:pt x="8288" y="2694"/>
                </a:cubicBezTo>
                <a:lnTo>
                  <a:pt x="70" y="2694"/>
                </a:lnTo>
                <a:cubicBezTo>
                  <a:pt x="60" y="2694"/>
                  <a:pt x="51" y="2691"/>
                  <a:pt x="43" y="2685"/>
                </a:cubicBezTo>
                <a:cubicBezTo>
                  <a:pt x="34" y="2679"/>
                  <a:pt x="27" y="2670"/>
                  <a:pt x="20" y="2660"/>
                </a:cubicBezTo>
                <a:cubicBezTo>
                  <a:pt x="14" y="2649"/>
                  <a:pt x="9" y="2636"/>
                  <a:pt x="5" y="2622"/>
                </a:cubicBezTo>
                <a:cubicBezTo>
                  <a:pt x="2" y="2608"/>
                  <a:pt x="0" y="2593"/>
                  <a:pt x="0" y="2577"/>
                </a:cubicBezTo>
                <a:close/>
              </a:path>
            </a:pathLst>
          </a:custGeom>
          <a:solidFill>
            <a:srgbClr val="ff8c00">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33" name=""/>
          <p:cNvSpPr/>
          <p:nvPr/>
        </p:nvSpPr>
        <p:spPr>
          <a:xfrm>
            <a:off x="7061400" y="2523600"/>
            <a:ext cx="42120" cy="969840"/>
          </a:xfrm>
          <a:custGeom>
            <a:avLst/>
            <a:gdLst/>
            <a:ahLst/>
            <a:rect l="0" t="0" r="r" b="b"/>
            <a:pathLst>
              <a:path w="117" h="2694">
                <a:moveTo>
                  <a:pt x="100" y="34"/>
                </a:moveTo>
                <a:cubicBezTo>
                  <a:pt x="96" y="56"/>
                  <a:pt x="93" y="84"/>
                  <a:pt x="93" y="116"/>
                </a:cubicBezTo>
                <a:lnTo>
                  <a:pt x="93" y="2577"/>
                </a:lnTo>
                <a:cubicBezTo>
                  <a:pt x="93" y="2610"/>
                  <a:pt x="96" y="2637"/>
                  <a:pt x="100" y="2660"/>
                </a:cubicBezTo>
                <a:cubicBezTo>
                  <a:pt x="105" y="2682"/>
                  <a:pt x="110" y="2694"/>
                  <a:pt x="117" y="2694"/>
                </a:cubicBezTo>
                <a:cubicBezTo>
                  <a:pt x="85" y="2694"/>
                  <a:pt x="57" y="2682"/>
                  <a:pt x="34" y="2660"/>
                </a:cubicBezTo>
                <a:cubicBezTo>
                  <a:pt x="11" y="2637"/>
                  <a:pt x="0" y="2610"/>
                  <a:pt x="0" y="2577"/>
                </a:cubicBezTo>
                <a:lnTo>
                  <a:pt x="0" y="116"/>
                </a:lnTo>
                <a:cubicBezTo>
                  <a:pt x="0" y="84"/>
                  <a:pt x="11" y="56"/>
                  <a:pt x="34" y="34"/>
                </a:cubicBezTo>
                <a:cubicBezTo>
                  <a:pt x="57" y="11"/>
                  <a:pt x="85" y="0"/>
                  <a:pt x="117" y="0"/>
                </a:cubicBezTo>
                <a:cubicBezTo>
                  <a:pt x="110" y="0"/>
                  <a:pt x="105" y="11"/>
                  <a:pt x="100" y="34"/>
                </a:cubicBez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34" name="" descr=""/>
          <p:cNvPicPr/>
          <p:nvPr/>
        </p:nvPicPr>
        <p:blipFill>
          <a:blip r:embed="rId10"/>
          <a:stretch/>
        </p:blipFill>
        <p:spPr>
          <a:xfrm>
            <a:off x="7178400" y="2640600"/>
            <a:ext cx="150120" cy="133200"/>
          </a:xfrm>
          <a:prstGeom prst="rect">
            <a:avLst/>
          </a:prstGeom>
          <a:noFill/>
          <a:ln w="0">
            <a:noFill/>
          </a:ln>
        </p:spPr>
      </p:pic>
      <p:sp>
        <p:nvSpPr>
          <p:cNvPr id="635" name=""/>
          <p:cNvSpPr txBox="1"/>
          <p:nvPr/>
        </p:nvSpPr>
        <p:spPr>
          <a:xfrm>
            <a:off x="4588920" y="2866320"/>
            <a:ext cx="689040" cy="169560"/>
          </a:xfrm>
          <a:prstGeom prst="rect">
            <a:avLst/>
          </a:prstGeom>
          <a:noFill/>
          <a:ln w="0">
            <a:noFill/>
          </a:ln>
        </p:spPr>
        <p:txBody>
          <a:bodyPr wrap="none" lIns="0" rIns="0" tIns="0" bIns="0" anchor="t">
            <a:spAutoFit/>
          </a:bodyPr>
          <a:p>
            <a:r>
              <a:rPr b="0" lang="en-US" sz="920" strike="noStrike" u="none">
                <a:solidFill>
                  <a:srgbClr val="000000"/>
                </a:solidFill>
                <a:effectLst/>
                <a:uFillTx/>
                <a:latin typeface="NotoSansJP"/>
                <a:ea typeface="NotoSansJP"/>
              </a:rPr>
              <a:t>1</a:t>
            </a:r>
            <a:r>
              <a:rPr b="0" lang="zh-CN" sz="920" strike="noStrike" u="none">
                <a:solidFill>
                  <a:srgbClr val="000000"/>
                </a:solidFill>
                <a:effectLst/>
                <a:uFillTx/>
                <a:latin typeface="NotoSansJP"/>
                <a:ea typeface="NotoSansJP"/>
              </a:rPr>
              <a:t>方向へ指向</a:t>
            </a:r>
            <a:endParaRPr b="0" lang="en-US" sz="920" strike="noStrike" u="none">
              <a:solidFill>
                <a:srgbClr val="000000"/>
              </a:solidFill>
              <a:effectLst/>
              <a:uFillTx/>
              <a:latin typeface="Times New Roman"/>
            </a:endParaRPr>
          </a:p>
        </p:txBody>
      </p:sp>
      <p:sp>
        <p:nvSpPr>
          <p:cNvPr id="636" name=""/>
          <p:cNvSpPr txBox="1"/>
          <p:nvPr/>
        </p:nvSpPr>
        <p:spPr>
          <a:xfrm>
            <a:off x="7392960" y="2642040"/>
            <a:ext cx="154152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Ch2 (</a:t>
            </a:r>
            <a:r>
              <a:rPr b="0" lang="zh-CN" sz="1050" strike="noStrike" u="none">
                <a:solidFill>
                  <a:srgbClr val="000000"/>
                </a:solidFill>
                <a:effectLst/>
                <a:uFillTx/>
                <a:latin typeface="NotoSansJP"/>
                <a:ea typeface="NotoSansJP"/>
              </a:rPr>
              <a:t>搬送波 </a:t>
            </a:r>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側帯波</a:t>
            </a:r>
            <a:r>
              <a:rPr b="0" lang="en-US" sz="1050" strike="noStrike" u="none">
                <a:solidFill>
                  <a:srgbClr val="000000"/>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637" name=""/>
          <p:cNvSpPr txBox="1"/>
          <p:nvPr/>
        </p:nvSpPr>
        <p:spPr>
          <a:xfrm>
            <a:off x="7175520" y="2866320"/>
            <a:ext cx="580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位相遅延</a:t>
            </a:r>
            <a:r>
              <a:rPr b="0" lang="en-US" sz="920" strike="noStrike" u="none">
                <a:solidFill>
                  <a:srgbClr val="000000"/>
                </a:solidFill>
                <a:effectLst/>
                <a:uFillTx/>
                <a:latin typeface="NotoSansJP"/>
                <a:ea typeface="NotoSansJP"/>
              </a:rPr>
              <a:t>: </a:t>
            </a:r>
            <a:endParaRPr b="0" lang="en-US" sz="920" strike="noStrike" u="none">
              <a:solidFill>
                <a:srgbClr val="000000"/>
              </a:solidFill>
              <a:effectLst/>
              <a:uFillTx/>
              <a:latin typeface="Times New Roman"/>
            </a:endParaRPr>
          </a:p>
        </p:txBody>
      </p:sp>
      <p:sp>
        <p:nvSpPr>
          <p:cNvPr id="638" name=""/>
          <p:cNvSpPr txBox="1"/>
          <p:nvPr/>
        </p:nvSpPr>
        <p:spPr>
          <a:xfrm>
            <a:off x="7701840" y="2869200"/>
            <a:ext cx="116640" cy="131400"/>
          </a:xfrm>
          <a:prstGeom prst="rect">
            <a:avLst/>
          </a:prstGeom>
          <a:noFill/>
          <a:ln w="0">
            <a:noFill/>
          </a:ln>
        </p:spPr>
        <p:txBody>
          <a:bodyPr wrap="none" lIns="0" rIns="0" tIns="0" bIns="0" anchor="t">
            <a:spAutoFit/>
          </a:bodyPr>
          <a:p>
            <a:r>
              <a:rPr b="0" lang="en-US" sz="920" strike="noStrike" u="none">
                <a:solidFill>
                  <a:srgbClr val="000000"/>
                </a:solidFill>
                <a:effectLst/>
                <a:uFillTx/>
                <a:latin typeface="Arial"/>
                <a:ea typeface="Arial"/>
              </a:rPr>
              <a:t>θ</a:t>
            </a:r>
            <a:endParaRPr b="0" lang="en-US" sz="920" strike="noStrike" u="none">
              <a:solidFill>
                <a:srgbClr val="000000"/>
              </a:solidFill>
              <a:effectLst/>
              <a:uFillTx/>
              <a:latin typeface="Times New Roman"/>
            </a:endParaRPr>
          </a:p>
        </p:txBody>
      </p:sp>
      <p:sp>
        <p:nvSpPr>
          <p:cNvPr id="639" name=""/>
          <p:cNvSpPr txBox="1"/>
          <p:nvPr/>
        </p:nvSpPr>
        <p:spPr>
          <a:xfrm>
            <a:off x="7767000" y="2866320"/>
            <a:ext cx="689040" cy="169560"/>
          </a:xfrm>
          <a:prstGeom prst="rect">
            <a:avLst/>
          </a:prstGeom>
          <a:noFill/>
          <a:ln w="0">
            <a:noFill/>
          </a:ln>
        </p:spPr>
        <p:txBody>
          <a:bodyPr wrap="none" lIns="0" rIns="0" tIns="0" bIns="0" anchor="t">
            <a:spAutoFit/>
          </a:bodyPr>
          <a:p>
            <a:r>
              <a:rPr b="0" lang="en-US" sz="920" strike="noStrike" u="none">
                <a:solidFill>
                  <a:srgbClr val="000000"/>
                </a:solidFill>
                <a:effectLst/>
                <a:uFillTx/>
                <a:latin typeface="NotoSansJP"/>
                <a:ea typeface="NotoSansJP"/>
              </a:rPr>
              <a:t>2</a:t>
            </a:r>
            <a:r>
              <a:rPr b="0" lang="zh-CN" sz="920" strike="noStrike" u="none">
                <a:solidFill>
                  <a:srgbClr val="000000"/>
                </a:solidFill>
                <a:effectLst/>
                <a:uFillTx/>
                <a:latin typeface="NotoSansJP"/>
                <a:ea typeface="NotoSansJP"/>
              </a:rPr>
              <a:t>方向へ指向</a:t>
            </a:r>
            <a:endParaRPr b="0" lang="en-US" sz="920" strike="noStrike" u="none">
              <a:solidFill>
                <a:srgbClr val="000000"/>
              </a:solidFill>
              <a:effectLst/>
              <a:uFillTx/>
              <a:latin typeface="Times New Roman"/>
            </a:endParaRPr>
          </a:p>
        </p:txBody>
      </p:sp>
      <p:pic>
        <p:nvPicPr>
          <p:cNvPr id="640" name="" descr=""/>
          <p:cNvPicPr/>
          <p:nvPr/>
        </p:nvPicPr>
        <p:blipFill>
          <a:blip r:embed="rId11"/>
          <a:stretch/>
        </p:blipFill>
        <p:spPr>
          <a:xfrm>
            <a:off x="6894360" y="3777120"/>
            <a:ext cx="191880" cy="250200"/>
          </a:xfrm>
          <a:prstGeom prst="rect">
            <a:avLst/>
          </a:prstGeom>
          <a:noFill/>
          <a:ln w="0">
            <a:noFill/>
          </a:ln>
        </p:spPr>
      </p:pic>
      <p:sp>
        <p:nvSpPr>
          <p:cNvPr id="641" name=""/>
          <p:cNvSpPr/>
          <p:nvPr/>
        </p:nvSpPr>
        <p:spPr>
          <a:xfrm>
            <a:off x="4152960" y="4470480"/>
            <a:ext cx="485280" cy="986760"/>
          </a:xfrm>
          <a:custGeom>
            <a:avLst/>
            <a:gdLst/>
            <a:ahLst/>
            <a:rect l="0" t="0" r="r" b="b"/>
            <a:pathLst>
              <a:path w="1348" h="2741">
                <a:moveTo>
                  <a:pt x="0" y="2648"/>
                </a:moveTo>
                <a:lnTo>
                  <a:pt x="0" y="93"/>
                </a:lnTo>
                <a:cubicBezTo>
                  <a:pt x="0" y="81"/>
                  <a:pt x="3" y="69"/>
                  <a:pt x="7" y="58"/>
                </a:cubicBezTo>
                <a:cubicBezTo>
                  <a:pt x="12" y="46"/>
                  <a:pt x="19" y="36"/>
                  <a:pt x="28" y="28"/>
                </a:cubicBezTo>
                <a:cubicBezTo>
                  <a:pt x="36" y="19"/>
                  <a:pt x="46" y="12"/>
                  <a:pt x="58" y="8"/>
                </a:cubicBezTo>
                <a:cubicBezTo>
                  <a:pt x="69" y="3"/>
                  <a:pt x="81" y="0"/>
                  <a:pt x="93" y="0"/>
                </a:cubicBezTo>
                <a:lnTo>
                  <a:pt x="1255" y="0"/>
                </a:lnTo>
                <a:cubicBezTo>
                  <a:pt x="1267" y="0"/>
                  <a:pt x="1279" y="3"/>
                  <a:pt x="1290" y="8"/>
                </a:cubicBezTo>
                <a:cubicBezTo>
                  <a:pt x="1302" y="12"/>
                  <a:pt x="1312" y="19"/>
                  <a:pt x="1321" y="28"/>
                </a:cubicBezTo>
                <a:cubicBezTo>
                  <a:pt x="1329" y="36"/>
                  <a:pt x="1336" y="46"/>
                  <a:pt x="1341" y="58"/>
                </a:cubicBezTo>
                <a:cubicBezTo>
                  <a:pt x="1345" y="69"/>
                  <a:pt x="1348" y="81"/>
                  <a:pt x="1348" y="93"/>
                </a:cubicBezTo>
                <a:lnTo>
                  <a:pt x="1348" y="2648"/>
                </a:lnTo>
                <a:cubicBezTo>
                  <a:pt x="1348" y="2660"/>
                  <a:pt x="1345" y="2672"/>
                  <a:pt x="1341" y="2683"/>
                </a:cubicBezTo>
                <a:cubicBezTo>
                  <a:pt x="1336" y="2695"/>
                  <a:pt x="1329" y="2705"/>
                  <a:pt x="1321" y="2713"/>
                </a:cubicBezTo>
                <a:cubicBezTo>
                  <a:pt x="1312" y="2722"/>
                  <a:pt x="1302" y="2729"/>
                  <a:pt x="1290" y="2734"/>
                </a:cubicBezTo>
                <a:cubicBezTo>
                  <a:pt x="1279" y="2738"/>
                  <a:pt x="1267" y="2741"/>
                  <a:pt x="1255" y="2741"/>
                </a:cubicBezTo>
                <a:lnTo>
                  <a:pt x="93" y="2741"/>
                </a:lnTo>
                <a:cubicBezTo>
                  <a:pt x="81" y="2741"/>
                  <a:pt x="69" y="2738"/>
                  <a:pt x="58" y="2734"/>
                </a:cubicBezTo>
                <a:cubicBezTo>
                  <a:pt x="46" y="2729"/>
                  <a:pt x="36" y="2722"/>
                  <a:pt x="28" y="2713"/>
                </a:cubicBezTo>
                <a:cubicBezTo>
                  <a:pt x="19" y="2705"/>
                  <a:pt x="12" y="2695"/>
                  <a:pt x="7" y="2683"/>
                </a:cubicBezTo>
                <a:cubicBezTo>
                  <a:pt x="3" y="2672"/>
                  <a:pt x="0" y="2660"/>
                  <a:pt x="0" y="2648"/>
                </a:cubicBezTo>
                <a:close/>
              </a:path>
            </a:pathLst>
          </a:custGeom>
          <a:solidFill>
            <a:srgbClr val="e0e0e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2" name=""/>
          <p:cNvSpPr/>
          <p:nvPr/>
        </p:nvSpPr>
        <p:spPr>
          <a:xfrm>
            <a:off x="4152960" y="4470480"/>
            <a:ext cx="485280" cy="986760"/>
          </a:xfrm>
          <a:custGeom>
            <a:avLst/>
            <a:gdLst/>
            <a:ahLst/>
            <a:rect l="0" t="0" r="r" b="b"/>
            <a:pathLst>
              <a:path fill="none" w="1348" h="2741">
                <a:moveTo>
                  <a:pt x="0" y="2648"/>
                </a:moveTo>
                <a:lnTo>
                  <a:pt x="0" y="93"/>
                </a:lnTo>
                <a:cubicBezTo>
                  <a:pt x="0" y="81"/>
                  <a:pt x="3" y="69"/>
                  <a:pt x="7" y="58"/>
                </a:cubicBezTo>
                <a:cubicBezTo>
                  <a:pt x="12" y="46"/>
                  <a:pt x="19" y="36"/>
                  <a:pt x="28" y="28"/>
                </a:cubicBezTo>
                <a:cubicBezTo>
                  <a:pt x="36" y="19"/>
                  <a:pt x="46" y="12"/>
                  <a:pt x="58" y="8"/>
                </a:cubicBezTo>
                <a:cubicBezTo>
                  <a:pt x="69" y="3"/>
                  <a:pt x="81" y="0"/>
                  <a:pt x="93" y="0"/>
                </a:cubicBezTo>
                <a:lnTo>
                  <a:pt x="1255" y="0"/>
                </a:lnTo>
                <a:cubicBezTo>
                  <a:pt x="1267" y="0"/>
                  <a:pt x="1279" y="3"/>
                  <a:pt x="1290" y="8"/>
                </a:cubicBezTo>
                <a:cubicBezTo>
                  <a:pt x="1302" y="12"/>
                  <a:pt x="1312" y="19"/>
                  <a:pt x="1321" y="28"/>
                </a:cubicBezTo>
                <a:cubicBezTo>
                  <a:pt x="1329" y="36"/>
                  <a:pt x="1336" y="46"/>
                  <a:pt x="1341" y="58"/>
                </a:cubicBezTo>
                <a:cubicBezTo>
                  <a:pt x="1345" y="69"/>
                  <a:pt x="1348" y="81"/>
                  <a:pt x="1348" y="93"/>
                </a:cubicBezTo>
                <a:lnTo>
                  <a:pt x="1348" y="2648"/>
                </a:lnTo>
                <a:cubicBezTo>
                  <a:pt x="1348" y="2660"/>
                  <a:pt x="1345" y="2672"/>
                  <a:pt x="1341" y="2683"/>
                </a:cubicBezTo>
                <a:cubicBezTo>
                  <a:pt x="1336" y="2695"/>
                  <a:pt x="1329" y="2705"/>
                  <a:pt x="1321" y="2713"/>
                </a:cubicBezTo>
                <a:cubicBezTo>
                  <a:pt x="1312" y="2722"/>
                  <a:pt x="1302" y="2729"/>
                  <a:pt x="1290" y="2734"/>
                </a:cubicBezTo>
                <a:cubicBezTo>
                  <a:pt x="1279" y="2738"/>
                  <a:pt x="1267" y="2741"/>
                  <a:pt x="1255" y="2741"/>
                </a:cubicBezTo>
                <a:lnTo>
                  <a:pt x="93" y="2741"/>
                </a:lnTo>
                <a:cubicBezTo>
                  <a:pt x="81" y="2741"/>
                  <a:pt x="69" y="2738"/>
                  <a:pt x="58" y="2734"/>
                </a:cubicBezTo>
                <a:cubicBezTo>
                  <a:pt x="46" y="2729"/>
                  <a:pt x="36" y="2722"/>
                  <a:pt x="28" y="2713"/>
                </a:cubicBezTo>
                <a:cubicBezTo>
                  <a:pt x="19" y="2705"/>
                  <a:pt x="12" y="2695"/>
                  <a:pt x="7" y="2683"/>
                </a:cubicBezTo>
                <a:cubicBezTo>
                  <a:pt x="3" y="2672"/>
                  <a:pt x="0" y="2660"/>
                  <a:pt x="0" y="2648"/>
                </a:cubicBezTo>
              </a:path>
            </a:pathLst>
          </a:custGeom>
          <a:ln w="16560">
            <a:solidFill>
              <a:srgbClr val="a0a0a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643" name=""/>
          <p:cNvSpPr/>
          <p:nvPr/>
        </p:nvSpPr>
        <p:spPr>
          <a:xfrm>
            <a:off x="4203360" y="4554360"/>
            <a:ext cx="384480" cy="83880"/>
          </a:xfrm>
          <a:custGeom>
            <a:avLst/>
            <a:gdLst/>
            <a:ahLst/>
            <a:rect l="0" t="0" r="r" b="b"/>
            <a:pathLst>
              <a:path w="1068" h="233">
                <a:moveTo>
                  <a:pt x="0" y="185"/>
                </a:moveTo>
                <a:lnTo>
                  <a:pt x="0" y="46"/>
                </a:lnTo>
                <a:cubicBezTo>
                  <a:pt x="0" y="40"/>
                  <a:pt x="1" y="34"/>
                  <a:pt x="3" y="28"/>
                </a:cubicBezTo>
                <a:cubicBezTo>
                  <a:pt x="6" y="23"/>
                  <a:pt x="9" y="18"/>
                  <a:pt x="13" y="13"/>
                </a:cubicBezTo>
                <a:cubicBezTo>
                  <a:pt x="18" y="9"/>
                  <a:pt x="23" y="6"/>
                  <a:pt x="28" y="3"/>
                </a:cubicBezTo>
                <a:cubicBezTo>
                  <a:pt x="34" y="1"/>
                  <a:pt x="40" y="0"/>
                  <a:pt x="46" y="0"/>
                </a:cubicBezTo>
                <a:lnTo>
                  <a:pt x="1022" y="0"/>
                </a:lnTo>
                <a:cubicBezTo>
                  <a:pt x="1028" y="0"/>
                  <a:pt x="1034" y="1"/>
                  <a:pt x="1040" y="3"/>
                </a:cubicBezTo>
                <a:cubicBezTo>
                  <a:pt x="1045" y="6"/>
                  <a:pt x="1051" y="9"/>
                  <a:pt x="1055" y="13"/>
                </a:cubicBezTo>
                <a:cubicBezTo>
                  <a:pt x="1059" y="18"/>
                  <a:pt x="1063" y="23"/>
                  <a:pt x="1065" y="28"/>
                </a:cubicBezTo>
                <a:cubicBezTo>
                  <a:pt x="1067" y="34"/>
                  <a:pt x="1068" y="40"/>
                  <a:pt x="1068" y="46"/>
                </a:cubicBezTo>
                <a:lnTo>
                  <a:pt x="1068" y="185"/>
                </a:lnTo>
                <a:cubicBezTo>
                  <a:pt x="1068" y="191"/>
                  <a:pt x="1067" y="197"/>
                  <a:pt x="1065" y="203"/>
                </a:cubicBezTo>
                <a:cubicBezTo>
                  <a:pt x="1063" y="209"/>
                  <a:pt x="1059" y="214"/>
                  <a:pt x="1055" y="218"/>
                </a:cubicBezTo>
                <a:cubicBezTo>
                  <a:pt x="1051" y="222"/>
                  <a:pt x="1045" y="227"/>
                  <a:pt x="1040" y="229"/>
                </a:cubicBezTo>
                <a:cubicBezTo>
                  <a:pt x="1034" y="232"/>
                  <a:pt x="1028" y="233"/>
                  <a:pt x="1022" y="233"/>
                </a:cubicBezTo>
                <a:lnTo>
                  <a:pt x="46" y="233"/>
                </a:lnTo>
                <a:cubicBezTo>
                  <a:pt x="40" y="233"/>
                  <a:pt x="34" y="232"/>
                  <a:pt x="28" y="229"/>
                </a:cubicBezTo>
                <a:cubicBezTo>
                  <a:pt x="23" y="227"/>
                  <a:pt x="18" y="222"/>
                  <a:pt x="13" y="218"/>
                </a:cubicBezTo>
                <a:cubicBezTo>
                  <a:pt x="9" y="214"/>
                  <a:pt x="6" y="209"/>
                  <a:pt x="3" y="203"/>
                </a:cubicBezTo>
                <a:cubicBezTo>
                  <a:pt x="1" y="197"/>
                  <a:pt x="0" y="191"/>
                  <a:pt x="0" y="185"/>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4" name=""/>
          <p:cNvSpPr/>
          <p:nvPr/>
        </p:nvSpPr>
        <p:spPr>
          <a:xfrm>
            <a:off x="4203360" y="4696200"/>
            <a:ext cx="384480" cy="83880"/>
          </a:xfrm>
          <a:custGeom>
            <a:avLst/>
            <a:gdLst/>
            <a:ahLst/>
            <a:rect l="0" t="0" r="r" b="b"/>
            <a:pathLst>
              <a:path w="1068" h="233">
                <a:moveTo>
                  <a:pt x="0" y="187"/>
                </a:moveTo>
                <a:lnTo>
                  <a:pt x="0" y="47"/>
                </a:lnTo>
                <a:cubicBezTo>
                  <a:pt x="0" y="41"/>
                  <a:pt x="1" y="35"/>
                  <a:pt x="3" y="29"/>
                </a:cubicBezTo>
                <a:cubicBezTo>
                  <a:pt x="6" y="23"/>
                  <a:pt x="9" y="18"/>
                  <a:pt x="13" y="14"/>
                </a:cubicBezTo>
                <a:cubicBezTo>
                  <a:pt x="18" y="9"/>
                  <a:pt x="23" y="6"/>
                  <a:pt x="28" y="4"/>
                </a:cubicBezTo>
                <a:cubicBezTo>
                  <a:pt x="34" y="1"/>
                  <a:pt x="40" y="0"/>
                  <a:pt x="46" y="0"/>
                </a:cubicBezTo>
                <a:lnTo>
                  <a:pt x="1022" y="0"/>
                </a:lnTo>
                <a:cubicBezTo>
                  <a:pt x="1028" y="0"/>
                  <a:pt x="1034" y="1"/>
                  <a:pt x="1040" y="4"/>
                </a:cubicBezTo>
                <a:cubicBezTo>
                  <a:pt x="1045" y="6"/>
                  <a:pt x="1051" y="9"/>
                  <a:pt x="1055" y="14"/>
                </a:cubicBezTo>
                <a:cubicBezTo>
                  <a:pt x="1059" y="18"/>
                  <a:pt x="1063" y="23"/>
                  <a:pt x="1065" y="29"/>
                </a:cubicBezTo>
                <a:cubicBezTo>
                  <a:pt x="1067" y="35"/>
                  <a:pt x="1068" y="41"/>
                  <a:pt x="1068" y="47"/>
                </a:cubicBezTo>
                <a:lnTo>
                  <a:pt x="1068" y="187"/>
                </a:lnTo>
                <a:cubicBezTo>
                  <a:pt x="1068" y="193"/>
                  <a:pt x="1067" y="199"/>
                  <a:pt x="1065" y="205"/>
                </a:cubicBezTo>
                <a:cubicBezTo>
                  <a:pt x="1063" y="210"/>
                  <a:pt x="1059" y="215"/>
                  <a:pt x="1055" y="220"/>
                </a:cubicBezTo>
                <a:cubicBezTo>
                  <a:pt x="1051" y="224"/>
                  <a:pt x="1045" y="227"/>
                  <a:pt x="1040" y="230"/>
                </a:cubicBezTo>
                <a:cubicBezTo>
                  <a:pt x="1034" y="232"/>
                  <a:pt x="1028" y="233"/>
                  <a:pt x="1022" y="233"/>
                </a:cubicBezTo>
                <a:lnTo>
                  <a:pt x="46" y="233"/>
                </a:lnTo>
                <a:cubicBezTo>
                  <a:pt x="40" y="233"/>
                  <a:pt x="34" y="232"/>
                  <a:pt x="28" y="230"/>
                </a:cubicBezTo>
                <a:cubicBezTo>
                  <a:pt x="23" y="227"/>
                  <a:pt x="18" y="224"/>
                  <a:pt x="13" y="220"/>
                </a:cubicBezTo>
                <a:cubicBezTo>
                  <a:pt x="9" y="215"/>
                  <a:pt x="6" y="210"/>
                  <a:pt x="3" y="205"/>
                </a:cubicBezTo>
                <a:cubicBezTo>
                  <a:pt x="1" y="199"/>
                  <a:pt x="0" y="193"/>
                  <a:pt x="0" y="187"/>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5" name=""/>
          <p:cNvSpPr/>
          <p:nvPr/>
        </p:nvSpPr>
        <p:spPr>
          <a:xfrm>
            <a:off x="4203360" y="4846680"/>
            <a:ext cx="384480" cy="83880"/>
          </a:xfrm>
          <a:custGeom>
            <a:avLst/>
            <a:gdLst/>
            <a:ahLst/>
            <a:rect l="0" t="0" r="r" b="b"/>
            <a:pathLst>
              <a:path w="1068" h="233">
                <a:moveTo>
                  <a:pt x="0" y="187"/>
                </a:moveTo>
                <a:lnTo>
                  <a:pt x="0" y="46"/>
                </a:lnTo>
                <a:cubicBezTo>
                  <a:pt x="0" y="40"/>
                  <a:pt x="1" y="34"/>
                  <a:pt x="3" y="29"/>
                </a:cubicBezTo>
                <a:cubicBezTo>
                  <a:pt x="6" y="23"/>
                  <a:pt x="9" y="18"/>
                  <a:pt x="13" y="14"/>
                </a:cubicBezTo>
                <a:cubicBezTo>
                  <a:pt x="18" y="9"/>
                  <a:pt x="23" y="6"/>
                  <a:pt x="28" y="4"/>
                </a:cubicBezTo>
                <a:cubicBezTo>
                  <a:pt x="34" y="1"/>
                  <a:pt x="40" y="0"/>
                  <a:pt x="46" y="0"/>
                </a:cubicBezTo>
                <a:lnTo>
                  <a:pt x="1022" y="0"/>
                </a:lnTo>
                <a:cubicBezTo>
                  <a:pt x="1028" y="0"/>
                  <a:pt x="1034" y="1"/>
                  <a:pt x="1040" y="4"/>
                </a:cubicBezTo>
                <a:cubicBezTo>
                  <a:pt x="1045" y="6"/>
                  <a:pt x="1051" y="9"/>
                  <a:pt x="1055" y="14"/>
                </a:cubicBezTo>
                <a:cubicBezTo>
                  <a:pt x="1059" y="18"/>
                  <a:pt x="1063" y="23"/>
                  <a:pt x="1065" y="29"/>
                </a:cubicBezTo>
                <a:cubicBezTo>
                  <a:pt x="1067" y="34"/>
                  <a:pt x="1068" y="40"/>
                  <a:pt x="1068" y="46"/>
                </a:cubicBezTo>
                <a:lnTo>
                  <a:pt x="1068" y="187"/>
                </a:lnTo>
                <a:cubicBezTo>
                  <a:pt x="1068" y="193"/>
                  <a:pt x="1067" y="199"/>
                  <a:pt x="1065" y="205"/>
                </a:cubicBezTo>
                <a:cubicBezTo>
                  <a:pt x="1063" y="210"/>
                  <a:pt x="1059" y="215"/>
                  <a:pt x="1055" y="220"/>
                </a:cubicBezTo>
                <a:cubicBezTo>
                  <a:pt x="1051" y="224"/>
                  <a:pt x="1045" y="227"/>
                  <a:pt x="1040" y="230"/>
                </a:cubicBezTo>
                <a:cubicBezTo>
                  <a:pt x="1034" y="232"/>
                  <a:pt x="1028" y="233"/>
                  <a:pt x="1022" y="233"/>
                </a:cubicBezTo>
                <a:lnTo>
                  <a:pt x="46" y="233"/>
                </a:lnTo>
                <a:cubicBezTo>
                  <a:pt x="40" y="233"/>
                  <a:pt x="34" y="232"/>
                  <a:pt x="28" y="230"/>
                </a:cubicBezTo>
                <a:cubicBezTo>
                  <a:pt x="23" y="227"/>
                  <a:pt x="18" y="224"/>
                  <a:pt x="13" y="220"/>
                </a:cubicBezTo>
                <a:cubicBezTo>
                  <a:pt x="9" y="215"/>
                  <a:pt x="6" y="210"/>
                  <a:pt x="3" y="205"/>
                </a:cubicBezTo>
                <a:cubicBezTo>
                  <a:pt x="1" y="199"/>
                  <a:pt x="0" y="193"/>
                  <a:pt x="0" y="187"/>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6" name=""/>
          <p:cNvSpPr/>
          <p:nvPr/>
        </p:nvSpPr>
        <p:spPr>
          <a:xfrm>
            <a:off x="4203360" y="4997160"/>
            <a:ext cx="384480" cy="83880"/>
          </a:xfrm>
          <a:custGeom>
            <a:avLst/>
            <a:gdLst/>
            <a:ahLst/>
            <a:rect l="0" t="0" r="r" b="b"/>
            <a:pathLst>
              <a:path w="1068" h="233">
                <a:moveTo>
                  <a:pt x="0" y="187"/>
                </a:moveTo>
                <a:lnTo>
                  <a:pt x="0" y="46"/>
                </a:lnTo>
                <a:cubicBezTo>
                  <a:pt x="0" y="40"/>
                  <a:pt x="1" y="34"/>
                  <a:pt x="3" y="29"/>
                </a:cubicBezTo>
                <a:cubicBezTo>
                  <a:pt x="6" y="23"/>
                  <a:pt x="9" y="18"/>
                  <a:pt x="13" y="14"/>
                </a:cubicBezTo>
                <a:cubicBezTo>
                  <a:pt x="18" y="9"/>
                  <a:pt x="23" y="6"/>
                  <a:pt x="28" y="3"/>
                </a:cubicBezTo>
                <a:cubicBezTo>
                  <a:pt x="34" y="1"/>
                  <a:pt x="40" y="0"/>
                  <a:pt x="46" y="0"/>
                </a:cubicBezTo>
                <a:lnTo>
                  <a:pt x="1022" y="0"/>
                </a:lnTo>
                <a:cubicBezTo>
                  <a:pt x="1028" y="0"/>
                  <a:pt x="1034" y="1"/>
                  <a:pt x="1040" y="3"/>
                </a:cubicBezTo>
                <a:cubicBezTo>
                  <a:pt x="1045" y="6"/>
                  <a:pt x="1051" y="9"/>
                  <a:pt x="1055" y="14"/>
                </a:cubicBezTo>
                <a:cubicBezTo>
                  <a:pt x="1059" y="18"/>
                  <a:pt x="1063" y="23"/>
                  <a:pt x="1065" y="29"/>
                </a:cubicBezTo>
                <a:cubicBezTo>
                  <a:pt x="1067" y="34"/>
                  <a:pt x="1068" y="40"/>
                  <a:pt x="1068" y="46"/>
                </a:cubicBezTo>
                <a:lnTo>
                  <a:pt x="1068" y="187"/>
                </a:lnTo>
                <a:cubicBezTo>
                  <a:pt x="1068" y="193"/>
                  <a:pt x="1067" y="199"/>
                  <a:pt x="1065" y="204"/>
                </a:cubicBezTo>
                <a:cubicBezTo>
                  <a:pt x="1063" y="210"/>
                  <a:pt x="1059" y="215"/>
                  <a:pt x="1055" y="219"/>
                </a:cubicBezTo>
                <a:cubicBezTo>
                  <a:pt x="1051" y="224"/>
                  <a:pt x="1045" y="227"/>
                  <a:pt x="1040" y="230"/>
                </a:cubicBezTo>
                <a:cubicBezTo>
                  <a:pt x="1034" y="232"/>
                  <a:pt x="1028" y="233"/>
                  <a:pt x="1022" y="233"/>
                </a:cubicBezTo>
                <a:lnTo>
                  <a:pt x="46" y="233"/>
                </a:lnTo>
                <a:cubicBezTo>
                  <a:pt x="40" y="233"/>
                  <a:pt x="34" y="232"/>
                  <a:pt x="28" y="230"/>
                </a:cubicBezTo>
                <a:cubicBezTo>
                  <a:pt x="23" y="227"/>
                  <a:pt x="18" y="224"/>
                  <a:pt x="13" y="219"/>
                </a:cubicBezTo>
                <a:cubicBezTo>
                  <a:pt x="9" y="215"/>
                  <a:pt x="6" y="210"/>
                  <a:pt x="3" y="204"/>
                </a:cubicBezTo>
                <a:cubicBezTo>
                  <a:pt x="1" y="199"/>
                  <a:pt x="0" y="193"/>
                  <a:pt x="0" y="187"/>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7" name=""/>
          <p:cNvSpPr/>
          <p:nvPr/>
        </p:nvSpPr>
        <p:spPr>
          <a:xfrm>
            <a:off x="4203360" y="5139360"/>
            <a:ext cx="384480" cy="83880"/>
          </a:xfrm>
          <a:custGeom>
            <a:avLst/>
            <a:gdLst/>
            <a:ahLst/>
            <a:rect l="0" t="0" r="r" b="b"/>
            <a:pathLst>
              <a:path w="1068" h="233">
                <a:moveTo>
                  <a:pt x="0" y="185"/>
                </a:moveTo>
                <a:lnTo>
                  <a:pt x="0" y="46"/>
                </a:lnTo>
                <a:cubicBezTo>
                  <a:pt x="0" y="40"/>
                  <a:pt x="1" y="34"/>
                  <a:pt x="3" y="28"/>
                </a:cubicBezTo>
                <a:cubicBezTo>
                  <a:pt x="6" y="22"/>
                  <a:pt x="9" y="17"/>
                  <a:pt x="13" y="13"/>
                </a:cubicBezTo>
                <a:cubicBezTo>
                  <a:pt x="18" y="9"/>
                  <a:pt x="23" y="5"/>
                  <a:pt x="28" y="3"/>
                </a:cubicBezTo>
                <a:cubicBezTo>
                  <a:pt x="34" y="1"/>
                  <a:pt x="40" y="0"/>
                  <a:pt x="46" y="0"/>
                </a:cubicBezTo>
                <a:lnTo>
                  <a:pt x="1022" y="0"/>
                </a:lnTo>
                <a:cubicBezTo>
                  <a:pt x="1028" y="0"/>
                  <a:pt x="1034" y="1"/>
                  <a:pt x="1040" y="3"/>
                </a:cubicBezTo>
                <a:cubicBezTo>
                  <a:pt x="1045" y="5"/>
                  <a:pt x="1051" y="9"/>
                  <a:pt x="1055" y="13"/>
                </a:cubicBezTo>
                <a:cubicBezTo>
                  <a:pt x="1059" y="17"/>
                  <a:pt x="1063" y="22"/>
                  <a:pt x="1065" y="28"/>
                </a:cubicBezTo>
                <a:cubicBezTo>
                  <a:pt x="1067" y="34"/>
                  <a:pt x="1068" y="40"/>
                  <a:pt x="1068" y="46"/>
                </a:cubicBezTo>
                <a:lnTo>
                  <a:pt x="1068" y="185"/>
                </a:lnTo>
                <a:cubicBezTo>
                  <a:pt x="1068" y="191"/>
                  <a:pt x="1067" y="197"/>
                  <a:pt x="1065" y="203"/>
                </a:cubicBezTo>
                <a:cubicBezTo>
                  <a:pt x="1063" y="209"/>
                  <a:pt x="1059" y="214"/>
                  <a:pt x="1055" y="218"/>
                </a:cubicBezTo>
                <a:cubicBezTo>
                  <a:pt x="1051" y="222"/>
                  <a:pt x="1045" y="227"/>
                  <a:pt x="1040" y="229"/>
                </a:cubicBezTo>
                <a:cubicBezTo>
                  <a:pt x="1034" y="231"/>
                  <a:pt x="1028" y="233"/>
                  <a:pt x="1022" y="233"/>
                </a:cubicBezTo>
                <a:lnTo>
                  <a:pt x="46" y="233"/>
                </a:lnTo>
                <a:cubicBezTo>
                  <a:pt x="40" y="233"/>
                  <a:pt x="34" y="231"/>
                  <a:pt x="28" y="229"/>
                </a:cubicBezTo>
                <a:cubicBezTo>
                  <a:pt x="23" y="227"/>
                  <a:pt x="18" y="222"/>
                  <a:pt x="13" y="218"/>
                </a:cubicBezTo>
                <a:cubicBezTo>
                  <a:pt x="9" y="214"/>
                  <a:pt x="6" y="209"/>
                  <a:pt x="3" y="203"/>
                </a:cubicBezTo>
                <a:cubicBezTo>
                  <a:pt x="1" y="197"/>
                  <a:pt x="0" y="191"/>
                  <a:pt x="0" y="185"/>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8" name=""/>
          <p:cNvSpPr/>
          <p:nvPr/>
        </p:nvSpPr>
        <p:spPr>
          <a:xfrm>
            <a:off x="4203360" y="5289480"/>
            <a:ext cx="384480" cy="83880"/>
          </a:xfrm>
          <a:custGeom>
            <a:avLst/>
            <a:gdLst/>
            <a:ahLst/>
            <a:rect l="0" t="0" r="r" b="b"/>
            <a:pathLst>
              <a:path w="1068" h="233">
                <a:moveTo>
                  <a:pt x="0" y="187"/>
                </a:moveTo>
                <a:lnTo>
                  <a:pt x="0" y="48"/>
                </a:lnTo>
                <a:cubicBezTo>
                  <a:pt x="0" y="42"/>
                  <a:pt x="1" y="35"/>
                  <a:pt x="3" y="29"/>
                </a:cubicBezTo>
                <a:cubicBezTo>
                  <a:pt x="6" y="23"/>
                  <a:pt x="9" y="18"/>
                  <a:pt x="13" y="14"/>
                </a:cubicBezTo>
                <a:cubicBezTo>
                  <a:pt x="18" y="10"/>
                  <a:pt x="23" y="6"/>
                  <a:pt x="28" y="4"/>
                </a:cubicBezTo>
                <a:cubicBezTo>
                  <a:pt x="34" y="2"/>
                  <a:pt x="40" y="0"/>
                  <a:pt x="46" y="0"/>
                </a:cubicBezTo>
                <a:lnTo>
                  <a:pt x="1022" y="0"/>
                </a:lnTo>
                <a:cubicBezTo>
                  <a:pt x="1028" y="0"/>
                  <a:pt x="1034" y="2"/>
                  <a:pt x="1040" y="4"/>
                </a:cubicBezTo>
                <a:cubicBezTo>
                  <a:pt x="1045" y="6"/>
                  <a:pt x="1051" y="10"/>
                  <a:pt x="1055" y="14"/>
                </a:cubicBezTo>
                <a:cubicBezTo>
                  <a:pt x="1059" y="18"/>
                  <a:pt x="1063" y="23"/>
                  <a:pt x="1065" y="29"/>
                </a:cubicBezTo>
                <a:cubicBezTo>
                  <a:pt x="1067" y="35"/>
                  <a:pt x="1068" y="42"/>
                  <a:pt x="1068" y="48"/>
                </a:cubicBezTo>
                <a:lnTo>
                  <a:pt x="1068" y="187"/>
                </a:lnTo>
                <a:cubicBezTo>
                  <a:pt x="1068" y="193"/>
                  <a:pt x="1067" y="199"/>
                  <a:pt x="1065" y="205"/>
                </a:cubicBezTo>
                <a:cubicBezTo>
                  <a:pt x="1063" y="211"/>
                  <a:pt x="1059" y="216"/>
                  <a:pt x="1055" y="220"/>
                </a:cubicBezTo>
                <a:cubicBezTo>
                  <a:pt x="1051" y="224"/>
                  <a:pt x="1045" y="228"/>
                  <a:pt x="1040" y="230"/>
                </a:cubicBezTo>
                <a:cubicBezTo>
                  <a:pt x="1034" y="232"/>
                  <a:pt x="1028" y="233"/>
                  <a:pt x="1022" y="233"/>
                </a:cubicBezTo>
                <a:lnTo>
                  <a:pt x="46" y="233"/>
                </a:lnTo>
                <a:cubicBezTo>
                  <a:pt x="40" y="233"/>
                  <a:pt x="34" y="232"/>
                  <a:pt x="28" y="230"/>
                </a:cubicBezTo>
                <a:cubicBezTo>
                  <a:pt x="23" y="228"/>
                  <a:pt x="18" y="224"/>
                  <a:pt x="13" y="220"/>
                </a:cubicBezTo>
                <a:cubicBezTo>
                  <a:pt x="9" y="216"/>
                  <a:pt x="6" y="211"/>
                  <a:pt x="3" y="205"/>
                </a:cubicBezTo>
                <a:cubicBezTo>
                  <a:pt x="1" y="199"/>
                  <a:pt x="0" y="193"/>
                  <a:pt x="0" y="187"/>
                </a:cubicBezTo>
                <a:close/>
              </a:path>
            </a:pathLst>
          </a:custGeom>
          <a:solidFill>
            <a:srgbClr val="a0a0a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9" name=""/>
          <p:cNvSpPr txBox="1"/>
          <p:nvPr/>
        </p:nvSpPr>
        <p:spPr>
          <a:xfrm>
            <a:off x="4626000" y="3836880"/>
            <a:ext cx="1336680" cy="194040"/>
          </a:xfrm>
          <a:prstGeom prst="rect">
            <a:avLst/>
          </a:prstGeom>
          <a:noFill/>
          <a:ln w="0">
            <a:noFill/>
          </a:ln>
        </p:spPr>
        <p:txBody>
          <a:bodyPr wrap="none" lIns="0" rIns="0" tIns="0" bIns="0" anchor="t">
            <a:spAutoFit/>
          </a:bodyPr>
          <a:p>
            <a:r>
              <a:rPr b="0" lang="en-US" sz="1050" strike="noStrike" u="none">
                <a:solidFill>
                  <a:srgbClr val="000000"/>
                </a:solidFill>
                <a:effectLst/>
                <a:uFillTx/>
                <a:latin typeface="NotoSansJP"/>
                <a:ea typeface="NotoSansJP"/>
              </a:rPr>
              <a:t>Ch1 + Ch2 </a:t>
            </a:r>
            <a:r>
              <a:rPr b="0" lang="zh-CN" sz="1050" strike="noStrike" u="none">
                <a:solidFill>
                  <a:srgbClr val="000000"/>
                </a:solidFill>
                <a:effectLst/>
                <a:uFillTx/>
                <a:latin typeface="NotoSansJP"/>
                <a:ea typeface="NotoSansJP"/>
              </a:rPr>
              <a:t>信号合成</a:t>
            </a:r>
            <a:endParaRPr b="0" lang="en-US" sz="1050" strike="noStrike" u="none">
              <a:solidFill>
                <a:srgbClr val="000000"/>
              </a:solidFill>
              <a:effectLst/>
              <a:uFillTx/>
              <a:latin typeface="Times New Roman"/>
            </a:endParaRPr>
          </a:p>
        </p:txBody>
      </p:sp>
      <p:pic>
        <p:nvPicPr>
          <p:cNvPr id="650" name="" descr=""/>
          <p:cNvPicPr/>
          <p:nvPr/>
        </p:nvPicPr>
        <p:blipFill>
          <a:blip r:embed="rId12"/>
          <a:stretch/>
        </p:blipFill>
        <p:spPr>
          <a:xfrm>
            <a:off x="3994560" y="3075120"/>
            <a:ext cx="2840760" cy="325440"/>
          </a:xfrm>
          <a:prstGeom prst="rect">
            <a:avLst/>
          </a:prstGeom>
          <a:noFill/>
          <a:ln w="0">
            <a:noFill/>
          </a:ln>
        </p:spPr>
      </p:pic>
      <p:pic>
        <p:nvPicPr>
          <p:cNvPr id="651" name="" descr=""/>
          <p:cNvPicPr/>
          <p:nvPr/>
        </p:nvPicPr>
        <p:blipFill>
          <a:blip r:embed="rId13"/>
          <a:stretch/>
        </p:blipFill>
        <p:spPr>
          <a:xfrm>
            <a:off x="7178400" y="3075120"/>
            <a:ext cx="2840760" cy="325440"/>
          </a:xfrm>
          <a:prstGeom prst="rect">
            <a:avLst/>
          </a:prstGeom>
          <a:noFill/>
          <a:ln w="0">
            <a:noFill/>
          </a:ln>
        </p:spPr>
      </p:pic>
      <p:pic>
        <p:nvPicPr>
          <p:cNvPr id="652" name="" descr=""/>
          <p:cNvPicPr/>
          <p:nvPr/>
        </p:nvPicPr>
        <p:blipFill>
          <a:blip r:embed="rId14"/>
          <a:stretch/>
        </p:blipFill>
        <p:spPr>
          <a:xfrm>
            <a:off x="4913640" y="4161600"/>
            <a:ext cx="5189040" cy="1595880"/>
          </a:xfrm>
          <a:prstGeom prst="rect">
            <a:avLst/>
          </a:prstGeom>
          <a:noFill/>
          <a:ln w="0">
            <a:noFill/>
          </a:ln>
        </p:spPr>
      </p:pic>
      <p:sp>
        <p:nvSpPr>
          <p:cNvPr id="653" name=""/>
          <p:cNvSpPr txBox="1"/>
          <p:nvPr/>
        </p:nvSpPr>
        <p:spPr>
          <a:xfrm>
            <a:off x="3958200" y="5924880"/>
            <a:ext cx="6102720" cy="169560"/>
          </a:xfrm>
          <a:prstGeom prst="rect">
            <a:avLst/>
          </a:prstGeom>
          <a:noFill/>
          <a:ln w="0">
            <a:noFill/>
          </a:ln>
        </p:spPr>
        <p:txBody>
          <a:bodyPr wrap="none" lIns="0" rIns="0" tIns="0" bIns="0" anchor="t">
            <a:spAutoFit/>
          </a:bodyPr>
          <a:p>
            <a:r>
              <a:rPr b="0" lang="zh-CN" sz="920" strike="noStrike" u="none">
                <a:solidFill>
                  <a:srgbClr val="4b5563"/>
                </a:solidFill>
                <a:effectLst/>
                <a:uFillTx/>
                <a:latin typeface="NotoSansJP"/>
                <a:ea typeface="NotoSansJP"/>
              </a:rPr>
              <a:t>異なる周波数の搬送波に異なる位相遅延を適用することで、同一空間内に複数の独立したオーディオスポットを形成</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55" name="" descr=""/>
          <p:cNvPicPr/>
          <p:nvPr/>
        </p:nvPicPr>
        <p:blipFill>
          <a:blip r:embed="rId1"/>
          <a:stretch/>
        </p:blipFill>
        <p:spPr>
          <a:xfrm>
            <a:off x="0" y="0"/>
            <a:ext cx="10696320" cy="668160"/>
          </a:xfrm>
          <a:prstGeom prst="rect">
            <a:avLst/>
          </a:prstGeom>
          <a:noFill/>
          <a:ln w="0">
            <a:noFill/>
          </a:ln>
        </p:spPr>
      </p:pic>
      <p:sp>
        <p:nvSpPr>
          <p:cNvPr id="656" name=""/>
          <p:cNvSpPr/>
          <p:nvPr/>
        </p:nvSpPr>
        <p:spPr>
          <a:xfrm>
            <a:off x="338400" y="2394000"/>
            <a:ext cx="4805280" cy="1529640"/>
          </a:xfrm>
          <a:custGeom>
            <a:avLst/>
            <a:gdLst/>
            <a:ahLst/>
            <a:rect l="0" t="0" r="r" b="b"/>
            <a:pathLst>
              <a:path w="13348" h="4249">
                <a:moveTo>
                  <a:pt x="0" y="4075"/>
                </a:moveTo>
                <a:lnTo>
                  <a:pt x="0" y="174"/>
                </a:lnTo>
                <a:cubicBezTo>
                  <a:pt x="0" y="163"/>
                  <a:pt x="1" y="151"/>
                  <a:pt x="3" y="140"/>
                </a:cubicBezTo>
                <a:cubicBezTo>
                  <a:pt x="5" y="129"/>
                  <a:pt x="9" y="118"/>
                  <a:pt x="13" y="108"/>
                </a:cubicBezTo>
                <a:cubicBezTo>
                  <a:pt x="17" y="97"/>
                  <a:pt x="23" y="87"/>
                  <a:pt x="29" y="77"/>
                </a:cubicBezTo>
                <a:cubicBezTo>
                  <a:pt x="35" y="68"/>
                  <a:pt x="43" y="59"/>
                  <a:pt x="51" y="51"/>
                </a:cubicBezTo>
                <a:cubicBezTo>
                  <a:pt x="59" y="43"/>
                  <a:pt x="67" y="36"/>
                  <a:pt x="77" y="29"/>
                </a:cubicBezTo>
                <a:cubicBezTo>
                  <a:pt x="87" y="23"/>
                  <a:pt x="97" y="18"/>
                  <a:pt x="107" y="13"/>
                </a:cubicBezTo>
                <a:cubicBezTo>
                  <a:pt x="118" y="9"/>
                  <a:pt x="129" y="6"/>
                  <a:pt x="140" y="3"/>
                </a:cubicBezTo>
                <a:cubicBezTo>
                  <a:pt x="151" y="1"/>
                  <a:pt x="162" y="0"/>
                  <a:pt x="174" y="0"/>
                </a:cubicBezTo>
                <a:lnTo>
                  <a:pt x="13174" y="0"/>
                </a:lnTo>
                <a:cubicBezTo>
                  <a:pt x="13185" y="0"/>
                  <a:pt x="13197" y="1"/>
                  <a:pt x="13208" y="3"/>
                </a:cubicBezTo>
                <a:cubicBezTo>
                  <a:pt x="13219" y="6"/>
                  <a:pt x="13230" y="9"/>
                  <a:pt x="13241" y="13"/>
                </a:cubicBezTo>
                <a:cubicBezTo>
                  <a:pt x="13251" y="18"/>
                  <a:pt x="13261" y="23"/>
                  <a:pt x="13271" y="29"/>
                </a:cubicBezTo>
                <a:cubicBezTo>
                  <a:pt x="13280" y="36"/>
                  <a:pt x="13289" y="43"/>
                  <a:pt x="13297" y="51"/>
                </a:cubicBezTo>
                <a:cubicBezTo>
                  <a:pt x="13305" y="59"/>
                  <a:pt x="13312" y="68"/>
                  <a:pt x="13319" y="77"/>
                </a:cubicBezTo>
                <a:cubicBezTo>
                  <a:pt x="13325" y="87"/>
                  <a:pt x="13331" y="97"/>
                  <a:pt x="13335" y="108"/>
                </a:cubicBezTo>
                <a:cubicBezTo>
                  <a:pt x="13339" y="118"/>
                  <a:pt x="13343" y="129"/>
                  <a:pt x="13345" y="140"/>
                </a:cubicBezTo>
                <a:cubicBezTo>
                  <a:pt x="13347" y="151"/>
                  <a:pt x="13348" y="163"/>
                  <a:pt x="13348" y="174"/>
                </a:cubicBezTo>
                <a:lnTo>
                  <a:pt x="13348" y="4075"/>
                </a:lnTo>
                <a:cubicBezTo>
                  <a:pt x="13348" y="4086"/>
                  <a:pt x="13347" y="4098"/>
                  <a:pt x="13345" y="4109"/>
                </a:cubicBezTo>
                <a:cubicBezTo>
                  <a:pt x="13343" y="4120"/>
                  <a:pt x="13339" y="4131"/>
                  <a:pt x="13335" y="4142"/>
                </a:cubicBezTo>
                <a:cubicBezTo>
                  <a:pt x="13331" y="4152"/>
                  <a:pt x="13325" y="4162"/>
                  <a:pt x="13319" y="4172"/>
                </a:cubicBezTo>
                <a:cubicBezTo>
                  <a:pt x="13312" y="4181"/>
                  <a:pt x="13305" y="4190"/>
                  <a:pt x="13297" y="4198"/>
                </a:cubicBezTo>
                <a:cubicBezTo>
                  <a:pt x="13289" y="4206"/>
                  <a:pt x="13280" y="4213"/>
                  <a:pt x="13271" y="4220"/>
                </a:cubicBezTo>
                <a:cubicBezTo>
                  <a:pt x="13261" y="4226"/>
                  <a:pt x="13251" y="4231"/>
                  <a:pt x="13241" y="4236"/>
                </a:cubicBezTo>
                <a:cubicBezTo>
                  <a:pt x="13230" y="4240"/>
                  <a:pt x="13219" y="4243"/>
                  <a:pt x="13208" y="4246"/>
                </a:cubicBezTo>
                <a:cubicBezTo>
                  <a:pt x="13197" y="4248"/>
                  <a:pt x="13185" y="4249"/>
                  <a:pt x="13174" y="4249"/>
                </a:cubicBezTo>
                <a:lnTo>
                  <a:pt x="174" y="4249"/>
                </a:lnTo>
                <a:cubicBezTo>
                  <a:pt x="162" y="4249"/>
                  <a:pt x="151" y="4248"/>
                  <a:pt x="140" y="4246"/>
                </a:cubicBezTo>
                <a:cubicBezTo>
                  <a:pt x="129" y="4243"/>
                  <a:pt x="118" y="4240"/>
                  <a:pt x="107" y="4236"/>
                </a:cubicBezTo>
                <a:cubicBezTo>
                  <a:pt x="97" y="4231"/>
                  <a:pt x="87" y="4226"/>
                  <a:pt x="77" y="4220"/>
                </a:cubicBezTo>
                <a:cubicBezTo>
                  <a:pt x="67" y="4213"/>
                  <a:pt x="59" y="4206"/>
                  <a:pt x="51" y="4198"/>
                </a:cubicBezTo>
                <a:cubicBezTo>
                  <a:pt x="43" y="4190"/>
                  <a:pt x="35" y="4181"/>
                  <a:pt x="29" y="4172"/>
                </a:cubicBezTo>
                <a:cubicBezTo>
                  <a:pt x="23" y="4162"/>
                  <a:pt x="17" y="4152"/>
                  <a:pt x="13" y="4142"/>
                </a:cubicBezTo>
                <a:cubicBezTo>
                  <a:pt x="9" y="4131"/>
                  <a:pt x="5" y="4120"/>
                  <a:pt x="3" y="4109"/>
                </a:cubicBezTo>
                <a:cubicBezTo>
                  <a:pt x="1" y="4098"/>
                  <a:pt x="0" y="4086"/>
                  <a:pt x="0" y="4075"/>
                </a:cubicBezTo>
                <a:close/>
              </a:path>
            </a:pathLst>
          </a:custGeom>
          <a:solidFill>
            <a:srgbClr val="f8f9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57" name=""/>
          <p:cNvSpPr/>
          <p:nvPr/>
        </p:nvSpPr>
        <p:spPr>
          <a:xfrm>
            <a:off x="338400" y="2394000"/>
            <a:ext cx="4805280" cy="1529640"/>
          </a:xfrm>
          <a:custGeom>
            <a:avLst/>
            <a:gdLst/>
            <a:ahLst/>
            <a:rect l="0" t="0" r="r" b="b"/>
            <a:pathLst>
              <a:path fill="none" w="13348" h="4249">
                <a:moveTo>
                  <a:pt x="0" y="4075"/>
                </a:moveTo>
                <a:lnTo>
                  <a:pt x="0" y="174"/>
                </a:lnTo>
                <a:cubicBezTo>
                  <a:pt x="0" y="163"/>
                  <a:pt x="1" y="151"/>
                  <a:pt x="3" y="140"/>
                </a:cubicBezTo>
                <a:cubicBezTo>
                  <a:pt x="5" y="129"/>
                  <a:pt x="9" y="118"/>
                  <a:pt x="13" y="108"/>
                </a:cubicBezTo>
                <a:cubicBezTo>
                  <a:pt x="17" y="97"/>
                  <a:pt x="23" y="87"/>
                  <a:pt x="29" y="77"/>
                </a:cubicBezTo>
                <a:cubicBezTo>
                  <a:pt x="35" y="68"/>
                  <a:pt x="43" y="59"/>
                  <a:pt x="51" y="51"/>
                </a:cubicBezTo>
                <a:cubicBezTo>
                  <a:pt x="59" y="43"/>
                  <a:pt x="67" y="36"/>
                  <a:pt x="77" y="29"/>
                </a:cubicBezTo>
                <a:cubicBezTo>
                  <a:pt x="87" y="23"/>
                  <a:pt x="97" y="18"/>
                  <a:pt x="107" y="13"/>
                </a:cubicBezTo>
                <a:cubicBezTo>
                  <a:pt x="118" y="9"/>
                  <a:pt x="129" y="6"/>
                  <a:pt x="140" y="3"/>
                </a:cubicBezTo>
                <a:cubicBezTo>
                  <a:pt x="151" y="1"/>
                  <a:pt x="162" y="0"/>
                  <a:pt x="174" y="0"/>
                </a:cubicBezTo>
                <a:lnTo>
                  <a:pt x="13174" y="0"/>
                </a:lnTo>
                <a:cubicBezTo>
                  <a:pt x="13185" y="0"/>
                  <a:pt x="13197" y="1"/>
                  <a:pt x="13208" y="3"/>
                </a:cubicBezTo>
                <a:cubicBezTo>
                  <a:pt x="13219" y="6"/>
                  <a:pt x="13230" y="9"/>
                  <a:pt x="13241" y="13"/>
                </a:cubicBezTo>
                <a:cubicBezTo>
                  <a:pt x="13251" y="18"/>
                  <a:pt x="13261" y="23"/>
                  <a:pt x="13271" y="29"/>
                </a:cubicBezTo>
                <a:cubicBezTo>
                  <a:pt x="13280" y="36"/>
                  <a:pt x="13289" y="43"/>
                  <a:pt x="13297" y="51"/>
                </a:cubicBezTo>
                <a:cubicBezTo>
                  <a:pt x="13305" y="59"/>
                  <a:pt x="13312" y="68"/>
                  <a:pt x="13319" y="77"/>
                </a:cubicBezTo>
                <a:cubicBezTo>
                  <a:pt x="13325" y="87"/>
                  <a:pt x="13331" y="97"/>
                  <a:pt x="13335" y="108"/>
                </a:cubicBezTo>
                <a:cubicBezTo>
                  <a:pt x="13339" y="118"/>
                  <a:pt x="13343" y="129"/>
                  <a:pt x="13345" y="140"/>
                </a:cubicBezTo>
                <a:cubicBezTo>
                  <a:pt x="13347" y="151"/>
                  <a:pt x="13348" y="163"/>
                  <a:pt x="13348" y="174"/>
                </a:cubicBezTo>
                <a:lnTo>
                  <a:pt x="13348" y="4075"/>
                </a:lnTo>
                <a:cubicBezTo>
                  <a:pt x="13348" y="4086"/>
                  <a:pt x="13347" y="4098"/>
                  <a:pt x="13345" y="4109"/>
                </a:cubicBezTo>
                <a:cubicBezTo>
                  <a:pt x="13343" y="4120"/>
                  <a:pt x="13339" y="4131"/>
                  <a:pt x="13335" y="4142"/>
                </a:cubicBezTo>
                <a:cubicBezTo>
                  <a:pt x="13331" y="4152"/>
                  <a:pt x="13325" y="4162"/>
                  <a:pt x="13319" y="4172"/>
                </a:cubicBezTo>
                <a:cubicBezTo>
                  <a:pt x="13312" y="4181"/>
                  <a:pt x="13305" y="4190"/>
                  <a:pt x="13297" y="4198"/>
                </a:cubicBezTo>
                <a:cubicBezTo>
                  <a:pt x="13289" y="4206"/>
                  <a:pt x="13280" y="4213"/>
                  <a:pt x="13271" y="4220"/>
                </a:cubicBezTo>
                <a:cubicBezTo>
                  <a:pt x="13261" y="4226"/>
                  <a:pt x="13251" y="4231"/>
                  <a:pt x="13241" y="4236"/>
                </a:cubicBezTo>
                <a:cubicBezTo>
                  <a:pt x="13230" y="4240"/>
                  <a:pt x="13219" y="4243"/>
                  <a:pt x="13208" y="4246"/>
                </a:cubicBezTo>
                <a:cubicBezTo>
                  <a:pt x="13197" y="4248"/>
                  <a:pt x="13185" y="4249"/>
                  <a:pt x="13174" y="4249"/>
                </a:cubicBezTo>
                <a:lnTo>
                  <a:pt x="174" y="4249"/>
                </a:lnTo>
                <a:cubicBezTo>
                  <a:pt x="162" y="4249"/>
                  <a:pt x="151" y="4248"/>
                  <a:pt x="140" y="4246"/>
                </a:cubicBezTo>
                <a:cubicBezTo>
                  <a:pt x="129" y="4243"/>
                  <a:pt x="118" y="4240"/>
                  <a:pt x="107" y="4236"/>
                </a:cubicBezTo>
                <a:cubicBezTo>
                  <a:pt x="97" y="4231"/>
                  <a:pt x="87" y="4226"/>
                  <a:pt x="77" y="4220"/>
                </a:cubicBezTo>
                <a:cubicBezTo>
                  <a:pt x="67" y="4213"/>
                  <a:pt x="59" y="4206"/>
                  <a:pt x="51" y="4198"/>
                </a:cubicBezTo>
                <a:cubicBezTo>
                  <a:pt x="43" y="4190"/>
                  <a:pt x="35" y="4181"/>
                  <a:pt x="29" y="4172"/>
                </a:cubicBezTo>
                <a:cubicBezTo>
                  <a:pt x="23" y="4162"/>
                  <a:pt x="17" y="4152"/>
                  <a:pt x="13" y="4142"/>
                </a:cubicBezTo>
                <a:cubicBezTo>
                  <a:pt x="9" y="4131"/>
                  <a:pt x="5" y="4120"/>
                  <a:pt x="3" y="4109"/>
                </a:cubicBezTo>
                <a:cubicBezTo>
                  <a:pt x="1" y="4098"/>
                  <a:pt x="0" y="4086"/>
                  <a:pt x="0" y="4075"/>
                </a:cubicBezTo>
              </a:path>
            </a:pathLst>
          </a:custGeom>
          <a:ln w="8280">
            <a:solidFill>
              <a:srgbClr val="c0c0c0"/>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658" name="" descr=""/>
          <p:cNvPicPr/>
          <p:nvPr/>
        </p:nvPicPr>
        <p:blipFill>
          <a:blip r:embed="rId2"/>
          <a:stretch/>
        </p:blipFill>
        <p:spPr>
          <a:xfrm>
            <a:off x="334440" y="885960"/>
            <a:ext cx="166680" cy="166680"/>
          </a:xfrm>
          <a:prstGeom prst="rect">
            <a:avLst/>
          </a:prstGeom>
          <a:noFill/>
          <a:ln w="0">
            <a:noFill/>
          </a:ln>
        </p:spPr>
      </p:pic>
      <p:sp>
        <p:nvSpPr>
          <p:cNvPr id="659" name=""/>
          <p:cNvSpPr txBox="1"/>
          <p:nvPr/>
        </p:nvSpPr>
        <p:spPr>
          <a:xfrm>
            <a:off x="334440" y="210240"/>
            <a:ext cx="301824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実用化に向けた課題と展望</a:t>
            </a:r>
            <a:endParaRPr b="0" lang="en-US" sz="1979" strike="noStrike" u="none">
              <a:solidFill>
                <a:srgbClr val="000000"/>
              </a:solidFill>
              <a:effectLst/>
              <a:uFillTx/>
              <a:latin typeface="Times New Roman"/>
            </a:endParaRPr>
          </a:p>
        </p:txBody>
      </p:sp>
      <p:pic>
        <p:nvPicPr>
          <p:cNvPr id="660" name="" descr=""/>
          <p:cNvPicPr/>
          <p:nvPr/>
        </p:nvPicPr>
        <p:blipFill>
          <a:blip r:embed="rId3"/>
          <a:stretch/>
        </p:blipFill>
        <p:spPr>
          <a:xfrm>
            <a:off x="601560" y="1220040"/>
            <a:ext cx="91440" cy="150120"/>
          </a:xfrm>
          <a:prstGeom prst="rect">
            <a:avLst/>
          </a:prstGeom>
          <a:noFill/>
          <a:ln w="0">
            <a:noFill/>
          </a:ln>
        </p:spPr>
      </p:pic>
      <p:sp>
        <p:nvSpPr>
          <p:cNvPr id="661" name=""/>
          <p:cNvSpPr txBox="1"/>
          <p:nvPr/>
        </p:nvSpPr>
        <p:spPr>
          <a:xfrm>
            <a:off x="601560" y="866880"/>
            <a:ext cx="100656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現状の課題</a:t>
            </a:r>
            <a:endParaRPr b="0" lang="en-US" sz="1580" strike="noStrike" u="none">
              <a:solidFill>
                <a:srgbClr val="000000"/>
              </a:solidFill>
              <a:effectLst/>
              <a:uFillTx/>
              <a:latin typeface="Times New Roman"/>
            </a:endParaRPr>
          </a:p>
        </p:txBody>
      </p:sp>
      <p:pic>
        <p:nvPicPr>
          <p:cNvPr id="662" name="" descr=""/>
          <p:cNvPicPr/>
          <p:nvPr/>
        </p:nvPicPr>
        <p:blipFill>
          <a:blip r:embed="rId4"/>
          <a:stretch/>
        </p:blipFill>
        <p:spPr>
          <a:xfrm>
            <a:off x="601560" y="1529280"/>
            <a:ext cx="91440" cy="150120"/>
          </a:xfrm>
          <a:prstGeom prst="rect">
            <a:avLst/>
          </a:prstGeom>
          <a:noFill/>
          <a:ln w="0">
            <a:noFill/>
          </a:ln>
        </p:spPr>
      </p:pic>
      <p:sp>
        <p:nvSpPr>
          <p:cNvPr id="663" name=""/>
          <p:cNvSpPr txBox="1"/>
          <p:nvPr/>
        </p:nvSpPr>
        <p:spPr>
          <a:xfrm>
            <a:off x="793800" y="1222560"/>
            <a:ext cx="37728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スピーカユニット近傍では</a:t>
            </a:r>
            <a:r>
              <a:rPr b="0" lang="zh-CN" sz="1180" strike="noStrike" u="none">
                <a:solidFill>
                  <a:srgbClr val="e53e3e"/>
                </a:solidFill>
                <a:effectLst/>
                <a:uFillTx/>
                <a:latin typeface="NotoSansJP"/>
                <a:ea typeface="NotoSansJP"/>
              </a:rPr>
              <a:t>指向性が失われる</a:t>
            </a:r>
            <a:r>
              <a:rPr b="0" lang="zh-CN" sz="1180" strike="noStrike" u="none">
                <a:solidFill>
                  <a:srgbClr val="000000"/>
                </a:solidFill>
                <a:effectLst/>
                <a:uFillTx/>
                <a:latin typeface="NotoSansJP"/>
                <a:ea typeface="NotoSansJP"/>
              </a:rPr>
              <a:t>現象が発生</a:t>
            </a:r>
            <a:endParaRPr b="0" lang="en-US" sz="1180" strike="noStrike" u="none">
              <a:solidFill>
                <a:srgbClr val="000000"/>
              </a:solidFill>
              <a:effectLst/>
              <a:uFillTx/>
              <a:latin typeface="Times New Roman"/>
            </a:endParaRPr>
          </a:p>
        </p:txBody>
      </p:sp>
      <p:sp>
        <p:nvSpPr>
          <p:cNvPr id="664" name=""/>
          <p:cNvSpPr txBox="1"/>
          <p:nvPr/>
        </p:nvSpPr>
        <p:spPr>
          <a:xfrm>
            <a:off x="793800" y="1531800"/>
            <a:ext cx="42253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シミュレーションでは</a:t>
            </a:r>
            <a:r>
              <a:rPr b="0" lang="zh-CN" sz="1180" strike="noStrike" u="none">
                <a:solidFill>
                  <a:srgbClr val="e53e3e"/>
                </a:solidFill>
                <a:effectLst/>
                <a:uFillTx/>
                <a:latin typeface="NotoSansJP"/>
                <a:ea typeface="NotoSansJP"/>
              </a:rPr>
              <a:t>全方位に拡散する点波源</a:t>
            </a:r>
            <a:r>
              <a:rPr b="0" lang="zh-CN" sz="1180" strike="noStrike" u="none">
                <a:solidFill>
                  <a:srgbClr val="000000"/>
                </a:solidFill>
                <a:effectLst/>
                <a:uFillTx/>
                <a:latin typeface="NotoSansJP"/>
                <a:ea typeface="NotoSansJP"/>
              </a:rPr>
              <a:t>を使用（実際の</a:t>
            </a:r>
            <a:endParaRPr b="0" lang="en-US" sz="1180" strike="noStrike" u="none">
              <a:solidFill>
                <a:srgbClr val="000000"/>
              </a:solidFill>
              <a:effectLst/>
              <a:uFillTx/>
              <a:latin typeface="Times New Roman"/>
            </a:endParaRPr>
          </a:p>
        </p:txBody>
      </p:sp>
      <p:pic>
        <p:nvPicPr>
          <p:cNvPr id="665" name="" descr=""/>
          <p:cNvPicPr/>
          <p:nvPr/>
        </p:nvPicPr>
        <p:blipFill>
          <a:blip r:embed="rId5"/>
          <a:stretch/>
        </p:blipFill>
        <p:spPr>
          <a:xfrm>
            <a:off x="601560" y="2064240"/>
            <a:ext cx="91440" cy="150120"/>
          </a:xfrm>
          <a:prstGeom prst="rect">
            <a:avLst/>
          </a:prstGeom>
          <a:noFill/>
          <a:ln w="0">
            <a:noFill/>
          </a:ln>
        </p:spPr>
      </p:pic>
      <p:sp>
        <p:nvSpPr>
          <p:cNvPr id="666" name=""/>
          <p:cNvSpPr txBox="1"/>
          <p:nvPr/>
        </p:nvSpPr>
        <p:spPr>
          <a:xfrm>
            <a:off x="793800" y="1757520"/>
            <a:ext cx="22640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スピーカは固有の指向性を持つ）</a:t>
            </a:r>
            <a:endParaRPr b="0" lang="en-US" sz="1180" strike="noStrike" u="none">
              <a:solidFill>
                <a:srgbClr val="000000"/>
              </a:solidFill>
              <a:effectLst/>
              <a:uFillTx/>
              <a:latin typeface="Times New Roman"/>
            </a:endParaRPr>
          </a:p>
        </p:txBody>
      </p:sp>
      <p:sp>
        <p:nvSpPr>
          <p:cNvPr id="667" name=""/>
          <p:cNvSpPr txBox="1"/>
          <p:nvPr/>
        </p:nvSpPr>
        <p:spPr>
          <a:xfrm>
            <a:off x="793800" y="2066400"/>
            <a:ext cx="22640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空間的スケールが現実的ではない</a:t>
            </a:r>
            <a:endParaRPr b="0" lang="en-US" sz="1180" strike="noStrike" u="none">
              <a:solidFill>
                <a:srgbClr val="000000"/>
              </a:solidFill>
              <a:effectLst/>
              <a:uFillTx/>
              <a:latin typeface="Times New Roman"/>
            </a:endParaRPr>
          </a:p>
        </p:txBody>
      </p:sp>
      <p:sp>
        <p:nvSpPr>
          <p:cNvPr id="668" name=""/>
          <p:cNvSpPr txBox="1"/>
          <p:nvPr/>
        </p:nvSpPr>
        <p:spPr>
          <a:xfrm>
            <a:off x="1470600" y="2558520"/>
            <a:ext cx="25488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シミュレーションと実用的スケールの比較</a:t>
            </a:r>
            <a:endParaRPr b="0" lang="en-US" sz="1050" strike="noStrike" u="none">
              <a:solidFill>
                <a:srgbClr val="000000"/>
              </a:solidFill>
              <a:effectLst/>
              <a:uFillTx/>
              <a:latin typeface="Times New Roman"/>
            </a:endParaRPr>
          </a:p>
        </p:txBody>
      </p:sp>
      <p:sp>
        <p:nvSpPr>
          <p:cNvPr id="669" name=""/>
          <p:cNvSpPr txBox="1"/>
          <p:nvPr/>
        </p:nvSpPr>
        <p:spPr>
          <a:xfrm>
            <a:off x="468000" y="2866320"/>
            <a:ext cx="9396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シミュレーション</a:t>
            </a:r>
            <a:endParaRPr b="0" lang="en-US" sz="920" strike="noStrike" u="none">
              <a:solidFill>
                <a:srgbClr val="000000"/>
              </a:solidFill>
              <a:effectLst/>
              <a:uFillTx/>
              <a:latin typeface="Times New Roman"/>
            </a:endParaRPr>
          </a:p>
        </p:txBody>
      </p:sp>
      <p:pic>
        <p:nvPicPr>
          <p:cNvPr id="670" name="" descr=""/>
          <p:cNvPicPr/>
          <p:nvPr/>
        </p:nvPicPr>
        <p:blipFill>
          <a:blip r:embed="rId6"/>
          <a:stretch/>
        </p:blipFill>
        <p:spPr>
          <a:xfrm>
            <a:off x="3827520" y="2858040"/>
            <a:ext cx="133200" cy="133200"/>
          </a:xfrm>
          <a:prstGeom prst="rect">
            <a:avLst/>
          </a:prstGeom>
          <a:noFill/>
          <a:ln w="0">
            <a:noFill/>
          </a:ln>
        </p:spPr>
      </p:pic>
      <p:sp>
        <p:nvSpPr>
          <p:cNvPr id="671" name=""/>
          <p:cNvSpPr txBox="1"/>
          <p:nvPr/>
        </p:nvSpPr>
        <p:spPr>
          <a:xfrm>
            <a:off x="2598840" y="2859120"/>
            <a:ext cx="12664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スピーカ間隔</a:t>
            </a:r>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数</a:t>
            </a:r>
            <a:r>
              <a:rPr b="0" lang="en-US" sz="1050" strike="noStrike" u="none">
                <a:solidFill>
                  <a:srgbClr val="000000"/>
                </a:solidFill>
                <a:effectLst/>
                <a:uFillTx/>
                <a:latin typeface="NotoSansJP"/>
                <a:ea typeface="NotoSansJP"/>
              </a:rPr>
              <a:t>m</a:t>
            </a:r>
            <a:endParaRPr b="0" lang="en-US" sz="1050" strike="noStrike" u="none">
              <a:solidFill>
                <a:srgbClr val="000000"/>
              </a:solidFill>
              <a:effectLst/>
              <a:uFillTx/>
              <a:latin typeface="Times New Roman"/>
            </a:endParaRPr>
          </a:p>
        </p:txBody>
      </p:sp>
      <p:pic>
        <p:nvPicPr>
          <p:cNvPr id="672" name="" descr=""/>
          <p:cNvPicPr/>
          <p:nvPr/>
        </p:nvPicPr>
        <p:blipFill>
          <a:blip r:embed="rId7"/>
          <a:stretch/>
        </p:blipFill>
        <p:spPr>
          <a:xfrm>
            <a:off x="2665800" y="3250800"/>
            <a:ext cx="150120" cy="200160"/>
          </a:xfrm>
          <a:prstGeom prst="rect">
            <a:avLst/>
          </a:prstGeom>
          <a:noFill/>
          <a:ln w="0">
            <a:noFill/>
          </a:ln>
        </p:spPr>
      </p:pic>
      <p:sp>
        <p:nvSpPr>
          <p:cNvPr id="673" name=""/>
          <p:cNvSpPr txBox="1"/>
          <p:nvPr/>
        </p:nvSpPr>
        <p:spPr>
          <a:xfrm>
            <a:off x="4061520" y="2859120"/>
            <a:ext cx="105012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観測距離</a:t>
            </a:r>
            <a:r>
              <a:rPr b="0" lang="en-US" sz="1050" strike="noStrike" u="none">
                <a:solidFill>
                  <a:srgbClr val="000000"/>
                </a:solidFill>
                <a:effectLst/>
                <a:uFillTx/>
                <a:latin typeface="NotoSansJP"/>
                <a:ea typeface="NotoSansJP"/>
              </a:rPr>
              <a:t>: 200m</a:t>
            </a:r>
            <a:endParaRPr b="0" lang="en-US" sz="1050" strike="noStrike" u="none">
              <a:solidFill>
                <a:srgbClr val="000000"/>
              </a:solidFill>
              <a:effectLst/>
              <a:uFillTx/>
              <a:latin typeface="Times New Roman"/>
            </a:endParaRPr>
          </a:p>
        </p:txBody>
      </p:sp>
      <p:sp>
        <p:nvSpPr>
          <p:cNvPr id="674" name=""/>
          <p:cNvSpPr txBox="1"/>
          <p:nvPr/>
        </p:nvSpPr>
        <p:spPr>
          <a:xfrm>
            <a:off x="468000" y="3635280"/>
            <a:ext cx="82224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実用的スケール</a:t>
            </a:r>
            <a:endParaRPr b="0" lang="en-US" sz="920" strike="noStrike" u="none">
              <a:solidFill>
                <a:srgbClr val="000000"/>
              </a:solidFill>
              <a:effectLst/>
              <a:uFillTx/>
              <a:latin typeface="Times New Roman"/>
            </a:endParaRPr>
          </a:p>
        </p:txBody>
      </p:sp>
      <p:pic>
        <p:nvPicPr>
          <p:cNvPr id="675" name="" descr=""/>
          <p:cNvPicPr/>
          <p:nvPr/>
        </p:nvPicPr>
        <p:blipFill>
          <a:blip r:embed="rId8"/>
          <a:stretch/>
        </p:blipFill>
        <p:spPr>
          <a:xfrm>
            <a:off x="3844080" y="3626640"/>
            <a:ext cx="133200" cy="133200"/>
          </a:xfrm>
          <a:prstGeom prst="rect">
            <a:avLst/>
          </a:prstGeom>
          <a:noFill/>
          <a:ln w="0">
            <a:noFill/>
          </a:ln>
        </p:spPr>
      </p:pic>
      <p:sp>
        <p:nvSpPr>
          <p:cNvPr id="676" name=""/>
          <p:cNvSpPr txBox="1"/>
          <p:nvPr/>
        </p:nvSpPr>
        <p:spPr>
          <a:xfrm>
            <a:off x="2473560" y="3628080"/>
            <a:ext cx="1425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スピーカ間隔</a:t>
            </a:r>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約</a:t>
            </a:r>
            <a:r>
              <a:rPr b="0" lang="en-US" sz="1050" strike="noStrike" u="none">
                <a:solidFill>
                  <a:srgbClr val="000000"/>
                </a:solidFill>
                <a:effectLst/>
                <a:uFillTx/>
                <a:latin typeface="NotoSansJP"/>
                <a:ea typeface="NotoSansJP"/>
              </a:rPr>
              <a:t>1cm</a:t>
            </a:r>
            <a:endParaRPr b="0" lang="en-US" sz="1050" strike="noStrike" u="none">
              <a:solidFill>
                <a:srgbClr val="000000"/>
              </a:solidFill>
              <a:effectLst/>
              <a:uFillTx/>
              <a:latin typeface="Times New Roman"/>
            </a:endParaRPr>
          </a:p>
        </p:txBody>
      </p:sp>
      <p:pic>
        <p:nvPicPr>
          <p:cNvPr id="677" name="" descr=""/>
          <p:cNvPicPr/>
          <p:nvPr/>
        </p:nvPicPr>
        <p:blipFill>
          <a:blip r:embed="rId9"/>
          <a:stretch/>
        </p:blipFill>
        <p:spPr>
          <a:xfrm>
            <a:off x="5548680" y="885960"/>
            <a:ext cx="166680" cy="166680"/>
          </a:xfrm>
          <a:prstGeom prst="rect">
            <a:avLst/>
          </a:prstGeom>
          <a:noFill/>
          <a:ln w="0">
            <a:noFill/>
          </a:ln>
        </p:spPr>
      </p:pic>
      <p:sp>
        <p:nvSpPr>
          <p:cNvPr id="678" name=""/>
          <p:cNvSpPr txBox="1"/>
          <p:nvPr/>
        </p:nvSpPr>
        <p:spPr>
          <a:xfrm>
            <a:off x="4078080" y="3628080"/>
            <a:ext cx="10836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観測距離</a:t>
            </a:r>
            <a:r>
              <a:rPr b="0" lang="en-US" sz="1050" strike="noStrike" u="none">
                <a:solidFill>
                  <a:srgbClr val="000000"/>
                </a:solidFill>
                <a:effectLst/>
                <a:uFillTx/>
                <a:latin typeface="NotoSansJP"/>
                <a:ea typeface="NotoSansJP"/>
              </a:rPr>
              <a:t>: </a:t>
            </a:r>
            <a:r>
              <a:rPr b="0" lang="zh-CN" sz="1050" strike="noStrike" u="none">
                <a:solidFill>
                  <a:srgbClr val="000000"/>
                </a:solidFill>
                <a:effectLst/>
                <a:uFillTx/>
                <a:latin typeface="NotoSansJP"/>
                <a:ea typeface="NotoSansJP"/>
              </a:rPr>
              <a:t>約</a:t>
            </a:r>
            <a:r>
              <a:rPr b="0" lang="en-US" sz="1050" strike="noStrike" u="none">
                <a:solidFill>
                  <a:srgbClr val="000000"/>
                </a:solidFill>
                <a:effectLst/>
                <a:uFillTx/>
                <a:latin typeface="NotoSansJP"/>
                <a:ea typeface="NotoSansJP"/>
              </a:rPr>
              <a:t>1m</a:t>
            </a:r>
            <a:endParaRPr b="0" lang="en-US" sz="1050" strike="noStrike" u="none">
              <a:solidFill>
                <a:srgbClr val="000000"/>
              </a:solidFill>
              <a:effectLst/>
              <a:uFillTx/>
              <a:latin typeface="Times New Roman"/>
            </a:endParaRPr>
          </a:p>
        </p:txBody>
      </p:sp>
      <p:pic>
        <p:nvPicPr>
          <p:cNvPr id="679" name="" descr=""/>
          <p:cNvPicPr/>
          <p:nvPr/>
        </p:nvPicPr>
        <p:blipFill>
          <a:blip r:embed="rId10"/>
          <a:stretch/>
        </p:blipFill>
        <p:spPr>
          <a:xfrm>
            <a:off x="5816160" y="1220040"/>
            <a:ext cx="150120" cy="150120"/>
          </a:xfrm>
          <a:prstGeom prst="rect">
            <a:avLst/>
          </a:prstGeom>
          <a:noFill/>
          <a:ln w="0">
            <a:noFill/>
          </a:ln>
        </p:spPr>
      </p:pic>
      <p:sp>
        <p:nvSpPr>
          <p:cNvPr id="680" name=""/>
          <p:cNvSpPr txBox="1"/>
          <p:nvPr/>
        </p:nvSpPr>
        <p:spPr>
          <a:xfrm>
            <a:off x="5816160" y="866880"/>
            <a:ext cx="60408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改良点</a:t>
            </a:r>
            <a:endParaRPr b="0" lang="en-US" sz="1580" strike="noStrike" u="none">
              <a:solidFill>
                <a:srgbClr val="000000"/>
              </a:solidFill>
              <a:effectLst/>
              <a:uFillTx/>
              <a:latin typeface="Times New Roman"/>
            </a:endParaRPr>
          </a:p>
        </p:txBody>
      </p:sp>
      <p:sp>
        <p:nvSpPr>
          <p:cNvPr id="681" name=""/>
          <p:cNvSpPr txBox="1"/>
          <p:nvPr/>
        </p:nvSpPr>
        <p:spPr>
          <a:xfrm>
            <a:off x="6067080" y="1222560"/>
            <a:ext cx="4225320" cy="219960"/>
          </a:xfrm>
          <a:prstGeom prst="rect">
            <a:avLst/>
          </a:prstGeom>
          <a:noFill/>
          <a:ln w="0">
            <a:noFill/>
          </a:ln>
        </p:spPr>
        <p:txBody>
          <a:bodyPr wrap="none" lIns="0" rIns="0" tIns="0" bIns="0" anchor="t">
            <a:spAutoFit/>
          </a:bodyPr>
          <a:p>
            <a:r>
              <a:rPr b="0" lang="zh-CN" sz="1180" strike="noStrike" u="none">
                <a:solidFill>
                  <a:srgbClr val="3182ce"/>
                </a:solidFill>
                <a:effectLst/>
                <a:uFillTx/>
                <a:latin typeface="NotoSansJP"/>
                <a:ea typeface="NotoSansJP"/>
              </a:rPr>
              <a:t>超音波領域</a:t>
            </a:r>
            <a:r>
              <a:rPr b="0" lang="zh-CN" sz="1180" strike="noStrike" u="none">
                <a:solidFill>
                  <a:srgbClr val="000000"/>
                </a:solidFill>
                <a:effectLst/>
                <a:uFillTx/>
                <a:latin typeface="NotoSansJP"/>
                <a:ea typeface="NotoSansJP"/>
              </a:rPr>
              <a:t>の利用による指向性の向上（高周波ほど伝搬の指向</a:t>
            </a:r>
            <a:endParaRPr b="0" lang="en-US" sz="1180" strike="noStrike" u="none">
              <a:solidFill>
                <a:srgbClr val="000000"/>
              </a:solidFill>
              <a:effectLst/>
              <a:uFillTx/>
              <a:latin typeface="Times New Roman"/>
            </a:endParaRPr>
          </a:p>
        </p:txBody>
      </p:sp>
      <p:pic>
        <p:nvPicPr>
          <p:cNvPr id="682" name="" descr=""/>
          <p:cNvPicPr/>
          <p:nvPr/>
        </p:nvPicPr>
        <p:blipFill>
          <a:blip r:embed="rId11"/>
          <a:stretch/>
        </p:blipFill>
        <p:spPr>
          <a:xfrm>
            <a:off x="5816160" y="1755000"/>
            <a:ext cx="150120" cy="150120"/>
          </a:xfrm>
          <a:prstGeom prst="rect">
            <a:avLst/>
          </a:prstGeom>
          <a:noFill/>
          <a:ln w="0">
            <a:noFill/>
          </a:ln>
        </p:spPr>
      </p:pic>
      <p:sp>
        <p:nvSpPr>
          <p:cNvPr id="683" name=""/>
          <p:cNvSpPr txBox="1"/>
          <p:nvPr/>
        </p:nvSpPr>
        <p:spPr>
          <a:xfrm>
            <a:off x="6067080" y="1448280"/>
            <a:ext cx="7552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性が高い）</a:t>
            </a:r>
            <a:endParaRPr b="0" lang="en-US" sz="1180" strike="noStrike" u="none">
              <a:solidFill>
                <a:srgbClr val="000000"/>
              </a:solidFill>
              <a:effectLst/>
              <a:uFillTx/>
              <a:latin typeface="Times New Roman"/>
            </a:endParaRPr>
          </a:p>
        </p:txBody>
      </p:sp>
      <p:sp>
        <p:nvSpPr>
          <p:cNvPr id="684" name=""/>
          <p:cNvSpPr txBox="1"/>
          <p:nvPr/>
        </p:nvSpPr>
        <p:spPr>
          <a:xfrm>
            <a:off x="6067080" y="1757520"/>
            <a:ext cx="4225320" cy="219960"/>
          </a:xfrm>
          <a:prstGeom prst="rect">
            <a:avLst/>
          </a:prstGeom>
          <a:noFill/>
          <a:ln w="0">
            <a:noFill/>
          </a:ln>
        </p:spPr>
        <p:txBody>
          <a:bodyPr wrap="none" lIns="0" rIns="0" tIns="0" bIns="0" anchor="t">
            <a:spAutoFit/>
          </a:bodyPr>
          <a:p>
            <a:r>
              <a:rPr b="0" lang="zh-CN" sz="1180" strike="noStrike" u="none">
                <a:solidFill>
                  <a:srgbClr val="3182ce"/>
                </a:solidFill>
                <a:effectLst/>
                <a:uFillTx/>
                <a:latin typeface="NotoSansJP"/>
                <a:ea typeface="NotoSansJP"/>
              </a:rPr>
              <a:t>パラメトリックスピーカ</a:t>
            </a:r>
            <a:r>
              <a:rPr b="0" lang="zh-CN" sz="1180" strike="noStrike" u="none">
                <a:solidFill>
                  <a:srgbClr val="000000"/>
                </a:solidFill>
                <a:effectLst/>
                <a:uFillTx/>
                <a:latin typeface="NotoSansJP"/>
                <a:ea typeface="NotoSansJP"/>
              </a:rPr>
              <a:t>技術の応用による精密なオーディオス</a:t>
            </a:r>
            <a:endParaRPr b="0" lang="en-US" sz="1180" strike="noStrike" u="none">
              <a:solidFill>
                <a:srgbClr val="000000"/>
              </a:solidFill>
              <a:effectLst/>
              <a:uFillTx/>
              <a:latin typeface="Times New Roman"/>
            </a:endParaRPr>
          </a:p>
        </p:txBody>
      </p:sp>
      <p:pic>
        <p:nvPicPr>
          <p:cNvPr id="685" name="" descr=""/>
          <p:cNvPicPr/>
          <p:nvPr/>
        </p:nvPicPr>
        <p:blipFill>
          <a:blip r:embed="rId12"/>
          <a:stretch/>
        </p:blipFill>
        <p:spPr>
          <a:xfrm>
            <a:off x="5816160" y="2289600"/>
            <a:ext cx="150120" cy="150120"/>
          </a:xfrm>
          <a:prstGeom prst="rect">
            <a:avLst/>
          </a:prstGeom>
          <a:noFill/>
          <a:ln w="0">
            <a:noFill/>
          </a:ln>
        </p:spPr>
      </p:pic>
      <p:sp>
        <p:nvSpPr>
          <p:cNvPr id="686" name=""/>
          <p:cNvSpPr txBox="1"/>
          <p:nvPr/>
        </p:nvSpPr>
        <p:spPr>
          <a:xfrm>
            <a:off x="6067080" y="1982880"/>
            <a:ext cx="7552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ポット形成</a:t>
            </a:r>
            <a:endParaRPr b="0" lang="en-US" sz="1180" strike="noStrike" u="none">
              <a:solidFill>
                <a:srgbClr val="000000"/>
              </a:solidFill>
              <a:effectLst/>
              <a:uFillTx/>
              <a:latin typeface="Times New Roman"/>
            </a:endParaRPr>
          </a:p>
        </p:txBody>
      </p:sp>
      <p:sp>
        <p:nvSpPr>
          <p:cNvPr id="687" name=""/>
          <p:cNvSpPr txBox="1"/>
          <p:nvPr/>
        </p:nvSpPr>
        <p:spPr>
          <a:xfrm>
            <a:off x="6067080" y="2292120"/>
            <a:ext cx="42253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実際のオーディオ機器の</a:t>
            </a:r>
            <a:r>
              <a:rPr b="0" lang="zh-CN" sz="1180" strike="noStrike" u="none">
                <a:solidFill>
                  <a:srgbClr val="3182ce"/>
                </a:solidFill>
                <a:effectLst/>
                <a:uFillTx/>
                <a:latin typeface="NotoSansJP"/>
                <a:ea typeface="NotoSansJP"/>
              </a:rPr>
              <a:t>固有の指向特性</a:t>
            </a:r>
            <a:r>
              <a:rPr b="0" lang="zh-CN" sz="1180" strike="noStrike" u="none">
                <a:solidFill>
                  <a:srgbClr val="000000"/>
                </a:solidFill>
                <a:effectLst/>
                <a:uFillTx/>
                <a:latin typeface="NotoSansJP"/>
                <a:ea typeface="NotoSansJP"/>
              </a:rPr>
              <a:t>を考慮したシミュレー</a:t>
            </a:r>
            <a:endParaRPr b="0" lang="en-US" sz="1180" strike="noStrike" u="none">
              <a:solidFill>
                <a:srgbClr val="000000"/>
              </a:solidFill>
              <a:effectLst/>
              <a:uFillTx/>
              <a:latin typeface="Times New Roman"/>
            </a:endParaRPr>
          </a:p>
        </p:txBody>
      </p:sp>
      <p:pic>
        <p:nvPicPr>
          <p:cNvPr id="688" name="" descr=""/>
          <p:cNvPicPr/>
          <p:nvPr/>
        </p:nvPicPr>
        <p:blipFill>
          <a:blip r:embed="rId13"/>
          <a:stretch/>
        </p:blipFill>
        <p:spPr>
          <a:xfrm>
            <a:off x="5548680" y="2891520"/>
            <a:ext cx="124920" cy="166680"/>
          </a:xfrm>
          <a:prstGeom prst="rect">
            <a:avLst/>
          </a:prstGeom>
          <a:noFill/>
          <a:ln w="0">
            <a:noFill/>
          </a:ln>
        </p:spPr>
      </p:pic>
      <p:sp>
        <p:nvSpPr>
          <p:cNvPr id="689" name=""/>
          <p:cNvSpPr txBox="1"/>
          <p:nvPr/>
        </p:nvSpPr>
        <p:spPr>
          <a:xfrm>
            <a:off x="6067080" y="2517840"/>
            <a:ext cx="453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ション</a:t>
            </a:r>
            <a:endParaRPr b="0" lang="en-US" sz="1180" strike="noStrike" u="none">
              <a:solidFill>
                <a:srgbClr val="000000"/>
              </a:solidFill>
              <a:effectLst/>
              <a:uFillTx/>
              <a:latin typeface="Times New Roman"/>
            </a:endParaRPr>
          </a:p>
        </p:txBody>
      </p:sp>
      <p:pic>
        <p:nvPicPr>
          <p:cNvPr id="690" name="" descr=""/>
          <p:cNvPicPr/>
          <p:nvPr/>
        </p:nvPicPr>
        <p:blipFill>
          <a:blip r:embed="rId14"/>
          <a:stretch/>
        </p:blipFill>
        <p:spPr>
          <a:xfrm>
            <a:off x="5816160" y="3225600"/>
            <a:ext cx="166680" cy="150120"/>
          </a:xfrm>
          <a:prstGeom prst="rect">
            <a:avLst/>
          </a:prstGeom>
          <a:noFill/>
          <a:ln w="0">
            <a:noFill/>
          </a:ln>
        </p:spPr>
      </p:pic>
      <p:sp>
        <p:nvSpPr>
          <p:cNvPr id="691" name=""/>
          <p:cNvSpPr txBox="1"/>
          <p:nvPr/>
        </p:nvSpPr>
        <p:spPr>
          <a:xfrm>
            <a:off x="5774400" y="2872440"/>
            <a:ext cx="805320" cy="291600"/>
          </a:xfrm>
          <a:prstGeom prst="rect">
            <a:avLst/>
          </a:prstGeom>
          <a:noFill/>
          <a:ln w="0">
            <a:noFill/>
          </a:ln>
        </p:spPr>
        <p:txBody>
          <a:bodyPr wrap="none" lIns="0" rIns="0" tIns="0" bIns="0" anchor="t">
            <a:spAutoFit/>
          </a:bodyPr>
          <a:p>
            <a:r>
              <a:rPr b="0" lang="zh-CN" sz="1580" strike="noStrike" u="none">
                <a:solidFill>
                  <a:srgbClr val="003366"/>
                </a:solidFill>
                <a:effectLst/>
                <a:uFillTx/>
                <a:latin typeface="NotoSansJP"/>
                <a:ea typeface="NotoSansJP"/>
              </a:rPr>
              <a:t>将来展望</a:t>
            </a:r>
            <a:endParaRPr b="0" lang="en-US" sz="1580" strike="noStrike" u="none">
              <a:solidFill>
                <a:srgbClr val="000000"/>
              </a:solidFill>
              <a:effectLst/>
              <a:uFillTx/>
              <a:latin typeface="Times New Roman"/>
            </a:endParaRPr>
          </a:p>
        </p:txBody>
      </p:sp>
      <p:pic>
        <p:nvPicPr>
          <p:cNvPr id="692" name="" descr=""/>
          <p:cNvPicPr/>
          <p:nvPr/>
        </p:nvPicPr>
        <p:blipFill>
          <a:blip r:embed="rId15"/>
          <a:stretch/>
        </p:blipFill>
        <p:spPr>
          <a:xfrm>
            <a:off x="5816160" y="3534840"/>
            <a:ext cx="166680" cy="150120"/>
          </a:xfrm>
          <a:prstGeom prst="rect">
            <a:avLst/>
          </a:prstGeom>
          <a:noFill/>
          <a:ln w="0">
            <a:noFill/>
          </a:ln>
        </p:spPr>
      </p:pic>
      <p:sp>
        <p:nvSpPr>
          <p:cNvPr id="693" name=""/>
          <p:cNvSpPr txBox="1"/>
          <p:nvPr/>
        </p:nvSpPr>
        <p:spPr>
          <a:xfrm>
            <a:off x="6083640" y="3228120"/>
            <a:ext cx="398592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周波数多重分割（</a:t>
            </a:r>
            <a:r>
              <a:rPr b="0" lang="en-US" sz="1180" strike="noStrike" u="none">
                <a:solidFill>
                  <a:srgbClr val="ff8c00"/>
                </a:solidFill>
                <a:effectLst/>
                <a:uFillTx/>
                <a:latin typeface="NotoSansJP"/>
                <a:ea typeface="NotoSansJP"/>
              </a:rPr>
              <a:t>FDMA</a:t>
            </a:r>
            <a:r>
              <a:rPr b="0" lang="zh-CN" sz="1180" strike="noStrike" u="none">
                <a:solidFill>
                  <a:srgbClr val="ff8c00"/>
                </a:solidFill>
                <a:effectLst/>
                <a:uFillTx/>
                <a:latin typeface="NotoSansJP"/>
                <a:ea typeface="NotoSansJP"/>
              </a:rPr>
              <a:t>）</a:t>
            </a:r>
            <a:r>
              <a:rPr b="0" lang="zh-CN" sz="1180" strike="noStrike" u="none">
                <a:solidFill>
                  <a:srgbClr val="000000"/>
                </a:solidFill>
                <a:effectLst/>
                <a:uFillTx/>
                <a:latin typeface="NotoSansJP"/>
                <a:ea typeface="NotoSansJP"/>
              </a:rPr>
              <a:t>による複数チャンネル同時発振</a:t>
            </a:r>
            <a:endParaRPr b="0" lang="en-US" sz="1180" strike="noStrike" u="none">
              <a:solidFill>
                <a:srgbClr val="000000"/>
              </a:solidFill>
              <a:effectLst/>
              <a:uFillTx/>
              <a:latin typeface="Times New Roman"/>
            </a:endParaRPr>
          </a:p>
        </p:txBody>
      </p:sp>
      <p:pic>
        <p:nvPicPr>
          <p:cNvPr id="694" name="" descr=""/>
          <p:cNvPicPr/>
          <p:nvPr/>
        </p:nvPicPr>
        <p:blipFill>
          <a:blip r:embed="rId16"/>
          <a:stretch/>
        </p:blipFill>
        <p:spPr>
          <a:xfrm>
            <a:off x="5816160" y="3844080"/>
            <a:ext cx="166680" cy="150120"/>
          </a:xfrm>
          <a:prstGeom prst="rect">
            <a:avLst/>
          </a:prstGeom>
          <a:noFill/>
          <a:ln w="0">
            <a:noFill/>
          </a:ln>
        </p:spPr>
      </p:pic>
      <p:sp>
        <p:nvSpPr>
          <p:cNvPr id="695" name=""/>
          <p:cNvSpPr txBox="1"/>
          <p:nvPr/>
        </p:nvSpPr>
        <p:spPr>
          <a:xfrm>
            <a:off x="6083640" y="3537360"/>
            <a:ext cx="37728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同一空間内で</a:t>
            </a:r>
            <a:r>
              <a:rPr b="0" lang="zh-CN" sz="1180" strike="noStrike" u="none">
                <a:solidFill>
                  <a:srgbClr val="ff8c00"/>
                </a:solidFill>
                <a:effectLst/>
                <a:uFillTx/>
                <a:latin typeface="NotoSansJP"/>
                <a:ea typeface="NotoSansJP"/>
              </a:rPr>
              <a:t>複数の異なる音声</a:t>
            </a:r>
            <a:r>
              <a:rPr b="0" lang="zh-CN" sz="1180" strike="noStrike" u="none">
                <a:solidFill>
                  <a:srgbClr val="000000"/>
                </a:solidFill>
                <a:effectLst/>
                <a:uFillTx/>
                <a:latin typeface="NotoSansJP"/>
                <a:ea typeface="NotoSansJP"/>
              </a:rPr>
              <a:t>を互いに干渉せずに伝達</a:t>
            </a:r>
            <a:endParaRPr b="0" lang="en-US" sz="1180" strike="noStrike" u="none">
              <a:solidFill>
                <a:srgbClr val="000000"/>
              </a:solidFill>
              <a:effectLst/>
              <a:uFillTx/>
              <a:latin typeface="Times New Roman"/>
            </a:endParaRPr>
          </a:p>
        </p:txBody>
      </p:sp>
      <p:pic>
        <p:nvPicPr>
          <p:cNvPr id="696" name="" descr=""/>
          <p:cNvPicPr/>
          <p:nvPr/>
        </p:nvPicPr>
        <p:blipFill>
          <a:blip r:embed="rId17"/>
          <a:stretch/>
        </p:blipFill>
        <p:spPr>
          <a:xfrm>
            <a:off x="5716080" y="4303800"/>
            <a:ext cx="1069200" cy="1069200"/>
          </a:xfrm>
          <a:prstGeom prst="rect">
            <a:avLst/>
          </a:prstGeom>
          <a:noFill/>
          <a:ln w="0">
            <a:noFill/>
          </a:ln>
        </p:spPr>
      </p:pic>
      <p:sp>
        <p:nvSpPr>
          <p:cNvPr id="697" name=""/>
          <p:cNvSpPr txBox="1"/>
          <p:nvPr/>
        </p:nvSpPr>
        <p:spPr>
          <a:xfrm>
            <a:off x="6083640" y="3846600"/>
            <a:ext cx="28674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公共空間での</a:t>
            </a:r>
            <a:r>
              <a:rPr b="0" lang="zh-CN" sz="1180" strike="noStrike" u="none">
                <a:solidFill>
                  <a:srgbClr val="ff8c00"/>
                </a:solidFill>
                <a:effectLst/>
                <a:uFillTx/>
                <a:latin typeface="NotoSansJP"/>
                <a:ea typeface="NotoSansJP"/>
              </a:rPr>
              <a:t>個別化された音響体験</a:t>
            </a:r>
            <a:r>
              <a:rPr b="0" lang="zh-CN" sz="1180" strike="noStrike" u="none">
                <a:solidFill>
                  <a:srgbClr val="000000"/>
                </a:solidFill>
                <a:effectLst/>
                <a:uFillTx/>
                <a:latin typeface="NotoSansJP"/>
                <a:ea typeface="NotoSansJP"/>
              </a:rPr>
              <a:t>の実現</a:t>
            </a:r>
            <a:endParaRPr b="0" lang="en-US" sz="1180" strike="noStrike" u="none">
              <a:solidFill>
                <a:srgbClr val="000000"/>
              </a:solidFill>
              <a:effectLst/>
              <a:uFillTx/>
              <a:latin typeface="Times New Roman"/>
            </a:endParaRPr>
          </a:p>
        </p:txBody>
      </p:sp>
      <p:sp>
        <p:nvSpPr>
          <p:cNvPr id="698" name=""/>
          <p:cNvSpPr txBox="1"/>
          <p:nvPr/>
        </p:nvSpPr>
        <p:spPr>
          <a:xfrm>
            <a:off x="7404120" y="4212000"/>
            <a:ext cx="164376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パラメトリックスピーカによる</a:t>
            </a:r>
            <a:endParaRPr b="0" lang="en-US" sz="920" strike="noStrike" u="none">
              <a:solidFill>
                <a:srgbClr val="000000"/>
              </a:solidFill>
              <a:effectLst/>
              <a:uFillTx/>
              <a:latin typeface="Times New Roman"/>
            </a:endParaRPr>
          </a:p>
        </p:txBody>
      </p:sp>
      <p:pic>
        <p:nvPicPr>
          <p:cNvPr id="699" name="" descr=""/>
          <p:cNvPicPr/>
          <p:nvPr/>
        </p:nvPicPr>
        <p:blipFill>
          <a:blip r:embed="rId18"/>
          <a:stretch/>
        </p:blipFill>
        <p:spPr>
          <a:xfrm>
            <a:off x="7153200" y="4596120"/>
            <a:ext cx="2139120" cy="24840"/>
          </a:xfrm>
          <a:prstGeom prst="rect">
            <a:avLst/>
          </a:prstGeom>
          <a:noFill/>
          <a:ln w="0">
            <a:noFill/>
          </a:ln>
        </p:spPr>
      </p:pic>
      <p:pic>
        <p:nvPicPr>
          <p:cNvPr id="700" name="" descr=""/>
          <p:cNvPicPr/>
          <p:nvPr/>
        </p:nvPicPr>
        <p:blipFill>
          <a:blip r:embed="rId19"/>
          <a:stretch/>
        </p:blipFill>
        <p:spPr>
          <a:xfrm>
            <a:off x="7153200" y="4671360"/>
            <a:ext cx="2139120" cy="24840"/>
          </a:xfrm>
          <a:prstGeom prst="rect">
            <a:avLst/>
          </a:prstGeom>
          <a:noFill/>
          <a:ln w="0">
            <a:noFill/>
          </a:ln>
        </p:spPr>
      </p:pic>
      <p:pic>
        <p:nvPicPr>
          <p:cNvPr id="701" name="" descr=""/>
          <p:cNvPicPr/>
          <p:nvPr/>
        </p:nvPicPr>
        <p:blipFill>
          <a:blip r:embed="rId20"/>
          <a:stretch/>
        </p:blipFill>
        <p:spPr>
          <a:xfrm>
            <a:off x="7153200" y="4746600"/>
            <a:ext cx="2139120" cy="24840"/>
          </a:xfrm>
          <a:prstGeom prst="rect">
            <a:avLst/>
          </a:prstGeom>
          <a:noFill/>
          <a:ln w="0">
            <a:noFill/>
          </a:ln>
        </p:spPr>
      </p:pic>
      <p:pic>
        <p:nvPicPr>
          <p:cNvPr id="702" name="" descr=""/>
          <p:cNvPicPr/>
          <p:nvPr/>
        </p:nvPicPr>
        <p:blipFill>
          <a:blip r:embed="rId21"/>
          <a:stretch/>
        </p:blipFill>
        <p:spPr>
          <a:xfrm>
            <a:off x="9000000" y="4613040"/>
            <a:ext cx="100080" cy="116640"/>
          </a:xfrm>
          <a:prstGeom prst="rect">
            <a:avLst/>
          </a:prstGeom>
          <a:noFill/>
          <a:ln w="0">
            <a:noFill/>
          </a:ln>
        </p:spPr>
      </p:pic>
      <p:sp>
        <p:nvSpPr>
          <p:cNvPr id="703" name=""/>
          <p:cNvSpPr txBox="1"/>
          <p:nvPr/>
        </p:nvSpPr>
        <p:spPr>
          <a:xfrm>
            <a:off x="7583760" y="4379040"/>
            <a:ext cx="1291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複数オーディオスポット</a:t>
            </a:r>
            <a:endParaRPr b="0" lang="en-US" sz="920" strike="noStrike" u="none">
              <a:solidFill>
                <a:srgbClr val="000000"/>
              </a:solidFill>
              <a:effectLst/>
              <a:uFillTx/>
              <a:latin typeface="Times New Roman"/>
            </a:endParaRPr>
          </a:p>
        </p:txBody>
      </p:sp>
      <p:pic>
        <p:nvPicPr>
          <p:cNvPr id="704" name="" descr=""/>
          <p:cNvPicPr/>
          <p:nvPr/>
        </p:nvPicPr>
        <p:blipFill>
          <a:blip r:embed="rId22"/>
          <a:stretch/>
        </p:blipFill>
        <p:spPr>
          <a:xfrm>
            <a:off x="9250920" y="4696560"/>
            <a:ext cx="100080" cy="116640"/>
          </a:xfrm>
          <a:prstGeom prst="rect">
            <a:avLst/>
          </a:prstGeom>
          <a:noFill/>
          <a:ln w="0">
            <a:noFill/>
          </a:ln>
        </p:spPr>
      </p:pic>
      <p:sp>
        <p:nvSpPr>
          <p:cNvPr id="705" name=""/>
          <p:cNvSpPr txBox="1"/>
          <p:nvPr/>
        </p:nvSpPr>
        <p:spPr>
          <a:xfrm>
            <a:off x="9000000" y="4770360"/>
            <a:ext cx="230760" cy="117720"/>
          </a:xfrm>
          <a:prstGeom prst="rect">
            <a:avLst/>
          </a:prstGeom>
          <a:noFill/>
          <a:ln w="0">
            <a:noFill/>
          </a:ln>
        </p:spPr>
        <p:txBody>
          <a:bodyPr wrap="none" lIns="0" rIns="0" tIns="0" bIns="0" anchor="t">
            <a:spAutoFit/>
          </a:bodyPr>
          <a:p>
            <a:r>
              <a:rPr b="0" lang="en-US" sz="790" strike="noStrike" u="none">
                <a:solidFill>
                  <a:srgbClr val="000000"/>
                </a:solidFill>
                <a:effectLst/>
                <a:uFillTx/>
                <a:latin typeface="NotoSansJP"/>
                <a:ea typeface="NotoSansJP"/>
              </a:rPr>
              <a:t>Ch.1</a:t>
            </a:r>
            <a:endParaRPr b="0" lang="en-US" sz="790" strike="noStrike" u="none">
              <a:solidFill>
                <a:srgbClr val="000000"/>
              </a:solidFill>
              <a:effectLst/>
              <a:uFillTx/>
              <a:latin typeface="Times New Roman"/>
            </a:endParaRPr>
          </a:p>
        </p:txBody>
      </p:sp>
      <p:pic>
        <p:nvPicPr>
          <p:cNvPr id="706" name="" descr=""/>
          <p:cNvPicPr/>
          <p:nvPr/>
        </p:nvPicPr>
        <p:blipFill>
          <a:blip r:embed="rId23"/>
          <a:stretch/>
        </p:blipFill>
        <p:spPr>
          <a:xfrm>
            <a:off x="9501480" y="4780080"/>
            <a:ext cx="100080" cy="116640"/>
          </a:xfrm>
          <a:prstGeom prst="rect">
            <a:avLst/>
          </a:prstGeom>
          <a:noFill/>
          <a:ln w="0">
            <a:noFill/>
          </a:ln>
        </p:spPr>
      </p:pic>
      <p:sp>
        <p:nvSpPr>
          <p:cNvPr id="707" name=""/>
          <p:cNvSpPr txBox="1"/>
          <p:nvPr/>
        </p:nvSpPr>
        <p:spPr>
          <a:xfrm>
            <a:off x="9250920" y="4854240"/>
            <a:ext cx="230760" cy="117720"/>
          </a:xfrm>
          <a:prstGeom prst="rect">
            <a:avLst/>
          </a:prstGeom>
          <a:noFill/>
          <a:ln w="0">
            <a:noFill/>
          </a:ln>
        </p:spPr>
        <p:txBody>
          <a:bodyPr wrap="none" lIns="0" rIns="0" tIns="0" bIns="0" anchor="t">
            <a:spAutoFit/>
          </a:bodyPr>
          <a:p>
            <a:r>
              <a:rPr b="0" lang="en-US" sz="790" strike="noStrike" u="none">
                <a:solidFill>
                  <a:srgbClr val="000000"/>
                </a:solidFill>
                <a:effectLst/>
                <a:uFillTx/>
                <a:latin typeface="NotoSansJP"/>
                <a:ea typeface="NotoSansJP"/>
              </a:rPr>
              <a:t>Ch.2</a:t>
            </a:r>
            <a:endParaRPr b="0" lang="en-US" sz="790" strike="noStrike" u="none">
              <a:solidFill>
                <a:srgbClr val="000000"/>
              </a:solidFill>
              <a:effectLst/>
              <a:uFillTx/>
              <a:latin typeface="Times New Roman"/>
            </a:endParaRPr>
          </a:p>
        </p:txBody>
      </p:sp>
      <p:sp>
        <p:nvSpPr>
          <p:cNvPr id="708" name=""/>
          <p:cNvSpPr txBox="1"/>
          <p:nvPr/>
        </p:nvSpPr>
        <p:spPr>
          <a:xfrm>
            <a:off x="9501480" y="4937760"/>
            <a:ext cx="230760" cy="117720"/>
          </a:xfrm>
          <a:prstGeom prst="rect">
            <a:avLst/>
          </a:prstGeom>
          <a:noFill/>
          <a:ln w="0">
            <a:noFill/>
          </a:ln>
        </p:spPr>
        <p:txBody>
          <a:bodyPr wrap="none" lIns="0" rIns="0" tIns="0" bIns="0" anchor="t">
            <a:spAutoFit/>
          </a:bodyPr>
          <a:p>
            <a:r>
              <a:rPr b="0" lang="en-US" sz="790" strike="noStrike" u="none">
                <a:solidFill>
                  <a:srgbClr val="000000"/>
                </a:solidFill>
                <a:effectLst/>
                <a:uFillTx/>
                <a:latin typeface="NotoSansJP"/>
                <a:ea typeface="NotoSansJP"/>
              </a:rPr>
              <a:t>Ch.3</a:t>
            </a:r>
            <a:endParaRPr b="0" lang="en-US" sz="79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
          <p:cNvSpPr/>
          <p:nvPr/>
        </p:nvSpPr>
        <p:spPr>
          <a:xfrm>
            <a:off x="0" y="0"/>
            <a:ext cx="10696680" cy="6184080"/>
          </a:xfrm>
          <a:custGeom>
            <a:avLst/>
            <a:gdLst/>
            <a:ahLst/>
            <a:rect l="0" t="0" r="r" b="b"/>
            <a:pathLst>
              <a:path w="29713" h="17178">
                <a:moveTo>
                  <a:pt x="0" y="0"/>
                </a:moveTo>
                <a:lnTo>
                  <a:pt x="29713" y="0"/>
                </a:lnTo>
                <a:lnTo>
                  <a:pt x="29713" y="17178"/>
                </a:lnTo>
                <a:lnTo>
                  <a:pt x="0" y="17178"/>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10" name="" descr=""/>
          <p:cNvPicPr/>
          <p:nvPr/>
        </p:nvPicPr>
        <p:blipFill>
          <a:blip r:embed="rId1"/>
          <a:stretch/>
        </p:blipFill>
        <p:spPr>
          <a:xfrm>
            <a:off x="0" y="0"/>
            <a:ext cx="10696320" cy="668160"/>
          </a:xfrm>
          <a:prstGeom prst="rect">
            <a:avLst/>
          </a:prstGeom>
          <a:noFill/>
          <a:ln w="0">
            <a:noFill/>
          </a:ln>
        </p:spPr>
      </p:pic>
      <p:sp>
        <p:nvSpPr>
          <p:cNvPr id="711" name=""/>
          <p:cNvSpPr/>
          <p:nvPr/>
        </p:nvSpPr>
        <p:spPr>
          <a:xfrm>
            <a:off x="334080" y="3426120"/>
            <a:ext cx="10028520" cy="1253880"/>
          </a:xfrm>
          <a:custGeom>
            <a:avLst/>
            <a:gdLst/>
            <a:ahLst/>
            <a:rect l="0" t="0" r="r" b="b"/>
            <a:pathLst>
              <a:path w="27857" h="3483">
                <a:moveTo>
                  <a:pt x="0" y="0"/>
                </a:moveTo>
                <a:lnTo>
                  <a:pt x="27857" y="0"/>
                </a:lnTo>
                <a:lnTo>
                  <a:pt x="27857" y="3483"/>
                </a:lnTo>
                <a:lnTo>
                  <a:pt x="0" y="3483"/>
                </a:lnTo>
                <a:lnTo>
                  <a:pt x="0" y="0"/>
                </a:lnTo>
                <a:close/>
              </a:path>
            </a:pathLst>
          </a:custGeom>
          <a:solidFill>
            <a:srgbClr val="ff8c00">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2" name=""/>
          <p:cNvSpPr/>
          <p:nvPr/>
        </p:nvSpPr>
        <p:spPr>
          <a:xfrm>
            <a:off x="334080" y="3426120"/>
            <a:ext cx="33840" cy="1253880"/>
          </a:xfrm>
          <a:custGeom>
            <a:avLst/>
            <a:gdLst/>
            <a:ahLst/>
            <a:rect l="0" t="0" r="r" b="b"/>
            <a:pathLst>
              <a:path w="94" h="3483">
                <a:moveTo>
                  <a:pt x="0" y="0"/>
                </a:moveTo>
                <a:lnTo>
                  <a:pt x="94" y="0"/>
                </a:lnTo>
                <a:lnTo>
                  <a:pt x="94" y="3483"/>
                </a:lnTo>
                <a:lnTo>
                  <a:pt x="0" y="3483"/>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3" name=""/>
          <p:cNvSpPr txBox="1"/>
          <p:nvPr/>
        </p:nvSpPr>
        <p:spPr>
          <a:xfrm>
            <a:off x="334440" y="210240"/>
            <a:ext cx="50364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結論</a:t>
            </a:r>
            <a:endParaRPr b="0" lang="en-US" sz="1979" strike="noStrike" u="none">
              <a:solidFill>
                <a:srgbClr val="000000"/>
              </a:solidFill>
              <a:effectLst/>
              <a:uFillTx/>
              <a:latin typeface="Times New Roman"/>
            </a:endParaRPr>
          </a:p>
        </p:txBody>
      </p:sp>
      <p:pic>
        <p:nvPicPr>
          <p:cNvPr id="714" name="" descr=""/>
          <p:cNvPicPr/>
          <p:nvPr/>
        </p:nvPicPr>
        <p:blipFill>
          <a:blip r:embed="rId2"/>
          <a:stretch/>
        </p:blipFill>
        <p:spPr>
          <a:xfrm>
            <a:off x="334440" y="1270080"/>
            <a:ext cx="166680" cy="166680"/>
          </a:xfrm>
          <a:prstGeom prst="rect">
            <a:avLst/>
          </a:prstGeom>
          <a:noFill/>
          <a:ln w="0">
            <a:noFill/>
          </a:ln>
        </p:spPr>
      </p:pic>
      <p:sp>
        <p:nvSpPr>
          <p:cNvPr id="715" name=""/>
          <p:cNvSpPr txBox="1"/>
          <p:nvPr/>
        </p:nvSpPr>
        <p:spPr>
          <a:xfrm>
            <a:off x="334440" y="879840"/>
            <a:ext cx="754452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本研究では、</a:t>
            </a:r>
            <a:r>
              <a:rPr b="0" lang="zh-CN" sz="1180" strike="noStrike" u="none">
                <a:solidFill>
                  <a:srgbClr val="003366"/>
                </a:solidFill>
                <a:effectLst/>
                <a:uFillTx/>
                <a:latin typeface="NotoSansJP"/>
                <a:ea typeface="NotoSansJP"/>
              </a:rPr>
              <a:t>音響レンズの屈折原理</a:t>
            </a:r>
            <a:r>
              <a:rPr b="0" lang="zh-CN" sz="1180" strike="noStrike" u="none">
                <a:solidFill>
                  <a:srgbClr val="000000"/>
                </a:solidFill>
                <a:effectLst/>
                <a:uFillTx/>
                <a:latin typeface="NotoSansJP"/>
                <a:ea typeface="NotoSansJP"/>
              </a:rPr>
              <a:t>を応用し、指向性オーディオ機器による騒音対策の可能性を検証しました。</a:t>
            </a:r>
            <a:endParaRPr b="0" lang="en-US" sz="1180" strike="noStrike" u="none">
              <a:solidFill>
                <a:srgbClr val="000000"/>
              </a:solidFill>
              <a:effectLst/>
              <a:uFillTx/>
              <a:latin typeface="Times New Roman"/>
            </a:endParaRPr>
          </a:p>
        </p:txBody>
      </p:sp>
      <p:sp>
        <p:nvSpPr>
          <p:cNvPr id="716" name=""/>
          <p:cNvSpPr/>
          <p:nvPr/>
        </p:nvSpPr>
        <p:spPr>
          <a:xfrm>
            <a:off x="334080" y="1554120"/>
            <a:ext cx="301320" cy="301320"/>
          </a:xfrm>
          <a:custGeom>
            <a:avLst/>
            <a:gdLst/>
            <a:ahLst/>
            <a:rect l="0" t="0" r="r" b="b"/>
            <a:pathLst>
              <a:path w="837" h="837">
                <a:moveTo>
                  <a:pt x="837" y="419"/>
                </a:moveTo>
                <a:cubicBezTo>
                  <a:pt x="837" y="446"/>
                  <a:pt x="834" y="474"/>
                  <a:pt x="829" y="500"/>
                </a:cubicBezTo>
                <a:cubicBezTo>
                  <a:pt x="823" y="527"/>
                  <a:pt x="815" y="554"/>
                  <a:pt x="805" y="579"/>
                </a:cubicBezTo>
                <a:cubicBezTo>
                  <a:pt x="794" y="604"/>
                  <a:pt x="782" y="628"/>
                  <a:pt x="766" y="651"/>
                </a:cubicBezTo>
                <a:cubicBezTo>
                  <a:pt x="751" y="674"/>
                  <a:pt x="734" y="695"/>
                  <a:pt x="714" y="714"/>
                </a:cubicBezTo>
                <a:cubicBezTo>
                  <a:pt x="695" y="734"/>
                  <a:pt x="674" y="751"/>
                  <a:pt x="651" y="766"/>
                </a:cubicBezTo>
                <a:cubicBezTo>
                  <a:pt x="628" y="782"/>
                  <a:pt x="604" y="794"/>
                  <a:pt x="579" y="805"/>
                </a:cubicBezTo>
                <a:cubicBezTo>
                  <a:pt x="553" y="815"/>
                  <a:pt x="527" y="823"/>
                  <a:pt x="500" y="829"/>
                </a:cubicBezTo>
                <a:cubicBezTo>
                  <a:pt x="473" y="834"/>
                  <a:pt x="446" y="837"/>
                  <a:pt x="419" y="837"/>
                </a:cubicBezTo>
                <a:cubicBezTo>
                  <a:pt x="391" y="837"/>
                  <a:pt x="364" y="834"/>
                  <a:pt x="337" y="829"/>
                </a:cubicBezTo>
                <a:cubicBezTo>
                  <a:pt x="309" y="823"/>
                  <a:pt x="283" y="815"/>
                  <a:pt x="258" y="805"/>
                </a:cubicBezTo>
                <a:cubicBezTo>
                  <a:pt x="233" y="794"/>
                  <a:pt x="209" y="782"/>
                  <a:pt x="186" y="766"/>
                </a:cubicBezTo>
                <a:cubicBezTo>
                  <a:pt x="163" y="751"/>
                  <a:pt x="142" y="734"/>
                  <a:pt x="122" y="714"/>
                </a:cubicBezTo>
                <a:cubicBezTo>
                  <a:pt x="103" y="695"/>
                  <a:pt x="86" y="674"/>
                  <a:pt x="70" y="651"/>
                </a:cubicBezTo>
                <a:cubicBezTo>
                  <a:pt x="55" y="628"/>
                  <a:pt x="42" y="604"/>
                  <a:pt x="32" y="579"/>
                </a:cubicBezTo>
                <a:cubicBezTo>
                  <a:pt x="21" y="554"/>
                  <a:pt x="13" y="527"/>
                  <a:pt x="8" y="500"/>
                </a:cubicBezTo>
                <a:cubicBezTo>
                  <a:pt x="3" y="474"/>
                  <a:pt x="0" y="446"/>
                  <a:pt x="0" y="419"/>
                </a:cubicBezTo>
                <a:cubicBezTo>
                  <a:pt x="0" y="392"/>
                  <a:pt x="3" y="364"/>
                  <a:pt x="8" y="337"/>
                </a:cubicBezTo>
                <a:cubicBezTo>
                  <a:pt x="13" y="311"/>
                  <a:pt x="21" y="284"/>
                  <a:pt x="32" y="258"/>
                </a:cubicBezTo>
                <a:cubicBezTo>
                  <a:pt x="42" y="233"/>
                  <a:pt x="55" y="209"/>
                  <a:pt x="70" y="186"/>
                </a:cubicBezTo>
                <a:cubicBezTo>
                  <a:pt x="86" y="163"/>
                  <a:pt x="103" y="142"/>
                  <a:pt x="122" y="123"/>
                </a:cubicBezTo>
                <a:cubicBezTo>
                  <a:pt x="142" y="103"/>
                  <a:pt x="163" y="86"/>
                  <a:pt x="186" y="71"/>
                </a:cubicBezTo>
                <a:cubicBezTo>
                  <a:pt x="209" y="55"/>
                  <a:pt x="233" y="42"/>
                  <a:pt x="258" y="32"/>
                </a:cubicBezTo>
                <a:cubicBezTo>
                  <a:pt x="283" y="21"/>
                  <a:pt x="309" y="14"/>
                  <a:pt x="337" y="8"/>
                </a:cubicBezTo>
                <a:cubicBezTo>
                  <a:pt x="364" y="3"/>
                  <a:pt x="391" y="0"/>
                  <a:pt x="419" y="0"/>
                </a:cubicBezTo>
                <a:cubicBezTo>
                  <a:pt x="446" y="0"/>
                  <a:pt x="473" y="3"/>
                  <a:pt x="500" y="8"/>
                </a:cubicBezTo>
                <a:cubicBezTo>
                  <a:pt x="527" y="14"/>
                  <a:pt x="553" y="21"/>
                  <a:pt x="579" y="32"/>
                </a:cubicBezTo>
                <a:cubicBezTo>
                  <a:pt x="604" y="42"/>
                  <a:pt x="628" y="55"/>
                  <a:pt x="651" y="71"/>
                </a:cubicBezTo>
                <a:cubicBezTo>
                  <a:pt x="674" y="86"/>
                  <a:pt x="695" y="103"/>
                  <a:pt x="714" y="123"/>
                </a:cubicBezTo>
                <a:cubicBezTo>
                  <a:pt x="734" y="142"/>
                  <a:pt x="751" y="163"/>
                  <a:pt x="766" y="186"/>
                </a:cubicBezTo>
                <a:cubicBezTo>
                  <a:pt x="782" y="209"/>
                  <a:pt x="794" y="233"/>
                  <a:pt x="805" y="258"/>
                </a:cubicBezTo>
                <a:cubicBezTo>
                  <a:pt x="815" y="284"/>
                  <a:pt x="823" y="311"/>
                  <a:pt x="829" y="337"/>
                </a:cubicBezTo>
                <a:cubicBezTo>
                  <a:pt x="834" y="364"/>
                  <a:pt x="837" y="392"/>
                  <a:pt x="837" y="419"/>
                </a:cubicBezTo>
                <a:close/>
              </a:path>
            </a:pathLst>
          </a:custGeom>
          <a:solidFill>
            <a:srgbClr val="00336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17" name="" descr=""/>
          <p:cNvPicPr/>
          <p:nvPr/>
        </p:nvPicPr>
        <p:blipFill>
          <a:blip r:embed="rId3"/>
          <a:stretch/>
        </p:blipFill>
        <p:spPr>
          <a:xfrm>
            <a:off x="417960" y="1638000"/>
            <a:ext cx="133200" cy="133200"/>
          </a:xfrm>
          <a:prstGeom prst="rect">
            <a:avLst/>
          </a:prstGeom>
          <a:noFill/>
          <a:ln w="0">
            <a:noFill/>
          </a:ln>
        </p:spPr>
      </p:pic>
      <p:sp>
        <p:nvSpPr>
          <p:cNvPr id="718" name=""/>
          <p:cNvSpPr txBox="1"/>
          <p:nvPr/>
        </p:nvSpPr>
        <p:spPr>
          <a:xfrm>
            <a:off x="568080" y="1265400"/>
            <a:ext cx="67140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研究成果</a:t>
            </a:r>
            <a:endParaRPr b="0" lang="en-US" sz="1320" strike="noStrike" u="none">
              <a:solidFill>
                <a:srgbClr val="000000"/>
              </a:solidFill>
              <a:effectLst/>
              <a:uFillTx/>
              <a:latin typeface="Times New Roman"/>
            </a:endParaRPr>
          </a:p>
        </p:txBody>
      </p:sp>
      <p:sp>
        <p:nvSpPr>
          <p:cNvPr id="719" name=""/>
          <p:cNvSpPr/>
          <p:nvPr/>
        </p:nvSpPr>
        <p:spPr>
          <a:xfrm>
            <a:off x="334080" y="1980360"/>
            <a:ext cx="301320" cy="301320"/>
          </a:xfrm>
          <a:custGeom>
            <a:avLst/>
            <a:gdLst/>
            <a:ahLst/>
            <a:rect l="0" t="0" r="r" b="b"/>
            <a:pathLst>
              <a:path w="837" h="837">
                <a:moveTo>
                  <a:pt x="837" y="418"/>
                </a:moveTo>
                <a:cubicBezTo>
                  <a:pt x="837" y="445"/>
                  <a:pt x="834" y="472"/>
                  <a:pt x="829" y="499"/>
                </a:cubicBezTo>
                <a:cubicBezTo>
                  <a:pt x="823" y="526"/>
                  <a:pt x="815" y="552"/>
                  <a:pt x="805" y="578"/>
                </a:cubicBezTo>
                <a:cubicBezTo>
                  <a:pt x="794" y="603"/>
                  <a:pt x="782" y="627"/>
                  <a:pt x="766" y="650"/>
                </a:cubicBezTo>
                <a:cubicBezTo>
                  <a:pt x="751" y="673"/>
                  <a:pt x="734" y="694"/>
                  <a:pt x="714" y="713"/>
                </a:cubicBezTo>
                <a:cubicBezTo>
                  <a:pt x="695" y="733"/>
                  <a:pt x="674" y="750"/>
                  <a:pt x="651" y="766"/>
                </a:cubicBezTo>
                <a:cubicBezTo>
                  <a:pt x="628" y="781"/>
                  <a:pt x="604" y="794"/>
                  <a:pt x="579" y="805"/>
                </a:cubicBezTo>
                <a:cubicBezTo>
                  <a:pt x="553" y="815"/>
                  <a:pt x="527" y="823"/>
                  <a:pt x="500" y="829"/>
                </a:cubicBezTo>
                <a:cubicBezTo>
                  <a:pt x="473" y="834"/>
                  <a:pt x="446" y="837"/>
                  <a:pt x="419" y="837"/>
                </a:cubicBezTo>
                <a:cubicBezTo>
                  <a:pt x="391" y="837"/>
                  <a:pt x="364" y="834"/>
                  <a:pt x="337" y="829"/>
                </a:cubicBezTo>
                <a:cubicBezTo>
                  <a:pt x="309" y="823"/>
                  <a:pt x="283" y="815"/>
                  <a:pt x="258" y="805"/>
                </a:cubicBezTo>
                <a:cubicBezTo>
                  <a:pt x="233" y="794"/>
                  <a:pt x="209" y="781"/>
                  <a:pt x="186" y="766"/>
                </a:cubicBezTo>
                <a:cubicBezTo>
                  <a:pt x="163" y="750"/>
                  <a:pt x="142" y="733"/>
                  <a:pt x="122" y="713"/>
                </a:cubicBezTo>
                <a:cubicBezTo>
                  <a:pt x="103" y="694"/>
                  <a:pt x="86" y="673"/>
                  <a:pt x="70" y="650"/>
                </a:cubicBezTo>
                <a:cubicBezTo>
                  <a:pt x="55" y="627"/>
                  <a:pt x="42" y="603"/>
                  <a:pt x="32" y="578"/>
                </a:cubicBezTo>
                <a:cubicBezTo>
                  <a:pt x="21" y="552"/>
                  <a:pt x="13" y="526"/>
                  <a:pt x="8" y="499"/>
                </a:cubicBezTo>
                <a:cubicBezTo>
                  <a:pt x="3" y="472"/>
                  <a:pt x="0" y="445"/>
                  <a:pt x="0" y="418"/>
                </a:cubicBezTo>
                <a:cubicBezTo>
                  <a:pt x="0" y="390"/>
                  <a:pt x="3" y="363"/>
                  <a:pt x="8" y="336"/>
                </a:cubicBezTo>
                <a:cubicBezTo>
                  <a:pt x="13" y="309"/>
                  <a:pt x="21" y="283"/>
                  <a:pt x="32" y="258"/>
                </a:cubicBezTo>
                <a:cubicBezTo>
                  <a:pt x="42" y="233"/>
                  <a:pt x="55" y="209"/>
                  <a:pt x="70" y="186"/>
                </a:cubicBezTo>
                <a:cubicBezTo>
                  <a:pt x="86" y="163"/>
                  <a:pt x="103" y="142"/>
                  <a:pt x="122" y="122"/>
                </a:cubicBezTo>
                <a:cubicBezTo>
                  <a:pt x="142" y="103"/>
                  <a:pt x="163" y="86"/>
                  <a:pt x="186" y="70"/>
                </a:cubicBezTo>
                <a:cubicBezTo>
                  <a:pt x="209" y="55"/>
                  <a:pt x="233" y="42"/>
                  <a:pt x="258" y="32"/>
                </a:cubicBezTo>
                <a:cubicBezTo>
                  <a:pt x="283" y="21"/>
                  <a:pt x="309" y="13"/>
                  <a:pt x="337" y="8"/>
                </a:cubicBezTo>
                <a:cubicBezTo>
                  <a:pt x="364" y="3"/>
                  <a:pt x="391" y="0"/>
                  <a:pt x="419" y="0"/>
                </a:cubicBezTo>
                <a:cubicBezTo>
                  <a:pt x="446" y="0"/>
                  <a:pt x="473" y="3"/>
                  <a:pt x="500" y="8"/>
                </a:cubicBezTo>
                <a:cubicBezTo>
                  <a:pt x="527" y="13"/>
                  <a:pt x="553" y="21"/>
                  <a:pt x="579" y="32"/>
                </a:cubicBezTo>
                <a:cubicBezTo>
                  <a:pt x="604" y="42"/>
                  <a:pt x="628" y="55"/>
                  <a:pt x="651" y="70"/>
                </a:cubicBezTo>
                <a:cubicBezTo>
                  <a:pt x="674" y="86"/>
                  <a:pt x="695" y="103"/>
                  <a:pt x="714" y="122"/>
                </a:cubicBezTo>
                <a:cubicBezTo>
                  <a:pt x="734" y="142"/>
                  <a:pt x="751" y="163"/>
                  <a:pt x="766" y="186"/>
                </a:cubicBezTo>
                <a:cubicBezTo>
                  <a:pt x="782" y="209"/>
                  <a:pt x="794" y="233"/>
                  <a:pt x="805" y="258"/>
                </a:cubicBezTo>
                <a:cubicBezTo>
                  <a:pt x="815" y="283"/>
                  <a:pt x="823" y="309"/>
                  <a:pt x="829" y="336"/>
                </a:cubicBezTo>
                <a:cubicBezTo>
                  <a:pt x="834" y="363"/>
                  <a:pt x="837" y="390"/>
                  <a:pt x="837" y="418"/>
                </a:cubicBezTo>
                <a:close/>
              </a:path>
            </a:pathLst>
          </a:custGeom>
          <a:solidFill>
            <a:srgbClr val="00336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20" name="" descr=""/>
          <p:cNvPicPr/>
          <p:nvPr/>
        </p:nvPicPr>
        <p:blipFill>
          <a:blip r:embed="rId4"/>
          <a:stretch/>
        </p:blipFill>
        <p:spPr>
          <a:xfrm>
            <a:off x="401040" y="2064240"/>
            <a:ext cx="166680" cy="133200"/>
          </a:xfrm>
          <a:prstGeom prst="rect">
            <a:avLst/>
          </a:prstGeom>
          <a:noFill/>
          <a:ln w="0">
            <a:noFill/>
          </a:ln>
        </p:spPr>
      </p:pic>
      <p:sp>
        <p:nvSpPr>
          <p:cNvPr id="721" name=""/>
          <p:cNvSpPr txBox="1"/>
          <p:nvPr/>
        </p:nvSpPr>
        <p:spPr>
          <a:xfrm>
            <a:off x="760320" y="1589040"/>
            <a:ext cx="40240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理論式と一致する</a:t>
            </a:r>
            <a:r>
              <a:rPr b="0" lang="zh-CN" sz="1050" strike="noStrike" u="none">
                <a:solidFill>
                  <a:srgbClr val="003366"/>
                </a:solidFill>
                <a:effectLst/>
                <a:uFillTx/>
                <a:latin typeface="NotoSansJP"/>
                <a:ea typeface="NotoSansJP"/>
              </a:rPr>
              <a:t>指向角度の形成</a:t>
            </a:r>
            <a:r>
              <a:rPr b="0" lang="zh-CN" sz="1050" strike="noStrike" u="none">
                <a:solidFill>
                  <a:srgbClr val="000000"/>
                </a:solidFill>
                <a:effectLst/>
                <a:uFillTx/>
                <a:latin typeface="NotoSansJP"/>
                <a:ea typeface="NotoSansJP"/>
              </a:rPr>
              <a:t>を確認（位相遅延が小さい領域）</a:t>
            </a:r>
            <a:endParaRPr b="0" lang="en-US" sz="1050" strike="noStrike" u="none">
              <a:solidFill>
                <a:srgbClr val="000000"/>
              </a:solidFill>
              <a:effectLst/>
              <a:uFillTx/>
              <a:latin typeface="Times New Roman"/>
            </a:endParaRPr>
          </a:p>
        </p:txBody>
      </p:sp>
      <p:sp>
        <p:nvSpPr>
          <p:cNvPr id="722" name=""/>
          <p:cNvSpPr/>
          <p:nvPr/>
        </p:nvSpPr>
        <p:spPr>
          <a:xfrm>
            <a:off x="334080" y="2406600"/>
            <a:ext cx="301320" cy="301320"/>
          </a:xfrm>
          <a:custGeom>
            <a:avLst/>
            <a:gdLst/>
            <a:ahLst/>
            <a:rect l="0" t="0" r="r" b="b"/>
            <a:pathLst>
              <a:path w="837" h="837">
                <a:moveTo>
                  <a:pt x="837" y="419"/>
                </a:moveTo>
                <a:cubicBezTo>
                  <a:pt x="837" y="446"/>
                  <a:pt x="834" y="473"/>
                  <a:pt x="829" y="500"/>
                </a:cubicBezTo>
                <a:cubicBezTo>
                  <a:pt x="823" y="527"/>
                  <a:pt x="815" y="553"/>
                  <a:pt x="805" y="579"/>
                </a:cubicBezTo>
                <a:cubicBezTo>
                  <a:pt x="794" y="604"/>
                  <a:pt x="782" y="628"/>
                  <a:pt x="766" y="651"/>
                </a:cubicBezTo>
                <a:cubicBezTo>
                  <a:pt x="751" y="674"/>
                  <a:pt x="734" y="695"/>
                  <a:pt x="714" y="714"/>
                </a:cubicBezTo>
                <a:cubicBezTo>
                  <a:pt x="695" y="734"/>
                  <a:pt x="674" y="751"/>
                  <a:pt x="651" y="766"/>
                </a:cubicBezTo>
                <a:cubicBezTo>
                  <a:pt x="628" y="781"/>
                  <a:pt x="604" y="794"/>
                  <a:pt x="579" y="805"/>
                </a:cubicBezTo>
                <a:cubicBezTo>
                  <a:pt x="553" y="815"/>
                  <a:pt x="527" y="823"/>
                  <a:pt x="500" y="829"/>
                </a:cubicBezTo>
                <a:cubicBezTo>
                  <a:pt x="473" y="834"/>
                  <a:pt x="446" y="837"/>
                  <a:pt x="419" y="837"/>
                </a:cubicBezTo>
                <a:cubicBezTo>
                  <a:pt x="391" y="837"/>
                  <a:pt x="364" y="834"/>
                  <a:pt x="337" y="829"/>
                </a:cubicBezTo>
                <a:cubicBezTo>
                  <a:pt x="309" y="823"/>
                  <a:pt x="283" y="815"/>
                  <a:pt x="258" y="805"/>
                </a:cubicBezTo>
                <a:cubicBezTo>
                  <a:pt x="233" y="794"/>
                  <a:pt x="209" y="781"/>
                  <a:pt x="186" y="766"/>
                </a:cubicBezTo>
                <a:cubicBezTo>
                  <a:pt x="163" y="751"/>
                  <a:pt x="142" y="734"/>
                  <a:pt x="122" y="714"/>
                </a:cubicBezTo>
                <a:cubicBezTo>
                  <a:pt x="103" y="695"/>
                  <a:pt x="86" y="674"/>
                  <a:pt x="70" y="651"/>
                </a:cubicBezTo>
                <a:cubicBezTo>
                  <a:pt x="55" y="628"/>
                  <a:pt x="42" y="604"/>
                  <a:pt x="32" y="579"/>
                </a:cubicBezTo>
                <a:cubicBezTo>
                  <a:pt x="21" y="553"/>
                  <a:pt x="13" y="527"/>
                  <a:pt x="8" y="500"/>
                </a:cubicBezTo>
                <a:cubicBezTo>
                  <a:pt x="3" y="473"/>
                  <a:pt x="0" y="446"/>
                  <a:pt x="0" y="419"/>
                </a:cubicBezTo>
                <a:cubicBezTo>
                  <a:pt x="0" y="390"/>
                  <a:pt x="3" y="363"/>
                  <a:pt x="8" y="336"/>
                </a:cubicBezTo>
                <a:cubicBezTo>
                  <a:pt x="13" y="309"/>
                  <a:pt x="21" y="283"/>
                  <a:pt x="32" y="258"/>
                </a:cubicBezTo>
                <a:cubicBezTo>
                  <a:pt x="42" y="232"/>
                  <a:pt x="55" y="208"/>
                  <a:pt x="70" y="186"/>
                </a:cubicBezTo>
                <a:cubicBezTo>
                  <a:pt x="86" y="163"/>
                  <a:pt x="103" y="142"/>
                  <a:pt x="122" y="122"/>
                </a:cubicBezTo>
                <a:cubicBezTo>
                  <a:pt x="142" y="103"/>
                  <a:pt x="163" y="86"/>
                  <a:pt x="186" y="70"/>
                </a:cubicBezTo>
                <a:cubicBezTo>
                  <a:pt x="209" y="55"/>
                  <a:pt x="233" y="42"/>
                  <a:pt x="258" y="32"/>
                </a:cubicBezTo>
                <a:cubicBezTo>
                  <a:pt x="283" y="21"/>
                  <a:pt x="309" y="13"/>
                  <a:pt x="337" y="8"/>
                </a:cubicBezTo>
                <a:cubicBezTo>
                  <a:pt x="364" y="3"/>
                  <a:pt x="391" y="0"/>
                  <a:pt x="419" y="0"/>
                </a:cubicBezTo>
                <a:cubicBezTo>
                  <a:pt x="446" y="0"/>
                  <a:pt x="473" y="3"/>
                  <a:pt x="500" y="8"/>
                </a:cubicBezTo>
                <a:cubicBezTo>
                  <a:pt x="527" y="13"/>
                  <a:pt x="553" y="21"/>
                  <a:pt x="579" y="32"/>
                </a:cubicBezTo>
                <a:cubicBezTo>
                  <a:pt x="604" y="42"/>
                  <a:pt x="628" y="55"/>
                  <a:pt x="651" y="70"/>
                </a:cubicBezTo>
                <a:cubicBezTo>
                  <a:pt x="674" y="86"/>
                  <a:pt x="695" y="103"/>
                  <a:pt x="714" y="122"/>
                </a:cubicBezTo>
                <a:cubicBezTo>
                  <a:pt x="734" y="142"/>
                  <a:pt x="751" y="163"/>
                  <a:pt x="766" y="186"/>
                </a:cubicBezTo>
                <a:cubicBezTo>
                  <a:pt x="782" y="208"/>
                  <a:pt x="794" y="232"/>
                  <a:pt x="805" y="258"/>
                </a:cubicBezTo>
                <a:cubicBezTo>
                  <a:pt x="815" y="283"/>
                  <a:pt x="823" y="309"/>
                  <a:pt x="829" y="336"/>
                </a:cubicBezTo>
                <a:cubicBezTo>
                  <a:pt x="834" y="363"/>
                  <a:pt x="837" y="390"/>
                  <a:pt x="837" y="419"/>
                </a:cubicBezTo>
                <a:close/>
              </a:path>
            </a:pathLst>
          </a:custGeom>
          <a:solidFill>
            <a:srgbClr val="00336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23" name="" descr=""/>
          <p:cNvPicPr/>
          <p:nvPr/>
        </p:nvPicPr>
        <p:blipFill>
          <a:blip r:embed="rId5"/>
          <a:stretch/>
        </p:blipFill>
        <p:spPr>
          <a:xfrm>
            <a:off x="417960" y="2490120"/>
            <a:ext cx="133200" cy="133200"/>
          </a:xfrm>
          <a:prstGeom prst="rect">
            <a:avLst/>
          </a:prstGeom>
          <a:noFill/>
          <a:ln w="0">
            <a:noFill/>
          </a:ln>
        </p:spPr>
      </p:pic>
      <p:sp>
        <p:nvSpPr>
          <p:cNvPr id="724" name=""/>
          <p:cNvSpPr txBox="1"/>
          <p:nvPr/>
        </p:nvSpPr>
        <p:spPr>
          <a:xfrm>
            <a:off x="760320" y="2015280"/>
            <a:ext cx="395028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発振周波数</a:t>
            </a:r>
            <a:r>
              <a:rPr b="0" lang="zh-CN" sz="1050" strike="noStrike" u="none">
                <a:solidFill>
                  <a:srgbClr val="000000"/>
                </a:solidFill>
                <a:effectLst/>
                <a:uFillTx/>
                <a:latin typeface="NotoSansJP"/>
                <a:ea typeface="NotoSansJP"/>
              </a:rPr>
              <a:t>は指向角度に影響せず — 複数周波数の音声に対応可能</a:t>
            </a:r>
            <a:endParaRPr b="0" lang="en-US" sz="1050" strike="noStrike" u="none">
              <a:solidFill>
                <a:srgbClr val="000000"/>
              </a:solidFill>
              <a:effectLst/>
              <a:uFillTx/>
              <a:latin typeface="Times New Roman"/>
            </a:endParaRPr>
          </a:p>
        </p:txBody>
      </p:sp>
      <p:sp>
        <p:nvSpPr>
          <p:cNvPr id="725" name=""/>
          <p:cNvSpPr/>
          <p:nvPr/>
        </p:nvSpPr>
        <p:spPr>
          <a:xfrm>
            <a:off x="334080" y="2832840"/>
            <a:ext cx="301320" cy="300960"/>
          </a:xfrm>
          <a:custGeom>
            <a:avLst/>
            <a:gdLst/>
            <a:ahLst/>
            <a:rect l="0" t="0" r="r" b="b"/>
            <a:pathLst>
              <a:path w="837" h="836">
                <a:moveTo>
                  <a:pt x="837" y="419"/>
                </a:moveTo>
                <a:cubicBezTo>
                  <a:pt x="837" y="446"/>
                  <a:pt x="834" y="473"/>
                  <a:pt x="829" y="500"/>
                </a:cubicBezTo>
                <a:cubicBezTo>
                  <a:pt x="823" y="527"/>
                  <a:pt x="815" y="553"/>
                  <a:pt x="805" y="578"/>
                </a:cubicBezTo>
                <a:cubicBezTo>
                  <a:pt x="794" y="604"/>
                  <a:pt x="782" y="628"/>
                  <a:pt x="766" y="651"/>
                </a:cubicBezTo>
                <a:cubicBezTo>
                  <a:pt x="751" y="674"/>
                  <a:pt x="734" y="695"/>
                  <a:pt x="714" y="714"/>
                </a:cubicBezTo>
                <a:cubicBezTo>
                  <a:pt x="695" y="733"/>
                  <a:pt x="674" y="751"/>
                  <a:pt x="651" y="766"/>
                </a:cubicBezTo>
                <a:cubicBezTo>
                  <a:pt x="628" y="781"/>
                  <a:pt x="604" y="794"/>
                  <a:pt x="579" y="805"/>
                </a:cubicBezTo>
                <a:cubicBezTo>
                  <a:pt x="553" y="815"/>
                  <a:pt x="527" y="823"/>
                  <a:pt x="500" y="828"/>
                </a:cubicBezTo>
                <a:cubicBezTo>
                  <a:pt x="473" y="834"/>
                  <a:pt x="446" y="836"/>
                  <a:pt x="419" y="836"/>
                </a:cubicBezTo>
                <a:cubicBezTo>
                  <a:pt x="391" y="836"/>
                  <a:pt x="364" y="834"/>
                  <a:pt x="337" y="828"/>
                </a:cubicBezTo>
                <a:cubicBezTo>
                  <a:pt x="309" y="823"/>
                  <a:pt x="283" y="815"/>
                  <a:pt x="258" y="805"/>
                </a:cubicBezTo>
                <a:cubicBezTo>
                  <a:pt x="233" y="794"/>
                  <a:pt x="209" y="781"/>
                  <a:pt x="186" y="766"/>
                </a:cubicBezTo>
                <a:cubicBezTo>
                  <a:pt x="163" y="751"/>
                  <a:pt x="142" y="733"/>
                  <a:pt x="122" y="714"/>
                </a:cubicBezTo>
                <a:cubicBezTo>
                  <a:pt x="103" y="695"/>
                  <a:pt x="86" y="674"/>
                  <a:pt x="70" y="651"/>
                </a:cubicBezTo>
                <a:cubicBezTo>
                  <a:pt x="55" y="628"/>
                  <a:pt x="42" y="604"/>
                  <a:pt x="32" y="578"/>
                </a:cubicBezTo>
                <a:cubicBezTo>
                  <a:pt x="21" y="553"/>
                  <a:pt x="13" y="527"/>
                  <a:pt x="8" y="500"/>
                </a:cubicBezTo>
                <a:cubicBezTo>
                  <a:pt x="3" y="473"/>
                  <a:pt x="0" y="446"/>
                  <a:pt x="0" y="419"/>
                </a:cubicBezTo>
                <a:cubicBezTo>
                  <a:pt x="0" y="391"/>
                  <a:pt x="3" y="364"/>
                  <a:pt x="8" y="337"/>
                </a:cubicBezTo>
                <a:cubicBezTo>
                  <a:pt x="13" y="310"/>
                  <a:pt x="21" y="284"/>
                  <a:pt x="32" y="259"/>
                </a:cubicBezTo>
                <a:cubicBezTo>
                  <a:pt x="42" y="233"/>
                  <a:pt x="55" y="209"/>
                  <a:pt x="70" y="186"/>
                </a:cubicBezTo>
                <a:cubicBezTo>
                  <a:pt x="86" y="164"/>
                  <a:pt x="103" y="143"/>
                  <a:pt x="122" y="123"/>
                </a:cubicBezTo>
                <a:cubicBezTo>
                  <a:pt x="142" y="104"/>
                  <a:pt x="163" y="86"/>
                  <a:pt x="186" y="71"/>
                </a:cubicBezTo>
                <a:cubicBezTo>
                  <a:pt x="209" y="55"/>
                  <a:pt x="233" y="42"/>
                  <a:pt x="258" y="32"/>
                </a:cubicBezTo>
                <a:cubicBezTo>
                  <a:pt x="283" y="21"/>
                  <a:pt x="309" y="13"/>
                  <a:pt x="337" y="8"/>
                </a:cubicBezTo>
                <a:cubicBezTo>
                  <a:pt x="364" y="2"/>
                  <a:pt x="391" y="0"/>
                  <a:pt x="419" y="0"/>
                </a:cubicBezTo>
                <a:cubicBezTo>
                  <a:pt x="446" y="0"/>
                  <a:pt x="473" y="2"/>
                  <a:pt x="500" y="8"/>
                </a:cubicBezTo>
                <a:cubicBezTo>
                  <a:pt x="527" y="13"/>
                  <a:pt x="553" y="21"/>
                  <a:pt x="579" y="32"/>
                </a:cubicBezTo>
                <a:cubicBezTo>
                  <a:pt x="604" y="42"/>
                  <a:pt x="628" y="55"/>
                  <a:pt x="651" y="71"/>
                </a:cubicBezTo>
                <a:cubicBezTo>
                  <a:pt x="674" y="86"/>
                  <a:pt x="695" y="104"/>
                  <a:pt x="714" y="123"/>
                </a:cubicBezTo>
                <a:cubicBezTo>
                  <a:pt x="734" y="143"/>
                  <a:pt x="751" y="164"/>
                  <a:pt x="766" y="186"/>
                </a:cubicBezTo>
                <a:cubicBezTo>
                  <a:pt x="782" y="209"/>
                  <a:pt x="794" y="233"/>
                  <a:pt x="805" y="259"/>
                </a:cubicBezTo>
                <a:cubicBezTo>
                  <a:pt x="815" y="284"/>
                  <a:pt x="823" y="310"/>
                  <a:pt x="829" y="337"/>
                </a:cubicBezTo>
                <a:cubicBezTo>
                  <a:pt x="834" y="364"/>
                  <a:pt x="837" y="391"/>
                  <a:pt x="837" y="419"/>
                </a:cubicBezTo>
                <a:close/>
              </a:path>
            </a:pathLst>
          </a:custGeom>
          <a:solidFill>
            <a:srgbClr val="00336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26" name=""/>
          <p:cNvSpPr txBox="1"/>
          <p:nvPr/>
        </p:nvSpPr>
        <p:spPr>
          <a:xfrm>
            <a:off x="760320" y="2441520"/>
            <a:ext cx="381348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位相遅延</a:t>
            </a:r>
            <a:r>
              <a:rPr b="0" lang="zh-CN" sz="1050" strike="noStrike" u="none">
                <a:solidFill>
                  <a:srgbClr val="000000"/>
                </a:solidFill>
                <a:effectLst/>
                <a:uFillTx/>
                <a:latin typeface="NotoSansJP"/>
                <a:ea typeface="NotoSansJP"/>
              </a:rPr>
              <a:t>の調整で指向角度を</a:t>
            </a:r>
            <a:r>
              <a:rPr b="0" lang="en-US" sz="1050" strike="noStrike" u="none">
                <a:solidFill>
                  <a:srgbClr val="000000"/>
                </a:solidFill>
                <a:effectLst/>
                <a:uFillTx/>
                <a:latin typeface="NotoSansJP"/>
                <a:ea typeface="NotoSansJP"/>
              </a:rPr>
              <a:t>100</a:t>
            </a:r>
            <a:r>
              <a:rPr b="0" lang="zh-CN" sz="1050" strike="noStrike" u="none">
                <a:solidFill>
                  <a:srgbClr val="000000"/>
                </a:solidFill>
                <a:effectLst/>
                <a:uFillTx/>
                <a:latin typeface="NotoSansJP"/>
                <a:ea typeface="NotoSansJP"/>
              </a:rPr>
              <a:t>度以上変化させることが可能</a:t>
            </a:r>
            <a:endParaRPr b="0" lang="en-US" sz="1050" strike="noStrike" u="none">
              <a:solidFill>
                <a:srgbClr val="000000"/>
              </a:solidFill>
              <a:effectLst/>
              <a:uFillTx/>
              <a:latin typeface="Times New Roman"/>
            </a:endParaRPr>
          </a:p>
        </p:txBody>
      </p:sp>
      <p:pic>
        <p:nvPicPr>
          <p:cNvPr id="727" name="" descr=""/>
          <p:cNvPicPr/>
          <p:nvPr/>
        </p:nvPicPr>
        <p:blipFill>
          <a:blip r:embed="rId6"/>
          <a:stretch/>
        </p:blipFill>
        <p:spPr>
          <a:xfrm>
            <a:off x="5448600" y="1270080"/>
            <a:ext cx="166680" cy="166680"/>
          </a:xfrm>
          <a:prstGeom prst="rect">
            <a:avLst/>
          </a:prstGeom>
          <a:noFill/>
          <a:ln w="0">
            <a:noFill/>
          </a:ln>
        </p:spPr>
      </p:pic>
      <p:sp>
        <p:nvSpPr>
          <p:cNvPr id="728" name=""/>
          <p:cNvSpPr txBox="1"/>
          <p:nvPr/>
        </p:nvSpPr>
        <p:spPr>
          <a:xfrm>
            <a:off x="760320" y="2867760"/>
            <a:ext cx="375588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配置間隔</a:t>
            </a:r>
            <a:r>
              <a:rPr b="0" lang="zh-CN" sz="1050" strike="noStrike" u="none">
                <a:solidFill>
                  <a:srgbClr val="000000"/>
                </a:solidFill>
                <a:effectLst/>
                <a:uFillTx/>
                <a:latin typeface="NotoSansJP"/>
                <a:ea typeface="NotoSansJP"/>
              </a:rPr>
              <a:t>によりオーディオスポットの指向性の鋭さを制御可能</a:t>
            </a:r>
            <a:endParaRPr b="0" lang="en-US" sz="1050" strike="noStrike" u="none">
              <a:solidFill>
                <a:srgbClr val="000000"/>
              </a:solidFill>
              <a:effectLst/>
              <a:uFillTx/>
              <a:latin typeface="Times New Roman"/>
            </a:endParaRPr>
          </a:p>
        </p:txBody>
      </p:sp>
      <p:sp>
        <p:nvSpPr>
          <p:cNvPr id="729" name=""/>
          <p:cNvSpPr/>
          <p:nvPr/>
        </p:nvSpPr>
        <p:spPr>
          <a:xfrm>
            <a:off x="5448240" y="1554120"/>
            <a:ext cx="301320" cy="301320"/>
          </a:xfrm>
          <a:custGeom>
            <a:avLst/>
            <a:gdLst/>
            <a:ahLst/>
            <a:rect l="0" t="0" r="r" b="b"/>
            <a:pathLst>
              <a:path w="837" h="837">
                <a:moveTo>
                  <a:pt x="837" y="419"/>
                </a:moveTo>
                <a:cubicBezTo>
                  <a:pt x="837" y="446"/>
                  <a:pt x="834" y="474"/>
                  <a:pt x="829" y="500"/>
                </a:cubicBezTo>
                <a:cubicBezTo>
                  <a:pt x="824" y="527"/>
                  <a:pt x="816" y="554"/>
                  <a:pt x="805" y="579"/>
                </a:cubicBezTo>
                <a:cubicBezTo>
                  <a:pt x="795" y="604"/>
                  <a:pt x="782" y="628"/>
                  <a:pt x="767" y="651"/>
                </a:cubicBezTo>
                <a:cubicBezTo>
                  <a:pt x="751" y="674"/>
                  <a:pt x="734" y="695"/>
                  <a:pt x="715" y="714"/>
                </a:cubicBezTo>
                <a:cubicBezTo>
                  <a:pt x="695" y="734"/>
                  <a:pt x="674" y="751"/>
                  <a:pt x="651" y="766"/>
                </a:cubicBezTo>
                <a:cubicBezTo>
                  <a:pt x="629" y="782"/>
                  <a:pt x="604" y="794"/>
                  <a:pt x="579" y="805"/>
                </a:cubicBezTo>
                <a:cubicBezTo>
                  <a:pt x="554" y="815"/>
                  <a:pt x="528" y="823"/>
                  <a:pt x="501" y="829"/>
                </a:cubicBezTo>
                <a:cubicBezTo>
                  <a:pt x="474" y="834"/>
                  <a:pt x="447" y="837"/>
                  <a:pt x="419" y="837"/>
                </a:cubicBezTo>
                <a:cubicBezTo>
                  <a:pt x="392" y="837"/>
                  <a:pt x="365" y="834"/>
                  <a:pt x="338" y="829"/>
                </a:cubicBezTo>
                <a:cubicBezTo>
                  <a:pt x="310" y="823"/>
                  <a:pt x="284" y="815"/>
                  <a:pt x="258" y="805"/>
                </a:cubicBezTo>
                <a:cubicBezTo>
                  <a:pt x="233" y="794"/>
                  <a:pt x="209" y="782"/>
                  <a:pt x="186" y="766"/>
                </a:cubicBezTo>
                <a:cubicBezTo>
                  <a:pt x="163" y="751"/>
                  <a:pt x="142" y="734"/>
                  <a:pt x="123" y="714"/>
                </a:cubicBezTo>
                <a:cubicBezTo>
                  <a:pt x="103" y="695"/>
                  <a:pt x="86" y="674"/>
                  <a:pt x="71" y="651"/>
                </a:cubicBezTo>
                <a:cubicBezTo>
                  <a:pt x="56" y="628"/>
                  <a:pt x="43" y="604"/>
                  <a:pt x="32" y="579"/>
                </a:cubicBezTo>
                <a:cubicBezTo>
                  <a:pt x="22" y="554"/>
                  <a:pt x="14" y="527"/>
                  <a:pt x="8" y="500"/>
                </a:cubicBezTo>
                <a:cubicBezTo>
                  <a:pt x="3" y="474"/>
                  <a:pt x="0" y="446"/>
                  <a:pt x="0" y="419"/>
                </a:cubicBezTo>
                <a:cubicBezTo>
                  <a:pt x="0" y="392"/>
                  <a:pt x="3" y="364"/>
                  <a:pt x="8" y="337"/>
                </a:cubicBezTo>
                <a:cubicBezTo>
                  <a:pt x="14" y="311"/>
                  <a:pt x="22" y="284"/>
                  <a:pt x="32" y="258"/>
                </a:cubicBezTo>
                <a:cubicBezTo>
                  <a:pt x="43" y="233"/>
                  <a:pt x="56" y="209"/>
                  <a:pt x="71" y="186"/>
                </a:cubicBezTo>
                <a:cubicBezTo>
                  <a:pt x="86" y="163"/>
                  <a:pt x="103" y="142"/>
                  <a:pt x="123" y="123"/>
                </a:cubicBezTo>
                <a:cubicBezTo>
                  <a:pt x="142" y="103"/>
                  <a:pt x="163" y="86"/>
                  <a:pt x="186" y="71"/>
                </a:cubicBezTo>
                <a:cubicBezTo>
                  <a:pt x="209" y="55"/>
                  <a:pt x="233" y="42"/>
                  <a:pt x="258" y="32"/>
                </a:cubicBezTo>
                <a:cubicBezTo>
                  <a:pt x="284" y="21"/>
                  <a:pt x="310" y="14"/>
                  <a:pt x="338" y="8"/>
                </a:cubicBezTo>
                <a:cubicBezTo>
                  <a:pt x="365" y="3"/>
                  <a:pt x="392" y="0"/>
                  <a:pt x="419" y="0"/>
                </a:cubicBezTo>
                <a:cubicBezTo>
                  <a:pt x="447" y="0"/>
                  <a:pt x="474" y="3"/>
                  <a:pt x="501" y="8"/>
                </a:cubicBezTo>
                <a:cubicBezTo>
                  <a:pt x="528" y="14"/>
                  <a:pt x="554" y="21"/>
                  <a:pt x="579" y="32"/>
                </a:cubicBezTo>
                <a:cubicBezTo>
                  <a:pt x="604" y="42"/>
                  <a:pt x="629" y="55"/>
                  <a:pt x="651" y="71"/>
                </a:cubicBezTo>
                <a:cubicBezTo>
                  <a:pt x="674" y="86"/>
                  <a:pt x="695" y="103"/>
                  <a:pt x="715" y="123"/>
                </a:cubicBezTo>
                <a:cubicBezTo>
                  <a:pt x="734" y="142"/>
                  <a:pt x="751" y="163"/>
                  <a:pt x="767" y="186"/>
                </a:cubicBezTo>
                <a:cubicBezTo>
                  <a:pt x="782" y="209"/>
                  <a:pt x="795" y="233"/>
                  <a:pt x="805" y="258"/>
                </a:cubicBezTo>
                <a:cubicBezTo>
                  <a:pt x="816" y="284"/>
                  <a:pt x="824" y="311"/>
                  <a:pt x="829" y="337"/>
                </a:cubicBezTo>
                <a:cubicBezTo>
                  <a:pt x="834" y="364"/>
                  <a:pt x="837" y="392"/>
                  <a:pt x="837" y="419"/>
                </a:cubicBezTo>
                <a:close/>
              </a:path>
            </a:pathLst>
          </a:custGeom>
          <a:solidFill>
            <a:srgbClr val="c0c0c0">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0" name="" descr=""/>
          <p:cNvPicPr/>
          <p:nvPr/>
        </p:nvPicPr>
        <p:blipFill>
          <a:blip r:embed="rId7"/>
          <a:stretch/>
        </p:blipFill>
        <p:spPr>
          <a:xfrm>
            <a:off x="5532120" y="1638000"/>
            <a:ext cx="133200" cy="133200"/>
          </a:xfrm>
          <a:prstGeom prst="rect">
            <a:avLst/>
          </a:prstGeom>
          <a:noFill/>
          <a:ln w="0">
            <a:noFill/>
          </a:ln>
        </p:spPr>
      </p:pic>
      <p:sp>
        <p:nvSpPr>
          <p:cNvPr id="731" name=""/>
          <p:cNvSpPr txBox="1"/>
          <p:nvPr/>
        </p:nvSpPr>
        <p:spPr>
          <a:xfrm>
            <a:off x="5682600" y="1265400"/>
            <a:ext cx="83880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課題と展望</a:t>
            </a:r>
            <a:endParaRPr b="0" lang="en-US" sz="1320" strike="noStrike" u="none">
              <a:solidFill>
                <a:srgbClr val="000000"/>
              </a:solidFill>
              <a:effectLst/>
              <a:uFillTx/>
              <a:latin typeface="Times New Roman"/>
            </a:endParaRPr>
          </a:p>
        </p:txBody>
      </p:sp>
      <p:sp>
        <p:nvSpPr>
          <p:cNvPr id="732" name=""/>
          <p:cNvSpPr/>
          <p:nvPr/>
        </p:nvSpPr>
        <p:spPr>
          <a:xfrm>
            <a:off x="5448240" y="1980360"/>
            <a:ext cx="301320" cy="301320"/>
          </a:xfrm>
          <a:custGeom>
            <a:avLst/>
            <a:gdLst/>
            <a:ahLst/>
            <a:rect l="0" t="0" r="r" b="b"/>
            <a:pathLst>
              <a:path w="837" h="837">
                <a:moveTo>
                  <a:pt x="837" y="418"/>
                </a:moveTo>
                <a:cubicBezTo>
                  <a:pt x="837" y="445"/>
                  <a:pt x="834" y="472"/>
                  <a:pt x="829" y="499"/>
                </a:cubicBezTo>
                <a:cubicBezTo>
                  <a:pt x="824" y="526"/>
                  <a:pt x="816" y="552"/>
                  <a:pt x="805" y="578"/>
                </a:cubicBezTo>
                <a:cubicBezTo>
                  <a:pt x="795" y="603"/>
                  <a:pt x="782" y="627"/>
                  <a:pt x="767" y="650"/>
                </a:cubicBezTo>
                <a:cubicBezTo>
                  <a:pt x="751" y="673"/>
                  <a:pt x="734" y="694"/>
                  <a:pt x="715" y="713"/>
                </a:cubicBezTo>
                <a:cubicBezTo>
                  <a:pt x="695" y="733"/>
                  <a:pt x="674" y="750"/>
                  <a:pt x="651" y="766"/>
                </a:cubicBezTo>
                <a:cubicBezTo>
                  <a:pt x="629" y="781"/>
                  <a:pt x="604" y="794"/>
                  <a:pt x="579" y="805"/>
                </a:cubicBezTo>
                <a:cubicBezTo>
                  <a:pt x="554" y="815"/>
                  <a:pt x="528" y="823"/>
                  <a:pt x="501" y="829"/>
                </a:cubicBezTo>
                <a:cubicBezTo>
                  <a:pt x="474" y="834"/>
                  <a:pt x="447" y="837"/>
                  <a:pt x="419" y="837"/>
                </a:cubicBezTo>
                <a:cubicBezTo>
                  <a:pt x="392" y="837"/>
                  <a:pt x="365" y="834"/>
                  <a:pt x="338" y="829"/>
                </a:cubicBezTo>
                <a:cubicBezTo>
                  <a:pt x="310" y="823"/>
                  <a:pt x="284" y="815"/>
                  <a:pt x="258" y="805"/>
                </a:cubicBezTo>
                <a:cubicBezTo>
                  <a:pt x="233" y="794"/>
                  <a:pt x="209" y="781"/>
                  <a:pt x="186" y="766"/>
                </a:cubicBezTo>
                <a:cubicBezTo>
                  <a:pt x="163" y="750"/>
                  <a:pt x="142" y="733"/>
                  <a:pt x="123" y="713"/>
                </a:cubicBezTo>
                <a:cubicBezTo>
                  <a:pt x="103" y="694"/>
                  <a:pt x="86" y="673"/>
                  <a:pt x="71" y="650"/>
                </a:cubicBezTo>
                <a:cubicBezTo>
                  <a:pt x="56" y="627"/>
                  <a:pt x="43" y="603"/>
                  <a:pt x="32" y="578"/>
                </a:cubicBezTo>
                <a:cubicBezTo>
                  <a:pt x="22" y="552"/>
                  <a:pt x="14" y="526"/>
                  <a:pt x="8" y="499"/>
                </a:cubicBezTo>
                <a:cubicBezTo>
                  <a:pt x="3" y="472"/>
                  <a:pt x="0" y="445"/>
                  <a:pt x="0" y="418"/>
                </a:cubicBezTo>
                <a:cubicBezTo>
                  <a:pt x="0" y="390"/>
                  <a:pt x="3" y="363"/>
                  <a:pt x="8" y="336"/>
                </a:cubicBezTo>
                <a:cubicBezTo>
                  <a:pt x="14" y="309"/>
                  <a:pt x="22" y="283"/>
                  <a:pt x="32" y="258"/>
                </a:cubicBezTo>
                <a:cubicBezTo>
                  <a:pt x="43" y="233"/>
                  <a:pt x="56" y="209"/>
                  <a:pt x="71" y="186"/>
                </a:cubicBezTo>
                <a:cubicBezTo>
                  <a:pt x="86" y="163"/>
                  <a:pt x="103" y="142"/>
                  <a:pt x="123" y="122"/>
                </a:cubicBezTo>
                <a:cubicBezTo>
                  <a:pt x="142" y="103"/>
                  <a:pt x="163" y="86"/>
                  <a:pt x="186" y="70"/>
                </a:cubicBezTo>
                <a:cubicBezTo>
                  <a:pt x="209" y="55"/>
                  <a:pt x="233" y="42"/>
                  <a:pt x="258" y="32"/>
                </a:cubicBezTo>
                <a:cubicBezTo>
                  <a:pt x="284" y="21"/>
                  <a:pt x="310" y="13"/>
                  <a:pt x="338" y="8"/>
                </a:cubicBezTo>
                <a:cubicBezTo>
                  <a:pt x="365" y="3"/>
                  <a:pt x="392" y="0"/>
                  <a:pt x="419" y="0"/>
                </a:cubicBezTo>
                <a:cubicBezTo>
                  <a:pt x="447" y="0"/>
                  <a:pt x="474" y="3"/>
                  <a:pt x="501" y="8"/>
                </a:cubicBezTo>
                <a:cubicBezTo>
                  <a:pt x="528" y="13"/>
                  <a:pt x="554" y="21"/>
                  <a:pt x="579" y="32"/>
                </a:cubicBezTo>
                <a:cubicBezTo>
                  <a:pt x="604" y="42"/>
                  <a:pt x="629" y="55"/>
                  <a:pt x="651" y="70"/>
                </a:cubicBezTo>
                <a:cubicBezTo>
                  <a:pt x="674" y="86"/>
                  <a:pt x="695" y="103"/>
                  <a:pt x="715" y="122"/>
                </a:cubicBezTo>
                <a:cubicBezTo>
                  <a:pt x="734" y="142"/>
                  <a:pt x="751" y="163"/>
                  <a:pt x="767" y="186"/>
                </a:cubicBezTo>
                <a:cubicBezTo>
                  <a:pt x="782" y="209"/>
                  <a:pt x="795" y="233"/>
                  <a:pt x="805" y="258"/>
                </a:cubicBezTo>
                <a:cubicBezTo>
                  <a:pt x="816" y="283"/>
                  <a:pt x="824" y="309"/>
                  <a:pt x="829" y="336"/>
                </a:cubicBezTo>
                <a:cubicBezTo>
                  <a:pt x="834" y="363"/>
                  <a:pt x="837" y="390"/>
                  <a:pt x="837" y="418"/>
                </a:cubicBezTo>
                <a:close/>
              </a:path>
            </a:pathLst>
          </a:custGeom>
          <a:solidFill>
            <a:srgbClr val="c0c0c0">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3" name="" descr=""/>
          <p:cNvPicPr/>
          <p:nvPr/>
        </p:nvPicPr>
        <p:blipFill>
          <a:blip r:embed="rId8"/>
          <a:stretch/>
        </p:blipFill>
        <p:spPr>
          <a:xfrm>
            <a:off x="5540400" y="2064240"/>
            <a:ext cx="116640" cy="133200"/>
          </a:xfrm>
          <a:prstGeom prst="rect">
            <a:avLst/>
          </a:prstGeom>
          <a:noFill/>
          <a:ln w="0">
            <a:noFill/>
          </a:ln>
        </p:spPr>
      </p:pic>
      <p:sp>
        <p:nvSpPr>
          <p:cNvPr id="734" name=""/>
          <p:cNvSpPr txBox="1"/>
          <p:nvPr/>
        </p:nvSpPr>
        <p:spPr>
          <a:xfrm>
            <a:off x="5874840" y="1589040"/>
            <a:ext cx="335340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スピーカユニットに近い領域では</a:t>
            </a:r>
            <a:r>
              <a:rPr b="0" lang="zh-CN" sz="1050" strike="noStrike" u="none">
                <a:solidFill>
                  <a:srgbClr val="003366"/>
                </a:solidFill>
                <a:effectLst/>
                <a:uFillTx/>
                <a:latin typeface="NotoSansJP"/>
                <a:ea typeface="NotoSansJP"/>
              </a:rPr>
              <a:t>指向性が低下</a:t>
            </a:r>
            <a:r>
              <a:rPr b="0" lang="zh-CN" sz="1050" strike="noStrike" u="none">
                <a:solidFill>
                  <a:srgbClr val="000000"/>
                </a:solidFill>
                <a:effectLst/>
                <a:uFillTx/>
                <a:latin typeface="NotoSansJP"/>
                <a:ea typeface="NotoSansJP"/>
              </a:rPr>
              <a:t>する問題</a:t>
            </a:r>
            <a:endParaRPr b="0" lang="en-US" sz="1050" strike="noStrike" u="none">
              <a:solidFill>
                <a:srgbClr val="000000"/>
              </a:solidFill>
              <a:effectLst/>
              <a:uFillTx/>
              <a:latin typeface="Times New Roman"/>
            </a:endParaRPr>
          </a:p>
        </p:txBody>
      </p:sp>
      <p:sp>
        <p:nvSpPr>
          <p:cNvPr id="735" name=""/>
          <p:cNvSpPr/>
          <p:nvPr/>
        </p:nvSpPr>
        <p:spPr>
          <a:xfrm>
            <a:off x="5448240" y="2406600"/>
            <a:ext cx="301320" cy="301320"/>
          </a:xfrm>
          <a:custGeom>
            <a:avLst/>
            <a:gdLst/>
            <a:ahLst/>
            <a:rect l="0" t="0" r="r" b="b"/>
            <a:pathLst>
              <a:path w="837" h="837">
                <a:moveTo>
                  <a:pt x="837" y="419"/>
                </a:moveTo>
                <a:cubicBezTo>
                  <a:pt x="837" y="446"/>
                  <a:pt x="834" y="473"/>
                  <a:pt x="829" y="500"/>
                </a:cubicBezTo>
                <a:cubicBezTo>
                  <a:pt x="824" y="527"/>
                  <a:pt x="816" y="553"/>
                  <a:pt x="805" y="579"/>
                </a:cubicBezTo>
                <a:cubicBezTo>
                  <a:pt x="795" y="604"/>
                  <a:pt x="782" y="628"/>
                  <a:pt x="767" y="651"/>
                </a:cubicBezTo>
                <a:cubicBezTo>
                  <a:pt x="751" y="674"/>
                  <a:pt x="734" y="695"/>
                  <a:pt x="715" y="714"/>
                </a:cubicBezTo>
                <a:cubicBezTo>
                  <a:pt x="695" y="734"/>
                  <a:pt x="674" y="751"/>
                  <a:pt x="651" y="766"/>
                </a:cubicBezTo>
                <a:cubicBezTo>
                  <a:pt x="629" y="781"/>
                  <a:pt x="604" y="794"/>
                  <a:pt x="579" y="805"/>
                </a:cubicBezTo>
                <a:cubicBezTo>
                  <a:pt x="554" y="815"/>
                  <a:pt x="528" y="823"/>
                  <a:pt x="501" y="829"/>
                </a:cubicBezTo>
                <a:cubicBezTo>
                  <a:pt x="474" y="834"/>
                  <a:pt x="447" y="837"/>
                  <a:pt x="419" y="837"/>
                </a:cubicBezTo>
                <a:cubicBezTo>
                  <a:pt x="392" y="837"/>
                  <a:pt x="365" y="834"/>
                  <a:pt x="338" y="829"/>
                </a:cubicBezTo>
                <a:cubicBezTo>
                  <a:pt x="310" y="823"/>
                  <a:pt x="284" y="815"/>
                  <a:pt x="258" y="805"/>
                </a:cubicBezTo>
                <a:cubicBezTo>
                  <a:pt x="233" y="794"/>
                  <a:pt x="209" y="781"/>
                  <a:pt x="186" y="766"/>
                </a:cubicBezTo>
                <a:cubicBezTo>
                  <a:pt x="163" y="751"/>
                  <a:pt x="142" y="734"/>
                  <a:pt x="123" y="714"/>
                </a:cubicBezTo>
                <a:cubicBezTo>
                  <a:pt x="103" y="695"/>
                  <a:pt x="86" y="674"/>
                  <a:pt x="71" y="651"/>
                </a:cubicBezTo>
                <a:cubicBezTo>
                  <a:pt x="56" y="628"/>
                  <a:pt x="43" y="604"/>
                  <a:pt x="32" y="579"/>
                </a:cubicBezTo>
                <a:cubicBezTo>
                  <a:pt x="22" y="553"/>
                  <a:pt x="14" y="527"/>
                  <a:pt x="8" y="500"/>
                </a:cubicBezTo>
                <a:cubicBezTo>
                  <a:pt x="3" y="473"/>
                  <a:pt x="0" y="446"/>
                  <a:pt x="0" y="419"/>
                </a:cubicBezTo>
                <a:cubicBezTo>
                  <a:pt x="0" y="390"/>
                  <a:pt x="3" y="363"/>
                  <a:pt x="8" y="336"/>
                </a:cubicBezTo>
                <a:cubicBezTo>
                  <a:pt x="14" y="309"/>
                  <a:pt x="22" y="283"/>
                  <a:pt x="32" y="258"/>
                </a:cubicBezTo>
                <a:cubicBezTo>
                  <a:pt x="43" y="232"/>
                  <a:pt x="56" y="208"/>
                  <a:pt x="71" y="186"/>
                </a:cubicBezTo>
                <a:cubicBezTo>
                  <a:pt x="86" y="163"/>
                  <a:pt x="103" y="142"/>
                  <a:pt x="123" y="122"/>
                </a:cubicBezTo>
                <a:cubicBezTo>
                  <a:pt x="142" y="103"/>
                  <a:pt x="163" y="86"/>
                  <a:pt x="186" y="70"/>
                </a:cubicBezTo>
                <a:cubicBezTo>
                  <a:pt x="209" y="55"/>
                  <a:pt x="233" y="42"/>
                  <a:pt x="258" y="32"/>
                </a:cubicBezTo>
                <a:cubicBezTo>
                  <a:pt x="284" y="21"/>
                  <a:pt x="310" y="13"/>
                  <a:pt x="338" y="8"/>
                </a:cubicBezTo>
                <a:cubicBezTo>
                  <a:pt x="365" y="3"/>
                  <a:pt x="392" y="0"/>
                  <a:pt x="419" y="0"/>
                </a:cubicBezTo>
                <a:cubicBezTo>
                  <a:pt x="447" y="0"/>
                  <a:pt x="474" y="3"/>
                  <a:pt x="501" y="8"/>
                </a:cubicBezTo>
                <a:cubicBezTo>
                  <a:pt x="528" y="13"/>
                  <a:pt x="554" y="21"/>
                  <a:pt x="579" y="32"/>
                </a:cubicBezTo>
                <a:cubicBezTo>
                  <a:pt x="604" y="42"/>
                  <a:pt x="629" y="55"/>
                  <a:pt x="651" y="70"/>
                </a:cubicBezTo>
                <a:cubicBezTo>
                  <a:pt x="674" y="86"/>
                  <a:pt x="695" y="103"/>
                  <a:pt x="715" y="122"/>
                </a:cubicBezTo>
                <a:cubicBezTo>
                  <a:pt x="734" y="142"/>
                  <a:pt x="751" y="163"/>
                  <a:pt x="767" y="186"/>
                </a:cubicBezTo>
                <a:cubicBezTo>
                  <a:pt x="782" y="208"/>
                  <a:pt x="795" y="232"/>
                  <a:pt x="805" y="258"/>
                </a:cubicBezTo>
                <a:cubicBezTo>
                  <a:pt x="816" y="283"/>
                  <a:pt x="824" y="309"/>
                  <a:pt x="829" y="336"/>
                </a:cubicBezTo>
                <a:cubicBezTo>
                  <a:pt x="834" y="363"/>
                  <a:pt x="837" y="390"/>
                  <a:pt x="837" y="419"/>
                </a:cubicBezTo>
                <a:close/>
              </a:path>
            </a:pathLst>
          </a:custGeom>
          <a:solidFill>
            <a:srgbClr val="ff8c00">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6" name="" descr=""/>
          <p:cNvPicPr/>
          <p:nvPr/>
        </p:nvPicPr>
        <p:blipFill>
          <a:blip r:embed="rId9"/>
          <a:stretch/>
        </p:blipFill>
        <p:spPr>
          <a:xfrm>
            <a:off x="5532120" y="2490120"/>
            <a:ext cx="133200" cy="133200"/>
          </a:xfrm>
          <a:prstGeom prst="rect">
            <a:avLst/>
          </a:prstGeom>
          <a:noFill/>
          <a:ln w="0">
            <a:noFill/>
          </a:ln>
        </p:spPr>
      </p:pic>
      <p:sp>
        <p:nvSpPr>
          <p:cNvPr id="737" name=""/>
          <p:cNvSpPr txBox="1"/>
          <p:nvPr/>
        </p:nvSpPr>
        <p:spPr>
          <a:xfrm>
            <a:off x="5874840" y="2015280"/>
            <a:ext cx="4292280" cy="194040"/>
          </a:xfrm>
          <a:prstGeom prst="rect">
            <a:avLst/>
          </a:prstGeom>
          <a:noFill/>
          <a:ln w="0">
            <a:noFill/>
          </a:ln>
        </p:spPr>
        <p:txBody>
          <a:bodyPr wrap="none" lIns="0" rIns="0" tIns="0" bIns="0" anchor="t">
            <a:spAutoFit/>
          </a:bodyPr>
          <a:p>
            <a:r>
              <a:rPr b="0" lang="zh-CN" sz="1050" strike="noStrike" u="none">
                <a:solidFill>
                  <a:srgbClr val="000000"/>
                </a:solidFill>
                <a:effectLst/>
                <a:uFillTx/>
                <a:latin typeface="NotoSansJP"/>
                <a:ea typeface="NotoSansJP"/>
              </a:rPr>
              <a:t>シミュレーションにおける</a:t>
            </a:r>
            <a:r>
              <a:rPr b="0" lang="zh-CN" sz="1050" strike="noStrike" u="none">
                <a:solidFill>
                  <a:srgbClr val="003366"/>
                </a:solidFill>
                <a:effectLst/>
                <a:uFillTx/>
                <a:latin typeface="NotoSansJP"/>
                <a:ea typeface="NotoSansJP"/>
              </a:rPr>
              <a:t>空間的スケールの大きさ</a:t>
            </a:r>
            <a:r>
              <a:rPr b="0" lang="zh-CN" sz="1050" strike="noStrike" u="none">
                <a:solidFill>
                  <a:srgbClr val="000000"/>
                </a:solidFill>
                <a:effectLst/>
                <a:uFillTx/>
                <a:latin typeface="NotoSansJP"/>
                <a:ea typeface="NotoSansJP"/>
              </a:rPr>
              <a:t>と実用化のギャップ</a:t>
            </a:r>
            <a:endParaRPr b="0" lang="en-US" sz="1050" strike="noStrike" u="none">
              <a:solidFill>
                <a:srgbClr val="000000"/>
              </a:solidFill>
              <a:effectLst/>
              <a:uFillTx/>
              <a:latin typeface="Times New Roman"/>
            </a:endParaRPr>
          </a:p>
        </p:txBody>
      </p:sp>
      <p:sp>
        <p:nvSpPr>
          <p:cNvPr id="738" name=""/>
          <p:cNvSpPr/>
          <p:nvPr/>
        </p:nvSpPr>
        <p:spPr>
          <a:xfrm>
            <a:off x="5448240" y="2832840"/>
            <a:ext cx="301320" cy="300960"/>
          </a:xfrm>
          <a:custGeom>
            <a:avLst/>
            <a:gdLst/>
            <a:ahLst/>
            <a:rect l="0" t="0" r="r" b="b"/>
            <a:pathLst>
              <a:path w="837" h="836">
                <a:moveTo>
                  <a:pt x="837" y="419"/>
                </a:moveTo>
                <a:cubicBezTo>
                  <a:pt x="837" y="446"/>
                  <a:pt x="834" y="473"/>
                  <a:pt x="829" y="500"/>
                </a:cubicBezTo>
                <a:cubicBezTo>
                  <a:pt x="824" y="527"/>
                  <a:pt x="816" y="553"/>
                  <a:pt x="805" y="578"/>
                </a:cubicBezTo>
                <a:cubicBezTo>
                  <a:pt x="795" y="604"/>
                  <a:pt x="782" y="628"/>
                  <a:pt x="767" y="651"/>
                </a:cubicBezTo>
                <a:cubicBezTo>
                  <a:pt x="751" y="674"/>
                  <a:pt x="734" y="695"/>
                  <a:pt x="715" y="714"/>
                </a:cubicBezTo>
                <a:cubicBezTo>
                  <a:pt x="695" y="733"/>
                  <a:pt x="674" y="751"/>
                  <a:pt x="651" y="766"/>
                </a:cubicBezTo>
                <a:cubicBezTo>
                  <a:pt x="629" y="781"/>
                  <a:pt x="604" y="794"/>
                  <a:pt x="579" y="805"/>
                </a:cubicBezTo>
                <a:cubicBezTo>
                  <a:pt x="554" y="815"/>
                  <a:pt x="528" y="823"/>
                  <a:pt x="501" y="828"/>
                </a:cubicBezTo>
                <a:cubicBezTo>
                  <a:pt x="474" y="834"/>
                  <a:pt x="447" y="836"/>
                  <a:pt x="419" y="836"/>
                </a:cubicBezTo>
                <a:cubicBezTo>
                  <a:pt x="392" y="836"/>
                  <a:pt x="365" y="834"/>
                  <a:pt x="338" y="828"/>
                </a:cubicBezTo>
                <a:cubicBezTo>
                  <a:pt x="310" y="823"/>
                  <a:pt x="284" y="815"/>
                  <a:pt x="258" y="805"/>
                </a:cubicBezTo>
                <a:cubicBezTo>
                  <a:pt x="233" y="794"/>
                  <a:pt x="209" y="781"/>
                  <a:pt x="186" y="766"/>
                </a:cubicBezTo>
                <a:cubicBezTo>
                  <a:pt x="163" y="751"/>
                  <a:pt x="142" y="733"/>
                  <a:pt x="123" y="714"/>
                </a:cubicBezTo>
                <a:cubicBezTo>
                  <a:pt x="103" y="695"/>
                  <a:pt x="86" y="674"/>
                  <a:pt x="71" y="651"/>
                </a:cubicBezTo>
                <a:cubicBezTo>
                  <a:pt x="56" y="628"/>
                  <a:pt x="43" y="604"/>
                  <a:pt x="32" y="578"/>
                </a:cubicBezTo>
                <a:cubicBezTo>
                  <a:pt x="22" y="553"/>
                  <a:pt x="14" y="527"/>
                  <a:pt x="8" y="500"/>
                </a:cubicBezTo>
                <a:cubicBezTo>
                  <a:pt x="3" y="473"/>
                  <a:pt x="0" y="446"/>
                  <a:pt x="0" y="419"/>
                </a:cubicBezTo>
                <a:cubicBezTo>
                  <a:pt x="0" y="391"/>
                  <a:pt x="3" y="364"/>
                  <a:pt x="8" y="337"/>
                </a:cubicBezTo>
                <a:cubicBezTo>
                  <a:pt x="14" y="310"/>
                  <a:pt x="22" y="284"/>
                  <a:pt x="32" y="259"/>
                </a:cubicBezTo>
                <a:cubicBezTo>
                  <a:pt x="43" y="233"/>
                  <a:pt x="56" y="209"/>
                  <a:pt x="71" y="186"/>
                </a:cubicBezTo>
                <a:cubicBezTo>
                  <a:pt x="86" y="164"/>
                  <a:pt x="103" y="143"/>
                  <a:pt x="123" y="123"/>
                </a:cubicBezTo>
                <a:cubicBezTo>
                  <a:pt x="142" y="104"/>
                  <a:pt x="163" y="86"/>
                  <a:pt x="186" y="71"/>
                </a:cubicBezTo>
                <a:cubicBezTo>
                  <a:pt x="209" y="55"/>
                  <a:pt x="233" y="42"/>
                  <a:pt x="258" y="32"/>
                </a:cubicBezTo>
                <a:cubicBezTo>
                  <a:pt x="284" y="21"/>
                  <a:pt x="310" y="13"/>
                  <a:pt x="338" y="8"/>
                </a:cubicBezTo>
                <a:cubicBezTo>
                  <a:pt x="365" y="2"/>
                  <a:pt x="392" y="0"/>
                  <a:pt x="419" y="0"/>
                </a:cubicBezTo>
                <a:cubicBezTo>
                  <a:pt x="447" y="0"/>
                  <a:pt x="474" y="2"/>
                  <a:pt x="501" y="8"/>
                </a:cubicBezTo>
                <a:cubicBezTo>
                  <a:pt x="528" y="13"/>
                  <a:pt x="554" y="21"/>
                  <a:pt x="579" y="32"/>
                </a:cubicBezTo>
                <a:cubicBezTo>
                  <a:pt x="604" y="42"/>
                  <a:pt x="629" y="55"/>
                  <a:pt x="651" y="71"/>
                </a:cubicBezTo>
                <a:cubicBezTo>
                  <a:pt x="674" y="86"/>
                  <a:pt x="695" y="104"/>
                  <a:pt x="715" y="123"/>
                </a:cubicBezTo>
                <a:cubicBezTo>
                  <a:pt x="734" y="143"/>
                  <a:pt x="751" y="164"/>
                  <a:pt x="767" y="186"/>
                </a:cubicBezTo>
                <a:cubicBezTo>
                  <a:pt x="782" y="209"/>
                  <a:pt x="795" y="233"/>
                  <a:pt x="805" y="259"/>
                </a:cubicBezTo>
                <a:cubicBezTo>
                  <a:pt x="816" y="284"/>
                  <a:pt x="824" y="310"/>
                  <a:pt x="829" y="337"/>
                </a:cubicBezTo>
                <a:cubicBezTo>
                  <a:pt x="834" y="364"/>
                  <a:pt x="837" y="391"/>
                  <a:pt x="837" y="419"/>
                </a:cubicBezTo>
                <a:close/>
              </a:path>
            </a:pathLst>
          </a:custGeom>
          <a:solidFill>
            <a:srgbClr val="ff8c00">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9" name="" descr=""/>
          <p:cNvPicPr/>
          <p:nvPr/>
        </p:nvPicPr>
        <p:blipFill>
          <a:blip r:embed="rId10"/>
          <a:stretch/>
        </p:blipFill>
        <p:spPr>
          <a:xfrm>
            <a:off x="5532120" y="2916360"/>
            <a:ext cx="133200" cy="133200"/>
          </a:xfrm>
          <a:prstGeom prst="rect">
            <a:avLst/>
          </a:prstGeom>
          <a:noFill/>
          <a:ln w="0">
            <a:noFill/>
          </a:ln>
        </p:spPr>
      </p:pic>
      <p:sp>
        <p:nvSpPr>
          <p:cNvPr id="740" name=""/>
          <p:cNvSpPr txBox="1"/>
          <p:nvPr/>
        </p:nvSpPr>
        <p:spPr>
          <a:xfrm>
            <a:off x="5874840" y="2441520"/>
            <a:ext cx="429228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パラメトリックスピーカ</a:t>
            </a:r>
            <a:r>
              <a:rPr b="0" lang="zh-CN" sz="1050" strike="noStrike" u="none">
                <a:solidFill>
                  <a:srgbClr val="000000"/>
                </a:solidFill>
                <a:effectLst/>
                <a:uFillTx/>
                <a:latin typeface="NotoSansJP"/>
                <a:ea typeface="NotoSansJP"/>
              </a:rPr>
              <a:t>への応用による超音波領域での高指向性の実現</a:t>
            </a:r>
            <a:endParaRPr b="0" lang="en-US" sz="1050" strike="noStrike" u="none">
              <a:solidFill>
                <a:srgbClr val="000000"/>
              </a:solidFill>
              <a:effectLst/>
              <a:uFillTx/>
              <a:latin typeface="Times New Roman"/>
            </a:endParaRPr>
          </a:p>
        </p:txBody>
      </p:sp>
      <p:sp>
        <p:nvSpPr>
          <p:cNvPr id="741" name=""/>
          <p:cNvSpPr txBox="1"/>
          <p:nvPr/>
        </p:nvSpPr>
        <p:spPr>
          <a:xfrm>
            <a:off x="5874840" y="2867760"/>
            <a:ext cx="4024080" cy="194040"/>
          </a:xfrm>
          <a:prstGeom prst="rect">
            <a:avLst/>
          </a:prstGeom>
          <a:noFill/>
          <a:ln w="0">
            <a:noFill/>
          </a:ln>
        </p:spPr>
        <p:txBody>
          <a:bodyPr wrap="none" lIns="0" rIns="0" tIns="0" bIns="0" anchor="t">
            <a:spAutoFit/>
          </a:bodyPr>
          <a:p>
            <a:r>
              <a:rPr b="0" lang="zh-CN" sz="1050" strike="noStrike" u="none">
                <a:solidFill>
                  <a:srgbClr val="003366"/>
                </a:solidFill>
                <a:effectLst/>
                <a:uFillTx/>
                <a:latin typeface="NotoSansJP"/>
                <a:ea typeface="NotoSansJP"/>
              </a:rPr>
              <a:t>周波数多重分割</a:t>
            </a:r>
            <a:r>
              <a:rPr b="0" lang="zh-CN" sz="1050" strike="noStrike" u="none">
                <a:solidFill>
                  <a:srgbClr val="000000"/>
                </a:solidFill>
                <a:effectLst/>
                <a:uFillTx/>
                <a:latin typeface="NotoSansJP"/>
                <a:ea typeface="NotoSansJP"/>
              </a:rPr>
              <a:t>による同一空間内での複数オーディオスポット形成</a:t>
            </a:r>
            <a:endParaRPr b="0" lang="en-US" sz="1050" strike="noStrike" u="none">
              <a:solidFill>
                <a:srgbClr val="000000"/>
              </a:solidFill>
              <a:effectLst/>
              <a:uFillTx/>
              <a:latin typeface="Times New Roman"/>
            </a:endParaRPr>
          </a:p>
        </p:txBody>
      </p:sp>
      <p:sp>
        <p:nvSpPr>
          <p:cNvPr id="742" name=""/>
          <p:cNvSpPr txBox="1"/>
          <p:nvPr/>
        </p:nvSpPr>
        <p:spPr>
          <a:xfrm>
            <a:off x="534960" y="3580200"/>
            <a:ext cx="335880" cy="244080"/>
          </a:xfrm>
          <a:prstGeom prst="rect">
            <a:avLst/>
          </a:prstGeom>
          <a:noFill/>
          <a:ln w="0">
            <a:noFill/>
          </a:ln>
        </p:spPr>
        <p:txBody>
          <a:bodyPr wrap="none" lIns="0" rIns="0" tIns="0" bIns="0" anchor="t">
            <a:spAutoFit/>
          </a:bodyPr>
          <a:p>
            <a:r>
              <a:rPr b="0" lang="zh-CN" sz="1320" strike="noStrike" u="none">
                <a:solidFill>
                  <a:srgbClr val="1f2937"/>
                </a:solidFill>
                <a:effectLst/>
                <a:uFillTx/>
                <a:latin typeface="NotoSansJP"/>
                <a:ea typeface="NotoSansJP"/>
              </a:rPr>
              <a:t>総括</a:t>
            </a:r>
            <a:endParaRPr b="0" lang="en-US" sz="1320" strike="noStrike" u="none">
              <a:solidFill>
                <a:srgbClr val="000000"/>
              </a:solidFill>
              <a:effectLst/>
              <a:uFillTx/>
              <a:latin typeface="Times New Roman"/>
            </a:endParaRPr>
          </a:p>
        </p:txBody>
      </p:sp>
      <p:sp>
        <p:nvSpPr>
          <p:cNvPr id="743" name=""/>
          <p:cNvSpPr txBox="1"/>
          <p:nvPr/>
        </p:nvSpPr>
        <p:spPr>
          <a:xfrm>
            <a:off x="534960" y="3896640"/>
            <a:ext cx="96566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アナログ式の音響レンズと同様の屈折効果を、一次元配列型スピーカユニットによって実現できることを理論的に示し、シミュレーションで検</a:t>
            </a:r>
            <a:endParaRPr b="0" lang="en-US" sz="1180" strike="noStrike" u="none">
              <a:solidFill>
                <a:srgbClr val="000000"/>
              </a:solidFill>
              <a:effectLst/>
              <a:uFillTx/>
              <a:latin typeface="Times New Roman"/>
            </a:endParaRPr>
          </a:p>
        </p:txBody>
      </p:sp>
      <p:sp>
        <p:nvSpPr>
          <p:cNvPr id="744" name=""/>
          <p:cNvSpPr txBox="1"/>
          <p:nvPr/>
        </p:nvSpPr>
        <p:spPr>
          <a:xfrm>
            <a:off x="534960" y="4130640"/>
            <a:ext cx="96570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証しました。特に超音波領域での応用により</a:t>
            </a:r>
            <a:r>
              <a:rPr b="0" lang="zh-CN" sz="1180" strike="noStrike" u="none">
                <a:solidFill>
                  <a:srgbClr val="003366"/>
                </a:solidFill>
                <a:effectLst/>
                <a:uFillTx/>
                <a:latin typeface="NotoSansJP"/>
                <a:ea typeface="NotoSansJP"/>
              </a:rPr>
              <a:t>騒音問題の解決</a:t>
            </a:r>
            <a:r>
              <a:rPr b="0" lang="zh-CN" sz="1180" strike="noStrike" u="none">
                <a:solidFill>
                  <a:srgbClr val="000000"/>
                </a:solidFill>
                <a:effectLst/>
                <a:uFillTx/>
                <a:latin typeface="NotoSansJP"/>
                <a:ea typeface="NotoSansJP"/>
              </a:rPr>
              <a:t>や</a:t>
            </a:r>
            <a:r>
              <a:rPr b="0" lang="zh-CN" sz="1180" strike="noStrike" u="none">
                <a:solidFill>
                  <a:srgbClr val="003366"/>
                </a:solidFill>
                <a:effectLst/>
                <a:uFillTx/>
                <a:latin typeface="NotoSansJP"/>
                <a:ea typeface="NotoSansJP"/>
              </a:rPr>
              <a:t>空間の効率的な音響活用</a:t>
            </a:r>
            <a:r>
              <a:rPr b="0" lang="zh-CN" sz="1180" strike="noStrike" u="none">
                <a:solidFill>
                  <a:srgbClr val="000000"/>
                </a:solidFill>
                <a:effectLst/>
                <a:uFillTx/>
                <a:latin typeface="NotoSansJP"/>
                <a:ea typeface="NotoSansJP"/>
              </a:rPr>
              <a:t>が期待できます。実用化に向けては、実機での検証や実</a:t>
            </a:r>
            <a:endParaRPr b="0" lang="en-US" sz="1180" strike="noStrike" u="none">
              <a:solidFill>
                <a:srgbClr val="000000"/>
              </a:solidFill>
              <a:effectLst/>
              <a:uFillTx/>
              <a:latin typeface="Times New Roman"/>
            </a:endParaRPr>
          </a:p>
        </p:txBody>
      </p:sp>
      <p:sp>
        <p:nvSpPr>
          <p:cNvPr id="745" name=""/>
          <p:cNvSpPr/>
          <p:nvPr/>
        </p:nvSpPr>
        <p:spPr>
          <a:xfrm>
            <a:off x="334080" y="4880160"/>
            <a:ext cx="3251160" cy="1136880"/>
          </a:xfrm>
          <a:custGeom>
            <a:avLst/>
            <a:gdLst/>
            <a:ahLst/>
            <a:rect l="0" t="0" r="r" b="b"/>
            <a:pathLst>
              <a:path w="9031" h="3158">
                <a:moveTo>
                  <a:pt x="0" y="2972"/>
                </a:moveTo>
                <a:lnTo>
                  <a:pt x="0" y="186"/>
                </a:lnTo>
                <a:cubicBezTo>
                  <a:pt x="0" y="173"/>
                  <a:pt x="1" y="161"/>
                  <a:pt x="4" y="149"/>
                </a:cubicBezTo>
                <a:cubicBezTo>
                  <a:pt x="6" y="137"/>
                  <a:pt x="9" y="126"/>
                  <a:pt x="14" y="115"/>
                </a:cubicBezTo>
                <a:cubicBezTo>
                  <a:pt x="19" y="103"/>
                  <a:pt x="25" y="93"/>
                  <a:pt x="31" y="82"/>
                </a:cubicBezTo>
                <a:cubicBezTo>
                  <a:pt x="38" y="72"/>
                  <a:pt x="46" y="63"/>
                  <a:pt x="54" y="54"/>
                </a:cubicBezTo>
                <a:cubicBezTo>
                  <a:pt x="63" y="46"/>
                  <a:pt x="72" y="38"/>
                  <a:pt x="83" y="31"/>
                </a:cubicBezTo>
                <a:cubicBezTo>
                  <a:pt x="93" y="24"/>
                  <a:pt x="103" y="19"/>
                  <a:pt x="115" y="14"/>
                </a:cubicBezTo>
                <a:cubicBezTo>
                  <a:pt x="126" y="9"/>
                  <a:pt x="138" y="6"/>
                  <a:pt x="149" y="3"/>
                </a:cubicBezTo>
                <a:cubicBezTo>
                  <a:pt x="161" y="1"/>
                  <a:pt x="174" y="0"/>
                  <a:pt x="186" y="0"/>
                </a:cubicBezTo>
                <a:lnTo>
                  <a:pt x="8845" y="0"/>
                </a:lnTo>
                <a:cubicBezTo>
                  <a:pt x="8857" y="0"/>
                  <a:pt x="8869" y="1"/>
                  <a:pt x="8881" y="3"/>
                </a:cubicBezTo>
                <a:cubicBezTo>
                  <a:pt x="8893" y="6"/>
                  <a:pt x="8905" y="9"/>
                  <a:pt x="8916" y="14"/>
                </a:cubicBezTo>
                <a:cubicBezTo>
                  <a:pt x="8928" y="19"/>
                  <a:pt x="8938" y="24"/>
                  <a:pt x="8948" y="31"/>
                </a:cubicBezTo>
                <a:cubicBezTo>
                  <a:pt x="8959" y="38"/>
                  <a:pt x="8968" y="46"/>
                  <a:pt x="8977" y="54"/>
                </a:cubicBezTo>
                <a:cubicBezTo>
                  <a:pt x="8985" y="63"/>
                  <a:pt x="8993" y="72"/>
                  <a:pt x="9000" y="82"/>
                </a:cubicBezTo>
                <a:cubicBezTo>
                  <a:pt x="9006" y="93"/>
                  <a:pt x="9012" y="103"/>
                  <a:pt x="9017" y="115"/>
                </a:cubicBezTo>
                <a:cubicBezTo>
                  <a:pt x="9021" y="126"/>
                  <a:pt x="9025" y="137"/>
                  <a:pt x="9027" y="149"/>
                </a:cubicBezTo>
                <a:cubicBezTo>
                  <a:pt x="9030" y="161"/>
                  <a:pt x="9031" y="173"/>
                  <a:pt x="9031" y="186"/>
                </a:cubicBezTo>
                <a:lnTo>
                  <a:pt x="9031" y="2972"/>
                </a:lnTo>
                <a:cubicBezTo>
                  <a:pt x="9031" y="2984"/>
                  <a:pt x="9030" y="2996"/>
                  <a:pt x="9027" y="3008"/>
                </a:cubicBezTo>
                <a:cubicBezTo>
                  <a:pt x="9025" y="3020"/>
                  <a:pt x="9021" y="3032"/>
                  <a:pt x="9017" y="3043"/>
                </a:cubicBezTo>
                <a:cubicBezTo>
                  <a:pt x="9012" y="3055"/>
                  <a:pt x="9006" y="3065"/>
                  <a:pt x="9000" y="3075"/>
                </a:cubicBezTo>
                <a:cubicBezTo>
                  <a:pt x="8993" y="3086"/>
                  <a:pt x="8985" y="3095"/>
                  <a:pt x="8977" y="3104"/>
                </a:cubicBezTo>
                <a:cubicBezTo>
                  <a:pt x="8968" y="3112"/>
                  <a:pt x="8959" y="3120"/>
                  <a:pt x="8948" y="3127"/>
                </a:cubicBezTo>
                <a:cubicBezTo>
                  <a:pt x="8938" y="3133"/>
                  <a:pt x="8928" y="3139"/>
                  <a:pt x="8916" y="3144"/>
                </a:cubicBezTo>
                <a:cubicBezTo>
                  <a:pt x="8905" y="3148"/>
                  <a:pt x="8893" y="3152"/>
                  <a:pt x="8881" y="3154"/>
                </a:cubicBezTo>
                <a:cubicBezTo>
                  <a:pt x="8869" y="3157"/>
                  <a:pt x="8857" y="3158"/>
                  <a:pt x="8845" y="3158"/>
                </a:cubicBezTo>
                <a:lnTo>
                  <a:pt x="186" y="3158"/>
                </a:lnTo>
                <a:cubicBezTo>
                  <a:pt x="174" y="3158"/>
                  <a:pt x="161" y="3157"/>
                  <a:pt x="149" y="3154"/>
                </a:cubicBezTo>
                <a:cubicBezTo>
                  <a:pt x="138" y="3152"/>
                  <a:pt x="126" y="3148"/>
                  <a:pt x="115" y="3144"/>
                </a:cubicBezTo>
                <a:cubicBezTo>
                  <a:pt x="103" y="3139"/>
                  <a:pt x="93" y="3133"/>
                  <a:pt x="83" y="3127"/>
                </a:cubicBezTo>
                <a:cubicBezTo>
                  <a:pt x="72" y="3120"/>
                  <a:pt x="63" y="3112"/>
                  <a:pt x="54" y="3104"/>
                </a:cubicBezTo>
                <a:cubicBezTo>
                  <a:pt x="46" y="3095"/>
                  <a:pt x="38" y="3086"/>
                  <a:pt x="31" y="3075"/>
                </a:cubicBezTo>
                <a:cubicBezTo>
                  <a:pt x="25" y="3065"/>
                  <a:pt x="19" y="3055"/>
                  <a:pt x="14" y="3043"/>
                </a:cubicBezTo>
                <a:cubicBezTo>
                  <a:pt x="9" y="3032"/>
                  <a:pt x="6" y="3020"/>
                  <a:pt x="4" y="3008"/>
                </a:cubicBezTo>
                <a:cubicBezTo>
                  <a:pt x="1" y="2996"/>
                  <a:pt x="0" y="2984"/>
                  <a:pt x="0" y="2972"/>
                </a:cubicBezTo>
                <a:close/>
              </a:path>
            </a:pathLst>
          </a:custGeom>
          <a:solidFill>
            <a:srgbClr val="f3f4f6"/>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46" name="" descr=""/>
          <p:cNvPicPr/>
          <p:nvPr/>
        </p:nvPicPr>
        <p:blipFill>
          <a:blip r:embed="rId11"/>
          <a:stretch/>
        </p:blipFill>
        <p:spPr>
          <a:xfrm>
            <a:off x="1838520" y="5005800"/>
            <a:ext cx="250200" cy="250200"/>
          </a:xfrm>
          <a:prstGeom prst="rect">
            <a:avLst/>
          </a:prstGeom>
          <a:noFill/>
          <a:ln w="0">
            <a:noFill/>
          </a:ln>
        </p:spPr>
      </p:pic>
      <p:sp>
        <p:nvSpPr>
          <p:cNvPr id="747" name=""/>
          <p:cNvSpPr txBox="1"/>
          <p:nvPr/>
        </p:nvSpPr>
        <p:spPr>
          <a:xfrm>
            <a:off x="534960" y="4364640"/>
            <a:ext cx="362160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際のスピーカの指向特性を考慮した設計が必要です。</a:t>
            </a:r>
            <a:endParaRPr b="0" lang="en-US" sz="1180" strike="noStrike" u="none">
              <a:solidFill>
                <a:srgbClr val="000000"/>
              </a:solidFill>
              <a:effectLst/>
              <a:uFillTx/>
              <a:latin typeface="Times New Roman"/>
            </a:endParaRPr>
          </a:p>
        </p:txBody>
      </p:sp>
      <p:sp>
        <p:nvSpPr>
          <p:cNvPr id="748" name=""/>
          <p:cNvSpPr txBox="1"/>
          <p:nvPr/>
        </p:nvSpPr>
        <p:spPr>
          <a:xfrm>
            <a:off x="1626840" y="5357880"/>
            <a:ext cx="671400" cy="194040"/>
          </a:xfrm>
          <a:prstGeom prst="rect">
            <a:avLst/>
          </a:prstGeom>
          <a:noFill/>
          <a:ln w="0">
            <a:noFill/>
          </a:ln>
        </p:spPr>
        <p:txBody>
          <a:bodyPr wrap="none" lIns="0" rIns="0" tIns="0" bIns="0" anchor="t">
            <a:spAutoFit/>
          </a:bodyPr>
          <a:p>
            <a:r>
              <a:rPr b="0" lang="zh-CN" sz="1050" strike="noStrike" u="none">
                <a:solidFill>
                  <a:srgbClr val="374151"/>
                </a:solidFill>
                <a:effectLst/>
                <a:uFillTx/>
                <a:latin typeface="NotoSansJP"/>
                <a:ea typeface="NotoSansJP"/>
              </a:rPr>
              <a:t>従来の課題</a:t>
            </a:r>
            <a:endParaRPr b="0" lang="en-US" sz="1050" strike="noStrike" u="none">
              <a:solidFill>
                <a:srgbClr val="000000"/>
              </a:solidFill>
              <a:effectLst/>
              <a:uFillTx/>
              <a:latin typeface="Times New Roman"/>
            </a:endParaRPr>
          </a:p>
        </p:txBody>
      </p:sp>
      <p:sp>
        <p:nvSpPr>
          <p:cNvPr id="749" name=""/>
          <p:cNvSpPr txBox="1"/>
          <p:nvPr/>
        </p:nvSpPr>
        <p:spPr>
          <a:xfrm>
            <a:off x="1317600" y="5582520"/>
            <a:ext cx="1291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音の拡散による騒音問題</a:t>
            </a:r>
            <a:endParaRPr b="0" lang="en-US" sz="920" strike="noStrike" u="none">
              <a:solidFill>
                <a:srgbClr val="000000"/>
              </a:solidFill>
              <a:effectLst/>
              <a:uFillTx/>
              <a:latin typeface="Times New Roman"/>
            </a:endParaRPr>
          </a:p>
        </p:txBody>
      </p:sp>
      <p:sp>
        <p:nvSpPr>
          <p:cNvPr id="750" name=""/>
          <p:cNvSpPr/>
          <p:nvPr/>
        </p:nvSpPr>
        <p:spPr>
          <a:xfrm>
            <a:off x="3718440" y="4880160"/>
            <a:ext cx="3259440" cy="1136880"/>
          </a:xfrm>
          <a:custGeom>
            <a:avLst/>
            <a:gdLst/>
            <a:ahLst/>
            <a:rect l="0" t="0" r="r" b="b"/>
            <a:pathLst>
              <a:path w="9054" h="3158">
                <a:moveTo>
                  <a:pt x="0" y="2972"/>
                </a:moveTo>
                <a:lnTo>
                  <a:pt x="0" y="186"/>
                </a:lnTo>
                <a:cubicBezTo>
                  <a:pt x="0" y="173"/>
                  <a:pt x="1" y="161"/>
                  <a:pt x="4" y="149"/>
                </a:cubicBezTo>
                <a:cubicBezTo>
                  <a:pt x="6" y="137"/>
                  <a:pt x="10" y="126"/>
                  <a:pt x="14"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8869" y="0"/>
                </a:lnTo>
                <a:cubicBezTo>
                  <a:pt x="8881" y="0"/>
                  <a:pt x="8893" y="1"/>
                  <a:pt x="8905" y="3"/>
                </a:cubicBezTo>
                <a:cubicBezTo>
                  <a:pt x="8917" y="6"/>
                  <a:pt x="8928" y="9"/>
                  <a:pt x="8940" y="14"/>
                </a:cubicBezTo>
                <a:cubicBezTo>
                  <a:pt x="8951" y="19"/>
                  <a:pt x="8962" y="24"/>
                  <a:pt x="8972" y="31"/>
                </a:cubicBezTo>
                <a:cubicBezTo>
                  <a:pt x="8982" y="38"/>
                  <a:pt x="8991" y="46"/>
                  <a:pt x="9000" y="54"/>
                </a:cubicBezTo>
                <a:cubicBezTo>
                  <a:pt x="9009" y="63"/>
                  <a:pt x="9016" y="72"/>
                  <a:pt x="9023" y="82"/>
                </a:cubicBezTo>
                <a:cubicBezTo>
                  <a:pt x="9030" y="93"/>
                  <a:pt x="9036" y="103"/>
                  <a:pt x="9040" y="115"/>
                </a:cubicBezTo>
                <a:cubicBezTo>
                  <a:pt x="9045" y="126"/>
                  <a:pt x="9048" y="137"/>
                  <a:pt x="9051" y="149"/>
                </a:cubicBezTo>
                <a:cubicBezTo>
                  <a:pt x="9053" y="161"/>
                  <a:pt x="9054" y="173"/>
                  <a:pt x="9054" y="186"/>
                </a:cubicBezTo>
                <a:lnTo>
                  <a:pt x="9054" y="2972"/>
                </a:lnTo>
                <a:cubicBezTo>
                  <a:pt x="9054" y="2984"/>
                  <a:pt x="9053" y="2996"/>
                  <a:pt x="9051" y="3008"/>
                </a:cubicBezTo>
                <a:cubicBezTo>
                  <a:pt x="9048" y="3020"/>
                  <a:pt x="9045" y="3032"/>
                  <a:pt x="9040" y="3043"/>
                </a:cubicBezTo>
                <a:cubicBezTo>
                  <a:pt x="9036" y="3055"/>
                  <a:pt x="9030" y="3065"/>
                  <a:pt x="9023" y="3075"/>
                </a:cubicBezTo>
                <a:cubicBezTo>
                  <a:pt x="9016" y="3086"/>
                  <a:pt x="9009" y="3095"/>
                  <a:pt x="9000" y="3104"/>
                </a:cubicBezTo>
                <a:cubicBezTo>
                  <a:pt x="8991" y="3112"/>
                  <a:pt x="8982" y="3120"/>
                  <a:pt x="8972" y="3127"/>
                </a:cubicBezTo>
                <a:cubicBezTo>
                  <a:pt x="8962" y="3133"/>
                  <a:pt x="8951" y="3139"/>
                  <a:pt x="8940" y="3144"/>
                </a:cubicBezTo>
                <a:cubicBezTo>
                  <a:pt x="8928" y="3148"/>
                  <a:pt x="8917" y="3152"/>
                  <a:pt x="8905" y="3154"/>
                </a:cubicBezTo>
                <a:cubicBezTo>
                  <a:pt x="8893" y="3157"/>
                  <a:pt x="8881" y="3158"/>
                  <a:pt x="8869" y="3158"/>
                </a:cubicBezTo>
                <a:lnTo>
                  <a:pt x="186" y="3158"/>
                </a:lnTo>
                <a:cubicBezTo>
                  <a:pt x="174" y="3158"/>
                  <a:pt x="162" y="3157"/>
                  <a:pt x="150" y="3154"/>
                </a:cubicBezTo>
                <a:cubicBezTo>
                  <a:pt x="138" y="3152"/>
                  <a:pt x="126" y="3148"/>
                  <a:pt x="115" y="3144"/>
                </a:cubicBezTo>
                <a:cubicBezTo>
                  <a:pt x="104" y="3139"/>
                  <a:pt x="93" y="3133"/>
                  <a:pt x="83" y="3127"/>
                </a:cubicBezTo>
                <a:cubicBezTo>
                  <a:pt x="73" y="3120"/>
                  <a:pt x="63" y="3112"/>
                  <a:pt x="55" y="3104"/>
                </a:cubicBezTo>
                <a:cubicBezTo>
                  <a:pt x="46" y="3095"/>
                  <a:pt x="38" y="3086"/>
                  <a:pt x="32" y="3075"/>
                </a:cubicBezTo>
                <a:cubicBezTo>
                  <a:pt x="25" y="3065"/>
                  <a:pt x="19" y="3055"/>
                  <a:pt x="14" y="3043"/>
                </a:cubicBezTo>
                <a:cubicBezTo>
                  <a:pt x="10" y="3032"/>
                  <a:pt x="6" y="3020"/>
                  <a:pt x="4" y="3008"/>
                </a:cubicBezTo>
                <a:cubicBezTo>
                  <a:pt x="1" y="2996"/>
                  <a:pt x="0" y="2984"/>
                  <a:pt x="0" y="2972"/>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51" name="" descr=""/>
          <p:cNvPicPr/>
          <p:nvPr/>
        </p:nvPicPr>
        <p:blipFill>
          <a:blip r:embed="rId12"/>
          <a:stretch/>
        </p:blipFill>
        <p:spPr>
          <a:xfrm>
            <a:off x="5248080" y="5005800"/>
            <a:ext cx="191880" cy="250200"/>
          </a:xfrm>
          <a:prstGeom prst="rect">
            <a:avLst/>
          </a:prstGeom>
          <a:noFill/>
          <a:ln w="0">
            <a:noFill/>
          </a:ln>
        </p:spPr>
      </p:pic>
      <p:sp>
        <p:nvSpPr>
          <p:cNvPr id="752" name=""/>
          <p:cNvSpPr txBox="1"/>
          <p:nvPr/>
        </p:nvSpPr>
        <p:spPr>
          <a:xfrm>
            <a:off x="1258920" y="5749560"/>
            <a:ext cx="140904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物理的な音響レンズの制約</a:t>
            </a:r>
            <a:endParaRPr b="0" lang="en-US" sz="920" strike="noStrike" u="none">
              <a:solidFill>
                <a:srgbClr val="000000"/>
              </a:solidFill>
              <a:effectLst/>
              <a:uFillTx/>
              <a:latin typeface="Times New Roman"/>
            </a:endParaRPr>
          </a:p>
        </p:txBody>
      </p:sp>
      <p:sp>
        <p:nvSpPr>
          <p:cNvPr id="753" name=""/>
          <p:cNvSpPr txBox="1"/>
          <p:nvPr/>
        </p:nvSpPr>
        <p:spPr>
          <a:xfrm>
            <a:off x="4947120" y="5357880"/>
            <a:ext cx="805320" cy="194040"/>
          </a:xfrm>
          <a:prstGeom prst="rect">
            <a:avLst/>
          </a:prstGeom>
          <a:noFill/>
          <a:ln w="0">
            <a:noFill/>
          </a:ln>
        </p:spPr>
        <p:txBody>
          <a:bodyPr wrap="none" lIns="0" rIns="0" tIns="0" bIns="0" anchor="t">
            <a:spAutoFit/>
          </a:bodyPr>
          <a:p>
            <a:r>
              <a:rPr b="0" lang="zh-CN" sz="1050" strike="noStrike" u="none">
                <a:solidFill>
                  <a:srgbClr val="1e40af"/>
                </a:solidFill>
                <a:effectLst/>
                <a:uFillTx/>
                <a:latin typeface="NotoSansJP"/>
                <a:ea typeface="NotoSansJP"/>
              </a:rPr>
              <a:t>本研究の成果</a:t>
            </a:r>
            <a:endParaRPr b="0" lang="en-US" sz="1050" strike="noStrike" u="none">
              <a:solidFill>
                <a:srgbClr val="000000"/>
              </a:solidFill>
              <a:effectLst/>
              <a:uFillTx/>
              <a:latin typeface="Times New Roman"/>
            </a:endParaRPr>
          </a:p>
        </p:txBody>
      </p:sp>
      <p:sp>
        <p:nvSpPr>
          <p:cNvPr id="754" name=""/>
          <p:cNvSpPr txBox="1"/>
          <p:nvPr/>
        </p:nvSpPr>
        <p:spPr>
          <a:xfrm>
            <a:off x="4821840" y="5582520"/>
            <a:ext cx="105696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電子的な指向性制御</a:t>
            </a:r>
            <a:endParaRPr b="0" lang="en-US" sz="920" strike="noStrike" u="none">
              <a:solidFill>
                <a:srgbClr val="000000"/>
              </a:solidFill>
              <a:effectLst/>
              <a:uFillTx/>
              <a:latin typeface="Times New Roman"/>
            </a:endParaRPr>
          </a:p>
        </p:txBody>
      </p:sp>
      <p:sp>
        <p:nvSpPr>
          <p:cNvPr id="755" name=""/>
          <p:cNvSpPr/>
          <p:nvPr/>
        </p:nvSpPr>
        <p:spPr>
          <a:xfrm>
            <a:off x="7111440" y="4880160"/>
            <a:ext cx="3251160" cy="1136880"/>
          </a:xfrm>
          <a:custGeom>
            <a:avLst/>
            <a:gdLst/>
            <a:ahLst/>
            <a:rect l="0" t="0" r="r" b="b"/>
            <a:pathLst>
              <a:path w="9031" h="3158">
                <a:moveTo>
                  <a:pt x="0" y="2972"/>
                </a:moveTo>
                <a:lnTo>
                  <a:pt x="0" y="186"/>
                </a:lnTo>
                <a:cubicBezTo>
                  <a:pt x="0" y="173"/>
                  <a:pt x="1" y="161"/>
                  <a:pt x="3" y="149"/>
                </a:cubicBezTo>
                <a:cubicBezTo>
                  <a:pt x="6" y="137"/>
                  <a:pt x="9" y="126"/>
                  <a:pt x="14" y="115"/>
                </a:cubicBezTo>
                <a:cubicBezTo>
                  <a:pt x="19" y="103"/>
                  <a:pt x="24" y="93"/>
                  <a:pt x="31" y="82"/>
                </a:cubicBezTo>
                <a:cubicBezTo>
                  <a:pt x="38" y="72"/>
                  <a:pt x="46" y="63"/>
                  <a:pt x="54" y="54"/>
                </a:cubicBezTo>
                <a:cubicBezTo>
                  <a:pt x="63" y="46"/>
                  <a:pt x="72" y="38"/>
                  <a:pt x="82" y="31"/>
                </a:cubicBezTo>
                <a:cubicBezTo>
                  <a:pt x="92" y="24"/>
                  <a:pt x="103" y="19"/>
                  <a:pt x="114" y="14"/>
                </a:cubicBezTo>
                <a:cubicBezTo>
                  <a:pt x="126" y="9"/>
                  <a:pt x="137" y="6"/>
                  <a:pt x="149" y="3"/>
                </a:cubicBezTo>
                <a:cubicBezTo>
                  <a:pt x="161" y="1"/>
                  <a:pt x="173" y="0"/>
                  <a:pt x="186" y="0"/>
                </a:cubicBezTo>
                <a:lnTo>
                  <a:pt x="8845" y="0"/>
                </a:lnTo>
                <a:cubicBezTo>
                  <a:pt x="8857" y="0"/>
                  <a:pt x="8869" y="1"/>
                  <a:pt x="8881" y="3"/>
                </a:cubicBezTo>
                <a:cubicBezTo>
                  <a:pt x="8893" y="6"/>
                  <a:pt x="8905" y="9"/>
                  <a:pt x="8916" y="14"/>
                </a:cubicBezTo>
                <a:cubicBezTo>
                  <a:pt x="8927" y="19"/>
                  <a:pt x="8938" y="24"/>
                  <a:pt x="8948" y="31"/>
                </a:cubicBezTo>
                <a:cubicBezTo>
                  <a:pt x="8958" y="38"/>
                  <a:pt x="8968" y="46"/>
                  <a:pt x="8976" y="54"/>
                </a:cubicBezTo>
                <a:cubicBezTo>
                  <a:pt x="8985" y="63"/>
                  <a:pt x="8993" y="72"/>
                  <a:pt x="8999" y="82"/>
                </a:cubicBezTo>
                <a:cubicBezTo>
                  <a:pt x="9006" y="93"/>
                  <a:pt x="9012" y="103"/>
                  <a:pt x="9017" y="115"/>
                </a:cubicBezTo>
                <a:cubicBezTo>
                  <a:pt x="9021" y="126"/>
                  <a:pt x="9025" y="137"/>
                  <a:pt x="9027" y="149"/>
                </a:cubicBezTo>
                <a:cubicBezTo>
                  <a:pt x="9029" y="161"/>
                  <a:pt x="9031" y="173"/>
                  <a:pt x="9031" y="186"/>
                </a:cubicBezTo>
                <a:lnTo>
                  <a:pt x="9031" y="2972"/>
                </a:lnTo>
                <a:cubicBezTo>
                  <a:pt x="9031" y="2984"/>
                  <a:pt x="9029" y="2996"/>
                  <a:pt x="9027" y="3008"/>
                </a:cubicBezTo>
                <a:cubicBezTo>
                  <a:pt x="9025" y="3020"/>
                  <a:pt x="9021" y="3032"/>
                  <a:pt x="9017" y="3043"/>
                </a:cubicBezTo>
                <a:cubicBezTo>
                  <a:pt x="9012" y="3055"/>
                  <a:pt x="9006" y="3065"/>
                  <a:pt x="8999" y="3075"/>
                </a:cubicBezTo>
                <a:cubicBezTo>
                  <a:pt x="8993" y="3086"/>
                  <a:pt x="8985" y="3095"/>
                  <a:pt x="8976" y="3104"/>
                </a:cubicBezTo>
                <a:cubicBezTo>
                  <a:pt x="8968" y="3112"/>
                  <a:pt x="8958" y="3120"/>
                  <a:pt x="8948" y="3127"/>
                </a:cubicBezTo>
                <a:cubicBezTo>
                  <a:pt x="8938" y="3133"/>
                  <a:pt x="8927" y="3139"/>
                  <a:pt x="8916" y="3144"/>
                </a:cubicBezTo>
                <a:cubicBezTo>
                  <a:pt x="8905" y="3148"/>
                  <a:pt x="8893" y="3152"/>
                  <a:pt x="8881" y="3154"/>
                </a:cubicBezTo>
                <a:cubicBezTo>
                  <a:pt x="8869" y="3157"/>
                  <a:pt x="8857" y="3158"/>
                  <a:pt x="8845" y="3158"/>
                </a:cubicBezTo>
                <a:lnTo>
                  <a:pt x="186" y="3158"/>
                </a:lnTo>
                <a:cubicBezTo>
                  <a:pt x="173" y="3158"/>
                  <a:pt x="161" y="3157"/>
                  <a:pt x="149" y="3154"/>
                </a:cubicBezTo>
                <a:cubicBezTo>
                  <a:pt x="137" y="3152"/>
                  <a:pt x="126" y="3148"/>
                  <a:pt x="114" y="3144"/>
                </a:cubicBezTo>
                <a:cubicBezTo>
                  <a:pt x="103" y="3139"/>
                  <a:pt x="92" y="3133"/>
                  <a:pt x="82" y="3127"/>
                </a:cubicBezTo>
                <a:cubicBezTo>
                  <a:pt x="72" y="3120"/>
                  <a:pt x="63" y="3112"/>
                  <a:pt x="54" y="3104"/>
                </a:cubicBezTo>
                <a:cubicBezTo>
                  <a:pt x="46" y="3095"/>
                  <a:pt x="38" y="3086"/>
                  <a:pt x="31" y="3075"/>
                </a:cubicBezTo>
                <a:cubicBezTo>
                  <a:pt x="24" y="3065"/>
                  <a:pt x="19" y="3055"/>
                  <a:pt x="14" y="3043"/>
                </a:cubicBezTo>
                <a:cubicBezTo>
                  <a:pt x="9" y="3032"/>
                  <a:pt x="6" y="3020"/>
                  <a:pt x="3" y="3008"/>
                </a:cubicBezTo>
                <a:cubicBezTo>
                  <a:pt x="1" y="2996"/>
                  <a:pt x="0" y="2984"/>
                  <a:pt x="0" y="2972"/>
                </a:cubicBezTo>
                <a:close/>
              </a:path>
            </a:pathLst>
          </a:custGeom>
          <a:solidFill>
            <a:srgbClr val="fff7ed"/>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56" name="" descr=""/>
          <p:cNvPicPr/>
          <p:nvPr/>
        </p:nvPicPr>
        <p:blipFill>
          <a:blip r:embed="rId13"/>
          <a:stretch/>
        </p:blipFill>
        <p:spPr>
          <a:xfrm>
            <a:off x="8607240" y="5005800"/>
            <a:ext cx="250200" cy="250200"/>
          </a:xfrm>
          <a:prstGeom prst="rect">
            <a:avLst/>
          </a:prstGeom>
          <a:noFill/>
          <a:ln w="0">
            <a:noFill/>
          </a:ln>
        </p:spPr>
      </p:pic>
      <p:sp>
        <p:nvSpPr>
          <p:cNvPr id="757" name=""/>
          <p:cNvSpPr txBox="1"/>
          <p:nvPr/>
        </p:nvSpPr>
        <p:spPr>
          <a:xfrm>
            <a:off x="4704840" y="5749560"/>
            <a:ext cx="129168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理論モデルの確立と検証</a:t>
            </a:r>
            <a:endParaRPr b="0" lang="en-US" sz="920" strike="noStrike" u="none">
              <a:solidFill>
                <a:srgbClr val="000000"/>
              </a:solidFill>
              <a:effectLst/>
              <a:uFillTx/>
              <a:latin typeface="Times New Roman"/>
            </a:endParaRPr>
          </a:p>
        </p:txBody>
      </p:sp>
      <p:sp>
        <p:nvSpPr>
          <p:cNvPr id="758" name=""/>
          <p:cNvSpPr txBox="1"/>
          <p:nvPr/>
        </p:nvSpPr>
        <p:spPr>
          <a:xfrm>
            <a:off x="8401320" y="5357880"/>
            <a:ext cx="671400" cy="194040"/>
          </a:xfrm>
          <a:prstGeom prst="rect">
            <a:avLst/>
          </a:prstGeom>
          <a:noFill/>
          <a:ln w="0">
            <a:noFill/>
          </a:ln>
        </p:spPr>
        <p:txBody>
          <a:bodyPr wrap="none" lIns="0" rIns="0" tIns="0" bIns="0" anchor="t">
            <a:spAutoFit/>
          </a:bodyPr>
          <a:p>
            <a:r>
              <a:rPr b="0" lang="zh-CN" sz="1050" strike="noStrike" u="none">
                <a:solidFill>
                  <a:srgbClr val="f54a00"/>
                </a:solidFill>
                <a:effectLst/>
                <a:uFillTx/>
                <a:latin typeface="NotoSansJP"/>
                <a:ea typeface="NotoSansJP"/>
              </a:rPr>
              <a:t>将来の展望</a:t>
            </a:r>
            <a:endParaRPr b="0" lang="en-US" sz="1050" strike="noStrike" u="none">
              <a:solidFill>
                <a:srgbClr val="000000"/>
              </a:solidFill>
              <a:effectLst/>
              <a:uFillTx/>
              <a:latin typeface="Times New Roman"/>
            </a:endParaRPr>
          </a:p>
        </p:txBody>
      </p:sp>
      <p:sp>
        <p:nvSpPr>
          <p:cNvPr id="759" name=""/>
          <p:cNvSpPr txBox="1"/>
          <p:nvPr/>
        </p:nvSpPr>
        <p:spPr>
          <a:xfrm>
            <a:off x="7858080" y="5582520"/>
            <a:ext cx="176112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パラメトリックスピーカへの応用</a:t>
            </a:r>
            <a:endParaRPr b="0" lang="en-US" sz="920" strike="noStrike" u="none">
              <a:solidFill>
                <a:srgbClr val="000000"/>
              </a:solidFill>
              <a:effectLst/>
              <a:uFillTx/>
              <a:latin typeface="Times New Roman"/>
            </a:endParaRPr>
          </a:p>
        </p:txBody>
      </p:sp>
      <p:sp>
        <p:nvSpPr>
          <p:cNvPr id="760" name=""/>
          <p:cNvSpPr txBox="1"/>
          <p:nvPr/>
        </p:nvSpPr>
        <p:spPr>
          <a:xfrm>
            <a:off x="7975080" y="5749560"/>
            <a:ext cx="1526400" cy="169560"/>
          </a:xfrm>
          <a:prstGeom prst="rect">
            <a:avLst/>
          </a:prstGeom>
          <a:noFill/>
          <a:ln w="0">
            <a:noFill/>
          </a:ln>
        </p:spPr>
        <p:txBody>
          <a:bodyPr wrap="none" lIns="0" rIns="0" tIns="0" bIns="0" anchor="t">
            <a:spAutoFit/>
          </a:bodyPr>
          <a:p>
            <a:r>
              <a:rPr b="0" lang="zh-CN" sz="920" strike="noStrike" u="none">
                <a:solidFill>
                  <a:srgbClr val="000000"/>
                </a:solidFill>
                <a:effectLst/>
                <a:uFillTx/>
                <a:latin typeface="NotoSansJP"/>
                <a:ea typeface="NotoSansJP"/>
              </a:rPr>
              <a:t>複数チャネル同時発信の実現</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
          <p:cNvSpPr/>
          <p:nvPr/>
        </p:nvSpPr>
        <p:spPr>
          <a:xfrm>
            <a:off x="0" y="0"/>
            <a:ext cx="10696680" cy="6284520"/>
          </a:xfrm>
          <a:custGeom>
            <a:avLst/>
            <a:gdLst/>
            <a:ahLst/>
            <a:rect l="0" t="0" r="r" b="b"/>
            <a:pathLst>
              <a:path w="29713" h="17457">
                <a:moveTo>
                  <a:pt x="0" y="0"/>
                </a:moveTo>
                <a:lnTo>
                  <a:pt x="29713" y="0"/>
                </a:lnTo>
                <a:lnTo>
                  <a:pt x="29713" y="17457"/>
                </a:lnTo>
                <a:lnTo>
                  <a:pt x="0" y="17457"/>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62" name="" descr=""/>
          <p:cNvPicPr/>
          <p:nvPr/>
        </p:nvPicPr>
        <p:blipFill>
          <a:blip r:embed="rId1"/>
          <a:stretch/>
        </p:blipFill>
        <p:spPr>
          <a:xfrm>
            <a:off x="0" y="0"/>
            <a:ext cx="10696320" cy="668160"/>
          </a:xfrm>
          <a:prstGeom prst="rect">
            <a:avLst/>
          </a:prstGeom>
          <a:noFill/>
          <a:ln w="0">
            <a:noFill/>
          </a:ln>
        </p:spPr>
      </p:pic>
      <p:sp>
        <p:nvSpPr>
          <p:cNvPr id="763" name=""/>
          <p:cNvSpPr/>
          <p:nvPr/>
        </p:nvSpPr>
        <p:spPr>
          <a:xfrm>
            <a:off x="417600" y="1938600"/>
            <a:ext cx="9861480" cy="16920"/>
          </a:xfrm>
          <a:custGeom>
            <a:avLst/>
            <a:gdLst/>
            <a:ahLst/>
            <a:rect l="0" t="0" r="r" b="b"/>
            <a:pathLst>
              <a:path w="27393" h="47">
                <a:moveTo>
                  <a:pt x="0" y="0"/>
                </a:moveTo>
                <a:lnTo>
                  <a:pt x="27393" y="0"/>
                </a:lnTo>
                <a:lnTo>
                  <a:pt x="27393" y="47"/>
                </a:lnTo>
                <a:lnTo>
                  <a:pt x="0" y="47"/>
                </a:lnTo>
                <a:lnTo>
                  <a:pt x="0" y="0"/>
                </a:lnTo>
                <a:close/>
              </a:path>
            </a:pathLst>
          </a:custGeom>
          <a:solidFill>
            <a:srgbClr val="c0c0c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4" name=""/>
          <p:cNvSpPr/>
          <p:nvPr/>
        </p:nvSpPr>
        <p:spPr>
          <a:xfrm>
            <a:off x="417600" y="3727080"/>
            <a:ext cx="9861480" cy="16920"/>
          </a:xfrm>
          <a:custGeom>
            <a:avLst/>
            <a:gdLst/>
            <a:ahLst/>
            <a:rect l="0" t="0" r="r" b="b"/>
            <a:pathLst>
              <a:path w="27393" h="47">
                <a:moveTo>
                  <a:pt x="0" y="0"/>
                </a:moveTo>
                <a:lnTo>
                  <a:pt x="27393" y="0"/>
                </a:lnTo>
                <a:lnTo>
                  <a:pt x="27393" y="47"/>
                </a:lnTo>
                <a:lnTo>
                  <a:pt x="0" y="47"/>
                </a:lnTo>
                <a:lnTo>
                  <a:pt x="0" y="0"/>
                </a:lnTo>
                <a:close/>
              </a:path>
            </a:pathLst>
          </a:custGeom>
          <a:solidFill>
            <a:srgbClr val="c0c0c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5" name=""/>
          <p:cNvSpPr/>
          <p:nvPr/>
        </p:nvSpPr>
        <p:spPr>
          <a:xfrm>
            <a:off x="417600" y="919080"/>
            <a:ext cx="267840" cy="267840"/>
          </a:xfrm>
          <a:custGeom>
            <a:avLst/>
            <a:gdLst/>
            <a:ahLst/>
            <a:rect l="0" t="0" r="r" b="b"/>
            <a:pathLst>
              <a:path w="744" h="744">
                <a:moveTo>
                  <a:pt x="744" y="372"/>
                </a:moveTo>
                <a:cubicBezTo>
                  <a:pt x="744" y="397"/>
                  <a:pt x="742" y="421"/>
                  <a:pt x="737" y="445"/>
                </a:cubicBezTo>
                <a:cubicBezTo>
                  <a:pt x="732" y="469"/>
                  <a:pt x="725" y="492"/>
                  <a:pt x="716" y="514"/>
                </a:cubicBezTo>
                <a:cubicBezTo>
                  <a:pt x="706" y="537"/>
                  <a:pt x="694" y="558"/>
                  <a:pt x="680" y="579"/>
                </a:cubicBezTo>
                <a:cubicBezTo>
                  <a:pt x="667" y="599"/>
                  <a:pt x="651" y="618"/>
                  <a:pt x="634" y="635"/>
                </a:cubicBezTo>
                <a:cubicBezTo>
                  <a:pt x="617" y="652"/>
                  <a:pt x="598" y="668"/>
                  <a:pt x="578" y="681"/>
                </a:cubicBezTo>
                <a:cubicBezTo>
                  <a:pt x="558" y="695"/>
                  <a:pt x="536" y="706"/>
                  <a:pt x="514" y="715"/>
                </a:cubicBezTo>
                <a:cubicBezTo>
                  <a:pt x="491" y="725"/>
                  <a:pt x="468" y="732"/>
                  <a:pt x="444" y="737"/>
                </a:cubicBezTo>
                <a:cubicBezTo>
                  <a:pt x="420" y="741"/>
                  <a:pt x="396" y="744"/>
                  <a:pt x="372" y="744"/>
                </a:cubicBezTo>
                <a:cubicBezTo>
                  <a:pt x="347" y="744"/>
                  <a:pt x="323" y="741"/>
                  <a:pt x="299" y="737"/>
                </a:cubicBezTo>
                <a:cubicBezTo>
                  <a:pt x="275" y="732"/>
                  <a:pt x="252" y="725"/>
                  <a:pt x="229" y="715"/>
                </a:cubicBezTo>
                <a:cubicBezTo>
                  <a:pt x="207" y="706"/>
                  <a:pt x="185" y="695"/>
                  <a:pt x="165" y="681"/>
                </a:cubicBezTo>
                <a:cubicBezTo>
                  <a:pt x="145" y="668"/>
                  <a:pt x="126" y="652"/>
                  <a:pt x="109" y="635"/>
                </a:cubicBezTo>
                <a:cubicBezTo>
                  <a:pt x="92" y="618"/>
                  <a:pt x="76" y="599"/>
                  <a:pt x="63" y="579"/>
                </a:cubicBezTo>
                <a:cubicBezTo>
                  <a:pt x="49" y="558"/>
                  <a:pt x="38" y="537"/>
                  <a:pt x="28" y="514"/>
                </a:cubicBezTo>
                <a:cubicBezTo>
                  <a:pt x="19" y="492"/>
                  <a:pt x="12" y="469"/>
                  <a:pt x="7" y="445"/>
                </a:cubicBezTo>
                <a:cubicBezTo>
                  <a:pt x="3" y="421"/>
                  <a:pt x="0" y="397"/>
                  <a:pt x="0" y="372"/>
                </a:cubicBezTo>
                <a:cubicBezTo>
                  <a:pt x="0" y="348"/>
                  <a:pt x="3" y="324"/>
                  <a:pt x="7" y="300"/>
                </a:cubicBezTo>
                <a:cubicBezTo>
                  <a:pt x="12" y="276"/>
                  <a:pt x="19" y="253"/>
                  <a:pt x="28" y="230"/>
                </a:cubicBezTo>
                <a:cubicBezTo>
                  <a:pt x="38" y="208"/>
                  <a:pt x="49" y="186"/>
                  <a:pt x="63" y="166"/>
                </a:cubicBezTo>
                <a:cubicBezTo>
                  <a:pt x="76" y="146"/>
                  <a:pt x="92" y="127"/>
                  <a:pt x="109" y="110"/>
                </a:cubicBezTo>
                <a:cubicBezTo>
                  <a:pt x="126" y="92"/>
                  <a:pt x="145" y="77"/>
                  <a:pt x="165" y="64"/>
                </a:cubicBezTo>
                <a:cubicBezTo>
                  <a:pt x="185" y="50"/>
                  <a:pt x="207" y="38"/>
                  <a:pt x="229" y="28"/>
                </a:cubicBezTo>
                <a:cubicBezTo>
                  <a:pt x="252" y="19"/>
                  <a:pt x="275" y="12"/>
                  <a:pt x="299" y="7"/>
                </a:cubicBezTo>
                <a:cubicBezTo>
                  <a:pt x="323" y="2"/>
                  <a:pt x="347" y="0"/>
                  <a:pt x="372" y="0"/>
                </a:cubicBezTo>
                <a:cubicBezTo>
                  <a:pt x="396" y="0"/>
                  <a:pt x="420" y="2"/>
                  <a:pt x="444" y="7"/>
                </a:cubicBezTo>
                <a:cubicBezTo>
                  <a:pt x="468" y="12"/>
                  <a:pt x="491" y="19"/>
                  <a:pt x="514" y="28"/>
                </a:cubicBezTo>
                <a:cubicBezTo>
                  <a:pt x="536" y="38"/>
                  <a:pt x="558" y="50"/>
                  <a:pt x="578" y="64"/>
                </a:cubicBezTo>
                <a:cubicBezTo>
                  <a:pt x="598" y="77"/>
                  <a:pt x="617" y="92"/>
                  <a:pt x="634" y="110"/>
                </a:cubicBezTo>
                <a:cubicBezTo>
                  <a:pt x="651" y="127"/>
                  <a:pt x="667" y="146"/>
                  <a:pt x="680" y="166"/>
                </a:cubicBezTo>
                <a:cubicBezTo>
                  <a:pt x="694" y="186"/>
                  <a:pt x="706" y="208"/>
                  <a:pt x="716" y="230"/>
                </a:cubicBezTo>
                <a:cubicBezTo>
                  <a:pt x="725" y="253"/>
                  <a:pt x="732" y="276"/>
                  <a:pt x="737" y="300"/>
                </a:cubicBezTo>
                <a:cubicBezTo>
                  <a:pt x="742" y="324"/>
                  <a:pt x="744" y="348"/>
                  <a:pt x="744" y="372"/>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66" name="" descr=""/>
          <p:cNvPicPr/>
          <p:nvPr/>
        </p:nvPicPr>
        <p:blipFill>
          <a:blip r:embed="rId2"/>
          <a:stretch/>
        </p:blipFill>
        <p:spPr>
          <a:xfrm>
            <a:off x="493200" y="994320"/>
            <a:ext cx="116640" cy="116640"/>
          </a:xfrm>
          <a:prstGeom prst="rect">
            <a:avLst/>
          </a:prstGeom>
          <a:noFill/>
          <a:ln w="0">
            <a:noFill/>
          </a:ln>
        </p:spPr>
      </p:pic>
      <p:sp>
        <p:nvSpPr>
          <p:cNvPr id="767" name=""/>
          <p:cNvSpPr txBox="1"/>
          <p:nvPr/>
        </p:nvSpPr>
        <p:spPr>
          <a:xfrm>
            <a:off x="334440" y="210240"/>
            <a:ext cx="1006560" cy="364680"/>
          </a:xfrm>
          <a:prstGeom prst="rect">
            <a:avLst/>
          </a:prstGeom>
          <a:noFill/>
          <a:ln w="0">
            <a:noFill/>
          </a:ln>
        </p:spPr>
        <p:txBody>
          <a:bodyPr wrap="none" lIns="0" rIns="0" tIns="0" bIns="0" anchor="t">
            <a:spAutoFit/>
          </a:bodyPr>
          <a:p>
            <a:r>
              <a:rPr b="0" lang="zh-CN" sz="1979" strike="noStrike" u="none">
                <a:solidFill>
                  <a:srgbClr val="ffffff"/>
                </a:solidFill>
                <a:effectLst/>
                <a:uFillTx/>
                <a:latin typeface="NotoSansJP"/>
                <a:ea typeface="NotoSansJP"/>
              </a:rPr>
              <a:t>参考文献</a:t>
            </a:r>
            <a:endParaRPr b="0" lang="en-US" sz="1979" strike="noStrike" u="none">
              <a:solidFill>
                <a:srgbClr val="000000"/>
              </a:solidFill>
              <a:effectLst/>
              <a:uFillTx/>
              <a:latin typeface="Times New Roman"/>
            </a:endParaRPr>
          </a:p>
        </p:txBody>
      </p:sp>
      <p:sp>
        <p:nvSpPr>
          <p:cNvPr id="768" name=""/>
          <p:cNvSpPr txBox="1"/>
          <p:nvPr/>
        </p:nvSpPr>
        <p:spPr>
          <a:xfrm>
            <a:off x="785520" y="964800"/>
            <a:ext cx="117432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音響レンズ関連</a:t>
            </a:r>
            <a:endParaRPr b="0" lang="en-US" sz="1320" strike="noStrike" u="none">
              <a:solidFill>
                <a:srgbClr val="000000"/>
              </a:solidFill>
              <a:effectLst/>
              <a:uFillTx/>
              <a:latin typeface="Times New Roman"/>
            </a:endParaRPr>
          </a:p>
        </p:txBody>
      </p:sp>
      <p:pic>
        <p:nvPicPr>
          <p:cNvPr id="769" name="" descr=""/>
          <p:cNvPicPr/>
          <p:nvPr/>
        </p:nvPicPr>
        <p:blipFill>
          <a:blip r:embed="rId3"/>
          <a:stretch/>
        </p:blipFill>
        <p:spPr>
          <a:xfrm>
            <a:off x="760320" y="1328760"/>
            <a:ext cx="133200" cy="133200"/>
          </a:xfrm>
          <a:prstGeom prst="rect">
            <a:avLst/>
          </a:prstGeom>
          <a:noFill/>
          <a:ln w="0">
            <a:noFill/>
          </a:ln>
        </p:spPr>
      </p:pic>
      <p:sp>
        <p:nvSpPr>
          <p:cNvPr id="770" name=""/>
          <p:cNvSpPr txBox="1"/>
          <p:nvPr/>
        </p:nvSpPr>
        <p:spPr>
          <a:xfrm>
            <a:off x="451440" y="132156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[1]</a:t>
            </a:r>
            <a:endParaRPr b="0" lang="en-US" sz="1050" strike="noStrike" u="none">
              <a:solidFill>
                <a:srgbClr val="000000"/>
              </a:solidFill>
              <a:effectLst/>
              <a:uFillTx/>
              <a:latin typeface="Times New Roman"/>
            </a:endParaRPr>
          </a:p>
        </p:txBody>
      </p:sp>
      <p:sp>
        <p:nvSpPr>
          <p:cNvPr id="771" name=""/>
          <p:cNvSpPr txBox="1"/>
          <p:nvPr/>
        </p:nvSpPr>
        <p:spPr>
          <a:xfrm>
            <a:off x="1053000" y="1323000"/>
            <a:ext cx="18752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東陽テクニカ </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音響レンズ</a:t>
            </a:r>
            <a:endParaRPr b="0" lang="en-US" sz="1180" strike="noStrike" u="none">
              <a:solidFill>
                <a:srgbClr val="000000"/>
              </a:solidFill>
              <a:effectLst/>
              <a:uFillTx/>
              <a:latin typeface="Times New Roman"/>
            </a:endParaRPr>
          </a:p>
        </p:txBody>
      </p:sp>
      <p:sp>
        <p:nvSpPr>
          <p:cNvPr id="772" name=""/>
          <p:cNvSpPr/>
          <p:nvPr/>
        </p:nvSpPr>
        <p:spPr>
          <a:xfrm>
            <a:off x="417600" y="2122560"/>
            <a:ext cx="267840" cy="267480"/>
          </a:xfrm>
          <a:custGeom>
            <a:avLst/>
            <a:gdLst/>
            <a:ahLst/>
            <a:rect l="0" t="0" r="r" b="b"/>
            <a:pathLst>
              <a:path w="744" h="743">
                <a:moveTo>
                  <a:pt x="744" y="371"/>
                </a:moveTo>
                <a:cubicBezTo>
                  <a:pt x="744" y="395"/>
                  <a:pt x="742" y="421"/>
                  <a:pt x="737" y="444"/>
                </a:cubicBezTo>
                <a:cubicBezTo>
                  <a:pt x="732" y="468"/>
                  <a:pt x="725" y="492"/>
                  <a:pt x="716" y="514"/>
                </a:cubicBezTo>
                <a:cubicBezTo>
                  <a:pt x="706" y="537"/>
                  <a:pt x="694" y="558"/>
                  <a:pt x="680" y="578"/>
                </a:cubicBezTo>
                <a:cubicBezTo>
                  <a:pt x="667" y="599"/>
                  <a:pt x="651" y="617"/>
                  <a:pt x="634" y="635"/>
                </a:cubicBezTo>
                <a:cubicBezTo>
                  <a:pt x="617" y="652"/>
                  <a:pt x="598" y="667"/>
                  <a:pt x="578" y="681"/>
                </a:cubicBezTo>
                <a:cubicBezTo>
                  <a:pt x="558" y="694"/>
                  <a:pt x="536" y="706"/>
                  <a:pt x="514" y="715"/>
                </a:cubicBezTo>
                <a:cubicBezTo>
                  <a:pt x="491" y="724"/>
                  <a:pt x="468" y="732"/>
                  <a:pt x="444" y="736"/>
                </a:cubicBezTo>
                <a:cubicBezTo>
                  <a:pt x="420" y="741"/>
                  <a:pt x="396" y="743"/>
                  <a:pt x="372" y="743"/>
                </a:cubicBezTo>
                <a:cubicBezTo>
                  <a:pt x="347" y="743"/>
                  <a:pt x="323" y="741"/>
                  <a:pt x="299" y="736"/>
                </a:cubicBezTo>
                <a:cubicBezTo>
                  <a:pt x="275" y="732"/>
                  <a:pt x="252" y="724"/>
                  <a:pt x="229" y="715"/>
                </a:cubicBezTo>
                <a:cubicBezTo>
                  <a:pt x="207" y="706"/>
                  <a:pt x="185" y="694"/>
                  <a:pt x="165" y="681"/>
                </a:cubicBezTo>
                <a:cubicBezTo>
                  <a:pt x="145" y="667"/>
                  <a:pt x="126" y="652"/>
                  <a:pt x="109" y="635"/>
                </a:cubicBezTo>
                <a:cubicBezTo>
                  <a:pt x="92" y="617"/>
                  <a:pt x="76" y="599"/>
                  <a:pt x="63" y="578"/>
                </a:cubicBezTo>
                <a:cubicBezTo>
                  <a:pt x="49" y="558"/>
                  <a:pt x="38" y="537"/>
                  <a:pt x="28" y="514"/>
                </a:cubicBezTo>
                <a:cubicBezTo>
                  <a:pt x="19" y="492"/>
                  <a:pt x="12" y="468"/>
                  <a:pt x="7" y="444"/>
                </a:cubicBezTo>
                <a:cubicBezTo>
                  <a:pt x="3" y="421"/>
                  <a:pt x="0" y="395"/>
                  <a:pt x="0" y="371"/>
                </a:cubicBezTo>
                <a:cubicBezTo>
                  <a:pt x="0" y="347"/>
                  <a:pt x="3" y="322"/>
                  <a:pt x="7" y="299"/>
                </a:cubicBezTo>
                <a:cubicBezTo>
                  <a:pt x="12" y="275"/>
                  <a:pt x="19" y="251"/>
                  <a:pt x="28" y="229"/>
                </a:cubicBezTo>
                <a:cubicBezTo>
                  <a:pt x="38" y="206"/>
                  <a:pt x="49" y="185"/>
                  <a:pt x="63" y="165"/>
                </a:cubicBezTo>
                <a:cubicBezTo>
                  <a:pt x="76" y="144"/>
                  <a:pt x="92" y="126"/>
                  <a:pt x="109" y="108"/>
                </a:cubicBezTo>
                <a:cubicBezTo>
                  <a:pt x="126" y="91"/>
                  <a:pt x="145" y="76"/>
                  <a:pt x="165" y="62"/>
                </a:cubicBezTo>
                <a:cubicBezTo>
                  <a:pt x="185" y="49"/>
                  <a:pt x="207" y="37"/>
                  <a:pt x="229" y="28"/>
                </a:cubicBezTo>
                <a:cubicBezTo>
                  <a:pt x="252" y="19"/>
                  <a:pt x="275" y="12"/>
                  <a:pt x="299" y="7"/>
                </a:cubicBezTo>
                <a:cubicBezTo>
                  <a:pt x="323" y="2"/>
                  <a:pt x="347" y="0"/>
                  <a:pt x="372" y="0"/>
                </a:cubicBezTo>
                <a:cubicBezTo>
                  <a:pt x="396" y="0"/>
                  <a:pt x="420" y="2"/>
                  <a:pt x="444" y="7"/>
                </a:cubicBezTo>
                <a:cubicBezTo>
                  <a:pt x="468" y="12"/>
                  <a:pt x="491" y="19"/>
                  <a:pt x="514" y="28"/>
                </a:cubicBezTo>
                <a:cubicBezTo>
                  <a:pt x="536" y="37"/>
                  <a:pt x="558" y="49"/>
                  <a:pt x="578" y="62"/>
                </a:cubicBezTo>
                <a:cubicBezTo>
                  <a:pt x="598" y="76"/>
                  <a:pt x="617" y="91"/>
                  <a:pt x="634" y="108"/>
                </a:cubicBezTo>
                <a:cubicBezTo>
                  <a:pt x="651" y="126"/>
                  <a:pt x="667" y="144"/>
                  <a:pt x="680" y="165"/>
                </a:cubicBezTo>
                <a:cubicBezTo>
                  <a:pt x="694" y="185"/>
                  <a:pt x="706" y="206"/>
                  <a:pt x="716" y="229"/>
                </a:cubicBezTo>
                <a:cubicBezTo>
                  <a:pt x="725" y="251"/>
                  <a:pt x="732" y="275"/>
                  <a:pt x="737" y="299"/>
                </a:cubicBezTo>
                <a:cubicBezTo>
                  <a:pt x="742" y="322"/>
                  <a:pt x="744" y="347"/>
                  <a:pt x="744" y="371"/>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73" name="" descr=""/>
          <p:cNvPicPr/>
          <p:nvPr/>
        </p:nvPicPr>
        <p:blipFill>
          <a:blip r:embed="rId4"/>
          <a:stretch/>
        </p:blipFill>
        <p:spPr>
          <a:xfrm>
            <a:off x="476280" y="2197800"/>
            <a:ext cx="150120" cy="116640"/>
          </a:xfrm>
          <a:prstGeom prst="rect">
            <a:avLst/>
          </a:prstGeom>
          <a:noFill/>
          <a:ln w="0">
            <a:noFill/>
          </a:ln>
        </p:spPr>
      </p:pic>
      <p:sp>
        <p:nvSpPr>
          <p:cNvPr id="774" name=""/>
          <p:cNvSpPr txBox="1"/>
          <p:nvPr/>
        </p:nvSpPr>
        <p:spPr>
          <a:xfrm>
            <a:off x="1053000" y="1548360"/>
            <a:ext cx="4789440" cy="175680"/>
          </a:xfrm>
          <a:prstGeom prst="rect">
            <a:avLst/>
          </a:prstGeom>
          <a:noFill/>
          <a:ln w="0">
            <a:noFill/>
          </a:ln>
        </p:spPr>
        <p:txBody>
          <a:bodyPr wrap="none" lIns="0" rIns="0" tIns="0" bIns="0" anchor="t">
            <a:spAutoFit/>
          </a:bodyPr>
          <a:p>
            <a:r>
              <a:rPr b="0" lang="en-US" sz="1180" strike="noStrike" u="none">
                <a:solidFill>
                  <a:srgbClr val="4b5563"/>
                </a:solidFill>
                <a:effectLst/>
                <a:uFillTx/>
                <a:latin typeface="NotoSansJP"/>
                <a:ea typeface="NotoSansJP"/>
              </a:rPr>
              <a:t>https://www.toyo.co.jp/magazine/detail/id=34104 (2025/01/29)</a:t>
            </a:r>
            <a:endParaRPr b="0" lang="en-US" sz="1180" strike="noStrike" u="none">
              <a:solidFill>
                <a:srgbClr val="000000"/>
              </a:solidFill>
              <a:effectLst/>
              <a:uFillTx/>
              <a:latin typeface="Times New Roman"/>
            </a:endParaRPr>
          </a:p>
        </p:txBody>
      </p:sp>
      <p:sp>
        <p:nvSpPr>
          <p:cNvPr id="775" name=""/>
          <p:cNvSpPr txBox="1"/>
          <p:nvPr/>
        </p:nvSpPr>
        <p:spPr>
          <a:xfrm>
            <a:off x="785520" y="2167920"/>
            <a:ext cx="218016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パラメトリックスピーカ関連</a:t>
            </a:r>
            <a:endParaRPr b="0" lang="en-US" sz="1320" strike="noStrike" u="none">
              <a:solidFill>
                <a:srgbClr val="000000"/>
              </a:solidFill>
              <a:effectLst/>
              <a:uFillTx/>
              <a:latin typeface="Times New Roman"/>
            </a:endParaRPr>
          </a:p>
        </p:txBody>
      </p:sp>
      <p:pic>
        <p:nvPicPr>
          <p:cNvPr id="776" name="" descr=""/>
          <p:cNvPicPr/>
          <p:nvPr/>
        </p:nvPicPr>
        <p:blipFill>
          <a:blip r:embed="rId5"/>
          <a:stretch/>
        </p:blipFill>
        <p:spPr>
          <a:xfrm>
            <a:off x="768960" y="2532240"/>
            <a:ext cx="116640" cy="133200"/>
          </a:xfrm>
          <a:prstGeom prst="rect">
            <a:avLst/>
          </a:prstGeom>
          <a:noFill/>
          <a:ln w="0">
            <a:noFill/>
          </a:ln>
        </p:spPr>
      </p:pic>
      <p:sp>
        <p:nvSpPr>
          <p:cNvPr id="777" name=""/>
          <p:cNvSpPr txBox="1"/>
          <p:nvPr/>
        </p:nvSpPr>
        <p:spPr>
          <a:xfrm>
            <a:off x="451440" y="252504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[2]</a:t>
            </a:r>
            <a:endParaRPr b="0" lang="en-US" sz="1050" strike="noStrike" u="none">
              <a:solidFill>
                <a:srgbClr val="000000"/>
              </a:solidFill>
              <a:effectLst/>
              <a:uFillTx/>
              <a:latin typeface="Times New Roman"/>
            </a:endParaRPr>
          </a:p>
        </p:txBody>
      </p:sp>
      <p:sp>
        <p:nvSpPr>
          <p:cNvPr id="778" name=""/>
          <p:cNvSpPr txBox="1"/>
          <p:nvPr/>
        </p:nvSpPr>
        <p:spPr>
          <a:xfrm>
            <a:off x="1053000" y="2526120"/>
            <a:ext cx="50907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鎌倉友男</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米山正秀</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池谷和夫 </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パラメトリックスピー力実用化への検討</a:t>
            </a:r>
            <a:endParaRPr b="0" lang="en-US" sz="1180" strike="noStrike" u="none">
              <a:solidFill>
                <a:srgbClr val="000000"/>
              </a:solidFill>
              <a:effectLst/>
              <a:uFillTx/>
              <a:latin typeface="Times New Roman"/>
            </a:endParaRPr>
          </a:p>
        </p:txBody>
      </p:sp>
      <p:sp>
        <p:nvSpPr>
          <p:cNvPr id="779" name=""/>
          <p:cNvSpPr txBox="1"/>
          <p:nvPr/>
        </p:nvSpPr>
        <p:spPr>
          <a:xfrm>
            <a:off x="1053000" y="2751840"/>
            <a:ext cx="3301560" cy="219960"/>
          </a:xfrm>
          <a:prstGeom prst="rect">
            <a:avLst/>
          </a:prstGeom>
          <a:noFill/>
          <a:ln w="0">
            <a:noFill/>
          </a:ln>
        </p:spPr>
        <p:txBody>
          <a:bodyPr wrap="none" lIns="0" rIns="0" tIns="0" bIns="0" anchor="t">
            <a:spAutoFit/>
          </a:bodyPr>
          <a:p>
            <a:r>
              <a:rPr b="0" lang="zh-CN" sz="1180" strike="noStrike" u="none">
                <a:solidFill>
                  <a:srgbClr val="4b5563"/>
                </a:solidFill>
                <a:effectLst/>
                <a:uFillTx/>
                <a:latin typeface="NotoSansJP"/>
                <a:ea typeface="NotoSansJP"/>
              </a:rPr>
              <a:t>日本音響学会誌</a:t>
            </a:r>
            <a:r>
              <a:rPr b="0" lang="en-US" sz="1180" strike="noStrike" u="none">
                <a:solidFill>
                  <a:srgbClr val="4b5563"/>
                </a:solidFill>
                <a:effectLst/>
                <a:uFillTx/>
                <a:latin typeface="NotoSansJP"/>
                <a:ea typeface="NotoSansJP"/>
              </a:rPr>
              <a:t>41</a:t>
            </a:r>
            <a:r>
              <a:rPr b="0" lang="zh-CN" sz="1180" strike="noStrike" u="none">
                <a:solidFill>
                  <a:srgbClr val="4b5563"/>
                </a:solidFill>
                <a:effectLst/>
                <a:uFillTx/>
                <a:latin typeface="NotoSansJP"/>
                <a:ea typeface="NotoSansJP"/>
              </a:rPr>
              <a:t>巻</a:t>
            </a:r>
            <a:r>
              <a:rPr b="0" lang="en-US" sz="1180" strike="noStrike" u="none">
                <a:solidFill>
                  <a:srgbClr val="4b5563"/>
                </a:solidFill>
                <a:effectLst/>
                <a:uFillTx/>
                <a:latin typeface="NotoSansJP"/>
                <a:ea typeface="NotoSansJP"/>
              </a:rPr>
              <a:t>6</a:t>
            </a:r>
            <a:r>
              <a:rPr b="0" lang="zh-CN" sz="1180" strike="noStrike" u="none">
                <a:solidFill>
                  <a:srgbClr val="4b5563"/>
                </a:solidFill>
                <a:effectLst/>
                <a:uFillTx/>
                <a:latin typeface="NotoSansJP"/>
                <a:ea typeface="NotoSansJP"/>
              </a:rPr>
              <a:t>号 </a:t>
            </a:r>
            <a:r>
              <a:rPr b="0" lang="en-US" sz="1180" strike="noStrike" u="none">
                <a:solidFill>
                  <a:srgbClr val="4b5563"/>
                </a:solidFill>
                <a:effectLst/>
                <a:uFillTx/>
                <a:latin typeface="NotoSansJP"/>
                <a:ea typeface="NotoSansJP"/>
              </a:rPr>
              <a:t>(1985) pp.378-385</a:t>
            </a:r>
            <a:endParaRPr b="0" lang="en-US" sz="1180" strike="noStrike" u="none">
              <a:solidFill>
                <a:srgbClr val="000000"/>
              </a:solidFill>
              <a:effectLst/>
              <a:uFillTx/>
              <a:latin typeface="Times New Roman"/>
            </a:endParaRPr>
          </a:p>
        </p:txBody>
      </p:sp>
      <p:pic>
        <p:nvPicPr>
          <p:cNvPr id="780" name="" descr=""/>
          <p:cNvPicPr/>
          <p:nvPr/>
        </p:nvPicPr>
        <p:blipFill>
          <a:blip r:embed="rId6"/>
          <a:stretch/>
        </p:blipFill>
        <p:spPr>
          <a:xfrm>
            <a:off x="777240" y="3116880"/>
            <a:ext cx="100080" cy="133200"/>
          </a:xfrm>
          <a:prstGeom prst="rect">
            <a:avLst/>
          </a:prstGeom>
          <a:noFill/>
          <a:ln w="0">
            <a:noFill/>
          </a:ln>
        </p:spPr>
      </p:pic>
      <p:sp>
        <p:nvSpPr>
          <p:cNvPr id="781" name=""/>
          <p:cNvSpPr txBox="1"/>
          <p:nvPr/>
        </p:nvSpPr>
        <p:spPr>
          <a:xfrm>
            <a:off x="451440" y="311004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[6]</a:t>
            </a:r>
            <a:endParaRPr b="0" lang="en-US" sz="1050" strike="noStrike" u="none">
              <a:solidFill>
                <a:srgbClr val="000000"/>
              </a:solidFill>
              <a:effectLst/>
              <a:uFillTx/>
              <a:latin typeface="Times New Roman"/>
            </a:endParaRPr>
          </a:p>
        </p:txBody>
      </p:sp>
      <p:sp>
        <p:nvSpPr>
          <p:cNvPr id="782" name=""/>
          <p:cNvSpPr txBox="1"/>
          <p:nvPr/>
        </p:nvSpPr>
        <p:spPr>
          <a:xfrm>
            <a:off x="1053000" y="3111120"/>
            <a:ext cx="416196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鎌倉友男</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酒井新一 </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パラメトリックスピーカの原理と応用</a:t>
            </a:r>
            <a:endParaRPr b="0" lang="en-US" sz="1180" strike="noStrike" u="none">
              <a:solidFill>
                <a:srgbClr val="000000"/>
              </a:solidFill>
              <a:effectLst/>
              <a:uFillTx/>
              <a:latin typeface="Times New Roman"/>
            </a:endParaRPr>
          </a:p>
        </p:txBody>
      </p:sp>
      <p:sp>
        <p:nvSpPr>
          <p:cNvPr id="783" name=""/>
          <p:cNvSpPr/>
          <p:nvPr/>
        </p:nvSpPr>
        <p:spPr>
          <a:xfrm>
            <a:off x="417600" y="3910680"/>
            <a:ext cx="267840" cy="267840"/>
          </a:xfrm>
          <a:custGeom>
            <a:avLst/>
            <a:gdLst/>
            <a:ahLst/>
            <a:rect l="0" t="0" r="r" b="b"/>
            <a:pathLst>
              <a:path w="744" h="744">
                <a:moveTo>
                  <a:pt x="744" y="372"/>
                </a:moveTo>
                <a:cubicBezTo>
                  <a:pt x="744" y="396"/>
                  <a:pt x="742" y="420"/>
                  <a:pt x="737" y="444"/>
                </a:cubicBezTo>
                <a:cubicBezTo>
                  <a:pt x="732" y="468"/>
                  <a:pt x="725" y="491"/>
                  <a:pt x="716" y="514"/>
                </a:cubicBezTo>
                <a:cubicBezTo>
                  <a:pt x="706" y="536"/>
                  <a:pt x="694" y="558"/>
                  <a:pt x="680" y="578"/>
                </a:cubicBezTo>
                <a:cubicBezTo>
                  <a:pt x="667" y="598"/>
                  <a:pt x="651" y="617"/>
                  <a:pt x="634" y="634"/>
                </a:cubicBezTo>
                <a:cubicBezTo>
                  <a:pt x="617" y="652"/>
                  <a:pt x="598" y="668"/>
                  <a:pt x="578" y="681"/>
                </a:cubicBezTo>
                <a:cubicBezTo>
                  <a:pt x="558" y="695"/>
                  <a:pt x="536" y="706"/>
                  <a:pt x="514" y="716"/>
                </a:cubicBezTo>
                <a:cubicBezTo>
                  <a:pt x="491" y="725"/>
                  <a:pt x="468" y="732"/>
                  <a:pt x="444" y="737"/>
                </a:cubicBezTo>
                <a:cubicBezTo>
                  <a:pt x="420" y="742"/>
                  <a:pt x="396" y="744"/>
                  <a:pt x="372" y="744"/>
                </a:cubicBezTo>
                <a:cubicBezTo>
                  <a:pt x="347" y="744"/>
                  <a:pt x="323" y="742"/>
                  <a:pt x="299" y="737"/>
                </a:cubicBezTo>
                <a:cubicBezTo>
                  <a:pt x="275" y="732"/>
                  <a:pt x="252" y="725"/>
                  <a:pt x="229" y="716"/>
                </a:cubicBezTo>
                <a:cubicBezTo>
                  <a:pt x="207" y="706"/>
                  <a:pt x="185" y="695"/>
                  <a:pt x="165" y="681"/>
                </a:cubicBezTo>
                <a:cubicBezTo>
                  <a:pt x="145" y="668"/>
                  <a:pt x="126" y="652"/>
                  <a:pt x="109" y="634"/>
                </a:cubicBezTo>
                <a:cubicBezTo>
                  <a:pt x="92" y="617"/>
                  <a:pt x="76" y="598"/>
                  <a:pt x="63" y="578"/>
                </a:cubicBezTo>
                <a:cubicBezTo>
                  <a:pt x="49" y="558"/>
                  <a:pt x="38" y="536"/>
                  <a:pt x="28" y="514"/>
                </a:cubicBezTo>
                <a:cubicBezTo>
                  <a:pt x="19" y="491"/>
                  <a:pt x="12" y="468"/>
                  <a:pt x="7" y="444"/>
                </a:cubicBezTo>
                <a:cubicBezTo>
                  <a:pt x="3" y="420"/>
                  <a:pt x="0" y="396"/>
                  <a:pt x="0" y="372"/>
                </a:cubicBezTo>
                <a:cubicBezTo>
                  <a:pt x="0" y="347"/>
                  <a:pt x="3" y="323"/>
                  <a:pt x="7" y="299"/>
                </a:cubicBezTo>
                <a:cubicBezTo>
                  <a:pt x="12" y="275"/>
                  <a:pt x="19" y="252"/>
                  <a:pt x="28" y="229"/>
                </a:cubicBezTo>
                <a:cubicBezTo>
                  <a:pt x="38" y="207"/>
                  <a:pt x="49" y="186"/>
                  <a:pt x="63" y="165"/>
                </a:cubicBezTo>
                <a:cubicBezTo>
                  <a:pt x="76" y="145"/>
                  <a:pt x="92" y="126"/>
                  <a:pt x="109" y="109"/>
                </a:cubicBezTo>
                <a:cubicBezTo>
                  <a:pt x="126" y="92"/>
                  <a:pt x="145" y="76"/>
                  <a:pt x="165" y="63"/>
                </a:cubicBezTo>
                <a:cubicBezTo>
                  <a:pt x="185" y="49"/>
                  <a:pt x="207" y="38"/>
                  <a:pt x="229" y="28"/>
                </a:cubicBezTo>
                <a:cubicBezTo>
                  <a:pt x="252" y="19"/>
                  <a:pt x="275" y="12"/>
                  <a:pt x="299" y="7"/>
                </a:cubicBezTo>
                <a:cubicBezTo>
                  <a:pt x="323" y="3"/>
                  <a:pt x="347" y="0"/>
                  <a:pt x="372" y="0"/>
                </a:cubicBezTo>
                <a:cubicBezTo>
                  <a:pt x="396" y="0"/>
                  <a:pt x="420" y="3"/>
                  <a:pt x="444" y="7"/>
                </a:cubicBezTo>
                <a:cubicBezTo>
                  <a:pt x="468" y="12"/>
                  <a:pt x="491" y="19"/>
                  <a:pt x="514" y="28"/>
                </a:cubicBezTo>
                <a:cubicBezTo>
                  <a:pt x="536" y="38"/>
                  <a:pt x="558" y="49"/>
                  <a:pt x="578" y="63"/>
                </a:cubicBezTo>
                <a:cubicBezTo>
                  <a:pt x="598" y="76"/>
                  <a:pt x="617" y="92"/>
                  <a:pt x="634" y="109"/>
                </a:cubicBezTo>
                <a:cubicBezTo>
                  <a:pt x="651" y="126"/>
                  <a:pt x="667" y="145"/>
                  <a:pt x="680" y="165"/>
                </a:cubicBezTo>
                <a:cubicBezTo>
                  <a:pt x="694" y="186"/>
                  <a:pt x="706" y="207"/>
                  <a:pt x="716" y="229"/>
                </a:cubicBezTo>
                <a:cubicBezTo>
                  <a:pt x="725" y="252"/>
                  <a:pt x="732" y="275"/>
                  <a:pt x="737" y="299"/>
                </a:cubicBezTo>
                <a:cubicBezTo>
                  <a:pt x="742" y="323"/>
                  <a:pt x="744" y="347"/>
                  <a:pt x="744" y="372"/>
                </a:cubicBezTo>
                <a:close/>
              </a:path>
            </a:pathLst>
          </a:custGeom>
          <a:solidFill>
            <a:srgbClr val="00336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84" name="" descr=""/>
          <p:cNvPicPr/>
          <p:nvPr/>
        </p:nvPicPr>
        <p:blipFill>
          <a:blip r:embed="rId7"/>
          <a:stretch/>
        </p:blipFill>
        <p:spPr>
          <a:xfrm>
            <a:off x="493200" y="3986280"/>
            <a:ext cx="116640" cy="116640"/>
          </a:xfrm>
          <a:prstGeom prst="rect">
            <a:avLst/>
          </a:prstGeom>
          <a:noFill/>
          <a:ln w="0">
            <a:noFill/>
          </a:ln>
        </p:spPr>
      </p:pic>
      <p:sp>
        <p:nvSpPr>
          <p:cNvPr id="785" name=""/>
          <p:cNvSpPr txBox="1"/>
          <p:nvPr/>
        </p:nvSpPr>
        <p:spPr>
          <a:xfrm>
            <a:off x="1053000" y="3336840"/>
            <a:ext cx="2787120" cy="219960"/>
          </a:xfrm>
          <a:prstGeom prst="rect">
            <a:avLst/>
          </a:prstGeom>
          <a:noFill/>
          <a:ln w="0">
            <a:noFill/>
          </a:ln>
        </p:spPr>
        <p:txBody>
          <a:bodyPr wrap="none" lIns="0" rIns="0" tIns="0" bIns="0" anchor="t">
            <a:spAutoFit/>
          </a:bodyPr>
          <a:p>
            <a:r>
              <a:rPr b="0" lang="zh-CN" sz="1180" strike="noStrike" u="none">
                <a:solidFill>
                  <a:srgbClr val="4b5563"/>
                </a:solidFill>
                <a:effectLst/>
                <a:uFillTx/>
                <a:latin typeface="NotoSansJP"/>
                <a:ea typeface="NotoSansJP"/>
              </a:rPr>
              <a:t>信学技報</a:t>
            </a:r>
            <a:r>
              <a:rPr b="0" lang="en-US" sz="1180" strike="noStrike" u="none">
                <a:solidFill>
                  <a:srgbClr val="4b5563"/>
                </a:solidFill>
                <a:effectLst/>
                <a:uFillTx/>
                <a:latin typeface="NotoSansJP"/>
                <a:ea typeface="NotoSansJP"/>
              </a:rPr>
              <a:t>, 105(556), pp. 25-30, 2005.</a:t>
            </a:r>
            <a:endParaRPr b="0" lang="en-US" sz="1180" strike="noStrike" u="none">
              <a:solidFill>
                <a:srgbClr val="000000"/>
              </a:solidFill>
              <a:effectLst/>
              <a:uFillTx/>
              <a:latin typeface="Times New Roman"/>
            </a:endParaRPr>
          </a:p>
        </p:txBody>
      </p:sp>
      <p:sp>
        <p:nvSpPr>
          <p:cNvPr id="786" name=""/>
          <p:cNvSpPr txBox="1"/>
          <p:nvPr/>
        </p:nvSpPr>
        <p:spPr>
          <a:xfrm>
            <a:off x="785520" y="3956400"/>
            <a:ext cx="3018240" cy="244080"/>
          </a:xfrm>
          <a:prstGeom prst="rect">
            <a:avLst/>
          </a:prstGeom>
          <a:noFill/>
          <a:ln w="0">
            <a:noFill/>
          </a:ln>
        </p:spPr>
        <p:txBody>
          <a:bodyPr wrap="none" lIns="0" rIns="0" tIns="0" bIns="0" anchor="t">
            <a:spAutoFit/>
          </a:bodyPr>
          <a:p>
            <a:r>
              <a:rPr b="0" lang="zh-CN" sz="1320" strike="noStrike" u="none">
                <a:solidFill>
                  <a:srgbClr val="003366"/>
                </a:solidFill>
                <a:effectLst/>
                <a:uFillTx/>
                <a:latin typeface="NotoSansJP"/>
                <a:ea typeface="NotoSansJP"/>
              </a:rPr>
              <a:t>超指向性音源‧オーディオスポット関連</a:t>
            </a:r>
            <a:endParaRPr b="0" lang="en-US" sz="1320" strike="noStrike" u="none">
              <a:solidFill>
                <a:srgbClr val="000000"/>
              </a:solidFill>
              <a:effectLst/>
              <a:uFillTx/>
              <a:latin typeface="Times New Roman"/>
            </a:endParaRPr>
          </a:p>
        </p:txBody>
      </p:sp>
      <p:pic>
        <p:nvPicPr>
          <p:cNvPr id="787" name="" descr=""/>
          <p:cNvPicPr/>
          <p:nvPr/>
        </p:nvPicPr>
        <p:blipFill>
          <a:blip r:embed="rId8"/>
          <a:stretch/>
        </p:blipFill>
        <p:spPr>
          <a:xfrm>
            <a:off x="768960" y="4320360"/>
            <a:ext cx="116640" cy="133200"/>
          </a:xfrm>
          <a:prstGeom prst="rect">
            <a:avLst/>
          </a:prstGeom>
          <a:noFill/>
          <a:ln w="0">
            <a:noFill/>
          </a:ln>
        </p:spPr>
      </p:pic>
      <p:sp>
        <p:nvSpPr>
          <p:cNvPr id="788" name=""/>
          <p:cNvSpPr txBox="1"/>
          <p:nvPr/>
        </p:nvSpPr>
        <p:spPr>
          <a:xfrm>
            <a:off x="451440" y="431316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[3]</a:t>
            </a:r>
            <a:endParaRPr b="0" lang="en-US" sz="1050" strike="noStrike" u="none">
              <a:solidFill>
                <a:srgbClr val="000000"/>
              </a:solidFill>
              <a:effectLst/>
              <a:uFillTx/>
              <a:latin typeface="Times New Roman"/>
            </a:endParaRPr>
          </a:p>
        </p:txBody>
      </p:sp>
      <p:sp>
        <p:nvSpPr>
          <p:cNvPr id="789" name=""/>
          <p:cNvSpPr txBox="1"/>
          <p:nvPr/>
        </p:nvSpPr>
        <p:spPr>
          <a:xfrm>
            <a:off x="1053000" y="4314600"/>
            <a:ext cx="45910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大久保寛 </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超指向性音源を用いた不可視領域の空中音響センシング</a:t>
            </a:r>
            <a:endParaRPr b="0" lang="en-US" sz="1180" strike="noStrike" u="none">
              <a:solidFill>
                <a:srgbClr val="000000"/>
              </a:solidFill>
              <a:effectLst/>
              <a:uFillTx/>
              <a:latin typeface="Times New Roman"/>
            </a:endParaRPr>
          </a:p>
        </p:txBody>
      </p:sp>
      <p:sp>
        <p:nvSpPr>
          <p:cNvPr id="790" name=""/>
          <p:cNvSpPr txBox="1"/>
          <p:nvPr/>
        </p:nvSpPr>
        <p:spPr>
          <a:xfrm>
            <a:off x="1053000" y="4540320"/>
            <a:ext cx="3370680" cy="219960"/>
          </a:xfrm>
          <a:prstGeom prst="rect">
            <a:avLst/>
          </a:prstGeom>
          <a:noFill/>
          <a:ln w="0">
            <a:noFill/>
          </a:ln>
        </p:spPr>
        <p:txBody>
          <a:bodyPr wrap="none" lIns="0" rIns="0" tIns="0" bIns="0" anchor="t">
            <a:spAutoFit/>
          </a:bodyPr>
          <a:p>
            <a:r>
              <a:rPr b="0" lang="zh-CN" sz="1180" strike="noStrike" u="none">
                <a:solidFill>
                  <a:srgbClr val="4b5563"/>
                </a:solidFill>
                <a:effectLst/>
                <a:uFillTx/>
                <a:latin typeface="NotoSansJP"/>
                <a:ea typeface="NotoSansJP"/>
              </a:rPr>
              <a:t>日本音響学会誌</a:t>
            </a:r>
            <a:r>
              <a:rPr b="0" lang="en-US" sz="1180" strike="noStrike" u="none">
                <a:solidFill>
                  <a:srgbClr val="4b5563"/>
                </a:solidFill>
                <a:effectLst/>
                <a:uFillTx/>
                <a:latin typeface="NotoSansJP"/>
                <a:ea typeface="NotoSansJP"/>
              </a:rPr>
              <a:t>76</a:t>
            </a:r>
            <a:r>
              <a:rPr b="0" lang="zh-CN" sz="1180" strike="noStrike" u="none">
                <a:solidFill>
                  <a:srgbClr val="4b5563"/>
                </a:solidFill>
                <a:effectLst/>
                <a:uFillTx/>
                <a:latin typeface="NotoSansJP"/>
                <a:ea typeface="NotoSansJP"/>
              </a:rPr>
              <a:t>巻</a:t>
            </a:r>
            <a:r>
              <a:rPr b="0" lang="en-US" sz="1180" strike="noStrike" u="none">
                <a:solidFill>
                  <a:srgbClr val="4b5563"/>
                </a:solidFill>
                <a:effectLst/>
                <a:uFillTx/>
                <a:latin typeface="NotoSansJP"/>
                <a:ea typeface="NotoSansJP"/>
              </a:rPr>
              <a:t>5</a:t>
            </a:r>
            <a:r>
              <a:rPr b="0" lang="zh-CN" sz="1180" strike="noStrike" u="none">
                <a:solidFill>
                  <a:srgbClr val="4b5563"/>
                </a:solidFill>
                <a:effectLst/>
                <a:uFillTx/>
                <a:latin typeface="NotoSansJP"/>
                <a:ea typeface="NotoSansJP"/>
              </a:rPr>
              <a:t>号 </a:t>
            </a:r>
            <a:r>
              <a:rPr b="0" lang="en-US" sz="1180" strike="noStrike" u="none">
                <a:solidFill>
                  <a:srgbClr val="4b5563"/>
                </a:solidFill>
                <a:effectLst/>
                <a:uFillTx/>
                <a:latin typeface="NotoSansJP"/>
                <a:ea typeface="NotoSansJP"/>
              </a:rPr>
              <a:t>(2020), pp.298–303</a:t>
            </a:r>
            <a:endParaRPr b="0" lang="en-US" sz="1180" strike="noStrike" u="none">
              <a:solidFill>
                <a:srgbClr val="000000"/>
              </a:solidFill>
              <a:effectLst/>
              <a:uFillTx/>
              <a:latin typeface="Times New Roman"/>
            </a:endParaRPr>
          </a:p>
        </p:txBody>
      </p:sp>
      <p:pic>
        <p:nvPicPr>
          <p:cNvPr id="791" name="" descr=""/>
          <p:cNvPicPr/>
          <p:nvPr/>
        </p:nvPicPr>
        <p:blipFill>
          <a:blip r:embed="rId9"/>
          <a:stretch/>
        </p:blipFill>
        <p:spPr>
          <a:xfrm>
            <a:off x="777240" y="4905360"/>
            <a:ext cx="100080" cy="133200"/>
          </a:xfrm>
          <a:prstGeom prst="rect">
            <a:avLst/>
          </a:prstGeom>
          <a:noFill/>
          <a:ln w="0">
            <a:noFill/>
          </a:ln>
        </p:spPr>
      </p:pic>
      <p:sp>
        <p:nvSpPr>
          <p:cNvPr id="792" name=""/>
          <p:cNvSpPr txBox="1"/>
          <p:nvPr/>
        </p:nvSpPr>
        <p:spPr>
          <a:xfrm>
            <a:off x="451440" y="489816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[4]</a:t>
            </a:r>
            <a:endParaRPr b="0" lang="en-US" sz="1050" strike="noStrike" u="none">
              <a:solidFill>
                <a:srgbClr val="000000"/>
              </a:solidFill>
              <a:effectLst/>
              <a:uFillTx/>
              <a:latin typeface="Times New Roman"/>
            </a:endParaRPr>
          </a:p>
        </p:txBody>
      </p:sp>
      <p:sp>
        <p:nvSpPr>
          <p:cNvPr id="793" name=""/>
          <p:cNvSpPr txBox="1"/>
          <p:nvPr/>
        </p:nvSpPr>
        <p:spPr>
          <a:xfrm>
            <a:off x="1053000" y="4899600"/>
            <a:ext cx="535284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西浦敬信 – 極小領域オーディオスポット</a:t>
            </a:r>
            <a:r>
              <a:rPr b="0" lang="en-US" sz="1180" strike="noStrike" u="none">
                <a:solidFill>
                  <a:srgbClr val="000000"/>
                </a:solidFill>
                <a:effectLst/>
                <a:uFillTx/>
                <a:latin typeface="NotoSansJP"/>
                <a:ea typeface="NotoSansJP"/>
              </a:rPr>
              <a:t>~</a:t>
            </a:r>
            <a:r>
              <a:rPr b="0" lang="zh-CN" sz="1180" strike="noStrike" u="none">
                <a:solidFill>
                  <a:srgbClr val="000000"/>
                </a:solidFill>
                <a:effectLst/>
                <a:uFillTx/>
                <a:latin typeface="NotoSansJP"/>
                <a:ea typeface="NotoSansJP"/>
              </a:rPr>
              <a:t>音のスポットライト化を目指して</a:t>
            </a:r>
            <a:r>
              <a:rPr b="0" lang="en-US" sz="1180" strike="noStrike" u="none">
                <a:solidFill>
                  <a:srgbClr val="000000"/>
                </a:solidFill>
                <a:effectLst/>
                <a:uFillTx/>
                <a:latin typeface="NotoSansJP"/>
                <a:ea typeface="NotoSansJP"/>
              </a:rPr>
              <a:t>~</a:t>
            </a:r>
            <a:endParaRPr b="0" lang="en-US" sz="1180" strike="noStrike" u="none">
              <a:solidFill>
                <a:srgbClr val="000000"/>
              </a:solidFill>
              <a:effectLst/>
              <a:uFillTx/>
              <a:latin typeface="Times New Roman"/>
            </a:endParaRPr>
          </a:p>
        </p:txBody>
      </p:sp>
      <p:sp>
        <p:nvSpPr>
          <p:cNvPr id="794" name=""/>
          <p:cNvSpPr txBox="1"/>
          <p:nvPr/>
        </p:nvSpPr>
        <p:spPr>
          <a:xfrm>
            <a:off x="1053000" y="5124960"/>
            <a:ext cx="5919840" cy="175680"/>
          </a:xfrm>
          <a:prstGeom prst="rect">
            <a:avLst/>
          </a:prstGeom>
          <a:noFill/>
          <a:ln w="0">
            <a:noFill/>
          </a:ln>
        </p:spPr>
        <p:txBody>
          <a:bodyPr wrap="none" lIns="0" rIns="0" tIns="0" bIns="0" anchor="t">
            <a:spAutoFit/>
          </a:bodyPr>
          <a:p>
            <a:r>
              <a:rPr b="0" lang="en-US" sz="1180" strike="noStrike" u="none">
                <a:solidFill>
                  <a:srgbClr val="4b5563"/>
                </a:solidFill>
                <a:effectLst/>
                <a:uFillTx/>
                <a:latin typeface="NotoSansJP"/>
                <a:ea typeface="NotoSansJP"/>
              </a:rPr>
              <a:t>https://www.chart.co.jp/subject/rika/scnet/53/Snet53-column.pdf (2025/01/29)</a:t>
            </a:r>
            <a:endParaRPr b="0" lang="en-US" sz="1180" strike="noStrike" u="none">
              <a:solidFill>
                <a:srgbClr val="000000"/>
              </a:solidFill>
              <a:effectLst/>
              <a:uFillTx/>
              <a:latin typeface="Times New Roman"/>
            </a:endParaRPr>
          </a:p>
        </p:txBody>
      </p:sp>
      <p:pic>
        <p:nvPicPr>
          <p:cNvPr id="795" name="" descr=""/>
          <p:cNvPicPr/>
          <p:nvPr/>
        </p:nvPicPr>
        <p:blipFill>
          <a:blip r:embed="rId10"/>
          <a:stretch/>
        </p:blipFill>
        <p:spPr>
          <a:xfrm>
            <a:off x="777240" y="5490360"/>
            <a:ext cx="100080" cy="133200"/>
          </a:xfrm>
          <a:prstGeom prst="rect">
            <a:avLst/>
          </a:prstGeom>
          <a:noFill/>
          <a:ln w="0">
            <a:noFill/>
          </a:ln>
        </p:spPr>
      </p:pic>
      <p:sp>
        <p:nvSpPr>
          <p:cNvPr id="796" name=""/>
          <p:cNvSpPr txBox="1"/>
          <p:nvPr/>
        </p:nvSpPr>
        <p:spPr>
          <a:xfrm>
            <a:off x="451440" y="5483160"/>
            <a:ext cx="190800" cy="157320"/>
          </a:xfrm>
          <a:prstGeom prst="rect">
            <a:avLst/>
          </a:prstGeom>
          <a:noFill/>
          <a:ln w="0">
            <a:noFill/>
          </a:ln>
        </p:spPr>
        <p:txBody>
          <a:bodyPr wrap="none" lIns="0" rIns="0" tIns="0" bIns="0" anchor="t">
            <a:spAutoFit/>
          </a:bodyPr>
          <a:p>
            <a:r>
              <a:rPr b="0" lang="en-US" sz="1050" strike="noStrike" u="none">
                <a:solidFill>
                  <a:srgbClr val="003366"/>
                </a:solidFill>
                <a:effectLst/>
                <a:uFillTx/>
                <a:latin typeface="NotoSansJP"/>
                <a:ea typeface="NotoSansJP"/>
              </a:rPr>
              <a:t>[5]</a:t>
            </a:r>
            <a:endParaRPr b="0" lang="en-US" sz="1050" strike="noStrike" u="none">
              <a:solidFill>
                <a:srgbClr val="000000"/>
              </a:solidFill>
              <a:effectLst/>
              <a:uFillTx/>
              <a:latin typeface="Times New Roman"/>
            </a:endParaRPr>
          </a:p>
        </p:txBody>
      </p:sp>
      <p:sp>
        <p:nvSpPr>
          <p:cNvPr id="797" name=""/>
          <p:cNvSpPr txBox="1"/>
          <p:nvPr/>
        </p:nvSpPr>
        <p:spPr>
          <a:xfrm>
            <a:off x="1053000" y="5484600"/>
            <a:ext cx="4614480" cy="219960"/>
          </a:xfrm>
          <a:prstGeom prst="rect">
            <a:avLst/>
          </a:prstGeom>
          <a:noFill/>
          <a:ln w="0">
            <a:noFill/>
          </a:ln>
        </p:spPr>
        <p:txBody>
          <a:bodyPr wrap="none" lIns="0" rIns="0" tIns="0" bIns="0" anchor="t">
            <a:spAutoFit/>
          </a:bodyPr>
          <a:p>
            <a:r>
              <a:rPr b="0" lang="zh-CN" sz="1180" strike="noStrike" u="none">
                <a:solidFill>
                  <a:srgbClr val="000000"/>
                </a:solidFill>
                <a:effectLst/>
                <a:uFillTx/>
                <a:latin typeface="NotoSansJP"/>
                <a:ea typeface="NotoSansJP"/>
              </a:rPr>
              <a:t>田中雄介</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小倉幸夫 </a:t>
            </a:r>
            <a:r>
              <a:rPr b="0" lang="en-US" sz="1180" strike="noStrike" u="none">
                <a:solidFill>
                  <a:srgbClr val="000000"/>
                </a:solidFill>
                <a:effectLst/>
                <a:uFillTx/>
                <a:latin typeface="NotoSansJP"/>
                <a:ea typeface="NotoSansJP"/>
              </a:rPr>
              <a:t>- </a:t>
            </a:r>
            <a:r>
              <a:rPr b="0" lang="zh-CN" sz="1180" strike="noStrike" u="none">
                <a:solidFill>
                  <a:srgbClr val="000000"/>
                </a:solidFill>
                <a:effectLst/>
                <a:uFillTx/>
                <a:latin typeface="NotoSansJP"/>
                <a:ea typeface="NotoSansJP"/>
              </a:rPr>
              <a:t>超音波探触子の送信と受信それぞれの指向性</a:t>
            </a:r>
            <a:endParaRPr b="0" lang="en-US" sz="1180" strike="noStrike" u="none">
              <a:solidFill>
                <a:srgbClr val="000000"/>
              </a:solidFill>
              <a:effectLst/>
              <a:uFillTx/>
              <a:latin typeface="Times New Roman"/>
            </a:endParaRPr>
          </a:p>
        </p:txBody>
      </p:sp>
      <p:pic>
        <p:nvPicPr>
          <p:cNvPr id="798" name="" descr=""/>
          <p:cNvPicPr/>
          <p:nvPr/>
        </p:nvPicPr>
        <p:blipFill>
          <a:blip r:embed="rId11"/>
          <a:stretch/>
        </p:blipFill>
        <p:spPr>
          <a:xfrm>
            <a:off x="9359640" y="5214600"/>
            <a:ext cx="1336680" cy="1069200"/>
          </a:xfrm>
          <a:prstGeom prst="rect">
            <a:avLst/>
          </a:prstGeom>
          <a:noFill/>
          <a:ln w="0">
            <a:noFill/>
          </a:ln>
        </p:spPr>
      </p:pic>
      <p:pic>
        <p:nvPicPr>
          <p:cNvPr id="799" name="" descr=""/>
          <p:cNvPicPr/>
          <p:nvPr/>
        </p:nvPicPr>
        <p:blipFill>
          <a:blip r:embed="rId12"/>
          <a:stretch/>
        </p:blipFill>
        <p:spPr>
          <a:xfrm>
            <a:off x="8540640" y="5974920"/>
            <a:ext cx="116640" cy="116640"/>
          </a:xfrm>
          <a:prstGeom prst="rect">
            <a:avLst/>
          </a:prstGeom>
          <a:noFill/>
          <a:ln w="0">
            <a:noFill/>
          </a:ln>
        </p:spPr>
      </p:pic>
      <p:sp>
        <p:nvSpPr>
          <p:cNvPr id="800" name=""/>
          <p:cNvSpPr txBox="1"/>
          <p:nvPr/>
        </p:nvSpPr>
        <p:spPr>
          <a:xfrm>
            <a:off x="1053000" y="5709960"/>
            <a:ext cx="4164840" cy="219960"/>
          </a:xfrm>
          <a:prstGeom prst="rect">
            <a:avLst/>
          </a:prstGeom>
          <a:noFill/>
          <a:ln w="0">
            <a:noFill/>
          </a:ln>
        </p:spPr>
        <p:txBody>
          <a:bodyPr wrap="none" lIns="0" rIns="0" tIns="0" bIns="0" anchor="t">
            <a:spAutoFit/>
          </a:bodyPr>
          <a:p>
            <a:r>
              <a:rPr b="0" lang="zh-CN" sz="1180" strike="noStrike" u="none">
                <a:solidFill>
                  <a:srgbClr val="4b5563"/>
                </a:solidFill>
                <a:effectLst/>
                <a:uFillTx/>
                <a:latin typeface="NotoSansJP"/>
                <a:ea typeface="NotoSansJP"/>
              </a:rPr>
              <a:t>信学技報 </a:t>
            </a:r>
            <a:r>
              <a:rPr b="0" lang="en-US" sz="1180" strike="noStrike" u="none">
                <a:solidFill>
                  <a:srgbClr val="4b5563"/>
                </a:solidFill>
                <a:effectLst/>
                <a:uFillTx/>
                <a:latin typeface="NotoSansJP"/>
                <a:ea typeface="NotoSansJP"/>
              </a:rPr>
              <a:t>IEICE Technical Report US2018-104 (2019-01)</a:t>
            </a:r>
            <a:endParaRPr b="0" lang="en-US" sz="1180" strike="noStrike" u="none">
              <a:solidFill>
                <a:srgbClr val="000000"/>
              </a:solidFill>
              <a:effectLst/>
              <a:uFillTx/>
              <a:latin typeface="Times New Roman"/>
            </a:endParaRPr>
          </a:p>
        </p:txBody>
      </p:sp>
      <p:sp>
        <p:nvSpPr>
          <p:cNvPr id="801" name=""/>
          <p:cNvSpPr txBox="1"/>
          <p:nvPr/>
        </p:nvSpPr>
        <p:spPr>
          <a:xfrm>
            <a:off x="8724240" y="5966640"/>
            <a:ext cx="1643760" cy="169560"/>
          </a:xfrm>
          <a:prstGeom prst="rect">
            <a:avLst/>
          </a:prstGeom>
          <a:noFill/>
          <a:ln w="0">
            <a:noFill/>
          </a:ln>
        </p:spPr>
        <p:txBody>
          <a:bodyPr wrap="none" lIns="0" rIns="0" tIns="0" bIns="0" anchor="t">
            <a:spAutoFit/>
          </a:bodyPr>
          <a:p>
            <a:r>
              <a:rPr b="0" lang="zh-CN" sz="920" strike="noStrike" u="none">
                <a:solidFill>
                  <a:srgbClr val="666666"/>
                </a:solidFill>
                <a:effectLst/>
                <a:uFillTx/>
                <a:latin typeface="NotoSansJP"/>
                <a:ea typeface="NotoSansJP"/>
              </a:rPr>
              <a:t>本研究に関連する主要参考文献</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