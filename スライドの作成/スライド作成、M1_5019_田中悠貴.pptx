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0704513" cy="6016625"/>
  <p:notesSz cx="7559675" cy="106918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8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page149">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page146">
    <p:spTree>
      <p:nvGrpSpPr>
        <p:cNvPr id="1" name=""/>
        <p:cNvGrpSpPr/>
        <p:nvPr/>
      </p:nvGrpSpPr>
      <p:grpSpPr>
        <a:xfrm>
          <a:off x="0" y="0"/>
          <a:ext cx="0" cy="0"/>
          <a:chOff x="0" y="0"/>
          <a:chExt cx="0" cy="0"/>
        </a:xfrm>
      </p:grpSpPr>
      <p:sp>
        <p:nvSpPr>
          <p:cNvPr id="2"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master-page141">
    <p:spTree>
      <p:nvGrpSpPr>
        <p:cNvPr id="1" name=""/>
        <p:cNvGrpSpPr/>
        <p:nvPr/>
      </p:nvGrpSpPr>
      <p:grpSpPr>
        <a:xfrm>
          <a:off x="0" y="0"/>
          <a:ext cx="0" cy="0"/>
          <a:chOff x="0" y="0"/>
          <a:chExt cx="0" cy="0"/>
        </a:xfrm>
      </p:grpSpPr>
      <p:sp>
        <p:nvSpPr>
          <p:cNvPr id="2"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master-page136">
    <p:spTree>
      <p:nvGrpSpPr>
        <p:cNvPr id="1" name=""/>
        <p:cNvGrpSpPr/>
        <p:nvPr/>
      </p:nvGrpSpPr>
      <p:grpSpPr>
        <a:xfrm>
          <a:off x="0" y="0"/>
          <a:ext cx="0" cy="0"/>
          <a:chOff x="0" y="0"/>
          <a:chExt cx="0" cy="0"/>
        </a:xfrm>
      </p:grpSpPr>
      <p:sp>
        <p:nvSpPr>
          <p:cNvPr id="4"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5"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master-page129">
    <p:spTree>
      <p:nvGrpSpPr>
        <p:cNvPr id="1" name=""/>
        <p:cNvGrpSpPr/>
        <p:nvPr/>
      </p:nvGrpSpPr>
      <p:grpSpPr>
        <a:xfrm>
          <a:off x="0" y="0"/>
          <a:ext cx="0" cy="0"/>
          <a:chOff x="0" y="0"/>
          <a:chExt cx="0" cy="0"/>
        </a:xfrm>
      </p:grpSpPr>
      <p:sp>
        <p:nvSpPr>
          <p:cNvPr id="6"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7"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master-page3">
    <p:spTree>
      <p:nvGrpSpPr>
        <p:cNvPr id="1" name=""/>
        <p:cNvGrpSpPr/>
        <p:nvPr/>
      </p:nvGrpSpPr>
      <p:grpSpPr>
        <a:xfrm>
          <a:off x="0" y="0"/>
          <a:ext cx="0" cy="0"/>
          <a:chOff x="0" y="0"/>
          <a:chExt cx="0" cy="0"/>
        </a:xfrm>
      </p:grpSpPr>
      <p:sp>
        <p:nvSpPr>
          <p:cNvPr id="8"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9"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master-page26">
    <p:spTree>
      <p:nvGrpSpPr>
        <p:cNvPr id="1" name=""/>
        <p:cNvGrpSpPr/>
        <p:nvPr/>
      </p:nvGrpSpPr>
      <p:grpSpPr>
        <a:xfrm>
          <a:off x="0" y="0"/>
          <a:ext cx="0" cy="0"/>
          <a:chOff x="0" y="0"/>
          <a:chExt cx="0" cy="0"/>
        </a:xfrm>
      </p:grpSpPr>
      <p:sp>
        <p:nvSpPr>
          <p:cNvPr id="10"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1"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master-page61">
    <p:spTree>
      <p:nvGrpSpPr>
        <p:cNvPr id="1" name=""/>
        <p:cNvGrpSpPr/>
        <p:nvPr/>
      </p:nvGrpSpPr>
      <p:grpSpPr>
        <a:xfrm>
          <a:off x="0" y="0"/>
          <a:ext cx="0" cy="0"/>
          <a:chOff x="0" y="0"/>
          <a:chExt cx="0" cy="0"/>
        </a:xfrm>
      </p:grpSpPr>
      <p:sp>
        <p:nvSpPr>
          <p:cNvPr id="12"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3"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master-page66">
    <p:spTree>
      <p:nvGrpSpPr>
        <p:cNvPr id="1" name=""/>
        <p:cNvGrpSpPr/>
        <p:nvPr/>
      </p:nvGrpSpPr>
      <p:grpSpPr>
        <a:xfrm>
          <a:off x="0" y="0"/>
          <a:ext cx="0" cy="0"/>
          <a:chOff x="0" y="0"/>
          <a:chExt cx="0" cy="0"/>
        </a:xfrm>
      </p:grpSpPr>
      <p:sp>
        <p:nvSpPr>
          <p:cNvPr id="14"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5"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master-page97">
    <p:spTree>
      <p:nvGrpSpPr>
        <p:cNvPr id="1" name=""/>
        <p:cNvGrpSpPr/>
        <p:nvPr/>
      </p:nvGrpSpPr>
      <p:grpSpPr>
        <a:xfrm>
          <a:off x="0" y="0"/>
          <a:ext cx="0" cy="0"/>
          <a:chOff x="0" y="0"/>
          <a:chExt cx="0" cy="0"/>
        </a:xfrm>
      </p:grpSpPr>
      <p:sp>
        <p:nvSpPr>
          <p:cNvPr id="16"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7"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master-page114">
    <p:spTree>
      <p:nvGrpSpPr>
        <p:cNvPr id="1" name=""/>
        <p:cNvGrpSpPr/>
        <p:nvPr/>
      </p:nvGrpSpPr>
      <p:grpSpPr>
        <a:xfrm>
          <a:off x="0" y="0"/>
          <a:ext cx="0" cy="0"/>
          <a:chOff x="0" y="0"/>
          <a:chExt cx="0" cy="0"/>
        </a:xfrm>
      </p:grpSpPr>
      <p:sp>
        <p:nvSpPr>
          <p:cNvPr id="18" name="PlaceHolder 1"/>
          <p:cNvSpPr>
            <a:spLocks noGrp="1"/>
          </p:cNvSpPr>
          <p:nvPr>
            <p:ph type="title"/>
          </p:nvPr>
        </p:nvSpPr>
        <p:spPr>
          <a:xfrm>
            <a:off x="534960" y="289080"/>
            <a:ext cx="9633240" cy="12099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9" name="PlaceHolder 2"/>
          <p:cNvSpPr>
            <a:spLocks noGrp="1"/>
          </p:cNvSpPr>
          <p:nvPr>
            <p:ph type="body"/>
          </p:nvPr>
        </p:nvSpPr>
        <p:spPr>
          <a:xfrm>
            <a:off x="534960" y="1695600"/>
            <a:ext cx="9633240" cy="42030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6.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9.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25.png"/><Relationship Id="rId10" Type="http://schemas.openxmlformats.org/officeDocument/2006/relationships/image" Target="../media/image43.png"/><Relationship Id="rId4" Type="http://schemas.openxmlformats.org/officeDocument/2006/relationships/image" Target="../media/image38.png"/><Relationship Id="rId9" Type="http://schemas.openxmlformats.org/officeDocument/2006/relationships/image" Target="../media/image42.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1.png"/></Relationships>
</file>

<file path=ppt/slides/_rels/slide1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11.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3" Type="http://schemas.openxmlformats.org/officeDocument/2006/relationships/image" Target="../media/image70.png"/><Relationship Id="rId7" Type="http://schemas.openxmlformats.org/officeDocument/2006/relationships/image" Target="../media/image73.png"/><Relationship Id="rId12" Type="http://schemas.openxmlformats.org/officeDocument/2006/relationships/image" Target="../media/image78.png"/><Relationship Id="rId2" Type="http://schemas.openxmlformats.org/officeDocument/2006/relationships/image" Target="../media/image69.png"/><Relationship Id="rId1" Type="http://schemas.openxmlformats.org/officeDocument/2006/relationships/slideLayout" Target="../slideLayouts/slideLayout10.xml"/><Relationship Id="rId6" Type="http://schemas.openxmlformats.org/officeDocument/2006/relationships/image" Target="../media/image44.png"/><Relationship Id="rId11" Type="http://schemas.openxmlformats.org/officeDocument/2006/relationships/image" Target="../media/image77.png"/><Relationship Id="rId5" Type="http://schemas.openxmlformats.org/officeDocument/2006/relationships/image" Target="../media/image72.png"/><Relationship Id="rId10" Type="http://schemas.openxmlformats.org/officeDocument/2006/relationships/image" Target="../media/image76.png"/><Relationship Id="rId4" Type="http://schemas.openxmlformats.org/officeDocument/2006/relationships/image" Target="../media/image71.png"/><Relationship Id="rId9" Type="http://schemas.openxmlformats.org/officeDocument/2006/relationships/image" Target="../media/image75.png"/></Relationships>
</file>

<file path=ppt/slides/_rels/slide12.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3" Type="http://schemas.openxmlformats.org/officeDocument/2006/relationships/image" Target="../media/image24.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image" Target="../media/image80.png"/><Relationship Id="rId1" Type="http://schemas.openxmlformats.org/officeDocument/2006/relationships/slideLayout" Target="../slideLayouts/slideLayout11.xml"/><Relationship Id="rId6" Type="http://schemas.openxmlformats.org/officeDocument/2006/relationships/image" Target="../media/image17.png"/><Relationship Id="rId11" Type="http://schemas.openxmlformats.org/officeDocument/2006/relationships/image" Target="../media/image86.png"/><Relationship Id="rId5" Type="http://schemas.openxmlformats.org/officeDocument/2006/relationships/image" Target="../media/image18.png"/><Relationship Id="rId10" Type="http://schemas.openxmlformats.org/officeDocument/2006/relationships/image" Target="../media/image85.png"/><Relationship Id="rId4" Type="http://schemas.openxmlformats.org/officeDocument/2006/relationships/image" Target="../media/image81.png"/><Relationship Id="rId9" Type="http://schemas.openxmlformats.org/officeDocument/2006/relationships/image" Target="../media/image84.png"/></Relationships>
</file>

<file path=ppt/slides/_rels/slide13.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24.png"/><Relationship Id="rId7" Type="http://schemas.openxmlformats.org/officeDocument/2006/relationships/image" Target="../media/image92.png"/><Relationship Id="rId2" Type="http://schemas.openxmlformats.org/officeDocument/2006/relationships/image" Target="../media/image89.png"/><Relationship Id="rId1" Type="http://schemas.openxmlformats.org/officeDocument/2006/relationships/slideLayout" Target="../slideLayouts/slideLayout5.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0" Type="http://schemas.openxmlformats.org/officeDocument/2006/relationships/image" Target="../media/image95.png"/><Relationship Id="rId4" Type="http://schemas.openxmlformats.org/officeDocument/2006/relationships/image" Target="../media/image67.png"/><Relationship Id="rId9" Type="http://schemas.openxmlformats.org/officeDocument/2006/relationships/image" Target="../media/image94.png"/></Relationships>
</file>

<file path=ppt/slides/_rels/slide14.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107.png"/><Relationship Id="rId2" Type="http://schemas.openxmlformats.org/officeDocument/2006/relationships/image" Target="../media/image97.png"/><Relationship Id="rId1" Type="http://schemas.openxmlformats.org/officeDocument/2006/relationships/slideLayout" Target="../slideLayouts/slideLayout4.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s>
</file>

<file path=ppt/slides/_rels/slide15.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109.png"/><Relationship Id="rId1" Type="http://schemas.openxmlformats.org/officeDocument/2006/relationships/slideLayout" Target="../slideLayouts/slideLayout3.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16.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66.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17.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4.pn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png"/><Relationship Id="rId4" Type="http://schemas.openxmlformats.org/officeDocument/2006/relationships/image" Target="../media/image122.png"/><Relationship Id="rId9"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図 19"/>
          <p:cNvPicPr/>
          <p:nvPr/>
        </p:nvPicPr>
        <p:blipFill>
          <a:blip r:embed="rId2"/>
          <a:stretch/>
        </p:blipFill>
        <p:spPr>
          <a:xfrm>
            <a:off x="0" y="0"/>
            <a:ext cx="10696320" cy="6016320"/>
          </a:xfrm>
          <a:prstGeom prst="rect">
            <a:avLst/>
          </a:prstGeom>
          <a:noFill/>
          <a:ln w="0">
            <a:noFill/>
          </a:ln>
        </p:spPr>
      </p:pic>
      <p:pic>
        <p:nvPicPr>
          <p:cNvPr id="21" name="図 20"/>
          <p:cNvPicPr/>
          <p:nvPr/>
        </p:nvPicPr>
        <p:blipFill>
          <a:blip r:embed="rId3"/>
          <a:stretch/>
        </p:blipFill>
        <p:spPr>
          <a:xfrm>
            <a:off x="1069560" y="601560"/>
            <a:ext cx="1671120" cy="1671120"/>
          </a:xfrm>
          <a:prstGeom prst="rect">
            <a:avLst/>
          </a:prstGeom>
          <a:noFill/>
          <a:ln w="0">
            <a:noFill/>
          </a:ln>
        </p:spPr>
      </p:pic>
      <p:pic>
        <p:nvPicPr>
          <p:cNvPr id="22" name="図 21"/>
          <p:cNvPicPr/>
          <p:nvPr/>
        </p:nvPicPr>
        <p:blipFill>
          <a:blip r:embed="rId4"/>
          <a:stretch/>
        </p:blipFill>
        <p:spPr>
          <a:xfrm>
            <a:off x="8156160" y="3860640"/>
            <a:ext cx="1253160" cy="1253160"/>
          </a:xfrm>
          <a:prstGeom prst="rect">
            <a:avLst/>
          </a:prstGeom>
          <a:noFill/>
          <a:ln w="0">
            <a:noFill/>
          </a:ln>
        </p:spPr>
      </p:pic>
      <p:pic>
        <p:nvPicPr>
          <p:cNvPr id="23" name="図 22"/>
          <p:cNvPicPr/>
          <p:nvPr/>
        </p:nvPicPr>
        <p:blipFill>
          <a:blip r:embed="rId5"/>
          <a:stretch/>
        </p:blipFill>
        <p:spPr>
          <a:xfrm>
            <a:off x="7721640" y="1203480"/>
            <a:ext cx="835200" cy="835200"/>
          </a:xfrm>
          <a:prstGeom prst="rect">
            <a:avLst/>
          </a:prstGeom>
          <a:noFill/>
          <a:ln w="0">
            <a:noFill/>
          </a:ln>
        </p:spPr>
      </p:pic>
      <p:pic>
        <p:nvPicPr>
          <p:cNvPr id="24" name="図 23"/>
          <p:cNvPicPr/>
          <p:nvPr/>
        </p:nvPicPr>
        <p:blipFill>
          <a:blip r:embed="rId6"/>
          <a:stretch/>
        </p:blipFill>
        <p:spPr>
          <a:xfrm>
            <a:off x="1604520" y="3509640"/>
            <a:ext cx="1002600" cy="1002600"/>
          </a:xfrm>
          <a:prstGeom prst="rect">
            <a:avLst/>
          </a:prstGeom>
          <a:noFill/>
          <a:ln w="0">
            <a:noFill/>
          </a:ln>
        </p:spPr>
      </p:pic>
      <p:sp>
        <p:nvSpPr>
          <p:cNvPr id="25" name="フリーフォーム: 図形 24"/>
          <p:cNvSpPr/>
          <p:nvPr/>
        </p:nvSpPr>
        <p:spPr>
          <a:xfrm>
            <a:off x="2674080" y="1805040"/>
            <a:ext cx="66960" cy="66960"/>
          </a:xfrm>
          <a:custGeom>
            <a:avLst/>
            <a:gdLst/>
            <a:ahLst/>
            <a:cxnLst/>
            <a:rect l="0" t="0" r="r" b="b"/>
            <a:pathLst>
              <a:path w="186" h="186">
                <a:moveTo>
                  <a:pt x="186" y="93"/>
                </a:moveTo>
                <a:cubicBezTo>
                  <a:pt x="186" y="106"/>
                  <a:pt x="184" y="118"/>
                  <a:pt x="179" y="129"/>
                </a:cubicBezTo>
                <a:cubicBezTo>
                  <a:pt x="175" y="140"/>
                  <a:pt x="168" y="150"/>
                  <a:pt x="159" y="159"/>
                </a:cubicBezTo>
                <a:cubicBezTo>
                  <a:pt x="150" y="168"/>
                  <a:pt x="140" y="174"/>
                  <a:pt x="129" y="179"/>
                </a:cubicBezTo>
                <a:cubicBezTo>
                  <a:pt x="118" y="184"/>
                  <a:pt x="106" y="186"/>
                  <a:pt x="94" y="186"/>
                </a:cubicBezTo>
                <a:cubicBezTo>
                  <a:pt x="81" y="186"/>
                  <a:pt x="69" y="184"/>
                  <a:pt x="57" y="179"/>
                </a:cubicBezTo>
                <a:cubicBezTo>
                  <a:pt x="46" y="174"/>
                  <a:pt x="36" y="168"/>
                  <a:pt x="27" y="159"/>
                </a:cubicBezTo>
                <a:cubicBezTo>
                  <a:pt x="18" y="150"/>
                  <a:pt x="11" y="140"/>
                  <a:pt x="7" y="129"/>
                </a:cubicBezTo>
                <a:cubicBezTo>
                  <a:pt x="2" y="118"/>
                  <a:pt x="0" y="106"/>
                  <a:pt x="0" y="93"/>
                </a:cubicBezTo>
                <a:cubicBezTo>
                  <a:pt x="0" y="81"/>
                  <a:pt x="2" y="68"/>
                  <a:pt x="7" y="57"/>
                </a:cubicBezTo>
                <a:cubicBezTo>
                  <a:pt x="11" y="45"/>
                  <a:pt x="18" y="35"/>
                  <a:pt x="27" y="27"/>
                </a:cubicBezTo>
                <a:cubicBezTo>
                  <a:pt x="36" y="18"/>
                  <a:pt x="46" y="11"/>
                  <a:pt x="57" y="7"/>
                </a:cubicBezTo>
                <a:cubicBezTo>
                  <a:pt x="69" y="2"/>
                  <a:pt x="81" y="0"/>
                  <a:pt x="94" y="0"/>
                </a:cubicBezTo>
                <a:cubicBezTo>
                  <a:pt x="106" y="0"/>
                  <a:pt x="118" y="2"/>
                  <a:pt x="129" y="7"/>
                </a:cubicBezTo>
                <a:cubicBezTo>
                  <a:pt x="140" y="11"/>
                  <a:pt x="150" y="18"/>
                  <a:pt x="159" y="27"/>
                </a:cubicBezTo>
                <a:cubicBezTo>
                  <a:pt x="168" y="35"/>
                  <a:pt x="175" y="45"/>
                  <a:pt x="179" y="57"/>
                </a:cubicBezTo>
                <a:cubicBezTo>
                  <a:pt x="184" y="68"/>
                  <a:pt x="186" y="81"/>
                  <a:pt x="186" y="93"/>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6" name="フリーフォーム: 図形 25"/>
          <p:cNvSpPr/>
          <p:nvPr/>
        </p:nvSpPr>
        <p:spPr>
          <a:xfrm>
            <a:off x="7487280" y="2406600"/>
            <a:ext cx="67320" cy="67320"/>
          </a:xfrm>
          <a:custGeom>
            <a:avLst/>
            <a:gdLst/>
            <a:ahLst/>
            <a:cxnLst/>
            <a:rect l="0" t="0" r="r" b="b"/>
            <a:pathLst>
              <a:path w="187" h="187">
                <a:moveTo>
                  <a:pt x="187" y="94"/>
                </a:moveTo>
                <a:cubicBezTo>
                  <a:pt x="187" y="106"/>
                  <a:pt x="185" y="118"/>
                  <a:pt x="180" y="129"/>
                </a:cubicBezTo>
                <a:cubicBezTo>
                  <a:pt x="175" y="141"/>
                  <a:pt x="169" y="151"/>
                  <a:pt x="160" y="159"/>
                </a:cubicBezTo>
                <a:cubicBezTo>
                  <a:pt x="151" y="168"/>
                  <a:pt x="141" y="175"/>
                  <a:pt x="130" y="179"/>
                </a:cubicBezTo>
                <a:cubicBezTo>
                  <a:pt x="118" y="184"/>
                  <a:pt x="107" y="187"/>
                  <a:pt x="94" y="187"/>
                </a:cubicBezTo>
                <a:cubicBezTo>
                  <a:pt x="82" y="187"/>
                  <a:pt x="70" y="184"/>
                  <a:pt x="59" y="179"/>
                </a:cubicBezTo>
                <a:cubicBezTo>
                  <a:pt x="47" y="175"/>
                  <a:pt x="37" y="168"/>
                  <a:pt x="29" y="159"/>
                </a:cubicBezTo>
                <a:cubicBezTo>
                  <a:pt x="20" y="151"/>
                  <a:pt x="12" y="141"/>
                  <a:pt x="7" y="129"/>
                </a:cubicBezTo>
                <a:cubicBezTo>
                  <a:pt x="3" y="118"/>
                  <a:pt x="0" y="106"/>
                  <a:pt x="0" y="94"/>
                </a:cubicBezTo>
                <a:cubicBezTo>
                  <a:pt x="0" y="81"/>
                  <a:pt x="3" y="70"/>
                  <a:pt x="7" y="57"/>
                </a:cubicBezTo>
                <a:cubicBezTo>
                  <a:pt x="12" y="46"/>
                  <a:pt x="20" y="36"/>
                  <a:pt x="29" y="27"/>
                </a:cubicBezTo>
                <a:cubicBezTo>
                  <a:pt x="37" y="18"/>
                  <a:pt x="47" y="12"/>
                  <a:pt x="59" y="7"/>
                </a:cubicBezTo>
                <a:cubicBezTo>
                  <a:pt x="70" y="2"/>
                  <a:pt x="82" y="0"/>
                  <a:pt x="94" y="0"/>
                </a:cubicBezTo>
                <a:cubicBezTo>
                  <a:pt x="107" y="0"/>
                  <a:pt x="118" y="2"/>
                  <a:pt x="130" y="7"/>
                </a:cubicBezTo>
                <a:cubicBezTo>
                  <a:pt x="141" y="12"/>
                  <a:pt x="151" y="18"/>
                  <a:pt x="160" y="27"/>
                </a:cubicBezTo>
                <a:cubicBezTo>
                  <a:pt x="169" y="36"/>
                  <a:pt x="175" y="46"/>
                  <a:pt x="180" y="57"/>
                </a:cubicBezTo>
                <a:cubicBezTo>
                  <a:pt x="185" y="70"/>
                  <a:pt x="187" y="81"/>
                  <a:pt x="187" y="9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7" name="フリーフォーム: 図形 26"/>
          <p:cNvSpPr/>
          <p:nvPr/>
        </p:nvSpPr>
        <p:spPr>
          <a:xfrm>
            <a:off x="3743640" y="3610080"/>
            <a:ext cx="67320" cy="66960"/>
          </a:xfrm>
          <a:custGeom>
            <a:avLst/>
            <a:gdLst/>
            <a:ahLst/>
            <a:cxnLst/>
            <a:rect l="0" t="0" r="r" b="b"/>
            <a:pathLst>
              <a:path w="187" h="186">
                <a:moveTo>
                  <a:pt x="187" y="93"/>
                </a:moveTo>
                <a:cubicBezTo>
                  <a:pt x="187" y="106"/>
                  <a:pt x="184" y="118"/>
                  <a:pt x="180" y="129"/>
                </a:cubicBezTo>
                <a:cubicBezTo>
                  <a:pt x="175" y="140"/>
                  <a:pt x="168" y="150"/>
                  <a:pt x="159" y="159"/>
                </a:cubicBezTo>
                <a:cubicBezTo>
                  <a:pt x="151" y="168"/>
                  <a:pt x="141" y="174"/>
                  <a:pt x="129" y="179"/>
                </a:cubicBezTo>
                <a:cubicBezTo>
                  <a:pt x="118" y="184"/>
                  <a:pt x="106" y="186"/>
                  <a:pt x="94" y="186"/>
                </a:cubicBezTo>
                <a:cubicBezTo>
                  <a:pt x="81" y="186"/>
                  <a:pt x="70" y="184"/>
                  <a:pt x="58" y="179"/>
                </a:cubicBezTo>
                <a:cubicBezTo>
                  <a:pt x="46" y="174"/>
                  <a:pt x="36" y="168"/>
                  <a:pt x="27" y="159"/>
                </a:cubicBezTo>
                <a:cubicBezTo>
                  <a:pt x="18" y="150"/>
                  <a:pt x="12" y="140"/>
                  <a:pt x="7" y="129"/>
                </a:cubicBezTo>
                <a:cubicBezTo>
                  <a:pt x="2" y="118"/>
                  <a:pt x="0" y="106"/>
                  <a:pt x="0" y="93"/>
                </a:cubicBezTo>
                <a:cubicBezTo>
                  <a:pt x="0" y="81"/>
                  <a:pt x="2" y="69"/>
                  <a:pt x="7" y="58"/>
                </a:cubicBezTo>
                <a:cubicBezTo>
                  <a:pt x="12" y="45"/>
                  <a:pt x="18" y="35"/>
                  <a:pt x="27" y="27"/>
                </a:cubicBezTo>
                <a:cubicBezTo>
                  <a:pt x="36" y="18"/>
                  <a:pt x="46" y="11"/>
                  <a:pt x="58" y="7"/>
                </a:cubicBezTo>
                <a:cubicBezTo>
                  <a:pt x="70" y="2"/>
                  <a:pt x="81" y="0"/>
                  <a:pt x="94" y="0"/>
                </a:cubicBezTo>
                <a:cubicBezTo>
                  <a:pt x="106" y="0"/>
                  <a:pt x="118" y="2"/>
                  <a:pt x="129" y="7"/>
                </a:cubicBezTo>
                <a:cubicBezTo>
                  <a:pt x="141" y="11"/>
                  <a:pt x="151" y="18"/>
                  <a:pt x="159" y="27"/>
                </a:cubicBezTo>
                <a:cubicBezTo>
                  <a:pt x="168" y="35"/>
                  <a:pt x="175" y="45"/>
                  <a:pt x="180" y="58"/>
                </a:cubicBezTo>
                <a:cubicBezTo>
                  <a:pt x="184" y="69"/>
                  <a:pt x="187" y="81"/>
                  <a:pt x="187" y="93"/>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8" name="フリーフォーム: 図形 27"/>
          <p:cNvSpPr/>
          <p:nvPr/>
        </p:nvSpPr>
        <p:spPr>
          <a:xfrm>
            <a:off x="6952680" y="1504080"/>
            <a:ext cx="66960" cy="67320"/>
          </a:xfrm>
          <a:custGeom>
            <a:avLst/>
            <a:gdLst/>
            <a:ahLst/>
            <a:cxnLst/>
            <a:rect l="0" t="0" r="r" b="b"/>
            <a:pathLst>
              <a:path w="186" h="187">
                <a:moveTo>
                  <a:pt x="186" y="93"/>
                </a:moveTo>
                <a:cubicBezTo>
                  <a:pt x="186" y="105"/>
                  <a:pt x="184" y="117"/>
                  <a:pt x="179" y="128"/>
                </a:cubicBezTo>
                <a:cubicBezTo>
                  <a:pt x="175" y="140"/>
                  <a:pt x="168" y="150"/>
                  <a:pt x="159" y="158"/>
                </a:cubicBezTo>
                <a:cubicBezTo>
                  <a:pt x="151" y="167"/>
                  <a:pt x="141" y="175"/>
                  <a:pt x="129" y="179"/>
                </a:cubicBezTo>
                <a:cubicBezTo>
                  <a:pt x="118" y="184"/>
                  <a:pt x="106" y="187"/>
                  <a:pt x="94" y="187"/>
                </a:cubicBezTo>
                <a:cubicBezTo>
                  <a:pt x="81" y="187"/>
                  <a:pt x="69" y="184"/>
                  <a:pt x="58" y="179"/>
                </a:cubicBezTo>
                <a:cubicBezTo>
                  <a:pt x="47" y="175"/>
                  <a:pt x="37" y="167"/>
                  <a:pt x="28" y="158"/>
                </a:cubicBezTo>
                <a:cubicBezTo>
                  <a:pt x="18" y="150"/>
                  <a:pt x="12" y="140"/>
                  <a:pt x="7" y="128"/>
                </a:cubicBezTo>
                <a:cubicBezTo>
                  <a:pt x="2" y="117"/>
                  <a:pt x="0" y="105"/>
                  <a:pt x="0" y="93"/>
                </a:cubicBezTo>
                <a:cubicBezTo>
                  <a:pt x="0" y="80"/>
                  <a:pt x="2" y="69"/>
                  <a:pt x="7" y="57"/>
                </a:cubicBezTo>
                <a:cubicBezTo>
                  <a:pt x="12" y="46"/>
                  <a:pt x="18" y="36"/>
                  <a:pt x="28" y="27"/>
                </a:cubicBezTo>
                <a:cubicBezTo>
                  <a:pt x="37" y="18"/>
                  <a:pt x="47" y="12"/>
                  <a:pt x="58" y="7"/>
                </a:cubicBezTo>
                <a:cubicBezTo>
                  <a:pt x="69" y="2"/>
                  <a:pt x="81" y="0"/>
                  <a:pt x="94" y="0"/>
                </a:cubicBezTo>
                <a:cubicBezTo>
                  <a:pt x="106" y="0"/>
                  <a:pt x="118" y="2"/>
                  <a:pt x="129" y="7"/>
                </a:cubicBezTo>
                <a:cubicBezTo>
                  <a:pt x="141" y="12"/>
                  <a:pt x="151" y="18"/>
                  <a:pt x="159" y="27"/>
                </a:cubicBezTo>
                <a:cubicBezTo>
                  <a:pt x="168" y="36"/>
                  <a:pt x="175" y="46"/>
                  <a:pt x="179" y="57"/>
                </a:cubicBezTo>
                <a:cubicBezTo>
                  <a:pt x="184" y="69"/>
                  <a:pt x="186" y="80"/>
                  <a:pt x="186" y="93"/>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9" name="フリーフォーム: 図形 28"/>
          <p:cNvSpPr/>
          <p:nvPr/>
        </p:nvSpPr>
        <p:spPr>
          <a:xfrm>
            <a:off x="8022240" y="4211640"/>
            <a:ext cx="67320" cy="67320"/>
          </a:xfrm>
          <a:custGeom>
            <a:avLst/>
            <a:gdLst/>
            <a:ahLst/>
            <a:cxnLst/>
            <a:rect l="0" t="0" r="r" b="b"/>
            <a:pathLst>
              <a:path w="187" h="187">
                <a:moveTo>
                  <a:pt x="187" y="94"/>
                </a:moveTo>
                <a:cubicBezTo>
                  <a:pt x="187" y="106"/>
                  <a:pt x="184" y="118"/>
                  <a:pt x="180" y="129"/>
                </a:cubicBezTo>
                <a:cubicBezTo>
                  <a:pt x="175" y="141"/>
                  <a:pt x="168" y="151"/>
                  <a:pt x="160" y="159"/>
                </a:cubicBezTo>
                <a:cubicBezTo>
                  <a:pt x="151" y="168"/>
                  <a:pt x="141" y="175"/>
                  <a:pt x="129" y="180"/>
                </a:cubicBezTo>
                <a:cubicBezTo>
                  <a:pt x="118" y="184"/>
                  <a:pt x="106" y="187"/>
                  <a:pt x="94" y="187"/>
                </a:cubicBezTo>
                <a:cubicBezTo>
                  <a:pt x="82" y="187"/>
                  <a:pt x="70" y="184"/>
                  <a:pt x="58" y="180"/>
                </a:cubicBezTo>
                <a:cubicBezTo>
                  <a:pt x="47" y="175"/>
                  <a:pt x="37" y="168"/>
                  <a:pt x="28" y="159"/>
                </a:cubicBezTo>
                <a:cubicBezTo>
                  <a:pt x="20" y="151"/>
                  <a:pt x="13" y="141"/>
                  <a:pt x="7" y="129"/>
                </a:cubicBezTo>
                <a:cubicBezTo>
                  <a:pt x="2" y="118"/>
                  <a:pt x="0" y="106"/>
                  <a:pt x="0" y="94"/>
                </a:cubicBezTo>
                <a:cubicBezTo>
                  <a:pt x="0" y="81"/>
                  <a:pt x="2" y="70"/>
                  <a:pt x="7" y="58"/>
                </a:cubicBezTo>
                <a:cubicBezTo>
                  <a:pt x="13" y="46"/>
                  <a:pt x="20" y="36"/>
                  <a:pt x="28" y="27"/>
                </a:cubicBezTo>
                <a:cubicBezTo>
                  <a:pt x="37" y="18"/>
                  <a:pt x="47" y="12"/>
                  <a:pt x="58" y="7"/>
                </a:cubicBezTo>
                <a:cubicBezTo>
                  <a:pt x="70" y="2"/>
                  <a:pt x="82" y="0"/>
                  <a:pt x="94" y="0"/>
                </a:cubicBezTo>
                <a:cubicBezTo>
                  <a:pt x="106" y="0"/>
                  <a:pt x="118" y="2"/>
                  <a:pt x="129" y="7"/>
                </a:cubicBezTo>
                <a:cubicBezTo>
                  <a:pt x="141" y="12"/>
                  <a:pt x="151" y="18"/>
                  <a:pt x="160" y="27"/>
                </a:cubicBezTo>
                <a:cubicBezTo>
                  <a:pt x="168" y="36"/>
                  <a:pt x="175" y="46"/>
                  <a:pt x="180" y="58"/>
                </a:cubicBezTo>
                <a:cubicBezTo>
                  <a:pt x="184" y="70"/>
                  <a:pt x="187" y="81"/>
                  <a:pt x="187" y="9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0" name="図 29"/>
          <p:cNvPicPr/>
          <p:nvPr/>
        </p:nvPicPr>
        <p:blipFill>
          <a:blip r:embed="rId7"/>
          <a:stretch/>
        </p:blipFill>
        <p:spPr>
          <a:xfrm>
            <a:off x="2841120" y="501480"/>
            <a:ext cx="5013720" cy="5013720"/>
          </a:xfrm>
          <a:prstGeom prst="rect">
            <a:avLst/>
          </a:prstGeom>
          <a:noFill/>
          <a:ln w="0">
            <a:noFill/>
          </a:ln>
        </p:spPr>
      </p:pic>
      <p:sp>
        <p:nvSpPr>
          <p:cNvPr id="31" name="フリーフォーム: 図形 30"/>
          <p:cNvSpPr/>
          <p:nvPr/>
        </p:nvSpPr>
        <p:spPr>
          <a:xfrm>
            <a:off x="4947120" y="2557080"/>
            <a:ext cx="802440" cy="33840"/>
          </a:xfrm>
          <a:custGeom>
            <a:avLst/>
            <a:gdLst/>
            <a:ahLst/>
            <a:cxnLst/>
            <a:rect l="0" t="0" r="r" b="b"/>
            <a:pathLst>
              <a:path w="2229" h="94">
                <a:moveTo>
                  <a:pt x="0" y="0"/>
                </a:moveTo>
                <a:lnTo>
                  <a:pt x="2229" y="0"/>
                </a:lnTo>
                <a:lnTo>
                  <a:pt x="2229" y="94"/>
                </a:lnTo>
                <a:lnTo>
                  <a:pt x="0" y="94"/>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2" name="テキスト ボックス 31"/>
          <p:cNvSpPr txBox="1"/>
          <p:nvPr/>
        </p:nvSpPr>
        <p:spPr>
          <a:xfrm>
            <a:off x="2825280" y="1491480"/>
            <a:ext cx="4810320" cy="581040"/>
          </a:xfrm>
          <a:prstGeom prst="rect">
            <a:avLst/>
          </a:prstGeom>
          <a:noFill/>
          <a:ln w="0">
            <a:noFill/>
          </a:ln>
        </p:spPr>
        <p:txBody>
          <a:bodyPr wrap="none" lIns="0" tIns="0" rIns="0" bIns="0" anchor="t">
            <a:spAutoFit/>
          </a:bodyPr>
          <a:lstStyle/>
          <a:p>
            <a:r>
              <a:rPr lang="zh-CN" sz="3160" b="0" u="none" strike="noStrike">
                <a:solidFill>
                  <a:srgbClr val="003366"/>
                </a:solidFill>
                <a:effectLst/>
                <a:uFillTx/>
                <a:latin typeface="NotoSansJP"/>
                <a:ea typeface="NotoSansJP"/>
              </a:rPr>
              <a:t>銅フタロシアニンを用いた</a:t>
            </a:r>
            <a:endParaRPr lang="en-US" sz="3160" b="0" u="none" strike="noStrike">
              <a:solidFill>
                <a:srgbClr val="000000"/>
              </a:solidFill>
              <a:effectLst/>
              <a:uFillTx/>
              <a:latin typeface="Times New Roman"/>
            </a:endParaRPr>
          </a:p>
        </p:txBody>
      </p:sp>
      <p:sp>
        <p:nvSpPr>
          <p:cNvPr id="33" name="テキスト ボックス 32"/>
          <p:cNvSpPr txBox="1"/>
          <p:nvPr/>
        </p:nvSpPr>
        <p:spPr>
          <a:xfrm>
            <a:off x="1351080" y="1892520"/>
            <a:ext cx="7616160" cy="581040"/>
          </a:xfrm>
          <a:prstGeom prst="rect">
            <a:avLst/>
          </a:prstGeom>
          <a:noFill/>
          <a:ln w="0">
            <a:noFill/>
          </a:ln>
        </p:spPr>
        <p:txBody>
          <a:bodyPr wrap="none" lIns="0" tIns="0" rIns="0" bIns="0" anchor="t">
            <a:spAutoFit/>
          </a:bodyPr>
          <a:lstStyle/>
          <a:p>
            <a:r>
              <a:rPr lang="zh-CN" sz="3160" b="0" u="none" strike="noStrike">
                <a:solidFill>
                  <a:srgbClr val="003366"/>
                </a:solidFill>
                <a:effectLst/>
                <a:uFillTx/>
                <a:latin typeface="NotoSansJP"/>
                <a:ea typeface="NotoSansJP"/>
              </a:rPr>
              <a:t>トリメチルアミンガス検知に対する一検討</a:t>
            </a:r>
            <a:endParaRPr lang="en-US" sz="3160" b="0" u="none" strike="noStrike">
              <a:solidFill>
                <a:srgbClr val="000000"/>
              </a:solidFill>
              <a:effectLst/>
              <a:uFillTx/>
              <a:latin typeface="Times New Roman"/>
            </a:endParaRPr>
          </a:p>
        </p:txBody>
      </p:sp>
      <p:sp>
        <p:nvSpPr>
          <p:cNvPr id="34" name="テキスト ボックス 33"/>
          <p:cNvSpPr txBox="1"/>
          <p:nvPr/>
        </p:nvSpPr>
        <p:spPr>
          <a:xfrm>
            <a:off x="3400920" y="2889000"/>
            <a:ext cx="4239720" cy="235080"/>
          </a:xfrm>
          <a:prstGeom prst="rect">
            <a:avLst/>
          </a:prstGeom>
          <a:noFill/>
          <a:ln w="0">
            <a:noFill/>
          </a:ln>
        </p:spPr>
        <p:txBody>
          <a:bodyPr wrap="none" lIns="0" tIns="0" rIns="0" bIns="0" anchor="t">
            <a:spAutoFit/>
          </a:bodyPr>
          <a:lstStyle/>
          <a:p>
            <a:r>
              <a:rPr lang="en-US" sz="1580" b="0" u="none" strike="noStrike">
                <a:solidFill>
                  <a:srgbClr val="003366"/>
                </a:solidFill>
                <a:effectLst/>
                <a:uFillTx/>
                <a:latin typeface="NotoSansJP"/>
                <a:ea typeface="NotoSansJP"/>
              </a:rPr>
              <a:t>A Study on Trimethylamine Gas Detection</a:t>
            </a:r>
            <a:endParaRPr lang="en-US" sz="1580" b="0" u="none" strike="noStrike">
              <a:solidFill>
                <a:srgbClr val="000000"/>
              </a:solidFill>
              <a:effectLst/>
              <a:uFillTx/>
              <a:latin typeface="Times New Roman"/>
            </a:endParaRPr>
          </a:p>
        </p:txBody>
      </p:sp>
      <p:sp>
        <p:nvSpPr>
          <p:cNvPr id="35" name="テキスト ボックス 34"/>
          <p:cNvSpPr txBox="1"/>
          <p:nvPr/>
        </p:nvSpPr>
        <p:spPr>
          <a:xfrm>
            <a:off x="3952440" y="3156480"/>
            <a:ext cx="2955240" cy="235080"/>
          </a:xfrm>
          <a:prstGeom prst="rect">
            <a:avLst/>
          </a:prstGeom>
          <a:noFill/>
          <a:ln w="0">
            <a:noFill/>
          </a:ln>
        </p:spPr>
        <p:txBody>
          <a:bodyPr wrap="none" lIns="0" tIns="0" rIns="0" bIns="0" anchor="t">
            <a:spAutoFit/>
          </a:bodyPr>
          <a:lstStyle/>
          <a:p>
            <a:r>
              <a:rPr lang="en-US" sz="1580" b="0" u="none" strike="noStrike">
                <a:solidFill>
                  <a:srgbClr val="003366"/>
                </a:solidFill>
                <a:effectLst/>
                <a:uFillTx/>
                <a:latin typeface="NotoSansJP"/>
                <a:ea typeface="NotoSansJP"/>
              </a:rPr>
              <a:t>Using Copper Phthalocyanine</a:t>
            </a:r>
            <a:endParaRPr lang="en-US" sz="1580" b="0" u="none" strike="noStrike">
              <a:solidFill>
                <a:srgbClr val="000000"/>
              </a:solidFill>
              <a:effectLst/>
              <a:uFillTx/>
              <a:latin typeface="Times New Roman"/>
            </a:endParaRPr>
          </a:p>
        </p:txBody>
      </p:sp>
      <p:pic>
        <p:nvPicPr>
          <p:cNvPr id="36" name="図 35"/>
          <p:cNvPicPr/>
          <p:nvPr/>
        </p:nvPicPr>
        <p:blipFill>
          <a:blip r:embed="rId8"/>
          <a:stretch/>
        </p:blipFill>
        <p:spPr>
          <a:xfrm>
            <a:off x="4897080" y="4328640"/>
            <a:ext cx="166680" cy="166680"/>
          </a:xfrm>
          <a:prstGeom prst="rect">
            <a:avLst/>
          </a:prstGeom>
          <a:noFill/>
          <a:ln w="0">
            <a:noFill/>
          </a:ln>
        </p:spPr>
      </p:pic>
      <p:sp>
        <p:nvSpPr>
          <p:cNvPr id="37" name="テキスト ボックス 36"/>
          <p:cNvSpPr txBox="1"/>
          <p:nvPr/>
        </p:nvSpPr>
        <p:spPr>
          <a:xfrm>
            <a:off x="4140720" y="3956400"/>
            <a:ext cx="2519280" cy="244080"/>
          </a:xfrm>
          <a:prstGeom prst="rect">
            <a:avLst/>
          </a:prstGeom>
          <a:noFill/>
          <a:ln w="0">
            <a:noFill/>
          </a:ln>
        </p:spPr>
        <p:txBody>
          <a:bodyPr wrap="none" lIns="0" tIns="0" rIns="0" bIns="0" anchor="t">
            <a:spAutoFit/>
          </a:bodyPr>
          <a:lstStyle/>
          <a:p>
            <a:r>
              <a:rPr lang="zh-CN" sz="1320" b="0" u="none" strike="noStrike">
                <a:solidFill>
                  <a:srgbClr val="374151"/>
                </a:solidFill>
                <a:effectLst/>
                <a:uFillTx/>
                <a:latin typeface="NotoSansJP"/>
                <a:ea typeface="NotoSansJP"/>
              </a:rPr>
              <a:t>田中悠貴</a:t>
            </a:r>
            <a:r>
              <a:rPr lang="en-US" sz="1320" b="0" u="none" strike="noStrike">
                <a:solidFill>
                  <a:srgbClr val="374151"/>
                </a:solidFill>
                <a:effectLst/>
                <a:uFillTx/>
                <a:latin typeface="NotoSansJP"/>
                <a:ea typeface="NotoSansJP"/>
              </a:rPr>
              <a:t>*</a:t>
            </a:r>
            <a:r>
              <a:rPr lang="zh-CN" sz="1320" b="0" u="none" strike="noStrike">
                <a:solidFill>
                  <a:srgbClr val="374151"/>
                </a:solidFill>
                <a:effectLst/>
                <a:uFillTx/>
                <a:latin typeface="NotoSansJP"/>
                <a:ea typeface="NotoSansJP"/>
              </a:rPr>
              <a:t>，梶山晴生，佐伯勝敏</a:t>
            </a:r>
            <a:endParaRPr lang="en-US" sz="1320" b="0" u="none" strike="noStrike">
              <a:solidFill>
                <a:srgbClr val="000000"/>
              </a:solidFill>
              <a:effectLst/>
              <a:uFillTx/>
              <a:latin typeface="Times New Roman"/>
            </a:endParaRPr>
          </a:p>
        </p:txBody>
      </p:sp>
      <p:sp>
        <p:nvSpPr>
          <p:cNvPr id="38" name="テキスト ボックス 37"/>
          <p:cNvSpPr txBox="1"/>
          <p:nvPr/>
        </p:nvSpPr>
        <p:spPr>
          <a:xfrm>
            <a:off x="5130720" y="4323960"/>
            <a:ext cx="671400" cy="244080"/>
          </a:xfrm>
          <a:prstGeom prst="rect">
            <a:avLst/>
          </a:prstGeom>
          <a:noFill/>
          <a:ln w="0">
            <a:noFill/>
          </a:ln>
        </p:spPr>
        <p:txBody>
          <a:bodyPr wrap="none" lIns="0" tIns="0" rIns="0" bIns="0" anchor="t">
            <a:spAutoFit/>
          </a:bodyPr>
          <a:lstStyle/>
          <a:p>
            <a:r>
              <a:rPr lang="zh-CN" sz="1320" b="0" u="none" strike="noStrike">
                <a:solidFill>
                  <a:srgbClr val="374151"/>
                </a:solidFill>
                <a:effectLst/>
                <a:uFillTx/>
                <a:latin typeface="NotoSansJP"/>
                <a:ea typeface="NotoSansJP"/>
              </a:rPr>
              <a:t>日本大学</a:t>
            </a:r>
            <a:endParaRPr lang="en-US" sz="132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図 38"/>
          <p:cNvPicPr/>
          <p:nvPr/>
        </p:nvPicPr>
        <p:blipFill>
          <a:blip r:embed="rId2"/>
          <a:stretch/>
        </p:blipFill>
        <p:spPr>
          <a:xfrm>
            <a:off x="0" y="0"/>
            <a:ext cx="10696320" cy="6016320"/>
          </a:xfrm>
          <a:prstGeom prst="rect">
            <a:avLst/>
          </a:prstGeom>
          <a:noFill/>
          <a:ln w="0">
            <a:noFill/>
          </a:ln>
        </p:spPr>
      </p:pic>
      <p:sp>
        <p:nvSpPr>
          <p:cNvPr id="40" name="フリーフォーム: 図形 39"/>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1" name="フリーフォーム: 図形 40"/>
          <p:cNvSpPr/>
          <p:nvPr/>
        </p:nvSpPr>
        <p:spPr>
          <a:xfrm>
            <a:off x="267120" y="869040"/>
            <a:ext cx="6017400" cy="1704960"/>
          </a:xfrm>
          <a:custGeom>
            <a:avLst/>
            <a:gdLst/>
            <a:ahLst/>
            <a:cxnLst/>
            <a:rect l="0" t="0" r="r" b="b"/>
            <a:pathLst>
              <a:path w="16715" h="4736">
                <a:moveTo>
                  <a:pt x="0" y="4549"/>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6529" y="0"/>
                </a:lnTo>
                <a:cubicBezTo>
                  <a:pt x="16541" y="0"/>
                  <a:pt x="16553" y="1"/>
                  <a:pt x="16565" y="3"/>
                </a:cubicBezTo>
                <a:cubicBezTo>
                  <a:pt x="16577" y="6"/>
                  <a:pt x="16589" y="9"/>
                  <a:pt x="16600" y="14"/>
                </a:cubicBezTo>
                <a:cubicBezTo>
                  <a:pt x="16611" y="18"/>
                  <a:pt x="16622" y="24"/>
                  <a:pt x="16632" y="31"/>
                </a:cubicBezTo>
                <a:cubicBezTo>
                  <a:pt x="16642" y="38"/>
                  <a:pt x="16652" y="45"/>
                  <a:pt x="16660" y="54"/>
                </a:cubicBezTo>
                <a:cubicBezTo>
                  <a:pt x="16669" y="63"/>
                  <a:pt x="16677" y="72"/>
                  <a:pt x="16683" y="82"/>
                </a:cubicBezTo>
                <a:cubicBezTo>
                  <a:pt x="16690" y="92"/>
                  <a:pt x="16696" y="103"/>
                  <a:pt x="16701" y="114"/>
                </a:cubicBezTo>
                <a:cubicBezTo>
                  <a:pt x="16705" y="126"/>
                  <a:pt x="16709" y="137"/>
                  <a:pt x="16711" y="149"/>
                </a:cubicBezTo>
                <a:cubicBezTo>
                  <a:pt x="16714" y="161"/>
                  <a:pt x="16715" y="173"/>
                  <a:pt x="16715" y="185"/>
                </a:cubicBezTo>
                <a:lnTo>
                  <a:pt x="16715" y="4549"/>
                </a:lnTo>
                <a:cubicBezTo>
                  <a:pt x="16715" y="4562"/>
                  <a:pt x="16714" y="4574"/>
                  <a:pt x="16711" y="4586"/>
                </a:cubicBezTo>
                <a:cubicBezTo>
                  <a:pt x="16709" y="4598"/>
                  <a:pt x="16705" y="4609"/>
                  <a:pt x="16701" y="4620"/>
                </a:cubicBezTo>
                <a:cubicBezTo>
                  <a:pt x="16696" y="4632"/>
                  <a:pt x="16690" y="4642"/>
                  <a:pt x="16683" y="4653"/>
                </a:cubicBezTo>
                <a:cubicBezTo>
                  <a:pt x="16677" y="4663"/>
                  <a:pt x="16669" y="4672"/>
                  <a:pt x="16660" y="4681"/>
                </a:cubicBezTo>
                <a:cubicBezTo>
                  <a:pt x="16652" y="4690"/>
                  <a:pt x="16642" y="4698"/>
                  <a:pt x="16632" y="4705"/>
                </a:cubicBezTo>
                <a:cubicBezTo>
                  <a:pt x="16622" y="4712"/>
                  <a:pt x="16611" y="4717"/>
                  <a:pt x="16600" y="4722"/>
                </a:cubicBezTo>
                <a:cubicBezTo>
                  <a:pt x="16589" y="4727"/>
                  <a:pt x="16577" y="4730"/>
                  <a:pt x="16565" y="4733"/>
                </a:cubicBezTo>
                <a:cubicBezTo>
                  <a:pt x="16553" y="4735"/>
                  <a:pt x="16541" y="4736"/>
                  <a:pt x="16529" y="4736"/>
                </a:cubicBezTo>
                <a:lnTo>
                  <a:pt x="186" y="4736"/>
                </a:lnTo>
                <a:cubicBezTo>
                  <a:pt x="174" y="4736"/>
                  <a:pt x="162" y="4735"/>
                  <a:pt x="150" y="4733"/>
                </a:cubicBezTo>
                <a:cubicBezTo>
                  <a:pt x="138" y="4730"/>
                  <a:pt x="126" y="4727"/>
                  <a:pt x="115" y="4722"/>
                </a:cubicBezTo>
                <a:cubicBezTo>
                  <a:pt x="104" y="4717"/>
                  <a:pt x="93" y="4712"/>
                  <a:pt x="83" y="4705"/>
                </a:cubicBezTo>
                <a:cubicBezTo>
                  <a:pt x="73" y="4698"/>
                  <a:pt x="63" y="4690"/>
                  <a:pt x="55" y="4681"/>
                </a:cubicBezTo>
                <a:cubicBezTo>
                  <a:pt x="46" y="4672"/>
                  <a:pt x="38" y="4663"/>
                  <a:pt x="32" y="4653"/>
                </a:cubicBezTo>
                <a:cubicBezTo>
                  <a:pt x="25" y="4642"/>
                  <a:pt x="19" y="4632"/>
                  <a:pt x="14" y="4620"/>
                </a:cubicBezTo>
                <a:cubicBezTo>
                  <a:pt x="10" y="4609"/>
                  <a:pt x="6" y="4598"/>
                  <a:pt x="4" y="4586"/>
                </a:cubicBezTo>
                <a:cubicBezTo>
                  <a:pt x="2" y="4574"/>
                  <a:pt x="0" y="4562"/>
                  <a:pt x="0" y="4549"/>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2" name="図 41"/>
          <p:cNvPicPr/>
          <p:nvPr/>
        </p:nvPicPr>
        <p:blipFill>
          <a:blip r:embed="rId3"/>
          <a:stretch/>
        </p:blipFill>
        <p:spPr>
          <a:xfrm>
            <a:off x="468000" y="1103040"/>
            <a:ext cx="200160" cy="200160"/>
          </a:xfrm>
          <a:prstGeom prst="rect">
            <a:avLst/>
          </a:prstGeom>
          <a:noFill/>
          <a:ln w="0">
            <a:noFill/>
          </a:ln>
        </p:spPr>
      </p:pic>
      <p:sp>
        <p:nvSpPr>
          <p:cNvPr id="43" name="テキスト ボックス 42"/>
          <p:cNvSpPr txBox="1"/>
          <p:nvPr/>
        </p:nvSpPr>
        <p:spPr>
          <a:xfrm>
            <a:off x="334440" y="155520"/>
            <a:ext cx="12016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研究背景</a:t>
            </a:r>
            <a:endParaRPr lang="en-US" sz="2370" b="0" u="none" strike="noStrike">
              <a:solidFill>
                <a:srgbClr val="000000"/>
              </a:solidFill>
              <a:effectLst/>
              <a:uFillTx/>
              <a:latin typeface="Times New Roman"/>
            </a:endParaRPr>
          </a:p>
        </p:txBody>
      </p:sp>
      <p:pic>
        <p:nvPicPr>
          <p:cNvPr id="44" name="図 43"/>
          <p:cNvPicPr/>
          <p:nvPr/>
        </p:nvPicPr>
        <p:blipFill>
          <a:blip r:embed="rId4"/>
          <a:stretch/>
        </p:blipFill>
        <p:spPr>
          <a:xfrm>
            <a:off x="668520" y="1504080"/>
            <a:ext cx="166680" cy="150120"/>
          </a:xfrm>
          <a:prstGeom prst="rect">
            <a:avLst/>
          </a:prstGeom>
          <a:noFill/>
          <a:ln w="0">
            <a:noFill/>
          </a:ln>
        </p:spPr>
      </p:pic>
      <p:sp>
        <p:nvSpPr>
          <p:cNvPr id="45" name="テキスト ボックス 44"/>
          <p:cNvSpPr txBox="1"/>
          <p:nvPr/>
        </p:nvSpPr>
        <p:spPr>
          <a:xfrm>
            <a:off x="768960" y="1100880"/>
            <a:ext cx="416052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トリメチルアミン（</a:t>
            </a:r>
            <a:r>
              <a:rPr lang="en-US" sz="1580" b="0" u="none" strike="noStrike">
                <a:solidFill>
                  <a:srgbClr val="003366"/>
                </a:solidFill>
                <a:effectLst/>
                <a:uFillTx/>
                <a:latin typeface="NotoSansJP"/>
                <a:ea typeface="NotoSansJP"/>
              </a:rPr>
              <a:t>TMA</a:t>
            </a:r>
            <a:r>
              <a:rPr lang="zh-CN" sz="1580" b="0" u="none" strike="noStrike">
                <a:solidFill>
                  <a:srgbClr val="003366"/>
                </a:solidFill>
                <a:effectLst/>
                <a:uFillTx/>
                <a:latin typeface="NotoSansJP"/>
                <a:ea typeface="NotoSansJP"/>
              </a:rPr>
              <a:t>）の発生源と危険性</a:t>
            </a:r>
            <a:endParaRPr lang="en-US" sz="1580" b="0" u="none" strike="noStrike">
              <a:solidFill>
                <a:srgbClr val="000000"/>
              </a:solidFill>
              <a:effectLst/>
              <a:uFillTx/>
              <a:latin typeface="Times New Roman"/>
            </a:endParaRPr>
          </a:p>
        </p:txBody>
      </p:sp>
      <p:pic>
        <p:nvPicPr>
          <p:cNvPr id="46" name="図 45"/>
          <p:cNvPicPr/>
          <p:nvPr/>
        </p:nvPicPr>
        <p:blipFill>
          <a:blip r:embed="rId5"/>
          <a:stretch/>
        </p:blipFill>
        <p:spPr>
          <a:xfrm>
            <a:off x="668520" y="1838520"/>
            <a:ext cx="191880" cy="150120"/>
          </a:xfrm>
          <a:prstGeom prst="rect">
            <a:avLst/>
          </a:prstGeom>
          <a:noFill/>
          <a:ln w="0">
            <a:noFill/>
          </a:ln>
        </p:spPr>
      </p:pic>
      <p:sp>
        <p:nvSpPr>
          <p:cNvPr id="47" name="テキスト ボックス 46"/>
          <p:cNvSpPr txBox="1"/>
          <p:nvPr/>
        </p:nvSpPr>
        <p:spPr>
          <a:xfrm>
            <a:off x="902520" y="1514880"/>
            <a:ext cx="43275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魚腸骨処理場や畜産施設からトリメチルアミン（</a:t>
            </a:r>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）が発生</a:t>
            </a:r>
            <a:endParaRPr lang="en-US" sz="1180" b="0" u="none" strike="noStrike">
              <a:solidFill>
                <a:srgbClr val="000000"/>
              </a:solidFill>
              <a:effectLst/>
              <a:uFillTx/>
              <a:latin typeface="Times New Roman"/>
            </a:endParaRPr>
          </a:p>
        </p:txBody>
      </p:sp>
      <p:pic>
        <p:nvPicPr>
          <p:cNvPr id="48" name="図 47"/>
          <p:cNvPicPr/>
          <p:nvPr/>
        </p:nvPicPr>
        <p:blipFill>
          <a:blip r:embed="rId6"/>
          <a:stretch/>
        </p:blipFill>
        <p:spPr>
          <a:xfrm>
            <a:off x="668520" y="2172600"/>
            <a:ext cx="150120" cy="150120"/>
          </a:xfrm>
          <a:prstGeom prst="rect">
            <a:avLst/>
          </a:prstGeom>
          <a:noFill/>
          <a:ln w="0">
            <a:noFill/>
          </a:ln>
        </p:spPr>
      </p:pic>
      <p:sp>
        <p:nvSpPr>
          <p:cNvPr id="49" name="テキスト ボックス 48"/>
          <p:cNvSpPr txBox="1"/>
          <p:nvPr/>
        </p:nvSpPr>
        <p:spPr>
          <a:xfrm>
            <a:off x="927720" y="1849320"/>
            <a:ext cx="358308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濃度が</a:t>
            </a:r>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に達すると視力低下の報告あり</a:t>
            </a:r>
            <a:endParaRPr lang="en-US" sz="1180" b="0" u="none" strike="noStrike">
              <a:solidFill>
                <a:srgbClr val="000000"/>
              </a:solidFill>
              <a:effectLst/>
              <a:uFillTx/>
              <a:latin typeface="Times New Roman"/>
            </a:endParaRPr>
          </a:p>
        </p:txBody>
      </p:sp>
      <p:sp>
        <p:nvSpPr>
          <p:cNvPr id="50" name="フリーフォーム: 図形 49"/>
          <p:cNvSpPr/>
          <p:nvPr/>
        </p:nvSpPr>
        <p:spPr>
          <a:xfrm>
            <a:off x="267120" y="2774160"/>
            <a:ext cx="6017400" cy="2841840"/>
          </a:xfrm>
          <a:custGeom>
            <a:avLst/>
            <a:gdLst/>
            <a:ahLst/>
            <a:cxnLst/>
            <a:rect l="0" t="0" r="r" b="b"/>
            <a:pathLst>
              <a:path w="16715" h="7894">
                <a:moveTo>
                  <a:pt x="0" y="7708"/>
                </a:moveTo>
                <a:lnTo>
                  <a:pt x="0" y="186"/>
                </a:lnTo>
                <a:cubicBezTo>
                  <a:pt x="0" y="174"/>
                  <a:pt x="2" y="162"/>
                  <a:pt x="4" y="150"/>
                </a:cubicBezTo>
                <a:cubicBezTo>
                  <a:pt x="6" y="138"/>
                  <a:pt x="10" y="126"/>
                  <a:pt x="14" y="115"/>
                </a:cubicBezTo>
                <a:cubicBezTo>
                  <a:pt x="19" y="104"/>
                  <a:pt x="25" y="93"/>
                  <a:pt x="32"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1"/>
                  <a:pt x="174" y="0"/>
                  <a:pt x="186" y="0"/>
                </a:cubicBezTo>
                <a:lnTo>
                  <a:pt x="16529" y="0"/>
                </a:lnTo>
                <a:cubicBezTo>
                  <a:pt x="16541" y="0"/>
                  <a:pt x="16553" y="1"/>
                  <a:pt x="16565" y="4"/>
                </a:cubicBezTo>
                <a:cubicBezTo>
                  <a:pt x="16577" y="6"/>
                  <a:pt x="16589" y="10"/>
                  <a:pt x="16600" y="14"/>
                </a:cubicBezTo>
                <a:cubicBezTo>
                  <a:pt x="16611" y="19"/>
                  <a:pt x="16622" y="25"/>
                  <a:pt x="16632" y="32"/>
                </a:cubicBezTo>
                <a:cubicBezTo>
                  <a:pt x="16642" y="38"/>
                  <a:pt x="16652" y="46"/>
                  <a:pt x="16660" y="55"/>
                </a:cubicBezTo>
                <a:cubicBezTo>
                  <a:pt x="16669" y="63"/>
                  <a:pt x="16677" y="73"/>
                  <a:pt x="16683" y="83"/>
                </a:cubicBezTo>
                <a:cubicBezTo>
                  <a:pt x="16690" y="93"/>
                  <a:pt x="16696" y="104"/>
                  <a:pt x="16701" y="115"/>
                </a:cubicBezTo>
                <a:cubicBezTo>
                  <a:pt x="16705" y="126"/>
                  <a:pt x="16709" y="138"/>
                  <a:pt x="16711" y="150"/>
                </a:cubicBezTo>
                <a:cubicBezTo>
                  <a:pt x="16714" y="162"/>
                  <a:pt x="16715" y="174"/>
                  <a:pt x="16715" y="186"/>
                </a:cubicBezTo>
                <a:lnTo>
                  <a:pt x="16715" y="7708"/>
                </a:lnTo>
                <a:cubicBezTo>
                  <a:pt x="16715" y="7720"/>
                  <a:pt x="16714" y="7732"/>
                  <a:pt x="16711" y="7744"/>
                </a:cubicBezTo>
                <a:cubicBezTo>
                  <a:pt x="16709" y="7756"/>
                  <a:pt x="16705" y="7768"/>
                  <a:pt x="16701" y="7779"/>
                </a:cubicBezTo>
                <a:cubicBezTo>
                  <a:pt x="16696" y="7790"/>
                  <a:pt x="16690" y="7801"/>
                  <a:pt x="16683" y="7811"/>
                </a:cubicBezTo>
                <a:cubicBezTo>
                  <a:pt x="16677" y="7821"/>
                  <a:pt x="16669" y="7831"/>
                  <a:pt x="16660" y="7839"/>
                </a:cubicBezTo>
                <a:cubicBezTo>
                  <a:pt x="16652" y="7848"/>
                  <a:pt x="16642" y="7856"/>
                  <a:pt x="16632" y="7862"/>
                </a:cubicBezTo>
                <a:cubicBezTo>
                  <a:pt x="16622" y="7869"/>
                  <a:pt x="16611" y="7875"/>
                  <a:pt x="16600" y="7880"/>
                </a:cubicBezTo>
                <a:cubicBezTo>
                  <a:pt x="16589" y="7884"/>
                  <a:pt x="16577" y="7888"/>
                  <a:pt x="16565" y="7890"/>
                </a:cubicBezTo>
                <a:cubicBezTo>
                  <a:pt x="16553" y="7892"/>
                  <a:pt x="16541" y="7894"/>
                  <a:pt x="16529" y="7894"/>
                </a:cubicBezTo>
                <a:lnTo>
                  <a:pt x="186" y="7894"/>
                </a:lnTo>
                <a:cubicBezTo>
                  <a:pt x="174" y="7894"/>
                  <a:pt x="162" y="7892"/>
                  <a:pt x="150" y="7890"/>
                </a:cubicBezTo>
                <a:cubicBezTo>
                  <a:pt x="138" y="7888"/>
                  <a:pt x="126" y="7884"/>
                  <a:pt x="115" y="7880"/>
                </a:cubicBezTo>
                <a:cubicBezTo>
                  <a:pt x="104" y="7875"/>
                  <a:pt x="93" y="7869"/>
                  <a:pt x="83" y="7862"/>
                </a:cubicBezTo>
                <a:cubicBezTo>
                  <a:pt x="73" y="7856"/>
                  <a:pt x="63" y="7848"/>
                  <a:pt x="55" y="7839"/>
                </a:cubicBezTo>
                <a:cubicBezTo>
                  <a:pt x="46" y="7831"/>
                  <a:pt x="38" y="7821"/>
                  <a:pt x="32" y="7811"/>
                </a:cubicBezTo>
                <a:cubicBezTo>
                  <a:pt x="25" y="7801"/>
                  <a:pt x="19" y="7790"/>
                  <a:pt x="14" y="7779"/>
                </a:cubicBezTo>
                <a:cubicBezTo>
                  <a:pt x="10" y="7768"/>
                  <a:pt x="6" y="7756"/>
                  <a:pt x="4" y="7744"/>
                </a:cubicBezTo>
                <a:cubicBezTo>
                  <a:pt x="2" y="7732"/>
                  <a:pt x="0" y="7720"/>
                  <a:pt x="0" y="7708"/>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1" name="フリーフォーム: 図形 50"/>
          <p:cNvSpPr/>
          <p:nvPr/>
        </p:nvSpPr>
        <p:spPr>
          <a:xfrm>
            <a:off x="476280" y="3376080"/>
            <a:ext cx="1805400" cy="443160"/>
          </a:xfrm>
          <a:custGeom>
            <a:avLst/>
            <a:gdLst/>
            <a:ahLst/>
            <a:cxnLst/>
            <a:rect l="0" t="0" r="r" b="b"/>
            <a:pathLst>
              <a:path w="5015" h="1231">
                <a:moveTo>
                  <a:pt x="0" y="0"/>
                </a:moveTo>
                <a:lnTo>
                  <a:pt x="5015" y="0"/>
                </a:lnTo>
                <a:lnTo>
                  <a:pt x="5015" y="1231"/>
                </a:lnTo>
                <a:lnTo>
                  <a:pt x="0" y="1231"/>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2" name="フリーフォーム: 図形 51"/>
          <p:cNvSpPr/>
          <p:nvPr/>
        </p:nvSpPr>
        <p:spPr>
          <a:xfrm>
            <a:off x="2281320" y="3376080"/>
            <a:ext cx="3802680" cy="443160"/>
          </a:xfrm>
          <a:custGeom>
            <a:avLst/>
            <a:gdLst/>
            <a:ahLst/>
            <a:cxnLst/>
            <a:rect l="0" t="0" r="r" b="b"/>
            <a:pathLst>
              <a:path w="10563" h="1231">
                <a:moveTo>
                  <a:pt x="0" y="0"/>
                </a:moveTo>
                <a:lnTo>
                  <a:pt x="10563" y="0"/>
                </a:lnTo>
                <a:lnTo>
                  <a:pt x="10563" y="1231"/>
                </a:lnTo>
                <a:lnTo>
                  <a:pt x="0" y="1231"/>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3" name="フリーフォーム: 図形 52"/>
          <p:cNvSpPr/>
          <p:nvPr/>
        </p:nvSpPr>
        <p:spPr>
          <a:xfrm>
            <a:off x="476280" y="3818880"/>
            <a:ext cx="1805400" cy="443160"/>
          </a:xfrm>
          <a:custGeom>
            <a:avLst/>
            <a:gdLst/>
            <a:ahLst/>
            <a:cxnLst/>
            <a:rect l="0" t="0" r="r" b="b"/>
            <a:pathLst>
              <a:path w="5015" h="1231">
                <a:moveTo>
                  <a:pt x="0" y="0"/>
                </a:moveTo>
                <a:lnTo>
                  <a:pt x="5015" y="0"/>
                </a:lnTo>
                <a:lnTo>
                  <a:pt x="5015" y="1231"/>
                </a:lnTo>
                <a:lnTo>
                  <a:pt x="0" y="1231"/>
                </a:lnTo>
                <a:lnTo>
                  <a:pt x="0" y="0"/>
                </a:lnTo>
                <a:close/>
              </a:path>
            </a:pathLst>
          </a:custGeom>
          <a:solidFill>
            <a:srgbClr val="FFFFFF">
              <a:alpha val="7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4" name="フリーフォーム: 図形 53"/>
          <p:cNvSpPr/>
          <p:nvPr/>
        </p:nvSpPr>
        <p:spPr>
          <a:xfrm>
            <a:off x="2281320" y="3818880"/>
            <a:ext cx="3802680" cy="443160"/>
          </a:xfrm>
          <a:custGeom>
            <a:avLst/>
            <a:gdLst/>
            <a:ahLst/>
            <a:cxnLst/>
            <a:rect l="0" t="0" r="r" b="b"/>
            <a:pathLst>
              <a:path w="10563" h="1231">
                <a:moveTo>
                  <a:pt x="0" y="0"/>
                </a:moveTo>
                <a:lnTo>
                  <a:pt x="10563" y="0"/>
                </a:lnTo>
                <a:lnTo>
                  <a:pt x="10563" y="1231"/>
                </a:lnTo>
                <a:lnTo>
                  <a:pt x="0" y="1231"/>
                </a:lnTo>
                <a:lnTo>
                  <a:pt x="0" y="0"/>
                </a:lnTo>
                <a:close/>
              </a:path>
            </a:pathLst>
          </a:custGeom>
          <a:solidFill>
            <a:srgbClr val="FFFFFF">
              <a:alpha val="7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5" name="フリーフォーム: 図形 54"/>
          <p:cNvSpPr/>
          <p:nvPr/>
        </p:nvSpPr>
        <p:spPr>
          <a:xfrm>
            <a:off x="476280" y="4261680"/>
            <a:ext cx="1805400" cy="443160"/>
          </a:xfrm>
          <a:custGeom>
            <a:avLst/>
            <a:gdLst/>
            <a:ahLst/>
            <a:cxnLst/>
            <a:rect l="0" t="0" r="r" b="b"/>
            <a:pathLst>
              <a:path w="5015" h="1231">
                <a:moveTo>
                  <a:pt x="0" y="0"/>
                </a:moveTo>
                <a:lnTo>
                  <a:pt x="5015" y="0"/>
                </a:lnTo>
                <a:lnTo>
                  <a:pt x="5015" y="1231"/>
                </a:lnTo>
                <a:lnTo>
                  <a:pt x="0" y="1231"/>
                </a:lnTo>
                <a:lnTo>
                  <a:pt x="0" y="0"/>
                </a:lnTo>
                <a:close/>
              </a:path>
            </a:pathLst>
          </a:custGeom>
          <a:solidFill>
            <a:srgbClr val="66CC99">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 name="フリーフォーム: 図形 55"/>
          <p:cNvSpPr/>
          <p:nvPr/>
        </p:nvSpPr>
        <p:spPr>
          <a:xfrm>
            <a:off x="2281320" y="4261680"/>
            <a:ext cx="3802680" cy="443160"/>
          </a:xfrm>
          <a:custGeom>
            <a:avLst/>
            <a:gdLst/>
            <a:ahLst/>
            <a:cxnLst/>
            <a:rect l="0" t="0" r="r" b="b"/>
            <a:pathLst>
              <a:path w="10563" h="1231">
                <a:moveTo>
                  <a:pt x="0" y="0"/>
                </a:moveTo>
                <a:lnTo>
                  <a:pt x="10563" y="0"/>
                </a:lnTo>
                <a:lnTo>
                  <a:pt x="10563" y="1231"/>
                </a:lnTo>
                <a:lnTo>
                  <a:pt x="0" y="1231"/>
                </a:lnTo>
                <a:lnTo>
                  <a:pt x="0" y="0"/>
                </a:lnTo>
                <a:close/>
              </a:path>
            </a:pathLst>
          </a:custGeom>
          <a:solidFill>
            <a:srgbClr val="66CC99">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 name="フリーフォーム: 図形 56"/>
          <p:cNvSpPr/>
          <p:nvPr/>
        </p:nvSpPr>
        <p:spPr>
          <a:xfrm>
            <a:off x="476280" y="4704480"/>
            <a:ext cx="1805400" cy="443520"/>
          </a:xfrm>
          <a:custGeom>
            <a:avLst/>
            <a:gdLst/>
            <a:ahLst/>
            <a:cxnLst/>
            <a:rect l="0" t="0" r="r" b="b"/>
            <a:pathLst>
              <a:path w="5015" h="1232">
                <a:moveTo>
                  <a:pt x="0" y="0"/>
                </a:moveTo>
                <a:lnTo>
                  <a:pt x="5015" y="0"/>
                </a:lnTo>
                <a:lnTo>
                  <a:pt x="5015" y="1232"/>
                </a:lnTo>
                <a:lnTo>
                  <a:pt x="0" y="1232"/>
                </a:lnTo>
                <a:lnTo>
                  <a:pt x="0" y="0"/>
                </a:lnTo>
                <a:close/>
              </a:path>
            </a:pathLst>
          </a:custGeom>
          <a:solidFill>
            <a:srgbClr val="FFFFFF">
              <a:alpha val="7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 name="フリーフォーム: 図形 57"/>
          <p:cNvSpPr/>
          <p:nvPr/>
        </p:nvSpPr>
        <p:spPr>
          <a:xfrm>
            <a:off x="2281320" y="4704480"/>
            <a:ext cx="3802680" cy="443520"/>
          </a:xfrm>
          <a:custGeom>
            <a:avLst/>
            <a:gdLst/>
            <a:ahLst/>
            <a:cxnLst/>
            <a:rect l="0" t="0" r="r" b="b"/>
            <a:pathLst>
              <a:path w="10563" h="1232">
                <a:moveTo>
                  <a:pt x="0" y="0"/>
                </a:moveTo>
                <a:lnTo>
                  <a:pt x="10563" y="0"/>
                </a:lnTo>
                <a:lnTo>
                  <a:pt x="10563" y="1232"/>
                </a:lnTo>
                <a:lnTo>
                  <a:pt x="0" y="1232"/>
                </a:lnTo>
                <a:lnTo>
                  <a:pt x="0" y="0"/>
                </a:lnTo>
                <a:close/>
              </a:path>
            </a:pathLst>
          </a:custGeom>
          <a:solidFill>
            <a:srgbClr val="FFFFFF">
              <a:alpha val="7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9" name="フリーフォーム: 図形 58"/>
          <p:cNvSpPr/>
          <p:nvPr/>
        </p:nvSpPr>
        <p:spPr>
          <a:xfrm>
            <a:off x="467640" y="3810600"/>
            <a:ext cx="1814040" cy="8640"/>
          </a:xfrm>
          <a:custGeom>
            <a:avLst/>
            <a:gdLst/>
            <a:ahLst/>
            <a:cxnLst/>
            <a:rect l="0" t="0" r="r" b="b"/>
            <a:pathLst>
              <a:path w="5039" h="24">
                <a:moveTo>
                  <a:pt x="0" y="0"/>
                </a:moveTo>
                <a:lnTo>
                  <a:pt x="5039" y="0"/>
                </a:lnTo>
                <a:lnTo>
                  <a:pt x="5039"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0" name="フリーフォーム: 図形 59"/>
          <p:cNvSpPr/>
          <p:nvPr/>
        </p:nvSpPr>
        <p:spPr>
          <a:xfrm>
            <a:off x="2281320" y="3810600"/>
            <a:ext cx="3802680" cy="8640"/>
          </a:xfrm>
          <a:custGeom>
            <a:avLst/>
            <a:gdLst/>
            <a:ahLst/>
            <a:cxnLst/>
            <a:rect l="0" t="0" r="r" b="b"/>
            <a:pathLst>
              <a:path w="10563" h="24">
                <a:moveTo>
                  <a:pt x="0" y="0"/>
                </a:moveTo>
                <a:lnTo>
                  <a:pt x="10563" y="0"/>
                </a:lnTo>
                <a:lnTo>
                  <a:pt x="10563"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1" name="フリーフォーム: 図形 60"/>
          <p:cNvSpPr/>
          <p:nvPr/>
        </p:nvSpPr>
        <p:spPr>
          <a:xfrm>
            <a:off x="467640" y="3810600"/>
            <a:ext cx="9360" cy="451440"/>
          </a:xfrm>
          <a:custGeom>
            <a:avLst/>
            <a:gdLst/>
            <a:ahLst/>
            <a:cxnLst/>
            <a:rect l="0" t="0" r="r" b="b"/>
            <a:pathLst>
              <a:path w="26" h="1254">
                <a:moveTo>
                  <a:pt x="0" y="0"/>
                </a:moveTo>
                <a:lnTo>
                  <a:pt x="26" y="0"/>
                </a:lnTo>
                <a:lnTo>
                  <a:pt x="26" y="1254"/>
                </a:lnTo>
                <a:lnTo>
                  <a:pt x="0" y="125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2" name="フリーフォーム: 図形 61"/>
          <p:cNvSpPr/>
          <p:nvPr/>
        </p:nvSpPr>
        <p:spPr>
          <a:xfrm>
            <a:off x="2272680" y="3810600"/>
            <a:ext cx="9360" cy="451440"/>
          </a:xfrm>
          <a:custGeom>
            <a:avLst/>
            <a:gdLst/>
            <a:ahLst/>
            <a:cxnLst/>
            <a:rect l="0" t="0" r="r" b="b"/>
            <a:pathLst>
              <a:path w="26" h="1254">
                <a:moveTo>
                  <a:pt x="0" y="0"/>
                </a:moveTo>
                <a:lnTo>
                  <a:pt x="26" y="0"/>
                </a:lnTo>
                <a:lnTo>
                  <a:pt x="26" y="1254"/>
                </a:lnTo>
                <a:lnTo>
                  <a:pt x="0" y="125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3" name="フリーフォーム: 図形 62"/>
          <p:cNvSpPr/>
          <p:nvPr/>
        </p:nvSpPr>
        <p:spPr>
          <a:xfrm>
            <a:off x="6075000" y="3810600"/>
            <a:ext cx="9000" cy="451440"/>
          </a:xfrm>
          <a:custGeom>
            <a:avLst/>
            <a:gdLst/>
            <a:ahLst/>
            <a:cxnLst/>
            <a:rect l="0" t="0" r="r" b="b"/>
            <a:pathLst>
              <a:path w="25" h="1254">
                <a:moveTo>
                  <a:pt x="0" y="0"/>
                </a:moveTo>
                <a:lnTo>
                  <a:pt x="25" y="0"/>
                </a:lnTo>
                <a:lnTo>
                  <a:pt x="25" y="1254"/>
                </a:lnTo>
                <a:lnTo>
                  <a:pt x="0" y="125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4" name="フリーフォーム: 図形 63"/>
          <p:cNvSpPr/>
          <p:nvPr/>
        </p:nvSpPr>
        <p:spPr>
          <a:xfrm>
            <a:off x="467640" y="4261680"/>
            <a:ext cx="9360" cy="443160"/>
          </a:xfrm>
          <a:custGeom>
            <a:avLst/>
            <a:gdLst/>
            <a:ahLst/>
            <a:cxnLst/>
            <a:rect l="0" t="0" r="r" b="b"/>
            <a:pathLst>
              <a:path w="26" h="1231">
                <a:moveTo>
                  <a:pt x="0" y="0"/>
                </a:moveTo>
                <a:lnTo>
                  <a:pt x="26" y="0"/>
                </a:lnTo>
                <a:lnTo>
                  <a:pt x="26" y="1231"/>
                </a:lnTo>
                <a:lnTo>
                  <a:pt x="0" y="1231"/>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5" name="フリーフォーム: 図形 64"/>
          <p:cNvSpPr/>
          <p:nvPr/>
        </p:nvSpPr>
        <p:spPr>
          <a:xfrm>
            <a:off x="467640" y="4253400"/>
            <a:ext cx="1814040" cy="8640"/>
          </a:xfrm>
          <a:custGeom>
            <a:avLst/>
            <a:gdLst/>
            <a:ahLst/>
            <a:cxnLst/>
            <a:rect l="0" t="0" r="r" b="b"/>
            <a:pathLst>
              <a:path w="5039" h="24">
                <a:moveTo>
                  <a:pt x="0" y="0"/>
                </a:moveTo>
                <a:lnTo>
                  <a:pt x="5039" y="0"/>
                </a:lnTo>
                <a:lnTo>
                  <a:pt x="5039"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6" name="フリーフォーム: 図形 65"/>
          <p:cNvSpPr/>
          <p:nvPr/>
        </p:nvSpPr>
        <p:spPr>
          <a:xfrm>
            <a:off x="2272680" y="4261680"/>
            <a:ext cx="9360" cy="443160"/>
          </a:xfrm>
          <a:custGeom>
            <a:avLst/>
            <a:gdLst/>
            <a:ahLst/>
            <a:cxnLst/>
            <a:rect l="0" t="0" r="r" b="b"/>
            <a:pathLst>
              <a:path w="26" h="1231">
                <a:moveTo>
                  <a:pt x="0" y="0"/>
                </a:moveTo>
                <a:lnTo>
                  <a:pt x="26" y="0"/>
                </a:lnTo>
                <a:lnTo>
                  <a:pt x="26" y="1231"/>
                </a:lnTo>
                <a:lnTo>
                  <a:pt x="0" y="1231"/>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7" name="フリーフォーム: 図形 66"/>
          <p:cNvSpPr/>
          <p:nvPr/>
        </p:nvSpPr>
        <p:spPr>
          <a:xfrm>
            <a:off x="2281320" y="4253400"/>
            <a:ext cx="3802680" cy="8640"/>
          </a:xfrm>
          <a:custGeom>
            <a:avLst/>
            <a:gdLst/>
            <a:ahLst/>
            <a:cxnLst/>
            <a:rect l="0" t="0" r="r" b="b"/>
            <a:pathLst>
              <a:path w="10563" h="24">
                <a:moveTo>
                  <a:pt x="0" y="0"/>
                </a:moveTo>
                <a:lnTo>
                  <a:pt x="10563" y="0"/>
                </a:lnTo>
                <a:lnTo>
                  <a:pt x="10563"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8" name="フリーフォーム: 図形 67"/>
          <p:cNvSpPr/>
          <p:nvPr/>
        </p:nvSpPr>
        <p:spPr>
          <a:xfrm>
            <a:off x="6075000" y="4261680"/>
            <a:ext cx="9000" cy="443160"/>
          </a:xfrm>
          <a:custGeom>
            <a:avLst/>
            <a:gdLst/>
            <a:ahLst/>
            <a:cxnLst/>
            <a:rect l="0" t="0" r="r" b="b"/>
            <a:pathLst>
              <a:path w="25" h="1231">
                <a:moveTo>
                  <a:pt x="0" y="0"/>
                </a:moveTo>
                <a:lnTo>
                  <a:pt x="25" y="0"/>
                </a:lnTo>
                <a:lnTo>
                  <a:pt x="25" y="1231"/>
                </a:lnTo>
                <a:lnTo>
                  <a:pt x="0" y="1231"/>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9" name="フリーフォーム: 図形 68"/>
          <p:cNvSpPr/>
          <p:nvPr/>
        </p:nvSpPr>
        <p:spPr>
          <a:xfrm>
            <a:off x="467640" y="4704480"/>
            <a:ext cx="9360" cy="443520"/>
          </a:xfrm>
          <a:custGeom>
            <a:avLst/>
            <a:gdLst/>
            <a:ahLst/>
            <a:cxnLst/>
            <a:rect l="0" t="0" r="r" b="b"/>
            <a:pathLst>
              <a:path w="26" h="1232">
                <a:moveTo>
                  <a:pt x="0" y="0"/>
                </a:moveTo>
                <a:lnTo>
                  <a:pt x="26" y="0"/>
                </a:lnTo>
                <a:lnTo>
                  <a:pt x="26" y="1232"/>
                </a:lnTo>
                <a:lnTo>
                  <a:pt x="0" y="1232"/>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0" name="フリーフォーム: 図形 69"/>
          <p:cNvSpPr/>
          <p:nvPr/>
        </p:nvSpPr>
        <p:spPr>
          <a:xfrm>
            <a:off x="467640" y="4696200"/>
            <a:ext cx="1814040" cy="8640"/>
          </a:xfrm>
          <a:custGeom>
            <a:avLst/>
            <a:gdLst/>
            <a:ahLst/>
            <a:cxnLst/>
            <a:rect l="0" t="0" r="r" b="b"/>
            <a:pathLst>
              <a:path w="5039" h="24">
                <a:moveTo>
                  <a:pt x="0" y="0"/>
                </a:moveTo>
                <a:lnTo>
                  <a:pt x="5039" y="0"/>
                </a:lnTo>
                <a:lnTo>
                  <a:pt x="5039"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1" name="フリーフォーム: 図形 70"/>
          <p:cNvSpPr/>
          <p:nvPr/>
        </p:nvSpPr>
        <p:spPr>
          <a:xfrm>
            <a:off x="2272680" y="4704480"/>
            <a:ext cx="9360" cy="443520"/>
          </a:xfrm>
          <a:custGeom>
            <a:avLst/>
            <a:gdLst/>
            <a:ahLst/>
            <a:cxnLst/>
            <a:rect l="0" t="0" r="r" b="b"/>
            <a:pathLst>
              <a:path w="26" h="1232">
                <a:moveTo>
                  <a:pt x="0" y="0"/>
                </a:moveTo>
                <a:lnTo>
                  <a:pt x="26" y="0"/>
                </a:lnTo>
                <a:lnTo>
                  <a:pt x="26" y="1232"/>
                </a:lnTo>
                <a:lnTo>
                  <a:pt x="0" y="1232"/>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2" name="フリーフォーム: 図形 71"/>
          <p:cNvSpPr/>
          <p:nvPr/>
        </p:nvSpPr>
        <p:spPr>
          <a:xfrm>
            <a:off x="2281320" y="4696200"/>
            <a:ext cx="3802680" cy="8640"/>
          </a:xfrm>
          <a:custGeom>
            <a:avLst/>
            <a:gdLst/>
            <a:ahLst/>
            <a:cxnLst/>
            <a:rect l="0" t="0" r="r" b="b"/>
            <a:pathLst>
              <a:path w="10563" h="24">
                <a:moveTo>
                  <a:pt x="0" y="0"/>
                </a:moveTo>
                <a:lnTo>
                  <a:pt x="10563" y="0"/>
                </a:lnTo>
                <a:lnTo>
                  <a:pt x="10563"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3" name="フリーフォーム: 図形 72"/>
          <p:cNvSpPr/>
          <p:nvPr/>
        </p:nvSpPr>
        <p:spPr>
          <a:xfrm>
            <a:off x="6075000" y="4704480"/>
            <a:ext cx="9000" cy="443520"/>
          </a:xfrm>
          <a:custGeom>
            <a:avLst/>
            <a:gdLst/>
            <a:ahLst/>
            <a:cxnLst/>
            <a:rect l="0" t="0" r="r" b="b"/>
            <a:pathLst>
              <a:path w="25" h="1232">
                <a:moveTo>
                  <a:pt x="0" y="0"/>
                </a:moveTo>
                <a:lnTo>
                  <a:pt x="25" y="0"/>
                </a:lnTo>
                <a:lnTo>
                  <a:pt x="25" y="1232"/>
                </a:lnTo>
                <a:lnTo>
                  <a:pt x="0" y="1232"/>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4" name="フリーフォーム: 図形 73"/>
          <p:cNvSpPr/>
          <p:nvPr/>
        </p:nvSpPr>
        <p:spPr>
          <a:xfrm>
            <a:off x="467640" y="5139360"/>
            <a:ext cx="1814040" cy="8640"/>
          </a:xfrm>
          <a:custGeom>
            <a:avLst/>
            <a:gdLst/>
            <a:ahLst/>
            <a:cxnLst/>
            <a:rect l="0" t="0" r="r" b="b"/>
            <a:pathLst>
              <a:path w="5039" h="24">
                <a:moveTo>
                  <a:pt x="0" y="0"/>
                </a:moveTo>
                <a:lnTo>
                  <a:pt x="5039" y="0"/>
                </a:lnTo>
                <a:lnTo>
                  <a:pt x="5039"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5" name="フリーフォーム: 図形 74"/>
          <p:cNvSpPr/>
          <p:nvPr/>
        </p:nvSpPr>
        <p:spPr>
          <a:xfrm>
            <a:off x="2281320" y="5139360"/>
            <a:ext cx="3802680" cy="8640"/>
          </a:xfrm>
          <a:custGeom>
            <a:avLst/>
            <a:gdLst/>
            <a:ahLst/>
            <a:cxnLst/>
            <a:rect l="0" t="0" r="r" b="b"/>
            <a:pathLst>
              <a:path w="10563" h="24">
                <a:moveTo>
                  <a:pt x="0" y="0"/>
                </a:moveTo>
                <a:lnTo>
                  <a:pt x="10563" y="0"/>
                </a:lnTo>
                <a:lnTo>
                  <a:pt x="10563"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6" name="テキスト ボックス 75"/>
          <p:cNvSpPr txBox="1"/>
          <p:nvPr/>
        </p:nvSpPr>
        <p:spPr>
          <a:xfrm>
            <a:off x="885960" y="2183400"/>
            <a:ext cx="37728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濃度の上昇により、コントラスト感度低下などの影響も</a:t>
            </a:r>
            <a:endParaRPr lang="en-US" sz="1180" b="0" u="none" strike="noStrike">
              <a:solidFill>
                <a:srgbClr val="000000"/>
              </a:solidFill>
              <a:effectLst/>
              <a:uFillTx/>
              <a:latin typeface="Times New Roman"/>
            </a:endParaRPr>
          </a:p>
        </p:txBody>
      </p:sp>
      <p:sp>
        <p:nvSpPr>
          <p:cNvPr id="77" name="テキスト ボックス 76"/>
          <p:cNvSpPr txBox="1"/>
          <p:nvPr/>
        </p:nvSpPr>
        <p:spPr>
          <a:xfrm>
            <a:off x="468000" y="3006000"/>
            <a:ext cx="201240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濃度による健康リスク</a:t>
            </a:r>
            <a:endParaRPr lang="en-US" sz="1580" b="0" u="none" strike="noStrike">
              <a:solidFill>
                <a:srgbClr val="000000"/>
              </a:solidFill>
              <a:effectLst/>
              <a:uFillTx/>
              <a:latin typeface="Times New Roman"/>
            </a:endParaRPr>
          </a:p>
        </p:txBody>
      </p:sp>
      <p:sp>
        <p:nvSpPr>
          <p:cNvPr id="78" name="テキスト ボックス 77"/>
          <p:cNvSpPr txBox="1"/>
          <p:nvPr/>
        </p:nvSpPr>
        <p:spPr>
          <a:xfrm>
            <a:off x="978840" y="3520800"/>
            <a:ext cx="836280" cy="219960"/>
          </a:xfrm>
          <a:prstGeom prst="rect">
            <a:avLst/>
          </a:prstGeom>
          <a:noFill/>
          <a:ln w="0">
            <a:noFill/>
          </a:ln>
        </p:spPr>
        <p:txBody>
          <a:bodyPr wrap="none" lIns="0" tIns="0" rIns="0" bIns="0" anchor="t">
            <a:spAutoFit/>
          </a:bodyPr>
          <a:lstStyle/>
          <a:p>
            <a:r>
              <a:rPr lang="zh-CN" sz="1180" b="0" u="none" strike="noStrike">
                <a:solidFill>
                  <a:srgbClr val="FFFFFF"/>
                </a:solidFill>
                <a:effectLst/>
                <a:uFillTx/>
                <a:latin typeface="NotoSansJP"/>
                <a:ea typeface="NotoSansJP"/>
              </a:rPr>
              <a:t>濃度 </a:t>
            </a:r>
            <a:r>
              <a:rPr lang="en-US" sz="1180" b="0" u="none" strike="noStrike">
                <a:solidFill>
                  <a:srgbClr val="FFFFFF"/>
                </a:solidFill>
                <a:effectLst/>
                <a:uFillTx/>
                <a:latin typeface="NotoSansJP"/>
                <a:ea typeface="NotoSansJP"/>
              </a:rPr>
              <a:t>(ppm)</a:t>
            </a:r>
            <a:endParaRPr lang="en-US" sz="1180" b="0" u="none" strike="noStrike">
              <a:solidFill>
                <a:srgbClr val="000000"/>
              </a:solidFill>
              <a:effectLst/>
              <a:uFillTx/>
              <a:latin typeface="Times New Roman"/>
            </a:endParaRPr>
          </a:p>
        </p:txBody>
      </p:sp>
      <p:sp>
        <p:nvSpPr>
          <p:cNvPr id="79" name="テキスト ボックス 78"/>
          <p:cNvSpPr txBox="1"/>
          <p:nvPr/>
        </p:nvSpPr>
        <p:spPr>
          <a:xfrm>
            <a:off x="3803400" y="3520800"/>
            <a:ext cx="755280" cy="219960"/>
          </a:xfrm>
          <a:prstGeom prst="rect">
            <a:avLst/>
          </a:prstGeom>
          <a:noFill/>
          <a:ln w="0">
            <a:noFill/>
          </a:ln>
        </p:spPr>
        <p:txBody>
          <a:bodyPr wrap="none" lIns="0" tIns="0" rIns="0" bIns="0" anchor="t">
            <a:spAutoFit/>
          </a:bodyPr>
          <a:lstStyle/>
          <a:p>
            <a:r>
              <a:rPr lang="zh-CN" sz="1180" b="0" u="none" strike="noStrike">
                <a:solidFill>
                  <a:srgbClr val="FFFFFF"/>
                </a:solidFill>
                <a:effectLst/>
                <a:uFillTx/>
                <a:latin typeface="NotoSansJP"/>
                <a:ea typeface="NotoSansJP"/>
              </a:rPr>
              <a:t>健康リスク</a:t>
            </a:r>
            <a:endParaRPr lang="en-US" sz="1180" b="0" u="none" strike="noStrike">
              <a:solidFill>
                <a:srgbClr val="000000"/>
              </a:solidFill>
              <a:effectLst/>
              <a:uFillTx/>
              <a:latin typeface="Times New Roman"/>
            </a:endParaRPr>
          </a:p>
        </p:txBody>
      </p:sp>
      <p:sp>
        <p:nvSpPr>
          <p:cNvPr id="80" name="テキスト ボックス 79"/>
          <p:cNvSpPr txBox="1"/>
          <p:nvPr/>
        </p:nvSpPr>
        <p:spPr>
          <a:xfrm>
            <a:off x="1121040" y="3963600"/>
            <a:ext cx="57744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1.2</a:t>
            </a:r>
            <a:r>
              <a:rPr lang="zh-CN" sz="1180" b="0" u="none" strike="noStrike">
                <a:solidFill>
                  <a:srgbClr val="000000"/>
                </a:solidFill>
                <a:effectLst/>
                <a:uFillTx/>
                <a:latin typeface="NotoSansJP"/>
                <a:ea typeface="NotoSansJP"/>
              </a:rPr>
              <a:t>未満</a:t>
            </a:r>
            <a:endParaRPr lang="en-US" sz="1180" b="0" u="none" strike="noStrike">
              <a:solidFill>
                <a:srgbClr val="000000"/>
              </a:solidFill>
              <a:effectLst/>
              <a:uFillTx/>
              <a:latin typeface="Times New Roman"/>
            </a:endParaRPr>
          </a:p>
        </p:txBody>
      </p:sp>
      <p:sp>
        <p:nvSpPr>
          <p:cNvPr id="81" name="テキスト ボックス 80"/>
          <p:cNvSpPr txBox="1"/>
          <p:nvPr/>
        </p:nvSpPr>
        <p:spPr>
          <a:xfrm>
            <a:off x="2417400" y="3963600"/>
            <a:ext cx="3024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不明</a:t>
            </a:r>
            <a:endParaRPr lang="en-US" sz="1180" b="0" u="none" strike="noStrike">
              <a:solidFill>
                <a:srgbClr val="000000"/>
              </a:solidFill>
              <a:effectLst/>
              <a:uFillTx/>
              <a:latin typeface="Times New Roman"/>
            </a:endParaRPr>
          </a:p>
        </p:txBody>
      </p:sp>
      <p:sp>
        <p:nvSpPr>
          <p:cNvPr id="82" name="テキスト ボックス 81"/>
          <p:cNvSpPr txBox="1"/>
          <p:nvPr/>
        </p:nvSpPr>
        <p:spPr>
          <a:xfrm>
            <a:off x="1271520" y="4406400"/>
            <a:ext cx="240840" cy="17568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1.2</a:t>
            </a:r>
            <a:endParaRPr lang="en-US" sz="1180" b="0" u="none" strike="noStrike">
              <a:solidFill>
                <a:srgbClr val="000000"/>
              </a:solidFill>
              <a:effectLst/>
              <a:uFillTx/>
              <a:latin typeface="Times New Roman"/>
            </a:endParaRPr>
          </a:p>
        </p:txBody>
      </p:sp>
      <p:sp>
        <p:nvSpPr>
          <p:cNvPr id="83" name="テキスト ボックス 82"/>
          <p:cNvSpPr txBox="1"/>
          <p:nvPr/>
        </p:nvSpPr>
        <p:spPr>
          <a:xfrm>
            <a:off x="2417400" y="4406400"/>
            <a:ext cx="6040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視力低下</a:t>
            </a:r>
            <a:endParaRPr lang="en-US" sz="1180" b="0" u="none" strike="noStrike">
              <a:solidFill>
                <a:srgbClr val="000000"/>
              </a:solidFill>
              <a:effectLst/>
              <a:uFillTx/>
              <a:latin typeface="Times New Roman"/>
            </a:endParaRPr>
          </a:p>
        </p:txBody>
      </p:sp>
      <p:sp>
        <p:nvSpPr>
          <p:cNvPr id="84" name="テキスト ボックス 83"/>
          <p:cNvSpPr txBox="1"/>
          <p:nvPr/>
        </p:nvSpPr>
        <p:spPr>
          <a:xfrm>
            <a:off x="1271520" y="4849200"/>
            <a:ext cx="240840" cy="17568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2.6</a:t>
            </a:r>
            <a:endParaRPr lang="en-US" sz="1180" b="0" u="none" strike="noStrike">
              <a:solidFill>
                <a:srgbClr val="000000"/>
              </a:solidFill>
              <a:effectLst/>
              <a:uFillTx/>
              <a:latin typeface="Times New Roman"/>
            </a:endParaRPr>
          </a:p>
        </p:txBody>
      </p:sp>
      <p:sp>
        <p:nvSpPr>
          <p:cNvPr id="85" name="テキスト ボックス 84"/>
          <p:cNvSpPr txBox="1"/>
          <p:nvPr/>
        </p:nvSpPr>
        <p:spPr>
          <a:xfrm>
            <a:off x="2417400" y="4849200"/>
            <a:ext cx="19620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視力低下、コントラスト低下</a:t>
            </a:r>
            <a:endParaRPr lang="en-US" sz="1180" b="0" u="none" strike="noStrike">
              <a:solidFill>
                <a:srgbClr val="000000"/>
              </a:solidFill>
              <a:effectLst/>
              <a:uFillTx/>
              <a:latin typeface="Times New Roman"/>
            </a:endParaRPr>
          </a:p>
        </p:txBody>
      </p:sp>
      <p:sp>
        <p:nvSpPr>
          <p:cNvPr id="86" name="フリーフォーム: 図形 85"/>
          <p:cNvSpPr/>
          <p:nvPr/>
        </p:nvSpPr>
        <p:spPr>
          <a:xfrm>
            <a:off x="6484680" y="869040"/>
            <a:ext cx="3944520" cy="2607480"/>
          </a:xfrm>
          <a:custGeom>
            <a:avLst/>
            <a:gdLst/>
            <a:ahLst/>
            <a:cxnLst/>
            <a:rect l="0" t="0" r="r" b="b"/>
            <a:pathLst>
              <a:path w="10957" h="7243">
                <a:moveTo>
                  <a:pt x="0" y="7057"/>
                </a:moveTo>
                <a:lnTo>
                  <a:pt x="0" y="185"/>
                </a:lnTo>
                <a:cubicBezTo>
                  <a:pt x="0" y="173"/>
                  <a:pt x="1" y="161"/>
                  <a:pt x="3" y="149"/>
                </a:cubicBezTo>
                <a:cubicBezTo>
                  <a:pt x="6" y="137"/>
                  <a:pt x="9" y="126"/>
                  <a:pt x="14" y="114"/>
                </a:cubicBezTo>
                <a:cubicBezTo>
                  <a:pt x="19" y="103"/>
                  <a:pt x="24" y="92"/>
                  <a:pt x="31" y="82"/>
                </a:cubicBezTo>
                <a:cubicBezTo>
                  <a:pt x="38" y="72"/>
                  <a:pt x="46" y="63"/>
                  <a:pt x="54" y="54"/>
                </a:cubicBezTo>
                <a:cubicBezTo>
                  <a:pt x="63" y="45"/>
                  <a:pt x="72" y="38"/>
                  <a:pt x="82" y="31"/>
                </a:cubicBezTo>
                <a:cubicBezTo>
                  <a:pt x="92" y="24"/>
                  <a:pt x="103" y="18"/>
                  <a:pt x="114" y="14"/>
                </a:cubicBezTo>
                <a:cubicBezTo>
                  <a:pt x="126" y="9"/>
                  <a:pt x="137" y="6"/>
                  <a:pt x="149" y="3"/>
                </a:cubicBezTo>
                <a:cubicBezTo>
                  <a:pt x="161" y="1"/>
                  <a:pt x="173" y="0"/>
                  <a:pt x="186" y="0"/>
                </a:cubicBezTo>
                <a:lnTo>
                  <a:pt x="10772" y="0"/>
                </a:lnTo>
                <a:cubicBezTo>
                  <a:pt x="10784" y="0"/>
                  <a:pt x="10796" y="1"/>
                  <a:pt x="10808" y="3"/>
                </a:cubicBezTo>
                <a:cubicBezTo>
                  <a:pt x="10820" y="6"/>
                  <a:pt x="10831" y="9"/>
                  <a:pt x="10843" y="14"/>
                </a:cubicBezTo>
                <a:cubicBezTo>
                  <a:pt x="10854" y="18"/>
                  <a:pt x="10865" y="24"/>
                  <a:pt x="10875" y="31"/>
                </a:cubicBezTo>
                <a:cubicBezTo>
                  <a:pt x="10885" y="38"/>
                  <a:pt x="10894" y="45"/>
                  <a:pt x="10903" y="54"/>
                </a:cubicBezTo>
                <a:cubicBezTo>
                  <a:pt x="10912" y="63"/>
                  <a:pt x="10919" y="72"/>
                  <a:pt x="10926" y="82"/>
                </a:cubicBezTo>
                <a:cubicBezTo>
                  <a:pt x="10933" y="92"/>
                  <a:pt x="10939" y="103"/>
                  <a:pt x="10943" y="114"/>
                </a:cubicBezTo>
                <a:cubicBezTo>
                  <a:pt x="10948" y="126"/>
                  <a:pt x="10951" y="137"/>
                  <a:pt x="10954" y="149"/>
                </a:cubicBezTo>
                <a:cubicBezTo>
                  <a:pt x="10956" y="161"/>
                  <a:pt x="10957" y="173"/>
                  <a:pt x="10957" y="185"/>
                </a:cubicBezTo>
                <a:lnTo>
                  <a:pt x="10957" y="7057"/>
                </a:lnTo>
                <a:cubicBezTo>
                  <a:pt x="10957" y="7070"/>
                  <a:pt x="10956" y="7082"/>
                  <a:pt x="10954" y="7094"/>
                </a:cubicBezTo>
                <a:cubicBezTo>
                  <a:pt x="10951" y="7106"/>
                  <a:pt x="10948" y="7117"/>
                  <a:pt x="10943" y="7128"/>
                </a:cubicBezTo>
                <a:cubicBezTo>
                  <a:pt x="10939" y="7140"/>
                  <a:pt x="10933" y="7150"/>
                  <a:pt x="10926" y="7161"/>
                </a:cubicBezTo>
                <a:cubicBezTo>
                  <a:pt x="10919" y="7171"/>
                  <a:pt x="10912" y="7180"/>
                  <a:pt x="10903" y="7189"/>
                </a:cubicBezTo>
                <a:cubicBezTo>
                  <a:pt x="10894" y="7197"/>
                  <a:pt x="10885" y="7205"/>
                  <a:pt x="10875" y="7212"/>
                </a:cubicBezTo>
                <a:cubicBezTo>
                  <a:pt x="10865" y="7219"/>
                  <a:pt x="10854" y="7224"/>
                  <a:pt x="10843" y="7229"/>
                </a:cubicBezTo>
                <a:cubicBezTo>
                  <a:pt x="10831" y="7234"/>
                  <a:pt x="10820" y="7237"/>
                  <a:pt x="10808" y="7240"/>
                </a:cubicBezTo>
                <a:cubicBezTo>
                  <a:pt x="10796" y="7242"/>
                  <a:pt x="10784" y="7243"/>
                  <a:pt x="10772" y="7243"/>
                </a:cubicBezTo>
                <a:lnTo>
                  <a:pt x="186" y="7243"/>
                </a:lnTo>
                <a:cubicBezTo>
                  <a:pt x="173" y="7243"/>
                  <a:pt x="161" y="7242"/>
                  <a:pt x="149" y="7240"/>
                </a:cubicBezTo>
                <a:cubicBezTo>
                  <a:pt x="137" y="7237"/>
                  <a:pt x="126" y="7234"/>
                  <a:pt x="114" y="7229"/>
                </a:cubicBezTo>
                <a:cubicBezTo>
                  <a:pt x="103" y="7224"/>
                  <a:pt x="92" y="7219"/>
                  <a:pt x="82" y="7212"/>
                </a:cubicBezTo>
                <a:cubicBezTo>
                  <a:pt x="72" y="7205"/>
                  <a:pt x="63" y="7197"/>
                  <a:pt x="54" y="7189"/>
                </a:cubicBezTo>
                <a:cubicBezTo>
                  <a:pt x="46" y="7180"/>
                  <a:pt x="38" y="7171"/>
                  <a:pt x="31" y="7161"/>
                </a:cubicBezTo>
                <a:cubicBezTo>
                  <a:pt x="24" y="7150"/>
                  <a:pt x="19" y="7140"/>
                  <a:pt x="14" y="7128"/>
                </a:cubicBezTo>
                <a:cubicBezTo>
                  <a:pt x="9" y="7117"/>
                  <a:pt x="6" y="7106"/>
                  <a:pt x="3" y="7094"/>
                </a:cubicBezTo>
                <a:cubicBezTo>
                  <a:pt x="1" y="7082"/>
                  <a:pt x="0" y="7070"/>
                  <a:pt x="0" y="7057"/>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7" name="フリーフォーム: 図形 86"/>
          <p:cNvSpPr/>
          <p:nvPr/>
        </p:nvSpPr>
        <p:spPr>
          <a:xfrm>
            <a:off x="6484680" y="3676680"/>
            <a:ext cx="3944520" cy="1671840"/>
          </a:xfrm>
          <a:custGeom>
            <a:avLst/>
            <a:gdLst/>
            <a:ahLst/>
            <a:cxnLst/>
            <a:rect l="0" t="0" r="r" b="b"/>
            <a:pathLst>
              <a:path w="10957" h="4644">
                <a:moveTo>
                  <a:pt x="0" y="4458"/>
                </a:moveTo>
                <a:lnTo>
                  <a:pt x="0" y="186"/>
                </a:lnTo>
                <a:cubicBezTo>
                  <a:pt x="0" y="174"/>
                  <a:pt x="1" y="162"/>
                  <a:pt x="3" y="150"/>
                </a:cubicBezTo>
                <a:cubicBezTo>
                  <a:pt x="6" y="138"/>
                  <a:pt x="9" y="126"/>
                  <a:pt x="14" y="115"/>
                </a:cubicBezTo>
                <a:cubicBezTo>
                  <a:pt x="19" y="104"/>
                  <a:pt x="24" y="93"/>
                  <a:pt x="31" y="83"/>
                </a:cubicBezTo>
                <a:cubicBezTo>
                  <a:pt x="38" y="73"/>
                  <a:pt x="46" y="63"/>
                  <a:pt x="54" y="55"/>
                </a:cubicBezTo>
                <a:cubicBezTo>
                  <a:pt x="63" y="46"/>
                  <a:pt x="72" y="38"/>
                  <a:pt x="82" y="32"/>
                </a:cubicBezTo>
                <a:cubicBezTo>
                  <a:pt x="92" y="25"/>
                  <a:pt x="103" y="19"/>
                  <a:pt x="114" y="14"/>
                </a:cubicBezTo>
                <a:cubicBezTo>
                  <a:pt x="126" y="10"/>
                  <a:pt x="137" y="6"/>
                  <a:pt x="149" y="4"/>
                </a:cubicBezTo>
                <a:cubicBezTo>
                  <a:pt x="161" y="1"/>
                  <a:pt x="173" y="0"/>
                  <a:pt x="186" y="0"/>
                </a:cubicBezTo>
                <a:lnTo>
                  <a:pt x="10772" y="0"/>
                </a:lnTo>
                <a:cubicBezTo>
                  <a:pt x="10784" y="0"/>
                  <a:pt x="10796" y="1"/>
                  <a:pt x="10808" y="4"/>
                </a:cubicBezTo>
                <a:cubicBezTo>
                  <a:pt x="10820" y="6"/>
                  <a:pt x="10831" y="10"/>
                  <a:pt x="10843" y="14"/>
                </a:cubicBezTo>
                <a:cubicBezTo>
                  <a:pt x="10854" y="19"/>
                  <a:pt x="10865" y="25"/>
                  <a:pt x="10875" y="32"/>
                </a:cubicBezTo>
                <a:cubicBezTo>
                  <a:pt x="10885" y="38"/>
                  <a:pt x="10894" y="46"/>
                  <a:pt x="10903" y="55"/>
                </a:cubicBezTo>
                <a:cubicBezTo>
                  <a:pt x="10912" y="63"/>
                  <a:pt x="10919" y="73"/>
                  <a:pt x="10926" y="83"/>
                </a:cubicBezTo>
                <a:cubicBezTo>
                  <a:pt x="10933" y="93"/>
                  <a:pt x="10939" y="104"/>
                  <a:pt x="10943" y="115"/>
                </a:cubicBezTo>
                <a:cubicBezTo>
                  <a:pt x="10948" y="126"/>
                  <a:pt x="10951" y="138"/>
                  <a:pt x="10954" y="150"/>
                </a:cubicBezTo>
                <a:cubicBezTo>
                  <a:pt x="10956" y="162"/>
                  <a:pt x="10957" y="174"/>
                  <a:pt x="10957" y="186"/>
                </a:cubicBezTo>
                <a:lnTo>
                  <a:pt x="10957" y="4458"/>
                </a:lnTo>
                <a:cubicBezTo>
                  <a:pt x="10957" y="4470"/>
                  <a:pt x="10956" y="4482"/>
                  <a:pt x="10954" y="4494"/>
                </a:cubicBezTo>
                <a:cubicBezTo>
                  <a:pt x="10951" y="4506"/>
                  <a:pt x="10948" y="4518"/>
                  <a:pt x="10943" y="4529"/>
                </a:cubicBezTo>
                <a:cubicBezTo>
                  <a:pt x="10939" y="4540"/>
                  <a:pt x="10933" y="4551"/>
                  <a:pt x="10926" y="4561"/>
                </a:cubicBezTo>
                <a:cubicBezTo>
                  <a:pt x="10919" y="4571"/>
                  <a:pt x="10912" y="4581"/>
                  <a:pt x="10903" y="4589"/>
                </a:cubicBezTo>
                <a:cubicBezTo>
                  <a:pt x="10894" y="4598"/>
                  <a:pt x="10885" y="4606"/>
                  <a:pt x="10875" y="4613"/>
                </a:cubicBezTo>
                <a:cubicBezTo>
                  <a:pt x="10865" y="4619"/>
                  <a:pt x="10854" y="4625"/>
                  <a:pt x="10843" y="4630"/>
                </a:cubicBezTo>
                <a:cubicBezTo>
                  <a:pt x="10831" y="4634"/>
                  <a:pt x="10820" y="4638"/>
                  <a:pt x="10808" y="4640"/>
                </a:cubicBezTo>
                <a:cubicBezTo>
                  <a:pt x="10796" y="4643"/>
                  <a:pt x="10784" y="4644"/>
                  <a:pt x="10772" y="4644"/>
                </a:cubicBezTo>
                <a:lnTo>
                  <a:pt x="186" y="4644"/>
                </a:lnTo>
                <a:cubicBezTo>
                  <a:pt x="173" y="4644"/>
                  <a:pt x="161" y="4643"/>
                  <a:pt x="149" y="4640"/>
                </a:cubicBezTo>
                <a:cubicBezTo>
                  <a:pt x="137" y="4638"/>
                  <a:pt x="126" y="4634"/>
                  <a:pt x="114" y="4630"/>
                </a:cubicBezTo>
                <a:cubicBezTo>
                  <a:pt x="103" y="4625"/>
                  <a:pt x="92" y="4619"/>
                  <a:pt x="82" y="4613"/>
                </a:cubicBezTo>
                <a:cubicBezTo>
                  <a:pt x="72" y="4606"/>
                  <a:pt x="63" y="4598"/>
                  <a:pt x="54" y="4589"/>
                </a:cubicBezTo>
                <a:cubicBezTo>
                  <a:pt x="46" y="4581"/>
                  <a:pt x="38" y="4571"/>
                  <a:pt x="31" y="4561"/>
                </a:cubicBezTo>
                <a:cubicBezTo>
                  <a:pt x="24" y="4551"/>
                  <a:pt x="19" y="4540"/>
                  <a:pt x="14" y="4529"/>
                </a:cubicBezTo>
                <a:cubicBezTo>
                  <a:pt x="9" y="4518"/>
                  <a:pt x="6" y="4506"/>
                  <a:pt x="3" y="4494"/>
                </a:cubicBezTo>
                <a:cubicBezTo>
                  <a:pt x="1" y="4482"/>
                  <a:pt x="0" y="4470"/>
                  <a:pt x="0" y="4458"/>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8" name="図 87"/>
          <p:cNvPicPr/>
          <p:nvPr/>
        </p:nvPicPr>
        <p:blipFill>
          <a:blip r:embed="rId7"/>
          <a:stretch/>
        </p:blipFill>
        <p:spPr>
          <a:xfrm>
            <a:off x="6618600" y="1002960"/>
            <a:ext cx="3676680" cy="2072160"/>
          </a:xfrm>
          <a:prstGeom prst="rect">
            <a:avLst/>
          </a:prstGeom>
          <a:noFill/>
          <a:ln w="0">
            <a:noFill/>
          </a:ln>
        </p:spPr>
      </p:pic>
      <p:sp>
        <p:nvSpPr>
          <p:cNvPr id="89" name="テキスト ボックス 88"/>
          <p:cNvSpPr txBox="1"/>
          <p:nvPr/>
        </p:nvSpPr>
        <p:spPr>
          <a:xfrm>
            <a:off x="468000" y="5273280"/>
            <a:ext cx="3839760" cy="169560"/>
          </a:xfrm>
          <a:prstGeom prst="rect">
            <a:avLst/>
          </a:prstGeom>
          <a:noFill/>
          <a:ln w="0">
            <a:noFill/>
          </a:ln>
        </p:spPr>
        <p:txBody>
          <a:bodyPr wrap="none" lIns="0" tIns="0" rIns="0" bIns="0" anchor="t">
            <a:spAutoFit/>
          </a:bodyPr>
          <a:lstStyle/>
          <a:p>
            <a:r>
              <a:rPr lang="zh-CN" sz="920" b="0" u="none" strike="noStrike">
                <a:solidFill>
                  <a:srgbClr val="6B7280"/>
                </a:solidFill>
                <a:effectLst/>
                <a:uFillTx/>
                <a:latin typeface="NotoSansJP"/>
                <a:ea typeface="NotoSansJP"/>
              </a:rPr>
              <a:t>出典：環境省：物質に関する基本的事項</a:t>
            </a:r>
            <a:r>
              <a:rPr lang="en-US" sz="920" b="0" u="none" strike="noStrike">
                <a:solidFill>
                  <a:srgbClr val="6B7280"/>
                </a:solidFill>
                <a:effectLst/>
                <a:uFillTx/>
                <a:latin typeface="NotoSansJP"/>
                <a:ea typeface="NotoSansJP"/>
              </a:rPr>
              <a:t>(</a:t>
            </a:r>
            <a:r>
              <a:rPr lang="zh-CN" sz="920" b="0" u="none" strike="noStrike">
                <a:solidFill>
                  <a:srgbClr val="6B7280"/>
                </a:solidFill>
                <a:effectLst/>
                <a:uFillTx/>
                <a:latin typeface="NotoSansJP"/>
                <a:ea typeface="NotoSansJP"/>
              </a:rPr>
              <a:t>トリメチルアミン</a:t>
            </a:r>
            <a:r>
              <a:rPr lang="en-US" sz="920" b="0" u="none" strike="noStrike">
                <a:solidFill>
                  <a:srgbClr val="6B7280"/>
                </a:solidFill>
                <a:effectLst/>
                <a:uFillTx/>
                <a:latin typeface="NotoSansJP"/>
                <a:ea typeface="NotoSansJP"/>
              </a:rPr>
              <a:t>), pp.10-13</a:t>
            </a:r>
            <a:endParaRPr lang="en-US" sz="920" b="0" u="none" strike="noStrike">
              <a:solidFill>
                <a:srgbClr val="000000"/>
              </a:solidFill>
              <a:effectLst/>
              <a:uFillTx/>
              <a:latin typeface="Times New Roman"/>
            </a:endParaRPr>
          </a:p>
        </p:txBody>
      </p:sp>
      <p:sp>
        <p:nvSpPr>
          <p:cNvPr id="90" name="テキスト ボックス 89"/>
          <p:cNvSpPr txBox="1"/>
          <p:nvPr/>
        </p:nvSpPr>
        <p:spPr>
          <a:xfrm>
            <a:off x="7249320" y="3176640"/>
            <a:ext cx="2505960" cy="194040"/>
          </a:xfrm>
          <a:prstGeom prst="rect">
            <a:avLst/>
          </a:prstGeom>
          <a:noFill/>
          <a:ln w="0">
            <a:noFill/>
          </a:ln>
        </p:spPr>
        <p:txBody>
          <a:bodyPr wrap="none" lIns="0" tIns="0" rIns="0" bIns="0" anchor="t">
            <a:spAutoFit/>
          </a:bodyPr>
          <a:lstStyle/>
          <a:p>
            <a:r>
              <a:rPr lang="zh-CN" sz="1050" b="0" u="none" strike="noStrike">
                <a:solidFill>
                  <a:srgbClr val="4B5563"/>
                </a:solidFill>
                <a:effectLst/>
                <a:uFillTx/>
                <a:latin typeface="NotoSansJP"/>
                <a:ea typeface="NotoSansJP"/>
              </a:rPr>
              <a:t>魚腸骨処理場は</a:t>
            </a:r>
            <a:r>
              <a:rPr lang="en-US" sz="1050" b="0" u="none" strike="noStrike">
                <a:solidFill>
                  <a:srgbClr val="4B5563"/>
                </a:solidFill>
                <a:effectLst/>
                <a:uFillTx/>
                <a:latin typeface="NotoSansJP"/>
                <a:ea typeface="NotoSansJP"/>
              </a:rPr>
              <a:t>TMA</a:t>
            </a:r>
            <a:r>
              <a:rPr lang="zh-CN" sz="1050" b="0" u="none" strike="noStrike">
                <a:solidFill>
                  <a:srgbClr val="4B5563"/>
                </a:solidFill>
                <a:effectLst/>
                <a:uFillTx/>
                <a:latin typeface="NotoSansJP"/>
                <a:ea typeface="NotoSansJP"/>
              </a:rPr>
              <a:t>の主な発生源の一つ</a:t>
            </a:r>
            <a:endParaRPr lang="en-US" sz="1050" b="0" u="none" strike="noStrike">
              <a:solidFill>
                <a:srgbClr val="000000"/>
              </a:solidFill>
              <a:effectLst/>
              <a:uFillTx/>
              <a:latin typeface="Times New Roman"/>
            </a:endParaRPr>
          </a:p>
        </p:txBody>
      </p:sp>
      <p:sp>
        <p:nvSpPr>
          <p:cNvPr id="91" name="フリーフォーム: 図形 90"/>
          <p:cNvSpPr/>
          <p:nvPr/>
        </p:nvSpPr>
        <p:spPr>
          <a:xfrm>
            <a:off x="6685200" y="4211640"/>
            <a:ext cx="401400" cy="401400"/>
          </a:xfrm>
          <a:custGeom>
            <a:avLst/>
            <a:gdLst/>
            <a:ahLst/>
            <a:cxnLst/>
            <a:rect l="0" t="0" r="r" b="b"/>
            <a:pathLst>
              <a:path w="1115" h="1115">
                <a:moveTo>
                  <a:pt x="1115" y="557"/>
                </a:moveTo>
                <a:cubicBezTo>
                  <a:pt x="1115" y="594"/>
                  <a:pt x="1112" y="630"/>
                  <a:pt x="1104" y="666"/>
                </a:cubicBezTo>
                <a:cubicBezTo>
                  <a:pt x="1097" y="702"/>
                  <a:pt x="1087" y="736"/>
                  <a:pt x="1073" y="770"/>
                </a:cubicBezTo>
                <a:cubicBezTo>
                  <a:pt x="1059" y="804"/>
                  <a:pt x="1042" y="836"/>
                  <a:pt x="1021" y="867"/>
                </a:cubicBezTo>
                <a:cubicBezTo>
                  <a:pt x="1001" y="897"/>
                  <a:pt x="978" y="925"/>
                  <a:pt x="952" y="951"/>
                </a:cubicBezTo>
                <a:cubicBezTo>
                  <a:pt x="926" y="977"/>
                  <a:pt x="897" y="1000"/>
                  <a:pt x="867" y="1020"/>
                </a:cubicBezTo>
                <a:cubicBezTo>
                  <a:pt x="836" y="1041"/>
                  <a:pt x="804" y="1058"/>
                  <a:pt x="770" y="1072"/>
                </a:cubicBezTo>
                <a:cubicBezTo>
                  <a:pt x="736" y="1086"/>
                  <a:pt x="702" y="1096"/>
                  <a:pt x="666" y="1103"/>
                </a:cubicBezTo>
                <a:cubicBezTo>
                  <a:pt x="630" y="1111"/>
                  <a:pt x="594" y="1115"/>
                  <a:pt x="557" y="1115"/>
                </a:cubicBezTo>
                <a:cubicBezTo>
                  <a:pt x="520" y="1115"/>
                  <a:pt x="484" y="1111"/>
                  <a:pt x="448" y="1103"/>
                </a:cubicBezTo>
                <a:cubicBezTo>
                  <a:pt x="412" y="1096"/>
                  <a:pt x="378" y="1086"/>
                  <a:pt x="344" y="1072"/>
                </a:cubicBezTo>
                <a:cubicBezTo>
                  <a:pt x="310" y="1058"/>
                  <a:pt x="278" y="1041"/>
                  <a:pt x="248" y="1020"/>
                </a:cubicBezTo>
                <a:cubicBezTo>
                  <a:pt x="217" y="1000"/>
                  <a:pt x="189" y="977"/>
                  <a:pt x="163" y="951"/>
                </a:cubicBezTo>
                <a:cubicBezTo>
                  <a:pt x="137" y="925"/>
                  <a:pt x="114" y="897"/>
                  <a:pt x="94" y="867"/>
                </a:cubicBezTo>
                <a:cubicBezTo>
                  <a:pt x="74" y="836"/>
                  <a:pt x="56" y="804"/>
                  <a:pt x="42" y="770"/>
                </a:cubicBezTo>
                <a:cubicBezTo>
                  <a:pt x="28" y="736"/>
                  <a:pt x="18" y="702"/>
                  <a:pt x="11" y="666"/>
                </a:cubicBezTo>
                <a:cubicBezTo>
                  <a:pt x="4" y="630"/>
                  <a:pt x="0" y="594"/>
                  <a:pt x="0" y="557"/>
                </a:cubicBezTo>
                <a:cubicBezTo>
                  <a:pt x="0" y="520"/>
                  <a:pt x="4" y="484"/>
                  <a:pt x="11" y="448"/>
                </a:cubicBezTo>
                <a:cubicBezTo>
                  <a:pt x="18" y="412"/>
                  <a:pt x="28" y="378"/>
                  <a:pt x="42" y="344"/>
                </a:cubicBezTo>
                <a:cubicBezTo>
                  <a:pt x="56" y="310"/>
                  <a:pt x="74" y="278"/>
                  <a:pt x="94" y="247"/>
                </a:cubicBezTo>
                <a:cubicBezTo>
                  <a:pt x="114" y="217"/>
                  <a:pt x="137" y="189"/>
                  <a:pt x="163" y="163"/>
                </a:cubicBezTo>
                <a:cubicBezTo>
                  <a:pt x="189" y="137"/>
                  <a:pt x="217" y="114"/>
                  <a:pt x="248" y="94"/>
                </a:cubicBezTo>
                <a:cubicBezTo>
                  <a:pt x="278" y="73"/>
                  <a:pt x="310" y="56"/>
                  <a:pt x="344" y="42"/>
                </a:cubicBezTo>
                <a:cubicBezTo>
                  <a:pt x="378" y="28"/>
                  <a:pt x="412" y="18"/>
                  <a:pt x="448" y="11"/>
                </a:cubicBezTo>
                <a:cubicBezTo>
                  <a:pt x="484" y="3"/>
                  <a:pt x="520" y="0"/>
                  <a:pt x="557" y="0"/>
                </a:cubicBezTo>
                <a:cubicBezTo>
                  <a:pt x="594" y="0"/>
                  <a:pt x="630" y="3"/>
                  <a:pt x="666" y="11"/>
                </a:cubicBezTo>
                <a:cubicBezTo>
                  <a:pt x="702" y="18"/>
                  <a:pt x="736" y="28"/>
                  <a:pt x="770" y="42"/>
                </a:cubicBezTo>
                <a:cubicBezTo>
                  <a:pt x="804" y="56"/>
                  <a:pt x="836" y="73"/>
                  <a:pt x="867" y="94"/>
                </a:cubicBezTo>
                <a:cubicBezTo>
                  <a:pt x="897" y="114"/>
                  <a:pt x="926" y="137"/>
                  <a:pt x="952" y="163"/>
                </a:cubicBezTo>
                <a:cubicBezTo>
                  <a:pt x="978" y="189"/>
                  <a:pt x="1001" y="217"/>
                  <a:pt x="1021" y="247"/>
                </a:cubicBezTo>
                <a:cubicBezTo>
                  <a:pt x="1042" y="278"/>
                  <a:pt x="1059" y="310"/>
                  <a:pt x="1073" y="344"/>
                </a:cubicBezTo>
                <a:cubicBezTo>
                  <a:pt x="1087" y="378"/>
                  <a:pt x="1097" y="412"/>
                  <a:pt x="1104" y="448"/>
                </a:cubicBezTo>
                <a:cubicBezTo>
                  <a:pt x="1112" y="484"/>
                  <a:pt x="1115" y="520"/>
                  <a:pt x="1115" y="557"/>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92" name="図 91"/>
          <p:cNvPicPr/>
          <p:nvPr/>
        </p:nvPicPr>
        <p:blipFill>
          <a:blip r:embed="rId8"/>
          <a:stretch/>
        </p:blipFill>
        <p:spPr>
          <a:xfrm>
            <a:off x="6777360" y="4312080"/>
            <a:ext cx="225360" cy="200160"/>
          </a:xfrm>
          <a:prstGeom prst="rect">
            <a:avLst/>
          </a:prstGeom>
          <a:noFill/>
          <a:ln w="0">
            <a:noFill/>
          </a:ln>
        </p:spPr>
      </p:pic>
      <p:sp>
        <p:nvSpPr>
          <p:cNvPr id="93" name="フリーフォーム: 図形 92"/>
          <p:cNvSpPr/>
          <p:nvPr/>
        </p:nvSpPr>
        <p:spPr>
          <a:xfrm>
            <a:off x="7220160" y="4503960"/>
            <a:ext cx="1203480" cy="83880"/>
          </a:xfrm>
          <a:custGeom>
            <a:avLst/>
            <a:gdLst/>
            <a:ahLst/>
            <a:cxnLst/>
            <a:rect l="0" t="0" r="r" b="b"/>
            <a:pathLst>
              <a:path w="3343" h="233">
                <a:moveTo>
                  <a:pt x="0" y="116"/>
                </a:moveTo>
                <a:cubicBezTo>
                  <a:pt x="0" y="101"/>
                  <a:pt x="3" y="86"/>
                  <a:pt x="8" y="72"/>
                </a:cubicBezTo>
                <a:cubicBezTo>
                  <a:pt x="14" y="58"/>
                  <a:pt x="23" y="45"/>
                  <a:pt x="34" y="34"/>
                </a:cubicBezTo>
                <a:cubicBezTo>
                  <a:pt x="44" y="23"/>
                  <a:pt x="57" y="15"/>
                  <a:pt x="71" y="9"/>
                </a:cubicBezTo>
                <a:cubicBezTo>
                  <a:pt x="85" y="3"/>
                  <a:pt x="100" y="0"/>
                  <a:pt x="116" y="0"/>
                </a:cubicBezTo>
                <a:lnTo>
                  <a:pt x="3227" y="0"/>
                </a:lnTo>
                <a:cubicBezTo>
                  <a:pt x="3243" y="0"/>
                  <a:pt x="3257" y="3"/>
                  <a:pt x="3272" y="9"/>
                </a:cubicBezTo>
                <a:cubicBezTo>
                  <a:pt x="3286" y="15"/>
                  <a:pt x="3298" y="23"/>
                  <a:pt x="3309" y="34"/>
                </a:cubicBezTo>
                <a:cubicBezTo>
                  <a:pt x="3320" y="45"/>
                  <a:pt x="3329" y="58"/>
                  <a:pt x="3334" y="72"/>
                </a:cubicBezTo>
                <a:cubicBezTo>
                  <a:pt x="3340" y="86"/>
                  <a:pt x="3343" y="101"/>
                  <a:pt x="3343" y="116"/>
                </a:cubicBezTo>
                <a:cubicBezTo>
                  <a:pt x="3343" y="132"/>
                  <a:pt x="3340" y="148"/>
                  <a:pt x="3334" y="162"/>
                </a:cubicBezTo>
                <a:cubicBezTo>
                  <a:pt x="3329" y="176"/>
                  <a:pt x="3320" y="189"/>
                  <a:pt x="3309" y="199"/>
                </a:cubicBezTo>
                <a:cubicBezTo>
                  <a:pt x="3298" y="210"/>
                  <a:pt x="3286" y="219"/>
                  <a:pt x="3272" y="225"/>
                </a:cubicBezTo>
                <a:cubicBezTo>
                  <a:pt x="3257" y="231"/>
                  <a:pt x="3243" y="233"/>
                  <a:pt x="3227" y="233"/>
                </a:cubicBezTo>
                <a:lnTo>
                  <a:pt x="116" y="233"/>
                </a:lnTo>
                <a:cubicBezTo>
                  <a:pt x="100" y="233"/>
                  <a:pt x="85" y="231"/>
                  <a:pt x="71" y="225"/>
                </a:cubicBezTo>
                <a:cubicBezTo>
                  <a:pt x="57" y="219"/>
                  <a:pt x="44" y="210"/>
                  <a:pt x="34" y="199"/>
                </a:cubicBezTo>
                <a:cubicBezTo>
                  <a:pt x="23" y="189"/>
                  <a:pt x="14" y="176"/>
                  <a:pt x="8" y="162"/>
                </a:cubicBezTo>
                <a:cubicBezTo>
                  <a:pt x="3" y="148"/>
                  <a:pt x="0" y="132"/>
                  <a:pt x="0" y="116"/>
                </a:cubicBez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4" name="フリーフォーム: 図形 93"/>
          <p:cNvSpPr/>
          <p:nvPr/>
        </p:nvSpPr>
        <p:spPr>
          <a:xfrm>
            <a:off x="7220160" y="4503960"/>
            <a:ext cx="844200" cy="83880"/>
          </a:xfrm>
          <a:custGeom>
            <a:avLst/>
            <a:gdLst/>
            <a:ahLst/>
            <a:cxnLst/>
            <a:rect l="0" t="0" r="r" b="b"/>
            <a:pathLst>
              <a:path w="2345" h="233">
                <a:moveTo>
                  <a:pt x="0" y="116"/>
                </a:moveTo>
                <a:cubicBezTo>
                  <a:pt x="0" y="101"/>
                  <a:pt x="3" y="86"/>
                  <a:pt x="8" y="72"/>
                </a:cubicBezTo>
                <a:cubicBezTo>
                  <a:pt x="14" y="58"/>
                  <a:pt x="23" y="45"/>
                  <a:pt x="34" y="34"/>
                </a:cubicBezTo>
                <a:cubicBezTo>
                  <a:pt x="44" y="23"/>
                  <a:pt x="57" y="15"/>
                  <a:pt x="71" y="9"/>
                </a:cubicBezTo>
                <a:cubicBezTo>
                  <a:pt x="85" y="3"/>
                  <a:pt x="100" y="0"/>
                  <a:pt x="116" y="0"/>
                </a:cubicBezTo>
                <a:lnTo>
                  <a:pt x="2229" y="0"/>
                </a:lnTo>
                <a:cubicBezTo>
                  <a:pt x="2244" y="0"/>
                  <a:pt x="2259" y="3"/>
                  <a:pt x="2273" y="9"/>
                </a:cubicBezTo>
                <a:cubicBezTo>
                  <a:pt x="2288" y="15"/>
                  <a:pt x="2300" y="23"/>
                  <a:pt x="2311" y="34"/>
                </a:cubicBezTo>
                <a:cubicBezTo>
                  <a:pt x="2322" y="45"/>
                  <a:pt x="2330" y="58"/>
                  <a:pt x="2336" y="72"/>
                </a:cubicBezTo>
                <a:cubicBezTo>
                  <a:pt x="2342" y="86"/>
                  <a:pt x="2345" y="101"/>
                  <a:pt x="2345" y="116"/>
                </a:cubicBezTo>
                <a:cubicBezTo>
                  <a:pt x="2345" y="132"/>
                  <a:pt x="2342" y="148"/>
                  <a:pt x="2336" y="162"/>
                </a:cubicBezTo>
                <a:cubicBezTo>
                  <a:pt x="2330" y="176"/>
                  <a:pt x="2322" y="189"/>
                  <a:pt x="2311" y="199"/>
                </a:cubicBezTo>
                <a:cubicBezTo>
                  <a:pt x="2300" y="210"/>
                  <a:pt x="2288" y="219"/>
                  <a:pt x="2273" y="225"/>
                </a:cubicBezTo>
                <a:cubicBezTo>
                  <a:pt x="2259" y="231"/>
                  <a:pt x="2244" y="233"/>
                  <a:pt x="2229" y="233"/>
                </a:cubicBezTo>
                <a:lnTo>
                  <a:pt x="116" y="233"/>
                </a:lnTo>
                <a:cubicBezTo>
                  <a:pt x="100" y="233"/>
                  <a:pt x="85" y="231"/>
                  <a:pt x="71" y="225"/>
                </a:cubicBezTo>
                <a:cubicBezTo>
                  <a:pt x="57" y="219"/>
                  <a:pt x="44" y="210"/>
                  <a:pt x="34" y="199"/>
                </a:cubicBezTo>
                <a:cubicBezTo>
                  <a:pt x="23" y="189"/>
                  <a:pt x="14" y="176"/>
                  <a:pt x="8" y="162"/>
                </a:cubicBezTo>
                <a:cubicBezTo>
                  <a:pt x="3" y="148"/>
                  <a:pt x="0" y="132"/>
                  <a:pt x="0" y="116"/>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5" name="テキスト ボックス 94"/>
          <p:cNvSpPr txBox="1"/>
          <p:nvPr/>
        </p:nvSpPr>
        <p:spPr>
          <a:xfrm>
            <a:off x="6685200" y="3906360"/>
            <a:ext cx="1910160" cy="244080"/>
          </a:xfrm>
          <a:prstGeom prst="rect">
            <a:avLst/>
          </a:prstGeom>
          <a:noFill/>
          <a:ln w="0">
            <a:noFill/>
          </a:ln>
        </p:spPr>
        <p:txBody>
          <a:bodyPr wrap="none" lIns="0" tIns="0" rIns="0" bIns="0" anchor="t">
            <a:spAutoFit/>
          </a:bodyPr>
          <a:lstStyle/>
          <a:p>
            <a:r>
              <a:rPr lang="en-US" sz="1320" b="0" u="none" strike="noStrike">
                <a:solidFill>
                  <a:srgbClr val="003366"/>
                </a:solidFill>
                <a:effectLst/>
                <a:uFillTx/>
                <a:latin typeface="NotoSansJP"/>
                <a:ea typeface="NotoSansJP"/>
              </a:rPr>
              <a:t>TMA</a:t>
            </a:r>
            <a:r>
              <a:rPr lang="zh-CN" sz="1320" b="0" u="none" strike="noStrike">
                <a:solidFill>
                  <a:srgbClr val="003366"/>
                </a:solidFill>
                <a:effectLst/>
                <a:uFillTx/>
                <a:latin typeface="NotoSansJP"/>
                <a:ea typeface="NotoSansJP"/>
              </a:rPr>
              <a:t>暴露による健康影響</a:t>
            </a:r>
            <a:endParaRPr lang="en-US" sz="1320" b="0" u="none" strike="noStrike">
              <a:solidFill>
                <a:srgbClr val="000000"/>
              </a:solidFill>
              <a:effectLst/>
              <a:uFillTx/>
              <a:latin typeface="Times New Roman"/>
            </a:endParaRPr>
          </a:p>
        </p:txBody>
      </p:sp>
      <p:sp>
        <p:nvSpPr>
          <p:cNvPr id="96" name="フリーフォーム: 図形 95"/>
          <p:cNvSpPr/>
          <p:nvPr/>
        </p:nvSpPr>
        <p:spPr>
          <a:xfrm>
            <a:off x="6685200" y="4746600"/>
            <a:ext cx="401400" cy="401400"/>
          </a:xfrm>
          <a:custGeom>
            <a:avLst/>
            <a:gdLst/>
            <a:ahLst/>
            <a:cxnLst/>
            <a:rect l="0" t="0" r="r" b="b"/>
            <a:pathLst>
              <a:path w="1115" h="1115">
                <a:moveTo>
                  <a:pt x="1115" y="557"/>
                </a:moveTo>
                <a:cubicBezTo>
                  <a:pt x="1115" y="593"/>
                  <a:pt x="1112" y="629"/>
                  <a:pt x="1104" y="665"/>
                </a:cubicBezTo>
                <a:cubicBezTo>
                  <a:pt x="1097" y="701"/>
                  <a:pt x="1087" y="736"/>
                  <a:pt x="1073" y="771"/>
                </a:cubicBezTo>
                <a:cubicBezTo>
                  <a:pt x="1059" y="805"/>
                  <a:pt x="1042" y="837"/>
                  <a:pt x="1021" y="867"/>
                </a:cubicBezTo>
                <a:cubicBezTo>
                  <a:pt x="1001" y="898"/>
                  <a:pt x="978" y="926"/>
                  <a:pt x="952" y="952"/>
                </a:cubicBezTo>
                <a:cubicBezTo>
                  <a:pt x="926" y="977"/>
                  <a:pt x="897" y="1001"/>
                  <a:pt x="867" y="1021"/>
                </a:cubicBezTo>
                <a:cubicBezTo>
                  <a:pt x="836" y="1041"/>
                  <a:pt x="804" y="1058"/>
                  <a:pt x="770" y="1072"/>
                </a:cubicBezTo>
                <a:cubicBezTo>
                  <a:pt x="736" y="1086"/>
                  <a:pt x="702" y="1097"/>
                  <a:pt x="666" y="1104"/>
                </a:cubicBezTo>
                <a:cubicBezTo>
                  <a:pt x="630" y="1111"/>
                  <a:pt x="594" y="1115"/>
                  <a:pt x="557" y="1115"/>
                </a:cubicBezTo>
                <a:cubicBezTo>
                  <a:pt x="520" y="1115"/>
                  <a:pt x="484" y="1111"/>
                  <a:pt x="448" y="1104"/>
                </a:cubicBezTo>
                <a:cubicBezTo>
                  <a:pt x="412" y="1097"/>
                  <a:pt x="378" y="1086"/>
                  <a:pt x="344" y="1072"/>
                </a:cubicBezTo>
                <a:cubicBezTo>
                  <a:pt x="310" y="1058"/>
                  <a:pt x="278" y="1041"/>
                  <a:pt x="248" y="1021"/>
                </a:cubicBezTo>
                <a:cubicBezTo>
                  <a:pt x="217" y="1001"/>
                  <a:pt x="189" y="977"/>
                  <a:pt x="163" y="952"/>
                </a:cubicBezTo>
                <a:cubicBezTo>
                  <a:pt x="137" y="926"/>
                  <a:pt x="114" y="898"/>
                  <a:pt x="94" y="867"/>
                </a:cubicBezTo>
                <a:cubicBezTo>
                  <a:pt x="74" y="837"/>
                  <a:pt x="56" y="805"/>
                  <a:pt x="42" y="771"/>
                </a:cubicBezTo>
                <a:cubicBezTo>
                  <a:pt x="28" y="736"/>
                  <a:pt x="18" y="701"/>
                  <a:pt x="11" y="665"/>
                </a:cubicBezTo>
                <a:cubicBezTo>
                  <a:pt x="4" y="629"/>
                  <a:pt x="0" y="593"/>
                  <a:pt x="0" y="557"/>
                </a:cubicBezTo>
                <a:cubicBezTo>
                  <a:pt x="0" y="520"/>
                  <a:pt x="4" y="484"/>
                  <a:pt x="11" y="448"/>
                </a:cubicBezTo>
                <a:cubicBezTo>
                  <a:pt x="18" y="412"/>
                  <a:pt x="28" y="377"/>
                  <a:pt x="42" y="343"/>
                </a:cubicBezTo>
                <a:cubicBezTo>
                  <a:pt x="56" y="310"/>
                  <a:pt x="74" y="278"/>
                  <a:pt x="94" y="247"/>
                </a:cubicBezTo>
                <a:cubicBezTo>
                  <a:pt x="114" y="217"/>
                  <a:pt x="137" y="189"/>
                  <a:pt x="163" y="163"/>
                </a:cubicBezTo>
                <a:cubicBezTo>
                  <a:pt x="189" y="137"/>
                  <a:pt x="217" y="114"/>
                  <a:pt x="248" y="93"/>
                </a:cubicBezTo>
                <a:cubicBezTo>
                  <a:pt x="278" y="73"/>
                  <a:pt x="310" y="56"/>
                  <a:pt x="344" y="42"/>
                </a:cubicBezTo>
                <a:cubicBezTo>
                  <a:pt x="378" y="28"/>
                  <a:pt x="412" y="17"/>
                  <a:pt x="448" y="10"/>
                </a:cubicBezTo>
                <a:cubicBezTo>
                  <a:pt x="484" y="3"/>
                  <a:pt x="520" y="0"/>
                  <a:pt x="557" y="0"/>
                </a:cubicBezTo>
                <a:cubicBezTo>
                  <a:pt x="594" y="0"/>
                  <a:pt x="630" y="3"/>
                  <a:pt x="666" y="10"/>
                </a:cubicBezTo>
                <a:cubicBezTo>
                  <a:pt x="702" y="17"/>
                  <a:pt x="736" y="28"/>
                  <a:pt x="770" y="42"/>
                </a:cubicBezTo>
                <a:cubicBezTo>
                  <a:pt x="804" y="56"/>
                  <a:pt x="836" y="73"/>
                  <a:pt x="867" y="93"/>
                </a:cubicBezTo>
                <a:cubicBezTo>
                  <a:pt x="897" y="114"/>
                  <a:pt x="926" y="137"/>
                  <a:pt x="952" y="163"/>
                </a:cubicBezTo>
                <a:cubicBezTo>
                  <a:pt x="978" y="189"/>
                  <a:pt x="1001" y="217"/>
                  <a:pt x="1021" y="247"/>
                </a:cubicBezTo>
                <a:cubicBezTo>
                  <a:pt x="1042" y="278"/>
                  <a:pt x="1059" y="310"/>
                  <a:pt x="1073" y="343"/>
                </a:cubicBezTo>
                <a:cubicBezTo>
                  <a:pt x="1087" y="377"/>
                  <a:pt x="1097" y="412"/>
                  <a:pt x="1104" y="448"/>
                </a:cubicBezTo>
                <a:cubicBezTo>
                  <a:pt x="1112" y="484"/>
                  <a:pt x="1115" y="520"/>
                  <a:pt x="1115" y="557"/>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97" name="図 96"/>
          <p:cNvPicPr/>
          <p:nvPr/>
        </p:nvPicPr>
        <p:blipFill>
          <a:blip r:embed="rId9"/>
          <a:stretch/>
        </p:blipFill>
        <p:spPr>
          <a:xfrm>
            <a:off x="6760440" y="4847040"/>
            <a:ext cx="250200" cy="200160"/>
          </a:xfrm>
          <a:prstGeom prst="rect">
            <a:avLst/>
          </a:prstGeom>
          <a:noFill/>
          <a:ln w="0">
            <a:noFill/>
          </a:ln>
        </p:spPr>
      </p:pic>
      <p:sp>
        <p:nvSpPr>
          <p:cNvPr id="98" name="フリーフォーム: 図形 97"/>
          <p:cNvSpPr/>
          <p:nvPr/>
        </p:nvSpPr>
        <p:spPr>
          <a:xfrm>
            <a:off x="7220160" y="5038920"/>
            <a:ext cx="1203480" cy="83880"/>
          </a:xfrm>
          <a:custGeom>
            <a:avLst/>
            <a:gdLst/>
            <a:ahLst/>
            <a:cxnLst/>
            <a:rect l="0" t="0" r="r" b="b"/>
            <a:pathLst>
              <a:path w="3343" h="233">
                <a:moveTo>
                  <a:pt x="0" y="117"/>
                </a:moveTo>
                <a:cubicBezTo>
                  <a:pt x="0" y="102"/>
                  <a:pt x="3" y="87"/>
                  <a:pt x="8" y="73"/>
                </a:cubicBezTo>
                <a:cubicBezTo>
                  <a:pt x="14" y="58"/>
                  <a:pt x="23" y="46"/>
                  <a:pt x="34" y="34"/>
                </a:cubicBezTo>
                <a:cubicBezTo>
                  <a:pt x="44" y="23"/>
                  <a:pt x="57" y="15"/>
                  <a:pt x="71" y="9"/>
                </a:cubicBezTo>
                <a:cubicBezTo>
                  <a:pt x="85" y="3"/>
                  <a:pt x="100" y="0"/>
                  <a:pt x="116" y="0"/>
                </a:cubicBezTo>
                <a:lnTo>
                  <a:pt x="3227" y="0"/>
                </a:lnTo>
                <a:cubicBezTo>
                  <a:pt x="3243" y="0"/>
                  <a:pt x="3257" y="3"/>
                  <a:pt x="3272" y="9"/>
                </a:cubicBezTo>
                <a:cubicBezTo>
                  <a:pt x="3286" y="15"/>
                  <a:pt x="3298" y="23"/>
                  <a:pt x="3309" y="34"/>
                </a:cubicBezTo>
                <a:cubicBezTo>
                  <a:pt x="3320" y="46"/>
                  <a:pt x="3329" y="58"/>
                  <a:pt x="3334" y="73"/>
                </a:cubicBezTo>
                <a:cubicBezTo>
                  <a:pt x="3340" y="87"/>
                  <a:pt x="3343" y="102"/>
                  <a:pt x="3343" y="117"/>
                </a:cubicBezTo>
                <a:cubicBezTo>
                  <a:pt x="3343" y="132"/>
                  <a:pt x="3340" y="147"/>
                  <a:pt x="3334" y="161"/>
                </a:cubicBezTo>
                <a:cubicBezTo>
                  <a:pt x="3329" y="176"/>
                  <a:pt x="3320" y="188"/>
                  <a:pt x="3309" y="199"/>
                </a:cubicBezTo>
                <a:cubicBezTo>
                  <a:pt x="3298" y="210"/>
                  <a:pt x="3286" y="218"/>
                  <a:pt x="3272" y="224"/>
                </a:cubicBezTo>
                <a:cubicBezTo>
                  <a:pt x="3257" y="230"/>
                  <a:pt x="3243" y="233"/>
                  <a:pt x="3227" y="233"/>
                </a:cubicBezTo>
                <a:lnTo>
                  <a:pt x="116" y="233"/>
                </a:lnTo>
                <a:cubicBezTo>
                  <a:pt x="100" y="233"/>
                  <a:pt x="85" y="230"/>
                  <a:pt x="71" y="224"/>
                </a:cubicBezTo>
                <a:cubicBezTo>
                  <a:pt x="57" y="218"/>
                  <a:pt x="44" y="210"/>
                  <a:pt x="34" y="199"/>
                </a:cubicBezTo>
                <a:cubicBezTo>
                  <a:pt x="23" y="188"/>
                  <a:pt x="14" y="176"/>
                  <a:pt x="8" y="161"/>
                </a:cubicBezTo>
                <a:cubicBezTo>
                  <a:pt x="3" y="147"/>
                  <a:pt x="0" y="132"/>
                  <a:pt x="0" y="117"/>
                </a:cubicBez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9" name="フリーフォーム: 図形 98"/>
          <p:cNvSpPr/>
          <p:nvPr/>
        </p:nvSpPr>
        <p:spPr>
          <a:xfrm>
            <a:off x="7220160" y="5038920"/>
            <a:ext cx="484920" cy="83880"/>
          </a:xfrm>
          <a:custGeom>
            <a:avLst/>
            <a:gdLst/>
            <a:ahLst/>
            <a:cxnLst/>
            <a:rect l="0" t="0" r="r" b="b"/>
            <a:pathLst>
              <a:path w="1347" h="233">
                <a:moveTo>
                  <a:pt x="0" y="117"/>
                </a:moveTo>
                <a:cubicBezTo>
                  <a:pt x="0" y="102"/>
                  <a:pt x="3" y="87"/>
                  <a:pt x="8" y="73"/>
                </a:cubicBezTo>
                <a:cubicBezTo>
                  <a:pt x="14" y="58"/>
                  <a:pt x="23" y="46"/>
                  <a:pt x="34" y="34"/>
                </a:cubicBezTo>
                <a:cubicBezTo>
                  <a:pt x="44" y="23"/>
                  <a:pt x="57" y="15"/>
                  <a:pt x="71" y="9"/>
                </a:cubicBezTo>
                <a:cubicBezTo>
                  <a:pt x="85" y="3"/>
                  <a:pt x="100" y="0"/>
                  <a:pt x="116" y="0"/>
                </a:cubicBezTo>
                <a:lnTo>
                  <a:pt x="1231" y="0"/>
                </a:lnTo>
                <a:cubicBezTo>
                  <a:pt x="1246" y="0"/>
                  <a:pt x="1261" y="3"/>
                  <a:pt x="1275" y="9"/>
                </a:cubicBezTo>
                <a:cubicBezTo>
                  <a:pt x="1290" y="15"/>
                  <a:pt x="1302" y="23"/>
                  <a:pt x="1313" y="34"/>
                </a:cubicBezTo>
                <a:cubicBezTo>
                  <a:pt x="1324" y="46"/>
                  <a:pt x="1332" y="58"/>
                  <a:pt x="1338" y="73"/>
                </a:cubicBezTo>
                <a:cubicBezTo>
                  <a:pt x="1344" y="87"/>
                  <a:pt x="1347" y="102"/>
                  <a:pt x="1347" y="117"/>
                </a:cubicBezTo>
                <a:cubicBezTo>
                  <a:pt x="1347" y="132"/>
                  <a:pt x="1344" y="147"/>
                  <a:pt x="1338" y="161"/>
                </a:cubicBezTo>
                <a:cubicBezTo>
                  <a:pt x="1332" y="176"/>
                  <a:pt x="1324" y="188"/>
                  <a:pt x="1313" y="199"/>
                </a:cubicBezTo>
                <a:cubicBezTo>
                  <a:pt x="1302" y="210"/>
                  <a:pt x="1290" y="218"/>
                  <a:pt x="1275" y="224"/>
                </a:cubicBezTo>
                <a:cubicBezTo>
                  <a:pt x="1261" y="230"/>
                  <a:pt x="1246" y="233"/>
                  <a:pt x="1231" y="233"/>
                </a:cubicBezTo>
                <a:lnTo>
                  <a:pt x="116" y="233"/>
                </a:lnTo>
                <a:cubicBezTo>
                  <a:pt x="100" y="233"/>
                  <a:pt x="85" y="230"/>
                  <a:pt x="71" y="224"/>
                </a:cubicBezTo>
                <a:cubicBezTo>
                  <a:pt x="57" y="218"/>
                  <a:pt x="44" y="210"/>
                  <a:pt x="34" y="199"/>
                </a:cubicBezTo>
                <a:cubicBezTo>
                  <a:pt x="23" y="188"/>
                  <a:pt x="14" y="176"/>
                  <a:pt x="8" y="161"/>
                </a:cubicBezTo>
                <a:cubicBezTo>
                  <a:pt x="3" y="147"/>
                  <a:pt x="0" y="132"/>
                  <a:pt x="0" y="117"/>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00" name="テキスト ボックス 99"/>
          <p:cNvSpPr txBox="1"/>
          <p:nvPr/>
        </p:nvSpPr>
        <p:spPr>
          <a:xfrm>
            <a:off x="7220160" y="4281120"/>
            <a:ext cx="12078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視覚機能への影響</a:t>
            </a:r>
            <a:endParaRPr lang="en-US" sz="1180" b="0" u="none" strike="noStrike">
              <a:solidFill>
                <a:srgbClr val="000000"/>
              </a:solidFill>
              <a:effectLst/>
              <a:uFillTx/>
              <a:latin typeface="Times New Roman"/>
            </a:endParaRPr>
          </a:p>
        </p:txBody>
      </p:sp>
      <p:sp>
        <p:nvSpPr>
          <p:cNvPr id="101" name="テキスト ボックス 100"/>
          <p:cNvSpPr txBox="1"/>
          <p:nvPr/>
        </p:nvSpPr>
        <p:spPr>
          <a:xfrm>
            <a:off x="7220160" y="4816080"/>
            <a:ext cx="12078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呼吸器系への影響</a:t>
            </a:r>
            <a:endParaRPr lang="en-US" sz="1180" b="0" u="none" strike="noStrike">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図 101"/>
          <p:cNvPicPr/>
          <p:nvPr/>
        </p:nvPicPr>
        <p:blipFill>
          <a:blip r:embed="rId2"/>
          <a:stretch/>
        </p:blipFill>
        <p:spPr>
          <a:xfrm>
            <a:off x="0" y="0"/>
            <a:ext cx="10696320" cy="7320240"/>
          </a:xfrm>
          <a:prstGeom prst="rect">
            <a:avLst/>
          </a:prstGeom>
          <a:noFill/>
          <a:ln w="0">
            <a:noFill/>
          </a:ln>
        </p:spPr>
      </p:pic>
      <p:sp>
        <p:nvSpPr>
          <p:cNvPr id="103" name="フリーフォーム: 図形 102"/>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04" name="フリーフォーム: 図形 103"/>
          <p:cNvSpPr/>
          <p:nvPr/>
        </p:nvSpPr>
        <p:spPr>
          <a:xfrm>
            <a:off x="267120" y="2406600"/>
            <a:ext cx="5841720" cy="2106360"/>
          </a:xfrm>
          <a:custGeom>
            <a:avLst/>
            <a:gdLst/>
            <a:ahLst/>
            <a:cxnLst/>
            <a:rect l="0" t="0" r="r" b="b"/>
            <a:pathLst>
              <a:path w="16227" h="5851">
                <a:moveTo>
                  <a:pt x="0" y="5665"/>
                </a:moveTo>
                <a:lnTo>
                  <a:pt x="0" y="186"/>
                </a:lnTo>
                <a:cubicBezTo>
                  <a:pt x="0" y="173"/>
                  <a:pt x="2" y="161"/>
                  <a:pt x="4" y="149"/>
                </a:cubicBezTo>
                <a:cubicBezTo>
                  <a:pt x="6" y="137"/>
                  <a:pt x="10" y="126"/>
                  <a:pt x="14" y="114"/>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6042" y="0"/>
                </a:lnTo>
                <a:cubicBezTo>
                  <a:pt x="16054" y="0"/>
                  <a:pt x="16066" y="1"/>
                  <a:pt x="16078" y="3"/>
                </a:cubicBezTo>
                <a:cubicBezTo>
                  <a:pt x="16090" y="6"/>
                  <a:pt x="16101" y="9"/>
                  <a:pt x="16113" y="14"/>
                </a:cubicBezTo>
                <a:cubicBezTo>
                  <a:pt x="16124" y="19"/>
                  <a:pt x="16135" y="24"/>
                  <a:pt x="16145" y="31"/>
                </a:cubicBezTo>
                <a:cubicBezTo>
                  <a:pt x="16155" y="38"/>
                  <a:pt x="16164" y="46"/>
                  <a:pt x="16173" y="54"/>
                </a:cubicBezTo>
                <a:cubicBezTo>
                  <a:pt x="16181" y="63"/>
                  <a:pt x="16189" y="72"/>
                  <a:pt x="16196" y="82"/>
                </a:cubicBezTo>
                <a:cubicBezTo>
                  <a:pt x="16203" y="93"/>
                  <a:pt x="16208" y="103"/>
                  <a:pt x="16213" y="114"/>
                </a:cubicBezTo>
                <a:cubicBezTo>
                  <a:pt x="16218" y="126"/>
                  <a:pt x="16221" y="137"/>
                  <a:pt x="16224" y="149"/>
                </a:cubicBezTo>
                <a:cubicBezTo>
                  <a:pt x="16226" y="161"/>
                  <a:pt x="16227" y="173"/>
                  <a:pt x="16227" y="186"/>
                </a:cubicBezTo>
                <a:lnTo>
                  <a:pt x="16227" y="5665"/>
                </a:lnTo>
                <a:cubicBezTo>
                  <a:pt x="16227" y="5677"/>
                  <a:pt x="16226" y="5689"/>
                  <a:pt x="16224" y="5701"/>
                </a:cubicBezTo>
                <a:cubicBezTo>
                  <a:pt x="16221" y="5713"/>
                  <a:pt x="16218" y="5725"/>
                  <a:pt x="16213" y="5736"/>
                </a:cubicBezTo>
                <a:cubicBezTo>
                  <a:pt x="16208" y="5747"/>
                  <a:pt x="16203" y="5758"/>
                  <a:pt x="16196" y="5768"/>
                </a:cubicBezTo>
                <a:cubicBezTo>
                  <a:pt x="16189" y="5778"/>
                  <a:pt x="16181" y="5788"/>
                  <a:pt x="16173" y="5796"/>
                </a:cubicBezTo>
                <a:cubicBezTo>
                  <a:pt x="16164" y="5805"/>
                  <a:pt x="16155" y="5812"/>
                  <a:pt x="16145" y="5819"/>
                </a:cubicBezTo>
                <a:cubicBezTo>
                  <a:pt x="16135" y="5826"/>
                  <a:pt x="16124" y="5832"/>
                  <a:pt x="16113" y="5836"/>
                </a:cubicBezTo>
                <a:cubicBezTo>
                  <a:pt x="16101" y="5841"/>
                  <a:pt x="16090" y="5845"/>
                  <a:pt x="16078" y="5847"/>
                </a:cubicBezTo>
                <a:cubicBezTo>
                  <a:pt x="16066" y="5849"/>
                  <a:pt x="16054" y="5851"/>
                  <a:pt x="16042" y="5851"/>
                </a:cubicBezTo>
                <a:lnTo>
                  <a:pt x="186" y="5851"/>
                </a:lnTo>
                <a:cubicBezTo>
                  <a:pt x="174" y="5851"/>
                  <a:pt x="162" y="5849"/>
                  <a:pt x="150" y="5847"/>
                </a:cubicBezTo>
                <a:cubicBezTo>
                  <a:pt x="138" y="5845"/>
                  <a:pt x="126" y="5841"/>
                  <a:pt x="115" y="5836"/>
                </a:cubicBezTo>
                <a:cubicBezTo>
                  <a:pt x="104" y="5832"/>
                  <a:pt x="93" y="5826"/>
                  <a:pt x="83" y="5819"/>
                </a:cubicBezTo>
                <a:cubicBezTo>
                  <a:pt x="73" y="5812"/>
                  <a:pt x="63" y="5805"/>
                  <a:pt x="55" y="5796"/>
                </a:cubicBezTo>
                <a:cubicBezTo>
                  <a:pt x="46" y="5788"/>
                  <a:pt x="38" y="5778"/>
                  <a:pt x="32" y="5768"/>
                </a:cubicBezTo>
                <a:cubicBezTo>
                  <a:pt x="25" y="5758"/>
                  <a:pt x="19" y="5747"/>
                  <a:pt x="14" y="5736"/>
                </a:cubicBezTo>
                <a:cubicBezTo>
                  <a:pt x="10" y="5725"/>
                  <a:pt x="6" y="5713"/>
                  <a:pt x="4" y="5701"/>
                </a:cubicBezTo>
                <a:cubicBezTo>
                  <a:pt x="2" y="5689"/>
                  <a:pt x="0" y="5677"/>
                  <a:pt x="0" y="566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05" name="フリーフォーム: 図形 104"/>
          <p:cNvSpPr/>
          <p:nvPr/>
        </p:nvSpPr>
        <p:spPr>
          <a:xfrm>
            <a:off x="267120" y="4713120"/>
            <a:ext cx="5841720" cy="501480"/>
          </a:xfrm>
          <a:custGeom>
            <a:avLst/>
            <a:gdLst/>
            <a:ahLst/>
            <a:cxnLst/>
            <a:rect l="0" t="0" r="r" b="b"/>
            <a:pathLst>
              <a:path w="16227" h="1393">
                <a:moveTo>
                  <a:pt x="0" y="1208"/>
                </a:moveTo>
                <a:lnTo>
                  <a:pt x="0" y="186"/>
                </a:lnTo>
                <a:cubicBezTo>
                  <a:pt x="0" y="174"/>
                  <a:pt x="2" y="162"/>
                  <a:pt x="4" y="150"/>
                </a:cubicBezTo>
                <a:cubicBezTo>
                  <a:pt x="6" y="138"/>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6042" y="0"/>
                </a:lnTo>
                <a:cubicBezTo>
                  <a:pt x="16054" y="0"/>
                  <a:pt x="16066" y="1"/>
                  <a:pt x="16078" y="3"/>
                </a:cubicBezTo>
                <a:cubicBezTo>
                  <a:pt x="16090" y="6"/>
                  <a:pt x="16101" y="9"/>
                  <a:pt x="16113" y="14"/>
                </a:cubicBezTo>
                <a:cubicBezTo>
                  <a:pt x="16124" y="18"/>
                  <a:pt x="16135" y="24"/>
                  <a:pt x="16145" y="31"/>
                </a:cubicBezTo>
                <a:cubicBezTo>
                  <a:pt x="16155" y="38"/>
                  <a:pt x="16164" y="45"/>
                  <a:pt x="16173" y="54"/>
                </a:cubicBezTo>
                <a:cubicBezTo>
                  <a:pt x="16181" y="63"/>
                  <a:pt x="16189" y="72"/>
                  <a:pt x="16196" y="82"/>
                </a:cubicBezTo>
                <a:cubicBezTo>
                  <a:pt x="16203" y="92"/>
                  <a:pt x="16208" y="103"/>
                  <a:pt x="16213" y="114"/>
                </a:cubicBezTo>
                <a:cubicBezTo>
                  <a:pt x="16218" y="126"/>
                  <a:pt x="16221" y="138"/>
                  <a:pt x="16224" y="150"/>
                </a:cubicBezTo>
                <a:cubicBezTo>
                  <a:pt x="16226" y="162"/>
                  <a:pt x="16227" y="174"/>
                  <a:pt x="16227" y="186"/>
                </a:cubicBezTo>
                <a:lnTo>
                  <a:pt x="16227" y="1208"/>
                </a:lnTo>
                <a:cubicBezTo>
                  <a:pt x="16227" y="1220"/>
                  <a:pt x="16226" y="1232"/>
                  <a:pt x="16224" y="1244"/>
                </a:cubicBezTo>
                <a:cubicBezTo>
                  <a:pt x="16221" y="1256"/>
                  <a:pt x="16218" y="1268"/>
                  <a:pt x="16213" y="1279"/>
                </a:cubicBezTo>
                <a:cubicBezTo>
                  <a:pt x="16208" y="1290"/>
                  <a:pt x="16203" y="1301"/>
                  <a:pt x="16196" y="1311"/>
                </a:cubicBezTo>
                <a:cubicBezTo>
                  <a:pt x="16189" y="1321"/>
                  <a:pt x="16181" y="1330"/>
                  <a:pt x="16173" y="1339"/>
                </a:cubicBezTo>
                <a:cubicBezTo>
                  <a:pt x="16164" y="1348"/>
                  <a:pt x="16155" y="1355"/>
                  <a:pt x="16145" y="1362"/>
                </a:cubicBezTo>
                <a:cubicBezTo>
                  <a:pt x="16135" y="1369"/>
                  <a:pt x="16124" y="1375"/>
                  <a:pt x="16113" y="1379"/>
                </a:cubicBezTo>
                <a:cubicBezTo>
                  <a:pt x="16101" y="1384"/>
                  <a:pt x="16090" y="1387"/>
                  <a:pt x="16078" y="1390"/>
                </a:cubicBezTo>
                <a:cubicBezTo>
                  <a:pt x="16066" y="1392"/>
                  <a:pt x="16054" y="1393"/>
                  <a:pt x="16042" y="1393"/>
                </a:cubicBezTo>
                <a:lnTo>
                  <a:pt x="186" y="1393"/>
                </a:lnTo>
                <a:cubicBezTo>
                  <a:pt x="174" y="1393"/>
                  <a:pt x="162" y="1392"/>
                  <a:pt x="150" y="1390"/>
                </a:cubicBezTo>
                <a:cubicBezTo>
                  <a:pt x="138" y="1387"/>
                  <a:pt x="126" y="1384"/>
                  <a:pt x="115" y="1379"/>
                </a:cubicBezTo>
                <a:cubicBezTo>
                  <a:pt x="104" y="1375"/>
                  <a:pt x="93" y="1369"/>
                  <a:pt x="83" y="1362"/>
                </a:cubicBezTo>
                <a:cubicBezTo>
                  <a:pt x="73" y="1355"/>
                  <a:pt x="63" y="1348"/>
                  <a:pt x="55" y="1339"/>
                </a:cubicBezTo>
                <a:cubicBezTo>
                  <a:pt x="46" y="1330"/>
                  <a:pt x="38" y="1321"/>
                  <a:pt x="32" y="1311"/>
                </a:cubicBezTo>
                <a:cubicBezTo>
                  <a:pt x="25" y="1301"/>
                  <a:pt x="19" y="1290"/>
                  <a:pt x="14" y="1279"/>
                </a:cubicBezTo>
                <a:cubicBezTo>
                  <a:pt x="10" y="1268"/>
                  <a:pt x="6" y="1256"/>
                  <a:pt x="4" y="1244"/>
                </a:cubicBezTo>
                <a:cubicBezTo>
                  <a:pt x="2" y="1232"/>
                  <a:pt x="0" y="1220"/>
                  <a:pt x="0" y="1208"/>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06" name="フリーフォーム: 図形 105"/>
          <p:cNvSpPr/>
          <p:nvPr/>
        </p:nvSpPr>
        <p:spPr>
          <a:xfrm>
            <a:off x="267120" y="869040"/>
            <a:ext cx="284760" cy="501480"/>
          </a:xfrm>
          <a:custGeom>
            <a:avLst/>
            <a:gdLst/>
            <a:ahLst/>
            <a:cxnLst/>
            <a:rect l="0" t="0" r="r" b="b"/>
            <a:pathLst>
              <a:path w="791" h="1393">
                <a:moveTo>
                  <a:pt x="0" y="696"/>
                </a:moveTo>
                <a:cubicBezTo>
                  <a:pt x="0" y="673"/>
                  <a:pt x="1" y="650"/>
                  <a:pt x="2" y="628"/>
                </a:cubicBezTo>
                <a:cubicBezTo>
                  <a:pt x="3" y="605"/>
                  <a:pt x="5" y="583"/>
                  <a:pt x="8" y="560"/>
                </a:cubicBezTo>
                <a:cubicBezTo>
                  <a:pt x="10" y="538"/>
                  <a:pt x="13" y="516"/>
                  <a:pt x="17" y="494"/>
                </a:cubicBezTo>
                <a:cubicBezTo>
                  <a:pt x="21" y="472"/>
                  <a:pt x="25" y="451"/>
                  <a:pt x="30" y="430"/>
                </a:cubicBezTo>
                <a:cubicBezTo>
                  <a:pt x="35" y="408"/>
                  <a:pt x="40" y="388"/>
                  <a:pt x="46" y="368"/>
                </a:cubicBezTo>
                <a:cubicBezTo>
                  <a:pt x="52" y="348"/>
                  <a:pt x="59" y="328"/>
                  <a:pt x="66" y="309"/>
                </a:cubicBezTo>
                <a:cubicBezTo>
                  <a:pt x="73" y="290"/>
                  <a:pt x="81" y="272"/>
                  <a:pt x="89" y="254"/>
                </a:cubicBezTo>
                <a:cubicBezTo>
                  <a:pt x="97" y="237"/>
                  <a:pt x="106" y="220"/>
                  <a:pt x="115" y="204"/>
                </a:cubicBezTo>
                <a:cubicBezTo>
                  <a:pt x="124" y="187"/>
                  <a:pt x="133" y="172"/>
                  <a:pt x="143" y="158"/>
                </a:cubicBezTo>
                <a:cubicBezTo>
                  <a:pt x="153" y="143"/>
                  <a:pt x="163" y="130"/>
                  <a:pt x="174" y="117"/>
                </a:cubicBezTo>
                <a:cubicBezTo>
                  <a:pt x="185" y="104"/>
                  <a:pt x="196" y="93"/>
                  <a:pt x="207" y="82"/>
                </a:cubicBezTo>
                <a:cubicBezTo>
                  <a:pt x="218" y="71"/>
                  <a:pt x="230" y="61"/>
                  <a:pt x="241" y="53"/>
                </a:cubicBezTo>
                <a:cubicBezTo>
                  <a:pt x="253" y="44"/>
                  <a:pt x="265" y="36"/>
                  <a:pt x="278" y="30"/>
                </a:cubicBezTo>
                <a:cubicBezTo>
                  <a:pt x="290" y="23"/>
                  <a:pt x="302" y="17"/>
                  <a:pt x="315" y="13"/>
                </a:cubicBezTo>
                <a:cubicBezTo>
                  <a:pt x="327" y="9"/>
                  <a:pt x="340" y="5"/>
                  <a:pt x="353" y="3"/>
                </a:cubicBezTo>
                <a:cubicBezTo>
                  <a:pt x="365" y="1"/>
                  <a:pt x="378" y="0"/>
                  <a:pt x="391" y="0"/>
                </a:cubicBezTo>
                <a:lnTo>
                  <a:pt x="399" y="0"/>
                </a:lnTo>
                <a:cubicBezTo>
                  <a:pt x="412" y="0"/>
                  <a:pt x="424" y="1"/>
                  <a:pt x="437" y="3"/>
                </a:cubicBezTo>
                <a:cubicBezTo>
                  <a:pt x="451" y="5"/>
                  <a:pt x="464" y="9"/>
                  <a:pt x="476" y="13"/>
                </a:cubicBezTo>
                <a:cubicBezTo>
                  <a:pt x="489" y="17"/>
                  <a:pt x="501" y="23"/>
                  <a:pt x="513" y="30"/>
                </a:cubicBezTo>
                <a:cubicBezTo>
                  <a:pt x="526" y="36"/>
                  <a:pt x="538" y="44"/>
                  <a:pt x="549" y="53"/>
                </a:cubicBezTo>
                <a:cubicBezTo>
                  <a:pt x="561" y="61"/>
                  <a:pt x="573" y="71"/>
                  <a:pt x="584" y="82"/>
                </a:cubicBezTo>
                <a:cubicBezTo>
                  <a:pt x="595" y="93"/>
                  <a:pt x="606" y="104"/>
                  <a:pt x="617" y="117"/>
                </a:cubicBezTo>
                <a:cubicBezTo>
                  <a:pt x="628" y="130"/>
                  <a:pt x="638" y="143"/>
                  <a:pt x="648" y="158"/>
                </a:cubicBezTo>
                <a:cubicBezTo>
                  <a:pt x="658" y="172"/>
                  <a:pt x="667" y="187"/>
                  <a:pt x="676" y="204"/>
                </a:cubicBezTo>
                <a:cubicBezTo>
                  <a:pt x="685" y="220"/>
                  <a:pt x="694" y="237"/>
                  <a:pt x="702" y="254"/>
                </a:cubicBezTo>
                <a:cubicBezTo>
                  <a:pt x="710" y="272"/>
                  <a:pt x="718" y="290"/>
                  <a:pt x="725" y="309"/>
                </a:cubicBezTo>
                <a:cubicBezTo>
                  <a:pt x="732" y="328"/>
                  <a:pt x="738" y="348"/>
                  <a:pt x="744" y="368"/>
                </a:cubicBezTo>
                <a:cubicBezTo>
                  <a:pt x="750" y="388"/>
                  <a:pt x="756" y="408"/>
                  <a:pt x="761" y="430"/>
                </a:cubicBezTo>
                <a:cubicBezTo>
                  <a:pt x="766" y="451"/>
                  <a:pt x="770" y="472"/>
                  <a:pt x="774" y="494"/>
                </a:cubicBezTo>
                <a:cubicBezTo>
                  <a:pt x="777" y="516"/>
                  <a:pt x="781" y="538"/>
                  <a:pt x="783" y="560"/>
                </a:cubicBezTo>
                <a:cubicBezTo>
                  <a:pt x="786" y="583"/>
                  <a:pt x="787" y="605"/>
                  <a:pt x="789" y="628"/>
                </a:cubicBezTo>
                <a:cubicBezTo>
                  <a:pt x="790" y="650"/>
                  <a:pt x="791" y="673"/>
                  <a:pt x="791" y="696"/>
                </a:cubicBezTo>
                <a:cubicBezTo>
                  <a:pt x="791" y="719"/>
                  <a:pt x="790" y="742"/>
                  <a:pt x="789" y="764"/>
                </a:cubicBezTo>
                <a:cubicBezTo>
                  <a:pt x="787" y="787"/>
                  <a:pt x="786" y="810"/>
                  <a:pt x="783" y="832"/>
                </a:cubicBezTo>
                <a:cubicBezTo>
                  <a:pt x="781" y="854"/>
                  <a:pt x="777" y="876"/>
                  <a:pt x="774" y="898"/>
                </a:cubicBezTo>
                <a:cubicBezTo>
                  <a:pt x="770" y="920"/>
                  <a:pt x="766" y="941"/>
                  <a:pt x="761" y="963"/>
                </a:cubicBezTo>
                <a:cubicBezTo>
                  <a:pt x="756" y="984"/>
                  <a:pt x="750" y="1004"/>
                  <a:pt x="744" y="1024"/>
                </a:cubicBezTo>
                <a:cubicBezTo>
                  <a:pt x="738" y="1044"/>
                  <a:pt x="732" y="1064"/>
                  <a:pt x="725" y="1084"/>
                </a:cubicBezTo>
                <a:cubicBezTo>
                  <a:pt x="718" y="1103"/>
                  <a:pt x="710" y="1121"/>
                  <a:pt x="702" y="1139"/>
                </a:cubicBezTo>
                <a:cubicBezTo>
                  <a:pt x="694" y="1156"/>
                  <a:pt x="685" y="1173"/>
                  <a:pt x="676" y="1189"/>
                </a:cubicBezTo>
                <a:cubicBezTo>
                  <a:pt x="667" y="1206"/>
                  <a:pt x="658" y="1221"/>
                  <a:pt x="648" y="1235"/>
                </a:cubicBezTo>
                <a:cubicBezTo>
                  <a:pt x="638" y="1250"/>
                  <a:pt x="628" y="1263"/>
                  <a:pt x="617" y="1276"/>
                </a:cubicBezTo>
                <a:cubicBezTo>
                  <a:pt x="606" y="1289"/>
                  <a:pt x="595" y="1300"/>
                  <a:pt x="584" y="1311"/>
                </a:cubicBezTo>
                <a:cubicBezTo>
                  <a:pt x="573" y="1322"/>
                  <a:pt x="561" y="1332"/>
                  <a:pt x="549" y="1340"/>
                </a:cubicBezTo>
                <a:cubicBezTo>
                  <a:pt x="538" y="1349"/>
                  <a:pt x="526" y="1357"/>
                  <a:pt x="513" y="1363"/>
                </a:cubicBezTo>
                <a:cubicBezTo>
                  <a:pt x="501" y="1370"/>
                  <a:pt x="489" y="1376"/>
                  <a:pt x="476" y="1380"/>
                </a:cubicBezTo>
                <a:cubicBezTo>
                  <a:pt x="464" y="1385"/>
                  <a:pt x="451" y="1388"/>
                  <a:pt x="437" y="1390"/>
                </a:cubicBezTo>
                <a:cubicBezTo>
                  <a:pt x="424" y="1392"/>
                  <a:pt x="412" y="1393"/>
                  <a:pt x="399" y="1393"/>
                </a:cubicBezTo>
                <a:lnTo>
                  <a:pt x="391" y="1393"/>
                </a:lnTo>
                <a:cubicBezTo>
                  <a:pt x="378" y="1393"/>
                  <a:pt x="365" y="1392"/>
                  <a:pt x="353" y="1390"/>
                </a:cubicBezTo>
                <a:cubicBezTo>
                  <a:pt x="340" y="1388"/>
                  <a:pt x="327" y="1385"/>
                  <a:pt x="315" y="1380"/>
                </a:cubicBezTo>
                <a:cubicBezTo>
                  <a:pt x="302" y="1376"/>
                  <a:pt x="290" y="1370"/>
                  <a:pt x="278" y="1363"/>
                </a:cubicBezTo>
                <a:cubicBezTo>
                  <a:pt x="265" y="1357"/>
                  <a:pt x="253" y="1349"/>
                  <a:pt x="241" y="1340"/>
                </a:cubicBezTo>
                <a:cubicBezTo>
                  <a:pt x="230" y="1332"/>
                  <a:pt x="218" y="1322"/>
                  <a:pt x="207" y="1311"/>
                </a:cubicBezTo>
                <a:cubicBezTo>
                  <a:pt x="196" y="1300"/>
                  <a:pt x="185" y="1289"/>
                  <a:pt x="174" y="1276"/>
                </a:cubicBezTo>
                <a:cubicBezTo>
                  <a:pt x="163" y="1263"/>
                  <a:pt x="153" y="1250"/>
                  <a:pt x="143" y="1235"/>
                </a:cubicBezTo>
                <a:cubicBezTo>
                  <a:pt x="133" y="1221"/>
                  <a:pt x="124" y="1206"/>
                  <a:pt x="115" y="1189"/>
                </a:cubicBezTo>
                <a:cubicBezTo>
                  <a:pt x="106" y="1173"/>
                  <a:pt x="97" y="1156"/>
                  <a:pt x="89" y="1139"/>
                </a:cubicBezTo>
                <a:cubicBezTo>
                  <a:pt x="81" y="1121"/>
                  <a:pt x="73" y="1103"/>
                  <a:pt x="66" y="1084"/>
                </a:cubicBezTo>
                <a:cubicBezTo>
                  <a:pt x="59" y="1064"/>
                  <a:pt x="52" y="1044"/>
                  <a:pt x="46" y="1024"/>
                </a:cubicBezTo>
                <a:cubicBezTo>
                  <a:pt x="40" y="1004"/>
                  <a:pt x="35" y="984"/>
                  <a:pt x="30" y="963"/>
                </a:cubicBezTo>
                <a:cubicBezTo>
                  <a:pt x="25" y="941"/>
                  <a:pt x="21" y="920"/>
                  <a:pt x="17" y="898"/>
                </a:cubicBezTo>
                <a:cubicBezTo>
                  <a:pt x="13" y="876"/>
                  <a:pt x="10" y="854"/>
                  <a:pt x="8" y="832"/>
                </a:cubicBezTo>
                <a:cubicBezTo>
                  <a:pt x="5" y="810"/>
                  <a:pt x="3" y="787"/>
                  <a:pt x="2" y="764"/>
                </a:cubicBezTo>
                <a:cubicBezTo>
                  <a:pt x="1" y="742"/>
                  <a:pt x="0" y="719"/>
                  <a:pt x="0" y="696"/>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107" name="図 106"/>
          <p:cNvPicPr/>
          <p:nvPr/>
        </p:nvPicPr>
        <p:blipFill>
          <a:blip r:embed="rId3"/>
          <a:stretch/>
        </p:blipFill>
        <p:spPr>
          <a:xfrm>
            <a:off x="309240" y="1019520"/>
            <a:ext cx="200160" cy="200160"/>
          </a:xfrm>
          <a:prstGeom prst="rect">
            <a:avLst/>
          </a:prstGeom>
          <a:noFill/>
          <a:ln w="0">
            <a:noFill/>
          </a:ln>
        </p:spPr>
      </p:pic>
      <p:sp>
        <p:nvSpPr>
          <p:cNvPr id="108" name="フリーフォーム: 図形 107"/>
          <p:cNvSpPr/>
          <p:nvPr/>
        </p:nvSpPr>
        <p:spPr>
          <a:xfrm>
            <a:off x="752040" y="1270080"/>
            <a:ext cx="5356800" cy="802440"/>
          </a:xfrm>
          <a:custGeom>
            <a:avLst/>
            <a:gdLst/>
            <a:ahLst/>
            <a:cxnLst/>
            <a:rect l="0" t="0" r="r" b="b"/>
            <a:pathLst>
              <a:path w="14880" h="2229">
                <a:moveTo>
                  <a:pt x="0" y="0"/>
                </a:moveTo>
                <a:lnTo>
                  <a:pt x="14880" y="0"/>
                </a:lnTo>
                <a:lnTo>
                  <a:pt x="14880" y="2229"/>
                </a:lnTo>
                <a:lnTo>
                  <a:pt x="0" y="2229"/>
                </a:lnTo>
                <a:lnTo>
                  <a:pt x="0" y="0"/>
                </a:lnTo>
                <a:close/>
              </a:path>
            </a:pathLst>
          </a:custGeom>
          <a:solidFill>
            <a:srgbClr val="66CC99">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09" name="フリーフォーム: 図形 108"/>
          <p:cNvSpPr/>
          <p:nvPr/>
        </p:nvSpPr>
        <p:spPr>
          <a:xfrm>
            <a:off x="752040" y="1270080"/>
            <a:ext cx="33840" cy="802440"/>
          </a:xfrm>
          <a:custGeom>
            <a:avLst/>
            <a:gdLst/>
            <a:ahLst/>
            <a:cxnLst/>
            <a:rect l="0" t="0" r="r" b="b"/>
            <a:pathLst>
              <a:path w="94" h="2229">
                <a:moveTo>
                  <a:pt x="0" y="0"/>
                </a:moveTo>
                <a:lnTo>
                  <a:pt x="94" y="0"/>
                </a:lnTo>
                <a:lnTo>
                  <a:pt x="94" y="2229"/>
                </a:lnTo>
                <a:lnTo>
                  <a:pt x="0" y="2229"/>
                </a:lnTo>
                <a:lnTo>
                  <a:pt x="0" y="0"/>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10" name="テキスト ボックス 109"/>
          <p:cNvSpPr txBox="1"/>
          <p:nvPr/>
        </p:nvSpPr>
        <p:spPr>
          <a:xfrm>
            <a:off x="334440" y="155520"/>
            <a:ext cx="12016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研究目的</a:t>
            </a:r>
            <a:endParaRPr lang="en-US" sz="2370" b="0" u="none" strike="noStrike">
              <a:solidFill>
                <a:srgbClr val="000000"/>
              </a:solidFill>
              <a:effectLst/>
              <a:uFillTx/>
              <a:latin typeface="Times New Roman"/>
            </a:endParaRPr>
          </a:p>
        </p:txBody>
      </p:sp>
      <p:sp>
        <p:nvSpPr>
          <p:cNvPr id="111" name="テキスト ボックス 110"/>
          <p:cNvSpPr txBox="1"/>
          <p:nvPr/>
        </p:nvSpPr>
        <p:spPr>
          <a:xfrm>
            <a:off x="749160" y="900360"/>
            <a:ext cx="120780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本研究の目的</a:t>
            </a:r>
            <a:endParaRPr lang="en-US" sz="1580" b="0" u="none" strike="noStrike">
              <a:solidFill>
                <a:srgbClr val="000000"/>
              </a:solidFill>
              <a:effectLst/>
              <a:uFillTx/>
              <a:latin typeface="Times New Roman"/>
            </a:endParaRPr>
          </a:p>
        </p:txBody>
      </p:sp>
      <p:sp>
        <p:nvSpPr>
          <p:cNvPr id="112" name="テキスト ボックス 111"/>
          <p:cNvSpPr txBox="1"/>
          <p:nvPr/>
        </p:nvSpPr>
        <p:spPr>
          <a:xfrm>
            <a:off x="916200" y="1448280"/>
            <a:ext cx="509832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銅フタロシアニン</a:t>
            </a:r>
            <a:r>
              <a:rPr lang="en-US" sz="1180" b="0" u="none" strike="noStrike">
                <a:solidFill>
                  <a:srgbClr val="000000"/>
                </a:solidFill>
                <a:effectLst/>
                <a:uFillTx/>
                <a:latin typeface="NotoSansJP"/>
                <a:ea typeface="NotoSansJP"/>
              </a:rPr>
              <a:t>(CuPc)</a:t>
            </a:r>
            <a:r>
              <a:rPr lang="zh-CN" sz="1180" b="0" u="none" strike="noStrike">
                <a:solidFill>
                  <a:srgbClr val="000000"/>
                </a:solidFill>
                <a:effectLst/>
                <a:uFillTx/>
                <a:latin typeface="NotoSansJP"/>
                <a:ea typeface="NotoSansJP"/>
              </a:rPr>
              <a:t>をくし形電極に蒸着した</a:t>
            </a:r>
            <a:r>
              <a:rPr lang="zh-CN" sz="1180" b="0" u="none" strike="noStrike">
                <a:solidFill>
                  <a:srgbClr val="FF9900"/>
                </a:solidFill>
                <a:effectLst/>
                <a:uFillTx/>
                <a:latin typeface="NotoSansJP"/>
                <a:ea typeface="NotoSansJP"/>
              </a:rPr>
              <a:t>低濃度還元性匂いセンサ</a:t>
            </a:r>
            <a:endParaRPr lang="en-US" sz="1180" b="0" u="none" strike="noStrike">
              <a:solidFill>
                <a:srgbClr val="000000"/>
              </a:solidFill>
              <a:effectLst/>
              <a:uFillTx/>
              <a:latin typeface="Times New Roman"/>
            </a:endParaRPr>
          </a:p>
        </p:txBody>
      </p:sp>
      <p:sp>
        <p:nvSpPr>
          <p:cNvPr id="113" name="テキスト ボックス 112"/>
          <p:cNvSpPr txBox="1"/>
          <p:nvPr/>
        </p:nvSpPr>
        <p:spPr>
          <a:xfrm>
            <a:off x="916200" y="1682280"/>
            <a:ext cx="44452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を用い、トリメチルアミン</a:t>
            </a:r>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ガス検知について検討を行う。</a:t>
            </a:r>
            <a:endParaRPr lang="en-US" sz="1180" b="0" u="none" strike="noStrike">
              <a:solidFill>
                <a:srgbClr val="000000"/>
              </a:solidFill>
              <a:effectLst/>
              <a:uFillTx/>
              <a:latin typeface="Times New Roman"/>
            </a:endParaRPr>
          </a:p>
        </p:txBody>
      </p:sp>
      <p:pic>
        <p:nvPicPr>
          <p:cNvPr id="114" name="図 113"/>
          <p:cNvPicPr/>
          <p:nvPr/>
        </p:nvPicPr>
        <p:blipFill>
          <a:blip r:embed="rId4"/>
          <a:stretch/>
        </p:blipFill>
        <p:spPr>
          <a:xfrm>
            <a:off x="468000" y="3008520"/>
            <a:ext cx="150120" cy="150120"/>
          </a:xfrm>
          <a:prstGeom prst="rect">
            <a:avLst/>
          </a:prstGeom>
          <a:noFill/>
          <a:ln w="0">
            <a:noFill/>
          </a:ln>
        </p:spPr>
      </p:pic>
      <p:sp>
        <p:nvSpPr>
          <p:cNvPr id="115" name="テキスト ボックス 114"/>
          <p:cNvSpPr txBox="1"/>
          <p:nvPr/>
        </p:nvSpPr>
        <p:spPr>
          <a:xfrm>
            <a:off x="468000" y="2635920"/>
            <a:ext cx="117432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研究アプローチ</a:t>
            </a:r>
            <a:endParaRPr lang="en-US" sz="1320" b="0" u="none" strike="noStrike">
              <a:solidFill>
                <a:srgbClr val="000000"/>
              </a:solidFill>
              <a:effectLst/>
              <a:uFillTx/>
              <a:latin typeface="Times New Roman"/>
            </a:endParaRPr>
          </a:p>
        </p:txBody>
      </p:sp>
      <p:pic>
        <p:nvPicPr>
          <p:cNvPr id="116" name="図 115"/>
          <p:cNvPicPr/>
          <p:nvPr/>
        </p:nvPicPr>
        <p:blipFill>
          <a:blip r:embed="rId4"/>
          <a:stretch/>
        </p:blipFill>
        <p:spPr>
          <a:xfrm>
            <a:off x="468000" y="3376080"/>
            <a:ext cx="150120" cy="150120"/>
          </a:xfrm>
          <a:prstGeom prst="rect">
            <a:avLst/>
          </a:prstGeom>
          <a:noFill/>
          <a:ln w="0">
            <a:noFill/>
          </a:ln>
        </p:spPr>
      </p:pic>
      <p:sp>
        <p:nvSpPr>
          <p:cNvPr id="117" name="テキスト ボックス 116"/>
          <p:cNvSpPr txBox="1"/>
          <p:nvPr/>
        </p:nvSpPr>
        <p:spPr>
          <a:xfrm>
            <a:off x="718560" y="3019320"/>
            <a:ext cx="31370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銅フタロシアニン</a:t>
            </a:r>
            <a:r>
              <a:rPr lang="en-US" sz="1180" b="0" u="none" strike="noStrike">
                <a:solidFill>
                  <a:srgbClr val="000000"/>
                </a:solidFill>
                <a:effectLst/>
                <a:uFillTx/>
                <a:latin typeface="NotoSansJP"/>
                <a:ea typeface="NotoSansJP"/>
              </a:rPr>
              <a:t>(CuPc)</a:t>
            </a:r>
            <a:r>
              <a:rPr lang="zh-CN" sz="1180" b="0" u="none" strike="noStrike">
                <a:solidFill>
                  <a:srgbClr val="000000"/>
                </a:solidFill>
                <a:effectLst/>
                <a:uFillTx/>
                <a:latin typeface="NotoSansJP"/>
                <a:ea typeface="NotoSansJP"/>
              </a:rPr>
              <a:t>の半導体特性を活用</a:t>
            </a:r>
            <a:endParaRPr lang="en-US" sz="1180" b="0" u="none" strike="noStrike">
              <a:solidFill>
                <a:srgbClr val="000000"/>
              </a:solidFill>
              <a:effectLst/>
              <a:uFillTx/>
              <a:latin typeface="Times New Roman"/>
            </a:endParaRPr>
          </a:p>
        </p:txBody>
      </p:sp>
      <p:pic>
        <p:nvPicPr>
          <p:cNvPr id="118" name="図 117"/>
          <p:cNvPicPr/>
          <p:nvPr/>
        </p:nvPicPr>
        <p:blipFill>
          <a:blip r:embed="rId4"/>
          <a:stretch/>
        </p:blipFill>
        <p:spPr>
          <a:xfrm>
            <a:off x="468000" y="3743640"/>
            <a:ext cx="150120" cy="150120"/>
          </a:xfrm>
          <a:prstGeom prst="rect">
            <a:avLst/>
          </a:prstGeom>
          <a:noFill/>
          <a:ln w="0">
            <a:noFill/>
          </a:ln>
        </p:spPr>
      </p:pic>
      <p:sp>
        <p:nvSpPr>
          <p:cNvPr id="119" name="テキスト ボックス 118"/>
          <p:cNvSpPr txBox="1"/>
          <p:nvPr/>
        </p:nvSpPr>
        <p:spPr>
          <a:xfrm>
            <a:off x="718560" y="3386880"/>
            <a:ext cx="45270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くし形電極（インターディジタル電極）に蒸着して検知素子を作製</a:t>
            </a:r>
            <a:endParaRPr lang="en-US" sz="1180" b="0" u="none" strike="noStrike">
              <a:solidFill>
                <a:srgbClr val="000000"/>
              </a:solidFill>
              <a:effectLst/>
              <a:uFillTx/>
              <a:latin typeface="Times New Roman"/>
            </a:endParaRPr>
          </a:p>
        </p:txBody>
      </p:sp>
      <p:pic>
        <p:nvPicPr>
          <p:cNvPr id="120" name="図 119"/>
          <p:cNvPicPr/>
          <p:nvPr/>
        </p:nvPicPr>
        <p:blipFill>
          <a:blip r:embed="rId4"/>
          <a:stretch/>
        </p:blipFill>
        <p:spPr>
          <a:xfrm>
            <a:off x="468000" y="4111560"/>
            <a:ext cx="150120" cy="150120"/>
          </a:xfrm>
          <a:prstGeom prst="rect">
            <a:avLst/>
          </a:prstGeom>
          <a:noFill/>
          <a:ln w="0">
            <a:noFill/>
          </a:ln>
        </p:spPr>
      </p:pic>
      <p:sp>
        <p:nvSpPr>
          <p:cNvPr id="121" name="テキスト ボックス 120"/>
          <p:cNvSpPr txBox="1"/>
          <p:nvPr/>
        </p:nvSpPr>
        <p:spPr>
          <a:xfrm>
            <a:off x="718560" y="3754800"/>
            <a:ext cx="23662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低濃度</a:t>
            </a:r>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ガスの検知性能を評価</a:t>
            </a:r>
            <a:endParaRPr lang="en-US" sz="1180" b="0" u="none" strike="noStrike">
              <a:solidFill>
                <a:srgbClr val="000000"/>
              </a:solidFill>
              <a:effectLst/>
              <a:uFillTx/>
              <a:latin typeface="Times New Roman"/>
            </a:endParaRPr>
          </a:p>
        </p:txBody>
      </p:sp>
      <p:pic>
        <p:nvPicPr>
          <p:cNvPr id="122" name="図 121"/>
          <p:cNvPicPr/>
          <p:nvPr/>
        </p:nvPicPr>
        <p:blipFill>
          <a:blip r:embed="rId5"/>
          <a:stretch/>
        </p:blipFill>
        <p:spPr>
          <a:xfrm>
            <a:off x="401040" y="4888800"/>
            <a:ext cx="116640" cy="150120"/>
          </a:xfrm>
          <a:prstGeom prst="rect">
            <a:avLst/>
          </a:prstGeom>
          <a:noFill/>
          <a:ln w="0">
            <a:noFill/>
          </a:ln>
        </p:spPr>
      </p:pic>
      <p:sp>
        <p:nvSpPr>
          <p:cNvPr id="123" name="テキスト ボックス 122"/>
          <p:cNvSpPr txBox="1"/>
          <p:nvPr/>
        </p:nvSpPr>
        <p:spPr>
          <a:xfrm>
            <a:off x="718560" y="4122360"/>
            <a:ext cx="36216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健康リスクの早期警告システムへの応用可能性を検討</a:t>
            </a:r>
            <a:endParaRPr lang="en-US" sz="1180" b="0" u="none" strike="noStrike">
              <a:solidFill>
                <a:srgbClr val="000000"/>
              </a:solidFill>
              <a:effectLst/>
              <a:uFillTx/>
              <a:latin typeface="Times New Roman"/>
            </a:endParaRPr>
          </a:p>
        </p:txBody>
      </p:sp>
      <p:sp>
        <p:nvSpPr>
          <p:cNvPr id="124" name="フリーフォーム: 図形 123"/>
          <p:cNvSpPr/>
          <p:nvPr/>
        </p:nvSpPr>
        <p:spPr>
          <a:xfrm>
            <a:off x="6309000" y="869040"/>
            <a:ext cx="4120200" cy="4044960"/>
          </a:xfrm>
          <a:custGeom>
            <a:avLst/>
            <a:gdLst/>
            <a:ahLst/>
            <a:cxnLst/>
            <a:rect l="0" t="0" r="r" b="b"/>
            <a:pathLst>
              <a:path w="11445" h="11236">
                <a:moveTo>
                  <a:pt x="0" y="11050"/>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1260" y="0"/>
                </a:lnTo>
                <a:cubicBezTo>
                  <a:pt x="11272" y="0"/>
                  <a:pt x="11284" y="1"/>
                  <a:pt x="11296" y="3"/>
                </a:cubicBezTo>
                <a:cubicBezTo>
                  <a:pt x="11308" y="6"/>
                  <a:pt x="11319" y="9"/>
                  <a:pt x="11331" y="14"/>
                </a:cubicBezTo>
                <a:cubicBezTo>
                  <a:pt x="11342" y="18"/>
                  <a:pt x="11353" y="24"/>
                  <a:pt x="11363" y="31"/>
                </a:cubicBezTo>
                <a:cubicBezTo>
                  <a:pt x="11373" y="38"/>
                  <a:pt x="11382" y="45"/>
                  <a:pt x="11391" y="54"/>
                </a:cubicBezTo>
                <a:cubicBezTo>
                  <a:pt x="11400" y="63"/>
                  <a:pt x="11407" y="72"/>
                  <a:pt x="11414" y="82"/>
                </a:cubicBezTo>
                <a:cubicBezTo>
                  <a:pt x="11421" y="92"/>
                  <a:pt x="11427" y="103"/>
                  <a:pt x="11431" y="114"/>
                </a:cubicBezTo>
                <a:cubicBezTo>
                  <a:pt x="11436" y="126"/>
                  <a:pt x="11439" y="137"/>
                  <a:pt x="11442" y="149"/>
                </a:cubicBezTo>
                <a:cubicBezTo>
                  <a:pt x="11444" y="161"/>
                  <a:pt x="11445" y="173"/>
                  <a:pt x="11445" y="185"/>
                </a:cubicBezTo>
                <a:lnTo>
                  <a:pt x="11445" y="11050"/>
                </a:lnTo>
                <a:cubicBezTo>
                  <a:pt x="11445" y="11062"/>
                  <a:pt x="11444" y="11074"/>
                  <a:pt x="11442" y="11086"/>
                </a:cubicBezTo>
                <a:cubicBezTo>
                  <a:pt x="11439" y="11098"/>
                  <a:pt x="11436" y="11110"/>
                  <a:pt x="11431" y="11121"/>
                </a:cubicBezTo>
                <a:cubicBezTo>
                  <a:pt x="11427" y="11132"/>
                  <a:pt x="11421" y="11143"/>
                  <a:pt x="11414" y="11153"/>
                </a:cubicBezTo>
                <a:cubicBezTo>
                  <a:pt x="11407" y="11163"/>
                  <a:pt x="11400" y="11173"/>
                  <a:pt x="11391" y="11181"/>
                </a:cubicBezTo>
                <a:cubicBezTo>
                  <a:pt x="11382" y="11190"/>
                  <a:pt x="11373" y="11198"/>
                  <a:pt x="11363" y="11204"/>
                </a:cubicBezTo>
                <a:cubicBezTo>
                  <a:pt x="11353" y="11211"/>
                  <a:pt x="11342" y="11217"/>
                  <a:pt x="11331" y="11222"/>
                </a:cubicBezTo>
                <a:cubicBezTo>
                  <a:pt x="11319" y="11226"/>
                  <a:pt x="11308" y="11230"/>
                  <a:pt x="11296" y="11232"/>
                </a:cubicBezTo>
                <a:cubicBezTo>
                  <a:pt x="11284" y="11235"/>
                  <a:pt x="11272" y="11236"/>
                  <a:pt x="11260" y="11236"/>
                </a:cubicBezTo>
                <a:lnTo>
                  <a:pt x="186" y="11236"/>
                </a:lnTo>
                <a:cubicBezTo>
                  <a:pt x="174" y="11236"/>
                  <a:pt x="162" y="11235"/>
                  <a:pt x="150" y="11232"/>
                </a:cubicBezTo>
                <a:cubicBezTo>
                  <a:pt x="138" y="11230"/>
                  <a:pt x="126" y="11226"/>
                  <a:pt x="115" y="11222"/>
                </a:cubicBezTo>
                <a:cubicBezTo>
                  <a:pt x="104" y="11217"/>
                  <a:pt x="93" y="11211"/>
                  <a:pt x="83" y="11204"/>
                </a:cubicBezTo>
                <a:cubicBezTo>
                  <a:pt x="73" y="11198"/>
                  <a:pt x="63" y="11190"/>
                  <a:pt x="55" y="11181"/>
                </a:cubicBezTo>
                <a:cubicBezTo>
                  <a:pt x="46" y="11173"/>
                  <a:pt x="38" y="11163"/>
                  <a:pt x="32" y="11153"/>
                </a:cubicBezTo>
                <a:cubicBezTo>
                  <a:pt x="25" y="11143"/>
                  <a:pt x="19" y="11132"/>
                  <a:pt x="14" y="11121"/>
                </a:cubicBezTo>
                <a:cubicBezTo>
                  <a:pt x="10" y="11110"/>
                  <a:pt x="6" y="11098"/>
                  <a:pt x="4" y="11086"/>
                </a:cubicBezTo>
                <a:cubicBezTo>
                  <a:pt x="2" y="11074"/>
                  <a:pt x="0" y="11062"/>
                  <a:pt x="0" y="11050"/>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25" name="フリーフォーム: 図形 124"/>
          <p:cNvSpPr/>
          <p:nvPr/>
        </p:nvSpPr>
        <p:spPr>
          <a:xfrm>
            <a:off x="6309000" y="5114160"/>
            <a:ext cx="4120200" cy="2206440"/>
          </a:xfrm>
          <a:custGeom>
            <a:avLst/>
            <a:gdLst/>
            <a:ahLst/>
            <a:cxnLst/>
            <a:rect l="0" t="0" r="r" b="b"/>
            <a:pathLst>
              <a:path w="11445" h="6129">
                <a:moveTo>
                  <a:pt x="0" y="5943"/>
                </a:moveTo>
                <a:lnTo>
                  <a:pt x="0" y="186"/>
                </a:lnTo>
                <a:cubicBezTo>
                  <a:pt x="0" y="173"/>
                  <a:pt x="2" y="161"/>
                  <a:pt x="4" y="149"/>
                </a:cubicBezTo>
                <a:cubicBezTo>
                  <a:pt x="6" y="137"/>
                  <a:pt x="10" y="126"/>
                  <a:pt x="14" y="115"/>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1260" y="0"/>
                </a:lnTo>
                <a:cubicBezTo>
                  <a:pt x="11272" y="0"/>
                  <a:pt x="11284" y="1"/>
                  <a:pt x="11296" y="3"/>
                </a:cubicBezTo>
                <a:cubicBezTo>
                  <a:pt x="11308" y="6"/>
                  <a:pt x="11319" y="9"/>
                  <a:pt x="11331" y="14"/>
                </a:cubicBezTo>
                <a:cubicBezTo>
                  <a:pt x="11342" y="19"/>
                  <a:pt x="11353" y="24"/>
                  <a:pt x="11363" y="31"/>
                </a:cubicBezTo>
                <a:cubicBezTo>
                  <a:pt x="11373" y="38"/>
                  <a:pt x="11382" y="46"/>
                  <a:pt x="11391" y="54"/>
                </a:cubicBezTo>
                <a:cubicBezTo>
                  <a:pt x="11400" y="63"/>
                  <a:pt x="11407" y="72"/>
                  <a:pt x="11414" y="82"/>
                </a:cubicBezTo>
                <a:cubicBezTo>
                  <a:pt x="11421" y="93"/>
                  <a:pt x="11427" y="103"/>
                  <a:pt x="11431" y="115"/>
                </a:cubicBezTo>
                <a:cubicBezTo>
                  <a:pt x="11436" y="126"/>
                  <a:pt x="11439" y="137"/>
                  <a:pt x="11442" y="149"/>
                </a:cubicBezTo>
                <a:cubicBezTo>
                  <a:pt x="11444" y="161"/>
                  <a:pt x="11445" y="173"/>
                  <a:pt x="11445" y="186"/>
                </a:cubicBezTo>
                <a:lnTo>
                  <a:pt x="11445" y="5943"/>
                </a:lnTo>
                <a:cubicBezTo>
                  <a:pt x="11445" y="5956"/>
                  <a:pt x="11444" y="5968"/>
                  <a:pt x="11442" y="5980"/>
                </a:cubicBezTo>
                <a:cubicBezTo>
                  <a:pt x="11439" y="5992"/>
                  <a:pt x="11436" y="6003"/>
                  <a:pt x="11431" y="6014"/>
                </a:cubicBezTo>
                <a:cubicBezTo>
                  <a:pt x="11427" y="6026"/>
                  <a:pt x="11421" y="6036"/>
                  <a:pt x="11414" y="6047"/>
                </a:cubicBezTo>
                <a:cubicBezTo>
                  <a:pt x="11407" y="6057"/>
                  <a:pt x="11400" y="6066"/>
                  <a:pt x="11391" y="6075"/>
                </a:cubicBezTo>
                <a:cubicBezTo>
                  <a:pt x="11382" y="6083"/>
                  <a:pt x="11373" y="6091"/>
                  <a:pt x="11363" y="6098"/>
                </a:cubicBezTo>
                <a:cubicBezTo>
                  <a:pt x="11353" y="6105"/>
                  <a:pt x="11342" y="6110"/>
                  <a:pt x="11331" y="6115"/>
                </a:cubicBezTo>
                <a:cubicBezTo>
                  <a:pt x="11319" y="6120"/>
                  <a:pt x="11308" y="6123"/>
                  <a:pt x="11296" y="6126"/>
                </a:cubicBezTo>
                <a:cubicBezTo>
                  <a:pt x="11284" y="6128"/>
                  <a:pt x="11272" y="6129"/>
                  <a:pt x="11260" y="6129"/>
                </a:cubicBezTo>
                <a:lnTo>
                  <a:pt x="186" y="6129"/>
                </a:lnTo>
                <a:cubicBezTo>
                  <a:pt x="174" y="6129"/>
                  <a:pt x="162" y="6128"/>
                  <a:pt x="150" y="6126"/>
                </a:cubicBezTo>
                <a:cubicBezTo>
                  <a:pt x="138" y="6123"/>
                  <a:pt x="126" y="6120"/>
                  <a:pt x="115" y="6115"/>
                </a:cubicBezTo>
                <a:cubicBezTo>
                  <a:pt x="104" y="6110"/>
                  <a:pt x="93" y="6105"/>
                  <a:pt x="83" y="6098"/>
                </a:cubicBezTo>
                <a:cubicBezTo>
                  <a:pt x="73" y="6091"/>
                  <a:pt x="63" y="6083"/>
                  <a:pt x="55" y="6075"/>
                </a:cubicBezTo>
                <a:cubicBezTo>
                  <a:pt x="46" y="6066"/>
                  <a:pt x="38" y="6057"/>
                  <a:pt x="32" y="6047"/>
                </a:cubicBezTo>
                <a:cubicBezTo>
                  <a:pt x="25" y="6036"/>
                  <a:pt x="19" y="6026"/>
                  <a:pt x="14" y="6014"/>
                </a:cubicBezTo>
                <a:cubicBezTo>
                  <a:pt x="10" y="6003"/>
                  <a:pt x="6" y="5992"/>
                  <a:pt x="4" y="5980"/>
                </a:cubicBezTo>
                <a:cubicBezTo>
                  <a:pt x="2" y="5968"/>
                  <a:pt x="0" y="5956"/>
                  <a:pt x="0" y="5943"/>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26" name="テキスト ボックス 125"/>
          <p:cNvSpPr txBox="1"/>
          <p:nvPr/>
        </p:nvSpPr>
        <p:spPr>
          <a:xfrm>
            <a:off x="618480" y="4891320"/>
            <a:ext cx="35247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特に</a:t>
            </a:r>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未満の低濃度領域での検知性能に着目</a:t>
            </a:r>
            <a:endParaRPr lang="en-US" sz="1180" b="0" u="none" strike="noStrike">
              <a:solidFill>
                <a:srgbClr val="000000"/>
              </a:solidFill>
              <a:effectLst/>
              <a:uFillTx/>
              <a:latin typeface="Times New Roman"/>
            </a:endParaRPr>
          </a:p>
        </p:txBody>
      </p:sp>
      <p:pic>
        <p:nvPicPr>
          <p:cNvPr id="127" name="図 126"/>
          <p:cNvPicPr/>
          <p:nvPr/>
        </p:nvPicPr>
        <p:blipFill>
          <a:blip r:embed="rId6"/>
          <a:stretch/>
        </p:blipFill>
        <p:spPr>
          <a:xfrm>
            <a:off x="6442920" y="1337040"/>
            <a:ext cx="3852000" cy="3175200"/>
          </a:xfrm>
          <a:prstGeom prst="rect">
            <a:avLst/>
          </a:prstGeom>
          <a:noFill/>
          <a:ln w="0">
            <a:noFill/>
          </a:ln>
        </p:spPr>
      </p:pic>
      <p:sp>
        <p:nvSpPr>
          <p:cNvPr id="128" name="テキスト ボックス 127"/>
          <p:cNvSpPr txBox="1"/>
          <p:nvPr/>
        </p:nvSpPr>
        <p:spPr>
          <a:xfrm>
            <a:off x="6870600" y="1031400"/>
            <a:ext cx="301824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くし形電極（インターディジタル電極）</a:t>
            </a:r>
            <a:endParaRPr lang="en-US" sz="1320" b="0" u="none" strike="noStrike">
              <a:solidFill>
                <a:srgbClr val="000000"/>
              </a:solidFill>
              <a:effectLst/>
              <a:uFillTx/>
              <a:latin typeface="Times New Roman"/>
            </a:endParaRPr>
          </a:p>
        </p:txBody>
      </p:sp>
      <p:sp>
        <p:nvSpPr>
          <p:cNvPr id="129" name="テキスト ボックス 128"/>
          <p:cNvSpPr txBox="1"/>
          <p:nvPr/>
        </p:nvSpPr>
        <p:spPr>
          <a:xfrm>
            <a:off x="7342560" y="4614120"/>
            <a:ext cx="2108880" cy="194040"/>
          </a:xfrm>
          <a:prstGeom prst="rect">
            <a:avLst/>
          </a:prstGeom>
          <a:noFill/>
          <a:ln w="0">
            <a:noFill/>
          </a:ln>
        </p:spPr>
        <p:txBody>
          <a:bodyPr wrap="none" lIns="0" tIns="0" rIns="0" bIns="0" anchor="t">
            <a:spAutoFit/>
          </a:bodyPr>
          <a:lstStyle/>
          <a:p>
            <a:r>
              <a:rPr lang="en-US" sz="1050" b="0" u="none" strike="noStrike">
                <a:solidFill>
                  <a:srgbClr val="4B5563"/>
                </a:solidFill>
                <a:effectLst/>
                <a:uFillTx/>
                <a:latin typeface="NotoSansJP"/>
                <a:ea typeface="NotoSansJP"/>
              </a:rPr>
              <a:t>CuPc</a:t>
            </a:r>
            <a:r>
              <a:rPr lang="zh-CN" sz="1050" b="0" u="none" strike="noStrike">
                <a:solidFill>
                  <a:srgbClr val="4B5563"/>
                </a:solidFill>
                <a:effectLst/>
                <a:uFillTx/>
                <a:latin typeface="NotoSansJP"/>
                <a:ea typeface="NotoSansJP"/>
              </a:rPr>
              <a:t>を蒸着するくし形電極アレイ</a:t>
            </a:r>
            <a:endParaRPr lang="en-US" sz="1050" b="0" u="none" strike="noStrike">
              <a:solidFill>
                <a:srgbClr val="000000"/>
              </a:solidFill>
              <a:effectLst/>
              <a:uFillTx/>
              <a:latin typeface="Times New Roman"/>
            </a:endParaRPr>
          </a:p>
        </p:txBody>
      </p:sp>
      <p:sp>
        <p:nvSpPr>
          <p:cNvPr id="130" name="フリーフォーム: 図形 129"/>
          <p:cNvSpPr/>
          <p:nvPr/>
        </p:nvSpPr>
        <p:spPr>
          <a:xfrm>
            <a:off x="6509520" y="5649120"/>
            <a:ext cx="401760" cy="401400"/>
          </a:xfrm>
          <a:custGeom>
            <a:avLst/>
            <a:gdLst/>
            <a:ahLst/>
            <a:cxnLst/>
            <a:rect l="0" t="0" r="r" b="b"/>
            <a:pathLst>
              <a:path w="1116" h="1115">
                <a:moveTo>
                  <a:pt x="1116" y="558"/>
                </a:moveTo>
                <a:cubicBezTo>
                  <a:pt x="1116" y="594"/>
                  <a:pt x="1112" y="630"/>
                  <a:pt x="1105" y="666"/>
                </a:cubicBezTo>
                <a:cubicBezTo>
                  <a:pt x="1098" y="702"/>
                  <a:pt x="1087" y="737"/>
                  <a:pt x="1073" y="771"/>
                </a:cubicBezTo>
                <a:cubicBezTo>
                  <a:pt x="1059" y="805"/>
                  <a:pt x="1042" y="837"/>
                  <a:pt x="1022" y="867"/>
                </a:cubicBezTo>
                <a:cubicBezTo>
                  <a:pt x="1001" y="898"/>
                  <a:pt x="978" y="926"/>
                  <a:pt x="953" y="952"/>
                </a:cubicBezTo>
                <a:cubicBezTo>
                  <a:pt x="927" y="977"/>
                  <a:pt x="899" y="1001"/>
                  <a:pt x="868" y="1021"/>
                </a:cubicBezTo>
                <a:cubicBezTo>
                  <a:pt x="838" y="1041"/>
                  <a:pt x="806" y="1058"/>
                  <a:pt x="772" y="1072"/>
                </a:cubicBezTo>
                <a:cubicBezTo>
                  <a:pt x="738" y="1086"/>
                  <a:pt x="703" y="1097"/>
                  <a:pt x="667" y="1104"/>
                </a:cubicBezTo>
                <a:cubicBezTo>
                  <a:pt x="631" y="1111"/>
                  <a:pt x="595" y="1115"/>
                  <a:pt x="559" y="1115"/>
                </a:cubicBezTo>
                <a:cubicBezTo>
                  <a:pt x="522" y="1115"/>
                  <a:pt x="486" y="1111"/>
                  <a:pt x="450" y="1104"/>
                </a:cubicBezTo>
                <a:cubicBezTo>
                  <a:pt x="414" y="1097"/>
                  <a:pt x="379" y="1086"/>
                  <a:pt x="345" y="1072"/>
                </a:cubicBezTo>
                <a:cubicBezTo>
                  <a:pt x="312" y="1058"/>
                  <a:pt x="278" y="1041"/>
                  <a:pt x="248" y="1021"/>
                </a:cubicBezTo>
                <a:cubicBezTo>
                  <a:pt x="218" y="1001"/>
                  <a:pt x="190" y="977"/>
                  <a:pt x="164" y="952"/>
                </a:cubicBezTo>
                <a:cubicBezTo>
                  <a:pt x="138" y="926"/>
                  <a:pt x="115" y="898"/>
                  <a:pt x="94" y="867"/>
                </a:cubicBezTo>
                <a:cubicBezTo>
                  <a:pt x="74" y="837"/>
                  <a:pt x="57" y="805"/>
                  <a:pt x="43" y="771"/>
                </a:cubicBezTo>
                <a:cubicBezTo>
                  <a:pt x="29" y="737"/>
                  <a:pt x="18" y="702"/>
                  <a:pt x="11" y="666"/>
                </a:cubicBezTo>
                <a:cubicBezTo>
                  <a:pt x="4" y="630"/>
                  <a:pt x="0" y="594"/>
                  <a:pt x="0" y="558"/>
                </a:cubicBezTo>
                <a:cubicBezTo>
                  <a:pt x="0" y="521"/>
                  <a:pt x="4" y="485"/>
                  <a:pt x="11" y="448"/>
                </a:cubicBezTo>
                <a:cubicBezTo>
                  <a:pt x="18" y="412"/>
                  <a:pt x="29" y="377"/>
                  <a:pt x="43" y="343"/>
                </a:cubicBezTo>
                <a:cubicBezTo>
                  <a:pt x="57" y="310"/>
                  <a:pt x="74" y="278"/>
                  <a:pt x="94" y="247"/>
                </a:cubicBezTo>
                <a:cubicBezTo>
                  <a:pt x="115" y="217"/>
                  <a:pt x="138" y="189"/>
                  <a:pt x="164" y="163"/>
                </a:cubicBezTo>
                <a:cubicBezTo>
                  <a:pt x="190" y="137"/>
                  <a:pt x="218" y="114"/>
                  <a:pt x="248" y="93"/>
                </a:cubicBezTo>
                <a:cubicBezTo>
                  <a:pt x="278" y="73"/>
                  <a:pt x="312" y="56"/>
                  <a:pt x="345" y="42"/>
                </a:cubicBezTo>
                <a:cubicBezTo>
                  <a:pt x="379" y="28"/>
                  <a:pt x="414" y="17"/>
                  <a:pt x="450" y="10"/>
                </a:cubicBezTo>
                <a:cubicBezTo>
                  <a:pt x="486" y="3"/>
                  <a:pt x="522" y="0"/>
                  <a:pt x="559" y="0"/>
                </a:cubicBezTo>
                <a:cubicBezTo>
                  <a:pt x="595" y="0"/>
                  <a:pt x="631" y="3"/>
                  <a:pt x="667" y="10"/>
                </a:cubicBezTo>
                <a:cubicBezTo>
                  <a:pt x="703" y="17"/>
                  <a:pt x="738" y="28"/>
                  <a:pt x="772" y="42"/>
                </a:cubicBezTo>
                <a:cubicBezTo>
                  <a:pt x="806" y="56"/>
                  <a:pt x="838" y="73"/>
                  <a:pt x="868" y="93"/>
                </a:cubicBezTo>
                <a:cubicBezTo>
                  <a:pt x="899" y="114"/>
                  <a:pt x="927" y="137"/>
                  <a:pt x="953" y="163"/>
                </a:cubicBezTo>
                <a:cubicBezTo>
                  <a:pt x="978" y="189"/>
                  <a:pt x="1001" y="217"/>
                  <a:pt x="1022" y="247"/>
                </a:cubicBezTo>
                <a:cubicBezTo>
                  <a:pt x="1042" y="278"/>
                  <a:pt x="1059" y="310"/>
                  <a:pt x="1073" y="343"/>
                </a:cubicBezTo>
                <a:cubicBezTo>
                  <a:pt x="1087" y="377"/>
                  <a:pt x="1098" y="412"/>
                  <a:pt x="1105" y="448"/>
                </a:cubicBezTo>
                <a:cubicBezTo>
                  <a:pt x="1112" y="485"/>
                  <a:pt x="1116" y="521"/>
                  <a:pt x="1116" y="558"/>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31" name="図 130"/>
          <p:cNvPicPr/>
          <p:nvPr/>
        </p:nvPicPr>
        <p:blipFill>
          <a:blip r:embed="rId7"/>
          <a:stretch/>
        </p:blipFill>
        <p:spPr>
          <a:xfrm>
            <a:off x="6626880" y="5766120"/>
            <a:ext cx="166680" cy="166680"/>
          </a:xfrm>
          <a:prstGeom prst="rect">
            <a:avLst/>
          </a:prstGeom>
          <a:noFill/>
          <a:ln w="0">
            <a:noFill/>
          </a:ln>
        </p:spPr>
      </p:pic>
      <p:sp>
        <p:nvSpPr>
          <p:cNvPr id="132" name="テキスト ボックス 131"/>
          <p:cNvSpPr txBox="1"/>
          <p:nvPr/>
        </p:nvSpPr>
        <p:spPr>
          <a:xfrm>
            <a:off x="6512760" y="5343480"/>
            <a:ext cx="117432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期待される成果</a:t>
            </a:r>
            <a:endParaRPr lang="en-US" sz="1320" b="0" u="none" strike="noStrike">
              <a:solidFill>
                <a:srgbClr val="000000"/>
              </a:solidFill>
              <a:effectLst/>
              <a:uFillTx/>
              <a:latin typeface="Times New Roman"/>
            </a:endParaRPr>
          </a:p>
        </p:txBody>
      </p:sp>
      <p:sp>
        <p:nvSpPr>
          <p:cNvPr id="133" name="フリーフォーム: 図形 132"/>
          <p:cNvSpPr/>
          <p:nvPr/>
        </p:nvSpPr>
        <p:spPr>
          <a:xfrm>
            <a:off x="6509520" y="6183720"/>
            <a:ext cx="401760" cy="401400"/>
          </a:xfrm>
          <a:custGeom>
            <a:avLst/>
            <a:gdLst/>
            <a:ahLst/>
            <a:cxnLst/>
            <a:rect l="0" t="0" r="r" b="b"/>
            <a:pathLst>
              <a:path w="1116" h="1115">
                <a:moveTo>
                  <a:pt x="1116" y="558"/>
                </a:moveTo>
                <a:cubicBezTo>
                  <a:pt x="1116" y="595"/>
                  <a:pt x="1112" y="631"/>
                  <a:pt x="1105" y="667"/>
                </a:cubicBezTo>
                <a:cubicBezTo>
                  <a:pt x="1098" y="703"/>
                  <a:pt x="1087" y="738"/>
                  <a:pt x="1073" y="771"/>
                </a:cubicBezTo>
                <a:cubicBezTo>
                  <a:pt x="1059" y="805"/>
                  <a:pt x="1042" y="837"/>
                  <a:pt x="1022" y="868"/>
                </a:cubicBezTo>
                <a:cubicBezTo>
                  <a:pt x="1001" y="898"/>
                  <a:pt x="978" y="926"/>
                  <a:pt x="953" y="952"/>
                </a:cubicBezTo>
                <a:cubicBezTo>
                  <a:pt x="927" y="978"/>
                  <a:pt x="899" y="1001"/>
                  <a:pt x="868" y="1021"/>
                </a:cubicBezTo>
                <a:cubicBezTo>
                  <a:pt x="838" y="1042"/>
                  <a:pt x="806" y="1059"/>
                  <a:pt x="772" y="1073"/>
                </a:cubicBezTo>
                <a:cubicBezTo>
                  <a:pt x="738" y="1087"/>
                  <a:pt x="703" y="1098"/>
                  <a:pt x="667" y="1105"/>
                </a:cubicBezTo>
                <a:cubicBezTo>
                  <a:pt x="631" y="1112"/>
                  <a:pt x="595" y="1115"/>
                  <a:pt x="559" y="1115"/>
                </a:cubicBezTo>
                <a:cubicBezTo>
                  <a:pt x="522" y="1115"/>
                  <a:pt x="486" y="1112"/>
                  <a:pt x="450" y="1105"/>
                </a:cubicBezTo>
                <a:cubicBezTo>
                  <a:pt x="414" y="1098"/>
                  <a:pt x="379" y="1087"/>
                  <a:pt x="345" y="1073"/>
                </a:cubicBezTo>
                <a:cubicBezTo>
                  <a:pt x="312" y="1059"/>
                  <a:pt x="278" y="1042"/>
                  <a:pt x="248" y="1021"/>
                </a:cubicBezTo>
                <a:cubicBezTo>
                  <a:pt x="218" y="1001"/>
                  <a:pt x="190" y="978"/>
                  <a:pt x="164" y="952"/>
                </a:cubicBezTo>
                <a:cubicBezTo>
                  <a:pt x="138" y="926"/>
                  <a:pt x="115" y="898"/>
                  <a:pt x="94" y="868"/>
                </a:cubicBezTo>
                <a:cubicBezTo>
                  <a:pt x="74" y="837"/>
                  <a:pt x="57" y="805"/>
                  <a:pt x="43" y="771"/>
                </a:cubicBezTo>
                <a:cubicBezTo>
                  <a:pt x="29" y="738"/>
                  <a:pt x="18" y="703"/>
                  <a:pt x="11" y="667"/>
                </a:cubicBezTo>
                <a:cubicBezTo>
                  <a:pt x="4" y="631"/>
                  <a:pt x="0" y="595"/>
                  <a:pt x="0" y="558"/>
                </a:cubicBezTo>
                <a:cubicBezTo>
                  <a:pt x="0" y="522"/>
                  <a:pt x="4" y="485"/>
                  <a:pt x="11" y="450"/>
                </a:cubicBezTo>
                <a:cubicBezTo>
                  <a:pt x="18" y="414"/>
                  <a:pt x="29" y="379"/>
                  <a:pt x="43" y="345"/>
                </a:cubicBezTo>
                <a:cubicBezTo>
                  <a:pt x="57" y="311"/>
                  <a:pt x="74" y="279"/>
                  <a:pt x="94" y="249"/>
                </a:cubicBezTo>
                <a:cubicBezTo>
                  <a:pt x="115" y="218"/>
                  <a:pt x="138" y="190"/>
                  <a:pt x="164" y="164"/>
                </a:cubicBezTo>
                <a:cubicBezTo>
                  <a:pt x="190" y="138"/>
                  <a:pt x="218" y="115"/>
                  <a:pt x="248" y="95"/>
                </a:cubicBezTo>
                <a:cubicBezTo>
                  <a:pt x="278" y="74"/>
                  <a:pt x="312" y="57"/>
                  <a:pt x="345" y="43"/>
                </a:cubicBezTo>
                <a:cubicBezTo>
                  <a:pt x="379" y="29"/>
                  <a:pt x="414" y="18"/>
                  <a:pt x="450" y="11"/>
                </a:cubicBezTo>
                <a:cubicBezTo>
                  <a:pt x="486" y="4"/>
                  <a:pt x="522" y="0"/>
                  <a:pt x="559" y="0"/>
                </a:cubicBezTo>
                <a:cubicBezTo>
                  <a:pt x="595" y="0"/>
                  <a:pt x="631" y="4"/>
                  <a:pt x="667" y="11"/>
                </a:cubicBezTo>
                <a:cubicBezTo>
                  <a:pt x="703" y="18"/>
                  <a:pt x="738" y="29"/>
                  <a:pt x="772" y="43"/>
                </a:cubicBezTo>
                <a:cubicBezTo>
                  <a:pt x="806" y="57"/>
                  <a:pt x="838" y="74"/>
                  <a:pt x="868" y="95"/>
                </a:cubicBezTo>
                <a:cubicBezTo>
                  <a:pt x="899" y="115"/>
                  <a:pt x="927" y="138"/>
                  <a:pt x="953" y="164"/>
                </a:cubicBezTo>
                <a:cubicBezTo>
                  <a:pt x="978" y="190"/>
                  <a:pt x="1001" y="218"/>
                  <a:pt x="1022" y="249"/>
                </a:cubicBezTo>
                <a:cubicBezTo>
                  <a:pt x="1042" y="279"/>
                  <a:pt x="1059" y="311"/>
                  <a:pt x="1073" y="345"/>
                </a:cubicBezTo>
                <a:cubicBezTo>
                  <a:pt x="1087" y="379"/>
                  <a:pt x="1098" y="414"/>
                  <a:pt x="1105" y="450"/>
                </a:cubicBezTo>
                <a:cubicBezTo>
                  <a:pt x="1112" y="485"/>
                  <a:pt x="1116" y="522"/>
                  <a:pt x="1116" y="558"/>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134" name="図 133"/>
          <p:cNvPicPr/>
          <p:nvPr/>
        </p:nvPicPr>
        <p:blipFill>
          <a:blip r:embed="rId8"/>
          <a:stretch/>
        </p:blipFill>
        <p:spPr>
          <a:xfrm>
            <a:off x="6618600" y="6301080"/>
            <a:ext cx="191880" cy="166680"/>
          </a:xfrm>
          <a:prstGeom prst="rect">
            <a:avLst/>
          </a:prstGeom>
          <a:noFill/>
          <a:ln w="0">
            <a:noFill/>
          </a:ln>
        </p:spPr>
      </p:pic>
      <p:sp>
        <p:nvSpPr>
          <p:cNvPr id="135" name="テキスト ボックス 134"/>
          <p:cNvSpPr txBox="1"/>
          <p:nvPr/>
        </p:nvSpPr>
        <p:spPr>
          <a:xfrm>
            <a:off x="7047360" y="5776920"/>
            <a:ext cx="20646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低濃度</a:t>
            </a:r>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ガスの高感度検出</a:t>
            </a:r>
            <a:endParaRPr lang="en-US" sz="1180" b="0" u="none" strike="noStrike">
              <a:solidFill>
                <a:srgbClr val="000000"/>
              </a:solidFill>
              <a:effectLst/>
              <a:uFillTx/>
              <a:latin typeface="Times New Roman"/>
            </a:endParaRPr>
          </a:p>
        </p:txBody>
      </p:sp>
      <p:sp>
        <p:nvSpPr>
          <p:cNvPr id="136" name="フリーフォーム: 図形 135"/>
          <p:cNvSpPr/>
          <p:nvPr/>
        </p:nvSpPr>
        <p:spPr>
          <a:xfrm>
            <a:off x="6509520" y="6718680"/>
            <a:ext cx="401760" cy="401400"/>
          </a:xfrm>
          <a:custGeom>
            <a:avLst/>
            <a:gdLst/>
            <a:ahLst/>
            <a:cxnLst/>
            <a:rect l="0" t="0" r="r" b="b"/>
            <a:pathLst>
              <a:path w="1116" h="1115">
                <a:moveTo>
                  <a:pt x="1116" y="557"/>
                </a:moveTo>
                <a:cubicBezTo>
                  <a:pt x="1116" y="593"/>
                  <a:pt x="1112" y="630"/>
                  <a:pt x="1105" y="666"/>
                </a:cubicBezTo>
                <a:cubicBezTo>
                  <a:pt x="1098" y="701"/>
                  <a:pt x="1087" y="736"/>
                  <a:pt x="1073" y="770"/>
                </a:cubicBezTo>
                <a:cubicBezTo>
                  <a:pt x="1059" y="804"/>
                  <a:pt x="1042" y="837"/>
                  <a:pt x="1022" y="867"/>
                </a:cubicBezTo>
                <a:cubicBezTo>
                  <a:pt x="1001" y="898"/>
                  <a:pt x="978" y="926"/>
                  <a:pt x="953" y="952"/>
                </a:cubicBezTo>
                <a:cubicBezTo>
                  <a:pt x="927" y="978"/>
                  <a:pt x="899" y="1001"/>
                  <a:pt x="868" y="1021"/>
                </a:cubicBezTo>
                <a:cubicBezTo>
                  <a:pt x="838" y="1041"/>
                  <a:pt x="806" y="1059"/>
                  <a:pt x="772" y="1073"/>
                </a:cubicBezTo>
                <a:cubicBezTo>
                  <a:pt x="738" y="1087"/>
                  <a:pt x="703" y="1097"/>
                  <a:pt x="667" y="1104"/>
                </a:cubicBezTo>
                <a:cubicBezTo>
                  <a:pt x="631" y="1111"/>
                  <a:pt x="595" y="1115"/>
                  <a:pt x="559" y="1115"/>
                </a:cubicBezTo>
                <a:cubicBezTo>
                  <a:pt x="522" y="1115"/>
                  <a:pt x="486" y="1111"/>
                  <a:pt x="450" y="1104"/>
                </a:cubicBezTo>
                <a:cubicBezTo>
                  <a:pt x="414" y="1097"/>
                  <a:pt x="379" y="1087"/>
                  <a:pt x="345" y="1073"/>
                </a:cubicBezTo>
                <a:cubicBezTo>
                  <a:pt x="312" y="1059"/>
                  <a:pt x="278" y="1041"/>
                  <a:pt x="248" y="1021"/>
                </a:cubicBezTo>
                <a:cubicBezTo>
                  <a:pt x="218" y="1001"/>
                  <a:pt x="190" y="978"/>
                  <a:pt x="164" y="952"/>
                </a:cubicBezTo>
                <a:cubicBezTo>
                  <a:pt x="138" y="926"/>
                  <a:pt x="115" y="898"/>
                  <a:pt x="94" y="867"/>
                </a:cubicBezTo>
                <a:cubicBezTo>
                  <a:pt x="74" y="837"/>
                  <a:pt x="57" y="804"/>
                  <a:pt x="43" y="770"/>
                </a:cubicBezTo>
                <a:cubicBezTo>
                  <a:pt x="29" y="736"/>
                  <a:pt x="18" y="701"/>
                  <a:pt x="11" y="666"/>
                </a:cubicBezTo>
                <a:cubicBezTo>
                  <a:pt x="4" y="630"/>
                  <a:pt x="0" y="593"/>
                  <a:pt x="0" y="557"/>
                </a:cubicBezTo>
                <a:cubicBezTo>
                  <a:pt x="0" y="520"/>
                  <a:pt x="4" y="484"/>
                  <a:pt x="11" y="448"/>
                </a:cubicBezTo>
                <a:cubicBezTo>
                  <a:pt x="18" y="412"/>
                  <a:pt x="29" y="378"/>
                  <a:pt x="43" y="344"/>
                </a:cubicBezTo>
                <a:cubicBezTo>
                  <a:pt x="57" y="310"/>
                  <a:pt x="74" y="278"/>
                  <a:pt x="94" y="247"/>
                </a:cubicBezTo>
                <a:cubicBezTo>
                  <a:pt x="115" y="217"/>
                  <a:pt x="138" y="189"/>
                  <a:pt x="164" y="163"/>
                </a:cubicBezTo>
                <a:cubicBezTo>
                  <a:pt x="190" y="137"/>
                  <a:pt x="218" y="114"/>
                  <a:pt x="248" y="94"/>
                </a:cubicBezTo>
                <a:cubicBezTo>
                  <a:pt x="278" y="73"/>
                  <a:pt x="312" y="56"/>
                  <a:pt x="345" y="42"/>
                </a:cubicBezTo>
                <a:cubicBezTo>
                  <a:pt x="379" y="28"/>
                  <a:pt x="414" y="18"/>
                  <a:pt x="450" y="11"/>
                </a:cubicBezTo>
                <a:cubicBezTo>
                  <a:pt x="486" y="3"/>
                  <a:pt x="522" y="0"/>
                  <a:pt x="559" y="0"/>
                </a:cubicBezTo>
                <a:cubicBezTo>
                  <a:pt x="595" y="0"/>
                  <a:pt x="631" y="3"/>
                  <a:pt x="667" y="11"/>
                </a:cubicBezTo>
                <a:cubicBezTo>
                  <a:pt x="703" y="18"/>
                  <a:pt x="738" y="28"/>
                  <a:pt x="772" y="42"/>
                </a:cubicBezTo>
                <a:cubicBezTo>
                  <a:pt x="806" y="56"/>
                  <a:pt x="838" y="73"/>
                  <a:pt x="868" y="94"/>
                </a:cubicBezTo>
                <a:cubicBezTo>
                  <a:pt x="899" y="114"/>
                  <a:pt x="927" y="137"/>
                  <a:pt x="953" y="163"/>
                </a:cubicBezTo>
                <a:cubicBezTo>
                  <a:pt x="978" y="189"/>
                  <a:pt x="1001" y="217"/>
                  <a:pt x="1022" y="247"/>
                </a:cubicBezTo>
                <a:cubicBezTo>
                  <a:pt x="1042" y="278"/>
                  <a:pt x="1059" y="310"/>
                  <a:pt x="1073" y="344"/>
                </a:cubicBezTo>
                <a:cubicBezTo>
                  <a:pt x="1087" y="378"/>
                  <a:pt x="1098" y="412"/>
                  <a:pt x="1105" y="448"/>
                </a:cubicBezTo>
                <a:cubicBezTo>
                  <a:pt x="1112" y="484"/>
                  <a:pt x="1116" y="520"/>
                  <a:pt x="1116" y="557"/>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37" name="図 136"/>
          <p:cNvPicPr/>
          <p:nvPr/>
        </p:nvPicPr>
        <p:blipFill>
          <a:blip r:embed="rId9"/>
          <a:stretch/>
        </p:blipFill>
        <p:spPr>
          <a:xfrm>
            <a:off x="6618600" y="6835680"/>
            <a:ext cx="191880" cy="166680"/>
          </a:xfrm>
          <a:prstGeom prst="rect">
            <a:avLst/>
          </a:prstGeom>
          <a:noFill/>
          <a:ln w="0">
            <a:noFill/>
          </a:ln>
        </p:spPr>
      </p:pic>
      <p:sp>
        <p:nvSpPr>
          <p:cNvPr id="138" name="テキスト ボックス 137"/>
          <p:cNvSpPr txBox="1"/>
          <p:nvPr/>
        </p:nvSpPr>
        <p:spPr>
          <a:xfrm>
            <a:off x="7047360" y="6311880"/>
            <a:ext cx="18111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視力低下リスクの早期警告</a:t>
            </a:r>
            <a:endParaRPr lang="en-US" sz="1180" b="0" u="none" strike="noStrike">
              <a:solidFill>
                <a:srgbClr val="000000"/>
              </a:solidFill>
              <a:effectLst/>
              <a:uFillTx/>
              <a:latin typeface="Times New Roman"/>
            </a:endParaRPr>
          </a:p>
        </p:txBody>
      </p:sp>
      <p:sp>
        <p:nvSpPr>
          <p:cNvPr id="139" name="テキスト ボックス 138"/>
          <p:cNvSpPr txBox="1"/>
          <p:nvPr/>
        </p:nvSpPr>
        <p:spPr>
          <a:xfrm>
            <a:off x="7047360" y="6846480"/>
            <a:ext cx="22640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魚腸骨処理場‧畜産施設での応用</a:t>
            </a:r>
            <a:endParaRPr lang="en-US" sz="1180" b="0" u="none" strike="noStrike">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 name="図 139"/>
          <p:cNvPicPr/>
          <p:nvPr/>
        </p:nvPicPr>
        <p:blipFill>
          <a:blip r:embed="rId2"/>
          <a:stretch/>
        </p:blipFill>
        <p:spPr>
          <a:xfrm>
            <a:off x="0" y="0"/>
            <a:ext cx="10696320" cy="6384240"/>
          </a:xfrm>
          <a:prstGeom prst="rect">
            <a:avLst/>
          </a:prstGeom>
          <a:noFill/>
          <a:ln w="0">
            <a:noFill/>
          </a:ln>
        </p:spPr>
      </p:pic>
      <p:sp>
        <p:nvSpPr>
          <p:cNvPr id="141" name="フリーフォーム: 図形 140"/>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42" name="フリーフォーム: 図形 141"/>
          <p:cNvSpPr/>
          <p:nvPr/>
        </p:nvSpPr>
        <p:spPr>
          <a:xfrm>
            <a:off x="5481720" y="869040"/>
            <a:ext cx="4947480" cy="1704960"/>
          </a:xfrm>
          <a:custGeom>
            <a:avLst/>
            <a:gdLst/>
            <a:ahLst/>
            <a:cxnLst/>
            <a:rect l="0" t="0" r="r" b="b"/>
            <a:pathLst>
              <a:path w="13743" h="4736">
                <a:moveTo>
                  <a:pt x="0" y="4549"/>
                </a:moveTo>
                <a:lnTo>
                  <a:pt x="0" y="185"/>
                </a:lnTo>
                <a:cubicBezTo>
                  <a:pt x="0" y="173"/>
                  <a:pt x="1"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3558" y="0"/>
                </a:lnTo>
                <a:cubicBezTo>
                  <a:pt x="13570" y="0"/>
                  <a:pt x="13582" y="1"/>
                  <a:pt x="13594" y="3"/>
                </a:cubicBezTo>
                <a:cubicBezTo>
                  <a:pt x="13606" y="6"/>
                  <a:pt x="13617" y="9"/>
                  <a:pt x="13629" y="14"/>
                </a:cubicBezTo>
                <a:cubicBezTo>
                  <a:pt x="13640" y="18"/>
                  <a:pt x="13651" y="24"/>
                  <a:pt x="13661" y="31"/>
                </a:cubicBezTo>
                <a:cubicBezTo>
                  <a:pt x="13671" y="38"/>
                  <a:pt x="13680" y="45"/>
                  <a:pt x="13689" y="54"/>
                </a:cubicBezTo>
                <a:cubicBezTo>
                  <a:pt x="13698" y="63"/>
                  <a:pt x="13705" y="72"/>
                  <a:pt x="13712" y="82"/>
                </a:cubicBezTo>
                <a:cubicBezTo>
                  <a:pt x="13719" y="92"/>
                  <a:pt x="13725" y="103"/>
                  <a:pt x="13729" y="114"/>
                </a:cubicBezTo>
                <a:cubicBezTo>
                  <a:pt x="13734" y="126"/>
                  <a:pt x="13737" y="137"/>
                  <a:pt x="13740" y="149"/>
                </a:cubicBezTo>
                <a:cubicBezTo>
                  <a:pt x="13742" y="161"/>
                  <a:pt x="13743" y="173"/>
                  <a:pt x="13743" y="185"/>
                </a:cubicBezTo>
                <a:lnTo>
                  <a:pt x="13743" y="4549"/>
                </a:lnTo>
                <a:cubicBezTo>
                  <a:pt x="13743" y="4562"/>
                  <a:pt x="13742" y="4574"/>
                  <a:pt x="13740" y="4586"/>
                </a:cubicBezTo>
                <a:cubicBezTo>
                  <a:pt x="13737" y="4598"/>
                  <a:pt x="13734" y="4609"/>
                  <a:pt x="13729" y="4620"/>
                </a:cubicBezTo>
                <a:cubicBezTo>
                  <a:pt x="13725" y="4632"/>
                  <a:pt x="13719" y="4642"/>
                  <a:pt x="13712" y="4653"/>
                </a:cubicBezTo>
                <a:cubicBezTo>
                  <a:pt x="13705" y="4663"/>
                  <a:pt x="13698" y="4672"/>
                  <a:pt x="13689" y="4681"/>
                </a:cubicBezTo>
                <a:cubicBezTo>
                  <a:pt x="13680" y="4690"/>
                  <a:pt x="13671" y="4698"/>
                  <a:pt x="13661" y="4705"/>
                </a:cubicBezTo>
                <a:cubicBezTo>
                  <a:pt x="13651" y="4712"/>
                  <a:pt x="13640" y="4717"/>
                  <a:pt x="13629" y="4722"/>
                </a:cubicBezTo>
                <a:cubicBezTo>
                  <a:pt x="13617" y="4727"/>
                  <a:pt x="13606" y="4730"/>
                  <a:pt x="13594" y="4733"/>
                </a:cubicBezTo>
                <a:cubicBezTo>
                  <a:pt x="13582" y="4735"/>
                  <a:pt x="13570" y="4736"/>
                  <a:pt x="13558" y="4736"/>
                </a:cubicBezTo>
                <a:lnTo>
                  <a:pt x="186" y="4736"/>
                </a:lnTo>
                <a:cubicBezTo>
                  <a:pt x="174" y="4736"/>
                  <a:pt x="162" y="4735"/>
                  <a:pt x="150" y="4733"/>
                </a:cubicBezTo>
                <a:cubicBezTo>
                  <a:pt x="138" y="4730"/>
                  <a:pt x="126" y="4727"/>
                  <a:pt x="115" y="4722"/>
                </a:cubicBezTo>
                <a:cubicBezTo>
                  <a:pt x="104" y="4717"/>
                  <a:pt x="93" y="4712"/>
                  <a:pt x="83" y="4705"/>
                </a:cubicBezTo>
                <a:cubicBezTo>
                  <a:pt x="73" y="4698"/>
                  <a:pt x="63" y="4690"/>
                  <a:pt x="55" y="4681"/>
                </a:cubicBezTo>
                <a:cubicBezTo>
                  <a:pt x="46" y="4672"/>
                  <a:pt x="38" y="4663"/>
                  <a:pt x="32" y="4653"/>
                </a:cubicBezTo>
                <a:cubicBezTo>
                  <a:pt x="25" y="4642"/>
                  <a:pt x="19" y="4632"/>
                  <a:pt x="14" y="4620"/>
                </a:cubicBezTo>
                <a:cubicBezTo>
                  <a:pt x="10" y="4609"/>
                  <a:pt x="6" y="4598"/>
                  <a:pt x="4" y="4586"/>
                </a:cubicBezTo>
                <a:cubicBezTo>
                  <a:pt x="1" y="4574"/>
                  <a:pt x="0" y="4562"/>
                  <a:pt x="0" y="4549"/>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43" name="図 142"/>
          <p:cNvPicPr/>
          <p:nvPr/>
        </p:nvPicPr>
        <p:blipFill>
          <a:blip r:embed="rId3"/>
          <a:stretch/>
        </p:blipFill>
        <p:spPr>
          <a:xfrm>
            <a:off x="5682600" y="1111320"/>
            <a:ext cx="200160" cy="200160"/>
          </a:xfrm>
          <a:prstGeom prst="rect">
            <a:avLst/>
          </a:prstGeom>
          <a:noFill/>
          <a:ln w="0">
            <a:noFill/>
          </a:ln>
        </p:spPr>
      </p:pic>
      <p:sp>
        <p:nvSpPr>
          <p:cNvPr id="144" name="テキスト ボックス 143"/>
          <p:cNvSpPr txBox="1"/>
          <p:nvPr/>
        </p:nvSpPr>
        <p:spPr>
          <a:xfrm>
            <a:off x="334440" y="155520"/>
            <a:ext cx="150192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センサ構造</a:t>
            </a:r>
            <a:endParaRPr lang="en-US" sz="2370" b="0" u="none" strike="noStrike">
              <a:solidFill>
                <a:srgbClr val="000000"/>
              </a:solidFill>
              <a:effectLst/>
              <a:uFillTx/>
              <a:latin typeface="Times New Roman"/>
            </a:endParaRPr>
          </a:p>
        </p:txBody>
      </p:sp>
      <p:pic>
        <p:nvPicPr>
          <p:cNvPr id="145" name="図 144"/>
          <p:cNvPicPr/>
          <p:nvPr/>
        </p:nvPicPr>
        <p:blipFill>
          <a:blip r:embed="rId4"/>
          <a:stretch/>
        </p:blipFill>
        <p:spPr>
          <a:xfrm>
            <a:off x="5883120" y="1504080"/>
            <a:ext cx="150120" cy="150120"/>
          </a:xfrm>
          <a:prstGeom prst="rect">
            <a:avLst/>
          </a:prstGeom>
          <a:noFill/>
          <a:ln w="0">
            <a:noFill/>
          </a:ln>
        </p:spPr>
      </p:pic>
      <p:sp>
        <p:nvSpPr>
          <p:cNvPr id="146" name="テキスト ボックス 145"/>
          <p:cNvSpPr txBox="1"/>
          <p:nvPr/>
        </p:nvSpPr>
        <p:spPr>
          <a:xfrm>
            <a:off x="5950080" y="1100880"/>
            <a:ext cx="1252800" cy="291600"/>
          </a:xfrm>
          <a:prstGeom prst="rect">
            <a:avLst/>
          </a:prstGeom>
          <a:noFill/>
          <a:ln w="0">
            <a:noFill/>
          </a:ln>
        </p:spPr>
        <p:txBody>
          <a:bodyPr wrap="none" lIns="0" tIns="0" rIns="0" bIns="0" anchor="t">
            <a:spAutoFit/>
          </a:bodyPr>
          <a:lstStyle/>
          <a:p>
            <a:r>
              <a:rPr lang="en-US" sz="1580" b="0" u="none" strike="noStrike">
                <a:solidFill>
                  <a:srgbClr val="003366"/>
                </a:solidFill>
                <a:effectLst/>
                <a:uFillTx/>
                <a:latin typeface="NotoSansJP"/>
                <a:ea typeface="NotoSansJP"/>
              </a:rPr>
              <a:t> センサの特性</a:t>
            </a:r>
            <a:endParaRPr lang="en-US" sz="1580" b="0" u="none" strike="noStrike">
              <a:solidFill>
                <a:srgbClr val="000000"/>
              </a:solidFill>
              <a:effectLst/>
              <a:uFillTx/>
              <a:latin typeface="Times New Roman"/>
            </a:endParaRPr>
          </a:p>
        </p:txBody>
      </p:sp>
      <p:pic>
        <p:nvPicPr>
          <p:cNvPr id="147" name="図 146"/>
          <p:cNvPicPr/>
          <p:nvPr/>
        </p:nvPicPr>
        <p:blipFill>
          <a:blip r:embed="rId4"/>
          <a:stretch/>
        </p:blipFill>
        <p:spPr>
          <a:xfrm>
            <a:off x="5883120" y="1838520"/>
            <a:ext cx="150120" cy="150120"/>
          </a:xfrm>
          <a:prstGeom prst="rect">
            <a:avLst/>
          </a:prstGeom>
          <a:noFill/>
          <a:ln w="0">
            <a:noFill/>
          </a:ln>
        </p:spPr>
      </p:pic>
      <p:sp>
        <p:nvSpPr>
          <p:cNvPr id="148" name="テキスト ボックス 147"/>
          <p:cNvSpPr txBox="1"/>
          <p:nvPr/>
        </p:nvSpPr>
        <p:spPr>
          <a:xfrm>
            <a:off x="6100560" y="1514880"/>
            <a:ext cx="31370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銅フタロシアニン</a:t>
            </a:r>
            <a:r>
              <a:rPr lang="en-US" sz="1180" b="0" u="none" strike="noStrike">
                <a:solidFill>
                  <a:srgbClr val="000000"/>
                </a:solidFill>
                <a:effectLst/>
                <a:uFillTx/>
                <a:latin typeface="NotoSansJP"/>
                <a:ea typeface="NotoSansJP"/>
              </a:rPr>
              <a:t>(CuPc)</a:t>
            </a:r>
            <a:r>
              <a:rPr lang="zh-CN" sz="1180" b="0" u="none" strike="noStrike">
                <a:solidFill>
                  <a:srgbClr val="000000"/>
                </a:solidFill>
                <a:effectLst/>
                <a:uFillTx/>
                <a:latin typeface="NotoSansJP"/>
                <a:ea typeface="NotoSansJP"/>
              </a:rPr>
              <a:t>をくし形電極に蒸着</a:t>
            </a:r>
            <a:endParaRPr lang="en-US" sz="1180" b="0" u="none" strike="noStrike">
              <a:solidFill>
                <a:srgbClr val="000000"/>
              </a:solidFill>
              <a:effectLst/>
              <a:uFillTx/>
              <a:latin typeface="Times New Roman"/>
            </a:endParaRPr>
          </a:p>
        </p:txBody>
      </p:sp>
      <p:pic>
        <p:nvPicPr>
          <p:cNvPr id="149" name="図 148"/>
          <p:cNvPicPr/>
          <p:nvPr/>
        </p:nvPicPr>
        <p:blipFill>
          <a:blip r:embed="rId4"/>
          <a:stretch/>
        </p:blipFill>
        <p:spPr>
          <a:xfrm>
            <a:off x="5883120" y="2172600"/>
            <a:ext cx="150120" cy="150120"/>
          </a:xfrm>
          <a:prstGeom prst="rect">
            <a:avLst/>
          </a:prstGeom>
          <a:noFill/>
          <a:ln w="0">
            <a:noFill/>
          </a:ln>
        </p:spPr>
      </p:pic>
      <p:sp>
        <p:nvSpPr>
          <p:cNvPr id="150" name="テキスト ボックス 149"/>
          <p:cNvSpPr txBox="1"/>
          <p:nvPr/>
        </p:nvSpPr>
        <p:spPr>
          <a:xfrm>
            <a:off x="6100560" y="1849320"/>
            <a:ext cx="24148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低濃度還元性匂いセンサとして機能</a:t>
            </a:r>
            <a:endParaRPr lang="en-US" sz="1180" b="0" u="none" strike="noStrike">
              <a:solidFill>
                <a:srgbClr val="000000"/>
              </a:solidFill>
              <a:effectLst/>
              <a:uFillTx/>
              <a:latin typeface="Times New Roman"/>
            </a:endParaRPr>
          </a:p>
        </p:txBody>
      </p:sp>
      <p:sp>
        <p:nvSpPr>
          <p:cNvPr id="151" name="フリーフォーム: 図形 150"/>
          <p:cNvSpPr/>
          <p:nvPr/>
        </p:nvSpPr>
        <p:spPr>
          <a:xfrm>
            <a:off x="5481720" y="2774160"/>
            <a:ext cx="4947480" cy="3610440"/>
          </a:xfrm>
          <a:custGeom>
            <a:avLst/>
            <a:gdLst/>
            <a:ahLst/>
            <a:cxnLst/>
            <a:rect l="0" t="0" r="r" b="b"/>
            <a:pathLst>
              <a:path w="13743" h="10029">
                <a:moveTo>
                  <a:pt x="0" y="9844"/>
                </a:moveTo>
                <a:lnTo>
                  <a:pt x="0" y="186"/>
                </a:lnTo>
                <a:cubicBezTo>
                  <a:pt x="0" y="174"/>
                  <a:pt x="1" y="162"/>
                  <a:pt x="4" y="150"/>
                </a:cubicBezTo>
                <a:cubicBezTo>
                  <a:pt x="6" y="138"/>
                  <a:pt x="10" y="126"/>
                  <a:pt x="14" y="115"/>
                </a:cubicBezTo>
                <a:cubicBezTo>
                  <a:pt x="19" y="104"/>
                  <a:pt x="25" y="93"/>
                  <a:pt x="32"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1"/>
                  <a:pt x="174" y="0"/>
                  <a:pt x="186" y="0"/>
                </a:cubicBezTo>
                <a:lnTo>
                  <a:pt x="13558" y="0"/>
                </a:lnTo>
                <a:cubicBezTo>
                  <a:pt x="13570" y="0"/>
                  <a:pt x="13582" y="1"/>
                  <a:pt x="13594" y="4"/>
                </a:cubicBezTo>
                <a:cubicBezTo>
                  <a:pt x="13606" y="6"/>
                  <a:pt x="13617" y="10"/>
                  <a:pt x="13629" y="14"/>
                </a:cubicBezTo>
                <a:cubicBezTo>
                  <a:pt x="13640" y="19"/>
                  <a:pt x="13651" y="25"/>
                  <a:pt x="13661" y="32"/>
                </a:cubicBezTo>
                <a:cubicBezTo>
                  <a:pt x="13671" y="38"/>
                  <a:pt x="13680" y="46"/>
                  <a:pt x="13689" y="55"/>
                </a:cubicBezTo>
                <a:cubicBezTo>
                  <a:pt x="13698" y="63"/>
                  <a:pt x="13705" y="73"/>
                  <a:pt x="13712" y="83"/>
                </a:cubicBezTo>
                <a:cubicBezTo>
                  <a:pt x="13719" y="93"/>
                  <a:pt x="13725" y="104"/>
                  <a:pt x="13729" y="115"/>
                </a:cubicBezTo>
                <a:cubicBezTo>
                  <a:pt x="13734" y="126"/>
                  <a:pt x="13737" y="138"/>
                  <a:pt x="13740" y="150"/>
                </a:cubicBezTo>
                <a:cubicBezTo>
                  <a:pt x="13742" y="162"/>
                  <a:pt x="13743" y="174"/>
                  <a:pt x="13743" y="186"/>
                </a:cubicBezTo>
                <a:lnTo>
                  <a:pt x="13743" y="9844"/>
                </a:lnTo>
                <a:cubicBezTo>
                  <a:pt x="13743" y="9856"/>
                  <a:pt x="13742" y="9868"/>
                  <a:pt x="13740" y="9880"/>
                </a:cubicBezTo>
                <a:cubicBezTo>
                  <a:pt x="13737" y="9892"/>
                  <a:pt x="13734" y="9903"/>
                  <a:pt x="13729" y="9915"/>
                </a:cubicBezTo>
                <a:cubicBezTo>
                  <a:pt x="13725" y="9926"/>
                  <a:pt x="13719" y="9937"/>
                  <a:pt x="13712" y="9947"/>
                </a:cubicBezTo>
                <a:cubicBezTo>
                  <a:pt x="13705" y="9957"/>
                  <a:pt x="13698" y="9966"/>
                  <a:pt x="13689" y="9975"/>
                </a:cubicBezTo>
                <a:cubicBezTo>
                  <a:pt x="13680" y="9984"/>
                  <a:pt x="13671" y="9991"/>
                  <a:pt x="13661" y="9998"/>
                </a:cubicBezTo>
                <a:cubicBezTo>
                  <a:pt x="13651" y="10005"/>
                  <a:pt x="13640" y="10010"/>
                  <a:pt x="13629" y="10015"/>
                </a:cubicBezTo>
                <a:cubicBezTo>
                  <a:pt x="13617" y="10020"/>
                  <a:pt x="13606" y="10023"/>
                  <a:pt x="13594" y="10026"/>
                </a:cubicBezTo>
                <a:cubicBezTo>
                  <a:pt x="13582" y="10028"/>
                  <a:pt x="13570" y="10029"/>
                  <a:pt x="13558" y="10029"/>
                </a:cubicBezTo>
                <a:lnTo>
                  <a:pt x="186" y="10029"/>
                </a:lnTo>
                <a:cubicBezTo>
                  <a:pt x="174" y="10029"/>
                  <a:pt x="162" y="10028"/>
                  <a:pt x="150" y="10026"/>
                </a:cubicBezTo>
                <a:cubicBezTo>
                  <a:pt x="138" y="10023"/>
                  <a:pt x="126" y="10020"/>
                  <a:pt x="115" y="10015"/>
                </a:cubicBezTo>
                <a:cubicBezTo>
                  <a:pt x="104" y="10010"/>
                  <a:pt x="93" y="10005"/>
                  <a:pt x="83" y="9998"/>
                </a:cubicBezTo>
                <a:cubicBezTo>
                  <a:pt x="73" y="9991"/>
                  <a:pt x="63" y="9984"/>
                  <a:pt x="55" y="9975"/>
                </a:cubicBezTo>
                <a:cubicBezTo>
                  <a:pt x="46" y="9966"/>
                  <a:pt x="38" y="9957"/>
                  <a:pt x="32" y="9947"/>
                </a:cubicBezTo>
                <a:cubicBezTo>
                  <a:pt x="25" y="9937"/>
                  <a:pt x="19" y="9926"/>
                  <a:pt x="14" y="9915"/>
                </a:cubicBezTo>
                <a:cubicBezTo>
                  <a:pt x="10" y="9903"/>
                  <a:pt x="6" y="9892"/>
                  <a:pt x="4" y="9880"/>
                </a:cubicBezTo>
                <a:cubicBezTo>
                  <a:pt x="1" y="9868"/>
                  <a:pt x="0" y="9856"/>
                  <a:pt x="0" y="9844"/>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52" name="テキスト ボックス 151"/>
          <p:cNvSpPr txBox="1"/>
          <p:nvPr/>
        </p:nvSpPr>
        <p:spPr>
          <a:xfrm>
            <a:off x="6100560" y="2183400"/>
            <a:ext cx="27860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トリメチルアミン</a:t>
            </a:r>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ガス検知に適用</a:t>
            </a:r>
            <a:endParaRPr lang="en-US" sz="1180" b="0" u="none" strike="noStrike">
              <a:solidFill>
                <a:srgbClr val="000000"/>
              </a:solidFill>
              <a:effectLst/>
              <a:uFillTx/>
              <a:latin typeface="Times New Roman"/>
            </a:endParaRPr>
          </a:p>
        </p:txBody>
      </p:sp>
      <p:pic>
        <p:nvPicPr>
          <p:cNvPr id="153" name="図 152"/>
          <p:cNvPicPr/>
          <p:nvPr/>
        </p:nvPicPr>
        <p:blipFill>
          <a:blip r:embed="rId5"/>
          <a:stretch/>
        </p:blipFill>
        <p:spPr>
          <a:xfrm>
            <a:off x="6442920" y="3376080"/>
            <a:ext cx="3024720" cy="2272680"/>
          </a:xfrm>
          <a:prstGeom prst="rect">
            <a:avLst/>
          </a:prstGeom>
          <a:noFill/>
          <a:ln w="0">
            <a:noFill/>
          </a:ln>
        </p:spPr>
      </p:pic>
      <p:sp>
        <p:nvSpPr>
          <p:cNvPr id="154" name="テキスト ボックス 153"/>
          <p:cNvSpPr txBox="1"/>
          <p:nvPr/>
        </p:nvSpPr>
        <p:spPr>
          <a:xfrm>
            <a:off x="5682600" y="3006000"/>
            <a:ext cx="221364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ガスセンサモジュール例</a:t>
            </a:r>
            <a:endParaRPr lang="en-US" sz="1580" b="0" u="none" strike="noStrike">
              <a:solidFill>
                <a:srgbClr val="000000"/>
              </a:solidFill>
              <a:effectLst/>
              <a:uFillTx/>
              <a:latin typeface="Times New Roman"/>
            </a:endParaRPr>
          </a:p>
        </p:txBody>
      </p:sp>
      <p:sp>
        <p:nvSpPr>
          <p:cNvPr id="155" name="テキスト ボックス 154"/>
          <p:cNvSpPr txBox="1"/>
          <p:nvPr/>
        </p:nvSpPr>
        <p:spPr>
          <a:xfrm>
            <a:off x="7023960" y="5817600"/>
            <a:ext cx="1878120" cy="194040"/>
          </a:xfrm>
          <a:prstGeom prst="rect">
            <a:avLst/>
          </a:prstGeom>
          <a:noFill/>
          <a:ln w="0">
            <a:noFill/>
          </a:ln>
        </p:spPr>
        <p:txBody>
          <a:bodyPr wrap="none" lIns="0" tIns="0" rIns="0" bIns="0" anchor="t">
            <a:spAutoFit/>
          </a:bodyPr>
          <a:lstStyle/>
          <a:p>
            <a:r>
              <a:rPr lang="zh-CN" sz="1050" b="0" u="none" strike="noStrike">
                <a:solidFill>
                  <a:srgbClr val="4B5563"/>
                </a:solidFill>
                <a:effectLst/>
                <a:uFillTx/>
                <a:latin typeface="NotoSansJP"/>
                <a:ea typeface="NotoSansJP"/>
              </a:rPr>
              <a:t>一般的なガスセンサモジュール</a:t>
            </a:r>
            <a:endParaRPr lang="en-US" sz="1050" b="0" u="none" strike="noStrike">
              <a:solidFill>
                <a:srgbClr val="000000"/>
              </a:solidFill>
              <a:effectLst/>
              <a:uFillTx/>
              <a:latin typeface="Times New Roman"/>
            </a:endParaRPr>
          </a:p>
        </p:txBody>
      </p:sp>
      <p:sp>
        <p:nvSpPr>
          <p:cNvPr id="156" name="フリーフォーム: 図形 155"/>
          <p:cNvSpPr/>
          <p:nvPr/>
        </p:nvSpPr>
        <p:spPr>
          <a:xfrm>
            <a:off x="267120" y="869040"/>
            <a:ext cx="4947480" cy="5515560"/>
          </a:xfrm>
          <a:custGeom>
            <a:avLst/>
            <a:gdLst/>
            <a:ahLst/>
            <a:cxnLst/>
            <a:rect l="0" t="0" r="r" b="b"/>
            <a:pathLst>
              <a:path w="13743" h="15321">
                <a:moveTo>
                  <a:pt x="0" y="15136"/>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3558" y="0"/>
                </a:lnTo>
                <a:cubicBezTo>
                  <a:pt x="13570" y="0"/>
                  <a:pt x="13582" y="1"/>
                  <a:pt x="13594" y="3"/>
                </a:cubicBezTo>
                <a:cubicBezTo>
                  <a:pt x="13606" y="6"/>
                  <a:pt x="13618" y="9"/>
                  <a:pt x="13629" y="14"/>
                </a:cubicBezTo>
                <a:cubicBezTo>
                  <a:pt x="13640" y="18"/>
                  <a:pt x="13651" y="24"/>
                  <a:pt x="13661" y="31"/>
                </a:cubicBezTo>
                <a:cubicBezTo>
                  <a:pt x="13671" y="38"/>
                  <a:pt x="13680" y="45"/>
                  <a:pt x="13689" y="54"/>
                </a:cubicBezTo>
                <a:cubicBezTo>
                  <a:pt x="13698" y="63"/>
                  <a:pt x="13705" y="72"/>
                  <a:pt x="13712" y="82"/>
                </a:cubicBezTo>
                <a:cubicBezTo>
                  <a:pt x="13719" y="92"/>
                  <a:pt x="13725" y="103"/>
                  <a:pt x="13729" y="114"/>
                </a:cubicBezTo>
                <a:cubicBezTo>
                  <a:pt x="13734" y="126"/>
                  <a:pt x="13737" y="137"/>
                  <a:pt x="13740" y="149"/>
                </a:cubicBezTo>
                <a:cubicBezTo>
                  <a:pt x="13742" y="161"/>
                  <a:pt x="13743" y="173"/>
                  <a:pt x="13743" y="185"/>
                </a:cubicBezTo>
                <a:lnTo>
                  <a:pt x="13743" y="15136"/>
                </a:lnTo>
                <a:cubicBezTo>
                  <a:pt x="13743" y="15148"/>
                  <a:pt x="13742" y="15160"/>
                  <a:pt x="13740" y="15172"/>
                </a:cubicBezTo>
                <a:cubicBezTo>
                  <a:pt x="13737" y="15184"/>
                  <a:pt x="13734" y="15195"/>
                  <a:pt x="13729" y="15207"/>
                </a:cubicBezTo>
                <a:cubicBezTo>
                  <a:pt x="13725" y="15218"/>
                  <a:pt x="13719" y="15229"/>
                  <a:pt x="13712" y="15239"/>
                </a:cubicBezTo>
                <a:cubicBezTo>
                  <a:pt x="13705" y="15249"/>
                  <a:pt x="13698" y="15258"/>
                  <a:pt x="13689" y="15267"/>
                </a:cubicBezTo>
                <a:cubicBezTo>
                  <a:pt x="13680" y="15276"/>
                  <a:pt x="13671" y="15283"/>
                  <a:pt x="13661" y="15290"/>
                </a:cubicBezTo>
                <a:cubicBezTo>
                  <a:pt x="13651" y="15297"/>
                  <a:pt x="13640" y="15302"/>
                  <a:pt x="13629" y="15307"/>
                </a:cubicBezTo>
                <a:cubicBezTo>
                  <a:pt x="13618" y="15312"/>
                  <a:pt x="13606" y="15315"/>
                  <a:pt x="13594" y="15318"/>
                </a:cubicBezTo>
                <a:cubicBezTo>
                  <a:pt x="13582" y="15320"/>
                  <a:pt x="13570" y="15321"/>
                  <a:pt x="13558" y="15321"/>
                </a:cubicBezTo>
                <a:lnTo>
                  <a:pt x="186" y="15321"/>
                </a:lnTo>
                <a:cubicBezTo>
                  <a:pt x="174" y="15321"/>
                  <a:pt x="162" y="15320"/>
                  <a:pt x="150" y="15318"/>
                </a:cubicBezTo>
                <a:cubicBezTo>
                  <a:pt x="138" y="15315"/>
                  <a:pt x="126" y="15312"/>
                  <a:pt x="115" y="15307"/>
                </a:cubicBezTo>
                <a:cubicBezTo>
                  <a:pt x="104" y="15302"/>
                  <a:pt x="93" y="15297"/>
                  <a:pt x="83" y="15290"/>
                </a:cubicBezTo>
                <a:cubicBezTo>
                  <a:pt x="73" y="15283"/>
                  <a:pt x="63" y="15276"/>
                  <a:pt x="55" y="15267"/>
                </a:cubicBezTo>
                <a:cubicBezTo>
                  <a:pt x="46" y="15258"/>
                  <a:pt x="38" y="15249"/>
                  <a:pt x="32" y="15239"/>
                </a:cubicBezTo>
                <a:cubicBezTo>
                  <a:pt x="25" y="15229"/>
                  <a:pt x="19" y="15218"/>
                  <a:pt x="14" y="15207"/>
                </a:cubicBezTo>
                <a:cubicBezTo>
                  <a:pt x="10" y="15195"/>
                  <a:pt x="6" y="15184"/>
                  <a:pt x="4" y="15172"/>
                </a:cubicBezTo>
                <a:cubicBezTo>
                  <a:pt x="2" y="15160"/>
                  <a:pt x="0" y="15148"/>
                  <a:pt x="0" y="15136"/>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57" name="テキスト ボックス 156"/>
          <p:cNvSpPr txBox="1"/>
          <p:nvPr/>
        </p:nvSpPr>
        <p:spPr>
          <a:xfrm>
            <a:off x="6777360" y="6018120"/>
            <a:ext cx="2454840" cy="194040"/>
          </a:xfrm>
          <a:prstGeom prst="rect">
            <a:avLst/>
          </a:prstGeom>
          <a:noFill/>
          <a:ln w="0">
            <a:noFill/>
          </a:ln>
        </p:spPr>
        <p:txBody>
          <a:bodyPr wrap="none" lIns="0" tIns="0" rIns="0" bIns="0" anchor="t">
            <a:spAutoFit/>
          </a:bodyPr>
          <a:lstStyle/>
          <a:p>
            <a:r>
              <a:rPr lang="en-US" sz="1050" b="0" u="none" strike="noStrike">
                <a:solidFill>
                  <a:srgbClr val="4B5563"/>
                </a:solidFill>
                <a:effectLst/>
                <a:uFillTx/>
                <a:latin typeface="NotoSansJP"/>
                <a:ea typeface="NotoSansJP"/>
              </a:rPr>
              <a:t>(</a:t>
            </a:r>
            <a:r>
              <a:rPr lang="zh-CN" sz="1050" b="0" u="none" strike="noStrike">
                <a:solidFill>
                  <a:srgbClr val="4B5563"/>
                </a:solidFill>
                <a:effectLst/>
                <a:uFillTx/>
                <a:latin typeface="NotoSansJP"/>
                <a:ea typeface="NotoSansJP"/>
              </a:rPr>
              <a:t>研究で使用したセンサとは異なります</a:t>
            </a:r>
            <a:r>
              <a:rPr lang="en-US" sz="1050" b="0" u="none" strike="noStrike">
                <a:solidFill>
                  <a:srgbClr val="4B5563"/>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158" name="テキスト ボックス 157"/>
          <p:cNvSpPr txBox="1"/>
          <p:nvPr/>
        </p:nvSpPr>
        <p:spPr>
          <a:xfrm>
            <a:off x="468000" y="3022920"/>
            <a:ext cx="398088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銅フタロシアニン</a:t>
            </a:r>
            <a:r>
              <a:rPr lang="en-US" sz="1580" b="0" u="none" strike="noStrike">
                <a:solidFill>
                  <a:srgbClr val="003366"/>
                </a:solidFill>
                <a:effectLst/>
                <a:uFillTx/>
                <a:latin typeface="NotoSansJP"/>
                <a:ea typeface="NotoSansJP"/>
              </a:rPr>
              <a:t>(CuPc)</a:t>
            </a:r>
            <a:r>
              <a:rPr lang="zh-CN" sz="1580" b="0" u="none" strike="noStrike">
                <a:solidFill>
                  <a:srgbClr val="003366"/>
                </a:solidFill>
                <a:effectLst/>
                <a:uFillTx/>
                <a:latin typeface="NotoSansJP"/>
                <a:ea typeface="NotoSansJP"/>
              </a:rPr>
              <a:t>センサの基本構造</a:t>
            </a:r>
            <a:endParaRPr lang="en-US" sz="1580" b="0" u="none" strike="noStrike">
              <a:solidFill>
                <a:srgbClr val="000000"/>
              </a:solidFill>
              <a:effectLst/>
              <a:uFillTx/>
              <a:latin typeface="Times New Roman"/>
            </a:endParaRPr>
          </a:p>
        </p:txBody>
      </p:sp>
      <p:pic>
        <p:nvPicPr>
          <p:cNvPr id="159" name="図 158"/>
          <p:cNvPicPr/>
          <p:nvPr/>
        </p:nvPicPr>
        <p:blipFill>
          <a:blip r:embed="rId6"/>
          <a:stretch/>
        </p:blipFill>
        <p:spPr>
          <a:xfrm>
            <a:off x="2406600" y="3459600"/>
            <a:ext cx="133200" cy="133200"/>
          </a:xfrm>
          <a:prstGeom prst="rect">
            <a:avLst/>
          </a:prstGeom>
          <a:noFill/>
          <a:ln w="0">
            <a:noFill/>
          </a:ln>
        </p:spPr>
      </p:pic>
      <p:sp>
        <p:nvSpPr>
          <p:cNvPr id="160" name="テキスト ボックス 159"/>
          <p:cNvSpPr txBox="1"/>
          <p:nvPr/>
        </p:nvSpPr>
        <p:spPr>
          <a:xfrm>
            <a:off x="1788480" y="4096080"/>
            <a:ext cx="2003760" cy="194040"/>
          </a:xfrm>
          <a:prstGeom prst="rect">
            <a:avLst/>
          </a:prstGeom>
          <a:noFill/>
          <a:ln w="0">
            <a:noFill/>
          </a:ln>
        </p:spPr>
        <p:txBody>
          <a:bodyPr wrap="none" lIns="0" tIns="0" rIns="0" bIns="0" anchor="t">
            <a:spAutoFit/>
          </a:bodyPr>
          <a:lstStyle/>
          <a:p>
            <a:r>
              <a:rPr lang="en-US" sz="1050" b="0" u="none" strike="noStrike">
                <a:solidFill>
                  <a:srgbClr val="4B5563"/>
                </a:solidFill>
                <a:effectLst/>
                <a:uFillTx/>
                <a:latin typeface="NotoSansJP"/>
                <a:ea typeface="NotoSansJP"/>
              </a:rPr>
              <a:t>Figure 1. </a:t>
            </a:r>
            <a:r>
              <a:rPr lang="zh-CN" sz="1050" b="0" u="none" strike="noStrike">
                <a:solidFill>
                  <a:srgbClr val="4B5563"/>
                </a:solidFill>
                <a:effectLst/>
                <a:uFillTx/>
                <a:latin typeface="NotoSansJP"/>
                <a:ea typeface="NotoSansJP"/>
              </a:rPr>
              <a:t>ガスセンサの基本構造</a:t>
            </a:r>
            <a:endParaRPr lang="en-US" sz="1050" b="0" u="none" strike="noStrike">
              <a:solidFill>
                <a:srgbClr val="000000"/>
              </a:solidFill>
              <a:effectLst/>
              <a:uFillTx/>
              <a:latin typeface="Times New Roman"/>
            </a:endParaRPr>
          </a:p>
        </p:txBody>
      </p:sp>
      <p:sp>
        <p:nvSpPr>
          <p:cNvPr id="161" name="テキスト ボックス 160"/>
          <p:cNvSpPr txBox="1"/>
          <p:nvPr/>
        </p:nvSpPr>
        <p:spPr>
          <a:xfrm>
            <a:off x="2540520" y="3494520"/>
            <a:ext cx="53712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センサ構</a:t>
            </a:r>
            <a:endParaRPr lang="en-US" sz="1050" b="0" u="none" strike="noStrike">
              <a:solidFill>
                <a:srgbClr val="000000"/>
              </a:solidFill>
              <a:effectLst/>
              <a:uFillTx/>
              <a:latin typeface="Times New Roman"/>
            </a:endParaRPr>
          </a:p>
        </p:txBody>
      </p:sp>
      <p:sp>
        <p:nvSpPr>
          <p:cNvPr id="162" name="フリーフォーム: 図形 161"/>
          <p:cNvSpPr/>
          <p:nvPr/>
        </p:nvSpPr>
        <p:spPr>
          <a:xfrm>
            <a:off x="2423160" y="3576600"/>
            <a:ext cx="719280" cy="484920"/>
          </a:xfrm>
          <a:custGeom>
            <a:avLst/>
            <a:gdLst/>
            <a:ahLst/>
            <a:cxnLst/>
            <a:rect l="0" t="0" r="r" b="b"/>
            <a:pathLst>
              <a:path w="1998" h="1347">
                <a:moveTo>
                  <a:pt x="0" y="1254"/>
                </a:moveTo>
                <a:lnTo>
                  <a:pt x="0" y="93"/>
                </a:lnTo>
                <a:cubicBezTo>
                  <a:pt x="0" y="80"/>
                  <a:pt x="3" y="68"/>
                  <a:pt x="7" y="57"/>
                </a:cubicBezTo>
                <a:cubicBezTo>
                  <a:pt x="12" y="46"/>
                  <a:pt x="19" y="36"/>
                  <a:pt x="27" y="27"/>
                </a:cubicBezTo>
                <a:cubicBezTo>
                  <a:pt x="36" y="18"/>
                  <a:pt x="46" y="11"/>
                  <a:pt x="58" y="7"/>
                </a:cubicBezTo>
                <a:cubicBezTo>
                  <a:pt x="69" y="2"/>
                  <a:pt x="81" y="0"/>
                  <a:pt x="93" y="0"/>
                </a:cubicBezTo>
                <a:lnTo>
                  <a:pt x="1905" y="0"/>
                </a:lnTo>
                <a:cubicBezTo>
                  <a:pt x="1917" y="0"/>
                  <a:pt x="1929" y="2"/>
                  <a:pt x="1940" y="7"/>
                </a:cubicBezTo>
                <a:cubicBezTo>
                  <a:pt x="1952" y="11"/>
                  <a:pt x="1962" y="18"/>
                  <a:pt x="1970" y="27"/>
                </a:cubicBezTo>
                <a:cubicBezTo>
                  <a:pt x="1979" y="36"/>
                  <a:pt x="1986" y="46"/>
                  <a:pt x="1991" y="57"/>
                </a:cubicBezTo>
                <a:cubicBezTo>
                  <a:pt x="1995" y="68"/>
                  <a:pt x="1998" y="80"/>
                  <a:pt x="1998" y="93"/>
                </a:cubicBezTo>
                <a:lnTo>
                  <a:pt x="1998" y="1254"/>
                </a:lnTo>
                <a:cubicBezTo>
                  <a:pt x="1998" y="1267"/>
                  <a:pt x="1995" y="1278"/>
                  <a:pt x="1991" y="1290"/>
                </a:cubicBezTo>
                <a:cubicBezTo>
                  <a:pt x="1986" y="1301"/>
                  <a:pt x="1979" y="1311"/>
                  <a:pt x="1970" y="1320"/>
                </a:cubicBezTo>
                <a:cubicBezTo>
                  <a:pt x="1962" y="1329"/>
                  <a:pt x="1952" y="1335"/>
                  <a:pt x="1940" y="1340"/>
                </a:cubicBezTo>
                <a:cubicBezTo>
                  <a:pt x="1929" y="1345"/>
                  <a:pt x="1917" y="1347"/>
                  <a:pt x="1905" y="1347"/>
                </a:cubicBezTo>
                <a:lnTo>
                  <a:pt x="93" y="1347"/>
                </a:lnTo>
                <a:cubicBezTo>
                  <a:pt x="81" y="1347"/>
                  <a:pt x="69" y="1345"/>
                  <a:pt x="58" y="1340"/>
                </a:cubicBezTo>
                <a:cubicBezTo>
                  <a:pt x="46" y="1335"/>
                  <a:pt x="36" y="1329"/>
                  <a:pt x="27" y="1320"/>
                </a:cubicBezTo>
                <a:cubicBezTo>
                  <a:pt x="19" y="1311"/>
                  <a:pt x="12" y="1301"/>
                  <a:pt x="7" y="1290"/>
                </a:cubicBezTo>
                <a:cubicBezTo>
                  <a:pt x="3" y="1278"/>
                  <a:pt x="0" y="1267"/>
                  <a:pt x="0" y="1254"/>
                </a:cubicBezTo>
                <a:close/>
              </a:path>
            </a:pathLst>
          </a:custGeom>
          <a:solidFill>
            <a:srgbClr val="FF9900">
              <a:alpha val="8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63" name="テキスト ボックス 162"/>
          <p:cNvSpPr txBox="1"/>
          <p:nvPr/>
        </p:nvSpPr>
        <p:spPr>
          <a:xfrm>
            <a:off x="2406600" y="3695040"/>
            <a:ext cx="1350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造</a:t>
            </a:r>
            <a:endParaRPr lang="en-US" sz="1050" b="0" u="none" strike="noStrike">
              <a:solidFill>
                <a:srgbClr val="000000"/>
              </a:solidFill>
              <a:effectLst/>
              <a:uFillTx/>
              <a:latin typeface="Times New Roman"/>
            </a:endParaRPr>
          </a:p>
        </p:txBody>
      </p:sp>
      <p:sp>
        <p:nvSpPr>
          <p:cNvPr id="164" name="テキスト ボックス 163"/>
          <p:cNvSpPr txBox="1"/>
          <p:nvPr/>
        </p:nvSpPr>
        <p:spPr>
          <a:xfrm>
            <a:off x="2503440" y="3653280"/>
            <a:ext cx="5371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くし形電</a:t>
            </a:r>
            <a:endParaRPr lang="en-US" sz="1050" b="0" u="none" strike="noStrike">
              <a:solidFill>
                <a:srgbClr val="000000"/>
              </a:solidFill>
              <a:effectLst/>
              <a:uFillTx/>
              <a:latin typeface="Times New Roman"/>
            </a:endParaRPr>
          </a:p>
        </p:txBody>
      </p:sp>
      <p:sp>
        <p:nvSpPr>
          <p:cNvPr id="165" name="フリーフォーム: 図形 164"/>
          <p:cNvSpPr/>
          <p:nvPr/>
        </p:nvSpPr>
        <p:spPr>
          <a:xfrm>
            <a:off x="2540160" y="3601440"/>
            <a:ext cx="668880" cy="17640"/>
          </a:xfrm>
          <a:custGeom>
            <a:avLst/>
            <a:gdLst/>
            <a:ahLst/>
            <a:cxnLst/>
            <a:rect l="0" t="0" r="r" b="b"/>
            <a:pathLst>
              <a:path w="1858" h="49">
                <a:moveTo>
                  <a:pt x="0" y="0"/>
                </a:moveTo>
                <a:lnTo>
                  <a:pt x="1858" y="0"/>
                </a:lnTo>
                <a:lnTo>
                  <a:pt x="1858" y="49"/>
                </a:lnTo>
                <a:lnTo>
                  <a:pt x="0" y="49"/>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66" name="フリーフォーム: 図形 165"/>
          <p:cNvSpPr/>
          <p:nvPr/>
        </p:nvSpPr>
        <p:spPr>
          <a:xfrm>
            <a:off x="3125160" y="3567960"/>
            <a:ext cx="83880" cy="84240"/>
          </a:xfrm>
          <a:custGeom>
            <a:avLst/>
            <a:gdLst/>
            <a:ahLst/>
            <a:cxnLst/>
            <a:rect l="0" t="0" r="r" b="b"/>
            <a:pathLst>
              <a:path w="233" h="234">
                <a:moveTo>
                  <a:pt x="0" y="0"/>
                </a:moveTo>
                <a:lnTo>
                  <a:pt x="0" y="234"/>
                </a:lnTo>
                <a:lnTo>
                  <a:pt x="233" y="117"/>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67" name="フリーフォーム: 図形 166"/>
          <p:cNvSpPr/>
          <p:nvPr/>
        </p:nvSpPr>
        <p:spPr>
          <a:xfrm>
            <a:off x="2339640" y="3701880"/>
            <a:ext cx="718920" cy="685440"/>
          </a:xfrm>
          <a:custGeom>
            <a:avLst/>
            <a:gdLst/>
            <a:ahLst/>
            <a:cxnLst/>
            <a:rect l="0" t="0" r="r" b="b"/>
            <a:pathLst>
              <a:path w="1997" h="1904">
                <a:moveTo>
                  <a:pt x="0" y="1812"/>
                </a:moveTo>
                <a:lnTo>
                  <a:pt x="0" y="93"/>
                </a:lnTo>
                <a:cubicBezTo>
                  <a:pt x="0" y="80"/>
                  <a:pt x="3" y="69"/>
                  <a:pt x="7" y="57"/>
                </a:cubicBezTo>
                <a:cubicBezTo>
                  <a:pt x="12" y="46"/>
                  <a:pt x="19" y="36"/>
                  <a:pt x="27" y="27"/>
                </a:cubicBezTo>
                <a:cubicBezTo>
                  <a:pt x="36" y="18"/>
                  <a:pt x="46" y="12"/>
                  <a:pt x="57" y="7"/>
                </a:cubicBezTo>
                <a:cubicBezTo>
                  <a:pt x="69" y="2"/>
                  <a:pt x="81" y="0"/>
                  <a:pt x="93" y="0"/>
                </a:cubicBezTo>
                <a:lnTo>
                  <a:pt x="1905" y="0"/>
                </a:lnTo>
                <a:cubicBezTo>
                  <a:pt x="1917" y="0"/>
                  <a:pt x="1929" y="2"/>
                  <a:pt x="1940" y="7"/>
                </a:cubicBezTo>
                <a:cubicBezTo>
                  <a:pt x="1952" y="12"/>
                  <a:pt x="1962" y="18"/>
                  <a:pt x="1970" y="27"/>
                </a:cubicBezTo>
                <a:cubicBezTo>
                  <a:pt x="1979" y="36"/>
                  <a:pt x="1986" y="46"/>
                  <a:pt x="1990" y="57"/>
                </a:cubicBezTo>
                <a:cubicBezTo>
                  <a:pt x="1995" y="69"/>
                  <a:pt x="1997" y="80"/>
                  <a:pt x="1997" y="93"/>
                </a:cubicBezTo>
                <a:lnTo>
                  <a:pt x="1997" y="1812"/>
                </a:lnTo>
                <a:cubicBezTo>
                  <a:pt x="1997" y="1824"/>
                  <a:pt x="1995" y="1836"/>
                  <a:pt x="1990" y="1847"/>
                </a:cubicBezTo>
                <a:cubicBezTo>
                  <a:pt x="1986" y="1858"/>
                  <a:pt x="1979" y="1868"/>
                  <a:pt x="1970" y="1877"/>
                </a:cubicBezTo>
                <a:cubicBezTo>
                  <a:pt x="1962" y="1886"/>
                  <a:pt x="1952" y="1893"/>
                  <a:pt x="1940" y="1897"/>
                </a:cubicBezTo>
                <a:cubicBezTo>
                  <a:pt x="1929" y="1902"/>
                  <a:pt x="1917" y="1904"/>
                  <a:pt x="1905" y="1904"/>
                </a:cubicBezTo>
                <a:lnTo>
                  <a:pt x="93" y="1904"/>
                </a:lnTo>
                <a:cubicBezTo>
                  <a:pt x="81" y="1904"/>
                  <a:pt x="69" y="1902"/>
                  <a:pt x="57" y="1897"/>
                </a:cubicBezTo>
                <a:cubicBezTo>
                  <a:pt x="46" y="1893"/>
                  <a:pt x="36" y="1886"/>
                  <a:pt x="27" y="1877"/>
                </a:cubicBezTo>
                <a:cubicBezTo>
                  <a:pt x="19" y="1868"/>
                  <a:pt x="12" y="1858"/>
                  <a:pt x="7" y="1847"/>
                </a:cubicBezTo>
                <a:cubicBezTo>
                  <a:pt x="3" y="1836"/>
                  <a:pt x="0" y="1824"/>
                  <a:pt x="0" y="1812"/>
                </a:cubicBezTo>
                <a:close/>
              </a:path>
            </a:pathLst>
          </a:custGeom>
          <a:solidFill>
            <a:srgbClr val="FF9900">
              <a:alpha val="8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68" name="テキスト ボックス 167"/>
          <p:cNvSpPr txBox="1"/>
          <p:nvPr/>
        </p:nvSpPr>
        <p:spPr>
          <a:xfrm>
            <a:off x="2503440" y="3853800"/>
            <a:ext cx="1350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極</a:t>
            </a:r>
            <a:endParaRPr lang="en-US" sz="1050" b="0" u="none" strike="noStrike">
              <a:solidFill>
                <a:srgbClr val="000000"/>
              </a:solidFill>
              <a:effectLst/>
              <a:uFillTx/>
              <a:latin typeface="Times New Roman"/>
            </a:endParaRPr>
          </a:p>
        </p:txBody>
      </p:sp>
      <p:sp>
        <p:nvSpPr>
          <p:cNvPr id="169" name="テキスト ボックス 168"/>
          <p:cNvSpPr txBox="1"/>
          <p:nvPr/>
        </p:nvSpPr>
        <p:spPr>
          <a:xfrm>
            <a:off x="2423520" y="3778560"/>
            <a:ext cx="5371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銅フタロ</a:t>
            </a:r>
            <a:endParaRPr lang="en-US" sz="1050" b="0" u="none" strike="noStrike">
              <a:solidFill>
                <a:srgbClr val="000000"/>
              </a:solidFill>
              <a:effectLst/>
              <a:uFillTx/>
              <a:latin typeface="Times New Roman"/>
            </a:endParaRPr>
          </a:p>
        </p:txBody>
      </p:sp>
      <p:sp>
        <p:nvSpPr>
          <p:cNvPr id="170" name="テキスト ボックス 169"/>
          <p:cNvSpPr txBox="1"/>
          <p:nvPr/>
        </p:nvSpPr>
        <p:spPr>
          <a:xfrm>
            <a:off x="2423520" y="3979080"/>
            <a:ext cx="5371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シアニン</a:t>
            </a:r>
            <a:endParaRPr lang="en-US" sz="1050" b="0" u="none" strike="noStrike">
              <a:solidFill>
                <a:srgbClr val="000000"/>
              </a:solidFill>
              <a:effectLst/>
              <a:uFillTx/>
              <a:latin typeface="Times New Roman"/>
            </a:endParaRPr>
          </a:p>
        </p:txBody>
      </p:sp>
      <p:sp>
        <p:nvSpPr>
          <p:cNvPr id="171" name="フリーフォーム: 図形 170"/>
          <p:cNvSpPr/>
          <p:nvPr/>
        </p:nvSpPr>
        <p:spPr>
          <a:xfrm>
            <a:off x="2230920" y="3718440"/>
            <a:ext cx="668880" cy="17280"/>
          </a:xfrm>
          <a:custGeom>
            <a:avLst/>
            <a:gdLst/>
            <a:ahLst/>
            <a:cxnLst/>
            <a:rect l="0" t="0" r="r" b="b"/>
            <a:pathLst>
              <a:path w="1858" h="48">
                <a:moveTo>
                  <a:pt x="0" y="0"/>
                </a:moveTo>
                <a:lnTo>
                  <a:pt x="1858" y="0"/>
                </a:lnTo>
                <a:lnTo>
                  <a:pt x="1858" y="48"/>
                </a:lnTo>
                <a:lnTo>
                  <a:pt x="0" y="48"/>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72" name="フリーフォーム: 図形 171"/>
          <p:cNvSpPr/>
          <p:nvPr/>
        </p:nvSpPr>
        <p:spPr>
          <a:xfrm>
            <a:off x="2815920" y="3684960"/>
            <a:ext cx="83880" cy="84240"/>
          </a:xfrm>
          <a:custGeom>
            <a:avLst/>
            <a:gdLst/>
            <a:ahLst/>
            <a:cxnLst/>
            <a:rect l="0" t="0" r="r" b="b"/>
            <a:pathLst>
              <a:path w="233" h="234">
                <a:moveTo>
                  <a:pt x="0" y="0"/>
                </a:moveTo>
                <a:lnTo>
                  <a:pt x="0" y="234"/>
                </a:lnTo>
                <a:lnTo>
                  <a:pt x="233" y="118"/>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73" name="テキスト ボックス 172"/>
          <p:cNvSpPr txBox="1"/>
          <p:nvPr/>
        </p:nvSpPr>
        <p:spPr>
          <a:xfrm>
            <a:off x="2423520" y="4179600"/>
            <a:ext cx="1350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層</a:t>
            </a:r>
            <a:endParaRPr lang="en-US" sz="1050" b="0" u="none" strike="noStrike">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 name="図 173"/>
          <p:cNvPicPr/>
          <p:nvPr/>
        </p:nvPicPr>
        <p:blipFill>
          <a:blip r:embed="rId2"/>
          <a:stretch/>
        </p:blipFill>
        <p:spPr>
          <a:xfrm>
            <a:off x="0" y="0"/>
            <a:ext cx="10696320" cy="6016320"/>
          </a:xfrm>
          <a:prstGeom prst="rect">
            <a:avLst/>
          </a:prstGeom>
          <a:noFill/>
          <a:ln w="0">
            <a:noFill/>
          </a:ln>
        </p:spPr>
      </p:pic>
      <p:sp>
        <p:nvSpPr>
          <p:cNvPr id="175" name="フリーフォーム: 図形 174"/>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76" name="フリーフォーム: 図形 175"/>
          <p:cNvSpPr/>
          <p:nvPr/>
        </p:nvSpPr>
        <p:spPr>
          <a:xfrm>
            <a:off x="267120" y="869040"/>
            <a:ext cx="4120200" cy="4479480"/>
          </a:xfrm>
          <a:custGeom>
            <a:avLst/>
            <a:gdLst/>
            <a:ahLst/>
            <a:cxnLst/>
            <a:rect l="0" t="0" r="r" b="b"/>
            <a:pathLst>
              <a:path w="11445" h="12443">
                <a:moveTo>
                  <a:pt x="0" y="12257"/>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1260" y="0"/>
                </a:lnTo>
                <a:cubicBezTo>
                  <a:pt x="11272" y="0"/>
                  <a:pt x="11284" y="1"/>
                  <a:pt x="11296" y="3"/>
                </a:cubicBezTo>
                <a:cubicBezTo>
                  <a:pt x="11308" y="6"/>
                  <a:pt x="11319" y="9"/>
                  <a:pt x="11331" y="14"/>
                </a:cubicBezTo>
                <a:cubicBezTo>
                  <a:pt x="11342" y="18"/>
                  <a:pt x="11353" y="24"/>
                  <a:pt x="11363" y="31"/>
                </a:cubicBezTo>
                <a:cubicBezTo>
                  <a:pt x="11373" y="38"/>
                  <a:pt x="11382" y="45"/>
                  <a:pt x="11391" y="54"/>
                </a:cubicBezTo>
                <a:cubicBezTo>
                  <a:pt x="11400" y="63"/>
                  <a:pt x="11407" y="72"/>
                  <a:pt x="11414" y="82"/>
                </a:cubicBezTo>
                <a:cubicBezTo>
                  <a:pt x="11421" y="92"/>
                  <a:pt x="11427" y="103"/>
                  <a:pt x="11431" y="114"/>
                </a:cubicBezTo>
                <a:cubicBezTo>
                  <a:pt x="11436" y="126"/>
                  <a:pt x="11439" y="137"/>
                  <a:pt x="11442" y="149"/>
                </a:cubicBezTo>
                <a:cubicBezTo>
                  <a:pt x="11444" y="161"/>
                  <a:pt x="11445" y="173"/>
                  <a:pt x="11445" y="185"/>
                </a:cubicBezTo>
                <a:lnTo>
                  <a:pt x="11445" y="12257"/>
                </a:lnTo>
                <a:cubicBezTo>
                  <a:pt x="11445" y="12269"/>
                  <a:pt x="11444" y="12281"/>
                  <a:pt x="11442" y="12293"/>
                </a:cubicBezTo>
                <a:cubicBezTo>
                  <a:pt x="11439" y="12305"/>
                  <a:pt x="11436" y="12317"/>
                  <a:pt x="11431" y="12328"/>
                </a:cubicBezTo>
                <a:cubicBezTo>
                  <a:pt x="11427" y="12339"/>
                  <a:pt x="11421" y="12350"/>
                  <a:pt x="11414" y="12360"/>
                </a:cubicBezTo>
                <a:cubicBezTo>
                  <a:pt x="11407" y="12370"/>
                  <a:pt x="11400" y="12380"/>
                  <a:pt x="11391" y="12388"/>
                </a:cubicBezTo>
                <a:cubicBezTo>
                  <a:pt x="11382" y="12397"/>
                  <a:pt x="11373" y="12405"/>
                  <a:pt x="11363" y="12412"/>
                </a:cubicBezTo>
                <a:cubicBezTo>
                  <a:pt x="11353" y="12418"/>
                  <a:pt x="11342" y="12424"/>
                  <a:pt x="11331" y="12429"/>
                </a:cubicBezTo>
                <a:cubicBezTo>
                  <a:pt x="11319" y="12433"/>
                  <a:pt x="11308" y="12437"/>
                  <a:pt x="11296" y="12439"/>
                </a:cubicBezTo>
                <a:cubicBezTo>
                  <a:pt x="11284" y="12442"/>
                  <a:pt x="11272" y="12443"/>
                  <a:pt x="11260" y="12443"/>
                </a:cubicBezTo>
                <a:lnTo>
                  <a:pt x="186" y="12443"/>
                </a:lnTo>
                <a:cubicBezTo>
                  <a:pt x="174" y="12443"/>
                  <a:pt x="162" y="12442"/>
                  <a:pt x="150" y="12439"/>
                </a:cubicBezTo>
                <a:cubicBezTo>
                  <a:pt x="138" y="12437"/>
                  <a:pt x="126" y="12433"/>
                  <a:pt x="115" y="12429"/>
                </a:cubicBezTo>
                <a:cubicBezTo>
                  <a:pt x="104" y="12424"/>
                  <a:pt x="93" y="12418"/>
                  <a:pt x="83" y="12412"/>
                </a:cubicBezTo>
                <a:cubicBezTo>
                  <a:pt x="73" y="12405"/>
                  <a:pt x="63" y="12397"/>
                  <a:pt x="55" y="12388"/>
                </a:cubicBezTo>
                <a:cubicBezTo>
                  <a:pt x="46" y="12380"/>
                  <a:pt x="38" y="12370"/>
                  <a:pt x="32" y="12360"/>
                </a:cubicBezTo>
                <a:cubicBezTo>
                  <a:pt x="25" y="12350"/>
                  <a:pt x="19" y="12339"/>
                  <a:pt x="14" y="12328"/>
                </a:cubicBezTo>
                <a:cubicBezTo>
                  <a:pt x="10" y="12317"/>
                  <a:pt x="6" y="12305"/>
                  <a:pt x="4" y="12293"/>
                </a:cubicBezTo>
                <a:cubicBezTo>
                  <a:pt x="2" y="12281"/>
                  <a:pt x="0" y="12269"/>
                  <a:pt x="0" y="12257"/>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77" name="フリーフォーム: 図形 176"/>
          <p:cNvSpPr/>
          <p:nvPr/>
        </p:nvSpPr>
        <p:spPr>
          <a:xfrm>
            <a:off x="467640" y="3777120"/>
            <a:ext cx="3719160" cy="1303920"/>
          </a:xfrm>
          <a:custGeom>
            <a:avLst/>
            <a:gdLst/>
            <a:ahLst/>
            <a:cxnLst/>
            <a:rect l="0" t="0" r="r" b="b"/>
            <a:pathLst>
              <a:path w="10331" h="3622">
                <a:moveTo>
                  <a:pt x="0" y="3436"/>
                </a:moveTo>
                <a:lnTo>
                  <a:pt x="0" y="186"/>
                </a:lnTo>
                <a:cubicBezTo>
                  <a:pt x="0" y="173"/>
                  <a:pt x="2" y="161"/>
                  <a:pt x="4" y="149"/>
                </a:cubicBezTo>
                <a:cubicBezTo>
                  <a:pt x="6" y="137"/>
                  <a:pt x="10" y="126"/>
                  <a:pt x="15" y="114"/>
                </a:cubicBezTo>
                <a:cubicBezTo>
                  <a:pt x="19" y="103"/>
                  <a:pt x="25" y="92"/>
                  <a:pt x="32" y="82"/>
                </a:cubicBezTo>
                <a:cubicBezTo>
                  <a:pt x="39"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0146" y="0"/>
                </a:lnTo>
                <a:cubicBezTo>
                  <a:pt x="10158" y="0"/>
                  <a:pt x="10170" y="1"/>
                  <a:pt x="10182" y="3"/>
                </a:cubicBezTo>
                <a:cubicBezTo>
                  <a:pt x="10194" y="6"/>
                  <a:pt x="10205" y="9"/>
                  <a:pt x="10217" y="14"/>
                </a:cubicBezTo>
                <a:cubicBezTo>
                  <a:pt x="10228" y="19"/>
                  <a:pt x="10239" y="24"/>
                  <a:pt x="10249" y="31"/>
                </a:cubicBezTo>
                <a:cubicBezTo>
                  <a:pt x="10259" y="38"/>
                  <a:pt x="10268" y="46"/>
                  <a:pt x="10277" y="54"/>
                </a:cubicBezTo>
                <a:cubicBezTo>
                  <a:pt x="10285" y="63"/>
                  <a:pt x="10293" y="72"/>
                  <a:pt x="10300" y="82"/>
                </a:cubicBezTo>
                <a:cubicBezTo>
                  <a:pt x="10307" y="92"/>
                  <a:pt x="10312" y="103"/>
                  <a:pt x="10317" y="114"/>
                </a:cubicBezTo>
                <a:cubicBezTo>
                  <a:pt x="10322" y="126"/>
                  <a:pt x="10325" y="137"/>
                  <a:pt x="10328" y="149"/>
                </a:cubicBezTo>
                <a:cubicBezTo>
                  <a:pt x="10330" y="161"/>
                  <a:pt x="10331" y="173"/>
                  <a:pt x="10331" y="186"/>
                </a:cubicBezTo>
                <a:lnTo>
                  <a:pt x="10331" y="3436"/>
                </a:lnTo>
                <a:cubicBezTo>
                  <a:pt x="10331" y="3449"/>
                  <a:pt x="10330" y="3461"/>
                  <a:pt x="10328" y="3473"/>
                </a:cubicBezTo>
                <a:cubicBezTo>
                  <a:pt x="10325" y="3485"/>
                  <a:pt x="10322" y="3496"/>
                  <a:pt x="10317" y="3507"/>
                </a:cubicBezTo>
                <a:cubicBezTo>
                  <a:pt x="10312" y="3519"/>
                  <a:pt x="10307" y="3529"/>
                  <a:pt x="10300" y="3540"/>
                </a:cubicBezTo>
                <a:cubicBezTo>
                  <a:pt x="10293" y="3550"/>
                  <a:pt x="10285" y="3559"/>
                  <a:pt x="10277" y="3568"/>
                </a:cubicBezTo>
                <a:cubicBezTo>
                  <a:pt x="10268" y="3576"/>
                  <a:pt x="10259" y="3584"/>
                  <a:pt x="10249" y="3591"/>
                </a:cubicBezTo>
                <a:cubicBezTo>
                  <a:pt x="10239" y="3598"/>
                  <a:pt x="10228" y="3603"/>
                  <a:pt x="10217" y="3608"/>
                </a:cubicBezTo>
                <a:cubicBezTo>
                  <a:pt x="10205" y="3613"/>
                  <a:pt x="10194" y="3616"/>
                  <a:pt x="10182" y="3618"/>
                </a:cubicBezTo>
                <a:cubicBezTo>
                  <a:pt x="10170" y="3621"/>
                  <a:pt x="10158" y="3622"/>
                  <a:pt x="10146" y="3622"/>
                </a:cubicBezTo>
                <a:lnTo>
                  <a:pt x="186" y="3622"/>
                </a:lnTo>
                <a:cubicBezTo>
                  <a:pt x="174" y="3622"/>
                  <a:pt x="162" y="3621"/>
                  <a:pt x="150" y="3618"/>
                </a:cubicBezTo>
                <a:cubicBezTo>
                  <a:pt x="138" y="3616"/>
                  <a:pt x="126" y="3613"/>
                  <a:pt x="115" y="3608"/>
                </a:cubicBezTo>
                <a:cubicBezTo>
                  <a:pt x="104" y="3603"/>
                  <a:pt x="93" y="3598"/>
                  <a:pt x="83" y="3591"/>
                </a:cubicBezTo>
                <a:cubicBezTo>
                  <a:pt x="73" y="3584"/>
                  <a:pt x="63" y="3576"/>
                  <a:pt x="55" y="3568"/>
                </a:cubicBezTo>
                <a:cubicBezTo>
                  <a:pt x="46" y="3559"/>
                  <a:pt x="39" y="3550"/>
                  <a:pt x="32" y="3540"/>
                </a:cubicBezTo>
                <a:cubicBezTo>
                  <a:pt x="25" y="3529"/>
                  <a:pt x="19" y="3519"/>
                  <a:pt x="15" y="3507"/>
                </a:cubicBezTo>
                <a:cubicBezTo>
                  <a:pt x="10" y="3496"/>
                  <a:pt x="6" y="3485"/>
                  <a:pt x="4" y="3473"/>
                </a:cubicBezTo>
                <a:cubicBezTo>
                  <a:pt x="2" y="3461"/>
                  <a:pt x="0" y="3449"/>
                  <a:pt x="0" y="3436"/>
                </a:cubicBezTo>
                <a:close/>
              </a:path>
            </a:pathLst>
          </a:custGeom>
          <a:solidFill>
            <a:srgbClr val="F3F4F6"/>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78" name="図 177"/>
          <p:cNvPicPr/>
          <p:nvPr/>
        </p:nvPicPr>
        <p:blipFill>
          <a:blip r:embed="rId3"/>
          <a:stretch/>
        </p:blipFill>
        <p:spPr>
          <a:xfrm>
            <a:off x="468000" y="1111320"/>
            <a:ext cx="200160" cy="200160"/>
          </a:xfrm>
          <a:prstGeom prst="rect">
            <a:avLst/>
          </a:prstGeom>
          <a:noFill/>
          <a:ln w="0">
            <a:noFill/>
          </a:ln>
        </p:spPr>
      </p:pic>
      <p:sp>
        <p:nvSpPr>
          <p:cNvPr id="179" name="テキスト ボックス 178"/>
          <p:cNvSpPr txBox="1"/>
          <p:nvPr/>
        </p:nvSpPr>
        <p:spPr>
          <a:xfrm>
            <a:off x="334440" y="155520"/>
            <a:ext cx="12016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検知原理</a:t>
            </a:r>
            <a:endParaRPr lang="en-US" sz="2370" b="0" u="none" strike="noStrike">
              <a:solidFill>
                <a:srgbClr val="000000"/>
              </a:solidFill>
              <a:effectLst/>
              <a:uFillTx/>
              <a:latin typeface="Times New Roman"/>
            </a:endParaRPr>
          </a:p>
        </p:txBody>
      </p:sp>
      <p:sp>
        <p:nvSpPr>
          <p:cNvPr id="180" name="フリーフォーム: 図形 179"/>
          <p:cNvSpPr/>
          <p:nvPr/>
        </p:nvSpPr>
        <p:spPr>
          <a:xfrm>
            <a:off x="467640" y="1504080"/>
            <a:ext cx="267840" cy="267840"/>
          </a:xfrm>
          <a:custGeom>
            <a:avLst/>
            <a:gdLst/>
            <a:ahLst/>
            <a:cxnLst/>
            <a:rect l="0" t="0" r="r" b="b"/>
            <a:pathLst>
              <a:path w="744" h="744">
                <a:moveTo>
                  <a:pt x="744" y="371"/>
                </a:moveTo>
                <a:cubicBezTo>
                  <a:pt x="744" y="396"/>
                  <a:pt x="742" y="420"/>
                  <a:pt x="737" y="444"/>
                </a:cubicBezTo>
                <a:cubicBezTo>
                  <a:pt x="732" y="468"/>
                  <a:pt x="725" y="491"/>
                  <a:pt x="716" y="513"/>
                </a:cubicBezTo>
                <a:cubicBezTo>
                  <a:pt x="707" y="536"/>
                  <a:pt x="695" y="557"/>
                  <a:pt x="682" y="578"/>
                </a:cubicBezTo>
                <a:cubicBezTo>
                  <a:pt x="668" y="598"/>
                  <a:pt x="653" y="617"/>
                  <a:pt x="635" y="634"/>
                </a:cubicBezTo>
                <a:cubicBezTo>
                  <a:pt x="618" y="652"/>
                  <a:pt x="599" y="668"/>
                  <a:pt x="579" y="681"/>
                </a:cubicBezTo>
                <a:cubicBezTo>
                  <a:pt x="559" y="695"/>
                  <a:pt x="537" y="706"/>
                  <a:pt x="514" y="715"/>
                </a:cubicBezTo>
                <a:cubicBezTo>
                  <a:pt x="491" y="725"/>
                  <a:pt x="468" y="732"/>
                  <a:pt x="444" y="737"/>
                </a:cubicBezTo>
                <a:cubicBezTo>
                  <a:pt x="420" y="741"/>
                  <a:pt x="396" y="744"/>
                  <a:pt x="372" y="744"/>
                </a:cubicBezTo>
                <a:cubicBezTo>
                  <a:pt x="347" y="744"/>
                  <a:pt x="323" y="741"/>
                  <a:pt x="299" y="737"/>
                </a:cubicBezTo>
                <a:cubicBezTo>
                  <a:pt x="275" y="732"/>
                  <a:pt x="252" y="725"/>
                  <a:pt x="230" y="715"/>
                </a:cubicBezTo>
                <a:cubicBezTo>
                  <a:pt x="207" y="706"/>
                  <a:pt x="186" y="695"/>
                  <a:pt x="165" y="681"/>
                </a:cubicBezTo>
                <a:cubicBezTo>
                  <a:pt x="145" y="668"/>
                  <a:pt x="126" y="652"/>
                  <a:pt x="109" y="634"/>
                </a:cubicBezTo>
                <a:cubicBezTo>
                  <a:pt x="92" y="617"/>
                  <a:pt x="77" y="598"/>
                  <a:pt x="63" y="578"/>
                </a:cubicBezTo>
                <a:cubicBezTo>
                  <a:pt x="49" y="557"/>
                  <a:pt x="38" y="536"/>
                  <a:pt x="29" y="513"/>
                </a:cubicBezTo>
                <a:cubicBezTo>
                  <a:pt x="19" y="491"/>
                  <a:pt x="12" y="468"/>
                  <a:pt x="8" y="444"/>
                </a:cubicBezTo>
                <a:cubicBezTo>
                  <a:pt x="3" y="420"/>
                  <a:pt x="0" y="396"/>
                  <a:pt x="0" y="371"/>
                </a:cubicBezTo>
                <a:cubicBezTo>
                  <a:pt x="0" y="347"/>
                  <a:pt x="3" y="323"/>
                  <a:pt x="8" y="299"/>
                </a:cubicBezTo>
                <a:cubicBezTo>
                  <a:pt x="12" y="275"/>
                  <a:pt x="19" y="252"/>
                  <a:pt x="29" y="229"/>
                </a:cubicBezTo>
                <a:cubicBezTo>
                  <a:pt x="38" y="207"/>
                  <a:pt x="49" y="185"/>
                  <a:pt x="63" y="165"/>
                </a:cubicBezTo>
                <a:cubicBezTo>
                  <a:pt x="77" y="145"/>
                  <a:pt x="92" y="126"/>
                  <a:pt x="109" y="109"/>
                </a:cubicBezTo>
                <a:cubicBezTo>
                  <a:pt x="126" y="91"/>
                  <a:pt x="145" y="76"/>
                  <a:pt x="165" y="62"/>
                </a:cubicBezTo>
                <a:cubicBezTo>
                  <a:pt x="186" y="49"/>
                  <a:pt x="207" y="37"/>
                  <a:pt x="230" y="28"/>
                </a:cubicBezTo>
                <a:cubicBezTo>
                  <a:pt x="252" y="19"/>
                  <a:pt x="275" y="12"/>
                  <a:pt x="299" y="7"/>
                </a:cubicBezTo>
                <a:cubicBezTo>
                  <a:pt x="323" y="2"/>
                  <a:pt x="347" y="0"/>
                  <a:pt x="372" y="0"/>
                </a:cubicBezTo>
                <a:cubicBezTo>
                  <a:pt x="396" y="0"/>
                  <a:pt x="420" y="2"/>
                  <a:pt x="444" y="7"/>
                </a:cubicBezTo>
                <a:cubicBezTo>
                  <a:pt x="468" y="12"/>
                  <a:pt x="491" y="19"/>
                  <a:pt x="514" y="28"/>
                </a:cubicBezTo>
                <a:cubicBezTo>
                  <a:pt x="537" y="37"/>
                  <a:pt x="559" y="49"/>
                  <a:pt x="579" y="62"/>
                </a:cubicBezTo>
                <a:cubicBezTo>
                  <a:pt x="599" y="76"/>
                  <a:pt x="618" y="91"/>
                  <a:pt x="635" y="109"/>
                </a:cubicBezTo>
                <a:cubicBezTo>
                  <a:pt x="653" y="126"/>
                  <a:pt x="668" y="145"/>
                  <a:pt x="682" y="165"/>
                </a:cubicBezTo>
                <a:cubicBezTo>
                  <a:pt x="695" y="185"/>
                  <a:pt x="707" y="207"/>
                  <a:pt x="716" y="229"/>
                </a:cubicBezTo>
                <a:cubicBezTo>
                  <a:pt x="725" y="252"/>
                  <a:pt x="732" y="275"/>
                  <a:pt x="737" y="299"/>
                </a:cubicBezTo>
                <a:cubicBezTo>
                  <a:pt x="742" y="323"/>
                  <a:pt x="744" y="347"/>
                  <a:pt x="744" y="371"/>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81" name="テキスト ボックス 180"/>
          <p:cNvSpPr txBox="1"/>
          <p:nvPr/>
        </p:nvSpPr>
        <p:spPr>
          <a:xfrm>
            <a:off x="735480" y="1100880"/>
            <a:ext cx="2526480" cy="291600"/>
          </a:xfrm>
          <a:prstGeom prst="rect">
            <a:avLst/>
          </a:prstGeom>
          <a:noFill/>
          <a:ln w="0">
            <a:noFill/>
          </a:ln>
        </p:spPr>
        <p:txBody>
          <a:bodyPr wrap="none" lIns="0" tIns="0" rIns="0" bIns="0" anchor="t">
            <a:spAutoFit/>
          </a:bodyPr>
          <a:lstStyle/>
          <a:p>
            <a:r>
              <a:rPr lang="en-US" sz="1580" b="0" u="none" strike="noStrike">
                <a:solidFill>
                  <a:srgbClr val="003366"/>
                </a:solidFill>
                <a:effectLst/>
                <a:uFillTx/>
                <a:latin typeface="NotoSansJP"/>
                <a:ea typeface="NotoSansJP"/>
              </a:rPr>
              <a:t> CuPc-TMA</a:t>
            </a:r>
            <a:r>
              <a:rPr lang="zh-CN" sz="1580" b="0" u="none" strike="noStrike">
                <a:solidFill>
                  <a:srgbClr val="003366"/>
                </a:solidFill>
                <a:effectLst/>
                <a:uFillTx/>
                <a:latin typeface="NotoSansJP"/>
                <a:ea typeface="NotoSansJP"/>
              </a:rPr>
              <a:t>相互作用の原理</a:t>
            </a:r>
            <a:endParaRPr lang="en-US" sz="1580" b="0" u="none" strike="noStrike">
              <a:solidFill>
                <a:srgbClr val="000000"/>
              </a:solidFill>
              <a:effectLst/>
              <a:uFillTx/>
              <a:latin typeface="Times New Roman"/>
            </a:endParaRPr>
          </a:p>
        </p:txBody>
      </p:sp>
      <p:sp>
        <p:nvSpPr>
          <p:cNvPr id="182" name="テキスト ボックス 181"/>
          <p:cNvSpPr txBox="1"/>
          <p:nvPr/>
        </p:nvSpPr>
        <p:spPr>
          <a:xfrm>
            <a:off x="555840" y="1565280"/>
            <a:ext cx="150120" cy="175680"/>
          </a:xfrm>
          <a:prstGeom prst="rect">
            <a:avLst/>
          </a:prstGeom>
          <a:noFill/>
          <a:ln w="0">
            <a:noFill/>
          </a:ln>
        </p:spPr>
        <p:txBody>
          <a:bodyPr wrap="none" lIns="0" tIns="0" rIns="0" bIns="0" anchor="t">
            <a:spAutoFit/>
          </a:bodyPr>
          <a:lstStyle/>
          <a:p>
            <a:r>
              <a:rPr lang="en-US" sz="1180" b="0" u="none" strike="noStrike">
                <a:solidFill>
                  <a:srgbClr val="FFFFFF"/>
                </a:solidFill>
                <a:effectLst/>
                <a:uFillTx/>
                <a:latin typeface="NotoSansJP"/>
                <a:ea typeface="NotoSansJP"/>
              </a:rPr>
              <a:t>1</a:t>
            </a:r>
            <a:endParaRPr lang="en-US" sz="1180" b="0" u="none" strike="noStrike">
              <a:solidFill>
                <a:srgbClr val="000000"/>
              </a:solidFill>
              <a:effectLst/>
              <a:uFillTx/>
              <a:latin typeface="Times New Roman"/>
            </a:endParaRPr>
          </a:p>
        </p:txBody>
      </p:sp>
      <p:sp>
        <p:nvSpPr>
          <p:cNvPr id="183" name="テキスト ボックス 182"/>
          <p:cNvSpPr txBox="1"/>
          <p:nvPr/>
        </p:nvSpPr>
        <p:spPr>
          <a:xfrm>
            <a:off x="835560" y="1514880"/>
            <a:ext cx="343872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銅フタロシアニン</a:t>
            </a:r>
            <a:r>
              <a:rPr lang="en-US" sz="1180" b="0" u="none" strike="noStrike">
                <a:solidFill>
                  <a:srgbClr val="000000"/>
                </a:solidFill>
                <a:effectLst/>
                <a:uFillTx/>
                <a:latin typeface="NotoSansJP"/>
                <a:ea typeface="NotoSansJP"/>
              </a:rPr>
              <a:t>(CuPc)</a:t>
            </a:r>
            <a:r>
              <a:rPr lang="zh-CN" sz="1180" b="0" u="none" strike="noStrike">
                <a:solidFill>
                  <a:srgbClr val="000000"/>
                </a:solidFill>
                <a:effectLst/>
                <a:uFillTx/>
                <a:latin typeface="NotoSansJP"/>
                <a:ea typeface="NotoSansJP"/>
              </a:rPr>
              <a:t>は有機半導体としての特</a:t>
            </a:r>
            <a:endParaRPr lang="en-US" sz="1180" b="0" u="none" strike="noStrike">
              <a:solidFill>
                <a:srgbClr val="000000"/>
              </a:solidFill>
              <a:effectLst/>
              <a:uFillTx/>
              <a:latin typeface="Times New Roman"/>
            </a:endParaRPr>
          </a:p>
        </p:txBody>
      </p:sp>
      <p:sp>
        <p:nvSpPr>
          <p:cNvPr id="184" name="フリーフォーム: 図形 183"/>
          <p:cNvSpPr/>
          <p:nvPr/>
        </p:nvSpPr>
        <p:spPr>
          <a:xfrm>
            <a:off x="467640" y="2105640"/>
            <a:ext cx="267840" cy="267840"/>
          </a:xfrm>
          <a:custGeom>
            <a:avLst/>
            <a:gdLst/>
            <a:ahLst/>
            <a:cxnLst/>
            <a:rect l="0" t="0" r="r" b="b"/>
            <a:pathLst>
              <a:path w="744" h="744">
                <a:moveTo>
                  <a:pt x="744" y="372"/>
                </a:moveTo>
                <a:cubicBezTo>
                  <a:pt x="744" y="396"/>
                  <a:pt x="742" y="420"/>
                  <a:pt x="737" y="444"/>
                </a:cubicBezTo>
                <a:cubicBezTo>
                  <a:pt x="732" y="469"/>
                  <a:pt x="725" y="492"/>
                  <a:pt x="716" y="515"/>
                </a:cubicBezTo>
                <a:cubicBezTo>
                  <a:pt x="707" y="537"/>
                  <a:pt x="695" y="559"/>
                  <a:pt x="682" y="579"/>
                </a:cubicBezTo>
                <a:cubicBezTo>
                  <a:pt x="668" y="599"/>
                  <a:pt x="653" y="618"/>
                  <a:pt x="635" y="635"/>
                </a:cubicBezTo>
                <a:cubicBezTo>
                  <a:pt x="618" y="652"/>
                  <a:pt x="599" y="668"/>
                  <a:pt x="579" y="681"/>
                </a:cubicBezTo>
                <a:cubicBezTo>
                  <a:pt x="559" y="695"/>
                  <a:pt x="537" y="706"/>
                  <a:pt x="514" y="716"/>
                </a:cubicBezTo>
                <a:cubicBezTo>
                  <a:pt x="491" y="725"/>
                  <a:pt x="468" y="732"/>
                  <a:pt x="444" y="737"/>
                </a:cubicBezTo>
                <a:cubicBezTo>
                  <a:pt x="420" y="742"/>
                  <a:pt x="396" y="744"/>
                  <a:pt x="372" y="744"/>
                </a:cubicBezTo>
                <a:cubicBezTo>
                  <a:pt x="347" y="744"/>
                  <a:pt x="323" y="742"/>
                  <a:pt x="299" y="737"/>
                </a:cubicBezTo>
                <a:cubicBezTo>
                  <a:pt x="275" y="732"/>
                  <a:pt x="252" y="725"/>
                  <a:pt x="230" y="716"/>
                </a:cubicBezTo>
                <a:cubicBezTo>
                  <a:pt x="207" y="706"/>
                  <a:pt x="186" y="695"/>
                  <a:pt x="165" y="681"/>
                </a:cubicBezTo>
                <a:cubicBezTo>
                  <a:pt x="145" y="668"/>
                  <a:pt x="126" y="652"/>
                  <a:pt x="109" y="635"/>
                </a:cubicBezTo>
                <a:cubicBezTo>
                  <a:pt x="92" y="618"/>
                  <a:pt x="77" y="599"/>
                  <a:pt x="63" y="579"/>
                </a:cubicBezTo>
                <a:cubicBezTo>
                  <a:pt x="49" y="559"/>
                  <a:pt x="38" y="537"/>
                  <a:pt x="29" y="515"/>
                </a:cubicBezTo>
                <a:cubicBezTo>
                  <a:pt x="19" y="492"/>
                  <a:pt x="12" y="469"/>
                  <a:pt x="8" y="444"/>
                </a:cubicBezTo>
                <a:cubicBezTo>
                  <a:pt x="3" y="420"/>
                  <a:pt x="0" y="396"/>
                  <a:pt x="0" y="372"/>
                </a:cubicBezTo>
                <a:cubicBezTo>
                  <a:pt x="0" y="347"/>
                  <a:pt x="3" y="323"/>
                  <a:pt x="8" y="299"/>
                </a:cubicBezTo>
                <a:cubicBezTo>
                  <a:pt x="12" y="275"/>
                  <a:pt x="19" y="252"/>
                  <a:pt x="29" y="229"/>
                </a:cubicBezTo>
                <a:cubicBezTo>
                  <a:pt x="38" y="207"/>
                  <a:pt x="49" y="186"/>
                  <a:pt x="63" y="165"/>
                </a:cubicBezTo>
                <a:cubicBezTo>
                  <a:pt x="77" y="145"/>
                  <a:pt x="92" y="126"/>
                  <a:pt x="109" y="109"/>
                </a:cubicBezTo>
                <a:cubicBezTo>
                  <a:pt x="126" y="92"/>
                  <a:pt x="145" y="76"/>
                  <a:pt x="165" y="63"/>
                </a:cubicBezTo>
                <a:cubicBezTo>
                  <a:pt x="186" y="49"/>
                  <a:pt x="207" y="38"/>
                  <a:pt x="230" y="28"/>
                </a:cubicBezTo>
                <a:cubicBezTo>
                  <a:pt x="252" y="19"/>
                  <a:pt x="275" y="12"/>
                  <a:pt x="299" y="7"/>
                </a:cubicBezTo>
                <a:cubicBezTo>
                  <a:pt x="323" y="3"/>
                  <a:pt x="347" y="0"/>
                  <a:pt x="372" y="0"/>
                </a:cubicBezTo>
                <a:cubicBezTo>
                  <a:pt x="396" y="0"/>
                  <a:pt x="420" y="3"/>
                  <a:pt x="444" y="7"/>
                </a:cubicBezTo>
                <a:cubicBezTo>
                  <a:pt x="468" y="12"/>
                  <a:pt x="491" y="19"/>
                  <a:pt x="514" y="28"/>
                </a:cubicBezTo>
                <a:cubicBezTo>
                  <a:pt x="537" y="38"/>
                  <a:pt x="559" y="49"/>
                  <a:pt x="579" y="63"/>
                </a:cubicBezTo>
                <a:cubicBezTo>
                  <a:pt x="599" y="76"/>
                  <a:pt x="618" y="92"/>
                  <a:pt x="635" y="109"/>
                </a:cubicBezTo>
                <a:cubicBezTo>
                  <a:pt x="653" y="126"/>
                  <a:pt x="668" y="145"/>
                  <a:pt x="682" y="165"/>
                </a:cubicBezTo>
                <a:cubicBezTo>
                  <a:pt x="695" y="186"/>
                  <a:pt x="707" y="207"/>
                  <a:pt x="716" y="229"/>
                </a:cubicBezTo>
                <a:cubicBezTo>
                  <a:pt x="725" y="252"/>
                  <a:pt x="732" y="275"/>
                  <a:pt x="737" y="299"/>
                </a:cubicBezTo>
                <a:cubicBezTo>
                  <a:pt x="742" y="323"/>
                  <a:pt x="744" y="347"/>
                  <a:pt x="744" y="372"/>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85" name="テキスト ボックス 184"/>
          <p:cNvSpPr txBox="1"/>
          <p:nvPr/>
        </p:nvSpPr>
        <p:spPr>
          <a:xfrm>
            <a:off x="835560" y="1748880"/>
            <a:ext cx="6040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性を持つ</a:t>
            </a:r>
            <a:endParaRPr lang="en-US" sz="1180" b="0" u="none" strike="noStrike">
              <a:solidFill>
                <a:srgbClr val="000000"/>
              </a:solidFill>
              <a:effectLst/>
              <a:uFillTx/>
              <a:latin typeface="Times New Roman"/>
            </a:endParaRPr>
          </a:p>
        </p:txBody>
      </p:sp>
      <p:sp>
        <p:nvSpPr>
          <p:cNvPr id="186" name="テキスト ボックス 185"/>
          <p:cNvSpPr txBox="1"/>
          <p:nvPr/>
        </p:nvSpPr>
        <p:spPr>
          <a:xfrm>
            <a:off x="555840" y="2166840"/>
            <a:ext cx="150120" cy="175680"/>
          </a:xfrm>
          <a:prstGeom prst="rect">
            <a:avLst/>
          </a:prstGeom>
          <a:noFill/>
          <a:ln w="0">
            <a:noFill/>
          </a:ln>
        </p:spPr>
        <p:txBody>
          <a:bodyPr wrap="none" lIns="0" tIns="0" rIns="0" bIns="0" anchor="t">
            <a:spAutoFit/>
          </a:bodyPr>
          <a:lstStyle/>
          <a:p>
            <a:r>
              <a:rPr lang="en-US" sz="1180" b="0" u="none" strike="noStrike">
                <a:solidFill>
                  <a:srgbClr val="FFFFFF"/>
                </a:solidFill>
                <a:effectLst/>
                <a:uFillTx/>
                <a:latin typeface="NotoSansJP"/>
                <a:ea typeface="NotoSansJP"/>
              </a:rPr>
              <a:t>2</a:t>
            </a:r>
            <a:endParaRPr lang="en-US" sz="1180" b="0" u="none" strike="noStrike">
              <a:solidFill>
                <a:srgbClr val="000000"/>
              </a:solidFill>
              <a:effectLst/>
              <a:uFillTx/>
              <a:latin typeface="Times New Roman"/>
            </a:endParaRPr>
          </a:p>
        </p:txBody>
      </p:sp>
      <p:sp>
        <p:nvSpPr>
          <p:cNvPr id="187" name="テキスト ボックス 186"/>
          <p:cNvSpPr txBox="1"/>
          <p:nvPr/>
        </p:nvSpPr>
        <p:spPr>
          <a:xfrm>
            <a:off x="835560" y="2116800"/>
            <a:ext cx="337968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ガスは電子供与体として作用し、</a:t>
            </a:r>
            <a:r>
              <a:rPr lang="en-US" sz="1180" b="0" u="none" strike="noStrike">
                <a:solidFill>
                  <a:srgbClr val="000000"/>
                </a:solidFill>
                <a:effectLst/>
                <a:uFillTx/>
                <a:latin typeface="NotoSansJP"/>
                <a:ea typeface="NotoSansJP"/>
              </a:rPr>
              <a:t>CuPc</a:t>
            </a:r>
            <a:r>
              <a:rPr lang="zh-CN" sz="1180" b="0" u="none" strike="noStrike">
                <a:solidFill>
                  <a:srgbClr val="000000"/>
                </a:solidFill>
                <a:effectLst/>
                <a:uFillTx/>
                <a:latin typeface="NotoSansJP"/>
                <a:ea typeface="NotoSansJP"/>
              </a:rPr>
              <a:t>と接</a:t>
            </a:r>
            <a:endParaRPr lang="en-US" sz="1180" b="0" u="none" strike="noStrike">
              <a:solidFill>
                <a:srgbClr val="000000"/>
              </a:solidFill>
              <a:effectLst/>
              <a:uFillTx/>
              <a:latin typeface="Times New Roman"/>
            </a:endParaRPr>
          </a:p>
        </p:txBody>
      </p:sp>
      <p:sp>
        <p:nvSpPr>
          <p:cNvPr id="188" name="フリーフォーム: 図形 187"/>
          <p:cNvSpPr/>
          <p:nvPr/>
        </p:nvSpPr>
        <p:spPr>
          <a:xfrm>
            <a:off x="467640" y="2707560"/>
            <a:ext cx="267840" cy="267480"/>
          </a:xfrm>
          <a:custGeom>
            <a:avLst/>
            <a:gdLst/>
            <a:ahLst/>
            <a:cxnLst/>
            <a:rect l="0" t="0" r="r" b="b"/>
            <a:pathLst>
              <a:path w="744" h="743">
                <a:moveTo>
                  <a:pt x="744" y="372"/>
                </a:moveTo>
                <a:cubicBezTo>
                  <a:pt x="744" y="396"/>
                  <a:pt x="742" y="420"/>
                  <a:pt x="737" y="444"/>
                </a:cubicBezTo>
                <a:cubicBezTo>
                  <a:pt x="732" y="468"/>
                  <a:pt x="725" y="492"/>
                  <a:pt x="716" y="514"/>
                </a:cubicBezTo>
                <a:cubicBezTo>
                  <a:pt x="707" y="537"/>
                  <a:pt x="695" y="558"/>
                  <a:pt x="682" y="578"/>
                </a:cubicBezTo>
                <a:cubicBezTo>
                  <a:pt x="668" y="599"/>
                  <a:pt x="653" y="617"/>
                  <a:pt x="635" y="635"/>
                </a:cubicBezTo>
                <a:cubicBezTo>
                  <a:pt x="618" y="652"/>
                  <a:pt x="599" y="667"/>
                  <a:pt x="579" y="681"/>
                </a:cubicBezTo>
                <a:cubicBezTo>
                  <a:pt x="559" y="694"/>
                  <a:pt x="537" y="706"/>
                  <a:pt x="514" y="715"/>
                </a:cubicBezTo>
                <a:cubicBezTo>
                  <a:pt x="491" y="724"/>
                  <a:pt x="468" y="731"/>
                  <a:pt x="444" y="736"/>
                </a:cubicBezTo>
                <a:cubicBezTo>
                  <a:pt x="420" y="741"/>
                  <a:pt x="396" y="743"/>
                  <a:pt x="372" y="743"/>
                </a:cubicBezTo>
                <a:cubicBezTo>
                  <a:pt x="347" y="743"/>
                  <a:pt x="323" y="741"/>
                  <a:pt x="299" y="736"/>
                </a:cubicBezTo>
                <a:cubicBezTo>
                  <a:pt x="275" y="731"/>
                  <a:pt x="252" y="724"/>
                  <a:pt x="230" y="715"/>
                </a:cubicBezTo>
                <a:cubicBezTo>
                  <a:pt x="207" y="706"/>
                  <a:pt x="186" y="694"/>
                  <a:pt x="165" y="681"/>
                </a:cubicBezTo>
                <a:cubicBezTo>
                  <a:pt x="145" y="667"/>
                  <a:pt x="126" y="652"/>
                  <a:pt x="109" y="635"/>
                </a:cubicBezTo>
                <a:cubicBezTo>
                  <a:pt x="92" y="617"/>
                  <a:pt x="77" y="599"/>
                  <a:pt x="63" y="578"/>
                </a:cubicBezTo>
                <a:cubicBezTo>
                  <a:pt x="49" y="558"/>
                  <a:pt x="38" y="537"/>
                  <a:pt x="29" y="514"/>
                </a:cubicBezTo>
                <a:cubicBezTo>
                  <a:pt x="19" y="492"/>
                  <a:pt x="12" y="468"/>
                  <a:pt x="8" y="444"/>
                </a:cubicBezTo>
                <a:cubicBezTo>
                  <a:pt x="3" y="420"/>
                  <a:pt x="0" y="396"/>
                  <a:pt x="0" y="372"/>
                </a:cubicBezTo>
                <a:cubicBezTo>
                  <a:pt x="0" y="348"/>
                  <a:pt x="3" y="323"/>
                  <a:pt x="8" y="299"/>
                </a:cubicBezTo>
                <a:cubicBezTo>
                  <a:pt x="12" y="276"/>
                  <a:pt x="19" y="251"/>
                  <a:pt x="29" y="229"/>
                </a:cubicBezTo>
                <a:cubicBezTo>
                  <a:pt x="38" y="206"/>
                  <a:pt x="49" y="185"/>
                  <a:pt x="63" y="165"/>
                </a:cubicBezTo>
                <a:cubicBezTo>
                  <a:pt x="77" y="144"/>
                  <a:pt x="92" y="126"/>
                  <a:pt x="109" y="108"/>
                </a:cubicBezTo>
                <a:cubicBezTo>
                  <a:pt x="126" y="91"/>
                  <a:pt x="145" y="76"/>
                  <a:pt x="165" y="62"/>
                </a:cubicBezTo>
                <a:cubicBezTo>
                  <a:pt x="186" y="49"/>
                  <a:pt x="207" y="37"/>
                  <a:pt x="230" y="28"/>
                </a:cubicBezTo>
                <a:cubicBezTo>
                  <a:pt x="252" y="18"/>
                  <a:pt x="275" y="11"/>
                  <a:pt x="299" y="7"/>
                </a:cubicBezTo>
                <a:cubicBezTo>
                  <a:pt x="323" y="2"/>
                  <a:pt x="347" y="0"/>
                  <a:pt x="372" y="0"/>
                </a:cubicBezTo>
                <a:cubicBezTo>
                  <a:pt x="396" y="0"/>
                  <a:pt x="420" y="2"/>
                  <a:pt x="444" y="7"/>
                </a:cubicBezTo>
                <a:cubicBezTo>
                  <a:pt x="468" y="11"/>
                  <a:pt x="491" y="18"/>
                  <a:pt x="514" y="28"/>
                </a:cubicBezTo>
                <a:cubicBezTo>
                  <a:pt x="537" y="37"/>
                  <a:pt x="559" y="49"/>
                  <a:pt x="579" y="62"/>
                </a:cubicBezTo>
                <a:cubicBezTo>
                  <a:pt x="599" y="76"/>
                  <a:pt x="618" y="91"/>
                  <a:pt x="635" y="108"/>
                </a:cubicBezTo>
                <a:cubicBezTo>
                  <a:pt x="653" y="126"/>
                  <a:pt x="668" y="144"/>
                  <a:pt x="682" y="165"/>
                </a:cubicBezTo>
                <a:cubicBezTo>
                  <a:pt x="695" y="185"/>
                  <a:pt x="707" y="206"/>
                  <a:pt x="716" y="229"/>
                </a:cubicBezTo>
                <a:cubicBezTo>
                  <a:pt x="725" y="251"/>
                  <a:pt x="732" y="276"/>
                  <a:pt x="737" y="299"/>
                </a:cubicBezTo>
                <a:cubicBezTo>
                  <a:pt x="742" y="323"/>
                  <a:pt x="744" y="348"/>
                  <a:pt x="744" y="372"/>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89" name="テキスト ボックス 188"/>
          <p:cNvSpPr txBox="1"/>
          <p:nvPr/>
        </p:nvSpPr>
        <p:spPr>
          <a:xfrm>
            <a:off x="835560" y="2350800"/>
            <a:ext cx="1515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触</a:t>
            </a:r>
            <a:endParaRPr lang="en-US" sz="1180" b="0" u="none" strike="noStrike">
              <a:solidFill>
                <a:srgbClr val="000000"/>
              </a:solidFill>
              <a:effectLst/>
              <a:uFillTx/>
              <a:latin typeface="Times New Roman"/>
            </a:endParaRPr>
          </a:p>
        </p:txBody>
      </p:sp>
      <p:sp>
        <p:nvSpPr>
          <p:cNvPr id="190" name="テキスト ボックス 189"/>
          <p:cNvSpPr txBox="1"/>
          <p:nvPr/>
        </p:nvSpPr>
        <p:spPr>
          <a:xfrm>
            <a:off x="555840" y="2768400"/>
            <a:ext cx="150120" cy="175680"/>
          </a:xfrm>
          <a:prstGeom prst="rect">
            <a:avLst/>
          </a:prstGeom>
          <a:noFill/>
          <a:ln w="0">
            <a:noFill/>
          </a:ln>
        </p:spPr>
        <p:txBody>
          <a:bodyPr wrap="none" lIns="0" tIns="0" rIns="0" bIns="0" anchor="t">
            <a:spAutoFit/>
          </a:bodyPr>
          <a:lstStyle/>
          <a:p>
            <a:r>
              <a:rPr lang="en-US" sz="1180" b="0" u="none" strike="noStrike">
                <a:solidFill>
                  <a:srgbClr val="FFFFFF"/>
                </a:solidFill>
                <a:effectLst/>
                <a:uFillTx/>
                <a:latin typeface="NotoSansJP"/>
                <a:ea typeface="NotoSansJP"/>
              </a:rPr>
              <a:t>3</a:t>
            </a:r>
            <a:endParaRPr lang="en-US" sz="1180" b="0" u="none" strike="noStrike">
              <a:solidFill>
                <a:srgbClr val="000000"/>
              </a:solidFill>
              <a:effectLst/>
              <a:uFillTx/>
              <a:latin typeface="Times New Roman"/>
            </a:endParaRPr>
          </a:p>
        </p:txBody>
      </p:sp>
      <p:sp>
        <p:nvSpPr>
          <p:cNvPr id="191" name="フリーフォーム: 図形 190"/>
          <p:cNvSpPr/>
          <p:nvPr/>
        </p:nvSpPr>
        <p:spPr>
          <a:xfrm>
            <a:off x="467640" y="3142080"/>
            <a:ext cx="267840" cy="267480"/>
          </a:xfrm>
          <a:custGeom>
            <a:avLst/>
            <a:gdLst/>
            <a:ahLst/>
            <a:cxnLst/>
            <a:rect l="0" t="0" r="r" b="b"/>
            <a:pathLst>
              <a:path w="744" h="743">
                <a:moveTo>
                  <a:pt x="744" y="371"/>
                </a:moveTo>
                <a:cubicBezTo>
                  <a:pt x="744" y="395"/>
                  <a:pt x="742" y="420"/>
                  <a:pt x="737" y="443"/>
                </a:cubicBezTo>
                <a:cubicBezTo>
                  <a:pt x="732" y="467"/>
                  <a:pt x="725" y="491"/>
                  <a:pt x="716" y="513"/>
                </a:cubicBezTo>
                <a:cubicBezTo>
                  <a:pt x="707" y="536"/>
                  <a:pt x="695" y="558"/>
                  <a:pt x="682" y="578"/>
                </a:cubicBezTo>
                <a:cubicBezTo>
                  <a:pt x="668" y="599"/>
                  <a:pt x="653" y="617"/>
                  <a:pt x="635" y="635"/>
                </a:cubicBezTo>
                <a:cubicBezTo>
                  <a:pt x="618" y="652"/>
                  <a:pt x="599" y="667"/>
                  <a:pt x="579" y="681"/>
                </a:cubicBezTo>
                <a:cubicBezTo>
                  <a:pt x="559" y="694"/>
                  <a:pt x="537" y="706"/>
                  <a:pt x="514" y="715"/>
                </a:cubicBezTo>
                <a:cubicBezTo>
                  <a:pt x="491" y="724"/>
                  <a:pt x="468" y="732"/>
                  <a:pt x="444" y="736"/>
                </a:cubicBezTo>
                <a:cubicBezTo>
                  <a:pt x="420" y="741"/>
                  <a:pt x="396" y="743"/>
                  <a:pt x="372" y="743"/>
                </a:cubicBezTo>
                <a:cubicBezTo>
                  <a:pt x="347" y="743"/>
                  <a:pt x="323" y="741"/>
                  <a:pt x="299" y="736"/>
                </a:cubicBezTo>
                <a:cubicBezTo>
                  <a:pt x="275" y="732"/>
                  <a:pt x="252" y="724"/>
                  <a:pt x="230" y="715"/>
                </a:cubicBezTo>
                <a:cubicBezTo>
                  <a:pt x="207" y="706"/>
                  <a:pt x="186" y="694"/>
                  <a:pt x="165" y="681"/>
                </a:cubicBezTo>
                <a:cubicBezTo>
                  <a:pt x="145" y="667"/>
                  <a:pt x="126" y="652"/>
                  <a:pt x="109" y="635"/>
                </a:cubicBezTo>
                <a:cubicBezTo>
                  <a:pt x="92" y="617"/>
                  <a:pt x="77" y="599"/>
                  <a:pt x="63" y="578"/>
                </a:cubicBezTo>
                <a:cubicBezTo>
                  <a:pt x="49" y="558"/>
                  <a:pt x="38" y="536"/>
                  <a:pt x="29" y="513"/>
                </a:cubicBezTo>
                <a:cubicBezTo>
                  <a:pt x="19" y="491"/>
                  <a:pt x="12" y="467"/>
                  <a:pt x="8" y="443"/>
                </a:cubicBezTo>
                <a:cubicBezTo>
                  <a:pt x="3" y="420"/>
                  <a:pt x="0" y="395"/>
                  <a:pt x="0" y="371"/>
                </a:cubicBezTo>
                <a:cubicBezTo>
                  <a:pt x="0" y="347"/>
                  <a:pt x="3" y="322"/>
                  <a:pt x="8" y="299"/>
                </a:cubicBezTo>
                <a:cubicBezTo>
                  <a:pt x="12" y="275"/>
                  <a:pt x="19" y="251"/>
                  <a:pt x="29" y="229"/>
                </a:cubicBezTo>
                <a:cubicBezTo>
                  <a:pt x="38" y="206"/>
                  <a:pt x="49" y="185"/>
                  <a:pt x="63" y="165"/>
                </a:cubicBezTo>
                <a:cubicBezTo>
                  <a:pt x="77" y="144"/>
                  <a:pt x="92" y="126"/>
                  <a:pt x="109" y="108"/>
                </a:cubicBezTo>
                <a:cubicBezTo>
                  <a:pt x="126" y="91"/>
                  <a:pt x="145" y="76"/>
                  <a:pt x="165" y="62"/>
                </a:cubicBezTo>
                <a:cubicBezTo>
                  <a:pt x="186" y="49"/>
                  <a:pt x="207" y="37"/>
                  <a:pt x="230" y="28"/>
                </a:cubicBezTo>
                <a:cubicBezTo>
                  <a:pt x="252" y="19"/>
                  <a:pt x="275" y="12"/>
                  <a:pt x="299" y="7"/>
                </a:cubicBezTo>
                <a:cubicBezTo>
                  <a:pt x="323" y="2"/>
                  <a:pt x="347" y="0"/>
                  <a:pt x="372" y="0"/>
                </a:cubicBezTo>
                <a:cubicBezTo>
                  <a:pt x="396" y="0"/>
                  <a:pt x="420" y="2"/>
                  <a:pt x="444" y="7"/>
                </a:cubicBezTo>
                <a:cubicBezTo>
                  <a:pt x="468" y="12"/>
                  <a:pt x="491" y="19"/>
                  <a:pt x="514" y="28"/>
                </a:cubicBezTo>
                <a:cubicBezTo>
                  <a:pt x="537" y="37"/>
                  <a:pt x="559" y="49"/>
                  <a:pt x="579" y="62"/>
                </a:cubicBezTo>
                <a:cubicBezTo>
                  <a:pt x="599" y="76"/>
                  <a:pt x="618" y="91"/>
                  <a:pt x="635" y="108"/>
                </a:cubicBezTo>
                <a:cubicBezTo>
                  <a:pt x="653" y="126"/>
                  <a:pt x="668" y="144"/>
                  <a:pt x="682" y="165"/>
                </a:cubicBezTo>
                <a:cubicBezTo>
                  <a:pt x="695" y="185"/>
                  <a:pt x="707" y="206"/>
                  <a:pt x="716" y="229"/>
                </a:cubicBezTo>
                <a:cubicBezTo>
                  <a:pt x="725" y="251"/>
                  <a:pt x="732" y="275"/>
                  <a:pt x="737" y="299"/>
                </a:cubicBezTo>
                <a:cubicBezTo>
                  <a:pt x="742" y="322"/>
                  <a:pt x="744" y="347"/>
                  <a:pt x="744" y="371"/>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92" name="テキスト ボックス 191"/>
          <p:cNvSpPr txBox="1"/>
          <p:nvPr/>
        </p:nvSpPr>
        <p:spPr>
          <a:xfrm>
            <a:off x="835560" y="2718360"/>
            <a:ext cx="327708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CuPc</a:t>
            </a:r>
            <a:r>
              <a:rPr lang="zh-CN" sz="1180" b="0" u="none" strike="noStrike">
                <a:solidFill>
                  <a:srgbClr val="000000"/>
                </a:solidFill>
                <a:effectLst/>
                <a:uFillTx/>
                <a:latin typeface="NotoSansJP"/>
                <a:ea typeface="NotoSansJP"/>
              </a:rPr>
              <a:t>内の</a:t>
            </a:r>
            <a:r>
              <a:rPr lang="zh-CN" sz="1180" b="0" u="none" strike="noStrike">
                <a:solidFill>
                  <a:srgbClr val="FF9900"/>
                </a:solidFill>
                <a:effectLst/>
                <a:uFillTx/>
                <a:latin typeface="NotoSansJP"/>
                <a:ea typeface="NotoSansJP"/>
              </a:rPr>
              <a:t>正孔の量が増加</a:t>
            </a:r>
            <a:r>
              <a:rPr lang="zh-CN" sz="1180" b="0" u="none" strike="noStrike">
                <a:solidFill>
                  <a:srgbClr val="000000"/>
                </a:solidFill>
                <a:effectLst/>
                <a:uFillTx/>
                <a:latin typeface="NotoSansJP"/>
                <a:ea typeface="NotoSansJP"/>
              </a:rPr>
              <a:t>し、電気伝導度が変化</a:t>
            </a:r>
            <a:endParaRPr lang="en-US" sz="1180" b="0" u="none" strike="noStrike">
              <a:solidFill>
                <a:srgbClr val="000000"/>
              </a:solidFill>
              <a:effectLst/>
              <a:uFillTx/>
              <a:latin typeface="Times New Roman"/>
            </a:endParaRPr>
          </a:p>
        </p:txBody>
      </p:sp>
      <p:sp>
        <p:nvSpPr>
          <p:cNvPr id="193" name="テキスト ボックス 192"/>
          <p:cNvSpPr txBox="1"/>
          <p:nvPr/>
        </p:nvSpPr>
        <p:spPr>
          <a:xfrm>
            <a:off x="555840" y="3202920"/>
            <a:ext cx="150120" cy="175680"/>
          </a:xfrm>
          <a:prstGeom prst="rect">
            <a:avLst/>
          </a:prstGeom>
          <a:noFill/>
          <a:ln w="0">
            <a:noFill/>
          </a:ln>
        </p:spPr>
        <p:txBody>
          <a:bodyPr wrap="none" lIns="0" tIns="0" rIns="0" bIns="0" anchor="t">
            <a:spAutoFit/>
          </a:bodyPr>
          <a:lstStyle/>
          <a:p>
            <a:r>
              <a:rPr lang="en-US" sz="1180" b="0" u="none" strike="noStrike">
                <a:solidFill>
                  <a:srgbClr val="FFFFFF"/>
                </a:solidFill>
                <a:effectLst/>
                <a:uFillTx/>
                <a:latin typeface="NotoSansJP"/>
                <a:ea typeface="NotoSansJP"/>
              </a:rPr>
              <a:t>4</a:t>
            </a:r>
            <a:endParaRPr lang="en-US" sz="1180" b="0" u="none" strike="noStrike">
              <a:solidFill>
                <a:srgbClr val="000000"/>
              </a:solidFill>
              <a:effectLst/>
              <a:uFillTx/>
              <a:latin typeface="Times New Roman"/>
            </a:endParaRPr>
          </a:p>
        </p:txBody>
      </p:sp>
      <p:sp>
        <p:nvSpPr>
          <p:cNvPr id="194" name="テキスト ボックス 193"/>
          <p:cNvSpPr txBox="1"/>
          <p:nvPr/>
        </p:nvSpPr>
        <p:spPr>
          <a:xfrm>
            <a:off x="835560" y="3152880"/>
            <a:ext cx="342252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この電気特性の変化を測定することで</a:t>
            </a:r>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ガス濃</a:t>
            </a:r>
            <a:endParaRPr lang="en-US" sz="1180" b="0" u="none" strike="noStrike">
              <a:solidFill>
                <a:srgbClr val="000000"/>
              </a:solidFill>
              <a:effectLst/>
              <a:uFillTx/>
              <a:latin typeface="Times New Roman"/>
            </a:endParaRPr>
          </a:p>
        </p:txBody>
      </p:sp>
      <p:sp>
        <p:nvSpPr>
          <p:cNvPr id="195" name="テキスト ボックス 194"/>
          <p:cNvSpPr txBox="1"/>
          <p:nvPr/>
        </p:nvSpPr>
        <p:spPr>
          <a:xfrm>
            <a:off x="835560" y="3386880"/>
            <a:ext cx="6040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度を検知</a:t>
            </a:r>
            <a:endParaRPr lang="en-US" sz="1180" b="0" u="none" strike="noStrike">
              <a:solidFill>
                <a:srgbClr val="000000"/>
              </a:solidFill>
              <a:effectLst/>
              <a:uFillTx/>
              <a:latin typeface="Times New Roman"/>
            </a:endParaRPr>
          </a:p>
        </p:txBody>
      </p:sp>
      <p:sp>
        <p:nvSpPr>
          <p:cNvPr id="196" name="フリーフォーム: 図形 195"/>
          <p:cNvSpPr/>
          <p:nvPr/>
        </p:nvSpPr>
        <p:spPr>
          <a:xfrm>
            <a:off x="609840" y="4295160"/>
            <a:ext cx="50400" cy="50400"/>
          </a:xfrm>
          <a:custGeom>
            <a:avLst/>
            <a:gdLst/>
            <a:ahLst/>
            <a:cxnLst/>
            <a:rect l="0" t="0" r="r" b="b"/>
            <a:pathLst>
              <a:path w="140" h="140">
                <a:moveTo>
                  <a:pt x="140" y="70"/>
                </a:moveTo>
                <a:cubicBezTo>
                  <a:pt x="140" y="79"/>
                  <a:pt x="139" y="88"/>
                  <a:pt x="135" y="97"/>
                </a:cubicBezTo>
                <a:cubicBezTo>
                  <a:pt x="131" y="106"/>
                  <a:pt x="126" y="113"/>
                  <a:pt x="120" y="120"/>
                </a:cubicBezTo>
                <a:cubicBezTo>
                  <a:pt x="113" y="126"/>
                  <a:pt x="106" y="131"/>
                  <a:pt x="97" y="135"/>
                </a:cubicBezTo>
                <a:cubicBezTo>
                  <a:pt x="89" y="139"/>
                  <a:pt x="80" y="140"/>
                  <a:pt x="71" y="140"/>
                </a:cubicBezTo>
                <a:cubicBezTo>
                  <a:pt x="61" y="140"/>
                  <a:pt x="53" y="139"/>
                  <a:pt x="43" y="135"/>
                </a:cubicBezTo>
                <a:cubicBezTo>
                  <a:pt x="35" y="131"/>
                  <a:pt x="27" y="126"/>
                  <a:pt x="20" y="120"/>
                </a:cubicBezTo>
                <a:cubicBezTo>
                  <a:pt x="14" y="113"/>
                  <a:pt x="9" y="106"/>
                  <a:pt x="5" y="97"/>
                </a:cubicBezTo>
                <a:cubicBezTo>
                  <a:pt x="2" y="88"/>
                  <a:pt x="0" y="79"/>
                  <a:pt x="0" y="70"/>
                </a:cubicBezTo>
                <a:cubicBezTo>
                  <a:pt x="0" y="60"/>
                  <a:pt x="2" y="52"/>
                  <a:pt x="5" y="43"/>
                </a:cubicBezTo>
                <a:cubicBezTo>
                  <a:pt x="9" y="34"/>
                  <a:pt x="14" y="27"/>
                  <a:pt x="20" y="20"/>
                </a:cubicBezTo>
                <a:cubicBezTo>
                  <a:pt x="27" y="14"/>
                  <a:pt x="35" y="9"/>
                  <a:pt x="43" y="5"/>
                </a:cubicBezTo>
                <a:cubicBezTo>
                  <a:pt x="53" y="2"/>
                  <a:pt x="61" y="0"/>
                  <a:pt x="71" y="0"/>
                </a:cubicBezTo>
                <a:cubicBezTo>
                  <a:pt x="80" y="0"/>
                  <a:pt x="89" y="2"/>
                  <a:pt x="97" y="5"/>
                </a:cubicBezTo>
                <a:cubicBezTo>
                  <a:pt x="106" y="9"/>
                  <a:pt x="113" y="14"/>
                  <a:pt x="120" y="20"/>
                </a:cubicBezTo>
                <a:cubicBezTo>
                  <a:pt x="126" y="27"/>
                  <a:pt x="131" y="34"/>
                  <a:pt x="135" y="43"/>
                </a:cubicBezTo>
                <a:cubicBezTo>
                  <a:pt x="139" y="52"/>
                  <a:pt x="140" y="60"/>
                  <a:pt x="140" y="70"/>
                </a:cubicBezTo>
                <a:close/>
              </a:path>
            </a:pathLst>
          </a:custGeom>
          <a:solidFill>
            <a:srgbClr val="00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97" name="テキスト ボックス 196"/>
          <p:cNvSpPr txBox="1"/>
          <p:nvPr/>
        </p:nvSpPr>
        <p:spPr>
          <a:xfrm>
            <a:off x="601560" y="3939840"/>
            <a:ext cx="167724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検知メカニズムの特徴</a:t>
            </a:r>
            <a:endParaRPr lang="en-US" sz="1320" b="0" u="none" strike="noStrike">
              <a:solidFill>
                <a:srgbClr val="000000"/>
              </a:solidFill>
              <a:effectLst/>
              <a:uFillTx/>
              <a:latin typeface="Times New Roman"/>
            </a:endParaRPr>
          </a:p>
        </p:txBody>
      </p:sp>
      <p:sp>
        <p:nvSpPr>
          <p:cNvPr id="198" name="フリーフォーム: 図形 197"/>
          <p:cNvSpPr/>
          <p:nvPr/>
        </p:nvSpPr>
        <p:spPr>
          <a:xfrm>
            <a:off x="609840" y="4562640"/>
            <a:ext cx="50400" cy="50400"/>
          </a:xfrm>
          <a:custGeom>
            <a:avLst/>
            <a:gdLst/>
            <a:ahLst/>
            <a:cxnLst/>
            <a:rect l="0" t="0" r="r" b="b"/>
            <a:pathLst>
              <a:path w="140" h="140">
                <a:moveTo>
                  <a:pt x="140" y="70"/>
                </a:moveTo>
                <a:cubicBezTo>
                  <a:pt x="140" y="80"/>
                  <a:pt x="139" y="89"/>
                  <a:pt x="135" y="97"/>
                </a:cubicBezTo>
                <a:cubicBezTo>
                  <a:pt x="131" y="106"/>
                  <a:pt x="126" y="113"/>
                  <a:pt x="120" y="120"/>
                </a:cubicBezTo>
                <a:cubicBezTo>
                  <a:pt x="113" y="126"/>
                  <a:pt x="106" y="131"/>
                  <a:pt x="97" y="135"/>
                </a:cubicBezTo>
                <a:cubicBezTo>
                  <a:pt x="89" y="138"/>
                  <a:pt x="80" y="140"/>
                  <a:pt x="71" y="140"/>
                </a:cubicBezTo>
                <a:cubicBezTo>
                  <a:pt x="61" y="140"/>
                  <a:pt x="53" y="138"/>
                  <a:pt x="43" y="135"/>
                </a:cubicBezTo>
                <a:cubicBezTo>
                  <a:pt x="35" y="131"/>
                  <a:pt x="27" y="126"/>
                  <a:pt x="20" y="120"/>
                </a:cubicBezTo>
                <a:cubicBezTo>
                  <a:pt x="14" y="113"/>
                  <a:pt x="9" y="106"/>
                  <a:pt x="5" y="97"/>
                </a:cubicBezTo>
                <a:cubicBezTo>
                  <a:pt x="2" y="89"/>
                  <a:pt x="0" y="80"/>
                  <a:pt x="0" y="70"/>
                </a:cubicBezTo>
                <a:cubicBezTo>
                  <a:pt x="0" y="61"/>
                  <a:pt x="2" y="52"/>
                  <a:pt x="5" y="43"/>
                </a:cubicBezTo>
                <a:cubicBezTo>
                  <a:pt x="9" y="34"/>
                  <a:pt x="14" y="27"/>
                  <a:pt x="20" y="20"/>
                </a:cubicBezTo>
                <a:cubicBezTo>
                  <a:pt x="27" y="14"/>
                  <a:pt x="35" y="9"/>
                  <a:pt x="43" y="5"/>
                </a:cubicBezTo>
                <a:cubicBezTo>
                  <a:pt x="53" y="2"/>
                  <a:pt x="61" y="0"/>
                  <a:pt x="71" y="0"/>
                </a:cubicBezTo>
                <a:cubicBezTo>
                  <a:pt x="80" y="0"/>
                  <a:pt x="89" y="2"/>
                  <a:pt x="97" y="5"/>
                </a:cubicBezTo>
                <a:cubicBezTo>
                  <a:pt x="106" y="9"/>
                  <a:pt x="113" y="14"/>
                  <a:pt x="120" y="20"/>
                </a:cubicBezTo>
                <a:cubicBezTo>
                  <a:pt x="126" y="27"/>
                  <a:pt x="131" y="34"/>
                  <a:pt x="135" y="43"/>
                </a:cubicBezTo>
                <a:cubicBezTo>
                  <a:pt x="139" y="52"/>
                  <a:pt x="140" y="61"/>
                  <a:pt x="140" y="70"/>
                </a:cubicBezTo>
                <a:close/>
              </a:path>
            </a:pathLst>
          </a:custGeom>
          <a:solidFill>
            <a:srgbClr val="00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99" name="テキスト ボックス 198"/>
          <p:cNvSpPr txBox="1"/>
          <p:nvPr/>
        </p:nvSpPr>
        <p:spPr>
          <a:xfrm>
            <a:off x="768960" y="4246560"/>
            <a:ext cx="300456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CuPc</a:t>
            </a:r>
            <a:r>
              <a:rPr lang="zh-CN" sz="1050" b="0" u="none" strike="noStrike">
                <a:solidFill>
                  <a:srgbClr val="000000"/>
                </a:solidFill>
                <a:effectLst/>
                <a:uFillTx/>
                <a:latin typeface="NotoSansJP"/>
                <a:ea typeface="NotoSansJP"/>
              </a:rPr>
              <a:t>は還元性ガスである</a:t>
            </a:r>
            <a:r>
              <a:rPr lang="en-US" sz="1050" b="0" u="none" strike="noStrike">
                <a:solidFill>
                  <a:srgbClr val="000000"/>
                </a:solidFill>
                <a:effectLst/>
                <a:uFillTx/>
                <a:latin typeface="NotoSansJP"/>
                <a:ea typeface="NotoSansJP"/>
              </a:rPr>
              <a:t>TMA</a:t>
            </a:r>
            <a:r>
              <a:rPr lang="zh-CN" sz="1050" b="0" u="none" strike="noStrike">
                <a:solidFill>
                  <a:srgbClr val="000000"/>
                </a:solidFill>
                <a:effectLst/>
                <a:uFillTx/>
                <a:latin typeface="NotoSansJP"/>
                <a:ea typeface="NotoSansJP"/>
              </a:rPr>
              <a:t>に高い感度を示す</a:t>
            </a:r>
            <a:endParaRPr lang="en-US" sz="1050" b="0" u="none" strike="noStrike">
              <a:solidFill>
                <a:srgbClr val="000000"/>
              </a:solidFill>
              <a:effectLst/>
              <a:uFillTx/>
              <a:latin typeface="Times New Roman"/>
            </a:endParaRPr>
          </a:p>
        </p:txBody>
      </p:sp>
      <p:sp>
        <p:nvSpPr>
          <p:cNvPr id="200" name="フリーフォーム: 図形 199"/>
          <p:cNvSpPr/>
          <p:nvPr/>
        </p:nvSpPr>
        <p:spPr>
          <a:xfrm>
            <a:off x="609840" y="4830120"/>
            <a:ext cx="50400" cy="50400"/>
          </a:xfrm>
          <a:custGeom>
            <a:avLst/>
            <a:gdLst/>
            <a:ahLst/>
            <a:cxnLst/>
            <a:rect l="0" t="0" r="r" b="b"/>
            <a:pathLst>
              <a:path w="140" h="140">
                <a:moveTo>
                  <a:pt x="140" y="69"/>
                </a:moveTo>
                <a:cubicBezTo>
                  <a:pt x="140" y="79"/>
                  <a:pt x="139" y="87"/>
                  <a:pt x="135" y="96"/>
                </a:cubicBezTo>
                <a:cubicBezTo>
                  <a:pt x="131" y="104"/>
                  <a:pt x="126" y="112"/>
                  <a:pt x="120" y="119"/>
                </a:cubicBezTo>
                <a:cubicBezTo>
                  <a:pt x="113" y="125"/>
                  <a:pt x="106" y="130"/>
                  <a:pt x="97" y="134"/>
                </a:cubicBezTo>
                <a:cubicBezTo>
                  <a:pt x="89" y="138"/>
                  <a:pt x="80" y="140"/>
                  <a:pt x="71" y="140"/>
                </a:cubicBezTo>
                <a:cubicBezTo>
                  <a:pt x="61" y="140"/>
                  <a:pt x="53" y="138"/>
                  <a:pt x="43" y="134"/>
                </a:cubicBezTo>
                <a:cubicBezTo>
                  <a:pt x="35" y="130"/>
                  <a:pt x="27" y="125"/>
                  <a:pt x="20" y="119"/>
                </a:cubicBezTo>
                <a:cubicBezTo>
                  <a:pt x="14" y="112"/>
                  <a:pt x="9" y="104"/>
                  <a:pt x="5" y="96"/>
                </a:cubicBezTo>
                <a:cubicBezTo>
                  <a:pt x="2" y="87"/>
                  <a:pt x="0" y="79"/>
                  <a:pt x="0" y="69"/>
                </a:cubicBezTo>
                <a:cubicBezTo>
                  <a:pt x="0" y="60"/>
                  <a:pt x="2" y="51"/>
                  <a:pt x="5" y="43"/>
                </a:cubicBezTo>
                <a:cubicBezTo>
                  <a:pt x="9" y="34"/>
                  <a:pt x="14" y="27"/>
                  <a:pt x="20" y="20"/>
                </a:cubicBezTo>
                <a:cubicBezTo>
                  <a:pt x="27" y="14"/>
                  <a:pt x="35" y="8"/>
                  <a:pt x="43" y="5"/>
                </a:cubicBezTo>
                <a:cubicBezTo>
                  <a:pt x="53" y="1"/>
                  <a:pt x="61" y="0"/>
                  <a:pt x="71" y="0"/>
                </a:cubicBezTo>
                <a:cubicBezTo>
                  <a:pt x="80" y="0"/>
                  <a:pt x="89" y="1"/>
                  <a:pt x="97" y="5"/>
                </a:cubicBezTo>
                <a:cubicBezTo>
                  <a:pt x="106" y="8"/>
                  <a:pt x="113" y="14"/>
                  <a:pt x="120" y="20"/>
                </a:cubicBezTo>
                <a:cubicBezTo>
                  <a:pt x="126" y="27"/>
                  <a:pt x="131" y="34"/>
                  <a:pt x="135" y="43"/>
                </a:cubicBezTo>
                <a:cubicBezTo>
                  <a:pt x="139" y="51"/>
                  <a:pt x="140" y="60"/>
                  <a:pt x="140" y="69"/>
                </a:cubicBezTo>
                <a:close/>
              </a:path>
            </a:pathLst>
          </a:custGeom>
          <a:solidFill>
            <a:srgbClr val="00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01" name="テキスト ボックス 200"/>
          <p:cNvSpPr txBox="1"/>
          <p:nvPr/>
        </p:nvSpPr>
        <p:spPr>
          <a:xfrm>
            <a:off x="768960" y="4514040"/>
            <a:ext cx="25488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ガス濃度に応じた電気抵抗値の変化を測定</a:t>
            </a:r>
            <a:endParaRPr lang="en-US" sz="1050" b="0" u="none" strike="noStrike">
              <a:solidFill>
                <a:srgbClr val="000000"/>
              </a:solidFill>
              <a:effectLst/>
              <a:uFillTx/>
              <a:latin typeface="Times New Roman"/>
            </a:endParaRPr>
          </a:p>
        </p:txBody>
      </p:sp>
      <p:sp>
        <p:nvSpPr>
          <p:cNvPr id="202" name="フリーフォーム: 図形 201"/>
          <p:cNvSpPr/>
          <p:nvPr/>
        </p:nvSpPr>
        <p:spPr>
          <a:xfrm>
            <a:off x="4587480" y="869040"/>
            <a:ext cx="5841720" cy="2206440"/>
          </a:xfrm>
          <a:custGeom>
            <a:avLst/>
            <a:gdLst/>
            <a:ahLst/>
            <a:cxnLst/>
            <a:rect l="0" t="0" r="r" b="b"/>
            <a:pathLst>
              <a:path w="16227" h="6129">
                <a:moveTo>
                  <a:pt x="0" y="5943"/>
                </a:moveTo>
                <a:lnTo>
                  <a:pt x="0" y="185"/>
                </a:lnTo>
                <a:cubicBezTo>
                  <a:pt x="0" y="173"/>
                  <a:pt x="2" y="161"/>
                  <a:pt x="4" y="149"/>
                </a:cubicBezTo>
                <a:cubicBezTo>
                  <a:pt x="6" y="137"/>
                  <a:pt x="10" y="126"/>
                  <a:pt x="15" y="114"/>
                </a:cubicBezTo>
                <a:cubicBezTo>
                  <a:pt x="19" y="103"/>
                  <a:pt x="25" y="92"/>
                  <a:pt x="32" y="82"/>
                </a:cubicBezTo>
                <a:cubicBezTo>
                  <a:pt x="39"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6042" y="0"/>
                </a:lnTo>
                <a:cubicBezTo>
                  <a:pt x="16054" y="0"/>
                  <a:pt x="16066" y="1"/>
                  <a:pt x="16078" y="3"/>
                </a:cubicBezTo>
                <a:cubicBezTo>
                  <a:pt x="16090" y="6"/>
                  <a:pt x="16101" y="9"/>
                  <a:pt x="16113" y="14"/>
                </a:cubicBezTo>
                <a:cubicBezTo>
                  <a:pt x="16124" y="18"/>
                  <a:pt x="16135" y="24"/>
                  <a:pt x="16145" y="31"/>
                </a:cubicBezTo>
                <a:cubicBezTo>
                  <a:pt x="16155" y="38"/>
                  <a:pt x="16164" y="45"/>
                  <a:pt x="16173" y="54"/>
                </a:cubicBezTo>
                <a:cubicBezTo>
                  <a:pt x="16182" y="63"/>
                  <a:pt x="16189" y="72"/>
                  <a:pt x="16196" y="82"/>
                </a:cubicBezTo>
                <a:cubicBezTo>
                  <a:pt x="16203" y="92"/>
                  <a:pt x="16209" y="103"/>
                  <a:pt x="16213" y="114"/>
                </a:cubicBezTo>
                <a:cubicBezTo>
                  <a:pt x="16218" y="126"/>
                  <a:pt x="16221" y="137"/>
                  <a:pt x="16224" y="149"/>
                </a:cubicBezTo>
                <a:cubicBezTo>
                  <a:pt x="16226" y="161"/>
                  <a:pt x="16227" y="173"/>
                  <a:pt x="16227" y="185"/>
                </a:cubicBezTo>
                <a:lnTo>
                  <a:pt x="16227" y="5943"/>
                </a:lnTo>
                <a:cubicBezTo>
                  <a:pt x="16227" y="5955"/>
                  <a:pt x="16226" y="5967"/>
                  <a:pt x="16224" y="5979"/>
                </a:cubicBezTo>
                <a:cubicBezTo>
                  <a:pt x="16221" y="5991"/>
                  <a:pt x="16218" y="6003"/>
                  <a:pt x="16213" y="6014"/>
                </a:cubicBezTo>
                <a:cubicBezTo>
                  <a:pt x="16209" y="6026"/>
                  <a:pt x="16203" y="6036"/>
                  <a:pt x="16196" y="6046"/>
                </a:cubicBezTo>
                <a:cubicBezTo>
                  <a:pt x="16189" y="6057"/>
                  <a:pt x="16182" y="6066"/>
                  <a:pt x="16173" y="6075"/>
                </a:cubicBezTo>
                <a:cubicBezTo>
                  <a:pt x="16164" y="6083"/>
                  <a:pt x="16155" y="6091"/>
                  <a:pt x="16145" y="6098"/>
                </a:cubicBezTo>
                <a:cubicBezTo>
                  <a:pt x="16135" y="6104"/>
                  <a:pt x="16124" y="6110"/>
                  <a:pt x="16113" y="6115"/>
                </a:cubicBezTo>
                <a:cubicBezTo>
                  <a:pt x="16101" y="6119"/>
                  <a:pt x="16090" y="6123"/>
                  <a:pt x="16078" y="6125"/>
                </a:cubicBezTo>
                <a:cubicBezTo>
                  <a:pt x="16066" y="6128"/>
                  <a:pt x="16054" y="6129"/>
                  <a:pt x="16042" y="6129"/>
                </a:cubicBezTo>
                <a:lnTo>
                  <a:pt x="186" y="6129"/>
                </a:lnTo>
                <a:cubicBezTo>
                  <a:pt x="174" y="6129"/>
                  <a:pt x="162" y="6128"/>
                  <a:pt x="150" y="6125"/>
                </a:cubicBezTo>
                <a:cubicBezTo>
                  <a:pt x="138" y="6123"/>
                  <a:pt x="126" y="6119"/>
                  <a:pt x="115" y="6115"/>
                </a:cubicBezTo>
                <a:cubicBezTo>
                  <a:pt x="104" y="6110"/>
                  <a:pt x="93" y="6104"/>
                  <a:pt x="83" y="6098"/>
                </a:cubicBezTo>
                <a:cubicBezTo>
                  <a:pt x="73" y="6091"/>
                  <a:pt x="63" y="6083"/>
                  <a:pt x="55" y="6075"/>
                </a:cubicBezTo>
                <a:cubicBezTo>
                  <a:pt x="46" y="6066"/>
                  <a:pt x="39" y="6057"/>
                  <a:pt x="32" y="6046"/>
                </a:cubicBezTo>
                <a:cubicBezTo>
                  <a:pt x="25" y="6036"/>
                  <a:pt x="19" y="6026"/>
                  <a:pt x="15" y="6014"/>
                </a:cubicBezTo>
                <a:cubicBezTo>
                  <a:pt x="10" y="6003"/>
                  <a:pt x="6" y="5991"/>
                  <a:pt x="4" y="5979"/>
                </a:cubicBezTo>
                <a:cubicBezTo>
                  <a:pt x="2" y="5967"/>
                  <a:pt x="0" y="5955"/>
                  <a:pt x="0" y="5943"/>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03" name="テキスト ボックス 202"/>
          <p:cNvSpPr txBox="1"/>
          <p:nvPr/>
        </p:nvSpPr>
        <p:spPr>
          <a:xfrm>
            <a:off x="768960" y="4781160"/>
            <a:ext cx="250272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低濃度領域</a:t>
            </a:r>
            <a:r>
              <a:rPr lang="en-US" sz="1050" b="0" u="none" strike="noStrike">
                <a:solidFill>
                  <a:srgbClr val="000000"/>
                </a:solidFill>
                <a:effectLst/>
                <a:uFillTx/>
                <a:latin typeface="NotoSansJP"/>
                <a:ea typeface="NotoSansJP"/>
              </a:rPr>
              <a:t>(1.2ppm</a:t>
            </a:r>
            <a:r>
              <a:rPr lang="zh-CN" sz="1050" b="0" u="none" strike="noStrike">
                <a:solidFill>
                  <a:srgbClr val="000000"/>
                </a:solidFill>
                <a:effectLst/>
                <a:uFillTx/>
                <a:latin typeface="NotoSansJP"/>
                <a:ea typeface="NotoSansJP"/>
              </a:rPr>
              <a:t>未満</a:t>
            </a:r>
            <a:r>
              <a:rPr lang="en-US" sz="1050" b="0" u="none" strike="noStrike">
                <a:solidFill>
                  <a:srgbClr val="000000"/>
                </a:solidFill>
                <a:effectLst/>
                <a:uFillTx/>
                <a:latin typeface="NotoSansJP"/>
                <a:ea typeface="NotoSansJP"/>
              </a:rPr>
              <a:t>)</a:t>
            </a:r>
            <a:r>
              <a:rPr lang="zh-CN" sz="1050" b="0" u="none" strike="noStrike">
                <a:solidFill>
                  <a:srgbClr val="000000"/>
                </a:solidFill>
                <a:effectLst/>
                <a:uFillTx/>
                <a:latin typeface="NotoSansJP"/>
                <a:ea typeface="NotoSansJP"/>
              </a:rPr>
              <a:t>でも検知可能</a:t>
            </a:r>
            <a:endParaRPr lang="en-US" sz="1050" b="0" u="none" strike="noStrike">
              <a:solidFill>
                <a:srgbClr val="000000"/>
              </a:solidFill>
              <a:effectLst/>
              <a:uFillTx/>
              <a:latin typeface="Times New Roman"/>
            </a:endParaRPr>
          </a:p>
        </p:txBody>
      </p:sp>
      <p:pic>
        <p:nvPicPr>
          <p:cNvPr id="204" name="図 203"/>
          <p:cNvPicPr/>
          <p:nvPr/>
        </p:nvPicPr>
        <p:blipFill>
          <a:blip r:embed="rId4"/>
          <a:stretch/>
        </p:blipFill>
        <p:spPr>
          <a:xfrm>
            <a:off x="6610320" y="1337040"/>
            <a:ext cx="133200" cy="133200"/>
          </a:xfrm>
          <a:prstGeom prst="rect">
            <a:avLst/>
          </a:prstGeom>
          <a:noFill/>
          <a:ln w="0">
            <a:noFill/>
          </a:ln>
        </p:spPr>
      </p:pic>
      <p:sp>
        <p:nvSpPr>
          <p:cNvPr id="205" name="テキスト ボックス 204"/>
          <p:cNvSpPr txBox="1"/>
          <p:nvPr/>
        </p:nvSpPr>
        <p:spPr>
          <a:xfrm>
            <a:off x="6454080" y="1031400"/>
            <a:ext cx="2246760" cy="244080"/>
          </a:xfrm>
          <a:prstGeom prst="rect">
            <a:avLst/>
          </a:prstGeom>
          <a:noFill/>
          <a:ln w="0">
            <a:noFill/>
          </a:ln>
        </p:spPr>
        <p:txBody>
          <a:bodyPr wrap="none" lIns="0" tIns="0" rIns="0" bIns="0" anchor="t">
            <a:spAutoFit/>
          </a:bodyPr>
          <a:lstStyle/>
          <a:p>
            <a:r>
              <a:rPr lang="en-US" sz="1320" b="0" u="none" strike="noStrike">
                <a:solidFill>
                  <a:srgbClr val="003366"/>
                </a:solidFill>
                <a:effectLst/>
                <a:uFillTx/>
                <a:latin typeface="NotoSansJP"/>
                <a:ea typeface="NotoSansJP"/>
              </a:rPr>
              <a:t>CuPc</a:t>
            </a:r>
            <a:r>
              <a:rPr lang="zh-CN" sz="1320" b="0" u="none" strike="noStrike">
                <a:solidFill>
                  <a:srgbClr val="003366"/>
                </a:solidFill>
                <a:effectLst/>
                <a:uFillTx/>
                <a:latin typeface="NotoSansJP"/>
                <a:ea typeface="NotoSansJP"/>
              </a:rPr>
              <a:t>と</a:t>
            </a:r>
            <a:r>
              <a:rPr lang="en-US" sz="1320" b="0" u="none" strike="noStrike">
                <a:solidFill>
                  <a:srgbClr val="003366"/>
                </a:solidFill>
                <a:effectLst/>
                <a:uFillTx/>
                <a:latin typeface="NotoSansJP"/>
                <a:ea typeface="NotoSansJP"/>
              </a:rPr>
              <a:t>TMA</a:t>
            </a:r>
            <a:r>
              <a:rPr lang="zh-CN" sz="1320" b="0" u="none" strike="noStrike">
                <a:solidFill>
                  <a:srgbClr val="003366"/>
                </a:solidFill>
                <a:effectLst/>
                <a:uFillTx/>
                <a:latin typeface="NotoSansJP"/>
                <a:ea typeface="NotoSansJP"/>
              </a:rPr>
              <a:t>ガスの相互作用</a:t>
            </a:r>
            <a:endParaRPr lang="en-US" sz="1320" b="0" u="none" strike="noStrike">
              <a:solidFill>
                <a:srgbClr val="000000"/>
              </a:solidFill>
              <a:effectLst/>
              <a:uFillTx/>
              <a:latin typeface="Times New Roman"/>
            </a:endParaRPr>
          </a:p>
        </p:txBody>
      </p:sp>
      <p:sp>
        <p:nvSpPr>
          <p:cNvPr id="206" name="テキスト ボックス 205"/>
          <p:cNvSpPr txBox="1"/>
          <p:nvPr/>
        </p:nvSpPr>
        <p:spPr>
          <a:xfrm>
            <a:off x="6742440" y="1371600"/>
            <a:ext cx="179784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CuPc</a:t>
            </a:r>
            <a:r>
              <a:rPr lang="zh-CN" sz="1050" b="0" u="none" strike="noStrike">
                <a:solidFill>
                  <a:srgbClr val="000000"/>
                </a:solidFill>
                <a:effectLst/>
                <a:uFillTx/>
                <a:latin typeface="NotoSansJP"/>
                <a:ea typeface="NotoSansJP"/>
              </a:rPr>
              <a:t>と</a:t>
            </a:r>
            <a:r>
              <a:rPr lang="en-US" sz="1050" b="0" u="none" strike="noStrike">
                <a:solidFill>
                  <a:srgbClr val="000000"/>
                </a:solidFill>
                <a:effectLst/>
                <a:uFillTx/>
                <a:latin typeface="NotoSansJP"/>
                <a:ea typeface="NotoSansJP"/>
              </a:rPr>
              <a:t>TMA</a:t>
            </a:r>
            <a:r>
              <a:rPr lang="zh-CN" sz="1050" b="0" u="none" strike="noStrike">
                <a:solidFill>
                  <a:srgbClr val="000000"/>
                </a:solidFill>
                <a:effectLst/>
                <a:uFillTx/>
                <a:latin typeface="NotoSansJP"/>
                <a:ea typeface="NotoSansJP"/>
              </a:rPr>
              <a:t>ガスの相互作用</a:t>
            </a:r>
            <a:endParaRPr lang="en-US" sz="1050" b="0" u="none" strike="noStrike">
              <a:solidFill>
                <a:srgbClr val="000000"/>
              </a:solidFill>
              <a:effectLst/>
              <a:uFillTx/>
              <a:latin typeface="Times New Roman"/>
            </a:endParaRPr>
          </a:p>
        </p:txBody>
      </p:sp>
      <p:sp>
        <p:nvSpPr>
          <p:cNvPr id="207" name="フリーフォーム: 図形 206"/>
          <p:cNvSpPr/>
          <p:nvPr/>
        </p:nvSpPr>
        <p:spPr>
          <a:xfrm>
            <a:off x="4587480" y="3275640"/>
            <a:ext cx="5841720" cy="2072880"/>
          </a:xfrm>
          <a:custGeom>
            <a:avLst/>
            <a:gdLst/>
            <a:ahLst/>
            <a:cxnLst/>
            <a:rect l="0" t="0" r="r" b="b"/>
            <a:pathLst>
              <a:path w="16227" h="5758">
                <a:moveTo>
                  <a:pt x="0" y="5572"/>
                </a:moveTo>
                <a:lnTo>
                  <a:pt x="0" y="186"/>
                </a:lnTo>
                <a:cubicBezTo>
                  <a:pt x="0" y="174"/>
                  <a:pt x="2" y="161"/>
                  <a:pt x="4" y="149"/>
                </a:cubicBezTo>
                <a:cubicBezTo>
                  <a:pt x="6" y="138"/>
                  <a:pt x="10" y="126"/>
                  <a:pt x="15" y="115"/>
                </a:cubicBezTo>
                <a:cubicBezTo>
                  <a:pt x="19" y="103"/>
                  <a:pt x="25" y="93"/>
                  <a:pt x="32" y="83"/>
                </a:cubicBezTo>
                <a:cubicBezTo>
                  <a:pt x="39" y="72"/>
                  <a:pt x="46" y="63"/>
                  <a:pt x="55" y="54"/>
                </a:cubicBezTo>
                <a:cubicBezTo>
                  <a:pt x="63" y="46"/>
                  <a:pt x="73" y="38"/>
                  <a:pt x="83" y="31"/>
                </a:cubicBezTo>
                <a:cubicBezTo>
                  <a:pt x="93" y="25"/>
                  <a:pt x="104" y="19"/>
                  <a:pt x="115" y="14"/>
                </a:cubicBezTo>
                <a:cubicBezTo>
                  <a:pt x="126" y="9"/>
                  <a:pt x="138" y="6"/>
                  <a:pt x="150" y="4"/>
                </a:cubicBezTo>
                <a:cubicBezTo>
                  <a:pt x="162" y="1"/>
                  <a:pt x="174" y="0"/>
                  <a:pt x="186" y="0"/>
                </a:cubicBezTo>
                <a:lnTo>
                  <a:pt x="16042" y="0"/>
                </a:lnTo>
                <a:cubicBezTo>
                  <a:pt x="16054" y="0"/>
                  <a:pt x="16066" y="1"/>
                  <a:pt x="16078" y="4"/>
                </a:cubicBezTo>
                <a:cubicBezTo>
                  <a:pt x="16090" y="6"/>
                  <a:pt x="16101" y="9"/>
                  <a:pt x="16113" y="14"/>
                </a:cubicBezTo>
                <a:cubicBezTo>
                  <a:pt x="16124" y="19"/>
                  <a:pt x="16135" y="25"/>
                  <a:pt x="16145" y="31"/>
                </a:cubicBezTo>
                <a:cubicBezTo>
                  <a:pt x="16155" y="38"/>
                  <a:pt x="16164" y="46"/>
                  <a:pt x="16173" y="54"/>
                </a:cubicBezTo>
                <a:cubicBezTo>
                  <a:pt x="16182" y="63"/>
                  <a:pt x="16189" y="72"/>
                  <a:pt x="16196" y="83"/>
                </a:cubicBezTo>
                <a:cubicBezTo>
                  <a:pt x="16203" y="93"/>
                  <a:pt x="16209" y="103"/>
                  <a:pt x="16213" y="115"/>
                </a:cubicBezTo>
                <a:cubicBezTo>
                  <a:pt x="16218" y="126"/>
                  <a:pt x="16221" y="138"/>
                  <a:pt x="16224" y="149"/>
                </a:cubicBezTo>
                <a:cubicBezTo>
                  <a:pt x="16226" y="161"/>
                  <a:pt x="16227" y="174"/>
                  <a:pt x="16227" y="186"/>
                </a:cubicBezTo>
                <a:lnTo>
                  <a:pt x="16227" y="5572"/>
                </a:lnTo>
                <a:cubicBezTo>
                  <a:pt x="16227" y="5584"/>
                  <a:pt x="16226" y="5596"/>
                  <a:pt x="16224" y="5608"/>
                </a:cubicBezTo>
                <a:cubicBezTo>
                  <a:pt x="16221" y="5620"/>
                  <a:pt x="16218" y="5632"/>
                  <a:pt x="16213" y="5643"/>
                </a:cubicBezTo>
                <a:cubicBezTo>
                  <a:pt x="16209" y="5654"/>
                  <a:pt x="16203" y="5665"/>
                  <a:pt x="16196" y="5675"/>
                </a:cubicBezTo>
                <a:cubicBezTo>
                  <a:pt x="16189" y="5685"/>
                  <a:pt x="16182" y="5695"/>
                  <a:pt x="16173" y="5703"/>
                </a:cubicBezTo>
                <a:cubicBezTo>
                  <a:pt x="16164" y="5712"/>
                  <a:pt x="16155" y="5720"/>
                  <a:pt x="16145" y="5727"/>
                </a:cubicBezTo>
                <a:cubicBezTo>
                  <a:pt x="16135" y="5733"/>
                  <a:pt x="16124" y="5739"/>
                  <a:pt x="16113" y="5744"/>
                </a:cubicBezTo>
                <a:cubicBezTo>
                  <a:pt x="16101" y="5748"/>
                  <a:pt x="16090" y="5752"/>
                  <a:pt x="16078" y="5754"/>
                </a:cubicBezTo>
                <a:cubicBezTo>
                  <a:pt x="16066" y="5757"/>
                  <a:pt x="16054" y="5758"/>
                  <a:pt x="16042" y="5758"/>
                </a:cubicBezTo>
                <a:lnTo>
                  <a:pt x="186" y="5758"/>
                </a:lnTo>
                <a:cubicBezTo>
                  <a:pt x="174" y="5758"/>
                  <a:pt x="162" y="5757"/>
                  <a:pt x="150" y="5754"/>
                </a:cubicBezTo>
                <a:cubicBezTo>
                  <a:pt x="138" y="5752"/>
                  <a:pt x="126" y="5748"/>
                  <a:pt x="115" y="5744"/>
                </a:cubicBezTo>
                <a:cubicBezTo>
                  <a:pt x="104" y="5739"/>
                  <a:pt x="93" y="5733"/>
                  <a:pt x="83" y="5727"/>
                </a:cubicBezTo>
                <a:cubicBezTo>
                  <a:pt x="73" y="5720"/>
                  <a:pt x="63" y="5712"/>
                  <a:pt x="55" y="5703"/>
                </a:cubicBezTo>
                <a:cubicBezTo>
                  <a:pt x="46" y="5695"/>
                  <a:pt x="39" y="5685"/>
                  <a:pt x="32" y="5675"/>
                </a:cubicBezTo>
                <a:cubicBezTo>
                  <a:pt x="25" y="5665"/>
                  <a:pt x="19" y="5654"/>
                  <a:pt x="15" y="5643"/>
                </a:cubicBezTo>
                <a:cubicBezTo>
                  <a:pt x="10" y="5632"/>
                  <a:pt x="6" y="5620"/>
                  <a:pt x="4" y="5608"/>
                </a:cubicBezTo>
                <a:cubicBezTo>
                  <a:pt x="2" y="5596"/>
                  <a:pt x="0" y="5584"/>
                  <a:pt x="0" y="5572"/>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08" name="テキスト ボックス 207"/>
          <p:cNvSpPr txBox="1"/>
          <p:nvPr/>
        </p:nvSpPr>
        <p:spPr>
          <a:xfrm>
            <a:off x="5823360" y="1696320"/>
            <a:ext cx="3537720" cy="169560"/>
          </a:xfrm>
          <a:prstGeom prst="rect">
            <a:avLst/>
          </a:prstGeom>
          <a:noFill/>
          <a:ln w="0">
            <a:noFill/>
          </a:ln>
        </p:spPr>
        <p:txBody>
          <a:bodyPr wrap="none" lIns="0" tIns="0" rIns="0" bIns="0" anchor="t">
            <a:spAutoFit/>
          </a:bodyPr>
          <a:lstStyle/>
          <a:p>
            <a:r>
              <a:rPr lang="en-US" sz="920" b="0" u="none" strike="noStrike">
                <a:solidFill>
                  <a:srgbClr val="4B5563"/>
                </a:solidFill>
                <a:effectLst/>
                <a:uFillTx/>
                <a:latin typeface="NotoSansJP"/>
                <a:ea typeface="NotoSansJP"/>
              </a:rPr>
              <a:t>Figure A. CuPc</a:t>
            </a:r>
            <a:r>
              <a:rPr lang="zh-CN" sz="920" b="0" u="none" strike="noStrike">
                <a:solidFill>
                  <a:srgbClr val="4B5563"/>
                </a:solidFill>
                <a:effectLst/>
                <a:uFillTx/>
                <a:latin typeface="NotoSansJP"/>
                <a:ea typeface="NotoSansJP"/>
              </a:rPr>
              <a:t>が</a:t>
            </a:r>
            <a:r>
              <a:rPr lang="en-US" sz="920" b="0" u="none" strike="noStrike">
                <a:solidFill>
                  <a:srgbClr val="4B5563"/>
                </a:solidFill>
                <a:effectLst/>
                <a:uFillTx/>
                <a:latin typeface="NotoSansJP"/>
                <a:ea typeface="NotoSansJP"/>
              </a:rPr>
              <a:t>TMA</a:t>
            </a:r>
            <a:r>
              <a:rPr lang="zh-CN" sz="920" b="0" u="none" strike="noStrike">
                <a:solidFill>
                  <a:srgbClr val="4B5563"/>
                </a:solidFill>
                <a:effectLst/>
                <a:uFillTx/>
                <a:latin typeface="NotoSansJP"/>
                <a:ea typeface="NotoSansJP"/>
              </a:rPr>
              <a:t>ガスに暴露された際の電子移動メカニズム</a:t>
            </a:r>
            <a:endParaRPr lang="en-US" sz="920" b="0" u="none" strike="noStrike">
              <a:solidFill>
                <a:srgbClr val="000000"/>
              </a:solidFill>
              <a:effectLst/>
              <a:uFillTx/>
              <a:latin typeface="Times New Roman"/>
            </a:endParaRPr>
          </a:p>
        </p:txBody>
      </p:sp>
      <p:sp>
        <p:nvSpPr>
          <p:cNvPr id="209" name="テキスト ボックス 208"/>
          <p:cNvSpPr txBox="1"/>
          <p:nvPr/>
        </p:nvSpPr>
        <p:spPr>
          <a:xfrm>
            <a:off x="4718520" y="3438360"/>
            <a:ext cx="117432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電気特性の変化</a:t>
            </a:r>
            <a:endParaRPr lang="en-US" sz="1320" b="0" u="none" strike="noStrike">
              <a:solidFill>
                <a:srgbClr val="000000"/>
              </a:solidFill>
              <a:effectLst/>
              <a:uFillTx/>
              <a:latin typeface="Times New Roman"/>
            </a:endParaRPr>
          </a:p>
        </p:txBody>
      </p:sp>
      <p:pic>
        <p:nvPicPr>
          <p:cNvPr id="210" name="図 209"/>
          <p:cNvPicPr/>
          <p:nvPr/>
        </p:nvPicPr>
        <p:blipFill>
          <a:blip r:embed="rId5"/>
          <a:stretch/>
        </p:blipFill>
        <p:spPr>
          <a:xfrm>
            <a:off x="5799600" y="4128120"/>
            <a:ext cx="150120" cy="166680"/>
          </a:xfrm>
          <a:prstGeom prst="rect">
            <a:avLst/>
          </a:prstGeom>
          <a:noFill/>
          <a:ln w="0">
            <a:noFill/>
          </a:ln>
        </p:spPr>
      </p:pic>
      <p:sp>
        <p:nvSpPr>
          <p:cNvPr id="211" name="テキスト ボックス 210"/>
          <p:cNvSpPr txBox="1"/>
          <p:nvPr/>
        </p:nvSpPr>
        <p:spPr>
          <a:xfrm>
            <a:off x="4967640" y="4514040"/>
            <a:ext cx="334080" cy="15732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CuPc</a:t>
            </a:r>
            <a:endParaRPr lang="en-US" sz="1050" b="0" u="none" strike="noStrike">
              <a:solidFill>
                <a:srgbClr val="000000"/>
              </a:solidFill>
              <a:effectLst/>
              <a:uFillTx/>
              <a:latin typeface="Times New Roman"/>
            </a:endParaRPr>
          </a:p>
        </p:txBody>
      </p:sp>
      <p:pic>
        <p:nvPicPr>
          <p:cNvPr id="212" name="図 211"/>
          <p:cNvPicPr/>
          <p:nvPr/>
        </p:nvPicPr>
        <p:blipFill>
          <a:blip r:embed="rId6"/>
          <a:stretch/>
        </p:blipFill>
        <p:spPr>
          <a:xfrm>
            <a:off x="7295400" y="4128120"/>
            <a:ext cx="150120" cy="166680"/>
          </a:xfrm>
          <a:prstGeom prst="rect">
            <a:avLst/>
          </a:prstGeom>
          <a:noFill/>
          <a:ln w="0">
            <a:noFill/>
          </a:ln>
        </p:spPr>
      </p:pic>
      <p:sp>
        <p:nvSpPr>
          <p:cNvPr id="213" name="テキスト ボックス 212"/>
          <p:cNvSpPr txBox="1"/>
          <p:nvPr/>
        </p:nvSpPr>
        <p:spPr>
          <a:xfrm>
            <a:off x="6352560" y="4514040"/>
            <a:ext cx="58968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TMA</a:t>
            </a:r>
            <a:r>
              <a:rPr lang="zh-CN" sz="1050" b="0" u="none" strike="noStrike">
                <a:solidFill>
                  <a:srgbClr val="000000"/>
                </a:solidFill>
                <a:effectLst/>
                <a:uFillTx/>
                <a:latin typeface="NotoSansJP"/>
                <a:ea typeface="NotoSansJP"/>
              </a:rPr>
              <a:t>ガス</a:t>
            </a:r>
            <a:endParaRPr lang="en-US" sz="1050" b="0" u="none" strike="noStrike">
              <a:solidFill>
                <a:srgbClr val="000000"/>
              </a:solidFill>
              <a:effectLst/>
              <a:uFillTx/>
              <a:latin typeface="Times New Roman"/>
            </a:endParaRPr>
          </a:p>
        </p:txBody>
      </p:sp>
      <p:pic>
        <p:nvPicPr>
          <p:cNvPr id="214" name="図 213"/>
          <p:cNvPicPr/>
          <p:nvPr/>
        </p:nvPicPr>
        <p:blipFill>
          <a:blip r:embed="rId7"/>
          <a:stretch/>
        </p:blipFill>
        <p:spPr>
          <a:xfrm>
            <a:off x="8799480" y="4128120"/>
            <a:ext cx="150120" cy="166680"/>
          </a:xfrm>
          <a:prstGeom prst="rect">
            <a:avLst/>
          </a:prstGeom>
          <a:noFill/>
          <a:ln w="0">
            <a:noFill/>
          </a:ln>
        </p:spPr>
      </p:pic>
      <p:sp>
        <p:nvSpPr>
          <p:cNvPr id="215" name="フリーフォーム: 図形 214"/>
          <p:cNvSpPr/>
          <p:nvPr/>
        </p:nvSpPr>
        <p:spPr>
          <a:xfrm>
            <a:off x="9417960" y="3743640"/>
            <a:ext cx="668880" cy="668880"/>
          </a:xfrm>
          <a:custGeom>
            <a:avLst/>
            <a:gdLst/>
            <a:ahLst/>
            <a:cxnLst/>
            <a:rect l="0" t="0" r="r" b="b"/>
            <a:pathLst>
              <a:path w="1858" h="1858">
                <a:moveTo>
                  <a:pt x="0" y="1765"/>
                </a:moveTo>
                <a:lnTo>
                  <a:pt x="0" y="93"/>
                </a:lnTo>
                <a:cubicBezTo>
                  <a:pt x="0" y="80"/>
                  <a:pt x="2" y="69"/>
                  <a:pt x="7" y="57"/>
                </a:cubicBezTo>
                <a:cubicBezTo>
                  <a:pt x="11" y="46"/>
                  <a:pt x="18" y="36"/>
                  <a:pt x="27" y="27"/>
                </a:cubicBezTo>
                <a:cubicBezTo>
                  <a:pt x="36" y="18"/>
                  <a:pt x="46" y="12"/>
                  <a:pt x="57" y="7"/>
                </a:cubicBezTo>
                <a:cubicBezTo>
                  <a:pt x="68" y="2"/>
                  <a:pt x="80" y="0"/>
                  <a:pt x="92" y="0"/>
                </a:cubicBezTo>
                <a:lnTo>
                  <a:pt x="1765" y="0"/>
                </a:lnTo>
                <a:cubicBezTo>
                  <a:pt x="1777" y="0"/>
                  <a:pt x="1789" y="2"/>
                  <a:pt x="1800" y="7"/>
                </a:cubicBezTo>
                <a:cubicBezTo>
                  <a:pt x="1812" y="12"/>
                  <a:pt x="1822" y="18"/>
                  <a:pt x="1830" y="27"/>
                </a:cubicBezTo>
                <a:cubicBezTo>
                  <a:pt x="1839" y="36"/>
                  <a:pt x="1846" y="46"/>
                  <a:pt x="1851" y="57"/>
                </a:cubicBezTo>
                <a:cubicBezTo>
                  <a:pt x="1855" y="69"/>
                  <a:pt x="1858" y="80"/>
                  <a:pt x="1858" y="93"/>
                </a:cubicBezTo>
                <a:lnTo>
                  <a:pt x="1858" y="1765"/>
                </a:lnTo>
                <a:cubicBezTo>
                  <a:pt x="1858" y="1777"/>
                  <a:pt x="1855" y="1789"/>
                  <a:pt x="1851" y="1801"/>
                </a:cubicBezTo>
                <a:cubicBezTo>
                  <a:pt x="1846" y="1812"/>
                  <a:pt x="1839" y="1822"/>
                  <a:pt x="1830" y="1831"/>
                </a:cubicBezTo>
                <a:cubicBezTo>
                  <a:pt x="1822" y="1840"/>
                  <a:pt x="1812" y="1846"/>
                  <a:pt x="1800" y="1851"/>
                </a:cubicBezTo>
                <a:cubicBezTo>
                  <a:pt x="1789" y="1856"/>
                  <a:pt x="1777" y="1858"/>
                  <a:pt x="1765" y="1858"/>
                </a:cubicBezTo>
                <a:lnTo>
                  <a:pt x="92" y="1858"/>
                </a:lnTo>
                <a:cubicBezTo>
                  <a:pt x="80" y="1858"/>
                  <a:pt x="68" y="1856"/>
                  <a:pt x="57" y="1851"/>
                </a:cubicBezTo>
                <a:cubicBezTo>
                  <a:pt x="46" y="1846"/>
                  <a:pt x="36" y="1840"/>
                  <a:pt x="27" y="1831"/>
                </a:cubicBezTo>
                <a:cubicBezTo>
                  <a:pt x="18" y="1822"/>
                  <a:pt x="11" y="1812"/>
                  <a:pt x="7" y="1801"/>
                </a:cubicBezTo>
                <a:cubicBezTo>
                  <a:pt x="2" y="1789"/>
                  <a:pt x="0" y="1777"/>
                  <a:pt x="0" y="1765"/>
                </a:cubicBezTo>
                <a:close/>
              </a:path>
            </a:pathLst>
          </a:custGeom>
          <a:solidFill>
            <a:srgbClr val="FEE2E2"/>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16" name="図 215"/>
          <p:cNvPicPr/>
          <p:nvPr/>
        </p:nvPicPr>
        <p:blipFill>
          <a:blip r:embed="rId8"/>
          <a:stretch/>
        </p:blipFill>
        <p:spPr>
          <a:xfrm>
            <a:off x="9660240" y="3952800"/>
            <a:ext cx="191880" cy="250200"/>
          </a:xfrm>
          <a:prstGeom prst="rect">
            <a:avLst/>
          </a:prstGeom>
          <a:noFill/>
          <a:ln w="0">
            <a:noFill/>
          </a:ln>
        </p:spPr>
      </p:pic>
      <p:sp>
        <p:nvSpPr>
          <p:cNvPr id="217" name="テキスト ボックス 216"/>
          <p:cNvSpPr txBox="1"/>
          <p:nvPr/>
        </p:nvSpPr>
        <p:spPr>
          <a:xfrm>
            <a:off x="7854480" y="4514040"/>
            <a:ext cx="53712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正孔増加</a:t>
            </a:r>
            <a:endParaRPr lang="en-US" sz="1050" b="0" u="none" strike="noStrike">
              <a:solidFill>
                <a:srgbClr val="000000"/>
              </a:solidFill>
              <a:effectLst/>
              <a:uFillTx/>
              <a:latin typeface="Times New Roman"/>
            </a:endParaRPr>
          </a:p>
        </p:txBody>
      </p:sp>
      <p:sp>
        <p:nvSpPr>
          <p:cNvPr id="218" name="フリーフォーム: 図形 217"/>
          <p:cNvSpPr/>
          <p:nvPr/>
        </p:nvSpPr>
        <p:spPr>
          <a:xfrm>
            <a:off x="5799240" y="4880160"/>
            <a:ext cx="3418200" cy="334440"/>
          </a:xfrm>
          <a:custGeom>
            <a:avLst/>
            <a:gdLst/>
            <a:ahLst/>
            <a:cxnLst/>
            <a:rect l="0" t="0" r="r" b="b"/>
            <a:pathLst>
              <a:path w="9495" h="929">
                <a:moveTo>
                  <a:pt x="0" y="743"/>
                </a:moveTo>
                <a:lnTo>
                  <a:pt x="0" y="186"/>
                </a:lnTo>
                <a:cubicBezTo>
                  <a:pt x="0" y="173"/>
                  <a:pt x="2" y="161"/>
                  <a:pt x="4" y="149"/>
                </a:cubicBezTo>
                <a:cubicBezTo>
                  <a:pt x="6" y="137"/>
                  <a:pt x="10" y="126"/>
                  <a:pt x="14" y="115"/>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9310" y="0"/>
                </a:lnTo>
                <a:cubicBezTo>
                  <a:pt x="9322" y="0"/>
                  <a:pt x="9334" y="1"/>
                  <a:pt x="9346" y="3"/>
                </a:cubicBezTo>
                <a:cubicBezTo>
                  <a:pt x="9358" y="6"/>
                  <a:pt x="9370" y="9"/>
                  <a:pt x="9381" y="14"/>
                </a:cubicBezTo>
                <a:cubicBezTo>
                  <a:pt x="9392" y="19"/>
                  <a:pt x="9403" y="24"/>
                  <a:pt x="9413" y="31"/>
                </a:cubicBezTo>
                <a:cubicBezTo>
                  <a:pt x="9423" y="38"/>
                  <a:pt x="9432" y="46"/>
                  <a:pt x="9441" y="54"/>
                </a:cubicBezTo>
                <a:cubicBezTo>
                  <a:pt x="9450" y="63"/>
                  <a:pt x="9457" y="72"/>
                  <a:pt x="9464" y="82"/>
                </a:cubicBezTo>
                <a:cubicBezTo>
                  <a:pt x="9471" y="93"/>
                  <a:pt x="9477" y="103"/>
                  <a:pt x="9481" y="115"/>
                </a:cubicBezTo>
                <a:cubicBezTo>
                  <a:pt x="9486" y="126"/>
                  <a:pt x="9490" y="137"/>
                  <a:pt x="9492" y="149"/>
                </a:cubicBezTo>
                <a:cubicBezTo>
                  <a:pt x="9494" y="161"/>
                  <a:pt x="9495" y="173"/>
                  <a:pt x="9495" y="186"/>
                </a:cubicBezTo>
                <a:lnTo>
                  <a:pt x="9495" y="743"/>
                </a:lnTo>
                <a:cubicBezTo>
                  <a:pt x="9495" y="755"/>
                  <a:pt x="9494" y="767"/>
                  <a:pt x="9492" y="779"/>
                </a:cubicBezTo>
                <a:cubicBezTo>
                  <a:pt x="9490" y="791"/>
                  <a:pt x="9486" y="803"/>
                  <a:pt x="9481" y="814"/>
                </a:cubicBezTo>
                <a:cubicBezTo>
                  <a:pt x="9477" y="825"/>
                  <a:pt x="9471" y="837"/>
                  <a:pt x="9464" y="847"/>
                </a:cubicBezTo>
                <a:cubicBezTo>
                  <a:pt x="9457" y="857"/>
                  <a:pt x="9450" y="866"/>
                  <a:pt x="9441" y="875"/>
                </a:cubicBezTo>
                <a:cubicBezTo>
                  <a:pt x="9432" y="884"/>
                  <a:pt x="9423" y="891"/>
                  <a:pt x="9413" y="898"/>
                </a:cubicBezTo>
                <a:cubicBezTo>
                  <a:pt x="9403" y="905"/>
                  <a:pt x="9392" y="911"/>
                  <a:pt x="9381" y="915"/>
                </a:cubicBezTo>
                <a:cubicBezTo>
                  <a:pt x="9370" y="920"/>
                  <a:pt x="9358" y="923"/>
                  <a:pt x="9346" y="926"/>
                </a:cubicBezTo>
                <a:cubicBezTo>
                  <a:pt x="9334" y="928"/>
                  <a:pt x="9322" y="929"/>
                  <a:pt x="9310" y="929"/>
                </a:cubicBezTo>
                <a:lnTo>
                  <a:pt x="186" y="929"/>
                </a:lnTo>
                <a:cubicBezTo>
                  <a:pt x="174" y="929"/>
                  <a:pt x="162" y="928"/>
                  <a:pt x="150" y="926"/>
                </a:cubicBezTo>
                <a:cubicBezTo>
                  <a:pt x="138" y="923"/>
                  <a:pt x="126" y="920"/>
                  <a:pt x="115" y="915"/>
                </a:cubicBezTo>
                <a:cubicBezTo>
                  <a:pt x="104" y="911"/>
                  <a:pt x="93" y="905"/>
                  <a:pt x="83" y="898"/>
                </a:cubicBezTo>
                <a:cubicBezTo>
                  <a:pt x="73" y="891"/>
                  <a:pt x="63" y="884"/>
                  <a:pt x="55" y="875"/>
                </a:cubicBezTo>
                <a:cubicBezTo>
                  <a:pt x="46" y="866"/>
                  <a:pt x="38" y="857"/>
                  <a:pt x="32" y="847"/>
                </a:cubicBezTo>
                <a:cubicBezTo>
                  <a:pt x="25" y="837"/>
                  <a:pt x="19" y="825"/>
                  <a:pt x="14" y="814"/>
                </a:cubicBezTo>
                <a:cubicBezTo>
                  <a:pt x="10" y="803"/>
                  <a:pt x="6" y="791"/>
                  <a:pt x="4" y="779"/>
                </a:cubicBezTo>
                <a:cubicBezTo>
                  <a:pt x="2" y="767"/>
                  <a:pt x="0" y="755"/>
                  <a:pt x="0" y="743"/>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219" name="図 218"/>
          <p:cNvPicPr/>
          <p:nvPr/>
        </p:nvPicPr>
        <p:blipFill>
          <a:blip r:embed="rId9"/>
          <a:stretch/>
        </p:blipFill>
        <p:spPr>
          <a:xfrm>
            <a:off x="5933160" y="4988880"/>
            <a:ext cx="100080" cy="133200"/>
          </a:xfrm>
          <a:prstGeom prst="rect">
            <a:avLst/>
          </a:prstGeom>
          <a:noFill/>
          <a:ln w="0">
            <a:noFill/>
          </a:ln>
        </p:spPr>
      </p:pic>
      <p:sp>
        <p:nvSpPr>
          <p:cNvPr id="220" name="テキスト ボックス 219"/>
          <p:cNvSpPr txBox="1"/>
          <p:nvPr/>
        </p:nvSpPr>
        <p:spPr>
          <a:xfrm>
            <a:off x="9285120" y="4514040"/>
            <a:ext cx="9396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電気伝導度変化</a:t>
            </a:r>
            <a:endParaRPr lang="en-US" sz="1050" b="0" u="none" strike="noStrike">
              <a:solidFill>
                <a:srgbClr val="000000"/>
              </a:solidFill>
              <a:effectLst/>
              <a:uFillTx/>
              <a:latin typeface="Times New Roman"/>
            </a:endParaRPr>
          </a:p>
        </p:txBody>
      </p:sp>
      <p:sp>
        <p:nvSpPr>
          <p:cNvPr id="221" name="フリーフォーム: 図形 220"/>
          <p:cNvSpPr/>
          <p:nvPr/>
        </p:nvSpPr>
        <p:spPr>
          <a:xfrm>
            <a:off x="4796640" y="3751920"/>
            <a:ext cx="651960" cy="652320"/>
          </a:xfrm>
          <a:custGeom>
            <a:avLst/>
            <a:gdLst/>
            <a:ahLst/>
            <a:cxnLst/>
            <a:rect l="0" t="0" r="r" b="b"/>
            <a:pathLst>
              <a:path w="1811" h="1812">
                <a:moveTo>
                  <a:pt x="1811" y="905"/>
                </a:moveTo>
                <a:cubicBezTo>
                  <a:pt x="1811" y="935"/>
                  <a:pt x="1810" y="965"/>
                  <a:pt x="1807" y="994"/>
                </a:cubicBezTo>
                <a:cubicBezTo>
                  <a:pt x="1804" y="1024"/>
                  <a:pt x="1800" y="1053"/>
                  <a:pt x="1794" y="1082"/>
                </a:cubicBezTo>
                <a:cubicBezTo>
                  <a:pt x="1788" y="1111"/>
                  <a:pt x="1781" y="1140"/>
                  <a:pt x="1772" y="1168"/>
                </a:cubicBezTo>
                <a:cubicBezTo>
                  <a:pt x="1764" y="1197"/>
                  <a:pt x="1754" y="1225"/>
                  <a:pt x="1742" y="1252"/>
                </a:cubicBezTo>
                <a:cubicBezTo>
                  <a:pt x="1731" y="1279"/>
                  <a:pt x="1718" y="1306"/>
                  <a:pt x="1705" y="1332"/>
                </a:cubicBezTo>
                <a:cubicBezTo>
                  <a:pt x="1691" y="1359"/>
                  <a:pt x="1675" y="1385"/>
                  <a:pt x="1659" y="1409"/>
                </a:cubicBezTo>
                <a:cubicBezTo>
                  <a:pt x="1642" y="1434"/>
                  <a:pt x="1625" y="1458"/>
                  <a:pt x="1606" y="1481"/>
                </a:cubicBezTo>
                <a:cubicBezTo>
                  <a:pt x="1587" y="1504"/>
                  <a:pt x="1567" y="1526"/>
                  <a:pt x="1546" y="1547"/>
                </a:cubicBezTo>
                <a:cubicBezTo>
                  <a:pt x="1525" y="1568"/>
                  <a:pt x="1503" y="1587"/>
                  <a:pt x="1480" y="1606"/>
                </a:cubicBezTo>
                <a:cubicBezTo>
                  <a:pt x="1458" y="1625"/>
                  <a:pt x="1434" y="1643"/>
                  <a:pt x="1409" y="1659"/>
                </a:cubicBezTo>
                <a:cubicBezTo>
                  <a:pt x="1384" y="1676"/>
                  <a:pt x="1359" y="1691"/>
                  <a:pt x="1333" y="1705"/>
                </a:cubicBezTo>
                <a:cubicBezTo>
                  <a:pt x="1307" y="1719"/>
                  <a:pt x="1280" y="1732"/>
                  <a:pt x="1253" y="1743"/>
                </a:cubicBezTo>
                <a:cubicBezTo>
                  <a:pt x="1225" y="1754"/>
                  <a:pt x="1197" y="1764"/>
                  <a:pt x="1169" y="1773"/>
                </a:cubicBezTo>
                <a:cubicBezTo>
                  <a:pt x="1141" y="1781"/>
                  <a:pt x="1112" y="1789"/>
                  <a:pt x="1083" y="1794"/>
                </a:cubicBezTo>
                <a:cubicBezTo>
                  <a:pt x="1054" y="1800"/>
                  <a:pt x="1024" y="1805"/>
                  <a:pt x="995" y="1807"/>
                </a:cubicBezTo>
                <a:cubicBezTo>
                  <a:pt x="965" y="1810"/>
                  <a:pt x="936" y="1812"/>
                  <a:pt x="906" y="1812"/>
                </a:cubicBezTo>
                <a:cubicBezTo>
                  <a:pt x="876" y="1812"/>
                  <a:pt x="847" y="1810"/>
                  <a:pt x="817" y="1807"/>
                </a:cubicBezTo>
                <a:cubicBezTo>
                  <a:pt x="788" y="1805"/>
                  <a:pt x="759" y="1800"/>
                  <a:pt x="729" y="1794"/>
                </a:cubicBezTo>
                <a:cubicBezTo>
                  <a:pt x="700" y="1789"/>
                  <a:pt x="672" y="1781"/>
                  <a:pt x="643" y="1773"/>
                </a:cubicBezTo>
                <a:cubicBezTo>
                  <a:pt x="615" y="1764"/>
                  <a:pt x="587" y="1754"/>
                  <a:pt x="560" y="1743"/>
                </a:cubicBezTo>
                <a:cubicBezTo>
                  <a:pt x="532" y="1732"/>
                  <a:pt x="505" y="1719"/>
                  <a:pt x="479" y="1705"/>
                </a:cubicBezTo>
                <a:cubicBezTo>
                  <a:pt x="453" y="1691"/>
                  <a:pt x="428" y="1676"/>
                  <a:pt x="403" y="1659"/>
                </a:cubicBezTo>
                <a:cubicBezTo>
                  <a:pt x="378" y="1643"/>
                  <a:pt x="355" y="1625"/>
                  <a:pt x="332" y="1606"/>
                </a:cubicBezTo>
                <a:cubicBezTo>
                  <a:pt x="309" y="1587"/>
                  <a:pt x="287" y="1568"/>
                  <a:pt x="266" y="1547"/>
                </a:cubicBezTo>
                <a:cubicBezTo>
                  <a:pt x="244" y="1526"/>
                  <a:pt x="224" y="1504"/>
                  <a:pt x="205" y="1481"/>
                </a:cubicBezTo>
                <a:cubicBezTo>
                  <a:pt x="186" y="1458"/>
                  <a:pt x="169" y="1434"/>
                  <a:pt x="152" y="1409"/>
                </a:cubicBezTo>
                <a:cubicBezTo>
                  <a:pt x="136" y="1385"/>
                  <a:pt x="121" y="1359"/>
                  <a:pt x="107" y="1332"/>
                </a:cubicBezTo>
                <a:cubicBezTo>
                  <a:pt x="93" y="1306"/>
                  <a:pt x="80" y="1279"/>
                  <a:pt x="69" y="1252"/>
                </a:cubicBezTo>
                <a:cubicBezTo>
                  <a:pt x="57" y="1225"/>
                  <a:pt x="47" y="1197"/>
                  <a:pt x="39" y="1168"/>
                </a:cubicBezTo>
                <a:cubicBezTo>
                  <a:pt x="30" y="1140"/>
                  <a:pt x="23" y="1111"/>
                  <a:pt x="17" y="1082"/>
                </a:cubicBezTo>
                <a:cubicBezTo>
                  <a:pt x="11" y="1053"/>
                  <a:pt x="7" y="1024"/>
                  <a:pt x="4" y="994"/>
                </a:cubicBezTo>
                <a:cubicBezTo>
                  <a:pt x="1" y="965"/>
                  <a:pt x="0" y="935"/>
                  <a:pt x="0" y="905"/>
                </a:cubicBezTo>
                <a:cubicBezTo>
                  <a:pt x="0" y="876"/>
                  <a:pt x="1" y="846"/>
                  <a:pt x="4" y="817"/>
                </a:cubicBezTo>
                <a:cubicBezTo>
                  <a:pt x="7" y="787"/>
                  <a:pt x="11" y="758"/>
                  <a:pt x="17" y="729"/>
                </a:cubicBezTo>
                <a:cubicBezTo>
                  <a:pt x="23" y="700"/>
                  <a:pt x="30" y="671"/>
                  <a:pt x="39" y="643"/>
                </a:cubicBezTo>
                <a:cubicBezTo>
                  <a:pt x="47" y="614"/>
                  <a:pt x="57" y="586"/>
                  <a:pt x="69" y="559"/>
                </a:cubicBezTo>
                <a:cubicBezTo>
                  <a:pt x="80" y="532"/>
                  <a:pt x="93" y="505"/>
                  <a:pt x="107" y="479"/>
                </a:cubicBezTo>
                <a:cubicBezTo>
                  <a:pt x="121" y="453"/>
                  <a:pt x="136" y="427"/>
                  <a:pt x="152" y="403"/>
                </a:cubicBezTo>
                <a:cubicBezTo>
                  <a:pt x="169" y="378"/>
                  <a:pt x="186" y="354"/>
                  <a:pt x="205" y="331"/>
                </a:cubicBezTo>
                <a:cubicBezTo>
                  <a:pt x="224" y="308"/>
                  <a:pt x="244" y="286"/>
                  <a:pt x="266" y="265"/>
                </a:cubicBezTo>
                <a:cubicBezTo>
                  <a:pt x="287" y="244"/>
                  <a:pt x="309" y="224"/>
                  <a:pt x="332" y="206"/>
                </a:cubicBezTo>
                <a:cubicBezTo>
                  <a:pt x="355" y="187"/>
                  <a:pt x="378" y="169"/>
                  <a:pt x="403" y="153"/>
                </a:cubicBezTo>
                <a:cubicBezTo>
                  <a:pt x="428" y="136"/>
                  <a:pt x="453" y="121"/>
                  <a:pt x="479" y="107"/>
                </a:cubicBezTo>
                <a:cubicBezTo>
                  <a:pt x="505" y="93"/>
                  <a:pt x="532" y="80"/>
                  <a:pt x="560" y="69"/>
                </a:cubicBezTo>
                <a:cubicBezTo>
                  <a:pt x="587" y="58"/>
                  <a:pt x="615" y="48"/>
                  <a:pt x="643" y="39"/>
                </a:cubicBezTo>
                <a:cubicBezTo>
                  <a:pt x="672" y="31"/>
                  <a:pt x="700" y="23"/>
                  <a:pt x="729" y="18"/>
                </a:cubicBezTo>
                <a:cubicBezTo>
                  <a:pt x="759" y="12"/>
                  <a:pt x="788" y="7"/>
                  <a:pt x="817" y="5"/>
                </a:cubicBezTo>
                <a:cubicBezTo>
                  <a:pt x="847" y="2"/>
                  <a:pt x="876" y="0"/>
                  <a:pt x="906" y="0"/>
                </a:cubicBezTo>
                <a:cubicBezTo>
                  <a:pt x="936" y="0"/>
                  <a:pt x="965" y="2"/>
                  <a:pt x="995" y="5"/>
                </a:cubicBezTo>
                <a:cubicBezTo>
                  <a:pt x="1024" y="7"/>
                  <a:pt x="1054" y="12"/>
                  <a:pt x="1083" y="18"/>
                </a:cubicBezTo>
                <a:cubicBezTo>
                  <a:pt x="1112" y="23"/>
                  <a:pt x="1141" y="31"/>
                  <a:pt x="1169" y="39"/>
                </a:cubicBezTo>
                <a:cubicBezTo>
                  <a:pt x="1197" y="48"/>
                  <a:pt x="1225" y="58"/>
                  <a:pt x="1253" y="69"/>
                </a:cubicBezTo>
                <a:cubicBezTo>
                  <a:pt x="1280" y="80"/>
                  <a:pt x="1307" y="93"/>
                  <a:pt x="1333" y="107"/>
                </a:cubicBezTo>
                <a:cubicBezTo>
                  <a:pt x="1359" y="121"/>
                  <a:pt x="1384" y="136"/>
                  <a:pt x="1409" y="153"/>
                </a:cubicBezTo>
                <a:cubicBezTo>
                  <a:pt x="1434" y="169"/>
                  <a:pt x="1458" y="187"/>
                  <a:pt x="1480" y="206"/>
                </a:cubicBezTo>
                <a:cubicBezTo>
                  <a:pt x="1503" y="224"/>
                  <a:pt x="1525" y="244"/>
                  <a:pt x="1546" y="265"/>
                </a:cubicBezTo>
                <a:cubicBezTo>
                  <a:pt x="1567" y="286"/>
                  <a:pt x="1587" y="308"/>
                  <a:pt x="1606" y="331"/>
                </a:cubicBezTo>
                <a:cubicBezTo>
                  <a:pt x="1625" y="354"/>
                  <a:pt x="1642" y="378"/>
                  <a:pt x="1659" y="403"/>
                </a:cubicBezTo>
                <a:cubicBezTo>
                  <a:pt x="1675" y="427"/>
                  <a:pt x="1691" y="453"/>
                  <a:pt x="1705" y="479"/>
                </a:cubicBezTo>
                <a:cubicBezTo>
                  <a:pt x="1718" y="505"/>
                  <a:pt x="1731" y="532"/>
                  <a:pt x="1742" y="559"/>
                </a:cubicBezTo>
                <a:cubicBezTo>
                  <a:pt x="1754" y="586"/>
                  <a:pt x="1764" y="614"/>
                  <a:pt x="1772" y="643"/>
                </a:cubicBezTo>
                <a:cubicBezTo>
                  <a:pt x="1781" y="671"/>
                  <a:pt x="1788" y="700"/>
                  <a:pt x="1794" y="729"/>
                </a:cubicBezTo>
                <a:cubicBezTo>
                  <a:pt x="1800" y="758"/>
                  <a:pt x="1804" y="787"/>
                  <a:pt x="1807" y="817"/>
                </a:cubicBezTo>
                <a:cubicBezTo>
                  <a:pt x="1810" y="846"/>
                  <a:pt x="1811" y="876"/>
                  <a:pt x="1811" y="905"/>
                </a:cubicBezTo>
                <a:close/>
              </a:path>
            </a:pathLst>
          </a:custGeom>
          <a:solidFill>
            <a:srgbClr val="DBEAFE"/>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22" name="フリーフォーム: 図形 221"/>
          <p:cNvSpPr/>
          <p:nvPr/>
        </p:nvSpPr>
        <p:spPr>
          <a:xfrm>
            <a:off x="4796640" y="3751920"/>
            <a:ext cx="651960" cy="652320"/>
          </a:xfrm>
          <a:custGeom>
            <a:avLst/>
            <a:gdLst/>
            <a:ahLst/>
            <a:cxnLst/>
            <a:rect l="0" t="0" r="r" b="b"/>
            <a:pathLst>
              <a:path w="1811" h="1812" fill="none">
                <a:moveTo>
                  <a:pt x="1811" y="905"/>
                </a:moveTo>
                <a:cubicBezTo>
                  <a:pt x="1811" y="935"/>
                  <a:pt x="1810" y="965"/>
                  <a:pt x="1807" y="994"/>
                </a:cubicBezTo>
                <a:cubicBezTo>
                  <a:pt x="1804" y="1024"/>
                  <a:pt x="1800" y="1053"/>
                  <a:pt x="1794" y="1082"/>
                </a:cubicBezTo>
                <a:cubicBezTo>
                  <a:pt x="1788" y="1111"/>
                  <a:pt x="1781" y="1140"/>
                  <a:pt x="1772" y="1168"/>
                </a:cubicBezTo>
                <a:cubicBezTo>
                  <a:pt x="1764" y="1197"/>
                  <a:pt x="1754" y="1225"/>
                  <a:pt x="1742" y="1252"/>
                </a:cubicBezTo>
                <a:cubicBezTo>
                  <a:pt x="1731" y="1279"/>
                  <a:pt x="1718" y="1306"/>
                  <a:pt x="1705" y="1332"/>
                </a:cubicBezTo>
                <a:cubicBezTo>
                  <a:pt x="1691" y="1359"/>
                  <a:pt x="1675" y="1385"/>
                  <a:pt x="1659" y="1409"/>
                </a:cubicBezTo>
                <a:cubicBezTo>
                  <a:pt x="1642" y="1434"/>
                  <a:pt x="1625" y="1458"/>
                  <a:pt x="1606" y="1481"/>
                </a:cubicBezTo>
                <a:cubicBezTo>
                  <a:pt x="1587" y="1504"/>
                  <a:pt x="1567" y="1526"/>
                  <a:pt x="1546" y="1547"/>
                </a:cubicBezTo>
                <a:cubicBezTo>
                  <a:pt x="1525" y="1568"/>
                  <a:pt x="1503" y="1587"/>
                  <a:pt x="1480" y="1606"/>
                </a:cubicBezTo>
                <a:cubicBezTo>
                  <a:pt x="1458" y="1625"/>
                  <a:pt x="1434" y="1643"/>
                  <a:pt x="1409" y="1659"/>
                </a:cubicBezTo>
                <a:cubicBezTo>
                  <a:pt x="1384" y="1676"/>
                  <a:pt x="1359" y="1691"/>
                  <a:pt x="1333" y="1705"/>
                </a:cubicBezTo>
                <a:cubicBezTo>
                  <a:pt x="1307" y="1719"/>
                  <a:pt x="1280" y="1732"/>
                  <a:pt x="1253" y="1743"/>
                </a:cubicBezTo>
                <a:cubicBezTo>
                  <a:pt x="1225" y="1754"/>
                  <a:pt x="1197" y="1764"/>
                  <a:pt x="1169" y="1773"/>
                </a:cubicBezTo>
                <a:cubicBezTo>
                  <a:pt x="1141" y="1781"/>
                  <a:pt x="1112" y="1789"/>
                  <a:pt x="1083" y="1794"/>
                </a:cubicBezTo>
                <a:cubicBezTo>
                  <a:pt x="1054" y="1800"/>
                  <a:pt x="1024" y="1805"/>
                  <a:pt x="995" y="1807"/>
                </a:cubicBezTo>
                <a:cubicBezTo>
                  <a:pt x="965" y="1810"/>
                  <a:pt x="936" y="1812"/>
                  <a:pt x="906" y="1812"/>
                </a:cubicBezTo>
                <a:cubicBezTo>
                  <a:pt x="876" y="1812"/>
                  <a:pt x="847" y="1810"/>
                  <a:pt x="817" y="1807"/>
                </a:cubicBezTo>
                <a:cubicBezTo>
                  <a:pt x="788" y="1805"/>
                  <a:pt x="759" y="1800"/>
                  <a:pt x="729" y="1794"/>
                </a:cubicBezTo>
                <a:cubicBezTo>
                  <a:pt x="700" y="1789"/>
                  <a:pt x="672" y="1781"/>
                  <a:pt x="643" y="1773"/>
                </a:cubicBezTo>
                <a:cubicBezTo>
                  <a:pt x="615" y="1764"/>
                  <a:pt x="587" y="1754"/>
                  <a:pt x="560" y="1743"/>
                </a:cubicBezTo>
                <a:cubicBezTo>
                  <a:pt x="532" y="1732"/>
                  <a:pt x="505" y="1719"/>
                  <a:pt x="479" y="1705"/>
                </a:cubicBezTo>
                <a:cubicBezTo>
                  <a:pt x="453" y="1691"/>
                  <a:pt x="428" y="1676"/>
                  <a:pt x="403" y="1659"/>
                </a:cubicBezTo>
                <a:cubicBezTo>
                  <a:pt x="378" y="1643"/>
                  <a:pt x="355" y="1625"/>
                  <a:pt x="332" y="1606"/>
                </a:cubicBezTo>
                <a:cubicBezTo>
                  <a:pt x="309" y="1587"/>
                  <a:pt x="287" y="1568"/>
                  <a:pt x="266" y="1547"/>
                </a:cubicBezTo>
                <a:cubicBezTo>
                  <a:pt x="244" y="1526"/>
                  <a:pt x="224" y="1504"/>
                  <a:pt x="205" y="1481"/>
                </a:cubicBezTo>
                <a:cubicBezTo>
                  <a:pt x="186" y="1458"/>
                  <a:pt x="169" y="1434"/>
                  <a:pt x="152" y="1409"/>
                </a:cubicBezTo>
                <a:cubicBezTo>
                  <a:pt x="136" y="1385"/>
                  <a:pt x="121" y="1359"/>
                  <a:pt x="107" y="1332"/>
                </a:cubicBezTo>
                <a:cubicBezTo>
                  <a:pt x="93" y="1306"/>
                  <a:pt x="80" y="1279"/>
                  <a:pt x="69" y="1252"/>
                </a:cubicBezTo>
                <a:cubicBezTo>
                  <a:pt x="57" y="1225"/>
                  <a:pt x="47" y="1197"/>
                  <a:pt x="39" y="1168"/>
                </a:cubicBezTo>
                <a:cubicBezTo>
                  <a:pt x="30" y="1140"/>
                  <a:pt x="23" y="1111"/>
                  <a:pt x="17" y="1082"/>
                </a:cubicBezTo>
                <a:cubicBezTo>
                  <a:pt x="11" y="1053"/>
                  <a:pt x="7" y="1024"/>
                  <a:pt x="4" y="994"/>
                </a:cubicBezTo>
                <a:cubicBezTo>
                  <a:pt x="1" y="965"/>
                  <a:pt x="0" y="935"/>
                  <a:pt x="0" y="905"/>
                </a:cubicBezTo>
                <a:cubicBezTo>
                  <a:pt x="0" y="876"/>
                  <a:pt x="1" y="846"/>
                  <a:pt x="4" y="817"/>
                </a:cubicBezTo>
                <a:cubicBezTo>
                  <a:pt x="7" y="787"/>
                  <a:pt x="11" y="758"/>
                  <a:pt x="17" y="729"/>
                </a:cubicBezTo>
                <a:cubicBezTo>
                  <a:pt x="23" y="700"/>
                  <a:pt x="30" y="671"/>
                  <a:pt x="39" y="643"/>
                </a:cubicBezTo>
                <a:cubicBezTo>
                  <a:pt x="47" y="614"/>
                  <a:pt x="57" y="586"/>
                  <a:pt x="69" y="559"/>
                </a:cubicBezTo>
                <a:cubicBezTo>
                  <a:pt x="80" y="532"/>
                  <a:pt x="93" y="505"/>
                  <a:pt x="107" y="479"/>
                </a:cubicBezTo>
                <a:cubicBezTo>
                  <a:pt x="121" y="453"/>
                  <a:pt x="136" y="427"/>
                  <a:pt x="152" y="403"/>
                </a:cubicBezTo>
                <a:cubicBezTo>
                  <a:pt x="169" y="378"/>
                  <a:pt x="186" y="354"/>
                  <a:pt x="205" y="331"/>
                </a:cubicBezTo>
                <a:cubicBezTo>
                  <a:pt x="224" y="308"/>
                  <a:pt x="244" y="286"/>
                  <a:pt x="266" y="265"/>
                </a:cubicBezTo>
                <a:cubicBezTo>
                  <a:pt x="287" y="244"/>
                  <a:pt x="309" y="224"/>
                  <a:pt x="332" y="206"/>
                </a:cubicBezTo>
                <a:cubicBezTo>
                  <a:pt x="355" y="187"/>
                  <a:pt x="378" y="169"/>
                  <a:pt x="403" y="153"/>
                </a:cubicBezTo>
                <a:cubicBezTo>
                  <a:pt x="428" y="136"/>
                  <a:pt x="453" y="121"/>
                  <a:pt x="479" y="107"/>
                </a:cubicBezTo>
                <a:cubicBezTo>
                  <a:pt x="505" y="93"/>
                  <a:pt x="532" y="80"/>
                  <a:pt x="560" y="69"/>
                </a:cubicBezTo>
                <a:cubicBezTo>
                  <a:pt x="587" y="58"/>
                  <a:pt x="615" y="48"/>
                  <a:pt x="643" y="39"/>
                </a:cubicBezTo>
                <a:cubicBezTo>
                  <a:pt x="672" y="31"/>
                  <a:pt x="700" y="23"/>
                  <a:pt x="729" y="18"/>
                </a:cubicBezTo>
                <a:cubicBezTo>
                  <a:pt x="759" y="12"/>
                  <a:pt x="788" y="7"/>
                  <a:pt x="817" y="5"/>
                </a:cubicBezTo>
                <a:cubicBezTo>
                  <a:pt x="847" y="2"/>
                  <a:pt x="876" y="0"/>
                  <a:pt x="906" y="0"/>
                </a:cubicBezTo>
                <a:cubicBezTo>
                  <a:pt x="936" y="0"/>
                  <a:pt x="965" y="2"/>
                  <a:pt x="995" y="5"/>
                </a:cubicBezTo>
                <a:cubicBezTo>
                  <a:pt x="1024" y="7"/>
                  <a:pt x="1054" y="12"/>
                  <a:pt x="1083" y="18"/>
                </a:cubicBezTo>
                <a:cubicBezTo>
                  <a:pt x="1112" y="23"/>
                  <a:pt x="1141" y="31"/>
                  <a:pt x="1169" y="39"/>
                </a:cubicBezTo>
                <a:cubicBezTo>
                  <a:pt x="1197" y="48"/>
                  <a:pt x="1225" y="58"/>
                  <a:pt x="1253" y="69"/>
                </a:cubicBezTo>
                <a:cubicBezTo>
                  <a:pt x="1280" y="80"/>
                  <a:pt x="1307" y="93"/>
                  <a:pt x="1333" y="107"/>
                </a:cubicBezTo>
                <a:cubicBezTo>
                  <a:pt x="1359" y="121"/>
                  <a:pt x="1384" y="136"/>
                  <a:pt x="1409" y="153"/>
                </a:cubicBezTo>
                <a:cubicBezTo>
                  <a:pt x="1434" y="169"/>
                  <a:pt x="1458" y="187"/>
                  <a:pt x="1480" y="206"/>
                </a:cubicBezTo>
                <a:cubicBezTo>
                  <a:pt x="1503" y="224"/>
                  <a:pt x="1525" y="244"/>
                  <a:pt x="1546" y="265"/>
                </a:cubicBezTo>
                <a:cubicBezTo>
                  <a:pt x="1567" y="286"/>
                  <a:pt x="1587" y="308"/>
                  <a:pt x="1606" y="331"/>
                </a:cubicBezTo>
                <a:cubicBezTo>
                  <a:pt x="1625" y="354"/>
                  <a:pt x="1642" y="378"/>
                  <a:pt x="1659" y="403"/>
                </a:cubicBezTo>
                <a:cubicBezTo>
                  <a:pt x="1675" y="427"/>
                  <a:pt x="1691" y="453"/>
                  <a:pt x="1705" y="479"/>
                </a:cubicBezTo>
                <a:cubicBezTo>
                  <a:pt x="1718" y="505"/>
                  <a:pt x="1731" y="532"/>
                  <a:pt x="1742" y="559"/>
                </a:cubicBezTo>
                <a:cubicBezTo>
                  <a:pt x="1754" y="586"/>
                  <a:pt x="1764" y="614"/>
                  <a:pt x="1772" y="643"/>
                </a:cubicBezTo>
                <a:cubicBezTo>
                  <a:pt x="1781" y="671"/>
                  <a:pt x="1788" y="700"/>
                  <a:pt x="1794" y="729"/>
                </a:cubicBezTo>
                <a:cubicBezTo>
                  <a:pt x="1800" y="758"/>
                  <a:pt x="1804" y="787"/>
                  <a:pt x="1807" y="817"/>
                </a:cubicBezTo>
                <a:cubicBezTo>
                  <a:pt x="1810" y="846"/>
                  <a:pt x="1811" y="876"/>
                  <a:pt x="1811" y="905"/>
                </a:cubicBezTo>
              </a:path>
            </a:pathLst>
          </a:custGeom>
          <a:ln w="16560">
            <a:solidFill>
              <a:srgbClr val="003366"/>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223" name="図 222"/>
          <p:cNvPicPr/>
          <p:nvPr/>
        </p:nvPicPr>
        <p:blipFill>
          <a:blip r:embed="rId10"/>
          <a:stretch/>
        </p:blipFill>
        <p:spPr>
          <a:xfrm>
            <a:off x="4997160" y="3952800"/>
            <a:ext cx="250200" cy="250200"/>
          </a:xfrm>
          <a:prstGeom prst="rect">
            <a:avLst/>
          </a:prstGeom>
          <a:noFill/>
          <a:ln w="0">
            <a:noFill/>
          </a:ln>
        </p:spPr>
      </p:pic>
      <p:sp>
        <p:nvSpPr>
          <p:cNvPr id="224" name="フリーフォーム: 図形 223"/>
          <p:cNvSpPr/>
          <p:nvPr/>
        </p:nvSpPr>
        <p:spPr>
          <a:xfrm>
            <a:off x="6300720" y="3751920"/>
            <a:ext cx="652320" cy="652320"/>
          </a:xfrm>
          <a:custGeom>
            <a:avLst/>
            <a:gdLst/>
            <a:ahLst/>
            <a:cxnLst/>
            <a:rect l="0" t="0" r="r" b="b"/>
            <a:pathLst>
              <a:path w="1812" h="1812">
                <a:moveTo>
                  <a:pt x="1812" y="905"/>
                </a:moveTo>
                <a:cubicBezTo>
                  <a:pt x="1812" y="935"/>
                  <a:pt x="1810" y="965"/>
                  <a:pt x="1807" y="994"/>
                </a:cubicBezTo>
                <a:cubicBezTo>
                  <a:pt x="1804" y="1024"/>
                  <a:pt x="1800" y="1053"/>
                  <a:pt x="1794" y="1082"/>
                </a:cubicBezTo>
                <a:cubicBezTo>
                  <a:pt x="1789" y="1111"/>
                  <a:pt x="1781" y="1140"/>
                  <a:pt x="1773" y="1168"/>
                </a:cubicBezTo>
                <a:cubicBezTo>
                  <a:pt x="1764" y="1197"/>
                  <a:pt x="1754" y="1225"/>
                  <a:pt x="1743" y="1252"/>
                </a:cubicBezTo>
                <a:cubicBezTo>
                  <a:pt x="1732" y="1279"/>
                  <a:pt x="1719" y="1306"/>
                  <a:pt x="1705" y="1332"/>
                </a:cubicBezTo>
                <a:cubicBezTo>
                  <a:pt x="1691" y="1359"/>
                  <a:pt x="1676" y="1385"/>
                  <a:pt x="1659" y="1409"/>
                </a:cubicBezTo>
                <a:cubicBezTo>
                  <a:pt x="1643" y="1434"/>
                  <a:pt x="1625" y="1458"/>
                  <a:pt x="1606" y="1481"/>
                </a:cubicBezTo>
                <a:cubicBezTo>
                  <a:pt x="1587" y="1504"/>
                  <a:pt x="1568" y="1526"/>
                  <a:pt x="1547" y="1547"/>
                </a:cubicBezTo>
                <a:cubicBezTo>
                  <a:pt x="1526" y="1568"/>
                  <a:pt x="1503" y="1587"/>
                  <a:pt x="1480" y="1606"/>
                </a:cubicBezTo>
                <a:cubicBezTo>
                  <a:pt x="1457" y="1625"/>
                  <a:pt x="1433" y="1643"/>
                  <a:pt x="1408" y="1659"/>
                </a:cubicBezTo>
                <a:cubicBezTo>
                  <a:pt x="1384" y="1676"/>
                  <a:pt x="1358" y="1691"/>
                  <a:pt x="1332" y="1705"/>
                </a:cubicBezTo>
                <a:cubicBezTo>
                  <a:pt x="1306" y="1719"/>
                  <a:pt x="1279" y="1732"/>
                  <a:pt x="1252" y="1743"/>
                </a:cubicBezTo>
                <a:cubicBezTo>
                  <a:pt x="1225" y="1754"/>
                  <a:pt x="1197" y="1764"/>
                  <a:pt x="1168" y="1773"/>
                </a:cubicBezTo>
                <a:cubicBezTo>
                  <a:pt x="1140" y="1781"/>
                  <a:pt x="1111" y="1789"/>
                  <a:pt x="1082" y="1794"/>
                </a:cubicBezTo>
                <a:cubicBezTo>
                  <a:pt x="1053" y="1800"/>
                  <a:pt x="1024" y="1805"/>
                  <a:pt x="994" y="1807"/>
                </a:cubicBezTo>
                <a:cubicBezTo>
                  <a:pt x="965" y="1810"/>
                  <a:pt x="935" y="1812"/>
                  <a:pt x="905" y="1812"/>
                </a:cubicBezTo>
                <a:cubicBezTo>
                  <a:pt x="876" y="1812"/>
                  <a:pt x="846" y="1810"/>
                  <a:pt x="817" y="1807"/>
                </a:cubicBezTo>
                <a:cubicBezTo>
                  <a:pt x="787" y="1805"/>
                  <a:pt x="758" y="1800"/>
                  <a:pt x="729" y="1794"/>
                </a:cubicBezTo>
                <a:cubicBezTo>
                  <a:pt x="700" y="1789"/>
                  <a:pt x="671" y="1781"/>
                  <a:pt x="643" y="1773"/>
                </a:cubicBezTo>
                <a:cubicBezTo>
                  <a:pt x="614" y="1764"/>
                  <a:pt x="586" y="1754"/>
                  <a:pt x="559" y="1743"/>
                </a:cubicBezTo>
                <a:cubicBezTo>
                  <a:pt x="532" y="1732"/>
                  <a:pt x="505" y="1719"/>
                  <a:pt x="479" y="1705"/>
                </a:cubicBezTo>
                <a:cubicBezTo>
                  <a:pt x="453" y="1691"/>
                  <a:pt x="427" y="1676"/>
                  <a:pt x="402" y="1659"/>
                </a:cubicBezTo>
                <a:cubicBezTo>
                  <a:pt x="378" y="1643"/>
                  <a:pt x="354" y="1625"/>
                  <a:pt x="331" y="1606"/>
                </a:cubicBezTo>
                <a:cubicBezTo>
                  <a:pt x="308" y="1587"/>
                  <a:pt x="286" y="1568"/>
                  <a:pt x="265" y="1547"/>
                </a:cubicBezTo>
                <a:cubicBezTo>
                  <a:pt x="244" y="1526"/>
                  <a:pt x="224" y="1504"/>
                  <a:pt x="206" y="1481"/>
                </a:cubicBezTo>
                <a:cubicBezTo>
                  <a:pt x="187" y="1458"/>
                  <a:pt x="169" y="1434"/>
                  <a:pt x="153" y="1409"/>
                </a:cubicBezTo>
                <a:cubicBezTo>
                  <a:pt x="136" y="1385"/>
                  <a:pt x="121" y="1359"/>
                  <a:pt x="107" y="1332"/>
                </a:cubicBezTo>
                <a:cubicBezTo>
                  <a:pt x="93" y="1306"/>
                  <a:pt x="80" y="1279"/>
                  <a:pt x="69" y="1252"/>
                </a:cubicBezTo>
                <a:cubicBezTo>
                  <a:pt x="58" y="1225"/>
                  <a:pt x="48" y="1197"/>
                  <a:pt x="39" y="1168"/>
                </a:cubicBezTo>
                <a:cubicBezTo>
                  <a:pt x="31" y="1140"/>
                  <a:pt x="23" y="1111"/>
                  <a:pt x="18" y="1082"/>
                </a:cubicBezTo>
                <a:cubicBezTo>
                  <a:pt x="12" y="1053"/>
                  <a:pt x="7" y="1024"/>
                  <a:pt x="5" y="994"/>
                </a:cubicBezTo>
                <a:cubicBezTo>
                  <a:pt x="2" y="965"/>
                  <a:pt x="0" y="935"/>
                  <a:pt x="0" y="905"/>
                </a:cubicBezTo>
                <a:cubicBezTo>
                  <a:pt x="0" y="876"/>
                  <a:pt x="2" y="846"/>
                  <a:pt x="5" y="817"/>
                </a:cubicBezTo>
                <a:cubicBezTo>
                  <a:pt x="7" y="787"/>
                  <a:pt x="12" y="758"/>
                  <a:pt x="18" y="729"/>
                </a:cubicBezTo>
                <a:cubicBezTo>
                  <a:pt x="23" y="700"/>
                  <a:pt x="31" y="671"/>
                  <a:pt x="39" y="643"/>
                </a:cubicBezTo>
                <a:cubicBezTo>
                  <a:pt x="48" y="614"/>
                  <a:pt x="58" y="586"/>
                  <a:pt x="69" y="559"/>
                </a:cubicBezTo>
                <a:cubicBezTo>
                  <a:pt x="80" y="532"/>
                  <a:pt x="93" y="505"/>
                  <a:pt x="107" y="479"/>
                </a:cubicBezTo>
                <a:cubicBezTo>
                  <a:pt x="121" y="453"/>
                  <a:pt x="136" y="427"/>
                  <a:pt x="153" y="403"/>
                </a:cubicBezTo>
                <a:cubicBezTo>
                  <a:pt x="169" y="378"/>
                  <a:pt x="187" y="354"/>
                  <a:pt x="206" y="331"/>
                </a:cubicBezTo>
                <a:cubicBezTo>
                  <a:pt x="224" y="308"/>
                  <a:pt x="244" y="286"/>
                  <a:pt x="265" y="265"/>
                </a:cubicBezTo>
                <a:cubicBezTo>
                  <a:pt x="286" y="244"/>
                  <a:pt x="308" y="224"/>
                  <a:pt x="331" y="206"/>
                </a:cubicBezTo>
                <a:cubicBezTo>
                  <a:pt x="354" y="187"/>
                  <a:pt x="378" y="169"/>
                  <a:pt x="402" y="153"/>
                </a:cubicBezTo>
                <a:cubicBezTo>
                  <a:pt x="427" y="136"/>
                  <a:pt x="453" y="121"/>
                  <a:pt x="479" y="107"/>
                </a:cubicBezTo>
                <a:cubicBezTo>
                  <a:pt x="505" y="93"/>
                  <a:pt x="532" y="80"/>
                  <a:pt x="559" y="69"/>
                </a:cubicBezTo>
                <a:cubicBezTo>
                  <a:pt x="586" y="58"/>
                  <a:pt x="614" y="48"/>
                  <a:pt x="643" y="39"/>
                </a:cubicBezTo>
                <a:cubicBezTo>
                  <a:pt x="671" y="31"/>
                  <a:pt x="700" y="23"/>
                  <a:pt x="729" y="18"/>
                </a:cubicBezTo>
                <a:cubicBezTo>
                  <a:pt x="758" y="12"/>
                  <a:pt x="787" y="7"/>
                  <a:pt x="817" y="5"/>
                </a:cubicBezTo>
                <a:cubicBezTo>
                  <a:pt x="846" y="2"/>
                  <a:pt x="876" y="0"/>
                  <a:pt x="905" y="0"/>
                </a:cubicBezTo>
                <a:cubicBezTo>
                  <a:pt x="935" y="0"/>
                  <a:pt x="965" y="2"/>
                  <a:pt x="994" y="5"/>
                </a:cubicBezTo>
                <a:cubicBezTo>
                  <a:pt x="1024" y="7"/>
                  <a:pt x="1053" y="12"/>
                  <a:pt x="1082" y="18"/>
                </a:cubicBezTo>
                <a:cubicBezTo>
                  <a:pt x="1111" y="23"/>
                  <a:pt x="1140" y="31"/>
                  <a:pt x="1168" y="39"/>
                </a:cubicBezTo>
                <a:cubicBezTo>
                  <a:pt x="1197" y="48"/>
                  <a:pt x="1225" y="58"/>
                  <a:pt x="1252" y="69"/>
                </a:cubicBezTo>
                <a:cubicBezTo>
                  <a:pt x="1279" y="80"/>
                  <a:pt x="1306" y="93"/>
                  <a:pt x="1332" y="107"/>
                </a:cubicBezTo>
                <a:cubicBezTo>
                  <a:pt x="1358" y="121"/>
                  <a:pt x="1384" y="136"/>
                  <a:pt x="1408" y="153"/>
                </a:cubicBezTo>
                <a:cubicBezTo>
                  <a:pt x="1433" y="169"/>
                  <a:pt x="1457" y="187"/>
                  <a:pt x="1480" y="206"/>
                </a:cubicBezTo>
                <a:cubicBezTo>
                  <a:pt x="1503" y="224"/>
                  <a:pt x="1526" y="244"/>
                  <a:pt x="1547" y="265"/>
                </a:cubicBezTo>
                <a:cubicBezTo>
                  <a:pt x="1568" y="286"/>
                  <a:pt x="1587" y="308"/>
                  <a:pt x="1606" y="331"/>
                </a:cubicBezTo>
                <a:cubicBezTo>
                  <a:pt x="1625" y="354"/>
                  <a:pt x="1643" y="378"/>
                  <a:pt x="1659" y="403"/>
                </a:cubicBezTo>
                <a:cubicBezTo>
                  <a:pt x="1676" y="427"/>
                  <a:pt x="1691" y="453"/>
                  <a:pt x="1705" y="479"/>
                </a:cubicBezTo>
                <a:cubicBezTo>
                  <a:pt x="1719" y="505"/>
                  <a:pt x="1732" y="532"/>
                  <a:pt x="1743" y="559"/>
                </a:cubicBezTo>
                <a:cubicBezTo>
                  <a:pt x="1754" y="586"/>
                  <a:pt x="1764" y="614"/>
                  <a:pt x="1773" y="643"/>
                </a:cubicBezTo>
                <a:cubicBezTo>
                  <a:pt x="1781" y="671"/>
                  <a:pt x="1789" y="700"/>
                  <a:pt x="1794" y="729"/>
                </a:cubicBezTo>
                <a:cubicBezTo>
                  <a:pt x="1800" y="758"/>
                  <a:pt x="1804" y="787"/>
                  <a:pt x="1807" y="817"/>
                </a:cubicBezTo>
                <a:cubicBezTo>
                  <a:pt x="1810" y="846"/>
                  <a:pt x="1812" y="876"/>
                  <a:pt x="1812" y="905"/>
                </a:cubicBezTo>
                <a:close/>
              </a:path>
            </a:pathLst>
          </a:custGeom>
          <a:solidFill>
            <a:srgbClr val="D1FAE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25" name="フリーフォーム: 図形 224"/>
          <p:cNvSpPr/>
          <p:nvPr/>
        </p:nvSpPr>
        <p:spPr>
          <a:xfrm>
            <a:off x="6300720" y="3751920"/>
            <a:ext cx="652320" cy="652320"/>
          </a:xfrm>
          <a:custGeom>
            <a:avLst/>
            <a:gdLst/>
            <a:ahLst/>
            <a:cxnLst/>
            <a:rect l="0" t="0" r="r" b="b"/>
            <a:pathLst>
              <a:path w="1812" h="1812" fill="none">
                <a:moveTo>
                  <a:pt x="1812" y="905"/>
                </a:moveTo>
                <a:cubicBezTo>
                  <a:pt x="1812" y="935"/>
                  <a:pt x="1810" y="965"/>
                  <a:pt x="1807" y="994"/>
                </a:cubicBezTo>
                <a:cubicBezTo>
                  <a:pt x="1804" y="1024"/>
                  <a:pt x="1800" y="1053"/>
                  <a:pt x="1794" y="1082"/>
                </a:cubicBezTo>
                <a:cubicBezTo>
                  <a:pt x="1789" y="1111"/>
                  <a:pt x="1781" y="1140"/>
                  <a:pt x="1773" y="1168"/>
                </a:cubicBezTo>
                <a:cubicBezTo>
                  <a:pt x="1764" y="1197"/>
                  <a:pt x="1754" y="1225"/>
                  <a:pt x="1743" y="1252"/>
                </a:cubicBezTo>
                <a:cubicBezTo>
                  <a:pt x="1732" y="1279"/>
                  <a:pt x="1719" y="1306"/>
                  <a:pt x="1705" y="1332"/>
                </a:cubicBezTo>
                <a:cubicBezTo>
                  <a:pt x="1691" y="1359"/>
                  <a:pt x="1676" y="1385"/>
                  <a:pt x="1659" y="1409"/>
                </a:cubicBezTo>
                <a:cubicBezTo>
                  <a:pt x="1643" y="1434"/>
                  <a:pt x="1625" y="1458"/>
                  <a:pt x="1606" y="1481"/>
                </a:cubicBezTo>
                <a:cubicBezTo>
                  <a:pt x="1587" y="1504"/>
                  <a:pt x="1568" y="1526"/>
                  <a:pt x="1547" y="1547"/>
                </a:cubicBezTo>
                <a:cubicBezTo>
                  <a:pt x="1526" y="1568"/>
                  <a:pt x="1503" y="1587"/>
                  <a:pt x="1480" y="1606"/>
                </a:cubicBezTo>
                <a:cubicBezTo>
                  <a:pt x="1457" y="1625"/>
                  <a:pt x="1433" y="1643"/>
                  <a:pt x="1408" y="1659"/>
                </a:cubicBezTo>
                <a:cubicBezTo>
                  <a:pt x="1384" y="1676"/>
                  <a:pt x="1358" y="1691"/>
                  <a:pt x="1332" y="1705"/>
                </a:cubicBezTo>
                <a:cubicBezTo>
                  <a:pt x="1306" y="1719"/>
                  <a:pt x="1279" y="1732"/>
                  <a:pt x="1252" y="1743"/>
                </a:cubicBezTo>
                <a:cubicBezTo>
                  <a:pt x="1225" y="1754"/>
                  <a:pt x="1197" y="1764"/>
                  <a:pt x="1168" y="1773"/>
                </a:cubicBezTo>
                <a:cubicBezTo>
                  <a:pt x="1140" y="1781"/>
                  <a:pt x="1111" y="1789"/>
                  <a:pt x="1082" y="1794"/>
                </a:cubicBezTo>
                <a:cubicBezTo>
                  <a:pt x="1053" y="1800"/>
                  <a:pt x="1024" y="1805"/>
                  <a:pt x="994" y="1807"/>
                </a:cubicBezTo>
                <a:cubicBezTo>
                  <a:pt x="965" y="1810"/>
                  <a:pt x="935" y="1812"/>
                  <a:pt x="905" y="1812"/>
                </a:cubicBezTo>
                <a:cubicBezTo>
                  <a:pt x="876" y="1812"/>
                  <a:pt x="846" y="1810"/>
                  <a:pt x="817" y="1807"/>
                </a:cubicBezTo>
                <a:cubicBezTo>
                  <a:pt x="787" y="1805"/>
                  <a:pt x="758" y="1800"/>
                  <a:pt x="729" y="1794"/>
                </a:cubicBezTo>
                <a:cubicBezTo>
                  <a:pt x="700" y="1789"/>
                  <a:pt x="671" y="1781"/>
                  <a:pt x="643" y="1773"/>
                </a:cubicBezTo>
                <a:cubicBezTo>
                  <a:pt x="614" y="1764"/>
                  <a:pt x="586" y="1754"/>
                  <a:pt x="559" y="1743"/>
                </a:cubicBezTo>
                <a:cubicBezTo>
                  <a:pt x="532" y="1732"/>
                  <a:pt x="505" y="1719"/>
                  <a:pt x="479" y="1705"/>
                </a:cubicBezTo>
                <a:cubicBezTo>
                  <a:pt x="453" y="1691"/>
                  <a:pt x="427" y="1676"/>
                  <a:pt x="402" y="1659"/>
                </a:cubicBezTo>
                <a:cubicBezTo>
                  <a:pt x="378" y="1643"/>
                  <a:pt x="354" y="1625"/>
                  <a:pt x="331" y="1606"/>
                </a:cubicBezTo>
                <a:cubicBezTo>
                  <a:pt x="308" y="1587"/>
                  <a:pt x="286" y="1568"/>
                  <a:pt x="265" y="1547"/>
                </a:cubicBezTo>
                <a:cubicBezTo>
                  <a:pt x="244" y="1526"/>
                  <a:pt x="224" y="1504"/>
                  <a:pt x="206" y="1481"/>
                </a:cubicBezTo>
                <a:cubicBezTo>
                  <a:pt x="187" y="1458"/>
                  <a:pt x="169" y="1434"/>
                  <a:pt x="153" y="1409"/>
                </a:cubicBezTo>
                <a:cubicBezTo>
                  <a:pt x="136" y="1385"/>
                  <a:pt x="121" y="1359"/>
                  <a:pt x="107" y="1332"/>
                </a:cubicBezTo>
                <a:cubicBezTo>
                  <a:pt x="93" y="1306"/>
                  <a:pt x="80" y="1279"/>
                  <a:pt x="69" y="1252"/>
                </a:cubicBezTo>
                <a:cubicBezTo>
                  <a:pt x="58" y="1225"/>
                  <a:pt x="48" y="1197"/>
                  <a:pt x="39" y="1168"/>
                </a:cubicBezTo>
                <a:cubicBezTo>
                  <a:pt x="31" y="1140"/>
                  <a:pt x="23" y="1111"/>
                  <a:pt x="18" y="1082"/>
                </a:cubicBezTo>
                <a:cubicBezTo>
                  <a:pt x="12" y="1053"/>
                  <a:pt x="7" y="1024"/>
                  <a:pt x="5" y="994"/>
                </a:cubicBezTo>
                <a:cubicBezTo>
                  <a:pt x="2" y="965"/>
                  <a:pt x="0" y="935"/>
                  <a:pt x="0" y="905"/>
                </a:cubicBezTo>
                <a:cubicBezTo>
                  <a:pt x="0" y="876"/>
                  <a:pt x="2" y="846"/>
                  <a:pt x="5" y="817"/>
                </a:cubicBezTo>
                <a:cubicBezTo>
                  <a:pt x="7" y="787"/>
                  <a:pt x="12" y="758"/>
                  <a:pt x="18" y="729"/>
                </a:cubicBezTo>
                <a:cubicBezTo>
                  <a:pt x="23" y="700"/>
                  <a:pt x="31" y="671"/>
                  <a:pt x="39" y="643"/>
                </a:cubicBezTo>
                <a:cubicBezTo>
                  <a:pt x="48" y="614"/>
                  <a:pt x="58" y="586"/>
                  <a:pt x="69" y="559"/>
                </a:cubicBezTo>
                <a:cubicBezTo>
                  <a:pt x="80" y="532"/>
                  <a:pt x="93" y="505"/>
                  <a:pt x="107" y="479"/>
                </a:cubicBezTo>
                <a:cubicBezTo>
                  <a:pt x="121" y="453"/>
                  <a:pt x="136" y="427"/>
                  <a:pt x="153" y="403"/>
                </a:cubicBezTo>
                <a:cubicBezTo>
                  <a:pt x="169" y="378"/>
                  <a:pt x="187" y="354"/>
                  <a:pt x="206" y="331"/>
                </a:cubicBezTo>
                <a:cubicBezTo>
                  <a:pt x="224" y="308"/>
                  <a:pt x="244" y="286"/>
                  <a:pt x="265" y="265"/>
                </a:cubicBezTo>
                <a:cubicBezTo>
                  <a:pt x="286" y="244"/>
                  <a:pt x="308" y="224"/>
                  <a:pt x="331" y="206"/>
                </a:cubicBezTo>
                <a:cubicBezTo>
                  <a:pt x="354" y="187"/>
                  <a:pt x="378" y="169"/>
                  <a:pt x="402" y="153"/>
                </a:cubicBezTo>
                <a:cubicBezTo>
                  <a:pt x="427" y="136"/>
                  <a:pt x="453" y="121"/>
                  <a:pt x="479" y="107"/>
                </a:cubicBezTo>
                <a:cubicBezTo>
                  <a:pt x="505" y="93"/>
                  <a:pt x="532" y="80"/>
                  <a:pt x="559" y="69"/>
                </a:cubicBezTo>
                <a:cubicBezTo>
                  <a:pt x="586" y="58"/>
                  <a:pt x="614" y="48"/>
                  <a:pt x="643" y="39"/>
                </a:cubicBezTo>
                <a:cubicBezTo>
                  <a:pt x="671" y="31"/>
                  <a:pt x="700" y="23"/>
                  <a:pt x="729" y="18"/>
                </a:cubicBezTo>
                <a:cubicBezTo>
                  <a:pt x="758" y="12"/>
                  <a:pt x="787" y="7"/>
                  <a:pt x="817" y="5"/>
                </a:cubicBezTo>
                <a:cubicBezTo>
                  <a:pt x="846" y="2"/>
                  <a:pt x="876" y="0"/>
                  <a:pt x="905" y="0"/>
                </a:cubicBezTo>
                <a:cubicBezTo>
                  <a:pt x="935" y="0"/>
                  <a:pt x="965" y="2"/>
                  <a:pt x="994" y="5"/>
                </a:cubicBezTo>
                <a:cubicBezTo>
                  <a:pt x="1024" y="7"/>
                  <a:pt x="1053" y="12"/>
                  <a:pt x="1082" y="18"/>
                </a:cubicBezTo>
                <a:cubicBezTo>
                  <a:pt x="1111" y="23"/>
                  <a:pt x="1140" y="31"/>
                  <a:pt x="1168" y="39"/>
                </a:cubicBezTo>
                <a:cubicBezTo>
                  <a:pt x="1197" y="48"/>
                  <a:pt x="1225" y="58"/>
                  <a:pt x="1252" y="69"/>
                </a:cubicBezTo>
                <a:cubicBezTo>
                  <a:pt x="1279" y="80"/>
                  <a:pt x="1306" y="93"/>
                  <a:pt x="1332" y="107"/>
                </a:cubicBezTo>
                <a:cubicBezTo>
                  <a:pt x="1358" y="121"/>
                  <a:pt x="1384" y="136"/>
                  <a:pt x="1408" y="153"/>
                </a:cubicBezTo>
                <a:cubicBezTo>
                  <a:pt x="1433" y="169"/>
                  <a:pt x="1457" y="187"/>
                  <a:pt x="1480" y="206"/>
                </a:cubicBezTo>
                <a:cubicBezTo>
                  <a:pt x="1503" y="224"/>
                  <a:pt x="1526" y="244"/>
                  <a:pt x="1547" y="265"/>
                </a:cubicBezTo>
                <a:cubicBezTo>
                  <a:pt x="1568" y="286"/>
                  <a:pt x="1587" y="308"/>
                  <a:pt x="1606" y="331"/>
                </a:cubicBezTo>
                <a:cubicBezTo>
                  <a:pt x="1625" y="354"/>
                  <a:pt x="1643" y="378"/>
                  <a:pt x="1659" y="403"/>
                </a:cubicBezTo>
                <a:cubicBezTo>
                  <a:pt x="1676" y="427"/>
                  <a:pt x="1691" y="453"/>
                  <a:pt x="1705" y="479"/>
                </a:cubicBezTo>
                <a:cubicBezTo>
                  <a:pt x="1719" y="505"/>
                  <a:pt x="1732" y="532"/>
                  <a:pt x="1743" y="559"/>
                </a:cubicBezTo>
                <a:cubicBezTo>
                  <a:pt x="1754" y="586"/>
                  <a:pt x="1764" y="614"/>
                  <a:pt x="1773" y="643"/>
                </a:cubicBezTo>
                <a:cubicBezTo>
                  <a:pt x="1781" y="671"/>
                  <a:pt x="1789" y="700"/>
                  <a:pt x="1794" y="729"/>
                </a:cubicBezTo>
                <a:cubicBezTo>
                  <a:pt x="1800" y="758"/>
                  <a:pt x="1804" y="787"/>
                  <a:pt x="1807" y="817"/>
                </a:cubicBezTo>
                <a:cubicBezTo>
                  <a:pt x="1810" y="846"/>
                  <a:pt x="1812" y="876"/>
                  <a:pt x="1812" y="905"/>
                </a:cubicBezTo>
              </a:path>
            </a:pathLst>
          </a:custGeom>
          <a:ln w="16560">
            <a:solidFill>
              <a:srgbClr val="003366"/>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226" name="図 225"/>
          <p:cNvPicPr/>
          <p:nvPr/>
        </p:nvPicPr>
        <p:blipFill>
          <a:blip r:embed="rId11"/>
          <a:stretch/>
        </p:blipFill>
        <p:spPr>
          <a:xfrm>
            <a:off x="6518160" y="3952800"/>
            <a:ext cx="217080" cy="250200"/>
          </a:xfrm>
          <a:prstGeom prst="rect">
            <a:avLst/>
          </a:prstGeom>
          <a:noFill/>
          <a:ln w="0">
            <a:noFill/>
          </a:ln>
        </p:spPr>
      </p:pic>
      <p:sp>
        <p:nvSpPr>
          <p:cNvPr id="227" name="フリーフォーム: 図形 226"/>
          <p:cNvSpPr/>
          <p:nvPr/>
        </p:nvSpPr>
        <p:spPr>
          <a:xfrm>
            <a:off x="7796520" y="3751920"/>
            <a:ext cx="652320" cy="652320"/>
          </a:xfrm>
          <a:custGeom>
            <a:avLst/>
            <a:gdLst/>
            <a:ahLst/>
            <a:cxnLst/>
            <a:rect l="0" t="0" r="r" b="b"/>
            <a:pathLst>
              <a:path w="1812" h="1812">
                <a:moveTo>
                  <a:pt x="1812" y="905"/>
                </a:moveTo>
                <a:cubicBezTo>
                  <a:pt x="1812" y="935"/>
                  <a:pt x="1810" y="965"/>
                  <a:pt x="1808" y="994"/>
                </a:cubicBezTo>
                <a:cubicBezTo>
                  <a:pt x="1805" y="1024"/>
                  <a:pt x="1800" y="1053"/>
                  <a:pt x="1795" y="1082"/>
                </a:cubicBezTo>
                <a:cubicBezTo>
                  <a:pt x="1789" y="1111"/>
                  <a:pt x="1782" y="1140"/>
                  <a:pt x="1773" y="1168"/>
                </a:cubicBezTo>
                <a:cubicBezTo>
                  <a:pt x="1764" y="1197"/>
                  <a:pt x="1754" y="1225"/>
                  <a:pt x="1743" y="1252"/>
                </a:cubicBezTo>
                <a:cubicBezTo>
                  <a:pt x="1732" y="1279"/>
                  <a:pt x="1719" y="1306"/>
                  <a:pt x="1705" y="1332"/>
                </a:cubicBezTo>
                <a:cubicBezTo>
                  <a:pt x="1691" y="1359"/>
                  <a:pt x="1676" y="1385"/>
                  <a:pt x="1659" y="1409"/>
                </a:cubicBezTo>
                <a:cubicBezTo>
                  <a:pt x="1643" y="1434"/>
                  <a:pt x="1625" y="1458"/>
                  <a:pt x="1606" y="1481"/>
                </a:cubicBezTo>
                <a:cubicBezTo>
                  <a:pt x="1588" y="1504"/>
                  <a:pt x="1568" y="1526"/>
                  <a:pt x="1547" y="1547"/>
                </a:cubicBezTo>
                <a:cubicBezTo>
                  <a:pt x="1526" y="1568"/>
                  <a:pt x="1504" y="1587"/>
                  <a:pt x="1481" y="1606"/>
                </a:cubicBezTo>
                <a:cubicBezTo>
                  <a:pt x="1458" y="1625"/>
                  <a:pt x="1434" y="1643"/>
                  <a:pt x="1410" y="1659"/>
                </a:cubicBezTo>
                <a:cubicBezTo>
                  <a:pt x="1385" y="1676"/>
                  <a:pt x="1359" y="1691"/>
                  <a:pt x="1333" y="1705"/>
                </a:cubicBezTo>
                <a:cubicBezTo>
                  <a:pt x="1307" y="1719"/>
                  <a:pt x="1280" y="1732"/>
                  <a:pt x="1253" y="1743"/>
                </a:cubicBezTo>
                <a:cubicBezTo>
                  <a:pt x="1226" y="1754"/>
                  <a:pt x="1198" y="1764"/>
                  <a:pt x="1169" y="1773"/>
                </a:cubicBezTo>
                <a:cubicBezTo>
                  <a:pt x="1141" y="1781"/>
                  <a:pt x="1112" y="1789"/>
                  <a:pt x="1083" y="1794"/>
                </a:cubicBezTo>
                <a:cubicBezTo>
                  <a:pt x="1054" y="1800"/>
                  <a:pt x="1025" y="1805"/>
                  <a:pt x="995" y="1807"/>
                </a:cubicBezTo>
                <a:cubicBezTo>
                  <a:pt x="965" y="1810"/>
                  <a:pt x="935" y="1812"/>
                  <a:pt x="906" y="1812"/>
                </a:cubicBezTo>
                <a:cubicBezTo>
                  <a:pt x="876" y="1812"/>
                  <a:pt x="846" y="1810"/>
                  <a:pt x="817" y="1807"/>
                </a:cubicBezTo>
                <a:cubicBezTo>
                  <a:pt x="787" y="1805"/>
                  <a:pt x="758" y="1800"/>
                  <a:pt x="729" y="1794"/>
                </a:cubicBezTo>
                <a:cubicBezTo>
                  <a:pt x="700" y="1789"/>
                  <a:pt x="671" y="1781"/>
                  <a:pt x="643" y="1773"/>
                </a:cubicBezTo>
                <a:cubicBezTo>
                  <a:pt x="614" y="1764"/>
                  <a:pt x="587" y="1754"/>
                  <a:pt x="559" y="1743"/>
                </a:cubicBezTo>
                <a:cubicBezTo>
                  <a:pt x="532" y="1732"/>
                  <a:pt x="505" y="1719"/>
                  <a:pt x="479" y="1705"/>
                </a:cubicBezTo>
                <a:cubicBezTo>
                  <a:pt x="453" y="1691"/>
                  <a:pt x="427" y="1676"/>
                  <a:pt x="403" y="1659"/>
                </a:cubicBezTo>
                <a:cubicBezTo>
                  <a:pt x="378" y="1643"/>
                  <a:pt x="354" y="1625"/>
                  <a:pt x="331" y="1606"/>
                </a:cubicBezTo>
                <a:cubicBezTo>
                  <a:pt x="308" y="1587"/>
                  <a:pt x="286" y="1568"/>
                  <a:pt x="265" y="1547"/>
                </a:cubicBezTo>
                <a:cubicBezTo>
                  <a:pt x="244" y="1526"/>
                  <a:pt x="225" y="1504"/>
                  <a:pt x="206" y="1481"/>
                </a:cubicBezTo>
                <a:cubicBezTo>
                  <a:pt x="187" y="1458"/>
                  <a:pt x="169" y="1434"/>
                  <a:pt x="153" y="1409"/>
                </a:cubicBezTo>
                <a:cubicBezTo>
                  <a:pt x="136" y="1385"/>
                  <a:pt x="121" y="1359"/>
                  <a:pt x="107" y="1332"/>
                </a:cubicBezTo>
                <a:cubicBezTo>
                  <a:pt x="93" y="1306"/>
                  <a:pt x="81" y="1279"/>
                  <a:pt x="69" y="1252"/>
                </a:cubicBezTo>
                <a:cubicBezTo>
                  <a:pt x="58" y="1225"/>
                  <a:pt x="48" y="1197"/>
                  <a:pt x="39" y="1168"/>
                </a:cubicBezTo>
                <a:cubicBezTo>
                  <a:pt x="31" y="1140"/>
                  <a:pt x="23" y="1111"/>
                  <a:pt x="18" y="1082"/>
                </a:cubicBezTo>
                <a:cubicBezTo>
                  <a:pt x="12" y="1053"/>
                  <a:pt x="8" y="1024"/>
                  <a:pt x="5" y="994"/>
                </a:cubicBezTo>
                <a:cubicBezTo>
                  <a:pt x="2" y="965"/>
                  <a:pt x="0" y="935"/>
                  <a:pt x="0" y="905"/>
                </a:cubicBezTo>
                <a:cubicBezTo>
                  <a:pt x="0" y="876"/>
                  <a:pt x="2" y="846"/>
                  <a:pt x="5" y="817"/>
                </a:cubicBezTo>
                <a:cubicBezTo>
                  <a:pt x="8" y="787"/>
                  <a:pt x="12" y="758"/>
                  <a:pt x="18" y="729"/>
                </a:cubicBezTo>
                <a:cubicBezTo>
                  <a:pt x="23" y="700"/>
                  <a:pt x="31" y="671"/>
                  <a:pt x="39" y="643"/>
                </a:cubicBezTo>
                <a:cubicBezTo>
                  <a:pt x="48" y="614"/>
                  <a:pt x="58" y="586"/>
                  <a:pt x="69" y="559"/>
                </a:cubicBezTo>
                <a:cubicBezTo>
                  <a:pt x="81" y="532"/>
                  <a:pt x="93" y="505"/>
                  <a:pt x="107" y="479"/>
                </a:cubicBezTo>
                <a:cubicBezTo>
                  <a:pt x="121" y="453"/>
                  <a:pt x="136" y="427"/>
                  <a:pt x="153" y="403"/>
                </a:cubicBezTo>
                <a:cubicBezTo>
                  <a:pt x="169" y="378"/>
                  <a:pt x="187" y="354"/>
                  <a:pt x="206" y="331"/>
                </a:cubicBezTo>
                <a:cubicBezTo>
                  <a:pt x="225" y="308"/>
                  <a:pt x="244" y="286"/>
                  <a:pt x="265" y="265"/>
                </a:cubicBezTo>
                <a:cubicBezTo>
                  <a:pt x="286" y="244"/>
                  <a:pt x="308" y="224"/>
                  <a:pt x="331" y="206"/>
                </a:cubicBezTo>
                <a:cubicBezTo>
                  <a:pt x="354" y="187"/>
                  <a:pt x="378" y="169"/>
                  <a:pt x="403" y="153"/>
                </a:cubicBezTo>
                <a:cubicBezTo>
                  <a:pt x="427" y="136"/>
                  <a:pt x="453" y="121"/>
                  <a:pt x="479" y="107"/>
                </a:cubicBezTo>
                <a:cubicBezTo>
                  <a:pt x="505" y="93"/>
                  <a:pt x="532" y="80"/>
                  <a:pt x="559" y="69"/>
                </a:cubicBezTo>
                <a:cubicBezTo>
                  <a:pt x="587" y="58"/>
                  <a:pt x="614" y="48"/>
                  <a:pt x="643" y="39"/>
                </a:cubicBezTo>
                <a:cubicBezTo>
                  <a:pt x="671" y="31"/>
                  <a:pt x="700" y="23"/>
                  <a:pt x="729" y="18"/>
                </a:cubicBezTo>
                <a:cubicBezTo>
                  <a:pt x="758" y="12"/>
                  <a:pt x="787" y="7"/>
                  <a:pt x="817" y="5"/>
                </a:cubicBezTo>
                <a:cubicBezTo>
                  <a:pt x="846" y="2"/>
                  <a:pt x="876" y="0"/>
                  <a:pt x="906" y="0"/>
                </a:cubicBezTo>
                <a:cubicBezTo>
                  <a:pt x="935" y="0"/>
                  <a:pt x="965" y="2"/>
                  <a:pt x="995" y="5"/>
                </a:cubicBezTo>
                <a:cubicBezTo>
                  <a:pt x="1025" y="7"/>
                  <a:pt x="1054" y="12"/>
                  <a:pt x="1083" y="18"/>
                </a:cubicBezTo>
                <a:cubicBezTo>
                  <a:pt x="1112" y="23"/>
                  <a:pt x="1141" y="31"/>
                  <a:pt x="1169" y="39"/>
                </a:cubicBezTo>
                <a:cubicBezTo>
                  <a:pt x="1198" y="48"/>
                  <a:pt x="1226" y="58"/>
                  <a:pt x="1253" y="69"/>
                </a:cubicBezTo>
                <a:cubicBezTo>
                  <a:pt x="1280" y="80"/>
                  <a:pt x="1307" y="93"/>
                  <a:pt x="1333" y="107"/>
                </a:cubicBezTo>
                <a:cubicBezTo>
                  <a:pt x="1359" y="121"/>
                  <a:pt x="1385" y="136"/>
                  <a:pt x="1410" y="153"/>
                </a:cubicBezTo>
                <a:cubicBezTo>
                  <a:pt x="1434" y="169"/>
                  <a:pt x="1458" y="187"/>
                  <a:pt x="1481" y="206"/>
                </a:cubicBezTo>
                <a:cubicBezTo>
                  <a:pt x="1504" y="224"/>
                  <a:pt x="1526" y="244"/>
                  <a:pt x="1547" y="265"/>
                </a:cubicBezTo>
                <a:cubicBezTo>
                  <a:pt x="1568" y="286"/>
                  <a:pt x="1588" y="308"/>
                  <a:pt x="1606" y="331"/>
                </a:cubicBezTo>
                <a:cubicBezTo>
                  <a:pt x="1625" y="354"/>
                  <a:pt x="1643" y="378"/>
                  <a:pt x="1659" y="403"/>
                </a:cubicBezTo>
                <a:cubicBezTo>
                  <a:pt x="1676" y="427"/>
                  <a:pt x="1691" y="453"/>
                  <a:pt x="1705" y="479"/>
                </a:cubicBezTo>
                <a:cubicBezTo>
                  <a:pt x="1719" y="505"/>
                  <a:pt x="1732" y="532"/>
                  <a:pt x="1743" y="559"/>
                </a:cubicBezTo>
                <a:cubicBezTo>
                  <a:pt x="1754" y="586"/>
                  <a:pt x="1764" y="614"/>
                  <a:pt x="1773" y="643"/>
                </a:cubicBezTo>
                <a:cubicBezTo>
                  <a:pt x="1782" y="671"/>
                  <a:pt x="1789" y="700"/>
                  <a:pt x="1795" y="729"/>
                </a:cubicBezTo>
                <a:cubicBezTo>
                  <a:pt x="1800" y="758"/>
                  <a:pt x="1805" y="787"/>
                  <a:pt x="1808" y="817"/>
                </a:cubicBezTo>
                <a:cubicBezTo>
                  <a:pt x="1810" y="846"/>
                  <a:pt x="1812" y="876"/>
                  <a:pt x="1812" y="905"/>
                </a:cubicBezTo>
                <a:close/>
              </a:path>
            </a:pathLst>
          </a:custGeom>
          <a:solidFill>
            <a:srgbClr val="FEF3C7"/>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28" name="フリーフォーム: 図形 227"/>
          <p:cNvSpPr/>
          <p:nvPr/>
        </p:nvSpPr>
        <p:spPr>
          <a:xfrm>
            <a:off x="7796520" y="3751920"/>
            <a:ext cx="652320" cy="652320"/>
          </a:xfrm>
          <a:custGeom>
            <a:avLst/>
            <a:gdLst/>
            <a:ahLst/>
            <a:cxnLst/>
            <a:rect l="0" t="0" r="r" b="b"/>
            <a:pathLst>
              <a:path w="1812" h="1812" fill="none">
                <a:moveTo>
                  <a:pt x="1812" y="905"/>
                </a:moveTo>
                <a:cubicBezTo>
                  <a:pt x="1812" y="935"/>
                  <a:pt x="1810" y="965"/>
                  <a:pt x="1808" y="994"/>
                </a:cubicBezTo>
                <a:cubicBezTo>
                  <a:pt x="1805" y="1024"/>
                  <a:pt x="1800" y="1053"/>
                  <a:pt x="1795" y="1082"/>
                </a:cubicBezTo>
                <a:cubicBezTo>
                  <a:pt x="1789" y="1111"/>
                  <a:pt x="1782" y="1140"/>
                  <a:pt x="1773" y="1168"/>
                </a:cubicBezTo>
                <a:cubicBezTo>
                  <a:pt x="1764" y="1197"/>
                  <a:pt x="1754" y="1225"/>
                  <a:pt x="1743" y="1252"/>
                </a:cubicBezTo>
                <a:cubicBezTo>
                  <a:pt x="1732" y="1279"/>
                  <a:pt x="1719" y="1306"/>
                  <a:pt x="1705" y="1332"/>
                </a:cubicBezTo>
                <a:cubicBezTo>
                  <a:pt x="1691" y="1359"/>
                  <a:pt x="1676" y="1385"/>
                  <a:pt x="1659" y="1409"/>
                </a:cubicBezTo>
                <a:cubicBezTo>
                  <a:pt x="1643" y="1434"/>
                  <a:pt x="1625" y="1458"/>
                  <a:pt x="1606" y="1481"/>
                </a:cubicBezTo>
                <a:cubicBezTo>
                  <a:pt x="1588" y="1504"/>
                  <a:pt x="1568" y="1526"/>
                  <a:pt x="1547" y="1547"/>
                </a:cubicBezTo>
                <a:cubicBezTo>
                  <a:pt x="1526" y="1568"/>
                  <a:pt x="1504" y="1587"/>
                  <a:pt x="1481" y="1606"/>
                </a:cubicBezTo>
                <a:cubicBezTo>
                  <a:pt x="1458" y="1625"/>
                  <a:pt x="1434" y="1643"/>
                  <a:pt x="1410" y="1659"/>
                </a:cubicBezTo>
                <a:cubicBezTo>
                  <a:pt x="1385" y="1676"/>
                  <a:pt x="1359" y="1691"/>
                  <a:pt x="1333" y="1705"/>
                </a:cubicBezTo>
                <a:cubicBezTo>
                  <a:pt x="1307" y="1719"/>
                  <a:pt x="1280" y="1732"/>
                  <a:pt x="1253" y="1743"/>
                </a:cubicBezTo>
                <a:cubicBezTo>
                  <a:pt x="1226" y="1754"/>
                  <a:pt x="1198" y="1764"/>
                  <a:pt x="1169" y="1773"/>
                </a:cubicBezTo>
                <a:cubicBezTo>
                  <a:pt x="1141" y="1781"/>
                  <a:pt x="1112" y="1789"/>
                  <a:pt x="1083" y="1794"/>
                </a:cubicBezTo>
                <a:cubicBezTo>
                  <a:pt x="1054" y="1800"/>
                  <a:pt x="1025" y="1805"/>
                  <a:pt x="995" y="1807"/>
                </a:cubicBezTo>
                <a:cubicBezTo>
                  <a:pt x="965" y="1810"/>
                  <a:pt x="935" y="1812"/>
                  <a:pt x="906" y="1812"/>
                </a:cubicBezTo>
                <a:cubicBezTo>
                  <a:pt x="876" y="1812"/>
                  <a:pt x="846" y="1810"/>
                  <a:pt x="817" y="1807"/>
                </a:cubicBezTo>
                <a:cubicBezTo>
                  <a:pt x="787" y="1805"/>
                  <a:pt x="758" y="1800"/>
                  <a:pt x="729" y="1794"/>
                </a:cubicBezTo>
                <a:cubicBezTo>
                  <a:pt x="700" y="1789"/>
                  <a:pt x="671" y="1781"/>
                  <a:pt x="643" y="1773"/>
                </a:cubicBezTo>
                <a:cubicBezTo>
                  <a:pt x="614" y="1764"/>
                  <a:pt x="587" y="1754"/>
                  <a:pt x="559" y="1743"/>
                </a:cubicBezTo>
                <a:cubicBezTo>
                  <a:pt x="532" y="1732"/>
                  <a:pt x="505" y="1719"/>
                  <a:pt x="479" y="1705"/>
                </a:cubicBezTo>
                <a:cubicBezTo>
                  <a:pt x="453" y="1691"/>
                  <a:pt x="427" y="1676"/>
                  <a:pt x="403" y="1659"/>
                </a:cubicBezTo>
                <a:cubicBezTo>
                  <a:pt x="378" y="1643"/>
                  <a:pt x="354" y="1625"/>
                  <a:pt x="331" y="1606"/>
                </a:cubicBezTo>
                <a:cubicBezTo>
                  <a:pt x="308" y="1587"/>
                  <a:pt x="286" y="1568"/>
                  <a:pt x="265" y="1547"/>
                </a:cubicBezTo>
                <a:cubicBezTo>
                  <a:pt x="244" y="1526"/>
                  <a:pt x="225" y="1504"/>
                  <a:pt x="206" y="1481"/>
                </a:cubicBezTo>
                <a:cubicBezTo>
                  <a:pt x="187" y="1458"/>
                  <a:pt x="169" y="1434"/>
                  <a:pt x="153" y="1409"/>
                </a:cubicBezTo>
                <a:cubicBezTo>
                  <a:pt x="136" y="1385"/>
                  <a:pt x="121" y="1359"/>
                  <a:pt x="107" y="1332"/>
                </a:cubicBezTo>
                <a:cubicBezTo>
                  <a:pt x="93" y="1306"/>
                  <a:pt x="81" y="1279"/>
                  <a:pt x="69" y="1252"/>
                </a:cubicBezTo>
                <a:cubicBezTo>
                  <a:pt x="58" y="1225"/>
                  <a:pt x="48" y="1197"/>
                  <a:pt x="39" y="1168"/>
                </a:cubicBezTo>
                <a:cubicBezTo>
                  <a:pt x="31" y="1140"/>
                  <a:pt x="23" y="1111"/>
                  <a:pt x="18" y="1082"/>
                </a:cubicBezTo>
                <a:cubicBezTo>
                  <a:pt x="12" y="1053"/>
                  <a:pt x="8" y="1024"/>
                  <a:pt x="5" y="994"/>
                </a:cubicBezTo>
                <a:cubicBezTo>
                  <a:pt x="2" y="965"/>
                  <a:pt x="0" y="935"/>
                  <a:pt x="0" y="905"/>
                </a:cubicBezTo>
                <a:cubicBezTo>
                  <a:pt x="0" y="876"/>
                  <a:pt x="2" y="846"/>
                  <a:pt x="5" y="817"/>
                </a:cubicBezTo>
                <a:cubicBezTo>
                  <a:pt x="8" y="787"/>
                  <a:pt x="12" y="758"/>
                  <a:pt x="18" y="729"/>
                </a:cubicBezTo>
                <a:cubicBezTo>
                  <a:pt x="23" y="700"/>
                  <a:pt x="31" y="671"/>
                  <a:pt x="39" y="643"/>
                </a:cubicBezTo>
                <a:cubicBezTo>
                  <a:pt x="48" y="614"/>
                  <a:pt x="58" y="586"/>
                  <a:pt x="69" y="559"/>
                </a:cubicBezTo>
                <a:cubicBezTo>
                  <a:pt x="81" y="532"/>
                  <a:pt x="93" y="505"/>
                  <a:pt x="107" y="479"/>
                </a:cubicBezTo>
                <a:cubicBezTo>
                  <a:pt x="121" y="453"/>
                  <a:pt x="136" y="427"/>
                  <a:pt x="153" y="403"/>
                </a:cubicBezTo>
                <a:cubicBezTo>
                  <a:pt x="169" y="378"/>
                  <a:pt x="187" y="354"/>
                  <a:pt x="206" y="331"/>
                </a:cubicBezTo>
                <a:cubicBezTo>
                  <a:pt x="225" y="308"/>
                  <a:pt x="244" y="286"/>
                  <a:pt x="265" y="265"/>
                </a:cubicBezTo>
                <a:cubicBezTo>
                  <a:pt x="286" y="244"/>
                  <a:pt x="308" y="224"/>
                  <a:pt x="331" y="206"/>
                </a:cubicBezTo>
                <a:cubicBezTo>
                  <a:pt x="354" y="187"/>
                  <a:pt x="378" y="169"/>
                  <a:pt x="403" y="153"/>
                </a:cubicBezTo>
                <a:cubicBezTo>
                  <a:pt x="427" y="136"/>
                  <a:pt x="453" y="121"/>
                  <a:pt x="479" y="107"/>
                </a:cubicBezTo>
                <a:cubicBezTo>
                  <a:pt x="505" y="93"/>
                  <a:pt x="532" y="80"/>
                  <a:pt x="559" y="69"/>
                </a:cubicBezTo>
                <a:cubicBezTo>
                  <a:pt x="587" y="58"/>
                  <a:pt x="614" y="48"/>
                  <a:pt x="643" y="39"/>
                </a:cubicBezTo>
                <a:cubicBezTo>
                  <a:pt x="671" y="31"/>
                  <a:pt x="700" y="23"/>
                  <a:pt x="729" y="18"/>
                </a:cubicBezTo>
                <a:cubicBezTo>
                  <a:pt x="758" y="12"/>
                  <a:pt x="787" y="7"/>
                  <a:pt x="817" y="5"/>
                </a:cubicBezTo>
                <a:cubicBezTo>
                  <a:pt x="846" y="2"/>
                  <a:pt x="876" y="0"/>
                  <a:pt x="906" y="0"/>
                </a:cubicBezTo>
                <a:cubicBezTo>
                  <a:pt x="935" y="0"/>
                  <a:pt x="965" y="2"/>
                  <a:pt x="995" y="5"/>
                </a:cubicBezTo>
                <a:cubicBezTo>
                  <a:pt x="1025" y="7"/>
                  <a:pt x="1054" y="12"/>
                  <a:pt x="1083" y="18"/>
                </a:cubicBezTo>
                <a:cubicBezTo>
                  <a:pt x="1112" y="23"/>
                  <a:pt x="1141" y="31"/>
                  <a:pt x="1169" y="39"/>
                </a:cubicBezTo>
                <a:cubicBezTo>
                  <a:pt x="1198" y="48"/>
                  <a:pt x="1226" y="58"/>
                  <a:pt x="1253" y="69"/>
                </a:cubicBezTo>
                <a:cubicBezTo>
                  <a:pt x="1280" y="80"/>
                  <a:pt x="1307" y="93"/>
                  <a:pt x="1333" y="107"/>
                </a:cubicBezTo>
                <a:cubicBezTo>
                  <a:pt x="1359" y="121"/>
                  <a:pt x="1385" y="136"/>
                  <a:pt x="1410" y="153"/>
                </a:cubicBezTo>
                <a:cubicBezTo>
                  <a:pt x="1434" y="169"/>
                  <a:pt x="1458" y="187"/>
                  <a:pt x="1481" y="206"/>
                </a:cubicBezTo>
                <a:cubicBezTo>
                  <a:pt x="1504" y="224"/>
                  <a:pt x="1526" y="244"/>
                  <a:pt x="1547" y="265"/>
                </a:cubicBezTo>
                <a:cubicBezTo>
                  <a:pt x="1568" y="286"/>
                  <a:pt x="1588" y="308"/>
                  <a:pt x="1606" y="331"/>
                </a:cubicBezTo>
                <a:cubicBezTo>
                  <a:pt x="1625" y="354"/>
                  <a:pt x="1643" y="378"/>
                  <a:pt x="1659" y="403"/>
                </a:cubicBezTo>
                <a:cubicBezTo>
                  <a:pt x="1676" y="427"/>
                  <a:pt x="1691" y="453"/>
                  <a:pt x="1705" y="479"/>
                </a:cubicBezTo>
                <a:cubicBezTo>
                  <a:pt x="1719" y="505"/>
                  <a:pt x="1732" y="532"/>
                  <a:pt x="1743" y="559"/>
                </a:cubicBezTo>
                <a:cubicBezTo>
                  <a:pt x="1754" y="586"/>
                  <a:pt x="1764" y="614"/>
                  <a:pt x="1773" y="643"/>
                </a:cubicBezTo>
                <a:cubicBezTo>
                  <a:pt x="1782" y="671"/>
                  <a:pt x="1789" y="700"/>
                  <a:pt x="1795" y="729"/>
                </a:cubicBezTo>
                <a:cubicBezTo>
                  <a:pt x="1800" y="758"/>
                  <a:pt x="1805" y="787"/>
                  <a:pt x="1808" y="817"/>
                </a:cubicBezTo>
                <a:cubicBezTo>
                  <a:pt x="1810" y="846"/>
                  <a:pt x="1812" y="876"/>
                  <a:pt x="1812" y="905"/>
                </a:cubicBezTo>
              </a:path>
            </a:pathLst>
          </a:custGeom>
          <a:ln w="16560">
            <a:solidFill>
              <a:srgbClr val="003366"/>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229" name="図 228"/>
          <p:cNvPicPr/>
          <p:nvPr/>
        </p:nvPicPr>
        <p:blipFill>
          <a:blip r:embed="rId12"/>
          <a:stretch/>
        </p:blipFill>
        <p:spPr>
          <a:xfrm>
            <a:off x="7997400" y="3952800"/>
            <a:ext cx="250200" cy="250200"/>
          </a:xfrm>
          <a:prstGeom prst="rect">
            <a:avLst/>
          </a:prstGeom>
          <a:noFill/>
          <a:ln w="0">
            <a:noFill/>
          </a:ln>
        </p:spPr>
      </p:pic>
      <p:sp>
        <p:nvSpPr>
          <p:cNvPr id="230" name="フリーフォーム: 図形 229"/>
          <p:cNvSpPr/>
          <p:nvPr/>
        </p:nvSpPr>
        <p:spPr>
          <a:xfrm>
            <a:off x="8272800" y="3727080"/>
            <a:ext cx="201240" cy="200880"/>
          </a:xfrm>
          <a:custGeom>
            <a:avLst/>
            <a:gdLst/>
            <a:ahLst/>
            <a:cxnLst/>
            <a:rect l="0" t="0" r="r" b="b"/>
            <a:pathLst>
              <a:path w="559" h="558">
                <a:moveTo>
                  <a:pt x="559" y="278"/>
                </a:moveTo>
                <a:cubicBezTo>
                  <a:pt x="559" y="296"/>
                  <a:pt x="557" y="314"/>
                  <a:pt x="553" y="332"/>
                </a:cubicBezTo>
                <a:cubicBezTo>
                  <a:pt x="550" y="350"/>
                  <a:pt x="544" y="368"/>
                  <a:pt x="537" y="385"/>
                </a:cubicBezTo>
                <a:cubicBezTo>
                  <a:pt x="530" y="402"/>
                  <a:pt x="522" y="418"/>
                  <a:pt x="512" y="433"/>
                </a:cubicBezTo>
                <a:cubicBezTo>
                  <a:pt x="501" y="448"/>
                  <a:pt x="490" y="462"/>
                  <a:pt x="477" y="475"/>
                </a:cubicBezTo>
                <a:cubicBezTo>
                  <a:pt x="464" y="488"/>
                  <a:pt x="450" y="500"/>
                  <a:pt x="435" y="511"/>
                </a:cubicBezTo>
                <a:cubicBezTo>
                  <a:pt x="420" y="521"/>
                  <a:pt x="403" y="529"/>
                  <a:pt x="387" y="536"/>
                </a:cubicBezTo>
                <a:cubicBezTo>
                  <a:pt x="370" y="543"/>
                  <a:pt x="352" y="549"/>
                  <a:pt x="334" y="552"/>
                </a:cubicBezTo>
                <a:cubicBezTo>
                  <a:pt x="316" y="556"/>
                  <a:pt x="298" y="558"/>
                  <a:pt x="280" y="558"/>
                </a:cubicBezTo>
                <a:cubicBezTo>
                  <a:pt x="262" y="558"/>
                  <a:pt x="244" y="556"/>
                  <a:pt x="226" y="552"/>
                </a:cubicBezTo>
                <a:cubicBezTo>
                  <a:pt x="208" y="549"/>
                  <a:pt x="190" y="543"/>
                  <a:pt x="173" y="536"/>
                </a:cubicBezTo>
                <a:cubicBezTo>
                  <a:pt x="156" y="529"/>
                  <a:pt x="140" y="521"/>
                  <a:pt x="124" y="511"/>
                </a:cubicBezTo>
                <a:cubicBezTo>
                  <a:pt x="109" y="500"/>
                  <a:pt x="95" y="488"/>
                  <a:pt x="82" y="475"/>
                </a:cubicBezTo>
                <a:cubicBezTo>
                  <a:pt x="69" y="462"/>
                  <a:pt x="58" y="448"/>
                  <a:pt x="47" y="433"/>
                </a:cubicBezTo>
                <a:cubicBezTo>
                  <a:pt x="37" y="418"/>
                  <a:pt x="29" y="402"/>
                  <a:pt x="22" y="385"/>
                </a:cubicBezTo>
                <a:cubicBezTo>
                  <a:pt x="15" y="368"/>
                  <a:pt x="9" y="350"/>
                  <a:pt x="6" y="332"/>
                </a:cubicBezTo>
                <a:cubicBezTo>
                  <a:pt x="2" y="314"/>
                  <a:pt x="0" y="296"/>
                  <a:pt x="0" y="278"/>
                </a:cubicBezTo>
                <a:cubicBezTo>
                  <a:pt x="0" y="260"/>
                  <a:pt x="2" y="242"/>
                  <a:pt x="6" y="224"/>
                </a:cubicBezTo>
                <a:cubicBezTo>
                  <a:pt x="9" y="206"/>
                  <a:pt x="15" y="188"/>
                  <a:pt x="22" y="171"/>
                </a:cubicBezTo>
                <a:cubicBezTo>
                  <a:pt x="29" y="155"/>
                  <a:pt x="37" y="139"/>
                  <a:pt x="47" y="123"/>
                </a:cubicBezTo>
                <a:cubicBezTo>
                  <a:pt x="58" y="108"/>
                  <a:pt x="69" y="94"/>
                  <a:pt x="82" y="81"/>
                </a:cubicBezTo>
                <a:cubicBezTo>
                  <a:pt x="95" y="68"/>
                  <a:pt x="109" y="57"/>
                  <a:pt x="124" y="46"/>
                </a:cubicBezTo>
                <a:cubicBezTo>
                  <a:pt x="140" y="36"/>
                  <a:pt x="156" y="28"/>
                  <a:pt x="173" y="21"/>
                </a:cubicBezTo>
                <a:cubicBezTo>
                  <a:pt x="190" y="14"/>
                  <a:pt x="208" y="8"/>
                  <a:pt x="226" y="5"/>
                </a:cubicBezTo>
                <a:cubicBezTo>
                  <a:pt x="244" y="1"/>
                  <a:pt x="262" y="0"/>
                  <a:pt x="280" y="0"/>
                </a:cubicBezTo>
                <a:cubicBezTo>
                  <a:pt x="298" y="0"/>
                  <a:pt x="316" y="1"/>
                  <a:pt x="334" y="5"/>
                </a:cubicBezTo>
                <a:cubicBezTo>
                  <a:pt x="352" y="8"/>
                  <a:pt x="370" y="14"/>
                  <a:pt x="387" y="21"/>
                </a:cubicBezTo>
                <a:cubicBezTo>
                  <a:pt x="403" y="28"/>
                  <a:pt x="420" y="36"/>
                  <a:pt x="435" y="46"/>
                </a:cubicBezTo>
                <a:cubicBezTo>
                  <a:pt x="450" y="57"/>
                  <a:pt x="464" y="68"/>
                  <a:pt x="477" y="81"/>
                </a:cubicBezTo>
                <a:cubicBezTo>
                  <a:pt x="490" y="94"/>
                  <a:pt x="501" y="108"/>
                  <a:pt x="512" y="123"/>
                </a:cubicBezTo>
                <a:cubicBezTo>
                  <a:pt x="522" y="139"/>
                  <a:pt x="530" y="155"/>
                  <a:pt x="537" y="171"/>
                </a:cubicBezTo>
                <a:cubicBezTo>
                  <a:pt x="544" y="188"/>
                  <a:pt x="550" y="206"/>
                  <a:pt x="553" y="224"/>
                </a:cubicBezTo>
                <a:cubicBezTo>
                  <a:pt x="557" y="242"/>
                  <a:pt x="559" y="260"/>
                  <a:pt x="559" y="278"/>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31" name="テキスト ボックス 230"/>
          <p:cNvSpPr txBox="1"/>
          <p:nvPr/>
        </p:nvSpPr>
        <p:spPr>
          <a:xfrm>
            <a:off x="6099120" y="4982040"/>
            <a:ext cx="303228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 TMA</a:t>
            </a:r>
            <a:r>
              <a:rPr lang="zh-CN" sz="1050" b="0" u="none" strike="noStrike">
                <a:solidFill>
                  <a:srgbClr val="FFFFFF"/>
                </a:solidFill>
                <a:effectLst/>
                <a:uFillTx/>
                <a:latin typeface="NotoSansJP"/>
                <a:ea typeface="NotoSansJP"/>
              </a:rPr>
              <a:t>濃度の増加 → 電気抵抗値の変化 → 濃度検知</a:t>
            </a:r>
            <a:endParaRPr lang="en-US" sz="1050" b="0" u="none" strike="noStrike">
              <a:solidFill>
                <a:srgbClr val="000000"/>
              </a:solidFill>
              <a:effectLst/>
              <a:uFillTx/>
              <a:latin typeface="Times New Roman"/>
            </a:endParaRPr>
          </a:p>
        </p:txBody>
      </p:sp>
      <p:sp>
        <p:nvSpPr>
          <p:cNvPr id="232" name="テキスト ボックス 231"/>
          <p:cNvSpPr txBox="1"/>
          <p:nvPr/>
        </p:nvSpPr>
        <p:spPr>
          <a:xfrm>
            <a:off x="8334720" y="376164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a:t>
            </a:r>
            <a:endParaRPr lang="en-US" sz="1050" b="0" u="none" strike="noStrike">
              <a:solidFill>
                <a:srgbClr val="000000"/>
              </a:solidFill>
              <a:effectLst/>
              <a:uFillTx/>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 name="図 232"/>
          <p:cNvPicPr/>
          <p:nvPr/>
        </p:nvPicPr>
        <p:blipFill>
          <a:blip r:embed="rId2"/>
          <a:stretch/>
        </p:blipFill>
        <p:spPr>
          <a:xfrm>
            <a:off x="0" y="0"/>
            <a:ext cx="10696320" cy="6384240"/>
          </a:xfrm>
          <a:prstGeom prst="rect">
            <a:avLst/>
          </a:prstGeom>
          <a:noFill/>
          <a:ln w="0">
            <a:noFill/>
          </a:ln>
        </p:spPr>
      </p:pic>
      <p:sp>
        <p:nvSpPr>
          <p:cNvPr id="234" name="フリーフォーム: 図形 233"/>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235" name="図 234"/>
          <p:cNvPicPr/>
          <p:nvPr/>
        </p:nvPicPr>
        <p:blipFill>
          <a:blip r:embed="rId3"/>
          <a:stretch/>
        </p:blipFill>
        <p:spPr>
          <a:xfrm>
            <a:off x="267480" y="902520"/>
            <a:ext cx="225360" cy="200160"/>
          </a:xfrm>
          <a:prstGeom prst="rect">
            <a:avLst/>
          </a:prstGeom>
          <a:noFill/>
          <a:ln w="0">
            <a:noFill/>
          </a:ln>
        </p:spPr>
      </p:pic>
      <p:sp>
        <p:nvSpPr>
          <p:cNvPr id="236" name="テキスト ボックス 235"/>
          <p:cNvSpPr txBox="1"/>
          <p:nvPr/>
        </p:nvSpPr>
        <p:spPr>
          <a:xfrm>
            <a:off x="334440" y="155520"/>
            <a:ext cx="12016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実験方法</a:t>
            </a:r>
            <a:endParaRPr lang="en-US" sz="2370" b="0" u="none" strike="noStrike">
              <a:solidFill>
                <a:srgbClr val="000000"/>
              </a:solidFill>
              <a:effectLst/>
              <a:uFillTx/>
              <a:latin typeface="Times New Roman"/>
            </a:endParaRPr>
          </a:p>
        </p:txBody>
      </p:sp>
      <p:sp>
        <p:nvSpPr>
          <p:cNvPr id="237" name="フリーフォーム: 図形 236"/>
          <p:cNvSpPr/>
          <p:nvPr/>
        </p:nvSpPr>
        <p:spPr>
          <a:xfrm>
            <a:off x="267120" y="1270080"/>
            <a:ext cx="5014440" cy="2139480"/>
          </a:xfrm>
          <a:custGeom>
            <a:avLst/>
            <a:gdLst/>
            <a:ahLst/>
            <a:cxnLst/>
            <a:rect l="0" t="0" r="r" b="b"/>
            <a:pathLst>
              <a:path w="13929" h="5943">
                <a:moveTo>
                  <a:pt x="14" y="115"/>
                </a:moveTo>
                <a:cubicBezTo>
                  <a:pt x="24" y="92"/>
                  <a:pt x="37" y="72"/>
                  <a:pt x="55" y="54"/>
                </a:cubicBezTo>
                <a:cubicBezTo>
                  <a:pt x="72" y="37"/>
                  <a:pt x="92" y="23"/>
                  <a:pt x="115" y="14"/>
                </a:cubicBezTo>
                <a:cubicBezTo>
                  <a:pt x="138" y="5"/>
                  <a:pt x="161" y="0"/>
                  <a:pt x="186" y="0"/>
                </a:cubicBezTo>
                <a:lnTo>
                  <a:pt x="13743" y="0"/>
                </a:lnTo>
                <a:cubicBezTo>
                  <a:pt x="13768" y="0"/>
                  <a:pt x="13792" y="5"/>
                  <a:pt x="13815" y="14"/>
                </a:cubicBezTo>
                <a:cubicBezTo>
                  <a:pt x="13837" y="23"/>
                  <a:pt x="13857" y="37"/>
                  <a:pt x="13875" y="54"/>
                </a:cubicBezTo>
                <a:cubicBezTo>
                  <a:pt x="13892" y="72"/>
                  <a:pt x="13906" y="92"/>
                  <a:pt x="13915" y="115"/>
                </a:cubicBezTo>
                <a:cubicBezTo>
                  <a:pt x="13924" y="137"/>
                  <a:pt x="13929" y="161"/>
                  <a:pt x="13929" y="186"/>
                </a:cubicBezTo>
                <a:lnTo>
                  <a:pt x="13929" y="5758"/>
                </a:lnTo>
                <a:cubicBezTo>
                  <a:pt x="13929" y="5782"/>
                  <a:pt x="13924" y="5806"/>
                  <a:pt x="13915" y="5829"/>
                </a:cubicBezTo>
                <a:cubicBezTo>
                  <a:pt x="13906" y="5852"/>
                  <a:pt x="13892" y="5872"/>
                  <a:pt x="13875" y="5889"/>
                </a:cubicBezTo>
                <a:cubicBezTo>
                  <a:pt x="13857" y="5906"/>
                  <a:pt x="13837" y="5920"/>
                  <a:pt x="13815" y="5929"/>
                </a:cubicBezTo>
                <a:cubicBezTo>
                  <a:pt x="13792" y="5939"/>
                  <a:pt x="13768" y="5943"/>
                  <a:pt x="13743" y="5943"/>
                </a:cubicBezTo>
                <a:lnTo>
                  <a:pt x="186" y="5943"/>
                </a:lnTo>
                <a:cubicBezTo>
                  <a:pt x="161" y="5943"/>
                  <a:pt x="138" y="5939"/>
                  <a:pt x="115" y="5929"/>
                </a:cubicBezTo>
                <a:cubicBezTo>
                  <a:pt x="92" y="5920"/>
                  <a:pt x="72" y="5906"/>
                  <a:pt x="55" y="5889"/>
                </a:cubicBezTo>
                <a:cubicBezTo>
                  <a:pt x="37" y="5872"/>
                  <a:pt x="24" y="5852"/>
                  <a:pt x="14" y="5829"/>
                </a:cubicBezTo>
                <a:cubicBezTo>
                  <a:pt x="5" y="5806"/>
                  <a:pt x="0" y="5782"/>
                  <a:pt x="0" y="5758"/>
                </a:cubicBezTo>
                <a:lnTo>
                  <a:pt x="0" y="186"/>
                </a:lnTo>
                <a:cubicBezTo>
                  <a:pt x="0" y="161"/>
                  <a:pt x="5" y="137"/>
                  <a:pt x="14" y="115"/>
                </a:cubicBezTo>
                <a:close/>
              </a:path>
            </a:pathLst>
          </a:custGeom>
          <a:solidFill>
            <a:srgbClr val="FFFFFF">
              <a:alpha val="8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38" name="フリーフォーム: 図形 237"/>
          <p:cNvSpPr/>
          <p:nvPr/>
        </p:nvSpPr>
        <p:spPr>
          <a:xfrm>
            <a:off x="257040" y="1260000"/>
            <a:ext cx="5034600" cy="2159640"/>
          </a:xfrm>
          <a:custGeom>
            <a:avLst/>
            <a:gdLst/>
            <a:ahLst/>
            <a:cxnLst/>
            <a:rect l="0" t="0" r="r" b="b"/>
            <a:pathLst>
              <a:path w="13985" h="5999">
                <a:moveTo>
                  <a:pt x="446" y="0"/>
                </a:moveTo>
                <a:lnTo>
                  <a:pt x="586" y="0"/>
                </a:lnTo>
                <a:lnTo>
                  <a:pt x="586" y="102"/>
                </a:lnTo>
                <a:lnTo>
                  <a:pt x="446" y="102"/>
                </a:lnTo>
                <a:lnTo>
                  <a:pt x="446" y="0"/>
                </a:lnTo>
                <a:moveTo>
                  <a:pt x="679" y="0"/>
                </a:moveTo>
                <a:lnTo>
                  <a:pt x="818" y="0"/>
                </a:lnTo>
                <a:lnTo>
                  <a:pt x="818" y="102"/>
                </a:lnTo>
                <a:lnTo>
                  <a:pt x="679" y="102"/>
                </a:lnTo>
                <a:lnTo>
                  <a:pt x="679" y="0"/>
                </a:lnTo>
                <a:moveTo>
                  <a:pt x="911" y="0"/>
                </a:moveTo>
                <a:lnTo>
                  <a:pt x="1050" y="0"/>
                </a:lnTo>
                <a:lnTo>
                  <a:pt x="1050" y="102"/>
                </a:lnTo>
                <a:lnTo>
                  <a:pt x="911" y="102"/>
                </a:lnTo>
                <a:lnTo>
                  <a:pt x="911" y="0"/>
                </a:lnTo>
                <a:moveTo>
                  <a:pt x="1143" y="0"/>
                </a:moveTo>
                <a:lnTo>
                  <a:pt x="1282" y="0"/>
                </a:lnTo>
                <a:lnTo>
                  <a:pt x="1282" y="102"/>
                </a:lnTo>
                <a:lnTo>
                  <a:pt x="1143" y="102"/>
                </a:lnTo>
                <a:lnTo>
                  <a:pt x="1143" y="0"/>
                </a:lnTo>
                <a:moveTo>
                  <a:pt x="1375" y="0"/>
                </a:moveTo>
                <a:lnTo>
                  <a:pt x="1515" y="0"/>
                </a:lnTo>
                <a:lnTo>
                  <a:pt x="1515" y="102"/>
                </a:lnTo>
                <a:lnTo>
                  <a:pt x="1375" y="102"/>
                </a:lnTo>
                <a:lnTo>
                  <a:pt x="1375" y="0"/>
                </a:lnTo>
                <a:moveTo>
                  <a:pt x="1608" y="0"/>
                </a:moveTo>
                <a:lnTo>
                  <a:pt x="1747" y="0"/>
                </a:lnTo>
                <a:lnTo>
                  <a:pt x="1747" y="102"/>
                </a:lnTo>
                <a:lnTo>
                  <a:pt x="1608" y="102"/>
                </a:lnTo>
                <a:lnTo>
                  <a:pt x="1608" y="0"/>
                </a:lnTo>
                <a:moveTo>
                  <a:pt x="1840" y="0"/>
                </a:moveTo>
                <a:lnTo>
                  <a:pt x="1979" y="0"/>
                </a:lnTo>
                <a:lnTo>
                  <a:pt x="1979" y="102"/>
                </a:lnTo>
                <a:lnTo>
                  <a:pt x="1840" y="102"/>
                </a:lnTo>
                <a:lnTo>
                  <a:pt x="1840" y="0"/>
                </a:lnTo>
                <a:moveTo>
                  <a:pt x="2072" y="0"/>
                </a:moveTo>
                <a:lnTo>
                  <a:pt x="2211" y="0"/>
                </a:lnTo>
                <a:lnTo>
                  <a:pt x="2211" y="102"/>
                </a:lnTo>
                <a:lnTo>
                  <a:pt x="2072" y="102"/>
                </a:lnTo>
                <a:lnTo>
                  <a:pt x="2072" y="0"/>
                </a:lnTo>
                <a:moveTo>
                  <a:pt x="2304" y="0"/>
                </a:moveTo>
                <a:lnTo>
                  <a:pt x="2444" y="0"/>
                </a:lnTo>
                <a:lnTo>
                  <a:pt x="2444" y="102"/>
                </a:lnTo>
                <a:lnTo>
                  <a:pt x="2304" y="102"/>
                </a:lnTo>
                <a:lnTo>
                  <a:pt x="2304" y="0"/>
                </a:lnTo>
                <a:moveTo>
                  <a:pt x="2537" y="0"/>
                </a:moveTo>
                <a:lnTo>
                  <a:pt x="2676" y="0"/>
                </a:lnTo>
                <a:lnTo>
                  <a:pt x="2676" y="102"/>
                </a:lnTo>
                <a:lnTo>
                  <a:pt x="2537" y="102"/>
                </a:lnTo>
                <a:lnTo>
                  <a:pt x="2537" y="0"/>
                </a:lnTo>
                <a:moveTo>
                  <a:pt x="2769" y="0"/>
                </a:moveTo>
                <a:lnTo>
                  <a:pt x="2908" y="0"/>
                </a:lnTo>
                <a:lnTo>
                  <a:pt x="2908" y="102"/>
                </a:lnTo>
                <a:lnTo>
                  <a:pt x="2769" y="102"/>
                </a:lnTo>
                <a:lnTo>
                  <a:pt x="2769" y="0"/>
                </a:lnTo>
                <a:moveTo>
                  <a:pt x="3001" y="0"/>
                </a:moveTo>
                <a:lnTo>
                  <a:pt x="3141" y="0"/>
                </a:lnTo>
                <a:lnTo>
                  <a:pt x="3141" y="102"/>
                </a:lnTo>
                <a:lnTo>
                  <a:pt x="3001" y="102"/>
                </a:lnTo>
                <a:lnTo>
                  <a:pt x="3001" y="0"/>
                </a:lnTo>
                <a:moveTo>
                  <a:pt x="3234" y="0"/>
                </a:moveTo>
                <a:lnTo>
                  <a:pt x="3373" y="0"/>
                </a:lnTo>
                <a:lnTo>
                  <a:pt x="3373" y="102"/>
                </a:lnTo>
                <a:lnTo>
                  <a:pt x="3234" y="102"/>
                </a:lnTo>
                <a:lnTo>
                  <a:pt x="3234" y="0"/>
                </a:lnTo>
                <a:moveTo>
                  <a:pt x="3466" y="0"/>
                </a:moveTo>
                <a:lnTo>
                  <a:pt x="3605" y="0"/>
                </a:lnTo>
                <a:lnTo>
                  <a:pt x="3605" y="102"/>
                </a:lnTo>
                <a:lnTo>
                  <a:pt x="3466" y="102"/>
                </a:lnTo>
                <a:lnTo>
                  <a:pt x="3466" y="0"/>
                </a:lnTo>
                <a:moveTo>
                  <a:pt x="3698" y="0"/>
                </a:moveTo>
                <a:lnTo>
                  <a:pt x="3837" y="0"/>
                </a:lnTo>
                <a:lnTo>
                  <a:pt x="3837" y="102"/>
                </a:lnTo>
                <a:lnTo>
                  <a:pt x="3698" y="102"/>
                </a:lnTo>
                <a:lnTo>
                  <a:pt x="3698" y="0"/>
                </a:lnTo>
                <a:moveTo>
                  <a:pt x="3930" y="0"/>
                </a:moveTo>
                <a:lnTo>
                  <a:pt x="4070" y="0"/>
                </a:lnTo>
                <a:lnTo>
                  <a:pt x="4070" y="102"/>
                </a:lnTo>
                <a:lnTo>
                  <a:pt x="3930" y="102"/>
                </a:lnTo>
                <a:lnTo>
                  <a:pt x="3930" y="0"/>
                </a:lnTo>
                <a:moveTo>
                  <a:pt x="4163" y="0"/>
                </a:moveTo>
                <a:lnTo>
                  <a:pt x="4302" y="0"/>
                </a:lnTo>
                <a:lnTo>
                  <a:pt x="4302" y="102"/>
                </a:lnTo>
                <a:lnTo>
                  <a:pt x="4163" y="102"/>
                </a:lnTo>
                <a:lnTo>
                  <a:pt x="4163" y="0"/>
                </a:lnTo>
                <a:moveTo>
                  <a:pt x="4395" y="0"/>
                </a:moveTo>
                <a:lnTo>
                  <a:pt x="4534" y="0"/>
                </a:lnTo>
                <a:lnTo>
                  <a:pt x="4534" y="102"/>
                </a:lnTo>
                <a:lnTo>
                  <a:pt x="4395" y="102"/>
                </a:lnTo>
                <a:lnTo>
                  <a:pt x="4395" y="0"/>
                </a:lnTo>
                <a:moveTo>
                  <a:pt x="4627" y="0"/>
                </a:moveTo>
                <a:lnTo>
                  <a:pt x="4766" y="0"/>
                </a:lnTo>
                <a:lnTo>
                  <a:pt x="4766" y="102"/>
                </a:lnTo>
                <a:lnTo>
                  <a:pt x="4627" y="102"/>
                </a:lnTo>
                <a:lnTo>
                  <a:pt x="4627" y="0"/>
                </a:lnTo>
                <a:moveTo>
                  <a:pt x="4859" y="0"/>
                </a:moveTo>
                <a:lnTo>
                  <a:pt x="4999" y="0"/>
                </a:lnTo>
                <a:lnTo>
                  <a:pt x="4999" y="102"/>
                </a:lnTo>
                <a:lnTo>
                  <a:pt x="4859" y="102"/>
                </a:lnTo>
                <a:lnTo>
                  <a:pt x="4859" y="0"/>
                </a:lnTo>
                <a:moveTo>
                  <a:pt x="5092" y="0"/>
                </a:moveTo>
                <a:lnTo>
                  <a:pt x="5231" y="0"/>
                </a:lnTo>
                <a:lnTo>
                  <a:pt x="5231" y="102"/>
                </a:lnTo>
                <a:lnTo>
                  <a:pt x="5092" y="102"/>
                </a:lnTo>
                <a:lnTo>
                  <a:pt x="5092" y="0"/>
                </a:lnTo>
                <a:moveTo>
                  <a:pt x="5324" y="0"/>
                </a:moveTo>
                <a:lnTo>
                  <a:pt x="5463" y="0"/>
                </a:lnTo>
                <a:lnTo>
                  <a:pt x="5463" y="102"/>
                </a:lnTo>
                <a:lnTo>
                  <a:pt x="5324" y="102"/>
                </a:lnTo>
                <a:lnTo>
                  <a:pt x="5324" y="0"/>
                </a:lnTo>
                <a:moveTo>
                  <a:pt x="5556" y="0"/>
                </a:moveTo>
                <a:lnTo>
                  <a:pt x="5695" y="0"/>
                </a:lnTo>
                <a:lnTo>
                  <a:pt x="5695" y="102"/>
                </a:lnTo>
                <a:lnTo>
                  <a:pt x="5556" y="102"/>
                </a:lnTo>
                <a:lnTo>
                  <a:pt x="5556" y="0"/>
                </a:lnTo>
                <a:moveTo>
                  <a:pt x="5788" y="0"/>
                </a:moveTo>
                <a:lnTo>
                  <a:pt x="5928" y="0"/>
                </a:lnTo>
                <a:lnTo>
                  <a:pt x="5928" y="102"/>
                </a:lnTo>
                <a:lnTo>
                  <a:pt x="5788" y="102"/>
                </a:lnTo>
                <a:lnTo>
                  <a:pt x="5788" y="0"/>
                </a:lnTo>
                <a:moveTo>
                  <a:pt x="6021" y="0"/>
                </a:moveTo>
                <a:lnTo>
                  <a:pt x="6160" y="0"/>
                </a:lnTo>
                <a:lnTo>
                  <a:pt x="6160" y="102"/>
                </a:lnTo>
                <a:lnTo>
                  <a:pt x="6021" y="102"/>
                </a:lnTo>
                <a:lnTo>
                  <a:pt x="6021" y="0"/>
                </a:lnTo>
                <a:moveTo>
                  <a:pt x="6253" y="0"/>
                </a:moveTo>
                <a:lnTo>
                  <a:pt x="6393" y="0"/>
                </a:lnTo>
                <a:lnTo>
                  <a:pt x="6393" y="102"/>
                </a:lnTo>
                <a:lnTo>
                  <a:pt x="6253" y="102"/>
                </a:lnTo>
                <a:lnTo>
                  <a:pt x="6253" y="0"/>
                </a:lnTo>
                <a:moveTo>
                  <a:pt x="6486" y="0"/>
                </a:moveTo>
                <a:lnTo>
                  <a:pt x="6626" y="0"/>
                </a:lnTo>
                <a:lnTo>
                  <a:pt x="6626" y="102"/>
                </a:lnTo>
                <a:lnTo>
                  <a:pt x="6486" y="102"/>
                </a:lnTo>
                <a:lnTo>
                  <a:pt x="6486" y="0"/>
                </a:lnTo>
                <a:moveTo>
                  <a:pt x="6719" y="0"/>
                </a:moveTo>
                <a:lnTo>
                  <a:pt x="6858" y="0"/>
                </a:lnTo>
                <a:lnTo>
                  <a:pt x="6858" y="102"/>
                </a:lnTo>
                <a:lnTo>
                  <a:pt x="6719" y="102"/>
                </a:lnTo>
                <a:lnTo>
                  <a:pt x="6719" y="0"/>
                </a:lnTo>
                <a:moveTo>
                  <a:pt x="6951" y="0"/>
                </a:moveTo>
                <a:lnTo>
                  <a:pt x="7090" y="0"/>
                </a:lnTo>
                <a:lnTo>
                  <a:pt x="7090" y="102"/>
                </a:lnTo>
                <a:lnTo>
                  <a:pt x="6951" y="102"/>
                </a:lnTo>
                <a:lnTo>
                  <a:pt x="6951" y="0"/>
                </a:lnTo>
                <a:moveTo>
                  <a:pt x="7183" y="0"/>
                </a:moveTo>
                <a:lnTo>
                  <a:pt x="7322" y="0"/>
                </a:lnTo>
                <a:lnTo>
                  <a:pt x="7322" y="102"/>
                </a:lnTo>
                <a:lnTo>
                  <a:pt x="7183" y="102"/>
                </a:lnTo>
                <a:lnTo>
                  <a:pt x="7183" y="0"/>
                </a:lnTo>
                <a:moveTo>
                  <a:pt x="7415" y="0"/>
                </a:moveTo>
                <a:lnTo>
                  <a:pt x="7555" y="0"/>
                </a:lnTo>
                <a:lnTo>
                  <a:pt x="7555" y="102"/>
                </a:lnTo>
                <a:lnTo>
                  <a:pt x="7415" y="102"/>
                </a:lnTo>
                <a:lnTo>
                  <a:pt x="7415" y="0"/>
                </a:lnTo>
                <a:moveTo>
                  <a:pt x="7648" y="0"/>
                </a:moveTo>
                <a:lnTo>
                  <a:pt x="7787" y="0"/>
                </a:lnTo>
                <a:lnTo>
                  <a:pt x="7787" y="102"/>
                </a:lnTo>
                <a:lnTo>
                  <a:pt x="7648" y="102"/>
                </a:lnTo>
                <a:lnTo>
                  <a:pt x="7648" y="0"/>
                </a:lnTo>
                <a:moveTo>
                  <a:pt x="7880" y="0"/>
                </a:moveTo>
                <a:lnTo>
                  <a:pt x="8019" y="0"/>
                </a:lnTo>
                <a:lnTo>
                  <a:pt x="8019" y="102"/>
                </a:lnTo>
                <a:lnTo>
                  <a:pt x="7880" y="102"/>
                </a:lnTo>
                <a:lnTo>
                  <a:pt x="7880" y="0"/>
                </a:lnTo>
                <a:moveTo>
                  <a:pt x="8112" y="0"/>
                </a:moveTo>
                <a:lnTo>
                  <a:pt x="8251" y="0"/>
                </a:lnTo>
                <a:lnTo>
                  <a:pt x="8251" y="102"/>
                </a:lnTo>
                <a:lnTo>
                  <a:pt x="8112" y="102"/>
                </a:lnTo>
                <a:lnTo>
                  <a:pt x="8112" y="0"/>
                </a:lnTo>
                <a:moveTo>
                  <a:pt x="8344" y="0"/>
                </a:moveTo>
                <a:lnTo>
                  <a:pt x="8484" y="0"/>
                </a:lnTo>
                <a:lnTo>
                  <a:pt x="8484" y="102"/>
                </a:lnTo>
                <a:lnTo>
                  <a:pt x="8344" y="102"/>
                </a:lnTo>
                <a:lnTo>
                  <a:pt x="8344" y="0"/>
                </a:lnTo>
                <a:moveTo>
                  <a:pt x="8577" y="0"/>
                </a:moveTo>
                <a:lnTo>
                  <a:pt x="8716" y="0"/>
                </a:lnTo>
                <a:lnTo>
                  <a:pt x="8716" y="102"/>
                </a:lnTo>
                <a:lnTo>
                  <a:pt x="8577" y="102"/>
                </a:lnTo>
                <a:lnTo>
                  <a:pt x="8577" y="0"/>
                </a:lnTo>
                <a:moveTo>
                  <a:pt x="8809" y="0"/>
                </a:moveTo>
                <a:lnTo>
                  <a:pt x="8948" y="0"/>
                </a:lnTo>
                <a:lnTo>
                  <a:pt x="8948" y="102"/>
                </a:lnTo>
                <a:lnTo>
                  <a:pt x="8809" y="102"/>
                </a:lnTo>
                <a:lnTo>
                  <a:pt x="8809" y="0"/>
                </a:lnTo>
                <a:moveTo>
                  <a:pt x="9041" y="0"/>
                </a:moveTo>
                <a:lnTo>
                  <a:pt x="9180" y="0"/>
                </a:lnTo>
                <a:lnTo>
                  <a:pt x="9180" y="102"/>
                </a:lnTo>
                <a:lnTo>
                  <a:pt x="9041" y="102"/>
                </a:lnTo>
                <a:lnTo>
                  <a:pt x="9041" y="0"/>
                </a:lnTo>
                <a:moveTo>
                  <a:pt x="9273" y="0"/>
                </a:moveTo>
                <a:lnTo>
                  <a:pt x="9413" y="0"/>
                </a:lnTo>
                <a:lnTo>
                  <a:pt x="9413" y="102"/>
                </a:lnTo>
                <a:lnTo>
                  <a:pt x="9273" y="102"/>
                </a:lnTo>
                <a:lnTo>
                  <a:pt x="9273" y="0"/>
                </a:lnTo>
                <a:moveTo>
                  <a:pt x="9506" y="0"/>
                </a:moveTo>
                <a:lnTo>
                  <a:pt x="9645" y="0"/>
                </a:lnTo>
                <a:lnTo>
                  <a:pt x="9645" y="102"/>
                </a:lnTo>
                <a:lnTo>
                  <a:pt x="9506" y="102"/>
                </a:lnTo>
                <a:lnTo>
                  <a:pt x="9506" y="0"/>
                </a:lnTo>
                <a:moveTo>
                  <a:pt x="9738" y="0"/>
                </a:moveTo>
                <a:lnTo>
                  <a:pt x="9877" y="0"/>
                </a:lnTo>
                <a:lnTo>
                  <a:pt x="9877" y="102"/>
                </a:lnTo>
                <a:lnTo>
                  <a:pt x="9738" y="102"/>
                </a:lnTo>
                <a:lnTo>
                  <a:pt x="9738" y="0"/>
                </a:lnTo>
                <a:moveTo>
                  <a:pt x="9970" y="0"/>
                </a:moveTo>
                <a:lnTo>
                  <a:pt x="10110" y="0"/>
                </a:lnTo>
                <a:lnTo>
                  <a:pt x="10110" y="102"/>
                </a:lnTo>
                <a:lnTo>
                  <a:pt x="9970" y="102"/>
                </a:lnTo>
                <a:lnTo>
                  <a:pt x="9970" y="0"/>
                </a:lnTo>
                <a:moveTo>
                  <a:pt x="10203" y="0"/>
                </a:moveTo>
                <a:lnTo>
                  <a:pt x="10342" y="0"/>
                </a:lnTo>
                <a:lnTo>
                  <a:pt x="10342" y="102"/>
                </a:lnTo>
                <a:lnTo>
                  <a:pt x="10203" y="102"/>
                </a:lnTo>
                <a:lnTo>
                  <a:pt x="10203" y="0"/>
                </a:lnTo>
                <a:moveTo>
                  <a:pt x="10435" y="0"/>
                </a:moveTo>
                <a:lnTo>
                  <a:pt x="10574" y="0"/>
                </a:lnTo>
                <a:lnTo>
                  <a:pt x="10574" y="102"/>
                </a:lnTo>
                <a:lnTo>
                  <a:pt x="10435" y="102"/>
                </a:lnTo>
                <a:lnTo>
                  <a:pt x="10435" y="0"/>
                </a:lnTo>
                <a:moveTo>
                  <a:pt x="10667" y="0"/>
                </a:moveTo>
                <a:lnTo>
                  <a:pt x="10806" y="0"/>
                </a:lnTo>
                <a:lnTo>
                  <a:pt x="10806" y="102"/>
                </a:lnTo>
                <a:lnTo>
                  <a:pt x="10667" y="102"/>
                </a:lnTo>
                <a:lnTo>
                  <a:pt x="10667" y="0"/>
                </a:lnTo>
                <a:moveTo>
                  <a:pt x="10899" y="0"/>
                </a:moveTo>
                <a:lnTo>
                  <a:pt x="11039" y="0"/>
                </a:lnTo>
                <a:lnTo>
                  <a:pt x="11039" y="102"/>
                </a:lnTo>
                <a:lnTo>
                  <a:pt x="10899" y="102"/>
                </a:lnTo>
                <a:lnTo>
                  <a:pt x="10899" y="0"/>
                </a:lnTo>
                <a:moveTo>
                  <a:pt x="11132" y="0"/>
                </a:moveTo>
                <a:lnTo>
                  <a:pt x="11271" y="0"/>
                </a:lnTo>
                <a:lnTo>
                  <a:pt x="11271" y="102"/>
                </a:lnTo>
                <a:lnTo>
                  <a:pt x="11132" y="102"/>
                </a:lnTo>
                <a:lnTo>
                  <a:pt x="11132" y="0"/>
                </a:lnTo>
                <a:moveTo>
                  <a:pt x="11364" y="0"/>
                </a:moveTo>
                <a:lnTo>
                  <a:pt x="11503" y="0"/>
                </a:lnTo>
                <a:lnTo>
                  <a:pt x="11503" y="102"/>
                </a:lnTo>
                <a:lnTo>
                  <a:pt x="11364" y="102"/>
                </a:lnTo>
                <a:lnTo>
                  <a:pt x="11364" y="0"/>
                </a:lnTo>
                <a:moveTo>
                  <a:pt x="11596" y="0"/>
                </a:moveTo>
                <a:lnTo>
                  <a:pt x="11735" y="0"/>
                </a:lnTo>
                <a:lnTo>
                  <a:pt x="11735" y="102"/>
                </a:lnTo>
                <a:lnTo>
                  <a:pt x="11596" y="102"/>
                </a:lnTo>
                <a:lnTo>
                  <a:pt x="11596" y="0"/>
                </a:lnTo>
                <a:moveTo>
                  <a:pt x="11828" y="0"/>
                </a:moveTo>
                <a:lnTo>
                  <a:pt x="11968" y="0"/>
                </a:lnTo>
                <a:lnTo>
                  <a:pt x="11968" y="102"/>
                </a:lnTo>
                <a:lnTo>
                  <a:pt x="11828" y="102"/>
                </a:lnTo>
                <a:lnTo>
                  <a:pt x="11828" y="0"/>
                </a:lnTo>
                <a:moveTo>
                  <a:pt x="12061" y="0"/>
                </a:moveTo>
                <a:lnTo>
                  <a:pt x="12200" y="0"/>
                </a:lnTo>
                <a:lnTo>
                  <a:pt x="12200" y="102"/>
                </a:lnTo>
                <a:lnTo>
                  <a:pt x="12061" y="102"/>
                </a:lnTo>
                <a:lnTo>
                  <a:pt x="12061" y="0"/>
                </a:lnTo>
                <a:moveTo>
                  <a:pt x="12293" y="0"/>
                </a:moveTo>
                <a:lnTo>
                  <a:pt x="12432" y="0"/>
                </a:lnTo>
                <a:lnTo>
                  <a:pt x="12432" y="102"/>
                </a:lnTo>
                <a:lnTo>
                  <a:pt x="12293" y="102"/>
                </a:lnTo>
                <a:lnTo>
                  <a:pt x="12293" y="0"/>
                </a:lnTo>
                <a:moveTo>
                  <a:pt x="12525" y="0"/>
                </a:moveTo>
                <a:lnTo>
                  <a:pt x="12664" y="0"/>
                </a:lnTo>
                <a:lnTo>
                  <a:pt x="12664" y="102"/>
                </a:lnTo>
                <a:lnTo>
                  <a:pt x="12525" y="102"/>
                </a:lnTo>
                <a:lnTo>
                  <a:pt x="12525" y="0"/>
                </a:lnTo>
                <a:moveTo>
                  <a:pt x="12757" y="0"/>
                </a:moveTo>
                <a:lnTo>
                  <a:pt x="12897" y="0"/>
                </a:lnTo>
                <a:lnTo>
                  <a:pt x="12897" y="102"/>
                </a:lnTo>
                <a:lnTo>
                  <a:pt x="12757" y="102"/>
                </a:lnTo>
                <a:lnTo>
                  <a:pt x="12757" y="0"/>
                </a:lnTo>
                <a:moveTo>
                  <a:pt x="12990" y="0"/>
                </a:moveTo>
                <a:lnTo>
                  <a:pt x="13129" y="0"/>
                </a:lnTo>
                <a:lnTo>
                  <a:pt x="13129" y="102"/>
                </a:lnTo>
                <a:lnTo>
                  <a:pt x="12990" y="102"/>
                </a:lnTo>
                <a:lnTo>
                  <a:pt x="12990" y="0"/>
                </a:lnTo>
                <a:moveTo>
                  <a:pt x="13222" y="0"/>
                </a:moveTo>
                <a:lnTo>
                  <a:pt x="13361" y="0"/>
                </a:lnTo>
                <a:lnTo>
                  <a:pt x="13361" y="102"/>
                </a:lnTo>
                <a:lnTo>
                  <a:pt x="13222" y="102"/>
                </a:lnTo>
                <a:lnTo>
                  <a:pt x="13222" y="0"/>
                </a:lnTo>
                <a:moveTo>
                  <a:pt x="13454" y="0"/>
                </a:moveTo>
                <a:lnTo>
                  <a:pt x="13594" y="0"/>
                </a:lnTo>
                <a:lnTo>
                  <a:pt x="13594" y="102"/>
                </a:lnTo>
                <a:lnTo>
                  <a:pt x="13454" y="102"/>
                </a:lnTo>
                <a:lnTo>
                  <a:pt x="13454" y="0"/>
                </a:lnTo>
                <a:moveTo>
                  <a:pt x="13687" y="0"/>
                </a:moveTo>
                <a:lnTo>
                  <a:pt x="13771" y="0"/>
                </a:lnTo>
                <a:cubicBezTo>
                  <a:pt x="13796" y="0"/>
                  <a:pt x="13819" y="4"/>
                  <a:pt x="13842" y="12"/>
                </a:cubicBezTo>
                <a:lnTo>
                  <a:pt x="13808" y="108"/>
                </a:lnTo>
                <a:cubicBezTo>
                  <a:pt x="13796" y="104"/>
                  <a:pt x="13784" y="102"/>
                  <a:pt x="13771" y="102"/>
                </a:cubicBezTo>
                <a:lnTo>
                  <a:pt x="13687" y="102"/>
                </a:lnTo>
                <a:lnTo>
                  <a:pt x="13687" y="0"/>
                </a:lnTo>
                <a:moveTo>
                  <a:pt x="13941" y="83"/>
                </a:moveTo>
                <a:cubicBezTo>
                  <a:pt x="13970" y="122"/>
                  <a:pt x="13985" y="165"/>
                  <a:pt x="13985" y="214"/>
                </a:cubicBezTo>
                <a:lnTo>
                  <a:pt x="13985" y="247"/>
                </a:lnTo>
                <a:lnTo>
                  <a:pt x="13883" y="247"/>
                </a:lnTo>
                <a:lnTo>
                  <a:pt x="13883" y="214"/>
                </a:lnTo>
                <a:cubicBezTo>
                  <a:pt x="13883" y="188"/>
                  <a:pt x="13875" y="166"/>
                  <a:pt x="13860" y="146"/>
                </a:cubicBezTo>
                <a:lnTo>
                  <a:pt x="13941" y="83"/>
                </a:lnTo>
                <a:moveTo>
                  <a:pt x="13985" y="340"/>
                </a:moveTo>
                <a:lnTo>
                  <a:pt x="13985" y="479"/>
                </a:lnTo>
                <a:lnTo>
                  <a:pt x="13883" y="479"/>
                </a:lnTo>
                <a:lnTo>
                  <a:pt x="13883" y="340"/>
                </a:lnTo>
                <a:lnTo>
                  <a:pt x="13985" y="340"/>
                </a:lnTo>
                <a:moveTo>
                  <a:pt x="13985" y="572"/>
                </a:moveTo>
                <a:lnTo>
                  <a:pt x="13985" y="711"/>
                </a:lnTo>
                <a:lnTo>
                  <a:pt x="13883" y="711"/>
                </a:lnTo>
                <a:lnTo>
                  <a:pt x="13883" y="572"/>
                </a:lnTo>
                <a:lnTo>
                  <a:pt x="13985" y="572"/>
                </a:lnTo>
                <a:moveTo>
                  <a:pt x="13985" y="804"/>
                </a:moveTo>
                <a:lnTo>
                  <a:pt x="13985" y="943"/>
                </a:lnTo>
                <a:lnTo>
                  <a:pt x="13883" y="943"/>
                </a:lnTo>
                <a:lnTo>
                  <a:pt x="13883" y="804"/>
                </a:lnTo>
                <a:lnTo>
                  <a:pt x="13985" y="804"/>
                </a:lnTo>
                <a:moveTo>
                  <a:pt x="13985" y="1036"/>
                </a:moveTo>
                <a:lnTo>
                  <a:pt x="13985" y="1176"/>
                </a:lnTo>
                <a:lnTo>
                  <a:pt x="13883" y="1176"/>
                </a:lnTo>
                <a:lnTo>
                  <a:pt x="13883" y="1036"/>
                </a:lnTo>
                <a:lnTo>
                  <a:pt x="13985" y="1036"/>
                </a:lnTo>
                <a:moveTo>
                  <a:pt x="13985" y="1269"/>
                </a:moveTo>
                <a:lnTo>
                  <a:pt x="13985" y="1408"/>
                </a:lnTo>
                <a:lnTo>
                  <a:pt x="13883" y="1408"/>
                </a:lnTo>
                <a:lnTo>
                  <a:pt x="13883" y="1269"/>
                </a:lnTo>
                <a:lnTo>
                  <a:pt x="13985" y="1269"/>
                </a:lnTo>
                <a:moveTo>
                  <a:pt x="13985" y="1501"/>
                </a:moveTo>
                <a:lnTo>
                  <a:pt x="13985" y="1640"/>
                </a:lnTo>
                <a:lnTo>
                  <a:pt x="13883" y="1640"/>
                </a:lnTo>
                <a:lnTo>
                  <a:pt x="13883" y="1501"/>
                </a:lnTo>
                <a:lnTo>
                  <a:pt x="13985" y="1501"/>
                </a:lnTo>
                <a:moveTo>
                  <a:pt x="13985" y="1733"/>
                </a:moveTo>
                <a:lnTo>
                  <a:pt x="13985" y="1873"/>
                </a:lnTo>
                <a:lnTo>
                  <a:pt x="13883" y="1873"/>
                </a:lnTo>
                <a:lnTo>
                  <a:pt x="13883" y="1733"/>
                </a:lnTo>
                <a:lnTo>
                  <a:pt x="13985" y="1733"/>
                </a:lnTo>
                <a:moveTo>
                  <a:pt x="13985" y="1966"/>
                </a:moveTo>
                <a:lnTo>
                  <a:pt x="13985" y="2105"/>
                </a:lnTo>
                <a:lnTo>
                  <a:pt x="13883" y="2105"/>
                </a:lnTo>
                <a:lnTo>
                  <a:pt x="13883" y="1966"/>
                </a:lnTo>
                <a:lnTo>
                  <a:pt x="13985" y="1966"/>
                </a:lnTo>
                <a:moveTo>
                  <a:pt x="13985" y="2198"/>
                </a:moveTo>
                <a:lnTo>
                  <a:pt x="13985" y="2337"/>
                </a:lnTo>
                <a:lnTo>
                  <a:pt x="13883" y="2337"/>
                </a:lnTo>
                <a:lnTo>
                  <a:pt x="13883" y="2198"/>
                </a:lnTo>
                <a:lnTo>
                  <a:pt x="13985" y="2198"/>
                </a:lnTo>
                <a:moveTo>
                  <a:pt x="13985" y="2430"/>
                </a:moveTo>
                <a:lnTo>
                  <a:pt x="13985" y="2569"/>
                </a:lnTo>
                <a:lnTo>
                  <a:pt x="13883" y="2569"/>
                </a:lnTo>
                <a:lnTo>
                  <a:pt x="13883" y="2430"/>
                </a:lnTo>
                <a:lnTo>
                  <a:pt x="13985" y="2430"/>
                </a:lnTo>
                <a:moveTo>
                  <a:pt x="13985" y="2662"/>
                </a:moveTo>
                <a:lnTo>
                  <a:pt x="13985" y="2802"/>
                </a:lnTo>
                <a:lnTo>
                  <a:pt x="13883" y="2802"/>
                </a:lnTo>
                <a:lnTo>
                  <a:pt x="13883" y="2662"/>
                </a:lnTo>
                <a:lnTo>
                  <a:pt x="13985" y="2662"/>
                </a:lnTo>
                <a:moveTo>
                  <a:pt x="13985" y="2895"/>
                </a:moveTo>
                <a:lnTo>
                  <a:pt x="13985" y="3034"/>
                </a:lnTo>
                <a:lnTo>
                  <a:pt x="13883" y="3034"/>
                </a:lnTo>
                <a:lnTo>
                  <a:pt x="13883" y="2895"/>
                </a:lnTo>
                <a:lnTo>
                  <a:pt x="13985" y="2895"/>
                </a:lnTo>
                <a:moveTo>
                  <a:pt x="13985" y="3127"/>
                </a:moveTo>
                <a:lnTo>
                  <a:pt x="13985" y="3266"/>
                </a:lnTo>
                <a:lnTo>
                  <a:pt x="13883" y="3266"/>
                </a:lnTo>
                <a:lnTo>
                  <a:pt x="13883" y="3127"/>
                </a:lnTo>
                <a:lnTo>
                  <a:pt x="13985" y="3127"/>
                </a:lnTo>
                <a:moveTo>
                  <a:pt x="13985" y="3359"/>
                </a:moveTo>
                <a:lnTo>
                  <a:pt x="13985" y="3498"/>
                </a:lnTo>
                <a:lnTo>
                  <a:pt x="13883" y="3498"/>
                </a:lnTo>
                <a:lnTo>
                  <a:pt x="13883" y="3359"/>
                </a:lnTo>
                <a:lnTo>
                  <a:pt x="13985" y="3359"/>
                </a:lnTo>
                <a:moveTo>
                  <a:pt x="13985" y="3591"/>
                </a:moveTo>
                <a:lnTo>
                  <a:pt x="13985" y="3731"/>
                </a:lnTo>
                <a:lnTo>
                  <a:pt x="13883" y="3731"/>
                </a:lnTo>
                <a:lnTo>
                  <a:pt x="13883" y="3591"/>
                </a:lnTo>
                <a:lnTo>
                  <a:pt x="13985" y="3591"/>
                </a:lnTo>
                <a:moveTo>
                  <a:pt x="13985" y="3824"/>
                </a:moveTo>
                <a:lnTo>
                  <a:pt x="13985" y="3963"/>
                </a:lnTo>
                <a:lnTo>
                  <a:pt x="13883" y="3963"/>
                </a:lnTo>
                <a:lnTo>
                  <a:pt x="13883" y="3824"/>
                </a:lnTo>
                <a:lnTo>
                  <a:pt x="13985" y="3824"/>
                </a:lnTo>
                <a:moveTo>
                  <a:pt x="13985" y="4056"/>
                </a:moveTo>
                <a:lnTo>
                  <a:pt x="13985" y="4195"/>
                </a:lnTo>
                <a:lnTo>
                  <a:pt x="13883" y="4195"/>
                </a:lnTo>
                <a:lnTo>
                  <a:pt x="13883" y="4056"/>
                </a:lnTo>
                <a:lnTo>
                  <a:pt x="13985" y="4056"/>
                </a:lnTo>
                <a:moveTo>
                  <a:pt x="13985" y="4288"/>
                </a:moveTo>
                <a:lnTo>
                  <a:pt x="13985" y="4427"/>
                </a:lnTo>
                <a:lnTo>
                  <a:pt x="13883" y="4427"/>
                </a:lnTo>
                <a:lnTo>
                  <a:pt x="13883" y="4288"/>
                </a:lnTo>
                <a:lnTo>
                  <a:pt x="13985" y="4288"/>
                </a:lnTo>
                <a:moveTo>
                  <a:pt x="13985" y="4520"/>
                </a:moveTo>
                <a:lnTo>
                  <a:pt x="13985" y="4660"/>
                </a:lnTo>
                <a:lnTo>
                  <a:pt x="13883" y="4660"/>
                </a:lnTo>
                <a:lnTo>
                  <a:pt x="13883" y="4520"/>
                </a:lnTo>
                <a:lnTo>
                  <a:pt x="13985" y="4520"/>
                </a:lnTo>
                <a:moveTo>
                  <a:pt x="13985" y="4753"/>
                </a:moveTo>
                <a:lnTo>
                  <a:pt x="13985" y="4892"/>
                </a:lnTo>
                <a:lnTo>
                  <a:pt x="13883" y="4892"/>
                </a:lnTo>
                <a:lnTo>
                  <a:pt x="13883" y="4753"/>
                </a:lnTo>
                <a:lnTo>
                  <a:pt x="13985" y="4753"/>
                </a:lnTo>
                <a:moveTo>
                  <a:pt x="13985" y="4985"/>
                </a:moveTo>
                <a:lnTo>
                  <a:pt x="13985" y="5124"/>
                </a:lnTo>
                <a:lnTo>
                  <a:pt x="13883" y="5124"/>
                </a:lnTo>
                <a:lnTo>
                  <a:pt x="13883" y="4985"/>
                </a:lnTo>
                <a:lnTo>
                  <a:pt x="13985" y="4985"/>
                </a:lnTo>
                <a:moveTo>
                  <a:pt x="13985" y="5217"/>
                </a:moveTo>
                <a:lnTo>
                  <a:pt x="13985" y="5357"/>
                </a:lnTo>
                <a:lnTo>
                  <a:pt x="13883" y="5357"/>
                </a:lnTo>
                <a:lnTo>
                  <a:pt x="13883" y="5217"/>
                </a:lnTo>
                <a:lnTo>
                  <a:pt x="13985" y="5217"/>
                </a:lnTo>
                <a:moveTo>
                  <a:pt x="13985" y="5450"/>
                </a:moveTo>
                <a:lnTo>
                  <a:pt x="13985" y="5590"/>
                </a:lnTo>
                <a:lnTo>
                  <a:pt x="13883" y="5590"/>
                </a:lnTo>
                <a:lnTo>
                  <a:pt x="13883" y="5450"/>
                </a:lnTo>
                <a:lnTo>
                  <a:pt x="13985" y="5450"/>
                </a:lnTo>
                <a:moveTo>
                  <a:pt x="13985" y="5683"/>
                </a:moveTo>
                <a:lnTo>
                  <a:pt x="13985" y="5786"/>
                </a:lnTo>
                <a:cubicBezTo>
                  <a:pt x="13985" y="5801"/>
                  <a:pt x="13983" y="5817"/>
                  <a:pt x="13980" y="5832"/>
                </a:cubicBezTo>
                <a:lnTo>
                  <a:pt x="13880" y="5810"/>
                </a:lnTo>
                <a:cubicBezTo>
                  <a:pt x="13882" y="5802"/>
                  <a:pt x="13883" y="5794"/>
                  <a:pt x="13883" y="5786"/>
                </a:cubicBezTo>
                <a:lnTo>
                  <a:pt x="13883" y="5683"/>
                </a:lnTo>
                <a:lnTo>
                  <a:pt x="13985" y="5683"/>
                </a:lnTo>
                <a:moveTo>
                  <a:pt x="13920" y="5939"/>
                </a:moveTo>
                <a:cubicBezTo>
                  <a:pt x="13879" y="5979"/>
                  <a:pt x="13829" y="5999"/>
                  <a:pt x="13771" y="5999"/>
                </a:cubicBezTo>
                <a:lnTo>
                  <a:pt x="13756" y="5999"/>
                </a:lnTo>
                <a:lnTo>
                  <a:pt x="13756" y="5897"/>
                </a:lnTo>
                <a:lnTo>
                  <a:pt x="13771" y="5897"/>
                </a:lnTo>
                <a:cubicBezTo>
                  <a:pt x="13802" y="5897"/>
                  <a:pt x="13827" y="5887"/>
                  <a:pt x="13849" y="5866"/>
                </a:cubicBezTo>
                <a:lnTo>
                  <a:pt x="13920" y="5939"/>
                </a:lnTo>
                <a:moveTo>
                  <a:pt x="13663" y="5999"/>
                </a:moveTo>
                <a:lnTo>
                  <a:pt x="13524" y="5999"/>
                </a:lnTo>
                <a:lnTo>
                  <a:pt x="13524" y="5897"/>
                </a:lnTo>
                <a:lnTo>
                  <a:pt x="13663" y="5897"/>
                </a:lnTo>
                <a:lnTo>
                  <a:pt x="13663" y="5999"/>
                </a:lnTo>
                <a:moveTo>
                  <a:pt x="13431" y="5999"/>
                </a:moveTo>
                <a:lnTo>
                  <a:pt x="13292" y="5999"/>
                </a:lnTo>
                <a:lnTo>
                  <a:pt x="13292" y="5897"/>
                </a:lnTo>
                <a:lnTo>
                  <a:pt x="13431" y="5897"/>
                </a:lnTo>
                <a:lnTo>
                  <a:pt x="13431" y="5999"/>
                </a:lnTo>
                <a:moveTo>
                  <a:pt x="13199" y="5999"/>
                </a:moveTo>
                <a:lnTo>
                  <a:pt x="13060" y="5999"/>
                </a:lnTo>
                <a:lnTo>
                  <a:pt x="13060" y="5897"/>
                </a:lnTo>
                <a:lnTo>
                  <a:pt x="13199" y="5897"/>
                </a:lnTo>
                <a:lnTo>
                  <a:pt x="13199" y="5999"/>
                </a:lnTo>
                <a:moveTo>
                  <a:pt x="12967" y="5999"/>
                </a:moveTo>
                <a:lnTo>
                  <a:pt x="12827" y="5999"/>
                </a:lnTo>
                <a:lnTo>
                  <a:pt x="12827" y="5897"/>
                </a:lnTo>
                <a:lnTo>
                  <a:pt x="12967" y="5897"/>
                </a:lnTo>
                <a:lnTo>
                  <a:pt x="12967" y="5999"/>
                </a:lnTo>
                <a:moveTo>
                  <a:pt x="12734" y="5999"/>
                </a:moveTo>
                <a:lnTo>
                  <a:pt x="12595" y="5999"/>
                </a:lnTo>
                <a:lnTo>
                  <a:pt x="12595" y="5897"/>
                </a:lnTo>
                <a:lnTo>
                  <a:pt x="12734" y="5897"/>
                </a:lnTo>
                <a:lnTo>
                  <a:pt x="12734" y="5999"/>
                </a:lnTo>
                <a:moveTo>
                  <a:pt x="12502" y="5999"/>
                </a:moveTo>
                <a:lnTo>
                  <a:pt x="12363" y="5999"/>
                </a:lnTo>
                <a:lnTo>
                  <a:pt x="12363" y="5897"/>
                </a:lnTo>
                <a:lnTo>
                  <a:pt x="12502" y="5897"/>
                </a:lnTo>
                <a:lnTo>
                  <a:pt x="12502" y="5999"/>
                </a:lnTo>
                <a:moveTo>
                  <a:pt x="12270" y="5999"/>
                </a:moveTo>
                <a:lnTo>
                  <a:pt x="12131" y="5999"/>
                </a:lnTo>
                <a:lnTo>
                  <a:pt x="12131" y="5897"/>
                </a:lnTo>
                <a:lnTo>
                  <a:pt x="12270" y="5897"/>
                </a:lnTo>
                <a:lnTo>
                  <a:pt x="12270" y="5999"/>
                </a:lnTo>
                <a:moveTo>
                  <a:pt x="12038" y="5999"/>
                </a:moveTo>
                <a:lnTo>
                  <a:pt x="11898" y="5999"/>
                </a:lnTo>
                <a:lnTo>
                  <a:pt x="11898" y="5897"/>
                </a:lnTo>
                <a:lnTo>
                  <a:pt x="12038" y="5897"/>
                </a:lnTo>
                <a:lnTo>
                  <a:pt x="12038" y="5999"/>
                </a:lnTo>
                <a:moveTo>
                  <a:pt x="11805" y="5999"/>
                </a:moveTo>
                <a:lnTo>
                  <a:pt x="11666" y="5999"/>
                </a:lnTo>
                <a:lnTo>
                  <a:pt x="11666" y="5897"/>
                </a:lnTo>
                <a:lnTo>
                  <a:pt x="11805" y="5897"/>
                </a:lnTo>
                <a:lnTo>
                  <a:pt x="11805" y="5999"/>
                </a:lnTo>
                <a:moveTo>
                  <a:pt x="11573" y="5999"/>
                </a:moveTo>
                <a:lnTo>
                  <a:pt x="11434" y="5999"/>
                </a:lnTo>
                <a:lnTo>
                  <a:pt x="11434" y="5897"/>
                </a:lnTo>
                <a:lnTo>
                  <a:pt x="11573" y="5897"/>
                </a:lnTo>
                <a:lnTo>
                  <a:pt x="11573" y="5999"/>
                </a:lnTo>
                <a:moveTo>
                  <a:pt x="11341" y="5999"/>
                </a:moveTo>
                <a:lnTo>
                  <a:pt x="11201" y="5999"/>
                </a:lnTo>
                <a:lnTo>
                  <a:pt x="11201" y="5897"/>
                </a:lnTo>
                <a:lnTo>
                  <a:pt x="11341" y="5897"/>
                </a:lnTo>
                <a:lnTo>
                  <a:pt x="11341" y="5999"/>
                </a:lnTo>
                <a:moveTo>
                  <a:pt x="11108" y="5999"/>
                </a:moveTo>
                <a:lnTo>
                  <a:pt x="10969" y="5999"/>
                </a:lnTo>
                <a:lnTo>
                  <a:pt x="10969" y="5897"/>
                </a:lnTo>
                <a:lnTo>
                  <a:pt x="11108" y="5897"/>
                </a:lnTo>
                <a:lnTo>
                  <a:pt x="11108" y="5999"/>
                </a:lnTo>
                <a:moveTo>
                  <a:pt x="10876" y="5999"/>
                </a:moveTo>
                <a:lnTo>
                  <a:pt x="10737" y="5999"/>
                </a:lnTo>
                <a:lnTo>
                  <a:pt x="10737" y="5897"/>
                </a:lnTo>
                <a:lnTo>
                  <a:pt x="10876" y="5897"/>
                </a:lnTo>
                <a:lnTo>
                  <a:pt x="10876" y="5999"/>
                </a:lnTo>
                <a:moveTo>
                  <a:pt x="10644" y="5999"/>
                </a:moveTo>
                <a:lnTo>
                  <a:pt x="10505" y="5999"/>
                </a:lnTo>
                <a:lnTo>
                  <a:pt x="10505" y="5897"/>
                </a:lnTo>
                <a:lnTo>
                  <a:pt x="10644" y="5897"/>
                </a:lnTo>
                <a:lnTo>
                  <a:pt x="10644" y="5999"/>
                </a:lnTo>
                <a:moveTo>
                  <a:pt x="10412" y="5999"/>
                </a:moveTo>
                <a:lnTo>
                  <a:pt x="10272" y="5999"/>
                </a:lnTo>
                <a:lnTo>
                  <a:pt x="10272" y="5897"/>
                </a:lnTo>
                <a:lnTo>
                  <a:pt x="10412" y="5897"/>
                </a:lnTo>
                <a:lnTo>
                  <a:pt x="10412" y="5999"/>
                </a:lnTo>
                <a:moveTo>
                  <a:pt x="10179" y="5999"/>
                </a:moveTo>
                <a:lnTo>
                  <a:pt x="10040" y="5999"/>
                </a:lnTo>
                <a:lnTo>
                  <a:pt x="10040" y="5897"/>
                </a:lnTo>
                <a:lnTo>
                  <a:pt x="10179" y="5897"/>
                </a:lnTo>
                <a:lnTo>
                  <a:pt x="10179" y="5999"/>
                </a:lnTo>
                <a:moveTo>
                  <a:pt x="9947" y="5999"/>
                </a:moveTo>
                <a:lnTo>
                  <a:pt x="9808" y="5999"/>
                </a:lnTo>
                <a:lnTo>
                  <a:pt x="9808" y="5897"/>
                </a:lnTo>
                <a:lnTo>
                  <a:pt x="9947" y="5897"/>
                </a:lnTo>
                <a:lnTo>
                  <a:pt x="9947" y="5999"/>
                </a:lnTo>
                <a:moveTo>
                  <a:pt x="9715" y="5999"/>
                </a:moveTo>
                <a:lnTo>
                  <a:pt x="9576" y="5999"/>
                </a:lnTo>
                <a:lnTo>
                  <a:pt x="9576" y="5897"/>
                </a:lnTo>
                <a:lnTo>
                  <a:pt x="9715" y="5897"/>
                </a:lnTo>
                <a:lnTo>
                  <a:pt x="9715" y="5999"/>
                </a:lnTo>
                <a:moveTo>
                  <a:pt x="9483" y="5999"/>
                </a:moveTo>
                <a:lnTo>
                  <a:pt x="9343" y="5999"/>
                </a:lnTo>
                <a:lnTo>
                  <a:pt x="9343" y="5897"/>
                </a:lnTo>
                <a:lnTo>
                  <a:pt x="9483" y="5897"/>
                </a:lnTo>
                <a:lnTo>
                  <a:pt x="9483" y="5999"/>
                </a:lnTo>
                <a:moveTo>
                  <a:pt x="9250" y="5999"/>
                </a:moveTo>
                <a:lnTo>
                  <a:pt x="9111" y="5999"/>
                </a:lnTo>
                <a:lnTo>
                  <a:pt x="9111" y="5897"/>
                </a:lnTo>
                <a:lnTo>
                  <a:pt x="9250" y="5897"/>
                </a:lnTo>
                <a:lnTo>
                  <a:pt x="9250" y="5999"/>
                </a:lnTo>
                <a:moveTo>
                  <a:pt x="9018" y="5999"/>
                </a:moveTo>
                <a:lnTo>
                  <a:pt x="8879" y="5999"/>
                </a:lnTo>
                <a:lnTo>
                  <a:pt x="8879" y="5897"/>
                </a:lnTo>
                <a:lnTo>
                  <a:pt x="9018" y="5897"/>
                </a:lnTo>
                <a:lnTo>
                  <a:pt x="9018" y="5999"/>
                </a:lnTo>
                <a:moveTo>
                  <a:pt x="8786" y="5999"/>
                </a:moveTo>
                <a:lnTo>
                  <a:pt x="8647" y="5999"/>
                </a:lnTo>
                <a:lnTo>
                  <a:pt x="8647" y="5897"/>
                </a:lnTo>
                <a:lnTo>
                  <a:pt x="8786" y="5897"/>
                </a:lnTo>
                <a:lnTo>
                  <a:pt x="8786" y="5999"/>
                </a:lnTo>
                <a:moveTo>
                  <a:pt x="8554" y="5999"/>
                </a:moveTo>
                <a:lnTo>
                  <a:pt x="8414" y="5999"/>
                </a:lnTo>
                <a:lnTo>
                  <a:pt x="8414" y="5897"/>
                </a:lnTo>
                <a:lnTo>
                  <a:pt x="8554" y="5897"/>
                </a:lnTo>
                <a:lnTo>
                  <a:pt x="8554" y="5999"/>
                </a:lnTo>
                <a:moveTo>
                  <a:pt x="8321" y="5999"/>
                </a:moveTo>
                <a:lnTo>
                  <a:pt x="8182" y="5999"/>
                </a:lnTo>
                <a:lnTo>
                  <a:pt x="8182" y="5897"/>
                </a:lnTo>
                <a:lnTo>
                  <a:pt x="8321" y="5897"/>
                </a:lnTo>
                <a:lnTo>
                  <a:pt x="8321" y="5999"/>
                </a:lnTo>
                <a:moveTo>
                  <a:pt x="8089" y="5999"/>
                </a:moveTo>
                <a:lnTo>
                  <a:pt x="7950" y="5999"/>
                </a:lnTo>
                <a:lnTo>
                  <a:pt x="7950" y="5897"/>
                </a:lnTo>
                <a:lnTo>
                  <a:pt x="8089" y="5897"/>
                </a:lnTo>
                <a:lnTo>
                  <a:pt x="8089" y="5999"/>
                </a:lnTo>
                <a:moveTo>
                  <a:pt x="7857" y="5999"/>
                </a:moveTo>
                <a:lnTo>
                  <a:pt x="7717" y="5999"/>
                </a:lnTo>
                <a:lnTo>
                  <a:pt x="7717" y="5897"/>
                </a:lnTo>
                <a:lnTo>
                  <a:pt x="7857" y="5897"/>
                </a:lnTo>
                <a:lnTo>
                  <a:pt x="7857" y="5999"/>
                </a:lnTo>
                <a:moveTo>
                  <a:pt x="7624" y="5999"/>
                </a:moveTo>
                <a:lnTo>
                  <a:pt x="7485" y="5999"/>
                </a:lnTo>
                <a:lnTo>
                  <a:pt x="7485" y="5897"/>
                </a:lnTo>
                <a:lnTo>
                  <a:pt x="7624" y="5897"/>
                </a:lnTo>
                <a:lnTo>
                  <a:pt x="7624" y="5999"/>
                </a:lnTo>
                <a:moveTo>
                  <a:pt x="7392" y="5999"/>
                </a:moveTo>
                <a:lnTo>
                  <a:pt x="7253" y="5999"/>
                </a:lnTo>
                <a:lnTo>
                  <a:pt x="7253" y="5897"/>
                </a:lnTo>
                <a:lnTo>
                  <a:pt x="7392" y="5897"/>
                </a:lnTo>
                <a:lnTo>
                  <a:pt x="7392" y="5999"/>
                </a:lnTo>
                <a:moveTo>
                  <a:pt x="7160" y="5999"/>
                </a:moveTo>
                <a:lnTo>
                  <a:pt x="7021" y="5999"/>
                </a:lnTo>
                <a:lnTo>
                  <a:pt x="7021" y="5897"/>
                </a:lnTo>
                <a:lnTo>
                  <a:pt x="7160" y="5897"/>
                </a:lnTo>
                <a:lnTo>
                  <a:pt x="7160" y="5999"/>
                </a:lnTo>
                <a:moveTo>
                  <a:pt x="6928" y="5999"/>
                </a:moveTo>
                <a:lnTo>
                  <a:pt x="6788" y="5999"/>
                </a:lnTo>
                <a:lnTo>
                  <a:pt x="6788" y="5897"/>
                </a:lnTo>
                <a:lnTo>
                  <a:pt x="6928" y="5897"/>
                </a:lnTo>
                <a:lnTo>
                  <a:pt x="6928" y="5999"/>
                </a:lnTo>
                <a:moveTo>
                  <a:pt x="6695" y="5999"/>
                </a:moveTo>
                <a:lnTo>
                  <a:pt x="6556" y="5999"/>
                </a:lnTo>
                <a:lnTo>
                  <a:pt x="6556" y="5897"/>
                </a:lnTo>
                <a:lnTo>
                  <a:pt x="6695" y="5897"/>
                </a:lnTo>
                <a:lnTo>
                  <a:pt x="6695" y="5999"/>
                </a:lnTo>
                <a:moveTo>
                  <a:pt x="6463" y="5999"/>
                </a:moveTo>
                <a:lnTo>
                  <a:pt x="6324" y="5999"/>
                </a:lnTo>
                <a:lnTo>
                  <a:pt x="6324" y="5897"/>
                </a:lnTo>
                <a:lnTo>
                  <a:pt x="6463" y="5897"/>
                </a:lnTo>
                <a:lnTo>
                  <a:pt x="6463" y="5999"/>
                </a:lnTo>
                <a:moveTo>
                  <a:pt x="6230" y="5999"/>
                </a:moveTo>
                <a:lnTo>
                  <a:pt x="6091" y="5999"/>
                </a:lnTo>
                <a:lnTo>
                  <a:pt x="6091" y="5897"/>
                </a:lnTo>
                <a:lnTo>
                  <a:pt x="6230" y="5897"/>
                </a:lnTo>
                <a:lnTo>
                  <a:pt x="6230" y="5999"/>
                </a:lnTo>
                <a:moveTo>
                  <a:pt x="5998" y="5999"/>
                </a:moveTo>
                <a:lnTo>
                  <a:pt x="5858" y="5999"/>
                </a:lnTo>
                <a:lnTo>
                  <a:pt x="5858" y="5897"/>
                </a:lnTo>
                <a:lnTo>
                  <a:pt x="5998" y="5897"/>
                </a:lnTo>
                <a:lnTo>
                  <a:pt x="5998" y="5999"/>
                </a:lnTo>
                <a:moveTo>
                  <a:pt x="5765" y="5999"/>
                </a:moveTo>
                <a:lnTo>
                  <a:pt x="5626" y="5999"/>
                </a:lnTo>
                <a:lnTo>
                  <a:pt x="5626" y="5897"/>
                </a:lnTo>
                <a:lnTo>
                  <a:pt x="5765" y="5897"/>
                </a:lnTo>
                <a:lnTo>
                  <a:pt x="5765" y="5999"/>
                </a:lnTo>
                <a:moveTo>
                  <a:pt x="5533" y="5999"/>
                </a:moveTo>
                <a:lnTo>
                  <a:pt x="5394" y="5999"/>
                </a:lnTo>
                <a:lnTo>
                  <a:pt x="5394" y="5897"/>
                </a:lnTo>
                <a:lnTo>
                  <a:pt x="5533" y="5897"/>
                </a:lnTo>
                <a:lnTo>
                  <a:pt x="5533" y="5999"/>
                </a:lnTo>
                <a:moveTo>
                  <a:pt x="5301" y="5999"/>
                </a:moveTo>
                <a:lnTo>
                  <a:pt x="5162" y="5999"/>
                </a:lnTo>
                <a:lnTo>
                  <a:pt x="5162" y="5897"/>
                </a:lnTo>
                <a:lnTo>
                  <a:pt x="5301" y="5897"/>
                </a:lnTo>
                <a:lnTo>
                  <a:pt x="5301" y="5999"/>
                </a:lnTo>
                <a:moveTo>
                  <a:pt x="5069" y="5999"/>
                </a:moveTo>
                <a:lnTo>
                  <a:pt x="4929" y="5999"/>
                </a:lnTo>
                <a:lnTo>
                  <a:pt x="4929" y="5897"/>
                </a:lnTo>
                <a:lnTo>
                  <a:pt x="5069" y="5897"/>
                </a:lnTo>
                <a:lnTo>
                  <a:pt x="5069" y="5999"/>
                </a:lnTo>
                <a:moveTo>
                  <a:pt x="4836" y="5999"/>
                </a:moveTo>
                <a:lnTo>
                  <a:pt x="4697" y="5999"/>
                </a:lnTo>
                <a:lnTo>
                  <a:pt x="4697" y="5897"/>
                </a:lnTo>
                <a:lnTo>
                  <a:pt x="4836" y="5897"/>
                </a:lnTo>
                <a:lnTo>
                  <a:pt x="4836" y="5999"/>
                </a:lnTo>
                <a:moveTo>
                  <a:pt x="4604" y="5999"/>
                </a:moveTo>
                <a:lnTo>
                  <a:pt x="4465" y="5999"/>
                </a:lnTo>
                <a:lnTo>
                  <a:pt x="4465" y="5897"/>
                </a:lnTo>
                <a:lnTo>
                  <a:pt x="4604" y="5897"/>
                </a:lnTo>
                <a:lnTo>
                  <a:pt x="4604" y="5999"/>
                </a:lnTo>
                <a:moveTo>
                  <a:pt x="4372" y="5999"/>
                </a:moveTo>
                <a:lnTo>
                  <a:pt x="4232" y="5999"/>
                </a:lnTo>
                <a:lnTo>
                  <a:pt x="4232" y="5897"/>
                </a:lnTo>
                <a:lnTo>
                  <a:pt x="4372" y="5897"/>
                </a:lnTo>
                <a:lnTo>
                  <a:pt x="4372" y="5999"/>
                </a:lnTo>
                <a:moveTo>
                  <a:pt x="4139" y="5999"/>
                </a:moveTo>
                <a:lnTo>
                  <a:pt x="4000" y="5999"/>
                </a:lnTo>
                <a:lnTo>
                  <a:pt x="4000" y="5897"/>
                </a:lnTo>
                <a:lnTo>
                  <a:pt x="4139" y="5897"/>
                </a:lnTo>
                <a:lnTo>
                  <a:pt x="4139" y="5999"/>
                </a:lnTo>
                <a:moveTo>
                  <a:pt x="3907" y="5999"/>
                </a:moveTo>
                <a:lnTo>
                  <a:pt x="3768" y="5999"/>
                </a:lnTo>
                <a:lnTo>
                  <a:pt x="3768" y="5897"/>
                </a:lnTo>
                <a:lnTo>
                  <a:pt x="3907" y="5897"/>
                </a:lnTo>
                <a:lnTo>
                  <a:pt x="3907" y="5999"/>
                </a:lnTo>
                <a:moveTo>
                  <a:pt x="3675" y="5999"/>
                </a:moveTo>
                <a:lnTo>
                  <a:pt x="3536" y="5999"/>
                </a:lnTo>
                <a:lnTo>
                  <a:pt x="3536" y="5897"/>
                </a:lnTo>
                <a:lnTo>
                  <a:pt x="3675" y="5897"/>
                </a:lnTo>
                <a:lnTo>
                  <a:pt x="3675" y="5999"/>
                </a:lnTo>
                <a:moveTo>
                  <a:pt x="3443" y="5999"/>
                </a:moveTo>
                <a:lnTo>
                  <a:pt x="3303" y="5999"/>
                </a:lnTo>
                <a:lnTo>
                  <a:pt x="3303" y="5897"/>
                </a:lnTo>
                <a:lnTo>
                  <a:pt x="3443" y="5897"/>
                </a:lnTo>
                <a:lnTo>
                  <a:pt x="3443" y="5999"/>
                </a:lnTo>
                <a:moveTo>
                  <a:pt x="3210" y="5999"/>
                </a:moveTo>
                <a:lnTo>
                  <a:pt x="3071" y="5999"/>
                </a:lnTo>
                <a:lnTo>
                  <a:pt x="3071" y="5897"/>
                </a:lnTo>
                <a:lnTo>
                  <a:pt x="3210" y="5897"/>
                </a:lnTo>
                <a:lnTo>
                  <a:pt x="3210" y="5999"/>
                </a:lnTo>
                <a:moveTo>
                  <a:pt x="2978" y="5999"/>
                </a:moveTo>
                <a:lnTo>
                  <a:pt x="2839" y="5999"/>
                </a:lnTo>
                <a:lnTo>
                  <a:pt x="2839" y="5897"/>
                </a:lnTo>
                <a:lnTo>
                  <a:pt x="2978" y="5897"/>
                </a:lnTo>
                <a:lnTo>
                  <a:pt x="2978" y="5999"/>
                </a:lnTo>
                <a:moveTo>
                  <a:pt x="2746" y="5999"/>
                </a:moveTo>
                <a:lnTo>
                  <a:pt x="2607" y="5999"/>
                </a:lnTo>
                <a:lnTo>
                  <a:pt x="2607" y="5897"/>
                </a:lnTo>
                <a:lnTo>
                  <a:pt x="2746" y="5897"/>
                </a:lnTo>
                <a:lnTo>
                  <a:pt x="2746" y="5999"/>
                </a:lnTo>
                <a:moveTo>
                  <a:pt x="2514" y="5999"/>
                </a:moveTo>
                <a:lnTo>
                  <a:pt x="2374" y="5999"/>
                </a:lnTo>
                <a:lnTo>
                  <a:pt x="2374" y="5897"/>
                </a:lnTo>
                <a:lnTo>
                  <a:pt x="2514" y="5897"/>
                </a:lnTo>
                <a:lnTo>
                  <a:pt x="2514" y="5999"/>
                </a:lnTo>
                <a:moveTo>
                  <a:pt x="2281" y="5999"/>
                </a:moveTo>
                <a:lnTo>
                  <a:pt x="2142" y="5999"/>
                </a:lnTo>
                <a:lnTo>
                  <a:pt x="2142" y="5897"/>
                </a:lnTo>
                <a:lnTo>
                  <a:pt x="2281" y="5897"/>
                </a:lnTo>
                <a:lnTo>
                  <a:pt x="2281" y="5999"/>
                </a:lnTo>
                <a:moveTo>
                  <a:pt x="2049" y="5999"/>
                </a:moveTo>
                <a:lnTo>
                  <a:pt x="1910" y="5999"/>
                </a:lnTo>
                <a:lnTo>
                  <a:pt x="1910" y="5897"/>
                </a:lnTo>
                <a:lnTo>
                  <a:pt x="2049" y="5897"/>
                </a:lnTo>
                <a:lnTo>
                  <a:pt x="2049" y="5999"/>
                </a:lnTo>
                <a:moveTo>
                  <a:pt x="1817" y="5999"/>
                </a:moveTo>
                <a:lnTo>
                  <a:pt x="1677" y="5999"/>
                </a:lnTo>
                <a:lnTo>
                  <a:pt x="1677" y="5897"/>
                </a:lnTo>
                <a:lnTo>
                  <a:pt x="1817" y="5897"/>
                </a:lnTo>
                <a:lnTo>
                  <a:pt x="1817" y="5999"/>
                </a:lnTo>
                <a:moveTo>
                  <a:pt x="1584" y="5999"/>
                </a:moveTo>
                <a:lnTo>
                  <a:pt x="1445" y="5999"/>
                </a:lnTo>
                <a:lnTo>
                  <a:pt x="1445" y="5897"/>
                </a:lnTo>
                <a:lnTo>
                  <a:pt x="1584" y="5897"/>
                </a:lnTo>
                <a:lnTo>
                  <a:pt x="1584" y="5999"/>
                </a:lnTo>
                <a:moveTo>
                  <a:pt x="1352" y="5999"/>
                </a:moveTo>
                <a:lnTo>
                  <a:pt x="1213" y="5999"/>
                </a:lnTo>
                <a:lnTo>
                  <a:pt x="1213" y="5897"/>
                </a:lnTo>
                <a:lnTo>
                  <a:pt x="1352" y="5897"/>
                </a:lnTo>
                <a:lnTo>
                  <a:pt x="1352" y="5999"/>
                </a:lnTo>
                <a:moveTo>
                  <a:pt x="1120" y="5999"/>
                </a:moveTo>
                <a:lnTo>
                  <a:pt x="981" y="5999"/>
                </a:lnTo>
                <a:lnTo>
                  <a:pt x="981" y="5897"/>
                </a:lnTo>
                <a:lnTo>
                  <a:pt x="1120" y="5897"/>
                </a:lnTo>
                <a:lnTo>
                  <a:pt x="1120" y="5999"/>
                </a:lnTo>
                <a:moveTo>
                  <a:pt x="888" y="5999"/>
                </a:moveTo>
                <a:lnTo>
                  <a:pt x="748" y="5999"/>
                </a:lnTo>
                <a:lnTo>
                  <a:pt x="748" y="5897"/>
                </a:lnTo>
                <a:lnTo>
                  <a:pt x="888" y="5897"/>
                </a:lnTo>
                <a:lnTo>
                  <a:pt x="888" y="5999"/>
                </a:lnTo>
                <a:moveTo>
                  <a:pt x="655" y="5999"/>
                </a:moveTo>
                <a:lnTo>
                  <a:pt x="516" y="5999"/>
                </a:lnTo>
                <a:lnTo>
                  <a:pt x="516" y="5897"/>
                </a:lnTo>
                <a:lnTo>
                  <a:pt x="655" y="5897"/>
                </a:lnTo>
                <a:lnTo>
                  <a:pt x="655" y="5999"/>
                </a:lnTo>
                <a:moveTo>
                  <a:pt x="423" y="5999"/>
                </a:moveTo>
                <a:lnTo>
                  <a:pt x="284" y="5999"/>
                </a:lnTo>
                <a:lnTo>
                  <a:pt x="284" y="5897"/>
                </a:lnTo>
                <a:lnTo>
                  <a:pt x="423" y="5897"/>
                </a:lnTo>
                <a:lnTo>
                  <a:pt x="423" y="5999"/>
                </a:lnTo>
                <a:moveTo>
                  <a:pt x="185" y="5997"/>
                </a:moveTo>
                <a:cubicBezTo>
                  <a:pt x="119" y="5988"/>
                  <a:pt x="69" y="5956"/>
                  <a:pt x="33" y="5900"/>
                </a:cubicBezTo>
                <a:lnTo>
                  <a:pt x="120" y="5845"/>
                </a:lnTo>
                <a:cubicBezTo>
                  <a:pt x="138" y="5874"/>
                  <a:pt x="164" y="5891"/>
                  <a:pt x="199" y="5896"/>
                </a:cubicBezTo>
                <a:lnTo>
                  <a:pt x="185" y="5997"/>
                </a:lnTo>
                <a:moveTo>
                  <a:pt x="0" y="5784"/>
                </a:moveTo>
                <a:lnTo>
                  <a:pt x="0" y="5645"/>
                </a:lnTo>
                <a:lnTo>
                  <a:pt x="103" y="5645"/>
                </a:lnTo>
                <a:lnTo>
                  <a:pt x="103" y="5784"/>
                </a:lnTo>
                <a:lnTo>
                  <a:pt x="0" y="5784"/>
                </a:lnTo>
                <a:moveTo>
                  <a:pt x="0" y="5552"/>
                </a:moveTo>
                <a:lnTo>
                  <a:pt x="0" y="5411"/>
                </a:lnTo>
                <a:lnTo>
                  <a:pt x="103" y="5411"/>
                </a:lnTo>
                <a:lnTo>
                  <a:pt x="103" y="5552"/>
                </a:lnTo>
                <a:lnTo>
                  <a:pt x="0" y="5552"/>
                </a:lnTo>
                <a:moveTo>
                  <a:pt x="0" y="5318"/>
                </a:moveTo>
                <a:lnTo>
                  <a:pt x="0" y="5179"/>
                </a:lnTo>
                <a:lnTo>
                  <a:pt x="103" y="5179"/>
                </a:lnTo>
                <a:lnTo>
                  <a:pt x="103" y="5318"/>
                </a:lnTo>
                <a:lnTo>
                  <a:pt x="0" y="5318"/>
                </a:lnTo>
                <a:moveTo>
                  <a:pt x="0" y="5086"/>
                </a:moveTo>
                <a:lnTo>
                  <a:pt x="0" y="4947"/>
                </a:lnTo>
                <a:lnTo>
                  <a:pt x="103" y="4947"/>
                </a:lnTo>
                <a:lnTo>
                  <a:pt x="103" y="5086"/>
                </a:lnTo>
                <a:lnTo>
                  <a:pt x="0" y="5086"/>
                </a:lnTo>
                <a:moveTo>
                  <a:pt x="0" y="4854"/>
                </a:moveTo>
                <a:lnTo>
                  <a:pt x="0" y="4715"/>
                </a:lnTo>
                <a:lnTo>
                  <a:pt x="103" y="4715"/>
                </a:lnTo>
                <a:lnTo>
                  <a:pt x="103" y="4854"/>
                </a:lnTo>
                <a:lnTo>
                  <a:pt x="0" y="4854"/>
                </a:lnTo>
                <a:moveTo>
                  <a:pt x="0" y="4622"/>
                </a:moveTo>
                <a:lnTo>
                  <a:pt x="0" y="4482"/>
                </a:lnTo>
                <a:lnTo>
                  <a:pt x="103" y="4482"/>
                </a:lnTo>
                <a:lnTo>
                  <a:pt x="103" y="4622"/>
                </a:lnTo>
                <a:lnTo>
                  <a:pt x="0" y="4622"/>
                </a:lnTo>
                <a:moveTo>
                  <a:pt x="0" y="4389"/>
                </a:moveTo>
                <a:lnTo>
                  <a:pt x="0" y="4250"/>
                </a:lnTo>
                <a:lnTo>
                  <a:pt x="103" y="4250"/>
                </a:lnTo>
                <a:lnTo>
                  <a:pt x="103" y="4389"/>
                </a:lnTo>
                <a:lnTo>
                  <a:pt x="0" y="4389"/>
                </a:lnTo>
                <a:moveTo>
                  <a:pt x="0" y="4157"/>
                </a:moveTo>
                <a:lnTo>
                  <a:pt x="0" y="4018"/>
                </a:lnTo>
                <a:lnTo>
                  <a:pt x="103" y="4018"/>
                </a:lnTo>
                <a:lnTo>
                  <a:pt x="103" y="4157"/>
                </a:lnTo>
                <a:lnTo>
                  <a:pt x="0" y="4157"/>
                </a:lnTo>
                <a:moveTo>
                  <a:pt x="0" y="3925"/>
                </a:moveTo>
                <a:lnTo>
                  <a:pt x="0" y="3785"/>
                </a:lnTo>
                <a:lnTo>
                  <a:pt x="103" y="3785"/>
                </a:lnTo>
                <a:lnTo>
                  <a:pt x="103" y="3925"/>
                </a:lnTo>
                <a:lnTo>
                  <a:pt x="0" y="3925"/>
                </a:lnTo>
                <a:moveTo>
                  <a:pt x="0" y="3693"/>
                </a:moveTo>
                <a:lnTo>
                  <a:pt x="0" y="3553"/>
                </a:lnTo>
                <a:lnTo>
                  <a:pt x="103" y="3553"/>
                </a:lnTo>
                <a:lnTo>
                  <a:pt x="103" y="3693"/>
                </a:lnTo>
                <a:lnTo>
                  <a:pt x="0" y="3693"/>
                </a:lnTo>
                <a:moveTo>
                  <a:pt x="0" y="3460"/>
                </a:moveTo>
                <a:lnTo>
                  <a:pt x="0" y="3321"/>
                </a:lnTo>
                <a:lnTo>
                  <a:pt x="103" y="3321"/>
                </a:lnTo>
                <a:lnTo>
                  <a:pt x="103" y="3460"/>
                </a:lnTo>
                <a:lnTo>
                  <a:pt x="0" y="3460"/>
                </a:lnTo>
                <a:moveTo>
                  <a:pt x="0" y="3228"/>
                </a:moveTo>
                <a:lnTo>
                  <a:pt x="0" y="3089"/>
                </a:lnTo>
                <a:lnTo>
                  <a:pt x="103" y="3089"/>
                </a:lnTo>
                <a:lnTo>
                  <a:pt x="103" y="3228"/>
                </a:lnTo>
                <a:lnTo>
                  <a:pt x="0" y="3228"/>
                </a:lnTo>
                <a:moveTo>
                  <a:pt x="0" y="2996"/>
                </a:moveTo>
                <a:lnTo>
                  <a:pt x="0" y="2856"/>
                </a:lnTo>
                <a:lnTo>
                  <a:pt x="103" y="2856"/>
                </a:lnTo>
                <a:lnTo>
                  <a:pt x="103" y="2996"/>
                </a:lnTo>
                <a:lnTo>
                  <a:pt x="0" y="2996"/>
                </a:lnTo>
                <a:moveTo>
                  <a:pt x="0" y="2763"/>
                </a:moveTo>
                <a:lnTo>
                  <a:pt x="0" y="2624"/>
                </a:lnTo>
                <a:lnTo>
                  <a:pt x="103" y="2624"/>
                </a:lnTo>
                <a:lnTo>
                  <a:pt x="103" y="2763"/>
                </a:lnTo>
                <a:lnTo>
                  <a:pt x="0" y="2763"/>
                </a:lnTo>
                <a:moveTo>
                  <a:pt x="0" y="2531"/>
                </a:moveTo>
                <a:lnTo>
                  <a:pt x="0" y="2392"/>
                </a:lnTo>
                <a:lnTo>
                  <a:pt x="103" y="2392"/>
                </a:lnTo>
                <a:lnTo>
                  <a:pt x="103" y="2531"/>
                </a:lnTo>
                <a:lnTo>
                  <a:pt x="0" y="2531"/>
                </a:lnTo>
                <a:moveTo>
                  <a:pt x="0" y="2299"/>
                </a:moveTo>
                <a:lnTo>
                  <a:pt x="0" y="2160"/>
                </a:lnTo>
                <a:lnTo>
                  <a:pt x="103" y="2160"/>
                </a:lnTo>
                <a:lnTo>
                  <a:pt x="103" y="2299"/>
                </a:lnTo>
                <a:lnTo>
                  <a:pt x="0" y="2299"/>
                </a:lnTo>
                <a:moveTo>
                  <a:pt x="0" y="2067"/>
                </a:moveTo>
                <a:lnTo>
                  <a:pt x="0" y="1927"/>
                </a:lnTo>
                <a:lnTo>
                  <a:pt x="103" y="1927"/>
                </a:lnTo>
                <a:lnTo>
                  <a:pt x="103" y="2067"/>
                </a:lnTo>
                <a:lnTo>
                  <a:pt x="0" y="2067"/>
                </a:lnTo>
                <a:moveTo>
                  <a:pt x="0" y="1834"/>
                </a:moveTo>
                <a:lnTo>
                  <a:pt x="0" y="1695"/>
                </a:lnTo>
                <a:lnTo>
                  <a:pt x="103" y="1695"/>
                </a:lnTo>
                <a:lnTo>
                  <a:pt x="103" y="1834"/>
                </a:lnTo>
                <a:lnTo>
                  <a:pt x="0" y="1834"/>
                </a:lnTo>
                <a:moveTo>
                  <a:pt x="0" y="1602"/>
                </a:moveTo>
                <a:lnTo>
                  <a:pt x="0" y="1463"/>
                </a:lnTo>
                <a:lnTo>
                  <a:pt x="103" y="1463"/>
                </a:lnTo>
                <a:lnTo>
                  <a:pt x="103" y="1602"/>
                </a:lnTo>
                <a:lnTo>
                  <a:pt x="0" y="1602"/>
                </a:lnTo>
                <a:moveTo>
                  <a:pt x="0" y="1370"/>
                </a:moveTo>
                <a:lnTo>
                  <a:pt x="0" y="1231"/>
                </a:lnTo>
                <a:lnTo>
                  <a:pt x="103" y="1231"/>
                </a:lnTo>
                <a:lnTo>
                  <a:pt x="103" y="1370"/>
                </a:lnTo>
                <a:lnTo>
                  <a:pt x="0" y="1370"/>
                </a:lnTo>
                <a:moveTo>
                  <a:pt x="0" y="1138"/>
                </a:moveTo>
                <a:lnTo>
                  <a:pt x="0" y="998"/>
                </a:lnTo>
                <a:lnTo>
                  <a:pt x="103" y="998"/>
                </a:lnTo>
                <a:lnTo>
                  <a:pt x="103" y="1138"/>
                </a:lnTo>
                <a:lnTo>
                  <a:pt x="0" y="1138"/>
                </a:lnTo>
                <a:moveTo>
                  <a:pt x="0" y="905"/>
                </a:moveTo>
                <a:lnTo>
                  <a:pt x="0" y="766"/>
                </a:lnTo>
                <a:lnTo>
                  <a:pt x="103" y="766"/>
                </a:lnTo>
                <a:lnTo>
                  <a:pt x="103" y="905"/>
                </a:lnTo>
                <a:lnTo>
                  <a:pt x="0" y="905"/>
                </a:lnTo>
                <a:moveTo>
                  <a:pt x="0" y="673"/>
                </a:moveTo>
                <a:lnTo>
                  <a:pt x="0" y="534"/>
                </a:lnTo>
                <a:lnTo>
                  <a:pt x="103" y="534"/>
                </a:lnTo>
                <a:lnTo>
                  <a:pt x="103" y="673"/>
                </a:lnTo>
                <a:lnTo>
                  <a:pt x="0" y="673"/>
                </a:lnTo>
                <a:moveTo>
                  <a:pt x="0" y="441"/>
                </a:moveTo>
                <a:lnTo>
                  <a:pt x="0" y="301"/>
                </a:lnTo>
                <a:lnTo>
                  <a:pt x="103" y="301"/>
                </a:lnTo>
                <a:lnTo>
                  <a:pt x="103" y="441"/>
                </a:lnTo>
                <a:lnTo>
                  <a:pt x="0" y="441"/>
                </a:lnTo>
                <a:moveTo>
                  <a:pt x="1" y="207"/>
                </a:moveTo>
                <a:cubicBezTo>
                  <a:pt x="3" y="141"/>
                  <a:pt x="29" y="88"/>
                  <a:pt x="81" y="47"/>
                </a:cubicBezTo>
                <a:lnTo>
                  <a:pt x="144" y="127"/>
                </a:lnTo>
                <a:cubicBezTo>
                  <a:pt x="118" y="148"/>
                  <a:pt x="104" y="176"/>
                  <a:pt x="103" y="210"/>
                </a:cubicBezTo>
                <a:lnTo>
                  <a:pt x="1" y="207"/>
                </a:lnTo>
                <a:moveTo>
                  <a:pt x="194" y="1"/>
                </a:moveTo>
                <a:cubicBezTo>
                  <a:pt x="200" y="0"/>
                  <a:pt x="207" y="0"/>
                  <a:pt x="214" y="0"/>
                </a:cubicBezTo>
                <a:lnTo>
                  <a:pt x="353" y="0"/>
                </a:lnTo>
                <a:lnTo>
                  <a:pt x="353" y="102"/>
                </a:lnTo>
                <a:lnTo>
                  <a:pt x="214" y="102"/>
                </a:lnTo>
                <a:cubicBezTo>
                  <a:pt x="210" y="102"/>
                  <a:pt x="207" y="102"/>
                  <a:pt x="203" y="103"/>
                </a:cubicBezTo>
                <a:lnTo>
                  <a:pt x="194" y="1"/>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39" name="フリーフォーム: 図形 238"/>
          <p:cNvSpPr/>
          <p:nvPr/>
        </p:nvSpPr>
        <p:spPr>
          <a:xfrm>
            <a:off x="286920" y="3377880"/>
            <a:ext cx="4974480" cy="31680"/>
          </a:xfrm>
          <a:custGeom>
            <a:avLst/>
            <a:gdLst/>
            <a:ahLst/>
            <a:cxnLst/>
            <a:rect l="0" t="0" r="r" b="b"/>
            <a:pathLst>
              <a:path w="13818" h="88">
                <a:moveTo>
                  <a:pt x="33" y="0"/>
                </a:moveTo>
                <a:cubicBezTo>
                  <a:pt x="55" y="23"/>
                  <a:pt x="82" y="36"/>
                  <a:pt x="112" y="40"/>
                </a:cubicBezTo>
                <a:lnTo>
                  <a:pt x="105" y="87"/>
                </a:lnTo>
                <a:cubicBezTo>
                  <a:pt x="90" y="85"/>
                  <a:pt x="75" y="80"/>
                  <a:pt x="60" y="74"/>
                </a:cubicBezTo>
                <a:cubicBezTo>
                  <a:pt x="37" y="65"/>
                  <a:pt x="17" y="50"/>
                  <a:pt x="0" y="33"/>
                </a:cubicBezTo>
                <a:lnTo>
                  <a:pt x="33" y="0"/>
                </a:lnTo>
                <a:moveTo>
                  <a:pt x="340" y="41"/>
                </a:moveTo>
                <a:lnTo>
                  <a:pt x="340" y="88"/>
                </a:lnTo>
                <a:lnTo>
                  <a:pt x="201" y="88"/>
                </a:lnTo>
                <a:lnTo>
                  <a:pt x="201" y="41"/>
                </a:lnTo>
                <a:lnTo>
                  <a:pt x="340" y="41"/>
                </a:lnTo>
                <a:moveTo>
                  <a:pt x="572" y="41"/>
                </a:moveTo>
                <a:lnTo>
                  <a:pt x="572" y="88"/>
                </a:lnTo>
                <a:lnTo>
                  <a:pt x="433" y="88"/>
                </a:lnTo>
                <a:lnTo>
                  <a:pt x="433" y="41"/>
                </a:lnTo>
                <a:lnTo>
                  <a:pt x="572" y="41"/>
                </a:lnTo>
                <a:moveTo>
                  <a:pt x="805" y="41"/>
                </a:moveTo>
                <a:lnTo>
                  <a:pt x="805" y="88"/>
                </a:lnTo>
                <a:lnTo>
                  <a:pt x="665" y="88"/>
                </a:lnTo>
                <a:lnTo>
                  <a:pt x="665" y="41"/>
                </a:lnTo>
                <a:lnTo>
                  <a:pt x="805" y="41"/>
                </a:lnTo>
                <a:moveTo>
                  <a:pt x="1037" y="41"/>
                </a:moveTo>
                <a:lnTo>
                  <a:pt x="1037" y="88"/>
                </a:lnTo>
                <a:lnTo>
                  <a:pt x="898" y="88"/>
                </a:lnTo>
                <a:lnTo>
                  <a:pt x="898" y="41"/>
                </a:lnTo>
                <a:lnTo>
                  <a:pt x="1037" y="41"/>
                </a:lnTo>
                <a:moveTo>
                  <a:pt x="1269" y="41"/>
                </a:moveTo>
                <a:lnTo>
                  <a:pt x="1269" y="88"/>
                </a:lnTo>
                <a:lnTo>
                  <a:pt x="1130" y="88"/>
                </a:lnTo>
                <a:lnTo>
                  <a:pt x="1130" y="41"/>
                </a:lnTo>
                <a:lnTo>
                  <a:pt x="1269" y="41"/>
                </a:lnTo>
                <a:moveTo>
                  <a:pt x="1501" y="41"/>
                </a:moveTo>
                <a:lnTo>
                  <a:pt x="1501" y="88"/>
                </a:lnTo>
                <a:lnTo>
                  <a:pt x="1362" y="88"/>
                </a:lnTo>
                <a:lnTo>
                  <a:pt x="1362" y="41"/>
                </a:lnTo>
                <a:lnTo>
                  <a:pt x="1501" y="41"/>
                </a:lnTo>
                <a:moveTo>
                  <a:pt x="1734" y="41"/>
                </a:moveTo>
                <a:lnTo>
                  <a:pt x="1734" y="88"/>
                </a:lnTo>
                <a:lnTo>
                  <a:pt x="1594" y="88"/>
                </a:lnTo>
                <a:lnTo>
                  <a:pt x="1594" y="41"/>
                </a:lnTo>
                <a:lnTo>
                  <a:pt x="1734" y="41"/>
                </a:lnTo>
                <a:moveTo>
                  <a:pt x="1966" y="41"/>
                </a:moveTo>
                <a:lnTo>
                  <a:pt x="1966" y="88"/>
                </a:lnTo>
                <a:lnTo>
                  <a:pt x="1827" y="88"/>
                </a:lnTo>
                <a:lnTo>
                  <a:pt x="1827" y="41"/>
                </a:lnTo>
                <a:lnTo>
                  <a:pt x="1966" y="41"/>
                </a:lnTo>
                <a:moveTo>
                  <a:pt x="2198" y="41"/>
                </a:moveTo>
                <a:lnTo>
                  <a:pt x="2198" y="88"/>
                </a:lnTo>
                <a:lnTo>
                  <a:pt x="2059" y="88"/>
                </a:lnTo>
                <a:lnTo>
                  <a:pt x="2059" y="41"/>
                </a:lnTo>
                <a:lnTo>
                  <a:pt x="2198" y="41"/>
                </a:lnTo>
                <a:moveTo>
                  <a:pt x="2431" y="41"/>
                </a:moveTo>
                <a:lnTo>
                  <a:pt x="2431" y="88"/>
                </a:lnTo>
                <a:lnTo>
                  <a:pt x="2291" y="88"/>
                </a:lnTo>
                <a:lnTo>
                  <a:pt x="2291" y="41"/>
                </a:lnTo>
                <a:lnTo>
                  <a:pt x="2431" y="41"/>
                </a:lnTo>
                <a:moveTo>
                  <a:pt x="2663" y="41"/>
                </a:moveTo>
                <a:lnTo>
                  <a:pt x="2663" y="88"/>
                </a:lnTo>
                <a:lnTo>
                  <a:pt x="2524" y="88"/>
                </a:lnTo>
                <a:lnTo>
                  <a:pt x="2524" y="41"/>
                </a:lnTo>
                <a:lnTo>
                  <a:pt x="2663" y="41"/>
                </a:lnTo>
                <a:moveTo>
                  <a:pt x="2895" y="41"/>
                </a:moveTo>
                <a:lnTo>
                  <a:pt x="2895" y="88"/>
                </a:lnTo>
                <a:lnTo>
                  <a:pt x="2756" y="88"/>
                </a:lnTo>
                <a:lnTo>
                  <a:pt x="2756" y="41"/>
                </a:lnTo>
                <a:lnTo>
                  <a:pt x="2895" y="41"/>
                </a:lnTo>
                <a:moveTo>
                  <a:pt x="3127" y="41"/>
                </a:moveTo>
                <a:lnTo>
                  <a:pt x="3127" y="88"/>
                </a:lnTo>
                <a:lnTo>
                  <a:pt x="2988" y="88"/>
                </a:lnTo>
                <a:lnTo>
                  <a:pt x="2988" y="41"/>
                </a:lnTo>
                <a:lnTo>
                  <a:pt x="3127" y="41"/>
                </a:lnTo>
                <a:moveTo>
                  <a:pt x="3360" y="41"/>
                </a:moveTo>
                <a:lnTo>
                  <a:pt x="3360" y="88"/>
                </a:lnTo>
                <a:lnTo>
                  <a:pt x="3220" y="88"/>
                </a:lnTo>
                <a:lnTo>
                  <a:pt x="3220" y="41"/>
                </a:lnTo>
                <a:lnTo>
                  <a:pt x="3360" y="41"/>
                </a:lnTo>
                <a:moveTo>
                  <a:pt x="3592" y="41"/>
                </a:moveTo>
                <a:lnTo>
                  <a:pt x="3592" y="88"/>
                </a:lnTo>
                <a:lnTo>
                  <a:pt x="3453" y="88"/>
                </a:lnTo>
                <a:lnTo>
                  <a:pt x="3453" y="41"/>
                </a:lnTo>
                <a:lnTo>
                  <a:pt x="3592" y="41"/>
                </a:lnTo>
                <a:moveTo>
                  <a:pt x="3824" y="41"/>
                </a:moveTo>
                <a:lnTo>
                  <a:pt x="3824" y="88"/>
                </a:lnTo>
                <a:lnTo>
                  <a:pt x="3685" y="88"/>
                </a:lnTo>
                <a:lnTo>
                  <a:pt x="3685" y="41"/>
                </a:lnTo>
                <a:lnTo>
                  <a:pt x="3824" y="41"/>
                </a:lnTo>
                <a:moveTo>
                  <a:pt x="4056" y="41"/>
                </a:moveTo>
                <a:lnTo>
                  <a:pt x="4056" y="88"/>
                </a:lnTo>
                <a:lnTo>
                  <a:pt x="3917" y="88"/>
                </a:lnTo>
                <a:lnTo>
                  <a:pt x="3917" y="41"/>
                </a:lnTo>
                <a:lnTo>
                  <a:pt x="4056" y="41"/>
                </a:lnTo>
                <a:moveTo>
                  <a:pt x="4289" y="41"/>
                </a:moveTo>
                <a:lnTo>
                  <a:pt x="4289" y="88"/>
                </a:lnTo>
                <a:lnTo>
                  <a:pt x="4149" y="88"/>
                </a:lnTo>
                <a:lnTo>
                  <a:pt x="4149" y="41"/>
                </a:lnTo>
                <a:lnTo>
                  <a:pt x="4289" y="41"/>
                </a:lnTo>
                <a:moveTo>
                  <a:pt x="4521" y="41"/>
                </a:moveTo>
                <a:lnTo>
                  <a:pt x="4521" y="88"/>
                </a:lnTo>
                <a:lnTo>
                  <a:pt x="4382" y="88"/>
                </a:lnTo>
                <a:lnTo>
                  <a:pt x="4382" y="41"/>
                </a:lnTo>
                <a:lnTo>
                  <a:pt x="4521" y="41"/>
                </a:lnTo>
                <a:moveTo>
                  <a:pt x="4753" y="41"/>
                </a:moveTo>
                <a:lnTo>
                  <a:pt x="4753" y="88"/>
                </a:lnTo>
                <a:lnTo>
                  <a:pt x="4614" y="88"/>
                </a:lnTo>
                <a:lnTo>
                  <a:pt x="4614" y="41"/>
                </a:lnTo>
                <a:lnTo>
                  <a:pt x="4753" y="41"/>
                </a:lnTo>
                <a:moveTo>
                  <a:pt x="4986" y="41"/>
                </a:moveTo>
                <a:lnTo>
                  <a:pt x="4986" y="88"/>
                </a:lnTo>
                <a:lnTo>
                  <a:pt x="4846" y="88"/>
                </a:lnTo>
                <a:lnTo>
                  <a:pt x="4846" y="41"/>
                </a:lnTo>
                <a:lnTo>
                  <a:pt x="4986" y="41"/>
                </a:lnTo>
                <a:moveTo>
                  <a:pt x="5218" y="41"/>
                </a:moveTo>
                <a:lnTo>
                  <a:pt x="5218" y="88"/>
                </a:lnTo>
                <a:lnTo>
                  <a:pt x="5079" y="88"/>
                </a:lnTo>
                <a:lnTo>
                  <a:pt x="5079" y="41"/>
                </a:lnTo>
                <a:lnTo>
                  <a:pt x="5218" y="41"/>
                </a:lnTo>
                <a:moveTo>
                  <a:pt x="5450" y="41"/>
                </a:moveTo>
                <a:lnTo>
                  <a:pt x="5450" y="88"/>
                </a:lnTo>
                <a:lnTo>
                  <a:pt x="5311" y="88"/>
                </a:lnTo>
                <a:lnTo>
                  <a:pt x="5311" y="41"/>
                </a:lnTo>
                <a:lnTo>
                  <a:pt x="5450" y="41"/>
                </a:lnTo>
                <a:moveTo>
                  <a:pt x="5682" y="41"/>
                </a:moveTo>
                <a:lnTo>
                  <a:pt x="5682" y="88"/>
                </a:lnTo>
                <a:lnTo>
                  <a:pt x="5543" y="88"/>
                </a:lnTo>
                <a:lnTo>
                  <a:pt x="5543" y="41"/>
                </a:lnTo>
                <a:lnTo>
                  <a:pt x="5682" y="41"/>
                </a:lnTo>
                <a:moveTo>
                  <a:pt x="5915" y="41"/>
                </a:moveTo>
                <a:lnTo>
                  <a:pt x="5915" y="88"/>
                </a:lnTo>
                <a:lnTo>
                  <a:pt x="5775" y="88"/>
                </a:lnTo>
                <a:lnTo>
                  <a:pt x="5775" y="41"/>
                </a:lnTo>
                <a:lnTo>
                  <a:pt x="5915" y="41"/>
                </a:lnTo>
                <a:moveTo>
                  <a:pt x="6148" y="41"/>
                </a:moveTo>
                <a:lnTo>
                  <a:pt x="6148" y="88"/>
                </a:lnTo>
                <a:lnTo>
                  <a:pt x="6008" y="88"/>
                </a:lnTo>
                <a:lnTo>
                  <a:pt x="6008" y="41"/>
                </a:lnTo>
                <a:lnTo>
                  <a:pt x="6148" y="41"/>
                </a:lnTo>
                <a:moveTo>
                  <a:pt x="6380" y="41"/>
                </a:moveTo>
                <a:lnTo>
                  <a:pt x="6380" y="88"/>
                </a:lnTo>
                <a:lnTo>
                  <a:pt x="6241" y="88"/>
                </a:lnTo>
                <a:lnTo>
                  <a:pt x="6241" y="41"/>
                </a:lnTo>
                <a:lnTo>
                  <a:pt x="6380" y="41"/>
                </a:lnTo>
                <a:moveTo>
                  <a:pt x="6612" y="41"/>
                </a:moveTo>
                <a:lnTo>
                  <a:pt x="6612" y="88"/>
                </a:lnTo>
                <a:lnTo>
                  <a:pt x="6473" y="88"/>
                </a:lnTo>
                <a:lnTo>
                  <a:pt x="6473" y="41"/>
                </a:lnTo>
                <a:lnTo>
                  <a:pt x="6612" y="41"/>
                </a:lnTo>
                <a:moveTo>
                  <a:pt x="6845" y="41"/>
                </a:moveTo>
                <a:lnTo>
                  <a:pt x="6845" y="88"/>
                </a:lnTo>
                <a:lnTo>
                  <a:pt x="6705" y="88"/>
                </a:lnTo>
                <a:lnTo>
                  <a:pt x="6705" y="41"/>
                </a:lnTo>
                <a:lnTo>
                  <a:pt x="6845" y="41"/>
                </a:lnTo>
                <a:moveTo>
                  <a:pt x="7077" y="41"/>
                </a:moveTo>
                <a:lnTo>
                  <a:pt x="7077" y="88"/>
                </a:lnTo>
                <a:lnTo>
                  <a:pt x="6938" y="88"/>
                </a:lnTo>
                <a:lnTo>
                  <a:pt x="6938" y="41"/>
                </a:lnTo>
                <a:lnTo>
                  <a:pt x="7077" y="41"/>
                </a:lnTo>
                <a:moveTo>
                  <a:pt x="7309" y="41"/>
                </a:moveTo>
                <a:lnTo>
                  <a:pt x="7309" y="88"/>
                </a:lnTo>
                <a:lnTo>
                  <a:pt x="7170" y="88"/>
                </a:lnTo>
                <a:lnTo>
                  <a:pt x="7170" y="41"/>
                </a:lnTo>
                <a:lnTo>
                  <a:pt x="7309" y="41"/>
                </a:lnTo>
                <a:moveTo>
                  <a:pt x="7541" y="41"/>
                </a:moveTo>
                <a:lnTo>
                  <a:pt x="7541" y="88"/>
                </a:lnTo>
                <a:lnTo>
                  <a:pt x="7402" y="88"/>
                </a:lnTo>
                <a:lnTo>
                  <a:pt x="7402" y="41"/>
                </a:lnTo>
                <a:lnTo>
                  <a:pt x="7541" y="41"/>
                </a:lnTo>
                <a:moveTo>
                  <a:pt x="7774" y="41"/>
                </a:moveTo>
                <a:lnTo>
                  <a:pt x="7774" y="88"/>
                </a:lnTo>
                <a:lnTo>
                  <a:pt x="7634" y="88"/>
                </a:lnTo>
                <a:lnTo>
                  <a:pt x="7634" y="41"/>
                </a:lnTo>
                <a:lnTo>
                  <a:pt x="7774" y="41"/>
                </a:lnTo>
                <a:moveTo>
                  <a:pt x="8006" y="41"/>
                </a:moveTo>
                <a:lnTo>
                  <a:pt x="8006" y="88"/>
                </a:lnTo>
                <a:lnTo>
                  <a:pt x="7867" y="88"/>
                </a:lnTo>
                <a:lnTo>
                  <a:pt x="7867" y="41"/>
                </a:lnTo>
                <a:lnTo>
                  <a:pt x="8006" y="41"/>
                </a:lnTo>
                <a:moveTo>
                  <a:pt x="8238" y="41"/>
                </a:moveTo>
                <a:lnTo>
                  <a:pt x="8238" y="88"/>
                </a:lnTo>
                <a:lnTo>
                  <a:pt x="8099" y="88"/>
                </a:lnTo>
                <a:lnTo>
                  <a:pt x="8099" y="41"/>
                </a:lnTo>
                <a:lnTo>
                  <a:pt x="8238" y="41"/>
                </a:lnTo>
                <a:moveTo>
                  <a:pt x="8471" y="41"/>
                </a:moveTo>
                <a:lnTo>
                  <a:pt x="8471" y="88"/>
                </a:lnTo>
                <a:lnTo>
                  <a:pt x="8331" y="88"/>
                </a:lnTo>
                <a:lnTo>
                  <a:pt x="8331" y="41"/>
                </a:lnTo>
                <a:lnTo>
                  <a:pt x="8471" y="41"/>
                </a:lnTo>
                <a:moveTo>
                  <a:pt x="8703" y="41"/>
                </a:moveTo>
                <a:lnTo>
                  <a:pt x="8703" y="88"/>
                </a:lnTo>
                <a:lnTo>
                  <a:pt x="8564" y="88"/>
                </a:lnTo>
                <a:lnTo>
                  <a:pt x="8564" y="41"/>
                </a:lnTo>
                <a:lnTo>
                  <a:pt x="8703" y="41"/>
                </a:lnTo>
                <a:moveTo>
                  <a:pt x="8935" y="41"/>
                </a:moveTo>
                <a:lnTo>
                  <a:pt x="8935" y="88"/>
                </a:lnTo>
                <a:lnTo>
                  <a:pt x="8796" y="88"/>
                </a:lnTo>
                <a:lnTo>
                  <a:pt x="8796" y="41"/>
                </a:lnTo>
                <a:lnTo>
                  <a:pt x="8935" y="41"/>
                </a:lnTo>
                <a:moveTo>
                  <a:pt x="9167" y="41"/>
                </a:moveTo>
                <a:lnTo>
                  <a:pt x="9167" y="88"/>
                </a:lnTo>
                <a:lnTo>
                  <a:pt x="9028" y="88"/>
                </a:lnTo>
                <a:lnTo>
                  <a:pt x="9028" y="41"/>
                </a:lnTo>
                <a:lnTo>
                  <a:pt x="9167" y="41"/>
                </a:lnTo>
                <a:moveTo>
                  <a:pt x="9400" y="41"/>
                </a:moveTo>
                <a:lnTo>
                  <a:pt x="9400" y="88"/>
                </a:lnTo>
                <a:lnTo>
                  <a:pt x="9260" y="88"/>
                </a:lnTo>
                <a:lnTo>
                  <a:pt x="9260" y="41"/>
                </a:lnTo>
                <a:lnTo>
                  <a:pt x="9400" y="41"/>
                </a:lnTo>
                <a:moveTo>
                  <a:pt x="9632" y="41"/>
                </a:moveTo>
                <a:lnTo>
                  <a:pt x="9632" y="88"/>
                </a:lnTo>
                <a:lnTo>
                  <a:pt x="9493" y="88"/>
                </a:lnTo>
                <a:lnTo>
                  <a:pt x="9493" y="41"/>
                </a:lnTo>
                <a:lnTo>
                  <a:pt x="9632" y="41"/>
                </a:lnTo>
                <a:moveTo>
                  <a:pt x="9864" y="41"/>
                </a:moveTo>
                <a:lnTo>
                  <a:pt x="9864" y="88"/>
                </a:lnTo>
                <a:lnTo>
                  <a:pt x="9725" y="88"/>
                </a:lnTo>
                <a:lnTo>
                  <a:pt x="9725" y="41"/>
                </a:lnTo>
                <a:lnTo>
                  <a:pt x="9864" y="41"/>
                </a:lnTo>
                <a:moveTo>
                  <a:pt x="10096" y="41"/>
                </a:moveTo>
                <a:lnTo>
                  <a:pt x="10096" y="88"/>
                </a:lnTo>
                <a:lnTo>
                  <a:pt x="9957" y="88"/>
                </a:lnTo>
                <a:lnTo>
                  <a:pt x="9957" y="41"/>
                </a:lnTo>
                <a:lnTo>
                  <a:pt x="10096" y="41"/>
                </a:lnTo>
                <a:moveTo>
                  <a:pt x="10329" y="41"/>
                </a:moveTo>
                <a:lnTo>
                  <a:pt x="10329" y="88"/>
                </a:lnTo>
                <a:lnTo>
                  <a:pt x="10189" y="88"/>
                </a:lnTo>
                <a:lnTo>
                  <a:pt x="10189" y="41"/>
                </a:lnTo>
                <a:lnTo>
                  <a:pt x="10329" y="41"/>
                </a:lnTo>
                <a:moveTo>
                  <a:pt x="10561" y="41"/>
                </a:moveTo>
                <a:lnTo>
                  <a:pt x="10561" y="88"/>
                </a:lnTo>
                <a:lnTo>
                  <a:pt x="10422" y="88"/>
                </a:lnTo>
                <a:lnTo>
                  <a:pt x="10422" y="41"/>
                </a:lnTo>
                <a:lnTo>
                  <a:pt x="10561" y="41"/>
                </a:lnTo>
                <a:moveTo>
                  <a:pt x="10793" y="41"/>
                </a:moveTo>
                <a:lnTo>
                  <a:pt x="10793" y="88"/>
                </a:lnTo>
                <a:lnTo>
                  <a:pt x="10654" y="88"/>
                </a:lnTo>
                <a:lnTo>
                  <a:pt x="10654" y="41"/>
                </a:lnTo>
                <a:lnTo>
                  <a:pt x="10793" y="41"/>
                </a:lnTo>
                <a:moveTo>
                  <a:pt x="11025" y="41"/>
                </a:moveTo>
                <a:lnTo>
                  <a:pt x="11025" y="88"/>
                </a:lnTo>
                <a:lnTo>
                  <a:pt x="10886" y="88"/>
                </a:lnTo>
                <a:lnTo>
                  <a:pt x="10886" y="41"/>
                </a:lnTo>
                <a:lnTo>
                  <a:pt x="11025" y="41"/>
                </a:lnTo>
                <a:moveTo>
                  <a:pt x="11258" y="41"/>
                </a:moveTo>
                <a:lnTo>
                  <a:pt x="11258" y="88"/>
                </a:lnTo>
                <a:lnTo>
                  <a:pt x="11118" y="88"/>
                </a:lnTo>
                <a:lnTo>
                  <a:pt x="11118" y="41"/>
                </a:lnTo>
                <a:lnTo>
                  <a:pt x="11258" y="41"/>
                </a:lnTo>
                <a:moveTo>
                  <a:pt x="11490" y="41"/>
                </a:moveTo>
                <a:lnTo>
                  <a:pt x="11490" y="88"/>
                </a:lnTo>
                <a:lnTo>
                  <a:pt x="11351" y="88"/>
                </a:lnTo>
                <a:lnTo>
                  <a:pt x="11351" y="41"/>
                </a:lnTo>
                <a:lnTo>
                  <a:pt x="11490" y="41"/>
                </a:lnTo>
                <a:moveTo>
                  <a:pt x="11722" y="41"/>
                </a:moveTo>
                <a:lnTo>
                  <a:pt x="11722" y="88"/>
                </a:lnTo>
                <a:lnTo>
                  <a:pt x="11583" y="88"/>
                </a:lnTo>
                <a:lnTo>
                  <a:pt x="11583" y="41"/>
                </a:lnTo>
                <a:lnTo>
                  <a:pt x="11722" y="41"/>
                </a:lnTo>
                <a:moveTo>
                  <a:pt x="11955" y="41"/>
                </a:moveTo>
                <a:lnTo>
                  <a:pt x="11955" y="88"/>
                </a:lnTo>
                <a:lnTo>
                  <a:pt x="11815" y="88"/>
                </a:lnTo>
                <a:lnTo>
                  <a:pt x="11815" y="41"/>
                </a:lnTo>
                <a:lnTo>
                  <a:pt x="11955" y="41"/>
                </a:lnTo>
                <a:moveTo>
                  <a:pt x="12187" y="41"/>
                </a:moveTo>
                <a:lnTo>
                  <a:pt x="12187" y="88"/>
                </a:lnTo>
                <a:lnTo>
                  <a:pt x="12048" y="88"/>
                </a:lnTo>
                <a:lnTo>
                  <a:pt x="12048" y="41"/>
                </a:lnTo>
                <a:lnTo>
                  <a:pt x="12187" y="41"/>
                </a:lnTo>
                <a:moveTo>
                  <a:pt x="12419" y="41"/>
                </a:moveTo>
                <a:lnTo>
                  <a:pt x="12419" y="88"/>
                </a:lnTo>
                <a:lnTo>
                  <a:pt x="12280" y="88"/>
                </a:lnTo>
                <a:lnTo>
                  <a:pt x="12280" y="41"/>
                </a:lnTo>
                <a:lnTo>
                  <a:pt x="12419" y="41"/>
                </a:lnTo>
                <a:moveTo>
                  <a:pt x="12651" y="41"/>
                </a:moveTo>
                <a:lnTo>
                  <a:pt x="12651" y="88"/>
                </a:lnTo>
                <a:lnTo>
                  <a:pt x="12512" y="88"/>
                </a:lnTo>
                <a:lnTo>
                  <a:pt x="12512" y="41"/>
                </a:lnTo>
                <a:lnTo>
                  <a:pt x="12651" y="41"/>
                </a:lnTo>
                <a:moveTo>
                  <a:pt x="12884" y="41"/>
                </a:moveTo>
                <a:lnTo>
                  <a:pt x="12884" y="88"/>
                </a:lnTo>
                <a:lnTo>
                  <a:pt x="12744" y="88"/>
                </a:lnTo>
                <a:lnTo>
                  <a:pt x="12744" y="41"/>
                </a:lnTo>
                <a:lnTo>
                  <a:pt x="12884" y="41"/>
                </a:lnTo>
                <a:moveTo>
                  <a:pt x="13116" y="41"/>
                </a:moveTo>
                <a:lnTo>
                  <a:pt x="13116" y="88"/>
                </a:lnTo>
                <a:lnTo>
                  <a:pt x="12977" y="88"/>
                </a:lnTo>
                <a:lnTo>
                  <a:pt x="12977" y="41"/>
                </a:lnTo>
                <a:lnTo>
                  <a:pt x="13116" y="41"/>
                </a:lnTo>
                <a:moveTo>
                  <a:pt x="13348" y="41"/>
                </a:moveTo>
                <a:lnTo>
                  <a:pt x="13348" y="88"/>
                </a:lnTo>
                <a:lnTo>
                  <a:pt x="13209" y="88"/>
                </a:lnTo>
                <a:lnTo>
                  <a:pt x="13209" y="41"/>
                </a:lnTo>
                <a:lnTo>
                  <a:pt x="13348" y="41"/>
                </a:lnTo>
                <a:moveTo>
                  <a:pt x="13580" y="41"/>
                </a:moveTo>
                <a:lnTo>
                  <a:pt x="13580" y="88"/>
                </a:lnTo>
                <a:lnTo>
                  <a:pt x="13441" y="88"/>
                </a:lnTo>
                <a:lnTo>
                  <a:pt x="13441" y="41"/>
                </a:lnTo>
                <a:lnTo>
                  <a:pt x="13580" y="41"/>
                </a:lnTo>
                <a:moveTo>
                  <a:pt x="13688" y="41"/>
                </a:moveTo>
                <a:cubicBezTo>
                  <a:pt x="13726" y="41"/>
                  <a:pt x="13758" y="28"/>
                  <a:pt x="13785" y="2"/>
                </a:cubicBezTo>
                <a:lnTo>
                  <a:pt x="13818" y="35"/>
                </a:lnTo>
                <a:cubicBezTo>
                  <a:pt x="13801" y="52"/>
                  <a:pt x="13781" y="65"/>
                  <a:pt x="13760" y="74"/>
                </a:cubicBezTo>
                <a:cubicBezTo>
                  <a:pt x="13737" y="84"/>
                  <a:pt x="13713" y="88"/>
                  <a:pt x="13688" y="88"/>
                </a:cubicBezTo>
                <a:lnTo>
                  <a:pt x="13673" y="88"/>
                </a:lnTo>
                <a:lnTo>
                  <a:pt x="13673" y="41"/>
                </a:lnTo>
                <a:lnTo>
                  <a:pt x="13688" y="41"/>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40" name="フリーフォーム: 図形 239"/>
          <p:cNvSpPr/>
          <p:nvPr/>
        </p:nvSpPr>
        <p:spPr>
          <a:xfrm>
            <a:off x="5254200" y="1296000"/>
            <a:ext cx="27360" cy="2061360"/>
          </a:xfrm>
          <a:custGeom>
            <a:avLst/>
            <a:gdLst/>
            <a:ahLst/>
            <a:cxnLst/>
            <a:rect l="0" t="0" r="r" b="b"/>
            <a:pathLst>
              <a:path w="76" h="5726">
                <a:moveTo>
                  <a:pt x="29" y="5686"/>
                </a:moveTo>
                <a:lnTo>
                  <a:pt x="29" y="5583"/>
                </a:lnTo>
                <a:lnTo>
                  <a:pt x="76" y="5583"/>
                </a:lnTo>
                <a:lnTo>
                  <a:pt x="76" y="5686"/>
                </a:lnTo>
                <a:cubicBezTo>
                  <a:pt x="76" y="5700"/>
                  <a:pt x="75" y="5713"/>
                  <a:pt x="72" y="5726"/>
                </a:cubicBezTo>
                <a:lnTo>
                  <a:pt x="26" y="5716"/>
                </a:lnTo>
                <a:cubicBezTo>
                  <a:pt x="28" y="5706"/>
                  <a:pt x="29" y="5696"/>
                  <a:pt x="29" y="5686"/>
                </a:cubicBezTo>
                <a:moveTo>
                  <a:pt x="29" y="5351"/>
                </a:moveTo>
                <a:lnTo>
                  <a:pt x="76" y="5351"/>
                </a:lnTo>
                <a:lnTo>
                  <a:pt x="76" y="5490"/>
                </a:lnTo>
                <a:lnTo>
                  <a:pt x="29" y="5490"/>
                </a:lnTo>
                <a:lnTo>
                  <a:pt x="29" y="5351"/>
                </a:lnTo>
                <a:moveTo>
                  <a:pt x="29" y="5118"/>
                </a:moveTo>
                <a:lnTo>
                  <a:pt x="76" y="5118"/>
                </a:lnTo>
                <a:lnTo>
                  <a:pt x="76" y="5258"/>
                </a:lnTo>
                <a:lnTo>
                  <a:pt x="29" y="5258"/>
                </a:lnTo>
                <a:lnTo>
                  <a:pt x="29" y="5118"/>
                </a:lnTo>
                <a:moveTo>
                  <a:pt x="29" y="4885"/>
                </a:moveTo>
                <a:lnTo>
                  <a:pt x="76" y="4885"/>
                </a:lnTo>
                <a:lnTo>
                  <a:pt x="76" y="5025"/>
                </a:lnTo>
                <a:lnTo>
                  <a:pt x="29" y="5025"/>
                </a:lnTo>
                <a:lnTo>
                  <a:pt x="29" y="4885"/>
                </a:lnTo>
                <a:moveTo>
                  <a:pt x="29" y="4653"/>
                </a:moveTo>
                <a:lnTo>
                  <a:pt x="76" y="4653"/>
                </a:lnTo>
                <a:lnTo>
                  <a:pt x="76" y="4792"/>
                </a:lnTo>
                <a:lnTo>
                  <a:pt x="29" y="4792"/>
                </a:lnTo>
                <a:lnTo>
                  <a:pt x="29" y="4653"/>
                </a:lnTo>
                <a:moveTo>
                  <a:pt x="29" y="4420"/>
                </a:moveTo>
                <a:lnTo>
                  <a:pt x="76" y="4420"/>
                </a:lnTo>
                <a:lnTo>
                  <a:pt x="76" y="4560"/>
                </a:lnTo>
                <a:lnTo>
                  <a:pt x="29" y="4560"/>
                </a:lnTo>
                <a:lnTo>
                  <a:pt x="29" y="4420"/>
                </a:lnTo>
                <a:moveTo>
                  <a:pt x="29" y="4188"/>
                </a:moveTo>
                <a:lnTo>
                  <a:pt x="76" y="4188"/>
                </a:lnTo>
                <a:lnTo>
                  <a:pt x="76" y="4327"/>
                </a:lnTo>
                <a:lnTo>
                  <a:pt x="29" y="4327"/>
                </a:lnTo>
                <a:lnTo>
                  <a:pt x="29" y="4188"/>
                </a:lnTo>
                <a:moveTo>
                  <a:pt x="29" y="3956"/>
                </a:moveTo>
                <a:lnTo>
                  <a:pt x="76" y="3956"/>
                </a:lnTo>
                <a:lnTo>
                  <a:pt x="76" y="4095"/>
                </a:lnTo>
                <a:lnTo>
                  <a:pt x="29" y="4095"/>
                </a:lnTo>
                <a:lnTo>
                  <a:pt x="29" y="3956"/>
                </a:lnTo>
                <a:moveTo>
                  <a:pt x="29" y="3724"/>
                </a:moveTo>
                <a:lnTo>
                  <a:pt x="76" y="3724"/>
                </a:lnTo>
                <a:lnTo>
                  <a:pt x="76" y="3863"/>
                </a:lnTo>
                <a:lnTo>
                  <a:pt x="29" y="3863"/>
                </a:lnTo>
                <a:lnTo>
                  <a:pt x="29" y="3724"/>
                </a:lnTo>
                <a:moveTo>
                  <a:pt x="29" y="3491"/>
                </a:moveTo>
                <a:lnTo>
                  <a:pt x="76" y="3491"/>
                </a:lnTo>
                <a:lnTo>
                  <a:pt x="76" y="3631"/>
                </a:lnTo>
                <a:lnTo>
                  <a:pt x="29" y="3631"/>
                </a:lnTo>
                <a:lnTo>
                  <a:pt x="29" y="3491"/>
                </a:lnTo>
                <a:moveTo>
                  <a:pt x="29" y="3259"/>
                </a:moveTo>
                <a:lnTo>
                  <a:pt x="76" y="3259"/>
                </a:lnTo>
                <a:lnTo>
                  <a:pt x="76" y="3398"/>
                </a:lnTo>
                <a:lnTo>
                  <a:pt x="29" y="3398"/>
                </a:lnTo>
                <a:lnTo>
                  <a:pt x="29" y="3259"/>
                </a:lnTo>
                <a:moveTo>
                  <a:pt x="29" y="3027"/>
                </a:moveTo>
                <a:lnTo>
                  <a:pt x="76" y="3027"/>
                </a:lnTo>
                <a:lnTo>
                  <a:pt x="76" y="3166"/>
                </a:lnTo>
                <a:lnTo>
                  <a:pt x="29" y="3166"/>
                </a:lnTo>
                <a:lnTo>
                  <a:pt x="29" y="3027"/>
                </a:lnTo>
                <a:moveTo>
                  <a:pt x="29" y="2795"/>
                </a:moveTo>
                <a:lnTo>
                  <a:pt x="76" y="2795"/>
                </a:lnTo>
                <a:lnTo>
                  <a:pt x="76" y="2934"/>
                </a:lnTo>
                <a:lnTo>
                  <a:pt x="29" y="2934"/>
                </a:lnTo>
                <a:lnTo>
                  <a:pt x="29" y="2795"/>
                </a:lnTo>
                <a:moveTo>
                  <a:pt x="29" y="2562"/>
                </a:moveTo>
                <a:lnTo>
                  <a:pt x="76" y="2562"/>
                </a:lnTo>
                <a:lnTo>
                  <a:pt x="76" y="2702"/>
                </a:lnTo>
                <a:lnTo>
                  <a:pt x="29" y="2702"/>
                </a:lnTo>
                <a:lnTo>
                  <a:pt x="29" y="2562"/>
                </a:lnTo>
                <a:moveTo>
                  <a:pt x="29" y="2330"/>
                </a:moveTo>
                <a:lnTo>
                  <a:pt x="76" y="2330"/>
                </a:lnTo>
                <a:lnTo>
                  <a:pt x="76" y="2469"/>
                </a:lnTo>
                <a:lnTo>
                  <a:pt x="29" y="2469"/>
                </a:lnTo>
                <a:lnTo>
                  <a:pt x="29" y="2330"/>
                </a:lnTo>
                <a:moveTo>
                  <a:pt x="29" y="2098"/>
                </a:moveTo>
                <a:lnTo>
                  <a:pt x="76" y="2098"/>
                </a:lnTo>
                <a:lnTo>
                  <a:pt x="76" y="2237"/>
                </a:lnTo>
                <a:lnTo>
                  <a:pt x="29" y="2237"/>
                </a:lnTo>
                <a:lnTo>
                  <a:pt x="29" y="2098"/>
                </a:lnTo>
                <a:moveTo>
                  <a:pt x="29" y="1866"/>
                </a:moveTo>
                <a:lnTo>
                  <a:pt x="76" y="1866"/>
                </a:lnTo>
                <a:lnTo>
                  <a:pt x="76" y="2005"/>
                </a:lnTo>
                <a:lnTo>
                  <a:pt x="29" y="2005"/>
                </a:lnTo>
                <a:lnTo>
                  <a:pt x="29" y="1866"/>
                </a:lnTo>
                <a:moveTo>
                  <a:pt x="29" y="1633"/>
                </a:moveTo>
                <a:lnTo>
                  <a:pt x="76" y="1633"/>
                </a:lnTo>
                <a:lnTo>
                  <a:pt x="76" y="1773"/>
                </a:lnTo>
                <a:lnTo>
                  <a:pt x="29" y="1773"/>
                </a:lnTo>
                <a:lnTo>
                  <a:pt x="29" y="1633"/>
                </a:lnTo>
                <a:moveTo>
                  <a:pt x="29" y="1401"/>
                </a:moveTo>
                <a:lnTo>
                  <a:pt x="76" y="1401"/>
                </a:lnTo>
                <a:lnTo>
                  <a:pt x="76" y="1540"/>
                </a:lnTo>
                <a:lnTo>
                  <a:pt x="29" y="1540"/>
                </a:lnTo>
                <a:lnTo>
                  <a:pt x="29" y="1401"/>
                </a:lnTo>
                <a:moveTo>
                  <a:pt x="29" y="1169"/>
                </a:moveTo>
                <a:lnTo>
                  <a:pt x="76" y="1169"/>
                </a:lnTo>
                <a:lnTo>
                  <a:pt x="76" y="1308"/>
                </a:lnTo>
                <a:lnTo>
                  <a:pt x="29" y="1308"/>
                </a:lnTo>
                <a:lnTo>
                  <a:pt x="29" y="1169"/>
                </a:lnTo>
                <a:moveTo>
                  <a:pt x="29" y="936"/>
                </a:moveTo>
                <a:lnTo>
                  <a:pt x="76" y="936"/>
                </a:lnTo>
                <a:lnTo>
                  <a:pt x="76" y="1076"/>
                </a:lnTo>
                <a:lnTo>
                  <a:pt x="29" y="1076"/>
                </a:lnTo>
                <a:lnTo>
                  <a:pt x="29" y="936"/>
                </a:lnTo>
                <a:moveTo>
                  <a:pt x="29" y="704"/>
                </a:moveTo>
                <a:lnTo>
                  <a:pt x="76" y="704"/>
                </a:lnTo>
                <a:lnTo>
                  <a:pt x="76" y="843"/>
                </a:lnTo>
                <a:lnTo>
                  <a:pt x="29" y="843"/>
                </a:lnTo>
                <a:lnTo>
                  <a:pt x="29" y="704"/>
                </a:lnTo>
                <a:moveTo>
                  <a:pt x="29" y="472"/>
                </a:moveTo>
                <a:lnTo>
                  <a:pt x="76" y="472"/>
                </a:lnTo>
                <a:lnTo>
                  <a:pt x="76" y="611"/>
                </a:lnTo>
                <a:lnTo>
                  <a:pt x="29" y="611"/>
                </a:lnTo>
                <a:lnTo>
                  <a:pt x="29" y="472"/>
                </a:lnTo>
                <a:moveTo>
                  <a:pt x="29" y="240"/>
                </a:moveTo>
                <a:lnTo>
                  <a:pt x="76" y="240"/>
                </a:lnTo>
                <a:lnTo>
                  <a:pt x="76" y="379"/>
                </a:lnTo>
                <a:lnTo>
                  <a:pt x="29" y="379"/>
                </a:lnTo>
                <a:lnTo>
                  <a:pt x="29" y="240"/>
                </a:lnTo>
                <a:moveTo>
                  <a:pt x="29" y="114"/>
                </a:moveTo>
                <a:cubicBezTo>
                  <a:pt x="29" y="81"/>
                  <a:pt x="19" y="53"/>
                  <a:pt x="0" y="29"/>
                </a:cubicBezTo>
                <a:lnTo>
                  <a:pt x="37" y="0"/>
                </a:lnTo>
                <a:cubicBezTo>
                  <a:pt x="47" y="13"/>
                  <a:pt x="55" y="27"/>
                  <a:pt x="61" y="43"/>
                </a:cubicBezTo>
                <a:cubicBezTo>
                  <a:pt x="71" y="65"/>
                  <a:pt x="76" y="89"/>
                  <a:pt x="76" y="114"/>
                </a:cubicBezTo>
                <a:lnTo>
                  <a:pt x="76" y="147"/>
                </a:lnTo>
                <a:lnTo>
                  <a:pt x="29" y="147"/>
                </a:lnTo>
                <a:lnTo>
                  <a:pt x="29" y="114"/>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41" name="フリーフォーム: 図形 240"/>
          <p:cNvSpPr/>
          <p:nvPr/>
        </p:nvSpPr>
        <p:spPr>
          <a:xfrm>
            <a:off x="257040" y="1260000"/>
            <a:ext cx="5034600" cy="2159640"/>
          </a:xfrm>
          <a:custGeom>
            <a:avLst/>
            <a:gdLst/>
            <a:ahLst/>
            <a:cxnLst/>
            <a:rect l="0" t="0" r="r" b="b"/>
            <a:pathLst>
              <a:path w="13985" h="5999">
                <a:moveTo>
                  <a:pt x="446" y="0"/>
                </a:moveTo>
                <a:lnTo>
                  <a:pt x="586" y="0"/>
                </a:lnTo>
                <a:lnTo>
                  <a:pt x="586" y="102"/>
                </a:lnTo>
                <a:lnTo>
                  <a:pt x="446" y="102"/>
                </a:lnTo>
                <a:lnTo>
                  <a:pt x="446" y="0"/>
                </a:lnTo>
                <a:moveTo>
                  <a:pt x="679" y="0"/>
                </a:moveTo>
                <a:lnTo>
                  <a:pt x="818" y="0"/>
                </a:lnTo>
                <a:lnTo>
                  <a:pt x="818" y="102"/>
                </a:lnTo>
                <a:lnTo>
                  <a:pt x="679" y="102"/>
                </a:lnTo>
                <a:lnTo>
                  <a:pt x="679" y="0"/>
                </a:lnTo>
                <a:moveTo>
                  <a:pt x="911" y="0"/>
                </a:moveTo>
                <a:lnTo>
                  <a:pt x="1050" y="0"/>
                </a:lnTo>
                <a:lnTo>
                  <a:pt x="1050" y="102"/>
                </a:lnTo>
                <a:lnTo>
                  <a:pt x="911" y="102"/>
                </a:lnTo>
                <a:lnTo>
                  <a:pt x="911" y="0"/>
                </a:lnTo>
                <a:moveTo>
                  <a:pt x="1143" y="0"/>
                </a:moveTo>
                <a:lnTo>
                  <a:pt x="1282" y="0"/>
                </a:lnTo>
                <a:lnTo>
                  <a:pt x="1282" y="102"/>
                </a:lnTo>
                <a:lnTo>
                  <a:pt x="1143" y="102"/>
                </a:lnTo>
                <a:lnTo>
                  <a:pt x="1143" y="0"/>
                </a:lnTo>
                <a:moveTo>
                  <a:pt x="1375" y="0"/>
                </a:moveTo>
                <a:lnTo>
                  <a:pt x="1515" y="0"/>
                </a:lnTo>
                <a:lnTo>
                  <a:pt x="1515" y="102"/>
                </a:lnTo>
                <a:lnTo>
                  <a:pt x="1375" y="102"/>
                </a:lnTo>
                <a:lnTo>
                  <a:pt x="1375" y="0"/>
                </a:lnTo>
                <a:moveTo>
                  <a:pt x="1608" y="0"/>
                </a:moveTo>
                <a:lnTo>
                  <a:pt x="1747" y="0"/>
                </a:lnTo>
                <a:lnTo>
                  <a:pt x="1747" y="102"/>
                </a:lnTo>
                <a:lnTo>
                  <a:pt x="1608" y="102"/>
                </a:lnTo>
                <a:lnTo>
                  <a:pt x="1608" y="0"/>
                </a:lnTo>
                <a:moveTo>
                  <a:pt x="1840" y="0"/>
                </a:moveTo>
                <a:lnTo>
                  <a:pt x="1979" y="0"/>
                </a:lnTo>
                <a:lnTo>
                  <a:pt x="1979" y="102"/>
                </a:lnTo>
                <a:lnTo>
                  <a:pt x="1840" y="102"/>
                </a:lnTo>
                <a:lnTo>
                  <a:pt x="1840" y="0"/>
                </a:lnTo>
                <a:moveTo>
                  <a:pt x="2072" y="0"/>
                </a:moveTo>
                <a:lnTo>
                  <a:pt x="2211" y="0"/>
                </a:lnTo>
                <a:lnTo>
                  <a:pt x="2211" y="102"/>
                </a:lnTo>
                <a:lnTo>
                  <a:pt x="2072" y="102"/>
                </a:lnTo>
                <a:lnTo>
                  <a:pt x="2072" y="0"/>
                </a:lnTo>
                <a:moveTo>
                  <a:pt x="2304" y="0"/>
                </a:moveTo>
                <a:lnTo>
                  <a:pt x="2444" y="0"/>
                </a:lnTo>
                <a:lnTo>
                  <a:pt x="2444" y="102"/>
                </a:lnTo>
                <a:lnTo>
                  <a:pt x="2304" y="102"/>
                </a:lnTo>
                <a:lnTo>
                  <a:pt x="2304" y="0"/>
                </a:lnTo>
                <a:moveTo>
                  <a:pt x="2537" y="0"/>
                </a:moveTo>
                <a:lnTo>
                  <a:pt x="2676" y="0"/>
                </a:lnTo>
                <a:lnTo>
                  <a:pt x="2676" y="102"/>
                </a:lnTo>
                <a:lnTo>
                  <a:pt x="2537" y="102"/>
                </a:lnTo>
                <a:lnTo>
                  <a:pt x="2537" y="0"/>
                </a:lnTo>
                <a:moveTo>
                  <a:pt x="2769" y="0"/>
                </a:moveTo>
                <a:lnTo>
                  <a:pt x="2908" y="0"/>
                </a:lnTo>
                <a:lnTo>
                  <a:pt x="2908" y="102"/>
                </a:lnTo>
                <a:lnTo>
                  <a:pt x="2769" y="102"/>
                </a:lnTo>
                <a:lnTo>
                  <a:pt x="2769" y="0"/>
                </a:lnTo>
                <a:moveTo>
                  <a:pt x="3001" y="0"/>
                </a:moveTo>
                <a:lnTo>
                  <a:pt x="3141" y="0"/>
                </a:lnTo>
                <a:lnTo>
                  <a:pt x="3141" y="102"/>
                </a:lnTo>
                <a:lnTo>
                  <a:pt x="3001" y="102"/>
                </a:lnTo>
                <a:lnTo>
                  <a:pt x="3001" y="0"/>
                </a:lnTo>
                <a:moveTo>
                  <a:pt x="3234" y="0"/>
                </a:moveTo>
                <a:lnTo>
                  <a:pt x="3373" y="0"/>
                </a:lnTo>
                <a:lnTo>
                  <a:pt x="3373" y="102"/>
                </a:lnTo>
                <a:lnTo>
                  <a:pt x="3234" y="102"/>
                </a:lnTo>
                <a:lnTo>
                  <a:pt x="3234" y="0"/>
                </a:lnTo>
                <a:moveTo>
                  <a:pt x="3466" y="0"/>
                </a:moveTo>
                <a:lnTo>
                  <a:pt x="3605" y="0"/>
                </a:lnTo>
                <a:lnTo>
                  <a:pt x="3605" y="102"/>
                </a:lnTo>
                <a:lnTo>
                  <a:pt x="3466" y="102"/>
                </a:lnTo>
                <a:lnTo>
                  <a:pt x="3466" y="0"/>
                </a:lnTo>
                <a:moveTo>
                  <a:pt x="3698" y="0"/>
                </a:moveTo>
                <a:lnTo>
                  <a:pt x="3837" y="0"/>
                </a:lnTo>
                <a:lnTo>
                  <a:pt x="3837" y="102"/>
                </a:lnTo>
                <a:lnTo>
                  <a:pt x="3698" y="102"/>
                </a:lnTo>
                <a:lnTo>
                  <a:pt x="3698" y="0"/>
                </a:lnTo>
                <a:moveTo>
                  <a:pt x="3930" y="0"/>
                </a:moveTo>
                <a:lnTo>
                  <a:pt x="4070" y="0"/>
                </a:lnTo>
                <a:lnTo>
                  <a:pt x="4070" y="102"/>
                </a:lnTo>
                <a:lnTo>
                  <a:pt x="3930" y="102"/>
                </a:lnTo>
                <a:lnTo>
                  <a:pt x="3930" y="0"/>
                </a:lnTo>
                <a:moveTo>
                  <a:pt x="4163" y="0"/>
                </a:moveTo>
                <a:lnTo>
                  <a:pt x="4302" y="0"/>
                </a:lnTo>
                <a:lnTo>
                  <a:pt x="4302" y="102"/>
                </a:lnTo>
                <a:lnTo>
                  <a:pt x="4163" y="102"/>
                </a:lnTo>
                <a:lnTo>
                  <a:pt x="4163" y="0"/>
                </a:lnTo>
                <a:moveTo>
                  <a:pt x="4395" y="0"/>
                </a:moveTo>
                <a:lnTo>
                  <a:pt x="4534" y="0"/>
                </a:lnTo>
                <a:lnTo>
                  <a:pt x="4534" y="102"/>
                </a:lnTo>
                <a:lnTo>
                  <a:pt x="4395" y="102"/>
                </a:lnTo>
                <a:lnTo>
                  <a:pt x="4395" y="0"/>
                </a:lnTo>
                <a:moveTo>
                  <a:pt x="4627" y="0"/>
                </a:moveTo>
                <a:lnTo>
                  <a:pt x="4766" y="0"/>
                </a:lnTo>
                <a:lnTo>
                  <a:pt x="4766" y="102"/>
                </a:lnTo>
                <a:lnTo>
                  <a:pt x="4627" y="102"/>
                </a:lnTo>
                <a:lnTo>
                  <a:pt x="4627" y="0"/>
                </a:lnTo>
                <a:moveTo>
                  <a:pt x="4859" y="0"/>
                </a:moveTo>
                <a:lnTo>
                  <a:pt x="4999" y="0"/>
                </a:lnTo>
                <a:lnTo>
                  <a:pt x="4999" y="102"/>
                </a:lnTo>
                <a:lnTo>
                  <a:pt x="4859" y="102"/>
                </a:lnTo>
                <a:lnTo>
                  <a:pt x="4859" y="0"/>
                </a:lnTo>
                <a:moveTo>
                  <a:pt x="5092" y="0"/>
                </a:moveTo>
                <a:lnTo>
                  <a:pt x="5231" y="0"/>
                </a:lnTo>
                <a:lnTo>
                  <a:pt x="5231" y="102"/>
                </a:lnTo>
                <a:lnTo>
                  <a:pt x="5092" y="102"/>
                </a:lnTo>
                <a:lnTo>
                  <a:pt x="5092" y="0"/>
                </a:lnTo>
                <a:moveTo>
                  <a:pt x="5324" y="0"/>
                </a:moveTo>
                <a:lnTo>
                  <a:pt x="5463" y="0"/>
                </a:lnTo>
                <a:lnTo>
                  <a:pt x="5463" y="102"/>
                </a:lnTo>
                <a:lnTo>
                  <a:pt x="5324" y="102"/>
                </a:lnTo>
                <a:lnTo>
                  <a:pt x="5324" y="0"/>
                </a:lnTo>
                <a:moveTo>
                  <a:pt x="5556" y="0"/>
                </a:moveTo>
                <a:lnTo>
                  <a:pt x="5695" y="0"/>
                </a:lnTo>
                <a:lnTo>
                  <a:pt x="5695" y="102"/>
                </a:lnTo>
                <a:lnTo>
                  <a:pt x="5556" y="102"/>
                </a:lnTo>
                <a:lnTo>
                  <a:pt x="5556" y="0"/>
                </a:lnTo>
                <a:moveTo>
                  <a:pt x="5788" y="0"/>
                </a:moveTo>
                <a:lnTo>
                  <a:pt x="5928" y="0"/>
                </a:lnTo>
                <a:lnTo>
                  <a:pt x="5928" y="102"/>
                </a:lnTo>
                <a:lnTo>
                  <a:pt x="5788" y="102"/>
                </a:lnTo>
                <a:lnTo>
                  <a:pt x="5788" y="0"/>
                </a:lnTo>
                <a:moveTo>
                  <a:pt x="6021" y="0"/>
                </a:moveTo>
                <a:lnTo>
                  <a:pt x="6160" y="0"/>
                </a:lnTo>
                <a:lnTo>
                  <a:pt x="6160" y="102"/>
                </a:lnTo>
                <a:lnTo>
                  <a:pt x="6021" y="102"/>
                </a:lnTo>
                <a:lnTo>
                  <a:pt x="6021" y="0"/>
                </a:lnTo>
                <a:moveTo>
                  <a:pt x="6253" y="0"/>
                </a:moveTo>
                <a:lnTo>
                  <a:pt x="6393" y="0"/>
                </a:lnTo>
                <a:lnTo>
                  <a:pt x="6393" y="102"/>
                </a:lnTo>
                <a:lnTo>
                  <a:pt x="6253" y="102"/>
                </a:lnTo>
                <a:lnTo>
                  <a:pt x="6253" y="0"/>
                </a:lnTo>
                <a:moveTo>
                  <a:pt x="6486" y="0"/>
                </a:moveTo>
                <a:lnTo>
                  <a:pt x="6626" y="0"/>
                </a:lnTo>
                <a:lnTo>
                  <a:pt x="6626" y="102"/>
                </a:lnTo>
                <a:lnTo>
                  <a:pt x="6486" y="102"/>
                </a:lnTo>
                <a:lnTo>
                  <a:pt x="6486" y="0"/>
                </a:lnTo>
                <a:moveTo>
                  <a:pt x="6719" y="0"/>
                </a:moveTo>
                <a:lnTo>
                  <a:pt x="6858" y="0"/>
                </a:lnTo>
                <a:lnTo>
                  <a:pt x="6858" y="102"/>
                </a:lnTo>
                <a:lnTo>
                  <a:pt x="6719" y="102"/>
                </a:lnTo>
                <a:lnTo>
                  <a:pt x="6719" y="0"/>
                </a:lnTo>
                <a:moveTo>
                  <a:pt x="6951" y="0"/>
                </a:moveTo>
                <a:lnTo>
                  <a:pt x="7090" y="0"/>
                </a:lnTo>
                <a:lnTo>
                  <a:pt x="7090" y="102"/>
                </a:lnTo>
                <a:lnTo>
                  <a:pt x="6951" y="102"/>
                </a:lnTo>
                <a:lnTo>
                  <a:pt x="6951" y="0"/>
                </a:lnTo>
                <a:moveTo>
                  <a:pt x="7183" y="0"/>
                </a:moveTo>
                <a:lnTo>
                  <a:pt x="7322" y="0"/>
                </a:lnTo>
                <a:lnTo>
                  <a:pt x="7322" y="102"/>
                </a:lnTo>
                <a:lnTo>
                  <a:pt x="7183" y="102"/>
                </a:lnTo>
                <a:lnTo>
                  <a:pt x="7183" y="0"/>
                </a:lnTo>
                <a:moveTo>
                  <a:pt x="7415" y="0"/>
                </a:moveTo>
                <a:lnTo>
                  <a:pt x="7555" y="0"/>
                </a:lnTo>
                <a:lnTo>
                  <a:pt x="7555" y="102"/>
                </a:lnTo>
                <a:lnTo>
                  <a:pt x="7415" y="102"/>
                </a:lnTo>
                <a:lnTo>
                  <a:pt x="7415" y="0"/>
                </a:lnTo>
                <a:moveTo>
                  <a:pt x="7648" y="0"/>
                </a:moveTo>
                <a:lnTo>
                  <a:pt x="7787" y="0"/>
                </a:lnTo>
                <a:lnTo>
                  <a:pt x="7787" y="102"/>
                </a:lnTo>
                <a:lnTo>
                  <a:pt x="7648" y="102"/>
                </a:lnTo>
                <a:lnTo>
                  <a:pt x="7648" y="0"/>
                </a:lnTo>
                <a:moveTo>
                  <a:pt x="7880" y="0"/>
                </a:moveTo>
                <a:lnTo>
                  <a:pt x="8019" y="0"/>
                </a:lnTo>
                <a:lnTo>
                  <a:pt x="8019" y="102"/>
                </a:lnTo>
                <a:lnTo>
                  <a:pt x="7880" y="102"/>
                </a:lnTo>
                <a:lnTo>
                  <a:pt x="7880" y="0"/>
                </a:lnTo>
                <a:moveTo>
                  <a:pt x="8112" y="0"/>
                </a:moveTo>
                <a:lnTo>
                  <a:pt x="8251" y="0"/>
                </a:lnTo>
                <a:lnTo>
                  <a:pt x="8251" y="102"/>
                </a:lnTo>
                <a:lnTo>
                  <a:pt x="8112" y="102"/>
                </a:lnTo>
                <a:lnTo>
                  <a:pt x="8112" y="0"/>
                </a:lnTo>
                <a:moveTo>
                  <a:pt x="8344" y="0"/>
                </a:moveTo>
                <a:lnTo>
                  <a:pt x="8484" y="0"/>
                </a:lnTo>
                <a:lnTo>
                  <a:pt x="8484" y="102"/>
                </a:lnTo>
                <a:lnTo>
                  <a:pt x="8344" y="102"/>
                </a:lnTo>
                <a:lnTo>
                  <a:pt x="8344" y="0"/>
                </a:lnTo>
                <a:moveTo>
                  <a:pt x="8577" y="0"/>
                </a:moveTo>
                <a:lnTo>
                  <a:pt x="8716" y="0"/>
                </a:lnTo>
                <a:lnTo>
                  <a:pt x="8716" y="102"/>
                </a:lnTo>
                <a:lnTo>
                  <a:pt x="8577" y="102"/>
                </a:lnTo>
                <a:lnTo>
                  <a:pt x="8577" y="0"/>
                </a:lnTo>
                <a:moveTo>
                  <a:pt x="8809" y="0"/>
                </a:moveTo>
                <a:lnTo>
                  <a:pt x="8948" y="0"/>
                </a:lnTo>
                <a:lnTo>
                  <a:pt x="8948" y="102"/>
                </a:lnTo>
                <a:lnTo>
                  <a:pt x="8809" y="102"/>
                </a:lnTo>
                <a:lnTo>
                  <a:pt x="8809" y="0"/>
                </a:lnTo>
                <a:moveTo>
                  <a:pt x="9041" y="0"/>
                </a:moveTo>
                <a:lnTo>
                  <a:pt x="9180" y="0"/>
                </a:lnTo>
                <a:lnTo>
                  <a:pt x="9180" y="102"/>
                </a:lnTo>
                <a:lnTo>
                  <a:pt x="9041" y="102"/>
                </a:lnTo>
                <a:lnTo>
                  <a:pt x="9041" y="0"/>
                </a:lnTo>
                <a:moveTo>
                  <a:pt x="9273" y="0"/>
                </a:moveTo>
                <a:lnTo>
                  <a:pt x="9413" y="0"/>
                </a:lnTo>
                <a:lnTo>
                  <a:pt x="9413" y="102"/>
                </a:lnTo>
                <a:lnTo>
                  <a:pt x="9273" y="102"/>
                </a:lnTo>
                <a:lnTo>
                  <a:pt x="9273" y="0"/>
                </a:lnTo>
                <a:moveTo>
                  <a:pt x="9506" y="0"/>
                </a:moveTo>
                <a:lnTo>
                  <a:pt x="9645" y="0"/>
                </a:lnTo>
                <a:lnTo>
                  <a:pt x="9645" y="102"/>
                </a:lnTo>
                <a:lnTo>
                  <a:pt x="9506" y="102"/>
                </a:lnTo>
                <a:lnTo>
                  <a:pt x="9506" y="0"/>
                </a:lnTo>
                <a:moveTo>
                  <a:pt x="9738" y="0"/>
                </a:moveTo>
                <a:lnTo>
                  <a:pt x="9877" y="0"/>
                </a:lnTo>
                <a:lnTo>
                  <a:pt x="9877" y="102"/>
                </a:lnTo>
                <a:lnTo>
                  <a:pt x="9738" y="102"/>
                </a:lnTo>
                <a:lnTo>
                  <a:pt x="9738" y="0"/>
                </a:lnTo>
                <a:moveTo>
                  <a:pt x="9970" y="0"/>
                </a:moveTo>
                <a:lnTo>
                  <a:pt x="10110" y="0"/>
                </a:lnTo>
                <a:lnTo>
                  <a:pt x="10110" y="102"/>
                </a:lnTo>
                <a:lnTo>
                  <a:pt x="9970" y="102"/>
                </a:lnTo>
                <a:lnTo>
                  <a:pt x="9970" y="0"/>
                </a:lnTo>
                <a:moveTo>
                  <a:pt x="10203" y="0"/>
                </a:moveTo>
                <a:lnTo>
                  <a:pt x="10342" y="0"/>
                </a:lnTo>
                <a:lnTo>
                  <a:pt x="10342" y="102"/>
                </a:lnTo>
                <a:lnTo>
                  <a:pt x="10203" y="102"/>
                </a:lnTo>
                <a:lnTo>
                  <a:pt x="10203" y="0"/>
                </a:lnTo>
                <a:moveTo>
                  <a:pt x="10435" y="0"/>
                </a:moveTo>
                <a:lnTo>
                  <a:pt x="10574" y="0"/>
                </a:lnTo>
                <a:lnTo>
                  <a:pt x="10574" y="102"/>
                </a:lnTo>
                <a:lnTo>
                  <a:pt x="10435" y="102"/>
                </a:lnTo>
                <a:lnTo>
                  <a:pt x="10435" y="0"/>
                </a:lnTo>
                <a:moveTo>
                  <a:pt x="10667" y="0"/>
                </a:moveTo>
                <a:lnTo>
                  <a:pt x="10806" y="0"/>
                </a:lnTo>
                <a:lnTo>
                  <a:pt x="10806" y="102"/>
                </a:lnTo>
                <a:lnTo>
                  <a:pt x="10667" y="102"/>
                </a:lnTo>
                <a:lnTo>
                  <a:pt x="10667" y="0"/>
                </a:lnTo>
                <a:moveTo>
                  <a:pt x="10899" y="0"/>
                </a:moveTo>
                <a:lnTo>
                  <a:pt x="11039" y="0"/>
                </a:lnTo>
                <a:lnTo>
                  <a:pt x="11039" y="102"/>
                </a:lnTo>
                <a:lnTo>
                  <a:pt x="10899" y="102"/>
                </a:lnTo>
                <a:lnTo>
                  <a:pt x="10899" y="0"/>
                </a:lnTo>
                <a:moveTo>
                  <a:pt x="11132" y="0"/>
                </a:moveTo>
                <a:lnTo>
                  <a:pt x="11271" y="0"/>
                </a:lnTo>
                <a:lnTo>
                  <a:pt x="11271" y="102"/>
                </a:lnTo>
                <a:lnTo>
                  <a:pt x="11132" y="102"/>
                </a:lnTo>
                <a:lnTo>
                  <a:pt x="11132" y="0"/>
                </a:lnTo>
                <a:moveTo>
                  <a:pt x="11364" y="0"/>
                </a:moveTo>
                <a:lnTo>
                  <a:pt x="11503" y="0"/>
                </a:lnTo>
                <a:lnTo>
                  <a:pt x="11503" y="102"/>
                </a:lnTo>
                <a:lnTo>
                  <a:pt x="11364" y="102"/>
                </a:lnTo>
                <a:lnTo>
                  <a:pt x="11364" y="0"/>
                </a:lnTo>
                <a:moveTo>
                  <a:pt x="11596" y="0"/>
                </a:moveTo>
                <a:lnTo>
                  <a:pt x="11735" y="0"/>
                </a:lnTo>
                <a:lnTo>
                  <a:pt x="11735" y="102"/>
                </a:lnTo>
                <a:lnTo>
                  <a:pt x="11596" y="102"/>
                </a:lnTo>
                <a:lnTo>
                  <a:pt x="11596" y="0"/>
                </a:lnTo>
                <a:moveTo>
                  <a:pt x="11828" y="0"/>
                </a:moveTo>
                <a:lnTo>
                  <a:pt x="11968" y="0"/>
                </a:lnTo>
                <a:lnTo>
                  <a:pt x="11968" y="102"/>
                </a:lnTo>
                <a:lnTo>
                  <a:pt x="11828" y="102"/>
                </a:lnTo>
                <a:lnTo>
                  <a:pt x="11828" y="0"/>
                </a:lnTo>
                <a:moveTo>
                  <a:pt x="12061" y="0"/>
                </a:moveTo>
                <a:lnTo>
                  <a:pt x="12200" y="0"/>
                </a:lnTo>
                <a:lnTo>
                  <a:pt x="12200" y="102"/>
                </a:lnTo>
                <a:lnTo>
                  <a:pt x="12061" y="102"/>
                </a:lnTo>
                <a:lnTo>
                  <a:pt x="12061" y="0"/>
                </a:lnTo>
                <a:moveTo>
                  <a:pt x="12293" y="0"/>
                </a:moveTo>
                <a:lnTo>
                  <a:pt x="12432" y="0"/>
                </a:lnTo>
                <a:lnTo>
                  <a:pt x="12432" y="102"/>
                </a:lnTo>
                <a:lnTo>
                  <a:pt x="12293" y="102"/>
                </a:lnTo>
                <a:lnTo>
                  <a:pt x="12293" y="0"/>
                </a:lnTo>
                <a:moveTo>
                  <a:pt x="12525" y="0"/>
                </a:moveTo>
                <a:lnTo>
                  <a:pt x="12664" y="0"/>
                </a:lnTo>
                <a:lnTo>
                  <a:pt x="12664" y="102"/>
                </a:lnTo>
                <a:lnTo>
                  <a:pt x="12525" y="102"/>
                </a:lnTo>
                <a:lnTo>
                  <a:pt x="12525" y="0"/>
                </a:lnTo>
                <a:moveTo>
                  <a:pt x="12757" y="0"/>
                </a:moveTo>
                <a:lnTo>
                  <a:pt x="12897" y="0"/>
                </a:lnTo>
                <a:lnTo>
                  <a:pt x="12897" y="102"/>
                </a:lnTo>
                <a:lnTo>
                  <a:pt x="12757" y="102"/>
                </a:lnTo>
                <a:lnTo>
                  <a:pt x="12757" y="0"/>
                </a:lnTo>
                <a:moveTo>
                  <a:pt x="12990" y="0"/>
                </a:moveTo>
                <a:lnTo>
                  <a:pt x="13129" y="0"/>
                </a:lnTo>
                <a:lnTo>
                  <a:pt x="13129" y="102"/>
                </a:lnTo>
                <a:lnTo>
                  <a:pt x="12990" y="102"/>
                </a:lnTo>
                <a:lnTo>
                  <a:pt x="12990" y="0"/>
                </a:lnTo>
                <a:moveTo>
                  <a:pt x="13222" y="0"/>
                </a:moveTo>
                <a:lnTo>
                  <a:pt x="13361" y="0"/>
                </a:lnTo>
                <a:lnTo>
                  <a:pt x="13361" y="102"/>
                </a:lnTo>
                <a:lnTo>
                  <a:pt x="13222" y="102"/>
                </a:lnTo>
                <a:lnTo>
                  <a:pt x="13222" y="0"/>
                </a:lnTo>
                <a:moveTo>
                  <a:pt x="13454" y="0"/>
                </a:moveTo>
                <a:lnTo>
                  <a:pt x="13594" y="0"/>
                </a:lnTo>
                <a:lnTo>
                  <a:pt x="13594" y="102"/>
                </a:lnTo>
                <a:lnTo>
                  <a:pt x="13454" y="102"/>
                </a:lnTo>
                <a:lnTo>
                  <a:pt x="13454" y="0"/>
                </a:lnTo>
                <a:moveTo>
                  <a:pt x="13687" y="0"/>
                </a:moveTo>
                <a:lnTo>
                  <a:pt x="13771" y="0"/>
                </a:lnTo>
                <a:cubicBezTo>
                  <a:pt x="13796" y="0"/>
                  <a:pt x="13819" y="4"/>
                  <a:pt x="13842" y="12"/>
                </a:cubicBezTo>
                <a:lnTo>
                  <a:pt x="13808" y="108"/>
                </a:lnTo>
                <a:cubicBezTo>
                  <a:pt x="13796" y="104"/>
                  <a:pt x="13784" y="102"/>
                  <a:pt x="13771" y="102"/>
                </a:cubicBezTo>
                <a:lnTo>
                  <a:pt x="13687" y="102"/>
                </a:lnTo>
                <a:lnTo>
                  <a:pt x="13687" y="0"/>
                </a:lnTo>
                <a:moveTo>
                  <a:pt x="13941" y="83"/>
                </a:moveTo>
                <a:cubicBezTo>
                  <a:pt x="13970" y="122"/>
                  <a:pt x="13985" y="165"/>
                  <a:pt x="13985" y="214"/>
                </a:cubicBezTo>
                <a:lnTo>
                  <a:pt x="13985" y="247"/>
                </a:lnTo>
                <a:lnTo>
                  <a:pt x="13883" y="247"/>
                </a:lnTo>
                <a:lnTo>
                  <a:pt x="13883" y="214"/>
                </a:lnTo>
                <a:cubicBezTo>
                  <a:pt x="13883" y="188"/>
                  <a:pt x="13875" y="166"/>
                  <a:pt x="13860" y="146"/>
                </a:cubicBezTo>
                <a:lnTo>
                  <a:pt x="13941" y="83"/>
                </a:lnTo>
                <a:moveTo>
                  <a:pt x="13985" y="340"/>
                </a:moveTo>
                <a:lnTo>
                  <a:pt x="13985" y="479"/>
                </a:lnTo>
                <a:lnTo>
                  <a:pt x="13883" y="479"/>
                </a:lnTo>
                <a:lnTo>
                  <a:pt x="13883" y="340"/>
                </a:lnTo>
                <a:lnTo>
                  <a:pt x="13985" y="340"/>
                </a:lnTo>
                <a:moveTo>
                  <a:pt x="13985" y="572"/>
                </a:moveTo>
                <a:lnTo>
                  <a:pt x="13985" y="711"/>
                </a:lnTo>
                <a:lnTo>
                  <a:pt x="13883" y="711"/>
                </a:lnTo>
                <a:lnTo>
                  <a:pt x="13883" y="572"/>
                </a:lnTo>
                <a:lnTo>
                  <a:pt x="13985" y="572"/>
                </a:lnTo>
                <a:moveTo>
                  <a:pt x="13985" y="804"/>
                </a:moveTo>
                <a:lnTo>
                  <a:pt x="13985" y="943"/>
                </a:lnTo>
                <a:lnTo>
                  <a:pt x="13883" y="943"/>
                </a:lnTo>
                <a:lnTo>
                  <a:pt x="13883" y="804"/>
                </a:lnTo>
                <a:lnTo>
                  <a:pt x="13985" y="804"/>
                </a:lnTo>
                <a:moveTo>
                  <a:pt x="13985" y="1036"/>
                </a:moveTo>
                <a:lnTo>
                  <a:pt x="13985" y="1176"/>
                </a:lnTo>
                <a:lnTo>
                  <a:pt x="13883" y="1176"/>
                </a:lnTo>
                <a:lnTo>
                  <a:pt x="13883" y="1036"/>
                </a:lnTo>
                <a:lnTo>
                  <a:pt x="13985" y="1036"/>
                </a:lnTo>
                <a:moveTo>
                  <a:pt x="13985" y="1269"/>
                </a:moveTo>
                <a:lnTo>
                  <a:pt x="13985" y="1408"/>
                </a:lnTo>
                <a:lnTo>
                  <a:pt x="13883" y="1408"/>
                </a:lnTo>
                <a:lnTo>
                  <a:pt x="13883" y="1269"/>
                </a:lnTo>
                <a:lnTo>
                  <a:pt x="13985" y="1269"/>
                </a:lnTo>
                <a:moveTo>
                  <a:pt x="13985" y="1501"/>
                </a:moveTo>
                <a:lnTo>
                  <a:pt x="13985" y="1640"/>
                </a:lnTo>
                <a:lnTo>
                  <a:pt x="13883" y="1640"/>
                </a:lnTo>
                <a:lnTo>
                  <a:pt x="13883" y="1501"/>
                </a:lnTo>
                <a:lnTo>
                  <a:pt x="13985" y="1501"/>
                </a:lnTo>
                <a:moveTo>
                  <a:pt x="13985" y="1733"/>
                </a:moveTo>
                <a:lnTo>
                  <a:pt x="13985" y="1873"/>
                </a:lnTo>
                <a:lnTo>
                  <a:pt x="13883" y="1873"/>
                </a:lnTo>
                <a:lnTo>
                  <a:pt x="13883" y="1733"/>
                </a:lnTo>
                <a:lnTo>
                  <a:pt x="13985" y="1733"/>
                </a:lnTo>
                <a:moveTo>
                  <a:pt x="13985" y="1966"/>
                </a:moveTo>
                <a:lnTo>
                  <a:pt x="13985" y="2105"/>
                </a:lnTo>
                <a:lnTo>
                  <a:pt x="13883" y="2105"/>
                </a:lnTo>
                <a:lnTo>
                  <a:pt x="13883" y="1966"/>
                </a:lnTo>
                <a:lnTo>
                  <a:pt x="13985" y="1966"/>
                </a:lnTo>
                <a:moveTo>
                  <a:pt x="13985" y="2198"/>
                </a:moveTo>
                <a:lnTo>
                  <a:pt x="13985" y="2337"/>
                </a:lnTo>
                <a:lnTo>
                  <a:pt x="13883" y="2337"/>
                </a:lnTo>
                <a:lnTo>
                  <a:pt x="13883" y="2198"/>
                </a:lnTo>
                <a:lnTo>
                  <a:pt x="13985" y="2198"/>
                </a:lnTo>
                <a:moveTo>
                  <a:pt x="13985" y="2430"/>
                </a:moveTo>
                <a:lnTo>
                  <a:pt x="13985" y="2569"/>
                </a:lnTo>
                <a:lnTo>
                  <a:pt x="13883" y="2569"/>
                </a:lnTo>
                <a:lnTo>
                  <a:pt x="13883" y="2430"/>
                </a:lnTo>
                <a:lnTo>
                  <a:pt x="13985" y="2430"/>
                </a:lnTo>
                <a:moveTo>
                  <a:pt x="13985" y="2662"/>
                </a:moveTo>
                <a:lnTo>
                  <a:pt x="13985" y="2802"/>
                </a:lnTo>
                <a:lnTo>
                  <a:pt x="13883" y="2802"/>
                </a:lnTo>
                <a:lnTo>
                  <a:pt x="13883" y="2662"/>
                </a:lnTo>
                <a:lnTo>
                  <a:pt x="13985" y="2662"/>
                </a:lnTo>
                <a:moveTo>
                  <a:pt x="13985" y="2895"/>
                </a:moveTo>
                <a:lnTo>
                  <a:pt x="13985" y="3034"/>
                </a:lnTo>
                <a:lnTo>
                  <a:pt x="13883" y="3034"/>
                </a:lnTo>
                <a:lnTo>
                  <a:pt x="13883" y="2895"/>
                </a:lnTo>
                <a:lnTo>
                  <a:pt x="13985" y="2895"/>
                </a:lnTo>
                <a:moveTo>
                  <a:pt x="13985" y="3127"/>
                </a:moveTo>
                <a:lnTo>
                  <a:pt x="13985" y="3266"/>
                </a:lnTo>
                <a:lnTo>
                  <a:pt x="13883" y="3266"/>
                </a:lnTo>
                <a:lnTo>
                  <a:pt x="13883" y="3127"/>
                </a:lnTo>
                <a:lnTo>
                  <a:pt x="13985" y="3127"/>
                </a:lnTo>
                <a:moveTo>
                  <a:pt x="13985" y="3359"/>
                </a:moveTo>
                <a:lnTo>
                  <a:pt x="13985" y="3498"/>
                </a:lnTo>
                <a:lnTo>
                  <a:pt x="13883" y="3498"/>
                </a:lnTo>
                <a:lnTo>
                  <a:pt x="13883" y="3359"/>
                </a:lnTo>
                <a:lnTo>
                  <a:pt x="13985" y="3359"/>
                </a:lnTo>
                <a:moveTo>
                  <a:pt x="13985" y="3591"/>
                </a:moveTo>
                <a:lnTo>
                  <a:pt x="13985" y="3731"/>
                </a:lnTo>
                <a:lnTo>
                  <a:pt x="13883" y="3731"/>
                </a:lnTo>
                <a:lnTo>
                  <a:pt x="13883" y="3591"/>
                </a:lnTo>
                <a:lnTo>
                  <a:pt x="13985" y="3591"/>
                </a:lnTo>
                <a:moveTo>
                  <a:pt x="13985" y="3824"/>
                </a:moveTo>
                <a:lnTo>
                  <a:pt x="13985" y="3963"/>
                </a:lnTo>
                <a:lnTo>
                  <a:pt x="13883" y="3963"/>
                </a:lnTo>
                <a:lnTo>
                  <a:pt x="13883" y="3824"/>
                </a:lnTo>
                <a:lnTo>
                  <a:pt x="13985" y="3824"/>
                </a:lnTo>
                <a:moveTo>
                  <a:pt x="13985" y="4056"/>
                </a:moveTo>
                <a:lnTo>
                  <a:pt x="13985" y="4195"/>
                </a:lnTo>
                <a:lnTo>
                  <a:pt x="13883" y="4195"/>
                </a:lnTo>
                <a:lnTo>
                  <a:pt x="13883" y="4056"/>
                </a:lnTo>
                <a:lnTo>
                  <a:pt x="13985" y="4056"/>
                </a:lnTo>
                <a:moveTo>
                  <a:pt x="13985" y="4288"/>
                </a:moveTo>
                <a:lnTo>
                  <a:pt x="13985" y="4427"/>
                </a:lnTo>
                <a:lnTo>
                  <a:pt x="13883" y="4427"/>
                </a:lnTo>
                <a:lnTo>
                  <a:pt x="13883" y="4288"/>
                </a:lnTo>
                <a:lnTo>
                  <a:pt x="13985" y="4288"/>
                </a:lnTo>
                <a:moveTo>
                  <a:pt x="13985" y="4520"/>
                </a:moveTo>
                <a:lnTo>
                  <a:pt x="13985" y="4660"/>
                </a:lnTo>
                <a:lnTo>
                  <a:pt x="13883" y="4660"/>
                </a:lnTo>
                <a:lnTo>
                  <a:pt x="13883" y="4520"/>
                </a:lnTo>
                <a:lnTo>
                  <a:pt x="13985" y="4520"/>
                </a:lnTo>
                <a:moveTo>
                  <a:pt x="13985" y="4753"/>
                </a:moveTo>
                <a:lnTo>
                  <a:pt x="13985" y="4892"/>
                </a:lnTo>
                <a:lnTo>
                  <a:pt x="13883" y="4892"/>
                </a:lnTo>
                <a:lnTo>
                  <a:pt x="13883" y="4753"/>
                </a:lnTo>
                <a:lnTo>
                  <a:pt x="13985" y="4753"/>
                </a:lnTo>
                <a:moveTo>
                  <a:pt x="13985" y="4985"/>
                </a:moveTo>
                <a:lnTo>
                  <a:pt x="13985" y="5124"/>
                </a:lnTo>
                <a:lnTo>
                  <a:pt x="13883" y="5124"/>
                </a:lnTo>
                <a:lnTo>
                  <a:pt x="13883" y="4985"/>
                </a:lnTo>
                <a:lnTo>
                  <a:pt x="13985" y="4985"/>
                </a:lnTo>
                <a:moveTo>
                  <a:pt x="13985" y="5217"/>
                </a:moveTo>
                <a:lnTo>
                  <a:pt x="13985" y="5357"/>
                </a:lnTo>
                <a:lnTo>
                  <a:pt x="13883" y="5357"/>
                </a:lnTo>
                <a:lnTo>
                  <a:pt x="13883" y="5217"/>
                </a:lnTo>
                <a:lnTo>
                  <a:pt x="13985" y="5217"/>
                </a:lnTo>
                <a:moveTo>
                  <a:pt x="13985" y="5450"/>
                </a:moveTo>
                <a:lnTo>
                  <a:pt x="13985" y="5590"/>
                </a:lnTo>
                <a:lnTo>
                  <a:pt x="13883" y="5590"/>
                </a:lnTo>
                <a:lnTo>
                  <a:pt x="13883" y="5450"/>
                </a:lnTo>
                <a:lnTo>
                  <a:pt x="13985" y="5450"/>
                </a:lnTo>
                <a:moveTo>
                  <a:pt x="13985" y="5683"/>
                </a:moveTo>
                <a:lnTo>
                  <a:pt x="13985" y="5786"/>
                </a:lnTo>
                <a:cubicBezTo>
                  <a:pt x="13985" y="5801"/>
                  <a:pt x="13983" y="5817"/>
                  <a:pt x="13980" y="5832"/>
                </a:cubicBezTo>
                <a:lnTo>
                  <a:pt x="13880" y="5810"/>
                </a:lnTo>
                <a:cubicBezTo>
                  <a:pt x="13882" y="5802"/>
                  <a:pt x="13883" y="5794"/>
                  <a:pt x="13883" y="5786"/>
                </a:cubicBezTo>
                <a:lnTo>
                  <a:pt x="13883" y="5683"/>
                </a:lnTo>
                <a:lnTo>
                  <a:pt x="13985" y="5683"/>
                </a:lnTo>
                <a:moveTo>
                  <a:pt x="13920" y="5939"/>
                </a:moveTo>
                <a:cubicBezTo>
                  <a:pt x="13879" y="5979"/>
                  <a:pt x="13829" y="5999"/>
                  <a:pt x="13771" y="5999"/>
                </a:cubicBezTo>
                <a:lnTo>
                  <a:pt x="13756" y="5999"/>
                </a:lnTo>
                <a:lnTo>
                  <a:pt x="13756" y="5897"/>
                </a:lnTo>
                <a:lnTo>
                  <a:pt x="13771" y="5897"/>
                </a:lnTo>
                <a:cubicBezTo>
                  <a:pt x="13802" y="5897"/>
                  <a:pt x="13827" y="5887"/>
                  <a:pt x="13849" y="5866"/>
                </a:cubicBezTo>
                <a:lnTo>
                  <a:pt x="13920" y="5939"/>
                </a:lnTo>
                <a:moveTo>
                  <a:pt x="13663" y="5999"/>
                </a:moveTo>
                <a:lnTo>
                  <a:pt x="13524" y="5999"/>
                </a:lnTo>
                <a:lnTo>
                  <a:pt x="13524" y="5897"/>
                </a:lnTo>
                <a:lnTo>
                  <a:pt x="13663" y="5897"/>
                </a:lnTo>
                <a:lnTo>
                  <a:pt x="13663" y="5999"/>
                </a:lnTo>
                <a:moveTo>
                  <a:pt x="13431" y="5999"/>
                </a:moveTo>
                <a:lnTo>
                  <a:pt x="13292" y="5999"/>
                </a:lnTo>
                <a:lnTo>
                  <a:pt x="13292" y="5897"/>
                </a:lnTo>
                <a:lnTo>
                  <a:pt x="13431" y="5897"/>
                </a:lnTo>
                <a:lnTo>
                  <a:pt x="13431" y="5999"/>
                </a:lnTo>
                <a:moveTo>
                  <a:pt x="13199" y="5999"/>
                </a:moveTo>
                <a:lnTo>
                  <a:pt x="13060" y="5999"/>
                </a:lnTo>
                <a:lnTo>
                  <a:pt x="13060" y="5897"/>
                </a:lnTo>
                <a:lnTo>
                  <a:pt x="13199" y="5897"/>
                </a:lnTo>
                <a:lnTo>
                  <a:pt x="13199" y="5999"/>
                </a:lnTo>
                <a:moveTo>
                  <a:pt x="12967" y="5999"/>
                </a:moveTo>
                <a:lnTo>
                  <a:pt x="12827" y="5999"/>
                </a:lnTo>
                <a:lnTo>
                  <a:pt x="12827" y="5897"/>
                </a:lnTo>
                <a:lnTo>
                  <a:pt x="12967" y="5897"/>
                </a:lnTo>
                <a:lnTo>
                  <a:pt x="12967" y="5999"/>
                </a:lnTo>
                <a:moveTo>
                  <a:pt x="12734" y="5999"/>
                </a:moveTo>
                <a:lnTo>
                  <a:pt x="12595" y="5999"/>
                </a:lnTo>
                <a:lnTo>
                  <a:pt x="12595" y="5897"/>
                </a:lnTo>
                <a:lnTo>
                  <a:pt x="12734" y="5897"/>
                </a:lnTo>
                <a:lnTo>
                  <a:pt x="12734" y="5999"/>
                </a:lnTo>
                <a:moveTo>
                  <a:pt x="12502" y="5999"/>
                </a:moveTo>
                <a:lnTo>
                  <a:pt x="12363" y="5999"/>
                </a:lnTo>
                <a:lnTo>
                  <a:pt x="12363" y="5897"/>
                </a:lnTo>
                <a:lnTo>
                  <a:pt x="12502" y="5897"/>
                </a:lnTo>
                <a:lnTo>
                  <a:pt x="12502" y="5999"/>
                </a:lnTo>
                <a:moveTo>
                  <a:pt x="12270" y="5999"/>
                </a:moveTo>
                <a:lnTo>
                  <a:pt x="12131" y="5999"/>
                </a:lnTo>
                <a:lnTo>
                  <a:pt x="12131" y="5897"/>
                </a:lnTo>
                <a:lnTo>
                  <a:pt x="12270" y="5897"/>
                </a:lnTo>
                <a:lnTo>
                  <a:pt x="12270" y="5999"/>
                </a:lnTo>
                <a:moveTo>
                  <a:pt x="12038" y="5999"/>
                </a:moveTo>
                <a:lnTo>
                  <a:pt x="11898" y="5999"/>
                </a:lnTo>
                <a:lnTo>
                  <a:pt x="11898" y="5897"/>
                </a:lnTo>
                <a:lnTo>
                  <a:pt x="12038" y="5897"/>
                </a:lnTo>
                <a:lnTo>
                  <a:pt x="12038" y="5999"/>
                </a:lnTo>
                <a:moveTo>
                  <a:pt x="11805" y="5999"/>
                </a:moveTo>
                <a:lnTo>
                  <a:pt x="11666" y="5999"/>
                </a:lnTo>
                <a:lnTo>
                  <a:pt x="11666" y="5897"/>
                </a:lnTo>
                <a:lnTo>
                  <a:pt x="11805" y="5897"/>
                </a:lnTo>
                <a:lnTo>
                  <a:pt x="11805" y="5999"/>
                </a:lnTo>
                <a:moveTo>
                  <a:pt x="11573" y="5999"/>
                </a:moveTo>
                <a:lnTo>
                  <a:pt x="11434" y="5999"/>
                </a:lnTo>
                <a:lnTo>
                  <a:pt x="11434" y="5897"/>
                </a:lnTo>
                <a:lnTo>
                  <a:pt x="11573" y="5897"/>
                </a:lnTo>
                <a:lnTo>
                  <a:pt x="11573" y="5999"/>
                </a:lnTo>
                <a:moveTo>
                  <a:pt x="11341" y="5999"/>
                </a:moveTo>
                <a:lnTo>
                  <a:pt x="11201" y="5999"/>
                </a:lnTo>
                <a:lnTo>
                  <a:pt x="11201" y="5897"/>
                </a:lnTo>
                <a:lnTo>
                  <a:pt x="11341" y="5897"/>
                </a:lnTo>
                <a:lnTo>
                  <a:pt x="11341" y="5999"/>
                </a:lnTo>
                <a:moveTo>
                  <a:pt x="11108" y="5999"/>
                </a:moveTo>
                <a:lnTo>
                  <a:pt x="10969" y="5999"/>
                </a:lnTo>
                <a:lnTo>
                  <a:pt x="10969" y="5897"/>
                </a:lnTo>
                <a:lnTo>
                  <a:pt x="11108" y="5897"/>
                </a:lnTo>
                <a:lnTo>
                  <a:pt x="11108" y="5999"/>
                </a:lnTo>
                <a:moveTo>
                  <a:pt x="10876" y="5999"/>
                </a:moveTo>
                <a:lnTo>
                  <a:pt x="10737" y="5999"/>
                </a:lnTo>
                <a:lnTo>
                  <a:pt x="10737" y="5897"/>
                </a:lnTo>
                <a:lnTo>
                  <a:pt x="10876" y="5897"/>
                </a:lnTo>
                <a:lnTo>
                  <a:pt x="10876" y="5999"/>
                </a:lnTo>
                <a:moveTo>
                  <a:pt x="10644" y="5999"/>
                </a:moveTo>
                <a:lnTo>
                  <a:pt x="10505" y="5999"/>
                </a:lnTo>
                <a:lnTo>
                  <a:pt x="10505" y="5897"/>
                </a:lnTo>
                <a:lnTo>
                  <a:pt x="10644" y="5897"/>
                </a:lnTo>
                <a:lnTo>
                  <a:pt x="10644" y="5999"/>
                </a:lnTo>
                <a:moveTo>
                  <a:pt x="10412" y="5999"/>
                </a:moveTo>
                <a:lnTo>
                  <a:pt x="10272" y="5999"/>
                </a:lnTo>
                <a:lnTo>
                  <a:pt x="10272" y="5897"/>
                </a:lnTo>
                <a:lnTo>
                  <a:pt x="10412" y="5897"/>
                </a:lnTo>
                <a:lnTo>
                  <a:pt x="10412" y="5999"/>
                </a:lnTo>
                <a:moveTo>
                  <a:pt x="10179" y="5999"/>
                </a:moveTo>
                <a:lnTo>
                  <a:pt x="10040" y="5999"/>
                </a:lnTo>
                <a:lnTo>
                  <a:pt x="10040" y="5897"/>
                </a:lnTo>
                <a:lnTo>
                  <a:pt x="10179" y="5897"/>
                </a:lnTo>
                <a:lnTo>
                  <a:pt x="10179" y="5999"/>
                </a:lnTo>
                <a:moveTo>
                  <a:pt x="9947" y="5999"/>
                </a:moveTo>
                <a:lnTo>
                  <a:pt x="9808" y="5999"/>
                </a:lnTo>
                <a:lnTo>
                  <a:pt x="9808" y="5897"/>
                </a:lnTo>
                <a:lnTo>
                  <a:pt x="9947" y="5897"/>
                </a:lnTo>
                <a:lnTo>
                  <a:pt x="9947" y="5999"/>
                </a:lnTo>
                <a:moveTo>
                  <a:pt x="9715" y="5999"/>
                </a:moveTo>
                <a:lnTo>
                  <a:pt x="9576" y="5999"/>
                </a:lnTo>
                <a:lnTo>
                  <a:pt x="9576" y="5897"/>
                </a:lnTo>
                <a:lnTo>
                  <a:pt x="9715" y="5897"/>
                </a:lnTo>
                <a:lnTo>
                  <a:pt x="9715" y="5999"/>
                </a:lnTo>
                <a:moveTo>
                  <a:pt x="9483" y="5999"/>
                </a:moveTo>
                <a:lnTo>
                  <a:pt x="9343" y="5999"/>
                </a:lnTo>
                <a:lnTo>
                  <a:pt x="9343" y="5897"/>
                </a:lnTo>
                <a:lnTo>
                  <a:pt x="9483" y="5897"/>
                </a:lnTo>
                <a:lnTo>
                  <a:pt x="9483" y="5999"/>
                </a:lnTo>
                <a:moveTo>
                  <a:pt x="9250" y="5999"/>
                </a:moveTo>
                <a:lnTo>
                  <a:pt x="9111" y="5999"/>
                </a:lnTo>
                <a:lnTo>
                  <a:pt x="9111" y="5897"/>
                </a:lnTo>
                <a:lnTo>
                  <a:pt x="9250" y="5897"/>
                </a:lnTo>
                <a:lnTo>
                  <a:pt x="9250" y="5999"/>
                </a:lnTo>
                <a:moveTo>
                  <a:pt x="9018" y="5999"/>
                </a:moveTo>
                <a:lnTo>
                  <a:pt x="8879" y="5999"/>
                </a:lnTo>
                <a:lnTo>
                  <a:pt x="8879" y="5897"/>
                </a:lnTo>
                <a:lnTo>
                  <a:pt x="9018" y="5897"/>
                </a:lnTo>
                <a:lnTo>
                  <a:pt x="9018" y="5999"/>
                </a:lnTo>
                <a:moveTo>
                  <a:pt x="8786" y="5999"/>
                </a:moveTo>
                <a:lnTo>
                  <a:pt x="8647" y="5999"/>
                </a:lnTo>
                <a:lnTo>
                  <a:pt x="8647" y="5897"/>
                </a:lnTo>
                <a:lnTo>
                  <a:pt x="8786" y="5897"/>
                </a:lnTo>
                <a:lnTo>
                  <a:pt x="8786" y="5999"/>
                </a:lnTo>
                <a:moveTo>
                  <a:pt x="8554" y="5999"/>
                </a:moveTo>
                <a:lnTo>
                  <a:pt x="8414" y="5999"/>
                </a:lnTo>
                <a:lnTo>
                  <a:pt x="8414" y="5897"/>
                </a:lnTo>
                <a:lnTo>
                  <a:pt x="8554" y="5897"/>
                </a:lnTo>
                <a:lnTo>
                  <a:pt x="8554" y="5999"/>
                </a:lnTo>
                <a:moveTo>
                  <a:pt x="8321" y="5999"/>
                </a:moveTo>
                <a:lnTo>
                  <a:pt x="8182" y="5999"/>
                </a:lnTo>
                <a:lnTo>
                  <a:pt x="8182" y="5897"/>
                </a:lnTo>
                <a:lnTo>
                  <a:pt x="8321" y="5897"/>
                </a:lnTo>
                <a:lnTo>
                  <a:pt x="8321" y="5999"/>
                </a:lnTo>
                <a:moveTo>
                  <a:pt x="8089" y="5999"/>
                </a:moveTo>
                <a:lnTo>
                  <a:pt x="7950" y="5999"/>
                </a:lnTo>
                <a:lnTo>
                  <a:pt x="7950" y="5897"/>
                </a:lnTo>
                <a:lnTo>
                  <a:pt x="8089" y="5897"/>
                </a:lnTo>
                <a:lnTo>
                  <a:pt x="8089" y="5999"/>
                </a:lnTo>
                <a:moveTo>
                  <a:pt x="7857" y="5999"/>
                </a:moveTo>
                <a:lnTo>
                  <a:pt x="7717" y="5999"/>
                </a:lnTo>
                <a:lnTo>
                  <a:pt x="7717" y="5897"/>
                </a:lnTo>
                <a:lnTo>
                  <a:pt x="7857" y="5897"/>
                </a:lnTo>
                <a:lnTo>
                  <a:pt x="7857" y="5999"/>
                </a:lnTo>
                <a:moveTo>
                  <a:pt x="7624" y="5999"/>
                </a:moveTo>
                <a:lnTo>
                  <a:pt x="7485" y="5999"/>
                </a:lnTo>
                <a:lnTo>
                  <a:pt x="7485" y="5897"/>
                </a:lnTo>
                <a:lnTo>
                  <a:pt x="7624" y="5897"/>
                </a:lnTo>
                <a:lnTo>
                  <a:pt x="7624" y="5999"/>
                </a:lnTo>
                <a:moveTo>
                  <a:pt x="7392" y="5999"/>
                </a:moveTo>
                <a:lnTo>
                  <a:pt x="7253" y="5999"/>
                </a:lnTo>
                <a:lnTo>
                  <a:pt x="7253" y="5897"/>
                </a:lnTo>
                <a:lnTo>
                  <a:pt x="7392" y="5897"/>
                </a:lnTo>
                <a:lnTo>
                  <a:pt x="7392" y="5999"/>
                </a:lnTo>
                <a:moveTo>
                  <a:pt x="7160" y="5999"/>
                </a:moveTo>
                <a:lnTo>
                  <a:pt x="7021" y="5999"/>
                </a:lnTo>
                <a:lnTo>
                  <a:pt x="7021" y="5897"/>
                </a:lnTo>
                <a:lnTo>
                  <a:pt x="7160" y="5897"/>
                </a:lnTo>
                <a:lnTo>
                  <a:pt x="7160" y="5999"/>
                </a:lnTo>
                <a:moveTo>
                  <a:pt x="6928" y="5999"/>
                </a:moveTo>
                <a:lnTo>
                  <a:pt x="6788" y="5999"/>
                </a:lnTo>
                <a:lnTo>
                  <a:pt x="6788" y="5897"/>
                </a:lnTo>
                <a:lnTo>
                  <a:pt x="6928" y="5897"/>
                </a:lnTo>
                <a:lnTo>
                  <a:pt x="6928" y="5999"/>
                </a:lnTo>
                <a:moveTo>
                  <a:pt x="6695" y="5999"/>
                </a:moveTo>
                <a:lnTo>
                  <a:pt x="6556" y="5999"/>
                </a:lnTo>
                <a:lnTo>
                  <a:pt x="6556" y="5897"/>
                </a:lnTo>
                <a:lnTo>
                  <a:pt x="6695" y="5897"/>
                </a:lnTo>
                <a:lnTo>
                  <a:pt x="6695" y="5999"/>
                </a:lnTo>
                <a:moveTo>
                  <a:pt x="6463" y="5999"/>
                </a:moveTo>
                <a:lnTo>
                  <a:pt x="6324" y="5999"/>
                </a:lnTo>
                <a:lnTo>
                  <a:pt x="6324" y="5897"/>
                </a:lnTo>
                <a:lnTo>
                  <a:pt x="6463" y="5897"/>
                </a:lnTo>
                <a:lnTo>
                  <a:pt x="6463" y="5999"/>
                </a:lnTo>
                <a:moveTo>
                  <a:pt x="6230" y="5999"/>
                </a:moveTo>
                <a:lnTo>
                  <a:pt x="6091" y="5999"/>
                </a:lnTo>
                <a:lnTo>
                  <a:pt x="6091" y="5897"/>
                </a:lnTo>
                <a:lnTo>
                  <a:pt x="6230" y="5897"/>
                </a:lnTo>
                <a:lnTo>
                  <a:pt x="6230" y="5999"/>
                </a:lnTo>
                <a:moveTo>
                  <a:pt x="5998" y="5999"/>
                </a:moveTo>
                <a:lnTo>
                  <a:pt x="5858" y="5999"/>
                </a:lnTo>
                <a:lnTo>
                  <a:pt x="5858" y="5897"/>
                </a:lnTo>
                <a:lnTo>
                  <a:pt x="5998" y="5897"/>
                </a:lnTo>
                <a:lnTo>
                  <a:pt x="5998" y="5999"/>
                </a:lnTo>
                <a:moveTo>
                  <a:pt x="5765" y="5999"/>
                </a:moveTo>
                <a:lnTo>
                  <a:pt x="5626" y="5999"/>
                </a:lnTo>
                <a:lnTo>
                  <a:pt x="5626" y="5897"/>
                </a:lnTo>
                <a:lnTo>
                  <a:pt x="5765" y="5897"/>
                </a:lnTo>
                <a:lnTo>
                  <a:pt x="5765" y="5999"/>
                </a:lnTo>
                <a:moveTo>
                  <a:pt x="5533" y="5999"/>
                </a:moveTo>
                <a:lnTo>
                  <a:pt x="5394" y="5999"/>
                </a:lnTo>
                <a:lnTo>
                  <a:pt x="5394" y="5897"/>
                </a:lnTo>
                <a:lnTo>
                  <a:pt x="5533" y="5897"/>
                </a:lnTo>
                <a:lnTo>
                  <a:pt x="5533" y="5999"/>
                </a:lnTo>
                <a:moveTo>
                  <a:pt x="5301" y="5999"/>
                </a:moveTo>
                <a:lnTo>
                  <a:pt x="5162" y="5999"/>
                </a:lnTo>
                <a:lnTo>
                  <a:pt x="5162" y="5897"/>
                </a:lnTo>
                <a:lnTo>
                  <a:pt x="5301" y="5897"/>
                </a:lnTo>
                <a:lnTo>
                  <a:pt x="5301" y="5999"/>
                </a:lnTo>
                <a:moveTo>
                  <a:pt x="5069" y="5999"/>
                </a:moveTo>
                <a:lnTo>
                  <a:pt x="4929" y="5999"/>
                </a:lnTo>
                <a:lnTo>
                  <a:pt x="4929" y="5897"/>
                </a:lnTo>
                <a:lnTo>
                  <a:pt x="5069" y="5897"/>
                </a:lnTo>
                <a:lnTo>
                  <a:pt x="5069" y="5999"/>
                </a:lnTo>
                <a:moveTo>
                  <a:pt x="4836" y="5999"/>
                </a:moveTo>
                <a:lnTo>
                  <a:pt x="4697" y="5999"/>
                </a:lnTo>
                <a:lnTo>
                  <a:pt x="4697" y="5897"/>
                </a:lnTo>
                <a:lnTo>
                  <a:pt x="4836" y="5897"/>
                </a:lnTo>
                <a:lnTo>
                  <a:pt x="4836" y="5999"/>
                </a:lnTo>
                <a:moveTo>
                  <a:pt x="4604" y="5999"/>
                </a:moveTo>
                <a:lnTo>
                  <a:pt x="4465" y="5999"/>
                </a:lnTo>
                <a:lnTo>
                  <a:pt x="4465" y="5897"/>
                </a:lnTo>
                <a:lnTo>
                  <a:pt x="4604" y="5897"/>
                </a:lnTo>
                <a:lnTo>
                  <a:pt x="4604" y="5999"/>
                </a:lnTo>
                <a:moveTo>
                  <a:pt x="4372" y="5999"/>
                </a:moveTo>
                <a:lnTo>
                  <a:pt x="4232" y="5999"/>
                </a:lnTo>
                <a:lnTo>
                  <a:pt x="4232" y="5897"/>
                </a:lnTo>
                <a:lnTo>
                  <a:pt x="4372" y="5897"/>
                </a:lnTo>
                <a:lnTo>
                  <a:pt x="4372" y="5999"/>
                </a:lnTo>
                <a:moveTo>
                  <a:pt x="4139" y="5999"/>
                </a:moveTo>
                <a:lnTo>
                  <a:pt x="4000" y="5999"/>
                </a:lnTo>
                <a:lnTo>
                  <a:pt x="4000" y="5897"/>
                </a:lnTo>
                <a:lnTo>
                  <a:pt x="4139" y="5897"/>
                </a:lnTo>
                <a:lnTo>
                  <a:pt x="4139" y="5999"/>
                </a:lnTo>
                <a:moveTo>
                  <a:pt x="3907" y="5999"/>
                </a:moveTo>
                <a:lnTo>
                  <a:pt x="3768" y="5999"/>
                </a:lnTo>
                <a:lnTo>
                  <a:pt x="3768" y="5897"/>
                </a:lnTo>
                <a:lnTo>
                  <a:pt x="3907" y="5897"/>
                </a:lnTo>
                <a:lnTo>
                  <a:pt x="3907" y="5999"/>
                </a:lnTo>
                <a:moveTo>
                  <a:pt x="3675" y="5999"/>
                </a:moveTo>
                <a:lnTo>
                  <a:pt x="3536" y="5999"/>
                </a:lnTo>
                <a:lnTo>
                  <a:pt x="3536" y="5897"/>
                </a:lnTo>
                <a:lnTo>
                  <a:pt x="3675" y="5897"/>
                </a:lnTo>
                <a:lnTo>
                  <a:pt x="3675" y="5999"/>
                </a:lnTo>
                <a:moveTo>
                  <a:pt x="3443" y="5999"/>
                </a:moveTo>
                <a:lnTo>
                  <a:pt x="3303" y="5999"/>
                </a:lnTo>
                <a:lnTo>
                  <a:pt x="3303" y="5897"/>
                </a:lnTo>
                <a:lnTo>
                  <a:pt x="3443" y="5897"/>
                </a:lnTo>
                <a:lnTo>
                  <a:pt x="3443" y="5999"/>
                </a:lnTo>
                <a:moveTo>
                  <a:pt x="3210" y="5999"/>
                </a:moveTo>
                <a:lnTo>
                  <a:pt x="3071" y="5999"/>
                </a:lnTo>
                <a:lnTo>
                  <a:pt x="3071" y="5897"/>
                </a:lnTo>
                <a:lnTo>
                  <a:pt x="3210" y="5897"/>
                </a:lnTo>
                <a:lnTo>
                  <a:pt x="3210" y="5999"/>
                </a:lnTo>
                <a:moveTo>
                  <a:pt x="2978" y="5999"/>
                </a:moveTo>
                <a:lnTo>
                  <a:pt x="2839" y="5999"/>
                </a:lnTo>
                <a:lnTo>
                  <a:pt x="2839" y="5897"/>
                </a:lnTo>
                <a:lnTo>
                  <a:pt x="2978" y="5897"/>
                </a:lnTo>
                <a:lnTo>
                  <a:pt x="2978" y="5999"/>
                </a:lnTo>
                <a:moveTo>
                  <a:pt x="2746" y="5999"/>
                </a:moveTo>
                <a:lnTo>
                  <a:pt x="2607" y="5999"/>
                </a:lnTo>
                <a:lnTo>
                  <a:pt x="2607" y="5897"/>
                </a:lnTo>
                <a:lnTo>
                  <a:pt x="2746" y="5897"/>
                </a:lnTo>
                <a:lnTo>
                  <a:pt x="2746" y="5999"/>
                </a:lnTo>
                <a:moveTo>
                  <a:pt x="2514" y="5999"/>
                </a:moveTo>
                <a:lnTo>
                  <a:pt x="2374" y="5999"/>
                </a:lnTo>
                <a:lnTo>
                  <a:pt x="2374" y="5897"/>
                </a:lnTo>
                <a:lnTo>
                  <a:pt x="2514" y="5897"/>
                </a:lnTo>
                <a:lnTo>
                  <a:pt x="2514" y="5999"/>
                </a:lnTo>
                <a:moveTo>
                  <a:pt x="2281" y="5999"/>
                </a:moveTo>
                <a:lnTo>
                  <a:pt x="2142" y="5999"/>
                </a:lnTo>
                <a:lnTo>
                  <a:pt x="2142" y="5897"/>
                </a:lnTo>
                <a:lnTo>
                  <a:pt x="2281" y="5897"/>
                </a:lnTo>
                <a:lnTo>
                  <a:pt x="2281" y="5999"/>
                </a:lnTo>
                <a:moveTo>
                  <a:pt x="2049" y="5999"/>
                </a:moveTo>
                <a:lnTo>
                  <a:pt x="1910" y="5999"/>
                </a:lnTo>
                <a:lnTo>
                  <a:pt x="1910" y="5897"/>
                </a:lnTo>
                <a:lnTo>
                  <a:pt x="2049" y="5897"/>
                </a:lnTo>
                <a:lnTo>
                  <a:pt x="2049" y="5999"/>
                </a:lnTo>
                <a:moveTo>
                  <a:pt x="1817" y="5999"/>
                </a:moveTo>
                <a:lnTo>
                  <a:pt x="1677" y="5999"/>
                </a:lnTo>
                <a:lnTo>
                  <a:pt x="1677" y="5897"/>
                </a:lnTo>
                <a:lnTo>
                  <a:pt x="1817" y="5897"/>
                </a:lnTo>
                <a:lnTo>
                  <a:pt x="1817" y="5999"/>
                </a:lnTo>
                <a:moveTo>
                  <a:pt x="1584" y="5999"/>
                </a:moveTo>
                <a:lnTo>
                  <a:pt x="1445" y="5999"/>
                </a:lnTo>
                <a:lnTo>
                  <a:pt x="1445" y="5897"/>
                </a:lnTo>
                <a:lnTo>
                  <a:pt x="1584" y="5897"/>
                </a:lnTo>
                <a:lnTo>
                  <a:pt x="1584" y="5999"/>
                </a:lnTo>
                <a:moveTo>
                  <a:pt x="1352" y="5999"/>
                </a:moveTo>
                <a:lnTo>
                  <a:pt x="1213" y="5999"/>
                </a:lnTo>
                <a:lnTo>
                  <a:pt x="1213" y="5897"/>
                </a:lnTo>
                <a:lnTo>
                  <a:pt x="1352" y="5897"/>
                </a:lnTo>
                <a:lnTo>
                  <a:pt x="1352" y="5999"/>
                </a:lnTo>
                <a:moveTo>
                  <a:pt x="1120" y="5999"/>
                </a:moveTo>
                <a:lnTo>
                  <a:pt x="981" y="5999"/>
                </a:lnTo>
                <a:lnTo>
                  <a:pt x="981" y="5897"/>
                </a:lnTo>
                <a:lnTo>
                  <a:pt x="1120" y="5897"/>
                </a:lnTo>
                <a:lnTo>
                  <a:pt x="1120" y="5999"/>
                </a:lnTo>
                <a:moveTo>
                  <a:pt x="888" y="5999"/>
                </a:moveTo>
                <a:lnTo>
                  <a:pt x="748" y="5999"/>
                </a:lnTo>
                <a:lnTo>
                  <a:pt x="748" y="5897"/>
                </a:lnTo>
                <a:lnTo>
                  <a:pt x="888" y="5897"/>
                </a:lnTo>
                <a:lnTo>
                  <a:pt x="888" y="5999"/>
                </a:lnTo>
                <a:moveTo>
                  <a:pt x="655" y="5999"/>
                </a:moveTo>
                <a:lnTo>
                  <a:pt x="516" y="5999"/>
                </a:lnTo>
                <a:lnTo>
                  <a:pt x="516" y="5897"/>
                </a:lnTo>
                <a:lnTo>
                  <a:pt x="655" y="5897"/>
                </a:lnTo>
                <a:lnTo>
                  <a:pt x="655" y="5999"/>
                </a:lnTo>
                <a:moveTo>
                  <a:pt x="423" y="5999"/>
                </a:moveTo>
                <a:lnTo>
                  <a:pt x="284" y="5999"/>
                </a:lnTo>
                <a:lnTo>
                  <a:pt x="284" y="5897"/>
                </a:lnTo>
                <a:lnTo>
                  <a:pt x="423" y="5897"/>
                </a:lnTo>
                <a:lnTo>
                  <a:pt x="423" y="5999"/>
                </a:lnTo>
                <a:moveTo>
                  <a:pt x="185" y="5997"/>
                </a:moveTo>
                <a:cubicBezTo>
                  <a:pt x="119" y="5988"/>
                  <a:pt x="69" y="5956"/>
                  <a:pt x="33" y="5900"/>
                </a:cubicBezTo>
                <a:lnTo>
                  <a:pt x="120" y="5845"/>
                </a:lnTo>
                <a:cubicBezTo>
                  <a:pt x="138" y="5874"/>
                  <a:pt x="164" y="5891"/>
                  <a:pt x="199" y="5896"/>
                </a:cubicBezTo>
                <a:lnTo>
                  <a:pt x="185" y="5997"/>
                </a:lnTo>
                <a:moveTo>
                  <a:pt x="0" y="5784"/>
                </a:moveTo>
                <a:lnTo>
                  <a:pt x="0" y="5645"/>
                </a:lnTo>
                <a:lnTo>
                  <a:pt x="103" y="5645"/>
                </a:lnTo>
                <a:lnTo>
                  <a:pt x="103" y="5784"/>
                </a:lnTo>
                <a:lnTo>
                  <a:pt x="0" y="5784"/>
                </a:lnTo>
                <a:moveTo>
                  <a:pt x="0" y="5552"/>
                </a:moveTo>
                <a:lnTo>
                  <a:pt x="0" y="5411"/>
                </a:lnTo>
                <a:lnTo>
                  <a:pt x="103" y="5411"/>
                </a:lnTo>
                <a:lnTo>
                  <a:pt x="103" y="5552"/>
                </a:lnTo>
                <a:lnTo>
                  <a:pt x="0" y="5552"/>
                </a:lnTo>
                <a:moveTo>
                  <a:pt x="0" y="5318"/>
                </a:moveTo>
                <a:lnTo>
                  <a:pt x="0" y="5179"/>
                </a:lnTo>
                <a:lnTo>
                  <a:pt x="103" y="5179"/>
                </a:lnTo>
                <a:lnTo>
                  <a:pt x="103" y="5318"/>
                </a:lnTo>
                <a:lnTo>
                  <a:pt x="0" y="5318"/>
                </a:lnTo>
                <a:moveTo>
                  <a:pt x="0" y="5086"/>
                </a:moveTo>
                <a:lnTo>
                  <a:pt x="0" y="4947"/>
                </a:lnTo>
                <a:lnTo>
                  <a:pt x="103" y="4947"/>
                </a:lnTo>
                <a:lnTo>
                  <a:pt x="103" y="5086"/>
                </a:lnTo>
                <a:lnTo>
                  <a:pt x="0" y="5086"/>
                </a:lnTo>
                <a:moveTo>
                  <a:pt x="0" y="4854"/>
                </a:moveTo>
                <a:lnTo>
                  <a:pt x="0" y="4715"/>
                </a:lnTo>
                <a:lnTo>
                  <a:pt x="103" y="4715"/>
                </a:lnTo>
                <a:lnTo>
                  <a:pt x="103" y="4854"/>
                </a:lnTo>
                <a:lnTo>
                  <a:pt x="0" y="4854"/>
                </a:lnTo>
                <a:moveTo>
                  <a:pt x="0" y="4622"/>
                </a:moveTo>
                <a:lnTo>
                  <a:pt x="0" y="4482"/>
                </a:lnTo>
                <a:lnTo>
                  <a:pt x="103" y="4482"/>
                </a:lnTo>
                <a:lnTo>
                  <a:pt x="103" y="4622"/>
                </a:lnTo>
                <a:lnTo>
                  <a:pt x="0" y="4622"/>
                </a:lnTo>
                <a:moveTo>
                  <a:pt x="0" y="4389"/>
                </a:moveTo>
                <a:lnTo>
                  <a:pt x="0" y="4250"/>
                </a:lnTo>
                <a:lnTo>
                  <a:pt x="103" y="4250"/>
                </a:lnTo>
                <a:lnTo>
                  <a:pt x="103" y="4389"/>
                </a:lnTo>
                <a:lnTo>
                  <a:pt x="0" y="4389"/>
                </a:lnTo>
                <a:moveTo>
                  <a:pt x="0" y="4157"/>
                </a:moveTo>
                <a:lnTo>
                  <a:pt x="0" y="4018"/>
                </a:lnTo>
                <a:lnTo>
                  <a:pt x="103" y="4018"/>
                </a:lnTo>
                <a:lnTo>
                  <a:pt x="103" y="4157"/>
                </a:lnTo>
                <a:lnTo>
                  <a:pt x="0" y="4157"/>
                </a:lnTo>
                <a:moveTo>
                  <a:pt x="0" y="3925"/>
                </a:moveTo>
                <a:lnTo>
                  <a:pt x="0" y="3785"/>
                </a:lnTo>
                <a:lnTo>
                  <a:pt x="103" y="3785"/>
                </a:lnTo>
                <a:lnTo>
                  <a:pt x="103" y="3925"/>
                </a:lnTo>
                <a:lnTo>
                  <a:pt x="0" y="3925"/>
                </a:lnTo>
                <a:moveTo>
                  <a:pt x="0" y="3693"/>
                </a:moveTo>
                <a:lnTo>
                  <a:pt x="0" y="3553"/>
                </a:lnTo>
                <a:lnTo>
                  <a:pt x="103" y="3553"/>
                </a:lnTo>
                <a:lnTo>
                  <a:pt x="103" y="3693"/>
                </a:lnTo>
                <a:lnTo>
                  <a:pt x="0" y="3693"/>
                </a:lnTo>
                <a:moveTo>
                  <a:pt x="0" y="3460"/>
                </a:moveTo>
                <a:lnTo>
                  <a:pt x="0" y="3321"/>
                </a:lnTo>
                <a:lnTo>
                  <a:pt x="103" y="3321"/>
                </a:lnTo>
                <a:lnTo>
                  <a:pt x="103" y="3460"/>
                </a:lnTo>
                <a:lnTo>
                  <a:pt x="0" y="3460"/>
                </a:lnTo>
                <a:moveTo>
                  <a:pt x="0" y="3228"/>
                </a:moveTo>
                <a:lnTo>
                  <a:pt x="0" y="3089"/>
                </a:lnTo>
                <a:lnTo>
                  <a:pt x="103" y="3089"/>
                </a:lnTo>
                <a:lnTo>
                  <a:pt x="103" y="3228"/>
                </a:lnTo>
                <a:lnTo>
                  <a:pt x="0" y="3228"/>
                </a:lnTo>
                <a:moveTo>
                  <a:pt x="0" y="2996"/>
                </a:moveTo>
                <a:lnTo>
                  <a:pt x="0" y="2856"/>
                </a:lnTo>
                <a:lnTo>
                  <a:pt x="103" y="2856"/>
                </a:lnTo>
                <a:lnTo>
                  <a:pt x="103" y="2996"/>
                </a:lnTo>
                <a:lnTo>
                  <a:pt x="0" y="2996"/>
                </a:lnTo>
                <a:moveTo>
                  <a:pt x="0" y="2763"/>
                </a:moveTo>
                <a:lnTo>
                  <a:pt x="0" y="2624"/>
                </a:lnTo>
                <a:lnTo>
                  <a:pt x="103" y="2624"/>
                </a:lnTo>
                <a:lnTo>
                  <a:pt x="103" y="2763"/>
                </a:lnTo>
                <a:lnTo>
                  <a:pt x="0" y="2763"/>
                </a:lnTo>
                <a:moveTo>
                  <a:pt x="0" y="2531"/>
                </a:moveTo>
                <a:lnTo>
                  <a:pt x="0" y="2392"/>
                </a:lnTo>
                <a:lnTo>
                  <a:pt x="103" y="2392"/>
                </a:lnTo>
                <a:lnTo>
                  <a:pt x="103" y="2531"/>
                </a:lnTo>
                <a:lnTo>
                  <a:pt x="0" y="2531"/>
                </a:lnTo>
                <a:moveTo>
                  <a:pt x="0" y="2299"/>
                </a:moveTo>
                <a:lnTo>
                  <a:pt x="0" y="2160"/>
                </a:lnTo>
                <a:lnTo>
                  <a:pt x="103" y="2160"/>
                </a:lnTo>
                <a:lnTo>
                  <a:pt x="103" y="2299"/>
                </a:lnTo>
                <a:lnTo>
                  <a:pt x="0" y="2299"/>
                </a:lnTo>
                <a:moveTo>
                  <a:pt x="0" y="2067"/>
                </a:moveTo>
                <a:lnTo>
                  <a:pt x="0" y="1927"/>
                </a:lnTo>
                <a:lnTo>
                  <a:pt x="103" y="1927"/>
                </a:lnTo>
                <a:lnTo>
                  <a:pt x="103" y="2067"/>
                </a:lnTo>
                <a:lnTo>
                  <a:pt x="0" y="2067"/>
                </a:lnTo>
                <a:moveTo>
                  <a:pt x="0" y="1834"/>
                </a:moveTo>
                <a:lnTo>
                  <a:pt x="0" y="1695"/>
                </a:lnTo>
                <a:lnTo>
                  <a:pt x="103" y="1695"/>
                </a:lnTo>
                <a:lnTo>
                  <a:pt x="103" y="1834"/>
                </a:lnTo>
                <a:lnTo>
                  <a:pt x="0" y="1834"/>
                </a:lnTo>
                <a:moveTo>
                  <a:pt x="0" y="1602"/>
                </a:moveTo>
                <a:lnTo>
                  <a:pt x="0" y="1463"/>
                </a:lnTo>
                <a:lnTo>
                  <a:pt x="103" y="1463"/>
                </a:lnTo>
                <a:lnTo>
                  <a:pt x="103" y="1602"/>
                </a:lnTo>
                <a:lnTo>
                  <a:pt x="0" y="1602"/>
                </a:lnTo>
                <a:moveTo>
                  <a:pt x="0" y="1370"/>
                </a:moveTo>
                <a:lnTo>
                  <a:pt x="0" y="1231"/>
                </a:lnTo>
                <a:lnTo>
                  <a:pt x="103" y="1231"/>
                </a:lnTo>
                <a:lnTo>
                  <a:pt x="103" y="1370"/>
                </a:lnTo>
                <a:lnTo>
                  <a:pt x="0" y="1370"/>
                </a:lnTo>
                <a:moveTo>
                  <a:pt x="0" y="1138"/>
                </a:moveTo>
                <a:lnTo>
                  <a:pt x="0" y="998"/>
                </a:lnTo>
                <a:lnTo>
                  <a:pt x="103" y="998"/>
                </a:lnTo>
                <a:lnTo>
                  <a:pt x="103" y="1138"/>
                </a:lnTo>
                <a:lnTo>
                  <a:pt x="0" y="1138"/>
                </a:lnTo>
                <a:moveTo>
                  <a:pt x="0" y="905"/>
                </a:moveTo>
                <a:lnTo>
                  <a:pt x="0" y="766"/>
                </a:lnTo>
                <a:lnTo>
                  <a:pt x="103" y="766"/>
                </a:lnTo>
                <a:lnTo>
                  <a:pt x="103" y="905"/>
                </a:lnTo>
                <a:lnTo>
                  <a:pt x="0" y="905"/>
                </a:lnTo>
                <a:moveTo>
                  <a:pt x="0" y="673"/>
                </a:moveTo>
                <a:lnTo>
                  <a:pt x="0" y="534"/>
                </a:lnTo>
                <a:lnTo>
                  <a:pt x="103" y="534"/>
                </a:lnTo>
                <a:lnTo>
                  <a:pt x="103" y="673"/>
                </a:lnTo>
                <a:lnTo>
                  <a:pt x="0" y="673"/>
                </a:lnTo>
                <a:moveTo>
                  <a:pt x="0" y="441"/>
                </a:moveTo>
                <a:lnTo>
                  <a:pt x="0" y="301"/>
                </a:lnTo>
                <a:lnTo>
                  <a:pt x="103" y="301"/>
                </a:lnTo>
                <a:lnTo>
                  <a:pt x="103" y="441"/>
                </a:lnTo>
                <a:lnTo>
                  <a:pt x="0" y="441"/>
                </a:lnTo>
                <a:moveTo>
                  <a:pt x="1" y="207"/>
                </a:moveTo>
                <a:cubicBezTo>
                  <a:pt x="3" y="141"/>
                  <a:pt x="29" y="88"/>
                  <a:pt x="81" y="47"/>
                </a:cubicBezTo>
                <a:lnTo>
                  <a:pt x="144" y="127"/>
                </a:lnTo>
                <a:cubicBezTo>
                  <a:pt x="118" y="148"/>
                  <a:pt x="104" y="176"/>
                  <a:pt x="103" y="210"/>
                </a:cubicBezTo>
                <a:lnTo>
                  <a:pt x="1" y="207"/>
                </a:lnTo>
                <a:moveTo>
                  <a:pt x="194" y="1"/>
                </a:moveTo>
                <a:cubicBezTo>
                  <a:pt x="200" y="0"/>
                  <a:pt x="207" y="0"/>
                  <a:pt x="214" y="0"/>
                </a:cubicBezTo>
                <a:lnTo>
                  <a:pt x="353" y="0"/>
                </a:lnTo>
                <a:lnTo>
                  <a:pt x="353" y="102"/>
                </a:lnTo>
                <a:lnTo>
                  <a:pt x="214" y="102"/>
                </a:lnTo>
                <a:cubicBezTo>
                  <a:pt x="210" y="102"/>
                  <a:pt x="207" y="102"/>
                  <a:pt x="203" y="103"/>
                </a:cubicBezTo>
                <a:lnTo>
                  <a:pt x="194" y="1"/>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42" name="テキスト ボックス 241"/>
          <p:cNvSpPr txBox="1"/>
          <p:nvPr/>
        </p:nvSpPr>
        <p:spPr>
          <a:xfrm>
            <a:off x="593280" y="900360"/>
            <a:ext cx="201240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実験装置のブロック図</a:t>
            </a:r>
            <a:endParaRPr lang="en-US" sz="1580" b="0" u="none" strike="noStrike">
              <a:solidFill>
                <a:srgbClr val="000000"/>
              </a:solidFill>
              <a:effectLst/>
              <a:uFillTx/>
              <a:latin typeface="Times New Roman"/>
            </a:endParaRPr>
          </a:p>
        </p:txBody>
      </p:sp>
      <p:sp>
        <p:nvSpPr>
          <p:cNvPr id="243" name="フリーフォーム: 図形 242"/>
          <p:cNvSpPr/>
          <p:nvPr/>
        </p:nvSpPr>
        <p:spPr>
          <a:xfrm>
            <a:off x="2105640" y="1688040"/>
            <a:ext cx="1337400" cy="334440"/>
          </a:xfrm>
          <a:custGeom>
            <a:avLst/>
            <a:gdLst/>
            <a:ahLst/>
            <a:cxnLst/>
            <a:rect l="0" t="0" r="r" b="b"/>
            <a:pathLst>
              <a:path w="3715" h="929">
                <a:moveTo>
                  <a:pt x="0" y="743"/>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5"/>
                  <a:pt x="150" y="3"/>
                </a:cubicBezTo>
                <a:cubicBezTo>
                  <a:pt x="162" y="1"/>
                  <a:pt x="174" y="0"/>
                  <a:pt x="186" y="0"/>
                </a:cubicBezTo>
                <a:lnTo>
                  <a:pt x="3530" y="0"/>
                </a:lnTo>
                <a:cubicBezTo>
                  <a:pt x="3542" y="0"/>
                  <a:pt x="3554" y="1"/>
                  <a:pt x="3566" y="3"/>
                </a:cubicBezTo>
                <a:cubicBezTo>
                  <a:pt x="3578" y="5"/>
                  <a:pt x="3589" y="9"/>
                  <a:pt x="3601" y="14"/>
                </a:cubicBezTo>
                <a:cubicBezTo>
                  <a:pt x="3612" y="18"/>
                  <a:pt x="3623" y="24"/>
                  <a:pt x="3633" y="31"/>
                </a:cubicBezTo>
                <a:cubicBezTo>
                  <a:pt x="3643" y="38"/>
                  <a:pt x="3652" y="45"/>
                  <a:pt x="3661" y="54"/>
                </a:cubicBezTo>
                <a:cubicBezTo>
                  <a:pt x="3670" y="63"/>
                  <a:pt x="3677" y="72"/>
                  <a:pt x="3684" y="82"/>
                </a:cubicBezTo>
                <a:cubicBezTo>
                  <a:pt x="3691" y="92"/>
                  <a:pt x="3696" y="103"/>
                  <a:pt x="3701" y="114"/>
                </a:cubicBezTo>
                <a:cubicBezTo>
                  <a:pt x="3706" y="125"/>
                  <a:pt x="3709" y="137"/>
                  <a:pt x="3712" y="149"/>
                </a:cubicBezTo>
                <a:cubicBezTo>
                  <a:pt x="3714" y="161"/>
                  <a:pt x="3715" y="173"/>
                  <a:pt x="3715" y="185"/>
                </a:cubicBezTo>
                <a:lnTo>
                  <a:pt x="3715" y="743"/>
                </a:lnTo>
                <a:cubicBezTo>
                  <a:pt x="3715" y="756"/>
                  <a:pt x="3714" y="768"/>
                  <a:pt x="3712" y="780"/>
                </a:cubicBezTo>
                <a:cubicBezTo>
                  <a:pt x="3709" y="792"/>
                  <a:pt x="3706" y="803"/>
                  <a:pt x="3701" y="814"/>
                </a:cubicBezTo>
                <a:cubicBezTo>
                  <a:pt x="3696" y="826"/>
                  <a:pt x="3691" y="836"/>
                  <a:pt x="3684" y="847"/>
                </a:cubicBezTo>
                <a:cubicBezTo>
                  <a:pt x="3677" y="857"/>
                  <a:pt x="3670" y="866"/>
                  <a:pt x="3661" y="875"/>
                </a:cubicBezTo>
                <a:cubicBezTo>
                  <a:pt x="3652" y="883"/>
                  <a:pt x="3643" y="891"/>
                  <a:pt x="3633" y="898"/>
                </a:cubicBezTo>
                <a:cubicBezTo>
                  <a:pt x="3623" y="905"/>
                  <a:pt x="3612" y="910"/>
                  <a:pt x="3601" y="915"/>
                </a:cubicBezTo>
                <a:cubicBezTo>
                  <a:pt x="3589" y="920"/>
                  <a:pt x="3578" y="923"/>
                  <a:pt x="3566" y="925"/>
                </a:cubicBezTo>
                <a:cubicBezTo>
                  <a:pt x="3554" y="928"/>
                  <a:pt x="3542" y="929"/>
                  <a:pt x="3530" y="929"/>
                </a:cubicBezTo>
                <a:lnTo>
                  <a:pt x="186" y="929"/>
                </a:lnTo>
                <a:cubicBezTo>
                  <a:pt x="174" y="929"/>
                  <a:pt x="162" y="928"/>
                  <a:pt x="150" y="925"/>
                </a:cubicBezTo>
                <a:cubicBezTo>
                  <a:pt x="138" y="923"/>
                  <a:pt x="126" y="920"/>
                  <a:pt x="115" y="915"/>
                </a:cubicBezTo>
                <a:cubicBezTo>
                  <a:pt x="104" y="910"/>
                  <a:pt x="93" y="905"/>
                  <a:pt x="83" y="898"/>
                </a:cubicBezTo>
                <a:cubicBezTo>
                  <a:pt x="73" y="891"/>
                  <a:pt x="63" y="883"/>
                  <a:pt x="55" y="875"/>
                </a:cubicBezTo>
                <a:cubicBezTo>
                  <a:pt x="46" y="866"/>
                  <a:pt x="38" y="857"/>
                  <a:pt x="31" y="847"/>
                </a:cubicBezTo>
                <a:cubicBezTo>
                  <a:pt x="25" y="836"/>
                  <a:pt x="19" y="826"/>
                  <a:pt x="14" y="814"/>
                </a:cubicBezTo>
                <a:cubicBezTo>
                  <a:pt x="10" y="803"/>
                  <a:pt x="6" y="792"/>
                  <a:pt x="4" y="780"/>
                </a:cubicBezTo>
                <a:cubicBezTo>
                  <a:pt x="1" y="768"/>
                  <a:pt x="0" y="756"/>
                  <a:pt x="0" y="743"/>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44" name="テキスト ボックス 243"/>
          <p:cNvSpPr txBox="1"/>
          <p:nvPr/>
        </p:nvSpPr>
        <p:spPr>
          <a:xfrm>
            <a:off x="1558440" y="1422000"/>
            <a:ext cx="2520000" cy="15732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Figure 2. Experimental block diagram</a:t>
            </a:r>
            <a:endParaRPr lang="en-US" sz="1050" b="0" u="none" strike="noStrike">
              <a:solidFill>
                <a:srgbClr val="000000"/>
              </a:solidFill>
              <a:effectLst/>
              <a:uFillTx/>
              <a:latin typeface="Times New Roman"/>
            </a:endParaRPr>
          </a:p>
        </p:txBody>
      </p:sp>
      <p:pic>
        <p:nvPicPr>
          <p:cNvPr id="245" name="図 244"/>
          <p:cNvPicPr/>
          <p:nvPr/>
        </p:nvPicPr>
        <p:blipFill>
          <a:blip r:embed="rId4"/>
          <a:stretch/>
        </p:blipFill>
        <p:spPr>
          <a:xfrm>
            <a:off x="2699280" y="2156040"/>
            <a:ext cx="150120" cy="200160"/>
          </a:xfrm>
          <a:prstGeom prst="rect">
            <a:avLst/>
          </a:prstGeom>
          <a:noFill/>
          <a:ln w="0">
            <a:noFill/>
          </a:ln>
        </p:spPr>
      </p:pic>
      <p:sp>
        <p:nvSpPr>
          <p:cNvPr id="246" name="フリーフォーム: 図形 245"/>
          <p:cNvSpPr/>
          <p:nvPr/>
        </p:nvSpPr>
        <p:spPr>
          <a:xfrm>
            <a:off x="2105640" y="2490120"/>
            <a:ext cx="1337400" cy="334800"/>
          </a:xfrm>
          <a:custGeom>
            <a:avLst/>
            <a:gdLst/>
            <a:ahLst/>
            <a:cxnLst/>
            <a:rect l="0" t="0" r="r" b="b"/>
            <a:pathLst>
              <a:path w="3715" h="930">
                <a:moveTo>
                  <a:pt x="0" y="744"/>
                </a:moveTo>
                <a:lnTo>
                  <a:pt x="0" y="187"/>
                </a:lnTo>
                <a:cubicBezTo>
                  <a:pt x="0" y="175"/>
                  <a:pt x="1" y="162"/>
                  <a:pt x="4" y="150"/>
                </a:cubicBezTo>
                <a:cubicBezTo>
                  <a:pt x="6" y="139"/>
                  <a:pt x="10" y="127"/>
                  <a:pt x="14" y="116"/>
                </a:cubicBezTo>
                <a:cubicBezTo>
                  <a:pt x="19" y="104"/>
                  <a:pt x="25" y="94"/>
                  <a:pt x="31" y="84"/>
                </a:cubicBezTo>
                <a:cubicBezTo>
                  <a:pt x="38" y="73"/>
                  <a:pt x="46" y="64"/>
                  <a:pt x="55" y="55"/>
                </a:cubicBezTo>
                <a:cubicBezTo>
                  <a:pt x="63" y="47"/>
                  <a:pt x="73" y="38"/>
                  <a:pt x="83" y="31"/>
                </a:cubicBezTo>
                <a:cubicBezTo>
                  <a:pt x="93" y="25"/>
                  <a:pt x="104" y="19"/>
                  <a:pt x="115" y="14"/>
                </a:cubicBezTo>
                <a:cubicBezTo>
                  <a:pt x="126" y="9"/>
                  <a:pt x="138" y="6"/>
                  <a:pt x="150" y="4"/>
                </a:cubicBezTo>
                <a:cubicBezTo>
                  <a:pt x="162" y="1"/>
                  <a:pt x="174" y="0"/>
                  <a:pt x="186" y="0"/>
                </a:cubicBezTo>
                <a:lnTo>
                  <a:pt x="3530" y="0"/>
                </a:lnTo>
                <a:cubicBezTo>
                  <a:pt x="3542" y="0"/>
                  <a:pt x="3554" y="1"/>
                  <a:pt x="3566" y="4"/>
                </a:cubicBezTo>
                <a:cubicBezTo>
                  <a:pt x="3578" y="6"/>
                  <a:pt x="3589" y="9"/>
                  <a:pt x="3601" y="14"/>
                </a:cubicBezTo>
                <a:cubicBezTo>
                  <a:pt x="3612" y="19"/>
                  <a:pt x="3623" y="25"/>
                  <a:pt x="3633" y="31"/>
                </a:cubicBezTo>
                <a:cubicBezTo>
                  <a:pt x="3643" y="38"/>
                  <a:pt x="3652" y="47"/>
                  <a:pt x="3661" y="55"/>
                </a:cubicBezTo>
                <a:cubicBezTo>
                  <a:pt x="3670" y="64"/>
                  <a:pt x="3677" y="73"/>
                  <a:pt x="3684" y="84"/>
                </a:cubicBezTo>
                <a:cubicBezTo>
                  <a:pt x="3691" y="94"/>
                  <a:pt x="3696" y="104"/>
                  <a:pt x="3701" y="116"/>
                </a:cubicBezTo>
                <a:cubicBezTo>
                  <a:pt x="3706" y="127"/>
                  <a:pt x="3709" y="139"/>
                  <a:pt x="3712" y="150"/>
                </a:cubicBezTo>
                <a:cubicBezTo>
                  <a:pt x="3714" y="162"/>
                  <a:pt x="3715" y="175"/>
                  <a:pt x="3715" y="187"/>
                </a:cubicBezTo>
                <a:lnTo>
                  <a:pt x="3715" y="744"/>
                </a:lnTo>
                <a:cubicBezTo>
                  <a:pt x="3715" y="756"/>
                  <a:pt x="3714" y="768"/>
                  <a:pt x="3712" y="780"/>
                </a:cubicBezTo>
                <a:cubicBezTo>
                  <a:pt x="3709" y="792"/>
                  <a:pt x="3706" y="804"/>
                  <a:pt x="3701" y="815"/>
                </a:cubicBezTo>
                <a:cubicBezTo>
                  <a:pt x="3696" y="826"/>
                  <a:pt x="3691" y="837"/>
                  <a:pt x="3684" y="847"/>
                </a:cubicBezTo>
                <a:cubicBezTo>
                  <a:pt x="3677" y="857"/>
                  <a:pt x="3670" y="866"/>
                  <a:pt x="3661" y="875"/>
                </a:cubicBezTo>
                <a:cubicBezTo>
                  <a:pt x="3652" y="884"/>
                  <a:pt x="3643" y="891"/>
                  <a:pt x="3633" y="898"/>
                </a:cubicBezTo>
                <a:cubicBezTo>
                  <a:pt x="3623" y="905"/>
                  <a:pt x="3612" y="911"/>
                  <a:pt x="3601" y="915"/>
                </a:cubicBezTo>
                <a:cubicBezTo>
                  <a:pt x="3589" y="920"/>
                  <a:pt x="3578" y="924"/>
                  <a:pt x="3566" y="926"/>
                </a:cubicBezTo>
                <a:cubicBezTo>
                  <a:pt x="3554" y="928"/>
                  <a:pt x="3542" y="930"/>
                  <a:pt x="3530" y="930"/>
                </a:cubicBezTo>
                <a:lnTo>
                  <a:pt x="186" y="930"/>
                </a:lnTo>
                <a:cubicBezTo>
                  <a:pt x="174" y="930"/>
                  <a:pt x="162" y="928"/>
                  <a:pt x="150" y="926"/>
                </a:cubicBezTo>
                <a:cubicBezTo>
                  <a:pt x="138" y="924"/>
                  <a:pt x="126" y="920"/>
                  <a:pt x="115" y="915"/>
                </a:cubicBezTo>
                <a:cubicBezTo>
                  <a:pt x="104" y="911"/>
                  <a:pt x="93" y="905"/>
                  <a:pt x="83" y="898"/>
                </a:cubicBezTo>
                <a:cubicBezTo>
                  <a:pt x="73" y="891"/>
                  <a:pt x="63" y="884"/>
                  <a:pt x="55" y="875"/>
                </a:cubicBezTo>
                <a:cubicBezTo>
                  <a:pt x="46" y="866"/>
                  <a:pt x="38" y="857"/>
                  <a:pt x="31" y="847"/>
                </a:cubicBezTo>
                <a:cubicBezTo>
                  <a:pt x="25" y="837"/>
                  <a:pt x="19" y="826"/>
                  <a:pt x="14" y="815"/>
                </a:cubicBezTo>
                <a:cubicBezTo>
                  <a:pt x="10" y="804"/>
                  <a:pt x="6" y="792"/>
                  <a:pt x="4" y="780"/>
                </a:cubicBezTo>
                <a:cubicBezTo>
                  <a:pt x="1" y="768"/>
                  <a:pt x="0" y="756"/>
                  <a:pt x="0" y="744"/>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47" name="テキスト ボックス 246"/>
          <p:cNvSpPr txBox="1"/>
          <p:nvPr/>
        </p:nvSpPr>
        <p:spPr>
          <a:xfrm>
            <a:off x="2373480" y="1789560"/>
            <a:ext cx="8053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ガス発生装置</a:t>
            </a:r>
            <a:endParaRPr lang="en-US" sz="1050" b="0" u="none" strike="noStrike">
              <a:solidFill>
                <a:srgbClr val="000000"/>
              </a:solidFill>
              <a:effectLst/>
              <a:uFillTx/>
              <a:latin typeface="Times New Roman"/>
            </a:endParaRPr>
          </a:p>
        </p:txBody>
      </p:sp>
      <p:pic>
        <p:nvPicPr>
          <p:cNvPr id="248" name="図 247"/>
          <p:cNvPicPr/>
          <p:nvPr/>
        </p:nvPicPr>
        <p:blipFill>
          <a:blip r:embed="rId4"/>
          <a:stretch/>
        </p:blipFill>
        <p:spPr>
          <a:xfrm>
            <a:off x="2699280" y="2958120"/>
            <a:ext cx="150120" cy="200160"/>
          </a:xfrm>
          <a:prstGeom prst="rect">
            <a:avLst/>
          </a:prstGeom>
          <a:noFill/>
          <a:ln w="0">
            <a:noFill/>
          </a:ln>
        </p:spPr>
      </p:pic>
      <p:sp>
        <p:nvSpPr>
          <p:cNvPr id="249" name="フリーフォーム: 図形 248"/>
          <p:cNvSpPr/>
          <p:nvPr/>
        </p:nvSpPr>
        <p:spPr>
          <a:xfrm>
            <a:off x="2105640" y="3292200"/>
            <a:ext cx="1337400" cy="334800"/>
          </a:xfrm>
          <a:custGeom>
            <a:avLst/>
            <a:gdLst/>
            <a:ahLst/>
            <a:cxnLst/>
            <a:rect l="0" t="0" r="r" b="b"/>
            <a:pathLst>
              <a:path w="3715" h="930">
                <a:moveTo>
                  <a:pt x="0" y="744"/>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3530" y="0"/>
                </a:lnTo>
                <a:cubicBezTo>
                  <a:pt x="3542" y="0"/>
                  <a:pt x="3554" y="2"/>
                  <a:pt x="3566" y="4"/>
                </a:cubicBezTo>
                <a:cubicBezTo>
                  <a:pt x="3578" y="6"/>
                  <a:pt x="3589" y="10"/>
                  <a:pt x="3601" y="15"/>
                </a:cubicBezTo>
                <a:cubicBezTo>
                  <a:pt x="3612" y="19"/>
                  <a:pt x="3623" y="25"/>
                  <a:pt x="3633" y="32"/>
                </a:cubicBezTo>
                <a:cubicBezTo>
                  <a:pt x="3643" y="39"/>
                  <a:pt x="3652" y="46"/>
                  <a:pt x="3661" y="55"/>
                </a:cubicBezTo>
                <a:cubicBezTo>
                  <a:pt x="3670" y="63"/>
                  <a:pt x="3677" y="73"/>
                  <a:pt x="3684" y="83"/>
                </a:cubicBezTo>
                <a:cubicBezTo>
                  <a:pt x="3691" y="93"/>
                  <a:pt x="3696" y="104"/>
                  <a:pt x="3701" y="115"/>
                </a:cubicBezTo>
                <a:cubicBezTo>
                  <a:pt x="3706" y="126"/>
                  <a:pt x="3709" y="138"/>
                  <a:pt x="3712" y="150"/>
                </a:cubicBezTo>
                <a:cubicBezTo>
                  <a:pt x="3714" y="162"/>
                  <a:pt x="3715" y="174"/>
                  <a:pt x="3715" y="186"/>
                </a:cubicBezTo>
                <a:lnTo>
                  <a:pt x="3715" y="744"/>
                </a:lnTo>
                <a:cubicBezTo>
                  <a:pt x="3715" y="756"/>
                  <a:pt x="3714" y="769"/>
                  <a:pt x="3712" y="780"/>
                </a:cubicBezTo>
                <a:cubicBezTo>
                  <a:pt x="3709" y="792"/>
                  <a:pt x="3706" y="804"/>
                  <a:pt x="3701" y="815"/>
                </a:cubicBezTo>
                <a:cubicBezTo>
                  <a:pt x="3696" y="827"/>
                  <a:pt x="3691" y="837"/>
                  <a:pt x="3684" y="847"/>
                </a:cubicBezTo>
                <a:cubicBezTo>
                  <a:pt x="3677" y="858"/>
                  <a:pt x="3670" y="867"/>
                  <a:pt x="3661" y="876"/>
                </a:cubicBezTo>
                <a:cubicBezTo>
                  <a:pt x="3652" y="884"/>
                  <a:pt x="3643" y="892"/>
                  <a:pt x="3633" y="899"/>
                </a:cubicBezTo>
                <a:cubicBezTo>
                  <a:pt x="3623" y="905"/>
                  <a:pt x="3612" y="911"/>
                  <a:pt x="3601" y="916"/>
                </a:cubicBezTo>
                <a:cubicBezTo>
                  <a:pt x="3589" y="920"/>
                  <a:pt x="3578" y="924"/>
                  <a:pt x="3566" y="926"/>
                </a:cubicBezTo>
                <a:cubicBezTo>
                  <a:pt x="3554" y="929"/>
                  <a:pt x="3542" y="930"/>
                  <a:pt x="3530" y="930"/>
                </a:cubicBezTo>
                <a:lnTo>
                  <a:pt x="186" y="930"/>
                </a:lnTo>
                <a:cubicBezTo>
                  <a:pt x="174" y="930"/>
                  <a:pt x="162" y="929"/>
                  <a:pt x="150" y="926"/>
                </a:cubicBezTo>
                <a:cubicBezTo>
                  <a:pt x="138" y="924"/>
                  <a:pt x="126" y="920"/>
                  <a:pt x="115" y="916"/>
                </a:cubicBezTo>
                <a:cubicBezTo>
                  <a:pt x="104" y="911"/>
                  <a:pt x="93" y="905"/>
                  <a:pt x="83" y="899"/>
                </a:cubicBezTo>
                <a:cubicBezTo>
                  <a:pt x="73" y="892"/>
                  <a:pt x="63" y="884"/>
                  <a:pt x="55" y="876"/>
                </a:cubicBezTo>
                <a:cubicBezTo>
                  <a:pt x="46" y="867"/>
                  <a:pt x="38" y="858"/>
                  <a:pt x="31" y="847"/>
                </a:cubicBezTo>
                <a:cubicBezTo>
                  <a:pt x="25" y="837"/>
                  <a:pt x="19" y="827"/>
                  <a:pt x="14" y="815"/>
                </a:cubicBezTo>
                <a:cubicBezTo>
                  <a:pt x="10" y="804"/>
                  <a:pt x="6" y="792"/>
                  <a:pt x="4" y="780"/>
                </a:cubicBezTo>
                <a:cubicBezTo>
                  <a:pt x="1" y="769"/>
                  <a:pt x="0" y="756"/>
                  <a:pt x="0" y="74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50" name="テキスト ボックス 249"/>
          <p:cNvSpPr txBox="1"/>
          <p:nvPr/>
        </p:nvSpPr>
        <p:spPr>
          <a:xfrm>
            <a:off x="2440080" y="2592000"/>
            <a:ext cx="6714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ガスセンサ</a:t>
            </a:r>
            <a:endParaRPr lang="en-US" sz="1050" b="0" u="none" strike="noStrike">
              <a:solidFill>
                <a:srgbClr val="000000"/>
              </a:solidFill>
              <a:effectLst/>
              <a:uFillTx/>
              <a:latin typeface="Times New Roman"/>
            </a:endParaRPr>
          </a:p>
        </p:txBody>
      </p:sp>
      <p:sp>
        <p:nvSpPr>
          <p:cNvPr id="251" name="フリーフォーム: 図形 250"/>
          <p:cNvSpPr/>
          <p:nvPr/>
        </p:nvSpPr>
        <p:spPr>
          <a:xfrm>
            <a:off x="5415120" y="1270080"/>
            <a:ext cx="5014080" cy="2139480"/>
          </a:xfrm>
          <a:custGeom>
            <a:avLst/>
            <a:gdLst/>
            <a:ahLst/>
            <a:cxnLst/>
            <a:rect l="0" t="0" r="r" b="b"/>
            <a:pathLst>
              <a:path w="13928" h="5943">
                <a:moveTo>
                  <a:pt x="14" y="115"/>
                </a:moveTo>
                <a:cubicBezTo>
                  <a:pt x="23" y="92"/>
                  <a:pt x="37" y="72"/>
                  <a:pt x="54" y="54"/>
                </a:cubicBezTo>
                <a:cubicBezTo>
                  <a:pt x="71" y="37"/>
                  <a:pt x="91" y="23"/>
                  <a:pt x="114" y="14"/>
                </a:cubicBezTo>
                <a:cubicBezTo>
                  <a:pt x="137" y="5"/>
                  <a:pt x="161" y="0"/>
                  <a:pt x="185" y="0"/>
                </a:cubicBezTo>
                <a:lnTo>
                  <a:pt x="13743" y="0"/>
                </a:lnTo>
                <a:cubicBezTo>
                  <a:pt x="13767" y="0"/>
                  <a:pt x="13791" y="5"/>
                  <a:pt x="13814" y="14"/>
                </a:cubicBezTo>
                <a:cubicBezTo>
                  <a:pt x="13837" y="23"/>
                  <a:pt x="13857" y="37"/>
                  <a:pt x="13874" y="54"/>
                </a:cubicBezTo>
                <a:cubicBezTo>
                  <a:pt x="13891" y="72"/>
                  <a:pt x="13905" y="92"/>
                  <a:pt x="13914" y="115"/>
                </a:cubicBezTo>
                <a:cubicBezTo>
                  <a:pt x="13924" y="137"/>
                  <a:pt x="13928" y="161"/>
                  <a:pt x="13928" y="186"/>
                </a:cubicBezTo>
                <a:lnTo>
                  <a:pt x="13928" y="5758"/>
                </a:lnTo>
                <a:cubicBezTo>
                  <a:pt x="13928" y="5782"/>
                  <a:pt x="13924" y="5806"/>
                  <a:pt x="13914" y="5829"/>
                </a:cubicBezTo>
                <a:cubicBezTo>
                  <a:pt x="13905" y="5852"/>
                  <a:pt x="13891" y="5872"/>
                  <a:pt x="13874" y="5889"/>
                </a:cubicBezTo>
                <a:cubicBezTo>
                  <a:pt x="13857" y="5906"/>
                  <a:pt x="13837" y="5920"/>
                  <a:pt x="13814" y="5929"/>
                </a:cubicBezTo>
                <a:cubicBezTo>
                  <a:pt x="13791" y="5939"/>
                  <a:pt x="13767" y="5943"/>
                  <a:pt x="13743" y="5943"/>
                </a:cubicBezTo>
                <a:lnTo>
                  <a:pt x="185" y="5943"/>
                </a:lnTo>
                <a:cubicBezTo>
                  <a:pt x="161" y="5943"/>
                  <a:pt x="137" y="5939"/>
                  <a:pt x="114" y="5929"/>
                </a:cubicBezTo>
                <a:cubicBezTo>
                  <a:pt x="91" y="5920"/>
                  <a:pt x="71" y="5906"/>
                  <a:pt x="54" y="5889"/>
                </a:cubicBezTo>
                <a:cubicBezTo>
                  <a:pt x="37" y="5872"/>
                  <a:pt x="23" y="5852"/>
                  <a:pt x="14" y="5829"/>
                </a:cubicBezTo>
                <a:cubicBezTo>
                  <a:pt x="4" y="5806"/>
                  <a:pt x="0" y="5782"/>
                  <a:pt x="0" y="5758"/>
                </a:cubicBezTo>
                <a:lnTo>
                  <a:pt x="0" y="185"/>
                </a:lnTo>
                <a:cubicBezTo>
                  <a:pt x="0" y="161"/>
                  <a:pt x="4" y="137"/>
                  <a:pt x="14" y="115"/>
                </a:cubicBezTo>
                <a:close/>
              </a:path>
            </a:pathLst>
          </a:custGeom>
          <a:solidFill>
            <a:srgbClr val="FFFFFF">
              <a:alpha val="8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52" name="フリーフォーム: 図形 251"/>
          <p:cNvSpPr/>
          <p:nvPr/>
        </p:nvSpPr>
        <p:spPr>
          <a:xfrm>
            <a:off x="5405040" y="1260000"/>
            <a:ext cx="5034240" cy="2159640"/>
          </a:xfrm>
          <a:custGeom>
            <a:avLst/>
            <a:gdLst/>
            <a:ahLst/>
            <a:cxnLst/>
            <a:rect l="0" t="0" r="r" b="b"/>
            <a:pathLst>
              <a:path w="13984" h="5999">
                <a:moveTo>
                  <a:pt x="446" y="0"/>
                </a:moveTo>
                <a:lnTo>
                  <a:pt x="585" y="0"/>
                </a:lnTo>
                <a:lnTo>
                  <a:pt x="585" y="102"/>
                </a:lnTo>
                <a:lnTo>
                  <a:pt x="446" y="102"/>
                </a:lnTo>
                <a:lnTo>
                  <a:pt x="446" y="0"/>
                </a:lnTo>
                <a:moveTo>
                  <a:pt x="678" y="0"/>
                </a:moveTo>
                <a:lnTo>
                  <a:pt x="817" y="0"/>
                </a:lnTo>
                <a:lnTo>
                  <a:pt x="817" y="102"/>
                </a:lnTo>
                <a:lnTo>
                  <a:pt x="678" y="102"/>
                </a:lnTo>
                <a:lnTo>
                  <a:pt x="678" y="0"/>
                </a:lnTo>
                <a:moveTo>
                  <a:pt x="910" y="0"/>
                </a:moveTo>
                <a:lnTo>
                  <a:pt x="1049" y="0"/>
                </a:lnTo>
                <a:lnTo>
                  <a:pt x="1049" y="102"/>
                </a:lnTo>
                <a:lnTo>
                  <a:pt x="910" y="102"/>
                </a:lnTo>
                <a:lnTo>
                  <a:pt x="910" y="0"/>
                </a:lnTo>
                <a:moveTo>
                  <a:pt x="1142" y="0"/>
                </a:moveTo>
                <a:lnTo>
                  <a:pt x="1282" y="0"/>
                </a:lnTo>
                <a:lnTo>
                  <a:pt x="1282" y="102"/>
                </a:lnTo>
                <a:lnTo>
                  <a:pt x="1142" y="102"/>
                </a:lnTo>
                <a:lnTo>
                  <a:pt x="1142" y="0"/>
                </a:lnTo>
                <a:moveTo>
                  <a:pt x="1375" y="0"/>
                </a:moveTo>
                <a:lnTo>
                  <a:pt x="1514" y="0"/>
                </a:lnTo>
                <a:lnTo>
                  <a:pt x="1514" y="102"/>
                </a:lnTo>
                <a:lnTo>
                  <a:pt x="1375" y="102"/>
                </a:lnTo>
                <a:lnTo>
                  <a:pt x="1375" y="0"/>
                </a:lnTo>
                <a:moveTo>
                  <a:pt x="1607" y="0"/>
                </a:moveTo>
                <a:lnTo>
                  <a:pt x="1746" y="0"/>
                </a:lnTo>
                <a:lnTo>
                  <a:pt x="1746" y="102"/>
                </a:lnTo>
                <a:lnTo>
                  <a:pt x="1607" y="102"/>
                </a:lnTo>
                <a:lnTo>
                  <a:pt x="1607" y="0"/>
                </a:lnTo>
                <a:moveTo>
                  <a:pt x="1839" y="0"/>
                </a:moveTo>
                <a:lnTo>
                  <a:pt x="1978" y="0"/>
                </a:lnTo>
                <a:lnTo>
                  <a:pt x="1978" y="102"/>
                </a:lnTo>
                <a:lnTo>
                  <a:pt x="1839" y="102"/>
                </a:lnTo>
                <a:lnTo>
                  <a:pt x="1839" y="0"/>
                </a:lnTo>
                <a:moveTo>
                  <a:pt x="2071" y="0"/>
                </a:moveTo>
                <a:lnTo>
                  <a:pt x="2211" y="0"/>
                </a:lnTo>
                <a:lnTo>
                  <a:pt x="2211" y="102"/>
                </a:lnTo>
                <a:lnTo>
                  <a:pt x="2071" y="102"/>
                </a:lnTo>
                <a:lnTo>
                  <a:pt x="2071" y="0"/>
                </a:lnTo>
                <a:moveTo>
                  <a:pt x="2304" y="0"/>
                </a:moveTo>
                <a:lnTo>
                  <a:pt x="2443" y="0"/>
                </a:lnTo>
                <a:lnTo>
                  <a:pt x="2443" y="102"/>
                </a:lnTo>
                <a:lnTo>
                  <a:pt x="2304" y="102"/>
                </a:lnTo>
                <a:lnTo>
                  <a:pt x="2304" y="0"/>
                </a:lnTo>
                <a:moveTo>
                  <a:pt x="2536" y="0"/>
                </a:moveTo>
                <a:lnTo>
                  <a:pt x="2675" y="0"/>
                </a:lnTo>
                <a:lnTo>
                  <a:pt x="2675" y="102"/>
                </a:lnTo>
                <a:lnTo>
                  <a:pt x="2536" y="102"/>
                </a:lnTo>
                <a:lnTo>
                  <a:pt x="2536" y="0"/>
                </a:lnTo>
                <a:moveTo>
                  <a:pt x="2768" y="0"/>
                </a:moveTo>
                <a:lnTo>
                  <a:pt x="2907" y="0"/>
                </a:lnTo>
                <a:lnTo>
                  <a:pt x="2907" y="102"/>
                </a:lnTo>
                <a:lnTo>
                  <a:pt x="2768" y="102"/>
                </a:lnTo>
                <a:lnTo>
                  <a:pt x="2768" y="0"/>
                </a:lnTo>
                <a:moveTo>
                  <a:pt x="3000" y="0"/>
                </a:moveTo>
                <a:lnTo>
                  <a:pt x="3140" y="0"/>
                </a:lnTo>
                <a:lnTo>
                  <a:pt x="3140" y="102"/>
                </a:lnTo>
                <a:lnTo>
                  <a:pt x="3000" y="102"/>
                </a:lnTo>
                <a:lnTo>
                  <a:pt x="3000" y="0"/>
                </a:lnTo>
                <a:moveTo>
                  <a:pt x="3233" y="0"/>
                </a:moveTo>
                <a:lnTo>
                  <a:pt x="3372" y="0"/>
                </a:lnTo>
                <a:lnTo>
                  <a:pt x="3372" y="102"/>
                </a:lnTo>
                <a:lnTo>
                  <a:pt x="3233" y="102"/>
                </a:lnTo>
                <a:lnTo>
                  <a:pt x="3233" y="0"/>
                </a:lnTo>
                <a:moveTo>
                  <a:pt x="3465" y="0"/>
                </a:moveTo>
                <a:lnTo>
                  <a:pt x="3604" y="0"/>
                </a:lnTo>
                <a:lnTo>
                  <a:pt x="3604" y="102"/>
                </a:lnTo>
                <a:lnTo>
                  <a:pt x="3465" y="102"/>
                </a:lnTo>
                <a:lnTo>
                  <a:pt x="3465" y="0"/>
                </a:lnTo>
                <a:moveTo>
                  <a:pt x="3697" y="0"/>
                </a:moveTo>
                <a:lnTo>
                  <a:pt x="3837" y="0"/>
                </a:lnTo>
                <a:lnTo>
                  <a:pt x="3837" y="102"/>
                </a:lnTo>
                <a:lnTo>
                  <a:pt x="3697" y="102"/>
                </a:lnTo>
                <a:lnTo>
                  <a:pt x="3697" y="0"/>
                </a:lnTo>
                <a:moveTo>
                  <a:pt x="3930" y="0"/>
                </a:moveTo>
                <a:lnTo>
                  <a:pt x="4069" y="0"/>
                </a:lnTo>
                <a:lnTo>
                  <a:pt x="4069" y="102"/>
                </a:lnTo>
                <a:lnTo>
                  <a:pt x="3930" y="102"/>
                </a:lnTo>
                <a:lnTo>
                  <a:pt x="3930" y="0"/>
                </a:lnTo>
                <a:moveTo>
                  <a:pt x="4162" y="0"/>
                </a:moveTo>
                <a:lnTo>
                  <a:pt x="4301" y="0"/>
                </a:lnTo>
                <a:lnTo>
                  <a:pt x="4301" y="102"/>
                </a:lnTo>
                <a:lnTo>
                  <a:pt x="4162" y="102"/>
                </a:lnTo>
                <a:lnTo>
                  <a:pt x="4162" y="0"/>
                </a:lnTo>
                <a:moveTo>
                  <a:pt x="4394" y="0"/>
                </a:moveTo>
                <a:lnTo>
                  <a:pt x="4533" y="0"/>
                </a:lnTo>
                <a:lnTo>
                  <a:pt x="4533" y="102"/>
                </a:lnTo>
                <a:lnTo>
                  <a:pt x="4394" y="102"/>
                </a:lnTo>
                <a:lnTo>
                  <a:pt x="4394" y="0"/>
                </a:lnTo>
                <a:moveTo>
                  <a:pt x="4626" y="0"/>
                </a:moveTo>
                <a:lnTo>
                  <a:pt x="4766" y="0"/>
                </a:lnTo>
                <a:lnTo>
                  <a:pt x="4766" y="102"/>
                </a:lnTo>
                <a:lnTo>
                  <a:pt x="4626" y="102"/>
                </a:lnTo>
                <a:lnTo>
                  <a:pt x="4626" y="0"/>
                </a:lnTo>
                <a:moveTo>
                  <a:pt x="4859" y="0"/>
                </a:moveTo>
                <a:lnTo>
                  <a:pt x="4998" y="0"/>
                </a:lnTo>
                <a:lnTo>
                  <a:pt x="4998" y="102"/>
                </a:lnTo>
                <a:lnTo>
                  <a:pt x="4859" y="102"/>
                </a:lnTo>
                <a:lnTo>
                  <a:pt x="4859" y="0"/>
                </a:lnTo>
                <a:moveTo>
                  <a:pt x="5091" y="0"/>
                </a:moveTo>
                <a:lnTo>
                  <a:pt x="5230" y="0"/>
                </a:lnTo>
                <a:lnTo>
                  <a:pt x="5230" y="102"/>
                </a:lnTo>
                <a:lnTo>
                  <a:pt x="5091" y="102"/>
                </a:lnTo>
                <a:lnTo>
                  <a:pt x="5091" y="0"/>
                </a:lnTo>
                <a:moveTo>
                  <a:pt x="5323" y="0"/>
                </a:moveTo>
                <a:lnTo>
                  <a:pt x="5462" y="0"/>
                </a:lnTo>
                <a:lnTo>
                  <a:pt x="5462" y="102"/>
                </a:lnTo>
                <a:lnTo>
                  <a:pt x="5323" y="102"/>
                </a:lnTo>
                <a:lnTo>
                  <a:pt x="5323" y="0"/>
                </a:lnTo>
                <a:moveTo>
                  <a:pt x="5555" y="0"/>
                </a:moveTo>
                <a:lnTo>
                  <a:pt x="5695" y="0"/>
                </a:lnTo>
                <a:lnTo>
                  <a:pt x="5695" y="102"/>
                </a:lnTo>
                <a:lnTo>
                  <a:pt x="5555" y="102"/>
                </a:lnTo>
                <a:lnTo>
                  <a:pt x="5555" y="0"/>
                </a:lnTo>
                <a:moveTo>
                  <a:pt x="5788" y="0"/>
                </a:moveTo>
                <a:lnTo>
                  <a:pt x="5927" y="0"/>
                </a:lnTo>
                <a:lnTo>
                  <a:pt x="5927" y="102"/>
                </a:lnTo>
                <a:lnTo>
                  <a:pt x="5788" y="102"/>
                </a:lnTo>
                <a:lnTo>
                  <a:pt x="5788" y="0"/>
                </a:lnTo>
                <a:moveTo>
                  <a:pt x="6021" y="0"/>
                </a:moveTo>
                <a:lnTo>
                  <a:pt x="6160" y="0"/>
                </a:lnTo>
                <a:lnTo>
                  <a:pt x="6160" y="102"/>
                </a:lnTo>
                <a:lnTo>
                  <a:pt x="6021" y="102"/>
                </a:lnTo>
                <a:lnTo>
                  <a:pt x="6021" y="0"/>
                </a:lnTo>
                <a:moveTo>
                  <a:pt x="6253" y="0"/>
                </a:moveTo>
                <a:lnTo>
                  <a:pt x="6393" y="0"/>
                </a:lnTo>
                <a:lnTo>
                  <a:pt x="6393" y="102"/>
                </a:lnTo>
                <a:lnTo>
                  <a:pt x="6253" y="102"/>
                </a:lnTo>
                <a:lnTo>
                  <a:pt x="6253" y="0"/>
                </a:lnTo>
                <a:moveTo>
                  <a:pt x="6485" y="0"/>
                </a:moveTo>
                <a:lnTo>
                  <a:pt x="6625" y="0"/>
                </a:lnTo>
                <a:lnTo>
                  <a:pt x="6625" y="102"/>
                </a:lnTo>
                <a:lnTo>
                  <a:pt x="6485" y="102"/>
                </a:lnTo>
                <a:lnTo>
                  <a:pt x="6485" y="0"/>
                </a:lnTo>
                <a:moveTo>
                  <a:pt x="6718" y="0"/>
                </a:moveTo>
                <a:lnTo>
                  <a:pt x="6857" y="0"/>
                </a:lnTo>
                <a:lnTo>
                  <a:pt x="6857" y="102"/>
                </a:lnTo>
                <a:lnTo>
                  <a:pt x="6718" y="102"/>
                </a:lnTo>
                <a:lnTo>
                  <a:pt x="6718" y="0"/>
                </a:lnTo>
                <a:moveTo>
                  <a:pt x="6950" y="0"/>
                </a:moveTo>
                <a:lnTo>
                  <a:pt x="7089" y="0"/>
                </a:lnTo>
                <a:lnTo>
                  <a:pt x="7089" y="102"/>
                </a:lnTo>
                <a:lnTo>
                  <a:pt x="6950" y="102"/>
                </a:lnTo>
                <a:lnTo>
                  <a:pt x="6950" y="0"/>
                </a:lnTo>
                <a:moveTo>
                  <a:pt x="7182" y="0"/>
                </a:moveTo>
                <a:lnTo>
                  <a:pt x="7322" y="0"/>
                </a:lnTo>
                <a:lnTo>
                  <a:pt x="7322" y="102"/>
                </a:lnTo>
                <a:lnTo>
                  <a:pt x="7182" y="102"/>
                </a:lnTo>
                <a:lnTo>
                  <a:pt x="7182" y="0"/>
                </a:lnTo>
                <a:moveTo>
                  <a:pt x="7415" y="0"/>
                </a:moveTo>
                <a:lnTo>
                  <a:pt x="7554" y="0"/>
                </a:lnTo>
                <a:lnTo>
                  <a:pt x="7554" y="102"/>
                </a:lnTo>
                <a:lnTo>
                  <a:pt x="7415" y="102"/>
                </a:lnTo>
                <a:lnTo>
                  <a:pt x="7415" y="0"/>
                </a:lnTo>
                <a:moveTo>
                  <a:pt x="7647" y="0"/>
                </a:moveTo>
                <a:lnTo>
                  <a:pt x="7786" y="0"/>
                </a:lnTo>
                <a:lnTo>
                  <a:pt x="7786" y="102"/>
                </a:lnTo>
                <a:lnTo>
                  <a:pt x="7647" y="102"/>
                </a:lnTo>
                <a:lnTo>
                  <a:pt x="7647" y="0"/>
                </a:lnTo>
                <a:moveTo>
                  <a:pt x="7879" y="0"/>
                </a:moveTo>
                <a:lnTo>
                  <a:pt x="8018" y="0"/>
                </a:lnTo>
                <a:lnTo>
                  <a:pt x="8018" y="102"/>
                </a:lnTo>
                <a:lnTo>
                  <a:pt x="7879" y="102"/>
                </a:lnTo>
                <a:lnTo>
                  <a:pt x="7879" y="0"/>
                </a:lnTo>
                <a:moveTo>
                  <a:pt x="8111" y="0"/>
                </a:moveTo>
                <a:lnTo>
                  <a:pt x="8251" y="0"/>
                </a:lnTo>
                <a:lnTo>
                  <a:pt x="8251" y="102"/>
                </a:lnTo>
                <a:lnTo>
                  <a:pt x="8111" y="102"/>
                </a:lnTo>
                <a:lnTo>
                  <a:pt x="8111" y="0"/>
                </a:lnTo>
                <a:moveTo>
                  <a:pt x="8344" y="0"/>
                </a:moveTo>
                <a:lnTo>
                  <a:pt x="8483" y="0"/>
                </a:lnTo>
                <a:lnTo>
                  <a:pt x="8483" y="102"/>
                </a:lnTo>
                <a:lnTo>
                  <a:pt x="8344" y="102"/>
                </a:lnTo>
                <a:lnTo>
                  <a:pt x="8344" y="0"/>
                </a:lnTo>
                <a:moveTo>
                  <a:pt x="8576" y="0"/>
                </a:moveTo>
                <a:lnTo>
                  <a:pt x="8715" y="0"/>
                </a:lnTo>
                <a:lnTo>
                  <a:pt x="8715" y="102"/>
                </a:lnTo>
                <a:lnTo>
                  <a:pt x="8576" y="102"/>
                </a:lnTo>
                <a:lnTo>
                  <a:pt x="8576" y="0"/>
                </a:lnTo>
                <a:moveTo>
                  <a:pt x="8808" y="0"/>
                </a:moveTo>
                <a:lnTo>
                  <a:pt x="8947" y="0"/>
                </a:lnTo>
                <a:lnTo>
                  <a:pt x="8947" y="102"/>
                </a:lnTo>
                <a:lnTo>
                  <a:pt x="8808" y="102"/>
                </a:lnTo>
                <a:lnTo>
                  <a:pt x="8808" y="0"/>
                </a:lnTo>
                <a:moveTo>
                  <a:pt x="9040" y="0"/>
                </a:moveTo>
                <a:lnTo>
                  <a:pt x="9180" y="0"/>
                </a:lnTo>
                <a:lnTo>
                  <a:pt x="9180" y="102"/>
                </a:lnTo>
                <a:lnTo>
                  <a:pt x="9040" y="102"/>
                </a:lnTo>
                <a:lnTo>
                  <a:pt x="9040" y="0"/>
                </a:lnTo>
                <a:moveTo>
                  <a:pt x="9273" y="0"/>
                </a:moveTo>
                <a:lnTo>
                  <a:pt x="9412" y="0"/>
                </a:lnTo>
                <a:lnTo>
                  <a:pt x="9412" y="102"/>
                </a:lnTo>
                <a:lnTo>
                  <a:pt x="9273" y="102"/>
                </a:lnTo>
                <a:lnTo>
                  <a:pt x="9273" y="0"/>
                </a:lnTo>
                <a:moveTo>
                  <a:pt x="9505" y="0"/>
                </a:moveTo>
                <a:lnTo>
                  <a:pt x="9644" y="0"/>
                </a:lnTo>
                <a:lnTo>
                  <a:pt x="9644" y="102"/>
                </a:lnTo>
                <a:lnTo>
                  <a:pt x="9505" y="102"/>
                </a:lnTo>
                <a:lnTo>
                  <a:pt x="9505" y="0"/>
                </a:lnTo>
                <a:moveTo>
                  <a:pt x="9737" y="0"/>
                </a:moveTo>
                <a:lnTo>
                  <a:pt x="9877" y="0"/>
                </a:lnTo>
                <a:lnTo>
                  <a:pt x="9877" y="102"/>
                </a:lnTo>
                <a:lnTo>
                  <a:pt x="9737" y="102"/>
                </a:lnTo>
                <a:lnTo>
                  <a:pt x="9737" y="0"/>
                </a:lnTo>
                <a:moveTo>
                  <a:pt x="9970" y="0"/>
                </a:moveTo>
                <a:lnTo>
                  <a:pt x="10109" y="0"/>
                </a:lnTo>
                <a:lnTo>
                  <a:pt x="10109" y="102"/>
                </a:lnTo>
                <a:lnTo>
                  <a:pt x="9970" y="102"/>
                </a:lnTo>
                <a:lnTo>
                  <a:pt x="9970" y="0"/>
                </a:lnTo>
                <a:moveTo>
                  <a:pt x="10202" y="0"/>
                </a:moveTo>
                <a:lnTo>
                  <a:pt x="10341" y="0"/>
                </a:lnTo>
                <a:lnTo>
                  <a:pt x="10341" y="102"/>
                </a:lnTo>
                <a:lnTo>
                  <a:pt x="10202" y="102"/>
                </a:lnTo>
                <a:lnTo>
                  <a:pt x="10202" y="0"/>
                </a:lnTo>
                <a:moveTo>
                  <a:pt x="10434" y="0"/>
                </a:moveTo>
                <a:lnTo>
                  <a:pt x="10573" y="0"/>
                </a:lnTo>
                <a:lnTo>
                  <a:pt x="10573" y="102"/>
                </a:lnTo>
                <a:lnTo>
                  <a:pt x="10434" y="102"/>
                </a:lnTo>
                <a:lnTo>
                  <a:pt x="10434" y="0"/>
                </a:lnTo>
                <a:moveTo>
                  <a:pt x="10666" y="0"/>
                </a:moveTo>
                <a:lnTo>
                  <a:pt x="10806" y="0"/>
                </a:lnTo>
                <a:lnTo>
                  <a:pt x="10806" y="102"/>
                </a:lnTo>
                <a:lnTo>
                  <a:pt x="10666" y="102"/>
                </a:lnTo>
                <a:lnTo>
                  <a:pt x="10666" y="0"/>
                </a:lnTo>
                <a:moveTo>
                  <a:pt x="10899" y="0"/>
                </a:moveTo>
                <a:lnTo>
                  <a:pt x="11038" y="0"/>
                </a:lnTo>
                <a:lnTo>
                  <a:pt x="11038" y="102"/>
                </a:lnTo>
                <a:lnTo>
                  <a:pt x="10899" y="102"/>
                </a:lnTo>
                <a:lnTo>
                  <a:pt x="10899" y="0"/>
                </a:lnTo>
                <a:moveTo>
                  <a:pt x="11131" y="0"/>
                </a:moveTo>
                <a:lnTo>
                  <a:pt x="11270" y="0"/>
                </a:lnTo>
                <a:lnTo>
                  <a:pt x="11270" y="102"/>
                </a:lnTo>
                <a:lnTo>
                  <a:pt x="11131" y="102"/>
                </a:lnTo>
                <a:lnTo>
                  <a:pt x="11131" y="0"/>
                </a:lnTo>
                <a:moveTo>
                  <a:pt x="11363" y="0"/>
                </a:moveTo>
                <a:lnTo>
                  <a:pt x="11502" y="0"/>
                </a:lnTo>
                <a:lnTo>
                  <a:pt x="11502" y="102"/>
                </a:lnTo>
                <a:lnTo>
                  <a:pt x="11363" y="102"/>
                </a:lnTo>
                <a:lnTo>
                  <a:pt x="11363" y="0"/>
                </a:lnTo>
                <a:moveTo>
                  <a:pt x="11595" y="0"/>
                </a:moveTo>
                <a:lnTo>
                  <a:pt x="11735" y="0"/>
                </a:lnTo>
                <a:lnTo>
                  <a:pt x="11735" y="102"/>
                </a:lnTo>
                <a:lnTo>
                  <a:pt x="11595" y="102"/>
                </a:lnTo>
                <a:lnTo>
                  <a:pt x="11595" y="0"/>
                </a:lnTo>
                <a:moveTo>
                  <a:pt x="11828" y="0"/>
                </a:moveTo>
                <a:lnTo>
                  <a:pt x="11967" y="0"/>
                </a:lnTo>
                <a:lnTo>
                  <a:pt x="11967" y="102"/>
                </a:lnTo>
                <a:lnTo>
                  <a:pt x="11828" y="102"/>
                </a:lnTo>
                <a:lnTo>
                  <a:pt x="11828" y="0"/>
                </a:lnTo>
                <a:moveTo>
                  <a:pt x="12060" y="0"/>
                </a:moveTo>
                <a:lnTo>
                  <a:pt x="12199" y="0"/>
                </a:lnTo>
                <a:lnTo>
                  <a:pt x="12199" y="102"/>
                </a:lnTo>
                <a:lnTo>
                  <a:pt x="12060" y="102"/>
                </a:lnTo>
                <a:lnTo>
                  <a:pt x="12060" y="0"/>
                </a:lnTo>
                <a:moveTo>
                  <a:pt x="12292" y="0"/>
                </a:moveTo>
                <a:lnTo>
                  <a:pt x="12431" y="0"/>
                </a:lnTo>
                <a:lnTo>
                  <a:pt x="12431" y="102"/>
                </a:lnTo>
                <a:lnTo>
                  <a:pt x="12292" y="102"/>
                </a:lnTo>
                <a:lnTo>
                  <a:pt x="12292" y="0"/>
                </a:lnTo>
                <a:moveTo>
                  <a:pt x="12524" y="0"/>
                </a:moveTo>
                <a:lnTo>
                  <a:pt x="12664" y="0"/>
                </a:lnTo>
                <a:lnTo>
                  <a:pt x="12664" y="102"/>
                </a:lnTo>
                <a:lnTo>
                  <a:pt x="12524" y="102"/>
                </a:lnTo>
                <a:lnTo>
                  <a:pt x="12524" y="0"/>
                </a:lnTo>
                <a:moveTo>
                  <a:pt x="12757" y="0"/>
                </a:moveTo>
                <a:lnTo>
                  <a:pt x="12896" y="0"/>
                </a:lnTo>
                <a:lnTo>
                  <a:pt x="12896" y="102"/>
                </a:lnTo>
                <a:lnTo>
                  <a:pt x="12757" y="102"/>
                </a:lnTo>
                <a:lnTo>
                  <a:pt x="12757" y="0"/>
                </a:lnTo>
                <a:moveTo>
                  <a:pt x="12989" y="0"/>
                </a:moveTo>
                <a:lnTo>
                  <a:pt x="13128" y="0"/>
                </a:lnTo>
                <a:lnTo>
                  <a:pt x="13128" y="102"/>
                </a:lnTo>
                <a:lnTo>
                  <a:pt x="12989" y="102"/>
                </a:lnTo>
                <a:lnTo>
                  <a:pt x="12989" y="0"/>
                </a:lnTo>
                <a:moveTo>
                  <a:pt x="13221" y="0"/>
                </a:moveTo>
                <a:lnTo>
                  <a:pt x="13361" y="0"/>
                </a:lnTo>
                <a:lnTo>
                  <a:pt x="13361" y="102"/>
                </a:lnTo>
                <a:lnTo>
                  <a:pt x="13221" y="102"/>
                </a:lnTo>
                <a:lnTo>
                  <a:pt x="13221" y="0"/>
                </a:lnTo>
                <a:moveTo>
                  <a:pt x="13454" y="0"/>
                </a:moveTo>
                <a:lnTo>
                  <a:pt x="13593" y="0"/>
                </a:lnTo>
                <a:lnTo>
                  <a:pt x="13593" y="102"/>
                </a:lnTo>
                <a:lnTo>
                  <a:pt x="13454" y="102"/>
                </a:lnTo>
                <a:lnTo>
                  <a:pt x="13454" y="0"/>
                </a:lnTo>
                <a:moveTo>
                  <a:pt x="13686" y="0"/>
                </a:moveTo>
                <a:lnTo>
                  <a:pt x="13771" y="0"/>
                </a:lnTo>
                <a:cubicBezTo>
                  <a:pt x="13795" y="0"/>
                  <a:pt x="13818" y="4"/>
                  <a:pt x="13841" y="12"/>
                </a:cubicBezTo>
                <a:lnTo>
                  <a:pt x="13807" y="108"/>
                </a:lnTo>
                <a:cubicBezTo>
                  <a:pt x="13795" y="104"/>
                  <a:pt x="13783" y="102"/>
                  <a:pt x="13771" y="102"/>
                </a:cubicBezTo>
                <a:lnTo>
                  <a:pt x="13686" y="102"/>
                </a:lnTo>
                <a:lnTo>
                  <a:pt x="13686" y="0"/>
                </a:lnTo>
                <a:moveTo>
                  <a:pt x="13940" y="83"/>
                </a:moveTo>
                <a:cubicBezTo>
                  <a:pt x="13969" y="122"/>
                  <a:pt x="13984" y="165"/>
                  <a:pt x="13984" y="214"/>
                </a:cubicBezTo>
                <a:lnTo>
                  <a:pt x="13984" y="247"/>
                </a:lnTo>
                <a:lnTo>
                  <a:pt x="13882" y="247"/>
                </a:lnTo>
                <a:lnTo>
                  <a:pt x="13882" y="214"/>
                </a:lnTo>
                <a:cubicBezTo>
                  <a:pt x="13882" y="188"/>
                  <a:pt x="13874" y="166"/>
                  <a:pt x="13859" y="146"/>
                </a:cubicBezTo>
                <a:lnTo>
                  <a:pt x="13940" y="83"/>
                </a:lnTo>
                <a:moveTo>
                  <a:pt x="13984" y="340"/>
                </a:moveTo>
                <a:lnTo>
                  <a:pt x="13984" y="479"/>
                </a:lnTo>
                <a:lnTo>
                  <a:pt x="13882" y="479"/>
                </a:lnTo>
                <a:lnTo>
                  <a:pt x="13882" y="340"/>
                </a:lnTo>
                <a:lnTo>
                  <a:pt x="13984" y="340"/>
                </a:lnTo>
                <a:moveTo>
                  <a:pt x="13984" y="572"/>
                </a:moveTo>
                <a:lnTo>
                  <a:pt x="13984" y="711"/>
                </a:lnTo>
                <a:lnTo>
                  <a:pt x="13882" y="711"/>
                </a:lnTo>
                <a:lnTo>
                  <a:pt x="13882" y="572"/>
                </a:lnTo>
                <a:lnTo>
                  <a:pt x="13984" y="572"/>
                </a:lnTo>
                <a:moveTo>
                  <a:pt x="13984" y="804"/>
                </a:moveTo>
                <a:lnTo>
                  <a:pt x="13984" y="943"/>
                </a:lnTo>
                <a:lnTo>
                  <a:pt x="13882" y="943"/>
                </a:lnTo>
                <a:lnTo>
                  <a:pt x="13882" y="804"/>
                </a:lnTo>
                <a:lnTo>
                  <a:pt x="13984" y="804"/>
                </a:lnTo>
                <a:moveTo>
                  <a:pt x="13984" y="1036"/>
                </a:moveTo>
                <a:lnTo>
                  <a:pt x="13984" y="1176"/>
                </a:lnTo>
                <a:lnTo>
                  <a:pt x="13882" y="1176"/>
                </a:lnTo>
                <a:lnTo>
                  <a:pt x="13882" y="1036"/>
                </a:lnTo>
                <a:lnTo>
                  <a:pt x="13984" y="1036"/>
                </a:lnTo>
                <a:moveTo>
                  <a:pt x="13984" y="1269"/>
                </a:moveTo>
                <a:lnTo>
                  <a:pt x="13984" y="1408"/>
                </a:lnTo>
                <a:lnTo>
                  <a:pt x="13882" y="1408"/>
                </a:lnTo>
                <a:lnTo>
                  <a:pt x="13882" y="1269"/>
                </a:lnTo>
                <a:lnTo>
                  <a:pt x="13984" y="1269"/>
                </a:lnTo>
                <a:moveTo>
                  <a:pt x="13984" y="1501"/>
                </a:moveTo>
                <a:lnTo>
                  <a:pt x="13984" y="1640"/>
                </a:lnTo>
                <a:lnTo>
                  <a:pt x="13882" y="1640"/>
                </a:lnTo>
                <a:lnTo>
                  <a:pt x="13882" y="1501"/>
                </a:lnTo>
                <a:lnTo>
                  <a:pt x="13984" y="1501"/>
                </a:lnTo>
                <a:moveTo>
                  <a:pt x="13984" y="1733"/>
                </a:moveTo>
                <a:lnTo>
                  <a:pt x="13984" y="1873"/>
                </a:lnTo>
                <a:lnTo>
                  <a:pt x="13882" y="1873"/>
                </a:lnTo>
                <a:lnTo>
                  <a:pt x="13882" y="1733"/>
                </a:lnTo>
                <a:lnTo>
                  <a:pt x="13984" y="1733"/>
                </a:lnTo>
                <a:moveTo>
                  <a:pt x="13984" y="1966"/>
                </a:moveTo>
                <a:lnTo>
                  <a:pt x="13984" y="2105"/>
                </a:lnTo>
                <a:lnTo>
                  <a:pt x="13882" y="2105"/>
                </a:lnTo>
                <a:lnTo>
                  <a:pt x="13882" y="1966"/>
                </a:lnTo>
                <a:lnTo>
                  <a:pt x="13984" y="1966"/>
                </a:lnTo>
                <a:moveTo>
                  <a:pt x="13984" y="2198"/>
                </a:moveTo>
                <a:lnTo>
                  <a:pt x="13984" y="2337"/>
                </a:lnTo>
                <a:lnTo>
                  <a:pt x="13882" y="2337"/>
                </a:lnTo>
                <a:lnTo>
                  <a:pt x="13882" y="2198"/>
                </a:lnTo>
                <a:lnTo>
                  <a:pt x="13984" y="2198"/>
                </a:lnTo>
                <a:moveTo>
                  <a:pt x="13984" y="2430"/>
                </a:moveTo>
                <a:lnTo>
                  <a:pt x="13984" y="2569"/>
                </a:lnTo>
                <a:lnTo>
                  <a:pt x="13882" y="2569"/>
                </a:lnTo>
                <a:lnTo>
                  <a:pt x="13882" y="2430"/>
                </a:lnTo>
                <a:lnTo>
                  <a:pt x="13984" y="2430"/>
                </a:lnTo>
                <a:moveTo>
                  <a:pt x="13984" y="2662"/>
                </a:moveTo>
                <a:lnTo>
                  <a:pt x="13984" y="2802"/>
                </a:lnTo>
                <a:lnTo>
                  <a:pt x="13882" y="2802"/>
                </a:lnTo>
                <a:lnTo>
                  <a:pt x="13882" y="2662"/>
                </a:lnTo>
                <a:lnTo>
                  <a:pt x="13984" y="2662"/>
                </a:lnTo>
                <a:moveTo>
                  <a:pt x="13984" y="2895"/>
                </a:moveTo>
                <a:lnTo>
                  <a:pt x="13984" y="3034"/>
                </a:lnTo>
                <a:lnTo>
                  <a:pt x="13882" y="3034"/>
                </a:lnTo>
                <a:lnTo>
                  <a:pt x="13882" y="2895"/>
                </a:lnTo>
                <a:lnTo>
                  <a:pt x="13984" y="2895"/>
                </a:lnTo>
                <a:moveTo>
                  <a:pt x="13984" y="3127"/>
                </a:moveTo>
                <a:lnTo>
                  <a:pt x="13984" y="3266"/>
                </a:lnTo>
                <a:lnTo>
                  <a:pt x="13882" y="3266"/>
                </a:lnTo>
                <a:lnTo>
                  <a:pt x="13882" y="3127"/>
                </a:lnTo>
                <a:lnTo>
                  <a:pt x="13984" y="3127"/>
                </a:lnTo>
                <a:moveTo>
                  <a:pt x="13984" y="3359"/>
                </a:moveTo>
                <a:lnTo>
                  <a:pt x="13984" y="3498"/>
                </a:lnTo>
                <a:lnTo>
                  <a:pt x="13882" y="3498"/>
                </a:lnTo>
                <a:lnTo>
                  <a:pt x="13882" y="3359"/>
                </a:lnTo>
                <a:lnTo>
                  <a:pt x="13984" y="3359"/>
                </a:lnTo>
                <a:moveTo>
                  <a:pt x="13984" y="3591"/>
                </a:moveTo>
                <a:lnTo>
                  <a:pt x="13984" y="3731"/>
                </a:lnTo>
                <a:lnTo>
                  <a:pt x="13882" y="3731"/>
                </a:lnTo>
                <a:lnTo>
                  <a:pt x="13882" y="3591"/>
                </a:lnTo>
                <a:lnTo>
                  <a:pt x="13984" y="3591"/>
                </a:lnTo>
                <a:moveTo>
                  <a:pt x="13984" y="3824"/>
                </a:moveTo>
                <a:lnTo>
                  <a:pt x="13984" y="3963"/>
                </a:lnTo>
                <a:lnTo>
                  <a:pt x="13882" y="3963"/>
                </a:lnTo>
                <a:lnTo>
                  <a:pt x="13882" y="3824"/>
                </a:lnTo>
                <a:lnTo>
                  <a:pt x="13984" y="3824"/>
                </a:lnTo>
                <a:moveTo>
                  <a:pt x="13984" y="4056"/>
                </a:moveTo>
                <a:lnTo>
                  <a:pt x="13984" y="4195"/>
                </a:lnTo>
                <a:lnTo>
                  <a:pt x="13882" y="4195"/>
                </a:lnTo>
                <a:lnTo>
                  <a:pt x="13882" y="4056"/>
                </a:lnTo>
                <a:lnTo>
                  <a:pt x="13984" y="4056"/>
                </a:lnTo>
                <a:moveTo>
                  <a:pt x="13984" y="4288"/>
                </a:moveTo>
                <a:lnTo>
                  <a:pt x="13984" y="4427"/>
                </a:lnTo>
                <a:lnTo>
                  <a:pt x="13882" y="4427"/>
                </a:lnTo>
                <a:lnTo>
                  <a:pt x="13882" y="4288"/>
                </a:lnTo>
                <a:lnTo>
                  <a:pt x="13984" y="4288"/>
                </a:lnTo>
                <a:moveTo>
                  <a:pt x="13984" y="4520"/>
                </a:moveTo>
                <a:lnTo>
                  <a:pt x="13984" y="4660"/>
                </a:lnTo>
                <a:lnTo>
                  <a:pt x="13882" y="4660"/>
                </a:lnTo>
                <a:lnTo>
                  <a:pt x="13882" y="4520"/>
                </a:lnTo>
                <a:lnTo>
                  <a:pt x="13984" y="4520"/>
                </a:lnTo>
                <a:moveTo>
                  <a:pt x="13984" y="4753"/>
                </a:moveTo>
                <a:lnTo>
                  <a:pt x="13984" y="4892"/>
                </a:lnTo>
                <a:lnTo>
                  <a:pt x="13882" y="4892"/>
                </a:lnTo>
                <a:lnTo>
                  <a:pt x="13882" y="4753"/>
                </a:lnTo>
                <a:lnTo>
                  <a:pt x="13984" y="4753"/>
                </a:lnTo>
                <a:moveTo>
                  <a:pt x="13984" y="4985"/>
                </a:moveTo>
                <a:lnTo>
                  <a:pt x="13984" y="5124"/>
                </a:lnTo>
                <a:lnTo>
                  <a:pt x="13882" y="5124"/>
                </a:lnTo>
                <a:lnTo>
                  <a:pt x="13882" y="4985"/>
                </a:lnTo>
                <a:lnTo>
                  <a:pt x="13984" y="4985"/>
                </a:lnTo>
                <a:moveTo>
                  <a:pt x="13984" y="5217"/>
                </a:moveTo>
                <a:lnTo>
                  <a:pt x="13984" y="5357"/>
                </a:lnTo>
                <a:lnTo>
                  <a:pt x="13882" y="5357"/>
                </a:lnTo>
                <a:lnTo>
                  <a:pt x="13882" y="5217"/>
                </a:lnTo>
                <a:lnTo>
                  <a:pt x="13984" y="5217"/>
                </a:lnTo>
                <a:moveTo>
                  <a:pt x="13984" y="5450"/>
                </a:moveTo>
                <a:lnTo>
                  <a:pt x="13984" y="5590"/>
                </a:lnTo>
                <a:lnTo>
                  <a:pt x="13882" y="5590"/>
                </a:lnTo>
                <a:lnTo>
                  <a:pt x="13882" y="5450"/>
                </a:lnTo>
                <a:lnTo>
                  <a:pt x="13984" y="5450"/>
                </a:lnTo>
                <a:moveTo>
                  <a:pt x="13984" y="5683"/>
                </a:moveTo>
                <a:lnTo>
                  <a:pt x="13984" y="5786"/>
                </a:lnTo>
                <a:cubicBezTo>
                  <a:pt x="13984" y="5801"/>
                  <a:pt x="13983" y="5817"/>
                  <a:pt x="13979" y="5832"/>
                </a:cubicBezTo>
                <a:lnTo>
                  <a:pt x="13879" y="5810"/>
                </a:lnTo>
                <a:cubicBezTo>
                  <a:pt x="13881" y="5802"/>
                  <a:pt x="13882" y="5794"/>
                  <a:pt x="13882" y="5786"/>
                </a:cubicBezTo>
                <a:lnTo>
                  <a:pt x="13882" y="5683"/>
                </a:lnTo>
                <a:lnTo>
                  <a:pt x="13984" y="5683"/>
                </a:lnTo>
                <a:moveTo>
                  <a:pt x="13919" y="5939"/>
                </a:moveTo>
                <a:cubicBezTo>
                  <a:pt x="13878" y="5979"/>
                  <a:pt x="13828" y="5999"/>
                  <a:pt x="13771" y="5999"/>
                </a:cubicBezTo>
                <a:lnTo>
                  <a:pt x="13756" y="5999"/>
                </a:lnTo>
                <a:lnTo>
                  <a:pt x="13756" y="5897"/>
                </a:lnTo>
                <a:lnTo>
                  <a:pt x="13771" y="5897"/>
                </a:lnTo>
                <a:cubicBezTo>
                  <a:pt x="13801" y="5897"/>
                  <a:pt x="13827" y="5887"/>
                  <a:pt x="13848" y="5866"/>
                </a:cubicBezTo>
                <a:lnTo>
                  <a:pt x="13919" y="5939"/>
                </a:lnTo>
                <a:moveTo>
                  <a:pt x="13663" y="5999"/>
                </a:moveTo>
                <a:lnTo>
                  <a:pt x="13523" y="5999"/>
                </a:lnTo>
                <a:lnTo>
                  <a:pt x="13523" y="5897"/>
                </a:lnTo>
                <a:lnTo>
                  <a:pt x="13663" y="5897"/>
                </a:lnTo>
                <a:lnTo>
                  <a:pt x="13663" y="5999"/>
                </a:lnTo>
                <a:moveTo>
                  <a:pt x="13430" y="5999"/>
                </a:moveTo>
                <a:lnTo>
                  <a:pt x="13291" y="5999"/>
                </a:lnTo>
                <a:lnTo>
                  <a:pt x="13291" y="5897"/>
                </a:lnTo>
                <a:lnTo>
                  <a:pt x="13430" y="5897"/>
                </a:lnTo>
                <a:lnTo>
                  <a:pt x="13430" y="5999"/>
                </a:lnTo>
                <a:moveTo>
                  <a:pt x="13198" y="5999"/>
                </a:moveTo>
                <a:lnTo>
                  <a:pt x="13059" y="5999"/>
                </a:lnTo>
                <a:lnTo>
                  <a:pt x="13059" y="5897"/>
                </a:lnTo>
                <a:lnTo>
                  <a:pt x="13198" y="5897"/>
                </a:lnTo>
                <a:lnTo>
                  <a:pt x="13198" y="5999"/>
                </a:lnTo>
                <a:moveTo>
                  <a:pt x="12966" y="5999"/>
                </a:moveTo>
                <a:lnTo>
                  <a:pt x="12827" y="5999"/>
                </a:lnTo>
                <a:lnTo>
                  <a:pt x="12827" y="5897"/>
                </a:lnTo>
                <a:lnTo>
                  <a:pt x="12966" y="5897"/>
                </a:lnTo>
                <a:lnTo>
                  <a:pt x="12966" y="5999"/>
                </a:lnTo>
                <a:moveTo>
                  <a:pt x="12734" y="5999"/>
                </a:moveTo>
                <a:lnTo>
                  <a:pt x="12594" y="5999"/>
                </a:lnTo>
                <a:lnTo>
                  <a:pt x="12594" y="5897"/>
                </a:lnTo>
                <a:lnTo>
                  <a:pt x="12734" y="5897"/>
                </a:lnTo>
                <a:lnTo>
                  <a:pt x="12734" y="5999"/>
                </a:lnTo>
                <a:moveTo>
                  <a:pt x="12501" y="5999"/>
                </a:moveTo>
                <a:lnTo>
                  <a:pt x="12362" y="5999"/>
                </a:lnTo>
                <a:lnTo>
                  <a:pt x="12362" y="5897"/>
                </a:lnTo>
                <a:lnTo>
                  <a:pt x="12501" y="5897"/>
                </a:lnTo>
                <a:lnTo>
                  <a:pt x="12501" y="5999"/>
                </a:lnTo>
                <a:moveTo>
                  <a:pt x="12269" y="5999"/>
                </a:moveTo>
                <a:lnTo>
                  <a:pt x="12130" y="5999"/>
                </a:lnTo>
                <a:lnTo>
                  <a:pt x="12130" y="5897"/>
                </a:lnTo>
                <a:lnTo>
                  <a:pt x="12269" y="5897"/>
                </a:lnTo>
                <a:lnTo>
                  <a:pt x="12269" y="5999"/>
                </a:lnTo>
                <a:moveTo>
                  <a:pt x="12037" y="5999"/>
                </a:moveTo>
                <a:lnTo>
                  <a:pt x="11898" y="5999"/>
                </a:lnTo>
                <a:lnTo>
                  <a:pt x="11898" y="5897"/>
                </a:lnTo>
                <a:lnTo>
                  <a:pt x="12037" y="5897"/>
                </a:lnTo>
                <a:lnTo>
                  <a:pt x="12037" y="5999"/>
                </a:lnTo>
                <a:moveTo>
                  <a:pt x="11805" y="5999"/>
                </a:moveTo>
                <a:lnTo>
                  <a:pt x="11665" y="5999"/>
                </a:lnTo>
                <a:lnTo>
                  <a:pt x="11665" y="5897"/>
                </a:lnTo>
                <a:lnTo>
                  <a:pt x="11805" y="5897"/>
                </a:lnTo>
                <a:lnTo>
                  <a:pt x="11805" y="5999"/>
                </a:lnTo>
                <a:moveTo>
                  <a:pt x="11572" y="5999"/>
                </a:moveTo>
                <a:lnTo>
                  <a:pt x="11433" y="5999"/>
                </a:lnTo>
                <a:lnTo>
                  <a:pt x="11433" y="5897"/>
                </a:lnTo>
                <a:lnTo>
                  <a:pt x="11572" y="5897"/>
                </a:lnTo>
                <a:lnTo>
                  <a:pt x="11572" y="5999"/>
                </a:lnTo>
                <a:moveTo>
                  <a:pt x="11340" y="5999"/>
                </a:moveTo>
                <a:lnTo>
                  <a:pt x="11201" y="5999"/>
                </a:lnTo>
                <a:lnTo>
                  <a:pt x="11201" y="5897"/>
                </a:lnTo>
                <a:lnTo>
                  <a:pt x="11340" y="5897"/>
                </a:lnTo>
                <a:lnTo>
                  <a:pt x="11340" y="5999"/>
                </a:lnTo>
                <a:moveTo>
                  <a:pt x="11108" y="5999"/>
                </a:moveTo>
                <a:lnTo>
                  <a:pt x="10968" y="5999"/>
                </a:lnTo>
                <a:lnTo>
                  <a:pt x="10968" y="5897"/>
                </a:lnTo>
                <a:lnTo>
                  <a:pt x="11108" y="5897"/>
                </a:lnTo>
                <a:lnTo>
                  <a:pt x="11108" y="5999"/>
                </a:lnTo>
                <a:moveTo>
                  <a:pt x="10875" y="5999"/>
                </a:moveTo>
                <a:lnTo>
                  <a:pt x="10736" y="5999"/>
                </a:lnTo>
                <a:lnTo>
                  <a:pt x="10736" y="5897"/>
                </a:lnTo>
                <a:lnTo>
                  <a:pt x="10875" y="5897"/>
                </a:lnTo>
                <a:lnTo>
                  <a:pt x="10875" y="5999"/>
                </a:lnTo>
                <a:moveTo>
                  <a:pt x="10643" y="5999"/>
                </a:moveTo>
                <a:lnTo>
                  <a:pt x="10504" y="5999"/>
                </a:lnTo>
                <a:lnTo>
                  <a:pt x="10504" y="5897"/>
                </a:lnTo>
                <a:lnTo>
                  <a:pt x="10643" y="5897"/>
                </a:lnTo>
                <a:lnTo>
                  <a:pt x="10643" y="5999"/>
                </a:lnTo>
                <a:moveTo>
                  <a:pt x="10411" y="5999"/>
                </a:moveTo>
                <a:lnTo>
                  <a:pt x="10272" y="5999"/>
                </a:lnTo>
                <a:lnTo>
                  <a:pt x="10272" y="5897"/>
                </a:lnTo>
                <a:lnTo>
                  <a:pt x="10411" y="5897"/>
                </a:lnTo>
                <a:lnTo>
                  <a:pt x="10411" y="5999"/>
                </a:lnTo>
                <a:moveTo>
                  <a:pt x="10179" y="5999"/>
                </a:moveTo>
                <a:lnTo>
                  <a:pt x="10039" y="5999"/>
                </a:lnTo>
                <a:lnTo>
                  <a:pt x="10039" y="5897"/>
                </a:lnTo>
                <a:lnTo>
                  <a:pt x="10179" y="5897"/>
                </a:lnTo>
                <a:lnTo>
                  <a:pt x="10179" y="5999"/>
                </a:lnTo>
                <a:moveTo>
                  <a:pt x="9946" y="5999"/>
                </a:moveTo>
                <a:lnTo>
                  <a:pt x="9807" y="5999"/>
                </a:lnTo>
                <a:lnTo>
                  <a:pt x="9807" y="5897"/>
                </a:lnTo>
                <a:lnTo>
                  <a:pt x="9946" y="5897"/>
                </a:lnTo>
                <a:lnTo>
                  <a:pt x="9946" y="5999"/>
                </a:lnTo>
                <a:moveTo>
                  <a:pt x="9714" y="5999"/>
                </a:moveTo>
                <a:lnTo>
                  <a:pt x="9575" y="5999"/>
                </a:lnTo>
                <a:lnTo>
                  <a:pt x="9575" y="5897"/>
                </a:lnTo>
                <a:lnTo>
                  <a:pt x="9714" y="5897"/>
                </a:lnTo>
                <a:lnTo>
                  <a:pt x="9714" y="5999"/>
                </a:lnTo>
                <a:moveTo>
                  <a:pt x="9482" y="5999"/>
                </a:moveTo>
                <a:lnTo>
                  <a:pt x="9343" y="5999"/>
                </a:lnTo>
                <a:lnTo>
                  <a:pt x="9343" y="5897"/>
                </a:lnTo>
                <a:lnTo>
                  <a:pt x="9482" y="5897"/>
                </a:lnTo>
                <a:lnTo>
                  <a:pt x="9482" y="5999"/>
                </a:lnTo>
                <a:moveTo>
                  <a:pt x="9250" y="5999"/>
                </a:moveTo>
                <a:lnTo>
                  <a:pt x="9110" y="5999"/>
                </a:lnTo>
                <a:lnTo>
                  <a:pt x="9110" y="5897"/>
                </a:lnTo>
                <a:lnTo>
                  <a:pt x="9250" y="5897"/>
                </a:lnTo>
                <a:lnTo>
                  <a:pt x="9250" y="5999"/>
                </a:lnTo>
                <a:moveTo>
                  <a:pt x="9017" y="5999"/>
                </a:moveTo>
                <a:lnTo>
                  <a:pt x="8878" y="5999"/>
                </a:lnTo>
                <a:lnTo>
                  <a:pt x="8878" y="5897"/>
                </a:lnTo>
                <a:lnTo>
                  <a:pt x="9017" y="5897"/>
                </a:lnTo>
                <a:lnTo>
                  <a:pt x="9017" y="5999"/>
                </a:lnTo>
                <a:moveTo>
                  <a:pt x="8785" y="5999"/>
                </a:moveTo>
                <a:lnTo>
                  <a:pt x="8646" y="5999"/>
                </a:lnTo>
                <a:lnTo>
                  <a:pt x="8646" y="5897"/>
                </a:lnTo>
                <a:lnTo>
                  <a:pt x="8785" y="5897"/>
                </a:lnTo>
                <a:lnTo>
                  <a:pt x="8785" y="5999"/>
                </a:lnTo>
                <a:moveTo>
                  <a:pt x="8553" y="5999"/>
                </a:moveTo>
                <a:lnTo>
                  <a:pt x="8413" y="5999"/>
                </a:lnTo>
                <a:lnTo>
                  <a:pt x="8413" y="5897"/>
                </a:lnTo>
                <a:lnTo>
                  <a:pt x="8553" y="5897"/>
                </a:lnTo>
                <a:lnTo>
                  <a:pt x="8553" y="5999"/>
                </a:lnTo>
                <a:moveTo>
                  <a:pt x="8321" y="5999"/>
                </a:moveTo>
                <a:lnTo>
                  <a:pt x="8181" y="5999"/>
                </a:lnTo>
                <a:lnTo>
                  <a:pt x="8181" y="5897"/>
                </a:lnTo>
                <a:lnTo>
                  <a:pt x="8321" y="5897"/>
                </a:lnTo>
                <a:lnTo>
                  <a:pt x="8321" y="5999"/>
                </a:lnTo>
                <a:moveTo>
                  <a:pt x="8088" y="5999"/>
                </a:moveTo>
                <a:lnTo>
                  <a:pt x="7949" y="5999"/>
                </a:lnTo>
                <a:lnTo>
                  <a:pt x="7949" y="5897"/>
                </a:lnTo>
                <a:lnTo>
                  <a:pt x="8088" y="5897"/>
                </a:lnTo>
                <a:lnTo>
                  <a:pt x="8088" y="5999"/>
                </a:lnTo>
                <a:moveTo>
                  <a:pt x="7856" y="5999"/>
                </a:moveTo>
                <a:lnTo>
                  <a:pt x="7717" y="5999"/>
                </a:lnTo>
                <a:lnTo>
                  <a:pt x="7717" y="5897"/>
                </a:lnTo>
                <a:lnTo>
                  <a:pt x="7856" y="5897"/>
                </a:lnTo>
                <a:lnTo>
                  <a:pt x="7856" y="5999"/>
                </a:lnTo>
                <a:moveTo>
                  <a:pt x="7624" y="5999"/>
                </a:moveTo>
                <a:lnTo>
                  <a:pt x="7484" y="5999"/>
                </a:lnTo>
                <a:lnTo>
                  <a:pt x="7484" y="5897"/>
                </a:lnTo>
                <a:lnTo>
                  <a:pt x="7624" y="5897"/>
                </a:lnTo>
                <a:lnTo>
                  <a:pt x="7624" y="5999"/>
                </a:lnTo>
                <a:moveTo>
                  <a:pt x="7391" y="5999"/>
                </a:moveTo>
                <a:lnTo>
                  <a:pt x="7252" y="5999"/>
                </a:lnTo>
                <a:lnTo>
                  <a:pt x="7252" y="5897"/>
                </a:lnTo>
                <a:lnTo>
                  <a:pt x="7391" y="5897"/>
                </a:lnTo>
                <a:lnTo>
                  <a:pt x="7391" y="5999"/>
                </a:lnTo>
                <a:moveTo>
                  <a:pt x="7159" y="5999"/>
                </a:moveTo>
                <a:lnTo>
                  <a:pt x="7020" y="5999"/>
                </a:lnTo>
                <a:lnTo>
                  <a:pt x="7020" y="5897"/>
                </a:lnTo>
                <a:lnTo>
                  <a:pt x="7159" y="5897"/>
                </a:lnTo>
                <a:lnTo>
                  <a:pt x="7159" y="5999"/>
                </a:lnTo>
                <a:moveTo>
                  <a:pt x="6927" y="5999"/>
                </a:moveTo>
                <a:lnTo>
                  <a:pt x="6788" y="5999"/>
                </a:lnTo>
                <a:lnTo>
                  <a:pt x="6788" y="5897"/>
                </a:lnTo>
                <a:lnTo>
                  <a:pt x="6927" y="5897"/>
                </a:lnTo>
                <a:lnTo>
                  <a:pt x="6927" y="5999"/>
                </a:lnTo>
                <a:moveTo>
                  <a:pt x="6695" y="5999"/>
                </a:moveTo>
                <a:lnTo>
                  <a:pt x="6555" y="5999"/>
                </a:lnTo>
                <a:lnTo>
                  <a:pt x="6555" y="5897"/>
                </a:lnTo>
                <a:lnTo>
                  <a:pt x="6695" y="5897"/>
                </a:lnTo>
                <a:lnTo>
                  <a:pt x="6695" y="5999"/>
                </a:lnTo>
                <a:moveTo>
                  <a:pt x="6462" y="5999"/>
                </a:moveTo>
                <a:lnTo>
                  <a:pt x="6323" y="5999"/>
                </a:lnTo>
                <a:lnTo>
                  <a:pt x="6323" y="5897"/>
                </a:lnTo>
                <a:lnTo>
                  <a:pt x="6462" y="5897"/>
                </a:lnTo>
                <a:lnTo>
                  <a:pt x="6462" y="5999"/>
                </a:lnTo>
                <a:moveTo>
                  <a:pt x="6230" y="5999"/>
                </a:moveTo>
                <a:lnTo>
                  <a:pt x="6091" y="5999"/>
                </a:lnTo>
                <a:lnTo>
                  <a:pt x="6091" y="5897"/>
                </a:lnTo>
                <a:lnTo>
                  <a:pt x="6230" y="5897"/>
                </a:lnTo>
                <a:lnTo>
                  <a:pt x="6230" y="5999"/>
                </a:lnTo>
                <a:moveTo>
                  <a:pt x="5998" y="5999"/>
                </a:moveTo>
                <a:lnTo>
                  <a:pt x="5858" y="5999"/>
                </a:lnTo>
                <a:lnTo>
                  <a:pt x="5858" y="5897"/>
                </a:lnTo>
                <a:lnTo>
                  <a:pt x="5998" y="5897"/>
                </a:lnTo>
                <a:lnTo>
                  <a:pt x="5998" y="5999"/>
                </a:lnTo>
                <a:moveTo>
                  <a:pt x="5765" y="5999"/>
                </a:moveTo>
                <a:lnTo>
                  <a:pt x="5625" y="5999"/>
                </a:lnTo>
                <a:lnTo>
                  <a:pt x="5625" y="5897"/>
                </a:lnTo>
                <a:lnTo>
                  <a:pt x="5765" y="5897"/>
                </a:lnTo>
                <a:lnTo>
                  <a:pt x="5765" y="5999"/>
                </a:lnTo>
                <a:moveTo>
                  <a:pt x="5532" y="5999"/>
                </a:moveTo>
                <a:lnTo>
                  <a:pt x="5393" y="5999"/>
                </a:lnTo>
                <a:lnTo>
                  <a:pt x="5393" y="5897"/>
                </a:lnTo>
                <a:lnTo>
                  <a:pt x="5532" y="5897"/>
                </a:lnTo>
                <a:lnTo>
                  <a:pt x="5532" y="5999"/>
                </a:lnTo>
                <a:moveTo>
                  <a:pt x="5300" y="5999"/>
                </a:moveTo>
                <a:lnTo>
                  <a:pt x="5161" y="5999"/>
                </a:lnTo>
                <a:lnTo>
                  <a:pt x="5161" y="5897"/>
                </a:lnTo>
                <a:lnTo>
                  <a:pt x="5300" y="5897"/>
                </a:lnTo>
                <a:lnTo>
                  <a:pt x="5300" y="5999"/>
                </a:lnTo>
                <a:moveTo>
                  <a:pt x="5068" y="5999"/>
                </a:moveTo>
                <a:lnTo>
                  <a:pt x="4928" y="5999"/>
                </a:lnTo>
                <a:lnTo>
                  <a:pt x="4928" y="5897"/>
                </a:lnTo>
                <a:lnTo>
                  <a:pt x="5068" y="5897"/>
                </a:lnTo>
                <a:lnTo>
                  <a:pt x="5068" y="5999"/>
                </a:lnTo>
                <a:moveTo>
                  <a:pt x="4835" y="5999"/>
                </a:moveTo>
                <a:lnTo>
                  <a:pt x="4696" y="5999"/>
                </a:lnTo>
                <a:lnTo>
                  <a:pt x="4696" y="5897"/>
                </a:lnTo>
                <a:lnTo>
                  <a:pt x="4835" y="5897"/>
                </a:lnTo>
                <a:lnTo>
                  <a:pt x="4835" y="5999"/>
                </a:lnTo>
                <a:moveTo>
                  <a:pt x="4603" y="5999"/>
                </a:moveTo>
                <a:lnTo>
                  <a:pt x="4464" y="5999"/>
                </a:lnTo>
                <a:lnTo>
                  <a:pt x="4464" y="5897"/>
                </a:lnTo>
                <a:lnTo>
                  <a:pt x="4603" y="5897"/>
                </a:lnTo>
                <a:lnTo>
                  <a:pt x="4603" y="5999"/>
                </a:lnTo>
                <a:moveTo>
                  <a:pt x="4371" y="5999"/>
                </a:moveTo>
                <a:lnTo>
                  <a:pt x="4232" y="5999"/>
                </a:lnTo>
                <a:lnTo>
                  <a:pt x="4232" y="5897"/>
                </a:lnTo>
                <a:lnTo>
                  <a:pt x="4371" y="5897"/>
                </a:lnTo>
                <a:lnTo>
                  <a:pt x="4371" y="5999"/>
                </a:lnTo>
                <a:moveTo>
                  <a:pt x="4139" y="5999"/>
                </a:moveTo>
                <a:lnTo>
                  <a:pt x="3999" y="5999"/>
                </a:lnTo>
                <a:lnTo>
                  <a:pt x="3999" y="5897"/>
                </a:lnTo>
                <a:lnTo>
                  <a:pt x="4139" y="5897"/>
                </a:lnTo>
                <a:lnTo>
                  <a:pt x="4139" y="5999"/>
                </a:lnTo>
                <a:moveTo>
                  <a:pt x="3906" y="5999"/>
                </a:moveTo>
                <a:lnTo>
                  <a:pt x="3767" y="5999"/>
                </a:lnTo>
                <a:lnTo>
                  <a:pt x="3767" y="5897"/>
                </a:lnTo>
                <a:lnTo>
                  <a:pt x="3906" y="5897"/>
                </a:lnTo>
                <a:lnTo>
                  <a:pt x="3906" y="5999"/>
                </a:lnTo>
                <a:moveTo>
                  <a:pt x="3674" y="5999"/>
                </a:moveTo>
                <a:lnTo>
                  <a:pt x="3535" y="5999"/>
                </a:lnTo>
                <a:lnTo>
                  <a:pt x="3535" y="5897"/>
                </a:lnTo>
                <a:lnTo>
                  <a:pt x="3674" y="5897"/>
                </a:lnTo>
                <a:lnTo>
                  <a:pt x="3674" y="5999"/>
                </a:lnTo>
                <a:moveTo>
                  <a:pt x="3442" y="5999"/>
                </a:moveTo>
                <a:lnTo>
                  <a:pt x="3303" y="5999"/>
                </a:lnTo>
                <a:lnTo>
                  <a:pt x="3303" y="5897"/>
                </a:lnTo>
                <a:lnTo>
                  <a:pt x="3442" y="5897"/>
                </a:lnTo>
                <a:lnTo>
                  <a:pt x="3442" y="5999"/>
                </a:lnTo>
                <a:moveTo>
                  <a:pt x="3210" y="5999"/>
                </a:moveTo>
                <a:lnTo>
                  <a:pt x="3070" y="5999"/>
                </a:lnTo>
                <a:lnTo>
                  <a:pt x="3070" y="5897"/>
                </a:lnTo>
                <a:lnTo>
                  <a:pt x="3210" y="5897"/>
                </a:lnTo>
                <a:lnTo>
                  <a:pt x="3210" y="5999"/>
                </a:lnTo>
                <a:moveTo>
                  <a:pt x="2977" y="5999"/>
                </a:moveTo>
                <a:lnTo>
                  <a:pt x="2838" y="5999"/>
                </a:lnTo>
                <a:lnTo>
                  <a:pt x="2838" y="5897"/>
                </a:lnTo>
                <a:lnTo>
                  <a:pt x="2977" y="5897"/>
                </a:lnTo>
                <a:lnTo>
                  <a:pt x="2977" y="5999"/>
                </a:lnTo>
                <a:moveTo>
                  <a:pt x="2745" y="5999"/>
                </a:moveTo>
                <a:lnTo>
                  <a:pt x="2606" y="5999"/>
                </a:lnTo>
                <a:lnTo>
                  <a:pt x="2606" y="5897"/>
                </a:lnTo>
                <a:lnTo>
                  <a:pt x="2745" y="5897"/>
                </a:lnTo>
                <a:lnTo>
                  <a:pt x="2745" y="5999"/>
                </a:lnTo>
                <a:moveTo>
                  <a:pt x="2513" y="5999"/>
                </a:moveTo>
                <a:lnTo>
                  <a:pt x="2374" y="5999"/>
                </a:lnTo>
                <a:lnTo>
                  <a:pt x="2374" y="5897"/>
                </a:lnTo>
                <a:lnTo>
                  <a:pt x="2513" y="5897"/>
                </a:lnTo>
                <a:lnTo>
                  <a:pt x="2513" y="5999"/>
                </a:lnTo>
                <a:moveTo>
                  <a:pt x="2281" y="5999"/>
                </a:moveTo>
                <a:lnTo>
                  <a:pt x="2141" y="5999"/>
                </a:lnTo>
                <a:lnTo>
                  <a:pt x="2141" y="5897"/>
                </a:lnTo>
                <a:lnTo>
                  <a:pt x="2281" y="5897"/>
                </a:lnTo>
                <a:lnTo>
                  <a:pt x="2281" y="5999"/>
                </a:lnTo>
                <a:moveTo>
                  <a:pt x="2048" y="5999"/>
                </a:moveTo>
                <a:lnTo>
                  <a:pt x="1909" y="5999"/>
                </a:lnTo>
                <a:lnTo>
                  <a:pt x="1909" y="5897"/>
                </a:lnTo>
                <a:lnTo>
                  <a:pt x="2048" y="5897"/>
                </a:lnTo>
                <a:lnTo>
                  <a:pt x="2048" y="5999"/>
                </a:lnTo>
                <a:moveTo>
                  <a:pt x="1816" y="5999"/>
                </a:moveTo>
                <a:lnTo>
                  <a:pt x="1677" y="5999"/>
                </a:lnTo>
                <a:lnTo>
                  <a:pt x="1677" y="5897"/>
                </a:lnTo>
                <a:lnTo>
                  <a:pt x="1816" y="5897"/>
                </a:lnTo>
                <a:lnTo>
                  <a:pt x="1816" y="5999"/>
                </a:lnTo>
                <a:moveTo>
                  <a:pt x="1584" y="5999"/>
                </a:moveTo>
                <a:lnTo>
                  <a:pt x="1444" y="5999"/>
                </a:lnTo>
                <a:lnTo>
                  <a:pt x="1444" y="5897"/>
                </a:lnTo>
                <a:lnTo>
                  <a:pt x="1584" y="5897"/>
                </a:lnTo>
                <a:lnTo>
                  <a:pt x="1584" y="5999"/>
                </a:lnTo>
                <a:moveTo>
                  <a:pt x="1351" y="5999"/>
                </a:moveTo>
                <a:lnTo>
                  <a:pt x="1212" y="5999"/>
                </a:lnTo>
                <a:lnTo>
                  <a:pt x="1212" y="5897"/>
                </a:lnTo>
                <a:lnTo>
                  <a:pt x="1351" y="5897"/>
                </a:lnTo>
                <a:lnTo>
                  <a:pt x="1351" y="5999"/>
                </a:lnTo>
                <a:moveTo>
                  <a:pt x="1119" y="5999"/>
                </a:moveTo>
                <a:lnTo>
                  <a:pt x="980" y="5999"/>
                </a:lnTo>
                <a:lnTo>
                  <a:pt x="980" y="5897"/>
                </a:lnTo>
                <a:lnTo>
                  <a:pt x="1119" y="5897"/>
                </a:lnTo>
                <a:lnTo>
                  <a:pt x="1119" y="5999"/>
                </a:lnTo>
                <a:moveTo>
                  <a:pt x="887" y="5999"/>
                </a:moveTo>
                <a:lnTo>
                  <a:pt x="748" y="5999"/>
                </a:lnTo>
                <a:lnTo>
                  <a:pt x="748" y="5897"/>
                </a:lnTo>
                <a:lnTo>
                  <a:pt x="887" y="5897"/>
                </a:lnTo>
                <a:lnTo>
                  <a:pt x="887" y="5999"/>
                </a:lnTo>
                <a:moveTo>
                  <a:pt x="655" y="5999"/>
                </a:moveTo>
                <a:lnTo>
                  <a:pt x="515" y="5999"/>
                </a:lnTo>
                <a:lnTo>
                  <a:pt x="515" y="5897"/>
                </a:lnTo>
                <a:lnTo>
                  <a:pt x="655" y="5897"/>
                </a:lnTo>
                <a:lnTo>
                  <a:pt x="655" y="5999"/>
                </a:lnTo>
                <a:moveTo>
                  <a:pt x="422" y="5999"/>
                </a:moveTo>
                <a:lnTo>
                  <a:pt x="283" y="5999"/>
                </a:lnTo>
                <a:lnTo>
                  <a:pt x="283" y="5897"/>
                </a:lnTo>
                <a:lnTo>
                  <a:pt x="422" y="5897"/>
                </a:lnTo>
                <a:lnTo>
                  <a:pt x="422" y="5999"/>
                </a:lnTo>
                <a:moveTo>
                  <a:pt x="184" y="5997"/>
                </a:moveTo>
                <a:cubicBezTo>
                  <a:pt x="118" y="5988"/>
                  <a:pt x="68" y="5956"/>
                  <a:pt x="33" y="5900"/>
                </a:cubicBezTo>
                <a:lnTo>
                  <a:pt x="119" y="5845"/>
                </a:lnTo>
                <a:cubicBezTo>
                  <a:pt x="137" y="5874"/>
                  <a:pt x="164" y="5891"/>
                  <a:pt x="198" y="5896"/>
                </a:cubicBezTo>
                <a:lnTo>
                  <a:pt x="184" y="5997"/>
                </a:lnTo>
                <a:moveTo>
                  <a:pt x="0" y="5784"/>
                </a:moveTo>
                <a:lnTo>
                  <a:pt x="0" y="5645"/>
                </a:lnTo>
                <a:lnTo>
                  <a:pt x="102" y="5645"/>
                </a:lnTo>
                <a:lnTo>
                  <a:pt x="102" y="5784"/>
                </a:lnTo>
                <a:lnTo>
                  <a:pt x="0" y="5784"/>
                </a:lnTo>
                <a:moveTo>
                  <a:pt x="0" y="5552"/>
                </a:moveTo>
                <a:lnTo>
                  <a:pt x="0" y="5411"/>
                </a:lnTo>
                <a:lnTo>
                  <a:pt x="102" y="5411"/>
                </a:lnTo>
                <a:lnTo>
                  <a:pt x="102" y="5552"/>
                </a:lnTo>
                <a:lnTo>
                  <a:pt x="0" y="5552"/>
                </a:lnTo>
                <a:moveTo>
                  <a:pt x="0" y="5318"/>
                </a:moveTo>
                <a:lnTo>
                  <a:pt x="0" y="5179"/>
                </a:lnTo>
                <a:lnTo>
                  <a:pt x="102" y="5179"/>
                </a:lnTo>
                <a:lnTo>
                  <a:pt x="102" y="5318"/>
                </a:lnTo>
                <a:lnTo>
                  <a:pt x="0" y="5318"/>
                </a:lnTo>
                <a:moveTo>
                  <a:pt x="0" y="5086"/>
                </a:moveTo>
                <a:lnTo>
                  <a:pt x="0" y="4947"/>
                </a:lnTo>
                <a:lnTo>
                  <a:pt x="102" y="4947"/>
                </a:lnTo>
                <a:lnTo>
                  <a:pt x="102" y="5086"/>
                </a:lnTo>
                <a:lnTo>
                  <a:pt x="0" y="5086"/>
                </a:lnTo>
                <a:moveTo>
                  <a:pt x="0" y="4854"/>
                </a:moveTo>
                <a:lnTo>
                  <a:pt x="0" y="4715"/>
                </a:lnTo>
                <a:lnTo>
                  <a:pt x="102" y="4715"/>
                </a:lnTo>
                <a:lnTo>
                  <a:pt x="102" y="4854"/>
                </a:lnTo>
                <a:lnTo>
                  <a:pt x="0" y="4854"/>
                </a:lnTo>
                <a:moveTo>
                  <a:pt x="0" y="4622"/>
                </a:moveTo>
                <a:lnTo>
                  <a:pt x="0" y="4482"/>
                </a:lnTo>
                <a:lnTo>
                  <a:pt x="102" y="4482"/>
                </a:lnTo>
                <a:lnTo>
                  <a:pt x="102" y="4622"/>
                </a:lnTo>
                <a:lnTo>
                  <a:pt x="0" y="4622"/>
                </a:lnTo>
                <a:moveTo>
                  <a:pt x="0" y="4389"/>
                </a:moveTo>
                <a:lnTo>
                  <a:pt x="0" y="4250"/>
                </a:lnTo>
                <a:lnTo>
                  <a:pt x="102" y="4250"/>
                </a:lnTo>
                <a:lnTo>
                  <a:pt x="102" y="4389"/>
                </a:lnTo>
                <a:lnTo>
                  <a:pt x="0" y="4389"/>
                </a:lnTo>
                <a:moveTo>
                  <a:pt x="0" y="4157"/>
                </a:moveTo>
                <a:lnTo>
                  <a:pt x="0" y="4018"/>
                </a:lnTo>
                <a:lnTo>
                  <a:pt x="102" y="4018"/>
                </a:lnTo>
                <a:lnTo>
                  <a:pt x="102" y="4157"/>
                </a:lnTo>
                <a:lnTo>
                  <a:pt x="0" y="4157"/>
                </a:lnTo>
                <a:moveTo>
                  <a:pt x="0" y="3925"/>
                </a:moveTo>
                <a:lnTo>
                  <a:pt x="0" y="3785"/>
                </a:lnTo>
                <a:lnTo>
                  <a:pt x="102" y="3785"/>
                </a:lnTo>
                <a:lnTo>
                  <a:pt x="102" y="3925"/>
                </a:lnTo>
                <a:lnTo>
                  <a:pt x="0" y="3925"/>
                </a:lnTo>
                <a:moveTo>
                  <a:pt x="0" y="3693"/>
                </a:moveTo>
                <a:lnTo>
                  <a:pt x="0" y="3553"/>
                </a:lnTo>
                <a:lnTo>
                  <a:pt x="102" y="3553"/>
                </a:lnTo>
                <a:lnTo>
                  <a:pt x="102" y="3693"/>
                </a:lnTo>
                <a:lnTo>
                  <a:pt x="0" y="3693"/>
                </a:lnTo>
                <a:moveTo>
                  <a:pt x="0" y="3460"/>
                </a:moveTo>
                <a:lnTo>
                  <a:pt x="0" y="3321"/>
                </a:lnTo>
                <a:lnTo>
                  <a:pt x="102" y="3321"/>
                </a:lnTo>
                <a:lnTo>
                  <a:pt x="102" y="3460"/>
                </a:lnTo>
                <a:lnTo>
                  <a:pt x="0" y="3460"/>
                </a:lnTo>
                <a:moveTo>
                  <a:pt x="0" y="3228"/>
                </a:moveTo>
                <a:lnTo>
                  <a:pt x="0" y="3089"/>
                </a:lnTo>
                <a:lnTo>
                  <a:pt x="102" y="3089"/>
                </a:lnTo>
                <a:lnTo>
                  <a:pt x="102" y="3228"/>
                </a:lnTo>
                <a:lnTo>
                  <a:pt x="0" y="3228"/>
                </a:lnTo>
                <a:moveTo>
                  <a:pt x="0" y="2996"/>
                </a:moveTo>
                <a:lnTo>
                  <a:pt x="0" y="2856"/>
                </a:lnTo>
                <a:lnTo>
                  <a:pt x="102" y="2856"/>
                </a:lnTo>
                <a:lnTo>
                  <a:pt x="102" y="2996"/>
                </a:lnTo>
                <a:lnTo>
                  <a:pt x="0" y="2996"/>
                </a:lnTo>
                <a:moveTo>
                  <a:pt x="0" y="2763"/>
                </a:moveTo>
                <a:lnTo>
                  <a:pt x="0" y="2624"/>
                </a:lnTo>
                <a:lnTo>
                  <a:pt x="102" y="2624"/>
                </a:lnTo>
                <a:lnTo>
                  <a:pt x="102" y="2763"/>
                </a:lnTo>
                <a:lnTo>
                  <a:pt x="0" y="2763"/>
                </a:lnTo>
                <a:moveTo>
                  <a:pt x="0" y="2531"/>
                </a:moveTo>
                <a:lnTo>
                  <a:pt x="0" y="2392"/>
                </a:lnTo>
                <a:lnTo>
                  <a:pt x="102" y="2392"/>
                </a:lnTo>
                <a:lnTo>
                  <a:pt x="102" y="2531"/>
                </a:lnTo>
                <a:lnTo>
                  <a:pt x="0" y="2531"/>
                </a:lnTo>
                <a:moveTo>
                  <a:pt x="0" y="2299"/>
                </a:moveTo>
                <a:lnTo>
                  <a:pt x="0" y="2160"/>
                </a:lnTo>
                <a:lnTo>
                  <a:pt x="102" y="2160"/>
                </a:lnTo>
                <a:lnTo>
                  <a:pt x="102" y="2299"/>
                </a:lnTo>
                <a:lnTo>
                  <a:pt x="0" y="2299"/>
                </a:lnTo>
                <a:moveTo>
                  <a:pt x="0" y="2067"/>
                </a:moveTo>
                <a:lnTo>
                  <a:pt x="0" y="1927"/>
                </a:lnTo>
                <a:lnTo>
                  <a:pt x="102" y="1927"/>
                </a:lnTo>
                <a:lnTo>
                  <a:pt x="102" y="2067"/>
                </a:lnTo>
                <a:lnTo>
                  <a:pt x="0" y="2067"/>
                </a:lnTo>
                <a:moveTo>
                  <a:pt x="0" y="1834"/>
                </a:moveTo>
                <a:lnTo>
                  <a:pt x="0" y="1695"/>
                </a:lnTo>
                <a:lnTo>
                  <a:pt x="102" y="1695"/>
                </a:lnTo>
                <a:lnTo>
                  <a:pt x="102" y="1834"/>
                </a:lnTo>
                <a:lnTo>
                  <a:pt x="0" y="1834"/>
                </a:lnTo>
                <a:moveTo>
                  <a:pt x="0" y="1602"/>
                </a:moveTo>
                <a:lnTo>
                  <a:pt x="0" y="1463"/>
                </a:lnTo>
                <a:lnTo>
                  <a:pt x="102" y="1463"/>
                </a:lnTo>
                <a:lnTo>
                  <a:pt x="102" y="1602"/>
                </a:lnTo>
                <a:lnTo>
                  <a:pt x="0" y="1602"/>
                </a:lnTo>
                <a:moveTo>
                  <a:pt x="0" y="1370"/>
                </a:moveTo>
                <a:lnTo>
                  <a:pt x="0" y="1231"/>
                </a:lnTo>
                <a:lnTo>
                  <a:pt x="102" y="1231"/>
                </a:lnTo>
                <a:lnTo>
                  <a:pt x="102" y="1370"/>
                </a:lnTo>
                <a:lnTo>
                  <a:pt x="0" y="1370"/>
                </a:lnTo>
                <a:moveTo>
                  <a:pt x="0" y="1138"/>
                </a:moveTo>
                <a:lnTo>
                  <a:pt x="0" y="998"/>
                </a:lnTo>
                <a:lnTo>
                  <a:pt x="102" y="998"/>
                </a:lnTo>
                <a:lnTo>
                  <a:pt x="102" y="1138"/>
                </a:lnTo>
                <a:lnTo>
                  <a:pt x="0" y="1138"/>
                </a:lnTo>
                <a:moveTo>
                  <a:pt x="0" y="905"/>
                </a:moveTo>
                <a:lnTo>
                  <a:pt x="0" y="766"/>
                </a:lnTo>
                <a:lnTo>
                  <a:pt x="102" y="766"/>
                </a:lnTo>
                <a:lnTo>
                  <a:pt x="102" y="905"/>
                </a:lnTo>
                <a:lnTo>
                  <a:pt x="0" y="905"/>
                </a:lnTo>
                <a:moveTo>
                  <a:pt x="0" y="673"/>
                </a:moveTo>
                <a:lnTo>
                  <a:pt x="0" y="534"/>
                </a:lnTo>
                <a:lnTo>
                  <a:pt x="102" y="534"/>
                </a:lnTo>
                <a:lnTo>
                  <a:pt x="102" y="673"/>
                </a:lnTo>
                <a:lnTo>
                  <a:pt x="0" y="673"/>
                </a:lnTo>
                <a:moveTo>
                  <a:pt x="0" y="441"/>
                </a:moveTo>
                <a:lnTo>
                  <a:pt x="0" y="301"/>
                </a:lnTo>
                <a:lnTo>
                  <a:pt x="102" y="301"/>
                </a:lnTo>
                <a:lnTo>
                  <a:pt x="102" y="441"/>
                </a:lnTo>
                <a:lnTo>
                  <a:pt x="0" y="441"/>
                </a:lnTo>
                <a:moveTo>
                  <a:pt x="0" y="207"/>
                </a:moveTo>
                <a:cubicBezTo>
                  <a:pt x="2" y="141"/>
                  <a:pt x="28" y="88"/>
                  <a:pt x="80" y="47"/>
                </a:cubicBezTo>
                <a:lnTo>
                  <a:pt x="144" y="127"/>
                </a:lnTo>
                <a:cubicBezTo>
                  <a:pt x="117" y="148"/>
                  <a:pt x="103" y="176"/>
                  <a:pt x="102" y="210"/>
                </a:cubicBezTo>
                <a:lnTo>
                  <a:pt x="0" y="207"/>
                </a:lnTo>
                <a:moveTo>
                  <a:pt x="193" y="1"/>
                </a:moveTo>
                <a:cubicBezTo>
                  <a:pt x="200" y="0"/>
                  <a:pt x="206" y="0"/>
                  <a:pt x="213" y="0"/>
                </a:cubicBezTo>
                <a:lnTo>
                  <a:pt x="353" y="0"/>
                </a:lnTo>
                <a:lnTo>
                  <a:pt x="353" y="102"/>
                </a:lnTo>
                <a:lnTo>
                  <a:pt x="213" y="102"/>
                </a:lnTo>
                <a:cubicBezTo>
                  <a:pt x="210" y="102"/>
                  <a:pt x="206" y="102"/>
                  <a:pt x="203" y="103"/>
                </a:cubicBezTo>
                <a:lnTo>
                  <a:pt x="193" y="1"/>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53" name="フリーフォーム: 図形 252"/>
          <p:cNvSpPr/>
          <p:nvPr/>
        </p:nvSpPr>
        <p:spPr>
          <a:xfrm>
            <a:off x="5434560" y="3377880"/>
            <a:ext cx="4974480" cy="31680"/>
          </a:xfrm>
          <a:custGeom>
            <a:avLst/>
            <a:gdLst/>
            <a:ahLst/>
            <a:cxnLst/>
            <a:rect l="0" t="0" r="r" b="b"/>
            <a:pathLst>
              <a:path w="13818" h="88">
                <a:moveTo>
                  <a:pt x="33" y="0"/>
                </a:moveTo>
                <a:cubicBezTo>
                  <a:pt x="55" y="23"/>
                  <a:pt x="82" y="36"/>
                  <a:pt x="112" y="40"/>
                </a:cubicBezTo>
                <a:lnTo>
                  <a:pt x="106" y="87"/>
                </a:lnTo>
                <a:cubicBezTo>
                  <a:pt x="90" y="85"/>
                  <a:pt x="75" y="80"/>
                  <a:pt x="60" y="74"/>
                </a:cubicBezTo>
                <a:cubicBezTo>
                  <a:pt x="37" y="65"/>
                  <a:pt x="17" y="50"/>
                  <a:pt x="0" y="33"/>
                </a:cubicBezTo>
                <a:lnTo>
                  <a:pt x="33" y="0"/>
                </a:lnTo>
                <a:moveTo>
                  <a:pt x="340" y="41"/>
                </a:moveTo>
                <a:lnTo>
                  <a:pt x="340" y="88"/>
                </a:lnTo>
                <a:lnTo>
                  <a:pt x="201" y="88"/>
                </a:lnTo>
                <a:lnTo>
                  <a:pt x="201" y="41"/>
                </a:lnTo>
                <a:lnTo>
                  <a:pt x="340" y="41"/>
                </a:lnTo>
                <a:moveTo>
                  <a:pt x="573" y="41"/>
                </a:moveTo>
                <a:lnTo>
                  <a:pt x="573" y="88"/>
                </a:lnTo>
                <a:lnTo>
                  <a:pt x="433" y="88"/>
                </a:lnTo>
                <a:lnTo>
                  <a:pt x="433" y="41"/>
                </a:lnTo>
                <a:lnTo>
                  <a:pt x="573" y="41"/>
                </a:lnTo>
                <a:moveTo>
                  <a:pt x="805" y="41"/>
                </a:moveTo>
                <a:lnTo>
                  <a:pt x="805" y="88"/>
                </a:lnTo>
                <a:lnTo>
                  <a:pt x="666" y="88"/>
                </a:lnTo>
                <a:lnTo>
                  <a:pt x="666" y="41"/>
                </a:lnTo>
                <a:lnTo>
                  <a:pt x="805" y="41"/>
                </a:lnTo>
                <a:moveTo>
                  <a:pt x="1037" y="41"/>
                </a:moveTo>
                <a:lnTo>
                  <a:pt x="1037" y="88"/>
                </a:lnTo>
                <a:lnTo>
                  <a:pt x="898" y="88"/>
                </a:lnTo>
                <a:lnTo>
                  <a:pt x="898" y="41"/>
                </a:lnTo>
                <a:lnTo>
                  <a:pt x="1037" y="41"/>
                </a:lnTo>
                <a:moveTo>
                  <a:pt x="1269" y="41"/>
                </a:moveTo>
                <a:lnTo>
                  <a:pt x="1269" y="88"/>
                </a:lnTo>
                <a:lnTo>
                  <a:pt x="1130" y="88"/>
                </a:lnTo>
                <a:lnTo>
                  <a:pt x="1130" y="41"/>
                </a:lnTo>
                <a:lnTo>
                  <a:pt x="1269" y="41"/>
                </a:lnTo>
                <a:moveTo>
                  <a:pt x="1502" y="41"/>
                </a:moveTo>
                <a:lnTo>
                  <a:pt x="1502" y="88"/>
                </a:lnTo>
                <a:lnTo>
                  <a:pt x="1362" y="88"/>
                </a:lnTo>
                <a:lnTo>
                  <a:pt x="1362" y="41"/>
                </a:lnTo>
                <a:lnTo>
                  <a:pt x="1502" y="41"/>
                </a:lnTo>
                <a:moveTo>
                  <a:pt x="1734" y="41"/>
                </a:moveTo>
                <a:lnTo>
                  <a:pt x="1734" y="88"/>
                </a:lnTo>
                <a:lnTo>
                  <a:pt x="1595" y="88"/>
                </a:lnTo>
                <a:lnTo>
                  <a:pt x="1595" y="41"/>
                </a:lnTo>
                <a:lnTo>
                  <a:pt x="1734" y="41"/>
                </a:lnTo>
                <a:moveTo>
                  <a:pt x="1966" y="41"/>
                </a:moveTo>
                <a:lnTo>
                  <a:pt x="1966" y="88"/>
                </a:lnTo>
                <a:lnTo>
                  <a:pt x="1827" y="88"/>
                </a:lnTo>
                <a:lnTo>
                  <a:pt x="1827" y="41"/>
                </a:lnTo>
                <a:lnTo>
                  <a:pt x="1966" y="41"/>
                </a:lnTo>
                <a:moveTo>
                  <a:pt x="2199" y="41"/>
                </a:moveTo>
                <a:lnTo>
                  <a:pt x="2199" y="88"/>
                </a:lnTo>
                <a:lnTo>
                  <a:pt x="2059" y="88"/>
                </a:lnTo>
                <a:lnTo>
                  <a:pt x="2059" y="41"/>
                </a:lnTo>
                <a:lnTo>
                  <a:pt x="2199" y="41"/>
                </a:lnTo>
                <a:moveTo>
                  <a:pt x="2431" y="41"/>
                </a:moveTo>
                <a:lnTo>
                  <a:pt x="2431" y="88"/>
                </a:lnTo>
                <a:lnTo>
                  <a:pt x="2292" y="88"/>
                </a:lnTo>
                <a:lnTo>
                  <a:pt x="2292" y="41"/>
                </a:lnTo>
                <a:lnTo>
                  <a:pt x="2431" y="41"/>
                </a:lnTo>
                <a:moveTo>
                  <a:pt x="2663" y="41"/>
                </a:moveTo>
                <a:lnTo>
                  <a:pt x="2663" y="88"/>
                </a:lnTo>
                <a:lnTo>
                  <a:pt x="2524" y="88"/>
                </a:lnTo>
                <a:lnTo>
                  <a:pt x="2524" y="41"/>
                </a:lnTo>
                <a:lnTo>
                  <a:pt x="2663" y="41"/>
                </a:lnTo>
                <a:moveTo>
                  <a:pt x="2895" y="41"/>
                </a:moveTo>
                <a:lnTo>
                  <a:pt x="2895" y="88"/>
                </a:lnTo>
                <a:lnTo>
                  <a:pt x="2756" y="88"/>
                </a:lnTo>
                <a:lnTo>
                  <a:pt x="2756" y="41"/>
                </a:lnTo>
                <a:lnTo>
                  <a:pt x="2895" y="41"/>
                </a:lnTo>
                <a:moveTo>
                  <a:pt x="3128" y="41"/>
                </a:moveTo>
                <a:lnTo>
                  <a:pt x="3128" y="88"/>
                </a:lnTo>
                <a:lnTo>
                  <a:pt x="2988" y="88"/>
                </a:lnTo>
                <a:lnTo>
                  <a:pt x="2988" y="41"/>
                </a:lnTo>
                <a:lnTo>
                  <a:pt x="3128" y="41"/>
                </a:lnTo>
                <a:moveTo>
                  <a:pt x="3360" y="41"/>
                </a:moveTo>
                <a:lnTo>
                  <a:pt x="3360" y="88"/>
                </a:lnTo>
                <a:lnTo>
                  <a:pt x="3221" y="88"/>
                </a:lnTo>
                <a:lnTo>
                  <a:pt x="3221" y="41"/>
                </a:lnTo>
                <a:lnTo>
                  <a:pt x="3360" y="41"/>
                </a:lnTo>
                <a:moveTo>
                  <a:pt x="3592" y="41"/>
                </a:moveTo>
                <a:lnTo>
                  <a:pt x="3592" y="88"/>
                </a:lnTo>
                <a:lnTo>
                  <a:pt x="3453" y="88"/>
                </a:lnTo>
                <a:lnTo>
                  <a:pt x="3453" y="41"/>
                </a:lnTo>
                <a:lnTo>
                  <a:pt x="3592" y="41"/>
                </a:lnTo>
                <a:moveTo>
                  <a:pt x="3824" y="41"/>
                </a:moveTo>
                <a:lnTo>
                  <a:pt x="3824" y="88"/>
                </a:lnTo>
                <a:lnTo>
                  <a:pt x="3685" y="88"/>
                </a:lnTo>
                <a:lnTo>
                  <a:pt x="3685" y="41"/>
                </a:lnTo>
                <a:lnTo>
                  <a:pt x="3824" y="41"/>
                </a:lnTo>
                <a:moveTo>
                  <a:pt x="4057" y="41"/>
                </a:moveTo>
                <a:lnTo>
                  <a:pt x="4057" y="88"/>
                </a:lnTo>
                <a:lnTo>
                  <a:pt x="3917" y="88"/>
                </a:lnTo>
                <a:lnTo>
                  <a:pt x="3917" y="41"/>
                </a:lnTo>
                <a:lnTo>
                  <a:pt x="4057" y="41"/>
                </a:lnTo>
                <a:moveTo>
                  <a:pt x="4289" y="41"/>
                </a:moveTo>
                <a:lnTo>
                  <a:pt x="4289" y="88"/>
                </a:lnTo>
                <a:lnTo>
                  <a:pt x="4150" y="88"/>
                </a:lnTo>
                <a:lnTo>
                  <a:pt x="4150" y="41"/>
                </a:lnTo>
                <a:lnTo>
                  <a:pt x="4289" y="41"/>
                </a:lnTo>
                <a:moveTo>
                  <a:pt x="4521" y="41"/>
                </a:moveTo>
                <a:lnTo>
                  <a:pt x="4521" y="88"/>
                </a:lnTo>
                <a:lnTo>
                  <a:pt x="4382" y="88"/>
                </a:lnTo>
                <a:lnTo>
                  <a:pt x="4382" y="41"/>
                </a:lnTo>
                <a:lnTo>
                  <a:pt x="4521" y="41"/>
                </a:lnTo>
                <a:moveTo>
                  <a:pt x="4753" y="41"/>
                </a:moveTo>
                <a:lnTo>
                  <a:pt x="4753" y="88"/>
                </a:lnTo>
                <a:lnTo>
                  <a:pt x="4614" y="88"/>
                </a:lnTo>
                <a:lnTo>
                  <a:pt x="4614" y="41"/>
                </a:lnTo>
                <a:lnTo>
                  <a:pt x="4753" y="41"/>
                </a:lnTo>
                <a:moveTo>
                  <a:pt x="4986" y="41"/>
                </a:moveTo>
                <a:lnTo>
                  <a:pt x="4986" y="88"/>
                </a:lnTo>
                <a:lnTo>
                  <a:pt x="4846" y="88"/>
                </a:lnTo>
                <a:lnTo>
                  <a:pt x="4846" y="41"/>
                </a:lnTo>
                <a:lnTo>
                  <a:pt x="4986" y="41"/>
                </a:lnTo>
                <a:moveTo>
                  <a:pt x="5218" y="41"/>
                </a:moveTo>
                <a:lnTo>
                  <a:pt x="5218" y="88"/>
                </a:lnTo>
                <a:lnTo>
                  <a:pt x="5079" y="88"/>
                </a:lnTo>
                <a:lnTo>
                  <a:pt x="5079" y="41"/>
                </a:lnTo>
                <a:lnTo>
                  <a:pt x="5218" y="41"/>
                </a:lnTo>
                <a:moveTo>
                  <a:pt x="5450" y="41"/>
                </a:moveTo>
                <a:lnTo>
                  <a:pt x="5450" y="88"/>
                </a:lnTo>
                <a:lnTo>
                  <a:pt x="5311" y="88"/>
                </a:lnTo>
                <a:lnTo>
                  <a:pt x="5311" y="41"/>
                </a:lnTo>
                <a:lnTo>
                  <a:pt x="5450" y="41"/>
                </a:lnTo>
                <a:moveTo>
                  <a:pt x="5684" y="41"/>
                </a:moveTo>
                <a:lnTo>
                  <a:pt x="5684" y="88"/>
                </a:lnTo>
                <a:lnTo>
                  <a:pt x="5543" y="88"/>
                </a:lnTo>
                <a:lnTo>
                  <a:pt x="5543" y="41"/>
                </a:lnTo>
                <a:lnTo>
                  <a:pt x="5684" y="41"/>
                </a:lnTo>
                <a:moveTo>
                  <a:pt x="5916" y="41"/>
                </a:moveTo>
                <a:lnTo>
                  <a:pt x="5916" y="88"/>
                </a:lnTo>
                <a:lnTo>
                  <a:pt x="5777" y="88"/>
                </a:lnTo>
                <a:lnTo>
                  <a:pt x="5777" y="41"/>
                </a:lnTo>
                <a:lnTo>
                  <a:pt x="5916" y="41"/>
                </a:lnTo>
                <a:moveTo>
                  <a:pt x="6148" y="41"/>
                </a:moveTo>
                <a:lnTo>
                  <a:pt x="6148" y="88"/>
                </a:lnTo>
                <a:lnTo>
                  <a:pt x="6009" y="88"/>
                </a:lnTo>
                <a:lnTo>
                  <a:pt x="6009" y="41"/>
                </a:lnTo>
                <a:lnTo>
                  <a:pt x="6148" y="41"/>
                </a:lnTo>
                <a:moveTo>
                  <a:pt x="6380" y="41"/>
                </a:moveTo>
                <a:lnTo>
                  <a:pt x="6380" y="88"/>
                </a:lnTo>
                <a:lnTo>
                  <a:pt x="6241" y="88"/>
                </a:lnTo>
                <a:lnTo>
                  <a:pt x="6241" y="41"/>
                </a:lnTo>
                <a:lnTo>
                  <a:pt x="6380" y="41"/>
                </a:lnTo>
                <a:moveTo>
                  <a:pt x="6613" y="41"/>
                </a:moveTo>
                <a:lnTo>
                  <a:pt x="6613" y="88"/>
                </a:lnTo>
                <a:lnTo>
                  <a:pt x="6473" y="88"/>
                </a:lnTo>
                <a:lnTo>
                  <a:pt x="6473" y="41"/>
                </a:lnTo>
                <a:lnTo>
                  <a:pt x="6613" y="41"/>
                </a:lnTo>
                <a:moveTo>
                  <a:pt x="6845" y="41"/>
                </a:moveTo>
                <a:lnTo>
                  <a:pt x="6845" y="88"/>
                </a:lnTo>
                <a:lnTo>
                  <a:pt x="6706" y="88"/>
                </a:lnTo>
                <a:lnTo>
                  <a:pt x="6706" y="41"/>
                </a:lnTo>
                <a:lnTo>
                  <a:pt x="6845" y="41"/>
                </a:lnTo>
                <a:moveTo>
                  <a:pt x="7077" y="41"/>
                </a:moveTo>
                <a:lnTo>
                  <a:pt x="7077" y="88"/>
                </a:lnTo>
                <a:lnTo>
                  <a:pt x="6938" y="88"/>
                </a:lnTo>
                <a:lnTo>
                  <a:pt x="6938" y="41"/>
                </a:lnTo>
                <a:lnTo>
                  <a:pt x="7077" y="41"/>
                </a:lnTo>
                <a:moveTo>
                  <a:pt x="7309" y="41"/>
                </a:moveTo>
                <a:lnTo>
                  <a:pt x="7309" y="88"/>
                </a:lnTo>
                <a:lnTo>
                  <a:pt x="7170" y="88"/>
                </a:lnTo>
                <a:lnTo>
                  <a:pt x="7170" y="41"/>
                </a:lnTo>
                <a:lnTo>
                  <a:pt x="7309" y="41"/>
                </a:lnTo>
                <a:moveTo>
                  <a:pt x="7542" y="41"/>
                </a:moveTo>
                <a:lnTo>
                  <a:pt x="7542" y="88"/>
                </a:lnTo>
                <a:lnTo>
                  <a:pt x="7402" y="88"/>
                </a:lnTo>
                <a:lnTo>
                  <a:pt x="7402" y="41"/>
                </a:lnTo>
                <a:lnTo>
                  <a:pt x="7542" y="41"/>
                </a:lnTo>
                <a:moveTo>
                  <a:pt x="7774" y="41"/>
                </a:moveTo>
                <a:lnTo>
                  <a:pt x="7774" y="88"/>
                </a:lnTo>
                <a:lnTo>
                  <a:pt x="7635" y="88"/>
                </a:lnTo>
                <a:lnTo>
                  <a:pt x="7635" y="41"/>
                </a:lnTo>
                <a:lnTo>
                  <a:pt x="7774" y="41"/>
                </a:lnTo>
                <a:moveTo>
                  <a:pt x="8006" y="41"/>
                </a:moveTo>
                <a:lnTo>
                  <a:pt x="8006" y="88"/>
                </a:lnTo>
                <a:lnTo>
                  <a:pt x="7867" y="88"/>
                </a:lnTo>
                <a:lnTo>
                  <a:pt x="7867" y="41"/>
                </a:lnTo>
                <a:lnTo>
                  <a:pt x="8006" y="41"/>
                </a:lnTo>
                <a:moveTo>
                  <a:pt x="8239" y="41"/>
                </a:moveTo>
                <a:lnTo>
                  <a:pt x="8239" y="88"/>
                </a:lnTo>
                <a:lnTo>
                  <a:pt x="8099" y="88"/>
                </a:lnTo>
                <a:lnTo>
                  <a:pt x="8099" y="41"/>
                </a:lnTo>
                <a:lnTo>
                  <a:pt x="8239" y="41"/>
                </a:lnTo>
                <a:moveTo>
                  <a:pt x="8471" y="41"/>
                </a:moveTo>
                <a:lnTo>
                  <a:pt x="8471" y="88"/>
                </a:lnTo>
                <a:lnTo>
                  <a:pt x="8331" y="88"/>
                </a:lnTo>
                <a:lnTo>
                  <a:pt x="8331" y="41"/>
                </a:lnTo>
                <a:lnTo>
                  <a:pt x="8471" y="41"/>
                </a:lnTo>
                <a:moveTo>
                  <a:pt x="8703" y="41"/>
                </a:moveTo>
                <a:lnTo>
                  <a:pt x="8703" y="88"/>
                </a:lnTo>
                <a:lnTo>
                  <a:pt x="8564" y="88"/>
                </a:lnTo>
                <a:lnTo>
                  <a:pt x="8564" y="41"/>
                </a:lnTo>
                <a:lnTo>
                  <a:pt x="8703" y="41"/>
                </a:lnTo>
                <a:moveTo>
                  <a:pt x="8935" y="41"/>
                </a:moveTo>
                <a:lnTo>
                  <a:pt x="8935" y="88"/>
                </a:lnTo>
                <a:lnTo>
                  <a:pt x="8796" y="88"/>
                </a:lnTo>
                <a:lnTo>
                  <a:pt x="8796" y="41"/>
                </a:lnTo>
                <a:lnTo>
                  <a:pt x="8935" y="41"/>
                </a:lnTo>
                <a:moveTo>
                  <a:pt x="9168" y="41"/>
                </a:moveTo>
                <a:lnTo>
                  <a:pt x="9168" y="88"/>
                </a:lnTo>
                <a:lnTo>
                  <a:pt x="9028" y="88"/>
                </a:lnTo>
                <a:lnTo>
                  <a:pt x="9028" y="41"/>
                </a:lnTo>
                <a:lnTo>
                  <a:pt x="9168" y="41"/>
                </a:lnTo>
                <a:moveTo>
                  <a:pt x="9400" y="41"/>
                </a:moveTo>
                <a:lnTo>
                  <a:pt x="9400" y="88"/>
                </a:lnTo>
                <a:lnTo>
                  <a:pt x="9261" y="88"/>
                </a:lnTo>
                <a:lnTo>
                  <a:pt x="9261" y="41"/>
                </a:lnTo>
                <a:lnTo>
                  <a:pt x="9400" y="41"/>
                </a:lnTo>
                <a:moveTo>
                  <a:pt x="9632" y="41"/>
                </a:moveTo>
                <a:lnTo>
                  <a:pt x="9632" y="88"/>
                </a:lnTo>
                <a:lnTo>
                  <a:pt x="9493" y="88"/>
                </a:lnTo>
                <a:lnTo>
                  <a:pt x="9493" y="41"/>
                </a:lnTo>
                <a:lnTo>
                  <a:pt x="9632" y="41"/>
                </a:lnTo>
                <a:moveTo>
                  <a:pt x="9864" y="41"/>
                </a:moveTo>
                <a:lnTo>
                  <a:pt x="9864" y="88"/>
                </a:lnTo>
                <a:lnTo>
                  <a:pt x="9725" y="88"/>
                </a:lnTo>
                <a:lnTo>
                  <a:pt x="9725" y="41"/>
                </a:lnTo>
                <a:lnTo>
                  <a:pt x="9864" y="41"/>
                </a:lnTo>
                <a:moveTo>
                  <a:pt x="10097" y="41"/>
                </a:moveTo>
                <a:lnTo>
                  <a:pt x="10097" y="88"/>
                </a:lnTo>
                <a:lnTo>
                  <a:pt x="9957" y="88"/>
                </a:lnTo>
                <a:lnTo>
                  <a:pt x="9957" y="41"/>
                </a:lnTo>
                <a:lnTo>
                  <a:pt x="10097" y="41"/>
                </a:lnTo>
                <a:moveTo>
                  <a:pt x="10329" y="41"/>
                </a:moveTo>
                <a:lnTo>
                  <a:pt x="10329" y="88"/>
                </a:lnTo>
                <a:lnTo>
                  <a:pt x="10190" y="88"/>
                </a:lnTo>
                <a:lnTo>
                  <a:pt x="10190" y="41"/>
                </a:lnTo>
                <a:lnTo>
                  <a:pt x="10329" y="41"/>
                </a:lnTo>
                <a:moveTo>
                  <a:pt x="10561" y="41"/>
                </a:moveTo>
                <a:lnTo>
                  <a:pt x="10561" y="88"/>
                </a:lnTo>
                <a:lnTo>
                  <a:pt x="10422" y="88"/>
                </a:lnTo>
                <a:lnTo>
                  <a:pt x="10422" y="41"/>
                </a:lnTo>
                <a:lnTo>
                  <a:pt x="10561" y="41"/>
                </a:lnTo>
                <a:moveTo>
                  <a:pt x="10793" y="41"/>
                </a:moveTo>
                <a:lnTo>
                  <a:pt x="10793" y="88"/>
                </a:lnTo>
                <a:lnTo>
                  <a:pt x="10654" y="88"/>
                </a:lnTo>
                <a:lnTo>
                  <a:pt x="10654" y="41"/>
                </a:lnTo>
                <a:lnTo>
                  <a:pt x="10793" y="41"/>
                </a:lnTo>
                <a:moveTo>
                  <a:pt x="11026" y="41"/>
                </a:moveTo>
                <a:lnTo>
                  <a:pt x="11026" y="88"/>
                </a:lnTo>
                <a:lnTo>
                  <a:pt x="10886" y="88"/>
                </a:lnTo>
                <a:lnTo>
                  <a:pt x="10886" y="41"/>
                </a:lnTo>
                <a:lnTo>
                  <a:pt x="11026" y="41"/>
                </a:lnTo>
                <a:moveTo>
                  <a:pt x="11258" y="41"/>
                </a:moveTo>
                <a:lnTo>
                  <a:pt x="11258" y="88"/>
                </a:lnTo>
                <a:lnTo>
                  <a:pt x="11119" y="88"/>
                </a:lnTo>
                <a:lnTo>
                  <a:pt x="11119" y="41"/>
                </a:lnTo>
                <a:lnTo>
                  <a:pt x="11258" y="41"/>
                </a:lnTo>
                <a:moveTo>
                  <a:pt x="11490" y="41"/>
                </a:moveTo>
                <a:lnTo>
                  <a:pt x="11490" y="88"/>
                </a:lnTo>
                <a:lnTo>
                  <a:pt x="11351" y="88"/>
                </a:lnTo>
                <a:lnTo>
                  <a:pt x="11351" y="41"/>
                </a:lnTo>
                <a:lnTo>
                  <a:pt x="11490" y="41"/>
                </a:lnTo>
                <a:moveTo>
                  <a:pt x="11723" y="41"/>
                </a:moveTo>
                <a:lnTo>
                  <a:pt x="11723" y="88"/>
                </a:lnTo>
                <a:lnTo>
                  <a:pt x="11583" y="88"/>
                </a:lnTo>
                <a:lnTo>
                  <a:pt x="11583" y="41"/>
                </a:lnTo>
                <a:lnTo>
                  <a:pt x="11723" y="41"/>
                </a:lnTo>
                <a:moveTo>
                  <a:pt x="11955" y="41"/>
                </a:moveTo>
                <a:lnTo>
                  <a:pt x="11955" y="88"/>
                </a:lnTo>
                <a:lnTo>
                  <a:pt x="11816" y="88"/>
                </a:lnTo>
                <a:lnTo>
                  <a:pt x="11816" y="41"/>
                </a:lnTo>
                <a:lnTo>
                  <a:pt x="11955" y="41"/>
                </a:lnTo>
                <a:moveTo>
                  <a:pt x="12187" y="41"/>
                </a:moveTo>
                <a:lnTo>
                  <a:pt x="12187" y="88"/>
                </a:lnTo>
                <a:lnTo>
                  <a:pt x="12048" y="88"/>
                </a:lnTo>
                <a:lnTo>
                  <a:pt x="12048" y="41"/>
                </a:lnTo>
                <a:lnTo>
                  <a:pt x="12187" y="41"/>
                </a:lnTo>
                <a:moveTo>
                  <a:pt x="12419" y="41"/>
                </a:moveTo>
                <a:lnTo>
                  <a:pt x="12419" y="88"/>
                </a:lnTo>
                <a:lnTo>
                  <a:pt x="12280" y="88"/>
                </a:lnTo>
                <a:lnTo>
                  <a:pt x="12280" y="41"/>
                </a:lnTo>
                <a:lnTo>
                  <a:pt x="12419" y="41"/>
                </a:lnTo>
                <a:moveTo>
                  <a:pt x="12652" y="41"/>
                </a:moveTo>
                <a:lnTo>
                  <a:pt x="12652" y="88"/>
                </a:lnTo>
                <a:lnTo>
                  <a:pt x="12512" y="88"/>
                </a:lnTo>
                <a:lnTo>
                  <a:pt x="12512" y="41"/>
                </a:lnTo>
                <a:lnTo>
                  <a:pt x="12652" y="41"/>
                </a:lnTo>
                <a:moveTo>
                  <a:pt x="12884" y="41"/>
                </a:moveTo>
                <a:lnTo>
                  <a:pt x="12884" y="88"/>
                </a:lnTo>
                <a:lnTo>
                  <a:pt x="12745" y="88"/>
                </a:lnTo>
                <a:lnTo>
                  <a:pt x="12745" y="41"/>
                </a:lnTo>
                <a:lnTo>
                  <a:pt x="12884" y="41"/>
                </a:lnTo>
                <a:moveTo>
                  <a:pt x="13116" y="41"/>
                </a:moveTo>
                <a:lnTo>
                  <a:pt x="13116" y="88"/>
                </a:lnTo>
                <a:lnTo>
                  <a:pt x="12977" y="88"/>
                </a:lnTo>
                <a:lnTo>
                  <a:pt x="12977" y="41"/>
                </a:lnTo>
                <a:lnTo>
                  <a:pt x="13116" y="41"/>
                </a:lnTo>
                <a:moveTo>
                  <a:pt x="13348" y="41"/>
                </a:moveTo>
                <a:lnTo>
                  <a:pt x="13348" y="88"/>
                </a:lnTo>
                <a:lnTo>
                  <a:pt x="13209" y="88"/>
                </a:lnTo>
                <a:lnTo>
                  <a:pt x="13209" y="41"/>
                </a:lnTo>
                <a:lnTo>
                  <a:pt x="13348" y="41"/>
                </a:lnTo>
                <a:moveTo>
                  <a:pt x="13581" y="41"/>
                </a:moveTo>
                <a:lnTo>
                  <a:pt x="13581" y="88"/>
                </a:lnTo>
                <a:lnTo>
                  <a:pt x="13441" y="88"/>
                </a:lnTo>
                <a:lnTo>
                  <a:pt x="13441" y="41"/>
                </a:lnTo>
                <a:lnTo>
                  <a:pt x="13581" y="41"/>
                </a:lnTo>
                <a:moveTo>
                  <a:pt x="13689" y="41"/>
                </a:moveTo>
                <a:cubicBezTo>
                  <a:pt x="13726" y="41"/>
                  <a:pt x="13759" y="28"/>
                  <a:pt x="13786" y="2"/>
                </a:cubicBezTo>
                <a:lnTo>
                  <a:pt x="13818" y="35"/>
                </a:lnTo>
                <a:cubicBezTo>
                  <a:pt x="13801" y="52"/>
                  <a:pt x="13782" y="65"/>
                  <a:pt x="13760" y="74"/>
                </a:cubicBezTo>
                <a:cubicBezTo>
                  <a:pt x="13737" y="84"/>
                  <a:pt x="13713" y="88"/>
                  <a:pt x="13689" y="88"/>
                </a:cubicBezTo>
                <a:lnTo>
                  <a:pt x="13674" y="88"/>
                </a:lnTo>
                <a:lnTo>
                  <a:pt x="13674" y="41"/>
                </a:lnTo>
                <a:lnTo>
                  <a:pt x="13689" y="41"/>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54" name="フリーフォーム: 図形 253"/>
          <p:cNvSpPr/>
          <p:nvPr/>
        </p:nvSpPr>
        <p:spPr>
          <a:xfrm>
            <a:off x="5405040" y="1260000"/>
            <a:ext cx="5034240" cy="2159640"/>
          </a:xfrm>
          <a:custGeom>
            <a:avLst/>
            <a:gdLst/>
            <a:ahLst/>
            <a:cxnLst/>
            <a:rect l="0" t="0" r="r" b="b"/>
            <a:pathLst>
              <a:path w="13984" h="5999">
                <a:moveTo>
                  <a:pt x="446" y="0"/>
                </a:moveTo>
                <a:lnTo>
                  <a:pt x="585" y="0"/>
                </a:lnTo>
                <a:lnTo>
                  <a:pt x="585" y="102"/>
                </a:lnTo>
                <a:lnTo>
                  <a:pt x="446" y="102"/>
                </a:lnTo>
                <a:lnTo>
                  <a:pt x="446" y="0"/>
                </a:lnTo>
                <a:moveTo>
                  <a:pt x="678" y="0"/>
                </a:moveTo>
                <a:lnTo>
                  <a:pt x="817" y="0"/>
                </a:lnTo>
                <a:lnTo>
                  <a:pt x="817" y="102"/>
                </a:lnTo>
                <a:lnTo>
                  <a:pt x="678" y="102"/>
                </a:lnTo>
                <a:lnTo>
                  <a:pt x="678" y="0"/>
                </a:lnTo>
                <a:moveTo>
                  <a:pt x="910" y="0"/>
                </a:moveTo>
                <a:lnTo>
                  <a:pt x="1049" y="0"/>
                </a:lnTo>
                <a:lnTo>
                  <a:pt x="1049" y="102"/>
                </a:lnTo>
                <a:lnTo>
                  <a:pt x="910" y="102"/>
                </a:lnTo>
                <a:lnTo>
                  <a:pt x="910" y="0"/>
                </a:lnTo>
                <a:moveTo>
                  <a:pt x="1142" y="0"/>
                </a:moveTo>
                <a:lnTo>
                  <a:pt x="1282" y="0"/>
                </a:lnTo>
                <a:lnTo>
                  <a:pt x="1282" y="102"/>
                </a:lnTo>
                <a:lnTo>
                  <a:pt x="1142" y="102"/>
                </a:lnTo>
                <a:lnTo>
                  <a:pt x="1142" y="0"/>
                </a:lnTo>
                <a:moveTo>
                  <a:pt x="1375" y="0"/>
                </a:moveTo>
                <a:lnTo>
                  <a:pt x="1514" y="0"/>
                </a:lnTo>
                <a:lnTo>
                  <a:pt x="1514" y="102"/>
                </a:lnTo>
                <a:lnTo>
                  <a:pt x="1375" y="102"/>
                </a:lnTo>
                <a:lnTo>
                  <a:pt x="1375" y="0"/>
                </a:lnTo>
                <a:moveTo>
                  <a:pt x="1607" y="0"/>
                </a:moveTo>
                <a:lnTo>
                  <a:pt x="1746" y="0"/>
                </a:lnTo>
                <a:lnTo>
                  <a:pt x="1746" y="102"/>
                </a:lnTo>
                <a:lnTo>
                  <a:pt x="1607" y="102"/>
                </a:lnTo>
                <a:lnTo>
                  <a:pt x="1607" y="0"/>
                </a:lnTo>
                <a:moveTo>
                  <a:pt x="1839" y="0"/>
                </a:moveTo>
                <a:lnTo>
                  <a:pt x="1978" y="0"/>
                </a:lnTo>
                <a:lnTo>
                  <a:pt x="1978" y="102"/>
                </a:lnTo>
                <a:lnTo>
                  <a:pt x="1839" y="102"/>
                </a:lnTo>
                <a:lnTo>
                  <a:pt x="1839" y="0"/>
                </a:lnTo>
                <a:moveTo>
                  <a:pt x="2071" y="0"/>
                </a:moveTo>
                <a:lnTo>
                  <a:pt x="2211" y="0"/>
                </a:lnTo>
                <a:lnTo>
                  <a:pt x="2211" y="102"/>
                </a:lnTo>
                <a:lnTo>
                  <a:pt x="2071" y="102"/>
                </a:lnTo>
                <a:lnTo>
                  <a:pt x="2071" y="0"/>
                </a:lnTo>
                <a:moveTo>
                  <a:pt x="2304" y="0"/>
                </a:moveTo>
                <a:lnTo>
                  <a:pt x="2443" y="0"/>
                </a:lnTo>
                <a:lnTo>
                  <a:pt x="2443" y="102"/>
                </a:lnTo>
                <a:lnTo>
                  <a:pt x="2304" y="102"/>
                </a:lnTo>
                <a:lnTo>
                  <a:pt x="2304" y="0"/>
                </a:lnTo>
                <a:moveTo>
                  <a:pt x="2536" y="0"/>
                </a:moveTo>
                <a:lnTo>
                  <a:pt x="2675" y="0"/>
                </a:lnTo>
                <a:lnTo>
                  <a:pt x="2675" y="102"/>
                </a:lnTo>
                <a:lnTo>
                  <a:pt x="2536" y="102"/>
                </a:lnTo>
                <a:lnTo>
                  <a:pt x="2536" y="0"/>
                </a:lnTo>
                <a:moveTo>
                  <a:pt x="2768" y="0"/>
                </a:moveTo>
                <a:lnTo>
                  <a:pt x="2907" y="0"/>
                </a:lnTo>
                <a:lnTo>
                  <a:pt x="2907" y="102"/>
                </a:lnTo>
                <a:lnTo>
                  <a:pt x="2768" y="102"/>
                </a:lnTo>
                <a:lnTo>
                  <a:pt x="2768" y="0"/>
                </a:lnTo>
                <a:moveTo>
                  <a:pt x="3000" y="0"/>
                </a:moveTo>
                <a:lnTo>
                  <a:pt x="3140" y="0"/>
                </a:lnTo>
                <a:lnTo>
                  <a:pt x="3140" y="102"/>
                </a:lnTo>
                <a:lnTo>
                  <a:pt x="3000" y="102"/>
                </a:lnTo>
                <a:lnTo>
                  <a:pt x="3000" y="0"/>
                </a:lnTo>
                <a:moveTo>
                  <a:pt x="3233" y="0"/>
                </a:moveTo>
                <a:lnTo>
                  <a:pt x="3372" y="0"/>
                </a:lnTo>
                <a:lnTo>
                  <a:pt x="3372" y="102"/>
                </a:lnTo>
                <a:lnTo>
                  <a:pt x="3233" y="102"/>
                </a:lnTo>
                <a:lnTo>
                  <a:pt x="3233" y="0"/>
                </a:lnTo>
                <a:moveTo>
                  <a:pt x="3465" y="0"/>
                </a:moveTo>
                <a:lnTo>
                  <a:pt x="3604" y="0"/>
                </a:lnTo>
                <a:lnTo>
                  <a:pt x="3604" y="102"/>
                </a:lnTo>
                <a:lnTo>
                  <a:pt x="3465" y="102"/>
                </a:lnTo>
                <a:lnTo>
                  <a:pt x="3465" y="0"/>
                </a:lnTo>
                <a:moveTo>
                  <a:pt x="3697" y="0"/>
                </a:moveTo>
                <a:lnTo>
                  <a:pt x="3837" y="0"/>
                </a:lnTo>
                <a:lnTo>
                  <a:pt x="3837" y="102"/>
                </a:lnTo>
                <a:lnTo>
                  <a:pt x="3697" y="102"/>
                </a:lnTo>
                <a:lnTo>
                  <a:pt x="3697" y="0"/>
                </a:lnTo>
                <a:moveTo>
                  <a:pt x="3930" y="0"/>
                </a:moveTo>
                <a:lnTo>
                  <a:pt x="4069" y="0"/>
                </a:lnTo>
                <a:lnTo>
                  <a:pt x="4069" y="102"/>
                </a:lnTo>
                <a:lnTo>
                  <a:pt x="3930" y="102"/>
                </a:lnTo>
                <a:lnTo>
                  <a:pt x="3930" y="0"/>
                </a:lnTo>
                <a:moveTo>
                  <a:pt x="4162" y="0"/>
                </a:moveTo>
                <a:lnTo>
                  <a:pt x="4301" y="0"/>
                </a:lnTo>
                <a:lnTo>
                  <a:pt x="4301" y="102"/>
                </a:lnTo>
                <a:lnTo>
                  <a:pt x="4162" y="102"/>
                </a:lnTo>
                <a:lnTo>
                  <a:pt x="4162" y="0"/>
                </a:lnTo>
                <a:moveTo>
                  <a:pt x="4394" y="0"/>
                </a:moveTo>
                <a:lnTo>
                  <a:pt x="4533" y="0"/>
                </a:lnTo>
                <a:lnTo>
                  <a:pt x="4533" y="102"/>
                </a:lnTo>
                <a:lnTo>
                  <a:pt x="4394" y="102"/>
                </a:lnTo>
                <a:lnTo>
                  <a:pt x="4394" y="0"/>
                </a:lnTo>
                <a:moveTo>
                  <a:pt x="4626" y="0"/>
                </a:moveTo>
                <a:lnTo>
                  <a:pt x="4766" y="0"/>
                </a:lnTo>
                <a:lnTo>
                  <a:pt x="4766" y="102"/>
                </a:lnTo>
                <a:lnTo>
                  <a:pt x="4626" y="102"/>
                </a:lnTo>
                <a:lnTo>
                  <a:pt x="4626" y="0"/>
                </a:lnTo>
                <a:moveTo>
                  <a:pt x="4859" y="0"/>
                </a:moveTo>
                <a:lnTo>
                  <a:pt x="4998" y="0"/>
                </a:lnTo>
                <a:lnTo>
                  <a:pt x="4998" y="102"/>
                </a:lnTo>
                <a:lnTo>
                  <a:pt x="4859" y="102"/>
                </a:lnTo>
                <a:lnTo>
                  <a:pt x="4859" y="0"/>
                </a:lnTo>
                <a:moveTo>
                  <a:pt x="5091" y="0"/>
                </a:moveTo>
                <a:lnTo>
                  <a:pt x="5230" y="0"/>
                </a:lnTo>
                <a:lnTo>
                  <a:pt x="5230" y="102"/>
                </a:lnTo>
                <a:lnTo>
                  <a:pt x="5091" y="102"/>
                </a:lnTo>
                <a:lnTo>
                  <a:pt x="5091" y="0"/>
                </a:lnTo>
                <a:moveTo>
                  <a:pt x="5323" y="0"/>
                </a:moveTo>
                <a:lnTo>
                  <a:pt x="5462" y="0"/>
                </a:lnTo>
                <a:lnTo>
                  <a:pt x="5462" y="102"/>
                </a:lnTo>
                <a:lnTo>
                  <a:pt x="5323" y="102"/>
                </a:lnTo>
                <a:lnTo>
                  <a:pt x="5323" y="0"/>
                </a:lnTo>
                <a:moveTo>
                  <a:pt x="5555" y="0"/>
                </a:moveTo>
                <a:lnTo>
                  <a:pt x="5695" y="0"/>
                </a:lnTo>
                <a:lnTo>
                  <a:pt x="5695" y="102"/>
                </a:lnTo>
                <a:lnTo>
                  <a:pt x="5555" y="102"/>
                </a:lnTo>
                <a:lnTo>
                  <a:pt x="5555" y="0"/>
                </a:lnTo>
                <a:moveTo>
                  <a:pt x="5788" y="0"/>
                </a:moveTo>
                <a:lnTo>
                  <a:pt x="5927" y="0"/>
                </a:lnTo>
                <a:lnTo>
                  <a:pt x="5927" y="102"/>
                </a:lnTo>
                <a:lnTo>
                  <a:pt x="5788" y="102"/>
                </a:lnTo>
                <a:lnTo>
                  <a:pt x="5788" y="0"/>
                </a:lnTo>
                <a:moveTo>
                  <a:pt x="6021" y="0"/>
                </a:moveTo>
                <a:lnTo>
                  <a:pt x="6160" y="0"/>
                </a:lnTo>
                <a:lnTo>
                  <a:pt x="6160" y="102"/>
                </a:lnTo>
                <a:lnTo>
                  <a:pt x="6021" y="102"/>
                </a:lnTo>
                <a:lnTo>
                  <a:pt x="6021" y="0"/>
                </a:lnTo>
                <a:moveTo>
                  <a:pt x="6253" y="0"/>
                </a:moveTo>
                <a:lnTo>
                  <a:pt x="6393" y="0"/>
                </a:lnTo>
                <a:lnTo>
                  <a:pt x="6393" y="102"/>
                </a:lnTo>
                <a:lnTo>
                  <a:pt x="6253" y="102"/>
                </a:lnTo>
                <a:lnTo>
                  <a:pt x="6253" y="0"/>
                </a:lnTo>
                <a:moveTo>
                  <a:pt x="6485" y="0"/>
                </a:moveTo>
                <a:lnTo>
                  <a:pt x="6625" y="0"/>
                </a:lnTo>
                <a:lnTo>
                  <a:pt x="6625" y="102"/>
                </a:lnTo>
                <a:lnTo>
                  <a:pt x="6485" y="102"/>
                </a:lnTo>
                <a:lnTo>
                  <a:pt x="6485" y="0"/>
                </a:lnTo>
                <a:moveTo>
                  <a:pt x="6718" y="0"/>
                </a:moveTo>
                <a:lnTo>
                  <a:pt x="6857" y="0"/>
                </a:lnTo>
                <a:lnTo>
                  <a:pt x="6857" y="102"/>
                </a:lnTo>
                <a:lnTo>
                  <a:pt x="6718" y="102"/>
                </a:lnTo>
                <a:lnTo>
                  <a:pt x="6718" y="0"/>
                </a:lnTo>
                <a:moveTo>
                  <a:pt x="6950" y="0"/>
                </a:moveTo>
                <a:lnTo>
                  <a:pt x="7089" y="0"/>
                </a:lnTo>
                <a:lnTo>
                  <a:pt x="7089" y="102"/>
                </a:lnTo>
                <a:lnTo>
                  <a:pt x="6950" y="102"/>
                </a:lnTo>
                <a:lnTo>
                  <a:pt x="6950" y="0"/>
                </a:lnTo>
                <a:moveTo>
                  <a:pt x="7182" y="0"/>
                </a:moveTo>
                <a:lnTo>
                  <a:pt x="7322" y="0"/>
                </a:lnTo>
                <a:lnTo>
                  <a:pt x="7322" y="102"/>
                </a:lnTo>
                <a:lnTo>
                  <a:pt x="7182" y="102"/>
                </a:lnTo>
                <a:lnTo>
                  <a:pt x="7182" y="0"/>
                </a:lnTo>
                <a:moveTo>
                  <a:pt x="7415" y="0"/>
                </a:moveTo>
                <a:lnTo>
                  <a:pt x="7554" y="0"/>
                </a:lnTo>
                <a:lnTo>
                  <a:pt x="7554" y="102"/>
                </a:lnTo>
                <a:lnTo>
                  <a:pt x="7415" y="102"/>
                </a:lnTo>
                <a:lnTo>
                  <a:pt x="7415" y="0"/>
                </a:lnTo>
                <a:moveTo>
                  <a:pt x="7647" y="0"/>
                </a:moveTo>
                <a:lnTo>
                  <a:pt x="7786" y="0"/>
                </a:lnTo>
                <a:lnTo>
                  <a:pt x="7786" y="102"/>
                </a:lnTo>
                <a:lnTo>
                  <a:pt x="7647" y="102"/>
                </a:lnTo>
                <a:lnTo>
                  <a:pt x="7647" y="0"/>
                </a:lnTo>
                <a:moveTo>
                  <a:pt x="7879" y="0"/>
                </a:moveTo>
                <a:lnTo>
                  <a:pt x="8018" y="0"/>
                </a:lnTo>
                <a:lnTo>
                  <a:pt x="8018" y="102"/>
                </a:lnTo>
                <a:lnTo>
                  <a:pt x="7879" y="102"/>
                </a:lnTo>
                <a:lnTo>
                  <a:pt x="7879" y="0"/>
                </a:lnTo>
                <a:moveTo>
                  <a:pt x="8111" y="0"/>
                </a:moveTo>
                <a:lnTo>
                  <a:pt x="8251" y="0"/>
                </a:lnTo>
                <a:lnTo>
                  <a:pt x="8251" y="102"/>
                </a:lnTo>
                <a:lnTo>
                  <a:pt x="8111" y="102"/>
                </a:lnTo>
                <a:lnTo>
                  <a:pt x="8111" y="0"/>
                </a:lnTo>
                <a:moveTo>
                  <a:pt x="8344" y="0"/>
                </a:moveTo>
                <a:lnTo>
                  <a:pt x="8483" y="0"/>
                </a:lnTo>
                <a:lnTo>
                  <a:pt x="8483" y="102"/>
                </a:lnTo>
                <a:lnTo>
                  <a:pt x="8344" y="102"/>
                </a:lnTo>
                <a:lnTo>
                  <a:pt x="8344" y="0"/>
                </a:lnTo>
                <a:moveTo>
                  <a:pt x="8576" y="0"/>
                </a:moveTo>
                <a:lnTo>
                  <a:pt x="8715" y="0"/>
                </a:lnTo>
                <a:lnTo>
                  <a:pt x="8715" y="102"/>
                </a:lnTo>
                <a:lnTo>
                  <a:pt x="8576" y="102"/>
                </a:lnTo>
                <a:lnTo>
                  <a:pt x="8576" y="0"/>
                </a:lnTo>
                <a:moveTo>
                  <a:pt x="8808" y="0"/>
                </a:moveTo>
                <a:lnTo>
                  <a:pt x="8947" y="0"/>
                </a:lnTo>
                <a:lnTo>
                  <a:pt x="8947" y="102"/>
                </a:lnTo>
                <a:lnTo>
                  <a:pt x="8808" y="102"/>
                </a:lnTo>
                <a:lnTo>
                  <a:pt x="8808" y="0"/>
                </a:lnTo>
                <a:moveTo>
                  <a:pt x="9040" y="0"/>
                </a:moveTo>
                <a:lnTo>
                  <a:pt x="9180" y="0"/>
                </a:lnTo>
                <a:lnTo>
                  <a:pt x="9180" y="102"/>
                </a:lnTo>
                <a:lnTo>
                  <a:pt x="9040" y="102"/>
                </a:lnTo>
                <a:lnTo>
                  <a:pt x="9040" y="0"/>
                </a:lnTo>
                <a:moveTo>
                  <a:pt x="9273" y="0"/>
                </a:moveTo>
                <a:lnTo>
                  <a:pt x="9412" y="0"/>
                </a:lnTo>
                <a:lnTo>
                  <a:pt x="9412" y="102"/>
                </a:lnTo>
                <a:lnTo>
                  <a:pt x="9273" y="102"/>
                </a:lnTo>
                <a:lnTo>
                  <a:pt x="9273" y="0"/>
                </a:lnTo>
                <a:moveTo>
                  <a:pt x="9505" y="0"/>
                </a:moveTo>
                <a:lnTo>
                  <a:pt x="9644" y="0"/>
                </a:lnTo>
                <a:lnTo>
                  <a:pt x="9644" y="102"/>
                </a:lnTo>
                <a:lnTo>
                  <a:pt x="9505" y="102"/>
                </a:lnTo>
                <a:lnTo>
                  <a:pt x="9505" y="0"/>
                </a:lnTo>
                <a:moveTo>
                  <a:pt x="9737" y="0"/>
                </a:moveTo>
                <a:lnTo>
                  <a:pt x="9877" y="0"/>
                </a:lnTo>
                <a:lnTo>
                  <a:pt x="9877" y="102"/>
                </a:lnTo>
                <a:lnTo>
                  <a:pt x="9737" y="102"/>
                </a:lnTo>
                <a:lnTo>
                  <a:pt x="9737" y="0"/>
                </a:lnTo>
                <a:moveTo>
                  <a:pt x="9970" y="0"/>
                </a:moveTo>
                <a:lnTo>
                  <a:pt x="10109" y="0"/>
                </a:lnTo>
                <a:lnTo>
                  <a:pt x="10109" y="102"/>
                </a:lnTo>
                <a:lnTo>
                  <a:pt x="9970" y="102"/>
                </a:lnTo>
                <a:lnTo>
                  <a:pt x="9970" y="0"/>
                </a:lnTo>
                <a:moveTo>
                  <a:pt x="10202" y="0"/>
                </a:moveTo>
                <a:lnTo>
                  <a:pt x="10341" y="0"/>
                </a:lnTo>
                <a:lnTo>
                  <a:pt x="10341" y="102"/>
                </a:lnTo>
                <a:lnTo>
                  <a:pt x="10202" y="102"/>
                </a:lnTo>
                <a:lnTo>
                  <a:pt x="10202" y="0"/>
                </a:lnTo>
                <a:moveTo>
                  <a:pt x="10434" y="0"/>
                </a:moveTo>
                <a:lnTo>
                  <a:pt x="10573" y="0"/>
                </a:lnTo>
                <a:lnTo>
                  <a:pt x="10573" y="102"/>
                </a:lnTo>
                <a:lnTo>
                  <a:pt x="10434" y="102"/>
                </a:lnTo>
                <a:lnTo>
                  <a:pt x="10434" y="0"/>
                </a:lnTo>
                <a:moveTo>
                  <a:pt x="10666" y="0"/>
                </a:moveTo>
                <a:lnTo>
                  <a:pt x="10806" y="0"/>
                </a:lnTo>
                <a:lnTo>
                  <a:pt x="10806" y="102"/>
                </a:lnTo>
                <a:lnTo>
                  <a:pt x="10666" y="102"/>
                </a:lnTo>
                <a:lnTo>
                  <a:pt x="10666" y="0"/>
                </a:lnTo>
                <a:moveTo>
                  <a:pt x="10899" y="0"/>
                </a:moveTo>
                <a:lnTo>
                  <a:pt x="11038" y="0"/>
                </a:lnTo>
                <a:lnTo>
                  <a:pt x="11038" y="102"/>
                </a:lnTo>
                <a:lnTo>
                  <a:pt x="10899" y="102"/>
                </a:lnTo>
                <a:lnTo>
                  <a:pt x="10899" y="0"/>
                </a:lnTo>
                <a:moveTo>
                  <a:pt x="11131" y="0"/>
                </a:moveTo>
                <a:lnTo>
                  <a:pt x="11270" y="0"/>
                </a:lnTo>
                <a:lnTo>
                  <a:pt x="11270" y="102"/>
                </a:lnTo>
                <a:lnTo>
                  <a:pt x="11131" y="102"/>
                </a:lnTo>
                <a:lnTo>
                  <a:pt x="11131" y="0"/>
                </a:lnTo>
                <a:moveTo>
                  <a:pt x="11363" y="0"/>
                </a:moveTo>
                <a:lnTo>
                  <a:pt x="11502" y="0"/>
                </a:lnTo>
                <a:lnTo>
                  <a:pt x="11502" y="102"/>
                </a:lnTo>
                <a:lnTo>
                  <a:pt x="11363" y="102"/>
                </a:lnTo>
                <a:lnTo>
                  <a:pt x="11363" y="0"/>
                </a:lnTo>
                <a:moveTo>
                  <a:pt x="11595" y="0"/>
                </a:moveTo>
                <a:lnTo>
                  <a:pt x="11735" y="0"/>
                </a:lnTo>
                <a:lnTo>
                  <a:pt x="11735" y="102"/>
                </a:lnTo>
                <a:lnTo>
                  <a:pt x="11595" y="102"/>
                </a:lnTo>
                <a:lnTo>
                  <a:pt x="11595" y="0"/>
                </a:lnTo>
                <a:moveTo>
                  <a:pt x="11828" y="0"/>
                </a:moveTo>
                <a:lnTo>
                  <a:pt x="11967" y="0"/>
                </a:lnTo>
                <a:lnTo>
                  <a:pt x="11967" y="102"/>
                </a:lnTo>
                <a:lnTo>
                  <a:pt x="11828" y="102"/>
                </a:lnTo>
                <a:lnTo>
                  <a:pt x="11828" y="0"/>
                </a:lnTo>
                <a:moveTo>
                  <a:pt x="12060" y="0"/>
                </a:moveTo>
                <a:lnTo>
                  <a:pt x="12199" y="0"/>
                </a:lnTo>
                <a:lnTo>
                  <a:pt x="12199" y="102"/>
                </a:lnTo>
                <a:lnTo>
                  <a:pt x="12060" y="102"/>
                </a:lnTo>
                <a:lnTo>
                  <a:pt x="12060" y="0"/>
                </a:lnTo>
                <a:moveTo>
                  <a:pt x="12292" y="0"/>
                </a:moveTo>
                <a:lnTo>
                  <a:pt x="12431" y="0"/>
                </a:lnTo>
                <a:lnTo>
                  <a:pt x="12431" y="102"/>
                </a:lnTo>
                <a:lnTo>
                  <a:pt x="12292" y="102"/>
                </a:lnTo>
                <a:lnTo>
                  <a:pt x="12292" y="0"/>
                </a:lnTo>
                <a:moveTo>
                  <a:pt x="12524" y="0"/>
                </a:moveTo>
                <a:lnTo>
                  <a:pt x="12664" y="0"/>
                </a:lnTo>
                <a:lnTo>
                  <a:pt x="12664" y="102"/>
                </a:lnTo>
                <a:lnTo>
                  <a:pt x="12524" y="102"/>
                </a:lnTo>
                <a:lnTo>
                  <a:pt x="12524" y="0"/>
                </a:lnTo>
                <a:moveTo>
                  <a:pt x="12757" y="0"/>
                </a:moveTo>
                <a:lnTo>
                  <a:pt x="12896" y="0"/>
                </a:lnTo>
                <a:lnTo>
                  <a:pt x="12896" y="102"/>
                </a:lnTo>
                <a:lnTo>
                  <a:pt x="12757" y="102"/>
                </a:lnTo>
                <a:lnTo>
                  <a:pt x="12757" y="0"/>
                </a:lnTo>
                <a:moveTo>
                  <a:pt x="12989" y="0"/>
                </a:moveTo>
                <a:lnTo>
                  <a:pt x="13128" y="0"/>
                </a:lnTo>
                <a:lnTo>
                  <a:pt x="13128" y="102"/>
                </a:lnTo>
                <a:lnTo>
                  <a:pt x="12989" y="102"/>
                </a:lnTo>
                <a:lnTo>
                  <a:pt x="12989" y="0"/>
                </a:lnTo>
                <a:moveTo>
                  <a:pt x="13221" y="0"/>
                </a:moveTo>
                <a:lnTo>
                  <a:pt x="13361" y="0"/>
                </a:lnTo>
                <a:lnTo>
                  <a:pt x="13361" y="102"/>
                </a:lnTo>
                <a:lnTo>
                  <a:pt x="13221" y="102"/>
                </a:lnTo>
                <a:lnTo>
                  <a:pt x="13221" y="0"/>
                </a:lnTo>
                <a:moveTo>
                  <a:pt x="13454" y="0"/>
                </a:moveTo>
                <a:lnTo>
                  <a:pt x="13593" y="0"/>
                </a:lnTo>
                <a:lnTo>
                  <a:pt x="13593" y="102"/>
                </a:lnTo>
                <a:lnTo>
                  <a:pt x="13454" y="102"/>
                </a:lnTo>
                <a:lnTo>
                  <a:pt x="13454" y="0"/>
                </a:lnTo>
                <a:moveTo>
                  <a:pt x="13686" y="0"/>
                </a:moveTo>
                <a:lnTo>
                  <a:pt x="13771" y="0"/>
                </a:lnTo>
                <a:cubicBezTo>
                  <a:pt x="13795" y="0"/>
                  <a:pt x="13818" y="4"/>
                  <a:pt x="13841" y="12"/>
                </a:cubicBezTo>
                <a:lnTo>
                  <a:pt x="13807" y="108"/>
                </a:lnTo>
                <a:cubicBezTo>
                  <a:pt x="13795" y="104"/>
                  <a:pt x="13783" y="102"/>
                  <a:pt x="13771" y="102"/>
                </a:cubicBezTo>
                <a:lnTo>
                  <a:pt x="13686" y="102"/>
                </a:lnTo>
                <a:lnTo>
                  <a:pt x="13686" y="0"/>
                </a:lnTo>
                <a:moveTo>
                  <a:pt x="13940" y="83"/>
                </a:moveTo>
                <a:cubicBezTo>
                  <a:pt x="13969" y="122"/>
                  <a:pt x="13984" y="165"/>
                  <a:pt x="13984" y="214"/>
                </a:cubicBezTo>
                <a:lnTo>
                  <a:pt x="13984" y="247"/>
                </a:lnTo>
                <a:lnTo>
                  <a:pt x="13882" y="247"/>
                </a:lnTo>
                <a:lnTo>
                  <a:pt x="13882" y="214"/>
                </a:lnTo>
                <a:cubicBezTo>
                  <a:pt x="13882" y="188"/>
                  <a:pt x="13874" y="166"/>
                  <a:pt x="13859" y="146"/>
                </a:cubicBezTo>
                <a:lnTo>
                  <a:pt x="13940" y="83"/>
                </a:lnTo>
                <a:moveTo>
                  <a:pt x="13984" y="340"/>
                </a:moveTo>
                <a:lnTo>
                  <a:pt x="13984" y="479"/>
                </a:lnTo>
                <a:lnTo>
                  <a:pt x="13882" y="479"/>
                </a:lnTo>
                <a:lnTo>
                  <a:pt x="13882" y="340"/>
                </a:lnTo>
                <a:lnTo>
                  <a:pt x="13984" y="340"/>
                </a:lnTo>
                <a:moveTo>
                  <a:pt x="13984" y="572"/>
                </a:moveTo>
                <a:lnTo>
                  <a:pt x="13984" y="711"/>
                </a:lnTo>
                <a:lnTo>
                  <a:pt x="13882" y="711"/>
                </a:lnTo>
                <a:lnTo>
                  <a:pt x="13882" y="572"/>
                </a:lnTo>
                <a:lnTo>
                  <a:pt x="13984" y="572"/>
                </a:lnTo>
                <a:moveTo>
                  <a:pt x="13984" y="804"/>
                </a:moveTo>
                <a:lnTo>
                  <a:pt x="13984" y="943"/>
                </a:lnTo>
                <a:lnTo>
                  <a:pt x="13882" y="943"/>
                </a:lnTo>
                <a:lnTo>
                  <a:pt x="13882" y="804"/>
                </a:lnTo>
                <a:lnTo>
                  <a:pt x="13984" y="804"/>
                </a:lnTo>
                <a:moveTo>
                  <a:pt x="13984" y="1036"/>
                </a:moveTo>
                <a:lnTo>
                  <a:pt x="13984" y="1176"/>
                </a:lnTo>
                <a:lnTo>
                  <a:pt x="13882" y="1176"/>
                </a:lnTo>
                <a:lnTo>
                  <a:pt x="13882" y="1036"/>
                </a:lnTo>
                <a:lnTo>
                  <a:pt x="13984" y="1036"/>
                </a:lnTo>
                <a:moveTo>
                  <a:pt x="13984" y="1269"/>
                </a:moveTo>
                <a:lnTo>
                  <a:pt x="13984" y="1408"/>
                </a:lnTo>
                <a:lnTo>
                  <a:pt x="13882" y="1408"/>
                </a:lnTo>
                <a:lnTo>
                  <a:pt x="13882" y="1269"/>
                </a:lnTo>
                <a:lnTo>
                  <a:pt x="13984" y="1269"/>
                </a:lnTo>
                <a:moveTo>
                  <a:pt x="13984" y="1501"/>
                </a:moveTo>
                <a:lnTo>
                  <a:pt x="13984" y="1640"/>
                </a:lnTo>
                <a:lnTo>
                  <a:pt x="13882" y="1640"/>
                </a:lnTo>
                <a:lnTo>
                  <a:pt x="13882" y="1501"/>
                </a:lnTo>
                <a:lnTo>
                  <a:pt x="13984" y="1501"/>
                </a:lnTo>
                <a:moveTo>
                  <a:pt x="13984" y="1733"/>
                </a:moveTo>
                <a:lnTo>
                  <a:pt x="13984" y="1873"/>
                </a:lnTo>
                <a:lnTo>
                  <a:pt x="13882" y="1873"/>
                </a:lnTo>
                <a:lnTo>
                  <a:pt x="13882" y="1733"/>
                </a:lnTo>
                <a:lnTo>
                  <a:pt x="13984" y="1733"/>
                </a:lnTo>
                <a:moveTo>
                  <a:pt x="13984" y="1966"/>
                </a:moveTo>
                <a:lnTo>
                  <a:pt x="13984" y="2105"/>
                </a:lnTo>
                <a:lnTo>
                  <a:pt x="13882" y="2105"/>
                </a:lnTo>
                <a:lnTo>
                  <a:pt x="13882" y="1966"/>
                </a:lnTo>
                <a:lnTo>
                  <a:pt x="13984" y="1966"/>
                </a:lnTo>
                <a:moveTo>
                  <a:pt x="13984" y="2198"/>
                </a:moveTo>
                <a:lnTo>
                  <a:pt x="13984" y="2337"/>
                </a:lnTo>
                <a:lnTo>
                  <a:pt x="13882" y="2337"/>
                </a:lnTo>
                <a:lnTo>
                  <a:pt x="13882" y="2198"/>
                </a:lnTo>
                <a:lnTo>
                  <a:pt x="13984" y="2198"/>
                </a:lnTo>
                <a:moveTo>
                  <a:pt x="13984" y="2430"/>
                </a:moveTo>
                <a:lnTo>
                  <a:pt x="13984" y="2569"/>
                </a:lnTo>
                <a:lnTo>
                  <a:pt x="13882" y="2569"/>
                </a:lnTo>
                <a:lnTo>
                  <a:pt x="13882" y="2430"/>
                </a:lnTo>
                <a:lnTo>
                  <a:pt x="13984" y="2430"/>
                </a:lnTo>
                <a:moveTo>
                  <a:pt x="13984" y="2662"/>
                </a:moveTo>
                <a:lnTo>
                  <a:pt x="13984" y="2802"/>
                </a:lnTo>
                <a:lnTo>
                  <a:pt x="13882" y="2802"/>
                </a:lnTo>
                <a:lnTo>
                  <a:pt x="13882" y="2662"/>
                </a:lnTo>
                <a:lnTo>
                  <a:pt x="13984" y="2662"/>
                </a:lnTo>
                <a:moveTo>
                  <a:pt x="13984" y="2895"/>
                </a:moveTo>
                <a:lnTo>
                  <a:pt x="13984" y="3034"/>
                </a:lnTo>
                <a:lnTo>
                  <a:pt x="13882" y="3034"/>
                </a:lnTo>
                <a:lnTo>
                  <a:pt x="13882" y="2895"/>
                </a:lnTo>
                <a:lnTo>
                  <a:pt x="13984" y="2895"/>
                </a:lnTo>
                <a:moveTo>
                  <a:pt x="13984" y="3127"/>
                </a:moveTo>
                <a:lnTo>
                  <a:pt x="13984" y="3266"/>
                </a:lnTo>
                <a:lnTo>
                  <a:pt x="13882" y="3266"/>
                </a:lnTo>
                <a:lnTo>
                  <a:pt x="13882" y="3127"/>
                </a:lnTo>
                <a:lnTo>
                  <a:pt x="13984" y="3127"/>
                </a:lnTo>
                <a:moveTo>
                  <a:pt x="13984" y="3359"/>
                </a:moveTo>
                <a:lnTo>
                  <a:pt x="13984" y="3498"/>
                </a:lnTo>
                <a:lnTo>
                  <a:pt x="13882" y="3498"/>
                </a:lnTo>
                <a:lnTo>
                  <a:pt x="13882" y="3359"/>
                </a:lnTo>
                <a:lnTo>
                  <a:pt x="13984" y="3359"/>
                </a:lnTo>
                <a:moveTo>
                  <a:pt x="13984" y="3591"/>
                </a:moveTo>
                <a:lnTo>
                  <a:pt x="13984" y="3731"/>
                </a:lnTo>
                <a:lnTo>
                  <a:pt x="13882" y="3731"/>
                </a:lnTo>
                <a:lnTo>
                  <a:pt x="13882" y="3591"/>
                </a:lnTo>
                <a:lnTo>
                  <a:pt x="13984" y="3591"/>
                </a:lnTo>
                <a:moveTo>
                  <a:pt x="13984" y="3824"/>
                </a:moveTo>
                <a:lnTo>
                  <a:pt x="13984" y="3963"/>
                </a:lnTo>
                <a:lnTo>
                  <a:pt x="13882" y="3963"/>
                </a:lnTo>
                <a:lnTo>
                  <a:pt x="13882" y="3824"/>
                </a:lnTo>
                <a:lnTo>
                  <a:pt x="13984" y="3824"/>
                </a:lnTo>
                <a:moveTo>
                  <a:pt x="13984" y="4056"/>
                </a:moveTo>
                <a:lnTo>
                  <a:pt x="13984" y="4195"/>
                </a:lnTo>
                <a:lnTo>
                  <a:pt x="13882" y="4195"/>
                </a:lnTo>
                <a:lnTo>
                  <a:pt x="13882" y="4056"/>
                </a:lnTo>
                <a:lnTo>
                  <a:pt x="13984" y="4056"/>
                </a:lnTo>
                <a:moveTo>
                  <a:pt x="13984" y="4288"/>
                </a:moveTo>
                <a:lnTo>
                  <a:pt x="13984" y="4427"/>
                </a:lnTo>
                <a:lnTo>
                  <a:pt x="13882" y="4427"/>
                </a:lnTo>
                <a:lnTo>
                  <a:pt x="13882" y="4288"/>
                </a:lnTo>
                <a:lnTo>
                  <a:pt x="13984" y="4288"/>
                </a:lnTo>
                <a:moveTo>
                  <a:pt x="13984" y="4520"/>
                </a:moveTo>
                <a:lnTo>
                  <a:pt x="13984" y="4660"/>
                </a:lnTo>
                <a:lnTo>
                  <a:pt x="13882" y="4660"/>
                </a:lnTo>
                <a:lnTo>
                  <a:pt x="13882" y="4520"/>
                </a:lnTo>
                <a:lnTo>
                  <a:pt x="13984" y="4520"/>
                </a:lnTo>
                <a:moveTo>
                  <a:pt x="13984" y="4753"/>
                </a:moveTo>
                <a:lnTo>
                  <a:pt x="13984" y="4892"/>
                </a:lnTo>
                <a:lnTo>
                  <a:pt x="13882" y="4892"/>
                </a:lnTo>
                <a:lnTo>
                  <a:pt x="13882" y="4753"/>
                </a:lnTo>
                <a:lnTo>
                  <a:pt x="13984" y="4753"/>
                </a:lnTo>
                <a:moveTo>
                  <a:pt x="13984" y="4985"/>
                </a:moveTo>
                <a:lnTo>
                  <a:pt x="13984" y="5124"/>
                </a:lnTo>
                <a:lnTo>
                  <a:pt x="13882" y="5124"/>
                </a:lnTo>
                <a:lnTo>
                  <a:pt x="13882" y="4985"/>
                </a:lnTo>
                <a:lnTo>
                  <a:pt x="13984" y="4985"/>
                </a:lnTo>
                <a:moveTo>
                  <a:pt x="13984" y="5217"/>
                </a:moveTo>
                <a:lnTo>
                  <a:pt x="13984" y="5357"/>
                </a:lnTo>
                <a:lnTo>
                  <a:pt x="13882" y="5357"/>
                </a:lnTo>
                <a:lnTo>
                  <a:pt x="13882" y="5217"/>
                </a:lnTo>
                <a:lnTo>
                  <a:pt x="13984" y="5217"/>
                </a:lnTo>
                <a:moveTo>
                  <a:pt x="13984" y="5450"/>
                </a:moveTo>
                <a:lnTo>
                  <a:pt x="13984" y="5590"/>
                </a:lnTo>
                <a:lnTo>
                  <a:pt x="13882" y="5590"/>
                </a:lnTo>
                <a:lnTo>
                  <a:pt x="13882" y="5450"/>
                </a:lnTo>
                <a:lnTo>
                  <a:pt x="13984" y="5450"/>
                </a:lnTo>
                <a:moveTo>
                  <a:pt x="13984" y="5683"/>
                </a:moveTo>
                <a:lnTo>
                  <a:pt x="13984" y="5786"/>
                </a:lnTo>
                <a:cubicBezTo>
                  <a:pt x="13984" y="5801"/>
                  <a:pt x="13983" y="5817"/>
                  <a:pt x="13979" y="5832"/>
                </a:cubicBezTo>
                <a:lnTo>
                  <a:pt x="13879" y="5810"/>
                </a:lnTo>
                <a:cubicBezTo>
                  <a:pt x="13881" y="5802"/>
                  <a:pt x="13882" y="5794"/>
                  <a:pt x="13882" y="5786"/>
                </a:cubicBezTo>
                <a:lnTo>
                  <a:pt x="13882" y="5683"/>
                </a:lnTo>
                <a:lnTo>
                  <a:pt x="13984" y="5683"/>
                </a:lnTo>
                <a:moveTo>
                  <a:pt x="13919" y="5939"/>
                </a:moveTo>
                <a:cubicBezTo>
                  <a:pt x="13878" y="5979"/>
                  <a:pt x="13828" y="5999"/>
                  <a:pt x="13771" y="5999"/>
                </a:cubicBezTo>
                <a:lnTo>
                  <a:pt x="13756" y="5999"/>
                </a:lnTo>
                <a:lnTo>
                  <a:pt x="13756" y="5897"/>
                </a:lnTo>
                <a:lnTo>
                  <a:pt x="13771" y="5897"/>
                </a:lnTo>
                <a:cubicBezTo>
                  <a:pt x="13801" y="5897"/>
                  <a:pt x="13827" y="5887"/>
                  <a:pt x="13848" y="5866"/>
                </a:cubicBezTo>
                <a:lnTo>
                  <a:pt x="13919" y="5939"/>
                </a:lnTo>
                <a:moveTo>
                  <a:pt x="13663" y="5999"/>
                </a:moveTo>
                <a:lnTo>
                  <a:pt x="13523" y="5999"/>
                </a:lnTo>
                <a:lnTo>
                  <a:pt x="13523" y="5897"/>
                </a:lnTo>
                <a:lnTo>
                  <a:pt x="13663" y="5897"/>
                </a:lnTo>
                <a:lnTo>
                  <a:pt x="13663" y="5999"/>
                </a:lnTo>
                <a:moveTo>
                  <a:pt x="13430" y="5999"/>
                </a:moveTo>
                <a:lnTo>
                  <a:pt x="13291" y="5999"/>
                </a:lnTo>
                <a:lnTo>
                  <a:pt x="13291" y="5897"/>
                </a:lnTo>
                <a:lnTo>
                  <a:pt x="13430" y="5897"/>
                </a:lnTo>
                <a:lnTo>
                  <a:pt x="13430" y="5999"/>
                </a:lnTo>
                <a:moveTo>
                  <a:pt x="13198" y="5999"/>
                </a:moveTo>
                <a:lnTo>
                  <a:pt x="13059" y="5999"/>
                </a:lnTo>
                <a:lnTo>
                  <a:pt x="13059" y="5897"/>
                </a:lnTo>
                <a:lnTo>
                  <a:pt x="13198" y="5897"/>
                </a:lnTo>
                <a:lnTo>
                  <a:pt x="13198" y="5999"/>
                </a:lnTo>
                <a:moveTo>
                  <a:pt x="12966" y="5999"/>
                </a:moveTo>
                <a:lnTo>
                  <a:pt x="12827" y="5999"/>
                </a:lnTo>
                <a:lnTo>
                  <a:pt x="12827" y="5897"/>
                </a:lnTo>
                <a:lnTo>
                  <a:pt x="12966" y="5897"/>
                </a:lnTo>
                <a:lnTo>
                  <a:pt x="12966" y="5999"/>
                </a:lnTo>
                <a:moveTo>
                  <a:pt x="12734" y="5999"/>
                </a:moveTo>
                <a:lnTo>
                  <a:pt x="12594" y="5999"/>
                </a:lnTo>
                <a:lnTo>
                  <a:pt x="12594" y="5897"/>
                </a:lnTo>
                <a:lnTo>
                  <a:pt x="12734" y="5897"/>
                </a:lnTo>
                <a:lnTo>
                  <a:pt x="12734" y="5999"/>
                </a:lnTo>
                <a:moveTo>
                  <a:pt x="12501" y="5999"/>
                </a:moveTo>
                <a:lnTo>
                  <a:pt x="12362" y="5999"/>
                </a:lnTo>
                <a:lnTo>
                  <a:pt x="12362" y="5897"/>
                </a:lnTo>
                <a:lnTo>
                  <a:pt x="12501" y="5897"/>
                </a:lnTo>
                <a:lnTo>
                  <a:pt x="12501" y="5999"/>
                </a:lnTo>
                <a:moveTo>
                  <a:pt x="12269" y="5999"/>
                </a:moveTo>
                <a:lnTo>
                  <a:pt x="12130" y="5999"/>
                </a:lnTo>
                <a:lnTo>
                  <a:pt x="12130" y="5897"/>
                </a:lnTo>
                <a:lnTo>
                  <a:pt x="12269" y="5897"/>
                </a:lnTo>
                <a:lnTo>
                  <a:pt x="12269" y="5999"/>
                </a:lnTo>
                <a:moveTo>
                  <a:pt x="12037" y="5999"/>
                </a:moveTo>
                <a:lnTo>
                  <a:pt x="11898" y="5999"/>
                </a:lnTo>
                <a:lnTo>
                  <a:pt x="11898" y="5897"/>
                </a:lnTo>
                <a:lnTo>
                  <a:pt x="12037" y="5897"/>
                </a:lnTo>
                <a:lnTo>
                  <a:pt x="12037" y="5999"/>
                </a:lnTo>
                <a:moveTo>
                  <a:pt x="11805" y="5999"/>
                </a:moveTo>
                <a:lnTo>
                  <a:pt x="11665" y="5999"/>
                </a:lnTo>
                <a:lnTo>
                  <a:pt x="11665" y="5897"/>
                </a:lnTo>
                <a:lnTo>
                  <a:pt x="11805" y="5897"/>
                </a:lnTo>
                <a:lnTo>
                  <a:pt x="11805" y="5999"/>
                </a:lnTo>
                <a:moveTo>
                  <a:pt x="11572" y="5999"/>
                </a:moveTo>
                <a:lnTo>
                  <a:pt x="11433" y="5999"/>
                </a:lnTo>
                <a:lnTo>
                  <a:pt x="11433" y="5897"/>
                </a:lnTo>
                <a:lnTo>
                  <a:pt x="11572" y="5897"/>
                </a:lnTo>
                <a:lnTo>
                  <a:pt x="11572" y="5999"/>
                </a:lnTo>
                <a:moveTo>
                  <a:pt x="11340" y="5999"/>
                </a:moveTo>
                <a:lnTo>
                  <a:pt x="11201" y="5999"/>
                </a:lnTo>
                <a:lnTo>
                  <a:pt x="11201" y="5897"/>
                </a:lnTo>
                <a:lnTo>
                  <a:pt x="11340" y="5897"/>
                </a:lnTo>
                <a:lnTo>
                  <a:pt x="11340" y="5999"/>
                </a:lnTo>
                <a:moveTo>
                  <a:pt x="11108" y="5999"/>
                </a:moveTo>
                <a:lnTo>
                  <a:pt x="10968" y="5999"/>
                </a:lnTo>
                <a:lnTo>
                  <a:pt x="10968" y="5897"/>
                </a:lnTo>
                <a:lnTo>
                  <a:pt x="11108" y="5897"/>
                </a:lnTo>
                <a:lnTo>
                  <a:pt x="11108" y="5999"/>
                </a:lnTo>
                <a:moveTo>
                  <a:pt x="10875" y="5999"/>
                </a:moveTo>
                <a:lnTo>
                  <a:pt x="10736" y="5999"/>
                </a:lnTo>
                <a:lnTo>
                  <a:pt x="10736" y="5897"/>
                </a:lnTo>
                <a:lnTo>
                  <a:pt x="10875" y="5897"/>
                </a:lnTo>
                <a:lnTo>
                  <a:pt x="10875" y="5999"/>
                </a:lnTo>
                <a:moveTo>
                  <a:pt x="10643" y="5999"/>
                </a:moveTo>
                <a:lnTo>
                  <a:pt x="10504" y="5999"/>
                </a:lnTo>
                <a:lnTo>
                  <a:pt x="10504" y="5897"/>
                </a:lnTo>
                <a:lnTo>
                  <a:pt x="10643" y="5897"/>
                </a:lnTo>
                <a:lnTo>
                  <a:pt x="10643" y="5999"/>
                </a:lnTo>
                <a:moveTo>
                  <a:pt x="10411" y="5999"/>
                </a:moveTo>
                <a:lnTo>
                  <a:pt x="10272" y="5999"/>
                </a:lnTo>
                <a:lnTo>
                  <a:pt x="10272" y="5897"/>
                </a:lnTo>
                <a:lnTo>
                  <a:pt x="10411" y="5897"/>
                </a:lnTo>
                <a:lnTo>
                  <a:pt x="10411" y="5999"/>
                </a:lnTo>
                <a:moveTo>
                  <a:pt x="10179" y="5999"/>
                </a:moveTo>
                <a:lnTo>
                  <a:pt x="10039" y="5999"/>
                </a:lnTo>
                <a:lnTo>
                  <a:pt x="10039" y="5897"/>
                </a:lnTo>
                <a:lnTo>
                  <a:pt x="10179" y="5897"/>
                </a:lnTo>
                <a:lnTo>
                  <a:pt x="10179" y="5999"/>
                </a:lnTo>
                <a:moveTo>
                  <a:pt x="9946" y="5999"/>
                </a:moveTo>
                <a:lnTo>
                  <a:pt x="9807" y="5999"/>
                </a:lnTo>
                <a:lnTo>
                  <a:pt x="9807" y="5897"/>
                </a:lnTo>
                <a:lnTo>
                  <a:pt x="9946" y="5897"/>
                </a:lnTo>
                <a:lnTo>
                  <a:pt x="9946" y="5999"/>
                </a:lnTo>
                <a:moveTo>
                  <a:pt x="9714" y="5999"/>
                </a:moveTo>
                <a:lnTo>
                  <a:pt x="9575" y="5999"/>
                </a:lnTo>
                <a:lnTo>
                  <a:pt x="9575" y="5897"/>
                </a:lnTo>
                <a:lnTo>
                  <a:pt x="9714" y="5897"/>
                </a:lnTo>
                <a:lnTo>
                  <a:pt x="9714" y="5999"/>
                </a:lnTo>
                <a:moveTo>
                  <a:pt x="9482" y="5999"/>
                </a:moveTo>
                <a:lnTo>
                  <a:pt x="9343" y="5999"/>
                </a:lnTo>
                <a:lnTo>
                  <a:pt x="9343" y="5897"/>
                </a:lnTo>
                <a:lnTo>
                  <a:pt x="9482" y="5897"/>
                </a:lnTo>
                <a:lnTo>
                  <a:pt x="9482" y="5999"/>
                </a:lnTo>
                <a:moveTo>
                  <a:pt x="9250" y="5999"/>
                </a:moveTo>
                <a:lnTo>
                  <a:pt x="9110" y="5999"/>
                </a:lnTo>
                <a:lnTo>
                  <a:pt x="9110" y="5897"/>
                </a:lnTo>
                <a:lnTo>
                  <a:pt x="9250" y="5897"/>
                </a:lnTo>
                <a:lnTo>
                  <a:pt x="9250" y="5999"/>
                </a:lnTo>
                <a:moveTo>
                  <a:pt x="9017" y="5999"/>
                </a:moveTo>
                <a:lnTo>
                  <a:pt x="8878" y="5999"/>
                </a:lnTo>
                <a:lnTo>
                  <a:pt x="8878" y="5897"/>
                </a:lnTo>
                <a:lnTo>
                  <a:pt x="9017" y="5897"/>
                </a:lnTo>
                <a:lnTo>
                  <a:pt x="9017" y="5999"/>
                </a:lnTo>
                <a:moveTo>
                  <a:pt x="8785" y="5999"/>
                </a:moveTo>
                <a:lnTo>
                  <a:pt x="8646" y="5999"/>
                </a:lnTo>
                <a:lnTo>
                  <a:pt x="8646" y="5897"/>
                </a:lnTo>
                <a:lnTo>
                  <a:pt x="8785" y="5897"/>
                </a:lnTo>
                <a:lnTo>
                  <a:pt x="8785" y="5999"/>
                </a:lnTo>
                <a:moveTo>
                  <a:pt x="8553" y="5999"/>
                </a:moveTo>
                <a:lnTo>
                  <a:pt x="8413" y="5999"/>
                </a:lnTo>
                <a:lnTo>
                  <a:pt x="8413" y="5897"/>
                </a:lnTo>
                <a:lnTo>
                  <a:pt x="8553" y="5897"/>
                </a:lnTo>
                <a:lnTo>
                  <a:pt x="8553" y="5999"/>
                </a:lnTo>
                <a:moveTo>
                  <a:pt x="8321" y="5999"/>
                </a:moveTo>
                <a:lnTo>
                  <a:pt x="8181" y="5999"/>
                </a:lnTo>
                <a:lnTo>
                  <a:pt x="8181" y="5897"/>
                </a:lnTo>
                <a:lnTo>
                  <a:pt x="8321" y="5897"/>
                </a:lnTo>
                <a:lnTo>
                  <a:pt x="8321" y="5999"/>
                </a:lnTo>
                <a:moveTo>
                  <a:pt x="8088" y="5999"/>
                </a:moveTo>
                <a:lnTo>
                  <a:pt x="7949" y="5999"/>
                </a:lnTo>
                <a:lnTo>
                  <a:pt x="7949" y="5897"/>
                </a:lnTo>
                <a:lnTo>
                  <a:pt x="8088" y="5897"/>
                </a:lnTo>
                <a:lnTo>
                  <a:pt x="8088" y="5999"/>
                </a:lnTo>
                <a:moveTo>
                  <a:pt x="7856" y="5999"/>
                </a:moveTo>
                <a:lnTo>
                  <a:pt x="7717" y="5999"/>
                </a:lnTo>
                <a:lnTo>
                  <a:pt x="7717" y="5897"/>
                </a:lnTo>
                <a:lnTo>
                  <a:pt x="7856" y="5897"/>
                </a:lnTo>
                <a:lnTo>
                  <a:pt x="7856" y="5999"/>
                </a:lnTo>
                <a:moveTo>
                  <a:pt x="7624" y="5999"/>
                </a:moveTo>
                <a:lnTo>
                  <a:pt x="7484" y="5999"/>
                </a:lnTo>
                <a:lnTo>
                  <a:pt x="7484" y="5897"/>
                </a:lnTo>
                <a:lnTo>
                  <a:pt x="7624" y="5897"/>
                </a:lnTo>
                <a:lnTo>
                  <a:pt x="7624" y="5999"/>
                </a:lnTo>
                <a:moveTo>
                  <a:pt x="7391" y="5999"/>
                </a:moveTo>
                <a:lnTo>
                  <a:pt x="7252" y="5999"/>
                </a:lnTo>
                <a:lnTo>
                  <a:pt x="7252" y="5897"/>
                </a:lnTo>
                <a:lnTo>
                  <a:pt x="7391" y="5897"/>
                </a:lnTo>
                <a:lnTo>
                  <a:pt x="7391" y="5999"/>
                </a:lnTo>
                <a:moveTo>
                  <a:pt x="7159" y="5999"/>
                </a:moveTo>
                <a:lnTo>
                  <a:pt x="7020" y="5999"/>
                </a:lnTo>
                <a:lnTo>
                  <a:pt x="7020" y="5897"/>
                </a:lnTo>
                <a:lnTo>
                  <a:pt x="7159" y="5897"/>
                </a:lnTo>
                <a:lnTo>
                  <a:pt x="7159" y="5999"/>
                </a:lnTo>
                <a:moveTo>
                  <a:pt x="6927" y="5999"/>
                </a:moveTo>
                <a:lnTo>
                  <a:pt x="6788" y="5999"/>
                </a:lnTo>
                <a:lnTo>
                  <a:pt x="6788" y="5897"/>
                </a:lnTo>
                <a:lnTo>
                  <a:pt x="6927" y="5897"/>
                </a:lnTo>
                <a:lnTo>
                  <a:pt x="6927" y="5999"/>
                </a:lnTo>
                <a:moveTo>
                  <a:pt x="6695" y="5999"/>
                </a:moveTo>
                <a:lnTo>
                  <a:pt x="6555" y="5999"/>
                </a:lnTo>
                <a:lnTo>
                  <a:pt x="6555" y="5897"/>
                </a:lnTo>
                <a:lnTo>
                  <a:pt x="6695" y="5897"/>
                </a:lnTo>
                <a:lnTo>
                  <a:pt x="6695" y="5999"/>
                </a:lnTo>
                <a:moveTo>
                  <a:pt x="6462" y="5999"/>
                </a:moveTo>
                <a:lnTo>
                  <a:pt x="6323" y="5999"/>
                </a:lnTo>
                <a:lnTo>
                  <a:pt x="6323" y="5897"/>
                </a:lnTo>
                <a:lnTo>
                  <a:pt x="6462" y="5897"/>
                </a:lnTo>
                <a:lnTo>
                  <a:pt x="6462" y="5999"/>
                </a:lnTo>
                <a:moveTo>
                  <a:pt x="6230" y="5999"/>
                </a:moveTo>
                <a:lnTo>
                  <a:pt x="6091" y="5999"/>
                </a:lnTo>
                <a:lnTo>
                  <a:pt x="6091" y="5897"/>
                </a:lnTo>
                <a:lnTo>
                  <a:pt x="6230" y="5897"/>
                </a:lnTo>
                <a:lnTo>
                  <a:pt x="6230" y="5999"/>
                </a:lnTo>
                <a:moveTo>
                  <a:pt x="5998" y="5999"/>
                </a:moveTo>
                <a:lnTo>
                  <a:pt x="5858" y="5999"/>
                </a:lnTo>
                <a:lnTo>
                  <a:pt x="5858" y="5897"/>
                </a:lnTo>
                <a:lnTo>
                  <a:pt x="5998" y="5897"/>
                </a:lnTo>
                <a:lnTo>
                  <a:pt x="5998" y="5999"/>
                </a:lnTo>
                <a:moveTo>
                  <a:pt x="5765" y="5999"/>
                </a:moveTo>
                <a:lnTo>
                  <a:pt x="5625" y="5999"/>
                </a:lnTo>
                <a:lnTo>
                  <a:pt x="5625" y="5897"/>
                </a:lnTo>
                <a:lnTo>
                  <a:pt x="5765" y="5897"/>
                </a:lnTo>
                <a:lnTo>
                  <a:pt x="5765" y="5999"/>
                </a:lnTo>
                <a:moveTo>
                  <a:pt x="5532" y="5999"/>
                </a:moveTo>
                <a:lnTo>
                  <a:pt x="5393" y="5999"/>
                </a:lnTo>
                <a:lnTo>
                  <a:pt x="5393" y="5897"/>
                </a:lnTo>
                <a:lnTo>
                  <a:pt x="5532" y="5897"/>
                </a:lnTo>
                <a:lnTo>
                  <a:pt x="5532" y="5999"/>
                </a:lnTo>
                <a:moveTo>
                  <a:pt x="5300" y="5999"/>
                </a:moveTo>
                <a:lnTo>
                  <a:pt x="5161" y="5999"/>
                </a:lnTo>
                <a:lnTo>
                  <a:pt x="5161" y="5897"/>
                </a:lnTo>
                <a:lnTo>
                  <a:pt x="5300" y="5897"/>
                </a:lnTo>
                <a:lnTo>
                  <a:pt x="5300" y="5999"/>
                </a:lnTo>
                <a:moveTo>
                  <a:pt x="5068" y="5999"/>
                </a:moveTo>
                <a:lnTo>
                  <a:pt x="4928" y="5999"/>
                </a:lnTo>
                <a:lnTo>
                  <a:pt x="4928" y="5897"/>
                </a:lnTo>
                <a:lnTo>
                  <a:pt x="5068" y="5897"/>
                </a:lnTo>
                <a:lnTo>
                  <a:pt x="5068" y="5999"/>
                </a:lnTo>
                <a:moveTo>
                  <a:pt x="4835" y="5999"/>
                </a:moveTo>
                <a:lnTo>
                  <a:pt x="4696" y="5999"/>
                </a:lnTo>
                <a:lnTo>
                  <a:pt x="4696" y="5897"/>
                </a:lnTo>
                <a:lnTo>
                  <a:pt x="4835" y="5897"/>
                </a:lnTo>
                <a:lnTo>
                  <a:pt x="4835" y="5999"/>
                </a:lnTo>
                <a:moveTo>
                  <a:pt x="4603" y="5999"/>
                </a:moveTo>
                <a:lnTo>
                  <a:pt x="4464" y="5999"/>
                </a:lnTo>
                <a:lnTo>
                  <a:pt x="4464" y="5897"/>
                </a:lnTo>
                <a:lnTo>
                  <a:pt x="4603" y="5897"/>
                </a:lnTo>
                <a:lnTo>
                  <a:pt x="4603" y="5999"/>
                </a:lnTo>
                <a:moveTo>
                  <a:pt x="4371" y="5999"/>
                </a:moveTo>
                <a:lnTo>
                  <a:pt x="4232" y="5999"/>
                </a:lnTo>
                <a:lnTo>
                  <a:pt x="4232" y="5897"/>
                </a:lnTo>
                <a:lnTo>
                  <a:pt x="4371" y="5897"/>
                </a:lnTo>
                <a:lnTo>
                  <a:pt x="4371" y="5999"/>
                </a:lnTo>
                <a:moveTo>
                  <a:pt x="4139" y="5999"/>
                </a:moveTo>
                <a:lnTo>
                  <a:pt x="3999" y="5999"/>
                </a:lnTo>
                <a:lnTo>
                  <a:pt x="3999" y="5897"/>
                </a:lnTo>
                <a:lnTo>
                  <a:pt x="4139" y="5897"/>
                </a:lnTo>
                <a:lnTo>
                  <a:pt x="4139" y="5999"/>
                </a:lnTo>
                <a:moveTo>
                  <a:pt x="3906" y="5999"/>
                </a:moveTo>
                <a:lnTo>
                  <a:pt x="3767" y="5999"/>
                </a:lnTo>
                <a:lnTo>
                  <a:pt x="3767" y="5897"/>
                </a:lnTo>
                <a:lnTo>
                  <a:pt x="3906" y="5897"/>
                </a:lnTo>
                <a:lnTo>
                  <a:pt x="3906" y="5999"/>
                </a:lnTo>
                <a:moveTo>
                  <a:pt x="3674" y="5999"/>
                </a:moveTo>
                <a:lnTo>
                  <a:pt x="3535" y="5999"/>
                </a:lnTo>
                <a:lnTo>
                  <a:pt x="3535" y="5897"/>
                </a:lnTo>
                <a:lnTo>
                  <a:pt x="3674" y="5897"/>
                </a:lnTo>
                <a:lnTo>
                  <a:pt x="3674" y="5999"/>
                </a:lnTo>
                <a:moveTo>
                  <a:pt x="3442" y="5999"/>
                </a:moveTo>
                <a:lnTo>
                  <a:pt x="3303" y="5999"/>
                </a:lnTo>
                <a:lnTo>
                  <a:pt x="3303" y="5897"/>
                </a:lnTo>
                <a:lnTo>
                  <a:pt x="3442" y="5897"/>
                </a:lnTo>
                <a:lnTo>
                  <a:pt x="3442" y="5999"/>
                </a:lnTo>
                <a:moveTo>
                  <a:pt x="3210" y="5999"/>
                </a:moveTo>
                <a:lnTo>
                  <a:pt x="3070" y="5999"/>
                </a:lnTo>
                <a:lnTo>
                  <a:pt x="3070" y="5897"/>
                </a:lnTo>
                <a:lnTo>
                  <a:pt x="3210" y="5897"/>
                </a:lnTo>
                <a:lnTo>
                  <a:pt x="3210" y="5999"/>
                </a:lnTo>
                <a:moveTo>
                  <a:pt x="2977" y="5999"/>
                </a:moveTo>
                <a:lnTo>
                  <a:pt x="2838" y="5999"/>
                </a:lnTo>
                <a:lnTo>
                  <a:pt x="2838" y="5897"/>
                </a:lnTo>
                <a:lnTo>
                  <a:pt x="2977" y="5897"/>
                </a:lnTo>
                <a:lnTo>
                  <a:pt x="2977" y="5999"/>
                </a:lnTo>
                <a:moveTo>
                  <a:pt x="2745" y="5999"/>
                </a:moveTo>
                <a:lnTo>
                  <a:pt x="2606" y="5999"/>
                </a:lnTo>
                <a:lnTo>
                  <a:pt x="2606" y="5897"/>
                </a:lnTo>
                <a:lnTo>
                  <a:pt x="2745" y="5897"/>
                </a:lnTo>
                <a:lnTo>
                  <a:pt x="2745" y="5999"/>
                </a:lnTo>
                <a:moveTo>
                  <a:pt x="2513" y="5999"/>
                </a:moveTo>
                <a:lnTo>
                  <a:pt x="2374" y="5999"/>
                </a:lnTo>
                <a:lnTo>
                  <a:pt x="2374" y="5897"/>
                </a:lnTo>
                <a:lnTo>
                  <a:pt x="2513" y="5897"/>
                </a:lnTo>
                <a:lnTo>
                  <a:pt x="2513" y="5999"/>
                </a:lnTo>
                <a:moveTo>
                  <a:pt x="2281" y="5999"/>
                </a:moveTo>
                <a:lnTo>
                  <a:pt x="2141" y="5999"/>
                </a:lnTo>
                <a:lnTo>
                  <a:pt x="2141" y="5897"/>
                </a:lnTo>
                <a:lnTo>
                  <a:pt x="2281" y="5897"/>
                </a:lnTo>
                <a:lnTo>
                  <a:pt x="2281" y="5999"/>
                </a:lnTo>
                <a:moveTo>
                  <a:pt x="2048" y="5999"/>
                </a:moveTo>
                <a:lnTo>
                  <a:pt x="1909" y="5999"/>
                </a:lnTo>
                <a:lnTo>
                  <a:pt x="1909" y="5897"/>
                </a:lnTo>
                <a:lnTo>
                  <a:pt x="2048" y="5897"/>
                </a:lnTo>
                <a:lnTo>
                  <a:pt x="2048" y="5999"/>
                </a:lnTo>
                <a:moveTo>
                  <a:pt x="1816" y="5999"/>
                </a:moveTo>
                <a:lnTo>
                  <a:pt x="1677" y="5999"/>
                </a:lnTo>
                <a:lnTo>
                  <a:pt x="1677" y="5897"/>
                </a:lnTo>
                <a:lnTo>
                  <a:pt x="1816" y="5897"/>
                </a:lnTo>
                <a:lnTo>
                  <a:pt x="1816" y="5999"/>
                </a:lnTo>
                <a:moveTo>
                  <a:pt x="1584" y="5999"/>
                </a:moveTo>
                <a:lnTo>
                  <a:pt x="1444" y="5999"/>
                </a:lnTo>
                <a:lnTo>
                  <a:pt x="1444" y="5897"/>
                </a:lnTo>
                <a:lnTo>
                  <a:pt x="1584" y="5897"/>
                </a:lnTo>
                <a:lnTo>
                  <a:pt x="1584" y="5999"/>
                </a:lnTo>
                <a:moveTo>
                  <a:pt x="1351" y="5999"/>
                </a:moveTo>
                <a:lnTo>
                  <a:pt x="1212" y="5999"/>
                </a:lnTo>
                <a:lnTo>
                  <a:pt x="1212" y="5897"/>
                </a:lnTo>
                <a:lnTo>
                  <a:pt x="1351" y="5897"/>
                </a:lnTo>
                <a:lnTo>
                  <a:pt x="1351" y="5999"/>
                </a:lnTo>
                <a:moveTo>
                  <a:pt x="1119" y="5999"/>
                </a:moveTo>
                <a:lnTo>
                  <a:pt x="980" y="5999"/>
                </a:lnTo>
                <a:lnTo>
                  <a:pt x="980" y="5897"/>
                </a:lnTo>
                <a:lnTo>
                  <a:pt x="1119" y="5897"/>
                </a:lnTo>
                <a:lnTo>
                  <a:pt x="1119" y="5999"/>
                </a:lnTo>
                <a:moveTo>
                  <a:pt x="887" y="5999"/>
                </a:moveTo>
                <a:lnTo>
                  <a:pt x="748" y="5999"/>
                </a:lnTo>
                <a:lnTo>
                  <a:pt x="748" y="5897"/>
                </a:lnTo>
                <a:lnTo>
                  <a:pt x="887" y="5897"/>
                </a:lnTo>
                <a:lnTo>
                  <a:pt x="887" y="5999"/>
                </a:lnTo>
                <a:moveTo>
                  <a:pt x="655" y="5999"/>
                </a:moveTo>
                <a:lnTo>
                  <a:pt x="515" y="5999"/>
                </a:lnTo>
                <a:lnTo>
                  <a:pt x="515" y="5897"/>
                </a:lnTo>
                <a:lnTo>
                  <a:pt x="655" y="5897"/>
                </a:lnTo>
                <a:lnTo>
                  <a:pt x="655" y="5999"/>
                </a:lnTo>
                <a:moveTo>
                  <a:pt x="422" y="5999"/>
                </a:moveTo>
                <a:lnTo>
                  <a:pt x="283" y="5999"/>
                </a:lnTo>
                <a:lnTo>
                  <a:pt x="283" y="5897"/>
                </a:lnTo>
                <a:lnTo>
                  <a:pt x="422" y="5897"/>
                </a:lnTo>
                <a:lnTo>
                  <a:pt x="422" y="5999"/>
                </a:lnTo>
                <a:moveTo>
                  <a:pt x="184" y="5997"/>
                </a:moveTo>
                <a:cubicBezTo>
                  <a:pt x="118" y="5988"/>
                  <a:pt x="68" y="5956"/>
                  <a:pt x="33" y="5900"/>
                </a:cubicBezTo>
                <a:lnTo>
                  <a:pt x="119" y="5845"/>
                </a:lnTo>
                <a:cubicBezTo>
                  <a:pt x="137" y="5874"/>
                  <a:pt x="164" y="5891"/>
                  <a:pt x="198" y="5896"/>
                </a:cubicBezTo>
                <a:lnTo>
                  <a:pt x="184" y="5997"/>
                </a:lnTo>
                <a:moveTo>
                  <a:pt x="0" y="5784"/>
                </a:moveTo>
                <a:lnTo>
                  <a:pt x="0" y="5645"/>
                </a:lnTo>
                <a:lnTo>
                  <a:pt x="102" y="5645"/>
                </a:lnTo>
                <a:lnTo>
                  <a:pt x="102" y="5784"/>
                </a:lnTo>
                <a:lnTo>
                  <a:pt x="0" y="5784"/>
                </a:lnTo>
                <a:moveTo>
                  <a:pt x="0" y="5552"/>
                </a:moveTo>
                <a:lnTo>
                  <a:pt x="0" y="5411"/>
                </a:lnTo>
                <a:lnTo>
                  <a:pt x="102" y="5411"/>
                </a:lnTo>
                <a:lnTo>
                  <a:pt x="102" y="5552"/>
                </a:lnTo>
                <a:lnTo>
                  <a:pt x="0" y="5552"/>
                </a:lnTo>
                <a:moveTo>
                  <a:pt x="0" y="5318"/>
                </a:moveTo>
                <a:lnTo>
                  <a:pt x="0" y="5179"/>
                </a:lnTo>
                <a:lnTo>
                  <a:pt x="102" y="5179"/>
                </a:lnTo>
                <a:lnTo>
                  <a:pt x="102" y="5318"/>
                </a:lnTo>
                <a:lnTo>
                  <a:pt x="0" y="5318"/>
                </a:lnTo>
                <a:moveTo>
                  <a:pt x="0" y="5086"/>
                </a:moveTo>
                <a:lnTo>
                  <a:pt x="0" y="4947"/>
                </a:lnTo>
                <a:lnTo>
                  <a:pt x="102" y="4947"/>
                </a:lnTo>
                <a:lnTo>
                  <a:pt x="102" y="5086"/>
                </a:lnTo>
                <a:lnTo>
                  <a:pt x="0" y="5086"/>
                </a:lnTo>
                <a:moveTo>
                  <a:pt x="0" y="4854"/>
                </a:moveTo>
                <a:lnTo>
                  <a:pt x="0" y="4715"/>
                </a:lnTo>
                <a:lnTo>
                  <a:pt x="102" y="4715"/>
                </a:lnTo>
                <a:lnTo>
                  <a:pt x="102" y="4854"/>
                </a:lnTo>
                <a:lnTo>
                  <a:pt x="0" y="4854"/>
                </a:lnTo>
                <a:moveTo>
                  <a:pt x="0" y="4622"/>
                </a:moveTo>
                <a:lnTo>
                  <a:pt x="0" y="4482"/>
                </a:lnTo>
                <a:lnTo>
                  <a:pt x="102" y="4482"/>
                </a:lnTo>
                <a:lnTo>
                  <a:pt x="102" y="4622"/>
                </a:lnTo>
                <a:lnTo>
                  <a:pt x="0" y="4622"/>
                </a:lnTo>
                <a:moveTo>
                  <a:pt x="0" y="4389"/>
                </a:moveTo>
                <a:lnTo>
                  <a:pt x="0" y="4250"/>
                </a:lnTo>
                <a:lnTo>
                  <a:pt x="102" y="4250"/>
                </a:lnTo>
                <a:lnTo>
                  <a:pt x="102" y="4389"/>
                </a:lnTo>
                <a:lnTo>
                  <a:pt x="0" y="4389"/>
                </a:lnTo>
                <a:moveTo>
                  <a:pt x="0" y="4157"/>
                </a:moveTo>
                <a:lnTo>
                  <a:pt x="0" y="4018"/>
                </a:lnTo>
                <a:lnTo>
                  <a:pt x="102" y="4018"/>
                </a:lnTo>
                <a:lnTo>
                  <a:pt x="102" y="4157"/>
                </a:lnTo>
                <a:lnTo>
                  <a:pt x="0" y="4157"/>
                </a:lnTo>
                <a:moveTo>
                  <a:pt x="0" y="3925"/>
                </a:moveTo>
                <a:lnTo>
                  <a:pt x="0" y="3785"/>
                </a:lnTo>
                <a:lnTo>
                  <a:pt x="102" y="3785"/>
                </a:lnTo>
                <a:lnTo>
                  <a:pt x="102" y="3925"/>
                </a:lnTo>
                <a:lnTo>
                  <a:pt x="0" y="3925"/>
                </a:lnTo>
                <a:moveTo>
                  <a:pt x="0" y="3693"/>
                </a:moveTo>
                <a:lnTo>
                  <a:pt x="0" y="3553"/>
                </a:lnTo>
                <a:lnTo>
                  <a:pt x="102" y="3553"/>
                </a:lnTo>
                <a:lnTo>
                  <a:pt x="102" y="3693"/>
                </a:lnTo>
                <a:lnTo>
                  <a:pt x="0" y="3693"/>
                </a:lnTo>
                <a:moveTo>
                  <a:pt x="0" y="3460"/>
                </a:moveTo>
                <a:lnTo>
                  <a:pt x="0" y="3321"/>
                </a:lnTo>
                <a:lnTo>
                  <a:pt x="102" y="3321"/>
                </a:lnTo>
                <a:lnTo>
                  <a:pt x="102" y="3460"/>
                </a:lnTo>
                <a:lnTo>
                  <a:pt x="0" y="3460"/>
                </a:lnTo>
                <a:moveTo>
                  <a:pt x="0" y="3228"/>
                </a:moveTo>
                <a:lnTo>
                  <a:pt x="0" y="3089"/>
                </a:lnTo>
                <a:lnTo>
                  <a:pt x="102" y="3089"/>
                </a:lnTo>
                <a:lnTo>
                  <a:pt x="102" y="3228"/>
                </a:lnTo>
                <a:lnTo>
                  <a:pt x="0" y="3228"/>
                </a:lnTo>
                <a:moveTo>
                  <a:pt x="0" y="2996"/>
                </a:moveTo>
                <a:lnTo>
                  <a:pt x="0" y="2856"/>
                </a:lnTo>
                <a:lnTo>
                  <a:pt x="102" y="2856"/>
                </a:lnTo>
                <a:lnTo>
                  <a:pt x="102" y="2996"/>
                </a:lnTo>
                <a:lnTo>
                  <a:pt x="0" y="2996"/>
                </a:lnTo>
                <a:moveTo>
                  <a:pt x="0" y="2763"/>
                </a:moveTo>
                <a:lnTo>
                  <a:pt x="0" y="2624"/>
                </a:lnTo>
                <a:lnTo>
                  <a:pt x="102" y="2624"/>
                </a:lnTo>
                <a:lnTo>
                  <a:pt x="102" y="2763"/>
                </a:lnTo>
                <a:lnTo>
                  <a:pt x="0" y="2763"/>
                </a:lnTo>
                <a:moveTo>
                  <a:pt x="0" y="2531"/>
                </a:moveTo>
                <a:lnTo>
                  <a:pt x="0" y="2392"/>
                </a:lnTo>
                <a:lnTo>
                  <a:pt x="102" y="2392"/>
                </a:lnTo>
                <a:lnTo>
                  <a:pt x="102" y="2531"/>
                </a:lnTo>
                <a:lnTo>
                  <a:pt x="0" y="2531"/>
                </a:lnTo>
                <a:moveTo>
                  <a:pt x="0" y="2299"/>
                </a:moveTo>
                <a:lnTo>
                  <a:pt x="0" y="2160"/>
                </a:lnTo>
                <a:lnTo>
                  <a:pt x="102" y="2160"/>
                </a:lnTo>
                <a:lnTo>
                  <a:pt x="102" y="2299"/>
                </a:lnTo>
                <a:lnTo>
                  <a:pt x="0" y="2299"/>
                </a:lnTo>
                <a:moveTo>
                  <a:pt x="0" y="2067"/>
                </a:moveTo>
                <a:lnTo>
                  <a:pt x="0" y="1927"/>
                </a:lnTo>
                <a:lnTo>
                  <a:pt x="102" y="1927"/>
                </a:lnTo>
                <a:lnTo>
                  <a:pt x="102" y="2067"/>
                </a:lnTo>
                <a:lnTo>
                  <a:pt x="0" y="2067"/>
                </a:lnTo>
                <a:moveTo>
                  <a:pt x="0" y="1834"/>
                </a:moveTo>
                <a:lnTo>
                  <a:pt x="0" y="1695"/>
                </a:lnTo>
                <a:lnTo>
                  <a:pt x="102" y="1695"/>
                </a:lnTo>
                <a:lnTo>
                  <a:pt x="102" y="1834"/>
                </a:lnTo>
                <a:lnTo>
                  <a:pt x="0" y="1834"/>
                </a:lnTo>
                <a:moveTo>
                  <a:pt x="0" y="1602"/>
                </a:moveTo>
                <a:lnTo>
                  <a:pt x="0" y="1463"/>
                </a:lnTo>
                <a:lnTo>
                  <a:pt x="102" y="1463"/>
                </a:lnTo>
                <a:lnTo>
                  <a:pt x="102" y="1602"/>
                </a:lnTo>
                <a:lnTo>
                  <a:pt x="0" y="1602"/>
                </a:lnTo>
                <a:moveTo>
                  <a:pt x="0" y="1370"/>
                </a:moveTo>
                <a:lnTo>
                  <a:pt x="0" y="1231"/>
                </a:lnTo>
                <a:lnTo>
                  <a:pt x="102" y="1231"/>
                </a:lnTo>
                <a:lnTo>
                  <a:pt x="102" y="1370"/>
                </a:lnTo>
                <a:lnTo>
                  <a:pt x="0" y="1370"/>
                </a:lnTo>
                <a:moveTo>
                  <a:pt x="0" y="1138"/>
                </a:moveTo>
                <a:lnTo>
                  <a:pt x="0" y="998"/>
                </a:lnTo>
                <a:lnTo>
                  <a:pt x="102" y="998"/>
                </a:lnTo>
                <a:lnTo>
                  <a:pt x="102" y="1138"/>
                </a:lnTo>
                <a:lnTo>
                  <a:pt x="0" y="1138"/>
                </a:lnTo>
                <a:moveTo>
                  <a:pt x="0" y="905"/>
                </a:moveTo>
                <a:lnTo>
                  <a:pt x="0" y="766"/>
                </a:lnTo>
                <a:lnTo>
                  <a:pt x="102" y="766"/>
                </a:lnTo>
                <a:lnTo>
                  <a:pt x="102" y="905"/>
                </a:lnTo>
                <a:lnTo>
                  <a:pt x="0" y="905"/>
                </a:lnTo>
                <a:moveTo>
                  <a:pt x="0" y="673"/>
                </a:moveTo>
                <a:lnTo>
                  <a:pt x="0" y="534"/>
                </a:lnTo>
                <a:lnTo>
                  <a:pt x="102" y="534"/>
                </a:lnTo>
                <a:lnTo>
                  <a:pt x="102" y="673"/>
                </a:lnTo>
                <a:lnTo>
                  <a:pt x="0" y="673"/>
                </a:lnTo>
                <a:moveTo>
                  <a:pt x="0" y="441"/>
                </a:moveTo>
                <a:lnTo>
                  <a:pt x="0" y="301"/>
                </a:lnTo>
                <a:lnTo>
                  <a:pt x="102" y="301"/>
                </a:lnTo>
                <a:lnTo>
                  <a:pt x="102" y="441"/>
                </a:lnTo>
                <a:lnTo>
                  <a:pt x="0" y="441"/>
                </a:lnTo>
                <a:moveTo>
                  <a:pt x="0" y="207"/>
                </a:moveTo>
                <a:cubicBezTo>
                  <a:pt x="2" y="141"/>
                  <a:pt x="28" y="88"/>
                  <a:pt x="80" y="47"/>
                </a:cubicBezTo>
                <a:lnTo>
                  <a:pt x="144" y="127"/>
                </a:lnTo>
                <a:cubicBezTo>
                  <a:pt x="117" y="148"/>
                  <a:pt x="103" y="176"/>
                  <a:pt x="102" y="210"/>
                </a:cubicBezTo>
                <a:lnTo>
                  <a:pt x="0" y="207"/>
                </a:lnTo>
                <a:moveTo>
                  <a:pt x="193" y="1"/>
                </a:moveTo>
                <a:cubicBezTo>
                  <a:pt x="200" y="0"/>
                  <a:pt x="206" y="0"/>
                  <a:pt x="213" y="0"/>
                </a:cubicBezTo>
                <a:lnTo>
                  <a:pt x="353" y="0"/>
                </a:lnTo>
                <a:lnTo>
                  <a:pt x="353" y="102"/>
                </a:lnTo>
                <a:lnTo>
                  <a:pt x="213" y="102"/>
                </a:lnTo>
                <a:cubicBezTo>
                  <a:pt x="210" y="102"/>
                  <a:pt x="206" y="102"/>
                  <a:pt x="203" y="103"/>
                </a:cubicBezTo>
                <a:lnTo>
                  <a:pt x="193" y="1"/>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55" name="フリーフォーム: 図形 254"/>
          <p:cNvSpPr/>
          <p:nvPr/>
        </p:nvSpPr>
        <p:spPr>
          <a:xfrm>
            <a:off x="5405040" y="1260000"/>
            <a:ext cx="5034240" cy="2159640"/>
          </a:xfrm>
          <a:custGeom>
            <a:avLst/>
            <a:gdLst/>
            <a:ahLst/>
            <a:cxnLst/>
            <a:rect l="0" t="0" r="r" b="b"/>
            <a:pathLst>
              <a:path w="13984" h="5999">
                <a:moveTo>
                  <a:pt x="446" y="0"/>
                </a:moveTo>
                <a:lnTo>
                  <a:pt x="585" y="0"/>
                </a:lnTo>
                <a:lnTo>
                  <a:pt x="585" y="102"/>
                </a:lnTo>
                <a:lnTo>
                  <a:pt x="446" y="102"/>
                </a:lnTo>
                <a:lnTo>
                  <a:pt x="446" y="0"/>
                </a:lnTo>
                <a:moveTo>
                  <a:pt x="678" y="0"/>
                </a:moveTo>
                <a:lnTo>
                  <a:pt x="817" y="0"/>
                </a:lnTo>
                <a:lnTo>
                  <a:pt x="817" y="102"/>
                </a:lnTo>
                <a:lnTo>
                  <a:pt x="678" y="102"/>
                </a:lnTo>
                <a:lnTo>
                  <a:pt x="678" y="0"/>
                </a:lnTo>
                <a:moveTo>
                  <a:pt x="910" y="0"/>
                </a:moveTo>
                <a:lnTo>
                  <a:pt x="1049" y="0"/>
                </a:lnTo>
                <a:lnTo>
                  <a:pt x="1049" y="102"/>
                </a:lnTo>
                <a:lnTo>
                  <a:pt x="910" y="102"/>
                </a:lnTo>
                <a:lnTo>
                  <a:pt x="910" y="0"/>
                </a:lnTo>
                <a:moveTo>
                  <a:pt x="1142" y="0"/>
                </a:moveTo>
                <a:lnTo>
                  <a:pt x="1282" y="0"/>
                </a:lnTo>
                <a:lnTo>
                  <a:pt x="1282" y="102"/>
                </a:lnTo>
                <a:lnTo>
                  <a:pt x="1142" y="102"/>
                </a:lnTo>
                <a:lnTo>
                  <a:pt x="1142" y="0"/>
                </a:lnTo>
                <a:moveTo>
                  <a:pt x="1375" y="0"/>
                </a:moveTo>
                <a:lnTo>
                  <a:pt x="1514" y="0"/>
                </a:lnTo>
                <a:lnTo>
                  <a:pt x="1514" y="102"/>
                </a:lnTo>
                <a:lnTo>
                  <a:pt x="1375" y="102"/>
                </a:lnTo>
                <a:lnTo>
                  <a:pt x="1375" y="0"/>
                </a:lnTo>
                <a:moveTo>
                  <a:pt x="1607" y="0"/>
                </a:moveTo>
                <a:lnTo>
                  <a:pt x="1746" y="0"/>
                </a:lnTo>
                <a:lnTo>
                  <a:pt x="1746" y="102"/>
                </a:lnTo>
                <a:lnTo>
                  <a:pt x="1607" y="102"/>
                </a:lnTo>
                <a:lnTo>
                  <a:pt x="1607" y="0"/>
                </a:lnTo>
                <a:moveTo>
                  <a:pt x="1839" y="0"/>
                </a:moveTo>
                <a:lnTo>
                  <a:pt x="1978" y="0"/>
                </a:lnTo>
                <a:lnTo>
                  <a:pt x="1978" y="102"/>
                </a:lnTo>
                <a:lnTo>
                  <a:pt x="1839" y="102"/>
                </a:lnTo>
                <a:lnTo>
                  <a:pt x="1839" y="0"/>
                </a:lnTo>
                <a:moveTo>
                  <a:pt x="2071" y="0"/>
                </a:moveTo>
                <a:lnTo>
                  <a:pt x="2211" y="0"/>
                </a:lnTo>
                <a:lnTo>
                  <a:pt x="2211" y="102"/>
                </a:lnTo>
                <a:lnTo>
                  <a:pt x="2071" y="102"/>
                </a:lnTo>
                <a:lnTo>
                  <a:pt x="2071" y="0"/>
                </a:lnTo>
                <a:moveTo>
                  <a:pt x="2304" y="0"/>
                </a:moveTo>
                <a:lnTo>
                  <a:pt x="2443" y="0"/>
                </a:lnTo>
                <a:lnTo>
                  <a:pt x="2443" y="102"/>
                </a:lnTo>
                <a:lnTo>
                  <a:pt x="2304" y="102"/>
                </a:lnTo>
                <a:lnTo>
                  <a:pt x="2304" y="0"/>
                </a:lnTo>
                <a:moveTo>
                  <a:pt x="2536" y="0"/>
                </a:moveTo>
                <a:lnTo>
                  <a:pt x="2675" y="0"/>
                </a:lnTo>
                <a:lnTo>
                  <a:pt x="2675" y="102"/>
                </a:lnTo>
                <a:lnTo>
                  <a:pt x="2536" y="102"/>
                </a:lnTo>
                <a:lnTo>
                  <a:pt x="2536" y="0"/>
                </a:lnTo>
                <a:moveTo>
                  <a:pt x="2768" y="0"/>
                </a:moveTo>
                <a:lnTo>
                  <a:pt x="2907" y="0"/>
                </a:lnTo>
                <a:lnTo>
                  <a:pt x="2907" y="102"/>
                </a:lnTo>
                <a:lnTo>
                  <a:pt x="2768" y="102"/>
                </a:lnTo>
                <a:lnTo>
                  <a:pt x="2768" y="0"/>
                </a:lnTo>
                <a:moveTo>
                  <a:pt x="3000" y="0"/>
                </a:moveTo>
                <a:lnTo>
                  <a:pt x="3140" y="0"/>
                </a:lnTo>
                <a:lnTo>
                  <a:pt x="3140" y="102"/>
                </a:lnTo>
                <a:lnTo>
                  <a:pt x="3000" y="102"/>
                </a:lnTo>
                <a:lnTo>
                  <a:pt x="3000" y="0"/>
                </a:lnTo>
                <a:moveTo>
                  <a:pt x="3233" y="0"/>
                </a:moveTo>
                <a:lnTo>
                  <a:pt x="3372" y="0"/>
                </a:lnTo>
                <a:lnTo>
                  <a:pt x="3372" y="102"/>
                </a:lnTo>
                <a:lnTo>
                  <a:pt x="3233" y="102"/>
                </a:lnTo>
                <a:lnTo>
                  <a:pt x="3233" y="0"/>
                </a:lnTo>
                <a:moveTo>
                  <a:pt x="3465" y="0"/>
                </a:moveTo>
                <a:lnTo>
                  <a:pt x="3604" y="0"/>
                </a:lnTo>
                <a:lnTo>
                  <a:pt x="3604" y="102"/>
                </a:lnTo>
                <a:lnTo>
                  <a:pt x="3465" y="102"/>
                </a:lnTo>
                <a:lnTo>
                  <a:pt x="3465" y="0"/>
                </a:lnTo>
                <a:moveTo>
                  <a:pt x="3697" y="0"/>
                </a:moveTo>
                <a:lnTo>
                  <a:pt x="3837" y="0"/>
                </a:lnTo>
                <a:lnTo>
                  <a:pt x="3837" y="102"/>
                </a:lnTo>
                <a:lnTo>
                  <a:pt x="3697" y="102"/>
                </a:lnTo>
                <a:lnTo>
                  <a:pt x="3697" y="0"/>
                </a:lnTo>
                <a:moveTo>
                  <a:pt x="3930" y="0"/>
                </a:moveTo>
                <a:lnTo>
                  <a:pt x="4069" y="0"/>
                </a:lnTo>
                <a:lnTo>
                  <a:pt x="4069" y="102"/>
                </a:lnTo>
                <a:lnTo>
                  <a:pt x="3930" y="102"/>
                </a:lnTo>
                <a:lnTo>
                  <a:pt x="3930" y="0"/>
                </a:lnTo>
                <a:moveTo>
                  <a:pt x="4162" y="0"/>
                </a:moveTo>
                <a:lnTo>
                  <a:pt x="4301" y="0"/>
                </a:lnTo>
                <a:lnTo>
                  <a:pt x="4301" y="102"/>
                </a:lnTo>
                <a:lnTo>
                  <a:pt x="4162" y="102"/>
                </a:lnTo>
                <a:lnTo>
                  <a:pt x="4162" y="0"/>
                </a:lnTo>
                <a:moveTo>
                  <a:pt x="4394" y="0"/>
                </a:moveTo>
                <a:lnTo>
                  <a:pt x="4533" y="0"/>
                </a:lnTo>
                <a:lnTo>
                  <a:pt x="4533" y="102"/>
                </a:lnTo>
                <a:lnTo>
                  <a:pt x="4394" y="102"/>
                </a:lnTo>
                <a:lnTo>
                  <a:pt x="4394" y="0"/>
                </a:lnTo>
                <a:moveTo>
                  <a:pt x="4626" y="0"/>
                </a:moveTo>
                <a:lnTo>
                  <a:pt x="4766" y="0"/>
                </a:lnTo>
                <a:lnTo>
                  <a:pt x="4766" y="102"/>
                </a:lnTo>
                <a:lnTo>
                  <a:pt x="4626" y="102"/>
                </a:lnTo>
                <a:lnTo>
                  <a:pt x="4626" y="0"/>
                </a:lnTo>
                <a:moveTo>
                  <a:pt x="4859" y="0"/>
                </a:moveTo>
                <a:lnTo>
                  <a:pt x="4998" y="0"/>
                </a:lnTo>
                <a:lnTo>
                  <a:pt x="4998" y="102"/>
                </a:lnTo>
                <a:lnTo>
                  <a:pt x="4859" y="102"/>
                </a:lnTo>
                <a:lnTo>
                  <a:pt x="4859" y="0"/>
                </a:lnTo>
                <a:moveTo>
                  <a:pt x="5091" y="0"/>
                </a:moveTo>
                <a:lnTo>
                  <a:pt x="5230" y="0"/>
                </a:lnTo>
                <a:lnTo>
                  <a:pt x="5230" y="102"/>
                </a:lnTo>
                <a:lnTo>
                  <a:pt x="5091" y="102"/>
                </a:lnTo>
                <a:lnTo>
                  <a:pt x="5091" y="0"/>
                </a:lnTo>
                <a:moveTo>
                  <a:pt x="5323" y="0"/>
                </a:moveTo>
                <a:lnTo>
                  <a:pt x="5462" y="0"/>
                </a:lnTo>
                <a:lnTo>
                  <a:pt x="5462" y="102"/>
                </a:lnTo>
                <a:lnTo>
                  <a:pt x="5323" y="102"/>
                </a:lnTo>
                <a:lnTo>
                  <a:pt x="5323" y="0"/>
                </a:lnTo>
                <a:moveTo>
                  <a:pt x="5555" y="0"/>
                </a:moveTo>
                <a:lnTo>
                  <a:pt x="5695" y="0"/>
                </a:lnTo>
                <a:lnTo>
                  <a:pt x="5695" y="102"/>
                </a:lnTo>
                <a:lnTo>
                  <a:pt x="5555" y="102"/>
                </a:lnTo>
                <a:lnTo>
                  <a:pt x="5555" y="0"/>
                </a:lnTo>
                <a:moveTo>
                  <a:pt x="5788" y="0"/>
                </a:moveTo>
                <a:lnTo>
                  <a:pt x="5927" y="0"/>
                </a:lnTo>
                <a:lnTo>
                  <a:pt x="5927" y="102"/>
                </a:lnTo>
                <a:lnTo>
                  <a:pt x="5788" y="102"/>
                </a:lnTo>
                <a:lnTo>
                  <a:pt x="5788" y="0"/>
                </a:lnTo>
                <a:moveTo>
                  <a:pt x="6021" y="0"/>
                </a:moveTo>
                <a:lnTo>
                  <a:pt x="6160" y="0"/>
                </a:lnTo>
                <a:lnTo>
                  <a:pt x="6160" y="102"/>
                </a:lnTo>
                <a:lnTo>
                  <a:pt x="6021" y="102"/>
                </a:lnTo>
                <a:lnTo>
                  <a:pt x="6021" y="0"/>
                </a:lnTo>
                <a:moveTo>
                  <a:pt x="6253" y="0"/>
                </a:moveTo>
                <a:lnTo>
                  <a:pt x="6393" y="0"/>
                </a:lnTo>
                <a:lnTo>
                  <a:pt x="6393" y="102"/>
                </a:lnTo>
                <a:lnTo>
                  <a:pt x="6253" y="102"/>
                </a:lnTo>
                <a:lnTo>
                  <a:pt x="6253" y="0"/>
                </a:lnTo>
                <a:moveTo>
                  <a:pt x="6485" y="0"/>
                </a:moveTo>
                <a:lnTo>
                  <a:pt x="6625" y="0"/>
                </a:lnTo>
                <a:lnTo>
                  <a:pt x="6625" y="102"/>
                </a:lnTo>
                <a:lnTo>
                  <a:pt x="6485" y="102"/>
                </a:lnTo>
                <a:lnTo>
                  <a:pt x="6485" y="0"/>
                </a:lnTo>
                <a:moveTo>
                  <a:pt x="6718" y="0"/>
                </a:moveTo>
                <a:lnTo>
                  <a:pt x="6857" y="0"/>
                </a:lnTo>
                <a:lnTo>
                  <a:pt x="6857" y="102"/>
                </a:lnTo>
                <a:lnTo>
                  <a:pt x="6718" y="102"/>
                </a:lnTo>
                <a:lnTo>
                  <a:pt x="6718" y="0"/>
                </a:lnTo>
                <a:moveTo>
                  <a:pt x="6950" y="0"/>
                </a:moveTo>
                <a:lnTo>
                  <a:pt x="7089" y="0"/>
                </a:lnTo>
                <a:lnTo>
                  <a:pt x="7089" y="102"/>
                </a:lnTo>
                <a:lnTo>
                  <a:pt x="6950" y="102"/>
                </a:lnTo>
                <a:lnTo>
                  <a:pt x="6950" y="0"/>
                </a:lnTo>
                <a:moveTo>
                  <a:pt x="7182" y="0"/>
                </a:moveTo>
                <a:lnTo>
                  <a:pt x="7322" y="0"/>
                </a:lnTo>
                <a:lnTo>
                  <a:pt x="7322" y="102"/>
                </a:lnTo>
                <a:lnTo>
                  <a:pt x="7182" y="102"/>
                </a:lnTo>
                <a:lnTo>
                  <a:pt x="7182" y="0"/>
                </a:lnTo>
                <a:moveTo>
                  <a:pt x="7415" y="0"/>
                </a:moveTo>
                <a:lnTo>
                  <a:pt x="7554" y="0"/>
                </a:lnTo>
                <a:lnTo>
                  <a:pt x="7554" y="102"/>
                </a:lnTo>
                <a:lnTo>
                  <a:pt x="7415" y="102"/>
                </a:lnTo>
                <a:lnTo>
                  <a:pt x="7415" y="0"/>
                </a:lnTo>
                <a:moveTo>
                  <a:pt x="7647" y="0"/>
                </a:moveTo>
                <a:lnTo>
                  <a:pt x="7786" y="0"/>
                </a:lnTo>
                <a:lnTo>
                  <a:pt x="7786" y="102"/>
                </a:lnTo>
                <a:lnTo>
                  <a:pt x="7647" y="102"/>
                </a:lnTo>
                <a:lnTo>
                  <a:pt x="7647" y="0"/>
                </a:lnTo>
                <a:moveTo>
                  <a:pt x="7879" y="0"/>
                </a:moveTo>
                <a:lnTo>
                  <a:pt x="8018" y="0"/>
                </a:lnTo>
                <a:lnTo>
                  <a:pt x="8018" y="102"/>
                </a:lnTo>
                <a:lnTo>
                  <a:pt x="7879" y="102"/>
                </a:lnTo>
                <a:lnTo>
                  <a:pt x="7879" y="0"/>
                </a:lnTo>
                <a:moveTo>
                  <a:pt x="8111" y="0"/>
                </a:moveTo>
                <a:lnTo>
                  <a:pt x="8251" y="0"/>
                </a:lnTo>
                <a:lnTo>
                  <a:pt x="8251" y="102"/>
                </a:lnTo>
                <a:lnTo>
                  <a:pt x="8111" y="102"/>
                </a:lnTo>
                <a:lnTo>
                  <a:pt x="8111" y="0"/>
                </a:lnTo>
                <a:moveTo>
                  <a:pt x="8344" y="0"/>
                </a:moveTo>
                <a:lnTo>
                  <a:pt x="8483" y="0"/>
                </a:lnTo>
                <a:lnTo>
                  <a:pt x="8483" y="102"/>
                </a:lnTo>
                <a:lnTo>
                  <a:pt x="8344" y="102"/>
                </a:lnTo>
                <a:lnTo>
                  <a:pt x="8344" y="0"/>
                </a:lnTo>
                <a:moveTo>
                  <a:pt x="8576" y="0"/>
                </a:moveTo>
                <a:lnTo>
                  <a:pt x="8715" y="0"/>
                </a:lnTo>
                <a:lnTo>
                  <a:pt x="8715" y="102"/>
                </a:lnTo>
                <a:lnTo>
                  <a:pt x="8576" y="102"/>
                </a:lnTo>
                <a:lnTo>
                  <a:pt x="8576" y="0"/>
                </a:lnTo>
                <a:moveTo>
                  <a:pt x="8808" y="0"/>
                </a:moveTo>
                <a:lnTo>
                  <a:pt x="8947" y="0"/>
                </a:lnTo>
                <a:lnTo>
                  <a:pt x="8947" y="102"/>
                </a:lnTo>
                <a:lnTo>
                  <a:pt x="8808" y="102"/>
                </a:lnTo>
                <a:lnTo>
                  <a:pt x="8808" y="0"/>
                </a:lnTo>
                <a:moveTo>
                  <a:pt x="9040" y="0"/>
                </a:moveTo>
                <a:lnTo>
                  <a:pt x="9180" y="0"/>
                </a:lnTo>
                <a:lnTo>
                  <a:pt x="9180" y="102"/>
                </a:lnTo>
                <a:lnTo>
                  <a:pt x="9040" y="102"/>
                </a:lnTo>
                <a:lnTo>
                  <a:pt x="9040" y="0"/>
                </a:lnTo>
                <a:moveTo>
                  <a:pt x="9273" y="0"/>
                </a:moveTo>
                <a:lnTo>
                  <a:pt x="9412" y="0"/>
                </a:lnTo>
                <a:lnTo>
                  <a:pt x="9412" y="102"/>
                </a:lnTo>
                <a:lnTo>
                  <a:pt x="9273" y="102"/>
                </a:lnTo>
                <a:lnTo>
                  <a:pt x="9273" y="0"/>
                </a:lnTo>
                <a:moveTo>
                  <a:pt x="9505" y="0"/>
                </a:moveTo>
                <a:lnTo>
                  <a:pt x="9644" y="0"/>
                </a:lnTo>
                <a:lnTo>
                  <a:pt x="9644" y="102"/>
                </a:lnTo>
                <a:lnTo>
                  <a:pt x="9505" y="102"/>
                </a:lnTo>
                <a:lnTo>
                  <a:pt x="9505" y="0"/>
                </a:lnTo>
                <a:moveTo>
                  <a:pt x="9737" y="0"/>
                </a:moveTo>
                <a:lnTo>
                  <a:pt x="9877" y="0"/>
                </a:lnTo>
                <a:lnTo>
                  <a:pt x="9877" y="102"/>
                </a:lnTo>
                <a:lnTo>
                  <a:pt x="9737" y="102"/>
                </a:lnTo>
                <a:lnTo>
                  <a:pt x="9737" y="0"/>
                </a:lnTo>
                <a:moveTo>
                  <a:pt x="9970" y="0"/>
                </a:moveTo>
                <a:lnTo>
                  <a:pt x="10109" y="0"/>
                </a:lnTo>
                <a:lnTo>
                  <a:pt x="10109" y="102"/>
                </a:lnTo>
                <a:lnTo>
                  <a:pt x="9970" y="102"/>
                </a:lnTo>
                <a:lnTo>
                  <a:pt x="9970" y="0"/>
                </a:lnTo>
                <a:moveTo>
                  <a:pt x="10202" y="0"/>
                </a:moveTo>
                <a:lnTo>
                  <a:pt x="10341" y="0"/>
                </a:lnTo>
                <a:lnTo>
                  <a:pt x="10341" y="102"/>
                </a:lnTo>
                <a:lnTo>
                  <a:pt x="10202" y="102"/>
                </a:lnTo>
                <a:lnTo>
                  <a:pt x="10202" y="0"/>
                </a:lnTo>
                <a:moveTo>
                  <a:pt x="10434" y="0"/>
                </a:moveTo>
                <a:lnTo>
                  <a:pt x="10573" y="0"/>
                </a:lnTo>
                <a:lnTo>
                  <a:pt x="10573" y="102"/>
                </a:lnTo>
                <a:lnTo>
                  <a:pt x="10434" y="102"/>
                </a:lnTo>
                <a:lnTo>
                  <a:pt x="10434" y="0"/>
                </a:lnTo>
                <a:moveTo>
                  <a:pt x="10666" y="0"/>
                </a:moveTo>
                <a:lnTo>
                  <a:pt x="10806" y="0"/>
                </a:lnTo>
                <a:lnTo>
                  <a:pt x="10806" y="102"/>
                </a:lnTo>
                <a:lnTo>
                  <a:pt x="10666" y="102"/>
                </a:lnTo>
                <a:lnTo>
                  <a:pt x="10666" y="0"/>
                </a:lnTo>
                <a:moveTo>
                  <a:pt x="10899" y="0"/>
                </a:moveTo>
                <a:lnTo>
                  <a:pt x="11038" y="0"/>
                </a:lnTo>
                <a:lnTo>
                  <a:pt x="11038" y="102"/>
                </a:lnTo>
                <a:lnTo>
                  <a:pt x="10899" y="102"/>
                </a:lnTo>
                <a:lnTo>
                  <a:pt x="10899" y="0"/>
                </a:lnTo>
                <a:moveTo>
                  <a:pt x="11131" y="0"/>
                </a:moveTo>
                <a:lnTo>
                  <a:pt x="11270" y="0"/>
                </a:lnTo>
                <a:lnTo>
                  <a:pt x="11270" y="102"/>
                </a:lnTo>
                <a:lnTo>
                  <a:pt x="11131" y="102"/>
                </a:lnTo>
                <a:lnTo>
                  <a:pt x="11131" y="0"/>
                </a:lnTo>
                <a:moveTo>
                  <a:pt x="11363" y="0"/>
                </a:moveTo>
                <a:lnTo>
                  <a:pt x="11502" y="0"/>
                </a:lnTo>
                <a:lnTo>
                  <a:pt x="11502" y="102"/>
                </a:lnTo>
                <a:lnTo>
                  <a:pt x="11363" y="102"/>
                </a:lnTo>
                <a:lnTo>
                  <a:pt x="11363" y="0"/>
                </a:lnTo>
                <a:moveTo>
                  <a:pt x="11595" y="0"/>
                </a:moveTo>
                <a:lnTo>
                  <a:pt x="11735" y="0"/>
                </a:lnTo>
                <a:lnTo>
                  <a:pt x="11735" y="102"/>
                </a:lnTo>
                <a:lnTo>
                  <a:pt x="11595" y="102"/>
                </a:lnTo>
                <a:lnTo>
                  <a:pt x="11595" y="0"/>
                </a:lnTo>
                <a:moveTo>
                  <a:pt x="11828" y="0"/>
                </a:moveTo>
                <a:lnTo>
                  <a:pt x="11967" y="0"/>
                </a:lnTo>
                <a:lnTo>
                  <a:pt x="11967" y="102"/>
                </a:lnTo>
                <a:lnTo>
                  <a:pt x="11828" y="102"/>
                </a:lnTo>
                <a:lnTo>
                  <a:pt x="11828" y="0"/>
                </a:lnTo>
                <a:moveTo>
                  <a:pt x="12060" y="0"/>
                </a:moveTo>
                <a:lnTo>
                  <a:pt x="12199" y="0"/>
                </a:lnTo>
                <a:lnTo>
                  <a:pt x="12199" y="102"/>
                </a:lnTo>
                <a:lnTo>
                  <a:pt x="12060" y="102"/>
                </a:lnTo>
                <a:lnTo>
                  <a:pt x="12060" y="0"/>
                </a:lnTo>
                <a:moveTo>
                  <a:pt x="12292" y="0"/>
                </a:moveTo>
                <a:lnTo>
                  <a:pt x="12431" y="0"/>
                </a:lnTo>
                <a:lnTo>
                  <a:pt x="12431" y="102"/>
                </a:lnTo>
                <a:lnTo>
                  <a:pt x="12292" y="102"/>
                </a:lnTo>
                <a:lnTo>
                  <a:pt x="12292" y="0"/>
                </a:lnTo>
                <a:moveTo>
                  <a:pt x="12524" y="0"/>
                </a:moveTo>
                <a:lnTo>
                  <a:pt x="12664" y="0"/>
                </a:lnTo>
                <a:lnTo>
                  <a:pt x="12664" y="102"/>
                </a:lnTo>
                <a:lnTo>
                  <a:pt x="12524" y="102"/>
                </a:lnTo>
                <a:lnTo>
                  <a:pt x="12524" y="0"/>
                </a:lnTo>
                <a:moveTo>
                  <a:pt x="12757" y="0"/>
                </a:moveTo>
                <a:lnTo>
                  <a:pt x="12896" y="0"/>
                </a:lnTo>
                <a:lnTo>
                  <a:pt x="12896" y="102"/>
                </a:lnTo>
                <a:lnTo>
                  <a:pt x="12757" y="102"/>
                </a:lnTo>
                <a:lnTo>
                  <a:pt x="12757" y="0"/>
                </a:lnTo>
                <a:moveTo>
                  <a:pt x="12989" y="0"/>
                </a:moveTo>
                <a:lnTo>
                  <a:pt x="13128" y="0"/>
                </a:lnTo>
                <a:lnTo>
                  <a:pt x="13128" y="102"/>
                </a:lnTo>
                <a:lnTo>
                  <a:pt x="12989" y="102"/>
                </a:lnTo>
                <a:lnTo>
                  <a:pt x="12989" y="0"/>
                </a:lnTo>
                <a:moveTo>
                  <a:pt x="13221" y="0"/>
                </a:moveTo>
                <a:lnTo>
                  <a:pt x="13361" y="0"/>
                </a:lnTo>
                <a:lnTo>
                  <a:pt x="13361" y="102"/>
                </a:lnTo>
                <a:lnTo>
                  <a:pt x="13221" y="102"/>
                </a:lnTo>
                <a:lnTo>
                  <a:pt x="13221" y="0"/>
                </a:lnTo>
                <a:moveTo>
                  <a:pt x="13454" y="0"/>
                </a:moveTo>
                <a:lnTo>
                  <a:pt x="13593" y="0"/>
                </a:lnTo>
                <a:lnTo>
                  <a:pt x="13593" y="102"/>
                </a:lnTo>
                <a:lnTo>
                  <a:pt x="13454" y="102"/>
                </a:lnTo>
                <a:lnTo>
                  <a:pt x="13454" y="0"/>
                </a:lnTo>
                <a:moveTo>
                  <a:pt x="13686" y="0"/>
                </a:moveTo>
                <a:lnTo>
                  <a:pt x="13771" y="0"/>
                </a:lnTo>
                <a:cubicBezTo>
                  <a:pt x="13795" y="0"/>
                  <a:pt x="13818" y="4"/>
                  <a:pt x="13841" y="12"/>
                </a:cubicBezTo>
                <a:lnTo>
                  <a:pt x="13807" y="108"/>
                </a:lnTo>
                <a:cubicBezTo>
                  <a:pt x="13795" y="104"/>
                  <a:pt x="13783" y="102"/>
                  <a:pt x="13771" y="102"/>
                </a:cubicBezTo>
                <a:lnTo>
                  <a:pt x="13686" y="102"/>
                </a:lnTo>
                <a:lnTo>
                  <a:pt x="13686" y="0"/>
                </a:lnTo>
                <a:moveTo>
                  <a:pt x="13940" y="83"/>
                </a:moveTo>
                <a:cubicBezTo>
                  <a:pt x="13969" y="122"/>
                  <a:pt x="13984" y="165"/>
                  <a:pt x="13984" y="214"/>
                </a:cubicBezTo>
                <a:lnTo>
                  <a:pt x="13984" y="247"/>
                </a:lnTo>
                <a:lnTo>
                  <a:pt x="13882" y="247"/>
                </a:lnTo>
                <a:lnTo>
                  <a:pt x="13882" y="214"/>
                </a:lnTo>
                <a:cubicBezTo>
                  <a:pt x="13882" y="188"/>
                  <a:pt x="13874" y="166"/>
                  <a:pt x="13859" y="146"/>
                </a:cubicBezTo>
                <a:lnTo>
                  <a:pt x="13940" y="83"/>
                </a:lnTo>
                <a:moveTo>
                  <a:pt x="13984" y="340"/>
                </a:moveTo>
                <a:lnTo>
                  <a:pt x="13984" y="479"/>
                </a:lnTo>
                <a:lnTo>
                  <a:pt x="13882" y="479"/>
                </a:lnTo>
                <a:lnTo>
                  <a:pt x="13882" y="340"/>
                </a:lnTo>
                <a:lnTo>
                  <a:pt x="13984" y="340"/>
                </a:lnTo>
                <a:moveTo>
                  <a:pt x="13984" y="572"/>
                </a:moveTo>
                <a:lnTo>
                  <a:pt x="13984" y="711"/>
                </a:lnTo>
                <a:lnTo>
                  <a:pt x="13882" y="711"/>
                </a:lnTo>
                <a:lnTo>
                  <a:pt x="13882" y="572"/>
                </a:lnTo>
                <a:lnTo>
                  <a:pt x="13984" y="572"/>
                </a:lnTo>
                <a:moveTo>
                  <a:pt x="13984" y="804"/>
                </a:moveTo>
                <a:lnTo>
                  <a:pt x="13984" y="943"/>
                </a:lnTo>
                <a:lnTo>
                  <a:pt x="13882" y="943"/>
                </a:lnTo>
                <a:lnTo>
                  <a:pt x="13882" y="804"/>
                </a:lnTo>
                <a:lnTo>
                  <a:pt x="13984" y="804"/>
                </a:lnTo>
                <a:moveTo>
                  <a:pt x="13984" y="1036"/>
                </a:moveTo>
                <a:lnTo>
                  <a:pt x="13984" y="1176"/>
                </a:lnTo>
                <a:lnTo>
                  <a:pt x="13882" y="1176"/>
                </a:lnTo>
                <a:lnTo>
                  <a:pt x="13882" y="1036"/>
                </a:lnTo>
                <a:lnTo>
                  <a:pt x="13984" y="1036"/>
                </a:lnTo>
                <a:moveTo>
                  <a:pt x="13984" y="1269"/>
                </a:moveTo>
                <a:lnTo>
                  <a:pt x="13984" y="1408"/>
                </a:lnTo>
                <a:lnTo>
                  <a:pt x="13882" y="1408"/>
                </a:lnTo>
                <a:lnTo>
                  <a:pt x="13882" y="1269"/>
                </a:lnTo>
                <a:lnTo>
                  <a:pt x="13984" y="1269"/>
                </a:lnTo>
                <a:moveTo>
                  <a:pt x="13984" y="1501"/>
                </a:moveTo>
                <a:lnTo>
                  <a:pt x="13984" y="1640"/>
                </a:lnTo>
                <a:lnTo>
                  <a:pt x="13882" y="1640"/>
                </a:lnTo>
                <a:lnTo>
                  <a:pt x="13882" y="1501"/>
                </a:lnTo>
                <a:lnTo>
                  <a:pt x="13984" y="1501"/>
                </a:lnTo>
                <a:moveTo>
                  <a:pt x="13984" y="1733"/>
                </a:moveTo>
                <a:lnTo>
                  <a:pt x="13984" y="1873"/>
                </a:lnTo>
                <a:lnTo>
                  <a:pt x="13882" y="1873"/>
                </a:lnTo>
                <a:lnTo>
                  <a:pt x="13882" y="1733"/>
                </a:lnTo>
                <a:lnTo>
                  <a:pt x="13984" y="1733"/>
                </a:lnTo>
                <a:moveTo>
                  <a:pt x="13984" y="1966"/>
                </a:moveTo>
                <a:lnTo>
                  <a:pt x="13984" y="2105"/>
                </a:lnTo>
                <a:lnTo>
                  <a:pt x="13882" y="2105"/>
                </a:lnTo>
                <a:lnTo>
                  <a:pt x="13882" y="1966"/>
                </a:lnTo>
                <a:lnTo>
                  <a:pt x="13984" y="1966"/>
                </a:lnTo>
                <a:moveTo>
                  <a:pt x="13984" y="2198"/>
                </a:moveTo>
                <a:lnTo>
                  <a:pt x="13984" y="2337"/>
                </a:lnTo>
                <a:lnTo>
                  <a:pt x="13882" y="2337"/>
                </a:lnTo>
                <a:lnTo>
                  <a:pt x="13882" y="2198"/>
                </a:lnTo>
                <a:lnTo>
                  <a:pt x="13984" y="2198"/>
                </a:lnTo>
                <a:moveTo>
                  <a:pt x="13984" y="2430"/>
                </a:moveTo>
                <a:lnTo>
                  <a:pt x="13984" y="2569"/>
                </a:lnTo>
                <a:lnTo>
                  <a:pt x="13882" y="2569"/>
                </a:lnTo>
                <a:lnTo>
                  <a:pt x="13882" y="2430"/>
                </a:lnTo>
                <a:lnTo>
                  <a:pt x="13984" y="2430"/>
                </a:lnTo>
                <a:moveTo>
                  <a:pt x="13984" y="2662"/>
                </a:moveTo>
                <a:lnTo>
                  <a:pt x="13984" y="2802"/>
                </a:lnTo>
                <a:lnTo>
                  <a:pt x="13882" y="2802"/>
                </a:lnTo>
                <a:lnTo>
                  <a:pt x="13882" y="2662"/>
                </a:lnTo>
                <a:lnTo>
                  <a:pt x="13984" y="2662"/>
                </a:lnTo>
                <a:moveTo>
                  <a:pt x="13984" y="2895"/>
                </a:moveTo>
                <a:lnTo>
                  <a:pt x="13984" y="3034"/>
                </a:lnTo>
                <a:lnTo>
                  <a:pt x="13882" y="3034"/>
                </a:lnTo>
                <a:lnTo>
                  <a:pt x="13882" y="2895"/>
                </a:lnTo>
                <a:lnTo>
                  <a:pt x="13984" y="2895"/>
                </a:lnTo>
                <a:moveTo>
                  <a:pt x="13984" y="3127"/>
                </a:moveTo>
                <a:lnTo>
                  <a:pt x="13984" y="3266"/>
                </a:lnTo>
                <a:lnTo>
                  <a:pt x="13882" y="3266"/>
                </a:lnTo>
                <a:lnTo>
                  <a:pt x="13882" y="3127"/>
                </a:lnTo>
                <a:lnTo>
                  <a:pt x="13984" y="3127"/>
                </a:lnTo>
                <a:moveTo>
                  <a:pt x="13984" y="3359"/>
                </a:moveTo>
                <a:lnTo>
                  <a:pt x="13984" y="3498"/>
                </a:lnTo>
                <a:lnTo>
                  <a:pt x="13882" y="3498"/>
                </a:lnTo>
                <a:lnTo>
                  <a:pt x="13882" y="3359"/>
                </a:lnTo>
                <a:lnTo>
                  <a:pt x="13984" y="3359"/>
                </a:lnTo>
                <a:moveTo>
                  <a:pt x="13984" y="3591"/>
                </a:moveTo>
                <a:lnTo>
                  <a:pt x="13984" y="3731"/>
                </a:lnTo>
                <a:lnTo>
                  <a:pt x="13882" y="3731"/>
                </a:lnTo>
                <a:lnTo>
                  <a:pt x="13882" y="3591"/>
                </a:lnTo>
                <a:lnTo>
                  <a:pt x="13984" y="3591"/>
                </a:lnTo>
                <a:moveTo>
                  <a:pt x="13984" y="3824"/>
                </a:moveTo>
                <a:lnTo>
                  <a:pt x="13984" y="3963"/>
                </a:lnTo>
                <a:lnTo>
                  <a:pt x="13882" y="3963"/>
                </a:lnTo>
                <a:lnTo>
                  <a:pt x="13882" y="3824"/>
                </a:lnTo>
                <a:lnTo>
                  <a:pt x="13984" y="3824"/>
                </a:lnTo>
                <a:moveTo>
                  <a:pt x="13984" y="4056"/>
                </a:moveTo>
                <a:lnTo>
                  <a:pt x="13984" y="4195"/>
                </a:lnTo>
                <a:lnTo>
                  <a:pt x="13882" y="4195"/>
                </a:lnTo>
                <a:lnTo>
                  <a:pt x="13882" y="4056"/>
                </a:lnTo>
                <a:lnTo>
                  <a:pt x="13984" y="4056"/>
                </a:lnTo>
                <a:moveTo>
                  <a:pt x="13984" y="4288"/>
                </a:moveTo>
                <a:lnTo>
                  <a:pt x="13984" y="4427"/>
                </a:lnTo>
                <a:lnTo>
                  <a:pt x="13882" y="4427"/>
                </a:lnTo>
                <a:lnTo>
                  <a:pt x="13882" y="4288"/>
                </a:lnTo>
                <a:lnTo>
                  <a:pt x="13984" y="4288"/>
                </a:lnTo>
                <a:moveTo>
                  <a:pt x="13984" y="4520"/>
                </a:moveTo>
                <a:lnTo>
                  <a:pt x="13984" y="4660"/>
                </a:lnTo>
                <a:lnTo>
                  <a:pt x="13882" y="4660"/>
                </a:lnTo>
                <a:lnTo>
                  <a:pt x="13882" y="4520"/>
                </a:lnTo>
                <a:lnTo>
                  <a:pt x="13984" y="4520"/>
                </a:lnTo>
                <a:moveTo>
                  <a:pt x="13984" y="4753"/>
                </a:moveTo>
                <a:lnTo>
                  <a:pt x="13984" y="4892"/>
                </a:lnTo>
                <a:lnTo>
                  <a:pt x="13882" y="4892"/>
                </a:lnTo>
                <a:lnTo>
                  <a:pt x="13882" y="4753"/>
                </a:lnTo>
                <a:lnTo>
                  <a:pt x="13984" y="4753"/>
                </a:lnTo>
                <a:moveTo>
                  <a:pt x="13984" y="4985"/>
                </a:moveTo>
                <a:lnTo>
                  <a:pt x="13984" y="5124"/>
                </a:lnTo>
                <a:lnTo>
                  <a:pt x="13882" y="5124"/>
                </a:lnTo>
                <a:lnTo>
                  <a:pt x="13882" y="4985"/>
                </a:lnTo>
                <a:lnTo>
                  <a:pt x="13984" y="4985"/>
                </a:lnTo>
                <a:moveTo>
                  <a:pt x="13984" y="5217"/>
                </a:moveTo>
                <a:lnTo>
                  <a:pt x="13984" y="5357"/>
                </a:lnTo>
                <a:lnTo>
                  <a:pt x="13882" y="5357"/>
                </a:lnTo>
                <a:lnTo>
                  <a:pt x="13882" y="5217"/>
                </a:lnTo>
                <a:lnTo>
                  <a:pt x="13984" y="5217"/>
                </a:lnTo>
                <a:moveTo>
                  <a:pt x="13984" y="5450"/>
                </a:moveTo>
                <a:lnTo>
                  <a:pt x="13984" y="5590"/>
                </a:lnTo>
                <a:lnTo>
                  <a:pt x="13882" y="5590"/>
                </a:lnTo>
                <a:lnTo>
                  <a:pt x="13882" y="5450"/>
                </a:lnTo>
                <a:lnTo>
                  <a:pt x="13984" y="5450"/>
                </a:lnTo>
                <a:moveTo>
                  <a:pt x="13984" y="5683"/>
                </a:moveTo>
                <a:lnTo>
                  <a:pt x="13984" y="5786"/>
                </a:lnTo>
                <a:cubicBezTo>
                  <a:pt x="13984" y="5801"/>
                  <a:pt x="13983" y="5817"/>
                  <a:pt x="13979" y="5832"/>
                </a:cubicBezTo>
                <a:lnTo>
                  <a:pt x="13879" y="5810"/>
                </a:lnTo>
                <a:cubicBezTo>
                  <a:pt x="13881" y="5802"/>
                  <a:pt x="13882" y="5794"/>
                  <a:pt x="13882" y="5786"/>
                </a:cubicBezTo>
                <a:lnTo>
                  <a:pt x="13882" y="5683"/>
                </a:lnTo>
                <a:lnTo>
                  <a:pt x="13984" y="5683"/>
                </a:lnTo>
                <a:moveTo>
                  <a:pt x="13919" y="5939"/>
                </a:moveTo>
                <a:cubicBezTo>
                  <a:pt x="13878" y="5979"/>
                  <a:pt x="13828" y="5999"/>
                  <a:pt x="13771" y="5999"/>
                </a:cubicBezTo>
                <a:lnTo>
                  <a:pt x="13756" y="5999"/>
                </a:lnTo>
                <a:lnTo>
                  <a:pt x="13756" y="5897"/>
                </a:lnTo>
                <a:lnTo>
                  <a:pt x="13771" y="5897"/>
                </a:lnTo>
                <a:cubicBezTo>
                  <a:pt x="13801" y="5897"/>
                  <a:pt x="13827" y="5887"/>
                  <a:pt x="13848" y="5866"/>
                </a:cubicBezTo>
                <a:lnTo>
                  <a:pt x="13919" y="5939"/>
                </a:lnTo>
                <a:moveTo>
                  <a:pt x="13663" y="5999"/>
                </a:moveTo>
                <a:lnTo>
                  <a:pt x="13523" y="5999"/>
                </a:lnTo>
                <a:lnTo>
                  <a:pt x="13523" y="5897"/>
                </a:lnTo>
                <a:lnTo>
                  <a:pt x="13663" y="5897"/>
                </a:lnTo>
                <a:lnTo>
                  <a:pt x="13663" y="5999"/>
                </a:lnTo>
                <a:moveTo>
                  <a:pt x="13430" y="5999"/>
                </a:moveTo>
                <a:lnTo>
                  <a:pt x="13291" y="5999"/>
                </a:lnTo>
                <a:lnTo>
                  <a:pt x="13291" y="5897"/>
                </a:lnTo>
                <a:lnTo>
                  <a:pt x="13430" y="5897"/>
                </a:lnTo>
                <a:lnTo>
                  <a:pt x="13430" y="5999"/>
                </a:lnTo>
                <a:moveTo>
                  <a:pt x="13198" y="5999"/>
                </a:moveTo>
                <a:lnTo>
                  <a:pt x="13059" y="5999"/>
                </a:lnTo>
                <a:lnTo>
                  <a:pt x="13059" y="5897"/>
                </a:lnTo>
                <a:lnTo>
                  <a:pt x="13198" y="5897"/>
                </a:lnTo>
                <a:lnTo>
                  <a:pt x="13198" y="5999"/>
                </a:lnTo>
                <a:moveTo>
                  <a:pt x="12966" y="5999"/>
                </a:moveTo>
                <a:lnTo>
                  <a:pt x="12827" y="5999"/>
                </a:lnTo>
                <a:lnTo>
                  <a:pt x="12827" y="5897"/>
                </a:lnTo>
                <a:lnTo>
                  <a:pt x="12966" y="5897"/>
                </a:lnTo>
                <a:lnTo>
                  <a:pt x="12966" y="5999"/>
                </a:lnTo>
                <a:moveTo>
                  <a:pt x="12734" y="5999"/>
                </a:moveTo>
                <a:lnTo>
                  <a:pt x="12594" y="5999"/>
                </a:lnTo>
                <a:lnTo>
                  <a:pt x="12594" y="5897"/>
                </a:lnTo>
                <a:lnTo>
                  <a:pt x="12734" y="5897"/>
                </a:lnTo>
                <a:lnTo>
                  <a:pt x="12734" y="5999"/>
                </a:lnTo>
                <a:moveTo>
                  <a:pt x="12501" y="5999"/>
                </a:moveTo>
                <a:lnTo>
                  <a:pt x="12362" y="5999"/>
                </a:lnTo>
                <a:lnTo>
                  <a:pt x="12362" y="5897"/>
                </a:lnTo>
                <a:lnTo>
                  <a:pt x="12501" y="5897"/>
                </a:lnTo>
                <a:lnTo>
                  <a:pt x="12501" y="5999"/>
                </a:lnTo>
                <a:moveTo>
                  <a:pt x="12269" y="5999"/>
                </a:moveTo>
                <a:lnTo>
                  <a:pt x="12130" y="5999"/>
                </a:lnTo>
                <a:lnTo>
                  <a:pt x="12130" y="5897"/>
                </a:lnTo>
                <a:lnTo>
                  <a:pt x="12269" y="5897"/>
                </a:lnTo>
                <a:lnTo>
                  <a:pt x="12269" y="5999"/>
                </a:lnTo>
                <a:moveTo>
                  <a:pt x="12037" y="5999"/>
                </a:moveTo>
                <a:lnTo>
                  <a:pt x="11898" y="5999"/>
                </a:lnTo>
                <a:lnTo>
                  <a:pt x="11898" y="5897"/>
                </a:lnTo>
                <a:lnTo>
                  <a:pt x="12037" y="5897"/>
                </a:lnTo>
                <a:lnTo>
                  <a:pt x="12037" y="5999"/>
                </a:lnTo>
                <a:moveTo>
                  <a:pt x="11805" y="5999"/>
                </a:moveTo>
                <a:lnTo>
                  <a:pt x="11665" y="5999"/>
                </a:lnTo>
                <a:lnTo>
                  <a:pt x="11665" y="5897"/>
                </a:lnTo>
                <a:lnTo>
                  <a:pt x="11805" y="5897"/>
                </a:lnTo>
                <a:lnTo>
                  <a:pt x="11805" y="5999"/>
                </a:lnTo>
                <a:moveTo>
                  <a:pt x="11572" y="5999"/>
                </a:moveTo>
                <a:lnTo>
                  <a:pt x="11433" y="5999"/>
                </a:lnTo>
                <a:lnTo>
                  <a:pt x="11433" y="5897"/>
                </a:lnTo>
                <a:lnTo>
                  <a:pt x="11572" y="5897"/>
                </a:lnTo>
                <a:lnTo>
                  <a:pt x="11572" y="5999"/>
                </a:lnTo>
                <a:moveTo>
                  <a:pt x="11340" y="5999"/>
                </a:moveTo>
                <a:lnTo>
                  <a:pt x="11201" y="5999"/>
                </a:lnTo>
                <a:lnTo>
                  <a:pt x="11201" y="5897"/>
                </a:lnTo>
                <a:lnTo>
                  <a:pt x="11340" y="5897"/>
                </a:lnTo>
                <a:lnTo>
                  <a:pt x="11340" y="5999"/>
                </a:lnTo>
                <a:moveTo>
                  <a:pt x="11108" y="5999"/>
                </a:moveTo>
                <a:lnTo>
                  <a:pt x="10968" y="5999"/>
                </a:lnTo>
                <a:lnTo>
                  <a:pt x="10968" y="5897"/>
                </a:lnTo>
                <a:lnTo>
                  <a:pt x="11108" y="5897"/>
                </a:lnTo>
                <a:lnTo>
                  <a:pt x="11108" y="5999"/>
                </a:lnTo>
                <a:moveTo>
                  <a:pt x="10875" y="5999"/>
                </a:moveTo>
                <a:lnTo>
                  <a:pt x="10736" y="5999"/>
                </a:lnTo>
                <a:lnTo>
                  <a:pt x="10736" y="5897"/>
                </a:lnTo>
                <a:lnTo>
                  <a:pt x="10875" y="5897"/>
                </a:lnTo>
                <a:lnTo>
                  <a:pt x="10875" y="5999"/>
                </a:lnTo>
                <a:moveTo>
                  <a:pt x="10643" y="5999"/>
                </a:moveTo>
                <a:lnTo>
                  <a:pt x="10504" y="5999"/>
                </a:lnTo>
                <a:lnTo>
                  <a:pt x="10504" y="5897"/>
                </a:lnTo>
                <a:lnTo>
                  <a:pt x="10643" y="5897"/>
                </a:lnTo>
                <a:lnTo>
                  <a:pt x="10643" y="5999"/>
                </a:lnTo>
                <a:moveTo>
                  <a:pt x="10411" y="5999"/>
                </a:moveTo>
                <a:lnTo>
                  <a:pt x="10272" y="5999"/>
                </a:lnTo>
                <a:lnTo>
                  <a:pt x="10272" y="5897"/>
                </a:lnTo>
                <a:lnTo>
                  <a:pt x="10411" y="5897"/>
                </a:lnTo>
                <a:lnTo>
                  <a:pt x="10411" y="5999"/>
                </a:lnTo>
                <a:moveTo>
                  <a:pt x="10179" y="5999"/>
                </a:moveTo>
                <a:lnTo>
                  <a:pt x="10039" y="5999"/>
                </a:lnTo>
                <a:lnTo>
                  <a:pt x="10039" y="5897"/>
                </a:lnTo>
                <a:lnTo>
                  <a:pt x="10179" y="5897"/>
                </a:lnTo>
                <a:lnTo>
                  <a:pt x="10179" y="5999"/>
                </a:lnTo>
                <a:moveTo>
                  <a:pt x="9946" y="5999"/>
                </a:moveTo>
                <a:lnTo>
                  <a:pt x="9807" y="5999"/>
                </a:lnTo>
                <a:lnTo>
                  <a:pt x="9807" y="5897"/>
                </a:lnTo>
                <a:lnTo>
                  <a:pt x="9946" y="5897"/>
                </a:lnTo>
                <a:lnTo>
                  <a:pt x="9946" y="5999"/>
                </a:lnTo>
                <a:moveTo>
                  <a:pt x="9714" y="5999"/>
                </a:moveTo>
                <a:lnTo>
                  <a:pt x="9575" y="5999"/>
                </a:lnTo>
                <a:lnTo>
                  <a:pt x="9575" y="5897"/>
                </a:lnTo>
                <a:lnTo>
                  <a:pt x="9714" y="5897"/>
                </a:lnTo>
                <a:lnTo>
                  <a:pt x="9714" y="5999"/>
                </a:lnTo>
                <a:moveTo>
                  <a:pt x="9482" y="5999"/>
                </a:moveTo>
                <a:lnTo>
                  <a:pt x="9343" y="5999"/>
                </a:lnTo>
                <a:lnTo>
                  <a:pt x="9343" y="5897"/>
                </a:lnTo>
                <a:lnTo>
                  <a:pt x="9482" y="5897"/>
                </a:lnTo>
                <a:lnTo>
                  <a:pt x="9482" y="5999"/>
                </a:lnTo>
                <a:moveTo>
                  <a:pt x="9250" y="5999"/>
                </a:moveTo>
                <a:lnTo>
                  <a:pt x="9110" y="5999"/>
                </a:lnTo>
                <a:lnTo>
                  <a:pt x="9110" y="5897"/>
                </a:lnTo>
                <a:lnTo>
                  <a:pt x="9250" y="5897"/>
                </a:lnTo>
                <a:lnTo>
                  <a:pt x="9250" y="5999"/>
                </a:lnTo>
                <a:moveTo>
                  <a:pt x="9017" y="5999"/>
                </a:moveTo>
                <a:lnTo>
                  <a:pt x="8878" y="5999"/>
                </a:lnTo>
                <a:lnTo>
                  <a:pt x="8878" y="5897"/>
                </a:lnTo>
                <a:lnTo>
                  <a:pt x="9017" y="5897"/>
                </a:lnTo>
                <a:lnTo>
                  <a:pt x="9017" y="5999"/>
                </a:lnTo>
                <a:moveTo>
                  <a:pt x="8785" y="5999"/>
                </a:moveTo>
                <a:lnTo>
                  <a:pt x="8646" y="5999"/>
                </a:lnTo>
                <a:lnTo>
                  <a:pt x="8646" y="5897"/>
                </a:lnTo>
                <a:lnTo>
                  <a:pt x="8785" y="5897"/>
                </a:lnTo>
                <a:lnTo>
                  <a:pt x="8785" y="5999"/>
                </a:lnTo>
                <a:moveTo>
                  <a:pt x="8553" y="5999"/>
                </a:moveTo>
                <a:lnTo>
                  <a:pt x="8413" y="5999"/>
                </a:lnTo>
                <a:lnTo>
                  <a:pt x="8413" y="5897"/>
                </a:lnTo>
                <a:lnTo>
                  <a:pt x="8553" y="5897"/>
                </a:lnTo>
                <a:lnTo>
                  <a:pt x="8553" y="5999"/>
                </a:lnTo>
                <a:moveTo>
                  <a:pt x="8321" y="5999"/>
                </a:moveTo>
                <a:lnTo>
                  <a:pt x="8181" y="5999"/>
                </a:lnTo>
                <a:lnTo>
                  <a:pt x="8181" y="5897"/>
                </a:lnTo>
                <a:lnTo>
                  <a:pt x="8321" y="5897"/>
                </a:lnTo>
                <a:lnTo>
                  <a:pt x="8321" y="5999"/>
                </a:lnTo>
                <a:moveTo>
                  <a:pt x="8088" y="5999"/>
                </a:moveTo>
                <a:lnTo>
                  <a:pt x="7949" y="5999"/>
                </a:lnTo>
                <a:lnTo>
                  <a:pt x="7949" y="5897"/>
                </a:lnTo>
                <a:lnTo>
                  <a:pt x="8088" y="5897"/>
                </a:lnTo>
                <a:lnTo>
                  <a:pt x="8088" y="5999"/>
                </a:lnTo>
                <a:moveTo>
                  <a:pt x="7856" y="5999"/>
                </a:moveTo>
                <a:lnTo>
                  <a:pt x="7717" y="5999"/>
                </a:lnTo>
                <a:lnTo>
                  <a:pt x="7717" y="5897"/>
                </a:lnTo>
                <a:lnTo>
                  <a:pt x="7856" y="5897"/>
                </a:lnTo>
                <a:lnTo>
                  <a:pt x="7856" y="5999"/>
                </a:lnTo>
                <a:moveTo>
                  <a:pt x="7624" y="5999"/>
                </a:moveTo>
                <a:lnTo>
                  <a:pt x="7484" y="5999"/>
                </a:lnTo>
                <a:lnTo>
                  <a:pt x="7484" y="5897"/>
                </a:lnTo>
                <a:lnTo>
                  <a:pt x="7624" y="5897"/>
                </a:lnTo>
                <a:lnTo>
                  <a:pt x="7624" y="5999"/>
                </a:lnTo>
                <a:moveTo>
                  <a:pt x="7391" y="5999"/>
                </a:moveTo>
                <a:lnTo>
                  <a:pt x="7252" y="5999"/>
                </a:lnTo>
                <a:lnTo>
                  <a:pt x="7252" y="5897"/>
                </a:lnTo>
                <a:lnTo>
                  <a:pt x="7391" y="5897"/>
                </a:lnTo>
                <a:lnTo>
                  <a:pt x="7391" y="5999"/>
                </a:lnTo>
                <a:moveTo>
                  <a:pt x="7159" y="5999"/>
                </a:moveTo>
                <a:lnTo>
                  <a:pt x="7020" y="5999"/>
                </a:lnTo>
                <a:lnTo>
                  <a:pt x="7020" y="5897"/>
                </a:lnTo>
                <a:lnTo>
                  <a:pt x="7159" y="5897"/>
                </a:lnTo>
                <a:lnTo>
                  <a:pt x="7159" y="5999"/>
                </a:lnTo>
                <a:moveTo>
                  <a:pt x="6927" y="5999"/>
                </a:moveTo>
                <a:lnTo>
                  <a:pt x="6788" y="5999"/>
                </a:lnTo>
                <a:lnTo>
                  <a:pt x="6788" y="5897"/>
                </a:lnTo>
                <a:lnTo>
                  <a:pt x="6927" y="5897"/>
                </a:lnTo>
                <a:lnTo>
                  <a:pt x="6927" y="5999"/>
                </a:lnTo>
                <a:moveTo>
                  <a:pt x="6695" y="5999"/>
                </a:moveTo>
                <a:lnTo>
                  <a:pt x="6555" y="5999"/>
                </a:lnTo>
                <a:lnTo>
                  <a:pt x="6555" y="5897"/>
                </a:lnTo>
                <a:lnTo>
                  <a:pt x="6695" y="5897"/>
                </a:lnTo>
                <a:lnTo>
                  <a:pt x="6695" y="5999"/>
                </a:lnTo>
                <a:moveTo>
                  <a:pt x="6462" y="5999"/>
                </a:moveTo>
                <a:lnTo>
                  <a:pt x="6323" y="5999"/>
                </a:lnTo>
                <a:lnTo>
                  <a:pt x="6323" y="5897"/>
                </a:lnTo>
                <a:lnTo>
                  <a:pt x="6462" y="5897"/>
                </a:lnTo>
                <a:lnTo>
                  <a:pt x="6462" y="5999"/>
                </a:lnTo>
                <a:moveTo>
                  <a:pt x="6230" y="5999"/>
                </a:moveTo>
                <a:lnTo>
                  <a:pt x="6091" y="5999"/>
                </a:lnTo>
                <a:lnTo>
                  <a:pt x="6091" y="5897"/>
                </a:lnTo>
                <a:lnTo>
                  <a:pt x="6230" y="5897"/>
                </a:lnTo>
                <a:lnTo>
                  <a:pt x="6230" y="5999"/>
                </a:lnTo>
                <a:moveTo>
                  <a:pt x="5998" y="5999"/>
                </a:moveTo>
                <a:lnTo>
                  <a:pt x="5858" y="5999"/>
                </a:lnTo>
                <a:lnTo>
                  <a:pt x="5858" y="5897"/>
                </a:lnTo>
                <a:lnTo>
                  <a:pt x="5998" y="5897"/>
                </a:lnTo>
                <a:lnTo>
                  <a:pt x="5998" y="5999"/>
                </a:lnTo>
                <a:moveTo>
                  <a:pt x="5765" y="5999"/>
                </a:moveTo>
                <a:lnTo>
                  <a:pt x="5625" y="5999"/>
                </a:lnTo>
                <a:lnTo>
                  <a:pt x="5625" y="5897"/>
                </a:lnTo>
                <a:lnTo>
                  <a:pt x="5765" y="5897"/>
                </a:lnTo>
                <a:lnTo>
                  <a:pt x="5765" y="5999"/>
                </a:lnTo>
                <a:moveTo>
                  <a:pt x="5532" y="5999"/>
                </a:moveTo>
                <a:lnTo>
                  <a:pt x="5393" y="5999"/>
                </a:lnTo>
                <a:lnTo>
                  <a:pt x="5393" y="5897"/>
                </a:lnTo>
                <a:lnTo>
                  <a:pt x="5532" y="5897"/>
                </a:lnTo>
                <a:lnTo>
                  <a:pt x="5532" y="5999"/>
                </a:lnTo>
                <a:moveTo>
                  <a:pt x="5300" y="5999"/>
                </a:moveTo>
                <a:lnTo>
                  <a:pt x="5161" y="5999"/>
                </a:lnTo>
                <a:lnTo>
                  <a:pt x="5161" y="5897"/>
                </a:lnTo>
                <a:lnTo>
                  <a:pt x="5300" y="5897"/>
                </a:lnTo>
                <a:lnTo>
                  <a:pt x="5300" y="5999"/>
                </a:lnTo>
                <a:moveTo>
                  <a:pt x="5068" y="5999"/>
                </a:moveTo>
                <a:lnTo>
                  <a:pt x="4928" y="5999"/>
                </a:lnTo>
                <a:lnTo>
                  <a:pt x="4928" y="5897"/>
                </a:lnTo>
                <a:lnTo>
                  <a:pt x="5068" y="5897"/>
                </a:lnTo>
                <a:lnTo>
                  <a:pt x="5068" y="5999"/>
                </a:lnTo>
                <a:moveTo>
                  <a:pt x="4835" y="5999"/>
                </a:moveTo>
                <a:lnTo>
                  <a:pt x="4696" y="5999"/>
                </a:lnTo>
                <a:lnTo>
                  <a:pt x="4696" y="5897"/>
                </a:lnTo>
                <a:lnTo>
                  <a:pt x="4835" y="5897"/>
                </a:lnTo>
                <a:lnTo>
                  <a:pt x="4835" y="5999"/>
                </a:lnTo>
                <a:moveTo>
                  <a:pt x="4603" y="5999"/>
                </a:moveTo>
                <a:lnTo>
                  <a:pt x="4464" y="5999"/>
                </a:lnTo>
                <a:lnTo>
                  <a:pt x="4464" y="5897"/>
                </a:lnTo>
                <a:lnTo>
                  <a:pt x="4603" y="5897"/>
                </a:lnTo>
                <a:lnTo>
                  <a:pt x="4603" y="5999"/>
                </a:lnTo>
                <a:moveTo>
                  <a:pt x="4371" y="5999"/>
                </a:moveTo>
                <a:lnTo>
                  <a:pt x="4232" y="5999"/>
                </a:lnTo>
                <a:lnTo>
                  <a:pt x="4232" y="5897"/>
                </a:lnTo>
                <a:lnTo>
                  <a:pt x="4371" y="5897"/>
                </a:lnTo>
                <a:lnTo>
                  <a:pt x="4371" y="5999"/>
                </a:lnTo>
                <a:moveTo>
                  <a:pt x="4139" y="5999"/>
                </a:moveTo>
                <a:lnTo>
                  <a:pt x="3999" y="5999"/>
                </a:lnTo>
                <a:lnTo>
                  <a:pt x="3999" y="5897"/>
                </a:lnTo>
                <a:lnTo>
                  <a:pt x="4139" y="5897"/>
                </a:lnTo>
                <a:lnTo>
                  <a:pt x="4139" y="5999"/>
                </a:lnTo>
                <a:moveTo>
                  <a:pt x="3906" y="5999"/>
                </a:moveTo>
                <a:lnTo>
                  <a:pt x="3767" y="5999"/>
                </a:lnTo>
                <a:lnTo>
                  <a:pt x="3767" y="5897"/>
                </a:lnTo>
                <a:lnTo>
                  <a:pt x="3906" y="5897"/>
                </a:lnTo>
                <a:lnTo>
                  <a:pt x="3906" y="5999"/>
                </a:lnTo>
                <a:moveTo>
                  <a:pt x="3674" y="5999"/>
                </a:moveTo>
                <a:lnTo>
                  <a:pt x="3535" y="5999"/>
                </a:lnTo>
                <a:lnTo>
                  <a:pt x="3535" y="5897"/>
                </a:lnTo>
                <a:lnTo>
                  <a:pt x="3674" y="5897"/>
                </a:lnTo>
                <a:lnTo>
                  <a:pt x="3674" y="5999"/>
                </a:lnTo>
                <a:moveTo>
                  <a:pt x="3442" y="5999"/>
                </a:moveTo>
                <a:lnTo>
                  <a:pt x="3303" y="5999"/>
                </a:lnTo>
                <a:lnTo>
                  <a:pt x="3303" y="5897"/>
                </a:lnTo>
                <a:lnTo>
                  <a:pt x="3442" y="5897"/>
                </a:lnTo>
                <a:lnTo>
                  <a:pt x="3442" y="5999"/>
                </a:lnTo>
                <a:moveTo>
                  <a:pt x="3210" y="5999"/>
                </a:moveTo>
                <a:lnTo>
                  <a:pt x="3070" y="5999"/>
                </a:lnTo>
                <a:lnTo>
                  <a:pt x="3070" y="5897"/>
                </a:lnTo>
                <a:lnTo>
                  <a:pt x="3210" y="5897"/>
                </a:lnTo>
                <a:lnTo>
                  <a:pt x="3210" y="5999"/>
                </a:lnTo>
                <a:moveTo>
                  <a:pt x="2977" y="5999"/>
                </a:moveTo>
                <a:lnTo>
                  <a:pt x="2838" y="5999"/>
                </a:lnTo>
                <a:lnTo>
                  <a:pt x="2838" y="5897"/>
                </a:lnTo>
                <a:lnTo>
                  <a:pt x="2977" y="5897"/>
                </a:lnTo>
                <a:lnTo>
                  <a:pt x="2977" y="5999"/>
                </a:lnTo>
                <a:moveTo>
                  <a:pt x="2745" y="5999"/>
                </a:moveTo>
                <a:lnTo>
                  <a:pt x="2606" y="5999"/>
                </a:lnTo>
                <a:lnTo>
                  <a:pt x="2606" y="5897"/>
                </a:lnTo>
                <a:lnTo>
                  <a:pt x="2745" y="5897"/>
                </a:lnTo>
                <a:lnTo>
                  <a:pt x="2745" y="5999"/>
                </a:lnTo>
                <a:moveTo>
                  <a:pt x="2513" y="5999"/>
                </a:moveTo>
                <a:lnTo>
                  <a:pt x="2374" y="5999"/>
                </a:lnTo>
                <a:lnTo>
                  <a:pt x="2374" y="5897"/>
                </a:lnTo>
                <a:lnTo>
                  <a:pt x="2513" y="5897"/>
                </a:lnTo>
                <a:lnTo>
                  <a:pt x="2513" y="5999"/>
                </a:lnTo>
                <a:moveTo>
                  <a:pt x="2281" y="5999"/>
                </a:moveTo>
                <a:lnTo>
                  <a:pt x="2141" y="5999"/>
                </a:lnTo>
                <a:lnTo>
                  <a:pt x="2141" y="5897"/>
                </a:lnTo>
                <a:lnTo>
                  <a:pt x="2281" y="5897"/>
                </a:lnTo>
                <a:lnTo>
                  <a:pt x="2281" y="5999"/>
                </a:lnTo>
                <a:moveTo>
                  <a:pt x="2048" y="5999"/>
                </a:moveTo>
                <a:lnTo>
                  <a:pt x="1909" y="5999"/>
                </a:lnTo>
                <a:lnTo>
                  <a:pt x="1909" y="5897"/>
                </a:lnTo>
                <a:lnTo>
                  <a:pt x="2048" y="5897"/>
                </a:lnTo>
                <a:lnTo>
                  <a:pt x="2048" y="5999"/>
                </a:lnTo>
                <a:moveTo>
                  <a:pt x="1816" y="5999"/>
                </a:moveTo>
                <a:lnTo>
                  <a:pt x="1677" y="5999"/>
                </a:lnTo>
                <a:lnTo>
                  <a:pt x="1677" y="5897"/>
                </a:lnTo>
                <a:lnTo>
                  <a:pt x="1816" y="5897"/>
                </a:lnTo>
                <a:lnTo>
                  <a:pt x="1816" y="5999"/>
                </a:lnTo>
                <a:moveTo>
                  <a:pt x="1584" y="5999"/>
                </a:moveTo>
                <a:lnTo>
                  <a:pt x="1444" y="5999"/>
                </a:lnTo>
                <a:lnTo>
                  <a:pt x="1444" y="5897"/>
                </a:lnTo>
                <a:lnTo>
                  <a:pt x="1584" y="5897"/>
                </a:lnTo>
                <a:lnTo>
                  <a:pt x="1584" y="5999"/>
                </a:lnTo>
                <a:moveTo>
                  <a:pt x="1351" y="5999"/>
                </a:moveTo>
                <a:lnTo>
                  <a:pt x="1212" y="5999"/>
                </a:lnTo>
                <a:lnTo>
                  <a:pt x="1212" y="5897"/>
                </a:lnTo>
                <a:lnTo>
                  <a:pt x="1351" y="5897"/>
                </a:lnTo>
                <a:lnTo>
                  <a:pt x="1351" y="5999"/>
                </a:lnTo>
                <a:moveTo>
                  <a:pt x="1119" y="5999"/>
                </a:moveTo>
                <a:lnTo>
                  <a:pt x="980" y="5999"/>
                </a:lnTo>
                <a:lnTo>
                  <a:pt x="980" y="5897"/>
                </a:lnTo>
                <a:lnTo>
                  <a:pt x="1119" y="5897"/>
                </a:lnTo>
                <a:lnTo>
                  <a:pt x="1119" y="5999"/>
                </a:lnTo>
                <a:moveTo>
                  <a:pt x="887" y="5999"/>
                </a:moveTo>
                <a:lnTo>
                  <a:pt x="748" y="5999"/>
                </a:lnTo>
                <a:lnTo>
                  <a:pt x="748" y="5897"/>
                </a:lnTo>
                <a:lnTo>
                  <a:pt x="887" y="5897"/>
                </a:lnTo>
                <a:lnTo>
                  <a:pt x="887" y="5999"/>
                </a:lnTo>
                <a:moveTo>
                  <a:pt x="655" y="5999"/>
                </a:moveTo>
                <a:lnTo>
                  <a:pt x="515" y="5999"/>
                </a:lnTo>
                <a:lnTo>
                  <a:pt x="515" y="5897"/>
                </a:lnTo>
                <a:lnTo>
                  <a:pt x="655" y="5897"/>
                </a:lnTo>
                <a:lnTo>
                  <a:pt x="655" y="5999"/>
                </a:lnTo>
                <a:moveTo>
                  <a:pt x="422" y="5999"/>
                </a:moveTo>
                <a:lnTo>
                  <a:pt x="283" y="5999"/>
                </a:lnTo>
                <a:lnTo>
                  <a:pt x="283" y="5897"/>
                </a:lnTo>
                <a:lnTo>
                  <a:pt x="422" y="5897"/>
                </a:lnTo>
                <a:lnTo>
                  <a:pt x="422" y="5999"/>
                </a:lnTo>
                <a:moveTo>
                  <a:pt x="184" y="5997"/>
                </a:moveTo>
                <a:cubicBezTo>
                  <a:pt x="118" y="5988"/>
                  <a:pt x="68" y="5956"/>
                  <a:pt x="33" y="5900"/>
                </a:cubicBezTo>
                <a:lnTo>
                  <a:pt x="119" y="5845"/>
                </a:lnTo>
                <a:cubicBezTo>
                  <a:pt x="137" y="5874"/>
                  <a:pt x="164" y="5891"/>
                  <a:pt x="198" y="5896"/>
                </a:cubicBezTo>
                <a:lnTo>
                  <a:pt x="184" y="5997"/>
                </a:lnTo>
                <a:moveTo>
                  <a:pt x="0" y="5784"/>
                </a:moveTo>
                <a:lnTo>
                  <a:pt x="0" y="5645"/>
                </a:lnTo>
                <a:lnTo>
                  <a:pt x="102" y="5645"/>
                </a:lnTo>
                <a:lnTo>
                  <a:pt x="102" y="5784"/>
                </a:lnTo>
                <a:lnTo>
                  <a:pt x="0" y="5784"/>
                </a:lnTo>
                <a:moveTo>
                  <a:pt x="0" y="5552"/>
                </a:moveTo>
                <a:lnTo>
                  <a:pt x="0" y="5411"/>
                </a:lnTo>
                <a:lnTo>
                  <a:pt x="102" y="5411"/>
                </a:lnTo>
                <a:lnTo>
                  <a:pt x="102" y="5552"/>
                </a:lnTo>
                <a:lnTo>
                  <a:pt x="0" y="5552"/>
                </a:lnTo>
                <a:moveTo>
                  <a:pt x="0" y="5318"/>
                </a:moveTo>
                <a:lnTo>
                  <a:pt x="0" y="5179"/>
                </a:lnTo>
                <a:lnTo>
                  <a:pt x="102" y="5179"/>
                </a:lnTo>
                <a:lnTo>
                  <a:pt x="102" y="5318"/>
                </a:lnTo>
                <a:lnTo>
                  <a:pt x="0" y="5318"/>
                </a:lnTo>
                <a:moveTo>
                  <a:pt x="0" y="5086"/>
                </a:moveTo>
                <a:lnTo>
                  <a:pt x="0" y="4947"/>
                </a:lnTo>
                <a:lnTo>
                  <a:pt x="102" y="4947"/>
                </a:lnTo>
                <a:lnTo>
                  <a:pt x="102" y="5086"/>
                </a:lnTo>
                <a:lnTo>
                  <a:pt x="0" y="5086"/>
                </a:lnTo>
                <a:moveTo>
                  <a:pt x="0" y="4854"/>
                </a:moveTo>
                <a:lnTo>
                  <a:pt x="0" y="4715"/>
                </a:lnTo>
                <a:lnTo>
                  <a:pt x="102" y="4715"/>
                </a:lnTo>
                <a:lnTo>
                  <a:pt x="102" y="4854"/>
                </a:lnTo>
                <a:lnTo>
                  <a:pt x="0" y="4854"/>
                </a:lnTo>
                <a:moveTo>
                  <a:pt x="0" y="4622"/>
                </a:moveTo>
                <a:lnTo>
                  <a:pt x="0" y="4482"/>
                </a:lnTo>
                <a:lnTo>
                  <a:pt x="102" y="4482"/>
                </a:lnTo>
                <a:lnTo>
                  <a:pt x="102" y="4622"/>
                </a:lnTo>
                <a:lnTo>
                  <a:pt x="0" y="4622"/>
                </a:lnTo>
                <a:moveTo>
                  <a:pt x="0" y="4389"/>
                </a:moveTo>
                <a:lnTo>
                  <a:pt x="0" y="4250"/>
                </a:lnTo>
                <a:lnTo>
                  <a:pt x="102" y="4250"/>
                </a:lnTo>
                <a:lnTo>
                  <a:pt x="102" y="4389"/>
                </a:lnTo>
                <a:lnTo>
                  <a:pt x="0" y="4389"/>
                </a:lnTo>
                <a:moveTo>
                  <a:pt x="0" y="4157"/>
                </a:moveTo>
                <a:lnTo>
                  <a:pt x="0" y="4018"/>
                </a:lnTo>
                <a:lnTo>
                  <a:pt x="102" y="4018"/>
                </a:lnTo>
                <a:lnTo>
                  <a:pt x="102" y="4157"/>
                </a:lnTo>
                <a:lnTo>
                  <a:pt x="0" y="4157"/>
                </a:lnTo>
                <a:moveTo>
                  <a:pt x="0" y="3925"/>
                </a:moveTo>
                <a:lnTo>
                  <a:pt x="0" y="3785"/>
                </a:lnTo>
                <a:lnTo>
                  <a:pt x="102" y="3785"/>
                </a:lnTo>
                <a:lnTo>
                  <a:pt x="102" y="3925"/>
                </a:lnTo>
                <a:lnTo>
                  <a:pt x="0" y="3925"/>
                </a:lnTo>
                <a:moveTo>
                  <a:pt x="0" y="3693"/>
                </a:moveTo>
                <a:lnTo>
                  <a:pt x="0" y="3553"/>
                </a:lnTo>
                <a:lnTo>
                  <a:pt x="102" y="3553"/>
                </a:lnTo>
                <a:lnTo>
                  <a:pt x="102" y="3693"/>
                </a:lnTo>
                <a:lnTo>
                  <a:pt x="0" y="3693"/>
                </a:lnTo>
                <a:moveTo>
                  <a:pt x="0" y="3460"/>
                </a:moveTo>
                <a:lnTo>
                  <a:pt x="0" y="3321"/>
                </a:lnTo>
                <a:lnTo>
                  <a:pt x="102" y="3321"/>
                </a:lnTo>
                <a:lnTo>
                  <a:pt x="102" y="3460"/>
                </a:lnTo>
                <a:lnTo>
                  <a:pt x="0" y="3460"/>
                </a:lnTo>
                <a:moveTo>
                  <a:pt x="0" y="3228"/>
                </a:moveTo>
                <a:lnTo>
                  <a:pt x="0" y="3089"/>
                </a:lnTo>
                <a:lnTo>
                  <a:pt x="102" y="3089"/>
                </a:lnTo>
                <a:lnTo>
                  <a:pt x="102" y="3228"/>
                </a:lnTo>
                <a:lnTo>
                  <a:pt x="0" y="3228"/>
                </a:lnTo>
                <a:moveTo>
                  <a:pt x="0" y="2996"/>
                </a:moveTo>
                <a:lnTo>
                  <a:pt x="0" y="2856"/>
                </a:lnTo>
                <a:lnTo>
                  <a:pt x="102" y="2856"/>
                </a:lnTo>
                <a:lnTo>
                  <a:pt x="102" y="2996"/>
                </a:lnTo>
                <a:lnTo>
                  <a:pt x="0" y="2996"/>
                </a:lnTo>
                <a:moveTo>
                  <a:pt x="0" y="2763"/>
                </a:moveTo>
                <a:lnTo>
                  <a:pt x="0" y="2624"/>
                </a:lnTo>
                <a:lnTo>
                  <a:pt x="102" y="2624"/>
                </a:lnTo>
                <a:lnTo>
                  <a:pt x="102" y="2763"/>
                </a:lnTo>
                <a:lnTo>
                  <a:pt x="0" y="2763"/>
                </a:lnTo>
                <a:moveTo>
                  <a:pt x="0" y="2531"/>
                </a:moveTo>
                <a:lnTo>
                  <a:pt x="0" y="2392"/>
                </a:lnTo>
                <a:lnTo>
                  <a:pt x="102" y="2392"/>
                </a:lnTo>
                <a:lnTo>
                  <a:pt x="102" y="2531"/>
                </a:lnTo>
                <a:lnTo>
                  <a:pt x="0" y="2531"/>
                </a:lnTo>
                <a:moveTo>
                  <a:pt x="0" y="2299"/>
                </a:moveTo>
                <a:lnTo>
                  <a:pt x="0" y="2160"/>
                </a:lnTo>
                <a:lnTo>
                  <a:pt x="102" y="2160"/>
                </a:lnTo>
                <a:lnTo>
                  <a:pt x="102" y="2299"/>
                </a:lnTo>
                <a:lnTo>
                  <a:pt x="0" y="2299"/>
                </a:lnTo>
                <a:moveTo>
                  <a:pt x="0" y="2067"/>
                </a:moveTo>
                <a:lnTo>
                  <a:pt x="0" y="1927"/>
                </a:lnTo>
                <a:lnTo>
                  <a:pt x="102" y="1927"/>
                </a:lnTo>
                <a:lnTo>
                  <a:pt x="102" y="2067"/>
                </a:lnTo>
                <a:lnTo>
                  <a:pt x="0" y="2067"/>
                </a:lnTo>
                <a:moveTo>
                  <a:pt x="0" y="1834"/>
                </a:moveTo>
                <a:lnTo>
                  <a:pt x="0" y="1695"/>
                </a:lnTo>
                <a:lnTo>
                  <a:pt x="102" y="1695"/>
                </a:lnTo>
                <a:lnTo>
                  <a:pt x="102" y="1834"/>
                </a:lnTo>
                <a:lnTo>
                  <a:pt x="0" y="1834"/>
                </a:lnTo>
                <a:moveTo>
                  <a:pt x="0" y="1602"/>
                </a:moveTo>
                <a:lnTo>
                  <a:pt x="0" y="1463"/>
                </a:lnTo>
                <a:lnTo>
                  <a:pt x="102" y="1463"/>
                </a:lnTo>
                <a:lnTo>
                  <a:pt x="102" y="1602"/>
                </a:lnTo>
                <a:lnTo>
                  <a:pt x="0" y="1602"/>
                </a:lnTo>
                <a:moveTo>
                  <a:pt x="0" y="1370"/>
                </a:moveTo>
                <a:lnTo>
                  <a:pt x="0" y="1231"/>
                </a:lnTo>
                <a:lnTo>
                  <a:pt x="102" y="1231"/>
                </a:lnTo>
                <a:lnTo>
                  <a:pt x="102" y="1370"/>
                </a:lnTo>
                <a:lnTo>
                  <a:pt x="0" y="1370"/>
                </a:lnTo>
                <a:moveTo>
                  <a:pt x="0" y="1138"/>
                </a:moveTo>
                <a:lnTo>
                  <a:pt x="0" y="998"/>
                </a:lnTo>
                <a:lnTo>
                  <a:pt x="102" y="998"/>
                </a:lnTo>
                <a:lnTo>
                  <a:pt x="102" y="1138"/>
                </a:lnTo>
                <a:lnTo>
                  <a:pt x="0" y="1138"/>
                </a:lnTo>
                <a:moveTo>
                  <a:pt x="0" y="905"/>
                </a:moveTo>
                <a:lnTo>
                  <a:pt x="0" y="766"/>
                </a:lnTo>
                <a:lnTo>
                  <a:pt x="102" y="766"/>
                </a:lnTo>
                <a:lnTo>
                  <a:pt x="102" y="905"/>
                </a:lnTo>
                <a:lnTo>
                  <a:pt x="0" y="905"/>
                </a:lnTo>
                <a:moveTo>
                  <a:pt x="0" y="673"/>
                </a:moveTo>
                <a:lnTo>
                  <a:pt x="0" y="534"/>
                </a:lnTo>
                <a:lnTo>
                  <a:pt x="102" y="534"/>
                </a:lnTo>
                <a:lnTo>
                  <a:pt x="102" y="673"/>
                </a:lnTo>
                <a:lnTo>
                  <a:pt x="0" y="673"/>
                </a:lnTo>
                <a:moveTo>
                  <a:pt x="0" y="441"/>
                </a:moveTo>
                <a:lnTo>
                  <a:pt x="0" y="301"/>
                </a:lnTo>
                <a:lnTo>
                  <a:pt x="102" y="301"/>
                </a:lnTo>
                <a:lnTo>
                  <a:pt x="102" y="441"/>
                </a:lnTo>
                <a:lnTo>
                  <a:pt x="0" y="441"/>
                </a:lnTo>
                <a:moveTo>
                  <a:pt x="0" y="207"/>
                </a:moveTo>
                <a:cubicBezTo>
                  <a:pt x="2" y="141"/>
                  <a:pt x="28" y="88"/>
                  <a:pt x="80" y="47"/>
                </a:cubicBezTo>
                <a:lnTo>
                  <a:pt x="144" y="127"/>
                </a:lnTo>
                <a:cubicBezTo>
                  <a:pt x="117" y="148"/>
                  <a:pt x="103" y="176"/>
                  <a:pt x="102" y="210"/>
                </a:cubicBezTo>
                <a:lnTo>
                  <a:pt x="0" y="207"/>
                </a:lnTo>
                <a:moveTo>
                  <a:pt x="193" y="1"/>
                </a:moveTo>
                <a:cubicBezTo>
                  <a:pt x="200" y="0"/>
                  <a:pt x="206" y="0"/>
                  <a:pt x="213" y="0"/>
                </a:cubicBezTo>
                <a:lnTo>
                  <a:pt x="353" y="0"/>
                </a:lnTo>
                <a:lnTo>
                  <a:pt x="353" y="102"/>
                </a:lnTo>
                <a:lnTo>
                  <a:pt x="213" y="102"/>
                </a:lnTo>
                <a:cubicBezTo>
                  <a:pt x="210" y="102"/>
                  <a:pt x="206" y="102"/>
                  <a:pt x="203" y="103"/>
                </a:cubicBezTo>
                <a:lnTo>
                  <a:pt x="193" y="1"/>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56" name="テキスト ボックス 255"/>
          <p:cNvSpPr txBox="1"/>
          <p:nvPr/>
        </p:nvSpPr>
        <p:spPr>
          <a:xfrm>
            <a:off x="2507040" y="3394080"/>
            <a:ext cx="5371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測定装置</a:t>
            </a:r>
            <a:endParaRPr lang="en-US" sz="1050" b="0" u="none" strike="noStrike">
              <a:solidFill>
                <a:srgbClr val="000000"/>
              </a:solidFill>
              <a:effectLst/>
              <a:uFillTx/>
              <a:latin typeface="Times New Roman"/>
            </a:endParaRPr>
          </a:p>
        </p:txBody>
      </p:sp>
      <p:pic>
        <p:nvPicPr>
          <p:cNvPr id="257" name="図 256"/>
          <p:cNvPicPr/>
          <p:nvPr/>
        </p:nvPicPr>
        <p:blipFill>
          <a:blip r:embed="rId5"/>
          <a:stretch/>
        </p:blipFill>
        <p:spPr>
          <a:xfrm>
            <a:off x="6852600" y="1688040"/>
            <a:ext cx="2139120" cy="1604160"/>
          </a:xfrm>
          <a:prstGeom prst="rect">
            <a:avLst/>
          </a:prstGeom>
          <a:noFill/>
          <a:ln w="0">
            <a:noFill/>
          </a:ln>
        </p:spPr>
      </p:pic>
      <p:sp>
        <p:nvSpPr>
          <p:cNvPr id="258" name="フリーフォーム: 図形 257"/>
          <p:cNvSpPr/>
          <p:nvPr/>
        </p:nvSpPr>
        <p:spPr>
          <a:xfrm>
            <a:off x="267120" y="4077720"/>
            <a:ext cx="4947480" cy="1571760"/>
          </a:xfrm>
          <a:custGeom>
            <a:avLst/>
            <a:gdLst/>
            <a:ahLst/>
            <a:cxnLst/>
            <a:rect l="0" t="0" r="r" b="b"/>
            <a:pathLst>
              <a:path w="13743" h="4366">
                <a:moveTo>
                  <a:pt x="0" y="4180"/>
                </a:moveTo>
                <a:lnTo>
                  <a:pt x="0" y="186"/>
                </a:lnTo>
                <a:cubicBezTo>
                  <a:pt x="0" y="174"/>
                  <a:pt x="2" y="162"/>
                  <a:pt x="4" y="150"/>
                </a:cubicBezTo>
                <a:cubicBezTo>
                  <a:pt x="6" y="138"/>
                  <a:pt x="10" y="126"/>
                  <a:pt x="14" y="115"/>
                </a:cubicBezTo>
                <a:cubicBezTo>
                  <a:pt x="19" y="104"/>
                  <a:pt x="25" y="93"/>
                  <a:pt x="32"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13558" y="0"/>
                </a:lnTo>
                <a:cubicBezTo>
                  <a:pt x="13570" y="0"/>
                  <a:pt x="13582" y="2"/>
                  <a:pt x="13594" y="4"/>
                </a:cubicBezTo>
                <a:cubicBezTo>
                  <a:pt x="13606" y="6"/>
                  <a:pt x="13618" y="10"/>
                  <a:pt x="13629" y="15"/>
                </a:cubicBezTo>
                <a:cubicBezTo>
                  <a:pt x="13640" y="19"/>
                  <a:pt x="13651" y="25"/>
                  <a:pt x="13661" y="32"/>
                </a:cubicBezTo>
                <a:cubicBezTo>
                  <a:pt x="13671" y="39"/>
                  <a:pt x="13680" y="46"/>
                  <a:pt x="13689" y="55"/>
                </a:cubicBezTo>
                <a:cubicBezTo>
                  <a:pt x="13698" y="63"/>
                  <a:pt x="13705" y="73"/>
                  <a:pt x="13712" y="83"/>
                </a:cubicBezTo>
                <a:cubicBezTo>
                  <a:pt x="13719" y="93"/>
                  <a:pt x="13725" y="104"/>
                  <a:pt x="13729" y="115"/>
                </a:cubicBezTo>
                <a:cubicBezTo>
                  <a:pt x="13734" y="126"/>
                  <a:pt x="13737" y="138"/>
                  <a:pt x="13740" y="150"/>
                </a:cubicBezTo>
                <a:cubicBezTo>
                  <a:pt x="13742" y="162"/>
                  <a:pt x="13743" y="174"/>
                  <a:pt x="13743" y="186"/>
                </a:cubicBezTo>
                <a:lnTo>
                  <a:pt x="13743" y="4180"/>
                </a:lnTo>
                <a:cubicBezTo>
                  <a:pt x="13743" y="4192"/>
                  <a:pt x="13742" y="4204"/>
                  <a:pt x="13740" y="4216"/>
                </a:cubicBezTo>
                <a:cubicBezTo>
                  <a:pt x="13737" y="4228"/>
                  <a:pt x="13734" y="4240"/>
                  <a:pt x="13729" y="4251"/>
                </a:cubicBezTo>
                <a:cubicBezTo>
                  <a:pt x="13725" y="4262"/>
                  <a:pt x="13719" y="4273"/>
                  <a:pt x="13712" y="4283"/>
                </a:cubicBezTo>
                <a:cubicBezTo>
                  <a:pt x="13705" y="4293"/>
                  <a:pt x="13698" y="4303"/>
                  <a:pt x="13689" y="4311"/>
                </a:cubicBezTo>
                <a:cubicBezTo>
                  <a:pt x="13680" y="4320"/>
                  <a:pt x="13671" y="4327"/>
                  <a:pt x="13661" y="4334"/>
                </a:cubicBezTo>
                <a:cubicBezTo>
                  <a:pt x="13651" y="4341"/>
                  <a:pt x="13640" y="4347"/>
                  <a:pt x="13629" y="4351"/>
                </a:cubicBezTo>
                <a:cubicBezTo>
                  <a:pt x="13618" y="4356"/>
                  <a:pt x="13606" y="4360"/>
                  <a:pt x="13594" y="4362"/>
                </a:cubicBezTo>
                <a:cubicBezTo>
                  <a:pt x="13582" y="4364"/>
                  <a:pt x="13570" y="4366"/>
                  <a:pt x="13558" y="4366"/>
                </a:cubicBezTo>
                <a:lnTo>
                  <a:pt x="186" y="4366"/>
                </a:lnTo>
                <a:cubicBezTo>
                  <a:pt x="174" y="4366"/>
                  <a:pt x="162" y="4364"/>
                  <a:pt x="150" y="4362"/>
                </a:cubicBezTo>
                <a:cubicBezTo>
                  <a:pt x="138" y="4360"/>
                  <a:pt x="126" y="4356"/>
                  <a:pt x="115" y="4351"/>
                </a:cubicBezTo>
                <a:cubicBezTo>
                  <a:pt x="104" y="4347"/>
                  <a:pt x="93" y="4341"/>
                  <a:pt x="83" y="4334"/>
                </a:cubicBezTo>
                <a:cubicBezTo>
                  <a:pt x="73" y="4327"/>
                  <a:pt x="63" y="4320"/>
                  <a:pt x="55" y="4311"/>
                </a:cubicBezTo>
                <a:cubicBezTo>
                  <a:pt x="46" y="4303"/>
                  <a:pt x="38" y="4293"/>
                  <a:pt x="32" y="4283"/>
                </a:cubicBezTo>
                <a:cubicBezTo>
                  <a:pt x="25" y="4273"/>
                  <a:pt x="19" y="4262"/>
                  <a:pt x="14" y="4251"/>
                </a:cubicBezTo>
                <a:cubicBezTo>
                  <a:pt x="10" y="4240"/>
                  <a:pt x="6" y="4228"/>
                  <a:pt x="4" y="4216"/>
                </a:cubicBezTo>
                <a:cubicBezTo>
                  <a:pt x="2" y="4204"/>
                  <a:pt x="0" y="4192"/>
                  <a:pt x="0" y="4180"/>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59" name="図 258"/>
          <p:cNvPicPr/>
          <p:nvPr/>
        </p:nvPicPr>
        <p:blipFill>
          <a:blip r:embed="rId6"/>
          <a:stretch/>
        </p:blipFill>
        <p:spPr>
          <a:xfrm>
            <a:off x="267480" y="3710520"/>
            <a:ext cx="174960" cy="200160"/>
          </a:xfrm>
          <a:prstGeom prst="rect">
            <a:avLst/>
          </a:prstGeom>
          <a:noFill/>
          <a:ln w="0">
            <a:noFill/>
          </a:ln>
        </p:spPr>
      </p:pic>
      <p:sp>
        <p:nvSpPr>
          <p:cNvPr id="260" name="テキスト ボックス 259"/>
          <p:cNvSpPr txBox="1"/>
          <p:nvPr/>
        </p:nvSpPr>
        <p:spPr>
          <a:xfrm>
            <a:off x="7454160" y="1422000"/>
            <a:ext cx="9396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使用ガスセンサ</a:t>
            </a:r>
            <a:endParaRPr lang="en-US" sz="1050" b="0" u="none" strike="noStrike">
              <a:solidFill>
                <a:srgbClr val="000000"/>
              </a:solidFill>
              <a:effectLst/>
              <a:uFillTx/>
              <a:latin typeface="Times New Roman"/>
            </a:endParaRPr>
          </a:p>
        </p:txBody>
      </p:sp>
      <p:pic>
        <p:nvPicPr>
          <p:cNvPr id="261" name="図 260"/>
          <p:cNvPicPr/>
          <p:nvPr/>
        </p:nvPicPr>
        <p:blipFill>
          <a:blip r:embed="rId7"/>
          <a:stretch/>
        </p:blipFill>
        <p:spPr>
          <a:xfrm>
            <a:off x="434520" y="4278600"/>
            <a:ext cx="150120" cy="150120"/>
          </a:xfrm>
          <a:prstGeom prst="rect">
            <a:avLst/>
          </a:prstGeom>
          <a:noFill/>
          <a:ln w="0">
            <a:noFill/>
          </a:ln>
        </p:spPr>
      </p:pic>
      <p:sp>
        <p:nvSpPr>
          <p:cNvPr id="262" name="テキスト ボックス 261"/>
          <p:cNvSpPr txBox="1"/>
          <p:nvPr/>
        </p:nvSpPr>
        <p:spPr>
          <a:xfrm>
            <a:off x="543240" y="3708000"/>
            <a:ext cx="80532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実験環境</a:t>
            </a:r>
            <a:endParaRPr lang="en-US" sz="1580" b="0" u="none" strike="noStrike">
              <a:solidFill>
                <a:srgbClr val="000000"/>
              </a:solidFill>
              <a:effectLst/>
              <a:uFillTx/>
              <a:latin typeface="Times New Roman"/>
            </a:endParaRPr>
          </a:p>
        </p:txBody>
      </p:sp>
      <p:pic>
        <p:nvPicPr>
          <p:cNvPr id="263" name="図 262"/>
          <p:cNvPicPr/>
          <p:nvPr/>
        </p:nvPicPr>
        <p:blipFill>
          <a:blip r:embed="rId8"/>
          <a:stretch/>
        </p:blipFill>
        <p:spPr>
          <a:xfrm>
            <a:off x="434520" y="4613040"/>
            <a:ext cx="150120" cy="150120"/>
          </a:xfrm>
          <a:prstGeom prst="rect">
            <a:avLst/>
          </a:prstGeom>
          <a:noFill/>
          <a:ln w="0">
            <a:noFill/>
          </a:ln>
        </p:spPr>
      </p:pic>
      <p:sp>
        <p:nvSpPr>
          <p:cNvPr id="264" name="テキスト ボックス 263"/>
          <p:cNvSpPr txBox="1"/>
          <p:nvPr/>
        </p:nvSpPr>
        <p:spPr>
          <a:xfrm>
            <a:off x="651960" y="4289400"/>
            <a:ext cx="13460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温度：</a:t>
            </a:r>
            <a:r>
              <a:rPr lang="en-US" sz="1180" b="0" u="none" strike="noStrike">
                <a:solidFill>
                  <a:srgbClr val="000000"/>
                </a:solidFill>
                <a:effectLst/>
                <a:uFillTx/>
                <a:latin typeface="NotoSansJP"/>
                <a:ea typeface="NotoSansJP"/>
              </a:rPr>
              <a:t>35℃</a:t>
            </a:r>
            <a:r>
              <a:rPr lang="zh-CN" sz="1180" b="0" u="none" strike="noStrike">
                <a:solidFill>
                  <a:srgbClr val="000000"/>
                </a:solidFill>
                <a:effectLst/>
                <a:uFillTx/>
                <a:latin typeface="NotoSansJP"/>
                <a:ea typeface="NotoSansJP"/>
              </a:rPr>
              <a:t>に維持</a:t>
            </a:r>
            <a:endParaRPr lang="en-US" sz="1180" b="0" u="none" strike="noStrike">
              <a:solidFill>
                <a:srgbClr val="000000"/>
              </a:solidFill>
              <a:effectLst/>
              <a:uFillTx/>
              <a:latin typeface="Times New Roman"/>
            </a:endParaRPr>
          </a:p>
        </p:txBody>
      </p:sp>
      <p:pic>
        <p:nvPicPr>
          <p:cNvPr id="265" name="図 264"/>
          <p:cNvPicPr/>
          <p:nvPr/>
        </p:nvPicPr>
        <p:blipFill>
          <a:blip r:embed="rId9"/>
          <a:stretch/>
        </p:blipFill>
        <p:spPr>
          <a:xfrm>
            <a:off x="434520" y="4947120"/>
            <a:ext cx="150120" cy="150120"/>
          </a:xfrm>
          <a:prstGeom prst="rect">
            <a:avLst/>
          </a:prstGeom>
          <a:noFill/>
          <a:ln w="0">
            <a:noFill/>
          </a:ln>
        </p:spPr>
      </p:pic>
      <p:sp>
        <p:nvSpPr>
          <p:cNvPr id="266" name="テキスト ボックス 265"/>
          <p:cNvSpPr txBox="1"/>
          <p:nvPr/>
        </p:nvSpPr>
        <p:spPr>
          <a:xfrm>
            <a:off x="651960" y="4623840"/>
            <a:ext cx="37908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流量：</a:t>
            </a:r>
            <a:r>
              <a:rPr lang="en-US" sz="1180" b="0" u="none" strike="noStrike">
                <a:solidFill>
                  <a:srgbClr val="000000"/>
                </a:solidFill>
                <a:effectLst/>
                <a:uFillTx/>
                <a:latin typeface="NotoSansJP"/>
                <a:ea typeface="NotoSansJP"/>
              </a:rPr>
              <a:t>10L/min</a:t>
            </a:r>
            <a:r>
              <a:rPr lang="zh-CN" sz="1180" b="0" u="none" strike="noStrike">
                <a:solidFill>
                  <a:srgbClr val="000000"/>
                </a:solidFill>
                <a:effectLst/>
                <a:uFillTx/>
                <a:latin typeface="NotoSansJP"/>
                <a:ea typeface="NotoSansJP"/>
              </a:rPr>
              <a:t>（パーミエータチューブ</a:t>
            </a:r>
            <a:r>
              <a:rPr lang="en-US" sz="1180" b="0" u="none" strike="noStrike">
                <a:solidFill>
                  <a:srgbClr val="000000"/>
                </a:solidFill>
                <a:effectLst/>
                <a:uFillTx/>
                <a:latin typeface="NotoSansJP"/>
                <a:ea typeface="NotoSansJP"/>
              </a:rPr>
              <a:t>PD-1B</a:t>
            </a:r>
            <a:r>
              <a:rPr lang="zh-CN" sz="1180" b="0" u="none" strike="noStrike">
                <a:solidFill>
                  <a:srgbClr val="000000"/>
                </a:solidFill>
                <a:effectLst/>
                <a:uFillTx/>
                <a:latin typeface="NotoSansJP"/>
                <a:ea typeface="NotoSansJP"/>
              </a:rPr>
              <a:t>使用）</a:t>
            </a:r>
            <a:endParaRPr lang="en-US" sz="1180" b="0" u="none" strike="noStrike">
              <a:solidFill>
                <a:srgbClr val="000000"/>
              </a:solidFill>
              <a:effectLst/>
              <a:uFillTx/>
              <a:latin typeface="Times New Roman"/>
            </a:endParaRPr>
          </a:p>
        </p:txBody>
      </p:sp>
      <p:pic>
        <p:nvPicPr>
          <p:cNvPr id="267" name="図 266"/>
          <p:cNvPicPr/>
          <p:nvPr/>
        </p:nvPicPr>
        <p:blipFill>
          <a:blip r:embed="rId10"/>
          <a:stretch/>
        </p:blipFill>
        <p:spPr>
          <a:xfrm>
            <a:off x="434520" y="5281560"/>
            <a:ext cx="150120" cy="150120"/>
          </a:xfrm>
          <a:prstGeom prst="rect">
            <a:avLst/>
          </a:prstGeom>
          <a:noFill/>
          <a:ln w="0">
            <a:noFill/>
          </a:ln>
        </p:spPr>
      </p:pic>
      <p:sp>
        <p:nvSpPr>
          <p:cNvPr id="268" name="テキスト ボックス 267"/>
          <p:cNvSpPr txBox="1"/>
          <p:nvPr/>
        </p:nvSpPr>
        <p:spPr>
          <a:xfrm>
            <a:off x="651960" y="4957920"/>
            <a:ext cx="264204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ガス濃度：</a:t>
            </a:r>
            <a:r>
              <a:rPr lang="en-US" sz="1180" b="0" u="none" strike="noStrike">
                <a:solidFill>
                  <a:srgbClr val="000000"/>
                </a:solidFill>
                <a:effectLst/>
                <a:uFillTx/>
                <a:latin typeface="NotoSansJP"/>
                <a:ea typeface="NotoSansJP"/>
              </a:rPr>
              <a:t>0.06ppm</a:t>
            </a:r>
            <a:r>
              <a:rPr lang="zh-CN" sz="1180" b="0" u="none" strike="noStrike">
                <a:solidFill>
                  <a:srgbClr val="000000"/>
                </a:solidFill>
                <a:effectLst/>
                <a:uFillTx/>
                <a:latin typeface="NotoSansJP"/>
                <a:ea typeface="NotoSansJP"/>
              </a:rPr>
              <a:t>～</a:t>
            </a:r>
            <a:r>
              <a:rPr lang="en-US" sz="1180" b="0" u="none" strike="noStrike">
                <a:solidFill>
                  <a:srgbClr val="000000"/>
                </a:solidFill>
                <a:effectLst/>
                <a:uFillTx/>
                <a:latin typeface="NotoSansJP"/>
                <a:ea typeface="NotoSansJP"/>
              </a:rPr>
              <a:t>2.6ppm</a:t>
            </a:r>
            <a:endParaRPr lang="en-US" sz="1180" b="0" u="none" strike="noStrike">
              <a:solidFill>
                <a:srgbClr val="000000"/>
              </a:solidFill>
              <a:effectLst/>
              <a:uFillTx/>
              <a:latin typeface="Times New Roman"/>
            </a:endParaRPr>
          </a:p>
        </p:txBody>
      </p:sp>
      <p:sp>
        <p:nvSpPr>
          <p:cNvPr id="269" name="フリーフォーム: 図形 268"/>
          <p:cNvSpPr/>
          <p:nvPr/>
        </p:nvSpPr>
        <p:spPr>
          <a:xfrm>
            <a:off x="5481720" y="4077720"/>
            <a:ext cx="4947480" cy="2039400"/>
          </a:xfrm>
          <a:custGeom>
            <a:avLst/>
            <a:gdLst/>
            <a:ahLst/>
            <a:cxnLst/>
            <a:rect l="0" t="0" r="r" b="b"/>
            <a:pathLst>
              <a:path w="13743" h="5665">
                <a:moveTo>
                  <a:pt x="0" y="5480"/>
                </a:moveTo>
                <a:lnTo>
                  <a:pt x="0" y="186"/>
                </a:lnTo>
                <a:cubicBezTo>
                  <a:pt x="0" y="174"/>
                  <a:pt x="1" y="162"/>
                  <a:pt x="4" y="150"/>
                </a:cubicBezTo>
                <a:cubicBezTo>
                  <a:pt x="6" y="138"/>
                  <a:pt x="10" y="126"/>
                  <a:pt x="14" y="115"/>
                </a:cubicBezTo>
                <a:cubicBezTo>
                  <a:pt x="19" y="104"/>
                  <a:pt x="25" y="93"/>
                  <a:pt x="32"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13558" y="0"/>
                </a:lnTo>
                <a:cubicBezTo>
                  <a:pt x="13570" y="0"/>
                  <a:pt x="13582" y="2"/>
                  <a:pt x="13594" y="4"/>
                </a:cubicBezTo>
                <a:cubicBezTo>
                  <a:pt x="13606" y="6"/>
                  <a:pt x="13617" y="10"/>
                  <a:pt x="13629" y="15"/>
                </a:cubicBezTo>
                <a:cubicBezTo>
                  <a:pt x="13640" y="19"/>
                  <a:pt x="13651" y="25"/>
                  <a:pt x="13661" y="32"/>
                </a:cubicBezTo>
                <a:cubicBezTo>
                  <a:pt x="13671" y="39"/>
                  <a:pt x="13680" y="46"/>
                  <a:pt x="13689" y="55"/>
                </a:cubicBezTo>
                <a:cubicBezTo>
                  <a:pt x="13698" y="63"/>
                  <a:pt x="13705" y="73"/>
                  <a:pt x="13712" y="83"/>
                </a:cubicBezTo>
                <a:cubicBezTo>
                  <a:pt x="13719" y="93"/>
                  <a:pt x="13725" y="104"/>
                  <a:pt x="13729" y="115"/>
                </a:cubicBezTo>
                <a:cubicBezTo>
                  <a:pt x="13734" y="126"/>
                  <a:pt x="13737" y="138"/>
                  <a:pt x="13740" y="150"/>
                </a:cubicBezTo>
                <a:cubicBezTo>
                  <a:pt x="13742" y="162"/>
                  <a:pt x="13743" y="174"/>
                  <a:pt x="13743" y="186"/>
                </a:cubicBezTo>
                <a:lnTo>
                  <a:pt x="13743" y="5480"/>
                </a:lnTo>
                <a:cubicBezTo>
                  <a:pt x="13743" y="5492"/>
                  <a:pt x="13742" y="5504"/>
                  <a:pt x="13740" y="5516"/>
                </a:cubicBezTo>
                <a:cubicBezTo>
                  <a:pt x="13737" y="5528"/>
                  <a:pt x="13734" y="5540"/>
                  <a:pt x="13729" y="5551"/>
                </a:cubicBezTo>
                <a:cubicBezTo>
                  <a:pt x="13725" y="5562"/>
                  <a:pt x="13719" y="5573"/>
                  <a:pt x="13712" y="5583"/>
                </a:cubicBezTo>
                <a:cubicBezTo>
                  <a:pt x="13705" y="5593"/>
                  <a:pt x="13698" y="5602"/>
                  <a:pt x="13689" y="5611"/>
                </a:cubicBezTo>
                <a:cubicBezTo>
                  <a:pt x="13680" y="5620"/>
                  <a:pt x="13671" y="5627"/>
                  <a:pt x="13661" y="5634"/>
                </a:cubicBezTo>
                <a:cubicBezTo>
                  <a:pt x="13651" y="5641"/>
                  <a:pt x="13640" y="5647"/>
                  <a:pt x="13629" y="5651"/>
                </a:cubicBezTo>
                <a:cubicBezTo>
                  <a:pt x="13617" y="5656"/>
                  <a:pt x="13606" y="5660"/>
                  <a:pt x="13594" y="5662"/>
                </a:cubicBezTo>
                <a:cubicBezTo>
                  <a:pt x="13582" y="5664"/>
                  <a:pt x="13570" y="5665"/>
                  <a:pt x="13558" y="5665"/>
                </a:cubicBezTo>
                <a:lnTo>
                  <a:pt x="186" y="5665"/>
                </a:lnTo>
                <a:cubicBezTo>
                  <a:pt x="174" y="5665"/>
                  <a:pt x="162" y="5664"/>
                  <a:pt x="150" y="5662"/>
                </a:cubicBezTo>
                <a:cubicBezTo>
                  <a:pt x="138" y="5660"/>
                  <a:pt x="126" y="5656"/>
                  <a:pt x="115" y="5651"/>
                </a:cubicBezTo>
                <a:cubicBezTo>
                  <a:pt x="104" y="5647"/>
                  <a:pt x="93" y="5641"/>
                  <a:pt x="83" y="5634"/>
                </a:cubicBezTo>
                <a:cubicBezTo>
                  <a:pt x="73" y="5627"/>
                  <a:pt x="63" y="5620"/>
                  <a:pt x="55" y="5611"/>
                </a:cubicBezTo>
                <a:cubicBezTo>
                  <a:pt x="46" y="5602"/>
                  <a:pt x="38" y="5593"/>
                  <a:pt x="32" y="5583"/>
                </a:cubicBezTo>
                <a:cubicBezTo>
                  <a:pt x="25" y="5573"/>
                  <a:pt x="19" y="5562"/>
                  <a:pt x="14" y="5551"/>
                </a:cubicBezTo>
                <a:cubicBezTo>
                  <a:pt x="10" y="5540"/>
                  <a:pt x="6" y="5528"/>
                  <a:pt x="4" y="5516"/>
                </a:cubicBezTo>
                <a:cubicBezTo>
                  <a:pt x="1" y="5504"/>
                  <a:pt x="0" y="5492"/>
                  <a:pt x="0" y="5480"/>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70" name="フリーフォーム: 図形 269"/>
          <p:cNvSpPr/>
          <p:nvPr/>
        </p:nvSpPr>
        <p:spPr>
          <a:xfrm>
            <a:off x="5649120" y="4245120"/>
            <a:ext cx="33480" cy="468360"/>
          </a:xfrm>
          <a:custGeom>
            <a:avLst/>
            <a:gdLst/>
            <a:ahLst/>
            <a:cxnLst/>
            <a:rect l="0" t="0" r="r" b="b"/>
            <a:pathLst>
              <a:path w="93" h="1301">
                <a:moveTo>
                  <a:pt x="0" y="0"/>
                </a:moveTo>
                <a:lnTo>
                  <a:pt x="93" y="0"/>
                </a:lnTo>
                <a:lnTo>
                  <a:pt x="93" y="1301"/>
                </a:lnTo>
                <a:lnTo>
                  <a:pt x="0" y="1301"/>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71" name="フリーフォーム: 図形 270"/>
          <p:cNvSpPr/>
          <p:nvPr/>
        </p:nvSpPr>
        <p:spPr>
          <a:xfrm>
            <a:off x="5649120" y="4813200"/>
            <a:ext cx="33480" cy="468360"/>
          </a:xfrm>
          <a:custGeom>
            <a:avLst/>
            <a:gdLst/>
            <a:ahLst/>
            <a:cxnLst/>
            <a:rect l="0" t="0" r="r" b="b"/>
            <a:pathLst>
              <a:path w="93" h="1301">
                <a:moveTo>
                  <a:pt x="0" y="0"/>
                </a:moveTo>
                <a:lnTo>
                  <a:pt x="93" y="0"/>
                </a:lnTo>
                <a:lnTo>
                  <a:pt x="93" y="1301"/>
                </a:lnTo>
                <a:lnTo>
                  <a:pt x="0" y="1301"/>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72" name="フリーフォーム: 図形 271"/>
          <p:cNvSpPr/>
          <p:nvPr/>
        </p:nvSpPr>
        <p:spPr>
          <a:xfrm>
            <a:off x="5649120" y="5381640"/>
            <a:ext cx="33480" cy="468360"/>
          </a:xfrm>
          <a:custGeom>
            <a:avLst/>
            <a:gdLst/>
            <a:ahLst/>
            <a:cxnLst/>
            <a:rect l="0" t="0" r="r" b="b"/>
            <a:pathLst>
              <a:path w="93" h="1301">
                <a:moveTo>
                  <a:pt x="0" y="0"/>
                </a:moveTo>
                <a:lnTo>
                  <a:pt x="93" y="0"/>
                </a:lnTo>
                <a:lnTo>
                  <a:pt x="93" y="1301"/>
                </a:lnTo>
                <a:lnTo>
                  <a:pt x="0" y="1301"/>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73" name="図 272"/>
          <p:cNvPicPr/>
          <p:nvPr/>
        </p:nvPicPr>
        <p:blipFill>
          <a:blip r:embed="rId11"/>
          <a:stretch/>
        </p:blipFill>
        <p:spPr>
          <a:xfrm>
            <a:off x="5482080" y="3710520"/>
            <a:ext cx="200160" cy="200160"/>
          </a:xfrm>
          <a:prstGeom prst="rect">
            <a:avLst/>
          </a:prstGeom>
          <a:noFill/>
          <a:ln w="0">
            <a:noFill/>
          </a:ln>
        </p:spPr>
      </p:pic>
      <p:sp>
        <p:nvSpPr>
          <p:cNvPr id="274" name="テキスト ボックス 273"/>
          <p:cNvSpPr txBox="1"/>
          <p:nvPr/>
        </p:nvSpPr>
        <p:spPr>
          <a:xfrm>
            <a:off x="651960" y="5292360"/>
            <a:ext cx="166032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事前濃度確認可能な環境</a:t>
            </a:r>
            <a:endParaRPr lang="en-US" sz="1180" b="0" u="none" strike="noStrike">
              <a:solidFill>
                <a:srgbClr val="000000"/>
              </a:solidFill>
              <a:effectLst/>
              <a:uFillTx/>
              <a:latin typeface="Times New Roman"/>
            </a:endParaRPr>
          </a:p>
        </p:txBody>
      </p:sp>
      <p:sp>
        <p:nvSpPr>
          <p:cNvPr id="275" name="テキスト ボックス 274"/>
          <p:cNvSpPr txBox="1"/>
          <p:nvPr/>
        </p:nvSpPr>
        <p:spPr>
          <a:xfrm>
            <a:off x="5782680" y="3708000"/>
            <a:ext cx="80532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測定方法</a:t>
            </a:r>
            <a:endParaRPr lang="en-US" sz="1580" b="0" u="none" strike="noStrike">
              <a:solidFill>
                <a:srgbClr val="000000"/>
              </a:solidFill>
              <a:effectLst/>
              <a:uFillTx/>
              <a:latin typeface="Times New Roman"/>
            </a:endParaRPr>
          </a:p>
        </p:txBody>
      </p:sp>
      <p:sp>
        <p:nvSpPr>
          <p:cNvPr id="276" name="テキスト ボックス 275"/>
          <p:cNvSpPr txBox="1"/>
          <p:nvPr/>
        </p:nvSpPr>
        <p:spPr>
          <a:xfrm>
            <a:off x="5782680" y="4273920"/>
            <a:ext cx="150948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インピーダンス測定</a:t>
            </a:r>
            <a:endParaRPr lang="en-US" sz="1320" b="0" u="none" strike="noStrike">
              <a:solidFill>
                <a:srgbClr val="000000"/>
              </a:solidFill>
              <a:effectLst/>
              <a:uFillTx/>
              <a:latin typeface="Times New Roman"/>
            </a:endParaRPr>
          </a:p>
        </p:txBody>
      </p:sp>
      <p:sp>
        <p:nvSpPr>
          <p:cNvPr id="277" name="テキスト ボックス 276"/>
          <p:cNvSpPr txBox="1"/>
          <p:nvPr/>
        </p:nvSpPr>
        <p:spPr>
          <a:xfrm>
            <a:off x="5782680" y="4523400"/>
            <a:ext cx="241452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Cole-Cole</a:t>
            </a:r>
            <a:r>
              <a:rPr lang="zh-CN" sz="1180" b="0" u="none" strike="noStrike">
                <a:solidFill>
                  <a:srgbClr val="000000"/>
                </a:solidFill>
                <a:effectLst/>
                <a:uFillTx/>
                <a:latin typeface="NotoSansJP"/>
                <a:ea typeface="NotoSansJP"/>
              </a:rPr>
              <a:t>プロットによる特性評価</a:t>
            </a:r>
            <a:endParaRPr lang="en-US" sz="1180" b="0" u="none" strike="noStrike">
              <a:solidFill>
                <a:srgbClr val="000000"/>
              </a:solidFill>
              <a:effectLst/>
              <a:uFillTx/>
              <a:latin typeface="Times New Roman"/>
            </a:endParaRPr>
          </a:p>
        </p:txBody>
      </p:sp>
      <p:sp>
        <p:nvSpPr>
          <p:cNvPr id="278" name="テキスト ボックス 277"/>
          <p:cNvSpPr txBox="1"/>
          <p:nvPr/>
        </p:nvSpPr>
        <p:spPr>
          <a:xfrm>
            <a:off x="5782680" y="4842360"/>
            <a:ext cx="232776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時間</a:t>
            </a:r>
            <a:r>
              <a:rPr lang="en-US" sz="1320" b="0" u="none" strike="noStrike">
                <a:solidFill>
                  <a:srgbClr val="003366"/>
                </a:solidFill>
                <a:effectLst/>
                <a:uFillTx/>
                <a:latin typeface="NotoSansJP"/>
                <a:ea typeface="NotoSansJP"/>
              </a:rPr>
              <a:t>-</a:t>
            </a:r>
            <a:r>
              <a:rPr lang="zh-CN" sz="1320" b="0" u="none" strike="noStrike">
                <a:solidFill>
                  <a:srgbClr val="003366"/>
                </a:solidFill>
                <a:effectLst/>
                <a:uFillTx/>
                <a:latin typeface="NotoSansJP"/>
                <a:ea typeface="NotoSansJP"/>
              </a:rPr>
              <a:t>インピーダンス実部特性</a:t>
            </a:r>
            <a:endParaRPr lang="en-US" sz="1320" b="0" u="none" strike="noStrike">
              <a:solidFill>
                <a:srgbClr val="000000"/>
              </a:solidFill>
              <a:effectLst/>
              <a:uFillTx/>
              <a:latin typeface="Times New Roman"/>
            </a:endParaRPr>
          </a:p>
        </p:txBody>
      </p:sp>
      <p:sp>
        <p:nvSpPr>
          <p:cNvPr id="279" name="テキスト ボックス 278"/>
          <p:cNvSpPr txBox="1"/>
          <p:nvPr/>
        </p:nvSpPr>
        <p:spPr>
          <a:xfrm>
            <a:off x="5782680" y="5091840"/>
            <a:ext cx="24148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ガス濃度変化に対する応答特性評価</a:t>
            </a:r>
            <a:endParaRPr lang="en-US" sz="1180" b="0" u="none" strike="noStrike">
              <a:solidFill>
                <a:srgbClr val="000000"/>
              </a:solidFill>
              <a:effectLst/>
              <a:uFillTx/>
              <a:latin typeface="Times New Roman"/>
            </a:endParaRPr>
          </a:p>
        </p:txBody>
      </p:sp>
      <p:sp>
        <p:nvSpPr>
          <p:cNvPr id="280" name="テキスト ボックス 279"/>
          <p:cNvSpPr txBox="1"/>
          <p:nvPr/>
        </p:nvSpPr>
        <p:spPr>
          <a:xfrm>
            <a:off x="5782680" y="5410440"/>
            <a:ext cx="83880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検量線作成</a:t>
            </a:r>
            <a:endParaRPr lang="en-US" sz="1320" b="0" u="none" strike="noStrike">
              <a:solidFill>
                <a:srgbClr val="000000"/>
              </a:solidFill>
              <a:effectLst/>
              <a:uFillTx/>
              <a:latin typeface="Times New Roman"/>
            </a:endParaRPr>
          </a:p>
        </p:txBody>
      </p:sp>
      <p:sp>
        <p:nvSpPr>
          <p:cNvPr id="281" name="テキスト ボックス 280"/>
          <p:cNvSpPr txBox="1"/>
          <p:nvPr/>
        </p:nvSpPr>
        <p:spPr>
          <a:xfrm>
            <a:off x="5782680" y="5659920"/>
            <a:ext cx="449892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低濃度領域</a:t>
            </a:r>
            <a:r>
              <a:rPr lang="en-US" sz="1180" b="0" u="none" strike="noStrike">
                <a:solidFill>
                  <a:srgbClr val="000000"/>
                </a:solidFill>
                <a:effectLst/>
                <a:uFillTx/>
                <a:latin typeface="NotoSansJP"/>
                <a:ea typeface="NotoSansJP"/>
              </a:rPr>
              <a:t>(0.06-0.1ppm)</a:t>
            </a:r>
            <a:r>
              <a:rPr lang="zh-CN" sz="1180" b="0" u="none" strike="noStrike">
                <a:solidFill>
                  <a:srgbClr val="000000"/>
                </a:solidFill>
                <a:effectLst/>
                <a:uFillTx/>
                <a:latin typeface="NotoSansJP"/>
                <a:ea typeface="NotoSansJP"/>
              </a:rPr>
              <a:t>と中濃度領域</a:t>
            </a:r>
            <a:r>
              <a:rPr lang="en-US" sz="1180" b="0" u="none" strike="noStrike">
                <a:solidFill>
                  <a:srgbClr val="000000"/>
                </a:solidFill>
                <a:effectLst/>
                <a:uFillTx/>
                <a:latin typeface="NotoSansJP"/>
                <a:ea typeface="NotoSansJP"/>
              </a:rPr>
              <a:t>(0.1-2.6ppm)</a:t>
            </a:r>
            <a:r>
              <a:rPr lang="zh-CN" sz="1180" b="0" u="none" strike="noStrike">
                <a:solidFill>
                  <a:srgbClr val="000000"/>
                </a:solidFill>
                <a:effectLst/>
                <a:uFillTx/>
                <a:latin typeface="NotoSansJP"/>
                <a:ea typeface="NotoSansJP"/>
              </a:rPr>
              <a:t>での評価</a:t>
            </a:r>
            <a:endParaRPr lang="en-US" sz="1180" b="0" u="none" strike="noStrike">
              <a:solidFill>
                <a:srgbClr val="000000"/>
              </a:solidFill>
              <a:effectLst/>
              <a:uFillTx/>
              <a:latin typeface="Times New Roman"/>
            </a:endParaRPr>
          </a:p>
        </p:txBody>
      </p:sp>
      <p:sp>
        <p:nvSpPr>
          <p:cNvPr id="282" name="テキスト ボックス 281"/>
          <p:cNvSpPr txBox="1"/>
          <p:nvPr/>
        </p:nvSpPr>
        <p:spPr>
          <a:xfrm>
            <a:off x="10153440" y="6085080"/>
            <a:ext cx="387000" cy="157320"/>
          </a:xfrm>
          <a:prstGeom prst="rect">
            <a:avLst/>
          </a:prstGeom>
          <a:noFill/>
          <a:ln w="0">
            <a:noFill/>
          </a:ln>
        </p:spPr>
        <p:txBody>
          <a:bodyPr wrap="none" lIns="0" tIns="0" rIns="0" bIns="0" anchor="t">
            <a:spAutoFit/>
          </a:bodyPr>
          <a:lstStyle/>
          <a:p>
            <a:r>
              <a:rPr lang="en-US" sz="1050" b="0" u="none" strike="noStrike">
                <a:solidFill>
                  <a:srgbClr val="4B5563"/>
                </a:solidFill>
                <a:effectLst/>
                <a:uFillTx/>
                <a:latin typeface="NotoSansJP"/>
                <a:ea typeface="NotoSansJP"/>
              </a:rPr>
              <a:t>6 / 17</a:t>
            </a:r>
            <a:endParaRPr lang="en-US" sz="105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 name="図 282"/>
          <p:cNvPicPr/>
          <p:nvPr/>
        </p:nvPicPr>
        <p:blipFill>
          <a:blip r:embed="rId2"/>
          <a:stretch/>
        </p:blipFill>
        <p:spPr>
          <a:xfrm>
            <a:off x="0" y="0"/>
            <a:ext cx="10696320" cy="6016320"/>
          </a:xfrm>
          <a:prstGeom prst="rect">
            <a:avLst/>
          </a:prstGeom>
          <a:noFill/>
          <a:ln w="0">
            <a:noFill/>
          </a:ln>
        </p:spPr>
      </p:pic>
      <p:sp>
        <p:nvSpPr>
          <p:cNvPr id="284" name="フリーフォーム: 図形 283"/>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85" name="フリーフォーム: 図形 284"/>
          <p:cNvSpPr/>
          <p:nvPr/>
        </p:nvSpPr>
        <p:spPr>
          <a:xfrm>
            <a:off x="267120" y="869040"/>
            <a:ext cx="4947480" cy="1938960"/>
          </a:xfrm>
          <a:custGeom>
            <a:avLst/>
            <a:gdLst/>
            <a:ahLst/>
            <a:cxnLst/>
            <a:rect l="0" t="0" r="r" b="b"/>
            <a:pathLst>
              <a:path w="13743" h="5386">
                <a:moveTo>
                  <a:pt x="0" y="5200"/>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3558" y="0"/>
                </a:lnTo>
                <a:cubicBezTo>
                  <a:pt x="13570" y="0"/>
                  <a:pt x="13582" y="1"/>
                  <a:pt x="13594" y="3"/>
                </a:cubicBezTo>
                <a:cubicBezTo>
                  <a:pt x="13606" y="6"/>
                  <a:pt x="13618" y="9"/>
                  <a:pt x="13629" y="14"/>
                </a:cubicBezTo>
                <a:cubicBezTo>
                  <a:pt x="13640" y="18"/>
                  <a:pt x="13651" y="24"/>
                  <a:pt x="13661" y="31"/>
                </a:cubicBezTo>
                <a:cubicBezTo>
                  <a:pt x="13671" y="38"/>
                  <a:pt x="13680" y="45"/>
                  <a:pt x="13689" y="54"/>
                </a:cubicBezTo>
                <a:cubicBezTo>
                  <a:pt x="13698" y="63"/>
                  <a:pt x="13705" y="72"/>
                  <a:pt x="13712" y="82"/>
                </a:cubicBezTo>
                <a:cubicBezTo>
                  <a:pt x="13719" y="92"/>
                  <a:pt x="13725" y="103"/>
                  <a:pt x="13729" y="114"/>
                </a:cubicBezTo>
                <a:cubicBezTo>
                  <a:pt x="13734" y="126"/>
                  <a:pt x="13737" y="137"/>
                  <a:pt x="13740" y="149"/>
                </a:cubicBezTo>
                <a:cubicBezTo>
                  <a:pt x="13742" y="161"/>
                  <a:pt x="13743" y="173"/>
                  <a:pt x="13743" y="185"/>
                </a:cubicBezTo>
                <a:lnTo>
                  <a:pt x="13743" y="5200"/>
                </a:lnTo>
                <a:cubicBezTo>
                  <a:pt x="13743" y="5213"/>
                  <a:pt x="13742" y="5225"/>
                  <a:pt x="13740" y="5237"/>
                </a:cubicBezTo>
                <a:cubicBezTo>
                  <a:pt x="13737" y="5249"/>
                  <a:pt x="13734" y="5260"/>
                  <a:pt x="13729" y="5271"/>
                </a:cubicBezTo>
                <a:cubicBezTo>
                  <a:pt x="13725" y="5283"/>
                  <a:pt x="13719" y="5293"/>
                  <a:pt x="13712" y="5304"/>
                </a:cubicBezTo>
                <a:cubicBezTo>
                  <a:pt x="13705" y="5314"/>
                  <a:pt x="13698" y="5323"/>
                  <a:pt x="13689" y="5332"/>
                </a:cubicBezTo>
                <a:cubicBezTo>
                  <a:pt x="13680" y="5340"/>
                  <a:pt x="13671" y="5348"/>
                  <a:pt x="13661" y="5355"/>
                </a:cubicBezTo>
                <a:cubicBezTo>
                  <a:pt x="13651" y="5362"/>
                  <a:pt x="13640" y="5367"/>
                  <a:pt x="13629" y="5372"/>
                </a:cubicBezTo>
                <a:cubicBezTo>
                  <a:pt x="13618" y="5377"/>
                  <a:pt x="13606" y="5380"/>
                  <a:pt x="13594" y="5383"/>
                </a:cubicBezTo>
                <a:cubicBezTo>
                  <a:pt x="13582" y="5385"/>
                  <a:pt x="13570" y="5386"/>
                  <a:pt x="13558" y="5386"/>
                </a:cubicBezTo>
                <a:lnTo>
                  <a:pt x="186" y="5386"/>
                </a:lnTo>
                <a:cubicBezTo>
                  <a:pt x="174" y="5386"/>
                  <a:pt x="162" y="5385"/>
                  <a:pt x="150" y="5383"/>
                </a:cubicBezTo>
                <a:cubicBezTo>
                  <a:pt x="138" y="5380"/>
                  <a:pt x="126" y="5377"/>
                  <a:pt x="115" y="5372"/>
                </a:cubicBezTo>
                <a:cubicBezTo>
                  <a:pt x="104" y="5367"/>
                  <a:pt x="93" y="5362"/>
                  <a:pt x="83" y="5355"/>
                </a:cubicBezTo>
                <a:cubicBezTo>
                  <a:pt x="73" y="5348"/>
                  <a:pt x="63" y="5340"/>
                  <a:pt x="55" y="5332"/>
                </a:cubicBezTo>
                <a:cubicBezTo>
                  <a:pt x="46" y="5323"/>
                  <a:pt x="38" y="5314"/>
                  <a:pt x="32" y="5304"/>
                </a:cubicBezTo>
                <a:cubicBezTo>
                  <a:pt x="25" y="5293"/>
                  <a:pt x="19" y="5283"/>
                  <a:pt x="14" y="5271"/>
                </a:cubicBezTo>
                <a:cubicBezTo>
                  <a:pt x="10" y="5260"/>
                  <a:pt x="6" y="5249"/>
                  <a:pt x="4" y="5237"/>
                </a:cubicBezTo>
                <a:cubicBezTo>
                  <a:pt x="2" y="5225"/>
                  <a:pt x="0" y="5213"/>
                  <a:pt x="0" y="5200"/>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86" name="図 285"/>
          <p:cNvPicPr/>
          <p:nvPr/>
        </p:nvPicPr>
        <p:blipFill>
          <a:blip r:embed="rId3"/>
          <a:stretch/>
        </p:blipFill>
        <p:spPr>
          <a:xfrm>
            <a:off x="468000" y="1103040"/>
            <a:ext cx="200160" cy="200160"/>
          </a:xfrm>
          <a:prstGeom prst="rect">
            <a:avLst/>
          </a:prstGeom>
          <a:noFill/>
          <a:ln w="0">
            <a:noFill/>
          </a:ln>
        </p:spPr>
      </p:pic>
      <p:sp>
        <p:nvSpPr>
          <p:cNvPr id="287" name="テキスト ボックス 286"/>
          <p:cNvSpPr txBox="1"/>
          <p:nvPr/>
        </p:nvSpPr>
        <p:spPr>
          <a:xfrm>
            <a:off x="334440" y="155520"/>
            <a:ext cx="27028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インピーダンス特性</a:t>
            </a:r>
            <a:endParaRPr lang="en-US" sz="2370" b="0" u="none" strike="noStrike">
              <a:solidFill>
                <a:srgbClr val="000000"/>
              </a:solidFill>
              <a:effectLst/>
              <a:uFillTx/>
              <a:latin typeface="Times New Roman"/>
            </a:endParaRPr>
          </a:p>
        </p:txBody>
      </p:sp>
      <p:pic>
        <p:nvPicPr>
          <p:cNvPr id="288" name="図 287"/>
          <p:cNvPicPr/>
          <p:nvPr/>
        </p:nvPicPr>
        <p:blipFill>
          <a:blip r:embed="rId4"/>
          <a:stretch/>
        </p:blipFill>
        <p:spPr>
          <a:xfrm>
            <a:off x="668520" y="1537560"/>
            <a:ext cx="100080" cy="100080"/>
          </a:xfrm>
          <a:prstGeom prst="rect">
            <a:avLst/>
          </a:prstGeom>
          <a:noFill/>
          <a:ln w="0">
            <a:noFill/>
          </a:ln>
        </p:spPr>
      </p:pic>
      <p:sp>
        <p:nvSpPr>
          <p:cNvPr id="289" name="テキスト ボックス 288"/>
          <p:cNvSpPr txBox="1"/>
          <p:nvPr/>
        </p:nvSpPr>
        <p:spPr>
          <a:xfrm>
            <a:off x="768960" y="1100880"/>
            <a:ext cx="2213640" cy="291600"/>
          </a:xfrm>
          <a:prstGeom prst="rect">
            <a:avLst/>
          </a:prstGeom>
          <a:noFill/>
          <a:ln w="0">
            <a:noFill/>
          </a:ln>
        </p:spPr>
        <p:txBody>
          <a:bodyPr wrap="none" lIns="0" tIns="0" rIns="0" bIns="0" anchor="t">
            <a:spAutoFit/>
          </a:bodyPr>
          <a:lstStyle/>
          <a:p>
            <a:r>
              <a:rPr lang="en-US" sz="1580" b="0" u="none" strike="noStrike">
                <a:solidFill>
                  <a:srgbClr val="003366"/>
                </a:solidFill>
                <a:effectLst/>
                <a:uFillTx/>
                <a:latin typeface="NotoSansJP"/>
                <a:ea typeface="NotoSansJP"/>
              </a:rPr>
              <a:t>Cole-Cole</a:t>
            </a:r>
            <a:r>
              <a:rPr lang="zh-CN" sz="1580" b="0" u="none" strike="noStrike">
                <a:solidFill>
                  <a:srgbClr val="003366"/>
                </a:solidFill>
                <a:effectLst/>
                <a:uFillTx/>
                <a:latin typeface="NotoSansJP"/>
                <a:ea typeface="NotoSansJP"/>
              </a:rPr>
              <a:t>プロット分析</a:t>
            </a:r>
            <a:endParaRPr lang="en-US" sz="1580" b="0" u="none" strike="noStrike">
              <a:solidFill>
                <a:srgbClr val="000000"/>
              </a:solidFill>
              <a:effectLst/>
              <a:uFillTx/>
              <a:latin typeface="Times New Roman"/>
            </a:endParaRPr>
          </a:p>
        </p:txBody>
      </p:sp>
      <p:sp>
        <p:nvSpPr>
          <p:cNvPr id="290" name="テキスト ボックス 289"/>
          <p:cNvSpPr txBox="1"/>
          <p:nvPr/>
        </p:nvSpPr>
        <p:spPr>
          <a:xfrm>
            <a:off x="835560" y="1514880"/>
            <a:ext cx="40744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インピーダンスの実部と虚部のプロットにより、ガスセンサ</a:t>
            </a:r>
            <a:endParaRPr lang="en-US" sz="1180" b="0" u="none" strike="noStrike">
              <a:solidFill>
                <a:srgbClr val="000000"/>
              </a:solidFill>
              <a:effectLst/>
              <a:uFillTx/>
              <a:latin typeface="Times New Roman"/>
            </a:endParaRPr>
          </a:p>
        </p:txBody>
      </p:sp>
      <p:pic>
        <p:nvPicPr>
          <p:cNvPr id="291" name="図 290"/>
          <p:cNvPicPr/>
          <p:nvPr/>
        </p:nvPicPr>
        <p:blipFill>
          <a:blip r:embed="rId4"/>
          <a:stretch/>
        </p:blipFill>
        <p:spPr>
          <a:xfrm>
            <a:off x="668520" y="2106000"/>
            <a:ext cx="100080" cy="100080"/>
          </a:xfrm>
          <a:prstGeom prst="rect">
            <a:avLst/>
          </a:prstGeom>
          <a:noFill/>
          <a:ln w="0">
            <a:noFill/>
          </a:ln>
        </p:spPr>
      </p:pic>
      <p:sp>
        <p:nvSpPr>
          <p:cNvPr id="292" name="テキスト ボックス 291"/>
          <p:cNvSpPr txBox="1"/>
          <p:nvPr/>
        </p:nvSpPr>
        <p:spPr>
          <a:xfrm>
            <a:off x="835560" y="1748880"/>
            <a:ext cx="13586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の電気的特性を評価</a:t>
            </a:r>
            <a:endParaRPr lang="en-US" sz="1180" b="0" u="none" strike="noStrike">
              <a:solidFill>
                <a:srgbClr val="000000"/>
              </a:solidFill>
              <a:effectLst/>
              <a:uFillTx/>
              <a:latin typeface="Times New Roman"/>
            </a:endParaRPr>
          </a:p>
        </p:txBody>
      </p:sp>
      <p:pic>
        <p:nvPicPr>
          <p:cNvPr id="293" name="図 292"/>
          <p:cNvPicPr/>
          <p:nvPr/>
        </p:nvPicPr>
        <p:blipFill>
          <a:blip r:embed="rId4"/>
          <a:stretch/>
        </p:blipFill>
        <p:spPr>
          <a:xfrm>
            <a:off x="668520" y="2440080"/>
            <a:ext cx="100080" cy="100080"/>
          </a:xfrm>
          <a:prstGeom prst="rect">
            <a:avLst/>
          </a:prstGeom>
          <a:noFill/>
          <a:ln w="0">
            <a:noFill/>
          </a:ln>
        </p:spPr>
      </p:pic>
      <p:sp>
        <p:nvSpPr>
          <p:cNvPr id="294" name="テキスト ボックス 293"/>
          <p:cNvSpPr txBox="1"/>
          <p:nvPr/>
        </p:nvSpPr>
        <p:spPr>
          <a:xfrm>
            <a:off x="835560" y="2083320"/>
            <a:ext cx="34707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半円形のプロットは、抵抗と容量の並列回路を示す</a:t>
            </a:r>
            <a:endParaRPr lang="en-US" sz="1180" b="0" u="none" strike="noStrike">
              <a:solidFill>
                <a:srgbClr val="000000"/>
              </a:solidFill>
              <a:effectLst/>
              <a:uFillTx/>
              <a:latin typeface="Times New Roman"/>
            </a:endParaRPr>
          </a:p>
        </p:txBody>
      </p:sp>
      <p:sp>
        <p:nvSpPr>
          <p:cNvPr id="295" name="フリーフォーム: 図形 294"/>
          <p:cNvSpPr/>
          <p:nvPr/>
        </p:nvSpPr>
        <p:spPr>
          <a:xfrm>
            <a:off x="267120" y="3208680"/>
            <a:ext cx="4947480" cy="2373840"/>
          </a:xfrm>
          <a:custGeom>
            <a:avLst/>
            <a:gdLst/>
            <a:ahLst/>
            <a:cxnLst/>
            <a:rect l="0" t="0" r="r" b="b"/>
            <a:pathLst>
              <a:path w="13743" h="6594">
                <a:moveTo>
                  <a:pt x="0" y="6408"/>
                </a:moveTo>
                <a:lnTo>
                  <a:pt x="0" y="186"/>
                </a:lnTo>
                <a:cubicBezTo>
                  <a:pt x="0" y="174"/>
                  <a:pt x="2" y="162"/>
                  <a:pt x="4" y="150"/>
                </a:cubicBezTo>
                <a:cubicBezTo>
                  <a:pt x="6" y="138"/>
                  <a:pt x="10" y="126"/>
                  <a:pt x="14" y="115"/>
                </a:cubicBezTo>
                <a:cubicBezTo>
                  <a:pt x="19" y="104"/>
                  <a:pt x="25" y="93"/>
                  <a:pt x="32"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13558" y="0"/>
                </a:lnTo>
                <a:cubicBezTo>
                  <a:pt x="13570" y="0"/>
                  <a:pt x="13582" y="2"/>
                  <a:pt x="13594" y="4"/>
                </a:cubicBezTo>
                <a:cubicBezTo>
                  <a:pt x="13606" y="6"/>
                  <a:pt x="13618" y="10"/>
                  <a:pt x="13629" y="14"/>
                </a:cubicBezTo>
                <a:cubicBezTo>
                  <a:pt x="13640" y="19"/>
                  <a:pt x="13651" y="25"/>
                  <a:pt x="13661" y="32"/>
                </a:cubicBezTo>
                <a:cubicBezTo>
                  <a:pt x="13671" y="38"/>
                  <a:pt x="13680" y="46"/>
                  <a:pt x="13689" y="55"/>
                </a:cubicBezTo>
                <a:cubicBezTo>
                  <a:pt x="13698" y="63"/>
                  <a:pt x="13705" y="73"/>
                  <a:pt x="13712" y="83"/>
                </a:cubicBezTo>
                <a:cubicBezTo>
                  <a:pt x="13719" y="93"/>
                  <a:pt x="13725" y="104"/>
                  <a:pt x="13729" y="115"/>
                </a:cubicBezTo>
                <a:cubicBezTo>
                  <a:pt x="13734" y="126"/>
                  <a:pt x="13737" y="138"/>
                  <a:pt x="13740" y="150"/>
                </a:cubicBezTo>
                <a:cubicBezTo>
                  <a:pt x="13742" y="162"/>
                  <a:pt x="13743" y="174"/>
                  <a:pt x="13743" y="186"/>
                </a:cubicBezTo>
                <a:lnTo>
                  <a:pt x="13743" y="6408"/>
                </a:lnTo>
                <a:cubicBezTo>
                  <a:pt x="13743" y="6420"/>
                  <a:pt x="13742" y="6432"/>
                  <a:pt x="13740" y="6444"/>
                </a:cubicBezTo>
                <a:cubicBezTo>
                  <a:pt x="13737" y="6456"/>
                  <a:pt x="13734" y="6468"/>
                  <a:pt x="13729" y="6479"/>
                </a:cubicBezTo>
                <a:cubicBezTo>
                  <a:pt x="13725" y="6490"/>
                  <a:pt x="13719" y="6501"/>
                  <a:pt x="13712" y="6511"/>
                </a:cubicBezTo>
                <a:cubicBezTo>
                  <a:pt x="13705" y="6521"/>
                  <a:pt x="13698" y="6531"/>
                  <a:pt x="13689" y="6539"/>
                </a:cubicBezTo>
                <a:cubicBezTo>
                  <a:pt x="13680" y="6548"/>
                  <a:pt x="13671" y="6556"/>
                  <a:pt x="13661" y="6563"/>
                </a:cubicBezTo>
                <a:cubicBezTo>
                  <a:pt x="13651" y="6569"/>
                  <a:pt x="13640" y="6575"/>
                  <a:pt x="13629" y="6580"/>
                </a:cubicBezTo>
                <a:cubicBezTo>
                  <a:pt x="13618" y="6584"/>
                  <a:pt x="13606" y="6588"/>
                  <a:pt x="13594" y="6590"/>
                </a:cubicBezTo>
                <a:cubicBezTo>
                  <a:pt x="13582" y="6593"/>
                  <a:pt x="13570" y="6594"/>
                  <a:pt x="13558" y="6594"/>
                </a:cubicBezTo>
                <a:lnTo>
                  <a:pt x="186" y="6594"/>
                </a:lnTo>
                <a:cubicBezTo>
                  <a:pt x="174" y="6594"/>
                  <a:pt x="162" y="6593"/>
                  <a:pt x="150" y="6590"/>
                </a:cubicBezTo>
                <a:cubicBezTo>
                  <a:pt x="138" y="6588"/>
                  <a:pt x="126" y="6584"/>
                  <a:pt x="115" y="6580"/>
                </a:cubicBezTo>
                <a:cubicBezTo>
                  <a:pt x="104" y="6575"/>
                  <a:pt x="93" y="6569"/>
                  <a:pt x="83" y="6563"/>
                </a:cubicBezTo>
                <a:cubicBezTo>
                  <a:pt x="73" y="6556"/>
                  <a:pt x="63" y="6548"/>
                  <a:pt x="55" y="6539"/>
                </a:cubicBezTo>
                <a:cubicBezTo>
                  <a:pt x="46" y="6531"/>
                  <a:pt x="38" y="6521"/>
                  <a:pt x="32" y="6511"/>
                </a:cubicBezTo>
                <a:cubicBezTo>
                  <a:pt x="25" y="6501"/>
                  <a:pt x="19" y="6490"/>
                  <a:pt x="14" y="6479"/>
                </a:cubicBezTo>
                <a:cubicBezTo>
                  <a:pt x="10" y="6468"/>
                  <a:pt x="6" y="6456"/>
                  <a:pt x="4" y="6444"/>
                </a:cubicBezTo>
                <a:cubicBezTo>
                  <a:pt x="2" y="6432"/>
                  <a:pt x="0" y="6420"/>
                  <a:pt x="0" y="6408"/>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96" name="テキスト ボックス 295"/>
          <p:cNvSpPr txBox="1"/>
          <p:nvPr/>
        </p:nvSpPr>
        <p:spPr>
          <a:xfrm>
            <a:off x="835560" y="2417400"/>
            <a:ext cx="337860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ガス暴露による電気的特性の変化を観察可能</a:t>
            </a:r>
            <a:endParaRPr lang="en-US" sz="1180" b="0" u="none" strike="noStrike">
              <a:solidFill>
                <a:srgbClr val="000000"/>
              </a:solidFill>
              <a:effectLst/>
              <a:uFillTx/>
              <a:latin typeface="Times New Roman"/>
            </a:endParaRPr>
          </a:p>
        </p:txBody>
      </p:sp>
      <p:sp>
        <p:nvSpPr>
          <p:cNvPr id="297" name="フリーフォーム: 図形 296"/>
          <p:cNvSpPr/>
          <p:nvPr/>
        </p:nvSpPr>
        <p:spPr>
          <a:xfrm>
            <a:off x="467640" y="3860640"/>
            <a:ext cx="334800" cy="334440"/>
          </a:xfrm>
          <a:custGeom>
            <a:avLst/>
            <a:gdLst/>
            <a:ahLst/>
            <a:cxnLst/>
            <a:rect l="0" t="0" r="r" b="b"/>
            <a:pathLst>
              <a:path w="930" h="929">
                <a:moveTo>
                  <a:pt x="930" y="464"/>
                </a:moveTo>
                <a:cubicBezTo>
                  <a:pt x="930" y="495"/>
                  <a:pt x="927" y="525"/>
                  <a:pt x="921" y="555"/>
                </a:cubicBezTo>
                <a:cubicBezTo>
                  <a:pt x="915" y="585"/>
                  <a:pt x="906" y="614"/>
                  <a:pt x="895" y="642"/>
                </a:cubicBezTo>
                <a:cubicBezTo>
                  <a:pt x="883" y="670"/>
                  <a:pt x="869" y="697"/>
                  <a:pt x="852" y="722"/>
                </a:cubicBezTo>
                <a:cubicBezTo>
                  <a:pt x="835" y="747"/>
                  <a:pt x="816" y="771"/>
                  <a:pt x="794" y="792"/>
                </a:cubicBezTo>
                <a:cubicBezTo>
                  <a:pt x="772" y="814"/>
                  <a:pt x="749" y="833"/>
                  <a:pt x="724" y="850"/>
                </a:cubicBezTo>
                <a:cubicBezTo>
                  <a:pt x="698" y="867"/>
                  <a:pt x="672" y="882"/>
                  <a:pt x="643" y="894"/>
                </a:cubicBezTo>
                <a:cubicBezTo>
                  <a:pt x="615" y="906"/>
                  <a:pt x="586" y="915"/>
                  <a:pt x="556" y="921"/>
                </a:cubicBezTo>
                <a:cubicBezTo>
                  <a:pt x="526" y="926"/>
                  <a:pt x="496" y="929"/>
                  <a:pt x="466" y="929"/>
                </a:cubicBezTo>
                <a:cubicBezTo>
                  <a:pt x="435" y="929"/>
                  <a:pt x="405" y="926"/>
                  <a:pt x="375" y="921"/>
                </a:cubicBezTo>
                <a:cubicBezTo>
                  <a:pt x="345" y="915"/>
                  <a:pt x="316" y="906"/>
                  <a:pt x="288" y="894"/>
                </a:cubicBezTo>
                <a:cubicBezTo>
                  <a:pt x="260" y="882"/>
                  <a:pt x="233" y="867"/>
                  <a:pt x="208" y="850"/>
                </a:cubicBezTo>
                <a:cubicBezTo>
                  <a:pt x="182" y="833"/>
                  <a:pt x="159" y="814"/>
                  <a:pt x="137" y="792"/>
                </a:cubicBezTo>
                <a:cubicBezTo>
                  <a:pt x="116" y="771"/>
                  <a:pt x="97" y="747"/>
                  <a:pt x="79" y="722"/>
                </a:cubicBezTo>
                <a:cubicBezTo>
                  <a:pt x="62" y="697"/>
                  <a:pt x="47" y="670"/>
                  <a:pt x="36" y="642"/>
                </a:cubicBezTo>
                <a:cubicBezTo>
                  <a:pt x="24" y="614"/>
                  <a:pt x="15" y="585"/>
                  <a:pt x="9" y="555"/>
                </a:cubicBezTo>
                <a:cubicBezTo>
                  <a:pt x="3" y="525"/>
                  <a:pt x="0" y="495"/>
                  <a:pt x="0" y="464"/>
                </a:cubicBezTo>
                <a:cubicBezTo>
                  <a:pt x="0" y="434"/>
                  <a:pt x="3" y="404"/>
                  <a:pt x="9" y="374"/>
                </a:cubicBezTo>
                <a:cubicBezTo>
                  <a:pt x="15" y="344"/>
                  <a:pt x="24" y="315"/>
                  <a:pt x="36" y="287"/>
                </a:cubicBezTo>
                <a:cubicBezTo>
                  <a:pt x="47" y="258"/>
                  <a:pt x="62" y="232"/>
                  <a:pt x="79" y="206"/>
                </a:cubicBezTo>
                <a:cubicBezTo>
                  <a:pt x="97" y="181"/>
                  <a:pt x="116" y="157"/>
                  <a:pt x="137" y="136"/>
                </a:cubicBezTo>
                <a:cubicBezTo>
                  <a:pt x="159" y="114"/>
                  <a:pt x="182" y="95"/>
                  <a:pt x="208" y="78"/>
                </a:cubicBezTo>
                <a:cubicBezTo>
                  <a:pt x="233" y="61"/>
                  <a:pt x="260" y="47"/>
                  <a:pt x="288" y="35"/>
                </a:cubicBezTo>
                <a:cubicBezTo>
                  <a:pt x="316" y="24"/>
                  <a:pt x="345" y="15"/>
                  <a:pt x="375" y="9"/>
                </a:cubicBezTo>
                <a:cubicBezTo>
                  <a:pt x="405" y="3"/>
                  <a:pt x="435" y="0"/>
                  <a:pt x="466" y="0"/>
                </a:cubicBezTo>
                <a:cubicBezTo>
                  <a:pt x="496" y="0"/>
                  <a:pt x="526" y="3"/>
                  <a:pt x="556" y="9"/>
                </a:cubicBezTo>
                <a:cubicBezTo>
                  <a:pt x="586" y="15"/>
                  <a:pt x="615" y="24"/>
                  <a:pt x="643" y="35"/>
                </a:cubicBezTo>
                <a:cubicBezTo>
                  <a:pt x="672" y="47"/>
                  <a:pt x="698" y="61"/>
                  <a:pt x="724" y="78"/>
                </a:cubicBezTo>
                <a:cubicBezTo>
                  <a:pt x="749" y="95"/>
                  <a:pt x="772" y="114"/>
                  <a:pt x="794" y="136"/>
                </a:cubicBezTo>
                <a:cubicBezTo>
                  <a:pt x="816" y="157"/>
                  <a:pt x="835" y="181"/>
                  <a:pt x="852" y="206"/>
                </a:cubicBezTo>
                <a:cubicBezTo>
                  <a:pt x="869" y="232"/>
                  <a:pt x="883" y="258"/>
                  <a:pt x="895" y="287"/>
                </a:cubicBezTo>
                <a:cubicBezTo>
                  <a:pt x="906" y="315"/>
                  <a:pt x="915" y="344"/>
                  <a:pt x="921" y="374"/>
                </a:cubicBezTo>
                <a:cubicBezTo>
                  <a:pt x="927" y="404"/>
                  <a:pt x="930" y="434"/>
                  <a:pt x="930" y="464"/>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298" name="図 297"/>
          <p:cNvPicPr/>
          <p:nvPr/>
        </p:nvPicPr>
        <p:blipFill>
          <a:blip r:embed="rId5"/>
          <a:stretch/>
        </p:blipFill>
        <p:spPr>
          <a:xfrm>
            <a:off x="585000" y="3961080"/>
            <a:ext cx="100080" cy="133200"/>
          </a:xfrm>
          <a:prstGeom prst="rect">
            <a:avLst/>
          </a:prstGeom>
          <a:noFill/>
          <a:ln w="0">
            <a:noFill/>
          </a:ln>
        </p:spPr>
      </p:pic>
      <p:sp>
        <p:nvSpPr>
          <p:cNvPr id="299" name="テキスト ボックス 298"/>
          <p:cNvSpPr txBox="1"/>
          <p:nvPr/>
        </p:nvSpPr>
        <p:spPr>
          <a:xfrm>
            <a:off x="468000" y="3440520"/>
            <a:ext cx="160992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電気的特性の解釈</a:t>
            </a:r>
            <a:endParaRPr lang="en-US" sz="1580" b="0" u="none" strike="noStrike">
              <a:solidFill>
                <a:srgbClr val="000000"/>
              </a:solidFill>
              <a:effectLst/>
              <a:uFillTx/>
              <a:latin typeface="Times New Roman"/>
            </a:endParaRPr>
          </a:p>
        </p:txBody>
      </p:sp>
      <p:sp>
        <p:nvSpPr>
          <p:cNvPr id="300" name="テキスト ボックス 299"/>
          <p:cNvSpPr txBox="1"/>
          <p:nvPr/>
        </p:nvSpPr>
        <p:spPr>
          <a:xfrm>
            <a:off x="936000" y="3854880"/>
            <a:ext cx="13586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インピーダンス成分</a:t>
            </a:r>
            <a:endParaRPr lang="en-US" sz="1180" b="0" u="none" strike="noStrike">
              <a:solidFill>
                <a:srgbClr val="000000"/>
              </a:solidFill>
              <a:effectLst/>
              <a:uFillTx/>
              <a:latin typeface="Times New Roman"/>
            </a:endParaRPr>
          </a:p>
        </p:txBody>
      </p:sp>
      <p:sp>
        <p:nvSpPr>
          <p:cNvPr id="301" name="フリーフォーム: 図形 300"/>
          <p:cNvSpPr/>
          <p:nvPr/>
        </p:nvSpPr>
        <p:spPr>
          <a:xfrm>
            <a:off x="467640" y="4428720"/>
            <a:ext cx="334800" cy="334800"/>
          </a:xfrm>
          <a:custGeom>
            <a:avLst/>
            <a:gdLst/>
            <a:ahLst/>
            <a:cxnLst/>
            <a:rect l="0" t="0" r="r" b="b"/>
            <a:pathLst>
              <a:path w="930" h="930">
                <a:moveTo>
                  <a:pt x="930" y="466"/>
                </a:moveTo>
                <a:cubicBezTo>
                  <a:pt x="930" y="496"/>
                  <a:pt x="927" y="526"/>
                  <a:pt x="921" y="556"/>
                </a:cubicBezTo>
                <a:cubicBezTo>
                  <a:pt x="915" y="586"/>
                  <a:pt x="906" y="615"/>
                  <a:pt x="895" y="643"/>
                </a:cubicBezTo>
                <a:cubicBezTo>
                  <a:pt x="883" y="672"/>
                  <a:pt x="869" y="698"/>
                  <a:pt x="852" y="724"/>
                </a:cubicBezTo>
                <a:cubicBezTo>
                  <a:pt x="835" y="749"/>
                  <a:pt x="816" y="772"/>
                  <a:pt x="794" y="794"/>
                </a:cubicBezTo>
                <a:cubicBezTo>
                  <a:pt x="772" y="816"/>
                  <a:pt x="749" y="835"/>
                  <a:pt x="724" y="852"/>
                </a:cubicBezTo>
                <a:cubicBezTo>
                  <a:pt x="698" y="869"/>
                  <a:pt x="672" y="883"/>
                  <a:pt x="643" y="895"/>
                </a:cubicBezTo>
                <a:cubicBezTo>
                  <a:pt x="615" y="906"/>
                  <a:pt x="586" y="915"/>
                  <a:pt x="556" y="921"/>
                </a:cubicBezTo>
                <a:cubicBezTo>
                  <a:pt x="526" y="927"/>
                  <a:pt x="496" y="930"/>
                  <a:pt x="466" y="930"/>
                </a:cubicBezTo>
                <a:cubicBezTo>
                  <a:pt x="435" y="930"/>
                  <a:pt x="405" y="927"/>
                  <a:pt x="375" y="921"/>
                </a:cubicBezTo>
                <a:cubicBezTo>
                  <a:pt x="345" y="915"/>
                  <a:pt x="316" y="906"/>
                  <a:pt x="288" y="895"/>
                </a:cubicBezTo>
                <a:cubicBezTo>
                  <a:pt x="260" y="883"/>
                  <a:pt x="233" y="869"/>
                  <a:pt x="208" y="852"/>
                </a:cubicBezTo>
                <a:cubicBezTo>
                  <a:pt x="182" y="835"/>
                  <a:pt x="159" y="816"/>
                  <a:pt x="137" y="794"/>
                </a:cubicBezTo>
                <a:cubicBezTo>
                  <a:pt x="116" y="772"/>
                  <a:pt x="97" y="749"/>
                  <a:pt x="79" y="724"/>
                </a:cubicBezTo>
                <a:cubicBezTo>
                  <a:pt x="62" y="698"/>
                  <a:pt x="47" y="672"/>
                  <a:pt x="36" y="643"/>
                </a:cubicBezTo>
                <a:cubicBezTo>
                  <a:pt x="24" y="615"/>
                  <a:pt x="15" y="586"/>
                  <a:pt x="9" y="556"/>
                </a:cubicBezTo>
                <a:cubicBezTo>
                  <a:pt x="3" y="526"/>
                  <a:pt x="0" y="496"/>
                  <a:pt x="0" y="466"/>
                </a:cubicBezTo>
                <a:cubicBezTo>
                  <a:pt x="0" y="435"/>
                  <a:pt x="3" y="405"/>
                  <a:pt x="9" y="375"/>
                </a:cubicBezTo>
                <a:cubicBezTo>
                  <a:pt x="15" y="345"/>
                  <a:pt x="24" y="316"/>
                  <a:pt x="36" y="288"/>
                </a:cubicBezTo>
                <a:cubicBezTo>
                  <a:pt x="47" y="260"/>
                  <a:pt x="62" y="233"/>
                  <a:pt x="79" y="207"/>
                </a:cubicBezTo>
                <a:cubicBezTo>
                  <a:pt x="97" y="181"/>
                  <a:pt x="116" y="158"/>
                  <a:pt x="137" y="136"/>
                </a:cubicBezTo>
                <a:cubicBezTo>
                  <a:pt x="159" y="115"/>
                  <a:pt x="182" y="96"/>
                  <a:pt x="208" y="79"/>
                </a:cubicBezTo>
                <a:cubicBezTo>
                  <a:pt x="233" y="62"/>
                  <a:pt x="260" y="47"/>
                  <a:pt x="288" y="36"/>
                </a:cubicBezTo>
                <a:cubicBezTo>
                  <a:pt x="316" y="24"/>
                  <a:pt x="345" y="15"/>
                  <a:pt x="375" y="9"/>
                </a:cubicBezTo>
                <a:cubicBezTo>
                  <a:pt x="405" y="3"/>
                  <a:pt x="435" y="0"/>
                  <a:pt x="466" y="0"/>
                </a:cubicBezTo>
                <a:cubicBezTo>
                  <a:pt x="496" y="0"/>
                  <a:pt x="526" y="3"/>
                  <a:pt x="556" y="9"/>
                </a:cubicBezTo>
                <a:cubicBezTo>
                  <a:pt x="586" y="15"/>
                  <a:pt x="615" y="24"/>
                  <a:pt x="643" y="36"/>
                </a:cubicBezTo>
                <a:cubicBezTo>
                  <a:pt x="672" y="47"/>
                  <a:pt x="698" y="62"/>
                  <a:pt x="724" y="79"/>
                </a:cubicBezTo>
                <a:cubicBezTo>
                  <a:pt x="749" y="96"/>
                  <a:pt x="772" y="115"/>
                  <a:pt x="794" y="136"/>
                </a:cubicBezTo>
                <a:cubicBezTo>
                  <a:pt x="816" y="158"/>
                  <a:pt x="835" y="181"/>
                  <a:pt x="852" y="207"/>
                </a:cubicBezTo>
                <a:cubicBezTo>
                  <a:pt x="869" y="233"/>
                  <a:pt x="883" y="260"/>
                  <a:pt x="895" y="288"/>
                </a:cubicBezTo>
                <a:cubicBezTo>
                  <a:pt x="906" y="316"/>
                  <a:pt x="915" y="345"/>
                  <a:pt x="921" y="375"/>
                </a:cubicBezTo>
                <a:cubicBezTo>
                  <a:pt x="927" y="405"/>
                  <a:pt x="930" y="435"/>
                  <a:pt x="930" y="466"/>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02" name="図 301"/>
          <p:cNvPicPr/>
          <p:nvPr/>
        </p:nvPicPr>
        <p:blipFill>
          <a:blip r:embed="rId6"/>
          <a:stretch/>
        </p:blipFill>
        <p:spPr>
          <a:xfrm>
            <a:off x="568080" y="4529160"/>
            <a:ext cx="133200" cy="133200"/>
          </a:xfrm>
          <a:prstGeom prst="rect">
            <a:avLst/>
          </a:prstGeom>
          <a:noFill/>
          <a:ln w="0">
            <a:noFill/>
          </a:ln>
        </p:spPr>
      </p:pic>
      <p:sp>
        <p:nvSpPr>
          <p:cNvPr id="303" name="テキスト ボックス 302"/>
          <p:cNvSpPr txBox="1"/>
          <p:nvPr/>
        </p:nvSpPr>
        <p:spPr>
          <a:xfrm>
            <a:off x="936000" y="4079160"/>
            <a:ext cx="22806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抵抗成分と容量成分の分離解析が可能</a:t>
            </a:r>
            <a:endParaRPr lang="en-US" sz="1050" b="0" u="none" strike="noStrike">
              <a:solidFill>
                <a:srgbClr val="000000"/>
              </a:solidFill>
              <a:effectLst/>
              <a:uFillTx/>
              <a:latin typeface="Times New Roman"/>
            </a:endParaRPr>
          </a:p>
        </p:txBody>
      </p:sp>
      <p:sp>
        <p:nvSpPr>
          <p:cNvPr id="304" name="テキスト ボックス 303"/>
          <p:cNvSpPr txBox="1"/>
          <p:nvPr/>
        </p:nvSpPr>
        <p:spPr>
          <a:xfrm>
            <a:off x="936000" y="4423320"/>
            <a:ext cx="10569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等価回路モデル</a:t>
            </a:r>
            <a:endParaRPr lang="en-US" sz="1180" b="0" u="none" strike="noStrike">
              <a:solidFill>
                <a:srgbClr val="000000"/>
              </a:solidFill>
              <a:effectLst/>
              <a:uFillTx/>
              <a:latin typeface="Times New Roman"/>
            </a:endParaRPr>
          </a:p>
        </p:txBody>
      </p:sp>
      <p:sp>
        <p:nvSpPr>
          <p:cNvPr id="305" name="フリーフォーム: 図形 304"/>
          <p:cNvSpPr/>
          <p:nvPr/>
        </p:nvSpPr>
        <p:spPr>
          <a:xfrm>
            <a:off x="467640" y="4997160"/>
            <a:ext cx="334800" cy="334440"/>
          </a:xfrm>
          <a:custGeom>
            <a:avLst/>
            <a:gdLst/>
            <a:ahLst/>
            <a:cxnLst/>
            <a:rect l="0" t="0" r="r" b="b"/>
            <a:pathLst>
              <a:path w="930" h="929">
                <a:moveTo>
                  <a:pt x="930" y="464"/>
                </a:moveTo>
                <a:cubicBezTo>
                  <a:pt x="930" y="495"/>
                  <a:pt x="927" y="526"/>
                  <a:pt x="921" y="556"/>
                </a:cubicBezTo>
                <a:cubicBezTo>
                  <a:pt x="915" y="586"/>
                  <a:pt x="906" y="615"/>
                  <a:pt x="895" y="643"/>
                </a:cubicBezTo>
                <a:cubicBezTo>
                  <a:pt x="883" y="671"/>
                  <a:pt x="869" y="698"/>
                  <a:pt x="852" y="723"/>
                </a:cubicBezTo>
                <a:cubicBezTo>
                  <a:pt x="835" y="748"/>
                  <a:pt x="816" y="772"/>
                  <a:pt x="794" y="793"/>
                </a:cubicBezTo>
                <a:cubicBezTo>
                  <a:pt x="772" y="815"/>
                  <a:pt x="749" y="834"/>
                  <a:pt x="724" y="851"/>
                </a:cubicBezTo>
                <a:cubicBezTo>
                  <a:pt x="698" y="868"/>
                  <a:pt x="672" y="882"/>
                  <a:pt x="643" y="894"/>
                </a:cubicBezTo>
                <a:cubicBezTo>
                  <a:pt x="615" y="906"/>
                  <a:pt x="586" y="915"/>
                  <a:pt x="556" y="921"/>
                </a:cubicBezTo>
                <a:cubicBezTo>
                  <a:pt x="526" y="926"/>
                  <a:pt x="496" y="929"/>
                  <a:pt x="466" y="929"/>
                </a:cubicBezTo>
                <a:cubicBezTo>
                  <a:pt x="435" y="929"/>
                  <a:pt x="405" y="926"/>
                  <a:pt x="375" y="921"/>
                </a:cubicBezTo>
                <a:cubicBezTo>
                  <a:pt x="345" y="915"/>
                  <a:pt x="316" y="906"/>
                  <a:pt x="288" y="894"/>
                </a:cubicBezTo>
                <a:cubicBezTo>
                  <a:pt x="260" y="882"/>
                  <a:pt x="233" y="868"/>
                  <a:pt x="208" y="851"/>
                </a:cubicBezTo>
                <a:cubicBezTo>
                  <a:pt x="182" y="834"/>
                  <a:pt x="159" y="815"/>
                  <a:pt x="137" y="793"/>
                </a:cubicBezTo>
                <a:cubicBezTo>
                  <a:pt x="116" y="772"/>
                  <a:pt x="97" y="748"/>
                  <a:pt x="79" y="723"/>
                </a:cubicBezTo>
                <a:cubicBezTo>
                  <a:pt x="62" y="698"/>
                  <a:pt x="47" y="671"/>
                  <a:pt x="36" y="643"/>
                </a:cubicBezTo>
                <a:cubicBezTo>
                  <a:pt x="24" y="615"/>
                  <a:pt x="15" y="586"/>
                  <a:pt x="9" y="556"/>
                </a:cubicBezTo>
                <a:cubicBezTo>
                  <a:pt x="3" y="526"/>
                  <a:pt x="0" y="495"/>
                  <a:pt x="0" y="464"/>
                </a:cubicBezTo>
                <a:cubicBezTo>
                  <a:pt x="0" y="434"/>
                  <a:pt x="3" y="403"/>
                  <a:pt x="9" y="374"/>
                </a:cubicBezTo>
                <a:cubicBezTo>
                  <a:pt x="15" y="344"/>
                  <a:pt x="24" y="315"/>
                  <a:pt x="36" y="287"/>
                </a:cubicBezTo>
                <a:cubicBezTo>
                  <a:pt x="47" y="258"/>
                  <a:pt x="62" y="232"/>
                  <a:pt x="79" y="206"/>
                </a:cubicBezTo>
                <a:cubicBezTo>
                  <a:pt x="97" y="181"/>
                  <a:pt x="116" y="157"/>
                  <a:pt x="137" y="136"/>
                </a:cubicBezTo>
                <a:cubicBezTo>
                  <a:pt x="159" y="114"/>
                  <a:pt x="182" y="95"/>
                  <a:pt x="208" y="78"/>
                </a:cubicBezTo>
                <a:cubicBezTo>
                  <a:pt x="233" y="61"/>
                  <a:pt x="260" y="47"/>
                  <a:pt x="288" y="35"/>
                </a:cubicBezTo>
                <a:cubicBezTo>
                  <a:pt x="316" y="24"/>
                  <a:pt x="345" y="15"/>
                  <a:pt x="375" y="9"/>
                </a:cubicBezTo>
                <a:cubicBezTo>
                  <a:pt x="405" y="3"/>
                  <a:pt x="435" y="0"/>
                  <a:pt x="466" y="0"/>
                </a:cubicBezTo>
                <a:cubicBezTo>
                  <a:pt x="496" y="0"/>
                  <a:pt x="526" y="3"/>
                  <a:pt x="556" y="9"/>
                </a:cubicBezTo>
                <a:cubicBezTo>
                  <a:pt x="586" y="15"/>
                  <a:pt x="615" y="24"/>
                  <a:pt x="643" y="35"/>
                </a:cubicBezTo>
                <a:cubicBezTo>
                  <a:pt x="672" y="47"/>
                  <a:pt x="698" y="61"/>
                  <a:pt x="724" y="78"/>
                </a:cubicBezTo>
                <a:cubicBezTo>
                  <a:pt x="749" y="95"/>
                  <a:pt x="772" y="114"/>
                  <a:pt x="794" y="136"/>
                </a:cubicBezTo>
                <a:cubicBezTo>
                  <a:pt x="816" y="157"/>
                  <a:pt x="835" y="181"/>
                  <a:pt x="852" y="206"/>
                </a:cubicBezTo>
                <a:cubicBezTo>
                  <a:pt x="869" y="232"/>
                  <a:pt x="883" y="258"/>
                  <a:pt x="895" y="287"/>
                </a:cubicBezTo>
                <a:cubicBezTo>
                  <a:pt x="906" y="315"/>
                  <a:pt x="915" y="344"/>
                  <a:pt x="921" y="374"/>
                </a:cubicBezTo>
                <a:cubicBezTo>
                  <a:pt x="927" y="403"/>
                  <a:pt x="930" y="434"/>
                  <a:pt x="930" y="46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06" name="図 305"/>
          <p:cNvPicPr/>
          <p:nvPr/>
        </p:nvPicPr>
        <p:blipFill>
          <a:blip r:embed="rId7"/>
          <a:stretch/>
        </p:blipFill>
        <p:spPr>
          <a:xfrm>
            <a:off x="568080" y="5097600"/>
            <a:ext cx="133200" cy="133200"/>
          </a:xfrm>
          <a:prstGeom prst="rect">
            <a:avLst/>
          </a:prstGeom>
          <a:noFill/>
          <a:ln w="0">
            <a:noFill/>
          </a:ln>
        </p:spPr>
      </p:pic>
      <p:sp>
        <p:nvSpPr>
          <p:cNvPr id="307" name="テキスト ボックス 306"/>
          <p:cNvSpPr txBox="1"/>
          <p:nvPr/>
        </p:nvSpPr>
        <p:spPr>
          <a:xfrm>
            <a:off x="936000" y="4647600"/>
            <a:ext cx="19962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抵抗</a:t>
            </a:r>
            <a:r>
              <a:rPr lang="en-US" sz="1050" b="0" u="none" strike="noStrike">
                <a:solidFill>
                  <a:srgbClr val="000000"/>
                </a:solidFill>
                <a:effectLst/>
                <a:uFillTx/>
                <a:latin typeface="NotoSansJP"/>
                <a:ea typeface="NotoSansJP"/>
              </a:rPr>
              <a:t>-</a:t>
            </a:r>
            <a:r>
              <a:rPr lang="zh-CN" sz="1050" b="0" u="none" strike="noStrike">
                <a:solidFill>
                  <a:srgbClr val="000000"/>
                </a:solidFill>
                <a:effectLst/>
                <a:uFillTx/>
                <a:latin typeface="NotoSansJP"/>
                <a:ea typeface="NotoSansJP"/>
              </a:rPr>
              <a:t>容量の直列回路として解析</a:t>
            </a:r>
            <a:endParaRPr lang="en-US" sz="1050" b="0" u="none" strike="noStrike">
              <a:solidFill>
                <a:srgbClr val="000000"/>
              </a:solidFill>
              <a:effectLst/>
              <a:uFillTx/>
              <a:latin typeface="Times New Roman"/>
            </a:endParaRPr>
          </a:p>
        </p:txBody>
      </p:sp>
      <p:sp>
        <p:nvSpPr>
          <p:cNvPr id="308" name="テキスト ボックス 307"/>
          <p:cNvSpPr txBox="1"/>
          <p:nvPr/>
        </p:nvSpPr>
        <p:spPr>
          <a:xfrm>
            <a:off x="936000" y="4991400"/>
            <a:ext cx="7552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センサ感度</a:t>
            </a:r>
            <a:endParaRPr lang="en-US" sz="1180" b="0" u="none" strike="noStrike">
              <a:solidFill>
                <a:srgbClr val="000000"/>
              </a:solidFill>
              <a:effectLst/>
              <a:uFillTx/>
              <a:latin typeface="Times New Roman"/>
            </a:endParaRPr>
          </a:p>
        </p:txBody>
      </p:sp>
      <p:sp>
        <p:nvSpPr>
          <p:cNvPr id="309" name="フリーフォーム: 図形 308"/>
          <p:cNvSpPr/>
          <p:nvPr/>
        </p:nvSpPr>
        <p:spPr>
          <a:xfrm>
            <a:off x="5481720" y="869040"/>
            <a:ext cx="4947480" cy="4713480"/>
          </a:xfrm>
          <a:custGeom>
            <a:avLst/>
            <a:gdLst/>
            <a:ahLst/>
            <a:cxnLst/>
            <a:rect l="0" t="0" r="r" b="b"/>
            <a:pathLst>
              <a:path w="13743" h="13093">
                <a:moveTo>
                  <a:pt x="0" y="12907"/>
                </a:moveTo>
                <a:lnTo>
                  <a:pt x="0" y="185"/>
                </a:lnTo>
                <a:cubicBezTo>
                  <a:pt x="0" y="173"/>
                  <a:pt x="1"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3558" y="0"/>
                </a:lnTo>
                <a:cubicBezTo>
                  <a:pt x="13570" y="0"/>
                  <a:pt x="13582" y="1"/>
                  <a:pt x="13594" y="3"/>
                </a:cubicBezTo>
                <a:cubicBezTo>
                  <a:pt x="13606" y="6"/>
                  <a:pt x="13617" y="9"/>
                  <a:pt x="13629" y="14"/>
                </a:cubicBezTo>
                <a:cubicBezTo>
                  <a:pt x="13640" y="18"/>
                  <a:pt x="13651" y="24"/>
                  <a:pt x="13661" y="31"/>
                </a:cubicBezTo>
                <a:cubicBezTo>
                  <a:pt x="13671" y="38"/>
                  <a:pt x="13680" y="45"/>
                  <a:pt x="13689" y="54"/>
                </a:cubicBezTo>
                <a:cubicBezTo>
                  <a:pt x="13698" y="63"/>
                  <a:pt x="13705" y="72"/>
                  <a:pt x="13712" y="82"/>
                </a:cubicBezTo>
                <a:cubicBezTo>
                  <a:pt x="13719" y="92"/>
                  <a:pt x="13725" y="103"/>
                  <a:pt x="13729" y="114"/>
                </a:cubicBezTo>
                <a:cubicBezTo>
                  <a:pt x="13734" y="126"/>
                  <a:pt x="13737" y="137"/>
                  <a:pt x="13740" y="149"/>
                </a:cubicBezTo>
                <a:cubicBezTo>
                  <a:pt x="13742" y="161"/>
                  <a:pt x="13743" y="173"/>
                  <a:pt x="13743" y="185"/>
                </a:cubicBezTo>
                <a:lnTo>
                  <a:pt x="13743" y="12907"/>
                </a:lnTo>
                <a:cubicBezTo>
                  <a:pt x="13743" y="12919"/>
                  <a:pt x="13742" y="12931"/>
                  <a:pt x="13740" y="12943"/>
                </a:cubicBezTo>
                <a:cubicBezTo>
                  <a:pt x="13737" y="12955"/>
                  <a:pt x="13734" y="12967"/>
                  <a:pt x="13729" y="12978"/>
                </a:cubicBezTo>
                <a:cubicBezTo>
                  <a:pt x="13725" y="12989"/>
                  <a:pt x="13719" y="13000"/>
                  <a:pt x="13712" y="13010"/>
                </a:cubicBezTo>
                <a:cubicBezTo>
                  <a:pt x="13705" y="13020"/>
                  <a:pt x="13698" y="13030"/>
                  <a:pt x="13689" y="13038"/>
                </a:cubicBezTo>
                <a:cubicBezTo>
                  <a:pt x="13680" y="13047"/>
                  <a:pt x="13671" y="13055"/>
                  <a:pt x="13661" y="13062"/>
                </a:cubicBezTo>
                <a:cubicBezTo>
                  <a:pt x="13651" y="13068"/>
                  <a:pt x="13640" y="13074"/>
                  <a:pt x="13629" y="13079"/>
                </a:cubicBezTo>
                <a:cubicBezTo>
                  <a:pt x="13617" y="13083"/>
                  <a:pt x="13606" y="13087"/>
                  <a:pt x="13594" y="13089"/>
                </a:cubicBezTo>
                <a:cubicBezTo>
                  <a:pt x="13582" y="13092"/>
                  <a:pt x="13570" y="13093"/>
                  <a:pt x="13558" y="13093"/>
                </a:cubicBezTo>
                <a:lnTo>
                  <a:pt x="186" y="13093"/>
                </a:lnTo>
                <a:cubicBezTo>
                  <a:pt x="174" y="13093"/>
                  <a:pt x="162" y="13092"/>
                  <a:pt x="150" y="13089"/>
                </a:cubicBezTo>
                <a:cubicBezTo>
                  <a:pt x="138" y="13087"/>
                  <a:pt x="126" y="13083"/>
                  <a:pt x="115" y="13079"/>
                </a:cubicBezTo>
                <a:cubicBezTo>
                  <a:pt x="104" y="13074"/>
                  <a:pt x="93" y="13068"/>
                  <a:pt x="83" y="13062"/>
                </a:cubicBezTo>
                <a:cubicBezTo>
                  <a:pt x="73" y="13055"/>
                  <a:pt x="63" y="13047"/>
                  <a:pt x="55" y="13038"/>
                </a:cubicBezTo>
                <a:cubicBezTo>
                  <a:pt x="46" y="13030"/>
                  <a:pt x="38" y="13020"/>
                  <a:pt x="32" y="13010"/>
                </a:cubicBezTo>
                <a:cubicBezTo>
                  <a:pt x="25" y="13000"/>
                  <a:pt x="19" y="12989"/>
                  <a:pt x="14" y="12978"/>
                </a:cubicBezTo>
                <a:cubicBezTo>
                  <a:pt x="10" y="12967"/>
                  <a:pt x="6" y="12955"/>
                  <a:pt x="4" y="12943"/>
                </a:cubicBezTo>
                <a:cubicBezTo>
                  <a:pt x="1" y="12931"/>
                  <a:pt x="0" y="12919"/>
                  <a:pt x="0" y="12907"/>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10" name="テキスト ボックス 309"/>
          <p:cNvSpPr txBox="1"/>
          <p:nvPr/>
        </p:nvSpPr>
        <p:spPr>
          <a:xfrm>
            <a:off x="936000" y="5215680"/>
            <a:ext cx="28170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合成インピーダンスの変化からガス濃度を推定</a:t>
            </a:r>
            <a:endParaRPr lang="en-US" sz="1050" b="0" u="none" strike="noStrike">
              <a:solidFill>
                <a:srgbClr val="000000"/>
              </a:solidFill>
              <a:effectLst/>
              <a:uFillTx/>
              <a:latin typeface="Times New Roman"/>
            </a:endParaRPr>
          </a:p>
        </p:txBody>
      </p:sp>
      <p:pic>
        <p:nvPicPr>
          <p:cNvPr id="311" name="図 310"/>
          <p:cNvPicPr/>
          <p:nvPr/>
        </p:nvPicPr>
        <p:blipFill>
          <a:blip r:embed="rId8"/>
          <a:stretch/>
        </p:blipFill>
        <p:spPr>
          <a:xfrm>
            <a:off x="5682600" y="1470600"/>
            <a:ext cx="4545720" cy="3342240"/>
          </a:xfrm>
          <a:prstGeom prst="rect">
            <a:avLst/>
          </a:prstGeom>
          <a:noFill/>
          <a:ln w="0">
            <a:noFill/>
          </a:ln>
        </p:spPr>
      </p:pic>
      <p:sp>
        <p:nvSpPr>
          <p:cNvPr id="312" name="テキスト ボックス 311"/>
          <p:cNvSpPr txBox="1"/>
          <p:nvPr/>
        </p:nvSpPr>
        <p:spPr>
          <a:xfrm>
            <a:off x="6472440" y="1100880"/>
            <a:ext cx="307620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ガスセンサの</a:t>
            </a:r>
            <a:r>
              <a:rPr lang="en-US" sz="1580" b="0" u="none" strike="noStrike">
                <a:solidFill>
                  <a:srgbClr val="003366"/>
                </a:solidFill>
                <a:effectLst/>
                <a:uFillTx/>
                <a:latin typeface="NotoSansJP"/>
                <a:ea typeface="NotoSansJP"/>
              </a:rPr>
              <a:t>Cole-Cole</a:t>
            </a:r>
            <a:r>
              <a:rPr lang="zh-CN" sz="1580" b="0" u="none" strike="noStrike">
                <a:solidFill>
                  <a:srgbClr val="003366"/>
                </a:solidFill>
                <a:effectLst/>
                <a:uFillTx/>
                <a:latin typeface="NotoSansJP"/>
                <a:ea typeface="NotoSansJP"/>
              </a:rPr>
              <a:t>プロット</a:t>
            </a:r>
            <a:endParaRPr lang="en-US" sz="1580" b="0" u="none" strike="noStrike">
              <a:solidFill>
                <a:srgbClr val="000000"/>
              </a:solidFill>
              <a:effectLst/>
              <a:uFillTx/>
              <a:latin typeface="Times New Roman"/>
            </a:endParaRPr>
          </a:p>
        </p:txBody>
      </p:sp>
      <p:sp>
        <p:nvSpPr>
          <p:cNvPr id="313" name="テキスト ボックス 312"/>
          <p:cNvSpPr txBox="1"/>
          <p:nvPr/>
        </p:nvSpPr>
        <p:spPr>
          <a:xfrm>
            <a:off x="6919200" y="4972320"/>
            <a:ext cx="2260440" cy="136080"/>
          </a:xfrm>
          <a:prstGeom prst="rect">
            <a:avLst/>
          </a:prstGeom>
          <a:noFill/>
          <a:ln w="0">
            <a:noFill/>
          </a:ln>
        </p:spPr>
        <p:txBody>
          <a:bodyPr wrap="none" lIns="0" tIns="0" rIns="0" bIns="0" anchor="t">
            <a:spAutoFit/>
          </a:bodyPr>
          <a:lstStyle/>
          <a:p>
            <a:r>
              <a:rPr lang="en-US" sz="920" b="0" u="none" strike="noStrike">
                <a:solidFill>
                  <a:srgbClr val="4B5563"/>
                </a:solidFill>
                <a:effectLst/>
                <a:uFillTx/>
                <a:latin typeface="NotoSansJP"/>
                <a:ea typeface="NotoSansJP"/>
              </a:rPr>
              <a:t>Figure 3. Cole-Cole plot for Gas sensor</a:t>
            </a:r>
            <a:endParaRPr lang="en-US" sz="920" b="0" u="none" strike="noStrike">
              <a:solidFill>
                <a:srgbClr val="000000"/>
              </a:solidFill>
              <a:effectLst/>
              <a:uFillTx/>
              <a:latin typeface="Times New Roman"/>
            </a:endParaRPr>
          </a:p>
        </p:txBody>
      </p:sp>
      <p:sp>
        <p:nvSpPr>
          <p:cNvPr id="314" name="テキスト ボックス 313"/>
          <p:cNvSpPr txBox="1"/>
          <p:nvPr/>
        </p:nvSpPr>
        <p:spPr>
          <a:xfrm>
            <a:off x="6292440" y="5206320"/>
            <a:ext cx="3647160" cy="169560"/>
          </a:xfrm>
          <a:prstGeom prst="rect">
            <a:avLst/>
          </a:prstGeom>
          <a:noFill/>
          <a:ln w="0">
            <a:noFill/>
          </a:ln>
        </p:spPr>
        <p:txBody>
          <a:bodyPr wrap="none" lIns="0" tIns="0" rIns="0" bIns="0" anchor="t">
            <a:spAutoFit/>
          </a:bodyPr>
          <a:lstStyle/>
          <a:p>
            <a:r>
              <a:rPr lang="zh-CN" sz="920" b="0" u="none" strike="noStrike">
                <a:solidFill>
                  <a:srgbClr val="4B5563"/>
                </a:solidFill>
                <a:effectLst/>
                <a:uFillTx/>
                <a:latin typeface="NotoSansJP"/>
                <a:ea typeface="NotoSansJP"/>
              </a:rPr>
              <a:t>横軸</a:t>
            </a:r>
            <a:r>
              <a:rPr lang="en-US" sz="920" b="0" u="none" strike="noStrike">
                <a:solidFill>
                  <a:srgbClr val="4B5563"/>
                </a:solidFill>
                <a:effectLst/>
                <a:uFillTx/>
                <a:latin typeface="NotoSansJP"/>
                <a:ea typeface="NotoSansJP"/>
              </a:rPr>
              <a:t>: </a:t>
            </a:r>
            <a:r>
              <a:rPr lang="zh-CN" sz="920" b="0" u="none" strike="noStrike">
                <a:solidFill>
                  <a:srgbClr val="4B5563"/>
                </a:solidFill>
                <a:effectLst/>
                <a:uFillTx/>
                <a:latin typeface="NotoSansJP"/>
                <a:ea typeface="NotoSansJP"/>
              </a:rPr>
              <a:t>インピーダンス実部 </a:t>
            </a:r>
            <a:r>
              <a:rPr lang="en-US" sz="920" b="0" u="none" strike="noStrike">
                <a:solidFill>
                  <a:srgbClr val="4B5563"/>
                </a:solidFill>
                <a:effectLst/>
                <a:uFillTx/>
                <a:latin typeface="NotoSansJP"/>
                <a:ea typeface="NotoSansJP"/>
              </a:rPr>
              <a:t>(Re) / </a:t>
            </a:r>
            <a:r>
              <a:rPr lang="zh-CN" sz="920" b="0" u="none" strike="noStrike">
                <a:solidFill>
                  <a:srgbClr val="4B5563"/>
                </a:solidFill>
                <a:effectLst/>
                <a:uFillTx/>
                <a:latin typeface="NotoSansJP"/>
                <a:ea typeface="NotoSansJP"/>
              </a:rPr>
              <a:t>縦軸</a:t>
            </a:r>
            <a:r>
              <a:rPr lang="en-US" sz="920" b="0" u="none" strike="noStrike">
                <a:solidFill>
                  <a:srgbClr val="4B5563"/>
                </a:solidFill>
                <a:effectLst/>
                <a:uFillTx/>
                <a:latin typeface="NotoSansJP"/>
                <a:ea typeface="NotoSansJP"/>
              </a:rPr>
              <a:t>: </a:t>
            </a:r>
            <a:r>
              <a:rPr lang="zh-CN" sz="920" b="0" u="none" strike="noStrike">
                <a:solidFill>
                  <a:srgbClr val="4B5563"/>
                </a:solidFill>
                <a:effectLst/>
                <a:uFillTx/>
                <a:latin typeface="NotoSansJP"/>
                <a:ea typeface="NotoSansJP"/>
              </a:rPr>
              <a:t>インピーダンス虚部 </a:t>
            </a:r>
            <a:r>
              <a:rPr lang="en-US" sz="920" b="0" u="none" strike="noStrike">
                <a:solidFill>
                  <a:srgbClr val="4B5563"/>
                </a:solidFill>
                <a:effectLst/>
                <a:uFillTx/>
                <a:latin typeface="NotoSansJP"/>
                <a:ea typeface="NotoSansJP"/>
              </a:rPr>
              <a:t>(-Im)</a:t>
            </a:r>
            <a:endParaRPr lang="en-US" sz="920" b="0" u="none" strike="noStrike">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図 314"/>
          <p:cNvPicPr/>
          <p:nvPr/>
        </p:nvPicPr>
        <p:blipFill>
          <a:blip r:embed="rId2"/>
          <a:stretch/>
        </p:blipFill>
        <p:spPr>
          <a:xfrm>
            <a:off x="0" y="0"/>
            <a:ext cx="10696320" cy="6016320"/>
          </a:xfrm>
          <a:prstGeom prst="rect">
            <a:avLst/>
          </a:prstGeom>
          <a:noFill/>
          <a:ln w="0">
            <a:noFill/>
          </a:ln>
        </p:spPr>
      </p:pic>
      <p:sp>
        <p:nvSpPr>
          <p:cNvPr id="316" name="フリーフォーム: 図形 315"/>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17" name="フリーフォーム: 図形 316"/>
          <p:cNvSpPr/>
          <p:nvPr/>
        </p:nvSpPr>
        <p:spPr>
          <a:xfrm>
            <a:off x="267120" y="869040"/>
            <a:ext cx="6710760" cy="4479480"/>
          </a:xfrm>
          <a:custGeom>
            <a:avLst/>
            <a:gdLst/>
            <a:ahLst/>
            <a:cxnLst/>
            <a:rect l="0" t="0" r="r" b="b"/>
            <a:pathLst>
              <a:path w="18641" h="12443">
                <a:moveTo>
                  <a:pt x="0" y="12257"/>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8456" y="0"/>
                </a:lnTo>
                <a:cubicBezTo>
                  <a:pt x="18468" y="0"/>
                  <a:pt x="18480" y="1"/>
                  <a:pt x="18492" y="3"/>
                </a:cubicBezTo>
                <a:cubicBezTo>
                  <a:pt x="18504" y="6"/>
                  <a:pt x="18515" y="9"/>
                  <a:pt x="18527" y="14"/>
                </a:cubicBezTo>
                <a:cubicBezTo>
                  <a:pt x="18538" y="18"/>
                  <a:pt x="18549" y="24"/>
                  <a:pt x="18559" y="31"/>
                </a:cubicBezTo>
                <a:cubicBezTo>
                  <a:pt x="18569" y="38"/>
                  <a:pt x="18578" y="45"/>
                  <a:pt x="18587" y="54"/>
                </a:cubicBezTo>
                <a:cubicBezTo>
                  <a:pt x="18596" y="63"/>
                  <a:pt x="18603" y="72"/>
                  <a:pt x="18610" y="82"/>
                </a:cubicBezTo>
                <a:cubicBezTo>
                  <a:pt x="18617" y="92"/>
                  <a:pt x="18623" y="103"/>
                  <a:pt x="18627" y="114"/>
                </a:cubicBezTo>
                <a:cubicBezTo>
                  <a:pt x="18632" y="126"/>
                  <a:pt x="18635" y="137"/>
                  <a:pt x="18638" y="149"/>
                </a:cubicBezTo>
                <a:cubicBezTo>
                  <a:pt x="18640" y="161"/>
                  <a:pt x="18641" y="173"/>
                  <a:pt x="18641" y="185"/>
                </a:cubicBezTo>
                <a:lnTo>
                  <a:pt x="18641" y="12257"/>
                </a:lnTo>
                <a:cubicBezTo>
                  <a:pt x="18641" y="12269"/>
                  <a:pt x="18640" y="12281"/>
                  <a:pt x="18638" y="12293"/>
                </a:cubicBezTo>
                <a:cubicBezTo>
                  <a:pt x="18635" y="12305"/>
                  <a:pt x="18632" y="12317"/>
                  <a:pt x="18627" y="12328"/>
                </a:cubicBezTo>
                <a:cubicBezTo>
                  <a:pt x="18623" y="12339"/>
                  <a:pt x="18617" y="12350"/>
                  <a:pt x="18610" y="12360"/>
                </a:cubicBezTo>
                <a:cubicBezTo>
                  <a:pt x="18603" y="12370"/>
                  <a:pt x="18596" y="12380"/>
                  <a:pt x="18587" y="12388"/>
                </a:cubicBezTo>
                <a:cubicBezTo>
                  <a:pt x="18578" y="12397"/>
                  <a:pt x="18569" y="12405"/>
                  <a:pt x="18559" y="12412"/>
                </a:cubicBezTo>
                <a:cubicBezTo>
                  <a:pt x="18549" y="12418"/>
                  <a:pt x="18538" y="12424"/>
                  <a:pt x="18527" y="12429"/>
                </a:cubicBezTo>
                <a:cubicBezTo>
                  <a:pt x="18515" y="12433"/>
                  <a:pt x="18504" y="12437"/>
                  <a:pt x="18492" y="12439"/>
                </a:cubicBezTo>
                <a:cubicBezTo>
                  <a:pt x="18480" y="12442"/>
                  <a:pt x="18468" y="12443"/>
                  <a:pt x="18456" y="12443"/>
                </a:cubicBezTo>
                <a:lnTo>
                  <a:pt x="186" y="12443"/>
                </a:lnTo>
                <a:cubicBezTo>
                  <a:pt x="174" y="12443"/>
                  <a:pt x="162" y="12442"/>
                  <a:pt x="150" y="12439"/>
                </a:cubicBezTo>
                <a:cubicBezTo>
                  <a:pt x="138" y="12437"/>
                  <a:pt x="126" y="12433"/>
                  <a:pt x="115" y="12429"/>
                </a:cubicBezTo>
                <a:cubicBezTo>
                  <a:pt x="104" y="12424"/>
                  <a:pt x="93" y="12418"/>
                  <a:pt x="83" y="12412"/>
                </a:cubicBezTo>
                <a:cubicBezTo>
                  <a:pt x="73" y="12405"/>
                  <a:pt x="63" y="12397"/>
                  <a:pt x="55" y="12388"/>
                </a:cubicBezTo>
                <a:cubicBezTo>
                  <a:pt x="46" y="12380"/>
                  <a:pt x="38" y="12370"/>
                  <a:pt x="32" y="12360"/>
                </a:cubicBezTo>
                <a:cubicBezTo>
                  <a:pt x="25" y="12350"/>
                  <a:pt x="19" y="12339"/>
                  <a:pt x="14" y="12328"/>
                </a:cubicBezTo>
                <a:cubicBezTo>
                  <a:pt x="10" y="12317"/>
                  <a:pt x="6" y="12305"/>
                  <a:pt x="4" y="12293"/>
                </a:cubicBezTo>
                <a:cubicBezTo>
                  <a:pt x="2" y="12281"/>
                  <a:pt x="0" y="12269"/>
                  <a:pt x="0" y="12257"/>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18" name="図 317"/>
          <p:cNvPicPr/>
          <p:nvPr/>
        </p:nvPicPr>
        <p:blipFill>
          <a:blip r:embed="rId3"/>
          <a:stretch/>
        </p:blipFill>
        <p:spPr>
          <a:xfrm>
            <a:off x="468000" y="1103040"/>
            <a:ext cx="200160" cy="200160"/>
          </a:xfrm>
          <a:prstGeom prst="rect">
            <a:avLst/>
          </a:prstGeom>
          <a:noFill/>
          <a:ln w="0">
            <a:noFill/>
          </a:ln>
        </p:spPr>
      </p:pic>
      <p:sp>
        <p:nvSpPr>
          <p:cNvPr id="319" name="テキスト ボックス 318"/>
          <p:cNvSpPr txBox="1"/>
          <p:nvPr/>
        </p:nvSpPr>
        <p:spPr>
          <a:xfrm>
            <a:off x="334440" y="155520"/>
            <a:ext cx="416880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時間</a:t>
            </a:r>
            <a:r>
              <a:rPr lang="en-US" sz="2370" b="0" u="none" strike="noStrike">
                <a:solidFill>
                  <a:srgbClr val="FFFFFF"/>
                </a:solidFill>
                <a:effectLst/>
                <a:uFillTx/>
                <a:latin typeface="NotoSansJP"/>
                <a:ea typeface="NotoSansJP"/>
              </a:rPr>
              <a:t>-</a:t>
            </a:r>
            <a:r>
              <a:rPr lang="zh-CN" sz="2370" b="0" u="none" strike="noStrike">
                <a:solidFill>
                  <a:srgbClr val="FFFFFF"/>
                </a:solidFill>
                <a:effectLst/>
                <a:uFillTx/>
                <a:latin typeface="NotoSansJP"/>
                <a:ea typeface="NotoSansJP"/>
              </a:rPr>
              <a:t>インピーダンス実部特性</a:t>
            </a:r>
            <a:endParaRPr lang="en-US" sz="2370" b="0" u="none" strike="noStrike">
              <a:solidFill>
                <a:srgbClr val="000000"/>
              </a:solidFill>
              <a:effectLst/>
              <a:uFillTx/>
              <a:latin typeface="Times New Roman"/>
            </a:endParaRPr>
          </a:p>
        </p:txBody>
      </p:sp>
      <p:pic>
        <p:nvPicPr>
          <p:cNvPr id="320" name="図 319"/>
          <p:cNvPicPr/>
          <p:nvPr/>
        </p:nvPicPr>
        <p:blipFill>
          <a:blip r:embed="rId4"/>
          <a:stretch/>
        </p:blipFill>
        <p:spPr>
          <a:xfrm>
            <a:off x="468000" y="1470600"/>
            <a:ext cx="6309000" cy="3342240"/>
          </a:xfrm>
          <a:prstGeom prst="rect">
            <a:avLst/>
          </a:prstGeom>
          <a:noFill/>
          <a:ln w="0">
            <a:noFill/>
          </a:ln>
        </p:spPr>
      </p:pic>
      <p:sp>
        <p:nvSpPr>
          <p:cNvPr id="321" name="フリーフォーム: 図形 320"/>
          <p:cNvSpPr/>
          <p:nvPr/>
        </p:nvSpPr>
        <p:spPr>
          <a:xfrm>
            <a:off x="2615400" y="4963680"/>
            <a:ext cx="134280" cy="133920"/>
          </a:xfrm>
          <a:custGeom>
            <a:avLst/>
            <a:gdLst/>
            <a:ahLst/>
            <a:cxnLst/>
            <a:rect l="0" t="0" r="r" b="b"/>
            <a:pathLst>
              <a:path w="373" h="372">
                <a:moveTo>
                  <a:pt x="0" y="0"/>
                </a:moveTo>
                <a:lnTo>
                  <a:pt x="373" y="0"/>
                </a:lnTo>
                <a:lnTo>
                  <a:pt x="373" y="372"/>
                </a:lnTo>
                <a:lnTo>
                  <a:pt x="0" y="3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22" name="テキスト ボックス 321"/>
          <p:cNvSpPr txBox="1"/>
          <p:nvPr/>
        </p:nvSpPr>
        <p:spPr>
          <a:xfrm>
            <a:off x="768960" y="1100880"/>
            <a:ext cx="301824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時間とインピーダンス実部の関係</a:t>
            </a:r>
            <a:endParaRPr lang="en-US" sz="1580" b="0" u="none" strike="noStrike">
              <a:solidFill>
                <a:srgbClr val="000000"/>
              </a:solidFill>
              <a:effectLst/>
              <a:uFillTx/>
              <a:latin typeface="Times New Roman"/>
            </a:endParaRPr>
          </a:p>
        </p:txBody>
      </p:sp>
      <p:sp>
        <p:nvSpPr>
          <p:cNvPr id="323" name="フリーフォーム: 図形 322"/>
          <p:cNvSpPr/>
          <p:nvPr/>
        </p:nvSpPr>
        <p:spPr>
          <a:xfrm>
            <a:off x="3718440" y="4963680"/>
            <a:ext cx="134280" cy="133920"/>
          </a:xfrm>
          <a:custGeom>
            <a:avLst/>
            <a:gdLst/>
            <a:ahLst/>
            <a:cxnLst/>
            <a:rect l="0" t="0" r="r" b="b"/>
            <a:pathLst>
              <a:path w="373" h="372">
                <a:moveTo>
                  <a:pt x="0" y="0"/>
                </a:moveTo>
                <a:lnTo>
                  <a:pt x="373" y="0"/>
                </a:lnTo>
                <a:lnTo>
                  <a:pt x="373" y="372"/>
                </a:lnTo>
                <a:lnTo>
                  <a:pt x="0" y="372"/>
                </a:lnTo>
                <a:lnTo>
                  <a:pt x="0" y="0"/>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24" name="テキスト ボックス 323"/>
          <p:cNvSpPr txBox="1"/>
          <p:nvPr/>
        </p:nvSpPr>
        <p:spPr>
          <a:xfrm>
            <a:off x="2818800" y="4972320"/>
            <a:ext cx="704880" cy="169560"/>
          </a:xfrm>
          <a:prstGeom prst="rect">
            <a:avLst/>
          </a:prstGeom>
          <a:noFill/>
          <a:ln w="0">
            <a:noFill/>
          </a:ln>
        </p:spPr>
        <p:txBody>
          <a:bodyPr wrap="none" lIns="0" tIns="0" rIns="0" bIns="0" anchor="t">
            <a:spAutoFit/>
          </a:bodyPr>
          <a:lstStyle/>
          <a:p>
            <a:r>
              <a:rPr lang="zh-CN" sz="920" b="0" u="none" strike="noStrike">
                <a:solidFill>
                  <a:srgbClr val="4B5563"/>
                </a:solidFill>
                <a:effectLst/>
                <a:uFillTx/>
                <a:latin typeface="NotoSansJP"/>
                <a:ea typeface="NotoSansJP"/>
              </a:rPr>
              <a:t>ガス導入なし</a:t>
            </a:r>
            <a:endParaRPr lang="en-US" sz="920" b="0" u="none" strike="noStrike">
              <a:solidFill>
                <a:srgbClr val="000000"/>
              </a:solidFill>
              <a:effectLst/>
              <a:uFillTx/>
              <a:latin typeface="Times New Roman"/>
            </a:endParaRPr>
          </a:p>
        </p:txBody>
      </p:sp>
      <p:sp>
        <p:nvSpPr>
          <p:cNvPr id="325" name="フリーフォーム: 図形 324"/>
          <p:cNvSpPr/>
          <p:nvPr/>
        </p:nvSpPr>
        <p:spPr>
          <a:xfrm>
            <a:off x="7178400" y="869040"/>
            <a:ext cx="3250800" cy="1805400"/>
          </a:xfrm>
          <a:custGeom>
            <a:avLst/>
            <a:gdLst/>
            <a:ahLst/>
            <a:cxnLst/>
            <a:rect l="0" t="0" r="r" b="b"/>
            <a:pathLst>
              <a:path w="9030" h="5015">
                <a:moveTo>
                  <a:pt x="0" y="4829"/>
                </a:moveTo>
                <a:lnTo>
                  <a:pt x="0" y="186"/>
                </a:lnTo>
                <a:cubicBezTo>
                  <a:pt x="0" y="174"/>
                  <a:pt x="1" y="162"/>
                  <a:pt x="3" y="150"/>
                </a:cubicBezTo>
                <a:cubicBezTo>
                  <a:pt x="5" y="138"/>
                  <a:pt x="9" y="127"/>
                  <a:pt x="14" y="115"/>
                </a:cubicBezTo>
                <a:cubicBezTo>
                  <a:pt x="18" y="104"/>
                  <a:pt x="24" y="92"/>
                  <a:pt x="31" y="82"/>
                </a:cubicBezTo>
                <a:cubicBezTo>
                  <a:pt x="38" y="72"/>
                  <a:pt x="45" y="63"/>
                  <a:pt x="54" y="54"/>
                </a:cubicBezTo>
                <a:cubicBezTo>
                  <a:pt x="63" y="45"/>
                  <a:pt x="72" y="38"/>
                  <a:pt x="82" y="31"/>
                </a:cubicBezTo>
                <a:cubicBezTo>
                  <a:pt x="92" y="24"/>
                  <a:pt x="103" y="18"/>
                  <a:pt x="114" y="14"/>
                </a:cubicBezTo>
                <a:cubicBezTo>
                  <a:pt x="125" y="9"/>
                  <a:pt x="137" y="6"/>
                  <a:pt x="149" y="3"/>
                </a:cubicBezTo>
                <a:cubicBezTo>
                  <a:pt x="161" y="1"/>
                  <a:pt x="173" y="0"/>
                  <a:pt x="185" y="0"/>
                </a:cubicBezTo>
                <a:lnTo>
                  <a:pt x="8845" y="0"/>
                </a:lnTo>
                <a:cubicBezTo>
                  <a:pt x="8857" y="0"/>
                  <a:pt x="8869" y="1"/>
                  <a:pt x="8881" y="3"/>
                </a:cubicBezTo>
                <a:cubicBezTo>
                  <a:pt x="8893" y="6"/>
                  <a:pt x="8904" y="9"/>
                  <a:pt x="8916" y="14"/>
                </a:cubicBezTo>
                <a:cubicBezTo>
                  <a:pt x="8927" y="18"/>
                  <a:pt x="8938" y="24"/>
                  <a:pt x="8948" y="31"/>
                </a:cubicBezTo>
                <a:cubicBezTo>
                  <a:pt x="8958" y="38"/>
                  <a:pt x="8967" y="45"/>
                  <a:pt x="8976" y="54"/>
                </a:cubicBezTo>
                <a:cubicBezTo>
                  <a:pt x="8985" y="63"/>
                  <a:pt x="8992" y="72"/>
                  <a:pt x="8999" y="82"/>
                </a:cubicBezTo>
                <a:cubicBezTo>
                  <a:pt x="9006" y="92"/>
                  <a:pt x="9012" y="104"/>
                  <a:pt x="9016" y="115"/>
                </a:cubicBezTo>
                <a:cubicBezTo>
                  <a:pt x="9021" y="127"/>
                  <a:pt x="9024" y="138"/>
                  <a:pt x="9027" y="150"/>
                </a:cubicBezTo>
                <a:cubicBezTo>
                  <a:pt x="9029" y="162"/>
                  <a:pt x="9030" y="174"/>
                  <a:pt x="9030" y="186"/>
                </a:cubicBezTo>
                <a:lnTo>
                  <a:pt x="9030" y="4829"/>
                </a:lnTo>
                <a:cubicBezTo>
                  <a:pt x="9030" y="4841"/>
                  <a:pt x="9029" y="4853"/>
                  <a:pt x="9027" y="4865"/>
                </a:cubicBezTo>
                <a:cubicBezTo>
                  <a:pt x="9024" y="4877"/>
                  <a:pt x="9021" y="4889"/>
                  <a:pt x="9016" y="4900"/>
                </a:cubicBezTo>
                <a:cubicBezTo>
                  <a:pt x="9012" y="4911"/>
                  <a:pt x="9006" y="4922"/>
                  <a:pt x="8999" y="4932"/>
                </a:cubicBezTo>
                <a:cubicBezTo>
                  <a:pt x="8992" y="4942"/>
                  <a:pt x="8985" y="4952"/>
                  <a:pt x="8976" y="4960"/>
                </a:cubicBezTo>
                <a:cubicBezTo>
                  <a:pt x="8967" y="4969"/>
                  <a:pt x="8958" y="4977"/>
                  <a:pt x="8948" y="4983"/>
                </a:cubicBezTo>
                <a:cubicBezTo>
                  <a:pt x="8938" y="4990"/>
                  <a:pt x="8927" y="4996"/>
                  <a:pt x="8916" y="5001"/>
                </a:cubicBezTo>
                <a:cubicBezTo>
                  <a:pt x="8904" y="5005"/>
                  <a:pt x="8893" y="5009"/>
                  <a:pt x="8881" y="5011"/>
                </a:cubicBezTo>
                <a:cubicBezTo>
                  <a:pt x="8869" y="5013"/>
                  <a:pt x="8857" y="5015"/>
                  <a:pt x="8845" y="5015"/>
                </a:cubicBezTo>
                <a:lnTo>
                  <a:pt x="185" y="5015"/>
                </a:lnTo>
                <a:cubicBezTo>
                  <a:pt x="173" y="5015"/>
                  <a:pt x="161" y="5013"/>
                  <a:pt x="149" y="5011"/>
                </a:cubicBezTo>
                <a:cubicBezTo>
                  <a:pt x="137" y="5009"/>
                  <a:pt x="125" y="5005"/>
                  <a:pt x="114" y="5001"/>
                </a:cubicBezTo>
                <a:cubicBezTo>
                  <a:pt x="103" y="4996"/>
                  <a:pt x="92" y="4990"/>
                  <a:pt x="82" y="4983"/>
                </a:cubicBezTo>
                <a:cubicBezTo>
                  <a:pt x="72" y="4977"/>
                  <a:pt x="63" y="4969"/>
                  <a:pt x="54" y="4960"/>
                </a:cubicBezTo>
                <a:cubicBezTo>
                  <a:pt x="45" y="4952"/>
                  <a:pt x="38" y="4942"/>
                  <a:pt x="31" y="4932"/>
                </a:cubicBezTo>
                <a:cubicBezTo>
                  <a:pt x="24" y="4922"/>
                  <a:pt x="18" y="4911"/>
                  <a:pt x="14" y="4900"/>
                </a:cubicBezTo>
                <a:cubicBezTo>
                  <a:pt x="9" y="4889"/>
                  <a:pt x="5" y="4877"/>
                  <a:pt x="3" y="4865"/>
                </a:cubicBezTo>
                <a:cubicBezTo>
                  <a:pt x="1" y="4853"/>
                  <a:pt x="0" y="4841"/>
                  <a:pt x="0" y="4829"/>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26" name="テキスト ボックス 325"/>
          <p:cNvSpPr txBox="1"/>
          <p:nvPr/>
        </p:nvSpPr>
        <p:spPr>
          <a:xfrm>
            <a:off x="3922200" y="4972320"/>
            <a:ext cx="750240" cy="169560"/>
          </a:xfrm>
          <a:prstGeom prst="rect">
            <a:avLst/>
          </a:prstGeom>
          <a:noFill/>
          <a:ln w="0">
            <a:noFill/>
          </a:ln>
        </p:spPr>
        <p:txBody>
          <a:bodyPr wrap="none" lIns="0" tIns="0" rIns="0" bIns="0" anchor="t">
            <a:spAutoFit/>
          </a:bodyPr>
          <a:lstStyle/>
          <a:p>
            <a:r>
              <a:rPr lang="en-US" sz="920" b="0" u="none" strike="noStrike">
                <a:solidFill>
                  <a:srgbClr val="4B5563"/>
                </a:solidFill>
                <a:effectLst/>
                <a:uFillTx/>
                <a:latin typeface="NotoSansJP"/>
                <a:ea typeface="NotoSansJP"/>
              </a:rPr>
              <a:t>TMA</a:t>
            </a:r>
            <a:r>
              <a:rPr lang="zh-CN" sz="920" b="0" u="none" strike="noStrike">
                <a:solidFill>
                  <a:srgbClr val="4B5563"/>
                </a:solidFill>
                <a:effectLst/>
                <a:uFillTx/>
                <a:latin typeface="NotoSansJP"/>
                <a:ea typeface="NotoSansJP"/>
              </a:rPr>
              <a:t>ガス導入</a:t>
            </a:r>
            <a:endParaRPr lang="en-US" sz="920" b="0" u="none" strike="noStrike">
              <a:solidFill>
                <a:srgbClr val="000000"/>
              </a:solidFill>
              <a:effectLst/>
              <a:uFillTx/>
              <a:latin typeface="Times New Roman"/>
            </a:endParaRPr>
          </a:p>
        </p:txBody>
      </p:sp>
      <p:pic>
        <p:nvPicPr>
          <p:cNvPr id="327" name="図 326"/>
          <p:cNvPicPr/>
          <p:nvPr/>
        </p:nvPicPr>
        <p:blipFill>
          <a:blip r:embed="rId5"/>
          <a:stretch/>
        </p:blipFill>
        <p:spPr>
          <a:xfrm>
            <a:off x="7378920" y="1437480"/>
            <a:ext cx="133200" cy="133200"/>
          </a:xfrm>
          <a:prstGeom prst="rect">
            <a:avLst/>
          </a:prstGeom>
          <a:noFill/>
          <a:ln w="0">
            <a:noFill/>
          </a:ln>
        </p:spPr>
      </p:pic>
      <p:sp>
        <p:nvSpPr>
          <p:cNvPr id="328" name="テキスト ボックス 327"/>
          <p:cNvSpPr txBox="1"/>
          <p:nvPr/>
        </p:nvSpPr>
        <p:spPr>
          <a:xfrm>
            <a:off x="7376040" y="1098360"/>
            <a:ext cx="67140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特性解析</a:t>
            </a:r>
            <a:endParaRPr lang="en-US" sz="1320" b="0" u="none" strike="noStrike">
              <a:solidFill>
                <a:srgbClr val="000000"/>
              </a:solidFill>
              <a:effectLst/>
              <a:uFillTx/>
              <a:latin typeface="Times New Roman"/>
            </a:endParaRPr>
          </a:p>
        </p:txBody>
      </p:sp>
      <p:sp>
        <p:nvSpPr>
          <p:cNvPr id="329" name="テキスト ボックス 328"/>
          <p:cNvSpPr txBox="1"/>
          <p:nvPr/>
        </p:nvSpPr>
        <p:spPr>
          <a:xfrm>
            <a:off x="7576560" y="1438560"/>
            <a:ext cx="260136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TMA</a:t>
            </a:r>
            <a:r>
              <a:rPr lang="zh-CN" sz="1050" b="0" u="none" strike="noStrike">
                <a:solidFill>
                  <a:srgbClr val="000000"/>
                </a:solidFill>
                <a:effectLst/>
                <a:uFillTx/>
                <a:latin typeface="NotoSansJP"/>
                <a:ea typeface="NotoSansJP"/>
              </a:rPr>
              <a:t>ガス導入時にインピーダンス実部が減</a:t>
            </a:r>
            <a:endParaRPr lang="en-US" sz="1050" b="0" u="none" strike="noStrike">
              <a:solidFill>
                <a:srgbClr val="000000"/>
              </a:solidFill>
              <a:effectLst/>
              <a:uFillTx/>
              <a:latin typeface="Times New Roman"/>
            </a:endParaRPr>
          </a:p>
        </p:txBody>
      </p:sp>
      <p:pic>
        <p:nvPicPr>
          <p:cNvPr id="330" name="図 329"/>
          <p:cNvPicPr/>
          <p:nvPr/>
        </p:nvPicPr>
        <p:blipFill>
          <a:blip r:embed="rId5"/>
          <a:stretch/>
        </p:blipFill>
        <p:spPr>
          <a:xfrm>
            <a:off x="7378920" y="1972080"/>
            <a:ext cx="133200" cy="133200"/>
          </a:xfrm>
          <a:prstGeom prst="rect">
            <a:avLst/>
          </a:prstGeom>
          <a:noFill/>
          <a:ln w="0">
            <a:noFill/>
          </a:ln>
        </p:spPr>
      </p:pic>
      <p:sp>
        <p:nvSpPr>
          <p:cNvPr id="331" name="テキスト ボックス 330"/>
          <p:cNvSpPr txBox="1"/>
          <p:nvPr/>
        </p:nvSpPr>
        <p:spPr>
          <a:xfrm>
            <a:off x="7576560" y="1639080"/>
            <a:ext cx="1350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少</a:t>
            </a:r>
            <a:endParaRPr lang="en-US" sz="1050" b="0" u="none" strike="noStrike">
              <a:solidFill>
                <a:srgbClr val="000000"/>
              </a:solidFill>
              <a:effectLst/>
              <a:uFillTx/>
              <a:latin typeface="Times New Roman"/>
            </a:endParaRPr>
          </a:p>
        </p:txBody>
      </p:sp>
      <p:pic>
        <p:nvPicPr>
          <p:cNvPr id="332" name="図 331"/>
          <p:cNvPicPr/>
          <p:nvPr/>
        </p:nvPicPr>
        <p:blipFill>
          <a:blip r:embed="rId5"/>
          <a:stretch/>
        </p:blipFill>
        <p:spPr>
          <a:xfrm>
            <a:off x="7378920" y="2306520"/>
            <a:ext cx="133200" cy="133200"/>
          </a:xfrm>
          <a:prstGeom prst="rect">
            <a:avLst/>
          </a:prstGeom>
          <a:noFill/>
          <a:ln w="0">
            <a:noFill/>
          </a:ln>
        </p:spPr>
      </p:pic>
      <p:sp>
        <p:nvSpPr>
          <p:cNvPr id="333" name="テキスト ボックス 332"/>
          <p:cNvSpPr txBox="1"/>
          <p:nvPr/>
        </p:nvSpPr>
        <p:spPr>
          <a:xfrm>
            <a:off x="7576560" y="1973520"/>
            <a:ext cx="187812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ガス濃度に応じた変化量を確認</a:t>
            </a:r>
            <a:endParaRPr lang="en-US" sz="1050" b="0" u="none" strike="noStrike">
              <a:solidFill>
                <a:srgbClr val="000000"/>
              </a:solidFill>
              <a:effectLst/>
              <a:uFillTx/>
              <a:latin typeface="Times New Roman"/>
            </a:endParaRPr>
          </a:p>
        </p:txBody>
      </p:sp>
      <p:sp>
        <p:nvSpPr>
          <p:cNvPr id="334" name="フリーフォーム: 図形 333"/>
          <p:cNvSpPr/>
          <p:nvPr/>
        </p:nvSpPr>
        <p:spPr>
          <a:xfrm>
            <a:off x="7178400" y="2874600"/>
            <a:ext cx="3250800" cy="2473920"/>
          </a:xfrm>
          <a:custGeom>
            <a:avLst/>
            <a:gdLst/>
            <a:ahLst/>
            <a:cxnLst/>
            <a:rect l="0" t="0" r="r" b="b"/>
            <a:pathLst>
              <a:path w="9030" h="6872">
                <a:moveTo>
                  <a:pt x="0" y="6686"/>
                </a:moveTo>
                <a:lnTo>
                  <a:pt x="0" y="185"/>
                </a:lnTo>
                <a:cubicBezTo>
                  <a:pt x="0" y="173"/>
                  <a:pt x="1" y="161"/>
                  <a:pt x="3" y="149"/>
                </a:cubicBezTo>
                <a:cubicBezTo>
                  <a:pt x="5" y="137"/>
                  <a:pt x="9" y="126"/>
                  <a:pt x="14" y="114"/>
                </a:cubicBezTo>
                <a:cubicBezTo>
                  <a:pt x="18" y="103"/>
                  <a:pt x="24" y="92"/>
                  <a:pt x="31" y="82"/>
                </a:cubicBezTo>
                <a:cubicBezTo>
                  <a:pt x="38" y="72"/>
                  <a:pt x="45" y="63"/>
                  <a:pt x="54" y="54"/>
                </a:cubicBezTo>
                <a:cubicBezTo>
                  <a:pt x="63" y="46"/>
                  <a:pt x="72" y="38"/>
                  <a:pt x="82" y="31"/>
                </a:cubicBezTo>
                <a:cubicBezTo>
                  <a:pt x="92" y="24"/>
                  <a:pt x="103" y="19"/>
                  <a:pt x="114" y="14"/>
                </a:cubicBezTo>
                <a:cubicBezTo>
                  <a:pt x="125" y="9"/>
                  <a:pt x="137" y="6"/>
                  <a:pt x="149" y="3"/>
                </a:cubicBezTo>
                <a:cubicBezTo>
                  <a:pt x="161" y="1"/>
                  <a:pt x="173" y="0"/>
                  <a:pt x="185" y="0"/>
                </a:cubicBezTo>
                <a:lnTo>
                  <a:pt x="8845" y="0"/>
                </a:lnTo>
                <a:cubicBezTo>
                  <a:pt x="8857" y="0"/>
                  <a:pt x="8869" y="1"/>
                  <a:pt x="8881" y="3"/>
                </a:cubicBezTo>
                <a:cubicBezTo>
                  <a:pt x="8893" y="6"/>
                  <a:pt x="8904" y="9"/>
                  <a:pt x="8916" y="14"/>
                </a:cubicBezTo>
                <a:cubicBezTo>
                  <a:pt x="8927" y="19"/>
                  <a:pt x="8938" y="24"/>
                  <a:pt x="8948" y="31"/>
                </a:cubicBezTo>
                <a:cubicBezTo>
                  <a:pt x="8958" y="38"/>
                  <a:pt x="8967" y="46"/>
                  <a:pt x="8976" y="54"/>
                </a:cubicBezTo>
                <a:cubicBezTo>
                  <a:pt x="8985" y="63"/>
                  <a:pt x="8992" y="72"/>
                  <a:pt x="8999" y="82"/>
                </a:cubicBezTo>
                <a:cubicBezTo>
                  <a:pt x="9006" y="92"/>
                  <a:pt x="9012" y="103"/>
                  <a:pt x="9016" y="114"/>
                </a:cubicBezTo>
                <a:cubicBezTo>
                  <a:pt x="9021" y="126"/>
                  <a:pt x="9024" y="137"/>
                  <a:pt x="9027" y="149"/>
                </a:cubicBezTo>
                <a:cubicBezTo>
                  <a:pt x="9029" y="161"/>
                  <a:pt x="9030" y="173"/>
                  <a:pt x="9030" y="185"/>
                </a:cubicBezTo>
                <a:lnTo>
                  <a:pt x="9030" y="6686"/>
                </a:lnTo>
                <a:cubicBezTo>
                  <a:pt x="9030" y="6698"/>
                  <a:pt x="9029" y="6710"/>
                  <a:pt x="9027" y="6722"/>
                </a:cubicBezTo>
                <a:cubicBezTo>
                  <a:pt x="9024" y="6734"/>
                  <a:pt x="9021" y="6746"/>
                  <a:pt x="9016" y="6757"/>
                </a:cubicBezTo>
                <a:cubicBezTo>
                  <a:pt x="9012" y="6768"/>
                  <a:pt x="9006" y="6779"/>
                  <a:pt x="8999" y="6789"/>
                </a:cubicBezTo>
                <a:cubicBezTo>
                  <a:pt x="8992" y="6799"/>
                  <a:pt x="8985" y="6809"/>
                  <a:pt x="8976" y="6817"/>
                </a:cubicBezTo>
                <a:cubicBezTo>
                  <a:pt x="8967" y="6826"/>
                  <a:pt x="8958" y="6834"/>
                  <a:pt x="8948" y="6841"/>
                </a:cubicBezTo>
                <a:cubicBezTo>
                  <a:pt x="8938" y="6847"/>
                  <a:pt x="8927" y="6853"/>
                  <a:pt x="8916" y="6858"/>
                </a:cubicBezTo>
                <a:cubicBezTo>
                  <a:pt x="8904" y="6862"/>
                  <a:pt x="8893" y="6866"/>
                  <a:pt x="8881" y="6868"/>
                </a:cubicBezTo>
                <a:cubicBezTo>
                  <a:pt x="8869" y="6871"/>
                  <a:pt x="8857" y="6872"/>
                  <a:pt x="8845" y="6872"/>
                </a:cubicBezTo>
                <a:lnTo>
                  <a:pt x="185" y="6872"/>
                </a:lnTo>
                <a:cubicBezTo>
                  <a:pt x="173" y="6872"/>
                  <a:pt x="161" y="6871"/>
                  <a:pt x="149" y="6868"/>
                </a:cubicBezTo>
                <a:cubicBezTo>
                  <a:pt x="137" y="6866"/>
                  <a:pt x="125" y="6862"/>
                  <a:pt x="114" y="6858"/>
                </a:cubicBezTo>
                <a:cubicBezTo>
                  <a:pt x="103" y="6853"/>
                  <a:pt x="92" y="6847"/>
                  <a:pt x="82" y="6841"/>
                </a:cubicBezTo>
                <a:cubicBezTo>
                  <a:pt x="72" y="6834"/>
                  <a:pt x="63" y="6826"/>
                  <a:pt x="54" y="6817"/>
                </a:cubicBezTo>
                <a:cubicBezTo>
                  <a:pt x="45" y="6809"/>
                  <a:pt x="38" y="6799"/>
                  <a:pt x="31" y="6789"/>
                </a:cubicBezTo>
                <a:cubicBezTo>
                  <a:pt x="24" y="6779"/>
                  <a:pt x="18" y="6768"/>
                  <a:pt x="14" y="6757"/>
                </a:cubicBezTo>
                <a:cubicBezTo>
                  <a:pt x="9" y="6746"/>
                  <a:pt x="5" y="6734"/>
                  <a:pt x="3" y="6722"/>
                </a:cubicBezTo>
                <a:cubicBezTo>
                  <a:pt x="1" y="6710"/>
                  <a:pt x="0" y="6698"/>
                  <a:pt x="0" y="6686"/>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35" name="テキスト ボックス 334"/>
          <p:cNvSpPr txBox="1"/>
          <p:nvPr/>
        </p:nvSpPr>
        <p:spPr>
          <a:xfrm>
            <a:off x="7576560" y="2307600"/>
            <a:ext cx="14760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安定した応答特性を示す</a:t>
            </a:r>
            <a:endParaRPr lang="en-US" sz="1050" b="0" u="none" strike="noStrike">
              <a:solidFill>
                <a:srgbClr val="000000"/>
              </a:solidFill>
              <a:effectLst/>
              <a:uFillTx/>
              <a:latin typeface="Times New Roman"/>
            </a:endParaRPr>
          </a:p>
        </p:txBody>
      </p:sp>
      <p:sp>
        <p:nvSpPr>
          <p:cNvPr id="336" name="フリーフォーム: 図形 335"/>
          <p:cNvSpPr/>
          <p:nvPr/>
        </p:nvSpPr>
        <p:spPr>
          <a:xfrm>
            <a:off x="7378920" y="3442680"/>
            <a:ext cx="334440" cy="334800"/>
          </a:xfrm>
          <a:custGeom>
            <a:avLst/>
            <a:gdLst/>
            <a:ahLst/>
            <a:cxnLst/>
            <a:rect l="0" t="0" r="r" b="b"/>
            <a:pathLst>
              <a:path w="929" h="930">
                <a:moveTo>
                  <a:pt x="929" y="466"/>
                </a:moveTo>
                <a:cubicBezTo>
                  <a:pt x="929" y="496"/>
                  <a:pt x="926" y="526"/>
                  <a:pt x="920" y="556"/>
                </a:cubicBezTo>
                <a:cubicBezTo>
                  <a:pt x="914" y="586"/>
                  <a:pt x="905" y="615"/>
                  <a:pt x="894" y="643"/>
                </a:cubicBezTo>
                <a:cubicBezTo>
                  <a:pt x="882" y="671"/>
                  <a:pt x="868" y="698"/>
                  <a:pt x="851" y="723"/>
                </a:cubicBezTo>
                <a:cubicBezTo>
                  <a:pt x="834" y="749"/>
                  <a:pt x="815" y="772"/>
                  <a:pt x="793" y="794"/>
                </a:cubicBezTo>
                <a:cubicBezTo>
                  <a:pt x="772" y="815"/>
                  <a:pt x="748" y="835"/>
                  <a:pt x="723" y="852"/>
                </a:cubicBezTo>
                <a:cubicBezTo>
                  <a:pt x="697" y="868"/>
                  <a:pt x="671" y="883"/>
                  <a:pt x="643" y="894"/>
                </a:cubicBezTo>
                <a:cubicBezTo>
                  <a:pt x="614" y="906"/>
                  <a:pt x="585" y="915"/>
                  <a:pt x="555" y="921"/>
                </a:cubicBezTo>
                <a:cubicBezTo>
                  <a:pt x="526" y="927"/>
                  <a:pt x="495" y="930"/>
                  <a:pt x="465" y="930"/>
                </a:cubicBezTo>
                <a:cubicBezTo>
                  <a:pt x="434" y="930"/>
                  <a:pt x="404" y="927"/>
                  <a:pt x="373" y="921"/>
                </a:cubicBezTo>
                <a:cubicBezTo>
                  <a:pt x="343" y="915"/>
                  <a:pt x="314" y="906"/>
                  <a:pt x="286" y="894"/>
                </a:cubicBezTo>
                <a:cubicBezTo>
                  <a:pt x="258" y="883"/>
                  <a:pt x="231" y="868"/>
                  <a:pt x="206" y="852"/>
                </a:cubicBezTo>
                <a:cubicBezTo>
                  <a:pt x="181" y="835"/>
                  <a:pt x="157" y="815"/>
                  <a:pt x="136" y="794"/>
                </a:cubicBezTo>
                <a:cubicBezTo>
                  <a:pt x="114" y="772"/>
                  <a:pt x="95" y="749"/>
                  <a:pt x="78" y="723"/>
                </a:cubicBezTo>
                <a:cubicBezTo>
                  <a:pt x="61" y="698"/>
                  <a:pt x="47" y="671"/>
                  <a:pt x="35" y="643"/>
                </a:cubicBezTo>
                <a:cubicBezTo>
                  <a:pt x="23" y="615"/>
                  <a:pt x="14" y="586"/>
                  <a:pt x="9" y="556"/>
                </a:cubicBezTo>
                <a:cubicBezTo>
                  <a:pt x="3" y="526"/>
                  <a:pt x="0" y="496"/>
                  <a:pt x="0" y="466"/>
                </a:cubicBezTo>
                <a:cubicBezTo>
                  <a:pt x="0" y="435"/>
                  <a:pt x="3" y="405"/>
                  <a:pt x="9" y="375"/>
                </a:cubicBezTo>
                <a:cubicBezTo>
                  <a:pt x="14" y="345"/>
                  <a:pt x="23" y="316"/>
                  <a:pt x="35" y="288"/>
                </a:cubicBezTo>
                <a:cubicBezTo>
                  <a:pt x="47" y="260"/>
                  <a:pt x="61" y="233"/>
                  <a:pt x="78" y="208"/>
                </a:cubicBezTo>
                <a:cubicBezTo>
                  <a:pt x="95" y="182"/>
                  <a:pt x="114" y="158"/>
                  <a:pt x="136" y="136"/>
                </a:cubicBezTo>
                <a:cubicBezTo>
                  <a:pt x="157" y="115"/>
                  <a:pt x="181" y="95"/>
                  <a:pt x="206" y="79"/>
                </a:cubicBezTo>
                <a:cubicBezTo>
                  <a:pt x="231" y="62"/>
                  <a:pt x="258" y="47"/>
                  <a:pt x="286" y="36"/>
                </a:cubicBezTo>
                <a:cubicBezTo>
                  <a:pt x="314" y="24"/>
                  <a:pt x="343" y="15"/>
                  <a:pt x="373" y="9"/>
                </a:cubicBezTo>
                <a:cubicBezTo>
                  <a:pt x="404" y="3"/>
                  <a:pt x="434" y="0"/>
                  <a:pt x="465" y="0"/>
                </a:cubicBezTo>
                <a:cubicBezTo>
                  <a:pt x="495" y="0"/>
                  <a:pt x="526" y="3"/>
                  <a:pt x="555" y="9"/>
                </a:cubicBezTo>
                <a:cubicBezTo>
                  <a:pt x="585" y="15"/>
                  <a:pt x="614" y="24"/>
                  <a:pt x="643" y="36"/>
                </a:cubicBezTo>
                <a:cubicBezTo>
                  <a:pt x="671" y="47"/>
                  <a:pt x="697" y="62"/>
                  <a:pt x="723" y="79"/>
                </a:cubicBezTo>
                <a:cubicBezTo>
                  <a:pt x="748" y="95"/>
                  <a:pt x="772" y="115"/>
                  <a:pt x="793" y="136"/>
                </a:cubicBezTo>
                <a:cubicBezTo>
                  <a:pt x="815" y="158"/>
                  <a:pt x="834" y="182"/>
                  <a:pt x="851" y="208"/>
                </a:cubicBezTo>
                <a:cubicBezTo>
                  <a:pt x="868" y="233"/>
                  <a:pt x="882" y="260"/>
                  <a:pt x="894" y="288"/>
                </a:cubicBezTo>
                <a:cubicBezTo>
                  <a:pt x="905" y="316"/>
                  <a:pt x="914" y="345"/>
                  <a:pt x="920" y="375"/>
                </a:cubicBezTo>
                <a:cubicBezTo>
                  <a:pt x="926" y="405"/>
                  <a:pt x="929" y="435"/>
                  <a:pt x="929" y="466"/>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337" name="図 336"/>
          <p:cNvPicPr/>
          <p:nvPr/>
        </p:nvPicPr>
        <p:blipFill>
          <a:blip r:embed="rId6"/>
          <a:stretch/>
        </p:blipFill>
        <p:spPr>
          <a:xfrm>
            <a:off x="7504200" y="3543120"/>
            <a:ext cx="83160" cy="133200"/>
          </a:xfrm>
          <a:prstGeom prst="rect">
            <a:avLst/>
          </a:prstGeom>
          <a:noFill/>
          <a:ln w="0">
            <a:noFill/>
          </a:ln>
        </p:spPr>
      </p:pic>
      <p:sp>
        <p:nvSpPr>
          <p:cNvPr id="338" name="テキスト ボックス 337"/>
          <p:cNvSpPr txBox="1"/>
          <p:nvPr/>
        </p:nvSpPr>
        <p:spPr>
          <a:xfrm>
            <a:off x="7376040" y="3103920"/>
            <a:ext cx="67140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測定条件</a:t>
            </a:r>
            <a:endParaRPr lang="en-US" sz="1320" b="0" u="none" strike="noStrike">
              <a:solidFill>
                <a:srgbClr val="000000"/>
              </a:solidFill>
              <a:effectLst/>
              <a:uFillTx/>
              <a:latin typeface="Times New Roman"/>
            </a:endParaRPr>
          </a:p>
        </p:txBody>
      </p:sp>
      <p:sp>
        <p:nvSpPr>
          <p:cNvPr id="339" name="テキスト ボックス 338"/>
          <p:cNvSpPr txBox="1"/>
          <p:nvPr/>
        </p:nvSpPr>
        <p:spPr>
          <a:xfrm>
            <a:off x="7810560" y="3444120"/>
            <a:ext cx="537120" cy="194040"/>
          </a:xfrm>
          <a:prstGeom prst="rect">
            <a:avLst/>
          </a:prstGeom>
          <a:noFill/>
          <a:ln w="0">
            <a:noFill/>
          </a:ln>
        </p:spPr>
        <p:txBody>
          <a:bodyPr wrap="none" lIns="0" tIns="0" rIns="0" bIns="0" anchor="t">
            <a:spAutoFit/>
          </a:bodyPr>
          <a:lstStyle/>
          <a:p>
            <a:r>
              <a:rPr lang="zh-CN" sz="1050" b="0" u="none" strike="noStrike">
                <a:solidFill>
                  <a:srgbClr val="4B5563"/>
                </a:solidFill>
                <a:effectLst/>
                <a:uFillTx/>
                <a:latin typeface="NotoSansJP"/>
                <a:ea typeface="NotoSansJP"/>
              </a:rPr>
              <a:t>測定温度</a:t>
            </a:r>
            <a:endParaRPr lang="en-US" sz="1050" b="0" u="none" strike="noStrike">
              <a:solidFill>
                <a:srgbClr val="000000"/>
              </a:solidFill>
              <a:effectLst/>
              <a:uFillTx/>
              <a:latin typeface="Times New Roman"/>
            </a:endParaRPr>
          </a:p>
        </p:txBody>
      </p:sp>
      <p:sp>
        <p:nvSpPr>
          <p:cNvPr id="340" name="フリーフォーム: 図形 339"/>
          <p:cNvSpPr/>
          <p:nvPr/>
        </p:nvSpPr>
        <p:spPr>
          <a:xfrm>
            <a:off x="7378920" y="3944160"/>
            <a:ext cx="334440" cy="334800"/>
          </a:xfrm>
          <a:custGeom>
            <a:avLst/>
            <a:gdLst/>
            <a:ahLst/>
            <a:cxnLst/>
            <a:rect l="0" t="0" r="r" b="b"/>
            <a:pathLst>
              <a:path w="929" h="930">
                <a:moveTo>
                  <a:pt x="929" y="464"/>
                </a:moveTo>
                <a:cubicBezTo>
                  <a:pt x="929" y="495"/>
                  <a:pt x="926" y="525"/>
                  <a:pt x="920" y="555"/>
                </a:cubicBezTo>
                <a:cubicBezTo>
                  <a:pt x="914" y="585"/>
                  <a:pt x="905" y="614"/>
                  <a:pt x="894" y="642"/>
                </a:cubicBezTo>
                <a:cubicBezTo>
                  <a:pt x="882" y="671"/>
                  <a:pt x="868" y="698"/>
                  <a:pt x="851" y="723"/>
                </a:cubicBezTo>
                <a:cubicBezTo>
                  <a:pt x="834" y="749"/>
                  <a:pt x="815" y="772"/>
                  <a:pt x="793" y="794"/>
                </a:cubicBezTo>
                <a:cubicBezTo>
                  <a:pt x="772" y="815"/>
                  <a:pt x="748" y="834"/>
                  <a:pt x="723" y="851"/>
                </a:cubicBezTo>
                <a:cubicBezTo>
                  <a:pt x="697" y="868"/>
                  <a:pt x="671" y="883"/>
                  <a:pt x="643" y="894"/>
                </a:cubicBezTo>
                <a:cubicBezTo>
                  <a:pt x="614" y="906"/>
                  <a:pt x="585" y="915"/>
                  <a:pt x="555" y="921"/>
                </a:cubicBezTo>
                <a:cubicBezTo>
                  <a:pt x="526" y="927"/>
                  <a:pt x="495" y="930"/>
                  <a:pt x="465" y="930"/>
                </a:cubicBezTo>
                <a:cubicBezTo>
                  <a:pt x="434" y="930"/>
                  <a:pt x="404" y="927"/>
                  <a:pt x="373" y="921"/>
                </a:cubicBezTo>
                <a:cubicBezTo>
                  <a:pt x="343" y="915"/>
                  <a:pt x="314" y="906"/>
                  <a:pt x="286" y="894"/>
                </a:cubicBezTo>
                <a:cubicBezTo>
                  <a:pt x="258" y="883"/>
                  <a:pt x="231" y="868"/>
                  <a:pt x="206" y="851"/>
                </a:cubicBezTo>
                <a:cubicBezTo>
                  <a:pt x="181" y="834"/>
                  <a:pt x="157" y="815"/>
                  <a:pt x="136" y="794"/>
                </a:cubicBezTo>
                <a:cubicBezTo>
                  <a:pt x="114" y="772"/>
                  <a:pt x="95" y="749"/>
                  <a:pt x="78" y="723"/>
                </a:cubicBezTo>
                <a:cubicBezTo>
                  <a:pt x="61" y="698"/>
                  <a:pt x="47" y="671"/>
                  <a:pt x="35" y="642"/>
                </a:cubicBezTo>
                <a:cubicBezTo>
                  <a:pt x="23" y="614"/>
                  <a:pt x="14" y="585"/>
                  <a:pt x="9" y="555"/>
                </a:cubicBezTo>
                <a:cubicBezTo>
                  <a:pt x="3" y="525"/>
                  <a:pt x="0" y="495"/>
                  <a:pt x="0" y="464"/>
                </a:cubicBezTo>
                <a:cubicBezTo>
                  <a:pt x="0" y="434"/>
                  <a:pt x="3" y="404"/>
                  <a:pt x="9" y="374"/>
                </a:cubicBezTo>
                <a:cubicBezTo>
                  <a:pt x="14" y="344"/>
                  <a:pt x="23" y="315"/>
                  <a:pt x="35" y="287"/>
                </a:cubicBezTo>
                <a:cubicBezTo>
                  <a:pt x="47" y="258"/>
                  <a:pt x="61" y="232"/>
                  <a:pt x="78" y="206"/>
                </a:cubicBezTo>
                <a:cubicBezTo>
                  <a:pt x="95" y="181"/>
                  <a:pt x="114" y="158"/>
                  <a:pt x="136" y="136"/>
                </a:cubicBezTo>
                <a:cubicBezTo>
                  <a:pt x="157" y="114"/>
                  <a:pt x="181" y="95"/>
                  <a:pt x="206" y="78"/>
                </a:cubicBezTo>
                <a:cubicBezTo>
                  <a:pt x="231" y="61"/>
                  <a:pt x="258" y="47"/>
                  <a:pt x="286" y="35"/>
                </a:cubicBezTo>
                <a:cubicBezTo>
                  <a:pt x="314" y="24"/>
                  <a:pt x="343" y="15"/>
                  <a:pt x="373" y="9"/>
                </a:cubicBezTo>
                <a:cubicBezTo>
                  <a:pt x="404" y="3"/>
                  <a:pt x="434" y="0"/>
                  <a:pt x="465" y="0"/>
                </a:cubicBezTo>
                <a:cubicBezTo>
                  <a:pt x="495" y="0"/>
                  <a:pt x="526" y="3"/>
                  <a:pt x="555" y="9"/>
                </a:cubicBezTo>
                <a:cubicBezTo>
                  <a:pt x="585" y="15"/>
                  <a:pt x="614" y="24"/>
                  <a:pt x="643" y="35"/>
                </a:cubicBezTo>
                <a:cubicBezTo>
                  <a:pt x="671" y="47"/>
                  <a:pt x="697" y="61"/>
                  <a:pt x="723" y="78"/>
                </a:cubicBezTo>
                <a:cubicBezTo>
                  <a:pt x="748" y="95"/>
                  <a:pt x="772" y="114"/>
                  <a:pt x="793" y="136"/>
                </a:cubicBezTo>
                <a:cubicBezTo>
                  <a:pt x="815" y="158"/>
                  <a:pt x="834" y="181"/>
                  <a:pt x="851" y="206"/>
                </a:cubicBezTo>
                <a:cubicBezTo>
                  <a:pt x="868" y="232"/>
                  <a:pt x="882" y="258"/>
                  <a:pt x="894" y="287"/>
                </a:cubicBezTo>
                <a:cubicBezTo>
                  <a:pt x="905" y="315"/>
                  <a:pt x="914" y="344"/>
                  <a:pt x="920" y="374"/>
                </a:cubicBezTo>
                <a:cubicBezTo>
                  <a:pt x="926" y="404"/>
                  <a:pt x="929" y="434"/>
                  <a:pt x="929" y="464"/>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341" name="図 340"/>
          <p:cNvPicPr/>
          <p:nvPr/>
        </p:nvPicPr>
        <p:blipFill>
          <a:blip r:embed="rId7"/>
          <a:stretch/>
        </p:blipFill>
        <p:spPr>
          <a:xfrm>
            <a:off x="7495920" y="4044600"/>
            <a:ext cx="100080" cy="133200"/>
          </a:xfrm>
          <a:prstGeom prst="rect">
            <a:avLst/>
          </a:prstGeom>
          <a:noFill/>
          <a:ln w="0">
            <a:noFill/>
          </a:ln>
        </p:spPr>
      </p:pic>
      <p:sp>
        <p:nvSpPr>
          <p:cNvPr id="342" name="テキスト ボックス 341"/>
          <p:cNvSpPr txBox="1"/>
          <p:nvPr/>
        </p:nvSpPr>
        <p:spPr>
          <a:xfrm>
            <a:off x="7810560" y="3644640"/>
            <a:ext cx="92844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室温（</a:t>
            </a:r>
            <a:r>
              <a:rPr lang="en-US" sz="1050" b="0" u="none" strike="noStrike">
                <a:solidFill>
                  <a:srgbClr val="000000"/>
                </a:solidFill>
                <a:effectLst/>
                <a:uFillTx/>
                <a:latin typeface="NotoSansJP"/>
                <a:ea typeface="NotoSansJP"/>
              </a:rPr>
              <a:t>25℃</a:t>
            </a:r>
            <a:r>
              <a:rPr lang="zh-CN" sz="1050" b="0" u="none" strike="noStrike">
                <a:solidFill>
                  <a:srgbClr val="000000"/>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343" name="テキスト ボックス 342"/>
          <p:cNvSpPr txBox="1"/>
          <p:nvPr/>
        </p:nvSpPr>
        <p:spPr>
          <a:xfrm>
            <a:off x="7810560" y="3945600"/>
            <a:ext cx="268920" cy="194040"/>
          </a:xfrm>
          <a:prstGeom prst="rect">
            <a:avLst/>
          </a:prstGeom>
          <a:noFill/>
          <a:ln w="0">
            <a:noFill/>
          </a:ln>
        </p:spPr>
        <p:txBody>
          <a:bodyPr wrap="none" lIns="0" tIns="0" rIns="0" bIns="0" anchor="t">
            <a:spAutoFit/>
          </a:bodyPr>
          <a:lstStyle/>
          <a:p>
            <a:r>
              <a:rPr lang="zh-CN" sz="1050" b="0" u="none" strike="noStrike">
                <a:solidFill>
                  <a:srgbClr val="4B5563"/>
                </a:solidFill>
                <a:effectLst/>
                <a:uFillTx/>
                <a:latin typeface="NotoSansJP"/>
                <a:ea typeface="NotoSansJP"/>
              </a:rPr>
              <a:t>湿度</a:t>
            </a:r>
            <a:endParaRPr lang="en-US" sz="1050" b="0" u="none" strike="noStrike">
              <a:solidFill>
                <a:srgbClr val="000000"/>
              </a:solidFill>
              <a:effectLst/>
              <a:uFillTx/>
              <a:latin typeface="Times New Roman"/>
            </a:endParaRPr>
          </a:p>
        </p:txBody>
      </p:sp>
      <p:sp>
        <p:nvSpPr>
          <p:cNvPr id="344" name="フリーフォーム: 図形 343"/>
          <p:cNvSpPr/>
          <p:nvPr/>
        </p:nvSpPr>
        <p:spPr>
          <a:xfrm>
            <a:off x="7378920" y="4445640"/>
            <a:ext cx="334440" cy="334440"/>
          </a:xfrm>
          <a:custGeom>
            <a:avLst/>
            <a:gdLst/>
            <a:ahLst/>
            <a:cxnLst/>
            <a:rect l="0" t="0" r="r" b="b"/>
            <a:pathLst>
              <a:path w="929" h="929">
                <a:moveTo>
                  <a:pt x="929" y="465"/>
                </a:moveTo>
                <a:cubicBezTo>
                  <a:pt x="929" y="496"/>
                  <a:pt x="926" y="526"/>
                  <a:pt x="920" y="556"/>
                </a:cubicBezTo>
                <a:cubicBezTo>
                  <a:pt x="914" y="586"/>
                  <a:pt x="905" y="615"/>
                  <a:pt x="894" y="643"/>
                </a:cubicBezTo>
                <a:cubicBezTo>
                  <a:pt x="882" y="671"/>
                  <a:pt x="868" y="698"/>
                  <a:pt x="851" y="723"/>
                </a:cubicBezTo>
                <a:cubicBezTo>
                  <a:pt x="834" y="748"/>
                  <a:pt x="815" y="772"/>
                  <a:pt x="793" y="793"/>
                </a:cubicBezTo>
                <a:cubicBezTo>
                  <a:pt x="772" y="815"/>
                  <a:pt x="748" y="834"/>
                  <a:pt x="723" y="851"/>
                </a:cubicBezTo>
                <a:cubicBezTo>
                  <a:pt x="697" y="868"/>
                  <a:pt x="671" y="882"/>
                  <a:pt x="643" y="894"/>
                </a:cubicBezTo>
                <a:cubicBezTo>
                  <a:pt x="614" y="906"/>
                  <a:pt x="585" y="914"/>
                  <a:pt x="555" y="920"/>
                </a:cubicBezTo>
                <a:cubicBezTo>
                  <a:pt x="526" y="926"/>
                  <a:pt x="495" y="929"/>
                  <a:pt x="465" y="929"/>
                </a:cubicBezTo>
                <a:cubicBezTo>
                  <a:pt x="434" y="929"/>
                  <a:pt x="404" y="926"/>
                  <a:pt x="373" y="920"/>
                </a:cubicBezTo>
                <a:cubicBezTo>
                  <a:pt x="343" y="914"/>
                  <a:pt x="314" y="906"/>
                  <a:pt x="286" y="894"/>
                </a:cubicBezTo>
                <a:cubicBezTo>
                  <a:pt x="258" y="882"/>
                  <a:pt x="231" y="868"/>
                  <a:pt x="206" y="851"/>
                </a:cubicBezTo>
                <a:cubicBezTo>
                  <a:pt x="181" y="834"/>
                  <a:pt x="157" y="815"/>
                  <a:pt x="136" y="793"/>
                </a:cubicBezTo>
                <a:cubicBezTo>
                  <a:pt x="114" y="772"/>
                  <a:pt x="95" y="748"/>
                  <a:pt x="78" y="723"/>
                </a:cubicBezTo>
                <a:cubicBezTo>
                  <a:pt x="61" y="698"/>
                  <a:pt x="47" y="671"/>
                  <a:pt x="35" y="643"/>
                </a:cubicBezTo>
                <a:cubicBezTo>
                  <a:pt x="23" y="615"/>
                  <a:pt x="14" y="586"/>
                  <a:pt x="9" y="556"/>
                </a:cubicBezTo>
                <a:cubicBezTo>
                  <a:pt x="3" y="526"/>
                  <a:pt x="0" y="496"/>
                  <a:pt x="0" y="465"/>
                </a:cubicBezTo>
                <a:cubicBezTo>
                  <a:pt x="0" y="435"/>
                  <a:pt x="3" y="404"/>
                  <a:pt x="9" y="375"/>
                </a:cubicBezTo>
                <a:cubicBezTo>
                  <a:pt x="14" y="345"/>
                  <a:pt x="23" y="316"/>
                  <a:pt x="35" y="287"/>
                </a:cubicBezTo>
                <a:cubicBezTo>
                  <a:pt x="47" y="259"/>
                  <a:pt x="61" y="233"/>
                  <a:pt x="78" y="207"/>
                </a:cubicBezTo>
                <a:cubicBezTo>
                  <a:pt x="95" y="182"/>
                  <a:pt x="114" y="157"/>
                  <a:pt x="136" y="136"/>
                </a:cubicBezTo>
                <a:cubicBezTo>
                  <a:pt x="157" y="114"/>
                  <a:pt x="181" y="95"/>
                  <a:pt x="206" y="78"/>
                </a:cubicBezTo>
                <a:cubicBezTo>
                  <a:pt x="231" y="61"/>
                  <a:pt x="258" y="47"/>
                  <a:pt x="286" y="35"/>
                </a:cubicBezTo>
                <a:cubicBezTo>
                  <a:pt x="314" y="24"/>
                  <a:pt x="343" y="15"/>
                  <a:pt x="373" y="9"/>
                </a:cubicBezTo>
                <a:cubicBezTo>
                  <a:pt x="404" y="3"/>
                  <a:pt x="434" y="0"/>
                  <a:pt x="465" y="0"/>
                </a:cubicBezTo>
                <a:cubicBezTo>
                  <a:pt x="495" y="0"/>
                  <a:pt x="526" y="3"/>
                  <a:pt x="555" y="9"/>
                </a:cubicBezTo>
                <a:cubicBezTo>
                  <a:pt x="585" y="15"/>
                  <a:pt x="614" y="24"/>
                  <a:pt x="643" y="35"/>
                </a:cubicBezTo>
                <a:cubicBezTo>
                  <a:pt x="671" y="47"/>
                  <a:pt x="697" y="61"/>
                  <a:pt x="723" y="78"/>
                </a:cubicBezTo>
                <a:cubicBezTo>
                  <a:pt x="748" y="95"/>
                  <a:pt x="772" y="114"/>
                  <a:pt x="793" y="136"/>
                </a:cubicBezTo>
                <a:cubicBezTo>
                  <a:pt x="815" y="157"/>
                  <a:pt x="834" y="182"/>
                  <a:pt x="851" y="207"/>
                </a:cubicBezTo>
                <a:cubicBezTo>
                  <a:pt x="868" y="233"/>
                  <a:pt x="882" y="259"/>
                  <a:pt x="894" y="287"/>
                </a:cubicBezTo>
                <a:cubicBezTo>
                  <a:pt x="905" y="316"/>
                  <a:pt x="914" y="345"/>
                  <a:pt x="920" y="375"/>
                </a:cubicBezTo>
                <a:cubicBezTo>
                  <a:pt x="926" y="404"/>
                  <a:pt x="929" y="435"/>
                  <a:pt x="929" y="465"/>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345" name="図 344"/>
          <p:cNvPicPr/>
          <p:nvPr/>
        </p:nvPicPr>
        <p:blipFill>
          <a:blip r:embed="rId8"/>
          <a:stretch/>
        </p:blipFill>
        <p:spPr>
          <a:xfrm>
            <a:off x="7487640" y="4546080"/>
            <a:ext cx="116640" cy="133200"/>
          </a:xfrm>
          <a:prstGeom prst="rect">
            <a:avLst/>
          </a:prstGeom>
          <a:noFill/>
          <a:ln w="0">
            <a:noFill/>
          </a:ln>
        </p:spPr>
      </p:pic>
      <p:sp>
        <p:nvSpPr>
          <p:cNvPr id="346" name="テキスト ボックス 345"/>
          <p:cNvSpPr txBox="1"/>
          <p:nvPr/>
        </p:nvSpPr>
        <p:spPr>
          <a:xfrm>
            <a:off x="7810560" y="4146120"/>
            <a:ext cx="6714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制御環境下</a:t>
            </a:r>
            <a:endParaRPr lang="en-US" sz="1050" b="0" u="none" strike="noStrike">
              <a:solidFill>
                <a:srgbClr val="000000"/>
              </a:solidFill>
              <a:effectLst/>
              <a:uFillTx/>
              <a:latin typeface="Times New Roman"/>
            </a:endParaRPr>
          </a:p>
        </p:txBody>
      </p:sp>
      <p:sp>
        <p:nvSpPr>
          <p:cNvPr id="347" name="テキスト ボックス 346"/>
          <p:cNvSpPr txBox="1"/>
          <p:nvPr/>
        </p:nvSpPr>
        <p:spPr>
          <a:xfrm>
            <a:off x="7810560" y="4447080"/>
            <a:ext cx="805320" cy="194040"/>
          </a:xfrm>
          <a:prstGeom prst="rect">
            <a:avLst/>
          </a:prstGeom>
          <a:noFill/>
          <a:ln w="0">
            <a:noFill/>
          </a:ln>
        </p:spPr>
        <p:txBody>
          <a:bodyPr wrap="none" lIns="0" tIns="0" rIns="0" bIns="0" anchor="t">
            <a:spAutoFit/>
          </a:bodyPr>
          <a:lstStyle/>
          <a:p>
            <a:r>
              <a:rPr lang="zh-CN" sz="1050" b="0" u="none" strike="noStrike">
                <a:solidFill>
                  <a:srgbClr val="4B5563"/>
                </a:solidFill>
                <a:effectLst/>
                <a:uFillTx/>
                <a:latin typeface="NotoSansJP"/>
                <a:ea typeface="NotoSansJP"/>
              </a:rPr>
              <a:t>測定対象ガス</a:t>
            </a:r>
            <a:endParaRPr lang="en-US" sz="1050" b="0" u="none" strike="noStrike">
              <a:solidFill>
                <a:srgbClr val="000000"/>
              </a:solidFill>
              <a:effectLst/>
              <a:uFillTx/>
              <a:latin typeface="Times New Roman"/>
            </a:endParaRPr>
          </a:p>
        </p:txBody>
      </p:sp>
      <p:sp>
        <p:nvSpPr>
          <p:cNvPr id="348" name="テキスト ボックス 347"/>
          <p:cNvSpPr txBox="1"/>
          <p:nvPr/>
        </p:nvSpPr>
        <p:spPr>
          <a:xfrm>
            <a:off x="7810560" y="4647600"/>
            <a:ext cx="170136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トリメチルアミン（</a:t>
            </a:r>
            <a:r>
              <a:rPr lang="en-US" sz="1050" b="0" u="none" strike="noStrike">
                <a:solidFill>
                  <a:srgbClr val="000000"/>
                </a:solidFill>
                <a:effectLst/>
                <a:uFillTx/>
                <a:latin typeface="NotoSansJP"/>
                <a:ea typeface="NotoSansJP"/>
              </a:rPr>
              <a:t>TMA</a:t>
            </a:r>
            <a:r>
              <a:rPr lang="zh-CN" sz="1050" b="0" u="none" strike="noStrike">
                <a:solidFill>
                  <a:srgbClr val="000000"/>
                </a:solidFill>
                <a:effectLst/>
                <a:uFillTx/>
                <a:latin typeface="NotoSansJP"/>
                <a:ea typeface="NotoSansJP"/>
              </a:rPr>
              <a:t>）</a:t>
            </a:r>
            <a:endParaRPr lang="en-US" sz="105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9" name="図 348"/>
          <p:cNvPicPr/>
          <p:nvPr/>
        </p:nvPicPr>
        <p:blipFill>
          <a:blip r:embed="rId2"/>
          <a:stretch/>
        </p:blipFill>
        <p:spPr>
          <a:xfrm>
            <a:off x="0" y="0"/>
            <a:ext cx="10696320" cy="6016320"/>
          </a:xfrm>
          <a:prstGeom prst="rect">
            <a:avLst/>
          </a:prstGeom>
          <a:noFill/>
          <a:ln w="0">
            <a:noFill/>
          </a:ln>
        </p:spPr>
      </p:pic>
      <p:sp>
        <p:nvSpPr>
          <p:cNvPr id="350" name="フリーフォーム: 図形 349"/>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51" name="フリーフォーム: 図形 350"/>
          <p:cNvSpPr/>
          <p:nvPr/>
        </p:nvSpPr>
        <p:spPr>
          <a:xfrm>
            <a:off x="267120" y="869040"/>
            <a:ext cx="6710760" cy="5114520"/>
          </a:xfrm>
          <a:custGeom>
            <a:avLst/>
            <a:gdLst/>
            <a:ahLst/>
            <a:cxnLst/>
            <a:rect l="0" t="0" r="r" b="b"/>
            <a:pathLst>
              <a:path w="18641" h="14207">
                <a:moveTo>
                  <a:pt x="0" y="14021"/>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8456" y="0"/>
                </a:lnTo>
                <a:cubicBezTo>
                  <a:pt x="18468" y="0"/>
                  <a:pt x="18480" y="1"/>
                  <a:pt x="18492" y="3"/>
                </a:cubicBezTo>
                <a:cubicBezTo>
                  <a:pt x="18504" y="6"/>
                  <a:pt x="18515" y="9"/>
                  <a:pt x="18527" y="14"/>
                </a:cubicBezTo>
                <a:cubicBezTo>
                  <a:pt x="18538" y="18"/>
                  <a:pt x="18549" y="24"/>
                  <a:pt x="18559" y="31"/>
                </a:cubicBezTo>
                <a:cubicBezTo>
                  <a:pt x="18569" y="38"/>
                  <a:pt x="18578" y="45"/>
                  <a:pt x="18587" y="54"/>
                </a:cubicBezTo>
                <a:cubicBezTo>
                  <a:pt x="18596" y="63"/>
                  <a:pt x="18603" y="72"/>
                  <a:pt x="18610" y="82"/>
                </a:cubicBezTo>
                <a:cubicBezTo>
                  <a:pt x="18617" y="92"/>
                  <a:pt x="18623" y="103"/>
                  <a:pt x="18627" y="114"/>
                </a:cubicBezTo>
                <a:cubicBezTo>
                  <a:pt x="18632" y="126"/>
                  <a:pt x="18635" y="137"/>
                  <a:pt x="18638" y="149"/>
                </a:cubicBezTo>
                <a:cubicBezTo>
                  <a:pt x="18640" y="161"/>
                  <a:pt x="18641" y="173"/>
                  <a:pt x="18641" y="185"/>
                </a:cubicBezTo>
                <a:lnTo>
                  <a:pt x="18641" y="14021"/>
                </a:lnTo>
                <a:cubicBezTo>
                  <a:pt x="18641" y="14034"/>
                  <a:pt x="18640" y="14046"/>
                  <a:pt x="18638" y="14058"/>
                </a:cubicBezTo>
                <a:cubicBezTo>
                  <a:pt x="18635" y="14070"/>
                  <a:pt x="18632" y="14081"/>
                  <a:pt x="18627" y="14092"/>
                </a:cubicBezTo>
                <a:cubicBezTo>
                  <a:pt x="18623" y="14104"/>
                  <a:pt x="18617" y="14114"/>
                  <a:pt x="18610" y="14125"/>
                </a:cubicBezTo>
                <a:cubicBezTo>
                  <a:pt x="18603" y="14135"/>
                  <a:pt x="18596" y="14144"/>
                  <a:pt x="18587" y="14153"/>
                </a:cubicBezTo>
                <a:cubicBezTo>
                  <a:pt x="18578" y="14161"/>
                  <a:pt x="18569" y="14169"/>
                  <a:pt x="18559" y="14176"/>
                </a:cubicBezTo>
                <a:cubicBezTo>
                  <a:pt x="18549" y="14183"/>
                  <a:pt x="18538" y="14188"/>
                  <a:pt x="18527" y="14193"/>
                </a:cubicBezTo>
                <a:cubicBezTo>
                  <a:pt x="18515" y="14198"/>
                  <a:pt x="18504" y="14201"/>
                  <a:pt x="18492" y="14203"/>
                </a:cubicBezTo>
                <a:cubicBezTo>
                  <a:pt x="18480" y="14206"/>
                  <a:pt x="18468" y="14207"/>
                  <a:pt x="18456" y="14207"/>
                </a:cubicBezTo>
                <a:lnTo>
                  <a:pt x="186" y="14207"/>
                </a:lnTo>
                <a:cubicBezTo>
                  <a:pt x="174" y="14207"/>
                  <a:pt x="162" y="14206"/>
                  <a:pt x="150" y="14203"/>
                </a:cubicBezTo>
                <a:cubicBezTo>
                  <a:pt x="138" y="14201"/>
                  <a:pt x="126" y="14198"/>
                  <a:pt x="115" y="14193"/>
                </a:cubicBezTo>
                <a:cubicBezTo>
                  <a:pt x="104" y="14188"/>
                  <a:pt x="93" y="14183"/>
                  <a:pt x="83" y="14176"/>
                </a:cubicBezTo>
                <a:cubicBezTo>
                  <a:pt x="73" y="14169"/>
                  <a:pt x="63" y="14161"/>
                  <a:pt x="55" y="14153"/>
                </a:cubicBezTo>
                <a:cubicBezTo>
                  <a:pt x="46" y="14144"/>
                  <a:pt x="38" y="14135"/>
                  <a:pt x="32" y="14125"/>
                </a:cubicBezTo>
                <a:cubicBezTo>
                  <a:pt x="25" y="14114"/>
                  <a:pt x="19" y="14104"/>
                  <a:pt x="14" y="14092"/>
                </a:cubicBezTo>
                <a:cubicBezTo>
                  <a:pt x="10" y="14081"/>
                  <a:pt x="6" y="14070"/>
                  <a:pt x="4" y="14058"/>
                </a:cubicBezTo>
                <a:cubicBezTo>
                  <a:pt x="2" y="14046"/>
                  <a:pt x="0" y="14034"/>
                  <a:pt x="0" y="14021"/>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52" name="図 351"/>
          <p:cNvPicPr/>
          <p:nvPr/>
        </p:nvPicPr>
        <p:blipFill>
          <a:blip r:embed="rId3"/>
          <a:stretch/>
        </p:blipFill>
        <p:spPr>
          <a:xfrm>
            <a:off x="401040" y="1002960"/>
            <a:ext cx="6442560" cy="4846680"/>
          </a:xfrm>
          <a:prstGeom prst="rect">
            <a:avLst/>
          </a:prstGeom>
          <a:noFill/>
          <a:ln w="0">
            <a:noFill/>
          </a:ln>
        </p:spPr>
      </p:pic>
      <p:sp>
        <p:nvSpPr>
          <p:cNvPr id="353" name="フリーフォーム: 図形 352"/>
          <p:cNvSpPr/>
          <p:nvPr/>
        </p:nvSpPr>
        <p:spPr>
          <a:xfrm>
            <a:off x="7178400" y="869040"/>
            <a:ext cx="3250800" cy="2841480"/>
          </a:xfrm>
          <a:custGeom>
            <a:avLst/>
            <a:gdLst/>
            <a:ahLst/>
            <a:cxnLst/>
            <a:rect l="0" t="0" r="r" b="b"/>
            <a:pathLst>
              <a:path w="9030" h="7893">
                <a:moveTo>
                  <a:pt x="0" y="7707"/>
                </a:moveTo>
                <a:lnTo>
                  <a:pt x="0" y="185"/>
                </a:lnTo>
                <a:cubicBezTo>
                  <a:pt x="0" y="173"/>
                  <a:pt x="1" y="161"/>
                  <a:pt x="3" y="149"/>
                </a:cubicBezTo>
                <a:cubicBezTo>
                  <a:pt x="5" y="137"/>
                  <a:pt x="9" y="126"/>
                  <a:pt x="14" y="114"/>
                </a:cubicBezTo>
                <a:cubicBezTo>
                  <a:pt x="18" y="103"/>
                  <a:pt x="24" y="92"/>
                  <a:pt x="31" y="82"/>
                </a:cubicBezTo>
                <a:cubicBezTo>
                  <a:pt x="38" y="72"/>
                  <a:pt x="45" y="63"/>
                  <a:pt x="54" y="54"/>
                </a:cubicBezTo>
                <a:cubicBezTo>
                  <a:pt x="63" y="45"/>
                  <a:pt x="72" y="38"/>
                  <a:pt x="82" y="31"/>
                </a:cubicBezTo>
                <a:cubicBezTo>
                  <a:pt x="92" y="24"/>
                  <a:pt x="103" y="18"/>
                  <a:pt x="114" y="14"/>
                </a:cubicBezTo>
                <a:cubicBezTo>
                  <a:pt x="125" y="9"/>
                  <a:pt x="137" y="6"/>
                  <a:pt x="149" y="3"/>
                </a:cubicBezTo>
                <a:cubicBezTo>
                  <a:pt x="161" y="1"/>
                  <a:pt x="173" y="0"/>
                  <a:pt x="185" y="0"/>
                </a:cubicBezTo>
                <a:lnTo>
                  <a:pt x="8845" y="0"/>
                </a:lnTo>
                <a:cubicBezTo>
                  <a:pt x="8857" y="0"/>
                  <a:pt x="8869" y="1"/>
                  <a:pt x="8881" y="3"/>
                </a:cubicBezTo>
                <a:cubicBezTo>
                  <a:pt x="8893" y="6"/>
                  <a:pt x="8904" y="9"/>
                  <a:pt x="8916" y="14"/>
                </a:cubicBezTo>
                <a:cubicBezTo>
                  <a:pt x="8927" y="18"/>
                  <a:pt x="8938" y="24"/>
                  <a:pt x="8948" y="31"/>
                </a:cubicBezTo>
                <a:cubicBezTo>
                  <a:pt x="8958" y="38"/>
                  <a:pt x="8967" y="45"/>
                  <a:pt x="8976" y="54"/>
                </a:cubicBezTo>
                <a:cubicBezTo>
                  <a:pt x="8985" y="63"/>
                  <a:pt x="8992" y="72"/>
                  <a:pt x="8999" y="82"/>
                </a:cubicBezTo>
                <a:cubicBezTo>
                  <a:pt x="9006" y="92"/>
                  <a:pt x="9012" y="103"/>
                  <a:pt x="9016" y="114"/>
                </a:cubicBezTo>
                <a:cubicBezTo>
                  <a:pt x="9021" y="126"/>
                  <a:pt x="9024" y="137"/>
                  <a:pt x="9027" y="149"/>
                </a:cubicBezTo>
                <a:cubicBezTo>
                  <a:pt x="9029" y="161"/>
                  <a:pt x="9030" y="173"/>
                  <a:pt x="9030" y="185"/>
                </a:cubicBezTo>
                <a:lnTo>
                  <a:pt x="9030" y="7707"/>
                </a:lnTo>
                <a:cubicBezTo>
                  <a:pt x="9030" y="7720"/>
                  <a:pt x="9029" y="7732"/>
                  <a:pt x="9027" y="7744"/>
                </a:cubicBezTo>
                <a:cubicBezTo>
                  <a:pt x="9024" y="7756"/>
                  <a:pt x="9021" y="7767"/>
                  <a:pt x="9016" y="7778"/>
                </a:cubicBezTo>
                <a:cubicBezTo>
                  <a:pt x="9012" y="7790"/>
                  <a:pt x="9006" y="7800"/>
                  <a:pt x="8999" y="7811"/>
                </a:cubicBezTo>
                <a:cubicBezTo>
                  <a:pt x="8992" y="7821"/>
                  <a:pt x="8985" y="7830"/>
                  <a:pt x="8976" y="7839"/>
                </a:cubicBezTo>
                <a:cubicBezTo>
                  <a:pt x="8967" y="7847"/>
                  <a:pt x="8958" y="7855"/>
                  <a:pt x="8948" y="7862"/>
                </a:cubicBezTo>
                <a:cubicBezTo>
                  <a:pt x="8938" y="7869"/>
                  <a:pt x="8927" y="7874"/>
                  <a:pt x="8916" y="7879"/>
                </a:cubicBezTo>
                <a:cubicBezTo>
                  <a:pt x="8904" y="7884"/>
                  <a:pt x="8893" y="7887"/>
                  <a:pt x="8881" y="7890"/>
                </a:cubicBezTo>
                <a:cubicBezTo>
                  <a:pt x="8869" y="7892"/>
                  <a:pt x="8857" y="7893"/>
                  <a:pt x="8845" y="7893"/>
                </a:cubicBezTo>
                <a:lnTo>
                  <a:pt x="185" y="7893"/>
                </a:lnTo>
                <a:cubicBezTo>
                  <a:pt x="173" y="7893"/>
                  <a:pt x="161" y="7892"/>
                  <a:pt x="149" y="7890"/>
                </a:cubicBezTo>
                <a:cubicBezTo>
                  <a:pt x="137" y="7887"/>
                  <a:pt x="125" y="7884"/>
                  <a:pt x="114" y="7879"/>
                </a:cubicBezTo>
                <a:cubicBezTo>
                  <a:pt x="103" y="7874"/>
                  <a:pt x="92" y="7869"/>
                  <a:pt x="82" y="7862"/>
                </a:cubicBezTo>
                <a:cubicBezTo>
                  <a:pt x="72" y="7855"/>
                  <a:pt x="63" y="7847"/>
                  <a:pt x="54" y="7839"/>
                </a:cubicBezTo>
                <a:cubicBezTo>
                  <a:pt x="45" y="7830"/>
                  <a:pt x="38" y="7821"/>
                  <a:pt x="31" y="7811"/>
                </a:cubicBezTo>
                <a:cubicBezTo>
                  <a:pt x="24" y="7800"/>
                  <a:pt x="18" y="7790"/>
                  <a:pt x="14" y="7778"/>
                </a:cubicBezTo>
                <a:cubicBezTo>
                  <a:pt x="9" y="7767"/>
                  <a:pt x="5" y="7756"/>
                  <a:pt x="3" y="7744"/>
                </a:cubicBezTo>
                <a:cubicBezTo>
                  <a:pt x="1" y="7732"/>
                  <a:pt x="0" y="7720"/>
                  <a:pt x="0" y="7707"/>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4" name="フリーフォーム: 図形 353"/>
          <p:cNvSpPr/>
          <p:nvPr/>
        </p:nvSpPr>
        <p:spPr>
          <a:xfrm>
            <a:off x="7378920" y="1470600"/>
            <a:ext cx="2849760" cy="668880"/>
          </a:xfrm>
          <a:custGeom>
            <a:avLst/>
            <a:gdLst/>
            <a:ahLst/>
            <a:cxnLst/>
            <a:rect l="0" t="0" r="r" b="b"/>
            <a:pathLst>
              <a:path w="7916" h="1858">
                <a:moveTo>
                  <a:pt x="0" y="0"/>
                </a:moveTo>
                <a:lnTo>
                  <a:pt x="7916" y="0"/>
                </a:lnTo>
                <a:lnTo>
                  <a:pt x="7916" y="1858"/>
                </a:lnTo>
                <a:lnTo>
                  <a:pt x="0" y="1858"/>
                </a:lnTo>
                <a:lnTo>
                  <a:pt x="0" y="0"/>
                </a:lnTo>
                <a:close/>
              </a:path>
            </a:pathLst>
          </a:custGeom>
          <a:solidFill>
            <a:srgbClr val="66CC99">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5" name="フリーフォーム: 図形 354"/>
          <p:cNvSpPr/>
          <p:nvPr/>
        </p:nvSpPr>
        <p:spPr>
          <a:xfrm>
            <a:off x="7378920" y="1470600"/>
            <a:ext cx="33480" cy="668880"/>
          </a:xfrm>
          <a:custGeom>
            <a:avLst/>
            <a:gdLst/>
            <a:ahLst/>
            <a:cxnLst/>
            <a:rect l="0" t="0" r="r" b="b"/>
            <a:pathLst>
              <a:path w="93" h="1858">
                <a:moveTo>
                  <a:pt x="0" y="0"/>
                </a:moveTo>
                <a:lnTo>
                  <a:pt x="93" y="0"/>
                </a:lnTo>
                <a:lnTo>
                  <a:pt x="93" y="1858"/>
                </a:lnTo>
                <a:lnTo>
                  <a:pt x="0" y="1858"/>
                </a:lnTo>
                <a:lnTo>
                  <a:pt x="0" y="0"/>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6" name="フリーフォーム: 図形 355"/>
          <p:cNvSpPr/>
          <p:nvPr/>
        </p:nvSpPr>
        <p:spPr>
          <a:xfrm>
            <a:off x="7378920" y="2272680"/>
            <a:ext cx="2849760" cy="668880"/>
          </a:xfrm>
          <a:custGeom>
            <a:avLst/>
            <a:gdLst/>
            <a:ahLst/>
            <a:cxnLst/>
            <a:rect l="0" t="0" r="r" b="b"/>
            <a:pathLst>
              <a:path w="7916" h="1858">
                <a:moveTo>
                  <a:pt x="0" y="0"/>
                </a:moveTo>
                <a:lnTo>
                  <a:pt x="7916" y="0"/>
                </a:lnTo>
                <a:lnTo>
                  <a:pt x="7916" y="1858"/>
                </a:lnTo>
                <a:lnTo>
                  <a:pt x="0" y="1858"/>
                </a:lnTo>
                <a:lnTo>
                  <a:pt x="0" y="0"/>
                </a:lnTo>
                <a:close/>
              </a:path>
            </a:pathLst>
          </a:custGeom>
          <a:solidFill>
            <a:srgbClr val="66CC99">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7" name="フリーフォーム: 図形 356"/>
          <p:cNvSpPr/>
          <p:nvPr/>
        </p:nvSpPr>
        <p:spPr>
          <a:xfrm>
            <a:off x="7378920" y="2272680"/>
            <a:ext cx="33480" cy="668880"/>
          </a:xfrm>
          <a:custGeom>
            <a:avLst/>
            <a:gdLst/>
            <a:ahLst/>
            <a:cxnLst/>
            <a:rect l="0" t="0" r="r" b="b"/>
            <a:pathLst>
              <a:path w="93" h="1858">
                <a:moveTo>
                  <a:pt x="0" y="0"/>
                </a:moveTo>
                <a:lnTo>
                  <a:pt x="93" y="0"/>
                </a:lnTo>
                <a:lnTo>
                  <a:pt x="93" y="1858"/>
                </a:lnTo>
                <a:lnTo>
                  <a:pt x="0" y="1858"/>
                </a:lnTo>
                <a:lnTo>
                  <a:pt x="0" y="0"/>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8" name="フリーフォーム: 図形 357"/>
          <p:cNvSpPr/>
          <p:nvPr/>
        </p:nvSpPr>
        <p:spPr>
          <a:xfrm>
            <a:off x="7378920" y="3075120"/>
            <a:ext cx="2849760" cy="434880"/>
          </a:xfrm>
          <a:custGeom>
            <a:avLst/>
            <a:gdLst/>
            <a:ahLst/>
            <a:cxnLst/>
            <a:rect l="0" t="0" r="r" b="b"/>
            <a:pathLst>
              <a:path w="7916" h="1208">
                <a:moveTo>
                  <a:pt x="0" y="0"/>
                </a:moveTo>
                <a:lnTo>
                  <a:pt x="7916" y="0"/>
                </a:lnTo>
                <a:lnTo>
                  <a:pt x="7916" y="1208"/>
                </a:lnTo>
                <a:lnTo>
                  <a:pt x="0" y="1208"/>
                </a:lnTo>
                <a:lnTo>
                  <a:pt x="0" y="0"/>
                </a:lnTo>
                <a:close/>
              </a:path>
            </a:pathLst>
          </a:custGeom>
          <a:solidFill>
            <a:srgbClr val="66CC99">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9" name="フリーフォーム: 図形 358"/>
          <p:cNvSpPr/>
          <p:nvPr/>
        </p:nvSpPr>
        <p:spPr>
          <a:xfrm>
            <a:off x="7378920" y="3075120"/>
            <a:ext cx="33480" cy="434880"/>
          </a:xfrm>
          <a:custGeom>
            <a:avLst/>
            <a:gdLst/>
            <a:ahLst/>
            <a:cxnLst/>
            <a:rect l="0" t="0" r="r" b="b"/>
            <a:pathLst>
              <a:path w="93" h="1208">
                <a:moveTo>
                  <a:pt x="0" y="0"/>
                </a:moveTo>
                <a:lnTo>
                  <a:pt x="93" y="0"/>
                </a:lnTo>
                <a:lnTo>
                  <a:pt x="93" y="1208"/>
                </a:lnTo>
                <a:lnTo>
                  <a:pt x="0" y="1208"/>
                </a:lnTo>
                <a:lnTo>
                  <a:pt x="0" y="0"/>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60" name="図 359"/>
          <p:cNvPicPr/>
          <p:nvPr/>
        </p:nvPicPr>
        <p:blipFill>
          <a:blip r:embed="rId4"/>
          <a:stretch/>
        </p:blipFill>
        <p:spPr>
          <a:xfrm>
            <a:off x="7378920" y="1103040"/>
            <a:ext cx="200160" cy="200160"/>
          </a:xfrm>
          <a:prstGeom prst="rect">
            <a:avLst/>
          </a:prstGeom>
          <a:noFill/>
          <a:ln w="0">
            <a:noFill/>
          </a:ln>
        </p:spPr>
      </p:pic>
      <p:sp>
        <p:nvSpPr>
          <p:cNvPr id="361" name="テキスト ボックス 360"/>
          <p:cNvSpPr txBox="1"/>
          <p:nvPr/>
        </p:nvSpPr>
        <p:spPr>
          <a:xfrm>
            <a:off x="334440" y="155520"/>
            <a:ext cx="495216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低濃度領域の検量線</a:t>
            </a:r>
            <a:r>
              <a:rPr lang="en-US" sz="2370" b="0" u="none" strike="noStrike">
                <a:solidFill>
                  <a:srgbClr val="FFFFFF"/>
                </a:solidFill>
                <a:effectLst/>
                <a:uFillTx/>
                <a:latin typeface="NotoSansJP"/>
                <a:ea typeface="NotoSansJP"/>
              </a:rPr>
              <a:t>(0.06-0.1ppm)</a:t>
            </a:r>
            <a:endParaRPr lang="en-US" sz="2370" b="0" u="none" strike="noStrike">
              <a:solidFill>
                <a:srgbClr val="000000"/>
              </a:solidFill>
              <a:effectLst/>
              <a:uFillTx/>
              <a:latin typeface="Times New Roman"/>
            </a:endParaRPr>
          </a:p>
        </p:txBody>
      </p:sp>
      <p:pic>
        <p:nvPicPr>
          <p:cNvPr id="362" name="図 361"/>
          <p:cNvPicPr/>
          <p:nvPr/>
        </p:nvPicPr>
        <p:blipFill>
          <a:blip r:embed="rId5"/>
          <a:stretch/>
        </p:blipFill>
        <p:spPr>
          <a:xfrm>
            <a:off x="7512840" y="1604520"/>
            <a:ext cx="133200" cy="133200"/>
          </a:xfrm>
          <a:prstGeom prst="rect">
            <a:avLst/>
          </a:prstGeom>
          <a:noFill/>
          <a:ln w="0">
            <a:noFill/>
          </a:ln>
        </p:spPr>
      </p:pic>
      <p:sp>
        <p:nvSpPr>
          <p:cNvPr id="363" name="テキスト ボックス 362"/>
          <p:cNvSpPr txBox="1"/>
          <p:nvPr/>
        </p:nvSpPr>
        <p:spPr>
          <a:xfrm>
            <a:off x="7677000" y="1100880"/>
            <a:ext cx="120780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検量線の特徴</a:t>
            </a:r>
            <a:endParaRPr lang="en-US" sz="1580" b="0" u="none" strike="noStrike">
              <a:solidFill>
                <a:srgbClr val="000000"/>
              </a:solidFill>
              <a:effectLst/>
              <a:uFillTx/>
              <a:latin typeface="Times New Roman"/>
            </a:endParaRPr>
          </a:p>
        </p:txBody>
      </p:sp>
      <p:sp>
        <p:nvSpPr>
          <p:cNvPr id="364" name="テキスト ボックス 363"/>
          <p:cNvSpPr txBox="1"/>
          <p:nvPr/>
        </p:nvSpPr>
        <p:spPr>
          <a:xfrm>
            <a:off x="7710480" y="1615320"/>
            <a:ext cx="236952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0.01ppm</a:t>
            </a:r>
            <a:r>
              <a:rPr lang="zh-CN" sz="1180" b="0" u="none" strike="noStrike">
                <a:solidFill>
                  <a:srgbClr val="000000"/>
                </a:solidFill>
                <a:effectLst/>
                <a:uFillTx/>
                <a:latin typeface="NotoSansJP"/>
                <a:ea typeface="NotoSansJP"/>
              </a:rPr>
              <a:t>間隔での高感度測定が可</a:t>
            </a:r>
            <a:endParaRPr lang="en-US" sz="1180" b="0" u="none" strike="noStrike">
              <a:solidFill>
                <a:srgbClr val="000000"/>
              </a:solidFill>
              <a:effectLst/>
              <a:uFillTx/>
              <a:latin typeface="Times New Roman"/>
            </a:endParaRPr>
          </a:p>
        </p:txBody>
      </p:sp>
      <p:pic>
        <p:nvPicPr>
          <p:cNvPr id="365" name="図 364"/>
          <p:cNvPicPr/>
          <p:nvPr/>
        </p:nvPicPr>
        <p:blipFill>
          <a:blip r:embed="rId6"/>
          <a:stretch/>
        </p:blipFill>
        <p:spPr>
          <a:xfrm>
            <a:off x="7512840" y="2406600"/>
            <a:ext cx="133200" cy="133200"/>
          </a:xfrm>
          <a:prstGeom prst="rect">
            <a:avLst/>
          </a:prstGeom>
          <a:noFill/>
          <a:ln w="0">
            <a:noFill/>
          </a:ln>
        </p:spPr>
      </p:pic>
      <p:sp>
        <p:nvSpPr>
          <p:cNvPr id="366" name="テキスト ボックス 365"/>
          <p:cNvSpPr txBox="1"/>
          <p:nvPr/>
        </p:nvSpPr>
        <p:spPr>
          <a:xfrm>
            <a:off x="7710480" y="1849320"/>
            <a:ext cx="1515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能</a:t>
            </a:r>
            <a:endParaRPr lang="en-US" sz="1180" b="0" u="none" strike="noStrike">
              <a:solidFill>
                <a:srgbClr val="000000"/>
              </a:solidFill>
              <a:effectLst/>
              <a:uFillTx/>
              <a:latin typeface="Times New Roman"/>
            </a:endParaRPr>
          </a:p>
        </p:txBody>
      </p:sp>
      <p:sp>
        <p:nvSpPr>
          <p:cNvPr id="367" name="テキスト ボックス 366"/>
          <p:cNvSpPr txBox="1"/>
          <p:nvPr/>
        </p:nvSpPr>
        <p:spPr>
          <a:xfrm>
            <a:off x="7710480" y="2417400"/>
            <a:ext cx="25239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低濃度領域</a:t>
            </a:r>
            <a:r>
              <a:rPr lang="en-US" sz="1180" b="0" u="none" strike="noStrike">
                <a:solidFill>
                  <a:srgbClr val="000000"/>
                </a:solidFill>
                <a:effectLst/>
                <a:uFillTx/>
                <a:latin typeface="NotoSansJP"/>
                <a:ea typeface="NotoSansJP"/>
              </a:rPr>
              <a:t>(0.06-0.1ppm)</a:t>
            </a:r>
            <a:r>
              <a:rPr lang="zh-CN" sz="1180" b="0" u="none" strike="noStrike">
                <a:solidFill>
                  <a:srgbClr val="000000"/>
                </a:solidFill>
                <a:effectLst/>
                <a:uFillTx/>
                <a:latin typeface="NotoSansJP"/>
                <a:ea typeface="NotoSansJP"/>
              </a:rPr>
              <a:t>で良好な</a:t>
            </a:r>
            <a:endParaRPr lang="en-US" sz="1180" b="0" u="none" strike="noStrike">
              <a:solidFill>
                <a:srgbClr val="000000"/>
              </a:solidFill>
              <a:effectLst/>
              <a:uFillTx/>
              <a:latin typeface="Times New Roman"/>
            </a:endParaRPr>
          </a:p>
        </p:txBody>
      </p:sp>
      <p:pic>
        <p:nvPicPr>
          <p:cNvPr id="368" name="図 367"/>
          <p:cNvPicPr/>
          <p:nvPr/>
        </p:nvPicPr>
        <p:blipFill>
          <a:blip r:embed="rId7"/>
          <a:stretch/>
        </p:blipFill>
        <p:spPr>
          <a:xfrm>
            <a:off x="7512840" y="3209040"/>
            <a:ext cx="133200" cy="133200"/>
          </a:xfrm>
          <a:prstGeom prst="rect">
            <a:avLst/>
          </a:prstGeom>
          <a:noFill/>
          <a:ln w="0">
            <a:noFill/>
          </a:ln>
        </p:spPr>
      </p:pic>
      <p:sp>
        <p:nvSpPr>
          <p:cNvPr id="369" name="テキスト ボックス 368"/>
          <p:cNvSpPr txBox="1"/>
          <p:nvPr/>
        </p:nvSpPr>
        <p:spPr>
          <a:xfrm>
            <a:off x="7710480" y="2651400"/>
            <a:ext cx="4532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直線性</a:t>
            </a:r>
            <a:endParaRPr lang="en-US" sz="1180" b="0" u="none" strike="noStrike">
              <a:solidFill>
                <a:srgbClr val="000000"/>
              </a:solidFill>
              <a:effectLst/>
              <a:uFillTx/>
              <a:latin typeface="Times New Roman"/>
            </a:endParaRPr>
          </a:p>
        </p:txBody>
      </p:sp>
      <p:sp>
        <p:nvSpPr>
          <p:cNvPr id="370" name="フリーフォーム: 図形 369"/>
          <p:cNvSpPr/>
          <p:nvPr/>
        </p:nvSpPr>
        <p:spPr>
          <a:xfrm>
            <a:off x="7178400" y="4111200"/>
            <a:ext cx="3250800" cy="1872360"/>
          </a:xfrm>
          <a:custGeom>
            <a:avLst/>
            <a:gdLst/>
            <a:ahLst/>
            <a:cxnLst/>
            <a:rect l="0" t="0" r="r" b="b"/>
            <a:pathLst>
              <a:path w="9030" h="5201">
                <a:moveTo>
                  <a:pt x="0" y="5015"/>
                </a:moveTo>
                <a:lnTo>
                  <a:pt x="0" y="186"/>
                </a:lnTo>
                <a:cubicBezTo>
                  <a:pt x="0" y="174"/>
                  <a:pt x="1" y="162"/>
                  <a:pt x="3" y="150"/>
                </a:cubicBezTo>
                <a:cubicBezTo>
                  <a:pt x="5" y="138"/>
                  <a:pt x="9" y="126"/>
                  <a:pt x="14" y="115"/>
                </a:cubicBezTo>
                <a:cubicBezTo>
                  <a:pt x="18" y="104"/>
                  <a:pt x="24" y="93"/>
                  <a:pt x="31" y="83"/>
                </a:cubicBezTo>
                <a:cubicBezTo>
                  <a:pt x="38" y="73"/>
                  <a:pt x="45" y="63"/>
                  <a:pt x="54" y="55"/>
                </a:cubicBezTo>
                <a:cubicBezTo>
                  <a:pt x="63" y="46"/>
                  <a:pt x="72" y="38"/>
                  <a:pt x="82" y="32"/>
                </a:cubicBezTo>
                <a:cubicBezTo>
                  <a:pt x="92" y="25"/>
                  <a:pt x="103" y="19"/>
                  <a:pt x="114" y="14"/>
                </a:cubicBezTo>
                <a:cubicBezTo>
                  <a:pt x="125" y="10"/>
                  <a:pt x="137" y="6"/>
                  <a:pt x="149" y="4"/>
                </a:cubicBezTo>
                <a:cubicBezTo>
                  <a:pt x="161" y="2"/>
                  <a:pt x="173" y="0"/>
                  <a:pt x="185" y="0"/>
                </a:cubicBezTo>
                <a:lnTo>
                  <a:pt x="8845" y="0"/>
                </a:lnTo>
                <a:cubicBezTo>
                  <a:pt x="8857" y="0"/>
                  <a:pt x="8869" y="2"/>
                  <a:pt x="8881" y="4"/>
                </a:cubicBezTo>
                <a:cubicBezTo>
                  <a:pt x="8893" y="6"/>
                  <a:pt x="8904" y="10"/>
                  <a:pt x="8916" y="14"/>
                </a:cubicBezTo>
                <a:cubicBezTo>
                  <a:pt x="8927" y="19"/>
                  <a:pt x="8938" y="25"/>
                  <a:pt x="8948" y="32"/>
                </a:cubicBezTo>
                <a:cubicBezTo>
                  <a:pt x="8958" y="38"/>
                  <a:pt x="8967" y="46"/>
                  <a:pt x="8976" y="55"/>
                </a:cubicBezTo>
                <a:cubicBezTo>
                  <a:pt x="8985" y="63"/>
                  <a:pt x="8992" y="73"/>
                  <a:pt x="8999" y="83"/>
                </a:cubicBezTo>
                <a:cubicBezTo>
                  <a:pt x="9006" y="93"/>
                  <a:pt x="9012" y="104"/>
                  <a:pt x="9016" y="115"/>
                </a:cubicBezTo>
                <a:cubicBezTo>
                  <a:pt x="9021" y="126"/>
                  <a:pt x="9024" y="138"/>
                  <a:pt x="9027" y="150"/>
                </a:cubicBezTo>
                <a:cubicBezTo>
                  <a:pt x="9029" y="162"/>
                  <a:pt x="9030" y="174"/>
                  <a:pt x="9030" y="186"/>
                </a:cubicBezTo>
                <a:lnTo>
                  <a:pt x="9030" y="5015"/>
                </a:lnTo>
                <a:cubicBezTo>
                  <a:pt x="9030" y="5028"/>
                  <a:pt x="9029" y="5040"/>
                  <a:pt x="9027" y="5052"/>
                </a:cubicBezTo>
                <a:cubicBezTo>
                  <a:pt x="9024" y="5064"/>
                  <a:pt x="9021" y="5075"/>
                  <a:pt x="9016" y="5086"/>
                </a:cubicBezTo>
                <a:cubicBezTo>
                  <a:pt x="9012" y="5098"/>
                  <a:pt x="9006" y="5108"/>
                  <a:pt x="8999" y="5119"/>
                </a:cubicBezTo>
                <a:cubicBezTo>
                  <a:pt x="8992" y="5129"/>
                  <a:pt x="8985" y="5138"/>
                  <a:pt x="8976" y="5147"/>
                </a:cubicBezTo>
                <a:cubicBezTo>
                  <a:pt x="8967" y="5155"/>
                  <a:pt x="8958" y="5163"/>
                  <a:pt x="8948" y="5170"/>
                </a:cubicBezTo>
                <a:cubicBezTo>
                  <a:pt x="8938" y="5177"/>
                  <a:pt x="8927" y="5182"/>
                  <a:pt x="8916" y="5187"/>
                </a:cubicBezTo>
                <a:cubicBezTo>
                  <a:pt x="8904" y="5192"/>
                  <a:pt x="8893" y="5195"/>
                  <a:pt x="8881" y="5197"/>
                </a:cubicBezTo>
                <a:cubicBezTo>
                  <a:pt x="8869" y="5200"/>
                  <a:pt x="8857" y="5201"/>
                  <a:pt x="8845" y="5201"/>
                </a:cubicBezTo>
                <a:lnTo>
                  <a:pt x="185" y="5201"/>
                </a:lnTo>
                <a:cubicBezTo>
                  <a:pt x="173" y="5201"/>
                  <a:pt x="161" y="5200"/>
                  <a:pt x="149" y="5197"/>
                </a:cubicBezTo>
                <a:cubicBezTo>
                  <a:pt x="137" y="5195"/>
                  <a:pt x="125" y="5192"/>
                  <a:pt x="114" y="5187"/>
                </a:cubicBezTo>
                <a:cubicBezTo>
                  <a:pt x="103" y="5182"/>
                  <a:pt x="92" y="5177"/>
                  <a:pt x="82" y="5170"/>
                </a:cubicBezTo>
                <a:cubicBezTo>
                  <a:pt x="72" y="5163"/>
                  <a:pt x="63" y="5155"/>
                  <a:pt x="54" y="5147"/>
                </a:cubicBezTo>
                <a:cubicBezTo>
                  <a:pt x="45" y="5138"/>
                  <a:pt x="38" y="5129"/>
                  <a:pt x="31" y="5119"/>
                </a:cubicBezTo>
                <a:cubicBezTo>
                  <a:pt x="24" y="5108"/>
                  <a:pt x="18" y="5098"/>
                  <a:pt x="14" y="5086"/>
                </a:cubicBezTo>
                <a:cubicBezTo>
                  <a:pt x="9" y="5075"/>
                  <a:pt x="5" y="5064"/>
                  <a:pt x="3" y="5052"/>
                </a:cubicBezTo>
                <a:cubicBezTo>
                  <a:pt x="1" y="5040"/>
                  <a:pt x="0" y="5028"/>
                  <a:pt x="0" y="501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71" name="テキスト ボックス 370"/>
          <p:cNvSpPr txBox="1"/>
          <p:nvPr/>
        </p:nvSpPr>
        <p:spPr>
          <a:xfrm>
            <a:off x="7710480" y="3219840"/>
            <a:ext cx="232236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ガス濃度と出力に相関性あり</a:t>
            </a:r>
            <a:endParaRPr lang="en-US" sz="1180" b="0" u="none" strike="noStrike">
              <a:solidFill>
                <a:srgbClr val="000000"/>
              </a:solidFill>
              <a:effectLst/>
              <a:uFillTx/>
              <a:latin typeface="Times New Roman"/>
            </a:endParaRPr>
          </a:p>
        </p:txBody>
      </p:sp>
      <p:sp>
        <p:nvSpPr>
          <p:cNvPr id="372" name="フリーフォーム: 図形 371"/>
          <p:cNvSpPr/>
          <p:nvPr/>
        </p:nvSpPr>
        <p:spPr>
          <a:xfrm>
            <a:off x="7378920" y="4746600"/>
            <a:ext cx="234360" cy="401400"/>
          </a:xfrm>
          <a:custGeom>
            <a:avLst/>
            <a:gdLst/>
            <a:ahLst/>
            <a:cxnLst/>
            <a:rect l="0" t="0" r="r" b="b"/>
            <a:pathLst>
              <a:path w="651" h="1115">
                <a:moveTo>
                  <a:pt x="0" y="790"/>
                </a:moveTo>
                <a:lnTo>
                  <a:pt x="0" y="324"/>
                </a:lnTo>
                <a:cubicBezTo>
                  <a:pt x="0" y="303"/>
                  <a:pt x="2" y="282"/>
                  <a:pt x="6" y="261"/>
                </a:cubicBezTo>
                <a:cubicBezTo>
                  <a:pt x="10" y="240"/>
                  <a:pt x="16" y="220"/>
                  <a:pt x="24" y="200"/>
                </a:cubicBezTo>
                <a:cubicBezTo>
                  <a:pt x="33" y="180"/>
                  <a:pt x="43" y="162"/>
                  <a:pt x="54" y="144"/>
                </a:cubicBezTo>
                <a:cubicBezTo>
                  <a:pt x="66" y="126"/>
                  <a:pt x="80" y="110"/>
                  <a:pt x="95" y="95"/>
                </a:cubicBezTo>
                <a:cubicBezTo>
                  <a:pt x="110" y="80"/>
                  <a:pt x="126" y="66"/>
                  <a:pt x="144" y="54"/>
                </a:cubicBezTo>
                <a:cubicBezTo>
                  <a:pt x="162" y="42"/>
                  <a:pt x="181" y="32"/>
                  <a:pt x="200" y="24"/>
                </a:cubicBezTo>
                <a:cubicBezTo>
                  <a:pt x="220" y="16"/>
                  <a:pt x="240" y="10"/>
                  <a:pt x="261" y="6"/>
                </a:cubicBezTo>
                <a:cubicBezTo>
                  <a:pt x="282" y="2"/>
                  <a:pt x="303" y="0"/>
                  <a:pt x="325" y="0"/>
                </a:cubicBezTo>
                <a:cubicBezTo>
                  <a:pt x="346" y="0"/>
                  <a:pt x="367" y="2"/>
                  <a:pt x="388" y="6"/>
                </a:cubicBezTo>
                <a:cubicBezTo>
                  <a:pt x="409" y="10"/>
                  <a:pt x="429" y="16"/>
                  <a:pt x="449" y="24"/>
                </a:cubicBezTo>
                <a:cubicBezTo>
                  <a:pt x="469" y="32"/>
                  <a:pt x="487" y="42"/>
                  <a:pt x="505" y="54"/>
                </a:cubicBezTo>
                <a:cubicBezTo>
                  <a:pt x="523" y="66"/>
                  <a:pt x="539" y="80"/>
                  <a:pt x="554" y="95"/>
                </a:cubicBezTo>
                <a:cubicBezTo>
                  <a:pt x="569" y="110"/>
                  <a:pt x="583" y="126"/>
                  <a:pt x="595" y="144"/>
                </a:cubicBezTo>
                <a:cubicBezTo>
                  <a:pt x="608" y="162"/>
                  <a:pt x="618" y="180"/>
                  <a:pt x="626" y="200"/>
                </a:cubicBezTo>
                <a:cubicBezTo>
                  <a:pt x="634" y="220"/>
                  <a:pt x="640" y="240"/>
                  <a:pt x="644" y="261"/>
                </a:cubicBezTo>
                <a:cubicBezTo>
                  <a:pt x="649" y="282"/>
                  <a:pt x="651" y="303"/>
                  <a:pt x="651" y="324"/>
                </a:cubicBezTo>
                <a:lnTo>
                  <a:pt x="651" y="790"/>
                </a:lnTo>
                <a:cubicBezTo>
                  <a:pt x="651" y="811"/>
                  <a:pt x="649" y="832"/>
                  <a:pt x="644" y="853"/>
                </a:cubicBezTo>
                <a:cubicBezTo>
                  <a:pt x="640" y="874"/>
                  <a:pt x="634" y="894"/>
                  <a:pt x="626" y="914"/>
                </a:cubicBezTo>
                <a:cubicBezTo>
                  <a:pt x="618" y="934"/>
                  <a:pt x="608" y="953"/>
                  <a:pt x="595" y="970"/>
                </a:cubicBezTo>
                <a:cubicBezTo>
                  <a:pt x="583" y="988"/>
                  <a:pt x="569" y="1004"/>
                  <a:pt x="554" y="1020"/>
                </a:cubicBezTo>
                <a:cubicBezTo>
                  <a:pt x="539" y="1035"/>
                  <a:pt x="523" y="1048"/>
                  <a:pt x="505" y="1060"/>
                </a:cubicBezTo>
                <a:cubicBezTo>
                  <a:pt x="487" y="1072"/>
                  <a:pt x="469" y="1082"/>
                  <a:pt x="449" y="1090"/>
                </a:cubicBezTo>
                <a:cubicBezTo>
                  <a:pt x="429" y="1098"/>
                  <a:pt x="409" y="1104"/>
                  <a:pt x="388" y="1108"/>
                </a:cubicBezTo>
                <a:cubicBezTo>
                  <a:pt x="367" y="1113"/>
                  <a:pt x="346" y="1115"/>
                  <a:pt x="325" y="1115"/>
                </a:cubicBezTo>
                <a:cubicBezTo>
                  <a:pt x="303" y="1115"/>
                  <a:pt x="282" y="1113"/>
                  <a:pt x="261" y="1108"/>
                </a:cubicBezTo>
                <a:cubicBezTo>
                  <a:pt x="240" y="1104"/>
                  <a:pt x="220" y="1098"/>
                  <a:pt x="200" y="1090"/>
                </a:cubicBezTo>
                <a:cubicBezTo>
                  <a:pt x="181" y="1082"/>
                  <a:pt x="162" y="1072"/>
                  <a:pt x="144" y="1060"/>
                </a:cubicBezTo>
                <a:cubicBezTo>
                  <a:pt x="126" y="1048"/>
                  <a:pt x="110" y="1035"/>
                  <a:pt x="95" y="1020"/>
                </a:cubicBezTo>
                <a:cubicBezTo>
                  <a:pt x="80" y="1004"/>
                  <a:pt x="66" y="988"/>
                  <a:pt x="54" y="970"/>
                </a:cubicBezTo>
                <a:cubicBezTo>
                  <a:pt x="43" y="953"/>
                  <a:pt x="33" y="934"/>
                  <a:pt x="24" y="914"/>
                </a:cubicBezTo>
                <a:cubicBezTo>
                  <a:pt x="16" y="894"/>
                  <a:pt x="10" y="874"/>
                  <a:pt x="6" y="853"/>
                </a:cubicBezTo>
                <a:cubicBezTo>
                  <a:pt x="2" y="832"/>
                  <a:pt x="0" y="811"/>
                  <a:pt x="0" y="790"/>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373" name="図 372"/>
          <p:cNvPicPr/>
          <p:nvPr/>
        </p:nvPicPr>
        <p:blipFill>
          <a:blip r:embed="rId8"/>
          <a:stretch/>
        </p:blipFill>
        <p:spPr>
          <a:xfrm>
            <a:off x="7395840" y="4863600"/>
            <a:ext cx="191880" cy="166680"/>
          </a:xfrm>
          <a:prstGeom prst="rect">
            <a:avLst/>
          </a:prstGeom>
          <a:noFill/>
          <a:ln w="0">
            <a:noFill/>
          </a:ln>
        </p:spPr>
      </p:pic>
      <p:sp>
        <p:nvSpPr>
          <p:cNvPr id="374" name="テキスト ボックス 373"/>
          <p:cNvSpPr txBox="1"/>
          <p:nvPr/>
        </p:nvSpPr>
        <p:spPr>
          <a:xfrm>
            <a:off x="7376040" y="4343040"/>
            <a:ext cx="100656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測定の意義</a:t>
            </a:r>
            <a:endParaRPr lang="en-US" sz="1580" b="0" u="none" strike="noStrike">
              <a:solidFill>
                <a:srgbClr val="000000"/>
              </a:solidFill>
              <a:effectLst/>
              <a:uFillTx/>
              <a:latin typeface="Times New Roman"/>
            </a:endParaRPr>
          </a:p>
        </p:txBody>
      </p:sp>
      <p:sp>
        <p:nvSpPr>
          <p:cNvPr id="375" name="テキスト ボックス 374"/>
          <p:cNvSpPr txBox="1"/>
          <p:nvPr/>
        </p:nvSpPr>
        <p:spPr>
          <a:xfrm>
            <a:off x="7744680" y="4757400"/>
            <a:ext cx="25862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視力低下が起こるリスク</a:t>
            </a:r>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よ</a:t>
            </a:r>
            <a:endParaRPr lang="en-US" sz="1180" b="0" u="none" strike="noStrike">
              <a:solidFill>
                <a:srgbClr val="000000"/>
              </a:solidFill>
              <a:effectLst/>
              <a:uFillTx/>
              <a:latin typeface="Times New Roman"/>
            </a:endParaRPr>
          </a:p>
        </p:txBody>
      </p:sp>
      <p:sp>
        <p:nvSpPr>
          <p:cNvPr id="376" name="フリーフォーム: 図形 375"/>
          <p:cNvSpPr/>
          <p:nvPr/>
        </p:nvSpPr>
        <p:spPr>
          <a:xfrm>
            <a:off x="7378920" y="5348160"/>
            <a:ext cx="367920" cy="401400"/>
          </a:xfrm>
          <a:custGeom>
            <a:avLst/>
            <a:gdLst/>
            <a:ahLst/>
            <a:cxnLst/>
            <a:rect l="0" t="0" r="r" b="b"/>
            <a:pathLst>
              <a:path w="1022" h="1115">
                <a:moveTo>
                  <a:pt x="0" y="604"/>
                </a:moveTo>
                <a:lnTo>
                  <a:pt x="0" y="512"/>
                </a:lnTo>
                <a:cubicBezTo>
                  <a:pt x="0" y="478"/>
                  <a:pt x="3" y="445"/>
                  <a:pt x="9" y="412"/>
                </a:cubicBezTo>
                <a:cubicBezTo>
                  <a:pt x="16" y="379"/>
                  <a:pt x="26" y="347"/>
                  <a:pt x="38" y="316"/>
                </a:cubicBezTo>
                <a:cubicBezTo>
                  <a:pt x="51" y="285"/>
                  <a:pt x="67" y="256"/>
                  <a:pt x="86" y="228"/>
                </a:cubicBezTo>
                <a:cubicBezTo>
                  <a:pt x="104" y="200"/>
                  <a:pt x="125" y="173"/>
                  <a:pt x="149" y="149"/>
                </a:cubicBezTo>
                <a:cubicBezTo>
                  <a:pt x="173" y="126"/>
                  <a:pt x="199" y="105"/>
                  <a:pt x="227" y="86"/>
                </a:cubicBezTo>
                <a:cubicBezTo>
                  <a:pt x="254" y="67"/>
                  <a:pt x="284" y="52"/>
                  <a:pt x="315" y="39"/>
                </a:cubicBezTo>
                <a:cubicBezTo>
                  <a:pt x="346" y="26"/>
                  <a:pt x="378" y="16"/>
                  <a:pt x="411" y="10"/>
                </a:cubicBezTo>
                <a:cubicBezTo>
                  <a:pt x="445" y="3"/>
                  <a:pt x="478" y="0"/>
                  <a:pt x="511" y="0"/>
                </a:cubicBezTo>
                <a:cubicBezTo>
                  <a:pt x="545" y="0"/>
                  <a:pt x="578" y="3"/>
                  <a:pt x="611" y="10"/>
                </a:cubicBezTo>
                <a:cubicBezTo>
                  <a:pt x="644" y="16"/>
                  <a:pt x="676" y="26"/>
                  <a:pt x="707" y="39"/>
                </a:cubicBezTo>
                <a:cubicBezTo>
                  <a:pt x="738" y="52"/>
                  <a:pt x="767" y="67"/>
                  <a:pt x="795" y="86"/>
                </a:cubicBezTo>
                <a:cubicBezTo>
                  <a:pt x="823" y="105"/>
                  <a:pt x="849" y="126"/>
                  <a:pt x="872" y="149"/>
                </a:cubicBezTo>
                <a:cubicBezTo>
                  <a:pt x="896" y="173"/>
                  <a:pt x="917" y="200"/>
                  <a:pt x="936" y="228"/>
                </a:cubicBezTo>
                <a:cubicBezTo>
                  <a:pt x="955" y="256"/>
                  <a:pt x="970" y="285"/>
                  <a:pt x="983" y="316"/>
                </a:cubicBezTo>
                <a:cubicBezTo>
                  <a:pt x="996" y="347"/>
                  <a:pt x="1006" y="379"/>
                  <a:pt x="1012" y="412"/>
                </a:cubicBezTo>
                <a:cubicBezTo>
                  <a:pt x="1019" y="445"/>
                  <a:pt x="1022" y="478"/>
                  <a:pt x="1022" y="512"/>
                </a:cubicBezTo>
                <a:lnTo>
                  <a:pt x="1022" y="604"/>
                </a:lnTo>
                <a:cubicBezTo>
                  <a:pt x="1022" y="638"/>
                  <a:pt x="1019" y="671"/>
                  <a:pt x="1012" y="704"/>
                </a:cubicBezTo>
                <a:cubicBezTo>
                  <a:pt x="1006" y="737"/>
                  <a:pt x="996" y="769"/>
                  <a:pt x="983" y="800"/>
                </a:cubicBezTo>
                <a:cubicBezTo>
                  <a:pt x="970" y="831"/>
                  <a:pt x="955" y="860"/>
                  <a:pt x="936" y="888"/>
                </a:cubicBezTo>
                <a:cubicBezTo>
                  <a:pt x="917" y="916"/>
                  <a:pt x="896" y="942"/>
                  <a:pt x="872" y="966"/>
                </a:cubicBezTo>
                <a:cubicBezTo>
                  <a:pt x="849" y="989"/>
                  <a:pt x="823" y="1010"/>
                  <a:pt x="795" y="1029"/>
                </a:cubicBezTo>
                <a:cubicBezTo>
                  <a:pt x="767" y="1048"/>
                  <a:pt x="738" y="1063"/>
                  <a:pt x="707" y="1076"/>
                </a:cubicBezTo>
                <a:cubicBezTo>
                  <a:pt x="676" y="1089"/>
                  <a:pt x="644" y="1099"/>
                  <a:pt x="611" y="1105"/>
                </a:cubicBezTo>
                <a:cubicBezTo>
                  <a:pt x="578" y="1112"/>
                  <a:pt x="545" y="1115"/>
                  <a:pt x="511" y="1115"/>
                </a:cubicBezTo>
                <a:cubicBezTo>
                  <a:pt x="478" y="1115"/>
                  <a:pt x="445" y="1112"/>
                  <a:pt x="411" y="1105"/>
                </a:cubicBezTo>
                <a:cubicBezTo>
                  <a:pt x="378" y="1099"/>
                  <a:pt x="346" y="1089"/>
                  <a:pt x="315" y="1076"/>
                </a:cubicBezTo>
                <a:cubicBezTo>
                  <a:pt x="284" y="1063"/>
                  <a:pt x="254" y="1048"/>
                  <a:pt x="227" y="1029"/>
                </a:cubicBezTo>
                <a:cubicBezTo>
                  <a:pt x="199" y="1010"/>
                  <a:pt x="173" y="989"/>
                  <a:pt x="149" y="966"/>
                </a:cubicBezTo>
                <a:cubicBezTo>
                  <a:pt x="125" y="942"/>
                  <a:pt x="104" y="916"/>
                  <a:pt x="86" y="888"/>
                </a:cubicBezTo>
                <a:cubicBezTo>
                  <a:pt x="67" y="860"/>
                  <a:pt x="51" y="831"/>
                  <a:pt x="38" y="800"/>
                </a:cubicBezTo>
                <a:cubicBezTo>
                  <a:pt x="26" y="769"/>
                  <a:pt x="16" y="737"/>
                  <a:pt x="9" y="704"/>
                </a:cubicBezTo>
                <a:cubicBezTo>
                  <a:pt x="3" y="671"/>
                  <a:pt x="0" y="638"/>
                  <a:pt x="0" y="60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77" name="図 376"/>
          <p:cNvPicPr/>
          <p:nvPr/>
        </p:nvPicPr>
        <p:blipFill>
          <a:blip r:embed="rId9"/>
          <a:stretch/>
        </p:blipFill>
        <p:spPr>
          <a:xfrm>
            <a:off x="7479360" y="5465160"/>
            <a:ext cx="166680" cy="166680"/>
          </a:xfrm>
          <a:prstGeom prst="rect">
            <a:avLst/>
          </a:prstGeom>
          <a:noFill/>
          <a:ln w="0">
            <a:noFill/>
          </a:ln>
        </p:spPr>
      </p:pic>
      <p:sp>
        <p:nvSpPr>
          <p:cNvPr id="378" name="テキスト ボックス 377"/>
          <p:cNvSpPr txBox="1"/>
          <p:nvPr/>
        </p:nvSpPr>
        <p:spPr>
          <a:xfrm>
            <a:off x="7744680" y="4991400"/>
            <a:ext cx="18111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り低い濃度での検知が可能</a:t>
            </a:r>
            <a:endParaRPr lang="en-US" sz="1180" b="0" u="none" strike="noStrike">
              <a:solidFill>
                <a:srgbClr val="000000"/>
              </a:solidFill>
              <a:effectLst/>
              <a:uFillTx/>
              <a:latin typeface="Times New Roman"/>
            </a:endParaRPr>
          </a:p>
        </p:txBody>
      </p:sp>
      <p:sp>
        <p:nvSpPr>
          <p:cNvPr id="379" name="テキスト ボックス 378"/>
          <p:cNvSpPr txBox="1"/>
          <p:nvPr/>
        </p:nvSpPr>
        <p:spPr>
          <a:xfrm>
            <a:off x="7878240" y="5358960"/>
            <a:ext cx="22640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健康リスクを事前に検知できる可</a:t>
            </a:r>
            <a:endParaRPr lang="en-US" sz="1180" b="0" u="none" strike="noStrike">
              <a:solidFill>
                <a:srgbClr val="000000"/>
              </a:solidFill>
              <a:effectLst/>
              <a:uFillTx/>
              <a:latin typeface="Times New Roman"/>
            </a:endParaRPr>
          </a:p>
        </p:txBody>
      </p:sp>
      <p:sp>
        <p:nvSpPr>
          <p:cNvPr id="380" name="テキスト ボックス 379"/>
          <p:cNvSpPr txBox="1"/>
          <p:nvPr/>
        </p:nvSpPr>
        <p:spPr>
          <a:xfrm>
            <a:off x="7878240" y="5592960"/>
            <a:ext cx="3024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能性</a:t>
            </a:r>
            <a:endParaRPr lang="en-US" sz="1180"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1" name="図 380"/>
          <p:cNvPicPr/>
          <p:nvPr/>
        </p:nvPicPr>
        <p:blipFill>
          <a:blip r:embed="rId2"/>
          <a:stretch/>
        </p:blipFill>
        <p:spPr>
          <a:xfrm>
            <a:off x="0" y="0"/>
            <a:ext cx="10696320" cy="6016320"/>
          </a:xfrm>
          <a:prstGeom prst="rect">
            <a:avLst/>
          </a:prstGeom>
          <a:noFill/>
          <a:ln w="0">
            <a:noFill/>
          </a:ln>
        </p:spPr>
      </p:pic>
      <p:sp>
        <p:nvSpPr>
          <p:cNvPr id="382" name="フリーフォーム: 図形 381"/>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83" name="フリーフォーム: 図形 382"/>
          <p:cNvSpPr/>
          <p:nvPr/>
        </p:nvSpPr>
        <p:spPr>
          <a:xfrm>
            <a:off x="267120" y="869040"/>
            <a:ext cx="5841720" cy="4579560"/>
          </a:xfrm>
          <a:custGeom>
            <a:avLst/>
            <a:gdLst/>
            <a:ahLst/>
            <a:cxnLst/>
            <a:rect l="0" t="0" r="r" b="b"/>
            <a:pathLst>
              <a:path w="16227" h="12721">
                <a:moveTo>
                  <a:pt x="0" y="12536"/>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6042" y="0"/>
                </a:lnTo>
                <a:cubicBezTo>
                  <a:pt x="16054" y="0"/>
                  <a:pt x="16066" y="1"/>
                  <a:pt x="16078" y="3"/>
                </a:cubicBezTo>
                <a:cubicBezTo>
                  <a:pt x="16090" y="6"/>
                  <a:pt x="16101" y="9"/>
                  <a:pt x="16113" y="14"/>
                </a:cubicBezTo>
                <a:cubicBezTo>
                  <a:pt x="16124" y="18"/>
                  <a:pt x="16135" y="24"/>
                  <a:pt x="16145" y="31"/>
                </a:cubicBezTo>
                <a:cubicBezTo>
                  <a:pt x="16155" y="38"/>
                  <a:pt x="16164" y="45"/>
                  <a:pt x="16173" y="54"/>
                </a:cubicBezTo>
                <a:cubicBezTo>
                  <a:pt x="16181" y="63"/>
                  <a:pt x="16189" y="72"/>
                  <a:pt x="16196" y="82"/>
                </a:cubicBezTo>
                <a:cubicBezTo>
                  <a:pt x="16203" y="92"/>
                  <a:pt x="16208" y="103"/>
                  <a:pt x="16213" y="114"/>
                </a:cubicBezTo>
                <a:cubicBezTo>
                  <a:pt x="16218" y="126"/>
                  <a:pt x="16221" y="137"/>
                  <a:pt x="16224" y="149"/>
                </a:cubicBezTo>
                <a:cubicBezTo>
                  <a:pt x="16226" y="161"/>
                  <a:pt x="16227" y="173"/>
                  <a:pt x="16227" y="185"/>
                </a:cubicBezTo>
                <a:lnTo>
                  <a:pt x="16227" y="12536"/>
                </a:lnTo>
                <a:cubicBezTo>
                  <a:pt x="16227" y="12548"/>
                  <a:pt x="16226" y="12560"/>
                  <a:pt x="16224" y="12572"/>
                </a:cubicBezTo>
                <a:cubicBezTo>
                  <a:pt x="16221" y="12584"/>
                  <a:pt x="16218" y="12596"/>
                  <a:pt x="16213" y="12607"/>
                </a:cubicBezTo>
                <a:cubicBezTo>
                  <a:pt x="16208" y="12618"/>
                  <a:pt x="16203" y="12629"/>
                  <a:pt x="16196" y="12639"/>
                </a:cubicBezTo>
                <a:cubicBezTo>
                  <a:pt x="16189" y="12649"/>
                  <a:pt x="16181" y="12658"/>
                  <a:pt x="16173" y="12667"/>
                </a:cubicBezTo>
                <a:cubicBezTo>
                  <a:pt x="16164" y="12676"/>
                  <a:pt x="16155" y="12683"/>
                  <a:pt x="16145" y="12690"/>
                </a:cubicBezTo>
                <a:cubicBezTo>
                  <a:pt x="16135" y="12697"/>
                  <a:pt x="16124" y="12703"/>
                  <a:pt x="16113" y="12707"/>
                </a:cubicBezTo>
                <a:cubicBezTo>
                  <a:pt x="16101" y="12712"/>
                  <a:pt x="16090" y="12715"/>
                  <a:pt x="16078" y="12718"/>
                </a:cubicBezTo>
                <a:cubicBezTo>
                  <a:pt x="16066" y="12720"/>
                  <a:pt x="16054" y="12721"/>
                  <a:pt x="16042" y="12721"/>
                </a:cubicBezTo>
                <a:lnTo>
                  <a:pt x="186" y="12721"/>
                </a:lnTo>
                <a:cubicBezTo>
                  <a:pt x="174" y="12721"/>
                  <a:pt x="162" y="12720"/>
                  <a:pt x="150" y="12718"/>
                </a:cubicBezTo>
                <a:cubicBezTo>
                  <a:pt x="138" y="12715"/>
                  <a:pt x="126" y="12712"/>
                  <a:pt x="115" y="12707"/>
                </a:cubicBezTo>
                <a:cubicBezTo>
                  <a:pt x="104" y="12703"/>
                  <a:pt x="93" y="12697"/>
                  <a:pt x="83" y="12690"/>
                </a:cubicBezTo>
                <a:cubicBezTo>
                  <a:pt x="73" y="12683"/>
                  <a:pt x="63" y="12676"/>
                  <a:pt x="55" y="12667"/>
                </a:cubicBezTo>
                <a:cubicBezTo>
                  <a:pt x="46" y="12658"/>
                  <a:pt x="38" y="12649"/>
                  <a:pt x="32" y="12639"/>
                </a:cubicBezTo>
                <a:cubicBezTo>
                  <a:pt x="25" y="12629"/>
                  <a:pt x="19" y="12618"/>
                  <a:pt x="14" y="12607"/>
                </a:cubicBezTo>
                <a:cubicBezTo>
                  <a:pt x="10" y="12596"/>
                  <a:pt x="6" y="12584"/>
                  <a:pt x="4" y="12572"/>
                </a:cubicBezTo>
                <a:cubicBezTo>
                  <a:pt x="2" y="12560"/>
                  <a:pt x="0" y="12548"/>
                  <a:pt x="0" y="12536"/>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84" name="テキスト ボックス 383"/>
          <p:cNvSpPr txBox="1"/>
          <p:nvPr/>
        </p:nvSpPr>
        <p:spPr>
          <a:xfrm>
            <a:off x="334440" y="155520"/>
            <a:ext cx="476100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中濃度領域の検量線</a:t>
            </a:r>
            <a:r>
              <a:rPr lang="en-US" sz="2370" b="0" u="none" strike="noStrike">
                <a:solidFill>
                  <a:srgbClr val="FFFFFF"/>
                </a:solidFill>
                <a:effectLst/>
                <a:uFillTx/>
                <a:latin typeface="NotoSansJP"/>
                <a:ea typeface="NotoSansJP"/>
              </a:rPr>
              <a:t>(0.1-2.6ppm)</a:t>
            </a:r>
            <a:endParaRPr lang="en-US" sz="2370" b="0" u="none" strike="noStrike">
              <a:solidFill>
                <a:srgbClr val="000000"/>
              </a:solidFill>
              <a:effectLst/>
              <a:uFillTx/>
              <a:latin typeface="Times New Roman"/>
            </a:endParaRPr>
          </a:p>
        </p:txBody>
      </p:sp>
      <p:pic>
        <p:nvPicPr>
          <p:cNvPr id="385" name="図 384"/>
          <p:cNvPicPr/>
          <p:nvPr/>
        </p:nvPicPr>
        <p:blipFill>
          <a:blip r:embed="rId3"/>
          <a:stretch/>
        </p:blipFill>
        <p:spPr>
          <a:xfrm>
            <a:off x="401040" y="1303560"/>
            <a:ext cx="5573520" cy="3843720"/>
          </a:xfrm>
          <a:prstGeom prst="rect">
            <a:avLst/>
          </a:prstGeom>
          <a:noFill/>
          <a:ln w="0">
            <a:noFill/>
          </a:ln>
        </p:spPr>
      </p:pic>
      <p:sp>
        <p:nvSpPr>
          <p:cNvPr id="386" name="テキスト ボックス 385"/>
          <p:cNvSpPr txBox="1"/>
          <p:nvPr/>
        </p:nvSpPr>
        <p:spPr>
          <a:xfrm>
            <a:off x="401040" y="1031400"/>
            <a:ext cx="169020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検量線 </a:t>
            </a:r>
            <a:r>
              <a:rPr lang="en-US" sz="1320" b="0" u="none" strike="noStrike">
                <a:solidFill>
                  <a:srgbClr val="003366"/>
                </a:solidFill>
                <a:effectLst/>
                <a:uFillTx/>
                <a:latin typeface="NotoSansJP"/>
                <a:ea typeface="NotoSansJP"/>
              </a:rPr>
              <a:t>(0.1-2.6ppm)</a:t>
            </a:r>
            <a:endParaRPr lang="en-US" sz="1320" b="0" u="none" strike="noStrike">
              <a:solidFill>
                <a:srgbClr val="000000"/>
              </a:solidFill>
              <a:effectLst/>
              <a:uFillTx/>
              <a:latin typeface="Times New Roman"/>
            </a:endParaRPr>
          </a:p>
        </p:txBody>
      </p:sp>
      <p:sp>
        <p:nvSpPr>
          <p:cNvPr id="387" name="フリーフォーム: 図形 386"/>
          <p:cNvSpPr/>
          <p:nvPr/>
        </p:nvSpPr>
        <p:spPr>
          <a:xfrm>
            <a:off x="6309000" y="869040"/>
            <a:ext cx="4120200" cy="2106000"/>
          </a:xfrm>
          <a:custGeom>
            <a:avLst/>
            <a:gdLst/>
            <a:ahLst/>
            <a:cxnLst/>
            <a:rect l="0" t="0" r="r" b="b"/>
            <a:pathLst>
              <a:path w="11445" h="5850">
                <a:moveTo>
                  <a:pt x="0" y="5665"/>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1260" y="0"/>
                </a:lnTo>
                <a:cubicBezTo>
                  <a:pt x="11272" y="0"/>
                  <a:pt x="11284" y="1"/>
                  <a:pt x="11296" y="3"/>
                </a:cubicBezTo>
                <a:cubicBezTo>
                  <a:pt x="11308" y="6"/>
                  <a:pt x="11319" y="9"/>
                  <a:pt x="11331" y="14"/>
                </a:cubicBezTo>
                <a:cubicBezTo>
                  <a:pt x="11342" y="18"/>
                  <a:pt x="11353" y="24"/>
                  <a:pt x="11363" y="31"/>
                </a:cubicBezTo>
                <a:cubicBezTo>
                  <a:pt x="11373" y="38"/>
                  <a:pt x="11382" y="45"/>
                  <a:pt x="11391" y="54"/>
                </a:cubicBezTo>
                <a:cubicBezTo>
                  <a:pt x="11400" y="63"/>
                  <a:pt x="11407" y="72"/>
                  <a:pt x="11414" y="82"/>
                </a:cubicBezTo>
                <a:cubicBezTo>
                  <a:pt x="11421" y="92"/>
                  <a:pt x="11427" y="103"/>
                  <a:pt x="11431" y="114"/>
                </a:cubicBezTo>
                <a:cubicBezTo>
                  <a:pt x="11436" y="126"/>
                  <a:pt x="11439" y="137"/>
                  <a:pt x="11442" y="149"/>
                </a:cubicBezTo>
                <a:cubicBezTo>
                  <a:pt x="11444" y="161"/>
                  <a:pt x="11445" y="173"/>
                  <a:pt x="11445" y="185"/>
                </a:cubicBezTo>
                <a:lnTo>
                  <a:pt x="11445" y="5665"/>
                </a:lnTo>
                <a:cubicBezTo>
                  <a:pt x="11445" y="5677"/>
                  <a:pt x="11444" y="5689"/>
                  <a:pt x="11442" y="5701"/>
                </a:cubicBezTo>
                <a:cubicBezTo>
                  <a:pt x="11439" y="5713"/>
                  <a:pt x="11436" y="5724"/>
                  <a:pt x="11431" y="5736"/>
                </a:cubicBezTo>
                <a:cubicBezTo>
                  <a:pt x="11427" y="5747"/>
                  <a:pt x="11421" y="5758"/>
                  <a:pt x="11414" y="5768"/>
                </a:cubicBezTo>
                <a:cubicBezTo>
                  <a:pt x="11407" y="5778"/>
                  <a:pt x="11400" y="5787"/>
                  <a:pt x="11391" y="5796"/>
                </a:cubicBezTo>
                <a:cubicBezTo>
                  <a:pt x="11382" y="5805"/>
                  <a:pt x="11373" y="5812"/>
                  <a:pt x="11363" y="5819"/>
                </a:cubicBezTo>
                <a:cubicBezTo>
                  <a:pt x="11353" y="5826"/>
                  <a:pt x="11342" y="5832"/>
                  <a:pt x="11331" y="5836"/>
                </a:cubicBezTo>
                <a:cubicBezTo>
                  <a:pt x="11319" y="5841"/>
                  <a:pt x="11308" y="5844"/>
                  <a:pt x="11296" y="5847"/>
                </a:cubicBezTo>
                <a:cubicBezTo>
                  <a:pt x="11284" y="5849"/>
                  <a:pt x="11272" y="5850"/>
                  <a:pt x="11260" y="5850"/>
                </a:cubicBezTo>
                <a:lnTo>
                  <a:pt x="186" y="5850"/>
                </a:lnTo>
                <a:cubicBezTo>
                  <a:pt x="174" y="5850"/>
                  <a:pt x="162" y="5849"/>
                  <a:pt x="150" y="5847"/>
                </a:cubicBezTo>
                <a:cubicBezTo>
                  <a:pt x="138" y="5844"/>
                  <a:pt x="126" y="5841"/>
                  <a:pt x="115" y="5836"/>
                </a:cubicBezTo>
                <a:cubicBezTo>
                  <a:pt x="104" y="5832"/>
                  <a:pt x="93" y="5826"/>
                  <a:pt x="83" y="5819"/>
                </a:cubicBezTo>
                <a:cubicBezTo>
                  <a:pt x="73" y="5812"/>
                  <a:pt x="63" y="5805"/>
                  <a:pt x="55" y="5796"/>
                </a:cubicBezTo>
                <a:cubicBezTo>
                  <a:pt x="46" y="5787"/>
                  <a:pt x="38" y="5778"/>
                  <a:pt x="32" y="5768"/>
                </a:cubicBezTo>
                <a:cubicBezTo>
                  <a:pt x="25" y="5758"/>
                  <a:pt x="19" y="5747"/>
                  <a:pt x="14" y="5736"/>
                </a:cubicBezTo>
                <a:cubicBezTo>
                  <a:pt x="10" y="5724"/>
                  <a:pt x="6" y="5713"/>
                  <a:pt x="4" y="5701"/>
                </a:cubicBezTo>
                <a:cubicBezTo>
                  <a:pt x="2" y="5689"/>
                  <a:pt x="0" y="5677"/>
                  <a:pt x="0" y="566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88" name="フリーフォーム: 図形 387"/>
          <p:cNvSpPr/>
          <p:nvPr/>
        </p:nvSpPr>
        <p:spPr>
          <a:xfrm>
            <a:off x="6509520" y="1437120"/>
            <a:ext cx="3719160" cy="601920"/>
          </a:xfrm>
          <a:custGeom>
            <a:avLst/>
            <a:gdLst/>
            <a:ahLst/>
            <a:cxnLst/>
            <a:rect l="0" t="0" r="r" b="b"/>
            <a:pathLst>
              <a:path w="10331" h="1672">
                <a:moveTo>
                  <a:pt x="0" y="0"/>
                </a:moveTo>
                <a:lnTo>
                  <a:pt x="10331" y="0"/>
                </a:lnTo>
                <a:lnTo>
                  <a:pt x="10331" y="1672"/>
                </a:lnTo>
                <a:lnTo>
                  <a:pt x="0" y="1672"/>
                </a:lnTo>
                <a:lnTo>
                  <a:pt x="0" y="0"/>
                </a:lnTo>
                <a:close/>
              </a:path>
            </a:pathLst>
          </a:custGeom>
          <a:solidFill>
            <a:srgbClr val="66CC99">
              <a:alpha val="1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89" name="フリーフォーム: 図形 388"/>
          <p:cNvSpPr/>
          <p:nvPr/>
        </p:nvSpPr>
        <p:spPr>
          <a:xfrm>
            <a:off x="6509520" y="1437120"/>
            <a:ext cx="33840" cy="601920"/>
          </a:xfrm>
          <a:custGeom>
            <a:avLst/>
            <a:gdLst/>
            <a:ahLst/>
            <a:cxnLst/>
            <a:rect l="0" t="0" r="r" b="b"/>
            <a:pathLst>
              <a:path w="94" h="1672">
                <a:moveTo>
                  <a:pt x="0" y="0"/>
                </a:moveTo>
                <a:lnTo>
                  <a:pt x="94" y="0"/>
                </a:lnTo>
                <a:lnTo>
                  <a:pt x="94" y="1672"/>
                </a:lnTo>
                <a:lnTo>
                  <a:pt x="0" y="1672"/>
                </a:lnTo>
                <a:lnTo>
                  <a:pt x="0" y="0"/>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90" name="フリーフォーム: 図形 389"/>
          <p:cNvSpPr/>
          <p:nvPr/>
        </p:nvSpPr>
        <p:spPr>
          <a:xfrm>
            <a:off x="6509520" y="2172600"/>
            <a:ext cx="3719160" cy="601920"/>
          </a:xfrm>
          <a:custGeom>
            <a:avLst/>
            <a:gdLst/>
            <a:ahLst/>
            <a:cxnLst/>
            <a:rect l="0" t="0" r="r" b="b"/>
            <a:pathLst>
              <a:path w="10331" h="1672">
                <a:moveTo>
                  <a:pt x="0" y="0"/>
                </a:moveTo>
                <a:lnTo>
                  <a:pt x="10331" y="0"/>
                </a:lnTo>
                <a:lnTo>
                  <a:pt x="10331" y="1672"/>
                </a:lnTo>
                <a:lnTo>
                  <a:pt x="0" y="1672"/>
                </a:lnTo>
                <a:lnTo>
                  <a:pt x="0" y="0"/>
                </a:lnTo>
                <a:close/>
              </a:path>
            </a:pathLst>
          </a:custGeom>
          <a:solidFill>
            <a:srgbClr val="66CC99">
              <a:alpha val="1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91" name="フリーフォーム: 図形 390"/>
          <p:cNvSpPr/>
          <p:nvPr/>
        </p:nvSpPr>
        <p:spPr>
          <a:xfrm>
            <a:off x="6509520" y="2172600"/>
            <a:ext cx="33840" cy="601920"/>
          </a:xfrm>
          <a:custGeom>
            <a:avLst/>
            <a:gdLst/>
            <a:ahLst/>
            <a:cxnLst/>
            <a:rect l="0" t="0" r="r" b="b"/>
            <a:pathLst>
              <a:path w="94" h="1672">
                <a:moveTo>
                  <a:pt x="0" y="0"/>
                </a:moveTo>
                <a:lnTo>
                  <a:pt x="94" y="0"/>
                </a:lnTo>
                <a:lnTo>
                  <a:pt x="94" y="1672"/>
                </a:lnTo>
                <a:lnTo>
                  <a:pt x="0" y="1672"/>
                </a:lnTo>
                <a:lnTo>
                  <a:pt x="0" y="0"/>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92" name="図 391"/>
          <p:cNvPicPr/>
          <p:nvPr/>
        </p:nvPicPr>
        <p:blipFill>
          <a:blip r:embed="rId4"/>
          <a:stretch/>
        </p:blipFill>
        <p:spPr>
          <a:xfrm>
            <a:off x="6509880" y="1103040"/>
            <a:ext cx="166680" cy="166680"/>
          </a:xfrm>
          <a:prstGeom prst="rect">
            <a:avLst/>
          </a:prstGeom>
          <a:noFill/>
          <a:ln w="0">
            <a:noFill/>
          </a:ln>
        </p:spPr>
      </p:pic>
      <p:sp>
        <p:nvSpPr>
          <p:cNvPr id="393" name="テキスト ボックス 392"/>
          <p:cNvSpPr txBox="1"/>
          <p:nvPr/>
        </p:nvSpPr>
        <p:spPr>
          <a:xfrm>
            <a:off x="2057040" y="5172840"/>
            <a:ext cx="2456640" cy="136080"/>
          </a:xfrm>
          <a:prstGeom prst="rect">
            <a:avLst/>
          </a:prstGeom>
          <a:noFill/>
          <a:ln w="0">
            <a:noFill/>
          </a:ln>
        </p:spPr>
        <p:txBody>
          <a:bodyPr wrap="none" lIns="0" tIns="0" rIns="0" bIns="0" anchor="t">
            <a:spAutoFit/>
          </a:bodyPr>
          <a:lstStyle/>
          <a:p>
            <a:r>
              <a:rPr lang="en-US" sz="920" b="0" u="none" strike="noStrike">
                <a:solidFill>
                  <a:srgbClr val="6B7280"/>
                </a:solidFill>
                <a:effectLst/>
                <a:uFillTx/>
                <a:latin typeface="NotoSansJP"/>
                <a:ea typeface="NotoSansJP"/>
              </a:rPr>
              <a:t>Figure 6. Calibration curve (0.1-2.6[ppm])</a:t>
            </a:r>
            <a:endParaRPr lang="en-US" sz="920" b="0" u="none" strike="noStrike">
              <a:solidFill>
                <a:srgbClr val="000000"/>
              </a:solidFill>
              <a:effectLst/>
              <a:uFillTx/>
              <a:latin typeface="Times New Roman"/>
            </a:endParaRPr>
          </a:p>
        </p:txBody>
      </p:sp>
      <p:pic>
        <p:nvPicPr>
          <p:cNvPr id="394" name="図 393"/>
          <p:cNvPicPr/>
          <p:nvPr/>
        </p:nvPicPr>
        <p:blipFill>
          <a:blip r:embed="rId5"/>
          <a:stretch/>
        </p:blipFill>
        <p:spPr>
          <a:xfrm>
            <a:off x="6643440" y="1579320"/>
            <a:ext cx="116640" cy="150120"/>
          </a:xfrm>
          <a:prstGeom prst="rect">
            <a:avLst/>
          </a:prstGeom>
          <a:noFill/>
          <a:ln w="0">
            <a:noFill/>
          </a:ln>
        </p:spPr>
      </p:pic>
      <p:sp>
        <p:nvSpPr>
          <p:cNvPr id="395" name="テキスト ボックス 394"/>
          <p:cNvSpPr txBox="1"/>
          <p:nvPr/>
        </p:nvSpPr>
        <p:spPr>
          <a:xfrm>
            <a:off x="6779880" y="1098360"/>
            <a:ext cx="117432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検量線分析結果</a:t>
            </a:r>
            <a:endParaRPr lang="en-US" sz="1320" b="0" u="none" strike="noStrike">
              <a:solidFill>
                <a:srgbClr val="000000"/>
              </a:solidFill>
              <a:effectLst/>
              <a:uFillTx/>
              <a:latin typeface="Times New Roman"/>
            </a:endParaRPr>
          </a:p>
        </p:txBody>
      </p:sp>
      <p:sp>
        <p:nvSpPr>
          <p:cNvPr id="396" name="テキスト ボックス 395"/>
          <p:cNvSpPr txBox="1"/>
          <p:nvPr/>
        </p:nvSpPr>
        <p:spPr>
          <a:xfrm>
            <a:off x="6830280" y="1581840"/>
            <a:ext cx="178452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標準偏差</a:t>
            </a:r>
            <a:r>
              <a:rPr lang="en-US" sz="1180" b="0" u="none" strike="noStrike">
                <a:solidFill>
                  <a:srgbClr val="000000"/>
                </a:solidFill>
                <a:effectLst/>
                <a:uFillTx/>
                <a:latin typeface="NotoSansJP"/>
                <a:ea typeface="NotoSansJP"/>
              </a:rPr>
              <a:t>: 0.61 ~ 4.65%</a:t>
            </a:r>
            <a:endParaRPr lang="en-US" sz="1180" b="0" u="none" strike="noStrike">
              <a:solidFill>
                <a:srgbClr val="000000"/>
              </a:solidFill>
              <a:effectLst/>
              <a:uFillTx/>
              <a:latin typeface="Times New Roman"/>
            </a:endParaRPr>
          </a:p>
        </p:txBody>
      </p:sp>
      <p:pic>
        <p:nvPicPr>
          <p:cNvPr id="397" name="図 396"/>
          <p:cNvPicPr/>
          <p:nvPr/>
        </p:nvPicPr>
        <p:blipFill>
          <a:blip r:embed="rId6"/>
          <a:stretch/>
        </p:blipFill>
        <p:spPr>
          <a:xfrm>
            <a:off x="6643440" y="2314800"/>
            <a:ext cx="74880" cy="150120"/>
          </a:xfrm>
          <a:prstGeom prst="rect">
            <a:avLst/>
          </a:prstGeom>
          <a:noFill/>
          <a:ln w="0">
            <a:noFill/>
          </a:ln>
        </p:spPr>
      </p:pic>
      <p:sp>
        <p:nvSpPr>
          <p:cNvPr id="398" name="テキスト ボックス 397"/>
          <p:cNvSpPr txBox="1"/>
          <p:nvPr/>
        </p:nvSpPr>
        <p:spPr>
          <a:xfrm>
            <a:off x="6880320" y="1796760"/>
            <a:ext cx="1409040" cy="169560"/>
          </a:xfrm>
          <a:prstGeom prst="rect">
            <a:avLst/>
          </a:prstGeom>
          <a:noFill/>
          <a:ln w="0">
            <a:noFill/>
          </a:ln>
        </p:spPr>
        <p:txBody>
          <a:bodyPr wrap="none" lIns="0" tIns="0" rIns="0" bIns="0" anchor="t">
            <a:spAutoFit/>
          </a:bodyPr>
          <a:lstStyle/>
          <a:p>
            <a:r>
              <a:rPr lang="zh-CN" sz="920" b="0" u="none" strike="noStrike">
                <a:solidFill>
                  <a:srgbClr val="4B5563"/>
                </a:solidFill>
                <a:effectLst/>
                <a:uFillTx/>
                <a:latin typeface="NotoSansJP"/>
                <a:ea typeface="NotoSansJP"/>
              </a:rPr>
              <a:t>高い再現性を示す測定結果</a:t>
            </a:r>
            <a:endParaRPr lang="en-US" sz="920" b="0" u="none" strike="noStrike">
              <a:solidFill>
                <a:srgbClr val="000000"/>
              </a:solidFill>
              <a:effectLst/>
              <a:uFillTx/>
              <a:latin typeface="Times New Roman"/>
            </a:endParaRPr>
          </a:p>
        </p:txBody>
      </p:sp>
      <p:sp>
        <p:nvSpPr>
          <p:cNvPr id="399" name="テキスト ボックス 398"/>
          <p:cNvSpPr txBox="1"/>
          <p:nvPr/>
        </p:nvSpPr>
        <p:spPr>
          <a:xfrm>
            <a:off x="6788520" y="2317320"/>
            <a:ext cx="17874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測定範囲</a:t>
            </a:r>
            <a:r>
              <a:rPr lang="en-US" sz="1180" b="0" u="none" strike="noStrike">
                <a:solidFill>
                  <a:srgbClr val="000000"/>
                </a:solidFill>
                <a:effectLst/>
                <a:uFillTx/>
                <a:latin typeface="NotoSansJP"/>
                <a:ea typeface="NotoSansJP"/>
              </a:rPr>
              <a:t>: 0.1 ~ 2.6ppm</a:t>
            </a:r>
            <a:endParaRPr lang="en-US" sz="1180" b="0" u="none" strike="noStrike">
              <a:solidFill>
                <a:srgbClr val="000000"/>
              </a:solidFill>
              <a:effectLst/>
              <a:uFillTx/>
              <a:latin typeface="Times New Roman"/>
            </a:endParaRPr>
          </a:p>
        </p:txBody>
      </p:sp>
      <p:sp>
        <p:nvSpPr>
          <p:cNvPr id="400" name="フリーフォーム: 図形 399"/>
          <p:cNvSpPr/>
          <p:nvPr/>
        </p:nvSpPr>
        <p:spPr>
          <a:xfrm>
            <a:off x="6309000" y="3376080"/>
            <a:ext cx="4120200" cy="2072520"/>
          </a:xfrm>
          <a:custGeom>
            <a:avLst/>
            <a:gdLst/>
            <a:ahLst/>
            <a:cxnLst/>
            <a:rect l="0" t="0" r="r" b="b"/>
            <a:pathLst>
              <a:path w="11445" h="5757">
                <a:moveTo>
                  <a:pt x="0" y="5572"/>
                </a:moveTo>
                <a:lnTo>
                  <a:pt x="0" y="185"/>
                </a:lnTo>
                <a:cubicBezTo>
                  <a:pt x="0" y="173"/>
                  <a:pt x="2" y="161"/>
                  <a:pt x="4" y="149"/>
                </a:cubicBezTo>
                <a:cubicBezTo>
                  <a:pt x="6" y="137"/>
                  <a:pt x="10" y="125"/>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1260" y="0"/>
                </a:lnTo>
                <a:cubicBezTo>
                  <a:pt x="11272" y="0"/>
                  <a:pt x="11284" y="1"/>
                  <a:pt x="11296" y="3"/>
                </a:cubicBezTo>
                <a:cubicBezTo>
                  <a:pt x="11308" y="6"/>
                  <a:pt x="11319" y="9"/>
                  <a:pt x="11331" y="14"/>
                </a:cubicBezTo>
                <a:cubicBezTo>
                  <a:pt x="11342" y="18"/>
                  <a:pt x="11353" y="24"/>
                  <a:pt x="11363" y="31"/>
                </a:cubicBezTo>
                <a:cubicBezTo>
                  <a:pt x="11373" y="38"/>
                  <a:pt x="11382" y="45"/>
                  <a:pt x="11391" y="54"/>
                </a:cubicBezTo>
                <a:cubicBezTo>
                  <a:pt x="11400" y="63"/>
                  <a:pt x="11407" y="72"/>
                  <a:pt x="11414" y="82"/>
                </a:cubicBezTo>
                <a:cubicBezTo>
                  <a:pt x="11421" y="92"/>
                  <a:pt x="11427" y="103"/>
                  <a:pt x="11431" y="114"/>
                </a:cubicBezTo>
                <a:cubicBezTo>
                  <a:pt x="11436" y="125"/>
                  <a:pt x="11439" y="137"/>
                  <a:pt x="11442" y="149"/>
                </a:cubicBezTo>
                <a:cubicBezTo>
                  <a:pt x="11444" y="161"/>
                  <a:pt x="11445" y="173"/>
                  <a:pt x="11445" y="185"/>
                </a:cubicBezTo>
                <a:lnTo>
                  <a:pt x="11445" y="5572"/>
                </a:lnTo>
                <a:cubicBezTo>
                  <a:pt x="11445" y="5584"/>
                  <a:pt x="11444" y="5596"/>
                  <a:pt x="11442" y="5608"/>
                </a:cubicBezTo>
                <a:cubicBezTo>
                  <a:pt x="11439" y="5620"/>
                  <a:pt x="11436" y="5632"/>
                  <a:pt x="11431" y="5643"/>
                </a:cubicBezTo>
                <a:cubicBezTo>
                  <a:pt x="11427" y="5654"/>
                  <a:pt x="11421" y="5665"/>
                  <a:pt x="11414" y="5675"/>
                </a:cubicBezTo>
                <a:cubicBezTo>
                  <a:pt x="11407" y="5685"/>
                  <a:pt x="11400" y="5694"/>
                  <a:pt x="11391" y="5703"/>
                </a:cubicBezTo>
                <a:cubicBezTo>
                  <a:pt x="11382" y="5712"/>
                  <a:pt x="11373" y="5719"/>
                  <a:pt x="11363" y="5726"/>
                </a:cubicBezTo>
                <a:cubicBezTo>
                  <a:pt x="11353" y="5733"/>
                  <a:pt x="11342" y="5739"/>
                  <a:pt x="11331" y="5743"/>
                </a:cubicBezTo>
                <a:cubicBezTo>
                  <a:pt x="11319" y="5748"/>
                  <a:pt x="11308" y="5751"/>
                  <a:pt x="11296" y="5754"/>
                </a:cubicBezTo>
                <a:cubicBezTo>
                  <a:pt x="11284" y="5756"/>
                  <a:pt x="11272" y="5757"/>
                  <a:pt x="11260" y="5757"/>
                </a:cubicBezTo>
                <a:lnTo>
                  <a:pt x="186" y="5757"/>
                </a:lnTo>
                <a:cubicBezTo>
                  <a:pt x="174" y="5757"/>
                  <a:pt x="162" y="5756"/>
                  <a:pt x="150" y="5754"/>
                </a:cubicBezTo>
                <a:cubicBezTo>
                  <a:pt x="138" y="5751"/>
                  <a:pt x="126" y="5748"/>
                  <a:pt x="115" y="5743"/>
                </a:cubicBezTo>
                <a:cubicBezTo>
                  <a:pt x="104" y="5739"/>
                  <a:pt x="93" y="5733"/>
                  <a:pt x="83" y="5726"/>
                </a:cubicBezTo>
                <a:cubicBezTo>
                  <a:pt x="73" y="5719"/>
                  <a:pt x="63" y="5712"/>
                  <a:pt x="55" y="5703"/>
                </a:cubicBezTo>
                <a:cubicBezTo>
                  <a:pt x="46" y="5694"/>
                  <a:pt x="38" y="5685"/>
                  <a:pt x="32" y="5675"/>
                </a:cubicBezTo>
                <a:cubicBezTo>
                  <a:pt x="25" y="5665"/>
                  <a:pt x="19" y="5654"/>
                  <a:pt x="14" y="5643"/>
                </a:cubicBezTo>
                <a:cubicBezTo>
                  <a:pt x="10" y="5632"/>
                  <a:pt x="6" y="5620"/>
                  <a:pt x="4" y="5608"/>
                </a:cubicBezTo>
                <a:cubicBezTo>
                  <a:pt x="2" y="5596"/>
                  <a:pt x="0" y="5584"/>
                  <a:pt x="0" y="5572"/>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01" name="図 400"/>
          <p:cNvPicPr/>
          <p:nvPr/>
        </p:nvPicPr>
        <p:blipFill>
          <a:blip r:embed="rId7"/>
          <a:stretch/>
        </p:blipFill>
        <p:spPr>
          <a:xfrm>
            <a:off x="6509880" y="3610080"/>
            <a:ext cx="124920" cy="166680"/>
          </a:xfrm>
          <a:prstGeom prst="rect">
            <a:avLst/>
          </a:prstGeom>
          <a:noFill/>
          <a:ln w="0">
            <a:noFill/>
          </a:ln>
        </p:spPr>
      </p:pic>
      <p:sp>
        <p:nvSpPr>
          <p:cNvPr id="402" name="テキスト ボックス 401"/>
          <p:cNvSpPr txBox="1"/>
          <p:nvPr/>
        </p:nvSpPr>
        <p:spPr>
          <a:xfrm>
            <a:off x="6880320" y="2532240"/>
            <a:ext cx="1291680" cy="169560"/>
          </a:xfrm>
          <a:prstGeom prst="rect">
            <a:avLst/>
          </a:prstGeom>
          <a:noFill/>
          <a:ln w="0">
            <a:noFill/>
          </a:ln>
        </p:spPr>
        <p:txBody>
          <a:bodyPr wrap="none" lIns="0" tIns="0" rIns="0" bIns="0" anchor="t">
            <a:spAutoFit/>
          </a:bodyPr>
          <a:lstStyle/>
          <a:p>
            <a:r>
              <a:rPr lang="zh-CN" sz="920" b="0" u="none" strike="noStrike">
                <a:solidFill>
                  <a:srgbClr val="4B5563"/>
                </a:solidFill>
                <a:effectLst/>
                <a:uFillTx/>
                <a:latin typeface="NotoSansJP"/>
                <a:ea typeface="NotoSansJP"/>
              </a:rPr>
              <a:t>幅広い濃度範囲をカバー</a:t>
            </a:r>
            <a:endParaRPr lang="en-US" sz="920" b="0" u="none" strike="noStrike">
              <a:solidFill>
                <a:srgbClr val="000000"/>
              </a:solidFill>
              <a:effectLst/>
              <a:uFillTx/>
              <a:latin typeface="Times New Roman"/>
            </a:endParaRPr>
          </a:p>
        </p:txBody>
      </p:sp>
      <p:sp>
        <p:nvSpPr>
          <p:cNvPr id="403" name="フリーフォーム: 図形 402"/>
          <p:cNvSpPr/>
          <p:nvPr/>
        </p:nvSpPr>
        <p:spPr>
          <a:xfrm>
            <a:off x="6509520" y="3977640"/>
            <a:ext cx="334800" cy="334440"/>
          </a:xfrm>
          <a:custGeom>
            <a:avLst/>
            <a:gdLst/>
            <a:ahLst/>
            <a:cxnLst/>
            <a:rect l="0" t="0" r="r" b="b"/>
            <a:pathLst>
              <a:path w="930" h="929">
                <a:moveTo>
                  <a:pt x="930" y="464"/>
                </a:moveTo>
                <a:cubicBezTo>
                  <a:pt x="930" y="495"/>
                  <a:pt x="927" y="525"/>
                  <a:pt x="921" y="556"/>
                </a:cubicBezTo>
                <a:cubicBezTo>
                  <a:pt x="915" y="586"/>
                  <a:pt x="906" y="615"/>
                  <a:pt x="895" y="643"/>
                </a:cubicBezTo>
                <a:cubicBezTo>
                  <a:pt x="883" y="671"/>
                  <a:pt x="869" y="698"/>
                  <a:pt x="852" y="723"/>
                </a:cubicBezTo>
                <a:cubicBezTo>
                  <a:pt x="835" y="748"/>
                  <a:pt x="816" y="772"/>
                  <a:pt x="794" y="793"/>
                </a:cubicBezTo>
                <a:cubicBezTo>
                  <a:pt x="772" y="815"/>
                  <a:pt x="749" y="834"/>
                  <a:pt x="724" y="851"/>
                </a:cubicBezTo>
                <a:cubicBezTo>
                  <a:pt x="698" y="868"/>
                  <a:pt x="672" y="882"/>
                  <a:pt x="643" y="894"/>
                </a:cubicBezTo>
                <a:cubicBezTo>
                  <a:pt x="615" y="906"/>
                  <a:pt x="586" y="915"/>
                  <a:pt x="556" y="921"/>
                </a:cubicBezTo>
                <a:cubicBezTo>
                  <a:pt x="526" y="926"/>
                  <a:pt x="496" y="929"/>
                  <a:pt x="466" y="929"/>
                </a:cubicBezTo>
                <a:cubicBezTo>
                  <a:pt x="435" y="929"/>
                  <a:pt x="405" y="926"/>
                  <a:pt x="375" y="921"/>
                </a:cubicBezTo>
                <a:cubicBezTo>
                  <a:pt x="345" y="915"/>
                  <a:pt x="316" y="906"/>
                  <a:pt x="288" y="894"/>
                </a:cubicBezTo>
                <a:cubicBezTo>
                  <a:pt x="260" y="882"/>
                  <a:pt x="233" y="868"/>
                  <a:pt x="208" y="851"/>
                </a:cubicBezTo>
                <a:cubicBezTo>
                  <a:pt x="182" y="834"/>
                  <a:pt x="159" y="815"/>
                  <a:pt x="137" y="793"/>
                </a:cubicBezTo>
                <a:cubicBezTo>
                  <a:pt x="116" y="772"/>
                  <a:pt x="97" y="748"/>
                  <a:pt x="80" y="723"/>
                </a:cubicBezTo>
                <a:cubicBezTo>
                  <a:pt x="63" y="698"/>
                  <a:pt x="48" y="671"/>
                  <a:pt x="37" y="643"/>
                </a:cubicBezTo>
                <a:cubicBezTo>
                  <a:pt x="25" y="615"/>
                  <a:pt x="16" y="586"/>
                  <a:pt x="9" y="556"/>
                </a:cubicBezTo>
                <a:cubicBezTo>
                  <a:pt x="3" y="525"/>
                  <a:pt x="0" y="495"/>
                  <a:pt x="0" y="464"/>
                </a:cubicBezTo>
                <a:cubicBezTo>
                  <a:pt x="0" y="434"/>
                  <a:pt x="3" y="403"/>
                  <a:pt x="9" y="374"/>
                </a:cubicBezTo>
                <a:cubicBezTo>
                  <a:pt x="16" y="344"/>
                  <a:pt x="25" y="315"/>
                  <a:pt x="37" y="287"/>
                </a:cubicBezTo>
                <a:cubicBezTo>
                  <a:pt x="48" y="258"/>
                  <a:pt x="63" y="232"/>
                  <a:pt x="80" y="206"/>
                </a:cubicBezTo>
                <a:cubicBezTo>
                  <a:pt x="97" y="181"/>
                  <a:pt x="116" y="157"/>
                  <a:pt x="137" y="136"/>
                </a:cubicBezTo>
                <a:cubicBezTo>
                  <a:pt x="159" y="114"/>
                  <a:pt x="182" y="95"/>
                  <a:pt x="208" y="78"/>
                </a:cubicBezTo>
                <a:cubicBezTo>
                  <a:pt x="233" y="61"/>
                  <a:pt x="260" y="47"/>
                  <a:pt x="288" y="35"/>
                </a:cubicBezTo>
                <a:cubicBezTo>
                  <a:pt x="316" y="24"/>
                  <a:pt x="345" y="15"/>
                  <a:pt x="375" y="9"/>
                </a:cubicBezTo>
                <a:cubicBezTo>
                  <a:pt x="405" y="3"/>
                  <a:pt x="435" y="0"/>
                  <a:pt x="466" y="0"/>
                </a:cubicBezTo>
                <a:cubicBezTo>
                  <a:pt x="496" y="0"/>
                  <a:pt x="526" y="3"/>
                  <a:pt x="556" y="9"/>
                </a:cubicBezTo>
                <a:cubicBezTo>
                  <a:pt x="586" y="15"/>
                  <a:pt x="615" y="24"/>
                  <a:pt x="643" y="35"/>
                </a:cubicBezTo>
                <a:cubicBezTo>
                  <a:pt x="672" y="47"/>
                  <a:pt x="698" y="61"/>
                  <a:pt x="724" y="78"/>
                </a:cubicBezTo>
                <a:cubicBezTo>
                  <a:pt x="749" y="95"/>
                  <a:pt x="772" y="114"/>
                  <a:pt x="794" y="136"/>
                </a:cubicBezTo>
                <a:cubicBezTo>
                  <a:pt x="816" y="157"/>
                  <a:pt x="835" y="181"/>
                  <a:pt x="852" y="206"/>
                </a:cubicBezTo>
                <a:cubicBezTo>
                  <a:pt x="869" y="232"/>
                  <a:pt x="883" y="258"/>
                  <a:pt x="895" y="287"/>
                </a:cubicBezTo>
                <a:cubicBezTo>
                  <a:pt x="906" y="315"/>
                  <a:pt x="915" y="344"/>
                  <a:pt x="921" y="374"/>
                </a:cubicBezTo>
                <a:cubicBezTo>
                  <a:pt x="927" y="403"/>
                  <a:pt x="930" y="434"/>
                  <a:pt x="930" y="464"/>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404" name="図 403"/>
          <p:cNvPicPr/>
          <p:nvPr/>
        </p:nvPicPr>
        <p:blipFill>
          <a:blip r:embed="rId8"/>
          <a:stretch/>
        </p:blipFill>
        <p:spPr>
          <a:xfrm>
            <a:off x="6601680" y="4078080"/>
            <a:ext cx="150120" cy="133200"/>
          </a:xfrm>
          <a:prstGeom prst="rect">
            <a:avLst/>
          </a:prstGeom>
          <a:noFill/>
          <a:ln w="0">
            <a:noFill/>
          </a:ln>
        </p:spPr>
      </p:pic>
      <p:sp>
        <p:nvSpPr>
          <p:cNvPr id="405" name="テキスト ボックス 404"/>
          <p:cNvSpPr txBox="1"/>
          <p:nvPr/>
        </p:nvSpPr>
        <p:spPr>
          <a:xfrm>
            <a:off x="6738120" y="3605400"/>
            <a:ext cx="83880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重要な知見</a:t>
            </a:r>
            <a:endParaRPr lang="en-US" sz="1320" b="0" u="none" strike="noStrike">
              <a:solidFill>
                <a:srgbClr val="000000"/>
              </a:solidFill>
              <a:effectLst/>
              <a:uFillTx/>
              <a:latin typeface="Times New Roman"/>
            </a:endParaRPr>
          </a:p>
        </p:txBody>
      </p:sp>
      <p:sp>
        <p:nvSpPr>
          <p:cNvPr id="406" name="テキスト ボックス 405"/>
          <p:cNvSpPr txBox="1"/>
          <p:nvPr/>
        </p:nvSpPr>
        <p:spPr>
          <a:xfrm>
            <a:off x="6980760" y="3988440"/>
            <a:ext cx="167040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未満の検知能力</a:t>
            </a:r>
            <a:endParaRPr lang="en-US" sz="1180" b="0" u="none" strike="noStrike">
              <a:solidFill>
                <a:srgbClr val="000000"/>
              </a:solidFill>
              <a:effectLst/>
              <a:uFillTx/>
              <a:latin typeface="Times New Roman"/>
            </a:endParaRPr>
          </a:p>
        </p:txBody>
      </p:sp>
      <p:sp>
        <p:nvSpPr>
          <p:cNvPr id="407" name="テキスト ボックス 406"/>
          <p:cNvSpPr txBox="1"/>
          <p:nvPr/>
        </p:nvSpPr>
        <p:spPr>
          <a:xfrm>
            <a:off x="6980760" y="4213080"/>
            <a:ext cx="3371760" cy="194040"/>
          </a:xfrm>
          <a:prstGeom prst="rect">
            <a:avLst/>
          </a:prstGeom>
          <a:noFill/>
          <a:ln w="0">
            <a:noFill/>
          </a:ln>
        </p:spPr>
        <p:txBody>
          <a:bodyPr wrap="none" lIns="0" tIns="0" rIns="0" bIns="0" anchor="t">
            <a:spAutoFit/>
          </a:bodyPr>
          <a:lstStyle/>
          <a:p>
            <a:r>
              <a:rPr lang="zh-CN" sz="1050" b="0" u="none" strike="noStrike">
                <a:solidFill>
                  <a:srgbClr val="374151"/>
                </a:solidFill>
                <a:effectLst/>
                <a:uFillTx/>
                <a:latin typeface="NotoSansJP"/>
                <a:ea typeface="NotoSansJP"/>
              </a:rPr>
              <a:t>視力低下が起こるリスク濃度</a:t>
            </a:r>
            <a:r>
              <a:rPr lang="en-US" sz="1050" b="0" u="none" strike="noStrike">
                <a:solidFill>
                  <a:srgbClr val="374151"/>
                </a:solidFill>
                <a:effectLst/>
                <a:uFillTx/>
                <a:latin typeface="NotoSansJP"/>
                <a:ea typeface="NotoSansJP"/>
              </a:rPr>
              <a:t>(1.2ppm)</a:t>
            </a:r>
            <a:r>
              <a:rPr lang="zh-CN" sz="1050" b="0" u="none" strike="noStrike">
                <a:solidFill>
                  <a:srgbClr val="374151"/>
                </a:solidFill>
                <a:effectLst/>
                <a:uFillTx/>
                <a:latin typeface="NotoSansJP"/>
                <a:ea typeface="NotoSansJP"/>
              </a:rPr>
              <a:t>より低い濃度の</a:t>
            </a:r>
            <a:endParaRPr lang="en-US" sz="1050" b="0" u="none" strike="noStrike">
              <a:solidFill>
                <a:srgbClr val="000000"/>
              </a:solidFill>
              <a:effectLst/>
              <a:uFillTx/>
              <a:latin typeface="Times New Roman"/>
            </a:endParaRPr>
          </a:p>
        </p:txBody>
      </p:sp>
      <p:sp>
        <p:nvSpPr>
          <p:cNvPr id="408" name="フリーフォーム: 図形 407"/>
          <p:cNvSpPr/>
          <p:nvPr/>
        </p:nvSpPr>
        <p:spPr>
          <a:xfrm>
            <a:off x="6509520" y="4746600"/>
            <a:ext cx="334800" cy="334440"/>
          </a:xfrm>
          <a:custGeom>
            <a:avLst/>
            <a:gdLst/>
            <a:ahLst/>
            <a:cxnLst/>
            <a:rect l="0" t="0" r="r" b="b"/>
            <a:pathLst>
              <a:path w="930" h="929">
                <a:moveTo>
                  <a:pt x="930" y="465"/>
                </a:moveTo>
                <a:cubicBezTo>
                  <a:pt x="930" y="495"/>
                  <a:pt x="927" y="525"/>
                  <a:pt x="921" y="555"/>
                </a:cubicBezTo>
                <a:cubicBezTo>
                  <a:pt x="915" y="585"/>
                  <a:pt x="906" y="614"/>
                  <a:pt x="895" y="642"/>
                </a:cubicBezTo>
                <a:cubicBezTo>
                  <a:pt x="883" y="671"/>
                  <a:pt x="869" y="697"/>
                  <a:pt x="852" y="723"/>
                </a:cubicBezTo>
                <a:cubicBezTo>
                  <a:pt x="835" y="748"/>
                  <a:pt x="816" y="772"/>
                  <a:pt x="794" y="793"/>
                </a:cubicBezTo>
                <a:cubicBezTo>
                  <a:pt x="772" y="815"/>
                  <a:pt x="749" y="834"/>
                  <a:pt x="724" y="851"/>
                </a:cubicBezTo>
                <a:cubicBezTo>
                  <a:pt x="698" y="868"/>
                  <a:pt x="672" y="882"/>
                  <a:pt x="643" y="894"/>
                </a:cubicBezTo>
                <a:cubicBezTo>
                  <a:pt x="615" y="905"/>
                  <a:pt x="586" y="914"/>
                  <a:pt x="556" y="920"/>
                </a:cubicBezTo>
                <a:cubicBezTo>
                  <a:pt x="526" y="926"/>
                  <a:pt x="496" y="929"/>
                  <a:pt x="466" y="929"/>
                </a:cubicBezTo>
                <a:cubicBezTo>
                  <a:pt x="435" y="929"/>
                  <a:pt x="405" y="926"/>
                  <a:pt x="375" y="920"/>
                </a:cubicBezTo>
                <a:cubicBezTo>
                  <a:pt x="345" y="914"/>
                  <a:pt x="316" y="905"/>
                  <a:pt x="288" y="894"/>
                </a:cubicBezTo>
                <a:cubicBezTo>
                  <a:pt x="260" y="882"/>
                  <a:pt x="233" y="868"/>
                  <a:pt x="208" y="851"/>
                </a:cubicBezTo>
                <a:cubicBezTo>
                  <a:pt x="182" y="834"/>
                  <a:pt x="159" y="815"/>
                  <a:pt x="137" y="793"/>
                </a:cubicBezTo>
                <a:cubicBezTo>
                  <a:pt x="116" y="772"/>
                  <a:pt x="97" y="748"/>
                  <a:pt x="80" y="723"/>
                </a:cubicBezTo>
                <a:cubicBezTo>
                  <a:pt x="63" y="697"/>
                  <a:pt x="48" y="671"/>
                  <a:pt x="37" y="642"/>
                </a:cubicBezTo>
                <a:cubicBezTo>
                  <a:pt x="25" y="614"/>
                  <a:pt x="16" y="585"/>
                  <a:pt x="9" y="555"/>
                </a:cubicBezTo>
                <a:cubicBezTo>
                  <a:pt x="3" y="525"/>
                  <a:pt x="0" y="495"/>
                  <a:pt x="0" y="465"/>
                </a:cubicBezTo>
                <a:cubicBezTo>
                  <a:pt x="0" y="434"/>
                  <a:pt x="3" y="404"/>
                  <a:pt x="9" y="374"/>
                </a:cubicBezTo>
                <a:cubicBezTo>
                  <a:pt x="16" y="344"/>
                  <a:pt x="25" y="315"/>
                  <a:pt x="37" y="287"/>
                </a:cubicBezTo>
                <a:cubicBezTo>
                  <a:pt x="48" y="258"/>
                  <a:pt x="63" y="231"/>
                  <a:pt x="80" y="206"/>
                </a:cubicBezTo>
                <a:cubicBezTo>
                  <a:pt x="97" y="180"/>
                  <a:pt x="116" y="157"/>
                  <a:pt x="137" y="135"/>
                </a:cubicBezTo>
                <a:cubicBezTo>
                  <a:pt x="159" y="114"/>
                  <a:pt x="182" y="95"/>
                  <a:pt x="208" y="78"/>
                </a:cubicBezTo>
                <a:cubicBezTo>
                  <a:pt x="233" y="61"/>
                  <a:pt x="260" y="47"/>
                  <a:pt x="288" y="35"/>
                </a:cubicBezTo>
                <a:cubicBezTo>
                  <a:pt x="316" y="23"/>
                  <a:pt x="345" y="14"/>
                  <a:pt x="375" y="8"/>
                </a:cubicBezTo>
                <a:cubicBezTo>
                  <a:pt x="405" y="2"/>
                  <a:pt x="435" y="0"/>
                  <a:pt x="466" y="0"/>
                </a:cubicBezTo>
                <a:cubicBezTo>
                  <a:pt x="496" y="0"/>
                  <a:pt x="526" y="2"/>
                  <a:pt x="556" y="8"/>
                </a:cubicBezTo>
                <a:cubicBezTo>
                  <a:pt x="586" y="14"/>
                  <a:pt x="615" y="23"/>
                  <a:pt x="643" y="35"/>
                </a:cubicBezTo>
                <a:cubicBezTo>
                  <a:pt x="672" y="47"/>
                  <a:pt x="698" y="61"/>
                  <a:pt x="724" y="78"/>
                </a:cubicBezTo>
                <a:cubicBezTo>
                  <a:pt x="749" y="95"/>
                  <a:pt x="772" y="114"/>
                  <a:pt x="794" y="135"/>
                </a:cubicBezTo>
                <a:cubicBezTo>
                  <a:pt x="816" y="157"/>
                  <a:pt x="835" y="180"/>
                  <a:pt x="852" y="206"/>
                </a:cubicBezTo>
                <a:cubicBezTo>
                  <a:pt x="869" y="231"/>
                  <a:pt x="883" y="258"/>
                  <a:pt x="895" y="287"/>
                </a:cubicBezTo>
                <a:cubicBezTo>
                  <a:pt x="906" y="315"/>
                  <a:pt x="915" y="344"/>
                  <a:pt x="921" y="374"/>
                </a:cubicBezTo>
                <a:cubicBezTo>
                  <a:pt x="927" y="404"/>
                  <a:pt x="930" y="434"/>
                  <a:pt x="930" y="465"/>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09" name="図 408"/>
          <p:cNvPicPr/>
          <p:nvPr/>
        </p:nvPicPr>
        <p:blipFill>
          <a:blip r:embed="rId9"/>
          <a:stretch/>
        </p:blipFill>
        <p:spPr>
          <a:xfrm>
            <a:off x="6610320" y="4847040"/>
            <a:ext cx="133200" cy="133200"/>
          </a:xfrm>
          <a:prstGeom prst="rect">
            <a:avLst/>
          </a:prstGeom>
          <a:noFill/>
          <a:ln w="0">
            <a:noFill/>
          </a:ln>
        </p:spPr>
      </p:pic>
      <p:sp>
        <p:nvSpPr>
          <p:cNvPr id="410" name="テキスト ボックス 409"/>
          <p:cNvSpPr txBox="1"/>
          <p:nvPr/>
        </p:nvSpPr>
        <p:spPr>
          <a:xfrm>
            <a:off x="6980760" y="4413600"/>
            <a:ext cx="671400" cy="194040"/>
          </a:xfrm>
          <a:prstGeom prst="rect">
            <a:avLst/>
          </a:prstGeom>
          <a:noFill/>
          <a:ln w="0">
            <a:noFill/>
          </a:ln>
        </p:spPr>
        <p:txBody>
          <a:bodyPr wrap="none" lIns="0" tIns="0" rIns="0" bIns="0" anchor="t">
            <a:spAutoFit/>
          </a:bodyPr>
          <a:lstStyle/>
          <a:p>
            <a:r>
              <a:rPr lang="zh-CN" sz="1050" b="0" u="none" strike="noStrike">
                <a:solidFill>
                  <a:srgbClr val="374151"/>
                </a:solidFill>
                <a:effectLst/>
                <a:uFillTx/>
                <a:latin typeface="NotoSansJP"/>
                <a:ea typeface="NotoSansJP"/>
              </a:rPr>
              <a:t>検知が可能</a:t>
            </a:r>
            <a:endParaRPr lang="en-US" sz="1050" b="0" u="none" strike="noStrike">
              <a:solidFill>
                <a:srgbClr val="000000"/>
              </a:solidFill>
              <a:effectLst/>
              <a:uFillTx/>
              <a:latin typeface="Times New Roman"/>
            </a:endParaRPr>
          </a:p>
        </p:txBody>
      </p:sp>
      <p:sp>
        <p:nvSpPr>
          <p:cNvPr id="411" name="テキスト ボックス 410"/>
          <p:cNvSpPr txBox="1"/>
          <p:nvPr/>
        </p:nvSpPr>
        <p:spPr>
          <a:xfrm>
            <a:off x="6980760" y="4757400"/>
            <a:ext cx="7552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高い再現性</a:t>
            </a:r>
            <a:endParaRPr lang="en-US" sz="1180" b="0" u="none" strike="noStrike">
              <a:solidFill>
                <a:srgbClr val="000000"/>
              </a:solidFill>
              <a:effectLst/>
              <a:uFillTx/>
              <a:latin typeface="Times New Roman"/>
            </a:endParaRPr>
          </a:p>
        </p:txBody>
      </p:sp>
      <p:sp>
        <p:nvSpPr>
          <p:cNvPr id="412" name="テキスト ボックス 411"/>
          <p:cNvSpPr txBox="1"/>
          <p:nvPr/>
        </p:nvSpPr>
        <p:spPr>
          <a:xfrm>
            <a:off x="6980760" y="4982040"/>
            <a:ext cx="2428920" cy="194040"/>
          </a:xfrm>
          <a:prstGeom prst="rect">
            <a:avLst/>
          </a:prstGeom>
          <a:noFill/>
          <a:ln w="0">
            <a:noFill/>
          </a:ln>
        </p:spPr>
        <p:txBody>
          <a:bodyPr wrap="none" lIns="0" tIns="0" rIns="0" bIns="0" anchor="t">
            <a:spAutoFit/>
          </a:bodyPr>
          <a:lstStyle/>
          <a:p>
            <a:r>
              <a:rPr lang="zh-CN" sz="1050" b="0" u="none" strike="noStrike">
                <a:solidFill>
                  <a:srgbClr val="374151"/>
                </a:solidFill>
                <a:effectLst/>
                <a:uFillTx/>
                <a:latin typeface="NotoSansJP"/>
                <a:ea typeface="NotoSansJP"/>
              </a:rPr>
              <a:t>標準偏差</a:t>
            </a:r>
            <a:r>
              <a:rPr lang="en-US" sz="1050" b="0" u="none" strike="noStrike">
                <a:solidFill>
                  <a:srgbClr val="374151"/>
                </a:solidFill>
                <a:effectLst/>
                <a:uFillTx/>
                <a:latin typeface="NotoSansJP"/>
                <a:ea typeface="NotoSansJP"/>
              </a:rPr>
              <a:t>5%</a:t>
            </a:r>
            <a:r>
              <a:rPr lang="zh-CN" sz="1050" b="0" u="none" strike="noStrike">
                <a:solidFill>
                  <a:srgbClr val="374151"/>
                </a:solidFill>
                <a:effectLst/>
                <a:uFillTx/>
                <a:latin typeface="NotoSansJP"/>
                <a:ea typeface="NotoSansJP"/>
              </a:rPr>
              <a:t>以内で安定した測定が可能</a:t>
            </a:r>
            <a:endParaRPr lang="en-US" sz="1050" b="0" u="none" strike="noStrike">
              <a:solidFill>
                <a:srgbClr val="000000"/>
              </a:solidFill>
              <a:effectLst/>
              <a:uFillTx/>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3" name="図 412"/>
          <p:cNvPicPr/>
          <p:nvPr/>
        </p:nvPicPr>
        <p:blipFill>
          <a:blip r:embed="rId2"/>
          <a:stretch/>
        </p:blipFill>
        <p:spPr>
          <a:xfrm>
            <a:off x="0" y="0"/>
            <a:ext cx="10696320" cy="6417720"/>
          </a:xfrm>
          <a:prstGeom prst="rect">
            <a:avLst/>
          </a:prstGeom>
          <a:noFill/>
          <a:ln w="0">
            <a:noFill/>
          </a:ln>
        </p:spPr>
      </p:pic>
      <p:sp>
        <p:nvSpPr>
          <p:cNvPr id="414" name="フリーフォーム: 図形 413"/>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15" name="フリーフォーム: 図形 414"/>
          <p:cNvSpPr/>
          <p:nvPr/>
        </p:nvSpPr>
        <p:spPr>
          <a:xfrm>
            <a:off x="334080" y="935640"/>
            <a:ext cx="4880520" cy="3242880"/>
          </a:xfrm>
          <a:custGeom>
            <a:avLst/>
            <a:gdLst/>
            <a:ahLst/>
            <a:cxnLst/>
            <a:rect l="0" t="0" r="r" b="b"/>
            <a:pathLst>
              <a:path w="13557" h="9008">
                <a:moveTo>
                  <a:pt x="0" y="8822"/>
                </a:moveTo>
                <a:lnTo>
                  <a:pt x="0" y="186"/>
                </a:lnTo>
                <a:cubicBezTo>
                  <a:pt x="0" y="174"/>
                  <a:pt x="1" y="162"/>
                  <a:pt x="4" y="150"/>
                </a:cubicBezTo>
                <a:cubicBezTo>
                  <a:pt x="6" y="138"/>
                  <a:pt x="9" y="126"/>
                  <a:pt x="14" y="115"/>
                </a:cubicBezTo>
                <a:cubicBezTo>
                  <a:pt x="19" y="104"/>
                  <a:pt x="25" y="93"/>
                  <a:pt x="31" y="83"/>
                </a:cubicBezTo>
                <a:cubicBezTo>
                  <a:pt x="38" y="73"/>
                  <a:pt x="46" y="63"/>
                  <a:pt x="54" y="55"/>
                </a:cubicBezTo>
                <a:cubicBezTo>
                  <a:pt x="63" y="46"/>
                  <a:pt x="72" y="38"/>
                  <a:pt x="83" y="32"/>
                </a:cubicBezTo>
                <a:cubicBezTo>
                  <a:pt x="93" y="25"/>
                  <a:pt x="103" y="19"/>
                  <a:pt x="115" y="14"/>
                </a:cubicBezTo>
                <a:cubicBezTo>
                  <a:pt x="126" y="10"/>
                  <a:pt x="138" y="6"/>
                  <a:pt x="149" y="4"/>
                </a:cubicBezTo>
                <a:cubicBezTo>
                  <a:pt x="161" y="2"/>
                  <a:pt x="174" y="0"/>
                  <a:pt x="186" y="0"/>
                </a:cubicBezTo>
                <a:lnTo>
                  <a:pt x="13372" y="0"/>
                </a:lnTo>
                <a:cubicBezTo>
                  <a:pt x="13384" y="0"/>
                  <a:pt x="13396" y="2"/>
                  <a:pt x="13408" y="4"/>
                </a:cubicBezTo>
                <a:cubicBezTo>
                  <a:pt x="13420" y="6"/>
                  <a:pt x="13432" y="10"/>
                  <a:pt x="13443" y="14"/>
                </a:cubicBezTo>
                <a:cubicBezTo>
                  <a:pt x="13454" y="19"/>
                  <a:pt x="13465" y="25"/>
                  <a:pt x="13475" y="32"/>
                </a:cubicBezTo>
                <a:cubicBezTo>
                  <a:pt x="13485" y="38"/>
                  <a:pt x="13494" y="46"/>
                  <a:pt x="13503" y="55"/>
                </a:cubicBezTo>
                <a:cubicBezTo>
                  <a:pt x="13512" y="63"/>
                  <a:pt x="13519" y="73"/>
                  <a:pt x="13526" y="83"/>
                </a:cubicBezTo>
                <a:cubicBezTo>
                  <a:pt x="13533" y="93"/>
                  <a:pt x="13539" y="104"/>
                  <a:pt x="13543" y="115"/>
                </a:cubicBezTo>
                <a:cubicBezTo>
                  <a:pt x="13548" y="126"/>
                  <a:pt x="13551" y="138"/>
                  <a:pt x="13554" y="150"/>
                </a:cubicBezTo>
                <a:cubicBezTo>
                  <a:pt x="13556" y="162"/>
                  <a:pt x="13557" y="174"/>
                  <a:pt x="13557" y="186"/>
                </a:cubicBezTo>
                <a:lnTo>
                  <a:pt x="13557" y="8822"/>
                </a:lnTo>
                <a:cubicBezTo>
                  <a:pt x="13557" y="8835"/>
                  <a:pt x="13556" y="8847"/>
                  <a:pt x="13554" y="8859"/>
                </a:cubicBezTo>
                <a:cubicBezTo>
                  <a:pt x="13551" y="8871"/>
                  <a:pt x="13548" y="8882"/>
                  <a:pt x="13543" y="8893"/>
                </a:cubicBezTo>
                <a:cubicBezTo>
                  <a:pt x="13539" y="8905"/>
                  <a:pt x="13533" y="8915"/>
                  <a:pt x="13526" y="8925"/>
                </a:cubicBezTo>
                <a:cubicBezTo>
                  <a:pt x="13519" y="8936"/>
                  <a:pt x="13512" y="8945"/>
                  <a:pt x="13503" y="8954"/>
                </a:cubicBezTo>
                <a:cubicBezTo>
                  <a:pt x="13494" y="8962"/>
                  <a:pt x="13485" y="8970"/>
                  <a:pt x="13475" y="8977"/>
                </a:cubicBezTo>
                <a:cubicBezTo>
                  <a:pt x="13465" y="8984"/>
                  <a:pt x="13454" y="8989"/>
                  <a:pt x="13443" y="8994"/>
                </a:cubicBezTo>
                <a:cubicBezTo>
                  <a:pt x="13432" y="8999"/>
                  <a:pt x="13420" y="9002"/>
                  <a:pt x="13408" y="9004"/>
                </a:cubicBezTo>
                <a:cubicBezTo>
                  <a:pt x="13396" y="9007"/>
                  <a:pt x="13384" y="9008"/>
                  <a:pt x="13372" y="9008"/>
                </a:cubicBezTo>
                <a:lnTo>
                  <a:pt x="186" y="9008"/>
                </a:lnTo>
                <a:cubicBezTo>
                  <a:pt x="174" y="9008"/>
                  <a:pt x="161" y="9007"/>
                  <a:pt x="149" y="9004"/>
                </a:cubicBezTo>
                <a:cubicBezTo>
                  <a:pt x="138" y="9002"/>
                  <a:pt x="126" y="8999"/>
                  <a:pt x="115" y="8994"/>
                </a:cubicBezTo>
                <a:cubicBezTo>
                  <a:pt x="103" y="8989"/>
                  <a:pt x="93" y="8984"/>
                  <a:pt x="83" y="8977"/>
                </a:cubicBezTo>
                <a:cubicBezTo>
                  <a:pt x="72" y="8970"/>
                  <a:pt x="63" y="8962"/>
                  <a:pt x="54" y="8954"/>
                </a:cubicBezTo>
                <a:cubicBezTo>
                  <a:pt x="46" y="8945"/>
                  <a:pt x="38" y="8936"/>
                  <a:pt x="31" y="8925"/>
                </a:cubicBezTo>
                <a:cubicBezTo>
                  <a:pt x="25" y="8915"/>
                  <a:pt x="19" y="8905"/>
                  <a:pt x="14" y="8893"/>
                </a:cubicBezTo>
                <a:cubicBezTo>
                  <a:pt x="9" y="8882"/>
                  <a:pt x="6" y="8871"/>
                  <a:pt x="4" y="8859"/>
                </a:cubicBezTo>
                <a:cubicBezTo>
                  <a:pt x="1" y="8847"/>
                  <a:pt x="0" y="8835"/>
                  <a:pt x="0" y="8822"/>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16" name="フリーフォーム: 図形 415"/>
          <p:cNvSpPr/>
          <p:nvPr/>
        </p:nvSpPr>
        <p:spPr>
          <a:xfrm>
            <a:off x="534600" y="1571040"/>
            <a:ext cx="4479480" cy="668880"/>
          </a:xfrm>
          <a:custGeom>
            <a:avLst/>
            <a:gdLst/>
            <a:ahLst/>
            <a:cxnLst/>
            <a:rect l="0" t="0" r="r" b="b"/>
            <a:pathLst>
              <a:path w="12443" h="1858">
                <a:moveTo>
                  <a:pt x="0" y="0"/>
                </a:moveTo>
                <a:lnTo>
                  <a:pt x="12443" y="0"/>
                </a:lnTo>
                <a:lnTo>
                  <a:pt x="12443" y="1858"/>
                </a:lnTo>
                <a:lnTo>
                  <a:pt x="0" y="1858"/>
                </a:lnTo>
                <a:lnTo>
                  <a:pt x="0" y="0"/>
                </a:lnTo>
                <a:close/>
              </a:path>
            </a:pathLst>
          </a:custGeom>
          <a:solidFill>
            <a:srgbClr val="EFF6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17" name="フリーフォーム: 図形 416"/>
          <p:cNvSpPr/>
          <p:nvPr/>
        </p:nvSpPr>
        <p:spPr>
          <a:xfrm>
            <a:off x="534600" y="1571040"/>
            <a:ext cx="33840" cy="668880"/>
          </a:xfrm>
          <a:custGeom>
            <a:avLst/>
            <a:gdLst/>
            <a:ahLst/>
            <a:cxnLst/>
            <a:rect l="0" t="0" r="r" b="b"/>
            <a:pathLst>
              <a:path w="94" h="1858">
                <a:moveTo>
                  <a:pt x="0" y="0"/>
                </a:moveTo>
                <a:lnTo>
                  <a:pt x="94" y="0"/>
                </a:lnTo>
                <a:lnTo>
                  <a:pt x="94" y="1858"/>
                </a:lnTo>
                <a:lnTo>
                  <a:pt x="0" y="1858"/>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18" name="フリーフォーム: 図形 417"/>
          <p:cNvSpPr/>
          <p:nvPr/>
        </p:nvSpPr>
        <p:spPr>
          <a:xfrm>
            <a:off x="534600" y="2440080"/>
            <a:ext cx="4479480" cy="668880"/>
          </a:xfrm>
          <a:custGeom>
            <a:avLst/>
            <a:gdLst/>
            <a:ahLst/>
            <a:cxnLst/>
            <a:rect l="0" t="0" r="r" b="b"/>
            <a:pathLst>
              <a:path w="12443" h="1858">
                <a:moveTo>
                  <a:pt x="0" y="0"/>
                </a:moveTo>
                <a:lnTo>
                  <a:pt x="12443" y="0"/>
                </a:lnTo>
                <a:lnTo>
                  <a:pt x="12443" y="1858"/>
                </a:lnTo>
                <a:lnTo>
                  <a:pt x="0" y="1858"/>
                </a:lnTo>
                <a:lnTo>
                  <a:pt x="0" y="0"/>
                </a:lnTo>
                <a:close/>
              </a:path>
            </a:pathLst>
          </a:custGeom>
          <a:solidFill>
            <a:srgbClr val="ECFDF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19" name="フリーフォーム: 図形 418"/>
          <p:cNvSpPr/>
          <p:nvPr/>
        </p:nvSpPr>
        <p:spPr>
          <a:xfrm>
            <a:off x="534600" y="2440080"/>
            <a:ext cx="33840" cy="668880"/>
          </a:xfrm>
          <a:custGeom>
            <a:avLst/>
            <a:gdLst/>
            <a:ahLst/>
            <a:cxnLst/>
            <a:rect l="0" t="0" r="r" b="b"/>
            <a:pathLst>
              <a:path w="94" h="1858">
                <a:moveTo>
                  <a:pt x="0" y="0"/>
                </a:moveTo>
                <a:lnTo>
                  <a:pt x="94" y="0"/>
                </a:lnTo>
                <a:lnTo>
                  <a:pt x="94" y="1858"/>
                </a:lnTo>
                <a:lnTo>
                  <a:pt x="0" y="1858"/>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20" name="フリーフォーム: 図形 419"/>
          <p:cNvSpPr/>
          <p:nvPr/>
        </p:nvSpPr>
        <p:spPr>
          <a:xfrm>
            <a:off x="534600" y="3309120"/>
            <a:ext cx="4479480" cy="668880"/>
          </a:xfrm>
          <a:custGeom>
            <a:avLst/>
            <a:gdLst/>
            <a:ahLst/>
            <a:cxnLst/>
            <a:rect l="0" t="0" r="r" b="b"/>
            <a:pathLst>
              <a:path w="12443" h="1858">
                <a:moveTo>
                  <a:pt x="0" y="0"/>
                </a:moveTo>
                <a:lnTo>
                  <a:pt x="12443" y="0"/>
                </a:lnTo>
                <a:lnTo>
                  <a:pt x="12443" y="1858"/>
                </a:lnTo>
                <a:lnTo>
                  <a:pt x="0" y="1858"/>
                </a:lnTo>
                <a:lnTo>
                  <a:pt x="0" y="0"/>
                </a:lnTo>
                <a:close/>
              </a:path>
            </a:pathLst>
          </a:custGeom>
          <a:solidFill>
            <a:srgbClr val="FFFB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21" name="フリーフォーム: 図形 420"/>
          <p:cNvSpPr/>
          <p:nvPr/>
        </p:nvSpPr>
        <p:spPr>
          <a:xfrm>
            <a:off x="534600" y="3309120"/>
            <a:ext cx="33840" cy="668880"/>
          </a:xfrm>
          <a:custGeom>
            <a:avLst/>
            <a:gdLst/>
            <a:ahLst/>
            <a:cxnLst/>
            <a:rect l="0" t="0" r="r" b="b"/>
            <a:pathLst>
              <a:path w="94" h="1858">
                <a:moveTo>
                  <a:pt x="0" y="0"/>
                </a:moveTo>
                <a:lnTo>
                  <a:pt x="94" y="0"/>
                </a:lnTo>
                <a:lnTo>
                  <a:pt x="94" y="1858"/>
                </a:lnTo>
                <a:lnTo>
                  <a:pt x="0" y="1858"/>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22" name="図 421"/>
          <p:cNvPicPr/>
          <p:nvPr/>
        </p:nvPicPr>
        <p:blipFill>
          <a:blip r:embed="rId3"/>
          <a:stretch/>
        </p:blipFill>
        <p:spPr>
          <a:xfrm>
            <a:off x="534960" y="1170000"/>
            <a:ext cx="200160" cy="200160"/>
          </a:xfrm>
          <a:prstGeom prst="rect">
            <a:avLst/>
          </a:prstGeom>
          <a:noFill/>
          <a:ln w="0">
            <a:noFill/>
          </a:ln>
        </p:spPr>
      </p:pic>
      <p:sp>
        <p:nvSpPr>
          <p:cNvPr id="423" name="テキスト ボックス 422"/>
          <p:cNvSpPr txBox="1"/>
          <p:nvPr/>
        </p:nvSpPr>
        <p:spPr>
          <a:xfrm>
            <a:off x="334440" y="155520"/>
            <a:ext cx="42040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パーミエータチューブについて</a:t>
            </a:r>
            <a:endParaRPr lang="en-US" sz="2370" b="0" u="none" strike="noStrike">
              <a:solidFill>
                <a:srgbClr val="000000"/>
              </a:solidFill>
              <a:effectLst/>
              <a:uFillTx/>
              <a:latin typeface="Times New Roman"/>
            </a:endParaRPr>
          </a:p>
        </p:txBody>
      </p:sp>
      <p:pic>
        <p:nvPicPr>
          <p:cNvPr id="424" name="図 423"/>
          <p:cNvPicPr/>
          <p:nvPr/>
        </p:nvPicPr>
        <p:blipFill>
          <a:blip r:embed="rId4"/>
          <a:stretch/>
        </p:blipFill>
        <p:spPr>
          <a:xfrm>
            <a:off x="668520" y="1805040"/>
            <a:ext cx="174960" cy="200160"/>
          </a:xfrm>
          <a:prstGeom prst="rect">
            <a:avLst/>
          </a:prstGeom>
          <a:noFill/>
          <a:ln w="0">
            <a:noFill/>
          </a:ln>
        </p:spPr>
      </p:pic>
      <p:sp>
        <p:nvSpPr>
          <p:cNvPr id="425" name="テキスト ボックス 424"/>
          <p:cNvSpPr txBox="1"/>
          <p:nvPr/>
        </p:nvSpPr>
        <p:spPr>
          <a:xfrm>
            <a:off x="835560" y="1167840"/>
            <a:ext cx="261576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パーミエータチューブの仕様</a:t>
            </a:r>
            <a:endParaRPr lang="en-US" sz="1580" b="0" u="none" strike="noStrike">
              <a:solidFill>
                <a:srgbClr val="000000"/>
              </a:solidFill>
              <a:effectLst/>
              <a:uFillTx/>
              <a:latin typeface="Times New Roman"/>
            </a:endParaRPr>
          </a:p>
        </p:txBody>
      </p:sp>
      <p:sp>
        <p:nvSpPr>
          <p:cNvPr id="426" name="テキスト ボックス 425"/>
          <p:cNvSpPr txBox="1"/>
          <p:nvPr/>
        </p:nvSpPr>
        <p:spPr>
          <a:xfrm>
            <a:off x="977760" y="1715760"/>
            <a:ext cx="4532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モデル</a:t>
            </a:r>
            <a:endParaRPr lang="en-US" sz="1180" b="0" u="none" strike="noStrike">
              <a:solidFill>
                <a:srgbClr val="000000"/>
              </a:solidFill>
              <a:effectLst/>
              <a:uFillTx/>
              <a:latin typeface="Times New Roman"/>
            </a:endParaRPr>
          </a:p>
        </p:txBody>
      </p:sp>
      <p:pic>
        <p:nvPicPr>
          <p:cNvPr id="427" name="図 426"/>
          <p:cNvPicPr/>
          <p:nvPr/>
        </p:nvPicPr>
        <p:blipFill>
          <a:blip r:embed="rId5"/>
          <a:stretch/>
        </p:blipFill>
        <p:spPr>
          <a:xfrm>
            <a:off x="668520" y="2674080"/>
            <a:ext cx="200160" cy="200160"/>
          </a:xfrm>
          <a:prstGeom prst="rect">
            <a:avLst/>
          </a:prstGeom>
          <a:noFill/>
          <a:ln w="0">
            <a:noFill/>
          </a:ln>
        </p:spPr>
      </p:pic>
      <p:sp>
        <p:nvSpPr>
          <p:cNvPr id="428" name="テキスト ボックス 427"/>
          <p:cNvSpPr txBox="1"/>
          <p:nvPr/>
        </p:nvSpPr>
        <p:spPr>
          <a:xfrm>
            <a:off x="977760" y="1949760"/>
            <a:ext cx="457200" cy="17568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PD-1B</a:t>
            </a:r>
            <a:endParaRPr lang="en-US" sz="1180" b="0" u="none" strike="noStrike">
              <a:solidFill>
                <a:srgbClr val="000000"/>
              </a:solidFill>
              <a:effectLst/>
              <a:uFillTx/>
              <a:latin typeface="Times New Roman"/>
            </a:endParaRPr>
          </a:p>
        </p:txBody>
      </p:sp>
      <p:sp>
        <p:nvSpPr>
          <p:cNvPr id="429" name="テキスト ボックス 428"/>
          <p:cNvSpPr txBox="1"/>
          <p:nvPr/>
        </p:nvSpPr>
        <p:spPr>
          <a:xfrm>
            <a:off x="1002960" y="2584800"/>
            <a:ext cx="3024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流量</a:t>
            </a:r>
            <a:endParaRPr lang="en-US" sz="1180" b="0" u="none" strike="noStrike">
              <a:solidFill>
                <a:srgbClr val="000000"/>
              </a:solidFill>
              <a:effectLst/>
              <a:uFillTx/>
              <a:latin typeface="Times New Roman"/>
            </a:endParaRPr>
          </a:p>
        </p:txBody>
      </p:sp>
      <p:pic>
        <p:nvPicPr>
          <p:cNvPr id="430" name="図 429"/>
          <p:cNvPicPr/>
          <p:nvPr/>
        </p:nvPicPr>
        <p:blipFill>
          <a:blip r:embed="rId6"/>
          <a:stretch/>
        </p:blipFill>
        <p:spPr>
          <a:xfrm>
            <a:off x="668520" y="3543120"/>
            <a:ext cx="200160" cy="200160"/>
          </a:xfrm>
          <a:prstGeom prst="rect">
            <a:avLst/>
          </a:prstGeom>
          <a:noFill/>
          <a:ln w="0">
            <a:noFill/>
          </a:ln>
        </p:spPr>
      </p:pic>
      <p:sp>
        <p:nvSpPr>
          <p:cNvPr id="431" name="テキスト ボックス 430"/>
          <p:cNvSpPr txBox="1"/>
          <p:nvPr/>
        </p:nvSpPr>
        <p:spPr>
          <a:xfrm>
            <a:off x="1002960" y="2818800"/>
            <a:ext cx="660240" cy="17568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10 L/min</a:t>
            </a:r>
            <a:endParaRPr lang="en-US" sz="1180" b="0" u="none" strike="noStrike">
              <a:solidFill>
                <a:srgbClr val="000000"/>
              </a:solidFill>
              <a:effectLst/>
              <a:uFillTx/>
              <a:latin typeface="Times New Roman"/>
            </a:endParaRPr>
          </a:p>
        </p:txBody>
      </p:sp>
      <p:sp>
        <p:nvSpPr>
          <p:cNvPr id="432" name="テキスト ボックス 431"/>
          <p:cNvSpPr txBox="1"/>
          <p:nvPr/>
        </p:nvSpPr>
        <p:spPr>
          <a:xfrm>
            <a:off x="1002960" y="3453840"/>
            <a:ext cx="6040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検出限界</a:t>
            </a:r>
            <a:endParaRPr lang="en-US" sz="1180" b="0" u="none" strike="noStrike">
              <a:solidFill>
                <a:srgbClr val="000000"/>
              </a:solidFill>
              <a:effectLst/>
              <a:uFillTx/>
              <a:latin typeface="Times New Roman"/>
            </a:endParaRPr>
          </a:p>
        </p:txBody>
      </p:sp>
      <p:sp>
        <p:nvSpPr>
          <p:cNvPr id="433" name="フリーフォーム: 図形 432"/>
          <p:cNvSpPr/>
          <p:nvPr/>
        </p:nvSpPr>
        <p:spPr>
          <a:xfrm>
            <a:off x="334080" y="4579200"/>
            <a:ext cx="4880520" cy="1838880"/>
          </a:xfrm>
          <a:custGeom>
            <a:avLst/>
            <a:gdLst/>
            <a:ahLst/>
            <a:cxnLst/>
            <a:rect l="0" t="0" r="r" b="b"/>
            <a:pathLst>
              <a:path w="13557" h="5108">
                <a:moveTo>
                  <a:pt x="0" y="4922"/>
                </a:moveTo>
                <a:lnTo>
                  <a:pt x="0" y="187"/>
                </a:lnTo>
                <a:cubicBezTo>
                  <a:pt x="0" y="175"/>
                  <a:pt x="1" y="163"/>
                  <a:pt x="4" y="151"/>
                </a:cubicBezTo>
                <a:cubicBezTo>
                  <a:pt x="6" y="139"/>
                  <a:pt x="9" y="127"/>
                  <a:pt x="14" y="116"/>
                </a:cubicBezTo>
                <a:cubicBezTo>
                  <a:pt x="19" y="105"/>
                  <a:pt x="25" y="94"/>
                  <a:pt x="31" y="84"/>
                </a:cubicBezTo>
                <a:cubicBezTo>
                  <a:pt x="38" y="74"/>
                  <a:pt x="46" y="64"/>
                  <a:pt x="54" y="56"/>
                </a:cubicBezTo>
                <a:cubicBezTo>
                  <a:pt x="63" y="47"/>
                  <a:pt x="72" y="38"/>
                  <a:pt x="83" y="32"/>
                </a:cubicBezTo>
                <a:cubicBezTo>
                  <a:pt x="93" y="25"/>
                  <a:pt x="103" y="19"/>
                  <a:pt x="115" y="14"/>
                </a:cubicBezTo>
                <a:cubicBezTo>
                  <a:pt x="126" y="10"/>
                  <a:pt x="138" y="6"/>
                  <a:pt x="149" y="4"/>
                </a:cubicBezTo>
                <a:cubicBezTo>
                  <a:pt x="161" y="1"/>
                  <a:pt x="174" y="0"/>
                  <a:pt x="186" y="0"/>
                </a:cubicBezTo>
                <a:lnTo>
                  <a:pt x="13372" y="0"/>
                </a:lnTo>
                <a:cubicBezTo>
                  <a:pt x="13384" y="0"/>
                  <a:pt x="13396" y="1"/>
                  <a:pt x="13408" y="4"/>
                </a:cubicBezTo>
                <a:cubicBezTo>
                  <a:pt x="13420" y="6"/>
                  <a:pt x="13432" y="10"/>
                  <a:pt x="13443" y="14"/>
                </a:cubicBezTo>
                <a:cubicBezTo>
                  <a:pt x="13454" y="19"/>
                  <a:pt x="13465" y="25"/>
                  <a:pt x="13475" y="32"/>
                </a:cubicBezTo>
                <a:cubicBezTo>
                  <a:pt x="13485" y="38"/>
                  <a:pt x="13494" y="47"/>
                  <a:pt x="13503" y="56"/>
                </a:cubicBezTo>
                <a:cubicBezTo>
                  <a:pt x="13512" y="64"/>
                  <a:pt x="13519" y="74"/>
                  <a:pt x="13526" y="84"/>
                </a:cubicBezTo>
                <a:cubicBezTo>
                  <a:pt x="13533" y="94"/>
                  <a:pt x="13539" y="105"/>
                  <a:pt x="13543" y="116"/>
                </a:cubicBezTo>
                <a:cubicBezTo>
                  <a:pt x="13548" y="127"/>
                  <a:pt x="13551" y="139"/>
                  <a:pt x="13554" y="151"/>
                </a:cubicBezTo>
                <a:cubicBezTo>
                  <a:pt x="13556" y="163"/>
                  <a:pt x="13557" y="175"/>
                  <a:pt x="13557" y="187"/>
                </a:cubicBezTo>
                <a:lnTo>
                  <a:pt x="13557" y="4922"/>
                </a:lnTo>
                <a:cubicBezTo>
                  <a:pt x="13557" y="4935"/>
                  <a:pt x="13556" y="4947"/>
                  <a:pt x="13554" y="4959"/>
                </a:cubicBezTo>
                <a:cubicBezTo>
                  <a:pt x="13551" y="4971"/>
                  <a:pt x="13548" y="4982"/>
                  <a:pt x="13543" y="4993"/>
                </a:cubicBezTo>
                <a:cubicBezTo>
                  <a:pt x="13539" y="5005"/>
                  <a:pt x="13533" y="5015"/>
                  <a:pt x="13526" y="5026"/>
                </a:cubicBezTo>
                <a:cubicBezTo>
                  <a:pt x="13519" y="5036"/>
                  <a:pt x="13512" y="5045"/>
                  <a:pt x="13503" y="5054"/>
                </a:cubicBezTo>
                <a:cubicBezTo>
                  <a:pt x="13494" y="5062"/>
                  <a:pt x="13485" y="5070"/>
                  <a:pt x="13475" y="5077"/>
                </a:cubicBezTo>
                <a:cubicBezTo>
                  <a:pt x="13465" y="5084"/>
                  <a:pt x="13454" y="5089"/>
                  <a:pt x="13443" y="5094"/>
                </a:cubicBezTo>
                <a:cubicBezTo>
                  <a:pt x="13432" y="5099"/>
                  <a:pt x="13420" y="5102"/>
                  <a:pt x="13408" y="5105"/>
                </a:cubicBezTo>
                <a:cubicBezTo>
                  <a:pt x="13396" y="5107"/>
                  <a:pt x="13384" y="5108"/>
                  <a:pt x="13372" y="5108"/>
                </a:cubicBezTo>
                <a:lnTo>
                  <a:pt x="186" y="5108"/>
                </a:lnTo>
                <a:cubicBezTo>
                  <a:pt x="174" y="5108"/>
                  <a:pt x="161" y="5107"/>
                  <a:pt x="149" y="5105"/>
                </a:cubicBezTo>
                <a:cubicBezTo>
                  <a:pt x="138" y="5102"/>
                  <a:pt x="126" y="5099"/>
                  <a:pt x="115" y="5094"/>
                </a:cubicBezTo>
                <a:cubicBezTo>
                  <a:pt x="103" y="5089"/>
                  <a:pt x="93" y="5084"/>
                  <a:pt x="83" y="5077"/>
                </a:cubicBezTo>
                <a:cubicBezTo>
                  <a:pt x="72" y="5070"/>
                  <a:pt x="63" y="5062"/>
                  <a:pt x="54" y="5054"/>
                </a:cubicBezTo>
                <a:cubicBezTo>
                  <a:pt x="46" y="5045"/>
                  <a:pt x="38" y="5036"/>
                  <a:pt x="31" y="5026"/>
                </a:cubicBezTo>
                <a:cubicBezTo>
                  <a:pt x="25" y="5015"/>
                  <a:pt x="19" y="5005"/>
                  <a:pt x="14" y="4993"/>
                </a:cubicBezTo>
                <a:cubicBezTo>
                  <a:pt x="9" y="4982"/>
                  <a:pt x="6" y="4971"/>
                  <a:pt x="4" y="4959"/>
                </a:cubicBezTo>
                <a:cubicBezTo>
                  <a:pt x="1" y="4947"/>
                  <a:pt x="0" y="4935"/>
                  <a:pt x="0" y="4922"/>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34" name="テキスト ボックス 433"/>
          <p:cNvSpPr txBox="1"/>
          <p:nvPr/>
        </p:nvSpPr>
        <p:spPr>
          <a:xfrm>
            <a:off x="1002960" y="3687840"/>
            <a:ext cx="723240" cy="17568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0.06 ppm</a:t>
            </a:r>
            <a:endParaRPr lang="en-US" sz="1180" b="0" u="none" strike="noStrike">
              <a:solidFill>
                <a:srgbClr val="000000"/>
              </a:solidFill>
              <a:effectLst/>
              <a:uFillTx/>
              <a:latin typeface="Times New Roman"/>
            </a:endParaRPr>
          </a:p>
        </p:txBody>
      </p:sp>
      <p:sp>
        <p:nvSpPr>
          <p:cNvPr id="435" name="フリーフォーム: 図形 434"/>
          <p:cNvSpPr/>
          <p:nvPr/>
        </p:nvSpPr>
        <p:spPr>
          <a:xfrm>
            <a:off x="534600" y="5548680"/>
            <a:ext cx="1069920" cy="267840"/>
          </a:xfrm>
          <a:custGeom>
            <a:avLst/>
            <a:gdLst/>
            <a:ahLst/>
            <a:cxnLst/>
            <a:rect l="0" t="0" r="r" b="b"/>
            <a:pathLst>
              <a:path w="2972" h="744">
                <a:moveTo>
                  <a:pt x="0" y="558"/>
                </a:moveTo>
                <a:lnTo>
                  <a:pt x="0" y="186"/>
                </a:lnTo>
                <a:cubicBezTo>
                  <a:pt x="0" y="173"/>
                  <a:pt x="2" y="161"/>
                  <a:pt x="5" y="149"/>
                </a:cubicBezTo>
                <a:cubicBezTo>
                  <a:pt x="7" y="137"/>
                  <a:pt x="11" y="126"/>
                  <a:pt x="15" y="115"/>
                </a:cubicBezTo>
                <a:cubicBezTo>
                  <a:pt x="20" y="103"/>
                  <a:pt x="26" y="93"/>
                  <a:pt x="32" y="83"/>
                </a:cubicBezTo>
                <a:cubicBezTo>
                  <a:pt x="39" y="72"/>
                  <a:pt x="47" y="63"/>
                  <a:pt x="56" y="54"/>
                </a:cubicBezTo>
                <a:cubicBezTo>
                  <a:pt x="64" y="46"/>
                  <a:pt x="74" y="38"/>
                  <a:pt x="84" y="31"/>
                </a:cubicBezTo>
                <a:cubicBezTo>
                  <a:pt x="94" y="24"/>
                  <a:pt x="105" y="19"/>
                  <a:pt x="116" y="14"/>
                </a:cubicBezTo>
                <a:cubicBezTo>
                  <a:pt x="127" y="9"/>
                  <a:pt x="139" y="6"/>
                  <a:pt x="151" y="4"/>
                </a:cubicBezTo>
                <a:cubicBezTo>
                  <a:pt x="163" y="1"/>
                  <a:pt x="175" y="0"/>
                  <a:pt x="187" y="0"/>
                </a:cubicBezTo>
                <a:lnTo>
                  <a:pt x="2972" y="0"/>
                </a:lnTo>
                <a:lnTo>
                  <a:pt x="2972" y="744"/>
                </a:lnTo>
                <a:lnTo>
                  <a:pt x="187" y="744"/>
                </a:lnTo>
                <a:cubicBezTo>
                  <a:pt x="175" y="744"/>
                  <a:pt x="163" y="743"/>
                  <a:pt x="151" y="740"/>
                </a:cubicBezTo>
                <a:cubicBezTo>
                  <a:pt x="139" y="738"/>
                  <a:pt x="127" y="734"/>
                  <a:pt x="116" y="730"/>
                </a:cubicBezTo>
                <a:cubicBezTo>
                  <a:pt x="105" y="725"/>
                  <a:pt x="94" y="719"/>
                  <a:pt x="84" y="712"/>
                </a:cubicBezTo>
                <a:cubicBezTo>
                  <a:pt x="74" y="706"/>
                  <a:pt x="64" y="698"/>
                  <a:pt x="56" y="689"/>
                </a:cubicBezTo>
                <a:cubicBezTo>
                  <a:pt x="47" y="681"/>
                  <a:pt x="39" y="671"/>
                  <a:pt x="32" y="661"/>
                </a:cubicBezTo>
                <a:cubicBezTo>
                  <a:pt x="26" y="651"/>
                  <a:pt x="20" y="640"/>
                  <a:pt x="15" y="629"/>
                </a:cubicBezTo>
                <a:cubicBezTo>
                  <a:pt x="11" y="618"/>
                  <a:pt x="7" y="606"/>
                  <a:pt x="5" y="594"/>
                </a:cubicBezTo>
                <a:cubicBezTo>
                  <a:pt x="2" y="582"/>
                  <a:pt x="0" y="570"/>
                  <a:pt x="0" y="558"/>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36" name="テキスト ボックス 435"/>
          <p:cNvSpPr txBox="1"/>
          <p:nvPr/>
        </p:nvSpPr>
        <p:spPr>
          <a:xfrm>
            <a:off x="534960" y="4808880"/>
            <a:ext cx="134172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検出限界の概念図</a:t>
            </a:r>
            <a:endParaRPr lang="en-US" sz="1320" b="0" u="none" strike="noStrike">
              <a:solidFill>
                <a:srgbClr val="000000"/>
              </a:solidFill>
              <a:effectLst/>
              <a:uFillTx/>
              <a:latin typeface="Times New Roman"/>
            </a:endParaRPr>
          </a:p>
        </p:txBody>
      </p:sp>
      <p:sp>
        <p:nvSpPr>
          <p:cNvPr id="437" name="フリーフォーム: 図形 436"/>
          <p:cNvSpPr/>
          <p:nvPr/>
        </p:nvSpPr>
        <p:spPr>
          <a:xfrm>
            <a:off x="1604160" y="5548680"/>
            <a:ext cx="1070640" cy="267840"/>
          </a:xfrm>
          <a:custGeom>
            <a:avLst/>
            <a:gdLst/>
            <a:ahLst/>
            <a:cxnLst/>
            <a:rect l="0" t="0" r="r" b="b"/>
            <a:pathLst>
              <a:path w="2974" h="744">
                <a:moveTo>
                  <a:pt x="0" y="0"/>
                </a:moveTo>
                <a:lnTo>
                  <a:pt x="2974" y="0"/>
                </a:lnTo>
                <a:lnTo>
                  <a:pt x="2974" y="744"/>
                </a:lnTo>
                <a:lnTo>
                  <a:pt x="0" y="744"/>
                </a:lnTo>
                <a:lnTo>
                  <a:pt x="0" y="0"/>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38" name="テキスト ボックス 437"/>
          <p:cNvSpPr txBox="1"/>
          <p:nvPr/>
        </p:nvSpPr>
        <p:spPr>
          <a:xfrm>
            <a:off x="869040" y="5617080"/>
            <a:ext cx="4032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高濃度</a:t>
            </a:r>
            <a:endParaRPr lang="en-US" sz="1050" b="0" u="none" strike="noStrike">
              <a:solidFill>
                <a:srgbClr val="000000"/>
              </a:solidFill>
              <a:effectLst/>
              <a:uFillTx/>
              <a:latin typeface="Times New Roman"/>
            </a:endParaRPr>
          </a:p>
        </p:txBody>
      </p:sp>
      <p:sp>
        <p:nvSpPr>
          <p:cNvPr id="439" name="フリーフォーム: 図形 438"/>
          <p:cNvSpPr/>
          <p:nvPr/>
        </p:nvSpPr>
        <p:spPr>
          <a:xfrm>
            <a:off x="2674080" y="5548680"/>
            <a:ext cx="1069920" cy="267840"/>
          </a:xfrm>
          <a:custGeom>
            <a:avLst/>
            <a:gdLst/>
            <a:ahLst/>
            <a:cxnLst/>
            <a:rect l="0" t="0" r="r" b="b"/>
            <a:pathLst>
              <a:path w="2972" h="744">
                <a:moveTo>
                  <a:pt x="0" y="744"/>
                </a:moveTo>
                <a:lnTo>
                  <a:pt x="0" y="0"/>
                </a:lnTo>
                <a:lnTo>
                  <a:pt x="2785" y="0"/>
                </a:lnTo>
                <a:cubicBezTo>
                  <a:pt x="2797" y="0"/>
                  <a:pt x="2810" y="1"/>
                  <a:pt x="2821" y="4"/>
                </a:cubicBezTo>
                <a:cubicBezTo>
                  <a:pt x="2833" y="6"/>
                  <a:pt x="2845" y="9"/>
                  <a:pt x="2856" y="14"/>
                </a:cubicBezTo>
                <a:cubicBezTo>
                  <a:pt x="2868" y="19"/>
                  <a:pt x="2878" y="24"/>
                  <a:pt x="2888" y="31"/>
                </a:cubicBezTo>
                <a:cubicBezTo>
                  <a:pt x="2899" y="38"/>
                  <a:pt x="2908" y="46"/>
                  <a:pt x="2917" y="54"/>
                </a:cubicBezTo>
                <a:cubicBezTo>
                  <a:pt x="2925" y="63"/>
                  <a:pt x="2933" y="72"/>
                  <a:pt x="2940" y="83"/>
                </a:cubicBezTo>
                <a:cubicBezTo>
                  <a:pt x="2946" y="93"/>
                  <a:pt x="2952" y="103"/>
                  <a:pt x="2957" y="115"/>
                </a:cubicBezTo>
                <a:cubicBezTo>
                  <a:pt x="2961" y="126"/>
                  <a:pt x="2965" y="137"/>
                  <a:pt x="2967" y="149"/>
                </a:cubicBezTo>
                <a:cubicBezTo>
                  <a:pt x="2970" y="161"/>
                  <a:pt x="2972" y="173"/>
                  <a:pt x="2972" y="186"/>
                </a:cubicBezTo>
                <a:lnTo>
                  <a:pt x="2972" y="558"/>
                </a:lnTo>
                <a:cubicBezTo>
                  <a:pt x="2972" y="570"/>
                  <a:pt x="2970" y="582"/>
                  <a:pt x="2967" y="594"/>
                </a:cubicBezTo>
                <a:cubicBezTo>
                  <a:pt x="2965" y="606"/>
                  <a:pt x="2961" y="618"/>
                  <a:pt x="2957" y="629"/>
                </a:cubicBezTo>
                <a:cubicBezTo>
                  <a:pt x="2952" y="640"/>
                  <a:pt x="2946" y="651"/>
                  <a:pt x="2940" y="661"/>
                </a:cubicBezTo>
                <a:cubicBezTo>
                  <a:pt x="2933" y="671"/>
                  <a:pt x="2925" y="681"/>
                  <a:pt x="2917" y="689"/>
                </a:cubicBezTo>
                <a:cubicBezTo>
                  <a:pt x="2908" y="698"/>
                  <a:pt x="2899" y="706"/>
                  <a:pt x="2888" y="712"/>
                </a:cubicBezTo>
                <a:cubicBezTo>
                  <a:pt x="2878" y="719"/>
                  <a:pt x="2868" y="725"/>
                  <a:pt x="2856" y="730"/>
                </a:cubicBezTo>
                <a:cubicBezTo>
                  <a:pt x="2845" y="734"/>
                  <a:pt x="2833" y="738"/>
                  <a:pt x="2821" y="740"/>
                </a:cubicBezTo>
                <a:cubicBezTo>
                  <a:pt x="2810" y="743"/>
                  <a:pt x="2797" y="744"/>
                  <a:pt x="2785" y="744"/>
                </a:cubicBezTo>
                <a:lnTo>
                  <a:pt x="0" y="744"/>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40" name="テキスト ボックス 439"/>
          <p:cNvSpPr txBox="1"/>
          <p:nvPr/>
        </p:nvSpPr>
        <p:spPr>
          <a:xfrm>
            <a:off x="1938600" y="5617080"/>
            <a:ext cx="4032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中濃度</a:t>
            </a:r>
            <a:endParaRPr lang="en-US" sz="1050" b="0" u="none" strike="noStrike">
              <a:solidFill>
                <a:srgbClr val="000000"/>
              </a:solidFill>
              <a:effectLst/>
              <a:uFillTx/>
              <a:latin typeface="Times New Roman"/>
            </a:endParaRPr>
          </a:p>
        </p:txBody>
      </p:sp>
      <p:sp>
        <p:nvSpPr>
          <p:cNvPr id="441" name="フリーフォーム: 図形 440"/>
          <p:cNvSpPr/>
          <p:nvPr/>
        </p:nvSpPr>
        <p:spPr>
          <a:xfrm>
            <a:off x="3877200" y="5632200"/>
            <a:ext cx="92520" cy="100800"/>
          </a:xfrm>
          <a:custGeom>
            <a:avLst/>
            <a:gdLst/>
            <a:ahLst/>
            <a:cxnLst/>
            <a:rect l="0" t="0" r="r" b="b"/>
            <a:pathLst>
              <a:path w="257" h="280">
                <a:moveTo>
                  <a:pt x="0" y="152"/>
                </a:moveTo>
                <a:lnTo>
                  <a:pt x="0" y="129"/>
                </a:lnTo>
                <a:cubicBezTo>
                  <a:pt x="0" y="112"/>
                  <a:pt x="4" y="96"/>
                  <a:pt x="10" y="80"/>
                </a:cubicBezTo>
                <a:cubicBezTo>
                  <a:pt x="17" y="64"/>
                  <a:pt x="26" y="49"/>
                  <a:pt x="38" y="37"/>
                </a:cubicBezTo>
                <a:cubicBezTo>
                  <a:pt x="50" y="26"/>
                  <a:pt x="64" y="16"/>
                  <a:pt x="80" y="10"/>
                </a:cubicBezTo>
                <a:cubicBezTo>
                  <a:pt x="96" y="3"/>
                  <a:pt x="112" y="0"/>
                  <a:pt x="129" y="0"/>
                </a:cubicBezTo>
                <a:cubicBezTo>
                  <a:pt x="146" y="0"/>
                  <a:pt x="162" y="3"/>
                  <a:pt x="178" y="10"/>
                </a:cubicBezTo>
                <a:cubicBezTo>
                  <a:pt x="194" y="16"/>
                  <a:pt x="207" y="26"/>
                  <a:pt x="219" y="37"/>
                </a:cubicBezTo>
                <a:cubicBezTo>
                  <a:pt x="231" y="49"/>
                  <a:pt x="241" y="64"/>
                  <a:pt x="247" y="80"/>
                </a:cubicBezTo>
                <a:cubicBezTo>
                  <a:pt x="253" y="96"/>
                  <a:pt x="257" y="112"/>
                  <a:pt x="257" y="129"/>
                </a:cubicBezTo>
                <a:lnTo>
                  <a:pt x="257" y="152"/>
                </a:lnTo>
                <a:cubicBezTo>
                  <a:pt x="257" y="169"/>
                  <a:pt x="253" y="185"/>
                  <a:pt x="247" y="201"/>
                </a:cubicBezTo>
                <a:cubicBezTo>
                  <a:pt x="241" y="216"/>
                  <a:pt x="231" y="230"/>
                  <a:pt x="219" y="242"/>
                </a:cubicBezTo>
                <a:cubicBezTo>
                  <a:pt x="207" y="254"/>
                  <a:pt x="194" y="263"/>
                  <a:pt x="178" y="270"/>
                </a:cubicBezTo>
                <a:cubicBezTo>
                  <a:pt x="162" y="276"/>
                  <a:pt x="146" y="280"/>
                  <a:pt x="129" y="280"/>
                </a:cubicBezTo>
                <a:cubicBezTo>
                  <a:pt x="112" y="280"/>
                  <a:pt x="96" y="276"/>
                  <a:pt x="80" y="270"/>
                </a:cubicBezTo>
                <a:cubicBezTo>
                  <a:pt x="64" y="263"/>
                  <a:pt x="50" y="254"/>
                  <a:pt x="38" y="242"/>
                </a:cubicBezTo>
                <a:cubicBezTo>
                  <a:pt x="26" y="230"/>
                  <a:pt x="17" y="216"/>
                  <a:pt x="10" y="201"/>
                </a:cubicBezTo>
                <a:cubicBezTo>
                  <a:pt x="4" y="185"/>
                  <a:pt x="0" y="169"/>
                  <a:pt x="0" y="152"/>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42" name="テキスト ボックス 441"/>
          <p:cNvSpPr txBox="1"/>
          <p:nvPr/>
        </p:nvSpPr>
        <p:spPr>
          <a:xfrm>
            <a:off x="3008520" y="5617080"/>
            <a:ext cx="4032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低濃度</a:t>
            </a:r>
            <a:endParaRPr lang="en-US" sz="1050" b="0" u="none" strike="noStrike">
              <a:solidFill>
                <a:srgbClr val="000000"/>
              </a:solidFill>
              <a:effectLst/>
              <a:uFillTx/>
              <a:latin typeface="Times New Roman"/>
            </a:endParaRPr>
          </a:p>
        </p:txBody>
      </p:sp>
      <p:sp>
        <p:nvSpPr>
          <p:cNvPr id="443" name="テキスト ボックス 442"/>
          <p:cNvSpPr txBox="1"/>
          <p:nvPr/>
        </p:nvSpPr>
        <p:spPr>
          <a:xfrm>
            <a:off x="4040280" y="5540400"/>
            <a:ext cx="543600" cy="169560"/>
          </a:xfrm>
          <a:prstGeom prst="rect">
            <a:avLst/>
          </a:prstGeom>
          <a:noFill/>
          <a:ln w="0">
            <a:noFill/>
          </a:ln>
        </p:spPr>
        <p:txBody>
          <a:bodyPr wrap="none" lIns="0" tIns="0" rIns="0" bIns="0" anchor="t">
            <a:spAutoFit/>
          </a:bodyPr>
          <a:lstStyle/>
          <a:p>
            <a:r>
              <a:rPr lang="zh-CN" sz="920" b="0" u="none" strike="noStrike">
                <a:solidFill>
                  <a:srgbClr val="000000"/>
                </a:solidFill>
                <a:effectLst/>
                <a:uFillTx/>
                <a:latin typeface="NotoSansJP"/>
                <a:ea typeface="NotoSansJP"/>
              </a:rPr>
              <a:t>検出限界</a:t>
            </a:r>
            <a:r>
              <a:rPr lang="en-US" sz="920" b="0" u="none" strike="noStrike">
                <a:solidFill>
                  <a:srgbClr val="000000"/>
                </a:solidFill>
                <a:effectLst/>
                <a:uFillTx/>
                <a:latin typeface="NotoSansJP"/>
                <a:ea typeface="NotoSansJP"/>
              </a:rPr>
              <a:t>:</a:t>
            </a:r>
            <a:endParaRPr lang="en-US" sz="920" b="0" u="none" strike="noStrike">
              <a:solidFill>
                <a:srgbClr val="000000"/>
              </a:solidFill>
              <a:effectLst/>
              <a:uFillTx/>
              <a:latin typeface="Times New Roman"/>
            </a:endParaRPr>
          </a:p>
        </p:txBody>
      </p:sp>
      <p:sp>
        <p:nvSpPr>
          <p:cNvPr id="444" name="フリーフォーム: 図形 443"/>
          <p:cNvSpPr/>
          <p:nvPr/>
        </p:nvSpPr>
        <p:spPr>
          <a:xfrm>
            <a:off x="5481720" y="935640"/>
            <a:ext cx="4880880" cy="3510360"/>
          </a:xfrm>
          <a:custGeom>
            <a:avLst/>
            <a:gdLst/>
            <a:ahLst/>
            <a:cxnLst/>
            <a:rect l="0" t="0" r="r" b="b"/>
            <a:pathLst>
              <a:path w="13558" h="9751">
                <a:moveTo>
                  <a:pt x="0" y="9565"/>
                </a:moveTo>
                <a:lnTo>
                  <a:pt x="0" y="186"/>
                </a:lnTo>
                <a:cubicBezTo>
                  <a:pt x="0" y="174"/>
                  <a:pt x="1" y="162"/>
                  <a:pt x="4" y="150"/>
                </a:cubicBezTo>
                <a:cubicBezTo>
                  <a:pt x="6" y="138"/>
                  <a:pt x="10" y="126"/>
                  <a:pt x="14" y="115"/>
                </a:cubicBezTo>
                <a:cubicBezTo>
                  <a:pt x="19" y="104"/>
                  <a:pt x="25" y="93"/>
                  <a:pt x="32"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13372" y="0"/>
                </a:lnTo>
                <a:cubicBezTo>
                  <a:pt x="13384" y="0"/>
                  <a:pt x="13396" y="2"/>
                  <a:pt x="13408" y="4"/>
                </a:cubicBezTo>
                <a:cubicBezTo>
                  <a:pt x="13420" y="6"/>
                  <a:pt x="13432" y="10"/>
                  <a:pt x="13443" y="14"/>
                </a:cubicBezTo>
                <a:cubicBezTo>
                  <a:pt x="13454" y="19"/>
                  <a:pt x="13465" y="25"/>
                  <a:pt x="13475" y="32"/>
                </a:cubicBezTo>
                <a:cubicBezTo>
                  <a:pt x="13485" y="38"/>
                  <a:pt x="13495" y="46"/>
                  <a:pt x="13503" y="55"/>
                </a:cubicBezTo>
                <a:cubicBezTo>
                  <a:pt x="13512" y="63"/>
                  <a:pt x="13520" y="73"/>
                  <a:pt x="13526" y="83"/>
                </a:cubicBezTo>
                <a:cubicBezTo>
                  <a:pt x="13533" y="93"/>
                  <a:pt x="13539" y="104"/>
                  <a:pt x="13544" y="115"/>
                </a:cubicBezTo>
                <a:cubicBezTo>
                  <a:pt x="13548" y="126"/>
                  <a:pt x="13552" y="138"/>
                  <a:pt x="13554" y="150"/>
                </a:cubicBezTo>
                <a:cubicBezTo>
                  <a:pt x="13556" y="162"/>
                  <a:pt x="13558" y="174"/>
                  <a:pt x="13558" y="186"/>
                </a:cubicBezTo>
                <a:lnTo>
                  <a:pt x="13558" y="9565"/>
                </a:lnTo>
                <a:cubicBezTo>
                  <a:pt x="13558" y="9577"/>
                  <a:pt x="13556" y="9589"/>
                  <a:pt x="13554" y="9601"/>
                </a:cubicBezTo>
                <a:cubicBezTo>
                  <a:pt x="13552" y="9613"/>
                  <a:pt x="13548" y="9625"/>
                  <a:pt x="13544" y="9636"/>
                </a:cubicBezTo>
                <a:cubicBezTo>
                  <a:pt x="13539" y="9647"/>
                  <a:pt x="13533" y="9658"/>
                  <a:pt x="13526" y="9668"/>
                </a:cubicBezTo>
                <a:cubicBezTo>
                  <a:pt x="13520" y="9678"/>
                  <a:pt x="13512" y="9688"/>
                  <a:pt x="13503" y="9696"/>
                </a:cubicBezTo>
                <a:cubicBezTo>
                  <a:pt x="13495" y="9705"/>
                  <a:pt x="13485" y="9713"/>
                  <a:pt x="13475" y="9720"/>
                </a:cubicBezTo>
                <a:cubicBezTo>
                  <a:pt x="13465" y="9726"/>
                  <a:pt x="13454" y="9732"/>
                  <a:pt x="13443" y="9737"/>
                </a:cubicBezTo>
                <a:cubicBezTo>
                  <a:pt x="13432" y="9741"/>
                  <a:pt x="13420" y="9745"/>
                  <a:pt x="13408" y="9747"/>
                </a:cubicBezTo>
                <a:cubicBezTo>
                  <a:pt x="13396" y="9750"/>
                  <a:pt x="13384" y="9751"/>
                  <a:pt x="13372" y="9751"/>
                </a:cubicBezTo>
                <a:lnTo>
                  <a:pt x="186" y="9751"/>
                </a:lnTo>
                <a:cubicBezTo>
                  <a:pt x="174" y="9751"/>
                  <a:pt x="162" y="9750"/>
                  <a:pt x="150" y="9747"/>
                </a:cubicBezTo>
                <a:cubicBezTo>
                  <a:pt x="138" y="9745"/>
                  <a:pt x="126" y="9741"/>
                  <a:pt x="115" y="9737"/>
                </a:cubicBezTo>
                <a:cubicBezTo>
                  <a:pt x="104" y="9732"/>
                  <a:pt x="93" y="9726"/>
                  <a:pt x="83" y="9720"/>
                </a:cubicBezTo>
                <a:cubicBezTo>
                  <a:pt x="73" y="9713"/>
                  <a:pt x="63" y="9705"/>
                  <a:pt x="55" y="9696"/>
                </a:cubicBezTo>
                <a:cubicBezTo>
                  <a:pt x="46" y="9688"/>
                  <a:pt x="38" y="9678"/>
                  <a:pt x="32" y="9668"/>
                </a:cubicBezTo>
                <a:cubicBezTo>
                  <a:pt x="25" y="9658"/>
                  <a:pt x="19" y="9647"/>
                  <a:pt x="14" y="9636"/>
                </a:cubicBezTo>
                <a:cubicBezTo>
                  <a:pt x="10" y="9625"/>
                  <a:pt x="6" y="9613"/>
                  <a:pt x="4" y="9601"/>
                </a:cubicBezTo>
                <a:cubicBezTo>
                  <a:pt x="1" y="9589"/>
                  <a:pt x="0" y="9577"/>
                  <a:pt x="0" y="956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45" name="図 444"/>
          <p:cNvPicPr/>
          <p:nvPr/>
        </p:nvPicPr>
        <p:blipFill>
          <a:blip r:embed="rId7"/>
          <a:stretch/>
        </p:blipFill>
        <p:spPr>
          <a:xfrm>
            <a:off x="5682600" y="1170000"/>
            <a:ext cx="174960" cy="200160"/>
          </a:xfrm>
          <a:prstGeom prst="rect">
            <a:avLst/>
          </a:prstGeom>
          <a:noFill/>
          <a:ln w="0">
            <a:noFill/>
          </a:ln>
        </p:spPr>
      </p:pic>
      <p:sp>
        <p:nvSpPr>
          <p:cNvPr id="446" name="テキスト ボックス 445"/>
          <p:cNvSpPr txBox="1"/>
          <p:nvPr/>
        </p:nvSpPr>
        <p:spPr>
          <a:xfrm>
            <a:off x="4040280" y="5707800"/>
            <a:ext cx="525240" cy="136080"/>
          </a:xfrm>
          <a:prstGeom prst="rect">
            <a:avLst/>
          </a:prstGeom>
          <a:noFill/>
          <a:ln w="0">
            <a:noFill/>
          </a:ln>
        </p:spPr>
        <p:txBody>
          <a:bodyPr wrap="none" lIns="0" tIns="0" rIns="0" bIns="0" anchor="t">
            <a:spAutoFit/>
          </a:bodyPr>
          <a:lstStyle/>
          <a:p>
            <a:r>
              <a:rPr lang="en-US" sz="920" b="0" u="none" strike="noStrike">
                <a:solidFill>
                  <a:srgbClr val="000000"/>
                </a:solidFill>
                <a:effectLst/>
                <a:uFillTx/>
                <a:latin typeface="NotoSansJP"/>
                <a:ea typeface="NotoSansJP"/>
              </a:rPr>
              <a:t>0.06ppm</a:t>
            </a:r>
            <a:endParaRPr lang="en-US" sz="920" b="0" u="none" strike="noStrike">
              <a:solidFill>
                <a:srgbClr val="000000"/>
              </a:solidFill>
              <a:effectLst/>
              <a:uFillTx/>
              <a:latin typeface="Times New Roman"/>
            </a:endParaRPr>
          </a:p>
        </p:txBody>
      </p:sp>
      <p:sp>
        <p:nvSpPr>
          <p:cNvPr id="447" name="テキスト ボックス 446"/>
          <p:cNvSpPr txBox="1"/>
          <p:nvPr/>
        </p:nvSpPr>
        <p:spPr>
          <a:xfrm>
            <a:off x="5958360" y="1167840"/>
            <a:ext cx="80532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実験条件</a:t>
            </a:r>
            <a:endParaRPr lang="en-US" sz="1580" b="0" u="none" strike="noStrike">
              <a:solidFill>
                <a:srgbClr val="000000"/>
              </a:solidFill>
              <a:effectLst/>
              <a:uFillTx/>
              <a:latin typeface="Times New Roman"/>
            </a:endParaRPr>
          </a:p>
        </p:txBody>
      </p:sp>
      <p:sp>
        <p:nvSpPr>
          <p:cNvPr id="448" name="テキスト ボックス 447"/>
          <p:cNvSpPr txBox="1"/>
          <p:nvPr/>
        </p:nvSpPr>
        <p:spPr>
          <a:xfrm>
            <a:off x="6351120" y="1648800"/>
            <a:ext cx="1000440" cy="219960"/>
          </a:xfrm>
          <a:prstGeom prst="rect">
            <a:avLst/>
          </a:prstGeom>
          <a:noFill/>
          <a:ln w="0">
            <a:noFill/>
          </a:ln>
        </p:spPr>
        <p:txBody>
          <a:bodyPr wrap="none" lIns="0" tIns="0" rIns="0" bIns="0" anchor="t">
            <a:spAutoFit/>
          </a:bodyPr>
          <a:lstStyle/>
          <a:p>
            <a:r>
              <a:rPr lang="en-US" sz="1180" b="0" u="none" strike="noStrike">
                <a:solidFill>
                  <a:srgbClr val="003366"/>
                </a:solidFill>
                <a:effectLst/>
                <a:uFillTx/>
                <a:latin typeface="NotoSansJP"/>
                <a:ea typeface="NotoSansJP"/>
              </a:rPr>
              <a:t>35℃</a:t>
            </a:r>
            <a:r>
              <a:rPr lang="zh-CN" sz="1180" b="0" u="none" strike="noStrike">
                <a:solidFill>
                  <a:srgbClr val="003366"/>
                </a:solidFill>
                <a:effectLst/>
                <a:uFillTx/>
                <a:latin typeface="NotoSansJP"/>
                <a:ea typeface="NotoSansJP"/>
              </a:rPr>
              <a:t>環境維持</a:t>
            </a:r>
            <a:endParaRPr lang="en-US" sz="1180" b="0" u="none" strike="noStrike">
              <a:solidFill>
                <a:srgbClr val="000000"/>
              </a:solidFill>
              <a:effectLst/>
              <a:uFillTx/>
              <a:latin typeface="Times New Roman"/>
            </a:endParaRPr>
          </a:p>
        </p:txBody>
      </p:sp>
      <p:pic>
        <p:nvPicPr>
          <p:cNvPr id="449" name="図 448"/>
          <p:cNvPicPr/>
          <p:nvPr/>
        </p:nvPicPr>
        <p:blipFill>
          <a:blip r:embed="rId8"/>
          <a:stretch/>
        </p:blipFill>
        <p:spPr>
          <a:xfrm>
            <a:off x="9911160" y="1713240"/>
            <a:ext cx="250200" cy="250200"/>
          </a:xfrm>
          <a:prstGeom prst="rect">
            <a:avLst/>
          </a:prstGeom>
          <a:noFill/>
          <a:ln w="0">
            <a:noFill/>
          </a:ln>
        </p:spPr>
      </p:pic>
      <p:sp>
        <p:nvSpPr>
          <p:cNvPr id="450" name="テキスト ボックス 449"/>
          <p:cNvSpPr txBox="1"/>
          <p:nvPr/>
        </p:nvSpPr>
        <p:spPr>
          <a:xfrm>
            <a:off x="6351120" y="1882800"/>
            <a:ext cx="19620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一定温度でのガス発生を確保</a:t>
            </a:r>
            <a:endParaRPr lang="en-US" sz="1180" b="0" u="none" strike="noStrike">
              <a:solidFill>
                <a:srgbClr val="000000"/>
              </a:solidFill>
              <a:effectLst/>
              <a:uFillTx/>
              <a:latin typeface="Times New Roman"/>
            </a:endParaRPr>
          </a:p>
        </p:txBody>
      </p:sp>
      <p:sp>
        <p:nvSpPr>
          <p:cNvPr id="451" name="テキスト ボックス 450"/>
          <p:cNvSpPr txBox="1"/>
          <p:nvPr/>
        </p:nvSpPr>
        <p:spPr>
          <a:xfrm>
            <a:off x="6351120" y="2450880"/>
            <a:ext cx="662760" cy="219960"/>
          </a:xfrm>
          <a:prstGeom prst="rect">
            <a:avLst/>
          </a:prstGeom>
          <a:noFill/>
          <a:ln w="0">
            <a:noFill/>
          </a:ln>
        </p:spPr>
        <p:txBody>
          <a:bodyPr wrap="none" lIns="0" tIns="0" rIns="0" bIns="0" anchor="t">
            <a:spAutoFit/>
          </a:bodyPr>
          <a:lstStyle/>
          <a:p>
            <a:r>
              <a:rPr lang="en-US" sz="1180" b="0" u="none" strike="noStrike">
                <a:solidFill>
                  <a:srgbClr val="66CC99"/>
                </a:solidFill>
                <a:effectLst/>
                <a:uFillTx/>
                <a:latin typeface="NotoSansJP"/>
                <a:ea typeface="NotoSansJP"/>
              </a:rPr>
              <a:t>TMA</a:t>
            </a:r>
            <a:r>
              <a:rPr lang="zh-CN" sz="1180" b="0" u="none" strike="noStrike">
                <a:solidFill>
                  <a:srgbClr val="66CC99"/>
                </a:solidFill>
                <a:effectLst/>
                <a:uFillTx/>
                <a:latin typeface="NotoSansJP"/>
                <a:ea typeface="NotoSansJP"/>
              </a:rPr>
              <a:t>希釈</a:t>
            </a:r>
            <a:endParaRPr lang="en-US" sz="1180" b="0" u="none" strike="noStrike">
              <a:solidFill>
                <a:srgbClr val="000000"/>
              </a:solidFill>
              <a:effectLst/>
              <a:uFillTx/>
              <a:latin typeface="Times New Roman"/>
            </a:endParaRPr>
          </a:p>
        </p:txBody>
      </p:sp>
      <p:pic>
        <p:nvPicPr>
          <p:cNvPr id="452" name="図 451"/>
          <p:cNvPicPr/>
          <p:nvPr/>
        </p:nvPicPr>
        <p:blipFill>
          <a:blip r:embed="rId9"/>
          <a:stretch/>
        </p:blipFill>
        <p:spPr>
          <a:xfrm>
            <a:off x="9844200" y="2515320"/>
            <a:ext cx="317160" cy="250200"/>
          </a:xfrm>
          <a:prstGeom prst="rect">
            <a:avLst/>
          </a:prstGeom>
          <a:noFill/>
          <a:ln w="0">
            <a:noFill/>
          </a:ln>
        </p:spPr>
      </p:pic>
      <p:sp>
        <p:nvSpPr>
          <p:cNvPr id="453" name="テキスト ボックス 452"/>
          <p:cNvSpPr txBox="1"/>
          <p:nvPr/>
        </p:nvSpPr>
        <p:spPr>
          <a:xfrm>
            <a:off x="6351120" y="2684880"/>
            <a:ext cx="21128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適切な濃度範囲での測定を実現</a:t>
            </a:r>
            <a:endParaRPr lang="en-US" sz="1180" b="0" u="none" strike="noStrike">
              <a:solidFill>
                <a:srgbClr val="000000"/>
              </a:solidFill>
              <a:effectLst/>
              <a:uFillTx/>
              <a:latin typeface="Times New Roman"/>
            </a:endParaRPr>
          </a:p>
        </p:txBody>
      </p:sp>
      <p:sp>
        <p:nvSpPr>
          <p:cNvPr id="454" name="テキスト ボックス 453"/>
          <p:cNvSpPr txBox="1"/>
          <p:nvPr/>
        </p:nvSpPr>
        <p:spPr>
          <a:xfrm>
            <a:off x="6351120" y="3253320"/>
            <a:ext cx="1207800" cy="219960"/>
          </a:xfrm>
          <a:prstGeom prst="rect">
            <a:avLst/>
          </a:prstGeom>
          <a:noFill/>
          <a:ln w="0">
            <a:noFill/>
          </a:ln>
        </p:spPr>
        <p:txBody>
          <a:bodyPr wrap="none" lIns="0" tIns="0" rIns="0" bIns="0" anchor="t">
            <a:spAutoFit/>
          </a:bodyPr>
          <a:lstStyle/>
          <a:p>
            <a:r>
              <a:rPr lang="zh-CN" sz="1180" b="0" u="none" strike="noStrike">
                <a:solidFill>
                  <a:srgbClr val="FF9900"/>
                </a:solidFill>
                <a:effectLst/>
                <a:uFillTx/>
                <a:latin typeface="NotoSansJP"/>
                <a:ea typeface="NotoSansJP"/>
              </a:rPr>
              <a:t>事前濃度確認可能</a:t>
            </a:r>
            <a:endParaRPr lang="en-US" sz="1180" b="0" u="none" strike="noStrike">
              <a:solidFill>
                <a:srgbClr val="000000"/>
              </a:solidFill>
              <a:effectLst/>
              <a:uFillTx/>
              <a:latin typeface="Times New Roman"/>
            </a:endParaRPr>
          </a:p>
        </p:txBody>
      </p:sp>
      <p:pic>
        <p:nvPicPr>
          <p:cNvPr id="455" name="図 454"/>
          <p:cNvPicPr/>
          <p:nvPr/>
        </p:nvPicPr>
        <p:blipFill>
          <a:blip r:embed="rId10"/>
          <a:stretch/>
        </p:blipFill>
        <p:spPr>
          <a:xfrm>
            <a:off x="9911160" y="3317760"/>
            <a:ext cx="250200" cy="250200"/>
          </a:xfrm>
          <a:prstGeom prst="rect">
            <a:avLst/>
          </a:prstGeom>
          <a:noFill/>
          <a:ln w="0">
            <a:noFill/>
          </a:ln>
        </p:spPr>
      </p:pic>
      <p:sp>
        <p:nvSpPr>
          <p:cNvPr id="456" name="フリーフォーム: 図形 455"/>
          <p:cNvSpPr/>
          <p:nvPr/>
        </p:nvSpPr>
        <p:spPr>
          <a:xfrm>
            <a:off x="5481720" y="4846680"/>
            <a:ext cx="4880880" cy="1571400"/>
          </a:xfrm>
          <a:custGeom>
            <a:avLst/>
            <a:gdLst/>
            <a:ahLst/>
            <a:cxnLst/>
            <a:rect l="0" t="0" r="r" b="b"/>
            <a:pathLst>
              <a:path w="13558" h="4365">
                <a:moveTo>
                  <a:pt x="0" y="4179"/>
                </a:moveTo>
                <a:lnTo>
                  <a:pt x="0" y="186"/>
                </a:lnTo>
                <a:cubicBezTo>
                  <a:pt x="0" y="174"/>
                  <a:pt x="1" y="162"/>
                  <a:pt x="4" y="150"/>
                </a:cubicBezTo>
                <a:cubicBezTo>
                  <a:pt x="6" y="138"/>
                  <a:pt x="10" y="126"/>
                  <a:pt x="14" y="115"/>
                </a:cubicBezTo>
                <a:cubicBezTo>
                  <a:pt x="19" y="103"/>
                  <a:pt x="25" y="93"/>
                  <a:pt x="32" y="83"/>
                </a:cubicBezTo>
                <a:cubicBezTo>
                  <a:pt x="38" y="72"/>
                  <a:pt x="46" y="63"/>
                  <a:pt x="55" y="54"/>
                </a:cubicBezTo>
                <a:cubicBezTo>
                  <a:pt x="63" y="46"/>
                  <a:pt x="73" y="38"/>
                  <a:pt x="83" y="31"/>
                </a:cubicBezTo>
                <a:cubicBezTo>
                  <a:pt x="93" y="25"/>
                  <a:pt x="104" y="19"/>
                  <a:pt x="115" y="14"/>
                </a:cubicBezTo>
                <a:cubicBezTo>
                  <a:pt x="126" y="10"/>
                  <a:pt x="138" y="6"/>
                  <a:pt x="150" y="4"/>
                </a:cubicBezTo>
                <a:cubicBezTo>
                  <a:pt x="162" y="1"/>
                  <a:pt x="174" y="0"/>
                  <a:pt x="186" y="0"/>
                </a:cubicBezTo>
                <a:lnTo>
                  <a:pt x="13372" y="0"/>
                </a:lnTo>
                <a:cubicBezTo>
                  <a:pt x="13384" y="0"/>
                  <a:pt x="13396" y="1"/>
                  <a:pt x="13408" y="4"/>
                </a:cubicBezTo>
                <a:cubicBezTo>
                  <a:pt x="13420" y="6"/>
                  <a:pt x="13432" y="10"/>
                  <a:pt x="13443" y="14"/>
                </a:cubicBezTo>
                <a:cubicBezTo>
                  <a:pt x="13454" y="19"/>
                  <a:pt x="13465" y="25"/>
                  <a:pt x="13475" y="31"/>
                </a:cubicBezTo>
                <a:cubicBezTo>
                  <a:pt x="13485" y="38"/>
                  <a:pt x="13495" y="46"/>
                  <a:pt x="13503" y="54"/>
                </a:cubicBezTo>
                <a:cubicBezTo>
                  <a:pt x="13512" y="63"/>
                  <a:pt x="13520" y="72"/>
                  <a:pt x="13526" y="83"/>
                </a:cubicBezTo>
                <a:cubicBezTo>
                  <a:pt x="13533" y="93"/>
                  <a:pt x="13539" y="103"/>
                  <a:pt x="13544" y="115"/>
                </a:cubicBezTo>
                <a:cubicBezTo>
                  <a:pt x="13548" y="126"/>
                  <a:pt x="13552" y="138"/>
                  <a:pt x="13554" y="150"/>
                </a:cubicBezTo>
                <a:cubicBezTo>
                  <a:pt x="13556" y="162"/>
                  <a:pt x="13558" y="174"/>
                  <a:pt x="13558" y="186"/>
                </a:cubicBezTo>
                <a:lnTo>
                  <a:pt x="13558" y="4179"/>
                </a:lnTo>
                <a:cubicBezTo>
                  <a:pt x="13558" y="4192"/>
                  <a:pt x="13556" y="4204"/>
                  <a:pt x="13554" y="4216"/>
                </a:cubicBezTo>
                <a:cubicBezTo>
                  <a:pt x="13552" y="4228"/>
                  <a:pt x="13548" y="4239"/>
                  <a:pt x="13544" y="4250"/>
                </a:cubicBezTo>
                <a:cubicBezTo>
                  <a:pt x="13539" y="4262"/>
                  <a:pt x="13533" y="4272"/>
                  <a:pt x="13526" y="4283"/>
                </a:cubicBezTo>
                <a:cubicBezTo>
                  <a:pt x="13520" y="4293"/>
                  <a:pt x="13512" y="4302"/>
                  <a:pt x="13503" y="4311"/>
                </a:cubicBezTo>
                <a:cubicBezTo>
                  <a:pt x="13495" y="4319"/>
                  <a:pt x="13485" y="4327"/>
                  <a:pt x="13475" y="4334"/>
                </a:cubicBezTo>
                <a:cubicBezTo>
                  <a:pt x="13465" y="4341"/>
                  <a:pt x="13454" y="4346"/>
                  <a:pt x="13443" y="4351"/>
                </a:cubicBezTo>
                <a:cubicBezTo>
                  <a:pt x="13432" y="4356"/>
                  <a:pt x="13420" y="4359"/>
                  <a:pt x="13408" y="4362"/>
                </a:cubicBezTo>
                <a:cubicBezTo>
                  <a:pt x="13396" y="4364"/>
                  <a:pt x="13384" y="4365"/>
                  <a:pt x="13372" y="4365"/>
                </a:cubicBezTo>
                <a:lnTo>
                  <a:pt x="186" y="4365"/>
                </a:lnTo>
                <a:cubicBezTo>
                  <a:pt x="174" y="4365"/>
                  <a:pt x="162" y="4364"/>
                  <a:pt x="150" y="4362"/>
                </a:cubicBezTo>
                <a:cubicBezTo>
                  <a:pt x="138" y="4359"/>
                  <a:pt x="126" y="4356"/>
                  <a:pt x="115" y="4351"/>
                </a:cubicBezTo>
                <a:cubicBezTo>
                  <a:pt x="104" y="4346"/>
                  <a:pt x="93" y="4341"/>
                  <a:pt x="83" y="4334"/>
                </a:cubicBezTo>
                <a:cubicBezTo>
                  <a:pt x="73" y="4327"/>
                  <a:pt x="63" y="4319"/>
                  <a:pt x="55" y="4311"/>
                </a:cubicBezTo>
                <a:cubicBezTo>
                  <a:pt x="46" y="4302"/>
                  <a:pt x="38" y="4293"/>
                  <a:pt x="32" y="4283"/>
                </a:cubicBezTo>
                <a:cubicBezTo>
                  <a:pt x="25" y="4272"/>
                  <a:pt x="19" y="4262"/>
                  <a:pt x="14" y="4250"/>
                </a:cubicBezTo>
                <a:cubicBezTo>
                  <a:pt x="10" y="4239"/>
                  <a:pt x="6" y="4228"/>
                  <a:pt x="4" y="4216"/>
                </a:cubicBezTo>
                <a:cubicBezTo>
                  <a:pt x="1" y="4204"/>
                  <a:pt x="0" y="4192"/>
                  <a:pt x="0" y="4179"/>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57" name="テキスト ボックス 456"/>
          <p:cNvSpPr txBox="1"/>
          <p:nvPr/>
        </p:nvSpPr>
        <p:spPr>
          <a:xfrm>
            <a:off x="6351120" y="3487320"/>
            <a:ext cx="18111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実験の精度と再現性を向上</a:t>
            </a:r>
            <a:endParaRPr lang="en-US" sz="1180" b="0" u="none" strike="noStrike">
              <a:solidFill>
                <a:srgbClr val="000000"/>
              </a:solidFill>
              <a:effectLst/>
              <a:uFillTx/>
              <a:latin typeface="Times New Roman"/>
            </a:endParaRPr>
          </a:p>
        </p:txBody>
      </p:sp>
      <p:sp>
        <p:nvSpPr>
          <p:cNvPr id="458" name="フリーフォーム: 図形 457"/>
          <p:cNvSpPr/>
          <p:nvPr/>
        </p:nvSpPr>
        <p:spPr>
          <a:xfrm>
            <a:off x="6158880" y="5415120"/>
            <a:ext cx="534960" cy="534960"/>
          </a:xfrm>
          <a:custGeom>
            <a:avLst/>
            <a:gdLst/>
            <a:ahLst/>
            <a:cxnLst/>
            <a:rect l="0" t="0" r="r" b="b"/>
            <a:pathLst>
              <a:path w="1486" h="1486">
                <a:moveTo>
                  <a:pt x="1486" y="743"/>
                </a:moveTo>
                <a:cubicBezTo>
                  <a:pt x="1486" y="768"/>
                  <a:pt x="1485" y="792"/>
                  <a:pt x="1483" y="816"/>
                </a:cubicBezTo>
                <a:cubicBezTo>
                  <a:pt x="1480" y="840"/>
                  <a:pt x="1477" y="864"/>
                  <a:pt x="1472" y="888"/>
                </a:cubicBezTo>
                <a:cubicBezTo>
                  <a:pt x="1467" y="912"/>
                  <a:pt x="1461" y="936"/>
                  <a:pt x="1453" y="959"/>
                </a:cubicBezTo>
                <a:cubicBezTo>
                  <a:pt x="1446" y="982"/>
                  <a:pt x="1438" y="1005"/>
                  <a:pt x="1429" y="1028"/>
                </a:cubicBezTo>
                <a:cubicBezTo>
                  <a:pt x="1419" y="1050"/>
                  <a:pt x="1409" y="1072"/>
                  <a:pt x="1397" y="1094"/>
                </a:cubicBezTo>
                <a:cubicBezTo>
                  <a:pt x="1386" y="1115"/>
                  <a:pt x="1373" y="1136"/>
                  <a:pt x="1360" y="1156"/>
                </a:cubicBezTo>
                <a:cubicBezTo>
                  <a:pt x="1346" y="1176"/>
                  <a:pt x="1332" y="1196"/>
                  <a:pt x="1317" y="1215"/>
                </a:cubicBezTo>
                <a:cubicBezTo>
                  <a:pt x="1301" y="1233"/>
                  <a:pt x="1285" y="1251"/>
                  <a:pt x="1268" y="1269"/>
                </a:cubicBezTo>
                <a:cubicBezTo>
                  <a:pt x="1250" y="1286"/>
                  <a:pt x="1232" y="1302"/>
                  <a:pt x="1214" y="1318"/>
                </a:cubicBezTo>
                <a:cubicBezTo>
                  <a:pt x="1195" y="1333"/>
                  <a:pt x="1175" y="1347"/>
                  <a:pt x="1155" y="1361"/>
                </a:cubicBezTo>
                <a:cubicBezTo>
                  <a:pt x="1135" y="1375"/>
                  <a:pt x="1114" y="1387"/>
                  <a:pt x="1093" y="1398"/>
                </a:cubicBezTo>
                <a:cubicBezTo>
                  <a:pt x="1071" y="1410"/>
                  <a:pt x="1049" y="1420"/>
                  <a:pt x="1027" y="1430"/>
                </a:cubicBezTo>
                <a:cubicBezTo>
                  <a:pt x="1004" y="1439"/>
                  <a:pt x="981" y="1447"/>
                  <a:pt x="958" y="1454"/>
                </a:cubicBezTo>
                <a:cubicBezTo>
                  <a:pt x="935" y="1461"/>
                  <a:pt x="911" y="1467"/>
                  <a:pt x="887" y="1472"/>
                </a:cubicBezTo>
                <a:cubicBezTo>
                  <a:pt x="863" y="1477"/>
                  <a:pt x="839" y="1480"/>
                  <a:pt x="815" y="1483"/>
                </a:cubicBezTo>
                <a:cubicBezTo>
                  <a:pt x="791" y="1485"/>
                  <a:pt x="767" y="1486"/>
                  <a:pt x="742" y="1486"/>
                </a:cubicBezTo>
                <a:cubicBezTo>
                  <a:pt x="718" y="1486"/>
                  <a:pt x="694" y="1485"/>
                  <a:pt x="670" y="1483"/>
                </a:cubicBezTo>
                <a:cubicBezTo>
                  <a:pt x="645" y="1480"/>
                  <a:pt x="621" y="1477"/>
                  <a:pt x="597" y="1472"/>
                </a:cubicBezTo>
                <a:cubicBezTo>
                  <a:pt x="574" y="1467"/>
                  <a:pt x="550" y="1461"/>
                  <a:pt x="527" y="1454"/>
                </a:cubicBezTo>
                <a:cubicBezTo>
                  <a:pt x="503" y="1447"/>
                  <a:pt x="481" y="1439"/>
                  <a:pt x="458" y="1430"/>
                </a:cubicBezTo>
                <a:cubicBezTo>
                  <a:pt x="436" y="1420"/>
                  <a:pt x="414" y="1410"/>
                  <a:pt x="392" y="1398"/>
                </a:cubicBezTo>
                <a:cubicBezTo>
                  <a:pt x="371" y="1387"/>
                  <a:pt x="350" y="1375"/>
                  <a:pt x="330" y="1361"/>
                </a:cubicBezTo>
                <a:cubicBezTo>
                  <a:pt x="309" y="1347"/>
                  <a:pt x="290" y="1333"/>
                  <a:pt x="271" y="1318"/>
                </a:cubicBezTo>
                <a:cubicBezTo>
                  <a:pt x="252" y="1302"/>
                  <a:pt x="234" y="1286"/>
                  <a:pt x="217" y="1269"/>
                </a:cubicBezTo>
                <a:cubicBezTo>
                  <a:pt x="200" y="1251"/>
                  <a:pt x="184" y="1233"/>
                  <a:pt x="168" y="1215"/>
                </a:cubicBezTo>
                <a:cubicBezTo>
                  <a:pt x="153" y="1196"/>
                  <a:pt x="138" y="1176"/>
                  <a:pt x="125" y="1156"/>
                </a:cubicBezTo>
                <a:cubicBezTo>
                  <a:pt x="111" y="1136"/>
                  <a:pt x="99" y="1115"/>
                  <a:pt x="87" y="1094"/>
                </a:cubicBezTo>
                <a:cubicBezTo>
                  <a:pt x="76" y="1072"/>
                  <a:pt x="65" y="1050"/>
                  <a:pt x="56" y="1028"/>
                </a:cubicBezTo>
                <a:cubicBezTo>
                  <a:pt x="47" y="1005"/>
                  <a:pt x="39" y="982"/>
                  <a:pt x="32" y="959"/>
                </a:cubicBezTo>
                <a:cubicBezTo>
                  <a:pt x="24" y="936"/>
                  <a:pt x="19" y="912"/>
                  <a:pt x="14" y="888"/>
                </a:cubicBezTo>
                <a:cubicBezTo>
                  <a:pt x="9" y="864"/>
                  <a:pt x="5" y="840"/>
                  <a:pt x="3" y="816"/>
                </a:cubicBezTo>
                <a:cubicBezTo>
                  <a:pt x="1" y="792"/>
                  <a:pt x="0" y="768"/>
                  <a:pt x="0" y="743"/>
                </a:cubicBezTo>
                <a:cubicBezTo>
                  <a:pt x="0" y="719"/>
                  <a:pt x="1" y="695"/>
                  <a:pt x="3" y="671"/>
                </a:cubicBezTo>
                <a:cubicBezTo>
                  <a:pt x="5" y="646"/>
                  <a:pt x="9" y="622"/>
                  <a:pt x="14" y="598"/>
                </a:cubicBezTo>
                <a:cubicBezTo>
                  <a:pt x="19" y="575"/>
                  <a:pt x="24" y="550"/>
                  <a:pt x="32" y="527"/>
                </a:cubicBezTo>
                <a:cubicBezTo>
                  <a:pt x="39" y="503"/>
                  <a:pt x="47" y="481"/>
                  <a:pt x="56" y="458"/>
                </a:cubicBezTo>
                <a:cubicBezTo>
                  <a:pt x="65" y="436"/>
                  <a:pt x="76" y="414"/>
                  <a:pt x="87" y="392"/>
                </a:cubicBezTo>
                <a:cubicBezTo>
                  <a:pt x="99" y="371"/>
                  <a:pt x="111" y="350"/>
                  <a:pt x="125" y="330"/>
                </a:cubicBezTo>
                <a:cubicBezTo>
                  <a:pt x="138" y="309"/>
                  <a:pt x="153" y="290"/>
                  <a:pt x="168" y="271"/>
                </a:cubicBezTo>
                <a:cubicBezTo>
                  <a:pt x="184" y="252"/>
                  <a:pt x="200" y="234"/>
                  <a:pt x="217" y="217"/>
                </a:cubicBezTo>
                <a:cubicBezTo>
                  <a:pt x="234" y="200"/>
                  <a:pt x="252" y="184"/>
                  <a:pt x="271" y="168"/>
                </a:cubicBezTo>
                <a:cubicBezTo>
                  <a:pt x="290" y="153"/>
                  <a:pt x="309" y="138"/>
                  <a:pt x="330" y="125"/>
                </a:cubicBezTo>
                <a:cubicBezTo>
                  <a:pt x="350" y="111"/>
                  <a:pt x="371" y="99"/>
                  <a:pt x="392" y="87"/>
                </a:cubicBezTo>
                <a:cubicBezTo>
                  <a:pt x="414" y="76"/>
                  <a:pt x="436" y="65"/>
                  <a:pt x="458" y="56"/>
                </a:cubicBezTo>
                <a:cubicBezTo>
                  <a:pt x="481" y="47"/>
                  <a:pt x="503" y="39"/>
                  <a:pt x="527" y="32"/>
                </a:cubicBezTo>
                <a:cubicBezTo>
                  <a:pt x="550" y="24"/>
                  <a:pt x="574" y="19"/>
                  <a:pt x="597" y="14"/>
                </a:cubicBezTo>
                <a:cubicBezTo>
                  <a:pt x="621" y="9"/>
                  <a:pt x="645" y="6"/>
                  <a:pt x="670" y="3"/>
                </a:cubicBezTo>
                <a:cubicBezTo>
                  <a:pt x="694" y="1"/>
                  <a:pt x="718" y="0"/>
                  <a:pt x="742" y="0"/>
                </a:cubicBezTo>
                <a:cubicBezTo>
                  <a:pt x="767" y="0"/>
                  <a:pt x="791" y="1"/>
                  <a:pt x="815" y="3"/>
                </a:cubicBezTo>
                <a:cubicBezTo>
                  <a:pt x="839" y="6"/>
                  <a:pt x="863" y="9"/>
                  <a:pt x="887" y="14"/>
                </a:cubicBezTo>
                <a:cubicBezTo>
                  <a:pt x="911" y="19"/>
                  <a:pt x="935" y="24"/>
                  <a:pt x="958" y="32"/>
                </a:cubicBezTo>
                <a:cubicBezTo>
                  <a:pt x="981" y="39"/>
                  <a:pt x="1004" y="47"/>
                  <a:pt x="1027" y="56"/>
                </a:cubicBezTo>
                <a:cubicBezTo>
                  <a:pt x="1049" y="65"/>
                  <a:pt x="1071" y="76"/>
                  <a:pt x="1092" y="87"/>
                </a:cubicBezTo>
                <a:cubicBezTo>
                  <a:pt x="1114" y="99"/>
                  <a:pt x="1135" y="111"/>
                  <a:pt x="1155" y="125"/>
                </a:cubicBezTo>
                <a:cubicBezTo>
                  <a:pt x="1175" y="138"/>
                  <a:pt x="1195" y="153"/>
                  <a:pt x="1214" y="168"/>
                </a:cubicBezTo>
                <a:cubicBezTo>
                  <a:pt x="1232" y="184"/>
                  <a:pt x="1250" y="200"/>
                  <a:pt x="1268" y="217"/>
                </a:cubicBezTo>
                <a:cubicBezTo>
                  <a:pt x="1285" y="234"/>
                  <a:pt x="1301" y="252"/>
                  <a:pt x="1317" y="271"/>
                </a:cubicBezTo>
                <a:cubicBezTo>
                  <a:pt x="1332" y="290"/>
                  <a:pt x="1346" y="309"/>
                  <a:pt x="1360" y="330"/>
                </a:cubicBezTo>
                <a:cubicBezTo>
                  <a:pt x="1373" y="350"/>
                  <a:pt x="1386" y="371"/>
                  <a:pt x="1397" y="392"/>
                </a:cubicBezTo>
                <a:cubicBezTo>
                  <a:pt x="1409" y="414"/>
                  <a:pt x="1419" y="436"/>
                  <a:pt x="1429" y="458"/>
                </a:cubicBezTo>
                <a:cubicBezTo>
                  <a:pt x="1438" y="481"/>
                  <a:pt x="1446" y="503"/>
                  <a:pt x="1453" y="527"/>
                </a:cubicBezTo>
                <a:cubicBezTo>
                  <a:pt x="1461" y="550"/>
                  <a:pt x="1467" y="575"/>
                  <a:pt x="1472" y="598"/>
                </a:cubicBezTo>
                <a:cubicBezTo>
                  <a:pt x="1477" y="622"/>
                  <a:pt x="1480" y="646"/>
                  <a:pt x="1483" y="671"/>
                </a:cubicBezTo>
                <a:cubicBezTo>
                  <a:pt x="1485" y="695"/>
                  <a:pt x="1486" y="719"/>
                  <a:pt x="1486" y="743"/>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459" name="図 458"/>
          <p:cNvPicPr/>
          <p:nvPr/>
        </p:nvPicPr>
        <p:blipFill>
          <a:blip r:embed="rId11"/>
          <a:stretch/>
        </p:blipFill>
        <p:spPr>
          <a:xfrm>
            <a:off x="6325920" y="5582160"/>
            <a:ext cx="200160" cy="200160"/>
          </a:xfrm>
          <a:prstGeom prst="rect">
            <a:avLst/>
          </a:prstGeom>
          <a:noFill/>
          <a:ln w="0">
            <a:noFill/>
          </a:ln>
        </p:spPr>
      </p:pic>
      <p:sp>
        <p:nvSpPr>
          <p:cNvPr id="460" name="テキスト ボックス 459"/>
          <p:cNvSpPr txBox="1"/>
          <p:nvPr/>
        </p:nvSpPr>
        <p:spPr>
          <a:xfrm>
            <a:off x="5682600" y="5076360"/>
            <a:ext cx="150948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実験の重要ポイント</a:t>
            </a:r>
            <a:endParaRPr lang="en-US" sz="1320" b="0" u="none" strike="noStrike">
              <a:solidFill>
                <a:srgbClr val="000000"/>
              </a:solidFill>
              <a:effectLst/>
              <a:uFillTx/>
              <a:latin typeface="Times New Roman"/>
            </a:endParaRPr>
          </a:p>
        </p:txBody>
      </p:sp>
      <p:sp>
        <p:nvSpPr>
          <p:cNvPr id="461" name="フリーフォーム: 図形 460"/>
          <p:cNvSpPr/>
          <p:nvPr/>
        </p:nvSpPr>
        <p:spPr>
          <a:xfrm>
            <a:off x="7654680" y="5415120"/>
            <a:ext cx="534960" cy="534960"/>
          </a:xfrm>
          <a:custGeom>
            <a:avLst/>
            <a:gdLst/>
            <a:ahLst/>
            <a:cxnLst/>
            <a:rect l="0" t="0" r="r" b="b"/>
            <a:pathLst>
              <a:path w="1486" h="1486">
                <a:moveTo>
                  <a:pt x="1486" y="743"/>
                </a:moveTo>
                <a:cubicBezTo>
                  <a:pt x="1486" y="768"/>
                  <a:pt x="1485" y="792"/>
                  <a:pt x="1483" y="816"/>
                </a:cubicBezTo>
                <a:cubicBezTo>
                  <a:pt x="1480" y="840"/>
                  <a:pt x="1477" y="864"/>
                  <a:pt x="1472" y="888"/>
                </a:cubicBezTo>
                <a:cubicBezTo>
                  <a:pt x="1467" y="912"/>
                  <a:pt x="1461" y="936"/>
                  <a:pt x="1454" y="959"/>
                </a:cubicBezTo>
                <a:cubicBezTo>
                  <a:pt x="1447" y="982"/>
                  <a:pt x="1439" y="1005"/>
                  <a:pt x="1430" y="1028"/>
                </a:cubicBezTo>
                <a:cubicBezTo>
                  <a:pt x="1420" y="1050"/>
                  <a:pt x="1410" y="1072"/>
                  <a:pt x="1399" y="1094"/>
                </a:cubicBezTo>
                <a:cubicBezTo>
                  <a:pt x="1387" y="1115"/>
                  <a:pt x="1375" y="1136"/>
                  <a:pt x="1361" y="1156"/>
                </a:cubicBezTo>
                <a:cubicBezTo>
                  <a:pt x="1348" y="1176"/>
                  <a:pt x="1333" y="1196"/>
                  <a:pt x="1318" y="1215"/>
                </a:cubicBezTo>
                <a:cubicBezTo>
                  <a:pt x="1302" y="1233"/>
                  <a:pt x="1286" y="1251"/>
                  <a:pt x="1269" y="1269"/>
                </a:cubicBezTo>
                <a:cubicBezTo>
                  <a:pt x="1252" y="1286"/>
                  <a:pt x="1234" y="1302"/>
                  <a:pt x="1215" y="1318"/>
                </a:cubicBezTo>
                <a:cubicBezTo>
                  <a:pt x="1196" y="1333"/>
                  <a:pt x="1176" y="1347"/>
                  <a:pt x="1156" y="1361"/>
                </a:cubicBezTo>
                <a:cubicBezTo>
                  <a:pt x="1136" y="1375"/>
                  <a:pt x="1115" y="1387"/>
                  <a:pt x="1094" y="1398"/>
                </a:cubicBezTo>
                <a:cubicBezTo>
                  <a:pt x="1072" y="1410"/>
                  <a:pt x="1050" y="1420"/>
                  <a:pt x="1028" y="1430"/>
                </a:cubicBezTo>
                <a:cubicBezTo>
                  <a:pt x="1005" y="1439"/>
                  <a:pt x="982" y="1447"/>
                  <a:pt x="959" y="1454"/>
                </a:cubicBezTo>
                <a:cubicBezTo>
                  <a:pt x="936" y="1461"/>
                  <a:pt x="912" y="1467"/>
                  <a:pt x="888" y="1472"/>
                </a:cubicBezTo>
                <a:cubicBezTo>
                  <a:pt x="865" y="1477"/>
                  <a:pt x="840" y="1480"/>
                  <a:pt x="816" y="1483"/>
                </a:cubicBezTo>
                <a:cubicBezTo>
                  <a:pt x="792" y="1485"/>
                  <a:pt x="768" y="1486"/>
                  <a:pt x="743" y="1486"/>
                </a:cubicBezTo>
                <a:cubicBezTo>
                  <a:pt x="719" y="1486"/>
                  <a:pt x="695" y="1485"/>
                  <a:pt x="671" y="1483"/>
                </a:cubicBezTo>
                <a:cubicBezTo>
                  <a:pt x="646" y="1480"/>
                  <a:pt x="622" y="1477"/>
                  <a:pt x="599" y="1472"/>
                </a:cubicBezTo>
                <a:cubicBezTo>
                  <a:pt x="575" y="1467"/>
                  <a:pt x="551" y="1461"/>
                  <a:pt x="528" y="1454"/>
                </a:cubicBezTo>
                <a:cubicBezTo>
                  <a:pt x="505" y="1447"/>
                  <a:pt x="482" y="1439"/>
                  <a:pt x="459" y="1430"/>
                </a:cubicBezTo>
                <a:cubicBezTo>
                  <a:pt x="437" y="1420"/>
                  <a:pt x="415" y="1410"/>
                  <a:pt x="393" y="1398"/>
                </a:cubicBezTo>
                <a:cubicBezTo>
                  <a:pt x="372" y="1387"/>
                  <a:pt x="351" y="1375"/>
                  <a:pt x="331" y="1361"/>
                </a:cubicBezTo>
                <a:cubicBezTo>
                  <a:pt x="311" y="1347"/>
                  <a:pt x="291" y="1333"/>
                  <a:pt x="272" y="1318"/>
                </a:cubicBezTo>
                <a:cubicBezTo>
                  <a:pt x="252" y="1302"/>
                  <a:pt x="234" y="1286"/>
                  <a:pt x="217" y="1269"/>
                </a:cubicBezTo>
                <a:cubicBezTo>
                  <a:pt x="200" y="1251"/>
                  <a:pt x="184" y="1233"/>
                  <a:pt x="168" y="1215"/>
                </a:cubicBezTo>
                <a:cubicBezTo>
                  <a:pt x="153" y="1196"/>
                  <a:pt x="138" y="1176"/>
                  <a:pt x="125" y="1156"/>
                </a:cubicBezTo>
                <a:cubicBezTo>
                  <a:pt x="111" y="1136"/>
                  <a:pt x="99" y="1115"/>
                  <a:pt x="87" y="1094"/>
                </a:cubicBezTo>
                <a:cubicBezTo>
                  <a:pt x="76" y="1072"/>
                  <a:pt x="66" y="1050"/>
                  <a:pt x="56" y="1028"/>
                </a:cubicBezTo>
                <a:cubicBezTo>
                  <a:pt x="47" y="1005"/>
                  <a:pt x="39" y="982"/>
                  <a:pt x="32" y="959"/>
                </a:cubicBezTo>
                <a:cubicBezTo>
                  <a:pt x="25" y="936"/>
                  <a:pt x="19" y="912"/>
                  <a:pt x="14" y="888"/>
                </a:cubicBezTo>
                <a:cubicBezTo>
                  <a:pt x="9" y="864"/>
                  <a:pt x="6" y="840"/>
                  <a:pt x="3" y="816"/>
                </a:cubicBezTo>
                <a:cubicBezTo>
                  <a:pt x="1" y="792"/>
                  <a:pt x="0" y="768"/>
                  <a:pt x="0" y="743"/>
                </a:cubicBezTo>
                <a:cubicBezTo>
                  <a:pt x="0" y="719"/>
                  <a:pt x="1" y="695"/>
                  <a:pt x="3" y="671"/>
                </a:cubicBezTo>
                <a:cubicBezTo>
                  <a:pt x="6" y="646"/>
                  <a:pt x="9" y="622"/>
                  <a:pt x="14" y="598"/>
                </a:cubicBezTo>
                <a:cubicBezTo>
                  <a:pt x="19" y="575"/>
                  <a:pt x="25" y="550"/>
                  <a:pt x="32" y="527"/>
                </a:cubicBezTo>
                <a:cubicBezTo>
                  <a:pt x="39" y="503"/>
                  <a:pt x="47" y="481"/>
                  <a:pt x="56" y="458"/>
                </a:cubicBezTo>
                <a:cubicBezTo>
                  <a:pt x="66" y="436"/>
                  <a:pt x="76" y="414"/>
                  <a:pt x="87" y="392"/>
                </a:cubicBezTo>
                <a:cubicBezTo>
                  <a:pt x="99" y="371"/>
                  <a:pt x="111" y="350"/>
                  <a:pt x="125" y="330"/>
                </a:cubicBezTo>
                <a:cubicBezTo>
                  <a:pt x="138" y="309"/>
                  <a:pt x="153" y="290"/>
                  <a:pt x="168" y="271"/>
                </a:cubicBezTo>
                <a:cubicBezTo>
                  <a:pt x="184" y="252"/>
                  <a:pt x="200" y="234"/>
                  <a:pt x="217" y="217"/>
                </a:cubicBezTo>
                <a:cubicBezTo>
                  <a:pt x="234" y="200"/>
                  <a:pt x="252" y="184"/>
                  <a:pt x="272" y="168"/>
                </a:cubicBezTo>
                <a:cubicBezTo>
                  <a:pt x="291" y="153"/>
                  <a:pt x="311" y="138"/>
                  <a:pt x="331" y="125"/>
                </a:cubicBezTo>
                <a:cubicBezTo>
                  <a:pt x="351" y="111"/>
                  <a:pt x="372" y="99"/>
                  <a:pt x="393" y="87"/>
                </a:cubicBezTo>
                <a:cubicBezTo>
                  <a:pt x="415" y="76"/>
                  <a:pt x="437" y="65"/>
                  <a:pt x="459" y="56"/>
                </a:cubicBezTo>
                <a:cubicBezTo>
                  <a:pt x="482" y="47"/>
                  <a:pt x="505" y="39"/>
                  <a:pt x="528" y="32"/>
                </a:cubicBezTo>
                <a:cubicBezTo>
                  <a:pt x="551" y="24"/>
                  <a:pt x="575" y="19"/>
                  <a:pt x="599" y="14"/>
                </a:cubicBezTo>
                <a:cubicBezTo>
                  <a:pt x="622" y="9"/>
                  <a:pt x="646" y="6"/>
                  <a:pt x="671" y="3"/>
                </a:cubicBezTo>
                <a:cubicBezTo>
                  <a:pt x="695" y="1"/>
                  <a:pt x="719" y="0"/>
                  <a:pt x="743" y="0"/>
                </a:cubicBezTo>
                <a:cubicBezTo>
                  <a:pt x="768" y="0"/>
                  <a:pt x="792" y="1"/>
                  <a:pt x="816" y="3"/>
                </a:cubicBezTo>
                <a:cubicBezTo>
                  <a:pt x="840" y="6"/>
                  <a:pt x="865" y="9"/>
                  <a:pt x="888" y="14"/>
                </a:cubicBezTo>
                <a:cubicBezTo>
                  <a:pt x="912" y="19"/>
                  <a:pt x="936" y="24"/>
                  <a:pt x="959" y="32"/>
                </a:cubicBezTo>
                <a:cubicBezTo>
                  <a:pt x="982" y="39"/>
                  <a:pt x="1005" y="47"/>
                  <a:pt x="1028" y="56"/>
                </a:cubicBezTo>
                <a:cubicBezTo>
                  <a:pt x="1050" y="65"/>
                  <a:pt x="1072" y="76"/>
                  <a:pt x="1094" y="87"/>
                </a:cubicBezTo>
                <a:cubicBezTo>
                  <a:pt x="1115" y="99"/>
                  <a:pt x="1136" y="111"/>
                  <a:pt x="1156" y="125"/>
                </a:cubicBezTo>
                <a:cubicBezTo>
                  <a:pt x="1176" y="138"/>
                  <a:pt x="1196" y="153"/>
                  <a:pt x="1215" y="168"/>
                </a:cubicBezTo>
                <a:cubicBezTo>
                  <a:pt x="1234" y="184"/>
                  <a:pt x="1252" y="200"/>
                  <a:pt x="1269" y="217"/>
                </a:cubicBezTo>
                <a:cubicBezTo>
                  <a:pt x="1286" y="234"/>
                  <a:pt x="1302" y="252"/>
                  <a:pt x="1318" y="271"/>
                </a:cubicBezTo>
                <a:cubicBezTo>
                  <a:pt x="1333" y="290"/>
                  <a:pt x="1348" y="309"/>
                  <a:pt x="1361" y="330"/>
                </a:cubicBezTo>
                <a:cubicBezTo>
                  <a:pt x="1375" y="350"/>
                  <a:pt x="1387" y="371"/>
                  <a:pt x="1399" y="392"/>
                </a:cubicBezTo>
                <a:cubicBezTo>
                  <a:pt x="1410" y="414"/>
                  <a:pt x="1420" y="436"/>
                  <a:pt x="1430" y="458"/>
                </a:cubicBezTo>
                <a:cubicBezTo>
                  <a:pt x="1439" y="481"/>
                  <a:pt x="1447" y="503"/>
                  <a:pt x="1454" y="527"/>
                </a:cubicBezTo>
                <a:cubicBezTo>
                  <a:pt x="1461" y="550"/>
                  <a:pt x="1467" y="575"/>
                  <a:pt x="1472" y="598"/>
                </a:cubicBezTo>
                <a:cubicBezTo>
                  <a:pt x="1477" y="622"/>
                  <a:pt x="1480" y="646"/>
                  <a:pt x="1483" y="671"/>
                </a:cubicBezTo>
                <a:cubicBezTo>
                  <a:pt x="1485" y="695"/>
                  <a:pt x="1486" y="719"/>
                  <a:pt x="1486" y="743"/>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62" name="図 461"/>
          <p:cNvPicPr/>
          <p:nvPr/>
        </p:nvPicPr>
        <p:blipFill>
          <a:blip r:embed="rId12"/>
          <a:stretch/>
        </p:blipFill>
        <p:spPr>
          <a:xfrm>
            <a:off x="7821720" y="5582160"/>
            <a:ext cx="200160" cy="200160"/>
          </a:xfrm>
          <a:prstGeom prst="rect">
            <a:avLst/>
          </a:prstGeom>
          <a:noFill/>
          <a:ln w="0">
            <a:noFill/>
          </a:ln>
        </p:spPr>
      </p:pic>
      <p:sp>
        <p:nvSpPr>
          <p:cNvPr id="463" name="テキスト ボックス 462"/>
          <p:cNvSpPr txBox="1"/>
          <p:nvPr/>
        </p:nvSpPr>
        <p:spPr>
          <a:xfrm>
            <a:off x="6228360" y="6051600"/>
            <a:ext cx="4032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高精度</a:t>
            </a:r>
            <a:endParaRPr lang="en-US" sz="1050" b="0" u="none" strike="noStrike">
              <a:solidFill>
                <a:srgbClr val="000000"/>
              </a:solidFill>
              <a:effectLst/>
              <a:uFillTx/>
              <a:latin typeface="Times New Roman"/>
            </a:endParaRPr>
          </a:p>
        </p:txBody>
      </p:sp>
      <p:sp>
        <p:nvSpPr>
          <p:cNvPr id="464" name="フリーフォーム: 図形 463"/>
          <p:cNvSpPr/>
          <p:nvPr/>
        </p:nvSpPr>
        <p:spPr>
          <a:xfrm>
            <a:off x="9150480" y="5415120"/>
            <a:ext cx="534960" cy="534960"/>
          </a:xfrm>
          <a:custGeom>
            <a:avLst/>
            <a:gdLst/>
            <a:ahLst/>
            <a:cxnLst/>
            <a:rect l="0" t="0" r="r" b="b"/>
            <a:pathLst>
              <a:path w="1486" h="1486">
                <a:moveTo>
                  <a:pt x="1486" y="743"/>
                </a:moveTo>
                <a:cubicBezTo>
                  <a:pt x="1486" y="768"/>
                  <a:pt x="1485" y="792"/>
                  <a:pt x="1483" y="816"/>
                </a:cubicBezTo>
                <a:cubicBezTo>
                  <a:pt x="1480" y="840"/>
                  <a:pt x="1477" y="864"/>
                  <a:pt x="1472" y="888"/>
                </a:cubicBezTo>
                <a:cubicBezTo>
                  <a:pt x="1467" y="912"/>
                  <a:pt x="1462" y="936"/>
                  <a:pt x="1454" y="959"/>
                </a:cubicBezTo>
                <a:cubicBezTo>
                  <a:pt x="1447" y="982"/>
                  <a:pt x="1439" y="1005"/>
                  <a:pt x="1430" y="1028"/>
                </a:cubicBezTo>
                <a:cubicBezTo>
                  <a:pt x="1421" y="1050"/>
                  <a:pt x="1410" y="1072"/>
                  <a:pt x="1399" y="1094"/>
                </a:cubicBezTo>
                <a:cubicBezTo>
                  <a:pt x="1387" y="1115"/>
                  <a:pt x="1375" y="1136"/>
                  <a:pt x="1361" y="1156"/>
                </a:cubicBezTo>
                <a:cubicBezTo>
                  <a:pt x="1348" y="1176"/>
                  <a:pt x="1333" y="1196"/>
                  <a:pt x="1318" y="1215"/>
                </a:cubicBezTo>
                <a:cubicBezTo>
                  <a:pt x="1302" y="1233"/>
                  <a:pt x="1286" y="1251"/>
                  <a:pt x="1269" y="1269"/>
                </a:cubicBezTo>
                <a:cubicBezTo>
                  <a:pt x="1252" y="1286"/>
                  <a:pt x="1234" y="1302"/>
                  <a:pt x="1215" y="1318"/>
                </a:cubicBezTo>
                <a:cubicBezTo>
                  <a:pt x="1196" y="1333"/>
                  <a:pt x="1177" y="1347"/>
                  <a:pt x="1156" y="1361"/>
                </a:cubicBezTo>
                <a:cubicBezTo>
                  <a:pt x="1136" y="1375"/>
                  <a:pt x="1115" y="1387"/>
                  <a:pt x="1094" y="1398"/>
                </a:cubicBezTo>
                <a:cubicBezTo>
                  <a:pt x="1072" y="1410"/>
                  <a:pt x="1050" y="1420"/>
                  <a:pt x="1028" y="1430"/>
                </a:cubicBezTo>
                <a:cubicBezTo>
                  <a:pt x="1005" y="1439"/>
                  <a:pt x="983" y="1447"/>
                  <a:pt x="959" y="1454"/>
                </a:cubicBezTo>
                <a:cubicBezTo>
                  <a:pt x="936" y="1461"/>
                  <a:pt x="912" y="1467"/>
                  <a:pt x="889" y="1472"/>
                </a:cubicBezTo>
                <a:cubicBezTo>
                  <a:pt x="865" y="1477"/>
                  <a:pt x="841" y="1480"/>
                  <a:pt x="816" y="1483"/>
                </a:cubicBezTo>
                <a:cubicBezTo>
                  <a:pt x="792" y="1485"/>
                  <a:pt x="768" y="1486"/>
                  <a:pt x="744" y="1486"/>
                </a:cubicBezTo>
                <a:cubicBezTo>
                  <a:pt x="719" y="1486"/>
                  <a:pt x="695" y="1485"/>
                  <a:pt x="671" y="1483"/>
                </a:cubicBezTo>
                <a:cubicBezTo>
                  <a:pt x="647" y="1480"/>
                  <a:pt x="623" y="1477"/>
                  <a:pt x="599" y="1472"/>
                </a:cubicBezTo>
                <a:cubicBezTo>
                  <a:pt x="575" y="1467"/>
                  <a:pt x="550" y="1461"/>
                  <a:pt x="527" y="1454"/>
                </a:cubicBezTo>
                <a:cubicBezTo>
                  <a:pt x="504" y="1447"/>
                  <a:pt x="481" y="1439"/>
                  <a:pt x="458" y="1430"/>
                </a:cubicBezTo>
                <a:cubicBezTo>
                  <a:pt x="436" y="1420"/>
                  <a:pt x="414" y="1410"/>
                  <a:pt x="392" y="1398"/>
                </a:cubicBezTo>
                <a:cubicBezTo>
                  <a:pt x="371" y="1387"/>
                  <a:pt x="350" y="1375"/>
                  <a:pt x="330" y="1361"/>
                </a:cubicBezTo>
                <a:cubicBezTo>
                  <a:pt x="310" y="1347"/>
                  <a:pt x="290" y="1333"/>
                  <a:pt x="271" y="1318"/>
                </a:cubicBezTo>
                <a:cubicBezTo>
                  <a:pt x="253" y="1302"/>
                  <a:pt x="235" y="1286"/>
                  <a:pt x="217" y="1269"/>
                </a:cubicBezTo>
                <a:cubicBezTo>
                  <a:pt x="200" y="1251"/>
                  <a:pt x="184" y="1233"/>
                  <a:pt x="168" y="1215"/>
                </a:cubicBezTo>
                <a:cubicBezTo>
                  <a:pt x="153" y="1196"/>
                  <a:pt x="138" y="1176"/>
                  <a:pt x="125" y="1156"/>
                </a:cubicBezTo>
                <a:cubicBezTo>
                  <a:pt x="111" y="1136"/>
                  <a:pt x="99" y="1115"/>
                  <a:pt x="88" y="1094"/>
                </a:cubicBezTo>
                <a:cubicBezTo>
                  <a:pt x="76" y="1072"/>
                  <a:pt x="66" y="1050"/>
                  <a:pt x="56" y="1028"/>
                </a:cubicBezTo>
                <a:cubicBezTo>
                  <a:pt x="47" y="1005"/>
                  <a:pt x="39" y="982"/>
                  <a:pt x="32" y="959"/>
                </a:cubicBezTo>
                <a:cubicBezTo>
                  <a:pt x="25" y="936"/>
                  <a:pt x="19" y="912"/>
                  <a:pt x="14" y="888"/>
                </a:cubicBezTo>
                <a:cubicBezTo>
                  <a:pt x="9" y="864"/>
                  <a:pt x="6" y="840"/>
                  <a:pt x="3" y="816"/>
                </a:cubicBezTo>
                <a:cubicBezTo>
                  <a:pt x="1" y="792"/>
                  <a:pt x="0" y="768"/>
                  <a:pt x="0" y="743"/>
                </a:cubicBezTo>
                <a:cubicBezTo>
                  <a:pt x="0" y="719"/>
                  <a:pt x="1" y="695"/>
                  <a:pt x="3" y="671"/>
                </a:cubicBezTo>
                <a:cubicBezTo>
                  <a:pt x="6" y="646"/>
                  <a:pt x="9" y="622"/>
                  <a:pt x="14" y="598"/>
                </a:cubicBezTo>
                <a:cubicBezTo>
                  <a:pt x="19" y="575"/>
                  <a:pt x="25" y="550"/>
                  <a:pt x="32" y="527"/>
                </a:cubicBezTo>
                <a:cubicBezTo>
                  <a:pt x="39" y="503"/>
                  <a:pt x="47" y="481"/>
                  <a:pt x="56" y="458"/>
                </a:cubicBezTo>
                <a:cubicBezTo>
                  <a:pt x="66" y="436"/>
                  <a:pt x="76" y="414"/>
                  <a:pt x="88" y="392"/>
                </a:cubicBezTo>
                <a:cubicBezTo>
                  <a:pt x="99" y="371"/>
                  <a:pt x="111" y="350"/>
                  <a:pt x="125" y="330"/>
                </a:cubicBezTo>
                <a:cubicBezTo>
                  <a:pt x="138" y="309"/>
                  <a:pt x="153" y="290"/>
                  <a:pt x="168" y="271"/>
                </a:cubicBezTo>
                <a:cubicBezTo>
                  <a:pt x="184" y="252"/>
                  <a:pt x="200" y="234"/>
                  <a:pt x="217" y="217"/>
                </a:cubicBezTo>
                <a:cubicBezTo>
                  <a:pt x="235" y="200"/>
                  <a:pt x="253" y="184"/>
                  <a:pt x="271" y="168"/>
                </a:cubicBezTo>
                <a:cubicBezTo>
                  <a:pt x="290" y="153"/>
                  <a:pt x="310" y="138"/>
                  <a:pt x="330" y="125"/>
                </a:cubicBezTo>
                <a:cubicBezTo>
                  <a:pt x="350" y="111"/>
                  <a:pt x="371" y="99"/>
                  <a:pt x="392" y="87"/>
                </a:cubicBezTo>
                <a:cubicBezTo>
                  <a:pt x="414" y="76"/>
                  <a:pt x="436" y="65"/>
                  <a:pt x="458" y="56"/>
                </a:cubicBezTo>
                <a:cubicBezTo>
                  <a:pt x="481" y="47"/>
                  <a:pt x="504" y="39"/>
                  <a:pt x="527" y="32"/>
                </a:cubicBezTo>
                <a:cubicBezTo>
                  <a:pt x="550" y="24"/>
                  <a:pt x="575" y="19"/>
                  <a:pt x="599" y="14"/>
                </a:cubicBezTo>
                <a:cubicBezTo>
                  <a:pt x="623" y="9"/>
                  <a:pt x="647" y="6"/>
                  <a:pt x="671" y="3"/>
                </a:cubicBezTo>
                <a:cubicBezTo>
                  <a:pt x="695" y="1"/>
                  <a:pt x="719" y="0"/>
                  <a:pt x="744" y="0"/>
                </a:cubicBezTo>
                <a:cubicBezTo>
                  <a:pt x="768" y="0"/>
                  <a:pt x="792" y="1"/>
                  <a:pt x="816" y="3"/>
                </a:cubicBezTo>
                <a:cubicBezTo>
                  <a:pt x="841" y="6"/>
                  <a:pt x="865" y="9"/>
                  <a:pt x="889" y="14"/>
                </a:cubicBezTo>
                <a:cubicBezTo>
                  <a:pt x="912" y="19"/>
                  <a:pt x="936" y="24"/>
                  <a:pt x="959" y="32"/>
                </a:cubicBezTo>
                <a:cubicBezTo>
                  <a:pt x="983" y="39"/>
                  <a:pt x="1005" y="47"/>
                  <a:pt x="1028" y="56"/>
                </a:cubicBezTo>
                <a:cubicBezTo>
                  <a:pt x="1050" y="65"/>
                  <a:pt x="1072" y="76"/>
                  <a:pt x="1094" y="87"/>
                </a:cubicBezTo>
                <a:cubicBezTo>
                  <a:pt x="1115" y="99"/>
                  <a:pt x="1136" y="111"/>
                  <a:pt x="1156" y="125"/>
                </a:cubicBezTo>
                <a:cubicBezTo>
                  <a:pt x="1177" y="138"/>
                  <a:pt x="1196" y="153"/>
                  <a:pt x="1215" y="168"/>
                </a:cubicBezTo>
                <a:cubicBezTo>
                  <a:pt x="1234" y="184"/>
                  <a:pt x="1252" y="200"/>
                  <a:pt x="1269" y="217"/>
                </a:cubicBezTo>
                <a:cubicBezTo>
                  <a:pt x="1286" y="234"/>
                  <a:pt x="1302" y="252"/>
                  <a:pt x="1318" y="271"/>
                </a:cubicBezTo>
                <a:cubicBezTo>
                  <a:pt x="1333" y="290"/>
                  <a:pt x="1348" y="309"/>
                  <a:pt x="1361" y="330"/>
                </a:cubicBezTo>
                <a:cubicBezTo>
                  <a:pt x="1375" y="350"/>
                  <a:pt x="1387" y="371"/>
                  <a:pt x="1399" y="392"/>
                </a:cubicBezTo>
                <a:cubicBezTo>
                  <a:pt x="1410" y="414"/>
                  <a:pt x="1421" y="436"/>
                  <a:pt x="1430" y="458"/>
                </a:cubicBezTo>
                <a:cubicBezTo>
                  <a:pt x="1439" y="481"/>
                  <a:pt x="1447" y="503"/>
                  <a:pt x="1454" y="527"/>
                </a:cubicBezTo>
                <a:cubicBezTo>
                  <a:pt x="1462" y="550"/>
                  <a:pt x="1467" y="575"/>
                  <a:pt x="1472" y="598"/>
                </a:cubicBezTo>
                <a:cubicBezTo>
                  <a:pt x="1477" y="622"/>
                  <a:pt x="1480" y="646"/>
                  <a:pt x="1483" y="671"/>
                </a:cubicBezTo>
                <a:cubicBezTo>
                  <a:pt x="1485" y="695"/>
                  <a:pt x="1486" y="719"/>
                  <a:pt x="1486" y="743"/>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65" name="図 464"/>
          <p:cNvPicPr/>
          <p:nvPr/>
        </p:nvPicPr>
        <p:blipFill>
          <a:blip r:embed="rId13"/>
          <a:stretch/>
        </p:blipFill>
        <p:spPr>
          <a:xfrm>
            <a:off x="9317880" y="5582160"/>
            <a:ext cx="200160" cy="200160"/>
          </a:xfrm>
          <a:prstGeom prst="rect">
            <a:avLst/>
          </a:prstGeom>
          <a:noFill/>
          <a:ln w="0">
            <a:noFill/>
          </a:ln>
        </p:spPr>
      </p:pic>
      <p:sp>
        <p:nvSpPr>
          <p:cNvPr id="466" name="テキスト ボックス 465"/>
          <p:cNvSpPr txBox="1"/>
          <p:nvPr/>
        </p:nvSpPr>
        <p:spPr>
          <a:xfrm>
            <a:off x="7721280" y="6051600"/>
            <a:ext cx="4032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再現性</a:t>
            </a:r>
            <a:endParaRPr lang="en-US" sz="1050" b="0" u="none" strike="noStrike">
              <a:solidFill>
                <a:srgbClr val="000000"/>
              </a:solidFill>
              <a:effectLst/>
              <a:uFillTx/>
              <a:latin typeface="Times New Roman"/>
            </a:endParaRPr>
          </a:p>
        </p:txBody>
      </p:sp>
      <p:sp>
        <p:nvSpPr>
          <p:cNvPr id="467" name="フリーフォーム: 図形 466"/>
          <p:cNvSpPr/>
          <p:nvPr/>
        </p:nvSpPr>
        <p:spPr>
          <a:xfrm>
            <a:off x="5682240" y="1571040"/>
            <a:ext cx="535320" cy="534960"/>
          </a:xfrm>
          <a:custGeom>
            <a:avLst/>
            <a:gdLst/>
            <a:ahLst/>
            <a:cxnLst/>
            <a:rect l="0" t="0" r="r" b="b"/>
            <a:pathLst>
              <a:path w="1487" h="1486">
                <a:moveTo>
                  <a:pt x="372" y="0"/>
                </a:moveTo>
                <a:lnTo>
                  <a:pt x="1115" y="0"/>
                </a:lnTo>
                <a:lnTo>
                  <a:pt x="1487" y="742"/>
                </a:lnTo>
                <a:lnTo>
                  <a:pt x="1115" y="1486"/>
                </a:lnTo>
                <a:lnTo>
                  <a:pt x="372" y="1486"/>
                </a:lnTo>
                <a:lnTo>
                  <a:pt x="0" y="742"/>
                </a:lnTo>
                <a:lnTo>
                  <a:pt x="372"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68" name="テキスト ボックス 467"/>
          <p:cNvSpPr txBox="1"/>
          <p:nvPr/>
        </p:nvSpPr>
        <p:spPr>
          <a:xfrm>
            <a:off x="9214560" y="6051600"/>
            <a:ext cx="4032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安定性</a:t>
            </a:r>
            <a:endParaRPr lang="en-US" sz="1050" b="0" u="none" strike="noStrike">
              <a:solidFill>
                <a:srgbClr val="000000"/>
              </a:solidFill>
              <a:effectLst/>
              <a:uFillTx/>
              <a:latin typeface="Times New Roman"/>
            </a:endParaRPr>
          </a:p>
        </p:txBody>
      </p:sp>
      <p:sp>
        <p:nvSpPr>
          <p:cNvPr id="469" name="フリーフォーム: 図形 468"/>
          <p:cNvSpPr/>
          <p:nvPr/>
        </p:nvSpPr>
        <p:spPr>
          <a:xfrm>
            <a:off x="5682240" y="2373120"/>
            <a:ext cx="535320" cy="535320"/>
          </a:xfrm>
          <a:custGeom>
            <a:avLst/>
            <a:gdLst/>
            <a:ahLst/>
            <a:cxnLst/>
            <a:rect l="0" t="0" r="r" b="b"/>
            <a:pathLst>
              <a:path w="1487" h="1487">
                <a:moveTo>
                  <a:pt x="1487" y="744"/>
                </a:moveTo>
                <a:lnTo>
                  <a:pt x="1115" y="1487"/>
                </a:lnTo>
                <a:lnTo>
                  <a:pt x="372" y="1487"/>
                </a:lnTo>
                <a:lnTo>
                  <a:pt x="0" y="744"/>
                </a:lnTo>
                <a:lnTo>
                  <a:pt x="372" y="0"/>
                </a:lnTo>
                <a:lnTo>
                  <a:pt x="1115" y="0"/>
                </a:lnTo>
                <a:lnTo>
                  <a:pt x="1487" y="744"/>
                </a:ln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70" name="テキスト ボックス 469"/>
          <p:cNvSpPr txBox="1"/>
          <p:nvPr/>
        </p:nvSpPr>
        <p:spPr>
          <a:xfrm>
            <a:off x="5866560" y="1750320"/>
            <a:ext cx="166680" cy="1954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①</a:t>
            </a:r>
            <a:endParaRPr lang="en-US" sz="1320" b="0" u="none" strike="noStrike">
              <a:solidFill>
                <a:srgbClr val="000000"/>
              </a:solidFill>
              <a:effectLst/>
              <a:uFillTx/>
              <a:latin typeface="Times New Roman"/>
            </a:endParaRPr>
          </a:p>
        </p:txBody>
      </p:sp>
      <p:sp>
        <p:nvSpPr>
          <p:cNvPr id="471" name="フリーフォーム: 図形 470"/>
          <p:cNvSpPr/>
          <p:nvPr/>
        </p:nvSpPr>
        <p:spPr>
          <a:xfrm>
            <a:off x="5682240" y="3175200"/>
            <a:ext cx="535320" cy="535320"/>
          </a:xfrm>
          <a:custGeom>
            <a:avLst/>
            <a:gdLst/>
            <a:ahLst/>
            <a:cxnLst/>
            <a:rect l="0" t="0" r="r" b="b"/>
            <a:pathLst>
              <a:path w="1487" h="1487">
                <a:moveTo>
                  <a:pt x="372" y="0"/>
                </a:moveTo>
                <a:lnTo>
                  <a:pt x="1115" y="0"/>
                </a:lnTo>
                <a:lnTo>
                  <a:pt x="1487" y="743"/>
                </a:lnTo>
                <a:lnTo>
                  <a:pt x="1115" y="1487"/>
                </a:lnTo>
                <a:lnTo>
                  <a:pt x="372" y="1487"/>
                </a:lnTo>
                <a:lnTo>
                  <a:pt x="0" y="743"/>
                </a:lnTo>
                <a:lnTo>
                  <a:pt x="372"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72" name="テキスト ボックス 471"/>
          <p:cNvSpPr txBox="1"/>
          <p:nvPr/>
        </p:nvSpPr>
        <p:spPr>
          <a:xfrm>
            <a:off x="5866560" y="2552400"/>
            <a:ext cx="166680" cy="1954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②</a:t>
            </a:r>
            <a:endParaRPr lang="en-US" sz="1320" b="0" u="none" strike="noStrike">
              <a:solidFill>
                <a:srgbClr val="000000"/>
              </a:solidFill>
              <a:effectLst/>
              <a:uFillTx/>
              <a:latin typeface="Times New Roman"/>
            </a:endParaRPr>
          </a:p>
        </p:txBody>
      </p:sp>
      <p:sp>
        <p:nvSpPr>
          <p:cNvPr id="473" name="テキスト ボックス 472"/>
          <p:cNvSpPr txBox="1"/>
          <p:nvPr/>
        </p:nvSpPr>
        <p:spPr>
          <a:xfrm>
            <a:off x="5866560" y="3354840"/>
            <a:ext cx="166680" cy="1954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③</a:t>
            </a:r>
            <a:endParaRPr lang="en-US" sz="1320" b="0" u="none" strike="noStrike">
              <a:solidFill>
                <a:srgbClr val="000000"/>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4" name="図 473"/>
          <p:cNvPicPr/>
          <p:nvPr/>
        </p:nvPicPr>
        <p:blipFill>
          <a:blip r:embed="rId2"/>
          <a:stretch/>
        </p:blipFill>
        <p:spPr>
          <a:xfrm>
            <a:off x="0" y="0"/>
            <a:ext cx="10696320" cy="7604280"/>
          </a:xfrm>
          <a:prstGeom prst="rect">
            <a:avLst/>
          </a:prstGeom>
          <a:noFill/>
          <a:ln w="0">
            <a:noFill/>
          </a:ln>
        </p:spPr>
      </p:pic>
      <p:sp>
        <p:nvSpPr>
          <p:cNvPr id="475" name="フリーフォーム: 図形 474"/>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76" name="フリーフォーム: 図形 475"/>
          <p:cNvSpPr/>
          <p:nvPr/>
        </p:nvSpPr>
        <p:spPr>
          <a:xfrm>
            <a:off x="267120" y="869040"/>
            <a:ext cx="5841720" cy="6735600"/>
          </a:xfrm>
          <a:custGeom>
            <a:avLst/>
            <a:gdLst/>
            <a:ahLst/>
            <a:cxnLst/>
            <a:rect l="0" t="0" r="r" b="b"/>
            <a:pathLst>
              <a:path w="16227" h="18710">
                <a:moveTo>
                  <a:pt x="0" y="18525"/>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6042" y="0"/>
                </a:lnTo>
                <a:cubicBezTo>
                  <a:pt x="16054" y="0"/>
                  <a:pt x="16066" y="1"/>
                  <a:pt x="16078" y="3"/>
                </a:cubicBezTo>
                <a:cubicBezTo>
                  <a:pt x="16090" y="6"/>
                  <a:pt x="16101" y="9"/>
                  <a:pt x="16113" y="14"/>
                </a:cubicBezTo>
                <a:cubicBezTo>
                  <a:pt x="16124" y="18"/>
                  <a:pt x="16135" y="24"/>
                  <a:pt x="16145" y="31"/>
                </a:cubicBezTo>
                <a:cubicBezTo>
                  <a:pt x="16155" y="38"/>
                  <a:pt x="16164" y="45"/>
                  <a:pt x="16173" y="54"/>
                </a:cubicBezTo>
                <a:cubicBezTo>
                  <a:pt x="16181" y="63"/>
                  <a:pt x="16189" y="72"/>
                  <a:pt x="16196" y="82"/>
                </a:cubicBezTo>
                <a:cubicBezTo>
                  <a:pt x="16203" y="92"/>
                  <a:pt x="16208" y="103"/>
                  <a:pt x="16213" y="114"/>
                </a:cubicBezTo>
                <a:cubicBezTo>
                  <a:pt x="16218" y="126"/>
                  <a:pt x="16221" y="137"/>
                  <a:pt x="16224" y="149"/>
                </a:cubicBezTo>
                <a:cubicBezTo>
                  <a:pt x="16226" y="161"/>
                  <a:pt x="16227" y="173"/>
                  <a:pt x="16227" y="185"/>
                </a:cubicBezTo>
                <a:lnTo>
                  <a:pt x="16227" y="18525"/>
                </a:lnTo>
                <a:cubicBezTo>
                  <a:pt x="16227" y="18537"/>
                  <a:pt x="16226" y="18549"/>
                  <a:pt x="16224" y="18561"/>
                </a:cubicBezTo>
                <a:cubicBezTo>
                  <a:pt x="16221" y="18573"/>
                  <a:pt x="16218" y="18584"/>
                  <a:pt x="16213" y="18596"/>
                </a:cubicBezTo>
                <a:cubicBezTo>
                  <a:pt x="16208" y="18607"/>
                  <a:pt x="16203" y="18618"/>
                  <a:pt x="16196" y="18628"/>
                </a:cubicBezTo>
                <a:cubicBezTo>
                  <a:pt x="16189" y="18638"/>
                  <a:pt x="16181" y="18647"/>
                  <a:pt x="16173" y="18656"/>
                </a:cubicBezTo>
                <a:cubicBezTo>
                  <a:pt x="16164" y="18665"/>
                  <a:pt x="16155" y="18672"/>
                  <a:pt x="16145" y="18679"/>
                </a:cubicBezTo>
                <a:cubicBezTo>
                  <a:pt x="16135" y="18686"/>
                  <a:pt x="16124" y="18692"/>
                  <a:pt x="16113" y="18696"/>
                </a:cubicBezTo>
                <a:cubicBezTo>
                  <a:pt x="16101" y="18701"/>
                  <a:pt x="16090" y="18704"/>
                  <a:pt x="16078" y="18707"/>
                </a:cubicBezTo>
                <a:cubicBezTo>
                  <a:pt x="16066" y="18709"/>
                  <a:pt x="16054" y="18710"/>
                  <a:pt x="16042" y="18710"/>
                </a:cubicBezTo>
                <a:lnTo>
                  <a:pt x="186" y="18710"/>
                </a:lnTo>
                <a:cubicBezTo>
                  <a:pt x="174" y="18710"/>
                  <a:pt x="162" y="18709"/>
                  <a:pt x="150" y="18707"/>
                </a:cubicBezTo>
                <a:cubicBezTo>
                  <a:pt x="138" y="18704"/>
                  <a:pt x="126" y="18701"/>
                  <a:pt x="115" y="18696"/>
                </a:cubicBezTo>
                <a:cubicBezTo>
                  <a:pt x="104" y="18692"/>
                  <a:pt x="93" y="18686"/>
                  <a:pt x="83" y="18679"/>
                </a:cubicBezTo>
                <a:cubicBezTo>
                  <a:pt x="73" y="18672"/>
                  <a:pt x="63" y="18665"/>
                  <a:pt x="55" y="18656"/>
                </a:cubicBezTo>
                <a:cubicBezTo>
                  <a:pt x="46" y="18647"/>
                  <a:pt x="38" y="18638"/>
                  <a:pt x="32" y="18628"/>
                </a:cubicBezTo>
                <a:cubicBezTo>
                  <a:pt x="25" y="18618"/>
                  <a:pt x="19" y="18607"/>
                  <a:pt x="14" y="18596"/>
                </a:cubicBezTo>
                <a:cubicBezTo>
                  <a:pt x="10" y="18584"/>
                  <a:pt x="6" y="18573"/>
                  <a:pt x="4" y="18561"/>
                </a:cubicBezTo>
                <a:cubicBezTo>
                  <a:pt x="2" y="18549"/>
                  <a:pt x="0" y="18537"/>
                  <a:pt x="0" y="1852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77" name="フリーフォーム: 図形 476"/>
          <p:cNvSpPr/>
          <p:nvPr/>
        </p:nvSpPr>
        <p:spPr>
          <a:xfrm>
            <a:off x="484560" y="3142080"/>
            <a:ext cx="5423760" cy="735480"/>
          </a:xfrm>
          <a:custGeom>
            <a:avLst/>
            <a:gdLst/>
            <a:ahLst/>
            <a:cxnLst/>
            <a:rect l="0" t="0" r="r" b="b"/>
            <a:pathLst>
              <a:path w="15066" h="2043">
                <a:moveTo>
                  <a:pt x="0" y="1858"/>
                </a:moveTo>
                <a:lnTo>
                  <a:pt x="0" y="185"/>
                </a:lnTo>
                <a:cubicBezTo>
                  <a:pt x="0" y="173"/>
                  <a:pt x="1" y="161"/>
                  <a:pt x="3" y="149"/>
                </a:cubicBezTo>
                <a:cubicBezTo>
                  <a:pt x="4" y="137"/>
                  <a:pt x="7" y="126"/>
                  <a:pt x="10" y="114"/>
                </a:cubicBezTo>
                <a:cubicBezTo>
                  <a:pt x="14" y="103"/>
                  <a:pt x="18" y="92"/>
                  <a:pt x="23" y="82"/>
                </a:cubicBezTo>
                <a:cubicBezTo>
                  <a:pt x="28" y="72"/>
                  <a:pt x="34" y="63"/>
                  <a:pt x="41" y="54"/>
                </a:cubicBezTo>
                <a:cubicBezTo>
                  <a:pt x="47" y="45"/>
                  <a:pt x="54" y="38"/>
                  <a:pt x="62" y="31"/>
                </a:cubicBezTo>
                <a:cubicBezTo>
                  <a:pt x="69" y="24"/>
                  <a:pt x="77" y="18"/>
                  <a:pt x="86" y="14"/>
                </a:cubicBezTo>
                <a:cubicBezTo>
                  <a:pt x="94" y="9"/>
                  <a:pt x="103" y="6"/>
                  <a:pt x="112" y="3"/>
                </a:cubicBezTo>
                <a:cubicBezTo>
                  <a:pt x="121" y="1"/>
                  <a:pt x="130" y="0"/>
                  <a:pt x="139" y="0"/>
                </a:cubicBezTo>
                <a:lnTo>
                  <a:pt x="14880" y="0"/>
                </a:lnTo>
                <a:cubicBezTo>
                  <a:pt x="14893" y="0"/>
                  <a:pt x="14905" y="1"/>
                  <a:pt x="14917" y="3"/>
                </a:cubicBezTo>
                <a:cubicBezTo>
                  <a:pt x="14929" y="6"/>
                  <a:pt x="14940" y="9"/>
                  <a:pt x="14951" y="14"/>
                </a:cubicBezTo>
                <a:cubicBezTo>
                  <a:pt x="14963" y="18"/>
                  <a:pt x="14973" y="24"/>
                  <a:pt x="14984" y="31"/>
                </a:cubicBezTo>
                <a:cubicBezTo>
                  <a:pt x="14994" y="38"/>
                  <a:pt x="15003" y="45"/>
                  <a:pt x="15012" y="54"/>
                </a:cubicBezTo>
                <a:cubicBezTo>
                  <a:pt x="15020" y="63"/>
                  <a:pt x="15028" y="72"/>
                  <a:pt x="15035" y="82"/>
                </a:cubicBezTo>
                <a:cubicBezTo>
                  <a:pt x="15042" y="92"/>
                  <a:pt x="15047" y="103"/>
                  <a:pt x="15052" y="114"/>
                </a:cubicBezTo>
                <a:cubicBezTo>
                  <a:pt x="15057" y="126"/>
                  <a:pt x="15060" y="137"/>
                  <a:pt x="15063" y="149"/>
                </a:cubicBezTo>
                <a:cubicBezTo>
                  <a:pt x="15065" y="161"/>
                  <a:pt x="15066" y="173"/>
                  <a:pt x="15066" y="185"/>
                </a:cubicBezTo>
                <a:lnTo>
                  <a:pt x="15066" y="1858"/>
                </a:lnTo>
                <a:cubicBezTo>
                  <a:pt x="15066" y="1870"/>
                  <a:pt x="15065" y="1882"/>
                  <a:pt x="15063" y="1894"/>
                </a:cubicBezTo>
                <a:cubicBezTo>
                  <a:pt x="15060" y="1906"/>
                  <a:pt x="15057" y="1917"/>
                  <a:pt x="15052" y="1929"/>
                </a:cubicBezTo>
                <a:cubicBezTo>
                  <a:pt x="15047" y="1940"/>
                  <a:pt x="15042" y="1951"/>
                  <a:pt x="15035" y="1961"/>
                </a:cubicBezTo>
                <a:cubicBezTo>
                  <a:pt x="15028" y="1971"/>
                  <a:pt x="15020" y="1980"/>
                  <a:pt x="15012" y="1989"/>
                </a:cubicBezTo>
                <a:cubicBezTo>
                  <a:pt x="15003" y="1998"/>
                  <a:pt x="14994" y="2005"/>
                  <a:pt x="14984" y="2012"/>
                </a:cubicBezTo>
                <a:cubicBezTo>
                  <a:pt x="14973" y="2019"/>
                  <a:pt x="14963" y="2025"/>
                  <a:pt x="14951" y="2029"/>
                </a:cubicBezTo>
                <a:cubicBezTo>
                  <a:pt x="14940" y="2034"/>
                  <a:pt x="14929" y="2037"/>
                  <a:pt x="14917" y="2040"/>
                </a:cubicBezTo>
                <a:cubicBezTo>
                  <a:pt x="14905" y="2042"/>
                  <a:pt x="14893" y="2043"/>
                  <a:pt x="14880" y="2043"/>
                </a:cubicBezTo>
                <a:lnTo>
                  <a:pt x="139" y="2043"/>
                </a:lnTo>
                <a:cubicBezTo>
                  <a:pt x="130" y="2043"/>
                  <a:pt x="121" y="2042"/>
                  <a:pt x="112" y="2040"/>
                </a:cubicBezTo>
                <a:cubicBezTo>
                  <a:pt x="103" y="2037"/>
                  <a:pt x="94" y="2034"/>
                  <a:pt x="86" y="2029"/>
                </a:cubicBezTo>
                <a:cubicBezTo>
                  <a:pt x="77" y="2025"/>
                  <a:pt x="69" y="2019"/>
                  <a:pt x="62" y="2012"/>
                </a:cubicBezTo>
                <a:cubicBezTo>
                  <a:pt x="54" y="2005"/>
                  <a:pt x="47" y="1998"/>
                  <a:pt x="41" y="1989"/>
                </a:cubicBezTo>
                <a:cubicBezTo>
                  <a:pt x="34" y="1980"/>
                  <a:pt x="28" y="1971"/>
                  <a:pt x="23" y="1961"/>
                </a:cubicBezTo>
                <a:cubicBezTo>
                  <a:pt x="18" y="1951"/>
                  <a:pt x="14" y="1940"/>
                  <a:pt x="10" y="1929"/>
                </a:cubicBezTo>
                <a:cubicBezTo>
                  <a:pt x="7" y="1917"/>
                  <a:pt x="4" y="1906"/>
                  <a:pt x="3" y="1894"/>
                </a:cubicBezTo>
                <a:cubicBezTo>
                  <a:pt x="1" y="1882"/>
                  <a:pt x="0" y="1870"/>
                  <a:pt x="0" y="1858"/>
                </a:cubicBezTo>
                <a:close/>
              </a:path>
            </a:pathLst>
          </a:custGeom>
          <a:solidFill>
            <a:srgbClr val="F9FAF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78" name="フリーフォーム: 図形 477"/>
          <p:cNvSpPr/>
          <p:nvPr/>
        </p:nvSpPr>
        <p:spPr>
          <a:xfrm>
            <a:off x="467640" y="3142080"/>
            <a:ext cx="67320" cy="735480"/>
          </a:xfrm>
          <a:custGeom>
            <a:avLst/>
            <a:gdLst/>
            <a:ahLst/>
            <a:cxnLst/>
            <a:rect l="0" t="0" r="r" b="b"/>
            <a:pathLst>
              <a:path w="187" h="2043">
                <a:moveTo>
                  <a:pt x="0" y="0"/>
                </a:moveTo>
                <a:lnTo>
                  <a:pt x="187" y="0"/>
                </a:lnTo>
                <a:lnTo>
                  <a:pt x="187" y="2043"/>
                </a:lnTo>
                <a:lnTo>
                  <a:pt x="0" y="2043"/>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79" name="図 478"/>
          <p:cNvPicPr/>
          <p:nvPr/>
        </p:nvPicPr>
        <p:blipFill>
          <a:blip r:embed="rId3"/>
          <a:stretch/>
        </p:blipFill>
        <p:spPr>
          <a:xfrm>
            <a:off x="468000" y="1103040"/>
            <a:ext cx="200160" cy="200160"/>
          </a:xfrm>
          <a:prstGeom prst="rect">
            <a:avLst/>
          </a:prstGeom>
          <a:noFill/>
          <a:ln w="0">
            <a:noFill/>
          </a:ln>
        </p:spPr>
      </p:pic>
      <p:sp>
        <p:nvSpPr>
          <p:cNvPr id="480" name="テキスト ボックス 479"/>
          <p:cNvSpPr txBox="1"/>
          <p:nvPr/>
        </p:nvSpPr>
        <p:spPr>
          <a:xfrm>
            <a:off x="334440" y="155520"/>
            <a:ext cx="210240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電極構造の影響</a:t>
            </a:r>
            <a:endParaRPr lang="en-US" sz="2370" b="0" u="none" strike="noStrike">
              <a:solidFill>
                <a:srgbClr val="000000"/>
              </a:solidFill>
              <a:effectLst/>
              <a:uFillTx/>
              <a:latin typeface="Times New Roman"/>
            </a:endParaRPr>
          </a:p>
        </p:txBody>
      </p:sp>
      <p:sp>
        <p:nvSpPr>
          <p:cNvPr id="481" name="テキスト ボックス 480"/>
          <p:cNvSpPr txBox="1"/>
          <p:nvPr/>
        </p:nvSpPr>
        <p:spPr>
          <a:xfrm>
            <a:off x="768960" y="1100880"/>
            <a:ext cx="261576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くし形電極の構造パラメータ</a:t>
            </a:r>
            <a:endParaRPr lang="en-US" sz="1580" b="0" u="none" strike="noStrike">
              <a:solidFill>
                <a:srgbClr val="000000"/>
              </a:solidFill>
              <a:effectLst/>
              <a:uFillTx/>
              <a:latin typeface="Times New Roman"/>
            </a:endParaRPr>
          </a:p>
        </p:txBody>
      </p:sp>
      <p:sp>
        <p:nvSpPr>
          <p:cNvPr id="482" name="フリーフォーム: 図形 481"/>
          <p:cNvSpPr/>
          <p:nvPr/>
        </p:nvSpPr>
        <p:spPr>
          <a:xfrm>
            <a:off x="1270080" y="1888560"/>
            <a:ext cx="67320" cy="668880"/>
          </a:xfrm>
          <a:custGeom>
            <a:avLst/>
            <a:gdLst/>
            <a:ahLst/>
            <a:cxnLst/>
            <a:rect l="0" t="0" r="r" b="b"/>
            <a:pathLst>
              <a:path w="187" h="1858">
                <a:moveTo>
                  <a:pt x="0" y="0"/>
                </a:moveTo>
                <a:lnTo>
                  <a:pt x="187" y="0"/>
                </a:lnTo>
                <a:lnTo>
                  <a:pt x="187" y="1858"/>
                </a:lnTo>
                <a:lnTo>
                  <a:pt x="0" y="1858"/>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83" name="フリーフォーム: 図形 482"/>
          <p:cNvSpPr/>
          <p:nvPr/>
        </p:nvSpPr>
        <p:spPr>
          <a:xfrm>
            <a:off x="1470600" y="1888560"/>
            <a:ext cx="67320" cy="668880"/>
          </a:xfrm>
          <a:custGeom>
            <a:avLst/>
            <a:gdLst/>
            <a:ahLst/>
            <a:cxnLst/>
            <a:rect l="0" t="0" r="r" b="b"/>
            <a:pathLst>
              <a:path w="187" h="1858">
                <a:moveTo>
                  <a:pt x="0" y="0"/>
                </a:moveTo>
                <a:lnTo>
                  <a:pt x="187" y="0"/>
                </a:lnTo>
                <a:lnTo>
                  <a:pt x="187" y="1858"/>
                </a:lnTo>
                <a:lnTo>
                  <a:pt x="0" y="1858"/>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84" name="フリーフォーム: 図形 483"/>
          <p:cNvSpPr/>
          <p:nvPr/>
        </p:nvSpPr>
        <p:spPr>
          <a:xfrm>
            <a:off x="1671120" y="1888560"/>
            <a:ext cx="67320" cy="668880"/>
          </a:xfrm>
          <a:custGeom>
            <a:avLst/>
            <a:gdLst/>
            <a:ahLst/>
            <a:cxnLst/>
            <a:rect l="0" t="0" r="r" b="b"/>
            <a:pathLst>
              <a:path w="187" h="1858">
                <a:moveTo>
                  <a:pt x="0" y="0"/>
                </a:moveTo>
                <a:lnTo>
                  <a:pt x="187" y="0"/>
                </a:lnTo>
                <a:lnTo>
                  <a:pt x="187" y="1858"/>
                </a:lnTo>
                <a:lnTo>
                  <a:pt x="0" y="1858"/>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85" name="フリーフォーム: 図形 484"/>
          <p:cNvSpPr/>
          <p:nvPr/>
        </p:nvSpPr>
        <p:spPr>
          <a:xfrm>
            <a:off x="1871640" y="1888560"/>
            <a:ext cx="67320" cy="668880"/>
          </a:xfrm>
          <a:custGeom>
            <a:avLst/>
            <a:gdLst/>
            <a:ahLst/>
            <a:cxnLst/>
            <a:rect l="0" t="0" r="r" b="b"/>
            <a:pathLst>
              <a:path w="187" h="1858">
                <a:moveTo>
                  <a:pt x="0" y="0"/>
                </a:moveTo>
                <a:lnTo>
                  <a:pt x="187" y="0"/>
                </a:lnTo>
                <a:lnTo>
                  <a:pt x="187" y="1858"/>
                </a:lnTo>
                <a:lnTo>
                  <a:pt x="0" y="1858"/>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86" name="フリーフォーム: 図形 485"/>
          <p:cNvSpPr/>
          <p:nvPr/>
        </p:nvSpPr>
        <p:spPr>
          <a:xfrm>
            <a:off x="2072160" y="1888560"/>
            <a:ext cx="67320" cy="668880"/>
          </a:xfrm>
          <a:custGeom>
            <a:avLst/>
            <a:gdLst/>
            <a:ahLst/>
            <a:cxnLst/>
            <a:rect l="0" t="0" r="r" b="b"/>
            <a:pathLst>
              <a:path w="187" h="1858">
                <a:moveTo>
                  <a:pt x="0" y="0"/>
                </a:moveTo>
                <a:lnTo>
                  <a:pt x="187" y="0"/>
                </a:lnTo>
                <a:lnTo>
                  <a:pt x="187" y="1858"/>
                </a:lnTo>
                <a:lnTo>
                  <a:pt x="0" y="1858"/>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87" name="テキスト ボックス 486"/>
          <p:cNvSpPr txBox="1"/>
          <p:nvPr/>
        </p:nvSpPr>
        <p:spPr>
          <a:xfrm>
            <a:off x="468000" y="1499400"/>
            <a:ext cx="150948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電極幅‧間隔の変更</a:t>
            </a:r>
            <a:endParaRPr lang="en-US" sz="1320" b="0" u="none" strike="noStrike">
              <a:solidFill>
                <a:srgbClr val="000000"/>
              </a:solidFill>
              <a:effectLst/>
              <a:uFillTx/>
              <a:latin typeface="Times New Roman"/>
            </a:endParaRPr>
          </a:p>
        </p:txBody>
      </p:sp>
      <p:sp>
        <p:nvSpPr>
          <p:cNvPr id="488" name="テキスト ボックス 487"/>
          <p:cNvSpPr txBox="1"/>
          <p:nvPr/>
        </p:nvSpPr>
        <p:spPr>
          <a:xfrm>
            <a:off x="987480" y="2751840"/>
            <a:ext cx="6372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従来</a:t>
            </a:r>
            <a:r>
              <a:rPr lang="en-US" sz="1180" b="0" u="none" strike="noStrike">
                <a:solidFill>
                  <a:srgbClr val="000000"/>
                </a:solidFill>
                <a:effectLst/>
                <a:uFillTx/>
                <a:latin typeface="NotoSansJP"/>
                <a:ea typeface="NotoSansJP"/>
              </a:rPr>
              <a:t>: 20</a:t>
            </a:r>
            <a:endParaRPr lang="en-US" sz="1180" b="0" u="none" strike="noStrike">
              <a:solidFill>
                <a:srgbClr val="000000"/>
              </a:solidFill>
              <a:effectLst/>
              <a:uFillTx/>
              <a:latin typeface="Times New Roman"/>
            </a:endParaRPr>
          </a:p>
        </p:txBody>
      </p:sp>
      <p:sp>
        <p:nvSpPr>
          <p:cNvPr id="489" name="テキスト ボックス 488"/>
          <p:cNvSpPr txBox="1"/>
          <p:nvPr/>
        </p:nvSpPr>
        <p:spPr>
          <a:xfrm>
            <a:off x="1547280" y="2755440"/>
            <a:ext cx="150120" cy="169560"/>
          </a:xfrm>
          <a:prstGeom prst="rect">
            <a:avLst/>
          </a:prstGeom>
          <a:noFill/>
          <a:ln w="0">
            <a:noFill/>
          </a:ln>
        </p:spPr>
        <p:txBody>
          <a:bodyPr wrap="none" lIns="0" tIns="0" rIns="0" bIns="0" anchor="t">
            <a:spAutoFit/>
          </a:bodyPr>
          <a:lstStyle/>
          <a:p>
            <a:r>
              <a:rPr lang="en-US" sz="1180" b="1" u="none" strike="noStrike">
                <a:solidFill>
                  <a:srgbClr val="000000"/>
                </a:solidFill>
                <a:effectLst/>
                <a:uFillTx/>
                <a:latin typeface="Arial"/>
                <a:ea typeface="Arial"/>
              </a:rPr>
              <a:t>μ</a:t>
            </a:r>
            <a:endParaRPr lang="en-US" sz="1180" b="0" u="none" strike="noStrike">
              <a:solidFill>
                <a:srgbClr val="000000"/>
              </a:solidFill>
              <a:effectLst/>
              <a:uFillTx/>
              <a:latin typeface="Times New Roman"/>
            </a:endParaRPr>
          </a:p>
        </p:txBody>
      </p:sp>
      <p:pic>
        <p:nvPicPr>
          <p:cNvPr id="490" name="図 489"/>
          <p:cNvPicPr/>
          <p:nvPr/>
        </p:nvPicPr>
        <p:blipFill>
          <a:blip r:embed="rId4"/>
          <a:stretch/>
        </p:blipFill>
        <p:spPr>
          <a:xfrm>
            <a:off x="3242520" y="2147760"/>
            <a:ext cx="217080" cy="250200"/>
          </a:xfrm>
          <a:prstGeom prst="rect">
            <a:avLst/>
          </a:prstGeom>
          <a:noFill/>
          <a:ln w="0">
            <a:noFill/>
          </a:ln>
        </p:spPr>
      </p:pic>
      <p:sp>
        <p:nvSpPr>
          <p:cNvPr id="491" name="テキスト ボックス 490"/>
          <p:cNvSpPr txBox="1"/>
          <p:nvPr/>
        </p:nvSpPr>
        <p:spPr>
          <a:xfrm>
            <a:off x="1639440" y="2751840"/>
            <a:ext cx="83376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m </a:t>
            </a:r>
            <a:r>
              <a:rPr lang="zh-CN" sz="1180" b="0" u="none" strike="noStrike">
                <a:solidFill>
                  <a:srgbClr val="000000"/>
                </a:solidFill>
                <a:effectLst/>
                <a:uFillTx/>
                <a:latin typeface="NotoSansJP"/>
                <a:ea typeface="NotoSansJP"/>
              </a:rPr>
              <a:t>幅‧間隔</a:t>
            </a:r>
            <a:endParaRPr lang="en-US" sz="1180" b="0" u="none" strike="noStrike">
              <a:solidFill>
                <a:srgbClr val="000000"/>
              </a:solidFill>
              <a:effectLst/>
              <a:uFillTx/>
              <a:latin typeface="Times New Roman"/>
            </a:endParaRPr>
          </a:p>
        </p:txBody>
      </p:sp>
      <p:sp>
        <p:nvSpPr>
          <p:cNvPr id="492" name="フリーフォーム: 図形 491"/>
          <p:cNvSpPr/>
          <p:nvPr/>
        </p:nvSpPr>
        <p:spPr>
          <a:xfrm>
            <a:off x="4052880" y="1888560"/>
            <a:ext cx="167400" cy="668880"/>
          </a:xfrm>
          <a:custGeom>
            <a:avLst/>
            <a:gdLst/>
            <a:ahLst/>
            <a:cxnLst/>
            <a:rect l="0" t="0" r="r" b="b"/>
            <a:pathLst>
              <a:path w="465" h="1858">
                <a:moveTo>
                  <a:pt x="0" y="0"/>
                </a:moveTo>
                <a:lnTo>
                  <a:pt x="465" y="0"/>
                </a:lnTo>
                <a:lnTo>
                  <a:pt x="465" y="1858"/>
                </a:lnTo>
                <a:lnTo>
                  <a:pt x="0" y="1858"/>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93" name="フリーフォーム: 図形 492"/>
          <p:cNvSpPr/>
          <p:nvPr/>
        </p:nvSpPr>
        <p:spPr>
          <a:xfrm>
            <a:off x="4554360" y="1888560"/>
            <a:ext cx="167400" cy="668880"/>
          </a:xfrm>
          <a:custGeom>
            <a:avLst/>
            <a:gdLst/>
            <a:ahLst/>
            <a:cxnLst/>
            <a:rect l="0" t="0" r="r" b="b"/>
            <a:pathLst>
              <a:path w="465" h="1858">
                <a:moveTo>
                  <a:pt x="0" y="0"/>
                </a:moveTo>
                <a:lnTo>
                  <a:pt x="465" y="0"/>
                </a:lnTo>
                <a:lnTo>
                  <a:pt x="465" y="1858"/>
                </a:lnTo>
                <a:lnTo>
                  <a:pt x="0" y="1858"/>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94" name="フリーフォーム: 図形 493"/>
          <p:cNvSpPr/>
          <p:nvPr/>
        </p:nvSpPr>
        <p:spPr>
          <a:xfrm>
            <a:off x="5055480" y="1888560"/>
            <a:ext cx="167760" cy="668880"/>
          </a:xfrm>
          <a:custGeom>
            <a:avLst/>
            <a:gdLst/>
            <a:ahLst/>
            <a:cxnLst/>
            <a:rect l="0" t="0" r="r" b="b"/>
            <a:pathLst>
              <a:path w="466" h="1858">
                <a:moveTo>
                  <a:pt x="0" y="0"/>
                </a:moveTo>
                <a:lnTo>
                  <a:pt x="466" y="0"/>
                </a:lnTo>
                <a:lnTo>
                  <a:pt x="466" y="1858"/>
                </a:lnTo>
                <a:lnTo>
                  <a:pt x="0" y="1858"/>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95" name="テキスト ボックス 494"/>
          <p:cNvSpPr txBox="1"/>
          <p:nvPr/>
        </p:nvSpPr>
        <p:spPr>
          <a:xfrm>
            <a:off x="3218760" y="2433240"/>
            <a:ext cx="268920" cy="194040"/>
          </a:xfrm>
          <a:prstGeom prst="rect">
            <a:avLst/>
          </a:prstGeom>
          <a:noFill/>
          <a:ln w="0">
            <a:noFill/>
          </a:ln>
        </p:spPr>
        <p:txBody>
          <a:bodyPr wrap="none" lIns="0" tIns="0" rIns="0" bIns="0" anchor="t">
            <a:spAutoFit/>
          </a:bodyPr>
          <a:lstStyle/>
          <a:p>
            <a:r>
              <a:rPr lang="zh-CN" sz="1050" b="0" u="none" strike="noStrike">
                <a:solidFill>
                  <a:srgbClr val="FF9900"/>
                </a:solidFill>
                <a:effectLst/>
                <a:uFillTx/>
                <a:latin typeface="NotoSansJP"/>
                <a:ea typeface="NotoSansJP"/>
              </a:rPr>
              <a:t>変更</a:t>
            </a:r>
            <a:endParaRPr lang="en-US" sz="1050" b="0" u="none" strike="noStrike">
              <a:solidFill>
                <a:srgbClr val="000000"/>
              </a:solidFill>
              <a:effectLst/>
              <a:uFillTx/>
              <a:latin typeface="Times New Roman"/>
            </a:endParaRPr>
          </a:p>
        </p:txBody>
      </p:sp>
      <p:sp>
        <p:nvSpPr>
          <p:cNvPr id="496" name="テキスト ボックス 495"/>
          <p:cNvSpPr txBox="1"/>
          <p:nvPr/>
        </p:nvSpPr>
        <p:spPr>
          <a:xfrm>
            <a:off x="3924720" y="2751840"/>
            <a:ext cx="6372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改良</a:t>
            </a:r>
            <a:r>
              <a:rPr lang="en-US" sz="1180" b="0" u="none" strike="noStrike">
                <a:solidFill>
                  <a:srgbClr val="000000"/>
                </a:solidFill>
                <a:effectLst/>
                <a:uFillTx/>
                <a:latin typeface="NotoSansJP"/>
                <a:ea typeface="NotoSansJP"/>
              </a:rPr>
              <a:t>: 50</a:t>
            </a:r>
            <a:endParaRPr lang="en-US" sz="1180" b="0" u="none" strike="noStrike">
              <a:solidFill>
                <a:srgbClr val="000000"/>
              </a:solidFill>
              <a:effectLst/>
              <a:uFillTx/>
              <a:latin typeface="Times New Roman"/>
            </a:endParaRPr>
          </a:p>
        </p:txBody>
      </p:sp>
      <p:sp>
        <p:nvSpPr>
          <p:cNvPr id="497" name="テキスト ボックス 496"/>
          <p:cNvSpPr txBox="1"/>
          <p:nvPr/>
        </p:nvSpPr>
        <p:spPr>
          <a:xfrm>
            <a:off x="4484520" y="2755440"/>
            <a:ext cx="150120" cy="169560"/>
          </a:xfrm>
          <a:prstGeom prst="rect">
            <a:avLst/>
          </a:prstGeom>
          <a:noFill/>
          <a:ln w="0">
            <a:noFill/>
          </a:ln>
        </p:spPr>
        <p:txBody>
          <a:bodyPr wrap="none" lIns="0" tIns="0" rIns="0" bIns="0" anchor="t">
            <a:spAutoFit/>
          </a:bodyPr>
          <a:lstStyle/>
          <a:p>
            <a:r>
              <a:rPr lang="en-US" sz="1180" b="1" u="none" strike="noStrike">
                <a:solidFill>
                  <a:srgbClr val="000000"/>
                </a:solidFill>
                <a:effectLst/>
                <a:uFillTx/>
                <a:latin typeface="Arial"/>
                <a:ea typeface="Arial"/>
              </a:rPr>
              <a:t>μ</a:t>
            </a:r>
            <a:endParaRPr lang="en-US" sz="1180" b="0" u="none" strike="noStrike">
              <a:solidFill>
                <a:srgbClr val="000000"/>
              </a:solidFill>
              <a:effectLst/>
              <a:uFillTx/>
              <a:latin typeface="Times New Roman"/>
            </a:endParaRPr>
          </a:p>
        </p:txBody>
      </p:sp>
      <p:pic>
        <p:nvPicPr>
          <p:cNvPr id="498" name="図 497"/>
          <p:cNvPicPr/>
          <p:nvPr/>
        </p:nvPicPr>
        <p:blipFill>
          <a:blip r:embed="rId5"/>
          <a:stretch/>
        </p:blipFill>
        <p:spPr>
          <a:xfrm>
            <a:off x="635040" y="3326040"/>
            <a:ext cx="116640" cy="150120"/>
          </a:xfrm>
          <a:prstGeom prst="rect">
            <a:avLst/>
          </a:prstGeom>
          <a:noFill/>
          <a:ln w="0">
            <a:noFill/>
          </a:ln>
        </p:spPr>
      </p:pic>
      <p:sp>
        <p:nvSpPr>
          <p:cNvPr id="499" name="テキスト ボックス 498"/>
          <p:cNvSpPr txBox="1"/>
          <p:nvPr/>
        </p:nvSpPr>
        <p:spPr>
          <a:xfrm>
            <a:off x="4576680" y="2751840"/>
            <a:ext cx="83376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m </a:t>
            </a:r>
            <a:r>
              <a:rPr lang="zh-CN" sz="1180" b="0" u="none" strike="noStrike">
                <a:solidFill>
                  <a:srgbClr val="000000"/>
                </a:solidFill>
                <a:effectLst/>
                <a:uFillTx/>
                <a:latin typeface="NotoSansJP"/>
                <a:ea typeface="NotoSansJP"/>
              </a:rPr>
              <a:t>幅‧間隔</a:t>
            </a:r>
            <a:endParaRPr lang="en-US" sz="1180" b="0" u="none" strike="noStrike">
              <a:solidFill>
                <a:srgbClr val="000000"/>
              </a:solidFill>
              <a:effectLst/>
              <a:uFillTx/>
              <a:latin typeface="Times New Roman"/>
            </a:endParaRPr>
          </a:p>
        </p:txBody>
      </p:sp>
      <p:sp>
        <p:nvSpPr>
          <p:cNvPr id="500" name="テキスト ボックス 499"/>
          <p:cNvSpPr txBox="1"/>
          <p:nvPr/>
        </p:nvSpPr>
        <p:spPr>
          <a:xfrm>
            <a:off x="819000" y="3319920"/>
            <a:ext cx="136008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 電極幅‧間隔を 20</a:t>
            </a:r>
            <a:endParaRPr lang="en-US" sz="1180" b="0" u="none" strike="noStrike">
              <a:solidFill>
                <a:srgbClr val="000000"/>
              </a:solidFill>
              <a:effectLst/>
              <a:uFillTx/>
              <a:latin typeface="Times New Roman"/>
            </a:endParaRPr>
          </a:p>
        </p:txBody>
      </p:sp>
      <p:sp>
        <p:nvSpPr>
          <p:cNvPr id="501" name="テキスト ボックス 500"/>
          <p:cNvSpPr txBox="1"/>
          <p:nvPr/>
        </p:nvSpPr>
        <p:spPr>
          <a:xfrm>
            <a:off x="2122560" y="3323520"/>
            <a:ext cx="150120" cy="169560"/>
          </a:xfrm>
          <a:prstGeom prst="rect">
            <a:avLst/>
          </a:prstGeom>
          <a:noFill/>
          <a:ln w="0">
            <a:noFill/>
          </a:ln>
        </p:spPr>
        <p:txBody>
          <a:bodyPr wrap="none" lIns="0" tIns="0" rIns="0" bIns="0" anchor="t">
            <a:spAutoFit/>
          </a:bodyPr>
          <a:lstStyle/>
          <a:p>
            <a:r>
              <a:rPr lang="en-US" sz="1180" b="1" u="none" strike="noStrike">
                <a:solidFill>
                  <a:srgbClr val="000000"/>
                </a:solidFill>
                <a:effectLst/>
                <a:uFillTx/>
                <a:latin typeface="Arial"/>
                <a:ea typeface="Arial"/>
              </a:rPr>
              <a:t>μ</a:t>
            </a:r>
            <a:endParaRPr lang="en-US" sz="1180" b="0" u="none" strike="noStrike">
              <a:solidFill>
                <a:srgbClr val="000000"/>
              </a:solidFill>
              <a:effectLst/>
              <a:uFillTx/>
              <a:latin typeface="Times New Roman"/>
            </a:endParaRPr>
          </a:p>
        </p:txBody>
      </p:sp>
      <p:sp>
        <p:nvSpPr>
          <p:cNvPr id="502" name="テキスト ボックス 501"/>
          <p:cNvSpPr txBox="1"/>
          <p:nvPr/>
        </p:nvSpPr>
        <p:spPr>
          <a:xfrm>
            <a:off x="2214720" y="3319920"/>
            <a:ext cx="80172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m </a:t>
            </a:r>
            <a:r>
              <a:rPr lang="zh-CN" sz="1180" b="0" u="none" strike="noStrike">
                <a:solidFill>
                  <a:srgbClr val="000000"/>
                </a:solidFill>
                <a:effectLst/>
                <a:uFillTx/>
                <a:latin typeface="NotoSansJP"/>
                <a:ea typeface="NotoSansJP"/>
              </a:rPr>
              <a:t>から </a:t>
            </a:r>
            <a:r>
              <a:rPr lang="en-US" sz="1180" b="0" u="none" strike="noStrike">
                <a:solidFill>
                  <a:srgbClr val="000000"/>
                </a:solidFill>
                <a:effectLst/>
                <a:uFillTx/>
                <a:latin typeface="NotoSansJP"/>
                <a:ea typeface="NotoSansJP"/>
              </a:rPr>
              <a:t>50</a:t>
            </a:r>
            <a:endParaRPr lang="en-US" sz="1180" b="0" u="none" strike="noStrike">
              <a:solidFill>
                <a:srgbClr val="000000"/>
              </a:solidFill>
              <a:effectLst/>
              <a:uFillTx/>
              <a:latin typeface="Times New Roman"/>
            </a:endParaRPr>
          </a:p>
        </p:txBody>
      </p:sp>
      <p:sp>
        <p:nvSpPr>
          <p:cNvPr id="503" name="テキスト ボックス 502"/>
          <p:cNvSpPr txBox="1"/>
          <p:nvPr/>
        </p:nvSpPr>
        <p:spPr>
          <a:xfrm>
            <a:off x="2908440" y="3323520"/>
            <a:ext cx="150120" cy="169560"/>
          </a:xfrm>
          <a:prstGeom prst="rect">
            <a:avLst/>
          </a:prstGeom>
          <a:noFill/>
          <a:ln w="0">
            <a:noFill/>
          </a:ln>
        </p:spPr>
        <p:txBody>
          <a:bodyPr wrap="none" lIns="0" tIns="0" rIns="0" bIns="0" anchor="t">
            <a:spAutoFit/>
          </a:bodyPr>
          <a:lstStyle/>
          <a:p>
            <a:r>
              <a:rPr lang="en-US" sz="1180" b="1" u="none" strike="noStrike">
                <a:solidFill>
                  <a:srgbClr val="000000"/>
                </a:solidFill>
                <a:effectLst/>
                <a:uFillTx/>
                <a:latin typeface="Arial"/>
                <a:ea typeface="Arial"/>
              </a:rPr>
              <a:t>μ</a:t>
            </a:r>
            <a:endParaRPr lang="en-US" sz="1180" b="0" u="none" strike="noStrike">
              <a:solidFill>
                <a:srgbClr val="000000"/>
              </a:solidFill>
              <a:effectLst/>
              <a:uFillTx/>
              <a:latin typeface="Times New Roman"/>
            </a:endParaRPr>
          </a:p>
        </p:txBody>
      </p:sp>
      <p:sp>
        <p:nvSpPr>
          <p:cNvPr id="504" name="テキスト ボックス 503"/>
          <p:cNvSpPr txBox="1"/>
          <p:nvPr/>
        </p:nvSpPr>
        <p:spPr>
          <a:xfrm>
            <a:off x="3000240" y="3319920"/>
            <a:ext cx="243036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m </a:t>
            </a:r>
            <a:r>
              <a:rPr lang="zh-CN" sz="1180" b="0" u="none" strike="noStrike">
                <a:solidFill>
                  <a:srgbClr val="000000"/>
                </a:solidFill>
                <a:effectLst/>
                <a:uFillTx/>
                <a:latin typeface="NotoSansJP"/>
                <a:ea typeface="NotoSansJP"/>
              </a:rPr>
              <a:t>に変更することで、 </a:t>
            </a:r>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a:t>
            </a:r>
            <a:endParaRPr lang="en-US" sz="1180" b="0" u="none" strike="noStrike">
              <a:solidFill>
                <a:srgbClr val="000000"/>
              </a:solidFill>
              <a:effectLst/>
              <a:uFillTx/>
              <a:latin typeface="Times New Roman"/>
            </a:endParaRPr>
          </a:p>
        </p:txBody>
      </p:sp>
      <p:sp>
        <p:nvSpPr>
          <p:cNvPr id="505" name="テキスト ボックス 504"/>
          <p:cNvSpPr txBox="1"/>
          <p:nvPr/>
        </p:nvSpPr>
        <p:spPr>
          <a:xfrm>
            <a:off x="635040" y="3553920"/>
            <a:ext cx="383040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2.6ppm </a:t>
            </a:r>
            <a:r>
              <a:rPr lang="zh-CN" sz="1180" b="0" u="none" strike="noStrike">
                <a:solidFill>
                  <a:srgbClr val="000000"/>
                </a:solidFill>
                <a:effectLst/>
                <a:uFillTx/>
                <a:latin typeface="NotoSansJP"/>
                <a:ea typeface="NotoSansJP"/>
              </a:rPr>
              <a:t>の範囲での検量線の変化量が検出可能になった</a:t>
            </a:r>
            <a:endParaRPr lang="en-US" sz="1180" b="0" u="none" strike="noStrike">
              <a:solidFill>
                <a:srgbClr val="000000"/>
              </a:solidFill>
              <a:effectLst/>
              <a:uFillTx/>
              <a:latin typeface="Times New Roman"/>
            </a:endParaRPr>
          </a:p>
        </p:txBody>
      </p:sp>
      <p:pic>
        <p:nvPicPr>
          <p:cNvPr id="506" name="図 505"/>
          <p:cNvPicPr/>
          <p:nvPr/>
        </p:nvPicPr>
        <p:blipFill>
          <a:blip r:embed="rId6"/>
          <a:stretch/>
        </p:blipFill>
        <p:spPr>
          <a:xfrm>
            <a:off x="668520" y="4512600"/>
            <a:ext cx="150120" cy="150120"/>
          </a:xfrm>
          <a:prstGeom prst="rect">
            <a:avLst/>
          </a:prstGeom>
          <a:noFill/>
          <a:ln w="0">
            <a:noFill/>
          </a:ln>
        </p:spPr>
      </p:pic>
      <p:sp>
        <p:nvSpPr>
          <p:cNvPr id="507" name="テキスト ボックス 506"/>
          <p:cNvSpPr txBox="1"/>
          <p:nvPr/>
        </p:nvSpPr>
        <p:spPr>
          <a:xfrm>
            <a:off x="468000" y="4173840"/>
            <a:ext cx="134172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測定特性への影響</a:t>
            </a:r>
            <a:endParaRPr lang="en-US" sz="1320" b="0" u="none" strike="noStrike">
              <a:solidFill>
                <a:srgbClr val="000000"/>
              </a:solidFill>
              <a:effectLst/>
              <a:uFillTx/>
              <a:latin typeface="Times New Roman"/>
            </a:endParaRPr>
          </a:p>
        </p:txBody>
      </p:sp>
      <p:pic>
        <p:nvPicPr>
          <p:cNvPr id="508" name="図 507"/>
          <p:cNvPicPr/>
          <p:nvPr/>
        </p:nvPicPr>
        <p:blipFill>
          <a:blip r:embed="rId6"/>
          <a:stretch/>
        </p:blipFill>
        <p:spPr>
          <a:xfrm>
            <a:off x="668520" y="4847040"/>
            <a:ext cx="150120" cy="150120"/>
          </a:xfrm>
          <a:prstGeom prst="rect">
            <a:avLst/>
          </a:prstGeom>
          <a:noFill/>
          <a:ln w="0">
            <a:noFill/>
          </a:ln>
        </p:spPr>
      </p:pic>
      <p:sp>
        <p:nvSpPr>
          <p:cNvPr id="509" name="テキスト ボックス 508"/>
          <p:cNvSpPr txBox="1"/>
          <p:nvPr/>
        </p:nvSpPr>
        <p:spPr>
          <a:xfrm>
            <a:off x="885960" y="4523400"/>
            <a:ext cx="45270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電極幅‧間隔の拡大により、より広い濃度範囲での測定精度が向上</a:t>
            </a:r>
            <a:endParaRPr lang="en-US" sz="1180" b="0" u="none" strike="noStrike">
              <a:solidFill>
                <a:srgbClr val="000000"/>
              </a:solidFill>
              <a:effectLst/>
              <a:uFillTx/>
              <a:latin typeface="Times New Roman"/>
            </a:endParaRPr>
          </a:p>
        </p:txBody>
      </p:sp>
      <p:pic>
        <p:nvPicPr>
          <p:cNvPr id="510" name="図 509"/>
          <p:cNvPicPr/>
          <p:nvPr/>
        </p:nvPicPr>
        <p:blipFill>
          <a:blip r:embed="rId6"/>
          <a:stretch/>
        </p:blipFill>
        <p:spPr>
          <a:xfrm>
            <a:off x="668520" y="5181120"/>
            <a:ext cx="150120" cy="150120"/>
          </a:xfrm>
          <a:prstGeom prst="rect">
            <a:avLst/>
          </a:prstGeom>
          <a:noFill/>
          <a:ln w="0">
            <a:noFill/>
          </a:ln>
        </p:spPr>
      </p:pic>
      <p:sp>
        <p:nvSpPr>
          <p:cNvPr id="511" name="テキスト ボックス 510"/>
          <p:cNvSpPr txBox="1"/>
          <p:nvPr/>
        </p:nvSpPr>
        <p:spPr>
          <a:xfrm>
            <a:off x="885960" y="4857840"/>
            <a:ext cx="39978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特に中濃度領域</a:t>
            </a:r>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a:t>
            </a:r>
            <a:r>
              <a:rPr lang="en-US" sz="1180" b="0" u="none" strike="noStrike">
                <a:solidFill>
                  <a:srgbClr val="000000"/>
                </a:solidFill>
                <a:effectLst/>
                <a:uFillTx/>
                <a:latin typeface="NotoSansJP"/>
                <a:ea typeface="NotoSansJP"/>
              </a:rPr>
              <a:t>2.6ppm)</a:t>
            </a:r>
            <a:r>
              <a:rPr lang="zh-CN" sz="1180" b="0" u="none" strike="noStrike">
                <a:solidFill>
                  <a:srgbClr val="000000"/>
                </a:solidFill>
                <a:effectLst/>
                <a:uFillTx/>
                <a:latin typeface="NotoSansJP"/>
                <a:ea typeface="NotoSansJP"/>
              </a:rPr>
              <a:t>での検出感度が改善</a:t>
            </a:r>
            <a:endParaRPr lang="en-US" sz="1180" b="0" u="none" strike="noStrike">
              <a:solidFill>
                <a:srgbClr val="000000"/>
              </a:solidFill>
              <a:effectLst/>
              <a:uFillTx/>
              <a:latin typeface="Times New Roman"/>
            </a:endParaRPr>
          </a:p>
        </p:txBody>
      </p:sp>
      <p:sp>
        <p:nvSpPr>
          <p:cNvPr id="512" name="フリーフォーム: 図形 511"/>
          <p:cNvSpPr/>
          <p:nvPr/>
        </p:nvSpPr>
        <p:spPr>
          <a:xfrm>
            <a:off x="6309000" y="869040"/>
            <a:ext cx="4120200" cy="4395960"/>
          </a:xfrm>
          <a:custGeom>
            <a:avLst/>
            <a:gdLst/>
            <a:ahLst/>
            <a:cxnLst/>
            <a:rect l="0" t="0" r="r" b="b"/>
            <a:pathLst>
              <a:path w="11445" h="12211">
                <a:moveTo>
                  <a:pt x="0" y="12025"/>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1260" y="0"/>
                </a:lnTo>
                <a:cubicBezTo>
                  <a:pt x="11272" y="0"/>
                  <a:pt x="11284" y="1"/>
                  <a:pt x="11296" y="3"/>
                </a:cubicBezTo>
                <a:cubicBezTo>
                  <a:pt x="11308" y="6"/>
                  <a:pt x="11319" y="9"/>
                  <a:pt x="11331" y="14"/>
                </a:cubicBezTo>
                <a:cubicBezTo>
                  <a:pt x="11342" y="18"/>
                  <a:pt x="11353" y="24"/>
                  <a:pt x="11363" y="31"/>
                </a:cubicBezTo>
                <a:cubicBezTo>
                  <a:pt x="11373" y="38"/>
                  <a:pt x="11382" y="45"/>
                  <a:pt x="11391" y="54"/>
                </a:cubicBezTo>
                <a:cubicBezTo>
                  <a:pt x="11400" y="63"/>
                  <a:pt x="11407" y="72"/>
                  <a:pt x="11414" y="82"/>
                </a:cubicBezTo>
                <a:cubicBezTo>
                  <a:pt x="11421" y="92"/>
                  <a:pt x="11427" y="103"/>
                  <a:pt x="11431" y="114"/>
                </a:cubicBezTo>
                <a:cubicBezTo>
                  <a:pt x="11436" y="126"/>
                  <a:pt x="11439" y="137"/>
                  <a:pt x="11442" y="149"/>
                </a:cubicBezTo>
                <a:cubicBezTo>
                  <a:pt x="11444" y="161"/>
                  <a:pt x="11445" y="173"/>
                  <a:pt x="11445" y="185"/>
                </a:cubicBezTo>
                <a:lnTo>
                  <a:pt x="11445" y="12025"/>
                </a:lnTo>
                <a:cubicBezTo>
                  <a:pt x="11445" y="12037"/>
                  <a:pt x="11444" y="12049"/>
                  <a:pt x="11442" y="12061"/>
                </a:cubicBezTo>
                <a:cubicBezTo>
                  <a:pt x="11439" y="12073"/>
                  <a:pt x="11436" y="12085"/>
                  <a:pt x="11431" y="12096"/>
                </a:cubicBezTo>
                <a:cubicBezTo>
                  <a:pt x="11427" y="12107"/>
                  <a:pt x="11421" y="12118"/>
                  <a:pt x="11414" y="12128"/>
                </a:cubicBezTo>
                <a:cubicBezTo>
                  <a:pt x="11407" y="12138"/>
                  <a:pt x="11400" y="12148"/>
                  <a:pt x="11391" y="12156"/>
                </a:cubicBezTo>
                <a:cubicBezTo>
                  <a:pt x="11382" y="12165"/>
                  <a:pt x="11373" y="12173"/>
                  <a:pt x="11363" y="12179"/>
                </a:cubicBezTo>
                <a:cubicBezTo>
                  <a:pt x="11353" y="12186"/>
                  <a:pt x="11342" y="12192"/>
                  <a:pt x="11331" y="12197"/>
                </a:cubicBezTo>
                <a:cubicBezTo>
                  <a:pt x="11319" y="12201"/>
                  <a:pt x="11308" y="12205"/>
                  <a:pt x="11296" y="12207"/>
                </a:cubicBezTo>
                <a:cubicBezTo>
                  <a:pt x="11284" y="12210"/>
                  <a:pt x="11272" y="12211"/>
                  <a:pt x="11260" y="12211"/>
                </a:cubicBezTo>
                <a:lnTo>
                  <a:pt x="186" y="12211"/>
                </a:lnTo>
                <a:cubicBezTo>
                  <a:pt x="174" y="12211"/>
                  <a:pt x="162" y="12210"/>
                  <a:pt x="150" y="12207"/>
                </a:cubicBezTo>
                <a:cubicBezTo>
                  <a:pt x="138" y="12205"/>
                  <a:pt x="126" y="12201"/>
                  <a:pt x="115" y="12197"/>
                </a:cubicBezTo>
                <a:cubicBezTo>
                  <a:pt x="104" y="12192"/>
                  <a:pt x="93" y="12186"/>
                  <a:pt x="83" y="12179"/>
                </a:cubicBezTo>
                <a:cubicBezTo>
                  <a:pt x="73" y="12173"/>
                  <a:pt x="63" y="12165"/>
                  <a:pt x="55" y="12156"/>
                </a:cubicBezTo>
                <a:cubicBezTo>
                  <a:pt x="46" y="12148"/>
                  <a:pt x="38" y="12138"/>
                  <a:pt x="32" y="12128"/>
                </a:cubicBezTo>
                <a:cubicBezTo>
                  <a:pt x="25" y="12118"/>
                  <a:pt x="19" y="12107"/>
                  <a:pt x="14" y="12096"/>
                </a:cubicBezTo>
                <a:cubicBezTo>
                  <a:pt x="10" y="12085"/>
                  <a:pt x="6" y="12073"/>
                  <a:pt x="4" y="12061"/>
                </a:cubicBezTo>
                <a:cubicBezTo>
                  <a:pt x="2" y="12049"/>
                  <a:pt x="0" y="12037"/>
                  <a:pt x="0" y="1202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13" name="フリーフォーム: 図形 512"/>
          <p:cNvSpPr/>
          <p:nvPr/>
        </p:nvSpPr>
        <p:spPr>
          <a:xfrm>
            <a:off x="6509520" y="1470600"/>
            <a:ext cx="3719160" cy="785880"/>
          </a:xfrm>
          <a:custGeom>
            <a:avLst/>
            <a:gdLst/>
            <a:ahLst/>
            <a:cxnLst/>
            <a:rect l="0" t="0" r="r" b="b"/>
            <a:pathLst>
              <a:path w="10331" h="2183">
                <a:moveTo>
                  <a:pt x="0" y="1997"/>
                </a:moveTo>
                <a:lnTo>
                  <a:pt x="0" y="186"/>
                </a:lnTo>
                <a:cubicBezTo>
                  <a:pt x="0" y="174"/>
                  <a:pt x="2" y="161"/>
                  <a:pt x="4" y="149"/>
                </a:cubicBezTo>
                <a:cubicBezTo>
                  <a:pt x="6" y="138"/>
                  <a:pt x="10" y="126"/>
                  <a:pt x="15" y="115"/>
                </a:cubicBezTo>
                <a:cubicBezTo>
                  <a:pt x="19" y="103"/>
                  <a:pt x="25" y="93"/>
                  <a:pt x="32" y="83"/>
                </a:cubicBezTo>
                <a:cubicBezTo>
                  <a:pt x="39" y="72"/>
                  <a:pt x="46" y="63"/>
                  <a:pt x="55" y="54"/>
                </a:cubicBezTo>
                <a:cubicBezTo>
                  <a:pt x="63" y="46"/>
                  <a:pt x="73" y="38"/>
                  <a:pt x="83" y="31"/>
                </a:cubicBezTo>
                <a:cubicBezTo>
                  <a:pt x="93" y="25"/>
                  <a:pt x="104" y="19"/>
                  <a:pt x="115" y="14"/>
                </a:cubicBezTo>
                <a:cubicBezTo>
                  <a:pt x="126" y="9"/>
                  <a:pt x="138" y="6"/>
                  <a:pt x="150" y="4"/>
                </a:cubicBezTo>
                <a:cubicBezTo>
                  <a:pt x="162" y="1"/>
                  <a:pt x="174" y="0"/>
                  <a:pt x="186" y="0"/>
                </a:cubicBezTo>
                <a:lnTo>
                  <a:pt x="10146" y="0"/>
                </a:lnTo>
                <a:cubicBezTo>
                  <a:pt x="10158" y="0"/>
                  <a:pt x="10170" y="1"/>
                  <a:pt x="10182" y="4"/>
                </a:cubicBezTo>
                <a:cubicBezTo>
                  <a:pt x="10194" y="6"/>
                  <a:pt x="10205" y="9"/>
                  <a:pt x="10217" y="14"/>
                </a:cubicBezTo>
                <a:cubicBezTo>
                  <a:pt x="10228" y="19"/>
                  <a:pt x="10239" y="25"/>
                  <a:pt x="10249" y="31"/>
                </a:cubicBezTo>
                <a:cubicBezTo>
                  <a:pt x="10259" y="38"/>
                  <a:pt x="10268" y="46"/>
                  <a:pt x="10277" y="54"/>
                </a:cubicBezTo>
                <a:cubicBezTo>
                  <a:pt x="10286" y="63"/>
                  <a:pt x="10293" y="72"/>
                  <a:pt x="10300" y="83"/>
                </a:cubicBezTo>
                <a:cubicBezTo>
                  <a:pt x="10307" y="93"/>
                  <a:pt x="10312" y="103"/>
                  <a:pt x="10317" y="115"/>
                </a:cubicBezTo>
                <a:cubicBezTo>
                  <a:pt x="10322" y="126"/>
                  <a:pt x="10325" y="138"/>
                  <a:pt x="10328" y="149"/>
                </a:cubicBezTo>
                <a:cubicBezTo>
                  <a:pt x="10330" y="161"/>
                  <a:pt x="10331" y="174"/>
                  <a:pt x="10331" y="186"/>
                </a:cubicBezTo>
                <a:lnTo>
                  <a:pt x="10331" y="1997"/>
                </a:lnTo>
                <a:cubicBezTo>
                  <a:pt x="10331" y="2010"/>
                  <a:pt x="10330" y="2022"/>
                  <a:pt x="10328" y="2034"/>
                </a:cubicBezTo>
                <a:cubicBezTo>
                  <a:pt x="10325" y="2046"/>
                  <a:pt x="10322" y="2057"/>
                  <a:pt x="10317" y="2068"/>
                </a:cubicBezTo>
                <a:cubicBezTo>
                  <a:pt x="10312" y="2080"/>
                  <a:pt x="10307" y="2090"/>
                  <a:pt x="10300" y="2100"/>
                </a:cubicBezTo>
                <a:cubicBezTo>
                  <a:pt x="10293" y="2111"/>
                  <a:pt x="10286" y="2120"/>
                  <a:pt x="10277" y="2129"/>
                </a:cubicBezTo>
                <a:cubicBezTo>
                  <a:pt x="10268" y="2137"/>
                  <a:pt x="10259" y="2145"/>
                  <a:pt x="10249" y="2152"/>
                </a:cubicBezTo>
                <a:cubicBezTo>
                  <a:pt x="10239" y="2159"/>
                  <a:pt x="10228" y="2164"/>
                  <a:pt x="10217" y="2169"/>
                </a:cubicBezTo>
                <a:cubicBezTo>
                  <a:pt x="10205" y="2174"/>
                  <a:pt x="10194" y="2177"/>
                  <a:pt x="10182" y="2179"/>
                </a:cubicBezTo>
                <a:cubicBezTo>
                  <a:pt x="10170" y="2182"/>
                  <a:pt x="10158" y="2183"/>
                  <a:pt x="10146" y="2183"/>
                </a:cubicBezTo>
                <a:lnTo>
                  <a:pt x="186" y="2183"/>
                </a:lnTo>
                <a:cubicBezTo>
                  <a:pt x="174" y="2183"/>
                  <a:pt x="162" y="2182"/>
                  <a:pt x="150" y="2179"/>
                </a:cubicBezTo>
                <a:cubicBezTo>
                  <a:pt x="138" y="2177"/>
                  <a:pt x="126" y="2174"/>
                  <a:pt x="115" y="2169"/>
                </a:cubicBezTo>
                <a:cubicBezTo>
                  <a:pt x="104" y="2164"/>
                  <a:pt x="93" y="2159"/>
                  <a:pt x="83" y="2152"/>
                </a:cubicBezTo>
                <a:cubicBezTo>
                  <a:pt x="73" y="2145"/>
                  <a:pt x="63" y="2137"/>
                  <a:pt x="55" y="2129"/>
                </a:cubicBezTo>
                <a:cubicBezTo>
                  <a:pt x="46" y="2120"/>
                  <a:pt x="39" y="2111"/>
                  <a:pt x="32" y="2100"/>
                </a:cubicBezTo>
                <a:cubicBezTo>
                  <a:pt x="25" y="2090"/>
                  <a:pt x="19" y="2080"/>
                  <a:pt x="15" y="2068"/>
                </a:cubicBezTo>
                <a:cubicBezTo>
                  <a:pt x="10" y="2057"/>
                  <a:pt x="6" y="2046"/>
                  <a:pt x="4" y="2034"/>
                </a:cubicBezTo>
                <a:cubicBezTo>
                  <a:pt x="2" y="2022"/>
                  <a:pt x="0" y="2010"/>
                  <a:pt x="0" y="1997"/>
                </a:cubicBezTo>
                <a:close/>
              </a:path>
            </a:pathLst>
          </a:custGeom>
          <a:solidFill>
            <a:srgbClr val="F9FAF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14" name="フリーフォーム: 図形 513"/>
          <p:cNvSpPr/>
          <p:nvPr/>
        </p:nvSpPr>
        <p:spPr>
          <a:xfrm>
            <a:off x="6309000" y="5465160"/>
            <a:ext cx="4120200" cy="2139480"/>
          </a:xfrm>
          <a:custGeom>
            <a:avLst/>
            <a:gdLst/>
            <a:ahLst/>
            <a:cxnLst/>
            <a:rect l="0" t="0" r="r" b="b"/>
            <a:pathLst>
              <a:path w="11445" h="5943">
                <a:moveTo>
                  <a:pt x="0" y="5758"/>
                </a:moveTo>
                <a:lnTo>
                  <a:pt x="0" y="186"/>
                </a:lnTo>
                <a:cubicBezTo>
                  <a:pt x="0" y="173"/>
                  <a:pt x="2" y="161"/>
                  <a:pt x="4" y="149"/>
                </a:cubicBezTo>
                <a:cubicBezTo>
                  <a:pt x="6" y="137"/>
                  <a:pt x="10" y="126"/>
                  <a:pt x="14" y="114"/>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1260" y="0"/>
                </a:lnTo>
                <a:cubicBezTo>
                  <a:pt x="11272" y="0"/>
                  <a:pt x="11284" y="1"/>
                  <a:pt x="11296" y="3"/>
                </a:cubicBezTo>
                <a:cubicBezTo>
                  <a:pt x="11308" y="6"/>
                  <a:pt x="11319" y="9"/>
                  <a:pt x="11331" y="14"/>
                </a:cubicBezTo>
                <a:cubicBezTo>
                  <a:pt x="11342" y="19"/>
                  <a:pt x="11353" y="24"/>
                  <a:pt x="11363" y="31"/>
                </a:cubicBezTo>
                <a:cubicBezTo>
                  <a:pt x="11373" y="38"/>
                  <a:pt x="11382" y="46"/>
                  <a:pt x="11391" y="54"/>
                </a:cubicBezTo>
                <a:cubicBezTo>
                  <a:pt x="11400" y="63"/>
                  <a:pt x="11407" y="72"/>
                  <a:pt x="11414" y="82"/>
                </a:cubicBezTo>
                <a:cubicBezTo>
                  <a:pt x="11421" y="93"/>
                  <a:pt x="11427" y="103"/>
                  <a:pt x="11431" y="114"/>
                </a:cubicBezTo>
                <a:cubicBezTo>
                  <a:pt x="11436" y="126"/>
                  <a:pt x="11439" y="137"/>
                  <a:pt x="11442" y="149"/>
                </a:cubicBezTo>
                <a:cubicBezTo>
                  <a:pt x="11444" y="161"/>
                  <a:pt x="11445" y="173"/>
                  <a:pt x="11445" y="186"/>
                </a:cubicBezTo>
                <a:lnTo>
                  <a:pt x="11445" y="5758"/>
                </a:lnTo>
                <a:cubicBezTo>
                  <a:pt x="11445" y="5770"/>
                  <a:pt x="11444" y="5782"/>
                  <a:pt x="11442" y="5794"/>
                </a:cubicBezTo>
                <a:cubicBezTo>
                  <a:pt x="11439" y="5806"/>
                  <a:pt x="11436" y="5817"/>
                  <a:pt x="11431" y="5829"/>
                </a:cubicBezTo>
                <a:cubicBezTo>
                  <a:pt x="11427" y="5840"/>
                  <a:pt x="11421" y="5851"/>
                  <a:pt x="11414" y="5861"/>
                </a:cubicBezTo>
                <a:cubicBezTo>
                  <a:pt x="11407" y="5871"/>
                  <a:pt x="11400" y="5880"/>
                  <a:pt x="11391" y="5889"/>
                </a:cubicBezTo>
                <a:cubicBezTo>
                  <a:pt x="11382" y="5898"/>
                  <a:pt x="11373" y="5905"/>
                  <a:pt x="11363" y="5912"/>
                </a:cubicBezTo>
                <a:cubicBezTo>
                  <a:pt x="11353" y="5919"/>
                  <a:pt x="11342" y="5925"/>
                  <a:pt x="11331" y="5929"/>
                </a:cubicBezTo>
                <a:cubicBezTo>
                  <a:pt x="11319" y="5934"/>
                  <a:pt x="11308" y="5937"/>
                  <a:pt x="11296" y="5940"/>
                </a:cubicBezTo>
                <a:cubicBezTo>
                  <a:pt x="11284" y="5942"/>
                  <a:pt x="11272" y="5943"/>
                  <a:pt x="11260" y="5943"/>
                </a:cubicBezTo>
                <a:lnTo>
                  <a:pt x="186" y="5943"/>
                </a:lnTo>
                <a:cubicBezTo>
                  <a:pt x="174" y="5943"/>
                  <a:pt x="162" y="5942"/>
                  <a:pt x="150" y="5940"/>
                </a:cubicBezTo>
                <a:cubicBezTo>
                  <a:pt x="138" y="5937"/>
                  <a:pt x="126" y="5934"/>
                  <a:pt x="115" y="5929"/>
                </a:cubicBezTo>
                <a:cubicBezTo>
                  <a:pt x="104" y="5925"/>
                  <a:pt x="93" y="5919"/>
                  <a:pt x="83" y="5912"/>
                </a:cubicBezTo>
                <a:cubicBezTo>
                  <a:pt x="73" y="5905"/>
                  <a:pt x="63" y="5898"/>
                  <a:pt x="55" y="5889"/>
                </a:cubicBezTo>
                <a:cubicBezTo>
                  <a:pt x="46" y="5880"/>
                  <a:pt x="38" y="5871"/>
                  <a:pt x="32" y="5861"/>
                </a:cubicBezTo>
                <a:cubicBezTo>
                  <a:pt x="25" y="5851"/>
                  <a:pt x="19" y="5840"/>
                  <a:pt x="14" y="5829"/>
                </a:cubicBezTo>
                <a:cubicBezTo>
                  <a:pt x="10" y="5817"/>
                  <a:pt x="6" y="5806"/>
                  <a:pt x="4" y="5794"/>
                </a:cubicBezTo>
                <a:cubicBezTo>
                  <a:pt x="2" y="5782"/>
                  <a:pt x="0" y="5770"/>
                  <a:pt x="0" y="5758"/>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15" name="図 514"/>
          <p:cNvPicPr/>
          <p:nvPr/>
        </p:nvPicPr>
        <p:blipFill>
          <a:blip r:embed="rId7"/>
          <a:stretch/>
        </p:blipFill>
        <p:spPr>
          <a:xfrm>
            <a:off x="6509880" y="1103040"/>
            <a:ext cx="250200" cy="200160"/>
          </a:xfrm>
          <a:prstGeom prst="rect">
            <a:avLst/>
          </a:prstGeom>
          <a:noFill/>
          <a:ln w="0">
            <a:noFill/>
          </a:ln>
        </p:spPr>
      </p:pic>
      <p:sp>
        <p:nvSpPr>
          <p:cNvPr id="516" name="テキスト ボックス 515"/>
          <p:cNvSpPr txBox="1"/>
          <p:nvPr/>
        </p:nvSpPr>
        <p:spPr>
          <a:xfrm>
            <a:off x="885960" y="5191920"/>
            <a:ext cx="36216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現在は測定回数が少なく、今後の研究材料となる部分</a:t>
            </a:r>
            <a:endParaRPr lang="en-US" sz="1180" b="0" u="none" strike="noStrike">
              <a:solidFill>
                <a:srgbClr val="000000"/>
              </a:solidFill>
              <a:effectLst/>
              <a:uFillTx/>
              <a:latin typeface="Times New Roman"/>
            </a:endParaRPr>
          </a:p>
        </p:txBody>
      </p:sp>
      <p:sp>
        <p:nvSpPr>
          <p:cNvPr id="517" name="テキスト ボックス 516"/>
          <p:cNvSpPr txBox="1"/>
          <p:nvPr/>
        </p:nvSpPr>
        <p:spPr>
          <a:xfrm>
            <a:off x="6863760" y="1100880"/>
            <a:ext cx="241488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合成インピーダンスの関係</a:t>
            </a:r>
            <a:endParaRPr lang="en-US" sz="1580" b="0" u="none" strike="noStrike">
              <a:solidFill>
                <a:srgbClr val="000000"/>
              </a:solidFill>
              <a:effectLst/>
              <a:uFillTx/>
              <a:latin typeface="Times New Roman"/>
            </a:endParaRPr>
          </a:p>
        </p:txBody>
      </p:sp>
      <p:sp>
        <p:nvSpPr>
          <p:cNvPr id="518" name="テキスト ボックス 517"/>
          <p:cNvSpPr txBox="1"/>
          <p:nvPr/>
        </p:nvSpPr>
        <p:spPr>
          <a:xfrm>
            <a:off x="7969320" y="1654200"/>
            <a:ext cx="150120" cy="166680"/>
          </a:xfrm>
          <a:prstGeom prst="rect">
            <a:avLst/>
          </a:prstGeom>
          <a:noFill/>
          <a:ln w="0">
            <a:noFill/>
          </a:ln>
        </p:spPr>
        <p:txBody>
          <a:bodyPr wrap="none" lIns="0" tIns="0" rIns="0" bIns="0" anchor="t">
            <a:spAutoFit/>
          </a:bodyPr>
          <a:lstStyle/>
          <a:p>
            <a:r>
              <a:rPr lang="en-US" sz="1180" b="0" i="1" u="none" strike="noStrike">
                <a:solidFill>
                  <a:srgbClr val="000000"/>
                </a:solidFill>
                <a:effectLst/>
                <a:uFillTx/>
                <a:latin typeface="Times New Roman"/>
                <a:ea typeface="Times New Roman"/>
              </a:rPr>
              <a:t>Z </a:t>
            </a:r>
            <a:endParaRPr lang="en-US" sz="1180" b="0" u="none" strike="noStrike">
              <a:solidFill>
                <a:srgbClr val="000000"/>
              </a:solidFill>
              <a:effectLst/>
              <a:uFillTx/>
              <a:latin typeface="Times New Roman"/>
            </a:endParaRPr>
          </a:p>
        </p:txBody>
      </p:sp>
      <p:sp>
        <p:nvSpPr>
          <p:cNvPr id="519" name="テキスト ボックス 518"/>
          <p:cNvSpPr txBox="1"/>
          <p:nvPr/>
        </p:nvSpPr>
        <p:spPr>
          <a:xfrm>
            <a:off x="8127000" y="1643400"/>
            <a:ext cx="156240" cy="195480"/>
          </a:xfrm>
          <a:prstGeom prst="rect">
            <a:avLst/>
          </a:prstGeom>
          <a:noFill/>
          <a:ln w="0">
            <a:noFill/>
          </a:ln>
        </p:spPr>
        <p:txBody>
          <a:bodyPr wrap="none" lIns="0" tIns="0" rIns="0" bIns="0" anchor="t">
            <a:spAutoFit/>
          </a:bodyPr>
          <a:lstStyle/>
          <a:p>
            <a:r>
              <a:rPr lang="en-US" sz="1220" b="0" u="none" strike="noStrike">
                <a:solidFill>
                  <a:srgbClr val="000000"/>
                </a:solidFill>
                <a:effectLst/>
                <a:uFillTx/>
                <a:latin typeface="WenQuanYiZenHei"/>
                <a:ea typeface="WenQuanYiZenHei"/>
              </a:rPr>
              <a:t>∝</a:t>
            </a:r>
            <a:endParaRPr lang="en-US" sz="1220" b="0" u="none" strike="noStrike">
              <a:solidFill>
                <a:srgbClr val="000000"/>
              </a:solidFill>
              <a:effectLst/>
              <a:uFillTx/>
              <a:latin typeface="Times New Roman"/>
            </a:endParaRPr>
          </a:p>
        </p:txBody>
      </p:sp>
      <p:sp>
        <p:nvSpPr>
          <p:cNvPr id="520" name="テキスト ボックス 519"/>
          <p:cNvSpPr txBox="1"/>
          <p:nvPr/>
        </p:nvSpPr>
        <p:spPr>
          <a:xfrm>
            <a:off x="8241120" y="1654200"/>
            <a:ext cx="532800" cy="166680"/>
          </a:xfrm>
          <a:prstGeom prst="rect">
            <a:avLst/>
          </a:prstGeom>
          <a:noFill/>
          <a:ln w="0">
            <a:noFill/>
          </a:ln>
        </p:spPr>
        <p:txBody>
          <a:bodyPr wrap="none" lIns="0" tIns="0" rIns="0" bIns="0" anchor="t">
            <a:spAutoFit/>
          </a:bodyPr>
          <a:lstStyle/>
          <a:p>
            <a:r>
              <a:rPr lang="en-US" sz="1180" b="0" i="1" u="none" strike="noStrike">
                <a:solidFill>
                  <a:srgbClr val="000000"/>
                </a:solidFill>
                <a:effectLst/>
                <a:uFillTx/>
                <a:latin typeface="Times New Roman"/>
                <a:ea typeface="Times New Roman"/>
              </a:rPr>
              <a:t> 1/(2n-1)</a:t>
            </a:r>
            <a:endParaRPr lang="en-US" sz="1180" b="0" u="none" strike="noStrike">
              <a:solidFill>
                <a:srgbClr val="000000"/>
              </a:solidFill>
              <a:effectLst/>
              <a:uFillTx/>
              <a:latin typeface="Times New Roman"/>
            </a:endParaRPr>
          </a:p>
        </p:txBody>
      </p:sp>
      <p:pic>
        <p:nvPicPr>
          <p:cNvPr id="521" name="図 520"/>
          <p:cNvPicPr/>
          <p:nvPr/>
        </p:nvPicPr>
        <p:blipFill>
          <a:blip r:embed="rId8"/>
          <a:stretch/>
        </p:blipFill>
        <p:spPr>
          <a:xfrm>
            <a:off x="6509880" y="2457000"/>
            <a:ext cx="3718440" cy="1595880"/>
          </a:xfrm>
          <a:prstGeom prst="rect">
            <a:avLst/>
          </a:prstGeom>
          <a:noFill/>
          <a:ln w="0">
            <a:noFill/>
          </a:ln>
        </p:spPr>
      </p:pic>
      <p:pic>
        <p:nvPicPr>
          <p:cNvPr id="522" name="図 521"/>
          <p:cNvPicPr/>
          <p:nvPr/>
        </p:nvPicPr>
        <p:blipFill>
          <a:blip r:embed="rId9"/>
          <a:stretch/>
        </p:blipFill>
        <p:spPr>
          <a:xfrm>
            <a:off x="6710400" y="4295520"/>
            <a:ext cx="150120" cy="150120"/>
          </a:xfrm>
          <a:prstGeom prst="rect">
            <a:avLst/>
          </a:prstGeom>
          <a:noFill/>
          <a:ln w="0">
            <a:noFill/>
          </a:ln>
        </p:spPr>
      </p:pic>
      <p:sp>
        <p:nvSpPr>
          <p:cNvPr id="523" name="テキスト ボックス 522"/>
          <p:cNvSpPr txBox="1"/>
          <p:nvPr/>
        </p:nvSpPr>
        <p:spPr>
          <a:xfrm>
            <a:off x="8028000" y="1956600"/>
            <a:ext cx="74124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n: </a:t>
            </a:r>
            <a:r>
              <a:rPr lang="zh-CN" sz="1050" b="0" u="none" strike="noStrike">
                <a:solidFill>
                  <a:srgbClr val="000000"/>
                </a:solidFill>
                <a:effectLst/>
                <a:uFillTx/>
                <a:latin typeface="NotoSansJP"/>
                <a:ea typeface="NotoSansJP"/>
              </a:rPr>
              <a:t>電極対数</a:t>
            </a:r>
            <a:endParaRPr lang="en-US" sz="1050" b="0" u="none" strike="noStrike">
              <a:solidFill>
                <a:srgbClr val="000000"/>
              </a:solidFill>
              <a:effectLst/>
              <a:uFillTx/>
              <a:latin typeface="Times New Roman"/>
            </a:endParaRPr>
          </a:p>
        </p:txBody>
      </p:sp>
      <p:sp>
        <p:nvSpPr>
          <p:cNvPr id="524" name="テキスト ボックス 523"/>
          <p:cNvSpPr txBox="1"/>
          <p:nvPr/>
        </p:nvSpPr>
        <p:spPr>
          <a:xfrm>
            <a:off x="6930360" y="4306320"/>
            <a:ext cx="33872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合成インピーダンスは電極の対</a:t>
            </a:r>
            <a:r>
              <a:rPr lang="en-US" sz="1180" b="0" u="none" strike="noStrike">
                <a:solidFill>
                  <a:srgbClr val="000000"/>
                </a:solidFill>
                <a:effectLst/>
                <a:uFillTx/>
                <a:latin typeface="NotoSansJP"/>
                <a:ea typeface="NotoSansJP"/>
              </a:rPr>
              <a:t>(n)</a:t>
            </a:r>
            <a:r>
              <a:rPr lang="zh-CN" sz="1180" b="0" u="none" strike="noStrike">
                <a:solidFill>
                  <a:srgbClr val="000000"/>
                </a:solidFill>
                <a:effectLst/>
                <a:uFillTx/>
                <a:latin typeface="NotoSansJP"/>
                <a:ea typeface="NotoSansJP"/>
              </a:rPr>
              <a:t>に対し </a:t>
            </a:r>
            <a:r>
              <a:rPr lang="en-US" sz="1180" b="0" u="none" strike="noStrike">
                <a:solidFill>
                  <a:srgbClr val="000000"/>
                </a:solidFill>
                <a:effectLst/>
                <a:uFillTx/>
                <a:latin typeface="NotoSansJP"/>
                <a:ea typeface="NotoSansJP"/>
              </a:rPr>
              <a:t>1/(2n-</a:t>
            </a:r>
            <a:endParaRPr lang="en-US" sz="1180" b="0" u="none" strike="noStrike">
              <a:solidFill>
                <a:srgbClr val="000000"/>
              </a:solidFill>
              <a:effectLst/>
              <a:uFillTx/>
              <a:latin typeface="Times New Roman"/>
            </a:endParaRPr>
          </a:p>
        </p:txBody>
      </p:sp>
      <p:pic>
        <p:nvPicPr>
          <p:cNvPr id="525" name="図 524"/>
          <p:cNvPicPr/>
          <p:nvPr/>
        </p:nvPicPr>
        <p:blipFill>
          <a:blip r:embed="rId9"/>
          <a:stretch/>
        </p:blipFill>
        <p:spPr>
          <a:xfrm>
            <a:off x="6710400" y="4863600"/>
            <a:ext cx="150120" cy="150120"/>
          </a:xfrm>
          <a:prstGeom prst="rect">
            <a:avLst/>
          </a:prstGeom>
          <a:noFill/>
          <a:ln w="0">
            <a:noFill/>
          </a:ln>
        </p:spPr>
      </p:pic>
      <p:sp>
        <p:nvSpPr>
          <p:cNvPr id="526" name="テキスト ボックス 525"/>
          <p:cNvSpPr txBox="1"/>
          <p:nvPr/>
        </p:nvSpPr>
        <p:spPr>
          <a:xfrm>
            <a:off x="6930360" y="4540320"/>
            <a:ext cx="64296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1)</a:t>
            </a:r>
            <a:r>
              <a:rPr lang="zh-CN" sz="1180" b="0" u="none" strike="noStrike">
                <a:solidFill>
                  <a:srgbClr val="000000"/>
                </a:solidFill>
                <a:effectLst/>
                <a:uFillTx/>
                <a:latin typeface="NotoSansJP"/>
                <a:ea typeface="NotoSansJP"/>
              </a:rPr>
              <a:t>に比例</a:t>
            </a:r>
            <a:endParaRPr lang="en-US" sz="1180" b="0" u="none" strike="noStrike">
              <a:solidFill>
                <a:srgbClr val="000000"/>
              </a:solidFill>
              <a:effectLst/>
              <a:uFillTx/>
              <a:latin typeface="Times New Roman"/>
            </a:endParaRPr>
          </a:p>
        </p:txBody>
      </p:sp>
      <p:pic>
        <p:nvPicPr>
          <p:cNvPr id="527" name="図 526"/>
          <p:cNvPicPr/>
          <p:nvPr/>
        </p:nvPicPr>
        <p:blipFill>
          <a:blip r:embed="rId10"/>
          <a:stretch/>
        </p:blipFill>
        <p:spPr>
          <a:xfrm>
            <a:off x="6509880" y="5707800"/>
            <a:ext cx="208440" cy="166680"/>
          </a:xfrm>
          <a:prstGeom prst="rect">
            <a:avLst/>
          </a:prstGeom>
          <a:noFill/>
          <a:ln w="0">
            <a:noFill/>
          </a:ln>
        </p:spPr>
      </p:pic>
      <p:sp>
        <p:nvSpPr>
          <p:cNvPr id="528" name="テキスト ボックス 527"/>
          <p:cNvSpPr txBox="1"/>
          <p:nvPr/>
        </p:nvSpPr>
        <p:spPr>
          <a:xfrm>
            <a:off x="6930360" y="4874400"/>
            <a:ext cx="14918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抵抗</a:t>
            </a:r>
            <a:r>
              <a:rPr lang="en-US" sz="1180" b="0" u="none" strike="noStrike">
                <a:solidFill>
                  <a:srgbClr val="000000"/>
                </a:solidFill>
                <a:effectLst/>
                <a:uFillTx/>
                <a:latin typeface="NotoSansJP"/>
                <a:ea typeface="NotoSansJP"/>
              </a:rPr>
              <a:t>-</a:t>
            </a:r>
            <a:r>
              <a:rPr lang="zh-CN" sz="1180" b="0" u="none" strike="noStrike">
                <a:solidFill>
                  <a:srgbClr val="000000"/>
                </a:solidFill>
                <a:effectLst/>
                <a:uFillTx/>
                <a:latin typeface="NotoSansJP"/>
                <a:ea typeface="NotoSansJP"/>
              </a:rPr>
              <a:t>容量の直列構成</a:t>
            </a:r>
            <a:endParaRPr lang="en-US" sz="1180" b="0" u="none" strike="noStrike">
              <a:solidFill>
                <a:srgbClr val="000000"/>
              </a:solidFill>
              <a:effectLst/>
              <a:uFillTx/>
              <a:latin typeface="Times New Roman"/>
            </a:endParaRPr>
          </a:p>
        </p:txBody>
      </p:sp>
      <p:sp>
        <p:nvSpPr>
          <p:cNvPr id="529" name="フリーフォーム: 図形 528"/>
          <p:cNvSpPr/>
          <p:nvPr/>
        </p:nvSpPr>
        <p:spPr>
          <a:xfrm>
            <a:off x="7437240" y="6033240"/>
            <a:ext cx="535320" cy="535320"/>
          </a:xfrm>
          <a:custGeom>
            <a:avLst/>
            <a:gdLst/>
            <a:ahLst/>
            <a:cxnLst/>
            <a:rect l="0" t="0" r="r" b="b"/>
            <a:pathLst>
              <a:path w="1487" h="1487">
                <a:moveTo>
                  <a:pt x="1487" y="744"/>
                </a:moveTo>
                <a:cubicBezTo>
                  <a:pt x="1487" y="768"/>
                  <a:pt x="1486" y="793"/>
                  <a:pt x="1483" y="817"/>
                </a:cubicBezTo>
                <a:cubicBezTo>
                  <a:pt x="1481" y="841"/>
                  <a:pt x="1477" y="865"/>
                  <a:pt x="1472" y="889"/>
                </a:cubicBezTo>
                <a:cubicBezTo>
                  <a:pt x="1468" y="913"/>
                  <a:pt x="1462" y="936"/>
                  <a:pt x="1455" y="960"/>
                </a:cubicBezTo>
                <a:cubicBezTo>
                  <a:pt x="1448" y="983"/>
                  <a:pt x="1440" y="1006"/>
                  <a:pt x="1430" y="1028"/>
                </a:cubicBezTo>
                <a:cubicBezTo>
                  <a:pt x="1421" y="1051"/>
                  <a:pt x="1411" y="1073"/>
                  <a:pt x="1399" y="1094"/>
                </a:cubicBezTo>
                <a:cubicBezTo>
                  <a:pt x="1388" y="1116"/>
                  <a:pt x="1375" y="1137"/>
                  <a:pt x="1362" y="1157"/>
                </a:cubicBezTo>
                <a:cubicBezTo>
                  <a:pt x="1348" y="1177"/>
                  <a:pt x="1334" y="1197"/>
                  <a:pt x="1318" y="1215"/>
                </a:cubicBezTo>
                <a:cubicBezTo>
                  <a:pt x="1303" y="1234"/>
                  <a:pt x="1286" y="1252"/>
                  <a:pt x="1269" y="1269"/>
                </a:cubicBezTo>
                <a:cubicBezTo>
                  <a:pt x="1252" y="1287"/>
                  <a:pt x="1234" y="1303"/>
                  <a:pt x="1215" y="1318"/>
                </a:cubicBezTo>
                <a:cubicBezTo>
                  <a:pt x="1196" y="1334"/>
                  <a:pt x="1177" y="1348"/>
                  <a:pt x="1157" y="1362"/>
                </a:cubicBezTo>
                <a:cubicBezTo>
                  <a:pt x="1136" y="1375"/>
                  <a:pt x="1116" y="1388"/>
                  <a:pt x="1094" y="1399"/>
                </a:cubicBezTo>
                <a:cubicBezTo>
                  <a:pt x="1073" y="1411"/>
                  <a:pt x="1051" y="1421"/>
                  <a:pt x="1028" y="1430"/>
                </a:cubicBezTo>
                <a:cubicBezTo>
                  <a:pt x="1006" y="1440"/>
                  <a:pt x="983" y="1448"/>
                  <a:pt x="960" y="1455"/>
                </a:cubicBezTo>
                <a:cubicBezTo>
                  <a:pt x="936" y="1462"/>
                  <a:pt x="913" y="1468"/>
                  <a:pt x="889" y="1473"/>
                </a:cubicBezTo>
                <a:cubicBezTo>
                  <a:pt x="864" y="1477"/>
                  <a:pt x="840" y="1481"/>
                  <a:pt x="816" y="1483"/>
                </a:cubicBezTo>
                <a:cubicBezTo>
                  <a:pt x="792" y="1486"/>
                  <a:pt x="767" y="1487"/>
                  <a:pt x="743" y="1487"/>
                </a:cubicBezTo>
                <a:cubicBezTo>
                  <a:pt x="719" y="1487"/>
                  <a:pt x="694" y="1486"/>
                  <a:pt x="670" y="1483"/>
                </a:cubicBezTo>
                <a:cubicBezTo>
                  <a:pt x="646" y="1481"/>
                  <a:pt x="622" y="1477"/>
                  <a:pt x="598" y="1473"/>
                </a:cubicBezTo>
                <a:cubicBezTo>
                  <a:pt x="574" y="1468"/>
                  <a:pt x="551" y="1462"/>
                  <a:pt x="527" y="1455"/>
                </a:cubicBezTo>
                <a:cubicBezTo>
                  <a:pt x="504" y="1448"/>
                  <a:pt x="481" y="1440"/>
                  <a:pt x="459" y="1430"/>
                </a:cubicBezTo>
                <a:cubicBezTo>
                  <a:pt x="436" y="1421"/>
                  <a:pt x="414" y="1411"/>
                  <a:pt x="393" y="1399"/>
                </a:cubicBezTo>
                <a:cubicBezTo>
                  <a:pt x="371" y="1388"/>
                  <a:pt x="350" y="1375"/>
                  <a:pt x="330" y="1362"/>
                </a:cubicBezTo>
                <a:cubicBezTo>
                  <a:pt x="310" y="1348"/>
                  <a:pt x="291" y="1334"/>
                  <a:pt x="272" y="1318"/>
                </a:cubicBezTo>
                <a:cubicBezTo>
                  <a:pt x="253" y="1303"/>
                  <a:pt x="235" y="1287"/>
                  <a:pt x="218" y="1269"/>
                </a:cubicBezTo>
                <a:cubicBezTo>
                  <a:pt x="200" y="1252"/>
                  <a:pt x="184" y="1234"/>
                  <a:pt x="169" y="1215"/>
                </a:cubicBezTo>
                <a:cubicBezTo>
                  <a:pt x="153" y="1197"/>
                  <a:pt x="139" y="1177"/>
                  <a:pt x="125" y="1157"/>
                </a:cubicBezTo>
                <a:cubicBezTo>
                  <a:pt x="112" y="1137"/>
                  <a:pt x="99" y="1116"/>
                  <a:pt x="88" y="1094"/>
                </a:cubicBezTo>
                <a:cubicBezTo>
                  <a:pt x="76" y="1073"/>
                  <a:pt x="66" y="1051"/>
                  <a:pt x="57" y="1028"/>
                </a:cubicBezTo>
                <a:cubicBezTo>
                  <a:pt x="47" y="1006"/>
                  <a:pt x="39" y="983"/>
                  <a:pt x="32" y="960"/>
                </a:cubicBezTo>
                <a:cubicBezTo>
                  <a:pt x="25" y="936"/>
                  <a:pt x="19" y="913"/>
                  <a:pt x="14" y="889"/>
                </a:cubicBezTo>
                <a:cubicBezTo>
                  <a:pt x="10" y="865"/>
                  <a:pt x="6" y="841"/>
                  <a:pt x="4" y="817"/>
                </a:cubicBezTo>
                <a:cubicBezTo>
                  <a:pt x="1" y="793"/>
                  <a:pt x="0" y="768"/>
                  <a:pt x="0" y="744"/>
                </a:cubicBezTo>
                <a:cubicBezTo>
                  <a:pt x="0" y="720"/>
                  <a:pt x="1" y="696"/>
                  <a:pt x="4" y="671"/>
                </a:cubicBezTo>
                <a:cubicBezTo>
                  <a:pt x="6" y="647"/>
                  <a:pt x="10" y="623"/>
                  <a:pt x="14" y="599"/>
                </a:cubicBezTo>
                <a:cubicBezTo>
                  <a:pt x="19" y="575"/>
                  <a:pt x="25" y="552"/>
                  <a:pt x="32" y="529"/>
                </a:cubicBezTo>
                <a:cubicBezTo>
                  <a:pt x="39" y="505"/>
                  <a:pt x="47" y="482"/>
                  <a:pt x="57" y="460"/>
                </a:cubicBezTo>
                <a:cubicBezTo>
                  <a:pt x="66" y="437"/>
                  <a:pt x="76" y="415"/>
                  <a:pt x="88" y="394"/>
                </a:cubicBezTo>
                <a:cubicBezTo>
                  <a:pt x="99" y="373"/>
                  <a:pt x="112" y="352"/>
                  <a:pt x="125" y="331"/>
                </a:cubicBezTo>
                <a:cubicBezTo>
                  <a:pt x="139" y="310"/>
                  <a:pt x="153" y="291"/>
                  <a:pt x="169" y="272"/>
                </a:cubicBezTo>
                <a:cubicBezTo>
                  <a:pt x="184" y="253"/>
                  <a:pt x="200" y="235"/>
                  <a:pt x="218" y="218"/>
                </a:cubicBezTo>
                <a:cubicBezTo>
                  <a:pt x="235" y="201"/>
                  <a:pt x="253" y="184"/>
                  <a:pt x="272" y="169"/>
                </a:cubicBezTo>
                <a:cubicBezTo>
                  <a:pt x="291" y="154"/>
                  <a:pt x="310" y="139"/>
                  <a:pt x="330" y="126"/>
                </a:cubicBezTo>
                <a:cubicBezTo>
                  <a:pt x="350" y="112"/>
                  <a:pt x="371" y="100"/>
                  <a:pt x="393" y="88"/>
                </a:cubicBezTo>
                <a:cubicBezTo>
                  <a:pt x="414" y="77"/>
                  <a:pt x="436" y="66"/>
                  <a:pt x="459" y="57"/>
                </a:cubicBezTo>
                <a:cubicBezTo>
                  <a:pt x="481" y="48"/>
                  <a:pt x="504" y="39"/>
                  <a:pt x="527" y="32"/>
                </a:cubicBezTo>
                <a:cubicBezTo>
                  <a:pt x="551" y="25"/>
                  <a:pt x="574" y="19"/>
                  <a:pt x="598" y="15"/>
                </a:cubicBezTo>
                <a:cubicBezTo>
                  <a:pt x="622" y="10"/>
                  <a:pt x="646" y="6"/>
                  <a:pt x="670" y="4"/>
                </a:cubicBezTo>
                <a:cubicBezTo>
                  <a:pt x="694" y="2"/>
                  <a:pt x="719" y="0"/>
                  <a:pt x="743" y="0"/>
                </a:cubicBezTo>
                <a:cubicBezTo>
                  <a:pt x="767" y="0"/>
                  <a:pt x="792" y="2"/>
                  <a:pt x="816" y="4"/>
                </a:cubicBezTo>
                <a:cubicBezTo>
                  <a:pt x="840" y="6"/>
                  <a:pt x="864" y="10"/>
                  <a:pt x="889" y="15"/>
                </a:cubicBezTo>
                <a:cubicBezTo>
                  <a:pt x="913" y="19"/>
                  <a:pt x="936" y="25"/>
                  <a:pt x="960" y="32"/>
                </a:cubicBezTo>
                <a:cubicBezTo>
                  <a:pt x="983" y="39"/>
                  <a:pt x="1006" y="48"/>
                  <a:pt x="1028" y="57"/>
                </a:cubicBezTo>
                <a:cubicBezTo>
                  <a:pt x="1051" y="66"/>
                  <a:pt x="1073" y="77"/>
                  <a:pt x="1094" y="88"/>
                </a:cubicBezTo>
                <a:cubicBezTo>
                  <a:pt x="1116" y="100"/>
                  <a:pt x="1136" y="112"/>
                  <a:pt x="1157" y="126"/>
                </a:cubicBezTo>
                <a:cubicBezTo>
                  <a:pt x="1177" y="139"/>
                  <a:pt x="1196" y="154"/>
                  <a:pt x="1215" y="169"/>
                </a:cubicBezTo>
                <a:cubicBezTo>
                  <a:pt x="1234" y="184"/>
                  <a:pt x="1252" y="201"/>
                  <a:pt x="1269" y="218"/>
                </a:cubicBezTo>
                <a:cubicBezTo>
                  <a:pt x="1286" y="235"/>
                  <a:pt x="1303" y="253"/>
                  <a:pt x="1318" y="272"/>
                </a:cubicBezTo>
                <a:cubicBezTo>
                  <a:pt x="1334" y="291"/>
                  <a:pt x="1348" y="310"/>
                  <a:pt x="1362" y="331"/>
                </a:cubicBezTo>
                <a:cubicBezTo>
                  <a:pt x="1375" y="352"/>
                  <a:pt x="1388" y="373"/>
                  <a:pt x="1399" y="394"/>
                </a:cubicBezTo>
                <a:cubicBezTo>
                  <a:pt x="1411" y="415"/>
                  <a:pt x="1421" y="437"/>
                  <a:pt x="1430" y="460"/>
                </a:cubicBezTo>
                <a:cubicBezTo>
                  <a:pt x="1440" y="482"/>
                  <a:pt x="1448" y="505"/>
                  <a:pt x="1455" y="529"/>
                </a:cubicBezTo>
                <a:cubicBezTo>
                  <a:pt x="1462" y="552"/>
                  <a:pt x="1468" y="575"/>
                  <a:pt x="1472" y="599"/>
                </a:cubicBezTo>
                <a:cubicBezTo>
                  <a:pt x="1477" y="623"/>
                  <a:pt x="1481" y="647"/>
                  <a:pt x="1483" y="671"/>
                </a:cubicBezTo>
                <a:cubicBezTo>
                  <a:pt x="1486" y="696"/>
                  <a:pt x="1487" y="720"/>
                  <a:pt x="1487" y="744"/>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530" name="図 529"/>
          <p:cNvPicPr/>
          <p:nvPr/>
        </p:nvPicPr>
        <p:blipFill>
          <a:blip r:embed="rId11"/>
          <a:stretch/>
        </p:blipFill>
        <p:spPr>
          <a:xfrm>
            <a:off x="7604640" y="6200640"/>
            <a:ext cx="200160" cy="200160"/>
          </a:xfrm>
          <a:prstGeom prst="rect">
            <a:avLst/>
          </a:prstGeom>
          <a:noFill/>
          <a:ln w="0">
            <a:noFill/>
          </a:ln>
        </p:spPr>
      </p:pic>
      <p:sp>
        <p:nvSpPr>
          <p:cNvPr id="531" name="フリーフォーム: 図形 530"/>
          <p:cNvSpPr/>
          <p:nvPr/>
        </p:nvSpPr>
        <p:spPr>
          <a:xfrm>
            <a:off x="8105760" y="6033240"/>
            <a:ext cx="535320" cy="535320"/>
          </a:xfrm>
          <a:custGeom>
            <a:avLst/>
            <a:gdLst/>
            <a:ahLst/>
            <a:cxnLst/>
            <a:rect l="0" t="0" r="r" b="b"/>
            <a:pathLst>
              <a:path w="1487" h="1487">
                <a:moveTo>
                  <a:pt x="1487" y="744"/>
                </a:moveTo>
                <a:cubicBezTo>
                  <a:pt x="1487" y="768"/>
                  <a:pt x="1486" y="793"/>
                  <a:pt x="1483" y="817"/>
                </a:cubicBezTo>
                <a:cubicBezTo>
                  <a:pt x="1481" y="841"/>
                  <a:pt x="1477" y="865"/>
                  <a:pt x="1473" y="889"/>
                </a:cubicBezTo>
                <a:cubicBezTo>
                  <a:pt x="1468" y="913"/>
                  <a:pt x="1462" y="936"/>
                  <a:pt x="1455" y="960"/>
                </a:cubicBezTo>
                <a:cubicBezTo>
                  <a:pt x="1448" y="983"/>
                  <a:pt x="1440" y="1006"/>
                  <a:pt x="1430" y="1028"/>
                </a:cubicBezTo>
                <a:cubicBezTo>
                  <a:pt x="1421" y="1051"/>
                  <a:pt x="1411" y="1073"/>
                  <a:pt x="1399" y="1094"/>
                </a:cubicBezTo>
                <a:cubicBezTo>
                  <a:pt x="1388" y="1116"/>
                  <a:pt x="1375" y="1137"/>
                  <a:pt x="1362" y="1157"/>
                </a:cubicBezTo>
                <a:cubicBezTo>
                  <a:pt x="1348" y="1177"/>
                  <a:pt x="1334" y="1197"/>
                  <a:pt x="1318" y="1215"/>
                </a:cubicBezTo>
                <a:cubicBezTo>
                  <a:pt x="1303" y="1234"/>
                  <a:pt x="1286" y="1252"/>
                  <a:pt x="1269" y="1269"/>
                </a:cubicBezTo>
                <a:cubicBezTo>
                  <a:pt x="1252" y="1287"/>
                  <a:pt x="1234" y="1303"/>
                  <a:pt x="1215" y="1318"/>
                </a:cubicBezTo>
                <a:cubicBezTo>
                  <a:pt x="1196" y="1334"/>
                  <a:pt x="1177" y="1348"/>
                  <a:pt x="1157" y="1362"/>
                </a:cubicBezTo>
                <a:cubicBezTo>
                  <a:pt x="1136" y="1375"/>
                  <a:pt x="1116" y="1388"/>
                  <a:pt x="1094" y="1399"/>
                </a:cubicBezTo>
                <a:cubicBezTo>
                  <a:pt x="1073" y="1411"/>
                  <a:pt x="1051" y="1421"/>
                  <a:pt x="1028" y="1430"/>
                </a:cubicBezTo>
                <a:cubicBezTo>
                  <a:pt x="1006" y="1440"/>
                  <a:pt x="983" y="1448"/>
                  <a:pt x="960" y="1455"/>
                </a:cubicBezTo>
                <a:cubicBezTo>
                  <a:pt x="936" y="1462"/>
                  <a:pt x="913" y="1468"/>
                  <a:pt x="889" y="1473"/>
                </a:cubicBezTo>
                <a:cubicBezTo>
                  <a:pt x="865" y="1477"/>
                  <a:pt x="841" y="1481"/>
                  <a:pt x="817" y="1483"/>
                </a:cubicBezTo>
                <a:cubicBezTo>
                  <a:pt x="793" y="1486"/>
                  <a:pt x="768" y="1487"/>
                  <a:pt x="744" y="1487"/>
                </a:cubicBezTo>
                <a:cubicBezTo>
                  <a:pt x="720" y="1487"/>
                  <a:pt x="695" y="1486"/>
                  <a:pt x="671" y="1483"/>
                </a:cubicBezTo>
                <a:cubicBezTo>
                  <a:pt x="647" y="1481"/>
                  <a:pt x="623" y="1477"/>
                  <a:pt x="599" y="1473"/>
                </a:cubicBezTo>
                <a:cubicBezTo>
                  <a:pt x="575" y="1468"/>
                  <a:pt x="552" y="1462"/>
                  <a:pt x="528" y="1455"/>
                </a:cubicBezTo>
                <a:cubicBezTo>
                  <a:pt x="505" y="1448"/>
                  <a:pt x="481" y="1440"/>
                  <a:pt x="459" y="1430"/>
                </a:cubicBezTo>
                <a:cubicBezTo>
                  <a:pt x="436" y="1421"/>
                  <a:pt x="414" y="1411"/>
                  <a:pt x="393" y="1399"/>
                </a:cubicBezTo>
                <a:cubicBezTo>
                  <a:pt x="371" y="1388"/>
                  <a:pt x="351" y="1375"/>
                  <a:pt x="330" y="1362"/>
                </a:cubicBezTo>
                <a:cubicBezTo>
                  <a:pt x="310" y="1348"/>
                  <a:pt x="291" y="1334"/>
                  <a:pt x="272" y="1318"/>
                </a:cubicBezTo>
                <a:cubicBezTo>
                  <a:pt x="253" y="1303"/>
                  <a:pt x="235" y="1287"/>
                  <a:pt x="218" y="1269"/>
                </a:cubicBezTo>
                <a:cubicBezTo>
                  <a:pt x="201" y="1252"/>
                  <a:pt x="184" y="1234"/>
                  <a:pt x="169" y="1215"/>
                </a:cubicBezTo>
                <a:cubicBezTo>
                  <a:pt x="153" y="1197"/>
                  <a:pt x="139" y="1177"/>
                  <a:pt x="125" y="1157"/>
                </a:cubicBezTo>
                <a:cubicBezTo>
                  <a:pt x="112" y="1137"/>
                  <a:pt x="99" y="1116"/>
                  <a:pt x="88" y="1094"/>
                </a:cubicBezTo>
                <a:cubicBezTo>
                  <a:pt x="76" y="1073"/>
                  <a:pt x="66" y="1051"/>
                  <a:pt x="57" y="1028"/>
                </a:cubicBezTo>
                <a:cubicBezTo>
                  <a:pt x="47" y="1006"/>
                  <a:pt x="39" y="983"/>
                  <a:pt x="32" y="960"/>
                </a:cubicBezTo>
                <a:cubicBezTo>
                  <a:pt x="25" y="936"/>
                  <a:pt x="19" y="913"/>
                  <a:pt x="14" y="889"/>
                </a:cubicBezTo>
                <a:cubicBezTo>
                  <a:pt x="10" y="865"/>
                  <a:pt x="6" y="841"/>
                  <a:pt x="4" y="817"/>
                </a:cubicBezTo>
                <a:cubicBezTo>
                  <a:pt x="1" y="793"/>
                  <a:pt x="0" y="768"/>
                  <a:pt x="0" y="744"/>
                </a:cubicBezTo>
                <a:cubicBezTo>
                  <a:pt x="0" y="720"/>
                  <a:pt x="1" y="696"/>
                  <a:pt x="4" y="671"/>
                </a:cubicBezTo>
                <a:cubicBezTo>
                  <a:pt x="6" y="647"/>
                  <a:pt x="10" y="623"/>
                  <a:pt x="14" y="599"/>
                </a:cubicBezTo>
                <a:cubicBezTo>
                  <a:pt x="19" y="575"/>
                  <a:pt x="25" y="552"/>
                  <a:pt x="32" y="529"/>
                </a:cubicBezTo>
                <a:cubicBezTo>
                  <a:pt x="39" y="505"/>
                  <a:pt x="47" y="482"/>
                  <a:pt x="57" y="460"/>
                </a:cubicBezTo>
                <a:cubicBezTo>
                  <a:pt x="66" y="437"/>
                  <a:pt x="76" y="415"/>
                  <a:pt x="88" y="394"/>
                </a:cubicBezTo>
                <a:cubicBezTo>
                  <a:pt x="99" y="373"/>
                  <a:pt x="112" y="352"/>
                  <a:pt x="125" y="331"/>
                </a:cubicBezTo>
                <a:cubicBezTo>
                  <a:pt x="139" y="310"/>
                  <a:pt x="153" y="291"/>
                  <a:pt x="169" y="272"/>
                </a:cubicBezTo>
                <a:cubicBezTo>
                  <a:pt x="184" y="253"/>
                  <a:pt x="201" y="235"/>
                  <a:pt x="218" y="218"/>
                </a:cubicBezTo>
                <a:cubicBezTo>
                  <a:pt x="235" y="201"/>
                  <a:pt x="253" y="184"/>
                  <a:pt x="272" y="169"/>
                </a:cubicBezTo>
                <a:cubicBezTo>
                  <a:pt x="291" y="154"/>
                  <a:pt x="310" y="139"/>
                  <a:pt x="330" y="126"/>
                </a:cubicBezTo>
                <a:cubicBezTo>
                  <a:pt x="351" y="112"/>
                  <a:pt x="371" y="100"/>
                  <a:pt x="393" y="88"/>
                </a:cubicBezTo>
                <a:cubicBezTo>
                  <a:pt x="414" y="77"/>
                  <a:pt x="436" y="66"/>
                  <a:pt x="459" y="57"/>
                </a:cubicBezTo>
                <a:cubicBezTo>
                  <a:pt x="481" y="48"/>
                  <a:pt x="505" y="39"/>
                  <a:pt x="528" y="32"/>
                </a:cubicBezTo>
                <a:cubicBezTo>
                  <a:pt x="552" y="25"/>
                  <a:pt x="575" y="19"/>
                  <a:pt x="599" y="15"/>
                </a:cubicBezTo>
                <a:cubicBezTo>
                  <a:pt x="623" y="10"/>
                  <a:pt x="647" y="6"/>
                  <a:pt x="671" y="4"/>
                </a:cubicBezTo>
                <a:cubicBezTo>
                  <a:pt x="695" y="2"/>
                  <a:pt x="720" y="0"/>
                  <a:pt x="744" y="0"/>
                </a:cubicBezTo>
                <a:cubicBezTo>
                  <a:pt x="768" y="0"/>
                  <a:pt x="793" y="2"/>
                  <a:pt x="817" y="4"/>
                </a:cubicBezTo>
                <a:cubicBezTo>
                  <a:pt x="841" y="6"/>
                  <a:pt x="865" y="10"/>
                  <a:pt x="889" y="15"/>
                </a:cubicBezTo>
                <a:cubicBezTo>
                  <a:pt x="913" y="19"/>
                  <a:pt x="936" y="25"/>
                  <a:pt x="960" y="32"/>
                </a:cubicBezTo>
                <a:cubicBezTo>
                  <a:pt x="983" y="39"/>
                  <a:pt x="1006" y="48"/>
                  <a:pt x="1028" y="57"/>
                </a:cubicBezTo>
                <a:cubicBezTo>
                  <a:pt x="1051" y="66"/>
                  <a:pt x="1073" y="77"/>
                  <a:pt x="1094" y="88"/>
                </a:cubicBezTo>
                <a:cubicBezTo>
                  <a:pt x="1116" y="100"/>
                  <a:pt x="1136" y="112"/>
                  <a:pt x="1157" y="126"/>
                </a:cubicBezTo>
                <a:cubicBezTo>
                  <a:pt x="1177" y="139"/>
                  <a:pt x="1196" y="154"/>
                  <a:pt x="1215" y="169"/>
                </a:cubicBezTo>
                <a:cubicBezTo>
                  <a:pt x="1234" y="184"/>
                  <a:pt x="1252" y="201"/>
                  <a:pt x="1269" y="218"/>
                </a:cubicBezTo>
                <a:cubicBezTo>
                  <a:pt x="1286" y="235"/>
                  <a:pt x="1303" y="253"/>
                  <a:pt x="1318" y="272"/>
                </a:cubicBezTo>
                <a:cubicBezTo>
                  <a:pt x="1334" y="291"/>
                  <a:pt x="1348" y="310"/>
                  <a:pt x="1362" y="331"/>
                </a:cubicBezTo>
                <a:cubicBezTo>
                  <a:pt x="1375" y="352"/>
                  <a:pt x="1388" y="373"/>
                  <a:pt x="1399" y="394"/>
                </a:cubicBezTo>
                <a:cubicBezTo>
                  <a:pt x="1411" y="415"/>
                  <a:pt x="1421" y="437"/>
                  <a:pt x="1430" y="460"/>
                </a:cubicBezTo>
                <a:cubicBezTo>
                  <a:pt x="1440" y="482"/>
                  <a:pt x="1448" y="505"/>
                  <a:pt x="1455" y="529"/>
                </a:cubicBezTo>
                <a:cubicBezTo>
                  <a:pt x="1462" y="552"/>
                  <a:pt x="1468" y="575"/>
                  <a:pt x="1473" y="599"/>
                </a:cubicBezTo>
                <a:cubicBezTo>
                  <a:pt x="1477" y="623"/>
                  <a:pt x="1481" y="647"/>
                  <a:pt x="1483" y="671"/>
                </a:cubicBezTo>
                <a:cubicBezTo>
                  <a:pt x="1486" y="696"/>
                  <a:pt x="1487" y="720"/>
                  <a:pt x="1487" y="744"/>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32" name="図 531"/>
          <p:cNvPicPr/>
          <p:nvPr/>
        </p:nvPicPr>
        <p:blipFill>
          <a:blip r:embed="rId12"/>
          <a:stretch/>
        </p:blipFill>
        <p:spPr>
          <a:xfrm>
            <a:off x="8273160" y="6200640"/>
            <a:ext cx="200160" cy="200160"/>
          </a:xfrm>
          <a:prstGeom prst="rect">
            <a:avLst/>
          </a:prstGeom>
          <a:noFill/>
          <a:ln w="0">
            <a:noFill/>
          </a:ln>
        </p:spPr>
      </p:pic>
      <p:sp>
        <p:nvSpPr>
          <p:cNvPr id="533" name="フリーフォーム: 図形 532"/>
          <p:cNvSpPr/>
          <p:nvPr/>
        </p:nvSpPr>
        <p:spPr>
          <a:xfrm>
            <a:off x="8774280" y="6033240"/>
            <a:ext cx="535320" cy="535320"/>
          </a:xfrm>
          <a:custGeom>
            <a:avLst/>
            <a:gdLst/>
            <a:ahLst/>
            <a:cxnLst/>
            <a:rect l="0" t="0" r="r" b="b"/>
            <a:pathLst>
              <a:path w="1487" h="1487">
                <a:moveTo>
                  <a:pt x="1487" y="744"/>
                </a:moveTo>
                <a:cubicBezTo>
                  <a:pt x="1487" y="768"/>
                  <a:pt x="1486" y="793"/>
                  <a:pt x="1483" y="817"/>
                </a:cubicBezTo>
                <a:cubicBezTo>
                  <a:pt x="1481" y="841"/>
                  <a:pt x="1477" y="865"/>
                  <a:pt x="1473" y="889"/>
                </a:cubicBezTo>
                <a:cubicBezTo>
                  <a:pt x="1468" y="913"/>
                  <a:pt x="1462" y="936"/>
                  <a:pt x="1455" y="960"/>
                </a:cubicBezTo>
                <a:cubicBezTo>
                  <a:pt x="1448" y="983"/>
                  <a:pt x="1440" y="1006"/>
                  <a:pt x="1430" y="1028"/>
                </a:cubicBezTo>
                <a:cubicBezTo>
                  <a:pt x="1421" y="1051"/>
                  <a:pt x="1411" y="1073"/>
                  <a:pt x="1399" y="1094"/>
                </a:cubicBezTo>
                <a:cubicBezTo>
                  <a:pt x="1388" y="1116"/>
                  <a:pt x="1375" y="1137"/>
                  <a:pt x="1362" y="1157"/>
                </a:cubicBezTo>
                <a:cubicBezTo>
                  <a:pt x="1348" y="1177"/>
                  <a:pt x="1334" y="1197"/>
                  <a:pt x="1318" y="1215"/>
                </a:cubicBezTo>
                <a:cubicBezTo>
                  <a:pt x="1303" y="1234"/>
                  <a:pt x="1286" y="1252"/>
                  <a:pt x="1269" y="1269"/>
                </a:cubicBezTo>
                <a:cubicBezTo>
                  <a:pt x="1252" y="1287"/>
                  <a:pt x="1234" y="1303"/>
                  <a:pt x="1215" y="1318"/>
                </a:cubicBezTo>
                <a:cubicBezTo>
                  <a:pt x="1196" y="1334"/>
                  <a:pt x="1177" y="1348"/>
                  <a:pt x="1157" y="1362"/>
                </a:cubicBezTo>
                <a:cubicBezTo>
                  <a:pt x="1136" y="1375"/>
                  <a:pt x="1116" y="1388"/>
                  <a:pt x="1094" y="1399"/>
                </a:cubicBezTo>
                <a:cubicBezTo>
                  <a:pt x="1073" y="1411"/>
                  <a:pt x="1051" y="1421"/>
                  <a:pt x="1028" y="1430"/>
                </a:cubicBezTo>
                <a:cubicBezTo>
                  <a:pt x="1006" y="1440"/>
                  <a:pt x="983" y="1448"/>
                  <a:pt x="960" y="1455"/>
                </a:cubicBezTo>
                <a:cubicBezTo>
                  <a:pt x="936" y="1462"/>
                  <a:pt x="913" y="1468"/>
                  <a:pt x="889" y="1473"/>
                </a:cubicBezTo>
                <a:cubicBezTo>
                  <a:pt x="865" y="1477"/>
                  <a:pt x="841" y="1481"/>
                  <a:pt x="817" y="1483"/>
                </a:cubicBezTo>
                <a:cubicBezTo>
                  <a:pt x="793" y="1486"/>
                  <a:pt x="768" y="1487"/>
                  <a:pt x="744" y="1487"/>
                </a:cubicBezTo>
                <a:cubicBezTo>
                  <a:pt x="720" y="1487"/>
                  <a:pt x="695" y="1486"/>
                  <a:pt x="671" y="1483"/>
                </a:cubicBezTo>
                <a:cubicBezTo>
                  <a:pt x="647" y="1481"/>
                  <a:pt x="623" y="1477"/>
                  <a:pt x="599" y="1473"/>
                </a:cubicBezTo>
                <a:cubicBezTo>
                  <a:pt x="575" y="1468"/>
                  <a:pt x="552" y="1462"/>
                  <a:pt x="528" y="1455"/>
                </a:cubicBezTo>
                <a:cubicBezTo>
                  <a:pt x="505" y="1448"/>
                  <a:pt x="482" y="1440"/>
                  <a:pt x="460" y="1430"/>
                </a:cubicBezTo>
                <a:cubicBezTo>
                  <a:pt x="437" y="1421"/>
                  <a:pt x="415" y="1411"/>
                  <a:pt x="394" y="1399"/>
                </a:cubicBezTo>
                <a:cubicBezTo>
                  <a:pt x="372" y="1388"/>
                  <a:pt x="352" y="1375"/>
                  <a:pt x="331" y="1362"/>
                </a:cubicBezTo>
                <a:cubicBezTo>
                  <a:pt x="311" y="1348"/>
                  <a:pt x="292" y="1334"/>
                  <a:pt x="273" y="1318"/>
                </a:cubicBezTo>
                <a:cubicBezTo>
                  <a:pt x="254" y="1303"/>
                  <a:pt x="236" y="1287"/>
                  <a:pt x="219" y="1269"/>
                </a:cubicBezTo>
                <a:cubicBezTo>
                  <a:pt x="202" y="1252"/>
                  <a:pt x="185" y="1234"/>
                  <a:pt x="170" y="1215"/>
                </a:cubicBezTo>
                <a:cubicBezTo>
                  <a:pt x="154" y="1197"/>
                  <a:pt x="140" y="1177"/>
                  <a:pt x="125" y="1157"/>
                </a:cubicBezTo>
                <a:cubicBezTo>
                  <a:pt x="112" y="1137"/>
                  <a:pt x="99" y="1116"/>
                  <a:pt x="88" y="1094"/>
                </a:cubicBezTo>
                <a:cubicBezTo>
                  <a:pt x="76" y="1073"/>
                  <a:pt x="66" y="1051"/>
                  <a:pt x="57" y="1028"/>
                </a:cubicBezTo>
                <a:cubicBezTo>
                  <a:pt x="47" y="1006"/>
                  <a:pt x="39" y="983"/>
                  <a:pt x="32" y="960"/>
                </a:cubicBezTo>
                <a:cubicBezTo>
                  <a:pt x="25" y="936"/>
                  <a:pt x="19" y="913"/>
                  <a:pt x="14" y="889"/>
                </a:cubicBezTo>
                <a:cubicBezTo>
                  <a:pt x="10" y="865"/>
                  <a:pt x="6" y="841"/>
                  <a:pt x="4" y="817"/>
                </a:cubicBezTo>
                <a:cubicBezTo>
                  <a:pt x="1" y="793"/>
                  <a:pt x="0" y="768"/>
                  <a:pt x="0" y="744"/>
                </a:cubicBezTo>
                <a:cubicBezTo>
                  <a:pt x="0" y="720"/>
                  <a:pt x="1" y="696"/>
                  <a:pt x="4" y="671"/>
                </a:cubicBezTo>
                <a:cubicBezTo>
                  <a:pt x="6" y="647"/>
                  <a:pt x="10" y="623"/>
                  <a:pt x="14" y="599"/>
                </a:cubicBezTo>
                <a:cubicBezTo>
                  <a:pt x="19" y="575"/>
                  <a:pt x="25" y="552"/>
                  <a:pt x="32" y="529"/>
                </a:cubicBezTo>
                <a:cubicBezTo>
                  <a:pt x="39" y="505"/>
                  <a:pt x="47" y="482"/>
                  <a:pt x="57" y="460"/>
                </a:cubicBezTo>
                <a:cubicBezTo>
                  <a:pt x="66" y="437"/>
                  <a:pt x="76" y="415"/>
                  <a:pt x="88" y="394"/>
                </a:cubicBezTo>
                <a:cubicBezTo>
                  <a:pt x="99" y="373"/>
                  <a:pt x="112" y="352"/>
                  <a:pt x="125" y="331"/>
                </a:cubicBezTo>
                <a:cubicBezTo>
                  <a:pt x="140" y="310"/>
                  <a:pt x="154" y="291"/>
                  <a:pt x="170" y="272"/>
                </a:cubicBezTo>
                <a:cubicBezTo>
                  <a:pt x="185" y="253"/>
                  <a:pt x="202" y="235"/>
                  <a:pt x="219" y="218"/>
                </a:cubicBezTo>
                <a:cubicBezTo>
                  <a:pt x="236" y="201"/>
                  <a:pt x="254" y="184"/>
                  <a:pt x="273" y="169"/>
                </a:cubicBezTo>
                <a:cubicBezTo>
                  <a:pt x="292" y="154"/>
                  <a:pt x="311" y="139"/>
                  <a:pt x="331" y="126"/>
                </a:cubicBezTo>
                <a:cubicBezTo>
                  <a:pt x="352" y="112"/>
                  <a:pt x="372" y="100"/>
                  <a:pt x="394" y="88"/>
                </a:cubicBezTo>
                <a:cubicBezTo>
                  <a:pt x="415" y="77"/>
                  <a:pt x="437" y="66"/>
                  <a:pt x="460" y="57"/>
                </a:cubicBezTo>
                <a:cubicBezTo>
                  <a:pt x="482" y="48"/>
                  <a:pt x="505" y="39"/>
                  <a:pt x="528" y="32"/>
                </a:cubicBezTo>
                <a:cubicBezTo>
                  <a:pt x="552" y="25"/>
                  <a:pt x="575" y="19"/>
                  <a:pt x="599" y="15"/>
                </a:cubicBezTo>
                <a:cubicBezTo>
                  <a:pt x="623" y="10"/>
                  <a:pt x="647" y="6"/>
                  <a:pt x="671" y="4"/>
                </a:cubicBezTo>
                <a:cubicBezTo>
                  <a:pt x="695" y="2"/>
                  <a:pt x="720" y="0"/>
                  <a:pt x="744" y="0"/>
                </a:cubicBezTo>
                <a:cubicBezTo>
                  <a:pt x="768" y="0"/>
                  <a:pt x="793" y="2"/>
                  <a:pt x="817" y="4"/>
                </a:cubicBezTo>
                <a:cubicBezTo>
                  <a:pt x="841" y="6"/>
                  <a:pt x="865" y="10"/>
                  <a:pt x="889" y="15"/>
                </a:cubicBezTo>
                <a:cubicBezTo>
                  <a:pt x="913" y="19"/>
                  <a:pt x="936" y="25"/>
                  <a:pt x="960" y="32"/>
                </a:cubicBezTo>
                <a:cubicBezTo>
                  <a:pt x="983" y="39"/>
                  <a:pt x="1006" y="48"/>
                  <a:pt x="1028" y="57"/>
                </a:cubicBezTo>
                <a:cubicBezTo>
                  <a:pt x="1051" y="66"/>
                  <a:pt x="1073" y="77"/>
                  <a:pt x="1094" y="88"/>
                </a:cubicBezTo>
                <a:cubicBezTo>
                  <a:pt x="1116" y="100"/>
                  <a:pt x="1136" y="112"/>
                  <a:pt x="1157" y="126"/>
                </a:cubicBezTo>
                <a:cubicBezTo>
                  <a:pt x="1177" y="139"/>
                  <a:pt x="1196" y="154"/>
                  <a:pt x="1215" y="169"/>
                </a:cubicBezTo>
                <a:cubicBezTo>
                  <a:pt x="1234" y="184"/>
                  <a:pt x="1252" y="201"/>
                  <a:pt x="1269" y="218"/>
                </a:cubicBezTo>
                <a:cubicBezTo>
                  <a:pt x="1286" y="235"/>
                  <a:pt x="1303" y="253"/>
                  <a:pt x="1318" y="272"/>
                </a:cubicBezTo>
                <a:cubicBezTo>
                  <a:pt x="1334" y="291"/>
                  <a:pt x="1348" y="310"/>
                  <a:pt x="1362" y="331"/>
                </a:cubicBezTo>
                <a:cubicBezTo>
                  <a:pt x="1375" y="352"/>
                  <a:pt x="1388" y="373"/>
                  <a:pt x="1399" y="394"/>
                </a:cubicBezTo>
                <a:cubicBezTo>
                  <a:pt x="1411" y="415"/>
                  <a:pt x="1421" y="437"/>
                  <a:pt x="1430" y="460"/>
                </a:cubicBezTo>
                <a:cubicBezTo>
                  <a:pt x="1440" y="482"/>
                  <a:pt x="1448" y="505"/>
                  <a:pt x="1455" y="529"/>
                </a:cubicBezTo>
                <a:cubicBezTo>
                  <a:pt x="1462" y="552"/>
                  <a:pt x="1468" y="575"/>
                  <a:pt x="1473" y="599"/>
                </a:cubicBezTo>
                <a:cubicBezTo>
                  <a:pt x="1477" y="623"/>
                  <a:pt x="1481" y="647"/>
                  <a:pt x="1483" y="671"/>
                </a:cubicBezTo>
                <a:cubicBezTo>
                  <a:pt x="1486" y="696"/>
                  <a:pt x="1487" y="720"/>
                  <a:pt x="1487" y="74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34" name="図 533"/>
          <p:cNvPicPr/>
          <p:nvPr/>
        </p:nvPicPr>
        <p:blipFill>
          <a:blip r:embed="rId13"/>
          <a:stretch/>
        </p:blipFill>
        <p:spPr>
          <a:xfrm>
            <a:off x="8925120" y="6200640"/>
            <a:ext cx="225360" cy="200160"/>
          </a:xfrm>
          <a:prstGeom prst="rect">
            <a:avLst/>
          </a:prstGeom>
          <a:noFill/>
          <a:ln w="0">
            <a:noFill/>
          </a:ln>
        </p:spPr>
      </p:pic>
      <p:sp>
        <p:nvSpPr>
          <p:cNvPr id="535" name="テキスト ボックス 534"/>
          <p:cNvSpPr txBox="1"/>
          <p:nvPr/>
        </p:nvSpPr>
        <p:spPr>
          <a:xfrm>
            <a:off x="6788520" y="5694480"/>
            <a:ext cx="1882440" cy="244080"/>
          </a:xfrm>
          <a:prstGeom prst="rect">
            <a:avLst/>
          </a:prstGeom>
          <a:noFill/>
          <a:ln w="0">
            <a:noFill/>
          </a:ln>
        </p:spPr>
        <p:txBody>
          <a:bodyPr wrap="none" lIns="0" tIns="0" rIns="0" bIns="0" anchor="t">
            <a:spAutoFit/>
          </a:bodyPr>
          <a:lstStyle/>
          <a:p>
            <a:r>
              <a:rPr lang="en-US" sz="1320" b="0" u="none" strike="noStrike">
                <a:solidFill>
                  <a:srgbClr val="003366"/>
                </a:solidFill>
                <a:effectLst/>
                <a:uFillTx/>
                <a:latin typeface="NotoSansJP"/>
                <a:ea typeface="NotoSansJP"/>
              </a:rPr>
              <a:t> 電極構造最適化の重要性</a:t>
            </a:r>
            <a:endParaRPr lang="en-US" sz="1320" b="0" u="none" strike="noStrike">
              <a:solidFill>
                <a:srgbClr val="000000"/>
              </a:solidFill>
              <a:effectLst/>
              <a:uFillTx/>
              <a:latin typeface="Times New Roman"/>
            </a:endParaRPr>
          </a:p>
        </p:txBody>
      </p:sp>
      <p:sp>
        <p:nvSpPr>
          <p:cNvPr id="536" name="テキスト ボックス 535"/>
          <p:cNvSpPr txBox="1"/>
          <p:nvPr/>
        </p:nvSpPr>
        <p:spPr>
          <a:xfrm>
            <a:off x="7472160" y="6746400"/>
            <a:ext cx="18111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電極構造の最適化により、</a:t>
            </a:r>
            <a:endParaRPr lang="en-US" sz="1180" b="0" u="none" strike="noStrike">
              <a:solidFill>
                <a:srgbClr val="000000"/>
              </a:solidFill>
              <a:effectLst/>
              <a:uFillTx/>
              <a:latin typeface="Times New Roman"/>
            </a:endParaRPr>
          </a:p>
        </p:txBody>
      </p:sp>
      <p:sp>
        <p:nvSpPr>
          <p:cNvPr id="537" name="テキスト ボックス 536"/>
          <p:cNvSpPr txBox="1"/>
          <p:nvPr/>
        </p:nvSpPr>
        <p:spPr>
          <a:xfrm>
            <a:off x="7242480" y="6980400"/>
            <a:ext cx="2264040" cy="219960"/>
          </a:xfrm>
          <a:prstGeom prst="rect">
            <a:avLst/>
          </a:prstGeom>
          <a:noFill/>
          <a:ln w="0">
            <a:noFill/>
          </a:ln>
        </p:spPr>
        <p:txBody>
          <a:bodyPr wrap="none" lIns="0" tIns="0" rIns="0" bIns="0" anchor="t">
            <a:spAutoFit/>
          </a:bodyPr>
          <a:lstStyle/>
          <a:p>
            <a:r>
              <a:rPr lang="zh-CN" sz="1180" b="0" u="none" strike="noStrike">
                <a:solidFill>
                  <a:srgbClr val="FF9900"/>
                </a:solidFill>
                <a:effectLst/>
                <a:uFillTx/>
                <a:latin typeface="NotoSansJP"/>
                <a:ea typeface="NotoSansJP"/>
              </a:rPr>
              <a:t>視力低下リスク</a:t>
            </a:r>
            <a:r>
              <a:rPr lang="zh-CN" sz="1180" b="0" u="none" strike="noStrike">
                <a:solidFill>
                  <a:srgbClr val="000000"/>
                </a:solidFill>
                <a:effectLst/>
                <a:uFillTx/>
                <a:latin typeface="NotoSansJP"/>
                <a:ea typeface="NotoSansJP"/>
              </a:rPr>
              <a:t>のある濃度域での</a:t>
            </a:r>
            <a:endParaRPr lang="en-US" sz="1180" b="0" u="none" strike="noStrike">
              <a:solidFill>
                <a:srgbClr val="000000"/>
              </a:solidFill>
              <a:effectLst/>
              <a:uFillTx/>
              <a:latin typeface="Times New Roman"/>
            </a:endParaRPr>
          </a:p>
        </p:txBody>
      </p:sp>
      <p:sp>
        <p:nvSpPr>
          <p:cNvPr id="538" name="テキスト ボックス 537"/>
          <p:cNvSpPr txBox="1"/>
          <p:nvPr/>
        </p:nvSpPr>
        <p:spPr>
          <a:xfrm>
            <a:off x="7467840" y="7214400"/>
            <a:ext cx="18111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検知精度向上が期待できる</a:t>
            </a:r>
            <a:endParaRPr lang="en-US" sz="118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9" name="図 538"/>
          <p:cNvPicPr/>
          <p:nvPr/>
        </p:nvPicPr>
        <p:blipFill>
          <a:blip r:embed="rId2"/>
          <a:stretch/>
        </p:blipFill>
        <p:spPr>
          <a:xfrm>
            <a:off x="0" y="0"/>
            <a:ext cx="10696320" cy="6208560"/>
          </a:xfrm>
          <a:prstGeom prst="rect">
            <a:avLst/>
          </a:prstGeom>
          <a:noFill/>
          <a:ln w="0">
            <a:noFill/>
          </a:ln>
        </p:spPr>
      </p:pic>
      <p:sp>
        <p:nvSpPr>
          <p:cNvPr id="540" name="フリーフォーム: 図形 539"/>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41" name="フリーフォーム: 図形 540"/>
          <p:cNvSpPr/>
          <p:nvPr/>
        </p:nvSpPr>
        <p:spPr>
          <a:xfrm>
            <a:off x="267120" y="869040"/>
            <a:ext cx="5841720" cy="5072760"/>
          </a:xfrm>
          <a:custGeom>
            <a:avLst/>
            <a:gdLst/>
            <a:ahLst/>
            <a:cxnLst/>
            <a:rect l="0" t="0" r="r" b="b"/>
            <a:pathLst>
              <a:path w="16227" h="14091">
                <a:moveTo>
                  <a:pt x="0" y="13905"/>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6042" y="0"/>
                </a:lnTo>
                <a:cubicBezTo>
                  <a:pt x="16054" y="0"/>
                  <a:pt x="16066" y="1"/>
                  <a:pt x="16078" y="3"/>
                </a:cubicBezTo>
                <a:cubicBezTo>
                  <a:pt x="16090" y="6"/>
                  <a:pt x="16101" y="9"/>
                  <a:pt x="16113" y="14"/>
                </a:cubicBezTo>
                <a:cubicBezTo>
                  <a:pt x="16124" y="18"/>
                  <a:pt x="16135" y="24"/>
                  <a:pt x="16145" y="31"/>
                </a:cubicBezTo>
                <a:cubicBezTo>
                  <a:pt x="16155" y="38"/>
                  <a:pt x="16164" y="45"/>
                  <a:pt x="16173" y="54"/>
                </a:cubicBezTo>
                <a:cubicBezTo>
                  <a:pt x="16181" y="63"/>
                  <a:pt x="16189" y="72"/>
                  <a:pt x="16196" y="82"/>
                </a:cubicBezTo>
                <a:cubicBezTo>
                  <a:pt x="16203" y="92"/>
                  <a:pt x="16208" y="103"/>
                  <a:pt x="16213" y="114"/>
                </a:cubicBezTo>
                <a:cubicBezTo>
                  <a:pt x="16218" y="126"/>
                  <a:pt x="16221" y="137"/>
                  <a:pt x="16224" y="149"/>
                </a:cubicBezTo>
                <a:cubicBezTo>
                  <a:pt x="16226" y="161"/>
                  <a:pt x="16227" y="173"/>
                  <a:pt x="16227" y="185"/>
                </a:cubicBezTo>
                <a:lnTo>
                  <a:pt x="16227" y="13905"/>
                </a:lnTo>
                <a:cubicBezTo>
                  <a:pt x="16227" y="13917"/>
                  <a:pt x="16226" y="13930"/>
                  <a:pt x="16224" y="13942"/>
                </a:cubicBezTo>
                <a:cubicBezTo>
                  <a:pt x="16221" y="13953"/>
                  <a:pt x="16218" y="13965"/>
                  <a:pt x="16213" y="13976"/>
                </a:cubicBezTo>
                <a:cubicBezTo>
                  <a:pt x="16208" y="13988"/>
                  <a:pt x="16203" y="13998"/>
                  <a:pt x="16196" y="14008"/>
                </a:cubicBezTo>
                <a:cubicBezTo>
                  <a:pt x="16189" y="14019"/>
                  <a:pt x="16181" y="14028"/>
                  <a:pt x="16173" y="14037"/>
                </a:cubicBezTo>
                <a:cubicBezTo>
                  <a:pt x="16164" y="14045"/>
                  <a:pt x="16155" y="14053"/>
                  <a:pt x="16145" y="14060"/>
                </a:cubicBezTo>
                <a:cubicBezTo>
                  <a:pt x="16135" y="14066"/>
                  <a:pt x="16124" y="14072"/>
                  <a:pt x="16113" y="14077"/>
                </a:cubicBezTo>
                <a:cubicBezTo>
                  <a:pt x="16101" y="14082"/>
                  <a:pt x="16090" y="14085"/>
                  <a:pt x="16078" y="14087"/>
                </a:cubicBezTo>
                <a:cubicBezTo>
                  <a:pt x="16066" y="14090"/>
                  <a:pt x="16054" y="14091"/>
                  <a:pt x="16042" y="14091"/>
                </a:cubicBezTo>
                <a:lnTo>
                  <a:pt x="186" y="14091"/>
                </a:lnTo>
                <a:cubicBezTo>
                  <a:pt x="174" y="14091"/>
                  <a:pt x="162" y="14090"/>
                  <a:pt x="150" y="14087"/>
                </a:cubicBezTo>
                <a:cubicBezTo>
                  <a:pt x="138" y="14085"/>
                  <a:pt x="126" y="14082"/>
                  <a:pt x="115" y="14077"/>
                </a:cubicBezTo>
                <a:cubicBezTo>
                  <a:pt x="104" y="14072"/>
                  <a:pt x="93" y="14066"/>
                  <a:pt x="83" y="14060"/>
                </a:cubicBezTo>
                <a:cubicBezTo>
                  <a:pt x="73" y="14053"/>
                  <a:pt x="63" y="14045"/>
                  <a:pt x="55" y="14037"/>
                </a:cubicBezTo>
                <a:cubicBezTo>
                  <a:pt x="46" y="14028"/>
                  <a:pt x="38" y="14019"/>
                  <a:pt x="32" y="14008"/>
                </a:cubicBezTo>
                <a:cubicBezTo>
                  <a:pt x="25" y="13998"/>
                  <a:pt x="19" y="13988"/>
                  <a:pt x="14" y="13976"/>
                </a:cubicBezTo>
                <a:cubicBezTo>
                  <a:pt x="10" y="13965"/>
                  <a:pt x="6" y="13953"/>
                  <a:pt x="4" y="13942"/>
                </a:cubicBezTo>
                <a:cubicBezTo>
                  <a:pt x="2" y="13930"/>
                  <a:pt x="0" y="13917"/>
                  <a:pt x="0" y="1390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42" name="図 541"/>
          <p:cNvPicPr/>
          <p:nvPr/>
        </p:nvPicPr>
        <p:blipFill>
          <a:blip r:embed="rId3"/>
          <a:stretch/>
        </p:blipFill>
        <p:spPr>
          <a:xfrm>
            <a:off x="468000" y="1103040"/>
            <a:ext cx="200160" cy="200160"/>
          </a:xfrm>
          <a:prstGeom prst="rect">
            <a:avLst/>
          </a:prstGeom>
          <a:noFill/>
          <a:ln w="0">
            <a:noFill/>
          </a:ln>
        </p:spPr>
      </p:pic>
      <p:sp>
        <p:nvSpPr>
          <p:cNvPr id="543" name="テキスト ボックス 542"/>
          <p:cNvSpPr txBox="1"/>
          <p:nvPr/>
        </p:nvSpPr>
        <p:spPr>
          <a:xfrm>
            <a:off x="334440" y="155520"/>
            <a:ext cx="180216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センサの特徴</a:t>
            </a:r>
            <a:endParaRPr lang="en-US" sz="2370" b="0" u="none" strike="noStrike">
              <a:solidFill>
                <a:srgbClr val="000000"/>
              </a:solidFill>
              <a:effectLst/>
              <a:uFillTx/>
              <a:latin typeface="Times New Roman"/>
            </a:endParaRPr>
          </a:p>
        </p:txBody>
      </p:sp>
      <p:sp>
        <p:nvSpPr>
          <p:cNvPr id="544" name="フリーフォーム: 図形 543"/>
          <p:cNvSpPr/>
          <p:nvPr/>
        </p:nvSpPr>
        <p:spPr>
          <a:xfrm>
            <a:off x="467640" y="1537560"/>
            <a:ext cx="2624400" cy="1103400"/>
          </a:xfrm>
          <a:custGeom>
            <a:avLst/>
            <a:gdLst/>
            <a:ahLst/>
            <a:cxnLst/>
            <a:rect l="0" t="0" r="r" b="b"/>
            <a:pathLst>
              <a:path w="7290" h="3065">
                <a:moveTo>
                  <a:pt x="0" y="2879"/>
                </a:moveTo>
                <a:lnTo>
                  <a:pt x="0" y="185"/>
                </a:lnTo>
                <a:cubicBezTo>
                  <a:pt x="0" y="173"/>
                  <a:pt x="2" y="161"/>
                  <a:pt x="4" y="149"/>
                </a:cubicBezTo>
                <a:cubicBezTo>
                  <a:pt x="6" y="137"/>
                  <a:pt x="10" y="126"/>
                  <a:pt x="15" y="114"/>
                </a:cubicBezTo>
                <a:cubicBezTo>
                  <a:pt x="19" y="103"/>
                  <a:pt x="25" y="92"/>
                  <a:pt x="32" y="82"/>
                </a:cubicBezTo>
                <a:cubicBezTo>
                  <a:pt x="39" y="72"/>
                  <a:pt x="46" y="63"/>
                  <a:pt x="55" y="54"/>
                </a:cubicBezTo>
                <a:cubicBezTo>
                  <a:pt x="63" y="45"/>
                  <a:pt x="73" y="38"/>
                  <a:pt x="83" y="31"/>
                </a:cubicBezTo>
                <a:cubicBezTo>
                  <a:pt x="93" y="24"/>
                  <a:pt x="104" y="19"/>
                  <a:pt x="115" y="14"/>
                </a:cubicBezTo>
                <a:cubicBezTo>
                  <a:pt x="126" y="9"/>
                  <a:pt x="138" y="6"/>
                  <a:pt x="150" y="3"/>
                </a:cubicBezTo>
                <a:cubicBezTo>
                  <a:pt x="162" y="1"/>
                  <a:pt x="174" y="0"/>
                  <a:pt x="186" y="0"/>
                </a:cubicBezTo>
                <a:lnTo>
                  <a:pt x="7105" y="0"/>
                </a:lnTo>
                <a:cubicBezTo>
                  <a:pt x="7117" y="0"/>
                  <a:pt x="7129" y="1"/>
                  <a:pt x="7141" y="3"/>
                </a:cubicBezTo>
                <a:cubicBezTo>
                  <a:pt x="7153" y="6"/>
                  <a:pt x="7164" y="9"/>
                  <a:pt x="7176" y="14"/>
                </a:cubicBezTo>
                <a:cubicBezTo>
                  <a:pt x="7187" y="19"/>
                  <a:pt x="7198" y="24"/>
                  <a:pt x="7208" y="31"/>
                </a:cubicBezTo>
                <a:cubicBezTo>
                  <a:pt x="7218" y="38"/>
                  <a:pt x="7227" y="45"/>
                  <a:pt x="7236" y="54"/>
                </a:cubicBezTo>
                <a:cubicBezTo>
                  <a:pt x="7245" y="63"/>
                  <a:pt x="7252" y="72"/>
                  <a:pt x="7259" y="82"/>
                </a:cubicBezTo>
                <a:cubicBezTo>
                  <a:pt x="7266" y="92"/>
                  <a:pt x="7272" y="103"/>
                  <a:pt x="7276" y="114"/>
                </a:cubicBezTo>
                <a:cubicBezTo>
                  <a:pt x="7281" y="126"/>
                  <a:pt x="7284" y="137"/>
                  <a:pt x="7287" y="149"/>
                </a:cubicBezTo>
                <a:cubicBezTo>
                  <a:pt x="7289" y="161"/>
                  <a:pt x="7290" y="173"/>
                  <a:pt x="7290" y="185"/>
                </a:cubicBezTo>
                <a:lnTo>
                  <a:pt x="7290" y="2879"/>
                </a:lnTo>
                <a:cubicBezTo>
                  <a:pt x="7290" y="2891"/>
                  <a:pt x="7289" y="2903"/>
                  <a:pt x="7287" y="2915"/>
                </a:cubicBezTo>
                <a:cubicBezTo>
                  <a:pt x="7284" y="2927"/>
                  <a:pt x="7281" y="2939"/>
                  <a:pt x="7276" y="2950"/>
                </a:cubicBezTo>
                <a:cubicBezTo>
                  <a:pt x="7272" y="2961"/>
                  <a:pt x="7266" y="2972"/>
                  <a:pt x="7259" y="2982"/>
                </a:cubicBezTo>
                <a:cubicBezTo>
                  <a:pt x="7252" y="2992"/>
                  <a:pt x="7245" y="3002"/>
                  <a:pt x="7236" y="3010"/>
                </a:cubicBezTo>
                <a:cubicBezTo>
                  <a:pt x="7227" y="3019"/>
                  <a:pt x="7218" y="3027"/>
                  <a:pt x="7208" y="3034"/>
                </a:cubicBezTo>
                <a:cubicBezTo>
                  <a:pt x="7198" y="3040"/>
                  <a:pt x="7187" y="3046"/>
                  <a:pt x="7176" y="3051"/>
                </a:cubicBezTo>
                <a:cubicBezTo>
                  <a:pt x="7164" y="3055"/>
                  <a:pt x="7153" y="3059"/>
                  <a:pt x="7141" y="3061"/>
                </a:cubicBezTo>
                <a:cubicBezTo>
                  <a:pt x="7129" y="3064"/>
                  <a:pt x="7117" y="3065"/>
                  <a:pt x="7105" y="3065"/>
                </a:cubicBezTo>
                <a:lnTo>
                  <a:pt x="186" y="3065"/>
                </a:lnTo>
                <a:cubicBezTo>
                  <a:pt x="174" y="3065"/>
                  <a:pt x="162" y="3064"/>
                  <a:pt x="150" y="3061"/>
                </a:cubicBezTo>
                <a:cubicBezTo>
                  <a:pt x="138" y="3059"/>
                  <a:pt x="126" y="3055"/>
                  <a:pt x="115" y="3051"/>
                </a:cubicBezTo>
                <a:cubicBezTo>
                  <a:pt x="104" y="3046"/>
                  <a:pt x="93" y="3040"/>
                  <a:pt x="83" y="3034"/>
                </a:cubicBezTo>
                <a:cubicBezTo>
                  <a:pt x="73" y="3027"/>
                  <a:pt x="63" y="3019"/>
                  <a:pt x="55" y="3010"/>
                </a:cubicBezTo>
                <a:cubicBezTo>
                  <a:pt x="46" y="3002"/>
                  <a:pt x="39" y="2992"/>
                  <a:pt x="32" y="2982"/>
                </a:cubicBezTo>
                <a:cubicBezTo>
                  <a:pt x="25" y="2972"/>
                  <a:pt x="19" y="2961"/>
                  <a:pt x="15" y="2950"/>
                </a:cubicBezTo>
                <a:cubicBezTo>
                  <a:pt x="10" y="2939"/>
                  <a:pt x="6" y="2927"/>
                  <a:pt x="4" y="2915"/>
                </a:cubicBezTo>
                <a:cubicBezTo>
                  <a:pt x="2" y="2903"/>
                  <a:pt x="0" y="2891"/>
                  <a:pt x="0" y="2879"/>
                </a:cubicBezTo>
                <a:close/>
              </a:path>
            </a:pathLst>
          </a:custGeom>
          <a:solidFill>
            <a:srgbClr val="F9FAF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45" name="フリーフォーム: 図形 544"/>
          <p:cNvSpPr/>
          <p:nvPr/>
        </p:nvSpPr>
        <p:spPr>
          <a:xfrm>
            <a:off x="601560" y="1671120"/>
            <a:ext cx="334440" cy="334800"/>
          </a:xfrm>
          <a:custGeom>
            <a:avLst/>
            <a:gdLst/>
            <a:ahLst/>
            <a:cxnLst/>
            <a:rect l="0" t="0" r="r" b="b"/>
            <a:pathLst>
              <a:path w="929" h="930">
                <a:moveTo>
                  <a:pt x="929" y="465"/>
                </a:moveTo>
                <a:cubicBezTo>
                  <a:pt x="929" y="496"/>
                  <a:pt x="926" y="526"/>
                  <a:pt x="920" y="556"/>
                </a:cubicBezTo>
                <a:cubicBezTo>
                  <a:pt x="914" y="586"/>
                  <a:pt x="906" y="615"/>
                  <a:pt x="894" y="643"/>
                </a:cubicBezTo>
                <a:cubicBezTo>
                  <a:pt x="882" y="671"/>
                  <a:pt x="868" y="698"/>
                  <a:pt x="851" y="723"/>
                </a:cubicBezTo>
                <a:cubicBezTo>
                  <a:pt x="834" y="749"/>
                  <a:pt x="815" y="772"/>
                  <a:pt x="793" y="794"/>
                </a:cubicBezTo>
                <a:cubicBezTo>
                  <a:pt x="772" y="815"/>
                  <a:pt x="748" y="834"/>
                  <a:pt x="723" y="851"/>
                </a:cubicBezTo>
                <a:cubicBezTo>
                  <a:pt x="698" y="868"/>
                  <a:pt x="671" y="883"/>
                  <a:pt x="642" y="894"/>
                </a:cubicBezTo>
                <a:cubicBezTo>
                  <a:pt x="614" y="906"/>
                  <a:pt x="585" y="915"/>
                  <a:pt x="555" y="921"/>
                </a:cubicBezTo>
                <a:cubicBezTo>
                  <a:pt x="525" y="927"/>
                  <a:pt x="495" y="930"/>
                  <a:pt x="464" y="930"/>
                </a:cubicBezTo>
                <a:cubicBezTo>
                  <a:pt x="434" y="930"/>
                  <a:pt x="403" y="927"/>
                  <a:pt x="374" y="921"/>
                </a:cubicBezTo>
                <a:cubicBezTo>
                  <a:pt x="344" y="915"/>
                  <a:pt x="315" y="906"/>
                  <a:pt x="286" y="894"/>
                </a:cubicBezTo>
                <a:cubicBezTo>
                  <a:pt x="258" y="883"/>
                  <a:pt x="232" y="868"/>
                  <a:pt x="206" y="851"/>
                </a:cubicBezTo>
                <a:cubicBezTo>
                  <a:pt x="181" y="834"/>
                  <a:pt x="157" y="815"/>
                  <a:pt x="136" y="794"/>
                </a:cubicBezTo>
                <a:cubicBezTo>
                  <a:pt x="114" y="772"/>
                  <a:pt x="95" y="749"/>
                  <a:pt x="78" y="723"/>
                </a:cubicBezTo>
                <a:cubicBezTo>
                  <a:pt x="61" y="698"/>
                  <a:pt x="47" y="671"/>
                  <a:pt x="35" y="643"/>
                </a:cubicBezTo>
                <a:cubicBezTo>
                  <a:pt x="24" y="615"/>
                  <a:pt x="15" y="586"/>
                  <a:pt x="9" y="556"/>
                </a:cubicBezTo>
                <a:cubicBezTo>
                  <a:pt x="3" y="526"/>
                  <a:pt x="0" y="496"/>
                  <a:pt x="0" y="465"/>
                </a:cubicBezTo>
                <a:cubicBezTo>
                  <a:pt x="0" y="434"/>
                  <a:pt x="3" y="404"/>
                  <a:pt x="9" y="374"/>
                </a:cubicBezTo>
                <a:cubicBezTo>
                  <a:pt x="15" y="344"/>
                  <a:pt x="24" y="315"/>
                  <a:pt x="35" y="287"/>
                </a:cubicBezTo>
                <a:cubicBezTo>
                  <a:pt x="47" y="259"/>
                  <a:pt x="61" y="232"/>
                  <a:pt x="78" y="206"/>
                </a:cubicBezTo>
                <a:cubicBezTo>
                  <a:pt x="95" y="181"/>
                  <a:pt x="114" y="158"/>
                  <a:pt x="136" y="136"/>
                </a:cubicBezTo>
                <a:cubicBezTo>
                  <a:pt x="157" y="115"/>
                  <a:pt x="181" y="95"/>
                  <a:pt x="206" y="78"/>
                </a:cubicBezTo>
                <a:cubicBezTo>
                  <a:pt x="232" y="61"/>
                  <a:pt x="258" y="47"/>
                  <a:pt x="286" y="35"/>
                </a:cubicBezTo>
                <a:cubicBezTo>
                  <a:pt x="315" y="24"/>
                  <a:pt x="344" y="15"/>
                  <a:pt x="374" y="9"/>
                </a:cubicBezTo>
                <a:cubicBezTo>
                  <a:pt x="403" y="3"/>
                  <a:pt x="434" y="0"/>
                  <a:pt x="464" y="0"/>
                </a:cubicBezTo>
                <a:cubicBezTo>
                  <a:pt x="495" y="0"/>
                  <a:pt x="525" y="3"/>
                  <a:pt x="555" y="9"/>
                </a:cubicBezTo>
                <a:cubicBezTo>
                  <a:pt x="585" y="15"/>
                  <a:pt x="614" y="24"/>
                  <a:pt x="642" y="35"/>
                </a:cubicBezTo>
                <a:cubicBezTo>
                  <a:pt x="671" y="47"/>
                  <a:pt x="698" y="61"/>
                  <a:pt x="723" y="78"/>
                </a:cubicBezTo>
                <a:cubicBezTo>
                  <a:pt x="748" y="95"/>
                  <a:pt x="772" y="115"/>
                  <a:pt x="793" y="136"/>
                </a:cubicBezTo>
                <a:cubicBezTo>
                  <a:pt x="815" y="158"/>
                  <a:pt x="834" y="181"/>
                  <a:pt x="851" y="206"/>
                </a:cubicBezTo>
                <a:cubicBezTo>
                  <a:pt x="868" y="232"/>
                  <a:pt x="882" y="259"/>
                  <a:pt x="894" y="287"/>
                </a:cubicBezTo>
                <a:cubicBezTo>
                  <a:pt x="906" y="315"/>
                  <a:pt x="914" y="344"/>
                  <a:pt x="920" y="374"/>
                </a:cubicBezTo>
                <a:cubicBezTo>
                  <a:pt x="926" y="404"/>
                  <a:pt x="929" y="434"/>
                  <a:pt x="929" y="465"/>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546" name="図 545"/>
          <p:cNvPicPr/>
          <p:nvPr/>
        </p:nvPicPr>
        <p:blipFill>
          <a:blip r:embed="rId4"/>
          <a:stretch/>
        </p:blipFill>
        <p:spPr>
          <a:xfrm>
            <a:off x="693720" y="1771560"/>
            <a:ext cx="150120" cy="133200"/>
          </a:xfrm>
          <a:prstGeom prst="rect">
            <a:avLst/>
          </a:prstGeom>
          <a:noFill/>
          <a:ln w="0">
            <a:noFill/>
          </a:ln>
        </p:spPr>
      </p:pic>
      <p:sp>
        <p:nvSpPr>
          <p:cNvPr id="547" name="テキスト ボックス 546"/>
          <p:cNvSpPr txBox="1"/>
          <p:nvPr/>
        </p:nvSpPr>
        <p:spPr>
          <a:xfrm>
            <a:off x="768960" y="1100880"/>
            <a:ext cx="422640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銅フタロシアニン（</a:t>
            </a:r>
            <a:r>
              <a:rPr lang="en-US" sz="1580" b="0" u="none" strike="noStrike">
                <a:solidFill>
                  <a:srgbClr val="003366"/>
                </a:solidFill>
                <a:effectLst/>
                <a:uFillTx/>
                <a:latin typeface="NotoSansJP"/>
                <a:ea typeface="NotoSansJP"/>
              </a:rPr>
              <a:t>CuPc</a:t>
            </a:r>
            <a:r>
              <a:rPr lang="zh-CN" sz="1580" b="0" u="none" strike="noStrike">
                <a:solidFill>
                  <a:srgbClr val="003366"/>
                </a:solidFill>
                <a:effectLst/>
                <a:uFillTx/>
                <a:latin typeface="NotoSansJP"/>
                <a:ea typeface="NotoSansJP"/>
              </a:rPr>
              <a:t>）センサの主要特性</a:t>
            </a:r>
            <a:endParaRPr lang="en-US" sz="1580" b="0" u="none" strike="noStrike">
              <a:solidFill>
                <a:srgbClr val="000000"/>
              </a:solidFill>
              <a:effectLst/>
              <a:uFillTx/>
              <a:latin typeface="Times New Roman"/>
            </a:endParaRPr>
          </a:p>
        </p:txBody>
      </p:sp>
      <p:sp>
        <p:nvSpPr>
          <p:cNvPr id="548" name="テキスト ボックス 547"/>
          <p:cNvSpPr txBox="1"/>
          <p:nvPr/>
        </p:nvSpPr>
        <p:spPr>
          <a:xfrm>
            <a:off x="1036080" y="1765800"/>
            <a:ext cx="1358640" cy="219960"/>
          </a:xfrm>
          <a:prstGeom prst="rect">
            <a:avLst/>
          </a:prstGeom>
          <a:noFill/>
          <a:ln w="0">
            <a:noFill/>
          </a:ln>
        </p:spPr>
        <p:txBody>
          <a:bodyPr wrap="none" lIns="0" tIns="0" rIns="0" bIns="0" anchor="t">
            <a:spAutoFit/>
          </a:bodyPr>
          <a:lstStyle/>
          <a:p>
            <a:r>
              <a:rPr lang="zh-CN" sz="1180" b="0" u="none" strike="noStrike">
                <a:solidFill>
                  <a:srgbClr val="003366"/>
                </a:solidFill>
                <a:effectLst/>
                <a:uFillTx/>
                <a:latin typeface="NotoSansJP"/>
                <a:ea typeface="NotoSansJP"/>
              </a:rPr>
              <a:t>視力低下リスク検知</a:t>
            </a:r>
            <a:endParaRPr lang="en-US" sz="1180" b="0" u="none" strike="noStrike">
              <a:solidFill>
                <a:srgbClr val="000000"/>
              </a:solidFill>
              <a:effectLst/>
              <a:uFillTx/>
              <a:latin typeface="Times New Roman"/>
            </a:endParaRPr>
          </a:p>
        </p:txBody>
      </p:sp>
      <p:sp>
        <p:nvSpPr>
          <p:cNvPr id="549" name="テキスト ボックス 548"/>
          <p:cNvSpPr txBox="1"/>
          <p:nvPr/>
        </p:nvSpPr>
        <p:spPr>
          <a:xfrm>
            <a:off x="601560" y="2140560"/>
            <a:ext cx="238068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1.2ppm</a:t>
            </a:r>
            <a:r>
              <a:rPr lang="zh-CN" sz="1050" b="0" u="none" strike="noStrike">
                <a:solidFill>
                  <a:srgbClr val="000000"/>
                </a:solidFill>
                <a:effectLst/>
                <a:uFillTx/>
                <a:latin typeface="NotoSansJP"/>
                <a:ea typeface="NotoSansJP"/>
              </a:rPr>
              <a:t>未満の</a:t>
            </a:r>
            <a:r>
              <a:rPr lang="en-US" sz="1050" b="0" u="none" strike="noStrike">
                <a:solidFill>
                  <a:srgbClr val="000000"/>
                </a:solidFill>
                <a:effectLst/>
                <a:uFillTx/>
                <a:latin typeface="NotoSansJP"/>
                <a:ea typeface="NotoSansJP"/>
              </a:rPr>
              <a:t>TMA</a:t>
            </a:r>
            <a:r>
              <a:rPr lang="zh-CN" sz="1050" b="0" u="none" strike="noStrike">
                <a:solidFill>
                  <a:srgbClr val="000000"/>
                </a:solidFill>
                <a:effectLst/>
                <a:uFillTx/>
                <a:latin typeface="NotoSansJP"/>
                <a:ea typeface="NotoSansJP"/>
              </a:rPr>
              <a:t>濃度を検知し、視</a:t>
            </a:r>
            <a:endParaRPr lang="en-US" sz="1050" b="0" u="none" strike="noStrike">
              <a:solidFill>
                <a:srgbClr val="000000"/>
              </a:solidFill>
              <a:effectLst/>
              <a:uFillTx/>
              <a:latin typeface="Times New Roman"/>
            </a:endParaRPr>
          </a:p>
        </p:txBody>
      </p:sp>
      <p:sp>
        <p:nvSpPr>
          <p:cNvPr id="550" name="フリーフォーム: 図形 549"/>
          <p:cNvSpPr/>
          <p:nvPr/>
        </p:nvSpPr>
        <p:spPr>
          <a:xfrm>
            <a:off x="3292200" y="1537560"/>
            <a:ext cx="2616120" cy="1103400"/>
          </a:xfrm>
          <a:custGeom>
            <a:avLst/>
            <a:gdLst/>
            <a:ahLst/>
            <a:cxnLst/>
            <a:rect l="0" t="0" r="r" b="b"/>
            <a:pathLst>
              <a:path w="7267" h="3065">
                <a:moveTo>
                  <a:pt x="0" y="2879"/>
                </a:moveTo>
                <a:lnTo>
                  <a:pt x="0" y="185"/>
                </a:lnTo>
                <a:cubicBezTo>
                  <a:pt x="0" y="173"/>
                  <a:pt x="2" y="161"/>
                  <a:pt x="4" y="149"/>
                </a:cubicBezTo>
                <a:cubicBezTo>
                  <a:pt x="6" y="137"/>
                  <a:pt x="10" y="126"/>
                  <a:pt x="15" y="114"/>
                </a:cubicBezTo>
                <a:cubicBezTo>
                  <a:pt x="19" y="103"/>
                  <a:pt x="25" y="92"/>
                  <a:pt x="32" y="82"/>
                </a:cubicBezTo>
                <a:cubicBezTo>
                  <a:pt x="39" y="72"/>
                  <a:pt x="46" y="63"/>
                  <a:pt x="55" y="54"/>
                </a:cubicBezTo>
                <a:cubicBezTo>
                  <a:pt x="63" y="45"/>
                  <a:pt x="73" y="38"/>
                  <a:pt x="83" y="31"/>
                </a:cubicBezTo>
                <a:cubicBezTo>
                  <a:pt x="93" y="24"/>
                  <a:pt x="104" y="19"/>
                  <a:pt x="115" y="14"/>
                </a:cubicBezTo>
                <a:cubicBezTo>
                  <a:pt x="126" y="9"/>
                  <a:pt x="138" y="6"/>
                  <a:pt x="150" y="3"/>
                </a:cubicBezTo>
                <a:cubicBezTo>
                  <a:pt x="162" y="1"/>
                  <a:pt x="174" y="0"/>
                  <a:pt x="186" y="0"/>
                </a:cubicBezTo>
                <a:lnTo>
                  <a:pt x="7081" y="0"/>
                </a:lnTo>
                <a:cubicBezTo>
                  <a:pt x="7094" y="0"/>
                  <a:pt x="7106" y="1"/>
                  <a:pt x="7118" y="3"/>
                </a:cubicBezTo>
                <a:cubicBezTo>
                  <a:pt x="7130" y="6"/>
                  <a:pt x="7141" y="9"/>
                  <a:pt x="7152" y="14"/>
                </a:cubicBezTo>
                <a:cubicBezTo>
                  <a:pt x="7164" y="19"/>
                  <a:pt x="7174" y="24"/>
                  <a:pt x="7185" y="31"/>
                </a:cubicBezTo>
                <a:cubicBezTo>
                  <a:pt x="7195" y="38"/>
                  <a:pt x="7204" y="45"/>
                  <a:pt x="7213" y="54"/>
                </a:cubicBezTo>
                <a:cubicBezTo>
                  <a:pt x="7221" y="63"/>
                  <a:pt x="7229" y="72"/>
                  <a:pt x="7236" y="82"/>
                </a:cubicBezTo>
                <a:cubicBezTo>
                  <a:pt x="7243" y="92"/>
                  <a:pt x="7248" y="103"/>
                  <a:pt x="7253" y="114"/>
                </a:cubicBezTo>
                <a:cubicBezTo>
                  <a:pt x="7258" y="126"/>
                  <a:pt x="7261" y="137"/>
                  <a:pt x="7264" y="149"/>
                </a:cubicBezTo>
                <a:cubicBezTo>
                  <a:pt x="7266" y="161"/>
                  <a:pt x="7267" y="173"/>
                  <a:pt x="7267" y="185"/>
                </a:cubicBezTo>
                <a:lnTo>
                  <a:pt x="7267" y="2879"/>
                </a:lnTo>
                <a:cubicBezTo>
                  <a:pt x="7267" y="2891"/>
                  <a:pt x="7266" y="2903"/>
                  <a:pt x="7264" y="2915"/>
                </a:cubicBezTo>
                <a:cubicBezTo>
                  <a:pt x="7261" y="2927"/>
                  <a:pt x="7258" y="2939"/>
                  <a:pt x="7253" y="2950"/>
                </a:cubicBezTo>
                <a:cubicBezTo>
                  <a:pt x="7248" y="2961"/>
                  <a:pt x="7243" y="2972"/>
                  <a:pt x="7236" y="2982"/>
                </a:cubicBezTo>
                <a:cubicBezTo>
                  <a:pt x="7229" y="2992"/>
                  <a:pt x="7221" y="3002"/>
                  <a:pt x="7213" y="3010"/>
                </a:cubicBezTo>
                <a:cubicBezTo>
                  <a:pt x="7204" y="3019"/>
                  <a:pt x="7195" y="3027"/>
                  <a:pt x="7185" y="3034"/>
                </a:cubicBezTo>
                <a:cubicBezTo>
                  <a:pt x="7174" y="3040"/>
                  <a:pt x="7164" y="3046"/>
                  <a:pt x="7152" y="3051"/>
                </a:cubicBezTo>
                <a:cubicBezTo>
                  <a:pt x="7141" y="3055"/>
                  <a:pt x="7130" y="3059"/>
                  <a:pt x="7118" y="3061"/>
                </a:cubicBezTo>
                <a:cubicBezTo>
                  <a:pt x="7106" y="3064"/>
                  <a:pt x="7094" y="3065"/>
                  <a:pt x="7081" y="3065"/>
                </a:cubicBezTo>
                <a:lnTo>
                  <a:pt x="186" y="3065"/>
                </a:lnTo>
                <a:cubicBezTo>
                  <a:pt x="174" y="3065"/>
                  <a:pt x="162" y="3064"/>
                  <a:pt x="150" y="3061"/>
                </a:cubicBezTo>
                <a:cubicBezTo>
                  <a:pt x="138" y="3059"/>
                  <a:pt x="126" y="3055"/>
                  <a:pt x="115" y="3051"/>
                </a:cubicBezTo>
                <a:cubicBezTo>
                  <a:pt x="104" y="3046"/>
                  <a:pt x="93" y="3040"/>
                  <a:pt x="83" y="3034"/>
                </a:cubicBezTo>
                <a:cubicBezTo>
                  <a:pt x="73" y="3027"/>
                  <a:pt x="63" y="3019"/>
                  <a:pt x="55" y="3010"/>
                </a:cubicBezTo>
                <a:cubicBezTo>
                  <a:pt x="46" y="3002"/>
                  <a:pt x="39" y="2992"/>
                  <a:pt x="32" y="2982"/>
                </a:cubicBezTo>
                <a:cubicBezTo>
                  <a:pt x="25" y="2972"/>
                  <a:pt x="19" y="2961"/>
                  <a:pt x="15" y="2950"/>
                </a:cubicBezTo>
                <a:cubicBezTo>
                  <a:pt x="10" y="2939"/>
                  <a:pt x="6" y="2927"/>
                  <a:pt x="4" y="2915"/>
                </a:cubicBezTo>
                <a:cubicBezTo>
                  <a:pt x="2" y="2903"/>
                  <a:pt x="0" y="2891"/>
                  <a:pt x="0" y="2879"/>
                </a:cubicBezTo>
                <a:close/>
              </a:path>
            </a:pathLst>
          </a:custGeom>
          <a:solidFill>
            <a:srgbClr val="F9FAF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51" name="フリーフォーム: 図形 550"/>
          <p:cNvSpPr/>
          <p:nvPr/>
        </p:nvSpPr>
        <p:spPr>
          <a:xfrm>
            <a:off x="3426120" y="1671120"/>
            <a:ext cx="334440" cy="334800"/>
          </a:xfrm>
          <a:custGeom>
            <a:avLst/>
            <a:gdLst/>
            <a:ahLst/>
            <a:cxnLst/>
            <a:rect l="0" t="0" r="r" b="b"/>
            <a:pathLst>
              <a:path w="929" h="930">
                <a:moveTo>
                  <a:pt x="929" y="465"/>
                </a:moveTo>
                <a:cubicBezTo>
                  <a:pt x="929" y="496"/>
                  <a:pt x="926" y="526"/>
                  <a:pt x="920" y="556"/>
                </a:cubicBezTo>
                <a:cubicBezTo>
                  <a:pt x="915" y="586"/>
                  <a:pt x="906" y="615"/>
                  <a:pt x="894" y="643"/>
                </a:cubicBezTo>
                <a:cubicBezTo>
                  <a:pt x="882" y="671"/>
                  <a:pt x="868" y="698"/>
                  <a:pt x="851" y="723"/>
                </a:cubicBezTo>
                <a:cubicBezTo>
                  <a:pt x="834" y="749"/>
                  <a:pt x="815" y="772"/>
                  <a:pt x="793" y="794"/>
                </a:cubicBezTo>
                <a:cubicBezTo>
                  <a:pt x="772" y="815"/>
                  <a:pt x="748" y="834"/>
                  <a:pt x="723" y="851"/>
                </a:cubicBezTo>
                <a:cubicBezTo>
                  <a:pt x="698" y="868"/>
                  <a:pt x="671" y="883"/>
                  <a:pt x="643" y="894"/>
                </a:cubicBezTo>
                <a:cubicBezTo>
                  <a:pt x="615" y="906"/>
                  <a:pt x="586" y="915"/>
                  <a:pt x="556" y="921"/>
                </a:cubicBezTo>
                <a:cubicBezTo>
                  <a:pt x="526" y="927"/>
                  <a:pt x="496" y="930"/>
                  <a:pt x="465" y="930"/>
                </a:cubicBezTo>
                <a:cubicBezTo>
                  <a:pt x="435" y="930"/>
                  <a:pt x="404" y="927"/>
                  <a:pt x="375" y="921"/>
                </a:cubicBezTo>
                <a:cubicBezTo>
                  <a:pt x="345" y="915"/>
                  <a:pt x="316" y="906"/>
                  <a:pt x="287" y="894"/>
                </a:cubicBezTo>
                <a:cubicBezTo>
                  <a:pt x="259" y="883"/>
                  <a:pt x="233" y="868"/>
                  <a:pt x="206" y="851"/>
                </a:cubicBezTo>
                <a:cubicBezTo>
                  <a:pt x="181" y="834"/>
                  <a:pt x="157" y="815"/>
                  <a:pt x="136" y="794"/>
                </a:cubicBezTo>
                <a:cubicBezTo>
                  <a:pt x="114" y="772"/>
                  <a:pt x="95" y="749"/>
                  <a:pt x="78" y="723"/>
                </a:cubicBezTo>
                <a:cubicBezTo>
                  <a:pt x="61" y="698"/>
                  <a:pt x="47" y="671"/>
                  <a:pt x="35" y="643"/>
                </a:cubicBezTo>
                <a:cubicBezTo>
                  <a:pt x="24" y="615"/>
                  <a:pt x="15" y="586"/>
                  <a:pt x="9" y="556"/>
                </a:cubicBezTo>
                <a:cubicBezTo>
                  <a:pt x="3" y="526"/>
                  <a:pt x="0" y="496"/>
                  <a:pt x="0" y="465"/>
                </a:cubicBezTo>
                <a:cubicBezTo>
                  <a:pt x="0" y="434"/>
                  <a:pt x="3" y="404"/>
                  <a:pt x="9" y="374"/>
                </a:cubicBezTo>
                <a:cubicBezTo>
                  <a:pt x="15" y="344"/>
                  <a:pt x="24" y="315"/>
                  <a:pt x="35" y="287"/>
                </a:cubicBezTo>
                <a:cubicBezTo>
                  <a:pt x="47" y="259"/>
                  <a:pt x="61" y="232"/>
                  <a:pt x="78" y="206"/>
                </a:cubicBezTo>
                <a:cubicBezTo>
                  <a:pt x="95" y="181"/>
                  <a:pt x="114" y="158"/>
                  <a:pt x="136" y="136"/>
                </a:cubicBezTo>
                <a:cubicBezTo>
                  <a:pt x="157" y="115"/>
                  <a:pt x="181" y="95"/>
                  <a:pt x="206" y="78"/>
                </a:cubicBezTo>
                <a:cubicBezTo>
                  <a:pt x="233" y="61"/>
                  <a:pt x="259" y="47"/>
                  <a:pt x="287" y="35"/>
                </a:cubicBezTo>
                <a:cubicBezTo>
                  <a:pt x="316" y="24"/>
                  <a:pt x="345" y="15"/>
                  <a:pt x="375" y="9"/>
                </a:cubicBezTo>
                <a:cubicBezTo>
                  <a:pt x="404" y="3"/>
                  <a:pt x="435" y="0"/>
                  <a:pt x="465" y="0"/>
                </a:cubicBezTo>
                <a:cubicBezTo>
                  <a:pt x="496" y="0"/>
                  <a:pt x="526" y="3"/>
                  <a:pt x="556" y="9"/>
                </a:cubicBezTo>
                <a:cubicBezTo>
                  <a:pt x="586" y="15"/>
                  <a:pt x="615" y="24"/>
                  <a:pt x="643" y="35"/>
                </a:cubicBezTo>
                <a:cubicBezTo>
                  <a:pt x="671" y="47"/>
                  <a:pt x="698" y="61"/>
                  <a:pt x="723" y="78"/>
                </a:cubicBezTo>
                <a:cubicBezTo>
                  <a:pt x="748" y="95"/>
                  <a:pt x="772" y="115"/>
                  <a:pt x="793" y="136"/>
                </a:cubicBezTo>
                <a:cubicBezTo>
                  <a:pt x="815" y="158"/>
                  <a:pt x="834" y="181"/>
                  <a:pt x="851" y="206"/>
                </a:cubicBezTo>
                <a:cubicBezTo>
                  <a:pt x="868" y="232"/>
                  <a:pt x="882" y="259"/>
                  <a:pt x="894" y="287"/>
                </a:cubicBezTo>
                <a:cubicBezTo>
                  <a:pt x="906" y="315"/>
                  <a:pt x="915" y="344"/>
                  <a:pt x="920" y="374"/>
                </a:cubicBezTo>
                <a:cubicBezTo>
                  <a:pt x="926" y="404"/>
                  <a:pt x="929" y="434"/>
                  <a:pt x="929" y="465"/>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552" name="図 551"/>
          <p:cNvPicPr/>
          <p:nvPr/>
        </p:nvPicPr>
        <p:blipFill>
          <a:blip r:embed="rId5"/>
          <a:stretch/>
        </p:blipFill>
        <p:spPr>
          <a:xfrm>
            <a:off x="3526560" y="1771560"/>
            <a:ext cx="133200" cy="133200"/>
          </a:xfrm>
          <a:prstGeom prst="rect">
            <a:avLst/>
          </a:prstGeom>
          <a:noFill/>
          <a:ln w="0">
            <a:noFill/>
          </a:ln>
        </p:spPr>
      </p:pic>
      <p:sp>
        <p:nvSpPr>
          <p:cNvPr id="553" name="テキスト ボックス 552"/>
          <p:cNvSpPr txBox="1"/>
          <p:nvPr/>
        </p:nvSpPr>
        <p:spPr>
          <a:xfrm>
            <a:off x="601560" y="2341080"/>
            <a:ext cx="187812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力低下リスクを事前に察知可能</a:t>
            </a:r>
            <a:endParaRPr lang="en-US" sz="1050" b="0" u="none" strike="noStrike">
              <a:solidFill>
                <a:srgbClr val="000000"/>
              </a:solidFill>
              <a:effectLst/>
              <a:uFillTx/>
              <a:latin typeface="Times New Roman"/>
            </a:endParaRPr>
          </a:p>
        </p:txBody>
      </p:sp>
      <p:sp>
        <p:nvSpPr>
          <p:cNvPr id="554" name="テキスト ボックス 553"/>
          <p:cNvSpPr txBox="1"/>
          <p:nvPr/>
        </p:nvSpPr>
        <p:spPr>
          <a:xfrm>
            <a:off x="3857760" y="1765800"/>
            <a:ext cx="453240" cy="219960"/>
          </a:xfrm>
          <a:prstGeom prst="rect">
            <a:avLst/>
          </a:prstGeom>
          <a:noFill/>
          <a:ln w="0">
            <a:noFill/>
          </a:ln>
        </p:spPr>
        <p:txBody>
          <a:bodyPr wrap="none" lIns="0" tIns="0" rIns="0" bIns="0" anchor="t">
            <a:spAutoFit/>
          </a:bodyPr>
          <a:lstStyle/>
          <a:p>
            <a:r>
              <a:rPr lang="zh-CN" sz="1180" b="0" u="none" strike="noStrike">
                <a:solidFill>
                  <a:srgbClr val="003366"/>
                </a:solidFill>
                <a:effectLst/>
                <a:uFillTx/>
                <a:latin typeface="NotoSansJP"/>
                <a:ea typeface="NotoSansJP"/>
              </a:rPr>
              <a:t>高感度</a:t>
            </a:r>
            <a:endParaRPr lang="en-US" sz="1180" b="0" u="none" strike="noStrike">
              <a:solidFill>
                <a:srgbClr val="000000"/>
              </a:solidFill>
              <a:effectLst/>
              <a:uFillTx/>
              <a:latin typeface="Times New Roman"/>
            </a:endParaRPr>
          </a:p>
        </p:txBody>
      </p:sp>
      <p:sp>
        <p:nvSpPr>
          <p:cNvPr id="555" name="テキスト ボックス 554"/>
          <p:cNvSpPr txBox="1"/>
          <p:nvPr/>
        </p:nvSpPr>
        <p:spPr>
          <a:xfrm>
            <a:off x="3423240" y="2140560"/>
            <a:ext cx="249228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0.01ppm</a:t>
            </a:r>
            <a:r>
              <a:rPr lang="zh-CN" sz="1050" b="0" u="none" strike="noStrike">
                <a:solidFill>
                  <a:srgbClr val="000000"/>
                </a:solidFill>
                <a:effectLst/>
                <a:uFillTx/>
                <a:latin typeface="NotoSansJP"/>
                <a:ea typeface="NotoSansJP"/>
              </a:rPr>
              <a:t>間隔での測定が可能で、</a:t>
            </a:r>
            <a:r>
              <a:rPr lang="en-US" sz="1050" b="0" u="none" strike="noStrike">
                <a:solidFill>
                  <a:srgbClr val="000000"/>
                </a:solidFill>
                <a:effectLst/>
                <a:uFillTx/>
                <a:latin typeface="NotoSansJP"/>
                <a:ea typeface="NotoSansJP"/>
              </a:rPr>
              <a:t>0.06-</a:t>
            </a:r>
            <a:endParaRPr lang="en-US" sz="1050" b="0" u="none" strike="noStrike">
              <a:solidFill>
                <a:srgbClr val="000000"/>
              </a:solidFill>
              <a:effectLst/>
              <a:uFillTx/>
              <a:latin typeface="Times New Roman"/>
            </a:endParaRPr>
          </a:p>
        </p:txBody>
      </p:sp>
      <p:sp>
        <p:nvSpPr>
          <p:cNvPr id="556" name="フリーフォーム: 図形 555"/>
          <p:cNvSpPr/>
          <p:nvPr/>
        </p:nvSpPr>
        <p:spPr>
          <a:xfrm>
            <a:off x="467640" y="2841120"/>
            <a:ext cx="2624400" cy="1103400"/>
          </a:xfrm>
          <a:custGeom>
            <a:avLst/>
            <a:gdLst/>
            <a:ahLst/>
            <a:cxnLst/>
            <a:rect l="0" t="0" r="r" b="b"/>
            <a:pathLst>
              <a:path w="7290" h="3065">
                <a:moveTo>
                  <a:pt x="0" y="2879"/>
                </a:moveTo>
                <a:lnTo>
                  <a:pt x="0" y="186"/>
                </a:lnTo>
                <a:cubicBezTo>
                  <a:pt x="0" y="173"/>
                  <a:pt x="2" y="161"/>
                  <a:pt x="4" y="149"/>
                </a:cubicBezTo>
                <a:cubicBezTo>
                  <a:pt x="6" y="137"/>
                  <a:pt x="10" y="126"/>
                  <a:pt x="15" y="115"/>
                </a:cubicBezTo>
                <a:cubicBezTo>
                  <a:pt x="19" y="103"/>
                  <a:pt x="25" y="93"/>
                  <a:pt x="32" y="82"/>
                </a:cubicBezTo>
                <a:cubicBezTo>
                  <a:pt x="39"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7105" y="0"/>
                </a:lnTo>
                <a:cubicBezTo>
                  <a:pt x="7117" y="0"/>
                  <a:pt x="7129" y="1"/>
                  <a:pt x="7141" y="4"/>
                </a:cubicBezTo>
                <a:cubicBezTo>
                  <a:pt x="7153" y="6"/>
                  <a:pt x="7164" y="9"/>
                  <a:pt x="7176" y="14"/>
                </a:cubicBezTo>
                <a:cubicBezTo>
                  <a:pt x="7187" y="19"/>
                  <a:pt x="7198" y="24"/>
                  <a:pt x="7208" y="31"/>
                </a:cubicBezTo>
                <a:cubicBezTo>
                  <a:pt x="7218" y="38"/>
                  <a:pt x="7227" y="46"/>
                  <a:pt x="7236" y="54"/>
                </a:cubicBezTo>
                <a:cubicBezTo>
                  <a:pt x="7245" y="63"/>
                  <a:pt x="7252" y="72"/>
                  <a:pt x="7259" y="82"/>
                </a:cubicBezTo>
                <a:cubicBezTo>
                  <a:pt x="7266" y="93"/>
                  <a:pt x="7272" y="103"/>
                  <a:pt x="7276" y="115"/>
                </a:cubicBezTo>
                <a:cubicBezTo>
                  <a:pt x="7281" y="126"/>
                  <a:pt x="7284" y="137"/>
                  <a:pt x="7287" y="149"/>
                </a:cubicBezTo>
                <a:cubicBezTo>
                  <a:pt x="7289" y="161"/>
                  <a:pt x="7290" y="173"/>
                  <a:pt x="7290" y="186"/>
                </a:cubicBezTo>
                <a:lnTo>
                  <a:pt x="7290" y="2879"/>
                </a:lnTo>
                <a:cubicBezTo>
                  <a:pt x="7290" y="2892"/>
                  <a:pt x="7289" y="2904"/>
                  <a:pt x="7287" y="2916"/>
                </a:cubicBezTo>
                <a:cubicBezTo>
                  <a:pt x="7284" y="2928"/>
                  <a:pt x="7281" y="2939"/>
                  <a:pt x="7276" y="2950"/>
                </a:cubicBezTo>
                <a:cubicBezTo>
                  <a:pt x="7272" y="2962"/>
                  <a:pt x="7266" y="2972"/>
                  <a:pt x="7259" y="2983"/>
                </a:cubicBezTo>
                <a:cubicBezTo>
                  <a:pt x="7252" y="2993"/>
                  <a:pt x="7245" y="3002"/>
                  <a:pt x="7236" y="3011"/>
                </a:cubicBezTo>
                <a:cubicBezTo>
                  <a:pt x="7227" y="3019"/>
                  <a:pt x="7218" y="3027"/>
                  <a:pt x="7208" y="3034"/>
                </a:cubicBezTo>
                <a:cubicBezTo>
                  <a:pt x="7198" y="3041"/>
                  <a:pt x="7187" y="3046"/>
                  <a:pt x="7176" y="3051"/>
                </a:cubicBezTo>
                <a:cubicBezTo>
                  <a:pt x="7164" y="3056"/>
                  <a:pt x="7153" y="3059"/>
                  <a:pt x="7141" y="3061"/>
                </a:cubicBezTo>
                <a:cubicBezTo>
                  <a:pt x="7129" y="3064"/>
                  <a:pt x="7117" y="3065"/>
                  <a:pt x="7105" y="3065"/>
                </a:cubicBezTo>
                <a:lnTo>
                  <a:pt x="186" y="3065"/>
                </a:lnTo>
                <a:cubicBezTo>
                  <a:pt x="174" y="3065"/>
                  <a:pt x="162" y="3064"/>
                  <a:pt x="150" y="3061"/>
                </a:cubicBezTo>
                <a:cubicBezTo>
                  <a:pt x="138" y="3059"/>
                  <a:pt x="126" y="3056"/>
                  <a:pt x="115" y="3051"/>
                </a:cubicBezTo>
                <a:cubicBezTo>
                  <a:pt x="104" y="3046"/>
                  <a:pt x="93" y="3041"/>
                  <a:pt x="83" y="3034"/>
                </a:cubicBezTo>
                <a:cubicBezTo>
                  <a:pt x="73" y="3027"/>
                  <a:pt x="63" y="3019"/>
                  <a:pt x="55" y="3011"/>
                </a:cubicBezTo>
                <a:cubicBezTo>
                  <a:pt x="46" y="3002"/>
                  <a:pt x="39" y="2993"/>
                  <a:pt x="32" y="2983"/>
                </a:cubicBezTo>
                <a:cubicBezTo>
                  <a:pt x="25" y="2972"/>
                  <a:pt x="19" y="2962"/>
                  <a:pt x="15" y="2950"/>
                </a:cubicBezTo>
                <a:cubicBezTo>
                  <a:pt x="10" y="2939"/>
                  <a:pt x="6" y="2928"/>
                  <a:pt x="4" y="2916"/>
                </a:cubicBezTo>
                <a:cubicBezTo>
                  <a:pt x="2" y="2904"/>
                  <a:pt x="0" y="2892"/>
                  <a:pt x="0" y="2879"/>
                </a:cubicBezTo>
                <a:close/>
              </a:path>
            </a:pathLst>
          </a:custGeom>
          <a:solidFill>
            <a:srgbClr val="F9FAF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57" name="フリーフォーム: 図形 556"/>
          <p:cNvSpPr/>
          <p:nvPr/>
        </p:nvSpPr>
        <p:spPr>
          <a:xfrm>
            <a:off x="601560" y="2974680"/>
            <a:ext cx="334440" cy="334800"/>
          </a:xfrm>
          <a:custGeom>
            <a:avLst/>
            <a:gdLst/>
            <a:ahLst/>
            <a:cxnLst/>
            <a:rect l="0" t="0" r="r" b="b"/>
            <a:pathLst>
              <a:path w="929" h="930">
                <a:moveTo>
                  <a:pt x="929" y="465"/>
                </a:moveTo>
                <a:cubicBezTo>
                  <a:pt x="929" y="495"/>
                  <a:pt x="926" y="525"/>
                  <a:pt x="920" y="556"/>
                </a:cubicBezTo>
                <a:cubicBezTo>
                  <a:pt x="914" y="586"/>
                  <a:pt x="906" y="615"/>
                  <a:pt x="894" y="643"/>
                </a:cubicBezTo>
                <a:cubicBezTo>
                  <a:pt x="882" y="671"/>
                  <a:pt x="868" y="698"/>
                  <a:pt x="851" y="724"/>
                </a:cubicBezTo>
                <a:cubicBezTo>
                  <a:pt x="834" y="749"/>
                  <a:pt x="815" y="772"/>
                  <a:pt x="793" y="794"/>
                </a:cubicBezTo>
                <a:cubicBezTo>
                  <a:pt x="772" y="815"/>
                  <a:pt x="748" y="835"/>
                  <a:pt x="723" y="852"/>
                </a:cubicBezTo>
                <a:cubicBezTo>
                  <a:pt x="698" y="869"/>
                  <a:pt x="671" y="883"/>
                  <a:pt x="642" y="895"/>
                </a:cubicBezTo>
                <a:cubicBezTo>
                  <a:pt x="614" y="906"/>
                  <a:pt x="585" y="915"/>
                  <a:pt x="555" y="921"/>
                </a:cubicBezTo>
                <a:cubicBezTo>
                  <a:pt x="525" y="927"/>
                  <a:pt x="495" y="930"/>
                  <a:pt x="464" y="930"/>
                </a:cubicBezTo>
                <a:cubicBezTo>
                  <a:pt x="434" y="930"/>
                  <a:pt x="403" y="927"/>
                  <a:pt x="374" y="921"/>
                </a:cubicBezTo>
                <a:cubicBezTo>
                  <a:pt x="344" y="915"/>
                  <a:pt x="315" y="906"/>
                  <a:pt x="286" y="895"/>
                </a:cubicBezTo>
                <a:cubicBezTo>
                  <a:pt x="258" y="883"/>
                  <a:pt x="232" y="869"/>
                  <a:pt x="206" y="852"/>
                </a:cubicBezTo>
                <a:cubicBezTo>
                  <a:pt x="181" y="835"/>
                  <a:pt x="157" y="815"/>
                  <a:pt x="136" y="794"/>
                </a:cubicBezTo>
                <a:cubicBezTo>
                  <a:pt x="114" y="772"/>
                  <a:pt x="95" y="749"/>
                  <a:pt x="78" y="724"/>
                </a:cubicBezTo>
                <a:cubicBezTo>
                  <a:pt x="61" y="698"/>
                  <a:pt x="47" y="671"/>
                  <a:pt x="35" y="643"/>
                </a:cubicBezTo>
                <a:cubicBezTo>
                  <a:pt x="24" y="615"/>
                  <a:pt x="15" y="586"/>
                  <a:pt x="9" y="556"/>
                </a:cubicBezTo>
                <a:cubicBezTo>
                  <a:pt x="3" y="525"/>
                  <a:pt x="0" y="495"/>
                  <a:pt x="0" y="465"/>
                </a:cubicBezTo>
                <a:cubicBezTo>
                  <a:pt x="0" y="434"/>
                  <a:pt x="3" y="404"/>
                  <a:pt x="9" y="374"/>
                </a:cubicBezTo>
                <a:cubicBezTo>
                  <a:pt x="15" y="344"/>
                  <a:pt x="24" y="315"/>
                  <a:pt x="35" y="287"/>
                </a:cubicBezTo>
                <a:cubicBezTo>
                  <a:pt x="47" y="259"/>
                  <a:pt x="61" y="232"/>
                  <a:pt x="78" y="207"/>
                </a:cubicBezTo>
                <a:cubicBezTo>
                  <a:pt x="95" y="181"/>
                  <a:pt x="114" y="158"/>
                  <a:pt x="136" y="136"/>
                </a:cubicBezTo>
                <a:cubicBezTo>
                  <a:pt x="157" y="115"/>
                  <a:pt x="181" y="96"/>
                  <a:pt x="206" y="79"/>
                </a:cubicBezTo>
                <a:cubicBezTo>
                  <a:pt x="232" y="62"/>
                  <a:pt x="258" y="47"/>
                  <a:pt x="286" y="36"/>
                </a:cubicBezTo>
                <a:cubicBezTo>
                  <a:pt x="315" y="24"/>
                  <a:pt x="344" y="15"/>
                  <a:pt x="374" y="9"/>
                </a:cubicBezTo>
                <a:cubicBezTo>
                  <a:pt x="403" y="3"/>
                  <a:pt x="434" y="0"/>
                  <a:pt x="464" y="0"/>
                </a:cubicBezTo>
                <a:cubicBezTo>
                  <a:pt x="495" y="0"/>
                  <a:pt x="525" y="3"/>
                  <a:pt x="555" y="9"/>
                </a:cubicBezTo>
                <a:cubicBezTo>
                  <a:pt x="585" y="15"/>
                  <a:pt x="614" y="24"/>
                  <a:pt x="642" y="36"/>
                </a:cubicBezTo>
                <a:cubicBezTo>
                  <a:pt x="671" y="47"/>
                  <a:pt x="698" y="62"/>
                  <a:pt x="723" y="79"/>
                </a:cubicBezTo>
                <a:cubicBezTo>
                  <a:pt x="748" y="96"/>
                  <a:pt x="772" y="115"/>
                  <a:pt x="793" y="136"/>
                </a:cubicBezTo>
                <a:cubicBezTo>
                  <a:pt x="815" y="158"/>
                  <a:pt x="834" y="181"/>
                  <a:pt x="851" y="207"/>
                </a:cubicBezTo>
                <a:cubicBezTo>
                  <a:pt x="868" y="232"/>
                  <a:pt x="882" y="259"/>
                  <a:pt x="894" y="287"/>
                </a:cubicBezTo>
                <a:cubicBezTo>
                  <a:pt x="906" y="315"/>
                  <a:pt x="914" y="344"/>
                  <a:pt x="920" y="374"/>
                </a:cubicBezTo>
                <a:cubicBezTo>
                  <a:pt x="926" y="404"/>
                  <a:pt x="929" y="434"/>
                  <a:pt x="929" y="465"/>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558" name="図 557"/>
          <p:cNvPicPr/>
          <p:nvPr/>
        </p:nvPicPr>
        <p:blipFill>
          <a:blip r:embed="rId6"/>
          <a:stretch/>
        </p:blipFill>
        <p:spPr>
          <a:xfrm>
            <a:off x="702000" y="3075120"/>
            <a:ext cx="133200" cy="133200"/>
          </a:xfrm>
          <a:prstGeom prst="rect">
            <a:avLst/>
          </a:prstGeom>
          <a:noFill/>
          <a:ln w="0">
            <a:noFill/>
          </a:ln>
        </p:spPr>
      </p:pic>
      <p:sp>
        <p:nvSpPr>
          <p:cNvPr id="559" name="テキスト ボックス 558"/>
          <p:cNvSpPr txBox="1"/>
          <p:nvPr/>
        </p:nvSpPr>
        <p:spPr>
          <a:xfrm>
            <a:off x="3423240" y="2341080"/>
            <a:ext cx="202140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0.1ppm</a:t>
            </a:r>
            <a:r>
              <a:rPr lang="zh-CN" sz="1050" b="0" u="none" strike="noStrike">
                <a:solidFill>
                  <a:srgbClr val="000000"/>
                </a:solidFill>
                <a:effectLst/>
                <a:uFillTx/>
                <a:latin typeface="NotoSansJP"/>
                <a:ea typeface="NotoSansJP"/>
              </a:rPr>
              <a:t>の低濃度範囲でも高精度</a:t>
            </a:r>
            <a:endParaRPr lang="en-US" sz="1050" b="0" u="none" strike="noStrike">
              <a:solidFill>
                <a:srgbClr val="000000"/>
              </a:solidFill>
              <a:effectLst/>
              <a:uFillTx/>
              <a:latin typeface="Times New Roman"/>
            </a:endParaRPr>
          </a:p>
        </p:txBody>
      </p:sp>
      <p:sp>
        <p:nvSpPr>
          <p:cNvPr id="560" name="テキスト ボックス 559"/>
          <p:cNvSpPr txBox="1"/>
          <p:nvPr/>
        </p:nvSpPr>
        <p:spPr>
          <a:xfrm>
            <a:off x="1036080" y="3069360"/>
            <a:ext cx="755280" cy="219960"/>
          </a:xfrm>
          <a:prstGeom prst="rect">
            <a:avLst/>
          </a:prstGeom>
          <a:noFill/>
          <a:ln w="0">
            <a:noFill/>
          </a:ln>
        </p:spPr>
        <p:txBody>
          <a:bodyPr wrap="none" lIns="0" tIns="0" rIns="0" bIns="0" anchor="t">
            <a:spAutoFit/>
          </a:bodyPr>
          <a:lstStyle/>
          <a:p>
            <a:r>
              <a:rPr lang="zh-CN" sz="1180" b="0" u="none" strike="noStrike">
                <a:solidFill>
                  <a:srgbClr val="003366"/>
                </a:solidFill>
                <a:effectLst/>
                <a:uFillTx/>
                <a:latin typeface="NotoSansJP"/>
                <a:ea typeface="NotoSansJP"/>
              </a:rPr>
              <a:t>高い再現性</a:t>
            </a:r>
            <a:endParaRPr lang="en-US" sz="1180" b="0" u="none" strike="noStrike">
              <a:solidFill>
                <a:srgbClr val="000000"/>
              </a:solidFill>
              <a:effectLst/>
              <a:uFillTx/>
              <a:latin typeface="Times New Roman"/>
            </a:endParaRPr>
          </a:p>
        </p:txBody>
      </p:sp>
      <p:sp>
        <p:nvSpPr>
          <p:cNvPr id="561" name="フリーフォーム: 図形 560"/>
          <p:cNvSpPr/>
          <p:nvPr/>
        </p:nvSpPr>
        <p:spPr>
          <a:xfrm>
            <a:off x="3292200" y="2841120"/>
            <a:ext cx="2616120" cy="1103400"/>
          </a:xfrm>
          <a:custGeom>
            <a:avLst/>
            <a:gdLst/>
            <a:ahLst/>
            <a:cxnLst/>
            <a:rect l="0" t="0" r="r" b="b"/>
            <a:pathLst>
              <a:path w="7267" h="3065">
                <a:moveTo>
                  <a:pt x="0" y="2879"/>
                </a:moveTo>
                <a:lnTo>
                  <a:pt x="0" y="186"/>
                </a:lnTo>
                <a:cubicBezTo>
                  <a:pt x="0" y="173"/>
                  <a:pt x="2" y="161"/>
                  <a:pt x="4" y="149"/>
                </a:cubicBezTo>
                <a:cubicBezTo>
                  <a:pt x="6" y="137"/>
                  <a:pt x="10" y="126"/>
                  <a:pt x="15" y="115"/>
                </a:cubicBezTo>
                <a:cubicBezTo>
                  <a:pt x="19" y="103"/>
                  <a:pt x="25" y="93"/>
                  <a:pt x="32" y="82"/>
                </a:cubicBezTo>
                <a:cubicBezTo>
                  <a:pt x="39"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7081" y="0"/>
                </a:lnTo>
                <a:cubicBezTo>
                  <a:pt x="7094" y="0"/>
                  <a:pt x="7106" y="1"/>
                  <a:pt x="7118" y="4"/>
                </a:cubicBezTo>
                <a:cubicBezTo>
                  <a:pt x="7130" y="6"/>
                  <a:pt x="7141" y="9"/>
                  <a:pt x="7152" y="14"/>
                </a:cubicBezTo>
                <a:cubicBezTo>
                  <a:pt x="7164" y="19"/>
                  <a:pt x="7174" y="24"/>
                  <a:pt x="7185" y="31"/>
                </a:cubicBezTo>
                <a:cubicBezTo>
                  <a:pt x="7195" y="38"/>
                  <a:pt x="7204" y="46"/>
                  <a:pt x="7213" y="54"/>
                </a:cubicBezTo>
                <a:cubicBezTo>
                  <a:pt x="7221" y="63"/>
                  <a:pt x="7229" y="72"/>
                  <a:pt x="7236" y="82"/>
                </a:cubicBezTo>
                <a:cubicBezTo>
                  <a:pt x="7243" y="93"/>
                  <a:pt x="7248" y="103"/>
                  <a:pt x="7253" y="115"/>
                </a:cubicBezTo>
                <a:cubicBezTo>
                  <a:pt x="7258" y="126"/>
                  <a:pt x="7261" y="137"/>
                  <a:pt x="7264" y="149"/>
                </a:cubicBezTo>
                <a:cubicBezTo>
                  <a:pt x="7266" y="161"/>
                  <a:pt x="7267" y="173"/>
                  <a:pt x="7267" y="186"/>
                </a:cubicBezTo>
                <a:lnTo>
                  <a:pt x="7267" y="2879"/>
                </a:lnTo>
                <a:cubicBezTo>
                  <a:pt x="7267" y="2892"/>
                  <a:pt x="7266" y="2904"/>
                  <a:pt x="7264" y="2916"/>
                </a:cubicBezTo>
                <a:cubicBezTo>
                  <a:pt x="7261" y="2928"/>
                  <a:pt x="7258" y="2939"/>
                  <a:pt x="7253" y="2950"/>
                </a:cubicBezTo>
                <a:cubicBezTo>
                  <a:pt x="7248" y="2962"/>
                  <a:pt x="7243" y="2972"/>
                  <a:pt x="7236" y="2983"/>
                </a:cubicBezTo>
                <a:cubicBezTo>
                  <a:pt x="7229" y="2993"/>
                  <a:pt x="7221" y="3002"/>
                  <a:pt x="7213" y="3011"/>
                </a:cubicBezTo>
                <a:cubicBezTo>
                  <a:pt x="7204" y="3019"/>
                  <a:pt x="7195" y="3027"/>
                  <a:pt x="7185" y="3034"/>
                </a:cubicBezTo>
                <a:cubicBezTo>
                  <a:pt x="7174" y="3041"/>
                  <a:pt x="7164" y="3046"/>
                  <a:pt x="7152" y="3051"/>
                </a:cubicBezTo>
                <a:cubicBezTo>
                  <a:pt x="7141" y="3056"/>
                  <a:pt x="7130" y="3059"/>
                  <a:pt x="7118" y="3061"/>
                </a:cubicBezTo>
                <a:cubicBezTo>
                  <a:pt x="7106" y="3064"/>
                  <a:pt x="7094" y="3065"/>
                  <a:pt x="7081" y="3065"/>
                </a:cubicBezTo>
                <a:lnTo>
                  <a:pt x="186" y="3065"/>
                </a:lnTo>
                <a:cubicBezTo>
                  <a:pt x="174" y="3065"/>
                  <a:pt x="162" y="3064"/>
                  <a:pt x="150" y="3061"/>
                </a:cubicBezTo>
                <a:cubicBezTo>
                  <a:pt x="138" y="3059"/>
                  <a:pt x="126" y="3056"/>
                  <a:pt x="115" y="3051"/>
                </a:cubicBezTo>
                <a:cubicBezTo>
                  <a:pt x="104" y="3046"/>
                  <a:pt x="93" y="3041"/>
                  <a:pt x="83" y="3034"/>
                </a:cubicBezTo>
                <a:cubicBezTo>
                  <a:pt x="73" y="3027"/>
                  <a:pt x="63" y="3019"/>
                  <a:pt x="55" y="3011"/>
                </a:cubicBezTo>
                <a:cubicBezTo>
                  <a:pt x="46" y="3002"/>
                  <a:pt x="39" y="2993"/>
                  <a:pt x="32" y="2983"/>
                </a:cubicBezTo>
                <a:cubicBezTo>
                  <a:pt x="25" y="2972"/>
                  <a:pt x="19" y="2962"/>
                  <a:pt x="15" y="2950"/>
                </a:cubicBezTo>
                <a:cubicBezTo>
                  <a:pt x="10" y="2939"/>
                  <a:pt x="6" y="2928"/>
                  <a:pt x="4" y="2916"/>
                </a:cubicBezTo>
                <a:cubicBezTo>
                  <a:pt x="2" y="2904"/>
                  <a:pt x="0" y="2892"/>
                  <a:pt x="0" y="2879"/>
                </a:cubicBezTo>
                <a:close/>
              </a:path>
            </a:pathLst>
          </a:custGeom>
          <a:solidFill>
            <a:srgbClr val="F9FAF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2" name="フリーフォーム: 図形 561"/>
          <p:cNvSpPr/>
          <p:nvPr/>
        </p:nvSpPr>
        <p:spPr>
          <a:xfrm>
            <a:off x="3426120" y="2974680"/>
            <a:ext cx="334440" cy="334800"/>
          </a:xfrm>
          <a:custGeom>
            <a:avLst/>
            <a:gdLst/>
            <a:ahLst/>
            <a:cxnLst/>
            <a:rect l="0" t="0" r="r" b="b"/>
            <a:pathLst>
              <a:path w="929" h="930">
                <a:moveTo>
                  <a:pt x="929" y="465"/>
                </a:moveTo>
                <a:cubicBezTo>
                  <a:pt x="929" y="495"/>
                  <a:pt x="926" y="525"/>
                  <a:pt x="920" y="556"/>
                </a:cubicBezTo>
                <a:cubicBezTo>
                  <a:pt x="915" y="586"/>
                  <a:pt x="906" y="615"/>
                  <a:pt x="894" y="643"/>
                </a:cubicBezTo>
                <a:cubicBezTo>
                  <a:pt x="882" y="671"/>
                  <a:pt x="868" y="698"/>
                  <a:pt x="851" y="724"/>
                </a:cubicBezTo>
                <a:cubicBezTo>
                  <a:pt x="834" y="749"/>
                  <a:pt x="815" y="772"/>
                  <a:pt x="793" y="794"/>
                </a:cubicBezTo>
                <a:cubicBezTo>
                  <a:pt x="772" y="815"/>
                  <a:pt x="748" y="835"/>
                  <a:pt x="723" y="852"/>
                </a:cubicBezTo>
                <a:cubicBezTo>
                  <a:pt x="698" y="869"/>
                  <a:pt x="671" y="883"/>
                  <a:pt x="643" y="895"/>
                </a:cubicBezTo>
                <a:cubicBezTo>
                  <a:pt x="615" y="906"/>
                  <a:pt x="586" y="915"/>
                  <a:pt x="556" y="921"/>
                </a:cubicBezTo>
                <a:cubicBezTo>
                  <a:pt x="526" y="927"/>
                  <a:pt x="496" y="930"/>
                  <a:pt x="465" y="930"/>
                </a:cubicBezTo>
                <a:cubicBezTo>
                  <a:pt x="435" y="930"/>
                  <a:pt x="404" y="927"/>
                  <a:pt x="375" y="921"/>
                </a:cubicBezTo>
                <a:cubicBezTo>
                  <a:pt x="345" y="915"/>
                  <a:pt x="316" y="906"/>
                  <a:pt x="287" y="895"/>
                </a:cubicBezTo>
                <a:cubicBezTo>
                  <a:pt x="259" y="883"/>
                  <a:pt x="233" y="869"/>
                  <a:pt x="206" y="852"/>
                </a:cubicBezTo>
                <a:cubicBezTo>
                  <a:pt x="181" y="835"/>
                  <a:pt x="157" y="815"/>
                  <a:pt x="136" y="794"/>
                </a:cubicBezTo>
                <a:cubicBezTo>
                  <a:pt x="114" y="772"/>
                  <a:pt x="95" y="749"/>
                  <a:pt x="78" y="724"/>
                </a:cubicBezTo>
                <a:cubicBezTo>
                  <a:pt x="61" y="698"/>
                  <a:pt x="47" y="671"/>
                  <a:pt x="35" y="643"/>
                </a:cubicBezTo>
                <a:cubicBezTo>
                  <a:pt x="24" y="615"/>
                  <a:pt x="15" y="586"/>
                  <a:pt x="9" y="556"/>
                </a:cubicBezTo>
                <a:cubicBezTo>
                  <a:pt x="3" y="525"/>
                  <a:pt x="0" y="495"/>
                  <a:pt x="0" y="465"/>
                </a:cubicBezTo>
                <a:cubicBezTo>
                  <a:pt x="0" y="434"/>
                  <a:pt x="3" y="404"/>
                  <a:pt x="9" y="374"/>
                </a:cubicBezTo>
                <a:cubicBezTo>
                  <a:pt x="15" y="344"/>
                  <a:pt x="24" y="315"/>
                  <a:pt x="35" y="287"/>
                </a:cubicBezTo>
                <a:cubicBezTo>
                  <a:pt x="47" y="259"/>
                  <a:pt x="61" y="232"/>
                  <a:pt x="78" y="207"/>
                </a:cubicBezTo>
                <a:cubicBezTo>
                  <a:pt x="95" y="181"/>
                  <a:pt x="114" y="158"/>
                  <a:pt x="136" y="136"/>
                </a:cubicBezTo>
                <a:cubicBezTo>
                  <a:pt x="157" y="115"/>
                  <a:pt x="181" y="96"/>
                  <a:pt x="206" y="79"/>
                </a:cubicBezTo>
                <a:cubicBezTo>
                  <a:pt x="233" y="62"/>
                  <a:pt x="259" y="47"/>
                  <a:pt x="287" y="36"/>
                </a:cubicBezTo>
                <a:cubicBezTo>
                  <a:pt x="316" y="24"/>
                  <a:pt x="345" y="15"/>
                  <a:pt x="375" y="9"/>
                </a:cubicBezTo>
                <a:cubicBezTo>
                  <a:pt x="404" y="3"/>
                  <a:pt x="435" y="0"/>
                  <a:pt x="465" y="0"/>
                </a:cubicBezTo>
                <a:cubicBezTo>
                  <a:pt x="496" y="0"/>
                  <a:pt x="526" y="3"/>
                  <a:pt x="556" y="9"/>
                </a:cubicBezTo>
                <a:cubicBezTo>
                  <a:pt x="586" y="15"/>
                  <a:pt x="615" y="24"/>
                  <a:pt x="643" y="36"/>
                </a:cubicBezTo>
                <a:cubicBezTo>
                  <a:pt x="671" y="47"/>
                  <a:pt x="698" y="62"/>
                  <a:pt x="723" y="79"/>
                </a:cubicBezTo>
                <a:cubicBezTo>
                  <a:pt x="748" y="96"/>
                  <a:pt x="772" y="115"/>
                  <a:pt x="793" y="136"/>
                </a:cubicBezTo>
                <a:cubicBezTo>
                  <a:pt x="815" y="158"/>
                  <a:pt x="834" y="181"/>
                  <a:pt x="851" y="207"/>
                </a:cubicBezTo>
                <a:cubicBezTo>
                  <a:pt x="868" y="232"/>
                  <a:pt x="882" y="259"/>
                  <a:pt x="894" y="287"/>
                </a:cubicBezTo>
                <a:cubicBezTo>
                  <a:pt x="906" y="315"/>
                  <a:pt x="915" y="344"/>
                  <a:pt x="920" y="374"/>
                </a:cubicBezTo>
                <a:cubicBezTo>
                  <a:pt x="926" y="404"/>
                  <a:pt x="929" y="434"/>
                  <a:pt x="929" y="465"/>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563" name="図 562"/>
          <p:cNvPicPr/>
          <p:nvPr/>
        </p:nvPicPr>
        <p:blipFill>
          <a:blip r:embed="rId7"/>
          <a:stretch/>
        </p:blipFill>
        <p:spPr>
          <a:xfrm>
            <a:off x="3526560" y="3075120"/>
            <a:ext cx="133200" cy="133200"/>
          </a:xfrm>
          <a:prstGeom prst="rect">
            <a:avLst/>
          </a:prstGeom>
          <a:noFill/>
          <a:ln w="0">
            <a:noFill/>
          </a:ln>
        </p:spPr>
      </p:pic>
      <p:sp>
        <p:nvSpPr>
          <p:cNvPr id="564" name="テキスト ボックス 563"/>
          <p:cNvSpPr txBox="1"/>
          <p:nvPr/>
        </p:nvSpPr>
        <p:spPr>
          <a:xfrm>
            <a:off x="601560" y="3444120"/>
            <a:ext cx="22950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標準偏差</a:t>
            </a:r>
            <a:r>
              <a:rPr lang="en-US" sz="1050" b="0" u="none" strike="noStrike">
                <a:solidFill>
                  <a:srgbClr val="000000"/>
                </a:solidFill>
                <a:effectLst/>
                <a:uFillTx/>
                <a:latin typeface="NotoSansJP"/>
                <a:ea typeface="NotoSansJP"/>
              </a:rPr>
              <a:t>5%</a:t>
            </a:r>
            <a:r>
              <a:rPr lang="zh-CN" sz="1050" b="0" u="none" strike="noStrike">
                <a:solidFill>
                  <a:srgbClr val="000000"/>
                </a:solidFill>
                <a:effectLst/>
                <a:uFillTx/>
                <a:latin typeface="NotoSansJP"/>
                <a:ea typeface="NotoSansJP"/>
              </a:rPr>
              <a:t>以内の高い再現性を実現</a:t>
            </a:r>
            <a:endParaRPr lang="en-US" sz="1050" b="0" u="none" strike="noStrike">
              <a:solidFill>
                <a:srgbClr val="000000"/>
              </a:solidFill>
              <a:effectLst/>
              <a:uFillTx/>
              <a:latin typeface="Times New Roman"/>
            </a:endParaRPr>
          </a:p>
        </p:txBody>
      </p:sp>
      <p:sp>
        <p:nvSpPr>
          <p:cNvPr id="565" name="テキスト ボックス 564"/>
          <p:cNvSpPr txBox="1"/>
          <p:nvPr/>
        </p:nvSpPr>
        <p:spPr>
          <a:xfrm>
            <a:off x="3857760" y="3069360"/>
            <a:ext cx="302400" cy="219960"/>
          </a:xfrm>
          <a:prstGeom prst="rect">
            <a:avLst/>
          </a:prstGeom>
          <a:noFill/>
          <a:ln w="0">
            <a:noFill/>
          </a:ln>
        </p:spPr>
        <p:txBody>
          <a:bodyPr wrap="none" lIns="0" tIns="0" rIns="0" bIns="0" anchor="t">
            <a:spAutoFit/>
          </a:bodyPr>
          <a:lstStyle/>
          <a:p>
            <a:r>
              <a:rPr lang="zh-CN" sz="1180" b="0" u="none" strike="noStrike">
                <a:solidFill>
                  <a:srgbClr val="003366"/>
                </a:solidFill>
                <a:effectLst/>
                <a:uFillTx/>
                <a:latin typeface="NotoSansJP"/>
                <a:ea typeface="NotoSansJP"/>
              </a:rPr>
              <a:t>構造</a:t>
            </a:r>
            <a:endParaRPr lang="en-US" sz="1180" b="0" u="none" strike="noStrike">
              <a:solidFill>
                <a:srgbClr val="000000"/>
              </a:solidFill>
              <a:effectLst/>
              <a:uFillTx/>
              <a:latin typeface="Times New Roman"/>
            </a:endParaRPr>
          </a:p>
        </p:txBody>
      </p:sp>
      <p:sp>
        <p:nvSpPr>
          <p:cNvPr id="566" name="テキスト ボックス 565"/>
          <p:cNvSpPr txBox="1"/>
          <p:nvPr/>
        </p:nvSpPr>
        <p:spPr>
          <a:xfrm>
            <a:off x="3423240" y="3444120"/>
            <a:ext cx="20124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くし形電極上に銅フタロシアニン</a:t>
            </a:r>
            <a:endParaRPr lang="en-US" sz="1050" b="0" u="none" strike="noStrike">
              <a:solidFill>
                <a:srgbClr val="000000"/>
              </a:solidFill>
              <a:effectLst/>
              <a:uFillTx/>
              <a:latin typeface="Times New Roman"/>
            </a:endParaRPr>
          </a:p>
        </p:txBody>
      </p:sp>
      <p:sp>
        <p:nvSpPr>
          <p:cNvPr id="567" name="フリーフォーム: 図形 566"/>
          <p:cNvSpPr/>
          <p:nvPr/>
        </p:nvSpPr>
        <p:spPr>
          <a:xfrm>
            <a:off x="6309000" y="869040"/>
            <a:ext cx="4120200" cy="2766240"/>
          </a:xfrm>
          <a:custGeom>
            <a:avLst/>
            <a:gdLst/>
            <a:ahLst/>
            <a:cxnLst/>
            <a:rect l="0" t="0" r="r" b="b"/>
            <a:pathLst>
              <a:path w="11445" h="7684">
                <a:moveTo>
                  <a:pt x="0" y="7498"/>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1260" y="0"/>
                </a:lnTo>
                <a:cubicBezTo>
                  <a:pt x="11272" y="0"/>
                  <a:pt x="11284" y="1"/>
                  <a:pt x="11296" y="3"/>
                </a:cubicBezTo>
                <a:cubicBezTo>
                  <a:pt x="11308" y="6"/>
                  <a:pt x="11319" y="9"/>
                  <a:pt x="11331" y="14"/>
                </a:cubicBezTo>
                <a:cubicBezTo>
                  <a:pt x="11342" y="18"/>
                  <a:pt x="11353" y="24"/>
                  <a:pt x="11363" y="31"/>
                </a:cubicBezTo>
                <a:cubicBezTo>
                  <a:pt x="11373" y="38"/>
                  <a:pt x="11382" y="45"/>
                  <a:pt x="11391" y="54"/>
                </a:cubicBezTo>
                <a:cubicBezTo>
                  <a:pt x="11400" y="63"/>
                  <a:pt x="11407" y="72"/>
                  <a:pt x="11414" y="82"/>
                </a:cubicBezTo>
                <a:cubicBezTo>
                  <a:pt x="11421" y="92"/>
                  <a:pt x="11427" y="103"/>
                  <a:pt x="11431" y="114"/>
                </a:cubicBezTo>
                <a:cubicBezTo>
                  <a:pt x="11436" y="126"/>
                  <a:pt x="11439" y="137"/>
                  <a:pt x="11442" y="149"/>
                </a:cubicBezTo>
                <a:cubicBezTo>
                  <a:pt x="11444" y="161"/>
                  <a:pt x="11445" y="173"/>
                  <a:pt x="11445" y="185"/>
                </a:cubicBezTo>
                <a:lnTo>
                  <a:pt x="11445" y="7498"/>
                </a:lnTo>
                <a:cubicBezTo>
                  <a:pt x="11445" y="7511"/>
                  <a:pt x="11444" y="7523"/>
                  <a:pt x="11442" y="7535"/>
                </a:cubicBezTo>
                <a:cubicBezTo>
                  <a:pt x="11439" y="7547"/>
                  <a:pt x="11436" y="7558"/>
                  <a:pt x="11431" y="7570"/>
                </a:cubicBezTo>
                <a:cubicBezTo>
                  <a:pt x="11427" y="7581"/>
                  <a:pt x="11421" y="7592"/>
                  <a:pt x="11414" y="7602"/>
                </a:cubicBezTo>
                <a:cubicBezTo>
                  <a:pt x="11407" y="7612"/>
                  <a:pt x="11400" y="7621"/>
                  <a:pt x="11391" y="7630"/>
                </a:cubicBezTo>
                <a:cubicBezTo>
                  <a:pt x="11382" y="7638"/>
                  <a:pt x="11373" y="7646"/>
                  <a:pt x="11363" y="7653"/>
                </a:cubicBezTo>
                <a:cubicBezTo>
                  <a:pt x="11353" y="7660"/>
                  <a:pt x="11342" y="7665"/>
                  <a:pt x="11331" y="7670"/>
                </a:cubicBezTo>
                <a:cubicBezTo>
                  <a:pt x="11319" y="7675"/>
                  <a:pt x="11308" y="7678"/>
                  <a:pt x="11296" y="7681"/>
                </a:cubicBezTo>
                <a:cubicBezTo>
                  <a:pt x="11284" y="7683"/>
                  <a:pt x="11272" y="7684"/>
                  <a:pt x="11260" y="7684"/>
                </a:cubicBezTo>
                <a:lnTo>
                  <a:pt x="186" y="7684"/>
                </a:lnTo>
                <a:cubicBezTo>
                  <a:pt x="174" y="7684"/>
                  <a:pt x="162" y="7683"/>
                  <a:pt x="150" y="7681"/>
                </a:cubicBezTo>
                <a:cubicBezTo>
                  <a:pt x="138" y="7678"/>
                  <a:pt x="126" y="7675"/>
                  <a:pt x="115" y="7670"/>
                </a:cubicBezTo>
                <a:cubicBezTo>
                  <a:pt x="104" y="7665"/>
                  <a:pt x="93" y="7660"/>
                  <a:pt x="83" y="7653"/>
                </a:cubicBezTo>
                <a:cubicBezTo>
                  <a:pt x="73" y="7646"/>
                  <a:pt x="63" y="7638"/>
                  <a:pt x="55" y="7630"/>
                </a:cubicBezTo>
                <a:cubicBezTo>
                  <a:pt x="46" y="7621"/>
                  <a:pt x="38" y="7612"/>
                  <a:pt x="32" y="7602"/>
                </a:cubicBezTo>
                <a:cubicBezTo>
                  <a:pt x="25" y="7592"/>
                  <a:pt x="19" y="7581"/>
                  <a:pt x="14" y="7570"/>
                </a:cubicBezTo>
                <a:cubicBezTo>
                  <a:pt x="10" y="7558"/>
                  <a:pt x="6" y="7547"/>
                  <a:pt x="4" y="7535"/>
                </a:cubicBezTo>
                <a:cubicBezTo>
                  <a:pt x="2" y="7523"/>
                  <a:pt x="0" y="7511"/>
                  <a:pt x="0" y="7498"/>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8" name="フリーフォーム: 図形 567"/>
          <p:cNvSpPr/>
          <p:nvPr/>
        </p:nvSpPr>
        <p:spPr>
          <a:xfrm>
            <a:off x="6509520" y="1470600"/>
            <a:ext cx="995040" cy="334800"/>
          </a:xfrm>
          <a:custGeom>
            <a:avLst/>
            <a:gdLst/>
            <a:ahLst/>
            <a:cxnLst/>
            <a:rect l="0" t="0" r="r" b="b"/>
            <a:pathLst>
              <a:path w="2764" h="930">
                <a:moveTo>
                  <a:pt x="0" y="0"/>
                </a:moveTo>
                <a:lnTo>
                  <a:pt x="2764" y="0"/>
                </a:lnTo>
                <a:lnTo>
                  <a:pt x="2764" y="930"/>
                </a:lnTo>
                <a:lnTo>
                  <a:pt x="0" y="930"/>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69" name="フリーフォーム: 図形 568"/>
          <p:cNvSpPr/>
          <p:nvPr/>
        </p:nvSpPr>
        <p:spPr>
          <a:xfrm>
            <a:off x="7504200" y="1470600"/>
            <a:ext cx="1587960" cy="334800"/>
          </a:xfrm>
          <a:custGeom>
            <a:avLst/>
            <a:gdLst/>
            <a:ahLst/>
            <a:cxnLst/>
            <a:rect l="0" t="0" r="r" b="b"/>
            <a:pathLst>
              <a:path w="4411" h="930">
                <a:moveTo>
                  <a:pt x="0" y="0"/>
                </a:moveTo>
                <a:lnTo>
                  <a:pt x="4411" y="0"/>
                </a:lnTo>
                <a:lnTo>
                  <a:pt x="4411" y="930"/>
                </a:lnTo>
                <a:lnTo>
                  <a:pt x="0" y="930"/>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70" name="フリーフォーム: 図形 569"/>
          <p:cNvSpPr/>
          <p:nvPr/>
        </p:nvSpPr>
        <p:spPr>
          <a:xfrm>
            <a:off x="9091800" y="1470600"/>
            <a:ext cx="1136880" cy="334800"/>
          </a:xfrm>
          <a:custGeom>
            <a:avLst/>
            <a:gdLst/>
            <a:ahLst/>
            <a:cxnLst/>
            <a:rect l="0" t="0" r="r" b="b"/>
            <a:pathLst>
              <a:path w="3158" h="930">
                <a:moveTo>
                  <a:pt x="0" y="0"/>
                </a:moveTo>
                <a:lnTo>
                  <a:pt x="3158" y="0"/>
                </a:lnTo>
                <a:lnTo>
                  <a:pt x="3158" y="930"/>
                </a:lnTo>
                <a:lnTo>
                  <a:pt x="0" y="930"/>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71" name="フリーフォーム: 図形 570"/>
          <p:cNvSpPr/>
          <p:nvPr/>
        </p:nvSpPr>
        <p:spPr>
          <a:xfrm>
            <a:off x="7504200" y="1805040"/>
            <a:ext cx="1587960" cy="409680"/>
          </a:xfrm>
          <a:custGeom>
            <a:avLst/>
            <a:gdLst/>
            <a:ahLst/>
            <a:cxnLst/>
            <a:rect l="0" t="0" r="r" b="b"/>
            <a:pathLst>
              <a:path w="4411" h="1138">
                <a:moveTo>
                  <a:pt x="0" y="0"/>
                </a:moveTo>
                <a:lnTo>
                  <a:pt x="4411" y="0"/>
                </a:lnTo>
                <a:lnTo>
                  <a:pt x="4411" y="1138"/>
                </a:lnTo>
                <a:lnTo>
                  <a:pt x="0" y="1138"/>
                </a:lnTo>
                <a:lnTo>
                  <a:pt x="0" y="0"/>
                </a:lnTo>
                <a:close/>
              </a:path>
            </a:pathLst>
          </a:custGeom>
          <a:solidFill>
            <a:srgbClr val="ECFDF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2" name="フリーフォーム: 図形 571"/>
          <p:cNvSpPr/>
          <p:nvPr/>
        </p:nvSpPr>
        <p:spPr>
          <a:xfrm>
            <a:off x="7504200" y="2214360"/>
            <a:ext cx="1587960" cy="409680"/>
          </a:xfrm>
          <a:custGeom>
            <a:avLst/>
            <a:gdLst/>
            <a:ahLst/>
            <a:cxnLst/>
            <a:rect l="0" t="0" r="r" b="b"/>
            <a:pathLst>
              <a:path w="4411" h="1138">
                <a:moveTo>
                  <a:pt x="0" y="0"/>
                </a:moveTo>
                <a:lnTo>
                  <a:pt x="4411" y="0"/>
                </a:lnTo>
                <a:lnTo>
                  <a:pt x="4411" y="1138"/>
                </a:lnTo>
                <a:lnTo>
                  <a:pt x="0" y="1138"/>
                </a:lnTo>
                <a:lnTo>
                  <a:pt x="0" y="0"/>
                </a:lnTo>
                <a:close/>
              </a:path>
            </a:pathLst>
          </a:custGeom>
          <a:solidFill>
            <a:srgbClr val="ECFDF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3" name="フリーフォーム: 図形 572"/>
          <p:cNvSpPr/>
          <p:nvPr/>
        </p:nvSpPr>
        <p:spPr>
          <a:xfrm>
            <a:off x="7504200" y="2623680"/>
            <a:ext cx="1587960" cy="410040"/>
          </a:xfrm>
          <a:custGeom>
            <a:avLst/>
            <a:gdLst/>
            <a:ahLst/>
            <a:cxnLst/>
            <a:rect l="0" t="0" r="r" b="b"/>
            <a:pathLst>
              <a:path w="4411" h="1139">
                <a:moveTo>
                  <a:pt x="0" y="0"/>
                </a:moveTo>
                <a:lnTo>
                  <a:pt x="4411" y="0"/>
                </a:lnTo>
                <a:lnTo>
                  <a:pt x="4411" y="1139"/>
                </a:lnTo>
                <a:lnTo>
                  <a:pt x="0" y="1139"/>
                </a:lnTo>
                <a:lnTo>
                  <a:pt x="0" y="0"/>
                </a:lnTo>
                <a:close/>
              </a:path>
            </a:pathLst>
          </a:custGeom>
          <a:solidFill>
            <a:srgbClr val="ECFDF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4" name="フリーフォーム: 図形 573"/>
          <p:cNvSpPr/>
          <p:nvPr/>
        </p:nvSpPr>
        <p:spPr>
          <a:xfrm>
            <a:off x="7504200" y="3033360"/>
            <a:ext cx="1587960" cy="401400"/>
          </a:xfrm>
          <a:custGeom>
            <a:avLst/>
            <a:gdLst/>
            <a:ahLst/>
            <a:cxnLst/>
            <a:rect l="0" t="0" r="r" b="b"/>
            <a:pathLst>
              <a:path w="4411" h="1115">
                <a:moveTo>
                  <a:pt x="0" y="0"/>
                </a:moveTo>
                <a:lnTo>
                  <a:pt x="4411" y="0"/>
                </a:lnTo>
                <a:lnTo>
                  <a:pt x="4411" y="1115"/>
                </a:lnTo>
                <a:lnTo>
                  <a:pt x="0" y="1115"/>
                </a:lnTo>
                <a:lnTo>
                  <a:pt x="0" y="0"/>
                </a:lnTo>
                <a:close/>
              </a:path>
            </a:pathLst>
          </a:custGeom>
          <a:solidFill>
            <a:srgbClr val="ECFDF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5" name="フリーフォーム: 図形 574"/>
          <p:cNvSpPr/>
          <p:nvPr/>
        </p:nvSpPr>
        <p:spPr>
          <a:xfrm>
            <a:off x="6509520" y="2206080"/>
            <a:ext cx="995040" cy="8640"/>
          </a:xfrm>
          <a:custGeom>
            <a:avLst/>
            <a:gdLst/>
            <a:ahLst/>
            <a:cxnLst/>
            <a:rect l="0" t="0" r="r" b="b"/>
            <a:pathLst>
              <a:path w="2764" h="24">
                <a:moveTo>
                  <a:pt x="0" y="0"/>
                </a:moveTo>
                <a:lnTo>
                  <a:pt x="2764" y="0"/>
                </a:lnTo>
                <a:lnTo>
                  <a:pt x="2764"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6" name="フリーフォーム: 図形 575"/>
          <p:cNvSpPr/>
          <p:nvPr/>
        </p:nvSpPr>
        <p:spPr>
          <a:xfrm>
            <a:off x="7504200" y="2206080"/>
            <a:ext cx="1587960" cy="8640"/>
          </a:xfrm>
          <a:custGeom>
            <a:avLst/>
            <a:gdLst/>
            <a:ahLst/>
            <a:cxnLst/>
            <a:rect l="0" t="0" r="r" b="b"/>
            <a:pathLst>
              <a:path w="4411" h="24">
                <a:moveTo>
                  <a:pt x="0" y="0"/>
                </a:moveTo>
                <a:lnTo>
                  <a:pt x="4411" y="0"/>
                </a:lnTo>
                <a:lnTo>
                  <a:pt x="4411"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7" name="フリーフォーム: 図形 576"/>
          <p:cNvSpPr/>
          <p:nvPr/>
        </p:nvSpPr>
        <p:spPr>
          <a:xfrm>
            <a:off x="9091800" y="2206080"/>
            <a:ext cx="1136880" cy="8640"/>
          </a:xfrm>
          <a:custGeom>
            <a:avLst/>
            <a:gdLst/>
            <a:ahLst/>
            <a:cxnLst/>
            <a:rect l="0" t="0" r="r" b="b"/>
            <a:pathLst>
              <a:path w="3158" h="24">
                <a:moveTo>
                  <a:pt x="0" y="0"/>
                </a:moveTo>
                <a:lnTo>
                  <a:pt x="3158" y="0"/>
                </a:lnTo>
                <a:lnTo>
                  <a:pt x="3158"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8" name="フリーフォーム: 図形 577"/>
          <p:cNvSpPr/>
          <p:nvPr/>
        </p:nvSpPr>
        <p:spPr>
          <a:xfrm>
            <a:off x="6509520" y="2615400"/>
            <a:ext cx="995040" cy="8640"/>
          </a:xfrm>
          <a:custGeom>
            <a:avLst/>
            <a:gdLst/>
            <a:ahLst/>
            <a:cxnLst/>
            <a:rect l="0" t="0" r="r" b="b"/>
            <a:pathLst>
              <a:path w="2764" h="24">
                <a:moveTo>
                  <a:pt x="0" y="0"/>
                </a:moveTo>
                <a:lnTo>
                  <a:pt x="2764" y="0"/>
                </a:lnTo>
                <a:lnTo>
                  <a:pt x="2764"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9" name="フリーフォーム: 図形 578"/>
          <p:cNvSpPr/>
          <p:nvPr/>
        </p:nvSpPr>
        <p:spPr>
          <a:xfrm>
            <a:off x="7504200" y="2615400"/>
            <a:ext cx="1587960" cy="8640"/>
          </a:xfrm>
          <a:custGeom>
            <a:avLst/>
            <a:gdLst/>
            <a:ahLst/>
            <a:cxnLst/>
            <a:rect l="0" t="0" r="r" b="b"/>
            <a:pathLst>
              <a:path w="4411" h="24">
                <a:moveTo>
                  <a:pt x="0" y="0"/>
                </a:moveTo>
                <a:lnTo>
                  <a:pt x="4411" y="0"/>
                </a:lnTo>
                <a:lnTo>
                  <a:pt x="4411"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0" name="フリーフォーム: 図形 579"/>
          <p:cNvSpPr/>
          <p:nvPr/>
        </p:nvSpPr>
        <p:spPr>
          <a:xfrm>
            <a:off x="9091800" y="2615400"/>
            <a:ext cx="1136880" cy="8640"/>
          </a:xfrm>
          <a:custGeom>
            <a:avLst/>
            <a:gdLst/>
            <a:ahLst/>
            <a:cxnLst/>
            <a:rect l="0" t="0" r="r" b="b"/>
            <a:pathLst>
              <a:path w="3158" h="24">
                <a:moveTo>
                  <a:pt x="0" y="0"/>
                </a:moveTo>
                <a:lnTo>
                  <a:pt x="3158" y="0"/>
                </a:lnTo>
                <a:lnTo>
                  <a:pt x="3158"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1" name="フリーフォーム: 図形 580"/>
          <p:cNvSpPr/>
          <p:nvPr/>
        </p:nvSpPr>
        <p:spPr>
          <a:xfrm>
            <a:off x="6509520" y="3025080"/>
            <a:ext cx="995040" cy="8640"/>
          </a:xfrm>
          <a:custGeom>
            <a:avLst/>
            <a:gdLst/>
            <a:ahLst/>
            <a:cxnLst/>
            <a:rect l="0" t="0" r="r" b="b"/>
            <a:pathLst>
              <a:path w="2764" h="24">
                <a:moveTo>
                  <a:pt x="0" y="0"/>
                </a:moveTo>
                <a:lnTo>
                  <a:pt x="2764" y="0"/>
                </a:lnTo>
                <a:lnTo>
                  <a:pt x="2764"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2" name="フリーフォーム: 図形 581"/>
          <p:cNvSpPr/>
          <p:nvPr/>
        </p:nvSpPr>
        <p:spPr>
          <a:xfrm>
            <a:off x="7504200" y="3025080"/>
            <a:ext cx="1587960" cy="8640"/>
          </a:xfrm>
          <a:custGeom>
            <a:avLst/>
            <a:gdLst/>
            <a:ahLst/>
            <a:cxnLst/>
            <a:rect l="0" t="0" r="r" b="b"/>
            <a:pathLst>
              <a:path w="4411" h="24">
                <a:moveTo>
                  <a:pt x="0" y="0"/>
                </a:moveTo>
                <a:lnTo>
                  <a:pt x="4411" y="0"/>
                </a:lnTo>
                <a:lnTo>
                  <a:pt x="4411"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3" name="フリーフォーム: 図形 582"/>
          <p:cNvSpPr/>
          <p:nvPr/>
        </p:nvSpPr>
        <p:spPr>
          <a:xfrm>
            <a:off x="9091800" y="3025080"/>
            <a:ext cx="1136880" cy="8640"/>
          </a:xfrm>
          <a:custGeom>
            <a:avLst/>
            <a:gdLst/>
            <a:ahLst/>
            <a:cxnLst/>
            <a:rect l="0" t="0" r="r" b="b"/>
            <a:pathLst>
              <a:path w="3158" h="24">
                <a:moveTo>
                  <a:pt x="0" y="0"/>
                </a:moveTo>
                <a:lnTo>
                  <a:pt x="3158" y="0"/>
                </a:lnTo>
                <a:lnTo>
                  <a:pt x="3158" y="24"/>
                </a:lnTo>
                <a:lnTo>
                  <a:pt x="0" y="2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4" name="フリーフォーム: 図形 583"/>
          <p:cNvSpPr/>
          <p:nvPr/>
        </p:nvSpPr>
        <p:spPr>
          <a:xfrm>
            <a:off x="6309000" y="3835440"/>
            <a:ext cx="4120200" cy="2106360"/>
          </a:xfrm>
          <a:custGeom>
            <a:avLst/>
            <a:gdLst/>
            <a:ahLst/>
            <a:cxnLst/>
            <a:rect l="0" t="0" r="r" b="b"/>
            <a:pathLst>
              <a:path w="11445" h="5851">
                <a:moveTo>
                  <a:pt x="0" y="5665"/>
                </a:moveTo>
                <a:lnTo>
                  <a:pt x="0" y="186"/>
                </a:lnTo>
                <a:cubicBezTo>
                  <a:pt x="0" y="174"/>
                  <a:pt x="2" y="162"/>
                  <a:pt x="4" y="150"/>
                </a:cubicBezTo>
                <a:cubicBezTo>
                  <a:pt x="6" y="138"/>
                  <a:pt x="10" y="126"/>
                  <a:pt x="14" y="115"/>
                </a:cubicBezTo>
                <a:cubicBezTo>
                  <a:pt x="19" y="104"/>
                  <a:pt x="25" y="93"/>
                  <a:pt x="32"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1"/>
                  <a:pt x="174" y="0"/>
                  <a:pt x="186" y="0"/>
                </a:cubicBezTo>
                <a:lnTo>
                  <a:pt x="11260" y="0"/>
                </a:lnTo>
                <a:cubicBezTo>
                  <a:pt x="11272" y="0"/>
                  <a:pt x="11284" y="1"/>
                  <a:pt x="11296" y="4"/>
                </a:cubicBezTo>
                <a:cubicBezTo>
                  <a:pt x="11308" y="6"/>
                  <a:pt x="11319" y="10"/>
                  <a:pt x="11331" y="14"/>
                </a:cubicBezTo>
                <a:cubicBezTo>
                  <a:pt x="11342" y="19"/>
                  <a:pt x="11353" y="25"/>
                  <a:pt x="11363" y="32"/>
                </a:cubicBezTo>
                <a:cubicBezTo>
                  <a:pt x="11373" y="38"/>
                  <a:pt x="11382" y="46"/>
                  <a:pt x="11391" y="55"/>
                </a:cubicBezTo>
                <a:cubicBezTo>
                  <a:pt x="11400" y="63"/>
                  <a:pt x="11407" y="73"/>
                  <a:pt x="11414" y="83"/>
                </a:cubicBezTo>
                <a:cubicBezTo>
                  <a:pt x="11421" y="93"/>
                  <a:pt x="11427" y="104"/>
                  <a:pt x="11431" y="115"/>
                </a:cubicBezTo>
                <a:cubicBezTo>
                  <a:pt x="11436" y="126"/>
                  <a:pt x="11439" y="138"/>
                  <a:pt x="11442" y="150"/>
                </a:cubicBezTo>
                <a:cubicBezTo>
                  <a:pt x="11444" y="162"/>
                  <a:pt x="11445" y="174"/>
                  <a:pt x="11445" y="186"/>
                </a:cubicBezTo>
                <a:lnTo>
                  <a:pt x="11445" y="5665"/>
                </a:lnTo>
                <a:cubicBezTo>
                  <a:pt x="11445" y="5677"/>
                  <a:pt x="11444" y="5690"/>
                  <a:pt x="11442" y="5702"/>
                </a:cubicBezTo>
                <a:cubicBezTo>
                  <a:pt x="11439" y="5713"/>
                  <a:pt x="11436" y="5725"/>
                  <a:pt x="11431" y="5736"/>
                </a:cubicBezTo>
                <a:cubicBezTo>
                  <a:pt x="11427" y="5748"/>
                  <a:pt x="11421" y="5758"/>
                  <a:pt x="11414" y="5768"/>
                </a:cubicBezTo>
                <a:cubicBezTo>
                  <a:pt x="11407" y="5779"/>
                  <a:pt x="11400" y="5788"/>
                  <a:pt x="11391" y="5797"/>
                </a:cubicBezTo>
                <a:cubicBezTo>
                  <a:pt x="11382" y="5805"/>
                  <a:pt x="11373" y="5813"/>
                  <a:pt x="11363" y="5820"/>
                </a:cubicBezTo>
                <a:cubicBezTo>
                  <a:pt x="11353" y="5826"/>
                  <a:pt x="11342" y="5832"/>
                  <a:pt x="11331" y="5837"/>
                </a:cubicBezTo>
                <a:cubicBezTo>
                  <a:pt x="11319" y="5842"/>
                  <a:pt x="11308" y="5845"/>
                  <a:pt x="11296" y="5847"/>
                </a:cubicBezTo>
                <a:cubicBezTo>
                  <a:pt x="11284" y="5850"/>
                  <a:pt x="11272" y="5851"/>
                  <a:pt x="11260" y="5851"/>
                </a:cubicBezTo>
                <a:lnTo>
                  <a:pt x="186" y="5851"/>
                </a:lnTo>
                <a:cubicBezTo>
                  <a:pt x="174" y="5851"/>
                  <a:pt x="162" y="5850"/>
                  <a:pt x="150" y="5847"/>
                </a:cubicBezTo>
                <a:cubicBezTo>
                  <a:pt x="138" y="5845"/>
                  <a:pt x="126" y="5842"/>
                  <a:pt x="115" y="5837"/>
                </a:cubicBezTo>
                <a:cubicBezTo>
                  <a:pt x="104" y="5832"/>
                  <a:pt x="93" y="5826"/>
                  <a:pt x="83" y="5820"/>
                </a:cubicBezTo>
                <a:cubicBezTo>
                  <a:pt x="73" y="5813"/>
                  <a:pt x="63" y="5805"/>
                  <a:pt x="55" y="5797"/>
                </a:cubicBezTo>
                <a:cubicBezTo>
                  <a:pt x="46" y="5788"/>
                  <a:pt x="38" y="5779"/>
                  <a:pt x="32" y="5768"/>
                </a:cubicBezTo>
                <a:cubicBezTo>
                  <a:pt x="25" y="5758"/>
                  <a:pt x="19" y="5748"/>
                  <a:pt x="14" y="5736"/>
                </a:cubicBezTo>
                <a:cubicBezTo>
                  <a:pt x="10" y="5725"/>
                  <a:pt x="6" y="5713"/>
                  <a:pt x="4" y="5702"/>
                </a:cubicBezTo>
                <a:cubicBezTo>
                  <a:pt x="2" y="5690"/>
                  <a:pt x="0" y="5677"/>
                  <a:pt x="0" y="566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85" name="図 584"/>
          <p:cNvPicPr/>
          <p:nvPr/>
        </p:nvPicPr>
        <p:blipFill>
          <a:blip r:embed="rId8"/>
          <a:stretch/>
        </p:blipFill>
        <p:spPr>
          <a:xfrm>
            <a:off x="6509880" y="1103040"/>
            <a:ext cx="250200" cy="200160"/>
          </a:xfrm>
          <a:prstGeom prst="rect">
            <a:avLst/>
          </a:prstGeom>
          <a:noFill/>
          <a:ln w="0">
            <a:noFill/>
          </a:ln>
        </p:spPr>
      </p:pic>
      <p:sp>
        <p:nvSpPr>
          <p:cNvPr id="586" name="テキスト ボックス 585"/>
          <p:cNvSpPr txBox="1"/>
          <p:nvPr/>
        </p:nvSpPr>
        <p:spPr>
          <a:xfrm>
            <a:off x="3423240" y="3644640"/>
            <a:ext cx="201348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a:t>
            </a:r>
            <a:r>
              <a:rPr lang="en-US" sz="1050" b="0" u="none" strike="noStrike">
                <a:solidFill>
                  <a:srgbClr val="000000"/>
                </a:solidFill>
                <a:effectLst/>
                <a:uFillTx/>
                <a:latin typeface="NotoSansJP"/>
                <a:ea typeface="NotoSansJP"/>
              </a:rPr>
              <a:t>CuPc</a:t>
            </a:r>
            <a:r>
              <a:rPr lang="zh-CN" sz="1050" b="0" u="none" strike="noStrike">
                <a:solidFill>
                  <a:srgbClr val="000000"/>
                </a:solidFill>
                <a:effectLst/>
                <a:uFillTx/>
                <a:latin typeface="NotoSansJP"/>
                <a:ea typeface="NotoSansJP"/>
              </a:rPr>
              <a:t>）を蒸着した簡素な構造</a:t>
            </a:r>
            <a:endParaRPr lang="en-US" sz="1050" b="0" u="none" strike="noStrike">
              <a:solidFill>
                <a:srgbClr val="000000"/>
              </a:solidFill>
              <a:effectLst/>
              <a:uFillTx/>
              <a:latin typeface="Times New Roman"/>
            </a:endParaRPr>
          </a:p>
        </p:txBody>
      </p:sp>
      <p:sp>
        <p:nvSpPr>
          <p:cNvPr id="587" name="テキスト ボックス 586"/>
          <p:cNvSpPr txBox="1"/>
          <p:nvPr/>
        </p:nvSpPr>
        <p:spPr>
          <a:xfrm>
            <a:off x="6863760" y="1100880"/>
            <a:ext cx="181116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従来センサとの比較</a:t>
            </a:r>
            <a:endParaRPr lang="en-US" sz="1580" b="0" u="none" strike="noStrike">
              <a:solidFill>
                <a:srgbClr val="000000"/>
              </a:solidFill>
              <a:effectLst/>
              <a:uFillTx/>
              <a:latin typeface="Times New Roman"/>
            </a:endParaRPr>
          </a:p>
        </p:txBody>
      </p:sp>
      <p:sp>
        <p:nvSpPr>
          <p:cNvPr id="588" name="テキスト ボックス 587"/>
          <p:cNvSpPr txBox="1"/>
          <p:nvPr/>
        </p:nvSpPr>
        <p:spPr>
          <a:xfrm>
            <a:off x="6646320" y="1572480"/>
            <a:ext cx="2689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特性</a:t>
            </a:r>
            <a:endParaRPr lang="en-US" sz="1050" b="0" u="none" strike="noStrike">
              <a:solidFill>
                <a:srgbClr val="000000"/>
              </a:solidFill>
              <a:effectLst/>
              <a:uFillTx/>
              <a:latin typeface="Times New Roman"/>
            </a:endParaRPr>
          </a:p>
        </p:txBody>
      </p:sp>
      <p:sp>
        <p:nvSpPr>
          <p:cNvPr id="589" name="テキスト ボックス 588"/>
          <p:cNvSpPr txBox="1"/>
          <p:nvPr/>
        </p:nvSpPr>
        <p:spPr>
          <a:xfrm>
            <a:off x="7936200" y="1572480"/>
            <a:ext cx="76788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CuPc</a:t>
            </a:r>
            <a:r>
              <a:rPr lang="zh-CN" sz="1050" b="0" u="none" strike="noStrike">
                <a:solidFill>
                  <a:srgbClr val="FFFFFF"/>
                </a:solidFill>
                <a:effectLst/>
                <a:uFillTx/>
                <a:latin typeface="NotoSansJP"/>
                <a:ea typeface="NotoSansJP"/>
              </a:rPr>
              <a:t>センサ</a:t>
            </a:r>
            <a:endParaRPr lang="en-US" sz="1050" b="0" u="none" strike="noStrike">
              <a:solidFill>
                <a:srgbClr val="000000"/>
              </a:solidFill>
              <a:effectLst/>
              <a:uFillTx/>
              <a:latin typeface="Times New Roman"/>
            </a:endParaRPr>
          </a:p>
        </p:txBody>
      </p:sp>
      <p:sp>
        <p:nvSpPr>
          <p:cNvPr id="590" name="テキスト ボックス 589"/>
          <p:cNvSpPr txBox="1"/>
          <p:nvPr/>
        </p:nvSpPr>
        <p:spPr>
          <a:xfrm>
            <a:off x="9261360" y="1572480"/>
            <a:ext cx="8053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従来型センサ</a:t>
            </a:r>
            <a:endParaRPr lang="en-US" sz="1050" b="0" u="none" strike="noStrike">
              <a:solidFill>
                <a:srgbClr val="000000"/>
              </a:solidFill>
              <a:effectLst/>
              <a:uFillTx/>
              <a:latin typeface="Times New Roman"/>
            </a:endParaRPr>
          </a:p>
        </p:txBody>
      </p:sp>
      <p:sp>
        <p:nvSpPr>
          <p:cNvPr id="591" name="テキスト ボックス 590"/>
          <p:cNvSpPr txBox="1"/>
          <p:nvPr/>
        </p:nvSpPr>
        <p:spPr>
          <a:xfrm>
            <a:off x="6646320" y="1940040"/>
            <a:ext cx="53712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検出下限</a:t>
            </a:r>
            <a:endParaRPr lang="en-US" sz="1050" b="0" u="none" strike="noStrike">
              <a:solidFill>
                <a:srgbClr val="000000"/>
              </a:solidFill>
              <a:effectLst/>
              <a:uFillTx/>
              <a:latin typeface="Times New Roman"/>
            </a:endParaRPr>
          </a:p>
        </p:txBody>
      </p:sp>
      <p:pic>
        <p:nvPicPr>
          <p:cNvPr id="592" name="図 591"/>
          <p:cNvPicPr/>
          <p:nvPr/>
        </p:nvPicPr>
        <p:blipFill>
          <a:blip r:embed="rId9"/>
          <a:stretch/>
        </p:blipFill>
        <p:spPr>
          <a:xfrm>
            <a:off x="8523720" y="1947240"/>
            <a:ext cx="133200" cy="133200"/>
          </a:xfrm>
          <a:prstGeom prst="rect">
            <a:avLst/>
          </a:prstGeom>
          <a:noFill/>
          <a:ln w="0">
            <a:noFill/>
          </a:ln>
        </p:spPr>
      </p:pic>
      <p:sp>
        <p:nvSpPr>
          <p:cNvPr id="593" name="テキスト ボックス 592"/>
          <p:cNvSpPr txBox="1"/>
          <p:nvPr/>
        </p:nvSpPr>
        <p:spPr>
          <a:xfrm>
            <a:off x="7940520" y="1940040"/>
            <a:ext cx="642960" cy="15732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0.06ppm </a:t>
            </a:r>
            <a:endParaRPr lang="en-US" sz="1050" b="0" u="none" strike="noStrike">
              <a:solidFill>
                <a:srgbClr val="000000"/>
              </a:solidFill>
              <a:effectLst/>
              <a:uFillTx/>
              <a:latin typeface="Times New Roman"/>
            </a:endParaRPr>
          </a:p>
        </p:txBody>
      </p:sp>
      <p:sp>
        <p:nvSpPr>
          <p:cNvPr id="594" name="テキスト ボックス 593"/>
          <p:cNvSpPr txBox="1"/>
          <p:nvPr/>
        </p:nvSpPr>
        <p:spPr>
          <a:xfrm>
            <a:off x="9290520" y="1940040"/>
            <a:ext cx="81432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1.0ppm</a:t>
            </a:r>
            <a:r>
              <a:rPr lang="zh-CN" sz="1050" b="0" u="none" strike="noStrike">
                <a:solidFill>
                  <a:srgbClr val="000000"/>
                </a:solidFill>
                <a:effectLst/>
                <a:uFillTx/>
                <a:latin typeface="NotoSansJP"/>
                <a:ea typeface="NotoSansJP"/>
              </a:rPr>
              <a:t>程度</a:t>
            </a:r>
            <a:endParaRPr lang="en-US" sz="1050" b="0" u="none" strike="noStrike">
              <a:solidFill>
                <a:srgbClr val="000000"/>
              </a:solidFill>
              <a:effectLst/>
              <a:uFillTx/>
              <a:latin typeface="Times New Roman"/>
            </a:endParaRPr>
          </a:p>
        </p:txBody>
      </p:sp>
      <p:sp>
        <p:nvSpPr>
          <p:cNvPr id="595" name="テキスト ボックス 594"/>
          <p:cNvSpPr txBox="1"/>
          <p:nvPr/>
        </p:nvSpPr>
        <p:spPr>
          <a:xfrm>
            <a:off x="6646320" y="2349360"/>
            <a:ext cx="53712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測定間隔</a:t>
            </a:r>
            <a:endParaRPr lang="en-US" sz="1050" b="0" u="none" strike="noStrike">
              <a:solidFill>
                <a:srgbClr val="000000"/>
              </a:solidFill>
              <a:effectLst/>
              <a:uFillTx/>
              <a:latin typeface="Times New Roman"/>
            </a:endParaRPr>
          </a:p>
        </p:txBody>
      </p:sp>
      <p:pic>
        <p:nvPicPr>
          <p:cNvPr id="596" name="図 595"/>
          <p:cNvPicPr/>
          <p:nvPr/>
        </p:nvPicPr>
        <p:blipFill>
          <a:blip r:embed="rId9"/>
          <a:stretch/>
        </p:blipFill>
        <p:spPr>
          <a:xfrm>
            <a:off x="8523720" y="2356560"/>
            <a:ext cx="133200" cy="133200"/>
          </a:xfrm>
          <a:prstGeom prst="rect">
            <a:avLst/>
          </a:prstGeom>
          <a:noFill/>
          <a:ln w="0">
            <a:noFill/>
          </a:ln>
        </p:spPr>
      </p:pic>
      <p:sp>
        <p:nvSpPr>
          <p:cNvPr id="597" name="テキスト ボックス 596"/>
          <p:cNvSpPr txBox="1"/>
          <p:nvPr/>
        </p:nvSpPr>
        <p:spPr>
          <a:xfrm>
            <a:off x="7940520" y="2349360"/>
            <a:ext cx="642960" cy="15732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0.01ppm </a:t>
            </a:r>
            <a:endParaRPr lang="en-US" sz="1050" b="0" u="none" strike="noStrike">
              <a:solidFill>
                <a:srgbClr val="000000"/>
              </a:solidFill>
              <a:effectLst/>
              <a:uFillTx/>
              <a:latin typeface="Times New Roman"/>
            </a:endParaRPr>
          </a:p>
        </p:txBody>
      </p:sp>
      <p:sp>
        <p:nvSpPr>
          <p:cNvPr id="598" name="テキスト ボックス 597"/>
          <p:cNvSpPr txBox="1"/>
          <p:nvPr/>
        </p:nvSpPr>
        <p:spPr>
          <a:xfrm>
            <a:off x="9290520" y="2349360"/>
            <a:ext cx="81432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0.1ppm</a:t>
            </a:r>
            <a:r>
              <a:rPr lang="zh-CN" sz="1050" b="0" u="none" strike="noStrike">
                <a:solidFill>
                  <a:srgbClr val="000000"/>
                </a:solidFill>
                <a:effectLst/>
                <a:uFillTx/>
                <a:latin typeface="NotoSansJP"/>
                <a:ea typeface="NotoSansJP"/>
              </a:rPr>
              <a:t>程度</a:t>
            </a:r>
            <a:endParaRPr lang="en-US" sz="1050" b="0" u="none" strike="noStrike">
              <a:solidFill>
                <a:srgbClr val="000000"/>
              </a:solidFill>
              <a:effectLst/>
              <a:uFillTx/>
              <a:latin typeface="Times New Roman"/>
            </a:endParaRPr>
          </a:p>
        </p:txBody>
      </p:sp>
      <p:sp>
        <p:nvSpPr>
          <p:cNvPr id="599" name="テキスト ボックス 598"/>
          <p:cNvSpPr txBox="1"/>
          <p:nvPr/>
        </p:nvSpPr>
        <p:spPr>
          <a:xfrm>
            <a:off x="6646320" y="2759040"/>
            <a:ext cx="4032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再現性</a:t>
            </a:r>
            <a:endParaRPr lang="en-US" sz="1050" b="0" u="none" strike="noStrike">
              <a:solidFill>
                <a:srgbClr val="000000"/>
              </a:solidFill>
              <a:effectLst/>
              <a:uFillTx/>
              <a:latin typeface="Times New Roman"/>
            </a:endParaRPr>
          </a:p>
        </p:txBody>
      </p:sp>
      <p:pic>
        <p:nvPicPr>
          <p:cNvPr id="600" name="図 599"/>
          <p:cNvPicPr/>
          <p:nvPr/>
        </p:nvPicPr>
        <p:blipFill>
          <a:blip r:embed="rId9"/>
          <a:stretch/>
        </p:blipFill>
        <p:spPr>
          <a:xfrm>
            <a:off x="8749440" y="2766240"/>
            <a:ext cx="133200" cy="133200"/>
          </a:xfrm>
          <a:prstGeom prst="rect">
            <a:avLst/>
          </a:prstGeom>
          <a:noFill/>
          <a:ln w="0">
            <a:noFill/>
          </a:ln>
        </p:spPr>
      </p:pic>
      <p:sp>
        <p:nvSpPr>
          <p:cNvPr id="601" name="テキスト ボックス 600"/>
          <p:cNvSpPr txBox="1"/>
          <p:nvPr/>
        </p:nvSpPr>
        <p:spPr>
          <a:xfrm>
            <a:off x="7714800" y="2759040"/>
            <a:ext cx="111816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標準偏差</a:t>
            </a:r>
            <a:r>
              <a:rPr lang="en-US" sz="1050" b="0" u="none" strike="noStrike">
                <a:solidFill>
                  <a:srgbClr val="000000"/>
                </a:solidFill>
                <a:effectLst/>
                <a:uFillTx/>
                <a:latin typeface="NotoSansJP"/>
                <a:ea typeface="NotoSansJP"/>
              </a:rPr>
              <a:t>5%</a:t>
            </a:r>
            <a:r>
              <a:rPr lang="zh-CN" sz="1050" b="0" u="none" strike="noStrike">
                <a:solidFill>
                  <a:srgbClr val="000000"/>
                </a:solidFill>
                <a:effectLst/>
                <a:uFillTx/>
                <a:latin typeface="NotoSansJP"/>
                <a:ea typeface="NotoSansJP"/>
              </a:rPr>
              <a:t>以内 </a:t>
            </a:r>
            <a:endParaRPr lang="en-US" sz="1050" b="0" u="none" strike="noStrike">
              <a:solidFill>
                <a:srgbClr val="000000"/>
              </a:solidFill>
              <a:effectLst/>
              <a:uFillTx/>
              <a:latin typeface="Times New Roman"/>
            </a:endParaRPr>
          </a:p>
        </p:txBody>
      </p:sp>
      <p:sp>
        <p:nvSpPr>
          <p:cNvPr id="602" name="テキスト ボックス 601"/>
          <p:cNvSpPr txBox="1"/>
          <p:nvPr/>
        </p:nvSpPr>
        <p:spPr>
          <a:xfrm>
            <a:off x="9461880" y="2759040"/>
            <a:ext cx="4032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変動大</a:t>
            </a:r>
            <a:endParaRPr lang="en-US" sz="1050" b="0" u="none" strike="noStrike">
              <a:solidFill>
                <a:srgbClr val="000000"/>
              </a:solidFill>
              <a:effectLst/>
              <a:uFillTx/>
              <a:latin typeface="Times New Roman"/>
            </a:endParaRPr>
          </a:p>
        </p:txBody>
      </p:sp>
      <p:sp>
        <p:nvSpPr>
          <p:cNvPr id="603" name="テキスト ボックス 602"/>
          <p:cNvSpPr txBox="1"/>
          <p:nvPr/>
        </p:nvSpPr>
        <p:spPr>
          <a:xfrm>
            <a:off x="6646320" y="3168360"/>
            <a:ext cx="6714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リスク検知</a:t>
            </a:r>
            <a:endParaRPr lang="en-US" sz="1050" b="0" u="none" strike="noStrike">
              <a:solidFill>
                <a:srgbClr val="000000"/>
              </a:solidFill>
              <a:effectLst/>
              <a:uFillTx/>
              <a:latin typeface="Times New Roman"/>
            </a:endParaRPr>
          </a:p>
        </p:txBody>
      </p:sp>
      <p:pic>
        <p:nvPicPr>
          <p:cNvPr id="604" name="図 603"/>
          <p:cNvPicPr/>
          <p:nvPr/>
        </p:nvPicPr>
        <p:blipFill>
          <a:blip r:embed="rId9"/>
          <a:stretch/>
        </p:blipFill>
        <p:spPr>
          <a:xfrm>
            <a:off x="8782920" y="3175560"/>
            <a:ext cx="133200" cy="133200"/>
          </a:xfrm>
          <a:prstGeom prst="rect">
            <a:avLst/>
          </a:prstGeom>
          <a:noFill/>
          <a:ln w="0">
            <a:noFill/>
          </a:ln>
        </p:spPr>
      </p:pic>
      <p:sp>
        <p:nvSpPr>
          <p:cNvPr id="605" name="テキスト ボックス 604"/>
          <p:cNvSpPr txBox="1"/>
          <p:nvPr/>
        </p:nvSpPr>
        <p:spPr>
          <a:xfrm>
            <a:off x="7681320" y="3168360"/>
            <a:ext cx="110376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視力低下前に検知 </a:t>
            </a:r>
            <a:endParaRPr lang="en-US" sz="1050" b="0" u="none" strike="noStrike">
              <a:solidFill>
                <a:srgbClr val="000000"/>
              </a:solidFill>
              <a:effectLst/>
              <a:uFillTx/>
              <a:latin typeface="Times New Roman"/>
            </a:endParaRPr>
          </a:p>
        </p:txBody>
      </p:sp>
      <p:sp>
        <p:nvSpPr>
          <p:cNvPr id="606" name="テキスト ボックス 605"/>
          <p:cNvSpPr txBox="1"/>
          <p:nvPr/>
        </p:nvSpPr>
        <p:spPr>
          <a:xfrm>
            <a:off x="9261360" y="3168360"/>
            <a:ext cx="80532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リスク発生後</a:t>
            </a:r>
            <a:endParaRPr lang="en-US" sz="1050" b="0" u="none" strike="noStrike">
              <a:solidFill>
                <a:srgbClr val="000000"/>
              </a:solidFill>
              <a:effectLst/>
              <a:uFillTx/>
              <a:latin typeface="Times New Roman"/>
            </a:endParaRPr>
          </a:p>
        </p:txBody>
      </p:sp>
      <p:sp>
        <p:nvSpPr>
          <p:cNvPr id="607" name="テキスト ボックス 606"/>
          <p:cNvSpPr txBox="1"/>
          <p:nvPr/>
        </p:nvSpPr>
        <p:spPr>
          <a:xfrm>
            <a:off x="6512760" y="4065120"/>
            <a:ext cx="1629720" cy="244080"/>
          </a:xfrm>
          <a:prstGeom prst="rect">
            <a:avLst/>
          </a:prstGeom>
          <a:noFill/>
          <a:ln w="0">
            <a:noFill/>
          </a:ln>
        </p:spPr>
        <p:txBody>
          <a:bodyPr wrap="none" lIns="0" tIns="0" rIns="0" bIns="0" anchor="t">
            <a:spAutoFit/>
          </a:bodyPr>
          <a:lstStyle/>
          <a:p>
            <a:r>
              <a:rPr lang="en-US" sz="1320" b="0" u="none" strike="noStrike">
                <a:solidFill>
                  <a:srgbClr val="003366"/>
                </a:solidFill>
                <a:effectLst/>
                <a:uFillTx/>
                <a:latin typeface="NotoSansJP"/>
                <a:ea typeface="NotoSansJP"/>
              </a:rPr>
              <a:t>CuPc</a:t>
            </a:r>
            <a:r>
              <a:rPr lang="zh-CN" sz="1320" b="0" u="none" strike="noStrike">
                <a:solidFill>
                  <a:srgbClr val="003366"/>
                </a:solidFill>
                <a:effectLst/>
                <a:uFillTx/>
                <a:latin typeface="NotoSansJP"/>
                <a:ea typeface="NotoSansJP"/>
              </a:rPr>
              <a:t>センサの原理図</a:t>
            </a:r>
            <a:endParaRPr lang="en-US" sz="1320" b="0" u="none" strike="noStrike">
              <a:solidFill>
                <a:srgbClr val="000000"/>
              </a:solidFill>
              <a:effectLst/>
              <a:uFillTx/>
              <a:latin typeface="Times New Roman"/>
            </a:endParaRPr>
          </a:p>
        </p:txBody>
      </p:sp>
      <p:sp>
        <p:nvSpPr>
          <p:cNvPr id="608" name="テキスト ボックス 607"/>
          <p:cNvSpPr txBox="1"/>
          <p:nvPr/>
        </p:nvSpPr>
        <p:spPr>
          <a:xfrm>
            <a:off x="6584400" y="5407920"/>
            <a:ext cx="1073520" cy="194040"/>
          </a:xfrm>
          <a:prstGeom prst="rect">
            <a:avLst/>
          </a:prstGeom>
          <a:noFill/>
          <a:ln w="0">
            <a:noFill/>
          </a:ln>
        </p:spPr>
        <p:txBody>
          <a:bodyPr wrap="none" lIns="0" tIns="0" rIns="0" bIns="0" anchor="t">
            <a:spAutoFit/>
          </a:bodyPr>
          <a:lstStyle/>
          <a:p>
            <a:r>
              <a:rPr lang="zh-CN" sz="1050" b="0" u="none" strike="noStrike">
                <a:solidFill>
                  <a:srgbClr val="003366"/>
                </a:solidFill>
                <a:effectLst/>
                <a:uFillTx/>
                <a:latin typeface="NotoSansJP"/>
                <a:ea typeface="NotoSansJP"/>
              </a:rPr>
              <a:t>還元性匂いセンサ</a:t>
            </a:r>
            <a:endParaRPr lang="en-US" sz="1050" b="0" u="none" strike="noStrike">
              <a:solidFill>
                <a:srgbClr val="000000"/>
              </a:solidFill>
              <a:effectLst/>
              <a:uFillTx/>
              <a:latin typeface="Times New Roman"/>
            </a:endParaRPr>
          </a:p>
        </p:txBody>
      </p:sp>
      <p:pic>
        <p:nvPicPr>
          <p:cNvPr id="609" name="図 608"/>
          <p:cNvPicPr/>
          <p:nvPr/>
        </p:nvPicPr>
        <p:blipFill>
          <a:blip r:embed="rId10"/>
          <a:stretch/>
        </p:blipFill>
        <p:spPr>
          <a:xfrm>
            <a:off x="7980480" y="4921920"/>
            <a:ext cx="300600" cy="300600"/>
          </a:xfrm>
          <a:prstGeom prst="rect">
            <a:avLst/>
          </a:prstGeom>
          <a:noFill/>
          <a:ln w="0">
            <a:noFill/>
          </a:ln>
        </p:spPr>
      </p:pic>
      <p:pic>
        <p:nvPicPr>
          <p:cNvPr id="610" name="図 609"/>
          <p:cNvPicPr/>
          <p:nvPr/>
        </p:nvPicPr>
        <p:blipFill>
          <a:blip r:embed="rId11"/>
          <a:stretch/>
        </p:blipFill>
        <p:spPr>
          <a:xfrm>
            <a:off x="8607240" y="4362120"/>
            <a:ext cx="1545480" cy="918720"/>
          </a:xfrm>
          <a:prstGeom prst="rect">
            <a:avLst/>
          </a:prstGeom>
          <a:noFill/>
          <a:ln w="0">
            <a:noFill/>
          </a:ln>
        </p:spPr>
      </p:pic>
      <p:sp>
        <p:nvSpPr>
          <p:cNvPr id="611" name="テキスト ボックス 610"/>
          <p:cNvSpPr txBox="1"/>
          <p:nvPr/>
        </p:nvSpPr>
        <p:spPr>
          <a:xfrm>
            <a:off x="6593040" y="5599080"/>
            <a:ext cx="1102320" cy="169560"/>
          </a:xfrm>
          <a:prstGeom prst="rect">
            <a:avLst/>
          </a:prstGeom>
          <a:noFill/>
          <a:ln w="0">
            <a:noFill/>
          </a:ln>
        </p:spPr>
        <p:txBody>
          <a:bodyPr wrap="none" lIns="0" tIns="0" rIns="0" bIns="0" anchor="t">
            <a:spAutoFit/>
          </a:bodyPr>
          <a:lstStyle/>
          <a:p>
            <a:r>
              <a:rPr lang="en-US" sz="920" b="0" u="none" strike="noStrike">
                <a:solidFill>
                  <a:srgbClr val="000000"/>
                </a:solidFill>
                <a:effectLst/>
                <a:uFillTx/>
                <a:latin typeface="NotoSansJP"/>
                <a:ea typeface="NotoSansJP"/>
              </a:rPr>
              <a:t>TMA</a:t>
            </a:r>
            <a:r>
              <a:rPr lang="zh-CN" sz="920" b="0" u="none" strike="noStrike">
                <a:solidFill>
                  <a:srgbClr val="000000"/>
                </a:solidFill>
                <a:effectLst/>
                <a:uFillTx/>
                <a:latin typeface="NotoSansJP"/>
                <a:ea typeface="NotoSansJP"/>
              </a:rPr>
              <a:t>ガス検知に特化</a:t>
            </a:r>
            <a:endParaRPr lang="en-US" sz="920" b="0" u="none" strike="noStrike">
              <a:solidFill>
                <a:srgbClr val="000000"/>
              </a:solidFill>
              <a:effectLst/>
              <a:uFillTx/>
              <a:latin typeface="Times New Roman"/>
            </a:endParaRPr>
          </a:p>
        </p:txBody>
      </p:sp>
      <p:sp>
        <p:nvSpPr>
          <p:cNvPr id="612" name="テキスト ボックス 611"/>
          <p:cNvSpPr txBox="1"/>
          <p:nvPr/>
        </p:nvSpPr>
        <p:spPr>
          <a:xfrm>
            <a:off x="9049320" y="5391360"/>
            <a:ext cx="671400" cy="194040"/>
          </a:xfrm>
          <a:prstGeom prst="rect">
            <a:avLst/>
          </a:prstGeom>
          <a:noFill/>
          <a:ln w="0">
            <a:noFill/>
          </a:ln>
        </p:spPr>
        <p:txBody>
          <a:bodyPr wrap="none" lIns="0" tIns="0" rIns="0" bIns="0" anchor="t">
            <a:spAutoFit/>
          </a:bodyPr>
          <a:lstStyle/>
          <a:p>
            <a:r>
              <a:rPr lang="zh-CN" sz="1050" b="0" u="none" strike="noStrike">
                <a:solidFill>
                  <a:srgbClr val="003366"/>
                </a:solidFill>
                <a:effectLst/>
                <a:uFillTx/>
                <a:latin typeface="NotoSansJP"/>
                <a:ea typeface="NotoSansJP"/>
              </a:rPr>
              <a:t>高精度応答</a:t>
            </a:r>
            <a:endParaRPr lang="en-US" sz="1050" b="0" u="none" strike="noStrike">
              <a:solidFill>
                <a:srgbClr val="000000"/>
              </a:solidFill>
              <a:effectLst/>
              <a:uFillTx/>
              <a:latin typeface="Times New Roman"/>
            </a:endParaRPr>
          </a:p>
        </p:txBody>
      </p:sp>
      <p:sp>
        <p:nvSpPr>
          <p:cNvPr id="613" name="フリーフォーム: 図形 612"/>
          <p:cNvSpPr/>
          <p:nvPr/>
        </p:nvSpPr>
        <p:spPr>
          <a:xfrm>
            <a:off x="6701760" y="5072400"/>
            <a:ext cx="836280" cy="167400"/>
          </a:xfrm>
          <a:custGeom>
            <a:avLst/>
            <a:gdLst/>
            <a:ahLst/>
            <a:cxnLst/>
            <a:rect l="0" t="0" r="r" b="b"/>
            <a:pathLst>
              <a:path w="2323" h="465">
                <a:moveTo>
                  <a:pt x="0" y="349"/>
                </a:moveTo>
                <a:lnTo>
                  <a:pt x="0" y="117"/>
                </a:lnTo>
                <a:cubicBezTo>
                  <a:pt x="0" y="101"/>
                  <a:pt x="3" y="87"/>
                  <a:pt x="9" y="72"/>
                </a:cubicBezTo>
                <a:cubicBezTo>
                  <a:pt x="15" y="57"/>
                  <a:pt x="23" y="45"/>
                  <a:pt x="34" y="34"/>
                </a:cubicBezTo>
                <a:cubicBezTo>
                  <a:pt x="45" y="23"/>
                  <a:pt x="58" y="15"/>
                  <a:pt x="72" y="9"/>
                </a:cubicBezTo>
                <a:cubicBezTo>
                  <a:pt x="86" y="3"/>
                  <a:pt x="101" y="0"/>
                  <a:pt x="116" y="0"/>
                </a:cubicBezTo>
                <a:lnTo>
                  <a:pt x="2207" y="0"/>
                </a:lnTo>
                <a:cubicBezTo>
                  <a:pt x="2222" y="0"/>
                  <a:pt x="2237" y="3"/>
                  <a:pt x="2251" y="9"/>
                </a:cubicBezTo>
                <a:cubicBezTo>
                  <a:pt x="2265" y="15"/>
                  <a:pt x="2278" y="23"/>
                  <a:pt x="2289" y="34"/>
                </a:cubicBezTo>
                <a:cubicBezTo>
                  <a:pt x="2300" y="45"/>
                  <a:pt x="2308" y="57"/>
                  <a:pt x="2314" y="72"/>
                </a:cubicBezTo>
                <a:cubicBezTo>
                  <a:pt x="2320" y="87"/>
                  <a:pt x="2323" y="101"/>
                  <a:pt x="2323" y="117"/>
                </a:cubicBezTo>
                <a:lnTo>
                  <a:pt x="2323" y="349"/>
                </a:lnTo>
                <a:cubicBezTo>
                  <a:pt x="2323" y="364"/>
                  <a:pt x="2320" y="379"/>
                  <a:pt x="2314" y="393"/>
                </a:cubicBezTo>
                <a:cubicBezTo>
                  <a:pt x="2308" y="408"/>
                  <a:pt x="2300" y="420"/>
                  <a:pt x="2289" y="431"/>
                </a:cubicBezTo>
                <a:cubicBezTo>
                  <a:pt x="2278" y="442"/>
                  <a:pt x="2265" y="450"/>
                  <a:pt x="2251" y="456"/>
                </a:cubicBezTo>
                <a:cubicBezTo>
                  <a:pt x="2237" y="462"/>
                  <a:pt x="2222" y="465"/>
                  <a:pt x="2207" y="465"/>
                </a:cubicBezTo>
                <a:lnTo>
                  <a:pt x="116" y="465"/>
                </a:lnTo>
                <a:cubicBezTo>
                  <a:pt x="101" y="465"/>
                  <a:pt x="86" y="462"/>
                  <a:pt x="72" y="456"/>
                </a:cubicBezTo>
                <a:cubicBezTo>
                  <a:pt x="58" y="450"/>
                  <a:pt x="45" y="442"/>
                  <a:pt x="34" y="431"/>
                </a:cubicBezTo>
                <a:cubicBezTo>
                  <a:pt x="23" y="420"/>
                  <a:pt x="15" y="408"/>
                  <a:pt x="9" y="393"/>
                </a:cubicBezTo>
                <a:cubicBezTo>
                  <a:pt x="3" y="379"/>
                  <a:pt x="0" y="364"/>
                  <a:pt x="0" y="349"/>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14" name="フリーフォーム: 図形 613"/>
          <p:cNvSpPr/>
          <p:nvPr/>
        </p:nvSpPr>
        <p:spPr>
          <a:xfrm>
            <a:off x="6869160" y="4570920"/>
            <a:ext cx="501480" cy="501840"/>
          </a:xfrm>
          <a:custGeom>
            <a:avLst/>
            <a:gdLst/>
            <a:ahLst/>
            <a:cxnLst/>
            <a:rect l="0" t="0" r="r" b="b"/>
            <a:pathLst>
              <a:path w="1393" h="1394">
                <a:moveTo>
                  <a:pt x="1393" y="697"/>
                </a:moveTo>
                <a:cubicBezTo>
                  <a:pt x="1393" y="720"/>
                  <a:pt x="1392" y="743"/>
                  <a:pt x="1390" y="766"/>
                </a:cubicBezTo>
                <a:cubicBezTo>
                  <a:pt x="1388" y="788"/>
                  <a:pt x="1384" y="811"/>
                  <a:pt x="1380" y="833"/>
                </a:cubicBezTo>
                <a:cubicBezTo>
                  <a:pt x="1376" y="856"/>
                  <a:pt x="1370" y="878"/>
                  <a:pt x="1363" y="900"/>
                </a:cubicBezTo>
                <a:cubicBezTo>
                  <a:pt x="1357" y="921"/>
                  <a:pt x="1349" y="943"/>
                  <a:pt x="1340" y="964"/>
                </a:cubicBezTo>
                <a:cubicBezTo>
                  <a:pt x="1332" y="985"/>
                  <a:pt x="1322" y="1006"/>
                  <a:pt x="1311" y="1026"/>
                </a:cubicBezTo>
                <a:cubicBezTo>
                  <a:pt x="1300" y="1046"/>
                  <a:pt x="1289" y="1065"/>
                  <a:pt x="1276" y="1084"/>
                </a:cubicBezTo>
                <a:cubicBezTo>
                  <a:pt x="1263" y="1103"/>
                  <a:pt x="1250" y="1122"/>
                  <a:pt x="1235" y="1139"/>
                </a:cubicBezTo>
                <a:cubicBezTo>
                  <a:pt x="1221" y="1157"/>
                  <a:pt x="1206" y="1174"/>
                  <a:pt x="1189" y="1190"/>
                </a:cubicBezTo>
                <a:cubicBezTo>
                  <a:pt x="1173" y="1206"/>
                  <a:pt x="1156" y="1221"/>
                  <a:pt x="1139" y="1236"/>
                </a:cubicBezTo>
                <a:cubicBezTo>
                  <a:pt x="1121" y="1250"/>
                  <a:pt x="1102" y="1264"/>
                  <a:pt x="1083" y="1276"/>
                </a:cubicBezTo>
                <a:cubicBezTo>
                  <a:pt x="1064" y="1289"/>
                  <a:pt x="1044" y="1301"/>
                  <a:pt x="1024" y="1312"/>
                </a:cubicBezTo>
                <a:cubicBezTo>
                  <a:pt x="1004" y="1322"/>
                  <a:pt x="984" y="1332"/>
                  <a:pt x="963" y="1341"/>
                </a:cubicBezTo>
                <a:cubicBezTo>
                  <a:pt x="941" y="1350"/>
                  <a:pt x="920" y="1357"/>
                  <a:pt x="898" y="1364"/>
                </a:cubicBezTo>
                <a:cubicBezTo>
                  <a:pt x="876" y="1370"/>
                  <a:pt x="854" y="1376"/>
                  <a:pt x="832" y="1380"/>
                </a:cubicBezTo>
                <a:cubicBezTo>
                  <a:pt x="810" y="1385"/>
                  <a:pt x="787" y="1388"/>
                  <a:pt x="764" y="1390"/>
                </a:cubicBezTo>
                <a:cubicBezTo>
                  <a:pt x="742" y="1393"/>
                  <a:pt x="719" y="1394"/>
                  <a:pt x="696" y="1394"/>
                </a:cubicBezTo>
                <a:cubicBezTo>
                  <a:pt x="673" y="1394"/>
                  <a:pt x="650" y="1393"/>
                  <a:pt x="628" y="1390"/>
                </a:cubicBezTo>
                <a:cubicBezTo>
                  <a:pt x="605" y="1388"/>
                  <a:pt x="583" y="1385"/>
                  <a:pt x="560" y="1380"/>
                </a:cubicBezTo>
                <a:cubicBezTo>
                  <a:pt x="538" y="1376"/>
                  <a:pt x="516" y="1370"/>
                  <a:pt x="494" y="1364"/>
                </a:cubicBezTo>
                <a:cubicBezTo>
                  <a:pt x="472" y="1357"/>
                  <a:pt x="451" y="1350"/>
                  <a:pt x="430" y="1341"/>
                </a:cubicBezTo>
                <a:cubicBezTo>
                  <a:pt x="408" y="1332"/>
                  <a:pt x="388" y="1322"/>
                  <a:pt x="368" y="1312"/>
                </a:cubicBezTo>
                <a:cubicBezTo>
                  <a:pt x="348" y="1301"/>
                  <a:pt x="328" y="1289"/>
                  <a:pt x="309" y="1276"/>
                </a:cubicBezTo>
                <a:cubicBezTo>
                  <a:pt x="290" y="1264"/>
                  <a:pt x="272" y="1250"/>
                  <a:pt x="254" y="1236"/>
                </a:cubicBezTo>
                <a:cubicBezTo>
                  <a:pt x="237" y="1221"/>
                  <a:pt x="220" y="1206"/>
                  <a:pt x="204" y="1190"/>
                </a:cubicBezTo>
                <a:cubicBezTo>
                  <a:pt x="187" y="1174"/>
                  <a:pt x="172" y="1157"/>
                  <a:pt x="158" y="1139"/>
                </a:cubicBezTo>
                <a:cubicBezTo>
                  <a:pt x="143" y="1122"/>
                  <a:pt x="130" y="1103"/>
                  <a:pt x="117" y="1084"/>
                </a:cubicBezTo>
                <a:cubicBezTo>
                  <a:pt x="104" y="1065"/>
                  <a:pt x="93" y="1046"/>
                  <a:pt x="82" y="1026"/>
                </a:cubicBezTo>
                <a:cubicBezTo>
                  <a:pt x="71" y="1006"/>
                  <a:pt x="61" y="985"/>
                  <a:pt x="53" y="964"/>
                </a:cubicBezTo>
                <a:cubicBezTo>
                  <a:pt x="44" y="943"/>
                  <a:pt x="36" y="921"/>
                  <a:pt x="30" y="900"/>
                </a:cubicBezTo>
                <a:cubicBezTo>
                  <a:pt x="23" y="878"/>
                  <a:pt x="17" y="856"/>
                  <a:pt x="13" y="833"/>
                </a:cubicBezTo>
                <a:cubicBezTo>
                  <a:pt x="9" y="811"/>
                  <a:pt x="5" y="788"/>
                  <a:pt x="3" y="766"/>
                </a:cubicBezTo>
                <a:cubicBezTo>
                  <a:pt x="1" y="743"/>
                  <a:pt x="0" y="720"/>
                  <a:pt x="0" y="697"/>
                </a:cubicBezTo>
                <a:cubicBezTo>
                  <a:pt x="0" y="675"/>
                  <a:pt x="1" y="652"/>
                  <a:pt x="3" y="629"/>
                </a:cubicBezTo>
                <a:cubicBezTo>
                  <a:pt x="5" y="606"/>
                  <a:pt x="9" y="584"/>
                  <a:pt x="13" y="562"/>
                </a:cubicBezTo>
                <a:cubicBezTo>
                  <a:pt x="17" y="539"/>
                  <a:pt x="23" y="516"/>
                  <a:pt x="30" y="494"/>
                </a:cubicBezTo>
                <a:cubicBezTo>
                  <a:pt x="36" y="472"/>
                  <a:pt x="44" y="451"/>
                  <a:pt x="53" y="430"/>
                </a:cubicBezTo>
                <a:cubicBezTo>
                  <a:pt x="61" y="409"/>
                  <a:pt x="71" y="388"/>
                  <a:pt x="82" y="368"/>
                </a:cubicBezTo>
                <a:cubicBezTo>
                  <a:pt x="93" y="348"/>
                  <a:pt x="104" y="328"/>
                  <a:pt x="117" y="310"/>
                </a:cubicBezTo>
                <a:cubicBezTo>
                  <a:pt x="130" y="291"/>
                  <a:pt x="143" y="272"/>
                  <a:pt x="158" y="255"/>
                </a:cubicBezTo>
                <a:cubicBezTo>
                  <a:pt x="172" y="237"/>
                  <a:pt x="187" y="220"/>
                  <a:pt x="204" y="204"/>
                </a:cubicBezTo>
                <a:cubicBezTo>
                  <a:pt x="220" y="188"/>
                  <a:pt x="237" y="173"/>
                  <a:pt x="254" y="158"/>
                </a:cubicBezTo>
                <a:cubicBezTo>
                  <a:pt x="272" y="144"/>
                  <a:pt x="290" y="130"/>
                  <a:pt x="309" y="117"/>
                </a:cubicBezTo>
                <a:cubicBezTo>
                  <a:pt x="328" y="105"/>
                  <a:pt x="348" y="93"/>
                  <a:pt x="368" y="82"/>
                </a:cubicBezTo>
                <a:cubicBezTo>
                  <a:pt x="388" y="72"/>
                  <a:pt x="408" y="62"/>
                  <a:pt x="430" y="53"/>
                </a:cubicBezTo>
                <a:cubicBezTo>
                  <a:pt x="451" y="44"/>
                  <a:pt x="472" y="37"/>
                  <a:pt x="494" y="30"/>
                </a:cubicBezTo>
                <a:cubicBezTo>
                  <a:pt x="516" y="23"/>
                  <a:pt x="538" y="18"/>
                  <a:pt x="560" y="13"/>
                </a:cubicBezTo>
                <a:cubicBezTo>
                  <a:pt x="583" y="9"/>
                  <a:pt x="605" y="6"/>
                  <a:pt x="628" y="3"/>
                </a:cubicBezTo>
                <a:cubicBezTo>
                  <a:pt x="650" y="1"/>
                  <a:pt x="673" y="0"/>
                  <a:pt x="696" y="0"/>
                </a:cubicBezTo>
                <a:cubicBezTo>
                  <a:pt x="719" y="0"/>
                  <a:pt x="742" y="1"/>
                  <a:pt x="764" y="3"/>
                </a:cubicBezTo>
                <a:cubicBezTo>
                  <a:pt x="787" y="6"/>
                  <a:pt x="810" y="9"/>
                  <a:pt x="832" y="13"/>
                </a:cubicBezTo>
                <a:cubicBezTo>
                  <a:pt x="854" y="18"/>
                  <a:pt x="876" y="23"/>
                  <a:pt x="898" y="30"/>
                </a:cubicBezTo>
                <a:cubicBezTo>
                  <a:pt x="920" y="37"/>
                  <a:pt x="941" y="44"/>
                  <a:pt x="963" y="53"/>
                </a:cubicBezTo>
                <a:cubicBezTo>
                  <a:pt x="984" y="62"/>
                  <a:pt x="1004" y="72"/>
                  <a:pt x="1024" y="82"/>
                </a:cubicBezTo>
                <a:cubicBezTo>
                  <a:pt x="1044" y="93"/>
                  <a:pt x="1064" y="105"/>
                  <a:pt x="1083" y="117"/>
                </a:cubicBezTo>
                <a:cubicBezTo>
                  <a:pt x="1102" y="130"/>
                  <a:pt x="1121" y="144"/>
                  <a:pt x="1139" y="158"/>
                </a:cubicBezTo>
                <a:cubicBezTo>
                  <a:pt x="1156" y="173"/>
                  <a:pt x="1173" y="188"/>
                  <a:pt x="1189" y="204"/>
                </a:cubicBezTo>
                <a:cubicBezTo>
                  <a:pt x="1206" y="220"/>
                  <a:pt x="1221" y="237"/>
                  <a:pt x="1235" y="255"/>
                </a:cubicBezTo>
                <a:cubicBezTo>
                  <a:pt x="1250" y="272"/>
                  <a:pt x="1263" y="291"/>
                  <a:pt x="1276" y="310"/>
                </a:cubicBezTo>
                <a:cubicBezTo>
                  <a:pt x="1289" y="328"/>
                  <a:pt x="1300" y="348"/>
                  <a:pt x="1311" y="368"/>
                </a:cubicBezTo>
                <a:cubicBezTo>
                  <a:pt x="1322" y="388"/>
                  <a:pt x="1332" y="409"/>
                  <a:pt x="1340" y="430"/>
                </a:cubicBezTo>
                <a:cubicBezTo>
                  <a:pt x="1349" y="451"/>
                  <a:pt x="1357" y="472"/>
                  <a:pt x="1363" y="494"/>
                </a:cubicBezTo>
                <a:cubicBezTo>
                  <a:pt x="1370" y="516"/>
                  <a:pt x="1376" y="539"/>
                  <a:pt x="1380" y="562"/>
                </a:cubicBezTo>
                <a:cubicBezTo>
                  <a:pt x="1384" y="584"/>
                  <a:pt x="1388" y="606"/>
                  <a:pt x="1390" y="629"/>
                </a:cubicBezTo>
                <a:cubicBezTo>
                  <a:pt x="1392" y="652"/>
                  <a:pt x="1393" y="675"/>
                  <a:pt x="1393" y="697"/>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15" name="直線コネクタ 614"/>
          <p:cNvSpPr/>
          <p:nvPr/>
        </p:nvSpPr>
        <p:spPr>
          <a:xfrm>
            <a:off x="6703920" y="4412160"/>
            <a:ext cx="29160" cy="0"/>
          </a:xfrm>
          <a:prstGeom prst="line">
            <a:avLst/>
          </a:prstGeom>
          <a:ln w="16560">
            <a:solidFill>
              <a:srgbClr val="FF9900"/>
            </a:solidFill>
            <a:miter/>
          </a:ln>
        </p:spPr>
        <p:style>
          <a:lnRef idx="0">
            <a:scrgbClr r="0" g="0" b="0"/>
          </a:lnRef>
          <a:fillRef idx="0">
            <a:scrgbClr r="0" g="0" b="0"/>
          </a:fillRef>
          <a:effectRef idx="0">
            <a:scrgbClr r="0" g="0" b="0"/>
          </a:effectRef>
          <a:fontRef idx="minor"/>
        </p:style>
        <p:txBody>
          <a:bodyPr lIns="8280" tIns="-8280" rIns="8280" bIns="-8280" anchor="t">
            <a:noAutofit/>
          </a:bodyPr>
          <a:lstStyle/>
          <a:p>
            <a:endParaRPr lang="en-US" sz="2400" b="0" u="none" strike="noStrike">
              <a:solidFill>
                <a:srgbClr val="000000"/>
              </a:solidFill>
              <a:effectLst/>
              <a:uFillTx/>
              <a:latin typeface="Times New Roman"/>
            </a:endParaRPr>
          </a:p>
        </p:txBody>
      </p:sp>
      <p:sp>
        <p:nvSpPr>
          <p:cNvPr id="616" name="直線コネクタ 615"/>
          <p:cNvSpPr/>
          <p:nvPr/>
        </p:nvSpPr>
        <p:spPr>
          <a:xfrm>
            <a:off x="6703920" y="4428720"/>
            <a:ext cx="29160" cy="0"/>
          </a:xfrm>
          <a:prstGeom prst="line">
            <a:avLst/>
          </a:prstGeom>
          <a:ln w="16560">
            <a:solidFill>
              <a:srgbClr val="FF9900"/>
            </a:solidFill>
            <a:miter/>
          </a:ln>
        </p:spPr>
        <p:style>
          <a:lnRef idx="0">
            <a:scrgbClr r="0" g="0" b="0"/>
          </a:lnRef>
          <a:fillRef idx="0">
            <a:scrgbClr r="0" g="0" b="0"/>
          </a:fillRef>
          <a:effectRef idx="0">
            <a:scrgbClr r="0" g="0" b="0"/>
          </a:effectRef>
          <a:fontRef idx="minor"/>
        </p:style>
        <p:txBody>
          <a:bodyPr lIns="8280" tIns="-8280" rIns="8280" bIns="-8280" anchor="t">
            <a:noAutofit/>
          </a:bodyPr>
          <a:lstStyle/>
          <a:p>
            <a:endParaRPr lang="en-US" sz="2400" b="0" u="none" strike="noStrike">
              <a:solidFill>
                <a:srgbClr val="000000"/>
              </a:solidFill>
              <a:effectLst/>
              <a:uFillTx/>
              <a:latin typeface="Times New Roman"/>
            </a:endParaRPr>
          </a:p>
        </p:txBody>
      </p:sp>
      <p:sp>
        <p:nvSpPr>
          <p:cNvPr id="617" name="直線コネクタ 616"/>
          <p:cNvSpPr/>
          <p:nvPr/>
        </p:nvSpPr>
        <p:spPr>
          <a:xfrm>
            <a:off x="6726960" y="4406040"/>
            <a:ext cx="0" cy="29160"/>
          </a:xfrm>
          <a:prstGeom prst="line">
            <a:avLst/>
          </a:prstGeom>
          <a:ln w="16560">
            <a:solidFill>
              <a:srgbClr val="FF9900"/>
            </a:solidFill>
            <a:miter/>
          </a:ln>
        </p:spPr>
        <p:style>
          <a:lnRef idx="0">
            <a:scrgbClr r="0" g="0" b="0"/>
          </a:lnRef>
          <a:fillRef idx="0">
            <a:scrgbClr r="0" g="0" b="0"/>
          </a:fillRef>
          <a:effectRef idx="0">
            <a:scrgbClr r="0" g="0" b="0"/>
          </a:effectRef>
          <a:fontRef idx="minor"/>
        </p:style>
        <p:txBody>
          <a:bodyPr lIns="8280" tIns="8280" rIns="8280" bIns="8280" anchor="t">
            <a:noAutofit/>
          </a:bodyPr>
          <a:lstStyle/>
          <a:p>
            <a:endParaRPr lang="en-US" sz="2400" b="0" u="none" strike="noStrike">
              <a:solidFill>
                <a:srgbClr val="000000"/>
              </a:solidFill>
              <a:effectLst/>
              <a:uFillTx/>
              <a:latin typeface="Times New Roman"/>
            </a:endParaRPr>
          </a:p>
        </p:txBody>
      </p:sp>
      <p:sp>
        <p:nvSpPr>
          <p:cNvPr id="618" name="直線コネクタ 617"/>
          <p:cNvSpPr/>
          <p:nvPr/>
        </p:nvSpPr>
        <p:spPr>
          <a:xfrm>
            <a:off x="6710400" y="4406040"/>
            <a:ext cx="0" cy="29160"/>
          </a:xfrm>
          <a:prstGeom prst="line">
            <a:avLst/>
          </a:prstGeom>
          <a:ln w="16560">
            <a:solidFill>
              <a:srgbClr val="FF9900"/>
            </a:solidFill>
            <a:miter/>
          </a:ln>
        </p:spPr>
        <p:style>
          <a:lnRef idx="0">
            <a:scrgbClr r="0" g="0" b="0"/>
          </a:lnRef>
          <a:fillRef idx="0">
            <a:scrgbClr r="0" g="0" b="0"/>
          </a:fillRef>
          <a:effectRef idx="0">
            <a:scrgbClr r="0" g="0" b="0"/>
          </a:effectRef>
          <a:fontRef idx="minor"/>
        </p:style>
        <p:txBody>
          <a:bodyPr lIns="8280" tIns="8280" rIns="8280" bIns="8280" anchor="t">
            <a:noAutofit/>
          </a:bodyPr>
          <a:lstStyle/>
          <a:p>
            <a:endParaRPr lang="en-US" sz="2400" b="0" u="none" strike="noStrike">
              <a:solidFill>
                <a:srgbClr val="000000"/>
              </a:solidFill>
              <a:effectLst/>
              <a:uFillTx/>
              <a:latin typeface="Times New Roman"/>
            </a:endParaRPr>
          </a:p>
        </p:txBody>
      </p:sp>
      <p:sp>
        <p:nvSpPr>
          <p:cNvPr id="619" name="テキスト ボックス 618"/>
          <p:cNvSpPr txBox="1"/>
          <p:nvPr/>
        </p:nvSpPr>
        <p:spPr>
          <a:xfrm>
            <a:off x="8773560" y="5582520"/>
            <a:ext cx="1335240" cy="169560"/>
          </a:xfrm>
          <a:prstGeom prst="rect">
            <a:avLst/>
          </a:prstGeom>
          <a:noFill/>
          <a:ln w="0">
            <a:noFill/>
          </a:ln>
        </p:spPr>
        <p:txBody>
          <a:bodyPr wrap="none" lIns="0" tIns="0" rIns="0" bIns="0" anchor="t">
            <a:spAutoFit/>
          </a:bodyPr>
          <a:lstStyle/>
          <a:p>
            <a:r>
              <a:rPr lang="en-US" sz="920" b="0" u="none" strike="noStrike">
                <a:solidFill>
                  <a:srgbClr val="000000"/>
                </a:solidFill>
                <a:effectLst/>
                <a:uFillTx/>
                <a:latin typeface="NotoSansJP"/>
                <a:ea typeface="NotoSansJP"/>
              </a:rPr>
              <a:t>0.06ppm~2.6ppm</a:t>
            </a:r>
            <a:r>
              <a:rPr lang="zh-CN" sz="920" b="0" u="none" strike="noStrike">
                <a:solidFill>
                  <a:srgbClr val="000000"/>
                </a:solidFill>
                <a:effectLst/>
                <a:uFillTx/>
                <a:latin typeface="NotoSansJP"/>
                <a:ea typeface="NotoSansJP"/>
              </a:rPr>
              <a:t>範囲</a:t>
            </a:r>
            <a:endParaRPr lang="en-US" sz="92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0" name="図 619"/>
          <p:cNvPicPr/>
          <p:nvPr/>
        </p:nvPicPr>
        <p:blipFill>
          <a:blip r:embed="rId2"/>
          <a:stretch/>
        </p:blipFill>
        <p:spPr>
          <a:xfrm>
            <a:off x="0" y="0"/>
            <a:ext cx="10696320" cy="6885720"/>
          </a:xfrm>
          <a:prstGeom prst="rect">
            <a:avLst/>
          </a:prstGeom>
          <a:noFill/>
          <a:ln w="0">
            <a:noFill/>
          </a:ln>
        </p:spPr>
      </p:pic>
      <p:sp>
        <p:nvSpPr>
          <p:cNvPr id="621" name="フリーフォーム: 図形 620"/>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22" name="フリーフォーム: 図形 621"/>
          <p:cNvSpPr/>
          <p:nvPr/>
        </p:nvSpPr>
        <p:spPr>
          <a:xfrm>
            <a:off x="267120" y="869040"/>
            <a:ext cx="10162080" cy="802440"/>
          </a:xfrm>
          <a:custGeom>
            <a:avLst/>
            <a:gdLst/>
            <a:ahLst/>
            <a:cxnLst/>
            <a:rect l="0" t="0" r="r" b="b"/>
            <a:pathLst>
              <a:path w="28228" h="2229">
                <a:moveTo>
                  <a:pt x="0" y="2043"/>
                </a:moveTo>
                <a:lnTo>
                  <a:pt x="0" y="185"/>
                </a:lnTo>
                <a:cubicBezTo>
                  <a:pt x="0" y="173"/>
                  <a:pt x="2"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28043" y="0"/>
                </a:lnTo>
                <a:cubicBezTo>
                  <a:pt x="28055" y="0"/>
                  <a:pt x="28067" y="1"/>
                  <a:pt x="28079" y="3"/>
                </a:cubicBezTo>
                <a:cubicBezTo>
                  <a:pt x="28091" y="6"/>
                  <a:pt x="28102" y="9"/>
                  <a:pt x="28114" y="14"/>
                </a:cubicBezTo>
                <a:cubicBezTo>
                  <a:pt x="28125" y="18"/>
                  <a:pt x="28136" y="24"/>
                  <a:pt x="28146" y="31"/>
                </a:cubicBezTo>
                <a:cubicBezTo>
                  <a:pt x="28156" y="38"/>
                  <a:pt x="28165" y="45"/>
                  <a:pt x="28174" y="54"/>
                </a:cubicBezTo>
                <a:cubicBezTo>
                  <a:pt x="28183" y="63"/>
                  <a:pt x="28190" y="72"/>
                  <a:pt x="28197" y="82"/>
                </a:cubicBezTo>
                <a:cubicBezTo>
                  <a:pt x="28204" y="92"/>
                  <a:pt x="28210" y="103"/>
                  <a:pt x="28214" y="114"/>
                </a:cubicBezTo>
                <a:cubicBezTo>
                  <a:pt x="28219" y="126"/>
                  <a:pt x="28222" y="137"/>
                  <a:pt x="28225" y="149"/>
                </a:cubicBezTo>
                <a:cubicBezTo>
                  <a:pt x="28227" y="161"/>
                  <a:pt x="28228" y="173"/>
                  <a:pt x="28228" y="185"/>
                </a:cubicBezTo>
                <a:lnTo>
                  <a:pt x="28228" y="2043"/>
                </a:lnTo>
                <a:cubicBezTo>
                  <a:pt x="28228" y="2056"/>
                  <a:pt x="28227" y="2068"/>
                  <a:pt x="28225" y="2080"/>
                </a:cubicBezTo>
                <a:cubicBezTo>
                  <a:pt x="28222" y="2092"/>
                  <a:pt x="28219" y="2103"/>
                  <a:pt x="28214" y="2114"/>
                </a:cubicBezTo>
                <a:cubicBezTo>
                  <a:pt x="28210" y="2126"/>
                  <a:pt x="28204" y="2136"/>
                  <a:pt x="28197" y="2147"/>
                </a:cubicBezTo>
                <a:cubicBezTo>
                  <a:pt x="28190" y="2157"/>
                  <a:pt x="28183" y="2166"/>
                  <a:pt x="28174" y="2175"/>
                </a:cubicBezTo>
                <a:cubicBezTo>
                  <a:pt x="28165" y="2183"/>
                  <a:pt x="28156" y="2191"/>
                  <a:pt x="28146" y="2198"/>
                </a:cubicBezTo>
                <a:cubicBezTo>
                  <a:pt x="28136" y="2205"/>
                  <a:pt x="28125" y="2210"/>
                  <a:pt x="28114" y="2215"/>
                </a:cubicBezTo>
                <a:cubicBezTo>
                  <a:pt x="28102" y="2220"/>
                  <a:pt x="28091" y="2223"/>
                  <a:pt x="28079" y="2226"/>
                </a:cubicBezTo>
                <a:cubicBezTo>
                  <a:pt x="28067" y="2228"/>
                  <a:pt x="28055" y="2229"/>
                  <a:pt x="28043" y="2229"/>
                </a:cubicBezTo>
                <a:lnTo>
                  <a:pt x="186" y="2229"/>
                </a:lnTo>
                <a:cubicBezTo>
                  <a:pt x="174" y="2229"/>
                  <a:pt x="162" y="2228"/>
                  <a:pt x="150" y="2226"/>
                </a:cubicBezTo>
                <a:cubicBezTo>
                  <a:pt x="138" y="2223"/>
                  <a:pt x="126" y="2220"/>
                  <a:pt x="115" y="2215"/>
                </a:cubicBezTo>
                <a:cubicBezTo>
                  <a:pt x="104" y="2210"/>
                  <a:pt x="93" y="2205"/>
                  <a:pt x="83" y="2198"/>
                </a:cubicBezTo>
                <a:cubicBezTo>
                  <a:pt x="73" y="2191"/>
                  <a:pt x="63" y="2183"/>
                  <a:pt x="55" y="2175"/>
                </a:cubicBezTo>
                <a:cubicBezTo>
                  <a:pt x="46" y="2166"/>
                  <a:pt x="38" y="2157"/>
                  <a:pt x="32" y="2147"/>
                </a:cubicBezTo>
                <a:cubicBezTo>
                  <a:pt x="25" y="2136"/>
                  <a:pt x="19" y="2126"/>
                  <a:pt x="14" y="2114"/>
                </a:cubicBezTo>
                <a:cubicBezTo>
                  <a:pt x="10" y="2103"/>
                  <a:pt x="6" y="2092"/>
                  <a:pt x="4" y="2080"/>
                </a:cubicBezTo>
                <a:cubicBezTo>
                  <a:pt x="2" y="2068"/>
                  <a:pt x="0" y="2056"/>
                  <a:pt x="0" y="2043"/>
                </a:cubicBezTo>
                <a:close/>
              </a:path>
            </a:pathLst>
          </a:custGeom>
          <a:solidFill>
            <a:srgbClr val="FFFFFF">
              <a:alpha val="8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23" name="フリーフォーム: 図形 622"/>
          <p:cNvSpPr/>
          <p:nvPr/>
        </p:nvSpPr>
        <p:spPr>
          <a:xfrm>
            <a:off x="284040" y="5314680"/>
            <a:ext cx="10145160" cy="1303920"/>
          </a:xfrm>
          <a:custGeom>
            <a:avLst/>
            <a:gdLst/>
            <a:ahLst/>
            <a:cxnLst/>
            <a:rect l="0" t="0" r="r" b="b"/>
            <a:pathLst>
              <a:path w="28181" h="3622">
                <a:moveTo>
                  <a:pt x="0" y="3437"/>
                </a:moveTo>
                <a:lnTo>
                  <a:pt x="0" y="186"/>
                </a:lnTo>
                <a:cubicBezTo>
                  <a:pt x="0" y="174"/>
                  <a:pt x="1" y="161"/>
                  <a:pt x="2" y="149"/>
                </a:cubicBezTo>
                <a:cubicBezTo>
                  <a:pt x="4" y="138"/>
                  <a:pt x="7" y="126"/>
                  <a:pt x="10" y="115"/>
                </a:cubicBezTo>
                <a:cubicBezTo>
                  <a:pt x="14" y="103"/>
                  <a:pt x="18" y="93"/>
                  <a:pt x="23" y="83"/>
                </a:cubicBezTo>
                <a:cubicBezTo>
                  <a:pt x="28" y="72"/>
                  <a:pt x="34" y="63"/>
                  <a:pt x="41" y="54"/>
                </a:cubicBezTo>
                <a:cubicBezTo>
                  <a:pt x="47" y="46"/>
                  <a:pt x="54" y="38"/>
                  <a:pt x="62" y="31"/>
                </a:cubicBezTo>
                <a:cubicBezTo>
                  <a:pt x="69" y="25"/>
                  <a:pt x="77" y="19"/>
                  <a:pt x="86" y="14"/>
                </a:cubicBezTo>
                <a:cubicBezTo>
                  <a:pt x="94" y="9"/>
                  <a:pt x="103" y="6"/>
                  <a:pt x="112" y="4"/>
                </a:cubicBezTo>
                <a:cubicBezTo>
                  <a:pt x="121" y="1"/>
                  <a:pt x="130" y="0"/>
                  <a:pt x="139" y="0"/>
                </a:cubicBezTo>
                <a:lnTo>
                  <a:pt x="27996" y="0"/>
                </a:lnTo>
                <a:cubicBezTo>
                  <a:pt x="28008" y="0"/>
                  <a:pt x="28020" y="1"/>
                  <a:pt x="28032" y="4"/>
                </a:cubicBezTo>
                <a:cubicBezTo>
                  <a:pt x="28044" y="6"/>
                  <a:pt x="28055" y="9"/>
                  <a:pt x="28067" y="14"/>
                </a:cubicBezTo>
                <a:cubicBezTo>
                  <a:pt x="28078" y="19"/>
                  <a:pt x="28089" y="25"/>
                  <a:pt x="28099" y="31"/>
                </a:cubicBezTo>
                <a:cubicBezTo>
                  <a:pt x="28109" y="38"/>
                  <a:pt x="28118" y="46"/>
                  <a:pt x="28127" y="54"/>
                </a:cubicBezTo>
                <a:cubicBezTo>
                  <a:pt x="28136" y="63"/>
                  <a:pt x="28143" y="72"/>
                  <a:pt x="28150" y="83"/>
                </a:cubicBezTo>
                <a:cubicBezTo>
                  <a:pt x="28157" y="93"/>
                  <a:pt x="28163" y="103"/>
                  <a:pt x="28167" y="115"/>
                </a:cubicBezTo>
                <a:cubicBezTo>
                  <a:pt x="28172" y="126"/>
                  <a:pt x="28175" y="138"/>
                  <a:pt x="28178" y="149"/>
                </a:cubicBezTo>
                <a:cubicBezTo>
                  <a:pt x="28180" y="161"/>
                  <a:pt x="28181" y="174"/>
                  <a:pt x="28181" y="186"/>
                </a:cubicBezTo>
                <a:lnTo>
                  <a:pt x="28181" y="3437"/>
                </a:lnTo>
                <a:cubicBezTo>
                  <a:pt x="28181" y="3449"/>
                  <a:pt x="28180" y="3461"/>
                  <a:pt x="28178" y="3473"/>
                </a:cubicBezTo>
                <a:cubicBezTo>
                  <a:pt x="28175" y="3485"/>
                  <a:pt x="28172" y="3496"/>
                  <a:pt x="28167" y="3508"/>
                </a:cubicBezTo>
                <a:cubicBezTo>
                  <a:pt x="28163" y="3519"/>
                  <a:pt x="28157" y="3530"/>
                  <a:pt x="28150" y="3540"/>
                </a:cubicBezTo>
                <a:cubicBezTo>
                  <a:pt x="28143" y="3550"/>
                  <a:pt x="28136" y="3559"/>
                  <a:pt x="28127" y="3568"/>
                </a:cubicBezTo>
                <a:cubicBezTo>
                  <a:pt x="28118" y="3576"/>
                  <a:pt x="28109" y="3584"/>
                  <a:pt x="28099" y="3591"/>
                </a:cubicBezTo>
                <a:cubicBezTo>
                  <a:pt x="28089" y="3598"/>
                  <a:pt x="28078" y="3603"/>
                  <a:pt x="28067" y="3608"/>
                </a:cubicBezTo>
                <a:cubicBezTo>
                  <a:pt x="28055" y="3613"/>
                  <a:pt x="28044" y="3616"/>
                  <a:pt x="28032" y="3619"/>
                </a:cubicBezTo>
                <a:cubicBezTo>
                  <a:pt x="28020" y="3621"/>
                  <a:pt x="28008" y="3622"/>
                  <a:pt x="27996" y="3622"/>
                </a:cubicBezTo>
                <a:lnTo>
                  <a:pt x="139" y="3622"/>
                </a:lnTo>
                <a:cubicBezTo>
                  <a:pt x="130" y="3622"/>
                  <a:pt x="121" y="3621"/>
                  <a:pt x="112" y="3619"/>
                </a:cubicBezTo>
                <a:cubicBezTo>
                  <a:pt x="103" y="3616"/>
                  <a:pt x="94" y="3613"/>
                  <a:pt x="86" y="3608"/>
                </a:cubicBezTo>
                <a:cubicBezTo>
                  <a:pt x="77" y="3603"/>
                  <a:pt x="69" y="3598"/>
                  <a:pt x="62" y="3591"/>
                </a:cubicBezTo>
                <a:cubicBezTo>
                  <a:pt x="54" y="3584"/>
                  <a:pt x="47" y="3576"/>
                  <a:pt x="41" y="3568"/>
                </a:cubicBezTo>
                <a:cubicBezTo>
                  <a:pt x="34" y="3559"/>
                  <a:pt x="28" y="3550"/>
                  <a:pt x="23" y="3540"/>
                </a:cubicBezTo>
                <a:cubicBezTo>
                  <a:pt x="18" y="3530"/>
                  <a:pt x="14" y="3519"/>
                  <a:pt x="10" y="3508"/>
                </a:cubicBezTo>
                <a:cubicBezTo>
                  <a:pt x="7" y="3496"/>
                  <a:pt x="4" y="3485"/>
                  <a:pt x="2" y="3473"/>
                </a:cubicBezTo>
                <a:cubicBezTo>
                  <a:pt x="1" y="3461"/>
                  <a:pt x="0" y="3449"/>
                  <a:pt x="0" y="3437"/>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24" name="フリーフォーム: 図形 623"/>
          <p:cNvSpPr/>
          <p:nvPr/>
        </p:nvSpPr>
        <p:spPr>
          <a:xfrm>
            <a:off x="267120" y="5314680"/>
            <a:ext cx="67320" cy="1303920"/>
          </a:xfrm>
          <a:custGeom>
            <a:avLst/>
            <a:gdLst/>
            <a:ahLst/>
            <a:cxnLst/>
            <a:rect l="0" t="0" r="r" b="b"/>
            <a:pathLst>
              <a:path w="187" h="3622">
                <a:moveTo>
                  <a:pt x="0" y="0"/>
                </a:moveTo>
                <a:lnTo>
                  <a:pt x="187" y="0"/>
                </a:lnTo>
                <a:lnTo>
                  <a:pt x="187" y="3622"/>
                </a:lnTo>
                <a:lnTo>
                  <a:pt x="0" y="3622"/>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25" name="図 624"/>
          <p:cNvPicPr/>
          <p:nvPr/>
        </p:nvPicPr>
        <p:blipFill>
          <a:blip r:embed="rId3"/>
          <a:stretch/>
        </p:blipFill>
        <p:spPr>
          <a:xfrm>
            <a:off x="434520" y="1077840"/>
            <a:ext cx="166680" cy="166680"/>
          </a:xfrm>
          <a:prstGeom prst="rect">
            <a:avLst/>
          </a:prstGeom>
          <a:noFill/>
          <a:ln w="0">
            <a:noFill/>
          </a:ln>
        </p:spPr>
      </p:pic>
      <p:sp>
        <p:nvSpPr>
          <p:cNvPr id="626" name="テキスト ボックス 625"/>
          <p:cNvSpPr txBox="1"/>
          <p:nvPr/>
        </p:nvSpPr>
        <p:spPr>
          <a:xfrm>
            <a:off x="334440" y="155520"/>
            <a:ext cx="12016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研究成果</a:t>
            </a:r>
            <a:endParaRPr lang="en-US" sz="2370" b="0" u="none" strike="noStrike">
              <a:solidFill>
                <a:srgbClr val="000000"/>
              </a:solidFill>
              <a:effectLst/>
              <a:uFillTx/>
              <a:latin typeface="Times New Roman"/>
            </a:endParaRPr>
          </a:p>
        </p:txBody>
      </p:sp>
      <p:sp>
        <p:nvSpPr>
          <p:cNvPr id="627" name="テキスト ボックス 626"/>
          <p:cNvSpPr txBox="1"/>
          <p:nvPr/>
        </p:nvSpPr>
        <p:spPr>
          <a:xfrm>
            <a:off x="668520" y="1064880"/>
            <a:ext cx="9802800" cy="244080"/>
          </a:xfrm>
          <a:prstGeom prst="rect">
            <a:avLst/>
          </a:prstGeom>
          <a:noFill/>
          <a:ln w="0">
            <a:noFill/>
          </a:ln>
        </p:spPr>
        <p:txBody>
          <a:bodyPr wrap="none" lIns="0" tIns="0" rIns="0" bIns="0" anchor="t">
            <a:spAutoFit/>
          </a:bodyPr>
          <a:lstStyle/>
          <a:p>
            <a:r>
              <a:rPr lang="en-US" sz="1320" b="0" u="none" strike="noStrike">
                <a:solidFill>
                  <a:srgbClr val="003366"/>
                </a:solidFill>
                <a:effectLst/>
                <a:uFillTx/>
                <a:latin typeface="NotoSansJP"/>
                <a:ea typeface="NotoSansJP"/>
              </a:rPr>
              <a:t> 銅フタロシアニン(CuPc)</a:t>
            </a:r>
            <a:r>
              <a:rPr lang="zh-CN" sz="1320" b="0" u="none" strike="noStrike">
                <a:solidFill>
                  <a:srgbClr val="003366"/>
                </a:solidFill>
                <a:effectLst/>
                <a:uFillTx/>
                <a:latin typeface="NotoSansJP"/>
                <a:ea typeface="NotoSansJP"/>
              </a:rPr>
              <a:t>をくし形電極に蒸着した低濃度還元性匂いセンサを用い、トリメチルアミン</a:t>
            </a:r>
            <a:r>
              <a:rPr lang="en-US" sz="1320" b="0" u="none" strike="noStrike">
                <a:solidFill>
                  <a:srgbClr val="003366"/>
                </a:solidFill>
                <a:effectLst/>
                <a:uFillTx/>
                <a:latin typeface="NotoSansJP"/>
                <a:ea typeface="NotoSansJP"/>
              </a:rPr>
              <a:t>(TMA)</a:t>
            </a:r>
            <a:r>
              <a:rPr lang="zh-CN" sz="1320" b="0" u="none" strike="noStrike">
                <a:solidFill>
                  <a:srgbClr val="003366"/>
                </a:solidFill>
                <a:effectLst/>
                <a:uFillTx/>
                <a:latin typeface="NotoSansJP"/>
                <a:ea typeface="NotoSansJP"/>
              </a:rPr>
              <a:t>ガス検知について検</a:t>
            </a:r>
            <a:endParaRPr lang="en-US" sz="1320" b="0" u="none" strike="noStrike">
              <a:solidFill>
                <a:srgbClr val="000000"/>
              </a:solidFill>
              <a:effectLst/>
              <a:uFillTx/>
              <a:latin typeface="Times New Roman"/>
            </a:endParaRPr>
          </a:p>
        </p:txBody>
      </p:sp>
      <p:sp>
        <p:nvSpPr>
          <p:cNvPr id="628" name="フリーフォーム: 図形 627"/>
          <p:cNvSpPr/>
          <p:nvPr/>
        </p:nvSpPr>
        <p:spPr>
          <a:xfrm>
            <a:off x="267120" y="1938600"/>
            <a:ext cx="4980960" cy="3108960"/>
          </a:xfrm>
          <a:custGeom>
            <a:avLst/>
            <a:gdLst/>
            <a:ahLst/>
            <a:cxnLst/>
            <a:rect l="0" t="0" r="r" b="b"/>
            <a:pathLst>
              <a:path w="13836" h="8636">
                <a:moveTo>
                  <a:pt x="0" y="8404"/>
                </a:moveTo>
                <a:lnTo>
                  <a:pt x="0" y="232"/>
                </a:lnTo>
                <a:cubicBezTo>
                  <a:pt x="0" y="217"/>
                  <a:pt x="2" y="202"/>
                  <a:pt x="5" y="187"/>
                </a:cubicBezTo>
                <a:cubicBezTo>
                  <a:pt x="8" y="172"/>
                  <a:pt x="12" y="157"/>
                  <a:pt x="18" y="143"/>
                </a:cubicBezTo>
                <a:cubicBezTo>
                  <a:pt x="24" y="129"/>
                  <a:pt x="31" y="116"/>
                  <a:pt x="39" y="103"/>
                </a:cubicBezTo>
                <a:cubicBezTo>
                  <a:pt x="48" y="90"/>
                  <a:pt x="58" y="79"/>
                  <a:pt x="68" y="68"/>
                </a:cubicBezTo>
                <a:cubicBezTo>
                  <a:pt x="79" y="57"/>
                  <a:pt x="91" y="48"/>
                  <a:pt x="103" y="39"/>
                </a:cubicBezTo>
                <a:cubicBezTo>
                  <a:pt x="116" y="31"/>
                  <a:pt x="130" y="23"/>
                  <a:pt x="144" y="18"/>
                </a:cubicBezTo>
                <a:cubicBezTo>
                  <a:pt x="158" y="12"/>
                  <a:pt x="172" y="7"/>
                  <a:pt x="187" y="4"/>
                </a:cubicBezTo>
                <a:cubicBezTo>
                  <a:pt x="202" y="1"/>
                  <a:pt x="217" y="0"/>
                  <a:pt x="232" y="0"/>
                </a:cubicBezTo>
                <a:lnTo>
                  <a:pt x="13604" y="0"/>
                </a:lnTo>
                <a:cubicBezTo>
                  <a:pt x="13619" y="0"/>
                  <a:pt x="13635" y="1"/>
                  <a:pt x="13649" y="4"/>
                </a:cubicBezTo>
                <a:cubicBezTo>
                  <a:pt x="13664" y="7"/>
                  <a:pt x="13679" y="12"/>
                  <a:pt x="13693" y="18"/>
                </a:cubicBezTo>
                <a:cubicBezTo>
                  <a:pt x="13707" y="23"/>
                  <a:pt x="13720" y="31"/>
                  <a:pt x="13733" y="39"/>
                </a:cubicBezTo>
                <a:cubicBezTo>
                  <a:pt x="13746" y="48"/>
                  <a:pt x="13758" y="57"/>
                  <a:pt x="13768" y="68"/>
                </a:cubicBezTo>
                <a:cubicBezTo>
                  <a:pt x="13779" y="79"/>
                  <a:pt x="13789" y="90"/>
                  <a:pt x="13797" y="103"/>
                </a:cubicBezTo>
                <a:cubicBezTo>
                  <a:pt x="13806" y="116"/>
                  <a:pt x="13813" y="129"/>
                  <a:pt x="13819" y="143"/>
                </a:cubicBezTo>
                <a:cubicBezTo>
                  <a:pt x="13824" y="157"/>
                  <a:pt x="13829" y="172"/>
                  <a:pt x="13832" y="187"/>
                </a:cubicBezTo>
                <a:cubicBezTo>
                  <a:pt x="13835" y="202"/>
                  <a:pt x="13836" y="217"/>
                  <a:pt x="13836" y="232"/>
                </a:cubicBezTo>
                <a:lnTo>
                  <a:pt x="13836" y="8404"/>
                </a:lnTo>
                <a:cubicBezTo>
                  <a:pt x="13836" y="8419"/>
                  <a:pt x="13835" y="8434"/>
                  <a:pt x="13832" y="8449"/>
                </a:cubicBezTo>
                <a:cubicBezTo>
                  <a:pt x="13829" y="8464"/>
                  <a:pt x="13824" y="8479"/>
                  <a:pt x="13819" y="8493"/>
                </a:cubicBezTo>
                <a:cubicBezTo>
                  <a:pt x="13813" y="8507"/>
                  <a:pt x="13806" y="8520"/>
                  <a:pt x="13797" y="8533"/>
                </a:cubicBezTo>
                <a:cubicBezTo>
                  <a:pt x="13789" y="8546"/>
                  <a:pt x="13779" y="8557"/>
                  <a:pt x="13768" y="8568"/>
                </a:cubicBezTo>
                <a:cubicBezTo>
                  <a:pt x="13758" y="8579"/>
                  <a:pt x="13746" y="8589"/>
                  <a:pt x="13733" y="8597"/>
                </a:cubicBezTo>
                <a:cubicBezTo>
                  <a:pt x="13720" y="8606"/>
                  <a:pt x="13707" y="8613"/>
                  <a:pt x="13693" y="8619"/>
                </a:cubicBezTo>
                <a:cubicBezTo>
                  <a:pt x="13679" y="8624"/>
                  <a:pt x="13664" y="8629"/>
                  <a:pt x="13649" y="8632"/>
                </a:cubicBezTo>
                <a:cubicBezTo>
                  <a:pt x="13635" y="8635"/>
                  <a:pt x="13619" y="8636"/>
                  <a:pt x="13604" y="8636"/>
                </a:cubicBezTo>
                <a:lnTo>
                  <a:pt x="232" y="8636"/>
                </a:lnTo>
                <a:cubicBezTo>
                  <a:pt x="217" y="8636"/>
                  <a:pt x="202" y="8635"/>
                  <a:pt x="187" y="8632"/>
                </a:cubicBezTo>
                <a:cubicBezTo>
                  <a:pt x="172" y="8629"/>
                  <a:pt x="158" y="8624"/>
                  <a:pt x="144" y="8619"/>
                </a:cubicBezTo>
                <a:cubicBezTo>
                  <a:pt x="130" y="8613"/>
                  <a:pt x="116" y="8606"/>
                  <a:pt x="103" y="8597"/>
                </a:cubicBezTo>
                <a:cubicBezTo>
                  <a:pt x="91" y="8589"/>
                  <a:pt x="79" y="8579"/>
                  <a:pt x="68" y="8568"/>
                </a:cubicBezTo>
                <a:cubicBezTo>
                  <a:pt x="58" y="8557"/>
                  <a:pt x="48" y="8546"/>
                  <a:pt x="39" y="8533"/>
                </a:cubicBezTo>
                <a:cubicBezTo>
                  <a:pt x="31" y="8520"/>
                  <a:pt x="24" y="8507"/>
                  <a:pt x="18" y="8493"/>
                </a:cubicBezTo>
                <a:cubicBezTo>
                  <a:pt x="12" y="8479"/>
                  <a:pt x="8" y="8464"/>
                  <a:pt x="5" y="8449"/>
                </a:cubicBezTo>
                <a:cubicBezTo>
                  <a:pt x="2" y="8434"/>
                  <a:pt x="0" y="8419"/>
                  <a:pt x="0" y="8404"/>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29" name="フリーフォーム: 図形 628"/>
          <p:cNvSpPr/>
          <p:nvPr/>
        </p:nvSpPr>
        <p:spPr>
          <a:xfrm>
            <a:off x="467640" y="2807640"/>
            <a:ext cx="33840" cy="501840"/>
          </a:xfrm>
          <a:custGeom>
            <a:avLst/>
            <a:gdLst/>
            <a:ahLst/>
            <a:cxnLst/>
            <a:rect l="0" t="0" r="r" b="b"/>
            <a:pathLst>
              <a:path w="94" h="1394">
                <a:moveTo>
                  <a:pt x="0" y="0"/>
                </a:moveTo>
                <a:lnTo>
                  <a:pt x="94" y="0"/>
                </a:lnTo>
                <a:lnTo>
                  <a:pt x="94" y="1394"/>
                </a:lnTo>
                <a:lnTo>
                  <a:pt x="0" y="139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30" name="フリーフォーム: 図形 629"/>
          <p:cNvSpPr/>
          <p:nvPr/>
        </p:nvSpPr>
        <p:spPr>
          <a:xfrm>
            <a:off x="467640" y="3476160"/>
            <a:ext cx="4579920" cy="735840"/>
          </a:xfrm>
          <a:custGeom>
            <a:avLst/>
            <a:gdLst/>
            <a:ahLst/>
            <a:cxnLst/>
            <a:rect l="0" t="0" r="r" b="b"/>
            <a:pathLst>
              <a:path w="12722" h="2044">
                <a:moveTo>
                  <a:pt x="0" y="1858"/>
                </a:moveTo>
                <a:lnTo>
                  <a:pt x="0" y="186"/>
                </a:lnTo>
                <a:cubicBezTo>
                  <a:pt x="0" y="174"/>
                  <a:pt x="2" y="162"/>
                  <a:pt x="4" y="150"/>
                </a:cubicBezTo>
                <a:cubicBezTo>
                  <a:pt x="6" y="138"/>
                  <a:pt x="10" y="126"/>
                  <a:pt x="15" y="115"/>
                </a:cubicBezTo>
                <a:cubicBezTo>
                  <a:pt x="19" y="104"/>
                  <a:pt x="25" y="93"/>
                  <a:pt x="32" y="83"/>
                </a:cubicBezTo>
                <a:cubicBezTo>
                  <a:pt x="39" y="73"/>
                  <a:pt x="46" y="63"/>
                  <a:pt x="55" y="55"/>
                </a:cubicBezTo>
                <a:cubicBezTo>
                  <a:pt x="63" y="46"/>
                  <a:pt x="73" y="38"/>
                  <a:pt x="83" y="31"/>
                </a:cubicBezTo>
                <a:cubicBezTo>
                  <a:pt x="93" y="25"/>
                  <a:pt x="104" y="19"/>
                  <a:pt x="115" y="14"/>
                </a:cubicBezTo>
                <a:cubicBezTo>
                  <a:pt x="126" y="10"/>
                  <a:pt x="138" y="6"/>
                  <a:pt x="150" y="4"/>
                </a:cubicBezTo>
                <a:cubicBezTo>
                  <a:pt x="162" y="1"/>
                  <a:pt x="174" y="0"/>
                  <a:pt x="186" y="0"/>
                </a:cubicBezTo>
                <a:lnTo>
                  <a:pt x="12536" y="0"/>
                </a:lnTo>
                <a:cubicBezTo>
                  <a:pt x="12549" y="0"/>
                  <a:pt x="12561" y="1"/>
                  <a:pt x="12573" y="4"/>
                </a:cubicBezTo>
                <a:cubicBezTo>
                  <a:pt x="12585" y="6"/>
                  <a:pt x="12596" y="10"/>
                  <a:pt x="12608" y="14"/>
                </a:cubicBezTo>
                <a:cubicBezTo>
                  <a:pt x="12619" y="19"/>
                  <a:pt x="12630" y="25"/>
                  <a:pt x="12640" y="31"/>
                </a:cubicBezTo>
                <a:cubicBezTo>
                  <a:pt x="12650" y="38"/>
                  <a:pt x="12659" y="46"/>
                  <a:pt x="12668" y="55"/>
                </a:cubicBezTo>
                <a:cubicBezTo>
                  <a:pt x="12676" y="63"/>
                  <a:pt x="12684" y="73"/>
                  <a:pt x="12691" y="83"/>
                </a:cubicBezTo>
                <a:cubicBezTo>
                  <a:pt x="12698" y="93"/>
                  <a:pt x="12703" y="104"/>
                  <a:pt x="12708" y="115"/>
                </a:cubicBezTo>
                <a:cubicBezTo>
                  <a:pt x="12713" y="126"/>
                  <a:pt x="12716" y="138"/>
                  <a:pt x="12719" y="150"/>
                </a:cubicBezTo>
                <a:cubicBezTo>
                  <a:pt x="12721" y="162"/>
                  <a:pt x="12722" y="174"/>
                  <a:pt x="12722" y="186"/>
                </a:cubicBezTo>
                <a:lnTo>
                  <a:pt x="12722" y="1858"/>
                </a:lnTo>
                <a:cubicBezTo>
                  <a:pt x="12722" y="1870"/>
                  <a:pt x="12721" y="1882"/>
                  <a:pt x="12719" y="1894"/>
                </a:cubicBezTo>
                <a:cubicBezTo>
                  <a:pt x="12716" y="1906"/>
                  <a:pt x="12713" y="1918"/>
                  <a:pt x="12708" y="1929"/>
                </a:cubicBezTo>
                <a:cubicBezTo>
                  <a:pt x="12703" y="1941"/>
                  <a:pt x="12698" y="1951"/>
                  <a:pt x="12691" y="1961"/>
                </a:cubicBezTo>
                <a:cubicBezTo>
                  <a:pt x="12684" y="1971"/>
                  <a:pt x="12676" y="1981"/>
                  <a:pt x="12668" y="1989"/>
                </a:cubicBezTo>
                <a:cubicBezTo>
                  <a:pt x="12659" y="1998"/>
                  <a:pt x="12650" y="2006"/>
                  <a:pt x="12640" y="2013"/>
                </a:cubicBezTo>
                <a:cubicBezTo>
                  <a:pt x="12630" y="2019"/>
                  <a:pt x="12619" y="2025"/>
                  <a:pt x="12608" y="2030"/>
                </a:cubicBezTo>
                <a:cubicBezTo>
                  <a:pt x="12596" y="2034"/>
                  <a:pt x="12585" y="2038"/>
                  <a:pt x="12573" y="2040"/>
                </a:cubicBezTo>
                <a:cubicBezTo>
                  <a:pt x="12561" y="2043"/>
                  <a:pt x="12549" y="2044"/>
                  <a:pt x="12536" y="2044"/>
                </a:cubicBezTo>
                <a:lnTo>
                  <a:pt x="186" y="2044"/>
                </a:lnTo>
                <a:cubicBezTo>
                  <a:pt x="174" y="2044"/>
                  <a:pt x="162" y="2043"/>
                  <a:pt x="150" y="2040"/>
                </a:cubicBezTo>
                <a:cubicBezTo>
                  <a:pt x="138" y="2038"/>
                  <a:pt x="126" y="2034"/>
                  <a:pt x="115" y="2030"/>
                </a:cubicBezTo>
                <a:cubicBezTo>
                  <a:pt x="104" y="2025"/>
                  <a:pt x="93" y="2019"/>
                  <a:pt x="83" y="2013"/>
                </a:cubicBezTo>
                <a:cubicBezTo>
                  <a:pt x="73" y="2006"/>
                  <a:pt x="63" y="1998"/>
                  <a:pt x="55" y="1989"/>
                </a:cubicBezTo>
                <a:cubicBezTo>
                  <a:pt x="46" y="1981"/>
                  <a:pt x="39" y="1971"/>
                  <a:pt x="32" y="1961"/>
                </a:cubicBezTo>
                <a:cubicBezTo>
                  <a:pt x="25" y="1951"/>
                  <a:pt x="19" y="1941"/>
                  <a:pt x="15" y="1929"/>
                </a:cubicBezTo>
                <a:cubicBezTo>
                  <a:pt x="10" y="1918"/>
                  <a:pt x="6" y="1906"/>
                  <a:pt x="4" y="1894"/>
                </a:cubicBezTo>
                <a:cubicBezTo>
                  <a:pt x="2" y="1882"/>
                  <a:pt x="0" y="1870"/>
                  <a:pt x="0" y="1858"/>
                </a:cubicBezTo>
                <a:close/>
              </a:path>
            </a:pathLst>
          </a:custGeom>
          <a:solidFill>
            <a:srgbClr val="F9FAF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31" name="フリーフォーム: 図形 630"/>
          <p:cNvSpPr/>
          <p:nvPr/>
        </p:nvSpPr>
        <p:spPr>
          <a:xfrm>
            <a:off x="467640" y="2139120"/>
            <a:ext cx="535320" cy="535320"/>
          </a:xfrm>
          <a:custGeom>
            <a:avLst/>
            <a:gdLst/>
            <a:ahLst/>
            <a:cxnLst/>
            <a:rect l="0" t="0" r="r" b="b"/>
            <a:pathLst>
              <a:path w="1487" h="1487">
                <a:moveTo>
                  <a:pt x="1487" y="744"/>
                </a:moveTo>
                <a:cubicBezTo>
                  <a:pt x="1487" y="768"/>
                  <a:pt x="1486" y="792"/>
                  <a:pt x="1483" y="817"/>
                </a:cubicBezTo>
                <a:cubicBezTo>
                  <a:pt x="1481" y="841"/>
                  <a:pt x="1478" y="865"/>
                  <a:pt x="1473" y="889"/>
                </a:cubicBezTo>
                <a:cubicBezTo>
                  <a:pt x="1468" y="913"/>
                  <a:pt x="1462" y="936"/>
                  <a:pt x="1455" y="959"/>
                </a:cubicBezTo>
                <a:cubicBezTo>
                  <a:pt x="1448" y="983"/>
                  <a:pt x="1440" y="1006"/>
                  <a:pt x="1431" y="1028"/>
                </a:cubicBezTo>
                <a:cubicBezTo>
                  <a:pt x="1421" y="1051"/>
                  <a:pt x="1411" y="1073"/>
                  <a:pt x="1399" y="1094"/>
                </a:cubicBezTo>
                <a:cubicBezTo>
                  <a:pt x="1388" y="1115"/>
                  <a:pt x="1375" y="1136"/>
                  <a:pt x="1362" y="1157"/>
                </a:cubicBezTo>
                <a:cubicBezTo>
                  <a:pt x="1348" y="1177"/>
                  <a:pt x="1334" y="1196"/>
                  <a:pt x="1318" y="1215"/>
                </a:cubicBezTo>
                <a:cubicBezTo>
                  <a:pt x="1303" y="1234"/>
                  <a:pt x="1287" y="1252"/>
                  <a:pt x="1270" y="1269"/>
                </a:cubicBezTo>
                <a:cubicBezTo>
                  <a:pt x="1252" y="1286"/>
                  <a:pt x="1234" y="1303"/>
                  <a:pt x="1215" y="1318"/>
                </a:cubicBezTo>
                <a:cubicBezTo>
                  <a:pt x="1197" y="1333"/>
                  <a:pt x="1177" y="1348"/>
                  <a:pt x="1157" y="1361"/>
                </a:cubicBezTo>
                <a:cubicBezTo>
                  <a:pt x="1137" y="1375"/>
                  <a:pt x="1116" y="1387"/>
                  <a:pt x="1094" y="1399"/>
                </a:cubicBezTo>
                <a:cubicBezTo>
                  <a:pt x="1073" y="1410"/>
                  <a:pt x="1051" y="1421"/>
                  <a:pt x="1029" y="1430"/>
                </a:cubicBezTo>
                <a:cubicBezTo>
                  <a:pt x="1006" y="1439"/>
                  <a:pt x="983" y="1448"/>
                  <a:pt x="960" y="1455"/>
                </a:cubicBezTo>
                <a:cubicBezTo>
                  <a:pt x="937" y="1462"/>
                  <a:pt x="912" y="1468"/>
                  <a:pt x="888" y="1472"/>
                </a:cubicBezTo>
                <a:cubicBezTo>
                  <a:pt x="864" y="1477"/>
                  <a:pt x="840" y="1481"/>
                  <a:pt x="816" y="1483"/>
                </a:cubicBezTo>
                <a:cubicBezTo>
                  <a:pt x="792" y="1485"/>
                  <a:pt x="768" y="1487"/>
                  <a:pt x="743" y="1487"/>
                </a:cubicBezTo>
                <a:cubicBezTo>
                  <a:pt x="719" y="1487"/>
                  <a:pt x="695" y="1485"/>
                  <a:pt x="670" y="1483"/>
                </a:cubicBezTo>
                <a:cubicBezTo>
                  <a:pt x="646" y="1481"/>
                  <a:pt x="622" y="1477"/>
                  <a:pt x="598" y="1472"/>
                </a:cubicBezTo>
                <a:cubicBezTo>
                  <a:pt x="574" y="1468"/>
                  <a:pt x="551" y="1462"/>
                  <a:pt x="528" y="1455"/>
                </a:cubicBezTo>
                <a:cubicBezTo>
                  <a:pt x="504" y="1448"/>
                  <a:pt x="481" y="1439"/>
                  <a:pt x="459" y="1430"/>
                </a:cubicBezTo>
                <a:cubicBezTo>
                  <a:pt x="437" y="1421"/>
                  <a:pt x="415" y="1410"/>
                  <a:pt x="393" y="1399"/>
                </a:cubicBezTo>
                <a:cubicBezTo>
                  <a:pt x="372" y="1387"/>
                  <a:pt x="351" y="1375"/>
                  <a:pt x="331" y="1361"/>
                </a:cubicBezTo>
                <a:cubicBezTo>
                  <a:pt x="310" y="1348"/>
                  <a:pt x="291" y="1333"/>
                  <a:pt x="272" y="1318"/>
                </a:cubicBezTo>
                <a:cubicBezTo>
                  <a:pt x="253" y="1303"/>
                  <a:pt x="235" y="1286"/>
                  <a:pt x="218" y="1269"/>
                </a:cubicBezTo>
                <a:cubicBezTo>
                  <a:pt x="201" y="1252"/>
                  <a:pt x="184" y="1234"/>
                  <a:pt x="169" y="1215"/>
                </a:cubicBezTo>
                <a:cubicBezTo>
                  <a:pt x="154" y="1196"/>
                  <a:pt x="139" y="1177"/>
                  <a:pt x="126" y="1157"/>
                </a:cubicBezTo>
                <a:cubicBezTo>
                  <a:pt x="112" y="1136"/>
                  <a:pt x="100" y="1115"/>
                  <a:pt x="88" y="1094"/>
                </a:cubicBezTo>
                <a:cubicBezTo>
                  <a:pt x="77" y="1073"/>
                  <a:pt x="66" y="1051"/>
                  <a:pt x="57" y="1028"/>
                </a:cubicBezTo>
                <a:cubicBezTo>
                  <a:pt x="48" y="1006"/>
                  <a:pt x="39" y="983"/>
                  <a:pt x="32" y="959"/>
                </a:cubicBezTo>
                <a:cubicBezTo>
                  <a:pt x="25" y="936"/>
                  <a:pt x="19" y="913"/>
                  <a:pt x="15" y="889"/>
                </a:cubicBezTo>
                <a:cubicBezTo>
                  <a:pt x="10" y="865"/>
                  <a:pt x="6" y="841"/>
                  <a:pt x="4" y="817"/>
                </a:cubicBezTo>
                <a:cubicBezTo>
                  <a:pt x="2" y="792"/>
                  <a:pt x="0" y="768"/>
                  <a:pt x="0" y="744"/>
                </a:cubicBezTo>
                <a:cubicBezTo>
                  <a:pt x="0" y="719"/>
                  <a:pt x="2" y="694"/>
                  <a:pt x="4" y="670"/>
                </a:cubicBezTo>
                <a:cubicBezTo>
                  <a:pt x="6" y="646"/>
                  <a:pt x="10" y="622"/>
                  <a:pt x="15" y="598"/>
                </a:cubicBezTo>
                <a:cubicBezTo>
                  <a:pt x="19" y="574"/>
                  <a:pt x="25" y="551"/>
                  <a:pt x="32" y="527"/>
                </a:cubicBezTo>
                <a:cubicBezTo>
                  <a:pt x="39" y="504"/>
                  <a:pt x="48" y="481"/>
                  <a:pt x="57" y="459"/>
                </a:cubicBezTo>
                <a:cubicBezTo>
                  <a:pt x="66" y="436"/>
                  <a:pt x="77" y="414"/>
                  <a:pt x="88" y="393"/>
                </a:cubicBezTo>
                <a:cubicBezTo>
                  <a:pt x="100" y="371"/>
                  <a:pt x="112" y="350"/>
                  <a:pt x="126" y="330"/>
                </a:cubicBezTo>
                <a:cubicBezTo>
                  <a:pt x="139" y="310"/>
                  <a:pt x="154" y="290"/>
                  <a:pt x="169" y="272"/>
                </a:cubicBezTo>
                <a:cubicBezTo>
                  <a:pt x="184" y="253"/>
                  <a:pt x="201" y="235"/>
                  <a:pt x="218" y="218"/>
                </a:cubicBezTo>
                <a:cubicBezTo>
                  <a:pt x="235" y="200"/>
                  <a:pt x="253" y="184"/>
                  <a:pt x="272" y="169"/>
                </a:cubicBezTo>
                <a:cubicBezTo>
                  <a:pt x="291" y="153"/>
                  <a:pt x="310" y="139"/>
                  <a:pt x="331" y="125"/>
                </a:cubicBezTo>
                <a:cubicBezTo>
                  <a:pt x="351" y="112"/>
                  <a:pt x="372" y="99"/>
                  <a:pt x="393" y="88"/>
                </a:cubicBezTo>
                <a:cubicBezTo>
                  <a:pt x="415" y="76"/>
                  <a:pt x="437" y="66"/>
                  <a:pt x="459" y="57"/>
                </a:cubicBezTo>
                <a:cubicBezTo>
                  <a:pt x="481" y="47"/>
                  <a:pt x="504" y="39"/>
                  <a:pt x="528" y="32"/>
                </a:cubicBezTo>
                <a:cubicBezTo>
                  <a:pt x="551" y="25"/>
                  <a:pt x="574" y="19"/>
                  <a:pt x="598" y="14"/>
                </a:cubicBezTo>
                <a:cubicBezTo>
                  <a:pt x="622" y="10"/>
                  <a:pt x="646" y="6"/>
                  <a:pt x="670" y="4"/>
                </a:cubicBezTo>
                <a:cubicBezTo>
                  <a:pt x="695" y="1"/>
                  <a:pt x="719" y="0"/>
                  <a:pt x="743" y="0"/>
                </a:cubicBezTo>
                <a:cubicBezTo>
                  <a:pt x="768" y="0"/>
                  <a:pt x="792" y="1"/>
                  <a:pt x="816" y="4"/>
                </a:cubicBezTo>
                <a:cubicBezTo>
                  <a:pt x="840" y="6"/>
                  <a:pt x="864" y="10"/>
                  <a:pt x="888" y="14"/>
                </a:cubicBezTo>
                <a:cubicBezTo>
                  <a:pt x="912" y="19"/>
                  <a:pt x="937" y="25"/>
                  <a:pt x="960" y="32"/>
                </a:cubicBezTo>
                <a:cubicBezTo>
                  <a:pt x="983" y="39"/>
                  <a:pt x="1006" y="47"/>
                  <a:pt x="1029" y="57"/>
                </a:cubicBezTo>
                <a:cubicBezTo>
                  <a:pt x="1051" y="66"/>
                  <a:pt x="1073" y="76"/>
                  <a:pt x="1094" y="88"/>
                </a:cubicBezTo>
                <a:cubicBezTo>
                  <a:pt x="1116" y="99"/>
                  <a:pt x="1137" y="112"/>
                  <a:pt x="1157" y="125"/>
                </a:cubicBezTo>
                <a:cubicBezTo>
                  <a:pt x="1177" y="139"/>
                  <a:pt x="1197" y="153"/>
                  <a:pt x="1215" y="169"/>
                </a:cubicBezTo>
                <a:cubicBezTo>
                  <a:pt x="1234" y="184"/>
                  <a:pt x="1252" y="200"/>
                  <a:pt x="1270" y="218"/>
                </a:cubicBezTo>
                <a:cubicBezTo>
                  <a:pt x="1287" y="235"/>
                  <a:pt x="1303" y="253"/>
                  <a:pt x="1318" y="272"/>
                </a:cubicBezTo>
                <a:cubicBezTo>
                  <a:pt x="1334" y="290"/>
                  <a:pt x="1348" y="310"/>
                  <a:pt x="1362" y="330"/>
                </a:cubicBezTo>
                <a:cubicBezTo>
                  <a:pt x="1375" y="350"/>
                  <a:pt x="1388" y="371"/>
                  <a:pt x="1399" y="393"/>
                </a:cubicBezTo>
                <a:cubicBezTo>
                  <a:pt x="1411" y="414"/>
                  <a:pt x="1421" y="436"/>
                  <a:pt x="1431" y="459"/>
                </a:cubicBezTo>
                <a:cubicBezTo>
                  <a:pt x="1440" y="481"/>
                  <a:pt x="1448" y="504"/>
                  <a:pt x="1455" y="527"/>
                </a:cubicBezTo>
                <a:cubicBezTo>
                  <a:pt x="1462" y="551"/>
                  <a:pt x="1468" y="574"/>
                  <a:pt x="1473" y="598"/>
                </a:cubicBezTo>
                <a:cubicBezTo>
                  <a:pt x="1478" y="622"/>
                  <a:pt x="1481" y="646"/>
                  <a:pt x="1483" y="670"/>
                </a:cubicBezTo>
                <a:cubicBezTo>
                  <a:pt x="1486" y="694"/>
                  <a:pt x="1487" y="719"/>
                  <a:pt x="1487" y="744"/>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32" name="図 631"/>
          <p:cNvPicPr/>
          <p:nvPr/>
        </p:nvPicPr>
        <p:blipFill>
          <a:blip r:embed="rId4"/>
          <a:stretch/>
        </p:blipFill>
        <p:spPr>
          <a:xfrm>
            <a:off x="610200" y="2281320"/>
            <a:ext cx="250200" cy="250200"/>
          </a:xfrm>
          <a:prstGeom prst="rect">
            <a:avLst/>
          </a:prstGeom>
          <a:noFill/>
          <a:ln w="0">
            <a:noFill/>
          </a:ln>
        </p:spPr>
      </p:pic>
      <p:sp>
        <p:nvSpPr>
          <p:cNvPr id="633" name="テキスト ボックス 632"/>
          <p:cNvSpPr txBox="1"/>
          <p:nvPr/>
        </p:nvSpPr>
        <p:spPr>
          <a:xfrm>
            <a:off x="434520" y="1298880"/>
            <a:ext cx="134172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討を行いました。</a:t>
            </a:r>
            <a:endParaRPr lang="en-US" sz="1320" b="0" u="none" strike="noStrike">
              <a:solidFill>
                <a:srgbClr val="000000"/>
              </a:solidFill>
              <a:effectLst/>
              <a:uFillTx/>
              <a:latin typeface="Times New Roman"/>
            </a:endParaRPr>
          </a:p>
        </p:txBody>
      </p:sp>
      <p:sp>
        <p:nvSpPr>
          <p:cNvPr id="634" name="テキスト ボックス 633"/>
          <p:cNvSpPr txBox="1"/>
          <p:nvPr/>
        </p:nvSpPr>
        <p:spPr>
          <a:xfrm>
            <a:off x="1136520" y="2304000"/>
            <a:ext cx="140904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低濃度検出能力</a:t>
            </a:r>
            <a:endParaRPr lang="en-US" sz="1580" b="0" u="none" strike="noStrike">
              <a:solidFill>
                <a:srgbClr val="000000"/>
              </a:solidFill>
              <a:effectLst/>
              <a:uFillTx/>
              <a:latin typeface="Times New Roman"/>
            </a:endParaRPr>
          </a:p>
        </p:txBody>
      </p:sp>
      <p:sp>
        <p:nvSpPr>
          <p:cNvPr id="635" name="テキスト ボックス 634"/>
          <p:cNvSpPr txBox="1"/>
          <p:nvPr/>
        </p:nvSpPr>
        <p:spPr>
          <a:xfrm>
            <a:off x="635040" y="2852280"/>
            <a:ext cx="259488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TMA</a:t>
            </a:r>
            <a:r>
              <a:rPr lang="zh-CN" sz="1180" b="0" u="none" strike="noStrike">
                <a:solidFill>
                  <a:srgbClr val="000000"/>
                </a:solidFill>
                <a:effectLst/>
                <a:uFillTx/>
                <a:latin typeface="NotoSansJP"/>
                <a:ea typeface="NotoSansJP"/>
              </a:rPr>
              <a:t>濃度 </a:t>
            </a:r>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未満 の検知に成功</a:t>
            </a:r>
            <a:endParaRPr lang="en-US" sz="1180" b="0" u="none" strike="noStrike">
              <a:solidFill>
                <a:srgbClr val="000000"/>
              </a:solidFill>
              <a:effectLst/>
              <a:uFillTx/>
              <a:latin typeface="Times New Roman"/>
            </a:endParaRPr>
          </a:p>
        </p:txBody>
      </p:sp>
      <p:sp>
        <p:nvSpPr>
          <p:cNvPr id="636" name="テキスト ボックス 635"/>
          <p:cNvSpPr txBox="1"/>
          <p:nvPr/>
        </p:nvSpPr>
        <p:spPr>
          <a:xfrm>
            <a:off x="635040" y="3167280"/>
            <a:ext cx="338760" cy="136080"/>
          </a:xfrm>
          <a:prstGeom prst="rect">
            <a:avLst/>
          </a:prstGeom>
          <a:noFill/>
          <a:ln w="0">
            <a:noFill/>
          </a:ln>
        </p:spPr>
        <p:txBody>
          <a:bodyPr wrap="none" lIns="0" tIns="0" rIns="0" bIns="0" anchor="t">
            <a:spAutoFit/>
          </a:bodyPr>
          <a:lstStyle/>
          <a:p>
            <a:r>
              <a:rPr lang="en-US" sz="920" b="0" u="none" strike="noStrike">
                <a:solidFill>
                  <a:srgbClr val="000000"/>
                </a:solidFill>
                <a:effectLst/>
                <a:uFillTx/>
                <a:latin typeface="NotoSansJP"/>
                <a:ea typeface="NotoSansJP"/>
              </a:rPr>
              <a:t>0ppm</a:t>
            </a:r>
            <a:endParaRPr lang="en-US" sz="920" b="0" u="none" strike="noStrike">
              <a:solidFill>
                <a:srgbClr val="000000"/>
              </a:solidFill>
              <a:effectLst/>
              <a:uFillTx/>
              <a:latin typeface="Times New Roman"/>
            </a:endParaRPr>
          </a:p>
        </p:txBody>
      </p:sp>
      <p:pic>
        <p:nvPicPr>
          <p:cNvPr id="637" name="図 636"/>
          <p:cNvPicPr/>
          <p:nvPr/>
        </p:nvPicPr>
        <p:blipFill>
          <a:blip r:embed="rId5"/>
          <a:stretch/>
        </p:blipFill>
        <p:spPr>
          <a:xfrm>
            <a:off x="601560" y="3643560"/>
            <a:ext cx="133200" cy="133200"/>
          </a:xfrm>
          <a:prstGeom prst="rect">
            <a:avLst/>
          </a:prstGeom>
          <a:noFill/>
          <a:ln w="0">
            <a:noFill/>
          </a:ln>
        </p:spPr>
      </p:pic>
      <p:sp>
        <p:nvSpPr>
          <p:cNvPr id="638" name="テキスト ボックス 637"/>
          <p:cNvSpPr txBox="1"/>
          <p:nvPr/>
        </p:nvSpPr>
        <p:spPr>
          <a:xfrm>
            <a:off x="4512600" y="3167280"/>
            <a:ext cx="450720" cy="136080"/>
          </a:xfrm>
          <a:prstGeom prst="rect">
            <a:avLst/>
          </a:prstGeom>
          <a:noFill/>
          <a:ln w="0">
            <a:noFill/>
          </a:ln>
        </p:spPr>
        <p:txBody>
          <a:bodyPr wrap="none" lIns="0" tIns="0" rIns="0" bIns="0" anchor="t">
            <a:spAutoFit/>
          </a:bodyPr>
          <a:lstStyle/>
          <a:p>
            <a:r>
              <a:rPr lang="en-US" sz="920" b="0" u="none" strike="noStrike">
                <a:solidFill>
                  <a:srgbClr val="000000"/>
                </a:solidFill>
                <a:effectLst/>
                <a:uFillTx/>
                <a:latin typeface="NotoSansJP"/>
                <a:ea typeface="NotoSansJP"/>
              </a:rPr>
              <a:t>1.2ppm</a:t>
            </a:r>
            <a:endParaRPr lang="en-US" sz="920" b="0" u="none" strike="noStrike">
              <a:solidFill>
                <a:srgbClr val="000000"/>
              </a:solidFill>
              <a:effectLst/>
              <a:uFillTx/>
              <a:latin typeface="Times New Roman"/>
            </a:endParaRPr>
          </a:p>
        </p:txBody>
      </p:sp>
      <p:pic>
        <p:nvPicPr>
          <p:cNvPr id="639" name="図 638"/>
          <p:cNvPicPr/>
          <p:nvPr/>
        </p:nvPicPr>
        <p:blipFill>
          <a:blip r:embed="rId5"/>
          <a:stretch/>
        </p:blipFill>
        <p:spPr>
          <a:xfrm>
            <a:off x="601560" y="3911040"/>
            <a:ext cx="133200" cy="133200"/>
          </a:xfrm>
          <a:prstGeom prst="rect">
            <a:avLst/>
          </a:prstGeom>
          <a:noFill/>
          <a:ln w="0">
            <a:noFill/>
          </a:ln>
        </p:spPr>
      </p:pic>
      <p:sp>
        <p:nvSpPr>
          <p:cNvPr id="640" name="テキスト ボックス 639"/>
          <p:cNvSpPr txBox="1"/>
          <p:nvPr/>
        </p:nvSpPr>
        <p:spPr>
          <a:xfrm>
            <a:off x="802080" y="3644640"/>
            <a:ext cx="25488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視力低下のリスクが発生する前に検知可能</a:t>
            </a:r>
            <a:endParaRPr lang="en-US" sz="1050" b="0" u="none" strike="noStrike">
              <a:solidFill>
                <a:srgbClr val="000000"/>
              </a:solidFill>
              <a:effectLst/>
              <a:uFillTx/>
              <a:latin typeface="Times New Roman"/>
            </a:endParaRPr>
          </a:p>
        </p:txBody>
      </p:sp>
      <p:sp>
        <p:nvSpPr>
          <p:cNvPr id="641" name="フリーフォーム: 図形 640"/>
          <p:cNvSpPr/>
          <p:nvPr/>
        </p:nvSpPr>
        <p:spPr>
          <a:xfrm>
            <a:off x="5448240" y="1938600"/>
            <a:ext cx="4980960" cy="3108960"/>
          </a:xfrm>
          <a:custGeom>
            <a:avLst/>
            <a:gdLst/>
            <a:ahLst/>
            <a:cxnLst/>
            <a:rect l="0" t="0" r="r" b="b"/>
            <a:pathLst>
              <a:path w="13836" h="8636">
                <a:moveTo>
                  <a:pt x="0" y="8404"/>
                </a:moveTo>
                <a:lnTo>
                  <a:pt x="0" y="232"/>
                </a:lnTo>
                <a:cubicBezTo>
                  <a:pt x="0" y="217"/>
                  <a:pt x="2" y="202"/>
                  <a:pt x="5" y="187"/>
                </a:cubicBezTo>
                <a:cubicBezTo>
                  <a:pt x="8" y="172"/>
                  <a:pt x="12" y="157"/>
                  <a:pt x="18" y="143"/>
                </a:cubicBezTo>
                <a:cubicBezTo>
                  <a:pt x="24" y="129"/>
                  <a:pt x="31" y="116"/>
                  <a:pt x="40" y="103"/>
                </a:cubicBezTo>
                <a:cubicBezTo>
                  <a:pt x="48" y="90"/>
                  <a:pt x="58" y="79"/>
                  <a:pt x="68" y="68"/>
                </a:cubicBezTo>
                <a:cubicBezTo>
                  <a:pt x="79" y="57"/>
                  <a:pt x="91" y="48"/>
                  <a:pt x="104" y="39"/>
                </a:cubicBezTo>
                <a:cubicBezTo>
                  <a:pt x="116" y="31"/>
                  <a:pt x="130" y="23"/>
                  <a:pt x="144" y="18"/>
                </a:cubicBezTo>
                <a:cubicBezTo>
                  <a:pt x="158" y="12"/>
                  <a:pt x="172" y="7"/>
                  <a:pt x="187" y="4"/>
                </a:cubicBezTo>
                <a:cubicBezTo>
                  <a:pt x="202" y="1"/>
                  <a:pt x="217" y="0"/>
                  <a:pt x="233" y="0"/>
                </a:cubicBezTo>
                <a:lnTo>
                  <a:pt x="13604" y="0"/>
                </a:lnTo>
                <a:cubicBezTo>
                  <a:pt x="13620" y="0"/>
                  <a:pt x="13635" y="1"/>
                  <a:pt x="13650" y="4"/>
                </a:cubicBezTo>
                <a:cubicBezTo>
                  <a:pt x="13664" y="7"/>
                  <a:pt x="13679" y="12"/>
                  <a:pt x="13693" y="18"/>
                </a:cubicBezTo>
                <a:cubicBezTo>
                  <a:pt x="13707" y="23"/>
                  <a:pt x="13721" y="31"/>
                  <a:pt x="13733" y="39"/>
                </a:cubicBezTo>
                <a:cubicBezTo>
                  <a:pt x="13746" y="48"/>
                  <a:pt x="13758" y="57"/>
                  <a:pt x="13768" y="68"/>
                </a:cubicBezTo>
                <a:cubicBezTo>
                  <a:pt x="13779" y="79"/>
                  <a:pt x="13789" y="90"/>
                  <a:pt x="13797" y="103"/>
                </a:cubicBezTo>
                <a:cubicBezTo>
                  <a:pt x="13806" y="116"/>
                  <a:pt x="13813" y="129"/>
                  <a:pt x="13819" y="143"/>
                </a:cubicBezTo>
                <a:cubicBezTo>
                  <a:pt x="13825" y="157"/>
                  <a:pt x="13829" y="172"/>
                  <a:pt x="13832" y="187"/>
                </a:cubicBezTo>
                <a:cubicBezTo>
                  <a:pt x="13835" y="202"/>
                  <a:pt x="13836" y="217"/>
                  <a:pt x="13836" y="232"/>
                </a:cubicBezTo>
                <a:lnTo>
                  <a:pt x="13836" y="8404"/>
                </a:lnTo>
                <a:cubicBezTo>
                  <a:pt x="13836" y="8419"/>
                  <a:pt x="13835" y="8434"/>
                  <a:pt x="13832" y="8449"/>
                </a:cubicBezTo>
                <a:cubicBezTo>
                  <a:pt x="13829" y="8464"/>
                  <a:pt x="13825" y="8479"/>
                  <a:pt x="13819" y="8493"/>
                </a:cubicBezTo>
                <a:cubicBezTo>
                  <a:pt x="13813" y="8507"/>
                  <a:pt x="13806" y="8520"/>
                  <a:pt x="13797" y="8533"/>
                </a:cubicBezTo>
                <a:cubicBezTo>
                  <a:pt x="13789" y="8546"/>
                  <a:pt x="13779" y="8557"/>
                  <a:pt x="13768" y="8568"/>
                </a:cubicBezTo>
                <a:cubicBezTo>
                  <a:pt x="13758" y="8579"/>
                  <a:pt x="13746" y="8589"/>
                  <a:pt x="13733" y="8597"/>
                </a:cubicBezTo>
                <a:cubicBezTo>
                  <a:pt x="13721" y="8606"/>
                  <a:pt x="13707" y="8613"/>
                  <a:pt x="13693" y="8619"/>
                </a:cubicBezTo>
                <a:cubicBezTo>
                  <a:pt x="13679" y="8624"/>
                  <a:pt x="13664" y="8629"/>
                  <a:pt x="13650" y="8632"/>
                </a:cubicBezTo>
                <a:cubicBezTo>
                  <a:pt x="13635" y="8635"/>
                  <a:pt x="13620" y="8636"/>
                  <a:pt x="13604" y="8636"/>
                </a:cubicBezTo>
                <a:lnTo>
                  <a:pt x="233" y="8636"/>
                </a:lnTo>
                <a:cubicBezTo>
                  <a:pt x="217" y="8636"/>
                  <a:pt x="202" y="8635"/>
                  <a:pt x="187" y="8632"/>
                </a:cubicBezTo>
                <a:cubicBezTo>
                  <a:pt x="172" y="8629"/>
                  <a:pt x="158" y="8624"/>
                  <a:pt x="144" y="8619"/>
                </a:cubicBezTo>
                <a:cubicBezTo>
                  <a:pt x="130" y="8613"/>
                  <a:pt x="116" y="8606"/>
                  <a:pt x="104" y="8597"/>
                </a:cubicBezTo>
                <a:cubicBezTo>
                  <a:pt x="91" y="8589"/>
                  <a:pt x="79" y="8579"/>
                  <a:pt x="68" y="8568"/>
                </a:cubicBezTo>
                <a:cubicBezTo>
                  <a:pt x="58" y="8557"/>
                  <a:pt x="48" y="8546"/>
                  <a:pt x="40" y="8533"/>
                </a:cubicBezTo>
                <a:cubicBezTo>
                  <a:pt x="31" y="8520"/>
                  <a:pt x="24" y="8507"/>
                  <a:pt x="18" y="8493"/>
                </a:cubicBezTo>
                <a:cubicBezTo>
                  <a:pt x="12" y="8479"/>
                  <a:pt x="8" y="8464"/>
                  <a:pt x="5" y="8449"/>
                </a:cubicBezTo>
                <a:cubicBezTo>
                  <a:pt x="2" y="8434"/>
                  <a:pt x="0" y="8419"/>
                  <a:pt x="0" y="8404"/>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42" name="フリーフォーム: 図形 641"/>
          <p:cNvSpPr/>
          <p:nvPr/>
        </p:nvSpPr>
        <p:spPr>
          <a:xfrm>
            <a:off x="5649120" y="2807640"/>
            <a:ext cx="33480" cy="1136880"/>
          </a:xfrm>
          <a:custGeom>
            <a:avLst/>
            <a:gdLst/>
            <a:ahLst/>
            <a:cxnLst/>
            <a:rect l="0" t="0" r="r" b="b"/>
            <a:pathLst>
              <a:path w="93" h="3158">
                <a:moveTo>
                  <a:pt x="0" y="0"/>
                </a:moveTo>
                <a:lnTo>
                  <a:pt x="93" y="0"/>
                </a:lnTo>
                <a:lnTo>
                  <a:pt x="93" y="3158"/>
                </a:lnTo>
                <a:lnTo>
                  <a:pt x="0" y="3158"/>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43" name="フリーフォーム: 図形 642"/>
          <p:cNvSpPr/>
          <p:nvPr/>
        </p:nvSpPr>
        <p:spPr>
          <a:xfrm>
            <a:off x="5649120" y="4111200"/>
            <a:ext cx="4579560" cy="735840"/>
          </a:xfrm>
          <a:custGeom>
            <a:avLst/>
            <a:gdLst/>
            <a:ahLst/>
            <a:cxnLst/>
            <a:rect l="0" t="0" r="r" b="b"/>
            <a:pathLst>
              <a:path w="12721" h="2044">
                <a:moveTo>
                  <a:pt x="0" y="1858"/>
                </a:moveTo>
                <a:lnTo>
                  <a:pt x="0" y="186"/>
                </a:lnTo>
                <a:cubicBezTo>
                  <a:pt x="0" y="174"/>
                  <a:pt x="1" y="162"/>
                  <a:pt x="3" y="150"/>
                </a:cubicBezTo>
                <a:cubicBezTo>
                  <a:pt x="5" y="138"/>
                  <a:pt x="9" y="126"/>
                  <a:pt x="14" y="115"/>
                </a:cubicBezTo>
                <a:cubicBezTo>
                  <a:pt x="18" y="104"/>
                  <a:pt x="24" y="93"/>
                  <a:pt x="31" y="83"/>
                </a:cubicBezTo>
                <a:cubicBezTo>
                  <a:pt x="38" y="73"/>
                  <a:pt x="45" y="63"/>
                  <a:pt x="54" y="55"/>
                </a:cubicBezTo>
                <a:cubicBezTo>
                  <a:pt x="63" y="46"/>
                  <a:pt x="72" y="38"/>
                  <a:pt x="82" y="32"/>
                </a:cubicBezTo>
                <a:cubicBezTo>
                  <a:pt x="92" y="25"/>
                  <a:pt x="103" y="19"/>
                  <a:pt x="114" y="14"/>
                </a:cubicBezTo>
                <a:cubicBezTo>
                  <a:pt x="125" y="10"/>
                  <a:pt x="137" y="6"/>
                  <a:pt x="149" y="4"/>
                </a:cubicBezTo>
                <a:cubicBezTo>
                  <a:pt x="161" y="2"/>
                  <a:pt x="173" y="0"/>
                  <a:pt x="185" y="0"/>
                </a:cubicBezTo>
                <a:lnTo>
                  <a:pt x="12536" y="0"/>
                </a:lnTo>
                <a:cubicBezTo>
                  <a:pt x="12548" y="0"/>
                  <a:pt x="12560" y="2"/>
                  <a:pt x="12572" y="4"/>
                </a:cubicBezTo>
                <a:cubicBezTo>
                  <a:pt x="12584" y="6"/>
                  <a:pt x="12595" y="10"/>
                  <a:pt x="12607" y="14"/>
                </a:cubicBezTo>
                <a:cubicBezTo>
                  <a:pt x="12618" y="19"/>
                  <a:pt x="12629" y="25"/>
                  <a:pt x="12639" y="32"/>
                </a:cubicBezTo>
                <a:cubicBezTo>
                  <a:pt x="12649" y="38"/>
                  <a:pt x="12658" y="46"/>
                  <a:pt x="12667" y="55"/>
                </a:cubicBezTo>
                <a:cubicBezTo>
                  <a:pt x="12676" y="63"/>
                  <a:pt x="12683" y="73"/>
                  <a:pt x="12690" y="83"/>
                </a:cubicBezTo>
                <a:cubicBezTo>
                  <a:pt x="12697" y="93"/>
                  <a:pt x="12702" y="104"/>
                  <a:pt x="12707" y="115"/>
                </a:cubicBezTo>
                <a:cubicBezTo>
                  <a:pt x="12712" y="126"/>
                  <a:pt x="12715" y="138"/>
                  <a:pt x="12718" y="150"/>
                </a:cubicBezTo>
                <a:cubicBezTo>
                  <a:pt x="12720" y="162"/>
                  <a:pt x="12721" y="174"/>
                  <a:pt x="12721" y="186"/>
                </a:cubicBezTo>
                <a:lnTo>
                  <a:pt x="12721" y="1858"/>
                </a:lnTo>
                <a:cubicBezTo>
                  <a:pt x="12721" y="1871"/>
                  <a:pt x="12720" y="1883"/>
                  <a:pt x="12718" y="1895"/>
                </a:cubicBezTo>
                <a:cubicBezTo>
                  <a:pt x="12715" y="1907"/>
                  <a:pt x="12712" y="1918"/>
                  <a:pt x="12707" y="1929"/>
                </a:cubicBezTo>
                <a:cubicBezTo>
                  <a:pt x="12702" y="1941"/>
                  <a:pt x="12697" y="1951"/>
                  <a:pt x="12690" y="1962"/>
                </a:cubicBezTo>
                <a:cubicBezTo>
                  <a:pt x="12683" y="1972"/>
                  <a:pt x="12676" y="1981"/>
                  <a:pt x="12667" y="1990"/>
                </a:cubicBezTo>
                <a:cubicBezTo>
                  <a:pt x="12658" y="1998"/>
                  <a:pt x="12649" y="2006"/>
                  <a:pt x="12639" y="2013"/>
                </a:cubicBezTo>
                <a:cubicBezTo>
                  <a:pt x="12629" y="2020"/>
                  <a:pt x="12618" y="2025"/>
                  <a:pt x="12607" y="2030"/>
                </a:cubicBezTo>
                <a:cubicBezTo>
                  <a:pt x="12595" y="2035"/>
                  <a:pt x="12584" y="2038"/>
                  <a:pt x="12572" y="2041"/>
                </a:cubicBezTo>
                <a:cubicBezTo>
                  <a:pt x="12560" y="2043"/>
                  <a:pt x="12548" y="2044"/>
                  <a:pt x="12536" y="2044"/>
                </a:cubicBezTo>
                <a:lnTo>
                  <a:pt x="185" y="2044"/>
                </a:lnTo>
                <a:cubicBezTo>
                  <a:pt x="173" y="2044"/>
                  <a:pt x="161" y="2043"/>
                  <a:pt x="149" y="2041"/>
                </a:cubicBezTo>
                <a:cubicBezTo>
                  <a:pt x="137" y="2038"/>
                  <a:pt x="125" y="2035"/>
                  <a:pt x="114" y="2030"/>
                </a:cubicBezTo>
                <a:cubicBezTo>
                  <a:pt x="103" y="2025"/>
                  <a:pt x="92" y="2020"/>
                  <a:pt x="82" y="2013"/>
                </a:cubicBezTo>
                <a:cubicBezTo>
                  <a:pt x="72" y="2006"/>
                  <a:pt x="63" y="1998"/>
                  <a:pt x="54" y="1990"/>
                </a:cubicBezTo>
                <a:cubicBezTo>
                  <a:pt x="45" y="1981"/>
                  <a:pt x="38" y="1972"/>
                  <a:pt x="31" y="1962"/>
                </a:cubicBezTo>
                <a:cubicBezTo>
                  <a:pt x="24" y="1951"/>
                  <a:pt x="18" y="1941"/>
                  <a:pt x="14" y="1929"/>
                </a:cubicBezTo>
                <a:cubicBezTo>
                  <a:pt x="9" y="1918"/>
                  <a:pt x="5" y="1907"/>
                  <a:pt x="3" y="1895"/>
                </a:cubicBezTo>
                <a:cubicBezTo>
                  <a:pt x="1" y="1883"/>
                  <a:pt x="0" y="1871"/>
                  <a:pt x="0" y="1858"/>
                </a:cubicBezTo>
                <a:close/>
              </a:path>
            </a:pathLst>
          </a:custGeom>
          <a:solidFill>
            <a:srgbClr val="F9FAF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44" name="フリーフォーム: 図形 643"/>
          <p:cNvSpPr/>
          <p:nvPr/>
        </p:nvSpPr>
        <p:spPr>
          <a:xfrm>
            <a:off x="5649120" y="2139120"/>
            <a:ext cx="534960" cy="535320"/>
          </a:xfrm>
          <a:custGeom>
            <a:avLst/>
            <a:gdLst/>
            <a:ahLst/>
            <a:cxnLst/>
            <a:rect l="0" t="0" r="r" b="b"/>
            <a:pathLst>
              <a:path w="1486" h="1487">
                <a:moveTo>
                  <a:pt x="1486" y="744"/>
                </a:moveTo>
                <a:cubicBezTo>
                  <a:pt x="1486" y="768"/>
                  <a:pt x="1485" y="792"/>
                  <a:pt x="1483" y="817"/>
                </a:cubicBezTo>
                <a:cubicBezTo>
                  <a:pt x="1480" y="841"/>
                  <a:pt x="1477" y="865"/>
                  <a:pt x="1472" y="889"/>
                </a:cubicBezTo>
                <a:cubicBezTo>
                  <a:pt x="1467" y="913"/>
                  <a:pt x="1461" y="936"/>
                  <a:pt x="1454" y="959"/>
                </a:cubicBezTo>
                <a:cubicBezTo>
                  <a:pt x="1447" y="983"/>
                  <a:pt x="1439" y="1006"/>
                  <a:pt x="1430" y="1028"/>
                </a:cubicBezTo>
                <a:cubicBezTo>
                  <a:pt x="1420" y="1051"/>
                  <a:pt x="1410" y="1073"/>
                  <a:pt x="1398" y="1094"/>
                </a:cubicBezTo>
                <a:cubicBezTo>
                  <a:pt x="1387" y="1115"/>
                  <a:pt x="1373" y="1136"/>
                  <a:pt x="1360" y="1157"/>
                </a:cubicBezTo>
                <a:cubicBezTo>
                  <a:pt x="1346" y="1177"/>
                  <a:pt x="1332" y="1196"/>
                  <a:pt x="1317" y="1215"/>
                </a:cubicBezTo>
                <a:cubicBezTo>
                  <a:pt x="1301" y="1234"/>
                  <a:pt x="1285" y="1252"/>
                  <a:pt x="1268" y="1269"/>
                </a:cubicBezTo>
                <a:cubicBezTo>
                  <a:pt x="1250" y="1286"/>
                  <a:pt x="1232" y="1303"/>
                  <a:pt x="1214" y="1318"/>
                </a:cubicBezTo>
                <a:cubicBezTo>
                  <a:pt x="1195" y="1333"/>
                  <a:pt x="1175" y="1348"/>
                  <a:pt x="1155" y="1361"/>
                </a:cubicBezTo>
                <a:cubicBezTo>
                  <a:pt x="1135" y="1375"/>
                  <a:pt x="1114" y="1387"/>
                  <a:pt x="1093" y="1399"/>
                </a:cubicBezTo>
                <a:cubicBezTo>
                  <a:pt x="1071" y="1410"/>
                  <a:pt x="1049" y="1421"/>
                  <a:pt x="1027" y="1430"/>
                </a:cubicBezTo>
                <a:cubicBezTo>
                  <a:pt x="1004" y="1439"/>
                  <a:pt x="981" y="1448"/>
                  <a:pt x="958" y="1455"/>
                </a:cubicBezTo>
                <a:cubicBezTo>
                  <a:pt x="935" y="1462"/>
                  <a:pt x="911" y="1468"/>
                  <a:pt x="887" y="1472"/>
                </a:cubicBezTo>
                <a:cubicBezTo>
                  <a:pt x="863" y="1477"/>
                  <a:pt x="839" y="1481"/>
                  <a:pt x="815" y="1483"/>
                </a:cubicBezTo>
                <a:cubicBezTo>
                  <a:pt x="791" y="1485"/>
                  <a:pt x="767" y="1487"/>
                  <a:pt x="742" y="1487"/>
                </a:cubicBezTo>
                <a:cubicBezTo>
                  <a:pt x="718" y="1487"/>
                  <a:pt x="694" y="1485"/>
                  <a:pt x="670" y="1483"/>
                </a:cubicBezTo>
                <a:cubicBezTo>
                  <a:pt x="645" y="1481"/>
                  <a:pt x="621" y="1477"/>
                  <a:pt x="597" y="1472"/>
                </a:cubicBezTo>
                <a:cubicBezTo>
                  <a:pt x="574" y="1468"/>
                  <a:pt x="550" y="1462"/>
                  <a:pt x="527" y="1455"/>
                </a:cubicBezTo>
                <a:cubicBezTo>
                  <a:pt x="503" y="1448"/>
                  <a:pt x="481" y="1439"/>
                  <a:pt x="458" y="1430"/>
                </a:cubicBezTo>
                <a:cubicBezTo>
                  <a:pt x="436" y="1421"/>
                  <a:pt x="414" y="1410"/>
                  <a:pt x="392" y="1399"/>
                </a:cubicBezTo>
                <a:cubicBezTo>
                  <a:pt x="371" y="1387"/>
                  <a:pt x="350" y="1375"/>
                  <a:pt x="330" y="1361"/>
                </a:cubicBezTo>
                <a:cubicBezTo>
                  <a:pt x="309" y="1348"/>
                  <a:pt x="290" y="1333"/>
                  <a:pt x="271" y="1318"/>
                </a:cubicBezTo>
                <a:cubicBezTo>
                  <a:pt x="252" y="1303"/>
                  <a:pt x="234" y="1286"/>
                  <a:pt x="217" y="1269"/>
                </a:cubicBezTo>
                <a:cubicBezTo>
                  <a:pt x="200" y="1252"/>
                  <a:pt x="184" y="1234"/>
                  <a:pt x="168" y="1215"/>
                </a:cubicBezTo>
                <a:cubicBezTo>
                  <a:pt x="153" y="1196"/>
                  <a:pt x="138" y="1177"/>
                  <a:pt x="125" y="1157"/>
                </a:cubicBezTo>
                <a:cubicBezTo>
                  <a:pt x="111" y="1136"/>
                  <a:pt x="99" y="1115"/>
                  <a:pt x="87" y="1094"/>
                </a:cubicBezTo>
                <a:cubicBezTo>
                  <a:pt x="76" y="1073"/>
                  <a:pt x="65" y="1051"/>
                  <a:pt x="56" y="1028"/>
                </a:cubicBezTo>
                <a:cubicBezTo>
                  <a:pt x="47" y="1006"/>
                  <a:pt x="39" y="983"/>
                  <a:pt x="32" y="959"/>
                </a:cubicBezTo>
                <a:cubicBezTo>
                  <a:pt x="24" y="936"/>
                  <a:pt x="19" y="913"/>
                  <a:pt x="14" y="889"/>
                </a:cubicBezTo>
                <a:cubicBezTo>
                  <a:pt x="9" y="865"/>
                  <a:pt x="5" y="841"/>
                  <a:pt x="3" y="817"/>
                </a:cubicBezTo>
                <a:cubicBezTo>
                  <a:pt x="1" y="792"/>
                  <a:pt x="0" y="768"/>
                  <a:pt x="0" y="744"/>
                </a:cubicBezTo>
                <a:cubicBezTo>
                  <a:pt x="0" y="719"/>
                  <a:pt x="1" y="694"/>
                  <a:pt x="3" y="670"/>
                </a:cubicBezTo>
                <a:cubicBezTo>
                  <a:pt x="5" y="646"/>
                  <a:pt x="9" y="622"/>
                  <a:pt x="14" y="598"/>
                </a:cubicBezTo>
                <a:cubicBezTo>
                  <a:pt x="19" y="574"/>
                  <a:pt x="24" y="551"/>
                  <a:pt x="32" y="527"/>
                </a:cubicBezTo>
                <a:cubicBezTo>
                  <a:pt x="39" y="504"/>
                  <a:pt x="47" y="481"/>
                  <a:pt x="56" y="459"/>
                </a:cubicBezTo>
                <a:cubicBezTo>
                  <a:pt x="65" y="436"/>
                  <a:pt x="76" y="414"/>
                  <a:pt x="87" y="393"/>
                </a:cubicBezTo>
                <a:cubicBezTo>
                  <a:pt x="99" y="371"/>
                  <a:pt x="111" y="350"/>
                  <a:pt x="125" y="330"/>
                </a:cubicBezTo>
                <a:cubicBezTo>
                  <a:pt x="138" y="310"/>
                  <a:pt x="153" y="290"/>
                  <a:pt x="168" y="272"/>
                </a:cubicBezTo>
                <a:cubicBezTo>
                  <a:pt x="184" y="253"/>
                  <a:pt x="200" y="235"/>
                  <a:pt x="217" y="218"/>
                </a:cubicBezTo>
                <a:cubicBezTo>
                  <a:pt x="234" y="200"/>
                  <a:pt x="252" y="184"/>
                  <a:pt x="271" y="169"/>
                </a:cubicBezTo>
                <a:cubicBezTo>
                  <a:pt x="290" y="153"/>
                  <a:pt x="309" y="139"/>
                  <a:pt x="330" y="125"/>
                </a:cubicBezTo>
                <a:cubicBezTo>
                  <a:pt x="350" y="112"/>
                  <a:pt x="371" y="99"/>
                  <a:pt x="392" y="88"/>
                </a:cubicBezTo>
                <a:cubicBezTo>
                  <a:pt x="414" y="76"/>
                  <a:pt x="436" y="66"/>
                  <a:pt x="458" y="57"/>
                </a:cubicBezTo>
                <a:cubicBezTo>
                  <a:pt x="481" y="47"/>
                  <a:pt x="503" y="39"/>
                  <a:pt x="527" y="32"/>
                </a:cubicBezTo>
                <a:cubicBezTo>
                  <a:pt x="550" y="25"/>
                  <a:pt x="574" y="19"/>
                  <a:pt x="597" y="14"/>
                </a:cubicBezTo>
                <a:cubicBezTo>
                  <a:pt x="621" y="10"/>
                  <a:pt x="645" y="6"/>
                  <a:pt x="670" y="4"/>
                </a:cubicBezTo>
                <a:cubicBezTo>
                  <a:pt x="694" y="1"/>
                  <a:pt x="718" y="0"/>
                  <a:pt x="742" y="0"/>
                </a:cubicBezTo>
                <a:cubicBezTo>
                  <a:pt x="767" y="0"/>
                  <a:pt x="791" y="1"/>
                  <a:pt x="815" y="4"/>
                </a:cubicBezTo>
                <a:cubicBezTo>
                  <a:pt x="839" y="6"/>
                  <a:pt x="863" y="10"/>
                  <a:pt x="887" y="14"/>
                </a:cubicBezTo>
                <a:cubicBezTo>
                  <a:pt x="911" y="19"/>
                  <a:pt x="935" y="25"/>
                  <a:pt x="958" y="32"/>
                </a:cubicBezTo>
                <a:cubicBezTo>
                  <a:pt x="981" y="39"/>
                  <a:pt x="1004" y="47"/>
                  <a:pt x="1027" y="57"/>
                </a:cubicBezTo>
                <a:cubicBezTo>
                  <a:pt x="1049" y="66"/>
                  <a:pt x="1071" y="76"/>
                  <a:pt x="1093" y="88"/>
                </a:cubicBezTo>
                <a:cubicBezTo>
                  <a:pt x="1114" y="99"/>
                  <a:pt x="1135" y="112"/>
                  <a:pt x="1155" y="125"/>
                </a:cubicBezTo>
                <a:cubicBezTo>
                  <a:pt x="1175" y="139"/>
                  <a:pt x="1195" y="153"/>
                  <a:pt x="1214" y="169"/>
                </a:cubicBezTo>
                <a:cubicBezTo>
                  <a:pt x="1232" y="184"/>
                  <a:pt x="1250" y="200"/>
                  <a:pt x="1268" y="218"/>
                </a:cubicBezTo>
                <a:cubicBezTo>
                  <a:pt x="1285" y="235"/>
                  <a:pt x="1301" y="253"/>
                  <a:pt x="1317" y="272"/>
                </a:cubicBezTo>
                <a:cubicBezTo>
                  <a:pt x="1332" y="290"/>
                  <a:pt x="1346" y="310"/>
                  <a:pt x="1360" y="330"/>
                </a:cubicBezTo>
                <a:cubicBezTo>
                  <a:pt x="1373" y="350"/>
                  <a:pt x="1387" y="371"/>
                  <a:pt x="1398" y="393"/>
                </a:cubicBezTo>
                <a:cubicBezTo>
                  <a:pt x="1410" y="414"/>
                  <a:pt x="1420" y="436"/>
                  <a:pt x="1430" y="459"/>
                </a:cubicBezTo>
                <a:cubicBezTo>
                  <a:pt x="1439" y="481"/>
                  <a:pt x="1447" y="504"/>
                  <a:pt x="1454" y="527"/>
                </a:cubicBezTo>
                <a:cubicBezTo>
                  <a:pt x="1461" y="551"/>
                  <a:pt x="1467" y="574"/>
                  <a:pt x="1472" y="598"/>
                </a:cubicBezTo>
                <a:cubicBezTo>
                  <a:pt x="1477" y="622"/>
                  <a:pt x="1480" y="646"/>
                  <a:pt x="1483" y="670"/>
                </a:cubicBezTo>
                <a:cubicBezTo>
                  <a:pt x="1485" y="694"/>
                  <a:pt x="1486" y="719"/>
                  <a:pt x="1486" y="744"/>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645" name="図 644"/>
          <p:cNvPicPr/>
          <p:nvPr/>
        </p:nvPicPr>
        <p:blipFill>
          <a:blip r:embed="rId6"/>
          <a:stretch/>
        </p:blipFill>
        <p:spPr>
          <a:xfrm>
            <a:off x="5791320" y="2281320"/>
            <a:ext cx="250200" cy="250200"/>
          </a:xfrm>
          <a:prstGeom prst="rect">
            <a:avLst/>
          </a:prstGeom>
          <a:noFill/>
          <a:ln w="0">
            <a:noFill/>
          </a:ln>
        </p:spPr>
      </p:pic>
      <p:sp>
        <p:nvSpPr>
          <p:cNvPr id="646" name="テキスト ボックス 645"/>
          <p:cNvSpPr txBox="1"/>
          <p:nvPr/>
        </p:nvSpPr>
        <p:spPr>
          <a:xfrm>
            <a:off x="802080" y="3912120"/>
            <a:ext cx="28170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高感度検出により早期警告システムとして有効</a:t>
            </a:r>
            <a:endParaRPr lang="en-US" sz="1050" b="0" u="none" strike="noStrike">
              <a:solidFill>
                <a:srgbClr val="000000"/>
              </a:solidFill>
              <a:effectLst/>
              <a:uFillTx/>
              <a:latin typeface="Times New Roman"/>
            </a:endParaRPr>
          </a:p>
        </p:txBody>
      </p:sp>
      <p:sp>
        <p:nvSpPr>
          <p:cNvPr id="647" name="テキスト ボックス 646"/>
          <p:cNvSpPr txBox="1"/>
          <p:nvPr/>
        </p:nvSpPr>
        <p:spPr>
          <a:xfrm>
            <a:off x="6317640" y="2304000"/>
            <a:ext cx="100656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高い再現性</a:t>
            </a:r>
            <a:endParaRPr lang="en-US" sz="1580" b="0" u="none" strike="noStrike">
              <a:solidFill>
                <a:srgbClr val="000000"/>
              </a:solidFill>
              <a:effectLst/>
              <a:uFillTx/>
              <a:latin typeface="Times New Roman"/>
            </a:endParaRPr>
          </a:p>
        </p:txBody>
      </p:sp>
      <p:pic>
        <p:nvPicPr>
          <p:cNvPr id="648" name="図 647"/>
          <p:cNvPicPr/>
          <p:nvPr/>
        </p:nvPicPr>
        <p:blipFill>
          <a:blip r:embed="rId7"/>
          <a:stretch/>
        </p:blipFill>
        <p:spPr>
          <a:xfrm>
            <a:off x="5816160" y="3142080"/>
            <a:ext cx="4411800" cy="801720"/>
          </a:xfrm>
          <a:prstGeom prst="rect">
            <a:avLst/>
          </a:prstGeom>
          <a:noFill/>
          <a:ln w="0">
            <a:noFill/>
          </a:ln>
        </p:spPr>
      </p:pic>
      <p:pic>
        <p:nvPicPr>
          <p:cNvPr id="649" name="図 648"/>
          <p:cNvPicPr/>
          <p:nvPr/>
        </p:nvPicPr>
        <p:blipFill>
          <a:blip r:embed="rId8"/>
          <a:stretch/>
        </p:blipFill>
        <p:spPr>
          <a:xfrm>
            <a:off x="5782680" y="4278600"/>
            <a:ext cx="133200" cy="133200"/>
          </a:xfrm>
          <a:prstGeom prst="rect">
            <a:avLst/>
          </a:prstGeom>
          <a:noFill/>
          <a:ln w="0">
            <a:noFill/>
          </a:ln>
        </p:spPr>
      </p:pic>
      <p:sp>
        <p:nvSpPr>
          <p:cNvPr id="650" name="テキスト ボックス 649"/>
          <p:cNvSpPr txBox="1"/>
          <p:nvPr/>
        </p:nvSpPr>
        <p:spPr>
          <a:xfrm>
            <a:off x="5816160" y="2852280"/>
            <a:ext cx="21970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標準偏差 </a:t>
            </a:r>
            <a:r>
              <a:rPr lang="en-US" sz="1180" b="0" u="none" strike="noStrike">
                <a:solidFill>
                  <a:srgbClr val="000000"/>
                </a:solidFill>
                <a:effectLst/>
                <a:uFillTx/>
                <a:latin typeface="NotoSansJP"/>
                <a:ea typeface="NotoSansJP"/>
              </a:rPr>
              <a:t>5%</a:t>
            </a:r>
            <a:r>
              <a:rPr lang="zh-CN" sz="1180" b="0" u="none" strike="noStrike">
                <a:solidFill>
                  <a:srgbClr val="000000"/>
                </a:solidFill>
                <a:effectLst/>
                <a:uFillTx/>
                <a:latin typeface="NotoSansJP"/>
                <a:ea typeface="NotoSansJP"/>
              </a:rPr>
              <a:t>以内 の高精度測定</a:t>
            </a:r>
            <a:endParaRPr lang="en-US" sz="1180" b="0" u="none" strike="noStrike">
              <a:solidFill>
                <a:srgbClr val="000000"/>
              </a:solidFill>
              <a:effectLst/>
              <a:uFillTx/>
              <a:latin typeface="Times New Roman"/>
            </a:endParaRPr>
          </a:p>
        </p:txBody>
      </p:sp>
      <p:pic>
        <p:nvPicPr>
          <p:cNvPr id="651" name="図 650"/>
          <p:cNvPicPr/>
          <p:nvPr/>
        </p:nvPicPr>
        <p:blipFill>
          <a:blip r:embed="rId8"/>
          <a:stretch/>
        </p:blipFill>
        <p:spPr>
          <a:xfrm>
            <a:off x="5782680" y="4546080"/>
            <a:ext cx="133200" cy="133200"/>
          </a:xfrm>
          <a:prstGeom prst="rect">
            <a:avLst/>
          </a:prstGeom>
          <a:noFill/>
          <a:ln w="0">
            <a:noFill/>
          </a:ln>
        </p:spPr>
      </p:pic>
      <p:sp>
        <p:nvSpPr>
          <p:cNvPr id="652" name="テキスト ボックス 651"/>
          <p:cNvSpPr txBox="1"/>
          <p:nvPr/>
        </p:nvSpPr>
        <p:spPr>
          <a:xfrm>
            <a:off x="5983560" y="4280040"/>
            <a:ext cx="269604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標準偏差</a:t>
            </a:r>
            <a:r>
              <a:rPr lang="en-US" sz="1050" b="0" u="none" strike="noStrike">
                <a:solidFill>
                  <a:srgbClr val="000000"/>
                </a:solidFill>
                <a:effectLst/>
                <a:uFillTx/>
                <a:latin typeface="NotoSansJP"/>
                <a:ea typeface="NotoSansJP"/>
              </a:rPr>
              <a:t>: 0.61</a:t>
            </a:r>
            <a:r>
              <a:rPr lang="zh-CN" sz="1050" b="0" u="none" strike="noStrike">
                <a:solidFill>
                  <a:srgbClr val="000000"/>
                </a:solidFill>
                <a:effectLst/>
                <a:uFillTx/>
                <a:latin typeface="NotoSansJP"/>
                <a:ea typeface="NotoSansJP"/>
              </a:rPr>
              <a:t>～</a:t>
            </a:r>
            <a:r>
              <a:rPr lang="en-US" sz="1050" b="0" u="none" strike="noStrike">
                <a:solidFill>
                  <a:srgbClr val="000000"/>
                </a:solidFill>
                <a:effectLst/>
                <a:uFillTx/>
                <a:latin typeface="NotoSansJP"/>
                <a:ea typeface="NotoSansJP"/>
              </a:rPr>
              <a:t>4.65%</a:t>
            </a:r>
            <a:r>
              <a:rPr lang="zh-CN" sz="1050" b="0" u="none" strike="noStrike">
                <a:solidFill>
                  <a:srgbClr val="000000"/>
                </a:solidFill>
                <a:effectLst/>
                <a:uFillTx/>
                <a:latin typeface="NotoSansJP"/>
                <a:ea typeface="NotoSansJP"/>
              </a:rPr>
              <a:t>（濃度域による）</a:t>
            </a:r>
            <a:endParaRPr lang="en-US" sz="1050" b="0" u="none" strike="noStrike">
              <a:solidFill>
                <a:srgbClr val="000000"/>
              </a:solidFill>
              <a:effectLst/>
              <a:uFillTx/>
              <a:latin typeface="Times New Roman"/>
            </a:endParaRPr>
          </a:p>
        </p:txBody>
      </p:sp>
      <p:pic>
        <p:nvPicPr>
          <p:cNvPr id="653" name="図 652"/>
          <p:cNvPicPr/>
          <p:nvPr/>
        </p:nvPicPr>
        <p:blipFill>
          <a:blip r:embed="rId9"/>
          <a:stretch/>
        </p:blipFill>
        <p:spPr>
          <a:xfrm>
            <a:off x="501480" y="5548680"/>
            <a:ext cx="225360" cy="200160"/>
          </a:xfrm>
          <a:prstGeom prst="rect">
            <a:avLst/>
          </a:prstGeom>
          <a:noFill/>
          <a:ln w="0">
            <a:noFill/>
          </a:ln>
        </p:spPr>
      </p:pic>
      <p:sp>
        <p:nvSpPr>
          <p:cNvPr id="654" name="テキスト ボックス 653"/>
          <p:cNvSpPr txBox="1"/>
          <p:nvPr/>
        </p:nvSpPr>
        <p:spPr>
          <a:xfrm>
            <a:off x="5983560" y="4547160"/>
            <a:ext cx="22806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安定した検出性能により実用性が高い</a:t>
            </a:r>
            <a:endParaRPr lang="en-US" sz="1050" b="0" u="none" strike="noStrike">
              <a:solidFill>
                <a:srgbClr val="000000"/>
              </a:solidFill>
              <a:effectLst/>
              <a:uFillTx/>
              <a:latin typeface="Times New Roman"/>
            </a:endParaRPr>
          </a:p>
        </p:txBody>
      </p:sp>
      <p:pic>
        <p:nvPicPr>
          <p:cNvPr id="655" name="図 654"/>
          <p:cNvPicPr/>
          <p:nvPr/>
        </p:nvPicPr>
        <p:blipFill>
          <a:blip r:embed="rId10"/>
          <a:stretch/>
        </p:blipFill>
        <p:spPr>
          <a:xfrm>
            <a:off x="501480" y="5916600"/>
            <a:ext cx="133200" cy="133200"/>
          </a:xfrm>
          <a:prstGeom prst="rect">
            <a:avLst/>
          </a:prstGeom>
          <a:noFill/>
          <a:ln w="0">
            <a:noFill/>
          </a:ln>
        </p:spPr>
      </p:pic>
      <p:sp>
        <p:nvSpPr>
          <p:cNvPr id="656" name="テキスト ボックス 655"/>
          <p:cNvSpPr txBox="1"/>
          <p:nvPr/>
        </p:nvSpPr>
        <p:spPr>
          <a:xfrm>
            <a:off x="827280" y="5546520"/>
            <a:ext cx="100656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研究の意義</a:t>
            </a:r>
            <a:endParaRPr lang="en-US" sz="1580" b="0" u="none" strike="noStrike">
              <a:solidFill>
                <a:srgbClr val="000000"/>
              </a:solidFill>
              <a:effectLst/>
              <a:uFillTx/>
              <a:latin typeface="Times New Roman"/>
            </a:endParaRPr>
          </a:p>
        </p:txBody>
      </p:sp>
      <p:pic>
        <p:nvPicPr>
          <p:cNvPr id="657" name="図 656"/>
          <p:cNvPicPr/>
          <p:nvPr/>
        </p:nvPicPr>
        <p:blipFill>
          <a:blip r:embed="rId11"/>
          <a:stretch/>
        </p:blipFill>
        <p:spPr>
          <a:xfrm>
            <a:off x="5431680" y="5916600"/>
            <a:ext cx="133200" cy="133200"/>
          </a:xfrm>
          <a:prstGeom prst="rect">
            <a:avLst/>
          </a:prstGeom>
          <a:noFill/>
          <a:ln w="0">
            <a:noFill/>
          </a:ln>
        </p:spPr>
      </p:pic>
      <p:sp>
        <p:nvSpPr>
          <p:cNvPr id="658" name="テキスト ボックス 657"/>
          <p:cNvSpPr txBox="1"/>
          <p:nvPr/>
        </p:nvSpPr>
        <p:spPr>
          <a:xfrm>
            <a:off x="702000" y="5917680"/>
            <a:ext cx="358776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1.2ppm</a:t>
            </a:r>
            <a:r>
              <a:rPr lang="zh-CN" sz="1050" b="0" u="none" strike="noStrike">
                <a:solidFill>
                  <a:srgbClr val="000000"/>
                </a:solidFill>
                <a:effectLst/>
                <a:uFillTx/>
                <a:latin typeface="NotoSansJP"/>
                <a:ea typeface="NotoSansJP"/>
              </a:rPr>
              <a:t>未満の</a:t>
            </a:r>
            <a:r>
              <a:rPr lang="en-US" sz="1050" b="0" u="none" strike="noStrike">
                <a:solidFill>
                  <a:srgbClr val="000000"/>
                </a:solidFill>
                <a:effectLst/>
                <a:uFillTx/>
                <a:latin typeface="NotoSansJP"/>
                <a:ea typeface="NotoSansJP"/>
              </a:rPr>
              <a:t>TMA</a:t>
            </a:r>
            <a:r>
              <a:rPr lang="zh-CN" sz="1050" b="0" u="none" strike="noStrike">
                <a:solidFill>
                  <a:srgbClr val="000000"/>
                </a:solidFill>
                <a:effectLst/>
                <a:uFillTx/>
                <a:latin typeface="NotoSansJP"/>
                <a:ea typeface="NotoSansJP"/>
              </a:rPr>
              <a:t>濃度を検知できる高感度センサの開発</a:t>
            </a:r>
            <a:endParaRPr lang="en-US" sz="1050" b="0" u="none" strike="noStrike">
              <a:solidFill>
                <a:srgbClr val="000000"/>
              </a:solidFill>
              <a:effectLst/>
              <a:uFillTx/>
              <a:latin typeface="Times New Roman"/>
            </a:endParaRPr>
          </a:p>
        </p:txBody>
      </p:sp>
      <p:pic>
        <p:nvPicPr>
          <p:cNvPr id="659" name="図 658"/>
          <p:cNvPicPr/>
          <p:nvPr/>
        </p:nvPicPr>
        <p:blipFill>
          <a:blip r:embed="rId12"/>
          <a:stretch/>
        </p:blipFill>
        <p:spPr>
          <a:xfrm>
            <a:off x="501480" y="6250680"/>
            <a:ext cx="133200" cy="133200"/>
          </a:xfrm>
          <a:prstGeom prst="rect">
            <a:avLst/>
          </a:prstGeom>
          <a:noFill/>
          <a:ln w="0">
            <a:noFill/>
          </a:ln>
        </p:spPr>
      </p:pic>
      <p:sp>
        <p:nvSpPr>
          <p:cNvPr id="660" name="テキスト ボックス 659"/>
          <p:cNvSpPr txBox="1"/>
          <p:nvPr/>
        </p:nvSpPr>
        <p:spPr>
          <a:xfrm>
            <a:off x="5632560" y="5917680"/>
            <a:ext cx="335340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視力低下リスクの早期検知による作業環境の安全性向上</a:t>
            </a:r>
            <a:endParaRPr lang="en-US" sz="1050" b="0" u="none" strike="noStrike">
              <a:solidFill>
                <a:srgbClr val="000000"/>
              </a:solidFill>
              <a:effectLst/>
              <a:uFillTx/>
              <a:latin typeface="Times New Roman"/>
            </a:endParaRPr>
          </a:p>
        </p:txBody>
      </p:sp>
      <p:pic>
        <p:nvPicPr>
          <p:cNvPr id="661" name="図 660"/>
          <p:cNvPicPr/>
          <p:nvPr/>
        </p:nvPicPr>
        <p:blipFill>
          <a:blip r:embed="rId13"/>
          <a:stretch/>
        </p:blipFill>
        <p:spPr>
          <a:xfrm>
            <a:off x="5431680" y="6250680"/>
            <a:ext cx="150120" cy="133200"/>
          </a:xfrm>
          <a:prstGeom prst="rect">
            <a:avLst/>
          </a:prstGeom>
          <a:noFill/>
          <a:ln w="0">
            <a:noFill/>
          </a:ln>
        </p:spPr>
      </p:pic>
      <p:sp>
        <p:nvSpPr>
          <p:cNvPr id="662" name="テキスト ボックス 661"/>
          <p:cNvSpPr txBox="1"/>
          <p:nvPr/>
        </p:nvSpPr>
        <p:spPr>
          <a:xfrm>
            <a:off x="702000" y="6252120"/>
            <a:ext cx="2390760" cy="19404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NotoSansJP"/>
                <a:ea typeface="NotoSansJP"/>
              </a:rPr>
              <a:t>5%</a:t>
            </a:r>
            <a:r>
              <a:rPr lang="zh-CN" sz="1050" b="0" u="none" strike="noStrike">
                <a:solidFill>
                  <a:srgbClr val="000000"/>
                </a:solidFill>
                <a:effectLst/>
                <a:uFillTx/>
                <a:latin typeface="NotoSansJP"/>
                <a:ea typeface="NotoSansJP"/>
              </a:rPr>
              <a:t>以内の標準偏差で高い再現性を実現</a:t>
            </a:r>
            <a:endParaRPr lang="en-US" sz="1050" b="0" u="none" strike="noStrike">
              <a:solidFill>
                <a:srgbClr val="000000"/>
              </a:solidFill>
              <a:effectLst/>
              <a:uFillTx/>
              <a:latin typeface="Times New Roman"/>
            </a:endParaRPr>
          </a:p>
        </p:txBody>
      </p:sp>
      <p:sp>
        <p:nvSpPr>
          <p:cNvPr id="663" name="フリーフォーム: 図形 662"/>
          <p:cNvSpPr/>
          <p:nvPr/>
        </p:nvSpPr>
        <p:spPr>
          <a:xfrm>
            <a:off x="1270080" y="3175200"/>
            <a:ext cx="3142440" cy="100800"/>
          </a:xfrm>
          <a:custGeom>
            <a:avLst/>
            <a:gdLst/>
            <a:ahLst/>
            <a:cxnLst/>
            <a:rect l="0" t="0" r="r" b="b"/>
            <a:pathLst>
              <a:path w="8729" h="280">
                <a:moveTo>
                  <a:pt x="0" y="140"/>
                </a:moveTo>
                <a:cubicBezTo>
                  <a:pt x="0" y="121"/>
                  <a:pt x="3" y="104"/>
                  <a:pt x="10" y="86"/>
                </a:cubicBezTo>
                <a:cubicBezTo>
                  <a:pt x="18" y="69"/>
                  <a:pt x="28" y="54"/>
                  <a:pt x="41" y="41"/>
                </a:cubicBezTo>
                <a:cubicBezTo>
                  <a:pt x="54" y="28"/>
                  <a:pt x="69" y="18"/>
                  <a:pt x="86" y="11"/>
                </a:cubicBezTo>
                <a:cubicBezTo>
                  <a:pt x="103" y="4"/>
                  <a:pt x="121" y="0"/>
                  <a:pt x="139" y="0"/>
                </a:cubicBezTo>
                <a:lnTo>
                  <a:pt x="8590" y="0"/>
                </a:lnTo>
                <a:cubicBezTo>
                  <a:pt x="8608" y="0"/>
                  <a:pt x="8626" y="4"/>
                  <a:pt x="8643" y="11"/>
                </a:cubicBezTo>
                <a:cubicBezTo>
                  <a:pt x="8660" y="18"/>
                  <a:pt x="8675" y="28"/>
                  <a:pt x="8688" y="41"/>
                </a:cubicBezTo>
                <a:cubicBezTo>
                  <a:pt x="8701" y="54"/>
                  <a:pt x="8711" y="69"/>
                  <a:pt x="8718" y="86"/>
                </a:cubicBezTo>
                <a:cubicBezTo>
                  <a:pt x="8725" y="104"/>
                  <a:pt x="8729" y="121"/>
                  <a:pt x="8729" y="140"/>
                </a:cubicBezTo>
                <a:cubicBezTo>
                  <a:pt x="8729" y="158"/>
                  <a:pt x="8725" y="176"/>
                  <a:pt x="8718" y="193"/>
                </a:cubicBezTo>
                <a:cubicBezTo>
                  <a:pt x="8711" y="210"/>
                  <a:pt x="8701" y="226"/>
                  <a:pt x="8688" y="239"/>
                </a:cubicBezTo>
                <a:cubicBezTo>
                  <a:pt x="8675" y="252"/>
                  <a:pt x="8660" y="262"/>
                  <a:pt x="8643" y="269"/>
                </a:cubicBezTo>
                <a:cubicBezTo>
                  <a:pt x="8626" y="276"/>
                  <a:pt x="8608" y="280"/>
                  <a:pt x="8590" y="280"/>
                </a:cubicBezTo>
                <a:lnTo>
                  <a:pt x="139" y="280"/>
                </a:lnTo>
                <a:cubicBezTo>
                  <a:pt x="121" y="280"/>
                  <a:pt x="103" y="276"/>
                  <a:pt x="86" y="269"/>
                </a:cubicBezTo>
                <a:cubicBezTo>
                  <a:pt x="69" y="262"/>
                  <a:pt x="54" y="252"/>
                  <a:pt x="41" y="239"/>
                </a:cubicBezTo>
                <a:cubicBezTo>
                  <a:pt x="28" y="226"/>
                  <a:pt x="18" y="210"/>
                  <a:pt x="10" y="193"/>
                </a:cubicBezTo>
                <a:cubicBezTo>
                  <a:pt x="3" y="176"/>
                  <a:pt x="0" y="158"/>
                  <a:pt x="0" y="140"/>
                </a:cubicBez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64" name="フリーフォーム: 図形 663"/>
          <p:cNvSpPr/>
          <p:nvPr/>
        </p:nvSpPr>
        <p:spPr>
          <a:xfrm>
            <a:off x="1270080" y="3175200"/>
            <a:ext cx="1571400" cy="100800"/>
          </a:xfrm>
          <a:custGeom>
            <a:avLst/>
            <a:gdLst/>
            <a:ahLst/>
            <a:cxnLst/>
            <a:rect l="0" t="0" r="r" b="b"/>
            <a:pathLst>
              <a:path w="4365" h="280">
                <a:moveTo>
                  <a:pt x="0" y="140"/>
                </a:moveTo>
                <a:cubicBezTo>
                  <a:pt x="0" y="121"/>
                  <a:pt x="3" y="104"/>
                  <a:pt x="10" y="86"/>
                </a:cubicBezTo>
                <a:cubicBezTo>
                  <a:pt x="18" y="69"/>
                  <a:pt x="28" y="54"/>
                  <a:pt x="41" y="41"/>
                </a:cubicBezTo>
                <a:cubicBezTo>
                  <a:pt x="54" y="28"/>
                  <a:pt x="69" y="18"/>
                  <a:pt x="86" y="11"/>
                </a:cubicBezTo>
                <a:cubicBezTo>
                  <a:pt x="103" y="4"/>
                  <a:pt x="121" y="0"/>
                  <a:pt x="139" y="0"/>
                </a:cubicBezTo>
                <a:lnTo>
                  <a:pt x="4226" y="0"/>
                </a:lnTo>
                <a:cubicBezTo>
                  <a:pt x="4244" y="0"/>
                  <a:pt x="4262" y="4"/>
                  <a:pt x="4279" y="11"/>
                </a:cubicBezTo>
                <a:cubicBezTo>
                  <a:pt x="4296" y="18"/>
                  <a:pt x="4311" y="28"/>
                  <a:pt x="4324" y="41"/>
                </a:cubicBezTo>
                <a:cubicBezTo>
                  <a:pt x="4337" y="54"/>
                  <a:pt x="4347" y="69"/>
                  <a:pt x="4354" y="86"/>
                </a:cubicBezTo>
                <a:cubicBezTo>
                  <a:pt x="4361" y="104"/>
                  <a:pt x="4365" y="121"/>
                  <a:pt x="4365" y="140"/>
                </a:cubicBezTo>
                <a:cubicBezTo>
                  <a:pt x="4365" y="158"/>
                  <a:pt x="4361" y="176"/>
                  <a:pt x="4354" y="193"/>
                </a:cubicBezTo>
                <a:cubicBezTo>
                  <a:pt x="4347" y="210"/>
                  <a:pt x="4337" y="226"/>
                  <a:pt x="4324" y="239"/>
                </a:cubicBezTo>
                <a:cubicBezTo>
                  <a:pt x="4311" y="252"/>
                  <a:pt x="4296" y="262"/>
                  <a:pt x="4279" y="269"/>
                </a:cubicBezTo>
                <a:cubicBezTo>
                  <a:pt x="4262" y="276"/>
                  <a:pt x="4244" y="280"/>
                  <a:pt x="4226" y="280"/>
                </a:cubicBezTo>
                <a:lnTo>
                  <a:pt x="139" y="280"/>
                </a:lnTo>
                <a:cubicBezTo>
                  <a:pt x="121" y="280"/>
                  <a:pt x="103" y="276"/>
                  <a:pt x="86" y="269"/>
                </a:cubicBezTo>
                <a:cubicBezTo>
                  <a:pt x="69" y="262"/>
                  <a:pt x="54" y="252"/>
                  <a:pt x="41" y="239"/>
                </a:cubicBezTo>
                <a:cubicBezTo>
                  <a:pt x="28" y="226"/>
                  <a:pt x="18" y="210"/>
                  <a:pt x="10" y="193"/>
                </a:cubicBezTo>
                <a:cubicBezTo>
                  <a:pt x="3" y="176"/>
                  <a:pt x="0" y="158"/>
                  <a:pt x="0" y="140"/>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65" name="テキスト ボックス 664"/>
          <p:cNvSpPr txBox="1"/>
          <p:nvPr/>
        </p:nvSpPr>
        <p:spPr>
          <a:xfrm>
            <a:off x="5649120" y="6252120"/>
            <a:ext cx="2951280" cy="194040"/>
          </a:xfrm>
          <a:prstGeom prst="rect">
            <a:avLst/>
          </a:prstGeom>
          <a:noFill/>
          <a:ln w="0">
            <a:noFill/>
          </a:ln>
        </p:spPr>
        <p:txBody>
          <a:bodyPr wrap="none" lIns="0" tIns="0" rIns="0" bIns="0" anchor="t">
            <a:spAutoFit/>
          </a:bodyPr>
          <a:lstStyle/>
          <a:p>
            <a:r>
              <a:rPr lang="zh-CN" sz="1050" b="0" u="none" strike="noStrike">
                <a:solidFill>
                  <a:srgbClr val="000000"/>
                </a:solidFill>
                <a:effectLst/>
                <a:uFillTx/>
                <a:latin typeface="NotoSansJP"/>
                <a:ea typeface="NotoSansJP"/>
              </a:rPr>
              <a:t>魚腸骨処理場や畜産施設での実用的な応用可能性</a:t>
            </a:r>
            <a:endParaRPr lang="en-US" sz="105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6" name="図 665"/>
          <p:cNvPicPr/>
          <p:nvPr/>
        </p:nvPicPr>
        <p:blipFill>
          <a:blip r:embed="rId2"/>
          <a:stretch/>
        </p:blipFill>
        <p:spPr>
          <a:xfrm>
            <a:off x="0" y="0"/>
            <a:ext cx="10696320" cy="6852240"/>
          </a:xfrm>
          <a:prstGeom prst="rect">
            <a:avLst/>
          </a:prstGeom>
          <a:noFill/>
          <a:ln w="0">
            <a:noFill/>
          </a:ln>
        </p:spPr>
      </p:pic>
      <p:sp>
        <p:nvSpPr>
          <p:cNvPr id="667" name="フリーフォーム: 図形 666"/>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68" name="フリーフォーム: 図形 667"/>
          <p:cNvSpPr/>
          <p:nvPr/>
        </p:nvSpPr>
        <p:spPr>
          <a:xfrm>
            <a:off x="334080" y="935640"/>
            <a:ext cx="10028520" cy="635760"/>
          </a:xfrm>
          <a:custGeom>
            <a:avLst/>
            <a:gdLst/>
            <a:ahLst/>
            <a:cxnLst/>
            <a:rect l="0" t="0" r="r" b="b"/>
            <a:pathLst>
              <a:path w="27857" h="1766">
                <a:moveTo>
                  <a:pt x="0" y="1580"/>
                </a:moveTo>
                <a:lnTo>
                  <a:pt x="0" y="187"/>
                </a:lnTo>
                <a:cubicBezTo>
                  <a:pt x="0" y="175"/>
                  <a:pt x="1" y="163"/>
                  <a:pt x="4" y="151"/>
                </a:cubicBezTo>
                <a:cubicBezTo>
                  <a:pt x="6" y="139"/>
                  <a:pt x="9" y="127"/>
                  <a:pt x="14" y="116"/>
                </a:cubicBezTo>
                <a:cubicBezTo>
                  <a:pt x="19" y="105"/>
                  <a:pt x="25" y="94"/>
                  <a:pt x="31" y="84"/>
                </a:cubicBezTo>
                <a:cubicBezTo>
                  <a:pt x="38" y="74"/>
                  <a:pt x="46" y="64"/>
                  <a:pt x="54" y="56"/>
                </a:cubicBezTo>
                <a:cubicBezTo>
                  <a:pt x="63" y="46"/>
                  <a:pt x="72" y="38"/>
                  <a:pt x="83" y="32"/>
                </a:cubicBezTo>
                <a:cubicBezTo>
                  <a:pt x="93" y="25"/>
                  <a:pt x="103" y="19"/>
                  <a:pt x="115" y="14"/>
                </a:cubicBezTo>
                <a:cubicBezTo>
                  <a:pt x="126" y="10"/>
                  <a:pt x="138" y="6"/>
                  <a:pt x="149" y="4"/>
                </a:cubicBezTo>
                <a:cubicBezTo>
                  <a:pt x="161" y="2"/>
                  <a:pt x="174" y="0"/>
                  <a:pt x="186" y="0"/>
                </a:cubicBezTo>
                <a:lnTo>
                  <a:pt x="27671" y="0"/>
                </a:lnTo>
                <a:cubicBezTo>
                  <a:pt x="27683" y="0"/>
                  <a:pt x="27695" y="2"/>
                  <a:pt x="27707" y="4"/>
                </a:cubicBezTo>
                <a:cubicBezTo>
                  <a:pt x="27719" y="6"/>
                  <a:pt x="27731" y="10"/>
                  <a:pt x="27742" y="14"/>
                </a:cubicBezTo>
                <a:cubicBezTo>
                  <a:pt x="27753" y="19"/>
                  <a:pt x="27764" y="25"/>
                  <a:pt x="27774" y="32"/>
                </a:cubicBezTo>
                <a:cubicBezTo>
                  <a:pt x="27784" y="38"/>
                  <a:pt x="27794" y="46"/>
                  <a:pt x="27802" y="56"/>
                </a:cubicBezTo>
                <a:cubicBezTo>
                  <a:pt x="27811" y="64"/>
                  <a:pt x="27819" y="74"/>
                  <a:pt x="27825" y="84"/>
                </a:cubicBezTo>
                <a:cubicBezTo>
                  <a:pt x="27832" y="94"/>
                  <a:pt x="27838" y="105"/>
                  <a:pt x="27843" y="116"/>
                </a:cubicBezTo>
                <a:cubicBezTo>
                  <a:pt x="27847" y="127"/>
                  <a:pt x="27851" y="139"/>
                  <a:pt x="27853" y="151"/>
                </a:cubicBezTo>
                <a:cubicBezTo>
                  <a:pt x="27855" y="163"/>
                  <a:pt x="27857" y="175"/>
                  <a:pt x="27857" y="187"/>
                </a:cubicBezTo>
                <a:lnTo>
                  <a:pt x="27857" y="1580"/>
                </a:lnTo>
                <a:cubicBezTo>
                  <a:pt x="27857" y="1592"/>
                  <a:pt x="27855" y="1604"/>
                  <a:pt x="27853" y="1616"/>
                </a:cubicBezTo>
                <a:cubicBezTo>
                  <a:pt x="27851" y="1628"/>
                  <a:pt x="27847" y="1640"/>
                  <a:pt x="27843" y="1651"/>
                </a:cubicBezTo>
                <a:cubicBezTo>
                  <a:pt x="27838" y="1662"/>
                  <a:pt x="27832" y="1673"/>
                  <a:pt x="27825" y="1683"/>
                </a:cubicBezTo>
                <a:cubicBezTo>
                  <a:pt x="27819" y="1693"/>
                  <a:pt x="27811" y="1703"/>
                  <a:pt x="27802" y="1711"/>
                </a:cubicBezTo>
                <a:cubicBezTo>
                  <a:pt x="27794" y="1720"/>
                  <a:pt x="27784" y="1727"/>
                  <a:pt x="27774" y="1734"/>
                </a:cubicBezTo>
                <a:cubicBezTo>
                  <a:pt x="27764" y="1741"/>
                  <a:pt x="27753" y="1747"/>
                  <a:pt x="27742" y="1751"/>
                </a:cubicBezTo>
                <a:cubicBezTo>
                  <a:pt x="27731" y="1756"/>
                  <a:pt x="27719" y="1760"/>
                  <a:pt x="27707" y="1762"/>
                </a:cubicBezTo>
                <a:cubicBezTo>
                  <a:pt x="27695" y="1764"/>
                  <a:pt x="27683" y="1766"/>
                  <a:pt x="27671" y="1766"/>
                </a:cubicBezTo>
                <a:lnTo>
                  <a:pt x="186" y="1766"/>
                </a:lnTo>
                <a:cubicBezTo>
                  <a:pt x="174" y="1766"/>
                  <a:pt x="161" y="1764"/>
                  <a:pt x="149" y="1762"/>
                </a:cubicBezTo>
                <a:cubicBezTo>
                  <a:pt x="138" y="1760"/>
                  <a:pt x="126" y="1756"/>
                  <a:pt x="115" y="1751"/>
                </a:cubicBezTo>
                <a:cubicBezTo>
                  <a:pt x="103" y="1747"/>
                  <a:pt x="93" y="1741"/>
                  <a:pt x="83" y="1734"/>
                </a:cubicBezTo>
                <a:cubicBezTo>
                  <a:pt x="72" y="1727"/>
                  <a:pt x="63" y="1720"/>
                  <a:pt x="54" y="1711"/>
                </a:cubicBezTo>
                <a:cubicBezTo>
                  <a:pt x="46" y="1703"/>
                  <a:pt x="38" y="1693"/>
                  <a:pt x="31" y="1683"/>
                </a:cubicBezTo>
                <a:cubicBezTo>
                  <a:pt x="25" y="1673"/>
                  <a:pt x="19" y="1662"/>
                  <a:pt x="14" y="1651"/>
                </a:cubicBezTo>
                <a:cubicBezTo>
                  <a:pt x="9" y="1640"/>
                  <a:pt x="6" y="1628"/>
                  <a:pt x="4" y="1616"/>
                </a:cubicBezTo>
                <a:cubicBezTo>
                  <a:pt x="1" y="1604"/>
                  <a:pt x="0" y="1592"/>
                  <a:pt x="0" y="1580"/>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69" name="フリーフォーム: 図形 668"/>
          <p:cNvSpPr/>
          <p:nvPr/>
        </p:nvSpPr>
        <p:spPr>
          <a:xfrm>
            <a:off x="334080" y="6016680"/>
            <a:ext cx="10028520" cy="501840"/>
          </a:xfrm>
          <a:custGeom>
            <a:avLst/>
            <a:gdLst/>
            <a:ahLst/>
            <a:cxnLst/>
            <a:rect l="0" t="0" r="r" b="b"/>
            <a:pathLst>
              <a:path w="27857" h="1394">
                <a:moveTo>
                  <a:pt x="0" y="1208"/>
                </a:moveTo>
                <a:lnTo>
                  <a:pt x="0" y="186"/>
                </a:lnTo>
                <a:cubicBezTo>
                  <a:pt x="0" y="173"/>
                  <a:pt x="1" y="161"/>
                  <a:pt x="4" y="149"/>
                </a:cubicBezTo>
                <a:cubicBezTo>
                  <a:pt x="6" y="137"/>
                  <a:pt x="9" y="126"/>
                  <a:pt x="14" y="115"/>
                </a:cubicBezTo>
                <a:cubicBezTo>
                  <a:pt x="19" y="103"/>
                  <a:pt x="25" y="93"/>
                  <a:pt x="31" y="82"/>
                </a:cubicBezTo>
                <a:cubicBezTo>
                  <a:pt x="38" y="72"/>
                  <a:pt x="46" y="63"/>
                  <a:pt x="54" y="54"/>
                </a:cubicBezTo>
                <a:cubicBezTo>
                  <a:pt x="63" y="46"/>
                  <a:pt x="72" y="38"/>
                  <a:pt x="83" y="31"/>
                </a:cubicBezTo>
                <a:cubicBezTo>
                  <a:pt x="93" y="24"/>
                  <a:pt x="103" y="19"/>
                  <a:pt x="115" y="14"/>
                </a:cubicBezTo>
                <a:cubicBezTo>
                  <a:pt x="126" y="9"/>
                  <a:pt x="138" y="6"/>
                  <a:pt x="149" y="3"/>
                </a:cubicBezTo>
                <a:cubicBezTo>
                  <a:pt x="161" y="1"/>
                  <a:pt x="174" y="0"/>
                  <a:pt x="186" y="0"/>
                </a:cubicBezTo>
                <a:lnTo>
                  <a:pt x="27671" y="0"/>
                </a:lnTo>
                <a:cubicBezTo>
                  <a:pt x="27683" y="0"/>
                  <a:pt x="27695" y="1"/>
                  <a:pt x="27707" y="3"/>
                </a:cubicBezTo>
                <a:cubicBezTo>
                  <a:pt x="27719" y="6"/>
                  <a:pt x="27731" y="9"/>
                  <a:pt x="27742" y="14"/>
                </a:cubicBezTo>
                <a:cubicBezTo>
                  <a:pt x="27753" y="19"/>
                  <a:pt x="27764" y="24"/>
                  <a:pt x="27774" y="31"/>
                </a:cubicBezTo>
                <a:cubicBezTo>
                  <a:pt x="27784" y="38"/>
                  <a:pt x="27794" y="46"/>
                  <a:pt x="27802" y="54"/>
                </a:cubicBezTo>
                <a:cubicBezTo>
                  <a:pt x="27811" y="63"/>
                  <a:pt x="27819" y="72"/>
                  <a:pt x="27825" y="82"/>
                </a:cubicBezTo>
                <a:cubicBezTo>
                  <a:pt x="27832" y="93"/>
                  <a:pt x="27838" y="103"/>
                  <a:pt x="27843" y="115"/>
                </a:cubicBezTo>
                <a:cubicBezTo>
                  <a:pt x="27847" y="126"/>
                  <a:pt x="27851" y="137"/>
                  <a:pt x="27853" y="149"/>
                </a:cubicBezTo>
                <a:cubicBezTo>
                  <a:pt x="27855" y="161"/>
                  <a:pt x="27857" y="173"/>
                  <a:pt x="27857" y="186"/>
                </a:cubicBezTo>
                <a:lnTo>
                  <a:pt x="27857" y="1208"/>
                </a:lnTo>
                <a:cubicBezTo>
                  <a:pt x="27857" y="1220"/>
                  <a:pt x="27855" y="1232"/>
                  <a:pt x="27853" y="1244"/>
                </a:cubicBezTo>
                <a:cubicBezTo>
                  <a:pt x="27851" y="1256"/>
                  <a:pt x="27847" y="1268"/>
                  <a:pt x="27843" y="1279"/>
                </a:cubicBezTo>
                <a:cubicBezTo>
                  <a:pt x="27838" y="1290"/>
                  <a:pt x="27832" y="1301"/>
                  <a:pt x="27825" y="1311"/>
                </a:cubicBezTo>
                <a:cubicBezTo>
                  <a:pt x="27819" y="1321"/>
                  <a:pt x="27811" y="1331"/>
                  <a:pt x="27802" y="1339"/>
                </a:cubicBezTo>
                <a:cubicBezTo>
                  <a:pt x="27794" y="1348"/>
                  <a:pt x="27784" y="1356"/>
                  <a:pt x="27774" y="1362"/>
                </a:cubicBezTo>
                <a:cubicBezTo>
                  <a:pt x="27764" y="1369"/>
                  <a:pt x="27753" y="1375"/>
                  <a:pt x="27742" y="1380"/>
                </a:cubicBezTo>
                <a:cubicBezTo>
                  <a:pt x="27731" y="1384"/>
                  <a:pt x="27719" y="1388"/>
                  <a:pt x="27707" y="1390"/>
                </a:cubicBezTo>
                <a:cubicBezTo>
                  <a:pt x="27695" y="1392"/>
                  <a:pt x="27683" y="1394"/>
                  <a:pt x="27671" y="1394"/>
                </a:cubicBezTo>
                <a:lnTo>
                  <a:pt x="186" y="1394"/>
                </a:lnTo>
                <a:cubicBezTo>
                  <a:pt x="174" y="1394"/>
                  <a:pt x="161" y="1392"/>
                  <a:pt x="149" y="1390"/>
                </a:cubicBezTo>
                <a:cubicBezTo>
                  <a:pt x="138" y="1388"/>
                  <a:pt x="126" y="1384"/>
                  <a:pt x="115" y="1380"/>
                </a:cubicBezTo>
                <a:cubicBezTo>
                  <a:pt x="103" y="1375"/>
                  <a:pt x="93" y="1369"/>
                  <a:pt x="83" y="1362"/>
                </a:cubicBezTo>
                <a:cubicBezTo>
                  <a:pt x="72" y="1356"/>
                  <a:pt x="63" y="1348"/>
                  <a:pt x="54" y="1339"/>
                </a:cubicBezTo>
                <a:cubicBezTo>
                  <a:pt x="46" y="1331"/>
                  <a:pt x="38" y="1321"/>
                  <a:pt x="31" y="1311"/>
                </a:cubicBezTo>
                <a:cubicBezTo>
                  <a:pt x="25" y="1301"/>
                  <a:pt x="19" y="1290"/>
                  <a:pt x="14" y="1279"/>
                </a:cubicBezTo>
                <a:cubicBezTo>
                  <a:pt x="9" y="1268"/>
                  <a:pt x="6" y="1256"/>
                  <a:pt x="4" y="1244"/>
                </a:cubicBezTo>
                <a:cubicBezTo>
                  <a:pt x="1" y="1232"/>
                  <a:pt x="0" y="1220"/>
                  <a:pt x="0" y="1208"/>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70" name="テキスト ボックス 669"/>
          <p:cNvSpPr txBox="1"/>
          <p:nvPr/>
        </p:nvSpPr>
        <p:spPr>
          <a:xfrm>
            <a:off x="334440" y="155520"/>
            <a:ext cx="150192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今後の課題</a:t>
            </a:r>
            <a:endParaRPr lang="en-US" sz="2370" b="0" u="none" strike="noStrike">
              <a:solidFill>
                <a:srgbClr val="000000"/>
              </a:solidFill>
              <a:effectLst/>
              <a:uFillTx/>
              <a:latin typeface="Times New Roman"/>
            </a:endParaRPr>
          </a:p>
        </p:txBody>
      </p:sp>
      <p:sp>
        <p:nvSpPr>
          <p:cNvPr id="671" name="フリーフォーム: 図形 670"/>
          <p:cNvSpPr/>
          <p:nvPr/>
        </p:nvSpPr>
        <p:spPr>
          <a:xfrm>
            <a:off x="350640" y="1838160"/>
            <a:ext cx="4863960" cy="1855800"/>
          </a:xfrm>
          <a:custGeom>
            <a:avLst/>
            <a:gdLst/>
            <a:ahLst/>
            <a:cxnLst/>
            <a:rect l="0" t="0" r="r" b="b"/>
            <a:pathLst>
              <a:path w="13511" h="5155">
                <a:moveTo>
                  <a:pt x="0" y="4969"/>
                </a:moveTo>
                <a:lnTo>
                  <a:pt x="0" y="186"/>
                </a:lnTo>
                <a:cubicBezTo>
                  <a:pt x="0" y="174"/>
                  <a:pt x="1" y="162"/>
                  <a:pt x="3" y="150"/>
                </a:cubicBezTo>
                <a:cubicBezTo>
                  <a:pt x="5" y="138"/>
                  <a:pt x="8" y="126"/>
                  <a:pt x="11" y="115"/>
                </a:cubicBezTo>
                <a:cubicBezTo>
                  <a:pt x="15" y="104"/>
                  <a:pt x="19" y="93"/>
                  <a:pt x="24" y="83"/>
                </a:cubicBezTo>
                <a:cubicBezTo>
                  <a:pt x="29" y="73"/>
                  <a:pt x="35" y="63"/>
                  <a:pt x="41" y="55"/>
                </a:cubicBezTo>
                <a:cubicBezTo>
                  <a:pt x="48" y="46"/>
                  <a:pt x="55" y="38"/>
                  <a:pt x="62" y="32"/>
                </a:cubicBezTo>
                <a:cubicBezTo>
                  <a:pt x="70" y="25"/>
                  <a:pt x="78" y="19"/>
                  <a:pt x="86" y="15"/>
                </a:cubicBezTo>
                <a:cubicBezTo>
                  <a:pt x="95" y="10"/>
                  <a:pt x="104" y="6"/>
                  <a:pt x="113" y="4"/>
                </a:cubicBezTo>
                <a:cubicBezTo>
                  <a:pt x="122" y="2"/>
                  <a:pt x="131" y="0"/>
                  <a:pt x="140" y="0"/>
                </a:cubicBezTo>
                <a:lnTo>
                  <a:pt x="13326" y="0"/>
                </a:lnTo>
                <a:cubicBezTo>
                  <a:pt x="13338" y="0"/>
                  <a:pt x="13350" y="2"/>
                  <a:pt x="13362" y="4"/>
                </a:cubicBezTo>
                <a:cubicBezTo>
                  <a:pt x="13374" y="6"/>
                  <a:pt x="13386" y="10"/>
                  <a:pt x="13397" y="15"/>
                </a:cubicBezTo>
                <a:cubicBezTo>
                  <a:pt x="13408" y="19"/>
                  <a:pt x="13419" y="25"/>
                  <a:pt x="13429" y="32"/>
                </a:cubicBezTo>
                <a:cubicBezTo>
                  <a:pt x="13439" y="38"/>
                  <a:pt x="13448" y="46"/>
                  <a:pt x="13457" y="55"/>
                </a:cubicBezTo>
                <a:cubicBezTo>
                  <a:pt x="13466" y="63"/>
                  <a:pt x="13473" y="73"/>
                  <a:pt x="13480" y="83"/>
                </a:cubicBezTo>
                <a:cubicBezTo>
                  <a:pt x="13487" y="93"/>
                  <a:pt x="13493" y="104"/>
                  <a:pt x="13497" y="115"/>
                </a:cubicBezTo>
                <a:cubicBezTo>
                  <a:pt x="13502" y="126"/>
                  <a:pt x="13505" y="138"/>
                  <a:pt x="13508" y="150"/>
                </a:cubicBezTo>
                <a:cubicBezTo>
                  <a:pt x="13510" y="162"/>
                  <a:pt x="13511" y="174"/>
                  <a:pt x="13511" y="186"/>
                </a:cubicBezTo>
                <a:lnTo>
                  <a:pt x="13511" y="4969"/>
                </a:lnTo>
                <a:cubicBezTo>
                  <a:pt x="13511" y="4981"/>
                  <a:pt x="13510" y="4993"/>
                  <a:pt x="13508" y="5005"/>
                </a:cubicBezTo>
                <a:cubicBezTo>
                  <a:pt x="13505" y="5017"/>
                  <a:pt x="13502" y="5029"/>
                  <a:pt x="13497" y="5040"/>
                </a:cubicBezTo>
                <a:cubicBezTo>
                  <a:pt x="13493" y="5051"/>
                  <a:pt x="13487" y="5062"/>
                  <a:pt x="13480" y="5072"/>
                </a:cubicBezTo>
                <a:cubicBezTo>
                  <a:pt x="13473" y="5082"/>
                  <a:pt x="13466" y="5092"/>
                  <a:pt x="13457" y="5100"/>
                </a:cubicBezTo>
                <a:cubicBezTo>
                  <a:pt x="13448" y="5109"/>
                  <a:pt x="13439" y="5117"/>
                  <a:pt x="13429" y="5123"/>
                </a:cubicBezTo>
                <a:cubicBezTo>
                  <a:pt x="13419" y="5130"/>
                  <a:pt x="13408" y="5136"/>
                  <a:pt x="13397" y="5141"/>
                </a:cubicBezTo>
                <a:cubicBezTo>
                  <a:pt x="13386" y="5145"/>
                  <a:pt x="13374" y="5149"/>
                  <a:pt x="13362" y="5151"/>
                </a:cubicBezTo>
                <a:cubicBezTo>
                  <a:pt x="13350" y="5153"/>
                  <a:pt x="13338" y="5155"/>
                  <a:pt x="13326" y="5155"/>
                </a:cubicBezTo>
                <a:lnTo>
                  <a:pt x="140" y="5155"/>
                </a:lnTo>
                <a:cubicBezTo>
                  <a:pt x="131" y="5155"/>
                  <a:pt x="122" y="5153"/>
                  <a:pt x="113" y="5151"/>
                </a:cubicBezTo>
                <a:cubicBezTo>
                  <a:pt x="104" y="5149"/>
                  <a:pt x="95" y="5145"/>
                  <a:pt x="86" y="5141"/>
                </a:cubicBezTo>
                <a:cubicBezTo>
                  <a:pt x="78" y="5136"/>
                  <a:pt x="70" y="5130"/>
                  <a:pt x="62" y="5123"/>
                </a:cubicBezTo>
                <a:cubicBezTo>
                  <a:pt x="55" y="5117"/>
                  <a:pt x="48" y="5109"/>
                  <a:pt x="41" y="5100"/>
                </a:cubicBezTo>
                <a:cubicBezTo>
                  <a:pt x="35" y="5092"/>
                  <a:pt x="29" y="5082"/>
                  <a:pt x="24" y="5072"/>
                </a:cubicBezTo>
                <a:cubicBezTo>
                  <a:pt x="19" y="5062"/>
                  <a:pt x="15" y="5051"/>
                  <a:pt x="11" y="5040"/>
                </a:cubicBezTo>
                <a:cubicBezTo>
                  <a:pt x="8" y="5029"/>
                  <a:pt x="5" y="5017"/>
                  <a:pt x="3" y="5005"/>
                </a:cubicBezTo>
                <a:cubicBezTo>
                  <a:pt x="1" y="4993"/>
                  <a:pt x="0" y="4981"/>
                  <a:pt x="0" y="4969"/>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72" name="フリーフォーム: 図形 671"/>
          <p:cNvSpPr/>
          <p:nvPr/>
        </p:nvSpPr>
        <p:spPr>
          <a:xfrm>
            <a:off x="334080" y="1838160"/>
            <a:ext cx="67320" cy="1855800"/>
          </a:xfrm>
          <a:custGeom>
            <a:avLst/>
            <a:gdLst/>
            <a:ahLst/>
            <a:cxnLst/>
            <a:rect l="0" t="0" r="r" b="b"/>
            <a:pathLst>
              <a:path w="187" h="5155">
                <a:moveTo>
                  <a:pt x="0" y="0"/>
                </a:moveTo>
                <a:lnTo>
                  <a:pt x="187" y="0"/>
                </a:lnTo>
                <a:lnTo>
                  <a:pt x="187" y="5155"/>
                </a:lnTo>
                <a:lnTo>
                  <a:pt x="0" y="5155"/>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73" name="フリーフォーム: 図形 672"/>
          <p:cNvSpPr/>
          <p:nvPr/>
        </p:nvSpPr>
        <p:spPr>
          <a:xfrm>
            <a:off x="568080" y="2038680"/>
            <a:ext cx="401400" cy="418320"/>
          </a:xfrm>
          <a:custGeom>
            <a:avLst/>
            <a:gdLst/>
            <a:ahLst/>
            <a:cxnLst/>
            <a:rect l="0" t="0" r="r" b="b"/>
            <a:pathLst>
              <a:path w="1115" h="1162">
                <a:moveTo>
                  <a:pt x="0" y="604"/>
                </a:moveTo>
                <a:lnTo>
                  <a:pt x="0" y="558"/>
                </a:lnTo>
                <a:cubicBezTo>
                  <a:pt x="0" y="521"/>
                  <a:pt x="4" y="485"/>
                  <a:pt x="11" y="449"/>
                </a:cubicBezTo>
                <a:cubicBezTo>
                  <a:pt x="18" y="413"/>
                  <a:pt x="28" y="378"/>
                  <a:pt x="42" y="344"/>
                </a:cubicBezTo>
                <a:cubicBezTo>
                  <a:pt x="56" y="311"/>
                  <a:pt x="74" y="278"/>
                  <a:pt x="95" y="248"/>
                </a:cubicBezTo>
                <a:cubicBezTo>
                  <a:pt x="115" y="218"/>
                  <a:pt x="138" y="190"/>
                  <a:pt x="164" y="164"/>
                </a:cubicBezTo>
                <a:cubicBezTo>
                  <a:pt x="190" y="138"/>
                  <a:pt x="218" y="115"/>
                  <a:pt x="249" y="94"/>
                </a:cubicBezTo>
                <a:cubicBezTo>
                  <a:pt x="279" y="74"/>
                  <a:pt x="311" y="57"/>
                  <a:pt x="345" y="43"/>
                </a:cubicBezTo>
                <a:cubicBezTo>
                  <a:pt x="379" y="29"/>
                  <a:pt x="414" y="18"/>
                  <a:pt x="449" y="11"/>
                </a:cubicBezTo>
                <a:cubicBezTo>
                  <a:pt x="485" y="4"/>
                  <a:pt x="522" y="0"/>
                  <a:pt x="558" y="0"/>
                </a:cubicBezTo>
                <a:cubicBezTo>
                  <a:pt x="595" y="0"/>
                  <a:pt x="631" y="4"/>
                  <a:pt x="667" y="11"/>
                </a:cubicBezTo>
                <a:cubicBezTo>
                  <a:pt x="703" y="18"/>
                  <a:pt x="738" y="29"/>
                  <a:pt x="771" y="43"/>
                </a:cubicBezTo>
                <a:cubicBezTo>
                  <a:pt x="805" y="57"/>
                  <a:pt x="837" y="74"/>
                  <a:pt x="868" y="94"/>
                </a:cubicBezTo>
                <a:cubicBezTo>
                  <a:pt x="898" y="115"/>
                  <a:pt x="926" y="138"/>
                  <a:pt x="952" y="164"/>
                </a:cubicBezTo>
                <a:cubicBezTo>
                  <a:pt x="978" y="190"/>
                  <a:pt x="1001" y="218"/>
                  <a:pt x="1021" y="248"/>
                </a:cubicBezTo>
                <a:cubicBezTo>
                  <a:pt x="1042" y="278"/>
                  <a:pt x="1059" y="311"/>
                  <a:pt x="1073" y="344"/>
                </a:cubicBezTo>
                <a:cubicBezTo>
                  <a:pt x="1087" y="378"/>
                  <a:pt x="1097" y="413"/>
                  <a:pt x="1105" y="449"/>
                </a:cubicBezTo>
                <a:cubicBezTo>
                  <a:pt x="1112" y="485"/>
                  <a:pt x="1115" y="521"/>
                  <a:pt x="1115" y="558"/>
                </a:cubicBezTo>
                <a:lnTo>
                  <a:pt x="1115" y="604"/>
                </a:lnTo>
                <a:cubicBezTo>
                  <a:pt x="1115" y="641"/>
                  <a:pt x="1112" y="677"/>
                  <a:pt x="1105" y="713"/>
                </a:cubicBezTo>
                <a:cubicBezTo>
                  <a:pt x="1097" y="750"/>
                  <a:pt x="1087" y="784"/>
                  <a:pt x="1073" y="818"/>
                </a:cubicBezTo>
                <a:cubicBezTo>
                  <a:pt x="1059" y="852"/>
                  <a:pt x="1042" y="884"/>
                  <a:pt x="1021" y="915"/>
                </a:cubicBezTo>
                <a:cubicBezTo>
                  <a:pt x="1001" y="945"/>
                  <a:pt x="978" y="973"/>
                  <a:pt x="952" y="999"/>
                </a:cubicBezTo>
                <a:cubicBezTo>
                  <a:pt x="926" y="1025"/>
                  <a:pt x="898" y="1048"/>
                  <a:pt x="868" y="1068"/>
                </a:cubicBezTo>
                <a:cubicBezTo>
                  <a:pt x="837" y="1089"/>
                  <a:pt x="805" y="1106"/>
                  <a:pt x="771" y="1120"/>
                </a:cubicBezTo>
                <a:cubicBezTo>
                  <a:pt x="738" y="1134"/>
                  <a:pt x="703" y="1144"/>
                  <a:pt x="667" y="1151"/>
                </a:cubicBezTo>
                <a:cubicBezTo>
                  <a:pt x="631" y="1159"/>
                  <a:pt x="595" y="1162"/>
                  <a:pt x="558" y="1162"/>
                </a:cubicBezTo>
                <a:cubicBezTo>
                  <a:pt x="522" y="1162"/>
                  <a:pt x="485" y="1159"/>
                  <a:pt x="449" y="1151"/>
                </a:cubicBezTo>
                <a:cubicBezTo>
                  <a:pt x="414" y="1144"/>
                  <a:pt x="379" y="1134"/>
                  <a:pt x="345" y="1120"/>
                </a:cubicBezTo>
                <a:cubicBezTo>
                  <a:pt x="311" y="1106"/>
                  <a:pt x="279" y="1089"/>
                  <a:pt x="249" y="1068"/>
                </a:cubicBezTo>
                <a:cubicBezTo>
                  <a:pt x="218" y="1048"/>
                  <a:pt x="190" y="1025"/>
                  <a:pt x="164" y="999"/>
                </a:cubicBezTo>
                <a:cubicBezTo>
                  <a:pt x="138" y="973"/>
                  <a:pt x="115" y="945"/>
                  <a:pt x="95" y="915"/>
                </a:cubicBezTo>
                <a:cubicBezTo>
                  <a:pt x="74" y="884"/>
                  <a:pt x="56" y="852"/>
                  <a:pt x="42" y="818"/>
                </a:cubicBezTo>
                <a:cubicBezTo>
                  <a:pt x="28" y="784"/>
                  <a:pt x="18" y="750"/>
                  <a:pt x="11" y="713"/>
                </a:cubicBezTo>
                <a:cubicBezTo>
                  <a:pt x="4" y="677"/>
                  <a:pt x="0" y="641"/>
                  <a:pt x="0" y="60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74" name="図 673"/>
          <p:cNvPicPr/>
          <p:nvPr/>
        </p:nvPicPr>
        <p:blipFill>
          <a:blip r:embed="rId3"/>
          <a:stretch/>
        </p:blipFill>
        <p:spPr>
          <a:xfrm>
            <a:off x="668520" y="2139480"/>
            <a:ext cx="200160" cy="200160"/>
          </a:xfrm>
          <a:prstGeom prst="rect">
            <a:avLst/>
          </a:prstGeom>
          <a:noFill/>
          <a:ln w="0">
            <a:noFill/>
          </a:ln>
        </p:spPr>
      </p:pic>
      <p:sp>
        <p:nvSpPr>
          <p:cNvPr id="675" name="テキスト ボックス 674"/>
          <p:cNvSpPr txBox="1"/>
          <p:nvPr/>
        </p:nvSpPr>
        <p:spPr>
          <a:xfrm>
            <a:off x="534960" y="1165320"/>
            <a:ext cx="4527000" cy="244080"/>
          </a:xfrm>
          <a:prstGeom prst="rect">
            <a:avLst/>
          </a:prstGeom>
          <a:noFill/>
          <a:ln w="0">
            <a:noFill/>
          </a:ln>
        </p:spPr>
        <p:txBody>
          <a:bodyPr wrap="none" lIns="0" tIns="0" rIns="0" bIns="0" anchor="t">
            <a:spAutoFit/>
          </a:bodyPr>
          <a:lstStyle/>
          <a:p>
            <a:r>
              <a:rPr lang="zh-CN" sz="1320" b="0" u="none" strike="noStrike">
                <a:solidFill>
                  <a:srgbClr val="374151"/>
                </a:solidFill>
                <a:effectLst/>
                <a:uFillTx/>
                <a:latin typeface="NotoSansJP"/>
                <a:ea typeface="NotoSansJP"/>
              </a:rPr>
              <a:t>現在の研究成果を踏まえ、以下の課題に取り組む予定です：</a:t>
            </a:r>
            <a:endParaRPr lang="en-US" sz="1320" b="0" u="none" strike="noStrike">
              <a:solidFill>
                <a:srgbClr val="000000"/>
              </a:solidFill>
              <a:effectLst/>
              <a:uFillTx/>
              <a:latin typeface="Times New Roman"/>
            </a:endParaRPr>
          </a:p>
        </p:txBody>
      </p:sp>
      <p:pic>
        <p:nvPicPr>
          <p:cNvPr id="676" name="図 675"/>
          <p:cNvPicPr/>
          <p:nvPr/>
        </p:nvPicPr>
        <p:blipFill>
          <a:blip r:embed="rId4"/>
          <a:stretch/>
        </p:blipFill>
        <p:spPr>
          <a:xfrm>
            <a:off x="1036080" y="2624040"/>
            <a:ext cx="74880" cy="150120"/>
          </a:xfrm>
          <a:prstGeom prst="rect">
            <a:avLst/>
          </a:prstGeom>
          <a:noFill/>
          <a:ln w="0">
            <a:noFill/>
          </a:ln>
        </p:spPr>
      </p:pic>
      <p:sp>
        <p:nvSpPr>
          <p:cNvPr id="677" name="テキスト ボックス 676"/>
          <p:cNvSpPr txBox="1"/>
          <p:nvPr/>
        </p:nvSpPr>
        <p:spPr>
          <a:xfrm>
            <a:off x="1103040" y="2070360"/>
            <a:ext cx="181116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飽和現象の原因究明</a:t>
            </a:r>
            <a:endParaRPr lang="en-US" sz="1580" b="0" u="none" strike="noStrike">
              <a:solidFill>
                <a:srgbClr val="000000"/>
              </a:solidFill>
              <a:effectLst/>
              <a:uFillTx/>
              <a:latin typeface="Times New Roman"/>
            </a:endParaRPr>
          </a:p>
        </p:txBody>
      </p:sp>
      <p:pic>
        <p:nvPicPr>
          <p:cNvPr id="678" name="図 677"/>
          <p:cNvPicPr/>
          <p:nvPr/>
        </p:nvPicPr>
        <p:blipFill>
          <a:blip r:embed="rId4"/>
          <a:stretch/>
        </p:blipFill>
        <p:spPr>
          <a:xfrm>
            <a:off x="1036080" y="2958120"/>
            <a:ext cx="74880" cy="150120"/>
          </a:xfrm>
          <a:prstGeom prst="rect">
            <a:avLst/>
          </a:prstGeom>
          <a:noFill/>
          <a:ln w="0">
            <a:noFill/>
          </a:ln>
        </p:spPr>
      </p:pic>
      <p:sp>
        <p:nvSpPr>
          <p:cNvPr id="679" name="テキスト ボックス 678"/>
          <p:cNvSpPr txBox="1"/>
          <p:nvPr/>
        </p:nvSpPr>
        <p:spPr>
          <a:xfrm>
            <a:off x="1178280" y="2634840"/>
            <a:ext cx="333000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以上の濃度における飽和関係の詳細分析</a:t>
            </a:r>
            <a:endParaRPr lang="en-US" sz="1180" b="0" u="none" strike="noStrike">
              <a:solidFill>
                <a:srgbClr val="000000"/>
              </a:solidFill>
              <a:effectLst/>
              <a:uFillTx/>
              <a:latin typeface="Times New Roman"/>
            </a:endParaRPr>
          </a:p>
        </p:txBody>
      </p:sp>
      <p:pic>
        <p:nvPicPr>
          <p:cNvPr id="680" name="図 679"/>
          <p:cNvPicPr/>
          <p:nvPr/>
        </p:nvPicPr>
        <p:blipFill>
          <a:blip r:embed="rId4"/>
          <a:stretch/>
        </p:blipFill>
        <p:spPr>
          <a:xfrm>
            <a:off x="1036080" y="3292560"/>
            <a:ext cx="74880" cy="150120"/>
          </a:xfrm>
          <a:prstGeom prst="rect">
            <a:avLst/>
          </a:prstGeom>
          <a:noFill/>
          <a:ln w="0">
            <a:noFill/>
          </a:ln>
        </p:spPr>
      </p:pic>
      <p:sp>
        <p:nvSpPr>
          <p:cNvPr id="681" name="テキスト ボックス 680"/>
          <p:cNvSpPr txBox="1"/>
          <p:nvPr/>
        </p:nvSpPr>
        <p:spPr>
          <a:xfrm>
            <a:off x="1178280" y="2969280"/>
            <a:ext cx="316908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センサ表面での分子相互作用のメカニズム解明</a:t>
            </a:r>
            <a:endParaRPr lang="en-US" sz="1180" b="0" u="none" strike="noStrike">
              <a:solidFill>
                <a:srgbClr val="000000"/>
              </a:solidFill>
              <a:effectLst/>
              <a:uFillTx/>
              <a:latin typeface="Times New Roman"/>
            </a:endParaRPr>
          </a:p>
        </p:txBody>
      </p:sp>
      <p:sp>
        <p:nvSpPr>
          <p:cNvPr id="682" name="フリーフォーム: 図形 681"/>
          <p:cNvSpPr/>
          <p:nvPr/>
        </p:nvSpPr>
        <p:spPr>
          <a:xfrm>
            <a:off x="5498640" y="1838160"/>
            <a:ext cx="4863960" cy="1855800"/>
          </a:xfrm>
          <a:custGeom>
            <a:avLst/>
            <a:gdLst/>
            <a:ahLst/>
            <a:cxnLst/>
            <a:rect l="0" t="0" r="r" b="b"/>
            <a:pathLst>
              <a:path w="13511" h="5155">
                <a:moveTo>
                  <a:pt x="0" y="4969"/>
                </a:moveTo>
                <a:lnTo>
                  <a:pt x="0" y="186"/>
                </a:lnTo>
                <a:cubicBezTo>
                  <a:pt x="0" y="174"/>
                  <a:pt x="1" y="162"/>
                  <a:pt x="2" y="150"/>
                </a:cubicBezTo>
                <a:cubicBezTo>
                  <a:pt x="4" y="138"/>
                  <a:pt x="7" y="126"/>
                  <a:pt x="10" y="115"/>
                </a:cubicBezTo>
                <a:cubicBezTo>
                  <a:pt x="14" y="104"/>
                  <a:pt x="18" y="93"/>
                  <a:pt x="23" y="83"/>
                </a:cubicBezTo>
                <a:cubicBezTo>
                  <a:pt x="28" y="73"/>
                  <a:pt x="34" y="63"/>
                  <a:pt x="40" y="55"/>
                </a:cubicBezTo>
                <a:cubicBezTo>
                  <a:pt x="47" y="46"/>
                  <a:pt x="54" y="38"/>
                  <a:pt x="62" y="32"/>
                </a:cubicBezTo>
                <a:cubicBezTo>
                  <a:pt x="69" y="25"/>
                  <a:pt x="77" y="19"/>
                  <a:pt x="86" y="15"/>
                </a:cubicBezTo>
                <a:cubicBezTo>
                  <a:pt x="94" y="10"/>
                  <a:pt x="103" y="6"/>
                  <a:pt x="112" y="4"/>
                </a:cubicBezTo>
                <a:cubicBezTo>
                  <a:pt x="121" y="2"/>
                  <a:pt x="130" y="0"/>
                  <a:pt x="139" y="0"/>
                </a:cubicBezTo>
                <a:lnTo>
                  <a:pt x="13325" y="0"/>
                </a:lnTo>
                <a:cubicBezTo>
                  <a:pt x="13337" y="0"/>
                  <a:pt x="13349" y="2"/>
                  <a:pt x="13361" y="4"/>
                </a:cubicBezTo>
                <a:cubicBezTo>
                  <a:pt x="13373" y="6"/>
                  <a:pt x="13385" y="10"/>
                  <a:pt x="13396" y="15"/>
                </a:cubicBezTo>
                <a:cubicBezTo>
                  <a:pt x="13407" y="19"/>
                  <a:pt x="13418" y="25"/>
                  <a:pt x="13428" y="32"/>
                </a:cubicBezTo>
                <a:cubicBezTo>
                  <a:pt x="13438" y="38"/>
                  <a:pt x="13448" y="46"/>
                  <a:pt x="13456" y="55"/>
                </a:cubicBezTo>
                <a:cubicBezTo>
                  <a:pt x="13465" y="63"/>
                  <a:pt x="13473" y="73"/>
                  <a:pt x="13479" y="83"/>
                </a:cubicBezTo>
                <a:cubicBezTo>
                  <a:pt x="13486" y="93"/>
                  <a:pt x="13492" y="104"/>
                  <a:pt x="13497" y="115"/>
                </a:cubicBezTo>
                <a:cubicBezTo>
                  <a:pt x="13501" y="126"/>
                  <a:pt x="13505" y="138"/>
                  <a:pt x="13507" y="150"/>
                </a:cubicBezTo>
                <a:cubicBezTo>
                  <a:pt x="13509" y="162"/>
                  <a:pt x="13511" y="174"/>
                  <a:pt x="13511" y="186"/>
                </a:cubicBezTo>
                <a:lnTo>
                  <a:pt x="13511" y="4969"/>
                </a:lnTo>
                <a:cubicBezTo>
                  <a:pt x="13511" y="4981"/>
                  <a:pt x="13509" y="4993"/>
                  <a:pt x="13507" y="5005"/>
                </a:cubicBezTo>
                <a:cubicBezTo>
                  <a:pt x="13505" y="5017"/>
                  <a:pt x="13501" y="5029"/>
                  <a:pt x="13497" y="5040"/>
                </a:cubicBezTo>
                <a:cubicBezTo>
                  <a:pt x="13492" y="5051"/>
                  <a:pt x="13486" y="5062"/>
                  <a:pt x="13479" y="5072"/>
                </a:cubicBezTo>
                <a:cubicBezTo>
                  <a:pt x="13473" y="5082"/>
                  <a:pt x="13465" y="5092"/>
                  <a:pt x="13456" y="5100"/>
                </a:cubicBezTo>
                <a:cubicBezTo>
                  <a:pt x="13448" y="5109"/>
                  <a:pt x="13438" y="5117"/>
                  <a:pt x="13428" y="5123"/>
                </a:cubicBezTo>
                <a:cubicBezTo>
                  <a:pt x="13418" y="5130"/>
                  <a:pt x="13407" y="5136"/>
                  <a:pt x="13396" y="5141"/>
                </a:cubicBezTo>
                <a:cubicBezTo>
                  <a:pt x="13385" y="5145"/>
                  <a:pt x="13373" y="5149"/>
                  <a:pt x="13361" y="5151"/>
                </a:cubicBezTo>
                <a:cubicBezTo>
                  <a:pt x="13349" y="5153"/>
                  <a:pt x="13337" y="5155"/>
                  <a:pt x="13325" y="5155"/>
                </a:cubicBezTo>
                <a:lnTo>
                  <a:pt x="139" y="5155"/>
                </a:lnTo>
                <a:cubicBezTo>
                  <a:pt x="130" y="5155"/>
                  <a:pt x="121" y="5153"/>
                  <a:pt x="112" y="5151"/>
                </a:cubicBezTo>
                <a:cubicBezTo>
                  <a:pt x="103" y="5149"/>
                  <a:pt x="94" y="5145"/>
                  <a:pt x="86" y="5141"/>
                </a:cubicBezTo>
                <a:cubicBezTo>
                  <a:pt x="77" y="5136"/>
                  <a:pt x="69" y="5130"/>
                  <a:pt x="62" y="5123"/>
                </a:cubicBezTo>
                <a:cubicBezTo>
                  <a:pt x="54" y="5117"/>
                  <a:pt x="47" y="5109"/>
                  <a:pt x="40" y="5100"/>
                </a:cubicBezTo>
                <a:cubicBezTo>
                  <a:pt x="34" y="5092"/>
                  <a:pt x="28" y="5082"/>
                  <a:pt x="23" y="5072"/>
                </a:cubicBezTo>
                <a:cubicBezTo>
                  <a:pt x="18" y="5062"/>
                  <a:pt x="14" y="5051"/>
                  <a:pt x="10" y="5040"/>
                </a:cubicBezTo>
                <a:cubicBezTo>
                  <a:pt x="7" y="5029"/>
                  <a:pt x="4" y="5017"/>
                  <a:pt x="2" y="5005"/>
                </a:cubicBezTo>
                <a:cubicBezTo>
                  <a:pt x="1" y="4993"/>
                  <a:pt x="0" y="4981"/>
                  <a:pt x="0" y="4969"/>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83" name="フリーフォーム: 図形 682"/>
          <p:cNvSpPr/>
          <p:nvPr/>
        </p:nvSpPr>
        <p:spPr>
          <a:xfrm>
            <a:off x="5481720" y="1838160"/>
            <a:ext cx="67320" cy="1855800"/>
          </a:xfrm>
          <a:custGeom>
            <a:avLst/>
            <a:gdLst/>
            <a:ahLst/>
            <a:cxnLst/>
            <a:rect l="0" t="0" r="r" b="b"/>
            <a:pathLst>
              <a:path w="187" h="5155">
                <a:moveTo>
                  <a:pt x="0" y="0"/>
                </a:moveTo>
                <a:lnTo>
                  <a:pt x="187" y="0"/>
                </a:lnTo>
                <a:lnTo>
                  <a:pt x="187" y="5155"/>
                </a:lnTo>
                <a:lnTo>
                  <a:pt x="0" y="5155"/>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84" name="フリーフォーム: 図形 683"/>
          <p:cNvSpPr/>
          <p:nvPr/>
        </p:nvSpPr>
        <p:spPr>
          <a:xfrm>
            <a:off x="5715720" y="2038680"/>
            <a:ext cx="401400" cy="418320"/>
          </a:xfrm>
          <a:custGeom>
            <a:avLst/>
            <a:gdLst/>
            <a:ahLst/>
            <a:cxnLst/>
            <a:rect l="0" t="0" r="r" b="b"/>
            <a:pathLst>
              <a:path w="1115" h="1162">
                <a:moveTo>
                  <a:pt x="0" y="604"/>
                </a:moveTo>
                <a:lnTo>
                  <a:pt x="0" y="558"/>
                </a:lnTo>
                <a:cubicBezTo>
                  <a:pt x="0" y="521"/>
                  <a:pt x="4" y="485"/>
                  <a:pt x="11" y="449"/>
                </a:cubicBezTo>
                <a:cubicBezTo>
                  <a:pt x="18" y="413"/>
                  <a:pt x="29" y="378"/>
                  <a:pt x="43" y="344"/>
                </a:cubicBezTo>
                <a:cubicBezTo>
                  <a:pt x="57" y="311"/>
                  <a:pt x="74" y="278"/>
                  <a:pt x="94" y="248"/>
                </a:cubicBezTo>
                <a:cubicBezTo>
                  <a:pt x="114" y="218"/>
                  <a:pt x="138" y="190"/>
                  <a:pt x="163" y="164"/>
                </a:cubicBezTo>
                <a:cubicBezTo>
                  <a:pt x="189" y="138"/>
                  <a:pt x="217" y="115"/>
                  <a:pt x="248" y="94"/>
                </a:cubicBezTo>
                <a:cubicBezTo>
                  <a:pt x="279" y="74"/>
                  <a:pt x="311" y="57"/>
                  <a:pt x="345" y="43"/>
                </a:cubicBezTo>
                <a:cubicBezTo>
                  <a:pt x="379" y="29"/>
                  <a:pt x="414" y="18"/>
                  <a:pt x="450" y="11"/>
                </a:cubicBezTo>
                <a:cubicBezTo>
                  <a:pt x="486" y="4"/>
                  <a:pt x="522" y="0"/>
                  <a:pt x="558" y="0"/>
                </a:cubicBezTo>
                <a:cubicBezTo>
                  <a:pt x="595" y="0"/>
                  <a:pt x="631" y="4"/>
                  <a:pt x="667" y="11"/>
                </a:cubicBezTo>
                <a:cubicBezTo>
                  <a:pt x="703" y="18"/>
                  <a:pt x="738" y="29"/>
                  <a:pt x="772" y="43"/>
                </a:cubicBezTo>
                <a:cubicBezTo>
                  <a:pt x="805" y="57"/>
                  <a:pt x="837" y="74"/>
                  <a:pt x="868" y="94"/>
                </a:cubicBezTo>
                <a:cubicBezTo>
                  <a:pt x="898" y="115"/>
                  <a:pt x="926" y="138"/>
                  <a:pt x="952" y="164"/>
                </a:cubicBezTo>
                <a:cubicBezTo>
                  <a:pt x="978" y="190"/>
                  <a:pt x="1001" y="218"/>
                  <a:pt x="1022" y="248"/>
                </a:cubicBezTo>
                <a:cubicBezTo>
                  <a:pt x="1042" y="278"/>
                  <a:pt x="1059" y="311"/>
                  <a:pt x="1073" y="344"/>
                </a:cubicBezTo>
                <a:cubicBezTo>
                  <a:pt x="1087" y="378"/>
                  <a:pt x="1098" y="413"/>
                  <a:pt x="1105" y="449"/>
                </a:cubicBezTo>
                <a:cubicBezTo>
                  <a:pt x="1112" y="485"/>
                  <a:pt x="1115" y="521"/>
                  <a:pt x="1115" y="558"/>
                </a:cubicBezTo>
                <a:lnTo>
                  <a:pt x="1115" y="604"/>
                </a:lnTo>
                <a:cubicBezTo>
                  <a:pt x="1115" y="641"/>
                  <a:pt x="1112" y="677"/>
                  <a:pt x="1105" y="713"/>
                </a:cubicBezTo>
                <a:cubicBezTo>
                  <a:pt x="1098" y="750"/>
                  <a:pt x="1087" y="784"/>
                  <a:pt x="1073" y="818"/>
                </a:cubicBezTo>
                <a:cubicBezTo>
                  <a:pt x="1059" y="852"/>
                  <a:pt x="1042" y="884"/>
                  <a:pt x="1022" y="915"/>
                </a:cubicBezTo>
                <a:cubicBezTo>
                  <a:pt x="1001" y="945"/>
                  <a:pt x="978" y="973"/>
                  <a:pt x="952" y="999"/>
                </a:cubicBezTo>
                <a:cubicBezTo>
                  <a:pt x="926" y="1025"/>
                  <a:pt x="898" y="1048"/>
                  <a:pt x="868" y="1068"/>
                </a:cubicBezTo>
                <a:cubicBezTo>
                  <a:pt x="837" y="1089"/>
                  <a:pt x="805" y="1106"/>
                  <a:pt x="772" y="1120"/>
                </a:cubicBezTo>
                <a:cubicBezTo>
                  <a:pt x="738" y="1134"/>
                  <a:pt x="703" y="1144"/>
                  <a:pt x="667" y="1151"/>
                </a:cubicBezTo>
                <a:cubicBezTo>
                  <a:pt x="631" y="1159"/>
                  <a:pt x="595" y="1162"/>
                  <a:pt x="558" y="1162"/>
                </a:cubicBezTo>
                <a:cubicBezTo>
                  <a:pt x="522" y="1162"/>
                  <a:pt x="486" y="1159"/>
                  <a:pt x="450" y="1151"/>
                </a:cubicBezTo>
                <a:cubicBezTo>
                  <a:pt x="414" y="1144"/>
                  <a:pt x="379" y="1134"/>
                  <a:pt x="345" y="1120"/>
                </a:cubicBezTo>
                <a:cubicBezTo>
                  <a:pt x="311" y="1106"/>
                  <a:pt x="279" y="1089"/>
                  <a:pt x="248" y="1068"/>
                </a:cubicBezTo>
                <a:cubicBezTo>
                  <a:pt x="217" y="1048"/>
                  <a:pt x="189" y="1025"/>
                  <a:pt x="163" y="999"/>
                </a:cubicBezTo>
                <a:cubicBezTo>
                  <a:pt x="138" y="973"/>
                  <a:pt x="114" y="945"/>
                  <a:pt x="94" y="915"/>
                </a:cubicBezTo>
                <a:cubicBezTo>
                  <a:pt x="74" y="884"/>
                  <a:pt x="57" y="852"/>
                  <a:pt x="43" y="818"/>
                </a:cubicBezTo>
                <a:cubicBezTo>
                  <a:pt x="29" y="784"/>
                  <a:pt x="18" y="750"/>
                  <a:pt x="11" y="713"/>
                </a:cubicBezTo>
                <a:cubicBezTo>
                  <a:pt x="4" y="677"/>
                  <a:pt x="0" y="641"/>
                  <a:pt x="0" y="604"/>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685" name="図 684"/>
          <p:cNvPicPr/>
          <p:nvPr/>
        </p:nvPicPr>
        <p:blipFill>
          <a:blip r:embed="rId5"/>
          <a:stretch/>
        </p:blipFill>
        <p:spPr>
          <a:xfrm>
            <a:off x="5816160" y="2139480"/>
            <a:ext cx="200160" cy="200160"/>
          </a:xfrm>
          <a:prstGeom prst="rect">
            <a:avLst/>
          </a:prstGeom>
          <a:noFill/>
          <a:ln w="0">
            <a:noFill/>
          </a:ln>
        </p:spPr>
      </p:pic>
      <p:sp>
        <p:nvSpPr>
          <p:cNvPr id="686" name="テキスト ボックス 685"/>
          <p:cNvSpPr txBox="1"/>
          <p:nvPr/>
        </p:nvSpPr>
        <p:spPr>
          <a:xfrm>
            <a:off x="1178280" y="3303360"/>
            <a:ext cx="30182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高濃度領域でのガス検知性能の向上策の検討</a:t>
            </a:r>
            <a:endParaRPr lang="en-US" sz="1180" b="0" u="none" strike="noStrike">
              <a:solidFill>
                <a:srgbClr val="000000"/>
              </a:solidFill>
              <a:effectLst/>
              <a:uFillTx/>
              <a:latin typeface="Times New Roman"/>
            </a:endParaRPr>
          </a:p>
        </p:txBody>
      </p:sp>
      <p:pic>
        <p:nvPicPr>
          <p:cNvPr id="687" name="図 686"/>
          <p:cNvPicPr/>
          <p:nvPr/>
        </p:nvPicPr>
        <p:blipFill>
          <a:blip r:embed="rId4"/>
          <a:stretch/>
        </p:blipFill>
        <p:spPr>
          <a:xfrm>
            <a:off x="6184080" y="2624040"/>
            <a:ext cx="74880" cy="150120"/>
          </a:xfrm>
          <a:prstGeom prst="rect">
            <a:avLst/>
          </a:prstGeom>
          <a:noFill/>
          <a:ln w="0">
            <a:noFill/>
          </a:ln>
        </p:spPr>
      </p:pic>
      <p:sp>
        <p:nvSpPr>
          <p:cNvPr id="688" name="テキスト ボックス 687"/>
          <p:cNvSpPr txBox="1"/>
          <p:nvPr/>
        </p:nvSpPr>
        <p:spPr>
          <a:xfrm>
            <a:off x="6250680" y="2070360"/>
            <a:ext cx="160992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電極構造の最適化</a:t>
            </a:r>
            <a:endParaRPr lang="en-US" sz="1580" b="0" u="none" strike="noStrike">
              <a:solidFill>
                <a:srgbClr val="000000"/>
              </a:solidFill>
              <a:effectLst/>
              <a:uFillTx/>
              <a:latin typeface="Times New Roman"/>
            </a:endParaRPr>
          </a:p>
        </p:txBody>
      </p:sp>
      <p:sp>
        <p:nvSpPr>
          <p:cNvPr id="689" name="テキスト ボックス 688"/>
          <p:cNvSpPr txBox="1"/>
          <p:nvPr/>
        </p:nvSpPr>
        <p:spPr>
          <a:xfrm>
            <a:off x="6325920" y="2634840"/>
            <a:ext cx="12927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電極の幅間隔を</a:t>
            </a:r>
            <a:r>
              <a:rPr lang="en-US" sz="1180" b="0" u="none" strike="noStrike">
                <a:solidFill>
                  <a:srgbClr val="000000"/>
                </a:solidFill>
                <a:effectLst/>
                <a:uFillTx/>
                <a:latin typeface="NotoSansJP"/>
                <a:ea typeface="NotoSansJP"/>
              </a:rPr>
              <a:t>20</a:t>
            </a:r>
            <a:endParaRPr lang="en-US" sz="1180" b="0" u="none" strike="noStrike">
              <a:solidFill>
                <a:srgbClr val="000000"/>
              </a:solidFill>
              <a:effectLst/>
              <a:uFillTx/>
              <a:latin typeface="Times New Roman"/>
            </a:endParaRPr>
          </a:p>
        </p:txBody>
      </p:sp>
      <p:sp>
        <p:nvSpPr>
          <p:cNvPr id="690" name="テキスト ボックス 689"/>
          <p:cNvSpPr txBox="1"/>
          <p:nvPr/>
        </p:nvSpPr>
        <p:spPr>
          <a:xfrm>
            <a:off x="7545960" y="2638440"/>
            <a:ext cx="150120" cy="1695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Arial"/>
                <a:ea typeface="Arial"/>
              </a:rPr>
              <a:t>μ</a:t>
            </a:r>
            <a:endParaRPr lang="en-US" sz="1180" b="0" u="none" strike="noStrike">
              <a:solidFill>
                <a:srgbClr val="000000"/>
              </a:solidFill>
              <a:effectLst/>
              <a:uFillTx/>
              <a:latin typeface="Times New Roman"/>
            </a:endParaRPr>
          </a:p>
        </p:txBody>
      </p:sp>
      <p:sp>
        <p:nvSpPr>
          <p:cNvPr id="691" name="テキスト ボックス 690"/>
          <p:cNvSpPr txBox="1"/>
          <p:nvPr/>
        </p:nvSpPr>
        <p:spPr>
          <a:xfrm>
            <a:off x="7632720" y="2634840"/>
            <a:ext cx="72000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m</a:t>
            </a:r>
            <a:r>
              <a:rPr lang="zh-CN" sz="1180" b="0" u="none" strike="noStrike">
                <a:solidFill>
                  <a:srgbClr val="000000"/>
                </a:solidFill>
                <a:effectLst/>
                <a:uFillTx/>
                <a:latin typeface="NotoSansJP"/>
                <a:ea typeface="NotoSansJP"/>
              </a:rPr>
              <a:t>から</a:t>
            </a:r>
            <a:r>
              <a:rPr lang="en-US" sz="1180" b="0" u="none" strike="noStrike">
                <a:solidFill>
                  <a:srgbClr val="000000"/>
                </a:solidFill>
                <a:effectLst/>
                <a:uFillTx/>
                <a:latin typeface="NotoSansJP"/>
                <a:ea typeface="NotoSansJP"/>
              </a:rPr>
              <a:t>50</a:t>
            </a:r>
            <a:endParaRPr lang="en-US" sz="1180" b="0" u="none" strike="noStrike">
              <a:solidFill>
                <a:srgbClr val="000000"/>
              </a:solidFill>
              <a:effectLst/>
              <a:uFillTx/>
              <a:latin typeface="Times New Roman"/>
            </a:endParaRPr>
          </a:p>
        </p:txBody>
      </p:sp>
      <p:sp>
        <p:nvSpPr>
          <p:cNvPr id="692" name="テキスト ボックス 691"/>
          <p:cNvSpPr txBox="1"/>
          <p:nvPr/>
        </p:nvSpPr>
        <p:spPr>
          <a:xfrm>
            <a:off x="8242920" y="2638440"/>
            <a:ext cx="150120" cy="1695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Arial"/>
                <a:ea typeface="Arial"/>
              </a:rPr>
              <a:t>μ</a:t>
            </a:r>
            <a:endParaRPr lang="en-US" sz="1180" b="0" u="none" strike="noStrike">
              <a:solidFill>
                <a:srgbClr val="000000"/>
              </a:solidFill>
              <a:effectLst/>
              <a:uFillTx/>
              <a:latin typeface="Times New Roman"/>
            </a:endParaRPr>
          </a:p>
        </p:txBody>
      </p:sp>
      <p:pic>
        <p:nvPicPr>
          <p:cNvPr id="693" name="図 692"/>
          <p:cNvPicPr/>
          <p:nvPr/>
        </p:nvPicPr>
        <p:blipFill>
          <a:blip r:embed="rId4"/>
          <a:stretch/>
        </p:blipFill>
        <p:spPr>
          <a:xfrm>
            <a:off x="6184080" y="2958120"/>
            <a:ext cx="74880" cy="150120"/>
          </a:xfrm>
          <a:prstGeom prst="rect">
            <a:avLst/>
          </a:prstGeom>
          <a:noFill/>
          <a:ln w="0">
            <a:noFill/>
          </a:ln>
        </p:spPr>
      </p:pic>
      <p:sp>
        <p:nvSpPr>
          <p:cNvPr id="694" name="テキスト ボックス 693"/>
          <p:cNvSpPr txBox="1"/>
          <p:nvPr/>
        </p:nvSpPr>
        <p:spPr>
          <a:xfrm>
            <a:off x="8329320" y="2634840"/>
            <a:ext cx="169128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m</a:t>
            </a:r>
            <a:r>
              <a:rPr lang="zh-CN" sz="1180" b="0" u="none" strike="noStrike">
                <a:solidFill>
                  <a:srgbClr val="000000"/>
                </a:solidFill>
                <a:effectLst/>
                <a:uFillTx/>
                <a:latin typeface="NotoSansJP"/>
                <a:ea typeface="NotoSansJP"/>
              </a:rPr>
              <a:t>へ変更した効果の検証</a:t>
            </a:r>
            <a:endParaRPr lang="en-US" sz="1180" b="0" u="none" strike="noStrike">
              <a:solidFill>
                <a:srgbClr val="000000"/>
              </a:solidFill>
              <a:effectLst/>
              <a:uFillTx/>
              <a:latin typeface="Times New Roman"/>
            </a:endParaRPr>
          </a:p>
        </p:txBody>
      </p:sp>
      <p:pic>
        <p:nvPicPr>
          <p:cNvPr id="695" name="図 694"/>
          <p:cNvPicPr/>
          <p:nvPr/>
        </p:nvPicPr>
        <p:blipFill>
          <a:blip r:embed="rId4"/>
          <a:stretch/>
        </p:blipFill>
        <p:spPr>
          <a:xfrm>
            <a:off x="6184080" y="3292560"/>
            <a:ext cx="74880" cy="150120"/>
          </a:xfrm>
          <a:prstGeom prst="rect">
            <a:avLst/>
          </a:prstGeom>
          <a:noFill/>
          <a:ln w="0">
            <a:noFill/>
          </a:ln>
        </p:spPr>
      </p:pic>
      <p:sp>
        <p:nvSpPr>
          <p:cNvPr id="696" name="テキスト ボックス 695"/>
          <p:cNvSpPr txBox="1"/>
          <p:nvPr/>
        </p:nvSpPr>
        <p:spPr>
          <a:xfrm>
            <a:off x="6325920" y="2969280"/>
            <a:ext cx="34614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電極対数</a:t>
            </a:r>
            <a:r>
              <a:rPr lang="en-US" sz="1180" b="0" u="none" strike="noStrike">
                <a:solidFill>
                  <a:srgbClr val="000000"/>
                </a:solidFill>
                <a:effectLst/>
                <a:uFillTx/>
                <a:latin typeface="NotoSansJP"/>
                <a:ea typeface="NotoSansJP"/>
              </a:rPr>
              <a:t>(n)</a:t>
            </a:r>
            <a:r>
              <a:rPr lang="zh-CN" sz="1180" b="0" u="none" strike="noStrike">
                <a:solidFill>
                  <a:srgbClr val="000000"/>
                </a:solidFill>
                <a:effectLst/>
                <a:uFillTx/>
                <a:latin typeface="NotoSansJP"/>
                <a:ea typeface="NotoSansJP"/>
              </a:rPr>
              <a:t>と合成インピーダンスの関係性の解析</a:t>
            </a:r>
            <a:endParaRPr lang="en-US" sz="1180" b="0" u="none" strike="noStrike">
              <a:solidFill>
                <a:srgbClr val="000000"/>
              </a:solidFill>
              <a:effectLst/>
              <a:uFillTx/>
              <a:latin typeface="Times New Roman"/>
            </a:endParaRPr>
          </a:p>
        </p:txBody>
      </p:sp>
      <p:sp>
        <p:nvSpPr>
          <p:cNvPr id="697" name="フリーフォーム: 図形 696"/>
          <p:cNvSpPr/>
          <p:nvPr/>
        </p:nvSpPr>
        <p:spPr>
          <a:xfrm>
            <a:off x="350640" y="3960720"/>
            <a:ext cx="10011960" cy="1788840"/>
          </a:xfrm>
          <a:custGeom>
            <a:avLst/>
            <a:gdLst/>
            <a:ahLst/>
            <a:cxnLst/>
            <a:rect l="0" t="0" r="r" b="b"/>
            <a:pathLst>
              <a:path w="27811" h="4969">
                <a:moveTo>
                  <a:pt x="0" y="4783"/>
                </a:moveTo>
                <a:lnTo>
                  <a:pt x="0" y="186"/>
                </a:lnTo>
                <a:cubicBezTo>
                  <a:pt x="0" y="174"/>
                  <a:pt x="1" y="162"/>
                  <a:pt x="3" y="150"/>
                </a:cubicBezTo>
                <a:cubicBezTo>
                  <a:pt x="5" y="138"/>
                  <a:pt x="8" y="126"/>
                  <a:pt x="11" y="115"/>
                </a:cubicBezTo>
                <a:cubicBezTo>
                  <a:pt x="15" y="104"/>
                  <a:pt x="19" y="93"/>
                  <a:pt x="24" y="83"/>
                </a:cubicBezTo>
                <a:cubicBezTo>
                  <a:pt x="29" y="73"/>
                  <a:pt x="35" y="64"/>
                  <a:pt x="41" y="55"/>
                </a:cubicBezTo>
                <a:cubicBezTo>
                  <a:pt x="48" y="46"/>
                  <a:pt x="55" y="39"/>
                  <a:pt x="62" y="32"/>
                </a:cubicBezTo>
                <a:cubicBezTo>
                  <a:pt x="70" y="25"/>
                  <a:pt x="78" y="19"/>
                  <a:pt x="86" y="15"/>
                </a:cubicBezTo>
                <a:cubicBezTo>
                  <a:pt x="95" y="10"/>
                  <a:pt x="104" y="6"/>
                  <a:pt x="113" y="4"/>
                </a:cubicBezTo>
                <a:cubicBezTo>
                  <a:pt x="122" y="2"/>
                  <a:pt x="131" y="0"/>
                  <a:pt x="140" y="0"/>
                </a:cubicBezTo>
                <a:lnTo>
                  <a:pt x="27625" y="0"/>
                </a:lnTo>
                <a:cubicBezTo>
                  <a:pt x="27637" y="0"/>
                  <a:pt x="27649" y="2"/>
                  <a:pt x="27661" y="4"/>
                </a:cubicBezTo>
                <a:cubicBezTo>
                  <a:pt x="27673" y="6"/>
                  <a:pt x="27685" y="10"/>
                  <a:pt x="27696" y="15"/>
                </a:cubicBezTo>
                <a:cubicBezTo>
                  <a:pt x="27707" y="19"/>
                  <a:pt x="27718" y="25"/>
                  <a:pt x="27728" y="32"/>
                </a:cubicBezTo>
                <a:cubicBezTo>
                  <a:pt x="27738" y="39"/>
                  <a:pt x="27748" y="46"/>
                  <a:pt x="27756" y="55"/>
                </a:cubicBezTo>
                <a:cubicBezTo>
                  <a:pt x="27765" y="64"/>
                  <a:pt x="27773" y="73"/>
                  <a:pt x="27779" y="83"/>
                </a:cubicBezTo>
                <a:cubicBezTo>
                  <a:pt x="27786" y="93"/>
                  <a:pt x="27792" y="104"/>
                  <a:pt x="27797" y="115"/>
                </a:cubicBezTo>
                <a:cubicBezTo>
                  <a:pt x="27801" y="126"/>
                  <a:pt x="27805" y="138"/>
                  <a:pt x="27807" y="150"/>
                </a:cubicBezTo>
                <a:cubicBezTo>
                  <a:pt x="27809" y="162"/>
                  <a:pt x="27811" y="174"/>
                  <a:pt x="27811" y="186"/>
                </a:cubicBezTo>
                <a:lnTo>
                  <a:pt x="27811" y="4783"/>
                </a:lnTo>
                <a:cubicBezTo>
                  <a:pt x="27811" y="4796"/>
                  <a:pt x="27809" y="4808"/>
                  <a:pt x="27807" y="4820"/>
                </a:cubicBezTo>
                <a:cubicBezTo>
                  <a:pt x="27805" y="4832"/>
                  <a:pt x="27801" y="4843"/>
                  <a:pt x="27797" y="4854"/>
                </a:cubicBezTo>
                <a:cubicBezTo>
                  <a:pt x="27792" y="4866"/>
                  <a:pt x="27786" y="4876"/>
                  <a:pt x="27779" y="4887"/>
                </a:cubicBezTo>
                <a:cubicBezTo>
                  <a:pt x="27773" y="4897"/>
                  <a:pt x="27765" y="4906"/>
                  <a:pt x="27756" y="4915"/>
                </a:cubicBezTo>
                <a:cubicBezTo>
                  <a:pt x="27748" y="4923"/>
                  <a:pt x="27738" y="4931"/>
                  <a:pt x="27728" y="4938"/>
                </a:cubicBezTo>
                <a:cubicBezTo>
                  <a:pt x="27718" y="4945"/>
                  <a:pt x="27707" y="4950"/>
                  <a:pt x="27696" y="4955"/>
                </a:cubicBezTo>
                <a:cubicBezTo>
                  <a:pt x="27685" y="4960"/>
                  <a:pt x="27673" y="4963"/>
                  <a:pt x="27661" y="4966"/>
                </a:cubicBezTo>
                <a:cubicBezTo>
                  <a:pt x="27649" y="4968"/>
                  <a:pt x="27637" y="4969"/>
                  <a:pt x="27625" y="4969"/>
                </a:cubicBezTo>
                <a:lnTo>
                  <a:pt x="140" y="4969"/>
                </a:lnTo>
                <a:cubicBezTo>
                  <a:pt x="131" y="4969"/>
                  <a:pt x="122" y="4968"/>
                  <a:pt x="113" y="4966"/>
                </a:cubicBezTo>
                <a:cubicBezTo>
                  <a:pt x="104" y="4963"/>
                  <a:pt x="95" y="4960"/>
                  <a:pt x="86" y="4955"/>
                </a:cubicBezTo>
                <a:cubicBezTo>
                  <a:pt x="78" y="4950"/>
                  <a:pt x="70" y="4945"/>
                  <a:pt x="62" y="4938"/>
                </a:cubicBezTo>
                <a:cubicBezTo>
                  <a:pt x="55" y="4931"/>
                  <a:pt x="48" y="4923"/>
                  <a:pt x="41" y="4915"/>
                </a:cubicBezTo>
                <a:cubicBezTo>
                  <a:pt x="35" y="4906"/>
                  <a:pt x="29" y="4897"/>
                  <a:pt x="24" y="4887"/>
                </a:cubicBezTo>
                <a:cubicBezTo>
                  <a:pt x="19" y="4876"/>
                  <a:pt x="15" y="4866"/>
                  <a:pt x="11" y="4854"/>
                </a:cubicBezTo>
                <a:cubicBezTo>
                  <a:pt x="8" y="4843"/>
                  <a:pt x="5" y="4832"/>
                  <a:pt x="3" y="4820"/>
                </a:cubicBezTo>
                <a:cubicBezTo>
                  <a:pt x="1" y="4808"/>
                  <a:pt x="0" y="4796"/>
                  <a:pt x="0" y="4783"/>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98" name="フリーフォーム: 図形 697"/>
          <p:cNvSpPr/>
          <p:nvPr/>
        </p:nvSpPr>
        <p:spPr>
          <a:xfrm>
            <a:off x="334080" y="3960720"/>
            <a:ext cx="67320" cy="1788840"/>
          </a:xfrm>
          <a:custGeom>
            <a:avLst/>
            <a:gdLst/>
            <a:ahLst/>
            <a:cxnLst/>
            <a:rect l="0" t="0" r="r" b="b"/>
            <a:pathLst>
              <a:path w="187" h="4969">
                <a:moveTo>
                  <a:pt x="0" y="0"/>
                </a:moveTo>
                <a:lnTo>
                  <a:pt x="187" y="0"/>
                </a:lnTo>
                <a:lnTo>
                  <a:pt x="187" y="4969"/>
                </a:lnTo>
                <a:lnTo>
                  <a:pt x="0" y="4969"/>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99" name="フリーフォーム: 図形 698"/>
          <p:cNvSpPr/>
          <p:nvPr/>
        </p:nvSpPr>
        <p:spPr>
          <a:xfrm>
            <a:off x="568080" y="4161600"/>
            <a:ext cx="351360" cy="417960"/>
          </a:xfrm>
          <a:custGeom>
            <a:avLst/>
            <a:gdLst/>
            <a:ahLst/>
            <a:cxnLst/>
            <a:rect l="0" t="0" r="r" b="b"/>
            <a:pathLst>
              <a:path w="976" h="1161">
                <a:moveTo>
                  <a:pt x="0" y="674"/>
                </a:moveTo>
                <a:lnTo>
                  <a:pt x="0" y="487"/>
                </a:lnTo>
                <a:cubicBezTo>
                  <a:pt x="0" y="455"/>
                  <a:pt x="3" y="423"/>
                  <a:pt x="9" y="392"/>
                </a:cubicBezTo>
                <a:cubicBezTo>
                  <a:pt x="16" y="361"/>
                  <a:pt x="25" y="330"/>
                  <a:pt x="37" y="301"/>
                </a:cubicBezTo>
                <a:cubicBezTo>
                  <a:pt x="49" y="271"/>
                  <a:pt x="64" y="243"/>
                  <a:pt x="82" y="216"/>
                </a:cubicBezTo>
                <a:cubicBezTo>
                  <a:pt x="100" y="190"/>
                  <a:pt x="120" y="165"/>
                  <a:pt x="143" y="142"/>
                </a:cubicBezTo>
                <a:cubicBezTo>
                  <a:pt x="165" y="120"/>
                  <a:pt x="190" y="100"/>
                  <a:pt x="217" y="82"/>
                </a:cubicBezTo>
                <a:cubicBezTo>
                  <a:pt x="243" y="64"/>
                  <a:pt x="271" y="49"/>
                  <a:pt x="301" y="37"/>
                </a:cubicBezTo>
                <a:cubicBezTo>
                  <a:pt x="330" y="24"/>
                  <a:pt x="361" y="15"/>
                  <a:pt x="392" y="9"/>
                </a:cubicBezTo>
                <a:cubicBezTo>
                  <a:pt x="424" y="3"/>
                  <a:pt x="455" y="0"/>
                  <a:pt x="487" y="0"/>
                </a:cubicBezTo>
                <a:cubicBezTo>
                  <a:pt x="519" y="0"/>
                  <a:pt x="551" y="3"/>
                  <a:pt x="583" y="9"/>
                </a:cubicBezTo>
                <a:cubicBezTo>
                  <a:pt x="614" y="15"/>
                  <a:pt x="644" y="24"/>
                  <a:pt x="674" y="37"/>
                </a:cubicBezTo>
                <a:cubicBezTo>
                  <a:pt x="704" y="49"/>
                  <a:pt x="732" y="64"/>
                  <a:pt x="758" y="82"/>
                </a:cubicBezTo>
                <a:cubicBezTo>
                  <a:pt x="785" y="100"/>
                  <a:pt x="810" y="120"/>
                  <a:pt x="832" y="142"/>
                </a:cubicBezTo>
                <a:cubicBezTo>
                  <a:pt x="855" y="165"/>
                  <a:pt x="876" y="190"/>
                  <a:pt x="894" y="216"/>
                </a:cubicBezTo>
                <a:cubicBezTo>
                  <a:pt x="912" y="243"/>
                  <a:pt x="927" y="271"/>
                  <a:pt x="939" y="301"/>
                </a:cubicBezTo>
                <a:cubicBezTo>
                  <a:pt x="951" y="330"/>
                  <a:pt x="960" y="361"/>
                  <a:pt x="967" y="392"/>
                </a:cubicBezTo>
                <a:cubicBezTo>
                  <a:pt x="973" y="423"/>
                  <a:pt x="976" y="455"/>
                  <a:pt x="976" y="487"/>
                </a:cubicBezTo>
                <a:lnTo>
                  <a:pt x="976" y="674"/>
                </a:lnTo>
                <a:cubicBezTo>
                  <a:pt x="976" y="706"/>
                  <a:pt x="973" y="737"/>
                  <a:pt x="967" y="769"/>
                </a:cubicBezTo>
                <a:cubicBezTo>
                  <a:pt x="960" y="800"/>
                  <a:pt x="951" y="831"/>
                  <a:pt x="939" y="860"/>
                </a:cubicBezTo>
                <a:cubicBezTo>
                  <a:pt x="927" y="890"/>
                  <a:pt x="912" y="918"/>
                  <a:pt x="894" y="945"/>
                </a:cubicBezTo>
                <a:cubicBezTo>
                  <a:pt x="876" y="971"/>
                  <a:pt x="855" y="996"/>
                  <a:pt x="832" y="1018"/>
                </a:cubicBezTo>
                <a:cubicBezTo>
                  <a:pt x="810" y="1041"/>
                  <a:pt x="785" y="1061"/>
                  <a:pt x="758" y="1079"/>
                </a:cubicBezTo>
                <a:cubicBezTo>
                  <a:pt x="732" y="1097"/>
                  <a:pt x="704" y="1112"/>
                  <a:pt x="674" y="1124"/>
                </a:cubicBezTo>
                <a:cubicBezTo>
                  <a:pt x="644" y="1136"/>
                  <a:pt x="614" y="1146"/>
                  <a:pt x="583" y="1152"/>
                </a:cubicBezTo>
                <a:cubicBezTo>
                  <a:pt x="551" y="1158"/>
                  <a:pt x="519" y="1161"/>
                  <a:pt x="487" y="1161"/>
                </a:cubicBezTo>
                <a:cubicBezTo>
                  <a:pt x="455" y="1161"/>
                  <a:pt x="424" y="1158"/>
                  <a:pt x="392" y="1152"/>
                </a:cubicBezTo>
                <a:cubicBezTo>
                  <a:pt x="361" y="1146"/>
                  <a:pt x="330" y="1136"/>
                  <a:pt x="301" y="1124"/>
                </a:cubicBezTo>
                <a:cubicBezTo>
                  <a:pt x="271" y="1112"/>
                  <a:pt x="243" y="1097"/>
                  <a:pt x="217" y="1079"/>
                </a:cubicBezTo>
                <a:cubicBezTo>
                  <a:pt x="190" y="1061"/>
                  <a:pt x="165" y="1041"/>
                  <a:pt x="143" y="1018"/>
                </a:cubicBezTo>
                <a:cubicBezTo>
                  <a:pt x="120" y="996"/>
                  <a:pt x="100" y="971"/>
                  <a:pt x="82" y="945"/>
                </a:cubicBezTo>
                <a:cubicBezTo>
                  <a:pt x="64" y="918"/>
                  <a:pt x="49" y="890"/>
                  <a:pt x="37" y="860"/>
                </a:cubicBezTo>
                <a:cubicBezTo>
                  <a:pt x="25" y="831"/>
                  <a:pt x="16" y="800"/>
                  <a:pt x="9" y="769"/>
                </a:cubicBezTo>
                <a:cubicBezTo>
                  <a:pt x="3" y="737"/>
                  <a:pt x="0" y="706"/>
                  <a:pt x="0" y="674"/>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00" name="図 699"/>
          <p:cNvPicPr/>
          <p:nvPr/>
        </p:nvPicPr>
        <p:blipFill>
          <a:blip r:embed="rId6"/>
          <a:stretch/>
        </p:blipFill>
        <p:spPr>
          <a:xfrm>
            <a:off x="668520" y="4262040"/>
            <a:ext cx="150120" cy="200160"/>
          </a:xfrm>
          <a:prstGeom prst="rect">
            <a:avLst/>
          </a:prstGeom>
          <a:noFill/>
          <a:ln w="0">
            <a:noFill/>
          </a:ln>
        </p:spPr>
      </p:pic>
      <p:sp>
        <p:nvSpPr>
          <p:cNvPr id="701" name="テキスト ボックス 700"/>
          <p:cNvSpPr txBox="1"/>
          <p:nvPr/>
        </p:nvSpPr>
        <p:spPr>
          <a:xfrm>
            <a:off x="6325920" y="3303360"/>
            <a:ext cx="345312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抵抗</a:t>
            </a:r>
            <a:r>
              <a:rPr lang="en-US" sz="1180" b="0" u="none" strike="noStrike">
                <a:solidFill>
                  <a:srgbClr val="000000"/>
                </a:solidFill>
                <a:effectLst/>
                <a:uFillTx/>
                <a:latin typeface="NotoSansJP"/>
                <a:ea typeface="NotoSansJP"/>
              </a:rPr>
              <a:t>-</a:t>
            </a:r>
            <a:r>
              <a:rPr lang="zh-CN" sz="1180" b="0" u="none" strike="noStrike">
                <a:solidFill>
                  <a:srgbClr val="000000"/>
                </a:solidFill>
                <a:effectLst/>
                <a:uFillTx/>
                <a:latin typeface="NotoSansJP"/>
                <a:ea typeface="NotoSansJP"/>
              </a:rPr>
              <a:t>容量の直列構造による感度向上の可能性探求</a:t>
            </a:r>
            <a:endParaRPr lang="en-US" sz="1180" b="0" u="none" strike="noStrike">
              <a:solidFill>
                <a:srgbClr val="000000"/>
              </a:solidFill>
              <a:effectLst/>
              <a:uFillTx/>
              <a:latin typeface="Times New Roman"/>
            </a:endParaRPr>
          </a:p>
        </p:txBody>
      </p:sp>
      <p:pic>
        <p:nvPicPr>
          <p:cNvPr id="702" name="図 701"/>
          <p:cNvPicPr/>
          <p:nvPr/>
        </p:nvPicPr>
        <p:blipFill>
          <a:blip r:embed="rId7"/>
          <a:stretch/>
        </p:blipFill>
        <p:spPr>
          <a:xfrm>
            <a:off x="1036080" y="4754880"/>
            <a:ext cx="133200" cy="150120"/>
          </a:xfrm>
          <a:prstGeom prst="rect">
            <a:avLst/>
          </a:prstGeom>
          <a:noFill/>
          <a:ln w="0">
            <a:noFill/>
          </a:ln>
        </p:spPr>
      </p:pic>
      <p:sp>
        <p:nvSpPr>
          <p:cNvPr id="703" name="テキスト ボックス 702"/>
          <p:cNvSpPr txBox="1"/>
          <p:nvPr/>
        </p:nvSpPr>
        <p:spPr>
          <a:xfrm>
            <a:off x="1053000" y="4192920"/>
            <a:ext cx="140904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期待される成果</a:t>
            </a:r>
            <a:endParaRPr lang="en-US" sz="1580" b="0" u="none" strike="noStrike">
              <a:solidFill>
                <a:srgbClr val="000000"/>
              </a:solidFill>
              <a:effectLst/>
              <a:uFillTx/>
              <a:latin typeface="Times New Roman"/>
            </a:endParaRPr>
          </a:p>
        </p:txBody>
      </p:sp>
      <p:sp>
        <p:nvSpPr>
          <p:cNvPr id="704" name="テキスト ボックス 703"/>
          <p:cNvSpPr txBox="1"/>
          <p:nvPr/>
        </p:nvSpPr>
        <p:spPr>
          <a:xfrm>
            <a:off x="1236960" y="4757400"/>
            <a:ext cx="755280" cy="219960"/>
          </a:xfrm>
          <a:prstGeom prst="rect">
            <a:avLst/>
          </a:prstGeom>
          <a:noFill/>
          <a:ln w="0">
            <a:noFill/>
          </a:ln>
        </p:spPr>
        <p:txBody>
          <a:bodyPr wrap="none" lIns="0" tIns="0" rIns="0" bIns="0" anchor="t">
            <a:spAutoFit/>
          </a:bodyPr>
          <a:lstStyle/>
          <a:p>
            <a:r>
              <a:rPr lang="zh-CN" sz="1180" b="0" u="none" strike="noStrike">
                <a:solidFill>
                  <a:srgbClr val="003366"/>
                </a:solidFill>
                <a:effectLst/>
                <a:uFillTx/>
                <a:latin typeface="NotoSansJP"/>
                <a:ea typeface="NotoSansJP"/>
              </a:rPr>
              <a:t>短期的成果</a:t>
            </a:r>
            <a:endParaRPr lang="en-US" sz="1180" b="0" u="none" strike="noStrike">
              <a:solidFill>
                <a:srgbClr val="000000"/>
              </a:solidFill>
              <a:effectLst/>
              <a:uFillTx/>
              <a:latin typeface="Times New Roman"/>
            </a:endParaRPr>
          </a:p>
        </p:txBody>
      </p:sp>
      <p:sp>
        <p:nvSpPr>
          <p:cNvPr id="705" name="テキスト ボックス 704"/>
          <p:cNvSpPr txBox="1"/>
          <p:nvPr/>
        </p:nvSpPr>
        <p:spPr>
          <a:xfrm>
            <a:off x="1236960" y="5058360"/>
            <a:ext cx="3383640" cy="219960"/>
          </a:xfrm>
          <a:prstGeom prst="rect">
            <a:avLst/>
          </a:prstGeom>
          <a:noFill/>
          <a:ln w="0">
            <a:noFill/>
          </a:ln>
        </p:spPr>
        <p:txBody>
          <a:bodyPr wrap="none" lIns="0" tIns="0" rIns="0" bIns="0" anchor="t">
            <a:spAutoFit/>
          </a:bodyPr>
          <a:lstStyle/>
          <a:p>
            <a:r>
              <a:rPr lang="en-US" sz="1180" b="0" u="none" strike="noStrike">
                <a:solidFill>
                  <a:srgbClr val="000000"/>
                </a:solidFill>
                <a:effectLst/>
                <a:uFillTx/>
                <a:latin typeface="NotoSansJP"/>
                <a:ea typeface="NotoSansJP"/>
              </a:rPr>
              <a:t>1.2ppm</a:t>
            </a:r>
            <a:r>
              <a:rPr lang="zh-CN" sz="1180" b="0" u="none" strike="noStrike">
                <a:solidFill>
                  <a:srgbClr val="000000"/>
                </a:solidFill>
                <a:effectLst/>
                <a:uFillTx/>
                <a:latin typeface="NotoSansJP"/>
                <a:ea typeface="NotoSansJP"/>
              </a:rPr>
              <a:t>～</a:t>
            </a:r>
            <a:r>
              <a:rPr lang="en-US" sz="1180" b="0" u="none" strike="noStrike">
                <a:solidFill>
                  <a:srgbClr val="000000"/>
                </a:solidFill>
                <a:effectLst/>
                <a:uFillTx/>
                <a:latin typeface="NotoSansJP"/>
                <a:ea typeface="NotoSansJP"/>
              </a:rPr>
              <a:t>2.6ppm</a:t>
            </a:r>
            <a:r>
              <a:rPr lang="zh-CN" sz="1180" b="0" u="none" strike="noStrike">
                <a:solidFill>
                  <a:srgbClr val="000000"/>
                </a:solidFill>
                <a:effectLst/>
                <a:uFillTx/>
                <a:latin typeface="NotoSansJP"/>
                <a:ea typeface="NotoSansJP"/>
              </a:rPr>
              <a:t>間の検量線変化量の詳細把握</a:t>
            </a:r>
            <a:endParaRPr lang="en-US" sz="1180" b="0" u="none" strike="noStrike">
              <a:solidFill>
                <a:srgbClr val="000000"/>
              </a:solidFill>
              <a:effectLst/>
              <a:uFillTx/>
              <a:latin typeface="Times New Roman"/>
            </a:endParaRPr>
          </a:p>
        </p:txBody>
      </p:sp>
      <p:pic>
        <p:nvPicPr>
          <p:cNvPr id="706" name="図 705"/>
          <p:cNvPicPr/>
          <p:nvPr/>
        </p:nvPicPr>
        <p:blipFill>
          <a:blip r:embed="rId8"/>
          <a:stretch/>
        </p:blipFill>
        <p:spPr>
          <a:xfrm>
            <a:off x="5699160" y="4754880"/>
            <a:ext cx="150120" cy="150120"/>
          </a:xfrm>
          <a:prstGeom prst="rect">
            <a:avLst/>
          </a:prstGeom>
          <a:noFill/>
          <a:ln w="0">
            <a:noFill/>
          </a:ln>
        </p:spPr>
      </p:pic>
      <p:sp>
        <p:nvSpPr>
          <p:cNvPr id="707" name="テキスト ボックス 706"/>
          <p:cNvSpPr txBox="1"/>
          <p:nvPr/>
        </p:nvSpPr>
        <p:spPr>
          <a:xfrm>
            <a:off x="1236960" y="5358960"/>
            <a:ext cx="22640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電極構造の最適パラメータの決定</a:t>
            </a:r>
            <a:endParaRPr lang="en-US" sz="1180" b="0" u="none" strike="noStrike">
              <a:solidFill>
                <a:srgbClr val="000000"/>
              </a:solidFill>
              <a:effectLst/>
              <a:uFillTx/>
              <a:latin typeface="Times New Roman"/>
            </a:endParaRPr>
          </a:p>
        </p:txBody>
      </p:sp>
      <p:sp>
        <p:nvSpPr>
          <p:cNvPr id="708" name="テキスト ボックス 707"/>
          <p:cNvSpPr txBox="1"/>
          <p:nvPr/>
        </p:nvSpPr>
        <p:spPr>
          <a:xfrm>
            <a:off x="5916600" y="4757400"/>
            <a:ext cx="755280" cy="219960"/>
          </a:xfrm>
          <a:prstGeom prst="rect">
            <a:avLst/>
          </a:prstGeom>
          <a:noFill/>
          <a:ln w="0">
            <a:noFill/>
          </a:ln>
        </p:spPr>
        <p:txBody>
          <a:bodyPr wrap="none" lIns="0" tIns="0" rIns="0" bIns="0" anchor="t">
            <a:spAutoFit/>
          </a:bodyPr>
          <a:lstStyle/>
          <a:p>
            <a:r>
              <a:rPr lang="zh-CN" sz="1180" b="0" u="none" strike="noStrike">
                <a:solidFill>
                  <a:srgbClr val="003366"/>
                </a:solidFill>
                <a:effectLst/>
                <a:uFillTx/>
                <a:latin typeface="NotoSansJP"/>
                <a:ea typeface="NotoSansJP"/>
              </a:rPr>
              <a:t>長期的目標</a:t>
            </a:r>
            <a:endParaRPr lang="en-US" sz="1180" b="0" u="none" strike="noStrike">
              <a:solidFill>
                <a:srgbClr val="000000"/>
              </a:solidFill>
              <a:effectLst/>
              <a:uFillTx/>
              <a:latin typeface="Times New Roman"/>
            </a:endParaRPr>
          </a:p>
        </p:txBody>
      </p:sp>
      <p:sp>
        <p:nvSpPr>
          <p:cNvPr id="709" name="テキスト ボックス 708"/>
          <p:cNvSpPr txBox="1"/>
          <p:nvPr/>
        </p:nvSpPr>
        <p:spPr>
          <a:xfrm>
            <a:off x="5899680" y="5058360"/>
            <a:ext cx="377280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より広い濃度範囲で高精度な検知が可能なセンサの開発</a:t>
            </a:r>
            <a:endParaRPr lang="en-US" sz="1180" b="0" u="none" strike="noStrike">
              <a:solidFill>
                <a:srgbClr val="000000"/>
              </a:solidFill>
              <a:effectLst/>
              <a:uFillTx/>
              <a:latin typeface="Times New Roman"/>
            </a:endParaRPr>
          </a:p>
        </p:txBody>
      </p:sp>
      <p:sp>
        <p:nvSpPr>
          <p:cNvPr id="710" name="テキスト ボックス 709"/>
          <p:cNvSpPr txBox="1"/>
          <p:nvPr/>
        </p:nvSpPr>
        <p:spPr>
          <a:xfrm>
            <a:off x="5899680" y="5358960"/>
            <a:ext cx="27165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実用化に向けた小型‧低コスト化の実現</a:t>
            </a:r>
            <a:endParaRPr lang="en-US" sz="1180" b="0" u="none" strike="noStrike">
              <a:solidFill>
                <a:srgbClr val="000000"/>
              </a:solidFill>
              <a:effectLst/>
              <a:uFillTx/>
              <a:latin typeface="Times New Roman"/>
            </a:endParaRPr>
          </a:p>
        </p:txBody>
      </p:sp>
      <p:sp>
        <p:nvSpPr>
          <p:cNvPr id="711" name="フリーフォーム: 図形 710"/>
          <p:cNvSpPr/>
          <p:nvPr/>
        </p:nvSpPr>
        <p:spPr>
          <a:xfrm>
            <a:off x="1654560" y="6200640"/>
            <a:ext cx="8114760" cy="133920"/>
          </a:xfrm>
          <a:custGeom>
            <a:avLst/>
            <a:gdLst/>
            <a:ahLst/>
            <a:cxnLst/>
            <a:rect l="0" t="0" r="r" b="b"/>
            <a:pathLst>
              <a:path w="22541" h="372">
                <a:moveTo>
                  <a:pt x="0" y="186"/>
                </a:moveTo>
                <a:cubicBezTo>
                  <a:pt x="0" y="174"/>
                  <a:pt x="1" y="162"/>
                  <a:pt x="3" y="150"/>
                </a:cubicBezTo>
                <a:cubicBezTo>
                  <a:pt x="6" y="138"/>
                  <a:pt x="9" y="126"/>
                  <a:pt x="14" y="115"/>
                </a:cubicBezTo>
                <a:cubicBezTo>
                  <a:pt x="18" y="104"/>
                  <a:pt x="24" y="93"/>
                  <a:pt x="31" y="83"/>
                </a:cubicBezTo>
                <a:cubicBezTo>
                  <a:pt x="38" y="73"/>
                  <a:pt x="45" y="64"/>
                  <a:pt x="54" y="55"/>
                </a:cubicBezTo>
                <a:cubicBezTo>
                  <a:pt x="63" y="46"/>
                  <a:pt x="72" y="39"/>
                  <a:pt x="82" y="32"/>
                </a:cubicBezTo>
                <a:cubicBezTo>
                  <a:pt x="92" y="24"/>
                  <a:pt x="103" y="18"/>
                  <a:pt x="114" y="14"/>
                </a:cubicBezTo>
                <a:cubicBezTo>
                  <a:pt x="126" y="9"/>
                  <a:pt x="137" y="6"/>
                  <a:pt x="149" y="3"/>
                </a:cubicBezTo>
                <a:cubicBezTo>
                  <a:pt x="161" y="1"/>
                  <a:pt x="173" y="0"/>
                  <a:pt x="185" y="0"/>
                </a:cubicBezTo>
                <a:lnTo>
                  <a:pt x="22355" y="0"/>
                </a:lnTo>
                <a:cubicBezTo>
                  <a:pt x="22367" y="0"/>
                  <a:pt x="22379" y="1"/>
                  <a:pt x="22391" y="3"/>
                </a:cubicBezTo>
                <a:cubicBezTo>
                  <a:pt x="22403" y="6"/>
                  <a:pt x="22415" y="9"/>
                  <a:pt x="22426" y="14"/>
                </a:cubicBezTo>
                <a:cubicBezTo>
                  <a:pt x="22437" y="18"/>
                  <a:pt x="22448" y="24"/>
                  <a:pt x="22458" y="32"/>
                </a:cubicBezTo>
                <a:cubicBezTo>
                  <a:pt x="22468" y="39"/>
                  <a:pt x="22478" y="46"/>
                  <a:pt x="22486" y="55"/>
                </a:cubicBezTo>
                <a:cubicBezTo>
                  <a:pt x="22495" y="64"/>
                  <a:pt x="22502" y="73"/>
                  <a:pt x="22509" y="83"/>
                </a:cubicBezTo>
                <a:cubicBezTo>
                  <a:pt x="22516" y="93"/>
                  <a:pt x="22522" y="104"/>
                  <a:pt x="22526" y="115"/>
                </a:cubicBezTo>
                <a:cubicBezTo>
                  <a:pt x="22531" y="126"/>
                  <a:pt x="22535" y="138"/>
                  <a:pt x="22537" y="150"/>
                </a:cubicBezTo>
                <a:cubicBezTo>
                  <a:pt x="22539" y="162"/>
                  <a:pt x="22541" y="174"/>
                  <a:pt x="22541" y="186"/>
                </a:cubicBezTo>
                <a:cubicBezTo>
                  <a:pt x="22541" y="198"/>
                  <a:pt x="22539" y="211"/>
                  <a:pt x="22537" y="223"/>
                </a:cubicBezTo>
                <a:cubicBezTo>
                  <a:pt x="22535" y="234"/>
                  <a:pt x="22531" y="246"/>
                  <a:pt x="22526" y="257"/>
                </a:cubicBezTo>
                <a:cubicBezTo>
                  <a:pt x="22522" y="269"/>
                  <a:pt x="22516" y="279"/>
                  <a:pt x="22509" y="289"/>
                </a:cubicBezTo>
                <a:cubicBezTo>
                  <a:pt x="22502" y="300"/>
                  <a:pt x="22495" y="309"/>
                  <a:pt x="22486" y="318"/>
                </a:cubicBezTo>
                <a:cubicBezTo>
                  <a:pt x="22478" y="326"/>
                  <a:pt x="22468" y="334"/>
                  <a:pt x="22458" y="341"/>
                </a:cubicBezTo>
                <a:cubicBezTo>
                  <a:pt x="22448" y="347"/>
                  <a:pt x="22437" y="353"/>
                  <a:pt x="22426" y="358"/>
                </a:cubicBezTo>
                <a:cubicBezTo>
                  <a:pt x="22415" y="363"/>
                  <a:pt x="22403" y="366"/>
                  <a:pt x="22391" y="368"/>
                </a:cubicBezTo>
                <a:cubicBezTo>
                  <a:pt x="22379" y="371"/>
                  <a:pt x="22367" y="372"/>
                  <a:pt x="22355" y="372"/>
                </a:cubicBezTo>
                <a:lnTo>
                  <a:pt x="185" y="372"/>
                </a:lnTo>
                <a:cubicBezTo>
                  <a:pt x="173" y="372"/>
                  <a:pt x="161" y="371"/>
                  <a:pt x="149" y="368"/>
                </a:cubicBezTo>
                <a:cubicBezTo>
                  <a:pt x="137" y="366"/>
                  <a:pt x="126" y="363"/>
                  <a:pt x="114" y="358"/>
                </a:cubicBezTo>
                <a:cubicBezTo>
                  <a:pt x="103" y="353"/>
                  <a:pt x="92" y="347"/>
                  <a:pt x="82" y="341"/>
                </a:cubicBezTo>
                <a:cubicBezTo>
                  <a:pt x="72" y="334"/>
                  <a:pt x="63" y="326"/>
                  <a:pt x="54" y="318"/>
                </a:cubicBezTo>
                <a:cubicBezTo>
                  <a:pt x="45" y="309"/>
                  <a:pt x="38" y="300"/>
                  <a:pt x="31" y="289"/>
                </a:cubicBezTo>
                <a:cubicBezTo>
                  <a:pt x="24" y="279"/>
                  <a:pt x="18" y="269"/>
                  <a:pt x="14" y="257"/>
                </a:cubicBezTo>
                <a:cubicBezTo>
                  <a:pt x="9" y="246"/>
                  <a:pt x="6" y="234"/>
                  <a:pt x="3" y="223"/>
                </a:cubicBezTo>
                <a:cubicBezTo>
                  <a:pt x="1" y="211"/>
                  <a:pt x="0" y="198"/>
                  <a:pt x="0" y="186"/>
                </a:cubicBez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12" name="テキスト ボックス 711"/>
          <p:cNvSpPr txBox="1"/>
          <p:nvPr/>
        </p:nvSpPr>
        <p:spPr>
          <a:xfrm>
            <a:off x="468000" y="6194880"/>
            <a:ext cx="1056960" cy="219960"/>
          </a:xfrm>
          <a:prstGeom prst="rect">
            <a:avLst/>
          </a:prstGeom>
          <a:noFill/>
          <a:ln w="0">
            <a:noFill/>
          </a:ln>
        </p:spPr>
        <p:txBody>
          <a:bodyPr wrap="none" lIns="0" tIns="0" rIns="0" bIns="0" anchor="t">
            <a:spAutoFit/>
          </a:bodyPr>
          <a:lstStyle/>
          <a:p>
            <a:r>
              <a:rPr lang="zh-CN" sz="1180" b="0" u="none" strike="noStrike">
                <a:solidFill>
                  <a:srgbClr val="003366"/>
                </a:solidFill>
                <a:effectLst/>
                <a:uFillTx/>
                <a:latin typeface="NotoSansJP"/>
                <a:ea typeface="NotoSansJP"/>
              </a:rPr>
              <a:t>研究進捗状況：</a:t>
            </a:r>
            <a:endParaRPr lang="en-US" sz="1180" b="0" u="none" strike="noStrike">
              <a:solidFill>
                <a:srgbClr val="000000"/>
              </a:solidFill>
              <a:effectLst/>
              <a:uFillTx/>
              <a:latin typeface="Times New Roman"/>
            </a:endParaRPr>
          </a:p>
        </p:txBody>
      </p:sp>
      <p:sp>
        <p:nvSpPr>
          <p:cNvPr id="713" name="テキスト ボックス 712"/>
          <p:cNvSpPr txBox="1"/>
          <p:nvPr/>
        </p:nvSpPr>
        <p:spPr>
          <a:xfrm>
            <a:off x="9902520" y="6194880"/>
            <a:ext cx="336240" cy="175680"/>
          </a:xfrm>
          <a:prstGeom prst="rect">
            <a:avLst/>
          </a:prstGeom>
          <a:noFill/>
          <a:ln w="0">
            <a:noFill/>
          </a:ln>
        </p:spPr>
        <p:txBody>
          <a:bodyPr wrap="none" lIns="0" tIns="0" rIns="0" bIns="0" anchor="t">
            <a:spAutoFit/>
          </a:bodyPr>
          <a:lstStyle/>
          <a:p>
            <a:r>
              <a:rPr lang="en-US" sz="1180" b="0" u="none" strike="noStrike">
                <a:solidFill>
                  <a:srgbClr val="003366"/>
                </a:solidFill>
                <a:effectLst/>
                <a:uFillTx/>
                <a:latin typeface="NotoSansJP"/>
                <a:ea typeface="NotoSansJP"/>
              </a:rPr>
              <a:t>75%</a:t>
            </a:r>
            <a:endParaRPr lang="en-US" sz="118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4" name="図 713"/>
          <p:cNvPicPr/>
          <p:nvPr/>
        </p:nvPicPr>
        <p:blipFill>
          <a:blip r:embed="rId2"/>
          <a:stretch/>
        </p:blipFill>
        <p:spPr>
          <a:xfrm>
            <a:off x="0" y="0"/>
            <a:ext cx="10696320" cy="6827040"/>
          </a:xfrm>
          <a:prstGeom prst="rect">
            <a:avLst/>
          </a:prstGeom>
          <a:noFill/>
          <a:ln w="0">
            <a:noFill/>
          </a:ln>
        </p:spPr>
      </p:pic>
      <p:sp>
        <p:nvSpPr>
          <p:cNvPr id="715" name="フリーフォーム: 図形 714"/>
          <p:cNvSpPr/>
          <p:nvPr/>
        </p:nvSpPr>
        <p:spPr>
          <a:xfrm>
            <a:off x="0" y="0"/>
            <a:ext cx="10696680" cy="601920"/>
          </a:xfrm>
          <a:custGeom>
            <a:avLst/>
            <a:gdLst/>
            <a:ahLst/>
            <a:cxnLst/>
            <a:rect l="0" t="0" r="r" b="b"/>
            <a:pathLst>
              <a:path w="29713" h="1672">
                <a:moveTo>
                  <a:pt x="0" y="0"/>
                </a:moveTo>
                <a:lnTo>
                  <a:pt x="29713" y="0"/>
                </a:lnTo>
                <a:lnTo>
                  <a:pt x="29713" y="1672"/>
                </a:lnTo>
                <a:lnTo>
                  <a:pt x="0" y="1672"/>
                </a:lnTo>
                <a:lnTo>
                  <a:pt x="0" y="0"/>
                </a:ln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16" name="フリーフォーム: 図形 715"/>
          <p:cNvSpPr/>
          <p:nvPr/>
        </p:nvSpPr>
        <p:spPr>
          <a:xfrm>
            <a:off x="334080" y="935640"/>
            <a:ext cx="10028520" cy="5557680"/>
          </a:xfrm>
          <a:custGeom>
            <a:avLst/>
            <a:gdLst/>
            <a:ahLst/>
            <a:cxnLst/>
            <a:rect l="0" t="0" r="r" b="b"/>
            <a:pathLst>
              <a:path w="27857" h="15438">
                <a:moveTo>
                  <a:pt x="0" y="15252"/>
                </a:moveTo>
                <a:lnTo>
                  <a:pt x="0" y="186"/>
                </a:lnTo>
                <a:cubicBezTo>
                  <a:pt x="0" y="174"/>
                  <a:pt x="1" y="162"/>
                  <a:pt x="4" y="150"/>
                </a:cubicBezTo>
                <a:cubicBezTo>
                  <a:pt x="6" y="138"/>
                  <a:pt x="9" y="126"/>
                  <a:pt x="14" y="115"/>
                </a:cubicBezTo>
                <a:cubicBezTo>
                  <a:pt x="19" y="104"/>
                  <a:pt x="25" y="93"/>
                  <a:pt x="31" y="83"/>
                </a:cubicBezTo>
                <a:cubicBezTo>
                  <a:pt x="38" y="73"/>
                  <a:pt x="46" y="63"/>
                  <a:pt x="54" y="55"/>
                </a:cubicBezTo>
                <a:cubicBezTo>
                  <a:pt x="63" y="46"/>
                  <a:pt x="72" y="38"/>
                  <a:pt x="83" y="32"/>
                </a:cubicBezTo>
                <a:cubicBezTo>
                  <a:pt x="93" y="25"/>
                  <a:pt x="103" y="19"/>
                  <a:pt x="115" y="14"/>
                </a:cubicBezTo>
                <a:cubicBezTo>
                  <a:pt x="126" y="10"/>
                  <a:pt x="138" y="6"/>
                  <a:pt x="149" y="4"/>
                </a:cubicBezTo>
                <a:cubicBezTo>
                  <a:pt x="161" y="2"/>
                  <a:pt x="174" y="0"/>
                  <a:pt x="186" y="0"/>
                </a:cubicBezTo>
                <a:lnTo>
                  <a:pt x="27671" y="0"/>
                </a:lnTo>
                <a:cubicBezTo>
                  <a:pt x="27683" y="0"/>
                  <a:pt x="27695" y="2"/>
                  <a:pt x="27707" y="4"/>
                </a:cubicBezTo>
                <a:cubicBezTo>
                  <a:pt x="27719" y="6"/>
                  <a:pt x="27731" y="10"/>
                  <a:pt x="27742" y="14"/>
                </a:cubicBezTo>
                <a:cubicBezTo>
                  <a:pt x="27753" y="19"/>
                  <a:pt x="27764" y="25"/>
                  <a:pt x="27774" y="32"/>
                </a:cubicBezTo>
                <a:cubicBezTo>
                  <a:pt x="27784" y="38"/>
                  <a:pt x="27794" y="46"/>
                  <a:pt x="27802" y="55"/>
                </a:cubicBezTo>
                <a:cubicBezTo>
                  <a:pt x="27811" y="63"/>
                  <a:pt x="27819" y="73"/>
                  <a:pt x="27825" y="83"/>
                </a:cubicBezTo>
                <a:cubicBezTo>
                  <a:pt x="27832" y="93"/>
                  <a:pt x="27838" y="104"/>
                  <a:pt x="27843" y="115"/>
                </a:cubicBezTo>
                <a:cubicBezTo>
                  <a:pt x="27847" y="126"/>
                  <a:pt x="27851" y="138"/>
                  <a:pt x="27853" y="150"/>
                </a:cubicBezTo>
                <a:cubicBezTo>
                  <a:pt x="27855" y="162"/>
                  <a:pt x="27857" y="174"/>
                  <a:pt x="27857" y="186"/>
                </a:cubicBezTo>
                <a:lnTo>
                  <a:pt x="27857" y="15252"/>
                </a:lnTo>
                <a:cubicBezTo>
                  <a:pt x="27857" y="15265"/>
                  <a:pt x="27855" y="15277"/>
                  <a:pt x="27853" y="15289"/>
                </a:cubicBezTo>
                <a:cubicBezTo>
                  <a:pt x="27851" y="15301"/>
                  <a:pt x="27847" y="15312"/>
                  <a:pt x="27843" y="15323"/>
                </a:cubicBezTo>
                <a:cubicBezTo>
                  <a:pt x="27838" y="15335"/>
                  <a:pt x="27832" y="15345"/>
                  <a:pt x="27825" y="15356"/>
                </a:cubicBezTo>
                <a:cubicBezTo>
                  <a:pt x="27819" y="15366"/>
                  <a:pt x="27811" y="15375"/>
                  <a:pt x="27802" y="15384"/>
                </a:cubicBezTo>
                <a:cubicBezTo>
                  <a:pt x="27794" y="15392"/>
                  <a:pt x="27784" y="15400"/>
                  <a:pt x="27774" y="15407"/>
                </a:cubicBezTo>
                <a:cubicBezTo>
                  <a:pt x="27764" y="15414"/>
                  <a:pt x="27753" y="15419"/>
                  <a:pt x="27742" y="15424"/>
                </a:cubicBezTo>
                <a:cubicBezTo>
                  <a:pt x="27731" y="15429"/>
                  <a:pt x="27719" y="15432"/>
                  <a:pt x="27707" y="15434"/>
                </a:cubicBezTo>
                <a:cubicBezTo>
                  <a:pt x="27695" y="15437"/>
                  <a:pt x="27683" y="15438"/>
                  <a:pt x="27671" y="15438"/>
                </a:cubicBezTo>
                <a:lnTo>
                  <a:pt x="186" y="15438"/>
                </a:lnTo>
                <a:cubicBezTo>
                  <a:pt x="174" y="15438"/>
                  <a:pt x="161" y="15437"/>
                  <a:pt x="149" y="15434"/>
                </a:cubicBezTo>
                <a:cubicBezTo>
                  <a:pt x="138" y="15432"/>
                  <a:pt x="126" y="15429"/>
                  <a:pt x="115" y="15424"/>
                </a:cubicBezTo>
                <a:cubicBezTo>
                  <a:pt x="103" y="15419"/>
                  <a:pt x="93" y="15414"/>
                  <a:pt x="83" y="15407"/>
                </a:cubicBezTo>
                <a:cubicBezTo>
                  <a:pt x="72" y="15400"/>
                  <a:pt x="63" y="15392"/>
                  <a:pt x="54" y="15384"/>
                </a:cubicBezTo>
                <a:cubicBezTo>
                  <a:pt x="46" y="15375"/>
                  <a:pt x="38" y="15366"/>
                  <a:pt x="31" y="15356"/>
                </a:cubicBezTo>
                <a:cubicBezTo>
                  <a:pt x="25" y="15345"/>
                  <a:pt x="19" y="15335"/>
                  <a:pt x="14" y="15323"/>
                </a:cubicBezTo>
                <a:cubicBezTo>
                  <a:pt x="9" y="15312"/>
                  <a:pt x="6" y="15301"/>
                  <a:pt x="4" y="15289"/>
                </a:cubicBezTo>
                <a:cubicBezTo>
                  <a:pt x="1" y="15277"/>
                  <a:pt x="0" y="15265"/>
                  <a:pt x="0" y="15252"/>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17" name="フリーフォーム: 図形 716"/>
          <p:cNvSpPr/>
          <p:nvPr/>
        </p:nvSpPr>
        <p:spPr>
          <a:xfrm>
            <a:off x="601560" y="1671120"/>
            <a:ext cx="33840" cy="969840"/>
          </a:xfrm>
          <a:custGeom>
            <a:avLst/>
            <a:gdLst/>
            <a:ahLst/>
            <a:cxnLst/>
            <a:rect l="0" t="0" r="r" b="b"/>
            <a:pathLst>
              <a:path w="94" h="2694">
                <a:moveTo>
                  <a:pt x="0" y="0"/>
                </a:moveTo>
                <a:lnTo>
                  <a:pt x="94" y="0"/>
                </a:lnTo>
                <a:lnTo>
                  <a:pt x="94" y="2694"/>
                </a:lnTo>
                <a:lnTo>
                  <a:pt x="0" y="269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18" name="フリーフォーム: 図形 717"/>
          <p:cNvSpPr/>
          <p:nvPr/>
        </p:nvSpPr>
        <p:spPr>
          <a:xfrm>
            <a:off x="601560" y="2841120"/>
            <a:ext cx="33840" cy="969840"/>
          </a:xfrm>
          <a:custGeom>
            <a:avLst/>
            <a:gdLst/>
            <a:ahLst/>
            <a:cxnLst/>
            <a:rect l="0" t="0" r="r" b="b"/>
            <a:pathLst>
              <a:path w="94" h="2694">
                <a:moveTo>
                  <a:pt x="0" y="0"/>
                </a:moveTo>
                <a:lnTo>
                  <a:pt x="94" y="0"/>
                </a:lnTo>
                <a:lnTo>
                  <a:pt x="94" y="2694"/>
                </a:lnTo>
                <a:lnTo>
                  <a:pt x="0" y="2694"/>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19" name="フリーフォーム: 図形 718"/>
          <p:cNvSpPr/>
          <p:nvPr/>
        </p:nvSpPr>
        <p:spPr>
          <a:xfrm>
            <a:off x="601560" y="4011120"/>
            <a:ext cx="33840" cy="969480"/>
          </a:xfrm>
          <a:custGeom>
            <a:avLst/>
            <a:gdLst/>
            <a:ahLst/>
            <a:cxnLst/>
            <a:rect l="0" t="0" r="r" b="b"/>
            <a:pathLst>
              <a:path w="94" h="2693">
                <a:moveTo>
                  <a:pt x="0" y="0"/>
                </a:moveTo>
                <a:lnTo>
                  <a:pt x="94" y="0"/>
                </a:lnTo>
                <a:lnTo>
                  <a:pt x="94" y="2693"/>
                </a:lnTo>
                <a:lnTo>
                  <a:pt x="0" y="2693"/>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20" name="フリーフォーム: 図形 719"/>
          <p:cNvSpPr/>
          <p:nvPr/>
        </p:nvSpPr>
        <p:spPr>
          <a:xfrm>
            <a:off x="601560" y="5247720"/>
            <a:ext cx="9493560" cy="9000"/>
          </a:xfrm>
          <a:custGeom>
            <a:avLst/>
            <a:gdLst/>
            <a:ahLst/>
            <a:cxnLst/>
            <a:rect l="0" t="0" r="r" b="b"/>
            <a:pathLst>
              <a:path w="26371" h="25">
                <a:moveTo>
                  <a:pt x="0" y="0"/>
                </a:moveTo>
                <a:lnTo>
                  <a:pt x="26371" y="0"/>
                </a:lnTo>
                <a:lnTo>
                  <a:pt x="26371" y="25"/>
                </a:lnTo>
                <a:lnTo>
                  <a:pt x="0" y="25"/>
                </a:lnTo>
                <a:lnTo>
                  <a:pt x="0" y="0"/>
                </a:lnTo>
                <a:close/>
              </a:path>
            </a:pathLst>
          </a:custGeom>
          <a:solidFill>
            <a:srgbClr val="E5E7EB"/>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21" name="図 720"/>
          <p:cNvPicPr/>
          <p:nvPr/>
        </p:nvPicPr>
        <p:blipFill>
          <a:blip r:embed="rId3"/>
          <a:stretch/>
        </p:blipFill>
        <p:spPr>
          <a:xfrm>
            <a:off x="601560" y="1236960"/>
            <a:ext cx="225360" cy="200160"/>
          </a:xfrm>
          <a:prstGeom prst="rect">
            <a:avLst/>
          </a:prstGeom>
          <a:noFill/>
          <a:ln w="0">
            <a:noFill/>
          </a:ln>
        </p:spPr>
      </p:pic>
      <p:sp>
        <p:nvSpPr>
          <p:cNvPr id="722" name="テキスト ボックス 721"/>
          <p:cNvSpPr txBox="1"/>
          <p:nvPr/>
        </p:nvSpPr>
        <p:spPr>
          <a:xfrm>
            <a:off x="334440" y="155520"/>
            <a:ext cx="12016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参考文献</a:t>
            </a:r>
            <a:endParaRPr lang="en-US" sz="2370" b="0" u="none" strike="noStrike">
              <a:solidFill>
                <a:srgbClr val="000000"/>
              </a:solidFill>
              <a:effectLst/>
              <a:uFillTx/>
              <a:latin typeface="Times New Roman"/>
            </a:endParaRPr>
          </a:p>
        </p:txBody>
      </p:sp>
      <p:sp>
        <p:nvSpPr>
          <p:cNvPr id="723" name="フリーフォーム: 図形 722"/>
          <p:cNvSpPr/>
          <p:nvPr/>
        </p:nvSpPr>
        <p:spPr>
          <a:xfrm>
            <a:off x="768600" y="1805040"/>
            <a:ext cx="334800" cy="334440"/>
          </a:xfrm>
          <a:custGeom>
            <a:avLst/>
            <a:gdLst/>
            <a:ahLst/>
            <a:cxnLst/>
            <a:rect l="0" t="0" r="r" b="b"/>
            <a:pathLst>
              <a:path w="930" h="929">
                <a:moveTo>
                  <a:pt x="930" y="465"/>
                </a:moveTo>
                <a:cubicBezTo>
                  <a:pt x="930" y="495"/>
                  <a:pt x="927" y="525"/>
                  <a:pt x="921" y="555"/>
                </a:cubicBezTo>
                <a:cubicBezTo>
                  <a:pt x="915" y="585"/>
                  <a:pt x="906" y="614"/>
                  <a:pt x="894" y="642"/>
                </a:cubicBezTo>
                <a:cubicBezTo>
                  <a:pt x="883" y="671"/>
                  <a:pt x="868" y="697"/>
                  <a:pt x="851" y="723"/>
                </a:cubicBezTo>
                <a:cubicBezTo>
                  <a:pt x="834" y="748"/>
                  <a:pt x="815" y="772"/>
                  <a:pt x="794" y="793"/>
                </a:cubicBezTo>
                <a:cubicBezTo>
                  <a:pt x="772" y="815"/>
                  <a:pt x="749" y="834"/>
                  <a:pt x="723" y="851"/>
                </a:cubicBezTo>
                <a:cubicBezTo>
                  <a:pt x="698" y="868"/>
                  <a:pt x="671" y="882"/>
                  <a:pt x="643" y="894"/>
                </a:cubicBezTo>
                <a:cubicBezTo>
                  <a:pt x="615" y="905"/>
                  <a:pt x="586" y="914"/>
                  <a:pt x="556" y="920"/>
                </a:cubicBezTo>
                <a:cubicBezTo>
                  <a:pt x="526" y="926"/>
                  <a:pt x="496" y="929"/>
                  <a:pt x="465" y="929"/>
                </a:cubicBezTo>
                <a:cubicBezTo>
                  <a:pt x="435" y="929"/>
                  <a:pt x="405" y="926"/>
                  <a:pt x="375" y="920"/>
                </a:cubicBezTo>
                <a:cubicBezTo>
                  <a:pt x="345" y="914"/>
                  <a:pt x="316" y="905"/>
                  <a:pt x="288" y="894"/>
                </a:cubicBezTo>
                <a:cubicBezTo>
                  <a:pt x="260" y="882"/>
                  <a:pt x="233" y="868"/>
                  <a:pt x="207" y="851"/>
                </a:cubicBezTo>
                <a:cubicBezTo>
                  <a:pt x="181" y="834"/>
                  <a:pt x="158" y="815"/>
                  <a:pt x="136" y="793"/>
                </a:cubicBezTo>
                <a:cubicBezTo>
                  <a:pt x="115" y="772"/>
                  <a:pt x="95" y="748"/>
                  <a:pt x="78" y="723"/>
                </a:cubicBezTo>
                <a:cubicBezTo>
                  <a:pt x="61" y="697"/>
                  <a:pt x="47" y="671"/>
                  <a:pt x="35" y="642"/>
                </a:cubicBezTo>
                <a:cubicBezTo>
                  <a:pt x="24" y="614"/>
                  <a:pt x="15" y="585"/>
                  <a:pt x="9" y="555"/>
                </a:cubicBezTo>
                <a:cubicBezTo>
                  <a:pt x="3" y="525"/>
                  <a:pt x="0" y="495"/>
                  <a:pt x="0" y="465"/>
                </a:cubicBezTo>
                <a:cubicBezTo>
                  <a:pt x="0" y="434"/>
                  <a:pt x="3" y="404"/>
                  <a:pt x="9" y="374"/>
                </a:cubicBezTo>
                <a:cubicBezTo>
                  <a:pt x="15" y="344"/>
                  <a:pt x="24" y="315"/>
                  <a:pt x="35" y="287"/>
                </a:cubicBezTo>
                <a:cubicBezTo>
                  <a:pt x="47" y="259"/>
                  <a:pt x="61" y="232"/>
                  <a:pt x="78" y="207"/>
                </a:cubicBezTo>
                <a:cubicBezTo>
                  <a:pt x="95" y="182"/>
                  <a:pt x="115" y="158"/>
                  <a:pt x="136" y="136"/>
                </a:cubicBezTo>
                <a:cubicBezTo>
                  <a:pt x="158" y="115"/>
                  <a:pt x="181" y="96"/>
                  <a:pt x="207" y="78"/>
                </a:cubicBezTo>
                <a:cubicBezTo>
                  <a:pt x="233" y="61"/>
                  <a:pt x="260" y="47"/>
                  <a:pt x="288" y="35"/>
                </a:cubicBezTo>
                <a:cubicBezTo>
                  <a:pt x="316" y="23"/>
                  <a:pt x="345" y="14"/>
                  <a:pt x="375" y="8"/>
                </a:cubicBezTo>
                <a:cubicBezTo>
                  <a:pt x="405" y="2"/>
                  <a:pt x="435" y="0"/>
                  <a:pt x="465" y="0"/>
                </a:cubicBezTo>
                <a:cubicBezTo>
                  <a:pt x="496" y="0"/>
                  <a:pt x="526" y="2"/>
                  <a:pt x="556" y="8"/>
                </a:cubicBezTo>
                <a:cubicBezTo>
                  <a:pt x="586" y="14"/>
                  <a:pt x="615" y="23"/>
                  <a:pt x="643" y="35"/>
                </a:cubicBezTo>
                <a:cubicBezTo>
                  <a:pt x="671" y="47"/>
                  <a:pt x="698" y="61"/>
                  <a:pt x="723" y="78"/>
                </a:cubicBezTo>
                <a:cubicBezTo>
                  <a:pt x="749" y="96"/>
                  <a:pt x="772" y="115"/>
                  <a:pt x="794" y="136"/>
                </a:cubicBezTo>
                <a:cubicBezTo>
                  <a:pt x="815" y="158"/>
                  <a:pt x="834" y="182"/>
                  <a:pt x="851" y="207"/>
                </a:cubicBezTo>
                <a:cubicBezTo>
                  <a:pt x="868" y="232"/>
                  <a:pt x="883" y="259"/>
                  <a:pt x="894" y="287"/>
                </a:cubicBezTo>
                <a:cubicBezTo>
                  <a:pt x="906" y="315"/>
                  <a:pt x="915" y="344"/>
                  <a:pt x="921" y="374"/>
                </a:cubicBezTo>
                <a:cubicBezTo>
                  <a:pt x="927" y="404"/>
                  <a:pt x="930" y="434"/>
                  <a:pt x="930" y="465"/>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724" name="図 723"/>
          <p:cNvPicPr/>
          <p:nvPr/>
        </p:nvPicPr>
        <p:blipFill>
          <a:blip r:embed="rId4"/>
          <a:stretch/>
        </p:blipFill>
        <p:spPr>
          <a:xfrm>
            <a:off x="885960" y="1905480"/>
            <a:ext cx="100080" cy="133200"/>
          </a:xfrm>
          <a:prstGeom prst="rect">
            <a:avLst/>
          </a:prstGeom>
          <a:noFill/>
          <a:ln w="0">
            <a:noFill/>
          </a:ln>
        </p:spPr>
      </p:pic>
      <p:sp>
        <p:nvSpPr>
          <p:cNvPr id="725" name="テキスト ボックス 724"/>
          <p:cNvSpPr txBox="1"/>
          <p:nvPr/>
        </p:nvSpPr>
        <p:spPr>
          <a:xfrm>
            <a:off x="927720" y="1234440"/>
            <a:ext cx="1409040" cy="291600"/>
          </a:xfrm>
          <a:prstGeom prst="rect">
            <a:avLst/>
          </a:prstGeom>
          <a:noFill/>
          <a:ln w="0">
            <a:noFill/>
          </a:ln>
        </p:spPr>
        <p:txBody>
          <a:bodyPr wrap="none" lIns="0" tIns="0" rIns="0" bIns="0" anchor="t">
            <a:spAutoFit/>
          </a:bodyPr>
          <a:lstStyle/>
          <a:p>
            <a:r>
              <a:rPr lang="zh-CN" sz="1580" b="0" u="none" strike="noStrike">
                <a:solidFill>
                  <a:srgbClr val="003366"/>
                </a:solidFill>
                <a:effectLst/>
                <a:uFillTx/>
                <a:latin typeface="NotoSansJP"/>
                <a:ea typeface="NotoSansJP"/>
              </a:rPr>
              <a:t>引用文献リスト</a:t>
            </a:r>
            <a:endParaRPr lang="en-US" sz="1580" b="0" u="none" strike="noStrike">
              <a:solidFill>
                <a:srgbClr val="000000"/>
              </a:solidFill>
              <a:effectLst/>
              <a:uFillTx/>
              <a:latin typeface="Times New Roman"/>
            </a:endParaRPr>
          </a:p>
        </p:txBody>
      </p:sp>
      <p:sp>
        <p:nvSpPr>
          <p:cNvPr id="726" name="テキスト ボックス 725"/>
          <p:cNvSpPr txBox="1"/>
          <p:nvPr/>
        </p:nvSpPr>
        <p:spPr>
          <a:xfrm>
            <a:off x="1236960" y="1849320"/>
            <a:ext cx="21603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堀口拓</a:t>
            </a:r>
            <a:r>
              <a:rPr lang="en-US" sz="1180" b="0" u="none" strike="noStrike">
                <a:solidFill>
                  <a:srgbClr val="000000"/>
                </a:solidFill>
                <a:effectLst/>
                <a:uFillTx/>
                <a:latin typeface="NotoSansJP"/>
                <a:ea typeface="NotoSansJP"/>
              </a:rPr>
              <a:t>, </a:t>
            </a:r>
            <a:r>
              <a:rPr lang="zh-CN" sz="1180" b="0" u="none" strike="noStrike">
                <a:solidFill>
                  <a:srgbClr val="000000"/>
                </a:solidFill>
                <a:effectLst/>
                <a:uFillTx/>
                <a:latin typeface="NotoSansJP"/>
                <a:ea typeface="NotoSansJP"/>
              </a:rPr>
              <a:t>佐伯勝敏</a:t>
            </a:r>
            <a:r>
              <a:rPr lang="en-US" sz="1180" b="0" u="none" strike="noStrike">
                <a:solidFill>
                  <a:srgbClr val="000000"/>
                </a:solidFill>
                <a:effectLst/>
                <a:uFillTx/>
                <a:latin typeface="NotoSansJP"/>
                <a:ea typeface="NotoSansJP"/>
              </a:rPr>
              <a:t>, </a:t>
            </a:r>
            <a:r>
              <a:rPr lang="zh-CN" sz="1180" b="0" u="none" strike="noStrike">
                <a:solidFill>
                  <a:srgbClr val="000000"/>
                </a:solidFill>
                <a:effectLst/>
                <a:uFillTx/>
                <a:latin typeface="NotoSansJP"/>
                <a:ea typeface="NotoSansJP"/>
              </a:rPr>
              <a:t>佐々木芳樹</a:t>
            </a:r>
            <a:endParaRPr lang="en-US" sz="1180" b="0" u="none" strike="noStrike">
              <a:solidFill>
                <a:srgbClr val="000000"/>
              </a:solidFill>
              <a:effectLst/>
              <a:uFillTx/>
              <a:latin typeface="Times New Roman"/>
            </a:endParaRPr>
          </a:p>
        </p:txBody>
      </p:sp>
      <p:pic>
        <p:nvPicPr>
          <p:cNvPr id="727" name="図 726"/>
          <p:cNvPicPr/>
          <p:nvPr/>
        </p:nvPicPr>
        <p:blipFill>
          <a:blip r:embed="rId5"/>
          <a:stretch/>
        </p:blipFill>
        <p:spPr>
          <a:xfrm>
            <a:off x="1236960" y="2340000"/>
            <a:ext cx="166680" cy="133200"/>
          </a:xfrm>
          <a:prstGeom prst="rect">
            <a:avLst/>
          </a:prstGeom>
          <a:noFill/>
          <a:ln w="0">
            <a:noFill/>
          </a:ln>
        </p:spPr>
      </p:pic>
      <p:sp>
        <p:nvSpPr>
          <p:cNvPr id="728" name="テキスト ボックス 727"/>
          <p:cNvSpPr txBox="1"/>
          <p:nvPr/>
        </p:nvSpPr>
        <p:spPr>
          <a:xfrm>
            <a:off x="1236960" y="2067840"/>
            <a:ext cx="452700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「低濃度酸化性ガスセンサの混合気体測定に対する一検討」</a:t>
            </a:r>
            <a:endParaRPr lang="en-US" sz="1320" b="0" u="none" strike="noStrike">
              <a:solidFill>
                <a:srgbClr val="000000"/>
              </a:solidFill>
              <a:effectLst/>
              <a:uFillTx/>
              <a:latin typeface="Times New Roman"/>
            </a:endParaRPr>
          </a:p>
        </p:txBody>
      </p:sp>
      <p:sp>
        <p:nvSpPr>
          <p:cNvPr id="729" name="フリーフォーム: 図形 728"/>
          <p:cNvSpPr/>
          <p:nvPr/>
        </p:nvSpPr>
        <p:spPr>
          <a:xfrm>
            <a:off x="768600" y="2974680"/>
            <a:ext cx="334800" cy="334800"/>
          </a:xfrm>
          <a:custGeom>
            <a:avLst/>
            <a:gdLst/>
            <a:ahLst/>
            <a:cxnLst/>
            <a:rect l="0" t="0" r="r" b="b"/>
            <a:pathLst>
              <a:path w="930" h="930">
                <a:moveTo>
                  <a:pt x="930" y="465"/>
                </a:moveTo>
                <a:cubicBezTo>
                  <a:pt x="930" y="495"/>
                  <a:pt x="927" y="525"/>
                  <a:pt x="921" y="556"/>
                </a:cubicBezTo>
                <a:cubicBezTo>
                  <a:pt x="915" y="586"/>
                  <a:pt x="906" y="615"/>
                  <a:pt x="894" y="643"/>
                </a:cubicBezTo>
                <a:cubicBezTo>
                  <a:pt x="883" y="671"/>
                  <a:pt x="868" y="698"/>
                  <a:pt x="851" y="724"/>
                </a:cubicBezTo>
                <a:cubicBezTo>
                  <a:pt x="834" y="749"/>
                  <a:pt x="815" y="772"/>
                  <a:pt x="794" y="794"/>
                </a:cubicBezTo>
                <a:cubicBezTo>
                  <a:pt x="772" y="815"/>
                  <a:pt x="749" y="835"/>
                  <a:pt x="723" y="852"/>
                </a:cubicBezTo>
                <a:cubicBezTo>
                  <a:pt x="698" y="869"/>
                  <a:pt x="671" y="883"/>
                  <a:pt x="643" y="895"/>
                </a:cubicBezTo>
                <a:cubicBezTo>
                  <a:pt x="615" y="906"/>
                  <a:pt x="586" y="915"/>
                  <a:pt x="556" y="921"/>
                </a:cubicBezTo>
                <a:cubicBezTo>
                  <a:pt x="526" y="927"/>
                  <a:pt x="496" y="930"/>
                  <a:pt x="465" y="930"/>
                </a:cubicBezTo>
                <a:cubicBezTo>
                  <a:pt x="435" y="930"/>
                  <a:pt x="405" y="927"/>
                  <a:pt x="375" y="921"/>
                </a:cubicBezTo>
                <a:cubicBezTo>
                  <a:pt x="345" y="915"/>
                  <a:pt x="316" y="906"/>
                  <a:pt x="288" y="895"/>
                </a:cubicBezTo>
                <a:cubicBezTo>
                  <a:pt x="260" y="883"/>
                  <a:pt x="233" y="869"/>
                  <a:pt x="207" y="852"/>
                </a:cubicBezTo>
                <a:cubicBezTo>
                  <a:pt x="181" y="835"/>
                  <a:pt x="158" y="815"/>
                  <a:pt x="136" y="794"/>
                </a:cubicBezTo>
                <a:cubicBezTo>
                  <a:pt x="115" y="772"/>
                  <a:pt x="95" y="749"/>
                  <a:pt x="78" y="724"/>
                </a:cubicBezTo>
                <a:cubicBezTo>
                  <a:pt x="61" y="698"/>
                  <a:pt x="47" y="671"/>
                  <a:pt x="35" y="643"/>
                </a:cubicBezTo>
                <a:cubicBezTo>
                  <a:pt x="24" y="615"/>
                  <a:pt x="15" y="586"/>
                  <a:pt x="9" y="556"/>
                </a:cubicBezTo>
                <a:cubicBezTo>
                  <a:pt x="3" y="525"/>
                  <a:pt x="0" y="495"/>
                  <a:pt x="0" y="465"/>
                </a:cubicBezTo>
                <a:cubicBezTo>
                  <a:pt x="0" y="434"/>
                  <a:pt x="3" y="404"/>
                  <a:pt x="9" y="374"/>
                </a:cubicBezTo>
                <a:cubicBezTo>
                  <a:pt x="15" y="344"/>
                  <a:pt x="24" y="315"/>
                  <a:pt x="35" y="287"/>
                </a:cubicBezTo>
                <a:cubicBezTo>
                  <a:pt x="47" y="259"/>
                  <a:pt x="61" y="232"/>
                  <a:pt x="78" y="207"/>
                </a:cubicBezTo>
                <a:cubicBezTo>
                  <a:pt x="95" y="181"/>
                  <a:pt x="115" y="158"/>
                  <a:pt x="136" y="136"/>
                </a:cubicBezTo>
                <a:cubicBezTo>
                  <a:pt x="158" y="115"/>
                  <a:pt x="181" y="96"/>
                  <a:pt x="207" y="79"/>
                </a:cubicBezTo>
                <a:cubicBezTo>
                  <a:pt x="233" y="62"/>
                  <a:pt x="260" y="47"/>
                  <a:pt x="288" y="36"/>
                </a:cubicBezTo>
                <a:cubicBezTo>
                  <a:pt x="316" y="24"/>
                  <a:pt x="345" y="15"/>
                  <a:pt x="375" y="9"/>
                </a:cubicBezTo>
                <a:cubicBezTo>
                  <a:pt x="405" y="3"/>
                  <a:pt x="435" y="0"/>
                  <a:pt x="465" y="0"/>
                </a:cubicBezTo>
                <a:cubicBezTo>
                  <a:pt x="496" y="0"/>
                  <a:pt x="526" y="3"/>
                  <a:pt x="556" y="9"/>
                </a:cubicBezTo>
                <a:cubicBezTo>
                  <a:pt x="586" y="15"/>
                  <a:pt x="615" y="24"/>
                  <a:pt x="643" y="36"/>
                </a:cubicBezTo>
                <a:cubicBezTo>
                  <a:pt x="671" y="47"/>
                  <a:pt x="698" y="62"/>
                  <a:pt x="723" y="79"/>
                </a:cubicBezTo>
                <a:cubicBezTo>
                  <a:pt x="749" y="96"/>
                  <a:pt x="772" y="115"/>
                  <a:pt x="794" y="136"/>
                </a:cubicBezTo>
                <a:cubicBezTo>
                  <a:pt x="815" y="158"/>
                  <a:pt x="834" y="181"/>
                  <a:pt x="851" y="207"/>
                </a:cubicBezTo>
                <a:cubicBezTo>
                  <a:pt x="868" y="232"/>
                  <a:pt x="883" y="259"/>
                  <a:pt x="894" y="287"/>
                </a:cubicBezTo>
                <a:cubicBezTo>
                  <a:pt x="906" y="315"/>
                  <a:pt x="915" y="344"/>
                  <a:pt x="921" y="374"/>
                </a:cubicBezTo>
                <a:cubicBezTo>
                  <a:pt x="927" y="404"/>
                  <a:pt x="930" y="434"/>
                  <a:pt x="930" y="465"/>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30" name="テキスト ボックス 729"/>
          <p:cNvSpPr txBox="1"/>
          <p:nvPr/>
        </p:nvSpPr>
        <p:spPr>
          <a:xfrm>
            <a:off x="1470600" y="2341080"/>
            <a:ext cx="4343400" cy="157320"/>
          </a:xfrm>
          <a:prstGeom prst="rect">
            <a:avLst/>
          </a:prstGeom>
          <a:noFill/>
          <a:ln w="0">
            <a:noFill/>
          </a:ln>
        </p:spPr>
        <p:txBody>
          <a:bodyPr wrap="none" lIns="0" tIns="0" rIns="0" bIns="0" anchor="t">
            <a:spAutoFit/>
          </a:bodyPr>
          <a:lstStyle/>
          <a:p>
            <a:r>
              <a:rPr lang="en-US" sz="1050" b="0" u="none" strike="noStrike">
                <a:solidFill>
                  <a:srgbClr val="4B5563"/>
                </a:solidFill>
                <a:effectLst/>
                <a:uFillTx/>
                <a:latin typeface="NotoSansJP"/>
                <a:ea typeface="NotoSansJP"/>
              </a:rPr>
              <a:t>https://www.cst.nihon-u.ac.jp/research/gakujutu/60/pdf/M-22.pdf</a:t>
            </a:r>
            <a:endParaRPr lang="en-US" sz="1050" b="0" u="none" strike="noStrike">
              <a:solidFill>
                <a:srgbClr val="000000"/>
              </a:solidFill>
              <a:effectLst/>
              <a:uFillTx/>
              <a:latin typeface="Times New Roman"/>
            </a:endParaRPr>
          </a:p>
        </p:txBody>
      </p:sp>
      <p:sp>
        <p:nvSpPr>
          <p:cNvPr id="731" name="テキスト ボックス 730"/>
          <p:cNvSpPr txBox="1"/>
          <p:nvPr/>
        </p:nvSpPr>
        <p:spPr>
          <a:xfrm>
            <a:off x="1236960" y="3019320"/>
            <a:ext cx="45324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環境省</a:t>
            </a:r>
            <a:endParaRPr lang="en-US" sz="1180" b="0" u="none" strike="noStrike">
              <a:solidFill>
                <a:srgbClr val="000000"/>
              </a:solidFill>
              <a:effectLst/>
              <a:uFillTx/>
              <a:latin typeface="Times New Roman"/>
            </a:endParaRPr>
          </a:p>
        </p:txBody>
      </p:sp>
      <p:sp>
        <p:nvSpPr>
          <p:cNvPr id="732" name="テキスト ボックス 731"/>
          <p:cNvSpPr txBox="1"/>
          <p:nvPr/>
        </p:nvSpPr>
        <p:spPr>
          <a:xfrm>
            <a:off x="1236960" y="3237840"/>
            <a:ext cx="382716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「物質に関する基本的事項</a:t>
            </a:r>
            <a:r>
              <a:rPr lang="en-US" sz="1320" b="0" u="none" strike="noStrike">
                <a:solidFill>
                  <a:srgbClr val="003366"/>
                </a:solidFill>
                <a:effectLst/>
                <a:uFillTx/>
                <a:latin typeface="NotoSansJP"/>
                <a:ea typeface="NotoSansJP"/>
              </a:rPr>
              <a:t>(</a:t>
            </a:r>
            <a:r>
              <a:rPr lang="zh-CN" sz="1320" b="0" u="none" strike="noStrike">
                <a:solidFill>
                  <a:srgbClr val="003366"/>
                </a:solidFill>
                <a:effectLst/>
                <a:uFillTx/>
                <a:latin typeface="NotoSansJP"/>
                <a:ea typeface="NotoSansJP"/>
              </a:rPr>
              <a:t>トリメチルアミン</a:t>
            </a:r>
            <a:r>
              <a:rPr lang="en-US" sz="1320" b="0" u="none" strike="noStrike">
                <a:solidFill>
                  <a:srgbClr val="003366"/>
                </a:solidFill>
                <a:effectLst/>
                <a:uFillTx/>
                <a:latin typeface="NotoSansJP"/>
                <a:ea typeface="NotoSansJP"/>
              </a:rPr>
              <a:t>)</a:t>
            </a:r>
            <a:r>
              <a:rPr lang="zh-CN" sz="1320" b="0" u="none" strike="noStrike">
                <a:solidFill>
                  <a:srgbClr val="003366"/>
                </a:solidFill>
                <a:effectLst/>
                <a:uFillTx/>
                <a:latin typeface="NotoSansJP"/>
                <a:ea typeface="NotoSansJP"/>
              </a:rPr>
              <a:t>」</a:t>
            </a:r>
            <a:endParaRPr lang="en-US" sz="1320" b="0" u="none" strike="noStrike">
              <a:solidFill>
                <a:srgbClr val="000000"/>
              </a:solidFill>
              <a:effectLst/>
              <a:uFillTx/>
              <a:latin typeface="Times New Roman"/>
            </a:endParaRPr>
          </a:p>
        </p:txBody>
      </p:sp>
      <p:sp>
        <p:nvSpPr>
          <p:cNvPr id="733" name="フリーフォーム: 図形 732"/>
          <p:cNvSpPr/>
          <p:nvPr/>
        </p:nvSpPr>
        <p:spPr>
          <a:xfrm>
            <a:off x="768600" y="4144680"/>
            <a:ext cx="334800" cy="334800"/>
          </a:xfrm>
          <a:custGeom>
            <a:avLst/>
            <a:gdLst/>
            <a:ahLst/>
            <a:cxnLst/>
            <a:rect l="0" t="0" r="r" b="b"/>
            <a:pathLst>
              <a:path w="930" h="930">
                <a:moveTo>
                  <a:pt x="930" y="465"/>
                </a:moveTo>
                <a:cubicBezTo>
                  <a:pt x="930" y="496"/>
                  <a:pt x="927" y="526"/>
                  <a:pt x="921" y="556"/>
                </a:cubicBezTo>
                <a:cubicBezTo>
                  <a:pt x="915" y="586"/>
                  <a:pt x="906" y="615"/>
                  <a:pt x="894" y="643"/>
                </a:cubicBezTo>
                <a:cubicBezTo>
                  <a:pt x="883" y="671"/>
                  <a:pt x="868" y="698"/>
                  <a:pt x="851" y="723"/>
                </a:cubicBezTo>
                <a:cubicBezTo>
                  <a:pt x="834" y="749"/>
                  <a:pt x="815" y="772"/>
                  <a:pt x="794" y="794"/>
                </a:cubicBezTo>
                <a:cubicBezTo>
                  <a:pt x="772" y="815"/>
                  <a:pt x="749" y="835"/>
                  <a:pt x="723" y="851"/>
                </a:cubicBezTo>
                <a:cubicBezTo>
                  <a:pt x="698" y="868"/>
                  <a:pt x="671" y="883"/>
                  <a:pt x="643" y="894"/>
                </a:cubicBezTo>
                <a:cubicBezTo>
                  <a:pt x="615" y="906"/>
                  <a:pt x="586" y="915"/>
                  <a:pt x="556" y="921"/>
                </a:cubicBezTo>
                <a:cubicBezTo>
                  <a:pt x="526" y="927"/>
                  <a:pt x="496" y="930"/>
                  <a:pt x="465" y="930"/>
                </a:cubicBezTo>
                <a:cubicBezTo>
                  <a:pt x="435" y="930"/>
                  <a:pt x="405" y="927"/>
                  <a:pt x="375" y="921"/>
                </a:cubicBezTo>
                <a:cubicBezTo>
                  <a:pt x="345" y="915"/>
                  <a:pt x="316" y="906"/>
                  <a:pt x="288" y="894"/>
                </a:cubicBezTo>
                <a:cubicBezTo>
                  <a:pt x="260" y="883"/>
                  <a:pt x="233" y="868"/>
                  <a:pt x="207" y="851"/>
                </a:cubicBezTo>
                <a:cubicBezTo>
                  <a:pt x="181" y="835"/>
                  <a:pt x="158" y="815"/>
                  <a:pt x="136" y="794"/>
                </a:cubicBezTo>
                <a:cubicBezTo>
                  <a:pt x="115" y="772"/>
                  <a:pt x="95" y="749"/>
                  <a:pt x="78" y="723"/>
                </a:cubicBezTo>
                <a:cubicBezTo>
                  <a:pt x="61" y="698"/>
                  <a:pt x="47" y="671"/>
                  <a:pt x="35" y="643"/>
                </a:cubicBezTo>
                <a:cubicBezTo>
                  <a:pt x="24" y="615"/>
                  <a:pt x="15" y="586"/>
                  <a:pt x="9" y="556"/>
                </a:cubicBezTo>
                <a:cubicBezTo>
                  <a:pt x="3" y="526"/>
                  <a:pt x="0" y="496"/>
                  <a:pt x="0" y="465"/>
                </a:cubicBezTo>
                <a:cubicBezTo>
                  <a:pt x="0" y="435"/>
                  <a:pt x="3" y="405"/>
                  <a:pt x="9" y="375"/>
                </a:cubicBezTo>
                <a:cubicBezTo>
                  <a:pt x="15" y="345"/>
                  <a:pt x="24" y="316"/>
                  <a:pt x="35" y="288"/>
                </a:cubicBezTo>
                <a:cubicBezTo>
                  <a:pt x="47" y="260"/>
                  <a:pt x="61" y="233"/>
                  <a:pt x="78" y="208"/>
                </a:cubicBezTo>
                <a:cubicBezTo>
                  <a:pt x="95" y="182"/>
                  <a:pt x="115" y="159"/>
                  <a:pt x="136" y="137"/>
                </a:cubicBezTo>
                <a:cubicBezTo>
                  <a:pt x="158" y="116"/>
                  <a:pt x="181" y="96"/>
                  <a:pt x="207" y="78"/>
                </a:cubicBezTo>
                <a:cubicBezTo>
                  <a:pt x="233" y="61"/>
                  <a:pt x="260" y="47"/>
                  <a:pt x="288" y="36"/>
                </a:cubicBezTo>
                <a:cubicBezTo>
                  <a:pt x="316" y="24"/>
                  <a:pt x="345" y="15"/>
                  <a:pt x="375" y="9"/>
                </a:cubicBezTo>
                <a:cubicBezTo>
                  <a:pt x="405" y="3"/>
                  <a:pt x="435" y="0"/>
                  <a:pt x="465" y="0"/>
                </a:cubicBezTo>
                <a:cubicBezTo>
                  <a:pt x="496" y="0"/>
                  <a:pt x="526" y="3"/>
                  <a:pt x="556" y="9"/>
                </a:cubicBezTo>
                <a:cubicBezTo>
                  <a:pt x="586" y="15"/>
                  <a:pt x="615" y="24"/>
                  <a:pt x="643" y="36"/>
                </a:cubicBezTo>
                <a:cubicBezTo>
                  <a:pt x="671" y="47"/>
                  <a:pt x="698" y="61"/>
                  <a:pt x="723" y="78"/>
                </a:cubicBezTo>
                <a:cubicBezTo>
                  <a:pt x="749" y="96"/>
                  <a:pt x="772" y="116"/>
                  <a:pt x="794" y="137"/>
                </a:cubicBezTo>
                <a:cubicBezTo>
                  <a:pt x="815" y="159"/>
                  <a:pt x="834" y="182"/>
                  <a:pt x="851" y="208"/>
                </a:cubicBezTo>
                <a:cubicBezTo>
                  <a:pt x="868" y="233"/>
                  <a:pt x="883" y="260"/>
                  <a:pt x="894" y="288"/>
                </a:cubicBezTo>
                <a:cubicBezTo>
                  <a:pt x="906" y="316"/>
                  <a:pt x="915" y="345"/>
                  <a:pt x="921" y="375"/>
                </a:cubicBezTo>
                <a:cubicBezTo>
                  <a:pt x="927" y="405"/>
                  <a:pt x="930" y="435"/>
                  <a:pt x="930" y="465"/>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34" name="図 733"/>
          <p:cNvPicPr/>
          <p:nvPr/>
        </p:nvPicPr>
        <p:blipFill>
          <a:blip r:embed="rId6"/>
          <a:stretch/>
        </p:blipFill>
        <p:spPr>
          <a:xfrm>
            <a:off x="877320" y="4245120"/>
            <a:ext cx="116640" cy="133200"/>
          </a:xfrm>
          <a:prstGeom prst="rect">
            <a:avLst/>
          </a:prstGeom>
          <a:noFill/>
          <a:ln w="0">
            <a:noFill/>
          </a:ln>
        </p:spPr>
      </p:pic>
      <p:sp>
        <p:nvSpPr>
          <p:cNvPr id="735" name="テキスト ボックス 734"/>
          <p:cNvSpPr txBox="1"/>
          <p:nvPr/>
        </p:nvSpPr>
        <p:spPr>
          <a:xfrm>
            <a:off x="1236960" y="3511080"/>
            <a:ext cx="603360" cy="157320"/>
          </a:xfrm>
          <a:prstGeom prst="rect">
            <a:avLst/>
          </a:prstGeom>
          <a:noFill/>
          <a:ln w="0">
            <a:noFill/>
          </a:ln>
        </p:spPr>
        <p:txBody>
          <a:bodyPr wrap="none" lIns="0" tIns="0" rIns="0" bIns="0" anchor="t">
            <a:spAutoFit/>
          </a:bodyPr>
          <a:lstStyle/>
          <a:p>
            <a:r>
              <a:rPr lang="en-US" sz="1050" b="0" u="none" strike="noStrike">
                <a:solidFill>
                  <a:srgbClr val="4B5563"/>
                </a:solidFill>
                <a:effectLst/>
                <a:uFillTx/>
                <a:latin typeface="NotoSansJP"/>
                <a:ea typeface="NotoSansJP"/>
              </a:rPr>
              <a:t>pp.10-13</a:t>
            </a:r>
            <a:endParaRPr lang="en-US" sz="1050" b="0" u="none" strike="noStrike">
              <a:solidFill>
                <a:srgbClr val="000000"/>
              </a:solidFill>
              <a:effectLst/>
              <a:uFillTx/>
              <a:latin typeface="Times New Roman"/>
            </a:endParaRPr>
          </a:p>
        </p:txBody>
      </p:sp>
      <p:sp>
        <p:nvSpPr>
          <p:cNvPr id="736" name="テキスト ボックス 735"/>
          <p:cNvSpPr txBox="1"/>
          <p:nvPr/>
        </p:nvSpPr>
        <p:spPr>
          <a:xfrm>
            <a:off x="1236960" y="4189320"/>
            <a:ext cx="1056960" cy="219960"/>
          </a:xfrm>
          <a:prstGeom prst="rect">
            <a:avLst/>
          </a:prstGeom>
          <a:noFill/>
          <a:ln w="0">
            <a:noFill/>
          </a:ln>
        </p:spPr>
        <p:txBody>
          <a:bodyPr wrap="none" lIns="0" tIns="0" rIns="0" bIns="0" anchor="t">
            <a:spAutoFit/>
          </a:bodyPr>
          <a:lstStyle/>
          <a:p>
            <a:r>
              <a:rPr lang="zh-CN" sz="1180" b="0" u="none" strike="noStrike">
                <a:solidFill>
                  <a:srgbClr val="000000"/>
                </a:solidFill>
                <a:effectLst/>
                <a:uFillTx/>
                <a:latin typeface="NotoSansJP"/>
                <a:ea typeface="NotoSansJP"/>
              </a:rPr>
              <a:t>本研究関連資料</a:t>
            </a:r>
            <a:endParaRPr lang="en-US" sz="1180" b="0" u="none" strike="noStrike">
              <a:solidFill>
                <a:srgbClr val="000000"/>
              </a:solidFill>
              <a:effectLst/>
              <a:uFillTx/>
              <a:latin typeface="Times New Roman"/>
            </a:endParaRPr>
          </a:p>
        </p:txBody>
      </p:sp>
      <p:sp>
        <p:nvSpPr>
          <p:cNvPr id="737" name="テキスト ボックス 736"/>
          <p:cNvSpPr txBox="1"/>
          <p:nvPr/>
        </p:nvSpPr>
        <p:spPr>
          <a:xfrm>
            <a:off x="1236960" y="4407480"/>
            <a:ext cx="402408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「銅フタロシアニンを用いたガスセンサの基礎研究」</a:t>
            </a:r>
            <a:endParaRPr lang="en-US" sz="1320" b="0" u="none" strike="noStrike">
              <a:solidFill>
                <a:srgbClr val="000000"/>
              </a:solidFill>
              <a:effectLst/>
              <a:uFillTx/>
              <a:latin typeface="Times New Roman"/>
            </a:endParaRPr>
          </a:p>
        </p:txBody>
      </p:sp>
      <p:pic>
        <p:nvPicPr>
          <p:cNvPr id="738" name="図 737"/>
          <p:cNvPicPr/>
          <p:nvPr/>
        </p:nvPicPr>
        <p:blipFill>
          <a:blip r:embed="rId7"/>
          <a:stretch/>
        </p:blipFill>
        <p:spPr>
          <a:xfrm>
            <a:off x="601560" y="5490360"/>
            <a:ext cx="124920" cy="166680"/>
          </a:xfrm>
          <a:prstGeom prst="rect">
            <a:avLst/>
          </a:prstGeom>
          <a:noFill/>
          <a:ln w="0">
            <a:noFill/>
          </a:ln>
        </p:spPr>
      </p:pic>
      <p:sp>
        <p:nvSpPr>
          <p:cNvPr id="739" name="テキスト ボックス 738"/>
          <p:cNvSpPr txBox="1"/>
          <p:nvPr/>
        </p:nvSpPr>
        <p:spPr>
          <a:xfrm>
            <a:off x="1236960" y="4681080"/>
            <a:ext cx="1609920" cy="194040"/>
          </a:xfrm>
          <a:prstGeom prst="rect">
            <a:avLst/>
          </a:prstGeom>
          <a:noFill/>
          <a:ln w="0">
            <a:noFill/>
          </a:ln>
        </p:spPr>
        <p:txBody>
          <a:bodyPr wrap="none" lIns="0" tIns="0" rIns="0" bIns="0" anchor="t">
            <a:spAutoFit/>
          </a:bodyPr>
          <a:lstStyle/>
          <a:p>
            <a:r>
              <a:rPr lang="zh-CN" sz="1050" b="0" u="none" strike="noStrike">
                <a:solidFill>
                  <a:srgbClr val="4B5563"/>
                </a:solidFill>
                <a:effectLst/>
                <a:uFillTx/>
                <a:latin typeface="NotoSansJP"/>
                <a:ea typeface="NotoSansJP"/>
              </a:rPr>
              <a:t>日本大学理工学部研究紀要</a:t>
            </a:r>
            <a:endParaRPr lang="en-US" sz="1050" b="0" u="none" strike="noStrike">
              <a:solidFill>
                <a:srgbClr val="000000"/>
              </a:solidFill>
              <a:effectLst/>
              <a:uFillTx/>
              <a:latin typeface="Times New Roman"/>
            </a:endParaRPr>
          </a:p>
        </p:txBody>
      </p:sp>
      <p:sp>
        <p:nvSpPr>
          <p:cNvPr id="740" name="テキスト ボックス 739"/>
          <p:cNvSpPr txBox="1"/>
          <p:nvPr/>
        </p:nvSpPr>
        <p:spPr>
          <a:xfrm>
            <a:off x="793800" y="5485680"/>
            <a:ext cx="671400" cy="244080"/>
          </a:xfrm>
          <a:prstGeom prst="rect">
            <a:avLst/>
          </a:prstGeom>
          <a:noFill/>
          <a:ln w="0">
            <a:noFill/>
          </a:ln>
        </p:spPr>
        <p:txBody>
          <a:bodyPr wrap="none" lIns="0" tIns="0" rIns="0" bIns="0" anchor="t">
            <a:spAutoFit/>
          </a:bodyPr>
          <a:lstStyle/>
          <a:p>
            <a:r>
              <a:rPr lang="zh-CN" sz="1320" b="0" u="none" strike="noStrike">
                <a:solidFill>
                  <a:srgbClr val="003366"/>
                </a:solidFill>
                <a:effectLst/>
                <a:uFillTx/>
                <a:latin typeface="NotoSansJP"/>
                <a:ea typeface="NotoSansJP"/>
              </a:rPr>
              <a:t>参考情報</a:t>
            </a:r>
            <a:endParaRPr lang="en-US" sz="1320" b="0" u="none" strike="noStrike">
              <a:solidFill>
                <a:srgbClr val="000000"/>
              </a:solidFill>
              <a:effectLst/>
              <a:uFillTx/>
              <a:latin typeface="Times New Roman"/>
            </a:endParaRPr>
          </a:p>
        </p:txBody>
      </p:sp>
      <p:sp>
        <p:nvSpPr>
          <p:cNvPr id="741" name="テキスト ボックス 740"/>
          <p:cNvSpPr txBox="1"/>
          <p:nvPr/>
        </p:nvSpPr>
        <p:spPr>
          <a:xfrm>
            <a:off x="601560" y="5859360"/>
            <a:ext cx="9418680" cy="194040"/>
          </a:xfrm>
          <a:prstGeom prst="rect">
            <a:avLst/>
          </a:prstGeom>
          <a:noFill/>
          <a:ln w="0">
            <a:noFill/>
          </a:ln>
        </p:spPr>
        <p:txBody>
          <a:bodyPr wrap="none" lIns="0" tIns="0" rIns="0" bIns="0" anchor="t">
            <a:spAutoFit/>
          </a:bodyPr>
          <a:lstStyle/>
          <a:p>
            <a:r>
              <a:rPr lang="zh-CN" sz="1050" b="0" u="none" strike="noStrike">
                <a:solidFill>
                  <a:srgbClr val="374151"/>
                </a:solidFill>
                <a:effectLst/>
                <a:uFillTx/>
                <a:latin typeface="NotoSansJP"/>
                <a:ea typeface="NotoSansJP"/>
              </a:rPr>
              <a:t>本研究は、日本大学における銅フタロシアニンを用いたガスセンサ開発の一環として行われました。 関連する研究成果や詳細情報については、上記の参考文</a:t>
            </a:r>
            <a:endParaRPr lang="en-US" sz="1050" b="0" u="none" strike="noStrike">
              <a:solidFill>
                <a:srgbClr val="000000"/>
              </a:solidFill>
              <a:effectLst/>
              <a:uFillTx/>
              <a:latin typeface="Times New Roman"/>
            </a:endParaRPr>
          </a:p>
        </p:txBody>
      </p:sp>
      <p:sp>
        <p:nvSpPr>
          <p:cNvPr id="742" name="テキスト ボックス 741"/>
          <p:cNvSpPr txBox="1"/>
          <p:nvPr/>
        </p:nvSpPr>
        <p:spPr>
          <a:xfrm>
            <a:off x="601560" y="6059880"/>
            <a:ext cx="1341720" cy="194040"/>
          </a:xfrm>
          <a:prstGeom prst="rect">
            <a:avLst/>
          </a:prstGeom>
          <a:noFill/>
          <a:ln w="0">
            <a:noFill/>
          </a:ln>
        </p:spPr>
        <p:txBody>
          <a:bodyPr wrap="none" lIns="0" tIns="0" rIns="0" bIns="0" anchor="t">
            <a:spAutoFit/>
          </a:bodyPr>
          <a:lstStyle/>
          <a:p>
            <a:r>
              <a:rPr lang="zh-CN" sz="1050" b="0" u="none" strike="noStrike">
                <a:solidFill>
                  <a:srgbClr val="374151"/>
                </a:solidFill>
                <a:effectLst/>
                <a:uFillTx/>
                <a:latin typeface="NotoSansJP"/>
                <a:ea typeface="NotoSansJP"/>
              </a:rPr>
              <a:t>献をご参照ください。</a:t>
            </a:r>
            <a:endParaRPr lang="en-US" sz="1050" b="0" u="none" strike="noStrike">
              <a:solidFill>
                <a:srgbClr val="000000"/>
              </a:solidFill>
              <a:effectLst/>
              <a:uFillTx/>
              <a:latin typeface="Times New Roman"/>
            </a:endParaRPr>
          </a:p>
        </p:txBody>
      </p:sp>
      <p:sp>
        <p:nvSpPr>
          <p:cNvPr id="743" name="テキスト ボックス 742"/>
          <p:cNvSpPr txBox="1"/>
          <p:nvPr/>
        </p:nvSpPr>
        <p:spPr>
          <a:xfrm>
            <a:off x="10203480" y="6543360"/>
            <a:ext cx="413640" cy="136080"/>
          </a:xfrm>
          <a:prstGeom prst="rect">
            <a:avLst/>
          </a:prstGeom>
          <a:noFill/>
          <a:ln w="0">
            <a:noFill/>
          </a:ln>
        </p:spPr>
        <p:txBody>
          <a:bodyPr wrap="none" lIns="0" tIns="0" rIns="0" bIns="0" anchor="t">
            <a:spAutoFit/>
          </a:bodyPr>
          <a:lstStyle/>
          <a:p>
            <a:r>
              <a:rPr lang="en-US" sz="920" b="0" u="none" strike="noStrike">
                <a:solidFill>
                  <a:srgbClr val="6B7280"/>
                </a:solidFill>
                <a:effectLst/>
                <a:uFillTx/>
                <a:latin typeface="NotoSansJP"/>
                <a:ea typeface="NotoSansJP"/>
              </a:rPr>
              <a:t>16 / 17</a:t>
            </a:r>
            <a:endParaRPr lang="en-US" sz="92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4" name="図 743"/>
          <p:cNvPicPr/>
          <p:nvPr/>
        </p:nvPicPr>
        <p:blipFill>
          <a:blip r:embed="rId2"/>
          <a:stretch/>
        </p:blipFill>
        <p:spPr>
          <a:xfrm>
            <a:off x="0" y="0"/>
            <a:ext cx="10696320" cy="6016320"/>
          </a:xfrm>
          <a:prstGeom prst="rect">
            <a:avLst/>
          </a:prstGeom>
          <a:noFill/>
          <a:ln w="0">
            <a:noFill/>
          </a:ln>
        </p:spPr>
      </p:pic>
      <p:pic>
        <p:nvPicPr>
          <p:cNvPr id="745" name="図 744"/>
          <p:cNvPicPr/>
          <p:nvPr/>
        </p:nvPicPr>
        <p:blipFill>
          <a:blip r:embed="rId3"/>
          <a:stretch/>
        </p:blipFill>
        <p:spPr>
          <a:xfrm>
            <a:off x="1604520" y="601560"/>
            <a:ext cx="1671120" cy="1671120"/>
          </a:xfrm>
          <a:prstGeom prst="rect">
            <a:avLst/>
          </a:prstGeom>
          <a:noFill/>
          <a:ln w="0">
            <a:noFill/>
          </a:ln>
        </p:spPr>
      </p:pic>
      <p:pic>
        <p:nvPicPr>
          <p:cNvPr id="746" name="図 745"/>
          <p:cNvPicPr/>
          <p:nvPr/>
        </p:nvPicPr>
        <p:blipFill>
          <a:blip r:embed="rId4"/>
          <a:stretch/>
        </p:blipFill>
        <p:spPr>
          <a:xfrm>
            <a:off x="8156160" y="3860640"/>
            <a:ext cx="1253160" cy="1253160"/>
          </a:xfrm>
          <a:prstGeom prst="rect">
            <a:avLst/>
          </a:prstGeom>
          <a:noFill/>
          <a:ln w="0">
            <a:noFill/>
          </a:ln>
        </p:spPr>
      </p:pic>
      <p:pic>
        <p:nvPicPr>
          <p:cNvPr id="747" name="図 746"/>
          <p:cNvPicPr/>
          <p:nvPr/>
        </p:nvPicPr>
        <p:blipFill>
          <a:blip r:embed="rId5"/>
          <a:stretch/>
        </p:blipFill>
        <p:spPr>
          <a:xfrm>
            <a:off x="7186680" y="1203480"/>
            <a:ext cx="835200" cy="835200"/>
          </a:xfrm>
          <a:prstGeom prst="rect">
            <a:avLst/>
          </a:prstGeom>
          <a:noFill/>
          <a:ln w="0">
            <a:noFill/>
          </a:ln>
        </p:spPr>
      </p:pic>
      <p:pic>
        <p:nvPicPr>
          <p:cNvPr id="748" name="図 747"/>
          <p:cNvPicPr/>
          <p:nvPr/>
        </p:nvPicPr>
        <p:blipFill>
          <a:blip r:embed="rId6"/>
          <a:stretch/>
        </p:blipFill>
        <p:spPr>
          <a:xfrm>
            <a:off x="2139480" y="3509640"/>
            <a:ext cx="1002600" cy="1002600"/>
          </a:xfrm>
          <a:prstGeom prst="rect">
            <a:avLst/>
          </a:prstGeom>
          <a:noFill/>
          <a:ln w="0">
            <a:noFill/>
          </a:ln>
        </p:spPr>
      </p:pic>
      <p:sp>
        <p:nvSpPr>
          <p:cNvPr id="749" name="フリーフォーム: 図形 748"/>
          <p:cNvSpPr/>
          <p:nvPr/>
        </p:nvSpPr>
        <p:spPr>
          <a:xfrm>
            <a:off x="2674080" y="1805040"/>
            <a:ext cx="66960" cy="66960"/>
          </a:xfrm>
          <a:custGeom>
            <a:avLst/>
            <a:gdLst/>
            <a:ahLst/>
            <a:cxnLst/>
            <a:rect l="0" t="0" r="r" b="b"/>
            <a:pathLst>
              <a:path w="186" h="186">
                <a:moveTo>
                  <a:pt x="186" y="93"/>
                </a:moveTo>
                <a:cubicBezTo>
                  <a:pt x="186" y="106"/>
                  <a:pt x="184" y="118"/>
                  <a:pt x="179" y="129"/>
                </a:cubicBezTo>
                <a:cubicBezTo>
                  <a:pt x="175" y="140"/>
                  <a:pt x="168" y="150"/>
                  <a:pt x="159" y="159"/>
                </a:cubicBezTo>
                <a:cubicBezTo>
                  <a:pt x="150" y="168"/>
                  <a:pt x="140" y="174"/>
                  <a:pt x="129" y="179"/>
                </a:cubicBezTo>
                <a:cubicBezTo>
                  <a:pt x="118" y="184"/>
                  <a:pt x="106" y="186"/>
                  <a:pt x="94" y="186"/>
                </a:cubicBezTo>
                <a:cubicBezTo>
                  <a:pt x="81" y="186"/>
                  <a:pt x="69" y="184"/>
                  <a:pt x="57" y="179"/>
                </a:cubicBezTo>
                <a:cubicBezTo>
                  <a:pt x="46" y="174"/>
                  <a:pt x="36" y="168"/>
                  <a:pt x="27" y="159"/>
                </a:cubicBezTo>
                <a:cubicBezTo>
                  <a:pt x="18" y="150"/>
                  <a:pt x="11" y="140"/>
                  <a:pt x="7" y="129"/>
                </a:cubicBezTo>
                <a:cubicBezTo>
                  <a:pt x="2" y="118"/>
                  <a:pt x="0" y="106"/>
                  <a:pt x="0" y="93"/>
                </a:cubicBezTo>
                <a:cubicBezTo>
                  <a:pt x="0" y="81"/>
                  <a:pt x="2" y="68"/>
                  <a:pt x="7" y="57"/>
                </a:cubicBezTo>
                <a:cubicBezTo>
                  <a:pt x="11" y="45"/>
                  <a:pt x="18" y="35"/>
                  <a:pt x="27" y="27"/>
                </a:cubicBezTo>
                <a:cubicBezTo>
                  <a:pt x="36" y="18"/>
                  <a:pt x="46" y="11"/>
                  <a:pt x="57" y="7"/>
                </a:cubicBezTo>
                <a:cubicBezTo>
                  <a:pt x="69" y="2"/>
                  <a:pt x="81" y="0"/>
                  <a:pt x="94" y="0"/>
                </a:cubicBezTo>
                <a:cubicBezTo>
                  <a:pt x="106" y="0"/>
                  <a:pt x="118" y="2"/>
                  <a:pt x="129" y="7"/>
                </a:cubicBezTo>
                <a:cubicBezTo>
                  <a:pt x="140" y="11"/>
                  <a:pt x="150" y="18"/>
                  <a:pt x="159" y="27"/>
                </a:cubicBezTo>
                <a:cubicBezTo>
                  <a:pt x="168" y="35"/>
                  <a:pt x="175" y="45"/>
                  <a:pt x="179" y="57"/>
                </a:cubicBezTo>
                <a:cubicBezTo>
                  <a:pt x="184" y="68"/>
                  <a:pt x="186" y="81"/>
                  <a:pt x="186" y="93"/>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50" name="フリーフォーム: 図形 749"/>
          <p:cNvSpPr/>
          <p:nvPr/>
        </p:nvSpPr>
        <p:spPr>
          <a:xfrm>
            <a:off x="7487280" y="2406600"/>
            <a:ext cx="67320" cy="67320"/>
          </a:xfrm>
          <a:custGeom>
            <a:avLst/>
            <a:gdLst/>
            <a:ahLst/>
            <a:cxnLst/>
            <a:rect l="0" t="0" r="r" b="b"/>
            <a:pathLst>
              <a:path w="187" h="187">
                <a:moveTo>
                  <a:pt x="187" y="94"/>
                </a:moveTo>
                <a:cubicBezTo>
                  <a:pt x="187" y="106"/>
                  <a:pt x="185" y="118"/>
                  <a:pt x="180" y="129"/>
                </a:cubicBezTo>
                <a:cubicBezTo>
                  <a:pt x="175" y="141"/>
                  <a:pt x="169" y="151"/>
                  <a:pt x="160" y="159"/>
                </a:cubicBezTo>
                <a:cubicBezTo>
                  <a:pt x="151" y="168"/>
                  <a:pt x="141" y="175"/>
                  <a:pt x="130" y="179"/>
                </a:cubicBezTo>
                <a:cubicBezTo>
                  <a:pt x="118" y="184"/>
                  <a:pt x="107" y="187"/>
                  <a:pt x="94" y="187"/>
                </a:cubicBezTo>
                <a:cubicBezTo>
                  <a:pt x="82" y="187"/>
                  <a:pt x="70" y="184"/>
                  <a:pt x="59" y="179"/>
                </a:cubicBezTo>
                <a:cubicBezTo>
                  <a:pt x="47" y="175"/>
                  <a:pt x="37" y="168"/>
                  <a:pt x="29" y="159"/>
                </a:cubicBezTo>
                <a:cubicBezTo>
                  <a:pt x="20" y="151"/>
                  <a:pt x="12" y="141"/>
                  <a:pt x="7" y="129"/>
                </a:cubicBezTo>
                <a:cubicBezTo>
                  <a:pt x="3" y="118"/>
                  <a:pt x="0" y="106"/>
                  <a:pt x="0" y="94"/>
                </a:cubicBezTo>
                <a:cubicBezTo>
                  <a:pt x="0" y="81"/>
                  <a:pt x="3" y="70"/>
                  <a:pt x="7" y="57"/>
                </a:cubicBezTo>
                <a:cubicBezTo>
                  <a:pt x="12" y="46"/>
                  <a:pt x="20" y="36"/>
                  <a:pt x="29" y="27"/>
                </a:cubicBezTo>
                <a:cubicBezTo>
                  <a:pt x="37" y="18"/>
                  <a:pt x="47" y="12"/>
                  <a:pt x="59" y="7"/>
                </a:cubicBezTo>
                <a:cubicBezTo>
                  <a:pt x="70" y="2"/>
                  <a:pt x="82" y="0"/>
                  <a:pt x="94" y="0"/>
                </a:cubicBezTo>
                <a:cubicBezTo>
                  <a:pt x="107" y="0"/>
                  <a:pt x="118" y="2"/>
                  <a:pt x="130" y="7"/>
                </a:cubicBezTo>
                <a:cubicBezTo>
                  <a:pt x="141" y="12"/>
                  <a:pt x="151" y="18"/>
                  <a:pt x="160" y="27"/>
                </a:cubicBezTo>
                <a:cubicBezTo>
                  <a:pt x="169" y="36"/>
                  <a:pt x="175" y="46"/>
                  <a:pt x="180" y="57"/>
                </a:cubicBezTo>
                <a:cubicBezTo>
                  <a:pt x="185" y="70"/>
                  <a:pt x="187" y="81"/>
                  <a:pt x="187" y="9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51" name="フリーフォーム: 図形 750"/>
          <p:cNvSpPr/>
          <p:nvPr/>
        </p:nvSpPr>
        <p:spPr>
          <a:xfrm>
            <a:off x="3743640" y="3610080"/>
            <a:ext cx="67320" cy="66960"/>
          </a:xfrm>
          <a:custGeom>
            <a:avLst/>
            <a:gdLst/>
            <a:ahLst/>
            <a:cxnLst/>
            <a:rect l="0" t="0" r="r" b="b"/>
            <a:pathLst>
              <a:path w="187" h="186">
                <a:moveTo>
                  <a:pt x="187" y="93"/>
                </a:moveTo>
                <a:cubicBezTo>
                  <a:pt x="187" y="106"/>
                  <a:pt x="184" y="118"/>
                  <a:pt x="180" y="129"/>
                </a:cubicBezTo>
                <a:cubicBezTo>
                  <a:pt x="175" y="140"/>
                  <a:pt x="168" y="150"/>
                  <a:pt x="159" y="159"/>
                </a:cubicBezTo>
                <a:cubicBezTo>
                  <a:pt x="151" y="168"/>
                  <a:pt x="141" y="174"/>
                  <a:pt x="129" y="179"/>
                </a:cubicBezTo>
                <a:cubicBezTo>
                  <a:pt x="118" y="184"/>
                  <a:pt x="106" y="186"/>
                  <a:pt x="94" y="186"/>
                </a:cubicBezTo>
                <a:cubicBezTo>
                  <a:pt x="81" y="186"/>
                  <a:pt x="70" y="184"/>
                  <a:pt x="58" y="179"/>
                </a:cubicBezTo>
                <a:cubicBezTo>
                  <a:pt x="46" y="174"/>
                  <a:pt x="36" y="168"/>
                  <a:pt x="27" y="159"/>
                </a:cubicBezTo>
                <a:cubicBezTo>
                  <a:pt x="18" y="150"/>
                  <a:pt x="12" y="140"/>
                  <a:pt x="7" y="129"/>
                </a:cubicBezTo>
                <a:cubicBezTo>
                  <a:pt x="2" y="118"/>
                  <a:pt x="0" y="106"/>
                  <a:pt x="0" y="93"/>
                </a:cubicBezTo>
                <a:cubicBezTo>
                  <a:pt x="0" y="81"/>
                  <a:pt x="2" y="69"/>
                  <a:pt x="7" y="58"/>
                </a:cubicBezTo>
                <a:cubicBezTo>
                  <a:pt x="12" y="45"/>
                  <a:pt x="18" y="35"/>
                  <a:pt x="27" y="27"/>
                </a:cubicBezTo>
                <a:cubicBezTo>
                  <a:pt x="36" y="18"/>
                  <a:pt x="46" y="11"/>
                  <a:pt x="58" y="7"/>
                </a:cubicBezTo>
                <a:cubicBezTo>
                  <a:pt x="70" y="2"/>
                  <a:pt x="81" y="0"/>
                  <a:pt x="94" y="0"/>
                </a:cubicBezTo>
                <a:cubicBezTo>
                  <a:pt x="106" y="0"/>
                  <a:pt x="118" y="2"/>
                  <a:pt x="129" y="7"/>
                </a:cubicBezTo>
                <a:cubicBezTo>
                  <a:pt x="141" y="11"/>
                  <a:pt x="151" y="18"/>
                  <a:pt x="159" y="27"/>
                </a:cubicBezTo>
                <a:cubicBezTo>
                  <a:pt x="168" y="35"/>
                  <a:pt x="175" y="45"/>
                  <a:pt x="180" y="58"/>
                </a:cubicBezTo>
                <a:cubicBezTo>
                  <a:pt x="184" y="69"/>
                  <a:pt x="187" y="81"/>
                  <a:pt x="187" y="93"/>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52" name="フリーフォーム: 図形 751"/>
          <p:cNvSpPr/>
          <p:nvPr/>
        </p:nvSpPr>
        <p:spPr>
          <a:xfrm>
            <a:off x="6952680" y="1504080"/>
            <a:ext cx="66960" cy="67320"/>
          </a:xfrm>
          <a:custGeom>
            <a:avLst/>
            <a:gdLst/>
            <a:ahLst/>
            <a:cxnLst/>
            <a:rect l="0" t="0" r="r" b="b"/>
            <a:pathLst>
              <a:path w="186" h="187">
                <a:moveTo>
                  <a:pt x="186" y="93"/>
                </a:moveTo>
                <a:cubicBezTo>
                  <a:pt x="186" y="105"/>
                  <a:pt x="184" y="117"/>
                  <a:pt x="179" y="128"/>
                </a:cubicBezTo>
                <a:cubicBezTo>
                  <a:pt x="175" y="140"/>
                  <a:pt x="168" y="150"/>
                  <a:pt x="159" y="158"/>
                </a:cubicBezTo>
                <a:cubicBezTo>
                  <a:pt x="151" y="167"/>
                  <a:pt x="141" y="175"/>
                  <a:pt x="129" y="179"/>
                </a:cubicBezTo>
                <a:cubicBezTo>
                  <a:pt x="118" y="184"/>
                  <a:pt x="106" y="187"/>
                  <a:pt x="94" y="187"/>
                </a:cubicBezTo>
                <a:cubicBezTo>
                  <a:pt x="81" y="187"/>
                  <a:pt x="69" y="184"/>
                  <a:pt x="58" y="179"/>
                </a:cubicBezTo>
                <a:cubicBezTo>
                  <a:pt x="47" y="175"/>
                  <a:pt x="37" y="167"/>
                  <a:pt x="28" y="158"/>
                </a:cubicBezTo>
                <a:cubicBezTo>
                  <a:pt x="18" y="150"/>
                  <a:pt x="12" y="140"/>
                  <a:pt x="7" y="128"/>
                </a:cubicBezTo>
                <a:cubicBezTo>
                  <a:pt x="2" y="117"/>
                  <a:pt x="0" y="105"/>
                  <a:pt x="0" y="93"/>
                </a:cubicBezTo>
                <a:cubicBezTo>
                  <a:pt x="0" y="80"/>
                  <a:pt x="2" y="69"/>
                  <a:pt x="7" y="57"/>
                </a:cubicBezTo>
                <a:cubicBezTo>
                  <a:pt x="12" y="46"/>
                  <a:pt x="18" y="36"/>
                  <a:pt x="28" y="27"/>
                </a:cubicBezTo>
                <a:cubicBezTo>
                  <a:pt x="37" y="18"/>
                  <a:pt x="47" y="12"/>
                  <a:pt x="58" y="7"/>
                </a:cubicBezTo>
                <a:cubicBezTo>
                  <a:pt x="69" y="2"/>
                  <a:pt x="81" y="0"/>
                  <a:pt x="94" y="0"/>
                </a:cubicBezTo>
                <a:cubicBezTo>
                  <a:pt x="106" y="0"/>
                  <a:pt x="118" y="2"/>
                  <a:pt x="129" y="7"/>
                </a:cubicBezTo>
                <a:cubicBezTo>
                  <a:pt x="141" y="12"/>
                  <a:pt x="151" y="18"/>
                  <a:pt x="159" y="27"/>
                </a:cubicBezTo>
                <a:cubicBezTo>
                  <a:pt x="168" y="36"/>
                  <a:pt x="175" y="46"/>
                  <a:pt x="179" y="57"/>
                </a:cubicBezTo>
                <a:cubicBezTo>
                  <a:pt x="184" y="69"/>
                  <a:pt x="186" y="80"/>
                  <a:pt x="186" y="93"/>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53" name="フリーフォーム: 図形 752"/>
          <p:cNvSpPr/>
          <p:nvPr/>
        </p:nvSpPr>
        <p:spPr>
          <a:xfrm>
            <a:off x="8022240" y="4211640"/>
            <a:ext cx="67320" cy="67320"/>
          </a:xfrm>
          <a:custGeom>
            <a:avLst/>
            <a:gdLst/>
            <a:ahLst/>
            <a:cxnLst/>
            <a:rect l="0" t="0" r="r" b="b"/>
            <a:pathLst>
              <a:path w="187" h="187">
                <a:moveTo>
                  <a:pt x="187" y="94"/>
                </a:moveTo>
                <a:cubicBezTo>
                  <a:pt x="187" y="106"/>
                  <a:pt x="184" y="118"/>
                  <a:pt x="180" y="129"/>
                </a:cubicBezTo>
                <a:cubicBezTo>
                  <a:pt x="175" y="141"/>
                  <a:pt x="168" y="151"/>
                  <a:pt x="160" y="159"/>
                </a:cubicBezTo>
                <a:cubicBezTo>
                  <a:pt x="151" y="168"/>
                  <a:pt x="141" y="175"/>
                  <a:pt x="129" y="180"/>
                </a:cubicBezTo>
                <a:cubicBezTo>
                  <a:pt x="118" y="184"/>
                  <a:pt x="106" y="187"/>
                  <a:pt x="94" y="187"/>
                </a:cubicBezTo>
                <a:cubicBezTo>
                  <a:pt x="82" y="187"/>
                  <a:pt x="70" y="184"/>
                  <a:pt x="58" y="180"/>
                </a:cubicBezTo>
                <a:cubicBezTo>
                  <a:pt x="47" y="175"/>
                  <a:pt x="37" y="168"/>
                  <a:pt x="28" y="159"/>
                </a:cubicBezTo>
                <a:cubicBezTo>
                  <a:pt x="20" y="151"/>
                  <a:pt x="13" y="141"/>
                  <a:pt x="7" y="129"/>
                </a:cubicBezTo>
                <a:cubicBezTo>
                  <a:pt x="2" y="118"/>
                  <a:pt x="0" y="106"/>
                  <a:pt x="0" y="94"/>
                </a:cubicBezTo>
                <a:cubicBezTo>
                  <a:pt x="0" y="81"/>
                  <a:pt x="2" y="70"/>
                  <a:pt x="7" y="58"/>
                </a:cubicBezTo>
                <a:cubicBezTo>
                  <a:pt x="13" y="46"/>
                  <a:pt x="20" y="36"/>
                  <a:pt x="28" y="27"/>
                </a:cubicBezTo>
                <a:cubicBezTo>
                  <a:pt x="37" y="18"/>
                  <a:pt x="47" y="12"/>
                  <a:pt x="58" y="7"/>
                </a:cubicBezTo>
                <a:cubicBezTo>
                  <a:pt x="70" y="2"/>
                  <a:pt x="82" y="0"/>
                  <a:pt x="94" y="0"/>
                </a:cubicBezTo>
                <a:cubicBezTo>
                  <a:pt x="106" y="0"/>
                  <a:pt x="118" y="2"/>
                  <a:pt x="129" y="7"/>
                </a:cubicBezTo>
                <a:cubicBezTo>
                  <a:pt x="141" y="12"/>
                  <a:pt x="151" y="18"/>
                  <a:pt x="160" y="27"/>
                </a:cubicBezTo>
                <a:cubicBezTo>
                  <a:pt x="168" y="36"/>
                  <a:pt x="175" y="46"/>
                  <a:pt x="180" y="58"/>
                </a:cubicBezTo>
                <a:cubicBezTo>
                  <a:pt x="184" y="70"/>
                  <a:pt x="187" y="81"/>
                  <a:pt x="187" y="94"/>
                </a:cubicBez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54" name="図 753"/>
          <p:cNvPicPr/>
          <p:nvPr/>
        </p:nvPicPr>
        <p:blipFill>
          <a:blip r:embed="rId7"/>
          <a:stretch/>
        </p:blipFill>
        <p:spPr>
          <a:xfrm>
            <a:off x="3209040" y="902520"/>
            <a:ext cx="835200" cy="918720"/>
          </a:xfrm>
          <a:prstGeom prst="rect">
            <a:avLst/>
          </a:prstGeom>
          <a:noFill/>
          <a:ln w="0">
            <a:noFill/>
          </a:ln>
        </p:spPr>
      </p:pic>
      <p:pic>
        <p:nvPicPr>
          <p:cNvPr id="755" name="図 754"/>
          <p:cNvPicPr/>
          <p:nvPr/>
        </p:nvPicPr>
        <p:blipFill>
          <a:blip r:embed="rId7"/>
          <a:stretch/>
        </p:blipFill>
        <p:spPr>
          <a:xfrm>
            <a:off x="6952680" y="1504080"/>
            <a:ext cx="835200" cy="918720"/>
          </a:xfrm>
          <a:prstGeom prst="rect">
            <a:avLst/>
          </a:prstGeom>
          <a:noFill/>
          <a:ln w="0">
            <a:noFill/>
          </a:ln>
        </p:spPr>
      </p:pic>
      <p:pic>
        <p:nvPicPr>
          <p:cNvPr id="756" name="図 755"/>
          <p:cNvPicPr/>
          <p:nvPr/>
        </p:nvPicPr>
        <p:blipFill>
          <a:blip r:embed="rId7"/>
          <a:stretch/>
        </p:blipFill>
        <p:spPr>
          <a:xfrm>
            <a:off x="4278600" y="3894120"/>
            <a:ext cx="835200" cy="918720"/>
          </a:xfrm>
          <a:prstGeom prst="rect">
            <a:avLst/>
          </a:prstGeom>
          <a:noFill/>
          <a:ln w="0">
            <a:noFill/>
          </a:ln>
        </p:spPr>
      </p:pic>
      <p:pic>
        <p:nvPicPr>
          <p:cNvPr id="757" name="図 756"/>
          <p:cNvPicPr/>
          <p:nvPr/>
        </p:nvPicPr>
        <p:blipFill>
          <a:blip r:embed="rId7"/>
          <a:stretch/>
        </p:blipFill>
        <p:spPr>
          <a:xfrm>
            <a:off x="6652080" y="3292560"/>
            <a:ext cx="835200" cy="918720"/>
          </a:xfrm>
          <a:prstGeom prst="rect">
            <a:avLst/>
          </a:prstGeom>
          <a:noFill/>
          <a:ln w="0">
            <a:noFill/>
          </a:ln>
        </p:spPr>
      </p:pic>
      <p:sp>
        <p:nvSpPr>
          <p:cNvPr id="758" name="フリーフォーム: 図形 757"/>
          <p:cNvSpPr/>
          <p:nvPr/>
        </p:nvSpPr>
        <p:spPr>
          <a:xfrm>
            <a:off x="4813200" y="1721160"/>
            <a:ext cx="1069920" cy="33840"/>
          </a:xfrm>
          <a:custGeom>
            <a:avLst/>
            <a:gdLst/>
            <a:ahLst/>
            <a:cxnLst/>
            <a:rect l="0" t="0" r="r" b="b"/>
            <a:pathLst>
              <a:path w="2972" h="94">
                <a:moveTo>
                  <a:pt x="0" y="0"/>
                </a:moveTo>
                <a:lnTo>
                  <a:pt x="2972" y="0"/>
                </a:lnTo>
                <a:lnTo>
                  <a:pt x="2972" y="94"/>
                </a:lnTo>
                <a:lnTo>
                  <a:pt x="0" y="94"/>
                </a:lnTo>
                <a:lnTo>
                  <a:pt x="0" y="0"/>
                </a:lnTo>
                <a:close/>
              </a:path>
            </a:pathLst>
          </a:custGeom>
          <a:solidFill>
            <a:srgbClr val="FF990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59" name="フリーフォーム: 図形 758"/>
          <p:cNvSpPr/>
          <p:nvPr/>
        </p:nvSpPr>
        <p:spPr>
          <a:xfrm>
            <a:off x="2540160" y="2089080"/>
            <a:ext cx="5616000" cy="2172960"/>
          </a:xfrm>
          <a:custGeom>
            <a:avLst/>
            <a:gdLst/>
            <a:ahLst/>
            <a:cxnLst/>
            <a:rect l="0" t="0" r="r" b="b"/>
            <a:pathLst>
              <a:path w="15600" h="6036">
                <a:moveTo>
                  <a:pt x="0" y="5758"/>
                </a:moveTo>
                <a:lnTo>
                  <a:pt x="0" y="278"/>
                </a:lnTo>
                <a:cubicBezTo>
                  <a:pt x="0" y="260"/>
                  <a:pt x="2" y="242"/>
                  <a:pt x="6" y="224"/>
                </a:cubicBezTo>
                <a:cubicBezTo>
                  <a:pt x="9" y="206"/>
                  <a:pt x="14" y="189"/>
                  <a:pt x="21" y="172"/>
                </a:cubicBezTo>
                <a:cubicBezTo>
                  <a:pt x="28" y="155"/>
                  <a:pt x="37" y="139"/>
                  <a:pt x="47" y="124"/>
                </a:cubicBezTo>
                <a:cubicBezTo>
                  <a:pt x="57" y="108"/>
                  <a:pt x="69" y="94"/>
                  <a:pt x="82" y="81"/>
                </a:cubicBezTo>
                <a:cubicBezTo>
                  <a:pt x="95" y="68"/>
                  <a:pt x="109" y="57"/>
                  <a:pt x="124" y="47"/>
                </a:cubicBezTo>
                <a:cubicBezTo>
                  <a:pt x="139" y="37"/>
                  <a:pt x="155" y="28"/>
                  <a:pt x="172" y="21"/>
                </a:cubicBezTo>
                <a:cubicBezTo>
                  <a:pt x="189" y="14"/>
                  <a:pt x="207" y="9"/>
                  <a:pt x="224" y="5"/>
                </a:cubicBezTo>
                <a:cubicBezTo>
                  <a:pt x="242" y="2"/>
                  <a:pt x="261" y="0"/>
                  <a:pt x="279" y="0"/>
                </a:cubicBezTo>
                <a:lnTo>
                  <a:pt x="15322" y="0"/>
                </a:lnTo>
                <a:cubicBezTo>
                  <a:pt x="15340" y="0"/>
                  <a:pt x="15358" y="2"/>
                  <a:pt x="15376" y="5"/>
                </a:cubicBezTo>
                <a:cubicBezTo>
                  <a:pt x="15394" y="9"/>
                  <a:pt x="15412" y="14"/>
                  <a:pt x="15428" y="21"/>
                </a:cubicBezTo>
                <a:cubicBezTo>
                  <a:pt x="15445" y="28"/>
                  <a:pt x="15461" y="37"/>
                  <a:pt x="15477" y="47"/>
                </a:cubicBezTo>
                <a:cubicBezTo>
                  <a:pt x="15492" y="57"/>
                  <a:pt x="15506" y="68"/>
                  <a:pt x="15519" y="81"/>
                </a:cubicBezTo>
                <a:cubicBezTo>
                  <a:pt x="15532" y="94"/>
                  <a:pt x="15543" y="108"/>
                  <a:pt x="15553" y="124"/>
                </a:cubicBezTo>
                <a:cubicBezTo>
                  <a:pt x="15564" y="139"/>
                  <a:pt x="15572" y="155"/>
                  <a:pt x="15579" y="172"/>
                </a:cubicBezTo>
                <a:cubicBezTo>
                  <a:pt x="15586" y="189"/>
                  <a:pt x="15592" y="206"/>
                  <a:pt x="15595" y="224"/>
                </a:cubicBezTo>
                <a:cubicBezTo>
                  <a:pt x="15599" y="242"/>
                  <a:pt x="15600" y="260"/>
                  <a:pt x="15600" y="278"/>
                </a:cubicBezTo>
                <a:lnTo>
                  <a:pt x="15600" y="5758"/>
                </a:lnTo>
                <a:cubicBezTo>
                  <a:pt x="15600" y="5776"/>
                  <a:pt x="15599" y="5794"/>
                  <a:pt x="15595" y="5812"/>
                </a:cubicBezTo>
                <a:cubicBezTo>
                  <a:pt x="15592" y="5830"/>
                  <a:pt x="15586" y="5847"/>
                  <a:pt x="15579" y="5864"/>
                </a:cubicBezTo>
                <a:cubicBezTo>
                  <a:pt x="15572" y="5881"/>
                  <a:pt x="15564" y="5897"/>
                  <a:pt x="15553" y="5912"/>
                </a:cubicBezTo>
                <a:cubicBezTo>
                  <a:pt x="15543" y="5928"/>
                  <a:pt x="15532" y="5942"/>
                  <a:pt x="15519" y="5955"/>
                </a:cubicBezTo>
                <a:cubicBezTo>
                  <a:pt x="15506" y="5968"/>
                  <a:pt x="15492" y="5979"/>
                  <a:pt x="15477" y="5989"/>
                </a:cubicBezTo>
                <a:cubicBezTo>
                  <a:pt x="15461" y="5999"/>
                  <a:pt x="15445" y="6008"/>
                  <a:pt x="15428" y="6015"/>
                </a:cubicBezTo>
                <a:cubicBezTo>
                  <a:pt x="15412" y="6022"/>
                  <a:pt x="15394" y="6027"/>
                  <a:pt x="15376" y="6031"/>
                </a:cubicBezTo>
                <a:cubicBezTo>
                  <a:pt x="15358" y="6034"/>
                  <a:pt x="15340" y="6036"/>
                  <a:pt x="15322" y="6036"/>
                </a:cubicBezTo>
                <a:lnTo>
                  <a:pt x="279" y="6036"/>
                </a:lnTo>
                <a:cubicBezTo>
                  <a:pt x="261" y="6036"/>
                  <a:pt x="242" y="6034"/>
                  <a:pt x="224" y="6031"/>
                </a:cubicBezTo>
                <a:cubicBezTo>
                  <a:pt x="207" y="6027"/>
                  <a:pt x="189" y="6022"/>
                  <a:pt x="172" y="6015"/>
                </a:cubicBezTo>
                <a:cubicBezTo>
                  <a:pt x="155" y="6008"/>
                  <a:pt x="139" y="5999"/>
                  <a:pt x="124" y="5989"/>
                </a:cubicBezTo>
                <a:cubicBezTo>
                  <a:pt x="109" y="5979"/>
                  <a:pt x="95" y="5968"/>
                  <a:pt x="82" y="5955"/>
                </a:cubicBezTo>
                <a:cubicBezTo>
                  <a:pt x="69" y="5942"/>
                  <a:pt x="57" y="5928"/>
                  <a:pt x="47" y="5912"/>
                </a:cubicBezTo>
                <a:cubicBezTo>
                  <a:pt x="37" y="5897"/>
                  <a:pt x="28" y="5881"/>
                  <a:pt x="21" y="5864"/>
                </a:cubicBezTo>
                <a:cubicBezTo>
                  <a:pt x="14" y="5847"/>
                  <a:pt x="9" y="5830"/>
                  <a:pt x="6" y="5812"/>
                </a:cubicBezTo>
                <a:cubicBezTo>
                  <a:pt x="2" y="5794"/>
                  <a:pt x="0" y="5776"/>
                  <a:pt x="0" y="5758"/>
                </a:cubicBezTo>
                <a:close/>
              </a:path>
            </a:pathLst>
          </a:custGeom>
          <a:solidFill>
            <a:srgbClr val="FFFFFF">
              <a:alpha val="8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60" name="図 759"/>
          <p:cNvPicPr/>
          <p:nvPr/>
        </p:nvPicPr>
        <p:blipFill>
          <a:blip r:embed="rId8"/>
          <a:stretch/>
        </p:blipFill>
        <p:spPr>
          <a:xfrm>
            <a:off x="3760560" y="2381760"/>
            <a:ext cx="317160" cy="250200"/>
          </a:xfrm>
          <a:prstGeom prst="rect">
            <a:avLst/>
          </a:prstGeom>
          <a:noFill/>
          <a:ln w="0">
            <a:noFill/>
          </a:ln>
        </p:spPr>
      </p:pic>
      <p:sp>
        <p:nvSpPr>
          <p:cNvPr id="761" name="テキスト ボックス 760"/>
          <p:cNvSpPr txBox="1"/>
          <p:nvPr/>
        </p:nvSpPr>
        <p:spPr>
          <a:xfrm>
            <a:off x="1662840" y="888480"/>
            <a:ext cx="7020360" cy="727200"/>
          </a:xfrm>
          <a:prstGeom prst="rect">
            <a:avLst/>
          </a:prstGeom>
          <a:noFill/>
          <a:ln w="0">
            <a:noFill/>
          </a:ln>
        </p:spPr>
        <p:txBody>
          <a:bodyPr wrap="none" lIns="0" tIns="0" rIns="0" bIns="0" anchor="t">
            <a:spAutoFit/>
          </a:bodyPr>
          <a:lstStyle/>
          <a:p>
            <a:r>
              <a:rPr lang="zh-CN" sz="3950" b="0" u="none" strike="noStrike">
                <a:solidFill>
                  <a:srgbClr val="003366"/>
                </a:solidFill>
                <a:effectLst/>
                <a:uFillTx/>
                <a:latin typeface="NotoSansJP"/>
                <a:ea typeface="NotoSansJP"/>
              </a:rPr>
              <a:t>ご清聴ありがとうございました</a:t>
            </a:r>
            <a:endParaRPr lang="en-US" sz="3950" b="0" u="none" strike="noStrike">
              <a:solidFill>
                <a:srgbClr val="000000"/>
              </a:solidFill>
              <a:effectLst/>
              <a:uFillTx/>
              <a:latin typeface="Times New Roman"/>
            </a:endParaRPr>
          </a:p>
        </p:txBody>
      </p:sp>
      <p:sp>
        <p:nvSpPr>
          <p:cNvPr id="762" name="フリーフォーム: 図形 761"/>
          <p:cNvSpPr/>
          <p:nvPr/>
        </p:nvSpPr>
        <p:spPr>
          <a:xfrm>
            <a:off x="3242160" y="2891160"/>
            <a:ext cx="401400" cy="401400"/>
          </a:xfrm>
          <a:custGeom>
            <a:avLst/>
            <a:gdLst/>
            <a:ahLst/>
            <a:cxnLst/>
            <a:rect l="0" t="0" r="r" b="b"/>
            <a:pathLst>
              <a:path w="1115" h="1115">
                <a:moveTo>
                  <a:pt x="1115" y="558"/>
                </a:moveTo>
                <a:cubicBezTo>
                  <a:pt x="1115" y="595"/>
                  <a:pt x="1112" y="631"/>
                  <a:pt x="1105" y="667"/>
                </a:cubicBezTo>
                <a:cubicBezTo>
                  <a:pt x="1098" y="703"/>
                  <a:pt x="1087" y="738"/>
                  <a:pt x="1073" y="772"/>
                </a:cubicBezTo>
                <a:cubicBezTo>
                  <a:pt x="1059" y="805"/>
                  <a:pt x="1042" y="837"/>
                  <a:pt x="1022" y="868"/>
                </a:cubicBezTo>
                <a:cubicBezTo>
                  <a:pt x="1001" y="898"/>
                  <a:pt x="978" y="926"/>
                  <a:pt x="952" y="952"/>
                </a:cubicBezTo>
                <a:cubicBezTo>
                  <a:pt x="926" y="978"/>
                  <a:pt x="898" y="1001"/>
                  <a:pt x="868" y="1022"/>
                </a:cubicBezTo>
                <a:cubicBezTo>
                  <a:pt x="837" y="1042"/>
                  <a:pt x="805" y="1059"/>
                  <a:pt x="771" y="1073"/>
                </a:cubicBezTo>
                <a:cubicBezTo>
                  <a:pt x="738" y="1087"/>
                  <a:pt x="703" y="1098"/>
                  <a:pt x="667" y="1105"/>
                </a:cubicBezTo>
                <a:cubicBezTo>
                  <a:pt x="631" y="1112"/>
                  <a:pt x="595" y="1115"/>
                  <a:pt x="558" y="1115"/>
                </a:cubicBezTo>
                <a:cubicBezTo>
                  <a:pt x="522" y="1115"/>
                  <a:pt x="485" y="1112"/>
                  <a:pt x="449" y="1105"/>
                </a:cubicBezTo>
                <a:cubicBezTo>
                  <a:pt x="413" y="1098"/>
                  <a:pt x="378" y="1087"/>
                  <a:pt x="344" y="1073"/>
                </a:cubicBezTo>
                <a:cubicBezTo>
                  <a:pt x="310" y="1059"/>
                  <a:pt x="278" y="1042"/>
                  <a:pt x="248" y="1022"/>
                </a:cubicBezTo>
                <a:cubicBezTo>
                  <a:pt x="217" y="1001"/>
                  <a:pt x="189" y="978"/>
                  <a:pt x="163" y="952"/>
                </a:cubicBezTo>
                <a:cubicBezTo>
                  <a:pt x="137" y="926"/>
                  <a:pt x="114" y="898"/>
                  <a:pt x="94" y="868"/>
                </a:cubicBezTo>
                <a:cubicBezTo>
                  <a:pt x="74" y="837"/>
                  <a:pt x="57" y="805"/>
                  <a:pt x="43" y="772"/>
                </a:cubicBezTo>
                <a:cubicBezTo>
                  <a:pt x="29" y="738"/>
                  <a:pt x="18" y="703"/>
                  <a:pt x="11" y="667"/>
                </a:cubicBezTo>
                <a:cubicBezTo>
                  <a:pt x="4" y="631"/>
                  <a:pt x="0" y="595"/>
                  <a:pt x="0" y="558"/>
                </a:cubicBezTo>
                <a:cubicBezTo>
                  <a:pt x="0" y="522"/>
                  <a:pt x="4" y="486"/>
                  <a:pt x="11" y="450"/>
                </a:cubicBezTo>
                <a:cubicBezTo>
                  <a:pt x="18" y="414"/>
                  <a:pt x="29" y="379"/>
                  <a:pt x="43" y="345"/>
                </a:cubicBezTo>
                <a:cubicBezTo>
                  <a:pt x="57" y="310"/>
                  <a:pt x="74" y="278"/>
                  <a:pt x="94" y="248"/>
                </a:cubicBezTo>
                <a:cubicBezTo>
                  <a:pt x="114" y="217"/>
                  <a:pt x="137" y="189"/>
                  <a:pt x="163" y="163"/>
                </a:cubicBezTo>
                <a:cubicBezTo>
                  <a:pt x="189" y="138"/>
                  <a:pt x="217" y="114"/>
                  <a:pt x="248" y="94"/>
                </a:cubicBezTo>
                <a:cubicBezTo>
                  <a:pt x="278" y="74"/>
                  <a:pt x="310" y="57"/>
                  <a:pt x="344" y="43"/>
                </a:cubicBezTo>
                <a:cubicBezTo>
                  <a:pt x="378" y="29"/>
                  <a:pt x="413" y="18"/>
                  <a:pt x="449" y="11"/>
                </a:cubicBezTo>
                <a:cubicBezTo>
                  <a:pt x="485" y="4"/>
                  <a:pt x="522" y="0"/>
                  <a:pt x="558" y="0"/>
                </a:cubicBezTo>
                <a:cubicBezTo>
                  <a:pt x="595" y="0"/>
                  <a:pt x="631" y="4"/>
                  <a:pt x="667" y="11"/>
                </a:cubicBezTo>
                <a:cubicBezTo>
                  <a:pt x="703" y="18"/>
                  <a:pt x="738" y="29"/>
                  <a:pt x="771" y="43"/>
                </a:cubicBezTo>
                <a:cubicBezTo>
                  <a:pt x="805" y="57"/>
                  <a:pt x="837" y="74"/>
                  <a:pt x="868" y="94"/>
                </a:cubicBezTo>
                <a:cubicBezTo>
                  <a:pt x="898" y="114"/>
                  <a:pt x="926" y="138"/>
                  <a:pt x="952" y="163"/>
                </a:cubicBezTo>
                <a:cubicBezTo>
                  <a:pt x="978" y="189"/>
                  <a:pt x="1001" y="217"/>
                  <a:pt x="1022" y="248"/>
                </a:cubicBezTo>
                <a:cubicBezTo>
                  <a:pt x="1042" y="278"/>
                  <a:pt x="1059" y="310"/>
                  <a:pt x="1073" y="345"/>
                </a:cubicBezTo>
                <a:cubicBezTo>
                  <a:pt x="1087" y="379"/>
                  <a:pt x="1098" y="414"/>
                  <a:pt x="1105" y="450"/>
                </a:cubicBezTo>
                <a:cubicBezTo>
                  <a:pt x="1112" y="486"/>
                  <a:pt x="1115" y="522"/>
                  <a:pt x="1115" y="558"/>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763" name="図 762"/>
          <p:cNvPicPr/>
          <p:nvPr/>
        </p:nvPicPr>
        <p:blipFill>
          <a:blip r:embed="rId9"/>
          <a:stretch/>
        </p:blipFill>
        <p:spPr>
          <a:xfrm>
            <a:off x="3359520" y="3008520"/>
            <a:ext cx="166680" cy="166680"/>
          </a:xfrm>
          <a:prstGeom prst="rect">
            <a:avLst/>
          </a:prstGeom>
          <a:noFill/>
          <a:ln w="0">
            <a:noFill/>
          </a:ln>
        </p:spPr>
      </p:pic>
      <p:sp>
        <p:nvSpPr>
          <p:cNvPr id="764" name="テキスト ボックス 763"/>
          <p:cNvSpPr txBox="1"/>
          <p:nvPr/>
        </p:nvSpPr>
        <p:spPr>
          <a:xfrm>
            <a:off x="4178520" y="2382840"/>
            <a:ext cx="2766960" cy="364680"/>
          </a:xfrm>
          <a:prstGeom prst="rect">
            <a:avLst/>
          </a:prstGeom>
          <a:noFill/>
          <a:ln w="0">
            <a:noFill/>
          </a:ln>
        </p:spPr>
        <p:txBody>
          <a:bodyPr wrap="none" lIns="0" tIns="0" rIns="0" bIns="0" anchor="t">
            <a:spAutoFit/>
          </a:bodyPr>
          <a:lstStyle/>
          <a:p>
            <a:r>
              <a:rPr lang="zh-CN" sz="1979" b="0" u="none" strike="noStrike">
                <a:solidFill>
                  <a:srgbClr val="003366"/>
                </a:solidFill>
                <a:effectLst/>
                <a:uFillTx/>
                <a:latin typeface="NotoSansJP"/>
                <a:ea typeface="NotoSansJP"/>
              </a:rPr>
              <a:t>ご質問がございましたら</a:t>
            </a:r>
            <a:endParaRPr lang="en-US" sz="1979" b="0" u="none" strike="noStrike">
              <a:solidFill>
                <a:srgbClr val="000000"/>
              </a:solidFill>
              <a:effectLst/>
              <a:uFillTx/>
              <a:latin typeface="Times New Roman"/>
            </a:endParaRPr>
          </a:p>
        </p:txBody>
      </p:sp>
      <p:sp>
        <p:nvSpPr>
          <p:cNvPr id="765" name="テキスト ボックス 764"/>
          <p:cNvSpPr txBox="1"/>
          <p:nvPr/>
        </p:nvSpPr>
        <p:spPr>
          <a:xfrm>
            <a:off x="3777120" y="2886840"/>
            <a:ext cx="3688920" cy="244080"/>
          </a:xfrm>
          <a:prstGeom prst="rect">
            <a:avLst/>
          </a:prstGeom>
          <a:noFill/>
          <a:ln w="0">
            <a:noFill/>
          </a:ln>
        </p:spPr>
        <p:txBody>
          <a:bodyPr wrap="none" lIns="0" tIns="0" rIns="0" bIns="0" anchor="t">
            <a:spAutoFit/>
          </a:bodyPr>
          <a:lstStyle/>
          <a:p>
            <a:r>
              <a:rPr lang="zh-CN" sz="1320" b="0" u="none" strike="noStrike">
                <a:solidFill>
                  <a:srgbClr val="374151"/>
                </a:solidFill>
                <a:effectLst/>
                <a:uFillTx/>
                <a:latin typeface="NotoSansJP"/>
                <a:ea typeface="NotoSansJP"/>
              </a:rPr>
              <a:t>銅フタロシアニンを用いたガス検知技術に関する</a:t>
            </a:r>
            <a:endParaRPr lang="en-US" sz="1320" b="0" u="none" strike="noStrike">
              <a:solidFill>
                <a:srgbClr val="000000"/>
              </a:solidFill>
              <a:effectLst/>
              <a:uFillTx/>
              <a:latin typeface="Times New Roman"/>
            </a:endParaRPr>
          </a:p>
        </p:txBody>
      </p:sp>
      <p:sp>
        <p:nvSpPr>
          <p:cNvPr id="766" name="フリーフォーム: 図形 765"/>
          <p:cNvSpPr/>
          <p:nvPr/>
        </p:nvSpPr>
        <p:spPr>
          <a:xfrm>
            <a:off x="3918960" y="3559680"/>
            <a:ext cx="401760" cy="401400"/>
          </a:xfrm>
          <a:custGeom>
            <a:avLst/>
            <a:gdLst/>
            <a:ahLst/>
            <a:cxnLst/>
            <a:rect l="0" t="0" r="r" b="b"/>
            <a:pathLst>
              <a:path w="1116" h="1115">
                <a:moveTo>
                  <a:pt x="1116" y="557"/>
                </a:moveTo>
                <a:cubicBezTo>
                  <a:pt x="1116" y="594"/>
                  <a:pt x="1112" y="630"/>
                  <a:pt x="1105" y="666"/>
                </a:cubicBezTo>
                <a:cubicBezTo>
                  <a:pt x="1098" y="703"/>
                  <a:pt x="1087" y="738"/>
                  <a:pt x="1073" y="772"/>
                </a:cubicBezTo>
                <a:cubicBezTo>
                  <a:pt x="1059" y="805"/>
                  <a:pt x="1042" y="837"/>
                  <a:pt x="1022" y="868"/>
                </a:cubicBezTo>
                <a:cubicBezTo>
                  <a:pt x="1001" y="898"/>
                  <a:pt x="978" y="926"/>
                  <a:pt x="952" y="952"/>
                </a:cubicBezTo>
                <a:cubicBezTo>
                  <a:pt x="927" y="978"/>
                  <a:pt x="898" y="1001"/>
                  <a:pt x="868" y="1022"/>
                </a:cubicBezTo>
                <a:cubicBezTo>
                  <a:pt x="838" y="1042"/>
                  <a:pt x="805" y="1059"/>
                  <a:pt x="771" y="1073"/>
                </a:cubicBezTo>
                <a:cubicBezTo>
                  <a:pt x="737" y="1087"/>
                  <a:pt x="702" y="1098"/>
                  <a:pt x="666" y="1105"/>
                </a:cubicBezTo>
                <a:cubicBezTo>
                  <a:pt x="630" y="1112"/>
                  <a:pt x="594" y="1115"/>
                  <a:pt x="558" y="1115"/>
                </a:cubicBezTo>
                <a:cubicBezTo>
                  <a:pt x="521" y="1115"/>
                  <a:pt x="485" y="1112"/>
                  <a:pt x="449" y="1105"/>
                </a:cubicBezTo>
                <a:cubicBezTo>
                  <a:pt x="413" y="1098"/>
                  <a:pt x="378" y="1087"/>
                  <a:pt x="344" y="1073"/>
                </a:cubicBezTo>
                <a:cubicBezTo>
                  <a:pt x="311" y="1059"/>
                  <a:pt x="278" y="1042"/>
                  <a:pt x="248" y="1022"/>
                </a:cubicBezTo>
                <a:cubicBezTo>
                  <a:pt x="218" y="1001"/>
                  <a:pt x="189" y="978"/>
                  <a:pt x="164" y="952"/>
                </a:cubicBezTo>
                <a:cubicBezTo>
                  <a:pt x="138" y="926"/>
                  <a:pt x="115" y="898"/>
                  <a:pt x="94" y="868"/>
                </a:cubicBezTo>
                <a:cubicBezTo>
                  <a:pt x="74" y="837"/>
                  <a:pt x="57" y="805"/>
                  <a:pt x="43" y="772"/>
                </a:cubicBezTo>
                <a:cubicBezTo>
                  <a:pt x="29" y="738"/>
                  <a:pt x="18" y="703"/>
                  <a:pt x="11" y="666"/>
                </a:cubicBezTo>
                <a:cubicBezTo>
                  <a:pt x="4" y="630"/>
                  <a:pt x="0" y="594"/>
                  <a:pt x="0" y="557"/>
                </a:cubicBezTo>
                <a:cubicBezTo>
                  <a:pt x="0" y="521"/>
                  <a:pt x="4" y="485"/>
                  <a:pt x="11" y="449"/>
                </a:cubicBezTo>
                <a:cubicBezTo>
                  <a:pt x="18" y="413"/>
                  <a:pt x="29" y="378"/>
                  <a:pt x="43" y="344"/>
                </a:cubicBezTo>
                <a:cubicBezTo>
                  <a:pt x="57" y="310"/>
                  <a:pt x="74" y="278"/>
                  <a:pt x="94" y="248"/>
                </a:cubicBezTo>
                <a:cubicBezTo>
                  <a:pt x="115" y="217"/>
                  <a:pt x="138" y="189"/>
                  <a:pt x="164" y="163"/>
                </a:cubicBezTo>
                <a:cubicBezTo>
                  <a:pt x="189" y="138"/>
                  <a:pt x="218" y="114"/>
                  <a:pt x="248" y="94"/>
                </a:cubicBezTo>
                <a:cubicBezTo>
                  <a:pt x="278" y="74"/>
                  <a:pt x="311" y="57"/>
                  <a:pt x="344" y="43"/>
                </a:cubicBezTo>
                <a:cubicBezTo>
                  <a:pt x="378" y="29"/>
                  <a:pt x="413" y="18"/>
                  <a:pt x="449" y="11"/>
                </a:cubicBezTo>
                <a:cubicBezTo>
                  <a:pt x="485" y="4"/>
                  <a:pt x="521" y="0"/>
                  <a:pt x="558" y="0"/>
                </a:cubicBezTo>
                <a:cubicBezTo>
                  <a:pt x="594" y="0"/>
                  <a:pt x="630" y="4"/>
                  <a:pt x="666" y="11"/>
                </a:cubicBezTo>
                <a:cubicBezTo>
                  <a:pt x="702" y="18"/>
                  <a:pt x="737" y="29"/>
                  <a:pt x="771" y="43"/>
                </a:cubicBezTo>
                <a:cubicBezTo>
                  <a:pt x="805" y="57"/>
                  <a:pt x="838" y="74"/>
                  <a:pt x="868" y="94"/>
                </a:cubicBezTo>
                <a:cubicBezTo>
                  <a:pt x="898" y="114"/>
                  <a:pt x="927" y="138"/>
                  <a:pt x="952" y="163"/>
                </a:cubicBezTo>
                <a:cubicBezTo>
                  <a:pt x="978" y="189"/>
                  <a:pt x="1001" y="217"/>
                  <a:pt x="1022" y="248"/>
                </a:cubicBezTo>
                <a:cubicBezTo>
                  <a:pt x="1042" y="278"/>
                  <a:pt x="1059" y="310"/>
                  <a:pt x="1073" y="344"/>
                </a:cubicBezTo>
                <a:cubicBezTo>
                  <a:pt x="1087" y="378"/>
                  <a:pt x="1098" y="413"/>
                  <a:pt x="1105" y="449"/>
                </a:cubicBezTo>
                <a:cubicBezTo>
                  <a:pt x="1112" y="485"/>
                  <a:pt x="1116" y="521"/>
                  <a:pt x="1116" y="557"/>
                </a:cubicBezTo>
                <a:close/>
              </a:path>
            </a:pathLst>
          </a:custGeom>
          <a:solidFill>
            <a:srgbClr val="66CC9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67" name="図 766"/>
          <p:cNvPicPr/>
          <p:nvPr/>
        </p:nvPicPr>
        <p:blipFill>
          <a:blip r:embed="rId10"/>
          <a:stretch/>
        </p:blipFill>
        <p:spPr>
          <a:xfrm>
            <a:off x="4044600" y="3677040"/>
            <a:ext cx="150120" cy="166680"/>
          </a:xfrm>
          <a:prstGeom prst="rect">
            <a:avLst/>
          </a:prstGeom>
          <a:noFill/>
          <a:ln w="0">
            <a:noFill/>
          </a:ln>
        </p:spPr>
      </p:pic>
      <p:sp>
        <p:nvSpPr>
          <p:cNvPr id="768" name="テキスト ボックス 767"/>
          <p:cNvSpPr txBox="1"/>
          <p:nvPr/>
        </p:nvSpPr>
        <p:spPr>
          <a:xfrm>
            <a:off x="3777120" y="3120840"/>
            <a:ext cx="2012400" cy="244080"/>
          </a:xfrm>
          <a:prstGeom prst="rect">
            <a:avLst/>
          </a:prstGeom>
          <a:noFill/>
          <a:ln w="0">
            <a:noFill/>
          </a:ln>
        </p:spPr>
        <p:txBody>
          <a:bodyPr wrap="none" lIns="0" tIns="0" rIns="0" bIns="0" anchor="t">
            <a:spAutoFit/>
          </a:bodyPr>
          <a:lstStyle/>
          <a:p>
            <a:r>
              <a:rPr lang="zh-CN" sz="1320" b="0" u="none" strike="noStrike">
                <a:solidFill>
                  <a:srgbClr val="374151"/>
                </a:solidFill>
                <a:effectLst/>
                <a:uFillTx/>
                <a:latin typeface="NotoSansJP"/>
                <a:ea typeface="NotoSansJP"/>
              </a:rPr>
              <a:t>ご質問をお受けいたします</a:t>
            </a:r>
            <a:endParaRPr lang="en-US" sz="1320" b="0" u="none" strike="noStrike">
              <a:solidFill>
                <a:srgbClr val="000000"/>
              </a:solidFill>
              <a:effectLst/>
              <a:uFillTx/>
              <a:latin typeface="Times New Roman"/>
            </a:endParaRPr>
          </a:p>
        </p:txBody>
      </p:sp>
      <p:sp>
        <p:nvSpPr>
          <p:cNvPr id="769" name="テキスト ボックス 768"/>
          <p:cNvSpPr txBox="1"/>
          <p:nvPr/>
        </p:nvSpPr>
        <p:spPr>
          <a:xfrm>
            <a:off x="4454280" y="3555360"/>
            <a:ext cx="2347560" cy="244080"/>
          </a:xfrm>
          <a:prstGeom prst="rect">
            <a:avLst/>
          </a:prstGeom>
          <a:noFill/>
          <a:ln w="0">
            <a:noFill/>
          </a:ln>
        </p:spPr>
        <p:txBody>
          <a:bodyPr wrap="none" lIns="0" tIns="0" rIns="0" bIns="0" anchor="t">
            <a:spAutoFit/>
          </a:bodyPr>
          <a:lstStyle/>
          <a:p>
            <a:r>
              <a:rPr lang="zh-CN" sz="1320" b="0" u="none" strike="noStrike">
                <a:solidFill>
                  <a:srgbClr val="374151"/>
                </a:solidFill>
                <a:effectLst/>
                <a:uFillTx/>
                <a:latin typeface="NotoSansJP"/>
                <a:ea typeface="NotoSansJP"/>
              </a:rPr>
              <a:t>研究手法や実験結果についても</a:t>
            </a:r>
            <a:endParaRPr lang="en-US" sz="1320" b="0" u="none" strike="noStrike">
              <a:solidFill>
                <a:srgbClr val="000000"/>
              </a:solidFill>
              <a:effectLst/>
              <a:uFillTx/>
              <a:latin typeface="Times New Roman"/>
            </a:endParaRPr>
          </a:p>
        </p:txBody>
      </p:sp>
      <p:sp>
        <p:nvSpPr>
          <p:cNvPr id="770" name="テキスト ボックス 769"/>
          <p:cNvSpPr txBox="1"/>
          <p:nvPr/>
        </p:nvSpPr>
        <p:spPr>
          <a:xfrm>
            <a:off x="4454280" y="3789360"/>
            <a:ext cx="2012400" cy="244080"/>
          </a:xfrm>
          <a:prstGeom prst="rect">
            <a:avLst/>
          </a:prstGeom>
          <a:noFill/>
          <a:ln w="0">
            <a:noFill/>
          </a:ln>
        </p:spPr>
        <p:txBody>
          <a:bodyPr wrap="none" lIns="0" tIns="0" rIns="0" bIns="0" anchor="t">
            <a:spAutoFit/>
          </a:bodyPr>
          <a:lstStyle/>
          <a:p>
            <a:r>
              <a:rPr lang="zh-CN" sz="1320" b="0" u="none" strike="noStrike">
                <a:solidFill>
                  <a:srgbClr val="374151"/>
                </a:solidFill>
                <a:effectLst/>
                <a:uFillTx/>
                <a:latin typeface="NotoSansJP"/>
                <a:ea typeface="NotoSansJP"/>
              </a:rPr>
              <a:t>ご説明させていただきます</a:t>
            </a:r>
            <a:endParaRPr lang="en-US" sz="1320" b="0" u="none" strike="noStrike">
              <a:solidFill>
                <a:srgbClr val="000000"/>
              </a:solidFill>
              <a:effectLst/>
              <a:uFillTx/>
              <a:latin typeface="Times New Roman"/>
            </a:endParaRPr>
          </a:p>
        </p:txBody>
      </p:sp>
      <p:pic>
        <p:nvPicPr>
          <p:cNvPr id="771" name="図 770"/>
          <p:cNvPicPr/>
          <p:nvPr/>
        </p:nvPicPr>
        <p:blipFill>
          <a:blip r:embed="rId11"/>
          <a:stretch/>
        </p:blipFill>
        <p:spPr>
          <a:xfrm>
            <a:off x="4938840" y="4938840"/>
            <a:ext cx="150120" cy="150120"/>
          </a:xfrm>
          <a:prstGeom prst="rect">
            <a:avLst/>
          </a:prstGeom>
          <a:noFill/>
          <a:ln w="0">
            <a:noFill/>
          </a:ln>
        </p:spPr>
      </p:pic>
      <p:sp>
        <p:nvSpPr>
          <p:cNvPr id="772" name="テキスト ボックス 771"/>
          <p:cNvSpPr txBox="1"/>
          <p:nvPr/>
        </p:nvSpPr>
        <p:spPr>
          <a:xfrm>
            <a:off x="4262040" y="4640400"/>
            <a:ext cx="2267280" cy="219960"/>
          </a:xfrm>
          <a:prstGeom prst="rect">
            <a:avLst/>
          </a:prstGeom>
          <a:noFill/>
          <a:ln w="0">
            <a:noFill/>
          </a:ln>
        </p:spPr>
        <p:txBody>
          <a:bodyPr wrap="none" lIns="0" tIns="0" rIns="0" bIns="0" anchor="t">
            <a:spAutoFit/>
          </a:bodyPr>
          <a:lstStyle/>
          <a:p>
            <a:r>
              <a:rPr lang="zh-CN" sz="1180" b="0" u="none" strike="noStrike">
                <a:solidFill>
                  <a:srgbClr val="374151"/>
                </a:solidFill>
                <a:effectLst/>
                <a:uFillTx/>
                <a:latin typeface="NotoSansJP"/>
                <a:ea typeface="NotoSansJP"/>
              </a:rPr>
              <a:t>田中悠貴</a:t>
            </a:r>
            <a:r>
              <a:rPr lang="en-US" sz="1180" b="0" u="none" strike="noStrike">
                <a:solidFill>
                  <a:srgbClr val="374151"/>
                </a:solidFill>
                <a:effectLst/>
                <a:uFillTx/>
                <a:latin typeface="NotoSansJP"/>
                <a:ea typeface="NotoSansJP"/>
              </a:rPr>
              <a:t>*</a:t>
            </a:r>
            <a:r>
              <a:rPr lang="zh-CN" sz="1180" b="0" u="none" strike="noStrike">
                <a:solidFill>
                  <a:srgbClr val="374151"/>
                </a:solidFill>
                <a:effectLst/>
                <a:uFillTx/>
                <a:latin typeface="NotoSansJP"/>
                <a:ea typeface="NotoSansJP"/>
              </a:rPr>
              <a:t>，梶山晴生，佐伯勝敏</a:t>
            </a:r>
            <a:endParaRPr lang="en-US" sz="1180" b="0" u="none" strike="noStrike">
              <a:solidFill>
                <a:srgbClr val="000000"/>
              </a:solidFill>
              <a:effectLst/>
              <a:uFillTx/>
              <a:latin typeface="Times New Roman"/>
            </a:endParaRPr>
          </a:p>
        </p:txBody>
      </p:sp>
      <p:sp>
        <p:nvSpPr>
          <p:cNvPr id="773" name="テキスト ボックス 772"/>
          <p:cNvSpPr txBox="1"/>
          <p:nvPr/>
        </p:nvSpPr>
        <p:spPr>
          <a:xfrm>
            <a:off x="5155920" y="4941360"/>
            <a:ext cx="604080" cy="219960"/>
          </a:xfrm>
          <a:prstGeom prst="rect">
            <a:avLst/>
          </a:prstGeom>
          <a:noFill/>
          <a:ln w="0">
            <a:noFill/>
          </a:ln>
        </p:spPr>
        <p:txBody>
          <a:bodyPr wrap="none" lIns="0" tIns="0" rIns="0" bIns="0" anchor="t">
            <a:spAutoFit/>
          </a:bodyPr>
          <a:lstStyle/>
          <a:p>
            <a:r>
              <a:rPr lang="zh-CN" sz="1180" b="0" u="none" strike="noStrike">
                <a:solidFill>
                  <a:srgbClr val="374151"/>
                </a:solidFill>
                <a:effectLst/>
                <a:uFillTx/>
                <a:latin typeface="NotoSansJP"/>
                <a:ea typeface="NotoSansJP"/>
              </a:rPr>
              <a:t>日本大学</a:t>
            </a:r>
            <a:endParaRPr lang="en-US" sz="118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1798</Words>
  <Application>Microsoft Office PowerPoint</Application>
  <PresentationFormat>ユーザー設定</PresentationFormat>
  <Paragraphs>321</Paragraphs>
  <Slides>17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NotoSansJP</vt:lpstr>
      <vt:lpstr>WenQuanYiZenHei</vt:lpstr>
      <vt:lpstr>Arial</vt:lpstr>
      <vt:lpstr>Symbol</vt:lpstr>
      <vt:lpstr>Times New Roman</vt:lpstr>
      <vt:lpstr>Wingdings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田中悠貴</dc:creator>
  <cp:lastModifiedBy>悠貴 田中</cp:lastModifiedBy>
  <cp:revision>1</cp:revision>
  <dcterms:modified xsi:type="dcterms:W3CDTF">2025-06-18T01:59:40Z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