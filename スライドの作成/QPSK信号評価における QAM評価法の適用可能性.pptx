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704513" cy="601704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34960" y="281880"/>
            <a:ext cx="9633240" cy="11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34960" y="1654200"/>
            <a:ext cx="9633240" cy="4100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0.png"/><Relationship Id="rId10" Type="http://schemas.openxmlformats.org/officeDocument/2006/relationships/image" Target="../media/image30.png"/><Relationship Id="rId11" Type="http://schemas.openxmlformats.org/officeDocument/2006/relationships/image" Target="../media/image30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Relationship Id="rId14" Type="http://schemas.openxmlformats.org/officeDocument/2006/relationships/image" Target="../media/image34.png"/><Relationship Id="rId15" Type="http://schemas.openxmlformats.org/officeDocument/2006/relationships/image" Target="../media/image35.png"/><Relationship Id="rId16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6.png"/><Relationship Id="rId3" Type="http://schemas.openxmlformats.org/officeDocument/2006/relationships/image" Target="../media/image36.png"/><Relationship Id="rId4" Type="http://schemas.openxmlformats.org/officeDocument/2006/relationships/image" Target="../media/image36.png"/><Relationship Id="rId5" Type="http://schemas.openxmlformats.org/officeDocument/2006/relationships/image" Target="../media/image1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4.png"/><Relationship Id="rId13" Type="http://schemas.openxmlformats.org/officeDocument/2006/relationships/image" Target="../media/image57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60.png"/><Relationship Id="rId17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2.png"/><Relationship Id="rId8" Type="http://schemas.openxmlformats.org/officeDocument/2006/relationships/image" Target="../media/image62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6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61.png"/><Relationship Id="rId16" Type="http://schemas.openxmlformats.org/officeDocument/2006/relationships/image" Target="../media/image70.png"/><Relationship Id="rId17" Type="http://schemas.openxmlformats.org/officeDocument/2006/relationships/image" Target="../media/image71.png"/><Relationship Id="rId18" Type="http://schemas.openxmlformats.org/officeDocument/2006/relationships/image" Target="../media/image57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3.png"/><Relationship Id="rId22" Type="http://schemas.openxmlformats.org/officeDocument/2006/relationships/image" Target="../media/image73.png"/><Relationship Id="rId23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Relationship Id="rId9" Type="http://schemas.openxmlformats.org/officeDocument/2006/relationships/image" Target="../media/image81.png"/><Relationship Id="rId10" Type="http://schemas.openxmlformats.org/officeDocument/2006/relationships/image" Target="../media/image82.png"/><Relationship Id="rId11" Type="http://schemas.openxmlformats.org/officeDocument/2006/relationships/image" Target="../media/image83.png"/><Relationship Id="rId12" Type="http://schemas.openxmlformats.org/officeDocument/2006/relationships/image" Target="../media/image82.png"/><Relationship Id="rId13" Type="http://schemas.openxmlformats.org/officeDocument/2006/relationships/image" Target="../media/image84.png"/><Relationship Id="rId14" Type="http://schemas.openxmlformats.org/officeDocument/2006/relationships/image" Target="../media/image85.png"/><Relationship Id="rId15" Type="http://schemas.openxmlformats.org/officeDocument/2006/relationships/image" Target="../media/image86.png"/><Relationship Id="rId16" Type="http://schemas.openxmlformats.org/officeDocument/2006/relationships/image" Target="../media/image87.png"/><Relationship Id="rId17" Type="http://schemas.openxmlformats.org/officeDocument/2006/relationships/image" Target="../media/image88.png"/><Relationship Id="rId18" Type="http://schemas.openxmlformats.org/officeDocument/2006/relationships/image" Target="../media/image89.png"/><Relationship Id="rId19" Type="http://schemas.openxmlformats.org/officeDocument/2006/relationships/image" Target="../media/image87.png"/><Relationship Id="rId20" Type="http://schemas.openxmlformats.org/officeDocument/2006/relationships/image" Target="../media/image90.png"/><Relationship Id="rId21" Type="http://schemas.openxmlformats.org/officeDocument/2006/relationships/image" Target="../media/image87.png"/><Relationship Id="rId22" Type="http://schemas.openxmlformats.org/officeDocument/2006/relationships/image" Target="../media/image91.png"/><Relationship Id="rId23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5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103.png"/><Relationship Id="rId7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04.png"/><Relationship Id="rId3" Type="http://schemas.openxmlformats.org/officeDocument/2006/relationships/image" Target="../media/image105.png"/><Relationship Id="rId4" Type="http://schemas.openxmlformats.org/officeDocument/2006/relationships/image" Target="../media/image106.png"/><Relationship Id="rId5" Type="http://schemas.openxmlformats.org/officeDocument/2006/relationships/image" Target="../media/image106.png"/><Relationship Id="rId6" Type="http://schemas.openxmlformats.org/officeDocument/2006/relationships/image" Target="../media/image107.png"/><Relationship Id="rId7" Type="http://schemas.openxmlformats.org/officeDocument/2006/relationships/image" Target="../media/image108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09.png"/><Relationship Id="rId1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704600" cy="6017040"/>
          </a:xfrm>
          <a:custGeom>
            <a:avLst/>
            <a:gdLst/>
            <a:ahLst/>
            <a:rect l="0" t="0" r="r" b="b"/>
            <a:pathLst>
              <a:path w="29735" h="16714">
                <a:moveTo>
                  <a:pt x="0" y="0"/>
                </a:moveTo>
                <a:lnTo>
                  <a:pt x="29735" y="0"/>
                </a:lnTo>
                <a:lnTo>
                  <a:pt x="29735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0696320" cy="601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"/>
          <p:cNvSpPr/>
          <p:nvPr/>
        </p:nvSpPr>
        <p:spPr>
          <a:xfrm>
            <a:off x="2682360" y="4186440"/>
            <a:ext cx="1654920" cy="1654920"/>
          </a:xfrm>
          <a:custGeom>
            <a:avLst/>
            <a:gdLst/>
            <a:ahLst/>
            <a:rect l="0" t="0" r="r" b="b"/>
            <a:pathLst>
              <a:path fill="none" w="4597" h="4597">
                <a:moveTo>
                  <a:pt x="0" y="0"/>
                </a:moveTo>
                <a:lnTo>
                  <a:pt x="4597" y="0"/>
                </a:lnTo>
                <a:lnTo>
                  <a:pt x="4597" y="4597"/>
                </a:lnTo>
                <a:lnTo>
                  <a:pt x="0" y="4597"/>
                </a:lnTo>
                <a:lnTo>
                  <a:pt x="0" y="0"/>
                </a:lnTo>
              </a:path>
            </a:pathLst>
          </a:custGeom>
          <a:ln w="16560">
            <a:solidFill>
              <a:srgbClr val="d1d5db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" name="" descr=""/>
          <p:cNvPicPr/>
          <p:nvPr/>
        </p:nvPicPr>
        <p:blipFill>
          <a:blip r:embed="rId3"/>
          <a:stretch/>
        </p:blipFill>
        <p:spPr>
          <a:xfrm>
            <a:off x="2691000" y="4195080"/>
            <a:ext cx="1637640" cy="163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"/>
          <p:cNvSpPr/>
          <p:nvPr/>
        </p:nvSpPr>
        <p:spPr>
          <a:xfrm>
            <a:off x="6359400" y="4186440"/>
            <a:ext cx="1654920" cy="1654920"/>
          </a:xfrm>
          <a:custGeom>
            <a:avLst/>
            <a:gdLst/>
            <a:ahLst/>
            <a:rect l="0" t="0" r="r" b="b"/>
            <a:pathLst>
              <a:path fill="none" w="4597" h="4597">
                <a:moveTo>
                  <a:pt x="0" y="0"/>
                </a:moveTo>
                <a:lnTo>
                  <a:pt x="4597" y="0"/>
                </a:lnTo>
                <a:lnTo>
                  <a:pt x="4597" y="4597"/>
                </a:lnTo>
                <a:lnTo>
                  <a:pt x="0" y="4597"/>
                </a:lnTo>
                <a:lnTo>
                  <a:pt x="0" y="0"/>
                </a:lnTo>
              </a:path>
            </a:pathLst>
          </a:custGeom>
          <a:ln w="16560">
            <a:solidFill>
              <a:srgbClr val="d1d5db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" name="" descr=""/>
          <p:cNvPicPr/>
          <p:nvPr/>
        </p:nvPicPr>
        <p:blipFill>
          <a:blip r:embed="rId4"/>
          <a:stretch/>
        </p:blipFill>
        <p:spPr>
          <a:xfrm>
            <a:off x="6367680" y="4195080"/>
            <a:ext cx="1637640" cy="163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"/>
          <p:cNvSpPr/>
          <p:nvPr/>
        </p:nvSpPr>
        <p:spPr>
          <a:xfrm>
            <a:off x="4679640" y="2440080"/>
            <a:ext cx="1337400" cy="33840"/>
          </a:xfrm>
          <a:custGeom>
            <a:avLst/>
            <a:gdLst/>
            <a:ahLst/>
            <a:rect l="0" t="0" r="r" b="b"/>
            <a:pathLst>
              <a:path w="3715" h="94">
                <a:moveTo>
                  <a:pt x="0" y="0"/>
                </a:moveTo>
                <a:lnTo>
                  <a:pt x="3715" y="0"/>
                </a:lnTo>
                <a:lnTo>
                  <a:pt x="3715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196440" y="1224000"/>
            <a:ext cx="4375080" cy="58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16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316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信号評価における</a:t>
            </a:r>
            <a:endParaRPr b="0" lang="en-US" sz="3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092040" y="1725120"/>
            <a:ext cx="4636800" cy="581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316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316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評価法の適用可能性</a:t>
            </a:r>
            <a:endParaRPr b="0" lang="en-US" sz="316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853720" y="2772000"/>
            <a:ext cx="50299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アンダーサンプリングを用いた信号評価システムの統合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5014080" y="4641480"/>
            <a:ext cx="6714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研究発表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4972320" y="4957920"/>
            <a:ext cx="755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大谷研究室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84040" y="284040"/>
            <a:ext cx="635400" cy="635400"/>
          </a:xfrm>
          <a:custGeom>
            <a:avLst/>
            <a:gdLst/>
            <a:ahLst/>
            <a:rect l="0" t="0" r="r" b="b"/>
            <a:pathLst>
              <a:path fill="none" w="1765" h="1765">
                <a:moveTo>
                  <a:pt x="0" y="0"/>
                </a:moveTo>
                <a:lnTo>
                  <a:pt x="1765" y="0"/>
                </a:lnTo>
                <a:lnTo>
                  <a:pt x="1765" y="1765"/>
                </a:lnTo>
                <a:lnTo>
                  <a:pt x="0" y="1765"/>
                </a:lnTo>
                <a:lnTo>
                  <a:pt x="0" y="0"/>
                </a:lnTo>
              </a:path>
            </a:pathLst>
          </a:custGeom>
          <a:ln w="33120">
            <a:solidFill>
              <a:srgbClr val="add8e6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" name="" descr=""/>
          <p:cNvPicPr/>
          <p:nvPr/>
        </p:nvPicPr>
        <p:blipFill>
          <a:blip r:embed="rId5"/>
          <a:stretch/>
        </p:blipFill>
        <p:spPr>
          <a:xfrm>
            <a:off x="300960" y="300960"/>
            <a:ext cx="601200" cy="60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"/>
          <p:cNvSpPr/>
          <p:nvPr/>
        </p:nvSpPr>
        <p:spPr>
          <a:xfrm>
            <a:off x="9910800" y="5231160"/>
            <a:ext cx="501840" cy="501840"/>
          </a:xfrm>
          <a:custGeom>
            <a:avLst/>
            <a:gdLst/>
            <a:ahLst/>
            <a:rect l="0" t="0" r="r" b="b"/>
            <a:pathLst>
              <a:path fill="none" w="1394" h="1394">
                <a:moveTo>
                  <a:pt x="0" y="0"/>
                </a:moveTo>
                <a:lnTo>
                  <a:pt x="1394" y="0"/>
                </a:lnTo>
                <a:lnTo>
                  <a:pt x="1394" y="1394"/>
                </a:lnTo>
                <a:lnTo>
                  <a:pt x="0" y="1394"/>
                </a:lnTo>
                <a:lnTo>
                  <a:pt x="0" y="0"/>
                </a:lnTo>
              </a:path>
            </a:pathLst>
          </a:custGeom>
          <a:ln w="33120">
            <a:solidFill>
              <a:srgbClr val="ffa500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" name="" descr=""/>
          <p:cNvPicPr/>
          <p:nvPr/>
        </p:nvPicPr>
        <p:blipFill>
          <a:blip r:embed="rId6"/>
          <a:stretch/>
        </p:blipFill>
        <p:spPr>
          <a:xfrm>
            <a:off x="9927720" y="5248080"/>
            <a:ext cx="467640" cy="46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9643320" y="685080"/>
            <a:ext cx="368280" cy="367920"/>
          </a:xfrm>
          <a:custGeom>
            <a:avLst/>
            <a:gdLst/>
            <a:ahLst/>
            <a:rect l="0" t="0" r="r" b="b"/>
            <a:pathLst>
              <a:path fill="none" w="1023" h="1022">
                <a:moveTo>
                  <a:pt x="0" y="0"/>
                </a:moveTo>
                <a:lnTo>
                  <a:pt x="1023" y="0"/>
                </a:lnTo>
                <a:lnTo>
                  <a:pt x="1023" y="1022"/>
                </a:lnTo>
                <a:lnTo>
                  <a:pt x="0" y="1022"/>
                </a:lnTo>
                <a:lnTo>
                  <a:pt x="0" y="0"/>
                </a:lnTo>
              </a:path>
            </a:pathLst>
          </a:custGeom>
          <a:ln w="33120">
            <a:solidFill>
              <a:srgbClr val="000080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" name="" descr=""/>
          <p:cNvPicPr/>
          <p:nvPr/>
        </p:nvPicPr>
        <p:blipFill>
          <a:blip r:embed="rId7"/>
          <a:stretch/>
        </p:blipFill>
        <p:spPr>
          <a:xfrm>
            <a:off x="9660240" y="702000"/>
            <a:ext cx="33408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4078080" y="5316120"/>
            <a:ext cx="2548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日本大学大学院理工学研究科電子工学専攻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0696680" cy="6050520"/>
          </a:xfrm>
          <a:custGeom>
            <a:avLst/>
            <a:gdLst/>
            <a:ahLst/>
            <a:rect l="0" t="0" r="r" b="b"/>
            <a:pathLst>
              <a:path w="29713" h="16807">
                <a:moveTo>
                  <a:pt x="0" y="0"/>
                </a:moveTo>
                <a:lnTo>
                  <a:pt x="29713" y="0"/>
                </a:lnTo>
                <a:lnTo>
                  <a:pt x="29713" y="16807"/>
                </a:lnTo>
                <a:lnTo>
                  <a:pt x="0" y="168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267120" y="2774160"/>
            <a:ext cx="4880880" cy="17280"/>
          </a:xfrm>
          <a:custGeom>
            <a:avLst/>
            <a:gdLst/>
            <a:ahLst/>
            <a:rect l="0" t="0" r="r" b="b"/>
            <a:pathLst>
              <a:path w="13558" h="48">
                <a:moveTo>
                  <a:pt x="0" y="0"/>
                </a:moveTo>
                <a:lnTo>
                  <a:pt x="13558" y="0"/>
                </a:lnTo>
                <a:lnTo>
                  <a:pt x="1355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" name="" descr=""/>
          <p:cNvPicPr/>
          <p:nvPr/>
        </p:nvPicPr>
        <p:blipFill>
          <a:blip r:embed="rId2"/>
          <a:stretch/>
        </p:blipFill>
        <p:spPr>
          <a:xfrm>
            <a:off x="267480" y="10947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"/>
          <p:cNvSpPr txBox="1"/>
          <p:nvPr/>
        </p:nvSpPr>
        <p:spPr>
          <a:xfrm>
            <a:off x="334440" y="210240"/>
            <a:ext cx="10065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研究背景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534960" y="980280"/>
            <a:ext cx="4527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インターネットの普及により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移動体通信の通信量が急激に増加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して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267480" y="157932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"/>
          <p:cNvSpPr txBox="1"/>
          <p:nvPr/>
        </p:nvSpPr>
        <p:spPr>
          <a:xfrm>
            <a:off x="534960" y="1214280"/>
            <a:ext cx="302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いる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" name="" descr=""/>
          <p:cNvPicPr/>
          <p:nvPr/>
        </p:nvPicPr>
        <p:blipFill>
          <a:blip r:embed="rId4"/>
          <a:stretch/>
        </p:blipFill>
        <p:spPr>
          <a:xfrm>
            <a:off x="267480" y="194724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"/>
          <p:cNvSpPr txBox="1"/>
          <p:nvPr/>
        </p:nvSpPr>
        <p:spPr>
          <a:xfrm>
            <a:off x="576720" y="1581840"/>
            <a:ext cx="44136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SNS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や動画コンテンツの普及により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大容量データ通信が増加傾向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" name="" descr=""/>
          <p:cNvPicPr/>
          <p:nvPr/>
        </p:nvPicPr>
        <p:blipFill>
          <a:blip r:embed="rId5"/>
          <a:stretch/>
        </p:blipFill>
        <p:spPr>
          <a:xfrm>
            <a:off x="267480" y="23148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576720" y="1949760"/>
            <a:ext cx="2815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次世代通信技術（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5G‧6G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）の開発が必至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" descr=""/>
          <p:cNvPicPr/>
          <p:nvPr/>
        </p:nvPicPr>
        <p:blipFill>
          <a:blip r:embed="rId6"/>
          <a:stretch/>
        </p:blipFill>
        <p:spPr>
          <a:xfrm>
            <a:off x="267480" y="30837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"/>
          <p:cNvSpPr txBox="1"/>
          <p:nvPr/>
        </p:nvSpPr>
        <p:spPr>
          <a:xfrm>
            <a:off x="559800" y="2317320"/>
            <a:ext cx="3471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高周波帯の利用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や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さらなる高速化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が期待されている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534960" y="2969280"/>
            <a:ext cx="4527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高周波数の無線通信は</a:t>
            </a:r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従来の評価方法では高コストかつ時間がかか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" name="" descr=""/>
          <p:cNvPicPr/>
          <p:nvPr/>
        </p:nvPicPr>
        <p:blipFill>
          <a:blip r:embed="rId7"/>
          <a:stretch/>
        </p:blipFill>
        <p:spPr>
          <a:xfrm>
            <a:off x="267480" y="368532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"/>
          <p:cNvSpPr txBox="1"/>
          <p:nvPr/>
        </p:nvSpPr>
        <p:spPr>
          <a:xfrm>
            <a:off x="534960" y="3202920"/>
            <a:ext cx="1515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93200" y="3570840"/>
            <a:ext cx="4677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アンダーサンプリング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を活用し、低コストかつ短時間で無線通信を評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 descr=""/>
          <p:cNvPicPr/>
          <p:nvPr/>
        </p:nvPicPr>
        <p:blipFill>
          <a:blip r:embed="rId8"/>
          <a:stretch/>
        </p:blipFill>
        <p:spPr>
          <a:xfrm>
            <a:off x="6468120" y="936000"/>
            <a:ext cx="2840760" cy="21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493200" y="3804840"/>
            <a:ext cx="1962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価する手法が提案されている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5348160" y="3643200"/>
            <a:ext cx="5081040" cy="2139840"/>
          </a:xfrm>
          <a:custGeom>
            <a:avLst/>
            <a:gdLst/>
            <a:ahLst/>
            <a:rect l="0" t="0" r="r" b="b"/>
            <a:pathLst>
              <a:path w="14114" h="5944">
                <a:moveTo>
                  <a:pt x="0" y="5758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13929" y="0"/>
                </a:lnTo>
                <a:cubicBezTo>
                  <a:pt x="13941" y="0"/>
                  <a:pt x="13953" y="2"/>
                  <a:pt x="13965" y="4"/>
                </a:cubicBezTo>
                <a:cubicBezTo>
                  <a:pt x="13977" y="6"/>
                  <a:pt x="13988" y="10"/>
                  <a:pt x="14000" y="15"/>
                </a:cubicBezTo>
                <a:cubicBezTo>
                  <a:pt x="14011" y="19"/>
                  <a:pt x="14022" y="25"/>
                  <a:pt x="14032" y="32"/>
                </a:cubicBezTo>
                <a:cubicBezTo>
                  <a:pt x="14042" y="38"/>
                  <a:pt x="14051" y="46"/>
                  <a:pt x="14060" y="55"/>
                </a:cubicBezTo>
                <a:cubicBezTo>
                  <a:pt x="14069" y="63"/>
                  <a:pt x="14076" y="73"/>
                  <a:pt x="14083" y="83"/>
                </a:cubicBezTo>
                <a:cubicBezTo>
                  <a:pt x="14090" y="93"/>
                  <a:pt x="14096" y="104"/>
                  <a:pt x="14100" y="115"/>
                </a:cubicBezTo>
                <a:cubicBezTo>
                  <a:pt x="14105" y="126"/>
                  <a:pt x="14108" y="138"/>
                  <a:pt x="14111" y="150"/>
                </a:cubicBezTo>
                <a:cubicBezTo>
                  <a:pt x="14113" y="162"/>
                  <a:pt x="14114" y="174"/>
                  <a:pt x="14114" y="186"/>
                </a:cubicBezTo>
                <a:lnTo>
                  <a:pt x="14114" y="5758"/>
                </a:lnTo>
                <a:cubicBezTo>
                  <a:pt x="14114" y="5770"/>
                  <a:pt x="14113" y="5782"/>
                  <a:pt x="14111" y="5794"/>
                </a:cubicBezTo>
                <a:cubicBezTo>
                  <a:pt x="14108" y="5806"/>
                  <a:pt x="14105" y="5818"/>
                  <a:pt x="14100" y="5829"/>
                </a:cubicBezTo>
                <a:cubicBezTo>
                  <a:pt x="14096" y="5841"/>
                  <a:pt x="14090" y="5851"/>
                  <a:pt x="14083" y="5861"/>
                </a:cubicBezTo>
                <a:cubicBezTo>
                  <a:pt x="14076" y="5872"/>
                  <a:pt x="14069" y="5881"/>
                  <a:pt x="14060" y="5890"/>
                </a:cubicBezTo>
                <a:cubicBezTo>
                  <a:pt x="14051" y="5898"/>
                  <a:pt x="14042" y="5906"/>
                  <a:pt x="14032" y="5913"/>
                </a:cubicBezTo>
                <a:cubicBezTo>
                  <a:pt x="14022" y="5919"/>
                  <a:pt x="14011" y="5925"/>
                  <a:pt x="14000" y="5930"/>
                </a:cubicBezTo>
                <a:cubicBezTo>
                  <a:pt x="13988" y="5934"/>
                  <a:pt x="13977" y="5938"/>
                  <a:pt x="13965" y="5940"/>
                </a:cubicBezTo>
                <a:cubicBezTo>
                  <a:pt x="13953" y="5943"/>
                  <a:pt x="13941" y="5944"/>
                  <a:pt x="13929" y="5944"/>
                </a:cubicBezTo>
                <a:lnTo>
                  <a:pt x="186" y="5944"/>
                </a:lnTo>
                <a:cubicBezTo>
                  <a:pt x="173" y="5944"/>
                  <a:pt x="161" y="5943"/>
                  <a:pt x="149" y="5940"/>
                </a:cubicBezTo>
                <a:cubicBezTo>
                  <a:pt x="137" y="5938"/>
                  <a:pt x="126" y="5934"/>
                  <a:pt x="114" y="5930"/>
                </a:cubicBezTo>
                <a:cubicBezTo>
                  <a:pt x="103" y="5925"/>
                  <a:pt x="93" y="5919"/>
                  <a:pt x="82" y="5913"/>
                </a:cubicBezTo>
                <a:cubicBezTo>
                  <a:pt x="72" y="5906"/>
                  <a:pt x="63" y="5898"/>
                  <a:pt x="54" y="5890"/>
                </a:cubicBezTo>
                <a:cubicBezTo>
                  <a:pt x="46" y="5881"/>
                  <a:pt x="38" y="5872"/>
                  <a:pt x="31" y="5861"/>
                </a:cubicBezTo>
                <a:cubicBezTo>
                  <a:pt x="24" y="5851"/>
                  <a:pt x="19" y="5841"/>
                  <a:pt x="14" y="5829"/>
                </a:cubicBezTo>
                <a:cubicBezTo>
                  <a:pt x="9" y="5818"/>
                  <a:pt x="6" y="5806"/>
                  <a:pt x="3" y="5794"/>
                </a:cubicBezTo>
                <a:cubicBezTo>
                  <a:pt x="1" y="5782"/>
                  <a:pt x="0" y="5770"/>
                  <a:pt x="0" y="575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998760" y="3167280"/>
            <a:ext cx="1870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次世代通信技術（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5G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）のアンテナ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" descr=""/>
          <p:cNvPicPr/>
          <p:nvPr/>
        </p:nvPicPr>
        <p:blipFill>
          <a:blip r:embed="rId9"/>
          <a:stretch/>
        </p:blipFill>
        <p:spPr>
          <a:xfrm>
            <a:off x="5482080" y="4078080"/>
            <a:ext cx="4813200" cy="133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"/>
          <p:cNvSpPr txBox="1"/>
          <p:nvPr/>
        </p:nvSpPr>
        <p:spPr>
          <a:xfrm>
            <a:off x="6835680" y="3821400"/>
            <a:ext cx="2112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日本国内のトラヒック増加傾向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860880" y="5507280"/>
            <a:ext cx="2131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出典：総務省令和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3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年度版情報通信白書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153440" y="575064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2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10696680" cy="6192360"/>
          </a:xfrm>
          <a:custGeom>
            <a:avLst/>
            <a:gdLst/>
            <a:ahLst/>
            <a:rect l="0" t="0" r="r" b="b"/>
            <a:pathLst>
              <a:path w="29713" h="17201">
                <a:moveTo>
                  <a:pt x="0" y="0"/>
                </a:moveTo>
                <a:lnTo>
                  <a:pt x="29713" y="0"/>
                </a:lnTo>
                <a:lnTo>
                  <a:pt x="29713" y="17201"/>
                </a:lnTo>
                <a:lnTo>
                  <a:pt x="0" y="17201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"/>
          <p:cNvSpPr/>
          <p:nvPr/>
        </p:nvSpPr>
        <p:spPr>
          <a:xfrm>
            <a:off x="350640" y="1403640"/>
            <a:ext cx="10011960" cy="869400"/>
          </a:xfrm>
          <a:custGeom>
            <a:avLst/>
            <a:gdLst/>
            <a:ahLst/>
            <a:rect l="0" t="0" r="r" b="b"/>
            <a:pathLst>
              <a:path w="27811" h="2415">
                <a:moveTo>
                  <a:pt x="0" y="2230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4"/>
                  <a:pt x="19" y="93"/>
                  <a:pt x="24" y="83"/>
                </a:cubicBezTo>
                <a:cubicBezTo>
                  <a:pt x="29" y="73"/>
                  <a:pt x="35" y="63"/>
                  <a:pt x="41" y="55"/>
                </a:cubicBezTo>
                <a:cubicBezTo>
                  <a:pt x="48" y="46"/>
                  <a:pt x="55" y="38"/>
                  <a:pt x="62" y="32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27625" y="0"/>
                </a:lnTo>
                <a:cubicBezTo>
                  <a:pt x="27637" y="0"/>
                  <a:pt x="27649" y="1"/>
                  <a:pt x="27661" y="4"/>
                </a:cubicBezTo>
                <a:cubicBezTo>
                  <a:pt x="27673" y="6"/>
                  <a:pt x="27685" y="10"/>
                  <a:pt x="27696" y="14"/>
                </a:cubicBezTo>
                <a:cubicBezTo>
                  <a:pt x="27707" y="19"/>
                  <a:pt x="27718" y="25"/>
                  <a:pt x="27728" y="32"/>
                </a:cubicBezTo>
                <a:cubicBezTo>
                  <a:pt x="27738" y="38"/>
                  <a:pt x="27748" y="46"/>
                  <a:pt x="27756" y="55"/>
                </a:cubicBezTo>
                <a:cubicBezTo>
                  <a:pt x="27765" y="63"/>
                  <a:pt x="27773" y="73"/>
                  <a:pt x="27779" y="83"/>
                </a:cubicBezTo>
                <a:cubicBezTo>
                  <a:pt x="27786" y="93"/>
                  <a:pt x="27792" y="104"/>
                  <a:pt x="27797" y="115"/>
                </a:cubicBezTo>
                <a:cubicBezTo>
                  <a:pt x="27801" y="126"/>
                  <a:pt x="27805" y="138"/>
                  <a:pt x="27807" y="150"/>
                </a:cubicBezTo>
                <a:cubicBezTo>
                  <a:pt x="27809" y="162"/>
                  <a:pt x="27811" y="174"/>
                  <a:pt x="27811" y="186"/>
                </a:cubicBezTo>
                <a:lnTo>
                  <a:pt x="27811" y="2230"/>
                </a:lnTo>
                <a:cubicBezTo>
                  <a:pt x="27811" y="2242"/>
                  <a:pt x="27809" y="2254"/>
                  <a:pt x="27807" y="2266"/>
                </a:cubicBezTo>
                <a:cubicBezTo>
                  <a:pt x="27805" y="2278"/>
                  <a:pt x="27801" y="2290"/>
                  <a:pt x="27797" y="2301"/>
                </a:cubicBezTo>
                <a:cubicBezTo>
                  <a:pt x="27792" y="2312"/>
                  <a:pt x="27786" y="2323"/>
                  <a:pt x="27779" y="2333"/>
                </a:cubicBezTo>
                <a:cubicBezTo>
                  <a:pt x="27773" y="2343"/>
                  <a:pt x="27765" y="2352"/>
                  <a:pt x="27756" y="2361"/>
                </a:cubicBezTo>
                <a:cubicBezTo>
                  <a:pt x="27748" y="2370"/>
                  <a:pt x="27738" y="2377"/>
                  <a:pt x="27728" y="2384"/>
                </a:cubicBezTo>
                <a:cubicBezTo>
                  <a:pt x="27718" y="2391"/>
                  <a:pt x="27707" y="2397"/>
                  <a:pt x="27696" y="2401"/>
                </a:cubicBezTo>
                <a:cubicBezTo>
                  <a:pt x="27685" y="2406"/>
                  <a:pt x="27673" y="2410"/>
                  <a:pt x="27661" y="2412"/>
                </a:cubicBezTo>
                <a:cubicBezTo>
                  <a:pt x="27649" y="2414"/>
                  <a:pt x="27637" y="2415"/>
                  <a:pt x="27625" y="2415"/>
                </a:cubicBezTo>
                <a:lnTo>
                  <a:pt x="140" y="2415"/>
                </a:lnTo>
                <a:cubicBezTo>
                  <a:pt x="131" y="2415"/>
                  <a:pt x="122" y="2414"/>
                  <a:pt x="113" y="2412"/>
                </a:cubicBezTo>
                <a:cubicBezTo>
                  <a:pt x="104" y="2410"/>
                  <a:pt x="95" y="2406"/>
                  <a:pt x="86" y="2401"/>
                </a:cubicBezTo>
                <a:cubicBezTo>
                  <a:pt x="78" y="2397"/>
                  <a:pt x="70" y="2391"/>
                  <a:pt x="62" y="2384"/>
                </a:cubicBezTo>
                <a:cubicBezTo>
                  <a:pt x="55" y="2377"/>
                  <a:pt x="48" y="2370"/>
                  <a:pt x="41" y="2361"/>
                </a:cubicBezTo>
                <a:cubicBezTo>
                  <a:pt x="35" y="2352"/>
                  <a:pt x="29" y="2343"/>
                  <a:pt x="24" y="2333"/>
                </a:cubicBezTo>
                <a:cubicBezTo>
                  <a:pt x="19" y="2323"/>
                  <a:pt x="15" y="2312"/>
                  <a:pt x="11" y="2301"/>
                </a:cubicBezTo>
                <a:cubicBezTo>
                  <a:pt x="8" y="2290"/>
                  <a:pt x="5" y="2278"/>
                  <a:pt x="3" y="2266"/>
                </a:cubicBezTo>
                <a:cubicBezTo>
                  <a:pt x="1" y="2254"/>
                  <a:pt x="0" y="2242"/>
                  <a:pt x="0" y="223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334080" y="1403640"/>
            <a:ext cx="67320" cy="869400"/>
          </a:xfrm>
          <a:custGeom>
            <a:avLst/>
            <a:gdLst/>
            <a:ahLst/>
            <a:rect l="0" t="0" r="r" b="b"/>
            <a:pathLst>
              <a:path w="187" h="2415">
                <a:moveTo>
                  <a:pt x="0" y="0"/>
                </a:moveTo>
                <a:lnTo>
                  <a:pt x="187" y="0"/>
                </a:lnTo>
                <a:lnTo>
                  <a:pt x="187" y="2415"/>
                </a:lnTo>
                <a:lnTo>
                  <a:pt x="0" y="2415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34440" y="210240"/>
            <a:ext cx="1509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本研究の目的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34440" y="1033920"/>
            <a:ext cx="805320" cy="29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5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研究目的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568080" y="1633320"/>
            <a:ext cx="38174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3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変調信号と</a:t>
            </a:r>
            <a:r>
              <a:rPr b="0" lang="en-US" sz="13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3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信号の評価方法を統合し、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568080" y="1867320"/>
            <a:ext cx="46555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32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信号評価法で</a:t>
            </a:r>
            <a:r>
              <a:rPr b="0" lang="en-US" sz="132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32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変調信号を評価できるか</a:t>
            </a:r>
            <a:r>
              <a:rPr b="0" lang="zh-CN" sz="13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を検討する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42360" y="3158640"/>
            <a:ext cx="3994920" cy="585360"/>
          </a:xfrm>
          <a:custGeom>
            <a:avLst/>
            <a:gdLst/>
            <a:ahLst/>
            <a:rect l="0" t="0" r="r" b="b"/>
            <a:pathLst>
              <a:path w="11097" h="1626">
                <a:moveTo>
                  <a:pt x="0" y="1463"/>
                </a:moveTo>
                <a:lnTo>
                  <a:pt x="0" y="164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9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4" y="63"/>
                  <a:pt x="40" y="55"/>
                  <a:pt x="48" y="48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0935" y="0"/>
                </a:lnTo>
                <a:cubicBezTo>
                  <a:pt x="10945" y="0"/>
                  <a:pt x="10956" y="1"/>
                  <a:pt x="10966" y="3"/>
                </a:cubicBezTo>
                <a:cubicBezTo>
                  <a:pt x="10977" y="5"/>
                  <a:pt x="10987" y="8"/>
                  <a:pt x="10997" y="12"/>
                </a:cubicBezTo>
                <a:cubicBezTo>
                  <a:pt x="11007" y="16"/>
                  <a:pt x="11016" y="21"/>
                  <a:pt x="11025" y="27"/>
                </a:cubicBezTo>
                <a:cubicBezTo>
                  <a:pt x="11034" y="33"/>
                  <a:pt x="11042" y="40"/>
                  <a:pt x="11049" y="48"/>
                </a:cubicBezTo>
                <a:cubicBezTo>
                  <a:pt x="11057" y="55"/>
                  <a:pt x="11064" y="63"/>
                  <a:pt x="11070" y="72"/>
                </a:cubicBezTo>
                <a:cubicBezTo>
                  <a:pt x="11076" y="81"/>
                  <a:pt x="11081" y="90"/>
                  <a:pt x="11085" y="100"/>
                </a:cubicBezTo>
                <a:cubicBezTo>
                  <a:pt x="11089" y="110"/>
                  <a:pt x="11092" y="120"/>
                  <a:pt x="11094" y="131"/>
                </a:cubicBezTo>
                <a:cubicBezTo>
                  <a:pt x="11096" y="141"/>
                  <a:pt x="11097" y="152"/>
                  <a:pt x="11097" y="164"/>
                </a:cubicBezTo>
                <a:lnTo>
                  <a:pt x="11097" y="1463"/>
                </a:lnTo>
                <a:cubicBezTo>
                  <a:pt x="11097" y="1474"/>
                  <a:pt x="11096" y="1485"/>
                  <a:pt x="11094" y="1495"/>
                </a:cubicBezTo>
                <a:cubicBezTo>
                  <a:pt x="11092" y="1506"/>
                  <a:pt x="11089" y="1516"/>
                  <a:pt x="11085" y="1526"/>
                </a:cubicBezTo>
                <a:cubicBezTo>
                  <a:pt x="11081" y="1535"/>
                  <a:pt x="11076" y="1545"/>
                  <a:pt x="11070" y="1554"/>
                </a:cubicBezTo>
                <a:cubicBezTo>
                  <a:pt x="11064" y="1563"/>
                  <a:pt x="11057" y="1571"/>
                  <a:pt x="11049" y="1578"/>
                </a:cubicBezTo>
                <a:cubicBezTo>
                  <a:pt x="11042" y="1586"/>
                  <a:pt x="11034" y="1593"/>
                  <a:pt x="11025" y="1599"/>
                </a:cubicBezTo>
                <a:cubicBezTo>
                  <a:pt x="11016" y="1604"/>
                  <a:pt x="11007" y="1609"/>
                  <a:pt x="10997" y="1614"/>
                </a:cubicBezTo>
                <a:cubicBezTo>
                  <a:pt x="10987" y="1618"/>
                  <a:pt x="10977" y="1621"/>
                  <a:pt x="10966" y="1623"/>
                </a:cubicBezTo>
                <a:cubicBezTo>
                  <a:pt x="10956" y="1625"/>
                  <a:pt x="10945" y="1626"/>
                  <a:pt x="10935" y="1626"/>
                </a:cubicBezTo>
                <a:lnTo>
                  <a:pt x="163" y="1626"/>
                </a:lnTo>
                <a:cubicBezTo>
                  <a:pt x="152" y="1626"/>
                  <a:pt x="141" y="1625"/>
                  <a:pt x="131" y="1623"/>
                </a:cubicBezTo>
                <a:cubicBezTo>
                  <a:pt x="121" y="1621"/>
                  <a:pt x="110" y="1618"/>
                  <a:pt x="101" y="1614"/>
                </a:cubicBezTo>
                <a:cubicBezTo>
                  <a:pt x="91" y="1609"/>
                  <a:pt x="81" y="1604"/>
                  <a:pt x="72" y="1599"/>
                </a:cubicBezTo>
                <a:cubicBezTo>
                  <a:pt x="64" y="1593"/>
                  <a:pt x="55" y="1586"/>
                  <a:pt x="48" y="1578"/>
                </a:cubicBezTo>
                <a:cubicBezTo>
                  <a:pt x="40" y="1571"/>
                  <a:pt x="34" y="1563"/>
                  <a:pt x="28" y="1554"/>
                </a:cubicBezTo>
                <a:cubicBezTo>
                  <a:pt x="22" y="1545"/>
                  <a:pt x="17" y="1535"/>
                  <a:pt x="13" y="1526"/>
                </a:cubicBezTo>
                <a:cubicBezTo>
                  <a:pt x="9" y="1516"/>
                  <a:pt x="5" y="1506"/>
                  <a:pt x="3" y="1495"/>
                </a:cubicBezTo>
                <a:cubicBezTo>
                  <a:pt x="1" y="1485"/>
                  <a:pt x="0" y="1474"/>
                  <a:pt x="0" y="14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342360" y="3158640"/>
            <a:ext cx="3994920" cy="585360"/>
          </a:xfrm>
          <a:custGeom>
            <a:avLst/>
            <a:gdLst/>
            <a:ahLst/>
            <a:rect l="0" t="0" r="r" b="b"/>
            <a:pathLst>
              <a:path fill="none" w="11097" h="1626">
                <a:moveTo>
                  <a:pt x="0" y="1463"/>
                </a:moveTo>
                <a:lnTo>
                  <a:pt x="0" y="164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9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4" y="63"/>
                  <a:pt x="40" y="55"/>
                  <a:pt x="48" y="48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0935" y="0"/>
                </a:lnTo>
                <a:cubicBezTo>
                  <a:pt x="10945" y="0"/>
                  <a:pt x="10956" y="1"/>
                  <a:pt x="10966" y="3"/>
                </a:cubicBezTo>
                <a:cubicBezTo>
                  <a:pt x="10977" y="5"/>
                  <a:pt x="10987" y="8"/>
                  <a:pt x="10997" y="12"/>
                </a:cubicBezTo>
                <a:cubicBezTo>
                  <a:pt x="11007" y="16"/>
                  <a:pt x="11016" y="21"/>
                  <a:pt x="11025" y="27"/>
                </a:cubicBezTo>
                <a:cubicBezTo>
                  <a:pt x="11034" y="33"/>
                  <a:pt x="11042" y="40"/>
                  <a:pt x="11049" y="48"/>
                </a:cubicBezTo>
                <a:cubicBezTo>
                  <a:pt x="11057" y="55"/>
                  <a:pt x="11064" y="63"/>
                  <a:pt x="11070" y="72"/>
                </a:cubicBezTo>
                <a:cubicBezTo>
                  <a:pt x="11076" y="81"/>
                  <a:pt x="11081" y="90"/>
                  <a:pt x="11085" y="100"/>
                </a:cubicBezTo>
                <a:cubicBezTo>
                  <a:pt x="11089" y="110"/>
                  <a:pt x="11092" y="120"/>
                  <a:pt x="11094" y="131"/>
                </a:cubicBezTo>
                <a:cubicBezTo>
                  <a:pt x="11096" y="141"/>
                  <a:pt x="11097" y="152"/>
                  <a:pt x="11097" y="164"/>
                </a:cubicBezTo>
                <a:lnTo>
                  <a:pt x="11097" y="1463"/>
                </a:lnTo>
                <a:cubicBezTo>
                  <a:pt x="11097" y="1474"/>
                  <a:pt x="11096" y="1485"/>
                  <a:pt x="11094" y="1495"/>
                </a:cubicBezTo>
                <a:cubicBezTo>
                  <a:pt x="11092" y="1506"/>
                  <a:pt x="11089" y="1516"/>
                  <a:pt x="11085" y="1526"/>
                </a:cubicBezTo>
                <a:cubicBezTo>
                  <a:pt x="11081" y="1535"/>
                  <a:pt x="11076" y="1545"/>
                  <a:pt x="11070" y="1554"/>
                </a:cubicBezTo>
                <a:cubicBezTo>
                  <a:pt x="11064" y="1563"/>
                  <a:pt x="11057" y="1571"/>
                  <a:pt x="11049" y="1578"/>
                </a:cubicBezTo>
                <a:cubicBezTo>
                  <a:pt x="11042" y="1586"/>
                  <a:pt x="11034" y="1593"/>
                  <a:pt x="11025" y="1599"/>
                </a:cubicBezTo>
                <a:cubicBezTo>
                  <a:pt x="11016" y="1604"/>
                  <a:pt x="11007" y="1609"/>
                  <a:pt x="10997" y="1614"/>
                </a:cubicBezTo>
                <a:cubicBezTo>
                  <a:pt x="10987" y="1618"/>
                  <a:pt x="10977" y="1621"/>
                  <a:pt x="10966" y="1623"/>
                </a:cubicBezTo>
                <a:cubicBezTo>
                  <a:pt x="10956" y="1625"/>
                  <a:pt x="10945" y="1626"/>
                  <a:pt x="10935" y="1626"/>
                </a:cubicBezTo>
                <a:lnTo>
                  <a:pt x="163" y="1626"/>
                </a:lnTo>
                <a:cubicBezTo>
                  <a:pt x="152" y="1626"/>
                  <a:pt x="141" y="1625"/>
                  <a:pt x="131" y="1623"/>
                </a:cubicBezTo>
                <a:cubicBezTo>
                  <a:pt x="121" y="1621"/>
                  <a:pt x="110" y="1618"/>
                  <a:pt x="101" y="1614"/>
                </a:cubicBezTo>
                <a:cubicBezTo>
                  <a:pt x="91" y="1609"/>
                  <a:pt x="81" y="1604"/>
                  <a:pt x="72" y="1599"/>
                </a:cubicBezTo>
                <a:cubicBezTo>
                  <a:pt x="64" y="1593"/>
                  <a:pt x="55" y="1586"/>
                  <a:pt x="48" y="1578"/>
                </a:cubicBezTo>
                <a:cubicBezTo>
                  <a:pt x="40" y="1571"/>
                  <a:pt x="34" y="1563"/>
                  <a:pt x="28" y="1554"/>
                </a:cubicBezTo>
                <a:cubicBezTo>
                  <a:pt x="22" y="1545"/>
                  <a:pt x="17" y="1535"/>
                  <a:pt x="13" y="1526"/>
                </a:cubicBezTo>
                <a:cubicBezTo>
                  <a:pt x="9" y="1516"/>
                  <a:pt x="5" y="1506"/>
                  <a:pt x="3" y="1495"/>
                </a:cubicBezTo>
                <a:cubicBezTo>
                  <a:pt x="1" y="1485"/>
                  <a:pt x="0" y="1474"/>
                  <a:pt x="0" y="1463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0" name="" descr=""/>
          <p:cNvPicPr/>
          <p:nvPr/>
        </p:nvPicPr>
        <p:blipFill>
          <a:blip r:embed="rId2"/>
          <a:stretch/>
        </p:blipFill>
        <p:spPr>
          <a:xfrm>
            <a:off x="451440" y="330084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"/>
          <p:cNvSpPr txBox="1"/>
          <p:nvPr/>
        </p:nvSpPr>
        <p:spPr>
          <a:xfrm>
            <a:off x="1441440" y="2827080"/>
            <a:ext cx="1811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現状：別々の評価システム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35560" y="3302280"/>
            <a:ext cx="928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42360" y="3894120"/>
            <a:ext cx="3994920" cy="585360"/>
          </a:xfrm>
          <a:custGeom>
            <a:avLst/>
            <a:gdLst/>
            <a:ahLst/>
            <a:rect l="0" t="0" r="r" b="b"/>
            <a:pathLst>
              <a:path w="11097" h="1626">
                <a:moveTo>
                  <a:pt x="0" y="1463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9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4" y="63"/>
                  <a:pt x="40" y="55"/>
                  <a:pt x="48" y="47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0935" y="0"/>
                </a:lnTo>
                <a:cubicBezTo>
                  <a:pt x="10945" y="0"/>
                  <a:pt x="10956" y="1"/>
                  <a:pt x="10966" y="3"/>
                </a:cubicBezTo>
                <a:cubicBezTo>
                  <a:pt x="10977" y="5"/>
                  <a:pt x="10987" y="8"/>
                  <a:pt x="10997" y="12"/>
                </a:cubicBezTo>
                <a:cubicBezTo>
                  <a:pt x="11007" y="16"/>
                  <a:pt x="11016" y="21"/>
                  <a:pt x="11025" y="27"/>
                </a:cubicBezTo>
                <a:cubicBezTo>
                  <a:pt x="11034" y="33"/>
                  <a:pt x="11042" y="40"/>
                  <a:pt x="11049" y="47"/>
                </a:cubicBezTo>
                <a:cubicBezTo>
                  <a:pt x="11057" y="55"/>
                  <a:pt x="11064" y="63"/>
                  <a:pt x="11070" y="72"/>
                </a:cubicBezTo>
                <a:cubicBezTo>
                  <a:pt x="11076" y="81"/>
                  <a:pt x="11081" y="90"/>
                  <a:pt x="11085" y="100"/>
                </a:cubicBezTo>
                <a:cubicBezTo>
                  <a:pt x="11089" y="110"/>
                  <a:pt x="11092" y="120"/>
                  <a:pt x="11094" y="131"/>
                </a:cubicBezTo>
                <a:cubicBezTo>
                  <a:pt x="11096" y="141"/>
                  <a:pt x="11097" y="152"/>
                  <a:pt x="11097" y="162"/>
                </a:cubicBezTo>
                <a:lnTo>
                  <a:pt x="11097" y="1463"/>
                </a:lnTo>
                <a:cubicBezTo>
                  <a:pt x="11097" y="1474"/>
                  <a:pt x="11096" y="1484"/>
                  <a:pt x="11094" y="1495"/>
                </a:cubicBezTo>
                <a:cubicBezTo>
                  <a:pt x="11092" y="1505"/>
                  <a:pt x="11089" y="1516"/>
                  <a:pt x="11085" y="1525"/>
                </a:cubicBezTo>
                <a:cubicBezTo>
                  <a:pt x="11081" y="1535"/>
                  <a:pt x="11076" y="1545"/>
                  <a:pt x="11070" y="1553"/>
                </a:cubicBezTo>
                <a:cubicBezTo>
                  <a:pt x="11064" y="1562"/>
                  <a:pt x="11057" y="1571"/>
                  <a:pt x="11049" y="1578"/>
                </a:cubicBezTo>
                <a:cubicBezTo>
                  <a:pt x="11042" y="1586"/>
                  <a:pt x="11034" y="1592"/>
                  <a:pt x="11025" y="1598"/>
                </a:cubicBezTo>
                <a:cubicBezTo>
                  <a:pt x="11016" y="1604"/>
                  <a:pt x="11007" y="1609"/>
                  <a:pt x="10997" y="1613"/>
                </a:cubicBezTo>
                <a:cubicBezTo>
                  <a:pt x="10987" y="1617"/>
                  <a:pt x="10977" y="1620"/>
                  <a:pt x="10966" y="1623"/>
                </a:cubicBezTo>
                <a:cubicBezTo>
                  <a:pt x="10956" y="1625"/>
                  <a:pt x="10945" y="1626"/>
                  <a:pt x="10935" y="1626"/>
                </a:cubicBezTo>
                <a:lnTo>
                  <a:pt x="163" y="1626"/>
                </a:lnTo>
                <a:cubicBezTo>
                  <a:pt x="152" y="1626"/>
                  <a:pt x="141" y="1625"/>
                  <a:pt x="131" y="1623"/>
                </a:cubicBezTo>
                <a:cubicBezTo>
                  <a:pt x="121" y="1620"/>
                  <a:pt x="110" y="1617"/>
                  <a:pt x="101" y="1613"/>
                </a:cubicBezTo>
                <a:cubicBezTo>
                  <a:pt x="91" y="1609"/>
                  <a:pt x="81" y="1604"/>
                  <a:pt x="72" y="1598"/>
                </a:cubicBezTo>
                <a:cubicBezTo>
                  <a:pt x="64" y="1592"/>
                  <a:pt x="55" y="1586"/>
                  <a:pt x="48" y="1578"/>
                </a:cubicBezTo>
                <a:cubicBezTo>
                  <a:pt x="40" y="1571"/>
                  <a:pt x="34" y="1562"/>
                  <a:pt x="28" y="1553"/>
                </a:cubicBezTo>
                <a:cubicBezTo>
                  <a:pt x="22" y="1545"/>
                  <a:pt x="17" y="1535"/>
                  <a:pt x="13" y="1525"/>
                </a:cubicBezTo>
                <a:cubicBezTo>
                  <a:pt x="9" y="1516"/>
                  <a:pt x="5" y="1505"/>
                  <a:pt x="3" y="1495"/>
                </a:cubicBezTo>
                <a:cubicBezTo>
                  <a:pt x="1" y="1484"/>
                  <a:pt x="0" y="1474"/>
                  <a:pt x="0" y="146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342360" y="3894120"/>
            <a:ext cx="3994920" cy="585360"/>
          </a:xfrm>
          <a:custGeom>
            <a:avLst/>
            <a:gdLst/>
            <a:ahLst/>
            <a:rect l="0" t="0" r="r" b="b"/>
            <a:pathLst>
              <a:path fill="none" w="11097" h="1626">
                <a:moveTo>
                  <a:pt x="0" y="1463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9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4" y="63"/>
                  <a:pt x="40" y="55"/>
                  <a:pt x="48" y="47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1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0935" y="0"/>
                </a:lnTo>
                <a:cubicBezTo>
                  <a:pt x="10945" y="0"/>
                  <a:pt x="10956" y="1"/>
                  <a:pt x="10966" y="3"/>
                </a:cubicBezTo>
                <a:cubicBezTo>
                  <a:pt x="10977" y="5"/>
                  <a:pt x="10987" y="8"/>
                  <a:pt x="10997" y="12"/>
                </a:cubicBezTo>
                <a:cubicBezTo>
                  <a:pt x="11007" y="16"/>
                  <a:pt x="11016" y="21"/>
                  <a:pt x="11025" y="27"/>
                </a:cubicBezTo>
                <a:cubicBezTo>
                  <a:pt x="11034" y="33"/>
                  <a:pt x="11042" y="40"/>
                  <a:pt x="11049" y="47"/>
                </a:cubicBezTo>
                <a:cubicBezTo>
                  <a:pt x="11057" y="55"/>
                  <a:pt x="11064" y="63"/>
                  <a:pt x="11070" y="72"/>
                </a:cubicBezTo>
                <a:cubicBezTo>
                  <a:pt x="11076" y="81"/>
                  <a:pt x="11081" y="90"/>
                  <a:pt x="11085" y="100"/>
                </a:cubicBezTo>
                <a:cubicBezTo>
                  <a:pt x="11089" y="110"/>
                  <a:pt x="11092" y="120"/>
                  <a:pt x="11094" y="131"/>
                </a:cubicBezTo>
                <a:cubicBezTo>
                  <a:pt x="11096" y="141"/>
                  <a:pt x="11097" y="152"/>
                  <a:pt x="11097" y="162"/>
                </a:cubicBezTo>
                <a:lnTo>
                  <a:pt x="11097" y="1463"/>
                </a:lnTo>
                <a:cubicBezTo>
                  <a:pt x="11097" y="1474"/>
                  <a:pt x="11096" y="1484"/>
                  <a:pt x="11094" y="1495"/>
                </a:cubicBezTo>
                <a:cubicBezTo>
                  <a:pt x="11092" y="1505"/>
                  <a:pt x="11089" y="1516"/>
                  <a:pt x="11085" y="1525"/>
                </a:cubicBezTo>
                <a:cubicBezTo>
                  <a:pt x="11081" y="1535"/>
                  <a:pt x="11076" y="1545"/>
                  <a:pt x="11070" y="1553"/>
                </a:cubicBezTo>
                <a:cubicBezTo>
                  <a:pt x="11064" y="1562"/>
                  <a:pt x="11057" y="1571"/>
                  <a:pt x="11049" y="1578"/>
                </a:cubicBezTo>
                <a:cubicBezTo>
                  <a:pt x="11042" y="1586"/>
                  <a:pt x="11034" y="1592"/>
                  <a:pt x="11025" y="1598"/>
                </a:cubicBezTo>
                <a:cubicBezTo>
                  <a:pt x="11016" y="1604"/>
                  <a:pt x="11007" y="1609"/>
                  <a:pt x="10997" y="1613"/>
                </a:cubicBezTo>
                <a:cubicBezTo>
                  <a:pt x="10987" y="1617"/>
                  <a:pt x="10977" y="1620"/>
                  <a:pt x="10966" y="1623"/>
                </a:cubicBezTo>
                <a:cubicBezTo>
                  <a:pt x="10956" y="1625"/>
                  <a:pt x="10945" y="1626"/>
                  <a:pt x="10935" y="1626"/>
                </a:cubicBezTo>
                <a:lnTo>
                  <a:pt x="163" y="1626"/>
                </a:lnTo>
                <a:cubicBezTo>
                  <a:pt x="152" y="1626"/>
                  <a:pt x="141" y="1625"/>
                  <a:pt x="131" y="1623"/>
                </a:cubicBezTo>
                <a:cubicBezTo>
                  <a:pt x="121" y="1620"/>
                  <a:pt x="110" y="1617"/>
                  <a:pt x="101" y="1613"/>
                </a:cubicBezTo>
                <a:cubicBezTo>
                  <a:pt x="91" y="1609"/>
                  <a:pt x="81" y="1604"/>
                  <a:pt x="72" y="1598"/>
                </a:cubicBezTo>
                <a:cubicBezTo>
                  <a:pt x="64" y="1592"/>
                  <a:pt x="55" y="1586"/>
                  <a:pt x="48" y="1578"/>
                </a:cubicBezTo>
                <a:cubicBezTo>
                  <a:pt x="40" y="1571"/>
                  <a:pt x="34" y="1562"/>
                  <a:pt x="28" y="1553"/>
                </a:cubicBezTo>
                <a:cubicBezTo>
                  <a:pt x="22" y="1545"/>
                  <a:pt x="17" y="1535"/>
                  <a:pt x="13" y="1525"/>
                </a:cubicBezTo>
                <a:cubicBezTo>
                  <a:pt x="9" y="1516"/>
                  <a:pt x="5" y="1505"/>
                  <a:pt x="3" y="1495"/>
                </a:cubicBezTo>
                <a:cubicBezTo>
                  <a:pt x="1" y="1484"/>
                  <a:pt x="0" y="1474"/>
                  <a:pt x="0" y="1463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5" name="" descr=""/>
          <p:cNvPicPr/>
          <p:nvPr/>
        </p:nvPicPr>
        <p:blipFill>
          <a:blip r:embed="rId3"/>
          <a:stretch/>
        </p:blipFill>
        <p:spPr>
          <a:xfrm>
            <a:off x="451440" y="403632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"/>
          <p:cNvSpPr txBox="1"/>
          <p:nvPr/>
        </p:nvSpPr>
        <p:spPr>
          <a:xfrm>
            <a:off x="835560" y="3493080"/>
            <a:ext cx="116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専用の評価方法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35560" y="4037400"/>
            <a:ext cx="61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" name="" descr=""/>
          <p:cNvPicPr/>
          <p:nvPr/>
        </p:nvPicPr>
        <p:blipFill>
          <a:blip r:embed="rId4"/>
          <a:stretch/>
        </p:blipFill>
        <p:spPr>
          <a:xfrm>
            <a:off x="5097600" y="3384360"/>
            <a:ext cx="501120" cy="50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5"/>
          <a:stretch/>
        </p:blipFill>
        <p:spPr>
          <a:xfrm>
            <a:off x="6367680" y="3058560"/>
            <a:ext cx="3977280" cy="1512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"/>
          <p:cNvSpPr/>
          <p:nvPr/>
        </p:nvSpPr>
        <p:spPr>
          <a:xfrm>
            <a:off x="6359400" y="3049920"/>
            <a:ext cx="3994560" cy="1529640"/>
          </a:xfrm>
          <a:custGeom>
            <a:avLst/>
            <a:gdLst/>
            <a:ahLst/>
            <a:rect l="0" t="0" r="r" b="b"/>
            <a:pathLst>
              <a:path fill="none" w="11096" h="4249">
                <a:moveTo>
                  <a:pt x="0" y="0"/>
                </a:moveTo>
                <a:lnTo>
                  <a:pt x="11096" y="0"/>
                </a:lnTo>
                <a:lnTo>
                  <a:pt x="11096" y="4249"/>
                </a:lnTo>
                <a:lnTo>
                  <a:pt x="0" y="4249"/>
                </a:lnTo>
                <a:lnTo>
                  <a:pt x="0" y="0"/>
                </a:ln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467760" y="4027680"/>
            <a:ext cx="3777840" cy="8640"/>
          </a:xfrm>
          <a:custGeom>
            <a:avLst/>
            <a:gdLst/>
            <a:ahLst/>
            <a:rect l="0" t="0" r="r" b="b"/>
            <a:pathLst>
              <a:path w="10494" h="24">
                <a:moveTo>
                  <a:pt x="0" y="0"/>
                </a:moveTo>
                <a:lnTo>
                  <a:pt x="10494" y="0"/>
                </a:lnTo>
                <a:lnTo>
                  <a:pt x="10494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35560" y="4228560"/>
            <a:ext cx="1123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専用の評価方法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3" name="" descr=""/>
          <p:cNvPicPr/>
          <p:nvPr/>
        </p:nvPicPr>
        <p:blipFill>
          <a:blip r:embed="rId6"/>
          <a:stretch/>
        </p:blipFill>
        <p:spPr>
          <a:xfrm>
            <a:off x="6468120" y="315900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7308000" y="2718360"/>
            <a:ext cx="2112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提案：統合された評価システム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" descr=""/>
          <p:cNvPicPr/>
          <p:nvPr/>
        </p:nvPicPr>
        <p:blipFill>
          <a:blip r:embed="rId7"/>
          <a:stretch/>
        </p:blipFill>
        <p:spPr>
          <a:xfrm>
            <a:off x="6468120" y="359352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"/>
          <p:cNvSpPr txBox="1"/>
          <p:nvPr/>
        </p:nvSpPr>
        <p:spPr>
          <a:xfrm>
            <a:off x="6852600" y="3243600"/>
            <a:ext cx="928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7" name="" descr=""/>
          <p:cNvPicPr/>
          <p:nvPr/>
        </p:nvPicPr>
        <p:blipFill>
          <a:blip r:embed="rId8"/>
          <a:stretch/>
        </p:blipFill>
        <p:spPr>
          <a:xfrm>
            <a:off x="6468120" y="4169880"/>
            <a:ext cx="31716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6852600" y="3678120"/>
            <a:ext cx="61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886080" y="4254840"/>
            <a:ext cx="2166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共通の評価方法 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(QAM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信号評価法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42360" y="5322960"/>
            <a:ext cx="3242880" cy="535320"/>
          </a:xfrm>
          <a:custGeom>
            <a:avLst/>
            <a:gdLst/>
            <a:ahLst/>
            <a:rect l="0" t="0" r="r" b="b"/>
            <a:pathLst>
              <a:path w="9008" h="1487">
                <a:moveTo>
                  <a:pt x="0" y="130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3" y="115"/>
                </a:cubicBezTo>
                <a:cubicBezTo>
                  <a:pt x="17" y="104"/>
                  <a:pt x="22" y="93"/>
                  <a:pt x="28" y="83"/>
                </a:cubicBezTo>
                <a:cubicBezTo>
                  <a:pt x="34" y="73"/>
                  <a:pt x="40" y="63"/>
                  <a:pt x="48" y="55"/>
                </a:cubicBezTo>
                <a:cubicBezTo>
                  <a:pt x="55" y="46"/>
                  <a:pt x="64" y="38"/>
                  <a:pt x="72" y="32"/>
                </a:cubicBezTo>
                <a:cubicBezTo>
                  <a:pt x="81" y="25"/>
                  <a:pt x="91" y="19"/>
                  <a:pt x="101" y="14"/>
                </a:cubicBezTo>
                <a:cubicBezTo>
                  <a:pt x="110" y="10"/>
                  <a:pt x="121" y="6"/>
                  <a:pt x="131" y="4"/>
                </a:cubicBezTo>
                <a:cubicBezTo>
                  <a:pt x="141" y="1"/>
                  <a:pt x="152" y="0"/>
                  <a:pt x="163" y="0"/>
                </a:cubicBezTo>
                <a:lnTo>
                  <a:pt x="8822" y="0"/>
                </a:lnTo>
                <a:cubicBezTo>
                  <a:pt x="8834" y="0"/>
                  <a:pt x="8846" y="1"/>
                  <a:pt x="8858" y="4"/>
                </a:cubicBezTo>
                <a:cubicBezTo>
                  <a:pt x="8870" y="6"/>
                  <a:pt x="8882" y="10"/>
                  <a:pt x="8893" y="14"/>
                </a:cubicBezTo>
                <a:cubicBezTo>
                  <a:pt x="8905" y="19"/>
                  <a:pt x="8915" y="25"/>
                  <a:pt x="8925" y="32"/>
                </a:cubicBezTo>
                <a:cubicBezTo>
                  <a:pt x="8936" y="38"/>
                  <a:pt x="8945" y="46"/>
                  <a:pt x="8954" y="55"/>
                </a:cubicBezTo>
                <a:cubicBezTo>
                  <a:pt x="8962" y="63"/>
                  <a:pt x="8970" y="73"/>
                  <a:pt x="8977" y="83"/>
                </a:cubicBezTo>
                <a:cubicBezTo>
                  <a:pt x="8983" y="93"/>
                  <a:pt x="8989" y="104"/>
                  <a:pt x="8994" y="115"/>
                </a:cubicBezTo>
                <a:cubicBezTo>
                  <a:pt x="8998" y="126"/>
                  <a:pt x="9002" y="138"/>
                  <a:pt x="9004" y="150"/>
                </a:cubicBezTo>
                <a:cubicBezTo>
                  <a:pt x="9007" y="162"/>
                  <a:pt x="9008" y="174"/>
                  <a:pt x="9008" y="186"/>
                </a:cubicBezTo>
                <a:lnTo>
                  <a:pt x="9008" y="1301"/>
                </a:lnTo>
                <a:cubicBezTo>
                  <a:pt x="9008" y="1313"/>
                  <a:pt x="9007" y="1325"/>
                  <a:pt x="9004" y="1337"/>
                </a:cubicBezTo>
                <a:cubicBezTo>
                  <a:pt x="9002" y="1349"/>
                  <a:pt x="8998" y="1361"/>
                  <a:pt x="8994" y="1372"/>
                </a:cubicBezTo>
                <a:cubicBezTo>
                  <a:pt x="8989" y="1383"/>
                  <a:pt x="8983" y="1394"/>
                  <a:pt x="8977" y="1404"/>
                </a:cubicBezTo>
                <a:cubicBezTo>
                  <a:pt x="8970" y="1414"/>
                  <a:pt x="8962" y="1424"/>
                  <a:pt x="8954" y="1432"/>
                </a:cubicBezTo>
                <a:cubicBezTo>
                  <a:pt x="8945" y="1441"/>
                  <a:pt x="8936" y="1449"/>
                  <a:pt x="8925" y="1456"/>
                </a:cubicBezTo>
                <a:cubicBezTo>
                  <a:pt x="8915" y="1462"/>
                  <a:pt x="8905" y="1468"/>
                  <a:pt x="8893" y="1473"/>
                </a:cubicBezTo>
                <a:cubicBezTo>
                  <a:pt x="8882" y="1477"/>
                  <a:pt x="8870" y="1481"/>
                  <a:pt x="8858" y="1483"/>
                </a:cubicBezTo>
                <a:cubicBezTo>
                  <a:pt x="8846" y="1486"/>
                  <a:pt x="8834" y="1487"/>
                  <a:pt x="8822" y="1487"/>
                </a:cubicBezTo>
                <a:lnTo>
                  <a:pt x="163" y="1487"/>
                </a:lnTo>
                <a:cubicBezTo>
                  <a:pt x="152" y="1487"/>
                  <a:pt x="141" y="1486"/>
                  <a:pt x="131" y="1483"/>
                </a:cubicBezTo>
                <a:cubicBezTo>
                  <a:pt x="121" y="1481"/>
                  <a:pt x="110" y="1477"/>
                  <a:pt x="101" y="1473"/>
                </a:cubicBezTo>
                <a:cubicBezTo>
                  <a:pt x="91" y="1468"/>
                  <a:pt x="81" y="1462"/>
                  <a:pt x="72" y="1456"/>
                </a:cubicBezTo>
                <a:cubicBezTo>
                  <a:pt x="64" y="1449"/>
                  <a:pt x="55" y="1441"/>
                  <a:pt x="48" y="1432"/>
                </a:cubicBezTo>
                <a:cubicBezTo>
                  <a:pt x="40" y="1424"/>
                  <a:pt x="34" y="1414"/>
                  <a:pt x="28" y="1404"/>
                </a:cubicBezTo>
                <a:cubicBezTo>
                  <a:pt x="22" y="1394"/>
                  <a:pt x="17" y="1383"/>
                  <a:pt x="13" y="1372"/>
                </a:cubicBezTo>
                <a:cubicBezTo>
                  <a:pt x="9" y="1361"/>
                  <a:pt x="5" y="1349"/>
                  <a:pt x="3" y="1337"/>
                </a:cubicBezTo>
                <a:cubicBezTo>
                  <a:pt x="1" y="1325"/>
                  <a:pt x="0" y="1313"/>
                  <a:pt x="0" y="1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34080" y="5322960"/>
            <a:ext cx="67320" cy="535320"/>
          </a:xfrm>
          <a:custGeom>
            <a:avLst/>
            <a:gdLst/>
            <a:ahLst/>
            <a:rect l="0" t="0" r="r" b="b"/>
            <a:pathLst>
              <a:path w="187" h="1487">
                <a:moveTo>
                  <a:pt x="0" y="0"/>
                </a:moveTo>
                <a:lnTo>
                  <a:pt x="187" y="0"/>
                </a:lnTo>
                <a:lnTo>
                  <a:pt x="187" y="1487"/>
                </a:lnTo>
                <a:lnTo>
                  <a:pt x="0" y="148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2" name="" descr=""/>
          <p:cNvPicPr/>
          <p:nvPr/>
        </p:nvPicPr>
        <p:blipFill>
          <a:blip r:embed="rId9"/>
          <a:stretch/>
        </p:blipFill>
        <p:spPr>
          <a:xfrm>
            <a:off x="484560" y="545688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"/>
          <p:cNvSpPr txBox="1"/>
          <p:nvPr/>
        </p:nvSpPr>
        <p:spPr>
          <a:xfrm>
            <a:off x="334440" y="5033160"/>
            <a:ext cx="10569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期待される利点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3727080" y="5322960"/>
            <a:ext cx="3250800" cy="535320"/>
          </a:xfrm>
          <a:custGeom>
            <a:avLst/>
            <a:gdLst/>
            <a:ahLst/>
            <a:rect l="0" t="0" r="r" b="b"/>
            <a:pathLst>
              <a:path w="9030" h="1487">
                <a:moveTo>
                  <a:pt x="0" y="130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2" y="115"/>
                </a:cubicBezTo>
                <a:cubicBezTo>
                  <a:pt x="16" y="104"/>
                  <a:pt x="21" y="93"/>
                  <a:pt x="27" y="83"/>
                </a:cubicBezTo>
                <a:cubicBezTo>
                  <a:pt x="33" y="73"/>
                  <a:pt x="40" y="63"/>
                  <a:pt x="47" y="55"/>
                </a:cubicBezTo>
                <a:cubicBezTo>
                  <a:pt x="55" y="46"/>
                  <a:pt x="63" y="38"/>
                  <a:pt x="72" y="32"/>
                </a:cubicBezTo>
                <a:cubicBezTo>
                  <a:pt x="81" y="25"/>
                  <a:pt x="90" y="19"/>
                  <a:pt x="100" y="14"/>
                </a:cubicBezTo>
                <a:cubicBezTo>
                  <a:pt x="110" y="10"/>
                  <a:pt x="120" y="6"/>
                  <a:pt x="130" y="4"/>
                </a:cubicBezTo>
                <a:cubicBezTo>
                  <a:pt x="141" y="1"/>
                  <a:pt x="151" y="0"/>
                  <a:pt x="162" y="0"/>
                </a:cubicBezTo>
                <a:lnTo>
                  <a:pt x="8845" y="0"/>
                </a:lnTo>
                <a:cubicBezTo>
                  <a:pt x="8857" y="0"/>
                  <a:pt x="8869" y="1"/>
                  <a:pt x="8881" y="4"/>
                </a:cubicBezTo>
                <a:cubicBezTo>
                  <a:pt x="8893" y="6"/>
                  <a:pt x="8904" y="10"/>
                  <a:pt x="8916" y="14"/>
                </a:cubicBezTo>
                <a:cubicBezTo>
                  <a:pt x="8927" y="19"/>
                  <a:pt x="8938" y="25"/>
                  <a:pt x="8948" y="32"/>
                </a:cubicBezTo>
                <a:cubicBezTo>
                  <a:pt x="8958" y="38"/>
                  <a:pt x="8967" y="46"/>
                  <a:pt x="8976" y="55"/>
                </a:cubicBezTo>
                <a:cubicBezTo>
                  <a:pt x="8985" y="63"/>
                  <a:pt x="8992" y="73"/>
                  <a:pt x="8999" y="83"/>
                </a:cubicBezTo>
                <a:cubicBezTo>
                  <a:pt x="9006" y="93"/>
                  <a:pt x="9012" y="104"/>
                  <a:pt x="9016" y="115"/>
                </a:cubicBezTo>
                <a:cubicBezTo>
                  <a:pt x="9021" y="126"/>
                  <a:pt x="9024" y="138"/>
                  <a:pt x="9027" y="150"/>
                </a:cubicBezTo>
                <a:cubicBezTo>
                  <a:pt x="9029" y="162"/>
                  <a:pt x="9030" y="174"/>
                  <a:pt x="9030" y="186"/>
                </a:cubicBezTo>
                <a:lnTo>
                  <a:pt x="9030" y="1301"/>
                </a:lnTo>
                <a:cubicBezTo>
                  <a:pt x="9030" y="1313"/>
                  <a:pt x="9029" y="1325"/>
                  <a:pt x="9027" y="1337"/>
                </a:cubicBezTo>
                <a:cubicBezTo>
                  <a:pt x="9024" y="1349"/>
                  <a:pt x="9021" y="1361"/>
                  <a:pt x="9016" y="1372"/>
                </a:cubicBezTo>
                <a:cubicBezTo>
                  <a:pt x="9012" y="1383"/>
                  <a:pt x="9006" y="1394"/>
                  <a:pt x="8999" y="1404"/>
                </a:cubicBezTo>
                <a:cubicBezTo>
                  <a:pt x="8992" y="1414"/>
                  <a:pt x="8985" y="1424"/>
                  <a:pt x="8976" y="1432"/>
                </a:cubicBezTo>
                <a:cubicBezTo>
                  <a:pt x="8967" y="1441"/>
                  <a:pt x="8958" y="1449"/>
                  <a:pt x="8948" y="1456"/>
                </a:cubicBezTo>
                <a:cubicBezTo>
                  <a:pt x="8938" y="1462"/>
                  <a:pt x="8927" y="1468"/>
                  <a:pt x="8916" y="1473"/>
                </a:cubicBezTo>
                <a:cubicBezTo>
                  <a:pt x="8904" y="1477"/>
                  <a:pt x="8893" y="1481"/>
                  <a:pt x="8881" y="1483"/>
                </a:cubicBezTo>
                <a:cubicBezTo>
                  <a:pt x="8869" y="1486"/>
                  <a:pt x="8857" y="1487"/>
                  <a:pt x="8845" y="1487"/>
                </a:cubicBezTo>
                <a:lnTo>
                  <a:pt x="162" y="1487"/>
                </a:lnTo>
                <a:cubicBezTo>
                  <a:pt x="151" y="1487"/>
                  <a:pt x="141" y="1486"/>
                  <a:pt x="130" y="1483"/>
                </a:cubicBezTo>
                <a:cubicBezTo>
                  <a:pt x="120" y="1481"/>
                  <a:pt x="110" y="1477"/>
                  <a:pt x="100" y="1473"/>
                </a:cubicBezTo>
                <a:cubicBezTo>
                  <a:pt x="90" y="1468"/>
                  <a:pt x="81" y="1462"/>
                  <a:pt x="72" y="1456"/>
                </a:cubicBezTo>
                <a:cubicBezTo>
                  <a:pt x="63" y="1449"/>
                  <a:pt x="55" y="1441"/>
                  <a:pt x="47" y="1432"/>
                </a:cubicBezTo>
                <a:cubicBezTo>
                  <a:pt x="40" y="1424"/>
                  <a:pt x="33" y="1414"/>
                  <a:pt x="27" y="1404"/>
                </a:cubicBezTo>
                <a:cubicBezTo>
                  <a:pt x="21" y="1394"/>
                  <a:pt x="16" y="1383"/>
                  <a:pt x="12" y="1372"/>
                </a:cubicBezTo>
                <a:cubicBezTo>
                  <a:pt x="8" y="1361"/>
                  <a:pt x="5" y="1349"/>
                  <a:pt x="3" y="1337"/>
                </a:cubicBezTo>
                <a:cubicBezTo>
                  <a:pt x="1" y="1325"/>
                  <a:pt x="0" y="1313"/>
                  <a:pt x="0" y="1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718440" y="5322960"/>
            <a:ext cx="67320" cy="535320"/>
          </a:xfrm>
          <a:custGeom>
            <a:avLst/>
            <a:gdLst/>
            <a:ahLst/>
            <a:rect l="0" t="0" r="r" b="b"/>
            <a:pathLst>
              <a:path w="187" h="1487">
                <a:moveTo>
                  <a:pt x="0" y="0"/>
                </a:moveTo>
                <a:lnTo>
                  <a:pt x="187" y="0"/>
                </a:lnTo>
                <a:lnTo>
                  <a:pt x="187" y="1487"/>
                </a:lnTo>
                <a:lnTo>
                  <a:pt x="0" y="148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0"/>
          <a:stretch/>
        </p:blipFill>
        <p:spPr>
          <a:xfrm>
            <a:off x="3869280" y="5456880"/>
            <a:ext cx="1249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785520" y="552492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システムの簡素化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7119720" y="5322960"/>
            <a:ext cx="3242880" cy="535320"/>
          </a:xfrm>
          <a:custGeom>
            <a:avLst/>
            <a:gdLst/>
            <a:ahLst/>
            <a:rect l="0" t="0" r="r" b="b"/>
            <a:pathLst>
              <a:path w="9008" h="1487">
                <a:moveTo>
                  <a:pt x="0" y="1301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2" y="115"/>
                </a:cubicBezTo>
                <a:cubicBezTo>
                  <a:pt x="16" y="104"/>
                  <a:pt x="21" y="93"/>
                  <a:pt x="27" y="83"/>
                </a:cubicBezTo>
                <a:cubicBezTo>
                  <a:pt x="33" y="73"/>
                  <a:pt x="40" y="63"/>
                  <a:pt x="48" y="55"/>
                </a:cubicBezTo>
                <a:cubicBezTo>
                  <a:pt x="55" y="46"/>
                  <a:pt x="63" y="38"/>
                  <a:pt x="72" y="32"/>
                </a:cubicBezTo>
                <a:cubicBezTo>
                  <a:pt x="81" y="25"/>
                  <a:pt x="90" y="19"/>
                  <a:pt x="100" y="14"/>
                </a:cubicBezTo>
                <a:cubicBezTo>
                  <a:pt x="110" y="10"/>
                  <a:pt x="120" y="6"/>
                  <a:pt x="131" y="4"/>
                </a:cubicBezTo>
                <a:cubicBezTo>
                  <a:pt x="141" y="1"/>
                  <a:pt x="152" y="0"/>
                  <a:pt x="163" y="0"/>
                </a:cubicBezTo>
                <a:lnTo>
                  <a:pt x="8822" y="0"/>
                </a:lnTo>
                <a:cubicBezTo>
                  <a:pt x="8834" y="0"/>
                  <a:pt x="8846" y="1"/>
                  <a:pt x="8858" y="4"/>
                </a:cubicBezTo>
                <a:cubicBezTo>
                  <a:pt x="8870" y="6"/>
                  <a:pt x="8882" y="10"/>
                  <a:pt x="8893" y="14"/>
                </a:cubicBezTo>
                <a:cubicBezTo>
                  <a:pt x="8904" y="19"/>
                  <a:pt x="8915" y="25"/>
                  <a:pt x="8925" y="32"/>
                </a:cubicBezTo>
                <a:cubicBezTo>
                  <a:pt x="8935" y="38"/>
                  <a:pt x="8945" y="46"/>
                  <a:pt x="8953" y="55"/>
                </a:cubicBezTo>
                <a:cubicBezTo>
                  <a:pt x="8962" y="63"/>
                  <a:pt x="8970" y="73"/>
                  <a:pt x="8976" y="83"/>
                </a:cubicBezTo>
                <a:cubicBezTo>
                  <a:pt x="8983" y="93"/>
                  <a:pt x="8989" y="104"/>
                  <a:pt x="8994" y="115"/>
                </a:cubicBezTo>
                <a:cubicBezTo>
                  <a:pt x="8998" y="126"/>
                  <a:pt x="9002" y="138"/>
                  <a:pt x="9004" y="150"/>
                </a:cubicBezTo>
                <a:cubicBezTo>
                  <a:pt x="9006" y="162"/>
                  <a:pt x="9008" y="174"/>
                  <a:pt x="9008" y="186"/>
                </a:cubicBezTo>
                <a:lnTo>
                  <a:pt x="9008" y="1301"/>
                </a:lnTo>
                <a:cubicBezTo>
                  <a:pt x="9008" y="1313"/>
                  <a:pt x="9006" y="1325"/>
                  <a:pt x="9004" y="1337"/>
                </a:cubicBezTo>
                <a:cubicBezTo>
                  <a:pt x="9002" y="1349"/>
                  <a:pt x="8998" y="1361"/>
                  <a:pt x="8994" y="1372"/>
                </a:cubicBezTo>
                <a:cubicBezTo>
                  <a:pt x="8989" y="1383"/>
                  <a:pt x="8983" y="1394"/>
                  <a:pt x="8976" y="1404"/>
                </a:cubicBezTo>
                <a:cubicBezTo>
                  <a:pt x="8970" y="1414"/>
                  <a:pt x="8962" y="1424"/>
                  <a:pt x="8953" y="1432"/>
                </a:cubicBezTo>
                <a:cubicBezTo>
                  <a:pt x="8945" y="1441"/>
                  <a:pt x="8935" y="1449"/>
                  <a:pt x="8925" y="1456"/>
                </a:cubicBezTo>
                <a:cubicBezTo>
                  <a:pt x="8915" y="1462"/>
                  <a:pt x="8904" y="1468"/>
                  <a:pt x="8893" y="1473"/>
                </a:cubicBezTo>
                <a:cubicBezTo>
                  <a:pt x="8882" y="1477"/>
                  <a:pt x="8870" y="1481"/>
                  <a:pt x="8858" y="1483"/>
                </a:cubicBezTo>
                <a:cubicBezTo>
                  <a:pt x="8846" y="1486"/>
                  <a:pt x="8834" y="1487"/>
                  <a:pt x="8822" y="1487"/>
                </a:cubicBezTo>
                <a:lnTo>
                  <a:pt x="163" y="1487"/>
                </a:lnTo>
                <a:cubicBezTo>
                  <a:pt x="152" y="1487"/>
                  <a:pt x="141" y="1486"/>
                  <a:pt x="131" y="1483"/>
                </a:cubicBezTo>
                <a:cubicBezTo>
                  <a:pt x="120" y="1481"/>
                  <a:pt x="110" y="1477"/>
                  <a:pt x="100" y="1473"/>
                </a:cubicBezTo>
                <a:cubicBezTo>
                  <a:pt x="90" y="1468"/>
                  <a:pt x="81" y="1462"/>
                  <a:pt x="72" y="1456"/>
                </a:cubicBezTo>
                <a:cubicBezTo>
                  <a:pt x="63" y="1449"/>
                  <a:pt x="55" y="1441"/>
                  <a:pt x="48" y="1432"/>
                </a:cubicBezTo>
                <a:cubicBezTo>
                  <a:pt x="40" y="1424"/>
                  <a:pt x="33" y="1414"/>
                  <a:pt x="27" y="1404"/>
                </a:cubicBezTo>
                <a:cubicBezTo>
                  <a:pt x="21" y="1394"/>
                  <a:pt x="16" y="1383"/>
                  <a:pt x="12" y="1372"/>
                </a:cubicBezTo>
                <a:cubicBezTo>
                  <a:pt x="8" y="1361"/>
                  <a:pt x="5" y="1349"/>
                  <a:pt x="3" y="1337"/>
                </a:cubicBezTo>
                <a:cubicBezTo>
                  <a:pt x="1" y="1325"/>
                  <a:pt x="0" y="1313"/>
                  <a:pt x="0" y="130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7111440" y="5322960"/>
            <a:ext cx="66960" cy="535320"/>
          </a:xfrm>
          <a:custGeom>
            <a:avLst/>
            <a:gdLst/>
            <a:ahLst/>
            <a:rect l="0" t="0" r="r" b="b"/>
            <a:pathLst>
              <a:path w="186" h="1487">
                <a:moveTo>
                  <a:pt x="132" y="14"/>
                </a:moveTo>
                <a:cubicBezTo>
                  <a:pt x="115" y="24"/>
                  <a:pt x="100" y="37"/>
                  <a:pt x="87" y="55"/>
                </a:cubicBezTo>
                <a:cubicBezTo>
                  <a:pt x="74" y="72"/>
                  <a:pt x="64" y="92"/>
                  <a:pt x="57" y="115"/>
                </a:cubicBezTo>
                <a:cubicBezTo>
                  <a:pt x="50" y="138"/>
                  <a:pt x="46" y="161"/>
                  <a:pt x="46" y="186"/>
                </a:cubicBezTo>
                <a:lnTo>
                  <a:pt x="46" y="1301"/>
                </a:lnTo>
                <a:cubicBezTo>
                  <a:pt x="46" y="1326"/>
                  <a:pt x="50" y="1349"/>
                  <a:pt x="57" y="1372"/>
                </a:cubicBezTo>
                <a:cubicBezTo>
                  <a:pt x="64" y="1395"/>
                  <a:pt x="74" y="1415"/>
                  <a:pt x="87" y="1432"/>
                </a:cubicBezTo>
                <a:cubicBezTo>
                  <a:pt x="100" y="1450"/>
                  <a:pt x="115" y="1463"/>
                  <a:pt x="132" y="1473"/>
                </a:cubicBezTo>
                <a:cubicBezTo>
                  <a:pt x="150" y="1482"/>
                  <a:pt x="168" y="1487"/>
                  <a:pt x="186" y="1487"/>
                </a:cubicBezTo>
                <a:cubicBezTo>
                  <a:pt x="162" y="1487"/>
                  <a:pt x="138" y="1482"/>
                  <a:pt x="114" y="1473"/>
                </a:cubicBezTo>
                <a:cubicBezTo>
                  <a:pt x="92" y="1463"/>
                  <a:pt x="72" y="1450"/>
                  <a:pt x="54" y="1432"/>
                </a:cubicBezTo>
                <a:cubicBezTo>
                  <a:pt x="37" y="1415"/>
                  <a:pt x="23" y="1395"/>
                  <a:pt x="14" y="1372"/>
                </a:cubicBezTo>
                <a:cubicBezTo>
                  <a:pt x="5" y="1349"/>
                  <a:pt x="0" y="1326"/>
                  <a:pt x="0" y="1301"/>
                </a:cubicBezTo>
                <a:lnTo>
                  <a:pt x="0" y="186"/>
                </a:lnTo>
                <a:cubicBezTo>
                  <a:pt x="0" y="161"/>
                  <a:pt x="5" y="138"/>
                  <a:pt x="14" y="115"/>
                </a:cubicBezTo>
                <a:cubicBezTo>
                  <a:pt x="23" y="92"/>
                  <a:pt x="37" y="72"/>
                  <a:pt x="54" y="55"/>
                </a:cubicBezTo>
                <a:cubicBezTo>
                  <a:pt x="72" y="37"/>
                  <a:pt x="92" y="24"/>
                  <a:pt x="114" y="14"/>
                </a:cubicBezTo>
                <a:cubicBezTo>
                  <a:pt x="138" y="5"/>
                  <a:pt x="162" y="0"/>
                  <a:pt x="186" y="0"/>
                </a:cubicBezTo>
                <a:cubicBezTo>
                  <a:pt x="168" y="0"/>
                  <a:pt x="150" y="5"/>
                  <a:pt x="132" y="1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1"/>
          <a:stretch/>
        </p:blipFill>
        <p:spPr>
          <a:xfrm>
            <a:off x="7261920" y="545688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"/>
          <p:cNvSpPr txBox="1"/>
          <p:nvPr/>
        </p:nvSpPr>
        <p:spPr>
          <a:xfrm>
            <a:off x="4097520" y="552492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コスト削減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560000" y="5524920"/>
            <a:ext cx="939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運用効率の向上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0153440" y="589284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3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0"/>
            <a:ext cx="10696680" cy="6017040"/>
          </a:xfrm>
          <a:custGeom>
            <a:avLst/>
            <a:gdLst/>
            <a:ahLst/>
            <a:rect l="0" t="0" r="r" b="b"/>
            <a:pathLst>
              <a:path w="29713" h="16714">
                <a:moveTo>
                  <a:pt x="0" y="0"/>
                </a:moveTo>
                <a:lnTo>
                  <a:pt x="29713" y="0"/>
                </a:lnTo>
                <a:lnTo>
                  <a:pt x="29713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267120" y="1203120"/>
            <a:ext cx="10162080" cy="17280"/>
          </a:xfrm>
          <a:custGeom>
            <a:avLst/>
            <a:gdLst/>
            <a:ahLst/>
            <a:rect l="0" t="0" r="r" b="b"/>
            <a:pathLst>
              <a:path w="28228" h="48">
                <a:moveTo>
                  <a:pt x="0" y="0"/>
                </a:moveTo>
                <a:lnTo>
                  <a:pt x="28228" y="0"/>
                </a:lnTo>
                <a:lnTo>
                  <a:pt x="2822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67120" y="5013720"/>
            <a:ext cx="10162080" cy="434880"/>
          </a:xfrm>
          <a:custGeom>
            <a:avLst/>
            <a:gdLst/>
            <a:ahLst/>
            <a:rect l="0" t="0" r="r" b="b"/>
            <a:pathLst>
              <a:path w="28228" h="1208">
                <a:moveTo>
                  <a:pt x="0" y="0"/>
                </a:moveTo>
                <a:lnTo>
                  <a:pt x="28228" y="0"/>
                </a:lnTo>
                <a:lnTo>
                  <a:pt x="28228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add8e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267120" y="5013720"/>
            <a:ext cx="33840" cy="434880"/>
          </a:xfrm>
          <a:custGeom>
            <a:avLst/>
            <a:gdLst/>
            <a:ahLst/>
            <a:rect l="0" t="0" r="r" b="b"/>
            <a:pathLst>
              <a:path w="94" h="1208">
                <a:moveTo>
                  <a:pt x="0" y="0"/>
                </a:moveTo>
                <a:lnTo>
                  <a:pt x="94" y="0"/>
                </a:lnTo>
                <a:lnTo>
                  <a:pt x="94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267480" y="969480"/>
            <a:ext cx="20844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"/>
          <p:cNvSpPr txBox="1"/>
          <p:nvPr/>
        </p:nvSpPr>
        <p:spPr>
          <a:xfrm>
            <a:off x="334440" y="210240"/>
            <a:ext cx="27669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無線通信信号評価の基本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543240" y="964800"/>
            <a:ext cx="2515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一般的な無線通信信号の品質評価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68000" y="1364760"/>
            <a:ext cx="67849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受信した変調信号を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IF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信号にダウンコンバート → 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ADC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でサンプリング → ベースバンド成分を分析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67120" y="1988640"/>
            <a:ext cx="3251160" cy="2824920"/>
          </a:xfrm>
          <a:custGeom>
            <a:avLst/>
            <a:gdLst/>
            <a:ahLst/>
            <a:rect l="0" t="0" r="r" b="b"/>
            <a:pathLst>
              <a:path w="9031" h="7847">
                <a:moveTo>
                  <a:pt x="0" y="7662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8845" y="0"/>
                </a:lnTo>
                <a:cubicBezTo>
                  <a:pt x="8858" y="0"/>
                  <a:pt x="8870" y="1"/>
                  <a:pt x="8882" y="4"/>
                </a:cubicBezTo>
                <a:cubicBezTo>
                  <a:pt x="8894" y="6"/>
                  <a:pt x="8905" y="10"/>
                  <a:pt x="8917" y="14"/>
                </a:cubicBezTo>
                <a:cubicBezTo>
                  <a:pt x="8928" y="19"/>
                  <a:pt x="8939" y="25"/>
                  <a:pt x="8949" y="32"/>
                </a:cubicBezTo>
                <a:cubicBezTo>
                  <a:pt x="8959" y="38"/>
                  <a:pt x="8968" y="46"/>
                  <a:pt x="8977" y="55"/>
                </a:cubicBezTo>
                <a:cubicBezTo>
                  <a:pt x="8985" y="63"/>
                  <a:pt x="8993" y="73"/>
                  <a:pt x="9000" y="83"/>
                </a:cubicBezTo>
                <a:cubicBezTo>
                  <a:pt x="9007" y="93"/>
                  <a:pt x="9012" y="104"/>
                  <a:pt x="9017" y="115"/>
                </a:cubicBezTo>
                <a:cubicBezTo>
                  <a:pt x="9022" y="126"/>
                  <a:pt x="9025" y="138"/>
                  <a:pt x="9028" y="150"/>
                </a:cubicBezTo>
                <a:cubicBezTo>
                  <a:pt x="9030" y="162"/>
                  <a:pt x="9031" y="174"/>
                  <a:pt x="9031" y="186"/>
                </a:cubicBezTo>
                <a:lnTo>
                  <a:pt x="9031" y="7662"/>
                </a:lnTo>
                <a:cubicBezTo>
                  <a:pt x="9031" y="7674"/>
                  <a:pt x="9030" y="7686"/>
                  <a:pt x="9028" y="7698"/>
                </a:cubicBezTo>
                <a:cubicBezTo>
                  <a:pt x="9025" y="7710"/>
                  <a:pt x="9022" y="7721"/>
                  <a:pt x="9017" y="7733"/>
                </a:cubicBezTo>
                <a:cubicBezTo>
                  <a:pt x="9012" y="7744"/>
                  <a:pt x="9007" y="7755"/>
                  <a:pt x="9000" y="7765"/>
                </a:cubicBezTo>
                <a:cubicBezTo>
                  <a:pt x="8993" y="7775"/>
                  <a:pt x="8985" y="7784"/>
                  <a:pt x="8977" y="7793"/>
                </a:cubicBezTo>
                <a:cubicBezTo>
                  <a:pt x="8968" y="7801"/>
                  <a:pt x="8959" y="7809"/>
                  <a:pt x="8949" y="7816"/>
                </a:cubicBezTo>
                <a:cubicBezTo>
                  <a:pt x="8939" y="7823"/>
                  <a:pt x="8928" y="7828"/>
                  <a:pt x="8917" y="7833"/>
                </a:cubicBezTo>
                <a:cubicBezTo>
                  <a:pt x="8905" y="7838"/>
                  <a:pt x="8894" y="7841"/>
                  <a:pt x="8882" y="7844"/>
                </a:cubicBezTo>
                <a:cubicBezTo>
                  <a:pt x="8870" y="7846"/>
                  <a:pt x="8858" y="7847"/>
                  <a:pt x="8845" y="7847"/>
                </a:cubicBezTo>
                <a:lnTo>
                  <a:pt x="186" y="7847"/>
                </a:lnTo>
                <a:cubicBezTo>
                  <a:pt x="174" y="7847"/>
                  <a:pt x="162" y="7846"/>
                  <a:pt x="150" y="7844"/>
                </a:cubicBezTo>
                <a:cubicBezTo>
                  <a:pt x="138" y="7841"/>
                  <a:pt x="126" y="7838"/>
                  <a:pt x="115" y="7833"/>
                </a:cubicBezTo>
                <a:cubicBezTo>
                  <a:pt x="104" y="7828"/>
                  <a:pt x="93" y="7823"/>
                  <a:pt x="83" y="7816"/>
                </a:cubicBezTo>
                <a:cubicBezTo>
                  <a:pt x="73" y="7809"/>
                  <a:pt x="63" y="7801"/>
                  <a:pt x="55" y="7793"/>
                </a:cubicBezTo>
                <a:cubicBezTo>
                  <a:pt x="46" y="7784"/>
                  <a:pt x="38" y="7775"/>
                  <a:pt x="32" y="7765"/>
                </a:cubicBezTo>
                <a:cubicBezTo>
                  <a:pt x="25" y="7755"/>
                  <a:pt x="19" y="7744"/>
                  <a:pt x="14" y="7733"/>
                </a:cubicBezTo>
                <a:cubicBezTo>
                  <a:pt x="10" y="7721"/>
                  <a:pt x="6" y="7710"/>
                  <a:pt x="4" y="7698"/>
                </a:cubicBezTo>
                <a:cubicBezTo>
                  <a:pt x="2" y="7686"/>
                  <a:pt x="0" y="7674"/>
                  <a:pt x="0" y="76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401040" y="2389680"/>
            <a:ext cx="2983680" cy="17280"/>
          </a:xfrm>
          <a:custGeom>
            <a:avLst/>
            <a:gdLst/>
            <a:ahLst/>
            <a:rect l="0" t="0" r="r" b="b"/>
            <a:pathLst>
              <a:path w="8288" h="48">
                <a:moveTo>
                  <a:pt x="0" y="0"/>
                </a:moveTo>
                <a:lnTo>
                  <a:pt x="8288" y="0"/>
                </a:lnTo>
                <a:lnTo>
                  <a:pt x="828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3"/>
          <a:stretch/>
        </p:blipFill>
        <p:spPr>
          <a:xfrm>
            <a:off x="401040" y="2164320"/>
            <a:ext cx="1666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 txBox="1"/>
          <p:nvPr/>
        </p:nvSpPr>
        <p:spPr>
          <a:xfrm>
            <a:off x="468000" y="1598760"/>
            <a:ext cx="58284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本システム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アナログ処理でベースバンド成分を復調 → アンダーサンプリングで取得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4"/>
          <a:stretch/>
        </p:blipFill>
        <p:spPr>
          <a:xfrm>
            <a:off x="401040" y="2507040"/>
            <a:ext cx="2982960" cy="13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5"/>
          <a:stretch/>
        </p:blipFill>
        <p:spPr>
          <a:xfrm>
            <a:off x="401040" y="39776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 txBox="1"/>
          <p:nvPr/>
        </p:nvSpPr>
        <p:spPr>
          <a:xfrm>
            <a:off x="635040" y="2166840"/>
            <a:ext cx="906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アイパターン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51520" y="3969360"/>
            <a:ext cx="28339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ベースバンド信号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I,Q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をビットタイミングで重ね合わ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6"/>
          <a:stretch/>
        </p:blipFill>
        <p:spPr>
          <a:xfrm>
            <a:off x="401040" y="434556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401040" y="413676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せて描画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3" name="" descr=""/>
          <p:cNvPicPr/>
          <p:nvPr/>
        </p:nvPicPr>
        <p:blipFill>
          <a:blip r:embed="rId7"/>
          <a:stretch/>
        </p:blipFill>
        <p:spPr>
          <a:xfrm>
            <a:off x="401040" y="4546080"/>
            <a:ext cx="7488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"/>
          <p:cNvSpPr txBox="1"/>
          <p:nvPr/>
        </p:nvSpPr>
        <p:spPr>
          <a:xfrm>
            <a:off x="576720" y="433728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アイ開口の広がりで信号品質を評価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3718440" y="1988640"/>
            <a:ext cx="3259440" cy="2824920"/>
          </a:xfrm>
          <a:custGeom>
            <a:avLst/>
            <a:gdLst/>
            <a:ahLst/>
            <a:rect l="0" t="0" r="r" b="b"/>
            <a:pathLst>
              <a:path w="9054" h="7847">
                <a:moveTo>
                  <a:pt x="0" y="7662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8869" y="0"/>
                </a:lnTo>
                <a:cubicBezTo>
                  <a:pt x="8881" y="0"/>
                  <a:pt x="8893" y="1"/>
                  <a:pt x="8905" y="4"/>
                </a:cubicBezTo>
                <a:cubicBezTo>
                  <a:pt x="8917" y="6"/>
                  <a:pt x="8928" y="10"/>
                  <a:pt x="8940" y="14"/>
                </a:cubicBezTo>
                <a:cubicBezTo>
                  <a:pt x="8951" y="19"/>
                  <a:pt x="8962" y="25"/>
                  <a:pt x="8972" y="32"/>
                </a:cubicBezTo>
                <a:cubicBezTo>
                  <a:pt x="8982" y="38"/>
                  <a:pt x="8991" y="46"/>
                  <a:pt x="9000" y="55"/>
                </a:cubicBezTo>
                <a:cubicBezTo>
                  <a:pt x="9009" y="63"/>
                  <a:pt x="9016" y="73"/>
                  <a:pt x="9023" y="83"/>
                </a:cubicBezTo>
                <a:cubicBezTo>
                  <a:pt x="9030" y="93"/>
                  <a:pt x="9036" y="104"/>
                  <a:pt x="9040" y="115"/>
                </a:cubicBezTo>
                <a:cubicBezTo>
                  <a:pt x="9045" y="126"/>
                  <a:pt x="9048" y="138"/>
                  <a:pt x="9051" y="150"/>
                </a:cubicBezTo>
                <a:cubicBezTo>
                  <a:pt x="9053" y="162"/>
                  <a:pt x="9054" y="174"/>
                  <a:pt x="9054" y="186"/>
                </a:cubicBezTo>
                <a:lnTo>
                  <a:pt x="9054" y="7662"/>
                </a:lnTo>
                <a:cubicBezTo>
                  <a:pt x="9054" y="7674"/>
                  <a:pt x="9053" y="7686"/>
                  <a:pt x="9051" y="7698"/>
                </a:cubicBezTo>
                <a:cubicBezTo>
                  <a:pt x="9048" y="7710"/>
                  <a:pt x="9045" y="7721"/>
                  <a:pt x="9040" y="7733"/>
                </a:cubicBezTo>
                <a:cubicBezTo>
                  <a:pt x="9036" y="7744"/>
                  <a:pt x="9030" y="7755"/>
                  <a:pt x="9023" y="7765"/>
                </a:cubicBezTo>
                <a:cubicBezTo>
                  <a:pt x="9016" y="7775"/>
                  <a:pt x="9009" y="7784"/>
                  <a:pt x="9000" y="7793"/>
                </a:cubicBezTo>
                <a:cubicBezTo>
                  <a:pt x="8991" y="7801"/>
                  <a:pt x="8982" y="7809"/>
                  <a:pt x="8972" y="7816"/>
                </a:cubicBezTo>
                <a:cubicBezTo>
                  <a:pt x="8962" y="7823"/>
                  <a:pt x="8951" y="7828"/>
                  <a:pt x="8940" y="7833"/>
                </a:cubicBezTo>
                <a:cubicBezTo>
                  <a:pt x="8928" y="7838"/>
                  <a:pt x="8917" y="7841"/>
                  <a:pt x="8905" y="7844"/>
                </a:cubicBezTo>
                <a:cubicBezTo>
                  <a:pt x="8893" y="7846"/>
                  <a:pt x="8881" y="7847"/>
                  <a:pt x="8869" y="7847"/>
                </a:cubicBezTo>
                <a:lnTo>
                  <a:pt x="186" y="7847"/>
                </a:lnTo>
                <a:cubicBezTo>
                  <a:pt x="174" y="7847"/>
                  <a:pt x="162" y="7846"/>
                  <a:pt x="150" y="7844"/>
                </a:cubicBezTo>
                <a:cubicBezTo>
                  <a:pt x="138" y="7841"/>
                  <a:pt x="126" y="7838"/>
                  <a:pt x="115" y="7833"/>
                </a:cubicBezTo>
                <a:cubicBezTo>
                  <a:pt x="104" y="7828"/>
                  <a:pt x="93" y="7823"/>
                  <a:pt x="83" y="7816"/>
                </a:cubicBezTo>
                <a:cubicBezTo>
                  <a:pt x="73" y="7809"/>
                  <a:pt x="63" y="7801"/>
                  <a:pt x="55" y="7793"/>
                </a:cubicBezTo>
                <a:cubicBezTo>
                  <a:pt x="46" y="7784"/>
                  <a:pt x="38" y="7775"/>
                  <a:pt x="32" y="7765"/>
                </a:cubicBezTo>
                <a:cubicBezTo>
                  <a:pt x="25" y="7755"/>
                  <a:pt x="19" y="7744"/>
                  <a:pt x="14" y="7733"/>
                </a:cubicBezTo>
                <a:cubicBezTo>
                  <a:pt x="10" y="7721"/>
                  <a:pt x="6" y="7710"/>
                  <a:pt x="4" y="7698"/>
                </a:cubicBezTo>
                <a:cubicBezTo>
                  <a:pt x="1" y="7686"/>
                  <a:pt x="0" y="7674"/>
                  <a:pt x="0" y="76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3852360" y="2389680"/>
            <a:ext cx="2991960" cy="17280"/>
          </a:xfrm>
          <a:custGeom>
            <a:avLst/>
            <a:gdLst/>
            <a:ahLst/>
            <a:rect l="0" t="0" r="r" b="b"/>
            <a:pathLst>
              <a:path w="8311" h="48">
                <a:moveTo>
                  <a:pt x="0" y="0"/>
                </a:moveTo>
                <a:lnTo>
                  <a:pt x="8311" y="0"/>
                </a:lnTo>
                <a:lnTo>
                  <a:pt x="8311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509760" y="4537800"/>
            <a:ext cx="2491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信号品質が悪いと線が太く、アイ開口が小さく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" descr=""/>
          <p:cNvPicPr/>
          <p:nvPr/>
        </p:nvPicPr>
        <p:blipFill>
          <a:blip r:embed="rId8"/>
          <a:stretch/>
        </p:blipFill>
        <p:spPr>
          <a:xfrm>
            <a:off x="3852360" y="2507040"/>
            <a:ext cx="2982960" cy="133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9"/>
          <a:stretch/>
        </p:blipFill>
        <p:spPr>
          <a:xfrm>
            <a:off x="3852360" y="39776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"/>
          <p:cNvSpPr txBox="1"/>
          <p:nvPr/>
        </p:nvSpPr>
        <p:spPr>
          <a:xfrm>
            <a:off x="3922200" y="2166840"/>
            <a:ext cx="135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コンステレーション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0"/>
          <a:stretch/>
        </p:blipFill>
        <p:spPr>
          <a:xfrm>
            <a:off x="3852360" y="417852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"/>
          <p:cNvSpPr txBox="1"/>
          <p:nvPr/>
        </p:nvSpPr>
        <p:spPr>
          <a:xfrm>
            <a:off x="4005720" y="3969360"/>
            <a:ext cx="27882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からシンボル点を抜き出し、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IQ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平面上に描画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" descr=""/>
          <p:cNvPicPr/>
          <p:nvPr/>
        </p:nvPicPr>
        <p:blipFill>
          <a:blip r:embed="rId11"/>
          <a:stretch/>
        </p:blipFill>
        <p:spPr>
          <a:xfrm>
            <a:off x="3852360" y="43790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 txBox="1"/>
          <p:nvPr/>
        </p:nvSpPr>
        <p:spPr>
          <a:xfrm>
            <a:off x="4005720" y="4170240"/>
            <a:ext cx="2256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シンボルのばらつきでノイズの影響を観察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7178400" y="1988640"/>
            <a:ext cx="3250800" cy="2824920"/>
          </a:xfrm>
          <a:custGeom>
            <a:avLst/>
            <a:gdLst/>
            <a:ahLst/>
            <a:rect l="0" t="0" r="r" b="b"/>
            <a:pathLst>
              <a:path w="9030" h="7847">
                <a:moveTo>
                  <a:pt x="0" y="7662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8845" y="0"/>
                </a:lnTo>
                <a:cubicBezTo>
                  <a:pt x="8857" y="0"/>
                  <a:pt x="8869" y="1"/>
                  <a:pt x="8881" y="4"/>
                </a:cubicBezTo>
                <a:cubicBezTo>
                  <a:pt x="8893" y="6"/>
                  <a:pt x="8904" y="10"/>
                  <a:pt x="8916" y="14"/>
                </a:cubicBezTo>
                <a:cubicBezTo>
                  <a:pt x="8927" y="19"/>
                  <a:pt x="8938" y="25"/>
                  <a:pt x="8948" y="32"/>
                </a:cubicBezTo>
                <a:cubicBezTo>
                  <a:pt x="8958" y="38"/>
                  <a:pt x="8967" y="46"/>
                  <a:pt x="8976" y="55"/>
                </a:cubicBezTo>
                <a:cubicBezTo>
                  <a:pt x="8985" y="63"/>
                  <a:pt x="8992" y="73"/>
                  <a:pt x="8999" y="83"/>
                </a:cubicBezTo>
                <a:cubicBezTo>
                  <a:pt x="9006" y="93"/>
                  <a:pt x="9012" y="104"/>
                  <a:pt x="9016" y="115"/>
                </a:cubicBezTo>
                <a:cubicBezTo>
                  <a:pt x="9021" y="126"/>
                  <a:pt x="9024" y="138"/>
                  <a:pt x="9027" y="150"/>
                </a:cubicBezTo>
                <a:cubicBezTo>
                  <a:pt x="9029" y="162"/>
                  <a:pt x="9030" y="174"/>
                  <a:pt x="9030" y="186"/>
                </a:cubicBezTo>
                <a:lnTo>
                  <a:pt x="9030" y="7662"/>
                </a:lnTo>
                <a:cubicBezTo>
                  <a:pt x="9030" y="7674"/>
                  <a:pt x="9029" y="7686"/>
                  <a:pt x="9027" y="7698"/>
                </a:cubicBezTo>
                <a:cubicBezTo>
                  <a:pt x="9024" y="7710"/>
                  <a:pt x="9021" y="7721"/>
                  <a:pt x="9016" y="7733"/>
                </a:cubicBezTo>
                <a:cubicBezTo>
                  <a:pt x="9012" y="7744"/>
                  <a:pt x="9006" y="7755"/>
                  <a:pt x="8999" y="7765"/>
                </a:cubicBezTo>
                <a:cubicBezTo>
                  <a:pt x="8992" y="7775"/>
                  <a:pt x="8985" y="7784"/>
                  <a:pt x="8976" y="7793"/>
                </a:cubicBezTo>
                <a:cubicBezTo>
                  <a:pt x="8967" y="7801"/>
                  <a:pt x="8958" y="7809"/>
                  <a:pt x="8948" y="7816"/>
                </a:cubicBezTo>
                <a:cubicBezTo>
                  <a:pt x="8938" y="7823"/>
                  <a:pt x="8927" y="7828"/>
                  <a:pt x="8916" y="7833"/>
                </a:cubicBezTo>
                <a:cubicBezTo>
                  <a:pt x="8904" y="7838"/>
                  <a:pt x="8893" y="7841"/>
                  <a:pt x="8881" y="7844"/>
                </a:cubicBezTo>
                <a:cubicBezTo>
                  <a:pt x="8869" y="7846"/>
                  <a:pt x="8857" y="7847"/>
                  <a:pt x="8845" y="7847"/>
                </a:cubicBezTo>
                <a:lnTo>
                  <a:pt x="185" y="7847"/>
                </a:lnTo>
                <a:cubicBezTo>
                  <a:pt x="173" y="7847"/>
                  <a:pt x="161" y="7846"/>
                  <a:pt x="149" y="7844"/>
                </a:cubicBezTo>
                <a:cubicBezTo>
                  <a:pt x="137" y="7841"/>
                  <a:pt x="125" y="7838"/>
                  <a:pt x="114" y="7833"/>
                </a:cubicBezTo>
                <a:cubicBezTo>
                  <a:pt x="103" y="7828"/>
                  <a:pt x="92" y="7823"/>
                  <a:pt x="82" y="7816"/>
                </a:cubicBezTo>
                <a:cubicBezTo>
                  <a:pt x="72" y="7809"/>
                  <a:pt x="63" y="7801"/>
                  <a:pt x="54" y="7793"/>
                </a:cubicBezTo>
                <a:cubicBezTo>
                  <a:pt x="45" y="7784"/>
                  <a:pt x="38" y="7775"/>
                  <a:pt x="31" y="7765"/>
                </a:cubicBezTo>
                <a:cubicBezTo>
                  <a:pt x="24" y="7755"/>
                  <a:pt x="18" y="7744"/>
                  <a:pt x="14" y="7733"/>
                </a:cubicBezTo>
                <a:cubicBezTo>
                  <a:pt x="9" y="7721"/>
                  <a:pt x="5" y="7710"/>
                  <a:pt x="3" y="7698"/>
                </a:cubicBezTo>
                <a:cubicBezTo>
                  <a:pt x="1" y="7686"/>
                  <a:pt x="0" y="7674"/>
                  <a:pt x="0" y="766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311960" y="2389680"/>
            <a:ext cx="2983680" cy="17280"/>
          </a:xfrm>
          <a:custGeom>
            <a:avLst/>
            <a:gdLst/>
            <a:ahLst/>
            <a:rect l="0" t="0" r="r" b="b"/>
            <a:pathLst>
              <a:path w="8288" h="48">
                <a:moveTo>
                  <a:pt x="0" y="0"/>
                </a:moveTo>
                <a:lnTo>
                  <a:pt x="8288" y="0"/>
                </a:lnTo>
                <a:lnTo>
                  <a:pt x="8288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7" name="" descr=""/>
          <p:cNvPicPr/>
          <p:nvPr/>
        </p:nvPicPr>
        <p:blipFill>
          <a:blip r:embed="rId12"/>
          <a:stretch/>
        </p:blipFill>
        <p:spPr>
          <a:xfrm>
            <a:off x="7311960" y="2164320"/>
            <a:ext cx="11664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 txBox="1"/>
          <p:nvPr/>
        </p:nvSpPr>
        <p:spPr>
          <a:xfrm>
            <a:off x="4005720" y="4370760"/>
            <a:ext cx="14266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I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の直交性も確認可能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7520760" y="2866320"/>
            <a:ext cx="2557440" cy="852480"/>
          </a:xfrm>
          <a:custGeom>
            <a:avLst/>
            <a:gdLst/>
            <a:ahLst/>
            <a:rect l="0" t="0" r="r" b="b"/>
            <a:pathLst>
              <a:path w="7104" h="2368">
                <a:moveTo>
                  <a:pt x="0" y="2275"/>
                </a:moveTo>
                <a:lnTo>
                  <a:pt x="0" y="92"/>
                </a:lnTo>
                <a:cubicBezTo>
                  <a:pt x="0" y="80"/>
                  <a:pt x="3" y="68"/>
                  <a:pt x="7" y="57"/>
                </a:cubicBezTo>
                <a:cubicBezTo>
                  <a:pt x="12" y="46"/>
                  <a:pt x="19" y="35"/>
                  <a:pt x="27" y="27"/>
                </a:cubicBezTo>
                <a:cubicBezTo>
                  <a:pt x="36" y="18"/>
                  <a:pt x="46" y="11"/>
                  <a:pt x="58" y="7"/>
                </a:cubicBezTo>
                <a:cubicBezTo>
                  <a:pt x="69" y="2"/>
                  <a:pt x="81" y="0"/>
                  <a:pt x="93" y="0"/>
                </a:cubicBezTo>
                <a:lnTo>
                  <a:pt x="7012" y="0"/>
                </a:lnTo>
                <a:cubicBezTo>
                  <a:pt x="7024" y="0"/>
                  <a:pt x="7036" y="2"/>
                  <a:pt x="7047" y="7"/>
                </a:cubicBezTo>
                <a:cubicBezTo>
                  <a:pt x="7058" y="11"/>
                  <a:pt x="7069" y="18"/>
                  <a:pt x="7077" y="27"/>
                </a:cubicBezTo>
                <a:cubicBezTo>
                  <a:pt x="7086" y="35"/>
                  <a:pt x="7093" y="46"/>
                  <a:pt x="7097" y="57"/>
                </a:cubicBezTo>
                <a:cubicBezTo>
                  <a:pt x="7102" y="68"/>
                  <a:pt x="7104" y="80"/>
                  <a:pt x="7104" y="92"/>
                </a:cubicBezTo>
                <a:lnTo>
                  <a:pt x="7104" y="2275"/>
                </a:lnTo>
                <a:cubicBezTo>
                  <a:pt x="7104" y="2288"/>
                  <a:pt x="7102" y="2300"/>
                  <a:pt x="7097" y="2311"/>
                </a:cubicBezTo>
                <a:cubicBezTo>
                  <a:pt x="7093" y="2322"/>
                  <a:pt x="7086" y="2332"/>
                  <a:pt x="7077" y="2341"/>
                </a:cubicBezTo>
                <a:cubicBezTo>
                  <a:pt x="7069" y="2350"/>
                  <a:pt x="7058" y="2357"/>
                  <a:pt x="7047" y="2361"/>
                </a:cubicBezTo>
                <a:cubicBezTo>
                  <a:pt x="7036" y="2366"/>
                  <a:pt x="7024" y="2368"/>
                  <a:pt x="7012" y="2368"/>
                </a:cubicBezTo>
                <a:lnTo>
                  <a:pt x="93" y="2368"/>
                </a:lnTo>
                <a:cubicBezTo>
                  <a:pt x="81" y="2368"/>
                  <a:pt x="69" y="2366"/>
                  <a:pt x="58" y="2361"/>
                </a:cubicBezTo>
                <a:cubicBezTo>
                  <a:pt x="46" y="2357"/>
                  <a:pt x="36" y="2350"/>
                  <a:pt x="27" y="2341"/>
                </a:cubicBezTo>
                <a:cubicBezTo>
                  <a:pt x="19" y="2332"/>
                  <a:pt x="12" y="2322"/>
                  <a:pt x="7" y="2311"/>
                </a:cubicBezTo>
                <a:cubicBezTo>
                  <a:pt x="3" y="2300"/>
                  <a:pt x="0" y="2288"/>
                  <a:pt x="0" y="2275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7493040" y="2166840"/>
            <a:ext cx="225144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EVM (Error Vector Magnitude)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3"/>
          <a:stretch/>
        </p:blipFill>
        <p:spPr>
          <a:xfrm>
            <a:off x="7311960" y="39776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"/>
          <p:cNvSpPr txBox="1"/>
          <p:nvPr/>
        </p:nvSpPr>
        <p:spPr>
          <a:xfrm>
            <a:off x="7866360" y="26575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シンボルのばらつきを定量的に評価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3" name="" descr=""/>
          <p:cNvPicPr/>
          <p:nvPr/>
        </p:nvPicPr>
        <p:blipFill>
          <a:blip r:embed="rId14"/>
          <a:stretch/>
        </p:blipFill>
        <p:spPr>
          <a:xfrm>
            <a:off x="7311960" y="417852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"/>
          <p:cNvSpPr txBox="1"/>
          <p:nvPr/>
        </p:nvSpPr>
        <p:spPr>
          <a:xfrm>
            <a:off x="7459560" y="3969360"/>
            <a:ext cx="2256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理想的なシンボル位置からの距離を示す値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5"/>
          <a:stretch/>
        </p:blipFill>
        <p:spPr>
          <a:xfrm>
            <a:off x="434520" y="5181120"/>
            <a:ext cx="914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"/>
          <p:cNvSpPr txBox="1"/>
          <p:nvPr/>
        </p:nvSpPr>
        <p:spPr>
          <a:xfrm>
            <a:off x="7459560" y="4170240"/>
            <a:ext cx="1670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値が小さいほど信号品質が良い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93280" y="5172840"/>
            <a:ext cx="87663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信号品質の評価指標として、アイパターンとコンステレーションの視覚的評価と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EVM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による数値評価を組み合わせることで、より正確な品質判断が可能になります。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589880" y="3182040"/>
            <a:ext cx="878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EV M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(%) =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515440" y="3283920"/>
            <a:ext cx="1036440" cy="8640"/>
          </a:xfrm>
          <a:custGeom>
            <a:avLst/>
            <a:gdLst/>
            <a:ahLst/>
            <a:rect l="0" t="0" r="r" b="b"/>
            <a:pathLst>
              <a:path w="2879" h="24">
                <a:moveTo>
                  <a:pt x="0" y="0"/>
                </a:moveTo>
                <a:lnTo>
                  <a:pt x="2879" y="0"/>
                </a:lnTo>
                <a:lnTo>
                  <a:pt x="2879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8533080" y="3065040"/>
            <a:ext cx="10839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|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Error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vector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|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8556840" y="3299040"/>
            <a:ext cx="10771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|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Ideal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vector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|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9604440" y="3182040"/>
            <a:ext cx="500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× 100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4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>
            <a:off x="0" y="0"/>
            <a:ext cx="10696680" cy="7421040"/>
          </a:xfrm>
          <a:custGeom>
            <a:avLst/>
            <a:gdLst/>
            <a:ahLst/>
            <a:rect l="0" t="0" r="r" b="b"/>
            <a:pathLst>
              <a:path w="29713" h="20614">
                <a:moveTo>
                  <a:pt x="0" y="0"/>
                </a:moveTo>
                <a:lnTo>
                  <a:pt x="29713" y="0"/>
                </a:lnTo>
                <a:lnTo>
                  <a:pt x="29713" y="20614"/>
                </a:lnTo>
                <a:lnTo>
                  <a:pt x="0" y="206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"/>
          <p:cNvSpPr/>
          <p:nvPr/>
        </p:nvSpPr>
        <p:spPr>
          <a:xfrm>
            <a:off x="267120" y="1771560"/>
            <a:ext cx="4880880" cy="1295640"/>
          </a:xfrm>
          <a:custGeom>
            <a:avLst/>
            <a:gdLst/>
            <a:ahLst/>
            <a:rect l="0" t="0" r="r" b="b"/>
            <a:pathLst>
              <a:path w="13558" h="3599">
                <a:moveTo>
                  <a:pt x="0" y="3413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3"/>
                </a:cubicBezTo>
                <a:cubicBezTo>
                  <a:pt x="13420" y="6"/>
                  <a:pt x="13432" y="9"/>
                  <a:pt x="13443" y="14"/>
                </a:cubicBezTo>
                <a:cubicBezTo>
                  <a:pt x="13454" y="18"/>
                  <a:pt x="13465" y="24"/>
                  <a:pt x="13475" y="31"/>
                </a:cubicBezTo>
                <a:cubicBezTo>
                  <a:pt x="13485" y="38"/>
                  <a:pt x="13495" y="45"/>
                  <a:pt x="13503" y="54"/>
                </a:cubicBezTo>
                <a:cubicBezTo>
                  <a:pt x="13512" y="63"/>
                  <a:pt x="13520" y="72"/>
                  <a:pt x="13526" y="82"/>
                </a:cubicBezTo>
                <a:cubicBezTo>
                  <a:pt x="13533" y="92"/>
                  <a:pt x="13539" y="103"/>
                  <a:pt x="13544" y="114"/>
                </a:cubicBezTo>
                <a:cubicBezTo>
                  <a:pt x="13548" y="126"/>
                  <a:pt x="13552" y="137"/>
                  <a:pt x="13554" y="149"/>
                </a:cubicBezTo>
                <a:cubicBezTo>
                  <a:pt x="13557" y="161"/>
                  <a:pt x="13558" y="173"/>
                  <a:pt x="13558" y="185"/>
                </a:cubicBezTo>
                <a:lnTo>
                  <a:pt x="13558" y="3413"/>
                </a:lnTo>
                <a:cubicBezTo>
                  <a:pt x="13558" y="3425"/>
                  <a:pt x="13557" y="3437"/>
                  <a:pt x="13554" y="3449"/>
                </a:cubicBezTo>
                <a:cubicBezTo>
                  <a:pt x="13552" y="3461"/>
                  <a:pt x="13548" y="3473"/>
                  <a:pt x="13544" y="3484"/>
                </a:cubicBezTo>
                <a:cubicBezTo>
                  <a:pt x="13539" y="3495"/>
                  <a:pt x="13533" y="3506"/>
                  <a:pt x="13526" y="3516"/>
                </a:cubicBezTo>
                <a:cubicBezTo>
                  <a:pt x="13520" y="3526"/>
                  <a:pt x="13512" y="3536"/>
                  <a:pt x="13503" y="3544"/>
                </a:cubicBezTo>
                <a:cubicBezTo>
                  <a:pt x="13495" y="3553"/>
                  <a:pt x="13485" y="3561"/>
                  <a:pt x="13475" y="3567"/>
                </a:cubicBezTo>
                <a:cubicBezTo>
                  <a:pt x="13465" y="3574"/>
                  <a:pt x="13454" y="3580"/>
                  <a:pt x="13443" y="3585"/>
                </a:cubicBezTo>
                <a:cubicBezTo>
                  <a:pt x="13432" y="3589"/>
                  <a:pt x="13420" y="3593"/>
                  <a:pt x="13408" y="3595"/>
                </a:cubicBezTo>
                <a:cubicBezTo>
                  <a:pt x="13396" y="3598"/>
                  <a:pt x="13384" y="3599"/>
                  <a:pt x="13372" y="3599"/>
                </a:cubicBezTo>
                <a:lnTo>
                  <a:pt x="186" y="3599"/>
                </a:lnTo>
                <a:cubicBezTo>
                  <a:pt x="174" y="3599"/>
                  <a:pt x="162" y="3598"/>
                  <a:pt x="150" y="3595"/>
                </a:cubicBezTo>
                <a:cubicBezTo>
                  <a:pt x="138" y="3593"/>
                  <a:pt x="126" y="3589"/>
                  <a:pt x="115" y="3585"/>
                </a:cubicBezTo>
                <a:cubicBezTo>
                  <a:pt x="104" y="3580"/>
                  <a:pt x="93" y="3574"/>
                  <a:pt x="83" y="3567"/>
                </a:cubicBezTo>
                <a:cubicBezTo>
                  <a:pt x="73" y="3561"/>
                  <a:pt x="63" y="3553"/>
                  <a:pt x="55" y="3544"/>
                </a:cubicBezTo>
                <a:cubicBezTo>
                  <a:pt x="46" y="3536"/>
                  <a:pt x="38" y="3526"/>
                  <a:pt x="32" y="3516"/>
                </a:cubicBezTo>
                <a:cubicBezTo>
                  <a:pt x="25" y="3506"/>
                  <a:pt x="19" y="3495"/>
                  <a:pt x="14" y="3484"/>
                </a:cubicBezTo>
                <a:cubicBezTo>
                  <a:pt x="10" y="3473"/>
                  <a:pt x="6" y="3461"/>
                  <a:pt x="4" y="3449"/>
                </a:cubicBezTo>
                <a:cubicBezTo>
                  <a:pt x="2" y="3437"/>
                  <a:pt x="0" y="3425"/>
                  <a:pt x="0" y="3413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67120" y="3166920"/>
            <a:ext cx="4880880" cy="1362600"/>
          </a:xfrm>
          <a:custGeom>
            <a:avLst/>
            <a:gdLst/>
            <a:ahLst/>
            <a:rect l="0" t="0" r="r" b="b"/>
            <a:pathLst>
              <a:path w="13558" h="3785">
                <a:moveTo>
                  <a:pt x="0" y="3599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1"/>
                  <a:pt x="174" y="0"/>
                  <a:pt x="186" y="0"/>
                </a:cubicBezTo>
                <a:lnTo>
                  <a:pt x="13372" y="0"/>
                </a:lnTo>
                <a:cubicBezTo>
                  <a:pt x="13384" y="0"/>
                  <a:pt x="13396" y="1"/>
                  <a:pt x="13408" y="4"/>
                </a:cubicBezTo>
                <a:cubicBezTo>
                  <a:pt x="13420" y="6"/>
                  <a:pt x="13432" y="10"/>
                  <a:pt x="13443" y="14"/>
                </a:cubicBezTo>
                <a:cubicBezTo>
                  <a:pt x="13454" y="19"/>
                  <a:pt x="13465" y="25"/>
                  <a:pt x="13475" y="32"/>
                </a:cubicBezTo>
                <a:cubicBezTo>
                  <a:pt x="13485" y="38"/>
                  <a:pt x="13495" y="46"/>
                  <a:pt x="13503" y="55"/>
                </a:cubicBezTo>
                <a:cubicBezTo>
                  <a:pt x="13512" y="63"/>
                  <a:pt x="13520" y="73"/>
                  <a:pt x="13526" y="83"/>
                </a:cubicBezTo>
                <a:cubicBezTo>
                  <a:pt x="13533" y="93"/>
                  <a:pt x="13539" y="104"/>
                  <a:pt x="13544" y="115"/>
                </a:cubicBezTo>
                <a:cubicBezTo>
                  <a:pt x="13548" y="126"/>
                  <a:pt x="13552" y="138"/>
                  <a:pt x="13554" y="150"/>
                </a:cubicBezTo>
                <a:cubicBezTo>
                  <a:pt x="13557" y="162"/>
                  <a:pt x="13558" y="174"/>
                  <a:pt x="13558" y="186"/>
                </a:cubicBezTo>
                <a:lnTo>
                  <a:pt x="13558" y="3599"/>
                </a:lnTo>
                <a:cubicBezTo>
                  <a:pt x="13558" y="3611"/>
                  <a:pt x="13557" y="3624"/>
                  <a:pt x="13554" y="3635"/>
                </a:cubicBezTo>
                <a:cubicBezTo>
                  <a:pt x="13552" y="3647"/>
                  <a:pt x="13548" y="3659"/>
                  <a:pt x="13544" y="3670"/>
                </a:cubicBezTo>
                <a:cubicBezTo>
                  <a:pt x="13539" y="3682"/>
                  <a:pt x="13533" y="3692"/>
                  <a:pt x="13526" y="3702"/>
                </a:cubicBezTo>
                <a:cubicBezTo>
                  <a:pt x="13520" y="3713"/>
                  <a:pt x="13512" y="3722"/>
                  <a:pt x="13503" y="3731"/>
                </a:cubicBezTo>
                <a:cubicBezTo>
                  <a:pt x="13495" y="3739"/>
                  <a:pt x="13485" y="3747"/>
                  <a:pt x="13475" y="3754"/>
                </a:cubicBezTo>
                <a:cubicBezTo>
                  <a:pt x="13465" y="3760"/>
                  <a:pt x="13454" y="3766"/>
                  <a:pt x="13443" y="3771"/>
                </a:cubicBezTo>
                <a:cubicBezTo>
                  <a:pt x="13432" y="3776"/>
                  <a:pt x="13420" y="3779"/>
                  <a:pt x="13408" y="3781"/>
                </a:cubicBezTo>
                <a:cubicBezTo>
                  <a:pt x="13396" y="3784"/>
                  <a:pt x="13384" y="3785"/>
                  <a:pt x="13372" y="3785"/>
                </a:cubicBezTo>
                <a:lnTo>
                  <a:pt x="186" y="3785"/>
                </a:lnTo>
                <a:cubicBezTo>
                  <a:pt x="174" y="3785"/>
                  <a:pt x="162" y="3784"/>
                  <a:pt x="150" y="3781"/>
                </a:cubicBezTo>
                <a:cubicBezTo>
                  <a:pt x="138" y="3779"/>
                  <a:pt x="126" y="3776"/>
                  <a:pt x="115" y="3771"/>
                </a:cubicBezTo>
                <a:cubicBezTo>
                  <a:pt x="104" y="3766"/>
                  <a:pt x="93" y="3760"/>
                  <a:pt x="83" y="3754"/>
                </a:cubicBezTo>
                <a:cubicBezTo>
                  <a:pt x="73" y="3747"/>
                  <a:pt x="63" y="3739"/>
                  <a:pt x="55" y="3731"/>
                </a:cubicBezTo>
                <a:cubicBezTo>
                  <a:pt x="46" y="3722"/>
                  <a:pt x="38" y="3713"/>
                  <a:pt x="32" y="3702"/>
                </a:cubicBezTo>
                <a:cubicBezTo>
                  <a:pt x="25" y="3692"/>
                  <a:pt x="19" y="3682"/>
                  <a:pt x="14" y="3670"/>
                </a:cubicBezTo>
                <a:cubicBezTo>
                  <a:pt x="10" y="3659"/>
                  <a:pt x="6" y="3647"/>
                  <a:pt x="4" y="3635"/>
                </a:cubicBezTo>
                <a:cubicBezTo>
                  <a:pt x="2" y="3624"/>
                  <a:pt x="0" y="3611"/>
                  <a:pt x="0" y="3599"/>
                </a:cubicBezTo>
                <a:close/>
              </a:path>
            </a:pathLst>
          </a:custGeom>
          <a:solidFill>
            <a:srgbClr val="add8e6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34440" y="210240"/>
            <a:ext cx="32698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アンダーサンプリングの原理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267480" y="980280"/>
            <a:ext cx="5003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アンダーサンプリングは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被測定信号の周波数に対して</a:t>
            </a:r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倍よりも低いサン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67480" y="1214280"/>
            <a:ext cx="48290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プリング周波数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でサンプルすることで</a:t>
            </a:r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低周波のイメージ信号に変換する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267480" y="1448280"/>
            <a:ext cx="604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技術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です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989280" y="1906560"/>
            <a:ext cx="28472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被測定信号の周波数を 、サンプリング周波数を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4291920" y="1906560"/>
            <a:ext cx="135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、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1499040" y="2124000"/>
            <a:ext cx="1476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イメージ信号の周波数を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247560" y="212400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とすると：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2313360" y="2824560"/>
            <a:ext cx="731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ただし は整数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625400" y="3302280"/>
            <a:ext cx="2042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波形拡大率 は次式で求められる：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2313360" y="4286880"/>
            <a:ext cx="731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ただし は整数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2"/>
          <a:stretch/>
        </p:blipFill>
        <p:spPr>
          <a:xfrm>
            <a:off x="267480" y="51476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"/>
          <p:cNvSpPr txBox="1"/>
          <p:nvPr/>
        </p:nvSpPr>
        <p:spPr>
          <a:xfrm>
            <a:off x="267480" y="4758480"/>
            <a:ext cx="218016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アンダーサンプリングの利点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267480" y="555732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"/>
          <p:cNvSpPr txBox="1"/>
          <p:nvPr/>
        </p:nvSpPr>
        <p:spPr>
          <a:xfrm>
            <a:off x="534960" y="5108400"/>
            <a:ext cx="2414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高周波信号を低コストで評価できる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4"/>
          <a:stretch/>
        </p:blipFill>
        <p:spPr>
          <a:xfrm>
            <a:off x="267480" y="596664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"/>
          <p:cNvSpPr txBox="1"/>
          <p:nvPr/>
        </p:nvSpPr>
        <p:spPr>
          <a:xfrm>
            <a:off x="534960" y="5517720"/>
            <a:ext cx="15094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測定時間を短縮できる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180080" y="5927400"/>
            <a:ext cx="3689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 に近い値に設定するほど、 は大きくなり波形再現度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5"/>
          <a:stretch/>
        </p:blipFill>
        <p:spPr>
          <a:xfrm>
            <a:off x="267480" y="6576840"/>
            <a:ext cx="12492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"/>
          <p:cNvSpPr txBox="1"/>
          <p:nvPr/>
        </p:nvSpPr>
        <p:spPr>
          <a:xfrm>
            <a:off x="534960" y="6169680"/>
            <a:ext cx="755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が向上する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493200" y="6537240"/>
            <a:ext cx="4677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無線通信信号の評価では、</a:t>
            </a:r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シンボルレートを基準にサンプリング周波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348160" y="935640"/>
            <a:ext cx="5081040" cy="3242880"/>
          </a:xfrm>
          <a:custGeom>
            <a:avLst/>
            <a:gdLst/>
            <a:ahLst/>
            <a:rect l="0" t="0" r="r" b="b"/>
            <a:pathLst>
              <a:path w="14114" h="9008">
                <a:moveTo>
                  <a:pt x="0" y="8822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4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13929" y="0"/>
                </a:lnTo>
                <a:cubicBezTo>
                  <a:pt x="13941" y="0"/>
                  <a:pt x="13953" y="2"/>
                  <a:pt x="13965" y="4"/>
                </a:cubicBezTo>
                <a:cubicBezTo>
                  <a:pt x="13977" y="6"/>
                  <a:pt x="13988" y="10"/>
                  <a:pt x="14000" y="14"/>
                </a:cubicBezTo>
                <a:cubicBezTo>
                  <a:pt x="14011" y="19"/>
                  <a:pt x="14022" y="25"/>
                  <a:pt x="14032" y="32"/>
                </a:cubicBezTo>
                <a:cubicBezTo>
                  <a:pt x="14042" y="38"/>
                  <a:pt x="14051" y="46"/>
                  <a:pt x="14060" y="55"/>
                </a:cubicBezTo>
                <a:cubicBezTo>
                  <a:pt x="14069" y="63"/>
                  <a:pt x="14076" y="73"/>
                  <a:pt x="14083" y="83"/>
                </a:cubicBezTo>
                <a:cubicBezTo>
                  <a:pt x="14090" y="93"/>
                  <a:pt x="14096" y="104"/>
                  <a:pt x="14100" y="115"/>
                </a:cubicBezTo>
                <a:cubicBezTo>
                  <a:pt x="14105" y="126"/>
                  <a:pt x="14108" y="138"/>
                  <a:pt x="14111" y="150"/>
                </a:cubicBezTo>
                <a:cubicBezTo>
                  <a:pt x="14113" y="162"/>
                  <a:pt x="14114" y="174"/>
                  <a:pt x="14114" y="186"/>
                </a:cubicBezTo>
                <a:lnTo>
                  <a:pt x="14114" y="8822"/>
                </a:lnTo>
                <a:cubicBezTo>
                  <a:pt x="14114" y="8835"/>
                  <a:pt x="14113" y="8847"/>
                  <a:pt x="14111" y="8859"/>
                </a:cubicBezTo>
                <a:cubicBezTo>
                  <a:pt x="14108" y="8871"/>
                  <a:pt x="14105" y="8882"/>
                  <a:pt x="14100" y="8893"/>
                </a:cubicBezTo>
                <a:cubicBezTo>
                  <a:pt x="14096" y="8905"/>
                  <a:pt x="14090" y="8915"/>
                  <a:pt x="14083" y="8925"/>
                </a:cubicBezTo>
                <a:cubicBezTo>
                  <a:pt x="14076" y="8936"/>
                  <a:pt x="14069" y="8945"/>
                  <a:pt x="14060" y="8954"/>
                </a:cubicBezTo>
                <a:cubicBezTo>
                  <a:pt x="14051" y="8962"/>
                  <a:pt x="14042" y="8970"/>
                  <a:pt x="14032" y="8977"/>
                </a:cubicBezTo>
                <a:cubicBezTo>
                  <a:pt x="14022" y="8984"/>
                  <a:pt x="14011" y="8989"/>
                  <a:pt x="14000" y="8994"/>
                </a:cubicBezTo>
                <a:cubicBezTo>
                  <a:pt x="13988" y="8999"/>
                  <a:pt x="13977" y="9002"/>
                  <a:pt x="13965" y="9004"/>
                </a:cubicBezTo>
                <a:cubicBezTo>
                  <a:pt x="13953" y="9007"/>
                  <a:pt x="13941" y="9008"/>
                  <a:pt x="13929" y="9008"/>
                </a:cubicBezTo>
                <a:lnTo>
                  <a:pt x="186" y="9008"/>
                </a:lnTo>
                <a:cubicBezTo>
                  <a:pt x="173" y="9008"/>
                  <a:pt x="161" y="9007"/>
                  <a:pt x="149" y="9004"/>
                </a:cubicBezTo>
                <a:cubicBezTo>
                  <a:pt x="137" y="9002"/>
                  <a:pt x="126" y="8999"/>
                  <a:pt x="114" y="8994"/>
                </a:cubicBezTo>
                <a:cubicBezTo>
                  <a:pt x="103" y="8989"/>
                  <a:pt x="93" y="8984"/>
                  <a:pt x="82" y="8977"/>
                </a:cubicBezTo>
                <a:cubicBezTo>
                  <a:pt x="72" y="8970"/>
                  <a:pt x="63" y="8962"/>
                  <a:pt x="54" y="8954"/>
                </a:cubicBezTo>
                <a:cubicBezTo>
                  <a:pt x="46" y="8945"/>
                  <a:pt x="38" y="8936"/>
                  <a:pt x="31" y="8925"/>
                </a:cubicBezTo>
                <a:cubicBezTo>
                  <a:pt x="24" y="8915"/>
                  <a:pt x="19" y="8905"/>
                  <a:pt x="14" y="8893"/>
                </a:cubicBezTo>
                <a:cubicBezTo>
                  <a:pt x="9" y="8882"/>
                  <a:pt x="6" y="8871"/>
                  <a:pt x="3" y="8859"/>
                </a:cubicBezTo>
                <a:cubicBezTo>
                  <a:pt x="1" y="8847"/>
                  <a:pt x="0" y="8835"/>
                  <a:pt x="0" y="88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493200" y="6771240"/>
            <a:ext cx="43761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数を決定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することで、イメージ信号にシンボル情報を保持させる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6"/>
          <a:stretch/>
        </p:blipFill>
        <p:spPr>
          <a:xfrm>
            <a:off x="5482080" y="1370520"/>
            <a:ext cx="4813200" cy="267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"/>
          <p:cNvSpPr/>
          <p:nvPr/>
        </p:nvSpPr>
        <p:spPr>
          <a:xfrm>
            <a:off x="5348160" y="4311720"/>
            <a:ext cx="5081040" cy="1036800"/>
          </a:xfrm>
          <a:custGeom>
            <a:avLst/>
            <a:gdLst/>
            <a:ahLst/>
            <a:rect l="0" t="0" r="r" b="b"/>
            <a:pathLst>
              <a:path w="14114" h="2880">
                <a:moveTo>
                  <a:pt x="0" y="2694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4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9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13929" y="0"/>
                </a:lnTo>
                <a:cubicBezTo>
                  <a:pt x="13941" y="0"/>
                  <a:pt x="13953" y="2"/>
                  <a:pt x="13965" y="4"/>
                </a:cubicBezTo>
                <a:cubicBezTo>
                  <a:pt x="13977" y="6"/>
                  <a:pt x="13988" y="10"/>
                  <a:pt x="14000" y="15"/>
                </a:cubicBezTo>
                <a:cubicBezTo>
                  <a:pt x="14011" y="19"/>
                  <a:pt x="14022" y="25"/>
                  <a:pt x="14032" y="32"/>
                </a:cubicBezTo>
                <a:cubicBezTo>
                  <a:pt x="14042" y="39"/>
                  <a:pt x="14051" y="46"/>
                  <a:pt x="14060" y="55"/>
                </a:cubicBezTo>
                <a:cubicBezTo>
                  <a:pt x="14069" y="63"/>
                  <a:pt x="14076" y="73"/>
                  <a:pt x="14083" y="83"/>
                </a:cubicBezTo>
                <a:cubicBezTo>
                  <a:pt x="14090" y="93"/>
                  <a:pt x="14096" y="104"/>
                  <a:pt x="14100" y="115"/>
                </a:cubicBezTo>
                <a:cubicBezTo>
                  <a:pt x="14105" y="126"/>
                  <a:pt x="14108" y="138"/>
                  <a:pt x="14111" y="150"/>
                </a:cubicBezTo>
                <a:cubicBezTo>
                  <a:pt x="14113" y="162"/>
                  <a:pt x="14114" y="174"/>
                  <a:pt x="14114" y="186"/>
                </a:cubicBezTo>
                <a:lnTo>
                  <a:pt x="14114" y="2694"/>
                </a:lnTo>
                <a:cubicBezTo>
                  <a:pt x="14114" y="2706"/>
                  <a:pt x="14113" y="2718"/>
                  <a:pt x="14111" y="2730"/>
                </a:cubicBezTo>
                <a:cubicBezTo>
                  <a:pt x="14108" y="2742"/>
                  <a:pt x="14105" y="2754"/>
                  <a:pt x="14100" y="2765"/>
                </a:cubicBezTo>
                <a:cubicBezTo>
                  <a:pt x="14096" y="2776"/>
                  <a:pt x="14090" y="2787"/>
                  <a:pt x="14083" y="2797"/>
                </a:cubicBezTo>
                <a:cubicBezTo>
                  <a:pt x="14076" y="2807"/>
                  <a:pt x="14069" y="2817"/>
                  <a:pt x="14060" y="2825"/>
                </a:cubicBezTo>
                <a:cubicBezTo>
                  <a:pt x="14051" y="2834"/>
                  <a:pt x="14042" y="2842"/>
                  <a:pt x="14032" y="2849"/>
                </a:cubicBezTo>
                <a:cubicBezTo>
                  <a:pt x="14022" y="2855"/>
                  <a:pt x="14011" y="2861"/>
                  <a:pt x="14000" y="2866"/>
                </a:cubicBezTo>
                <a:cubicBezTo>
                  <a:pt x="13988" y="2870"/>
                  <a:pt x="13977" y="2874"/>
                  <a:pt x="13965" y="2876"/>
                </a:cubicBezTo>
                <a:cubicBezTo>
                  <a:pt x="13953" y="2879"/>
                  <a:pt x="13941" y="2880"/>
                  <a:pt x="13929" y="2880"/>
                </a:cubicBezTo>
                <a:lnTo>
                  <a:pt x="186" y="2880"/>
                </a:lnTo>
                <a:cubicBezTo>
                  <a:pt x="173" y="2880"/>
                  <a:pt x="161" y="2879"/>
                  <a:pt x="149" y="2876"/>
                </a:cubicBezTo>
                <a:cubicBezTo>
                  <a:pt x="137" y="2874"/>
                  <a:pt x="126" y="2870"/>
                  <a:pt x="114" y="2866"/>
                </a:cubicBezTo>
                <a:cubicBezTo>
                  <a:pt x="103" y="2861"/>
                  <a:pt x="93" y="2855"/>
                  <a:pt x="82" y="2849"/>
                </a:cubicBezTo>
                <a:cubicBezTo>
                  <a:pt x="72" y="2842"/>
                  <a:pt x="63" y="2834"/>
                  <a:pt x="54" y="2825"/>
                </a:cubicBezTo>
                <a:cubicBezTo>
                  <a:pt x="46" y="2817"/>
                  <a:pt x="38" y="2807"/>
                  <a:pt x="31" y="2797"/>
                </a:cubicBezTo>
                <a:cubicBezTo>
                  <a:pt x="24" y="2787"/>
                  <a:pt x="19" y="2776"/>
                  <a:pt x="14" y="2765"/>
                </a:cubicBezTo>
                <a:cubicBezTo>
                  <a:pt x="9" y="2754"/>
                  <a:pt x="6" y="2742"/>
                  <a:pt x="3" y="2730"/>
                </a:cubicBezTo>
                <a:cubicBezTo>
                  <a:pt x="1" y="2718"/>
                  <a:pt x="0" y="2706"/>
                  <a:pt x="0" y="26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5665680" y="4445640"/>
            <a:ext cx="535320" cy="534960"/>
          </a:xfrm>
          <a:custGeom>
            <a:avLst/>
            <a:gdLst/>
            <a:ahLst/>
            <a:rect l="0" t="0" r="r" b="b"/>
            <a:pathLst>
              <a:path w="1487" h="1486">
                <a:moveTo>
                  <a:pt x="1487" y="744"/>
                </a:moveTo>
                <a:cubicBezTo>
                  <a:pt x="1487" y="768"/>
                  <a:pt x="1485" y="792"/>
                  <a:pt x="1483" y="816"/>
                </a:cubicBezTo>
                <a:cubicBezTo>
                  <a:pt x="1481" y="841"/>
                  <a:pt x="1477" y="865"/>
                  <a:pt x="1472" y="889"/>
                </a:cubicBezTo>
                <a:cubicBezTo>
                  <a:pt x="1468" y="912"/>
                  <a:pt x="1462" y="936"/>
                  <a:pt x="1455" y="959"/>
                </a:cubicBezTo>
                <a:cubicBezTo>
                  <a:pt x="1448" y="983"/>
                  <a:pt x="1439" y="1005"/>
                  <a:pt x="1430" y="1028"/>
                </a:cubicBezTo>
                <a:cubicBezTo>
                  <a:pt x="1421" y="1050"/>
                  <a:pt x="1410" y="1072"/>
                  <a:pt x="1399" y="1094"/>
                </a:cubicBezTo>
                <a:cubicBezTo>
                  <a:pt x="1387" y="1115"/>
                  <a:pt x="1375" y="1136"/>
                  <a:pt x="1361" y="1156"/>
                </a:cubicBezTo>
                <a:cubicBezTo>
                  <a:pt x="1348" y="1177"/>
                  <a:pt x="1332" y="1196"/>
                  <a:pt x="1317" y="1215"/>
                </a:cubicBezTo>
                <a:cubicBezTo>
                  <a:pt x="1302" y="1234"/>
                  <a:pt x="1285" y="1252"/>
                  <a:pt x="1268" y="1269"/>
                </a:cubicBezTo>
                <a:cubicBezTo>
                  <a:pt x="1251" y="1286"/>
                  <a:pt x="1233" y="1302"/>
                  <a:pt x="1214" y="1318"/>
                </a:cubicBezTo>
                <a:cubicBezTo>
                  <a:pt x="1195" y="1333"/>
                  <a:pt x="1176" y="1348"/>
                  <a:pt x="1155" y="1361"/>
                </a:cubicBezTo>
                <a:cubicBezTo>
                  <a:pt x="1135" y="1375"/>
                  <a:pt x="1114" y="1387"/>
                  <a:pt x="1093" y="1399"/>
                </a:cubicBezTo>
                <a:cubicBezTo>
                  <a:pt x="1071" y="1410"/>
                  <a:pt x="1050" y="1421"/>
                  <a:pt x="1027" y="1430"/>
                </a:cubicBezTo>
                <a:cubicBezTo>
                  <a:pt x="1005" y="1439"/>
                  <a:pt x="982" y="1447"/>
                  <a:pt x="958" y="1454"/>
                </a:cubicBezTo>
                <a:cubicBezTo>
                  <a:pt x="935" y="1462"/>
                  <a:pt x="912" y="1467"/>
                  <a:pt x="888" y="1472"/>
                </a:cubicBezTo>
                <a:cubicBezTo>
                  <a:pt x="864" y="1477"/>
                  <a:pt x="840" y="1481"/>
                  <a:pt x="816" y="1483"/>
                </a:cubicBezTo>
                <a:cubicBezTo>
                  <a:pt x="791" y="1485"/>
                  <a:pt x="767" y="1486"/>
                  <a:pt x="743" y="1486"/>
                </a:cubicBezTo>
                <a:cubicBezTo>
                  <a:pt x="718" y="1486"/>
                  <a:pt x="694" y="1485"/>
                  <a:pt x="670" y="1483"/>
                </a:cubicBezTo>
                <a:cubicBezTo>
                  <a:pt x="646" y="1481"/>
                  <a:pt x="622" y="1477"/>
                  <a:pt x="598" y="1472"/>
                </a:cubicBezTo>
                <a:cubicBezTo>
                  <a:pt x="574" y="1467"/>
                  <a:pt x="550" y="1462"/>
                  <a:pt x="527" y="1454"/>
                </a:cubicBezTo>
                <a:cubicBezTo>
                  <a:pt x="504" y="1447"/>
                  <a:pt x="481" y="1439"/>
                  <a:pt x="459" y="1430"/>
                </a:cubicBezTo>
                <a:cubicBezTo>
                  <a:pt x="436" y="1421"/>
                  <a:pt x="414" y="1410"/>
                  <a:pt x="393" y="1399"/>
                </a:cubicBezTo>
                <a:cubicBezTo>
                  <a:pt x="371" y="1387"/>
                  <a:pt x="350" y="1375"/>
                  <a:pt x="330" y="1361"/>
                </a:cubicBezTo>
                <a:cubicBezTo>
                  <a:pt x="310" y="1348"/>
                  <a:pt x="290" y="1333"/>
                  <a:pt x="272" y="1318"/>
                </a:cubicBezTo>
                <a:cubicBezTo>
                  <a:pt x="253" y="1302"/>
                  <a:pt x="235" y="1286"/>
                  <a:pt x="218" y="1269"/>
                </a:cubicBezTo>
                <a:cubicBezTo>
                  <a:pt x="200" y="1252"/>
                  <a:pt x="184" y="1234"/>
                  <a:pt x="169" y="1215"/>
                </a:cubicBezTo>
                <a:cubicBezTo>
                  <a:pt x="153" y="1196"/>
                  <a:pt x="139" y="1177"/>
                  <a:pt x="125" y="1156"/>
                </a:cubicBezTo>
                <a:cubicBezTo>
                  <a:pt x="112" y="1136"/>
                  <a:pt x="99" y="1115"/>
                  <a:pt x="88" y="1094"/>
                </a:cubicBezTo>
                <a:cubicBezTo>
                  <a:pt x="76" y="1072"/>
                  <a:pt x="66" y="1050"/>
                  <a:pt x="56" y="1028"/>
                </a:cubicBezTo>
                <a:cubicBezTo>
                  <a:pt x="47" y="1005"/>
                  <a:pt x="39" y="983"/>
                  <a:pt x="32" y="959"/>
                </a:cubicBezTo>
                <a:cubicBezTo>
                  <a:pt x="25" y="936"/>
                  <a:pt x="19" y="912"/>
                  <a:pt x="14" y="889"/>
                </a:cubicBezTo>
                <a:cubicBezTo>
                  <a:pt x="9" y="865"/>
                  <a:pt x="6" y="841"/>
                  <a:pt x="4" y="816"/>
                </a:cubicBezTo>
                <a:cubicBezTo>
                  <a:pt x="1" y="792"/>
                  <a:pt x="0" y="768"/>
                  <a:pt x="0" y="744"/>
                </a:cubicBezTo>
                <a:cubicBezTo>
                  <a:pt x="0" y="719"/>
                  <a:pt x="1" y="695"/>
                  <a:pt x="4" y="671"/>
                </a:cubicBezTo>
                <a:cubicBezTo>
                  <a:pt x="6" y="647"/>
                  <a:pt x="9" y="623"/>
                  <a:pt x="14" y="599"/>
                </a:cubicBezTo>
                <a:cubicBezTo>
                  <a:pt x="19" y="575"/>
                  <a:pt x="25" y="551"/>
                  <a:pt x="32" y="528"/>
                </a:cubicBezTo>
                <a:cubicBezTo>
                  <a:pt x="39" y="505"/>
                  <a:pt x="47" y="482"/>
                  <a:pt x="56" y="459"/>
                </a:cubicBezTo>
                <a:cubicBezTo>
                  <a:pt x="66" y="437"/>
                  <a:pt x="76" y="415"/>
                  <a:pt x="88" y="393"/>
                </a:cubicBezTo>
                <a:cubicBezTo>
                  <a:pt x="99" y="372"/>
                  <a:pt x="112" y="351"/>
                  <a:pt x="125" y="331"/>
                </a:cubicBezTo>
                <a:cubicBezTo>
                  <a:pt x="139" y="311"/>
                  <a:pt x="153" y="291"/>
                  <a:pt x="169" y="271"/>
                </a:cubicBezTo>
                <a:cubicBezTo>
                  <a:pt x="184" y="253"/>
                  <a:pt x="200" y="235"/>
                  <a:pt x="218" y="217"/>
                </a:cubicBezTo>
                <a:cubicBezTo>
                  <a:pt x="235" y="200"/>
                  <a:pt x="253" y="184"/>
                  <a:pt x="272" y="168"/>
                </a:cubicBezTo>
                <a:cubicBezTo>
                  <a:pt x="290" y="153"/>
                  <a:pt x="310" y="139"/>
                  <a:pt x="330" y="125"/>
                </a:cubicBezTo>
                <a:cubicBezTo>
                  <a:pt x="350" y="112"/>
                  <a:pt x="371" y="99"/>
                  <a:pt x="393" y="88"/>
                </a:cubicBezTo>
                <a:cubicBezTo>
                  <a:pt x="414" y="76"/>
                  <a:pt x="436" y="66"/>
                  <a:pt x="459" y="56"/>
                </a:cubicBezTo>
                <a:cubicBezTo>
                  <a:pt x="481" y="47"/>
                  <a:pt x="504" y="39"/>
                  <a:pt x="527" y="32"/>
                </a:cubicBezTo>
                <a:cubicBezTo>
                  <a:pt x="550" y="25"/>
                  <a:pt x="574" y="19"/>
                  <a:pt x="598" y="14"/>
                </a:cubicBezTo>
                <a:cubicBezTo>
                  <a:pt x="622" y="9"/>
                  <a:pt x="646" y="6"/>
                  <a:pt x="670" y="3"/>
                </a:cubicBezTo>
                <a:cubicBezTo>
                  <a:pt x="694" y="1"/>
                  <a:pt x="718" y="0"/>
                  <a:pt x="743" y="0"/>
                </a:cubicBezTo>
                <a:cubicBezTo>
                  <a:pt x="767" y="0"/>
                  <a:pt x="791" y="1"/>
                  <a:pt x="816" y="3"/>
                </a:cubicBezTo>
                <a:cubicBezTo>
                  <a:pt x="840" y="6"/>
                  <a:pt x="864" y="9"/>
                  <a:pt x="888" y="14"/>
                </a:cubicBezTo>
                <a:cubicBezTo>
                  <a:pt x="912" y="19"/>
                  <a:pt x="935" y="25"/>
                  <a:pt x="958" y="32"/>
                </a:cubicBezTo>
                <a:cubicBezTo>
                  <a:pt x="982" y="39"/>
                  <a:pt x="1005" y="47"/>
                  <a:pt x="1027" y="56"/>
                </a:cubicBezTo>
                <a:cubicBezTo>
                  <a:pt x="1050" y="66"/>
                  <a:pt x="1071" y="76"/>
                  <a:pt x="1093" y="88"/>
                </a:cubicBezTo>
                <a:cubicBezTo>
                  <a:pt x="1114" y="99"/>
                  <a:pt x="1135" y="112"/>
                  <a:pt x="1155" y="125"/>
                </a:cubicBezTo>
                <a:cubicBezTo>
                  <a:pt x="1176" y="139"/>
                  <a:pt x="1195" y="153"/>
                  <a:pt x="1214" y="168"/>
                </a:cubicBezTo>
                <a:cubicBezTo>
                  <a:pt x="1233" y="184"/>
                  <a:pt x="1251" y="200"/>
                  <a:pt x="1268" y="217"/>
                </a:cubicBezTo>
                <a:cubicBezTo>
                  <a:pt x="1285" y="235"/>
                  <a:pt x="1302" y="253"/>
                  <a:pt x="1317" y="271"/>
                </a:cubicBezTo>
                <a:cubicBezTo>
                  <a:pt x="1332" y="291"/>
                  <a:pt x="1348" y="311"/>
                  <a:pt x="1361" y="331"/>
                </a:cubicBezTo>
                <a:cubicBezTo>
                  <a:pt x="1375" y="351"/>
                  <a:pt x="1387" y="372"/>
                  <a:pt x="1399" y="393"/>
                </a:cubicBezTo>
                <a:cubicBezTo>
                  <a:pt x="1410" y="415"/>
                  <a:pt x="1421" y="437"/>
                  <a:pt x="1430" y="459"/>
                </a:cubicBezTo>
                <a:cubicBezTo>
                  <a:pt x="1439" y="482"/>
                  <a:pt x="1448" y="505"/>
                  <a:pt x="1455" y="528"/>
                </a:cubicBezTo>
                <a:cubicBezTo>
                  <a:pt x="1462" y="551"/>
                  <a:pt x="1468" y="575"/>
                  <a:pt x="1472" y="599"/>
                </a:cubicBezTo>
                <a:cubicBezTo>
                  <a:pt x="1477" y="623"/>
                  <a:pt x="1481" y="647"/>
                  <a:pt x="1483" y="671"/>
                </a:cubicBezTo>
                <a:cubicBezTo>
                  <a:pt x="1485" y="695"/>
                  <a:pt x="1487" y="719"/>
                  <a:pt x="1487" y="744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7"/>
          <a:stretch/>
        </p:blipFill>
        <p:spPr>
          <a:xfrm>
            <a:off x="5807880" y="4579560"/>
            <a:ext cx="25020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"/>
          <p:cNvSpPr txBox="1"/>
          <p:nvPr/>
        </p:nvSpPr>
        <p:spPr>
          <a:xfrm>
            <a:off x="6843960" y="1113840"/>
            <a:ext cx="21128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アンダーサンプリングの概念図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8"/>
          <a:stretch/>
        </p:blipFill>
        <p:spPr>
          <a:xfrm>
            <a:off x="6543360" y="4721400"/>
            <a:ext cx="2170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"/>
          <p:cNvSpPr/>
          <p:nvPr/>
        </p:nvSpPr>
        <p:spPr>
          <a:xfrm>
            <a:off x="7387200" y="4445640"/>
            <a:ext cx="534960" cy="534960"/>
          </a:xfrm>
          <a:custGeom>
            <a:avLst/>
            <a:gdLst/>
            <a:ahLst/>
            <a:rect l="0" t="0" r="r" b="b"/>
            <a:pathLst>
              <a:path w="1486" h="1486">
                <a:moveTo>
                  <a:pt x="1486" y="744"/>
                </a:moveTo>
                <a:cubicBezTo>
                  <a:pt x="1486" y="768"/>
                  <a:pt x="1485" y="792"/>
                  <a:pt x="1483" y="816"/>
                </a:cubicBezTo>
                <a:cubicBezTo>
                  <a:pt x="1481" y="841"/>
                  <a:pt x="1477" y="865"/>
                  <a:pt x="1472" y="889"/>
                </a:cubicBezTo>
                <a:cubicBezTo>
                  <a:pt x="1467" y="912"/>
                  <a:pt x="1462" y="936"/>
                  <a:pt x="1454" y="959"/>
                </a:cubicBezTo>
                <a:cubicBezTo>
                  <a:pt x="1447" y="983"/>
                  <a:pt x="1439" y="1005"/>
                  <a:pt x="1430" y="1028"/>
                </a:cubicBezTo>
                <a:cubicBezTo>
                  <a:pt x="1421" y="1050"/>
                  <a:pt x="1410" y="1072"/>
                  <a:pt x="1399" y="1094"/>
                </a:cubicBezTo>
                <a:cubicBezTo>
                  <a:pt x="1387" y="1115"/>
                  <a:pt x="1375" y="1136"/>
                  <a:pt x="1361" y="1156"/>
                </a:cubicBezTo>
                <a:cubicBezTo>
                  <a:pt x="1348" y="1177"/>
                  <a:pt x="1333" y="1196"/>
                  <a:pt x="1318" y="1215"/>
                </a:cubicBezTo>
                <a:cubicBezTo>
                  <a:pt x="1302" y="1234"/>
                  <a:pt x="1286" y="1252"/>
                  <a:pt x="1269" y="1269"/>
                </a:cubicBezTo>
                <a:cubicBezTo>
                  <a:pt x="1252" y="1286"/>
                  <a:pt x="1234" y="1302"/>
                  <a:pt x="1215" y="1318"/>
                </a:cubicBezTo>
                <a:cubicBezTo>
                  <a:pt x="1196" y="1333"/>
                  <a:pt x="1177" y="1348"/>
                  <a:pt x="1156" y="1361"/>
                </a:cubicBezTo>
                <a:cubicBezTo>
                  <a:pt x="1136" y="1375"/>
                  <a:pt x="1115" y="1387"/>
                  <a:pt x="1094" y="1399"/>
                </a:cubicBezTo>
                <a:cubicBezTo>
                  <a:pt x="1072" y="1410"/>
                  <a:pt x="1050" y="1421"/>
                  <a:pt x="1028" y="1430"/>
                </a:cubicBezTo>
                <a:cubicBezTo>
                  <a:pt x="1004" y="1439"/>
                  <a:pt x="982" y="1447"/>
                  <a:pt x="958" y="1454"/>
                </a:cubicBezTo>
                <a:cubicBezTo>
                  <a:pt x="935" y="1462"/>
                  <a:pt x="911" y="1467"/>
                  <a:pt x="888" y="1472"/>
                </a:cubicBezTo>
                <a:cubicBezTo>
                  <a:pt x="864" y="1477"/>
                  <a:pt x="840" y="1481"/>
                  <a:pt x="815" y="1483"/>
                </a:cubicBezTo>
                <a:cubicBezTo>
                  <a:pt x="791" y="1485"/>
                  <a:pt x="767" y="1486"/>
                  <a:pt x="743" y="1486"/>
                </a:cubicBezTo>
                <a:cubicBezTo>
                  <a:pt x="718" y="1486"/>
                  <a:pt x="694" y="1485"/>
                  <a:pt x="670" y="1483"/>
                </a:cubicBezTo>
                <a:cubicBezTo>
                  <a:pt x="646" y="1481"/>
                  <a:pt x="622" y="1477"/>
                  <a:pt x="598" y="1472"/>
                </a:cubicBezTo>
                <a:cubicBezTo>
                  <a:pt x="574" y="1467"/>
                  <a:pt x="550" y="1462"/>
                  <a:pt x="527" y="1454"/>
                </a:cubicBezTo>
                <a:cubicBezTo>
                  <a:pt x="504" y="1447"/>
                  <a:pt x="481" y="1439"/>
                  <a:pt x="458" y="1430"/>
                </a:cubicBezTo>
                <a:cubicBezTo>
                  <a:pt x="436" y="1421"/>
                  <a:pt x="414" y="1410"/>
                  <a:pt x="392" y="1399"/>
                </a:cubicBezTo>
                <a:cubicBezTo>
                  <a:pt x="371" y="1387"/>
                  <a:pt x="350" y="1375"/>
                  <a:pt x="330" y="1361"/>
                </a:cubicBezTo>
                <a:cubicBezTo>
                  <a:pt x="310" y="1348"/>
                  <a:pt x="290" y="1333"/>
                  <a:pt x="271" y="1318"/>
                </a:cubicBezTo>
                <a:cubicBezTo>
                  <a:pt x="253" y="1302"/>
                  <a:pt x="235" y="1286"/>
                  <a:pt x="217" y="1269"/>
                </a:cubicBezTo>
                <a:cubicBezTo>
                  <a:pt x="200" y="1252"/>
                  <a:pt x="184" y="1234"/>
                  <a:pt x="168" y="1215"/>
                </a:cubicBezTo>
                <a:cubicBezTo>
                  <a:pt x="153" y="1196"/>
                  <a:pt x="139" y="1177"/>
                  <a:pt x="125" y="1156"/>
                </a:cubicBezTo>
                <a:cubicBezTo>
                  <a:pt x="112" y="1136"/>
                  <a:pt x="99" y="1115"/>
                  <a:pt x="88" y="1094"/>
                </a:cubicBezTo>
                <a:cubicBezTo>
                  <a:pt x="76" y="1072"/>
                  <a:pt x="66" y="1050"/>
                  <a:pt x="56" y="1028"/>
                </a:cubicBezTo>
                <a:cubicBezTo>
                  <a:pt x="47" y="1005"/>
                  <a:pt x="39" y="983"/>
                  <a:pt x="32" y="959"/>
                </a:cubicBezTo>
                <a:cubicBezTo>
                  <a:pt x="25" y="936"/>
                  <a:pt x="19" y="912"/>
                  <a:pt x="14" y="889"/>
                </a:cubicBezTo>
                <a:cubicBezTo>
                  <a:pt x="9" y="865"/>
                  <a:pt x="6" y="841"/>
                  <a:pt x="3" y="816"/>
                </a:cubicBezTo>
                <a:cubicBezTo>
                  <a:pt x="1" y="792"/>
                  <a:pt x="0" y="768"/>
                  <a:pt x="0" y="744"/>
                </a:cubicBezTo>
                <a:cubicBezTo>
                  <a:pt x="0" y="719"/>
                  <a:pt x="1" y="695"/>
                  <a:pt x="3" y="671"/>
                </a:cubicBezTo>
                <a:cubicBezTo>
                  <a:pt x="6" y="647"/>
                  <a:pt x="9" y="623"/>
                  <a:pt x="14" y="599"/>
                </a:cubicBezTo>
                <a:cubicBezTo>
                  <a:pt x="19" y="575"/>
                  <a:pt x="25" y="551"/>
                  <a:pt x="32" y="528"/>
                </a:cubicBezTo>
                <a:cubicBezTo>
                  <a:pt x="39" y="505"/>
                  <a:pt x="47" y="482"/>
                  <a:pt x="56" y="459"/>
                </a:cubicBezTo>
                <a:cubicBezTo>
                  <a:pt x="66" y="437"/>
                  <a:pt x="76" y="415"/>
                  <a:pt x="88" y="393"/>
                </a:cubicBezTo>
                <a:cubicBezTo>
                  <a:pt x="99" y="372"/>
                  <a:pt x="112" y="351"/>
                  <a:pt x="125" y="331"/>
                </a:cubicBezTo>
                <a:cubicBezTo>
                  <a:pt x="139" y="311"/>
                  <a:pt x="153" y="291"/>
                  <a:pt x="168" y="271"/>
                </a:cubicBezTo>
                <a:cubicBezTo>
                  <a:pt x="184" y="253"/>
                  <a:pt x="200" y="235"/>
                  <a:pt x="217" y="217"/>
                </a:cubicBezTo>
                <a:cubicBezTo>
                  <a:pt x="235" y="200"/>
                  <a:pt x="253" y="184"/>
                  <a:pt x="271" y="168"/>
                </a:cubicBezTo>
                <a:cubicBezTo>
                  <a:pt x="290" y="153"/>
                  <a:pt x="310" y="139"/>
                  <a:pt x="330" y="125"/>
                </a:cubicBezTo>
                <a:cubicBezTo>
                  <a:pt x="350" y="112"/>
                  <a:pt x="371" y="99"/>
                  <a:pt x="392" y="88"/>
                </a:cubicBezTo>
                <a:cubicBezTo>
                  <a:pt x="414" y="76"/>
                  <a:pt x="436" y="66"/>
                  <a:pt x="458" y="56"/>
                </a:cubicBezTo>
                <a:cubicBezTo>
                  <a:pt x="481" y="47"/>
                  <a:pt x="504" y="39"/>
                  <a:pt x="527" y="32"/>
                </a:cubicBezTo>
                <a:cubicBezTo>
                  <a:pt x="550" y="25"/>
                  <a:pt x="574" y="19"/>
                  <a:pt x="598" y="14"/>
                </a:cubicBezTo>
                <a:cubicBezTo>
                  <a:pt x="622" y="9"/>
                  <a:pt x="646" y="6"/>
                  <a:pt x="670" y="3"/>
                </a:cubicBezTo>
                <a:cubicBezTo>
                  <a:pt x="694" y="1"/>
                  <a:pt x="718" y="0"/>
                  <a:pt x="743" y="0"/>
                </a:cubicBezTo>
                <a:cubicBezTo>
                  <a:pt x="767" y="0"/>
                  <a:pt x="791" y="1"/>
                  <a:pt x="815" y="3"/>
                </a:cubicBezTo>
                <a:cubicBezTo>
                  <a:pt x="840" y="6"/>
                  <a:pt x="864" y="9"/>
                  <a:pt x="888" y="14"/>
                </a:cubicBezTo>
                <a:cubicBezTo>
                  <a:pt x="911" y="19"/>
                  <a:pt x="935" y="25"/>
                  <a:pt x="958" y="32"/>
                </a:cubicBezTo>
                <a:cubicBezTo>
                  <a:pt x="982" y="39"/>
                  <a:pt x="1004" y="47"/>
                  <a:pt x="1028" y="56"/>
                </a:cubicBezTo>
                <a:cubicBezTo>
                  <a:pt x="1050" y="66"/>
                  <a:pt x="1072" y="76"/>
                  <a:pt x="1094" y="88"/>
                </a:cubicBezTo>
                <a:cubicBezTo>
                  <a:pt x="1115" y="99"/>
                  <a:pt x="1136" y="112"/>
                  <a:pt x="1156" y="125"/>
                </a:cubicBezTo>
                <a:cubicBezTo>
                  <a:pt x="1177" y="139"/>
                  <a:pt x="1196" y="153"/>
                  <a:pt x="1215" y="168"/>
                </a:cubicBezTo>
                <a:cubicBezTo>
                  <a:pt x="1234" y="184"/>
                  <a:pt x="1252" y="200"/>
                  <a:pt x="1269" y="217"/>
                </a:cubicBezTo>
                <a:cubicBezTo>
                  <a:pt x="1286" y="235"/>
                  <a:pt x="1302" y="253"/>
                  <a:pt x="1318" y="271"/>
                </a:cubicBezTo>
                <a:cubicBezTo>
                  <a:pt x="1333" y="291"/>
                  <a:pt x="1348" y="311"/>
                  <a:pt x="1361" y="331"/>
                </a:cubicBezTo>
                <a:cubicBezTo>
                  <a:pt x="1375" y="351"/>
                  <a:pt x="1387" y="372"/>
                  <a:pt x="1399" y="393"/>
                </a:cubicBezTo>
                <a:cubicBezTo>
                  <a:pt x="1410" y="415"/>
                  <a:pt x="1421" y="437"/>
                  <a:pt x="1430" y="459"/>
                </a:cubicBezTo>
                <a:cubicBezTo>
                  <a:pt x="1439" y="482"/>
                  <a:pt x="1447" y="505"/>
                  <a:pt x="1454" y="528"/>
                </a:cubicBezTo>
                <a:cubicBezTo>
                  <a:pt x="1462" y="551"/>
                  <a:pt x="1467" y="575"/>
                  <a:pt x="1472" y="599"/>
                </a:cubicBezTo>
                <a:cubicBezTo>
                  <a:pt x="1477" y="623"/>
                  <a:pt x="1481" y="647"/>
                  <a:pt x="1483" y="671"/>
                </a:cubicBezTo>
                <a:cubicBezTo>
                  <a:pt x="1485" y="695"/>
                  <a:pt x="1486" y="719"/>
                  <a:pt x="1486" y="744"/>
                </a:cubicBezTo>
                <a:close/>
              </a:path>
            </a:pathLst>
          </a:custGeom>
          <a:solidFill>
            <a:srgbClr val="add8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9"/>
          <a:stretch/>
        </p:blipFill>
        <p:spPr>
          <a:xfrm>
            <a:off x="7554600" y="457956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" name=""/>
          <p:cNvSpPr txBox="1"/>
          <p:nvPr/>
        </p:nvSpPr>
        <p:spPr>
          <a:xfrm>
            <a:off x="5639760" y="5072760"/>
            <a:ext cx="587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高周波信号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0" name="" descr=""/>
          <p:cNvPicPr/>
          <p:nvPr/>
        </p:nvPicPr>
        <p:blipFill>
          <a:blip r:embed="rId10"/>
          <a:stretch/>
        </p:blipFill>
        <p:spPr>
          <a:xfrm>
            <a:off x="8548920" y="4721400"/>
            <a:ext cx="217080" cy="25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/>
          <p:nvPr/>
        </p:nvSpPr>
        <p:spPr>
          <a:xfrm>
            <a:off x="9342720" y="4445640"/>
            <a:ext cx="534960" cy="534960"/>
          </a:xfrm>
          <a:custGeom>
            <a:avLst/>
            <a:gdLst/>
            <a:ahLst/>
            <a:rect l="0" t="0" r="r" b="b"/>
            <a:pathLst>
              <a:path w="1486" h="1486">
                <a:moveTo>
                  <a:pt x="1486" y="744"/>
                </a:moveTo>
                <a:cubicBezTo>
                  <a:pt x="1486" y="768"/>
                  <a:pt x="1485" y="792"/>
                  <a:pt x="1483" y="816"/>
                </a:cubicBezTo>
                <a:cubicBezTo>
                  <a:pt x="1480" y="841"/>
                  <a:pt x="1477" y="865"/>
                  <a:pt x="1472" y="889"/>
                </a:cubicBezTo>
                <a:cubicBezTo>
                  <a:pt x="1467" y="912"/>
                  <a:pt x="1461" y="936"/>
                  <a:pt x="1454" y="959"/>
                </a:cubicBezTo>
                <a:cubicBezTo>
                  <a:pt x="1447" y="983"/>
                  <a:pt x="1439" y="1005"/>
                  <a:pt x="1430" y="1028"/>
                </a:cubicBezTo>
                <a:cubicBezTo>
                  <a:pt x="1420" y="1050"/>
                  <a:pt x="1410" y="1072"/>
                  <a:pt x="1399" y="1094"/>
                </a:cubicBezTo>
                <a:cubicBezTo>
                  <a:pt x="1387" y="1115"/>
                  <a:pt x="1375" y="1136"/>
                  <a:pt x="1361" y="1156"/>
                </a:cubicBezTo>
                <a:cubicBezTo>
                  <a:pt x="1348" y="1177"/>
                  <a:pt x="1333" y="1196"/>
                  <a:pt x="1318" y="1215"/>
                </a:cubicBezTo>
                <a:cubicBezTo>
                  <a:pt x="1302" y="1234"/>
                  <a:pt x="1286" y="1252"/>
                  <a:pt x="1269" y="1269"/>
                </a:cubicBezTo>
                <a:cubicBezTo>
                  <a:pt x="1252" y="1286"/>
                  <a:pt x="1234" y="1302"/>
                  <a:pt x="1215" y="1318"/>
                </a:cubicBezTo>
                <a:cubicBezTo>
                  <a:pt x="1196" y="1333"/>
                  <a:pt x="1176" y="1348"/>
                  <a:pt x="1156" y="1361"/>
                </a:cubicBezTo>
                <a:cubicBezTo>
                  <a:pt x="1136" y="1375"/>
                  <a:pt x="1115" y="1387"/>
                  <a:pt x="1094" y="1399"/>
                </a:cubicBezTo>
                <a:cubicBezTo>
                  <a:pt x="1072" y="1410"/>
                  <a:pt x="1050" y="1421"/>
                  <a:pt x="1028" y="1430"/>
                </a:cubicBezTo>
                <a:cubicBezTo>
                  <a:pt x="1005" y="1439"/>
                  <a:pt x="982" y="1447"/>
                  <a:pt x="959" y="1454"/>
                </a:cubicBezTo>
                <a:cubicBezTo>
                  <a:pt x="936" y="1462"/>
                  <a:pt x="912" y="1467"/>
                  <a:pt x="888" y="1472"/>
                </a:cubicBezTo>
                <a:cubicBezTo>
                  <a:pt x="865" y="1477"/>
                  <a:pt x="841" y="1481"/>
                  <a:pt x="816" y="1483"/>
                </a:cubicBezTo>
                <a:cubicBezTo>
                  <a:pt x="792" y="1485"/>
                  <a:pt x="768" y="1486"/>
                  <a:pt x="744" y="1486"/>
                </a:cubicBezTo>
                <a:cubicBezTo>
                  <a:pt x="719" y="1486"/>
                  <a:pt x="695" y="1485"/>
                  <a:pt x="671" y="1483"/>
                </a:cubicBezTo>
                <a:cubicBezTo>
                  <a:pt x="646" y="1481"/>
                  <a:pt x="622" y="1477"/>
                  <a:pt x="599" y="1472"/>
                </a:cubicBezTo>
                <a:cubicBezTo>
                  <a:pt x="575" y="1467"/>
                  <a:pt x="551" y="1462"/>
                  <a:pt x="528" y="1454"/>
                </a:cubicBezTo>
                <a:cubicBezTo>
                  <a:pt x="505" y="1447"/>
                  <a:pt x="482" y="1439"/>
                  <a:pt x="459" y="1430"/>
                </a:cubicBezTo>
                <a:cubicBezTo>
                  <a:pt x="437" y="1421"/>
                  <a:pt x="415" y="1410"/>
                  <a:pt x="393" y="1399"/>
                </a:cubicBezTo>
                <a:cubicBezTo>
                  <a:pt x="372" y="1387"/>
                  <a:pt x="351" y="1375"/>
                  <a:pt x="331" y="1361"/>
                </a:cubicBezTo>
                <a:cubicBezTo>
                  <a:pt x="311" y="1348"/>
                  <a:pt x="291" y="1333"/>
                  <a:pt x="272" y="1318"/>
                </a:cubicBezTo>
                <a:cubicBezTo>
                  <a:pt x="253" y="1302"/>
                  <a:pt x="235" y="1286"/>
                  <a:pt x="218" y="1269"/>
                </a:cubicBezTo>
                <a:cubicBezTo>
                  <a:pt x="201" y="1252"/>
                  <a:pt x="185" y="1234"/>
                  <a:pt x="169" y="1215"/>
                </a:cubicBezTo>
                <a:cubicBezTo>
                  <a:pt x="154" y="1196"/>
                  <a:pt x="139" y="1177"/>
                  <a:pt x="126" y="1156"/>
                </a:cubicBezTo>
                <a:cubicBezTo>
                  <a:pt x="112" y="1136"/>
                  <a:pt x="100" y="1115"/>
                  <a:pt x="88" y="1094"/>
                </a:cubicBezTo>
                <a:cubicBezTo>
                  <a:pt x="77" y="1072"/>
                  <a:pt x="67" y="1050"/>
                  <a:pt x="57" y="1028"/>
                </a:cubicBezTo>
                <a:cubicBezTo>
                  <a:pt x="48" y="1005"/>
                  <a:pt x="40" y="983"/>
                  <a:pt x="32" y="959"/>
                </a:cubicBezTo>
                <a:cubicBezTo>
                  <a:pt x="25" y="936"/>
                  <a:pt x="19" y="912"/>
                  <a:pt x="14" y="889"/>
                </a:cubicBezTo>
                <a:cubicBezTo>
                  <a:pt x="9" y="865"/>
                  <a:pt x="6" y="841"/>
                  <a:pt x="3" y="816"/>
                </a:cubicBezTo>
                <a:cubicBezTo>
                  <a:pt x="1" y="792"/>
                  <a:pt x="0" y="768"/>
                  <a:pt x="0" y="744"/>
                </a:cubicBezTo>
                <a:cubicBezTo>
                  <a:pt x="0" y="719"/>
                  <a:pt x="1" y="695"/>
                  <a:pt x="3" y="671"/>
                </a:cubicBezTo>
                <a:cubicBezTo>
                  <a:pt x="6" y="647"/>
                  <a:pt x="9" y="623"/>
                  <a:pt x="14" y="599"/>
                </a:cubicBezTo>
                <a:cubicBezTo>
                  <a:pt x="19" y="575"/>
                  <a:pt x="25" y="551"/>
                  <a:pt x="32" y="528"/>
                </a:cubicBezTo>
                <a:cubicBezTo>
                  <a:pt x="40" y="505"/>
                  <a:pt x="48" y="482"/>
                  <a:pt x="57" y="459"/>
                </a:cubicBezTo>
                <a:cubicBezTo>
                  <a:pt x="67" y="437"/>
                  <a:pt x="77" y="415"/>
                  <a:pt x="88" y="393"/>
                </a:cubicBezTo>
                <a:cubicBezTo>
                  <a:pt x="100" y="372"/>
                  <a:pt x="112" y="351"/>
                  <a:pt x="126" y="331"/>
                </a:cubicBezTo>
                <a:cubicBezTo>
                  <a:pt x="139" y="311"/>
                  <a:pt x="154" y="291"/>
                  <a:pt x="169" y="271"/>
                </a:cubicBezTo>
                <a:cubicBezTo>
                  <a:pt x="185" y="253"/>
                  <a:pt x="201" y="235"/>
                  <a:pt x="218" y="217"/>
                </a:cubicBezTo>
                <a:cubicBezTo>
                  <a:pt x="235" y="200"/>
                  <a:pt x="253" y="184"/>
                  <a:pt x="272" y="168"/>
                </a:cubicBezTo>
                <a:cubicBezTo>
                  <a:pt x="291" y="153"/>
                  <a:pt x="311" y="139"/>
                  <a:pt x="331" y="125"/>
                </a:cubicBezTo>
                <a:cubicBezTo>
                  <a:pt x="351" y="112"/>
                  <a:pt x="372" y="99"/>
                  <a:pt x="393" y="88"/>
                </a:cubicBezTo>
                <a:cubicBezTo>
                  <a:pt x="415" y="76"/>
                  <a:pt x="437" y="66"/>
                  <a:pt x="459" y="56"/>
                </a:cubicBezTo>
                <a:cubicBezTo>
                  <a:pt x="482" y="47"/>
                  <a:pt x="505" y="39"/>
                  <a:pt x="528" y="32"/>
                </a:cubicBezTo>
                <a:cubicBezTo>
                  <a:pt x="551" y="25"/>
                  <a:pt x="575" y="19"/>
                  <a:pt x="599" y="14"/>
                </a:cubicBezTo>
                <a:cubicBezTo>
                  <a:pt x="622" y="9"/>
                  <a:pt x="646" y="6"/>
                  <a:pt x="671" y="3"/>
                </a:cubicBezTo>
                <a:cubicBezTo>
                  <a:pt x="695" y="1"/>
                  <a:pt x="719" y="0"/>
                  <a:pt x="744" y="0"/>
                </a:cubicBezTo>
                <a:cubicBezTo>
                  <a:pt x="768" y="0"/>
                  <a:pt x="792" y="1"/>
                  <a:pt x="816" y="3"/>
                </a:cubicBezTo>
                <a:cubicBezTo>
                  <a:pt x="841" y="6"/>
                  <a:pt x="865" y="9"/>
                  <a:pt x="888" y="14"/>
                </a:cubicBezTo>
                <a:cubicBezTo>
                  <a:pt x="912" y="19"/>
                  <a:pt x="936" y="25"/>
                  <a:pt x="959" y="32"/>
                </a:cubicBezTo>
                <a:cubicBezTo>
                  <a:pt x="982" y="39"/>
                  <a:pt x="1005" y="47"/>
                  <a:pt x="1028" y="56"/>
                </a:cubicBezTo>
                <a:cubicBezTo>
                  <a:pt x="1050" y="66"/>
                  <a:pt x="1072" y="76"/>
                  <a:pt x="1094" y="88"/>
                </a:cubicBezTo>
                <a:cubicBezTo>
                  <a:pt x="1115" y="99"/>
                  <a:pt x="1136" y="112"/>
                  <a:pt x="1156" y="125"/>
                </a:cubicBezTo>
                <a:cubicBezTo>
                  <a:pt x="1176" y="139"/>
                  <a:pt x="1196" y="153"/>
                  <a:pt x="1215" y="168"/>
                </a:cubicBezTo>
                <a:cubicBezTo>
                  <a:pt x="1234" y="184"/>
                  <a:pt x="1252" y="200"/>
                  <a:pt x="1269" y="217"/>
                </a:cubicBezTo>
                <a:cubicBezTo>
                  <a:pt x="1286" y="235"/>
                  <a:pt x="1302" y="253"/>
                  <a:pt x="1318" y="271"/>
                </a:cubicBezTo>
                <a:cubicBezTo>
                  <a:pt x="1333" y="291"/>
                  <a:pt x="1348" y="311"/>
                  <a:pt x="1361" y="331"/>
                </a:cubicBezTo>
                <a:cubicBezTo>
                  <a:pt x="1375" y="351"/>
                  <a:pt x="1387" y="372"/>
                  <a:pt x="1399" y="393"/>
                </a:cubicBezTo>
                <a:cubicBezTo>
                  <a:pt x="1410" y="415"/>
                  <a:pt x="1420" y="437"/>
                  <a:pt x="1430" y="459"/>
                </a:cubicBezTo>
                <a:cubicBezTo>
                  <a:pt x="1439" y="482"/>
                  <a:pt x="1447" y="505"/>
                  <a:pt x="1454" y="528"/>
                </a:cubicBezTo>
                <a:cubicBezTo>
                  <a:pt x="1461" y="551"/>
                  <a:pt x="1467" y="575"/>
                  <a:pt x="1472" y="599"/>
                </a:cubicBezTo>
                <a:cubicBezTo>
                  <a:pt x="1477" y="623"/>
                  <a:pt x="1480" y="647"/>
                  <a:pt x="1483" y="671"/>
                </a:cubicBezTo>
                <a:cubicBezTo>
                  <a:pt x="1485" y="695"/>
                  <a:pt x="1486" y="719"/>
                  <a:pt x="1486" y="744"/>
                </a:cubicBez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1"/>
          <a:stretch/>
        </p:blipFill>
        <p:spPr>
          <a:xfrm>
            <a:off x="9484920" y="4579560"/>
            <a:ext cx="25020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"/>
          <p:cNvSpPr txBox="1"/>
          <p:nvPr/>
        </p:nvSpPr>
        <p:spPr>
          <a:xfrm>
            <a:off x="7073640" y="5072760"/>
            <a:ext cx="1174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アンダーサンプリング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9084240" y="5072760"/>
            <a:ext cx="105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低周波イメージ信号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2326320" y="18784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2406960" y="1947960"/>
            <a:ext cx="115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935520" y="18784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016160" y="1947960"/>
            <a:ext cx="318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samp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2970000" y="209556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3050280" y="2165400"/>
            <a:ext cx="219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img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957680" y="24382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037960" y="2507760"/>
            <a:ext cx="219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img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2280960" y="2438280"/>
            <a:ext cx="30132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= |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2580120" y="2507760"/>
            <a:ext cx="115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674440" y="2438280"/>
            <a:ext cx="5054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−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n</a:t>
            </a:r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⋅</a:t>
            </a:r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f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3135960" y="2507760"/>
            <a:ext cx="3182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samp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411720" y="24382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|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664360" y="2799720"/>
            <a:ext cx="14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30" strike="noStrike" u="none">
                <a:solidFill>
                  <a:srgbClr val="4b5563"/>
                </a:solidFill>
                <a:effectLst/>
                <a:uFillTx/>
                <a:latin typeface="MathJax_Math"/>
                <a:ea typeface="MathJax_Math"/>
              </a:rPr>
              <a:t>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2293920" y="327384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394720" y="3343680"/>
            <a:ext cx="115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128680" y="37000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9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229120" y="3769920"/>
            <a:ext cx="115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2332800" y="370008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=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523600" y="3810600"/>
            <a:ext cx="744120" cy="8640"/>
          </a:xfrm>
          <a:custGeom>
            <a:avLst/>
            <a:gdLst/>
            <a:ahLst/>
            <a:rect l="0" t="0" r="r" b="b"/>
            <a:pathLst>
              <a:path w="2067" h="24">
                <a:moveTo>
                  <a:pt x="0" y="0"/>
                </a:moveTo>
                <a:lnTo>
                  <a:pt x="2067" y="0"/>
                </a:lnTo>
                <a:lnTo>
                  <a:pt x="2067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2855160" y="3591360"/>
            <a:ext cx="1638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1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2541960" y="3867120"/>
            <a:ext cx="29304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29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1 −</a:t>
            </a:r>
            <a:endParaRPr b="0" lang="en-US" sz="12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2860560" y="3819960"/>
            <a:ext cx="151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n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⋅</a:t>
            </a:r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841120" y="3969360"/>
            <a:ext cx="393120" cy="8640"/>
          </a:xfrm>
          <a:custGeom>
            <a:avLst/>
            <a:gdLst/>
            <a:ahLst/>
            <a:rect l="0" t="0" r="r" b="b"/>
            <a:pathLst>
              <a:path w="1092" h="24">
                <a:moveTo>
                  <a:pt x="0" y="0"/>
                </a:moveTo>
                <a:lnTo>
                  <a:pt x="1092" y="0"/>
                </a:lnTo>
                <a:lnTo>
                  <a:pt x="1092" y="24"/>
                </a:lnTo>
                <a:lnTo>
                  <a:pt x="0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019320" y="3868200"/>
            <a:ext cx="2264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65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samp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988720" y="3970440"/>
            <a:ext cx="1155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92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045240" y="4018680"/>
            <a:ext cx="817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5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6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664360" y="4262400"/>
            <a:ext cx="14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30" strike="noStrike" u="none">
                <a:solidFill>
                  <a:srgbClr val="4b5563"/>
                </a:solidFill>
                <a:effectLst/>
                <a:uFillTx/>
                <a:latin typeface="MathJax_Math"/>
                <a:ea typeface="MathJax_Math"/>
              </a:rPr>
              <a:t>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534960" y="5895720"/>
            <a:ext cx="3585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n</a:t>
            </a:r>
            <a:r>
              <a:rPr b="0" lang="en-US" sz="145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⋅</a:t>
            </a:r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f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869400" y="5970960"/>
            <a:ext cx="36036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0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samp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1330560" y="5895720"/>
            <a:ext cx="18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f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421280" y="5970960"/>
            <a:ext cx="130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283200" y="5895720"/>
            <a:ext cx="18432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45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S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396240" y="5970960"/>
            <a:ext cx="1303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0</a:t>
            </a:r>
            <a:endParaRPr b="0" lang="en-US" sz="10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10153440" y="7121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5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>
            <a:off x="0" y="0"/>
            <a:ext cx="10696680" cy="6017040"/>
          </a:xfrm>
          <a:custGeom>
            <a:avLst/>
            <a:gdLst/>
            <a:ahLst/>
            <a:rect l="0" t="0" r="r" b="b"/>
            <a:pathLst>
              <a:path w="29713" h="16714">
                <a:moveTo>
                  <a:pt x="0" y="0"/>
                </a:moveTo>
                <a:lnTo>
                  <a:pt x="29713" y="0"/>
                </a:lnTo>
                <a:lnTo>
                  <a:pt x="29713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" descr=""/>
          <p:cNvPicPr/>
          <p:nvPr/>
        </p:nvPicPr>
        <p:blipFill>
          <a:blip r:embed="rId2"/>
          <a:stretch/>
        </p:blipFill>
        <p:spPr>
          <a:xfrm>
            <a:off x="267480" y="96948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"/>
          <p:cNvSpPr txBox="1"/>
          <p:nvPr/>
        </p:nvSpPr>
        <p:spPr>
          <a:xfrm>
            <a:off x="334440" y="210240"/>
            <a:ext cx="22417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変復調の原理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526320" y="964800"/>
            <a:ext cx="17470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位相偏移変調（</a:t>
            </a:r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PSK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67480" y="1305000"/>
            <a:ext cx="4962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無線通信における１次変調では、高周波数の正弦波をキャリア信号として、振幅や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67480" y="1505520"/>
            <a:ext cx="49928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位相にベースバンド信号の情報を載せて伝送する。 </a:t>
            </a:r>
            <a:r>
              <a:rPr b="0" lang="zh-CN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位相にのみ情報を乗せる変調方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" descr=""/>
          <p:cNvPicPr/>
          <p:nvPr/>
        </p:nvPicPr>
        <p:blipFill>
          <a:blip r:embed="rId3"/>
          <a:stretch/>
        </p:blipFill>
        <p:spPr>
          <a:xfrm>
            <a:off x="267480" y="203904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"/>
          <p:cNvSpPr txBox="1"/>
          <p:nvPr/>
        </p:nvSpPr>
        <p:spPr>
          <a:xfrm>
            <a:off x="267480" y="1706040"/>
            <a:ext cx="2202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式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を位相偏移変調（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PSK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）と呼ぶ。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34080" y="2423160"/>
            <a:ext cx="50400" cy="50760"/>
          </a:xfrm>
          <a:custGeom>
            <a:avLst/>
            <a:gdLst/>
            <a:ahLst/>
            <a:rect l="0" t="0" r="r" b="b"/>
            <a:pathLst>
              <a:path w="140" h="141">
                <a:moveTo>
                  <a:pt x="140" y="71"/>
                </a:moveTo>
                <a:cubicBezTo>
                  <a:pt x="140" y="80"/>
                  <a:pt x="139" y="89"/>
                  <a:pt x="135" y="98"/>
                </a:cubicBezTo>
                <a:cubicBezTo>
                  <a:pt x="131" y="106"/>
                  <a:pt x="126" y="114"/>
                  <a:pt x="120" y="120"/>
                </a:cubicBezTo>
                <a:cubicBezTo>
                  <a:pt x="112" y="127"/>
                  <a:pt x="105" y="132"/>
                  <a:pt x="96" y="135"/>
                </a:cubicBezTo>
                <a:cubicBezTo>
                  <a:pt x="88" y="139"/>
                  <a:pt x="79" y="141"/>
                  <a:pt x="70" y="141"/>
                </a:cubicBezTo>
                <a:cubicBezTo>
                  <a:pt x="60" y="141"/>
                  <a:pt x="52" y="139"/>
                  <a:pt x="43" y="135"/>
                </a:cubicBezTo>
                <a:cubicBezTo>
                  <a:pt x="34" y="132"/>
                  <a:pt x="27" y="127"/>
                  <a:pt x="20" y="120"/>
                </a:cubicBezTo>
                <a:cubicBezTo>
                  <a:pt x="14" y="114"/>
                  <a:pt x="9" y="106"/>
                  <a:pt x="5" y="98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2"/>
                  <a:pt x="2" y="53"/>
                  <a:pt x="5" y="44"/>
                </a:cubicBezTo>
                <a:cubicBezTo>
                  <a:pt x="9" y="36"/>
                  <a:pt x="14" y="28"/>
                  <a:pt x="20" y="22"/>
                </a:cubicBezTo>
                <a:cubicBezTo>
                  <a:pt x="27" y="15"/>
                  <a:pt x="34" y="9"/>
                  <a:pt x="43" y="6"/>
                </a:cubicBezTo>
                <a:cubicBezTo>
                  <a:pt x="52" y="2"/>
                  <a:pt x="60" y="0"/>
                  <a:pt x="70" y="0"/>
                </a:cubicBezTo>
                <a:cubicBezTo>
                  <a:pt x="79" y="0"/>
                  <a:pt x="88" y="2"/>
                  <a:pt x="96" y="6"/>
                </a:cubicBezTo>
                <a:cubicBezTo>
                  <a:pt x="105" y="9"/>
                  <a:pt x="112" y="15"/>
                  <a:pt x="120" y="22"/>
                </a:cubicBezTo>
                <a:cubicBezTo>
                  <a:pt x="126" y="28"/>
                  <a:pt x="131" y="36"/>
                  <a:pt x="135" y="44"/>
                </a:cubicBezTo>
                <a:cubicBezTo>
                  <a:pt x="139" y="53"/>
                  <a:pt x="140" y="62"/>
                  <a:pt x="140" y="7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26320" y="2034360"/>
            <a:ext cx="21654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（四相位相偏移変調）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334080" y="2690640"/>
            <a:ext cx="50400" cy="50400"/>
          </a:xfrm>
          <a:custGeom>
            <a:avLst/>
            <a:gdLst/>
            <a:ahLst/>
            <a:rect l="0" t="0" r="r" b="b"/>
            <a:pathLst>
              <a:path w="140" h="140">
                <a:moveTo>
                  <a:pt x="140" y="70"/>
                </a:moveTo>
                <a:cubicBezTo>
                  <a:pt x="140" y="79"/>
                  <a:pt x="139" y="88"/>
                  <a:pt x="135" y="96"/>
                </a:cubicBezTo>
                <a:cubicBezTo>
                  <a:pt x="131" y="106"/>
                  <a:pt x="126" y="113"/>
                  <a:pt x="120" y="120"/>
                </a:cubicBezTo>
                <a:cubicBezTo>
                  <a:pt x="112" y="127"/>
                  <a:pt x="105" y="132"/>
                  <a:pt x="96" y="135"/>
                </a:cubicBezTo>
                <a:cubicBezTo>
                  <a:pt x="88" y="139"/>
                  <a:pt x="79" y="140"/>
                  <a:pt x="70" y="140"/>
                </a:cubicBezTo>
                <a:cubicBezTo>
                  <a:pt x="60" y="140"/>
                  <a:pt x="52" y="139"/>
                  <a:pt x="43" y="135"/>
                </a:cubicBezTo>
                <a:cubicBezTo>
                  <a:pt x="34" y="132"/>
                  <a:pt x="27" y="127"/>
                  <a:pt x="20" y="120"/>
                </a:cubicBezTo>
                <a:cubicBezTo>
                  <a:pt x="14" y="113"/>
                  <a:pt x="9" y="106"/>
                  <a:pt x="5" y="96"/>
                </a:cubicBezTo>
                <a:cubicBezTo>
                  <a:pt x="2" y="88"/>
                  <a:pt x="0" y="79"/>
                  <a:pt x="0" y="70"/>
                </a:cubicBezTo>
                <a:cubicBezTo>
                  <a:pt x="0" y="61"/>
                  <a:pt x="2" y="52"/>
                  <a:pt x="5" y="43"/>
                </a:cubicBezTo>
                <a:cubicBezTo>
                  <a:pt x="9" y="35"/>
                  <a:pt x="14" y="27"/>
                  <a:pt x="20" y="20"/>
                </a:cubicBezTo>
                <a:cubicBezTo>
                  <a:pt x="27" y="14"/>
                  <a:pt x="34" y="9"/>
                  <a:pt x="43" y="5"/>
                </a:cubicBezTo>
                <a:cubicBezTo>
                  <a:pt x="52" y="2"/>
                  <a:pt x="60" y="0"/>
                  <a:pt x="70" y="0"/>
                </a:cubicBezTo>
                <a:cubicBezTo>
                  <a:pt x="79" y="0"/>
                  <a:pt x="88" y="2"/>
                  <a:pt x="96" y="5"/>
                </a:cubicBezTo>
                <a:cubicBezTo>
                  <a:pt x="105" y="9"/>
                  <a:pt x="112" y="14"/>
                  <a:pt x="120" y="20"/>
                </a:cubicBezTo>
                <a:cubicBezTo>
                  <a:pt x="126" y="27"/>
                  <a:pt x="131" y="35"/>
                  <a:pt x="135" y="43"/>
                </a:cubicBezTo>
                <a:cubicBezTo>
                  <a:pt x="139" y="52"/>
                  <a:pt x="140" y="61"/>
                  <a:pt x="140" y="70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26320" y="2374560"/>
            <a:ext cx="2168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つの位相状態（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90°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間隔）を持つ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34080" y="2958120"/>
            <a:ext cx="50400" cy="50400"/>
          </a:xfrm>
          <a:custGeom>
            <a:avLst/>
            <a:gdLst/>
            <a:ahLst/>
            <a:rect l="0" t="0" r="r" b="b"/>
            <a:pathLst>
              <a:path w="140" h="140">
                <a:moveTo>
                  <a:pt x="140" y="71"/>
                </a:moveTo>
                <a:cubicBezTo>
                  <a:pt x="140" y="80"/>
                  <a:pt x="139" y="89"/>
                  <a:pt x="135" y="97"/>
                </a:cubicBezTo>
                <a:cubicBezTo>
                  <a:pt x="131" y="106"/>
                  <a:pt x="126" y="113"/>
                  <a:pt x="120" y="120"/>
                </a:cubicBezTo>
                <a:cubicBezTo>
                  <a:pt x="112" y="126"/>
                  <a:pt x="105" y="131"/>
                  <a:pt x="96" y="135"/>
                </a:cubicBezTo>
                <a:cubicBezTo>
                  <a:pt x="88" y="138"/>
                  <a:pt x="79" y="140"/>
                  <a:pt x="70" y="140"/>
                </a:cubicBezTo>
                <a:cubicBezTo>
                  <a:pt x="60" y="140"/>
                  <a:pt x="52" y="138"/>
                  <a:pt x="43" y="135"/>
                </a:cubicBezTo>
                <a:cubicBezTo>
                  <a:pt x="34" y="131"/>
                  <a:pt x="27" y="126"/>
                  <a:pt x="20" y="120"/>
                </a:cubicBezTo>
                <a:cubicBezTo>
                  <a:pt x="14" y="113"/>
                  <a:pt x="9" y="106"/>
                  <a:pt x="5" y="97"/>
                </a:cubicBezTo>
                <a:cubicBezTo>
                  <a:pt x="2" y="89"/>
                  <a:pt x="0" y="80"/>
                  <a:pt x="0" y="71"/>
                </a:cubicBezTo>
                <a:cubicBezTo>
                  <a:pt x="0" y="61"/>
                  <a:pt x="2" y="51"/>
                  <a:pt x="5" y="43"/>
                </a:cubicBezTo>
                <a:cubicBezTo>
                  <a:pt x="9" y="34"/>
                  <a:pt x="14" y="27"/>
                  <a:pt x="20" y="20"/>
                </a:cubicBezTo>
                <a:cubicBezTo>
                  <a:pt x="27" y="14"/>
                  <a:pt x="34" y="9"/>
                  <a:pt x="43" y="5"/>
                </a:cubicBezTo>
                <a:cubicBezTo>
                  <a:pt x="52" y="2"/>
                  <a:pt x="60" y="0"/>
                  <a:pt x="70" y="0"/>
                </a:cubicBezTo>
                <a:cubicBezTo>
                  <a:pt x="79" y="0"/>
                  <a:pt x="88" y="2"/>
                  <a:pt x="96" y="5"/>
                </a:cubicBezTo>
                <a:cubicBezTo>
                  <a:pt x="105" y="9"/>
                  <a:pt x="112" y="14"/>
                  <a:pt x="120" y="20"/>
                </a:cubicBezTo>
                <a:cubicBezTo>
                  <a:pt x="126" y="27"/>
                  <a:pt x="131" y="34"/>
                  <a:pt x="135" y="43"/>
                </a:cubicBezTo>
                <a:cubicBezTo>
                  <a:pt x="139" y="51"/>
                  <a:pt x="140" y="61"/>
                  <a:pt x="140" y="71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26320" y="2642040"/>
            <a:ext cx="2703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一つの位相情報で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ビット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の情報を伝送可能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67120" y="3309120"/>
            <a:ext cx="4980960" cy="2072880"/>
          </a:xfrm>
          <a:custGeom>
            <a:avLst/>
            <a:gdLst/>
            <a:ahLst/>
            <a:rect l="0" t="0" r="r" b="b"/>
            <a:pathLst>
              <a:path w="13836" h="5758">
                <a:moveTo>
                  <a:pt x="0" y="5572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6"/>
                  <a:pt x="14" y="115"/>
                </a:cubicBezTo>
                <a:cubicBezTo>
                  <a:pt x="19" y="103"/>
                  <a:pt x="25" y="93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651" y="0"/>
                </a:lnTo>
                <a:cubicBezTo>
                  <a:pt x="13663" y="0"/>
                  <a:pt x="13675" y="1"/>
                  <a:pt x="13687" y="3"/>
                </a:cubicBezTo>
                <a:cubicBezTo>
                  <a:pt x="13699" y="6"/>
                  <a:pt x="13710" y="9"/>
                  <a:pt x="13722" y="14"/>
                </a:cubicBezTo>
                <a:cubicBezTo>
                  <a:pt x="13733" y="19"/>
                  <a:pt x="13744" y="24"/>
                  <a:pt x="13754" y="31"/>
                </a:cubicBezTo>
                <a:cubicBezTo>
                  <a:pt x="13764" y="38"/>
                  <a:pt x="13773" y="46"/>
                  <a:pt x="13782" y="54"/>
                </a:cubicBezTo>
                <a:cubicBezTo>
                  <a:pt x="13791" y="63"/>
                  <a:pt x="13798" y="72"/>
                  <a:pt x="13805" y="82"/>
                </a:cubicBezTo>
                <a:cubicBezTo>
                  <a:pt x="13812" y="93"/>
                  <a:pt x="13817" y="103"/>
                  <a:pt x="13822" y="115"/>
                </a:cubicBezTo>
                <a:cubicBezTo>
                  <a:pt x="13827" y="126"/>
                  <a:pt x="13830" y="137"/>
                  <a:pt x="13833" y="149"/>
                </a:cubicBezTo>
                <a:cubicBezTo>
                  <a:pt x="13835" y="161"/>
                  <a:pt x="13836" y="173"/>
                  <a:pt x="13836" y="186"/>
                </a:cubicBezTo>
                <a:lnTo>
                  <a:pt x="13836" y="5572"/>
                </a:lnTo>
                <a:cubicBezTo>
                  <a:pt x="13836" y="5584"/>
                  <a:pt x="13835" y="5596"/>
                  <a:pt x="13833" y="5608"/>
                </a:cubicBezTo>
                <a:cubicBezTo>
                  <a:pt x="13830" y="5620"/>
                  <a:pt x="13827" y="5632"/>
                  <a:pt x="13822" y="5643"/>
                </a:cubicBezTo>
                <a:cubicBezTo>
                  <a:pt x="13817" y="5654"/>
                  <a:pt x="13812" y="5665"/>
                  <a:pt x="13805" y="5675"/>
                </a:cubicBezTo>
                <a:cubicBezTo>
                  <a:pt x="13798" y="5685"/>
                  <a:pt x="13791" y="5695"/>
                  <a:pt x="13782" y="5703"/>
                </a:cubicBezTo>
                <a:cubicBezTo>
                  <a:pt x="13773" y="5712"/>
                  <a:pt x="13764" y="5720"/>
                  <a:pt x="13754" y="5726"/>
                </a:cubicBezTo>
                <a:cubicBezTo>
                  <a:pt x="13744" y="5733"/>
                  <a:pt x="13733" y="5739"/>
                  <a:pt x="13722" y="5744"/>
                </a:cubicBezTo>
                <a:cubicBezTo>
                  <a:pt x="13710" y="5748"/>
                  <a:pt x="13699" y="5752"/>
                  <a:pt x="13687" y="5754"/>
                </a:cubicBezTo>
                <a:cubicBezTo>
                  <a:pt x="13675" y="5757"/>
                  <a:pt x="13663" y="5758"/>
                  <a:pt x="13651" y="5758"/>
                </a:cubicBezTo>
                <a:lnTo>
                  <a:pt x="186" y="5758"/>
                </a:lnTo>
                <a:cubicBezTo>
                  <a:pt x="174" y="5758"/>
                  <a:pt x="162" y="5757"/>
                  <a:pt x="150" y="5754"/>
                </a:cubicBezTo>
                <a:cubicBezTo>
                  <a:pt x="138" y="5752"/>
                  <a:pt x="126" y="5748"/>
                  <a:pt x="115" y="5744"/>
                </a:cubicBezTo>
                <a:cubicBezTo>
                  <a:pt x="104" y="5739"/>
                  <a:pt x="93" y="5733"/>
                  <a:pt x="83" y="5726"/>
                </a:cubicBezTo>
                <a:cubicBezTo>
                  <a:pt x="73" y="5720"/>
                  <a:pt x="63" y="5712"/>
                  <a:pt x="55" y="5703"/>
                </a:cubicBezTo>
                <a:cubicBezTo>
                  <a:pt x="46" y="5695"/>
                  <a:pt x="38" y="5685"/>
                  <a:pt x="32" y="5675"/>
                </a:cubicBezTo>
                <a:cubicBezTo>
                  <a:pt x="25" y="5665"/>
                  <a:pt x="19" y="5654"/>
                  <a:pt x="14" y="5643"/>
                </a:cubicBezTo>
                <a:cubicBezTo>
                  <a:pt x="10" y="5632"/>
                  <a:pt x="6" y="5620"/>
                  <a:pt x="4" y="5608"/>
                </a:cubicBezTo>
                <a:cubicBezTo>
                  <a:pt x="2" y="5596"/>
                  <a:pt x="0" y="5584"/>
                  <a:pt x="0" y="55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01040" y="3777120"/>
            <a:ext cx="4713480" cy="334440"/>
          </a:xfrm>
          <a:custGeom>
            <a:avLst/>
            <a:gdLst/>
            <a:ahLst/>
            <a:rect l="0" t="0" r="r" b="b"/>
            <a:pathLst>
              <a:path w="13093" h="929">
                <a:moveTo>
                  <a:pt x="0" y="790"/>
                </a:moveTo>
                <a:lnTo>
                  <a:pt x="0" y="139"/>
                </a:ln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7" y="54"/>
                  <a:pt x="41" y="41"/>
                </a:cubicBezTo>
                <a:cubicBezTo>
                  <a:pt x="54" y="28"/>
                  <a:pt x="69" y="17"/>
                  <a:pt x="86" y="10"/>
                </a:cubicBezTo>
                <a:cubicBezTo>
                  <a:pt x="103" y="3"/>
                  <a:pt x="121" y="0"/>
                  <a:pt x="139" y="0"/>
                </a:cubicBezTo>
                <a:lnTo>
                  <a:pt x="12954" y="0"/>
                </a:lnTo>
                <a:cubicBezTo>
                  <a:pt x="12972" y="0"/>
                  <a:pt x="12990" y="3"/>
                  <a:pt x="13007" y="10"/>
                </a:cubicBezTo>
                <a:cubicBezTo>
                  <a:pt x="13024" y="17"/>
                  <a:pt x="13039" y="28"/>
                  <a:pt x="13052" y="41"/>
                </a:cubicBezTo>
                <a:cubicBezTo>
                  <a:pt x="13065" y="54"/>
                  <a:pt x="13075" y="69"/>
                  <a:pt x="13082" y="86"/>
                </a:cubicBezTo>
                <a:cubicBezTo>
                  <a:pt x="13089" y="103"/>
                  <a:pt x="13093" y="121"/>
                  <a:pt x="13093" y="139"/>
                </a:cubicBezTo>
                <a:lnTo>
                  <a:pt x="13093" y="790"/>
                </a:lnTo>
                <a:cubicBezTo>
                  <a:pt x="13093" y="809"/>
                  <a:pt x="13089" y="826"/>
                  <a:pt x="13082" y="843"/>
                </a:cubicBezTo>
                <a:cubicBezTo>
                  <a:pt x="13075" y="860"/>
                  <a:pt x="13065" y="875"/>
                  <a:pt x="13052" y="889"/>
                </a:cubicBezTo>
                <a:cubicBezTo>
                  <a:pt x="13039" y="902"/>
                  <a:pt x="13024" y="912"/>
                  <a:pt x="13007" y="919"/>
                </a:cubicBezTo>
                <a:cubicBezTo>
                  <a:pt x="12990" y="926"/>
                  <a:pt x="12972" y="929"/>
                  <a:pt x="12954" y="929"/>
                </a:cubicBezTo>
                <a:lnTo>
                  <a:pt x="139" y="929"/>
                </a:lnTo>
                <a:cubicBezTo>
                  <a:pt x="121" y="929"/>
                  <a:pt x="103" y="926"/>
                  <a:pt x="86" y="919"/>
                </a:cubicBezTo>
                <a:cubicBezTo>
                  <a:pt x="69" y="912"/>
                  <a:pt x="54" y="902"/>
                  <a:pt x="41" y="889"/>
                </a:cubicBezTo>
                <a:cubicBezTo>
                  <a:pt x="27" y="875"/>
                  <a:pt x="17" y="860"/>
                  <a:pt x="10" y="843"/>
                </a:cubicBezTo>
                <a:cubicBezTo>
                  <a:pt x="3" y="826"/>
                  <a:pt x="0" y="809"/>
                  <a:pt x="0" y="790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526320" y="2909520"/>
            <a:ext cx="4061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同相成分（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）と直交成分（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）の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つのベースバンド信号を使用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01040" y="3487320"/>
            <a:ext cx="1345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の数学的表現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01040" y="4412160"/>
            <a:ext cx="2323440" cy="301320"/>
          </a:xfrm>
          <a:custGeom>
            <a:avLst/>
            <a:gdLst/>
            <a:ahLst/>
            <a:rect l="0" t="0" r="r" b="b"/>
            <a:pathLst>
              <a:path w="6454" h="837">
                <a:moveTo>
                  <a:pt x="0" y="697"/>
                </a:moveTo>
                <a:lnTo>
                  <a:pt x="0" y="139"/>
                </a:ln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7" y="54"/>
                  <a:pt x="41" y="41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4"/>
                  <a:pt x="121" y="0"/>
                  <a:pt x="139" y="0"/>
                </a:cubicBezTo>
                <a:lnTo>
                  <a:pt x="6315" y="0"/>
                </a:lnTo>
                <a:cubicBezTo>
                  <a:pt x="6333" y="0"/>
                  <a:pt x="6351" y="4"/>
                  <a:pt x="6368" y="11"/>
                </a:cubicBezTo>
                <a:cubicBezTo>
                  <a:pt x="6385" y="18"/>
                  <a:pt x="6400" y="28"/>
                  <a:pt x="6413" y="41"/>
                </a:cubicBezTo>
                <a:cubicBezTo>
                  <a:pt x="6426" y="54"/>
                  <a:pt x="6436" y="69"/>
                  <a:pt x="6443" y="86"/>
                </a:cubicBezTo>
                <a:cubicBezTo>
                  <a:pt x="6450" y="103"/>
                  <a:pt x="6454" y="121"/>
                  <a:pt x="6454" y="139"/>
                </a:cubicBezTo>
                <a:lnTo>
                  <a:pt x="6454" y="697"/>
                </a:lnTo>
                <a:cubicBezTo>
                  <a:pt x="6454" y="716"/>
                  <a:pt x="6450" y="734"/>
                  <a:pt x="6443" y="751"/>
                </a:cubicBezTo>
                <a:cubicBezTo>
                  <a:pt x="6436" y="768"/>
                  <a:pt x="6426" y="783"/>
                  <a:pt x="6413" y="796"/>
                </a:cubicBezTo>
                <a:cubicBezTo>
                  <a:pt x="6400" y="809"/>
                  <a:pt x="6385" y="819"/>
                  <a:pt x="6368" y="826"/>
                </a:cubicBezTo>
                <a:cubicBezTo>
                  <a:pt x="6351" y="833"/>
                  <a:pt x="6333" y="837"/>
                  <a:pt x="6315" y="837"/>
                </a:cubicBezTo>
                <a:lnTo>
                  <a:pt x="139" y="837"/>
                </a:lnTo>
                <a:cubicBezTo>
                  <a:pt x="121" y="837"/>
                  <a:pt x="103" y="833"/>
                  <a:pt x="86" y="826"/>
                </a:cubicBezTo>
                <a:cubicBezTo>
                  <a:pt x="69" y="819"/>
                  <a:pt x="54" y="809"/>
                  <a:pt x="41" y="796"/>
                </a:cubicBezTo>
                <a:cubicBezTo>
                  <a:pt x="27" y="783"/>
                  <a:pt x="17" y="768"/>
                  <a:pt x="10" y="751"/>
                </a:cubicBezTo>
                <a:cubicBezTo>
                  <a:pt x="3" y="734"/>
                  <a:pt x="0" y="716"/>
                  <a:pt x="0" y="6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01480" y="3867120"/>
            <a:ext cx="1496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s(t) = I·cos(ω t) - Q·sin(ω t)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01040" y="4270320"/>
            <a:ext cx="16700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ビットペア 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00 (I=+1, Q=+1)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791080" y="4412160"/>
            <a:ext cx="2323440" cy="301320"/>
          </a:xfrm>
          <a:custGeom>
            <a:avLst/>
            <a:gdLst/>
            <a:ahLst/>
            <a:rect l="0" t="0" r="r" b="b"/>
            <a:pathLst>
              <a:path w="6454" h="837">
                <a:moveTo>
                  <a:pt x="0" y="697"/>
                </a:moveTo>
                <a:lnTo>
                  <a:pt x="0" y="139"/>
                </a:ln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7" y="54"/>
                  <a:pt x="40" y="41"/>
                </a:cubicBezTo>
                <a:cubicBezTo>
                  <a:pt x="54" y="28"/>
                  <a:pt x="69" y="18"/>
                  <a:pt x="86" y="11"/>
                </a:cubicBezTo>
                <a:cubicBezTo>
                  <a:pt x="103" y="4"/>
                  <a:pt x="120" y="0"/>
                  <a:pt x="139" y="0"/>
                </a:cubicBezTo>
                <a:lnTo>
                  <a:pt x="6315" y="0"/>
                </a:lnTo>
                <a:cubicBezTo>
                  <a:pt x="6333" y="0"/>
                  <a:pt x="6351" y="4"/>
                  <a:pt x="6368" y="11"/>
                </a:cubicBezTo>
                <a:cubicBezTo>
                  <a:pt x="6385" y="18"/>
                  <a:pt x="6400" y="28"/>
                  <a:pt x="6413" y="41"/>
                </a:cubicBezTo>
                <a:cubicBezTo>
                  <a:pt x="6426" y="54"/>
                  <a:pt x="6436" y="69"/>
                  <a:pt x="6443" y="86"/>
                </a:cubicBezTo>
                <a:cubicBezTo>
                  <a:pt x="6450" y="103"/>
                  <a:pt x="6454" y="121"/>
                  <a:pt x="6454" y="139"/>
                </a:cubicBezTo>
                <a:lnTo>
                  <a:pt x="6454" y="697"/>
                </a:lnTo>
                <a:cubicBezTo>
                  <a:pt x="6454" y="716"/>
                  <a:pt x="6450" y="734"/>
                  <a:pt x="6443" y="751"/>
                </a:cubicBezTo>
                <a:cubicBezTo>
                  <a:pt x="6436" y="768"/>
                  <a:pt x="6426" y="783"/>
                  <a:pt x="6413" y="796"/>
                </a:cubicBezTo>
                <a:cubicBezTo>
                  <a:pt x="6400" y="809"/>
                  <a:pt x="6385" y="819"/>
                  <a:pt x="6368" y="826"/>
                </a:cubicBezTo>
                <a:cubicBezTo>
                  <a:pt x="6351" y="833"/>
                  <a:pt x="6333" y="837"/>
                  <a:pt x="6315" y="837"/>
                </a:cubicBezTo>
                <a:lnTo>
                  <a:pt x="139" y="837"/>
                </a:lnTo>
                <a:cubicBezTo>
                  <a:pt x="120" y="837"/>
                  <a:pt x="103" y="833"/>
                  <a:pt x="86" y="826"/>
                </a:cubicBezTo>
                <a:cubicBezTo>
                  <a:pt x="69" y="819"/>
                  <a:pt x="54" y="809"/>
                  <a:pt x="40" y="796"/>
                </a:cubicBezTo>
                <a:cubicBezTo>
                  <a:pt x="27" y="783"/>
                  <a:pt x="17" y="768"/>
                  <a:pt x="10" y="751"/>
                </a:cubicBezTo>
                <a:cubicBezTo>
                  <a:pt x="3" y="734"/>
                  <a:pt x="0" y="716"/>
                  <a:pt x="0" y="6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501480" y="4492080"/>
            <a:ext cx="11077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s(t) = cos(ω t) - sin(ω t)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2791080" y="4270320"/>
            <a:ext cx="161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ビットペア 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01 (I=-1, Q=+1)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401040" y="4947120"/>
            <a:ext cx="2323440" cy="300960"/>
          </a:xfrm>
          <a:custGeom>
            <a:avLst/>
            <a:gdLst/>
            <a:ahLst/>
            <a:rect l="0" t="0" r="r" b="b"/>
            <a:pathLst>
              <a:path w="6454" h="836">
                <a:moveTo>
                  <a:pt x="0" y="697"/>
                </a:moveTo>
                <a:lnTo>
                  <a:pt x="0" y="140"/>
                </a:lnTo>
                <a:cubicBezTo>
                  <a:pt x="0" y="121"/>
                  <a:pt x="3" y="104"/>
                  <a:pt x="10" y="87"/>
                </a:cubicBezTo>
                <a:cubicBezTo>
                  <a:pt x="17" y="70"/>
                  <a:pt x="27" y="54"/>
                  <a:pt x="41" y="41"/>
                </a:cubicBezTo>
                <a:cubicBezTo>
                  <a:pt x="54" y="27"/>
                  <a:pt x="69" y="17"/>
                  <a:pt x="86" y="10"/>
                </a:cubicBezTo>
                <a:cubicBezTo>
                  <a:pt x="103" y="3"/>
                  <a:pt x="121" y="0"/>
                  <a:pt x="139" y="0"/>
                </a:cubicBezTo>
                <a:lnTo>
                  <a:pt x="6315" y="0"/>
                </a:lnTo>
                <a:cubicBezTo>
                  <a:pt x="6333" y="0"/>
                  <a:pt x="6351" y="3"/>
                  <a:pt x="6368" y="10"/>
                </a:cubicBezTo>
                <a:cubicBezTo>
                  <a:pt x="6385" y="17"/>
                  <a:pt x="6400" y="27"/>
                  <a:pt x="6413" y="41"/>
                </a:cubicBezTo>
                <a:cubicBezTo>
                  <a:pt x="6426" y="54"/>
                  <a:pt x="6436" y="70"/>
                  <a:pt x="6443" y="87"/>
                </a:cubicBezTo>
                <a:cubicBezTo>
                  <a:pt x="6450" y="104"/>
                  <a:pt x="6454" y="121"/>
                  <a:pt x="6454" y="140"/>
                </a:cubicBezTo>
                <a:lnTo>
                  <a:pt x="6454" y="697"/>
                </a:lnTo>
                <a:cubicBezTo>
                  <a:pt x="6454" y="715"/>
                  <a:pt x="6450" y="733"/>
                  <a:pt x="6443" y="750"/>
                </a:cubicBezTo>
                <a:cubicBezTo>
                  <a:pt x="6436" y="767"/>
                  <a:pt x="6426" y="782"/>
                  <a:pt x="6413" y="796"/>
                </a:cubicBezTo>
                <a:cubicBezTo>
                  <a:pt x="6400" y="809"/>
                  <a:pt x="6385" y="819"/>
                  <a:pt x="6368" y="826"/>
                </a:cubicBezTo>
                <a:cubicBezTo>
                  <a:pt x="6351" y="833"/>
                  <a:pt x="6333" y="836"/>
                  <a:pt x="6315" y="836"/>
                </a:cubicBezTo>
                <a:lnTo>
                  <a:pt x="139" y="836"/>
                </a:lnTo>
                <a:cubicBezTo>
                  <a:pt x="121" y="836"/>
                  <a:pt x="103" y="833"/>
                  <a:pt x="86" y="826"/>
                </a:cubicBezTo>
                <a:cubicBezTo>
                  <a:pt x="69" y="819"/>
                  <a:pt x="54" y="809"/>
                  <a:pt x="41" y="796"/>
                </a:cubicBezTo>
                <a:cubicBezTo>
                  <a:pt x="27" y="782"/>
                  <a:pt x="17" y="767"/>
                  <a:pt x="10" y="750"/>
                </a:cubicBezTo>
                <a:cubicBezTo>
                  <a:pt x="3" y="733"/>
                  <a:pt x="0" y="715"/>
                  <a:pt x="0" y="6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2891520" y="4492080"/>
            <a:ext cx="11469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s(t) = -cos(ω t) - sin(ω t)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401040" y="4805280"/>
            <a:ext cx="1558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ビットペア 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11 (I=-1, Q=-1)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791080" y="4947120"/>
            <a:ext cx="2323440" cy="300960"/>
          </a:xfrm>
          <a:custGeom>
            <a:avLst/>
            <a:gdLst/>
            <a:ahLst/>
            <a:rect l="0" t="0" r="r" b="b"/>
            <a:pathLst>
              <a:path w="6454" h="836">
                <a:moveTo>
                  <a:pt x="0" y="697"/>
                </a:moveTo>
                <a:lnTo>
                  <a:pt x="0" y="140"/>
                </a:lnTo>
                <a:cubicBezTo>
                  <a:pt x="0" y="121"/>
                  <a:pt x="3" y="104"/>
                  <a:pt x="10" y="87"/>
                </a:cubicBezTo>
                <a:cubicBezTo>
                  <a:pt x="17" y="70"/>
                  <a:pt x="27" y="54"/>
                  <a:pt x="40" y="41"/>
                </a:cubicBezTo>
                <a:cubicBezTo>
                  <a:pt x="54" y="27"/>
                  <a:pt x="69" y="17"/>
                  <a:pt x="86" y="10"/>
                </a:cubicBezTo>
                <a:cubicBezTo>
                  <a:pt x="103" y="3"/>
                  <a:pt x="120" y="0"/>
                  <a:pt x="139" y="0"/>
                </a:cubicBezTo>
                <a:lnTo>
                  <a:pt x="6315" y="0"/>
                </a:lnTo>
                <a:cubicBezTo>
                  <a:pt x="6333" y="0"/>
                  <a:pt x="6351" y="3"/>
                  <a:pt x="6368" y="10"/>
                </a:cubicBezTo>
                <a:cubicBezTo>
                  <a:pt x="6385" y="17"/>
                  <a:pt x="6400" y="27"/>
                  <a:pt x="6413" y="41"/>
                </a:cubicBezTo>
                <a:cubicBezTo>
                  <a:pt x="6426" y="54"/>
                  <a:pt x="6436" y="70"/>
                  <a:pt x="6443" y="87"/>
                </a:cubicBezTo>
                <a:cubicBezTo>
                  <a:pt x="6450" y="104"/>
                  <a:pt x="6454" y="121"/>
                  <a:pt x="6454" y="140"/>
                </a:cubicBezTo>
                <a:lnTo>
                  <a:pt x="6454" y="697"/>
                </a:lnTo>
                <a:cubicBezTo>
                  <a:pt x="6454" y="715"/>
                  <a:pt x="6450" y="733"/>
                  <a:pt x="6443" y="750"/>
                </a:cubicBezTo>
                <a:cubicBezTo>
                  <a:pt x="6436" y="767"/>
                  <a:pt x="6426" y="782"/>
                  <a:pt x="6413" y="796"/>
                </a:cubicBezTo>
                <a:cubicBezTo>
                  <a:pt x="6400" y="809"/>
                  <a:pt x="6385" y="819"/>
                  <a:pt x="6368" y="826"/>
                </a:cubicBezTo>
                <a:cubicBezTo>
                  <a:pt x="6351" y="833"/>
                  <a:pt x="6333" y="836"/>
                  <a:pt x="6315" y="836"/>
                </a:cubicBezTo>
                <a:lnTo>
                  <a:pt x="139" y="836"/>
                </a:lnTo>
                <a:cubicBezTo>
                  <a:pt x="120" y="836"/>
                  <a:pt x="103" y="833"/>
                  <a:pt x="86" y="826"/>
                </a:cubicBezTo>
                <a:cubicBezTo>
                  <a:pt x="69" y="819"/>
                  <a:pt x="54" y="809"/>
                  <a:pt x="40" y="796"/>
                </a:cubicBezTo>
                <a:cubicBezTo>
                  <a:pt x="27" y="782"/>
                  <a:pt x="17" y="767"/>
                  <a:pt x="10" y="750"/>
                </a:cubicBezTo>
                <a:cubicBezTo>
                  <a:pt x="3" y="733"/>
                  <a:pt x="0" y="715"/>
                  <a:pt x="0" y="697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01480" y="5026680"/>
            <a:ext cx="11739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s(t) = -cos(ω t) + sin(ω t)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791080" y="4805280"/>
            <a:ext cx="161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ビットペア 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10 (I=+1, Q=-1)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5448240" y="935640"/>
            <a:ext cx="4980960" cy="2941920"/>
          </a:xfrm>
          <a:custGeom>
            <a:avLst/>
            <a:gdLst/>
            <a:ahLst/>
            <a:rect l="0" t="0" r="r" b="b"/>
            <a:pathLst>
              <a:path w="13836" h="8172">
                <a:moveTo>
                  <a:pt x="0" y="7987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13651" y="0"/>
                </a:lnTo>
                <a:cubicBezTo>
                  <a:pt x="13663" y="0"/>
                  <a:pt x="13675" y="2"/>
                  <a:pt x="13687" y="4"/>
                </a:cubicBezTo>
                <a:cubicBezTo>
                  <a:pt x="13699" y="6"/>
                  <a:pt x="13710" y="10"/>
                  <a:pt x="13722" y="14"/>
                </a:cubicBezTo>
                <a:cubicBezTo>
                  <a:pt x="13733" y="19"/>
                  <a:pt x="13744" y="25"/>
                  <a:pt x="13754" y="32"/>
                </a:cubicBezTo>
                <a:cubicBezTo>
                  <a:pt x="13764" y="38"/>
                  <a:pt x="13773" y="46"/>
                  <a:pt x="13782" y="55"/>
                </a:cubicBezTo>
                <a:cubicBezTo>
                  <a:pt x="13791" y="63"/>
                  <a:pt x="13798" y="73"/>
                  <a:pt x="13805" y="83"/>
                </a:cubicBezTo>
                <a:cubicBezTo>
                  <a:pt x="13812" y="93"/>
                  <a:pt x="13818" y="104"/>
                  <a:pt x="13822" y="115"/>
                </a:cubicBezTo>
                <a:cubicBezTo>
                  <a:pt x="13827" y="126"/>
                  <a:pt x="13830" y="138"/>
                  <a:pt x="13833" y="150"/>
                </a:cubicBezTo>
                <a:cubicBezTo>
                  <a:pt x="13835" y="162"/>
                  <a:pt x="13836" y="174"/>
                  <a:pt x="13836" y="186"/>
                </a:cubicBezTo>
                <a:lnTo>
                  <a:pt x="13836" y="7987"/>
                </a:lnTo>
                <a:cubicBezTo>
                  <a:pt x="13836" y="7999"/>
                  <a:pt x="13835" y="8011"/>
                  <a:pt x="13833" y="8023"/>
                </a:cubicBezTo>
                <a:cubicBezTo>
                  <a:pt x="13830" y="8035"/>
                  <a:pt x="13827" y="8046"/>
                  <a:pt x="13822" y="8058"/>
                </a:cubicBezTo>
                <a:cubicBezTo>
                  <a:pt x="13818" y="8069"/>
                  <a:pt x="13812" y="8080"/>
                  <a:pt x="13805" y="8090"/>
                </a:cubicBezTo>
                <a:cubicBezTo>
                  <a:pt x="13798" y="8100"/>
                  <a:pt x="13791" y="8109"/>
                  <a:pt x="13782" y="8118"/>
                </a:cubicBezTo>
                <a:cubicBezTo>
                  <a:pt x="13773" y="8127"/>
                  <a:pt x="13764" y="8134"/>
                  <a:pt x="13754" y="8141"/>
                </a:cubicBezTo>
                <a:cubicBezTo>
                  <a:pt x="13744" y="8148"/>
                  <a:pt x="13733" y="8154"/>
                  <a:pt x="13722" y="8158"/>
                </a:cubicBezTo>
                <a:cubicBezTo>
                  <a:pt x="13710" y="8163"/>
                  <a:pt x="13699" y="8166"/>
                  <a:pt x="13687" y="8169"/>
                </a:cubicBezTo>
                <a:cubicBezTo>
                  <a:pt x="13675" y="8171"/>
                  <a:pt x="13663" y="8172"/>
                  <a:pt x="13651" y="8172"/>
                </a:cubicBezTo>
                <a:lnTo>
                  <a:pt x="186" y="8172"/>
                </a:lnTo>
                <a:cubicBezTo>
                  <a:pt x="174" y="8172"/>
                  <a:pt x="162" y="8171"/>
                  <a:pt x="150" y="8169"/>
                </a:cubicBezTo>
                <a:cubicBezTo>
                  <a:pt x="138" y="8166"/>
                  <a:pt x="126" y="8163"/>
                  <a:pt x="115" y="8158"/>
                </a:cubicBezTo>
                <a:cubicBezTo>
                  <a:pt x="104" y="8154"/>
                  <a:pt x="93" y="8148"/>
                  <a:pt x="83" y="8141"/>
                </a:cubicBezTo>
                <a:cubicBezTo>
                  <a:pt x="73" y="8134"/>
                  <a:pt x="63" y="8127"/>
                  <a:pt x="55" y="8118"/>
                </a:cubicBezTo>
                <a:cubicBezTo>
                  <a:pt x="46" y="8109"/>
                  <a:pt x="38" y="8100"/>
                  <a:pt x="32" y="8090"/>
                </a:cubicBezTo>
                <a:cubicBezTo>
                  <a:pt x="25" y="8080"/>
                  <a:pt x="19" y="8069"/>
                  <a:pt x="15" y="8058"/>
                </a:cubicBezTo>
                <a:cubicBezTo>
                  <a:pt x="10" y="8046"/>
                  <a:pt x="6" y="8035"/>
                  <a:pt x="4" y="8023"/>
                </a:cubicBezTo>
                <a:cubicBezTo>
                  <a:pt x="2" y="8011"/>
                  <a:pt x="0" y="7999"/>
                  <a:pt x="0" y="798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448240" y="4077720"/>
            <a:ext cx="4980960" cy="1437840"/>
          </a:xfrm>
          <a:custGeom>
            <a:avLst/>
            <a:gdLst/>
            <a:ahLst/>
            <a:rect l="0" t="0" r="r" b="b"/>
            <a:pathLst>
              <a:path w="13836" h="3994">
                <a:moveTo>
                  <a:pt x="0" y="3808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9"/>
                  <a:pt x="83" y="32"/>
                </a:cubicBezTo>
                <a:cubicBezTo>
                  <a:pt x="93" y="25"/>
                  <a:pt x="104" y="19"/>
                  <a:pt x="115" y="15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13651" y="0"/>
                </a:lnTo>
                <a:cubicBezTo>
                  <a:pt x="13663" y="0"/>
                  <a:pt x="13675" y="2"/>
                  <a:pt x="13687" y="4"/>
                </a:cubicBezTo>
                <a:cubicBezTo>
                  <a:pt x="13699" y="6"/>
                  <a:pt x="13710" y="10"/>
                  <a:pt x="13722" y="15"/>
                </a:cubicBezTo>
                <a:cubicBezTo>
                  <a:pt x="13733" y="19"/>
                  <a:pt x="13744" y="25"/>
                  <a:pt x="13754" y="32"/>
                </a:cubicBezTo>
                <a:cubicBezTo>
                  <a:pt x="13764" y="39"/>
                  <a:pt x="13773" y="46"/>
                  <a:pt x="13782" y="55"/>
                </a:cubicBezTo>
                <a:cubicBezTo>
                  <a:pt x="13791" y="63"/>
                  <a:pt x="13798" y="73"/>
                  <a:pt x="13805" y="83"/>
                </a:cubicBezTo>
                <a:cubicBezTo>
                  <a:pt x="13812" y="93"/>
                  <a:pt x="13818" y="104"/>
                  <a:pt x="13822" y="115"/>
                </a:cubicBezTo>
                <a:cubicBezTo>
                  <a:pt x="13827" y="126"/>
                  <a:pt x="13830" y="138"/>
                  <a:pt x="13833" y="150"/>
                </a:cubicBezTo>
                <a:cubicBezTo>
                  <a:pt x="13835" y="162"/>
                  <a:pt x="13836" y="174"/>
                  <a:pt x="13836" y="186"/>
                </a:cubicBezTo>
                <a:lnTo>
                  <a:pt x="13836" y="3808"/>
                </a:lnTo>
                <a:cubicBezTo>
                  <a:pt x="13836" y="3821"/>
                  <a:pt x="13835" y="3833"/>
                  <a:pt x="13833" y="3845"/>
                </a:cubicBezTo>
                <a:cubicBezTo>
                  <a:pt x="13830" y="3857"/>
                  <a:pt x="13827" y="3868"/>
                  <a:pt x="13822" y="3879"/>
                </a:cubicBezTo>
                <a:cubicBezTo>
                  <a:pt x="13818" y="3891"/>
                  <a:pt x="13812" y="3901"/>
                  <a:pt x="13805" y="3912"/>
                </a:cubicBezTo>
                <a:cubicBezTo>
                  <a:pt x="13798" y="3922"/>
                  <a:pt x="13791" y="3931"/>
                  <a:pt x="13782" y="3940"/>
                </a:cubicBezTo>
                <a:cubicBezTo>
                  <a:pt x="13773" y="3948"/>
                  <a:pt x="13764" y="3956"/>
                  <a:pt x="13754" y="3963"/>
                </a:cubicBezTo>
                <a:cubicBezTo>
                  <a:pt x="13744" y="3970"/>
                  <a:pt x="13733" y="3975"/>
                  <a:pt x="13722" y="3980"/>
                </a:cubicBezTo>
                <a:cubicBezTo>
                  <a:pt x="13710" y="3985"/>
                  <a:pt x="13699" y="3988"/>
                  <a:pt x="13687" y="3991"/>
                </a:cubicBezTo>
                <a:cubicBezTo>
                  <a:pt x="13675" y="3993"/>
                  <a:pt x="13663" y="3994"/>
                  <a:pt x="13651" y="3994"/>
                </a:cubicBezTo>
                <a:lnTo>
                  <a:pt x="186" y="3994"/>
                </a:lnTo>
                <a:cubicBezTo>
                  <a:pt x="174" y="3994"/>
                  <a:pt x="162" y="3993"/>
                  <a:pt x="150" y="3991"/>
                </a:cubicBezTo>
                <a:cubicBezTo>
                  <a:pt x="138" y="3988"/>
                  <a:pt x="126" y="3985"/>
                  <a:pt x="115" y="3980"/>
                </a:cubicBezTo>
                <a:cubicBezTo>
                  <a:pt x="104" y="3975"/>
                  <a:pt x="93" y="3970"/>
                  <a:pt x="83" y="3963"/>
                </a:cubicBezTo>
                <a:cubicBezTo>
                  <a:pt x="73" y="3956"/>
                  <a:pt x="63" y="3948"/>
                  <a:pt x="55" y="3940"/>
                </a:cubicBezTo>
                <a:cubicBezTo>
                  <a:pt x="46" y="3931"/>
                  <a:pt x="38" y="3922"/>
                  <a:pt x="32" y="3912"/>
                </a:cubicBezTo>
                <a:cubicBezTo>
                  <a:pt x="25" y="3901"/>
                  <a:pt x="19" y="3891"/>
                  <a:pt x="15" y="3879"/>
                </a:cubicBezTo>
                <a:cubicBezTo>
                  <a:pt x="10" y="3868"/>
                  <a:pt x="6" y="3857"/>
                  <a:pt x="4" y="3845"/>
                </a:cubicBezTo>
                <a:cubicBezTo>
                  <a:pt x="2" y="3833"/>
                  <a:pt x="0" y="3821"/>
                  <a:pt x="0" y="380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2891520" y="5026680"/>
            <a:ext cx="11347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s(t) = cos(ω t) + sin(ω t)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4" name="" descr=""/>
          <p:cNvPicPr/>
          <p:nvPr/>
        </p:nvPicPr>
        <p:blipFill>
          <a:blip r:embed="rId4"/>
          <a:stretch/>
        </p:blipFill>
        <p:spPr>
          <a:xfrm>
            <a:off x="5582160" y="1370520"/>
            <a:ext cx="4712760" cy="213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"/>
          <p:cNvSpPr txBox="1"/>
          <p:nvPr/>
        </p:nvSpPr>
        <p:spPr>
          <a:xfrm>
            <a:off x="6982200" y="1113840"/>
            <a:ext cx="1948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コンステレーション図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029280" y="3601800"/>
            <a:ext cx="40273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つのシンボルが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90°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間隔で配置され、各シンボルが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ビットの情報を表す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6284160" y="4520880"/>
            <a:ext cx="651960" cy="651960"/>
          </a:xfrm>
          <a:custGeom>
            <a:avLst/>
            <a:gdLst/>
            <a:ahLst/>
            <a:rect l="0" t="0" r="r" b="b"/>
            <a:pathLst>
              <a:path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5" y="1546"/>
                </a:cubicBezTo>
                <a:cubicBezTo>
                  <a:pt x="1524" y="1567"/>
                  <a:pt x="1502" y="1587"/>
                  <a:pt x="1479" y="1606"/>
                </a:cubicBezTo>
                <a:cubicBezTo>
                  <a:pt x="1456" y="1625"/>
                  <a:pt x="1433" y="1642"/>
                  <a:pt x="1408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3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1" y="1781"/>
                  <a:pt x="642" y="1772"/>
                </a:cubicBezTo>
                <a:cubicBezTo>
                  <a:pt x="614" y="1764"/>
                  <a:pt x="586" y="1754"/>
                  <a:pt x="559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4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1" y="1359"/>
                  <a:pt x="107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7" y="478"/>
                </a:cubicBezTo>
                <a:cubicBezTo>
                  <a:pt x="121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4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9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1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3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8" y="152"/>
                </a:cubicBezTo>
                <a:cubicBezTo>
                  <a:pt x="1433" y="169"/>
                  <a:pt x="1456" y="186"/>
                  <a:pt x="1479" y="205"/>
                </a:cubicBezTo>
                <a:cubicBezTo>
                  <a:pt x="1502" y="224"/>
                  <a:pt x="1524" y="244"/>
                  <a:pt x="1545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  <a:close/>
              </a:path>
            </a:pathLst>
          </a:custGeom>
          <a:solidFill>
            <a:srgbClr val="add8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6284160" y="4520880"/>
            <a:ext cx="651960" cy="651960"/>
          </a:xfrm>
          <a:custGeom>
            <a:avLst/>
            <a:gdLst/>
            <a:ahLst/>
            <a:rect l="0" t="0" r="r" b="b"/>
            <a:pathLst>
              <a:path fill="none"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5" y="1546"/>
                </a:cubicBezTo>
                <a:cubicBezTo>
                  <a:pt x="1524" y="1567"/>
                  <a:pt x="1502" y="1587"/>
                  <a:pt x="1479" y="1606"/>
                </a:cubicBezTo>
                <a:cubicBezTo>
                  <a:pt x="1456" y="1625"/>
                  <a:pt x="1433" y="1642"/>
                  <a:pt x="1408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3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1" y="1781"/>
                  <a:pt x="642" y="1772"/>
                </a:cubicBezTo>
                <a:cubicBezTo>
                  <a:pt x="614" y="1764"/>
                  <a:pt x="586" y="1754"/>
                  <a:pt x="559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4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1" y="1359"/>
                  <a:pt x="107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7" y="478"/>
                </a:cubicBezTo>
                <a:cubicBezTo>
                  <a:pt x="121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4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9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1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3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8" y="152"/>
                </a:cubicBezTo>
                <a:cubicBezTo>
                  <a:pt x="1433" y="169"/>
                  <a:pt x="1456" y="186"/>
                  <a:pt x="1479" y="205"/>
                </a:cubicBezTo>
                <a:cubicBezTo>
                  <a:pt x="1502" y="224"/>
                  <a:pt x="1524" y="244"/>
                  <a:pt x="1545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282800" y="4255920"/>
            <a:ext cx="13453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変調の仕組み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585120" y="4781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1" name="" descr=""/>
          <p:cNvPicPr/>
          <p:nvPr/>
        </p:nvPicPr>
        <p:blipFill>
          <a:blip r:embed="rId5"/>
          <a:stretch/>
        </p:blipFill>
        <p:spPr>
          <a:xfrm>
            <a:off x="7144920" y="4821840"/>
            <a:ext cx="25884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"/>
          <p:cNvSpPr/>
          <p:nvPr/>
        </p:nvSpPr>
        <p:spPr>
          <a:xfrm>
            <a:off x="7612920" y="4520880"/>
            <a:ext cx="651960" cy="651960"/>
          </a:xfrm>
          <a:custGeom>
            <a:avLst/>
            <a:gdLst/>
            <a:ahLst/>
            <a:rect l="0" t="0" r="r" b="b"/>
            <a:pathLst>
              <a:path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6" y="1546"/>
                </a:cubicBezTo>
                <a:cubicBezTo>
                  <a:pt x="1525" y="1567"/>
                  <a:pt x="1503" y="1587"/>
                  <a:pt x="1480" y="1606"/>
                </a:cubicBezTo>
                <a:cubicBezTo>
                  <a:pt x="1456" y="1625"/>
                  <a:pt x="1433" y="1642"/>
                  <a:pt x="1408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2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0" y="1781"/>
                  <a:pt x="642" y="1772"/>
                </a:cubicBezTo>
                <a:cubicBezTo>
                  <a:pt x="614" y="1764"/>
                  <a:pt x="586" y="1754"/>
                  <a:pt x="558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3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0" y="1359"/>
                  <a:pt x="106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6" y="478"/>
                </a:cubicBezTo>
                <a:cubicBezTo>
                  <a:pt x="120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3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8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0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2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8" y="152"/>
                </a:cubicBezTo>
                <a:cubicBezTo>
                  <a:pt x="1433" y="169"/>
                  <a:pt x="1456" y="186"/>
                  <a:pt x="1480" y="205"/>
                </a:cubicBezTo>
                <a:cubicBezTo>
                  <a:pt x="1503" y="224"/>
                  <a:pt x="1525" y="244"/>
                  <a:pt x="1546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  <a:close/>
              </a:path>
            </a:pathLst>
          </a:custGeom>
          <a:solidFill>
            <a:srgbClr val="add8e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7612920" y="4520880"/>
            <a:ext cx="651960" cy="651960"/>
          </a:xfrm>
          <a:custGeom>
            <a:avLst/>
            <a:gdLst/>
            <a:ahLst/>
            <a:rect l="0" t="0" r="r" b="b"/>
            <a:pathLst>
              <a:path fill="none"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6" y="1546"/>
                </a:cubicBezTo>
                <a:cubicBezTo>
                  <a:pt x="1525" y="1567"/>
                  <a:pt x="1503" y="1587"/>
                  <a:pt x="1480" y="1606"/>
                </a:cubicBezTo>
                <a:cubicBezTo>
                  <a:pt x="1456" y="1625"/>
                  <a:pt x="1433" y="1642"/>
                  <a:pt x="1408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2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0" y="1781"/>
                  <a:pt x="642" y="1772"/>
                </a:cubicBezTo>
                <a:cubicBezTo>
                  <a:pt x="614" y="1764"/>
                  <a:pt x="586" y="1754"/>
                  <a:pt x="558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3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0" y="1359"/>
                  <a:pt x="106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6" y="478"/>
                </a:cubicBezTo>
                <a:cubicBezTo>
                  <a:pt x="120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3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8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0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2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8" y="152"/>
                </a:cubicBezTo>
                <a:cubicBezTo>
                  <a:pt x="1433" y="169"/>
                  <a:pt x="1456" y="186"/>
                  <a:pt x="1480" y="205"/>
                </a:cubicBezTo>
                <a:cubicBezTo>
                  <a:pt x="1503" y="224"/>
                  <a:pt x="1525" y="244"/>
                  <a:pt x="1546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372000" y="523980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同相成分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7884720" y="4781160"/>
            <a:ext cx="1332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6"/>
          <a:stretch/>
        </p:blipFill>
        <p:spPr>
          <a:xfrm>
            <a:off x="8473680" y="4821840"/>
            <a:ext cx="26712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"/>
          <p:cNvSpPr/>
          <p:nvPr/>
        </p:nvSpPr>
        <p:spPr>
          <a:xfrm>
            <a:off x="8949960" y="4520880"/>
            <a:ext cx="651960" cy="651960"/>
          </a:xfrm>
          <a:custGeom>
            <a:avLst/>
            <a:gdLst/>
            <a:ahLst/>
            <a:rect l="0" t="0" r="r" b="b"/>
            <a:pathLst>
              <a:path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6" y="1546"/>
                </a:cubicBezTo>
                <a:cubicBezTo>
                  <a:pt x="1525" y="1567"/>
                  <a:pt x="1503" y="1587"/>
                  <a:pt x="1480" y="1606"/>
                </a:cubicBezTo>
                <a:cubicBezTo>
                  <a:pt x="1457" y="1625"/>
                  <a:pt x="1434" y="1642"/>
                  <a:pt x="1409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3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1" y="1781"/>
                  <a:pt x="642" y="1772"/>
                </a:cubicBezTo>
                <a:cubicBezTo>
                  <a:pt x="614" y="1764"/>
                  <a:pt x="586" y="1754"/>
                  <a:pt x="559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4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1" y="1359"/>
                  <a:pt x="107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7" y="478"/>
                </a:cubicBezTo>
                <a:cubicBezTo>
                  <a:pt x="121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4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9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1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3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9" y="152"/>
                </a:cubicBezTo>
                <a:cubicBezTo>
                  <a:pt x="1434" y="169"/>
                  <a:pt x="1457" y="186"/>
                  <a:pt x="1480" y="205"/>
                </a:cubicBezTo>
                <a:cubicBezTo>
                  <a:pt x="1503" y="224"/>
                  <a:pt x="1525" y="244"/>
                  <a:pt x="1546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8949960" y="4520880"/>
            <a:ext cx="651960" cy="651960"/>
          </a:xfrm>
          <a:custGeom>
            <a:avLst/>
            <a:gdLst/>
            <a:ahLst/>
            <a:rect l="0" t="0" r="r" b="b"/>
            <a:pathLst>
              <a:path fill="none" w="1811" h="1811">
                <a:moveTo>
                  <a:pt x="1811" y="905"/>
                </a:moveTo>
                <a:cubicBezTo>
                  <a:pt x="1811" y="935"/>
                  <a:pt x="1810" y="964"/>
                  <a:pt x="1807" y="994"/>
                </a:cubicBezTo>
                <a:cubicBezTo>
                  <a:pt x="1804" y="1024"/>
                  <a:pt x="1800" y="1054"/>
                  <a:pt x="1794" y="1083"/>
                </a:cubicBezTo>
                <a:cubicBezTo>
                  <a:pt x="1788" y="1112"/>
                  <a:pt x="1781" y="1140"/>
                  <a:pt x="1772" y="1169"/>
                </a:cubicBezTo>
                <a:cubicBezTo>
                  <a:pt x="1764" y="1197"/>
                  <a:pt x="1754" y="1225"/>
                  <a:pt x="1742" y="1253"/>
                </a:cubicBezTo>
                <a:cubicBezTo>
                  <a:pt x="1731" y="1280"/>
                  <a:pt x="1718" y="1307"/>
                  <a:pt x="1704" y="1333"/>
                </a:cubicBezTo>
                <a:cubicBezTo>
                  <a:pt x="1690" y="1359"/>
                  <a:pt x="1675" y="1384"/>
                  <a:pt x="1659" y="1409"/>
                </a:cubicBezTo>
                <a:cubicBezTo>
                  <a:pt x="1642" y="1434"/>
                  <a:pt x="1625" y="1457"/>
                  <a:pt x="1606" y="1480"/>
                </a:cubicBezTo>
                <a:cubicBezTo>
                  <a:pt x="1587" y="1503"/>
                  <a:pt x="1567" y="1525"/>
                  <a:pt x="1546" y="1546"/>
                </a:cubicBezTo>
                <a:cubicBezTo>
                  <a:pt x="1525" y="1567"/>
                  <a:pt x="1503" y="1587"/>
                  <a:pt x="1480" y="1606"/>
                </a:cubicBezTo>
                <a:cubicBezTo>
                  <a:pt x="1457" y="1625"/>
                  <a:pt x="1434" y="1642"/>
                  <a:pt x="1409" y="1659"/>
                </a:cubicBezTo>
                <a:cubicBezTo>
                  <a:pt x="1383" y="1675"/>
                  <a:pt x="1358" y="1691"/>
                  <a:pt x="1332" y="1704"/>
                </a:cubicBezTo>
                <a:cubicBezTo>
                  <a:pt x="1306" y="1718"/>
                  <a:pt x="1279" y="1731"/>
                  <a:pt x="1251" y="1742"/>
                </a:cubicBezTo>
                <a:cubicBezTo>
                  <a:pt x="1224" y="1754"/>
                  <a:pt x="1196" y="1764"/>
                  <a:pt x="1168" y="1772"/>
                </a:cubicBezTo>
                <a:cubicBezTo>
                  <a:pt x="1139" y="1781"/>
                  <a:pt x="1111" y="1788"/>
                  <a:pt x="1082" y="1794"/>
                </a:cubicBezTo>
                <a:cubicBezTo>
                  <a:pt x="1053" y="1800"/>
                  <a:pt x="1023" y="1804"/>
                  <a:pt x="994" y="1807"/>
                </a:cubicBezTo>
                <a:cubicBezTo>
                  <a:pt x="964" y="1810"/>
                  <a:pt x="935" y="1811"/>
                  <a:pt x="905" y="1811"/>
                </a:cubicBezTo>
                <a:cubicBezTo>
                  <a:pt x="875" y="1811"/>
                  <a:pt x="846" y="1810"/>
                  <a:pt x="816" y="1807"/>
                </a:cubicBezTo>
                <a:cubicBezTo>
                  <a:pt x="787" y="1804"/>
                  <a:pt x="757" y="1800"/>
                  <a:pt x="728" y="1794"/>
                </a:cubicBezTo>
                <a:cubicBezTo>
                  <a:pt x="699" y="1788"/>
                  <a:pt x="671" y="1781"/>
                  <a:pt x="642" y="1772"/>
                </a:cubicBezTo>
                <a:cubicBezTo>
                  <a:pt x="614" y="1764"/>
                  <a:pt x="586" y="1754"/>
                  <a:pt x="559" y="1742"/>
                </a:cubicBezTo>
                <a:cubicBezTo>
                  <a:pt x="531" y="1731"/>
                  <a:pt x="504" y="1718"/>
                  <a:pt x="478" y="1704"/>
                </a:cubicBezTo>
                <a:cubicBezTo>
                  <a:pt x="452" y="1691"/>
                  <a:pt x="427" y="1675"/>
                  <a:pt x="402" y="1659"/>
                </a:cubicBezTo>
                <a:cubicBezTo>
                  <a:pt x="377" y="1642"/>
                  <a:pt x="354" y="1625"/>
                  <a:pt x="331" y="1606"/>
                </a:cubicBezTo>
                <a:cubicBezTo>
                  <a:pt x="308" y="1587"/>
                  <a:pt x="286" y="1567"/>
                  <a:pt x="265" y="1546"/>
                </a:cubicBezTo>
                <a:cubicBezTo>
                  <a:pt x="244" y="1525"/>
                  <a:pt x="224" y="1503"/>
                  <a:pt x="205" y="1480"/>
                </a:cubicBezTo>
                <a:cubicBezTo>
                  <a:pt x="186" y="1457"/>
                  <a:pt x="169" y="1434"/>
                  <a:pt x="152" y="1409"/>
                </a:cubicBezTo>
                <a:cubicBezTo>
                  <a:pt x="136" y="1384"/>
                  <a:pt x="121" y="1359"/>
                  <a:pt x="107" y="1333"/>
                </a:cubicBezTo>
                <a:cubicBezTo>
                  <a:pt x="93" y="1307"/>
                  <a:pt x="80" y="1280"/>
                  <a:pt x="69" y="1253"/>
                </a:cubicBezTo>
                <a:cubicBezTo>
                  <a:pt x="57" y="1225"/>
                  <a:pt x="47" y="1197"/>
                  <a:pt x="39" y="1169"/>
                </a:cubicBezTo>
                <a:cubicBezTo>
                  <a:pt x="30" y="1140"/>
                  <a:pt x="23" y="1112"/>
                  <a:pt x="17" y="1083"/>
                </a:cubicBezTo>
                <a:cubicBezTo>
                  <a:pt x="11" y="1054"/>
                  <a:pt x="7" y="1024"/>
                  <a:pt x="4" y="994"/>
                </a:cubicBezTo>
                <a:cubicBezTo>
                  <a:pt x="1" y="964"/>
                  <a:pt x="0" y="935"/>
                  <a:pt x="0" y="905"/>
                </a:cubicBezTo>
                <a:cubicBezTo>
                  <a:pt x="0" y="875"/>
                  <a:pt x="1" y="846"/>
                  <a:pt x="4" y="816"/>
                </a:cubicBezTo>
                <a:cubicBezTo>
                  <a:pt x="7" y="787"/>
                  <a:pt x="11" y="758"/>
                  <a:pt x="17" y="728"/>
                </a:cubicBezTo>
                <a:cubicBezTo>
                  <a:pt x="23" y="699"/>
                  <a:pt x="30" y="671"/>
                  <a:pt x="39" y="642"/>
                </a:cubicBezTo>
                <a:cubicBezTo>
                  <a:pt x="47" y="614"/>
                  <a:pt x="57" y="586"/>
                  <a:pt x="69" y="559"/>
                </a:cubicBezTo>
                <a:cubicBezTo>
                  <a:pt x="80" y="531"/>
                  <a:pt x="93" y="504"/>
                  <a:pt x="107" y="478"/>
                </a:cubicBezTo>
                <a:cubicBezTo>
                  <a:pt x="121" y="452"/>
                  <a:pt x="136" y="427"/>
                  <a:pt x="152" y="402"/>
                </a:cubicBezTo>
                <a:cubicBezTo>
                  <a:pt x="169" y="377"/>
                  <a:pt x="186" y="354"/>
                  <a:pt x="205" y="331"/>
                </a:cubicBezTo>
                <a:cubicBezTo>
                  <a:pt x="224" y="308"/>
                  <a:pt x="244" y="286"/>
                  <a:pt x="265" y="265"/>
                </a:cubicBezTo>
                <a:cubicBezTo>
                  <a:pt x="286" y="244"/>
                  <a:pt x="308" y="224"/>
                  <a:pt x="331" y="205"/>
                </a:cubicBezTo>
                <a:cubicBezTo>
                  <a:pt x="354" y="186"/>
                  <a:pt x="377" y="169"/>
                  <a:pt x="402" y="152"/>
                </a:cubicBezTo>
                <a:cubicBezTo>
                  <a:pt x="427" y="136"/>
                  <a:pt x="452" y="121"/>
                  <a:pt x="478" y="107"/>
                </a:cubicBezTo>
                <a:cubicBezTo>
                  <a:pt x="504" y="93"/>
                  <a:pt x="531" y="80"/>
                  <a:pt x="559" y="69"/>
                </a:cubicBezTo>
                <a:cubicBezTo>
                  <a:pt x="586" y="57"/>
                  <a:pt x="614" y="47"/>
                  <a:pt x="642" y="39"/>
                </a:cubicBezTo>
                <a:cubicBezTo>
                  <a:pt x="671" y="30"/>
                  <a:pt x="699" y="23"/>
                  <a:pt x="728" y="17"/>
                </a:cubicBezTo>
                <a:cubicBezTo>
                  <a:pt x="757" y="11"/>
                  <a:pt x="787" y="7"/>
                  <a:pt x="816" y="4"/>
                </a:cubicBezTo>
                <a:cubicBezTo>
                  <a:pt x="846" y="1"/>
                  <a:pt x="875" y="0"/>
                  <a:pt x="905" y="0"/>
                </a:cubicBezTo>
                <a:cubicBezTo>
                  <a:pt x="935" y="0"/>
                  <a:pt x="964" y="1"/>
                  <a:pt x="994" y="4"/>
                </a:cubicBezTo>
                <a:cubicBezTo>
                  <a:pt x="1023" y="7"/>
                  <a:pt x="1053" y="11"/>
                  <a:pt x="1082" y="17"/>
                </a:cubicBezTo>
                <a:cubicBezTo>
                  <a:pt x="1111" y="23"/>
                  <a:pt x="1139" y="30"/>
                  <a:pt x="1168" y="39"/>
                </a:cubicBezTo>
                <a:cubicBezTo>
                  <a:pt x="1196" y="47"/>
                  <a:pt x="1224" y="57"/>
                  <a:pt x="1251" y="69"/>
                </a:cubicBezTo>
                <a:cubicBezTo>
                  <a:pt x="1279" y="80"/>
                  <a:pt x="1306" y="93"/>
                  <a:pt x="1332" y="107"/>
                </a:cubicBezTo>
                <a:cubicBezTo>
                  <a:pt x="1358" y="121"/>
                  <a:pt x="1383" y="136"/>
                  <a:pt x="1409" y="152"/>
                </a:cubicBezTo>
                <a:cubicBezTo>
                  <a:pt x="1434" y="169"/>
                  <a:pt x="1457" y="186"/>
                  <a:pt x="1480" y="205"/>
                </a:cubicBezTo>
                <a:cubicBezTo>
                  <a:pt x="1503" y="224"/>
                  <a:pt x="1525" y="244"/>
                  <a:pt x="1546" y="265"/>
                </a:cubicBezTo>
                <a:cubicBezTo>
                  <a:pt x="1567" y="286"/>
                  <a:pt x="1587" y="308"/>
                  <a:pt x="1606" y="331"/>
                </a:cubicBezTo>
                <a:cubicBezTo>
                  <a:pt x="1625" y="354"/>
                  <a:pt x="1642" y="377"/>
                  <a:pt x="1659" y="402"/>
                </a:cubicBezTo>
                <a:cubicBezTo>
                  <a:pt x="1675" y="427"/>
                  <a:pt x="1690" y="452"/>
                  <a:pt x="1704" y="478"/>
                </a:cubicBezTo>
                <a:cubicBezTo>
                  <a:pt x="1718" y="504"/>
                  <a:pt x="1731" y="531"/>
                  <a:pt x="1742" y="559"/>
                </a:cubicBezTo>
                <a:cubicBezTo>
                  <a:pt x="1754" y="586"/>
                  <a:pt x="1764" y="614"/>
                  <a:pt x="1772" y="642"/>
                </a:cubicBezTo>
                <a:cubicBezTo>
                  <a:pt x="1781" y="671"/>
                  <a:pt x="1788" y="699"/>
                  <a:pt x="1794" y="728"/>
                </a:cubicBezTo>
                <a:cubicBezTo>
                  <a:pt x="1800" y="758"/>
                  <a:pt x="1804" y="787"/>
                  <a:pt x="1807" y="816"/>
                </a:cubicBezTo>
                <a:cubicBezTo>
                  <a:pt x="1810" y="846"/>
                  <a:pt x="1811" y="875"/>
                  <a:pt x="1811" y="905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700760" y="523980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直交成分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087840" y="4781160"/>
            <a:ext cx="36036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QPSK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037800" y="523980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1210680" y="3921840"/>
            <a:ext cx="10008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1866960" y="3921840"/>
            <a:ext cx="10008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7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7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1053720" y="45432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1514520" y="45432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482640" y="45432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943440" y="45432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092600" y="50778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580400" y="50778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443760" y="50778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931560" y="5077800"/>
            <a:ext cx="87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69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b="0" lang="en-US" sz="69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6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0" y="0"/>
            <a:ext cx="10696680" cy="6518520"/>
          </a:xfrm>
          <a:custGeom>
            <a:avLst/>
            <a:gdLst/>
            <a:ahLst/>
            <a:rect l="0" t="0" r="r" b="b"/>
            <a:pathLst>
              <a:path w="29713" h="18107">
                <a:moveTo>
                  <a:pt x="0" y="0"/>
                </a:moveTo>
                <a:lnTo>
                  <a:pt x="29713" y="0"/>
                </a:lnTo>
                <a:lnTo>
                  <a:pt x="29713" y="18107"/>
                </a:lnTo>
                <a:lnTo>
                  <a:pt x="0" y="18107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5" name=""/>
          <p:cNvSpPr/>
          <p:nvPr/>
        </p:nvSpPr>
        <p:spPr>
          <a:xfrm>
            <a:off x="1604160" y="935640"/>
            <a:ext cx="7488000" cy="1103400"/>
          </a:xfrm>
          <a:custGeom>
            <a:avLst/>
            <a:gdLst/>
            <a:ahLst/>
            <a:rect l="0" t="0" r="r" b="b"/>
            <a:pathLst>
              <a:path w="20800" h="3065">
                <a:moveTo>
                  <a:pt x="0" y="2880"/>
                </a:moveTo>
                <a:lnTo>
                  <a:pt x="0" y="186"/>
                </a:lnTo>
                <a:cubicBezTo>
                  <a:pt x="0" y="174"/>
                  <a:pt x="2" y="162"/>
                  <a:pt x="4" y="150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20615" y="0"/>
                </a:lnTo>
                <a:cubicBezTo>
                  <a:pt x="20627" y="0"/>
                  <a:pt x="20639" y="2"/>
                  <a:pt x="20651" y="4"/>
                </a:cubicBezTo>
                <a:cubicBezTo>
                  <a:pt x="20663" y="6"/>
                  <a:pt x="20674" y="10"/>
                  <a:pt x="20686" y="14"/>
                </a:cubicBezTo>
                <a:cubicBezTo>
                  <a:pt x="20697" y="19"/>
                  <a:pt x="20708" y="25"/>
                  <a:pt x="20718" y="32"/>
                </a:cubicBezTo>
                <a:cubicBezTo>
                  <a:pt x="20728" y="38"/>
                  <a:pt x="20737" y="46"/>
                  <a:pt x="20746" y="55"/>
                </a:cubicBezTo>
                <a:cubicBezTo>
                  <a:pt x="20755" y="63"/>
                  <a:pt x="20762" y="73"/>
                  <a:pt x="20769" y="83"/>
                </a:cubicBezTo>
                <a:cubicBezTo>
                  <a:pt x="20776" y="93"/>
                  <a:pt x="20781" y="104"/>
                  <a:pt x="20786" y="115"/>
                </a:cubicBezTo>
                <a:cubicBezTo>
                  <a:pt x="20791" y="126"/>
                  <a:pt x="20794" y="138"/>
                  <a:pt x="20797" y="150"/>
                </a:cubicBezTo>
                <a:cubicBezTo>
                  <a:pt x="20799" y="162"/>
                  <a:pt x="20800" y="174"/>
                  <a:pt x="20800" y="186"/>
                </a:cubicBezTo>
                <a:lnTo>
                  <a:pt x="20800" y="2880"/>
                </a:lnTo>
                <a:cubicBezTo>
                  <a:pt x="20800" y="2892"/>
                  <a:pt x="20799" y="2904"/>
                  <a:pt x="20797" y="2916"/>
                </a:cubicBezTo>
                <a:cubicBezTo>
                  <a:pt x="20794" y="2928"/>
                  <a:pt x="20791" y="2940"/>
                  <a:pt x="20786" y="2951"/>
                </a:cubicBezTo>
                <a:cubicBezTo>
                  <a:pt x="20781" y="2962"/>
                  <a:pt x="20776" y="2973"/>
                  <a:pt x="20769" y="2983"/>
                </a:cubicBezTo>
                <a:cubicBezTo>
                  <a:pt x="20762" y="2993"/>
                  <a:pt x="20755" y="3002"/>
                  <a:pt x="20746" y="3011"/>
                </a:cubicBezTo>
                <a:cubicBezTo>
                  <a:pt x="20737" y="3020"/>
                  <a:pt x="20728" y="3027"/>
                  <a:pt x="20718" y="3034"/>
                </a:cubicBezTo>
                <a:cubicBezTo>
                  <a:pt x="20708" y="3041"/>
                  <a:pt x="20697" y="3047"/>
                  <a:pt x="20686" y="3051"/>
                </a:cubicBezTo>
                <a:cubicBezTo>
                  <a:pt x="20674" y="3056"/>
                  <a:pt x="20663" y="3060"/>
                  <a:pt x="20651" y="3062"/>
                </a:cubicBezTo>
                <a:cubicBezTo>
                  <a:pt x="20639" y="3064"/>
                  <a:pt x="20627" y="3065"/>
                  <a:pt x="20615" y="3065"/>
                </a:cubicBezTo>
                <a:lnTo>
                  <a:pt x="186" y="3065"/>
                </a:lnTo>
                <a:cubicBezTo>
                  <a:pt x="174" y="3065"/>
                  <a:pt x="162" y="3064"/>
                  <a:pt x="150" y="3062"/>
                </a:cubicBezTo>
                <a:cubicBezTo>
                  <a:pt x="138" y="3060"/>
                  <a:pt x="126" y="3056"/>
                  <a:pt x="115" y="3051"/>
                </a:cubicBezTo>
                <a:cubicBezTo>
                  <a:pt x="104" y="3047"/>
                  <a:pt x="93" y="3041"/>
                  <a:pt x="83" y="3034"/>
                </a:cubicBezTo>
                <a:cubicBezTo>
                  <a:pt x="73" y="3027"/>
                  <a:pt x="63" y="3020"/>
                  <a:pt x="55" y="3011"/>
                </a:cubicBezTo>
                <a:cubicBezTo>
                  <a:pt x="46" y="3002"/>
                  <a:pt x="38" y="2993"/>
                  <a:pt x="32" y="2983"/>
                </a:cubicBezTo>
                <a:cubicBezTo>
                  <a:pt x="25" y="2973"/>
                  <a:pt x="19" y="2962"/>
                  <a:pt x="15" y="2951"/>
                </a:cubicBezTo>
                <a:cubicBezTo>
                  <a:pt x="10" y="2940"/>
                  <a:pt x="6" y="2928"/>
                  <a:pt x="4" y="2916"/>
                </a:cubicBezTo>
                <a:cubicBezTo>
                  <a:pt x="2" y="2904"/>
                  <a:pt x="0" y="2892"/>
                  <a:pt x="0" y="288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34440" y="210240"/>
            <a:ext cx="36633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信号評価法のシステム構成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4324680" y="1098360"/>
            <a:ext cx="21074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信号評価法の全体構成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1796760" y="1472040"/>
            <a:ext cx="7284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受信信号を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分岐し、一方は直交復調して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値のベースバンド信号を取得、もう一方は包絡線検波でシンボルレート成分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75760" y="2247840"/>
            <a:ext cx="4863960" cy="3994920"/>
          </a:xfrm>
          <a:custGeom>
            <a:avLst/>
            <a:gdLst/>
            <a:ahLst/>
            <a:rect l="0" t="0" r="r" b="b"/>
            <a:pathLst>
              <a:path w="13511" h="11097">
                <a:moveTo>
                  <a:pt x="0" y="10934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348" y="0"/>
                </a:lnTo>
                <a:cubicBezTo>
                  <a:pt x="13359" y="0"/>
                  <a:pt x="13369" y="1"/>
                  <a:pt x="13380" y="3"/>
                </a:cubicBezTo>
                <a:cubicBezTo>
                  <a:pt x="13390" y="5"/>
                  <a:pt x="13400" y="8"/>
                  <a:pt x="13410" y="12"/>
                </a:cubicBezTo>
                <a:cubicBezTo>
                  <a:pt x="13420" y="16"/>
                  <a:pt x="13429" y="21"/>
                  <a:pt x="13438" y="27"/>
                </a:cubicBezTo>
                <a:cubicBezTo>
                  <a:pt x="13447" y="33"/>
                  <a:pt x="13455" y="40"/>
                  <a:pt x="13463" y="47"/>
                </a:cubicBezTo>
                <a:cubicBezTo>
                  <a:pt x="13470" y="55"/>
                  <a:pt x="13477" y="63"/>
                  <a:pt x="13483" y="72"/>
                </a:cubicBezTo>
                <a:cubicBezTo>
                  <a:pt x="13489" y="81"/>
                  <a:pt x="13494" y="90"/>
                  <a:pt x="13498" y="100"/>
                </a:cubicBezTo>
                <a:cubicBezTo>
                  <a:pt x="13502" y="110"/>
                  <a:pt x="13505" y="120"/>
                  <a:pt x="13507" y="131"/>
                </a:cubicBezTo>
                <a:cubicBezTo>
                  <a:pt x="13509" y="141"/>
                  <a:pt x="13511" y="152"/>
                  <a:pt x="13511" y="162"/>
                </a:cubicBezTo>
                <a:lnTo>
                  <a:pt x="13511" y="10934"/>
                </a:lnTo>
                <a:cubicBezTo>
                  <a:pt x="13511" y="10945"/>
                  <a:pt x="13509" y="10955"/>
                  <a:pt x="13507" y="10966"/>
                </a:cubicBezTo>
                <a:cubicBezTo>
                  <a:pt x="13505" y="10976"/>
                  <a:pt x="13502" y="10986"/>
                  <a:pt x="13498" y="10996"/>
                </a:cubicBezTo>
                <a:cubicBezTo>
                  <a:pt x="13494" y="11006"/>
                  <a:pt x="13489" y="11016"/>
                  <a:pt x="13483" y="11024"/>
                </a:cubicBezTo>
                <a:cubicBezTo>
                  <a:pt x="13477" y="11033"/>
                  <a:pt x="13470" y="11042"/>
                  <a:pt x="13463" y="11049"/>
                </a:cubicBezTo>
                <a:cubicBezTo>
                  <a:pt x="13455" y="11057"/>
                  <a:pt x="13447" y="11063"/>
                  <a:pt x="13438" y="11069"/>
                </a:cubicBezTo>
                <a:cubicBezTo>
                  <a:pt x="13429" y="11075"/>
                  <a:pt x="13420" y="11080"/>
                  <a:pt x="13410" y="11084"/>
                </a:cubicBezTo>
                <a:cubicBezTo>
                  <a:pt x="13400" y="11088"/>
                  <a:pt x="13390" y="11091"/>
                  <a:pt x="13380" y="11094"/>
                </a:cubicBezTo>
                <a:cubicBezTo>
                  <a:pt x="13369" y="11096"/>
                  <a:pt x="13359" y="11097"/>
                  <a:pt x="13348" y="11097"/>
                </a:cubicBezTo>
                <a:lnTo>
                  <a:pt x="162" y="11097"/>
                </a:lnTo>
                <a:cubicBezTo>
                  <a:pt x="151" y="11097"/>
                  <a:pt x="141" y="11096"/>
                  <a:pt x="130" y="11094"/>
                </a:cubicBezTo>
                <a:cubicBezTo>
                  <a:pt x="120" y="11091"/>
                  <a:pt x="110" y="11088"/>
                  <a:pt x="100" y="11084"/>
                </a:cubicBezTo>
                <a:cubicBezTo>
                  <a:pt x="90" y="11080"/>
                  <a:pt x="81" y="11075"/>
                  <a:pt x="72" y="11069"/>
                </a:cubicBezTo>
                <a:cubicBezTo>
                  <a:pt x="63" y="11063"/>
                  <a:pt x="55" y="11057"/>
                  <a:pt x="47" y="11049"/>
                </a:cubicBezTo>
                <a:cubicBezTo>
                  <a:pt x="40" y="11042"/>
                  <a:pt x="33" y="11033"/>
                  <a:pt x="27" y="11024"/>
                </a:cubicBezTo>
                <a:cubicBezTo>
                  <a:pt x="21" y="11016"/>
                  <a:pt x="16" y="11006"/>
                  <a:pt x="12" y="10996"/>
                </a:cubicBezTo>
                <a:cubicBezTo>
                  <a:pt x="8" y="10986"/>
                  <a:pt x="5" y="10976"/>
                  <a:pt x="3" y="10966"/>
                </a:cubicBezTo>
                <a:cubicBezTo>
                  <a:pt x="1" y="10955"/>
                  <a:pt x="0" y="10945"/>
                  <a:pt x="0" y="10934"/>
                </a:cubicBezTo>
                <a:close/>
              </a:path>
            </a:pathLst>
          </a:custGeom>
          <a:solidFill>
            <a:srgbClr val="add8e6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75760" y="2247840"/>
            <a:ext cx="4863960" cy="3994920"/>
          </a:xfrm>
          <a:custGeom>
            <a:avLst/>
            <a:gdLst/>
            <a:ahLst/>
            <a:rect l="0" t="0" r="r" b="b"/>
            <a:pathLst>
              <a:path fill="none" w="13511" h="11097">
                <a:moveTo>
                  <a:pt x="0" y="10934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348" y="0"/>
                </a:lnTo>
                <a:cubicBezTo>
                  <a:pt x="13359" y="0"/>
                  <a:pt x="13369" y="1"/>
                  <a:pt x="13380" y="3"/>
                </a:cubicBezTo>
                <a:cubicBezTo>
                  <a:pt x="13390" y="5"/>
                  <a:pt x="13400" y="8"/>
                  <a:pt x="13410" y="12"/>
                </a:cubicBezTo>
                <a:cubicBezTo>
                  <a:pt x="13420" y="16"/>
                  <a:pt x="13429" y="21"/>
                  <a:pt x="13438" y="27"/>
                </a:cubicBezTo>
                <a:cubicBezTo>
                  <a:pt x="13447" y="33"/>
                  <a:pt x="13455" y="40"/>
                  <a:pt x="13463" y="47"/>
                </a:cubicBezTo>
                <a:cubicBezTo>
                  <a:pt x="13470" y="55"/>
                  <a:pt x="13477" y="63"/>
                  <a:pt x="13483" y="72"/>
                </a:cubicBezTo>
                <a:cubicBezTo>
                  <a:pt x="13489" y="81"/>
                  <a:pt x="13494" y="90"/>
                  <a:pt x="13498" y="100"/>
                </a:cubicBezTo>
                <a:cubicBezTo>
                  <a:pt x="13502" y="110"/>
                  <a:pt x="13505" y="120"/>
                  <a:pt x="13507" y="131"/>
                </a:cubicBezTo>
                <a:cubicBezTo>
                  <a:pt x="13509" y="141"/>
                  <a:pt x="13511" y="152"/>
                  <a:pt x="13511" y="162"/>
                </a:cubicBezTo>
                <a:lnTo>
                  <a:pt x="13511" y="10934"/>
                </a:lnTo>
                <a:cubicBezTo>
                  <a:pt x="13511" y="10945"/>
                  <a:pt x="13509" y="10955"/>
                  <a:pt x="13507" y="10966"/>
                </a:cubicBezTo>
                <a:cubicBezTo>
                  <a:pt x="13505" y="10976"/>
                  <a:pt x="13502" y="10986"/>
                  <a:pt x="13498" y="10996"/>
                </a:cubicBezTo>
                <a:cubicBezTo>
                  <a:pt x="13494" y="11006"/>
                  <a:pt x="13489" y="11016"/>
                  <a:pt x="13483" y="11024"/>
                </a:cubicBezTo>
                <a:cubicBezTo>
                  <a:pt x="13477" y="11033"/>
                  <a:pt x="13470" y="11042"/>
                  <a:pt x="13463" y="11049"/>
                </a:cubicBezTo>
                <a:cubicBezTo>
                  <a:pt x="13455" y="11057"/>
                  <a:pt x="13447" y="11063"/>
                  <a:pt x="13438" y="11069"/>
                </a:cubicBezTo>
                <a:cubicBezTo>
                  <a:pt x="13429" y="11075"/>
                  <a:pt x="13420" y="11080"/>
                  <a:pt x="13410" y="11084"/>
                </a:cubicBezTo>
                <a:cubicBezTo>
                  <a:pt x="13400" y="11088"/>
                  <a:pt x="13390" y="11091"/>
                  <a:pt x="13380" y="11094"/>
                </a:cubicBezTo>
                <a:cubicBezTo>
                  <a:pt x="13369" y="11096"/>
                  <a:pt x="13359" y="11097"/>
                  <a:pt x="13348" y="11097"/>
                </a:cubicBezTo>
                <a:lnTo>
                  <a:pt x="162" y="11097"/>
                </a:lnTo>
                <a:cubicBezTo>
                  <a:pt x="151" y="11097"/>
                  <a:pt x="141" y="11096"/>
                  <a:pt x="130" y="11094"/>
                </a:cubicBezTo>
                <a:cubicBezTo>
                  <a:pt x="120" y="11091"/>
                  <a:pt x="110" y="11088"/>
                  <a:pt x="100" y="11084"/>
                </a:cubicBezTo>
                <a:cubicBezTo>
                  <a:pt x="90" y="11080"/>
                  <a:pt x="81" y="11075"/>
                  <a:pt x="72" y="11069"/>
                </a:cubicBezTo>
                <a:cubicBezTo>
                  <a:pt x="63" y="11063"/>
                  <a:pt x="55" y="11057"/>
                  <a:pt x="47" y="11049"/>
                </a:cubicBezTo>
                <a:cubicBezTo>
                  <a:pt x="40" y="11042"/>
                  <a:pt x="33" y="11033"/>
                  <a:pt x="27" y="11024"/>
                </a:cubicBezTo>
                <a:cubicBezTo>
                  <a:pt x="21" y="11016"/>
                  <a:pt x="16" y="11006"/>
                  <a:pt x="12" y="10996"/>
                </a:cubicBezTo>
                <a:cubicBezTo>
                  <a:pt x="8" y="10986"/>
                  <a:pt x="5" y="10976"/>
                  <a:pt x="3" y="10966"/>
                </a:cubicBezTo>
                <a:cubicBezTo>
                  <a:pt x="1" y="10955"/>
                  <a:pt x="0" y="10945"/>
                  <a:pt x="0" y="10934"/>
                </a:cubicBezTo>
              </a:path>
            </a:pathLst>
          </a:custGeom>
          <a:ln w="16560">
            <a:solidFill>
              <a:srgbClr val="add8e6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2"/>
          <a:stretch/>
        </p:blipFill>
        <p:spPr>
          <a:xfrm>
            <a:off x="2130840" y="2440080"/>
            <a:ext cx="19188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"/>
          <p:cNvSpPr txBox="1"/>
          <p:nvPr/>
        </p:nvSpPr>
        <p:spPr>
          <a:xfrm>
            <a:off x="5147640" y="1672560"/>
            <a:ext cx="403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を抽出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2385720" y="2434320"/>
            <a:ext cx="906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アナログ部分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17960" y="5456880"/>
            <a:ext cx="46958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ポイント：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受信した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信号をパワースプリッタで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分岐し、一方は局部発振器で直交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417960" y="5624280"/>
            <a:ext cx="3403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復調する。もう一方は包絡線検波器で振幅変動成分を抽出する。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17960" y="5858280"/>
            <a:ext cx="4674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効果：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復調された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値のベースバンド信号は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ADC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でアンダーサンプリングされ、振幅変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556960" y="2247840"/>
            <a:ext cx="4863960" cy="3994920"/>
          </a:xfrm>
          <a:custGeom>
            <a:avLst/>
            <a:gdLst/>
            <a:ahLst/>
            <a:rect l="0" t="0" r="r" b="b"/>
            <a:pathLst>
              <a:path w="13511" h="11097">
                <a:moveTo>
                  <a:pt x="0" y="10934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3" y="63"/>
                  <a:pt x="40" y="55"/>
                  <a:pt x="48" y="47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0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3349" y="0"/>
                </a:lnTo>
                <a:cubicBezTo>
                  <a:pt x="13359" y="0"/>
                  <a:pt x="13370" y="1"/>
                  <a:pt x="13380" y="3"/>
                </a:cubicBezTo>
                <a:cubicBezTo>
                  <a:pt x="13391" y="5"/>
                  <a:pt x="13401" y="8"/>
                  <a:pt x="13411" y="12"/>
                </a:cubicBezTo>
                <a:cubicBezTo>
                  <a:pt x="13421" y="16"/>
                  <a:pt x="13430" y="21"/>
                  <a:pt x="13439" y="27"/>
                </a:cubicBezTo>
                <a:cubicBezTo>
                  <a:pt x="13448" y="33"/>
                  <a:pt x="13456" y="40"/>
                  <a:pt x="13464" y="47"/>
                </a:cubicBezTo>
                <a:cubicBezTo>
                  <a:pt x="13471" y="55"/>
                  <a:pt x="13478" y="63"/>
                  <a:pt x="13484" y="72"/>
                </a:cubicBezTo>
                <a:cubicBezTo>
                  <a:pt x="13490" y="81"/>
                  <a:pt x="13495" y="90"/>
                  <a:pt x="13499" y="100"/>
                </a:cubicBezTo>
                <a:cubicBezTo>
                  <a:pt x="13503" y="110"/>
                  <a:pt x="13506" y="120"/>
                  <a:pt x="13508" y="131"/>
                </a:cubicBezTo>
                <a:cubicBezTo>
                  <a:pt x="13510" y="141"/>
                  <a:pt x="13511" y="152"/>
                  <a:pt x="13511" y="162"/>
                </a:cubicBezTo>
                <a:lnTo>
                  <a:pt x="13511" y="10934"/>
                </a:lnTo>
                <a:cubicBezTo>
                  <a:pt x="13511" y="10945"/>
                  <a:pt x="13510" y="10955"/>
                  <a:pt x="13508" y="10966"/>
                </a:cubicBezTo>
                <a:cubicBezTo>
                  <a:pt x="13506" y="10976"/>
                  <a:pt x="13503" y="10986"/>
                  <a:pt x="13499" y="10996"/>
                </a:cubicBezTo>
                <a:cubicBezTo>
                  <a:pt x="13495" y="11006"/>
                  <a:pt x="13490" y="11016"/>
                  <a:pt x="13484" y="11024"/>
                </a:cubicBezTo>
                <a:cubicBezTo>
                  <a:pt x="13478" y="11033"/>
                  <a:pt x="13471" y="11042"/>
                  <a:pt x="13464" y="11049"/>
                </a:cubicBezTo>
                <a:cubicBezTo>
                  <a:pt x="13456" y="11057"/>
                  <a:pt x="13448" y="11063"/>
                  <a:pt x="13439" y="11069"/>
                </a:cubicBezTo>
                <a:cubicBezTo>
                  <a:pt x="13430" y="11075"/>
                  <a:pt x="13421" y="11080"/>
                  <a:pt x="13411" y="11084"/>
                </a:cubicBezTo>
                <a:cubicBezTo>
                  <a:pt x="13401" y="11088"/>
                  <a:pt x="13391" y="11091"/>
                  <a:pt x="13380" y="11094"/>
                </a:cubicBezTo>
                <a:cubicBezTo>
                  <a:pt x="13370" y="11096"/>
                  <a:pt x="13359" y="11097"/>
                  <a:pt x="13349" y="11097"/>
                </a:cubicBezTo>
                <a:lnTo>
                  <a:pt x="163" y="11097"/>
                </a:lnTo>
                <a:cubicBezTo>
                  <a:pt x="152" y="11097"/>
                  <a:pt x="141" y="11096"/>
                  <a:pt x="131" y="11094"/>
                </a:cubicBezTo>
                <a:cubicBezTo>
                  <a:pt x="121" y="11091"/>
                  <a:pt x="110" y="11088"/>
                  <a:pt x="100" y="11084"/>
                </a:cubicBezTo>
                <a:cubicBezTo>
                  <a:pt x="91" y="11080"/>
                  <a:pt x="81" y="11075"/>
                  <a:pt x="72" y="11069"/>
                </a:cubicBezTo>
                <a:cubicBezTo>
                  <a:pt x="64" y="11063"/>
                  <a:pt x="55" y="11057"/>
                  <a:pt x="48" y="11049"/>
                </a:cubicBezTo>
                <a:cubicBezTo>
                  <a:pt x="40" y="11042"/>
                  <a:pt x="33" y="11033"/>
                  <a:pt x="28" y="11024"/>
                </a:cubicBezTo>
                <a:cubicBezTo>
                  <a:pt x="22" y="11016"/>
                  <a:pt x="17" y="11006"/>
                  <a:pt x="13" y="10996"/>
                </a:cubicBezTo>
                <a:cubicBezTo>
                  <a:pt x="8" y="10986"/>
                  <a:pt x="5" y="10976"/>
                  <a:pt x="3" y="10966"/>
                </a:cubicBezTo>
                <a:cubicBezTo>
                  <a:pt x="1" y="10955"/>
                  <a:pt x="0" y="10945"/>
                  <a:pt x="0" y="10934"/>
                </a:cubicBezTo>
                <a:close/>
              </a:path>
            </a:pathLst>
          </a:custGeom>
          <a:solidFill>
            <a:srgbClr val="add8e6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556960" y="2247840"/>
            <a:ext cx="4863960" cy="3994920"/>
          </a:xfrm>
          <a:custGeom>
            <a:avLst/>
            <a:gdLst/>
            <a:ahLst/>
            <a:rect l="0" t="0" r="r" b="b"/>
            <a:pathLst>
              <a:path fill="none" w="13511" h="11097">
                <a:moveTo>
                  <a:pt x="0" y="10934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3" y="100"/>
                </a:cubicBezTo>
                <a:cubicBezTo>
                  <a:pt x="17" y="90"/>
                  <a:pt x="22" y="81"/>
                  <a:pt x="28" y="72"/>
                </a:cubicBezTo>
                <a:cubicBezTo>
                  <a:pt x="33" y="63"/>
                  <a:pt x="40" y="55"/>
                  <a:pt x="48" y="47"/>
                </a:cubicBezTo>
                <a:cubicBezTo>
                  <a:pt x="55" y="40"/>
                  <a:pt x="64" y="33"/>
                  <a:pt x="72" y="27"/>
                </a:cubicBezTo>
                <a:cubicBezTo>
                  <a:pt x="81" y="21"/>
                  <a:pt x="91" y="16"/>
                  <a:pt x="100" y="12"/>
                </a:cubicBezTo>
                <a:cubicBezTo>
                  <a:pt x="110" y="8"/>
                  <a:pt x="121" y="5"/>
                  <a:pt x="131" y="3"/>
                </a:cubicBezTo>
                <a:cubicBezTo>
                  <a:pt x="141" y="1"/>
                  <a:pt x="152" y="0"/>
                  <a:pt x="163" y="0"/>
                </a:cubicBezTo>
                <a:lnTo>
                  <a:pt x="13349" y="0"/>
                </a:lnTo>
                <a:cubicBezTo>
                  <a:pt x="13359" y="0"/>
                  <a:pt x="13370" y="1"/>
                  <a:pt x="13380" y="3"/>
                </a:cubicBezTo>
                <a:cubicBezTo>
                  <a:pt x="13391" y="5"/>
                  <a:pt x="13401" y="8"/>
                  <a:pt x="13411" y="12"/>
                </a:cubicBezTo>
                <a:cubicBezTo>
                  <a:pt x="13421" y="16"/>
                  <a:pt x="13430" y="21"/>
                  <a:pt x="13439" y="27"/>
                </a:cubicBezTo>
                <a:cubicBezTo>
                  <a:pt x="13448" y="33"/>
                  <a:pt x="13456" y="40"/>
                  <a:pt x="13464" y="47"/>
                </a:cubicBezTo>
                <a:cubicBezTo>
                  <a:pt x="13471" y="55"/>
                  <a:pt x="13478" y="63"/>
                  <a:pt x="13484" y="72"/>
                </a:cubicBezTo>
                <a:cubicBezTo>
                  <a:pt x="13490" y="81"/>
                  <a:pt x="13495" y="90"/>
                  <a:pt x="13499" y="100"/>
                </a:cubicBezTo>
                <a:cubicBezTo>
                  <a:pt x="13503" y="110"/>
                  <a:pt x="13506" y="120"/>
                  <a:pt x="13508" y="131"/>
                </a:cubicBezTo>
                <a:cubicBezTo>
                  <a:pt x="13510" y="141"/>
                  <a:pt x="13511" y="152"/>
                  <a:pt x="13511" y="162"/>
                </a:cubicBezTo>
                <a:lnTo>
                  <a:pt x="13511" y="10934"/>
                </a:lnTo>
                <a:cubicBezTo>
                  <a:pt x="13511" y="10945"/>
                  <a:pt x="13510" y="10955"/>
                  <a:pt x="13508" y="10966"/>
                </a:cubicBezTo>
                <a:cubicBezTo>
                  <a:pt x="13506" y="10976"/>
                  <a:pt x="13503" y="10986"/>
                  <a:pt x="13499" y="10996"/>
                </a:cubicBezTo>
                <a:cubicBezTo>
                  <a:pt x="13495" y="11006"/>
                  <a:pt x="13490" y="11016"/>
                  <a:pt x="13484" y="11024"/>
                </a:cubicBezTo>
                <a:cubicBezTo>
                  <a:pt x="13478" y="11033"/>
                  <a:pt x="13471" y="11042"/>
                  <a:pt x="13464" y="11049"/>
                </a:cubicBezTo>
                <a:cubicBezTo>
                  <a:pt x="13456" y="11057"/>
                  <a:pt x="13448" y="11063"/>
                  <a:pt x="13439" y="11069"/>
                </a:cubicBezTo>
                <a:cubicBezTo>
                  <a:pt x="13430" y="11075"/>
                  <a:pt x="13421" y="11080"/>
                  <a:pt x="13411" y="11084"/>
                </a:cubicBezTo>
                <a:cubicBezTo>
                  <a:pt x="13401" y="11088"/>
                  <a:pt x="13391" y="11091"/>
                  <a:pt x="13380" y="11094"/>
                </a:cubicBezTo>
                <a:cubicBezTo>
                  <a:pt x="13370" y="11096"/>
                  <a:pt x="13359" y="11097"/>
                  <a:pt x="13349" y="11097"/>
                </a:cubicBezTo>
                <a:lnTo>
                  <a:pt x="163" y="11097"/>
                </a:lnTo>
                <a:cubicBezTo>
                  <a:pt x="152" y="11097"/>
                  <a:pt x="141" y="11096"/>
                  <a:pt x="131" y="11094"/>
                </a:cubicBezTo>
                <a:cubicBezTo>
                  <a:pt x="121" y="11091"/>
                  <a:pt x="110" y="11088"/>
                  <a:pt x="100" y="11084"/>
                </a:cubicBezTo>
                <a:cubicBezTo>
                  <a:pt x="91" y="11080"/>
                  <a:pt x="81" y="11075"/>
                  <a:pt x="72" y="11069"/>
                </a:cubicBezTo>
                <a:cubicBezTo>
                  <a:pt x="64" y="11063"/>
                  <a:pt x="55" y="11057"/>
                  <a:pt x="48" y="11049"/>
                </a:cubicBezTo>
                <a:cubicBezTo>
                  <a:pt x="40" y="11042"/>
                  <a:pt x="33" y="11033"/>
                  <a:pt x="28" y="11024"/>
                </a:cubicBezTo>
                <a:cubicBezTo>
                  <a:pt x="22" y="11016"/>
                  <a:pt x="17" y="11006"/>
                  <a:pt x="13" y="10996"/>
                </a:cubicBezTo>
                <a:cubicBezTo>
                  <a:pt x="8" y="10986"/>
                  <a:pt x="5" y="10976"/>
                  <a:pt x="3" y="10966"/>
                </a:cubicBezTo>
                <a:cubicBezTo>
                  <a:pt x="1" y="10955"/>
                  <a:pt x="0" y="10945"/>
                  <a:pt x="0" y="10934"/>
                </a:cubicBezTo>
              </a:path>
            </a:pathLst>
          </a:custGeom>
          <a:ln w="16560">
            <a:solidFill>
              <a:srgbClr val="add8e6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699160" y="5532120"/>
            <a:ext cx="4579920" cy="493200"/>
          </a:xfrm>
          <a:custGeom>
            <a:avLst/>
            <a:gdLst/>
            <a:ahLst/>
            <a:rect l="0" t="0" r="r" b="b"/>
            <a:pathLst>
              <a:path w="12722" h="1370">
                <a:moveTo>
                  <a:pt x="0" y="1184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5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2536" y="0"/>
                </a:lnTo>
                <a:cubicBezTo>
                  <a:pt x="12548" y="0"/>
                  <a:pt x="12560" y="1"/>
                  <a:pt x="12572" y="3"/>
                </a:cubicBezTo>
                <a:cubicBezTo>
                  <a:pt x="12584" y="5"/>
                  <a:pt x="12596" y="9"/>
                  <a:pt x="12607" y="14"/>
                </a:cubicBezTo>
                <a:cubicBezTo>
                  <a:pt x="12618" y="18"/>
                  <a:pt x="12629" y="24"/>
                  <a:pt x="12639" y="31"/>
                </a:cubicBezTo>
                <a:cubicBezTo>
                  <a:pt x="12649" y="38"/>
                  <a:pt x="12659" y="45"/>
                  <a:pt x="12667" y="54"/>
                </a:cubicBezTo>
                <a:cubicBezTo>
                  <a:pt x="12676" y="63"/>
                  <a:pt x="12683" y="72"/>
                  <a:pt x="12690" y="82"/>
                </a:cubicBezTo>
                <a:cubicBezTo>
                  <a:pt x="12697" y="92"/>
                  <a:pt x="12703" y="103"/>
                  <a:pt x="12707" y="114"/>
                </a:cubicBezTo>
                <a:cubicBezTo>
                  <a:pt x="12712" y="125"/>
                  <a:pt x="12716" y="137"/>
                  <a:pt x="12718" y="149"/>
                </a:cubicBezTo>
                <a:cubicBezTo>
                  <a:pt x="12720" y="161"/>
                  <a:pt x="12722" y="173"/>
                  <a:pt x="12722" y="185"/>
                </a:cubicBezTo>
                <a:lnTo>
                  <a:pt x="12722" y="1184"/>
                </a:lnTo>
                <a:cubicBezTo>
                  <a:pt x="12722" y="1197"/>
                  <a:pt x="12720" y="1209"/>
                  <a:pt x="12718" y="1221"/>
                </a:cubicBezTo>
                <a:cubicBezTo>
                  <a:pt x="12716" y="1233"/>
                  <a:pt x="12712" y="1244"/>
                  <a:pt x="12707" y="1255"/>
                </a:cubicBezTo>
                <a:cubicBezTo>
                  <a:pt x="12703" y="1267"/>
                  <a:pt x="12697" y="1277"/>
                  <a:pt x="12690" y="1288"/>
                </a:cubicBezTo>
                <a:cubicBezTo>
                  <a:pt x="12683" y="1298"/>
                  <a:pt x="12676" y="1307"/>
                  <a:pt x="12667" y="1316"/>
                </a:cubicBezTo>
                <a:cubicBezTo>
                  <a:pt x="12659" y="1324"/>
                  <a:pt x="12649" y="1332"/>
                  <a:pt x="12639" y="1339"/>
                </a:cubicBezTo>
                <a:cubicBezTo>
                  <a:pt x="12629" y="1346"/>
                  <a:pt x="12618" y="1351"/>
                  <a:pt x="12607" y="1356"/>
                </a:cubicBezTo>
                <a:cubicBezTo>
                  <a:pt x="12596" y="1361"/>
                  <a:pt x="12584" y="1364"/>
                  <a:pt x="12572" y="1367"/>
                </a:cubicBezTo>
                <a:cubicBezTo>
                  <a:pt x="12560" y="1369"/>
                  <a:pt x="12548" y="1370"/>
                  <a:pt x="12536" y="1370"/>
                </a:cubicBezTo>
                <a:lnTo>
                  <a:pt x="186" y="1370"/>
                </a:lnTo>
                <a:cubicBezTo>
                  <a:pt x="173" y="1370"/>
                  <a:pt x="161" y="1369"/>
                  <a:pt x="149" y="1367"/>
                </a:cubicBezTo>
                <a:cubicBezTo>
                  <a:pt x="137" y="1364"/>
                  <a:pt x="126" y="1361"/>
                  <a:pt x="114" y="1356"/>
                </a:cubicBezTo>
                <a:cubicBezTo>
                  <a:pt x="103" y="1351"/>
                  <a:pt x="92" y="1346"/>
                  <a:pt x="82" y="1339"/>
                </a:cubicBezTo>
                <a:cubicBezTo>
                  <a:pt x="72" y="1332"/>
                  <a:pt x="63" y="1324"/>
                  <a:pt x="54" y="1316"/>
                </a:cubicBezTo>
                <a:cubicBezTo>
                  <a:pt x="46" y="1307"/>
                  <a:pt x="38" y="1298"/>
                  <a:pt x="31" y="1288"/>
                </a:cubicBezTo>
                <a:cubicBezTo>
                  <a:pt x="24" y="1277"/>
                  <a:pt x="19" y="1267"/>
                  <a:pt x="14" y="1255"/>
                </a:cubicBezTo>
                <a:cubicBezTo>
                  <a:pt x="9" y="1244"/>
                  <a:pt x="6" y="1233"/>
                  <a:pt x="3" y="1221"/>
                </a:cubicBezTo>
                <a:cubicBezTo>
                  <a:pt x="1" y="1209"/>
                  <a:pt x="0" y="1197"/>
                  <a:pt x="0" y="11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3"/>
          <a:stretch/>
        </p:blipFill>
        <p:spPr>
          <a:xfrm>
            <a:off x="6902640" y="24400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"/>
          <p:cNvSpPr txBox="1"/>
          <p:nvPr/>
        </p:nvSpPr>
        <p:spPr>
          <a:xfrm>
            <a:off x="417960" y="6025320"/>
            <a:ext cx="18781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動はシンボルレートの成分を持つ。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120080" y="2434320"/>
            <a:ext cx="1962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デジタル部分と位相補正原理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5699160" y="5323320"/>
            <a:ext cx="27000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位相補正の原理：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シンボルの縮退と周波数差の算出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699160" y="6117120"/>
            <a:ext cx="46774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特徴：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位相補正のためのトリガは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信号から生成されているため、直交復調時の周波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17600" y="2757600"/>
            <a:ext cx="4579920" cy="2540880"/>
          </a:xfrm>
          <a:custGeom>
            <a:avLst/>
            <a:gdLst/>
            <a:ahLst/>
            <a:rect l="0" t="0" r="r" b="b"/>
            <a:pathLst>
              <a:path w="12722" h="7058">
                <a:moveTo>
                  <a:pt x="0" y="6872"/>
                </a:moveTo>
                <a:lnTo>
                  <a:pt x="0" y="186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4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2536" y="0"/>
                </a:lnTo>
                <a:cubicBezTo>
                  <a:pt x="12548" y="0"/>
                  <a:pt x="12560" y="1"/>
                  <a:pt x="12572" y="3"/>
                </a:cubicBezTo>
                <a:cubicBezTo>
                  <a:pt x="12584" y="6"/>
                  <a:pt x="12596" y="9"/>
                  <a:pt x="12607" y="14"/>
                </a:cubicBezTo>
                <a:cubicBezTo>
                  <a:pt x="12619" y="19"/>
                  <a:pt x="12629" y="24"/>
                  <a:pt x="12639" y="31"/>
                </a:cubicBezTo>
                <a:cubicBezTo>
                  <a:pt x="12650" y="38"/>
                  <a:pt x="12659" y="46"/>
                  <a:pt x="12668" y="54"/>
                </a:cubicBezTo>
                <a:cubicBezTo>
                  <a:pt x="12676" y="63"/>
                  <a:pt x="12684" y="72"/>
                  <a:pt x="12691" y="82"/>
                </a:cubicBezTo>
                <a:cubicBezTo>
                  <a:pt x="12697" y="92"/>
                  <a:pt x="12703" y="103"/>
                  <a:pt x="12708" y="114"/>
                </a:cubicBezTo>
                <a:cubicBezTo>
                  <a:pt x="12712" y="126"/>
                  <a:pt x="12716" y="137"/>
                  <a:pt x="12718" y="149"/>
                </a:cubicBezTo>
                <a:cubicBezTo>
                  <a:pt x="12721" y="161"/>
                  <a:pt x="12722" y="173"/>
                  <a:pt x="12722" y="186"/>
                </a:cubicBezTo>
                <a:lnTo>
                  <a:pt x="12722" y="6872"/>
                </a:lnTo>
                <a:cubicBezTo>
                  <a:pt x="12722" y="6884"/>
                  <a:pt x="12721" y="6896"/>
                  <a:pt x="12718" y="6908"/>
                </a:cubicBezTo>
                <a:cubicBezTo>
                  <a:pt x="12716" y="6920"/>
                  <a:pt x="12712" y="6932"/>
                  <a:pt x="12708" y="6943"/>
                </a:cubicBezTo>
                <a:cubicBezTo>
                  <a:pt x="12703" y="6954"/>
                  <a:pt x="12697" y="6965"/>
                  <a:pt x="12691" y="6975"/>
                </a:cubicBezTo>
                <a:cubicBezTo>
                  <a:pt x="12684" y="6985"/>
                  <a:pt x="12676" y="6995"/>
                  <a:pt x="12668" y="7003"/>
                </a:cubicBezTo>
                <a:cubicBezTo>
                  <a:pt x="12659" y="7012"/>
                  <a:pt x="12650" y="7020"/>
                  <a:pt x="12639" y="7026"/>
                </a:cubicBezTo>
                <a:cubicBezTo>
                  <a:pt x="12629" y="7033"/>
                  <a:pt x="12619" y="7039"/>
                  <a:pt x="12607" y="7043"/>
                </a:cubicBezTo>
                <a:cubicBezTo>
                  <a:pt x="12596" y="7048"/>
                  <a:pt x="12584" y="7052"/>
                  <a:pt x="12572" y="7054"/>
                </a:cubicBezTo>
                <a:cubicBezTo>
                  <a:pt x="12560" y="7056"/>
                  <a:pt x="12548" y="7058"/>
                  <a:pt x="12536" y="7058"/>
                </a:cubicBezTo>
                <a:lnTo>
                  <a:pt x="186" y="7058"/>
                </a:lnTo>
                <a:cubicBezTo>
                  <a:pt x="174" y="7058"/>
                  <a:pt x="162" y="7056"/>
                  <a:pt x="150" y="7054"/>
                </a:cubicBezTo>
                <a:cubicBezTo>
                  <a:pt x="138" y="7052"/>
                  <a:pt x="126" y="7048"/>
                  <a:pt x="115" y="7043"/>
                </a:cubicBezTo>
                <a:cubicBezTo>
                  <a:pt x="104" y="7039"/>
                  <a:pt x="93" y="7033"/>
                  <a:pt x="83" y="7026"/>
                </a:cubicBezTo>
                <a:cubicBezTo>
                  <a:pt x="73" y="7020"/>
                  <a:pt x="63" y="7012"/>
                  <a:pt x="55" y="7003"/>
                </a:cubicBezTo>
                <a:cubicBezTo>
                  <a:pt x="46" y="6995"/>
                  <a:pt x="38" y="6985"/>
                  <a:pt x="31" y="6975"/>
                </a:cubicBezTo>
                <a:cubicBezTo>
                  <a:pt x="25" y="6965"/>
                  <a:pt x="19" y="6954"/>
                  <a:pt x="14" y="6943"/>
                </a:cubicBezTo>
                <a:cubicBezTo>
                  <a:pt x="10" y="6932"/>
                  <a:pt x="6" y="6920"/>
                  <a:pt x="4" y="6908"/>
                </a:cubicBezTo>
                <a:cubicBezTo>
                  <a:pt x="1" y="6896"/>
                  <a:pt x="0" y="6884"/>
                  <a:pt x="0" y="687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6" name="" descr=""/>
          <p:cNvPicPr/>
          <p:nvPr/>
        </p:nvPicPr>
        <p:blipFill>
          <a:blip r:embed="rId4"/>
          <a:stretch/>
        </p:blipFill>
        <p:spPr>
          <a:xfrm>
            <a:off x="1512720" y="289152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"/>
          <p:cNvSpPr txBox="1"/>
          <p:nvPr/>
        </p:nvSpPr>
        <p:spPr>
          <a:xfrm>
            <a:off x="5699160" y="6284160"/>
            <a:ext cx="3169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数差の有無にかかわらずベースバンド信号と同期している。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8" name="" descr=""/>
          <p:cNvPicPr/>
          <p:nvPr/>
        </p:nvPicPr>
        <p:blipFill>
          <a:blip r:embed="rId5"/>
          <a:stretch/>
        </p:blipFill>
        <p:spPr>
          <a:xfrm>
            <a:off x="2390040" y="293328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" descr=""/>
          <p:cNvPicPr/>
          <p:nvPr/>
        </p:nvPicPr>
        <p:blipFill>
          <a:blip r:embed="rId6"/>
          <a:stretch/>
        </p:blipFill>
        <p:spPr>
          <a:xfrm>
            <a:off x="2574000" y="2891520"/>
            <a:ext cx="1918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"/>
          <p:cNvSpPr txBox="1"/>
          <p:nvPr/>
        </p:nvSpPr>
        <p:spPr>
          <a:xfrm>
            <a:off x="1758960" y="2943000"/>
            <a:ext cx="61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1" name="" descr=""/>
          <p:cNvPicPr/>
          <p:nvPr/>
        </p:nvPicPr>
        <p:blipFill>
          <a:blip r:embed="rId7"/>
          <a:stretch/>
        </p:blipFill>
        <p:spPr>
          <a:xfrm>
            <a:off x="551520" y="362664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"/>
          <p:cNvSpPr txBox="1"/>
          <p:nvPr/>
        </p:nvSpPr>
        <p:spPr>
          <a:xfrm>
            <a:off x="2845440" y="294300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パワースプリッタ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3" name="" descr=""/>
          <p:cNvPicPr/>
          <p:nvPr/>
        </p:nvPicPr>
        <p:blipFill>
          <a:blip r:embed="rId8"/>
          <a:stretch/>
        </p:blipFill>
        <p:spPr>
          <a:xfrm>
            <a:off x="551520" y="412812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"/>
          <p:cNvSpPr txBox="1"/>
          <p:nvPr/>
        </p:nvSpPr>
        <p:spPr>
          <a:xfrm>
            <a:off x="802080" y="367812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局部発振器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5" name="" descr=""/>
          <p:cNvPicPr/>
          <p:nvPr/>
        </p:nvPicPr>
        <p:blipFill>
          <a:blip r:embed="rId9"/>
          <a:stretch/>
        </p:blipFill>
        <p:spPr>
          <a:xfrm>
            <a:off x="551520" y="469656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"/>
          <p:cNvSpPr txBox="1"/>
          <p:nvPr/>
        </p:nvSpPr>
        <p:spPr>
          <a:xfrm>
            <a:off x="802080" y="417960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直交復調器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1295280" y="4664160"/>
            <a:ext cx="28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ADC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8" name="" descr=""/>
          <p:cNvPicPr/>
          <p:nvPr/>
        </p:nvPicPr>
        <p:blipFill>
          <a:blip r:embed="rId10"/>
          <a:stretch/>
        </p:blipFill>
        <p:spPr>
          <a:xfrm>
            <a:off x="2774520" y="362664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"/>
          <p:cNvSpPr txBox="1"/>
          <p:nvPr/>
        </p:nvSpPr>
        <p:spPr>
          <a:xfrm>
            <a:off x="802080" y="4855320"/>
            <a:ext cx="1326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アンダーサンプリング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1"/>
          <a:stretch/>
        </p:blipFill>
        <p:spPr>
          <a:xfrm>
            <a:off x="2774520" y="412812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"/>
          <p:cNvSpPr txBox="1"/>
          <p:nvPr/>
        </p:nvSpPr>
        <p:spPr>
          <a:xfrm>
            <a:off x="3025080" y="3678120"/>
            <a:ext cx="80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包絡線検波器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12"/>
          <a:stretch/>
        </p:blipFill>
        <p:spPr>
          <a:xfrm>
            <a:off x="2774520" y="462960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3" name=""/>
          <p:cNvSpPr txBox="1"/>
          <p:nvPr/>
        </p:nvSpPr>
        <p:spPr>
          <a:xfrm>
            <a:off x="3025080" y="417960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振幅変動成分抽出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551520" y="3484440"/>
            <a:ext cx="2089440" cy="17280"/>
          </a:xfrm>
          <a:custGeom>
            <a:avLst/>
            <a:gdLst/>
            <a:ahLst/>
            <a:rect l="0" t="0" r="r" b="b"/>
            <a:pathLst>
              <a:path w="5804" h="48">
                <a:moveTo>
                  <a:pt x="0" y="0"/>
                </a:moveTo>
                <a:lnTo>
                  <a:pt x="5804" y="0"/>
                </a:lnTo>
                <a:lnTo>
                  <a:pt x="5804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573640" y="3450960"/>
            <a:ext cx="67320" cy="84240"/>
          </a:xfrm>
          <a:custGeom>
            <a:avLst/>
            <a:gdLst/>
            <a:ahLst/>
            <a:rect l="0" t="0" r="r" b="b"/>
            <a:pathLst>
              <a:path w="187" h="234">
                <a:moveTo>
                  <a:pt x="0" y="0"/>
                </a:moveTo>
                <a:lnTo>
                  <a:pt x="0" y="234"/>
                </a:lnTo>
                <a:lnTo>
                  <a:pt x="187" y="11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551520" y="3985920"/>
            <a:ext cx="2089440" cy="17280"/>
          </a:xfrm>
          <a:custGeom>
            <a:avLst/>
            <a:gdLst/>
            <a:ahLst/>
            <a:rect l="0" t="0" r="r" b="b"/>
            <a:pathLst>
              <a:path w="5804" h="48">
                <a:moveTo>
                  <a:pt x="0" y="0"/>
                </a:moveTo>
                <a:lnTo>
                  <a:pt x="5804" y="0"/>
                </a:lnTo>
                <a:lnTo>
                  <a:pt x="5804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573640" y="3952440"/>
            <a:ext cx="67320" cy="83880"/>
          </a:xfrm>
          <a:custGeom>
            <a:avLst/>
            <a:gdLst/>
            <a:ah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551520" y="4487400"/>
            <a:ext cx="2089440" cy="16920"/>
          </a:xfrm>
          <a:custGeom>
            <a:avLst/>
            <a:gdLst/>
            <a:ahLst/>
            <a:rect l="0" t="0" r="r" b="b"/>
            <a:pathLst>
              <a:path w="5804" h="47">
                <a:moveTo>
                  <a:pt x="0" y="0"/>
                </a:moveTo>
                <a:lnTo>
                  <a:pt x="5804" y="0"/>
                </a:lnTo>
                <a:lnTo>
                  <a:pt x="5804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573640" y="4453920"/>
            <a:ext cx="67320" cy="83880"/>
          </a:xfrm>
          <a:custGeom>
            <a:avLst/>
            <a:gdLst/>
            <a:ah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774160" y="3484440"/>
            <a:ext cx="2089440" cy="17280"/>
          </a:xfrm>
          <a:custGeom>
            <a:avLst/>
            <a:gdLst/>
            <a:ahLst/>
            <a:rect l="0" t="0" r="r" b="b"/>
            <a:pathLst>
              <a:path w="5804" h="48">
                <a:moveTo>
                  <a:pt x="0" y="0"/>
                </a:moveTo>
                <a:lnTo>
                  <a:pt x="5804" y="0"/>
                </a:lnTo>
                <a:lnTo>
                  <a:pt x="5804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796640" y="3450960"/>
            <a:ext cx="66960" cy="84240"/>
          </a:xfrm>
          <a:custGeom>
            <a:avLst/>
            <a:gdLst/>
            <a:ahLst/>
            <a:rect l="0" t="0" r="r" b="b"/>
            <a:pathLst>
              <a:path w="186" h="234">
                <a:moveTo>
                  <a:pt x="0" y="0"/>
                </a:moveTo>
                <a:lnTo>
                  <a:pt x="0" y="234"/>
                </a:lnTo>
                <a:lnTo>
                  <a:pt x="186" y="11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774160" y="3985920"/>
            <a:ext cx="2089440" cy="17280"/>
          </a:xfrm>
          <a:custGeom>
            <a:avLst/>
            <a:gdLst/>
            <a:ahLst/>
            <a:rect l="0" t="0" r="r" b="b"/>
            <a:pathLst>
              <a:path w="5804" h="48">
                <a:moveTo>
                  <a:pt x="0" y="0"/>
                </a:moveTo>
                <a:lnTo>
                  <a:pt x="5804" y="0"/>
                </a:lnTo>
                <a:lnTo>
                  <a:pt x="5804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4796640" y="3952440"/>
            <a:ext cx="66960" cy="83880"/>
          </a:xfrm>
          <a:custGeom>
            <a:avLst/>
            <a:gdLst/>
            <a:ahLst/>
            <a:rect l="0" t="0" r="r" b="b"/>
            <a:pathLst>
              <a:path w="186" h="233">
                <a:moveTo>
                  <a:pt x="0" y="0"/>
                </a:moveTo>
                <a:lnTo>
                  <a:pt x="0" y="233"/>
                </a:lnTo>
                <a:lnTo>
                  <a:pt x="186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774160" y="4487400"/>
            <a:ext cx="2089440" cy="16920"/>
          </a:xfrm>
          <a:custGeom>
            <a:avLst/>
            <a:gdLst/>
            <a:ahLst/>
            <a:rect l="0" t="0" r="r" b="b"/>
            <a:pathLst>
              <a:path w="5804" h="47">
                <a:moveTo>
                  <a:pt x="0" y="0"/>
                </a:moveTo>
                <a:lnTo>
                  <a:pt x="5804" y="0"/>
                </a:lnTo>
                <a:lnTo>
                  <a:pt x="5804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796640" y="4453920"/>
            <a:ext cx="66960" cy="83880"/>
          </a:xfrm>
          <a:custGeom>
            <a:avLst/>
            <a:gdLst/>
            <a:ahLst/>
            <a:rect l="0" t="0" r="r" b="b"/>
            <a:pathLst>
              <a:path w="186" h="233">
                <a:moveTo>
                  <a:pt x="0" y="0"/>
                </a:moveTo>
                <a:lnTo>
                  <a:pt x="0" y="233"/>
                </a:lnTo>
                <a:lnTo>
                  <a:pt x="186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5699160" y="2757600"/>
            <a:ext cx="4579920" cy="2406960"/>
          </a:xfrm>
          <a:custGeom>
            <a:avLst/>
            <a:gdLst/>
            <a:ahLst/>
            <a:rect l="0" t="0" r="r" b="b"/>
            <a:pathLst>
              <a:path w="12722" h="6686">
                <a:moveTo>
                  <a:pt x="0" y="6500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2536" y="0"/>
                </a:lnTo>
                <a:cubicBezTo>
                  <a:pt x="12548" y="0"/>
                  <a:pt x="12560" y="1"/>
                  <a:pt x="12572" y="3"/>
                </a:cubicBezTo>
                <a:cubicBezTo>
                  <a:pt x="12584" y="6"/>
                  <a:pt x="12596" y="9"/>
                  <a:pt x="12607" y="14"/>
                </a:cubicBezTo>
                <a:cubicBezTo>
                  <a:pt x="12618" y="19"/>
                  <a:pt x="12629" y="24"/>
                  <a:pt x="12639" y="31"/>
                </a:cubicBezTo>
                <a:cubicBezTo>
                  <a:pt x="12649" y="38"/>
                  <a:pt x="12659" y="46"/>
                  <a:pt x="12667" y="54"/>
                </a:cubicBezTo>
                <a:cubicBezTo>
                  <a:pt x="12676" y="63"/>
                  <a:pt x="12683" y="72"/>
                  <a:pt x="12690" y="82"/>
                </a:cubicBezTo>
                <a:cubicBezTo>
                  <a:pt x="12697" y="92"/>
                  <a:pt x="12703" y="103"/>
                  <a:pt x="12707" y="114"/>
                </a:cubicBezTo>
                <a:cubicBezTo>
                  <a:pt x="12712" y="126"/>
                  <a:pt x="12716" y="137"/>
                  <a:pt x="12718" y="149"/>
                </a:cubicBezTo>
                <a:cubicBezTo>
                  <a:pt x="12720" y="161"/>
                  <a:pt x="12722" y="173"/>
                  <a:pt x="12722" y="186"/>
                </a:cubicBezTo>
                <a:lnTo>
                  <a:pt x="12722" y="6500"/>
                </a:lnTo>
                <a:cubicBezTo>
                  <a:pt x="12722" y="6513"/>
                  <a:pt x="12720" y="6525"/>
                  <a:pt x="12718" y="6537"/>
                </a:cubicBezTo>
                <a:cubicBezTo>
                  <a:pt x="12716" y="6549"/>
                  <a:pt x="12712" y="6560"/>
                  <a:pt x="12707" y="6572"/>
                </a:cubicBezTo>
                <a:cubicBezTo>
                  <a:pt x="12703" y="6583"/>
                  <a:pt x="12697" y="6593"/>
                  <a:pt x="12690" y="6604"/>
                </a:cubicBezTo>
                <a:cubicBezTo>
                  <a:pt x="12683" y="6614"/>
                  <a:pt x="12676" y="6623"/>
                  <a:pt x="12667" y="6632"/>
                </a:cubicBezTo>
                <a:cubicBezTo>
                  <a:pt x="12659" y="6640"/>
                  <a:pt x="12649" y="6648"/>
                  <a:pt x="12639" y="6655"/>
                </a:cubicBezTo>
                <a:cubicBezTo>
                  <a:pt x="12629" y="6662"/>
                  <a:pt x="12618" y="6667"/>
                  <a:pt x="12607" y="6672"/>
                </a:cubicBezTo>
                <a:cubicBezTo>
                  <a:pt x="12596" y="6677"/>
                  <a:pt x="12584" y="6680"/>
                  <a:pt x="12572" y="6683"/>
                </a:cubicBezTo>
                <a:cubicBezTo>
                  <a:pt x="12560" y="6685"/>
                  <a:pt x="12548" y="6686"/>
                  <a:pt x="12536" y="6686"/>
                </a:cubicBezTo>
                <a:lnTo>
                  <a:pt x="186" y="6686"/>
                </a:lnTo>
                <a:cubicBezTo>
                  <a:pt x="173" y="6686"/>
                  <a:pt x="161" y="6685"/>
                  <a:pt x="149" y="6683"/>
                </a:cubicBezTo>
                <a:cubicBezTo>
                  <a:pt x="137" y="6680"/>
                  <a:pt x="126" y="6677"/>
                  <a:pt x="114" y="6672"/>
                </a:cubicBezTo>
                <a:cubicBezTo>
                  <a:pt x="103" y="6667"/>
                  <a:pt x="92" y="6662"/>
                  <a:pt x="82" y="6655"/>
                </a:cubicBezTo>
                <a:cubicBezTo>
                  <a:pt x="72" y="6648"/>
                  <a:pt x="63" y="6640"/>
                  <a:pt x="54" y="6632"/>
                </a:cubicBezTo>
                <a:cubicBezTo>
                  <a:pt x="46" y="6623"/>
                  <a:pt x="38" y="6614"/>
                  <a:pt x="31" y="6604"/>
                </a:cubicBezTo>
                <a:cubicBezTo>
                  <a:pt x="24" y="6593"/>
                  <a:pt x="19" y="6583"/>
                  <a:pt x="14" y="6572"/>
                </a:cubicBezTo>
                <a:cubicBezTo>
                  <a:pt x="9" y="6560"/>
                  <a:pt x="6" y="6549"/>
                  <a:pt x="3" y="6537"/>
                </a:cubicBezTo>
                <a:cubicBezTo>
                  <a:pt x="1" y="6525"/>
                  <a:pt x="0" y="6513"/>
                  <a:pt x="0" y="65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7" name="" descr=""/>
          <p:cNvPicPr/>
          <p:nvPr/>
        </p:nvPicPr>
        <p:blipFill>
          <a:blip r:embed="rId13"/>
          <a:stretch/>
        </p:blipFill>
        <p:spPr>
          <a:xfrm>
            <a:off x="5833080" y="2891520"/>
            <a:ext cx="20844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"/>
          <p:cNvSpPr txBox="1"/>
          <p:nvPr/>
        </p:nvSpPr>
        <p:spPr>
          <a:xfrm>
            <a:off x="3025080" y="4681080"/>
            <a:ext cx="28944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ADC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9" name="" descr=""/>
          <p:cNvPicPr/>
          <p:nvPr/>
        </p:nvPicPr>
        <p:blipFill>
          <a:blip r:embed="rId14"/>
          <a:stretch/>
        </p:blipFill>
        <p:spPr>
          <a:xfrm>
            <a:off x="5833080" y="349308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"/>
          <p:cNvSpPr txBox="1"/>
          <p:nvPr/>
        </p:nvSpPr>
        <p:spPr>
          <a:xfrm>
            <a:off x="6125400" y="2943000"/>
            <a:ext cx="2280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包絡線成分からイメージ信号成分抽出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1" name="" descr=""/>
          <p:cNvPicPr/>
          <p:nvPr/>
        </p:nvPicPr>
        <p:blipFill>
          <a:blip r:embed="rId15"/>
          <a:stretch/>
        </p:blipFill>
        <p:spPr>
          <a:xfrm>
            <a:off x="5833080" y="4094640"/>
            <a:ext cx="1918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2" name=""/>
          <p:cNvSpPr txBox="1"/>
          <p:nvPr/>
        </p:nvSpPr>
        <p:spPr>
          <a:xfrm>
            <a:off x="6083640" y="3544560"/>
            <a:ext cx="14760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シンボル同期トリガ生成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3" name="" descr=""/>
          <p:cNvPicPr/>
          <p:nvPr/>
        </p:nvPicPr>
        <p:blipFill>
          <a:blip r:embed="rId16"/>
          <a:stretch/>
        </p:blipFill>
        <p:spPr>
          <a:xfrm>
            <a:off x="5833080" y="4696560"/>
            <a:ext cx="12492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"/>
          <p:cNvSpPr txBox="1"/>
          <p:nvPr/>
        </p:nvSpPr>
        <p:spPr>
          <a:xfrm>
            <a:off x="6108840" y="4146120"/>
            <a:ext cx="1831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I/Q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時間波形からシンボル抽出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5832720" y="3350880"/>
            <a:ext cx="4312440" cy="16920"/>
          </a:xfrm>
          <a:custGeom>
            <a:avLst/>
            <a:gdLst/>
            <a:ahLst/>
            <a:rect l="0" t="0" r="r" b="b"/>
            <a:pathLst>
              <a:path w="11979" h="47">
                <a:moveTo>
                  <a:pt x="0" y="0"/>
                </a:moveTo>
                <a:lnTo>
                  <a:pt x="11979" y="0"/>
                </a:lnTo>
                <a:lnTo>
                  <a:pt x="11979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0077840" y="3317400"/>
            <a:ext cx="67320" cy="83880"/>
          </a:xfrm>
          <a:custGeom>
            <a:avLst/>
            <a:gdLst/>
            <a:ah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6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5832720" y="3952440"/>
            <a:ext cx="4312440" cy="17280"/>
          </a:xfrm>
          <a:custGeom>
            <a:avLst/>
            <a:gdLst/>
            <a:ahLst/>
            <a:rect l="0" t="0" r="r" b="b"/>
            <a:pathLst>
              <a:path w="11979" h="48">
                <a:moveTo>
                  <a:pt x="0" y="0"/>
                </a:moveTo>
                <a:lnTo>
                  <a:pt x="11979" y="0"/>
                </a:lnTo>
                <a:lnTo>
                  <a:pt x="11979" y="48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0077840" y="3918960"/>
            <a:ext cx="67320" cy="84240"/>
          </a:xfrm>
          <a:custGeom>
            <a:avLst/>
            <a:gdLst/>
            <a:ahLst/>
            <a:rect l="0" t="0" r="r" b="b"/>
            <a:pathLst>
              <a:path w="187" h="234">
                <a:moveTo>
                  <a:pt x="0" y="0"/>
                </a:moveTo>
                <a:lnTo>
                  <a:pt x="0" y="234"/>
                </a:lnTo>
                <a:lnTo>
                  <a:pt x="187" y="116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5832720" y="4554360"/>
            <a:ext cx="4312440" cy="16920"/>
          </a:xfrm>
          <a:custGeom>
            <a:avLst/>
            <a:gdLst/>
            <a:ahLst/>
            <a:rect l="0" t="0" r="r" b="b"/>
            <a:pathLst>
              <a:path w="11979" h="47">
                <a:moveTo>
                  <a:pt x="0" y="0"/>
                </a:moveTo>
                <a:lnTo>
                  <a:pt x="11979" y="0"/>
                </a:lnTo>
                <a:lnTo>
                  <a:pt x="11979" y="47"/>
                </a:lnTo>
                <a:lnTo>
                  <a:pt x="0" y="4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0077840" y="4520880"/>
            <a:ext cx="67320" cy="83880"/>
          </a:xfrm>
          <a:custGeom>
            <a:avLst/>
            <a:gdLst/>
            <a:ahLst/>
            <a:rect l="0" t="0" r="r" b="b"/>
            <a:pathLst>
              <a:path w="187" h="233">
                <a:moveTo>
                  <a:pt x="0" y="0"/>
                </a:moveTo>
                <a:lnTo>
                  <a:pt x="0" y="233"/>
                </a:lnTo>
                <a:lnTo>
                  <a:pt x="187" y="117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6041880" y="4748040"/>
            <a:ext cx="805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位相補正処理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6582240" y="5599440"/>
            <a:ext cx="14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662160" y="558828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6729840" y="5599440"/>
            <a:ext cx="25178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= sin(2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θ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+ 2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θ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 = 2 ⋅ {2 ⋅ (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I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⋅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Q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 ⋅ (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Q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8911440" y="558828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993880" y="5599440"/>
            <a:ext cx="208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−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217440" y="558828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268200" y="5599440"/>
            <a:ext cx="1476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)}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6630120" y="5774760"/>
            <a:ext cx="14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Q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6743880" y="57639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′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6811560" y="5774760"/>
            <a:ext cx="14673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= cos(2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θ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+ 2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θ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 = (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Q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8081640" y="57639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8164080" y="5774760"/>
            <a:ext cx="2084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−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8387640" y="57639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8438400" y="5774760"/>
            <a:ext cx="14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8494200" y="57639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577000" y="5774760"/>
            <a:ext cx="7974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− (2 ⋅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I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 ⋅</a:t>
            </a:r>
            <a:r>
              <a:rPr b="0" i="1" lang="en-US" sz="1130" strike="noStrike" u="none">
                <a:solidFill>
                  <a:srgbClr val="000000"/>
                </a:solidFill>
                <a:effectLst/>
                <a:uFillTx/>
                <a:latin typeface="MathJax_Math"/>
                <a:ea typeface="MathJax_Math"/>
              </a:rPr>
              <a:t> Q</a:t>
            </a:r>
            <a:r>
              <a:rPr b="0" lang="en-US" sz="113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)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9297000" y="5763960"/>
            <a:ext cx="101160" cy="11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MathJax_Main"/>
                <a:ea typeface="MathJax_Main"/>
              </a:rPr>
              <a:t>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0153440" y="621864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7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"/>
          <p:cNvSpPr/>
          <p:nvPr/>
        </p:nvSpPr>
        <p:spPr>
          <a:xfrm>
            <a:off x="0" y="0"/>
            <a:ext cx="10696680" cy="6017040"/>
          </a:xfrm>
          <a:custGeom>
            <a:avLst/>
            <a:gdLst/>
            <a:ahLst/>
            <a:rect l="0" t="0" r="r" b="b"/>
            <a:pathLst>
              <a:path w="29713" h="16714">
                <a:moveTo>
                  <a:pt x="0" y="0"/>
                </a:moveTo>
                <a:lnTo>
                  <a:pt x="29713" y="0"/>
                </a:lnTo>
                <a:lnTo>
                  <a:pt x="29713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"/>
          <p:cNvSpPr/>
          <p:nvPr/>
        </p:nvSpPr>
        <p:spPr>
          <a:xfrm>
            <a:off x="4679640" y="1270080"/>
            <a:ext cx="1337400" cy="33840"/>
          </a:xfrm>
          <a:custGeom>
            <a:avLst/>
            <a:gdLst/>
            <a:ahLst/>
            <a:rect l="0" t="0" r="r" b="b"/>
            <a:pathLst>
              <a:path w="3715" h="94">
                <a:moveTo>
                  <a:pt x="0" y="0"/>
                </a:moveTo>
                <a:lnTo>
                  <a:pt x="3715" y="0"/>
                </a:lnTo>
                <a:lnTo>
                  <a:pt x="3715" y="94"/>
                </a:lnTo>
                <a:lnTo>
                  <a:pt x="0" y="94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71440" y="3881520"/>
            <a:ext cx="10153800" cy="1579680"/>
          </a:xfrm>
          <a:custGeom>
            <a:avLst/>
            <a:gdLst/>
            <a:ahLst/>
            <a:rect l="0" t="0" r="r" b="b"/>
            <a:pathLst>
              <a:path w="28205" h="4388">
                <a:moveTo>
                  <a:pt x="0" y="4214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6"/>
                  <a:pt x="28087" y="9"/>
                  <a:pt x="28097" y="13"/>
                </a:cubicBezTo>
                <a:cubicBezTo>
                  <a:pt x="28108" y="18"/>
                  <a:pt x="28118" y="23"/>
                  <a:pt x="28127" y="29"/>
                </a:cubicBezTo>
                <a:cubicBezTo>
                  <a:pt x="28137" y="36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3"/>
                  <a:pt x="28205" y="174"/>
                </a:cubicBezTo>
                <a:lnTo>
                  <a:pt x="28205" y="4214"/>
                </a:lnTo>
                <a:cubicBezTo>
                  <a:pt x="28205" y="4226"/>
                  <a:pt x="28204" y="4237"/>
                  <a:pt x="28201" y="4248"/>
                </a:cubicBezTo>
                <a:cubicBezTo>
                  <a:pt x="28199" y="4259"/>
                  <a:pt x="28196" y="4270"/>
                  <a:pt x="28192" y="4281"/>
                </a:cubicBezTo>
                <a:cubicBezTo>
                  <a:pt x="28187" y="4291"/>
                  <a:pt x="28182" y="4301"/>
                  <a:pt x="28175" y="4311"/>
                </a:cubicBezTo>
                <a:cubicBezTo>
                  <a:pt x="28169" y="4320"/>
                  <a:pt x="28162" y="4329"/>
                  <a:pt x="28154" y="4337"/>
                </a:cubicBezTo>
                <a:cubicBezTo>
                  <a:pt x="28146" y="4345"/>
                  <a:pt x="28137" y="4353"/>
                  <a:pt x="28127" y="4359"/>
                </a:cubicBezTo>
                <a:cubicBezTo>
                  <a:pt x="28118" y="4365"/>
                  <a:pt x="28108" y="4371"/>
                  <a:pt x="28097" y="4375"/>
                </a:cubicBezTo>
                <a:cubicBezTo>
                  <a:pt x="28087" y="4379"/>
                  <a:pt x="28076" y="4383"/>
                  <a:pt x="28065" y="4385"/>
                </a:cubicBezTo>
                <a:cubicBezTo>
                  <a:pt x="28053" y="4387"/>
                  <a:pt x="28042" y="4388"/>
                  <a:pt x="28031" y="4388"/>
                </a:cubicBezTo>
                <a:lnTo>
                  <a:pt x="174" y="4388"/>
                </a:lnTo>
                <a:cubicBezTo>
                  <a:pt x="163" y="4388"/>
                  <a:pt x="151" y="4387"/>
                  <a:pt x="140" y="4385"/>
                </a:cubicBezTo>
                <a:cubicBezTo>
                  <a:pt x="129" y="4383"/>
                  <a:pt x="118" y="4379"/>
                  <a:pt x="107" y="4375"/>
                </a:cubicBezTo>
                <a:cubicBezTo>
                  <a:pt x="97" y="4371"/>
                  <a:pt x="87" y="4365"/>
                  <a:pt x="77" y="4359"/>
                </a:cubicBezTo>
                <a:cubicBezTo>
                  <a:pt x="68" y="4353"/>
                  <a:pt x="59" y="4345"/>
                  <a:pt x="51" y="4337"/>
                </a:cubicBezTo>
                <a:cubicBezTo>
                  <a:pt x="43" y="4329"/>
                  <a:pt x="36" y="4320"/>
                  <a:pt x="29" y="4311"/>
                </a:cubicBezTo>
                <a:cubicBezTo>
                  <a:pt x="23" y="4301"/>
                  <a:pt x="18" y="4291"/>
                  <a:pt x="13" y="4281"/>
                </a:cubicBezTo>
                <a:cubicBezTo>
                  <a:pt x="9" y="4270"/>
                  <a:pt x="5" y="4259"/>
                  <a:pt x="3" y="4248"/>
                </a:cubicBezTo>
                <a:cubicBezTo>
                  <a:pt x="1" y="4237"/>
                  <a:pt x="0" y="4226"/>
                  <a:pt x="0" y="42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71440" y="3881520"/>
            <a:ext cx="10153800" cy="1579680"/>
          </a:xfrm>
          <a:custGeom>
            <a:avLst/>
            <a:gdLst/>
            <a:ahLst/>
            <a:rect l="0" t="0" r="r" b="b"/>
            <a:pathLst>
              <a:path fill="none" w="28205" h="4388">
                <a:moveTo>
                  <a:pt x="0" y="4214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6"/>
                  <a:pt x="28087" y="9"/>
                  <a:pt x="28097" y="13"/>
                </a:cubicBezTo>
                <a:cubicBezTo>
                  <a:pt x="28108" y="18"/>
                  <a:pt x="28118" y="23"/>
                  <a:pt x="28127" y="29"/>
                </a:cubicBezTo>
                <a:cubicBezTo>
                  <a:pt x="28137" y="36"/>
                  <a:pt x="28146" y="43"/>
                  <a:pt x="28154" y="51"/>
                </a:cubicBezTo>
                <a:cubicBezTo>
                  <a:pt x="28162" y="59"/>
                  <a:pt x="28169" y="68"/>
                  <a:pt x="28175" y="77"/>
                </a:cubicBezTo>
                <a:cubicBezTo>
                  <a:pt x="28182" y="87"/>
                  <a:pt x="28187" y="97"/>
                  <a:pt x="28192" y="107"/>
                </a:cubicBezTo>
                <a:cubicBezTo>
                  <a:pt x="28196" y="118"/>
                  <a:pt x="28199" y="129"/>
                  <a:pt x="28201" y="140"/>
                </a:cubicBezTo>
                <a:cubicBezTo>
                  <a:pt x="28204" y="151"/>
                  <a:pt x="28205" y="163"/>
                  <a:pt x="28205" y="174"/>
                </a:cubicBezTo>
                <a:lnTo>
                  <a:pt x="28205" y="4214"/>
                </a:lnTo>
                <a:cubicBezTo>
                  <a:pt x="28205" y="4226"/>
                  <a:pt x="28204" y="4237"/>
                  <a:pt x="28201" y="4248"/>
                </a:cubicBezTo>
                <a:cubicBezTo>
                  <a:pt x="28199" y="4259"/>
                  <a:pt x="28196" y="4270"/>
                  <a:pt x="28192" y="4281"/>
                </a:cubicBezTo>
                <a:cubicBezTo>
                  <a:pt x="28187" y="4291"/>
                  <a:pt x="28182" y="4301"/>
                  <a:pt x="28175" y="4311"/>
                </a:cubicBezTo>
                <a:cubicBezTo>
                  <a:pt x="28169" y="4320"/>
                  <a:pt x="28162" y="4329"/>
                  <a:pt x="28154" y="4337"/>
                </a:cubicBezTo>
                <a:cubicBezTo>
                  <a:pt x="28146" y="4345"/>
                  <a:pt x="28137" y="4353"/>
                  <a:pt x="28127" y="4359"/>
                </a:cubicBezTo>
                <a:cubicBezTo>
                  <a:pt x="28118" y="4365"/>
                  <a:pt x="28108" y="4371"/>
                  <a:pt x="28097" y="4375"/>
                </a:cubicBezTo>
                <a:cubicBezTo>
                  <a:pt x="28087" y="4379"/>
                  <a:pt x="28076" y="4383"/>
                  <a:pt x="28065" y="4385"/>
                </a:cubicBezTo>
                <a:cubicBezTo>
                  <a:pt x="28053" y="4387"/>
                  <a:pt x="28042" y="4388"/>
                  <a:pt x="28031" y="4388"/>
                </a:cubicBezTo>
                <a:lnTo>
                  <a:pt x="174" y="4388"/>
                </a:lnTo>
                <a:cubicBezTo>
                  <a:pt x="163" y="4388"/>
                  <a:pt x="151" y="4387"/>
                  <a:pt x="140" y="4385"/>
                </a:cubicBezTo>
                <a:cubicBezTo>
                  <a:pt x="129" y="4383"/>
                  <a:pt x="118" y="4379"/>
                  <a:pt x="107" y="4375"/>
                </a:cubicBezTo>
                <a:cubicBezTo>
                  <a:pt x="97" y="4371"/>
                  <a:pt x="87" y="4365"/>
                  <a:pt x="77" y="4359"/>
                </a:cubicBezTo>
                <a:cubicBezTo>
                  <a:pt x="68" y="4353"/>
                  <a:pt x="59" y="4345"/>
                  <a:pt x="51" y="4337"/>
                </a:cubicBezTo>
                <a:cubicBezTo>
                  <a:pt x="43" y="4329"/>
                  <a:pt x="36" y="4320"/>
                  <a:pt x="29" y="4311"/>
                </a:cubicBezTo>
                <a:cubicBezTo>
                  <a:pt x="23" y="4301"/>
                  <a:pt x="18" y="4291"/>
                  <a:pt x="13" y="4281"/>
                </a:cubicBezTo>
                <a:cubicBezTo>
                  <a:pt x="9" y="4270"/>
                  <a:pt x="5" y="4259"/>
                  <a:pt x="3" y="4248"/>
                </a:cubicBezTo>
                <a:cubicBezTo>
                  <a:pt x="1" y="4237"/>
                  <a:pt x="0" y="4226"/>
                  <a:pt x="0" y="4214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334440" y="210240"/>
            <a:ext cx="10065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検討内容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75760" y="1512360"/>
            <a:ext cx="4930560" cy="2156400"/>
          </a:xfrm>
          <a:custGeom>
            <a:avLst/>
            <a:gdLst/>
            <a:ahLst/>
            <a:rect l="0" t="0" r="r" b="b"/>
            <a:pathLst>
              <a:path w="13696" h="5990">
                <a:moveTo>
                  <a:pt x="0" y="5828"/>
                </a:moveTo>
                <a:lnTo>
                  <a:pt x="0" y="163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2"/>
                  <a:pt x="90" y="17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534" y="0"/>
                </a:lnTo>
                <a:cubicBezTo>
                  <a:pt x="13544" y="0"/>
                  <a:pt x="13555" y="1"/>
                  <a:pt x="13565" y="3"/>
                </a:cubicBezTo>
                <a:cubicBezTo>
                  <a:pt x="13576" y="5"/>
                  <a:pt x="13586" y="8"/>
                  <a:pt x="13596" y="12"/>
                </a:cubicBezTo>
                <a:cubicBezTo>
                  <a:pt x="13606" y="17"/>
                  <a:pt x="13615" y="22"/>
                  <a:pt x="13624" y="27"/>
                </a:cubicBezTo>
                <a:cubicBezTo>
                  <a:pt x="13633" y="33"/>
                  <a:pt x="13641" y="40"/>
                  <a:pt x="13649" y="48"/>
                </a:cubicBezTo>
                <a:cubicBezTo>
                  <a:pt x="13656" y="55"/>
                  <a:pt x="13663" y="63"/>
                  <a:pt x="13669" y="72"/>
                </a:cubicBezTo>
                <a:cubicBezTo>
                  <a:pt x="13675" y="81"/>
                  <a:pt x="13680" y="91"/>
                  <a:pt x="13684" y="100"/>
                </a:cubicBezTo>
                <a:cubicBezTo>
                  <a:pt x="13688" y="110"/>
                  <a:pt x="13691" y="120"/>
                  <a:pt x="13693" y="131"/>
                </a:cubicBezTo>
                <a:cubicBezTo>
                  <a:pt x="13695" y="141"/>
                  <a:pt x="13696" y="152"/>
                  <a:pt x="13696" y="163"/>
                </a:cubicBezTo>
                <a:lnTo>
                  <a:pt x="13696" y="5828"/>
                </a:lnTo>
                <a:cubicBezTo>
                  <a:pt x="13696" y="5838"/>
                  <a:pt x="13695" y="5849"/>
                  <a:pt x="13693" y="5859"/>
                </a:cubicBezTo>
                <a:cubicBezTo>
                  <a:pt x="13691" y="5870"/>
                  <a:pt x="13688" y="5880"/>
                  <a:pt x="13684" y="5890"/>
                </a:cubicBezTo>
                <a:cubicBezTo>
                  <a:pt x="13680" y="5900"/>
                  <a:pt x="13675" y="5909"/>
                  <a:pt x="13669" y="5918"/>
                </a:cubicBezTo>
                <a:cubicBezTo>
                  <a:pt x="13663" y="5927"/>
                  <a:pt x="13656" y="5935"/>
                  <a:pt x="13649" y="5942"/>
                </a:cubicBezTo>
                <a:cubicBezTo>
                  <a:pt x="13641" y="5950"/>
                  <a:pt x="13633" y="5957"/>
                  <a:pt x="13624" y="5963"/>
                </a:cubicBezTo>
                <a:cubicBezTo>
                  <a:pt x="13615" y="5969"/>
                  <a:pt x="13606" y="5974"/>
                  <a:pt x="13596" y="5978"/>
                </a:cubicBezTo>
                <a:cubicBezTo>
                  <a:pt x="13586" y="5982"/>
                  <a:pt x="13576" y="5985"/>
                  <a:pt x="13565" y="5987"/>
                </a:cubicBezTo>
                <a:cubicBezTo>
                  <a:pt x="13555" y="5989"/>
                  <a:pt x="13544" y="5990"/>
                  <a:pt x="13534" y="5990"/>
                </a:cubicBezTo>
                <a:lnTo>
                  <a:pt x="162" y="5990"/>
                </a:lnTo>
                <a:cubicBezTo>
                  <a:pt x="151" y="5990"/>
                  <a:pt x="141" y="5989"/>
                  <a:pt x="130" y="5987"/>
                </a:cubicBezTo>
                <a:cubicBezTo>
                  <a:pt x="120" y="5985"/>
                  <a:pt x="110" y="5982"/>
                  <a:pt x="100" y="5978"/>
                </a:cubicBezTo>
                <a:cubicBezTo>
                  <a:pt x="90" y="5974"/>
                  <a:pt x="81" y="5969"/>
                  <a:pt x="72" y="5963"/>
                </a:cubicBezTo>
                <a:cubicBezTo>
                  <a:pt x="63" y="5957"/>
                  <a:pt x="55" y="5950"/>
                  <a:pt x="47" y="5942"/>
                </a:cubicBezTo>
                <a:cubicBezTo>
                  <a:pt x="40" y="5935"/>
                  <a:pt x="33" y="5927"/>
                  <a:pt x="27" y="5918"/>
                </a:cubicBezTo>
                <a:cubicBezTo>
                  <a:pt x="21" y="5909"/>
                  <a:pt x="16" y="5900"/>
                  <a:pt x="12" y="5890"/>
                </a:cubicBezTo>
                <a:cubicBezTo>
                  <a:pt x="8" y="5880"/>
                  <a:pt x="5" y="5870"/>
                  <a:pt x="3" y="5859"/>
                </a:cubicBezTo>
                <a:cubicBezTo>
                  <a:pt x="1" y="5849"/>
                  <a:pt x="0" y="5838"/>
                  <a:pt x="0" y="5828"/>
                </a:cubicBezTo>
                <a:close/>
              </a:path>
            </a:pathLst>
          </a:custGeom>
          <a:solidFill>
            <a:srgbClr val="add8e6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75760" y="1512360"/>
            <a:ext cx="4930560" cy="2156400"/>
          </a:xfrm>
          <a:custGeom>
            <a:avLst/>
            <a:gdLst/>
            <a:ahLst/>
            <a:rect l="0" t="0" r="r" b="b"/>
            <a:pathLst>
              <a:path fill="none" w="13696" h="5990">
                <a:moveTo>
                  <a:pt x="0" y="5828"/>
                </a:moveTo>
                <a:lnTo>
                  <a:pt x="0" y="163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2"/>
                  <a:pt x="90" y="17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534" y="0"/>
                </a:lnTo>
                <a:cubicBezTo>
                  <a:pt x="13544" y="0"/>
                  <a:pt x="13555" y="1"/>
                  <a:pt x="13565" y="3"/>
                </a:cubicBezTo>
                <a:cubicBezTo>
                  <a:pt x="13576" y="5"/>
                  <a:pt x="13586" y="8"/>
                  <a:pt x="13596" y="12"/>
                </a:cubicBezTo>
                <a:cubicBezTo>
                  <a:pt x="13606" y="17"/>
                  <a:pt x="13615" y="22"/>
                  <a:pt x="13624" y="27"/>
                </a:cubicBezTo>
                <a:cubicBezTo>
                  <a:pt x="13633" y="33"/>
                  <a:pt x="13641" y="40"/>
                  <a:pt x="13649" y="48"/>
                </a:cubicBezTo>
                <a:cubicBezTo>
                  <a:pt x="13656" y="55"/>
                  <a:pt x="13663" y="63"/>
                  <a:pt x="13669" y="72"/>
                </a:cubicBezTo>
                <a:cubicBezTo>
                  <a:pt x="13675" y="81"/>
                  <a:pt x="13680" y="91"/>
                  <a:pt x="13684" y="100"/>
                </a:cubicBezTo>
                <a:cubicBezTo>
                  <a:pt x="13688" y="110"/>
                  <a:pt x="13691" y="120"/>
                  <a:pt x="13693" y="131"/>
                </a:cubicBezTo>
                <a:cubicBezTo>
                  <a:pt x="13695" y="141"/>
                  <a:pt x="13696" y="152"/>
                  <a:pt x="13696" y="163"/>
                </a:cubicBezTo>
                <a:lnTo>
                  <a:pt x="13696" y="5828"/>
                </a:lnTo>
                <a:cubicBezTo>
                  <a:pt x="13696" y="5838"/>
                  <a:pt x="13695" y="5849"/>
                  <a:pt x="13693" y="5859"/>
                </a:cubicBezTo>
                <a:cubicBezTo>
                  <a:pt x="13691" y="5870"/>
                  <a:pt x="13688" y="5880"/>
                  <a:pt x="13684" y="5890"/>
                </a:cubicBezTo>
                <a:cubicBezTo>
                  <a:pt x="13680" y="5900"/>
                  <a:pt x="13675" y="5909"/>
                  <a:pt x="13669" y="5918"/>
                </a:cubicBezTo>
                <a:cubicBezTo>
                  <a:pt x="13663" y="5927"/>
                  <a:pt x="13656" y="5935"/>
                  <a:pt x="13649" y="5942"/>
                </a:cubicBezTo>
                <a:cubicBezTo>
                  <a:pt x="13641" y="5950"/>
                  <a:pt x="13633" y="5957"/>
                  <a:pt x="13624" y="5963"/>
                </a:cubicBezTo>
                <a:cubicBezTo>
                  <a:pt x="13615" y="5969"/>
                  <a:pt x="13606" y="5974"/>
                  <a:pt x="13596" y="5978"/>
                </a:cubicBezTo>
                <a:cubicBezTo>
                  <a:pt x="13586" y="5982"/>
                  <a:pt x="13576" y="5985"/>
                  <a:pt x="13565" y="5987"/>
                </a:cubicBezTo>
                <a:cubicBezTo>
                  <a:pt x="13555" y="5989"/>
                  <a:pt x="13544" y="5990"/>
                  <a:pt x="13534" y="5990"/>
                </a:cubicBezTo>
                <a:lnTo>
                  <a:pt x="162" y="5990"/>
                </a:lnTo>
                <a:cubicBezTo>
                  <a:pt x="151" y="5990"/>
                  <a:pt x="141" y="5989"/>
                  <a:pt x="130" y="5987"/>
                </a:cubicBezTo>
                <a:cubicBezTo>
                  <a:pt x="120" y="5985"/>
                  <a:pt x="110" y="5982"/>
                  <a:pt x="100" y="5978"/>
                </a:cubicBezTo>
                <a:cubicBezTo>
                  <a:pt x="90" y="5974"/>
                  <a:pt x="81" y="5969"/>
                  <a:pt x="72" y="5963"/>
                </a:cubicBezTo>
                <a:cubicBezTo>
                  <a:pt x="63" y="5957"/>
                  <a:pt x="55" y="5950"/>
                  <a:pt x="47" y="5942"/>
                </a:cubicBezTo>
                <a:cubicBezTo>
                  <a:pt x="40" y="5935"/>
                  <a:pt x="33" y="5927"/>
                  <a:pt x="27" y="5918"/>
                </a:cubicBezTo>
                <a:cubicBezTo>
                  <a:pt x="21" y="5909"/>
                  <a:pt x="16" y="5900"/>
                  <a:pt x="12" y="5890"/>
                </a:cubicBezTo>
                <a:cubicBezTo>
                  <a:pt x="8" y="5880"/>
                  <a:pt x="5" y="5870"/>
                  <a:pt x="3" y="5859"/>
                </a:cubicBezTo>
                <a:cubicBezTo>
                  <a:pt x="1" y="5849"/>
                  <a:pt x="0" y="5838"/>
                  <a:pt x="0" y="5828"/>
                </a:cubicBezTo>
              </a:path>
            </a:pathLst>
          </a:custGeom>
          <a:ln w="16560">
            <a:solidFill>
              <a:srgbClr val="add8e6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21920" y="2628000"/>
            <a:ext cx="4638240" cy="309600"/>
          </a:xfrm>
          <a:custGeom>
            <a:avLst/>
            <a:gdLst/>
            <a:ahLst/>
            <a:rect l="0" t="0" r="r" b="b"/>
            <a:pathLst>
              <a:path w="12884" h="860">
                <a:moveTo>
                  <a:pt x="0" y="731"/>
                </a:moveTo>
                <a:lnTo>
                  <a:pt x="0" y="128"/>
                </a:lnTo>
                <a:cubicBezTo>
                  <a:pt x="0" y="111"/>
                  <a:pt x="3" y="94"/>
                  <a:pt x="9" y="79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9" y="10"/>
                </a:cubicBezTo>
                <a:cubicBezTo>
                  <a:pt x="94" y="3"/>
                  <a:pt x="111" y="0"/>
                  <a:pt x="127" y="0"/>
                </a:cubicBezTo>
                <a:lnTo>
                  <a:pt x="12756" y="0"/>
                </a:lnTo>
                <a:cubicBezTo>
                  <a:pt x="12773" y="0"/>
                  <a:pt x="12790" y="3"/>
                  <a:pt x="12805" y="10"/>
                </a:cubicBezTo>
                <a:cubicBezTo>
                  <a:pt x="12821" y="16"/>
                  <a:pt x="12835" y="25"/>
                  <a:pt x="12847" y="37"/>
                </a:cubicBezTo>
                <a:cubicBezTo>
                  <a:pt x="12859" y="49"/>
                  <a:pt x="12868" y="63"/>
                  <a:pt x="12874" y="79"/>
                </a:cubicBezTo>
                <a:cubicBezTo>
                  <a:pt x="12881" y="94"/>
                  <a:pt x="12884" y="111"/>
                  <a:pt x="12884" y="128"/>
                </a:cubicBezTo>
                <a:lnTo>
                  <a:pt x="12884" y="731"/>
                </a:lnTo>
                <a:cubicBezTo>
                  <a:pt x="12884" y="748"/>
                  <a:pt x="12881" y="764"/>
                  <a:pt x="12874" y="780"/>
                </a:cubicBezTo>
                <a:cubicBezTo>
                  <a:pt x="12868" y="796"/>
                  <a:pt x="12859" y="810"/>
                  <a:pt x="12847" y="821"/>
                </a:cubicBezTo>
                <a:cubicBezTo>
                  <a:pt x="12835" y="833"/>
                  <a:pt x="12821" y="843"/>
                  <a:pt x="12805" y="849"/>
                </a:cubicBezTo>
                <a:cubicBezTo>
                  <a:pt x="12790" y="857"/>
                  <a:pt x="12773" y="860"/>
                  <a:pt x="12756" y="860"/>
                </a:cubicBezTo>
                <a:lnTo>
                  <a:pt x="127" y="860"/>
                </a:lnTo>
                <a:cubicBezTo>
                  <a:pt x="111" y="860"/>
                  <a:pt x="94" y="857"/>
                  <a:pt x="79" y="849"/>
                </a:cubicBezTo>
                <a:cubicBezTo>
                  <a:pt x="63" y="843"/>
                  <a:pt x="49" y="833"/>
                  <a:pt x="37" y="821"/>
                </a:cubicBezTo>
                <a:cubicBezTo>
                  <a:pt x="25" y="810"/>
                  <a:pt x="16" y="796"/>
                  <a:pt x="9" y="780"/>
                </a:cubicBezTo>
                <a:cubicBezTo>
                  <a:pt x="3" y="764"/>
                  <a:pt x="0" y="748"/>
                  <a:pt x="0" y="73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21920" y="2628000"/>
            <a:ext cx="4638240" cy="309600"/>
          </a:xfrm>
          <a:custGeom>
            <a:avLst/>
            <a:gdLst/>
            <a:ahLst/>
            <a:rect l="0" t="0" r="r" b="b"/>
            <a:pathLst>
              <a:path fill="none" w="12884" h="860">
                <a:moveTo>
                  <a:pt x="0" y="731"/>
                </a:moveTo>
                <a:lnTo>
                  <a:pt x="0" y="128"/>
                </a:lnTo>
                <a:cubicBezTo>
                  <a:pt x="0" y="111"/>
                  <a:pt x="3" y="94"/>
                  <a:pt x="9" y="79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9" y="10"/>
                </a:cubicBezTo>
                <a:cubicBezTo>
                  <a:pt x="94" y="3"/>
                  <a:pt x="111" y="0"/>
                  <a:pt x="127" y="0"/>
                </a:cubicBezTo>
                <a:lnTo>
                  <a:pt x="12756" y="0"/>
                </a:lnTo>
                <a:cubicBezTo>
                  <a:pt x="12773" y="0"/>
                  <a:pt x="12790" y="3"/>
                  <a:pt x="12805" y="10"/>
                </a:cubicBezTo>
                <a:cubicBezTo>
                  <a:pt x="12821" y="16"/>
                  <a:pt x="12835" y="25"/>
                  <a:pt x="12847" y="37"/>
                </a:cubicBezTo>
                <a:cubicBezTo>
                  <a:pt x="12859" y="49"/>
                  <a:pt x="12868" y="63"/>
                  <a:pt x="12874" y="79"/>
                </a:cubicBezTo>
                <a:cubicBezTo>
                  <a:pt x="12881" y="94"/>
                  <a:pt x="12884" y="111"/>
                  <a:pt x="12884" y="128"/>
                </a:cubicBezTo>
                <a:lnTo>
                  <a:pt x="12884" y="731"/>
                </a:lnTo>
                <a:cubicBezTo>
                  <a:pt x="12884" y="748"/>
                  <a:pt x="12881" y="764"/>
                  <a:pt x="12874" y="780"/>
                </a:cubicBezTo>
                <a:cubicBezTo>
                  <a:pt x="12868" y="796"/>
                  <a:pt x="12859" y="810"/>
                  <a:pt x="12847" y="821"/>
                </a:cubicBezTo>
                <a:cubicBezTo>
                  <a:pt x="12835" y="833"/>
                  <a:pt x="12821" y="843"/>
                  <a:pt x="12805" y="849"/>
                </a:cubicBezTo>
                <a:cubicBezTo>
                  <a:pt x="12790" y="857"/>
                  <a:pt x="12773" y="860"/>
                  <a:pt x="12756" y="860"/>
                </a:cubicBezTo>
                <a:lnTo>
                  <a:pt x="127" y="860"/>
                </a:lnTo>
                <a:cubicBezTo>
                  <a:pt x="111" y="860"/>
                  <a:pt x="94" y="857"/>
                  <a:pt x="79" y="849"/>
                </a:cubicBezTo>
                <a:cubicBezTo>
                  <a:pt x="63" y="843"/>
                  <a:pt x="49" y="833"/>
                  <a:pt x="37" y="821"/>
                </a:cubicBezTo>
                <a:cubicBezTo>
                  <a:pt x="25" y="810"/>
                  <a:pt x="16" y="796"/>
                  <a:pt x="9" y="780"/>
                </a:cubicBezTo>
                <a:cubicBezTo>
                  <a:pt x="3" y="764"/>
                  <a:pt x="0" y="748"/>
                  <a:pt x="0" y="731"/>
                </a:cubicBezTo>
              </a:path>
            </a:pathLst>
          </a:custGeom>
          <a:ln w="8280">
            <a:solidFill>
              <a:srgbClr val="e0e0e0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421920" y="3045960"/>
            <a:ext cx="4638240" cy="309600"/>
          </a:xfrm>
          <a:custGeom>
            <a:avLst/>
            <a:gdLst/>
            <a:ahLst/>
            <a:rect l="0" t="0" r="r" b="b"/>
            <a:pathLst>
              <a:path w="12884" h="860">
                <a:moveTo>
                  <a:pt x="0" y="732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9" y="9"/>
                </a:cubicBezTo>
                <a:cubicBezTo>
                  <a:pt x="94" y="3"/>
                  <a:pt x="111" y="0"/>
                  <a:pt x="127" y="0"/>
                </a:cubicBezTo>
                <a:lnTo>
                  <a:pt x="12756" y="0"/>
                </a:lnTo>
                <a:cubicBezTo>
                  <a:pt x="12773" y="0"/>
                  <a:pt x="12790" y="3"/>
                  <a:pt x="12805" y="9"/>
                </a:cubicBezTo>
                <a:cubicBezTo>
                  <a:pt x="12821" y="16"/>
                  <a:pt x="12835" y="25"/>
                  <a:pt x="12847" y="37"/>
                </a:cubicBezTo>
                <a:cubicBezTo>
                  <a:pt x="12859" y="49"/>
                  <a:pt x="12868" y="63"/>
                  <a:pt x="12874" y="78"/>
                </a:cubicBezTo>
                <a:cubicBezTo>
                  <a:pt x="12881" y="94"/>
                  <a:pt x="12884" y="110"/>
                  <a:pt x="12884" y="127"/>
                </a:cubicBezTo>
                <a:lnTo>
                  <a:pt x="12884" y="732"/>
                </a:lnTo>
                <a:cubicBezTo>
                  <a:pt x="12884" y="749"/>
                  <a:pt x="12881" y="765"/>
                  <a:pt x="12874" y="781"/>
                </a:cubicBezTo>
                <a:cubicBezTo>
                  <a:pt x="12868" y="796"/>
                  <a:pt x="12859" y="810"/>
                  <a:pt x="12847" y="822"/>
                </a:cubicBezTo>
                <a:cubicBezTo>
                  <a:pt x="12835" y="834"/>
                  <a:pt x="12821" y="843"/>
                  <a:pt x="12805" y="850"/>
                </a:cubicBezTo>
                <a:cubicBezTo>
                  <a:pt x="12790" y="856"/>
                  <a:pt x="12773" y="860"/>
                  <a:pt x="12756" y="860"/>
                </a:cubicBezTo>
                <a:lnTo>
                  <a:pt x="127" y="860"/>
                </a:lnTo>
                <a:cubicBezTo>
                  <a:pt x="111" y="860"/>
                  <a:pt x="94" y="856"/>
                  <a:pt x="79" y="850"/>
                </a:cubicBezTo>
                <a:cubicBezTo>
                  <a:pt x="63" y="843"/>
                  <a:pt x="49" y="834"/>
                  <a:pt x="37" y="822"/>
                </a:cubicBezTo>
                <a:cubicBezTo>
                  <a:pt x="25" y="810"/>
                  <a:pt x="16" y="796"/>
                  <a:pt x="9" y="781"/>
                </a:cubicBezTo>
                <a:cubicBezTo>
                  <a:pt x="3" y="765"/>
                  <a:pt x="0" y="749"/>
                  <a:pt x="0" y="732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421920" y="3045960"/>
            <a:ext cx="4638240" cy="309600"/>
          </a:xfrm>
          <a:custGeom>
            <a:avLst/>
            <a:gdLst/>
            <a:ahLst/>
            <a:rect l="0" t="0" r="r" b="b"/>
            <a:pathLst>
              <a:path fill="none" w="12884" h="860">
                <a:moveTo>
                  <a:pt x="0" y="732"/>
                </a:moveTo>
                <a:lnTo>
                  <a:pt x="0" y="127"/>
                </a:lnTo>
                <a:cubicBezTo>
                  <a:pt x="0" y="110"/>
                  <a:pt x="3" y="94"/>
                  <a:pt x="9" y="78"/>
                </a:cubicBezTo>
                <a:cubicBezTo>
                  <a:pt x="16" y="63"/>
                  <a:pt x="25" y="49"/>
                  <a:pt x="37" y="37"/>
                </a:cubicBezTo>
                <a:cubicBezTo>
                  <a:pt x="49" y="25"/>
                  <a:pt x="63" y="16"/>
                  <a:pt x="79" y="9"/>
                </a:cubicBezTo>
                <a:cubicBezTo>
                  <a:pt x="94" y="3"/>
                  <a:pt x="111" y="0"/>
                  <a:pt x="127" y="0"/>
                </a:cubicBezTo>
                <a:lnTo>
                  <a:pt x="12756" y="0"/>
                </a:lnTo>
                <a:cubicBezTo>
                  <a:pt x="12773" y="0"/>
                  <a:pt x="12790" y="3"/>
                  <a:pt x="12805" y="9"/>
                </a:cubicBezTo>
                <a:cubicBezTo>
                  <a:pt x="12821" y="16"/>
                  <a:pt x="12835" y="25"/>
                  <a:pt x="12847" y="37"/>
                </a:cubicBezTo>
                <a:cubicBezTo>
                  <a:pt x="12859" y="49"/>
                  <a:pt x="12868" y="63"/>
                  <a:pt x="12874" y="78"/>
                </a:cubicBezTo>
                <a:cubicBezTo>
                  <a:pt x="12881" y="94"/>
                  <a:pt x="12884" y="110"/>
                  <a:pt x="12884" y="127"/>
                </a:cubicBezTo>
                <a:lnTo>
                  <a:pt x="12884" y="732"/>
                </a:lnTo>
                <a:cubicBezTo>
                  <a:pt x="12884" y="749"/>
                  <a:pt x="12881" y="765"/>
                  <a:pt x="12874" y="781"/>
                </a:cubicBezTo>
                <a:cubicBezTo>
                  <a:pt x="12868" y="796"/>
                  <a:pt x="12859" y="810"/>
                  <a:pt x="12847" y="822"/>
                </a:cubicBezTo>
                <a:cubicBezTo>
                  <a:pt x="12835" y="834"/>
                  <a:pt x="12821" y="843"/>
                  <a:pt x="12805" y="850"/>
                </a:cubicBezTo>
                <a:cubicBezTo>
                  <a:pt x="12790" y="856"/>
                  <a:pt x="12773" y="860"/>
                  <a:pt x="12756" y="860"/>
                </a:cubicBezTo>
                <a:lnTo>
                  <a:pt x="127" y="860"/>
                </a:lnTo>
                <a:cubicBezTo>
                  <a:pt x="111" y="860"/>
                  <a:pt x="94" y="856"/>
                  <a:pt x="79" y="850"/>
                </a:cubicBezTo>
                <a:cubicBezTo>
                  <a:pt x="63" y="843"/>
                  <a:pt x="49" y="834"/>
                  <a:pt x="37" y="822"/>
                </a:cubicBezTo>
                <a:cubicBezTo>
                  <a:pt x="25" y="810"/>
                  <a:pt x="16" y="796"/>
                  <a:pt x="9" y="781"/>
                </a:cubicBezTo>
                <a:cubicBezTo>
                  <a:pt x="3" y="765"/>
                  <a:pt x="0" y="749"/>
                  <a:pt x="0" y="732"/>
                </a:cubicBezTo>
              </a:path>
            </a:pathLst>
          </a:custGeom>
          <a:ln w="8280">
            <a:solidFill>
              <a:srgbClr val="e0e0e0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2" name="" descr=""/>
          <p:cNvPicPr/>
          <p:nvPr/>
        </p:nvPicPr>
        <p:blipFill>
          <a:blip r:embed="rId2"/>
          <a:stretch/>
        </p:blipFill>
        <p:spPr>
          <a:xfrm>
            <a:off x="417960" y="1654560"/>
            <a:ext cx="25020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"/>
          <p:cNvSpPr txBox="1"/>
          <p:nvPr/>
        </p:nvSpPr>
        <p:spPr>
          <a:xfrm>
            <a:off x="2816280" y="980280"/>
            <a:ext cx="52462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変調信号評価法と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信号評価法の統合によるシステム簡素化の検討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4" name="" descr=""/>
          <p:cNvPicPr/>
          <p:nvPr/>
        </p:nvPicPr>
        <p:blipFill>
          <a:blip r:embed="rId3"/>
          <a:stretch/>
        </p:blipFill>
        <p:spPr>
          <a:xfrm>
            <a:off x="417960" y="20642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5" name=""/>
          <p:cNvSpPr txBox="1"/>
          <p:nvPr/>
        </p:nvSpPr>
        <p:spPr>
          <a:xfrm>
            <a:off x="735480" y="1699920"/>
            <a:ext cx="1662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変調信号評価法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6" name="" descr=""/>
          <p:cNvPicPr/>
          <p:nvPr/>
        </p:nvPicPr>
        <p:blipFill>
          <a:blip r:embed="rId4"/>
          <a:stretch/>
        </p:blipFill>
        <p:spPr>
          <a:xfrm>
            <a:off x="417960" y="2331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"/>
          <p:cNvSpPr txBox="1"/>
          <p:nvPr/>
        </p:nvSpPr>
        <p:spPr>
          <a:xfrm>
            <a:off x="618480" y="2057040"/>
            <a:ext cx="44265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測定値に含まれるキャリア周波数とローカル信号間の周波数差成分を補正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618480" y="2324520"/>
            <a:ext cx="2972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加法定理と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倍角の公式から導出された式を使用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526320" y="2711880"/>
            <a:ext cx="93888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I' = sin(2θ + 2θ) = 2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1461960" y="2703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1578960" y="2711880"/>
            <a:ext cx="116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{2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1693440" y="2703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810440" y="2711880"/>
            <a:ext cx="116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(I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1888560" y="2703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2005560" y="2711880"/>
            <a:ext cx="1245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2129040" y="27036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2246040" y="2711880"/>
            <a:ext cx="4269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(Q² - I²)}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526320" y="3129840"/>
            <a:ext cx="154620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Q' = cos(2θ + 2θ) = (Q² - I²)² - (2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067480" y="31212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184480" y="3129840"/>
            <a:ext cx="1166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2223360" y="3121200"/>
            <a:ext cx="118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WenQuanYiZenHei"/>
                <a:ea typeface="WenQuanYiZenHei"/>
              </a:rPr>
              <a:t>・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2" name="" descr=""/>
          <p:cNvPicPr/>
          <p:nvPr/>
        </p:nvPicPr>
        <p:blipFill>
          <a:blip r:embed="rId5"/>
          <a:stretch/>
        </p:blipFill>
        <p:spPr>
          <a:xfrm>
            <a:off x="417960" y="34930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"/>
          <p:cNvSpPr txBox="1"/>
          <p:nvPr/>
        </p:nvSpPr>
        <p:spPr>
          <a:xfrm>
            <a:off x="2340360" y="3129840"/>
            <a:ext cx="1598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Q)²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490000" y="1512360"/>
            <a:ext cx="4930920" cy="2156400"/>
          </a:xfrm>
          <a:custGeom>
            <a:avLst/>
            <a:gdLst/>
            <a:ahLst/>
            <a:rect l="0" t="0" r="r" b="b"/>
            <a:pathLst>
              <a:path w="13697" h="5990">
                <a:moveTo>
                  <a:pt x="0" y="5828"/>
                </a:moveTo>
                <a:lnTo>
                  <a:pt x="0" y="163"/>
                </a:lnTo>
                <a:cubicBezTo>
                  <a:pt x="0" y="152"/>
                  <a:pt x="2" y="141"/>
                  <a:pt x="4" y="131"/>
                </a:cubicBezTo>
                <a:cubicBezTo>
                  <a:pt x="6" y="120"/>
                  <a:pt x="9" y="110"/>
                  <a:pt x="13" y="100"/>
                </a:cubicBezTo>
                <a:cubicBezTo>
                  <a:pt x="17" y="91"/>
                  <a:pt x="22" y="81"/>
                  <a:pt x="28" y="72"/>
                </a:cubicBezTo>
                <a:cubicBezTo>
                  <a:pt x="34" y="63"/>
                  <a:pt x="41" y="55"/>
                  <a:pt x="48" y="48"/>
                </a:cubicBezTo>
                <a:cubicBezTo>
                  <a:pt x="56" y="40"/>
                  <a:pt x="64" y="33"/>
                  <a:pt x="73" y="27"/>
                </a:cubicBezTo>
                <a:cubicBezTo>
                  <a:pt x="82" y="22"/>
                  <a:pt x="91" y="17"/>
                  <a:pt x="101" y="12"/>
                </a:cubicBezTo>
                <a:cubicBezTo>
                  <a:pt x="111" y="8"/>
                  <a:pt x="121" y="5"/>
                  <a:pt x="131" y="3"/>
                </a:cubicBezTo>
                <a:cubicBezTo>
                  <a:pt x="142" y="1"/>
                  <a:pt x="152" y="0"/>
                  <a:pt x="163" y="0"/>
                </a:cubicBezTo>
                <a:lnTo>
                  <a:pt x="13535" y="0"/>
                </a:lnTo>
                <a:cubicBezTo>
                  <a:pt x="13545" y="0"/>
                  <a:pt x="13556" y="1"/>
                  <a:pt x="13566" y="3"/>
                </a:cubicBezTo>
                <a:cubicBezTo>
                  <a:pt x="13577" y="5"/>
                  <a:pt x="13587" y="8"/>
                  <a:pt x="13597" y="12"/>
                </a:cubicBezTo>
                <a:cubicBezTo>
                  <a:pt x="13607" y="17"/>
                  <a:pt x="13616" y="22"/>
                  <a:pt x="13625" y="27"/>
                </a:cubicBezTo>
                <a:cubicBezTo>
                  <a:pt x="13634" y="33"/>
                  <a:pt x="13642" y="40"/>
                  <a:pt x="13650" y="48"/>
                </a:cubicBezTo>
                <a:cubicBezTo>
                  <a:pt x="13657" y="55"/>
                  <a:pt x="13664" y="63"/>
                  <a:pt x="13670" y="72"/>
                </a:cubicBezTo>
                <a:cubicBezTo>
                  <a:pt x="13676" y="81"/>
                  <a:pt x="13681" y="91"/>
                  <a:pt x="13685" y="100"/>
                </a:cubicBezTo>
                <a:cubicBezTo>
                  <a:pt x="13689" y="110"/>
                  <a:pt x="13692" y="120"/>
                  <a:pt x="13694" y="131"/>
                </a:cubicBezTo>
                <a:cubicBezTo>
                  <a:pt x="13696" y="141"/>
                  <a:pt x="13697" y="152"/>
                  <a:pt x="13697" y="163"/>
                </a:cubicBezTo>
                <a:lnTo>
                  <a:pt x="13697" y="5828"/>
                </a:lnTo>
                <a:cubicBezTo>
                  <a:pt x="13697" y="5838"/>
                  <a:pt x="13696" y="5849"/>
                  <a:pt x="13694" y="5859"/>
                </a:cubicBezTo>
                <a:cubicBezTo>
                  <a:pt x="13692" y="5870"/>
                  <a:pt x="13689" y="5880"/>
                  <a:pt x="13685" y="5890"/>
                </a:cubicBezTo>
                <a:cubicBezTo>
                  <a:pt x="13681" y="5900"/>
                  <a:pt x="13676" y="5909"/>
                  <a:pt x="13670" y="5918"/>
                </a:cubicBezTo>
                <a:cubicBezTo>
                  <a:pt x="13664" y="5927"/>
                  <a:pt x="13657" y="5935"/>
                  <a:pt x="13650" y="5942"/>
                </a:cubicBezTo>
                <a:cubicBezTo>
                  <a:pt x="13642" y="5950"/>
                  <a:pt x="13634" y="5957"/>
                  <a:pt x="13625" y="5963"/>
                </a:cubicBezTo>
                <a:cubicBezTo>
                  <a:pt x="13616" y="5969"/>
                  <a:pt x="13607" y="5974"/>
                  <a:pt x="13597" y="5978"/>
                </a:cubicBezTo>
                <a:cubicBezTo>
                  <a:pt x="13587" y="5982"/>
                  <a:pt x="13577" y="5985"/>
                  <a:pt x="13566" y="5987"/>
                </a:cubicBezTo>
                <a:cubicBezTo>
                  <a:pt x="13556" y="5989"/>
                  <a:pt x="13545" y="5990"/>
                  <a:pt x="13535" y="5990"/>
                </a:cubicBezTo>
                <a:lnTo>
                  <a:pt x="163" y="5990"/>
                </a:lnTo>
                <a:cubicBezTo>
                  <a:pt x="152" y="5990"/>
                  <a:pt x="142" y="5989"/>
                  <a:pt x="131" y="5987"/>
                </a:cubicBezTo>
                <a:cubicBezTo>
                  <a:pt x="121" y="5985"/>
                  <a:pt x="111" y="5982"/>
                  <a:pt x="101" y="5978"/>
                </a:cubicBezTo>
                <a:cubicBezTo>
                  <a:pt x="91" y="5974"/>
                  <a:pt x="82" y="5969"/>
                  <a:pt x="73" y="5963"/>
                </a:cubicBezTo>
                <a:cubicBezTo>
                  <a:pt x="64" y="5957"/>
                  <a:pt x="56" y="5950"/>
                  <a:pt x="48" y="5942"/>
                </a:cubicBezTo>
                <a:cubicBezTo>
                  <a:pt x="41" y="5935"/>
                  <a:pt x="34" y="5927"/>
                  <a:pt x="28" y="5918"/>
                </a:cubicBezTo>
                <a:cubicBezTo>
                  <a:pt x="22" y="5909"/>
                  <a:pt x="17" y="5900"/>
                  <a:pt x="13" y="5890"/>
                </a:cubicBezTo>
                <a:cubicBezTo>
                  <a:pt x="9" y="5880"/>
                  <a:pt x="6" y="5870"/>
                  <a:pt x="4" y="5859"/>
                </a:cubicBezTo>
                <a:cubicBezTo>
                  <a:pt x="2" y="5849"/>
                  <a:pt x="0" y="5838"/>
                  <a:pt x="0" y="5828"/>
                </a:cubicBezTo>
                <a:close/>
              </a:path>
            </a:pathLst>
          </a:custGeom>
          <a:solidFill>
            <a:srgbClr val="add8e6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490000" y="1512360"/>
            <a:ext cx="4930920" cy="2156400"/>
          </a:xfrm>
          <a:custGeom>
            <a:avLst/>
            <a:gdLst/>
            <a:ahLst/>
            <a:rect l="0" t="0" r="r" b="b"/>
            <a:pathLst>
              <a:path fill="none" w="13697" h="5990">
                <a:moveTo>
                  <a:pt x="0" y="5828"/>
                </a:moveTo>
                <a:lnTo>
                  <a:pt x="0" y="163"/>
                </a:lnTo>
                <a:cubicBezTo>
                  <a:pt x="0" y="152"/>
                  <a:pt x="2" y="141"/>
                  <a:pt x="4" y="131"/>
                </a:cubicBezTo>
                <a:cubicBezTo>
                  <a:pt x="6" y="120"/>
                  <a:pt x="9" y="110"/>
                  <a:pt x="13" y="100"/>
                </a:cubicBezTo>
                <a:cubicBezTo>
                  <a:pt x="17" y="91"/>
                  <a:pt x="22" y="81"/>
                  <a:pt x="28" y="72"/>
                </a:cubicBezTo>
                <a:cubicBezTo>
                  <a:pt x="34" y="63"/>
                  <a:pt x="41" y="55"/>
                  <a:pt x="48" y="48"/>
                </a:cubicBezTo>
                <a:cubicBezTo>
                  <a:pt x="56" y="40"/>
                  <a:pt x="64" y="33"/>
                  <a:pt x="73" y="27"/>
                </a:cubicBezTo>
                <a:cubicBezTo>
                  <a:pt x="82" y="22"/>
                  <a:pt x="91" y="17"/>
                  <a:pt x="101" y="12"/>
                </a:cubicBezTo>
                <a:cubicBezTo>
                  <a:pt x="111" y="8"/>
                  <a:pt x="121" y="5"/>
                  <a:pt x="131" y="3"/>
                </a:cubicBezTo>
                <a:cubicBezTo>
                  <a:pt x="142" y="1"/>
                  <a:pt x="152" y="0"/>
                  <a:pt x="163" y="0"/>
                </a:cubicBezTo>
                <a:lnTo>
                  <a:pt x="13535" y="0"/>
                </a:lnTo>
                <a:cubicBezTo>
                  <a:pt x="13545" y="0"/>
                  <a:pt x="13556" y="1"/>
                  <a:pt x="13566" y="3"/>
                </a:cubicBezTo>
                <a:cubicBezTo>
                  <a:pt x="13577" y="5"/>
                  <a:pt x="13587" y="8"/>
                  <a:pt x="13597" y="12"/>
                </a:cubicBezTo>
                <a:cubicBezTo>
                  <a:pt x="13607" y="17"/>
                  <a:pt x="13616" y="22"/>
                  <a:pt x="13625" y="27"/>
                </a:cubicBezTo>
                <a:cubicBezTo>
                  <a:pt x="13634" y="33"/>
                  <a:pt x="13642" y="40"/>
                  <a:pt x="13650" y="48"/>
                </a:cubicBezTo>
                <a:cubicBezTo>
                  <a:pt x="13657" y="55"/>
                  <a:pt x="13664" y="63"/>
                  <a:pt x="13670" y="72"/>
                </a:cubicBezTo>
                <a:cubicBezTo>
                  <a:pt x="13676" y="81"/>
                  <a:pt x="13681" y="91"/>
                  <a:pt x="13685" y="100"/>
                </a:cubicBezTo>
                <a:cubicBezTo>
                  <a:pt x="13689" y="110"/>
                  <a:pt x="13692" y="120"/>
                  <a:pt x="13694" y="131"/>
                </a:cubicBezTo>
                <a:cubicBezTo>
                  <a:pt x="13696" y="141"/>
                  <a:pt x="13697" y="152"/>
                  <a:pt x="13697" y="163"/>
                </a:cubicBezTo>
                <a:lnTo>
                  <a:pt x="13697" y="5828"/>
                </a:lnTo>
                <a:cubicBezTo>
                  <a:pt x="13697" y="5838"/>
                  <a:pt x="13696" y="5849"/>
                  <a:pt x="13694" y="5859"/>
                </a:cubicBezTo>
                <a:cubicBezTo>
                  <a:pt x="13692" y="5870"/>
                  <a:pt x="13689" y="5880"/>
                  <a:pt x="13685" y="5890"/>
                </a:cubicBezTo>
                <a:cubicBezTo>
                  <a:pt x="13681" y="5900"/>
                  <a:pt x="13676" y="5909"/>
                  <a:pt x="13670" y="5918"/>
                </a:cubicBezTo>
                <a:cubicBezTo>
                  <a:pt x="13664" y="5927"/>
                  <a:pt x="13657" y="5935"/>
                  <a:pt x="13650" y="5942"/>
                </a:cubicBezTo>
                <a:cubicBezTo>
                  <a:pt x="13642" y="5950"/>
                  <a:pt x="13634" y="5957"/>
                  <a:pt x="13625" y="5963"/>
                </a:cubicBezTo>
                <a:cubicBezTo>
                  <a:pt x="13616" y="5969"/>
                  <a:pt x="13607" y="5974"/>
                  <a:pt x="13597" y="5978"/>
                </a:cubicBezTo>
                <a:cubicBezTo>
                  <a:pt x="13587" y="5982"/>
                  <a:pt x="13577" y="5985"/>
                  <a:pt x="13566" y="5987"/>
                </a:cubicBezTo>
                <a:cubicBezTo>
                  <a:pt x="13556" y="5989"/>
                  <a:pt x="13545" y="5990"/>
                  <a:pt x="13535" y="5990"/>
                </a:cubicBezTo>
                <a:lnTo>
                  <a:pt x="163" y="5990"/>
                </a:lnTo>
                <a:cubicBezTo>
                  <a:pt x="152" y="5990"/>
                  <a:pt x="142" y="5989"/>
                  <a:pt x="131" y="5987"/>
                </a:cubicBezTo>
                <a:cubicBezTo>
                  <a:pt x="121" y="5985"/>
                  <a:pt x="111" y="5982"/>
                  <a:pt x="101" y="5978"/>
                </a:cubicBezTo>
                <a:cubicBezTo>
                  <a:pt x="91" y="5974"/>
                  <a:pt x="82" y="5969"/>
                  <a:pt x="73" y="5963"/>
                </a:cubicBezTo>
                <a:cubicBezTo>
                  <a:pt x="64" y="5957"/>
                  <a:pt x="56" y="5950"/>
                  <a:pt x="48" y="5942"/>
                </a:cubicBezTo>
                <a:cubicBezTo>
                  <a:pt x="41" y="5935"/>
                  <a:pt x="34" y="5927"/>
                  <a:pt x="28" y="5918"/>
                </a:cubicBezTo>
                <a:cubicBezTo>
                  <a:pt x="22" y="5909"/>
                  <a:pt x="17" y="5900"/>
                  <a:pt x="13" y="5890"/>
                </a:cubicBezTo>
                <a:cubicBezTo>
                  <a:pt x="9" y="5880"/>
                  <a:pt x="6" y="5870"/>
                  <a:pt x="4" y="5859"/>
                </a:cubicBezTo>
                <a:cubicBezTo>
                  <a:pt x="2" y="5849"/>
                  <a:pt x="0" y="5838"/>
                  <a:pt x="0" y="5828"/>
                </a:cubicBezTo>
              </a:path>
            </a:pathLst>
          </a:custGeom>
          <a:ln w="16560">
            <a:solidFill>
              <a:srgbClr val="add8e6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6" name="" descr=""/>
          <p:cNvPicPr/>
          <p:nvPr/>
        </p:nvPicPr>
        <p:blipFill>
          <a:blip r:embed="rId6"/>
          <a:stretch/>
        </p:blipFill>
        <p:spPr>
          <a:xfrm>
            <a:off x="5632560" y="1654560"/>
            <a:ext cx="2253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7" name=""/>
          <p:cNvSpPr txBox="1"/>
          <p:nvPr/>
        </p:nvSpPr>
        <p:spPr>
          <a:xfrm>
            <a:off x="568080" y="3484800"/>
            <a:ext cx="27442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測定値の位相を</a:t>
            </a:r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倍することでシンボル情報が縮退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8" name="" descr=""/>
          <p:cNvPicPr/>
          <p:nvPr/>
        </p:nvPicPr>
        <p:blipFill>
          <a:blip r:embed="rId7"/>
          <a:stretch/>
        </p:blipFill>
        <p:spPr>
          <a:xfrm>
            <a:off x="5632560" y="20642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9" name=""/>
          <p:cNvSpPr txBox="1"/>
          <p:nvPr/>
        </p:nvSpPr>
        <p:spPr>
          <a:xfrm>
            <a:off x="5924880" y="1699920"/>
            <a:ext cx="12690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信号評価法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0" name="" descr=""/>
          <p:cNvPicPr/>
          <p:nvPr/>
        </p:nvPicPr>
        <p:blipFill>
          <a:blip r:embed="rId8"/>
          <a:stretch/>
        </p:blipFill>
        <p:spPr>
          <a:xfrm>
            <a:off x="5632560" y="2331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1" name=""/>
          <p:cNvSpPr txBox="1"/>
          <p:nvPr/>
        </p:nvSpPr>
        <p:spPr>
          <a:xfrm>
            <a:off x="5833080" y="2057040"/>
            <a:ext cx="21466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周波数差が直線の傾きで表現される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104520" y="2628000"/>
            <a:ext cx="3702240" cy="677160"/>
          </a:xfrm>
          <a:custGeom>
            <a:avLst/>
            <a:gdLst/>
            <a:ahLst/>
            <a:rect l="0" t="0" r="r" b="b"/>
            <a:pathLst>
              <a:path w="10284" h="1881">
                <a:moveTo>
                  <a:pt x="0" y="1707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7" y="97"/>
                  <a:pt x="23" y="87"/>
                  <a:pt x="29" y="77"/>
                </a:cubicBezTo>
                <a:cubicBezTo>
                  <a:pt x="35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2" y="0"/>
                  <a:pt x="174" y="0"/>
                </a:cubicBezTo>
                <a:lnTo>
                  <a:pt x="10110" y="0"/>
                </a:lnTo>
                <a:cubicBezTo>
                  <a:pt x="10121" y="0"/>
                  <a:pt x="10133" y="1"/>
                  <a:pt x="10144" y="3"/>
                </a:cubicBezTo>
                <a:cubicBezTo>
                  <a:pt x="10155" y="6"/>
                  <a:pt x="10166" y="9"/>
                  <a:pt x="10177" y="13"/>
                </a:cubicBezTo>
                <a:cubicBezTo>
                  <a:pt x="10187" y="18"/>
                  <a:pt x="10197" y="23"/>
                  <a:pt x="10207" y="29"/>
                </a:cubicBezTo>
                <a:cubicBezTo>
                  <a:pt x="10216" y="36"/>
                  <a:pt x="10225" y="43"/>
                  <a:pt x="10233" y="51"/>
                </a:cubicBezTo>
                <a:cubicBezTo>
                  <a:pt x="10241" y="59"/>
                  <a:pt x="10248" y="68"/>
                  <a:pt x="10255" y="77"/>
                </a:cubicBezTo>
                <a:cubicBezTo>
                  <a:pt x="10261" y="87"/>
                  <a:pt x="10266" y="97"/>
                  <a:pt x="10271" y="107"/>
                </a:cubicBezTo>
                <a:cubicBezTo>
                  <a:pt x="10275" y="118"/>
                  <a:pt x="10278" y="129"/>
                  <a:pt x="10281" y="140"/>
                </a:cubicBezTo>
                <a:cubicBezTo>
                  <a:pt x="10283" y="151"/>
                  <a:pt x="10284" y="163"/>
                  <a:pt x="10284" y="174"/>
                </a:cubicBezTo>
                <a:lnTo>
                  <a:pt x="10284" y="1707"/>
                </a:lnTo>
                <a:cubicBezTo>
                  <a:pt x="10284" y="1719"/>
                  <a:pt x="10283" y="1730"/>
                  <a:pt x="10281" y="1741"/>
                </a:cubicBezTo>
                <a:cubicBezTo>
                  <a:pt x="10278" y="1752"/>
                  <a:pt x="10275" y="1763"/>
                  <a:pt x="10271" y="1774"/>
                </a:cubicBezTo>
                <a:cubicBezTo>
                  <a:pt x="10266" y="1784"/>
                  <a:pt x="10261" y="1794"/>
                  <a:pt x="10255" y="1804"/>
                </a:cubicBezTo>
                <a:cubicBezTo>
                  <a:pt x="10248" y="1813"/>
                  <a:pt x="10241" y="1822"/>
                  <a:pt x="10233" y="1830"/>
                </a:cubicBezTo>
                <a:cubicBezTo>
                  <a:pt x="10225" y="1838"/>
                  <a:pt x="10216" y="1846"/>
                  <a:pt x="10207" y="1852"/>
                </a:cubicBezTo>
                <a:cubicBezTo>
                  <a:pt x="10197" y="1858"/>
                  <a:pt x="10187" y="1864"/>
                  <a:pt x="10177" y="1868"/>
                </a:cubicBezTo>
                <a:cubicBezTo>
                  <a:pt x="10166" y="1872"/>
                  <a:pt x="10155" y="1876"/>
                  <a:pt x="10144" y="1878"/>
                </a:cubicBezTo>
                <a:cubicBezTo>
                  <a:pt x="10133" y="1880"/>
                  <a:pt x="10121" y="1881"/>
                  <a:pt x="10110" y="1881"/>
                </a:cubicBezTo>
                <a:lnTo>
                  <a:pt x="174" y="1881"/>
                </a:lnTo>
                <a:cubicBezTo>
                  <a:pt x="162" y="1881"/>
                  <a:pt x="151" y="1880"/>
                  <a:pt x="140" y="1878"/>
                </a:cubicBezTo>
                <a:cubicBezTo>
                  <a:pt x="129" y="1876"/>
                  <a:pt x="118" y="1872"/>
                  <a:pt x="107" y="1868"/>
                </a:cubicBezTo>
                <a:cubicBezTo>
                  <a:pt x="97" y="1864"/>
                  <a:pt x="87" y="1858"/>
                  <a:pt x="77" y="1852"/>
                </a:cubicBezTo>
                <a:cubicBezTo>
                  <a:pt x="68" y="1846"/>
                  <a:pt x="59" y="1838"/>
                  <a:pt x="51" y="1830"/>
                </a:cubicBezTo>
                <a:cubicBezTo>
                  <a:pt x="43" y="1822"/>
                  <a:pt x="35" y="1813"/>
                  <a:pt x="29" y="1804"/>
                </a:cubicBezTo>
                <a:cubicBezTo>
                  <a:pt x="23" y="1794"/>
                  <a:pt x="17" y="1784"/>
                  <a:pt x="13" y="1774"/>
                </a:cubicBezTo>
                <a:cubicBezTo>
                  <a:pt x="9" y="1763"/>
                  <a:pt x="5" y="1752"/>
                  <a:pt x="3" y="1741"/>
                </a:cubicBezTo>
                <a:cubicBezTo>
                  <a:pt x="1" y="1730"/>
                  <a:pt x="0" y="1719"/>
                  <a:pt x="0" y="170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104520" y="2628000"/>
            <a:ext cx="3702240" cy="677160"/>
          </a:xfrm>
          <a:custGeom>
            <a:avLst/>
            <a:gdLst/>
            <a:ahLst/>
            <a:rect l="0" t="0" r="r" b="b"/>
            <a:pathLst>
              <a:path fill="none" w="10284" h="1881">
                <a:moveTo>
                  <a:pt x="0" y="1707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7" y="97"/>
                  <a:pt x="23" y="87"/>
                  <a:pt x="29" y="77"/>
                </a:cubicBezTo>
                <a:cubicBezTo>
                  <a:pt x="35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2" y="0"/>
                  <a:pt x="174" y="0"/>
                </a:cubicBezTo>
                <a:lnTo>
                  <a:pt x="10110" y="0"/>
                </a:lnTo>
                <a:cubicBezTo>
                  <a:pt x="10121" y="0"/>
                  <a:pt x="10133" y="1"/>
                  <a:pt x="10144" y="3"/>
                </a:cubicBezTo>
                <a:cubicBezTo>
                  <a:pt x="10155" y="6"/>
                  <a:pt x="10166" y="9"/>
                  <a:pt x="10177" y="13"/>
                </a:cubicBezTo>
                <a:cubicBezTo>
                  <a:pt x="10187" y="18"/>
                  <a:pt x="10197" y="23"/>
                  <a:pt x="10207" y="29"/>
                </a:cubicBezTo>
                <a:cubicBezTo>
                  <a:pt x="10216" y="36"/>
                  <a:pt x="10225" y="43"/>
                  <a:pt x="10233" y="51"/>
                </a:cubicBezTo>
                <a:cubicBezTo>
                  <a:pt x="10241" y="59"/>
                  <a:pt x="10248" y="68"/>
                  <a:pt x="10255" y="77"/>
                </a:cubicBezTo>
                <a:cubicBezTo>
                  <a:pt x="10261" y="87"/>
                  <a:pt x="10266" y="97"/>
                  <a:pt x="10271" y="107"/>
                </a:cubicBezTo>
                <a:cubicBezTo>
                  <a:pt x="10275" y="118"/>
                  <a:pt x="10278" y="129"/>
                  <a:pt x="10281" y="140"/>
                </a:cubicBezTo>
                <a:cubicBezTo>
                  <a:pt x="10283" y="151"/>
                  <a:pt x="10284" y="163"/>
                  <a:pt x="10284" y="174"/>
                </a:cubicBezTo>
                <a:lnTo>
                  <a:pt x="10284" y="1707"/>
                </a:lnTo>
                <a:cubicBezTo>
                  <a:pt x="10284" y="1719"/>
                  <a:pt x="10283" y="1730"/>
                  <a:pt x="10281" y="1741"/>
                </a:cubicBezTo>
                <a:cubicBezTo>
                  <a:pt x="10278" y="1752"/>
                  <a:pt x="10275" y="1763"/>
                  <a:pt x="10271" y="1774"/>
                </a:cubicBezTo>
                <a:cubicBezTo>
                  <a:pt x="10266" y="1784"/>
                  <a:pt x="10261" y="1794"/>
                  <a:pt x="10255" y="1804"/>
                </a:cubicBezTo>
                <a:cubicBezTo>
                  <a:pt x="10248" y="1813"/>
                  <a:pt x="10241" y="1822"/>
                  <a:pt x="10233" y="1830"/>
                </a:cubicBezTo>
                <a:cubicBezTo>
                  <a:pt x="10225" y="1838"/>
                  <a:pt x="10216" y="1846"/>
                  <a:pt x="10207" y="1852"/>
                </a:cubicBezTo>
                <a:cubicBezTo>
                  <a:pt x="10197" y="1858"/>
                  <a:pt x="10187" y="1864"/>
                  <a:pt x="10177" y="1868"/>
                </a:cubicBezTo>
                <a:cubicBezTo>
                  <a:pt x="10166" y="1872"/>
                  <a:pt x="10155" y="1876"/>
                  <a:pt x="10144" y="1878"/>
                </a:cubicBezTo>
                <a:cubicBezTo>
                  <a:pt x="10133" y="1880"/>
                  <a:pt x="10121" y="1881"/>
                  <a:pt x="10110" y="1881"/>
                </a:cubicBezTo>
                <a:lnTo>
                  <a:pt x="174" y="1881"/>
                </a:lnTo>
                <a:cubicBezTo>
                  <a:pt x="162" y="1881"/>
                  <a:pt x="151" y="1880"/>
                  <a:pt x="140" y="1878"/>
                </a:cubicBezTo>
                <a:cubicBezTo>
                  <a:pt x="129" y="1876"/>
                  <a:pt x="118" y="1872"/>
                  <a:pt x="107" y="1868"/>
                </a:cubicBezTo>
                <a:cubicBezTo>
                  <a:pt x="97" y="1864"/>
                  <a:pt x="87" y="1858"/>
                  <a:pt x="77" y="1852"/>
                </a:cubicBezTo>
                <a:cubicBezTo>
                  <a:pt x="68" y="1846"/>
                  <a:pt x="59" y="1838"/>
                  <a:pt x="51" y="1830"/>
                </a:cubicBezTo>
                <a:cubicBezTo>
                  <a:pt x="43" y="1822"/>
                  <a:pt x="35" y="1813"/>
                  <a:pt x="29" y="1804"/>
                </a:cubicBezTo>
                <a:cubicBezTo>
                  <a:pt x="23" y="1794"/>
                  <a:pt x="17" y="1784"/>
                  <a:pt x="13" y="1774"/>
                </a:cubicBezTo>
                <a:cubicBezTo>
                  <a:pt x="9" y="1763"/>
                  <a:pt x="5" y="1752"/>
                  <a:pt x="3" y="1741"/>
                </a:cubicBezTo>
                <a:cubicBezTo>
                  <a:pt x="1" y="1730"/>
                  <a:pt x="0" y="1719"/>
                  <a:pt x="0" y="1707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4" name="" descr=""/>
          <p:cNvPicPr/>
          <p:nvPr/>
        </p:nvPicPr>
        <p:blipFill>
          <a:blip r:embed="rId9"/>
          <a:stretch/>
        </p:blipFill>
        <p:spPr>
          <a:xfrm>
            <a:off x="6944400" y="273276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5" name=""/>
          <p:cNvSpPr txBox="1"/>
          <p:nvPr/>
        </p:nvSpPr>
        <p:spPr>
          <a:xfrm>
            <a:off x="5833080" y="2324520"/>
            <a:ext cx="25488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微分により周波数差を算出して位相を補正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6" name="" descr=""/>
          <p:cNvPicPr/>
          <p:nvPr/>
        </p:nvPicPr>
        <p:blipFill>
          <a:blip r:embed="rId10"/>
          <a:stretch/>
        </p:blipFill>
        <p:spPr>
          <a:xfrm>
            <a:off x="7412400" y="28998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7" name="" descr=""/>
          <p:cNvPicPr/>
          <p:nvPr/>
        </p:nvPicPr>
        <p:blipFill>
          <a:blip r:embed="rId11"/>
          <a:stretch/>
        </p:blipFill>
        <p:spPr>
          <a:xfrm>
            <a:off x="7880400" y="2732760"/>
            <a:ext cx="150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"/>
          <p:cNvSpPr txBox="1"/>
          <p:nvPr/>
        </p:nvSpPr>
        <p:spPr>
          <a:xfrm>
            <a:off x="6810480" y="305856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直線近似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9" name="" descr=""/>
          <p:cNvPicPr/>
          <p:nvPr/>
        </p:nvPicPr>
        <p:blipFill>
          <a:blip r:embed="rId12"/>
          <a:stretch/>
        </p:blipFill>
        <p:spPr>
          <a:xfrm>
            <a:off x="8381880" y="28998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" descr=""/>
          <p:cNvPicPr/>
          <p:nvPr/>
        </p:nvPicPr>
        <p:blipFill>
          <a:blip r:embed="rId13"/>
          <a:stretch/>
        </p:blipFill>
        <p:spPr>
          <a:xfrm>
            <a:off x="8766000" y="273276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"/>
          <p:cNvSpPr txBox="1"/>
          <p:nvPr/>
        </p:nvSpPr>
        <p:spPr>
          <a:xfrm>
            <a:off x="7662960" y="3058560"/>
            <a:ext cx="587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最小二乗法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2" name="" descr=""/>
          <p:cNvPicPr/>
          <p:nvPr/>
        </p:nvPicPr>
        <p:blipFill>
          <a:blip r:embed="rId14"/>
          <a:stretch/>
        </p:blipFill>
        <p:spPr>
          <a:xfrm>
            <a:off x="442800" y="4086360"/>
            <a:ext cx="1666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"/>
          <p:cNvSpPr txBox="1"/>
          <p:nvPr/>
        </p:nvSpPr>
        <p:spPr>
          <a:xfrm>
            <a:off x="8632440" y="3058560"/>
            <a:ext cx="470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位相補正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086120" y="4386960"/>
            <a:ext cx="735840" cy="668880"/>
          </a:xfrm>
          <a:custGeom>
            <a:avLst/>
            <a:gdLst/>
            <a:ahLst/>
            <a:rect l="0" t="0" r="r" b="b"/>
            <a:pathLst>
              <a:path w="2044" h="1858">
                <a:moveTo>
                  <a:pt x="0" y="1672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6" y="55"/>
                </a:cubicBezTo>
                <a:cubicBezTo>
                  <a:pt x="64" y="46"/>
                  <a:pt x="74" y="38"/>
                  <a:pt x="84" y="32"/>
                </a:cubicBezTo>
                <a:cubicBezTo>
                  <a:pt x="94" y="25"/>
                  <a:pt x="105" y="19"/>
                  <a:pt x="116" y="14"/>
                </a:cubicBezTo>
                <a:cubicBezTo>
                  <a:pt x="127" y="10"/>
                  <a:pt x="139" y="6"/>
                  <a:pt x="151" y="4"/>
                </a:cubicBezTo>
                <a:cubicBezTo>
                  <a:pt x="163" y="2"/>
                  <a:pt x="175" y="0"/>
                  <a:pt x="187" y="0"/>
                </a:cubicBezTo>
                <a:lnTo>
                  <a:pt x="1858" y="0"/>
                </a:lnTo>
                <a:cubicBezTo>
                  <a:pt x="1870" y="0"/>
                  <a:pt x="1883" y="2"/>
                  <a:pt x="1894" y="4"/>
                </a:cubicBezTo>
                <a:cubicBezTo>
                  <a:pt x="1906" y="6"/>
                  <a:pt x="1918" y="10"/>
                  <a:pt x="1929" y="14"/>
                </a:cubicBezTo>
                <a:cubicBezTo>
                  <a:pt x="1941" y="19"/>
                  <a:pt x="1951" y="25"/>
                  <a:pt x="1961" y="32"/>
                </a:cubicBezTo>
                <a:cubicBezTo>
                  <a:pt x="1972" y="38"/>
                  <a:pt x="1981" y="46"/>
                  <a:pt x="1990" y="55"/>
                </a:cubicBezTo>
                <a:cubicBezTo>
                  <a:pt x="1998" y="63"/>
                  <a:pt x="2006" y="73"/>
                  <a:pt x="2013" y="83"/>
                </a:cubicBezTo>
                <a:cubicBezTo>
                  <a:pt x="2019" y="93"/>
                  <a:pt x="2025" y="104"/>
                  <a:pt x="2030" y="115"/>
                </a:cubicBezTo>
                <a:cubicBezTo>
                  <a:pt x="2034" y="126"/>
                  <a:pt x="2038" y="138"/>
                  <a:pt x="2040" y="150"/>
                </a:cubicBezTo>
                <a:cubicBezTo>
                  <a:pt x="2043" y="162"/>
                  <a:pt x="2044" y="174"/>
                  <a:pt x="2044" y="186"/>
                </a:cubicBezTo>
                <a:lnTo>
                  <a:pt x="2044" y="1672"/>
                </a:lnTo>
                <a:cubicBezTo>
                  <a:pt x="2044" y="1684"/>
                  <a:pt x="2043" y="1696"/>
                  <a:pt x="2040" y="1708"/>
                </a:cubicBezTo>
                <a:cubicBezTo>
                  <a:pt x="2038" y="1720"/>
                  <a:pt x="2034" y="1731"/>
                  <a:pt x="2030" y="1744"/>
                </a:cubicBezTo>
                <a:cubicBezTo>
                  <a:pt x="2025" y="1755"/>
                  <a:pt x="2019" y="1766"/>
                  <a:pt x="2013" y="1776"/>
                </a:cubicBezTo>
                <a:cubicBezTo>
                  <a:pt x="2006" y="1786"/>
                  <a:pt x="1998" y="1795"/>
                  <a:pt x="1990" y="1804"/>
                </a:cubicBezTo>
                <a:cubicBezTo>
                  <a:pt x="1981" y="1813"/>
                  <a:pt x="1972" y="1820"/>
                  <a:pt x="1961" y="1827"/>
                </a:cubicBezTo>
                <a:cubicBezTo>
                  <a:pt x="1951" y="1834"/>
                  <a:pt x="1941" y="1840"/>
                  <a:pt x="1929" y="1844"/>
                </a:cubicBezTo>
                <a:cubicBezTo>
                  <a:pt x="1918" y="1849"/>
                  <a:pt x="1906" y="1852"/>
                  <a:pt x="1894" y="1855"/>
                </a:cubicBezTo>
                <a:cubicBezTo>
                  <a:pt x="1883" y="1857"/>
                  <a:pt x="1870" y="1858"/>
                  <a:pt x="1858" y="1858"/>
                </a:cubicBezTo>
                <a:lnTo>
                  <a:pt x="187" y="1858"/>
                </a:lnTo>
                <a:cubicBezTo>
                  <a:pt x="175" y="1858"/>
                  <a:pt x="163" y="1857"/>
                  <a:pt x="151" y="1855"/>
                </a:cubicBezTo>
                <a:cubicBezTo>
                  <a:pt x="139" y="1852"/>
                  <a:pt x="127" y="1849"/>
                  <a:pt x="116" y="1844"/>
                </a:cubicBezTo>
                <a:cubicBezTo>
                  <a:pt x="105" y="1840"/>
                  <a:pt x="94" y="1834"/>
                  <a:pt x="84" y="1827"/>
                </a:cubicBezTo>
                <a:cubicBezTo>
                  <a:pt x="74" y="1820"/>
                  <a:pt x="64" y="1813"/>
                  <a:pt x="56" y="1804"/>
                </a:cubicBezTo>
                <a:cubicBezTo>
                  <a:pt x="46" y="1795"/>
                  <a:pt x="38" y="1786"/>
                  <a:pt x="31" y="1776"/>
                </a:cubicBezTo>
                <a:cubicBezTo>
                  <a:pt x="25" y="1766"/>
                  <a:pt x="19" y="1755"/>
                  <a:pt x="14" y="1744"/>
                </a:cubicBezTo>
                <a:cubicBezTo>
                  <a:pt x="10" y="1731"/>
                  <a:pt x="6" y="1720"/>
                  <a:pt x="4" y="1708"/>
                </a:cubicBezTo>
                <a:cubicBezTo>
                  <a:pt x="1" y="1696"/>
                  <a:pt x="0" y="1684"/>
                  <a:pt x="0" y="1672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5" name="" descr=""/>
          <p:cNvPicPr/>
          <p:nvPr/>
        </p:nvPicPr>
        <p:blipFill>
          <a:blip r:embed="rId15"/>
          <a:stretch/>
        </p:blipFill>
        <p:spPr>
          <a:xfrm>
            <a:off x="1328760" y="4487400"/>
            <a:ext cx="25020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"/>
          <p:cNvSpPr txBox="1"/>
          <p:nvPr/>
        </p:nvSpPr>
        <p:spPr>
          <a:xfrm>
            <a:off x="676800" y="4081680"/>
            <a:ext cx="11743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統合のメリット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022120" y="4386960"/>
            <a:ext cx="685800" cy="668880"/>
          </a:xfrm>
          <a:custGeom>
            <a:avLst/>
            <a:gdLst/>
            <a:ahLst/>
            <a:rect l="0" t="0" r="r" b="b"/>
            <a:pathLst>
              <a:path w="1905" h="1858">
                <a:moveTo>
                  <a:pt x="0" y="1672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1" y="2"/>
                  <a:pt x="174" y="0"/>
                  <a:pt x="186" y="0"/>
                </a:cubicBezTo>
                <a:lnTo>
                  <a:pt x="1719" y="0"/>
                </a:lnTo>
                <a:cubicBezTo>
                  <a:pt x="1731" y="0"/>
                  <a:pt x="1743" y="2"/>
                  <a:pt x="1755" y="4"/>
                </a:cubicBezTo>
                <a:cubicBezTo>
                  <a:pt x="1767" y="6"/>
                  <a:pt x="1779" y="10"/>
                  <a:pt x="1790" y="14"/>
                </a:cubicBezTo>
                <a:cubicBezTo>
                  <a:pt x="1801" y="19"/>
                  <a:pt x="1812" y="25"/>
                  <a:pt x="1822" y="32"/>
                </a:cubicBezTo>
                <a:cubicBezTo>
                  <a:pt x="1832" y="38"/>
                  <a:pt x="1842" y="46"/>
                  <a:pt x="1850" y="55"/>
                </a:cubicBezTo>
                <a:cubicBezTo>
                  <a:pt x="1859" y="63"/>
                  <a:pt x="1866" y="73"/>
                  <a:pt x="1873" y="83"/>
                </a:cubicBezTo>
                <a:cubicBezTo>
                  <a:pt x="1880" y="93"/>
                  <a:pt x="1886" y="104"/>
                  <a:pt x="1890" y="115"/>
                </a:cubicBezTo>
                <a:cubicBezTo>
                  <a:pt x="1895" y="126"/>
                  <a:pt x="1899" y="138"/>
                  <a:pt x="1901" y="150"/>
                </a:cubicBezTo>
                <a:cubicBezTo>
                  <a:pt x="1903" y="162"/>
                  <a:pt x="1905" y="174"/>
                  <a:pt x="1905" y="186"/>
                </a:cubicBezTo>
                <a:lnTo>
                  <a:pt x="1905" y="1672"/>
                </a:lnTo>
                <a:cubicBezTo>
                  <a:pt x="1905" y="1684"/>
                  <a:pt x="1903" y="1696"/>
                  <a:pt x="1901" y="1708"/>
                </a:cubicBezTo>
                <a:cubicBezTo>
                  <a:pt x="1899" y="1720"/>
                  <a:pt x="1895" y="1731"/>
                  <a:pt x="1890" y="1744"/>
                </a:cubicBezTo>
                <a:cubicBezTo>
                  <a:pt x="1886" y="1755"/>
                  <a:pt x="1880" y="1766"/>
                  <a:pt x="1873" y="1776"/>
                </a:cubicBezTo>
                <a:cubicBezTo>
                  <a:pt x="1866" y="1786"/>
                  <a:pt x="1859" y="1795"/>
                  <a:pt x="1850" y="1804"/>
                </a:cubicBezTo>
                <a:cubicBezTo>
                  <a:pt x="1842" y="1813"/>
                  <a:pt x="1832" y="1820"/>
                  <a:pt x="1822" y="1827"/>
                </a:cubicBezTo>
                <a:cubicBezTo>
                  <a:pt x="1812" y="1834"/>
                  <a:pt x="1801" y="1840"/>
                  <a:pt x="1790" y="1844"/>
                </a:cubicBezTo>
                <a:cubicBezTo>
                  <a:pt x="1779" y="1849"/>
                  <a:pt x="1767" y="1852"/>
                  <a:pt x="1755" y="1855"/>
                </a:cubicBezTo>
                <a:cubicBezTo>
                  <a:pt x="1743" y="1857"/>
                  <a:pt x="1731" y="1858"/>
                  <a:pt x="1719" y="1858"/>
                </a:cubicBezTo>
                <a:lnTo>
                  <a:pt x="186" y="1858"/>
                </a:lnTo>
                <a:cubicBezTo>
                  <a:pt x="174" y="1858"/>
                  <a:pt x="161" y="1857"/>
                  <a:pt x="150" y="1855"/>
                </a:cubicBezTo>
                <a:cubicBezTo>
                  <a:pt x="138" y="1852"/>
                  <a:pt x="126" y="1849"/>
                  <a:pt x="115" y="1844"/>
                </a:cubicBezTo>
                <a:cubicBezTo>
                  <a:pt x="103" y="1840"/>
                  <a:pt x="93" y="1834"/>
                  <a:pt x="83" y="1827"/>
                </a:cubicBezTo>
                <a:cubicBezTo>
                  <a:pt x="72" y="1820"/>
                  <a:pt x="63" y="1813"/>
                  <a:pt x="54" y="1804"/>
                </a:cubicBezTo>
                <a:cubicBezTo>
                  <a:pt x="46" y="1795"/>
                  <a:pt x="38" y="1786"/>
                  <a:pt x="31" y="1776"/>
                </a:cubicBezTo>
                <a:cubicBezTo>
                  <a:pt x="25" y="1766"/>
                  <a:pt x="19" y="1755"/>
                  <a:pt x="14" y="1744"/>
                </a:cubicBezTo>
                <a:cubicBezTo>
                  <a:pt x="10" y="1731"/>
                  <a:pt x="6" y="1720"/>
                  <a:pt x="4" y="1708"/>
                </a:cubicBezTo>
                <a:cubicBezTo>
                  <a:pt x="1" y="1696"/>
                  <a:pt x="0" y="1684"/>
                  <a:pt x="0" y="1672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8" name="" descr=""/>
          <p:cNvPicPr/>
          <p:nvPr/>
        </p:nvPicPr>
        <p:blipFill>
          <a:blip r:embed="rId16"/>
          <a:stretch/>
        </p:blipFill>
        <p:spPr>
          <a:xfrm>
            <a:off x="2256480" y="4487400"/>
            <a:ext cx="2253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9" name=""/>
          <p:cNvSpPr txBox="1"/>
          <p:nvPr/>
        </p:nvSpPr>
        <p:spPr>
          <a:xfrm>
            <a:off x="1186560" y="4813560"/>
            <a:ext cx="577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専用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2122560" y="4813560"/>
            <a:ext cx="536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専用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1" name="" descr=""/>
          <p:cNvPicPr/>
          <p:nvPr/>
        </p:nvPicPr>
        <p:blipFill>
          <a:blip r:embed="rId17"/>
          <a:stretch/>
        </p:blipFill>
        <p:spPr>
          <a:xfrm>
            <a:off x="4128120" y="4671360"/>
            <a:ext cx="3006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"/>
          <p:cNvSpPr/>
          <p:nvPr/>
        </p:nvSpPr>
        <p:spPr>
          <a:xfrm>
            <a:off x="5857920" y="4445640"/>
            <a:ext cx="986400" cy="718920"/>
          </a:xfrm>
          <a:custGeom>
            <a:avLst/>
            <a:gdLst/>
            <a:ahLst/>
            <a:rect l="0" t="0" r="r" b="b"/>
            <a:pathLst>
              <a:path w="2740" h="1997">
                <a:moveTo>
                  <a:pt x="0" y="1835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lnTo>
                  <a:pt x="2578" y="0"/>
                </a:lnTo>
                <a:cubicBezTo>
                  <a:pt x="2588" y="0"/>
                  <a:pt x="2599" y="1"/>
                  <a:pt x="2609" y="3"/>
                </a:cubicBezTo>
                <a:cubicBezTo>
                  <a:pt x="2620" y="5"/>
                  <a:pt x="2630" y="8"/>
                  <a:pt x="2640" y="12"/>
                </a:cubicBezTo>
                <a:cubicBezTo>
                  <a:pt x="2650" y="16"/>
                  <a:pt x="2659" y="21"/>
                  <a:pt x="2668" y="27"/>
                </a:cubicBezTo>
                <a:cubicBezTo>
                  <a:pt x="2677" y="33"/>
                  <a:pt x="2685" y="40"/>
                  <a:pt x="2692" y="47"/>
                </a:cubicBezTo>
                <a:cubicBezTo>
                  <a:pt x="2700" y="55"/>
                  <a:pt x="2707" y="63"/>
                  <a:pt x="2713" y="72"/>
                </a:cubicBezTo>
                <a:cubicBezTo>
                  <a:pt x="2719" y="81"/>
                  <a:pt x="2724" y="90"/>
                  <a:pt x="2728" y="100"/>
                </a:cubicBezTo>
                <a:cubicBezTo>
                  <a:pt x="2732" y="110"/>
                  <a:pt x="2735" y="120"/>
                  <a:pt x="2737" y="131"/>
                </a:cubicBezTo>
                <a:cubicBezTo>
                  <a:pt x="2739" y="141"/>
                  <a:pt x="2740" y="152"/>
                  <a:pt x="2740" y="162"/>
                </a:cubicBezTo>
                <a:lnTo>
                  <a:pt x="2740" y="1835"/>
                </a:lnTo>
                <a:cubicBezTo>
                  <a:pt x="2740" y="1845"/>
                  <a:pt x="2739" y="1856"/>
                  <a:pt x="2737" y="1866"/>
                </a:cubicBezTo>
                <a:cubicBezTo>
                  <a:pt x="2735" y="1877"/>
                  <a:pt x="2732" y="1887"/>
                  <a:pt x="2728" y="1897"/>
                </a:cubicBezTo>
                <a:cubicBezTo>
                  <a:pt x="2724" y="1907"/>
                  <a:pt x="2719" y="1916"/>
                  <a:pt x="2713" y="1925"/>
                </a:cubicBezTo>
                <a:cubicBezTo>
                  <a:pt x="2707" y="1934"/>
                  <a:pt x="2700" y="1942"/>
                  <a:pt x="2692" y="1950"/>
                </a:cubicBezTo>
                <a:cubicBezTo>
                  <a:pt x="2685" y="1957"/>
                  <a:pt x="2677" y="1964"/>
                  <a:pt x="2668" y="1970"/>
                </a:cubicBezTo>
                <a:cubicBezTo>
                  <a:pt x="2659" y="1976"/>
                  <a:pt x="2650" y="1981"/>
                  <a:pt x="2640" y="1985"/>
                </a:cubicBezTo>
                <a:cubicBezTo>
                  <a:pt x="2630" y="1989"/>
                  <a:pt x="2620" y="1992"/>
                  <a:pt x="2609" y="1994"/>
                </a:cubicBezTo>
                <a:cubicBezTo>
                  <a:pt x="2599" y="1996"/>
                  <a:pt x="2588" y="1997"/>
                  <a:pt x="2578" y="1997"/>
                </a:cubicBezTo>
                <a:lnTo>
                  <a:pt x="162" y="1997"/>
                </a:lnTo>
                <a:cubicBezTo>
                  <a:pt x="152" y="1997"/>
                  <a:pt x="141" y="1996"/>
                  <a:pt x="131" y="1994"/>
                </a:cubicBezTo>
                <a:cubicBezTo>
                  <a:pt x="120" y="1992"/>
                  <a:pt x="110" y="1989"/>
                  <a:pt x="100" y="1985"/>
                </a:cubicBezTo>
                <a:cubicBezTo>
                  <a:pt x="90" y="1981"/>
                  <a:pt x="81" y="1976"/>
                  <a:pt x="72" y="1970"/>
                </a:cubicBezTo>
                <a:cubicBezTo>
                  <a:pt x="63" y="1964"/>
                  <a:pt x="55" y="1957"/>
                  <a:pt x="47" y="1950"/>
                </a:cubicBezTo>
                <a:cubicBezTo>
                  <a:pt x="40" y="1942"/>
                  <a:pt x="33" y="1934"/>
                  <a:pt x="27" y="1925"/>
                </a:cubicBezTo>
                <a:cubicBezTo>
                  <a:pt x="21" y="1916"/>
                  <a:pt x="16" y="1907"/>
                  <a:pt x="12" y="1897"/>
                </a:cubicBezTo>
                <a:cubicBezTo>
                  <a:pt x="8" y="1887"/>
                  <a:pt x="5" y="1877"/>
                  <a:pt x="3" y="1866"/>
                </a:cubicBezTo>
                <a:cubicBezTo>
                  <a:pt x="1" y="1856"/>
                  <a:pt x="0" y="1845"/>
                  <a:pt x="0" y="1835"/>
                </a:cubicBezTo>
                <a:close/>
              </a:path>
            </a:pathLst>
          </a:custGeom>
          <a:solidFill>
            <a:srgbClr val="000080">
              <a:alpha val="1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857920" y="4445640"/>
            <a:ext cx="986400" cy="718920"/>
          </a:xfrm>
          <a:custGeom>
            <a:avLst/>
            <a:gdLst/>
            <a:ahLst/>
            <a:rect l="0" t="0" r="r" b="b"/>
            <a:pathLst>
              <a:path fill="none" w="2740" h="1997">
                <a:moveTo>
                  <a:pt x="0" y="1835"/>
                </a:moveTo>
                <a:lnTo>
                  <a:pt x="0" y="162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1" y="3"/>
                </a:cubicBezTo>
                <a:cubicBezTo>
                  <a:pt x="141" y="1"/>
                  <a:pt x="152" y="0"/>
                  <a:pt x="162" y="0"/>
                </a:cubicBezTo>
                <a:lnTo>
                  <a:pt x="2578" y="0"/>
                </a:lnTo>
                <a:cubicBezTo>
                  <a:pt x="2588" y="0"/>
                  <a:pt x="2599" y="1"/>
                  <a:pt x="2609" y="3"/>
                </a:cubicBezTo>
                <a:cubicBezTo>
                  <a:pt x="2620" y="5"/>
                  <a:pt x="2630" y="8"/>
                  <a:pt x="2640" y="12"/>
                </a:cubicBezTo>
                <a:cubicBezTo>
                  <a:pt x="2650" y="16"/>
                  <a:pt x="2659" y="21"/>
                  <a:pt x="2668" y="27"/>
                </a:cubicBezTo>
                <a:cubicBezTo>
                  <a:pt x="2677" y="33"/>
                  <a:pt x="2685" y="40"/>
                  <a:pt x="2692" y="47"/>
                </a:cubicBezTo>
                <a:cubicBezTo>
                  <a:pt x="2700" y="55"/>
                  <a:pt x="2707" y="63"/>
                  <a:pt x="2713" y="72"/>
                </a:cubicBezTo>
                <a:cubicBezTo>
                  <a:pt x="2719" y="81"/>
                  <a:pt x="2724" y="90"/>
                  <a:pt x="2728" y="100"/>
                </a:cubicBezTo>
                <a:cubicBezTo>
                  <a:pt x="2732" y="110"/>
                  <a:pt x="2735" y="120"/>
                  <a:pt x="2737" y="131"/>
                </a:cubicBezTo>
                <a:cubicBezTo>
                  <a:pt x="2739" y="141"/>
                  <a:pt x="2740" y="152"/>
                  <a:pt x="2740" y="162"/>
                </a:cubicBezTo>
                <a:lnTo>
                  <a:pt x="2740" y="1835"/>
                </a:lnTo>
                <a:cubicBezTo>
                  <a:pt x="2740" y="1845"/>
                  <a:pt x="2739" y="1856"/>
                  <a:pt x="2737" y="1866"/>
                </a:cubicBezTo>
                <a:cubicBezTo>
                  <a:pt x="2735" y="1877"/>
                  <a:pt x="2732" y="1887"/>
                  <a:pt x="2728" y="1897"/>
                </a:cubicBezTo>
                <a:cubicBezTo>
                  <a:pt x="2724" y="1907"/>
                  <a:pt x="2719" y="1916"/>
                  <a:pt x="2713" y="1925"/>
                </a:cubicBezTo>
                <a:cubicBezTo>
                  <a:pt x="2707" y="1934"/>
                  <a:pt x="2700" y="1942"/>
                  <a:pt x="2692" y="1950"/>
                </a:cubicBezTo>
                <a:cubicBezTo>
                  <a:pt x="2685" y="1957"/>
                  <a:pt x="2677" y="1964"/>
                  <a:pt x="2668" y="1970"/>
                </a:cubicBezTo>
                <a:cubicBezTo>
                  <a:pt x="2659" y="1976"/>
                  <a:pt x="2650" y="1981"/>
                  <a:pt x="2640" y="1985"/>
                </a:cubicBezTo>
                <a:cubicBezTo>
                  <a:pt x="2630" y="1989"/>
                  <a:pt x="2620" y="1992"/>
                  <a:pt x="2609" y="1994"/>
                </a:cubicBezTo>
                <a:cubicBezTo>
                  <a:pt x="2599" y="1996"/>
                  <a:pt x="2588" y="1997"/>
                  <a:pt x="2578" y="1997"/>
                </a:cubicBezTo>
                <a:lnTo>
                  <a:pt x="162" y="1997"/>
                </a:lnTo>
                <a:cubicBezTo>
                  <a:pt x="152" y="1997"/>
                  <a:pt x="141" y="1996"/>
                  <a:pt x="131" y="1994"/>
                </a:cubicBezTo>
                <a:cubicBezTo>
                  <a:pt x="120" y="1992"/>
                  <a:pt x="110" y="1989"/>
                  <a:pt x="100" y="1985"/>
                </a:cubicBezTo>
                <a:cubicBezTo>
                  <a:pt x="90" y="1981"/>
                  <a:pt x="81" y="1976"/>
                  <a:pt x="72" y="1970"/>
                </a:cubicBezTo>
                <a:cubicBezTo>
                  <a:pt x="63" y="1964"/>
                  <a:pt x="55" y="1957"/>
                  <a:pt x="47" y="1950"/>
                </a:cubicBezTo>
                <a:cubicBezTo>
                  <a:pt x="40" y="1942"/>
                  <a:pt x="33" y="1934"/>
                  <a:pt x="27" y="1925"/>
                </a:cubicBezTo>
                <a:cubicBezTo>
                  <a:pt x="21" y="1916"/>
                  <a:pt x="16" y="1907"/>
                  <a:pt x="12" y="1897"/>
                </a:cubicBezTo>
                <a:cubicBezTo>
                  <a:pt x="8" y="1887"/>
                  <a:pt x="5" y="1877"/>
                  <a:pt x="3" y="1866"/>
                </a:cubicBezTo>
                <a:cubicBezTo>
                  <a:pt x="1" y="1856"/>
                  <a:pt x="0" y="1845"/>
                  <a:pt x="0" y="1835"/>
                </a:cubicBezTo>
              </a:path>
            </a:pathLst>
          </a:custGeom>
          <a:ln w="16560">
            <a:solidFill>
              <a:srgbClr val="000080"/>
            </a:solidFill>
            <a:miter/>
          </a:ln>
        </p:spPr>
        <p:txBody>
          <a:bodyPr lIns="8280" rIns="8280" tIns="8280" bIns="82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4" name="" descr=""/>
          <p:cNvPicPr/>
          <p:nvPr/>
        </p:nvPicPr>
        <p:blipFill>
          <a:blip r:embed="rId18"/>
          <a:stretch/>
        </p:blipFill>
        <p:spPr>
          <a:xfrm>
            <a:off x="6041880" y="4587840"/>
            <a:ext cx="20844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"/>
          <p:cNvSpPr txBox="1"/>
          <p:nvPr/>
        </p:nvSpPr>
        <p:spPr>
          <a:xfrm>
            <a:off x="1487520" y="5147640"/>
            <a:ext cx="822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別々のシステム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6" name="" descr=""/>
          <p:cNvPicPr/>
          <p:nvPr/>
        </p:nvPicPr>
        <p:blipFill>
          <a:blip r:embed="rId19"/>
          <a:stretch/>
        </p:blipFill>
        <p:spPr>
          <a:xfrm>
            <a:off x="6476400" y="4587840"/>
            <a:ext cx="1918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7" name=""/>
          <p:cNvSpPr txBox="1"/>
          <p:nvPr/>
        </p:nvSpPr>
        <p:spPr>
          <a:xfrm>
            <a:off x="6313320" y="4632120"/>
            <a:ext cx="1501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+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8" name="" descr=""/>
          <p:cNvPicPr/>
          <p:nvPr/>
        </p:nvPicPr>
        <p:blipFill>
          <a:blip r:embed="rId20"/>
          <a:stretch/>
        </p:blipFill>
        <p:spPr>
          <a:xfrm>
            <a:off x="8340120" y="4504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"/>
          <p:cNvSpPr txBox="1"/>
          <p:nvPr/>
        </p:nvSpPr>
        <p:spPr>
          <a:xfrm>
            <a:off x="6000120" y="4880520"/>
            <a:ext cx="70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統合システム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0" name="" descr=""/>
          <p:cNvPicPr/>
          <p:nvPr/>
        </p:nvPicPr>
        <p:blipFill>
          <a:blip r:embed="rId21"/>
          <a:stretch/>
        </p:blipFill>
        <p:spPr>
          <a:xfrm>
            <a:off x="8340120" y="47718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1" name=""/>
          <p:cNvSpPr txBox="1"/>
          <p:nvPr/>
        </p:nvSpPr>
        <p:spPr>
          <a:xfrm>
            <a:off x="8540640" y="450540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システムの簡素化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2" name="" descr=""/>
          <p:cNvPicPr/>
          <p:nvPr/>
        </p:nvPicPr>
        <p:blipFill>
          <a:blip r:embed="rId22"/>
          <a:stretch/>
        </p:blipFill>
        <p:spPr>
          <a:xfrm>
            <a:off x="8340120" y="50389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"/>
          <p:cNvSpPr txBox="1"/>
          <p:nvPr/>
        </p:nvSpPr>
        <p:spPr>
          <a:xfrm>
            <a:off x="8540640" y="4772880"/>
            <a:ext cx="67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コスト削減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8540640" y="5040360"/>
            <a:ext cx="9396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運用効率の向上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8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>
            <a:off x="0" y="0"/>
            <a:ext cx="10696680" cy="6017040"/>
          </a:xfrm>
          <a:custGeom>
            <a:avLst/>
            <a:gdLst/>
            <a:ahLst/>
            <a:rect l="0" t="0" r="r" b="b"/>
            <a:pathLst>
              <a:path w="29713" h="16714">
                <a:moveTo>
                  <a:pt x="0" y="0"/>
                </a:moveTo>
                <a:lnTo>
                  <a:pt x="29713" y="0"/>
                </a:lnTo>
                <a:lnTo>
                  <a:pt x="29713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8" name=""/>
          <p:cNvSpPr/>
          <p:nvPr/>
        </p:nvSpPr>
        <p:spPr>
          <a:xfrm>
            <a:off x="200520" y="869040"/>
            <a:ext cx="4947480" cy="3342960"/>
          </a:xfrm>
          <a:custGeom>
            <a:avLst/>
            <a:gdLst/>
            <a:ahLst/>
            <a:rect l="0" t="0" r="r" b="b"/>
            <a:pathLst>
              <a:path w="13743" h="9286">
                <a:moveTo>
                  <a:pt x="0" y="9100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3557" y="0"/>
                </a:lnTo>
                <a:cubicBezTo>
                  <a:pt x="13569" y="0"/>
                  <a:pt x="13581" y="1"/>
                  <a:pt x="13593" y="3"/>
                </a:cubicBezTo>
                <a:cubicBezTo>
                  <a:pt x="13605" y="6"/>
                  <a:pt x="13617" y="9"/>
                  <a:pt x="13628" y="14"/>
                </a:cubicBezTo>
                <a:cubicBezTo>
                  <a:pt x="13639" y="18"/>
                  <a:pt x="13650" y="24"/>
                  <a:pt x="13660" y="31"/>
                </a:cubicBezTo>
                <a:cubicBezTo>
                  <a:pt x="13670" y="38"/>
                  <a:pt x="13680" y="45"/>
                  <a:pt x="13688" y="54"/>
                </a:cubicBezTo>
                <a:cubicBezTo>
                  <a:pt x="13697" y="63"/>
                  <a:pt x="13705" y="72"/>
                  <a:pt x="13711" y="82"/>
                </a:cubicBezTo>
                <a:cubicBezTo>
                  <a:pt x="13718" y="92"/>
                  <a:pt x="13724" y="103"/>
                  <a:pt x="13729" y="114"/>
                </a:cubicBezTo>
                <a:cubicBezTo>
                  <a:pt x="13733" y="126"/>
                  <a:pt x="13737" y="137"/>
                  <a:pt x="13739" y="149"/>
                </a:cubicBezTo>
                <a:cubicBezTo>
                  <a:pt x="13742" y="161"/>
                  <a:pt x="13743" y="173"/>
                  <a:pt x="13743" y="185"/>
                </a:cubicBezTo>
                <a:lnTo>
                  <a:pt x="13743" y="9100"/>
                </a:lnTo>
                <a:cubicBezTo>
                  <a:pt x="13743" y="9112"/>
                  <a:pt x="13742" y="9124"/>
                  <a:pt x="13739" y="9136"/>
                </a:cubicBezTo>
                <a:cubicBezTo>
                  <a:pt x="13737" y="9148"/>
                  <a:pt x="13733" y="9160"/>
                  <a:pt x="13729" y="9171"/>
                </a:cubicBezTo>
                <a:cubicBezTo>
                  <a:pt x="13724" y="9183"/>
                  <a:pt x="13718" y="9193"/>
                  <a:pt x="13711" y="9203"/>
                </a:cubicBezTo>
                <a:cubicBezTo>
                  <a:pt x="13705" y="9213"/>
                  <a:pt x="13697" y="9223"/>
                  <a:pt x="13688" y="9231"/>
                </a:cubicBezTo>
                <a:cubicBezTo>
                  <a:pt x="13680" y="9240"/>
                  <a:pt x="13670" y="9248"/>
                  <a:pt x="13660" y="9255"/>
                </a:cubicBezTo>
                <a:cubicBezTo>
                  <a:pt x="13650" y="9261"/>
                  <a:pt x="13639" y="9267"/>
                  <a:pt x="13628" y="9272"/>
                </a:cubicBezTo>
                <a:cubicBezTo>
                  <a:pt x="13617" y="9276"/>
                  <a:pt x="13605" y="9280"/>
                  <a:pt x="13593" y="9282"/>
                </a:cubicBezTo>
                <a:cubicBezTo>
                  <a:pt x="13581" y="9285"/>
                  <a:pt x="13569" y="9286"/>
                  <a:pt x="13557" y="9286"/>
                </a:cubicBezTo>
                <a:lnTo>
                  <a:pt x="185" y="9286"/>
                </a:lnTo>
                <a:cubicBezTo>
                  <a:pt x="173" y="9286"/>
                  <a:pt x="161" y="9285"/>
                  <a:pt x="149" y="9282"/>
                </a:cubicBezTo>
                <a:cubicBezTo>
                  <a:pt x="137" y="9280"/>
                  <a:pt x="126" y="9276"/>
                  <a:pt x="114" y="9272"/>
                </a:cubicBezTo>
                <a:cubicBezTo>
                  <a:pt x="103" y="9267"/>
                  <a:pt x="92" y="9261"/>
                  <a:pt x="82" y="9255"/>
                </a:cubicBezTo>
                <a:cubicBezTo>
                  <a:pt x="72" y="9248"/>
                  <a:pt x="63" y="9240"/>
                  <a:pt x="54" y="9231"/>
                </a:cubicBezTo>
                <a:cubicBezTo>
                  <a:pt x="45" y="9223"/>
                  <a:pt x="38" y="9213"/>
                  <a:pt x="31" y="9203"/>
                </a:cubicBezTo>
                <a:cubicBezTo>
                  <a:pt x="24" y="9193"/>
                  <a:pt x="18" y="9183"/>
                  <a:pt x="14" y="9171"/>
                </a:cubicBezTo>
                <a:cubicBezTo>
                  <a:pt x="9" y="9160"/>
                  <a:pt x="6" y="9148"/>
                  <a:pt x="3" y="9136"/>
                </a:cubicBezTo>
                <a:cubicBezTo>
                  <a:pt x="1" y="9124"/>
                  <a:pt x="0" y="9112"/>
                  <a:pt x="0" y="91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34440" y="210240"/>
            <a:ext cx="10065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実験条件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" name="" descr=""/>
          <p:cNvPicPr/>
          <p:nvPr/>
        </p:nvPicPr>
        <p:blipFill>
          <a:blip r:embed="rId2"/>
          <a:stretch/>
        </p:blipFill>
        <p:spPr>
          <a:xfrm>
            <a:off x="417960" y="147924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1" name=""/>
          <p:cNvSpPr txBox="1"/>
          <p:nvPr/>
        </p:nvSpPr>
        <p:spPr>
          <a:xfrm>
            <a:off x="401040" y="1098360"/>
            <a:ext cx="199764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変調信号の生成条件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2" name="" descr=""/>
          <p:cNvPicPr/>
          <p:nvPr/>
        </p:nvPicPr>
        <p:blipFill>
          <a:blip r:embed="rId3"/>
          <a:stretch/>
        </p:blipFill>
        <p:spPr>
          <a:xfrm>
            <a:off x="451440" y="1779840"/>
            <a:ext cx="10836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"/>
          <p:cNvSpPr txBox="1"/>
          <p:nvPr/>
        </p:nvSpPr>
        <p:spPr>
          <a:xfrm>
            <a:off x="702000" y="1472040"/>
            <a:ext cx="16423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シンボルレート：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25 MHz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4" name="" descr=""/>
          <p:cNvPicPr/>
          <p:nvPr/>
        </p:nvPicPr>
        <p:blipFill>
          <a:blip r:embed="rId4"/>
          <a:stretch/>
        </p:blipFill>
        <p:spPr>
          <a:xfrm>
            <a:off x="426240" y="208080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"/>
          <p:cNvSpPr txBox="1"/>
          <p:nvPr/>
        </p:nvSpPr>
        <p:spPr>
          <a:xfrm>
            <a:off x="702000" y="1773000"/>
            <a:ext cx="13914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ロールオフ率：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0.5 %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6" name="" descr=""/>
          <p:cNvPicPr/>
          <p:nvPr/>
        </p:nvPicPr>
        <p:blipFill>
          <a:blip r:embed="rId5"/>
          <a:stretch/>
        </p:blipFill>
        <p:spPr>
          <a:xfrm>
            <a:off x="417960" y="238176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7" name=""/>
          <p:cNvSpPr txBox="1"/>
          <p:nvPr/>
        </p:nvSpPr>
        <p:spPr>
          <a:xfrm>
            <a:off x="702000" y="2073600"/>
            <a:ext cx="1630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キャリア周波数：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28 GHz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702000" y="2374560"/>
            <a:ext cx="1910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サンプリングレート：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25 MHz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9" name="" descr=""/>
          <p:cNvPicPr/>
          <p:nvPr/>
        </p:nvPicPr>
        <p:blipFill>
          <a:blip r:embed="rId6"/>
          <a:stretch/>
        </p:blipFill>
        <p:spPr>
          <a:xfrm>
            <a:off x="434520" y="3150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0" name=""/>
          <p:cNvSpPr txBox="1"/>
          <p:nvPr/>
        </p:nvSpPr>
        <p:spPr>
          <a:xfrm>
            <a:off x="401040" y="2769840"/>
            <a:ext cx="6714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使用機器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1" name="" descr=""/>
          <p:cNvPicPr/>
          <p:nvPr/>
        </p:nvPicPr>
        <p:blipFill>
          <a:blip r:embed="rId7"/>
          <a:stretch/>
        </p:blipFill>
        <p:spPr>
          <a:xfrm>
            <a:off x="434520" y="34513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"/>
          <p:cNvSpPr txBox="1"/>
          <p:nvPr/>
        </p:nvSpPr>
        <p:spPr>
          <a:xfrm>
            <a:off x="702000" y="3143520"/>
            <a:ext cx="20631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ベクトル信号発生器： 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MG3700A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3" name="" descr=""/>
          <p:cNvPicPr/>
          <p:nvPr/>
        </p:nvPicPr>
        <p:blipFill>
          <a:blip r:embed="rId8"/>
          <a:stretch/>
        </p:blipFill>
        <p:spPr>
          <a:xfrm>
            <a:off x="426240" y="3752280"/>
            <a:ext cx="15012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4" name=""/>
          <p:cNvSpPr txBox="1"/>
          <p:nvPr/>
        </p:nvSpPr>
        <p:spPr>
          <a:xfrm>
            <a:off x="702000" y="3444120"/>
            <a:ext cx="19173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IQ</a:t>
            </a:r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変調器： 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EVAL-ADMV1013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348160" y="869040"/>
            <a:ext cx="5148000" cy="4554720"/>
          </a:xfrm>
          <a:custGeom>
            <a:avLst/>
            <a:gdLst/>
            <a:ahLst/>
            <a:rect l="0" t="0" r="r" b="b"/>
            <a:pathLst>
              <a:path w="14300" h="12652">
                <a:moveTo>
                  <a:pt x="0" y="12466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4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4114" y="0"/>
                </a:lnTo>
                <a:cubicBezTo>
                  <a:pt x="14127" y="0"/>
                  <a:pt x="14139" y="1"/>
                  <a:pt x="14151" y="3"/>
                </a:cubicBezTo>
                <a:cubicBezTo>
                  <a:pt x="14163" y="6"/>
                  <a:pt x="14174" y="9"/>
                  <a:pt x="14185" y="14"/>
                </a:cubicBezTo>
                <a:cubicBezTo>
                  <a:pt x="14197" y="18"/>
                  <a:pt x="14207" y="24"/>
                  <a:pt x="14218" y="31"/>
                </a:cubicBezTo>
                <a:cubicBezTo>
                  <a:pt x="14228" y="38"/>
                  <a:pt x="14237" y="45"/>
                  <a:pt x="14246" y="54"/>
                </a:cubicBezTo>
                <a:cubicBezTo>
                  <a:pt x="14254" y="63"/>
                  <a:pt x="14262" y="72"/>
                  <a:pt x="14269" y="82"/>
                </a:cubicBezTo>
                <a:cubicBezTo>
                  <a:pt x="14276" y="92"/>
                  <a:pt x="14281" y="103"/>
                  <a:pt x="14286" y="114"/>
                </a:cubicBezTo>
                <a:cubicBezTo>
                  <a:pt x="14291" y="126"/>
                  <a:pt x="14294" y="137"/>
                  <a:pt x="14297" y="149"/>
                </a:cubicBezTo>
                <a:cubicBezTo>
                  <a:pt x="14299" y="161"/>
                  <a:pt x="14300" y="173"/>
                  <a:pt x="14300" y="185"/>
                </a:cubicBezTo>
                <a:lnTo>
                  <a:pt x="14300" y="12466"/>
                </a:lnTo>
                <a:cubicBezTo>
                  <a:pt x="14300" y="12478"/>
                  <a:pt x="14299" y="12490"/>
                  <a:pt x="14297" y="12502"/>
                </a:cubicBezTo>
                <a:cubicBezTo>
                  <a:pt x="14294" y="12514"/>
                  <a:pt x="14291" y="12526"/>
                  <a:pt x="14286" y="12537"/>
                </a:cubicBezTo>
                <a:cubicBezTo>
                  <a:pt x="14281" y="12548"/>
                  <a:pt x="14276" y="12559"/>
                  <a:pt x="14269" y="12569"/>
                </a:cubicBezTo>
                <a:cubicBezTo>
                  <a:pt x="14262" y="12579"/>
                  <a:pt x="14254" y="12589"/>
                  <a:pt x="14246" y="12597"/>
                </a:cubicBezTo>
                <a:cubicBezTo>
                  <a:pt x="14237" y="12606"/>
                  <a:pt x="14228" y="12614"/>
                  <a:pt x="14218" y="12620"/>
                </a:cubicBezTo>
                <a:cubicBezTo>
                  <a:pt x="14207" y="12627"/>
                  <a:pt x="14197" y="12633"/>
                  <a:pt x="14185" y="12638"/>
                </a:cubicBezTo>
                <a:cubicBezTo>
                  <a:pt x="14174" y="12642"/>
                  <a:pt x="14163" y="12646"/>
                  <a:pt x="14151" y="12648"/>
                </a:cubicBezTo>
                <a:cubicBezTo>
                  <a:pt x="14139" y="12651"/>
                  <a:pt x="14127" y="12652"/>
                  <a:pt x="14114" y="12652"/>
                </a:cubicBezTo>
                <a:lnTo>
                  <a:pt x="186" y="12652"/>
                </a:lnTo>
                <a:cubicBezTo>
                  <a:pt x="173" y="12652"/>
                  <a:pt x="161" y="12651"/>
                  <a:pt x="149" y="12648"/>
                </a:cubicBezTo>
                <a:cubicBezTo>
                  <a:pt x="137" y="12646"/>
                  <a:pt x="126" y="12642"/>
                  <a:pt x="114" y="12638"/>
                </a:cubicBezTo>
                <a:cubicBezTo>
                  <a:pt x="103" y="12633"/>
                  <a:pt x="93" y="12627"/>
                  <a:pt x="82" y="12620"/>
                </a:cubicBezTo>
                <a:cubicBezTo>
                  <a:pt x="72" y="12614"/>
                  <a:pt x="63" y="12606"/>
                  <a:pt x="54" y="12597"/>
                </a:cubicBezTo>
                <a:cubicBezTo>
                  <a:pt x="46" y="12589"/>
                  <a:pt x="38" y="12579"/>
                  <a:pt x="31" y="12569"/>
                </a:cubicBezTo>
                <a:cubicBezTo>
                  <a:pt x="24" y="12559"/>
                  <a:pt x="19" y="12548"/>
                  <a:pt x="14" y="12537"/>
                </a:cubicBezTo>
                <a:cubicBezTo>
                  <a:pt x="9" y="12526"/>
                  <a:pt x="6" y="12514"/>
                  <a:pt x="3" y="12502"/>
                </a:cubicBezTo>
                <a:cubicBezTo>
                  <a:pt x="1" y="12490"/>
                  <a:pt x="0" y="12478"/>
                  <a:pt x="0" y="1246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702000" y="3745080"/>
            <a:ext cx="13924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信号発生器： </a:t>
            </a: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69363A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5548680" y="1098360"/>
            <a:ext cx="13417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実験セットアップ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5807880" y="1813320"/>
            <a:ext cx="1404000" cy="518400"/>
          </a:xfrm>
          <a:custGeom>
            <a:avLst/>
            <a:gdLst/>
            <a:ahLst/>
            <a:rect l="0" t="0" r="r" b="b"/>
            <a:pathLst>
              <a:path w="3900" h="1440">
                <a:moveTo>
                  <a:pt x="0" y="125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3715" y="0"/>
                </a:lnTo>
                <a:cubicBezTo>
                  <a:pt x="3727" y="0"/>
                  <a:pt x="3739" y="1"/>
                  <a:pt x="3751" y="3"/>
                </a:cubicBezTo>
                <a:cubicBezTo>
                  <a:pt x="3763" y="6"/>
                  <a:pt x="3774" y="9"/>
                  <a:pt x="3786" y="14"/>
                </a:cubicBezTo>
                <a:cubicBezTo>
                  <a:pt x="3797" y="19"/>
                  <a:pt x="3808" y="24"/>
                  <a:pt x="3818" y="31"/>
                </a:cubicBezTo>
                <a:cubicBezTo>
                  <a:pt x="3828" y="38"/>
                  <a:pt x="3837" y="46"/>
                  <a:pt x="3846" y="54"/>
                </a:cubicBezTo>
                <a:cubicBezTo>
                  <a:pt x="3855" y="63"/>
                  <a:pt x="3862" y="72"/>
                  <a:pt x="3869" y="82"/>
                </a:cubicBezTo>
                <a:cubicBezTo>
                  <a:pt x="3876" y="92"/>
                  <a:pt x="3882" y="103"/>
                  <a:pt x="3886" y="114"/>
                </a:cubicBezTo>
                <a:cubicBezTo>
                  <a:pt x="3891" y="126"/>
                  <a:pt x="3894" y="137"/>
                  <a:pt x="3897" y="149"/>
                </a:cubicBezTo>
                <a:cubicBezTo>
                  <a:pt x="3899" y="161"/>
                  <a:pt x="3900" y="173"/>
                  <a:pt x="3900" y="185"/>
                </a:cubicBezTo>
                <a:lnTo>
                  <a:pt x="3900" y="1253"/>
                </a:lnTo>
                <a:cubicBezTo>
                  <a:pt x="3900" y="1265"/>
                  <a:pt x="3899" y="1278"/>
                  <a:pt x="3897" y="1289"/>
                </a:cubicBezTo>
                <a:cubicBezTo>
                  <a:pt x="3894" y="1301"/>
                  <a:pt x="3891" y="1313"/>
                  <a:pt x="3886" y="1324"/>
                </a:cubicBezTo>
                <a:cubicBezTo>
                  <a:pt x="3882" y="1336"/>
                  <a:pt x="3876" y="1346"/>
                  <a:pt x="3869" y="1356"/>
                </a:cubicBezTo>
                <a:cubicBezTo>
                  <a:pt x="3862" y="1367"/>
                  <a:pt x="3855" y="1376"/>
                  <a:pt x="3846" y="1385"/>
                </a:cubicBezTo>
                <a:cubicBezTo>
                  <a:pt x="3837" y="1393"/>
                  <a:pt x="3828" y="1401"/>
                  <a:pt x="3818" y="1408"/>
                </a:cubicBezTo>
                <a:cubicBezTo>
                  <a:pt x="3808" y="1414"/>
                  <a:pt x="3797" y="1420"/>
                  <a:pt x="3786" y="1425"/>
                </a:cubicBezTo>
                <a:cubicBezTo>
                  <a:pt x="3774" y="1429"/>
                  <a:pt x="3763" y="1433"/>
                  <a:pt x="3751" y="1435"/>
                </a:cubicBezTo>
                <a:cubicBezTo>
                  <a:pt x="3739" y="1438"/>
                  <a:pt x="3727" y="1440"/>
                  <a:pt x="3715" y="1440"/>
                </a:cubicBezTo>
                <a:lnTo>
                  <a:pt x="185" y="1440"/>
                </a:lnTo>
                <a:cubicBezTo>
                  <a:pt x="173" y="1440"/>
                  <a:pt x="161" y="1438"/>
                  <a:pt x="149" y="1435"/>
                </a:cubicBezTo>
                <a:cubicBezTo>
                  <a:pt x="137" y="1433"/>
                  <a:pt x="125" y="1429"/>
                  <a:pt x="114" y="1425"/>
                </a:cubicBezTo>
                <a:cubicBezTo>
                  <a:pt x="103" y="1420"/>
                  <a:pt x="92" y="1414"/>
                  <a:pt x="82" y="1408"/>
                </a:cubicBezTo>
                <a:cubicBezTo>
                  <a:pt x="72" y="1401"/>
                  <a:pt x="63" y="1393"/>
                  <a:pt x="54" y="1385"/>
                </a:cubicBezTo>
                <a:cubicBezTo>
                  <a:pt x="45" y="1376"/>
                  <a:pt x="38" y="1367"/>
                  <a:pt x="31" y="1356"/>
                </a:cubicBezTo>
                <a:cubicBezTo>
                  <a:pt x="24" y="1346"/>
                  <a:pt x="18" y="1336"/>
                  <a:pt x="14" y="1324"/>
                </a:cubicBezTo>
                <a:cubicBezTo>
                  <a:pt x="9" y="1313"/>
                  <a:pt x="6" y="1301"/>
                  <a:pt x="3" y="1289"/>
                </a:cubicBezTo>
                <a:cubicBezTo>
                  <a:pt x="1" y="1278"/>
                  <a:pt x="0" y="1265"/>
                  <a:pt x="0" y="12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9" name="" descr=""/>
          <p:cNvPicPr/>
          <p:nvPr/>
        </p:nvPicPr>
        <p:blipFill>
          <a:blip r:embed="rId9"/>
          <a:stretch/>
        </p:blipFill>
        <p:spPr>
          <a:xfrm>
            <a:off x="5891400" y="20138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"/>
          <p:cNvSpPr txBox="1"/>
          <p:nvPr/>
        </p:nvSpPr>
        <p:spPr>
          <a:xfrm>
            <a:off x="5548680" y="1481760"/>
            <a:ext cx="453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送信側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6071040" y="1922040"/>
            <a:ext cx="10569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ベクトル信号発生器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2" name="" descr=""/>
          <p:cNvPicPr/>
          <p:nvPr/>
        </p:nvPicPr>
        <p:blipFill>
          <a:blip r:embed="rId10"/>
          <a:stretch/>
        </p:blipFill>
        <p:spPr>
          <a:xfrm>
            <a:off x="7295400" y="2013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"/>
          <p:cNvSpPr/>
          <p:nvPr/>
        </p:nvSpPr>
        <p:spPr>
          <a:xfrm>
            <a:off x="7512480" y="1813320"/>
            <a:ext cx="1329120" cy="518400"/>
          </a:xfrm>
          <a:custGeom>
            <a:avLst/>
            <a:gdLst/>
            <a:ahLst/>
            <a:rect l="0" t="0" r="r" b="b"/>
            <a:pathLst>
              <a:path w="3692" h="1440">
                <a:moveTo>
                  <a:pt x="0" y="1253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1" y="1"/>
                  <a:pt x="174" y="0"/>
                  <a:pt x="186" y="0"/>
                </a:cubicBezTo>
                <a:lnTo>
                  <a:pt x="3506" y="0"/>
                </a:lnTo>
                <a:cubicBezTo>
                  <a:pt x="3518" y="0"/>
                  <a:pt x="3530" y="1"/>
                  <a:pt x="3542" y="3"/>
                </a:cubicBezTo>
                <a:cubicBezTo>
                  <a:pt x="3554" y="6"/>
                  <a:pt x="3566" y="9"/>
                  <a:pt x="3577" y="14"/>
                </a:cubicBezTo>
                <a:cubicBezTo>
                  <a:pt x="3589" y="19"/>
                  <a:pt x="3599" y="24"/>
                  <a:pt x="3609" y="31"/>
                </a:cubicBezTo>
                <a:cubicBezTo>
                  <a:pt x="3620" y="38"/>
                  <a:pt x="3629" y="46"/>
                  <a:pt x="3638" y="54"/>
                </a:cubicBezTo>
                <a:cubicBezTo>
                  <a:pt x="3646" y="63"/>
                  <a:pt x="3654" y="72"/>
                  <a:pt x="3661" y="82"/>
                </a:cubicBezTo>
                <a:cubicBezTo>
                  <a:pt x="3667" y="92"/>
                  <a:pt x="3673" y="103"/>
                  <a:pt x="3678" y="114"/>
                </a:cubicBezTo>
                <a:cubicBezTo>
                  <a:pt x="3682" y="126"/>
                  <a:pt x="3686" y="137"/>
                  <a:pt x="3688" y="149"/>
                </a:cubicBezTo>
                <a:cubicBezTo>
                  <a:pt x="3691" y="161"/>
                  <a:pt x="3692" y="173"/>
                  <a:pt x="3692" y="185"/>
                </a:cubicBezTo>
                <a:lnTo>
                  <a:pt x="3692" y="1253"/>
                </a:lnTo>
                <a:cubicBezTo>
                  <a:pt x="3692" y="1265"/>
                  <a:pt x="3691" y="1278"/>
                  <a:pt x="3688" y="1289"/>
                </a:cubicBezTo>
                <a:cubicBezTo>
                  <a:pt x="3686" y="1301"/>
                  <a:pt x="3682" y="1313"/>
                  <a:pt x="3678" y="1324"/>
                </a:cubicBezTo>
                <a:cubicBezTo>
                  <a:pt x="3673" y="1336"/>
                  <a:pt x="3667" y="1346"/>
                  <a:pt x="3661" y="1356"/>
                </a:cubicBezTo>
                <a:cubicBezTo>
                  <a:pt x="3654" y="1367"/>
                  <a:pt x="3646" y="1376"/>
                  <a:pt x="3638" y="1385"/>
                </a:cubicBezTo>
                <a:cubicBezTo>
                  <a:pt x="3629" y="1393"/>
                  <a:pt x="3620" y="1401"/>
                  <a:pt x="3609" y="1408"/>
                </a:cubicBezTo>
                <a:cubicBezTo>
                  <a:pt x="3599" y="1414"/>
                  <a:pt x="3589" y="1420"/>
                  <a:pt x="3577" y="1425"/>
                </a:cubicBezTo>
                <a:cubicBezTo>
                  <a:pt x="3566" y="1429"/>
                  <a:pt x="3554" y="1433"/>
                  <a:pt x="3542" y="1435"/>
                </a:cubicBezTo>
                <a:cubicBezTo>
                  <a:pt x="3530" y="1438"/>
                  <a:pt x="3518" y="1440"/>
                  <a:pt x="3506" y="1440"/>
                </a:cubicBezTo>
                <a:lnTo>
                  <a:pt x="186" y="1440"/>
                </a:lnTo>
                <a:cubicBezTo>
                  <a:pt x="174" y="1440"/>
                  <a:pt x="161" y="1438"/>
                  <a:pt x="150" y="1435"/>
                </a:cubicBezTo>
                <a:cubicBezTo>
                  <a:pt x="138" y="1433"/>
                  <a:pt x="126" y="1429"/>
                  <a:pt x="115" y="1425"/>
                </a:cubicBezTo>
                <a:cubicBezTo>
                  <a:pt x="103" y="1420"/>
                  <a:pt x="93" y="1414"/>
                  <a:pt x="83" y="1408"/>
                </a:cubicBezTo>
                <a:cubicBezTo>
                  <a:pt x="72" y="1401"/>
                  <a:pt x="63" y="1393"/>
                  <a:pt x="54" y="1385"/>
                </a:cubicBezTo>
                <a:cubicBezTo>
                  <a:pt x="46" y="1376"/>
                  <a:pt x="38" y="1367"/>
                  <a:pt x="31" y="1356"/>
                </a:cubicBezTo>
                <a:cubicBezTo>
                  <a:pt x="25" y="1346"/>
                  <a:pt x="19" y="1336"/>
                  <a:pt x="14" y="1324"/>
                </a:cubicBezTo>
                <a:cubicBezTo>
                  <a:pt x="10" y="1313"/>
                  <a:pt x="6" y="1301"/>
                  <a:pt x="4" y="1289"/>
                </a:cubicBezTo>
                <a:cubicBezTo>
                  <a:pt x="1" y="1278"/>
                  <a:pt x="0" y="1265"/>
                  <a:pt x="0" y="12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4" name="" descr=""/>
          <p:cNvPicPr/>
          <p:nvPr/>
        </p:nvPicPr>
        <p:blipFill>
          <a:blip r:embed="rId11"/>
          <a:stretch/>
        </p:blipFill>
        <p:spPr>
          <a:xfrm>
            <a:off x="7596360" y="201384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5" name=""/>
          <p:cNvSpPr txBox="1"/>
          <p:nvPr/>
        </p:nvSpPr>
        <p:spPr>
          <a:xfrm>
            <a:off x="6071040" y="2097720"/>
            <a:ext cx="6634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(MG3700A)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776000" y="1922040"/>
            <a:ext cx="506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IQ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7" name="" descr=""/>
          <p:cNvPicPr/>
          <p:nvPr/>
        </p:nvPicPr>
        <p:blipFill>
          <a:blip r:embed="rId12"/>
          <a:stretch/>
        </p:blipFill>
        <p:spPr>
          <a:xfrm>
            <a:off x="8925120" y="201384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"/>
          <p:cNvSpPr/>
          <p:nvPr/>
        </p:nvSpPr>
        <p:spPr>
          <a:xfrm>
            <a:off x="9142200" y="1813320"/>
            <a:ext cx="902880" cy="518400"/>
          </a:xfrm>
          <a:custGeom>
            <a:avLst/>
            <a:gdLst/>
            <a:ahLst/>
            <a:rect l="0" t="0" r="r" b="b"/>
            <a:pathLst>
              <a:path w="2508" h="1440">
                <a:moveTo>
                  <a:pt x="0" y="125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2322" y="0"/>
                </a:lnTo>
                <a:cubicBezTo>
                  <a:pt x="2334" y="0"/>
                  <a:pt x="2346" y="1"/>
                  <a:pt x="2358" y="3"/>
                </a:cubicBezTo>
                <a:cubicBezTo>
                  <a:pt x="2370" y="6"/>
                  <a:pt x="2382" y="9"/>
                  <a:pt x="2393" y="14"/>
                </a:cubicBezTo>
                <a:cubicBezTo>
                  <a:pt x="2404" y="19"/>
                  <a:pt x="2415" y="24"/>
                  <a:pt x="2425" y="31"/>
                </a:cubicBezTo>
                <a:cubicBezTo>
                  <a:pt x="2435" y="38"/>
                  <a:pt x="2445" y="46"/>
                  <a:pt x="2453" y="54"/>
                </a:cubicBezTo>
                <a:cubicBezTo>
                  <a:pt x="2462" y="63"/>
                  <a:pt x="2470" y="72"/>
                  <a:pt x="2476" y="82"/>
                </a:cubicBezTo>
                <a:cubicBezTo>
                  <a:pt x="2483" y="92"/>
                  <a:pt x="2489" y="103"/>
                  <a:pt x="2493" y="114"/>
                </a:cubicBezTo>
                <a:cubicBezTo>
                  <a:pt x="2498" y="126"/>
                  <a:pt x="2502" y="137"/>
                  <a:pt x="2504" y="149"/>
                </a:cubicBezTo>
                <a:cubicBezTo>
                  <a:pt x="2506" y="161"/>
                  <a:pt x="2508" y="173"/>
                  <a:pt x="2508" y="185"/>
                </a:cubicBezTo>
                <a:lnTo>
                  <a:pt x="2508" y="1253"/>
                </a:lnTo>
                <a:cubicBezTo>
                  <a:pt x="2508" y="1265"/>
                  <a:pt x="2506" y="1278"/>
                  <a:pt x="2504" y="1289"/>
                </a:cubicBezTo>
                <a:cubicBezTo>
                  <a:pt x="2502" y="1301"/>
                  <a:pt x="2498" y="1313"/>
                  <a:pt x="2493" y="1324"/>
                </a:cubicBezTo>
                <a:cubicBezTo>
                  <a:pt x="2489" y="1336"/>
                  <a:pt x="2483" y="1346"/>
                  <a:pt x="2476" y="1356"/>
                </a:cubicBezTo>
                <a:cubicBezTo>
                  <a:pt x="2470" y="1367"/>
                  <a:pt x="2462" y="1376"/>
                  <a:pt x="2453" y="1385"/>
                </a:cubicBezTo>
                <a:cubicBezTo>
                  <a:pt x="2445" y="1393"/>
                  <a:pt x="2435" y="1401"/>
                  <a:pt x="2425" y="1408"/>
                </a:cubicBezTo>
                <a:cubicBezTo>
                  <a:pt x="2415" y="1414"/>
                  <a:pt x="2404" y="1420"/>
                  <a:pt x="2393" y="1425"/>
                </a:cubicBezTo>
                <a:cubicBezTo>
                  <a:pt x="2382" y="1429"/>
                  <a:pt x="2370" y="1433"/>
                  <a:pt x="2358" y="1435"/>
                </a:cubicBezTo>
                <a:cubicBezTo>
                  <a:pt x="2346" y="1438"/>
                  <a:pt x="2334" y="1440"/>
                  <a:pt x="2322" y="1440"/>
                </a:cubicBezTo>
                <a:lnTo>
                  <a:pt x="185" y="1440"/>
                </a:lnTo>
                <a:cubicBezTo>
                  <a:pt x="173" y="1440"/>
                  <a:pt x="161" y="1438"/>
                  <a:pt x="149" y="1435"/>
                </a:cubicBezTo>
                <a:cubicBezTo>
                  <a:pt x="137" y="1433"/>
                  <a:pt x="125" y="1429"/>
                  <a:pt x="114" y="1425"/>
                </a:cubicBezTo>
                <a:cubicBezTo>
                  <a:pt x="103" y="1420"/>
                  <a:pt x="92" y="1414"/>
                  <a:pt x="82" y="1408"/>
                </a:cubicBezTo>
                <a:cubicBezTo>
                  <a:pt x="72" y="1401"/>
                  <a:pt x="63" y="1393"/>
                  <a:pt x="54" y="1385"/>
                </a:cubicBezTo>
                <a:cubicBezTo>
                  <a:pt x="45" y="1376"/>
                  <a:pt x="38" y="1367"/>
                  <a:pt x="31" y="1356"/>
                </a:cubicBezTo>
                <a:cubicBezTo>
                  <a:pt x="24" y="1346"/>
                  <a:pt x="18" y="1336"/>
                  <a:pt x="14" y="1324"/>
                </a:cubicBezTo>
                <a:cubicBezTo>
                  <a:pt x="9" y="1313"/>
                  <a:pt x="6" y="1301"/>
                  <a:pt x="3" y="1289"/>
                </a:cubicBezTo>
                <a:cubicBezTo>
                  <a:pt x="1" y="1278"/>
                  <a:pt x="0" y="1265"/>
                  <a:pt x="0" y="12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9" name="" descr=""/>
          <p:cNvPicPr/>
          <p:nvPr/>
        </p:nvPicPr>
        <p:blipFill>
          <a:blip r:embed="rId13"/>
          <a:stretch/>
        </p:blipFill>
        <p:spPr>
          <a:xfrm>
            <a:off x="9225720" y="201384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0" name=""/>
          <p:cNvSpPr txBox="1"/>
          <p:nvPr/>
        </p:nvSpPr>
        <p:spPr>
          <a:xfrm>
            <a:off x="7776000" y="2097720"/>
            <a:ext cx="1085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(EVAL-ADMV1013)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9422280" y="1922040"/>
            <a:ext cx="3909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28GHz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14"/>
          <a:stretch/>
        </p:blipFill>
        <p:spPr>
          <a:xfrm>
            <a:off x="7846920" y="2640600"/>
            <a:ext cx="15012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"/>
          <p:cNvSpPr txBox="1"/>
          <p:nvPr/>
        </p:nvSpPr>
        <p:spPr>
          <a:xfrm>
            <a:off x="9422280" y="2097720"/>
            <a:ext cx="5770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5924880" y="3710160"/>
            <a:ext cx="1295640" cy="343080"/>
          </a:xfrm>
          <a:custGeom>
            <a:avLst/>
            <a:gdLst/>
            <a:ahLst/>
            <a:rect l="0" t="0" r="r" b="b"/>
            <a:pathLst>
              <a:path w="3599" h="953">
                <a:moveTo>
                  <a:pt x="0" y="767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3413" y="0"/>
                </a:lnTo>
                <a:cubicBezTo>
                  <a:pt x="3425" y="0"/>
                  <a:pt x="3437" y="1"/>
                  <a:pt x="3449" y="4"/>
                </a:cubicBezTo>
                <a:cubicBezTo>
                  <a:pt x="3461" y="6"/>
                  <a:pt x="3473" y="10"/>
                  <a:pt x="3484" y="14"/>
                </a:cubicBezTo>
                <a:cubicBezTo>
                  <a:pt x="3495" y="19"/>
                  <a:pt x="3506" y="25"/>
                  <a:pt x="3516" y="31"/>
                </a:cubicBezTo>
                <a:cubicBezTo>
                  <a:pt x="3526" y="38"/>
                  <a:pt x="3536" y="46"/>
                  <a:pt x="3544" y="54"/>
                </a:cubicBezTo>
                <a:cubicBezTo>
                  <a:pt x="3553" y="63"/>
                  <a:pt x="3561" y="72"/>
                  <a:pt x="3567" y="83"/>
                </a:cubicBezTo>
                <a:cubicBezTo>
                  <a:pt x="3574" y="93"/>
                  <a:pt x="3580" y="103"/>
                  <a:pt x="3584" y="115"/>
                </a:cubicBezTo>
                <a:cubicBezTo>
                  <a:pt x="3589" y="126"/>
                  <a:pt x="3593" y="138"/>
                  <a:pt x="3595" y="150"/>
                </a:cubicBezTo>
                <a:cubicBezTo>
                  <a:pt x="3597" y="162"/>
                  <a:pt x="3599" y="174"/>
                  <a:pt x="3599" y="186"/>
                </a:cubicBezTo>
                <a:lnTo>
                  <a:pt x="3599" y="767"/>
                </a:lnTo>
                <a:cubicBezTo>
                  <a:pt x="3599" y="779"/>
                  <a:pt x="3597" y="791"/>
                  <a:pt x="3595" y="803"/>
                </a:cubicBezTo>
                <a:cubicBezTo>
                  <a:pt x="3593" y="815"/>
                  <a:pt x="3589" y="827"/>
                  <a:pt x="3584" y="838"/>
                </a:cubicBezTo>
                <a:cubicBezTo>
                  <a:pt x="3580" y="849"/>
                  <a:pt x="3574" y="860"/>
                  <a:pt x="3567" y="870"/>
                </a:cubicBezTo>
                <a:cubicBezTo>
                  <a:pt x="3561" y="880"/>
                  <a:pt x="3553" y="890"/>
                  <a:pt x="3544" y="898"/>
                </a:cubicBezTo>
                <a:cubicBezTo>
                  <a:pt x="3536" y="907"/>
                  <a:pt x="3526" y="915"/>
                  <a:pt x="3516" y="922"/>
                </a:cubicBezTo>
                <a:cubicBezTo>
                  <a:pt x="3506" y="928"/>
                  <a:pt x="3495" y="934"/>
                  <a:pt x="3484" y="939"/>
                </a:cubicBezTo>
                <a:cubicBezTo>
                  <a:pt x="3473" y="943"/>
                  <a:pt x="3461" y="947"/>
                  <a:pt x="3449" y="949"/>
                </a:cubicBezTo>
                <a:cubicBezTo>
                  <a:pt x="3437" y="952"/>
                  <a:pt x="3425" y="953"/>
                  <a:pt x="3413" y="953"/>
                </a:cubicBezTo>
                <a:lnTo>
                  <a:pt x="185" y="953"/>
                </a:lnTo>
                <a:cubicBezTo>
                  <a:pt x="173" y="953"/>
                  <a:pt x="161" y="952"/>
                  <a:pt x="149" y="949"/>
                </a:cubicBezTo>
                <a:cubicBezTo>
                  <a:pt x="137" y="947"/>
                  <a:pt x="125" y="943"/>
                  <a:pt x="114" y="939"/>
                </a:cubicBezTo>
                <a:cubicBezTo>
                  <a:pt x="103" y="934"/>
                  <a:pt x="92" y="928"/>
                  <a:pt x="82" y="922"/>
                </a:cubicBezTo>
                <a:cubicBezTo>
                  <a:pt x="72" y="915"/>
                  <a:pt x="63" y="907"/>
                  <a:pt x="54" y="898"/>
                </a:cubicBezTo>
                <a:cubicBezTo>
                  <a:pt x="45" y="890"/>
                  <a:pt x="38" y="880"/>
                  <a:pt x="31" y="870"/>
                </a:cubicBezTo>
                <a:cubicBezTo>
                  <a:pt x="24" y="860"/>
                  <a:pt x="18" y="849"/>
                  <a:pt x="14" y="838"/>
                </a:cubicBezTo>
                <a:cubicBezTo>
                  <a:pt x="9" y="827"/>
                  <a:pt x="6" y="815"/>
                  <a:pt x="3" y="803"/>
                </a:cubicBezTo>
                <a:cubicBezTo>
                  <a:pt x="1" y="791"/>
                  <a:pt x="0" y="779"/>
                  <a:pt x="0" y="7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5" name="" descr=""/>
          <p:cNvPicPr/>
          <p:nvPr/>
        </p:nvPicPr>
        <p:blipFill>
          <a:blip r:embed="rId15"/>
          <a:stretch/>
        </p:blipFill>
        <p:spPr>
          <a:xfrm>
            <a:off x="6008400" y="3827520"/>
            <a:ext cx="13320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6" name=""/>
          <p:cNvSpPr txBox="1"/>
          <p:nvPr/>
        </p:nvSpPr>
        <p:spPr>
          <a:xfrm>
            <a:off x="5548680" y="3152880"/>
            <a:ext cx="4532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受信側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7" name="" descr=""/>
          <p:cNvPicPr/>
          <p:nvPr/>
        </p:nvPicPr>
        <p:blipFill>
          <a:blip r:embed="rId16"/>
          <a:stretch/>
        </p:blipFill>
        <p:spPr>
          <a:xfrm>
            <a:off x="7303680" y="3827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"/>
          <p:cNvSpPr/>
          <p:nvPr/>
        </p:nvSpPr>
        <p:spPr>
          <a:xfrm>
            <a:off x="7520760" y="3484440"/>
            <a:ext cx="1053360" cy="343080"/>
          </a:xfrm>
          <a:custGeom>
            <a:avLst/>
            <a:gdLst/>
            <a:ahLst/>
            <a:rect l="0" t="0" r="r" b="b"/>
            <a:pathLst>
              <a:path w="2926" h="953">
                <a:moveTo>
                  <a:pt x="0" y="767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50" y="4"/>
                </a:cubicBezTo>
                <a:cubicBezTo>
                  <a:pt x="162" y="2"/>
                  <a:pt x="174" y="0"/>
                  <a:pt x="186" y="0"/>
                </a:cubicBezTo>
                <a:lnTo>
                  <a:pt x="2740" y="0"/>
                </a:lnTo>
                <a:cubicBezTo>
                  <a:pt x="2753" y="0"/>
                  <a:pt x="2765" y="2"/>
                  <a:pt x="2777" y="4"/>
                </a:cubicBezTo>
                <a:cubicBezTo>
                  <a:pt x="2789" y="6"/>
                  <a:pt x="2800" y="10"/>
                  <a:pt x="2811" y="14"/>
                </a:cubicBezTo>
                <a:cubicBezTo>
                  <a:pt x="2823" y="19"/>
                  <a:pt x="2833" y="25"/>
                  <a:pt x="2844" y="32"/>
                </a:cubicBezTo>
                <a:cubicBezTo>
                  <a:pt x="2854" y="38"/>
                  <a:pt x="2863" y="46"/>
                  <a:pt x="2872" y="55"/>
                </a:cubicBezTo>
                <a:cubicBezTo>
                  <a:pt x="2880" y="63"/>
                  <a:pt x="2888" y="73"/>
                  <a:pt x="2895" y="83"/>
                </a:cubicBezTo>
                <a:cubicBezTo>
                  <a:pt x="2902" y="93"/>
                  <a:pt x="2907" y="104"/>
                  <a:pt x="2912" y="115"/>
                </a:cubicBezTo>
                <a:cubicBezTo>
                  <a:pt x="2917" y="126"/>
                  <a:pt x="2920" y="138"/>
                  <a:pt x="2923" y="150"/>
                </a:cubicBezTo>
                <a:cubicBezTo>
                  <a:pt x="2925" y="162"/>
                  <a:pt x="2926" y="174"/>
                  <a:pt x="2926" y="186"/>
                </a:cubicBezTo>
                <a:lnTo>
                  <a:pt x="2926" y="767"/>
                </a:lnTo>
                <a:cubicBezTo>
                  <a:pt x="2926" y="780"/>
                  <a:pt x="2925" y="792"/>
                  <a:pt x="2923" y="804"/>
                </a:cubicBezTo>
                <a:cubicBezTo>
                  <a:pt x="2920" y="816"/>
                  <a:pt x="2917" y="827"/>
                  <a:pt x="2912" y="838"/>
                </a:cubicBezTo>
                <a:cubicBezTo>
                  <a:pt x="2907" y="850"/>
                  <a:pt x="2902" y="860"/>
                  <a:pt x="2895" y="871"/>
                </a:cubicBezTo>
                <a:cubicBezTo>
                  <a:pt x="2888" y="881"/>
                  <a:pt x="2880" y="890"/>
                  <a:pt x="2872" y="899"/>
                </a:cubicBezTo>
                <a:cubicBezTo>
                  <a:pt x="2863" y="907"/>
                  <a:pt x="2854" y="915"/>
                  <a:pt x="2844" y="922"/>
                </a:cubicBezTo>
                <a:cubicBezTo>
                  <a:pt x="2833" y="929"/>
                  <a:pt x="2823" y="934"/>
                  <a:pt x="2811" y="939"/>
                </a:cubicBezTo>
                <a:cubicBezTo>
                  <a:pt x="2800" y="944"/>
                  <a:pt x="2789" y="947"/>
                  <a:pt x="2777" y="950"/>
                </a:cubicBezTo>
                <a:cubicBezTo>
                  <a:pt x="2765" y="952"/>
                  <a:pt x="2753" y="953"/>
                  <a:pt x="2740" y="953"/>
                </a:cubicBezTo>
                <a:lnTo>
                  <a:pt x="186" y="953"/>
                </a:lnTo>
                <a:cubicBezTo>
                  <a:pt x="174" y="953"/>
                  <a:pt x="162" y="952"/>
                  <a:pt x="150" y="950"/>
                </a:cubicBezTo>
                <a:cubicBezTo>
                  <a:pt x="138" y="947"/>
                  <a:pt x="126" y="944"/>
                  <a:pt x="115" y="939"/>
                </a:cubicBezTo>
                <a:cubicBezTo>
                  <a:pt x="104" y="934"/>
                  <a:pt x="93" y="929"/>
                  <a:pt x="83" y="922"/>
                </a:cubicBezTo>
                <a:cubicBezTo>
                  <a:pt x="73" y="915"/>
                  <a:pt x="63" y="907"/>
                  <a:pt x="55" y="899"/>
                </a:cubicBezTo>
                <a:cubicBezTo>
                  <a:pt x="46" y="890"/>
                  <a:pt x="38" y="881"/>
                  <a:pt x="32" y="871"/>
                </a:cubicBezTo>
                <a:cubicBezTo>
                  <a:pt x="25" y="860"/>
                  <a:pt x="19" y="850"/>
                  <a:pt x="14" y="838"/>
                </a:cubicBezTo>
                <a:cubicBezTo>
                  <a:pt x="10" y="827"/>
                  <a:pt x="6" y="816"/>
                  <a:pt x="4" y="804"/>
                </a:cubicBezTo>
                <a:cubicBezTo>
                  <a:pt x="1" y="792"/>
                  <a:pt x="0" y="780"/>
                  <a:pt x="0" y="7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99" name="" descr=""/>
          <p:cNvPicPr/>
          <p:nvPr/>
        </p:nvPicPr>
        <p:blipFill>
          <a:blip r:embed="rId17"/>
          <a:stretch/>
        </p:blipFill>
        <p:spPr>
          <a:xfrm>
            <a:off x="7604640" y="3601800"/>
            <a:ext cx="15012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"/>
          <p:cNvSpPr txBox="1"/>
          <p:nvPr/>
        </p:nvSpPr>
        <p:spPr>
          <a:xfrm>
            <a:off x="6204960" y="3819240"/>
            <a:ext cx="9396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パワースプリッタ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7520760" y="3935880"/>
            <a:ext cx="1053360" cy="343080"/>
          </a:xfrm>
          <a:custGeom>
            <a:avLst/>
            <a:gdLst/>
            <a:ahLst/>
            <a:rect l="0" t="0" r="r" b="b"/>
            <a:pathLst>
              <a:path w="2926" h="953">
                <a:moveTo>
                  <a:pt x="0" y="767"/>
                </a:moveTo>
                <a:lnTo>
                  <a:pt x="0" y="187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7"/>
                  <a:pt x="14" y="115"/>
                </a:cubicBezTo>
                <a:cubicBezTo>
                  <a:pt x="19" y="104"/>
                  <a:pt x="25" y="94"/>
                  <a:pt x="32" y="83"/>
                </a:cubicBezTo>
                <a:cubicBezTo>
                  <a:pt x="38" y="73"/>
                  <a:pt x="46" y="64"/>
                  <a:pt x="55" y="55"/>
                </a:cubicBezTo>
                <a:cubicBezTo>
                  <a:pt x="63" y="47"/>
                  <a:pt x="73" y="39"/>
                  <a:pt x="83" y="32"/>
                </a:cubicBezTo>
                <a:cubicBezTo>
                  <a:pt x="93" y="25"/>
                  <a:pt x="104" y="20"/>
                  <a:pt x="115" y="15"/>
                </a:cubicBezTo>
                <a:cubicBezTo>
                  <a:pt x="126" y="10"/>
                  <a:pt x="138" y="7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2740" y="0"/>
                </a:lnTo>
                <a:cubicBezTo>
                  <a:pt x="2753" y="0"/>
                  <a:pt x="2765" y="1"/>
                  <a:pt x="2777" y="3"/>
                </a:cubicBezTo>
                <a:cubicBezTo>
                  <a:pt x="2789" y="7"/>
                  <a:pt x="2800" y="10"/>
                  <a:pt x="2811" y="15"/>
                </a:cubicBezTo>
                <a:cubicBezTo>
                  <a:pt x="2823" y="20"/>
                  <a:pt x="2833" y="25"/>
                  <a:pt x="2844" y="32"/>
                </a:cubicBezTo>
                <a:cubicBezTo>
                  <a:pt x="2854" y="39"/>
                  <a:pt x="2863" y="47"/>
                  <a:pt x="2872" y="55"/>
                </a:cubicBezTo>
                <a:cubicBezTo>
                  <a:pt x="2880" y="64"/>
                  <a:pt x="2888" y="73"/>
                  <a:pt x="2895" y="83"/>
                </a:cubicBezTo>
                <a:cubicBezTo>
                  <a:pt x="2902" y="94"/>
                  <a:pt x="2907" y="104"/>
                  <a:pt x="2912" y="115"/>
                </a:cubicBezTo>
                <a:cubicBezTo>
                  <a:pt x="2917" y="127"/>
                  <a:pt x="2920" y="138"/>
                  <a:pt x="2923" y="150"/>
                </a:cubicBezTo>
                <a:cubicBezTo>
                  <a:pt x="2925" y="162"/>
                  <a:pt x="2926" y="174"/>
                  <a:pt x="2926" y="187"/>
                </a:cubicBezTo>
                <a:lnTo>
                  <a:pt x="2926" y="767"/>
                </a:lnTo>
                <a:cubicBezTo>
                  <a:pt x="2926" y="779"/>
                  <a:pt x="2925" y="791"/>
                  <a:pt x="2923" y="803"/>
                </a:cubicBezTo>
                <a:cubicBezTo>
                  <a:pt x="2920" y="815"/>
                  <a:pt x="2917" y="827"/>
                  <a:pt x="2912" y="838"/>
                </a:cubicBezTo>
                <a:cubicBezTo>
                  <a:pt x="2907" y="849"/>
                  <a:pt x="2902" y="860"/>
                  <a:pt x="2895" y="870"/>
                </a:cubicBezTo>
                <a:cubicBezTo>
                  <a:pt x="2888" y="880"/>
                  <a:pt x="2880" y="890"/>
                  <a:pt x="2872" y="898"/>
                </a:cubicBezTo>
                <a:cubicBezTo>
                  <a:pt x="2863" y="907"/>
                  <a:pt x="2854" y="915"/>
                  <a:pt x="2844" y="921"/>
                </a:cubicBezTo>
                <a:cubicBezTo>
                  <a:pt x="2833" y="928"/>
                  <a:pt x="2823" y="934"/>
                  <a:pt x="2811" y="938"/>
                </a:cubicBezTo>
                <a:cubicBezTo>
                  <a:pt x="2800" y="943"/>
                  <a:pt x="2789" y="947"/>
                  <a:pt x="2777" y="949"/>
                </a:cubicBezTo>
                <a:cubicBezTo>
                  <a:pt x="2765" y="951"/>
                  <a:pt x="2753" y="953"/>
                  <a:pt x="2740" y="953"/>
                </a:cubicBezTo>
                <a:lnTo>
                  <a:pt x="186" y="953"/>
                </a:lnTo>
                <a:cubicBezTo>
                  <a:pt x="174" y="953"/>
                  <a:pt x="162" y="951"/>
                  <a:pt x="150" y="949"/>
                </a:cubicBezTo>
                <a:cubicBezTo>
                  <a:pt x="138" y="947"/>
                  <a:pt x="126" y="943"/>
                  <a:pt x="115" y="938"/>
                </a:cubicBezTo>
                <a:cubicBezTo>
                  <a:pt x="104" y="934"/>
                  <a:pt x="93" y="928"/>
                  <a:pt x="83" y="921"/>
                </a:cubicBezTo>
                <a:cubicBezTo>
                  <a:pt x="73" y="915"/>
                  <a:pt x="63" y="907"/>
                  <a:pt x="55" y="898"/>
                </a:cubicBezTo>
                <a:cubicBezTo>
                  <a:pt x="46" y="890"/>
                  <a:pt x="38" y="880"/>
                  <a:pt x="32" y="870"/>
                </a:cubicBezTo>
                <a:cubicBezTo>
                  <a:pt x="25" y="860"/>
                  <a:pt x="19" y="849"/>
                  <a:pt x="14" y="838"/>
                </a:cubicBezTo>
                <a:cubicBezTo>
                  <a:pt x="10" y="827"/>
                  <a:pt x="6" y="815"/>
                  <a:pt x="4" y="803"/>
                </a:cubicBezTo>
                <a:cubicBezTo>
                  <a:pt x="1" y="791"/>
                  <a:pt x="0" y="779"/>
                  <a:pt x="0" y="7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2" name="" descr=""/>
          <p:cNvPicPr/>
          <p:nvPr/>
        </p:nvPicPr>
        <p:blipFill>
          <a:blip r:embed="rId18"/>
          <a:stretch/>
        </p:blipFill>
        <p:spPr>
          <a:xfrm>
            <a:off x="7604640" y="4052880"/>
            <a:ext cx="11664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"/>
          <p:cNvSpPr txBox="1"/>
          <p:nvPr/>
        </p:nvSpPr>
        <p:spPr>
          <a:xfrm>
            <a:off x="7817760" y="3593520"/>
            <a:ext cx="587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直交復調器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4" name="" descr=""/>
          <p:cNvPicPr/>
          <p:nvPr/>
        </p:nvPicPr>
        <p:blipFill>
          <a:blip r:embed="rId19"/>
          <a:stretch/>
        </p:blipFill>
        <p:spPr>
          <a:xfrm>
            <a:off x="8657640" y="3827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"/>
          <p:cNvSpPr/>
          <p:nvPr/>
        </p:nvSpPr>
        <p:spPr>
          <a:xfrm>
            <a:off x="8874720" y="3626640"/>
            <a:ext cx="835920" cy="518400"/>
          </a:xfrm>
          <a:custGeom>
            <a:avLst/>
            <a:gdLst/>
            <a:ahLst/>
            <a:rect l="0" t="0" r="r" b="b"/>
            <a:pathLst>
              <a:path w="2322" h="1440">
                <a:moveTo>
                  <a:pt x="0" y="125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6"/>
                  <a:pt x="14" y="115"/>
                </a:cubicBezTo>
                <a:cubicBezTo>
                  <a:pt x="19" y="103"/>
                  <a:pt x="24" y="93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2" y="31"/>
                </a:cubicBezTo>
                <a:cubicBezTo>
                  <a:pt x="92" y="24"/>
                  <a:pt x="103" y="19"/>
                  <a:pt x="114" y="14"/>
                </a:cubicBezTo>
                <a:cubicBezTo>
                  <a:pt x="126" y="9"/>
                  <a:pt x="137" y="6"/>
                  <a:pt x="149" y="4"/>
                </a:cubicBezTo>
                <a:cubicBezTo>
                  <a:pt x="161" y="1"/>
                  <a:pt x="173" y="0"/>
                  <a:pt x="185" y="0"/>
                </a:cubicBezTo>
                <a:lnTo>
                  <a:pt x="2136" y="0"/>
                </a:lnTo>
                <a:cubicBezTo>
                  <a:pt x="2149" y="0"/>
                  <a:pt x="2161" y="1"/>
                  <a:pt x="2173" y="4"/>
                </a:cubicBezTo>
                <a:cubicBezTo>
                  <a:pt x="2185" y="6"/>
                  <a:pt x="2196" y="9"/>
                  <a:pt x="2207" y="14"/>
                </a:cubicBezTo>
                <a:cubicBezTo>
                  <a:pt x="2219" y="19"/>
                  <a:pt x="2229" y="24"/>
                  <a:pt x="2240" y="31"/>
                </a:cubicBezTo>
                <a:cubicBezTo>
                  <a:pt x="2250" y="38"/>
                  <a:pt x="2259" y="46"/>
                  <a:pt x="2268" y="54"/>
                </a:cubicBezTo>
                <a:cubicBezTo>
                  <a:pt x="2276" y="63"/>
                  <a:pt x="2284" y="72"/>
                  <a:pt x="2291" y="82"/>
                </a:cubicBezTo>
                <a:cubicBezTo>
                  <a:pt x="2298" y="93"/>
                  <a:pt x="2303" y="103"/>
                  <a:pt x="2308" y="115"/>
                </a:cubicBezTo>
                <a:cubicBezTo>
                  <a:pt x="2313" y="126"/>
                  <a:pt x="2316" y="137"/>
                  <a:pt x="2318" y="149"/>
                </a:cubicBezTo>
                <a:cubicBezTo>
                  <a:pt x="2321" y="161"/>
                  <a:pt x="2322" y="173"/>
                  <a:pt x="2322" y="186"/>
                </a:cubicBezTo>
                <a:lnTo>
                  <a:pt x="2322" y="1254"/>
                </a:lnTo>
                <a:cubicBezTo>
                  <a:pt x="2322" y="1267"/>
                  <a:pt x="2321" y="1279"/>
                  <a:pt x="2318" y="1291"/>
                </a:cubicBezTo>
                <a:cubicBezTo>
                  <a:pt x="2316" y="1303"/>
                  <a:pt x="2313" y="1314"/>
                  <a:pt x="2308" y="1326"/>
                </a:cubicBezTo>
                <a:cubicBezTo>
                  <a:pt x="2303" y="1337"/>
                  <a:pt x="2298" y="1348"/>
                  <a:pt x="2291" y="1358"/>
                </a:cubicBezTo>
                <a:cubicBezTo>
                  <a:pt x="2284" y="1368"/>
                  <a:pt x="2276" y="1377"/>
                  <a:pt x="2268" y="1386"/>
                </a:cubicBezTo>
                <a:cubicBezTo>
                  <a:pt x="2259" y="1394"/>
                  <a:pt x="2250" y="1402"/>
                  <a:pt x="2240" y="1409"/>
                </a:cubicBezTo>
                <a:cubicBezTo>
                  <a:pt x="2229" y="1416"/>
                  <a:pt x="2219" y="1421"/>
                  <a:pt x="2207" y="1426"/>
                </a:cubicBezTo>
                <a:cubicBezTo>
                  <a:pt x="2196" y="1431"/>
                  <a:pt x="2185" y="1434"/>
                  <a:pt x="2173" y="1437"/>
                </a:cubicBezTo>
                <a:cubicBezTo>
                  <a:pt x="2161" y="1439"/>
                  <a:pt x="2149" y="1440"/>
                  <a:pt x="2136" y="1440"/>
                </a:cubicBezTo>
                <a:lnTo>
                  <a:pt x="185" y="1440"/>
                </a:lnTo>
                <a:cubicBezTo>
                  <a:pt x="173" y="1440"/>
                  <a:pt x="161" y="1439"/>
                  <a:pt x="149" y="1437"/>
                </a:cubicBezTo>
                <a:cubicBezTo>
                  <a:pt x="137" y="1434"/>
                  <a:pt x="126" y="1431"/>
                  <a:pt x="114" y="1426"/>
                </a:cubicBezTo>
                <a:cubicBezTo>
                  <a:pt x="103" y="1421"/>
                  <a:pt x="92" y="1416"/>
                  <a:pt x="82" y="1409"/>
                </a:cubicBezTo>
                <a:cubicBezTo>
                  <a:pt x="72" y="1402"/>
                  <a:pt x="63" y="1394"/>
                  <a:pt x="54" y="1386"/>
                </a:cubicBezTo>
                <a:cubicBezTo>
                  <a:pt x="46" y="1377"/>
                  <a:pt x="38" y="1368"/>
                  <a:pt x="31" y="1358"/>
                </a:cubicBezTo>
                <a:cubicBezTo>
                  <a:pt x="24" y="1348"/>
                  <a:pt x="19" y="1337"/>
                  <a:pt x="14" y="1326"/>
                </a:cubicBezTo>
                <a:cubicBezTo>
                  <a:pt x="9" y="1314"/>
                  <a:pt x="6" y="1303"/>
                  <a:pt x="3" y="1291"/>
                </a:cubicBezTo>
                <a:cubicBezTo>
                  <a:pt x="1" y="1279"/>
                  <a:pt x="0" y="1267"/>
                  <a:pt x="0" y="12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6" name="" descr=""/>
          <p:cNvPicPr/>
          <p:nvPr/>
        </p:nvPicPr>
        <p:blipFill>
          <a:blip r:embed="rId20"/>
          <a:stretch/>
        </p:blipFill>
        <p:spPr>
          <a:xfrm>
            <a:off x="8958240" y="3827520"/>
            <a:ext cx="15012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"/>
          <p:cNvSpPr txBox="1"/>
          <p:nvPr/>
        </p:nvSpPr>
        <p:spPr>
          <a:xfrm>
            <a:off x="7784280" y="4044600"/>
            <a:ext cx="704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包絡線検波器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9171360" y="3735360"/>
            <a:ext cx="2534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ADC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9" name="" descr=""/>
          <p:cNvPicPr/>
          <p:nvPr/>
        </p:nvPicPr>
        <p:blipFill>
          <a:blip r:embed="rId21"/>
          <a:stretch/>
        </p:blipFill>
        <p:spPr>
          <a:xfrm>
            <a:off x="9794160" y="382752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"/>
          <p:cNvSpPr/>
          <p:nvPr/>
        </p:nvSpPr>
        <p:spPr>
          <a:xfrm>
            <a:off x="7437240" y="4362120"/>
            <a:ext cx="969840" cy="518400"/>
          </a:xfrm>
          <a:custGeom>
            <a:avLst/>
            <a:gdLst/>
            <a:ahLst/>
            <a:rect l="0" t="0" r="r" b="b"/>
            <a:pathLst>
              <a:path w="2694" h="1440">
                <a:moveTo>
                  <a:pt x="0" y="1254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10" y="127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2508" y="0"/>
                </a:lnTo>
                <a:cubicBezTo>
                  <a:pt x="2520" y="0"/>
                  <a:pt x="2532" y="1"/>
                  <a:pt x="2544" y="3"/>
                </a:cubicBezTo>
                <a:cubicBezTo>
                  <a:pt x="2556" y="6"/>
                  <a:pt x="2568" y="9"/>
                  <a:pt x="2579" y="14"/>
                </a:cubicBezTo>
                <a:cubicBezTo>
                  <a:pt x="2590" y="19"/>
                  <a:pt x="2601" y="24"/>
                  <a:pt x="2611" y="31"/>
                </a:cubicBezTo>
                <a:cubicBezTo>
                  <a:pt x="2621" y="38"/>
                  <a:pt x="2631" y="45"/>
                  <a:pt x="2639" y="54"/>
                </a:cubicBezTo>
                <a:cubicBezTo>
                  <a:pt x="2648" y="63"/>
                  <a:pt x="2656" y="72"/>
                  <a:pt x="2663" y="82"/>
                </a:cubicBezTo>
                <a:cubicBezTo>
                  <a:pt x="2669" y="92"/>
                  <a:pt x="2675" y="103"/>
                  <a:pt x="2680" y="114"/>
                </a:cubicBezTo>
                <a:cubicBezTo>
                  <a:pt x="2684" y="127"/>
                  <a:pt x="2688" y="138"/>
                  <a:pt x="2690" y="150"/>
                </a:cubicBezTo>
                <a:cubicBezTo>
                  <a:pt x="2693" y="162"/>
                  <a:pt x="2694" y="174"/>
                  <a:pt x="2694" y="186"/>
                </a:cubicBezTo>
                <a:lnTo>
                  <a:pt x="2694" y="1254"/>
                </a:lnTo>
                <a:cubicBezTo>
                  <a:pt x="2694" y="1266"/>
                  <a:pt x="2693" y="1278"/>
                  <a:pt x="2690" y="1290"/>
                </a:cubicBezTo>
                <a:cubicBezTo>
                  <a:pt x="2688" y="1302"/>
                  <a:pt x="2684" y="1314"/>
                  <a:pt x="2680" y="1325"/>
                </a:cubicBezTo>
                <a:cubicBezTo>
                  <a:pt x="2675" y="1337"/>
                  <a:pt x="2669" y="1347"/>
                  <a:pt x="2663" y="1357"/>
                </a:cubicBezTo>
                <a:cubicBezTo>
                  <a:pt x="2656" y="1368"/>
                  <a:pt x="2648" y="1377"/>
                  <a:pt x="2639" y="1386"/>
                </a:cubicBezTo>
                <a:cubicBezTo>
                  <a:pt x="2631" y="1394"/>
                  <a:pt x="2621" y="1402"/>
                  <a:pt x="2611" y="1409"/>
                </a:cubicBezTo>
                <a:cubicBezTo>
                  <a:pt x="2601" y="1415"/>
                  <a:pt x="2590" y="1421"/>
                  <a:pt x="2579" y="1426"/>
                </a:cubicBezTo>
                <a:cubicBezTo>
                  <a:pt x="2568" y="1430"/>
                  <a:pt x="2556" y="1434"/>
                  <a:pt x="2544" y="1436"/>
                </a:cubicBezTo>
                <a:cubicBezTo>
                  <a:pt x="2532" y="1439"/>
                  <a:pt x="2520" y="1440"/>
                  <a:pt x="2508" y="1440"/>
                </a:cubicBezTo>
                <a:lnTo>
                  <a:pt x="186" y="1440"/>
                </a:lnTo>
                <a:cubicBezTo>
                  <a:pt x="174" y="1440"/>
                  <a:pt x="162" y="1439"/>
                  <a:pt x="150" y="1436"/>
                </a:cubicBezTo>
                <a:cubicBezTo>
                  <a:pt x="138" y="1434"/>
                  <a:pt x="126" y="1430"/>
                  <a:pt x="115" y="1426"/>
                </a:cubicBezTo>
                <a:cubicBezTo>
                  <a:pt x="103" y="1421"/>
                  <a:pt x="93" y="1415"/>
                  <a:pt x="83" y="1409"/>
                </a:cubicBezTo>
                <a:cubicBezTo>
                  <a:pt x="73" y="1402"/>
                  <a:pt x="63" y="1394"/>
                  <a:pt x="55" y="1386"/>
                </a:cubicBezTo>
                <a:cubicBezTo>
                  <a:pt x="46" y="1377"/>
                  <a:pt x="38" y="1368"/>
                  <a:pt x="31" y="1357"/>
                </a:cubicBezTo>
                <a:cubicBezTo>
                  <a:pt x="25" y="1347"/>
                  <a:pt x="19" y="1337"/>
                  <a:pt x="14" y="1325"/>
                </a:cubicBezTo>
                <a:cubicBezTo>
                  <a:pt x="10" y="1314"/>
                  <a:pt x="6" y="1302"/>
                  <a:pt x="4" y="1290"/>
                </a:cubicBezTo>
                <a:cubicBezTo>
                  <a:pt x="1" y="1278"/>
                  <a:pt x="0" y="1266"/>
                  <a:pt x="0" y="125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1" name="" descr=""/>
          <p:cNvPicPr/>
          <p:nvPr/>
        </p:nvPicPr>
        <p:blipFill>
          <a:blip r:embed="rId22"/>
          <a:stretch/>
        </p:blipFill>
        <p:spPr>
          <a:xfrm>
            <a:off x="7521120" y="4562640"/>
            <a:ext cx="150120" cy="11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"/>
          <p:cNvSpPr txBox="1"/>
          <p:nvPr/>
        </p:nvSpPr>
        <p:spPr>
          <a:xfrm>
            <a:off x="9171360" y="3911040"/>
            <a:ext cx="49284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(25MHz)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738200" y="4470840"/>
            <a:ext cx="587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データ処理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7738200" y="4646520"/>
            <a:ext cx="50868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(Octave)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221520" y="5081040"/>
            <a:ext cx="350388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図：アンダーサンプリングを用いた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信号評価システムの概要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10153440" y="5717160"/>
            <a:ext cx="38700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9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"/>
          <p:cNvSpPr/>
          <p:nvPr/>
        </p:nvSpPr>
        <p:spPr>
          <a:xfrm>
            <a:off x="0" y="0"/>
            <a:ext cx="10696680" cy="6017040"/>
          </a:xfrm>
          <a:custGeom>
            <a:avLst/>
            <a:gdLst/>
            <a:ahLst/>
            <a:rect l="0" t="0" r="r" b="b"/>
            <a:pathLst>
              <a:path w="29713" h="16714">
                <a:moveTo>
                  <a:pt x="0" y="0"/>
                </a:moveTo>
                <a:lnTo>
                  <a:pt x="29713" y="0"/>
                </a:lnTo>
                <a:lnTo>
                  <a:pt x="29713" y="16714"/>
                </a:lnTo>
                <a:lnTo>
                  <a:pt x="0" y="16714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1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9" name="" descr=""/>
          <p:cNvPicPr/>
          <p:nvPr/>
        </p:nvPicPr>
        <p:blipFill>
          <a:blip r:embed="rId2"/>
          <a:stretch/>
        </p:blipFill>
        <p:spPr>
          <a:xfrm>
            <a:off x="334440" y="919080"/>
            <a:ext cx="150120" cy="1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0" name=""/>
          <p:cNvSpPr txBox="1"/>
          <p:nvPr/>
        </p:nvSpPr>
        <p:spPr>
          <a:xfrm>
            <a:off x="334440" y="210240"/>
            <a:ext cx="452700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実験結果①：リアルタイムサンプリング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334080" y="1303560"/>
            <a:ext cx="4847400" cy="3342960"/>
          </a:xfrm>
          <a:custGeom>
            <a:avLst/>
            <a:gdLst/>
            <a:ahLst/>
            <a:rect l="0" t="0" r="r" b="b"/>
            <a:pathLst>
              <a:path w="13465" h="9286">
                <a:moveTo>
                  <a:pt x="0" y="910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9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4" y="0"/>
                  <a:pt x="186" y="0"/>
                </a:cubicBezTo>
                <a:lnTo>
                  <a:pt x="13279" y="0"/>
                </a:lnTo>
                <a:cubicBezTo>
                  <a:pt x="13291" y="0"/>
                  <a:pt x="13303" y="1"/>
                  <a:pt x="13315" y="3"/>
                </a:cubicBezTo>
                <a:cubicBezTo>
                  <a:pt x="13327" y="6"/>
                  <a:pt x="13339" y="9"/>
                  <a:pt x="13350" y="14"/>
                </a:cubicBezTo>
                <a:cubicBezTo>
                  <a:pt x="13361" y="19"/>
                  <a:pt x="13372" y="24"/>
                  <a:pt x="13382" y="31"/>
                </a:cubicBezTo>
                <a:cubicBezTo>
                  <a:pt x="13392" y="38"/>
                  <a:pt x="13402" y="46"/>
                  <a:pt x="13410" y="54"/>
                </a:cubicBezTo>
                <a:cubicBezTo>
                  <a:pt x="13419" y="63"/>
                  <a:pt x="13427" y="72"/>
                  <a:pt x="13433" y="82"/>
                </a:cubicBezTo>
                <a:cubicBezTo>
                  <a:pt x="13440" y="92"/>
                  <a:pt x="13446" y="103"/>
                  <a:pt x="13450" y="114"/>
                </a:cubicBezTo>
                <a:cubicBezTo>
                  <a:pt x="13455" y="126"/>
                  <a:pt x="13459" y="137"/>
                  <a:pt x="13461" y="149"/>
                </a:cubicBezTo>
                <a:cubicBezTo>
                  <a:pt x="13463" y="161"/>
                  <a:pt x="13465" y="173"/>
                  <a:pt x="13465" y="185"/>
                </a:cubicBezTo>
                <a:lnTo>
                  <a:pt x="13465" y="9100"/>
                </a:lnTo>
                <a:cubicBezTo>
                  <a:pt x="13465" y="9112"/>
                  <a:pt x="13463" y="9125"/>
                  <a:pt x="13461" y="9136"/>
                </a:cubicBezTo>
                <a:cubicBezTo>
                  <a:pt x="13459" y="9148"/>
                  <a:pt x="13455" y="9160"/>
                  <a:pt x="13450" y="9171"/>
                </a:cubicBezTo>
                <a:cubicBezTo>
                  <a:pt x="13446" y="9183"/>
                  <a:pt x="13440" y="9193"/>
                  <a:pt x="13433" y="9203"/>
                </a:cubicBezTo>
                <a:cubicBezTo>
                  <a:pt x="13427" y="9214"/>
                  <a:pt x="13419" y="9223"/>
                  <a:pt x="13410" y="9232"/>
                </a:cubicBezTo>
                <a:cubicBezTo>
                  <a:pt x="13402" y="9240"/>
                  <a:pt x="13392" y="9248"/>
                  <a:pt x="13382" y="9255"/>
                </a:cubicBezTo>
                <a:cubicBezTo>
                  <a:pt x="13372" y="9261"/>
                  <a:pt x="13361" y="9267"/>
                  <a:pt x="13350" y="9272"/>
                </a:cubicBezTo>
                <a:cubicBezTo>
                  <a:pt x="13339" y="9276"/>
                  <a:pt x="13327" y="9280"/>
                  <a:pt x="13315" y="9282"/>
                </a:cubicBezTo>
                <a:cubicBezTo>
                  <a:pt x="13303" y="9285"/>
                  <a:pt x="13291" y="9286"/>
                  <a:pt x="13279" y="9286"/>
                </a:cubicBezTo>
                <a:lnTo>
                  <a:pt x="186" y="9286"/>
                </a:lnTo>
                <a:cubicBezTo>
                  <a:pt x="174" y="9286"/>
                  <a:pt x="161" y="9285"/>
                  <a:pt x="149" y="9282"/>
                </a:cubicBezTo>
                <a:cubicBezTo>
                  <a:pt x="138" y="9280"/>
                  <a:pt x="126" y="9276"/>
                  <a:pt x="115" y="9272"/>
                </a:cubicBezTo>
                <a:cubicBezTo>
                  <a:pt x="103" y="9267"/>
                  <a:pt x="93" y="9261"/>
                  <a:pt x="83" y="9255"/>
                </a:cubicBezTo>
                <a:cubicBezTo>
                  <a:pt x="72" y="9248"/>
                  <a:pt x="63" y="9240"/>
                  <a:pt x="54" y="9232"/>
                </a:cubicBezTo>
                <a:cubicBezTo>
                  <a:pt x="46" y="9223"/>
                  <a:pt x="38" y="9214"/>
                  <a:pt x="31" y="9203"/>
                </a:cubicBezTo>
                <a:cubicBezTo>
                  <a:pt x="25" y="9193"/>
                  <a:pt x="19" y="9183"/>
                  <a:pt x="14" y="9171"/>
                </a:cubicBezTo>
                <a:cubicBezTo>
                  <a:pt x="9" y="9160"/>
                  <a:pt x="6" y="9148"/>
                  <a:pt x="4" y="9136"/>
                </a:cubicBezTo>
                <a:cubicBezTo>
                  <a:pt x="1" y="9125"/>
                  <a:pt x="0" y="9112"/>
                  <a:pt x="0" y="91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471960" y="1742040"/>
            <a:ext cx="4571640" cy="2131560"/>
          </a:xfrm>
          <a:custGeom>
            <a:avLst/>
            <a:gdLst/>
            <a:ahLst/>
            <a:rect l="0" t="0" r="r" b="b"/>
            <a:pathLst>
              <a:path fill="none" w="12699" h="5921">
                <a:moveTo>
                  <a:pt x="0" y="5840"/>
                </a:moveTo>
                <a:lnTo>
                  <a:pt x="0" y="82"/>
                </a:ln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2"/>
                  <a:pt x="71" y="0"/>
                  <a:pt x="81" y="0"/>
                </a:cubicBezTo>
                <a:lnTo>
                  <a:pt x="12617" y="0"/>
                </a:lnTo>
                <a:cubicBezTo>
                  <a:pt x="12628" y="0"/>
                  <a:pt x="12638" y="2"/>
                  <a:pt x="12648" y="7"/>
                </a:cubicBezTo>
                <a:cubicBezTo>
                  <a:pt x="12658" y="11"/>
                  <a:pt x="12667" y="17"/>
                  <a:pt x="12675" y="24"/>
                </a:cubicBezTo>
                <a:cubicBezTo>
                  <a:pt x="12682" y="32"/>
                  <a:pt x="12688" y="41"/>
                  <a:pt x="12692" y="51"/>
                </a:cubicBezTo>
                <a:cubicBezTo>
                  <a:pt x="12697" y="61"/>
                  <a:pt x="12699" y="71"/>
                  <a:pt x="12699" y="82"/>
                </a:cubicBezTo>
                <a:lnTo>
                  <a:pt x="12699" y="5840"/>
                </a:lnTo>
                <a:cubicBezTo>
                  <a:pt x="12699" y="5850"/>
                  <a:pt x="12697" y="5861"/>
                  <a:pt x="12692" y="5871"/>
                </a:cubicBezTo>
                <a:cubicBezTo>
                  <a:pt x="12688" y="5881"/>
                  <a:pt x="12682" y="5889"/>
                  <a:pt x="12675" y="5897"/>
                </a:cubicBezTo>
                <a:cubicBezTo>
                  <a:pt x="12667" y="5905"/>
                  <a:pt x="12658" y="5910"/>
                  <a:pt x="12648" y="5915"/>
                </a:cubicBezTo>
                <a:cubicBezTo>
                  <a:pt x="12638" y="5919"/>
                  <a:pt x="12628" y="5921"/>
                  <a:pt x="12617" y="5921"/>
                </a:cubicBezTo>
                <a:lnTo>
                  <a:pt x="81" y="5921"/>
                </a:lnTo>
                <a:cubicBezTo>
                  <a:pt x="71" y="5921"/>
                  <a:pt x="60" y="5919"/>
                  <a:pt x="50" y="5915"/>
                </a:cubicBezTo>
                <a:cubicBezTo>
                  <a:pt x="40" y="5910"/>
                  <a:pt x="31" y="5905"/>
                  <a:pt x="24" y="5897"/>
                </a:cubicBezTo>
                <a:cubicBezTo>
                  <a:pt x="16" y="5889"/>
                  <a:pt x="10" y="5881"/>
                  <a:pt x="6" y="5871"/>
                </a:cubicBezTo>
                <a:cubicBezTo>
                  <a:pt x="2" y="5861"/>
                  <a:pt x="0" y="5850"/>
                  <a:pt x="0" y="5840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350640" y="4846680"/>
            <a:ext cx="4830840" cy="1136880"/>
          </a:xfrm>
          <a:custGeom>
            <a:avLst/>
            <a:gdLst/>
            <a:ahLst/>
            <a:rect l="0" t="0" r="r" b="b"/>
            <a:pathLst>
              <a:path w="13419" h="3158">
                <a:moveTo>
                  <a:pt x="0" y="2972"/>
                </a:moveTo>
                <a:lnTo>
                  <a:pt x="0" y="186"/>
                </a:lnTo>
                <a:cubicBezTo>
                  <a:pt x="0" y="174"/>
                  <a:pt x="1" y="162"/>
                  <a:pt x="3" y="150"/>
                </a:cubicBezTo>
                <a:cubicBezTo>
                  <a:pt x="5" y="138"/>
                  <a:pt x="8" y="126"/>
                  <a:pt x="11" y="115"/>
                </a:cubicBezTo>
                <a:cubicBezTo>
                  <a:pt x="15" y="103"/>
                  <a:pt x="19" y="93"/>
                  <a:pt x="24" y="83"/>
                </a:cubicBezTo>
                <a:cubicBezTo>
                  <a:pt x="29" y="72"/>
                  <a:pt x="35" y="63"/>
                  <a:pt x="41" y="54"/>
                </a:cubicBezTo>
                <a:cubicBezTo>
                  <a:pt x="48" y="46"/>
                  <a:pt x="55" y="38"/>
                  <a:pt x="62" y="31"/>
                </a:cubicBezTo>
                <a:cubicBezTo>
                  <a:pt x="70" y="25"/>
                  <a:pt x="78" y="19"/>
                  <a:pt x="86" y="14"/>
                </a:cubicBezTo>
                <a:cubicBezTo>
                  <a:pt x="95" y="10"/>
                  <a:pt x="104" y="6"/>
                  <a:pt x="113" y="4"/>
                </a:cubicBezTo>
                <a:cubicBezTo>
                  <a:pt x="122" y="1"/>
                  <a:pt x="131" y="0"/>
                  <a:pt x="140" y="0"/>
                </a:cubicBezTo>
                <a:lnTo>
                  <a:pt x="13233" y="0"/>
                </a:lnTo>
                <a:cubicBezTo>
                  <a:pt x="13245" y="0"/>
                  <a:pt x="13257" y="1"/>
                  <a:pt x="13269" y="4"/>
                </a:cubicBezTo>
                <a:cubicBezTo>
                  <a:pt x="13281" y="6"/>
                  <a:pt x="13293" y="10"/>
                  <a:pt x="13304" y="14"/>
                </a:cubicBezTo>
                <a:cubicBezTo>
                  <a:pt x="13315" y="19"/>
                  <a:pt x="13326" y="25"/>
                  <a:pt x="13336" y="31"/>
                </a:cubicBezTo>
                <a:cubicBezTo>
                  <a:pt x="13346" y="38"/>
                  <a:pt x="13356" y="46"/>
                  <a:pt x="13364" y="54"/>
                </a:cubicBezTo>
                <a:cubicBezTo>
                  <a:pt x="13373" y="63"/>
                  <a:pt x="13381" y="72"/>
                  <a:pt x="13387" y="83"/>
                </a:cubicBezTo>
                <a:cubicBezTo>
                  <a:pt x="13394" y="93"/>
                  <a:pt x="13400" y="103"/>
                  <a:pt x="13404" y="115"/>
                </a:cubicBezTo>
                <a:cubicBezTo>
                  <a:pt x="13409" y="126"/>
                  <a:pt x="13413" y="138"/>
                  <a:pt x="13415" y="150"/>
                </a:cubicBezTo>
                <a:cubicBezTo>
                  <a:pt x="13417" y="162"/>
                  <a:pt x="13419" y="174"/>
                  <a:pt x="13419" y="186"/>
                </a:cubicBezTo>
                <a:lnTo>
                  <a:pt x="13419" y="2972"/>
                </a:lnTo>
                <a:cubicBezTo>
                  <a:pt x="13419" y="2985"/>
                  <a:pt x="13417" y="2997"/>
                  <a:pt x="13415" y="3009"/>
                </a:cubicBezTo>
                <a:cubicBezTo>
                  <a:pt x="13413" y="3021"/>
                  <a:pt x="13409" y="3032"/>
                  <a:pt x="13404" y="3043"/>
                </a:cubicBezTo>
                <a:cubicBezTo>
                  <a:pt x="13400" y="3055"/>
                  <a:pt x="13394" y="3065"/>
                  <a:pt x="13387" y="3076"/>
                </a:cubicBezTo>
                <a:cubicBezTo>
                  <a:pt x="13381" y="3086"/>
                  <a:pt x="13373" y="3095"/>
                  <a:pt x="13364" y="3104"/>
                </a:cubicBezTo>
                <a:cubicBezTo>
                  <a:pt x="13356" y="3112"/>
                  <a:pt x="13346" y="3120"/>
                  <a:pt x="13336" y="3127"/>
                </a:cubicBezTo>
                <a:cubicBezTo>
                  <a:pt x="13326" y="3134"/>
                  <a:pt x="13315" y="3139"/>
                  <a:pt x="13304" y="3144"/>
                </a:cubicBezTo>
                <a:cubicBezTo>
                  <a:pt x="13293" y="3149"/>
                  <a:pt x="13281" y="3152"/>
                  <a:pt x="13269" y="3154"/>
                </a:cubicBezTo>
                <a:cubicBezTo>
                  <a:pt x="13257" y="3157"/>
                  <a:pt x="13245" y="3158"/>
                  <a:pt x="13233" y="3158"/>
                </a:cubicBezTo>
                <a:lnTo>
                  <a:pt x="140" y="3158"/>
                </a:lnTo>
                <a:cubicBezTo>
                  <a:pt x="131" y="3158"/>
                  <a:pt x="122" y="3157"/>
                  <a:pt x="113" y="3154"/>
                </a:cubicBezTo>
                <a:cubicBezTo>
                  <a:pt x="104" y="3152"/>
                  <a:pt x="95" y="3149"/>
                  <a:pt x="86" y="3144"/>
                </a:cubicBezTo>
                <a:cubicBezTo>
                  <a:pt x="78" y="3139"/>
                  <a:pt x="70" y="3134"/>
                  <a:pt x="62" y="3127"/>
                </a:cubicBezTo>
                <a:cubicBezTo>
                  <a:pt x="55" y="3120"/>
                  <a:pt x="48" y="3112"/>
                  <a:pt x="41" y="3104"/>
                </a:cubicBezTo>
                <a:cubicBezTo>
                  <a:pt x="35" y="3095"/>
                  <a:pt x="29" y="3086"/>
                  <a:pt x="24" y="3076"/>
                </a:cubicBezTo>
                <a:cubicBezTo>
                  <a:pt x="19" y="3065"/>
                  <a:pt x="15" y="3055"/>
                  <a:pt x="11" y="3043"/>
                </a:cubicBezTo>
                <a:cubicBezTo>
                  <a:pt x="8" y="3032"/>
                  <a:pt x="5" y="3021"/>
                  <a:pt x="3" y="3009"/>
                </a:cubicBezTo>
                <a:cubicBezTo>
                  <a:pt x="1" y="2997"/>
                  <a:pt x="0" y="2985"/>
                  <a:pt x="0" y="2972"/>
                </a:cubicBezTo>
                <a:close/>
              </a:path>
            </a:pathLst>
          </a:custGeom>
          <a:solidFill>
            <a:srgbClr val="f0f4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334080" y="4846680"/>
            <a:ext cx="67320" cy="1136880"/>
          </a:xfrm>
          <a:custGeom>
            <a:avLst/>
            <a:gdLst/>
            <a:ahLst/>
            <a:rect l="0" t="0" r="r" b="b"/>
            <a:pathLst>
              <a:path w="187" h="3158">
                <a:moveTo>
                  <a:pt x="0" y="0"/>
                </a:moveTo>
                <a:lnTo>
                  <a:pt x="187" y="0"/>
                </a:lnTo>
                <a:lnTo>
                  <a:pt x="187" y="3158"/>
                </a:lnTo>
                <a:lnTo>
                  <a:pt x="0" y="3158"/>
                </a:lnTo>
                <a:lnTo>
                  <a:pt x="0" y="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25" name="" descr=""/>
          <p:cNvPicPr/>
          <p:nvPr/>
        </p:nvPicPr>
        <p:blipFill>
          <a:blip r:embed="rId3"/>
          <a:stretch/>
        </p:blipFill>
        <p:spPr>
          <a:xfrm>
            <a:off x="468000" y="14706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"/>
          <p:cNvSpPr txBox="1"/>
          <p:nvPr/>
        </p:nvSpPr>
        <p:spPr>
          <a:xfrm>
            <a:off x="551520" y="913320"/>
            <a:ext cx="8030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リアルタイムサンプリングによる同期実験の結果を示す。測定では、アイパターンとコンステレーションを評価した。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7" name="" descr=""/>
          <p:cNvPicPr/>
          <p:nvPr/>
        </p:nvPicPr>
        <p:blipFill>
          <a:blip r:embed="rId4"/>
          <a:stretch/>
        </p:blipFill>
        <p:spPr>
          <a:xfrm>
            <a:off x="476280" y="1746720"/>
            <a:ext cx="4562280" cy="21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"/>
          <p:cNvSpPr txBox="1"/>
          <p:nvPr/>
        </p:nvSpPr>
        <p:spPr>
          <a:xfrm>
            <a:off x="727200" y="1465920"/>
            <a:ext cx="16956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アイパターン </a:t>
            </a:r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(I</a:t>
            </a:r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成分</a:t>
            </a:r>
            <a:r>
              <a:rPr b="0" lang="en-US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)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468000" y="4002840"/>
            <a:ext cx="45954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図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8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に示すアイパターンでは、信号の遷移が明確に観察でき、アイ開口が十分に確保さ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468000" y="4170240"/>
            <a:ext cx="587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れている。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468000" y="4370760"/>
            <a:ext cx="3403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これにより、シンボル判定の信頼性が高いことが示されている。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2" name="" descr=""/>
          <p:cNvPicPr/>
          <p:nvPr/>
        </p:nvPicPr>
        <p:blipFill>
          <a:blip r:embed="rId5"/>
          <a:stretch/>
        </p:blipFill>
        <p:spPr>
          <a:xfrm>
            <a:off x="468000" y="5256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"/>
          <p:cNvSpPr txBox="1"/>
          <p:nvPr/>
        </p:nvSpPr>
        <p:spPr>
          <a:xfrm>
            <a:off x="468000" y="4982040"/>
            <a:ext cx="53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観察結果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4" name="" descr=""/>
          <p:cNvPicPr/>
          <p:nvPr/>
        </p:nvPicPr>
        <p:blipFill>
          <a:blip r:embed="rId6"/>
          <a:stretch/>
        </p:blipFill>
        <p:spPr>
          <a:xfrm>
            <a:off x="468000" y="5490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5" name=""/>
          <p:cNvSpPr txBox="1"/>
          <p:nvPr/>
        </p:nvSpPr>
        <p:spPr>
          <a:xfrm>
            <a:off x="635040" y="5249160"/>
            <a:ext cx="11037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信号の遷移が明確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36" name="" descr=""/>
          <p:cNvPicPr/>
          <p:nvPr/>
        </p:nvPicPr>
        <p:blipFill>
          <a:blip r:embed="rId7"/>
          <a:stretch/>
        </p:blipFill>
        <p:spPr>
          <a:xfrm>
            <a:off x="468000" y="5724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"/>
          <p:cNvSpPr txBox="1"/>
          <p:nvPr/>
        </p:nvSpPr>
        <p:spPr>
          <a:xfrm>
            <a:off x="635040" y="5483160"/>
            <a:ext cx="20422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アイ開口が十分に確保されている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515200" y="1303560"/>
            <a:ext cx="4847400" cy="3342960"/>
          </a:xfrm>
          <a:custGeom>
            <a:avLst/>
            <a:gdLst/>
            <a:ahLst/>
            <a:rect l="0" t="0" r="r" b="b"/>
            <a:pathLst>
              <a:path w="13465" h="9286">
                <a:moveTo>
                  <a:pt x="0" y="9100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6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6"/>
                  <a:pt x="73" y="38"/>
                  <a:pt x="83" y="31"/>
                </a:cubicBezTo>
                <a:cubicBezTo>
                  <a:pt x="93" y="24"/>
                  <a:pt x="103" y="19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13279" y="0"/>
                </a:lnTo>
                <a:cubicBezTo>
                  <a:pt x="13291" y="0"/>
                  <a:pt x="13303" y="1"/>
                  <a:pt x="13315" y="3"/>
                </a:cubicBezTo>
                <a:cubicBezTo>
                  <a:pt x="13327" y="6"/>
                  <a:pt x="13339" y="9"/>
                  <a:pt x="13350" y="14"/>
                </a:cubicBezTo>
                <a:cubicBezTo>
                  <a:pt x="13361" y="19"/>
                  <a:pt x="13372" y="24"/>
                  <a:pt x="13382" y="31"/>
                </a:cubicBezTo>
                <a:cubicBezTo>
                  <a:pt x="13392" y="38"/>
                  <a:pt x="13402" y="46"/>
                  <a:pt x="13410" y="54"/>
                </a:cubicBezTo>
                <a:cubicBezTo>
                  <a:pt x="13419" y="63"/>
                  <a:pt x="13427" y="72"/>
                  <a:pt x="13433" y="82"/>
                </a:cubicBezTo>
                <a:cubicBezTo>
                  <a:pt x="13440" y="92"/>
                  <a:pt x="13446" y="103"/>
                  <a:pt x="13451" y="114"/>
                </a:cubicBezTo>
                <a:cubicBezTo>
                  <a:pt x="13455" y="126"/>
                  <a:pt x="13459" y="137"/>
                  <a:pt x="13461" y="149"/>
                </a:cubicBezTo>
                <a:cubicBezTo>
                  <a:pt x="13463" y="161"/>
                  <a:pt x="13465" y="173"/>
                  <a:pt x="13465" y="185"/>
                </a:cubicBezTo>
                <a:lnTo>
                  <a:pt x="13465" y="9100"/>
                </a:lnTo>
                <a:cubicBezTo>
                  <a:pt x="13465" y="9112"/>
                  <a:pt x="13463" y="9125"/>
                  <a:pt x="13461" y="9136"/>
                </a:cubicBezTo>
                <a:cubicBezTo>
                  <a:pt x="13459" y="9148"/>
                  <a:pt x="13455" y="9160"/>
                  <a:pt x="13451" y="9171"/>
                </a:cubicBezTo>
                <a:cubicBezTo>
                  <a:pt x="13446" y="9183"/>
                  <a:pt x="13440" y="9193"/>
                  <a:pt x="13433" y="9203"/>
                </a:cubicBezTo>
                <a:cubicBezTo>
                  <a:pt x="13427" y="9214"/>
                  <a:pt x="13419" y="9223"/>
                  <a:pt x="13410" y="9232"/>
                </a:cubicBezTo>
                <a:cubicBezTo>
                  <a:pt x="13402" y="9240"/>
                  <a:pt x="13392" y="9248"/>
                  <a:pt x="13382" y="9255"/>
                </a:cubicBezTo>
                <a:cubicBezTo>
                  <a:pt x="13372" y="9261"/>
                  <a:pt x="13361" y="9267"/>
                  <a:pt x="13350" y="9272"/>
                </a:cubicBezTo>
                <a:cubicBezTo>
                  <a:pt x="13339" y="9276"/>
                  <a:pt x="13327" y="9280"/>
                  <a:pt x="13315" y="9282"/>
                </a:cubicBezTo>
                <a:cubicBezTo>
                  <a:pt x="13303" y="9285"/>
                  <a:pt x="13291" y="9286"/>
                  <a:pt x="13279" y="9286"/>
                </a:cubicBezTo>
                <a:lnTo>
                  <a:pt x="186" y="9286"/>
                </a:lnTo>
                <a:cubicBezTo>
                  <a:pt x="174" y="9286"/>
                  <a:pt x="162" y="9285"/>
                  <a:pt x="150" y="9282"/>
                </a:cubicBezTo>
                <a:cubicBezTo>
                  <a:pt x="138" y="9280"/>
                  <a:pt x="126" y="9276"/>
                  <a:pt x="115" y="9272"/>
                </a:cubicBezTo>
                <a:cubicBezTo>
                  <a:pt x="103" y="9267"/>
                  <a:pt x="93" y="9261"/>
                  <a:pt x="83" y="9255"/>
                </a:cubicBezTo>
                <a:cubicBezTo>
                  <a:pt x="73" y="9248"/>
                  <a:pt x="63" y="9240"/>
                  <a:pt x="55" y="9232"/>
                </a:cubicBezTo>
                <a:cubicBezTo>
                  <a:pt x="46" y="9223"/>
                  <a:pt x="38" y="9214"/>
                  <a:pt x="31" y="9203"/>
                </a:cubicBezTo>
                <a:cubicBezTo>
                  <a:pt x="25" y="9193"/>
                  <a:pt x="19" y="9183"/>
                  <a:pt x="14" y="9171"/>
                </a:cubicBezTo>
                <a:cubicBezTo>
                  <a:pt x="10" y="9160"/>
                  <a:pt x="6" y="9148"/>
                  <a:pt x="4" y="9136"/>
                </a:cubicBezTo>
                <a:cubicBezTo>
                  <a:pt x="1" y="9125"/>
                  <a:pt x="0" y="9112"/>
                  <a:pt x="0" y="91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5653080" y="1742040"/>
            <a:ext cx="4571640" cy="2131560"/>
          </a:xfrm>
          <a:custGeom>
            <a:avLst/>
            <a:gdLst/>
            <a:ahLst/>
            <a:rect l="0" t="0" r="r" b="b"/>
            <a:pathLst>
              <a:path fill="none" w="12699" h="5921">
                <a:moveTo>
                  <a:pt x="0" y="5840"/>
                </a:moveTo>
                <a:lnTo>
                  <a:pt x="0" y="82"/>
                </a:ln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0" y="11"/>
                  <a:pt x="50" y="7"/>
                </a:cubicBezTo>
                <a:cubicBezTo>
                  <a:pt x="60" y="2"/>
                  <a:pt x="71" y="0"/>
                  <a:pt x="81" y="0"/>
                </a:cubicBezTo>
                <a:lnTo>
                  <a:pt x="12617" y="0"/>
                </a:lnTo>
                <a:cubicBezTo>
                  <a:pt x="12628" y="0"/>
                  <a:pt x="12639" y="2"/>
                  <a:pt x="12649" y="7"/>
                </a:cubicBezTo>
                <a:cubicBezTo>
                  <a:pt x="12658" y="11"/>
                  <a:pt x="12667" y="17"/>
                  <a:pt x="12675" y="24"/>
                </a:cubicBezTo>
                <a:cubicBezTo>
                  <a:pt x="12682" y="32"/>
                  <a:pt x="12688" y="41"/>
                  <a:pt x="12692" y="51"/>
                </a:cubicBezTo>
                <a:cubicBezTo>
                  <a:pt x="12697" y="61"/>
                  <a:pt x="12699" y="71"/>
                  <a:pt x="12699" y="82"/>
                </a:cubicBezTo>
                <a:lnTo>
                  <a:pt x="12699" y="5840"/>
                </a:lnTo>
                <a:cubicBezTo>
                  <a:pt x="12699" y="5850"/>
                  <a:pt x="12697" y="5861"/>
                  <a:pt x="12692" y="5871"/>
                </a:cubicBezTo>
                <a:cubicBezTo>
                  <a:pt x="12688" y="5881"/>
                  <a:pt x="12682" y="5889"/>
                  <a:pt x="12675" y="5897"/>
                </a:cubicBezTo>
                <a:cubicBezTo>
                  <a:pt x="12667" y="5905"/>
                  <a:pt x="12658" y="5910"/>
                  <a:pt x="12649" y="5915"/>
                </a:cubicBezTo>
                <a:cubicBezTo>
                  <a:pt x="12639" y="5919"/>
                  <a:pt x="12628" y="5921"/>
                  <a:pt x="12617" y="5921"/>
                </a:cubicBezTo>
                <a:lnTo>
                  <a:pt x="81" y="5921"/>
                </a:lnTo>
                <a:cubicBezTo>
                  <a:pt x="71" y="5921"/>
                  <a:pt x="60" y="5919"/>
                  <a:pt x="50" y="5915"/>
                </a:cubicBezTo>
                <a:cubicBezTo>
                  <a:pt x="40" y="5910"/>
                  <a:pt x="32" y="5905"/>
                  <a:pt x="24" y="5897"/>
                </a:cubicBezTo>
                <a:cubicBezTo>
                  <a:pt x="16" y="5889"/>
                  <a:pt x="10" y="5881"/>
                  <a:pt x="6" y="5871"/>
                </a:cubicBezTo>
                <a:cubicBezTo>
                  <a:pt x="2" y="5861"/>
                  <a:pt x="0" y="5850"/>
                  <a:pt x="0" y="5840"/>
                </a:cubicBezTo>
              </a:path>
            </a:pathLst>
          </a:custGeom>
          <a:ln w="8280">
            <a:solidFill>
              <a:srgbClr val="e5e7eb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532120" y="4846680"/>
            <a:ext cx="4830480" cy="1069920"/>
          </a:xfrm>
          <a:custGeom>
            <a:avLst/>
            <a:gdLst/>
            <a:ahLst/>
            <a:rect l="0" t="0" r="r" b="b"/>
            <a:pathLst>
              <a:path w="13418" h="2972">
                <a:moveTo>
                  <a:pt x="0" y="2786"/>
                </a:moveTo>
                <a:lnTo>
                  <a:pt x="0" y="186"/>
                </a:lnTo>
                <a:cubicBezTo>
                  <a:pt x="0" y="174"/>
                  <a:pt x="0" y="162"/>
                  <a:pt x="2" y="150"/>
                </a:cubicBezTo>
                <a:cubicBezTo>
                  <a:pt x="4" y="138"/>
                  <a:pt x="7" y="126"/>
                  <a:pt x="10" y="115"/>
                </a:cubicBezTo>
                <a:cubicBezTo>
                  <a:pt x="14" y="103"/>
                  <a:pt x="18" y="93"/>
                  <a:pt x="23" y="83"/>
                </a:cubicBezTo>
                <a:cubicBezTo>
                  <a:pt x="28" y="72"/>
                  <a:pt x="34" y="63"/>
                  <a:pt x="40" y="54"/>
                </a:cubicBezTo>
                <a:cubicBezTo>
                  <a:pt x="47" y="46"/>
                  <a:pt x="54" y="38"/>
                  <a:pt x="61" y="31"/>
                </a:cubicBezTo>
                <a:cubicBezTo>
                  <a:pt x="69" y="25"/>
                  <a:pt x="77" y="19"/>
                  <a:pt x="86" y="14"/>
                </a:cubicBezTo>
                <a:cubicBezTo>
                  <a:pt x="94" y="10"/>
                  <a:pt x="103" y="6"/>
                  <a:pt x="112" y="4"/>
                </a:cubicBezTo>
                <a:cubicBezTo>
                  <a:pt x="121" y="1"/>
                  <a:pt x="130" y="0"/>
                  <a:pt x="139" y="0"/>
                </a:cubicBezTo>
                <a:lnTo>
                  <a:pt x="13232" y="0"/>
                </a:lnTo>
                <a:cubicBezTo>
                  <a:pt x="13244" y="0"/>
                  <a:pt x="13256" y="1"/>
                  <a:pt x="13268" y="4"/>
                </a:cubicBezTo>
                <a:cubicBezTo>
                  <a:pt x="13280" y="6"/>
                  <a:pt x="13292" y="10"/>
                  <a:pt x="13303" y="14"/>
                </a:cubicBezTo>
                <a:cubicBezTo>
                  <a:pt x="13314" y="19"/>
                  <a:pt x="13325" y="25"/>
                  <a:pt x="13335" y="31"/>
                </a:cubicBezTo>
                <a:cubicBezTo>
                  <a:pt x="13345" y="38"/>
                  <a:pt x="13355" y="46"/>
                  <a:pt x="13363" y="54"/>
                </a:cubicBezTo>
                <a:cubicBezTo>
                  <a:pt x="13372" y="63"/>
                  <a:pt x="13380" y="72"/>
                  <a:pt x="13386" y="83"/>
                </a:cubicBezTo>
                <a:cubicBezTo>
                  <a:pt x="13393" y="93"/>
                  <a:pt x="13399" y="103"/>
                  <a:pt x="13404" y="115"/>
                </a:cubicBezTo>
                <a:cubicBezTo>
                  <a:pt x="13408" y="126"/>
                  <a:pt x="13412" y="138"/>
                  <a:pt x="13414" y="150"/>
                </a:cubicBezTo>
                <a:cubicBezTo>
                  <a:pt x="13416" y="162"/>
                  <a:pt x="13418" y="174"/>
                  <a:pt x="13418" y="186"/>
                </a:cubicBezTo>
                <a:lnTo>
                  <a:pt x="13418" y="2786"/>
                </a:lnTo>
                <a:cubicBezTo>
                  <a:pt x="13418" y="2798"/>
                  <a:pt x="13416" y="2810"/>
                  <a:pt x="13414" y="2822"/>
                </a:cubicBezTo>
                <a:cubicBezTo>
                  <a:pt x="13412" y="2834"/>
                  <a:pt x="13408" y="2845"/>
                  <a:pt x="13404" y="2857"/>
                </a:cubicBezTo>
                <a:cubicBezTo>
                  <a:pt x="13399" y="2868"/>
                  <a:pt x="13393" y="2880"/>
                  <a:pt x="13386" y="2890"/>
                </a:cubicBezTo>
                <a:cubicBezTo>
                  <a:pt x="13380" y="2900"/>
                  <a:pt x="13372" y="2909"/>
                  <a:pt x="13363" y="2918"/>
                </a:cubicBezTo>
                <a:cubicBezTo>
                  <a:pt x="13355" y="2927"/>
                  <a:pt x="13345" y="2934"/>
                  <a:pt x="13335" y="2941"/>
                </a:cubicBezTo>
                <a:cubicBezTo>
                  <a:pt x="13325" y="2948"/>
                  <a:pt x="13314" y="2954"/>
                  <a:pt x="13303" y="2958"/>
                </a:cubicBezTo>
                <a:cubicBezTo>
                  <a:pt x="13292" y="2963"/>
                  <a:pt x="13280" y="2966"/>
                  <a:pt x="13268" y="2969"/>
                </a:cubicBezTo>
                <a:cubicBezTo>
                  <a:pt x="13256" y="2971"/>
                  <a:pt x="13244" y="2972"/>
                  <a:pt x="13232" y="2972"/>
                </a:cubicBezTo>
                <a:lnTo>
                  <a:pt x="139" y="2972"/>
                </a:lnTo>
                <a:cubicBezTo>
                  <a:pt x="130" y="2972"/>
                  <a:pt x="121" y="2971"/>
                  <a:pt x="112" y="2969"/>
                </a:cubicBezTo>
                <a:cubicBezTo>
                  <a:pt x="103" y="2966"/>
                  <a:pt x="94" y="2963"/>
                  <a:pt x="86" y="2958"/>
                </a:cubicBezTo>
                <a:cubicBezTo>
                  <a:pt x="77" y="2954"/>
                  <a:pt x="69" y="2948"/>
                  <a:pt x="61" y="2941"/>
                </a:cubicBezTo>
                <a:cubicBezTo>
                  <a:pt x="54" y="2934"/>
                  <a:pt x="47" y="2927"/>
                  <a:pt x="40" y="2918"/>
                </a:cubicBezTo>
                <a:cubicBezTo>
                  <a:pt x="34" y="2909"/>
                  <a:pt x="28" y="2900"/>
                  <a:pt x="23" y="2890"/>
                </a:cubicBezTo>
                <a:cubicBezTo>
                  <a:pt x="18" y="2880"/>
                  <a:pt x="14" y="2868"/>
                  <a:pt x="10" y="2857"/>
                </a:cubicBezTo>
                <a:cubicBezTo>
                  <a:pt x="7" y="2845"/>
                  <a:pt x="4" y="2834"/>
                  <a:pt x="2" y="2822"/>
                </a:cubicBezTo>
                <a:cubicBezTo>
                  <a:pt x="0" y="2810"/>
                  <a:pt x="0" y="2798"/>
                  <a:pt x="0" y="2786"/>
                </a:cubicBezTo>
                <a:close/>
              </a:path>
            </a:pathLst>
          </a:custGeom>
          <a:solidFill>
            <a:srgbClr val="fff8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5515200" y="4846680"/>
            <a:ext cx="67320" cy="1069920"/>
          </a:xfrm>
          <a:custGeom>
            <a:avLst/>
            <a:gdLst/>
            <a:ahLst/>
            <a:rect l="0" t="0" r="r" b="b"/>
            <a:pathLst>
              <a:path w="187" h="2972">
                <a:moveTo>
                  <a:pt x="0" y="0"/>
                </a:moveTo>
                <a:lnTo>
                  <a:pt x="187" y="0"/>
                </a:lnTo>
                <a:lnTo>
                  <a:pt x="187" y="2972"/>
                </a:lnTo>
                <a:lnTo>
                  <a:pt x="0" y="2972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2" name="" descr=""/>
          <p:cNvPicPr/>
          <p:nvPr/>
        </p:nvPicPr>
        <p:blipFill>
          <a:blip r:embed="rId8"/>
          <a:stretch/>
        </p:blipFill>
        <p:spPr>
          <a:xfrm>
            <a:off x="5649120" y="1470600"/>
            <a:ext cx="191880" cy="1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"/>
          <p:cNvSpPr txBox="1"/>
          <p:nvPr/>
        </p:nvSpPr>
        <p:spPr>
          <a:xfrm>
            <a:off x="635040" y="5717160"/>
            <a:ext cx="1774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シンボル判定の信頼性が高い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4" name="" descr=""/>
          <p:cNvPicPr/>
          <p:nvPr/>
        </p:nvPicPr>
        <p:blipFill>
          <a:blip r:embed="rId9"/>
          <a:stretch/>
        </p:blipFill>
        <p:spPr>
          <a:xfrm>
            <a:off x="5657400" y="1746720"/>
            <a:ext cx="4562280" cy="21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"/>
          <p:cNvSpPr txBox="1"/>
          <p:nvPr/>
        </p:nvSpPr>
        <p:spPr>
          <a:xfrm>
            <a:off x="5908320" y="1465920"/>
            <a:ext cx="150948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コンステレーション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649120" y="4002840"/>
            <a:ext cx="4754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図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9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に示すコンステレーションでは、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変調の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4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つのシンボル点が明確に分離されて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5649120" y="4170240"/>
            <a:ext cx="35280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いる。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 txBox="1"/>
          <p:nvPr/>
        </p:nvSpPr>
        <p:spPr>
          <a:xfrm>
            <a:off x="5649120" y="4370760"/>
            <a:ext cx="363852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各シンボルのクラスタリングは良好で、高い信号品質を示している。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9" name="" descr=""/>
          <p:cNvPicPr/>
          <p:nvPr/>
        </p:nvPicPr>
        <p:blipFill>
          <a:blip r:embed="rId10"/>
          <a:stretch/>
        </p:blipFill>
        <p:spPr>
          <a:xfrm>
            <a:off x="5649120" y="525636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0" name=""/>
          <p:cNvSpPr txBox="1"/>
          <p:nvPr/>
        </p:nvSpPr>
        <p:spPr>
          <a:xfrm>
            <a:off x="5649120" y="4982040"/>
            <a:ext cx="5371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評価指標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5816160" y="5249160"/>
            <a:ext cx="445644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 シンボルのばらつきの少なさから、リアルタイムサンプリングでは良好な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5649120" y="5449680"/>
            <a:ext cx="45907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信号品質が得られている。 これは、次のアンダーサンプリングの結果と比較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5649120" y="5650560"/>
            <a:ext cx="107352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する基準となる。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10078200" y="571716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10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0" y="0"/>
            <a:ext cx="10696680" cy="6418080"/>
          </a:xfrm>
          <a:custGeom>
            <a:avLst/>
            <a:gdLst/>
            <a:ahLst/>
            <a:rect l="0" t="0" r="r" b="b"/>
            <a:pathLst>
              <a:path w="29713" h="17828">
                <a:moveTo>
                  <a:pt x="0" y="0"/>
                </a:moveTo>
                <a:lnTo>
                  <a:pt x="29713" y="0"/>
                </a:lnTo>
                <a:lnTo>
                  <a:pt x="29713" y="17828"/>
                </a:lnTo>
                <a:lnTo>
                  <a:pt x="0" y="17828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"/>
          <p:cNvSpPr/>
          <p:nvPr/>
        </p:nvSpPr>
        <p:spPr>
          <a:xfrm>
            <a:off x="271440" y="3864960"/>
            <a:ext cx="10153800" cy="2281680"/>
          </a:xfrm>
          <a:custGeom>
            <a:avLst/>
            <a:gdLst/>
            <a:ahLst/>
            <a:rect l="0" t="0" r="r" b="b"/>
            <a:pathLst>
              <a:path w="28205" h="6338">
                <a:moveTo>
                  <a:pt x="0" y="6164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8"/>
                  <a:pt x="9" y="118"/>
                  <a:pt x="13" y="107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8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8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2"/>
                  <a:pt x="28154" y="51"/>
                </a:cubicBezTo>
                <a:cubicBezTo>
                  <a:pt x="28162" y="59"/>
                  <a:pt x="28169" y="67"/>
                  <a:pt x="28175" y="77"/>
                </a:cubicBezTo>
                <a:cubicBezTo>
                  <a:pt x="28182" y="86"/>
                  <a:pt x="28187" y="96"/>
                  <a:pt x="28192" y="107"/>
                </a:cubicBezTo>
                <a:cubicBezTo>
                  <a:pt x="28196" y="118"/>
                  <a:pt x="28199" y="128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6164"/>
                </a:lnTo>
                <a:cubicBezTo>
                  <a:pt x="28205" y="6175"/>
                  <a:pt x="28204" y="6186"/>
                  <a:pt x="28201" y="6198"/>
                </a:cubicBezTo>
                <a:cubicBezTo>
                  <a:pt x="28199" y="6209"/>
                  <a:pt x="28196" y="6220"/>
                  <a:pt x="28192" y="6230"/>
                </a:cubicBezTo>
                <a:cubicBezTo>
                  <a:pt x="28187" y="6241"/>
                  <a:pt x="28182" y="6251"/>
                  <a:pt x="28175" y="6260"/>
                </a:cubicBezTo>
                <a:cubicBezTo>
                  <a:pt x="28169" y="6270"/>
                  <a:pt x="28162" y="6279"/>
                  <a:pt x="28154" y="6287"/>
                </a:cubicBezTo>
                <a:cubicBezTo>
                  <a:pt x="28146" y="6295"/>
                  <a:pt x="28137" y="6302"/>
                  <a:pt x="28127" y="6308"/>
                </a:cubicBezTo>
                <a:cubicBezTo>
                  <a:pt x="28118" y="6315"/>
                  <a:pt x="28108" y="6320"/>
                  <a:pt x="28097" y="6324"/>
                </a:cubicBezTo>
                <a:cubicBezTo>
                  <a:pt x="28087" y="6329"/>
                  <a:pt x="28076" y="6332"/>
                  <a:pt x="28065" y="6334"/>
                </a:cubicBezTo>
                <a:cubicBezTo>
                  <a:pt x="28053" y="6337"/>
                  <a:pt x="28042" y="6338"/>
                  <a:pt x="28031" y="6338"/>
                </a:cubicBezTo>
                <a:lnTo>
                  <a:pt x="174" y="6338"/>
                </a:lnTo>
                <a:cubicBezTo>
                  <a:pt x="163" y="6338"/>
                  <a:pt x="151" y="6337"/>
                  <a:pt x="140" y="6334"/>
                </a:cubicBezTo>
                <a:cubicBezTo>
                  <a:pt x="129" y="6332"/>
                  <a:pt x="118" y="6329"/>
                  <a:pt x="107" y="6324"/>
                </a:cubicBezTo>
                <a:cubicBezTo>
                  <a:pt x="97" y="6320"/>
                  <a:pt x="87" y="6315"/>
                  <a:pt x="77" y="6308"/>
                </a:cubicBezTo>
                <a:cubicBezTo>
                  <a:pt x="68" y="6302"/>
                  <a:pt x="59" y="6295"/>
                  <a:pt x="51" y="6287"/>
                </a:cubicBezTo>
                <a:cubicBezTo>
                  <a:pt x="43" y="6279"/>
                  <a:pt x="36" y="6270"/>
                  <a:pt x="29" y="6260"/>
                </a:cubicBezTo>
                <a:cubicBezTo>
                  <a:pt x="23" y="6251"/>
                  <a:pt x="18" y="6241"/>
                  <a:pt x="13" y="6230"/>
                </a:cubicBezTo>
                <a:cubicBezTo>
                  <a:pt x="9" y="6220"/>
                  <a:pt x="5" y="6209"/>
                  <a:pt x="3" y="6198"/>
                </a:cubicBezTo>
                <a:cubicBezTo>
                  <a:pt x="1" y="6186"/>
                  <a:pt x="0" y="6175"/>
                  <a:pt x="0" y="616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71440" y="3864960"/>
            <a:ext cx="10153800" cy="2281680"/>
          </a:xfrm>
          <a:custGeom>
            <a:avLst/>
            <a:gdLst/>
            <a:ahLst/>
            <a:rect l="0" t="0" r="r" b="b"/>
            <a:pathLst>
              <a:path fill="none" w="28205" h="6338">
                <a:moveTo>
                  <a:pt x="0" y="6164"/>
                </a:moveTo>
                <a:lnTo>
                  <a:pt x="0" y="174"/>
                </a:lnTo>
                <a:cubicBezTo>
                  <a:pt x="0" y="162"/>
                  <a:pt x="1" y="151"/>
                  <a:pt x="3" y="140"/>
                </a:cubicBezTo>
                <a:cubicBezTo>
                  <a:pt x="5" y="128"/>
                  <a:pt x="9" y="118"/>
                  <a:pt x="13" y="107"/>
                </a:cubicBezTo>
                <a:cubicBezTo>
                  <a:pt x="18" y="96"/>
                  <a:pt x="23" y="86"/>
                  <a:pt x="29" y="77"/>
                </a:cubicBezTo>
                <a:cubicBezTo>
                  <a:pt x="36" y="67"/>
                  <a:pt x="43" y="59"/>
                  <a:pt x="51" y="51"/>
                </a:cubicBezTo>
                <a:cubicBezTo>
                  <a:pt x="59" y="42"/>
                  <a:pt x="68" y="35"/>
                  <a:pt x="77" y="29"/>
                </a:cubicBezTo>
                <a:cubicBezTo>
                  <a:pt x="87" y="23"/>
                  <a:pt x="97" y="17"/>
                  <a:pt x="107" y="13"/>
                </a:cubicBezTo>
                <a:cubicBezTo>
                  <a:pt x="118" y="8"/>
                  <a:pt x="129" y="5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28031" y="0"/>
                </a:lnTo>
                <a:cubicBezTo>
                  <a:pt x="28042" y="0"/>
                  <a:pt x="28053" y="1"/>
                  <a:pt x="28065" y="3"/>
                </a:cubicBezTo>
                <a:cubicBezTo>
                  <a:pt x="28076" y="5"/>
                  <a:pt x="28087" y="8"/>
                  <a:pt x="28097" y="13"/>
                </a:cubicBezTo>
                <a:cubicBezTo>
                  <a:pt x="28108" y="17"/>
                  <a:pt x="28118" y="23"/>
                  <a:pt x="28127" y="29"/>
                </a:cubicBezTo>
                <a:cubicBezTo>
                  <a:pt x="28137" y="35"/>
                  <a:pt x="28146" y="42"/>
                  <a:pt x="28154" y="51"/>
                </a:cubicBezTo>
                <a:cubicBezTo>
                  <a:pt x="28162" y="59"/>
                  <a:pt x="28169" y="67"/>
                  <a:pt x="28175" y="77"/>
                </a:cubicBezTo>
                <a:cubicBezTo>
                  <a:pt x="28182" y="86"/>
                  <a:pt x="28187" y="96"/>
                  <a:pt x="28192" y="107"/>
                </a:cubicBezTo>
                <a:cubicBezTo>
                  <a:pt x="28196" y="118"/>
                  <a:pt x="28199" y="128"/>
                  <a:pt x="28201" y="140"/>
                </a:cubicBezTo>
                <a:cubicBezTo>
                  <a:pt x="28204" y="151"/>
                  <a:pt x="28205" y="162"/>
                  <a:pt x="28205" y="174"/>
                </a:cubicBezTo>
                <a:lnTo>
                  <a:pt x="28205" y="6164"/>
                </a:lnTo>
                <a:cubicBezTo>
                  <a:pt x="28205" y="6175"/>
                  <a:pt x="28204" y="6186"/>
                  <a:pt x="28201" y="6198"/>
                </a:cubicBezTo>
                <a:cubicBezTo>
                  <a:pt x="28199" y="6209"/>
                  <a:pt x="28196" y="6220"/>
                  <a:pt x="28192" y="6230"/>
                </a:cubicBezTo>
                <a:cubicBezTo>
                  <a:pt x="28187" y="6241"/>
                  <a:pt x="28182" y="6251"/>
                  <a:pt x="28175" y="6260"/>
                </a:cubicBezTo>
                <a:cubicBezTo>
                  <a:pt x="28169" y="6270"/>
                  <a:pt x="28162" y="6279"/>
                  <a:pt x="28154" y="6287"/>
                </a:cubicBezTo>
                <a:cubicBezTo>
                  <a:pt x="28146" y="6295"/>
                  <a:pt x="28137" y="6302"/>
                  <a:pt x="28127" y="6308"/>
                </a:cubicBezTo>
                <a:cubicBezTo>
                  <a:pt x="28118" y="6315"/>
                  <a:pt x="28108" y="6320"/>
                  <a:pt x="28097" y="6324"/>
                </a:cubicBezTo>
                <a:cubicBezTo>
                  <a:pt x="28087" y="6329"/>
                  <a:pt x="28076" y="6332"/>
                  <a:pt x="28065" y="6334"/>
                </a:cubicBezTo>
                <a:cubicBezTo>
                  <a:pt x="28053" y="6337"/>
                  <a:pt x="28042" y="6338"/>
                  <a:pt x="28031" y="6338"/>
                </a:cubicBezTo>
                <a:lnTo>
                  <a:pt x="174" y="6338"/>
                </a:lnTo>
                <a:cubicBezTo>
                  <a:pt x="163" y="6338"/>
                  <a:pt x="151" y="6337"/>
                  <a:pt x="140" y="6334"/>
                </a:cubicBezTo>
                <a:cubicBezTo>
                  <a:pt x="129" y="6332"/>
                  <a:pt x="118" y="6329"/>
                  <a:pt x="107" y="6324"/>
                </a:cubicBezTo>
                <a:cubicBezTo>
                  <a:pt x="97" y="6320"/>
                  <a:pt x="87" y="6315"/>
                  <a:pt x="77" y="6308"/>
                </a:cubicBezTo>
                <a:cubicBezTo>
                  <a:pt x="68" y="6302"/>
                  <a:pt x="59" y="6295"/>
                  <a:pt x="51" y="6287"/>
                </a:cubicBezTo>
                <a:cubicBezTo>
                  <a:pt x="43" y="6279"/>
                  <a:pt x="36" y="6270"/>
                  <a:pt x="29" y="6260"/>
                </a:cubicBezTo>
                <a:cubicBezTo>
                  <a:pt x="23" y="6251"/>
                  <a:pt x="18" y="6241"/>
                  <a:pt x="13" y="6230"/>
                </a:cubicBezTo>
                <a:cubicBezTo>
                  <a:pt x="9" y="6220"/>
                  <a:pt x="5" y="6209"/>
                  <a:pt x="3" y="6198"/>
                </a:cubicBezTo>
                <a:cubicBezTo>
                  <a:pt x="1" y="6186"/>
                  <a:pt x="0" y="6175"/>
                  <a:pt x="0" y="6164"/>
                </a:cubicBezTo>
              </a:path>
            </a:pathLst>
          </a:custGeom>
          <a:ln w="8280">
            <a:solidFill>
              <a:srgbClr val="add8e6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75760" y="3868920"/>
            <a:ext cx="10145160" cy="334800"/>
          </a:xfrm>
          <a:custGeom>
            <a:avLst/>
            <a:gdLst/>
            <a:ahLst/>
            <a:rect l="0" t="0" r="r" b="b"/>
            <a:pathLst>
              <a:path w="28181" h="930">
                <a:moveTo>
                  <a:pt x="0" y="930"/>
                </a:moveTo>
                <a:lnTo>
                  <a:pt x="0" y="163"/>
                </a:lnTo>
                <a:cubicBezTo>
                  <a:pt x="0" y="152"/>
                  <a:pt x="1" y="141"/>
                  <a:pt x="3" y="131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1"/>
                  <a:pt x="21" y="81"/>
                  <a:pt x="27" y="72"/>
                </a:cubicBezTo>
                <a:cubicBezTo>
                  <a:pt x="33" y="63"/>
                  <a:pt x="40" y="55"/>
                  <a:pt x="47" y="48"/>
                </a:cubicBezTo>
                <a:cubicBezTo>
                  <a:pt x="55" y="40"/>
                  <a:pt x="63" y="33"/>
                  <a:pt x="72" y="28"/>
                </a:cubicBezTo>
                <a:cubicBezTo>
                  <a:pt x="81" y="22"/>
                  <a:pt x="90" y="17"/>
                  <a:pt x="100" y="13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28019" y="0"/>
                </a:lnTo>
                <a:cubicBezTo>
                  <a:pt x="28029" y="0"/>
                  <a:pt x="28040" y="1"/>
                  <a:pt x="28050" y="3"/>
                </a:cubicBezTo>
                <a:cubicBezTo>
                  <a:pt x="28061" y="5"/>
                  <a:pt x="28071" y="8"/>
                  <a:pt x="28081" y="13"/>
                </a:cubicBezTo>
                <a:cubicBezTo>
                  <a:pt x="28091" y="17"/>
                  <a:pt x="28100" y="22"/>
                  <a:pt x="28109" y="28"/>
                </a:cubicBezTo>
                <a:cubicBezTo>
                  <a:pt x="28118" y="33"/>
                  <a:pt x="28126" y="40"/>
                  <a:pt x="28134" y="48"/>
                </a:cubicBezTo>
                <a:cubicBezTo>
                  <a:pt x="28141" y="55"/>
                  <a:pt x="28148" y="63"/>
                  <a:pt x="28154" y="72"/>
                </a:cubicBezTo>
                <a:cubicBezTo>
                  <a:pt x="28160" y="81"/>
                  <a:pt x="28165" y="91"/>
                  <a:pt x="28169" y="100"/>
                </a:cubicBezTo>
                <a:cubicBezTo>
                  <a:pt x="28173" y="110"/>
                  <a:pt x="28176" y="120"/>
                  <a:pt x="28178" y="131"/>
                </a:cubicBezTo>
                <a:cubicBezTo>
                  <a:pt x="28180" y="141"/>
                  <a:pt x="28181" y="152"/>
                  <a:pt x="28181" y="163"/>
                </a:cubicBezTo>
                <a:lnTo>
                  <a:pt x="28181" y="930"/>
                </a:lnTo>
                <a:lnTo>
                  <a:pt x="0" y="930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476280" y="5540400"/>
            <a:ext cx="9744120" cy="401400"/>
          </a:xfrm>
          <a:custGeom>
            <a:avLst/>
            <a:gdLst/>
            <a:ahLst/>
            <a:rect l="0" t="0" r="r" b="b"/>
            <a:pathLst>
              <a:path w="27067" h="1115">
                <a:moveTo>
                  <a:pt x="0" y="976"/>
                </a:moveTo>
                <a:lnTo>
                  <a:pt x="0" y="139"/>
                </a:lnTo>
                <a:cubicBezTo>
                  <a:pt x="0" y="121"/>
                  <a:pt x="3" y="103"/>
                  <a:pt x="10" y="86"/>
                </a:cubicBezTo>
                <a:cubicBezTo>
                  <a:pt x="17" y="69"/>
                  <a:pt x="27" y="54"/>
                  <a:pt x="40" y="41"/>
                </a:cubicBezTo>
                <a:cubicBezTo>
                  <a:pt x="53" y="27"/>
                  <a:pt x="69" y="17"/>
                  <a:pt x="86" y="10"/>
                </a:cubicBezTo>
                <a:cubicBezTo>
                  <a:pt x="103" y="3"/>
                  <a:pt x="120" y="0"/>
                  <a:pt x="139" y="0"/>
                </a:cubicBezTo>
                <a:lnTo>
                  <a:pt x="26928" y="0"/>
                </a:lnTo>
                <a:cubicBezTo>
                  <a:pt x="26946" y="0"/>
                  <a:pt x="26964" y="3"/>
                  <a:pt x="26981" y="10"/>
                </a:cubicBezTo>
                <a:cubicBezTo>
                  <a:pt x="26998" y="17"/>
                  <a:pt x="27013" y="27"/>
                  <a:pt x="27026" y="41"/>
                </a:cubicBezTo>
                <a:cubicBezTo>
                  <a:pt x="27039" y="54"/>
                  <a:pt x="27049" y="69"/>
                  <a:pt x="27056" y="86"/>
                </a:cubicBezTo>
                <a:cubicBezTo>
                  <a:pt x="27064" y="103"/>
                  <a:pt x="27067" y="121"/>
                  <a:pt x="27067" y="139"/>
                </a:cubicBezTo>
                <a:lnTo>
                  <a:pt x="27067" y="976"/>
                </a:lnTo>
                <a:cubicBezTo>
                  <a:pt x="27067" y="994"/>
                  <a:pt x="27064" y="1012"/>
                  <a:pt x="27056" y="1029"/>
                </a:cubicBezTo>
                <a:cubicBezTo>
                  <a:pt x="27049" y="1046"/>
                  <a:pt x="27039" y="1061"/>
                  <a:pt x="27026" y="1074"/>
                </a:cubicBezTo>
                <a:cubicBezTo>
                  <a:pt x="27013" y="1087"/>
                  <a:pt x="26998" y="1097"/>
                  <a:pt x="26981" y="1104"/>
                </a:cubicBezTo>
                <a:cubicBezTo>
                  <a:pt x="26964" y="1111"/>
                  <a:pt x="26946" y="1115"/>
                  <a:pt x="26928" y="1115"/>
                </a:cubicBezTo>
                <a:lnTo>
                  <a:pt x="139" y="1115"/>
                </a:lnTo>
                <a:cubicBezTo>
                  <a:pt x="120" y="1115"/>
                  <a:pt x="103" y="1111"/>
                  <a:pt x="86" y="1104"/>
                </a:cubicBezTo>
                <a:cubicBezTo>
                  <a:pt x="69" y="1097"/>
                  <a:pt x="53" y="1087"/>
                  <a:pt x="40" y="1074"/>
                </a:cubicBezTo>
                <a:cubicBezTo>
                  <a:pt x="27" y="1061"/>
                  <a:pt x="17" y="1046"/>
                  <a:pt x="10" y="1029"/>
                </a:cubicBezTo>
                <a:cubicBezTo>
                  <a:pt x="3" y="1012"/>
                  <a:pt x="0" y="994"/>
                  <a:pt x="0" y="976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71440" y="939960"/>
            <a:ext cx="4972680" cy="2716200"/>
          </a:xfrm>
          <a:custGeom>
            <a:avLst/>
            <a:gdLst/>
            <a:ahLst/>
            <a:rect l="0" t="0" r="r" b="b"/>
            <a:pathLst>
              <a:path w="13813" h="7545">
                <a:moveTo>
                  <a:pt x="0" y="7371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13639" y="0"/>
                </a:lnTo>
                <a:cubicBezTo>
                  <a:pt x="13650" y="0"/>
                  <a:pt x="13661" y="1"/>
                  <a:pt x="13673" y="3"/>
                </a:cubicBezTo>
                <a:cubicBezTo>
                  <a:pt x="13684" y="6"/>
                  <a:pt x="13695" y="9"/>
                  <a:pt x="13705" y="13"/>
                </a:cubicBezTo>
                <a:cubicBezTo>
                  <a:pt x="13716" y="18"/>
                  <a:pt x="13726" y="23"/>
                  <a:pt x="13735" y="29"/>
                </a:cubicBezTo>
                <a:cubicBezTo>
                  <a:pt x="13745" y="36"/>
                  <a:pt x="13754" y="43"/>
                  <a:pt x="13762" y="51"/>
                </a:cubicBezTo>
                <a:cubicBezTo>
                  <a:pt x="13770" y="59"/>
                  <a:pt x="13777" y="68"/>
                  <a:pt x="13783" y="77"/>
                </a:cubicBezTo>
                <a:cubicBezTo>
                  <a:pt x="13790" y="87"/>
                  <a:pt x="13795" y="97"/>
                  <a:pt x="13799" y="107"/>
                </a:cubicBezTo>
                <a:cubicBezTo>
                  <a:pt x="13804" y="118"/>
                  <a:pt x="13807" y="129"/>
                  <a:pt x="13809" y="140"/>
                </a:cubicBezTo>
                <a:cubicBezTo>
                  <a:pt x="13812" y="151"/>
                  <a:pt x="13813" y="163"/>
                  <a:pt x="13813" y="174"/>
                </a:cubicBezTo>
                <a:lnTo>
                  <a:pt x="13813" y="7371"/>
                </a:lnTo>
                <a:cubicBezTo>
                  <a:pt x="13813" y="7383"/>
                  <a:pt x="13812" y="7394"/>
                  <a:pt x="13809" y="7405"/>
                </a:cubicBezTo>
                <a:cubicBezTo>
                  <a:pt x="13807" y="7416"/>
                  <a:pt x="13804" y="7427"/>
                  <a:pt x="13799" y="7438"/>
                </a:cubicBezTo>
                <a:cubicBezTo>
                  <a:pt x="13795" y="7448"/>
                  <a:pt x="13790" y="7458"/>
                  <a:pt x="13783" y="7468"/>
                </a:cubicBezTo>
                <a:cubicBezTo>
                  <a:pt x="13777" y="7477"/>
                  <a:pt x="13770" y="7486"/>
                  <a:pt x="13762" y="7494"/>
                </a:cubicBezTo>
                <a:cubicBezTo>
                  <a:pt x="13754" y="7502"/>
                  <a:pt x="13745" y="7510"/>
                  <a:pt x="13735" y="7516"/>
                </a:cubicBezTo>
                <a:cubicBezTo>
                  <a:pt x="13726" y="7522"/>
                  <a:pt x="13716" y="7528"/>
                  <a:pt x="13705" y="7532"/>
                </a:cubicBezTo>
                <a:cubicBezTo>
                  <a:pt x="13695" y="7536"/>
                  <a:pt x="13684" y="7540"/>
                  <a:pt x="13673" y="7542"/>
                </a:cubicBezTo>
                <a:cubicBezTo>
                  <a:pt x="13661" y="7544"/>
                  <a:pt x="13650" y="7545"/>
                  <a:pt x="13639" y="7545"/>
                </a:cubicBezTo>
                <a:lnTo>
                  <a:pt x="174" y="7545"/>
                </a:lnTo>
                <a:cubicBezTo>
                  <a:pt x="163" y="7545"/>
                  <a:pt x="151" y="7544"/>
                  <a:pt x="140" y="7542"/>
                </a:cubicBezTo>
                <a:cubicBezTo>
                  <a:pt x="129" y="7540"/>
                  <a:pt x="118" y="7536"/>
                  <a:pt x="107" y="7532"/>
                </a:cubicBezTo>
                <a:cubicBezTo>
                  <a:pt x="97" y="7528"/>
                  <a:pt x="87" y="7522"/>
                  <a:pt x="77" y="7516"/>
                </a:cubicBezTo>
                <a:cubicBezTo>
                  <a:pt x="68" y="7510"/>
                  <a:pt x="59" y="7502"/>
                  <a:pt x="51" y="7494"/>
                </a:cubicBezTo>
                <a:cubicBezTo>
                  <a:pt x="43" y="7486"/>
                  <a:pt x="36" y="7477"/>
                  <a:pt x="29" y="7468"/>
                </a:cubicBezTo>
                <a:cubicBezTo>
                  <a:pt x="23" y="7458"/>
                  <a:pt x="18" y="7448"/>
                  <a:pt x="13" y="7438"/>
                </a:cubicBezTo>
                <a:cubicBezTo>
                  <a:pt x="9" y="7427"/>
                  <a:pt x="5" y="7416"/>
                  <a:pt x="3" y="7405"/>
                </a:cubicBezTo>
                <a:cubicBezTo>
                  <a:pt x="1" y="7394"/>
                  <a:pt x="0" y="7383"/>
                  <a:pt x="0" y="73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71440" y="939960"/>
            <a:ext cx="4972680" cy="2716200"/>
          </a:xfrm>
          <a:custGeom>
            <a:avLst/>
            <a:gdLst/>
            <a:ahLst/>
            <a:rect l="0" t="0" r="r" b="b"/>
            <a:pathLst>
              <a:path fill="none" w="13813" h="7545">
                <a:moveTo>
                  <a:pt x="0" y="7371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5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13639" y="0"/>
                </a:lnTo>
                <a:cubicBezTo>
                  <a:pt x="13650" y="0"/>
                  <a:pt x="13661" y="1"/>
                  <a:pt x="13673" y="3"/>
                </a:cubicBezTo>
                <a:cubicBezTo>
                  <a:pt x="13684" y="6"/>
                  <a:pt x="13695" y="9"/>
                  <a:pt x="13705" y="13"/>
                </a:cubicBezTo>
                <a:cubicBezTo>
                  <a:pt x="13716" y="18"/>
                  <a:pt x="13726" y="23"/>
                  <a:pt x="13735" y="29"/>
                </a:cubicBezTo>
                <a:cubicBezTo>
                  <a:pt x="13745" y="36"/>
                  <a:pt x="13754" y="43"/>
                  <a:pt x="13762" y="51"/>
                </a:cubicBezTo>
                <a:cubicBezTo>
                  <a:pt x="13770" y="59"/>
                  <a:pt x="13777" y="68"/>
                  <a:pt x="13783" y="77"/>
                </a:cubicBezTo>
                <a:cubicBezTo>
                  <a:pt x="13790" y="87"/>
                  <a:pt x="13795" y="97"/>
                  <a:pt x="13799" y="107"/>
                </a:cubicBezTo>
                <a:cubicBezTo>
                  <a:pt x="13804" y="118"/>
                  <a:pt x="13807" y="129"/>
                  <a:pt x="13809" y="140"/>
                </a:cubicBezTo>
                <a:cubicBezTo>
                  <a:pt x="13812" y="151"/>
                  <a:pt x="13813" y="163"/>
                  <a:pt x="13813" y="174"/>
                </a:cubicBezTo>
                <a:lnTo>
                  <a:pt x="13813" y="7371"/>
                </a:lnTo>
                <a:cubicBezTo>
                  <a:pt x="13813" y="7383"/>
                  <a:pt x="13812" y="7394"/>
                  <a:pt x="13809" y="7405"/>
                </a:cubicBezTo>
                <a:cubicBezTo>
                  <a:pt x="13807" y="7416"/>
                  <a:pt x="13804" y="7427"/>
                  <a:pt x="13799" y="7438"/>
                </a:cubicBezTo>
                <a:cubicBezTo>
                  <a:pt x="13795" y="7448"/>
                  <a:pt x="13790" y="7458"/>
                  <a:pt x="13783" y="7468"/>
                </a:cubicBezTo>
                <a:cubicBezTo>
                  <a:pt x="13777" y="7477"/>
                  <a:pt x="13770" y="7486"/>
                  <a:pt x="13762" y="7494"/>
                </a:cubicBezTo>
                <a:cubicBezTo>
                  <a:pt x="13754" y="7502"/>
                  <a:pt x="13745" y="7510"/>
                  <a:pt x="13735" y="7516"/>
                </a:cubicBezTo>
                <a:cubicBezTo>
                  <a:pt x="13726" y="7522"/>
                  <a:pt x="13716" y="7528"/>
                  <a:pt x="13705" y="7532"/>
                </a:cubicBezTo>
                <a:cubicBezTo>
                  <a:pt x="13695" y="7536"/>
                  <a:pt x="13684" y="7540"/>
                  <a:pt x="13673" y="7542"/>
                </a:cubicBezTo>
                <a:cubicBezTo>
                  <a:pt x="13661" y="7544"/>
                  <a:pt x="13650" y="7545"/>
                  <a:pt x="13639" y="7545"/>
                </a:cubicBezTo>
                <a:lnTo>
                  <a:pt x="174" y="7545"/>
                </a:lnTo>
                <a:cubicBezTo>
                  <a:pt x="163" y="7545"/>
                  <a:pt x="151" y="7544"/>
                  <a:pt x="140" y="7542"/>
                </a:cubicBezTo>
                <a:cubicBezTo>
                  <a:pt x="129" y="7540"/>
                  <a:pt x="118" y="7536"/>
                  <a:pt x="107" y="7532"/>
                </a:cubicBezTo>
                <a:cubicBezTo>
                  <a:pt x="97" y="7528"/>
                  <a:pt x="87" y="7522"/>
                  <a:pt x="77" y="7516"/>
                </a:cubicBezTo>
                <a:cubicBezTo>
                  <a:pt x="68" y="7510"/>
                  <a:pt x="59" y="7502"/>
                  <a:pt x="51" y="7494"/>
                </a:cubicBezTo>
                <a:cubicBezTo>
                  <a:pt x="43" y="7486"/>
                  <a:pt x="36" y="7477"/>
                  <a:pt x="29" y="7468"/>
                </a:cubicBezTo>
                <a:cubicBezTo>
                  <a:pt x="23" y="7458"/>
                  <a:pt x="18" y="7448"/>
                  <a:pt x="13" y="7438"/>
                </a:cubicBezTo>
                <a:cubicBezTo>
                  <a:pt x="9" y="7427"/>
                  <a:pt x="5" y="7416"/>
                  <a:pt x="3" y="7405"/>
                </a:cubicBezTo>
                <a:cubicBezTo>
                  <a:pt x="1" y="7394"/>
                  <a:pt x="0" y="7383"/>
                  <a:pt x="0" y="7371"/>
                </a:cubicBezTo>
              </a:path>
            </a:pathLst>
          </a:custGeom>
          <a:ln w="8280">
            <a:solidFill>
              <a:srgbClr val="add8e6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75760" y="944280"/>
            <a:ext cx="4964040" cy="334440"/>
          </a:xfrm>
          <a:custGeom>
            <a:avLst/>
            <a:gdLst/>
            <a:ahLst/>
            <a:rect l="0" t="0" r="r" b="b"/>
            <a:pathLst>
              <a:path w="13789" h="929">
                <a:moveTo>
                  <a:pt x="0" y="929"/>
                </a:moveTo>
                <a:lnTo>
                  <a:pt x="0" y="162"/>
                </a:lnTo>
                <a:cubicBezTo>
                  <a:pt x="0" y="151"/>
                  <a:pt x="1" y="141"/>
                  <a:pt x="3" y="130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627" y="0"/>
                </a:lnTo>
                <a:cubicBezTo>
                  <a:pt x="13637" y="0"/>
                  <a:pt x="13648" y="1"/>
                  <a:pt x="13658" y="3"/>
                </a:cubicBezTo>
                <a:cubicBezTo>
                  <a:pt x="13669" y="5"/>
                  <a:pt x="13679" y="8"/>
                  <a:pt x="13689" y="12"/>
                </a:cubicBezTo>
                <a:cubicBezTo>
                  <a:pt x="13699" y="16"/>
                  <a:pt x="13708" y="21"/>
                  <a:pt x="13717" y="27"/>
                </a:cubicBezTo>
                <a:cubicBezTo>
                  <a:pt x="13726" y="33"/>
                  <a:pt x="13734" y="40"/>
                  <a:pt x="13741" y="47"/>
                </a:cubicBezTo>
                <a:cubicBezTo>
                  <a:pt x="13749" y="55"/>
                  <a:pt x="13756" y="63"/>
                  <a:pt x="13762" y="72"/>
                </a:cubicBezTo>
                <a:cubicBezTo>
                  <a:pt x="13768" y="81"/>
                  <a:pt x="13773" y="90"/>
                  <a:pt x="13777" y="100"/>
                </a:cubicBezTo>
                <a:cubicBezTo>
                  <a:pt x="13781" y="110"/>
                  <a:pt x="13784" y="120"/>
                  <a:pt x="13786" y="130"/>
                </a:cubicBezTo>
                <a:cubicBezTo>
                  <a:pt x="13788" y="141"/>
                  <a:pt x="13789" y="151"/>
                  <a:pt x="13789" y="162"/>
                </a:cubicBezTo>
                <a:lnTo>
                  <a:pt x="13789" y="929"/>
                </a:lnTo>
                <a:lnTo>
                  <a:pt x="0" y="929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334440" y="210240"/>
            <a:ext cx="40240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実験結果②：アンダーサンプリング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5" name="" descr=""/>
          <p:cNvPicPr/>
          <p:nvPr/>
        </p:nvPicPr>
        <p:blipFill>
          <a:blip r:embed="rId2"/>
          <a:stretch/>
        </p:blipFill>
        <p:spPr>
          <a:xfrm>
            <a:off x="409320" y="1412280"/>
            <a:ext cx="4696200" cy="18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"/>
          <p:cNvSpPr txBox="1"/>
          <p:nvPr/>
        </p:nvSpPr>
        <p:spPr>
          <a:xfrm>
            <a:off x="376200" y="1038600"/>
            <a:ext cx="90612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アイパターン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5452560" y="939960"/>
            <a:ext cx="4972680" cy="2716200"/>
          </a:xfrm>
          <a:custGeom>
            <a:avLst/>
            <a:gdLst/>
            <a:ahLst/>
            <a:rect l="0" t="0" r="r" b="b"/>
            <a:pathLst>
              <a:path w="13813" h="7545">
                <a:moveTo>
                  <a:pt x="0" y="7371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6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13639" y="0"/>
                </a:lnTo>
                <a:cubicBezTo>
                  <a:pt x="13650" y="0"/>
                  <a:pt x="13661" y="1"/>
                  <a:pt x="13673" y="3"/>
                </a:cubicBezTo>
                <a:cubicBezTo>
                  <a:pt x="13684" y="6"/>
                  <a:pt x="13695" y="9"/>
                  <a:pt x="13705" y="13"/>
                </a:cubicBezTo>
                <a:cubicBezTo>
                  <a:pt x="13716" y="18"/>
                  <a:pt x="13726" y="23"/>
                  <a:pt x="13735" y="29"/>
                </a:cubicBezTo>
                <a:cubicBezTo>
                  <a:pt x="13745" y="36"/>
                  <a:pt x="13754" y="43"/>
                  <a:pt x="13762" y="51"/>
                </a:cubicBezTo>
                <a:cubicBezTo>
                  <a:pt x="13770" y="59"/>
                  <a:pt x="13777" y="68"/>
                  <a:pt x="13783" y="77"/>
                </a:cubicBezTo>
                <a:cubicBezTo>
                  <a:pt x="13790" y="87"/>
                  <a:pt x="13795" y="97"/>
                  <a:pt x="13800" y="107"/>
                </a:cubicBezTo>
                <a:cubicBezTo>
                  <a:pt x="13804" y="118"/>
                  <a:pt x="13807" y="129"/>
                  <a:pt x="13809" y="140"/>
                </a:cubicBezTo>
                <a:cubicBezTo>
                  <a:pt x="13812" y="151"/>
                  <a:pt x="13813" y="163"/>
                  <a:pt x="13813" y="174"/>
                </a:cubicBezTo>
                <a:lnTo>
                  <a:pt x="13813" y="7371"/>
                </a:lnTo>
                <a:cubicBezTo>
                  <a:pt x="13813" y="7383"/>
                  <a:pt x="13812" y="7394"/>
                  <a:pt x="13809" y="7405"/>
                </a:cubicBezTo>
                <a:cubicBezTo>
                  <a:pt x="13807" y="7416"/>
                  <a:pt x="13804" y="7427"/>
                  <a:pt x="13800" y="7438"/>
                </a:cubicBezTo>
                <a:cubicBezTo>
                  <a:pt x="13795" y="7448"/>
                  <a:pt x="13790" y="7458"/>
                  <a:pt x="13783" y="7468"/>
                </a:cubicBezTo>
                <a:cubicBezTo>
                  <a:pt x="13777" y="7477"/>
                  <a:pt x="13770" y="7486"/>
                  <a:pt x="13762" y="7494"/>
                </a:cubicBezTo>
                <a:cubicBezTo>
                  <a:pt x="13754" y="7502"/>
                  <a:pt x="13745" y="7510"/>
                  <a:pt x="13735" y="7516"/>
                </a:cubicBezTo>
                <a:cubicBezTo>
                  <a:pt x="13726" y="7522"/>
                  <a:pt x="13716" y="7528"/>
                  <a:pt x="13705" y="7532"/>
                </a:cubicBezTo>
                <a:cubicBezTo>
                  <a:pt x="13695" y="7536"/>
                  <a:pt x="13684" y="7540"/>
                  <a:pt x="13673" y="7542"/>
                </a:cubicBezTo>
                <a:cubicBezTo>
                  <a:pt x="13661" y="7544"/>
                  <a:pt x="13650" y="7545"/>
                  <a:pt x="13639" y="7545"/>
                </a:cubicBezTo>
                <a:lnTo>
                  <a:pt x="174" y="7545"/>
                </a:lnTo>
                <a:cubicBezTo>
                  <a:pt x="163" y="7545"/>
                  <a:pt x="151" y="7544"/>
                  <a:pt x="140" y="7542"/>
                </a:cubicBezTo>
                <a:cubicBezTo>
                  <a:pt x="129" y="7540"/>
                  <a:pt x="118" y="7536"/>
                  <a:pt x="107" y="7532"/>
                </a:cubicBezTo>
                <a:cubicBezTo>
                  <a:pt x="97" y="7528"/>
                  <a:pt x="87" y="7522"/>
                  <a:pt x="77" y="7516"/>
                </a:cubicBezTo>
                <a:cubicBezTo>
                  <a:pt x="68" y="7510"/>
                  <a:pt x="59" y="7502"/>
                  <a:pt x="51" y="7494"/>
                </a:cubicBezTo>
                <a:cubicBezTo>
                  <a:pt x="43" y="7486"/>
                  <a:pt x="36" y="7477"/>
                  <a:pt x="29" y="7468"/>
                </a:cubicBezTo>
                <a:cubicBezTo>
                  <a:pt x="23" y="7458"/>
                  <a:pt x="18" y="7448"/>
                  <a:pt x="13" y="7438"/>
                </a:cubicBezTo>
                <a:cubicBezTo>
                  <a:pt x="9" y="7427"/>
                  <a:pt x="6" y="7416"/>
                  <a:pt x="3" y="7405"/>
                </a:cubicBezTo>
                <a:cubicBezTo>
                  <a:pt x="1" y="7394"/>
                  <a:pt x="0" y="7383"/>
                  <a:pt x="0" y="737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5452560" y="939960"/>
            <a:ext cx="4972680" cy="2716200"/>
          </a:xfrm>
          <a:custGeom>
            <a:avLst/>
            <a:gdLst/>
            <a:ahLst/>
            <a:rect l="0" t="0" r="r" b="b"/>
            <a:pathLst>
              <a:path fill="none" w="13813" h="7545">
                <a:moveTo>
                  <a:pt x="0" y="7371"/>
                </a:moveTo>
                <a:lnTo>
                  <a:pt x="0" y="174"/>
                </a:lnTo>
                <a:cubicBezTo>
                  <a:pt x="0" y="163"/>
                  <a:pt x="1" y="151"/>
                  <a:pt x="3" y="140"/>
                </a:cubicBezTo>
                <a:cubicBezTo>
                  <a:pt x="6" y="129"/>
                  <a:pt x="9" y="118"/>
                  <a:pt x="13" y="107"/>
                </a:cubicBezTo>
                <a:cubicBezTo>
                  <a:pt x="18" y="97"/>
                  <a:pt x="23" y="87"/>
                  <a:pt x="29" y="77"/>
                </a:cubicBezTo>
                <a:cubicBezTo>
                  <a:pt x="36" y="68"/>
                  <a:pt x="43" y="59"/>
                  <a:pt x="51" y="51"/>
                </a:cubicBezTo>
                <a:cubicBezTo>
                  <a:pt x="59" y="43"/>
                  <a:pt x="68" y="36"/>
                  <a:pt x="77" y="29"/>
                </a:cubicBezTo>
                <a:cubicBezTo>
                  <a:pt x="87" y="23"/>
                  <a:pt x="97" y="18"/>
                  <a:pt x="107" y="13"/>
                </a:cubicBezTo>
                <a:cubicBezTo>
                  <a:pt x="118" y="9"/>
                  <a:pt x="129" y="6"/>
                  <a:pt x="140" y="3"/>
                </a:cubicBezTo>
                <a:cubicBezTo>
                  <a:pt x="151" y="1"/>
                  <a:pt x="163" y="0"/>
                  <a:pt x="174" y="0"/>
                </a:cubicBezTo>
                <a:lnTo>
                  <a:pt x="13639" y="0"/>
                </a:lnTo>
                <a:cubicBezTo>
                  <a:pt x="13650" y="0"/>
                  <a:pt x="13661" y="1"/>
                  <a:pt x="13673" y="3"/>
                </a:cubicBezTo>
                <a:cubicBezTo>
                  <a:pt x="13684" y="6"/>
                  <a:pt x="13695" y="9"/>
                  <a:pt x="13705" y="13"/>
                </a:cubicBezTo>
                <a:cubicBezTo>
                  <a:pt x="13716" y="18"/>
                  <a:pt x="13726" y="23"/>
                  <a:pt x="13735" y="29"/>
                </a:cubicBezTo>
                <a:cubicBezTo>
                  <a:pt x="13745" y="36"/>
                  <a:pt x="13754" y="43"/>
                  <a:pt x="13762" y="51"/>
                </a:cubicBezTo>
                <a:cubicBezTo>
                  <a:pt x="13770" y="59"/>
                  <a:pt x="13777" y="68"/>
                  <a:pt x="13783" y="77"/>
                </a:cubicBezTo>
                <a:cubicBezTo>
                  <a:pt x="13790" y="87"/>
                  <a:pt x="13795" y="97"/>
                  <a:pt x="13800" y="107"/>
                </a:cubicBezTo>
                <a:cubicBezTo>
                  <a:pt x="13804" y="118"/>
                  <a:pt x="13807" y="129"/>
                  <a:pt x="13809" y="140"/>
                </a:cubicBezTo>
                <a:cubicBezTo>
                  <a:pt x="13812" y="151"/>
                  <a:pt x="13813" y="163"/>
                  <a:pt x="13813" y="174"/>
                </a:cubicBezTo>
                <a:lnTo>
                  <a:pt x="13813" y="7371"/>
                </a:lnTo>
                <a:cubicBezTo>
                  <a:pt x="13813" y="7383"/>
                  <a:pt x="13812" y="7394"/>
                  <a:pt x="13809" y="7405"/>
                </a:cubicBezTo>
                <a:cubicBezTo>
                  <a:pt x="13807" y="7416"/>
                  <a:pt x="13804" y="7427"/>
                  <a:pt x="13800" y="7438"/>
                </a:cubicBezTo>
                <a:cubicBezTo>
                  <a:pt x="13795" y="7448"/>
                  <a:pt x="13790" y="7458"/>
                  <a:pt x="13783" y="7468"/>
                </a:cubicBezTo>
                <a:cubicBezTo>
                  <a:pt x="13777" y="7477"/>
                  <a:pt x="13770" y="7486"/>
                  <a:pt x="13762" y="7494"/>
                </a:cubicBezTo>
                <a:cubicBezTo>
                  <a:pt x="13754" y="7502"/>
                  <a:pt x="13745" y="7510"/>
                  <a:pt x="13735" y="7516"/>
                </a:cubicBezTo>
                <a:cubicBezTo>
                  <a:pt x="13726" y="7522"/>
                  <a:pt x="13716" y="7528"/>
                  <a:pt x="13705" y="7532"/>
                </a:cubicBezTo>
                <a:cubicBezTo>
                  <a:pt x="13695" y="7536"/>
                  <a:pt x="13684" y="7540"/>
                  <a:pt x="13673" y="7542"/>
                </a:cubicBezTo>
                <a:cubicBezTo>
                  <a:pt x="13661" y="7544"/>
                  <a:pt x="13650" y="7545"/>
                  <a:pt x="13639" y="7545"/>
                </a:cubicBezTo>
                <a:lnTo>
                  <a:pt x="174" y="7545"/>
                </a:lnTo>
                <a:cubicBezTo>
                  <a:pt x="163" y="7545"/>
                  <a:pt x="151" y="7544"/>
                  <a:pt x="140" y="7542"/>
                </a:cubicBezTo>
                <a:cubicBezTo>
                  <a:pt x="129" y="7540"/>
                  <a:pt x="118" y="7536"/>
                  <a:pt x="107" y="7532"/>
                </a:cubicBezTo>
                <a:cubicBezTo>
                  <a:pt x="97" y="7528"/>
                  <a:pt x="87" y="7522"/>
                  <a:pt x="77" y="7516"/>
                </a:cubicBezTo>
                <a:cubicBezTo>
                  <a:pt x="68" y="7510"/>
                  <a:pt x="59" y="7502"/>
                  <a:pt x="51" y="7494"/>
                </a:cubicBezTo>
                <a:cubicBezTo>
                  <a:pt x="43" y="7486"/>
                  <a:pt x="36" y="7477"/>
                  <a:pt x="29" y="7468"/>
                </a:cubicBezTo>
                <a:cubicBezTo>
                  <a:pt x="23" y="7458"/>
                  <a:pt x="18" y="7448"/>
                  <a:pt x="13" y="7438"/>
                </a:cubicBezTo>
                <a:cubicBezTo>
                  <a:pt x="9" y="7427"/>
                  <a:pt x="6" y="7416"/>
                  <a:pt x="3" y="7405"/>
                </a:cubicBezTo>
                <a:cubicBezTo>
                  <a:pt x="1" y="7394"/>
                  <a:pt x="0" y="7383"/>
                  <a:pt x="0" y="7371"/>
                </a:cubicBezTo>
              </a:path>
            </a:pathLst>
          </a:custGeom>
          <a:ln w="8280">
            <a:solidFill>
              <a:srgbClr val="add8e6"/>
            </a:solidFill>
            <a:miter/>
          </a:ln>
        </p:spPr>
        <p:txBody>
          <a:bodyPr lIns="3960" rIns="3960" tIns="3960" bIns="39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5456880" y="944280"/>
            <a:ext cx="4964040" cy="334440"/>
          </a:xfrm>
          <a:custGeom>
            <a:avLst/>
            <a:gdLst/>
            <a:ahLst/>
            <a:rect l="0" t="0" r="r" b="b"/>
            <a:pathLst>
              <a:path w="13789" h="929">
                <a:moveTo>
                  <a:pt x="0" y="929"/>
                </a:moveTo>
                <a:lnTo>
                  <a:pt x="0" y="162"/>
                </a:lnTo>
                <a:cubicBezTo>
                  <a:pt x="0" y="151"/>
                  <a:pt x="1" y="141"/>
                  <a:pt x="3" y="130"/>
                </a:cubicBezTo>
                <a:cubicBezTo>
                  <a:pt x="5" y="120"/>
                  <a:pt x="8" y="110"/>
                  <a:pt x="12" y="100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2" y="27"/>
                </a:cubicBezTo>
                <a:cubicBezTo>
                  <a:pt x="81" y="21"/>
                  <a:pt x="90" y="16"/>
                  <a:pt x="100" y="12"/>
                </a:cubicBezTo>
                <a:cubicBezTo>
                  <a:pt x="110" y="8"/>
                  <a:pt x="120" y="5"/>
                  <a:pt x="130" y="3"/>
                </a:cubicBezTo>
                <a:cubicBezTo>
                  <a:pt x="141" y="1"/>
                  <a:pt x="151" y="0"/>
                  <a:pt x="162" y="0"/>
                </a:cubicBezTo>
                <a:lnTo>
                  <a:pt x="13627" y="0"/>
                </a:lnTo>
                <a:cubicBezTo>
                  <a:pt x="13637" y="0"/>
                  <a:pt x="13648" y="1"/>
                  <a:pt x="13658" y="3"/>
                </a:cubicBezTo>
                <a:cubicBezTo>
                  <a:pt x="13669" y="5"/>
                  <a:pt x="13679" y="8"/>
                  <a:pt x="13689" y="12"/>
                </a:cubicBezTo>
                <a:cubicBezTo>
                  <a:pt x="13699" y="16"/>
                  <a:pt x="13708" y="21"/>
                  <a:pt x="13717" y="27"/>
                </a:cubicBezTo>
                <a:cubicBezTo>
                  <a:pt x="13726" y="33"/>
                  <a:pt x="13734" y="40"/>
                  <a:pt x="13742" y="47"/>
                </a:cubicBezTo>
                <a:cubicBezTo>
                  <a:pt x="13749" y="55"/>
                  <a:pt x="13756" y="63"/>
                  <a:pt x="13762" y="72"/>
                </a:cubicBezTo>
                <a:cubicBezTo>
                  <a:pt x="13768" y="81"/>
                  <a:pt x="13773" y="90"/>
                  <a:pt x="13777" y="100"/>
                </a:cubicBezTo>
                <a:cubicBezTo>
                  <a:pt x="13781" y="110"/>
                  <a:pt x="13784" y="120"/>
                  <a:pt x="13786" y="130"/>
                </a:cubicBezTo>
                <a:cubicBezTo>
                  <a:pt x="13788" y="141"/>
                  <a:pt x="13789" y="151"/>
                  <a:pt x="13789" y="162"/>
                </a:cubicBezTo>
                <a:lnTo>
                  <a:pt x="13789" y="929"/>
                </a:lnTo>
                <a:lnTo>
                  <a:pt x="0" y="929"/>
                </a:ln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474920" y="3376080"/>
            <a:ext cx="26751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図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10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：アンダーサンプリングによるアイパターン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71" name="" descr=""/>
          <p:cNvPicPr/>
          <p:nvPr/>
        </p:nvPicPr>
        <p:blipFill>
          <a:blip r:embed="rId3"/>
          <a:stretch/>
        </p:blipFill>
        <p:spPr>
          <a:xfrm>
            <a:off x="5590800" y="1412280"/>
            <a:ext cx="4696200" cy="18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"/>
          <p:cNvSpPr txBox="1"/>
          <p:nvPr/>
        </p:nvSpPr>
        <p:spPr>
          <a:xfrm>
            <a:off x="5557320" y="1038600"/>
            <a:ext cx="135864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コンステレーション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6472440" y="3376080"/>
            <a:ext cx="3027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図</a:t>
            </a:r>
            <a:r>
              <a:rPr b="0" lang="en-US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11</a:t>
            </a:r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：アンダーサンプリングによるコンステレーション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3768840" y="4403880"/>
            <a:ext cx="401400" cy="401400"/>
          </a:xfrm>
          <a:custGeom>
            <a:avLst/>
            <a:gdLst/>
            <a:ahLst/>
            <a:rect l="0" t="0" r="r" b="b"/>
            <a:pathLst>
              <a:path w="1115" h="1115">
                <a:moveTo>
                  <a:pt x="1115" y="557"/>
                </a:moveTo>
                <a:cubicBezTo>
                  <a:pt x="1115" y="594"/>
                  <a:pt x="1111" y="631"/>
                  <a:pt x="1104" y="667"/>
                </a:cubicBezTo>
                <a:cubicBezTo>
                  <a:pt x="1097" y="702"/>
                  <a:pt x="1086" y="737"/>
                  <a:pt x="1072" y="771"/>
                </a:cubicBezTo>
                <a:cubicBezTo>
                  <a:pt x="1058" y="805"/>
                  <a:pt x="1041" y="837"/>
                  <a:pt x="1021" y="867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7" y="1021"/>
                </a:cubicBezTo>
                <a:cubicBezTo>
                  <a:pt x="837" y="1041"/>
                  <a:pt x="805" y="1059"/>
                  <a:pt x="771" y="1073"/>
                </a:cubicBezTo>
                <a:cubicBezTo>
                  <a:pt x="737" y="1087"/>
                  <a:pt x="702" y="1097"/>
                  <a:pt x="666" y="1104"/>
                </a:cubicBezTo>
                <a:cubicBezTo>
                  <a:pt x="631" y="1111"/>
                  <a:pt x="594" y="1115"/>
                  <a:pt x="558" y="1115"/>
                </a:cubicBezTo>
                <a:cubicBezTo>
                  <a:pt x="521" y="1115"/>
                  <a:pt x="485" y="1111"/>
                  <a:pt x="449" y="1104"/>
                </a:cubicBezTo>
                <a:cubicBezTo>
                  <a:pt x="413" y="1097"/>
                  <a:pt x="378" y="1087"/>
                  <a:pt x="345" y="1073"/>
                </a:cubicBezTo>
                <a:cubicBezTo>
                  <a:pt x="311" y="1059"/>
                  <a:pt x="279" y="1041"/>
                  <a:pt x="248" y="1021"/>
                </a:cubicBezTo>
                <a:cubicBezTo>
                  <a:pt x="218" y="1001"/>
                  <a:pt x="190" y="978"/>
                  <a:pt x="164" y="952"/>
                </a:cubicBezTo>
                <a:cubicBezTo>
                  <a:pt x="138" y="926"/>
                  <a:pt x="115" y="898"/>
                  <a:pt x="93" y="867"/>
                </a:cubicBezTo>
                <a:cubicBezTo>
                  <a:pt x="73" y="837"/>
                  <a:pt x="56" y="805"/>
                  <a:pt x="42" y="771"/>
                </a:cubicBezTo>
                <a:cubicBezTo>
                  <a:pt x="28" y="737"/>
                  <a:pt x="17" y="702"/>
                  <a:pt x="10" y="667"/>
                </a:cubicBezTo>
                <a:cubicBezTo>
                  <a:pt x="3" y="631"/>
                  <a:pt x="0" y="594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7" y="412"/>
                  <a:pt x="28" y="377"/>
                  <a:pt x="42" y="344"/>
                </a:cubicBezTo>
                <a:cubicBezTo>
                  <a:pt x="56" y="310"/>
                  <a:pt x="73" y="278"/>
                  <a:pt x="93" y="247"/>
                </a:cubicBezTo>
                <a:cubicBezTo>
                  <a:pt x="115" y="217"/>
                  <a:pt x="138" y="189"/>
                  <a:pt x="164" y="163"/>
                </a:cubicBezTo>
                <a:cubicBezTo>
                  <a:pt x="190" y="137"/>
                  <a:pt x="218" y="114"/>
                  <a:pt x="248" y="94"/>
                </a:cubicBezTo>
                <a:cubicBezTo>
                  <a:pt x="279" y="73"/>
                  <a:pt x="311" y="56"/>
                  <a:pt x="345" y="42"/>
                </a:cubicBezTo>
                <a:cubicBezTo>
                  <a:pt x="378" y="28"/>
                  <a:pt x="413" y="18"/>
                  <a:pt x="449" y="10"/>
                </a:cubicBezTo>
                <a:cubicBezTo>
                  <a:pt x="485" y="3"/>
                  <a:pt x="521" y="0"/>
                  <a:pt x="558" y="0"/>
                </a:cubicBezTo>
                <a:cubicBezTo>
                  <a:pt x="594" y="0"/>
                  <a:pt x="631" y="3"/>
                  <a:pt x="666" y="10"/>
                </a:cubicBezTo>
                <a:cubicBezTo>
                  <a:pt x="702" y="18"/>
                  <a:pt x="737" y="28"/>
                  <a:pt x="771" y="42"/>
                </a:cubicBezTo>
                <a:cubicBezTo>
                  <a:pt x="805" y="56"/>
                  <a:pt x="837" y="73"/>
                  <a:pt x="867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1" y="247"/>
                </a:cubicBezTo>
                <a:cubicBezTo>
                  <a:pt x="1041" y="278"/>
                  <a:pt x="1058" y="310"/>
                  <a:pt x="1072" y="344"/>
                </a:cubicBezTo>
                <a:cubicBezTo>
                  <a:pt x="1086" y="377"/>
                  <a:pt x="1097" y="412"/>
                  <a:pt x="1104" y="448"/>
                </a:cubicBezTo>
                <a:cubicBezTo>
                  <a:pt x="1111" y="484"/>
                  <a:pt x="1115" y="520"/>
                  <a:pt x="1115" y="557"/>
                </a:cubicBezTo>
                <a:close/>
              </a:path>
            </a:pathLst>
          </a:custGeom>
          <a:solidFill>
            <a:srgbClr val="0000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75" name="" descr=""/>
          <p:cNvPicPr/>
          <p:nvPr/>
        </p:nvPicPr>
        <p:blipFill>
          <a:blip r:embed="rId4"/>
          <a:stretch/>
        </p:blipFill>
        <p:spPr>
          <a:xfrm>
            <a:off x="3869280" y="4487400"/>
            <a:ext cx="1918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"/>
          <p:cNvSpPr txBox="1"/>
          <p:nvPr/>
        </p:nvSpPr>
        <p:spPr>
          <a:xfrm>
            <a:off x="376200" y="3963600"/>
            <a:ext cx="9676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EVM</a:t>
            </a:r>
            <a:r>
              <a:rPr b="0" lang="zh-CN" sz="1180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測定結果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3233880" y="4916160"/>
            <a:ext cx="15400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従来手法（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用）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5498640" y="4570920"/>
            <a:ext cx="16920" cy="668880"/>
          </a:xfrm>
          <a:custGeom>
            <a:avLst/>
            <a:gdLst/>
            <a:ahLst/>
            <a:rect l="0" t="0" r="r" b="b"/>
            <a:pathLst>
              <a:path w="47" h="1858">
                <a:moveTo>
                  <a:pt x="0" y="0"/>
                </a:moveTo>
                <a:lnTo>
                  <a:pt x="47" y="0"/>
                </a:lnTo>
                <a:lnTo>
                  <a:pt x="47" y="1858"/>
                </a:lnTo>
                <a:lnTo>
                  <a:pt x="0" y="1858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6492960" y="4403880"/>
            <a:ext cx="401400" cy="401400"/>
          </a:xfrm>
          <a:custGeom>
            <a:avLst/>
            <a:gdLst/>
            <a:ahLst/>
            <a:rect l="0" t="0" r="r" b="b"/>
            <a:pathLst>
              <a:path w="1115" h="1115">
                <a:moveTo>
                  <a:pt x="1115" y="557"/>
                </a:moveTo>
                <a:cubicBezTo>
                  <a:pt x="1115" y="594"/>
                  <a:pt x="1112" y="631"/>
                  <a:pt x="1105" y="667"/>
                </a:cubicBezTo>
                <a:cubicBezTo>
                  <a:pt x="1097" y="702"/>
                  <a:pt x="1087" y="737"/>
                  <a:pt x="1073" y="771"/>
                </a:cubicBezTo>
                <a:cubicBezTo>
                  <a:pt x="1059" y="805"/>
                  <a:pt x="1042" y="837"/>
                  <a:pt x="1021" y="867"/>
                </a:cubicBezTo>
                <a:cubicBezTo>
                  <a:pt x="1001" y="898"/>
                  <a:pt x="978" y="926"/>
                  <a:pt x="952" y="952"/>
                </a:cubicBezTo>
                <a:cubicBezTo>
                  <a:pt x="926" y="978"/>
                  <a:pt x="898" y="1001"/>
                  <a:pt x="868" y="1021"/>
                </a:cubicBezTo>
                <a:cubicBezTo>
                  <a:pt x="837" y="1041"/>
                  <a:pt x="805" y="1059"/>
                  <a:pt x="771" y="1073"/>
                </a:cubicBezTo>
                <a:cubicBezTo>
                  <a:pt x="738" y="1087"/>
                  <a:pt x="703" y="1097"/>
                  <a:pt x="667" y="1104"/>
                </a:cubicBezTo>
                <a:cubicBezTo>
                  <a:pt x="631" y="1111"/>
                  <a:pt x="595" y="1115"/>
                  <a:pt x="558" y="1115"/>
                </a:cubicBezTo>
                <a:cubicBezTo>
                  <a:pt x="522" y="1115"/>
                  <a:pt x="485" y="1111"/>
                  <a:pt x="449" y="1104"/>
                </a:cubicBezTo>
                <a:cubicBezTo>
                  <a:pt x="414" y="1097"/>
                  <a:pt x="379" y="1087"/>
                  <a:pt x="344" y="1073"/>
                </a:cubicBezTo>
                <a:cubicBezTo>
                  <a:pt x="310" y="1059"/>
                  <a:pt x="278" y="1041"/>
                  <a:pt x="248" y="1021"/>
                </a:cubicBezTo>
                <a:cubicBezTo>
                  <a:pt x="217" y="1001"/>
                  <a:pt x="189" y="978"/>
                  <a:pt x="163" y="952"/>
                </a:cubicBezTo>
                <a:cubicBezTo>
                  <a:pt x="137" y="926"/>
                  <a:pt x="114" y="898"/>
                  <a:pt x="94" y="867"/>
                </a:cubicBezTo>
                <a:cubicBezTo>
                  <a:pt x="74" y="837"/>
                  <a:pt x="56" y="805"/>
                  <a:pt x="42" y="771"/>
                </a:cubicBezTo>
                <a:cubicBezTo>
                  <a:pt x="28" y="737"/>
                  <a:pt x="18" y="702"/>
                  <a:pt x="11" y="667"/>
                </a:cubicBezTo>
                <a:cubicBezTo>
                  <a:pt x="4" y="631"/>
                  <a:pt x="0" y="594"/>
                  <a:pt x="0" y="557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4"/>
                </a:cubicBezTo>
                <a:cubicBezTo>
                  <a:pt x="56" y="310"/>
                  <a:pt x="74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3"/>
                  <a:pt x="310" y="56"/>
                  <a:pt x="344" y="42"/>
                </a:cubicBezTo>
                <a:cubicBezTo>
                  <a:pt x="379" y="28"/>
                  <a:pt x="414" y="18"/>
                  <a:pt x="449" y="10"/>
                </a:cubicBezTo>
                <a:cubicBezTo>
                  <a:pt x="485" y="3"/>
                  <a:pt x="522" y="0"/>
                  <a:pt x="558" y="0"/>
                </a:cubicBezTo>
                <a:cubicBezTo>
                  <a:pt x="595" y="0"/>
                  <a:pt x="631" y="3"/>
                  <a:pt x="667" y="10"/>
                </a:cubicBezTo>
                <a:cubicBezTo>
                  <a:pt x="703" y="18"/>
                  <a:pt x="738" y="28"/>
                  <a:pt x="771" y="42"/>
                </a:cubicBezTo>
                <a:cubicBezTo>
                  <a:pt x="805" y="56"/>
                  <a:pt x="837" y="73"/>
                  <a:pt x="868" y="94"/>
                </a:cubicBezTo>
                <a:cubicBezTo>
                  <a:pt x="898" y="114"/>
                  <a:pt x="926" y="137"/>
                  <a:pt x="952" y="163"/>
                </a:cubicBezTo>
                <a:cubicBezTo>
                  <a:pt x="978" y="189"/>
                  <a:pt x="1001" y="217"/>
                  <a:pt x="1021" y="247"/>
                </a:cubicBezTo>
                <a:cubicBezTo>
                  <a:pt x="1042" y="278"/>
                  <a:pt x="1059" y="310"/>
                  <a:pt x="1073" y="344"/>
                </a:cubicBezTo>
                <a:cubicBezTo>
                  <a:pt x="1087" y="377"/>
                  <a:pt x="1097" y="412"/>
                  <a:pt x="1105" y="448"/>
                </a:cubicBezTo>
                <a:cubicBezTo>
                  <a:pt x="1112" y="484"/>
                  <a:pt x="1115" y="520"/>
                  <a:pt x="1115" y="557"/>
                </a:cubicBez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0" name="" descr=""/>
          <p:cNvPicPr/>
          <p:nvPr/>
        </p:nvPicPr>
        <p:blipFill>
          <a:blip r:embed="rId5"/>
          <a:stretch/>
        </p:blipFill>
        <p:spPr>
          <a:xfrm>
            <a:off x="6610320" y="4487400"/>
            <a:ext cx="166680" cy="23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1" name=""/>
          <p:cNvSpPr txBox="1"/>
          <p:nvPr/>
        </p:nvSpPr>
        <p:spPr>
          <a:xfrm>
            <a:off x="3326040" y="5170680"/>
            <a:ext cx="1350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EVM: -26.8dB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5916600" y="4916160"/>
            <a:ext cx="1638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新手法（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評価法）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3" name="" descr=""/>
          <p:cNvPicPr/>
          <p:nvPr/>
        </p:nvPicPr>
        <p:blipFill>
          <a:blip r:embed="rId6"/>
          <a:stretch/>
        </p:blipFill>
        <p:spPr>
          <a:xfrm>
            <a:off x="2941560" y="5682600"/>
            <a:ext cx="13320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4" name=""/>
          <p:cNvSpPr txBox="1"/>
          <p:nvPr/>
        </p:nvSpPr>
        <p:spPr>
          <a:xfrm>
            <a:off x="6050160" y="5170680"/>
            <a:ext cx="1350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580" strike="noStrike" u="none">
                <a:solidFill>
                  <a:srgbClr val="ffa500"/>
                </a:solidFill>
                <a:effectLst/>
                <a:uFillTx/>
                <a:latin typeface="NotoSansJP"/>
                <a:ea typeface="NotoSansJP"/>
              </a:rPr>
              <a:t>EVM: -24.8dB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3142080" y="5675400"/>
            <a:ext cx="489996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 両手法ともに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信号を評価できていることを確認（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EVM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値の差は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2.0dB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10078200" y="611820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11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"/>
          <p:cNvSpPr/>
          <p:nvPr/>
        </p:nvSpPr>
        <p:spPr>
          <a:xfrm>
            <a:off x="0" y="0"/>
            <a:ext cx="10696680" cy="6786000"/>
          </a:xfrm>
          <a:custGeom>
            <a:avLst/>
            <a:gdLst/>
            <a:ahLst/>
            <a:rect l="0" t="0" r="r" b="b"/>
            <a:pathLst>
              <a:path w="29713" h="18850">
                <a:moveTo>
                  <a:pt x="0" y="0"/>
                </a:moveTo>
                <a:lnTo>
                  <a:pt x="29713" y="0"/>
                </a:lnTo>
                <a:lnTo>
                  <a:pt x="29713" y="18850"/>
                </a:lnTo>
                <a:lnTo>
                  <a:pt x="0" y="18850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069632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"/>
          <p:cNvSpPr/>
          <p:nvPr/>
        </p:nvSpPr>
        <p:spPr>
          <a:xfrm>
            <a:off x="334080" y="1002600"/>
            <a:ext cx="10028520" cy="785880"/>
          </a:xfrm>
          <a:custGeom>
            <a:avLst/>
            <a:gdLst/>
            <a:ahLst/>
            <a:rect l="0" t="0" r="r" b="b"/>
            <a:pathLst>
              <a:path w="27857" h="2183">
                <a:moveTo>
                  <a:pt x="0" y="1997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5" y="93"/>
                  <a:pt x="31" y="83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6"/>
                  <a:pt x="72" y="38"/>
                  <a:pt x="83" y="31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1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1"/>
                  <a:pt x="27707" y="4"/>
                </a:cubicBezTo>
                <a:cubicBezTo>
                  <a:pt x="27719" y="6"/>
                  <a:pt x="27731" y="10"/>
                  <a:pt x="27742" y="14"/>
                </a:cubicBezTo>
                <a:cubicBezTo>
                  <a:pt x="27753" y="19"/>
                  <a:pt x="27764" y="25"/>
                  <a:pt x="27774" y="31"/>
                </a:cubicBezTo>
                <a:cubicBezTo>
                  <a:pt x="27784" y="38"/>
                  <a:pt x="27794" y="46"/>
                  <a:pt x="27802" y="54"/>
                </a:cubicBezTo>
                <a:cubicBezTo>
                  <a:pt x="27811" y="63"/>
                  <a:pt x="27819" y="72"/>
                  <a:pt x="27825" y="83"/>
                </a:cubicBezTo>
                <a:cubicBezTo>
                  <a:pt x="27832" y="93"/>
                  <a:pt x="27838" y="103"/>
                  <a:pt x="27843" y="115"/>
                </a:cubicBezTo>
                <a:cubicBezTo>
                  <a:pt x="27847" y="126"/>
                  <a:pt x="27851" y="138"/>
                  <a:pt x="27853" y="150"/>
                </a:cubicBezTo>
                <a:cubicBezTo>
                  <a:pt x="27855" y="162"/>
                  <a:pt x="27857" y="174"/>
                  <a:pt x="27857" y="186"/>
                </a:cubicBezTo>
                <a:lnTo>
                  <a:pt x="27857" y="1997"/>
                </a:lnTo>
                <a:cubicBezTo>
                  <a:pt x="27857" y="2010"/>
                  <a:pt x="27855" y="2022"/>
                  <a:pt x="27853" y="2034"/>
                </a:cubicBezTo>
                <a:cubicBezTo>
                  <a:pt x="27851" y="2046"/>
                  <a:pt x="27847" y="2057"/>
                  <a:pt x="27843" y="2068"/>
                </a:cubicBezTo>
                <a:cubicBezTo>
                  <a:pt x="27838" y="2080"/>
                  <a:pt x="27832" y="2090"/>
                  <a:pt x="27825" y="2101"/>
                </a:cubicBezTo>
                <a:cubicBezTo>
                  <a:pt x="27819" y="2111"/>
                  <a:pt x="27811" y="2120"/>
                  <a:pt x="27802" y="2129"/>
                </a:cubicBezTo>
                <a:cubicBezTo>
                  <a:pt x="27794" y="2137"/>
                  <a:pt x="27784" y="2145"/>
                  <a:pt x="27774" y="2152"/>
                </a:cubicBezTo>
                <a:cubicBezTo>
                  <a:pt x="27764" y="2159"/>
                  <a:pt x="27753" y="2164"/>
                  <a:pt x="27742" y="2169"/>
                </a:cubicBezTo>
                <a:cubicBezTo>
                  <a:pt x="27731" y="2174"/>
                  <a:pt x="27719" y="2177"/>
                  <a:pt x="27707" y="2180"/>
                </a:cubicBezTo>
                <a:cubicBezTo>
                  <a:pt x="27695" y="2182"/>
                  <a:pt x="27683" y="2183"/>
                  <a:pt x="27671" y="2183"/>
                </a:cubicBezTo>
                <a:lnTo>
                  <a:pt x="186" y="2183"/>
                </a:lnTo>
                <a:cubicBezTo>
                  <a:pt x="174" y="2183"/>
                  <a:pt x="161" y="2182"/>
                  <a:pt x="149" y="2180"/>
                </a:cubicBezTo>
                <a:cubicBezTo>
                  <a:pt x="138" y="2177"/>
                  <a:pt x="126" y="2174"/>
                  <a:pt x="115" y="2169"/>
                </a:cubicBezTo>
                <a:cubicBezTo>
                  <a:pt x="103" y="2164"/>
                  <a:pt x="93" y="2159"/>
                  <a:pt x="83" y="2152"/>
                </a:cubicBezTo>
                <a:cubicBezTo>
                  <a:pt x="72" y="2145"/>
                  <a:pt x="63" y="2137"/>
                  <a:pt x="54" y="2129"/>
                </a:cubicBezTo>
                <a:cubicBezTo>
                  <a:pt x="46" y="2120"/>
                  <a:pt x="38" y="2111"/>
                  <a:pt x="31" y="2101"/>
                </a:cubicBezTo>
                <a:cubicBezTo>
                  <a:pt x="25" y="2090"/>
                  <a:pt x="19" y="2080"/>
                  <a:pt x="14" y="2068"/>
                </a:cubicBezTo>
                <a:cubicBezTo>
                  <a:pt x="9" y="2057"/>
                  <a:pt x="6" y="2046"/>
                  <a:pt x="4" y="2034"/>
                </a:cubicBezTo>
                <a:cubicBezTo>
                  <a:pt x="1" y="2022"/>
                  <a:pt x="0" y="2010"/>
                  <a:pt x="0" y="199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334080" y="1955160"/>
            <a:ext cx="10028520" cy="1086840"/>
          </a:xfrm>
          <a:custGeom>
            <a:avLst/>
            <a:gdLst/>
            <a:ahLst/>
            <a:rect l="0" t="0" r="r" b="b"/>
            <a:pathLst>
              <a:path w="27857" h="3019">
                <a:moveTo>
                  <a:pt x="0" y="2833"/>
                </a:moveTo>
                <a:lnTo>
                  <a:pt x="0" y="186"/>
                </a:lnTo>
                <a:cubicBezTo>
                  <a:pt x="0" y="174"/>
                  <a:pt x="1" y="162"/>
                  <a:pt x="4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3" y="32"/>
                </a:cubicBezTo>
                <a:cubicBezTo>
                  <a:pt x="93" y="25"/>
                  <a:pt x="103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4" y="0"/>
                  <a:pt x="186" y="0"/>
                </a:cubicBezTo>
                <a:lnTo>
                  <a:pt x="27671" y="0"/>
                </a:lnTo>
                <a:cubicBezTo>
                  <a:pt x="27683" y="0"/>
                  <a:pt x="27695" y="2"/>
                  <a:pt x="27707" y="4"/>
                </a:cubicBezTo>
                <a:cubicBezTo>
                  <a:pt x="27719" y="6"/>
                  <a:pt x="27731" y="10"/>
                  <a:pt x="27742" y="14"/>
                </a:cubicBezTo>
                <a:cubicBezTo>
                  <a:pt x="27753" y="19"/>
                  <a:pt x="27764" y="25"/>
                  <a:pt x="27774" y="32"/>
                </a:cubicBezTo>
                <a:cubicBezTo>
                  <a:pt x="27784" y="38"/>
                  <a:pt x="27794" y="46"/>
                  <a:pt x="27802" y="55"/>
                </a:cubicBezTo>
                <a:cubicBezTo>
                  <a:pt x="27811" y="63"/>
                  <a:pt x="27819" y="73"/>
                  <a:pt x="27825" y="83"/>
                </a:cubicBezTo>
                <a:cubicBezTo>
                  <a:pt x="27832" y="93"/>
                  <a:pt x="27838" y="104"/>
                  <a:pt x="27843" y="115"/>
                </a:cubicBezTo>
                <a:cubicBezTo>
                  <a:pt x="27847" y="126"/>
                  <a:pt x="27851" y="138"/>
                  <a:pt x="27853" y="150"/>
                </a:cubicBezTo>
                <a:cubicBezTo>
                  <a:pt x="27855" y="162"/>
                  <a:pt x="27857" y="174"/>
                  <a:pt x="27857" y="186"/>
                </a:cubicBezTo>
                <a:lnTo>
                  <a:pt x="27857" y="2833"/>
                </a:lnTo>
                <a:cubicBezTo>
                  <a:pt x="27857" y="2846"/>
                  <a:pt x="27855" y="2858"/>
                  <a:pt x="27853" y="2870"/>
                </a:cubicBezTo>
                <a:cubicBezTo>
                  <a:pt x="27851" y="2882"/>
                  <a:pt x="27847" y="2893"/>
                  <a:pt x="27843" y="2904"/>
                </a:cubicBezTo>
                <a:cubicBezTo>
                  <a:pt x="27838" y="2916"/>
                  <a:pt x="27832" y="2926"/>
                  <a:pt x="27825" y="2937"/>
                </a:cubicBezTo>
                <a:cubicBezTo>
                  <a:pt x="27819" y="2947"/>
                  <a:pt x="27811" y="2956"/>
                  <a:pt x="27802" y="2965"/>
                </a:cubicBezTo>
                <a:cubicBezTo>
                  <a:pt x="27794" y="2973"/>
                  <a:pt x="27784" y="2981"/>
                  <a:pt x="27774" y="2988"/>
                </a:cubicBezTo>
                <a:cubicBezTo>
                  <a:pt x="27764" y="2995"/>
                  <a:pt x="27753" y="3000"/>
                  <a:pt x="27742" y="3005"/>
                </a:cubicBezTo>
                <a:cubicBezTo>
                  <a:pt x="27731" y="3010"/>
                  <a:pt x="27719" y="3013"/>
                  <a:pt x="27707" y="3015"/>
                </a:cubicBezTo>
                <a:cubicBezTo>
                  <a:pt x="27695" y="3018"/>
                  <a:pt x="27683" y="3019"/>
                  <a:pt x="27671" y="3019"/>
                </a:cubicBezTo>
                <a:lnTo>
                  <a:pt x="186" y="3019"/>
                </a:lnTo>
                <a:cubicBezTo>
                  <a:pt x="174" y="3019"/>
                  <a:pt x="161" y="3018"/>
                  <a:pt x="149" y="3015"/>
                </a:cubicBezTo>
                <a:cubicBezTo>
                  <a:pt x="138" y="3013"/>
                  <a:pt x="126" y="3010"/>
                  <a:pt x="115" y="3005"/>
                </a:cubicBezTo>
                <a:cubicBezTo>
                  <a:pt x="103" y="3000"/>
                  <a:pt x="93" y="2995"/>
                  <a:pt x="83" y="2988"/>
                </a:cubicBezTo>
                <a:cubicBezTo>
                  <a:pt x="72" y="2981"/>
                  <a:pt x="63" y="2973"/>
                  <a:pt x="54" y="2965"/>
                </a:cubicBezTo>
                <a:cubicBezTo>
                  <a:pt x="46" y="2956"/>
                  <a:pt x="38" y="2947"/>
                  <a:pt x="31" y="2937"/>
                </a:cubicBezTo>
                <a:cubicBezTo>
                  <a:pt x="25" y="2926"/>
                  <a:pt x="19" y="2916"/>
                  <a:pt x="14" y="2904"/>
                </a:cubicBezTo>
                <a:cubicBezTo>
                  <a:pt x="9" y="2893"/>
                  <a:pt x="6" y="2882"/>
                  <a:pt x="4" y="2870"/>
                </a:cubicBezTo>
                <a:cubicBezTo>
                  <a:pt x="1" y="2858"/>
                  <a:pt x="0" y="2846"/>
                  <a:pt x="0" y="283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334080" y="3208680"/>
            <a:ext cx="33840" cy="902880"/>
          </a:xfrm>
          <a:custGeom>
            <a:avLst/>
            <a:gdLst/>
            <a:ahLst/>
            <a:rect l="0" t="0" r="r" b="b"/>
            <a:pathLst>
              <a:path w="94" h="2508">
                <a:moveTo>
                  <a:pt x="0" y="0"/>
                </a:moveTo>
                <a:lnTo>
                  <a:pt x="94" y="0"/>
                </a:lnTo>
                <a:lnTo>
                  <a:pt x="94" y="2508"/>
                </a:lnTo>
                <a:lnTo>
                  <a:pt x="0" y="2508"/>
                </a:lnTo>
                <a:lnTo>
                  <a:pt x="0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459360" y="1127880"/>
            <a:ext cx="418320" cy="418320"/>
          </a:xfrm>
          <a:custGeom>
            <a:avLst/>
            <a:gdLst/>
            <a:ahLst/>
            <a:rect l="0" t="0" r="r" b="b"/>
            <a:pathLst>
              <a:path w="1162" h="1162">
                <a:moveTo>
                  <a:pt x="1162" y="581"/>
                </a:moveTo>
                <a:cubicBezTo>
                  <a:pt x="1162" y="600"/>
                  <a:pt x="1161" y="619"/>
                  <a:pt x="1159" y="637"/>
                </a:cubicBezTo>
                <a:cubicBezTo>
                  <a:pt x="1157" y="656"/>
                  <a:pt x="1154" y="675"/>
                  <a:pt x="1151" y="694"/>
                </a:cubicBezTo>
                <a:cubicBezTo>
                  <a:pt x="1147" y="712"/>
                  <a:pt x="1142" y="731"/>
                  <a:pt x="1137" y="749"/>
                </a:cubicBezTo>
                <a:cubicBezTo>
                  <a:pt x="1131" y="767"/>
                  <a:pt x="1125" y="785"/>
                  <a:pt x="1118" y="803"/>
                </a:cubicBezTo>
                <a:cubicBezTo>
                  <a:pt x="1110" y="820"/>
                  <a:pt x="1102" y="837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4" y="919"/>
                  <a:pt x="1042" y="935"/>
                  <a:pt x="1030" y="950"/>
                </a:cubicBezTo>
                <a:cubicBezTo>
                  <a:pt x="1018" y="964"/>
                  <a:pt x="1005" y="979"/>
                  <a:pt x="992" y="992"/>
                </a:cubicBezTo>
                <a:cubicBezTo>
                  <a:pt x="978" y="1005"/>
                  <a:pt x="964" y="1018"/>
                  <a:pt x="950" y="1030"/>
                </a:cubicBezTo>
                <a:cubicBezTo>
                  <a:pt x="935" y="1042"/>
                  <a:pt x="920" y="1054"/>
                  <a:pt x="904" y="1064"/>
                </a:cubicBezTo>
                <a:cubicBezTo>
                  <a:pt x="888" y="1075"/>
                  <a:pt x="872" y="1084"/>
                  <a:pt x="855" y="1093"/>
                </a:cubicBezTo>
                <a:cubicBezTo>
                  <a:pt x="838" y="1102"/>
                  <a:pt x="821" y="1110"/>
                  <a:pt x="804" y="1118"/>
                </a:cubicBezTo>
                <a:cubicBezTo>
                  <a:pt x="786" y="1125"/>
                  <a:pt x="768" y="1131"/>
                  <a:pt x="750" y="1137"/>
                </a:cubicBezTo>
                <a:cubicBezTo>
                  <a:pt x="732" y="1142"/>
                  <a:pt x="713" y="1147"/>
                  <a:pt x="695" y="1151"/>
                </a:cubicBezTo>
                <a:cubicBezTo>
                  <a:pt x="676" y="1154"/>
                  <a:pt x="657" y="1157"/>
                  <a:pt x="638" y="1159"/>
                </a:cubicBezTo>
                <a:cubicBezTo>
                  <a:pt x="620" y="1161"/>
                  <a:pt x="601" y="1162"/>
                  <a:pt x="582" y="1162"/>
                </a:cubicBezTo>
                <a:cubicBezTo>
                  <a:pt x="563" y="1162"/>
                  <a:pt x="544" y="1161"/>
                  <a:pt x="525" y="1159"/>
                </a:cubicBezTo>
                <a:cubicBezTo>
                  <a:pt x="506" y="1157"/>
                  <a:pt x="487" y="1154"/>
                  <a:pt x="468" y="1151"/>
                </a:cubicBezTo>
                <a:cubicBezTo>
                  <a:pt x="449" y="1147"/>
                  <a:pt x="430" y="1142"/>
                  <a:pt x="412" y="1137"/>
                </a:cubicBezTo>
                <a:cubicBezTo>
                  <a:pt x="394" y="1131"/>
                  <a:pt x="376" y="1125"/>
                  <a:pt x="358" y="1118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5"/>
                  <a:pt x="258" y="1064"/>
                </a:cubicBezTo>
                <a:cubicBezTo>
                  <a:pt x="242" y="1054"/>
                  <a:pt x="227" y="1042"/>
                  <a:pt x="212" y="1030"/>
                </a:cubicBezTo>
                <a:cubicBezTo>
                  <a:pt x="198" y="1018"/>
                  <a:pt x="184" y="1005"/>
                  <a:pt x="170" y="992"/>
                </a:cubicBezTo>
                <a:cubicBezTo>
                  <a:pt x="157" y="979"/>
                  <a:pt x="144" y="964"/>
                  <a:pt x="132" y="950"/>
                </a:cubicBezTo>
                <a:cubicBezTo>
                  <a:pt x="120" y="935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7"/>
                  <a:pt x="52" y="820"/>
                  <a:pt x="44" y="803"/>
                </a:cubicBezTo>
                <a:cubicBezTo>
                  <a:pt x="37" y="785"/>
                  <a:pt x="31" y="767"/>
                  <a:pt x="25" y="749"/>
                </a:cubicBezTo>
                <a:cubicBezTo>
                  <a:pt x="20" y="731"/>
                  <a:pt x="15" y="712"/>
                  <a:pt x="11" y="694"/>
                </a:cubicBezTo>
                <a:cubicBezTo>
                  <a:pt x="8" y="675"/>
                  <a:pt x="5" y="656"/>
                  <a:pt x="3" y="637"/>
                </a:cubicBezTo>
                <a:cubicBezTo>
                  <a:pt x="1" y="619"/>
                  <a:pt x="0" y="600"/>
                  <a:pt x="0" y="581"/>
                </a:cubicBezTo>
                <a:cubicBezTo>
                  <a:pt x="0" y="562"/>
                  <a:pt x="1" y="543"/>
                  <a:pt x="3" y="524"/>
                </a:cubicBezTo>
                <a:cubicBezTo>
                  <a:pt x="5" y="505"/>
                  <a:pt x="8" y="486"/>
                  <a:pt x="11" y="467"/>
                </a:cubicBezTo>
                <a:cubicBezTo>
                  <a:pt x="15" y="449"/>
                  <a:pt x="20" y="430"/>
                  <a:pt x="25" y="412"/>
                </a:cubicBezTo>
                <a:cubicBezTo>
                  <a:pt x="31" y="394"/>
                  <a:pt x="37" y="376"/>
                  <a:pt x="44" y="359"/>
                </a:cubicBezTo>
                <a:cubicBezTo>
                  <a:pt x="52" y="341"/>
                  <a:pt x="60" y="324"/>
                  <a:pt x="69" y="307"/>
                </a:cubicBezTo>
                <a:cubicBezTo>
                  <a:pt x="78" y="290"/>
                  <a:pt x="87" y="274"/>
                  <a:pt x="98" y="258"/>
                </a:cubicBezTo>
                <a:cubicBezTo>
                  <a:pt x="109" y="242"/>
                  <a:pt x="120" y="227"/>
                  <a:pt x="132" y="212"/>
                </a:cubicBezTo>
                <a:cubicBezTo>
                  <a:pt x="144" y="198"/>
                  <a:pt x="157" y="184"/>
                  <a:pt x="170" y="170"/>
                </a:cubicBezTo>
                <a:cubicBezTo>
                  <a:pt x="184" y="157"/>
                  <a:pt x="198" y="144"/>
                  <a:pt x="212" y="132"/>
                </a:cubicBezTo>
                <a:cubicBezTo>
                  <a:pt x="227" y="120"/>
                  <a:pt x="242" y="109"/>
                  <a:pt x="258" y="98"/>
                </a:cubicBezTo>
                <a:cubicBezTo>
                  <a:pt x="274" y="88"/>
                  <a:pt x="290" y="78"/>
                  <a:pt x="307" y="69"/>
                </a:cubicBezTo>
                <a:cubicBezTo>
                  <a:pt x="324" y="60"/>
                  <a:pt x="341" y="52"/>
                  <a:pt x="358" y="44"/>
                </a:cubicBezTo>
                <a:cubicBezTo>
                  <a:pt x="376" y="37"/>
                  <a:pt x="394" y="31"/>
                  <a:pt x="412" y="25"/>
                </a:cubicBezTo>
                <a:cubicBezTo>
                  <a:pt x="430" y="20"/>
                  <a:pt x="449" y="15"/>
                  <a:pt x="468" y="11"/>
                </a:cubicBezTo>
                <a:cubicBezTo>
                  <a:pt x="487" y="8"/>
                  <a:pt x="506" y="5"/>
                  <a:pt x="525" y="3"/>
                </a:cubicBezTo>
                <a:cubicBezTo>
                  <a:pt x="544" y="1"/>
                  <a:pt x="563" y="0"/>
                  <a:pt x="582" y="0"/>
                </a:cubicBezTo>
                <a:cubicBezTo>
                  <a:pt x="601" y="0"/>
                  <a:pt x="620" y="1"/>
                  <a:pt x="638" y="3"/>
                </a:cubicBezTo>
                <a:cubicBezTo>
                  <a:pt x="657" y="5"/>
                  <a:pt x="676" y="8"/>
                  <a:pt x="695" y="11"/>
                </a:cubicBezTo>
                <a:cubicBezTo>
                  <a:pt x="713" y="15"/>
                  <a:pt x="732" y="20"/>
                  <a:pt x="750" y="25"/>
                </a:cubicBezTo>
                <a:cubicBezTo>
                  <a:pt x="768" y="31"/>
                  <a:pt x="786" y="37"/>
                  <a:pt x="804" y="44"/>
                </a:cubicBezTo>
                <a:cubicBezTo>
                  <a:pt x="821" y="52"/>
                  <a:pt x="838" y="60"/>
                  <a:pt x="855" y="69"/>
                </a:cubicBezTo>
                <a:cubicBezTo>
                  <a:pt x="872" y="78"/>
                  <a:pt x="888" y="88"/>
                  <a:pt x="904" y="98"/>
                </a:cubicBezTo>
                <a:cubicBezTo>
                  <a:pt x="920" y="109"/>
                  <a:pt x="935" y="120"/>
                  <a:pt x="950" y="132"/>
                </a:cubicBezTo>
                <a:cubicBezTo>
                  <a:pt x="964" y="144"/>
                  <a:pt x="978" y="157"/>
                  <a:pt x="992" y="170"/>
                </a:cubicBezTo>
                <a:cubicBezTo>
                  <a:pt x="1005" y="184"/>
                  <a:pt x="1018" y="198"/>
                  <a:pt x="1030" y="212"/>
                </a:cubicBezTo>
                <a:cubicBezTo>
                  <a:pt x="1042" y="227"/>
                  <a:pt x="1054" y="242"/>
                  <a:pt x="1064" y="258"/>
                </a:cubicBezTo>
                <a:cubicBezTo>
                  <a:pt x="1075" y="274"/>
                  <a:pt x="1084" y="290"/>
                  <a:pt x="1093" y="307"/>
                </a:cubicBezTo>
                <a:cubicBezTo>
                  <a:pt x="1102" y="324"/>
                  <a:pt x="1110" y="341"/>
                  <a:pt x="1118" y="359"/>
                </a:cubicBezTo>
                <a:cubicBezTo>
                  <a:pt x="1125" y="376"/>
                  <a:pt x="1131" y="394"/>
                  <a:pt x="1137" y="412"/>
                </a:cubicBezTo>
                <a:cubicBezTo>
                  <a:pt x="1142" y="430"/>
                  <a:pt x="1147" y="449"/>
                  <a:pt x="1151" y="467"/>
                </a:cubicBezTo>
                <a:cubicBezTo>
                  <a:pt x="1154" y="486"/>
                  <a:pt x="1157" y="505"/>
                  <a:pt x="1159" y="524"/>
                </a:cubicBezTo>
                <a:cubicBezTo>
                  <a:pt x="1161" y="543"/>
                  <a:pt x="1162" y="562"/>
                  <a:pt x="1162" y="581"/>
                </a:cubicBezTo>
                <a:close/>
              </a:path>
            </a:pathLst>
          </a:custGeom>
          <a:solidFill>
            <a:srgbClr val="add8e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3" name="" descr=""/>
          <p:cNvPicPr/>
          <p:nvPr/>
        </p:nvPicPr>
        <p:blipFill>
          <a:blip r:embed="rId2"/>
          <a:stretch/>
        </p:blipFill>
        <p:spPr>
          <a:xfrm>
            <a:off x="568080" y="120348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"/>
          <p:cNvSpPr txBox="1"/>
          <p:nvPr/>
        </p:nvSpPr>
        <p:spPr>
          <a:xfrm>
            <a:off x="334440" y="210240"/>
            <a:ext cx="5036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979" strike="noStrike" u="none">
                <a:solidFill>
                  <a:srgbClr val="ffffff"/>
                </a:solidFill>
                <a:effectLst/>
                <a:uFillTx/>
                <a:latin typeface="NotoSansJP"/>
                <a:ea typeface="NotoSansJP"/>
              </a:rPr>
              <a:t>結論</a:t>
            </a:r>
            <a:endParaRPr b="0" lang="en-US" sz="1979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1002960" y="1157040"/>
            <a:ext cx="8388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主要な結論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459360" y="2080800"/>
            <a:ext cx="418320" cy="417960"/>
          </a:xfrm>
          <a:custGeom>
            <a:avLst/>
            <a:gdLst/>
            <a:ahLst/>
            <a:rect l="0" t="0" r="r" b="b"/>
            <a:pathLst>
              <a:path w="1162" h="1161">
                <a:moveTo>
                  <a:pt x="1162" y="580"/>
                </a:moveTo>
                <a:cubicBezTo>
                  <a:pt x="1162" y="599"/>
                  <a:pt x="1161" y="619"/>
                  <a:pt x="1159" y="638"/>
                </a:cubicBezTo>
                <a:cubicBezTo>
                  <a:pt x="1157" y="657"/>
                  <a:pt x="1154" y="675"/>
                  <a:pt x="1151" y="694"/>
                </a:cubicBezTo>
                <a:cubicBezTo>
                  <a:pt x="1147" y="713"/>
                  <a:pt x="1142" y="731"/>
                  <a:pt x="1137" y="749"/>
                </a:cubicBezTo>
                <a:cubicBezTo>
                  <a:pt x="1131" y="768"/>
                  <a:pt x="1125" y="785"/>
                  <a:pt x="1118" y="803"/>
                </a:cubicBezTo>
                <a:cubicBezTo>
                  <a:pt x="1110" y="821"/>
                  <a:pt x="1102" y="838"/>
                  <a:pt x="1093" y="854"/>
                </a:cubicBezTo>
                <a:cubicBezTo>
                  <a:pt x="1084" y="871"/>
                  <a:pt x="1075" y="887"/>
                  <a:pt x="1064" y="903"/>
                </a:cubicBezTo>
                <a:cubicBezTo>
                  <a:pt x="1054" y="919"/>
                  <a:pt x="1042" y="934"/>
                  <a:pt x="1030" y="949"/>
                </a:cubicBezTo>
                <a:cubicBezTo>
                  <a:pt x="1018" y="964"/>
                  <a:pt x="1005" y="978"/>
                  <a:pt x="992" y="991"/>
                </a:cubicBezTo>
                <a:cubicBezTo>
                  <a:pt x="978" y="1005"/>
                  <a:pt x="964" y="1017"/>
                  <a:pt x="950" y="1029"/>
                </a:cubicBezTo>
                <a:cubicBezTo>
                  <a:pt x="935" y="1042"/>
                  <a:pt x="920" y="1053"/>
                  <a:pt x="904" y="1063"/>
                </a:cubicBezTo>
                <a:cubicBezTo>
                  <a:pt x="888" y="1074"/>
                  <a:pt x="872" y="1084"/>
                  <a:pt x="855" y="1093"/>
                </a:cubicBezTo>
                <a:cubicBezTo>
                  <a:pt x="838" y="1102"/>
                  <a:pt x="821" y="1110"/>
                  <a:pt x="804" y="1117"/>
                </a:cubicBezTo>
                <a:cubicBezTo>
                  <a:pt x="786" y="1124"/>
                  <a:pt x="768" y="1131"/>
                  <a:pt x="750" y="1136"/>
                </a:cubicBezTo>
                <a:cubicBezTo>
                  <a:pt x="732" y="1142"/>
                  <a:pt x="713" y="1146"/>
                  <a:pt x="695" y="1150"/>
                </a:cubicBezTo>
                <a:cubicBezTo>
                  <a:pt x="676" y="1154"/>
                  <a:pt x="657" y="1157"/>
                  <a:pt x="638" y="1158"/>
                </a:cubicBezTo>
                <a:cubicBezTo>
                  <a:pt x="620" y="1160"/>
                  <a:pt x="601" y="1161"/>
                  <a:pt x="582" y="1161"/>
                </a:cubicBezTo>
                <a:cubicBezTo>
                  <a:pt x="563" y="1161"/>
                  <a:pt x="544" y="1160"/>
                  <a:pt x="525" y="1158"/>
                </a:cubicBezTo>
                <a:cubicBezTo>
                  <a:pt x="506" y="1157"/>
                  <a:pt x="487" y="1154"/>
                  <a:pt x="468" y="1150"/>
                </a:cubicBezTo>
                <a:cubicBezTo>
                  <a:pt x="449" y="1146"/>
                  <a:pt x="430" y="1142"/>
                  <a:pt x="412" y="1136"/>
                </a:cubicBezTo>
                <a:cubicBezTo>
                  <a:pt x="394" y="1131"/>
                  <a:pt x="376" y="1124"/>
                  <a:pt x="358" y="1117"/>
                </a:cubicBezTo>
                <a:cubicBezTo>
                  <a:pt x="341" y="1110"/>
                  <a:pt x="324" y="1102"/>
                  <a:pt x="307" y="1093"/>
                </a:cubicBezTo>
                <a:cubicBezTo>
                  <a:pt x="290" y="1084"/>
                  <a:pt x="274" y="1074"/>
                  <a:pt x="258" y="1063"/>
                </a:cubicBezTo>
                <a:cubicBezTo>
                  <a:pt x="242" y="1053"/>
                  <a:pt x="227" y="1042"/>
                  <a:pt x="212" y="1029"/>
                </a:cubicBezTo>
                <a:cubicBezTo>
                  <a:pt x="198" y="1017"/>
                  <a:pt x="184" y="1005"/>
                  <a:pt x="170" y="991"/>
                </a:cubicBezTo>
                <a:cubicBezTo>
                  <a:pt x="157" y="978"/>
                  <a:pt x="144" y="964"/>
                  <a:pt x="132" y="949"/>
                </a:cubicBezTo>
                <a:cubicBezTo>
                  <a:pt x="120" y="934"/>
                  <a:pt x="109" y="919"/>
                  <a:pt x="98" y="903"/>
                </a:cubicBezTo>
                <a:cubicBezTo>
                  <a:pt x="87" y="887"/>
                  <a:pt x="78" y="871"/>
                  <a:pt x="69" y="854"/>
                </a:cubicBezTo>
                <a:cubicBezTo>
                  <a:pt x="60" y="838"/>
                  <a:pt x="52" y="821"/>
                  <a:pt x="44" y="803"/>
                </a:cubicBezTo>
                <a:cubicBezTo>
                  <a:pt x="37" y="785"/>
                  <a:pt x="31" y="768"/>
                  <a:pt x="25" y="749"/>
                </a:cubicBezTo>
                <a:cubicBezTo>
                  <a:pt x="20" y="731"/>
                  <a:pt x="15" y="713"/>
                  <a:pt x="11" y="694"/>
                </a:cubicBezTo>
                <a:cubicBezTo>
                  <a:pt x="8" y="675"/>
                  <a:pt x="5" y="657"/>
                  <a:pt x="3" y="638"/>
                </a:cubicBezTo>
                <a:cubicBezTo>
                  <a:pt x="1" y="619"/>
                  <a:pt x="0" y="599"/>
                  <a:pt x="0" y="580"/>
                </a:cubicBezTo>
                <a:cubicBezTo>
                  <a:pt x="0" y="561"/>
                  <a:pt x="1" y="542"/>
                  <a:pt x="3" y="523"/>
                </a:cubicBezTo>
                <a:cubicBezTo>
                  <a:pt x="5" y="504"/>
                  <a:pt x="8" y="485"/>
                  <a:pt x="11" y="467"/>
                </a:cubicBezTo>
                <a:cubicBezTo>
                  <a:pt x="15" y="448"/>
                  <a:pt x="20" y="430"/>
                  <a:pt x="25" y="411"/>
                </a:cubicBezTo>
                <a:cubicBezTo>
                  <a:pt x="31" y="393"/>
                  <a:pt x="37" y="375"/>
                  <a:pt x="44" y="358"/>
                </a:cubicBezTo>
                <a:cubicBezTo>
                  <a:pt x="52" y="340"/>
                  <a:pt x="60" y="323"/>
                  <a:pt x="69" y="306"/>
                </a:cubicBezTo>
                <a:cubicBezTo>
                  <a:pt x="78" y="290"/>
                  <a:pt x="87" y="273"/>
                  <a:pt x="98" y="257"/>
                </a:cubicBezTo>
                <a:cubicBezTo>
                  <a:pt x="109" y="242"/>
                  <a:pt x="120" y="226"/>
                  <a:pt x="132" y="212"/>
                </a:cubicBezTo>
                <a:cubicBezTo>
                  <a:pt x="144" y="197"/>
                  <a:pt x="157" y="183"/>
                  <a:pt x="170" y="170"/>
                </a:cubicBezTo>
                <a:cubicBezTo>
                  <a:pt x="184" y="156"/>
                  <a:pt x="198" y="143"/>
                  <a:pt x="212" y="131"/>
                </a:cubicBezTo>
                <a:cubicBezTo>
                  <a:pt x="227" y="119"/>
                  <a:pt x="242" y="108"/>
                  <a:pt x="258" y="97"/>
                </a:cubicBezTo>
                <a:cubicBezTo>
                  <a:pt x="274" y="87"/>
                  <a:pt x="290" y="77"/>
                  <a:pt x="307" y="68"/>
                </a:cubicBezTo>
                <a:cubicBezTo>
                  <a:pt x="324" y="59"/>
                  <a:pt x="341" y="51"/>
                  <a:pt x="358" y="44"/>
                </a:cubicBezTo>
                <a:cubicBezTo>
                  <a:pt x="376" y="36"/>
                  <a:pt x="394" y="30"/>
                  <a:pt x="412" y="25"/>
                </a:cubicBezTo>
                <a:cubicBezTo>
                  <a:pt x="430" y="19"/>
                  <a:pt x="449" y="14"/>
                  <a:pt x="468" y="11"/>
                </a:cubicBezTo>
                <a:cubicBezTo>
                  <a:pt x="487" y="7"/>
                  <a:pt x="506" y="4"/>
                  <a:pt x="525" y="2"/>
                </a:cubicBezTo>
                <a:cubicBezTo>
                  <a:pt x="544" y="0"/>
                  <a:pt x="563" y="0"/>
                  <a:pt x="582" y="0"/>
                </a:cubicBezTo>
                <a:cubicBezTo>
                  <a:pt x="601" y="0"/>
                  <a:pt x="620" y="0"/>
                  <a:pt x="638" y="2"/>
                </a:cubicBezTo>
                <a:cubicBezTo>
                  <a:pt x="657" y="4"/>
                  <a:pt x="676" y="7"/>
                  <a:pt x="695" y="11"/>
                </a:cubicBezTo>
                <a:cubicBezTo>
                  <a:pt x="713" y="14"/>
                  <a:pt x="732" y="19"/>
                  <a:pt x="750" y="25"/>
                </a:cubicBezTo>
                <a:cubicBezTo>
                  <a:pt x="768" y="30"/>
                  <a:pt x="786" y="36"/>
                  <a:pt x="804" y="44"/>
                </a:cubicBezTo>
                <a:cubicBezTo>
                  <a:pt x="821" y="51"/>
                  <a:pt x="838" y="59"/>
                  <a:pt x="855" y="68"/>
                </a:cubicBezTo>
                <a:cubicBezTo>
                  <a:pt x="872" y="77"/>
                  <a:pt x="888" y="87"/>
                  <a:pt x="904" y="97"/>
                </a:cubicBezTo>
                <a:cubicBezTo>
                  <a:pt x="920" y="108"/>
                  <a:pt x="935" y="119"/>
                  <a:pt x="950" y="131"/>
                </a:cubicBezTo>
                <a:cubicBezTo>
                  <a:pt x="964" y="143"/>
                  <a:pt x="978" y="156"/>
                  <a:pt x="992" y="170"/>
                </a:cubicBezTo>
                <a:cubicBezTo>
                  <a:pt x="1005" y="183"/>
                  <a:pt x="1018" y="197"/>
                  <a:pt x="1030" y="212"/>
                </a:cubicBezTo>
                <a:cubicBezTo>
                  <a:pt x="1042" y="226"/>
                  <a:pt x="1054" y="242"/>
                  <a:pt x="1064" y="257"/>
                </a:cubicBezTo>
                <a:cubicBezTo>
                  <a:pt x="1075" y="273"/>
                  <a:pt x="1084" y="290"/>
                  <a:pt x="1093" y="306"/>
                </a:cubicBezTo>
                <a:cubicBezTo>
                  <a:pt x="1102" y="323"/>
                  <a:pt x="1110" y="340"/>
                  <a:pt x="1118" y="358"/>
                </a:cubicBezTo>
                <a:cubicBezTo>
                  <a:pt x="1125" y="375"/>
                  <a:pt x="1131" y="393"/>
                  <a:pt x="1137" y="411"/>
                </a:cubicBezTo>
                <a:cubicBezTo>
                  <a:pt x="1142" y="430"/>
                  <a:pt x="1147" y="448"/>
                  <a:pt x="1151" y="467"/>
                </a:cubicBezTo>
                <a:cubicBezTo>
                  <a:pt x="1154" y="485"/>
                  <a:pt x="1157" y="504"/>
                  <a:pt x="1159" y="523"/>
                </a:cubicBezTo>
                <a:cubicBezTo>
                  <a:pt x="1161" y="542"/>
                  <a:pt x="1162" y="561"/>
                  <a:pt x="1162" y="580"/>
                </a:cubicBezTo>
                <a:close/>
              </a:path>
            </a:pathLst>
          </a:custGeom>
          <a:solidFill>
            <a:srgbClr val="add8e6">
              <a:alpha val="3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7" name="" descr=""/>
          <p:cNvPicPr/>
          <p:nvPr/>
        </p:nvPicPr>
        <p:blipFill>
          <a:blip r:embed="rId3"/>
          <a:stretch/>
        </p:blipFill>
        <p:spPr>
          <a:xfrm>
            <a:off x="568080" y="2156040"/>
            <a:ext cx="200160" cy="267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"/>
          <p:cNvSpPr txBox="1"/>
          <p:nvPr/>
        </p:nvSpPr>
        <p:spPr>
          <a:xfrm>
            <a:off x="1002960" y="1473120"/>
            <a:ext cx="77043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実測による測定の結果、</a:t>
            </a:r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信号評価法が</a:t>
            </a:r>
            <a:r>
              <a:rPr b="0" lang="en-US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変調信号の評価に用いることが可能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であることが確認できた。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002960" y="2109600"/>
            <a:ext cx="67140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実験結果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0" name="" descr=""/>
          <p:cNvPicPr/>
          <p:nvPr/>
        </p:nvPicPr>
        <p:blipFill>
          <a:blip r:embed="rId4"/>
          <a:stretch/>
        </p:blipFill>
        <p:spPr>
          <a:xfrm>
            <a:off x="1002960" y="2757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"/>
          <p:cNvSpPr txBox="1"/>
          <p:nvPr/>
        </p:nvSpPr>
        <p:spPr>
          <a:xfrm>
            <a:off x="1002960" y="2426040"/>
            <a:ext cx="86310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リアルタイムサンプリングおよびアンダーサンプリングの結果から、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変調信号からトリガを取得し有効であることを確認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2" name="" descr=""/>
          <p:cNvPicPr/>
          <p:nvPr/>
        </p:nvPicPr>
        <p:blipFill>
          <a:blip r:embed="rId5"/>
          <a:stretch/>
        </p:blipFill>
        <p:spPr>
          <a:xfrm>
            <a:off x="3752280" y="2757600"/>
            <a:ext cx="11664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"/>
          <p:cNvSpPr txBox="1"/>
          <p:nvPr/>
        </p:nvSpPr>
        <p:spPr>
          <a:xfrm>
            <a:off x="1186560" y="2750760"/>
            <a:ext cx="2350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従来手法（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用）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: EVM -26.8dB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3935880" y="2750760"/>
            <a:ext cx="243720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新手法（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評価法）</a:t>
            </a:r>
            <a:r>
              <a:rPr b="0" lang="en-US" sz="1050" strike="noStrike" u="none">
                <a:solidFill>
                  <a:srgbClr val="374151"/>
                </a:solidFill>
                <a:effectLst/>
                <a:uFillTx/>
                <a:latin typeface="NotoSansJP"/>
                <a:ea typeface="NotoSansJP"/>
              </a:rPr>
              <a:t>: EVM -24.8dB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5" name="" descr=""/>
          <p:cNvPicPr/>
          <p:nvPr/>
        </p:nvPicPr>
        <p:blipFill>
          <a:blip r:embed="rId6"/>
          <a:stretch/>
        </p:blipFill>
        <p:spPr>
          <a:xfrm>
            <a:off x="493200" y="3576600"/>
            <a:ext cx="1000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"/>
          <p:cNvSpPr txBox="1"/>
          <p:nvPr/>
        </p:nvSpPr>
        <p:spPr>
          <a:xfrm>
            <a:off x="493200" y="3237840"/>
            <a:ext cx="1341720" cy="244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2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今後の課題と展望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07" name="" descr=""/>
          <p:cNvPicPr/>
          <p:nvPr/>
        </p:nvPicPr>
        <p:blipFill>
          <a:blip r:embed="rId7"/>
          <a:stretch/>
        </p:blipFill>
        <p:spPr>
          <a:xfrm>
            <a:off x="493200" y="3911040"/>
            <a:ext cx="166680" cy="13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8" name=""/>
          <p:cNvSpPr txBox="1"/>
          <p:nvPr/>
        </p:nvSpPr>
        <p:spPr>
          <a:xfrm>
            <a:off x="693720" y="3587400"/>
            <a:ext cx="947088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信号評価法による</a:t>
            </a:r>
            <a:r>
              <a:rPr b="0" lang="en-US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変調信号の評価において、詳細な状況を確認できていないため、その部分での変化を観察していく必要がある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4629600" y="4328640"/>
            <a:ext cx="1571400" cy="1571400"/>
          </a:xfrm>
          <a:custGeom>
            <a:avLst/>
            <a:gdLst/>
            <a:ahLst/>
            <a:rect l="0" t="0" r="r" b="b"/>
            <a:pathLst>
              <a:path w="4365" h="4365">
                <a:moveTo>
                  <a:pt x="4365" y="2182"/>
                </a:moveTo>
                <a:cubicBezTo>
                  <a:pt x="4365" y="2253"/>
                  <a:pt x="4361" y="2325"/>
                  <a:pt x="4354" y="2396"/>
                </a:cubicBezTo>
                <a:cubicBezTo>
                  <a:pt x="4347" y="2467"/>
                  <a:pt x="4337" y="2537"/>
                  <a:pt x="4323" y="2608"/>
                </a:cubicBezTo>
                <a:cubicBezTo>
                  <a:pt x="4309" y="2678"/>
                  <a:pt x="4291" y="2747"/>
                  <a:pt x="4271" y="2815"/>
                </a:cubicBezTo>
                <a:cubicBezTo>
                  <a:pt x="4250" y="2884"/>
                  <a:pt x="4226" y="2951"/>
                  <a:pt x="4198" y="3017"/>
                </a:cubicBezTo>
                <a:cubicBezTo>
                  <a:pt x="4171" y="3083"/>
                  <a:pt x="4141" y="3147"/>
                  <a:pt x="4107" y="3210"/>
                </a:cubicBezTo>
                <a:cubicBezTo>
                  <a:pt x="4073" y="3275"/>
                  <a:pt x="4037" y="3336"/>
                  <a:pt x="3997" y="3395"/>
                </a:cubicBezTo>
                <a:cubicBezTo>
                  <a:pt x="3957" y="3455"/>
                  <a:pt x="3915" y="3512"/>
                  <a:pt x="3869" y="3567"/>
                </a:cubicBezTo>
                <a:cubicBezTo>
                  <a:pt x="3824" y="3622"/>
                  <a:pt x="3776" y="3675"/>
                  <a:pt x="3725" y="3726"/>
                </a:cubicBezTo>
                <a:cubicBezTo>
                  <a:pt x="3675" y="3776"/>
                  <a:pt x="3622" y="3824"/>
                  <a:pt x="3567" y="3870"/>
                </a:cubicBezTo>
                <a:cubicBezTo>
                  <a:pt x="3512" y="3915"/>
                  <a:pt x="3454" y="3957"/>
                  <a:pt x="3395" y="3997"/>
                </a:cubicBezTo>
                <a:cubicBezTo>
                  <a:pt x="3335" y="4037"/>
                  <a:pt x="3274" y="4074"/>
                  <a:pt x="3211" y="4107"/>
                </a:cubicBezTo>
                <a:cubicBezTo>
                  <a:pt x="3148" y="4141"/>
                  <a:pt x="3084" y="4171"/>
                  <a:pt x="3018" y="4199"/>
                </a:cubicBezTo>
                <a:cubicBezTo>
                  <a:pt x="2952" y="4226"/>
                  <a:pt x="2884" y="4250"/>
                  <a:pt x="2816" y="4271"/>
                </a:cubicBezTo>
                <a:cubicBezTo>
                  <a:pt x="2748" y="4292"/>
                  <a:pt x="2678" y="4309"/>
                  <a:pt x="2608" y="4323"/>
                </a:cubicBezTo>
                <a:cubicBezTo>
                  <a:pt x="2538" y="4337"/>
                  <a:pt x="2468" y="4347"/>
                  <a:pt x="2395" y="4354"/>
                </a:cubicBezTo>
                <a:cubicBezTo>
                  <a:pt x="2324" y="4361"/>
                  <a:pt x="2253" y="4365"/>
                  <a:pt x="2182" y="4365"/>
                </a:cubicBezTo>
                <a:cubicBezTo>
                  <a:pt x="2110" y="4365"/>
                  <a:pt x="2039" y="4361"/>
                  <a:pt x="1968" y="4354"/>
                </a:cubicBezTo>
                <a:cubicBezTo>
                  <a:pt x="1897" y="4347"/>
                  <a:pt x="1826" y="4337"/>
                  <a:pt x="1756" y="4323"/>
                </a:cubicBezTo>
                <a:cubicBezTo>
                  <a:pt x="1686" y="4309"/>
                  <a:pt x="1617" y="4292"/>
                  <a:pt x="1548" y="4271"/>
                </a:cubicBezTo>
                <a:cubicBezTo>
                  <a:pt x="1480" y="4250"/>
                  <a:pt x="1413" y="4226"/>
                  <a:pt x="1347" y="4199"/>
                </a:cubicBezTo>
                <a:cubicBezTo>
                  <a:pt x="1281" y="4171"/>
                  <a:pt x="1216" y="4141"/>
                  <a:pt x="1153" y="4107"/>
                </a:cubicBezTo>
                <a:cubicBezTo>
                  <a:pt x="1090" y="4074"/>
                  <a:pt x="1029" y="4037"/>
                  <a:pt x="969" y="3997"/>
                </a:cubicBezTo>
                <a:cubicBezTo>
                  <a:pt x="910" y="3957"/>
                  <a:pt x="853" y="3915"/>
                  <a:pt x="797" y="3870"/>
                </a:cubicBezTo>
                <a:cubicBezTo>
                  <a:pt x="742" y="3824"/>
                  <a:pt x="689" y="3776"/>
                  <a:pt x="639" y="3726"/>
                </a:cubicBezTo>
                <a:cubicBezTo>
                  <a:pt x="588" y="3675"/>
                  <a:pt x="540" y="3622"/>
                  <a:pt x="495" y="3567"/>
                </a:cubicBezTo>
                <a:cubicBezTo>
                  <a:pt x="449" y="3512"/>
                  <a:pt x="407" y="3455"/>
                  <a:pt x="367" y="3395"/>
                </a:cubicBezTo>
                <a:cubicBezTo>
                  <a:pt x="328" y="3336"/>
                  <a:pt x="291" y="3275"/>
                  <a:pt x="257" y="3210"/>
                </a:cubicBezTo>
                <a:cubicBezTo>
                  <a:pt x="223" y="3147"/>
                  <a:pt x="193" y="3083"/>
                  <a:pt x="166" y="3017"/>
                </a:cubicBezTo>
                <a:cubicBezTo>
                  <a:pt x="138" y="2951"/>
                  <a:pt x="114" y="2884"/>
                  <a:pt x="93" y="2815"/>
                </a:cubicBezTo>
                <a:cubicBezTo>
                  <a:pt x="73" y="2747"/>
                  <a:pt x="55" y="2678"/>
                  <a:pt x="41" y="2608"/>
                </a:cubicBezTo>
                <a:cubicBezTo>
                  <a:pt x="28" y="2537"/>
                  <a:pt x="17" y="2467"/>
                  <a:pt x="10" y="2396"/>
                </a:cubicBezTo>
                <a:cubicBezTo>
                  <a:pt x="3" y="2325"/>
                  <a:pt x="0" y="2253"/>
                  <a:pt x="0" y="2182"/>
                </a:cubicBezTo>
                <a:cubicBezTo>
                  <a:pt x="0" y="2110"/>
                  <a:pt x="3" y="2039"/>
                  <a:pt x="10" y="1968"/>
                </a:cubicBezTo>
                <a:cubicBezTo>
                  <a:pt x="17" y="1897"/>
                  <a:pt x="28" y="1826"/>
                  <a:pt x="41" y="1756"/>
                </a:cubicBezTo>
                <a:cubicBezTo>
                  <a:pt x="55" y="1686"/>
                  <a:pt x="73" y="1617"/>
                  <a:pt x="93" y="1548"/>
                </a:cubicBezTo>
                <a:cubicBezTo>
                  <a:pt x="114" y="1480"/>
                  <a:pt x="138" y="1413"/>
                  <a:pt x="166" y="1347"/>
                </a:cubicBezTo>
                <a:cubicBezTo>
                  <a:pt x="193" y="1281"/>
                  <a:pt x="223" y="1216"/>
                  <a:pt x="257" y="1153"/>
                </a:cubicBezTo>
                <a:cubicBezTo>
                  <a:pt x="291" y="1090"/>
                  <a:pt x="328" y="1029"/>
                  <a:pt x="367" y="970"/>
                </a:cubicBezTo>
                <a:cubicBezTo>
                  <a:pt x="407" y="910"/>
                  <a:pt x="449" y="853"/>
                  <a:pt x="495" y="798"/>
                </a:cubicBezTo>
                <a:cubicBezTo>
                  <a:pt x="540" y="742"/>
                  <a:pt x="588" y="689"/>
                  <a:pt x="639" y="639"/>
                </a:cubicBezTo>
                <a:cubicBezTo>
                  <a:pt x="689" y="588"/>
                  <a:pt x="742" y="540"/>
                  <a:pt x="797" y="495"/>
                </a:cubicBezTo>
                <a:cubicBezTo>
                  <a:pt x="853" y="450"/>
                  <a:pt x="910" y="407"/>
                  <a:pt x="969" y="368"/>
                </a:cubicBezTo>
                <a:cubicBezTo>
                  <a:pt x="1029" y="328"/>
                  <a:pt x="1090" y="291"/>
                  <a:pt x="1153" y="258"/>
                </a:cubicBezTo>
                <a:cubicBezTo>
                  <a:pt x="1216" y="224"/>
                  <a:pt x="1281" y="193"/>
                  <a:pt x="1347" y="166"/>
                </a:cubicBezTo>
                <a:cubicBezTo>
                  <a:pt x="1413" y="139"/>
                  <a:pt x="1480" y="115"/>
                  <a:pt x="1548" y="94"/>
                </a:cubicBezTo>
                <a:cubicBezTo>
                  <a:pt x="1617" y="73"/>
                  <a:pt x="1686" y="56"/>
                  <a:pt x="1756" y="42"/>
                </a:cubicBezTo>
                <a:cubicBezTo>
                  <a:pt x="1826" y="28"/>
                  <a:pt x="1897" y="17"/>
                  <a:pt x="1968" y="10"/>
                </a:cubicBezTo>
                <a:cubicBezTo>
                  <a:pt x="2039" y="3"/>
                  <a:pt x="2110" y="0"/>
                  <a:pt x="2182" y="0"/>
                </a:cubicBezTo>
                <a:cubicBezTo>
                  <a:pt x="2253" y="0"/>
                  <a:pt x="2324" y="3"/>
                  <a:pt x="2395" y="10"/>
                </a:cubicBezTo>
                <a:cubicBezTo>
                  <a:pt x="2468" y="17"/>
                  <a:pt x="2538" y="28"/>
                  <a:pt x="2608" y="42"/>
                </a:cubicBezTo>
                <a:cubicBezTo>
                  <a:pt x="2678" y="56"/>
                  <a:pt x="2748" y="73"/>
                  <a:pt x="2816" y="94"/>
                </a:cubicBezTo>
                <a:cubicBezTo>
                  <a:pt x="2884" y="115"/>
                  <a:pt x="2952" y="139"/>
                  <a:pt x="3018" y="166"/>
                </a:cubicBezTo>
                <a:cubicBezTo>
                  <a:pt x="3084" y="193"/>
                  <a:pt x="3148" y="224"/>
                  <a:pt x="3211" y="258"/>
                </a:cubicBezTo>
                <a:cubicBezTo>
                  <a:pt x="3274" y="291"/>
                  <a:pt x="3335" y="328"/>
                  <a:pt x="3395" y="368"/>
                </a:cubicBezTo>
                <a:cubicBezTo>
                  <a:pt x="3454" y="407"/>
                  <a:pt x="3512" y="450"/>
                  <a:pt x="3567" y="495"/>
                </a:cubicBezTo>
                <a:cubicBezTo>
                  <a:pt x="3622" y="540"/>
                  <a:pt x="3675" y="588"/>
                  <a:pt x="3725" y="639"/>
                </a:cubicBezTo>
                <a:cubicBezTo>
                  <a:pt x="3776" y="689"/>
                  <a:pt x="3824" y="742"/>
                  <a:pt x="3869" y="798"/>
                </a:cubicBezTo>
                <a:cubicBezTo>
                  <a:pt x="3915" y="853"/>
                  <a:pt x="3957" y="910"/>
                  <a:pt x="3997" y="970"/>
                </a:cubicBezTo>
                <a:cubicBezTo>
                  <a:pt x="4037" y="1029"/>
                  <a:pt x="4073" y="1090"/>
                  <a:pt x="4107" y="1153"/>
                </a:cubicBezTo>
                <a:cubicBezTo>
                  <a:pt x="4141" y="1216"/>
                  <a:pt x="4171" y="1281"/>
                  <a:pt x="4198" y="1347"/>
                </a:cubicBezTo>
                <a:cubicBezTo>
                  <a:pt x="4226" y="1413"/>
                  <a:pt x="4250" y="1480"/>
                  <a:pt x="4271" y="1548"/>
                </a:cubicBezTo>
                <a:cubicBezTo>
                  <a:pt x="4291" y="1617"/>
                  <a:pt x="4309" y="1686"/>
                  <a:pt x="4323" y="1756"/>
                </a:cubicBezTo>
                <a:cubicBezTo>
                  <a:pt x="4337" y="1826"/>
                  <a:pt x="4347" y="1897"/>
                  <a:pt x="4354" y="1968"/>
                </a:cubicBezTo>
                <a:cubicBezTo>
                  <a:pt x="4361" y="2039"/>
                  <a:pt x="4365" y="2110"/>
                  <a:pt x="4365" y="2182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4629600" y="4328640"/>
            <a:ext cx="1571400" cy="1571400"/>
          </a:xfrm>
          <a:custGeom>
            <a:avLst/>
            <a:gdLst/>
            <a:ahLst/>
            <a:rect l="0" t="0" r="r" b="b"/>
            <a:pathLst>
              <a:path fill="none" w="4365" h="4365">
                <a:moveTo>
                  <a:pt x="4365" y="2182"/>
                </a:moveTo>
                <a:cubicBezTo>
                  <a:pt x="4365" y="2253"/>
                  <a:pt x="4361" y="2325"/>
                  <a:pt x="4354" y="2396"/>
                </a:cubicBezTo>
                <a:cubicBezTo>
                  <a:pt x="4347" y="2467"/>
                  <a:pt x="4337" y="2537"/>
                  <a:pt x="4323" y="2608"/>
                </a:cubicBezTo>
                <a:cubicBezTo>
                  <a:pt x="4309" y="2678"/>
                  <a:pt x="4291" y="2747"/>
                  <a:pt x="4271" y="2815"/>
                </a:cubicBezTo>
                <a:cubicBezTo>
                  <a:pt x="4250" y="2884"/>
                  <a:pt x="4226" y="2951"/>
                  <a:pt x="4198" y="3017"/>
                </a:cubicBezTo>
                <a:cubicBezTo>
                  <a:pt x="4171" y="3083"/>
                  <a:pt x="4141" y="3147"/>
                  <a:pt x="4107" y="3210"/>
                </a:cubicBezTo>
                <a:cubicBezTo>
                  <a:pt x="4073" y="3275"/>
                  <a:pt x="4037" y="3336"/>
                  <a:pt x="3997" y="3395"/>
                </a:cubicBezTo>
                <a:cubicBezTo>
                  <a:pt x="3957" y="3455"/>
                  <a:pt x="3915" y="3512"/>
                  <a:pt x="3869" y="3567"/>
                </a:cubicBezTo>
                <a:cubicBezTo>
                  <a:pt x="3824" y="3622"/>
                  <a:pt x="3776" y="3675"/>
                  <a:pt x="3725" y="3726"/>
                </a:cubicBezTo>
                <a:cubicBezTo>
                  <a:pt x="3675" y="3776"/>
                  <a:pt x="3622" y="3824"/>
                  <a:pt x="3567" y="3870"/>
                </a:cubicBezTo>
                <a:cubicBezTo>
                  <a:pt x="3512" y="3915"/>
                  <a:pt x="3454" y="3957"/>
                  <a:pt x="3395" y="3997"/>
                </a:cubicBezTo>
                <a:cubicBezTo>
                  <a:pt x="3335" y="4037"/>
                  <a:pt x="3274" y="4074"/>
                  <a:pt x="3211" y="4107"/>
                </a:cubicBezTo>
                <a:cubicBezTo>
                  <a:pt x="3148" y="4141"/>
                  <a:pt x="3084" y="4171"/>
                  <a:pt x="3018" y="4199"/>
                </a:cubicBezTo>
                <a:cubicBezTo>
                  <a:pt x="2952" y="4226"/>
                  <a:pt x="2884" y="4250"/>
                  <a:pt x="2816" y="4271"/>
                </a:cubicBezTo>
                <a:cubicBezTo>
                  <a:pt x="2748" y="4292"/>
                  <a:pt x="2678" y="4309"/>
                  <a:pt x="2608" y="4323"/>
                </a:cubicBezTo>
                <a:cubicBezTo>
                  <a:pt x="2538" y="4337"/>
                  <a:pt x="2468" y="4347"/>
                  <a:pt x="2395" y="4354"/>
                </a:cubicBezTo>
                <a:cubicBezTo>
                  <a:pt x="2324" y="4361"/>
                  <a:pt x="2253" y="4365"/>
                  <a:pt x="2182" y="4365"/>
                </a:cubicBezTo>
                <a:cubicBezTo>
                  <a:pt x="2110" y="4365"/>
                  <a:pt x="2039" y="4361"/>
                  <a:pt x="1968" y="4354"/>
                </a:cubicBezTo>
                <a:cubicBezTo>
                  <a:pt x="1897" y="4347"/>
                  <a:pt x="1826" y="4337"/>
                  <a:pt x="1756" y="4323"/>
                </a:cubicBezTo>
                <a:cubicBezTo>
                  <a:pt x="1686" y="4309"/>
                  <a:pt x="1617" y="4292"/>
                  <a:pt x="1548" y="4271"/>
                </a:cubicBezTo>
                <a:cubicBezTo>
                  <a:pt x="1480" y="4250"/>
                  <a:pt x="1413" y="4226"/>
                  <a:pt x="1347" y="4199"/>
                </a:cubicBezTo>
                <a:cubicBezTo>
                  <a:pt x="1281" y="4171"/>
                  <a:pt x="1216" y="4141"/>
                  <a:pt x="1153" y="4107"/>
                </a:cubicBezTo>
                <a:cubicBezTo>
                  <a:pt x="1090" y="4074"/>
                  <a:pt x="1029" y="4037"/>
                  <a:pt x="969" y="3997"/>
                </a:cubicBezTo>
                <a:cubicBezTo>
                  <a:pt x="910" y="3957"/>
                  <a:pt x="853" y="3915"/>
                  <a:pt x="797" y="3870"/>
                </a:cubicBezTo>
                <a:cubicBezTo>
                  <a:pt x="742" y="3824"/>
                  <a:pt x="689" y="3776"/>
                  <a:pt x="639" y="3726"/>
                </a:cubicBezTo>
                <a:cubicBezTo>
                  <a:pt x="588" y="3675"/>
                  <a:pt x="540" y="3622"/>
                  <a:pt x="495" y="3567"/>
                </a:cubicBezTo>
                <a:cubicBezTo>
                  <a:pt x="449" y="3512"/>
                  <a:pt x="407" y="3455"/>
                  <a:pt x="367" y="3395"/>
                </a:cubicBezTo>
                <a:cubicBezTo>
                  <a:pt x="328" y="3336"/>
                  <a:pt x="291" y="3275"/>
                  <a:pt x="257" y="3210"/>
                </a:cubicBezTo>
                <a:cubicBezTo>
                  <a:pt x="223" y="3147"/>
                  <a:pt x="193" y="3083"/>
                  <a:pt x="166" y="3017"/>
                </a:cubicBezTo>
                <a:cubicBezTo>
                  <a:pt x="138" y="2951"/>
                  <a:pt x="114" y="2884"/>
                  <a:pt x="93" y="2815"/>
                </a:cubicBezTo>
                <a:cubicBezTo>
                  <a:pt x="73" y="2747"/>
                  <a:pt x="55" y="2678"/>
                  <a:pt x="41" y="2608"/>
                </a:cubicBezTo>
                <a:cubicBezTo>
                  <a:pt x="28" y="2537"/>
                  <a:pt x="17" y="2467"/>
                  <a:pt x="10" y="2396"/>
                </a:cubicBezTo>
                <a:cubicBezTo>
                  <a:pt x="3" y="2325"/>
                  <a:pt x="0" y="2253"/>
                  <a:pt x="0" y="2182"/>
                </a:cubicBezTo>
                <a:cubicBezTo>
                  <a:pt x="0" y="2110"/>
                  <a:pt x="3" y="2039"/>
                  <a:pt x="10" y="1968"/>
                </a:cubicBezTo>
                <a:cubicBezTo>
                  <a:pt x="17" y="1897"/>
                  <a:pt x="28" y="1826"/>
                  <a:pt x="41" y="1756"/>
                </a:cubicBezTo>
                <a:cubicBezTo>
                  <a:pt x="55" y="1686"/>
                  <a:pt x="73" y="1617"/>
                  <a:pt x="93" y="1548"/>
                </a:cubicBezTo>
                <a:cubicBezTo>
                  <a:pt x="114" y="1480"/>
                  <a:pt x="138" y="1413"/>
                  <a:pt x="166" y="1347"/>
                </a:cubicBezTo>
                <a:cubicBezTo>
                  <a:pt x="193" y="1281"/>
                  <a:pt x="223" y="1216"/>
                  <a:pt x="257" y="1153"/>
                </a:cubicBezTo>
                <a:cubicBezTo>
                  <a:pt x="291" y="1090"/>
                  <a:pt x="328" y="1029"/>
                  <a:pt x="367" y="970"/>
                </a:cubicBezTo>
                <a:cubicBezTo>
                  <a:pt x="407" y="910"/>
                  <a:pt x="449" y="853"/>
                  <a:pt x="495" y="798"/>
                </a:cubicBezTo>
                <a:cubicBezTo>
                  <a:pt x="540" y="742"/>
                  <a:pt x="588" y="689"/>
                  <a:pt x="639" y="639"/>
                </a:cubicBezTo>
                <a:cubicBezTo>
                  <a:pt x="689" y="588"/>
                  <a:pt x="742" y="540"/>
                  <a:pt x="797" y="495"/>
                </a:cubicBezTo>
                <a:cubicBezTo>
                  <a:pt x="853" y="450"/>
                  <a:pt x="910" y="407"/>
                  <a:pt x="969" y="368"/>
                </a:cubicBezTo>
                <a:cubicBezTo>
                  <a:pt x="1029" y="328"/>
                  <a:pt x="1090" y="291"/>
                  <a:pt x="1153" y="258"/>
                </a:cubicBezTo>
                <a:cubicBezTo>
                  <a:pt x="1216" y="224"/>
                  <a:pt x="1281" y="193"/>
                  <a:pt x="1347" y="166"/>
                </a:cubicBezTo>
                <a:cubicBezTo>
                  <a:pt x="1413" y="139"/>
                  <a:pt x="1480" y="115"/>
                  <a:pt x="1548" y="94"/>
                </a:cubicBezTo>
                <a:cubicBezTo>
                  <a:pt x="1617" y="73"/>
                  <a:pt x="1686" y="56"/>
                  <a:pt x="1756" y="42"/>
                </a:cubicBezTo>
                <a:cubicBezTo>
                  <a:pt x="1826" y="28"/>
                  <a:pt x="1897" y="17"/>
                  <a:pt x="1968" y="10"/>
                </a:cubicBezTo>
                <a:cubicBezTo>
                  <a:pt x="2039" y="3"/>
                  <a:pt x="2110" y="0"/>
                  <a:pt x="2182" y="0"/>
                </a:cubicBezTo>
                <a:cubicBezTo>
                  <a:pt x="2253" y="0"/>
                  <a:pt x="2324" y="3"/>
                  <a:pt x="2395" y="10"/>
                </a:cubicBezTo>
                <a:cubicBezTo>
                  <a:pt x="2468" y="17"/>
                  <a:pt x="2538" y="28"/>
                  <a:pt x="2608" y="42"/>
                </a:cubicBezTo>
                <a:cubicBezTo>
                  <a:pt x="2678" y="56"/>
                  <a:pt x="2748" y="73"/>
                  <a:pt x="2816" y="94"/>
                </a:cubicBezTo>
                <a:cubicBezTo>
                  <a:pt x="2884" y="115"/>
                  <a:pt x="2952" y="139"/>
                  <a:pt x="3018" y="166"/>
                </a:cubicBezTo>
                <a:cubicBezTo>
                  <a:pt x="3084" y="193"/>
                  <a:pt x="3148" y="224"/>
                  <a:pt x="3211" y="258"/>
                </a:cubicBezTo>
                <a:cubicBezTo>
                  <a:pt x="3274" y="291"/>
                  <a:pt x="3335" y="328"/>
                  <a:pt x="3395" y="368"/>
                </a:cubicBezTo>
                <a:cubicBezTo>
                  <a:pt x="3454" y="407"/>
                  <a:pt x="3512" y="450"/>
                  <a:pt x="3567" y="495"/>
                </a:cubicBezTo>
                <a:cubicBezTo>
                  <a:pt x="3622" y="540"/>
                  <a:pt x="3675" y="588"/>
                  <a:pt x="3725" y="639"/>
                </a:cubicBezTo>
                <a:cubicBezTo>
                  <a:pt x="3776" y="689"/>
                  <a:pt x="3824" y="742"/>
                  <a:pt x="3869" y="798"/>
                </a:cubicBezTo>
                <a:cubicBezTo>
                  <a:pt x="3915" y="853"/>
                  <a:pt x="3957" y="910"/>
                  <a:pt x="3997" y="970"/>
                </a:cubicBezTo>
                <a:cubicBezTo>
                  <a:pt x="4037" y="1029"/>
                  <a:pt x="4073" y="1090"/>
                  <a:pt x="4107" y="1153"/>
                </a:cubicBezTo>
                <a:cubicBezTo>
                  <a:pt x="4141" y="1216"/>
                  <a:pt x="4171" y="1281"/>
                  <a:pt x="4198" y="1347"/>
                </a:cubicBezTo>
                <a:cubicBezTo>
                  <a:pt x="4226" y="1413"/>
                  <a:pt x="4250" y="1480"/>
                  <a:pt x="4271" y="1548"/>
                </a:cubicBezTo>
                <a:cubicBezTo>
                  <a:pt x="4291" y="1617"/>
                  <a:pt x="4309" y="1686"/>
                  <a:pt x="4323" y="1756"/>
                </a:cubicBezTo>
                <a:cubicBezTo>
                  <a:pt x="4337" y="1826"/>
                  <a:pt x="4347" y="1897"/>
                  <a:pt x="4354" y="1968"/>
                </a:cubicBezTo>
                <a:cubicBezTo>
                  <a:pt x="4361" y="2039"/>
                  <a:pt x="4365" y="2110"/>
                  <a:pt x="4365" y="2182"/>
                </a:cubicBezTo>
              </a:path>
            </a:pathLst>
          </a:custGeom>
          <a:ln w="33120">
            <a:solidFill>
              <a:srgbClr val="000080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1" name="" descr=""/>
          <p:cNvPicPr/>
          <p:nvPr/>
        </p:nvPicPr>
        <p:blipFill>
          <a:blip r:embed="rId8"/>
          <a:stretch/>
        </p:blipFill>
        <p:spPr>
          <a:xfrm>
            <a:off x="5272920" y="483012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"/>
          <p:cNvSpPr txBox="1"/>
          <p:nvPr/>
        </p:nvSpPr>
        <p:spPr>
          <a:xfrm>
            <a:off x="760320" y="3921840"/>
            <a:ext cx="603576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システムの統合により、評価方法を一本化することができ、システムの簡素化が実現可能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4495680" y="4328640"/>
            <a:ext cx="1571400" cy="1571400"/>
          </a:xfrm>
          <a:custGeom>
            <a:avLst/>
            <a:gdLst/>
            <a:ahLst/>
            <a:rect l="0" t="0" r="r" b="b"/>
            <a:pathLst>
              <a:path w="4365" h="4365">
                <a:moveTo>
                  <a:pt x="4365" y="2182"/>
                </a:moveTo>
                <a:cubicBezTo>
                  <a:pt x="4365" y="2253"/>
                  <a:pt x="4362" y="2325"/>
                  <a:pt x="4355" y="2396"/>
                </a:cubicBezTo>
                <a:cubicBezTo>
                  <a:pt x="4348" y="2467"/>
                  <a:pt x="4337" y="2537"/>
                  <a:pt x="4323" y="2608"/>
                </a:cubicBezTo>
                <a:cubicBezTo>
                  <a:pt x="4309" y="2678"/>
                  <a:pt x="4292" y="2747"/>
                  <a:pt x="4271" y="2815"/>
                </a:cubicBezTo>
                <a:cubicBezTo>
                  <a:pt x="4250" y="2884"/>
                  <a:pt x="4226" y="2951"/>
                  <a:pt x="4199" y="3017"/>
                </a:cubicBezTo>
                <a:cubicBezTo>
                  <a:pt x="4172" y="3083"/>
                  <a:pt x="4141" y="3147"/>
                  <a:pt x="4108" y="3210"/>
                </a:cubicBezTo>
                <a:cubicBezTo>
                  <a:pt x="4074" y="3275"/>
                  <a:pt x="4037" y="3336"/>
                  <a:pt x="3997" y="3395"/>
                </a:cubicBezTo>
                <a:cubicBezTo>
                  <a:pt x="3958" y="3455"/>
                  <a:pt x="3915" y="3512"/>
                  <a:pt x="3870" y="3567"/>
                </a:cubicBezTo>
                <a:cubicBezTo>
                  <a:pt x="3825" y="3622"/>
                  <a:pt x="3777" y="3675"/>
                  <a:pt x="3726" y="3726"/>
                </a:cubicBezTo>
                <a:cubicBezTo>
                  <a:pt x="3676" y="3776"/>
                  <a:pt x="3623" y="3824"/>
                  <a:pt x="3567" y="3870"/>
                </a:cubicBezTo>
                <a:cubicBezTo>
                  <a:pt x="3512" y="3915"/>
                  <a:pt x="3455" y="3957"/>
                  <a:pt x="3395" y="3997"/>
                </a:cubicBezTo>
                <a:cubicBezTo>
                  <a:pt x="3336" y="4037"/>
                  <a:pt x="3275" y="4074"/>
                  <a:pt x="3212" y="4107"/>
                </a:cubicBezTo>
                <a:cubicBezTo>
                  <a:pt x="3149" y="4141"/>
                  <a:pt x="3084" y="4171"/>
                  <a:pt x="3018" y="4199"/>
                </a:cubicBezTo>
                <a:cubicBezTo>
                  <a:pt x="2952" y="4226"/>
                  <a:pt x="2885" y="4250"/>
                  <a:pt x="2817" y="4271"/>
                </a:cubicBezTo>
                <a:cubicBezTo>
                  <a:pt x="2747" y="4292"/>
                  <a:pt x="2678" y="4309"/>
                  <a:pt x="2608" y="4323"/>
                </a:cubicBezTo>
                <a:cubicBezTo>
                  <a:pt x="2538" y="4337"/>
                  <a:pt x="2467" y="4347"/>
                  <a:pt x="2396" y="4354"/>
                </a:cubicBezTo>
                <a:cubicBezTo>
                  <a:pt x="2325" y="4361"/>
                  <a:pt x="2254" y="4365"/>
                  <a:pt x="2182" y="4365"/>
                </a:cubicBezTo>
                <a:cubicBezTo>
                  <a:pt x="2111" y="4365"/>
                  <a:pt x="2039" y="4361"/>
                  <a:pt x="1968" y="4354"/>
                </a:cubicBezTo>
                <a:cubicBezTo>
                  <a:pt x="1897" y="4347"/>
                  <a:pt x="1827" y="4337"/>
                  <a:pt x="1756" y="4323"/>
                </a:cubicBezTo>
                <a:cubicBezTo>
                  <a:pt x="1686" y="4309"/>
                  <a:pt x="1617" y="4292"/>
                  <a:pt x="1549" y="4271"/>
                </a:cubicBezTo>
                <a:cubicBezTo>
                  <a:pt x="1480" y="4250"/>
                  <a:pt x="1413" y="4226"/>
                  <a:pt x="1347" y="4199"/>
                </a:cubicBezTo>
                <a:cubicBezTo>
                  <a:pt x="1281" y="4171"/>
                  <a:pt x="1217" y="4141"/>
                  <a:pt x="1154" y="4107"/>
                </a:cubicBezTo>
                <a:cubicBezTo>
                  <a:pt x="1091" y="4074"/>
                  <a:pt x="1029" y="4037"/>
                  <a:pt x="970" y="3997"/>
                </a:cubicBezTo>
                <a:cubicBezTo>
                  <a:pt x="910" y="3957"/>
                  <a:pt x="853" y="3915"/>
                  <a:pt x="798" y="3870"/>
                </a:cubicBezTo>
                <a:cubicBezTo>
                  <a:pt x="743" y="3824"/>
                  <a:pt x="690" y="3776"/>
                  <a:pt x="639" y="3726"/>
                </a:cubicBezTo>
                <a:cubicBezTo>
                  <a:pt x="589" y="3675"/>
                  <a:pt x="541" y="3622"/>
                  <a:pt x="495" y="3567"/>
                </a:cubicBezTo>
                <a:cubicBezTo>
                  <a:pt x="450" y="3512"/>
                  <a:pt x="408" y="3455"/>
                  <a:pt x="368" y="3395"/>
                </a:cubicBezTo>
                <a:cubicBezTo>
                  <a:pt x="328" y="3336"/>
                  <a:pt x="291" y="3275"/>
                  <a:pt x="258" y="3210"/>
                </a:cubicBezTo>
                <a:cubicBezTo>
                  <a:pt x="224" y="3147"/>
                  <a:pt x="194" y="3083"/>
                  <a:pt x="166" y="3017"/>
                </a:cubicBezTo>
                <a:cubicBezTo>
                  <a:pt x="139" y="2951"/>
                  <a:pt x="115" y="2884"/>
                  <a:pt x="94" y="2815"/>
                </a:cubicBezTo>
                <a:cubicBezTo>
                  <a:pt x="73" y="2747"/>
                  <a:pt x="56" y="2678"/>
                  <a:pt x="42" y="2608"/>
                </a:cubicBezTo>
                <a:cubicBezTo>
                  <a:pt x="28" y="2537"/>
                  <a:pt x="18" y="2467"/>
                  <a:pt x="11" y="2396"/>
                </a:cubicBezTo>
                <a:cubicBezTo>
                  <a:pt x="4" y="2325"/>
                  <a:pt x="0" y="2253"/>
                  <a:pt x="0" y="2182"/>
                </a:cubicBezTo>
                <a:cubicBezTo>
                  <a:pt x="0" y="2110"/>
                  <a:pt x="4" y="2039"/>
                  <a:pt x="11" y="1968"/>
                </a:cubicBezTo>
                <a:cubicBezTo>
                  <a:pt x="18" y="1897"/>
                  <a:pt x="28" y="1826"/>
                  <a:pt x="42" y="1756"/>
                </a:cubicBezTo>
                <a:cubicBezTo>
                  <a:pt x="56" y="1686"/>
                  <a:pt x="73" y="1617"/>
                  <a:pt x="94" y="1548"/>
                </a:cubicBezTo>
                <a:cubicBezTo>
                  <a:pt x="115" y="1480"/>
                  <a:pt x="139" y="1413"/>
                  <a:pt x="166" y="1347"/>
                </a:cubicBezTo>
                <a:cubicBezTo>
                  <a:pt x="194" y="1281"/>
                  <a:pt x="224" y="1216"/>
                  <a:pt x="258" y="1153"/>
                </a:cubicBezTo>
                <a:cubicBezTo>
                  <a:pt x="291" y="1090"/>
                  <a:pt x="328" y="1029"/>
                  <a:pt x="368" y="970"/>
                </a:cubicBezTo>
                <a:cubicBezTo>
                  <a:pt x="408" y="910"/>
                  <a:pt x="450" y="853"/>
                  <a:pt x="495" y="798"/>
                </a:cubicBezTo>
                <a:cubicBezTo>
                  <a:pt x="541" y="742"/>
                  <a:pt x="589" y="689"/>
                  <a:pt x="639" y="639"/>
                </a:cubicBezTo>
                <a:cubicBezTo>
                  <a:pt x="690" y="588"/>
                  <a:pt x="743" y="540"/>
                  <a:pt x="798" y="495"/>
                </a:cubicBezTo>
                <a:cubicBezTo>
                  <a:pt x="853" y="450"/>
                  <a:pt x="910" y="407"/>
                  <a:pt x="970" y="368"/>
                </a:cubicBezTo>
                <a:cubicBezTo>
                  <a:pt x="1029" y="328"/>
                  <a:pt x="1091" y="291"/>
                  <a:pt x="1154" y="258"/>
                </a:cubicBezTo>
                <a:cubicBezTo>
                  <a:pt x="1217" y="224"/>
                  <a:pt x="1281" y="193"/>
                  <a:pt x="1347" y="166"/>
                </a:cubicBezTo>
                <a:cubicBezTo>
                  <a:pt x="1413" y="139"/>
                  <a:pt x="1480" y="115"/>
                  <a:pt x="1549" y="94"/>
                </a:cubicBezTo>
                <a:cubicBezTo>
                  <a:pt x="1617" y="73"/>
                  <a:pt x="1686" y="56"/>
                  <a:pt x="1756" y="42"/>
                </a:cubicBezTo>
                <a:cubicBezTo>
                  <a:pt x="1827" y="28"/>
                  <a:pt x="1897" y="17"/>
                  <a:pt x="1968" y="10"/>
                </a:cubicBezTo>
                <a:cubicBezTo>
                  <a:pt x="2039" y="3"/>
                  <a:pt x="2111" y="0"/>
                  <a:pt x="2182" y="0"/>
                </a:cubicBezTo>
                <a:cubicBezTo>
                  <a:pt x="2254" y="0"/>
                  <a:pt x="2325" y="3"/>
                  <a:pt x="2396" y="10"/>
                </a:cubicBezTo>
                <a:cubicBezTo>
                  <a:pt x="2467" y="17"/>
                  <a:pt x="2538" y="28"/>
                  <a:pt x="2608" y="42"/>
                </a:cubicBezTo>
                <a:cubicBezTo>
                  <a:pt x="2678" y="56"/>
                  <a:pt x="2747" y="73"/>
                  <a:pt x="2817" y="94"/>
                </a:cubicBezTo>
                <a:cubicBezTo>
                  <a:pt x="2885" y="115"/>
                  <a:pt x="2952" y="139"/>
                  <a:pt x="3018" y="166"/>
                </a:cubicBezTo>
                <a:cubicBezTo>
                  <a:pt x="3084" y="193"/>
                  <a:pt x="3149" y="224"/>
                  <a:pt x="3212" y="258"/>
                </a:cubicBezTo>
                <a:cubicBezTo>
                  <a:pt x="3275" y="291"/>
                  <a:pt x="3336" y="328"/>
                  <a:pt x="3395" y="368"/>
                </a:cubicBezTo>
                <a:cubicBezTo>
                  <a:pt x="3455" y="407"/>
                  <a:pt x="3512" y="450"/>
                  <a:pt x="3567" y="495"/>
                </a:cubicBezTo>
                <a:cubicBezTo>
                  <a:pt x="3623" y="540"/>
                  <a:pt x="3676" y="588"/>
                  <a:pt x="3726" y="639"/>
                </a:cubicBezTo>
                <a:cubicBezTo>
                  <a:pt x="3777" y="689"/>
                  <a:pt x="3825" y="742"/>
                  <a:pt x="3870" y="798"/>
                </a:cubicBezTo>
                <a:cubicBezTo>
                  <a:pt x="3915" y="853"/>
                  <a:pt x="3958" y="910"/>
                  <a:pt x="3997" y="970"/>
                </a:cubicBezTo>
                <a:cubicBezTo>
                  <a:pt x="4037" y="1029"/>
                  <a:pt x="4074" y="1090"/>
                  <a:pt x="4108" y="1153"/>
                </a:cubicBezTo>
                <a:cubicBezTo>
                  <a:pt x="4141" y="1216"/>
                  <a:pt x="4172" y="1281"/>
                  <a:pt x="4199" y="1347"/>
                </a:cubicBezTo>
                <a:cubicBezTo>
                  <a:pt x="4226" y="1413"/>
                  <a:pt x="4250" y="1480"/>
                  <a:pt x="4271" y="1548"/>
                </a:cubicBezTo>
                <a:cubicBezTo>
                  <a:pt x="4292" y="1617"/>
                  <a:pt x="4309" y="1686"/>
                  <a:pt x="4323" y="1756"/>
                </a:cubicBezTo>
                <a:cubicBezTo>
                  <a:pt x="4337" y="1826"/>
                  <a:pt x="4348" y="1897"/>
                  <a:pt x="4355" y="1968"/>
                </a:cubicBezTo>
                <a:cubicBezTo>
                  <a:pt x="4362" y="2039"/>
                  <a:pt x="4365" y="2110"/>
                  <a:pt x="4365" y="2182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4495680" y="4328640"/>
            <a:ext cx="1571400" cy="1571400"/>
          </a:xfrm>
          <a:custGeom>
            <a:avLst/>
            <a:gdLst/>
            <a:ahLst/>
            <a:rect l="0" t="0" r="r" b="b"/>
            <a:pathLst>
              <a:path fill="none" w="4365" h="4365">
                <a:moveTo>
                  <a:pt x="4365" y="2182"/>
                </a:moveTo>
                <a:cubicBezTo>
                  <a:pt x="4365" y="2253"/>
                  <a:pt x="4362" y="2325"/>
                  <a:pt x="4355" y="2396"/>
                </a:cubicBezTo>
                <a:cubicBezTo>
                  <a:pt x="4348" y="2467"/>
                  <a:pt x="4337" y="2537"/>
                  <a:pt x="4323" y="2608"/>
                </a:cubicBezTo>
                <a:cubicBezTo>
                  <a:pt x="4309" y="2678"/>
                  <a:pt x="4292" y="2747"/>
                  <a:pt x="4271" y="2815"/>
                </a:cubicBezTo>
                <a:cubicBezTo>
                  <a:pt x="4250" y="2884"/>
                  <a:pt x="4226" y="2951"/>
                  <a:pt x="4199" y="3017"/>
                </a:cubicBezTo>
                <a:cubicBezTo>
                  <a:pt x="4172" y="3083"/>
                  <a:pt x="4141" y="3147"/>
                  <a:pt x="4108" y="3210"/>
                </a:cubicBezTo>
                <a:cubicBezTo>
                  <a:pt x="4074" y="3275"/>
                  <a:pt x="4037" y="3336"/>
                  <a:pt x="3997" y="3395"/>
                </a:cubicBezTo>
                <a:cubicBezTo>
                  <a:pt x="3958" y="3455"/>
                  <a:pt x="3915" y="3512"/>
                  <a:pt x="3870" y="3567"/>
                </a:cubicBezTo>
                <a:cubicBezTo>
                  <a:pt x="3825" y="3622"/>
                  <a:pt x="3777" y="3675"/>
                  <a:pt x="3726" y="3726"/>
                </a:cubicBezTo>
                <a:cubicBezTo>
                  <a:pt x="3676" y="3776"/>
                  <a:pt x="3623" y="3824"/>
                  <a:pt x="3567" y="3870"/>
                </a:cubicBezTo>
                <a:cubicBezTo>
                  <a:pt x="3512" y="3915"/>
                  <a:pt x="3455" y="3957"/>
                  <a:pt x="3395" y="3997"/>
                </a:cubicBezTo>
                <a:cubicBezTo>
                  <a:pt x="3336" y="4037"/>
                  <a:pt x="3275" y="4074"/>
                  <a:pt x="3212" y="4107"/>
                </a:cubicBezTo>
                <a:cubicBezTo>
                  <a:pt x="3149" y="4141"/>
                  <a:pt x="3084" y="4171"/>
                  <a:pt x="3018" y="4199"/>
                </a:cubicBezTo>
                <a:cubicBezTo>
                  <a:pt x="2952" y="4226"/>
                  <a:pt x="2885" y="4250"/>
                  <a:pt x="2817" y="4271"/>
                </a:cubicBezTo>
                <a:cubicBezTo>
                  <a:pt x="2747" y="4292"/>
                  <a:pt x="2678" y="4309"/>
                  <a:pt x="2608" y="4323"/>
                </a:cubicBezTo>
                <a:cubicBezTo>
                  <a:pt x="2538" y="4337"/>
                  <a:pt x="2467" y="4347"/>
                  <a:pt x="2396" y="4354"/>
                </a:cubicBezTo>
                <a:cubicBezTo>
                  <a:pt x="2325" y="4361"/>
                  <a:pt x="2254" y="4365"/>
                  <a:pt x="2182" y="4365"/>
                </a:cubicBezTo>
                <a:cubicBezTo>
                  <a:pt x="2111" y="4365"/>
                  <a:pt x="2039" y="4361"/>
                  <a:pt x="1968" y="4354"/>
                </a:cubicBezTo>
                <a:cubicBezTo>
                  <a:pt x="1897" y="4347"/>
                  <a:pt x="1827" y="4337"/>
                  <a:pt x="1756" y="4323"/>
                </a:cubicBezTo>
                <a:cubicBezTo>
                  <a:pt x="1686" y="4309"/>
                  <a:pt x="1617" y="4292"/>
                  <a:pt x="1549" y="4271"/>
                </a:cubicBezTo>
                <a:cubicBezTo>
                  <a:pt x="1480" y="4250"/>
                  <a:pt x="1413" y="4226"/>
                  <a:pt x="1347" y="4199"/>
                </a:cubicBezTo>
                <a:cubicBezTo>
                  <a:pt x="1281" y="4171"/>
                  <a:pt x="1217" y="4141"/>
                  <a:pt x="1154" y="4107"/>
                </a:cubicBezTo>
                <a:cubicBezTo>
                  <a:pt x="1091" y="4074"/>
                  <a:pt x="1029" y="4037"/>
                  <a:pt x="970" y="3997"/>
                </a:cubicBezTo>
                <a:cubicBezTo>
                  <a:pt x="910" y="3957"/>
                  <a:pt x="853" y="3915"/>
                  <a:pt x="798" y="3870"/>
                </a:cubicBezTo>
                <a:cubicBezTo>
                  <a:pt x="743" y="3824"/>
                  <a:pt x="690" y="3776"/>
                  <a:pt x="639" y="3726"/>
                </a:cubicBezTo>
                <a:cubicBezTo>
                  <a:pt x="589" y="3675"/>
                  <a:pt x="541" y="3622"/>
                  <a:pt x="495" y="3567"/>
                </a:cubicBezTo>
                <a:cubicBezTo>
                  <a:pt x="450" y="3512"/>
                  <a:pt x="408" y="3455"/>
                  <a:pt x="368" y="3395"/>
                </a:cubicBezTo>
                <a:cubicBezTo>
                  <a:pt x="328" y="3336"/>
                  <a:pt x="291" y="3275"/>
                  <a:pt x="258" y="3210"/>
                </a:cubicBezTo>
                <a:cubicBezTo>
                  <a:pt x="224" y="3147"/>
                  <a:pt x="194" y="3083"/>
                  <a:pt x="166" y="3017"/>
                </a:cubicBezTo>
                <a:cubicBezTo>
                  <a:pt x="139" y="2951"/>
                  <a:pt x="115" y="2884"/>
                  <a:pt x="94" y="2815"/>
                </a:cubicBezTo>
                <a:cubicBezTo>
                  <a:pt x="73" y="2747"/>
                  <a:pt x="56" y="2678"/>
                  <a:pt x="42" y="2608"/>
                </a:cubicBezTo>
                <a:cubicBezTo>
                  <a:pt x="28" y="2537"/>
                  <a:pt x="18" y="2467"/>
                  <a:pt x="11" y="2396"/>
                </a:cubicBezTo>
                <a:cubicBezTo>
                  <a:pt x="4" y="2325"/>
                  <a:pt x="0" y="2253"/>
                  <a:pt x="0" y="2182"/>
                </a:cubicBezTo>
                <a:cubicBezTo>
                  <a:pt x="0" y="2110"/>
                  <a:pt x="4" y="2039"/>
                  <a:pt x="11" y="1968"/>
                </a:cubicBezTo>
                <a:cubicBezTo>
                  <a:pt x="18" y="1897"/>
                  <a:pt x="28" y="1826"/>
                  <a:pt x="42" y="1756"/>
                </a:cubicBezTo>
                <a:cubicBezTo>
                  <a:pt x="56" y="1686"/>
                  <a:pt x="73" y="1617"/>
                  <a:pt x="94" y="1548"/>
                </a:cubicBezTo>
                <a:cubicBezTo>
                  <a:pt x="115" y="1480"/>
                  <a:pt x="139" y="1413"/>
                  <a:pt x="166" y="1347"/>
                </a:cubicBezTo>
                <a:cubicBezTo>
                  <a:pt x="194" y="1281"/>
                  <a:pt x="224" y="1216"/>
                  <a:pt x="258" y="1153"/>
                </a:cubicBezTo>
                <a:cubicBezTo>
                  <a:pt x="291" y="1090"/>
                  <a:pt x="328" y="1029"/>
                  <a:pt x="368" y="970"/>
                </a:cubicBezTo>
                <a:cubicBezTo>
                  <a:pt x="408" y="910"/>
                  <a:pt x="450" y="853"/>
                  <a:pt x="495" y="798"/>
                </a:cubicBezTo>
                <a:cubicBezTo>
                  <a:pt x="541" y="742"/>
                  <a:pt x="589" y="689"/>
                  <a:pt x="639" y="639"/>
                </a:cubicBezTo>
                <a:cubicBezTo>
                  <a:pt x="690" y="588"/>
                  <a:pt x="743" y="540"/>
                  <a:pt x="798" y="495"/>
                </a:cubicBezTo>
                <a:cubicBezTo>
                  <a:pt x="853" y="450"/>
                  <a:pt x="910" y="407"/>
                  <a:pt x="970" y="368"/>
                </a:cubicBezTo>
                <a:cubicBezTo>
                  <a:pt x="1029" y="328"/>
                  <a:pt x="1091" y="291"/>
                  <a:pt x="1154" y="258"/>
                </a:cubicBezTo>
                <a:cubicBezTo>
                  <a:pt x="1217" y="224"/>
                  <a:pt x="1281" y="193"/>
                  <a:pt x="1347" y="166"/>
                </a:cubicBezTo>
                <a:cubicBezTo>
                  <a:pt x="1413" y="139"/>
                  <a:pt x="1480" y="115"/>
                  <a:pt x="1549" y="94"/>
                </a:cubicBezTo>
                <a:cubicBezTo>
                  <a:pt x="1617" y="73"/>
                  <a:pt x="1686" y="56"/>
                  <a:pt x="1756" y="42"/>
                </a:cubicBezTo>
                <a:cubicBezTo>
                  <a:pt x="1827" y="28"/>
                  <a:pt x="1897" y="17"/>
                  <a:pt x="1968" y="10"/>
                </a:cubicBezTo>
                <a:cubicBezTo>
                  <a:pt x="2039" y="3"/>
                  <a:pt x="2111" y="0"/>
                  <a:pt x="2182" y="0"/>
                </a:cubicBezTo>
                <a:cubicBezTo>
                  <a:pt x="2254" y="0"/>
                  <a:pt x="2325" y="3"/>
                  <a:pt x="2396" y="10"/>
                </a:cubicBezTo>
                <a:cubicBezTo>
                  <a:pt x="2467" y="17"/>
                  <a:pt x="2538" y="28"/>
                  <a:pt x="2608" y="42"/>
                </a:cubicBezTo>
                <a:cubicBezTo>
                  <a:pt x="2678" y="56"/>
                  <a:pt x="2747" y="73"/>
                  <a:pt x="2817" y="94"/>
                </a:cubicBezTo>
                <a:cubicBezTo>
                  <a:pt x="2885" y="115"/>
                  <a:pt x="2952" y="139"/>
                  <a:pt x="3018" y="166"/>
                </a:cubicBezTo>
                <a:cubicBezTo>
                  <a:pt x="3084" y="193"/>
                  <a:pt x="3149" y="224"/>
                  <a:pt x="3212" y="258"/>
                </a:cubicBezTo>
                <a:cubicBezTo>
                  <a:pt x="3275" y="291"/>
                  <a:pt x="3336" y="328"/>
                  <a:pt x="3395" y="368"/>
                </a:cubicBezTo>
                <a:cubicBezTo>
                  <a:pt x="3455" y="407"/>
                  <a:pt x="3512" y="450"/>
                  <a:pt x="3567" y="495"/>
                </a:cubicBezTo>
                <a:cubicBezTo>
                  <a:pt x="3623" y="540"/>
                  <a:pt x="3676" y="588"/>
                  <a:pt x="3726" y="639"/>
                </a:cubicBezTo>
                <a:cubicBezTo>
                  <a:pt x="3777" y="689"/>
                  <a:pt x="3825" y="742"/>
                  <a:pt x="3870" y="798"/>
                </a:cubicBezTo>
                <a:cubicBezTo>
                  <a:pt x="3915" y="853"/>
                  <a:pt x="3958" y="910"/>
                  <a:pt x="3997" y="970"/>
                </a:cubicBezTo>
                <a:cubicBezTo>
                  <a:pt x="4037" y="1029"/>
                  <a:pt x="4074" y="1090"/>
                  <a:pt x="4108" y="1153"/>
                </a:cubicBezTo>
                <a:cubicBezTo>
                  <a:pt x="4141" y="1216"/>
                  <a:pt x="4172" y="1281"/>
                  <a:pt x="4199" y="1347"/>
                </a:cubicBezTo>
                <a:cubicBezTo>
                  <a:pt x="4226" y="1413"/>
                  <a:pt x="4250" y="1480"/>
                  <a:pt x="4271" y="1548"/>
                </a:cubicBezTo>
                <a:cubicBezTo>
                  <a:pt x="4292" y="1617"/>
                  <a:pt x="4309" y="1686"/>
                  <a:pt x="4323" y="1756"/>
                </a:cubicBezTo>
                <a:cubicBezTo>
                  <a:pt x="4337" y="1826"/>
                  <a:pt x="4348" y="1897"/>
                  <a:pt x="4355" y="1968"/>
                </a:cubicBezTo>
                <a:cubicBezTo>
                  <a:pt x="4362" y="2039"/>
                  <a:pt x="4365" y="2110"/>
                  <a:pt x="4365" y="2182"/>
                </a:cubicBezTo>
              </a:path>
            </a:pathLst>
          </a:custGeom>
          <a:ln w="33120">
            <a:solidFill>
              <a:srgbClr val="000080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5" name="" descr=""/>
          <p:cNvPicPr/>
          <p:nvPr/>
        </p:nvPicPr>
        <p:blipFill>
          <a:blip r:embed="rId9"/>
          <a:stretch/>
        </p:blipFill>
        <p:spPr>
          <a:xfrm>
            <a:off x="5139360" y="4830120"/>
            <a:ext cx="283680" cy="3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6" name=""/>
          <p:cNvSpPr txBox="1"/>
          <p:nvPr/>
        </p:nvSpPr>
        <p:spPr>
          <a:xfrm>
            <a:off x="5097600" y="5232600"/>
            <a:ext cx="6598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QPSK</a:t>
            </a:r>
            <a:r>
              <a:rPr b="0" lang="zh-CN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評価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4295160" y="4328640"/>
            <a:ext cx="2106360" cy="2106360"/>
          </a:xfrm>
          <a:custGeom>
            <a:avLst/>
            <a:gdLst/>
            <a:ahLst/>
            <a:rect l="0" t="0" r="r" b="b"/>
            <a:pathLst>
              <a:path w="5851" h="5851">
                <a:moveTo>
                  <a:pt x="5851" y="2926"/>
                </a:moveTo>
                <a:cubicBezTo>
                  <a:pt x="5851" y="2974"/>
                  <a:pt x="5850" y="3021"/>
                  <a:pt x="5847" y="3069"/>
                </a:cubicBezTo>
                <a:cubicBezTo>
                  <a:pt x="5845" y="3117"/>
                  <a:pt x="5841" y="3165"/>
                  <a:pt x="5837" y="3212"/>
                </a:cubicBezTo>
                <a:cubicBezTo>
                  <a:pt x="5832" y="3260"/>
                  <a:pt x="5826" y="3308"/>
                  <a:pt x="5819" y="3355"/>
                </a:cubicBezTo>
                <a:cubicBezTo>
                  <a:pt x="5812" y="3402"/>
                  <a:pt x="5804" y="3449"/>
                  <a:pt x="5794" y="3496"/>
                </a:cubicBezTo>
                <a:cubicBezTo>
                  <a:pt x="5785" y="3543"/>
                  <a:pt x="5775" y="3590"/>
                  <a:pt x="5763" y="3636"/>
                </a:cubicBezTo>
                <a:cubicBezTo>
                  <a:pt x="5751" y="3683"/>
                  <a:pt x="5739" y="3729"/>
                  <a:pt x="5725" y="3775"/>
                </a:cubicBezTo>
                <a:cubicBezTo>
                  <a:pt x="5711" y="3821"/>
                  <a:pt x="5696" y="3866"/>
                  <a:pt x="5680" y="3911"/>
                </a:cubicBezTo>
                <a:cubicBezTo>
                  <a:pt x="5664" y="3956"/>
                  <a:pt x="5646" y="4001"/>
                  <a:pt x="5628" y="4045"/>
                </a:cubicBezTo>
                <a:cubicBezTo>
                  <a:pt x="5610" y="4089"/>
                  <a:pt x="5590" y="4133"/>
                  <a:pt x="5570" y="4176"/>
                </a:cubicBezTo>
                <a:cubicBezTo>
                  <a:pt x="5549" y="4220"/>
                  <a:pt x="5528" y="4262"/>
                  <a:pt x="5505" y="4304"/>
                </a:cubicBezTo>
                <a:cubicBezTo>
                  <a:pt x="5483" y="4347"/>
                  <a:pt x="5459" y="4388"/>
                  <a:pt x="5435" y="4429"/>
                </a:cubicBezTo>
                <a:cubicBezTo>
                  <a:pt x="5410" y="4470"/>
                  <a:pt x="5384" y="4511"/>
                  <a:pt x="5358" y="4551"/>
                </a:cubicBezTo>
                <a:cubicBezTo>
                  <a:pt x="5331" y="4590"/>
                  <a:pt x="5304" y="4630"/>
                  <a:pt x="5275" y="4668"/>
                </a:cubicBezTo>
                <a:cubicBezTo>
                  <a:pt x="5247" y="4706"/>
                  <a:pt x="5217" y="4744"/>
                  <a:pt x="5187" y="4781"/>
                </a:cubicBezTo>
                <a:cubicBezTo>
                  <a:pt x="5156" y="4818"/>
                  <a:pt x="5125" y="4854"/>
                  <a:pt x="5093" y="4890"/>
                </a:cubicBezTo>
                <a:cubicBezTo>
                  <a:pt x="5061" y="4925"/>
                  <a:pt x="5028" y="4960"/>
                  <a:pt x="4994" y="4994"/>
                </a:cubicBezTo>
                <a:cubicBezTo>
                  <a:pt x="4960" y="5028"/>
                  <a:pt x="4926" y="5061"/>
                  <a:pt x="4890" y="5093"/>
                </a:cubicBezTo>
                <a:cubicBezTo>
                  <a:pt x="4855" y="5125"/>
                  <a:pt x="4818" y="5156"/>
                  <a:pt x="4781" y="5187"/>
                </a:cubicBezTo>
                <a:cubicBezTo>
                  <a:pt x="4744" y="5217"/>
                  <a:pt x="4707" y="5246"/>
                  <a:pt x="4668" y="5275"/>
                </a:cubicBezTo>
                <a:cubicBezTo>
                  <a:pt x="4630" y="5303"/>
                  <a:pt x="4591" y="5331"/>
                  <a:pt x="4551" y="5358"/>
                </a:cubicBezTo>
                <a:cubicBezTo>
                  <a:pt x="4511" y="5384"/>
                  <a:pt x="4471" y="5410"/>
                  <a:pt x="4430" y="5434"/>
                </a:cubicBezTo>
                <a:cubicBezTo>
                  <a:pt x="4388" y="5459"/>
                  <a:pt x="4347" y="5483"/>
                  <a:pt x="4305" y="5505"/>
                </a:cubicBezTo>
                <a:cubicBezTo>
                  <a:pt x="4262" y="5528"/>
                  <a:pt x="4220" y="5549"/>
                  <a:pt x="4176" y="5570"/>
                </a:cubicBezTo>
                <a:cubicBezTo>
                  <a:pt x="4133" y="5590"/>
                  <a:pt x="4089" y="5610"/>
                  <a:pt x="4045" y="5628"/>
                </a:cubicBezTo>
                <a:cubicBezTo>
                  <a:pt x="4001" y="5646"/>
                  <a:pt x="3956" y="5663"/>
                  <a:pt x="3911" y="5680"/>
                </a:cubicBezTo>
                <a:cubicBezTo>
                  <a:pt x="3866" y="5696"/>
                  <a:pt x="3821" y="5711"/>
                  <a:pt x="3775" y="5725"/>
                </a:cubicBezTo>
                <a:cubicBezTo>
                  <a:pt x="3729" y="5739"/>
                  <a:pt x="3683" y="5751"/>
                  <a:pt x="3637" y="5763"/>
                </a:cubicBezTo>
                <a:cubicBezTo>
                  <a:pt x="3590" y="5775"/>
                  <a:pt x="3543" y="5785"/>
                  <a:pt x="3496" y="5794"/>
                </a:cubicBezTo>
                <a:cubicBezTo>
                  <a:pt x="3450" y="5804"/>
                  <a:pt x="3402" y="5812"/>
                  <a:pt x="3355" y="5819"/>
                </a:cubicBezTo>
                <a:cubicBezTo>
                  <a:pt x="3308" y="5826"/>
                  <a:pt x="3260" y="5832"/>
                  <a:pt x="3213" y="5836"/>
                </a:cubicBezTo>
                <a:cubicBezTo>
                  <a:pt x="3165" y="5841"/>
                  <a:pt x="3117" y="5845"/>
                  <a:pt x="3069" y="5847"/>
                </a:cubicBezTo>
                <a:cubicBezTo>
                  <a:pt x="3022" y="5849"/>
                  <a:pt x="2974" y="5851"/>
                  <a:pt x="2926" y="5851"/>
                </a:cubicBezTo>
                <a:cubicBezTo>
                  <a:pt x="2878" y="5851"/>
                  <a:pt x="2830" y="5849"/>
                  <a:pt x="2782" y="5847"/>
                </a:cubicBezTo>
                <a:cubicBezTo>
                  <a:pt x="2735" y="5845"/>
                  <a:pt x="2686" y="5841"/>
                  <a:pt x="2638" y="5836"/>
                </a:cubicBezTo>
                <a:cubicBezTo>
                  <a:pt x="2591" y="5832"/>
                  <a:pt x="2543" y="5826"/>
                  <a:pt x="2496" y="5819"/>
                </a:cubicBezTo>
                <a:cubicBezTo>
                  <a:pt x="2448" y="5812"/>
                  <a:pt x="2401" y="5804"/>
                  <a:pt x="2354" y="5794"/>
                </a:cubicBezTo>
                <a:cubicBezTo>
                  <a:pt x="2307" y="5785"/>
                  <a:pt x="2261" y="5775"/>
                  <a:pt x="2214" y="5763"/>
                </a:cubicBezTo>
                <a:cubicBezTo>
                  <a:pt x="2168" y="5751"/>
                  <a:pt x="2122" y="5739"/>
                  <a:pt x="2076" y="5725"/>
                </a:cubicBezTo>
                <a:cubicBezTo>
                  <a:pt x="2030" y="5711"/>
                  <a:pt x="1985" y="5696"/>
                  <a:pt x="1940" y="5680"/>
                </a:cubicBezTo>
                <a:cubicBezTo>
                  <a:pt x="1894" y="5663"/>
                  <a:pt x="1850" y="5646"/>
                  <a:pt x="1806" y="5628"/>
                </a:cubicBezTo>
                <a:cubicBezTo>
                  <a:pt x="1761" y="5610"/>
                  <a:pt x="1718" y="5590"/>
                  <a:pt x="1674" y="5570"/>
                </a:cubicBezTo>
                <a:cubicBezTo>
                  <a:pt x="1631" y="5549"/>
                  <a:pt x="1588" y="5528"/>
                  <a:pt x="1546" y="5505"/>
                </a:cubicBezTo>
                <a:cubicBezTo>
                  <a:pt x="1504" y="5483"/>
                  <a:pt x="1462" y="5459"/>
                  <a:pt x="1421" y="5434"/>
                </a:cubicBezTo>
                <a:cubicBezTo>
                  <a:pt x="1380" y="5410"/>
                  <a:pt x="1340" y="5384"/>
                  <a:pt x="1300" y="5358"/>
                </a:cubicBezTo>
                <a:cubicBezTo>
                  <a:pt x="1260" y="5331"/>
                  <a:pt x="1221" y="5303"/>
                  <a:pt x="1183" y="5275"/>
                </a:cubicBezTo>
                <a:cubicBezTo>
                  <a:pt x="1144" y="5246"/>
                  <a:pt x="1106" y="5217"/>
                  <a:pt x="1069" y="5187"/>
                </a:cubicBezTo>
                <a:cubicBezTo>
                  <a:pt x="1032" y="5156"/>
                  <a:pt x="996" y="5125"/>
                  <a:pt x="961" y="5093"/>
                </a:cubicBezTo>
                <a:cubicBezTo>
                  <a:pt x="925" y="5061"/>
                  <a:pt x="891" y="5028"/>
                  <a:pt x="857" y="4994"/>
                </a:cubicBezTo>
                <a:cubicBezTo>
                  <a:pt x="823" y="4960"/>
                  <a:pt x="790" y="4925"/>
                  <a:pt x="758" y="4890"/>
                </a:cubicBezTo>
                <a:cubicBezTo>
                  <a:pt x="726" y="4854"/>
                  <a:pt x="694" y="4818"/>
                  <a:pt x="664" y="4781"/>
                </a:cubicBezTo>
                <a:cubicBezTo>
                  <a:pt x="634" y="4744"/>
                  <a:pt x="604" y="4706"/>
                  <a:pt x="576" y="4668"/>
                </a:cubicBezTo>
                <a:cubicBezTo>
                  <a:pt x="547" y="4630"/>
                  <a:pt x="520" y="4590"/>
                  <a:pt x="493" y="4551"/>
                </a:cubicBezTo>
                <a:cubicBezTo>
                  <a:pt x="466" y="4511"/>
                  <a:pt x="441" y="4470"/>
                  <a:pt x="416" y="4429"/>
                </a:cubicBezTo>
                <a:cubicBezTo>
                  <a:pt x="392" y="4388"/>
                  <a:pt x="368" y="4347"/>
                  <a:pt x="345" y="4304"/>
                </a:cubicBezTo>
                <a:cubicBezTo>
                  <a:pt x="323" y="4262"/>
                  <a:pt x="301" y="4220"/>
                  <a:pt x="281" y="4176"/>
                </a:cubicBezTo>
                <a:cubicBezTo>
                  <a:pt x="260" y="4133"/>
                  <a:pt x="241" y="4089"/>
                  <a:pt x="223" y="4045"/>
                </a:cubicBezTo>
                <a:cubicBezTo>
                  <a:pt x="204" y="4001"/>
                  <a:pt x="187" y="3956"/>
                  <a:pt x="171" y="3911"/>
                </a:cubicBezTo>
                <a:cubicBezTo>
                  <a:pt x="155" y="3866"/>
                  <a:pt x="140" y="3821"/>
                  <a:pt x="126" y="3775"/>
                </a:cubicBezTo>
                <a:cubicBezTo>
                  <a:pt x="112" y="3729"/>
                  <a:pt x="99" y="3683"/>
                  <a:pt x="88" y="3636"/>
                </a:cubicBezTo>
                <a:cubicBezTo>
                  <a:pt x="76" y="3590"/>
                  <a:pt x="66" y="3543"/>
                  <a:pt x="56" y="3496"/>
                </a:cubicBezTo>
                <a:cubicBezTo>
                  <a:pt x="47" y="3449"/>
                  <a:pt x="39" y="3402"/>
                  <a:pt x="32" y="3355"/>
                </a:cubicBezTo>
                <a:cubicBezTo>
                  <a:pt x="25" y="3308"/>
                  <a:pt x="19" y="3260"/>
                  <a:pt x="14" y="3212"/>
                </a:cubicBezTo>
                <a:cubicBezTo>
                  <a:pt x="9" y="3165"/>
                  <a:pt x="6" y="3117"/>
                  <a:pt x="4" y="3069"/>
                </a:cubicBezTo>
                <a:cubicBezTo>
                  <a:pt x="1" y="3021"/>
                  <a:pt x="0" y="2974"/>
                  <a:pt x="0" y="2926"/>
                </a:cubicBezTo>
                <a:cubicBezTo>
                  <a:pt x="0" y="2878"/>
                  <a:pt x="1" y="2830"/>
                  <a:pt x="4" y="2782"/>
                </a:cubicBezTo>
                <a:cubicBezTo>
                  <a:pt x="6" y="2734"/>
                  <a:pt x="9" y="2687"/>
                  <a:pt x="14" y="2639"/>
                </a:cubicBezTo>
                <a:cubicBezTo>
                  <a:pt x="19" y="2590"/>
                  <a:pt x="25" y="2543"/>
                  <a:pt x="32" y="2496"/>
                </a:cubicBezTo>
                <a:cubicBezTo>
                  <a:pt x="39" y="2448"/>
                  <a:pt x="47" y="2401"/>
                  <a:pt x="56" y="2354"/>
                </a:cubicBezTo>
                <a:cubicBezTo>
                  <a:pt x="66" y="2307"/>
                  <a:pt x="76" y="2260"/>
                  <a:pt x="88" y="2214"/>
                </a:cubicBezTo>
                <a:cubicBezTo>
                  <a:pt x="99" y="2168"/>
                  <a:pt x="112" y="2121"/>
                  <a:pt x="126" y="2076"/>
                </a:cubicBezTo>
                <a:cubicBezTo>
                  <a:pt x="140" y="2030"/>
                  <a:pt x="155" y="1984"/>
                  <a:pt x="171" y="1939"/>
                </a:cubicBezTo>
                <a:cubicBezTo>
                  <a:pt x="187" y="1894"/>
                  <a:pt x="204" y="1850"/>
                  <a:pt x="223" y="1805"/>
                </a:cubicBezTo>
                <a:cubicBezTo>
                  <a:pt x="241" y="1761"/>
                  <a:pt x="260" y="1717"/>
                  <a:pt x="281" y="1674"/>
                </a:cubicBezTo>
                <a:cubicBezTo>
                  <a:pt x="301" y="1631"/>
                  <a:pt x="323" y="1588"/>
                  <a:pt x="345" y="1546"/>
                </a:cubicBezTo>
                <a:cubicBezTo>
                  <a:pt x="368" y="1504"/>
                  <a:pt x="392" y="1462"/>
                  <a:pt x="416" y="1421"/>
                </a:cubicBezTo>
                <a:cubicBezTo>
                  <a:pt x="441" y="1380"/>
                  <a:pt x="466" y="1340"/>
                  <a:pt x="493" y="1300"/>
                </a:cubicBezTo>
                <a:cubicBezTo>
                  <a:pt x="520" y="1260"/>
                  <a:pt x="547" y="1221"/>
                  <a:pt x="576" y="1182"/>
                </a:cubicBezTo>
                <a:cubicBezTo>
                  <a:pt x="604" y="1144"/>
                  <a:pt x="634" y="1106"/>
                  <a:pt x="664" y="1069"/>
                </a:cubicBezTo>
                <a:cubicBezTo>
                  <a:pt x="694" y="1032"/>
                  <a:pt x="726" y="996"/>
                  <a:pt x="758" y="960"/>
                </a:cubicBezTo>
                <a:cubicBezTo>
                  <a:pt x="790" y="925"/>
                  <a:pt x="823" y="890"/>
                  <a:pt x="857" y="857"/>
                </a:cubicBezTo>
                <a:cubicBezTo>
                  <a:pt x="891" y="823"/>
                  <a:pt x="925" y="790"/>
                  <a:pt x="961" y="758"/>
                </a:cubicBezTo>
                <a:cubicBezTo>
                  <a:pt x="996" y="725"/>
                  <a:pt x="1032" y="694"/>
                  <a:pt x="1069" y="664"/>
                </a:cubicBezTo>
                <a:cubicBezTo>
                  <a:pt x="1106" y="633"/>
                  <a:pt x="1144" y="604"/>
                  <a:pt x="1183" y="575"/>
                </a:cubicBezTo>
                <a:cubicBezTo>
                  <a:pt x="1221" y="547"/>
                  <a:pt x="1260" y="519"/>
                  <a:pt x="1300" y="493"/>
                </a:cubicBezTo>
                <a:cubicBezTo>
                  <a:pt x="1340" y="466"/>
                  <a:pt x="1380" y="441"/>
                  <a:pt x="1421" y="416"/>
                </a:cubicBezTo>
                <a:cubicBezTo>
                  <a:pt x="1462" y="391"/>
                  <a:pt x="1504" y="368"/>
                  <a:pt x="1546" y="345"/>
                </a:cubicBezTo>
                <a:cubicBezTo>
                  <a:pt x="1588" y="323"/>
                  <a:pt x="1631" y="301"/>
                  <a:pt x="1674" y="281"/>
                </a:cubicBezTo>
                <a:cubicBezTo>
                  <a:pt x="1718" y="260"/>
                  <a:pt x="1761" y="241"/>
                  <a:pt x="1806" y="223"/>
                </a:cubicBezTo>
                <a:cubicBezTo>
                  <a:pt x="1850" y="204"/>
                  <a:pt x="1894" y="187"/>
                  <a:pt x="1940" y="171"/>
                </a:cubicBezTo>
                <a:cubicBezTo>
                  <a:pt x="1985" y="155"/>
                  <a:pt x="2030" y="140"/>
                  <a:pt x="2076" y="126"/>
                </a:cubicBezTo>
                <a:cubicBezTo>
                  <a:pt x="2122" y="112"/>
                  <a:pt x="2168" y="99"/>
                  <a:pt x="2214" y="88"/>
                </a:cubicBezTo>
                <a:cubicBezTo>
                  <a:pt x="2261" y="76"/>
                  <a:pt x="2307" y="65"/>
                  <a:pt x="2354" y="56"/>
                </a:cubicBezTo>
                <a:cubicBezTo>
                  <a:pt x="2401" y="47"/>
                  <a:pt x="2448" y="39"/>
                  <a:pt x="2496" y="32"/>
                </a:cubicBezTo>
                <a:cubicBezTo>
                  <a:pt x="2543" y="24"/>
                  <a:pt x="2591" y="19"/>
                  <a:pt x="2638" y="14"/>
                </a:cubicBezTo>
                <a:cubicBezTo>
                  <a:pt x="2686" y="9"/>
                  <a:pt x="2735" y="6"/>
                  <a:pt x="2782" y="3"/>
                </a:cubicBezTo>
                <a:cubicBezTo>
                  <a:pt x="2830" y="1"/>
                  <a:pt x="2878" y="0"/>
                  <a:pt x="2926" y="0"/>
                </a:cubicBezTo>
                <a:cubicBezTo>
                  <a:pt x="2974" y="0"/>
                  <a:pt x="3022" y="1"/>
                  <a:pt x="3069" y="3"/>
                </a:cubicBezTo>
                <a:cubicBezTo>
                  <a:pt x="3117" y="6"/>
                  <a:pt x="3165" y="9"/>
                  <a:pt x="3213" y="14"/>
                </a:cubicBezTo>
                <a:cubicBezTo>
                  <a:pt x="3260" y="19"/>
                  <a:pt x="3308" y="24"/>
                  <a:pt x="3355" y="32"/>
                </a:cubicBezTo>
                <a:cubicBezTo>
                  <a:pt x="3402" y="39"/>
                  <a:pt x="3450" y="47"/>
                  <a:pt x="3496" y="56"/>
                </a:cubicBezTo>
                <a:cubicBezTo>
                  <a:pt x="3543" y="65"/>
                  <a:pt x="3590" y="76"/>
                  <a:pt x="3637" y="88"/>
                </a:cubicBezTo>
                <a:cubicBezTo>
                  <a:pt x="3683" y="99"/>
                  <a:pt x="3729" y="112"/>
                  <a:pt x="3775" y="126"/>
                </a:cubicBezTo>
                <a:cubicBezTo>
                  <a:pt x="3821" y="140"/>
                  <a:pt x="3866" y="155"/>
                  <a:pt x="3911" y="171"/>
                </a:cubicBezTo>
                <a:cubicBezTo>
                  <a:pt x="3956" y="187"/>
                  <a:pt x="4001" y="204"/>
                  <a:pt x="4045" y="223"/>
                </a:cubicBezTo>
                <a:cubicBezTo>
                  <a:pt x="4089" y="241"/>
                  <a:pt x="4133" y="260"/>
                  <a:pt x="4176" y="281"/>
                </a:cubicBezTo>
                <a:cubicBezTo>
                  <a:pt x="4220" y="301"/>
                  <a:pt x="4262" y="323"/>
                  <a:pt x="4305" y="345"/>
                </a:cubicBezTo>
                <a:cubicBezTo>
                  <a:pt x="4347" y="368"/>
                  <a:pt x="4388" y="391"/>
                  <a:pt x="4430" y="416"/>
                </a:cubicBezTo>
                <a:cubicBezTo>
                  <a:pt x="4471" y="441"/>
                  <a:pt x="4511" y="466"/>
                  <a:pt x="4551" y="493"/>
                </a:cubicBezTo>
                <a:cubicBezTo>
                  <a:pt x="4591" y="519"/>
                  <a:pt x="4630" y="547"/>
                  <a:pt x="4668" y="575"/>
                </a:cubicBezTo>
                <a:cubicBezTo>
                  <a:pt x="4707" y="604"/>
                  <a:pt x="4744" y="633"/>
                  <a:pt x="4781" y="664"/>
                </a:cubicBezTo>
                <a:cubicBezTo>
                  <a:pt x="4818" y="694"/>
                  <a:pt x="4855" y="725"/>
                  <a:pt x="4890" y="758"/>
                </a:cubicBezTo>
                <a:cubicBezTo>
                  <a:pt x="4926" y="790"/>
                  <a:pt x="4960" y="823"/>
                  <a:pt x="4994" y="857"/>
                </a:cubicBezTo>
                <a:cubicBezTo>
                  <a:pt x="5028" y="890"/>
                  <a:pt x="5061" y="925"/>
                  <a:pt x="5093" y="960"/>
                </a:cubicBezTo>
                <a:cubicBezTo>
                  <a:pt x="5125" y="996"/>
                  <a:pt x="5156" y="1032"/>
                  <a:pt x="5187" y="1069"/>
                </a:cubicBezTo>
                <a:cubicBezTo>
                  <a:pt x="5217" y="1106"/>
                  <a:pt x="5247" y="1144"/>
                  <a:pt x="5275" y="1182"/>
                </a:cubicBezTo>
                <a:cubicBezTo>
                  <a:pt x="5304" y="1221"/>
                  <a:pt x="5331" y="1260"/>
                  <a:pt x="5358" y="1300"/>
                </a:cubicBezTo>
                <a:cubicBezTo>
                  <a:pt x="5384" y="1340"/>
                  <a:pt x="5410" y="1380"/>
                  <a:pt x="5435" y="1421"/>
                </a:cubicBezTo>
                <a:cubicBezTo>
                  <a:pt x="5459" y="1462"/>
                  <a:pt x="5483" y="1504"/>
                  <a:pt x="5505" y="1546"/>
                </a:cubicBezTo>
                <a:cubicBezTo>
                  <a:pt x="5528" y="1588"/>
                  <a:pt x="5549" y="1631"/>
                  <a:pt x="5570" y="1674"/>
                </a:cubicBezTo>
                <a:cubicBezTo>
                  <a:pt x="5590" y="1717"/>
                  <a:pt x="5610" y="1761"/>
                  <a:pt x="5628" y="1805"/>
                </a:cubicBezTo>
                <a:cubicBezTo>
                  <a:pt x="5646" y="1850"/>
                  <a:pt x="5664" y="1894"/>
                  <a:pt x="5680" y="1939"/>
                </a:cubicBezTo>
                <a:cubicBezTo>
                  <a:pt x="5696" y="1984"/>
                  <a:pt x="5711" y="2030"/>
                  <a:pt x="5725" y="2076"/>
                </a:cubicBezTo>
                <a:cubicBezTo>
                  <a:pt x="5739" y="2121"/>
                  <a:pt x="5751" y="2168"/>
                  <a:pt x="5763" y="2214"/>
                </a:cubicBezTo>
                <a:cubicBezTo>
                  <a:pt x="5775" y="2260"/>
                  <a:pt x="5785" y="2307"/>
                  <a:pt x="5794" y="2354"/>
                </a:cubicBezTo>
                <a:cubicBezTo>
                  <a:pt x="5804" y="2401"/>
                  <a:pt x="5812" y="2448"/>
                  <a:pt x="5819" y="2496"/>
                </a:cubicBezTo>
                <a:cubicBezTo>
                  <a:pt x="5826" y="2543"/>
                  <a:pt x="5832" y="2590"/>
                  <a:pt x="5837" y="2639"/>
                </a:cubicBezTo>
                <a:cubicBezTo>
                  <a:pt x="5841" y="2687"/>
                  <a:pt x="5845" y="2734"/>
                  <a:pt x="5847" y="2782"/>
                </a:cubicBezTo>
                <a:cubicBezTo>
                  <a:pt x="5850" y="2830"/>
                  <a:pt x="5851" y="2878"/>
                  <a:pt x="5851" y="2926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4295160" y="4328640"/>
            <a:ext cx="2106360" cy="2106360"/>
          </a:xfrm>
          <a:custGeom>
            <a:avLst/>
            <a:gdLst/>
            <a:ahLst/>
            <a:rect l="0" t="0" r="r" b="b"/>
            <a:pathLst>
              <a:path fill="none" w="5851" h="5851">
                <a:moveTo>
                  <a:pt x="5851" y="2926"/>
                </a:moveTo>
                <a:cubicBezTo>
                  <a:pt x="5851" y="2974"/>
                  <a:pt x="5850" y="3021"/>
                  <a:pt x="5847" y="3069"/>
                </a:cubicBezTo>
                <a:cubicBezTo>
                  <a:pt x="5845" y="3117"/>
                  <a:pt x="5841" y="3165"/>
                  <a:pt x="5837" y="3212"/>
                </a:cubicBezTo>
                <a:cubicBezTo>
                  <a:pt x="5832" y="3260"/>
                  <a:pt x="5826" y="3308"/>
                  <a:pt x="5819" y="3355"/>
                </a:cubicBezTo>
                <a:cubicBezTo>
                  <a:pt x="5812" y="3402"/>
                  <a:pt x="5804" y="3449"/>
                  <a:pt x="5794" y="3496"/>
                </a:cubicBezTo>
                <a:cubicBezTo>
                  <a:pt x="5785" y="3543"/>
                  <a:pt x="5775" y="3590"/>
                  <a:pt x="5763" y="3636"/>
                </a:cubicBezTo>
                <a:cubicBezTo>
                  <a:pt x="5751" y="3683"/>
                  <a:pt x="5739" y="3729"/>
                  <a:pt x="5725" y="3775"/>
                </a:cubicBezTo>
                <a:cubicBezTo>
                  <a:pt x="5711" y="3821"/>
                  <a:pt x="5696" y="3866"/>
                  <a:pt x="5680" y="3911"/>
                </a:cubicBezTo>
                <a:cubicBezTo>
                  <a:pt x="5664" y="3956"/>
                  <a:pt x="5646" y="4001"/>
                  <a:pt x="5628" y="4045"/>
                </a:cubicBezTo>
                <a:cubicBezTo>
                  <a:pt x="5610" y="4089"/>
                  <a:pt x="5590" y="4133"/>
                  <a:pt x="5570" y="4176"/>
                </a:cubicBezTo>
                <a:cubicBezTo>
                  <a:pt x="5549" y="4220"/>
                  <a:pt x="5528" y="4262"/>
                  <a:pt x="5505" y="4304"/>
                </a:cubicBezTo>
                <a:cubicBezTo>
                  <a:pt x="5483" y="4347"/>
                  <a:pt x="5459" y="4388"/>
                  <a:pt x="5435" y="4429"/>
                </a:cubicBezTo>
                <a:cubicBezTo>
                  <a:pt x="5410" y="4470"/>
                  <a:pt x="5384" y="4511"/>
                  <a:pt x="5358" y="4551"/>
                </a:cubicBezTo>
                <a:cubicBezTo>
                  <a:pt x="5331" y="4590"/>
                  <a:pt x="5304" y="4630"/>
                  <a:pt x="5275" y="4668"/>
                </a:cubicBezTo>
                <a:cubicBezTo>
                  <a:pt x="5247" y="4706"/>
                  <a:pt x="5217" y="4744"/>
                  <a:pt x="5187" y="4781"/>
                </a:cubicBezTo>
                <a:cubicBezTo>
                  <a:pt x="5156" y="4818"/>
                  <a:pt x="5125" y="4854"/>
                  <a:pt x="5093" y="4890"/>
                </a:cubicBezTo>
                <a:cubicBezTo>
                  <a:pt x="5061" y="4925"/>
                  <a:pt x="5028" y="4960"/>
                  <a:pt x="4994" y="4994"/>
                </a:cubicBezTo>
                <a:cubicBezTo>
                  <a:pt x="4960" y="5028"/>
                  <a:pt x="4926" y="5061"/>
                  <a:pt x="4890" y="5093"/>
                </a:cubicBezTo>
                <a:cubicBezTo>
                  <a:pt x="4855" y="5125"/>
                  <a:pt x="4818" y="5156"/>
                  <a:pt x="4781" y="5187"/>
                </a:cubicBezTo>
                <a:cubicBezTo>
                  <a:pt x="4744" y="5217"/>
                  <a:pt x="4707" y="5246"/>
                  <a:pt x="4668" y="5275"/>
                </a:cubicBezTo>
                <a:cubicBezTo>
                  <a:pt x="4630" y="5303"/>
                  <a:pt x="4591" y="5331"/>
                  <a:pt x="4551" y="5358"/>
                </a:cubicBezTo>
                <a:cubicBezTo>
                  <a:pt x="4511" y="5384"/>
                  <a:pt x="4471" y="5410"/>
                  <a:pt x="4430" y="5434"/>
                </a:cubicBezTo>
                <a:cubicBezTo>
                  <a:pt x="4388" y="5459"/>
                  <a:pt x="4347" y="5483"/>
                  <a:pt x="4305" y="5505"/>
                </a:cubicBezTo>
                <a:cubicBezTo>
                  <a:pt x="4262" y="5528"/>
                  <a:pt x="4220" y="5549"/>
                  <a:pt x="4176" y="5570"/>
                </a:cubicBezTo>
                <a:cubicBezTo>
                  <a:pt x="4133" y="5590"/>
                  <a:pt x="4089" y="5610"/>
                  <a:pt x="4045" y="5628"/>
                </a:cubicBezTo>
                <a:cubicBezTo>
                  <a:pt x="4001" y="5646"/>
                  <a:pt x="3956" y="5663"/>
                  <a:pt x="3911" y="5680"/>
                </a:cubicBezTo>
                <a:cubicBezTo>
                  <a:pt x="3866" y="5696"/>
                  <a:pt x="3821" y="5711"/>
                  <a:pt x="3775" y="5725"/>
                </a:cubicBezTo>
                <a:cubicBezTo>
                  <a:pt x="3729" y="5739"/>
                  <a:pt x="3683" y="5751"/>
                  <a:pt x="3637" y="5763"/>
                </a:cubicBezTo>
                <a:cubicBezTo>
                  <a:pt x="3590" y="5775"/>
                  <a:pt x="3543" y="5785"/>
                  <a:pt x="3496" y="5794"/>
                </a:cubicBezTo>
                <a:cubicBezTo>
                  <a:pt x="3450" y="5804"/>
                  <a:pt x="3402" y="5812"/>
                  <a:pt x="3355" y="5819"/>
                </a:cubicBezTo>
                <a:cubicBezTo>
                  <a:pt x="3308" y="5826"/>
                  <a:pt x="3260" y="5832"/>
                  <a:pt x="3213" y="5836"/>
                </a:cubicBezTo>
                <a:cubicBezTo>
                  <a:pt x="3165" y="5841"/>
                  <a:pt x="3117" y="5845"/>
                  <a:pt x="3069" y="5847"/>
                </a:cubicBezTo>
                <a:cubicBezTo>
                  <a:pt x="3022" y="5849"/>
                  <a:pt x="2974" y="5851"/>
                  <a:pt x="2926" y="5851"/>
                </a:cubicBezTo>
                <a:cubicBezTo>
                  <a:pt x="2878" y="5851"/>
                  <a:pt x="2830" y="5849"/>
                  <a:pt x="2782" y="5847"/>
                </a:cubicBezTo>
                <a:cubicBezTo>
                  <a:pt x="2735" y="5845"/>
                  <a:pt x="2686" y="5841"/>
                  <a:pt x="2638" y="5836"/>
                </a:cubicBezTo>
                <a:cubicBezTo>
                  <a:pt x="2591" y="5832"/>
                  <a:pt x="2543" y="5826"/>
                  <a:pt x="2496" y="5819"/>
                </a:cubicBezTo>
                <a:cubicBezTo>
                  <a:pt x="2448" y="5812"/>
                  <a:pt x="2401" y="5804"/>
                  <a:pt x="2354" y="5794"/>
                </a:cubicBezTo>
                <a:cubicBezTo>
                  <a:pt x="2307" y="5785"/>
                  <a:pt x="2261" y="5775"/>
                  <a:pt x="2214" y="5763"/>
                </a:cubicBezTo>
                <a:cubicBezTo>
                  <a:pt x="2168" y="5751"/>
                  <a:pt x="2122" y="5739"/>
                  <a:pt x="2076" y="5725"/>
                </a:cubicBezTo>
                <a:cubicBezTo>
                  <a:pt x="2030" y="5711"/>
                  <a:pt x="1985" y="5696"/>
                  <a:pt x="1940" y="5680"/>
                </a:cubicBezTo>
                <a:cubicBezTo>
                  <a:pt x="1894" y="5663"/>
                  <a:pt x="1850" y="5646"/>
                  <a:pt x="1806" y="5628"/>
                </a:cubicBezTo>
                <a:cubicBezTo>
                  <a:pt x="1761" y="5610"/>
                  <a:pt x="1718" y="5590"/>
                  <a:pt x="1674" y="5570"/>
                </a:cubicBezTo>
                <a:cubicBezTo>
                  <a:pt x="1631" y="5549"/>
                  <a:pt x="1588" y="5528"/>
                  <a:pt x="1546" y="5505"/>
                </a:cubicBezTo>
                <a:cubicBezTo>
                  <a:pt x="1504" y="5483"/>
                  <a:pt x="1462" y="5459"/>
                  <a:pt x="1421" y="5434"/>
                </a:cubicBezTo>
                <a:cubicBezTo>
                  <a:pt x="1380" y="5410"/>
                  <a:pt x="1340" y="5384"/>
                  <a:pt x="1300" y="5358"/>
                </a:cubicBezTo>
                <a:cubicBezTo>
                  <a:pt x="1260" y="5331"/>
                  <a:pt x="1221" y="5303"/>
                  <a:pt x="1183" y="5275"/>
                </a:cubicBezTo>
                <a:cubicBezTo>
                  <a:pt x="1144" y="5246"/>
                  <a:pt x="1106" y="5217"/>
                  <a:pt x="1069" y="5187"/>
                </a:cubicBezTo>
                <a:cubicBezTo>
                  <a:pt x="1032" y="5156"/>
                  <a:pt x="996" y="5125"/>
                  <a:pt x="961" y="5093"/>
                </a:cubicBezTo>
                <a:cubicBezTo>
                  <a:pt x="925" y="5061"/>
                  <a:pt x="891" y="5028"/>
                  <a:pt x="857" y="4994"/>
                </a:cubicBezTo>
                <a:cubicBezTo>
                  <a:pt x="823" y="4960"/>
                  <a:pt x="790" y="4925"/>
                  <a:pt x="758" y="4890"/>
                </a:cubicBezTo>
                <a:cubicBezTo>
                  <a:pt x="726" y="4854"/>
                  <a:pt x="694" y="4818"/>
                  <a:pt x="664" y="4781"/>
                </a:cubicBezTo>
                <a:cubicBezTo>
                  <a:pt x="634" y="4744"/>
                  <a:pt x="604" y="4706"/>
                  <a:pt x="576" y="4668"/>
                </a:cubicBezTo>
                <a:cubicBezTo>
                  <a:pt x="547" y="4630"/>
                  <a:pt x="520" y="4590"/>
                  <a:pt x="493" y="4551"/>
                </a:cubicBezTo>
                <a:cubicBezTo>
                  <a:pt x="466" y="4511"/>
                  <a:pt x="441" y="4470"/>
                  <a:pt x="416" y="4429"/>
                </a:cubicBezTo>
                <a:cubicBezTo>
                  <a:pt x="392" y="4388"/>
                  <a:pt x="368" y="4347"/>
                  <a:pt x="345" y="4304"/>
                </a:cubicBezTo>
                <a:cubicBezTo>
                  <a:pt x="323" y="4262"/>
                  <a:pt x="301" y="4220"/>
                  <a:pt x="281" y="4176"/>
                </a:cubicBezTo>
                <a:cubicBezTo>
                  <a:pt x="260" y="4133"/>
                  <a:pt x="241" y="4089"/>
                  <a:pt x="223" y="4045"/>
                </a:cubicBezTo>
                <a:cubicBezTo>
                  <a:pt x="204" y="4001"/>
                  <a:pt x="187" y="3956"/>
                  <a:pt x="171" y="3911"/>
                </a:cubicBezTo>
                <a:cubicBezTo>
                  <a:pt x="155" y="3866"/>
                  <a:pt x="140" y="3821"/>
                  <a:pt x="126" y="3775"/>
                </a:cubicBezTo>
                <a:cubicBezTo>
                  <a:pt x="112" y="3729"/>
                  <a:pt x="99" y="3683"/>
                  <a:pt x="88" y="3636"/>
                </a:cubicBezTo>
                <a:cubicBezTo>
                  <a:pt x="76" y="3590"/>
                  <a:pt x="66" y="3543"/>
                  <a:pt x="56" y="3496"/>
                </a:cubicBezTo>
                <a:cubicBezTo>
                  <a:pt x="47" y="3449"/>
                  <a:pt x="39" y="3402"/>
                  <a:pt x="32" y="3355"/>
                </a:cubicBezTo>
                <a:cubicBezTo>
                  <a:pt x="25" y="3308"/>
                  <a:pt x="19" y="3260"/>
                  <a:pt x="14" y="3212"/>
                </a:cubicBezTo>
                <a:cubicBezTo>
                  <a:pt x="9" y="3165"/>
                  <a:pt x="6" y="3117"/>
                  <a:pt x="4" y="3069"/>
                </a:cubicBezTo>
                <a:cubicBezTo>
                  <a:pt x="1" y="3021"/>
                  <a:pt x="0" y="2974"/>
                  <a:pt x="0" y="2926"/>
                </a:cubicBezTo>
                <a:cubicBezTo>
                  <a:pt x="0" y="2878"/>
                  <a:pt x="1" y="2830"/>
                  <a:pt x="4" y="2782"/>
                </a:cubicBezTo>
                <a:cubicBezTo>
                  <a:pt x="6" y="2734"/>
                  <a:pt x="9" y="2687"/>
                  <a:pt x="14" y="2639"/>
                </a:cubicBezTo>
                <a:cubicBezTo>
                  <a:pt x="19" y="2590"/>
                  <a:pt x="25" y="2543"/>
                  <a:pt x="32" y="2496"/>
                </a:cubicBezTo>
                <a:cubicBezTo>
                  <a:pt x="39" y="2448"/>
                  <a:pt x="47" y="2401"/>
                  <a:pt x="56" y="2354"/>
                </a:cubicBezTo>
                <a:cubicBezTo>
                  <a:pt x="66" y="2307"/>
                  <a:pt x="76" y="2260"/>
                  <a:pt x="88" y="2214"/>
                </a:cubicBezTo>
                <a:cubicBezTo>
                  <a:pt x="99" y="2168"/>
                  <a:pt x="112" y="2121"/>
                  <a:pt x="126" y="2076"/>
                </a:cubicBezTo>
                <a:cubicBezTo>
                  <a:pt x="140" y="2030"/>
                  <a:pt x="155" y="1984"/>
                  <a:pt x="171" y="1939"/>
                </a:cubicBezTo>
                <a:cubicBezTo>
                  <a:pt x="187" y="1894"/>
                  <a:pt x="204" y="1850"/>
                  <a:pt x="223" y="1805"/>
                </a:cubicBezTo>
                <a:cubicBezTo>
                  <a:pt x="241" y="1761"/>
                  <a:pt x="260" y="1717"/>
                  <a:pt x="281" y="1674"/>
                </a:cubicBezTo>
                <a:cubicBezTo>
                  <a:pt x="301" y="1631"/>
                  <a:pt x="323" y="1588"/>
                  <a:pt x="345" y="1546"/>
                </a:cubicBezTo>
                <a:cubicBezTo>
                  <a:pt x="368" y="1504"/>
                  <a:pt x="392" y="1462"/>
                  <a:pt x="416" y="1421"/>
                </a:cubicBezTo>
                <a:cubicBezTo>
                  <a:pt x="441" y="1380"/>
                  <a:pt x="466" y="1340"/>
                  <a:pt x="493" y="1300"/>
                </a:cubicBezTo>
                <a:cubicBezTo>
                  <a:pt x="520" y="1260"/>
                  <a:pt x="547" y="1221"/>
                  <a:pt x="576" y="1182"/>
                </a:cubicBezTo>
                <a:cubicBezTo>
                  <a:pt x="604" y="1144"/>
                  <a:pt x="634" y="1106"/>
                  <a:pt x="664" y="1069"/>
                </a:cubicBezTo>
                <a:cubicBezTo>
                  <a:pt x="694" y="1032"/>
                  <a:pt x="726" y="996"/>
                  <a:pt x="758" y="960"/>
                </a:cubicBezTo>
                <a:cubicBezTo>
                  <a:pt x="790" y="925"/>
                  <a:pt x="823" y="890"/>
                  <a:pt x="857" y="857"/>
                </a:cubicBezTo>
                <a:cubicBezTo>
                  <a:pt x="891" y="823"/>
                  <a:pt x="925" y="790"/>
                  <a:pt x="961" y="758"/>
                </a:cubicBezTo>
                <a:cubicBezTo>
                  <a:pt x="996" y="725"/>
                  <a:pt x="1032" y="694"/>
                  <a:pt x="1069" y="664"/>
                </a:cubicBezTo>
                <a:cubicBezTo>
                  <a:pt x="1106" y="633"/>
                  <a:pt x="1144" y="604"/>
                  <a:pt x="1183" y="575"/>
                </a:cubicBezTo>
                <a:cubicBezTo>
                  <a:pt x="1221" y="547"/>
                  <a:pt x="1260" y="519"/>
                  <a:pt x="1300" y="493"/>
                </a:cubicBezTo>
                <a:cubicBezTo>
                  <a:pt x="1340" y="466"/>
                  <a:pt x="1380" y="441"/>
                  <a:pt x="1421" y="416"/>
                </a:cubicBezTo>
                <a:cubicBezTo>
                  <a:pt x="1462" y="391"/>
                  <a:pt x="1504" y="368"/>
                  <a:pt x="1546" y="345"/>
                </a:cubicBezTo>
                <a:cubicBezTo>
                  <a:pt x="1588" y="323"/>
                  <a:pt x="1631" y="301"/>
                  <a:pt x="1674" y="281"/>
                </a:cubicBezTo>
                <a:cubicBezTo>
                  <a:pt x="1718" y="260"/>
                  <a:pt x="1761" y="241"/>
                  <a:pt x="1806" y="223"/>
                </a:cubicBezTo>
                <a:cubicBezTo>
                  <a:pt x="1850" y="204"/>
                  <a:pt x="1894" y="187"/>
                  <a:pt x="1940" y="171"/>
                </a:cubicBezTo>
                <a:cubicBezTo>
                  <a:pt x="1985" y="155"/>
                  <a:pt x="2030" y="140"/>
                  <a:pt x="2076" y="126"/>
                </a:cubicBezTo>
                <a:cubicBezTo>
                  <a:pt x="2122" y="112"/>
                  <a:pt x="2168" y="99"/>
                  <a:pt x="2214" y="88"/>
                </a:cubicBezTo>
                <a:cubicBezTo>
                  <a:pt x="2261" y="76"/>
                  <a:pt x="2307" y="65"/>
                  <a:pt x="2354" y="56"/>
                </a:cubicBezTo>
                <a:cubicBezTo>
                  <a:pt x="2401" y="47"/>
                  <a:pt x="2448" y="39"/>
                  <a:pt x="2496" y="32"/>
                </a:cubicBezTo>
                <a:cubicBezTo>
                  <a:pt x="2543" y="24"/>
                  <a:pt x="2591" y="19"/>
                  <a:pt x="2638" y="14"/>
                </a:cubicBezTo>
                <a:cubicBezTo>
                  <a:pt x="2686" y="9"/>
                  <a:pt x="2735" y="6"/>
                  <a:pt x="2782" y="3"/>
                </a:cubicBezTo>
                <a:cubicBezTo>
                  <a:pt x="2830" y="1"/>
                  <a:pt x="2878" y="0"/>
                  <a:pt x="2926" y="0"/>
                </a:cubicBezTo>
                <a:cubicBezTo>
                  <a:pt x="2974" y="0"/>
                  <a:pt x="3022" y="1"/>
                  <a:pt x="3069" y="3"/>
                </a:cubicBezTo>
                <a:cubicBezTo>
                  <a:pt x="3117" y="6"/>
                  <a:pt x="3165" y="9"/>
                  <a:pt x="3213" y="14"/>
                </a:cubicBezTo>
                <a:cubicBezTo>
                  <a:pt x="3260" y="19"/>
                  <a:pt x="3308" y="24"/>
                  <a:pt x="3355" y="32"/>
                </a:cubicBezTo>
                <a:cubicBezTo>
                  <a:pt x="3402" y="39"/>
                  <a:pt x="3450" y="47"/>
                  <a:pt x="3496" y="56"/>
                </a:cubicBezTo>
                <a:cubicBezTo>
                  <a:pt x="3543" y="65"/>
                  <a:pt x="3590" y="76"/>
                  <a:pt x="3637" y="88"/>
                </a:cubicBezTo>
                <a:cubicBezTo>
                  <a:pt x="3683" y="99"/>
                  <a:pt x="3729" y="112"/>
                  <a:pt x="3775" y="126"/>
                </a:cubicBezTo>
                <a:cubicBezTo>
                  <a:pt x="3821" y="140"/>
                  <a:pt x="3866" y="155"/>
                  <a:pt x="3911" y="171"/>
                </a:cubicBezTo>
                <a:cubicBezTo>
                  <a:pt x="3956" y="187"/>
                  <a:pt x="4001" y="204"/>
                  <a:pt x="4045" y="223"/>
                </a:cubicBezTo>
                <a:cubicBezTo>
                  <a:pt x="4089" y="241"/>
                  <a:pt x="4133" y="260"/>
                  <a:pt x="4176" y="281"/>
                </a:cubicBezTo>
                <a:cubicBezTo>
                  <a:pt x="4220" y="301"/>
                  <a:pt x="4262" y="323"/>
                  <a:pt x="4305" y="345"/>
                </a:cubicBezTo>
                <a:cubicBezTo>
                  <a:pt x="4347" y="368"/>
                  <a:pt x="4388" y="391"/>
                  <a:pt x="4430" y="416"/>
                </a:cubicBezTo>
                <a:cubicBezTo>
                  <a:pt x="4471" y="441"/>
                  <a:pt x="4511" y="466"/>
                  <a:pt x="4551" y="493"/>
                </a:cubicBezTo>
                <a:cubicBezTo>
                  <a:pt x="4591" y="519"/>
                  <a:pt x="4630" y="547"/>
                  <a:pt x="4668" y="575"/>
                </a:cubicBezTo>
                <a:cubicBezTo>
                  <a:pt x="4707" y="604"/>
                  <a:pt x="4744" y="633"/>
                  <a:pt x="4781" y="664"/>
                </a:cubicBezTo>
                <a:cubicBezTo>
                  <a:pt x="4818" y="694"/>
                  <a:pt x="4855" y="725"/>
                  <a:pt x="4890" y="758"/>
                </a:cubicBezTo>
                <a:cubicBezTo>
                  <a:pt x="4926" y="790"/>
                  <a:pt x="4960" y="823"/>
                  <a:pt x="4994" y="857"/>
                </a:cubicBezTo>
                <a:cubicBezTo>
                  <a:pt x="5028" y="890"/>
                  <a:pt x="5061" y="925"/>
                  <a:pt x="5093" y="960"/>
                </a:cubicBezTo>
                <a:cubicBezTo>
                  <a:pt x="5125" y="996"/>
                  <a:pt x="5156" y="1032"/>
                  <a:pt x="5187" y="1069"/>
                </a:cubicBezTo>
                <a:cubicBezTo>
                  <a:pt x="5217" y="1106"/>
                  <a:pt x="5247" y="1144"/>
                  <a:pt x="5275" y="1182"/>
                </a:cubicBezTo>
                <a:cubicBezTo>
                  <a:pt x="5304" y="1221"/>
                  <a:pt x="5331" y="1260"/>
                  <a:pt x="5358" y="1300"/>
                </a:cubicBezTo>
                <a:cubicBezTo>
                  <a:pt x="5384" y="1340"/>
                  <a:pt x="5410" y="1380"/>
                  <a:pt x="5435" y="1421"/>
                </a:cubicBezTo>
                <a:cubicBezTo>
                  <a:pt x="5459" y="1462"/>
                  <a:pt x="5483" y="1504"/>
                  <a:pt x="5505" y="1546"/>
                </a:cubicBezTo>
                <a:cubicBezTo>
                  <a:pt x="5528" y="1588"/>
                  <a:pt x="5549" y="1631"/>
                  <a:pt x="5570" y="1674"/>
                </a:cubicBezTo>
                <a:cubicBezTo>
                  <a:pt x="5590" y="1717"/>
                  <a:pt x="5610" y="1761"/>
                  <a:pt x="5628" y="1805"/>
                </a:cubicBezTo>
                <a:cubicBezTo>
                  <a:pt x="5646" y="1850"/>
                  <a:pt x="5664" y="1894"/>
                  <a:pt x="5680" y="1939"/>
                </a:cubicBezTo>
                <a:cubicBezTo>
                  <a:pt x="5696" y="1984"/>
                  <a:pt x="5711" y="2030"/>
                  <a:pt x="5725" y="2076"/>
                </a:cubicBezTo>
                <a:cubicBezTo>
                  <a:pt x="5739" y="2121"/>
                  <a:pt x="5751" y="2168"/>
                  <a:pt x="5763" y="2214"/>
                </a:cubicBezTo>
                <a:cubicBezTo>
                  <a:pt x="5775" y="2260"/>
                  <a:pt x="5785" y="2307"/>
                  <a:pt x="5794" y="2354"/>
                </a:cubicBezTo>
                <a:cubicBezTo>
                  <a:pt x="5804" y="2401"/>
                  <a:pt x="5812" y="2448"/>
                  <a:pt x="5819" y="2496"/>
                </a:cubicBezTo>
                <a:cubicBezTo>
                  <a:pt x="5826" y="2543"/>
                  <a:pt x="5832" y="2590"/>
                  <a:pt x="5837" y="2639"/>
                </a:cubicBezTo>
                <a:cubicBezTo>
                  <a:pt x="5841" y="2687"/>
                  <a:pt x="5845" y="2734"/>
                  <a:pt x="5847" y="2782"/>
                </a:cubicBezTo>
                <a:cubicBezTo>
                  <a:pt x="5850" y="2830"/>
                  <a:pt x="5851" y="2878"/>
                  <a:pt x="5851" y="2926"/>
                </a:cubicBezTo>
              </a:path>
            </a:pathLst>
          </a:custGeom>
          <a:ln w="33120">
            <a:solidFill>
              <a:srgbClr val="ffa500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9" name="" descr=""/>
          <p:cNvPicPr/>
          <p:nvPr/>
        </p:nvPicPr>
        <p:blipFill>
          <a:blip r:embed="rId10"/>
          <a:stretch/>
        </p:blipFill>
        <p:spPr>
          <a:xfrm>
            <a:off x="5198040" y="4947120"/>
            <a:ext cx="300600" cy="33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"/>
          <p:cNvSpPr txBox="1"/>
          <p:nvPr/>
        </p:nvSpPr>
        <p:spPr>
          <a:xfrm>
            <a:off x="4997160" y="5232600"/>
            <a:ext cx="613080" cy="194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QAM</a:t>
            </a:r>
            <a:r>
              <a:rPr b="0" lang="zh-CN" sz="105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評価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750920" y="5425920"/>
            <a:ext cx="1207800" cy="219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180" strike="noStrike" u="none">
                <a:solidFill>
                  <a:srgbClr val="000080"/>
                </a:solidFill>
                <a:effectLst/>
                <a:uFillTx/>
                <a:latin typeface="NotoSansJP"/>
                <a:ea typeface="NotoSansJP"/>
              </a:rPr>
              <a:t>統合評価システム</a:t>
            </a:r>
            <a:endParaRPr b="0" lang="en-US" sz="11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4938840" y="5674320"/>
            <a:ext cx="82224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000000"/>
                </a:solidFill>
                <a:effectLst/>
                <a:uFillTx/>
                <a:latin typeface="NotoSansJP"/>
                <a:ea typeface="NotoSansJP"/>
              </a:rPr>
              <a:t>簡素化‧効率化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200520" y="6476400"/>
            <a:ext cx="1643760" cy="16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920" strike="noStrike" u="none">
                <a:solidFill>
                  <a:srgbClr val="4b5563"/>
                </a:solidFill>
                <a:effectLst/>
                <a:uFillTx/>
                <a:latin typeface="NotoSansJP"/>
                <a:ea typeface="NotoSansJP"/>
              </a:rPr>
              <a:t>ご清聴ありがとうございました</a:t>
            </a:r>
            <a:endParaRPr b="0" lang="en-US" sz="92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10078200" y="6486120"/>
            <a:ext cx="472320" cy="15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050" strike="noStrike" u="none">
                <a:solidFill>
                  <a:srgbClr val="6b7280"/>
                </a:solidFill>
                <a:effectLst/>
                <a:uFillTx/>
                <a:latin typeface="NotoSansJP"/>
                <a:ea typeface="NotoSansJP"/>
              </a:rPr>
              <a:t>12 / 12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