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0704513" cy="601632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1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34960" y="605880"/>
            <a:ext cx="9633240" cy="87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34960" y="1627560"/>
            <a:ext cx="9633240" cy="305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1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34960" y="605880"/>
            <a:ext cx="9633240" cy="87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34960" y="1627560"/>
            <a:ext cx="9633240" cy="305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1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34960" y="605880"/>
            <a:ext cx="9633240" cy="87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34960" y="1627560"/>
            <a:ext cx="9633240" cy="305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34960" y="605880"/>
            <a:ext cx="9633240" cy="87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34960" y="1627560"/>
            <a:ext cx="9633240" cy="305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34960" y="605880"/>
            <a:ext cx="9633240" cy="87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34960" y="1627560"/>
            <a:ext cx="9633240" cy="305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31.png"/><Relationship Id="rId13" Type="http://schemas.openxmlformats.org/officeDocument/2006/relationships/image" Target="../media/image32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3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6.png"/><Relationship Id="rId10" Type="http://schemas.openxmlformats.org/officeDocument/2006/relationships/image" Target="../media/image59.png"/><Relationship Id="rId11" Type="http://schemas.openxmlformats.org/officeDocument/2006/relationships/image" Target="../media/image58.png"/><Relationship Id="rId12" Type="http://schemas.openxmlformats.org/officeDocument/2006/relationships/image" Target="../media/image60.png"/><Relationship Id="rId13" Type="http://schemas.openxmlformats.org/officeDocument/2006/relationships/image" Target="../media/image57.png"/><Relationship Id="rId14" Type="http://schemas.openxmlformats.org/officeDocument/2006/relationships/image" Target="../media/image61.png"/><Relationship Id="rId15" Type="http://schemas.openxmlformats.org/officeDocument/2006/relationships/image" Target="../media/image60.png"/><Relationship Id="rId16" Type="http://schemas.openxmlformats.org/officeDocument/2006/relationships/image" Target="../media/image59.png"/><Relationship Id="rId17" Type="http://schemas.openxmlformats.org/officeDocument/2006/relationships/image" Target="../media/image62.png"/><Relationship Id="rId18" Type="http://schemas.openxmlformats.org/officeDocument/2006/relationships/image" Target="../media/image63.png"/><Relationship Id="rId19" Type="http://schemas.openxmlformats.org/officeDocument/2006/relationships/image" Target="../media/image57.png"/><Relationship Id="rId20" Type="http://schemas.openxmlformats.org/officeDocument/2006/relationships/image" Target="../media/image64.png"/><Relationship Id="rId21" Type="http://schemas.openxmlformats.org/officeDocument/2006/relationships/image" Target="../media/image19.png"/><Relationship Id="rId22" Type="http://schemas.openxmlformats.org/officeDocument/2006/relationships/image" Target="../media/image20.png"/><Relationship Id="rId23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6.png"/><Relationship Id="rId6" Type="http://schemas.openxmlformats.org/officeDocument/2006/relationships/image" Target="../media/image68.png"/><Relationship Id="rId7" Type="http://schemas.openxmlformats.org/officeDocument/2006/relationships/image" Target="../media/image66.png"/><Relationship Id="rId8" Type="http://schemas.openxmlformats.org/officeDocument/2006/relationships/image" Target="../media/image69.png"/><Relationship Id="rId9" Type="http://schemas.openxmlformats.org/officeDocument/2006/relationships/image" Target="../media/image66.png"/><Relationship Id="rId10" Type="http://schemas.openxmlformats.org/officeDocument/2006/relationships/image" Target="../media/image70.png"/><Relationship Id="rId11" Type="http://schemas.openxmlformats.org/officeDocument/2006/relationships/image" Target="../media/image66.png"/><Relationship Id="rId12" Type="http://schemas.openxmlformats.org/officeDocument/2006/relationships/image" Target="../media/image71.png"/><Relationship Id="rId13" Type="http://schemas.openxmlformats.org/officeDocument/2006/relationships/image" Target="../media/image19.png"/><Relationship Id="rId14" Type="http://schemas.openxmlformats.org/officeDocument/2006/relationships/image" Target="../media/image20.png"/><Relationship Id="rId15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72.png"/><Relationship Id="rId3" Type="http://schemas.openxmlformats.org/officeDocument/2006/relationships/image" Target="../media/image65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Relationship Id="rId9" Type="http://schemas.openxmlformats.org/officeDocument/2006/relationships/image" Target="../media/image76.png"/><Relationship Id="rId10" Type="http://schemas.openxmlformats.org/officeDocument/2006/relationships/image" Target="../media/image77.png"/><Relationship Id="rId11" Type="http://schemas.openxmlformats.org/officeDocument/2006/relationships/image" Target="../media/image78.png"/><Relationship Id="rId12" Type="http://schemas.openxmlformats.org/officeDocument/2006/relationships/image" Target="../media/image79.png"/><Relationship Id="rId13" Type="http://schemas.openxmlformats.org/officeDocument/2006/relationships/image" Target="../media/image80.png"/><Relationship Id="rId14" Type="http://schemas.openxmlformats.org/officeDocument/2006/relationships/image" Target="../media/image81.png"/><Relationship Id="rId15" Type="http://schemas.openxmlformats.org/officeDocument/2006/relationships/image" Target="../media/image82.png"/><Relationship Id="rId16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83.png"/><Relationship Id="rId2" Type="http://schemas.openxmlformats.org/officeDocument/2006/relationships/image" Target="../media/image84.png"/><Relationship Id="rId3" Type="http://schemas.openxmlformats.org/officeDocument/2006/relationships/image" Target="../media/image85.png"/><Relationship Id="rId4" Type="http://schemas.openxmlformats.org/officeDocument/2006/relationships/image" Target="../media/image86.png"/><Relationship Id="rId5" Type="http://schemas.openxmlformats.org/officeDocument/2006/relationships/image" Target="../media/image87.png"/><Relationship Id="rId6" Type="http://schemas.openxmlformats.org/officeDocument/2006/relationships/image" Target="../media/image86.png"/><Relationship Id="rId7" Type="http://schemas.openxmlformats.org/officeDocument/2006/relationships/image" Target="../media/image88.png"/><Relationship Id="rId8" Type="http://schemas.openxmlformats.org/officeDocument/2006/relationships/image" Target="../media/image86.png"/><Relationship Id="rId9" Type="http://schemas.openxmlformats.org/officeDocument/2006/relationships/image" Target="../media/image89.png"/><Relationship Id="rId10" Type="http://schemas.openxmlformats.org/officeDocument/2006/relationships/image" Target="../media/image90.png"/><Relationship Id="rId11" Type="http://schemas.openxmlformats.org/officeDocument/2006/relationships/image" Target="../media/image91.png"/><Relationship Id="rId12" Type="http://schemas.openxmlformats.org/officeDocument/2006/relationships/image" Target="../media/image92.png"/><Relationship Id="rId13" Type="http://schemas.openxmlformats.org/officeDocument/2006/relationships/image" Target="../media/image93.png"/><Relationship Id="rId14" Type="http://schemas.openxmlformats.org/officeDocument/2006/relationships/image" Target="../media/image94.png"/><Relationship Id="rId15" Type="http://schemas.openxmlformats.org/officeDocument/2006/relationships/image" Target="../media/image95.png"/><Relationship Id="rId16" Type="http://schemas.openxmlformats.org/officeDocument/2006/relationships/image" Target="../media/image96.png"/><Relationship Id="rId17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97.png"/><Relationship Id="rId2" Type="http://schemas.openxmlformats.org/officeDocument/2006/relationships/image" Target="../media/image98.png"/><Relationship Id="rId3" Type="http://schemas.openxmlformats.org/officeDocument/2006/relationships/image" Target="../media/image99.png"/><Relationship Id="rId4" Type="http://schemas.openxmlformats.org/officeDocument/2006/relationships/image" Target="../media/image100.png"/><Relationship Id="rId5" Type="http://schemas.openxmlformats.org/officeDocument/2006/relationships/image" Target="../media/image100.png"/><Relationship Id="rId6" Type="http://schemas.openxmlformats.org/officeDocument/2006/relationships/image" Target="../media/image100.png"/><Relationship Id="rId7" Type="http://schemas.openxmlformats.org/officeDocument/2006/relationships/image" Target="../media/image101.png"/><Relationship Id="rId8" Type="http://schemas.openxmlformats.org/officeDocument/2006/relationships/image" Target="../media/image102.png"/><Relationship Id="rId9" Type="http://schemas.openxmlformats.org/officeDocument/2006/relationships/image" Target="../media/image103.png"/><Relationship Id="rId10" Type="http://schemas.openxmlformats.org/officeDocument/2006/relationships/image" Target="../media/image104.png"/><Relationship Id="rId11" Type="http://schemas.openxmlformats.org/officeDocument/2006/relationships/image" Target="../media/image105.png"/><Relationship Id="rId12" Type="http://schemas.openxmlformats.org/officeDocument/2006/relationships/image" Target="../media/image106.png"/><Relationship Id="rId13" Type="http://schemas.openxmlformats.org/officeDocument/2006/relationships/image" Target="../media/image107.png"/><Relationship Id="rId14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65.png"/><Relationship Id="rId3" Type="http://schemas.openxmlformats.org/officeDocument/2006/relationships/image" Target="../media/image108.png"/><Relationship Id="rId4" Type="http://schemas.openxmlformats.org/officeDocument/2006/relationships/image" Target="../media/image109.png"/><Relationship Id="rId5" Type="http://schemas.openxmlformats.org/officeDocument/2006/relationships/image" Target="../media/image110.png"/><Relationship Id="rId6" Type="http://schemas.openxmlformats.org/officeDocument/2006/relationships/image" Target="../media/image55.png"/><Relationship Id="rId7" Type="http://schemas.openxmlformats.org/officeDocument/2006/relationships/image" Target="../media/image111.png"/><Relationship Id="rId8" Type="http://schemas.openxmlformats.org/officeDocument/2006/relationships/image" Target="../media/image112.png"/><Relationship Id="rId9" Type="http://schemas.openxmlformats.org/officeDocument/2006/relationships/image" Target="../media/image113.png"/><Relationship Id="rId10" Type="http://schemas.openxmlformats.org/officeDocument/2006/relationships/image" Target="../media/image114.png"/><Relationship Id="rId11" Type="http://schemas.openxmlformats.org/officeDocument/2006/relationships/image" Target="../media/image115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451160" cy="628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0451160" cy="628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" descr=""/>
          <p:cNvPicPr/>
          <p:nvPr/>
        </p:nvPicPr>
        <p:blipFill>
          <a:blip r:embed="rId3"/>
          <a:stretch/>
        </p:blipFill>
        <p:spPr>
          <a:xfrm>
            <a:off x="0" y="0"/>
            <a:ext cx="10451160" cy="628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" descr=""/>
          <p:cNvPicPr/>
          <p:nvPr/>
        </p:nvPicPr>
        <p:blipFill>
          <a:blip r:embed="rId4"/>
          <a:stretch/>
        </p:blipFill>
        <p:spPr>
          <a:xfrm>
            <a:off x="0" y="0"/>
            <a:ext cx="3709080" cy="3300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" name="" descr=""/>
          <p:cNvPicPr/>
          <p:nvPr/>
        </p:nvPicPr>
        <p:blipFill>
          <a:blip r:embed="rId5"/>
          <a:stretch/>
        </p:blipFill>
        <p:spPr>
          <a:xfrm>
            <a:off x="7101720" y="3099960"/>
            <a:ext cx="3602520" cy="360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"/>
          <p:cNvSpPr txBox="1"/>
          <p:nvPr/>
        </p:nvSpPr>
        <p:spPr>
          <a:xfrm>
            <a:off x="1114560" y="2404440"/>
            <a:ext cx="7833960" cy="567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30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高精度放置手荷物検知システムの開発と評価</a:t>
            </a:r>
            <a:endParaRPr b="0" lang="en-US" sz="3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" name="" descr=""/>
          <p:cNvPicPr/>
          <p:nvPr/>
        </p:nvPicPr>
        <p:blipFill>
          <a:blip r:embed="rId6"/>
          <a:stretch/>
        </p:blipFill>
        <p:spPr>
          <a:xfrm>
            <a:off x="3682440" y="3609000"/>
            <a:ext cx="309960" cy="24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"/>
          <p:cNvSpPr txBox="1"/>
          <p:nvPr/>
        </p:nvSpPr>
        <p:spPr>
          <a:xfrm>
            <a:off x="2862000" y="3016440"/>
            <a:ext cx="472968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8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人物再識別技術と行動意図推定による誤報削減と盗難検知の実現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8" name="" descr=""/>
          <p:cNvPicPr/>
          <p:nvPr/>
        </p:nvPicPr>
        <p:blipFill>
          <a:blip r:embed="rId7"/>
          <a:stretch/>
        </p:blipFill>
        <p:spPr>
          <a:xfrm>
            <a:off x="5095080" y="3609000"/>
            <a:ext cx="309960" cy="24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"/>
          <p:cNvSpPr txBox="1"/>
          <p:nvPr/>
        </p:nvSpPr>
        <p:spPr>
          <a:xfrm>
            <a:off x="3551760" y="3976560"/>
            <a:ext cx="57240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0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人物再識別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" name="" descr=""/>
          <p:cNvPicPr/>
          <p:nvPr/>
        </p:nvPicPr>
        <p:blipFill>
          <a:blip r:embed="rId8"/>
          <a:stretch/>
        </p:blipFill>
        <p:spPr>
          <a:xfrm>
            <a:off x="6319800" y="3609000"/>
            <a:ext cx="244440" cy="24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"/>
          <p:cNvSpPr txBox="1"/>
          <p:nvPr/>
        </p:nvSpPr>
        <p:spPr>
          <a:xfrm>
            <a:off x="4907520" y="3976560"/>
            <a:ext cx="68652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0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物体状態追跡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2" name="" descr=""/>
          <p:cNvPicPr/>
          <p:nvPr/>
        </p:nvPicPr>
        <p:blipFill>
          <a:blip r:embed="rId9"/>
          <a:stretch/>
        </p:blipFill>
        <p:spPr>
          <a:xfrm>
            <a:off x="4980960" y="1649520"/>
            <a:ext cx="489600" cy="48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" name="" descr=""/>
          <p:cNvPicPr/>
          <p:nvPr/>
        </p:nvPicPr>
        <p:blipFill>
          <a:blip r:embed="rId10"/>
          <a:stretch/>
        </p:blipFill>
        <p:spPr>
          <a:xfrm>
            <a:off x="4915440" y="1649520"/>
            <a:ext cx="309960" cy="24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"/>
          <p:cNvSpPr txBox="1"/>
          <p:nvPr/>
        </p:nvSpPr>
        <p:spPr>
          <a:xfrm>
            <a:off x="5985360" y="3976560"/>
            <a:ext cx="91512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0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高度警告ロジック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9324720" y="5821920"/>
            <a:ext cx="99936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00" strike="noStrike" u="none">
                <a:solidFill>
                  <a:srgbClr val="9ca3af"/>
                </a:solidFill>
                <a:effectLst/>
                <a:uFillTx/>
                <a:latin typeface="NotoSansJP"/>
                <a:ea typeface="NotoSansJP"/>
              </a:rPr>
              <a:t>2025</a:t>
            </a:r>
            <a:r>
              <a:rPr b="0" lang="zh-CN" sz="900" strike="noStrike" u="none">
                <a:solidFill>
                  <a:srgbClr val="9ca3af"/>
                </a:solidFill>
                <a:effectLst/>
                <a:uFillTx/>
                <a:latin typeface="NotoSansJP"/>
                <a:ea typeface="NotoSansJP"/>
              </a:rPr>
              <a:t>年</a:t>
            </a:r>
            <a:r>
              <a:rPr b="0" lang="en-US" sz="900" strike="noStrike" u="none">
                <a:solidFill>
                  <a:srgbClr val="9ca3af"/>
                </a:solidFill>
                <a:effectLst/>
                <a:uFillTx/>
                <a:latin typeface="NotoSansJP"/>
                <a:ea typeface="NotoSansJP"/>
              </a:rPr>
              <a:t>6</a:t>
            </a:r>
            <a:r>
              <a:rPr b="0" lang="zh-CN" sz="900" strike="noStrike" u="none">
                <a:solidFill>
                  <a:srgbClr val="9ca3af"/>
                </a:solidFill>
                <a:effectLst/>
                <a:uFillTx/>
                <a:latin typeface="NotoSansJP"/>
                <a:ea typeface="NotoSansJP"/>
              </a:rPr>
              <a:t>月</a:t>
            </a:r>
            <a:r>
              <a:rPr b="0" lang="en-US" sz="900" strike="noStrike" u="none">
                <a:solidFill>
                  <a:srgbClr val="9ca3af"/>
                </a:solidFill>
                <a:effectLst/>
                <a:uFillTx/>
                <a:latin typeface="NotoSansJP"/>
                <a:ea typeface="NotoSansJP"/>
              </a:rPr>
              <a:t>30</a:t>
            </a:r>
            <a:r>
              <a:rPr b="0" lang="zh-CN" sz="900" strike="noStrike" u="none">
                <a:solidFill>
                  <a:srgbClr val="9ca3af"/>
                </a:solidFill>
                <a:effectLst/>
                <a:uFillTx/>
                <a:latin typeface="NotoSansJP"/>
                <a:ea typeface="NotoSansJP"/>
              </a:rPr>
              <a:t>日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"/>
          <p:cNvSpPr/>
          <p:nvPr/>
        </p:nvSpPr>
        <p:spPr>
          <a:xfrm>
            <a:off x="534600" y="802080"/>
            <a:ext cx="668880" cy="33840"/>
          </a:xfrm>
          <a:custGeom>
            <a:avLst/>
            <a:gdLst/>
            <a:ahLst/>
            <a:rect l="0" t="0" r="r" b="b"/>
            <a:pathLst>
              <a:path w="1858" h="94">
                <a:moveTo>
                  <a:pt x="0" y="0"/>
                </a:moveTo>
                <a:lnTo>
                  <a:pt x="1858" y="0"/>
                </a:lnTo>
                <a:lnTo>
                  <a:pt x="1858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60a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551520" y="1036080"/>
            <a:ext cx="5866560" cy="1638360"/>
          </a:xfrm>
          <a:custGeom>
            <a:avLst/>
            <a:gdLst/>
            <a:ahLst/>
            <a:rect l="0" t="0" r="r" b="b"/>
            <a:pathLst>
              <a:path w="16296" h="4551">
                <a:moveTo>
                  <a:pt x="0" y="4551"/>
                </a:moveTo>
                <a:lnTo>
                  <a:pt x="0" y="0"/>
                </a:lnTo>
                <a:lnTo>
                  <a:pt x="16203" y="0"/>
                </a:lnTo>
                <a:cubicBezTo>
                  <a:pt x="16216" y="0"/>
                  <a:pt x="16227" y="2"/>
                  <a:pt x="16239" y="7"/>
                </a:cubicBezTo>
                <a:cubicBezTo>
                  <a:pt x="16250" y="12"/>
                  <a:pt x="16260" y="18"/>
                  <a:pt x="16269" y="27"/>
                </a:cubicBezTo>
                <a:cubicBezTo>
                  <a:pt x="16278" y="36"/>
                  <a:pt x="16284" y="46"/>
                  <a:pt x="16289" y="57"/>
                </a:cubicBezTo>
                <a:cubicBezTo>
                  <a:pt x="16294" y="69"/>
                  <a:pt x="16296" y="80"/>
                  <a:pt x="16296" y="93"/>
                </a:cubicBezTo>
                <a:lnTo>
                  <a:pt x="16296" y="4458"/>
                </a:lnTo>
                <a:cubicBezTo>
                  <a:pt x="16296" y="4470"/>
                  <a:pt x="16294" y="4482"/>
                  <a:pt x="16289" y="4493"/>
                </a:cubicBezTo>
                <a:cubicBezTo>
                  <a:pt x="16284" y="4505"/>
                  <a:pt x="16278" y="4515"/>
                  <a:pt x="16269" y="4523"/>
                </a:cubicBezTo>
                <a:cubicBezTo>
                  <a:pt x="16260" y="4532"/>
                  <a:pt x="16250" y="4539"/>
                  <a:pt x="16239" y="4544"/>
                </a:cubicBezTo>
                <a:cubicBezTo>
                  <a:pt x="16227" y="4548"/>
                  <a:pt x="16216" y="4551"/>
                  <a:pt x="16203" y="4551"/>
                </a:cubicBezTo>
                <a:lnTo>
                  <a:pt x="0" y="4551"/>
                </a:lnTo>
                <a:close/>
              </a:path>
            </a:pathLst>
          </a:custGeom>
          <a:solidFill>
            <a:srgbClr val="1a2a57">
              <a:alpha val="7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534600" y="1036080"/>
            <a:ext cx="33840" cy="1638360"/>
          </a:xfrm>
          <a:custGeom>
            <a:avLst/>
            <a:gdLst/>
            <a:ahLst/>
            <a:rect l="0" t="0" r="r" b="b"/>
            <a:pathLst>
              <a:path w="94" h="4551">
                <a:moveTo>
                  <a:pt x="0" y="0"/>
                </a:moveTo>
                <a:lnTo>
                  <a:pt x="94" y="0"/>
                </a:lnTo>
                <a:lnTo>
                  <a:pt x="94" y="4551"/>
                </a:lnTo>
                <a:lnTo>
                  <a:pt x="0" y="4551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551520" y="2874600"/>
            <a:ext cx="5866560" cy="2005920"/>
          </a:xfrm>
          <a:custGeom>
            <a:avLst/>
            <a:gdLst/>
            <a:ahLst/>
            <a:rect l="0" t="0" r="r" b="b"/>
            <a:pathLst>
              <a:path w="16296" h="5572">
                <a:moveTo>
                  <a:pt x="0" y="5572"/>
                </a:moveTo>
                <a:lnTo>
                  <a:pt x="0" y="0"/>
                </a:lnTo>
                <a:lnTo>
                  <a:pt x="16203" y="0"/>
                </a:lnTo>
                <a:cubicBezTo>
                  <a:pt x="16216" y="0"/>
                  <a:pt x="16227" y="2"/>
                  <a:pt x="16239" y="7"/>
                </a:cubicBezTo>
                <a:cubicBezTo>
                  <a:pt x="16250" y="12"/>
                  <a:pt x="16260" y="18"/>
                  <a:pt x="16269" y="27"/>
                </a:cubicBezTo>
                <a:cubicBezTo>
                  <a:pt x="16278" y="36"/>
                  <a:pt x="16284" y="46"/>
                  <a:pt x="16289" y="57"/>
                </a:cubicBezTo>
                <a:cubicBezTo>
                  <a:pt x="16294" y="68"/>
                  <a:pt x="16296" y="80"/>
                  <a:pt x="16296" y="93"/>
                </a:cubicBezTo>
                <a:lnTo>
                  <a:pt x="16296" y="5479"/>
                </a:lnTo>
                <a:cubicBezTo>
                  <a:pt x="16296" y="5491"/>
                  <a:pt x="16294" y="5503"/>
                  <a:pt x="16289" y="5515"/>
                </a:cubicBezTo>
                <a:cubicBezTo>
                  <a:pt x="16284" y="5526"/>
                  <a:pt x="16278" y="5536"/>
                  <a:pt x="16269" y="5545"/>
                </a:cubicBezTo>
                <a:cubicBezTo>
                  <a:pt x="16260" y="5553"/>
                  <a:pt x="16250" y="5560"/>
                  <a:pt x="16239" y="5565"/>
                </a:cubicBezTo>
                <a:cubicBezTo>
                  <a:pt x="16227" y="5570"/>
                  <a:pt x="16216" y="5572"/>
                  <a:pt x="16203" y="5572"/>
                </a:cubicBezTo>
                <a:lnTo>
                  <a:pt x="0" y="5572"/>
                </a:lnTo>
                <a:close/>
              </a:path>
            </a:pathLst>
          </a:custGeom>
          <a:solidFill>
            <a:srgbClr val="1a2a57">
              <a:alpha val="7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534600" y="2874600"/>
            <a:ext cx="33840" cy="2005920"/>
          </a:xfrm>
          <a:custGeom>
            <a:avLst/>
            <a:gdLst/>
            <a:ahLst/>
            <a:rect l="0" t="0" r="r" b="b"/>
            <a:pathLst>
              <a:path w="94" h="5572">
                <a:moveTo>
                  <a:pt x="0" y="0"/>
                </a:moveTo>
                <a:lnTo>
                  <a:pt x="94" y="0"/>
                </a:lnTo>
                <a:lnTo>
                  <a:pt x="94" y="5572"/>
                </a:lnTo>
                <a:lnTo>
                  <a:pt x="0" y="5572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534960" y="422640"/>
            <a:ext cx="1201680" cy="43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37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研究背景</a:t>
            </a:r>
            <a:endParaRPr b="0" lang="en-US" sz="2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" name="" descr=""/>
          <p:cNvPicPr/>
          <p:nvPr/>
        </p:nvPicPr>
        <p:blipFill>
          <a:blip r:embed="rId2"/>
          <a:stretch/>
        </p:blipFill>
        <p:spPr>
          <a:xfrm>
            <a:off x="768960" y="167148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"/>
          <p:cNvSpPr txBox="1"/>
          <p:nvPr/>
        </p:nvSpPr>
        <p:spPr>
          <a:xfrm>
            <a:off x="768960" y="1267920"/>
            <a:ext cx="3219480" cy="29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580" strike="noStrike" u="none">
                <a:solidFill>
                  <a:srgbClr val="93c5fd"/>
                </a:solidFill>
                <a:effectLst/>
                <a:uFillTx/>
                <a:latin typeface="NotoSansJP"/>
                <a:ea typeface="NotoSansJP"/>
              </a:rPr>
              <a:t>公共空間における放置手荷物の脅威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1036080" y="1666800"/>
            <a:ext cx="519768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空港、駅、商業施設といった公共空間での放置手荷物は</a:t>
            </a:r>
            <a:r>
              <a:rPr b="0" lang="zh-CN" sz="1320" strike="noStrike" u="none">
                <a:solidFill>
                  <a:srgbClr val="fcd34d"/>
                </a:solidFill>
                <a:effectLst/>
                <a:uFillTx/>
                <a:latin typeface="NotoSansJP"/>
                <a:ea typeface="NotoSansJP"/>
              </a:rPr>
              <a:t>テロ対策や安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6" name="" descr=""/>
          <p:cNvPicPr/>
          <p:nvPr/>
        </p:nvPicPr>
        <p:blipFill>
          <a:blip r:embed="rId3"/>
          <a:stretch/>
        </p:blipFill>
        <p:spPr>
          <a:xfrm>
            <a:off x="768960" y="227304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"/>
          <p:cNvSpPr txBox="1"/>
          <p:nvPr/>
        </p:nvSpPr>
        <p:spPr>
          <a:xfrm>
            <a:off x="1036080" y="1900800"/>
            <a:ext cx="218016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fcd34d"/>
                </a:solidFill>
                <a:effectLst/>
                <a:uFillTx/>
                <a:latin typeface="NotoSansJP"/>
                <a:ea typeface="NotoSansJP"/>
              </a:rPr>
              <a:t>全確保</a:t>
            </a:r>
            <a:r>
              <a:rPr b="0" lang="zh-CN" sz="132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の観点から深刻な脅威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1036080" y="2268360"/>
            <a:ext cx="435924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迅速かつ正確な検知が求められる重要なセキュリティ課題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9" name="" descr=""/>
          <p:cNvPicPr/>
          <p:nvPr/>
        </p:nvPicPr>
        <p:blipFill>
          <a:blip r:embed="rId4"/>
          <a:stretch/>
        </p:blipFill>
        <p:spPr>
          <a:xfrm>
            <a:off x="768960" y="350964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"/>
          <p:cNvSpPr txBox="1"/>
          <p:nvPr/>
        </p:nvSpPr>
        <p:spPr>
          <a:xfrm>
            <a:off x="768960" y="3106440"/>
            <a:ext cx="2414880" cy="29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580" strike="noStrike" u="none">
                <a:solidFill>
                  <a:srgbClr val="93c5fd"/>
                </a:solidFill>
                <a:effectLst/>
                <a:uFillTx/>
                <a:latin typeface="NotoSansJP"/>
                <a:ea typeface="NotoSansJP"/>
              </a:rPr>
              <a:t>従来の監視システムの課題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1" name="" descr=""/>
          <p:cNvPicPr/>
          <p:nvPr/>
        </p:nvPicPr>
        <p:blipFill>
          <a:blip r:embed="rId5"/>
          <a:stretch/>
        </p:blipFill>
        <p:spPr>
          <a:xfrm>
            <a:off x="768960" y="3877560"/>
            <a:ext cx="20844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"/>
          <p:cNvSpPr txBox="1"/>
          <p:nvPr/>
        </p:nvSpPr>
        <p:spPr>
          <a:xfrm>
            <a:off x="1036080" y="3504960"/>
            <a:ext cx="419184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単純な動体検知や静止物体検知に依存したシステム設計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1077840" y="3872880"/>
            <a:ext cx="502992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人が荷物のそばで一時的に立ち止まっただけで警報を発する</a:t>
            </a:r>
            <a:r>
              <a:rPr b="0" lang="zh-CN" sz="1320" strike="noStrike" u="none">
                <a:solidFill>
                  <a:srgbClr val="fca5a5"/>
                </a:solidFill>
                <a:effectLst/>
                <a:uFillTx/>
                <a:latin typeface="NotoSansJP"/>
                <a:ea typeface="NotoSansJP"/>
              </a:rPr>
              <a:t>誤報が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4" name="" descr=""/>
          <p:cNvPicPr/>
          <p:nvPr/>
        </p:nvPicPr>
        <p:blipFill>
          <a:blip r:embed="rId6"/>
          <a:stretch/>
        </p:blipFill>
        <p:spPr>
          <a:xfrm>
            <a:off x="768960" y="4479120"/>
            <a:ext cx="20844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"/>
          <p:cNvSpPr txBox="1"/>
          <p:nvPr/>
        </p:nvSpPr>
        <p:spPr>
          <a:xfrm>
            <a:off x="1077840" y="4106880"/>
            <a:ext cx="33588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fca5a5"/>
                </a:solidFill>
                <a:effectLst/>
                <a:uFillTx/>
                <a:latin typeface="NotoSansJP"/>
                <a:ea typeface="NotoSansJP"/>
              </a:rPr>
              <a:t>多い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8440200" y="1688040"/>
            <a:ext cx="501480" cy="501480"/>
          </a:xfrm>
          <a:custGeom>
            <a:avLst/>
            <a:gdLst/>
            <a:ahLst/>
            <a:rect l="0" t="0" r="r" b="b"/>
            <a:pathLst>
              <a:path w="1393" h="1393">
                <a:moveTo>
                  <a:pt x="1393" y="697"/>
                </a:moveTo>
                <a:cubicBezTo>
                  <a:pt x="1393" y="720"/>
                  <a:pt x="1392" y="742"/>
                  <a:pt x="1390" y="765"/>
                </a:cubicBezTo>
                <a:cubicBezTo>
                  <a:pt x="1388" y="788"/>
                  <a:pt x="1385" y="810"/>
                  <a:pt x="1380" y="833"/>
                </a:cubicBezTo>
                <a:cubicBezTo>
                  <a:pt x="1376" y="855"/>
                  <a:pt x="1370" y="877"/>
                  <a:pt x="1363" y="899"/>
                </a:cubicBezTo>
                <a:cubicBezTo>
                  <a:pt x="1357" y="921"/>
                  <a:pt x="1349" y="942"/>
                  <a:pt x="1340" y="963"/>
                </a:cubicBezTo>
                <a:cubicBezTo>
                  <a:pt x="1332" y="984"/>
                  <a:pt x="1322" y="1005"/>
                  <a:pt x="1311" y="1025"/>
                </a:cubicBezTo>
                <a:cubicBezTo>
                  <a:pt x="1300" y="1045"/>
                  <a:pt x="1289" y="1065"/>
                  <a:pt x="1276" y="1084"/>
                </a:cubicBezTo>
                <a:cubicBezTo>
                  <a:pt x="1263" y="1103"/>
                  <a:pt x="1250" y="1121"/>
                  <a:pt x="1235" y="1139"/>
                </a:cubicBezTo>
                <a:cubicBezTo>
                  <a:pt x="1221" y="1156"/>
                  <a:pt x="1206" y="1173"/>
                  <a:pt x="1189" y="1189"/>
                </a:cubicBezTo>
                <a:cubicBezTo>
                  <a:pt x="1173" y="1205"/>
                  <a:pt x="1156" y="1221"/>
                  <a:pt x="1139" y="1235"/>
                </a:cubicBezTo>
                <a:cubicBezTo>
                  <a:pt x="1121" y="1250"/>
                  <a:pt x="1103" y="1263"/>
                  <a:pt x="1084" y="1276"/>
                </a:cubicBezTo>
                <a:cubicBezTo>
                  <a:pt x="1065" y="1289"/>
                  <a:pt x="1045" y="1300"/>
                  <a:pt x="1025" y="1311"/>
                </a:cubicBezTo>
                <a:cubicBezTo>
                  <a:pt x="1005" y="1322"/>
                  <a:pt x="985" y="1332"/>
                  <a:pt x="964" y="1340"/>
                </a:cubicBezTo>
                <a:cubicBezTo>
                  <a:pt x="943" y="1349"/>
                  <a:pt x="921" y="1357"/>
                  <a:pt x="898" y="1363"/>
                </a:cubicBezTo>
                <a:cubicBezTo>
                  <a:pt x="876" y="1370"/>
                  <a:pt x="854" y="1375"/>
                  <a:pt x="832" y="1380"/>
                </a:cubicBezTo>
                <a:cubicBezTo>
                  <a:pt x="810" y="1384"/>
                  <a:pt x="787" y="1388"/>
                  <a:pt x="764" y="1390"/>
                </a:cubicBezTo>
                <a:cubicBezTo>
                  <a:pt x="742" y="1392"/>
                  <a:pt x="719" y="1393"/>
                  <a:pt x="696" y="1393"/>
                </a:cubicBezTo>
                <a:cubicBezTo>
                  <a:pt x="673" y="1393"/>
                  <a:pt x="651" y="1392"/>
                  <a:pt x="628" y="1390"/>
                </a:cubicBezTo>
                <a:cubicBezTo>
                  <a:pt x="605" y="1388"/>
                  <a:pt x="583" y="1384"/>
                  <a:pt x="560" y="1380"/>
                </a:cubicBezTo>
                <a:cubicBezTo>
                  <a:pt x="538" y="1375"/>
                  <a:pt x="516" y="1370"/>
                  <a:pt x="494" y="1363"/>
                </a:cubicBezTo>
                <a:cubicBezTo>
                  <a:pt x="472" y="1357"/>
                  <a:pt x="451" y="1349"/>
                  <a:pt x="430" y="1340"/>
                </a:cubicBezTo>
                <a:cubicBezTo>
                  <a:pt x="409" y="1332"/>
                  <a:pt x="388" y="1322"/>
                  <a:pt x="368" y="1311"/>
                </a:cubicBezTo>
                <a:cubicBezTo>
                  <a:pt x="348" y="1300"/>
                  <a:pt x="328" y="1289"/>
                  <a:pt x="309" y="1276"/>
                </a:cubicBezTo>
                <a:cubicBezTo>
                  <a:pt x="290" y="1263"/>
                  <a:pt x="272" y="1250"/>
                  <a:pt x="254" y="1235"/>
                </a:cubicBezTo>
                <a:cubicBezTo>
                  <a:pt x="237" y="1221"/>
                  <a:pt x="220" y="1205"/>
                  <a:pt x="204" y="1189"/>
                </a:cubicBezTo>
                <a:cubicBezTo>
                  <a:pt x="188" y="1173"/>
                  <a:pt x="172" y="1156"/>
                  <a:pt x="158" y="1139"/>
                </a:cubicBezTo>
                <a:cubicBezTo>
                  <a:pt x="143" y="1121"/>
                  <a:pt x="130" y="1103"/>
                  <a:pt x="117" y="1084"/>
                </a:cubicBezTo>
                <a:cubicBezTo>
                  <a:pt x="104" y="1065"/>
                  <a:pt x="93" y="1045"/>
                  <a:pt x="82" y="1025"/>
                </a:cubicBezTo>
                <a:cubicBezTo>
                  <a:pt x="71" y="1005"/>
                  <a:pt x="61" y="984"/>
                  <a:pt x="53" y="963"/>
                </a:cubicBezTo>
                <a:cubicBezTo>
                  <a:pt x="44" y="942"/>
                  <a:pt x="36" y="921"/>
                  <a:pt x="30" y="899"/>
                </a:cubicBezTo>
                <a:cubicBezTo>
                  <a:pt x="23" y="877"/>
                  <a:pt x="18" y="855"/>
                  <a:pt x="13" y="833"/>
                </a:cubicBezTo>
                <a:cubicBezTo>
                  <a:pt x="9" y="810"/>
                  <a:pt x="5" y="788"/>
                  <a:pt x="3" y="765"/>
                </a:cubicBezTo>
                <a:cubicBezTo>
                  <a:pt x="1" y="742"/>
                  <a:pt x="0" y="720"/>
                  <a:pt x="0" y="697"/>
                </a:cubicBezTo>
                <a:cubicBezTo>
                  <a:pt x="0" y="674"/>
                  <a:pt x="1" y="651"/>
                  <a:pt x="3" y="629"/>
                </a:cubicBezTo>
                <a:cubicBezTo>
                  <a:pt x="5" y="606"/>
                  <a:pt x="9" y="583"/>
                  <a:pt x="13" y="561"/>
                </a:cubicBezTo>
                <a:cubicBezTo>
                  <a:pt x="18" y="539"/>
                  <a:pt x="23" y="517"/>
                  <a:pt x="30" y="495"/>
                </a:cubicBezTo>
                <a:cubicBezTo>
                  <a:pt x="36" y="473"/>
                  <a:pt x="44" y="452"/>
                  <a:pt x="53" y="430"/>
                </a:cubicBezTo>
                <a:cubicBezTo>
                  <a:pt x="61" y="409"/>
                  <a:pt x="71" y="389"/>
                  <a:pt x="82" y="369"/>
                </a:cubicBezTo>
                <a:cubicBezTo>
                  <a:pt x="93" y="349"/>
                  <a:pt x="104" y="329"/>
                  <a:pt x="117" y="310"/>
                </a:cubicBezTo>
                <a:cubicBezTo>
                  <a:pt x="130" y="291"/>
                  <a:pt x="143" y="273"/>
                  <a:pt x="158" y="255"/>
                </a:cubicBezTo>
                <a:cubicBezTo>
                  <a:pt x="172" y="238"/>
                  <a:pt x="188" y="221"/>
                  <a:pt x="204" y="205"/>
                </a:cubicBezTo>
                <a:cubicBezTo>
                  <a:pt x="220" y="188"/>
                  <a:pt x="237" y="172"/>
                  <a:pt x="254" y="158"/>
                </a:cubicBezTo>
                <a:cubicBezTo>
                  <a:pt x="272" y="143"/>
                  <a:pt x="290" y="130"/>
                  <a:pt x="309" y="117"/>
                </a:cubicBezTo>
                <a:cubicBezTo>
                  <a:pt x="328" y="104"/>
                  <a:pt x="348" y="93"/>
                  <a:pt x="368" y="82"/>
                </a:cubicBezTo>
                <a:cubicBezTo>
                  <a:pt x="388" y="71"/>
                  <a:pt x="409" y="61"/>
                  <a:pt x="430" y="53"/>
                </a:cubicBezTo>
                <a:cubicBezTo>
                  <a:pt x="451" y="44"/>
                  <a:pt x="472" y="36"/>
                  <a:pt x="494" y="30"/>
                </a:cubicBezTo>
                <a:cubicBezTo>
                  <a:pt x="516" y="23"/>
                  <a:pt x="538" y="17"/>
                  <a:pt x="560" y="13"/>
                </a:cubicBezTo>
                <a:cubicBezTo>
                  <a:pt x="583" y="8"/>
                  <a:pt x="605" y="5"/>
                  <a:pt x="628" y="3"/>
                </a:cubicBezTo>
                <a:cubicBezTo>
                  <a:pt x="651" y="1"/>
                  <a:pt x="673" y="0"/>
                  <a:pt x="696" y="0"/>
                </a:cubicBezTo>
                <a:cubicBezTo>
                  <a:pt x="719" y="0"/>
                  <a:pt x="742" y="1"/>
                  <a:pt x="764" y="3"/>
                </a:cubicBezTo>
                <a:cubicBezTo>
                  <a:pt x="787" y="5"/>
                  <a:pt x="810" y="8"/>
                  <a:pt x="832" y="13"/>
                </a:cubicBezTo>
                <a:cubicBezTo>
                  <a:pt x="854" y="17"/>
                  <a:pt x="876" y="23"/>
                  <a:pt x="898" y="30"/>
                </a:cubicBezTo>
                <a:cubicBezTo>
                  <a:pt x="921" y="36"/>
                  <a:pt x="942" y="44"/>
                  <a:pt x="964" y="53"/>
                </a:cubicBezTo>
                <a:cubicBezTo>
                  <a:pt x="985" y="61"/>
                  <a:pt x="1005" y="71"/>
                  <a:pt x="1025" y="82"/>
                </a:cubicBezTo>
                <a:cubicBezTo>
                  <a:pt x="1045" y="93"/>
                  <a:pt x="1065" y="104"/>
                  <a:pt x="1084" y="117"/>
                </a:cubicBezTo>
                <a:cubicBezTo>
                  <a:pt x="1103" y="130"/>
                  <a:pt x="1121" y="143"/>
                  <a:pt x="1139" y="158"/>
                </a:cubicBezTo>
                <a:cubicBezTo>
                  <a:pt x="1156" y="172"/>
                  <a:pt x="1173" y="188"/>
                  <a:pt x="1189" y="205"/>
                </a:cubicBezTo>
                <a:cubicBezTo>
                  <a:pt x="1206" y="221"/>
                  <a:pt x="1221" y="238"/>
                  <a:pt x="1235" y="255"/>
                </a:cubicBezTo>
                <a:cubicBezTo>
                  <a:pt x="1250" y="273"/>
                  <a:pt x="1263" y="291"/>
                  <a:pt x="1276" y="310"/>
                </a:cubicBezTo>
                <a:cubicBezTo>
                  <a:pt x="1289" y="329"/>
                  <a:pt x="1300" y="349"/>
                  <a:pt x="1311" y="369"/>
                </a:cubicBezTo>
                <a:cubicBezTo>
                  <a:pt x="1322" y="389"/>
                  <a:pt x="1332" y="409"/>
                  <a:pt x="1340" y="430"/>
                </a:cubicBezTo>
                <a:cubicBezTo>
                  <a:pt x="1349" y="452"/>
                  <a:pt x="1357" y="473"/>
                  <a:pt x="1363" y="495"/>
                </a:cubicBezTo>
                <a:cubicBezTo>
                  <a:pt x="1370" y="517"/>
                  <a:pt x="1376" y="539"/>
                  <a:pt x="1380" y="561"/>
                </a:cubicBezTo>
                <a:cubicBezTo>
                  <a:pt x="1385" y="583"/>
                  <a:pt x="1388" y="606"/>
                  <a:pt x="1390" y="629"/>
                </a:cubicBezTo>
                <a:cubicBezTo>
                  <a:pt x="1392" y="651"/>
                  <a:pt x="1393" y="674"/>
                  <a:pt x="1393" y="697"/>
                </a:cubicBezTo>
                <a:close/>
              </a:path>
            </a:pathLst>
          </a:custGeom>
          <a:solidFill>
            <a:srgbClr val="4a90e2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7" name="" descr=""/>
          <p:cNvPicPr/>
          <p:nvPr/>
        </p:nvPicPr>
        <p:blipFill>
          <a:blip r:embed="rId7"/>
          <a:stretch/>
        </p:blipFill>
        <p:spPr>
          <a:xfrm>
            <a:off x="8507160" y="1788480"/>
            <a:ext cx="37584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"/>
          <p:cNvSpPr txBox="1"/>
          <p:nvPr/>
        </p:nvSpPr>
        <p:spPr>
          <a:xfrm>
            <a:off x="1077840" y="4474440"/>
            <a:ext cx="435924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監視員の負担増大と本当に危険な事象への対応遅延リスク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8273160" y="2351880"/>
            <a:ext cx="83880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放置手荷物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8440200" y="3158640"/>
            <a:ext cx="501480" cy="501840"/>
          </a:xfrm>
          <a:custGeom>
            <a:avLst/>
            <a:gdLst/>
            <a:ahLst/>
            <a:rect l="0" t="0" r="r" b="b"/>
            <a:pathLst>
              <a:path w="1393" h="1394">
                <a:moveTo>
                  <a:pt x="1393" y="697"/>
                </a:moveTo>
                <a:cubicBezTo>
                  <a:pt x="1393" y="720"/>
                  <a:pt x="1392" y="743"/>
                  <a:pt x="1390" y="766"/>
                </a:cubicBezTo>
                <a:cubicBezTo>
                  <a:pt x="1388" y="788"/>
                  <a:pt x="1385" y="811"/>
                  <a:pt x="1380" y="833"/>
                </a:cubicBezTo>
                <a:cubicBezTo>
                  <a:pt x="1376" y="856"/>
                  <a:pt x="1370" y="878"/>
                  <a:pt x="1363" y="900"/>
                </a:cubicBezTo>
                <a:cubicBezTo>
                  <a:pt x="1357" y="921"/>
                  <a:pt x="1349" y="943"/>
                  <a:pt x="1340" y="964"/>
                </a:cubicBezTo>
                <a:cubicBezTo>
                  <a:pt x="1332" y="985"/>
                  <a:pt x="1322" y="1006"/>
                  <a:pt x="1311" y="1026"/>
                </a:cubicBezTo>
                <a:cubicBezTo>
                  <a:pt x="1300" y="1046"/>
                  <a:pt x="1289" y="1065"/>
                  <a:pt x="1276" y="1084"/>
                </a:cubicBezTo>
                <a:cubicBezTo>
                  <a:pt x="1263" y="1103"/>
                  <a:pt x="1250" y="1122"/>
                  <a:pt x="1235" y="1139"/>
                </a:cubicBezTo>
                <a:cubicBezTo>
                  <a:pt x="1221" y="1157"/>
                  <a:pt x="1206" y="1174"/>
                  <a:pt x="1189" y="1190"/>
                </a:cubicBezTo>
                <a:cubicBezTo>
                  <a:pt x="1173" y="1206"/>
                  <a:pt x="1156" y="1221"/>
                  <a:pt x="1139" y="1236"/>
                </a:cubicBezTo>
                <a:cubicBezTo>
                  <a:pt x="1121" y="1250"/>
                  <a:pt x="1103" y="1264"/>
                  <a:pt x="1084" y="1276"/>
                </a:cubicBezTo>
                <a:cubicBezTo>
                  <a:pt x="1065" y="1289"/>
                  <a:pt x="1045" y="1301"/>
                  <a:pt x="1025" y="1312"/>
                </a:cubicBezTo>
                <a:cubicBezTo>
                  <a:pt x="1005" y="1322"/>
                  <a:pt x="985" y="1332"/>
                  <a:pt x="964" y="1341"/>
                </a:cubicBezTo>
                <a:cubicBezTo>
                  <a:pt x="943" y="1350"/>
                  <a:pt x="921" y="1357"/>
                  <a:pt x="898" y="1364"/>
                </a:cubicBezTo>
                <a:cubicBezTo>
                  <a:pt x="876" y="1370"/>
                  <a:pt x="854" y="1376"/>
                  <a:pt x="832" y="1380"/>
                </a:cubicBezTo>
                <a:cubicBezTo>
                  <a:pt x="810" y="1385"/>
                  <a:pt x="787" y="1388"/>
                  <a:pt x="764" y="1390"/>
                </a:cubicBezTo>
                <a:cubicBezTo>
                  <a:pt x="742" y="1393"/>
                  <a:pt x="719" y="1394"/>
                  <a:pt x="696" y="1394"/>
                </a:cubicBezTo>
                <a:cubicBezTo>
                  <a:pt x="673" y="1394"/>
                  <a:pt x="651" y="1393"/>
                  <a:pt x="628" y="1390"/>
                </a:cubicBezTo>
                <a:cubicBezTo>
                  <a:pt x="605" y="1388"/>
                  <a:pt x="583" y="1385"/>
                  <a:pt x="560" y="1380"/>
                </a:cubicBezTo>
                <a:cubicBezTo>
                  <a:pt x="538" y="1376"/>
                  <a:pt x="516" y="1370"/>
                  <a:pt x="494" y="1364"/>
                </a:cubicBezTo>
                <a:cubicBezTo>
                  <a:pt x="472" y="1357"/>
                  <a:pt x="451" y="1350"/>
                  <a:pt x="430" y="1341"/>
                </a:cubicBezTo>
                <a:cubicBezTo>
                  <a:pt x="409" y="1332"/>
                  <a:pt x="388" y="1322"/>
                  <a:pt x="368" y="1312"/>
                </a:cubicBezTo>
                <a:cubicBezTo>
                  <a:pt x="348" y="1301"/>
                  <a:pt x="328" y="1289"/>
                  <a:pt x="309" y="1276"/>
                </a:cubicBezTo>
                <a:cubicBezTo>
                  <a:pt x="290" y="1264"/>
                  <a:pt x="272" y="1250"/>
                  <a:pt x="254" y="1236"/>
                </a:cubicBezTo>
                <a:cubicBezTo>
                  <a:pt x="237" y="1221"/>
                  <a:pt x="220" y="1206"/>
                  <a:pt x="204" y="1190"/>
                </a:cubicBezTo>
                <a:cubicBezTo>
                  <a:pt x="188" y="1174"/>
                  <a:pt x="172" y="1157"/>
                  <a:pt x="158" y="1139"/>
                </a:cubicBezTo>
                <a:cubicBezTo>
                  <a:pt x="143" y="1122"/>
                  <a:pt x="130" y="1103"/>
                  <a:pt x="117" y="1084"/>
                </a:cubicBezTo>
                <a:cubicBezTo>
                  <a:pt x="104" y="1065"/>
                  <a:pt x="93" y="1046"/>
                  <a:pt x="82" y="1026"/>
                </a:cubicBezTo>
                <a:cubicBezTo>
                  <a:pt x="71" y="1006"/>
                  <a:pt x="61" y="985"/>
                  <a:pt x="53" y="964"/>
                </a:cubicBezTo>
                <a:cubicBezTo>
                  <a:pt x="44" y="943"/>
                  <a:pt x="36" y="921"/>
                  <a:pt x="30" y="900"/>
                </a:cubicBezTo>
                <a:cubicBezTo>
                  <a:pt x="23" y="878"/>
                  <a:pt x="18" y="856"/>
                  <a:pt x="13" y="833"/>
                </a:cubicBezTo>
                <a:cubicBezTo>
                  <a:pt x="9" y="811"/>
                  <a:pt x="5" y="788"/>
                  <a:pt x="3" y="766"/>
                </a:cubicBezTo>
                <a:cubicBezTo>
                  <a:pt x="1" y="743"/>
                  <a:pt x="0" y="720"/>
                  <a:pt x="0" y="697"/>
                </a:cubicBezTo>
                <a:cubicBezTo>
                  <a:pt x="0" y="675"/>
                  <a:pt x="1" y="652"/>
                  <a:pt x="3" y="629"/>
                </a:cubicBezTo>
                <a:cubicBezTo>
                  <a:pt x="5" y="606"/>
                  <a:pt x="9" y="584"/>
                  <a:pt x="13" y="562"/>
                </a:cubicBezTo>
                <a:cubicBezTo>
                  <a:pt x="18" y="539"/>
                  <a:pt x="23" y="517"/>
                  <a:pt x="30" y="495"/>
                </a:cubicBezTo>
                <a:cubicBezTo>
                  <a:pt x="36" y="473"/>
                  <a:pt x="44" y="452"/>
                  <a:pt x="53" y="431"/>
                </a:cubicBezTo>
                <a:cubicBezTo>
                  <a:pt x="61" y="410"/>
                  <a:pt x="71" y="389"/>
                  <a:pt x="82" y="369"/>
                </a:cubicBezTo>
                <a:cubicBezTo>
                  <a:pt x="93" y="349"/>
                  <a:pt x="104" y="329"/>
                  <a:pt x="117" y="311"/>
                </a:cubicBezTo>
                <a:cubicBezTo>
                  <a:pt x="130" y="292"/>
                  <a:pt x="143" y="272"/>
                  <a:pt x="158" y="255"/>
                </a:cubicBezTo>
                <a:cubicBezTo>
                  <a:pt x="172" y="237"/>
                  <a:pt x="188" y="220"/>
                  <a:pt x="204" y="204"/>
                </a:cubicBezTo>
                <a:cubicBezTo>
                  <a:pt x="220" y="188"/>
                  <a:pt x="237" y="173"/>
                  <a:pt x="254" y="158"/>
                </a:cubicBezTo>
                <a:cubicBezTo>
                  <a:pt x="272" y="144"/>
                  <a:pt x="290" y="130"/>
                  <a:pt x="309" y="117"/>
                </a:cubicBezTo>
                <a:cubicBezTo>
                  <a:pt x="328" y="105"/>
                  <a:pt x="348" y="93"/>
                  <a:pt x="368" y="82"/>
                </a:cubicBezTo>
                <a:cubicBezTo>
                  <a:pt x="388" y="72"/>
                  <a:pt x="409" y="62"/>
                  <a:pt x="430" y="53"/>
                </a:cubicBezTo>
                <a:cubicBezTo>
                  <a:pt x="451" y="44"/>
                  <a:pt x="472" y="37"/>
                  <a:pt x="494" y="30"/>
                </a:cubicBezTo>
                <a:cubicBezTo>
                  <a:pt x="516" y="23"/>
                  <a:pt x="538" y="18"/>
                  <a:pt x="560" y="13"/>
                </a:cubicBezTo>
                <a:cubicBezTo>
                  <a:pt x="583" y="9"/>
                  <a:pt x="605" y="6"/>
                  <a:pt x="628" y="3"/>
                </a:cubicBezTo>
                <a:cubicBezTo>
                  <a:pt x="651" y="1"/>
                  <a:pt x="673" y="0"/>
                  <a:pt x="696" y="0"/>
                </a:cubicBezTo>
                <a:cubicBezTo>
                  <a:pt x="719" y="0"/>
                  <a:pt x="742" y="1"/>
                  <a:pt x="764" y="3"/>
                </a:cubicBezTo>
                <a:cubicBezTo>
                  <a:pt x="787" y="6"/>
                  <a:pt x="810" y="9"/>
                  <a:pt x="832" y="13"/>
                </a:cubicBezTo>
                <a:cubicBezTo>
                  <a:pt x="854" y="18"/>
                  <a:pt x="876" y="23"/>
                  <a:pt x="898" y="30"/>
                </a:cubicBezTo>
                <a:cubicBezTo>
                  <a:pt x="921" y="37"/>
                  <a:pt x="942" y="44"/>
                  <a:pt x="964" y="53"/>
                </a:cubicBezTo>
                <a:cubicBezTo>
                  <a:pt x="985" y="62"/>
                  <a:pt x="1005" y="72"/>
                  <a:pt x="1025" y="82"/>
                </a:cubicBezTo>
                <a:cubicBezTo>
                  <a:pt x="1045" y="93"/>
                  <a:pt x="1065" y="105"/>
                  <a:pt x="1084" y="117"/>
                </a:cubicBezTo>
                <a:cubicBezTo>
                  <a:pt x="1103" y="130"/>
                  <a:pt x="1121" y="144"/>
                  <a:pt x="1139" y="158"/>
                </a:cubicBezTo>
                <a:cubicBezTo>
                  <a:pt x="1156" y="173"/>
                  <a:pt x="1173" y="188"/>
                  <a:pt x="1189" y="204"/>
                </a:cubicBezTo>
                <a:cubicBezTo>
                  <a:pt x="1206" y="220"/>
                  <a:pt x="1221" y="237"/>
                  <a:pt x="1235" y="255"/>
                </a:cubicBezTo>
                <a:cubicBezTo>
                  <a:pt x="1250" y="272"/>
                  <a:pt x="1263" y="292"/>
                  <a:pt x="1276" y="311"/>
                </a:cubicBezTo>
                <a:cubicBezTo>
                  <a:pt x="1289" y="329"/>
                  <a:pt x="1300" y="349"/>
                  <a:pt x="1311" y="369"/>
                </a:cubicBezTo>
                <a:cubicBezTo>
                  <a:pt x="1322" y="389"/>
                  <a:pt x="1332" y="410"/>
                  <a:pt x="1340" y="431"/>
                </a:cubicBezTo>
                <a:cubicBezTo>
                  <a:pt x="1349" y="452"/>
                  <a:pt x="1357" y="473"/>
                  <a:pt x="1363" y="495"/>
                </a:cubicBezTo>
                <a:cubicBezTo>
                  <a:pt x="1370" y="517"/>
                  <a:pt x="1376" y="539"/>
                  <a:pt x="1380" y="562"/>
                </a:cubicBezTo>
                <a:cubicBezTo>
                  <a:pt x="1385" y="584"/>
                  <a:pt x="1388" y="606"/>
                  <a:pt x="1390" y="629"/>
                </a:cubicBezTo>
                <a:cubicBezTo>
                  <a:pt x="1392" y="652"/>
                  <a:pt x="1393" y="675"/>
                  <a:pt x="1393" y="697"/>
                </a:cubicBezTo>
                <a:close/>
              </a:path>
            </a:pathLst>
          </a:custGeom>
          <a:solidFill>
            <a:srgbClr val="4a90e2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1" name="" descr=""/>
          <p:cNvPicPr/>
          <p:nvPr/>
        </p:nvPicPr>
        <p:blipFill>
          <a:blip r:embed="rId8"/>
          <a:stretch/>
        </p:blipFill>
        <p:spPr>
          <a:xfrm>
            <a:off x="8649360" y="3259080"/>
            <a:ext cx="8316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"/>
          <p:cNvSpPr txBox="1"/>
          <p:nvPr/>
        </p:nvSpPr>
        <p:spPr>
          <a:xfrm>
            <a:off x="8356680" y="2592000"/>
            <a:ext cx="6714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安全リスク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8356680" y="3822840"/>
            <a:ext cx="67140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誤報問題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4" name="" descr=""/>
          <p:cNvPicPr/>
          <p:nvPr/>
        </p:nvPicPr>
        <p:blipFill>
          <a:blip r:embed="rId9"/>
          <a:stretch/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" name="" descr=""/>
          <p:cNvPicPr/>
          <p:nvPr/>
        </p:nvPicPr>
        <p:blipFill>
          <a:blip r:embed="rId10"/>
          <a:stretch/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"/>
          <p:cNvSpPr txBox="1"/>
          <p:nvPr/>
        </p:nvSpPr>
        <p:spPr>
          <a:xfrm>
            <a:off x="8223120" y="4062600"/>
            <a:ext cx="9396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監視効率の低下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10153440" y="5717160"/>
            <a:ext cx="387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9ca3af"/>
                </a:solidFill>
                <a:effectLst/>
                <a:uFillTx/>
                <a:latin typeface="NotoSansJP"/>
                <a:ea typeface="NotoSansJP"/>
              </a:rPr>
              <a:t>2 / 12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"/>
          <p:cNvSpPr/>
          <p:nvPr/>
        </p:nvSpPr>
        <p:spPr>
          <a:xfrm>
            <a:off x="534600" y="802080"/>
            <a:ext cx="668880" cy="33840"/>
          </a:xfrm>
          <a:custGeom>
            <a:avLst/>
            <a:gdLst/>
            <a:ahLst/>
            <a:rect l="0" t="0" r="r" b="b"/>
            <a:pathLst>
              <a:path w="1858" h="94">
                <a:moveTo>
                  <a:pt x="0" y="0"/>
                </a:moveTo>
                <a:lnTo>
                  <a:pt x="1858" y="0"/>
                </a:lnTo>
                <a:lnTo>
                  <a:pt x="1858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60a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534600" y="1048680"/>
            <a:ext cx="3075840" cy="3957120"/>
          </a:xfrm>
          <a:custGeom>
            <a:avLst/>
            <a:gdLst/>
            <a:ahLst/>
            <a:rect l="0" t="0" r="r" b="b"/>
            <a:pathLst>
              <a:path w="8544" h="10992">
                <a:moveTo>
                  <a:pt x="0" y="10806"/>
                </a:moveTo>
                <a:lnTo>
                  <a:pt x="0" y="151"/>
                </a:lnTo>
                <a:cubicBezTo>
                  <a:pt x="0" y="141"/>
                  <a:pt x="1" y="131"/>
                  <a:pt x="4" y="121"/>
                </a:cubicBezTo>
                <a:cubicBezTo>
                  <a:pt x="6" y="111"/>
                  <a:pt x="10" y="102"/>
                  <a:pt x="14" y="93"/>
                </a:cubicBezTo>
                <a:cubicBezTo>
                  <a:pt x="19" y="84"/>
                  <a:pt x="25" y="75"/>
                  <a:pt x="31" y="67"/>
                </a:cubicBezTo>
                <a:cubicBezTo>
                  <a:pt x="38" y="59"/>
                  <a:pt x="46" y="51"/>
                  <a:pt x="55" y="44"/>
                </a:cubicBezTo>
                <a:cubicBezTo>
                  <a:pt x="63" y="37"/>
                  <a:pt x="73" y="31"/>
                  <a:pt x="83" y="25"/>
                </a:cubicBezTo>
                <a:cubicBezTo>
                  <a:pt x="93" y="20"/>
                  <a:pt x="104" y="15"/>
                  <a:pt x="115" y="11"/>
                </a:cubicBezTo>
                <a:cubicBezTo>
                  <a:pt x="126" y="7"/>
                  <a:pt x="138" y="5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8358" y="0"/>
                </a:lnTo>
                <a:cubicBezTo>
                  <a:pt x="8370" y="0"/>
                  <a:pt x="8382" y="1"/>
                  <a:pt x="8394" y="3"/>
                </a:cubicBezTo>
                <a:cubicBezTo>
                  <a:pt x="8406" y="5"/>
                  <a:pt x="8418" y="7"/>
                  <a:pt x="8429" y="11"/>
                </a:cubicBezTo>
                <a:cubicBezTo>
                  <a:pt x="8440" y="15"/>
                  <a:pt x="8451" y="20"/>
                  <a:pt x="8461" y="25"/>
                </a:cubicBezTo>
                <a:cubicBezTo>
                  <a:pt x="8471" y="31"/>
                  <a:pt x="8481" y="37"/>
                  <a:pt x="8489" y="44"/>
                </a:cubicBezTo>
                <a:cubicBezTo>
                  <a:pt x="8498" y="51"/>
                  <a:pt x="8505" y="59"/>
                  <a:pt x="8512" y="67"/>
                </a:cubicBezTo>
                <a:cubicBezTo>
                  <a:pt x="8519" y="75"/>
                  <a:pt x="8525" y="84"/>
                  <a:pt x="8529" y="93"/>
                </a:cubicBezTo>
                <a:cubicBezTo>
                  <a:pt x="8534" y="102"/>
                  <a:pt x="8538" y="111"/>
                  <a:pt x="8540" y="121"/>
                </a:cubicBezTo>
                <a:cubicBezTo>
                  <a:pt x="8542" y="131"/>
                  <a:pt x="8544" y="141"/>
                  <a:pt x="8544" y="151"/>
                </a:cubicBezTo>
                <a:lnTo>
                  <a:pt x="8544" y="10806"/>
                </a:lnTo>
                <a:cubicBezTo>
                  <a:pt x="8544" y="10819"/>
                  <a:pt x="8542" y="10831"/>
                  <a:pt x="8540" y="10843"/>
                </a:cubicBezTo>
                <a:cubicBezTo>
                  <a:pt x="8538" y="10855"/>
                  <a:pt x="8534" y="10866"/>
                  <a:pt x="8529" y="10877"/>
                </a:cubicBezTo>
                <a:cubicBezTo>
                  <a:pt x="8525" y="10889"/>
                  <a:pt x="8519" y="10899"/>
                  <a:pt x="8512" y="10910"/>
                </a:cubicBezTo>
                <a:cubicBezTo>
                  <a:pt x="8505" y="10920"/>
                  <a:pt x="8498" y="10929"/>
                  <a:pt x="8489" y="10938"/>
                </a:cubicBezTo>
                <a:cubicBezTo>
                  <a:pt x="8481" y="10946"/>
                  <a:pt x="8471" y="10954"/>
                  <a:pt x="8461" y="10961"/>
                </a:cubicBezTo>
                <a:cubicBezTo>
                  <a:pt x="8451" y="10968"/>
                  <a:pt x="8440" y="10973"/>
                  <a:pt x="8429" y="10978"/>
                </a:cubicBezTo>
                <a:cubicBezTo>
                  <a:pt x="8418" y="10983"/>
                  <a:pt x="8406" y="10986"/>
                  <a:pt x="8394" y="10989"/>
                </a:cubicBezTo>
                <a:cubicBezTo>
                  <a:pt x="8382" y="10991"/>
                  <a:pt x="8370" y="10992"/>
                  <a:pt x="8358" y="10992"/>
                </a:cubicBezTo>
                <a:lnTo>
                  <a:pt x="186" y="10992"/>
                </a:lnTo>
                <a:cubicBezTo>
                  <a:pt x="174" y="10992"/>
                  <a:pt x="162" y="10991"/>
                  <a:pt x="150" y="10989"/>
                </a:cubicBezTo>
                <a:cubicBezTo>
                  <a:pt x="138" y="10986"/>
                  <a:pt x="126" y="10983"/>
                  <a:pt x="115" y="10978"/>
                </a:cubicBezTo>
                <a:cubicBezTo>
                  <a:pt x="104" y="10973"/>
                  <a:pt x="93" y="10968"/>
                  <a:pt x="83" y="10961"/>
                </a:cubicBezTo>
                <a:cubicBezTo>
                  <a:pt x="73" y="10954"/>
                  <a:pt x="63" y="10946"/>
                  <a:pt x="55" y="10938"/>
                </a:cubicBezTo>
                <a:cubicBezTo>
                  <a:pt x="46" y="10929"/>
                  <a:pt x="38" y="10920"/>
                  <a:pt x="31" y="10910"/>
                </a:cubicBezTo>
                <a:cubicBezTo>
                  <a:pt x="25" y="10899"/>
                  <a:pt x="19" y="10889"/>
                  <a:pt x="14" y="10877"/>
                </a:cubicBezTo>
                <a:cubicBezTo>
                  <a:pt x="10" y="10866"/>
                  <a:pt x="6" y="10855"/>
                  <a:pt x="4" y="10843"/>
                </a:cubicBezTo>
                <a:cubicBezTo>
                  <a:pt x="1" y="10831"/>
                  <a:pt x="0" y="10819"/>
                  <a:pt x="0" y="10806"/>
                </a:cubicBezTo>
                <a:close/>
              </a:path>
            </a:pathLst>
          </a:custGeom>
          <a:solidFill>
            <a:srgbClr val="1a2a57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534600" y="1036080"/>
            <a:ext cx="3075840" cy="67320"/>
          </a:xfrm>
          <a:custGeom>
            <a:avLst/>
            <a:gdLst/>
            <a:ahLst/>
            <a:rect l="0" t="0" r="r" b="b"/>
            <a:pathLst>
              <a:path w="8544" h="187">
                <a:moveTo>
                  <a:pt x="0" y="0"/>
                </a:moveTo>
                <a:lnTo>
                  <a:pt x="8544" y="0"/>
                </a:lnTo>
                <a:lnTo>
                  <a:pt x="8544" y="187"/>
                </a:lnTo>
                <a:lnTo>
                  <a:pt x="0" y="187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1738080" y="1261800"/>
            <a:ext cx="668880" cy="668880"/>
          </a:xfrm>
          <a:custGeom>
            <a:avLst/>
            <a:gdLst/>
            <a:ahLst/>
            <a:rect l="0" t="0" r="r" b="b"/>
            <a:pathLst>
              <a:path w="1858" h="1858">
                <a:moveTo>
                  <a:pt x="1858" y="928"/>
                </a:moveTo>
                <a:cubicBezTo>
                  <a:pt x="1858" y="959"/>
                  <a:pt x="1856" y="989"/>
                  <a:pt x="1853" y="1019"/>
                </a:cubicBezTo>
                <a:cubicBezTo>
                  <a:pt x="1850" y="1049"/>
                  <a:pt x="1846" y="1080"/>
                  <a:pt x="1840" y="1109"/>
                </a:cubicBezTo>
                <a:cubicBezTo>
                  <a:pt x="1834" y="1140"/>
                  <a:pt x="1827" y="1170"/>
                  <a:pt x="1818" y="1199"/>
                </a:cubicBezTo>
                <a:cubicBezTo>
                  <a:pt x="1809" y="1228"/>
                  <a:pt x="1799" y="1256"/>
                  <a:pt x="1787" y="1285"/>
                </a:cubicBezTo>
                <a:cubicBezTo>
                  <a:pt x="1776" y="1313"/>
                  <a:pt x="1763" y="1340"/>
                  <a:pt x="1748" y="1367"/>
                </a:cubicBezTo>
                <a:cubicBezTo>
                  <a:pt x="1734" y="1394"/>
                  <a:pt x="1718" y="1420"/>
                  <a:pt x="1701" y="1445"/>
                </a:cubicBezTo>
                <a:cubicBezTo>
                  <a:pt x="1684" y="1470"/>
                  <a:pt x="1665" y="1495"/>
                  <a:pt x="1646" y="1518"/>
                </a:cubicBezTo>
                <a:cubicBezTo>
                  <a:pt x="1627" y="1542"/>
                  <a:pt x="1606" y="1564"/>
                  <a:pt x="1585" y="1586"/>
                </a:cubicBezTo>
                <a:cubicBezTo>
                  <a:pt x="1563" y="1607"/>
                  <a:pt x="1541" y="1628"/>
                  <a:pt x="1517" y="1647"/>
                </a:cubicBezTo>
                <a:cubicBezTo>
                  <a:pt x="1494" y="1666"/>
                  <a:pt x="1469" y="1684"/>
                  <a:pt x="1444" y="1701"/>
                </a:cubicBezTo>
                <a:cubicBezTo>
                  <a:pt x="1419" y="1718"/>
                  <a:pt x="1393" y="1734"/>
                  <a:pt x="1366" y="1748"/>
                </a:cubicBezTo>
                <a:cubicBezTo>
                  <a:pt x="1339" y="1762"/>
                  <a:pt x="1312" y="1775"/>
                  <a:pt x="1284" y="1787"/>
                </a:cubicBezTo>
                <a:cubicBezTo>
                  <a:pt x="1256" y="1799"/>
                  <a:pt x="1227" y="1809"/>
                  <a:pt x="1198" y="1818"/>
                </a:cubicBezTo>
                <a:cubicBezTo>
                  <a:pt x="1169" y="1827"/>
                  <a:pt x="1139" y="1834"/>
                  <a:pt x="1109" y="1840"/>
                </a:cubicBezTo>
                <a:cubicBezTo>
                  <a:pt x="1080" y="1846"/>
                  <a:pt x="1050" y="1850"/>
                  <a:pt x="1019" y="1853"/>
                </a:cubicBezTo>
                <a:cubicBezTo>
                  <a:pt x="989" y="1856"/>
                  <a:pt x="959" y="1858"/>
                  <a:pt x="928" y="1858"/>
                </a:cubicBezTo>
                <a:cubicBezTo>
                  <a:pt x="898" y="1858"/>
                  <a:pt x="868" y="1856"/>
                  <a:pt x="837" y="1853"/>
                </a:cubicBezTo>
                <a:cubicBezTo>
                  <a:pt x="807" y="1850"/>
                  <a:pt x="777" y="1846"/>
                  <a:pt x="747" y="1840"/>
                </a:cubicBezTo>
                <a:cubicBezTo>
                  <a:pt x="717" y="1834"/>
                  <a:pt x="688" y="1827"/>
                  <a:pt x="659" y="1818"/>
                </a:cubicBezTo>
                <a:cubicBezTo>
                  <a:pt x="630" y="1809"/>
                  <a:pt x="601" y="1799"/>
                  <a:pt x="573" y="1787"/>
                </a:cubicBezTo>
                <a:cubicBezTo>
                  <a:pt x="545" y="1775"/>
                  <a:pt x="517" y="1762"/>
                  <a:pt x="491" y="1748"/>
                </a:cubicBezTo>
                <a:cubicBezTo>
                  <a:pt x="464" y="1734"/>
                  <a:pt x="438" y="1718"/>
                  <a:pt x="412" y="1701"/>
                </a:cubicBezTo>
                <a:cubicBezTo>
                  <a:pt x="387" y="1684"/>
                  <a:pt x="363" y="1666"/>
                  <a:pt x="339" y="1647"/>
                </a:cubicBezTo>
                <a:cubicBezTo>
                  <a:pt x="316" y="1628"/>
                  <a:pt x="293" y="1607"/>
                  <a:pt x="272" y="1586"/>
                </a:cubicBezTo>
                <a:cubicBezTo>
                  <a:pt x="250" y="1564"/>
                  <a:pt x="230" y="1542"/>
                  <a:pt x="211" y="1518"/>
                </a:cubicBezTo>
                <a:cubicBezTo>
                  <a:pt x="191" y="1495"/>
                  <a:pt x="173" y="1470"/>
                  <a:pt x="156" y="1445"/>
                </a:cubicBezTo>
                <a:cubicBezTo>
                  <a:pt x="139" y="1420"/>
                  <a:pt x="124" y="1394"/>
                  <a:pt x="109" y="1367"/>
                </a:cubicBezTo>
                <a:cubicBezTo>
                  <a:pt x="95" y="1340"/>
                  <a:pt x="82" y="1313"/>
                  <a:pt x="70" y="1285"/>
                </a:cubicBezTo>
                <a:cubicBezTo>
                  <a:pt x="59" y="1256"/>
                  <a:pt x="49" y="1228"/>
                  <a:pt x="40" y="1199"/>
                </a:cubicBezTo>
                <a:cubicBezTo>
                  <a:pt x="31" y="1170"/>
                  <a:pt x="24" y="1140"/>
                  <a:pt x="18" y="1109"/>
                </a:cubicBezTo>
                <a:cubicBezTo>
                  <a:pt x="12" y="1080"/>
                  <a:pt x="7" y="1049"/>
                  <a:pt x="4" y="1019"/>
                </a:cubicBezTo>
                <a:cubicBezTo>
                  <a:pt x="1" y="989"/>
                  <a:pt x="0" y="959"/>
                  <a:pt x="0" y="928"/>
                </a:cubicBezTo>
                <a:cubicBezTo>
                  <a:pt x="0" y="898"/>
                  <a:pt x="1" y="867"/>
                  <a:pt x="4" y="837"/>
                </a:cubicBezTo>
                <a:cubicBezTo>
                  <a:pt x="7" y="807"/>
                  <a:pt x="12" y="777"/>
                  <a:pt x="18" y="747"/>
                </a:cubicBezTo>
                <a:cubicBezTo>
                  <a:pt x="24" y="717"/>
                  <a:pt x="31" y="688"/>
                  <a:pt x="40" y="659"/>
                </a:cubicBezTo>
                <a:cubicBezTo>
                  <a:pt x="49" y="630"/>
                  <a:pt x="59" y="601"/>
                  <a:pt x="70" y="573"/>
                </a:cubicBezTo>
                <a:cubicBezTo>
                  <a:pt x="82" y="545"/>
                  <a:pt x="95" y="517"/>
                  <a:pt x="109" y="490"/>
                </a:cubicBezTo>
                <a:cubicBezTo>
                  <a:pt x="124" y="464"/>
                  <a:pt x="139" y="438"/>
                  <a:pt x="156" y="412"/>
                </a:cubicBezTo>
                <a:cubicBezTo>
                  <a:pt x="173" y="387"/>
                  <a:pt x="191" y="363"/>
                  <a:pt x="211" y="339"/>
                </a:cubicBezTo>
                <a:cubicBezTo>
                  <a:pt x="230" y="316"/>
                  <a:pt x="250" y="293"/>
                  <a:pt x="272" y="272"/>
                </a:cubicBezTo>
                <a:cubicBezTo>
                  <a:pt x="293" y="250"/>
                  <a:pt x="316" y="230"/>
                  <a:pt x="339" y="210"/>
                </a:cubicBezTo>
                <a:cubicBezTo>
                  <a:pt x="363" y="191"/>
                  <a:pt x="387" y="173"/>
                  <a:pt x="412" y="156"/>
                </a:cubicBezTo>
                <a:cubicBezTo>
                  <a:pt x="438" y="139"/>
                  <a:pt x="464" y="124"/>
                  <a:pt x="491" y="109"/>
                </a:cubicBezTo>
                <a:cubicBezTo>
                  <a:pt x="517" y="95"/>
                  <a:pt x="545" y="82"/>
                  <a:pt x="573" y="70"/>
                </a:cubicBezTo>
                <a:cubicBezTo>
                  <a:pt x="601" y="59"/>
                  <a:pt x="630" y="48"/>
                  <a:pt x="659" y="40"/>
                </a:cubicBezTo>
                <a:cubicBezTo>
                  <a:pt x="688" y="31"/>
                  <a:pt x="717" y="23"/>
                  <a:pt x="747" y="18"/>
                </a:cubicBezTo>
                <a:cubicBezTo>
                  <a:pt x="777" y="12"/>
                  <a:pt x="807" y="7"/>
                  <a:pt x="837" y="4"/>
                </a:cubicBezTo>
                <a:cubicBezTo>
                  <a:pt x="868" y="1"/>
                  <a:pt x="898" y="0"/>
                  <a:pt x="928" y="0"/>
                </a:cubicBezTo>
                <a:cubicBezTo>
                  <a:pt x="959" y="0"/>
                  <a:pt x="989" y="1"/>
                  <a:pt x="1019" y="4"/>
                </a:cubicBezTo>
                <a:cubicBezTo>
                  <a:pt x="1050" y="7"/>
                  <a:pt x="1080" y="12"/>
                  <a:pt x="1109" y="18"/>
                </a:cubicBezTo>
                <a:cubicBezTo>
                  <a:pt x="1139" y="23"/>
                  <a:pt x="1169" y="31"/>
                  <a:pt x="1198" y="40"/>
                </a:cubicBezTo>
                <a:cubicBezTo>
                  <a:pt x="1227" y="48"/>
                  <a:pt x="1256" y="59"/>
                  <a:pt x="1284" y="70"/>
                </a:cubicBezTo>
                <a:cubicBezTo>
                  <a:pt x="1312" y="82"/>
                  <a:pt x="1339" y="95"/>
                  <a:pt x="1366" y="109"/>
                </a:cubicBezTo>
                <a:cubicBezTo>
                  <a:pt x="1393" y="124"/>
                  <a:pt x="1419" y="139"/>
                  <a:pt x="1444" y="156"/>
                </a:cubicBezTo>
                <a:cubicBezTo>
                  <a:pt x="1469" y="173"/>
                  <a:pt x="1494" y="191"/>
                  <a:pt x="1517" y="210"/>
                </a:cubicBezTo>
                <a:cubicBezTo>
                  <a:pt x="1541" y="230"/>
                  <a:pt x="1563" y="250"/>
                  <a:pt x="1585" y="272"/>
                </a:cubicBezTo>
                <a:cubicBezTo>
                  <a:pt x="1606" y="293"/>
                  <a:pt x="1627" y="316"/>
                  <a:pt x="1646" y="339"/>
                </a:cubicBezTo>
                <a:cubicBezTo>
                  <a:pt x="1665" y="363"/>
                  <a:pt x="1684" y="387"/>
                  <a:pt x="1701" y="412"/>
                </a:cubicBezTo>
                <a:cubicBezTo>
                  <a:pt x="1718" y="438"/>
                  <a:pt x="1734" y="464"/>
                  <a:pt x="1748" y="490"/>
                </a:cubicBezTo>
                <a:cubicBezTo>
                  <a:pt x="1763" y="517"/>
                  <a:pt x="1776" y="545"/>
                  <a:pt x="1787" y="573"/>
                </a:cubicBezTo>
                <a:cubicBezTo>
                  <a:pt x="1799" y="601"/>
                  <a:pt x="1809" y="630"/>
                  <a:pt x="1818" y="659"/>
                </a:cubicBezTo>
                <a:cubicBezTo>
                  <a:pt x="1827" y="688"/>
                  <a:pt x="1834" y="717"/>
                  <a:pt x="1840" y="747"/>
                </a:cubicBezTo>
                <a:cubicBezTo>
                  <a:pt x="1846" y="777"/>
                  <a:pt x="1850" y="807"/>
                  <a:pt x="1853" y="837"/>
                </a:cubicBezTo>
                <a:cubicBezTo>
                  <a:pt x="1856" y="867"/>
                  <a:pt x="1858" y="898"/>
                  <a:pt x="1858" y="928"/>
                </a:cubicBezTo>
                <a:close/>
              </a:path>
            </a:pathLst>
          </a:custGeom>
          <a:solidFill>
            <a:srgbClr val="4a90e2">
              <a:alpha val="1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63" name="" descr=""/>
          <p:cNvPicPr/>
          <p:nvPr/>
        </p:nvPicPr>
        <p:blipFill>
          <a:blip r:embed="rId2"/>
          <a:stretch/>
        </p:blipFill>
        <p:spPr>
          <a:xfrm>
            <a:off x="1888560" y="1445760"/>
            <a:ext cx="37584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"/>
          <p:cNvSpPr txBox="1"/>
          <p:nvPr/>
        </p:nvSpPr>
        <p:spPr>
          <a:xfrm>
            <a:off x="534960" y="422640"/>
            <a:ext cx="2702880" cy="43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37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既存システムの課題</a:t>
            </a:r>
            <a:endParaRPr b="0" lang="en-US" sz="2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5" name="" descr=""/>
          <p:cNvPicPr/>
          <p:nvPr/>
        </p:nvPicPr>
        <p:blipFill>
          <a:blip r:embed="rId3"/>
          <a:stretch/>
        </p:blipFill>
        <p:spPr>
          <a:xfrm>
            <a:off x="735480" y="2532240"/>
            <a:ext cx="15012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"/>
          <p:cNvSpPr txBox="1"/>
          <p:nvPr/>
        </p:nvSpPr>
        <p:spPr>
          <a:xfrm>
            <a:off x="969480" y="2128680"/>
            <a:ext cx="2213640" cy="29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580" strike="noStrike" u="none">
                <a:solidFill>
                  <a:srgbClr val="93c5fd"/>
                </a:solidFill>
                <a:effectLst/>
                <a:uFillTx/>
                <a:latin typeface="NotoSansJP"/>
                <a:ea typeface="NotoSansJP"/>
              </a:rPr>
              <a:t>所有者の永続的追跡不可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952560" y="2543040"/>
            <a:ext cx="24148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所有者がカメラのフレームから一度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8" name="" descr=""/>
          <p:cNvPicPr/>
          <p:nvPr/>
        </p:nvPicPr>
        <p:blipFill>
          <a:blip r:embed="rId4"/>
          <a:stretch/>
        </p:blipFill>
        <p:spPr>
          <a:xfrm>
            <a:off x="735480" y="3100320"/>
            <a:ext cx="16668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"/>
          <p:cNvSpPr txBox="1"/>
          <p:nvPr/>
        </p:nvSpPr>
        <p:spPr>
          <a:xfrm>
            <a:off x="952560" y="2777040"/>
            <a:ext cx="16603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外れると</a:t>
            </a:r>
            <a:r>
              <a:rPr b="0" lang="zh-CN" sz="1180" strike="noStrike" u="none">
                <a:solidFill>
                  <a:srgbClr val="fca5a5"/>
                </a:solidFill>
                <a:effectLst/>
                <a:uFillTx/>
                <a:latin typeface="NotoSansJP"/>
                <a:ea typeface="NotoSansJP"/>
              </a:rPr>
              <a:t>追跡が途切れる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969480" y="3111120"/>
            <a:ext cx="24148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再入場時に</a:t>
            </a:r>
            <a:r>
              <a:rPr b="0" lang="zh-CN" sz="1180" strike="noStrike" u="none">
                <a:solidFill>
                  <a:srgbClr val="fca5a5"/>
                </a:solidFill>
                <a:effectLst/>
                <a:uFillTx/>
                <a:latin typeface="NotoSansJP"/>
                <a:ea typeface="NotoSansJP"/>
              </a:rPr>
              <a:t>別人として認識</a:t>
            </a:r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され、荷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1" name="" descr=""/>
          <p:cNvPicPr/>
          <p:nvPr/>
        </p:nvPicPr>
        <p:blipFill>
          <a:blip r:embed="rId5"/>
          <a:stretch/>
        </p:blipFill>
        <p:spPr>
          <a:xfrm>
            <a:off x="735480" y="3668760"/>
            <a:ext cx="13320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"/>
          <p:cNvSpPr txBox="1"/>
          <p:nvPr/>
        </p:nvSpPr>
        <p:spPr>
          <a:xfrm>
            <a:off x="969480" y="3345120"/>
            <a:ext cx="16603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物との関係性がリセット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936000" y="3679560"/>
            <a:ext cx="24148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所有者が戻ってきても</a:t>
            </a:r>
            <a:r>
              <a:rPr b="0" lang="zh-CN" sz="1180" strike="noStrike" u="none">
                <a:solidFill>
                  <a:srgbClr val="fca5a5"/>
                </a:solidFill>
                <a:effectLst/>
                <a:uFillTx/>
                <a:latin typeface="NotoSansJP"/>
                <a:ea typeface="NotoSansJP"/>
              </a:rPr>
              <a:t>誤った放置ア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936000" y="3913560"/>
            <a:ext cx="9057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ca5a5"/>
                </a:solidFill>
                <a:effectLst/>
                <a:uFillTx/>
                <a:latin typeface="NotoSansJP"/>
                <a:ea typeface="NotoSansJP"/>
              </a:rPr>
              <a:t>ラート</a:t>
            </a:r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が発生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762480" y="4496040"/>
            <a:ext cx="28548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50" strike="noStrike" u="none">
                <a:solidFill>
                  <a:srgbClr val="9ca3af"/>
                </a:solidFill>
                <a:effectLst/>
                <a:uFillTx/>
                <a:latin typeface="NotoSansJP"/>
                <a:ea typeface="NotoSansJP"/>
              </a:rPr>
              <a:t>"</a:t>
            </a:r>
            <a:r>
              <a:rPr b="0" lang="zh-CN" sz="950" strike="noStrike" u="none">
                <a:solidFill>
                  <a:srgbClr val="9ca3af"/>
                </a:solidFill>
                <a:effectLst/>
                <a:uFillTx/>
                <a:latin typeface="NotoSansJP"/>
                <a:ea typeface="NotoSansJP"/>
              </a:rPr>
              <a:t>追跡</a:t>
            </a:r>
            <a:r>
              <a:rPr b="0" lang="en-US" sz="950" strike="noStrike" u="none">
                <a:solidFill>
                  <a:srgbClr val="9ca3af"/>
                </a:solidFill>
                <a:effectLst/>
                <a:uFillTx/>
                <a:latin typeface="NotoSansJP"/>
                <a:ea typeface="NotoSansJP"/>
              </a:rPr>
              <a:t>ID</a:t>
            </a:r>
            <a:r>
              <a:rPr b="0" lang="zh-CN" sz="950" strike="noStrike" u="none">
                <a:solidFill>
                  <a:srgbClr val="9ca3af"/>
                </a:solidFill>
                <a:effectLst/>
                <a:uFillTx/>
                <a:latin typeface="NotoSansJP"/>
                <a:ea typeface="NotoSansJP"/>
              </a:rPr>
              <a:t>の一貫性を長期間維持することの難しさ</a:t>
            </a:r>
            <a:r>
              <a:rPr b="0" lang="en-US" sz="950" strike="noStrike" u="none">
                <a:solidFill>
                  <a:srgbClr val="9ca3af"/>
                </a:solidFill>
                <a:effectLst/>
                <a:uFillTx/>
                <a:latin typeface="NotoSansJP"/>
                <a:ea typeface="NotoSansJP"/>
              </a:rPr>
              <a:t>" -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3810600" y="1048680"/>
            <a:ext cx="3075480" cy="3957120"/>
          </a:xfrm>
          <a:custGeom>
            <a:avLst/>
            <a:gdLst/>
            <a:ahLst/>
            <a:rect l="0" t="0" r="r" b="b"/>
            <a:pathLst>
              <a:path w="8543" h="10992">
                <a:moveTo>
                  <a:pt x="0" y="10806"/>
                </a:moveTo>
                <a:lnTo>
                  <a:pt x="0" y="151"/>
                </a:lnTo>
                <a:cubicBezTo>
                  <a:pt x="0" y="141"/>
                  <a:pt x="1" y="131"/>
                  <a:pt x="3" y="121"/>
                </a:cubicBezTo>
                <a:cubicBezTo>
                  <a:pt x="6" y="111"/>
                  <a:pt x="9" y="102"/>
                  <a:pt x="14" y="93"/>
                </a:cubicBezTo>
                <a:cubicBezTo>
                  <a:pt x="18" y="84"/>
                  <a:pt x="24" y="75"/>
                  <a:pt x="31" y="67"/>
                </a:cubicBezTo>
                <a:cubicBezTo>
                  <a:pt x="38" y="59"/>
                  <a:pt x="45" y="51"/>
                  <a:pt x="54" y="44"/>
                </a:cubicBezTo>
                <a:cubicBezTo>
                  <a:pt x="63" y="37"/>
                  <a:pt x="72" y="31"/>
                  <a:pt x="82" y="25"/>
                </a:cubicBezTo>
                <a:cubicBezTo>
                  <a:pt x="92" y="20"/>
                  <a:pt x="103" y="15"/>
                  <a:pt x="114" y="11"/>
                </a:cubicBezTo>
                <a:cubicBezTo>
                  <a:pt x="126" y="7"/>
                  <a:pt x="137" y="5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8357" y="0"/>
                </a:lnTo>
                <a:cubicBezTo>
                  <a:pt x="8370" y="0"/>
                  <a:pt x="8382" y="1"/>
                  <a:pt x="8394" y="3"/>
                </a:cubicBezTo>
                <a:cubicBezTo>
                  <a:pt x="8406" y="5"/>
                  <a:pt x="8417" y="7"/>
                  <a:pt x="8428" y="11"/>
                </a:cubicBezTo>
                <a:cubicBezTo>
                  <a:pt x="8440" y="15"/>
                  <a:pt x="8450" y="20"/>
                  <a:pt x="8461" y="25"/>
                </a:cubicBezTo>
                <a:cubicBezTo>
                  <a:pt x="8471" y="31"/>
                  <a:pt x="8480" y="37"/>
                  <a:pt x="8489" y="44"/>
                </a:cubicBezTo>
                <a:cubicBezTo>
                  <a:pt x="8497" y="51"/>
                  <a:pt x="8505" y="59"/>
                  <a:pt x="8512" y="67"/>
                </a:cubicBezTo>
                <a:cubicBezTo>
                  <a:pt x="8519" y="75"/>
                  <a:pt x="8524" y="84"/>
                  <a:pt x="8529" y="93"/>
                </a:cubicBezTo>
                <a:cubicBezTo>
                  <a:pt x="8534" y="102"/>
                  <a:pt x="8537" y="111"/>
                  <a:pt x="8539" y="121"/>
                </a:cubicBezTo>
                <a:cubicBezTo>
                  <a:pt x="8542" y="131"/>
                  <a:pt x="8543" y="141"/>
                  <a:pt x="8543" y="151"/>
                </a:cubicBezTo>
                <a:lnTo>
                  <a:pt x="8543" y="10806"/>
                </a:lnTo>
                <a:cubicBezTo>
                  <a:pt x="8543" y="10819"/>
                  <a:pt x="8542" y="10831"/>
                  <a:pt x="8539" y="10843"/>
                </a:cubicBezTo>
                <a:cubicBezTo>
                  <a:pt x="8537" y="10855"/>
                  <a:pt x="8534" y="10866"/>
                  <a:pt x="8529" y="10877"/>
                </a:cubicBezTo>
                <a:cubicBezTo>
                  <a:pt x="8524" y="10889"/>
                  <a:pt x="8519" y="10899"/>
                  <a:pt x="8512" y="10910"/>
                </a:cubicBezTo>
                <a:cubicBezTo>
                  <a:pt x="8505" y="10920"/>
                  <a:pt x="8497" y="10929"/>
                  <a:pt x="8489" y="10938"/>
                </a:cubicBezTo>
                <a:cubicBezTo>
                  <a:pt x="8480" y="10946"/>
                  <a:pt x="8471" y="10954"/>
                  <a:pt x="8461" y="10961"/>
                </a:cubicBezTo>
                <a:cubicBezTo>
                  <a:pt x="8450" y="10968"/>
                  <a:pt x="8440" y="10973"/>
                  <a:pt x="8428" y="10978"/>
                </a:cubicBezTo>
                <a:cubicBezTo>
                  <a:pt x="8417" y="10983"/>
                  <a:pt x="8406" y="10986"/>
                  <a:pt x="8394" y="10989"/>
                </a:cubicBezTo>
                <a:cubicBezTo>
                  <a:pt x="8382" y="10991"/>
                  <a:pt x="8370" y="10992"/>
                  <a:pt x="8357" y="10992"/>
                </a:cubicBezTo>
                <a:lnTo>
                  <a:pt x="185" y="10992"/>
                </a:lnTo>
                <a:cubicBezTo>
                  <a:pt x="173" y="10992"/>
                  <a:pt x="161" y="10991"/>
                  <a:pt x="149" y="10989"/>
                </a:cubicBezTo>
                <a:cubicBezTo>
                  <a:pt x="137" y="10986"/>
                  <a:pt x="126" y="10983"/>
                  <a:pt x="114" y="10978"/>
                </a:cubicBezTo>
                <a:cubicBezTo>
                  <a:pt x="103" y="10973"/>
                  <a:pt x="92" y="10968"/>
                  <a:pt x="82" y="10961"/>
                </a:cubicBezTo>
                <a:cubicBezTo>
                  <a:pt x="72" y="10954"/>
                  <a:pt x="63" y="10946"/>
                  <a:pt x="54" y="10938"/>
                </a:cubicBezTo>
                <a:cubicBezTo>
                  <a:pt x="45" y="10929"/>
                  <a:pt x="38" y="10920"/>
                  <a:pt x="31" y="10910"/>
                </a:cubicBezTo>
                <a:cubicBezTo>
                  <a:pt x="24" y="10899"/>
                  <a:pt x="18" y="10889"/>
                  <a:pt x="14" y="10877"/>
                </a:cubicBezTo>
                <a:cubicBezTo>
                  <a:pt x="9" y="10866"/>
                  <a:pt x="6" y="10855"/>
                  <a:pt x="3" y="10843"/>
                </a:cubicBezTo>
                <a:cubicBezTo>
                  <a:pt x="1" y="10831"/>
                  <a:pt x="0" y="10819"/>
                  <a:pt x="0" y="10806"/>
                </a:cubicBezTo>
                <a:close/>
              </a:path>
            </a:pathLst>
          </a:custGeom>
          <a:solidFill>
            <a:srgbClr val="1a2a57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3810600" y="1036080"/>
            <a:ext cx="3075480" cy="67320"/>
          </a:xfrm>
          <a:custGeom>
            <a:avLst/>
            <a:gdLst/>
            <a:ahLst/>
            <a:rect l="0" t="0" r="r" b="b"/>
            <a:pathLst>
              <a:path w="8543" h="187">
                <a:moveTo>
                  <a:pt x="8529" y="141"/>
                </a:moveTo>
                <a:cubicBezTo>
                  <a:pt x="8519" y="127"/>
                  <a:pt x="8506" y="114"/>
                  <a:pt x="8489" y="104"/>
                </a:cubicBezTo>
                <a:cubicBezTo>
                  <a:pt x="8471" y="93"/>
                  <a:pt x="8451" y="84"/>
                  <a:pt x="8428" y="78"/>
                </a:cubicBezTo>
                <a:cubicBezTo>
                  <a:pt x="8406" y="73"/>
                  <a:pt x="8382" y="70"/>
                  <a:pt x="8357" y="70"/>
                </a:cubicBezTo>
                <a:lnTo>
                  <a:pt x="185" y="70"/>
                </a:lnTo>
                <a:cubicBezTo>
                  <a:pt x="161" y="70"/>
                  <a:pt x="137" y="73"/>
                  <a:pt x="114" y="78"/>
                </a:cubicBezTo>
                <a:cubicBezTo>
                  <a:pt x="92" y="84"/>
                  <a:pt x="71" y="93"/>
                  <a:pt x="54" y="104"/>
                </a:cubicBezTo>
                <a:cubicBezTo>
                  <a:pt x="37" y="114"/>
                  <a:pt x="23" y="127"/>
                  <a:pt x="14" y="141"/>
                </a:cubicBezTo>
                <a:cubicBezTo>
                  <a:pt x="4" y="155"/>
                  <a:pt x="0" y="170"/>
                  <a:pt x="0" y="187"/>
                </a:cubicBezTo>
                <a:cubicBezTo>
                  <a:pt x="0" y="161"/>
                  <a:pt x="4" y="137"/>
                  <a:pt x="14" y="115"/>
                </a:cubicBezTo>
                <a:cubicBezTo>
                  <a:pt x="23" y="92"/>
                  <a:pt x="37" y="72"/>
                  <a:pt x="54" y="54"/>
                </a:cubicBezTo>
                <a:cubicBezTo>
                  <a:pt x="71" y="37"/>
                  <a:pt x="92" y="23"/>
                  <a:pt x="114" y="14"/>
                </a:cubicBezTo>
                <a:cubicBezTo>
                  <a:pt x="137" y="5"/>
                  <a:pt x="161" y="0"/>
                  <a:pt x="185" y="0"/>
                </a:cubicBezTo>
                <a:lnTo>
                  <a:pt x="8357" y="0"/>
                </a:lnTo>
                <a:cubicBezTo>
                  <a:pt x="8382" y="0"/>
                  <a:pt x="8406" y="5"/>
                  <a:pt x="8428" y="14"/>
                </a:cubicBezTo>
                <a:cubicBezTo>
                  <a:pt x="8451" y="23"/>
                  <a:pt x="8471" y="37"/>
                  <a:pt x="8489" y="54"/>
                </a:cubicBezTo>
                <a:cubicBezTo>
                  <a:pt x="8506" y="72"/>
                  <a:pt x="8519" y="92"/>
                  <a:pt x="8529" y="115"/>
                </a:cubicBezTo>
                <a:cubicBezTo>
                  <a:pt x="8538" y="137"/>
                  <a:pt x="8543" y="161"/>
                  <a:pt x="8543" y="187"/>
                </a:cubicBezTo>
                <a:cubicBezTo>
                  <a:pt x="8543" y="170"/>
                  <a:pt x="8538" y="155"/>
                  <a:pt x="8529" y="141"/>
                </a:cubicBez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5013720" y="1261800"/>
            <a:ext cx="668880" cy="668880"/>
          </a:xfrm>
          <a:custGeom>
            <a:avLst/>
            <a:gdLst/>
            <a:ahLst/>
            <a:rect l="0" t="0" r="r" b="b"/>
            <a:pathLst>
              <a:path w="1858" h="1858">
                <a:moveTo>
                  <a:pt x="1858" y="928"/>
                </a:moveTo>
                <a:cubicBezTo>
                  <a:pt x="1858" y="959"/>
                  <a:pt x="1857" y="989"/>
                  <a:pt x="1854" y="1019"/>
                </a:cubicBezTo>
                <a:cubicBezTo>
                  <a:pt x="1851" y="1049"/>
                  <a:pt x="1846" y="1080"/>
                  <a:pt x="1841" y="1109"/>
                </a:cubicBezTo>
                <a:cubicBezTo>
                  <a:pt x="1835" y="1140"/>
                  <a:pt x="1827" y="1170"/>
                  <a:pt x="1818" y="1199"/>
                </a:cubicBezTo>
                <a:cubicBezTo>
                  <a:pt x="1810" y="1228"/>
                  <a:pt x="1799" y="1256"/>
                  <a:pt x="1788" y="1285"/>
                </a:cubicBezTo>
                <a:cubicBezTo>
                  <a:pt x="1776" y="1313"/>
                  <a:pt x="1763" y="1340"/>
                  <a:pt x="1749" y="1367"/>
                </a:cubicBezTo>
                <a:cubicBezTo>
                  <a:pt x="1734" y="1394"/>
                  <a:pt x="1719" y="1420"/>
                  <a:pt x="1702" y="1445"/>
                </a:cubicBezTo>
                <a:cubicBezTo>
                  <a:pt x="1685" y="1470"/>
                  <a:pt x="1667" y="1495"/>
                  <a:pt x="1648" y="1518"/>
                </a:cubicBezTo>
                <a:cubicBezTo>
                  <a:pt x="1628" y="1542"/>
                  <a:pt x="1608" y="1564"/>
                  <a:pt x="1586" y="1586"/>
                </a:cubicBezTo>
                <a:cubicBezTo>
                  <a:pt x="1565" y="1607"/>
                  <a:pt x="1542" y="1628"/>
                  <a:pt x="1519" y="1647"/>
                </a:cubicBezTo>
                <a:cubicBezTo>
                  <a:pt x="1495" y="1666"/>
                  <a:pt x="1471" y="1684"/>
                  <a:pt x="1446" y="1701"/>
                </a:cubicBezTo>
                <a:cubicBezTo>
                  <a:pt x="1420" y="1718"/>
                  <a:pt x="1394" y="1734"/>
                  <a:pt x="1368" y="1748"/>
                </a:cubicBezTo>
                <a:cubicBezTo>
                  <a:pt x="1341" y="1762"/>
                  <a:pt x="1313" y="1775"/>
                  <a:pt x="1285" y="1787"/>
                </a:cubicBezTo>
                <a:cubicBezTo>
                  <a:pt x="1257" y="1799"/>
                  <a:pt x="1228" y="1809"/>
                  <a:pt x="1199" y="1818"/>
                </a:cubicBezTo>
                <a:cubicBezTo>
                  <a:pt x="1170" y="1827"/>
                  <a:pt x="1141" y="1834"/>
                  <a:pt x="1111" y="1840"/>
                </a:cubicBezTo>
                <a:cubicBezTo>
                  <a:pt x="1081" y="1846"/>
                  <a:pt x="1051" y="1850"/>
                  <a:pt x="1021" y="1853"/>
                </a:cubicBezTo>
                <a:cubicBezTo>
                  <a:pt x="991" y="1856"/>
                  <a:pt x="960" y="1858"/>
                  <a:pt x="930" y="1858"/>
                </a:cubicBezTo>
                <a:cubicBezTo>
                  <a:pt x="899" y="1858"/>
                  <a:pt x="869" y="1856"/>
                  <a:pt x="839" y="1853"/>
                </a:cubicBezTo>
                <a:cubicBezTo>
                  <a:pt x="809" y="1850"/>
                  <a:pt x="779" y="1846"/>
                  <a:pt x="749" y="1840"/>
                </a:cubicBezTo>
                <a:cubicBezTo>
                  <a:pt x="719" y="1834"/>
                  <a:pt x="689" y="1827"/>
                  <a:pt x="660" y="1818"/>
                </a:cubicBezTo>
                <a:cubicBezTo>
                  <a:pt x="631" y="1809"/>
                  <a:pt x="603" y="1799"/>
                  <a:pt x="575" y="1787"/>
                </a:cubicBezTo>
                <a:cubicBezTo>
                  <a:pt x="546" y="1775"/>
                  <a:pt x="519" y="1762"/>
                  <a:pt x="492" y="1748"/>
                </a:cubicBezTo>
                <a:cubicBezTo>
                  <a:pt x="465" y="1734"/>
                  <a:pt x="439" y="1718"/>
                  <a:pt x="414" y="1701"/>
                </a:cubicBezTo>
                <a:cubicBezTo>
                  <a:pt x="389" y="1684"/>
                  <a:pt x="364" y="1666"/>
                  <a:pt x="341" y="1647"/>
                </a:cubicBezTo>
                <a:cubicBezTo>
                  <a:pt x="317" y="1628"/>
                  <a:pt x="295" y="1607"/>
                  <a:pt x="273" y="1586"/>
                </a:cubicBezTo>
                <a:cubicBezTo>
                  <a:pt x="252" y="1564"/>
                  <a:pt x="231" y="1542"/>
                  <a:pt x="212" y="1518"/>
                </a:cubicBezTo>
                <a:cubicBezTo>
                  <a:pt x="193" y="1495"/>
                  <a:pt x="175" y="1470"/>
                  <a:pt x="158" y="1445"/>
                </a:cubicBezTo>
                <a:cubicBezTo>
                  <a:pt x="141" y="1420"/>
                  <a:pt x="125" y="1394"/>
                  <a:pt x="111" y="1367"/>
                </a:cubicBezTo>
                <a:cubicBezTo>
                  <a:pt x="97" y="1340"/>
                  <a:pt x="84" y="1313"/>
                  <a:pt x="72" y="1285"/>
                </a:cubicBezTo>
                <a:cubicBezTo>
                  <a:pt x="60" y="1256"/>
                  <a:pt x="50" y="1228"/>
                  <a:pt x="41" y="1199"/>
                </a:cubicBezTo>
                <a:cubicBezTo>
                  <a:pt x="32" y="1170"/>
                  <a:pt x="25" y="1140"/>
                  <a:pt x="19" y="1109"/>
                </a:cubicBezTo>
                <a:cubicBezTo>
                  <a:pt x="13" y="1080"/>
                  <a:pt x="9" y="1049"/>
                  <a:pt x="6" y="1019"/>
                </a:cubicBezTo>
                <a:cubicBezTo>
                  <a:pt x="3" y="989"/>
                  <a:pt x="0" y="959"/>
                  <a:pt x="0" y="928"/>
                </a:cubicBezTo>
                <a:cubicBezTo>
                  <a:pt x="0" y="898"/>
                  <a:pt x="3" y="867"/>
                  <a:pt x="6" y="837"/>
                </a:cubicBezTo>
                <a:cubicBezTo>
                  <a:pt x="9" y="807"/>
                  <a:pt x="13" y="777"/>
                  <a:pt x="19" y="747"/>
                </a:cubicBezTo>
                <a:cubicBezTo>
                  <a:pt x="25" y="717"/>
                  <a:pt x="32" y="688"/>
                  <a:pt x="41" y="659"/>
                </a:cubicBezTo>
                <a:cubicBezTo>
                  <a:pt x="50" y="630"/>
                  <a:pt x="60" y="601"/>
                  <a:pt x="72" y="573"/>
                </a:cubicBezTo>
                <a:cubicBezTo>
                  <a:pt x="84" y="545"/>
                  <a:pt x="97" y="517"/>
                  <a:pt x="111" y="490"/>
                </a:cubicBezTo>
                <a:cubicBezTo>
                  <a:pt x="125" y="464"/>
                  <a:pt x="141" y="438"/>
                  <a:pt x="158" y="412"/>
                </a:cubicBezTo>
                <a:cubicBezTo>
                  <a:pt x="175" y="387"/>
                  <a:pt x="193" y="363"/>
                  <a:pt x="212" y="339"/>
                </a:cubicBezTo>
                <a:cubicBezTo>
                  <a:pt x="231" y="316"/>
                  <a:pt x="252" y="293"/>
                  <a:pt x="273" y="272"/>
                </a:cubicBezTo>
                <a:cubicBezTo>
                  <a:pt x="295" y="250"/>
                  <a:pt x="317" y="230"/>
                  <a:pt x="341" y="210"/>
                </a:cubicBezTo>
                <a:cubicBezTo>
                  <a:pt x="364" y="191"/>
                  <a:pt x="389" y="173"/>
                  <a:pt x="414" y="156"/>
                </a:cubicBezTo>
                <a:cubicBezTo>
                  <a:pt x="439" y="139"/>
                  <a:pt x="465" y="124"/>
                  <a:pt x="492" y="109"/>
                </a:cubicBezTo>
                <a:cubicBezTo>
                  <a:pt x="519" y="95"/>
                  <a:pt x="546" y="82"/>
                  <a:pt x="575" y="70"/>
                </a:cubicBezTo>
                <a:cubicBezTo>
                  <a:pt x="603" y="59"/>
                  <a:pt x="631" y="48"/>
                  <a:pt x="660" y="40"/>
                </a:cubicBezTo>
                <a:cubicBezTo>
                  <a:pt x="689" y="31"/>
                  <a:pt x="719" y="23"/>
                  <a:pt x="749" y="18"/>
                </a:cubicBezTo>
                <a:cubicBezTo>
                  <a:pt x="779" y="12"/>
                  <a:pt x="809" y="7"/>
                  <a:pt x="839" y="4"/>
                </a:cubicBezTo>
                <a:cubicBezTo>
                  <a:pt x="869" y="1"/>
                  <a:pt x="899" y="0"/>
                  <a:pt x="930" y="0"/>
                </a:cubicBezTo>
                <a:cubicBezTo>
                  <a:pt x="960" y="0"/>
                  <a:pt x="991" y="1"/>
                  <a:pt x="1021" y="4"/>
                </a:cubicBezTo>
                <a:cubicBezTo>
                  <a:pt x="1051" y="7"/>
                  <a:pt x="1081" y="12"/>
                  <a:pt x="1111" y="18"/>
                </a:cubicBezTo>
                <a:cubicBezTo>
                  <a:pt x="1141" y="23"/>
                  <a:pt x="1170" y="31"/>
                  <a:pt x="1199" y="40"/>
                </a:cubicBezTo>
                <a:cubicBezTo>
                  <a:pt x="1228" y="48"/>
                  <a:pt x="1257" y="59"/>
                  <a:pt x="1285" y="70"/>
                </a:cubicBezTo>
                <a:cubicBezTo>
                  <a:pt x="1313" y="82"/>
                  <a:pt x="1341" y="95"/>
                  <a:pt x="1368" y="109"/>
                </a:cubicBezTo>
                <a:cubicBezTo>
                  <a:pt x="1394" y="124"/>
                  <a:pt x="1420" y="139"/>
                  <a:pt x="1446" y="156"/>
                </a:cubicBezTo>
                <a:cubicBezTo>
                  <a:pt x="1471" y="173"/>
                  <a:pt x="1495" y="191"/>
                  <a:pt x="1519" y="210"/>
                </a:cubicBezTo>
                <a:cubicBezTo>
                  <a:pt x="1542" y="230"/>
                  <a:pt x="1565" y="250"/>
                  <a:pt x="1586" y="272"/>
                </a:cubicBezTo>
                <a:cubicBezTo>
                  <a:pt x="1608" y="293"/>
                  <a:pt x="1628" y="316"/>
                  <a:pt x="1648" y="339"/>
                </a:cubicBezTo>
                <a:cubicBezTo>
                  <a:pt x="1667" y="363"/>
                  <a:pt x="1685" y="387"/>
                  <a:pt x="1702" y="412"/>
                </a:cubicBezTo>
                <a:cubicBezTo>
                  <a:pt x="1719" y="438"/>
                  <a:pt x="1734" y="464"/>
                  <a:pt x="1749" y="490"/>
                </a:cubicBezTo>
                <a:cubicBezTo>
                  <a:pt x="1763" y="517"/>
                  <a:pt x="1776" y="545"/>
                  <a:pt x="1788" y="573"/>
                </a:cubicBezTo>
                <a:cubicBezTo>
                  <a:pt x="1799" y="601"/>
                  <a:pt x="1810" y="630"/>
                  <a:pt x="1818" y="659"/>
                </a:cubicBezTo>
                <a:cubicBezTo>
                  <a:pt x="1827" y="688"/>
                  <a:pt x="1835" y="717"/>
                  <a:pt x="1841" y="747"/>
                </a:cubicBezTo>
                <a:cubicBezTo>
                  <a:pt x="1846" y="777"/>
                  <a:pt x="1851" y="807"/>
                  <a:pt x="1854" y="837"/>
                </a:cubicBezTo>
                <a:cubicBezTo>
                  <a:pt x="1857" y="867"/>
                  <a:pt x="1858" y="898"/>
                  <a:pt x="1858" y="928"/>
                </a:cubicBezTo>
                <a:close/>
              </a:path>
            </a:pathLst>
          </a:custGeom>
          <a:solidFill>
            <a:srgbClr val="4a90e2">
              <a:alpha val="1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79" name="" descr=""/>
          <p:cNvPicPr/>
          <p:nvPr/>
        </p:nvPicPr>
        <p:blipFill>
          <a:blip r:embed="rId6"/>
          <a:stretch/>
        </p:blipFill>
        <p:spPr>
          <a:xfrm>
            <a:off x="5198040" y="1445760"/>
            <a:ext cx="30060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"/>
          <p:cNvSpPr txBox="1"/>
          <p:nvPr/>
        </p:nvSpPr>
        <p:spPr>
          <a:xfrm>
            <a:off x="762480" y="4663080"/>
            <a:ext cx="1133280" cy="14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50" strike="noStrike" u="none">
                <a:solidFill>
                  <a:srgbClr val="9ca3af"/>
                </a:solidFill>
                <a:effectLst/>
                <a:uFillTx/>
                <a:latin typeface="NotoSansJP"/>
                <a:ea typeface="NotoSansJP"/>
              </a:rPr>
              <a:t>Smith et al. (2006)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1" name="" descr=""/>
          <p:cNvPicPr/>
          <p:nvPr/>
        </p:nvPicPr>
        <p:blipFill>
          <a:blip r:embed="rId7"/>
          <a:stretch/>
        </p:blipFill>
        <p:spPr>
          <a:xfrm>
            <a:off x="4011120" y="2532240"/>
            <a:ext cx="15012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"/>
          <p:cNvSpPr txBox="1"/>
          <p:nvPr/>
        </p:nvSpPr>
        <p:spPr>
          <a:xfrm>
            <a:off x="4345560" y="2128680"/>
            <a:ext cx="2012400" cy="29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580" strike="noStrike" u="none">
                <a:solidFill>
                  <a:srgbClr val="93c5fd"/>
                </a:solidFill>
                <a:effectLst/>
                <a:uFillTx/>
                <a:latin typeface="NotoSansJP"/>
                <a:ea typeface="NotoSansJP"/>
              </a:rPr>
              <a:t>放置と盗難の区別不能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4228560" y="2543040"/>
            <a:ext cx="24145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「放置」の検知に最適化され、</a:t>
            </a:r>
            <a:r>
              <a:rPr b="0" lang="zh-CN" sz="1180" strike="noStrike" u="none">
                <a:solidFill>
                  <a:srgbClr val="fcd34d"/>
                </a:solidFill>
                <a:effectLst/>
                <a:uFillTx/>
                <a:latin typeface="NotoSansJP"/>
                <a:ea typeface="NotoSansJP"/>
              </a:rPr>
              <a:t>「盗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4" name="" descr=""/>
          <p:cNvPicPr/>
          <p:nvPr/>
        </p:nvPicPr>
        <p:blipFill>
          <a:blip r:embed="rId8"/>
          <a:stretch/>
        </p:blipFill>
        <p:spPr>
          <a:xfrm>
            <a:off x="4011120" y="3100320"/>
            <a:ext cx="16668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"/>
          <p:cNvSpPr txBox="1"/>
          <p:nvPr/>
        </p:nvSpPr>
        <p:spPr>
          <a:xfrm>
            <a:off x="4228560" y="2777040"/>
            <a:ext cx="19620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cd34d"/>
                </a:solidFill>
                <a:effectLst/>
                <a:uFillTx/>
                <a:latin typeface="NotoSansJP"/>
                <a:ea typeface="NotoSansJP"/>
              </a:rPr>
              <a:t>難」を区別する能力に欠ける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4245120" y="3111120"/>
            <a:ext cx="22640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荷物移動が「正当な回収」か「盗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7" name="" descr=""/>
          <p:cNvPicPr/>
          <p:nvPr/>
        </p:nvPicPr>
        <p:blipFill>
          <a:blip r:embed="rId9"/>
          <a:stretch/>
        </p:blipFill>
        <p:spPr>
          <a:xfrm>
            <a:off x="4011120" y="3668760"/>
            <a:ext cx="15012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"/>
          <p:cNvSpPr txBox="1"/>
          <p:nvPr/>
        </p:nvSpPr>
        <p:spPr>
          <a:xfrm>
            <a:off x="4245120" y="3345120"/>
            <a:ext cx="22636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難」かを</a:t>
            </a:r>
            <a:r>
              <a:rPr b="0" lang="zh-CN" sz="1180" strike="noStrike" u="none">
                <a:solidFill>
                  <a:srgbClr val="fcd34d"/>
                </a:solidFill>
                <a:effectLst/>
                <a:uFillTx/>
                <a:latin typeface="NotoSansJP"/>
                <a:ea typeface="NotoSansJP"/>
              </a:rPr>
              <a:t>区別するロジックがない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4228560" y="3679560"/>
            <a:ext cx="24148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盗難を単に「放置状態の解消」と誤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4228560" y="3913560"/>
            <a:ext cx="24145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認し、</a:t>
            </a:r>
            <a:r>
              <a:rPr b="0" lang="zh-CN" sz="1180" strike="noStrike" u="none">
                <a:solidFill>
                  <a:srgbClr val="fcd34d"/>
                </a:solidFill>
                <a:effectLst/>
                <a:uFillTx/>
                <a:latin typeface="NotoSansJP"/>
                <a:ea typeface="NotoSansJP"/>
              </a:rPr>
              <a:t>重大なセキュリティ脅威を見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4228560" y="4147560"/>
            <a:ext cx="3024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cd34d"/>
                </a:solidFill>
                <a:effectLst/>
                <a:uFillTx/>
                <a:latin typeface="NotoSansJP"/>
                <a:ea typeface="NotoSansJP"/>
              </a:rPr>
              <a:t>逃す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4038480" y="4496040"/>
            <a:ext cx="26496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50" strike="noStrike" u="none">
                <a:solidFill>
                  <a:srgbClr val="9ca3af"/>
                </a:solidFill>
                <a:effectLst/>
                <a:uFillTx/>
                <a:latin typeface="NotoSansJP"/>
                <a:ea typeface="NotoSansJP"/>
              </a:rPr>
              <a:t>荷物の状態変化と人物の属性を関連付ける視点が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7086240" y="1048680"/>
            <a:ext cx="3075840" cy="3957120"/>
          </a:xfrm>
          <a:custGeom>
            <a:avLst/>
            <a:gdLst/>
            <a:ahLst/>
            <a:rect l="0" t="0" r="r" b="b"/>
            <a:pathLst>
              <a:path w="8544" h="10992">
                <a:moveTo>
                  <a:pt x="0" y="10806"/>
                </a:moveTo>
                <a:lnTo>
                  <a:pt x="0" y="151"/>
                </a:lnTo>
                <a:cubicBezTo>
                  <a:pt x="0" y="141"/>
                  <a:pt x="1" y="131"/>
                  <a:pt x="4" y="121"/>
                </a:cubicBezTo>
                <a:cubicBezTo>
                  <a:pt x="6" y="111"/>
                  <a:pt x="10" y="102"/>
                  <a:pt x="14" y="93"/>
                </a:cubicBezTo>
                <a:cubicBezTo>
                  <a:pt x="19" y="84"/>
                  <a:pt x="25" y="75"/>
                  <a:pt x="31" y="67"/>
                </a:cubicBezTo>
                <a:cubicBezTo>
                  <a:pt x="38" y="59"/>
                  <a:pt x="46" y="51"/>
                  <a:pt x="55" y="44"/>
                </a:cubicBezTo>
                <a:cubicBezTo>
                  <a:pt x="63" y="37"/>
                  <a:pt x="73" y="31"/>
                  <a:pt x="83" y="25"/>
                </a:cubicBezTo>
                <a:cubicBezTo>
                  <a:pt x="93" y="20"/>
                  <a:pt x="104" y="15"/>
                  <a:pt x="115" y="11"/>
                </a:cubicBezTo>
                <a:cubicBezTo>
                  <a:pt x="126" y="7"/>
                  <a:pt x="138" y="5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8358" y="0"/>
                </a:lnTo>
                <a:cubicBezTo>
                  <a:pt x="8370" y="0"/>
                  <a:pt x="8382" y="1"/>
                  <a:pt x="8394" y="3"/>
                </a:cubicBezTo>
                <a:cubicBezTo>
                  <a:pt x="8406" y="5"/>
                  <a:pt x="8418" y="7"/>
                  <a:pt x="8429" y="11"/>
                </a:cubicBezTo>
                <a:cubicBezTo>
                  <a:pt x="8440" y="15"/>
                  <a:pt x="8451" y="20"/>
                  <a:pt x="8461" y="25"/>
                </a:cubicBezTo>
                <a:cubicBezTo>
                  <a:pt x="8471" y="31"/>
                  <a:pt x="8481" y="37"/>
                  <a:pt x="8489" y="44"/>
                </a:cubicBezTo>
                <a:cubicBezTo>
                  <a:pt x="8498" y="51"/>
                  <a:pt x="8505" y="59"/>
                  <a:pt x="8512" y="67"/>
                </a:cubicBezTo>
                <a:cubicBezTo>
                  <a:pt x="8519" y="75"/>
                  <a:pt x="8525" y="84"/>
                  <a:pt x="8529" y="93"/>
                </a:cubicBezTo>
                <a:cubicBezTo>
                  <a:pt x="8534" y="102"/>
                  <a:pt x="8538" y="111"/>
                  <a:pt x="8540" y="121"/>
                </a:cubicBezTo>
                <a:cubicBezTo>
                  <a:pt x="8542" y="131"/>
                  <a:pt x="8544" y="141"/>
                  <a:pt x="8544" y="151"/>
                </a:cubicBezTo>
                <a:lnTo>
                  <a:pt x="8544" y="10806"/>
                </a:lnTo>
                <a:cubicBezTo>
                  <a:pt x="8544" y="10819"/>
                  <a:pt x="8542" y="10831"/>
                  <a:pt x="8540" y="10843"/>
                </a:cubicBezTo>
                <a:cubicBezTo>
                  <a:pt x="8538" y="10855"/>
                  <a:pt x="8534" y="10866"/>
                  <a:pt x="8529" y="10877"/>
                </a:cubicBezTo>
                <a:cubicBezTo>
                  <a:pt x="8525" y="10889"/>
                  <a:pt x="8519" y="10899"/>
                  <a:pt x="8512" y="10910"/>
                </a:cubicBezTo>
                <a:cubicBezTo>
                  <a:pt x="8505" y="10920"/>
                  <a:pt x="8498" y="10929"/>
                  <a:pt x="8489" y="10938"/>
                </a:cubicBezTo>
                <a:cubicBezTo>
                  <a:pt x="8481" y="10946"/>
                  <a:pt x="8471" y="10954"/>
                  <a:pt x="8461" y="10961"/>
                </a:cubicBezTo>
                <a:cubicBezTo>
                  <a:pt x="8451" y="10968"/>
                  <a:pt x="8440" y="10973"/>
                  <a:pt x="8429" y="10978"/>
                </a:cubicBezTo>
                <a:cubicBezTo>
                  <a:pt x="8418" y="10983"/>
                  <a:pt x="8406" y="10986"/>
                  <a:pt x="8394" y="10989"/>
                </a:cubicBezTo>
                <a:cubicBezTo>
                  <a:pt x="8382" y="10991"/>
                  <a:pt x="8370" y="10992"/>
                  <a:pt x="8358" y="10992"/>
                </a:cubicBezTo>
                <a:lnTo>
                  <a:pt x="186" y="10992"/>
                </a:lnTo>
                <a:cubicBezTo>
                  <a:pt x="174" y="10992"/>
                  <a:pt x="162" y="10991"/>
                  <a:pt x="150" y="10989"/>
                </a:cubicBezTo>
                <a:cubicBezTo>
                  <a:pt x="138" y="10986"/>
                  <a:pt x="126" y="10983"/>
                  <a:pt x="115" y="10978"/>
                </a:cubicBezTo>
                <a:cubicBezTo>
                  <a:pt x="104" y="10973"/>
                  <a:pt x="93" y="10968"/>
                  <a:pt x="83" y="10961"/>
                </a:cubicBezTo>
                <a:cubicBezTo>
                  <a:pt x="73" y="10954"/>
                  <a:pt x="63" y="10946"/>
                  <a:pt x="55" y="10938"/>
                </a:cubicBezTo>
                <a:cubicBezTo>
                  <a:pt x="46" y="10929"/>
                  <a:pt x="38" y="10920"/>
                  <a:pt x="31" y="10910"/>
                </a:cubicBezTo>
                <a:cubicBezTo>
                  <a:pt x="25" y="10899"/>
                  <a:pt x="19" y="10889"/>
                  <a:pt x="14" y="10877"/>
                </a:cubicBezTo>
                <a:cubicBezTo>
                  <a:pt x="10" y="10866"/>
                  <a:pt x="6" y="10855"/>
                  <a:pt x="4" y="10843"/>
                </a:cubicBezTo>
                <a:cubicBezTo>
                  <a:pt x="1" y="10831"/>
                  <a:pt x="0" y="10819"/>
                  <a:pt x="0" y="10806"/>
                </a:cubicBezTo>
                <a:close/>
              </a:path>
            </a:pathLst>
          </a:custGeom>
          <a:solidFill>
            <a:srgbClr val="1a2a57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7086240" y="1036080"/>
            <a:ext cx="3075840" cy="67320"/>
          </a:xfrm>
          <a:custGeom>
            <a:avLst/>
            <a:gdLst/>
            <a:ahLst/>
            <a:rect l="0" t="0" r="r" b="b"/>
            <a:pathLst>
              <a:path w="8544" h="187">
                <a:moveTo>
                  <a:pt x="0" y="0"/>
                </a:moveTo>
                <a:lnTo>
                  <a:pt x="8544" y="0"/>
                </a:lnTo>
                <a:lnTo>
                  <a:pt x="8544" y="187"/>
                </a:lnTo>
                <a:lnTo>
                  <a:pt x="0" y="187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8289720" y="1261800"/>
            <a:ext cx="668880" cy="668880"/>
          </a:xfrm>
          <a:custGeom>
            <a:avLst/>
            <a:gdLst/>
            <a:ahLst/>
            <a:rect l="0" t="0" r="r" b="b"/>
            <a:pathLst>
              <a:path w="1858" h="1858">
                <a:moveTo>
                  <a:pt x="1858" y="928"/>
                </a:moveTo>
                <a:cubicBezTo>
                  <a:pt x="1858" y="959"/>
                  <a:pt x="1856" y="989"/>
                  <a:pt x="1853" y="1019"/>
                </a:cubicBezTo>
                <a:cubicBezTo>
                  <a:pt x="1850" y="1049"/>
                  <a:pt x="1846" y="1080"/>
                  <a:pt x="1840" y="1109"/>
                </a:cubicBezTo>
                <a:cubicBezTo>
                  <a:pt x="1834" y="1140"/>
                  <a:pt x="1827" y="1170"/>
                  <a:pt x="1818" y="1199"/>
                </a:cubicBezTo>
                <a:cubicBezTo>
                  <a:pt x="1809" y="1228"/>
                  <a:pt x="1799" y="1256"/>
                  <a:pt x="1787" y="1285"/>
                </a:cubicBezTo>
                <a:cubicBezTo>
                  <a:pt x="1776" y="1313"/>
                  <a:pt x="1763" y="1340"/>
                  <a:pt x="1748" y="1367"/>
                </a:cubicBezTo>
                <a:cubicBezTo>
                  <a:pt x="1734" y="1394"/>
                  <a:pt x="1718" y="1420"/>
                  <a:pt x="1701" y="1445"/>
                </a:cubicBezTo>
                <a:cubicBezTo>
                  <a:pt x="1685" y="1470"/>
                  <a:pt x="1666" y="1495"/>
                  <a:pt x="1647" y="1518"/>
                </a:cubicBezTo>
                <a:cubicBezTo>
                  <a:pt x="1628" y="1542"/>
                  <a:pt x="1607" y="1564"/>
                  <a:pt x="1586" y="1586"/>
                </a:cubicBezTo>
                <a:cubicBezTo>
                  <a:pt x="1564" y="1607"/>
                  <a:pt x="1542" y="1628"/>
                  <a:pt x="1518" y="1647"/>
                </a:cubicBezTo>
                <a:cubicBezTo>
                  <a:pt x="1495" y="1666"/>
                  <a:pt x="1471" y="1684"/>
                  <a:pt x="1445" y="1701"/>
                </a:cubicBezTo>
                <a:cubicBezTo>
                  <a:pt x="1420" y="1718"/>
                  <a:pt x="1394" y="1734"/>
                  <a:pt x="1367" y="1748"/>
                </a:cubicBezTo>
                <a:cubicBezTo>
                  <a:pt x="1340" y="1762"/>
                  <a:pt x="1313" y="1775"/>
                  <a:pt x="1285" y="1787"/>
                </a:cubicBezTo>
                <a:cubicBezTo>
                  <a:pt x="1257" y="1799"/>
                  <a:pt x="1228" y="1809"/>
                  <a:pt x="1199" y="1818"/>
                </a:cubicBezTo>
                <a:cubicBezTo>
                  <a:pt x="1170" y="1827"/>
                  <a:pt x="1140" y="1834"/>
                  <a:pt x="1111" y="1840"/>
                </a:cubicBezTo>
                <a:cubicBezTo>
                  <a:pt x="1081" y="1846"/>
                  <a:pt x="1051" y="1850"/>
                  <a:pt x="1020" y="1853"/>
                </a:cubicBezTo>
                <a:cubicBezTo>
                  <a:pt x="990" y="1856"/>
                  <a:pt x="960" y="1858"/>
                  <a:pt x="929" y="1858"/>
                </a:cubicBezTo>
                <a:cubicBezTo>
                  <a:pt x="899" y="1858"/>
                  <a:pt x="869" y="1856"/>
                  <a:pt x="838" y="1853"/>
                </a:cubicBezTo>
                <a:cubicBezTo>
                  <a:pt x="808" y="1850"/>
                  <a:pt x="778" y="1846"/>
                  <a:pt x="748" y="1840"/>
                </a:cubicBezTo>
                <a:cubicBezTo>
                  <a:pt x="718" y="1834"/>
                  <a:pt x="689" y="1827"/>
                  <a:pt x="660" y="1818"/>
                </a:cubicBezTo>
                <a:cubicBezTo>
                  <a:pt x="631" y="1809"/>
                  <a:pt x="602" y="1799"/>
                  <a:pt x="574" y="1787"/>
                </a:cubicBezTo>
                <a:cubicBezTo>
                  <a:pt x="546" y="1775"/>
                  <a:pt x="518" y="1762"/>
                  <a:pt x="492" y="1748"/>
                </a:cubicBezTo>
                <a:cubicBezTo>
                  <a:pt x="465" y="1734"/>
                  <a:pt x="439" y="1718"/>
                  <a:pt x="414" y="1701"/>
                </a:cubicBezTo>
                <a:cubicBezTo>
                  <a:pt x="388" y="1684"/>
                  <a:pt x="364" y="1666"/>
                  <a:pt x="340" y="1647"/>
                </a:cubicBezTo>
                <a:cubicBezTo>
                  <a:pt x="317" y="1628"/>
                  <a:pt x="294" y="1607"/>
                  <a:pt x="273" y="1586"/>
                </a:cubicBezTo>
                <a:cubicBezTo>
                  <a:pt x="251" y="1564"/>
                  <a:pt x="231" y="1542"/>
                  <a:pt x="212" y="1518"/>
                </a:cubicBezTo>
                <a:cubicBezTo>
                  <a:pt x="192" y="1495"/>
                  <a:pt x="173" y="1470"/>
                  <a:pt x="156" y="1445"/>
                </a:cubicBezTo>
                <a:cubicBezTo>
                  <a:pt x="139" y="1420"/>
                  <a:pt x="124" y="1394"/>
                  <a:pt x="109" y="1367"/>
                </a:cubicBezTo>
                <a:cubicBezTo>
                  <a:pt x="95" y="1340"/>
                  <a:pt x="82" y="1313"/>
                  <a:pt x="71" y="1285"/>
                </a:cubicBezTo>
                <a:cubicBezTo>
                  <a:pt x="59" y="1256"/>
                  <a:pt x="49" y="1228"/>
                  <a:pt x="40" y="1199"/>
                </a:cubicBezTo>
                <a:cubicBezTo>
                  <a:pt x="31" y="1170"/>
                  <a:pt x="24" y="1140"/>
                  <a:pt x="18" y="1109"/>
                </a:cubicBezTo>
                <a:cubicBezTo>
                  <a:pt x="12" y="1080"/>
                  <a:pt x="7" y="1049"/>
                  <a:pt x="4" y="1019"/>
                </a:cubicBezTo>
                <a:cubicBezTo>
                  <a:pt x="1" y="989"/>
                  <a:pt x="0" y="959"/>
                  <a:pt x="0" y="928"/>
                </a:cubicBezTo>
                <a:cubicBezTo>
                  <a:pt x="0" y="898"/>
                  <a:pt x="1" y="867"/>
                  <a:pt x="4" y="837"/>
                </a:cubicBezTo>
                <a:cubicBezTo>
                  <a:pt x="7" y="807"/>
                  <a:pt x="12" y="777"/>
                  <a:pt x="18" y="747"/>
                </a:cubicBezTo>
                <a:cubicBezTo>
                  <a:pt x="24" y="717"/>
                  <a:pt x="31" y="688"/>
                  <a:pt x="40" y="659"/>
                </a:cubicBezTo>
                <a:cubicBezTo>
                  <a:pt x="49" y="630"/>
                  <a:pt x="59" y="601"/>
                  <a:pt x="71" y="573"/>
                </a:cubicBezTo>
                <a:cubicBezTo>
                  <a:pt x="82" y="545"/>
                  <a:pt x="95" y="517"/>
                  <a:pt x="109" y="490"/>
                </a:cubicBezTo>
                <a:cubicBezTo>
                  <a:pt x="124" y="464"/>
                  <a:pt x="139" y="438"/>
                  <a:pt x="156" y="412"/>
                </a:cubicBezTo>
                <a:cubicBezTo>
                  <a:pt x="173" y="387"/>
                  <a:pt x="192" y="363"/>
                  <a:pt x="212" y="339"/>
                </a:cubicBezTo>
                <a:cubicBezTo>
                  <a:pt x="231" y="316"/>
                  <a:pt x="251" y="293"/>
                  <a:pt x="273" y="272"/>
                </a:cubicBezTo>
                <a:cubicBezTo>
                  <a:pt x="294" y="250"/>
                  <a:pt x="317" y="230"/>
                  <a:pt x="340" y="210"/>
                </a:cubicBezTo>
                <a:cubicBezTo>
                  <a:pt x="364" y="191"/>
                  <a:pt x="388" y="173"/>
                  <a:pt x="414" y="156"/>
                </a:cubicBezTo>
                <a:cubicBezTo>
                  <a:pt x="439" y="139"/>
                  <a:pt x="465" y="124"/>
                  <a:pt x="492" y="109"/>
                </a:cubicBezTo>
                <a:cubicBezTo>
                  <a:pt x="518" y="95"/>
                  <a:pt x="546" y="82"/>
                  <a:pt x="574" y="70"/>
                </a:cubicBezTo>
                <a:cubicBezTo>
                  <a:pt x="602" y="59"/>
                  <a:pt x="631" y="48"/>
                  <a:pt x="660" y="40"/>
                </a:cubicBezTo>
                <a:cubicBezTo>
                  <a:pt x="689" y="31"/>
                  <a:pt x="718" y="23"/>
                  <a:pt x="748" y="18"/>
                </a:cubicBezTo>
                <a:cubicBezTo>
                  <a:pt x="778" y="12"/>
                  <a:pt x="808" y="7"/>
                  <a:pt x="838" y="4"/>
                </a:cubicBezTo>
                <a:cubicBezTo>
                  <a:pt x="869" y="1"/>
                  <a:pt x="899" y="0"/>
                  <a:pt x="929" y="0"/>
                </a:cubicBezTo>
                <a:cubicBezTo>
                  <a:pt x="960" y="0"/>
                  <a:pt x="990" y="1"/>
                  <a:pt x="1020" y="4"/>
                </a:cubicBezTo>
                <a:cubicBezTo>
                  <a:pt x="1051" y="7"/>
                  <a:pt x="1081" y="12"/>
                  <a:pt x="1111" y="18"/>
                </a:cubicBezTo>
                <a:cubicBezTo>
                  <a:pt x="1140" y="23"/>
                  <a:pt x="1170" y="31"/>
                  <a:pt x="1199" y="40"/>
                </a:cubicBezTo>
                <a:cubicBezTo>
                  <a:pt x="1228" y="48"/>
                  <a:pt x="1257" y="59"/>
                  <a:pt x="1285" y="70"/>
                </a:cubicBezTo>
                <a:cubicBezTo>
                  <a:pt x="1313" y="82"/>
                  <a:pt x="1340" y="95"/>
                  <a:pt x="1367" y="109"/>
                </a:cubicBezTo>
                <a:cubicBezTo>
                  <a:pt x="1394" y="124"/>
                  <a:pt x="1420" y="139"/>
                  <a:pt x="1445" y="156"/>
                </a:cubicBezTo>
                <a:cubicBezTo>
                  <a:pt x="1471" y="173"/>
                  <a:pt x="1495" y="191"/>
                  <a:pt x="1518" y="210"/>
                </a:cubicBezTo>
                <a:cubicBezTo>
                  <a:pt x="1542" y="230"/>
                  <a:pt x="1564" y="250"/>
                  <a:pt x="1586" y="272"/>
                </a:cubicBezTo>
                <a:cubicBezTo>
                  <a:pt x="1607" y="293"/>
                  <a:pt x="1628" y="316"/>
                  <a:pt x="1647" y="339"/>
                </a:cubicBezTo>
                <a:cubicBezTo>
                  <a:pt x="1666" y="363"/>
                  <a:pt x="1685" y="387"/>
                  <a:pt x="1701" y="412"/>
                </a:cubicBezTo>
                <a:cubicBezTo>
                  <a:pt x="1718" y="438"/>
                  <a:pt x="1734" y="464"/>
                  <a:pt x="1748" y="490"/>
                </a:cubicBezTo>
                <a:cubicBezTo>
                  <a:pt x="1763" y="517"/>
                  <a:pt x="1776" y="545"/>
                  <a:pt x="1787" y="573"/>
                </a:cubicBezTo>
                <a:cubicBezTo>
                  <a:pt x="1799" y="601"/>
                  <a:pt x="1809" y="630"/>
                  <a:pt x="1818" y="659"/>
                </a:cubicBezTo>
                <a:cubicBezTo>
                  <a:pt x="1827" y="688"/>
                  <a:pt x="1834" y="717"/>
                  <a:pt x="1840" y="747"/>
                </a:cubicBezTo>
                <a:cubicBezTo>
                  <a:pt x="1846" y="777"/>
                  <a:pt x="1850" y="807"/>
                  <a:pt x="1853" y="837"/>
                </a:cubicBezTo>
                <a:cubicBezTo>
                  <a:pt x="1856" y="867"/>
                  <a:pt x="1858" y="898"/>
                  <a:pt x="1858" y="928"/>
                </a:cubicBezTo>
                <a:close/>
              </a:path>
            </a:pathLst>
          </a:custGeom>
          <a:solidFill>
            <a:srgbClr val="4a90e2">
              <a:alpha val="1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96" name="" descr=""/>
          <p:cNvPicPr/>
          <p:nvPr/>
        </p:nvPicPr>
        <p:blipFill>
          <a:blip r:embed="rId10"/>
          <a:stretch/>
        </p:blipFill>
        <p:spPr>
          <a:xfrm>
            <a:off x="8440200" y="1445760"/>
            <a:ext cx="37584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"/>
          <p:cNvSpPr txBox="1"/>
          <p:nvPr/>
        </p:nvSpPr>
        <p:spPr>
          <a:xfrm>
            <a:off x="4038480" y="4663080"/>
            <a:ext cx="24156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50" strike="noStrike" u="none">
                <a:solidFill>
                  <a:srgbClr val="9ca3af"/>
                </a:solidFill>
                <a:effectLst/>
                <a:uFillTx/>
                <a:latin typeface="NotoSansJP"/>
                <a:ea typeface="NotoSansJP"/>
              </a:rPr>
              <a:t>欠如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1"/>
          <a:stretch/>
        </p:blipFill>
        <p:spPr>
          <a:xfrm>
            <a:off x="7287120" y="2532240"/>
            <a:ext cx="11664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"/>
          <p:cNvSpPr txBox="1"/>
          <p:nvPr/>
        </p:nvSpPr>
        <p:spPr>
          <a:xfrm>
            <a:off x="7521120" y="2128680"/>
            <a:ext cx="2213640" cy="29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580" strike="noStrike" u="none">
                <a:solidFill>
                  <a:srgbClr val="93c5fd"/>
                </a:solidFill>
                <a:effectLst/>
                <a:uFillTx/>
                <a:latin typeface="NotoSansJP"/>
                <a:ea typeface="NotoSansJP"/>
              </a:rPr>
              <a:t>単純な近接判定の脆弱性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7470720" y="2543040"/>
            <a:ext cx="24148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「荷物との物理的な近さ」のみに基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2"/>
          <a:stretch/>
        </p:blipFill>
        <p:spPr>
          <a:xfrm>
            <a:off x="7287120" y="3100320"/>
            <a:ext cx="15012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"/>
          <p:cNvSpPr txBox="1"/>
          <p:nvPr/>
        </p:nvSpPr>
        <p:spPr>
          <a:xfrm>
            <a:off x="7470720" y="2777040"/>
            <a:ext cx="15094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づく</a:t>
            </a:r>
            <a:r>
              <a:rPr b="0" lang="zh-CN" sz="1180" strike="noStrike" u="none">
                <a:solidFill>
                  <a:srgbClr val="93c5fd"/>
                </a:solidFill>
                <a:effectLst/>
                <a:uFillTx/>
                <a:latin typeface="NotoSansJP"/>
                <a:ea typeface="NotoSansJP"/>
              </a:rPr>
              <a:t>単純な所有者判定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7504200" y="3111120"/>
            <a:ext cx="24148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混雑した環境で</a:t>
            </a:r>
            <a:r>
              <a:rPr b="0" lang="zh-CN" sz="1180" strike="noStrike" u="none">
                <a:solidFill>
                  <a:srgbClr val="93c5fd"/>
                </a:solidFill>
                <a:effectLst/>
                <a:uFillTx/>
                <a:latin typeface="NotoSansJP"/>
                <a:ea typeface="NotoSansJP"/>
              </a:rPr>
              <a:t>無関係な第三者を所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4" name="" descr=""/>
          <p:cNvPicPr/>
          <p:nvPr/>
        </p:nvPicPr>
        <p:blipFill>
          <a:blip r:embed="rId13"/>
          <a:stretch/>
        </p:blipFill>
        <p:spPr>
          <a:xfrm>
            <a:off x="7287120" y="3668760"/>
            <a:ext cx="16668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"/>
          <p:cNvSpPr txBox="1"/>
          <p:nvPr/>
        </p:nvSpPr>
        <p:spPr>
          <a:xfrm>
            <a:off x="7504200" y="3345120"/>
            <a:ext cx="13586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93c5fd"/>
                </a:solidFill>
                <a:effectLst/>
                <a:uFillTx/>
                <a:latin typeface="NotoSansJP"/>
                <a:ea typeface="NotoSansJP"/>
              </a:rPr>
              <a:t>有者と誤認</a:t>
            </a:r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する問題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7521120" y="3679560"/>
            <a:ext cx="22640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複数の人物が荷物の周囲にいる場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7521120" y="3913560"/>
            <a:ext cx="21128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合、</a:t>
            </a:r>
            <a:r>
              <a:rPr b="0" lang="zh-CN" sz="1180" strike="noStrike" u="none">
                <a:solidFill>
                  <a:srgbClr val="93c5fd"/>
                </a:solidFill>
                <a:effectLst/>
                <a:uFillTx/>
                <a:latin typeface="NotoSansJP"/>
                <a:ea typeface="NotoSansJP"/>
              </a:rPr>
              <a:t>距離ベースのルールが破綻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7314120" y="4496040"/>
            <a:ext cx="283896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50" strike="noStrike" u="none">
                <a:solidFill>
                  <a:srgbClr val="9ca3af"/>
                </a:solidFill>
                <a:effectLst/>
                <a:uFillTx/>
                <a:latin typeface="NotoSansJP"/>
                <a:ea typeface="NotoSansJP"/>
              </a:rPr>
              <a:t>PETS 2006</a:t>
            </a:r>
            <a:r>
              <a:rPr b="0" lang="zh-CN" sz="950" strike="noStrike" u="none">
                <a:solidFill>
                  <a:srgbClr val="9ca3af"/>
                </a:solidFill>
                <a:effectLst/>
                <a:uFillTx/>
                <a:latin typeface="NotoSansJP"/>
                <a:ea typeface="NotoSansJP"/>
              </a:rPr>
              <a:t>データセットの複雑なシナリオでも確認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9" name="" descr=""/>
          <p:cNvPicPr/>
          <p:nvPr/>
        </p:nvPicPr>
        <p:blipFill>
          <a:blip r:embed="rId14"/>
          <a:stretch/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" descr=""/>
          <p:cNvPicPr/>
          <p:nvPr/>
        </p:nvPicPr>
        <p:blipFill>
          <a:blip r:embed="rId15"/>
          <a:stretch/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"/>
          <p:cNvSpPr txBox="1"/>
          <p:nvPr/>
        </p:nvSpPr>
        <p:spPr>
          <a:xfrm>
            <a:off x="7314120" y="4663080"/>
            <a:ext cx="6026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50" strike="noStrike" u="none">
                <a:solidFill>
                  <a:srgbClr val="9ca3af"/>
                </a:solidFill>
                <a:effectLst/>
                <a:uFillTx/>
                <a:latin typeface="NotoSansJP"/>
                <a:ea typeface="NotoSansJP"/>
              </a:rPr>
              <a:t>された課題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10153440" y="5717160"/>
            <a:ext cx="387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9ca3af"/>
                </a:solidFill>
                <a:effectLst/>
                <a:uFillTx/>
                <a:latin typeface="NotoSansJP"/>
                <a:ea typeface="NotoSansJP"/>
              </a:rPr>
              <a:t>3 / 12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"/>
          <p:cNvSpPr/>
          <p:nvPr/>
        </p:nvSpPr>
        <p:spPr>
          <a:xfrm>
            <a:off x="534600" y="802080"/>
            <a:ext cx="668880" cy="33840"/>
          </a:xfrm>
          <a:custGeom>
            <a:avLst/>
            <a:gdLst/>
            <a:ahLst/>
            <a:rect l="0" t="0" r="r" b="b"/>
            <a:pathLst>
              <a:path w="1858" h="94">
                <a:moveTo>
                  <a:pt x="0" y="0"/>
                </a:moveTo>
                <a:lnTo>
                  <a:pt x="1858" y="0"/>
                </a:lnTo>
                <a:lnTo>
                  <a:pt x="1858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60a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2139120" y="1036080"/>
            <a:ext cx="6418440" cy="1303920"/>
          </a:xfrm>
          <a:custGeom>
            <a:avLst/>
            <a:gdLst/>
            <a:ahLst/>
            <a:rect l="0" t="0" r="r" b="b"/>
            <a:pathLst>
              <a:path w="17829" h="3622">
                <a:moveTo>
                  <a:pt x="21" y="172"/>
                </a:moveTo>
                <a:cubicBezTo>
                  <a:pt x="35" y="138"/>
                  <a:pt x="56" y="108"/>
                  <a:pt x="82" y="82"/>
                </a:cubicBezTo>
                <a:cubicBezTo>
                  <a:pt x="108" y="55"/>
                  <a:pt x="138" y="35"/>
                  <a:pt x="172" y="21"/>
                </a:cubicBezTo>
                <a:cubicBezTo>
                  <a:pt x="206" y="7"/>
                  <a:pt x="242" y="0"/>
                  <a:pt x="279" y="0"/>
                </a:cubicBezTo>
                <a:lnTo>
                  <a:pt x="17550" y="0"/>
                </a:lnTo>
                <a:cubicBezTo>
                  <a:pt x="17587" y="0"/>
                  <a:pt x="17623" y="7"/>
                  <a:pt x="17657" y="21"/>
                </a:cubicBezTo>
                <a:cubicBezTo>
                  <a:pt x="17691" y="35"/>
                  <a:pt x="17721" y="55"/>
                  <a:pt x="17747" y="82"/>
                </a:cubicBezTo>
                <a:cubicBezTo>
                  <a:pt x="17773" y="108"/>
                  <a:pt x="17793" y="138"/>
                  <a:pt x="17807" y="172"/>
                </a:cubicBezTo>
                <a:cubicBezTo>
                  <a:pt x="17822" y="206"/>
                  <a:pt x="17829" y="242"/>
                  <a:pt x="17829" y="278"/>
                </a:cubicBezTo>
                <a:lnTo>
                  <a:pt x="17829" y="3344"/>
                </a:lnTo>
                <a:cubicBezTo>
                  <a:pt x="17829" y="3381"/>
                  <a:pt x="17822" y="3416"/>
                  <a:pt x="17807" y="3450"/>
                </a:cubicBezTo>
                <a:cubicBezTo>
                  <a:pt x="17793" y="3484"/>
                  <a:pt x="17773" y="3514"/>
                  <a:pt x="17747" y="3541"/>
                </a:cubicBezTo>
                <a:cubicBezTo>
                  <a:pt x="17721" y="3567"/>
                  <a:pt x="17691" y="3587"/>
                  <a:pt x="17657" y="3601"/>
                </a:cubicBezTo>
                <a:cubicBezTo>
                  <a:pt x="17623" y="3615"/>
                  <a:pt x="17587" y="3622"/>
                  <a:pt x="17550" y="3622"/>
                </a:cubicBezTo>
                <a:lnTo>
                  <a:pt x="279" y="3622"/>
                </a:lnTo>
                <a:cubicBezTo>
                  <a:pt x="242" y="3622"/>
                  <a:pt x="206" y="3615"/>
                  <a:pt x="172" y="3601"/>
                </a:cubicBezTo>
                <a:cubicBezTo>
                  <a:pt x="138" y="3587"/>
                  <a:pt x="108" y="3567"/>
                  <a:pt x="82" y="3541"/>
                </a:cubicBezTo>
                <a:cubicBezTo>
                  <a:pt x="56" y="3514"/>
                  <a:pt x="35" y="3484"/>
                  <a:pt x="21" y="3450"/>
                </a:cubicBezTo>
                <a:cubicBezTo>
                  <a:pt x="7" y="3416"/>
                  <a:pt x="0" y="3381"/>
                  <a:pt x="0" y="3344"/>
                </a:cubicBezTo>
                <a:lnTo>
                  <a:pt x="0" y="278"/>
                </a:lnTo>
                <a:cubicBezTo>
                  <a:pt x="0" y="242"/>
                  <a:pt x="7" y="206"/>
                  <a:pt x="21" y="172"/>
                </a:cubicBezTo>
                <a:close/>
              </a:path>
            </a:pathLst>
          </a:custGeom>
          <a:solidFill>
            <a:srgbClr val="4a90e2">
              <a:alpha val="1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2139120" y="1036080"/>
            <a:ext cx="6418440" cy="1303920"/>
          </a:xfrm>
          <a:custGeom>
            <a:avLst/>
            <a:gdLst/>
            <a:ahLst/>
            <a:rect l="0" t="0" r="r" b="b"/>
            <a:pathLst>
              <a:path w="17829" h="3622">
                <a:moveTo>
                  <a:pt x="0" y="3344"/>
                </a:moveTo>
                <a:lnTo>
                  <a:pt x="0" y="278"/>
                </a:lnTo>
                <a:cubicBezTo>
                  <a:pt x="0" y="242"/>
                  <a:pt x="7" y="206"/>
                  <a:pt x="21" y="172"/>
                </a:cubicBezTo>
                <a:cubicBezTo>
                  <a:pt x="35" y="138"/>
                  <a:pt x="56" y="108"/>
                  <a:pt x="82" y="82"/>
                </a:cubicBezTo>
                <a:cubicBezTo>
                  <a:pt x="108" y="55"/>
                  <a:pt x="138" y="35"/>
                  <a:pt x="172" y="21"/>
                </a:cubicBezTo>
                <a:cubicBezTo>
                  <a:pt x="206" y="7"/>
                  <a:pt x="242" y="0"/>
                  <a:pt x="279" y="0"/>
                </a:cubicBezTo>
                <a:lnTo>
                  <a:pt x="17550" y="0"/>
                </a:lnTo>
                <a:cubicBezTo>
                  <a:pt x="17587" y="0"/>
                  <a:pt x="17623" y="7"/>
                  <a:pt x="17657" y="21"/>
                </a:cubicBezTo>
                <a:cubicBezTo>
                  <a:pt x="17691" y="35"/>
                  <a:pt x="17721" y="55"/>
                  <a:pt x="17747" y="82"/>
                </a:cubicBezTo>
                <a:cubicBezTo>
                  <a:pt x="17773" y="108"/>
                  <a:pt x="17793" y="138"/>
                  <a:pt x="17807" y="172"/>
                </a:cubicBezTo>
                <a:cubicBezTo>
                  <a:pt x="17822" y="206"/>
                  <a:pt x="17829" y="242"/>
                  <a:pt x="17829" y="278"/>
                </a:cubicBezTo>
                <a:lnTo>
                  <a:pt x="17829" y="3344"/>
                </a:lnTo>
                <a:cubicBezTo>
                  <a:pt x="17829" y="3381"/>
                  <a:pt x="17822" y="3416"/>
                  <a:pt x="17807" y="3450"/>
                </a:cubicBezTo>
                <a:cubicBezTo>
                  <a:pt x="17793" y="3484"/>
                  <a:pt x="17773" y="3514"/>
                  <a:pt x="17747" y="3541"/>
                </a:cubicBezTo>
                <a:cubicBezTo>
                  <a:pt x="17721" y="3567"/>
                  <a:pt x="17691" y="3587"/>
                  <a:pt x="17657" y="3601"/>
                </a:cubicBezTo>
                <a:cubicBezTo>
                  <a:pt x="17623" y="3615"/>
                  <a:pt x="17587" y="3622"/>
                  <a:pt x="17550" y="3622"/>
                </a:cubicBezTo>
                <a:lnTo>
                  <a:pt x="279" y="3622"/>
                </a:lnTo>
                <a:cubicBezTo>
                  <a:pt x="242" y="3622"/>
                  <a:pt x="206" y="3615"/>
                  <a:pt x="172" y="3601"/>
                </a:cubicBezTo>
                <a:cubicBezTo>
                  <a:pt x="138" y="3587"/>
                  <a:pt x="108" y="3567"/>
                  <a:pt x="82" y="3541"/>
                </a:cubicBezTo>
                <a:cubicBezTo>
                  <a:pt x="56" y="3514"/>
                  <a:pt x="35" y="3484"/>
                  <a:pt x="21" y="3450"/>
                </a:cubicBezTo>
                <a:cubicBezTo>
                  <a:pt x="7" y="3416"/>
                  <a:pt x="0" y="3381"/>
                  <a:pt x="0" y="3344"/>
                </a:cubicBezTo>
                <a:moveTo>
                  <a:pt x="46" y="278"/>
                </a:moveTo>
                <a:lnTo>
                  <a:pt x="46" y="3344"/>
                </a:lnTo>
                <a:cubicBezTo>
                  <a:pt x="46" y="3359"/>
                  <a:pt x="48" y="3374"/>
                  <a:pt x="51" y="3389"/>
                </a:cubicBezTo>
                <a:cubicBezTo>
                  <a:pt x="54" y="3404"/>
                  <a:pt x="58" y="3418"/>
                  <a:pt x="64" y="3432"/>
                </a:cubicBezTo>
                <a:cubicBezTo>
                  <a:pt x="70" y="3447"/>
                  <a:pt x="77" y="3460"/>
                  <a:pt x="86" y="3473"/>
                </a:cubicBezTo>
                <a:cubicBezTo>
                  <a:pt x="94" y="3485"/>
                  <a:pt x="104" y="3497"/>
                  <a:pt x="114" y="3508"/>
                </a:cubicBezTo>
                <a:cubicBezTo>
                  <a:pt x="125" y="3519"/>
                  <a:pt x="137" y="3528"/>
                  <a:pt x="150" y="3537"/>
                </a:cubicBezTo>
                <a:cubicBezTo>
                  <a:pt x="162" y="3545"/>
                  <a:pt x="176" y="3552"/>
                  <a:pt x="190" y="3558"/>
                </a:cubicBezTo>
                <a:cubicBezTo>
                  <a:pt x="204" y="3564"/>
                  <a:pt x="218" y="3568"/>
                  <a:pt x="233" y="3571"/>
                </a:cubicBezTo>
                <a:cubicBezTo>
                  <a:pt x="248" y="3574"/>
                  <a:pt x="263" y="3576"/>
                  <a:pt x="279" y="3576"/>
                </a:cubicBezTo>
                <a:lnTo>
                  <a:pt x="17550" y="3576"/>
                </a:lnTo>
                <a:cubicBezTo>
                  <a:pt x="17565" y="3576"/>
                  <a:pt x="17580" y="3574"/>
                  <a:pt x="17595" y="3571"/>
                </a:cubicBezTo>
                <a:cubicBezTo>
                  <a:pt x="17610" y="3568"/>
                  <a:pt x="17625" y="3564"/>
                  <a:pt x="17639" y="3558"/>
                </a:cubicBezTo>
                <a:cubicBezTo>
                  <a:pt x="17653" y="3552"/>
                  <a:pt x="17666" y="3545"/>
                  <a:pt x="17679" y="3537"/>
                </a:cubicBezTo>
                <a:cubicBezTo>
                  <a:pt x="17692" y="3528"/>
                  <a:pt x="17703" y="3519"/>
                  <a:pt x="17714" y="3508"/>
                </a:cubicBezTo>
                <a:cubicBezTo>
                  <a:pt x="17725" y="3497"/>
                  <a:pt x="17735" y="3485"/>
                  <a:pt x="17743" y="3473"/>
                </a:cubicBezTo>
                <a:cubicBezTo>
                  <a:pt x="17752" y="3460"/>
                  <a:pt x="17759" y="3447"/>
                  <a:pt x="17765" y="3432"/>
                </a:cubicBezTo>
                <a:cubicBezTo>
                  <a:pt x="17770" y="3418"/>
                  <a:pt x="17775" y="3404"/>
                  <a:pt x="17778" y="3389"/>
                </a:cubicBezTo>
                <a:cubicBezTo>
                  <a:pt x="17781" y="3374"/>
                  <a:pt x="17782" y="3359"/>
                  <a:pt x="17782" y="3344"/>
                </a:cubicBezTo>
                <a:lnTo>
                  <a:pt x="17782" y="278"/>
                </a:lnTo>
                <a:cubicBezTo>
                  <a:pt x="17782" y="263"/>
                  <a:pt x="17781" y="248"/>
                  <a:pt x="17778" y="233"/>
                </a:cubicBezTo>
                <a:cubicBezTo>
                  <a:pt x="17775" y="218"/>
                  <a:pt x="17770" y="204"/>
                  <a:pt x="17765" y="190"/>
                </a:cubicBezTo>
                <a:cubicBezTo>
                  <a:pt x="17759" y="176"/>
                  <a:pt x="17752" y="162"/>
                  <a:pt x="17743" y="150"/>
                </a:cubicBezTo>
                <a:cubicBezTo>
                  <a:pt x="17735" y="137"/>
                  <a:pt x="17725" y="125"/>
                  <a:pt x="17714" y="114"/>
                </a:cubicBezTo>
                <a:cubicBezTo>
                  <a:pt x="17703" y="104"/>
                  <a:pt x="17692" y="94"/>
                  <a:pt x="17679" y="85"/>
                </a:cubicBezTo>
                <a:cubicBezTo>
                  <a:pt x="17666" y="77"/>
                  <a:pt x="17653" y="70"/>
                  <a:pt x="17639" y="64"/>
                </a:cubicBezTo>
                <a:cubicBezTo>
                  <a:pt x="17625" y="58"/>
                  <a:pt x="17610" y="54"/>
                  <a:pt x="17595" y="51"/>
                </a:cubicBezTo>
                <a:cubicBezTo>
                  <a:pt x="17580" y="48"/>
                  <a:pt x="17565" y="46"/>
                  <a:pt x="17550" y="46"/>
                </a:cubicBezTo>
                <a:lnTo>
                  <a:pt x="279" y="46"/>
                </a:lnTo>
                <a:cubicBezTo>
                  <a:pt x="263" y="46"/>
                  <a:pt x="248" y="48"/>
                  <a:pt x="233" y="51"/>
                </a:cubicBezTo>
                <a:cubicBezTo>
                  <a:pt x="218" y="54"/>
                  <a:pt x="204" y="58"/>
                  <a:pt x="190" y="64"/>
                </a:cubicBezTo>
                <a:cubicBezTo>
                  <a:pt x="176" y="70"/>
                  <a:pt x="162" y="77"/>
                  <a:pt x="150" y="85"/>
                </a:cubicBezTo>
                <a:cubicBezTo>
                  <a:pt x="137" y="94"/>
                  <a:pt x="125" y="104"/>
                  <a:pt x="114" y="114"/>
                </a:cubicBezTo>
                <a:cubicBezTo>
                  <a:pt x="104" y="125"/>
                  <a:pt x="94" y="137"/>
                  <a:pt x="86" y="150"/>
                </a:cubicBezTo>
                <a:cubicBezTo>
                  <a:pt x="77" y="162"/>
                  <a:pt x="70" y="176"/>
                  <a:pt x="64" y="190"/>
                </a:cubicBezTo>
                <a:cubicBezTo>
                  <a:pt x="58" y="204"/>
                  <a:pt x="54" y="218"/>
                  <a:pt x="51" y="233"/>
                </a:cubicBezTo>
                <a:cubicBezTo>
                  <a:pt x="48" y="248"/>
                  <a:pt x="46" y="263"/>
                  <a:pt x="46" y="278"/>
                </a:cubicBezTo>
                <a:close/>
              </a:path>
            </a:pathLst>
          </a:custGeom>
          <a:solidFill>
            <a:srgbClr val="4a90e2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534960" y="422640"/>
            <a:ext cx="1201680" cy="43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37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研究目的</a:t>
            </a:r>
            <a:endParaRPr b="0" lang="en-US" sz="2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8" name="" descr=""/>
          <p:cNvPicPr/>
          <p:nvPr/>
        </p:nvPicPr>
        <p:blipFill>
          <a:blip r:embed="rId2"/>
          <a:stretch/>
        </p:blipFill>
        <p:spPr>
          <a:xfrm>
            <a:off x="3192120" y="166284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"/>
          <p:cNvSpPr txBox="1"/>
          <p:nvPr/>
        </p:nvSpPr>
        <p:spPr>
          <a:xfrm>
            <a:off x="4947120" y="1284480"/>
            <a:ext cx="805320" cy="29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58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最終目標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0" name="" descr=""/>
          <p:cNvPicPr/>
          <p:nvPr/>
        </p:nvPicPr>
        <p:blipFill>
          <a:blip r:embed="rId3"/>
          <a:stretch/>
        </p:blipFill>
        <p:spPr>
          <a:xfrm>
            <a:off x="4730040" y="166284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"/>
          <p:cNvSpPr txBox="1"/>
          <p:nvPr/>
        </p:nvSpPr>
        <p:spPr>
          <a:xfrm>
            <a:off x="3459600" y="1649880"/>
            <a:ext cx="121176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fcd34d"/>
                </a:solidFill>
                <a:effectLst/>
                <a:uFillTx/>
                <a:latin typeface="NotoSansJP"/>
                <a:ea typeface="NotoSansJP"/>
              </a:rPr>
              <a:t>誤報を削減</a:t>
            </a:r>
            <a:r>
              <a:rPr b="0" lang="zh-CN" sz="132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し、 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4997160" y="1649880"/>
            <a:ext cx="251532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fcd34d"/>
                </a:solidFill>
                <a:effectLst/>
                <a:uFillTx/>
                <a:latin typeface="NotoSansJP"/>
                <a:ea typeface="NotoSansJP"/>
              </a:rPr>
              <a:t>「放置」と「盗難」を区別</a:t>
            </a:r>
            <a:r>
              <a:rPr b="0" lang="zh-CN" sz="132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できる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534600" y="2674080"/>
            <a:ext cx="3033720" cy="1985040"/>
          </a:xfrm>
          <a:custGeom>
            <a:avLst/>
            <a:gdLst/>
            <a:ahLst/>
            <a:rect l="0" t="0" r="r" b="b"/>
            <a:pathLst>
              <a:path w="8427" h="5514">
                <a:moveTo>
                  <a:pt x="0" y="5363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5"/>
                  <a:pt x="73" y="38"/>
                  <a:pt x="83" y="31"/>
                </a:cubicBezTo>
                <a:cubicBezTo>
                  <a:pt x="93" y="24"/>
                  <a:pt x="104" y="18"/>
                  <a:pt x="115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8242" y="0"/>
                </a:lnTo>
                <a:cubicBezTo>
                  <a:pt x="8254" y="0"/>
                  <a:pt x="8266" y="1"/>
                  <a:pt x="8278" y="3"/>
                </a:cubicBezTo>
                <a:cubicBezTo>
                  <a:pt x="8290" y="6"/>
                  <a:pt x="8302" y="9"/>
                  <a:pt x="8313" y="14"/>
                </a:cubicBezTo>
                <a:cubicBezTo>
                  <a:pt x="8324" y="18"/>
                  <a:pt x="8335" y="24"/>
                  <a:pt x="8345" y="31"/>
                </a:cubicBezTo>
                <a:cubicBezTo>
                  <a:pt x="8355" y="38"/>
                  <a:pt x="8364" y="45"/>
                  <a:pt x="8373" y="54"/>
                </a:cubicBezTo>
                <a:cubicBezTo>
                  <a:pt x="8382" y="63"/>
                  <a:pt x="8389" y="72"/>
                  <a:pt x="8396" y="82"/>
                </a:cubicBezTo>
                <a:cubicBezTo>
                  <a:pt x="8403" y="92"/>
                  <a:pt x="8409" y="103"/>
                  <a:pt x="8413" y="114"/>
                </a:cubicBezTo>
                <a:cubicBezTo>
                  <a:pt x="8418" y="126"/>
                  <a:pt x="8422" y="137"/>
                  <a:pt x="8424" y="149"/>
                </a:cubicBezTo>
                <a:cubicBezTo>
                  <a:pt x="8426" y="161"/>
                  <a:pt x="8427" y="173"/>
                  <a:pt x="8427" y="185"/>
                </a:cubicBezTo>
                <a:lnTo>
                  <a:pt x="8427" y="5363"/>
                </a:lnTo>
                <a:cubicBezTo>
                  <a:pt x="8427" y="5373"/>
                  <a:pt x="8426" y="5383"/>
                  <a:pt x="8424" y="5392"/>
                </a:cubicBezTo>
                <a:cubicBezTo>
                  <a:pt x="8422" y="5402"/>
                  <a:pt x="8418" y="5411"/>
                  <a:pt x="8413" y="5421"/>
                </a:cubicBezTo>
                <a:cubicBezTo>
                  <a:pt x="8409" y="5430"/>
                  <a:pt x="8403" y="5438"/>
                  <a:pt x="8396" y="5447"/>
                </a:cubicBezTo>
                <a:cubicBezTo>
                  <a:pt x="8389" y="5455"/>
                  <a:pt x="8382" y="5463"/>
                  <a:pt x="8373" y="5470"/>
                </a:cubicBezTo>
                <a:cubicBezTo>
                  <a:pt x="8364" y="5477"/>
                  <a:pt x="8355" y="5483"/>
                  <a:pt x="8345" y="5488"/>
                </a:cubicBezTo>
                <a:cubicBezTo>
                  <a:pt x="8335" y="5494"/>
                  <a:pt x="8324" y="5499"/>
                  <a:pt x="8313" y="5502"/>
                </a:cubicBezTo>
                <a:cubicBezTo>
                  <a:pt x="8302" y="5506"/>
                  <a:pt x="8290" y="5509"/>
                  <a:pt x="8278" y="5511"/>
                </a:cubicBezTo>
                <a:cubicBezTo>
                  <a:pt x="8266" y="5513"/>
                  <a:pt x="8254" y="5514"/>
                  <a:pt x="8242" y="5514"/>
                </a:cubicBezTo>
                <a:lnTo>
                  <a:pt x="186" y="5514"/>
                </a:lnTo>
                <a:cubicBezTo>
                  <a:pt x="174" y="5514"/>
                  <a:pt x="162" y="5513"/>
                  <a:pt x="150" y="5511"/>
                </a:cubicBezTo>
                <a:cubicBezTo>
                  <a:pt x="138" y="5509"/>
                  <a:pt x="126" y="5506"/>
                  <a:pt x="115" y="5502"/>
                </a:cubicBezTo>
                <a:cubicBezTo>
                  <a:pt x="104" y="5499"/>
                  <a:pt x="93" y="5494"/>
                  <a:pt x="83" y="5488"/>
                </a:cubicBezTo>
                <a:cubicBezTo>
                  <a:pt x="73" y="5483"/>
                  <a:pt x="63" y="5477"/>
                  <a:pt x="55" y="5470"/>
                </a:cubicBezTo>
                <a:cubicBezTo>
                  <a:pt x="46" y="5463"/>
                  <a:pt x="38" y="5455"/>
                  <a:pt x="31" y="5447"/>
                </a:cubicBezTo>
                <a:cubicBezTo>
                  <a:pt x="25" y="5438"/>
                  <a:pt x="19" y="5430"/>
                  <a:pt x="14" y="5421"/>
                </a:cubicBezTo>
                <a:cubicBezTo>
                  <a:pt x="10" y="5411"/>
                  <a:pt x="6" y="5402"/>
                  <a:pt x="4" y="5392"/>
                </a:cubicBezTo>
                <a:cubicBezTo>
                  <a:pt x="1" y="5383"/>
                  <a:pt x="0" y="5373"/>
                  <a:pt x="0" y="5363"/>
                </a:cubicBezTo>
                <a:close/>
              </a:path>
            </a:pathLst>
          </a:custGeom>
          <a:solidFill>
            <a:srgbClr val="1a2a57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534600" y="4604400"/>
            <a:ext cx="3033720" cy="67320"/>
          </a:xfrm>
          <a:custGeom>
            <a:avLst/>
            <a:gdLst/>
            <a:ahLst/>
            <a:rect l="0" t="0" r="r" b="b"/>
            <a:pathLst>
              <a:path w="8427" h="187">
                <a:moveTo>
                  <a:pt x="0" y="0"/>
                </a:moveTo>
                <a:lnTo>
                  <a:pt x="8427" y="0"/>
                </a:lnTo>
                <a:lnTo>
                  <a:pt x="8427" y="187"/>
                </a:lnTo>
                <a:lnTo>
                  <a:pt x="0" y="187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1712880" y="2874600"/>
            <a:ext cx="668880" cy="668880"/>
          </a:xfrm>
          <a:custGeom>
            <a:avLst/>
            <a:gdLst/>
            <a:ahLst/>
            <a:rect l="0" t="0" r="r" b="b"/>
            <a:pathLst>
              <a:path w="1858" h="1858">
                <a:moveTo>
                  <a:pt x="1858" y="929"/>
                </a:moveTo>
                <a:cubicBezTo>
                  <a:pt x="1858" y="960"/>
                  <a:pt x="1857" y="990"/>
                  <a:pt x="1854" y="1020"/>
                </a:cubicBezTo>
                <a:cubicBezTo>
                  <a:pt x="1851" y="1051"/>
                  <a:pt x="1846" y="1081"/>
                  <a:pt x="1840" y="1110"/>
                </a:cubicBezTo>
                <a:cubicBezTo>
                  <a:pt x="1834" y="1140"/>
                  <a:pt x="1827" y="1170"/>
                  <a:pt x="1818" y="1199"/>
                </a:cubicBezTo>
                <a:cubicBezTo>
                  <a:pt x="1809" y="1228"/>
                  <a:pt x="1799" y="1257"/>
                  <a:pt x="1788" y="1285"/>
                </a:cubicBezTo>
                <a:cubicBezTo>
                  <a:pt x="1776" y="1313"/>
                  <a:pt x="1763" y="1340"/>
                  <a:pt x="1749" y="1367"/>
                </a:cubicBezTo>
                <a:cubicBezTo>
                  <a:pt x="1733" y="1394"/>
                  <a:pt x="1718" y="1420"/>
                  <a:pt x="1701" y="1445"/>
                </a:cubicBezTo>
                <a:cubicBezTo>
                  <a:pt x="1684" y="1470"/>
                  <a:pt x="1666" y="1495"/>
                  <a:pt x="1646" y="1518"/>
                </a:cubicBezTo>
                <a:cubicBezTo>
                  <a:pt x="1627" y="1542"/>
                  <a:pt x="1607" y="1564"/>
                  <a:pt x="1585" y="1586"/>
                </a:cubicBezTo>
                <a:cubicBezTo>
                  <a:pt x="1564" y="1607"/>
                  <a:pt x="1541" y="1628"/>
                  <a:pt x="1518" y="1647"/>
                </a:cubicBezTo>
                <a:cubicBezTo>
                  <a:pt x="1494" y="1666"/>
                  <a:pt x="1470" y="1684"/>
                  <a:pt x="1445" y="1701"/>
                </a:cubicBezTo>
                <a:cubicBezTo>
                  <a:pt x="1419" y="1718"/>
                  <a:pt x="1393" y="1734"/>
                  <a:pt x="1366" y="1748"/>
                </a:cubicBezTo>
                <a:cubicBezTo>
                  <a:pt x="1340" y="1763"/>
                  <a:pt x="1312" y="1776"/>
                  <a:pt x="1284" y="1787"/>
                </a:cubicBezTo>
                <a:cubicBezTo>
                  <a:pt x="1256" y="1799"/>
                  <a:pt x="1227" y="1809"/>
                  <a:pt x="1198" y="1818"/>
                </a:cubicBezTo>
                <a:cubicBezTo>
                  <a:pt x="1169" y="1827"/>
                  <a:pt x="1140" y="1834"/>
                  <a:pt x="1110" y="1840"/>
                </a:cubicBezTo>
                <a:cubicBezTo>
                  <a:pt x="1080" y="1846"/>
                  <a:pt x="1050" y="1850"/>
                  <a:pt x="1020" y="1853"/>
                </a:cubicBezTo>
                <a:cubicBezTo>
                  <a:pt x="989" y="1856"/>
                  <a:pt x="959" y="1858"/>
                  <a:pt x="929" y="1858"/>
                </a:cubicBezTo>
                <a:cubicBezTo>
                  <a:pt x="898" y="1858"/>
                  <a:pt x="868" y="1856"/>
                  <a:pt x="838" y="1853"/>
                </a:cubicBezTo>
                <a:cubicBezTo>
                  <a:pt x="807" y="1850"/>
                  <a:pt x="777" y="1846"/>
                  <a:pt x="748" y="1840"/>
                </a:cubicBezTo>
                <a:cubicBezTo>
                  <a:pt x="718" y="1834"/>
                  <a:pt x="688" y="1827"/>
                  <a:pt x="659" y="1818"/>
                </a:cubicBezTo>
                <a:cubicBezTo>
                  <a:pt x="630" y="1809"/>
                  <a:pt x="601" y="1799"/>
                  <a:pt x="573" y="1787"/>
                </a:cubicBezTo>
                <a:cubicBezTo>
                  <a:pt x="545" y="1776"/>
                  <a:pt x="518" y="1763"/>
                  <a:pt x="491" y="1748"/>
                </a:cubicBezTo>
                <a:cubicBezTo>
                  <a:pt x="464" y="1734"/>
                  <a:pt x="438" y="1718"/>
                  <a:pt x="413" y="1701"/>
                </a:cubicBezTo>
                <a:cubicBezTo>
                  <a:pt x="388" y="1684"/>
                  <a:pt x="363" y="1666"/>
                  <a:pt x="340" y="1647"/>
                </a:cubicBezTo>
                <a:cubicBezTo>
                  <a:pt x="316" y="1628"/>
                  <a:pt x="294" y="1607"/>
                  <a:pt x="272" y="1586"/>
                </a:cubicBezTo>
                <a:cubicBezTo>
                  <a:pt x="251" y="1564"/>
                  <a:pt x="230" y="1542"/>
                  <a:pt x="211" y="1518"/>
                </a:cubicBezTo>
                <a:cubicBezTo>
                  <a:pt x="192" y="1495"/>
                  <a:pt x="174" y="1470"/>
                  <a:pt x="157" y="1445"/>
                </a:cubicBezTo>
                <a:cubicBezTo>
                  <a:pt x="140" y="1420"/>
                  <a:pt x="124" y="1394"/>
                  <a:pt x="110" y="1367"/>
                </a:cubicBezTo>
                <a:cubicBezTo>
                  <a:pt x="95" y="1340"/>
                  <a:pt x="82" y="1313"/>
                  <a:pt x="71" y="1285"/>
                </a:cubicBezTo>
                <a:cubicBezTo>
                  <a:pt x="59" y="1257"/>
                  <a:pt x="49" y="1228"/>
                  <a:pt x="40" y="1199"/>
                </a:cubicBezTo>
                <a:cubicBezTo>
                  <a:pt x="31" y="1170"/>
                  <a:pt x="24" y="1140"/>
                  <a:pt x="18" y="1110"/>
                </a:cubicBezTo>
                <a:cubicBezTo>
                  <a:pt x="12" y="1081"/>
                  <a:pt x="8" y="1051"/>
                  <a:pt x="5" y="1020"/>
                </a:cubicBezTo>
                <a:cubicBezTo>
                  <a:pt x="2" y="990"/>
                  <a:pt x="0" y="960"/>
                  <a:pt x="0" y="929"/>
                </a:cubicBezTo>
                <a:cubicBezTo>
                  <a:pt x="0" y="899"/>
                  <a:pt x="2" y="869"/>
                  <a:pt x="5" y="838"/>
                </a:cubicBezTo>
                <a:cubicBezTo>
                  <a:pt x="8" y="808"/>
                  <a:pt x="12" y="778"/>
                  <a:pt x="18" y="748"/>
                </a:cubicBezTo>
                <a:cubicBezTo>
                  <a:pt x="24" y="718"/>
                  <a:pt x="31" y="689"/>
                  <a:pt x="40" y="660"/>
                </a:cubicBezTo>
                <a:cubicBezTo>
                  <a:pt x="49" y="631"/>
                  <a:pt x="59" y="602"/>
                  <a:pt x="71" y="574"/>
                </a:cubicBezTo>
                <a:cubicBezTo>
                  <a:pt x="82" y="546"/>
                  <a:pt x="95" y="518"/>
                  <a:pt x="110" y="492"/>
                </a:cubicBezTo>
                <a:cubicBezTo>
                  <a:pt x="124" y="465"/>
                  <a:pt x="140" y="439"/>
                  <a:pt x="157" y="413"/>
                </a:cubicBezTo>
                <a:cubicBezTo>
                  <a:pt x="174" y="388"/>
                  <a:pt x="192" y="363"/>
                  <a:pt x="211" y="339"/>
                </a:cubicBezTo>
                <a:cubicBezTo>
                  <a:pt x="230" y="316"/>
                  <a:pt x="251" y="293"/>
                  <a:pt x="272" y="272"/>
                </a:cubicBezTo>
                <a:cubicBezTo>
                  <a:pt x="294" y="250"/>
                  <a:pt x="316" y="230"/>
                  <a:pt x="340" y="211"/>
                </a:cubicBezTo>
                <a:cubicBezTo>
                  <a:pt x="363" y="191"/>
                  <a:pt x="388" y="173"/>
                  <a:pt x="413" y="156"/>
                </a:cubicBezTo>
                <a:cubicBezTo>
                  <a:pt x="438" y="139"/>
                  <a:pt x="464" y="124"/>
                  <a:pt x="491" y="109"/>
                </a:cubicBezTo>
                <a:cubicBezTo>
                  <a:pt x="518" y="95"/>
                  <a:pt x="545" y="82"/>
                  <a:pt x="573" y="70"/>
                </a:cubicBezTo>
                <a:cubicBezTo>
                  <a:pt x="601" y="59"/>
                  <a:pt x="630" y="49"/>
                  <a:pt x="659" y="40"/>
                </a:cubicBezTo>
                <a:cubicBezTo>
                  <a:pt x="688" y="31"/>
                  <a:pt x="718" y="24"/>
                  <a:pt x="748" y="18"/>
                </a:cubicBezTo>
                <a:cubicBezTo>
                  <a:pt x="777" y="12"/>
                  <a:pt x="807" y="7"/>
                  <a:pt x="838" y="4"/>
                </a:cubicBezTo>
                <a:cubicBezTo>
                  <a:pt x="868" y="1"/>
                  <a:pt x="898" y="0"/>
                  <a:pt x="929" y="0"/>
                </a:cubicBezTo>
                <a:cubicBezTo>
                  <a:pt x="959" y="0"/>
                  <a:pt x="989" y="1"/>
                  <a:pt x="1020" y="4"/>
                </a:cubicBezTo>
                <a:cubicBezTo>
                  <a:pt x="1050" y="7"/>
                  <a:pt x="1080" y="12"/>
                  <a:pt x="1110" y="18"/>
                </a:cubicBezTo>
                <a:cubicBezTo>
                  <a:pt x="1140" y="24"/>
                  <a:pt x="1169" y="31"/>
                  <a:pt x="1198" y="40"/>
                </a:cubicBezTo>
                <a:cubicBezTo>
                  <a:pt x="1227" y="49"/>
                  <a:pt x="1256" y="59"/>
                  <a:pt x="1284" y="70"/>
                </a:cubicBezTo>
                <a:cubicBezTo>
                  <a:pt x="1312" y="82"/>
                  <a:pt x="1340" y="95"/>
                  <a:pt x="1366" y="109"/>
                </a:cubicBezTo>
                <a:cubicBezTo>
                  <a:pt x="1393" y="124"/>
                  <a:pt x="1419" y="139"/>
                  <a:pt x="1445" y="156"/>
                </a:cubicBezTo>
                <a:cubicBezTo>
                  <a:pt x="1470" y="173"/>
                  <a:pt x="1494" y="191"/>
                  <a:pt x="1518" y="211"/>
                </a:cubicBezTo>
                <a:cubicBezTo>
                  <a:pt x="1541" y="230"/>
                  <a:pt x="1564" y="250"/>
                  <a:pt x="1585" y="272"/>
                </a:cubicBezTo>
                <a:cubicBezTo>
                  <a:pt x="1607" y="293"/>
                  <a:pt x="1627" y="316"/>
                  <a:pt x="1646" y="339"/>
                </a:cubicBezTo>
                <a:cubicBezTo>
                  <a:pt x="1666" y="363"/>
                  <a:pt x="1684" y="388"/>
                  <a:pt x="1701" y="413"/>
                </a:cubicBezTo>
                <a:cubicBezTo>
                  <a:pt x="1718" y="439"/>
                  <a:pt x="1733" y="465"/>
                  <a:pt x="1749" y="492"/>
                </a:cubicBezTo>
                <a:cubicBezTo>
                  <a:pt x="1763" y="518"/>
                  <a:pt x="1776" y="546"/>
                  <a:pt x="1788" y="574"/>
                </a:cubicBezTo>
                <a:cubicBezTo>
                  <a:pt x="1799" y="602"/>
                  <a:pt x="1809" y="631"/>
                  <a:pt x="1818" y="660"/>
                </a:cubicBezTo>
                <a:cubicBezTo>
                  <a:pt x="1827" y="689"/>
                  <a:pt x="1834" y="718"/>
                  <a:pt x="1840" y="748"/>
                </a:cubicBezTo>
                <a:cubicBezTo>
                  <a:pt x="1846" y="778"/>
                  <a:pt x="1851" y="808"/>
                  <a:pt x="1854" y="838"/>
                </a:cubicBezTo>
                <a:cubicBezTo>
                  <a:pt x="1857" y="869"/>
                  <a:pt x="1858" y="899"/>
                  <a:pt x="1858" y="929"/>
                </a:cubicBezTo>
                <a:close/>
              </a:path>
            </a:pathLst>
          </a:custGeom>
          <a:solidFill>
            <a:srgbClr val="4a90e2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4"/>
          <a:stretch/>
        </p:blipFill>
        <p:spPr>
          <a:xfrm>
            <a:off x="1863720" y="3058560"/>
            <a:ext cx="37584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"/>
          <p:cNvSpPr txBox="1"/>
          <p:nvPr/>
        </p:nvSpPr>
        <p:spPr>
          <a:xfrm>
            <a:off x="3597480" y="1917360"/>
            <a:ext cx="352116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93c5fd"/>
                </a:solidFill>
                <a:effectLst/>
                <a:uFillTx/>
                <a:latin typeface="NotoSansJP"/>
                <a:ea typeface="NotoSansJP"/>
              </a:rPr>
              <a:t>頑健で高精度な放置手荷物検知システム</a:t>
            </a:r>
            <a:r>
              <a:rPr b="0" lang="zh-CN" sz="132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の構築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1214640" y="3705840"/>
            <a:ext cx="167724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人物再識別技術の導入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917640" y="4079160"/>
            <a:ext cx="22806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所有者が一時的にカメラから外れても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3835440" y="2674080"/>
            <a:ext cx="3025440" cy="1985040"/>
          </a:xfrm>
          <a:custGeom>
            <a:avLst/>
            <a:gdLst/>
            <a:ahLst/>
            <a:rect l="0" t="0" r="r" b="b"/>
            <a:pathLst>
              <a:path w="8404" h="5514">
                <a:moveTo>
                  <a:pt x="0" y="5363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5"/>
                  <a:pt x="73" y="38"/>
                  <a:pt x="83" y="31"/>
                </a:cubicBezTo>
                <a:cubicBezTo>
                  <a:pt x="93" y="24"/>
                  <a:pt x="104" y="18"/>
                  <a:pt x="115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8219" y="0"/>
                </a:lnTo>
                <a:cubicBezTo>
                  <a:pt x="8231" y="0"/>
                  <a:pt x="8243" y="1"/>
                  <a:pt x="8255" y="3"/>
                </a:cubicBezTo>
                <a:cubicBezTo>
                  <a:pt x="8267" y="6"/>
                  <a:pt x="8279" y="9"/>
                  <a:pt x="8290" y="14"/>
                </a:cubicBezTo>
                <a:cubicBezTo>
                  <a:pt x="8301" y="18"/>
                  <a:pt x="8312" y="24"/>
                  <a:pt x="8322" y="31"/>
                </a:cubicBezTo>
                <a:cubicBezTo>
                  <a:pt x="8332" y="38"/>
                  <a:pt x="8341" y="45"/>
                  <a:pt x="8350" y="54"/>
                </a:cubicBezTo>
                <a:cubicBezTo>
                  <a:pt x="8359" y="63"/>
                  <a:pt x="8366" y="72"/>
                  <a:pt x="8373" y="82"/>
                </a:cubicBezTo>
                <a:cubicBezTo>
                  <a:pt x="8380" y="92"/>
                  <a:pt x="8386" y="103"/>
                  <a:pt x="8390" y="114"/>
                </a:cubicBezTo>
                <a:cubicBezTo>
                  <a:pt x="8395" y="126"/>
                  <a:pt x="8398" y="137"/>
                  <a:pt x="8401" y="149"/>
                </a:cubicBezTo>
                <a:cubicBezTo>
                  <a:pt x="8403" y="161"/>
                  <a:pt x="8404" y="173"/>
                  <a:pt x="8404" y="185"/>
                </a:cubicBezTo>
                <a:lnTo>
                  <a:pt x="8404" y="5363"/>
                </a:lnTo>
                <a:cubicBezTo>
                  <a:pt x="8404" y="5373"/>
                  <a:pt x="8403" y="5383"/>
                  <a:pt x="8401" y="5392"/>
                </a:cubicBezTo>
                <a:cubicBezTo>
                  <a:pt x="8398" y="5402"/>
                  <a:pt x="8395" y="5411"/>
                  <a:pt x="8390" y="5421"/>
                </a:cubicBezTo>
                <a:cubicBezTo>
                  <a:pt x="8386" y="5430"/>
                  <a:pt x="8380" y="5438"/>
                  <a:pt x="8373" y="5447"/>
                </a:cubicBezTo>
                <a:cubicBezTo>
                  <a:pt x="8366" y="5455"/>
                  <a:pt x="8359" y="5463"/>
                  <a:pt x="8350" y="5470"/>
                </a:cubicBezTo>
                <a:cubicBezTo>
                  <a:pt x="8341" y="5477"/>
                  <a:pt x="8332" y="5483"/>
                  <a:pt x="8322" y="5488"/>
                </a:cubicBezTo>
                <a:cubicBezTo>
                  <a:pt x="8312" y="5494"/>
                  <a:pt x="8301" y="5499"/>
                  <a:pt x="8290" y="5502"/>
                </a:cubicBezTo>
                <a:cubicBezTo>
                  <a:pt x="8279" y="5506"/>
                  <a:pt x="8267" y="5509"/>
                  <a:pt x="8255" y="5511"/>
                </a:cubicBezTo>
                <a:cubicBezTo>
                  <a:pt x="8243" y="5513"/>
                  <a:pt x="8231" y="5514"/>
                  <a:pt x="8219" y="5514"/>
                </a:cubicBezTo>
                <a:lnTo>
                  <a:pt x="186" y="5514"/>
                </a:lnTo>
                <a:cubicBezTo>
                  <a:pt x="174" y="5514"/>
                  <a:pt x="162" y="5513"/>
                  <a:pt x="150" y="5511"/>
                </a:cubicBezTo>
                <a:cubicBezTo>
                  <a:pt x="138" y="5509"/>
                  <a:pt x="126" y="5506"/>
                  <a:pt x="115" y="5502"/>
                </a:cubicBezTo>
                <a:cubicBezTo>
                  <a:pt x="104" y="5499"/>
                  <a:pt x="93" y="5494"/>
                  <a:pt x="83" y="5488"/>
                </a:cubicBezTo>
                <a:cubicBezTo>
                  <a:pt x="73" y="5483"/>
                  <a:pt x="63" y="5477"/>
                  <a:pt x="55" y="5470"/>
                </a:cubicBezTo>
                <a:cubicBezTo>
                  <a:pt x="46" y="5463"/>
                  <a:pt x="38" y="5455"/>
                  <a:pt x="32" y="5447"/>
                </a:cubicBezTo>
                <a:cubicBezTo>
                  <a:pt x="25" y="5438"/>
                  <a:pt x="19" y="5430"/>
                  <a:pt x="14" y="5421"/>
                </a:cubicBezTo>
                <a:cubicBezTo>
                  <a:pt x="10" y="5411"/>
                  <a:pt x="6" y="5402"/>
                  <a:pt x="4" y="5392"/>
                </a:cubicBezTo>
                <a:cubicBezTo>
                  <a:pt x="1" y="5383"/>
                  <a:pt x="0" y="5373"/>
                  <a:pt x="0" y="5363"/>
                </a:cubicBezTo>
                <a:close/>
              </a:path>
            </a:pathLst>
          </a:custGeom>
          <a:solidFill>
            <a:srgbClr val="1a2a57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3835440" y="4604400"/>
            <a:ext cx="3025440" cy="67320"/>
          </a:xfrm>
          <a:custGeom>
            <a:avLst/>
            <a:gdLst/>
            <a:ahLst/>
            <a:rect l="0" t="0" r="r" b="b"/>
            <a:pathLst>
              <a:path w="8404" h="187">
                <a:moveTo>
                  <a:pt x="0" y="0"/>
                </a:moveTo>
                <a:lnTo>
                  <a:pt x="8404" y="0"/>
                </a:lnTo>
                <a:lnTo>
                  <a:pt x="8404" y="187"/>
                </a:lnTo>
                <a:lnTo>
                  <a:pt x="0" y="187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5013720" y="2874600"/>
            <a:ext cx="668880" cy="668880"/>
          </a:xfrm>
          <a:custGeom>
            <a:avLst/>
            <a:gdLst/>
            <a:ahLst/>
            <a:rect l="0" t="0" r="r" b="b"/>
            <a:pathLst>
              <a:path w="1858" h="1858">
                <a:moveTo>
                  <a:pt x="1858" y="929"/>
                </a:moveTo>
                <a:cubicBezTo>
                  <a:pt x="1858" y="960"/>
                  <a:pt x="1857" y="990"/>
                  <a:pt x="1854" y="1020"/>
                </a:cubicBezTo>
                <a:cubicBezTo>
                  <a:pt x="1851" y="1051"/>
                  <a:pt x="1846" y="1081"/>
                  <a:pt x="1841" y="1110"/>
                </a:cubicBezTo>
                <a:cubicBezTo>
                  <a:pt x="1835" y="1140"/>
                  <a:pt x="1827" y="1170"/>
                  <a:pt x="1818" y="1199"/>
                </a:cubicBezTo>
                <a:cubicBezTo>
                  <a:pt x="1810" y="1228"/>
                  <a:pt x="1799" y="1257"/>
                  <a:pt x="1788" y="1285"/>
                </a:cubicBezTo>
                <a:cubicBezTo>
                  <a:pt x="1776" y="1313"/>
                  <a:pt x="1763" y="1340"/>
                  <a:pt x="1749" y="1367"/>
                </a:cubicBezTo>
                <a:cubicBezTo>
                  <a:pt x="1734" y="1394"/>
                  <a:pt x="1719" y="1420"/>
                  <a:pt x="1702" y="1445"/>
                </a:cubicBezTo>
                <a:cubicBezTo>
                  <a:pt x="1685" y="1470"/>
                  <a:pt x="1667" y="1495"/>
                  <a:pt x="1648" y="1518"/>
                </a:cubicBezTo>
                <a:cubicBezTo>
                  <a:pt x="1628" y="1542"/>
                  <a:pt x="1608" y="1564"/>
                  <a:pt x="1586" y="1586"/>
                </a:cubicBezTo>
                <a:cubicBezTo>
                  <a:pt x="1565" y="1607"/>
                  <a:pt x="1542" y="1628"/>
                  <a:pt x="1519" y="1647"/>
                </a:cubicBezTo>
                <a:cubicBezTo>
                  <a:pt x="1495" y="1666"/>
                  <a:pt x="1471" y="1684"/>
                  <a:pt x="1446" y="1701"/>
                </a:cubicBezTo>
                <a:cubicBezTo>
                  <a:pt x="1420" y="1718"/>
                  <a:pt x="1394" y="1734"/>
                  <a:pt x="1368" y="1748"/>
                </a:cubicBezTo>
                <a:cubicBezTo>
                  <a:pt x="1341" y="1763"/>
                  <a:pt x="1313" y="1776"/>
                  <a:pt x="1285" y="1787"/>
                </a:cubicBezTo>
                <a:cubicBezTo>
                  <a:pt x="1257" y="1799"/>
                  <a:pt x="1228" y="1809"/>
                  <a:pt x="1199" y="1818"/>
                </a:cubicBezTo>
                <a:cubicBezTo>
                  <a:pt x="1170" y="1827"/>
                  <a:pt x="1141" y="1834"/>
                  <a:pt x="1111" y="1840"/>
                </a:cubicBezTo>
                <a:cubicBezTo>
                  <a:pt x="1081" y="1846"/>
                  <a:pt x="1051" y="1850"/>
                  <a:pt x="1021" y="1853"/>
                </a:cubicBezTo>
                <a:cubicBezTo>
                  <a:pt x="991" y="1856"/>
                  <a:pt x="960" y="1858"/>
                  <a:pt x="930" y="1858"/>
                </a:cubicBezTo>
                <a:cubicBezTo>
                  <a:pt x="899" y="1858"/>
                  <a:pt x="869" y="1856"/>
                  <a:pt x="839" y="1853"/>
                </a:cubicBezTo>
                <a:cubicBezTo>
                  <a:pt x="809" y="1850"/>
                  <a:pt x="779" y="1846"/>
                  <a:pt x="749" y="1840"/>
                </a:cubicBezTo>
                <a:cubicBezTo>
                  <a:pt x="719" y="1834"/>
                  <a:pt x="689" y="1827"/>
                  <a:pt x="660" y="1818"/>
                </a:cubicBezTo>
                <a:cubicBezTo>
                  <a:pt x="631" y="1809"/>
                  <a:pt x="603" y="1799"/>
                  <a:pt x="575" y="1787"/>
                </a:cubicBezTo>
                <a:cubicBezTo>
                  <a:pt x="546" y="1776"/>
                  <a:pt x="519" y="1763"/>
                  <a:pt x="492" y="1748"/>
                </a:cubicBezTo>
                <a:cubicBezTo>
                  <a:pt x="465" y="1734"/>
                  <a:pt x="439" y="1718"/>
                  <a:pt x="414" y="1701"/>
                </a:cubicBezTo>
                <a:cubicBezTo>
                  <a:pt x="389" y="1684"/>
                  <a:pt x="364" y="1666"/>
                  <a:pt x="341" y="1647"/>
                </a:cubicBezTo>
                <a:cubicBezTo>
                  <a:pt x="317" y="1628"/>
                  <a:pt x="295" y="1607"/>
                  <a:pt x="273" y="1586"/>
                </a:cubicBezTo>
                <a:cubicBezTo>
                  <a:pt x="252" y="1564"/>
                  <a:pt x="231" y="1542"/>
                  <a:pt x="212" y="1518"/>
                </a:cubicBezTo>
                <a:cubicBezTo>
                  <a:pt x="193" y="1495"/>
                  <a:pt x="175" y="1470"/>
                  <a:pt x="158" y="1445"/>
                </a:cubicBezTo>
                <a:cubicBezTo>
                  <a:pt x="141" y="1420"/>
                  <a:pt x="125" y="1394"/>
                  <a:pt x="111" y="1367"/>
                </a:cubicBezTo>
                <a:cubicBezTo>
                  <a:pt x="97" y="1340"/>
                  <a:pt x="84" y="1313"/>
                  <a:pt x="72" y="1285"/>
                </a:cubicBezTo>
                <a:cubicBezTo>
                  <a:pt x="60" y="1257"/>
                  <a:pt x="50" y="1228"/>
                  <a:pt x="41" y="1199"/>
                </a:cubicBezTo>
                <a:cubicBezTo>
                  <a:pt x="32" y="1170"/>
                  <a:pt x="25" y="1140"/>
                  <a:pt x="19" y="1110"/>
                </a:cubicBezTo>
                <a:cubicBezTo>
                  <a:pt x="13" y="1081"/>
                  <a:pt x="9" y="1051"/>
                  <a:pt x="6" y="1020"/>
                </a:cubicBezTo>
                <a:cubicBezTo>
                  <a:pt x="3" y="990"/>
                  <a:pt x="0" y="960"/>
                  <a:pt x="0" y="929"/>
                </a:cubicBezTo>
                <a:cubicBezTo>
                  <a:pt x="0" y="899"/>
                  <a:pt x="3" y="869"/>
                  <a:pt x="6" y="838"/>
                </a:cubicBezTo>
                <a:cubicBezTo>
                  <a:pt x="9" y="808"/>
                  <a:pt x="13" y="778"/>
                  <a:pt x="19" y="748"/>
                </a:cubicBezTo>
                <a:cubicBezTo>
                  <a:pt x="25" y="718"/>
                  <a:pt x="32" y="689"/>
                  <a:pt x="41" y="660"/>
                </a:cubicBezTo>
                <a:cubicBezTo>
                  <a:pt x="50" y="631"/>
                  <a:pt x="60" y="602"/>
                  <a:pt x="72" y="574"/>
                </a:cubicBezTo>
                <a:cubicBezTo>
                  <a:pt x="84" y="546"/>
                  <a:pt x="97" y="518"/>
                  <a:pt x="111" y="492"/>
                </a:cubicBezTo>
                <a:cubicBezTo>
                  <a:pt x="125" y="465"/>
                  <a:pt x="141" y="439"/>
                  <a:pt x="158" y="413"/>
                </a:cubicBezTo>
                <a:cubicBezTo>
                  <a:pt x="175" y="388"/>
                  <a:pt x="193" y="363"/>
                  <a:pt x="212" y="339"/>
                </a:cubicBezTo>
                <a:cubicBezTo>
                  <a:pt x="231" y="316"/>
                  <a:pt x="252" y="293"/>
                  <a:pt x="273" y="272"/>
                </a:cubicBezTo>
                <a:cubicBezTo>
                  <a:pt x="295" y="250"/>
                  <a:pt x="317" y="230"/>
                  <a:pt x="341" y="211"/>
                </a:cubicBezTo>
                <a:cubicBezTo>
                  <a:pt x="364" y="191"/>
                  <a:pt x="389" y="173"/>
                  <a:pt x="414" y="156"/>
                </a:cubicBezTo>
                <a:cubicBezTo>
                  <a:pt x="439" y="139"/>
                  <a:pt x="465" y="124"/>
                  <a:pt x="492" y="109"/>
                </a:cubicBezTo>
                <a:cubicBezTo>
                  <a:pt x="519" y="95"/>
                  <a:pt x="546" y="82"/>
                  <a:pt x="575" y="70"/>
                </a:cubicBezTo>
                <a:cubicBezTo>
                  <a:pt x="603" y="59"/>
                  <a:pt x="631" y="49"/>
                  <a:pt x="660" y="40"/>
                </a:cubicBezTo>
                <a:cubicBezTo>
                  <a:pt x="689" y="31"/>
                  <a:pt x="719" y="24"/>
                  <a:pt x="749" y="18"/>
                </a:cubicBezTo>
                <a:cubicBezTo>
                  <a:pt x="779" y="12"/>
                  <a:pt x="809" y="7"/>
                  <a:pt x="839" y="4"/>
                </a:cubicBezTo>
                <a:cubicBezTo>
                  <a:pt x="869" y="1"/>
                  <a:pt x="899" y="0"/>
                  <a:pt x="930" y="0"/>
                </a:cubicBezTo>
                <a:cubicBezTo>
                  <a:pt x="960" y="0"/>
                  <a:pt x="991" y="1"/>
                  <a:pt x="1021" y="4"/>
                </a:cubicBezTo>
                <a:cubicBezTo>
                  <a:pt x="1051" y="7"/>
                  <a:pt x="1081" y="12"/>
                  <a:pt x="1111" y="18"/>
                </a:cubicBezTo>
                <a:cubicBezTo>
                  <a:pt x="1141" y="24"/>
                  <a:pt x="1170" y="31"/>
                  <a:pt x="1199" y="40"/>
                </a:cubicBezTo>
                <a:cubicBezTo>
                  <a:pt x="1228" y="49"/>
                  <a:pt x="1257" y="59"/>
                  <a:pt x="1285" y="70"/>
                </a:cubicBezTo>
                <a:cubicBezTo>
                  <a:pt x="1313" y="82"/>
                  <a:pt x="1341" y="95"/>
                  <a:pt x="1368" y="109"/>
                </a:cubicBezTo>
                <a:cubicBezTo>
                  <a:pt x="1394" y="124"/>
                  <a:pt x="1420" y="139"/>
                  <a:pt x="1446" y="156"/>
                </a:cubicBezTo>
                <a:cubicBezTo>
                  <a:pt x="1471" y="173"/>
                  <a:pt x="1495" y="191"/>
                  <a:pt x="1519" y="211"/>
                </a:cubicBezTo>
                <a:cubicBezTo>
                  <a:pt x="1542" y="230"/>
                  <a:pt x="1565" y="250"/>
                  <a:pt x="1586" y="272"/>
                </a:cubicBezTo>
                <a:cubicBezTo>
                  <a:pt x="1608" y="293"/>
                  <a:pt x="1628" y="316"/>
                  <a:pt x="1648" y="339"/>
                </a:cubicBezTo>
                <a:cubicBezTo>
                  <a:pt x="1667" y="363"/>
                  <a:pt x="1685" y="388"/>
                  <a:pt x="1702" y="413"/>
                </a:cubicBezTo>
                <a:cubicBezTo>
                  <a:pt x="1719" y="439"/>
                  <a:pt x="1734" y="465"/>
                  <a:pt x="1749" y="492"/>
                </a:cubicBezTo>
                <a:cubicBezTo>
                  <a:pt x="1763" y="518"/>
                  <a:pt x="1776" y="546"/>
                  <a:pt x="1788" y="574"/>
                </a:cubicBezTo>
                <a:cubicBezTo>
                  <a:pt x="1799" y="602"/>
                  <a:pt x="1810" y="631"/>
                  <a:pt x="1818" y="660"/>
                </a:cubicBezTo>
                <a:cubicBezTo>
                  <a:pt x="1827" y="689"/>
                  <a:pt x="1835" y="718"/>
                  <a:pt x="1841" y="748"/>
                </a:cubicBezTo>
                <a:cubicBezTo>
                  <a:pt x="1846" y="778"/>
                  <a:pt x="1851" y="808"/>
                  <a:pt x="1854" y="838"/>
                </a:cubicBezTo>
                <a:cubicBezTo>
                  <a:pt x="1857" y="869"/>
                  <a:pt x="1858" y="899"/>
                  <a:pt x="1858" y="929"/>
                </a:cubicBezTo>
                <a:close/>
              </a:path>
            </a:pathLst>
          </a:custGeom>
          <a:solidFill>
            <a:srgbClr val="4a90e2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33" name="" descr=""/>
          <p:cNvPicPr/>
          <p:nvPr/>
        </p:nvPicPr>
        <p:blipFill>
          <a:blip r:embed="rId5"/>
          <a:stretch/>
        </p:blipFill>
        <p:spPr>
          <a:xfrm>
            <a:off x="5155920" y="3058560"/>
            <a:ext cx="37584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"/>
          <p:cNvSpPr txBox="1"/>
          <p:nvPr/>
        </p:nvSpPr>
        <p:spPr>
          <a:xfrm>
            <a:off x="1448280" y="4280040"/>
            <a:ext cx="12078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93c5fd"/>
                </a:solidFill>
                <a:effectLst/>
                <a:uFillTx/>
                <a:latin typeface="NotoSansJP"/>
                <a:ea typeface="NotoSansJP"/>
              </a:rPr>
              <a:t>追跡の継続性を確保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4512600" y="3705840"/>
            <a:ext cx="167724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行動意図推定ロジック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4345200" y="4079160"/>
            <a:ext cx="20124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人物の行動コンテキストを理解し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7128000" y="2674080"/>
            <a:ext cx="3034080" cy="1985040"/>
          </a:xfrm>
          <a:custGeom>
            <a:avLst/>
            <a:gdLst/>
            <a:ahLst/>
            <a:rect l="0" t="0" r="r" b="b"/>
            <a:pathLst>
              <a:path w="8428" h="5514">
                <a:moveTo>
                  <a:pt x="0" y="5363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5"/>
                  <a:pt x="73" y="38"/>
                  <a:pt x="83" y="31"/>
                </a:cubicBezTo>
                <a:cubicBezTo>
                  <a:pt x="93" y="24"/>
                  <a:pt x="104" y="18"/>
                  <a:pt x="115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8242" y="0"/>
                </a:lnTo>
                <a:cubicBezTo>
                  <a:pt x="8254" y="0"/>
                  <a:pt x="8266" y="1"/>
                  <a:pt x="8278" y="3"/>
                </a:cubicBezTo>
                <a:cubicBezTo>
                  <a:pt x="8290" y="6"/>
                  <a:pt x="8302" y="9"/>
                  <a:pt x="8313" y="14"/>
                </a:cubicBezTo>
                <a:cubicBezTo>
                  <a:pt x="8324" y="18"/>
                  <a:pt x="8335" y="24"/>
                  <a:pt x="8345" y="31"/>
                </a:cubicBezTo>
                <a:cubicBezTo>
                  <a:pt x="8355" y="38"/>
                  <a:pt x="8365" y="45"/>
                  <a:pt x="8373" y="54"/>
                </a:cubicBezTo>
                <a:cubicBezTo>
                  <a:pt x="8382" y="63"/>
                  <a:pt x="8389" y="72"/>
                  <a:pt x="8396" y="82"/>
                </a:cubicBezTo>
                <a:cubicBezTo>
                  <a:pt x="8403" y="92"/>
                  <a:pt x="8409" y="103"/>
                  <a:pt x="8413" y="114"/>
                </a:cubicBezTo>
                <a:cubicBezTo>
                  <a:pt x="8418" y="126"/>
                  <a:pt x="8422" y="137"/>
                  <a:pt x="8424" y="149"/>
                </a:cubicBezTo>
                <a:cubicBezTo>
                  <a:pt x="8426" y="161"/>
                  <a:pt x="8428" y="173"/>
                  <a:pt x="8428" y="185"/>
                </a:cubicBezTo>
                <a:lnTo>
                  <a:pt x="8428" y="5363"/>
                </a:lnTo>
                <a:cubicBezTo>
                  <a:pt x="8428" y="5373"/>
                  <a:pt x="8426" y="5383"/>
                  <a:pt x="8424" y="5392"/>
                </a:cubicBezTo>
                <a:cubicBezTo>
                  <a:pt x="8422" y="5402"/>
                  <a:pt x="8418" y="5411"/>
                  <a:pt x="8413" y="5421"/>
                </a:cubicBezTo>
                <a:cubicBezTo>
                  <a:pt x="8409" y="5430"/>
                  <a:pt x="8403" y="5438"/>
                  <a:pt x="8396" y="5447"/>
                </a:cubicBezTo>
                <a:cubicBezTo>
                  <a:pt x="8389" y="5455"/>
                  <a:pt x="8382" y="5463"/>
                  <a:pt x="8373" y="5470"/>
                </a:cubicBezTo>
                <a:cubicBezTo>
                  <a:pt x="8365" y="5477"/>
                  <a:pt x="8355" y="5483"/>
                  <a:pt x="8345" y="5488"/>
                </a:cubicBezTo>
                <a:cubicBezTo>
                  <a:pt x="8335" y="5494"/>
                  <a:pt x="8324" y="5499"/>
                  <a:pt x="8313" y="5502"/>
                </a:cubicBezTo>
                <a:cubicBezTo>
                  <a:pt x="8302" y="5506"/>
                  <a:pt x="8290" y="5509"/>
                  <a:pt x="8278" y="5511"/>
                </a:cubicBezTo>
                <a:cubicBezTo>
                  <a:pt x="8266" y="5513"/>
                  <a:pt x="8254" y="5514"/>
                  <a:pt x="8242" y="5514"/>
                </a:cubicBezTo>
                <a:lnTo>
                  <a:pt x="186" y="5514"/>
                </a:lnTo>
                <a:cubicBezTo>
                  <a:pt x="174" y="5514"/>
                  <a:pt x="162" y="5513"/>
                  <a:pt x="150" y="5511"/>
                </a:cubicBezTo>
                <a:cubicBezTo>
                  <a:pt x="138" y="5509"/>
                  <a:pt x="126" y="5506"/>
                  <a:pt x="115" y="5502"/>
                </a:cubicBezTo>
                <a:cubicBezTo>
                  <a:pt x="104" y="5499"/>
                  <a:pt x="93" y="5494"/>
                  <a:pt x="83" y="5488"/>
                </a:cubicBezTo>
                <a:cubicBezTo>
                  <a:pt x="73" y="5483"/>
                  <a:pt x="63" y="5477"/>
                  <a:pt x="55" y="5470"/>
                </a:cubicBezTo>
                <a:cubicBezTo>
                  <a:pt x="46" y="5463"/>
                  <a:pt x="38" y="5455"/>
                  <a:pt x="32" y="5447"/>
                </a:cubicBezTo>
                <a:cubicBezTo>
                  <a:pt x="25" y="5438"/>
                  <a:pt x="19" y="5430"/>
                  <a:pt x="14" y="5421"/>
                </a:cubicBezTo>
                <a:cubicBezTo>
                  <a:pt x="10" y="5411"/>
                  <a:pt x="6" y="5402"/>
                  <a:pt x="4" y="5392"/>
                </a:cubicBezTo>
                <a:cubicBezTo>
                  <a:pt x="1" y="5383"/>
                  <a:pt x="0" y="5373"/>
                  <a:pt x="0" y="5363"/>
                </a:cubicBezTo>
                <a:close/>
              </a:path>
            </a:pathLst>
          </a:custGeom>
          <a:solidFill>
            <a:srgbClr val="1a2a57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7128000" y="4604400"/>
            <a:ext cx="3034080" cy="67320"/>
          </a:xfrm>
          <a:custGeom>
            <a:avLst/>
            <a:gdLst/>
            <a:ahLst/>
            <a:rect l="0" t="0" r="r" b="b"/>
            <a:pathLst>
              <a:path w="8428" h="187">
                <a:moveTo>
                  <a:pt x="0" y="0"/>
                </a:moveTo>
                <a:lnTo>
                  <a:pt x="8428" y="0"/>
                </a:lnTo>
                <a:lnTo>
                  <a:pt x="8428" y="187"/>
                </a:lnTo>
                <a:lnTo>
                  <a:pt x="0" y="187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8314560" y="2874600"/>
            <a:ext cx="669240" cy="668880"/>
          </a:xfrm>
          <a:custGeom>
            <a:avLst/>
            <a:gdLst/>
            <a:ahLst/>
            <a:rect l="0" t="0" r="r" b="b"/>
            <a:pathLst>
              <a:path w="1859" h="1858">
                <a:moveTo>
                  <a:pt x="1859" y="929"/>
                </a:moveTo>
                <a:cubicBezTo>
                  <a:pt x="1859" y="960"/>
                  <a:pt x="1857" y="990"/>
                  <a:pt x="1854" y="1020"/>
                </a:cubicBezTo>
                <a:cubicBezTo>
                  <a:pt x="1851" y="1051"/>
                  <a:pt x="1847" y="1081"/>
                  <a:pt x="1841" y="1110"/>
                </a:cubicBezTo>
                <a:cubicBezTo>
                  <a:pt x="1835" y="1140"/>
                  <a:pt x="1827" y="1170"/>
                  <a:pt x="1819" y="1199"/>
                </a:cubicBezTo>
                <a:cubicBezTo>
                  <a:pt x="1810" y="1228"/>
                  <a:pt x="1799" y="1257"/>
                  <a:pt x="1788" y="1285"/>
                </a:cubicBezTo>
                <a:cubicBezTo>
                  <a:pt x="1776" y="1313"/>
                  <a:pt x="1763" y="1340"/>
                  <a:pt x="1749" y="1367"/>
                </a:cubicBezTo>
                <a:cubicBezTo>
                  <a:pt x="1735" y="1394"/>
                  <a:pt x="1719" y="1420"/>
                  <a:pt x="1702" y="1445"/>
                </a:cubicBezTo>
                <a:cubicBezTo>
                  <a:pt x="1685" y="1470"/>
                  <a:pt x="1667" y="1495"/>
                  <a:pt x="1648" y="1518"/>
                </a:cubicBezTo>
                <a:cubicBezTo>
                  <a:pt x="1628" y="1542"/>
                  <a:pt x="1608" y="1564"/>
                  <a:pt x="1587" y="1586"/>
                </a:cubicBezTo>
                <a:cubicBezTo>
                  <a:pt x="1565" y="1607"/>
                  <a:pt x="1543" y="1628"/>
                  <a:pt x="1519" y="1647"/>
                </a:cubicBezTo>
                <a:cubicBezTo>
                  <a:pt x="1496" y="1666"/>
                  <a:pt x="1471" y="1684"/>
                  <a:pt x="1446" y="1701"/>
                </a:cubicBezTo>
                <a:cubicBezTo>
                  <a:pt x="1421" y="1718"/>
                  <a:pt x="1395" y="1734"/>
                  <a:pt x="1368" y="1748"/>
                </a:cubicBezTo>
                <a:cubicBezTo>
                  <a:pt x="1341" y="1763"/>
                  <a:pt x="1313" y="1776"/>
                  <a:pt x="1285" y="1787"/>
                </a:cubicBezTo>
                <a:cubicBezTo>
                  <a:pt x="1257" y="1799"/>
                  <a:pt x="1229" y="1809"/>
                  <a:pt x="1200" y="1818"/>
                </a:cubicBezTo>
                <a:cubicBezTo>
                  <a:pt x="1170" y="1827"/>
                  <a:pt x="1141" y="1834"/>
                  <a:pt x="1111" y="1840"/>
                </a:cubicBezTo>
                <a:cubicBezTo>
                  <a:pt x="1081" y="1846"/>
                  <a:pt x="1051" y="1850"/>
                  <a:pt x="1021" y="1853"/>
                </a:cubicBezTo>
                <a:cubicBezTo>
                  <a:pt x="991" y="1856"/>
                  <a:pt x="960" y="1858"/>
                  <a:pt x="930" y="1858"/>
                </a:cubicBezTo>
                <a:cubicBezTo>
                  <a:pt x="900" y="1858"/>
                  <a:pt x="869" y="1856"/>
                  <a:pt x="839" y="1853"/>
                </a:cubicBezTo>
                <a:cubicBezTo>
                  <a:pt x="809" y="1850"/>
                  <a:pt x="779" y="1846"/>
                  <a:pt x="749" y="1840"/>
                </a:cubicBezTo>
                <a:cubicBezTo>
                  <a:pt x="719" y="1834"/>
                  <a:pt x="690" y="1827"/>
                  <a:pt x="660" y="1818"/>
                </a:cubicBezTo>
                <a:cubicBezTo>
                  <a:pt x="631" y="1809"/>
                  <a:pt x="603" y="1799"/>
                  <a:pt x="575" y="1787"/>
                </a:cubicBezTo>
                <a:cubicBezTo>
                  <a:pt x="547" y="1776"/>
                  <a:pt x="519" y="1763"/>
                  <a:pt x="492" y="1748"/>
                </a:cubicBezTo>
                <a:cubicBezTo>
                  <a:pt x="465" y="1734"/>
                  <a:pt x="439" y="1718"/>
                  <a:pt x="414" y="1701"/>
                </a:cubicBezTo>
                <a:cubicBezTo>
                  <a:pt x="389" y="1684"/>
                  <a:pt x="364" y="1666"/>
                  <a:pt x="341" y="1647"/>
                </a:cubicBezTo>
                <a:cubicBezTo>
                  <a:pt x="317" y="1628"/>
                  <a:pt x="295" y="1607"/>
                  <a:pt x="273" y="1586"/>
                </a:cubicBezTo>
                <a:cubicBezTo>
                  <a:pt x="252" y="1564"/>
                  <a:pt x="232" y="1542"/>
                  <a:pt x="212" y="1518"/>
                </a:cubicBezTo>
                <a:cubicBezTo>
                  <a:pt x="193" y="1495"/>
                  <a:pt x="175" y="1470"/>
                  <a:pt x="158" y="1445"/>
                </a:cubicBezTo>
                <a:cubicBezTo>
                  <a:pt x="141" y="1420"/>
                  <a:pt x="125" y="1394"/>
                  <a:pt x="110" y="1367"/>
                </a:cubicBezTo>
                <a:cubicBezTo>
                  <a:pt x="96" y="1340"/>
                  <a:pt x="83" y="1313"/>
                  <a:pt x="71" y="1285"/>
                </a:cubicBezTo>
                <a:cubicBezTo>
                  <a:pt x="60" y="1257"/>
                  <a:pt x="49" y="1228"/>
                  <a:pt x="40" y="1199"/>
                </a:cubicBezTo>
                <a:cubicBezTo>
                  <a:pt x="32" y="1170"/>
                  <a:pt x="24" y="1140"/>
                  <a:pt x="18" y="1110"/>
                </a:cubicBezTo>
                <a:cubicBezTo>
                  <a:pt x="12" y="1081"/>
                  <a:pt x="8" y="1051"/>
                  <a:pt x="5" y="1020"/>
                </a:cubicBezTo>
                <a:cubicBezTo>
                  <a:pt x="2" y="990"/>
                  <a:pt x="0" y="960"/>
                  <a:pt x="0" y="929"/>
                </a:cubicBezTo>
                <a:cubicBezTo>
                  <a:pt x="0" y="899"/>
                  <a:pt x="2" y="869"/>
                  <a:pt x="5" y="838"/>
                </a:cubicBezTo>
                <a:cubicBezTo>
                  <a:pt x="8" y="808"/>
                  <a:pt x="12" y="778"/>
                  <a:pt x="18" y="748"/>
                </a:cubicBezTo>
                <a:cubicBezTo>
                  <a:pt x="24" y="718"/>
                  <a:pt x="32" y="689"/>
                  <a:pt x="40" y="660"/>
                </a:cubicBezTo>
                <a:cubicBezTo>
                  <a:pt x="49" y="631"/>
                  <a:pt x="60" y="602"/>
                  <a:pt x="71" y="574"/>
                </a:cubicBezTo>
                <a:cubicBezTo>
                  <a:pt x="83" y="546"/>
                  <a:pt x="96" y="518"/>
                  <a:pt x="110" y="492"/>
                </a:cubicBezTo>
                <a:cubicBezTo>
                  <a:pt x="125" y="465"/>
                  <a:pt x="141" y="439"/>
                  <a:pt x="158" y="413"/>
                </a:cubicBezTo>
                <a:cubicBezTo>
                  <a:pt x="175" y="388"/>
                  <a:pt x="193" y="363"/>
                  <a:pt x="212" y="339"/>
                </a:cubicBezTo>
                <a:cubicBezTo>
                  <a:pt x="232" y="316"/>
                  <a:pt x="252" y="293"/>
                  <a:pt x="273" y="272"/>
                </a:cubicBezTo>
                <a:cubicBezTo>
                  <a:pt x="295" y="250"/>
                  <a:pt x="317" y="230"/>
                  <a:pt x="341" y="211"/>
                </a:cubicBezTo>
                <a:cubicBezTo>
                  <a:pt x="364" y="191"/>
                  <a:pt x="389" y="173"/>
                  <a:pt x="414" y="156"/>
                </a:cubicBezTo>
                <a:cubicBezTo>
                  <a:pt x="439" y="139"/>
                  <a:pt x="465" y="124"/>
                  <a:pt x="492" y="109"/>
                </a:cubicBezTo>
                <a:cubicBezTo>
                  <a:pt x="519" y="95"/>
                  <a:pt x="547" y="82"/>
                  <a:pt x="575" y="70"/>
                </a:cubicBezTo>
                <a:cubicBezTo>
                  <a:pt x="603" y="59"/>
                  <a:pt x="631" y="49"/>
                  <a:pt x="660" y="40"/>
                </a:cubicBezTo>
                <a:cubicBezTo>
                  <a:pt x="690" y="31"/>
                  <a:pt x="719" y="24"/>
                  <a:pt x="749" y="18"/>
                </a:cubicBezTo>
                <a:cubicBezTo>
                  <a:pt x="779" y="12"/>
                  <a:pt x="809" y="7"/>
                  <a:pt x="839" y="4"/>
                </a:cubicBezTo>
                <a:cubicBezTo>
                  <a:pt x="869" y="1"/>
                  <a:pt x="900" y="0"/>
                  <a:pt x="930" y="0"/>
                </a:cubicBezTo>
                <a:cubicBezTo>
                  <a:pt x="960" y="0"/>
                  <a:pt x="991" y="1"/>
                  <a:pt x="1021" y="4"/>
                </a:cubicBezTo>
                <a:cubicBezTo>
                  <a:pt x="1051" y="7"/>
                  <a:pt x="1081" y="12"/>
                  <a:pt x="1111" y="18"/>
                </a:cubicBezTo>
                <a:cubicBezTo>
                  <a:pt x="1141" y="24"/>
                  <a:pt x="1170" y="31"/>
                  <a:pt x="1200" y="40"/>
                </a:cubicBezTo>
                <a:cubicBezTo>
                  <a:pt x="1229" y="49"/>
                  <a:pt x="1257" y="59"/>
                  <a:pt x="1285" y="70"/>
                </a:cubicBezTo>
                <a:cubicBezTo>
                  <a:pt x="1313" y="82"/>
                  <a:pt x="1341" y="95"/>
                  <a:pt x="1368" y="109"/>
                </a:cubicBezTo>
                <a:cubicBezTo>
                  <a:pt x="1395" y="124"/>
                  <a:pt x="1421" y="139"/>
                  <a:pt x="1446" y="156"/>
                </a:cubicBezTo>
                <a:cubicBezTo>
                  <a:pt x="1471" y="173"/>
                  <a:pt x="1496" y="191"/>
                  <a:pt x="1519" y="211"/>
                </a:cubicBezTo>
                <a:cubicBezTo>
                  <a:pt x="1543" y="230"/>
                  <a:pt x="1565" y="250"/>
                  <a:pt x="1587" y="272"/>
                </a:cubicBezTo>
                <a:cubicBezTo>
                  <a:pt x="1608" y="293"/>
                  <a:pt x="1628" y="316"/>
                  <a:pt x="1648" y="339"/>
                </a:cubicBezTo>
                <a:cubicBezTo>
                  <a:pt x="1667" y="363"/>
                  <a:pt x="1685" y="388"/>
                  <a:pt x="1702" y="413"/>
                </a:cubicBezTo>
                <a:cubicBezTo>
                  <a:pt x="1719" y="439"/>
                  <a:pt x="1735" y="465"/>
                  <a:pt x="1749" y="492"/>
                </a:cubicBezTo>
                <a:cubicBezTo>
                  <a:pt x="1763" y="518"/>
                  <a:pt x="1776" y="546"/>
                  <a:pt x="1788" y="574"/>
                </a:cubicBezTo>
                <a:cubicBezTo>
                  <a:pt x="1799" y="602"/>
                  <a:pt x="1810" y="631"/>
                  <a:pt x="1819" y="660"/>
                </a:cubicBezTo>
                <a:cubicBezTo>
                  <a:pt x="1827" y="689"/>
                  <a:pt x="1835" y="718"/>
                  <a:pt x="1841" y="748"/>
                </a:cubicBezTo>
                <a:cubicBezTo>
                  <a:pt x="1847" y="778"/>
                  <a:pt x="1851" y="808"/>
                  <a:pt x="1854" y="838"/>
                </a:cubicBezTo>
                <a:cubicBezTo>
                  <a:pt x="1857" y="869"/>
                  <a:pt x="1859" y="899"/>
                  <a:pt x="1859" y="929"/>
                </a:cubicBezTo>
                <a:close/>
              </a:path>
            </a:pathLst>
          </a:custGeom>
          <a:solidFill>
            <a:srgbClr val="4a90e2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40" name="" descr=""/>
          <p:cNvPicPr/>
          <p:nvPr/>
        </p:nvPicPr>
        <p:blipFill>
          <a:blip r:embed="rId6"/>
          <a:stretch/>
        </p:blipFill>
        <p:spPr>
          <a:xfrm>
            <a:off x="8498880" y="3058560"/>
            <a:ext cx="30060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"/>
          <p:cNvSpPr txBox="1"/>
          <p:nvPr/>
        </p:nvSpPr>
        <p:spPr>
          <a:xfrm>
            <a:off x="4612680" y="4280040"/>
            <a:ext cx="14760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93c5fd"/>
                </a:solidFill>
                <a:effectLst/>
                <a:uFillTx/>
                <a:latin typeface="NotoSansJP"/>
                <a:ea typeface="NotoSansJP"/>
              </a:rPr>
              <a:t>正確な所有者特定を実現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7894080" y="3705840"/>
            <a:ext cx="150948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高度な警告ロジック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7576560" y="4079160"/>
            <a:ext cx="21466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物体状態と所有者状態を組み合わせ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4" name="" descr=""/>
          <p:cNvPicPr/>
          <p:nvPr/>
        </p:nvPicPr>
        <p:blipFill>
          <a:blip r:embed="rId7"/>
          <a:stretch/>
        </p:blipFill>
        <p:spPr>
          <a:xfrm>
            <a:off x="3125520" y="5055840"/>
            <a:ext cx="13320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"/>
          <p:cNvSpPr txBox="1"/>
          <p:nvPr/>
        </p:nvSpPr>
        <p:spPr>
          <a:xfrm>
            <a:off x="7777080" y="4280040"/>
            <a:ext cx="17442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93c5fd"/>
                </a:solidFill>
                <a:effectLst/>
                <a:uFillTx/>
                <a:latin typeface="NotoSansJP"/>
                <a:ea typeface="NotoSansJP"/>
              </a:rPr>
              <a:t>異なるシナリオを正確に識別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6" name="" descr=""/>
          <p:cNvPicPr/>
          <p:nvPr/>
        </p:nvPicPr>
        <p:blipFill>
          <a:blip r:embed="rId8"/>
          <a:stretch/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7" name="" descr=""/>
          <p:cNvPicPr/>
          <p:nvPr/>
        </p:nvPicPr>
        <p:blipFill>
          <a:blip r:embed="rId9"/>
          <a:stretch/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"/>
          <p:cNvSpPr txBox="1"/>
          <p:nvPr/>
        </p:nvSpPr>
        <p:spPr>
          <a:xfrm>
            <a:off x="3326040" y="5050080"/>
            <a:ext cx="42591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8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 公共空間の安全性を飛躍的に向上させるための基盤技術の確立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10153440" y="5717160"/>
            <a:ext cx="387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9ca3af"/>
                </a:solidFill>
                <a:effectLst/>
                <a:uFillTx/>
                <a:latin typeface="NotoSansJP"/>
                <a:ea typeface="NotoSansJP"/>
              </a:rPr>
              <a:t>4 / 12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"/>
          <p:cNvSpPr/>
          <p:nvPr/>
        </p:nvSpPr>
        <p:spPr>
          <a:xfrm>
            <a:off x="534600" y="802080"/>
            <a:ext cx="668880" cy="33840"/>
          </a:xfrm>
          <a:custGeom>
            <a:avLst/>
            <a:gdLst/>
            <a:ahLst/>
            <a:rect l="0" t="0" r="r" b="b"/>
            <a:pathLst>
              <a:path w="1858" h="94">
                <a:moveTo>
                  <a:pt x="0" y="0"/>
                </a:moveTo>
                <a:lnTo>
                  <a:pt x="1858" y="0"/>
                </a:lnTo>
                <a:lnTo>
                  <a:pt x="1858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60a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551520" y="1036080"/>
            <a:ext cx="4529520" cy="2406960"/>
          </a:xfrm>
          <a:custGeom>
            <a:avLst/>
            <a:gdLst/>
            <a:ahLst/>
            <a:rect l="0" t="0" r="r" b="b"/>
            <a:pathLst>
              <a:path w="12582" h="6686">
                <a:moveTo>
                  <a:pt x="0" y="6686"/>
                </a:moveTo>
                <a:lnTo>
                  <a:pt x="0" y="0"/>
                </a:lnTo>
                <a:lnTo>
                  <a:pt x="12489" y="0"/>
                </a:lnTo>
                <a:cubicBezTo>
                  <a:pt x="12501" y="0"/>
                  <a:pt x="12513" y="2"/>
                  <a:pt x="12525" y="7"/>
                </a:cubicBezTo>
                <a:cubicBezTo>
                  <a:pt x="12536" y="12"/>
                  <a:pt x="12546" y="18"/>
                  <a:pt x="12555" y="27"/>
                </a:cubicBezTo>
                <a:cubicBezTo>
                  <a:pt x="12564" y="36"/>
                  <a:pt x="12570" y="46"/>
                  <a:pt x="12575" y="57"/>
                </a:cubicBezTo>
                <a:cubicBezTo>
                  <a:pt x="12580" y="69"/>
                  <a:pt x="12582" y="80"/>
                  <a:pt x="12582" y="93"/>
                </a:cubicBezTo>
                <a:lnTo>
                  <a:pt x="12582" y="6593"/>
                </a:lnTo>
                <a:cubicBezTo>
                  <a:pt x="12582" y="6606"/>
                  <a:pt x="12580" y="6618"/>
                  <a:pt x="12575" y="6629"/>
                </a:cubicBezTo>
                <a:cubicBezTo>
                  <a:pt x="12570" y="6640"/>
                  <a:pt x="12564" y="6650"/>
                  <a:pt x="12555" y="6659"/>
                </a:cubicBezTo>
                <a:cubicBezTo>
                  <a:pt x="12546" y="6668"/>
                  <a:pt x="12536" y="6674"/>
                  <a:pt x="12525" y="6679"/>
                </a:cubicBezTo>
                <a:cubicBezTo>
                  <a:pt x="12513" y="6684"/>
                  <a:pt x="12501" y="6686"/>
                  <a:pt x="12489" y="6686"/>
                </a:cubicBezTo>
                <a:lnTo>
                  <a:pt x="0" y="6686"/>
                </a:lnTo>
                <a:close/>
              </a:path>
            </a:pathLst>
          </a:custGeom>
          <a:solidFill>
            <a:srgbClr val="1a2a57">
              <a:alpha val="7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534600" y="1036080"/>
            <a:ext cx="33840" cy="2406960"/>
          </a:xfrm>
          <a:custGeom>
            <a:avLst/>
            <a:gdLst/>
            <a:ahLst/>
            <a:rect l="0" t="0" r="r" b="b"/>
            <a:pathLst>
              <a:path w="94" h="6686">
                <a:moveTo>
                  <a:pt x="0" y="0"/>
                </a:moveTo>
                <a:lnTo>
                  <a:pt x="94" y="0"/>
                </a:lnTo>
                <a:lnTo>
                  <a:pt x="94" y="6686"/>
                </a:lnTo>
                <a:lnTo>
                  <a:pt x="0" y="6686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551520" y="3643200"/>
            <a:ext cx="4529520" cy="1838880"/>
          </a:xfrm>
          <a:custGeom>
            <a:avLst/>
            <a:gdLst/>
            <a:ahLst/>
            <a:rect l="0" t="0" r="r" b="b"/>
            <a:pathLst>
              <a:path w="12582" h="5108">
                <a:moveTo>
                  <a:pt x="0" y="5108"/>
                </a:moveTo>
                <a:lnTo>
                  <a:pt x="0" y="0"/>
                </a:lnTo>
                <a:lnTo>
                  <a:pt x="12489" y="0"/>
                </a:lnTo>
                <a:cubicBezTo>
                  <a:pt x="12501" y="0"/>
                  <a:pt x="12513" y="3"/>
                  <a:pt x="12525" y="7"/>
                </a:cubicBezTo>
                <a:cubicBezTo>
                  <a:pt x="12536" y="12"/>
                  <a:pt x="12546" y="19"/>
                  <a:pt x="12555" y="28"/>
                </a:cubicBezTo>
                <a:cubicBezTo>
                  <a:pt x="12564" y="36"/>
                  <a:pt x="12570" y="46"/>
                  <a:pt x="12575" y="58"/>
                </a:cubicBezTo>
                <a:cubicBezTo>
                  <a:pt x="12580" y="69"/>
                  <a:pt x="12582" y="81"/>
                  <a:pt x="12582" y="93"/>
                </a:cubicBezTo>
                <a:lnTo>
                  <a:pt x="12582" y="5015"/>
                </a:lnTo>
                <a:cubicBezTo>
                  <a:pt x="12582" y="5028"/>
                  <a:pt x="12580" y="5040"/>
                  <a:pt x="12575" y="5051"/>
                </a:cubicBezTo>
                <a:cubicBezTo>
                  <a:pt x="12570" y="5062"/>
                  <a:pt x="12564" y="5072"/>
                  <a:pt x="12555" y="5081"/>
                </a:cubicBezTo>
                <a:cubicBezTo>
                  <a:pt x="12546" y="5090"/>
                  <a:pt x="12536" y="5096"/>
                  <a:pt x="12525" y="5101"/>
                </a:cubicBezTo>
                <a:cubicBezTo>
                  <a:pt x="12513" y="5106"/>
                  <a:pt x="12501" y="5108"/>
                  <a:pt x="12489" y="5108"/>
                </a:cubicBezTo>
                <a:lnTo>
                  <a:pt x="0" y="5108"/>
                </a:lnTo>
                <a:close/>
              </a:path>
            </a:pathLst>
          </a:custGeom>
          <a:solidFill>
            <a:srgbClr val="1a2a57">
              <a:alpha val="7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534600" y="3643200"/>
            <a:ext cx="33840" cy="1838880"/>
          </a:xfrm>
          <a:custGeom>
            <a:avLst/>
            <a:gdLst/>
            <a:ahLst/>
            <a:rect l="0" t="0" r="r" b="b"/>
            <a:pathLst>
              <a:path w="94" h="5108">
                <a:moveTo>
                  <a:pt x="0" y="0"/>
                </a:moveTo>
                <a:lnTo>
                  <a:pt x="94" y="0"/>
                </a:lnTo>
                <a:lnTo>
                  <a:pt x="94" y="5108"/>
                </a:lnTo>
                <a:lnTo>
                  <a:pt x="0" y="5108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534960" y="422640"/>
            <a:ext cx="5182200" cy="43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37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提案手法：人物再識別（</a:t>
            </a:r>
            <a:r>
              <a:rPr b="0" lang="en-US" sz="237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Re-ID</a:t>
            </a:r>
            <a:r>
              <a:rPr b="0" lang="zh-CN" sz="237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）技術</a:t>
            </a:r>
            <a:endParaRPr b="0" lang="en-US" sz="2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7" name="" descr=""/>
          <p:cNvPicPr/>
          <p:nvPr/>
        </p:nvPicPr>
        <p:blipFill>
          <a:blip r:embed="rId2"/>
          <a:stretch/>
        </p:blipFill>
        <p:spPr>
          <a:xfrm>
            <a:off x="768960" y="1671480"/>
            <a:ext cx="16668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"/>
          <p:cNvSpPr txBox="1"/>
          <p:nvPr/>
        </p:nvSpPr>
        <p:spPr>
          <a:xfrm>
            <a:off x="768960" y="1267920"/>
            <a:ext cx="2466360" cy="29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580" strike="noStrike" u="none">
                <a:solidFill>
                  <a:srgbClr val="93c5fd"/>
                </a:solidFill>
                <a:effectLst/>
                <a:uFillTx/>
                <a:latin typeface="NotoSansJP"/>
                <a:ea typeface="NotoSansJP"/>
              </a:rPr>
              <a:t>人物再識別（</a:t>
            </a:r>
            <a:r>
              <a:rPr b="0" lang="en-US" sz="1580" strike="noStrike" u="none">
                <a:solidFill>
                  <a:srgbClr val="93c5fd"/>
                </a:solidFill>
                <a:effectLst/>
                <a:uFillTx/>
                <a:latin typeface="NotoSansJP"/>
                <a:ea typeface="NotoSansJP"/>
              </a:rPr>
              <a:t>Re-ID</a:t>
            </a:r>
            <a:r>
              <a:rPr b="0" lang="zh-CN" sz="1580" strike="noStrike" u="none">
                <a:solidFill>
                  <a:srgbClr val="93c5fd"/>
                </a:solidFill>
                <a:effectLst/>
                <a:uFillTx/>
                <a:latin typeface="NotoSansJP"/>
                <a:ea typeface="NotoSansJP"/>
              </a:rPr>
              <a:t>）とは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1036080" y="1682280"/>
            <a:ext cx="37728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異なるカメラや同一カメラでも時間をおいて撮影された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0" name="" descr=""/>
          <p:cNvPicPr/>
          <p:nvPr/>
        </p:nvPicPr>
        <p:blipFill>
          <a:blip r:embed="rId3"/>
          <a:stretch/>
        </p:blipFill>
        <p:spPr>
          <a:xfrm>
            <a:off x="768960" y="2239560"/>
            <a:ext cx="15012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"/>
          <p:cNvSpPr txBox="1"/>
          <p:nvPr/>
        </p:nvSpPr>
        <p:spPr>
          <a:xfrm>
            <a:off x="1036080" y="1916280"/>
            <a:ext cx="27162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映像から</a:t>
            </a:r>
            <a:r>
              <a:rPr b="0" lang="zh-CN" sz="1180" strike="noStrike" u="none">
                <a:solidFill>
                  <a:srgbClr val="fcd34d"/>
                </a:solidFill>
                <a:effectLst/>
                <a:uFillTx/>
                <a:latin typeface="NotoSansJP"/>
                <a:ea typeface="NotoSansJP"/>
              </a:rPr>
              <a:t>特定の人物を再度識別する技術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1019520" y="2250360"/>
            <a:ext cx="41004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最新の深層学習モデルでは、</a:t>
            </a:r>
            <a:r>
              <a:rPr b="0" lang="en-US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CUHK03</a:t>
            </a:r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や</a:t>
            </a:r>
            <a:r>
              <a:rPr b="0" lang="en-US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Market1501</a:t>
            </a:r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とい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3" name="" descr=""/>
          <p:cNvPicPr/>
          <p:nvPr/>
        </p:nvPicPr>
        <p:blipFill>
          <a:blip r:embed="rId4"/>
          <a:stretch/>
        </p:blipFill>
        <p:spPr>
          <a:xfrm>
            <a:off x="768960" y="2808000"/>
            <a:ext cx="11664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"/>
          <p:cNvSpPr txBox="1"/>
          <p:nvPr/>
        </p:nvSpPr>
        <p:spPr>
          <a:xfrm>
            <a:off x="1019520" y="2484360"/>
            <a:ext cx="31305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った標準データセットで</a:t>
            </a:r>
            <a:r>
              <a:rPr b="0" lang="en-US" sz="1180" strike="noStrike" u="none">
                <a:solidFill>
                  <a:srgbClr val="6ee7b7"/>
                </a:solidFill>
                <a:effectLst/>
                <a:uFillTx/>
                <a:latin typeface="NotoSansJP"/>
                <a:ea typeface="NotoSansJP"/>
              </a:rPr>
              <a:t>97%</a:t>
            </a:r>
            <a:r>
              <a:rPr b="0" lang="zh-CN" sz="1180" strike="noStrike" u="none">
                <a:solidFill>
                  <a:srgbClr val="6ee7b7"/>
                </a:solidFill>
                <a:effectLst/>
                <a:uFillTx/>
                <a:latin typeface="NotoSansJP"/>
                <a:ea typeface="NotoSansJP"/>
              </a:rPr>
              <a:t>超の精度</a:t>
            </a:r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を達成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986040" y="2818800"/>
            <a:ext cx="37728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照明変化、姿勢変化、部分的な隠蔽（オクルージョン）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986040" y="3052800"/>
            <a:ext cx="34707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といった困難な条件下でも高精度で人物照合が可能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7" name="" descr=""/>
          <p:cNvPicPr/>
          <p:nvPr/>
        </p:nvPicPr>
        <p:blipFill>
          <a:blip r:embed="rId5"/>
          <a:stretch/>
        </p:blipFill>
        <p:spPr>
          <a:xfrm>
            <a:off x="768960" y="4278600"/>
            <a:ext cx="15012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"/>
          <p:cNvSpPr txBox="1"/>
          <p:nvPr/>
        </p:nvSpPr>
        <p:spPr>
          <a:xfrm>
            <a:off x="768960" y="3875400"/>
            <a:ext cx="2012400" cy="29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580" strike="noStrike" u="none">
                <a:solidFill>
                  <a:srgbClr val="93c5fd"/>
                </a:solidFill>
                <a:effectLst/>
                <a:uFillTx/>
                <a:latin typeface="NotoSansJP"/>
                <a:ea typeface="NotoSansJP"/>
              </a:rPr>
              <a:t>システムへの導入効果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1019520" y="4289400"/>
            <a:ext cx="37728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所有者がトイレへの移動や障害物の後ろに隠れるなど、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70" name="" descr=""/>
          <p:cNvPicPr/>
          <p:nvPr/>
        </p:nvPicPr>
        <p:blipFill>
          <a:blip r:embed="rId6"/>
          <a:stretch/>
        </p:blipFill>
        <p:spPr>
          <a:xfrm>
            <a:off x="768960" y="4847040"/>
            <a:ext cx="19188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" name=""/>
          <p:cNvSpPr txBox="1"/>
          <p:nvPr/>
        </p:nvSpPr>
        <p:spPr>
          <a:xfrm>
            <a:off x="1019520" y="4523400"/>
            <a:ext cx="33199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93c5fd"/>
                </a:solidFill>
                <a:effectLst/>
                <a:uFillTx/>
                <a:latin typeface="NotoSansJP"/>
                <a:ea typeface="NotoSansJP"/>
              </a:rPr>
              <a:t>一時的にフレームから離れた場合でも追跡を継続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1061280" y="4857840"/>
            <a:ext cx="37728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誤った放置アラートの発生を</a:t>
            </a:r>
            <a:r>
              <a:rPr b="0" lang="zh-CN" sz="1180" strike="noStrike" u="none">
                <a:solidFill>
                  <a:srgbClr val="6ee7b7"/>
                </a:solidFill>
                <a:effectLst/>
                <a:uFillTx/>
                <a:latin typeface="NotoSansJP"/>
                <a:ea typeface="NotoSansJP"/>
              </a:rPr>
              <a:t>大幅に抑制</a:t>
            </a:r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し、監視システ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5348160" y="1712880"/>
            <a:ext cx="4813920" cy="718920"/>
          </a:xfrm>
          <a:custGeom>
            <a:avLst/>
            <a:gdLst/>
            <a:ahLst/>
            <a:rect l="0" t="0" r="r" b="b"/>
            <a:pathLst>
              <a:path w="13372" h="1997">
                <a:moveTo>
                  <a:pt x="14" y="115"/>
                </a:moveTo>
                <a:cubicBezTo>
                  <a:pt x="23" y="92"/>
                  <a:pt x="37" y="72"/>
                  <a:pt x="54" y="55"/>
                </a:cubicBezTo>
                <a:cubicBezTo>
                  <a:pt x="72" y="37"/>
                  <a:pt x="92" y="24"/>
                  <a:pt x="114" y="14"/>
                </a:cubicBezTo>
                <a:cubicBezTo>
                  <a:pt x="137" y="5"/>
                  <a:pt x="161" y="0"/>
                  <a:pt x="186" y="0"/>
                </a:cubicBezTo>
                <a:lnTo>
                  <a:pt x="13186" y="0"/>
                </a:lnTo>
                <a:cubicBezTo>
                  <a:pt x="13210" y="0"/>
                  <a:pt x="13234" y="5"/>
                  <a:pt x="13257" y="14"/>
                </a:cubicBezTo>
                <a:cubicBezTo>
                  <a:pt x="13280" y="24"/>
                  <a:pt x="13300" y="37"/>
                  <a:pt x="13317" y="55"/>
                </a:cubicBezTo>
                <a:cubicBezTo>
                  <a:pt x="13335" y="72"/>
                  <a:pt x="13348" y="92"/>
                  <a:pt x="13357" y="115"/>
                </a:cubicBezTo>
                <a:cubicBezTo>
                  <a:pt x="13367" y="138"/>
                  <a:pt x="13372" y="161"/>
                  <a:pt x="13372" y="186"/>
                </a:cubicBezTo>
                <a:lnTo>
                  <a:pt x="13372" y="1812"/>
                </a:lnTo>
                <a:cubicBezTo>
                  <a:pt x="13372" y="1836"/>
                  <a:pt x="13367" y="1860"/>
                  <a:pt x="13357" y="1883"/>
                </a:cubicBezTo>
                <a:cubicBezTo>
                  <a:pt x="13348" y="1906"/>
                  <a:pt x="13335" y="1926"/>
                  <a:pt x="13317" y="1943"/>
                </a:cubicBezTo>
                <a:cubicBezTo>
                  <a:pt x="13300" y="1961"/>
                  <a:pt x="13280" y="1974"/>
                  <a:pt x="13257" y="1983"/>
                </a:cubicBezTo>
                <a:cubicBezTo>
                  <a:pt x="13234" y="1993"/>
                  <a:pt x="13210" y="1997"/>
                  <a:pt x="13186" y="1997"/>
                </a:cubicBezTo>
                <a:lnTo>
                  <a:pt x="186" y="1997"/>
                </a:lnTo>
                <a:cubicBezTo>
                  <a:pt x="161" y="1997"/>
                  <a:pt x="137" y="1993"/>
                  <a:pt x="114" y="1983"/>
                </a:cubicBezTo>
                <a:cubicBezTo>
                  <a:pt x="92" y="1974"/>
                  <a:pt x="72" y="1961"/>
                  <a:pt x="54" y="1943"/>
                </a:cubicBezTo>
                <a:cubicBezTo>
                  <a:pt x="37" y="1926"/>
                  <a:pt x="23" y="1906"/>
                  <a:pt x="14" y="1883"/>
                </a:cubicBezTo>
                <a:cubicBezTo>
                  <a:pt x="5" y="1860"/>
                  <a:pt x="0" y="1837"/>
                  <a:pt x="0" y="1812"/>
                </a:cubicBezTo>
                <a:lnTo>
                  <a:pt x="0" y="186"/>
                </a:lnTo>
                <a:cubicBezTo>
                  <a:pt x="0" y="161"/>
                  <a:pt x="5" y="138"/>
                  <a:pt x="14" y="115"/>
                </a:cubicBezTo>
                <a:close/>
              </a:path>
            </a:pathLst>
          </a:custGeom>
          <a:solidFill>
            <a:srgbClr val="4a90e2">
              <a:alpha val="1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5348160" y="1712880"/>
            <a:ext cx="4813920" cy="718920"/>
          </a:xfrm>
          <a:custGeom>
            <a:avLst/>
            <a:gdLst/>
            <a:ahLst/>
            <a:rect l="0" t="0" r="r" b="b"/>
            <a:pathLst>
              <a:path w="13372" h="1997">
                <a:moveTo>
                  <a:pt x="0" y="1812"/>
                </a:moveTo>
                <a:lnTo>
                  <a:pt x="0" y="186"/>
                </a:lnTo>
                <a:cubicBezTo>
                  <a:pt x="0" y="161"/>
                  <a:pt x="5" y="138"/>
                  <a:pt x="14" y="115"/>
                </a:cubicBezTo>
                <a:cubicBezTo>
                  <a:pt x="23" y="92"/>
                  <a:pt x="37" y="72"/>
                  <a:pt x="54" y="55"/>
                </a:cubicBezTo>
                <a:cubicBezTo>
                  <a:pt x="72" y="37"/>
                  <a:pt x="92" y="24"/>
                  <a:pt x="114" y="14"/>
                </a:cubicBezTo>
                <a:cubicBezTo>
                  <a:pt x="137" y="5"/>
                  <a:pt x="161" y="0"/>
                  <a:pt x="186" y="0"/>
                </a:cubicBezTo>
                <a:lnTo>
                  <a:pt x="13186" y="0"/>
                </a:lnTo>
                <a:cubicBezTo>
                  <a:pt x="13210" y="0"/>
                  <a:pt x="13234" y="5"/>
                  <a:pt x="13257" y="14"/>
                </a:cubicBezTo>
                <a:cubicBezTo>
                  <a:pt x="13280" y="24"/>
                  <a:pt x="13300" y="37"/>
                  <a:pt x="13317" y="55"/>
                </a:cubicBezTo>
                <a:cubicBezTo>
                  <a:pt x="13335" y="72"/>
                  <a:pt x="13348" y="92"/>
                  <a:pt x="13357" y="115"/>
                </a:cubicBezTo>
                <a:cubicBezTo>
                  <a:pt x="13367" y="138"/>
                  <a:pt x="13372" y="161"/>
                  <a:pt x="13372" y="186"/>
                </a:cubicBezTo>
                <a:lnTo>
                  <a:pt x="13372" y="1812"/>
                </a:lnTo>
                <a:cubicBezTo>
                  <a:pt x="13372" y="1836"/>
                  <a:pt x="13367" y="1860"/>
                  <a:pt x="13357" y="1883"/>
                </a:cubicBezTo>
                <a:cubicBezTo>
                  <a:pt x="13348" y="1906"/>
                  <a:pt x="13335" y="1926"/>
                  <a:pt x="13317" y="1943"/>
                </a:cubicBezTo>
                <a:cubicBezTo>
                  <a:pt x="13300" y="1961"/>
                  <a:pt x="13280" y="1974"/>
                  <a:pt x="13257" y="1983"/>
                </a:cubicBezTo>
                <a:cubicBezTo>
                  <a:pt x="13234" y="1993"/>
                  <a:pt x="13210" y="1997"/>
                  <a:pt x="13186" y="1997"/>
                </a:cubicBezTo>
                <a:lnTo>
                  <a:pt x="186" y="1997"/>
                </a:lnTo>
                <a:cubicBezTo>
                  <a:pt x="161" y="1997"/>
                  <a:pt x="137" y="1993"/>
                  <a:pt x="114" y="1983"/>
                </a:cubicBezTo>
                <a:cubicBezTo>
                  <a:pt x="92" y="1974"/>
                  <a:pt x="72" y="1961"/>
                  <a:pt x="54" y="1943"/>
                </a:cubicBezTo>
                <a:cubicBezTo>
                  <a:pt x="37" y="1926"/>
                  <a:pt x="23" y="1906"/>
                  <a:pt x="14" y="1883"/>
                </a:cubicBezTo>
                <a:cubicBezTo>
                  <a:pt x="5" y="1860"/>
                  <a:pt x="0" y="1836"/>
                  <a:pt x="0" y="1812"/>
                </a:cubicBezTo>
                <a:moveTo>
                  <a:pt x="23" y="186"/>
                </a:moveTo>
                <a:lnTo>
                  <a:pt x="23" y="1812"/>
                </a:lnTo>
                <a:cubicBezTo>
                  <a:pt x="23" y="1822"/>
                  <a:pt x="24" y="1833"/>
                  <a:pt x="26" y="1843"/>
                </a:cubicBezTo>
                <a:cubicBezTo>
                  <a:pt x="28" y="1854"/>
                  <a:pt x="31" y="1864"/>
                  <a:pt x="35" y="1874"/>
                </a:cubicBezTo>
                <a:cubicBezTo>
                  <a:pt x="40" y="1884"/>
                  <a:pt x="45" y="1893"/>
                  <a:pt x="50" y="1902"/>
                </a:cubicBezTo>
                <a:cubicBezTo>
                  <a:pt x="56" y="1911"/>
                  <a:pt x="63" y="1919"/>
                  <a:pt x="71" y="1927"/>
                </a:cubicBezTo>
                <a:cubicBezTo>
                  <a:pt x="78" y="1934"/>
                  <a:pt x="86" y="1941"/>
                  <a:pt x="95" y="1947"/>
                </a:cubicBezTo>
                <a:cubicBezTo>
                  <a:pt x="104" y="1953"/>
                  <a:pt x="114" y="1958"/>
                  <a:pt x="123" y="1962"/>
                </a:cubicBezTo>
                <a:cubicBezTo>
                  <a:pt x="133" y="1966"/>
                  <a:pt x="143" y="1969"/>
                  <a:pt x="154" y="1971"/>
                </a:cubicBezTo>
                <a:cubicBezTo>
                  <a:pt x="164" y="1973"/>
                  <a:pt x="175" y="1974"/>
                  <a:pt x="186" y="1974"/>
                </a:cubicBezTo>
                <a:lnTo>
                  <a:pt x="13186" y="1974"/>
                </a:lnTo>
                <a:cubicBezTo>
                  <a:pt x="13197" y="1974"/>
                  <a:pt x="13207" y="1973"/>
                  <a:pt x="13218" y="1971"/>
                </a:cubicBezTo>
                <a:cubicBezTo>
                  <a:pt x="13228" y="1969"/>
                  <a:pt x="13238" y="1966"/>
                  <a:pt x="13248" y="1962"/>
                </a:cubicBezTo>
                <a:cubicBezTo>
                  <a:pt x="13258" y="1958"/>
                  <a:pt x="13267" y="1953"/>
                  <a:pt x="13276" y="1947"/>
                </a:cubicBezTo>
                <a:cubicBezTo>
                  <a:pt x="13285" y="1941"/>
                  <a:pt x="13293" y="1934"/>
                  <a:pt x="13301" y="1927"/>
                </a:cubicBezTo>
                <a:cubicBezTo>
                  <a:pt x="13308" y="1919"/>
                  <a:pt x="13315" y="1911"/>
                  <a:pt x="13321" y="1902"/>
                </a:cubicBezTo>
                <a:cubicBezTo>
                  <a:pt x="13327" y="1893"/>
                  <a:pt x="13332" y="1884"/>
                  <a:pt x="13336" y="1874"/>
                </a:cubicBezTo>
                <a:cubicBezTo>
                  <a:pt x="13340" y="1864"/>
                  <a:pt x="13343" y="1854"/>
                  <a:pt x="13345" y="1843"/>
                </a:cubicBezTo>
                <a:cubicBezTo>
                  <a:pt x="13347" y="1833"/>
                  <a:pt x="13348" y="1822"/>
                  <a:pt x="13348" y="1812"/>
                </a:cubicBezTo>
                <a:lnTo>
                  <a:pt x="13348" y="186"/>
                </a:lnTo>
                <a:cubicBezTo>
                  <a:pt x="13348" y="175"/>
                  <a:pt x="13347" y="165"/>
                  <a:pt x="13345" y="154"/>
                </a:cubicBezTo>
                <a:cubicBezTo>
                  <a:pt x="13343" y="144"/>
                  <a:pt x="13340" y="134"/>
                  <a:pt x="13336" y="124"/>
                </a:cubicBezTo>
                <a:cubicBezTo>
                  <a:pt x="13332" y="114"/>
                  <a:pt x="13327" y="104"/>
                  <a:pt x="13321" y="96"/>
                </a:cubicBezTo>
                <a:cubicBezTo>
                  <a:pt x="13315" y="87"/>
                  <a:pt x="13308" y="79"/>
                  <a:pt x="13301" y="71"/>
                </a:cubicBezTo>
                <a:cubicBezTo>
                  <a:pt x="13293" y="63"/>
                  <a:pt x="13285" y="57"/>
                  <a:pt x="13276" y="51"/>
                </a:cubicBezTo>
                <a:cubicBezTo>
                  <a:pt x="13267" y="45"/>
                  <a:pt x="13258" y="40"/>
                  <a:pt x="13248" y="36"/>
                </a:cubicBezTo>
                <a:cubicBezTo>
                  <a:pt x="13238" y="32"/>
                  <a:pt x="13228" y="29"/>
                  <a:pt x="13218" y="27"/>
                </a:cubicBezTo>
                <a:cubicBezTo>
                  <a:pt x="13207" y="24"/>
                  <a:pt x="13197" y="23"/>
                  <a:pt x="13186" y="23"/>
                </a:cubicBezTo>
                <a:lnTo>
                  <a:pt x="186" y="23"/>
                </a:lnTo>
                <a:cubicBezTo>
                  <a:pt x="175" y="23"/>
                  <a:pt x="164" y="24"/>
                  <a:pt x="154" y="27"/>
                </a:cubicBezTo>
                <a:cubicBezTo>
                  <a:pt x="143" y="29"/>
                  <a:pt x="133" y="32"/>
                  <a:pt x="123" y="36"/>
                </a:cubicBezTo>
                <a:cubicBezTo>
                  <a:pt x="114" y="40"/>
                  <a:pt x="104" y="45"/>
                  <a:pt x="95" y="51"/>
                </a:cubicBezTo>
                <a:cubicBezTo>
                  <a:pt x="86" y="57"/>
                  <a:pt x="78" y="63"/>
                  <a:pt x="71" y="71"/>
                </a:cubicBezTo>
                <a:cubicBezTo>
                  <a:pt x="63" y="79"/>
                  <a:pt x="56" y="87"/>
                  <a:pt x="50" y="96"/>
                </a:cubicBezTo>
                <a:cubicBezTo>
                  <a:pt x="45" y="104"/>
                  <a:pt x="40" y="114"/>
                  <a:pt x="35" y="124"/>
                </a:cubicBezTo>
                <a:cubicBezTo>
                  <a:pt x="31" y="134"/>
                  <a:pt x="28" y="144"/>
                  <a:pt x="26" y="154"/>
                </a:cubicBezTo>
                <a:cubicBezTo>
                  <a:pt x="24" y="165"/>
                  <a:pt x="23" y="175"/>
                  <a:pt x="23" y="186"/>
                </a:cubicBezTo>
                <a:close/>
              </a:path>
            </a:pathLst>
          </a:custGeom>
          <a:solidFill>
            <a:srgbClr val="4a90e2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5490000" y="1871640"/>
            <a:ext cx="401760" cy="401400"/>
          </a:xfrm>
          <a:custGeom>
            <a:avLst/>
            <a:gdLst/>
            <a:ahLst/>
            <a:rect l="0" t="0" r="r" b="b"/>
            <a:pathLst>
              <a:path w="1116" h="1115">
                <a:moveTo>
                  <a:pt x="1116" y="557"/>
                </a:moveTo>
                <a:cubicBezTo>
                  <a:pt x="1116" y="594"/>
                  <a:pt x="1112" y="630"/>
                  <a:pt x="1105" y="666"/>
                </a:cubicBezTo>
                <a:cubicBezTo>
                  <a:pt x="1098" y="702"/>
                  <a:pt x="1087" y="737"/>
                  <a:pt x="1073" y="771"/>
                </a:cubicBezTo>
                <a:cubicBezTo>
                  <a:pt x="1059" y="804"/>
                  <a:pt x="1042" y="836"/>
                  <a:pt x="1022" y="867"/>
                </a:cubicBezTo>
                <a:cubicBezTo>
                  <a:pt x="1001" y="897"/>
                  <a:pt x="978" y="925"/>
                  <a:pt x="953" y="952"/>
                </a:cubicBezTo>
                <a:cubicBezTo>
                  <a:pt x="927" y="978"/>
                  <a:pt x="898" y="1001"/>
                  <a:pt x="867" y="1022"/>
                </a:cubicBezTo>
                <a:cubicBezTo>
                  <a:pt x="837" y="1042"/>
                  <a:pt x="805" y="1059"/>
                  <a:pt x="771" y="1073"/>
                </a:cubicBezTo>
                <a:cubicBezTo>
                  <a:pt x="737" y="1087"/>
                  <a:pt x="702" y="1098"/>
                  <a:pt x="666" y="1105"/>
                </a:cubicBezTo>
                <a:cubicBezTo>
                  <a:pt x="630" y="1112"/>
                  <a:pt x="594" y="1115"/>
                  <a:pt x="558" y="1115"/>
                </a:cubicBezTo>
                <a:cubicBezTo>
                  <a:pt x="521" y="1115"/>
                  <a:pt x="485" y="1112"/>
                  <a:pt x="449" y="1105"/>
                </a:cubicBezTo>
                <a:cubicBezTo>
                  <a:pt x="413" y="1098"/>
                  <a:pt x="378" y="1087"/>
                  <a:pt x="344" y="1073"/>
                </a:cubicBezTo>
                <a:cubicBezTo>
                  <a:pt x="311" y="1059"/>
                  <a:pt x="278" y="1042"/>
                  <a:pt x="248" y="1022"/>
                </a:cubicBezTo>
                <a:cubicBezTo>
                  <a:pt x="218" y="1001"/>
                  <a:pt x="190" y="978"/>
                  <a:pt x="164" y="952"/>
                </a:cubicBezTo>
                <a:cubicBezTo>
                  <a:pt x="138" y="925"/>
                  <a:pt x="115" y="897"/>
                  <a:pt x="94" y="867"/>
                </a:cubicBezTo>
                <a:cubicBezTo>
                  <a:pt x="74" y="836"/>
                  <a:pt x="57" y="804"/>
                  <a:pt x="43" y="771"/>
                </a:cubicBezTo>
                <a:cubicBezTo>
                  <a:pt x="29" y="737"/>
                  <a:pt x="18" y="702"/>
                  <a:pt x="11" y="666"/>
                </a:cubicBezTo>
                <a:cubicBezTo>
                  <a:pt x="4" y="630"/>
                  <a:pt x="0" y="594"/>
                  <a:pt x="0" y="557"/>
                </a:cubicBezTo>
                <a:cubicBezTo>
                  <a:pt x="0" y="521"/>
                  <a:pt x="4" y="485"/>
                  <a:pt x="11" y="449"/>
                </a:cubicBezTo>
                <a:cubicBezTo>
                  <a:pt x="18" y="413"/>
                  <a:pt x="29" y="378"/>
                  <a:pt x="43" y="344"/>
                </a:cubicBezTo>
                <a:cubicBezTo>
                  <a:pt x="57" y="310"/>
                  <a:pt x="74" y="278"/>
                  <a:pt x="94" y="248"/>
                </a:cubicBezTo>
                <a:cubicBezTo>
                  <a:pt x="115" y="217"/>
                  <a:pt x="138" y="189"/>
                  <a:pt x="164" y="163"/>
                </a:cubicBezTo>
                <a:cubicBezTo>
                  <a:pt x="190" y="138"/>
                  <a:pt x="218" y="114"/>
                  <a:pt x="248" y="94"/>
                </a:cubicBezTo>
                <a:cubicBezTo>
                  <a:pt x="278" y="74"/>
                  <a:pt x="311" y="57"/>
                  <a:pt x="344" y="43"/>
                </a:cubicBezTo>
                <a:cubicBezTo>
                  <a:pt x="378" y="29"/>
                  <a:pt x="413" y="18"/>
                  <a:pt x="449" y="11"/>
                </a:cubicBezTo>
                <a:cubicBezTo>
                  <a:pt x="485" y="4"/>
                  <a:pt x="521" y="0"/>
                  <a:pt x="558" y="0"/>
                </a:cubicBezTo>
                <a:cubicBezTo>
                  <a:pt x="594" y="0"/>
                  <a:pt x="630" y="4"/>
                  <a:pt x="666" y="11"/>
                </a:cubicBezTo>
                <a:cubicBezTo>
                  <a:pt x="702" y="18"/>
                  <a:pt x="737" y="29"/>
                  <a:pt x="771" y="43"/>
                </a:cubicBezTo>
                <a:cubicBezTo>
                  <a:pt x="805" y="57"/>
                  <a:pt x="837" y="74"/>
                  <a:pt x="867" y="94"/>
                </a:cubicBezTo>
                <a:cubicBezTo>
                  <a:pt x="898" y="114"/>
                  <a:pt x="927" y="138"/>
                  <a:pt x="953" y="163"/>
                </a:cubicBezTo>
                <a:cubicBezTo>
                  <a:pt x="978" y="189"/>
                  <a:pt x="1001" y="217"/>
                  <a:pt x="1022" y="248"/>
                </a:cubicBezTo>
                <a:cubicBezTo>
                  <a:pt x="1042" y="278"/>
                  <a:pt x="1059" y="310"/>
                  <a:pt x="1073" y="344"/>
                </a:cubicBezTo>
                <a:cubicBezTo>
                  <a:pt x="1087" y="378"/>
                  <a:pt x="1098" y="413"/>
                  <a:pt x="1105" y="449"/>
                </a:cubicBezTo>
                <a:cubicBezTo>
                  <a:pt x="1112" y="485"/>
                  <a:pt x="1116" y="521"/>
                  <a:pt x="1116" y="557"/>
                </a:cubicBezTo>
                <a:close/>
              </a:path>
            </a:pathLst>
          </a:custGeom>
          <a:solidFill>
            <a:srgbClr val="1e40a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1061280" y="5091840"/>
            <a:ext cx="10569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ムの信頼性向上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5640840" y="1984320"/>
            <a:ext cx="1666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1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6025320" y="1883880"/>
            <a:ext cx="150948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93c5fd"/>
                </a:solidFill>
                <a:effectLst/>
                <a:uFillTx/>
                <a:latin typeface="NotoSansJP"/>
                <a:ea typeface="NotoSansJP"/>
              </a:rPr>
              <a:t>特徴量の抽出と保存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79" name="" descr=""/>
          <p:cNvPicPr/>
          <p:nvPr/>
        </p:nvPicPr>
        <p:blipFill>
          <a:blip r:embed="rId7"/>
          <a:stretch/>
        </p:blipFill>
        <p:spPr>
          <a:xfrm>
            <a:off x="9718920" y="1922040"/>
            <a:ext cx="30060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"/>
          <p:cNvSpPr/>
          <p:nvPr/>
        </p:nvSpPr>
        <p:spPr>
          <a:xfrm>
            <a:off x="5348160" y="2899440"/>
            <a:ext cx="4813920" cy="719280"/>
          </a:xfrm>
          <a:custGeom>
            <a:avLst/>
            <a:gdLst/>
            <a:ahLst/>
            <a:rect l="0" t="0" r="r" b="b"/>
            <a:pathLst>
              <a:path w="13372" h="1998">
                <a:moveTo>
                  <a:pt x="14" y="115"/>
                </a:moveTo>
                <a:cubicBezTo>
                  <a:pt x="23" y="92"/>
                  <a:pt x="37" y="72"/>
                  <a:pt x="54" y="55"/>
                </a:cubicBezTo>
                <a:cubicBezTo>
                  <a:pt x="72" y="37"/>
                  <a:pt x="92" y="24"/>
                  <a:pt x="114" y="15"/>
                </a:cubicBezTo>
                <a:cubicBezTo>
                  <a:pt x="137" y="5"/>
                  <a:pt x="161" y="0"/>
                  <a:pt x="185" y="0"/>
                </a:cubicBezTo>
                <a:lnTo>
                  <a:pt x="13186" y="0"/>
                </a:lnTo>
                <a:cubicBezTo>
                  <a:pt x="13211" y="0"/>
                  <a:pt x="13234" y="5"/>
                  <a:pt x="13257" y="15"/>
                </a:cubicBezTo>
                <a:cubicBezTo>
                  <a:pt x="13280" y="24"/>
                  <a:pt x="13300" y="37"/>
                  <a:pt x="13317" y="55"/>
                </a:cubicBezTo>
                <a:cubicBezTo>
                  <a:pt x="13335" y="72"/>
                  <a:pt x="13348" y="92"/>
                  <a:pt x="13357" y="115"/>
                </a:cubicBezTo>
                <a:cubicBezTo>
                  <a:pt x="13367" y="138"/>
                  <a:pt x="13372" y="162"/>
                  <a:pt x="13372" y="186"/>
                </a:cubicBezTo>
                <a:lnTo>
                  <a:pt x="13372" y="1812"/>
                </a:lnTo>
                <a:cubicBezTo>
                  <a:pt x="13372" y="1837"/>
                  <a:pt x="13367" y="1860"/>
                  <a:pt x="13357" y="1883"/>
                </a:cubicBezTo>
                <a:cubicBezTo>
                  <a:pt x="13348" y="1906"/>
                  <a:pt x="13335" y="1926"/>
                  <a:pt x="13317" y="1943"/>
                </a:cubicBezTo>
                <a:cubicBezTo>
                  <a:pt x="13300" y="1961"/>
                  <a:pt x="13280" y="1974"/>
                  <a:pt x="13257" y="1984"/>
                </a:cubicBezTo>
                <a:cubicBezTo>
                  <a:pt x="13234" y="1993"/>
                  <a:pt x="13210" y="1998"/>
                  <a:pt x="13186" y="1998"/>
                </a:cubicBezTo>
                <a:lnTo>
                  <a:pt x="186" y="1998"/>
                </a:lnTo>
                <a:cubicBezTo>
                  <a:pt x="161" y="1998"/>
                  <a:pt x="137" y="1993"/>
                  <a:pt x="114" y="1984"/>
                </a:cubicBezTo>
                <a:cubicBezTo>
                  <a:pt x="92" y="1974"/>
                  <a:pt x="72" y="1961"/>
                  <a:pt x="54" y="1943"/>
                </a:cubicBezTo>
                <a:cubicBezTo>
                  <a:pt x="37" y="1926"/>
                  <a:pt x="23" y="1906"/>
                  <a:pt x="14" y="1883"/>
                </a:cubicBezTo>
                <a:cubicBezTo>
                  <a:pt x="5" y="1860"/>
                  <a:pt x="0" y="1837"/>
                  <a:pt x="0" y="1812"/>
                </a:cubicBezTo>
                <a:lnTo>
                  <a:pt x="0" y="186"/>
                </a:lnTo>
                <a:cubicBezTo>
                  <a:pt x="0" y="161"/>
                  <a:pt x="5" y="138"/>
                  <a:pt x="14" y="115"/>
                </a:cubicBezTo>
                <a:close/>
              </a:path>
            </a:pathLst>
          </a:custGeom>
          <a:solidFill>
            <a:srgbClr val="4a90e2">
              <a:alpha val="1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5348160" y="2899440"/>
            <a:ext cx="4813920" cy="719280"/>
          </a:xfrm>
          <a:custGeom>
            <a:avLst/>
            <a:gdLst/>
            <a:ahLst/>
            <a:rect l="0" t="0" r="r" b="b"/>
            <a:pathLst>
              <a:path w="13372" h="1998">
                <a:moveTo>
                  <a:pt x="0" y="1812"/>
                </a:moveTo>
                <a:lnTo>
                  <a:pt x="0" y="186"/>
                </a:lnTo>
                <a:cubicBezTo>
                  <a:pt x="0" y="162"/>
                  <a:pt x="5" y="138"/>
                  <a:pt x="14" y="115"/>
                </a:cubicBezTo>
                <a:cubicBezTo>
                  <a:pt x="23" y="92"/>
                  <a:pt x="37" y="72"/>
                  <a:pt x="54" y="55"/>
                </a:cubicBezTo>
                <a:cubicBezTo>
                  <a:pt x="72" y="37"/>
                  <a:pt x="92" y="24"/>
                  <a:pt x="114" y="15"/>
                </a:cubicBezTo>
                <a:cubicBezTo>
                  <a:pt x="137" y="5"/>
                  <a:pt x="161" y="0"/>
                  <a:pt x="186" y="0"/>
                </a:cubicBezTo>
                <a:lnTo>
                  <a:pt x="13186" y="0"/>
                </a:lnTo>
                <a:cubicBezTo>
                  <a:pt x="13210" y="0"/>
                  <a:pt x="13234" y="5"/>
                  <a:pt x="13257" y="15"/>
                </a:cubicBezTo>
                <a:cubicBezTo>
                  <a:pt x="13280" y="24"/>
                  <a:pt x="13300" y="37"/>
                  <a:pt x="13317" y="55"/>
                </a:cubicBezTo>
                <a:cubicBezTo>
                  <a:pt x="13335" y="72"/>
                  <a:pt x="13348" y="92"/>
                  <a:pt x="13357" y="115"/>
                </a:cubicBezTo>
                <a:cubicBezTo>
                  <a:pt x="13367" y="138"/>
                  <a:pt x="13372" y="162"/>
                  <a:pt x="13372" y="186"/>
                </a:cubicBezTo>
                <a:lnTo>
                  <a:pt x="13372" y="1812"/>
                </a:lnTo>
                <a:cubicBezTo>
                  <a:pt x="13372" y="1837"/>
                  <a:pt x="13367" y="1860"/>
                  <a:pt x="13357" y="1883"/>
                </a:cubicBezTo>
                <a:cubicBezTo>
                  <a:pt x="13348" y="1906"/>
                  <a:pt x="13335" y="1926"/>
                  <a:pt x="13317" y="1943"/>
                </a:cubicBezTo>
                <a:cubicBezTo>
                  <a:pt x="13300" y="1961"/>
                  <a:pt x="13280" y="1974"/>
                  <a:pt x="13257" y="1984"/>
                </a:cubicBezTo>
                <a:cubicBezTo>
                  <a:pt x="13234" y="1993"/>
                  <a:pt x="13210" y="1998"/>
                  <a:pt x="13186" y="1998"/>
                </a:cubicBezTo>
                <a:lnTo>
                  <a:pt x="186" y="1998"/>
                </a:lnTo>
                <a:cubicBezTo>
                  <a:pt x="161" y="1998"/>
                  <a:pt x="137" y="1993"/>
                  <a:pt x="114" y="1984"/>
                </a:cubicBezTo>
                <a:cubicBezTo>
                  <a:pt x="92" y="1974"/>
                  <a:pt x="72" y="1961"/>
                  <a:pt x="54" y="1943"/>
                </a:cubicBezTo>
                <a:cubicBezTo>
                  <a:pt x="37" y="1926"/>
                  <a:pt x="23" y="1906"/>
                  <a:pt x="14" y="1883"/>
                </a:cubicBezTo>
                <a:cubicBezTo>
                  <a:pt x="5" y="1860"/>
                  <a:pt x="0" y="1837"/>
                  <a:pt x="0" y="1812"/>
                </a:cubicBezTo>
                <a:moveTo>
                  <a:pt x="23" y="186"/>
                </a:moveTo>
                <a:lnTo>
                  <a:pt x="23" y="1812"/>
                </a:lnTo>
                <a:cubicBezTo>
                  <a:pt x="23" y="1823"/>
                  <a:pt x="24" y="1833"/>
                  <a:pt x="26" y="1844"/>
                </a:cubicBezTo>
                <a:cubicBezTo>
                  <a:pt x="28" y="1854"/>
                  <a:pt x="31" y="1864"/>
                  <a:pt x="35" y="1874"/>
                </a:cubicBezTo>
                <a:cubicBezTo>
                  <a:pt x="40" y="1884"/>
                  <a:pt x="45" y="1893"/>
                  <a:pt x="50" y="1902"/>
                </a:cubicBezTo>
                <a:cubicBezTo>
                  <a:pt x="56" y="1911"/>
                  <a:pt x="63" y="1919"/>
                  <a:pt x="71" y="1927"/>
                </a:cubicBezTo>
                <a:cubicBezTo>
                  <a:pt x="78" y="1934"/>
                  <a:pt x="86" y="1941"/>
                  <a:pt x="95" y="1947"/>
                </a:cubicBezTo>
                <a:cubicBezTo>
                  <a:pt x="104" y="1953"/>
                  <a:pt x="114" y="1958"/>
                  <a:pt x="123" y="1962"/>
                </a:cubicBezTo>
                <a:cubicBezTo>
                  <a:pt x="133" y="1966"/>
                  <a:pt x="143" y="1969"/>
                  <a:pt x="154" y="1971"/>
                </a:cubicBezTo>
                <a:cubicBezTo>
                  <a:pt x="164" y="1973"/>
                  <a:pt x="175" y="1975"/>
                  <a:pt x="186" y="1975"/>
                </a:cubicBezTo>
                <a:lnTo>
                  <a:pt x="13186" y="1975"/>
                </a:lnTo>
                <a:cubicBezTo>
                  <a:pt x="13197" y="1975"/>
                  <a:pt x="13207" y="1973"/>
                  <a:pt x="13218" y="1971"/>
                </a:cubicBezTo>
                <a:cubicBezTo>
                  <a:pt x="13228" y="1969"/>
                  <a:pt x="13238" y="1966"/>
                  <a:pt x="13248" y="1962"/>
                </a:cubicBezTo>
                <a:cubicBezTo>
                  <a:pt x="13258" y="1958"/>
                  <a:pt x="13267" y="1953"/>
                  <a:pt x="13276" y="1947"/>
                </a:cubicBezTo>
                <a:cubicBezTo>
                  <a:pt x="13285" y="1941"/>
                  <a:pt x="13293" y="1934"/>
                  <a:pt x="13301" y="1927"/>
                </a:cubicBezTo>
                <a:cubicBezTo>
                  <a:pt x="13308" y="1919"/>
                  <a:pt x="13315" y="1911"/>
                  <a:pt x="13321" y="1902"/>
                </a:cubicBezTo>
                <a:cubicBezTo>
                  <a:pt x="13327" y="1893"/>
                  <a:pt x="13332" y="1884"/>
                  <a:pt x="13336" y="1874"/>
                </a:cubicBezTo>
                <a:cubicBezTo>
                  <a:pt x="13340" y="1864"/>
                  <a:pt x="13343" y="1854"/>
                  <a:pt x="13345" y="1844"/>
                </a:cubicBezTo>
                <a:cubicBezTo>
                  <a:pt x="13347" y="1833"/>
                  <a:pt x="13348" y="1823"/>
                  <a:pt x="13348" y="1812"/>
                </a:cubicBezTo>
                <a:lnTo>
                  <a:pt x="13348" y="186"/>
                </a:lnTo>
                <a:cubicBezTo>
                  <a:pt x="13348" y="175"/>
                  <a:pt x="13347" y="165"/>
                  <a:pt x="13345" y="154"/>
                </a:cubicBezTo>
                <a:cubicBezTo>
                  <a:pt x="13343" y="144"/>
                  <a:pt x="13340" y="134"/>
                  <a:pt x="13336" y="124"/>
                </a:cubicBezTo>
                <a:cubicBezTo>
                  <a:pt x="13332" y="114"/>
                  <a:pt x="13327" y="105"/>
                  <a:pt x="13321" y="96"/>
                </a:cubicBezTo>
                <a:cubicBezTo>
                  <a:pt x="13315" y="87"/>
                  <a:pt x="13308" y="79"/>
                  <a:pt x="13301" y="71"/>
                </a:cubicBezTo>
                <a:cubicBezTo>
                  <a:pt x="13293" y="64"/>
                  <a:pt x="13285" y="57"/>
                  <a:pt x="13276" y="51"/>
                </a:cubicBezTo>
                <a:cubicBezTo>
                  <a:pt x="13267" y="45"/>
                  <a:pt x="13258" y="40"/>
                  <a:pt x="13248" y="36"/>
                </a:cubicBezTo>
                <a:cubicBezTo>
                  <a:pt x="13238" y="32"/>
                  <a:pt x="13228" y="29"/>
                  <a:pt x="13218" y="27"/>
                </a:cubicBezTo>
                <a:cubicBezTo>
                  <a:pt x="13207" y="25"/>
                  <a:pt x="13197" y="24"/>
                  <a:pt x="13186" y="24"/>
                </a:cubicBezTo>
                <a:lnTo>
                  <a:pt x="186" y="24"/>
                </a:lnTo>
                <a:cubicBezTo>
                  <a:pt x="175" y="24"/>
                  <a:pt x="164" y="25"/>
                  <a:pt x="154" y="27"/>
                </a:cubicBezTo>
                <a:cubicBezTo>
                  <a:pt x="143" y="29"/>
                  <a:pt x="133" y="32"/>
                  <a:pt x="123" y="36"/>
                </a:cubicBezTo>
                <a:cubicBezTo>
                  <a:pt x="114" y="40"/>
                  <a:pt x="104" y="45"/>
                  <a:pt x="95" y="51"/>
                </a:cubicBezTo>
                <a:cubicBezTo>
                  <a:pt x="86" y="57"/>
                  <a:pt x="78" y="64"/>
                  <a:pt x="71" y="71"/>
                </a:cubicBezTo>
                <a:cubicBezTo>
                  <a:pt x="63" y="79"/>
                  <a:pt x="56" y="87"/>
                  <a:pt x="50" y="96"/>
                </a:cubicBezTo>
                <a:cubicBezTo>
                  <a:pt x="45" y="105"/>
                  <a:pt x="40" y="114"/>
                  <a:pt x="35" y="124"/>
                </a:cubicBezTo>
                <a:cubicBezTo>
                  <a:pt x="31" y="134"/>
                  <a:pt x="28" y="144"/>
                  <a:pt x="26" y="154"/>
                </a:cubicBezTo>
                <a:cubicBezTo>
                  <a:pt x="24" y="165"/>
                  <a:pt x="23" y="175"/>
                  <a:pt x="23" y="186"/>
                </a:cubicBezTo>
                <a:close/>
              </a:path>
            </a:pathLst>
          </a:custGeom>
          <a:solidFill>
            <a:srgbClr val="4a90e2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5490000" y="3058200"/>
            <a:ext cx="401760" cy="401760"/>
          </a:xfrm>
          <a:custGeom>
            <a:avLst/>
            <a:gdLst/>
            <a:ahLst/>
            <a:rect l="0" t="0" r="r" b="b"/>
            <a:pathLst>
              <a:path w="1116" h="1116">
                <a:moveTo>
                  <a:pt x="1116" y="558"/>
                </a:moveTo>
                <a:cubicBezTo>
                  <a:pt x="1116" y="594"/>
                  <a:pt x="1112" y="630"/>
                  <a:pt x="1105" y="666"/>
                </a:cubicBezTo>
                <a:cubicBezTo>
                  <a:pt x="1098" y="702"/>
                  <a:pt x="1087" y="737"/>
                  <a:pt x="1073" y="771"/>
                </a:cubicBezTo>
                <a:cubicBezTo>
                  <a:pt x="1059" y="805"/>
                  <a:pt x="1042" y="837"/>
                  <a:pt x="1022" y="867"/>
                </a:cubicBezTo>
                <a:cubicBezTo>
                  <a:pt x="1001" y="898"/>
                  <a:pt x="978" y="926"/>
                  <a:pt x="953" y="952"/>
                </a:cubicBezTo>
                <a:cubicBezTo>
                  <a:pt x="927" y="978"/>
                  <a:pt x="898" y="1001"/>
                  <a:pt x="867" y="1022"/>
                </a:cubicBezTo>
                <a:cubicBezTo>
                  <a:pt x="837" y="1042"/>
                  <a:pt x="805" y="1059"/>
                  <a:pt x="771" y="1073"/>
                </a:cubicBezTo>
                <a:cubicBezTo>
                  <a:pt x="737" y="1087"/>
                  <a:pt x="702" y="1098"/>
                  <a:pt x="666" y="1105"/>
                </a:cubicBezTo>
                <a:cubicBezTo>
                  <a:pt x="630" y="1112"/>
                  <a:pt x="594" y="1116"/>
                  <a:pt x="558" y="1116"/>
                </a:cubicBezTo>
                <a:cubicBezTo>
                  <a:pt x="521" y="1116"/>
                  <a:pt x="485" y="1112"/>
                  <a:pt x="449" y="1105"/>
                </a:cubicBezTo>
                <a:cubicBezTo>
                  <a:pt x="413" y="1098"/>
                  <a:pt x="378" y="1087"/>
                  <a:pt x="344" y="1073"/>
                </a:cubicBezTo>
                <a:cubicBezTo>
                  <a:pt x="311" y="1059"/>
                  <a:pt x="278" y="1042"/>
                  <a:pt x="248" y="1022"/>
                </a:cubicBezTo>
                <a:cubicBezTo>
                  <a:pt x="218" y="1001"/>
                  <a:pt x="190" y="978"/>
                  <a:pt x="164" y="952"/>
                </a:cubicBezTo>
                <a:cubicBezTo>
                  <a:pt x="138" y="926"/>
                  <a:pt x="115" y="898"/>
                  <a:pt x="94" y="867"/>
                </a:cubicBezTo>
                <a:cubicBezTo>
                  <a:pt x="74" y="837"/>
                  <a:pt x="57" y="805"/>
                  <a:pt x="43" y="771"/>
                </a:cubicBezTo>
                <a:cubicBezTo>
                  <a:pt x="29" y="737"/>
                  <a:pt x="18" y="702"/>
                  <a:pt x="11" y="666"/>
                </a:cubicBezTo>
                <a:cubicBezTo>
                  <a:pt x="4" y="630"/>
                  <a:pt x="0" y="594"/>
                  <a:pt x="0" y="558"/>
                </a:cubicBezTo>
                <a:cubicBezTo>
                  <a:pt x="0" y="521"/>
                  <a:pt x="4" y="485"/>
                  <a:pt x="11" y="449"/>
                </a:cubicBezTo>
                <a:cubicBezTo>
                  <a:pt x="18" y="413"/>
                  <a:pt x="29" y="378"/>
                  <a:pt x="43" y="344"/>
                </a:cubicBezTo>
                <a:cubicBezTo>
                  <a:pt x="57" y="311"/>
                  <a:pt x="74" y="278"/>
                  <a:pt x="94" y="248"/>
                </a:cubicBezTo>
                <a:cubicBezTo>
                  <a:pt x="115" y="218"/>
                  <a:pt x="138" y="190"/>
                  <a:pt x="164" y="164"/>
                </a:cubicBezTo>
                <a:cubicBezTo>
                  <a:pt x="190" y="138"/>
                  <a:pt x="218" y="115"/>
                  <a:pt x="248" y="94"/>
                </a:cubicBezTo>
                <a:cubicBezTo>
                  <a:pt x="278" y="74"/>
                  <a:pt x="311" y="57"/>
                  <a:pt x="344" y="43"/>
                </a:cubicBezTo>
                <a:cubicBezTo>
                  <a:pt x="378" y="29"/>
                  <a:pt x="413" y="18"/>
                  <a:pt x="449" y="11"/>
                </a:cubicBezTo>
                <a:cubicBezTo>
                  <a:pt x="485" y="4"/>
                  <a:pt x="521" y="0"/>
                  <a:pt x="558" y="0"/>
                </a:cubicBezTo>
                <a:cubicBezTo>
                  <a:pt x="594" y="0"/>
                  <a:pt x="630" y="4"/>
                  <a:pt x="666" y="11"/>
                </a:cubicBezTo>
                <a:cubicBezTo>
                  <a:pt x="702" y="18"/>
                  <a:pt x="737" y="29"/>
                  <a:pt x="771" y="43"/>
                </a:cubicBezTo>
                <a:cubicBezTo>
                  <a:pt x="805" y="57"/>
                  <a:pt x="837" y="74"/>
                  <a:pt x="867" y="94"/>
                </a:cubicBezTo>
                <a:cubicBezTo>
                  <a:pt x="898" y="115"/>
                  <a:pt x="927" y="138"/>
                  <a:pt x="953" y="164"/>
                </a:cubicBezTo>
                <a:cubicBezTo>
                  <a:pt x="978" y="190"/>
                  <a:pt x="1001" y="218"/>
                  <a:pt x="1022" y="248"/>
                </a:cubicBezTo>
                <a:cubicBezTo>
                  <a:pt x="1042" y="278"/>
                  <a:pt x="1059" y="311"/>
                  <a:pt x="1073" y="344"/>
                </a:cubicBezTo>
                <a:cubicBezTo>
                  <a:pt x="1087" y="378"/>
                  <a:pt x="1098" y="413"/>
                  <a:pt x="1105" y="449"/>
                </a:cubicBezTo>
                <a:cubicBezTo>
                  <a:pt x="1112" y="485"/>
                  <a:pt x="1116" y="521"/>
                  <a:pt x="1116" y="558"/>
                </a:cubicBezTo>
                <a:close/>
              </a:path>
            </a:pathLst>
          </a:custGeom>
          <a:solidFill>
            <a:srgbClr val="1e40a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6025320" y="2124000"/>
            <a:ext cx="28170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所有者の画像から特徴量ベクトルを抽出し保存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5640840" y="3170880"/>
            <a:ext cx="1666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2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6025320" y="3070440"/>
            <a:ext cx="184464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93c5fd"/>
                </a:solidFill>
                <a:effectLst/>
                <a:uFillTx/>
                <a:latin typeface="NotoSansJP"/>
                <a:ea typeface="NotoSansJP"/>
              </a:rPr>
              <a:t>人物探索モードへの移行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86" name="" descr=""/>
          <p:cNvPicPr/>
          <p:nvPr/>
        </p:nvPicPr>
        <p:blipFill>
          <a:blip r:embed="rId8"/>
          <a:stretch/>
        </p:blipFill>
        <p:spPr>
          <a:xfrm>
            <a:off x="9718920" y="3108600"/>
            <a:ext cx="30060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"/>
          <p:cNvSpPr/>
          <p:nvPr/>
        </p:nvSpPr>
        <p:spPr>
          <a:xfrm>
            <a:off x="5348160" y="4086360"/>
            <a:ext cx="4813920" cy="718920"/>
          </a:xfrm>
          <a:custGeom>
            <a:avLst/>
            <a:gdLst/>
            <a:ahLst/>
            <a:rect l="0" t="0" r="r" b="b"/>
            <a:pathLst>
              <a:path w="13372" h="1997">
                <a:moveTo>
                  <a:pt x="14" y="114"/>
                </a:moveTo>
                <a:cubicBezTo>
                  <a:pt x="23" y="92"/>
                  <a:pt x="37" y="71"/>
                  <a:pt x="54" y="54"/>
                </a:cubicBezTo>
                <a:cubicBezTo>
                  <a:pt x="72" y="37"/>
                  <a:pt x="92" y="23"/>
                  <a:pt x="114" y="14"/>
                </a:cubicBezTo>
                <a:cubicBezTo>
                  <a:pt x="137" y="4"/>
                  <a:pt x="161" y="0"/>
                  <a:pt x="186" y="0"/>
                </a:cubicBezTo>
                <a:lnTo>
                  <a:pt x="13186" y="0"/>
                </a:lnTo>
                <a:cubicBezTo>
                  <a:pt x="13211" y="0"/>
                  <a:pt x="13234" y="4"/>
                  <a:pt x="13257" y="14"/>
                </a:cubicBezTo>
                <a:cubicBezTo>
                  <a:pt x="13280" y="23"/>
                  <a:pt x="13300" y="37"/>
                  <a:pt x="13317" y="54"/>
                </a:cubicBezTo>
                <a:cubicBezTo>
                  <a:pt x="13335" y="71"/>
                  <a:pt x="13348" y="92"/>
                  <a:pt x="13357" y="114"/>
                </a:cubicBezTo>
                <a:cubicBezTo>
                  <a:pt x="13367" y="137"/>
                  <a:pt x="13372" y="161"/>
                  <a:pt x="13372" y="185"/>
                </a:cubicBezTo>
                <a:lnTo>
                  <a:pt x="13372" y="1811"/>
                </a:lnTo>
                <a:cubicBezTo>
                  <a:pt x="13372" y="1836"/>
                  <a:pt x="13367" y="1860"/>
                  <a:pt x="13357" y="1882"/>
                </a:cubicBezTo>
                <a:cubicBezTo>
                  <a:pt x="13348" y="1905"/>
                  <a:pt x="13335" y="1925"/>
                  <a:pt x="13317" y="1943"/>
                </a:cubicBezTo>
                <a:cubicBezTo>
                  <a:pt x="13300" y="1960"/>
                  <a:pt x="13280" y="1973"/>
                  <a:pt x="13257" y="1983"/>
                </a:cubicBezTo>
                <a:cubicBezTo>
                  <a:pt x="13234" y="1992"/>
                  <a:pt x="13210" y="1997"/>
                  <a:pt x="13186" y="1997"/>
                </a:cubicBezTo>
                <a:lnTo>
                  <a:pt x="186" y="1997"/>
                </a:lnTo>
                <a:cubicBezTo>
                  <a:pt x="161" y="1997"/>
                  <a:pt x="137" y="1992"/>
                  <a:pt x="114" y="1983"/>
                </a:cubicBezTo>
                <a:cubicBezTo>
                  <a:pt x="92" y="1973"/>
                  <a:pt x="72" y="1960"/>
                  <a:pt x="54" y="1943"/>
                </a:cubicBezTo>
                <a:cubicBezTo>
                  <a:pt x="37" y="1925"/>
                  <a:pt x="23" y="1905"/>
                  <a:pt x="14" y="1882"/>
                </a:cubicBezTo>
                <a:cubicBezTo>
                  <a:pt x="5" y="1860"/>
                  <a:pt x="0" y="1836"/>
                  <a:pt x="0" y="1811"/>
                </a:cubicBezTo>
                <a:lnTo>
                  <a:pt x="0" y="185"/>
                </a:lnTo>
                <a:cubicBezTo>
                  <a:pt x="0" y="161"/>
                  <a:pt x="5" y="137"/>
                  <a:pt x="14" y="114"/>
                </a:cubicBezTo>
                <a:close/>
              </a:path>
            </a:pathLst>
          </a:custGeom>
          <a:solidFill>
            <a:srgbClr val="4a90e2">
              <a:alpha val="1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5348160" y="4086360"/>
            <a:ext cx="4813920" cy="718920"/>
          </a:xfrm>
          <a:custGeom>
            <a:avLst/>
            <a:gdLst/>
            <a:ahLst/>
            <a:rect l="0" t="0" r="r" b="b"/>
            <a:pathLst>
              <a:path w="13372" h="1997">
                <a:moveTo>
                  <a:pt x="0" y="1811"/>
                </a:moveTo>
                <a:lnTo>
                  <a:pt x="0" y="185"/>
                </a:lnTo>
                <a:cubicBezTo>
                  <a:pt x="0" y="161"/>
                  <a:pt x="5" y="137"/>
                  <a:pt x="14" y="114"/>
                </a:cubicBezTo>
                <a:cubicBezTo>
                  <a:pt x="23" y="92"/>
                  <a:pt x="37" y="71"/>
                  <a:pt x="54" y="54"/>
                </a:cubicBezTo>
                <a:cubicBezTo>
                  <a:pt x="72" y="37"/>
                  <a:pt x="92" y="23"/>
                  <a:pt x="114" y="14"/>
                </a:cubicBezTo>
                <a:cubicBezTo>
                  <a:pt x="137" y="4"/>
                  <a:pt x="161" y="0"/>
                  <a:pt x="186" y="0"/>
                </a:cubicBezTo>
                <a:lnTo>
                  <a:pt x="13186" y="0"/>
                </a:lnTo>
                <a:cubicBezTo>
                  <a:pt x="13210" y="0"/>
                  <a:pt x="13234" y="4"/>
                  <a:pt x="13257" y="14"/>
                </a:cubicBezTo>
                <a:cubicBezTo>
                  <a:pt x="13280" y="23"/>
                  <a:pt x="13300" y="37"/>
                  <a:pt x="13317" y="54"/>
                </a:cubicBezTo>
                <a:cubicBezTo>
                  <a:pt x="13335" y="71"/>
                  <a:pt x="13348" y="92"/>
                  <a:pt x="13357" y="114"/>
                </a:cubicBezTo>
                <a:cubicBezTo>
                  <a:pt x="13367" y="137"/>
                  <a:pt x="13372" y="161"/>
                  <a:pt x="13372" y="185"/>
                </a:cubicBezTo>
                <a:lnTo>
                  <a:pt x="13372" y="1811"/>
                </a:lnTo>
                <a:cubicBezTo>
                  <a:pt x="13372" y="1836"/>
                  <a:pt x="13367" y="1860"/>
                  <a:pt x="13357" y="1882"/>
                </a:cubicBezTo>
                <a:cubicBezTo>
                  <a:pt x="13348" y="1905"/>
                  <a:pt x="13335" y="1925"/>
                  <a:pt x="13317" y="1943"/>
                </a:cubicBezTo>
                <a:cubicBezTo>
                  <a:pt x="13300" y="1960"/>
                  <a:pt x="13280" y="1973"/>
                  <a:pt x="13257" y="1983"/>
                </a:cubicBezTo>
                <a:cubicBezTo>
                  <a:pt x="13234" y="1992"/>
                  <a:pt x="13210" y="1997"/>
                  <a:pt x="13186" y="1997"/>
                </a:cubicBezTo>
                <a:lnTo>
                  <a:pt x="186" y="1997"/>
                </a:lnTo>
                <a:cubicBezTo>
                  <a:pt x="161" y="1997"/>
                  <a:pt x="137" y="1992"/>
                  <a:pt x="114" y="1983"/>
                </a:cubicBezTo>
                <a:cubicBezTo>
                  <a:pt x="92" y="1973"/>
                  <a:pt x="72" y="1960"/>
                  <a:pt x="54" y="1943"/>
                </a:cubicBezTo>
                <a:cubicBezTo>
                  <a:pt x="37" y="1925"/>
                  <a:pt x="23" y="1905"/>
                  <a:pt x="14" y="1882"/>
                </a:cubicBezTo>
                <a:cubicBezTo>
                  <a:pt x="5" y="1860"/>
                  <a:pt x="0" y="1836"/>
                  <a:pt x="0" y="1811"/>
                </a:cubicBezTo>
                <a:moveTo>
                  <a:pt x="23" y="185"/>
                </a:moveTo>
                <a:lnTo>
                  <a:pt x="23" y="1811"/>
                </a:lnTo>
                <a:cubicBezTo>
                  <a:pt x="23" y="1822"/>
                  <a:pt x="24" y="1833"/>
                  <a:pt x="26" y="1843"/>
                </a:cubicBezTo>
                <a:cubicBezTo>
                  <a:pt x="28" y="1853"/>
                  <a:pt x="31" y="1864"/>
                  <a:pt x="35" y="1873"/>
                </a:cubicBezTo>
                <a:cubicBezTo>
                  <a:pt x="40" y="1883"/>
                  <a:pt x="45" y="1893"/>
                  <a:pt x="50" y="1902"/>
                </a:cubicBezTo>
                <a:cubicBezTo>
                  <a:pt x="56" y="1910"/>
                  <a:pt x="63" y="1919"/>
                  <a:pt x="71" y="1926"/>
                </a:cubicBezTo>
                <a:cubicBezTo>
                  <a:pt x="78" y="1934"/>
                  <a:pt x="86" y="1940"/>
                  <a:pt x="95" y="1946"/>
                </a:cubicBezTo>
                <a:cubicBezTo>
                  <a:pt x="104" y="1952"/>
                  <a:pt x="114" y="1957"/>
                  <a:pt x="123" y="1961"/>
                </a:cubicBezTo>
                <a:cubicBezTo>
                  <a:pt x="133" y="1966"/>
                  <a:pt x="143" y="1969"/>
                  <a:pt x="154" y="1971"/>
                </a:cubicBezTo>
                <a:cubicBezTo>
                  <a:pt x="164" y="1973"/>
                  <a:pt x="175" y="1974"/>
                  <a:pt x="186" y="1974"/>
                </a:cubicBezTo>
                <a:lnTo>
                  <a:pt x="13186" y="1974"/>
                </a:lnTo>
                <a:cubicBezTo>
                  <a:pt x="13197" y="1974"/>
                  <a:pt x="13207" y="1973"/>
                  <a:pt x="13218" y="1971"/>
                </a:cubicBezTo>
                <a:cubicBezTo>
                  <a:pt x="13228" y="1969"/>
                  <a:pt x="13238" y="1966"/>
                  <a:pt x="13248" y="1961"/>
                </a:cubicBezTo>
                <a:cubicBezTo>
                  <a:pt x="13258" y="1957"/>
                  <a:pt x="13267" y="1952"/>
                  <a:pt x="13276" y="1946"/>
                </a:cubicBezTo>
                <a:cubicBezTo>
                  <a:pt x="13285" y="1940"/>
                  <a:pt x="13293" y="1934"/>
                  <a:pt x="13301" y="1926"/>
                </a:cubicBezTo>
                <a:cubicBezTo>
                  <a:pt x="13308" y="1919"/>
                  <a:pt x="13315" y="1910"/>
                  <a:pt x="13321" y="1902"/>
                </a:cubicBezTo>
                <a:cubicBezTo>
                  <a:pt x="13327" y="1893"/>
                  <a:pt x="13332" y="1883"/>
                  <a:pt x="13336" y="1873"/>
                </a:cubicBezTo>
                <a:cubicBezTo>
                  <a:pt x="13340" y="1864"/>
                  <a:pt x="13343" y="1853"/>
                  <a:pt x="13345" y="1843"/>
                </a:cubicBezTo>
                <a:cubicBezTo>
                  <a:pt x="13347" y="1833"/>
                  <a:pt x="13348" y="1822"/>
                  <a:pt x="13348" y="1811"/>
                </a:cubicBezTo>
                <a:lnTo>
                  <a:pt x="13348" y="185"/>
                </a:lnTo>
                <a:cubicBezTo>
                  <a:pt x="13348" y="175"/>
                  <a:pt x="13347" y="164"/>
                  <a:pt x="13345" y="154"/>
                </a:cubicBezTo>
                <a:cubicBezTo>
                  <a:pt x="13343" y="143"/>
                  <a:pt x="13340" y="133"/>
                  <a:pt x="13336" y="123"/>
                </a:cubicBezTo>
                <a:cubicBezTo>
                  <a:pt x="13332" y="113"/>
                  <a:pt x="13327" y="104"/>
                  <a:pt x="13321" y="95"/>
                </a:cubicBezTo>
                <a:cubicBezTo>
                  <a:pt x="13315" y="86"/>
                  <a:pt x="13308" y="78"/>
                  <a:pt x="13301" y="70"/>
                </a:cubicBezTo>
                <a:cubicBezTo>
                  <a:pt x="13293" y="63"/>
                  <a:pt x="13285" y="56"/>
                  <a:pt x="13276" y="50"/>
                </a:cubicBezTo>
                <a:cubicBezTo>
                  <a:pt x="13267" y="44"/>
                  <a:pt x="13258" y="39"/>
                  <a:pt x="13248" y="35"/>
                </a:cubicBezTo>
                <a:cubicBezTo>
                  <a:pt x="13238" y="31"/>
                  <a:pt x="13228" y="28"/>
                  <a:pt x="13218" y="26"/>
                </a:cubicBezTo>
                <a:cubicBezTo>
                  <a:pt x="13207" y="24"/>
                  <a:pt x="13197" y="23"/>
                  <a:pt x="13186" y="23"/>
                </a:cubicBezTo>
                <a:lnTo>
                  <a:pt x="186" y="23"/>
                </a:lnTo>
                <a:cubicBezTo>
                  <a:pt x="175" y="23"/>
                  <a:pt x="164" y="24"/>
                  <a:pt x="154" y="26"/>
                </a:cubicBezTo>
                <a:cubicBezTo>
                  <a:pt x="143" y="28"/>
                  <a:pt x="133" y="31"/>
                  <a:pt x="123" y="35"/>
                </a:cubicBezTo>
                <a:cubicBezTo>
                  <a:pt x="114" y="39"/>
                  <a:pt x="104" y="44"/>
                  <a:pt x="95" y="50"/>
                </a:cubicBezTo>
                <a:cubicBezTo>
                  <a:pt x="86" y="56"/>
                  <a:pt x="78" y="63"/>
                  <a:pt x="71" y="70"/>
                </a:cubicBezTo>
                <a:cubicBezTo>
                  <a:pt x="63" y="78"/>
                  <a:pt x="56" y="86"/>
                  <a:pt x="50" y="95"/>
                </a:cubicBezTo>
                <a:cubicBezTo>
                  <a:pt x="45" y="104"/>
                  <a:pt x="40" y="113"/>
                  <a:pt x="35" y="123"/>
                </a:cubicBezTo>
                <a:cubicBezTo>
                  <a:pt x="31" y="133"/>
                  <a:pt x="28" y="143"/>
                  <a:pt x="26" y="154"/>
                </a:cubicBezTo>
                <a:cubicBezTo>
                  <a:pt x="24" y="164"/>
                  <a:pt x="23" y="175"/>
                  <a:pt x="23" y="185"/>
                </a:cubicBezTo>
                <a:close/>
              </a:path>
            </a:pathLst>
          </a:custGeom>
          <a:solidFill>
            <a:srgbClr val="4a90e2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5490000" y="4245120"/>
            <a:ext cx="401760" cy="401400"/>
          </a:xfrm>
          <a:custGeom>
            <a:avLst/>
            <a:gdLst/>
            <a:ahLst/>
            <a:rect l="0" t="0" r="r" b="b"/>
            <a:pathLst>
              <a:path w="1116" h="1115">
                <a:moveTo>
                  <a:pt x="1116" y="557"/>
                </a:moveTo>
                <a:cubicBezTo>
                  <a:pt x="1116" y="593"/>
                  <a:pt x="1112" y="630"/>
                  <a:pt x="1105" y="666"/>
                </a:cubicBezTo>
                <a:cubicBezTo>
                  <a:pt x="1098" y="701"/>
                  <a:pt x="1087" y="736"/>
                  <a:pt x="1073" y="770"/>
                </a:cubicBezTo>
                <a:cubicBezTo>
                  <a:pt x="1059" y="804"/>
                  <a:pt x="1042" y="836"/>
                  <a:pt x="1022" y="866"/>
                </a:cubicBezTo>
                <a:cubicBezTo>
                  <a:pt x="1001" y="897"/>
                  <a:pt x="978" y="925"/>
                  <a:pt x="953" y="951"/>
                </a:cubicBezTo>
                <a:cubicBezTo>
                  <a:pt x="927" y="977"/>
                  <a:pt x="898" y="1000"/>
                  <a:pt x="867" y="1021"/>
                </a:cubicBezTo>
                <a:cubicBezTo>
                  <a:pt x="837" y="1041"/>
                  <a:pt x="805" y="1059"/>
                  <a:pt x="771" y="1073"/>
                </a:cubicBezTo>
                <a:cubicBezTo>
                  <a:pt x="737" y="1087"/>
                  <a:pt x="702" y="1097"/>
                  <a:pt x="666" y="1104"/>
                </a:cubicBezTo>
                <a:cubicBezTo>
                  <a:pt x="630" y="1111"/>
                  <a:pt x="594" y="1115"/>
                  <a:pt x="558" y="1115"/>
                </a:cubicBezTo>
                <a:cubicBezTo>
                  <a:pt x="521" y="1115"/>
                  <a:pt x="485" y="1111"/>
                  <a:pt x="449" y="1104"/>
                </a:cubicBezTo>
                <a:cubicBezTo>
                  <a:pt x="413" y="1097"/>
                  <a:pt x="378" y="1087"/>
                  <a:pt x="344" y="1073"/>
                </a:cubicBezTo>
                <a:cubicBezTo>
                  <a:pt x="311" y="1059"/>
                  <a:pt x="278" y="1041"/>
                  <a:pt x="248" y="1021"/>
                </a:cubicBezTo>
                <a:cubicBezTo>
                  <a:pt x="218" y="1000"/>
                  <a:pt x="190" y="977"/>
                  <a:pt x="164" y="951"/>
                </a:cubicBezTo>
                <a:cubicBezTo>
                  <a:pt x="138" y="925"/>
                  <a:pt x="115" y="897"/>
                  <a:pt x="94" y="866"/>
                </a:cubicBezTo>
                <a:cubicBezTo>
                  <a:pt x="74" y="836"/>
                  <a:pt x="57" y="804"/>
                  <a:pt x="43" y="770"/>
                </a:cubicBezTo>
                <a:cubicBezTo>
                  <a:pt x="29" y="736"/>
                  <a:pt x="18" y="701"/>
                  <a:pt x="11" y="666"/>
                </a:cubicBezTo>
                <a:cubicBezTo>
                  <a:pt x="4" y="630"/>
                  <a:pt x="0" y="593"/>
                  <a:pt x="0" y="557"/>
                </a:cubicBezTo>
                <a:cubicBezTo>
                  <a:pt x="0" y="520"/>
                  <a:pt x="4" y="484"/>
                  <a:pt x="11" y="448"/>
                </a:cubicBezTo>
                <a:cubicBezTo>
                  <a:pt x="18" y="412"/>
                  <a:pt x="29" y="377"/>
                  <a:pt x="43" y="344"/>
                </a:cubicBezTo>
                <a:cubicBezTo>
                  <a:pt x="57" y="310"/>
                  <a:pt x="74" y="278"/>
                  <a:pt x="94" y="247"/>
                </a:cubicBezTo>
                <a:cubicBezTo>
                  <a:pt x="115" y="217"/>
                  <a:pt x="138" y="189"/>
                  <a:pt x="164" y="163"/>
                </a:cubicBezTo>
                <a:cubicBezTo>
                  <a:pt x="190" y="137"/>
                  <a:pt x="218" y="114"/>
                  <a:pt x="248" y="94"/>
                </a:cubicBezTo>
                <a:cubicBezTo>
                  <a:pt x="278" y="73"/>
                  <a:pt x="311" y="56"/>
                  <a:pt x="344" y="42"/>
                </a:cubicBezTo>
                <a:cubicBezTo>
                  <a:pt x="378" y="28"/>
                  <a:pt x="413" y="18"/>
                  <a:pt x="449" y="10"/>
                </a:cubicBezTo>
                <a:cubicBezTo>
                  <a:pt x="485" y="3"/>
                  <a:pt x="521" y="0"/>
                  <a:pt x="558" y="0"/>
                </a:cubicBezTo>
                <a:cubicBezTo>
                  <a:pt x="594" y="0"/>
                  <a:pt x="630" y="3"/>
                  <a:pt x="666" y="10"/>
                </a:cubicBezTo>
                <a:cubicBezTo>
                  <a:pt x="702" y="18"/>
                  <a:pt x="737" y="28"/>
                  <a:pt x="771" y="42"/>
                </a:cubicBezTo>
                <a:cubicBezTo>
                  <a:pt x="805" y="56"/>
                  <a:pt x="837" y="73"/>
                  <a:pt x="867" y="94"/>
                </a:cubicBezTo>
                <a:cubicBezTo>
                  <a:pt x="898" y="114"/>
                  <a:pt x="927" y="137"/>
                  <a:pt x="953" y="163"/>
                </a:cubicBezTo>
                <a:cubicBezTo>
                  <a:pt x="978" y="189"/>
                  <a:pt x="1001" y="217"/>
                  <a:pt x="1022" y="247"/>
                </a:cubicBezTo>
                <a:cubicBezTo>
                  <a:pt x="1042" y="278"/>
                  <a:pt x="1059" y="310"/>
                  <a:pt x="1073" y="344"/>
                </a:cubicBezTo>
                <a:cubicBezTo>
                  <a:pt x="1087" y="377"/>
                  <a:pt x="1098" y="412"/>
                  <a:pt x="1105" y="448"/>
                </a:cubicBezTo>
                <a:cubicBezTo>
                  <a:pt x="1112" y="484"/>
                  <a:pt x="1116" y="520"/>
                  <a:pt x="1116" y="557"/>
                </a:cubicBezTo>
                <a:close/>
              </a:path>
            </a:pathLst>
          </a:custGeom>
          <a:solidFill>
            <a:srgbClr val="1e40a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6025320" y="3310560"/>
            <a:ext cx="24148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所有者の追跡が失敗した場合に自動切替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5640840" y="4357440"/>
            <a:ext cx="1666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3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6025320" y="4257360"/>
            <a:ext cx="134172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93c5fd"/>
                </a:solidFill>
                <a:effectLst/>
                <a:uFillTx/>
                <a:latin typeface="NotoSansJP"/>
                <a:ea typeface="NotoSansJP"/>
              </a:rPr>
              <a:t>再識別と追跡再開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93" name="" descr=""/>
          <p:cNvPicPr/>
          <p:nvPr/>
        </p:nvPicPr>
        <p:blipFill>
          <a:blip r:embed="rId9"/>
          <a:stretch/>
        </p:blipFill>
        <p:spPr>
          <a:xfrm>
            <a:off x="9643680" y="4295520"/>
            <a:ext cx="375840" cy="300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4" name="" descr=""/>
          <p:cNvPicPr/>
          <p:nvPr/>
        </p:nvPicPr>
        <p:blipFill>
          <a:blip r:embed="rId10"/>
          <a:stretch/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5" name="" descr=""/>
          <p:cNvPicPr/>
          <p:nvPr/>
        </p:nvPicPr>
        <p:blipFill>
          <a:blip r:embed="rId11"/>
          <a:stretch/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"/>
          <p:cNvSpPr/>
          <p:nvPr/>
        </p:nvSpPr>
        <p:spPr>
          <a:xfrm>
            <a:off x="5949720" y="2632320"/>
            <a:ext cx="3610440" cy="16920"/>
          </a:xfrm>
          <a:custGeom>
            <a:avLst/>
            <a:gdLst/>
            <a:ahLst/>
            <a:rect l="0" t="0" r="r" b="b"/>
            <a:pathLst>
              <a:path w="10029" h="47">
                <a:moveTo>
                  <a:pt x="0" y="0"/>
                </a:moveTo>
                <a:lnTo>
                  <a:pt x="139" y="0"/>
                </a:lnTo>
                <a:lnTo>
                  <a:pt x="139" y="47"/>
                </a:lnTo>
                <a:lnTo>
                  <a:pt x="0" y="47"/>
                </a:lnTo>
                <a:lnTo>
                  <a:pt x="0" y="0"/>
                </a:lnTo>
                <a:moveTo>
                  <a:pt x="230" y="0"/>
                </a:moveTo>
                <a:lnTo>
                  <a:pt x="369" y="0"/>
                </a:lnTo>
                <a:lnTo>
                  <a:pt x="369" y="47"/>
                </a:lnTo>
                <a:lnTo>
                  <a:pt x="230" y="47"/>
                </a:lnTo>
                <a:lnTo>
                  <a:pt x="230" y="0"/>
                </a:lnTo>
                <a:moveTo>
                  <a:pt x="460" y="0"/>
                </a:moveTo>
                <a:lnTo>
                  <a:pt x="599" y="0"/>
                </a:lnTo>
                <a:lnTo>
                  <a:pt x="599" y="47"/>
                </a:lnTo>
                <a:lnTo>
                  <a:pt x="460" y="47"/>
                </a:lnTo>
                <a:lnTo>
                  <a:pt x="460" y="0"/>
                </a:lnTo>
                <a:moveTo>
                  <a:pt x="690" y="0"/>
                </a:moveTo>
                <a:lnTo>
                  <a:pt x="829" y="0"/>
                </a:lnTo>
                <a:lnTo>
                  <a:pt x="829" y="47"/>
                </a:lnTo>
                <a:lnTo>
                  <a:pt x="690" y="47"/>
                </a:lnTo>
                <a:lnTo>
                  <a:pt x="690" y="0"/>
                </a:lnTo>
                <a:moveTo>
                  <a:pt x="920" y="0"/>
                </a:moveTo>
                <a:lnTo>
                  <a:pt x="1059" y="0"/>
                </a:lnTo>
                <a:lnTo>
                  <a:pt x="1059" y="47"/>
                </a:lnTo>
                <a:lnTo>
                  <a:pt x="920" y="47"/>
                </a:lnTo>
                <a:lnTo>
                  <a:pt x="920" y="0"/>
                </a:lnTo>
                <a:moveTo>
                  <a:pt x="1150" y="0"/>
                </a:moveTo>
                <a:lnTo>
                  <a:pt x="1289" y="0"/>
                </a:lnTo>
                <a:lnTo>
                  <a:pt x="1289" y="47"/>
                </a:lnTo>
                <a:lnTo>
                  <a:pt x="1150" y="47"/>
                </a:lnTo>
                <a:lnTo>
                  <a:pt x="1150" y="0"/>
                </a:lnTo>
                <a:moveTo>
                  <a:pt x="1380" y="0"/>
                </a:moveTo>
                <a:lnTo>
                  <a:pt x="1519" y="0"/>
                </a:lnTo>
                <a:lnTo>
                  <a:pt x="1519" y="47"/>
                </a:lnTo>
                <a:lnTo>
                  <a:pt x="1380" y="47"/>
                </a:lnTo>
                <a:lnTo>
                  <a:pt x="1380" y="0"/>
                </a:lnTo>
                <a:moveTo>
                  <a:pt x="1610" y="0"/>
                </a:moveTo>
                <a:lnTo>
                  <a:pt x="1749" y="0"/>
                </a:lnTo>
                <a:lnTo>
                  <a:pt x="1749" y="47"/>
                </a:lnTo>
                <a:lnTo>
                  <a:pt x="1610" y="47"/>
                </a:lnTo>
                <a:lnTo>
                  <a:pt x="1610" y="0"/>
                </a:lnTo>
                <a:moveTo>
                  <a:pt x="1840" y="0"/>
                </a:moveTo>
                <a:lnTo>
                  <a:pt x="1979" y="0"/>
                </a:lnTo>
                <a:lnTo>
                  <a:pt x="1979" y="47"/>
                </a:lnTo>
                <a:lnTo>
                  <a:pt x="1840" y="47"/>
                </a:lnTo>
                <a:lnTo>
                  <a:pt x="1840" y="0"/>
                </a:lnTo>
                <a:moveTo>
                  <a:pt x="2070" y="0"/>
                </a:moveTo>
                <a:lnTo>
                  <a:pt x="2209" y="0"/>
                </a:lnTo>
                <a:lnTo>
                  <a:pt x="2209" y="47"/>
                </a:lnTo>
                <a:lnTo>
                  <a:pt x="2070" y="47"/>
                </a:lnTo>
                <a:lnTo>
                  <a:pt x="2070" y="0"/>
                </a:lnTo>
                <a:moveTo>
                  <a:pt x="2300" y="0"/>
                </a:moveTo>
                <a:lnTo>
                  <a:pt x="2439" y="0"/>
                </a:lnTo>
                <a:lnTo>
                  <a:pt x="2439" y="47"/>
                </a:lnTo>
                <a:lnTo>
                  <a:pt x="2300" y="47"/>
                </a:lnTo>
                <a:lnTo>
                  <a:pt x="2300" y="0"/>
                </a:lnTo>
                <a:moveTo>
                  <a:pt x="2530" y="0"/>
                </a:moveTo>
                <a:lnTo>
                  <a:pt x="2669" y="0"/>
                </a:lnTo>
                <a:lnTo>
                  <a:pt x="2669" y="47"/>
                </a:lnTo>
                <a:lnTo>
                  <a:pt x="2530" y="47"/>
                </a:lnTo>
                <a:lnTo>
                  <a:pt x="2530" y="0"/>
                </a:lnTo>
                <a:moveTo>
                  <a:pt x="2760" y="0"/>
                </a:moveTo>
                <a:lnTo>
                  <a:pt x="2899" y="0"/>
                </a:lnTo>
                <a:lnTo>
                  <a:pt x="2899" y="47"/>
                </a:lnTo>
                <a:lnTo>
                  <a:pt x="2760" y="47"/>
                </a:lnTo>
                <a:lnTo>
                  <a:pt x="2760" y="0"/>
                </a:lnTo>
                <a:moveTo>
                  <a:pt x="2990" y="0"/>
                </a:moveTo>
                <a:lnTo>
                  <a:pt x="3129" y="0"/>
                </a:lnTo>
                <a:lnTo>
                  <a:pt x="3129" y="47"/>
                </a:lnTo>
                <a:lnTo>
                  <a:pt x="2990" y="47"/>
                </a:lnTo>
                <a:lnTo>
                  <a:pt x="2990" y="0"/>
                </a:lnTo>
                <a:moveTo>
                  <a:pt x="3220" y="0"/>
                </a:moveTo>
                <a:lnTo>
                  <a:pt x="3359" y="0"/>
                </a:lnTo>
                <a:lnTo>
                  <a:pt x="3359" y="47"/>
                </a:lnTo>
                <a:lnTo>
                  <a:pt x="3220" y="47"/>
                </a:lnTo>
                <a:lnTo>
                  <a:pt x="3220" y="0"/>
                </a:lnTo>
                <a:moveTo>
                  <a:pt x="3450" y="0"/>
                </a:moveTo>
                <a:lnTo>
                  <a:pt x="3589" y="0"/>
                </a:lnTo>
                <a:lnTo>
                  <a:pt x="3589" y="47"/>
                </a:lnTo>
                <a:lnTo>
                  <a:pt x="3450" y="47"/>
                </a:lnTo>
                <a:lnTo>
                  <a:pt x="3450" y="0"/>
                </a:lnTo>
                <a:moveTo>
                  <a:pt x="3680" y="0"/>
                </a:moveTo>
                <a:lnTo>
                  <a:pt x="3819" y="0"/>
                </a:lnTo>
                <a:lnTo>
                  <a:pt x="3819" y="47"/>
                </a:lnTo>
                <a:lnTo>
                  <a:pt x="3680" y="47"/>
                </a:lnTo>
                <a:lnTo>
                  <a:pt x="3680" y="0"/>
                </a:lnTo>
                <a:moveTo>
                  <a:pt x="3910" y="0"/>
                </a:moveTo>
                <a:lnTo>
                  <a:pt x="4049" y="0"/>
                </a:lnTo>
                <a:lnTo>
                  <a:pt x="4049" y="47"/>
                </a:lnTo>
                <a:lnTo>
                  <a:pt x="3910" y="47"/>
                </a:lnTo>
                <a:lnTo>
                  <a:pt x="3910" y="0"/>
                </a:lnTo>
                <a:moveTo>
                  <a:pt x="4140" y="0"/>
                </a:moveTo>
                <a:lnTo>
                  <a:pt x="4279" y="0"/>
                </a:lnTo>
                <a:lnTo>
                  <a:pt x="4279" y="47"/>
                </a:lnTo>
                <a:lnTo>
                  <a:pt x="4140" y="47"/>
                </a:lnTo>
                <a:lnTo>
                  <a:pt x="4140" y="0"/>
                </a:lnTo>
                <a:moveTo>
                  <a:pt x="4370" y="0"/>
                </a:moveTo>
                <a:lnTo>
                  <a:pt x="4509" y="0"/>
                </a:lnTo>
                <a:lnTo>
                  <a:pt x="4509" y="47"/>
                </a:lnTo>
                <a:lnTo>
                  <a:pt x="4370" y="47"/>
                </a:lnTo>
                <a:lnTo>
                  <a:pt x="4370" y="0"/>
                </a:lnTo>
                <a:moveTo>
                  <a:pt x="4600" y="0"/>
                </a:moveTo>
                <a:lnTo>
                  <a:pt x="4739" y="0"/>
                </a:lnTo>
                <a:lnTo>
                  <a:pt x="4739" y="47"/>
                </a:lnTo>
                <a:lnTo>
                  <a:pt x="4600" y="47"/>
                </a:lnTo>
                <a:lnTo>
                  <a:pt x="4600" y="0"/>
                </a:lnTo>
                <a:moveTo>
                  <a:pt x="4830" y="0"/>
                </a:moveTo>
                <a:lnTo>
                  <a:pt x="4969" y="0"/>
                </a:lnTo>
                <a:lnTo>
                  <a:pt x="4969" y="47"/>
                </a:lnTo>
                <a:lnTo>
                  <a:pt x="4830" y="47"/>
                </a:lnTo>
                <a:lnTo>
                  <a:pt x="4830" y="0"/>
                </a:lnTo>
                <a:moveTo>
                  <a:pt x="5060" y="0"/>
                </a:moveTo>
                <a:lnTo>
                  <a:pt x="5199" y="0"/>
                </a:lnTo>
                <a:lnTo>
                  <a:pt x="5199" y="47"/>
                </a:lnTo>
                <a:lnTo>
                  <a:pt x="5060" y="47"/>
                </a:lnTo>
                <a:lnTo>
                  <a:pt x="5060" y="0"/>
                </a:lnTo>
                <a:moveTo>
                  <a:pt x="5290" y="0"/>
                </a:moveTo>
                <a:lnTo>
                  <a:pt x="5429" y="0"/>
                </a:lnTo>
                <a:lnTo>
                  <a:pt x="5429" y="47"/>
                </a:lnTo>
                <a:lnTo>
                  <a:pt x="5290" y="47"/>
                </a:lnTo>
                <a:lnTo>
                  <a:pt x="5290" y="0"/>
                </a:lnTo>
                <a:moveTo>
                  <a:pt x="5520" y="0"/>
                </a:moveTo>
                <a:lnTo>
                  <a:pt x="5659" y="0"/>
                </a:lnTo>
                <a:lnTo>
                  <a:pt x="5659" y="47"/>
                </a:lnTo>
                <a:lnTo>
                  <a:pt x="5520" y="47"/>
                </a:lnTo>
                <a:lnTo>
                  <a:pt x="5520" y="0"/>
                </a:lnTo>
                <a:moveTo>
                  <a:pt x="5749" y="0"/>
                </a:moveTo>
                <a:lnTo>
                  <a:pt x="5889" y="0"/>
                </a:lnTo>
                <a:lnTo>
                  <a:pt x="5889" y="47"/>
                </a:lnTo>
                <a:lnTo>
                  <a:pt x="5749" y="47"/>
                </a:lnTo>
                <a:lnTo>
                  <a:pt x="5749" y="0"/>
                </a:lnTo>
                <a:moveTo>
                  <a:pt x="5979" y="0"/>
                </a:moveTo>
                <a:lnTo>
                  <a:pt x="6119" y="0"/>
                </a:lnTo>
                <a:lnTo>
                  <a:pt x="6119" y="47"/>
                </a:lnTo>
                <a:lnTo>
                  <a:pt x="5979" y="47"/>
                </a:lnTo>
                <a:lnTo>
                  <a:pt x="5979" y="0"/>
                </a:lnTo>
                <a:moveTo>
                  <a:pt x="6209" y="0"/>
                </a:moveTo>
                <a:lnTo>
                  <a:pt x="6349" y="0"/>
                </a:lnTo>
                <a:lnTo>
                  <a:pt x="6349" y="47"/>
                </a:lnTo>
                <a:lnTo>
                  <a:pt x="6209" y="47"/>
                </a:lnTo>
                <a:lnTo>
                  <a:pt x="6209" y="0"/>
                </a:lnTo>
                <a:moveTo>
                  <a:pt x="6439" y="0"/>
                </a:moveTo>
                <a:lnTo>
                  <a:pt x="6579" y="0"/>
                </a:lnTo>
                <a:lnTo>
                  <a:pt x="6579" y="47"/>
                </a:lnTo>
                <a:lnTo>
                  <a:pt x="6439" y="47"/>
                </a:lnTo>
                <a:lnTo>
                  <a:pt x="6439" y="0"/>
                </a:lnTo>
                <a:moveTo>
                  <a:pt x="6669" y="0"/>
                </a:moveTo>
                <a:lnTo>
                  <a:pt x="6809" y="0"/>
                </a:lnTo>
                <a:lnTo>
                  <a:pt x="6809" y="47"/>
                </a:lnTo>
                <a:lnTo>
                  <a:pt x="6669" y="47"/>
                </a:lnTo>
                <a:lnTo>
                  <a:pt x="6669" y="0"/>
                </a:lnTo>
                <a:moveTo>
                  <a:pt x="6899" y="0"/>
                </a:moveTo>
                <a:lnTo>
                  <a:pt x="7039" y="0"/>
                </a:lnTo>
                <a:lnTo>
                  <a:pt x="7039" y="47"/>
                </a:lnTo>
                <a:lnTo>
                  <a:pt x="6899" y="47"/>
                </a:lnTo>
                <a:lnTo>
                  <a:pt x="6899" y="0"/>
                </a:lnTo>
                <a:moveTo>
                  <a:pt x="7129" y="0"/>
                </a:moveTo>
                <a:lnTo>
                  <a:pt x="7269" y="0"/>
                </a:lnTo>
                <a:lnTo>
                  <a:pt x="7269" y="47"/>
                </a:lnTo>
                <a:lnTo>
                  <a:pt x="7129" y="47"/>
                </a:lnTo>
                <a:lnTo>
                  <a:pt x="7129" y="0"/>
                </a:lnTo>
                <a:moveTo>
                  <a:pt x="7359" y="0"/>
                </a:moveTo>
                <a:lnTo>
                  <a:pt x="7499" y="0"/>
                </a:lnTo>
                <a:lnTo>
                  <a:pt x="7499" y="47"/>
                </a:lnTo>
                <a:lnTo>
                  <a:pt x="7359" y="47"/>
                </a:lnTo>
                <a:lnTo>
                  <a:pt x="7359" y="0"/>
                </a:lnTo>
                <a:moveTo>
                  <a:pt x="7589" y="0"/>
                </a:moveTo>
                <a:lnTo>
                  <a:pt x="7729" y="0"/>
                </a:lnTo>
                <a:lnTo>
                  <a:pt x="7729" y="47"/>
                </a:lnTo>
                <a:lnTo>
                  <a:pt x="7589" y="47"/>
                </a:lnTo>
                <a:lnTo>
                  <a:pt x="7589" y="0"/>
                </a:lnTo>
                <a:moveTo>
                  <a:pt x="7819" y="0"/>
                </a:moveTo>
                <a:lnTo>
                  <a:pt x="7958" y="0"/>
                </a:lnTo>
                <a:lnTo>
                  <a:pt x="7958" y="47"/>
                </a:lnTo>
                <a:lnTo>
                  <a:pt x="7819" y="47"/>
                </a:lnTo>
                <a:lnTo>
                  <a:pt x="7819" y="0"/>
                </a:lnTo>
                <a:moveTo>
                  <a:pt x="8049" y="0"/>
                </a:moveTo>
                <a:lnTo>
                  <a:pt x="8188" y="0"/>
                </a:lnTo>
                <a:lnTo>
                  <a:pt x="8188" y="47"/>
                </a:lnTo>
                <a:lnTo>
                  <a:pt x="8049" y="47"/>
                </a:lnTo>
                <a:lnTo>
                  <a:pt x="8049" y="0"/>
                </a:lnTo>
                <a:moveTo>
                  <a:pt x="8279" y="0"/>
                </a:moveTo>
                <a:lnTo>
                  <a:pt x="8418" y="0"/>
                </a:lnTo>
                <a:lnTo>
                  <a:pt x="8418" y="47"/>
                </a:lnTo>
                <a:lnTo>
                  <a:pt x="8279" y="47"/>
                </a:lnTo>
                <a:lnTo>
                  <a:pt x="8279" y="0"/>
                </a:lnTo>
                <a:moveTo>
                  <a:pt x="8509" y="0"/>
                </a:moveTo>
                <a:lnTo>
                  <a:pt x="8649" y="0"/>
                </a:lnTo>
                <a:lnTo>
                  <a:pt x="8649" y="47"/>
                </a:lnTo>
                <a:lnTo>
                  <a:pt x="8509" y="47"/>
                </a:lnTo>
                <a:lnTo>
                  <a:pt x="8509" y="0"/>
                </a:lnTo>
                <a:moveTo>
                  <a:pt x="8740" y="0"/>
                </a:moveTo>
                <a:lnTo>
                  <a:pt x="8879" y="0"/>
                </a:lnTo>
                <a:lnTo>
                  <a:pt x="8879" y="47"/>
                </a:lnTo>
                <a:lnTo>
                  <a:pt x="8740" y="47"/>
                </a:lnTo>
                <a:lnTo>
                  <a:pt x="8740" y="0"/>
                </a:lnTo>
                <a:moveTo>
                  <a:pt x="8970" y="0"/>
                </a:moveTo>
                <a:lnTo>
                  <a:pt x="9109" y="0"/>
                </a:lnTo>
                <a:lnTo>
                  <a:pt x="9109" y="47"/>
                </a:lnTo>
                <a:lnTo>
                  <a:pt x="8970" y="47"/>
                </a:lnTo>
                <a:lnTo>
                  <a:pt x="8970" y="0"/>
                </a:lnTo>
                <a:moveTo>
                  <a:pt x="9200" y="0"/>
                </a:moveTo>
                <a:lnTo>
                  <a:pt x="9339" y="0"/>
                </a:lnTo>
                <a:lnTo>
                  <a:pt x="9339" y="47"/>
                </a:lnTo>
                <a:lnTo>
                  <a:pt x="9200" y="47"/>
                </a:lnTo>
                <a:lnTo>
                  <a:pt x="9200" y="0"/>
                </a:lnTo>
                <a:moveTo>
                  <a:pt x="9430" y="0"/>
                </a:moveTo>
                <a:lnTo>
                  <a:pt x="9569" y="0"/>
                </a:lnTo>
                <a:lnTo>
                  <a:pt x="9569" y="47"/>
                </a:lnTo>
                <a:lnTo>
                  <a:pt x="9430" y="47"/>
                </a:lnTo>
                <a:lnTo>
                  <a:pt x="9430" y="0"/>
                </a:lnTo>
                <a:moveTo>
                  <a:pt x="9660" y="0"/>
                </a:moveTo>
                <a:lnTo>
                  <a:pt x="9799" y="0"/>
                </a:lnTo>
                <a:lnTo>
                  <a:pt x="9799" y="47"/>
                </a:lnTo>
                <a:lnTo>
                  <a:pt x="9660" y="47"/>
                </a:lnTo>
                <a:lnTo>
                  <a:pt x="9660" y="0"/>
                </a:lnTo>
                <a:moveTo>
                  <a:pt x="9890" y="0"/>
                </a:moveTo>
                <a:lnTo>
                  <a:pt x="10029" y="0"/>
                </a:lnTo>
                <a:lnTo>
                  <a:pt x="10029" y="47"/>
                </a:lnTo>
                <a:lnTo>
                  <a:pt x="9890" y="47"/>
                </a:lnTo>
                <a:lnTo>
                  <a:pt x="9890" y="0"/>
                </a:lnTo>
                <a:close/>
              </a:path>
            </a:pathLst>
          </a:custGeom>
          <a:solidFill>
            <a:srgbClr val="e0e0e0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9476280" y="2598840"/>
            <a:ext cx="83880" cy="83880"/>
          </a:xfrm>
          <a:custGeom>
            <a:avLst/>
            <a:gdLst/>
            <a:ahLst/>
            <a:rect l="0" t="0" r="r" b="b"/>
            <a:pathLst>
              <a:path w="233" h="233">
                <a:moveTo>
                  <a:pt x="0" y="0"/>
                </a:moveTo>
                <a:lnTo>
                  <a:pt x="0" y="233"/>
                </a:lnTo>
                <a:lnTo>
                  <a:pt x="233" y="117"/>
                </a:lnTo>
                <a:lnTo>
                  <a:pt x="0" y="0"/>
                </a:lnTo>
                <a:close/>
              </a:path>
            </a:pathLst>
          </a:custGeom>
          <a:solidFill>
            <a:srgbClr val="e0e0e0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5949720" y="3818880"/>
            <a:ext cx="3610440" cy="16920"/>
          </a:xfrm>
          <a:custGeom>
            <a:avLst/>
            <a:gdLst/>
            <a:ahLst/>
            <a:rect l="0" t="0" r="r" b="b"/>
            <a:pathLst>
              <a:path w="10029" h="47">
                <a:moveTo>
                  <a:pt x="0" y="0"/>
                </a:moveTo>
                <a:lnTo>
                  <a:pt x="139" y="0"/>
                </a:lnTo>
                <a:lnTo>
                  <a:pt x="139" y="47"/>
                </a:lnTo>
                <a:lnTo>
                  <a:pt x="0" y="47"/>
                </a:lnTo>
                <a:lnTo>
                  <a:pt x="0" y="0"/>
                </a:lnTo>
                <a:moveTo>
                  <a:pt x="230" y="0"/>
                </a:moveTo>
                <a:lnTo>
                  <a:pt x="369" y="0"/>
                </a:lnTo>
                <a:lnTo>
                  <a:pt x="369" y="47"/>
                </a:lnTo>
                <a:lnTo>
                  <a:pt x="230" y="47"/>
                </a:lnTo>
                <a:lnTo>
                  <a:pt x="230" y="0"/>
                </a:lnTo>
                <a:moveTo>
                  <a:pt x="460" y="0"/>
                </a:moveTo>
                <a:lnTo>
                  <a:pt x="599" y="0"/>
                </a:lnTo>
                <a:lnTo>
                  <a:pt x="599" y="47"/>
                </a:lnTo>
                <a:lnTo>
                  <a:pt x="460" y="47"/>
                </a:lnTo>
                <a:lnTo>
                  <a:pt x="460" y="0"/>
                </a:lnTo>
                <a:moveTo>
                  <a:pt x="690" y="0"/>
                </a:moveTo>
                <a:lnTo>
                  <a:pt x="829" y="0"/>
                </a:lnTo>
                <a:lnTo>
                  <a:pt x="829" y="47"/>
                </a:lnTo>
                <a:lnTo>
                  <a:pt x="690" y="47"/>
                </a:lnTo>
                <a:lnTo>
                  <a:pt x="690" y="0"/>
                </a:lnTo>
                <a:moveTo>
                  <a:pt x="920" y="0"/>
                </a:moveTo>
                <a:lnTo>
                  <a:pt x="1059" y="0"/>
                </a:lnTo>
                <a:lnTo>
                  <a:pt x="1059" y="47"/>
                </a:lnTo>
                <a:lnTo>
                  <a:pt x="920" y="47"/>
                </a:lnTo>
                <a:lnTo>
                  <a:pt x="920" y="0"/>
                </a:lnTo>
                <a:moveTo>
                  <a:pt x="1150" y="0"/>
                </a:moveTo>
                <a:lnTo>
                  <a:pt x="1289" y="0"/>
                </a:lnTo>
                <a:lnTo>
                  <a:pt x="1289" y="47"/>
                </a:lnTo>
                <a:lnTo>
                  <a:pt x="1150" y="47"/>
                </a:lnTo>
                <a:lnTo>
                  <a:pt x="1150" y="0"/>
                </a:lnTo>
                <a:moveTo>
                  <a:pt x="1380" y="0"/>
                </a:moveTo>
                <a:lnTo>
                  <a:pt x="1519" y="0"/>
                </a:lnTo>
                <a:lnTo>
                  <a:pt x="1519" y="47"/>
                </a:lnTo>
                <a:lnTo>
                  <a:pt x="1380" y="47"/>
                </a:lnTo>
                <a:lnTo>
                  <a:pt x="1380" y="0"/>
                </a:lnTo>
                <a:moveTo>
                  <a:pt x="1610" y="0"/>
                </a:moveTo>
                <a:lnTo>
                  <a:pt x="1749" y="0"/>
                </a:lnTo>
                <a:lnTo>
                  <a:pt x="1749" y="47"/>
                </a:lnTo>
                <a:lnTo>
                  <a:pt x="1610" y="47"/>
                </a:lnTo>
                <a:lnTo>
                  <a:pt x="1610" y="0"/>
                </a:lnTo>
                <a:moveTo>
                  <a:pt x="1840" y="0"/>
                </a:moveTo>
                <a:lnTo>
                  <a:pt x="1979" y="0"/>
                </a:lnTo>
                <a:lnTo>
                  <a:pt x="1979" y="47"/>
                </a:lnTo>
                <a:lnTo>
                  <a:pt x="1840" y="47"/>
                </a:lnTo>
                <a:lnTo>
                  <a:pt x="1840" y="0"/>
                </a:lnTo>
                <a:moveTo>
                  <a:pt x="2070" y="0"/>
                </a:moveTo>
                <a:lnTo>
                  <a:pt x="2209" y="0"/>
                </a:lnTo>
                <a:lnTo>
                  <a:pt x="2209" y="47"/>
                </a:lnTo>
                <a:lnTo>
                  <a:pt x="2070" y="47"/>
                </a:lnTo>
                <a:lnTo>
                  <a:pt x="2070" y="0"/>
                </a:lnTo>
                <a:moveTo>
                  <a:pt x="2300" y="0"/>
                </a:moveTo>
                <a:lnTo>
                  <a:pt x="2439" y="0"/>
                </a:lnTo>
                <a:lnTo>
                  <a:pt x="2439" y="47"/>
                </a:lnTo>
                <a:lnTo>
                  <a:pt x="2300" y="47"/>
                </a:lnTo>
                <a:lnTo>
                  <a:pt x="2300" y="0"/>
                </a:lnTo>
                <a:moveTo>
                  <a:pt x="2530" y="0"/>
                </a:moveTo>
                <a:lnTo>
                  <a:pt x="2669" y="0"/>
                </a:lnTo>
                <a:lnTo>
                  <a:pt x="2669" y="47"/>
                </a:lnTo>
                <a:lnTo>
                  <a:pt x="2530" y="47"/>
                </a:lnTo>
                <a:lnTo>
                  <a:pt x="2530" y="0"/>
                </a:lnTo>
                <a:moveTo>
                  <a:pt x="2760" y="0"/>
                </a:moveTo>
                <a:lnTo>
                  <a:pt x="2899" y="0"/>
                </a:lnTo>
                <a:lnTo>
                  <a:pt x="2899" y="47"/>
                </a:lnTo>
                <a:lnTo>
                  <a:pt x="2760" y="47"/>
                </a:lnTo>
                <a:lnTo>
                  <a:pt x="2760" y="0"/>
                </a:lnTo>
                <a:moveTo>
                  <a:pt x="2990" y="0"/>
                </a:moveTo>
                <a:lnTo>
                  <a:pt x="3129" y="0"/>
                </a:lnTo>
                <a:lnTo>
                  <a:pt x="3129" y="47"/>
                </a:lnTo>
                <a:lnTo>
                  <a:pt x="2990" y="47"/>
                </a:lnTo>
                <a:lnTo>
                  <a:pt x="2990" y="0"/>
                </a:lnTo>
                <a:moveTo>
                  <a:pt x="3220" y="0"/>
                </a:moveTo>
                <a:lnTo>
                  <a:pt x="3359" y="0"/>
                </a:lnTo>
                <a:lnTo>
                  <a:pt x="3359" y="47"/>
                </a:lnTo>
                <a:lnTo>
                  <a:pt x="3220" y="47"/>
                </a:lnTo>
                <a:lnTo>
                  <a:pt x="3220" y="0"/>
                </a:lnTo>
                <a:moveTo>
                  <a:pt x="3450" y="0"/>
                </a:moveTo>
                <a:lnTo>
                  <a:pt x="3589" y="0"/>
                </a:lnTo>
                <a:lnTo>
                  <a:pt x="3589" y="47"/>
                </a:lnTo>
                <a:lnTo>
                  <a:pt x="3450" y="47"/>
                </a:lnTo>
                <a:lnTo>
                  <a:pt x="3450" y="0"/>
                </a:lnTo>
                <a:moveTo>
                  <a:pt x="3680" y="0"/>
                </a:moveTo>
                <a:lnTo>
                  <a:pt x="3819" y="0"/>
                </a:lnTo>
                <a:lnTo>
                  <a:pt x="3819" y="47"/>
                </a:lnTo>
                <a:lnTo>
                  <a:pt x="3680" y="47"/>
                </a:lnTo>
                <a:lnTo>
                  <a:pt x="3680" y="0"/>
                </a:lnTo>
                <a:moveTo>
                  <a:pt x="3910" y="0"/>
                </a:moveTo>
                <a:lnTo>
                  <a:pt x="4049" y="0"/>
                </a:lnTo>
                <a:lnTo>
                  <a:pt x="4049" y="47"/>
                </a:lnTo>
                <a:lnTo>
                  <a:pt x="3910" y="47"/>
                </a:lnTo>
                <a:lnTo>
                  <a:pt x="3910" y="0"/>
                </a:lnTo>
                <a:moveTo>
                  <a:pt x="4140" y="0"/>
                </a:moveTo>
                <a:lnTo>
                  <a:pt x="4279" y="0"/>
                </a:lnTo>
                <a:lnTo>
                  <a:pt x="4279" y="47"/>
                </a:lnTo>
                <a:lnTo>
                  <a:pt x="4140" y="47"/>
                </a:lnTo>
                <a:lnTo>
                  <a:pt x="4140" y="0"/>
                </a:lnTo>
                <a:moveTo>
                  <a:pt x="4370" y="0"/>
                </a:moveTo>
                <a:lnTo>
                  <a:pt x="4509" y="0"/>
                </a:lnTo>
                <a:lnTo>
                  <a:pt x="4509" y="47"/>
                </a:lnTo>
                <a:lnTo>
                  <a:pt x="4370" y="47"/>
                </a:lnTo>
                <a:lnTo>
                  <a:pt x="4370" y="0"/>
                </a:lnTo>
                <a:moveTo>
                  <a:pt x="4600" y="0"/>
                </a:moveTo>
                <a:lnTo>
                  <a:pt x="4739" y="0"/>
                </a:lnTo>
                <a:lnTo>
                  <a:pt x="4739" y="47"/>
                </a:lnTo>
                <a:lnTo>
                  <a:pt x="4600" y="47"/>
                </a:lnTo>
                <a:lnTo>
                  <a:pt x="4600" y="0"/>
                </a:lnTo>
                <a:moveTo>
                  <a:pt x="4830" y="0"/>
                </a:moveTo>
                <a:lnTo>
                  <a:pt x="4969" y="0"/>
                </a:lnTo>
                <a:lnTo>
                  <a:pt x="4969" y="47"/>
                </a:lnTo>
                <a:lnTo>
                  <a:pt x="4830" y="47"/>
                </a:lnTo>
                <a:lnTo>
                  <a:pt x="4830" y="0"/>
                </a:lnTo>
                <a:moveTo>
                  <a:pt x="5060" y="0"/>
                </a:moveTo>
                <a:lnTo>
                  <a:pt x="5199" y="0"/>
                </a:lnTo>
                <a:lnTo>
                  <a:pt x="5199" y="47"/>
                </a:lnTo>
                <a:lnTo>
                  <a:pt x="5060" y="47"/>
                </a:lnTo>
                <a:lnTo>
                  <a:pt x="5060" y="0"/>
                </a:lnTo>
                <a:moveTo>
                  <a:pt x="5290" y="0"/>
                </a:moveTo>
                <a:lnTo>
                  <a:pt x="5429" y="0"/>
                </a:lnTo>
                <a:lnTo>
                  <a:pt x="5429" y="47"/>
                </a:lnTo>
                <a:lnTo>
                  <a:pt x="5290" y="47"/>
                </a:lnTo>
                <a:lnTo>
                  <a:pt x="5290" y="0"/>
                </a:lnTo>
                <a:moveTo>
                  <a:pt x="5520" y="0"/>
                </a:moveTo>
                <a:lnTo>
                  <a:pt x="5659" y="0"/>
                </a:lnTo>
                <a:lnTo>
                  <a:pt x="5659" y="47"/>
                </a:lnTo>
                <a:lnTo>
                  <a:pt x="5520" y="47"/>
                </a:lnTo>
                <a:lnTo>
                  <a:pt x="5520" y="0"/>
                </a:lnTo>
                <a:moveTo>
                  <a:pt x="5749" y="0"/>
                </a:moveTo>
                <a:lnTo>
                  <a:pt x="5889" y="0"/>
                </a:lnTo>
                <a:lnTo>
                  <a:pt x="5889" y="47"/>
                </a:lnTo>
                <a:lnTo>
                  <a:pt x="5749" y="47"/>
                </a:lnTo>
                <a:lnTo>
                  <a:pt x="5749" y="0"/>
                </a:lnTo>
                <a:moveTo>
                  <a:pt x="5979" y="0"/>
                </a:moveTo>
                <a:lnTo>
                  <a:pt x="6119" y="0"/>
                </a:lnTo>
                <a:lnTo>
                  <a:pt x="6119" y="47"/>
                </a:lnTo>
                <a:lnTo>
                  <a:pt x="5979" y="47"/>
                </a:lnTo>
                <a:lnTo>
                  <a:pt x="5979" y="0"/>
                </a:lnTo>
                <a:moveTo>
                  <a:pt x="6209" y="0"/>
                </a:moveTo>
                <a:lnTo>
                  <a:pt x="6349" y="0"/>
                </a:lnTo>
                <a:lnTo>
                  <a:pt x="6349" y="47"/>
                </a:lnTo>
                <a:lnTo>
                  <a:pt x="6209" y="47"/>
                </a:lnTo>
                <a:lnTo>
                  <a:pt x="6209" y="0"/>
                </a:lnTo>
                <a:moveTo>
                  <a:pt x="6439" y="0"/>
                </a:moveTo>
                <a:lnTo>
                  <a:pt x="6579" y="0"/>
                </a:lnTo>
                <a:lnTo>
                  <a:pt x="6579" y="47"/>
                </a:lnTo>
                <a:lnTo>
                  <a:pt x="6439" y="47"/>
                </a:lnTo>
                <a:lnTo>
                  <a:pt x="6439" y="0"/>
                </a:lnTo>
                <a:moveTo>
                  <a:pt x="6669" y="0"/>
                </a:moveTo>
                <a:lnTo>
                  <a:pt x="6809" y="0"/>
                </a:lnTo>
                <a:lnTo>
                  <a:pt x="6809" y="47"/>
                </a:lnTo>
                <a:lnTo>
                  <a:pt x="6669" y="47"/>
                </a:lnTo>
                <a:lnTo>
                  <a:pt x="6669" y="0"/>
                </a:lnTo>
                <a:moveTo>
                  <a:pt x="6899" y="0"/>
                </a:moveTo>
                <a:lnTo>
                  <a:pt x="7039" y="0"/>
                </a:lnTo>
                <a:lnTo>
                  <a:pt x="7039" y="47"/>
                </a:lnTo>
                <a:lnTo>
                  <a:pt x="6899" y="47"/>
                </a:lnTo>
                <a:lnTo>
                  <a:pt x="6899" y="0"/>
                </a:lnTo>
                <a:moveTo>
                  <a:pt x="7129" y="0"/>
                </a:moveTo>
                <a:lnTo>
                  <a:pt x="7269" y="0"/>
                </a:lnTo>
                <a:lnTo>
                  <a:pt x="7269" y="47"/>
                </a:lnTo>
                <a:lnTo>
                  <a:pt x="7129" y="47"/>
                </a:lnTo>
                <a:lnTo>
                  <a:pt x="7129" y="0"/>
                </a:lnTo>
                <a:moveTo>
                  <a:pt x="7359" y="0"/>
                </a:moveTo>
                <a:lnTo>
                  <a:pt x="7499" y="0"/>
                </a:lnTo>
                <a:lnTo>
                  <a:pt x="7499" y="47"/>
                </a:lnTo>
                <a:lnTo>
                  <a:pt x="7359" y="47"/>
                </a:lnTo>
                <a:lnTo>
                  <a:pt x="7359" y="0"/>
                </a:lnTo>
                <a:moveTo>
                  <a:pt x="7589" y="0"/>
                </a:moveTo>
                <a:lnTo>
                  <a:pt x="7729" y="0"/>
                </a:lnTo>
                <a:lnTo>
                  <a:pt x="7729" y="47"/>
                </a:lnTo>
                <a:lnTo>
                  <a:pt x="7589" y="47"/>
                </a:lnTo>
                <a:lnTo>
                  <a:pt x="7589" y="0"/>
                </a:lnTo>
                <a:moveTo>
                  <a:pt x="7819" y="0"/>
                </a:moveTo>
                <a:lnTo>
                  <a:pt x="7958" y="0"/>
                </a:lnTo>
                <a:lnTo>
                  <a:pt x="7958" y="47"/>
                </a:lnTo>
                <a:lnTo>
                  <a:pt x="7819" y="47"/>
                </a:lnTo>
                <a:lnTo>
                  <a:pt x="7819" y="0"/>
                </a:lnTo>
                <a:moveTo>
                  <a:pt x="8049" y="0"/>
                </a:moveTo>
                <a:lnTo>
                  <a:pt x="8188" y="0"/>
                </a:lnTo>
                <a:lnTo>
                  <a:pt x="8188" y="47"/>
                </a:lnTo>
                <a:lnTo>
                  <a:pt x="8049" y="47"/>
                </a:lnTo>
                <a:lnTo>
                  <a:pt x="8049" y="0"/>
                </a:lnTo>
                <a:moveTo>
                  <a:pt x="8279" y="0"/>
                </a:moveTo>
                <a:lnTo>
                  <a:pt x="8418" y="0"/>
                </a:lnTo>
                <a:lnTo>
                  <a:pt x="8418" y="47"/>
                </a:lnTo>
                <a:lnTo>
                  <a:pt x="8279" y="47"/>
                </a:lnTo>
                <a:lnTo>
                  <a:pt x="8279" y="0"/>
                </a:lnTo>
                <a:moveTo>
                  <a:pt x="8509" y="0"/>
                </a:moveTo>
                <a:lnTo>
                  <a:pt x="8649" y="0"/>
                </a:lnTo>
                <a:lnTo>
                  <a:pt x="8649" y="47"/>
                </a:lnTo>
                <a:lnTo>
                  <a:pt x="8509" y="47"/>
                </a:lnTo>
                <a:lnTo>
                  <a:pt x="8509" y="0"/>
                </a:lnTo>
                <a:moveTo>
                  <a:pt x="8740" y="0"/>
                </a:moveTo>
                <a:lnTo>
                  <a:pt x="8879" y="0"/>
                </a:lnTo>
                <a:lnTo>
                  <a:pt x="8879" y="47"/>
                </a:lnTo>
                <a:lnTo>
                  <a:pt x="8740" y="47"/>
                </a:lnTo>
                <a:lnTo>
                  <a:pt x="8740" y="0"/>
                </a:lnTo>
                <a:moveTo>
                  <a:pt x="8970" y="0"/>
                </a:moveTo>
                <a:lnTo>
                  <a:pt x="9109" y="0"/>
                </a:lnTo>
                <a:lnTo>
                  <a:pt x="9109" y="47"/>
                </a:lnTo>
                <a:lnTo>
                  <a:pt x="8970" y="47"/>
                </a:lnTo>
                <a:lnTo>
                  <a:pt x="8970" y="0"/>
                </a:lnTo>
                <a:moveTo>
                  <a:pt x="9200" y="0"/>
                </a:moveTo>
                <a:lnTo>
                  <a:pt x="9339" y="0"/>
                </a:lnTo>
                <a:lnTo>
                  <a:pt x="9339" y="47"/>
                </a:lnTo>
                <a:lnTo>
                  <a:pt x="9200" y="47"/>
                </a:lnTo>
                <a:lnTo>
                  <a:pt x="9200" y="0"/>
                </a:lnTo>
                <a:moveTo>
                  <a:pt x="9430" y="0"/>
                </a:moveTo>
                <a:lnTo>
                  <a:pt x="9569" y="0"/>
                </a:lnTo>
                <a:lnTo>
                  <a:pt x="9569" y="47"/>
                </a:lnTo>
                <a:lnTo>
                  <a:pt x="9430" y="47"/>
                </a:lnTo>
                <a:lnTo>
                  <a:pt x="9430" y="0"/>
                </a:lnTo>
                <a:moveTo>
                  <a:pt x="9660" y="0"/>
                </a:moveTo>
                <a:lnTo>
                  <a:pt x="9799" y="0"/>
                </a:lnTo>
                <a:lnTo>
                  <a:pt x="9799" y="47"/>
                </a:lnTo>
                <a:lnTo>
                  <a:pt x="9660" y="47"/>
                </a:lnTo>
                <a:lnTo>
                  <a:pt x="9660" y="0"/>
                </a:lnTo>
                <a:moveTo>
                  <a:pt x="9890" y="0"/>
                </a:moveTo>
                <a:lnTo>
                  <a:pt x="10029" y="0"/>
                </a:lnTo>
                <a:lnTo>
                  <a:pt x="10029" y="47"/>
                </a:lnTo>
                <a:lnTo>
                  <a:pt x="9890" y="47"/>
                </a:lnTo>
                <a:lnTo>
                  <a:pt x="9890" y="0"/>
                </a:lnTo>
                <a:close/>
              </a:path>
            </a:pathLst>
          </a:custGeom>
          <a:solidFill>
            <a:srgbClr val="e0e0e0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9476280" y="3785400"/>
            <a:ext cx="83880" cy="83880"/>
          </a:xfrm>
          <a:custGeom>
            <a:avLst/>
            <a:gdLst/>
            <a:ahLst/>
            <a:rect l="0" t="0" r="r" b="b"/>
            <a:pathLst>
              <a:path w="233" h="233">
                <a:moveTo>
                  <a:pt x="0" y="0"/>
                </a:moveTo>
                <a:lnTo>
                  <a:pt x="0" y="233"/>
                </a:lnTo>
                <a:lnTo>
                  <a:pt x="233" y="117"/>
                </a:lnTo>
                <a:lnTo>
                  <a:pt x="0" y="0"/>
                </a:lnTo>
                <a:close/>
              </a:path>
            </a:pathLst>
          </a:custGeom>
          <a:solidFill>
            <a:srgbClr val="e0e0e0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6025320" y="4497120"/>
            <a:ext cx="32194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新たに検出された人物と特徴量比較、一致で追跡再開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10153440" y="5717160"/>
            <a:ext cx="387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9ca3af"/>
                </a:solidFill>
                <a:effectLst/>
                <a:uFillTx/>
                <a:latin typeface="NotoSansJP"/>
                <a:ea typeface="NotoSansJP"/>
              </a:rPr>
              <a:t>5 / 12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"/>
          <p:cNvSpPr/>
          <p:nvPr/>
        </p:nvSpPr>
        <p:spPr>
          <a:xfrm>
            <a:off x="534600" y="802080"/>
            <a:ext cx="668880" cy="33840"/>
          </a:xfrm>
          <a:custGeom>
            <a:avLst/>
            <a:gdLst/>
            <a:ahLst/>
            <a:rect l="0" t="0" r="r" b="b"/>
            <a:pathLst>
              <a:path w="1858" h="94">
                <a:moveTo>
                  <a:pt x="0" y="0"/>
                </a:moveTo>
                <a:lnTo>
                  <a:pt x="1858" y="0"/>
                </a:lnTo>
                <a:lnTo>
                  <a:pt x="1858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60a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551520" y="969120"/>
            <a:ext cx="3058920" cy="4479480"/>
          </a:xfrm>
          <a:custGeom>
            <a:avLst/>
            <a:gdLst/>
            <a:ahLst/>
            <a:rect l="0" t="0" r="r" b="b"/>
            <a:pathLst>
              <a:path w="8497" h="12443">
                <a:moveTo>
                  <a:pt x="0" y="12443"/>
                </a:moveTo>
                <a:lnTo>
                  <a:pt x="0" y="0"/>
                </a:lnTo>
                <a:lnTo>
                  <a:pt x="8404" y="0"/>
                </a:lnTo>
                <a:cubicBezTo>
                  <a:pt x="8416" y="0"/>
                  <a:pt x="8428" y="3"/>
                  <a:pt x="8439" y="7"/>
                </a:cubicBezTo>
                <a:cubicBezTo>
                  <a:pt x="8451" y="12"/>
                  <a:pt x="8461" y="19"/>
                  <a:pt x="8469" y="27"/>
                </a:cubicBezTo>
                <a:cubicBezTo>
                  <a:pt x="8478" y="36"/>
                  <a:pt x="8485" y="46"/>
                  <a:pt x="8489" y="58"/>
                </a:cubicBezTo>
                <a:cubicBezTo>
                  <a:pt x="8494" y="69"/>
                  <a:pt x="8497" y="81"/>
                  <a:pt x="8497" y="93"/>
                </a:cubicBezTo>
                <a:lnTo>
                  <a:pt x="8497" y="12351"/>
                </a:lnTo>
                <a:cubicBezTo>
                  <a:pt x="8497" y="12363"/>
                  <a:pt x="8494" y="12375"/>
                  <a:pt x="8489" y="12386"/>
                </a:cubicBezTo>
                <a:cubicBezTo>
                  <a:pt x="8485" y="12397"/>
                  <a:pt x="8478" y="12408"/>
                  <a:pt x="8469" y="12416"/>
                </a:cubicBezTo>
                <a:cubicBezTo>
                  <a:pt x="8461" y="12425"/>
                  <a:pt x="8451" y="12432"/>
                  <a:pt x="8439" y="12436"/>
                </a:cubicBezTo>
                <a:cubicBezTo>
                  <a:pt x="8428" y="12441"/>
                  <a:pt x="8416" y="12443"/>
                  <a:pt x="8404" y="12443"/>
                </a:cubicBezTo>
                <a:lnTo>
                  <a:pt x="0" y="12443"/>
                </a:lnTo>
                <a:close/>
              </a:path>
            </a:pathLst>
          </a:custGeom>
          <a:solidFill>
            <a:srgbClr val="1a2a57">
              <a:alpha val="7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534600" y="969120"/>
            <a:ext cx="33840" cy="4479480"/>
          </a:xfrm>
          <a:custGeom>
            <a:avLst/>
            <a:gdLst/>
            <a:ahLst/>
            <a:rect l="0" t="0" r="r" b="b"/>
            <a:pathLst>
              <a:path w="94" h="12443">
                <a:moveTo>
                  <a:pt x="0" y="0"/>
                </a:moveTo>
                <a:lnTo>
                  <a:pt x="94" y="0"/>
                </a:lnTo>
                <a:lnTo>
                  <a:pt x="94" y="12443"/>
                </a:lnTo>
                <a:lnTo>
                  <a:pt x="0" y="12443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534960" y="422640"/>
            <a:ext cx="3903840" cy="43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37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提案手法：物体状態追跡機能</a:t>
            </a:r>
            <a:endParaRPr b="0" lang="en-US" sz="2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7" name="" descr=""/>
          <p:cNvPicPr/>
          <p:nvPr/>
        </p:nvPicPr>
        <p:blipFill>
          <a:blip r:embed="rId2"/>
          <a:stretch/>
        </p:blipFill>
        <p:spPr>
          <a:xfrm>
            <a:off x="768960" y="1604520"/>
            <a:ext cx="15012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8" name=""/>
          <p:cNvSpPr txBox="1"/>
          <p:nvPr/>
        </p:nvSpPr>
        <p:spPr>
          <a:xfrm>
            <a:off x="768960" y="1200960"/>
            <a:ext cx="805320" cy="29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580" strike="noStrike" u="none">
                <a:solidFill>
                  <a:srgbClr val="93c5fd"/>
                </a:solidFill>
                <a:effectLst/>
                <a:uFillTx/>
                <a:latin typeface="NotoSansJP"/>
                <a:ea typeface="NotoSansJP"/>
              </a:rPr>
              <a:t>機能概要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1019520" y="1615320"/>
            <a:ext cx="22636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所有者の追跡とは</a:t>
            </a:r>
            <a:r>
              <a:rPr b="0" lang="zh-CN" sz="1180" strike="noStrike" u="none">
                <a:solidFill>
                  <a:srgbClr val="fcd34d"/>
                </a:solidFill>
                <a:effectLst/>
                <a:uFillTx/>
                <a:latin typeface="NotoSansJP"/>
                <a:ea typeface="NotoSansJP"/>
              </a:rPr>
              <a:t>独立して</a:t>
            </a:r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物体自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10" name="" descr=""/>
          <p:cNvPicPr/>
          <p:nvPr/>
        </p:nvPicPr>
        <p:blipFill>
          <a:blip r:embed="rId3"/>
          <a:stretch/>
        </p:blipFill>
        <p:spPr>
          <a:xfrm>
            <a:off x="768960" y="2239560"/>
            <a:ext cx="19188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1" name=""/>
          <p:cNvSpPr txBox="1"/>
          <p:nvPr/>
        </p:nvSpPr>
        <p:spPr>
          <a:xfrm>
            <a:off x="1019520" y="1849320"/>
            <a:ext cx="10569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体の状態を追跡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1061280" y="2250360"/>
            <a:ext cx="22640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所有者と物体が紐付けられると、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1061280" y="2484360"/>
            <a:ext cx="22640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物体に対して</a:t>
            </a:r>
            <a:r>
              <a:rPr b="0" lang="zh-CN" sz="1180" strike="noStrike" u="none">
                <a:solidFill>
                  <a:srgbClr val="fcd34d"/>
                </a:solidFill>
                <a:effectLst/>
                <a:uFillTx/>
                <a:latin typeface="NotoSansJP"/>
                <a:ea typeface="NotoSansJP"/>
              </a:rPr>
              <a:t>高速オブジェクトト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1061280" y="2718360"/>
            <a:ext cx="24825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cd34d"/>
                </a:solidFill>
                <a:effectLst/>
                <a:uFillTx/>
                <a:latin typeface="NotoSansJP"/>
                <a:ea typeface="NotoSansJP"/>
              </a:rPr>
              <a:t>ラッカー</a:t>
            </a:r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（例：</a:t>
            </a:r>
            <a:r>
              <a:rPr b="0" lang="en-US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DaSiamRPN</a:t>
            </a:r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）を初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15" name="" descr=""/>
          <p:cNvPicPr/>
          <p:nvPr/>
        </p:nvPicPr>
        <p:blipFill>
          <a:blip r:embed="rId4"/>
          <a:stretch/>
        </p:blipFill>
        <p:spPr>
          <a:xfrm>
            <a:off x="768960" y="3342600"/>
            <a:ext cx="16668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"/>
          <p:cNvSpPr txBox="1"/>
          <p:nvPr/>
        </p:nvSpPr>
        <p:spPr>
          <a:xfrm>
            <a:off x="1061280" y="2952360"/>
            <a:ext cx="3024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期化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1036080" y="3353400"/>
            <a:ext cx="22640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フレームごとに物体の位置を常時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18" name="" descr=""/>
          <p:cNvPicPr/>
          <p:nvPr/>
        </p:nvPicPr>
        <p:blipFill>
          <a:blip r:embed="rId5"/>
          <a:stretch/>
        </p:blipFill>
        <p:spPr>
          <a:xfrm>
            <a:off x="768960" y="3977640"/>
            <a:ext cx="15012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" name=""/>
          <p:cNvSpPr txBox="1"/>
          <p:nvPr/>
        </p:nvSpPr>
        <p:spPr>
          <a:xfrm>
            <a:off x="1036080" y="3587400"/>
            <a:ext cx="3024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監視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1019520" y="3988440"/>
            <a:ext cx="22640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「所有者が見失われている」かつ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1019520" y="4222440"/>
            <a:ext cx="22636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「物体が移動状態」の場合、</a:t>
            </a:r>
            <a:r>
              <a:rPr b="0" lang="zh-CN" sz="1180" strike="noStrike" u="none">
                <a:solidFill>
                  <a:srgbClr val="fca5a5"/>
                </a:solidFill>
                <a:effectLst/>
                <a:uFillTx/>
                <a:latin typeface="NotoSansJP"/>
                <a:ea typeface="NotoSansJP"/>
              </a:rPr>
              <a:t>盗難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3810600" y="969120"/>
            <a:ext cx="6351480" cy="4479480"/>
          </a:xfrm>
          <a:custGeom>
            <a:avLst/>
            <a:gdLst/>
            <a:ahLst/>
            <a:rect l="0" t="0" r="r" b="b"/>
            <a:pathLst>
              <a:path w="17643" h="12443">
                <a:moveTo>
                  <a:pt x="0" y="12258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17457" y="0"/>
                </a:lnTo>
                <a:cubicBezTo>
                  <a:pt x="17469" y="0"/>
                  <a:pt x="17481" y="1"/>
                  <a:pt x="17493" y="4"/>
                </a:cubicBezTo>
                <a:cubicBezTo>
                  <a:pt x="17505" y="6"/>
                  <a:pt x="17517" y="10"/>
                  <a:pt x="17528" y="14"/>
                </a:cubicBezTo>
                <a:cubicBezTo>
                  <a:pt x="17539" y="19"/>
                  <a:pt x="17550" y="25"/>
                  <a:pt x="17560" y="32"/>
                </a:cubicBezTo>
                <a:cubicBezTo>
                  <a:pt x="17570" y="38"/>
                  <a:pt x="17580" y="46"/>
                  <a:pt x="17588" y="55"/>
                </a:cubicBezTo>
                <a:cubicBezTo>
                  <a:pt x="17597" y="63"/>
                  <a:pt x="17604" y="73"/>
                  <a:pt x="17611" y="83"/>
                </a:cubicBezTo>
                <a:cubicBezTo>
                  <a:pt x="17618" y="93"/>
                  <a:pt x="17624" y="104"/>
                  <a:pt x="17628" y="115"/>
                </a:cubicBezTo>
                <a:cubicBezTo>
                  <a:pt x="17633" y="126"/>
                  <a:pt x="17637" y="138"/>
                  <a:pt x="17639" y="150"/>
                </a:cubicBezTo>
                <a:cubicBezTo>
                  <a:pt x="17641" y="162"/>
                  <a:pt x="17643" y="174"/>
                  <a:pt x="17643" y="186"/>
                </a:cubicBezTo>
                <a:lnTo>
                  <a:pt x="17643" y="12258"/>
                </a:lnTo>
                <a:cubicBezTo>
                  <a:pt x="17643" y="12270"/>
                  <a:pt x="17641" y="12282"/>
                  <a:pt x="17639" y="12294"/>
                </a:cubicBezTo>
                <a:cubicBezTo>
                  <a:pt x="17637" y="12306"/>
                  <a:pt x="17633" y="12318"/>
                  <a:pt x="17628" y="12329"/>
                </a:cubicBezTo>
                <a:cubicBezTo>
                  <a:pt x="17624" y="12340"/>
                  <a:pt x="17618" y="12351"/>
                  <a:pt x="17611" y="12361"/>
                </a:cubicBezTo>
                <a:cubicBezTo>
                  <a:pt x="17604" y="12371"/>
                  <a:pt x="17597" y="12380"/>
                  <a:pt x="17588" y="12389"/>
                </a:cubicBezTo>
                <a:cubicBezTo>
                  <a:pt x="17580" y="12398"/>
                  <a:pt x="17570" y="12405"/>
                  <a:pt x="17560" y="12412"/>
                </a:cubicBezTo>
                <a:cubicBezTo>
                  <a:pt x="17550" y="12419"/>
                  <a:pt x="17539" y="12425"/>
                  <a:pt x="17528" y="12429"/>
                </a:cubicBezTo>
                <a:cubicBezTo>
                  <a:pt x="17517" y="12434"/>
                  <a:pt x="17505" y="12437"/>
                  <a:pt x="17493" y="12440"/>
                </a:cubicBezTo>
                <a:cubicBezTo>
                  <a:pt x="17481" y="12442"/>
                  <a:pt x="17469" y="12443"/>
                  <a:pt x="17457" y="12443"/>
                </a:cubicBezTo>
                <a:lnTo>
                  <a:pt x="185" y="12443"/>
                </a:lnTo>
                <a:cubicBezTo>
                  <a:pt x="173" y="12443"/>
                  <a:pt x="161" y="12442"/>
                  <a:pt x="149" y="12440"/>
                </a:cubicBezTo>
                <a:cubicBezTo>
                  <a:pt x="137" y="12437"/>
                  <a:pt x="126" y="12434"/>
                  <a:pt x="114" y="12429"/>
                </a:cubicBezTo>
                <a:cubicBezTo>
                  <a:pt x="103" y="12425"/>
                  <a:pt x="92" y="12419"/>
                  <a:pt x="82" y="12412"/>
                </a:cubicBezTo>
                <a:cubicBezTo>
                  <a:pt x="72" y="12405"/>
                  <a:pt x="63" y="12398"/>
                  <a:pt x="54" y="12389"/>
                </a:cubicBezTo>
                <a:cubicBezTo>
                  <a:pt x="45" y="12380"/>
                  <a:pt x="38" y="12371"/>
                  <a:pt x="31" y="12361"/>
                </a:cubicBezTo>
                <a:cubicBezTo>
                  <a:pt x="24" y="12351"/>
                  <a:pt x="18" y="12340"/>
                  <a:pt x="14" y="12329"/>
                </a:cubicBezTo>
                <a:cubicBezTo>
                  <a:pt x="9" y="12318"/>
                  <a:pt x="6" y="12306"/>
                  <a:pt x="3" y="12294"/>
                </a:cubicBezTo>
                <a:cubicBezTo>
                  <a:pt x="1" y="12282"/>
                  <a:pt x="0" y="12270"/>
                  <a:pt x="0" y="12258"/>
                </a:cubicBezTo>
                <a:close/>
              </a:path>
            </a:pathLst>
          </a:custGeom>
          <a:solidFill>
            <a:srgbClr val="111827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4011120" y="3409200"/>
            <a:ext cx="5950080" cy="1838880"/>
          </a:xfrm>
          <a:custGeom>
            <a:avLst/>
            <a:gdLst/>
            <a:ahLst/>
            <a:rect l="0" t="0" r="r" b="b"/>
            <a:pathLst>
              <a:path w="16528" h="5108">
                <a:moveTo>
                  <a:pt x="0" y="4923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4"/>
                  <a:pt x="24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16343" y="0"/>
                </a:lnTo>
                <a:cubicBezTo>
                  <a:pt x="16355" y="0"/>
                  <a:pt x="16367" y="2"/>
                  <a:pt x="16379" y="4"/>
                </a:cubicBezTo>
                <a:cubicBezTo>
                  <a:pt x="16391" y="6"/>
                  <a:pt x="16403" y="10"/>
                  <a:pt x="16414" y="15"/>
                </a:cubicBezTo>
                <a:cubicBezTo>
                  <a:pt x="16425" y="19"/>
                  <a:pt x="16436" y="25"/>
                  <a:pt x="16446" y="32"/>
                </a:cubicBezTo>
                <a:cubicBezTo>
                  <a:pt x="16456" y="38"/>
                  <a:pt x="16465" y="46"/>
                  <a:pt x="16474" y="55"/>
                </a:cubicBezTo>
                <a:cubicBezTo>
                  <a:pt x="16483" y="63"/>
                  <a:pt x="16490" y="73"/>
                  <a:pt x="16497" y="83"/>
                </a:cubicBezTo>
                <a:cubicBezTo>
                  <a:pt x="16504" y="93"/>
                  <a:pt x="16510" y="104"/>
                  <a:pt x="16514" y="115"/>
                </a:cubicBezTo>
                <a:cubicBezTo>
                  <a:pt x="16519" y="126"/>
                  <a:pt x="16523" y="138"/>
                  <a:pt x="16525" y="150"/>
                </a:cubicBezTo>
                <a:cubicBezTo>
                  <a:pt x="16527" y="162"/>
                  <a:pt x="16528" y="174"/>
                  <a:pt x="16528" y="186"/>
                </a:cubicBezTo>
                <a:lnTo>
                  <a:pt x="16528" y="4923"/>
                </a:lnTo>
                <a:cubicBezTo>
                  <a:pt x="16528" y="4935"/>
                  <a:pt x="16527" y="4947"/>
                  <a:pt x="16525" y="4959"/>
                </a:cubicBezTo>
                <a:cubicBezTo>
                  <a:pt x="16523" y="4971"/>
                  <a:pt x="16519" y="4982"/>
                  <a:pt x="16514" y="4994"/>
                </a:cubicBezTo>
                <a:cubicBezTo>
                  <a:pt x="16510" y="5005"/>
                  <a:pt x="16504" y="5016"/>
                  <a:pt x="16497" y="5026"/>
                </a:cubicBezTo>
                <a:cubicBezTo>
                  <a:pt x="16490" y="5036"/>
                  <a:pt x="16483" y="5045"/>
                  <a:pt x="16474" y="5054"/>
                </a:cubicBezTo>
                <a:cubicBezTo>
                  <a:pt x="16465" y="5063"/>
                  <a:pt x="16456" y="5070"/>
                  <a:pt x="16446" y="5077"/>
                </a:cubicBezTo>
                <a:cubicBezTo>
                  <a:pt x="16436" y="5084"/>
                  <a:pt x="16425" y="5089"/>
                  <a:pt x="16414" y="5094"/>
                </a:cubicBezTo>
                <a:cubicBezTo>
                  <a:pt x="16403" y="5099"/>
                  <a:pt x="16391" y="5102"/>
                  <a:pt x="16379" y="5105"/>
                </a:cubicBezTo>
                <a:cubicBezTo>
                  <a:pt x="16367" y="5107"/>
                  <a:pt x="16355" y="5108"/>
                  <a:pt x="16343" y="5108"/>
                </a:cubicBezTo>
                <a:lnTo>
                  <a:pt x="185" y="5108"/>
                </a:lnTo>
                <a:cubicBezTo>
                  <a:pt x="173" y="5108"/>
                  <a:pt x="161" y="5107"/>
                  <a:pt x="149" y="5105"/>
                </a:cubicBezTo>
                <a:cubicBezTo>
                  <a:pt x="137" y="5102"/>
                  <a:pt x="126" y="5099"/>
                  <a:pt x="114" y="5094"/>
                </a:cubicBezTo>
                <a:cubicBezTo>
                  <a:pt x="103" y="5089"/>
                  <a:pt x="92" y="5084"/>
                  <a:pt x="82" y="5077"/>
                </a:cubicBezTo>
                <a:cubicBezTo>
                  <a:pt x="72" y="5070"/>
                  <a:pt x="63" y="5063"/>
                  <a:pt x="54" y="5054"/>
                </a:cubicBezTo>
                <a:cubicBezTo>
                  <a:pt x="46" y="5045"/>
                  <a:pt x="38" y="5036"/>
                  <a:pt x="31" y="5026"/>
                </a:cubicBezTo>
                <a:cubicBezTo>
                  <a:pt x="24" y="5016"/>
                  <a:pt x="19" y="5005"/>
                  <a:pt x="14" y="4994"/>
                </a:cubicBezTo>
                <a:cubicBezTo>
                  <a:pt x="9" y="4982"/>
                  <a:pt x="6" y="4971"/>
                  <a:pt x="3" y="4959"/>
                </a:cubicBezTo>
                <a:cubicBezTo>
                  <a:pt x="1" y="4947"/>
                  <a:pt x="0" y="4935"/>
                  <a:pt x="0" y="4923"/>
                </a:cubicBezTo>
                <a:close/>
              </a:path>
            </a:pathLst>
          </a:custGeom>
          <a:solidFill>
            <a:srgbClr val="1f2937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1019520" y="4456440"/>
            <a:ext cx="13586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ca5a5"/>
                </a:solidFill>
                <a:effectLst/>
                <a:uFillTx/>
                <a:latin typeface="NotoSansJP"/>
                <a:ea typeface="NotoSansJP"/>
              </a:rPr>
              <a:t>の可能性</a:t>
            </a:r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として警告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4111200" y="1637640"/>
            <a:ext cx="2340360" cy="1504800"/>
          </a:xfrm>
          <a:custGeom>
            <a:avLst/>
            <a:gdLst/>
            <a:ahLst/>
            <a:rect l="0" t="0" r="r" b="b"/>
            <a:pathLst>
              <a:path w="6501" h="4180">
                <a:moveTo>
                  <a:pt x="14" y="115"/>
                </a:moveTo>
                <a:cubicBezTo>
                  <a:pt x="24" y="92"/>
                  <a:pt x="37" y="72"/>
                  <a:pt x="55" y="55"/>
                </a:cubicBezTo>
                <a:cubicBezTo>
                  <a:pt x="72" y="37"/>
                  <a:pt x="92" y="24"/>
                  <a:pt x="115" y="14"/>
                </a:cubicBezTo>
                <a:cubicBezTo>
                  <a:pt x="138" y="5"/>
                  <a:pt x="161" y="0"/>
                  <a:pt x="186" y="0"/>
                </a:cubicBezTo>
                <a:lnTo>
                  <a:pt x="6315" y="0"/>
                </a:lnTo>
                <a:cubicBezTo>
                  <a:pt x="6340" y="0"/>
                  <a:pt x="6364" y="5"/>
                  <a:pt x="6386" y="14"/>
                </a:cubicBezTo>
                <a:cubicBezTo>
                  <a:pt x="6409" y="24"/>
                  <a:pt x="6429" y="37"/>
                  <a:pt x="6447" y="55"/>
                </a:cubicBezTo>
                <a:cubicBezTo>
                  <a:pt x="6464" y="72"/>
                  <a:pt x="6477" y="92"/>
                  <a:pt x="6487" y="115"/>
                </a:cubicBezTo>
                <a:cubicBezTo>
                  <a:pt x="6496" y="138"/>
                  <a:pt x="6501" y="161"/>
                  <a:pt x="6501" y="186"/>
                </a:cubicBezTo>
                <a:lnTo>
                  <a:pt x="6501" y="3994"/>
                </a:lnTo>
                <a:cubicBezTo>
                  <a:pt x="6501" y="4019"/>
                  <a:pt x="6496" y="4042"/>
                  <a:pt x="6487" y="4065"/>
                </a:cubicBezTo>
                <a:cubicBezTo>
                  <a:pt x="6477" y="4088"/>
                  <a:pt x="6464" y="4108"/>
                  <a:pt x="6447" y="4125"/>
                </a:cubicBezTo>
                <a:cubicBezTo>
                  <a:pt x="6429" y="4143"/>
                  <a:pt x="6409" y="4156"/>
                  <a:pt x="6386" y="4165"/>
                </a:cubicBezTo>
                <a:cubicBezTo>
                  <a:pt x="6364" y="4175"/>
                  <a:pt x="6340" y="4180"/>
                  <a:pt x="6315" y="4180"/>
                </a:cubicBezTo>
                <a:lnTo>
                  <a:pt x="186" y="4180"/>
                </a:lnTo>
                <a:cubicBezTo>
                  <a:pt x="161" y="4180"/>
                  <a:pt x="138" y="4175"/>
                  <a:pt x="115" y="4165"/>
                </a:cubicBezTo>
                <a:cubicBezTo>
                  <a:pt x="92" y="4156"/>
                  <a:pt x="72" y="4143"/>
                  <a:pt x="55" y="4125"/>
                </a:cubicBezTo>
                <a:cubicBezTo>
                  <a:pt x="37" y="4108"/>
                  <a:pt x="24" y="4088"/>
                  <a:pt x="14" y="4065"/>
                </a:cubicBezTo>
                <a:cubicBezTo>
                  <a:pt x="5" y="4042"/>
                  <a:pt x="0" y="4019"/>
                  <a:pt x="0" y="3994"/>
                </a:cubicBezTo>
                <a:lnTo>
                  <a:pt x="0" y="186"/>
                </a:lnTo>
                <a:cubicBezTo>
                  <a:pt x="0" y="161"/>
                  <a:pt x="5" y="138"/>
                  <a:pt x="14" y="115"/>
                </a:cubicBezTo>
                <a:close/>
              </a:path>
            </a:pathLst>
          </a:custGeom>
          <a:solidFill>
            <a:srgbClr val="1a2a57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4111200" y="1637640"/>
            <a:ext cx="2340360" cy="1504800"/>
          </a:xfrm>
          <a:custGeom>
            <a:avLst/>
            <a:gdLst/>
            <a:ahLst/>
            <a:rect l="0" t="0" r="r" b="b"/>
            <a:pathLst>
              <a:path w="6501" h="4180">
                <a:moveTo>
                  <a:pt x="0" y="3994"/>
                </a:moveTo>
                <a:lnTo>
                  <a:pt x="0" y="186"/>
                </a:lnTo>
                <a:cubicBezTo>
                  <a:pt x="0" y="161"/>
                  <a:pt x="5" y="138"/>
                  <a:pt x="14" y="115"/>
                </a:cubicBezTo>
                <a:cubicBezTo>
                  <a:pt x="24" y="92"/>
                  <a:pt x="37" y="72"/>
                  <a:pt x="55" y="55"/>
                </a:cubicBezTo>
                <a:cubicBezTo>
                  <a:pt x="72" y="37"/>
                  <a:pt x="92" y="24"/>
                  <a:pt x="115" y="14"/>
                </a:cubicBezTo>
                <a:cubicBezTo>
                  <a:pt x="138" y="5"/>
                  <a:pt x="161" y="0"/>
                  <a:pt x="186" y="0"/>
                </a:cubicBezTo>
                <a:lnTo>
                  <a:pt x="6315" y="0"/>
                </a:lnTo>
                <a:cubicBezTo>
                  <a:pt x="6340" y="0"/>
                  <a:pt x="6364" y="5"/>
                  <a:pt x="6386" y="14"/>
                </a:cubicBezTo>
                <a:cubicBezTo>
                  <a:pt x="6409" y="24"/>
                  <a:pt x="6429" y="37"/>
                  <a:pt x="6447" y="55"/>
                </a:cubicBezTo>
                <a:cubicBezTo>
                  <a:pt x="6464" y="72"/>
                  <a:pt x="6477" y="92"/>
                  <a:pt x="6487" y="115"/>
                </a:cubicBezTo>
                <a:cubicBezTo>
                  <a:pt x="6496" y="138"/>
                  <a:pt x="6501" y="161"/>
                  <a:pt x="6501" y="186"/>
                </a:cubicBezTo>
                <a:lnTo>
                  <a:pt x="6501" y="3994"/>
                </a:lnTo>
                <a:cubicBezTo>
                  <a:pt x="6501" y="4019"/>
                  <a:pt x="6496" y="4042"/>
                  <a:pt x="6487" y="4065"/>
                </a:cubicBezTo>
                <a:cubicBezTo>
                  <a:pt x="6477" y="4088"/>
                  <a:pt x="6464" y="4108"/>
                  <a:pt x="6447" y="4125"/>
                </a:cubicBezTo>
                <a:cubicBezTo>
                  <a:pt x="6429" y="4143"/>
                  <a:pt x="6409" y="4156"/>
                  <a:pt x="6386" y="4165"/>
                </a:cubicBezTo>
                <a:cubicBezTo>
                  <a:pt x="6364" y="4175"/>
                  <a:pt x="6340" y="4180"/>
                  <a:pt x="6315" y="4180"/>
                </a:cubicBezTo>
                <a:lnTo>
                  <a:pt x="186" y="4180"/>
                </a:lnTo>
                <a:cubicBezTo>
                  <a:pt x="161" y="4180"/>
                  <a:pt x="138" y="4175"/>
                  <a:pt x="115" y="4165"/>
                </a:cubicBezTo>
                <a:cubicBezTo>
                  <a:pt x="92" y="4156"/>
                  <a:pt x="72" y="4143"/>
                  <a:pt x="55" y="4125"/>
                </a:cubicBezTo>
                <a:cubicBezTo>
                  <a:pt x="37" y="4108"/>
                  <a:pt x="24" y="4088"/>
                  <a:pt x="14" y="4065"/>
                </a:cubicBezTo>
                <a:cubicBezTo>
                  <a:pt x="5" y="4042"/>
                  <a:pt x="0" y="4019"/>
                  <a:pt x="0" y="3994"/>
                </a:cubicBezTo>
                <a:moveTo>
                  <a:pt x="47" y="186"/>
                </a:moveTo>
                <a:lnTo>
                  <a:pt x="47" y="3994"/>
                </a:lnTo>
                <a:cubicBezTo>
                  <a:pt x="47" y="4012"/>
                  <a:pt x="50" y="4030"/>
                  <a:pt x="57" y="4047"/>
                </a:cubicBezTo>
                <a:cubicBezTo>
                  <a:pt x="64" y="4064"/>
                  <a:pt x="74" y="4079"/>
                  <a:pt x="88" y="4092"/>
                </a:cubicBezTo>
                <a:cubicBezTo>
                  <a:pt x="101" y="4105"/>
                  <a:pt x="116" y="4116"/>
                  <a:pt x="133" y="4123"/>
                </a:cubicBezTo>
                <a:cubicBezTo>
                  <a:pt x="150" y="4130"/>
                  <a:pt x="168" y="4133"/>
                  <a:pt x="186" y="4133"/>
                </a:cubicBezTo>
                <a:lnTo>
                  <a:pt x="6315" y="4133"/>
                </a:lnTo>
                <a:cubicBezTo>
                  <a:pt x="6334" y="4133"/>
                  <a:pt x="6352" y="4130"/>
                  <a:pt x="6369" y="4123"/>
                </a:cubicBezTo>
                <a:cubicBezTo>
                  <a:pt x="6386" y="4116"/>
                  <a:pt x="6401" y="4105"/>
                  <a:pt x="6414" y="4092"/>
                </a:cubicBezTo>
                <a:cubicBezTo>
                  <a:pt x="6427" y="4079"/>
                  <a:pt x="6437" y="4064"/>
                  <a:pt x="6444" y="4047"/>
                </a:cubicBezTo>
                <a:cubicBezTo>
                  <a:pt x="6451" y="4030"/>
                  <a:pt x="6455" y="4012"/>
                  <a:pt x="6455" y="3994"/>
                </a:cubicBezTo>
                <a:lnTo>
                  <a:pt x="6455" y="186"/>
                </a:lnTo>
                <a:cubicBezTo>
                  <a:pt x="6455" y="167"/>
                  <a:pt x="6451" y="150"/>
                  <a:pt x="6444" y="133"/>
                </a:cubicBezTo>
                <a:cubicBezTo>
                  <a:pt x="6437" y="116"/>
                  <a:pt x="6427" y="101"/>
                  <a:pt x="6414" y="87"/>
                </a:cubicBezTo>
                <a:cubicBezTo>
                  <a:pt x="6401" y="74"/>
                  <a:pt x="6386" y="64"/>
                  <a:pt x="6369" y="57"/>
                </a:cubicBezTo>
                <a:cubicBezTo>
                  <a:pt x="6352" y="50"/>
                  <a:pt x="6334" y="47"/>
                  <a:pt x="6315" y="47"/>
                </a:cubicBezTo>
                <a:lnTo>
                  <a:pt x="186" y="47"/>
                </a:lnTo>
                <a:cubicBezTo>
                  <a:pt x="168" y="47"/>
                  <a:pt x="150" y="50"/>
                  <a:pt x="133" y="57"/>
                </a:cubicBezTo>
                <a:cubicBezTo>
                  <a:pt x="116" y="64"/>
                  <a:pt x="101" y="74"/>
                  <a:pt x="88" y="87"/>
                </a:cubicBezTo>
                <a:cubicBezTo>
                  <a:pt x="74" y="101"/>
                  <a:pt x="64" y="116"/>
                  <a:pt x="57" y="133"/>
                </a:cubicBezTo>
                <a:cubicBezTo>
                  <a:pt x="50" y="150"/>
                  <a:pt x="47" y="167"/>
                  <a:pt x="47" y="186"/>
                </a:cubicBezTo>
                <a:close/>
              </a:path>
            </a:pathLst>
          </a:custGeom>
          <a:solidFill>
            <a:srgbClr val="4a90e2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5030640" y="1788120"/>
            <a:ext cx="501840" cy="401400"/>
          </a:xfrm>
          <a:custGeom>
            <a:avLst/>
            <a:gdLst/>
            <a:ahLst/>
            <a:rect l="0" t="0" r="r" b="b"/>
            <a:pathLst>
              <a:path w="1394" h="1115">
                <a:moveTo>
                  <a:pt x="1394" y="558"/>
                </a:moveTo>
                <a:cubicBezTo>
                  <a:pt x="1394" y="576"/>
                  <a:pt x="1392" y="595"/>
                  <a:pt x="1390" y="613"/>
                </a:cubicBezTo>
                <a:cubicBezTo>
                  <a:pt x="1388" y="631"/>
                  <a:pt x="1385" y="649"/>
                  <a:pt x="1380" y="667"/>
                </a:cubicBezTo>
                <a:cubicBezTo>
                  <a:pt x="1376" y="685"/>
                  <a:pt x="1370" y="702"/>
                  <a:pt x="1364" y="720"/>
                </a:cubicBezTo>
                <a:cubicBezTo>
                  <a:pt x="1357" y="737"/>
                  <a:pt x="1349" y="755"/>
                  <a:pt x="1341" y="771"/>
                </a:cubicBezTo>
                <a:cubicBezTo>
                  <a:pt x="1332" y="788"/>
                  <a:pt x="1322" y="805"/>
                  <a:pt x="1311" y="821"/>
                </a:cubicBezTo>
                <a:cubicBezTo>
                  <a:pt x="1301" y="837"/>
                  <a:pt x="1289" y="853"/>
                  <a:pt x="1276" y="868"/>
                </a:cubicBezTo>
                <a:cubicBezTo>
                  <a:pt x="1264" y="883"/>
                  <a:pt x="1250" y="898"/>
                  <a:pt x="1235" y="912"/>
                </a:cubicBezTo>
                <a:cubicBezTo>
                  <a:pt x="1221" y="926"/>
                  <a:pt x="1206" y="939"/>
                  <a:pt x="1190" y="952"/>
                </a:cubicBezTo>
                <a:cubicBezTo>
                  <a:pt x="1173" y="965"/>
                  <a:pt x="1157" y="977"/>
                  <a:pt x="1139" y="989"/>
                </a:cubicBezTo>
                <a:cubicBezTo>
                  <a:pt x="1121" y="1000"/>
                  <a:pt x="1103" y="1011"/>
                  <a:pt x="1084" y="1021"/>
                </a:cubicBezTo>
                <a:cubicBezTo>
                  <a:pt x="1065" y="1032"/>
                  <a:pt x="1046" y="1041"/>
                  <a:pt x="1025" y="1050"/>
                </a:cubicBezTo>
                <a:cubicBezTo>
                  <a:pt x="1005" y="1058"/>
                  <a:pt x="985" y="1066"/>
                  <a:pt x="964" y="1073"/>
                </a:cubicBezTo>
                <a:cubicBezTo>
                  <a:pt x="943" y="1080"/>
                  <a:pt x="921" y="1086"/>
                  <a:pt x="899" y="1091"/>
                </a:cubicBezTo>
                <a:cubicBezTo>
                  <a:pt x="877" y="1097"/>
                  <a:pt x="855" y="1101"/>
                  <a:pt x="833" y="1105"/>
                </a:cubicBezTo>
                <a:cubicBezTo>
                  <a:pt x="811" y="1108"/>
                  <a:pt x="788" y="1111"/>
                  <a:pt x="765" y="1113"/>
                </a:cubicBezTo>
                <a:cubicBezTo>
                  <a:pt x="743" y="1114"/>
                  <a:pt x="720" y="1115"/>
                  <a:pt x="697" y="1115"/>
                </a:cubicBezTo>
                <a:cubicBezTo>
                  <a:pt x="674" y="1115"/>
                  <a:pt x="652" y="1114"/>
                  <a:pt x="628" y="1113"/>
                </a:cubicBezTo>
                <a:cubicBezTo>
                  <a:pt x="605" y="1111"/>
                  <a:pt x="583" y="1108"/>
                  <a:pt x="560" y="1105"/>
                </a:cubicBezTo>
                <a:cubicBezTo>
                  <a:pt x="538" y="1101"/>
                  <a:pt x="516" y="1097"/>
                  <a:pt x="494" y="1091"/>
                </a:cubicBezTo>
                <a:cubicBezTo>
                  <a:pt x="472" y="1086"/>
                  <a:pt x="451" y="1080"/>
                  <a:pt x="430" y="1073"/>
                </a:cubicBezTo>
                <a:cubicBezTo>
                  <a:pt x="409" y="1066"/>
                  <a:pt x="388" y="1058"/>
                  <a:pt x="368" y="1050"/>
                </a:cubicBezTo>
                <a:cubicBezTo>
                  <a:pt x="348" y="1041"/>
                  <a:pt x="328" y="1032"/>
                  <a:pt x="309" y="1021"/>
                </a:cubicBezTo>
                <a:cubicBezTo>
                  <a:pt x="290" y="1011"/>
                  <a:pt x="272" y="1000"/>
                  <a:pt x="254" y="989"/>
                </a:cubicBezTo>
                <a:cubicBezTo>
                  <a:pt x="237" y="977"/>
                  <a:pt x="220" y="965"/>
                  <a:pt x="204" y="952"/>
                </a:cubicBezTo>
                <a:cubicBezTo>
                  <a:pt x="188" y="939"/>
                  <a:pt x="172" y="926"/>
                  <a:pt x="158" y="912"/>
                </a:cubicBezTo>
                <a:cubicBezTo>
                  <a:pt x="143" y="898"/>
                  <a:pt x="130" y="883"/>
                  <a:pt x="117" y="868"/>
                </a:cubicBezTo>
                <a:cubicBezTo>
                  <a:pt x="104" y="853"/>
                  <a:pt x="93" y="837"/>
                  <a:pt x="82" y="821"/>
                </a:cubicBezTo>
                <a:cubicBezTo>
                  <a:pt x="71" y="805"/>
                  <a:pt x="61" y="788"/>
                  <a:pt x="53" y="771"/>
                </a:cubicBezTo>
                <a:cubicBezTo>
                  <a:pt x="44" y="755"/>
                  <a:pt x="36" y="737"/>
                  <a:pt x="30" y="720"/>
                </a:cubicBezTo>
                <a:cubicBezTo>
                  <a:pt x="23" y="702"/>
                  <a:pt x="18" y="685"/>
                  <a:pt x="13" y="667"/>
                </a:cubicBezTo>
                <a:cubicBezTo>
                  <a:pt x="9" y="649"/>
                  <a:pt x="5" y="631"/>
                  <a:pt x="3" y="613"/>
                </a:cubicBezTo>
                <a:cubicBezTo>
                  <a:pt x="1" y="595"/>
                  <a:pt x="0" y="576"/>
                  <a:pt x="0" y="558"/>
                </a:cubicBezTo>
                <a:cubicBezTo>
                  <a:pt x="0" y="540"/>
                  <a:pt x="1" y="522"/>
                  <a:pt x="3" y="504"/>
                </a:cubicBezTo>
                <a:cubicBezTo>
                  <a:pt x="5" y="485"/>
                  <a:pt x="9" y="467"/>
                  <a:pt x="13" y="450"/>
                </a:cubicBezTo>
                <a:cubicBezTo>
                  <a:pt x="18" y="432"/>
                  <a:pt x="23" y="414"/>
                  <a:pt x="30" y="396"/>
                </a:cubicBezTo>
                <a:cubicBezTo>
                  <a:pt x="36" y="379"/>
                  <a:pt x="44" y="362"/>
                  <a:pt x="53" y="345"/>
                </a:cubicBezTo>
                <a:cubicBezTo>
                  <a:pt x="61" y="328"/>
                  <a:pt x="71" y="312"/>
                  <a:pt x="82" y="296"/>
                </a:cubicBezTo>
                <a:cubicBezTo>
                  <a:pt x="93" y="279"/>
                  <a:pt x="104" y="264"/>
                  <a:pt x="117" y="249"/>
                </a:cubicBezTo>
                <a:cubicBezTo>
                  <a:pt x="130" y="234"/>
                  <a:pt x="143" y="219"/>
                  <a:pt x="158" y="205"/>
                </a:cubicBezTo>
                <a:cubicBezTo>
                  <a:pt x="172" y="191"/>
                  <a:pt x="188" y="177"/>
                  <a:pt x="204" y="164"/>
                </a:cubicBezTo>
                <a:cubicBezTo>
                  <a:pt x="220" y="151"/>
                  <a:pt x="237" y="139"/>
                  <a:pt x="254" y="128"/>
                </a:cubicBezTo>
                <a:cubicBezTo>
                  <a:pt x="272" y="116"/>
                  <a:pt x="290" y="105"/>
                  <a:pt x="309" y="95"/>
                </a:cubicBezTo>
                <a:cubicBezTo>
                  <a:pt x="328" y="85"/>
                  <a:pt x="348" y="75"/>
                  <a:pt x="368" y="67"/>
                </a:cubicBezTo>
                <a:cubicBezTo>
                  <a:pt x="388" y="58"/>
                  <a:pt x="409" y="50"/>
                  <a:pt x="430" y="43"/>
                </a:cubicBezTo>
                <a:cubicBezTo>
                  <a:pt x="451" y="36"/>
                  <a:pt x="472" y="29"/>
                  <a:pt x="494" y="24"/>
                </a:cubicBezTo>
                <a:cubicBezTo>
                  <a:pt x="516" y="19"/>
                  <a:pt x="538" y="14"/>
                  <a:pt x="560" y="11"/>
                </a:cubicBezTo>
                <a:cubicBezTo>
                  <a:pt x="583" y="7"/>
                  <a:pt x="605" y="5"/>
                  <a:pt x="628" y="3"/>
                </a:cubicBezTo>
                <a:cubicBezTo>
                  <a:pt x="652" y="1"/>
                  <a:pt x="674" y="0"/>
                  <a:pt x="697" y="0"/>
                </a:cubicBezTo>
                <a:cubicBezTo>
                  <a:pt x="720" y="0"/>
                  <a:pt x="743" y="1"/>
                  <a:pt x="765" y="3"/>
                </a:cubicBezTo>
                <a:cubicBezTo>
                  <a:pt x="788" y="5"/>
                  <a:pt x="811" y="7"/>
                  <a:pt x="833" y="11"/>
                </a:cubicBezTo>
                <a:cubicBezTo>
                  <a:pt x="855" y="14"/>
                  <a:pt x="877" y="19"/>
                  <a:pt x="899" y="24"/>
                </a:cubicBezTo>
                <a:cubicBezTo>
                  <a:pt x="921" y="29"/>
                  <a:pt x="943" y="36"/>
                  <a:pt x="964" y="43"/>
                </a:cubicBezTo>
                <a:cubicBezTo>
                  <a:pt x="985" y="50"/>
                  <a:pt x="1005" y="58"/>
                  <a:pt x="1025" y="67"/>
                </a:cubicBezTo>
                <a:cubicBezTo>
                  <a:pt x="1046" y="75"/>
                  <a:pt x="1065" y="85"/>
                  <a:pt x="1084" y="95"/>
                </a:cubicBezTo>
                <a:cubicBezTo>
                  <a:pt x="1103" y="105"/>
                  <a:pt x="1121" y="116"/>
                  <a:pt x="1139" y="128"/>
                </a:cubicBezTo>
                <a:cubicBezTo>
                  <a:pt x="1157" y="139"/>
                  <a:pt x="1173" y="151"/>
                  <a:pt x="1190" y="164"/>
                </a:cubicBezTo>
                <a:cubicBezTo>
                  <a:pt x="1206" y="177"/>
                  <a:pt x="1221" y="191"/>
                  <a:pt x="1235" y="205"/>
                </a:cubicBezTo>
                <a:cubicBezTo>
                  <a:pt x="1250" y="219"/>
                  <a:pt x="1264" y="234"/>
                  <a:pt x="1276" y="249"/>
                </a:cubicBezTo>
                <a:cubicBezTo>
                  <a:pt x="1289" y="264"/>
                  <a:pt x="1301" y="279"/>
                  <a:pt x="1311" y="296"/>
                </a:cubicBezTo>
                <a:cubicBezTo>
                  <a:pt x="1322" y="312"/>
                  <a:pt x="1332" y="328"/>
                  <a:pt x="1341" y="345"/>
                </a:cubicBezTo>
                <a:cubicBezTo>
                  <a:pt x="1349" y="362"/>
                  <a:pt x="1357" y="379"/>
                  <a:pt x="1364" y="396"/>
                </a:cubicBezTo>
                <a:cubicBezTo>
                  <a:pt x="1370" y="414"/>
                  <a:pt x="1376" y="432"/>
                  <a:pt x="1380" y="450"/>
                </a:cubicBezTo>
                <a:cubicBezTo>
                  <a:pt x="1385" y="467"/>
                  <a:pt x="1388" y="485"/>
                  <a:pt x="1390" y="504"/>
                </a:cubicBezTo>
                <a:cubicBezTo>
                  <a:pt x="1392" y="522"/>
                  <a:pt x="1394" y="540"/>
                  <a:pt x="1394" y="558"/>
                </a:cubicBezTo>
                <a:close/>
              </a:path>
            </a:pathLst>
          </a:custGeom>
          <a:solidFill>
            <a:srgbClr val="1e3a8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28" name="" descr=""/>
          <p:cNvPicPr/>
          <p:nvPr/>
        </p:nvPicPr>
        <p:blipFill>
          <a:blip r:embed="rId6"/>
          <a:stretch/>
        </p:blipFill>
        <p:spPr>
          <a:xfrm>
            <a:off x="5139360" y="1863720"/>
            <a:ext cx="283680" cy="25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"/>
          <p:cNvSpPr txBox="1"/>
          <p:nvPr/>
        </p:nvSpPr>
        <p:spPr>
          <a:xfrm>
            <a:off x="5983560" y="1200960"/>
            <a:ext cx="2012400" cy="29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580" strike="noStrike" u="none">
                <a:solidFill>
                  <a:srgbClr val="93c5fd"/>
                </a:solidFill>
                <a:effectLst/>
                <a:uFillTx/>
                <a:latin typeface="NotoSansJP"/>
                <a:ea typeface="NotoSansJP"/>
              </a:rPr>
              <a:t>物体状態の分類と判断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4604400" y="2318400"/>
            <a:ext cx="141912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静止状態 </a:t>
            </a:r>
            <a:r>
              <a:rPr b="0" lang="en-US" sz="132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(Stable)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4278600" y="2625120"/>
            <a:ext cx="20124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物体の位置が閾値の範囲内で変化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7520760" y="1637640"/>
            <a:ext cx="2340360" cy="1504800"/>
          </a:xfrm>
          <a:custGeom>
            <a:avLst/>
            <a:gdLst/>
            <a:ahLst/>
            <a:rect l="0" t="0" r="r" b="b"/>
            <a:pathLst>
              <a:path w="6501" h="4180">
                <a:moveTo>
                  <a:pt x="14" y="115"/>
                </a:moveTo>
                <a:cubicBezTo>
                  <a:pt x="24" y="92"/>
                  <a:pt x="37" y="72"/>
                  <a:pt x="55" y="55"/>
                </a:cubicBezTo>
                <a:cubicBezTo>
                  <a:pt x="72" y="37"/>
                  <a:pt x="92" y="24"/>
                  <a:pt x="115" y="14"/>
                </a:cubicBezTo>
                <a:cubicBezTo>
                  <a:pt x="138" y="5"/>
                  <a:pt x="161" y="0"/>
                  <a:pt x="186" y="0"/>
                </a:cubicBezTo>
                <a:lnTo>
                  <a:pt x="6315" y="0"/>
                </a:lnTo>
                <a:cubicBezTo>
                  <a:pt x="6340" y="0"/>
                  <a:pt x="6364" y="5"/>
                  <a:pt x="6386" y="14"/>
                </a:cubicBezTo>
                <a:cubicBezTo>
                  <a:pt x="6409" y="24"/>
                  <a:pt x="6429" y="37"/>
                  <a:pt x="6447" y="55"/>
                </a:cubicBezTo>
                <a:cubicBezTo>
                  <a:pt x="6464" y="72"/>
                  <a:pt x="6477" y="92"/>
                  <a:pt x="6487" y="115"/>
                </a:cubicBezTo>
                <a:cubicBezTo>
                  <a:pt x="6496" y="138"/>
                  <a:pt x="6501" y="161"/>
                  <a:pt x="6501" y="186"/>
                </a:cubicBezTo>
                <a:lnTo>
                  <a:pt x="6501" y="3994"/>
                </a:lnTo>
                <a:cubicBezTo>
                  <a:pt x="6501" y="4019"/>
                  <a:pt x="6496" y="4042"/>
                  <a:pt x="6487" y="4065"/>
                </a:cubicBezTo>
                <a:cubicBezTo>
                  <a:pt x="6477" y="4088"/>
                  <a:pt x="6464" y="4108"/>
                  <a:pt x="6447" y="4125"/>
                </a:cubicBezTo>
                <a:cubicBezTo>
                  <a:pt x="6429" y="4143"/>
                  <a:pt x="6409" y="4156"/>
                  <a:pt x="6386" y="4165"/>
                </a:cubicBezTo>
                <a:cubicBezTo>
                  <a:pt x="6364" y="4175"/>
                  <a:pt x="6340" y="4180"/>
                  <a:pt x="6315" y="4180"/>
                </a:cubicBezTo>
                <a:lnTo>
                  <a:pt x="186" y="4180"/>
                </a:lnTo>
                <a:cubicBezTo>
                  <a:pt x="161" y="4180"/>
                  <a:pt x="138" y="4175"/>
                  <a:pt x="115" y="4165"/>
                </a:cubicBezTo>
                <a:cubicBezTo>
                  <a:pt x="92" y="4156"/>
                  <a:pt x="72" y="4143"/>
                  <a:pt x="55" y="4125"/>
                </a:cubicBezTo>
                <a:cubicBezTo>
                  <a:pt x="37" y="4108"/>
                  <a:pt x="24" y="4088"/>
                  <a:pt x="14" y="4065"/>
                </a:cubicBezTo>
                <a:cubicBezTo>
                  <a:pt x="5" y="4042"/>
                  <a:pt x="0" y="4019"/>
                  <a:pt x="0" y="3994"/>
                </a:cubicBezTo>
                <a:lnTo>
                  <a:pt x="0" y="186"/>
                </a:lnTo>
                <a:cubicBezTo>
                  <a:pt x="0" y="161"/>
                  <a:pt x="5" y="138"/>
                  <a:pt x="14" y="115"/>
                </a:cubicBezTo>
                <a:close/>
              </a:path>
            </a:pathLst>
          </a:custGeom>
          <a:solidFill>
            <a:srgbClr val="1a2a57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7520760" y="1637640"/>
            <a:ext cx="2340360" cy="1504800"/>
          </a:xfrm>
          <a:custGeom>
            <a:avLst/>
            <a:gdLst/>
            <a:ahLst/>
            <a:rect l="0" t="0" r="r" b="b"/>
            <a:pathLst>
              <a:path w="6501" h="4180">
                <a:moveTo>
                  <a:pt x="0" y="3994"/>
                </a:moveTo>
                <a:lnTo>
                  <a:pt x="0" y="186"/>
                </a:lnTo>
                <a:cubicBezTo>
                  <a:pt x="0" y="161"/>
                  <a:pt x="5" y="138"/>
                  <a:pt x="14" y="115"/>
                </a:cubicBezTo>
                <a:cubicBezTo>
                  <a:pt x="24" y="92"/>
                  <a:pt x="37" y="72"/>
                  <a:pt x="55" y="55"/>
                </a:cubicBezTo>
                <a:cubicBezTo>
                  <a:pt x="72" y="37"/>
                  <a:pt x="92" y="24"/>
                  <a:pt x="115" y="14"/>
                </a:cubicBezTo>
                <a:cubicBezTo>
                  <a:pt x="138" y="5"/>
                  <a:pt x="161" y="0"/>
                  <a:pt x="186" y="0"/>
                </a:cubicBezTo>
                <a:lnTo>
                  <a:pt x="6315" y="0"/>
                </a:lnTo>
                <a:cubicBezTo>
                  <a:pt x="6340" y="0"/>
                  <a:pt x="6364" y="5"/>
                  <a:pt x="6386" y="14"/>
                </a:cubicBezTo>
                <a:cubicBezTo>
                  <a:pt x="6409" y="24"/>
                  <a:pt x="6429" y="37"/>
                  <a:pt x="6447" y="55"/>
                </a:cubicBezTo>
                <a:cubicBezTo>
                  <a:pt x="6464" y="72"/>
                  <a:pt x="6477" y="92"/>
                  <a:pt x="6487" y="115"/>
                </a:cubicBezTo>
                <a:cubicBezTo>
                  <a:pt x="6496" y="138"/>
                  <a:pt x="6501" y="161"/>
                  <a:pt x="6501" y="186"/>
                </a:cubicBezTo>
                <a:lnTo>
                  <a:pt x="6501" y="3994"/>
                </a:lnTo>
                <a:cubicBezTo>
                  <a:pt x="6501" y="4019"/>
                  <a:pt x="6496" y="4042"/>
                  <a:pt x="6487" y="4065"/>
                </a:cubicBezTo>
                <a:cubicBezTo>
                  <a:pt x="6477" y="4088"/>
                  <a:pt x="6464" y="4108"/>
                  <a:pt x="6447" y="4125"/>
                </a:cubicBezTo>
                <a:cubicBezTo>
                  <a:pt x="6429" y="4143"/>
                  <a:pt x="6409" y="4156"/>
                  <a:pt x="6386" y="4165"/>
                </a:cubicBezTo>
                <a:cubicBezTo>
                  <a:pt x="6364" y="4175"/>
                  <a:pt x="6340" y="4180"/>
                  <a:pt x="6315" y="4180"/>
                </a:cubicBezTo>
                <a:lnTo>
                  <a:pt x="186" y="4180"/>
                </a:lnTo>
                <a:cubicBezTo>
                  <a:pt x="161" y="4180"/>
                  <a:pt x="138" y="4175"/>
                  <a:pt x="115" y="4165"/>
                </a:cubicBezTo>
                <a:cubicBezTo>
                  <a:pt x="92" y="4156"/>
                  <a:pt x="72" y="4143"/>
                  <a:pt x="55" y="4125"/>
                </a:cubicBezTo>
                <a:cubicBezTo>
                  <a:pt x="37" y="4108"/>
                  <a:pt x="24" y="4088"/>
                  <a:pt x="14" y="4065"/>
                </a:cubicBezTo>
                <a:cubicBezTo>
                  <a:pt x="5" y="4042"/>
                  <a:pt x="0" y="4019"/>
                  <a:pt x="0" y="3994"/>
                </a:cubicBezTo>
                <a:moveTo>
                  <a:pt x="47" y="186"/>
                </a:moveTo>
                <a:lnTo>
                  <a:pt x="47" y="3994"/>
                </a:lnTo>
                <a:cubicBezTo>
                  <a:pt x="47" y="4012"/>
                  <a:pt x="50" y="4030"/>
                  <a:pt x="57" y="4047"/>
                </a:cubicBezTo>
                <a:cubicBezTo>
                  <a:pt x="64" y="4064"/>
                  <a:pt x="74" y="4079"/>
                  <a:pt x="87" y="4092"/>
                </a:cubicBezTo>
                <a:cubicBezTo>
                  <a:pt x="101" y="4105"/>
                  <a:pt x="116" y="4116"/>
                  <a:pt x="133" y="4123"/>
                </a:cubicBezTo>
                <a:cubicBezTo>
                  <a:pt x="150" y="4130"/>
                  <a:pt x="167" y="4133"/>
                  <a:pt x="186" y="4133"/>
                </a:cubicBezTo>
                <a:lnTo>
                  <a:pt x="6315" y="4133"/>
                </a:lnTo>
                <a:cubicBezTo>
                  <a:pt x="6334" y="4133"/>
                  <a:pt x="6351" y="4130"/>
                  <a:pt x="6368" y="4123"/>
                </a:cubicBezTo>
                <a:cubicBezTo>
                  <a:pt x="6386" y="4116"/>
                  <a:pt x="6401" y="4105"/>
                  <a:pt x="6414" y="4092"/>
                </a:cubicBezTo>
                <a:cubicBezTo>
                  <a:pt x="6427" y="4079"/>
                  <a:pt x="6437" y="4064"/>
                  <a:pt x="6444" y="4047"/>
                </a:cubicBezTo>
                <a:cubicBezTo>
                  <a:pt x="6451" y="4030"/>
                  <a:pt x="6454" y="4012"/>
                  <a:pt x="6454" y="3994"/>
                </a:cubicBezTo>
                <a:lnTo>
                  <a:pt x="6454" y="186"/>
                </a:lnTo>
                <a:cubicBezTo>
                  <a:pt x="6454" y="167"/>
                  <a:pt x="6451" y="150"/>
                  <a:pt x="6444" y="133"/>
                </a:cubicBezTo>
                <a:cubicBezTo>
                  <a:pt x="6437" y="116"/>
                  <a:pt x="6427" y="101"/>
                  <a:pt x="6414" y="87"/>
                </a:cubicBezTo>
                <a:cubicBezTo>
                  <a:pt x="6401" y="74"/>
                  <a:pt x="6386" y="64"/>
                  <a:pt x="6368" y="57"/>
                </a:cubicBezTo>
                <a:cubicBezTo>
                  <a:pt x="6351" y="50"/>
                  <a:pt x="6334" y="47"/>
                  <a:pt x="6315" y="47"/>
                </a:cubicBezTo>
                <a:lnTo>
                  <a:pt x="186" y="47"/>
                </a:lnTo>
                <a:cubicBezTo>
                  <a:pt x="167" y="47"/>
                  <a:pt x="150" y="50"/>
                  <a:pt x="133" y="57"/>
                </a:cubicBezTo>
                <a:cubicBezTo>
                  <a:pt x="116" y="64"/>
                  <a:pt x="101" y="74"/>
                  <a:pt x="87" y="87"/>
                </a:cubicBezTo>
                <a:cubicBezTo>
                  <a:pt x="74" y="101"/>
                  <a:pt x="64" y="116"/>
                  <a:pt x="57" y="133"/>
                </a:cubicBezTo>
                <a:cubicBezTo>
                  <a:pt x="50" y="150"/>
                  <a:pt x="47" y="167"/>
                  <a:pt x="47" y="186"/>
                </a:cubicBezTo>
                <a:close/>
              </a:path>
            </a:pathLst>
          </a:custGeom>
          <a:solidFill>
            <a:srgbClr val="4a90e2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8440200" y="1788120"/>
            <a:ext cx="501480" cy="401400"/>
          </a:xfrm>
          <a:custGeom>
            <a:avLst/>
            <a:gdLst/>
            <a:ahLst/>
            <a:rect l="0" t="0" r="r" b="b"/>
            <a:pathLst>
              <a:path w="1393" h="1115">
                <a:moveTo>
                  <a:pt x="1393" y="558"/>
                </a:moveTo>
                <a:cubicBezTo>
                  <a:pt x="1393" y="576"/>
                  <a:pt x="1392" y="595"/>
                  <a:pt x="1390" y="613"/>
                </a:cubicBezTo>
                <a:cubicBezTo>
                  <a:pt x="1388" y="631"/>
                  <a:pt x="1385" y="649"/>
                  <a:pt x="1380" y="667"/>
                </a:cubicBezTo>
                <a:cubicBezTo>
                  <a:pt x="1376" y="685"/>
                  <a:pt x="1370" y="702"/>
                  <a:pt x="1363" y="720"/>
                </a:cubicBezTo>
                <a:cubicBezTo>
                  <a:pt x="1357" y="737"/>
                  <a:pt x="1349" y="755"/>
                  <a:pt x="1340" y="771"/>
                </a:cubicBezTo>
                <a:cubicBezTo>
                  <a:pt x="1332" y="788"/>
                  <a:pt x="1322" y="805"/>
                  <a:pt x="1311" y="821"/>
                </a:cubicBezTo>
                <a:cubicBezTo>
                  <a:pt x="1300" y="837"/>
                  <a:pt x="1289" y="853"/>
                  <a:pt x="1276" y="868"/>
                </a:cubicBezTo>
                <a:cubicBezTo>
                  <a:pt x="1263" y="883"/>
                  <a:pt x="1250" y="898"/>
                  <a:pt x="1235" y="912"/>
                </a:cubicBezTo>
                <a:cubicBezTo>
                  <a:pt x="1221" y="926"/>
                  <a:pt x="1206" y="939"/>
                  <a:pt x="1189" y="952"/>
                </a:cubicBezTo>
                <a:cubicBezTo>
                  <a:pt x="1173" y="965"/>
                  <a:pt x="1156" y="977"/>
                  <a:pt x="1139" y="989"/>
                </a:cubicBezTo>
                <a:cubicBezTo>
                  <a:pt x="1121" y="1000"/>
                  <a:pt x="1103" y="1011"/>
                  <a:pt x="1084" y="1021"/>
                </a:cubicBezTo>
                <a:cubicBezTo>
                  <a:pt x="1065" y="1032"/>
                  <a:pt x="1045" y="1041"/>
                  <a:pt x="1025" y="1050"/>
                </a:cubicBezTo>
                <a:cubicBezTo>
                  <a:pt x="1005" y="1058"/>
                  <a:pt x="985" y="1066"/>
                  <a:pt x="964" y="1073"/>
                </a:cubicBezTo>
                <a:cubicBezTo>
                  <a:pt x="943" y="1080"/>
                  <a:pt x="921" y="1086"/>
                  <a:pt x="898" y="1091"/>
                </a:cubicBezTo>
                <a:cubicBezTo>
                  <a:pt x="876" y="1097"/>
                  <a:pt x="854" y="1101"/>
                  <a:pt x="832" y="1105"/>
                </a:cubicBezTo>
                <a:cubicBezTo>
                  <a:pt x="810" y="1108"/>
                  <a:pt x="787" y="1111"/>
                  <a:pt x="764" y="1113"/>
                </a:cubicBezTo>
                <a:cubicBezTo>
                  <a:pt x="742" y="1114"/>
                  <a:pt x="719" y="1115"/>
                  <a:pt x="696" y="1115"/>
                </a:cubicBezTo>
                <a:cubicBezTo>
                  <a:pt x="673" y="1115"/>
                  <a:pt x="651" y="1114"/>
                  <a:pt x="628" y="1113"/>
                </a:cubicBezTo>
                <a:cubicBezTo>
                  <a:pt x="605" y="1111"/>
                  <a:pt x="583" y="1108"/>
                  <a:pt x="560" y="1105"/>
                </a:cubicBezTo>
                <a:cubicBezTo>
                  <a:pt x="538" y="1101"/>
                  <a:pt x="516" y="1097"/>
                  <a:pt x="494" y="1091"/>
                </a:cubicBezTo>
                <a:cubicBezTo>
                  <a:pt x="472" y="1086"/>
                  <a:pt x="451" y="1080"/>
                  <a:pt x="430" y="1073"/>
                </a:cubicBezTo>
                <a:cubicBezTo>
                  <a:pt x="409" y="1066"/>
                  <a:pt x="388" y="1058"/>
                  <a:pt x="368" y="1050"/>
                </a:cubicBezTo>
                <a:cubicBezTo>
                  <a:pt x="348" y="1041"/>
                  <a:pt x="328" y="1032"/>
                  <a:pt x="309" y="1021"/>
                </a:cubicBezTo>
                <a:cubicBezTo>
                  <a:pt x="290" y="1011"/>
                  <a:pt x="272" y="1000"/>
                  <a:pt x="254" y="989"/>
                </a:cubicBezTo>
                <a:cubicBezTo>
                  <a:pt x="237" y="977"/>
                  <a:pt x="220" y="965"/>
                  <a:pt x="204" y="952"/>
                </a:cubicBezTo>
                <a:cubicBezTo>
                  <a:pt x="188" y="939"/>
                  <a:pt x="172" y="926"/>
                  <a:pt x="158" y="912"/>
                </a:cubicBezTo>
                <a:cubicBezTo>
                  <a:pt x="143" y="898"/>
                  <a:pt x="130" y="883"/>
                  <a:pt x="117" y="868"/>
                </a:cubicBezTo>
                <a:cubicBezTo>
                  <a:pt x="104" y="853"/>
                  <a:pt x="93" y="837"/>
                  <a:pt x="82" y="821"/>
                </a:cubicBezTo>
                <a:cubicBezTo>
                  <a:pt x="71" y="805"/>
                  <a:pt x="61" y="788"/>
                  <a:pt x="53" y="771"/>
                </a:cubicBezTo>
                <a:cubicBezTo>
                  <a:pt x="44" y="755"/>
                  <a:pt x="36" y="737"/>
                  <a:pt x="30" y="720"/>
                </a:cubicBezTo>
                <a:cubicBezTo>
                  <a:pt x="23" y="702"/>
                  <a:pt x="18" y="685"/>
                  <a:pt x="13" y="667"/>
                </a:cubicBezTo>
                <a:cubicBezTo>
                  <a:pt x="9" y="649"/>
                  <a:pt x="5" y="631"/>
                  <a:pt x="3" y="613"/>
                </a:cubicBezTo>
                <a:cubicBezTo>
                  <a:pt x="1" y="595"/>
                  <a:pt x="0" y="576"/>
                  <a:pt x="0" y="558"/>
                </a:cubicBezTo>
                <a:cubicBezTo>
                  <a:pt x="0" y="540"/>
                  <a:pt x="1" y="522"/>
                  <a:pt x="3" y="504"/>
                </a:cubicBezTo>
                <a:cubicBezTo>
                  <a:pt x="5" y="485"/>
                  <a:pt x="9" y="467"/>
                  <a:pt x="13" y="450"/>
                </a:cubicBezTo>
                <a:cubicBezTo>
                  <a:pt x="18" y="432"/>
                  <a:pt x="23" y="414"/>
                  <a:pt x="30" y="396"/>
                </a:cubicBezTo>
                <a:cubicBezTo>
                  <a:pt x="36" y="379"/>
                  <a:pt x="44" y="362"/>
                  <a:pt x="53" y="345"/>
                </a:cubicBezTo>
                <a:cubicBezTo>
                  <a:pt x="61" y="328"/>
                  <a:pt x="71" y="312"/>
                  <a:pt x="82" y="296"/>
                </a:cubicBezTo>
                <a:cubicBezTo>
                  <a:pt x="93" y="279"/>
                  <a:pt x="104" y="264"/>
                  <a:pt x="117" y="249"/>
                </a:cubicBezTo>
                <a:cubicBezTo>
                  <a:pt x="130" y="234"/>
                  <a:pt x="143" y="219"/>
                  <a:pt x="158" y="205"/>
                </a:cubicBezTo>
                <a:cubicBezTo>
                  <a:pt x="172" y="191"/>
                  <a:pt x="188" y="177"/>
                  <a:pt x="204" y="164"/>
                </a:cubicBezTo>
                <a:cubicBezTo>
                  <a:pt x="220" y="151"/>
                  <a:pt x="237" y="139"/>
                  <a:pt x="254" y="128"/>
                </a:cubicBezTo>
                <a:cubicBezTo>
                  <a:pt x="272" y="116"/>
                  <a:pt x="290" y="105"/>
                  <a:pt x="309" y="95"/>
                </a:cubicBezTo>
                <a:cubicBezTo>
                  <a:pt x="328" y="85"/>
                  <a:pt x="348" y="75"/>
                  <a:pt x="368" y="67"/>
                </a:cubicBezTo>
                <a:cubicBezTo>
                  <a:pt x="388" y="58"/>
                  <a:pt x="409" y="50"/>
                  <a:pt x="430" y="43"/>
                </a:cubicBezTo>
                <a:cubicBezTo>
                  <a:pt x="451" y="36"/>
                  <a:pt x="472" y="29"/>
                  <a:pt x="494" y="24"/>
                </a:cubicBezTo>
                <a:cubicBezTo>
                  <a:pt x="516" y="19"/>
                  <a:pt x="538" y="14"/>
                  <a:pt x="560" y="11"/>
                </a:cubicBezTo>
                <a:cubicBezTo>
                  <a:pt x="583" y="7"/>
                  <a:pt x="605" y="5"/>
                  <a:pt x="628" y="3"/>
                </a:cubicBezTo>
                <a:cubicBezTo>
                  <a:pt x="651" y="1"/>
                  <a:pt x="673" y="0"/>
                  <a:pt x="696" y="0"/>
                </a:cubicBezTo>
                <a:cubicBezTo>
                  <a:pt x="719" y="0"/>
                  <a:pt x="742" y="1"/>
                  <a:pt x="764" y="3"/>
                </a:cubicBezTo>
                <a:cubicBezTo>
                  <a:pt x="787" y="5"/>
                  <a:pt x="810" y="7"/>
                  <a:pt x="832" y="11"/>
                </a:cubicBezTo>
                <a:cubicBezTo>
                  <a:pt x="854" y="14"/>
                  <a:pt x="876" y="19"/>
                  <a:pt x="898" y="24"/>
                </a:cubicBezTo>
                <a:cubicBezTo>
                  <a:pt x="921" y="29"/>
                  <a:pt x="942" y="36"/>
                  <a:pt x="964" y="43"/>
                </a:cubicBezTo>
                <a:cubicBezTo>
                  <a:pt x="985" y="50"/>
                  <a:pt x="1005" y="58"/>
                  <a:pt x="1025" y="67"/>
                </a:cubicBezTo>
                <a:cubicBezTo>
                  <a:pt x="1045" y="75"/>
                  <a:pt x="1065" y="85"/>
                  <a:pt x="1084" y="95"/>
                </a:cubicBezTo>
                <a:cubicBezTo>
                  <a:pt x="1103" y="105"/>
                  <a:pt x="1121" y="116"/>
                  <a:pt x="1139" y="128"/>
                </a:cubicBezTo>
                <a:cubicBezTo>
                  <a:pt x="1156" y="139"/>
                  <a:pt x="1173" y="151"/>
                  <a:pt x="1189" y="164"/>
                </a:cubicBezTo>
                <a:cubicBezTo>
                  <a:pt x="1206" y="177"/>
                  <a:pt x="1221" y="191"/>
                  <a:pt x="1235" y="205"/>
                </a:cubicBezTo>
                <a:cubicBezTo>
                  <a:pt x="1250" y="219"/>
                  <a:pt x="1263" y="234"/>
                  <a:pt x="1276" y="249"/>
                </a:cubicBezTo>
                <a:cubicBezTo>
                  <a:pt x="1289" y="264"/>
                  <a:pt x="1300" y="279"/>
                  <a:pt x="1311" y="296"/>
                </a:cubicBezTo>
                <a:cubicBezTo>
                  <a:pt x="1322" y="312"/>
                  <a:pt x="1332" y="328"/>
                  <a:pt x="1340" y="345"/>
                </a:cubicBezTo>
                <a:cubicBezTo>
                  <a:pt x="1349" y="362"/>
                  <a:pt x="1357" y="379"/>
                  <a:pt x="1363" y="396"/>
                </a:cubicBezTo>
                <a:cubicBezTo>
                  <a:pt x="1370" y="414"/>
                  <a:pt x="1376" y="432"/>
                  <a:pt x="1380" y="450"/>
                </a:cubicBezTo>
                <a:cubicBezTo>
                  <a:pt x="1385" y="467"/>
                  <a:pt x="1388" y="485"/>
                  <a:pt x="1390" y="504"/>
                </a:cubicBezTo>
                <a:cubicBezTo>
                  <a:pt x="1392" y="522"/>
                  <a:pt x="1393" y="540"/>
                  <a:pt x="1393" y="558"/>
                </a:cubicBezTo>
                <a:close/>
              </a:path>
            </a:pathLst>
          </a:custGeom>
          <a:solidFill>
            <a:srgbClr val="7f1d1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35" name="" descr=""/>
          <p:cNvPicPr/>
          <p:nvPr/>
        </p:nvPicPr>
        <p:blipFill>
          <a:blip r:embed="rId7"/>
          <a:stretch/>
        </p:blipFill>
        <p:spPr>
          <a:xfrm>
            <a:off x="8582400" y="1863720"/>
            <a:ext cx="217080" cy="25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" name=""/>
          <p:cNvSpPr txBox="1"/>
          <p:nvPr/>
        </p:nvSpPr>
        <p:spPr>
          <a:xfrm>
            <a:off x="4813560" y="2826000"/>
            <a:ext cx="9396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していない状態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7989120" y="2318400"/>
            <a:ext cx="144432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fecaca"/>
                </a:solidFill>
                <a:effectLst/>
                <a:uFillTx/>
                <a:latin typeface="NotoSansJP"/>
                <a:ea typeface="NotoSansJP"/>
              </a:rPr>
              <a:t>移動状態 </a:t>
            </a:r>
            <a:r>
              <a:rPr b="0" lang="en-US" sz="1320" strike="noStrike" u="none">
                <a:solidFill>
                  <a:srgbClr val="fecaca"/>
                </a:solidFill>
                <a:effectLst/>
                <a:uFillTx/>
                <a:latin typeface="NotoSansJP"/>
                <a:ea typeface="NotoSansJP"/>
              </a:rPr>
              <a:t>(Moved)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7692480" y="2625120"/>
            <a:ext cx="20124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物体の位置が閾値を超えて移動し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8490240" y="2826000"/>
            <a:ext cx="4032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た状態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4144680" y="3877200"/>
            <a:ext cx="200880" cy="200880"/>
          </a:xfrm>
          <a:custGeom>
            <a:avLst/>
            <a:gdLst/>
            <a:ahLst/>
            <a:rect l="0" t="0" r="r" b="b"/>
            <a:pathLst>
              <a:path w="558" h="558">
                <a:moveTo>
                  <a:pt x="558" y="280"/>
                </a:moveTo>
                <a:cubicBezTo>
                  <a:pt x="558" y="298"/>
                  <a:pt x="557" y="316"/>
                  <a:pt x="553" y="334"/>
                </a:cubicBezTo>
                <a:cubicBezTo>
                  <a:pt x="549" y="352"/>
                  <a:pt x="544" y="370"/>
                  <a:pt x="537" y="387"/>
                </a:cubicBezTo>
                <a:cubicBezTo>
                  <a:pt x="530" y="403"/>
                  <a:pt x="522" y="419"/>
                  <a:pt x="511" y="435"/>
                </a:cubicBezTo>
                <a:cubicBezTo>
                  <a:pt x="501" y="450"/>
                  <a:pt x="490" y="464"/>
                  <a:pt x="477" y="477"/>
                </a:cubicBezTo>
                <a:cubicBezTo>
                  <a:pt x="464" y="490"/>
                  <a:pt x="449" y="501"/>
                  <a:pt x="433" y="512"/>
                </a:cubicBezTo>
                <a:cubicBezTo>
                  <a:pt x="418" y="522"/>
                  <a:pt x="402" y="530"/>
                  <a:pt x="385" y="537"/>
                </a:cubicBezTo>
                <a:cubicBezTo>
                  <a:pt x="368" y="544"/>
                  <a:pt x="351" y="550"/>
                  <a:pt x="333" y="553"/>
                </a:cubicBezTo>
                <a:cubicBezTo>
                  <a:pt x="315" y="557"/>
                  <a:pt x="297" y="558"/>
                  <a:pt x="279" y="558"/>
                </a:cubicBezTo>
                <a:cubicBezTo>
                  <a:pt x="260" y="558"/>
                  <a:pt x="242" y="557"/>
                  <a:pt x="224" y="553"/>
                </a:cubicBezTo>
                <a:cubicBezTo>
                  <a:pt x="206" y="550"/>
                  <a:pt x="189" y="544"/>
                  <a:pt x="172" y="537"/>
                </a:cubicBezTo>
                <a:cubicBezTo>
                  <a:pt x="155" y="530"/>
                  <a:pt x="139" y="522"/>
                  <a:pt x="124" y="512"/>
                </a:cubicBezTo>
                <a:cubicBezTo>
                  <a:pt x="109" y="501"/>
                  <a:pt x="95" y="490"/>
                  <a:pt x="82" y="477"/>
                </a:cubicBezTo>
                <a:cubicBezTo>
                  <a:pt x="69" y="464"/>
                  <a:pt x="57" y="450"/>
                  <a:pt x="47" y="435"/>
                </a:cubicBezTo>
                <a:cubicBezTo>
                  <a:pt x="37" y="419"/>
                  <a:pt x="28" y="403"/>
                  <a:pt x="21" y="387"/>
                </a:cubicBezTo>
                <a:cubicBezTo>
                  <a:pt x="14" y="370"/>
                  <a:pt x="9" y="352"/>
                  <a:pt x="6" y="334"/>
                </a:cubicBezTo>
                <a:cubicBezTo>
                  <a:pt x="2" y="316"/>
                  <a:pt x="0" y="298"/>
                  <a:pt x="0" y="280"/>
                </a:cubicBezTo>
                <a:cubicBezTo>
                  <a:pt x="0" y="262"/>
                  <a:pt x="2" y="244"/>
                  <a:pt x="6" y="226"/>
                </a:cubicBezTo>
                <a:cubicBezTo>
                  <a:pt x="9" y="208"/>
                  <a:pt x="14" y="190"/>
                  <a:pt x="21" y="173"/>
                </a:cubicBezTo>
                <a:cubicBezTo>
                  <a:pt x="28" y="156"/>
                  <a:pt x="37" y="140"/>
                  <a:pt x="47" y="125"/>
                </a:cubicBezTo>
                <a:cubicBezTo>
                  <a:pt x="57" y="110"/>
                  <a:pt x="69" y="96"/>
                  <a:pt x="82" y="82"/>
                </a:cubicBezTo>
                <a:cubicBezTo>
                  <a:pt x="95" y="69"/>
                  <a:pt x="109" y="57"/>
                  <a:pt x="124" y="47"/>
                </a:cubicBezTo>
                <a:cubicBezTo>
                  <a:pt x="139" y="37"/>
                  <a:pt x="155" y="29"/>
                  <a:pt x="172" y="22"/>
                </a:cubicBezTo>
                <a:cubicBezTo>
                  <a:pt x="189" y="15"/>
                  <a:pt x="206" y="9"/>
                  <a:pt x="224" y="6"/>
                </a:cubicBezTo>
                <a:cubicBezTo>
                  <a:pt x="242" y="2"/>
                  <a:pt x="260" y="0"/>
                  <a:pt x="279" y="0"/>
                </a:cubicBezTo>
                <a:cubicBezTo>
                  <a:pt x="297" y="0"/>
                  <a:pt x="315" y="2"/>
                  <a:pt x="333" y="6"/>
                </a:cubicBezTo>
                <a:cubicBezTo>
                  <a:pt x="351" y="9"/>
                  <a:pt x="368" y="15"/>
                  <a:pt x="385" y="22"/>
                </a:cubicBezTo>
                <a:cubicBezTo>
                  <a:pt x="402" y="29"/>
                  <a:pt x="418" y="37"/>
                  <a:pt x="433" y="47"/>
                </a:cubicBezTo>
                <a:cubicBezTo>
                  <a:pt x="449" y="57"/>
                  <a:pt x="464" y="69"/>
                  <a:pt x="477" y="82"/>
                </a:cubicBezTo>
                <a:cubicBezTo>
                  <a:pt x="490" y="96"/>
                  <a:pt x="501" y="110"/>
                  <a:pt x="511" y="125"/>
                </a:cubicBezTo>
                <a:cubicBezTo>
                  <a:pt x="522" y="140"/>
                  <a:pt x="530" y="156"/>
                  <a:pt x="537" y="173"/>
                </a:cubicBezTo>
                <a:cubicBezTo>
                  <a:pt x="544" y="190"/>
                  <a:pt x="549" y="208"/>
                  <a:pt x="553" y="226"/>
                </a:cubicBezTo>
                <a:cubicBezTo>
                  <a:pt x="557" y="244"/>
                  <a:pt x="558" y="262"/>
                  <a:pt x="558" y="280"/>
                </a:cubicBezTo>
                <a:close/>
              </a:path>
            </a:pathLst>
          </a:custGeom>
          <a:solidFill>
            <a:srgbClr val="1e40a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4145040" y="3571920"/>
            <a:ext cx="100656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fcd34d"/>
                </a:solidFill>
                <a:effectLst/>
                <a:uFillTx/>
                <a:latin typeface="NotoSansJP"/>
                <a:ea typeface="NotoSansJP"/>
              </a:rPr>
              <a:t>動作プロセス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4203360" y="3904920"/>
            <a:ext cx="1501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1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4144680" y="4211640"/>
            <a:ext cx="200880" cy="200880"/>
          </a:xfrm>
          <a:custGeom>
            <a:avLst/>
            <a:gdLst/>
            <a:ahLst/>
            <a:rect l="0" t="0" r="r" b="b"/>
            <a:pathLst>
              <a:path w="558" h="558">
                <a:moveTo>
                  <a:pt x="558" y="279"/>
                </a:moveTo>
                <a:cubicBezTo>
                  <a:pt x="558" y="298"/>
                  <a:pt x="557" y="316"/>
                  <a:pt x="553" y="334"/>
                </a:cubicBezTo>
                <a:cubicBezTo>
                  <a:pt x="549" y="352"/>
                  <a:pt x="544" y="369"/>
                  <a:pt x="537" y="386"/>
                </a:cubicBezTo>
                <a:cubicBezTo>
                  <a:pt x="530" y="403"/>
                  <a:pt x="522" y="419"/>
                  <a:pt x="511" y="434"/>
                </a:cubicBezTo>
                <a:cubicBezTo>
                  <a:pt x="501" y="449"/>
                  <a:pt x="490" y="463"/>
                  <a:pt x="477" y="476"/>
                </a:cubicBezTo>
                <a:cubicBezTo>
                  <a:pt x="464" y="489"/>
                  <a:pt x="449" y="501"/>
                  <a:pt x="433" y="511"/>
                </a:cubicBezTo>
                <a:cubicBezTo>
                  <a:pt x="418" y="521"/>
                  <a:pt x="402" y="530"/>
                  <a:pt x="385" y="537"/>
                </a:cubicBezTo>
                <a:cubicBezTo>
                  <a:pt x="368" y="544"/>
                  <a:pt x="351" y="549"/>
                  <a:pt x="333" y="553"/>
                </a:cubicBezTo>
                <a:cubicBezTo>
                  <a:pt x="315" y="556"/>
                  <a:pt x="297" y="558"/>
                  <a:pt x="279" y="558"/>
                </a:cubicBezTo>
                <a:cubicBezTo>
                  <a:pt x="260" y="558"/>
                  <a:pt x="242" y="556"/>
                  <a:pt x="224" y="553"/>
                </a:cubicBezTo>
                <a:cubicBezTo>
                  <a:pt x="206" y="549"/>
                  <a:pt x="189" y="544"/>
                  <a:pt x="172" y="537"/>
                </a:cubicBezTo>
                <a:cubicBezTo>
                  <a:pt x="155" y="530"/>
                  <a:pt x="139" y="521"/>
                  <a:pt x="124" y="511"/>
                </a:cubicBezTo>
                <a:cubicBezTo>
                  <a:pt x="109" y="501"/>
                  <a:pt x="95" y="489"/>
                  <a:pt x="82" y="476"/>
                </a:cubicBezTo>
                <a:cubicBezTo>
                  <a:pt x="69" y="463"/>
                  <a:pt x="57" y="449"/>
                  <a:pt x="47" y="434"/>
                </a:cubicBezTo>
                <a:cubicBezTo>
                  <a:pt x="37" y="419"/>
                  <a:pt x="28" y="403"/>
                  <a:pt x="21" y="386"/>
                </a:cubicBezTo>
                <a:cubicBezTo>
                  <a:pt x="14" y="369"/>
                  <a:pt x="9" y="352"/>
                  <a:pt x="6" y="334"/>
                </a:cubicBezTo>
                <a:cubicBezTo>
                  <a:pt x="2" y="316"/>
                  <a:pt x="0" y="298"/>
                  <a:pt x="0" y="279"/>
                </a:cubicBezTo>
                <a:cubicBezTo>
                  <a:pt x="0" y="260"/>
                  <a:pt x="2" y="242"/>
                  <a:pt x="6" y="224"/>
                </a:cubicBezTo>
                <a:cubicBezTo>
                  <a:pt x="9" y="206"/>
                  <a:pt x="14" y="189"/>
                  <a:pt x="21" y="172"/>
                </a:cubicBezTo>
                <a:cubicBezTo>
                  <a:pt x="28" y="155"/>
                  <a:pt x="37" y="139"/>
                  <a:pt x="47" y="124"/>
                </a:cubicBezTo>
                <a:cubicBezTo>
                  <a:pt x="57" y="108"/>
                  <a:pt x="69" y="94"/>
                  <a:pt x="82" y="81"/>
                </a:cubicBezTo>
                <a:cubicBezTo>
                  <a:pt x="95" y="69"/>
                  <a:pt x="109" y="57"/>
                  <a:pt x="124" y="47"/>
                </a:cubicBezTo>
                <a:cubicBezTo>
                  <a:pt x="139" y="37"/>
                  <a:pt x="155" y="28"/>
                  <a:pt x="172" y="21"/>
                </a:cubicBezTo>
                <a:cubicBezTo>
                  <a:pt x="189" y="14"/>
                  <a:pt x="206" y="9"/>
                  <a:pt x="224" y="5"/>
                </a:cubicBezTo>
                <a:cubicBezTo>
                  <a:pt x="242" y="2"/>
                  <a:pt x="260" y="0"/>
                  <a:pt x="279" y="0"/>
                </a:cubicBezTo>
                <a:cubicBezTo>
                  <a:pt x="297" y="0"/>
                  <a:pt x="315" y="2"/>
                  <a:pt x="333" y="5"/>
                </a:cubicBezTo>
                <a:cubicBezTo>
                  <a:pt x="351" y="9"/>
                  <a:pt x="368" y="14"/>
                  <a:pt x="385" y="21"/>
                </a:cubicBezTo>
                <a:cubicBezTo>
                  <a:pt x="402" y="28"/>
                  <a:pt x="418" y="37"/>
                  <a:pt x="433" y="47"/>
                </a:cubicBezTo>
                <a:cubicBezTo>
                  <a:pt x="449" y="57"/>
                  <a:pt x="464" y="69"/>
                  <a:pt x="477" y="81"/>
                </a:cubicBezTo>
                <a:cubicBezTo>
                  <a:pt x="490" y="94"/>
                  <a:pt x="501" y="108"/>
                  <a:pt x="511" y="124"/>
                </a:cubicBezTo>
                <a:cubicBezTo>
                  <a:pt x="522" y="139"/>
                  <a:pt x="530" y="155"/>
                  <a:pt x="537" y="172"/>
                </a:cubicBezTo>
                <a:cubicBezTo>
                  <a:pt x="544" y="189"/>
                  <a:pt x="549" y="206"/>
                  <a:pt x="553" y="224"/>
                </a:cubicBezTo>
                <a:cubicBezTo>
                  <a:pt x="557" y="242"/>
                  <a:pt x="558" y="260"/>
                  <a:pt x="558" y="279"/>
                </a:cubicBezTo>
                <a:close/>
              </a:path>
            </a:pathLst>
          </a:custGeom>
          <a:solidFill>
            <a:srgbClr val="1e40a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4445640" y="3921840"/>
            <a:ext cx="40744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カメラ映像から検出された物体に対してトラッカーを初期化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4203360" y="4239360"/>
            <a:ext cx="1501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2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4144680" y="4545720"/>
            <a:ext cx="200880" cy="201240"/>
          </a:xfrm>
          <a:custGeom>
            <a:avLst/>
            <a:gdLst/>
            <a:ahLst/>
            <a:rect l="0" t="0" r="r" b="b"/>
            <a:pathLst>
              <a:path w="558" h="559">
                <a:moveTo>
                  <a:pt x="558" y="279"/>
                </a:moveTo>
                <a:cubicBezTo>
                  <a:pt x="558" y="297"/>
                  <a:pt x="557" y="315"/>
                  <a:pt x="553" y="333"/>
                </a:cubicBezTo>
                <a:cubicBezTo>
                  <a:pt x="549" y="351"/>
                  <a:pt x="544" y="369"/>
                  <a:pt x="537" y="386"/>
                </a:cubicBezTo>
                <a:cubicBezTo>
                  <a:pt x="530" y="402"/>
                  <a:pt x="522" y="419"/>
                  <a:pt x="511" y="434"/>
                </a:cubicBezTo>
                <a:cubicBezTo>
                  <a:pt x="501" y="449"/>
                  <a:pt x="490" y="464"/>
                  <a:pt x="477" y="477"/>
                </a:cubicBezTo>
                <a:cubicBezTo>
                  <a:pt x="464" y="490"/>
                  <a:pt x="449" y="501"/>
                  <a:pt x="433" y="512"/>
                </a:cubicBezTo>
                <a:cubicBezTo>
                  <a:pt x="418" y="522"/>
                  <a:pt x="402" y="530"/>
                  <a:pt x="385" y="537"/>
                </a:cubicBezTo>
                <a:cubicBezTo>
                  <a:pt x="368" y="544"/>
                  <a:pt x="351" y="550"/>
                  <a:pt x="333" y="553"/>
                </a:cubicBezTo>
                <a:cubicBezTo>
                  <a:pt x="315" y="557"/>
                  <a:pt x="297" y="559"/>
                  <a:pt x="279" y="559"/>
                </a:cubicBezTo>
                <a:cubicBezTo>
                  <a:pt x="260" y="559"/>
                  <a:pt x="242" y="557"/>
                  <a:pt x="224" y="553"/>
                </a:cubicBezTo>
                <a:cubicBezTo>
                  <a:pt x="206" y="550"/>
                  <a:pt x="189" y="544"/>
                  <a:pt x="172" y="537"/>
                </a:cubicBezTo>
                <a:cubicBezTo>
                  <a:pt x="155" y="530"/>
                  <a:pt x="139" y="522"/>
                  <a:pt x="124" y="512"/>
                </a:cubicBezTo>
                <a:cubicBezTo>
                  <a:pt x="109" y="501"/>
                  <a:pt x="95" y="490"/>
                  <a:pt x="82" y="477"/>
                </a:cubicBezTo>
                <a:cubicBezTo>
                  <a:pt x="69" y="464"/>
                  <a:pt x="57" y="449"/>
                  <a:pt x="47" y="434"/>
                </a:cubicBezTo>
                <a:cubicBezTo>
                  <a:pt x="37" y="419"/>
                  <a:pt x="28" y="402"/>
                  <a:pt x="21" y="386"/>
                </a:cubicBezTo>
                <a:cubicBezTo>
                  <a:pt x="14" y="369"/>
                  <a:pt x="9" y="351"/>
                  <a:pt x="6" y="333"/>
                </a:cubicBezTo>
                <a:cubicBezTo>
                  <a:pt x="2" y="315"/>
                  <a:pt x="0" y="297"/>
                  <a:pt x="0" y="279"/>
                </a:cubicBezTo>
                <a:cubicBezTo>
                  <a:pt x="0" y="261"/>
                  <a:pt x="2" y="243"/>
                  <a:pt x="6" y="225"/>
                </a:cubicBezTo>
                <a:cubicBezTo>
                  <a:pt x="9" y="207"/>
                  <a:pt x="14" y="189"/>
                  <a:pt x="21" y="172"/>
                </a:cubicBezTo>
                <a:cubicBezTo>
                  <a:pt x="28" y="155"/>
                  <a:pt x="37" y="139"/>
                  <a:pt x="47" y="124"/>
                </a:cubicBezTo>
                <a:cubicBezTo>
                  <a:pt x="57" y="109"/>
                  <a:pt x="69" y="95"/>
                  <a:pt x="82" y="82"/>
                </a:cubicBezTo>
                <a:cubicBezTo>
                  <a:pt x="95" y="69"/>
                  <a:pt x="109" y="58"/>
                  <a:pt x="124" y="47"/>
                </a:cubicBezTo>
                <a:cubicBezTo>
                  <a:pt x="139" y="37"/>
                  <a:pt x="155" y="29"/>
                  <a:pt x="172" y="22"/>
                </a:cubicBezTo>
                <a:cubicBezTo>
                  <a:pt x="189" y="15"/>
                  <a:pt x="206" y="9"/>
                  <a:pt x="224" y="6"/>
                </a:cubicBezTo>
                <a:cubicBezTo>
                  <a:pt x="242" y="2"/>
                  <a:pt x="260" y="0"/>
                  <a:pt x="279" y="0"/>
                </a:cubicBezTo>
                <a:cubicBezTo>
                  <a:pt x="297" y="0"/>
                  <a:pt x="315" y="2"/>
                  <a:pt x="333" y="6"/>
                </a:cubicBezTo>
                <a:cubicBezTo>
                  <a:pt x="351" y="9"/>
                  <a:pt x="368" y="15"/>
                  <a:pt x="385" y="22"/>
                </a:cubicBezTo>
                <a:cubicBezTo>
                  <a:pt x="402" y="29"/>
                  <a:pt x="418" y="37"/>
                  <a:pt x="433" y="47"/>
                </a:cubicBezTo>
                <a:cubicBezTo>
                  <a:pt x="449" y="58"/>
                  <a:pt x="464" y="69"/>
                  <a:pt x="477" y="82"/>
                </a:cubicBezTo>
                <a:cubicBezTo>
                  <a:pt x="490" y="95"/>
                  <a:pt x="501" y="109"/>
                  <a:pt x="511" y="124"/>
                </a:cubicBezTo>
                <a:cubicBezTo>
                  <a:pt x="522" y="139"/>
                  <a:pt x="530" y="155"/>
                  <a:pt x="537" y="172"/>
                </a:cubicBezTo>
                <a:cubicBezTo>
                  <a:pt x="544" y="189"/>
                  <a:pt x="549" y="207"/>
                  <a:pt x="553" y="225"/>
                </a:cubicBezTo>
                <a:cubicBezTo>
                  <a:pt x="557" y="243"/>
                  <a:pt x="558" y="261"/>
                  <a:pt x="558" y="279"/>
                </a:cubicBezTo>
                <a:close/>
              </a:path>
            </a:pathLst>
          </a:custGeom>
          <a:solidFill>
            <a:srgbClr val="1e40a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4445640" y="4255920"/>
            <a:ext cx="43761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フレームごとに物体の位置を追跡し、前フレームとの変位を計算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4203360" y="4573440"/>
            <a:ext cx="1501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3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4144680" y="4880160"/>
            <a:ext cx="200880" cy="200880"/>
          </a:xfrm>
          <a:custGeom>
            <a:avLst/>
            <a:gdLst/>
            <a:ahLst/>
            <a:rect l="0" t="0" r="r" b="b"/>
            <a:pathLst>
              <a:path w="558" h="558">
                <a:moveTo>
                  <a:pt x="558" y="279"/>
                </a:moveTo>
                <a:cubicBezTo>
                  <a:pt x="558" y="298"/>
                  <a:pt x="557" y="316"/>
                  <a:pt x="553" y="334"/>
                </a:cubicBezTo>
                <a:cubicBezTo>
                  <a:pt x="549" y="352"/>
                  <a:pt x="544" y="369"/>
                  <a:pt x="537" y="386"/>
                </a:cubicBezTo>
                <a:cubicBezTo>
                  <a:pt x="530" y="403"/>
                  <a:pt x="522" y="419"/>
                  <a:pt x="511" y="434"/>
                </a:cubicBezTo>
                <a:cubicBezTo>
                  <a:pt x="501" y="449"/>
                  <a:pt x="490" y="464"/>
                  <a:pt x="477" y="476"/>
                </a:cubicBezTo>
                <a:cubicBezTo>
                  <a:pt x="464" y="489"/>
                  <a:pt x="449" y="501"/>
                  <a:pt x="433" y="511"/>
                </a:cubicBezTo>
                <a:cubicBezTo>
                  <a:pt x="418" y="521"/>
                  <a:pt x="402" y="530"/>
                  <a:pt x="385" y="537"/>
                </a:cubicBezTo>
                <a:cubicBezTo>
                  <a:pt x="368" y="544"/>
                  <a:pt x="351" y="549"/>
                  <a:pt x="333" y="553"/>
                </a:cubicBezTo>
                <a:cubicBezTo>
                  <a:pt x="315" y="556"/>
                  <a:pt x="297" y="558"/>
                  <a:pt x="279" y="558"/>
                </a:cubicBezTo>
                <a:cubicBezTo>
                  <a:pt x="260" y="558"/>
                  <a:pt x="242" y="556"/>
                  <a:pt x="224" y="553"/>
                </a:cubicBezTo>
                <a:cubicBezTo>
                  <a:pt x="206" y="549"/>
                  <a:pt x="189" y="544"/>
                  <a:pt x="172" y="537"/>
                </a:cubicBezTo>
                <a:cubicBezTo>
                  <a:pt x="155" y="530"/>
                  <a:pt x="139" y="521"/>
                  <a:pt x="124" y="511"/>
                </a:cubicBezTo>
                <a:cubicBezTo>
                  <a:pt x="109" y="501"/>
                  <a:pt x="95" y="489"/>
                  <a:pt x="82" y="476"/>
                </a:cubicBezTo>
                <a:cubicBezTo>
                  <a:pt x="69" y="464"/>
                  <a:pt x="57" y="449"/>
                  <a:pt x="47" y="434"/>
                </a:cubicBezTo>
                <a:cubicBezTo>
                  <a:pt x="37" y="419"/>
                  <a:pt x="28" y="403"/>
                  <a:pt x="21" y="386"/>
                </a:cubicBezTo>
                <a:cubicBezTo>
                  <a:pt x="14" y="369"/>
                  <a:pt x="9" y="352"/>
                  <a:pt x="6" y="334"/>
                </a:cubicBezTo>
                <a:cubicBezTo>
                  <a:pt x="2" y="316"/>
                  <a:pt x="0" y="298"/>
                  <a:pt x="0" y="279"/>
                </a:cubicBezTo>
                <a:cubicBezTo>
                  <a:pt x="0" y="261"/>
                  <a:pt x="2" y="243"/>
                  <a:pt x="6" y="225"/>
                </a:cubicBezTo>
                <a:cubicBezTo>
                  <a:pt x="9" y="207"/>
                  <a:pt x="14" y="190"/>
                  <a:pt x="21" y="173"/>
                </a:cubicBezTo>
                <a:cubicBezTo>
                  <a:pt x="28" y="156"/>
                  <a:pt x="37" y="140"/>
                  <a:pt x="47" y="125"/>
                </a:cubicBezTo>
                <a:cubicBezTo>
                  <a:pt x="57" y="110"/>
                  <a:pt x="69" y="95"/>
                  <a:pt x="82" y="82"/>
                </a:cubicBezTo>
                <a:cubicBezTo>
                  <a:pt x="95" y="69"/>
                  <a:pt x="109" y="57"/>
                  <a:pt x="124" y="47"/>
                </a:cubicBezTo>
                <a:cubicBezTo>
                  <a:pt x="139" y="37"/>
                  <a:pt x="155" y="28"/>
                  <a:pt x="172" y="21"/>
                </a:cubicBezTo>
                <a:cubicBezTo>
                  <a:pt x="189" y="14"/>
                  <a:pt x="206" y="9"/>
                  <a:pt x="224" y="5"/>
                </a:cubicBezTo>
                <a:cubicBezTo>
                  <a:pt x="242" y="2"/>
                  <a:pt x="260" y="0"/>
                  <a:pt x="279" y="0"/>
                </a:cubicBezTo>
                <a:cubicBezTo>
                  <a:pt x="297" y="0"/>
                  <a:pt x="315" y="2"/>
                  <a:pt x="333" y="5"/>
                </a:cubicBezTo>
                <a:cubicBezTo>
                  <a:pt x="351" y="9"/>
                  <a:pt x="368" y="14"/>
                  <a:pt x="385" y="21"/>
                </a:cubicBezTo>
                <a:cubicBezTo>
                  <a:pt x="402" y="28"/>
                  <a:pt x="418" y="37"/>
                  <a:pt x="433" y="47"/>
                </a:cubicBezTo>
                <a:cubicBezTo>
                  <a:pt x="449" y="57"/>
                  <a:pt x="464" y="69"/>
                  <a:pt x="477" y="82"/>
                </a:cubicBezTo>
                <a:cubicBezTo>
                  <a:pt x="490" y="95"/>
                  <a:pt x="501" y="110"/>
                  <a:pt x="511" y="125"/>
                </a:cubicBezTo>
                <a:cubicBezTo>
                  <a:pt x="522" y="140"/>
                  <a:pt x="530" y="156"/>
                  <a:pt x="537" y="173"/>
                </a:cubicBezTo>
                <a:cubicBezTo>
                  <a:pt x="544" y="190"/>
                  <a:pt x="549" y="207"/>
                  <a:pt x="553" y="225"/>
                </a:cubicBezTo>
                <a:cubicBezTo>
                  <a:pt x="557" y="243"/>
                  <a:pt x="558" y="261"/>
                  <a:pt x="558" y="279"/>
                </a:cubicBezTo>
                <a:close/>
              </a:path>
            </a:pathLst>
          </a:custGeom>
          <a:solidFill>
            <a:srgbClr val="1e40a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4445640" y="4590360"/>
            <a:ext cx="52815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変位が閾値を超えた場合は「移動状態」、そうでなければ「静止状態」と判定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4203360" y="4907880"/>
            <a:ext cx="1501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4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52" name="" descr=""/>
          <p:cNvPicPr/>
          <p:nvPr/>
        </p:nvPicPr>
        <p:blipFill>
          <a:blip r:embed="rId8"/>
          <a:stretch/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3" name="" descr=""/>
          <p:cNvPicPr/>
          <p:nvPr/>
        </p:nvPicPr>
        <p:blipFill>
          <a:blip r:embed="rId9"/>
          <a:stretch/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4" name=""/>
          <p:cNvSpPr/>
          <p:nvPr/>
        </p:nvSpPr>
        <p:spPr>
          <a:xfrm>
            <a:off x="6651720" y="2381400"/>
            <a:ext cx="668880" cy="17280"/>
          </a:xfrm>
          <a:custGeom>
            <a:avLst/>
            <a:gdLst/>
            <a:ahLst/>
            <a:rect l="0" t="0" r="r" b="b"/>
            <a:pathLst>
              <a:path w="1858" h="48">
                <a:moveTo>
                  <a:pt x="0" y="0"/>
                </a:moveTo>
                <a:lnTo>
                  <a:pt x="1858" y="0"/>
                </a:lnTo>
                <a:lnTo>
                  <a:pt x="1858" y="48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rgbClr val="4a90e2">
              <a:alpha val="7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7236720" y="2347920"/>
            <a:ext cx="83880" cy="83880"/>
          </a:xfrm>
          <a:custGeom>
            <a:avLst/>
            <a:gdLst/>
            <a:ahLst/>
            <a:rect l="0" t="0" r="r" b="b"/>
            <a:pathLst>
              <a:path w="233" h="233">
                <a:moveTo>
                  <a:pt x="0" y="0"/>
                </a:moveTo>
                <a:lnTo>
                  <a:pt x="0" y="233"/>
                </a:lnTo>
                <a:lnTo>
                  <a:pt x="233" y="117"/>
                </a:lnTo>
                <a:lnTo>
                  <a:pt x="0" y="0"/>
                </a:lnTo>
                <a:close/>
              </a:path>
            </a:pathLst>
          </a:custGeom>
          <a:solidFill>
            <a:srgbClr val="4a90e2">
              <a:alpha val="7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4445640" y="4924440"/>
            <a:ext cx="43761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物体の状態情報を高度な警告ロジックへ入力し、状況判断に活用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10153440" y="5717160"/>
            <a:ext cx="387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9ca3af"/>
                </a:solidFill>
                <a:effectLst/>
                <a:uFillTx/>
                <a:latin typeface="NotoSansJP"/>
                <a:ea typeface="NotoSansJP"/>
              </a:rPr>
              <a:t>6 / 12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9" name=""/>
          <p:cNvSpPr/>
          <p:nvPr/>
        </p:nvSpPr>
        <p:spPr>
          <a:xfrm>
            <a:off x="534600" y="802080"/>
            <a:ext cx="668880" cy="33840"/>
          </a:xfrm>
          <a:custGeom>
            <a:avLst/>
            <a:gdLst/>
            <a:ahLst/>
            <a:rect l="0" t="0" r="r" b="b"/>
            <a:pathLst>
              <a:path w="1858" h="94">
                <a:moveTo>
                  <a:pt x="0" y="0"/>
                </a:moveTo>
                <a:lnTo>
                  <a:pt x="1858" y="0"/>
                </a:lnTo>
                <a:lnTo>
                  <a:pt x="1858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60a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534960" y="422640"/>
            <a:ext cx="4204080" cy="43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37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提案手法：高度な警告ロジック</a:t>
            </a:r>
            <a:endParaRPr b="0" lang="en-US" sz="2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534600" y="1470600"/>
            <a:ext cx="3033720" cy="3242880"/>
          </a:xfrm>
          <a:custGeom>
            <a:avLst/>
            <a:gdLst/>
            <a:ahLst/>
            <a:rect l="0" t="0" r="r" b="b"/>
            <a:pathLst>
              <a:path w="8427" h="9008">
                <a:moveTo>
                  <a:pt x="0" y="8822"/>
                </a:moveTo>
                <a:lnTo>
                  <a:pt x="0" y="186"/>
                </a:lnTo>
                <a:cubicBezTo>
                  <a:pt x="0" y="174"/>
                  <a:pt x="1" y="161"/>
                  <a:pt x="4" y="149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3"/>
                  <a:pt x="25" y="93"/>
                  <a:pt x="31" y="83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9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lnTo>
                  <a:pt x="8242" y="0"/>
                </a:lnTo>
                <a:cubicBezTo>
                  <a:pt x="8254" y="0"/>
                  <a:pt x="8266" y="1"/>
                  <a:pt x="8278" y="4"/>
                </a:cubicBezTo>
                <a:cubicBezTo>
                  <a:pt x="8290" y="6"/>
                  <a:pt x="8302" y="9"/>
                  <a:pt x="8313" y="14"/>
                </a:cubicBezTo>
                <a:cubicBezTo>
                  <a:pt x="8324" y="19"/>
                  <a:pt x="8335" y="25"/>
                  <a:pt x="8345" y="31"/>
                </a:cubicBezTo>
                <a:cubicBezTo>
                  <a:pt x="8355" y="38"/>
                  <a:pt x="8364" y="46"/>
                  <a:pt x="8373" y="54"/>
                </a:cubicBezTo>
                <a:cubicBezTo>
                  <a:pt x="8382" y="63"/>
                  <a:pt x="8389" y="72"/>
                  <a:pt x="8396" y="83"/>
                </a:cubicBezTo>
                <a:cubicBezTo>
                  <a:pt x="8403" y="93"/>
                  <a:pt x="8409" y="103"/>
                  <a:pt x="8413" y="115"/>
                </a:cubicBezTo>
                <a:cubicBezTo>
                  <a:pt x="8418" y="126"/>
                  <a:pt x="8422" y="138"/>
                  <a:pt x="8424" y="149"/>
                </a:cubicBezTo>
                <a:cubicBezTo>
                  <a:pt x="8426" y="161"/>
                  <a:pt x="8427" y="174"/>
                  <a:pt x="8427" y="186"/>
                </a:cubicBezTo>
                <a:lnTo>
                  <a:pt x="8427" y="8822"/>
                </a:lnTo>
                <a:cubicBezTo>
                  <a:pt x="8427" y="8834"/>
                  <a:pt x="8426" y="8846"/>
                  <a:pt x="8424" y="8858"/>
                </a:cubicBezTo>
                <a:cubicBezTo>
                  <a:pt x="8422" y="8870"/>
                  <a:pt x="8418" y="8882"/>
                  <a:pt x="8413" y="8893"/>
                </a:cubicBezTo>
                <a:cubicBezTo>
                  <a:pt x="8409" y="8904"/>
                  <a:pt x="8403" y="8915"/>
                  <a:pt x="8396" y="8925"/>
                </a:cubicBezTo>
                <a:cubicBezTo>
                  <a:pt x="8389" y="8935"/>
                  <a:pt x="8382" y="8945"/>
                  <a:pt x="8373" y="8953"/>
                </a:cubicBezTo>
                <a:cubicBezTo>
                  <a:pt x="8364" y="8962"/>
                  <a:pt x="8355" y="8970"/>
                  <a:pt x="8345" y="8976"/>
                </a:cubicBezTo>
                <a:cubicBezTo>
                  <a:pt x="8335" y="8983"/>
                  <a:pt x="8324" y="8989"/>
                  <a:pt x="8313" y="8994"/>
                </a:cubicBezTo>
                <a:cubicBezTo>
                  <a:pt x="8302" y="8998"/>
                  <a:pt x="8290" y="9002"/>
                  <a:pt x="8278" y="9004"/>
                </a:cubicBezTo>
                <a:cubicBezTo>
                  <a:pt x="8266" y="9006"/>
                  <a:pt x="8254" y="9008"/>
                  <a:pt x="8242" y="9008"/>
                </a:cubicBezTo>
                <a:lnTo>
                  <a:pt x="186" y="9008"/>
                </a:lnTo>
                <a:cubicBezTo>
                  <a:pt x="174" y="9008"/>
                  <a:pt x="162" y="9006"/>
                  <a:pt x="150" y="9004"/>
                </a:cubicBezTo>
                <a:cubicBezTo>
                  <a:pt x="138" y="9002"/>
                  <a:pt x="126" y="8998"/>
                  <a:pt x="115" y="8994"/>
                </a:cubicBezTo>
                <a:cubicBezTo>
                  <a:pt x="104" y="8989"/>
                  <a:pt x="93" y="8983"/>
                  <a:pt x="83" y="8976"/>
                </a:cubicBezTo>
                <a:cubicBezTo>
                  <a:pt x="73" y="8970"/>
                  <a:pt x="63" y="8962"/>
                  <a:pt x="55" y="8953"/>
                </a:cubicBezTo>
                <a:cubicBezTo>
                  <a:pt x="46" y="8945"/>
                  <a:pt x="38" y="8935"/>
                  <a:pt x="31" y="8925"/>
                </a:cubicBezTo>
                <a:cubicBezTo>
                  <a:pt x="25" y="8915"/>
                  <a:pt x="19" y="8904"/>
                  <a:pt x="14" y="8893"/>
                </a:cubicBezTo>
                <a:cubicBezTo>
                  <a:pt x="10" y="8882"/>
                  <a:pt x="6" y="8870"/>
                  <a:pt x="4" y="8858"/>
                </a:cubicBezTo>
                <a:cubicBezTo>
                  <a:pt x="1" y="8846"/>
                  <a:pt x="0" y="8834"/>
                  <a:pt x="0" y="8822"/>
                </a:cubicBezTo>
                <a:close/>
              </a:path>
            </a:pathLst>
          </a:custGeom>
          <a:solidFill>
            <a:srgbClr val="1e3a8a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534960" y="1064880"/>
            <a:ext cx="720936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所有者の追跡状態、物体の状態、経過時間を組み合わせた複合的な条件分岐による判断システム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3" name="" descr=""/>
          <p:cNvPicPr/>
          <p:nvPr/>
        </p:nvPicPr>
        <p:blipFill>
          <a:blip r:embed="rId2"/>
          <a:stretch/>
        </p:blipFill>
        <p:spPr>
          <a:xfrm>
            <a:off x="702000" y="2072520"/>
            <a:ext cx="13320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4" name=""/>
          <p:cNvSpPr txBox="1"/>
          <p:nvPr/>
        </p:nvSpPr>
        <p:spPr>
          <a:xfrm>
            <a:off x="702000" y="1668960"/>
            <a:ext cx="1409040" cy="29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580" strike="noStrike" u="none">
                <a:solidFill>
                  <a:srgbClr val="93c5fd"/>
                </a:solidFill>
                <a:effectLst/>
                <a:uFillTx/>
                <a:latin typeface="NotoSansJP"/>
                <a:ea typeface="NotoSansJP"/>
              </a:rPr>
              <a:t>システムの核心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936000" y="2083320"/>
            <a:ext cx="24145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複数の状態を組み合わせた</a:t>
            </a:r>
            <a:r>
              <a:rPr b="0" lang="zh-CN" sz="1180" strike="noStrike" u="none">
                <a:solidFill>
                  <a:srgbClr val="fcd34d"/>
                </a:solidFill>
                <a:effectLst/>
                <a:uFillTx/>
                <a:latin typeface="NotoSansJP"/>
                <a:ea typeface="NotoSansJP"/>
              </a:rPr>
              <a:t>高度な条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6" name="" descr=""/>
          <p:cNvPicPr/>
          <p:nvPr/>
        </p:nvPicPr>
        <p:blipFill>
          <a:blip r:embed="rId3"/>
          <a:stretch/>
        </p:blipFill>
        <p:spPr>
          <a:xfrm>
            <a:off x="702000" y="2707560"/>
            <a:ext cx="15012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7" name=""/>
          <p:cNvSpPr txBox="1"/>
          <p:nvPr/>
        </p:nvSpPr>
        <p:spPr>
          <a:xfrm>
            <a:off x="936000" y="2317320"/>
            <a:ext cx="12078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cd34d"/>
                </a:solidFill>
                <a:effectLst/>
                <a:uFillTx/>
                <a:latin typeface="NotoSansJP"/>
                <a:ea typeface="NotoSansJP"/>
              </a:rPr>
              <a:t>件分岐</a:t>
            </a:r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による判断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952560" y="2718360"/>
            <a:ext cx="24148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cd34d"/>
                </a:solidFill>
                <a:effectLst/>
                <a:uFillTx/>
                <a:latin typeface="NotoSansJP"/>
                <a:ea typeface="NotoSansJP"/>
              </a:rPr>
              <a:t>「放置」と「盗難」</a:t>
            </a:r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を明確に区別す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9" name="" descr=""/>
          <p:cNvPicPr/>
          <p:nvPr/>
        </p:nvPicPr>
        <p:blipFill>
          <a:blip r:embed="rId4"/>
          <a:stretch/>
        </p:blipFill>
        <p:spPr>
          <a:xfrm>
            <a:off x="702000" y="3342600"/>
            <a:ext cx="19188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0" name=""/>
          <p:cNvSpPr txBox="1"/>
          <p:nvPr/>
        </p:nvSpPr>
        <p:spPr>
          <a:xfrm>
            <a:off x="952560" y="2952360"/>
            <a:ext cx="4532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る能力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994320" y="3353400"/>
            <a:ext cx="24145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所有者の一時的な不在による</a:t>
            </a:r>
            <a:r>
              <a:rPr b="0" lang="zh-CN" sz="1180" strike="noStrike" u="none">
                <a:solidFill>
                  <a:srgbClr val="fcd34d"/>
                </a:solidFill>
                <a:effectLst/>
                <a:uFillTx/>
                <a:latin typeface="NotoSansJP"/>
                <a:ea typeface="NotoSansJP"/>
              </a:rPr>
              <a:t>誤報を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72" name="" descr=""/>
          <p:cNvPicPr/>
          <p:nvPr/>
        </p:nvPicPr>
        <p:blipFill>
          <a:blip r:embed="rId5"/>
          <a:stretch/>
        </p:blipFill>
        <p:spPr>
          <a:xfrm>
            <a:off x="702000" y="3977640"/>
            <a:ext cx="15012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"/>
          <p:cNvSpPr txBox="1"/>
          <p:nvPr/>
        </p:nvSpPr>
        <p:spPr>
          <a:xfrm>
            <a:off x="994320" y="3587400"/>
            <a:ext cx="3024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cd34d"/>
                </a:solidFill>
                <a:effectLst/>
                <a:uFillTx/>
                <a:latin typeface="NotoSansJP"/>
                <a:ea typeface="NotoSansJP"/>
              </a:rPr>
              <a:t>抑制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952560" y="3988440"/>
            <a:ext cx="24148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盗難の可能性を</a:t>
            </a:r>
            <a:r>
              <a:rPr b="0" lang="zh-CN" sz="1180" strike="noStrike" u="none">
                <a:solidFill>
                  <a:srgbClr val="fcd34d"/>
                </a:solidFill>
                <a:effectLst/>
                <a:uFillTx/>
                <a:latin typeface="NotoSansJP"/>
                <a:ea typeface="NotoSansJP"/>
              </a:rPr>
              <a:t>即時に警告</a:t>
            </a:r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するセキ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4102920" y="1470600"/>
            <a:ext cx="6059160" cy="3242880"/>
          </a:xfrm>
          <a:custGeom>
            <a:avLst/>
            <a:gdLst/>
            <a:ahLst/>
            <a:rect l="0" t="0" r="r" b="b"/>
            <a:pathLst>
              <a:path w="16831" h="9008">
                <a:moveTo>
                  <a:pt x="0" y="8822"/>
                </a:moveTo>
                <a:lnTo>
                  <a:pt x="0" y="186"/>
                </a:lnTo>
                <a:cubicBezTo>
                  <a:pt x="0" y="174"/>
                  <a:pt x="1" y="161"/>
                  <a:pt x="4" y="149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3"/>
                  <a:pt x="25" y="93"/>
                  <a:pt x="31" y="83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9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lnTo>
                  <a:pt x="16645" y="0"/>
                </a:lnTo>
                <a:cubicBezTo>
                  <a:pt x="16657" y="0"/>
                  <a:pt x="16669" y="1"/>
                  <a:pt x="16681" y="4"/>
                </a:cubicBezTo>
                <a:cubicBezTo>
                  <a:pt x="16693" y="6"/>
                  <a:pt x="16705" y="9"/>
                  <a:pt x="16716" y="14"/>
                </a:cubicBezTo>
                <a:cubicBezTo>
                  <a:pt x="16727" y="19"/>
                  <a:pt x="16738" y="25"/>
                  <a:pt x="16748" y="31"/>
                </a:cubicBezTo>
                <a:cubicBezTo>
                  <a:pt x="16758" y="38"/>
                  <a:pt x="16768" y="46"/>
                  <a:pt x="16776" y="54"/>
                </a:cubicBezTo>
                <a:cubicBezTo>
                  <a:pt x="16785" y="63"/>
                  <a:pt x="16792" y="72"/>
                  <a:pt x="16799" y="83"/>
                </a:cubicBezTo>
                <a:cubicBezTo>
                  <a:pt x="16806" y="93"/>
                  <a:pt x="16812" y="103"/>
                  <a:pt x="16816" y="115"/>
                </a:cubicBezTo>
                <a:cubicBezTo>
                  <a:pt x="16821" y="126"/>
                  <a:pt x="16825" y="138"/>
                  <a:pt x="16827" y="149"/>
                </a:cubicBezTo>
                <a:cubicBezTo>
                  <a:pt x="16829" y="161"/>
                  <a:pt x="16831" y="174"/>
                  <a:pt x="16831" y="186"/>
                </a:cubicBezTo>
                <a:lnTo>
                  <a:pt x="16831" y="8822"/>
                </a:lnTo>
                <a:cubicBezTo>
                  <a:pt x="16831" y="8834"/>
                  <a:pt x="16829" y="8846"/>
                  <a:pt x="16827" y="8858"/>
                </a:cubicBezTo>
                <a:cubicBezTo>
                  <a:pt x="16825" y="8870"/>
                  <a:pt x="16821" y="8882"/>
                  <a:pt x="16816" y="8893"/>
                </a:cubicBezTo>
                <a:cubicBezTo>
                  <a:pt x="16812" y="8904"/>
                  <a:pt x="16806" y="8915"/>
                  <a:pt x="16799" y="8925"/>
                </a:cubicBezTo>
                <a:cubicBezTo>
                  <a:pt x="16792" y="8935"/>
                  <a:pt x="16785" y="8945"/>
                  <a:pt x="16776" y="8953"/>
                </a:cubicBezTo>
                <a:cubicBezTo>
                  <a:pt x="16768" y="8962"/>
                  <a:pt x="16758" y="8970"/>
                  <a:pt x="16748" y="8976"/>
                </a:cubicBezTo>
                <a:cubicBezTo>
                  <a:pt x="16738" y="8983"/>
                  <a:pt x="16727" y="8989"/>
                  <a:pt x="16716" y="8994"/>
                </a:cubicBezTo>
                <a:cubicBezTo>
                  <a:pt x="16705" y="8998"/>
                  <a:pt x="16693" y="9002"/>
                  <a:pt x="16681" y="9004"/>
                </a:cubicBezTo>
                <a:cubicBezTo>
                  <a:pt x="16669" y="9006"/>
                  <a:pt x="16657" y="9008"/>
                  <a:pt x="16645" y="9008"/>
                </a:cubicBezTo>
                <a:lnTo>
                  <a:pt x="186" y="9008"/>
                </a:lnTo>
                <a:cubicBezTo>
                  <a:pt x="174" y="9008"/>
                  <a:pt x="162" y="9006"/>
                  <a:pt x="150" y="9004"/>
                </a:cubicBezTo>
                <a:cubicBezTo>
                  <a:pt x="138" y="9002"/>
                  <a:pt x="126" y="8998"/>
                  <a:pt x="115" y="8994"/>
                </a:cubicBezTo>
                <a:cubicBezTo>
                  <a:pt x="103" y="8989"/>
                  <a:pt x="93" y="8983"/>
                  <a:pt x="83" y="8976"/>
                </a:cubicBezTo>
                <a:cubicBezTo>
                  <a:pt x="73" y="8970"/>
                  <a:pt x="63" y="8962"/>
                  <a:pt x="55" y="8953"/>
                </a:cubicBezTo>
                <a:cubicBezTo>
                  <a:pt x="46" y="8945"/>
                  <a:pt x="38" y="8935"/>
                  <a:pt x="31" y="8925"/>
                </a:cubicBezTo>
                <a:cubicBezTo>
                  <a:pt x="25" y="8915"/>
                  <a:pt x="19" y="8904"/>
                  <a:pt x="14" y="8893"/>
                </a:cubicBezTo>
                <a:cubicBezTo>
                  <a:pt x="10" y="8882"/>
                  <a:pt x="6" y="8870"/>
                  <a:pt x="4" y="8858"/>
                </a:cubicBezTo>
                <a:cubicBezTo>
                  <a:pt x="1" y="8846"/>
                  <a:pt x="0" y="8834"/>
                  <a:pt x="0" y="8822"/>
                </a:cubicBezTo>
                <a:close/>
              </a:path>
            </a:pathLst>
          </a:custGeom>
          <a:solidFill>
            <a:srgbClr val="1e3a8a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4269960" y="2038680"/>
            <a:ext cx="1905840" cy="418320"/>
          </a:xfrm>
          <a:custGeom>
            <a:avLst/>
            <a:gdLst/>
            <a:ahLst/>
            <a:rect l="0" t="0" r="r" b="b"/>
            <a:pathLst>
              <a:path w="5294" h="1162">
                <a:moveTo>
                  <a:pt x="0" y="0"/>
                </a:moveTo>
                <a:lnTo>
                  <a:pt x="5294" y="0"/>
                </a:lnTo>
                <a:lnTo>
                  <a:pt x="5294" y="1162"/>
                </a:lnTo>
                <a:lnTo>
                  <a:pt x="0" y="1162"/>
                </a:lnTo>
                <a:lnTo>
                  <a:pt x="0" y="0"/>
                </a:lnTo>
                <a:close/>
              </a:path>
            </a:pathLst>
          </a:custGeom>
          <a:solidFill>
            <a:srgbClr val="4a90e2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4274280" y="2043000"/>
            <a:ext cx="1897200" cy="410040"/>
          </a:xfrm>
          <a:custGeom>
            <a:avLst/>
            <a:gdLst/>
            <a:ahLst/>
            <a:rect l="0" t="0" r="r" b="b"/>
            <a:pathLst>
              <a:path fill="none" w="5270" h="1139">
                <a:moveTo>
                  <a:pt x="0" y="0"/>
                </a:moveTo>
                <a:lnTo>
                  <a:pt x="5270" y="0"/>
                </a:lnTo>
                <a:lnTo>
                  <a:pt x="5270" y="1139"/>
                </a:lnTo>
                <a:lnTo>
                  <a:pt x="0" y="1139"/>
                </a:lnTo>
                <a:lnTo>
                  <a:pt x="0" y="0"/>
                </a:lnTo>
              </a:path>
            </a:pathLst>
          </a:custGeom>
          <a:ln w="8280">
            <a:solidFill>
              <a:srgbClr val="4a90e2">
                <a:alpha val="30000"/>
              </a:srgbClr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6175440" y="2038680"/>
            <a:ext cx="1914120" cy="418320"/>
          </a:xfrm>
          <a:custGeom>
            <a:avLst/>
            <a:gdLst/>
            <a:ahLst/>
            <a:rect l="0" t="0" r="r" b="b"/>
            <a:pathLst>
              <a:path w="5317" h="1162">
                <a:moveTo>
                  <a:pt x="0" y="0"/>
                </a:moveTo>
                <a:lnTo>
                  <a:pt x="5317" y="0"/>
                </a:lnTo>
                <a:lnTo>
                  <a:pt x="5317" y="1162"/>
                </a:lnTo>
                <a:lnTo>
                  <a:pt x="0" y="1162"/>
                </a:lnTo>
                <a:lnTo>
                  <a:pt x="0" y="0"/>
                </a:lnTo>
                <a:close/>
              </a:path>
            </a:pathLst>
          </a:custGeom>
          <a:solidFill>
            <a:srgbClr val="4a90e2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6179760" y="2043000"/>
            <a:ext cx="1905480" cy="410040"/>
          </a:xfrm>
          <a:custGeom>
            <a:avLst/>
            <a:gdLst/>
            <a:ahLst/>
            <a:rect l="0" t="0" r="r" b="b"/>
            <a:pathLst>
              <a:path fill="none" w="5293" h="1139">
                <a:moveTo>
                  <a:pt x="0" y="0"/>
                </a:moveTo>
                <a:lnTo>
                  <a:pt x="5293" y="0"/>
                </a:lnTo>
                <a:lnTo>
                  <a:pt x="5293" y="1139"/>
                </a:lnTo>
                <a:lnTo>
                  <a:pt x="0" y="1139"/>
                </a:lnTo>
                <a:lnTo>
                  <a:pt x="0" y="0"/>
                </a:lnTo>
              </a:path>
            </a:pathLst>
          </a:custGeom>
          <a:ln w="8280">
            <a:solidFill>
              <a:srgbClr val="4a90e2">
                <a:alpha val="30000"/>
              </a:srgbClr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8089200" y="2038680"/>
            <a:ext cx="1905480" cy="418320"/>
          </a:xfrm>
          <a:custGeom>
            <a:avLst/>
            <a:gdLst/>
            <a:ahLst/>
            <a:rect l="0" t="0" r="r" b="b"/>
            <a:pathLst>
              <a:path w="5293" h="1162">
                <a:moveTo>
                  <a:pt x="0" y="0"/>
                </a:moveTo>
                <a:lnTo>
                  <a:pt x="5293" y="0"/>
                </a:lnTo>
                <a:lnTo>
                  <a:pt x="5293" y="1162"/>
                </a:lnTo>
                <a:lnTo>
                  <a:pt x="0" y="1162"/>
                </a:lnTo>
                <a:lnTo>
                  <a:pt x="0" y="0"/>
                </a:lnTo>
                <a:close/>
              </a:path>
            </a:pathLst>
          </a:custGeom>
          <a:solidFill>
            <a:srgbClr val="4a90e2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8093160" y="2043000"/>
            <a:ext cx="1897560" cy="410040"/>
          </a:xfrm>
          <a:custGeom>
            <a:avLst/>
            <a:gdLst/>
            <a:ahLst/>
            <a:rect l="0" t="0" r="r" b="b"/>
            <a:pathLst>
              <a:path fill="none" w="5271" h="1139">
                <a:moveTo>
                  <a:pt x="0" y="0"/>
                </a:moveTo>
                <a:lnTo>
                  <a:pt x="5271" y="0"/>
                </a:lnTo>
                <a:lnTo>
                  <a:pt x="5271" y="1139"/>
                </a:lnTo>
                <a:lnTo>
                  <a:pt x="0" y="1139"/>
                </a:lnTo>
                <a:lnTo>
                  <a:pt x="0" y="0"/>
                </a:lnTo>
              </a:path>
            </a:pathLst>
          </a:custGeom>
          <a:ln w="8280">
            <a:solidFill>
              <a:srgbClr val="4a90e2">
                <a:alpha val="30000"/>
              </a:srgbClr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4269960" y="2456640"/>
            <a:ext cx="1905840" cy="418320"/>
          </a:xfrm>
          <a:custGeom>
            <a:avLst/>
            <a:gdLst/>
            <a:ahLst/>
            <a:rect l="0" t="0" r="r" b="b"/>
            <a:pathLst>
              <a:path w="5294" h="1162">
                <a:moveTo>
                  <a:pt x="0" y="0"/>
                </a:moveTo>
                <a:lnTo>
                  <a:pt x="5294" y="0"/>
                </a:lnTo>
                <a:lnTo>
                  <a:pt x="5294" y="1162"/>
                </a:lnTo>
                <a:lnTo>
                  <a:pt x="0" y="1162"/>
                </a:lnTo>
                <a:lnTo>
                  <a:pt x="0" y="0"/>
                </a:lnTo>
                <a:close/>
              </a:path>
            </a:pathLst>
          </a:custGeom>
          <a:solidFill>
            <a:srgbClr val="1a2a57">
              <a:alpha val="7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4274280" y="2460960"/>
            <a:ext cx="1897200" cy="409680"/>
          </a:xfrm>
          <a:custGeom>
            <a:avLst/>
            <a:gdLst/>
            <a:ahLst/>
            <a:rect l="0" t="0" r="r" b="b"/>
            <a:pathLst>
              <a:path fill="none" w="5270" h="1138">
                <a:moveTo>
                  <a:pt x="0" y="0"/>
                </a:moveTo>
                <a:lnTo>
                  <a:pt x="5270" y="0"/>
                </a:lnTo>
                <a:lnTo>
                  <a:pt x="5270" y="1138"/>
                </a:lnTo>
                <a:lnTo>
                  <a:pt x="0" y="1138"/>
                </a:lnTo>
                <a:lnTo>
                  <a:pt x="0" y="0"/>
                </a:lnTo>
              </a:path>
            </a:pathLst>
          </a:custGeom>
          <a:ln w="8280">
            <a:solidFill>
              <a:srgbClr val="4a90e2">
                <a:alpha val="30000"/>
              </a:srgbClr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6175440" y="2456640"/>
            <a:ext cx="1914120" cy="418320"/>
          </a:xfrm>
          <a:custGeom>
            <a:avLst/>
            <a:gdLst/>
            <a:ahLst/>
            <a:rect l="0" t="0" r="r" b="b"/>
            <a:pathLst>
              <a:path w="5317" h="1162">
                <a:moveTo>
                  <a:pt x="0" y="0"/>
                </a:moveTo>
                <a:lnTo>
                  <a:pt x="5317" y="0"/>
                </a:lnTo>
                <a:lnTo>
                  <a:pt x="5317" y="1162"/>
                </a:lnTo>
                <a:lnTo>
                  <a:pt x="0" y="1162"/>
                </a:lnTo>
                <a:lnTo>
                  <a:pt x="0" y="0"/>
                </a:lnTo>
                <a:close/>
              </a:path>
            </a:pathLst>
          </a:custGeom>
          <a:solidFill>
            <a:srgbClr val="1a2a57">
              <a:alpha val="7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6179760" y="2460960"/>
            <a:ext cx="1905480" cy="409680"/>
          </a:xfrm>
          <a:custGeom>
            <a:avLst/>
            <a:gdLst/>
            <a:ahLst/>
            <a:rect l="0" t="0" r="r" b="b"/>
            <a:pathLst>
              <a:path fill="none" w="5293" h="1138">
                <a:moveTo>
                  <a:pt x="0" y="0"/>
                </a:moveTo>
                <a:lnTo>
                  <a:pt x="5293" y="0"/>
                </a:lnTo>
                <a:lnTo>
                  <a:pt x="5293" y="1138"/>
                </a:lnTo>
                <a:lnTo>
                  <a:pt x="0" y="1138"/>
                </a:lnTo>
                <a:lnTo>
                  <a:pt x="0" y="0"/>
                </a:lnTo>
              </a:path>
            </a:pathLst>
          </a:custGeom>
          <a:ln w="8280">
            <a:solidFill>
              <a:srgbClr val="4a90e2">
                <a:alpha val="30000"/>
              </a:srgbClr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8089200" y="2456640"/>
            <a:ext cx="1905480" cy="418320"/>
          </a:xfrm>
          <a:custGeom>
            <a:avLst/>
            <a:gdLst/>
            <a:ahLst/>
            <a:rect l="0" t="0" r="r" b="b"/>
            <a:pathLst>
              <a:path w="5293" h="1162">
                <a:moveTo>
                  <a:pt x="0" y="0"/>
                </a:moveTo>
                <a:lnTo>
                  <a:pt x="5293" y="0"/>
                </a:lnTo>
                <a:lnTo>
                  <a:pt x="5293" y="1162"/>
                </a:lnTo>
                <a:lnTo>
                  <a:pt x="0" y="1162"/>
                </a:lnTo>
                <a:lnTo>
                  <a:pt x="0" y="0"/>
                </a:lnTo>
                <a:close/>
              </a:path>
            </a:pathLst>
          </a:custGeom>
          <a:solidFill>
            <a:srgbClr val="1a2a57">
              <a:alpha val="7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8093160" y="2460960"/>
            <a:ext cx="1897560" cy="409680"/>
          </a:xfrm>
          <a:custGeom>
            <a:avLst/>
            <a:gdLst/>
            <a:ahLst/>
            <a:rect l="0" t="0" r="r" b="b"/>
            <a:pathLst>
              <a:path fill="none" w="5271" h="1138">
                <a:moveTo>
                  <a:pt x="0" y="0"/>
                </a:moveTo>
                <a:lnTo>
                  <a:pt x="5271" y="0"/>
                </a:lnTo>
                <a:lnTo>
                  <a:pt x="5271" y="1138"/>
                </a:lnTo>
                <a:lnTo>
                  <a:pt x="0" y="1138"/>
                </a:lnTo>
                <a:lnTo>
                  <a:pt x="0" y="0"/>
                </a:lnTo>
              </a:path>
            </a:pathLst>
          </a:custGeom>
          <a:ln w="8280">
            <a:solidFill>
              <a:srgbClr val="4a90e2">
                <a:alpha val="30000"/>
              </a:srgbClr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4269960" y="2874600"/>
            <a:ext cx="1905840" cy="417960"/>
          </a:xfrm>
          <a:custGeom>
            <a:avLst/>
            <a:gdLst/>
            <a:ahLst/>
            <a:rect l="0" t="0" r="r" b="b"/>
            <a:pathLst>
              <a:path w="5294" h="1161">
                <a:moveTo>
                  <a:pt x="0" y="0"/>
                </a:moveTo>
                <a:lnTo>
                  <a:pt x="5294" y="0"/>
                </a:lnTo>
                <a:lnTo>
                  <a:pt x="5294" y="1161"/>
                </a:lnTo>
                <a:lnTo>
                  <a:pt x="0" y="1161"/>
                </a:lnTo>
                <a:lnTo>
                  <a:pt x="0" y="0"/>
                </a:lnTo>
                <a:close/>
              </a:path>
            </a:pathLst>
          </a:custGeom>
          <a:solidFill>
            <a:srgbClr val="1a2a57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4274280" y="2878560"/>
            <a:ext cx="1897200" cy="410040"/>
          </a:xfrm>
          <a:custGeom>
            <a:avLst/>
            <a:gdLst/>
            <a:ahLst/>
            <a:rect l="0" t="0" r="r" b="b"/>
            <a:pathLst>
              <a:path fill="none" w="5270" h="1139">
                <a:moveTo>
                  <a:pt x="0" y="0"/>
                </a:moveTo>
                <a:lnTo>
                  <a:pt x="5270" y="0"/>
                </a:lnTo>
                <a:lnTo>
                  <a:pt x="5270" y="1139"/>
                </a:lnTo>
                <a:lnTo>
                  <a:pt x="0" y="1139"/>
                </a:lnTo>
                <a:lnTo>
                  <a:pt x="0" y="0"/>
                </a:lnTo>
              </a:path>
            </a:pathLst>
          </a:custGeom>
          <a:ln w="8280">
            <a:solidFill>
              <a:srgbClr val="4a90e2">
                <a:alpha val="30000"/>
              </a:srgbClr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6175440" y="2874600"/>
            <a:ext cx="1914120" cy="417960"/>
          </a:xfrm>
          <a:custGeom>
            <a:avLst/>
            <a:gdLst/>
            <a:ahLst/>
            <a:rect l="0" t="0" r="r" b="b"/>
            <a:pathLst>
              <a:path w="5317" h="1161">
                <a:moveTo>
                  <a:pt x="0" y="0"/>
                </a:moveTo>
                <a:lnTo>
                  <a:pt x="5317" y="0"/>
                </a:lnTo>
                <a:lnTo>
                  <a:pt x="5317" y="1161"/>
                </a:lnTo>
                <a:lnTo>
                  <a:pt x="0" y="1161"/>
                </a:lnTo>
                <a:lnTo>
                  <a:pt x="0" y="0"/>
                </a:lnTo>
                <a:close/>
              </a:path>
            </a:pathLst>
          </a:custGeom>
          <a:solidFill>
            <a:srgbClr val="1a2a57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6179760" y="2878560"/>
            <a:ext cx="1905480" cy="410040"/>
          </a:xfrm>
          <a:custGeom>
            <a:avLst/>
            <a:gdLst/>
            <a:ahLst/>
            <a:rect l="0" t="0" r="r" b="b"/>
            <a:pathLst>
              <a:path fill="none" w="5293" h="1139">
                <a:moveTo>
                  <a:pt x="0" y="0"/>
                </a:moveTo>
                <a:lnTo>
                  <a:pt x="5293" y="0"/>
                </a:lnTo>
                <a:lnTo>
                  <a:pt x="5293" y="1139"/>
                </a:lnTo>
                <a:lnTo>
                  <a:pt x="0" y="1139"/>
                </a:lnTo>
                <a:lnTo>
                  <a:pt x="0" y="0"/>
                </a:lnTo>
              </a:path>
            </a:pathLst>
          </a:custGeom>
          <a:ln w="8280">
            <a:solidFill>
              <a:srgbClr val="4a90e2">
                <a:alpha val="30000"/>
              </a:srgbClr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8089200" y="2874600"/>
            <a:ext cx="1905480" cy="417960"/>
          </a:xfrm>
          <a:custGeom>
            <a:avLst/>
            <a:gdLst/>
            <a:ahLst/>
            <a:rect l="0" t="0" r="r" b="b"/>
            <a:pathLst>
              <a:path w="5293" h="1161">
                <a:moveTo>
                  <a:pt x="0" y="0"/>
                </a:moveTo>
                <a:lnTo>
                  <a:pt x="5293" y="0"/>
                </a:lnTo>
                <a:lnTo>
                  <a:pt x="5293" y="1161"/>
                </a:lnTo>
                <a:lnTo>
                  <a:pt x="0" y="1161"/>
                </a:lnTo>
                <a:lnTo>
                  <a:pt x="0" y="0"/>
                </a:lnTo>
                <a:close/>
              </a:path>
            </a:pathLst>
          </a:custGeom>
          <a:solidFill>
            <a:srgbClr val="1a2a57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8093160" y="2878560"/>
            <a:ext cx="1897560" cy="410040"/>
          </a:xfrm>
          <a:custGeom>
            <a:avLst/>
            <a:gdLst/>
            <a:ahLst/>
            <a:rect l="0" t="0" r="r" b="b"/>
            <a:pathLst>
              <a:path fill="none" w="5271" h="1139">
                <a:moveTo>
                  <a:pt x="0" y="0"/>
                </a:moveTo>
                <a:lnTo>
                  <a:pt x="5271" y="0"/>
                </a:lnTo>
                <a:lnTo>
                  <a:pt x="5271" y="1139"/>
                </a:lnTo>
                <a:lnTo>
                  <a:pt x="0" y="1139"/>
                </a:lnTo>
                <a:lnTo>
                  <a:pt x="0" y="0"/>
                </a:lnTo>
              </a:path>
            </a:pathLst>
          </a:custGeom>
          <a:ln w="8280">
            <a:solidFill>
              <a:srgbClr val="4a90e2">
                <a:alpha val="30000"/>
              </a:srgbClr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4269960" y="3292200"/>
            <a:ext cx="1905840" cy="418320"/>
          </a:xfrm>
          <a:custGeom>
            <a:avLst/>
            <a:gdLst/>
            <a:ahLst/>
            <a:rect l="0" t="0" r="r" b="b"/>
            <a:pathLst>
              <a:path w="5294" h="1162">
                <a:moveTo>
                  <a:pt x="0" y="0"/>
                </a:moveTo>
                <a:lnTo>
                  <a:pt x="5294" y="0"/>
                </a:lnTo>
                <a:lnTo>
                  <a:pt x="5294" y="1162"/>
                </a:lnTo>
                <a:lnTo>
                  <a:pt x="0" y="1162"/>
                </a:lnTo>
                <a:lnTo>
                  <a:pt x="0" y="0"/>
                </a:lnTo>
                <a:close/>
              </a:path>
            </a:pathLst>
          </a:custGeom>
          <a:solidFill>
            <a:srgbClr val="1a2a57">
              <a:alpha val="7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4274280" y="3296520"/>
            <a:ext cx="1897200" cy="409680"/>
          </a:xfrm>
          <a:custGeom>
            <a:avLst/>
            <a:gdLst/>
            <a:ahLst/>
            <a:rect l="0" t="0" r="r" b="b"/>
            <a:pathLst>
              <a:path fill="none" w="5270" h="1138">
                <a:moveTo>
                  <a:pt x="0" y="0"/>
                </a:moveTo>
                <a:lnTo>
                  <a:pt x="5270" y="0"/>
                </a:lnTo>
                <a:lnTo>
                  <a:pt x="5270" y="1138"/>
                </a:lnTo>
                <a:lnTo>
                  <a:pt x="0" y="1138"/>
                </a:lnTo>
                <a:lnTo>
                  <a:pt x="0" y="0"/>
                </a:lnTo>
              </a:path>
            </a:pathLst>
          </a:custGeom>
          <a:ln w="8280">
            <a:solidFill>
              <a:srgbClr val="4a90e2">
                <a:alpha val="30000"/>
              </a:srgbClr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6175440" y="3292200"/>
            <a:ext cx="1914120" cy="418320"/>
          </a:xfrm>
          <a:custGeom>
            <a:avLst/>
            <a:gdLst/>
            <a:ahLst/>
            <a:rect l="0" t="0" r="r" b="b"/>
            <a:pathLst>
              <a:path w="5317" h="1162">
                <a:moveTo>
                  <a:pt x="0" y="0"/>
                </a:moveTo>
                <a:lnTo>
                  <a:pt x="5317" y="0"/>
                </a:lnTo>
                <a:lnTo>
                  <a:pt x="5317" y="1162"/>
                </a:lnTo>
                <a:lnTo>
                  <a:pt x="0" y="1162"/>
                </a:lnTo>
                <a:lnTo>
                  <a:pt x="0" y="0"/>
                </a:lnTo>
                <a:close/>
              </a:path>
            </a:pathLst>
          </a:custGeom>
          <a:solidFill>
            <a:srgbClr val="1a2a57">
              <a:alpha val="7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6179760" y="3296520"/>
            <a:ext cx="1905480" cy="409680"/>
          </a:xfrm>
          <a:custGeom>
            <a:avLst/>
            <a:gdLst/>
            <a:ahLst/>
            <a:rect l="0" t="0" r="r" b="b"/>
            <a:pathLst>
              <a:path fill="none" w="5293" h="1138">
                <a:moveTo>
                  <a:pt x="0" y="0"/>
                </a:moveTo>
                <a:lnTo>
                  <a:pt x="5293" y="0"/>
                </a:lnTo>
                <a:lnTo>
                  <a:pt x="5293" y="1138"/>
                </a:lnTo>
                <a:lnTo>
                  <a:pt x="0" y="1138"/>
                </a:lnTo>
                <a:lnTo>
                  <a:pt x="0" y="0"/>
                </a:lnTo>
              </a:path>
            </a:pathLst>
          </a:custGeom>
          <a:ln w="8280">
            <a:solidFill>
              <a:srgbClr val="4a90e2">
                <a:alpha val="30000"/>
              </a:srgbClr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8089200" y="3292200"/>
            <a:ext cx="1905480" cy="418320"/>
          </a:xfrm>
          <a:custGeom>
            <a:avLst/>
            <a:gdLst/>
            <a:ahLst/>
            <a:rect l="0" t="0" r="r" b="b"/>
            <a:pathLst>
              <a:path w="5293" h="1162">
                <a:moveTo>
                  <a:pt x="0" y="0"/>
                </a:moveTo>
                <a:lnTo>
                  <a:pt x="5293" y="0"/>
                </a:lnTo>
                <a:lnTo>
                  <a:pt x="5293" y="1162"/>
                </a:lnTo>
                <a:lnTo>
                  <a:pt x="0" y="1162"/>
                </a:lnTo>
                <a:lnTo>
                  <a:pt x="0" y="0"/>
                </a:lnTo>
                <a:close/>
              </a:path>
            </a:pathLst>
          </a:custGeom>
          <a:solidFill>
            <a:srgbClr val="1a2a57">
              <a:alpha val="7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8093160" y="3296520"/>
            <a:ext cx="1897560" cy="409680"/>
          </a:xfrm>
          <a:custGeom>
            <a:avLst/>
            <a:gdLst/>
            <a:ahLst/>
            <a:rect l="0" t="0" r="r" b="b"/>
            <a:pathLst>
              <a:path fill="none" w="5271" h="1138">
                <a:moveTo>
                  <a:pt x="0" y="0"/>
                </a:moveTo>
                <a:lnTo>
                  <a:pt x="5271" y="0"/>
                </a:lnTo>
                <a:lnTo>
                  <a:pt x="5271" y="1138"/>
                </a:lnTo>
                <a:lnTo>
                  <a:pt x="0" y="1138"/>
                </a:lnTo>
                <a:lnTo>
                  <a:pt x="0" y="0"/>
                </a:lnTo>
              </a:path>
            </a:pathLst>
          </a:custGeom>
          <a:ln w="8280">
            <a:solidFill>
              <a:srgbClr val="4a90e2">
                <a:alpha val="30000"/>
              </a:srgbClr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4269960" y="3710160"/>
            <a:ext cx="1905840" cy="418320"/>
          </a:xfrm>
          <a:custGeom>
            <a:avLst/>
            <a:gdLst/>
            <a:ahLst/>
            <a:rect l="0" t="0" r="r" b="b"/>
            <a:pathLst>
              <a:path w="5294" h="1162">
                <a:moveTo>
                  <a:pt x="0" y="0"/>
                </a:moveTo>
                <a:lnTo>
                  <a:pt x="5294" y="0"/>
                </a:lnTo>
                <a:lnTo>
                  <a:pt x="5294" y="1162"/>
                </a:lnTo>
                <a:lnTo>
                  <a:pt x="0" y="1162"/>
                </a:lnTo>
                <a:lnTo>
                  <a:pt x="0" y="0"/>
                </a:lnTo>
                <a:close/>
              </a:path>
            </a:pathLst>
          </a:custGeom>
          <a:solidFill>
            <a:srgbClr val="1a2a57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4274280" y="3714480"/>
            <a:ext cx="1897200" cy="409680"/>
          </a:xfrm>
          <a:custGeom>
            <a:avLst/>
            <a:gdLst/>
            <a:ahLst/>
            <a:rect l="0" t="0" r="r" b="b"/>
            <a:pathLst>
              <a:path fill="none" w="5270" h="1138">
                <a:moveTo>
                  <a:pt x="0" y="0"/>
                </a:moveTo>
                <a:lnTo>
                  <a:pt x="5270" y="0"/>
                </a:lnTo>
                <a:lnTo>
                  <a:pt x="5270" y="1138"/>
                </a:lnTo>
                <a:lnTo>
                  <a:pt x="0" y="1138"/>
                </a:lnTo>
                <a:lnTo>
                  <a:pt x="0" y="0"/>
                </a:lnTo>
              </a:path>
            </a:pathLst>
          </a:custGeom>
          <a:ln w="8280">
            <a:solidFill>
              <a:srgbClr val="4a90e2">
                <a:alpha val="30000"/>
              </a:srgbClr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6175440" y="3710160"/>
            <a:ext cx="1914120" cy="418320"/>
          </a:xfrm>
          <a:custGeom>
            <a:avLst/>
            <a:gdLst/>
            <a:ahLst/>
            <a:rect l="0" t="0" r="r" b="b"/>
            <a:pathLst>
              <a:path w="5317" h="1162">
                <a:moveTo>
                  <a:pt x="0" y="0"/>
                </a:moveTo>
                <a:lnTo>
                  <a:pt x="5317" y="0"/>
                </a:lnTo>
                <a:lnTo>
                  <a:pt x="5317" y="1162"/>
                </a:lnTo>
                <a:lnTo>
                  <a:pt x="0" y="1162"/>
                </a:lnTo>
                <a:lnTo>
                  <a:pt x="0" y="0"/>
                </a:lnTo>
                <a:close/>
              </a:path>
            </a:pathLst>
          </a:custGeom>
          <a:solidFill>
            <a:srgbClr val="1a2a57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6179760" y="3714480"/>
            <a:ext cx="1905480" cy="409680"/>
          </a:xfrm>
          <a:custGeom>
            <a:avLst/>
            <a:gdLst/>
            <a:ahLst/>
            <a:rect l="0" t="0" r="r" b="b"/>
            <a:pathLst>
              <a:path fill="none" w="5293" h="1138">
                <a:moveTo>
                  <a:pt x="0" y="0"/>
                </a:moveTo>
                <a:lnTo>
                  <a:pt x="5293" y="0"/>
                </a:lnTo>
                <a:lnTo>
                  <a:pt x="5293" y="1138"/>
                </a:lnTo>
                <a:lnTo>
                  <a:pt x="0" y="1138"/>
                </a:lnTo>
                <a:lnTo>
                  <a:pt x="0" y="0"/>
                </a:lnTo>
              </a:path>
            </a:pathLst>
          </a:custGeom>
          <a:ln w="8280">
            <a:solidFill>
              <a:srgbClr val="4a90e2">
                <a:alpha val="30000"/>
              </a:srgbClr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8089200" y="3710160"/>
            <a:ext cx="1905480" cy="418320"/>
          </a:xfrm>
          <a:custGeom>
            <a:avLst/>
            <a:gdLst/>
            <a:ahLst/>
            <a:rect l="0" t="0" r="r" b="b"/>
            <a:pathLst>
              <a:path w="5293" h="1162">
                <a:moveTo>
                  <a:pt x="0" y="0"/>
                </a:moveTo>
                <a:lnTo>
                  <a:pt x="5293" y="0"/>
                </a:lnTo>
                <a:lnTo>
                  <a:pt x="5293" y="1162"/>
                </a:lnTo>
                <a:lnTo>
                  <a:pt x="0" y="1162"/>
                </a:lnTo>
                <a:lnTo>
                  <a:pt x="0" y="0"/>
                </a:lnTo>
                <a:close/>
              </a:path>
            </a:pathLst>
          </a:custGeom>
          <a:solidFill>
            <a:srgbClr val="1a2a57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8093160" y="3714480"/>
            <a:ext cx="1897560" cy="409680"/>
          </a:xfrm>
          <a:custGeom>
            <a:avLst/>
            <a:gdLst/>
            <a:ahLst/>
            <a:rect l="0" t="0" r="r" b="b"/>
            <a:pathLst>
              <a:path fill="none" w="5271" h="1138">
                <a:moveTo>
                  <a:pt x="0" y="0"/>
                </a:moveTo>
                <a:lnTo>
                  <a:pt x="5271" y="0"/>
                </a:lnTo>
                <a:lnTo>
                  <a:pt x="5271" y="1138"/>
                </a:lnTo>
                <a:lnTo>
                  <a:pt x="0" y="1138"/>
                </a:lnTo>
                <a:lnTo>
                  <a:pt x="0" y="0"/>
                </a:lnTo>
              </a:path>
            </a:pathLst>
          </a:custGeom>
          <a:ln w="8280">
            <a:solidFill>
              <a:srgbClr val="4a90e2">
                <a:alpha val="30000"/>
              </a:srgbClr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4269960" y="4128120"/>
            <a:ext cx="1905840" cy="417960"/>
          </a:xfrm>
          <a:custGeom>
            <a:avLst/>
            <a:gdLst/>
            <a:ahLst/>
            <a:rect l="0" t="0" r="r" b="b"/>
            <a:pathLst>
              <a:path w="5294" h="1161">
                <a:moveTo>
                  <a:pt x="0" y="0"/>
                </a:moveTo>
                <a:lnTo>
                  <a:pt x="5294" y="0"/>
                </a:lnTo>
                <a:lnTo>
                  <a:pt x="5294" y="1161"/>
                </a:lnTo>
                <a:lnTo>
                  <a:pt x="0" y="1161"/>
                </a:lnTo>
                <a:lnTo>
                  <a:pt x="0" y="0"/>
                </a:lnTo>
                <a:close/>
              </a:path>
            </a:pathLst>
          </a:custGeom>
          <a:solidFill>
            <a:srgbClr val="1a2a57">
              <a:alpha val="7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4274280" y="4132080"/>
            <a:ext cx="1897200" cy="410040"/>
          </a:xfrm>
          <a:custGeom>
            <a:avLst/>
            <a:gdLst/>
            <a:ahLst/>
            <a:rect l="0" t="0" r="r" b="b"/>
            <a:pathLst>
              <a:path fill="none" w="5270" h="1139">
                <a:moveTo>
                  <a:pt x="0" y="0"/>
                </a:moveTo>
                <a:lnTo>
                  <a:pt x="5270" y="0"/>
                </a:lnTo>
                <a:lnTo>
                  <a:pt x="5270" y="1139"/>
                </a:lnTo>
                <a:lnTo>
                  <a:pt x="0" y="1139"/>
                </a:lnTo>
                <a:lnTo>
                  <a:pt x="0" y="0"/>
                </a:lnTo>
              </a:path>
            </a:pathLst>
          </a:custGeom>
          <a:ln w="8280">
            <a:solidFill>
              <a:srgbClr val="4a90e2">
                <a:alpha val="30000"/>
              </a:srgbClr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6175440" y="4128120"/>
            <a:ext cx="1914120" cy="417960"/>
          </a:xfrm>
          <a:custGeom>
            <a:avLst/>
            <a:gdLst/>
            <a:ahLst/>
            <a:rect l="0" t="0" r="r" b="b"/>
            <a:pathLst>
              <a:path w="5317" h="1161">
                <a:moveTo>
                  <a:pt x="0" y="0"/>
                </a:moveTo>
                <a:lnTo>
                  <a:pt x="5317" y="0"/>
                </a:lnTo>
                <a:lnTo>
                  <a:pt x="5317" y="1161"/>
                </a:lnTo>
                <a:lnTo>
                  <a:pt x="0" y="1161"/>
                </a:lnTo>
                <a:lnTo>
                  <a:pt x="0" y="0"/>
                </a:lnTo>
                <a:close/>
              </a:path>
            </a:pathLst>
          </a:custGeom>
          <a:solidFill>
            <a:srgbClr val="1a2a57">
              <a:alpha val="7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6179760" y="4132080"/>
            <a:ext cx="1905480" cy="410040"/>
          </a:xfrm>
          <a:custGeom>
            <a:avLst/>
            <a:gdLst/>
            <a:ahLst/>
            <a:rect l="0" t="0" r="r" b="b"/>
            <a:pathLst>
              <a:path fill="none" w="5293" h="1139">
                <a:moveTo>
                  <a:pt x="0" y="0"/>
                </a:moveTo>
                <a:lnTo>
                  <a:pt x="5293" y="0"/>
                </a:lnTo>
                <a:lnTo>
                  <a:pt x="5293" y="1139"/>
                </a:lnTo>
                <a:lnTo>
                  <a:pt x="0" y="1139"/>
                </a:lnTo>
                <a:lnTo>
                  <a:pt x="0" y="0"/>
                </a:lnTo>
              </a:path>
            </a:pathLst>
          </a:custGeom>
          <a:ln w="8280">
            <a:solidFill>
              <a:srgbClr val="4a90e2">
                <a:alpha val="30000"/>
              </a:srgbClr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8089200" y="4128120"/>
            <a:ext cx="1905480" cy="417960"/>
          </a:xfrm>
          <a:custGeom>
            <a:avLst/>
            <a:gdLst/>
            <a:ahLst/>
            <a:rect l="0" t="0" r="r" b="b"/>
            <a:pathLst>
              <a:path w="5293" h="1161">
                <a:moveTo>
                  <a:pt x="0" y="0"/>
                </a:moveTo>
                <a:lnTo>
                  <a:pt x="5293" y="0"/>
                </a:lnTo>
                <a:lnTo>
                  <a:pt x="5293" y="1161"/>
                </a:lnTo>
                <a:lnTo>
                  <a:pt x="0" y="1161"/>
                </a:lnTo>
                <a:lnTo>
                  <a:pt x="0" y="0"/>
                </a:lnTo>
                <a:close/>
              </a:path>
            </a:pathLst>
          </a:custGeom>
          <a:solidFill>
            <a:srgbClr val="1a2a57">
              <a:alpha val="7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8093160" y="4132080"/>
            <a:ext cx="1897560" cy="410040"/>
          </a:xfrm>
          <a:custGeom>
            <a:avLst/>
            <a:gdLst/>
            <a:ahLst/>
            <a:rect l="0" t="0" r="r" b="b"/>
            <a:pathLst>
              <a:path fill="none" w="5271" h="1139">
                <a:moveTo>
                  <a:pt x="0" y="0"/>
                </a:moveTo>
                <a:lnTo>
                  <a:pt x="5271" y="0"/>
                </a:lnTo>
                <a:lnTo>
                  <a:pt x="5271" y="1139"/>
                </a:lnTo>
                <a:lnTo>
                  <a:pt x="0" y="1139"/>
                </a:lnTo>
                <a:lnTo>
                  <a:pt x="0" y="0"/>
                </a:lnTo>
              </a:path>
            </a:pathLst>
          </a:custGeom>
          <a:ln w="8280">
            <a:solidFill>
              <a:srgbClr val="4a90e2">
                <a:alpha val="30000"/>
              </a:srgbClr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952560" y="4222440"/>
            <a:ext cx="9061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ュリティ強化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6328800" y="1668960"/>
            <a:ext cx="1609920" cy="29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580" strike="noStrike" u="none">
                <a:solidFill>
                  <a:srgbClr val="93c5fd"/>
                </a:solidFill>
                <a:effectLst/>
                <a:uFillTx/>
                <a:latin typeface="NotoSansJP"/>
                <a:ea typeface="NotoSansJP"/>
              </a:rPr>
              <a:t>警告判断ロジック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4820760" y="2182320"/>
            <a:ext cx="8053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所有者の状態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6796800" y="2182320"/>
            <a:ext cx="6714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物体の状態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16" name="" descr=""/>
          <p:cNvPicPr/>
          <p:nvPr/>
        </p:nvPicPr>
        <p:blipFill>
          <a:blip r:embed="rId6"/>
          <a:stretch/>
        </p:blipFill>
        <p:spPr>
          <a:xfrm>
            <a:off x="4646160" y="2598840"/>
            <a:ext cx="1666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7" name=""/>
          <p:cNvSpPr txBox="1"/>
          <p:nvPr/>
        </p:nvSpPr>
        <p:spPr>
          <a:xfrm>
            <a:off x="8638920" y="2182320"/>
            <a:ext cx="8053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システム判断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18" name="" descr=""/>
          <p:cNvPicPr/>
          <p:nvPr/>
        </p:nvPicPr>
        <p:blipFill>
          <a:blip r:embed="rId7"/>
          <a:stretch/>
        </p:blipFill>
        <p:spPr>
          <a:xfrm>
            <a:off x="6643440" y="259884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9" name=""/>
          <p:cNvSpPr txBox="1"/>
          <p:nvPr/>
        </p:nvSpPr>
        <p:spPr>
          <a:xfrm>
            <a:off x="4879440" y="2600280"/>
            <a:ext cx="10173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追跡中 </a:t>
            </a:r>
            <a:r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(Visible)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20" name="" descr=""/>
          <p:cNvPicPr/>
          <p:nvPr/>
        </p:nvPicPr>
        <p:blipFill>
          <a:blip r:embed="rId8"/>
          <a:stretch/>
        </p:blipFill>
        <p:spPr>
          <a:xfrm>
            <a:off x="8607240" y="25988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1" name=""/>
          <p:cNvSpPr txBox="1"/>
          <p:nvPr/>
        </p:nvSpPr>
        <p:spPr>
          <a:xfrm>
            <a:off x="6825960" y="2600280"/>
            <a:ext cx="8672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静止 </a:t>
            </a:r>
            <a:r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(Stable)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22" name="" descr=""/>
          <p:cNvPicPr/>
          <p:nvPr/>
        </p:nvPicPr>
        <p:blipFill>
          <a:blip r:embed="rId9"/>
          <a:stretch/>
        </p:blipFill>
        <p:spPr>
          <a:xfrm>
            <a:off x="4646160" y="3016800"/>
            <a:ext cx="1666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3" name=""/>
          <p:cNvSpPr txBox="1"/>
          <p:nvPr/>
        </p:nvSpPr>
        <p:spPr>
          <a:xfrm>
            <a:off x="8810280" y="2600280"/>
            <a:ext cx="7394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4ade80"/>
                </a:solidFill>
                <a:effectLst/>
                <a:uFillTx/>
                <a:latin typeface="NotoSansJP"/>
                <a:ea typeface="NotoSansJP"/>
              </a:rPr>
              <a:t>安全 </a:t>
            </a:r>
            <a:r>
              <a:rPr b="0" lang="en-US" sz="1050" strike="noStrike" u="none">
                <a:solidFill>
                  <a:srgbClr val="4ade80"/>
                </a:solidFill>
                <a:effectLst/>
                <a:uFillTx/>
                <a:latin typeface="NotoSansJP"/>
                <a:ea typeface="NotoSansJP"/>
              </a:rPr>
              <a:t>(Safe)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24" name="" descr=""/>
          <p:cNvPicPr/>
          <p:nvPr/>
        </p:nvPicPr>
        <p:blipFill>
          <a:blip r:embed="rId10"/>
          <a:stretch/>
        </p:blipFill>
        <p:spPr>
          <a:xfrm>
            <a:off x="6551640" y="3016800"/>
            <a:ext cx="15012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5" name=""/>
          <p:cNvSpPr txBox="1"/>
          <p:nvPr/>
        </p:nvSpPr>
        <p:spPr>
          <a:xfrm>
            <a:off x="4879440" y="3017880"/>
            <a:ext cx="10173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追跡中 </a:t>
            </a:r>
            <a:r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(Visible)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26" name="" descr=""/>
          <p:cNvPicPr/>
          <p:nvPr/>
        </p:nvPicPr>
        <p:blipFill>
          <a:blip r:embed="rId11"/>
          <a:stretch/>
        </p:blipFill>
        <p:spPr>
          <a:xfrm>
            <a:off x="8223120" y="301680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7" name=""/>
          <p:cNvSpPr txBox="1"/>
          <p:nvPr/>
        </p:nvSpPr>
        <p:spPr>
          <a:xfrm>
            <a:off x="6771600" y="3017880"/>
            <a:ext cx="10209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移動中 </a:t>
            </a:r>
            <a:r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(Moved)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8425800" y="3017880"/>
            <a:ext cx="7394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4ade80"/>
                </a:solidFill>
                <a:effectLst/>
                <a:uFillTx/>
                <a:latin typeface="NotoSansJP"/>
                <a:ea typeface="NotoSansJP"/>
              </a:rPr>
              <a:t>安全 </a:t>
            </a:r>
            <a:r>
              <a:rPr b="0" lang="en-US" sz="1050" strike="noStrike" u="none">
                <a:solidFill>
                  <a:srgbClr val="4ade80"/>
                </a:solidFill>
                <a:effectLst/>
                <a:uFillTx/>
                <a:latin typeface="NotoSansJP"/>
                <a:ea typeface="NotoSansJP"/>
              </a:rPr>
              <a:t>(Safe)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29" name="" descr=""/>
          <p:cNvPicPr/>
          <p:nvPr/>
        </p:nvPicPr>
        <p:blipFill>
          <a:blip r:embed="rId12"/>
          <a:stretch/>
        </p:blipFill>
        <p:spPr>
          <a:xfrm>
            <a:off x="4646160" y="3434760"/>
            <a:ext cx="1666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0" name=""/>
          <p:cNvSpPr txBox="1"/>
          <p:nvPr/>
        </p:nvSpPr>
        <p:spPr>
          <a:xfrm>
            <a:off x="9152640" y="3032280"/>
            <a:ext cx="70488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790" strike="noStrike" u="none">
                <a:solidFill>
                  <a:srgbClr val="4ade80"/>
                </a:solidFill>
                <a:effectLst/>
                <a:uFillTx/>
                <a:latin typeface="NotoSansJP"/>
                <a:ea typeface="NotoSansJP"/>
              </a:rPr>
              <a:t>所有者が運搬中</a:t>
            </a:r>
            <a:endParaRPr b="0" lang="en-US" sz="7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1" name="" descr=""/>
          <p:cNvPicPr/>
          <p:nvPr/>
        </p:nvPicPr>
        <p:blipFill>
          <a:blip r:embed="rId13"/>
          <a:stretch/>
        </p:blipFill>
        <p:spPr>
          <a:xfrm>
            <a:off x="6643440" y="343476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2" name=""/>
          <p:cNvSpPr txBox="1"/>
          <p:nvPr/>
        </p:nvSpPr>
        <p:spPr>
          <a:xfrm>
            <a:off x="4879440" y="3435840"/>
            <a:ext cx="9896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見失い中 </a:t>
            </a:r>
            <a:r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(Lost)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3" name="" descr=""/>
          <p:cNvPicPr/>
          <p:nvPr/>
        </p:nvPicPr>
        <p:blipFill>
          <a:blip r:embed="rId14"/>
          <a:stretch/>
        </p:blipFill>
        <p:spPr>
          <a:xfrm>
            <a:off x="8423640" y="3434760"/>
            <a:ext cx="1000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4" name=""/>
          <p:cNvSpPr txBox="1"/>
          <p:nvPr/>
        </p:nvSpPr>
        <p:spPr>
          <a:xfrm>
            <a:off x="6825960" y="3435840"/>
            <a:ext cx="8672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静止 </a:t>
            </a:r>
            <a:r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(Stable)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5" name="" descr=""/>
          <p:cNvPicPr/>
          <p:nvPr/>
        </p:nvPicPr>
        <p:blipFill>
          <a:blip r:embed="rId15"/>
          <a:stretch/>
        </p:blipFill>
        <p:spPr>
          <a:xfrm>
            <a:off x="4646160" y="3852360"/>
            <a:ext cx="1666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6" name=""/>
          <p:cNvSpPr txBox="1"/>
          <p:nvPr/>
        </p:nvSpPr>
        <p:spPr>
          <a:xfrm>
            <a:off x="8588880" y="3435840"/>
            <a:ext cx="10735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fbbf24"/>
                </a:solidFill>
                <a:effectLst/>
                <a:uFillTx/>
                <a:latin typeface="NotoSansJP"/>
                <a:ea typeface="NotoSansJP"/>
              </a:rPr>
              <a:t>放置タイマー作動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7" name="" descr=""/>
          <p:cNvPicPr/>
          <p:nvPr/>
        </p:nvPicPr>
        <p:blipFill>
          <a:blip r:embed="rId16"/>
          <a:stretch/>
        </p:blipFill>
        <p:spPr>
          <a:xfrm>
            <a:off x="6551640" y="3852360"/>
            <a:ext cx="15012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8" name=""/>
          <p:cNvSpPr txBox="1"/>
          <p:nvPr/>
        </p:nvSpPr>
        <p:spPr>
          <a:xfrm>
            <a:off x="4879440" y="3853800"/>
            <a:ext cx="9896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見失い中 </a:t>
            </a:r>
            <a:r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(Lost)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9" name="" descr=""/>
          <p:cNvPicPr/>
          <p:nvPr/>
        </p:nvPicPr>
        <p:blipFill>
          <a:blip r:embed="rId17"/>
          <a:stretch/>
        </p:blipFill>
        <p:spPr>
          <a:xfrm>
            <a:off x="8340120" y="38523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0" name=""/>
          <p:cNvSpPr txBox="1"/>
          <p:nvPr/>
        </p:nvSpPr>
        <p:spPr>
          <a:xfrm>
            <a:off x="6771600" y="3853800"/>
            <a:ext cx="10209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移動中 </a:t>
            </a:r>
            <a:r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(Moved)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41" name="" descr=""/>
          <p:cNvPicPr/>
          <p:nvPr/>
        </p:nvPicPr>
        <p:blipFill>
          <a:blip r:embed="rId18"/>
          <a:stretch/>
        </p:blipFill>
        <p:spPr>
          <a:xfrm>
            <a:off x="4654800" y="427032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2" name=""/>
          <p:cNvSpPr txBox="1"/>
          <p:nvPr/>
        </p:nvSpPr>
        <p:spPr>
          <a:xfrm>
            <a:off x="8538480" y="3853800"/>
            <a:ext cx="12078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f87171"/>
                </a:solidFill>
                <a:effectLst/>
                <a:uFillTx/>
                <a:latin typeface="NotoSansJP"/>
                <a:ea typeface="NotoSansJP"/>
              </a:rPr>
              <a:t>警告：盗難の可能性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43" name="" descr=""/>
          <p:cNvPicPr/>
          <p:nvPr/>
        </p:nvPicPr>
        <p:blipFill>
          <a:blip r:embed="rId19"/>
          <a:stretch/>
        </p:blipFill>
        <p:spPr>
          <a:xfrm>
            <a:off x="6643440" y="427032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4" name=""/>
          <p:cNvSpPr txBox="1"/>
          <p:nvPr/>
        </p:nvSpPr>
        <p:spPr>
          <a:xfrm>
            <a:off x="4841640" y="4271400"/>
            <a:ext cx="10605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タイマー </a:t>
            </a:r>
            <a:r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&gt; </a:t>
            </a:r>
            <a:r>
              <a:rPr b="0" lang="zh-CN" sz="105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閾値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45" name="" descr=""/>
          <p:cNvPicPr/>
          <p:nvPr/>
        </p:nvPicPr>
        <p:blipFill>
          <a:blip r:embed="rId20"/>
          <a:stretch/>
        </p:blipFill>
        <p:spPr>
          <a:xfrm>
            <a:off x="8607240" y="427032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6" name=""/>
          <p:cNvSpPr txBox="1"/>
          <p:nvPr/>
        </p:nvSpPr>
        <p:spPr>
          <a:xfrm>
            <a:off x="6825960" y="4271400"/>
            <a:ext cx="8672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静止 </a:t>
            </a:r>
            <a:r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(Stable)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47" name="" descr=""/>
          <p:cNvPicPr/>
          <p:nvPr/>
        </p:nvPicPr>
        <p:blipFill>
          <a:blip r:embed="rId21"/>
          <a:stretch/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8" name="" descr=""/>
          <p:cNvPicPr/>
          <p:nvPr/>
        </p:nvPicPr>
        <p:blipFill>
          <a:blip r:embed="rId22"/>
          <a:stretch/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9" name=""/>
          <p:cNvSpPr txBox="1"/>
          <p:nvPr/>
        </p:nvSpPr>
        <p:spPr>
          <a:xfrm>
            <a:off x="8805960" y="4271400"/>
            <a:ext cx="6714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f87171"/>
                </a:solidFill>
                <a:effectLst/>
                <a:uFillTx/>
                <a:latin typeface="NotoSansJP"/>
                <a:ea typeface="NotoSansJP"/>
              </a:rPr>
              <a:t>警告：放置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10153440" y="5717160"/>
            <a:ext cx="387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9ca3af"/>
                </a:solidFill>
                <a:effectLst/>
                <a:uFillTx/>
                <a:latin typeface="NotoSansJP"/>
                <a:ea typeface="NotoSansJP"/>
              </a:rPr>
              <a:t>7 / 12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2" name=""/>
          <p:cNvSpPr/>
          <p:nvPr/>
        </p:nvSpPr>
        <p:spPr>
          <a:xfrm>
            <a:off x="534600" y="802080"/>
            <a:ext cx="668880" cy="33840"/>
          </a:xfrm>
          <a:custGeom>
            <a:avLst/>
            <a:gdLst/>
            <a:ahLst/>
            <a:rect l="0" t="0" r="r" b="b"/>
            <a:pathLst>
              <a:path w="1858" h="94">
                <a:moveTo>
                  <a:pt x="0" y="0"/>
                </a:moveTo>
                <a:lnTo>
                  <a:pt x="1858" y="0"/>
                </a:lnTo>
                <a:lnTo>
                  <a:pt x="1858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60a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534960" y="422640"/>
            <a:ext cx="3303360" cy="43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37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評価実験：シナリオ設計</a:t>
            </a:r>
            <a:endParaRPr b="0" lang="en-US" sz="2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547200" y="1337040"/>
            <a:ext cx="4700880" cy="969480"/>
          </a:xfrm>
          <a:custGeom>
            <a:avLst/>
            <a:gdLst/>
            <a:ahLst/>
            <a:rect l="0" t="0" r="r" b="b"/>
            <a:pathLst>
              <a:path w="13058" h="2693">
                <a:moveTo>
                  <a:pt x="0" y="2693"/>
                </a:moveTo>
                <a:lnTo>
                  <a:pt x="0" y="0"/>
                </a:lnTo>
                <a:lnTo>
                  <a:pt x="12965" y="0"/>
                </a:lnTo>
                <a:cubicBezTo>
                  <a:pt x="12978" y="0"/>
                  <a:pt x="12990" y="2"/>
                  <a:pt x="13001" y="7"/>
                </a:cubicBezTo>
                <a:cubicBezTo>
                  <a:pt x="13012" y="11"/>
                  <a:pt x="13022" y="18"/>
                  <a:pt x="13031" y="27"/>
                </a:cubicBezTo>
                <a:cubicBezTo>
                  <a:pt x="13040" y="35"/>
                  <a:pt x="13047" y="46"/>
                  <a:pt x="13051" y="57"/>
                </a:cubicBezTo>
                <a:cubicBezTo>
                  <a:pt x="13056" y="68"/>
                  <a:pt x="13058" y="80"/>
                  <a:pt x="13058" y="92"/>
                </a:cubicBezTo>
                <a:lnTo>
                  <a:pt x="13058" y="2600"/>
                </a:lnTo>
                <a:cubicBezTo>
                  <a:pt x="13058" y="2613"/>
                  <a:pt x="13056" y="2625"/>
                  <a:pt x="13051" y="2636"/>
                </a:cubicBezTo>
                <a:cubicBezTo>
                  <a:pt x="13047" y="2647"/>
                  <a:pt x="13040" y="2657"/>
                  <a:pt x="13031" y="2666"/>
                </a:cubicBezTo>
                <a:cubicBezTo>
                  <a:pt x="13022" y="2675"/>
                  <a:pt x="13012" y="2682"/>
                  <a:pt x="13001" y="2686"/>
                </a:cubicBezTo>
                <a:cubicBezTo>
                  <a:pt x="12990" y="2691"/>
                  <a:pt x="12978" y="2693"/>
                  <a:pt x="12965" y="2693"/>
                </a:cubicBezTo>
                <a:lnTo>
                  <a:pt x="0" y="2693"/>
                </a:ln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534600" y="1337040"/>
            <a:ext cx="25560" cy="969480"/>
          </a:xfrm>
          <a:custGeom>
            <a:avLst/>
            <a:gdLst/>
            <a:ahLst/>
            <a:rect l="0" t="0" r="r" b="b"/>
            <a:pathLst>
              <a:path w="71" h="2693">
                <a:moveTo>
                  <a:pt x="0" y="0"/>
                </a:moveTo>
                <a:lnTo>
                  <a:pt x="71" y="0"/>
                </a:lnTo>
                <a:lnTo>
                  <a:pt x="71" y="2693"/>
                </a:lnTo>
                <a:lnTo>
                  <a:pt x="0" y="269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693360" y="1470600"/>
            <a:ext cx="418320" cy="418320"/>
          </a:xfrm>
          <a:custGeom>
            <a:avLst/>
            <a:gdLst/>
            <a:ahLst/>
            <a:rect l="0" t="0" r="r" b="b"/>
            <a:pathLst>
              <a:path w="1162" h="1162">
                <a:moveTo>
                  <a:pt x="0" y="929"/>
                </a:moveTo>
                <a:lnTo>
                  <a:pt x="0" y="232"/>
                </a:lnTo>
                <a:cubicBezTo>
                  <a:pt x="0" y="217"/>
                  <a:pt x="2" y="202"/>
                  <a:pt x="5" y="187"/>
                </a:cubicBezTo>
                <a:cubicBezTo>
                  <a:pt x="8" y="172"/>
                  <a:pt x="12" y="157"/>
                  <a:pt x="18" y="143"/>
                </a:cubicBezTo>
                <a:cubicBezTo>
                  <a:pt x="24" y="129"/>
                  <a:pt x="31" y="116"/>
                  <a:pt x="39" y="103"/>
                </a:cubicBezTo>
                <a:cubicBezTo>
                  <a:pt x="48" y="90"/>
                  <a:pt x="57" y="79"/>
                  <a:pt x="68" y="68"/>
                </a:cubicBezTo>
                <a:cubicBezTo>
                  <a:pt x="79" y="57"/>
                  <a:pt x="91" y="48"/>
                  <a:pt x="103" y="39"/>
                </a:cubicBezTo>
                <a:cubicBezTo>
                  <a:pt x="116" y="31"/>
                  <a:pt x="129" y="24"/>
                  <a:pt x="143" y="18"/>
                </a:cubicBezTo>
                <a:cubicBezTo>
                  <a:pt x="158" y="12"/>
                  <a:pt x="172" y="7"/>
                  <a:pt x="187" y="4"/>
                </a:cubicBezTo>
                <a:cubicBezTo>
                  <a:pt x="202" y="1"/>
                  <a:pt x="217" y="0"/>
                  <a:pt x="232" y="0"/>
                </a:cubicBezTo>
                <a:lnTo>
                  <a:pt x="929" y="0"/>
                </a:lnTo>
                <a:cubicBezTo>
                  <a:pt x="944" y="0"/>
                  <a:pt x="959" y="1"/>
                  <a:pt x="975" y="4"/>
                </a:cubicBezTo>
                <a:cubicBezTo>
                  <a:pt x="990" y="7"/>
                  <a:pt x="1004" y="12"/>
                  <a:pt x="1019" y="18"/>
                </a:cubicBezTo>
                <a:cubicBezTo>
                  <a:pt x="1033" y="24"/>
                  <a:pt x="1046" y="31"/>
                  <a:pt x="1059" y="39"/>
                </a:cubicBezTo>
                <a:cubicBezTo>
                  <a:pt x="1071" y="48"/>
                  <a:pt x="1083" y="57"/>
                  <a:pt x="1094" y="68"/>
                </a:cubicBezTo>
                <a:cubicBezTo>
                  <a:pt x="1105" y="79"/>
                  <a:pt x="1114" y="90"/>
                  <a:pt x="1123" y="103"/>
                </a:cubicBezTo>
                <a:cubicBezTo>
                  <a:pt x="1131" y="116"/>
                  <a:pt x="1138" y="129"/>
                  <a:pt x="1144" y="143"/>
                </a:cubicBezTo>
                <a:cubicBezTo>
                  <a:pt x="1150" y="157"/>
                  <a:pt x="1154" y="172"/>
                  <a:pt x="1157" y="187"/>
                </a:cubicBezTo>
                <a:cubicBezTo>
                  <a:pt x="1160" y="202"/>
                  <a:pt x="1162" y="217"/>
                  <a:pt x="1162" y="232"/>
                </a:cubicBezTo>
                <a:lnTo>
                  <a:pt x="1162" y="929"/>
                </a:lnTo>
                <a:cubicBezTo>
                  <a:pt x="1162" y="944"/>
                  <a:pt x="1160" y="959"/>
                  <a:pt x="1157" y="974"/>
                </a:cubicBezTo>
                <a:cubicBezTo>
                  <a:pt x="1154" y="989"/>
                  <a:pt x="1150" y="1003"/>
                  <a:pt x="1144" y="1017"/>
                </a:cubicBezTo>
                <a:cubicBezTo>
                  <a:pt x="1138" y="1031"/>
                  <a:pt x="1131" y="1045"/>
                  <a:pt x="1123" y="1057"/>
                </a:cubicBezTo>
                <a:cubicBezTo>
                  <a:pt x="1114" y="1070"/>
                  <a:pt x="1105" y="1082"/>
                  <a:pt x="1094" y="1093"/>
                </a:cubicBezTo>
                <a:cubicBezTo>
                  <a:pt x="1083" y="1103"/>
                  <a:pt x="1071" y="1113"/>
                  <a:pt x="1059" y="1122"/>
                </a:cubicBezTo>
                <a:cubicBezTo>
                  <a:pt x="1046" y="1130"/>
                  <a:pt x="1033" y="1138"/>
                  <a:pt x="1019" y="1144"/>
                </a:cubicBezTo>
                <a:cubicBezTo>
                  <a:pt x="1004" y="1150"/>
                  <a:pt x="990" y="1154"/>
                  <a:pt x="975" y="1157"/>
                </a:cubicBezTo>
                <a:cubicBezTo>
                  <a:pt x="959" y="1160"/>
                  <a:pt x="944" y="1162"/>
                  <a:pt x="929" y="1162"/>
                </a:cubicBezTo>
                <a:lnTo>
                  <a:pt x="232" y="1162"/>
                </a:lnTo>
                <a:cubicBezTo>
                  <a:pt x="217" y="1162"/>
                  <a:pt x="202" y="1160"/>
                  <a:pt x="187" y="1157"/>
                </a:cubicBezTo>
                <a:cubicBezTo>
                  <a:pt x="172" y="1154"/>
                  <a:pt x="158" y="1150"/>
                  <a:pt x="143" y="1144"/>
                </a:cubicBezTo>
                <a:cubicBezTo>
                  <a:pt x="129" y="1138"/>
                  <a:pt x="116" y="1130"/>
                  <a:pt x="103" y="1122"/>
                </a:cubicBezTo>
                <a:cubicBezTo>
                  <a:pt x="91" y="1113"/>
                  <a:pt x="79" y="1103"/>
                  <a:pt x="68" y="1093"/>
                </a:cubicBezTo>
                <a:cubicBezTo>
                  <a:pt x="57" y="1082"/>
                  <a:pt x="48" y="1070"/>
                  <a:pt x="39" y="1057"/>
                </a:cubicBezTo>
                <a:cubicBezTo>
                  <a:pt x="31" y="1045"/>
                  <a:pt x="24" y="1031"/>
                  <a:pt x="18" y="1017"/>
                </a:cubicBezTo>
                <a:cubicBezTo>
                  <a:pt x="12" y="1003"/>
                  <a:pt x="8" y="989"/>
                  <a:pt x="5" y="974"/>
                </a:cubicBezTo>
                <a:cubicBezTo>
                  <a:pt x="2" y="959"/>
                  <a:pt x="0" y="944"/>
                  <a:pt x="0" y="929"/>
                </a:cubicBezTo>
                <a:close/>
              </a:path>
            </a:pathLst>
          </a:custGeom>
          <a:solidFill>
            <a:srgbClr val="064e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57" name="" descr=""/>
          <p:cNvPicPr/>
          <p:nvPr/>
        </p:nvPicPr>
        <p:blipFill>
          <a:blip r:embed="rId2"/>
          <a:stretch/>
        </p:blipFill>
        <p:spPr>
          <a:xfrm>
            <a:off x="802080" y="157932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8" name=""/>
          <p:cNvSpPr txBox="1"/>
          <p:nvPr/>
        </p:nvSpPr>
        <p:spPr>
          <a:xfrm>
            <a:off x="534960" y="998280"/>
            <a:ext cx="405036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システムの性能を検証するための</a:t>
            </a:r>
            <a:r>
              <a:rPr b="0" lang="en-US" sz="132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5</a:t>
            </a:r>
            <a:r>
              <a:rPr b="0" lang="zh-CN" sz="132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つの評価シナリオ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1245240" y="1499400"/>
            <a:ext cx="137664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34d399"/>
                </a:solidFill>
                <a:effectLst/>
                <a:uFillTx/>
                <a:latin typeface="NotoSansJP"/>
                <a:ea typeface="NotoSansJP"/>
              </a:rPr>
              <a:t>シナリオ</a:t>
            </a:r>
            <a:r>
              <a:rPr b="0" lang="en-US" sz="1320" strike="noStrike" u="none">
                <a:solidFill>
                  <a:srgbClr val="34d399"/>
                </a:solidFill>
                <a:effectLst/>
                <a:uFillTx/>
                <a:latin typeface="NotoSansJP"/>
                <a:ea typeface="NotoSansJP"/>
              </a:rPr>
              <a:t>A</a:t>
            </a:r>
            <a:r>
              <a:rPr b="0" lang="zh-CN" sz="1320" strike="noStrike" u="none">
                <a:solidFill>
                  <a:srgbClr val="34d399"/>
                </a:solidFill>
                <a:effectLst/>
                <a:uFillTx/>
                <a:latin typeface="NotoSansJP"/>
                <a:ea typeface="NotoSansJP"/>
              </a:rPr>
              <a:t>：正常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60" name="" descr=""/>
          <p:cNvPicPr/>
          <p:nvPr/>
        </p:nvPicPr>
        <p:blipFill>
          <a:blip r:embed="rId3"/>
          <a:stretch/>
        </p:blipFill>
        <p:spPr>
          <a:xfrm>
            <a:off x="1245240" y="2039040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1" name=""/>
          <p:cNvSpPr txBox="1"/>
          <p:nvPr/>
        </p:nvSpPr>
        <p:spPr>
          <a:xfrm>
            <a:off x="1245240" y="1773000"/>
            <a:ext cx="28170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所有者が荷物を置き、短時間後に再び持ち去る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5460840" y="1337040"/>
            <a:ext cx="4701240" cy="969480"/>
          </a:xfrm>
          <a:custGeom>
            <a:avLst/>
            <a:gdLst/>
            <a:ahLst/>
            <a:rect l="0" t="0" r="r" b="b"/>
            <a:pathLst>
              <a:path w="13059" h="2693">
                <a:moveTo>
                  <a:pt x="0" y="2693"/>
                </a:moveTo>
                <a:lnTo>
                  <a:pt x="0" y="0"/>
                </a:lnTo>
                <a:lnTo>
                  <a:pt x="12966" y="0"/>
                </a:lnTo>
                <a:cubicBezTo>
                  <a:pt x="12978" y="0"/>
                  <a:pt x="12990" y="2"/>
                  <a:pt x="13001" y="7"/>
                </a:cubicBezTo>
                <a:cubicBezTo>
                  <a:pt x="13013" y="11"/>
                  <a:pt x="13023" y="18"/>
                  <a:pt x="13031" y="27"/>
                </a:cubicBezTo>
                <a:cubicBezTo>
                  <a:pt x="13040" y="35"/>
                  <a:pt x="13047" y="46"/>
                  <a:pt x="13052" y="57"/>
                </a:cubicBezTo>
                <a:cubicBezTo>
                  <a:pt x="13056" y="68"/>
                  <a:pt x="13059" y="80"/>
                  <a:pt x="13059" y="92"/>
                </a:cubicBezTo>
                <a:lnTo>
                  <a:pt x="13059" y="2600"/>
                </a:lnTo>
                <a:cubicBezTo>
                  <a:pt x="13059" y="2613"/>
                  <a:pt x="13056" y="2625"/>
                  <a:pt x="13052" y="2636"/>
                </a:cubicBezTo>
                <a:cubicBezTo>
                  <a:pt x="13047" y="2647"/>
                  <a:pt x="13040" y="2657"/>
                  <a:pt x="13031" y="2666"/>
                </a:cubicBezTo>
                <a:cubicBezTo>
                  <a:pt x="13023" y="2675"/>
                  <a:pt x="13013" y="2682"/>
                  <a:pt x="13001" y="2686"/>
                </a:cubicBezTo>
                <a:cubicBezTo>
                  <a:pt x="12990" y="2691"/>
                  <a:pt x="12978" y="2693"/>
                  <a:pt x="12966" y="2693"/>
                </a:cubicBezTo>
                <a:lnTo>
                  <a:pt x="0" y="2693"/>
                </a:ln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5448240" y="1337040"/>
            <a:ext cx="25560" cy="969480"/>
          </a:xfrm>
          <a:custGeom>
            <a:avLst/>
            <a:gdLst/>
            <a:ahLst/>
            <a:rect l="0" t="0" r="r" b="b"/>
            <a:pathLst>
              <a:path w="71" h="2693">
                <a:moveTo>
                  <a:pt x="0" y="0"/>
                </a:moveTo>
                <a:lnTo>
                  <a:pt x="71" y="0"/>
                </a:lnTo>
                <a:lnTo>
                  <a:pt x="71" y="2693"/>
                </a:lnTo>
                <a:lnTo>
                  <a:pt x="0" y="269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5607000" y="1470600"/>
            <a:ext cx="418320" cy="418320"/>
          </a:xfrm>
          <a:custGeom>
            <a:avLst/>
            <a:gdLst/>
            <a:ahLst/>
            <a:rect l="0" t="0" r="r" b="b"/>
            <a:pathLst>
              <a:path w="1162" h="1162">
                <a:moveTo>
                  <a:pt x="0" y="929"/>
                </a:moveTo>
                <a:lnTo>
                  <a:pt x="0" y="232"/>
                </a:lnTo>
                <a:cubicBezTo>
                  <a:pt x="0" y="217"/>
                  <a:pt x="2" y="202"/>
                  <a:pt x="5" y="187"/>
                </a:cubicBezTo>
                <a:cubicBezTo>
                  <a:pt x="8" y="172"/>
                  <a:pt x="12" y="157"/>
                  <a:pt x="18" y="143"/>
                </a:cubicBezTo>
                <a:cubicBezTo>
                  <a:pt x="24" y="129"/>
                  <a:pt x="31" y="116"/>
                  <a:pt x="40" y="103"/>
                </a:cubicBezTo>
                <a:cubicBezTo>
                  <a:pt x="48" y="90"/>
                  <a:pt x="58" y="79"/>
                  <a:pt x="68" y="68"/>
                </a:cubicBezTo>
                <a:cubicBezTo>
                  <a:pt x="79" y="57"/>
                  <a:pt x="92" y="48"/>
                  <a:pt x="105" y="39"/>
                </a:cubicBezTo>
                <a:cubicBezTo>
                  <a:pt x="117" y="31"/>
                  <a:pt x="131" y="24"/>
                  <a:pt x="145" y="18"/>
                </a:cubicBezTo>
                <a:cubicBezTo>
                  <a:pt x="159" y="12"/>
                  <a:pt x="173" y="7"/>
                  <a:pt x="188" y="4"/>
                </a:cubicBezTo>
                <a:cubicBezTo>
                  <a:pt x="203" y="1"/>
                  <a:pt x="218" y="0"/>
                  <a:pt x="234" y="0"/>
                </a:cubicBezTo>
                <a:lnTo>
                  <a:pt x="930" y="0"/>
                </a:lnTo>
                <a:cubicBezTo>
                  <a:pt x="945" y="0"/>
                  <a:pt x="960" y="1"/>
                  <a:pt x="975" y="4"/>
                </a:cubicBezTo>
                <a:cubicBezTo>
                  <a:pt x="990" y="7"/>
                  <a:pt x="1005" y="12"/>
                  <a:pt x="1019" y="18"/>
                </a:cubicBezTo>
                <a:cubicBezTo>
                  <a:pt x="1033" y="24"/>
                  <a:pt x="1046" y="31"/>
                  <a:pt x="1059" y="39"/>
                </a:cubicBezTo>
                <a:cubicBezTo>
                  <a:pt x="1072" y="48"/>
                  <a:pt x="1083" y="57"/>
                  <a:pt x="1094" y="68"/>
                </a:cubicBezTo>
                <a:cubicBezTo>
                  <a:pt x="1105" y="79"/>
                  <a:pt x="1115" y="90"/>
                  <a:pt x="1123" y="103"/>
                </a:cubicBezTo>
                <a:cubicBezTo>
                  <a:pt x="1131" y="116"/>
                  <a:pt x="1139" y="129"/>
                  <a:pt x="1144" y="143"/>
                </a:cubicBezTo>
                <a:cubicBezTo>
                  <a:pt x="1150" y="157"/>
                  <a:pt x="1155" y="172"/>
                  <a:pt x="1158" y="187"/>
                </a:cubicBezTo>
                <a:cubicBezTo>
                  <a:pt x="1161" y="202"/>
                  <a:pt x="1162" y="217"/>
                  <a:pt x="1162" y="232"/>
                </a:cubicBezTo>
                <a:lnTo>
                  <a:pt x="1162" y="929"/>
                </a:lnTo>
                <a:cubicBezTo>
                  <a:pt x="1162" y="944"/>
                  <a:pt x="1161" y="959"/>
                  <a:pt x="1158" y="974"/>
                </a:cubicBezTo>
                <a:cubicBezTo>
                  <a:pt x="1155" y="989"/>
                  <a:pt x="1150" y="1003"/>
                  <a:pt x="1144" y="1017"/>
                </a:cubicBezTo>
                <a:cubicBezTo>
                  <a:pt x="1139" y="1031"/>
                  <a:pt x="1131" y="1045"/>
                  <a:pt x="1123" y="1057"/>
                </a:cubicBezTo>
                <a:cubicBezTo>
                  <a:pt x="1115" y="1070"/>
                  <a:pt x="1105" y="1082"/>
                  <a:pt x="1094" y="1093"/>
                </a:cubicBezTo>
                <a:cubicBezTo>
                  <a:pt x="1083" y="1103"/>
                  <a:pt x="1072" y="1113"/>
                  <a:pt x="1059" y="1122"/>
                </a:cubicBezTo>
                <a:cubicBezTo>
                  <a:pt x="1046" y="1130"/>
                  <a:pt x="1033" y="1138"/>
                  <a:pt x="1019" y="1144"/>
                </a:cubicBezTo>
                <a:cubicBezTo>
                  <a:pt x="1005" y="1150"/>
                  <a:pt x="990" y="1154"/>
                  <a:pt x="975" y="1157"/>
                </a:cubicBezTo>
                <a:cubicBezTo>
                  <a:pt x="960" y="1160"/>
                  <a:pt x="945" y="1162"/>
                  <a:pt x="930" y="1162"/>
                </a:cubicBezTo>
                <a:lnTo>
                  <a:pt x="234" y="1162"/>
                </a:lnTo>
                <a:cubicBezTo>
                  <a:pt x="218" y="1162"/>
                  <a:pt x="203" y="1160"/>
                  <a:pt x="188" y="1157"/>
                </a:cubicBezTo>
                <a:cubicBezTo>
                  <a:pt x="173" y="1154"/>
                  <a:pt x="159" y="1150"/>
                  <a:pt x="145" y="1144"/>
                </a:cubicBezTo>
                <a:cubicBezTo>
                  <a:pt x="131" y="1138"/>
                  <a:pt x="117" y="1130"/>
                  <a:pt x="105" y="1122"/>
                </a:cubicBezTo>
                <a:cubicBezTo>
                  <a:pt x="92" y="1113"/>
                  <a:pt x="79" y="1103"/>
                  <a:pt x="68" y="1093"/>
                </a:cubicBezTo>
                <a:cubicBezTo>
                  <a:pt x="58" y="1082"/>
                  <a:pt x="48" y="1070"/>
                  <a:pt x="40" y="1057"/>
                </a:cubicBezTo>
                <a:cubicBezTo>
                  <a:pt x="31" y="1045"/>
                  <a:pt x="24" y="1031"/>
                  <a:pt x="18" y="1017"/>
                </a:cubicBezTo>
                <a:cubicBezTo>
                  <a:pt x="12" y="1003"/>
                  <a:pt x="8" y="989"/>
                  <a:pt x="5" y="974"/>
                </a:cubicBezTo>
                <a:cubicBezTo>
                  <a:pt x="2" y="959"/>
                  <a:pt x="0" y="944"/>
                  <a:pt x="0" y="929"/>
                </a:cubicBezTo>
                <a:close/>
              </a:path>
            </a:pathLst>
          </a:custGeom>
          <a:solidFill>
            <a:srgbClr val="78350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65" name="" descr=""/>
          <p:cNvPicPr/>
          <p:nvPr/>
        </p:nvPicPr>
        <p:blipFill>
          <a:blip r:embed="rId4"/>
          <a:stretch/>
        </p:blipFill>
        <p:spPr>
          <a:xfrm>
            <a:off x="5716080" y="157932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6" name=""/>
          <p:cNvSpPr txBox="1"/>
          <p:nvPr/>
        </p:nvSpPr>
        <p:spPr>
          <a:xfrm>
            <a:off x="1395720" y="2030760"/>
            <a:ext cx="2608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9ca3af"/>
                </a:solidFill>
                <a:effectLst/>
                <a:uFillTx/>
                <a:latin typeface="NotoSansJP"/>
                <a:ea typeface="NotoSansJP"/>
              </a:rPr>
              <a:t> 検証目的：正常な所有者の行動を誤検知しないか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6158880" y="1499400"/>
            <a:ext cx="137160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fbbf24"/>
                </a:solidFill>
                <a:effectLst/>
                <a:uFillTx/>
                <a:latin typeface="NotoSansJP"/>
                <a:ea typeface="NotoSansJP"/>
              </a:rPr>
              <a:t>シナリオ</a:t>
            </a:r>
            <a:r>
              <a:rPr b="0" lang="en-US" sz="1320" strike="noStrike" u="none">
                <a:solidFill>
                  <a:srgbClr val="fbbf24"/>
                </a:solidFill>
                <a:effectLst/>
                <a:uFillTx/>
                <a:latin typeface="NotoSansJP"/>
                <a:ea typeface="NotoSansJP"/>
              </a:rPr>
              <a:t>B</a:t>
            </a:r>
            <a:r>
              <a:rPr b="0" lang="zh-CN" sz="1320" strike="noStrike" u="none">
                <a:solidFill>
                  <a:srgbClr val="fbbf24"/>
                </a:solidFill>
                <a:effectLst/>
                <a:uFillTx/>
                <a:latin typeface="NotoSansJP"/>
                <a:ea typeface="NotoSansJP"/>
              </a:rPr>
              <a:t>：放置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68" name="" descr=""/>
          <p:cNvPicPr/>
          <p:nvPr/>
        </p:nvPicPr>
        <p:blipFill>
          <a:blip r:embed="rId5"/>
          <a:stretch/>
        </p:blipFill>
        <p:spPr>
          <a:xfrm>
            <a:off x="6158880" y="2039040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9" name=""/>
          <p:cNvSpPr txBox="1"/>
          <p:nvPr/>
        </p:nvSpPr>
        <p:spPr>
          <a:xfrm>
            <a:off x="6158880" y="1773000"/>
            <a:ext cx="32194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所有者が荷物を置き、フレーム外へ立ち去り戻らない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547200" y="2506680"/>
            <a:ext cx="4700880" cy="969840"/>
          </a:xfrm>
          <a:custGeom>
            <a:avLst/>
            <a:gdLst/>
            <a:ahLst/>
            <a:rect l="0" t="0" r="r" b="b"/>
            <a:pathLst>
              <a:path w="13058" h="2694">
                <a:moveTo>
                  <a:pt x="0" y="2694"/>
                </a:moveTo>
                <a:lnTo>
                  <a:pt x="0" y="0"/>
                </a:lnTo>
                <a:lnTo>
                  <a:pt x="12965" y="0"/>
                </a:lnTo>
                <a:cubicBezTo>
                  <a:pt x="12978" y="0"/>
                  <a:pt x="12990" y="3"/>
                  <a:pt x="13001" y="7"/>
                </a:cubicBezTo>
                <a:cubicBezTo>
                  <a:pt x="13012" y="12"/>
                  <a:pt x="13022" y="19"/>
                  <a:pt x="13031" y="28"/>
                </a:cubicBezTo>
                <a:cubicBezTo>
                  <a:pt x="13040" y="36"/>
                  <a:pt x="13047" y="46"/>
                  <a:pt x="13051" y="58"/>
                </a:cubicBezTo>
                <a:cubicBezTo>
                  <a:pt x="13056" y="69"/>
                  <a:pt x="13058" y="81"/>
                  <a:pt x="13058" y="93"/>
                </a:cubicBezTo>
                <a:lnTo>
                  <a:pt x="13058" y="2601"/>
                </a:lnTo>
                <a:cubicBezTo>
                  <a:pt x="13058" y="2614"/>
                  <a:pt x="13056" y="2625"/>
                  <a:pt x="13051" y="2637"/>
                </a:cubicBezTo>
                <a:cubicBezTo>
                  <a:pt x="13047" y="2648"/>
                  <a:pt x="13040" y="2658"/>
                  <a:pt x="13031" y="2667"/>
                </a:cubicBezTo>
                <a:cubicBezTo>
                  <a:pt x="13022" y="2676"/>
                  <a:pt x="13012" y="2682"/>
                  <a:pt x="13001" y="2687"/>
                </a:cubicBezTo>
                <a:cubicBezTo>
                  <a:pt x="12990" y="2692"/>
                  <a:pt x="12978" y="2694"/>
                  <a:pt x="12965" y="2694"/>
                </a:cubicBezTo>
                <a:lnTo>
                  <a:pt x="0" y="2694"/>
                </a:ln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534600" y="2506680"/>
            <a:ext cx="25560" cy="969840"/>
          </a:xfrm>
          <a:custGeom>
            <a:avLst/>
            <a:gdLst/>
            <a:ahLst/>
            <a:rect l="0" t="0" r="r" b="b"/>
            <a:pathLst>
              <a:path w="71" h="2694">
                <a:moveTo>
                  <a:pt x="0" y="0"/>
                </a:moveTo>
                <a:lnTo>
                  <a:pt x="71" y="0"/>
                </a:lnTo>
                <a:lnTo>
                  <a:pt x="71" y="2694"/>
                </a:lnTo>
                <a:lnTo>
                  <a:pt x="0" y="269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693360" y="2640600"/>
            <a:ext cx="418320" cy="417960"/>
          </a:xfrm>
          <a:custGeom>
            <a:avLst/>
            <a:gdLst/>
            <a:ahLst/>
            <a:rect l="0" t="0" r="r" b="b"/>
            <a:pathLst>
              <a:path w="1162" h="1161">
                <a:moveTo>
                  <a:pt x="0" y="929"/>
                </a:moveTo>
                <a:lnTo>
                  <a:pt x="0" y="233"/>
                </a:lnTo>
                <a:cubicBezTo>
                  <a:pt x="0" y="218"/>
                  <a:pt x="2" y="202"/>
                  <a:pt x="5" y="187"/>
                </a:cubicBezTo>
                <a:cubicBezTo>
                  <a:pt x="8" y="172"/>
                  <a:pt x="12" y="157"/>
                  <a:pt x="18" y="143"/>
                </a:cubicBezTo>
                <a:cubicBezTo>
                  <a:pt x="24" y="129"/>
                  <a:pt x="31" y="116"/>
                  <a:pt x="39" y="103"/>
                </a:cubicBezTo>
                <a:cubicBezTo>
                  <a:pt x="48" y="90"/>
                  <a:pt x="57" y="79"/>
                  <a:pt x="68" y="68"/>
                </a:cubicBezTo>
                <a:cubicBezTo>
                  <a:pt x="79" y="57"/>
                  <a:pt x="91" y="47"/>
                  <a:pt x="103" y="39"/>
                </a:cubicBezTo>
                <a:cubicBezTo>
                  <a:pt x="116" y="30"/>
                  <a:pt x="129" y="23"/>
                  <a:pt x="143" y="17"/>
                </a:cubicBezTo>
                <a:cubicBezTo>
                  <a:pt x="158" y="12"/>
                  <a:pt x="172" y="7"/>
                  <a:pt x="187" y="4"/>
                </a:cubicBezTo>
                <a:cubicBezTo>
                  <a:pt x="202" y="1"/>
                  <a:pt x="217" y="0"/>
                  <a:pt x="232" y="0"/>
                </a:cubicBezTo>
                <a:lnTo>
                  <a:pt x="929" y="0"/>
                </a:lnTo>
                <a:cubicBezTo>
                  <a:pt x="944" y="0"/>
                  <a:pt x="959" y="1"/>
                  <a:pt x="975" y="4"/>
                </a:cubicBezTo>
                <a:cubicBezTo>
                  <a:pt x="990" y="7"/>
                  <a:pt x="1004" y="12"/>
                  <a:pt x="1019" y="17"/>
                </a:cubicBezTo>
                <a:cubicBezTo>
                  <a:pt x="1033" y="23"/>
                  <a:pt x="1046" y="30"/>
                  <a:pt x="1059" y="39"/>
                </a:cubicBezTo>
                <a:cubicBezTo>
                  <a:pt x="1071" y="47"/>
                  <a:pt x="1083" y="57"/>
                  <a:pt x="1094" y="68"/>
                </a:cubicBezTo>
                <a:cubicBezTo>
                  <a:pt x="1105" y="79"/>
                  <a:pt x="1114" y="90"/>
                  <a:pt x="1123" y="103"/>
                </a:cubicBezTo>
                <a:cubicBezTo>
                  <a:pt x="1131" y="116"/>
                  <a:pt x="1138" y="129"/>
                  <a:pt x="1144" y="143"/>
                </a:cubicBezTo>
                <a:cubicBezTo>
                  <a:pt x="1150" y="157"/>
                  <a:pt x="1154" y="172"/>
                  <a:pt x="1157" y="187"/>
                </a:cubicBezTo>
                <a:cubicBezTo>
                  <a:pt x="1160" y="202"/>
                  <a:pt x="1162" y="218"/>
                  <a:pt x="1162" y="233"/>
                </a:cubicBezTo>
                <a:lnTo>
                  <a:pt x="1162" y="929"/>
                </a:lnTo>
                <a:cubicBezTo>
                  <a:pt x="1162" y="945"/>
                  <a:pt x="1160" y="960"/>
                  <a:pt x="1157" y="975"/>
                </a:cubicBezTo>
                <a:cubicBezTo>
                  <a:pt x="1154" y="990"/>
                  <a:pt x="1150" y="1004"/>
                  <a:pt x="1144" y="1018"/>
                </a:cubicBezTo>
                <a:cubicBezTo>
                  <a:pt x="1138" y="1032"/>
                  <a:pt x="1131" y="1046"/>
                  <a:pt x="1123" y="1058"/>
                </a:cubicBezTo>
                <a:cubicBezTo>
                  <a:pt x="1114" y="1071"/>
                  <a:pt x="1105" y="1083"/>
                  <a:pt x="1094" y="1093"/>
                </a:cubicBezTo>
                <a:cubicBezTo>
                  <a:pt x="1083" y="1104"/>
                  <a:pt x="1071" y="1114"/>
                  <a:pt x="1059" y="1122"/>
                </a:cubicBezTo>
                <a:cubicBezTo>
                  <a:pt x="1046" y="1131"/>
                  <a:pt x="1033" y="1138"/>
                  <a:pt x="1019" y="1144"/>
                </a:cubicBezTo>
                <a:cubicBezTo>
                  <a:pt x="1004" y="1150"/>
                  <a:pt x="990" y="1154"/>
                  <a:pt x="975" y="1157"/>
                </a:cubicBezTo>
                <a:cubicBezTo>
                  <a:pt x="959" y="1160"/>
                  <a:pt x="944" y="1161"/>
                  <a:pt x="929" y="1161"/>
                </a:cubicBezTo>
                <a:lnTo>
                  <a:pt x="232" y="1161"/>
                </a:lnTo>
                <a:cubicBezTo>
                  <a:pt x="217" y="1161"/>
                  <a:pt x="202" y="1160"/>
                  <a:pt x="187" y="1157"/>
                </a:cubicBezTo>
                <a:cubicBezTo>
                  <a:pt x="172" y="1154"/>
                  <a:pt x="158" y="1150"/>
                  <a:pt x="143" y="1144"/>
                </a:cubicBezTo>
                <a:cubicBezTo>
                  <a:pt x="129" y="1138"/>
                  <a:pt x="116" y="1131"/>
                  <a:pt x="103" y="1122"/>
                </a:cubicBezTo>
                <a:cubicBezTo>
                  <a:pt x="91" y="1114"/>
                  <a:pt x="79" y="1104"/>
                  <a:pt x="68" y="1093"/>
                </a:cubicBezTo>
                <a:cubicBezTo>
                  <a:pt x="57" y="1083"/>
                  <a:pt x="48" y="1071"/>
                  <a:pt x="39" y="1058"/>
                </a:cubicBezTo>
                <a:cubicBezTo>
                  <a:pt x="31" y="1046"/>
                  <a:pt x="24" y="1032"/>
                  <a:pt x="18" y="1018"/>
                </a:cubicBezTo>
                <a:cubicBezTo>
                  <a:pt x="12" y="1004"/>
                  <a:pt x="8" y="990"/>
                  <a:pt x="5" y="975"/>
                </a:cubicBezTo>
                <a:cubicBezTo>
                  <a:pt x="2" y="960"/>
                  <a:pt x="0" y="945"/>
                  <a:pt x="0" y="929"/>
                </a:cubicBezTo>
                <a:close/>
              </a:path>
            </a:pathLst>
          </a:custGeom>
          <a:solidFill>
            <a:srgbClr val="7e2a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73" name="" descr=""/>
          <p:cNvPicPr/>
          <p:nvPr/>
        </p:nvPicPr>
        <p:blipFill>
          <a:blip r:embed="rId6"/>
          <a:stretch/>
        </p:blipFill>
        <p:spPr>
          <a:xfrm>
            <a:off x="802080" y="274932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4" name=""/>
          <p:cNvSpPr txBox="1"/>
          <p:nvPr/>
        </p:nvSpPr>
        <p:spPr>
          <a:xfrm>
            <a:off x="6309360" y="2030760"/>
            <a:ext cx="31953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9ca3af"/>
                </a:solidFill>
                <a:effectLst/>
                <a:uFillTx/>
                <a:latin typeface="NotoSansJP"/>
                <a:ea typeface="NotoSansJP"/>
              </a:rPr>
              <a:t> 検証目的：基本的な「放置」イベントを正しく検知できるか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1245240" y="2669400"/>
            <a:ext cx="171396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ff8904"/>
                </a:solidFill>
                <a:effectLst/>
                <a:uFillTx/>
                <a:latin typeface="NotoSansJP"/>
                <a:ea typeface="NotoSansJP"/>
              </a:rPr>
              <a:t>シナリオ</a:t>
            </a:r>
            <a:r>
              <a:rPr b="0" lang="en-US" sz="1320" strike="noStrike" u="none">
                <a:solidFill>
                  <a:srgbClr val="ff8904"/>
                </a:solidFill>
                <a:effectLst/>
                <a:uFillTx/>
                <a:latin typeface="NotoSansJP"/>
                <a:ea typeface="NotoSansJP"/>
              </a:rPr>
              <a:t>C</a:t>
            </a:r>
            <a:r>
              <a:rPr b="0" lang="zh-CN" sz="1320" strike="noStrike" u="none">
                <a:solidFill>
                  <a:srgbClr val="ff8904"/>
                </a:solidFill>
                <a:effectLst/>
                <a:uFillTx/>
                <a:latin typeface="NotoSansJP"/>
                <a:ea typeface="NotoSansJP"/>
              </a:rPr>
              <a:t>：誤報誘発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76" name="" descr=""/>
          <p:cNvPicPr/>
          <p:nvPr/>
        </p:nvPicPr>
        <p:blipFill>
          <a:blip r:embed="rId7"/>
          <a:stretch/>
        </p:blipFill>
        <p:spPr>
          <a:xfrm>
            <a:off x="1245240" y="3209040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7" name=""/>
          <p:cNvSpPr txBox="1"/>
          <p:nvPr/>
        </p:nvSpPr>
        <p:spPr>
          <a:xfrm>
            <a:off x="1245240" y="2943000"/>
            <a:ext cx="34686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無関係な第三者が荷物のすぐ近くを通りかかる</a:t>
            </a:r>
            <a:r>
              <a:rPr b="0" lang="en-US" sz="105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/</a:t>
            </a:r>
            <a:r>
              <a:rPr b="0" lang="zh-CN" sz="105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滞在する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5460840" y="2506680"/>
            <a:ext cx="4701240" cy="969840"/>
          </a:xfrm>
          <a:custGeom>
            <a:avLst/>
            <a:gdLst/>
            <a:ahLst/>
            <a:rect l="0" t="0" r="r" b="b"/>
            <a:pathLst>
              <a:path w="13059" h="2694">
                <a:moveTo>
                  <a:pt x="0" y="2694"/>
                </a:moveTo>
                <a:lnTo>
                  <a:pt x="0" y="0"/>
                </a:lnTo>
                <a:lnTo>
                  <a:pt x="12966" y="0"/>
                </a:lnTo>
                <a:cubicBezTo>
                  <a:pt x="12978" y="0"/>
                  <a:pt x="12990" y="3"/>
                  <a:pt x="13001" y="7"/>
                </a:cubicBezTo>
                <a:cubicBezTo>
                  <a:pt x="13013" y="12"/>
                  <a:pt x="13023" y="19"/>
                  <a:pt x="13031" y="28"/>
                </a:cubicBezTo>
                <a:cubicBezTo>
                  <a:pt x="13040" y="36"/>
                  <a:pt x="13047" y="46"/>
                  <a:pt x="13052" y="58"/>
                </a:cubicBezTo>
                <a:cubicBezTo>
                  <a:pt x="13056" y="69"/>
                  <a:pt x="13059" y="81"/>
                  <a:pt x="13059" y="93"/>
                </a:cubicBezTo>
                <a:lnTo>
                  <a:pt x="13059" y="2601"/>
                </a:lnTo>
                <a:cubicBezTo>
                  <a:pt x="13059" y="2614"/>
                  <a:pt x="13056" y="2625"/>
                  <a:pt x="13052" y="2637"/>
                </a:cubicBezTo>
                <a:cubicBezTo>
                  <a:pt x="13047" y="2648"/>
                  <a:pt x="13040" y="2658"/>
                  <a:pt x="13031" y="2667"/>
                </a:cubicBezTo>
                <a:cubicBezTo>
                  <a:pt x="13023" y="2676"/>
                  <a:pt x="13013" y="2682"/>
                  <a:pt x="13001" y="2687"/>
                </a:cubicBezTo>
                <a:cubicBezTo>
                  <a:pt x="12990" y="2692"/>
                  <a:pt x="12978" y="2694"/>
                  <a:pt x="12966" y="2694"/>
                </a:cubicBezTo>
                <a:lnTo>
                  <a:pt x="0" y="2694"/>
                </a:ln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5448240" y="2506680"/>
            <a:ext cx="25560" cy="969840"/>
          </a:xfrm>
          <a:custGeom>
            <a:avLst/>
            <a:gdLst/>
            <a:ahLst/>
            <a:rect l="0" t="0" r="r" b="b"/>
            <a:pathLst>
              <a:path w="71" h="2694">
                <a:moveTo>
                  <a:pt x="0" y="0"/>
                </a:moveTo>
                <a:lnTo>
                  <a:pt x="71" y="0"/>
                </a:lnTo>
                <a:lnTo>
                  <a:pt x="71" y="2694"/>
                </a:lnTo>
                <a:lnTo>
                  <a:pt x="0" y="269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5607000" y="2640600"/>
            <a:ext cx="418320" cy="417960"/>
          </a:xfrm>
          <a:custGeom>
            <a:avLst/>
            <a:gdLst/>
            <a:ahLst/>
            <a:rect l="0" t="0" r="r" b="b"/>
            <a:pathLst>
              <a:path w="1162" h="1161">
                <a:moveTo>
                  <a:pt x="0" y="929"/>
                </a:moveTo>
                <a:lnTo>
                  <a:pt x="0" y="233"/>
                </a:lnTo>
                <a:cubicBezTo>
                  <a:pt x="0" y="218"/>
                  <a:pt x="2" y="202"/>
                  <a:pt x="5" y="187"/>
                </a:cubicBezTo>
                <a:cubicBezTo>
                  <a:pt x="8" y="172"/>
                  <a:pt x="12" y="157"/>
                  <a:pt x="18" y="143"/>
                </a:cubicBezTo>
                <a:cubicBezTo>
                  <a:pt x="24" y="129"/>
                  <a:pt x="31" y="116"/>
                  <a:pt x="40" y="103"/>
                </a:cubicBezTo>
                <a:cubicBezTo>
                  <a:pt x="48" y="90"/>
                  <a:pt x="58" y="79"/>
                  <a:pt x="68" y="68"/>
                </a:cubicBezTo>
                <a:cubicBezTo>
                  <a:pt x="79" y="57"/>
                  <a:pt x="92" y="47"/>
                  <a:pt x="105" y="39"/>
                </a:cubicBezTo>
                <a:cubicBezTo>
                  <a:pt x="117" y="30"/>
                  <a:pt x="131" y="23"/>
                  <a:pt x="145" y="17"/>
                </a:cubicBezTo>
                <a:cubicBezTo>
                  <a:pt x="159" y="12"/>
                  <a:pt x="173" y="7"/>
                  <a:pt x="188" y="4"/>
                </a:cubicBezTo>
                <a:cubicBezTo>
                  <a:pt x="203" y="1"/>
                  <a:pt x="218" y="0"/>
                  <a:pt x="234" y="0"/>
                </a:cubicBezTo>
                <a:lnTo>
                  <a:pt x="930" y="0"/>
                </a:lnTo>
                <a:cubicBezTo>
                  <a:pt x="945" y="0"/>
                  <a:pt x="960" y="1"/>
                  <a:pt x="975" y="4"/>
                </a:cubicBezTo>
                <a:cubicBezTo>
                  <a:pt x="990" y="7"/>
                  <a:pt x="1005" y="12"/>
                  <a:pt x="1019" y="17"/>
                </a:cubicBezTo>
                <a:cubicBezTo>
                  <a:pt x="1033" y="23"/>
                  <a:pt x="1046" y="30"/>
                  <a:pt x="1059" y="39"/>
                </a:cubicBezTo>
                <a:cubicBezTo>
                  <a:pt x="1072" y="47"/>
                  <a:pt x="1083" y="57"/>
                  <a:pt x="1094" y="68"/>
                </a:cubicBezTo>
                <a:cubicBezTo>
                  <a:pt x="1105" y="79"/>
                  <a:pt x="1115" y="90"/>
                  <a:pt x="1123" y="103"/>
                </a:cubicBezTo>
                <a:cubicBezTo>
                  <a:pt x="1131" y="116"/>
                  <a:pt x="1139" y="129"/>
                  <a:pt x="1144" y="143"/>
                </a:cubicBezTo>
                <a:cubicBezTo>
                  <a:pt x="1150" y="157"/>
                  <a:pt x="1155" y="172"/>
                  <a:pt x="1158" y="187"/>
                </a:cubicBezTo>
                <a:cubicBezTo>
                  <a:pt x="1161" y="202"/>
                  <a:pt x="1162" y="218"/>
                  <a:pt x="1162" y="233"/>
                </a:cubicBezTo>
                <a:lnTo>
                  <a:pt x="1162" y="929"/>
                </a:lnTo>
                <a:cubicBezTo>
                  <a:pt x="1162" y="945"/>
                  <a:pt x="1161" y="960"/>
                  <a:pt x="1158" y="975"/>
                </a:cubicBezTo>
                <a:cubicBezTo>
                  <a:pt x="1155" y="990"/>
                  <a:pt x="1150" y="1004"/>
                  <a:pt x="1144" y="1018"/>
                </a:cubicBezTo>
                <a:cubicBezTo>
                  <a:pt x="1139" y="1032"/>
                  <a:pt x="1131" y="1046"/>
                  <a:pt x="1123" y="1058"/>
                </a:cubicBezTo>
                <a:cubicBezTo>
                  <a:pt x="1115" y="1071"/>
                  <a:pt x="1105" y="1083"/>
                  <a:pt x="1094" y="1093"/>
                </a:cubicBezTo>
                <a:cubicBezTo>
                  <a:pt x="1083" y="1104"/>
                  <a:pt x="1072" y="1114"/>
                  <a:pt x="1059" y="1122"/>
                </a:cubicBezTo>
                <a:cubicBezTo>
                  <a:pt x="1046" y="1131"/>
                  <a:pt x="1033" y="1138"/>
                  <a:pt x="1019" y="1144"/>
                </a:cubicBezTo>
                <a:cubicBezTo>
                  <a:pt x="1005" y="1150"/>
                  <a:pt x="990" y="1154"/>
                  <a:pt x="975" y="1157"/>
                </a:cubicBezTo>
                <a:cubicBezTo>
                  <a:pt x="960" y="1160"/>
                  <a:pt x="945" y="1161"/>
                  <a:pt x="930" y="1161"/>
                </a:cubicBezTo>
                <a:lnTo>
                  <a:pt x="234" y="1161"/>
                </a:lnTo>
                <a:cubicBezTo>
                  <a:pt x="218" y="1161"/>
                  <a:pt x="203" y="1160"/>
                  <a:pt x="188" y="1157"/>
                </a:cubicBezTo>
                <a:cubicBezTo>
                  <a:pt x="173" y="1154"/>
                  <a:pt x="159" y="1150"/>
                  <a:pt x="145" y="1144"/>
                </a:cubicBezTo>
                <a:cubicBezTo>
                  <a:pt x="131" y="1138"/>
                  <a:pt x="117" y="1131"/>
                  <a:pt x="105" y="1122"/>
                </a:cubicBezTo>
                <a:cubicBezTo>
                  <a:pt x="92" y="1114"/>
                  <a:pt x="79" y="1104"/>
                  <a:pt x="68" y="1093"/>
                </a:cubicBezTo>
                <a:cubicBezTo>
                  <a:pt x="58" y="1083"/>
                  <a:pt x="48" y="1071"/>
                  <a:pt x="40" y="1058"/>
                </a:cubicBezTo>
                <a:cubicBezTo>
                  <a:pt x="31" y="1046"/>
                  <a:pt x="24" y="1032"/>
                  <a:pt x="18" y="1018"/>
                </a:cubicBezTo>
                <a:cubicBezTo>
                  <a:pt x="12" y="1004"/>
                  <a:pt x="8" y="990"/>
                  <a:pt x="5" y="975"/>
                </a:cubicBezTo>
                <a:cubicBezTo>
                  <a:pt x="2" y="960"/>
                  <a:pt x="0" y="945"/>
                  <a:pt x="0" y="929"/>
                </a:cubicBezTo>
                <a:close/>
              </a:path>
            </a:pathLst>
          </a:custGeom>
          <a:solidFill>
            <a:srgbClr val="1e3a8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81" name="" descr=""/>
          <p:cNvPicPr/>
          <p:nvPr/>
        </p:nvPicPr>
        <p:blipFill>
          <a:blip r:embed="rId8"/>
          <a:stretch/>
        </p:blipFill>
        <p:spPr>
          <a:xfrm>
            <a:off x="5690880" y="2749320"/>
            <a:ext cx="25020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2" name=""/>
          <p:cNvSpPr txBox="1"/>
          <p:nvPr/>
        </p:nvSpPr>
        <p:spPr>
          <a:xfrm>
            <a:off x="1395720" y="3200760"/>
            <a:ext cx="31953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9ca3af"/>
                </a:solidFill>
                <a:effectLst/>
                <a:uFillTx/>
                <a:latin typeface="NotoSansJP"/>
                <a:ea typeface="NotoSansJP"/>
              </a:rPr>
              <a:t> 検証目的：単純な近接ルールに依存するシステムの誤報問題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6158880" y="2669400"/>
            <a:ext cx="172620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60a5fa"/>
                </a:solidFill>
                <a:effectLst/>
                <a:uFillTx/>
                <a:latin typeface="NotoSansJP"/>
                <a:ea typeface="NotoSansJP"/>
              </a:rPr>
              <a:t>シナリオ</a:t>
            </a:r>
            <a:r>
              <a:rPr b="0" lang="en-US" sz="1320" strike="noStrike" u="none">
                <a:solidFill>
                  <a:srgbClr val="60a5fa"/>
                </a:solidFill>
                <a:effectLst/>
                <a:uFillTx/>
                <a:latin typeface="NotoSansJP"/>
                <a:ea typeface="NotoSansJP"/>
              </a:rPr>
              <a:t>D</a:t>
            </a:r>
            <a:r>
              <a:rPr b="0" lang="zh-CN" sz="1320" strike="noStrike" u="none">
                <a:solidFill>
                  <a:srgbClr val="60a5fa"/>
                </a:solidFill>
                <a:effectLst/>
                <a:uFillTx/>
                <a:latin typeface="NotoSansJP"/>
                <a:ea typeface="NotoSansJP"/>
              </a:rPr>
              <a:t>：追跡失敗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84" name="" descr=""/>
          <p:cNvPicPr/>
          <p:nvPr/>
        </p:nvPicPr>
        <p:blipFill>
          <a:blip r:embed="rId9"/>
          <a:stretch/>
        </p:blipFill>
        <p:spPr>
          <a:xfrm>
            <a:off x="6158880" y="3209040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5" name=""/>
          <p:cNvSpPr txBox="1"/>
          <p:nvPr/>
        </p:nvSpPr>
        <p:spPr>
          <a:xfrm>
            <a:off x="6158880" y="2943000"/>
            <a:ext cx="36028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所有者が一時的に障害物の陰に隠れる</a:t>
            </a:r>
            <a:r>
              <a:rPr b="0" lang="en-US" sz="105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/</a:t>
            </a:r>
            <a:r>
              <a:rPr b="0" lang="zh-CN" sz="105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フレームアウトする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547200" y="3676680"/>
            <a:ext cx="9614880" cy="969840"/>
          </a:xfrm>
          <a:custGeom>
            <a:avLst/>
            <a:gdLst/>
            <a:ahLst/>
            <a:rect l="0" t="0" r="r" b="b"/>
            <a:pathLst>
              <a:path w="26708" h="2694">
                <a:moveTo>
                  <a:pt x="0" y="2694"/>
                </a:moveTo>
                <a:lnTo>
                  <a:pt x="0" y="0"/>
                </a:lnTo>
                <a:lnTo>
                  <a:pt x="26615" y="0"/>
                </a:lnTo>
                <a:cubicBezTo>
                  <a:pt x="26627" y="0"/>
                  <a:pt x="26639" y="3"/>
                  <a:pt x="26650" y="7"/>
                </a:cubicBezTo>
                <a:cubicBezTo>
                  <a:pt x="26662" y="12"/>
                  <a:pt x="26672" y="19"/>
                  <a:pt x="26680" y="27"/>
                </a:cubicBezTo>
                <a:cubicBezTo>
                  <a:pt x="26689" y="36"/>
                  <a:pt x="26696" y="46"/>
                  <a:pt x="26701" y="58"/>
                </a:cubicBezTo>
                <a:cubicBezTo>
                  <a:pt x="26705" y="69"/>
                  <a:pt x="26708" y="81"/>
                  <a:pt x="26708" y="93"/>
                </a:cubicBezTo>
                <a:lnTo>
                  <a:pt x="26708" y="2601"/>
                </a:lnTo>
                <a:cubicBezTo>
                  <a:pt x="26708" y="2613"/>
                  <a:pt x="26705" y="2625"/>
                  <a:pt x="26701" y="2637"/>
                </a:cubicBezTo>
                <a:cubicBezTo>
                  <a:pt x="26696" y="2648"/>
                  <a:pt x="26689" y="2658"/>
                  <a:pt x="26680" y="2667"/>
                </a:cubicBezTo>
                <a:cubicBezTo>
                  <a:pt x="26672" y="2675"/>
                  <a:pt x="26662" y="2682"/>
                  <a:pt x="26650" y="2687"/>
                </a:cubicBezTo>
                <a:cubicBezTo>
                  <a:pt x="26639" y="2692"/>
                  <a:pt x="26627" y="2694"/>
                  <a:pt x="26615" y="2694"/>
                </a:cubicBezTo>
                <a:lnTo>
                  <a:pt x="0" y="2694"/>
                </a:ln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534600" y="3676680"/>
            <a:ext cx="25560" cy="969840"/>
          </a:xfrm>
          <a:custGeom>
            <a:avLst/>
            <a:gdLst/>
            <a:ahLst/>
            <a:rect l="0" t="0" r="r" b="b"/>
            <a:pathLst>
              <a:path w="71" h="2694">
                <a:moveTo>
                  <a:pt x="0" y="0"/>
                </a:moveTo>
                <a:lnTo>
                  <a:pt x="71" y="0"/>
                </a:lnTo>
                <a:lnTo>
                  <a:pt x="71" y="2694"/>
                </a:lnTo>
                <a:lnTo>
                  <a:pt x="0" y="269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693360" y="3810600"/>
            <a:ext cx="418320" cy="417960"/>
          </a:xfrm>
          <a:custGeom>
            <a:avLst/>
            <a:gdLst/>
            <a:ahLst/>
            <a:rect l="0" t="0" r="r" b="b"/>
            <a:pathLst>
              <a:path w="1162" h="1161">
                <a:moveTo>
                  <a:pt x="0" y="929"/>
                </a:moveTo>
                <a:lnTo>
                  <a:pt x="0" y="232"/>
                </a:lnTo>
                <a:cubicBezTo>
                  <a:pt x="0" y="217"/>
                  <a:pt x="2" y="201"/>
                  <a:pt x="5" y="186"/>
                </a:cubicBezTo>
                <a:cubicBezTo>
                  <a:pt x="8" y="172"/>
                  <a:pt x="12" y="157"/>
                  <a:pt x="18" y="143"/>
                </a:cubicBezTo>
                <a:cubicBezTo>
                  <a:pt x="24" y="129"/>
                  <a:pt x="31" y="115"/>
                  <a:pt x="39" y="103"/>
                </a:cubicBezTo>
                <a:cubicBezTo>
                  <a:pt x="48" y="90"/>
                  <a:pt x="57" y="78"/>
                  <a:pt x="68" y="68"/>
                </a:cubicBezTo>
                <a:cubicBezTo>
                  <a:pt x="79" y="57"/>
                  <a:pt x="91" y="47"/>
                  <a:pt x="103" y="39"/>
                </a:cubicBezTo>
                <a:cubicBezTo>
                  <a:pt x="116" y="30"/>
                  <a:pt x="129" y="23"/>
                  <a:pt x="143" y="17"/>
                </a:cubicBezTo>
                <a:cubicBezTo>
                  <a:pt x="158" y="11"/>
                  <a:pt x="172" y="7"/>
                  <a:pt x="187" y="4"/>
                </a:cubicBezTo>
                <a:cubicBezTo>
                  <a:pt x="202" y="1"/>
                  <a:pt x="217" y="0"/>
                  <a:pt x="232" y="0"/>
                </a:cubicBezTo>
                <a:lnTo>
                  <a:pt x="929" y="0"/>
                </a:lnTo>
                <a:cubicBezTo>
                  <a:pt x="944" y="0"/>
                  <a:pt x="959" y="1"/>
                  <a:pt x="975" y="4"/>
                </a:cubicBezTo>
                <a:cubicBezTo>
                  <a:pt x="990" y="7"/>
                  <a:pt x="1004" y="11"/>
                  <a:pt x="1019" y="17"/>
                </a:cubicBezTo>
                <a:cubicBezTo>
                  <a:pt x="1033" y="23"/>
                  <a:pt x="1046" y="30"/>
                  <a:pt x="1059" y="39"/>
                </a:cubicBezTo>
                <a:cubicBezTo>
                  <a:pt x="1071" y="47"/>
                  <a:pt x="1083" y="57"/>
                  <a:pt x="1094" y="68"/>
                </a:cubicBezTo>
                <a:cubicBezTo>
                  <a:pt x="1105" y="78"/>
                  <a:pt x="1114" y="90"/>
                  <a:pt x="1123" y="103"/>
                </a:cubicBezTo>
                <a:cubicBezTo>
                  <a:pt x="1131" y="115"/>
                  <a:pt x="1138" y="129"/>
                  <a:pt x="1144" y="143"/>
                </a:cubicBezTo>
                <a:cubicBezTo>
                  <a:pt x="1150" y="157"/>
                  <a:pt x="1154" y="172"/>
                  <a:pt x="1157" y="186"/>
                </a:cubicBezTo>
                <a:cubicBezTo>
                  <a:pt x="1160" y="201"/>
                  <a:pt x="1162" y="217"/>
                  <a:pt x="1162" y="232"/>
                </a:cubicBezTo>
                <a:lnTo>
                  <a:pt x="1162" y="929"/>
                </a:lnTo>
                <a:cubicBezTo>
                  <a:pt x="1162" y="944"/>
                  <a:pt x="1160" y="960"/>
                  <a:pt x="1157" y="974"/>
                </a:cubicBezTo>
                <a:cubicBezTo>
                  <a:pt x="1154" y="989"/>
                  <a:pt x="1150" y="1004"/>
                  <a:pt x="1144" y="1018"/>
                </a:cubicBezTo>
                <a:cubicBezTo>
                  <a:pt x="1138" y="1032"/>
                  <a:pt x="1131" y="1045"/>
                  <a:pt x="1123" y="1058"/>
                </a:cubicBezTo>
                <a:cubicBezTo>
                  <a:pt x="1114" y="1071"/>
                  <a:pt x="1105" y="1083"/>
                  <a:pt x="1094" y="1093"/>
                </a:cubicBezTo>
                <a:cubicBezTo>
                  <a:pt x="1083" y="1104"/>
                  <a:pt x="1071" y="1114"/>
                  <a:pt x="1059" y="1122"/>
                </a:cubicBezTo>
                <a:cubicBezTo>
                  <a:pt x="1046" y="1131"/>
                  <a:pt x="1033" y="1138"/>
                  <a:pt x="1019" y="1144"/>
                </a:cubicBezTo>
                <a:cubicBezTo>
                  <a:pt x="1004" y="1149"/>
                  <a:pt x="990" y="1154"/>
                  <a:pt x="975" y="1157"/>
                </a:cubicBezTo>
                <a:cubicBezTo>
                  <a:pt x="959" y="1160"/>
                  <a:pt x="944" y="1161"/>
                  <a:pt x="929" y="1161"/>
                </a:cubicBezTo>
                <a:lnTo>
                  <a:pt x="232" y="1161"/>
                </a:lnTo>
                <a:cubicBezTo>
                  <a:pt x="217" y="1161"/>
                  <a:pt x="202" y="1160"/>
                  <a:pt x="187" y="1157"/>
                </a:cubicBezTo>
                <a:cubicBezTo>
                  <a:pt x="172" y="1154"/>
                  <a:pt x="158" y="1149"/>
                  <a:pt x="143" y="1144"/>
                </a:cubicBezTo>
                <a:cubicBezTo>
                  <a:pt x="129" y="1138"/>
                  <a:pt x="116" y="1131"/>
                  <a:pt x="103" y="1122"/>
                </a:cubicBezTo>
                <a:cubicBezTo>
                  <a:pt x="91" y="1114"/>
                  <a:pt x="79" y="1104"/>
                  <a:pt x="68" y="1093"/>
                </a:cubicBezTo>
                <a:cubicBezTo>
                  <a:pt x="57" y="1083"/>
                  <a:pt x="48" y="1071"/>
                  <a:pt x="39" y="1058"/>
                </a:cubicBezTo>
                <a:cubicBezTo>
                  <a:pt x="31" y="1045"/>
                  <a:pt x="24" y="1032"/>
                  <a:pt x="18" y="1018"/>
                </a:cubicBezTo>
                <a:cubicBezTo>
                  <a:pt x="12" y="1004"/>
                  <a:pt x="8" y="989"/>
                  <a:pt x="5" y="974"/>
                </a:cubicBezTo>
                <a:cubicBezTo>
                  <a:pt x="2" y="960"/>
                  <a:pt x="0" y="944"/>
                  <a:pt x="0" y="929"/>
                </a:cubicBezTo>
                <a:close/>
              </a:path>
            </a:pathLst>
          </a:custGeom>
          <a:solidFill>
            <a:srgbClr val="7f1d1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89" name="" descr=""/>
          <p:cNvPicPr/>
          <p:nvPr/>
        </p:nvPicPr>
        <p:blipFill>
          <a:blip r:embed="rId10"/>
          <a:stretch/>
        </p:blipFill>
        <p:spPr>
          <a:xfrm>
            <a:off x="819000" y="3919320"/>
            <a:ext cx="1749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0" name=""/>
          <p:cNvSpPr txBox="1"/>
          <p:nvPr/>
        </p:nvSpPr>
        <p:spPr>
          <a:xfrm>
            <a:off x="6309360" y="3200760"/>
            <a:ext cx="25214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9ca3af"/>
                </a:solidFill>
                <a:effectLst/>
                <a:uFillTx/>
                <a:latin typeface="NotoSansJP"/>
                <a:ea typeface="NotoSansJP"/>
              </a:rPr>
              <a:t> 検証目的：</a:t>
            </a:r>
            <a:r>
              <a:rPr b="0" lang="en-US" sz="920" strike="noStrike" u="none">
                <a:solidFill>
                  <a:srgbClr val="9ca3af"/>
                </a:solidFill>
                <a:effectLst/>
                <a:uFillTx/>
                <a:latin typeface="NotoSansJP"/>
                <a:ea typeface="NotoSansJP"/>
              </a:rPr>
              <a:t>Re-ID</a:t>
            </a:r>
            <a:r>
              <a:rPr b="0" lang="zh-CN" sz="920" strike="noStrike" u="none">
                <a:solidFill>
                  <a:srgbClr val="9ca3af"/>
                </a:solidFill>
                <a:effectLst/>
                <a:uFillTx/>
                <a:latin typeface="NotoSansJP"/>
                <a:ea typeface="NotoSansJP"/>
              </a:rPr>
              <a:t>技術による追跡継続性の効果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1245240" y="3839400"/>
            <a:ext cx="136764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f87171"/>
                </a:solidFill>
                <a:effectLst/>
                <a:uFillTx/>
                <a:latin typeface="NotoSansJP"/>
                <a:ea typeface="NotoSansJP"/>
              </a:rPr>
              <a:t>シナリオ</a:t>
            </a:r>
            <a:r>
              <a:rPr b="0" lang="en-US" sz="1320" strike="noStrike" u="none">
                <a:solidFill>
                  <a:srgbClr val="f87171"/>
                </a:solidFill>
                <a:effectLst/>
                <a:uFillTx/>
                <a:latin typeface="NotoSansJP"/>
                <a:ea typeface="NotoSansJP"/>
              </a:rPr>
              <a:t>E</a:t>
            </a:r>
            <a:r>
              <a:rPr b="0" lang="zh-CN" sz="1320" strike="noStrike" u="none">
                <a:solidFill>
                  <a:srgbClr val="f87171"/>
                </a:solidFill>
                <a:effectLst/>
                <a:uFillTx/>
                <a:latin typeface="NotoSansJP"/>
                <a:ea typeface="NotoSansJP"/>
              </a:rPr>
              <a:t>：盗難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92" name="" descr=""/>
          <p:cNvPicPr/>
          <p:nvPr/>
        </p:nvPicPr>
        <p:blipFill>
          <a:blip r:embed="rId11"/>
          <a:stretch/>
        </p:blipFill>
        <p:spPr>
          <a:xfrm>
            <a:off x="1245240" y="4379040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3" name=""/>
          <p:cNvSpPr txBox="1"/>
          <p:nvPr/>
        </p:nvSpPr>
        <p:spPr>
          <a:xfrm>
            <a:off x="1245240" y="4112640"/>
            <a:ext cx="36216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所有者が荷物から離れた隙に、第三者がその荷物を持ち去る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94" name="" descr=""/>
          <p:cNvPicPr/>
          <p:nvPr/>
        </p:nvPicPr>
        <p:blipFill>
          <a:blip r:embed="rId12"/>
          <a:stretch/>
        </p:blipFill>
        <p:spPr>
          <a:xfrm>
            <a:off x="2749320" y="4880160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5" name=""/>
          <p:cNvSpPr txBox="1"/>
          <p:nvPr/>
        </p:nvSpPr>
        <p:spPr>
          <a:xfrm>
            <a:off x="1395720" y="4370760"/>
            <a:ext cx="38995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9ca3af"/>
                </a:solidFill>
                <a:effectLst/>
                <a:uFillTx/>
                <a:latin typeface="NotoSansJP"/>
                <a:ea typeface="NotoSansJP"/>
              </a:rPr>
              <a:t> 検証目的：「放置」と「盗難」という異なる事象を区別して検知できるか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96" name="" descr=""/>
          <p:cNvPicPr/>
          <p:nvPr/>
        </p:nvPicPr>
        <p:blipFill>
          <a:blip r:embed="rId13"/>
          <a:stretch/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7" name="" descr=""/>
          <p:cNvPicPr/>
          <p:nvPr/>
        </p:nvPicPr>
        <p:blipFill>
          <a:blip r:embed="rId14"/>
          <a:stretch/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8" name=""/>
          <p:cNvSpPr txBox="1"/>
          <p:nvPr/>
        </p:nvSpPr>
        <p:spPr>
          <a:xfrm>
            <a:off x="2895480" y="4871880"/>
            <a:ext cx="5073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 これらのシナリオを含む評価用動画データセットを準備し、各システムの性能を厳密に比較評価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10153440" y="5717160"/>
            <a:ext cx="387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9ca3af"/>
                </a:solidFill>
                <a:effectLst/>
                <a:uFillTx/>
                <a:latin typeface="NotoSansJP"/>
                <a:ea typeface="NotoSansJP"/>
              </a:rPr>
              <a:t>8 / 12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1" name=""/>
          <p:cNvSpPr/>
          <p:nvPr/>
        </p:nvSpPr>
        <p:spPr>
          <a:xfrm>
            <a:off x="534600" y="735120"/>
            <a:ext cx="668880" cy="33840"/>
          </a:xfrm>
          <a:custGeom>
            <a:avLst/>
            <a:gdLst/>
            <a:ahLst/>
            <a:rect l="0" t="0" r="r" b="b"/>
            <a:pathLst>
              <a:path w="1858" h="94">
                <a:moveTo>
                  <a:pt x="0" y="0"/>
                </a:moveTo>
                <a:lnTo>
                  <a:pt x="1858" y="0"/>
                </a:lnTo>
                <a:lnTo>
                  <a:pt x="1858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60a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534960" y="356040"/>
            <a:ext cx="3303360" cy="43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37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放置シナリオの詳細分析</a:t>
            </a:r>
            <a:endParaRPr b="0" lang="en-US" sz="2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534600" y="1203120"/>
            <a:ext cx="4546440" cy="4395960"/>
          </a:xfrm>
          <a:custGeom>
            <a:avLst/>
            <a:gdLst/>
            <a:ahLst/>
            <a:rect l="0" t="0" r="r" b="b"/>
            <a:pathLst>
              <a:path w="12629" h="12211">
                <a:moveTo>
                  <a:pt x="0" y="12026"/>
                </a:moveTo>
                <a:lnTo>
                  <a:pt x="0" y="186"/>
                </a:lnTo>
                <a:cubicBezTo>
                  <a:pt x="0" y="174"/>
                  <a:pt x="1" y="162"/>
                  <a:pt x="4" y="150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4"/>
                  <a:pt x="25" y="93"/>
                  <a:pt x="31" y="83"/>
                </a:cubicBezTo>
                <a:cubicBezTo>
                  <a:pt x="38" y="73"/>
                  <a:pt x="46" y="63"/>
                  <a:pt x="55" y="55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lnTo>
                  <a:pt x="12443" y="0"/>
                </a:lnTo>
                <a:cubicBezTo>
                  <a:pt x="12456" y="0"/>
                  <a:pt x="12468" y="1"/>
                  <a:pt x="12480" y="4"/>
                </a:cubicBezTo>
                <a:cubicBezTo>
                  <a:pt x="12492" y="6"/>
                  <a:pt x="12503" y="10"/>
                  <a:pt x="12514" y="14"/>
                </a:cubicBezTo>
                <a:cubicBezTo>
                  <a:pt x="12526" y="19"/>
                  <a:pt x="12536" y="25"/>
                  <a:pt x="12547" y="31"/>
                </a:cubicBezTo>
                <a:cubicBezTo>
                  <a:pt x="12557" y="38"/>
                  <a:pt x="12566" y="46"/>
                  <a:pt x="12575" y="55"/>
                </a:cubicBezTo>
                <a:cubicBezTo>
                  <a:pt x="12583" y="63"/>
                  <a:pt x="12591" y="73"/>
                  <a:pt x="12598" y="83"/>
                </a:cubicBezTo>
                <a:cubicBezTo>
                  <a:pt x="12605" y="93"/>
                  <a:pt x="12610" y="104"/>
                  <a:pt x="12615" y="115"/>
                </a:cubicBezTo>
                <a:cubicBezTo>
                  <a:pt x="12620" y="126"/>
                  <a:pt x="12623" y="138"/>
                  <a:pt x="12625" y="150"/>
                </a:cubicBezTo>
                <a:cubicBezTo>
                  <a:pt x="12628" y="162"/>
                  <a:pt x="12629" y="174"/>
                  <a:pt x="12629" y="186"/>
                </a:cubicBezTo>
                <a:lnTo>
                  <a:pt x="12629" y="12026"/>
                </a:lnTo>
                <a:cubicBezTo>
                  <a:pt x="12629" y="12038"/>
                  <a:pt x="12628" y="12050"/>
                  <a:pt x="12625" y="12062"/>
                </a:cubicBezTo>
                <a:cubicBezTo>
                  <a:pt x="12623" y="12074"/>
                  <a:pt x="12620" y="12085"/>
                  <a:pt x="12615" y="12097"/>
                </a:cubicBezTo>
                <a:cubicBezTo>
                  <a:pt x="12610" y="12108"/>
                  <a:pt x="12605" y="12119"/>
                  <a:pt x="12598" y="12129"/>
                </a:cubicBezTo>
                <a:cubicBezTo>
                  <a:pt x="12591" y="12139"/>
                  <a:pt x="12583" y="12148"/>
                  <a:pt x="12575" y="12157"/>
                </a:cubicBezTo>
                <a:cubicBezTo>
                  <a:pt x="12566" y="12165"/>
                  <a:pt x="12557" y="12173"/>
                  <a:pt x="12547" y="12180"/>
                </a:cubicBezTo>
                <a:cubicBezTo>
                  <a:pt x="12536" y="12187"/>
                  <a:pt x="12526" y="12192"/>
                  <a:pt x="12514" y="12197"/>
                </a:cubicBezTo>
                <a:cubicBezTo>
                  <a:pt x="12503" y="12202"/>
                  <a:pt x="12492" y="12205"/>
                  <a:pt x="12480" y="12208"/>
                </a:cubicBezTo>
                <a:cubicBezTo>
                  <a:pt x="12468" y="12210"/>
                  <a:pt x="12456" y="12211"/>
                  <a:pt x="12443" y="12211"/>
                </a:cubicBezTo>
                <a:lnTo>
                  <a:pt x="186" y="12211"/>
                </a:lnTo>
                <a:cubicBezTo>
                  <a:pt x="174" y="12211"/>
                  <a:pt x="162" y="12210"/>
                  <a:pt x="150" y="12208"/>
                </a:cubicBezTo>
                <a:cubicBezTo>
                  <a:pt x="138" y="12205"/>
                  <a:pt x="126" y="12202"/>
                  <a:pt x="115" y="12197"/>
                </a:cubicBezTo>
                <a:cubicBezTo>
                  <a:pt x="104" y="12192"/>
                  <a:pt x="93" y="12187"/>
                  <a:pt x="83" y="12180"/>
                </a:cubicBezTo>
                <a:cubicBezTo>
                  <a:pt x="73" y="12173"/>
                  <a:pt x="63" y="12165"/>
                  <a:pt x="55" y="12157"/>
                </a:cubicBezTo>
                <a:cubicBezTo>
                  <a:pt x="46" y="12148"/>
                  <a:pt x="38" y="12139"/>
                  <a:pt x="31" y="12129"/>
                </a:cubicBezTo>
                <a:cubicBezTo>
                  <a:pt x="25" y="12119"/>
                  <a:pt x="19" y="12108"/>
                  <a:pt x="14" y="12097"/>
                </a:cubicBezTo>
                <a:cubicBezTo>
                  <a:pt x="10" y="12085"/>
                  <a:pt x="6" y="12074"/>
                  <a:pt x="4" y="12062"/>
                </a:cubicBezTo>
                <a:cubicBezTo>
                  <a:pt x="1" y="12050"/>
                  <a:pt x="0" y="12038"/>
                  <a:pt x="0" y="12026"/>
                </a:cubicBezTo>
                <a:close/>
              </a:path>
            </a:pathLst>
          </a:custGeom>
          <a:solidFill>
            <a:srgbClr val="1a2a57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04" name="" descr=""/>
          <p:cNvPicPr/>
          <p:nvPr/>
        </p:nvPicPr>
        <p:blipFill>
          <a:blip r:embed="rId2"/>
          <a:stretch/>
        </p:blipFill>
        <p:spPr>
          <a:xfrm>
            <a:off x="702000" y="140400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5" name=""/>
          <p:cNvSpPr txBox="1"/>
          <p:nvPr/>
        </p:nvSpPr>
        <p:spPr>
          <a:xfrm>
            <a:off x="534960" y="903960"/>
            <a:ext cx="41817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シナリオ</a:t>
            </a:r>
            <a:r>
              <a:rPr b="0" lang="en-US" sz="105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B</a:t>
            </a:r>
            <a:r>
              <a:rPr b="0" lang="zh-CN" sz="105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：所有者が荷物を置き、フレーム外に立ち去り、戻らない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5615640" y="1203120"/>
            <a:ext cx="4546440" cy="4395960"/>
          </a:xfrm>
          <a:custGeom>
            <a:avLst/>
            <a:gdLst/>
            <a:ahLst/>
            <a:rect l="0" t="0" r="r" b="b"/>
            <a:pathLst>
              <a:path w="12629" h="12211">
                <a:moveTo>
                  <a:pt x="0" y="12026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12443" y="0"/>
                </a:lnTo>
                <a:cubicBezTo>
                  <a:pt x="12455" y="0"/>
                  <a:pt x="12467" y="1"/>
                  <a:pt x="12479" y="4"/>
                </a:cubicBezTo>
                <a:cubicBezTo>
                  <a:pt x="12491" y="6"/>
                  <a:pt x="12503" y="10"/>
                  <a:pt x="12514" y="14"/>
                </a:cubicBezTo>
                <a:cubicBezTo>
                  <a:pt x="12525" y="19"/>
                  <a:pt x="12536" y="25"/>
                  <a:pt x="12546" y="31"/>
                </a:cubicBezTo>
                <a:cubicBezTo>
                  <a:pt x="12556" y="38"/>
                  <a:pt x="12566" y="46"/>
                  <a:pt x="12574" y="55"/>
                </a:cubicBezTo>
                <a:cubicBezTo>
                  <a:pt x="12583" y="63"/>
                  <a:pt x="12590" y="73"/>
                  <a:pt x="12597" y="83"/>
                </a:cubicBezTo>
                <a:cubicBezTo>
                  <a:pt x="12604" y="93"/>
                  <a:pt x="12610" y="104"/>
                  <a:pt x="12614" y="115"/>
                </a:cubicBezTo>
                <a:cubicBezTo>
                  <a:pt x="12619" y="126"/>
                  <a:pt x="12623" y="138"/>
                  <a:pt x="12625" y="150"/>
                </a:cubicBezTo>
                <a:cubicBezTo>
                  <a:pt x="12627" y="162"/>
                  <a:pt x="12629" y="174"/>
                  <a:pt x="12629" y="186"/>
                </a:cubicBezTo>
                <a:lnTo>
                  <a:pt x="12629" y="12026"/>
                </a:lnTo>
                <a:cubicBezTo>
                  <a:pt x="12629" y="12038"/>
                  <a:pt x="12627" y="12050"/>
                  <a:pt x="12625" y="12062"/>
                </a:cubicBezTo>
                <a:cubicBezTo>
                  <a:pt x="12623" y="12074"/>
                  <a:pt x="12619" y="12085"/>
                  <a:pt x="12614" y="12097"/>
                </a:cubicBezTo>
                <a:cubicBezTo>
                  <a:pt x="12610" y="12108"/>
                  <a:pt x="12604" y="12119"/>
                  <a:pt x="12597" y="12129"/>
                </a:cubicBezTo>
                <a:cubicBezTo>
                  <a:pt x="12590" y="12139"/>
                  <a:pt x="12583" y="12148"/>
                  <a:pt x="12574" y="12157"/>
                </a:cubicBezTo>
                <a:cubicBezTo>
                  <a:pt x="12566" y="12165"/>
                  <a:pt x="12556" y="12173"/>
                  <a:pt x="12546" y="12180"/>
                </a:cubicBezTo>
                <a:cubicBezTo>
                  <a:pt x="12536" y="12187"/>
                  <a:pt x="12525" y="12192"/>
                  <a:pt x="12514" y="12197"/>
                </a:cubicBezTo>
                <a:cubicBezTo>
                  <a:pt x="12503" y="12202"/>
                  <a:pt x="12491" y="12205"/>
                  <a:pt x="12479" y="12208"/>
                </a:cubicBezTo>
                <a:cubicBezTo>
                  <a:pt x="12467" y="12210"/>
                  <a:pt x="12455" y="12211"/>
                  <a:pt x="12443" y="12211"/>
                </a:cubicBezTo>
                <a:lnTo>
                  <a:pt x="185" y="12211"/>
                </a:lnTo>
                <a:cubicBezTo>
                  <a:pt x="173" y="12211"/>
                  <a:pt x="161" y="12210"/>
                  <a:pt x="149" y="12208"/>
                </a:cubicBezTo>
                <a:cubicBezTo>
                  <a:pt x="137" y="12205"/>
                  <a:pt x="126" y="12202"/>
                  <a:pt x="114" y="12197"/>
                </a:cubicBezTo>
                <a:cubicBezTo>
                  <a:pt x="103" y="12192"/>
                  <a:pt x="92" y="12187"/>
                  <a:pt x="82" y="12180"/>
                </a:cubicBezTo>
                <a:cubicBezTo>
                  <a:pt x="72" y="12173"/>
                  <a:pt x="63" y="12165"/>
                  <a:pt x="54" y="12157"/>
                </a:cubicBezTo>
                <a:cubicBezTo>
                  <a:pt x="45" y="12148"/>
                  <a:pt x="38" y="12139"/>
                  <a:pt x="31" y="12129"/>
                </a:cubicBezTo>
                <a:cubicBezTo>
                  <a:pt x="24" y="12119"/>
                  <a:pt x="18" y="12108"/>
                  <a:pt x="14" y="12097"/>
                </a:cubicBezTo>
                <a:cubicBezTo>
                  <a:pt x="9" y="12085"/>
                  <a:pt x="6" y="12074"/>
                  <a:pt x="3" y="12062"/>
                </a:cubicBezTo>
                <a:cubicBezTo>
                  <a:pt x="1" y="12050"/>
                  <a:pt x="0" y="12038"/>
                  <a:pt x="0" y="12026"/>
                </a:cubicBezTo>
                <a:close/>
              </a:path>
            </a:pathLst>
          </a:custGeom>
          <a:solidFill>
            <a:srgbClr val="1a2a57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07" name="" descr=""/>
          <p:cNvPicPr/>
          <p:nvPr/>
        </p:nvPicPr>
        <p:blipFill>
          <a:blip r:embed="rId3"/>
          <a:stretch/>
        </p:blipFill>
        <p:spPr>
          <a:xfrm>
            <a:off x="5782680" y="140400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8" name=""/>
          <p:cNvSpPr txBox="1"/>
          <p:nvPr/>
        </p:nvSpPr>
        <p:spPr>
          <a:xfrm>
            <a:off x="1002960" y="1401480"/>
            <a:ext cx="1207800" cy="29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5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既存システム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09" name="" descr=""/>
          <p:cNvPicPr/>
          <p:nvPr/>
        </p:nvPicPr>
        <p:blipFill>
          <a:blip r:embed="rId4"/>
          <a:stretch/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0" name="" descr=""/>
          <p:cNvPicPr/>
          <p:nvPr/>
        </p:nvPicPr>
        <p:blipFill>
          <a:blip r:embed="rId5"/>
          <a:stretch/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1" name=""/>
          <p:cNvSpPr/>
          <p:nvPr/>
        </p:nvSpPr>
        <p:spPr>
          <a:xfrm>
            <a:off x="973440" y="4048560"/>
            <a:ext cx="3936240" cy="1145160"/>
          </a:xfrm>
          <a:custGeom>
            <a:avLst/>
            <a:gdLst/>
            <a:ahLst/>
            <a:rect l="0" t="0" r="r" b="b"/>
            <a:pathLst>
              <a:path w="10934" h="3181">
                <a:moveTo>
                  <a:pt x="0" y="3100"/>
                </a:moveTo>
                <a:lnTo>
                  <a:pt x="0" y="81"/>
                </a:lnTo>
                <a:cubicBezTo>
                  <a:pt x="0" y="71"/>
                  <a:pt x="2" y="60"/>
                  <a:pt x="6" y="50"/>
                </a:cubicBezTo>
                <a:cubicBezTo>
                  <a:pt x="10" y="40"/>
                  <a:pt x="16" y="32"/>
                  <a:pt x="24" y="24"/>
                </a:cubicBezTo>
                <a:cubicBezTo>
                  <a:pt x="31" y="16"/>
                  <a:pt x="40" y="11"/>
                  <a:pt x="50" y="6"/>
                </a:cubicBezTo>
                <a:cubicBezTo>
                  <a:pt x="60" y="2"/>
                  <a:pt x="70" y="0"/>
                  <a:pt x="81" y="0"/>
                </a:cubicBezTo>
                <a:lnTo>
                  <a:pt x="10853" y="0"/>
                </a:lnTo>
                <a:cubicBezTo>
                  <a:pt x="10864" y="0"/>
                  <a:pt x="10874" y="2"/>
                  <a:pt x="10884" y="6"/>
                </a:cubicBezTo>
                <a:cubicBezTo>
                  <a:pt x="10894" y="11"/>
                  <a:pt x="10903" y="16"/>
                  <a:pt x="10910" y="24"/>
                </a:cubicBezTo>
                <a:cubicBezTo>
                  <a:pt x="10918" y="32"/>
                  <a:pt x="10924" y="40"/>
                  <a:pt x="10928" y="50"/>
                </a:cubicBezTo>
                <a:cubicBezTo>
                  <a:pt x="10932" y="60"/>
                  <a:pt x="10934" y="71"/>
                  <a:pt x="10934" y="81"/>
                </a:cubicBezTo>
                <a:lnTo>
                  <a:pt x="10934" y="3100"/>
                </a:lnTo>
                <a:cubicBezTo>
                  <a:pt x="10934" y="3111"/>
                  <a:pt x="10932" y="3121"/>
                  <a:pt x="10928" y="3131"/>
                </a:cubicBezTo>
                <a:cubicBezTo>
                  <a:pt x="10924" y="3141"/>
                  <a:pt x="10918" y="3150"/>
                  <a:pt x="10910" y="3158"/>
                </a:cubicBezTo>
                <a:cubicBezTo>
                  <a:pt x="10903" y="3165"/>
                  <a:pt x="10894" y="3171"/>
                  <a:pt x="10884" y="3175"/>
                </a:cubicBezTo>
                <a:cubicBezTo>
                  <a:pt x="10874" y="3179"/>
                  <a:pt x="10864" y="3181"/>
                  <a:pt x="10853" y="3181"/>
                </a:cubicBezTo>
                <a:lnTo>
                  <a:pt x="81" y="3181"/>
                </a:lnTo>
                <a:cubicBezTo>
                  <a:pt x="70" y="3181"/>
                  <a:pt x="60" y="3179"/>
                  <a:pt x="50" y="3175"/>
                </a:cubicBezTo>
                <a:cubicBezTo>
                  <a:pt x="40" y="3171"/>
                  <a:pt x="31" y="3165"/>
                  <a:pt x="24" y="3158"/>
                </a:cubicBezTo>
                <a:cubicBezTo>
                  <a:pt x="16" y="3150"/>
                  <a:pt x="10" y="3141"/>
                  <a:pt x="6" y="3131"/>
                </a:cubicBezTo>
                <a:cubicBezTo>
                  <a:pt x="2" y="3121"/>
                  <a:pt x="0" y="3111"/>
                  <a:pt x="0" y="3100"/>
                </a:cubicBezTo>
                <a:close/>
              </a:path>
            </a:pathLst>
          </a:custGeom>
          <a:solidFill>
            <a:srgbClr val="d64541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973440" y="4048560"/>
            <a:ext cx="3936240" cy="1145160"/>
          </a:xfrm>
          <a:custGeom>
            <a:avLst/>
            <a:gdLst/>
            <a:ahLst/>
            <a:rect l="0" t="0" r="r" b="b"/>
            <a:pathLst>
              <a:path fill="none" w="10934" h="3181">
                <a:moveTo>
                  <a:pt x="0" y="3100"/>
                </a:moveTo>
                <a:lnTo>
                  <a:pt x="0" y="81"/>
                </a:lnTo>
                <a:cubicBezTo>
                  <a:pt x="0" y="71"/>
                  <a:pt x="2" y="60"/>
                  <a:pt x="6" y="50"/>
                </a:cubicBezTo>
                <a:cubicBezTo>
                  <a:pt x="10" y="40"/>
                  <a:pt x="16" y="32"/>
                  <a:pt x="24" y="24"/>
                </a:cubicBezTo>
                <a:cubicBezTo>
                  <a:pt x="31" y="16"/>
                  <a:pt x="40" y="11"/>
                  <a:pt x="50" y="6"/>
                </a:cubicBezTo>
                <a:cubicBezTo>
                  <a:pt x="60" y="2"/>
                  <a:pt x="70" y="0"/>
                  <a:pt x="81" y="0"/>
                </a:cubicBezTo>
                <a:lnTo>
                  <a:pt x="10853" y="0"/>
                </a:lnTo>
                <a:cubicBezTo>
                  <a:pt x="10864" y="0"/>
                  <a:pt x="10874" y="2"/>
                  <a:pt x="10884" y="6"/>
                </a:cubicBezTo>
                <a:cubicBezTo>
                  <a:pt x="10894" y="11"/>
                  <a:pt x="10903" y="16"/>
                  <a:pt x="10910" y="24"/>
                </a:cubicBezTo>
                <a:cubicBezTo>
                  <a:pt x="10918" y="32"/>
                  <a:pt x="10924" y="40"/>
                  <a:pt x="10928" y="50"/>
                </a:cubicBezTo>
                <a:cubicBezTo>
                  <a:pt x="10932" y="60"/>
                  <a:pt x="10934" y="71"/>
                  <a:pt x="10934" y="81"/>
                </a:cubicBezTo>
                <a:lnTo>
                  <a:pt x="10934" y="3100"/>
                </a:lnTo>
                <a:cubicBezTo>
                  <a:pt x="10934" y="3111"/>
                  <a:pt x="10932" y="3121"/>
                  <a:pt x="10928" y="3131"/>
                </a:cubicBezTo>
                <a:cubicBezTo>
                  <a:pt x="10924" y="3141"/>
                  <a:pt x="10918" y="3150"/>
                  <a:pt x="10910" y="3158"/>
                </a:cubicBezTo>
                <a:cubicBezTo>
                  <a:pt x="10903" y="3165"/>
                  <a:pt x="10894" y="3171"/>
                  <a:pt x="10884" y="3175"/>
                </a:cubicBezTo>
                <a:cubicBezTo>
                  <a:pt x="10874" y="3179"/>
                  <a:pt x="10864" y="3181"/>
                  <a:pt x="10853" y="3181"/>
                </a:cubicBezTo>
                <a:lnTo>
                  <a:pt x="81" y="3181"/>
                </a:lnTo>
                <a:cubicBezTo>
                  <a:pt x="70" y="3181"/>
                  <a:pt x="60" y="3179"/>
                  <a:pt x="50" y="3175"/>
                </a:cubicBezTo>
                <a:cubicBezTo>
                  <a:pt x="40" y="3171"/>
                  <a:pt x="31" y="3165"/>
                  <a:pt x="24" y="3158"/>
                </a:cubicBezTo>
                <a:cubicBezTo>
                  <a:pt x="16" y="3150"/>
                  <a:pt x="10" y="3141"/>
                  <a:pt x="6" y="3131"/>
                </a:cubicBezTo>
                <a:cubicBezTo>
                  <a:pt x="2" y="3121"/>
                  <a:pt x="0" y="3111"/>
                  <a:pt x="0" y="3100"/>
                </a:cubicBezTo>
              </a:path>
            </a:pathLst>
          </a:custGeom>
          <a:ln w="8280">
            <a:solidFill>
              <a:srgbClr val="d64541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13" name="" descr=""/>
          <p:cNvPicPr/>
          <p:nvPr/>
        </p:nvPicPr>
        <p:blipFill>
          <a:blip r:embed="rId6"/>
          <a:stretch/>
        </p:blipFill>
        <p:spPr>
          <a:xfrm>
            <a:off x="1077840" y="415332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4" name=""/>
          <p:cNvSpPr txBox="1"/>
          <p:nvPr/>
        </p:nvSpPr>
        <p:spPr>
          <a:xfrm>
            <a:off x="6083640" y="1401480"/>
            <a:ext cx="1207800" cy="29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5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提案システム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1278720" y="4154400"/>
            <a:ext cx="4870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ffb6b3"/>
                </a:solidFill>
                <a:effectLst/>
                <a:uFillTx/>
                <a:latin typeface="NotoSansJP"/>
                <a:ea typeface="NotoSansJP"/>
              </a:rPr>
              <a:t>問題点</a:t>
            </a:r>
            <a:r>
              <a:rPr b="0" lang="en-US" sz="1050" strike="noStrike" u="none">
                <a:solidFill>
                  <a:srgbClr val="ffb6b3"/>
                </a:solidFill>
                <a:effectLst/>
                <a:uFillTx/>
                <a:latin typeface="NotoSansJP"/>
                <a:ea typeface="NotoSansJP"/>
              </a:rPr>
              <a:t>: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1278720" y="4421880"/>
            <a:ext cx="22806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ffb6b3"/>
                </a:solidFill>
                <a:effectLst/>
                <a:uFillTx/>
                <a:latin typeface="NotoSansJP"/>
                <a:ea typeface="NotoSansJP"/>
              </a:rPr>
              <a:t>所有者が一時的に離れただけでも誤報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1278720" y="4689360"/>
            <a:ext cx="26830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ffb6b3"/>
                </a:solidFill>
                <a:effectLst/>
                <a:uFillTx/>
                <a:latin typeface="NotoSansJP"/>
                <a:ea typeface="NotoSansJP"/>
              </a:rPr>
              <a:t>荷物の状態変化（盗難など）を検知できない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701640" y="1771560"/>
            <a:ext cx="9000" cy="3292920"/>
          </a:xfrm>
          <a:custGeom>
            <a:avLst/>
            <a:gdLst/>
            <a:ahLst/>
            <a:rect l="0" t="0" r="r" b="b"/>
            <a:pathLst>
              <a:path w="25" h="9147">
                <a:moveTo>
                  <a:pt x="0" y="0"/>
                </a:moveTo>
                <a:lnTo>
                  <a:pt x="25" y="0"/>
                </a:lnTo>
                <a:lnTo>
                  <a:pt x="25" y="9147"/>
                </a:lnTo>
                <a:lnTo>
                  <a:pt x="0" y="9147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969120" y="1771560"/>
            <a:ext cx="3944880" cy="434880"/>
          </a:xfrm>
          <a:custGeom>
            <a:avLst/>
            <a:gdLst/>
            <a:ahLst/>
            <a:rect l="0" t="0" r="r" b="b"/>
            <a:pathLst>
              <a:path w="10958" h="1208">
                <a:moveTo>
                  <a:pt x="0" y="0"/>
                </a:moveTo>
                <a:lnTo>
                  <a:pt x="10958" y="0"/>
                </a:lnTo>
                <a:lnTo>
                  <a:pt x="10958" y="1208"/>
                </a:lnTo>
                <a:lnTo>
                  <a:pt x="0" y="1208"/>
                </a:lnTo>
                <a:lnTo>
                  <a:pt x="0" y="0"/>
                </a:lnTo>
                <a:close/>
              </a:path>
            </a:pathLst>
          </a:custGeom>
          <a:solidFill>
            <a:srgbClr val="4a90e2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969120" y="1771560"/>
            <a:ext cx="25560" cy="434880"/>
          </a:xfrm>
          <a:custGeom>
            <a:avLst/>
            <a:gdLst/>
            <a:ahLst/>
            <a:rect l="0" t="0" r="r" b="b"/>
            <a:pathLst>
              <a:path w="71" h="1208">
                <a:moveTo>
                  <a:pt x="0" y="0"/>
                </a:moveTo>
                <a:lnTo>
                  <a:pt x="71" y="0"/>
                </a:lnTo>
                <a:lnTo>
                  <a:pt x="71" y="1208"/>
                </a:lnTo>
                <a:lnTo>
                  <a:pt x="0" y="1208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21" name="" descr=""/>
          <p:cNvPicPr/>
          <p:nvPr/>
        </p:nvPicPr>
        <p:blipFill>
          <a:blip r:embed="rId7"/>
          <a:stretch/>
        </p:blipFill>
        <p:spPr>
          <a:xfrm>
            <a:off x="1094760" y="1905480"/>
            <a:ext cx="1666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2" name=""/>
          <p:cNvSpPr txBox="1"/>
          <p:nvPr/>
        </p:nvSpPr>
        <p:spPr>
          <a:xfrm>
            <a:off x="1278720" y="4956840"/>
            <a:ext cx="25488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ffb6b3"/>
                </a:solidFill>
                <a:effectLst/>
                <a:uFillTx/>
                <a:latin typeface="NotoSansJP"/>
                <a:ea typeface="NotoSansJP"/>
              </a:rPr>
              <a:t>第三者が近づくと所有者と誤認する可能性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944280" y="1938600"/>
            <a:ext cx="100440" cy="100440"/>
          </a:xfrm>
          <a:custGeom>
            <a:avLst/>
            <a:gdLst/>
            <a:ahLst/>
            <a:rect l="0" t="0" r="r" b="b"/>
            <a:pathLst>
              <a:path w="279" h="279">
                <a:moveTo>
                  <a:pt x="279" y="140"/>
                </a:moveTo>
                <a:cubicBezTo>
                  <a:pt x="279" y="159"/>
                  <a:pt x="276" y="176"/>
                  <a:pt x="269" y="194"/>
                </a:cubicBezTo>
                <a:cubicBezTo>
                  <a:pt x="261" y="211"/>
                  <a:pt x="251" y="226"/>
                  <a:pt x="238" y="239"/>
                </a:cubicBezTo>
                <a:cubicBezTo>
                  <a:pt x="225" y="252"/>
                  <a:pt x="210" y="262"/>
                  <a:pt x="193" y="269"/>
                </a:cubicBezTo>
                <a:cubicBezTo>
                  <a:pt x="176" y="276"/>
                  <a:pt x="158" y="279"/>
                  <a:pt x="140" y="279"/>
                </a:cubicBezTo>
                <a:cubicBezTo>
                  <a:pt x="121" y="279"/>
                  <a:pt x="104" y="276"/>
                  <a:pt x="87" y="269"/>
                </a:cubicBezTo>
                <a:cubicBezTo>
                  <a:pt x="69" y="262"/>
                  <a:pt x="54" y="252"/>
                  <a:pt x="41" y="239"/>
                </a:cubicBezTo>
                <a:cubicBezTo>
                  <a:pt x="28" y="226"/>
                  <a:pt x="17" y="211"/>
                  <a:pt x="10" y="194"/>
                </a:cubicBezTo>
                <a:cubicBezTo>
                  <a:pt x="3" y="176"/>
                  <a:pt x="0" y="159"/>
                  <a:pt x="0" y="140"/>
                </a:cubicBezTo>
                <a:cubicBezTo>
                  <a:pt x="0" y="122"/>
                  <a:pt x="3" y="104"/>
                  <a:pt x="10" y="87"/>
                </a:cubicBezTo>
                <a:cubicBezTo>
                  <a:pt x="17" y="70"/>
                  <a:pt x="28" y="55"/>
                  <a:pt x="41" y="42"/>
                </a:cubicBezTo>
                <a:cubicBezTo>
                  <a:pt x="54" y="28"/>
                  <a:pt x="69" y="18"/>
                  <a:pt x="87" y="11"/>
                </a:cubicBezTo>
                <a:cubicBezTo>
                  <a:pt x="104" y="3"/>
                  <a:pt x="121" y="0"/>
                  <a:pt x="140" y="0"/>
                </a:cubicBezTo>
                <a:cubicBezTo>
                  <a:pt x="158" y="0"/>
                  <a:pt x="176" y="3"/>
                  <a:pt x="193" y="11"/>
                </a:cubicBezTo>
                <a:cubicBezTo>
                  <a:pt x="210" y="18"/>
                  <a:pt x="225" y="28"/>
                  <a:pt x="238" y="42"/>
                </a:cubicBezTo>
                <a:cubicBezTo>
                  <a:pt x="251" y="55"/>
                  <a:pt x="261" y="70"/>
                  <a:pt x="269" y="87"/>
                </a:cubicBezTo>
                <a:cubicBezTo>
                  <a:pt x="276" y="104"/>
                  <a:pt x="279" y="122"/>
                  <a:pt x="279" y="140"/>
                </a:cubicBez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969120" y="2339640"/>
            <a:ext cx="3944880" cy="434880"/>
          </a:xfrm>
          <a:custGeom>
            <a:avLst/>
            <a:gdLst/>
            <a:ahLst/>
            <a:rect l="0" t="0" r="r" b="b"/>
            <a:pathLst>
              <a:path w="10958" h="1208">
                <a:moveTo>
                  <a:pt x="0" y="0"/>
                </a:moveTo>
                <a:lnTo>
                  <a:pt x="10958" y="0"/>
                </a:lnTo>
                <a:lnTo>
                  <a:pt x="10958" y="1208"/>
                </a:lnTo>
                <a:lnTo>
                  <a:pt x="0" y="1208"/>
                </a:lnTo>
                <a:lnTo>
                  <a:pt x="0" y="0"/>
                </a:lnTo>
                <a:close/>
              </a:path>
            </a:pathLst>
          </a:custGeom>
          <a:solidFill>
            <a:srgbClr val="4a90e2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969120" y="2339640"/>
            <a:ext cx="25560" cy="434880"/>
          </a:xfrm>
          <a:custGeom>
            <a:avLst/>
            <a:gdLst/>
            <a:ahLst/>
            <a:rect l="0" t="0" r="r" b="b"/>
            <a:pathLst>
              <a:path w="71" h="1208">
                <a:moveTo>
                  <a:pt x="0" y="0"/>
                </a:moveTo>
                <a:lnTo>
                  <a:pt x="71" y="0"/>
                </a:lnTo>
                <a:lnTo>
                  <a:pt x="71" y="1208"/>
                </a:lnTo>
                <a:lnTo>
                  <a:pt x="0" y="1208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26" name="" descr=""/>
          <p:cNvPicPr/>
          <p:nvPr/>
        </p:nvPicPr>
        <p:blipFill>
          <a:blip r:embed="rId8"/>
          <a:stretch/>
        </p:blipFill>
        <p:spPr>
          <a:xfrm>
            <a:off x="1094760" y="2473560"/>
            <a:ext cx="1666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7" name=""/>
          <p:cNvSpPr txBox="1"/>
          <p:nvPr/>
        </p:nvSpPr>
        <p:spPr>
          <a:xfrm>
            <a:off x="1328760" y="1916280"/>
            <a:ext cx="28674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荷物と所有者を単純な近接ルールで紐付け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944280" y="2506680"/>
            <a:ext cx="100440" cy="100800"/>
          </a:xfrm>
          <a:custGeom>
            <a:avLst/>
            <a:gdLst/>
            <a:ahLst/>
            <a:rect l="0" t="0" r="r" b="b"/>
            <a:pathLst>
              <a:path w="279" h="280">
                <a:moveTo>
                  <a:pt x="279" y="141"/>
                </a:moveTo>
                <a:cubicBezTo>
                  <a:pt x="279" y="159"/>
                  <a:pt x="276" y="177"/>
                  <a:pt x="269" y="194"/>
                </a:cubicBezTo>
                <a:cubicBezTo>
                  <a:pt x="261" y="211"/>
                  <a:pt x="251" y="226"/>
                  <a:pt x="238" y="239"/>
                </a:cubicBezTo>
                <a:cubicBezTo>
                  <a:pt x="225" y="252"/>
                  <a:pt x="210" y="262"/>
                  <a:pt x="193" y="269"/>
                </a:cubicBezTo>
                <a:cubicBezTo>
                  <a:pt x="176" y="276"/>
                  <a:pt x="158" y="280"/>
                  <a:pt x="140" y="280"/>
                </a:cubicBezTo>
                <a:cubicBezTo>
                  <a:pt x="121" y="280"/>
                  <a:pt x="104" y="276"/>
                  <a:pt x="87" y="269"/>
                </a:cubicBezTo>
                <a:cubicBezTo>
                  <a:pt x="69" y="262"/>
                  <a:pt x="54" y="252"/>
                  <a:pt x="41" y="239"/>
                </a:cubicBezTo>
                <a:cubicBezTo>
                  <a:pt x="28" y="226"/>
                  <a:pt x="17" y="211"/>
                  <a:pt x="10" y="194"/>
                </a:cubicBezTo>
                <a:cubicBezTo>
                  <a:pt x="3" y="177"/>
                  <a:pt x="0" y="159"/>
                  <a:pt x="0" y="141"/>
                </a:cubicBezTo>
                <a:cubicBezTo>
                  <a:pt x="0" y="121"/>
                  <a:pt x="3" y="103"/>
                  <a:pt x="10" y="86"/>
                </a:cubicBezTo>
                <a:cubicBezTo>
                  <a:pt x="17" y="69"/>
                  <a:pt x="28" y="54"/>
                  <a:pt x="41" y="41"/>
                </a:cubicBezTo>
                <a:cubicBezTo>
                  <a:pt x="54" y="28"/>
                  <a:pt x="69" y="18"/>
                  <a:pt x="87" y="11"/>
                </a:cubicBezTo>
                <a:cubicBezTo>
                  <a:pt x="104" y="4"/>
                  <a:pt x="121" y="0"/>
                  <a:pt x="140" y="0"/>
                </a:cubicBezTo>
                <a:cubicBezTo>
                  <a:pt x="158" y="0"/>
                  <a:pt x="176" y="4"/>
                  <a:pt x="193" y="11"/>
                </a:cubicBezTo>
                <a:cubicBezTo>
                  <a:pt x="210" y="18"/>
                  <a:pt x="225" y="28"/>
                  <a:pt x="238" y="41"/>
                </a:cubicBezTo>
                <a:cubicBezTo>
                  <a:pt x="251" y="54"/>
                  <a:pt x="261" y="69"/>
                  <a:pt x="269" y="86"/>
                </a:cubicBezTo>
                <a:cubicBezTo>
                  <a:pt x="276" y="103"/>
                  <a:pt x="279" y="121"/>
                  <a:pt x="279" y="141"/>
                </a:cubicBez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969120" y="2908080"/>
            <a:ext cx="3944880" cy="434880"/>
          </a:xfrm>
          <a:custGeom>
            <a:avLst/>
            <a:gdLst/>
            <a:ahLst/>
            <a:rect l="0" t="0" r="r" b="b"/>
            <a:pathLst>
              <a:path w="10958" h="1208">
                <a:moveTo>
                  <a:pt x="0" y="0"/>
                </a:moveTo>
                <a:lnTo>
                  <a:pt x="10958" y="0"/>
                </a:lnTo>
                <a:lnTo>
                  <a:pt x="10958" y="1208"/>
                </a:lnTo>
                <a:lnTo>
                  <a:pt x="0" y="1208"/>
                </a:lnTo>
                <a:lnTo>
                  <a:pt x="0" y="0"/>
                </a:lnTo>
                <a:close/>
              </a:path>
            </a:pathLst>
          </a:custGeom>
          <a:solidFill>
            <a:srgbClr val="4a90e2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969120" y="2908080"/>
            <a:ext cx="25560" cy="434880"/>
          </a:xfrm>
          <a:custGeom>
            <a:avLst/>
            <a:gdLst/>
            <a:ahLst/>
            <a:rect l="0" t="0" r="r" b="b"/>
            <a:pathLst>
              <a:path w="71" h="1208">
                <a:moveTo>
                  <a:pt x="0" y="0"/>
                </a:moveTo>
                <a:lnTo>
                  <a:pt x="71" y="0"/>
                </a:lnTo>
                <a:lnTo>
                  <a:pt x="71" y="1208"/>
                </a:lnTo>
                <a:lnTo>
                  <a:pt x="0" y="1208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31" name="" descr=""/>
          <p:cNvPicPr/>
          <p:nvPr/>
        </p:nvPicPr>
        <p:blipFill>
          <a:blip r:embed="rId9"/>
          <a:stretch/>
        </p:blipFill>
        <p:spPr>
          <a:xfrm>
            <a:off x="1094760" y="3042000"/>
            <a:ext cx="1000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2" name=""/>
          <p:cNvSpPr txBox="1"/>
          <p:nvPr/>
        </p:nvSpPr>
        <p:spPr>
          <a:xfrm>
            <a:off x="1328760" y="2484360"/>
            <a:ext cx="28674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所有者がフレームを出ると</a:t>
            </a:r>
            <a:r>
              <a:rPr b="0" lang="zh-CN" sz="1180" strike="noStrike" u="none">
                <a:solidFill>
                  <a:srgbClr val="fca5a5"/>
                </a:solidFill>
                <a:effectLst/>
                <a:uFillTx/>
                <a:latin typeface="NotoSansJP"/>
                <a:ea typeface="NotoSansJP"/>
              </a:rPr>
              <a:t>追跡が途切れる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944280" y="3075120"/>
            <a:ext cx="100440" cy="100440"/>
          </a:xfrm>
          <a:custGeom>
            <a:avLst/>
            <a:gdLst/>
            <a:ahLst/>
            <a:rect l="0" t="0" r="r" b="b"/>
            <a:pathLst>
              <a:path w="279" h="279">
                <a:moveTo>
                  <a:pt x="279" y="139"/>
                </a:moveTo>
                <a:cubicBezTo>
                  <a:pt x="279" y="158"/>
                  <a:pt x="276" y="175"/>
                  <a:pt x="269" y="192"/>
                </a:cubicBezTo>
                <a:cubicBezTo>
                  <a:pt x="261" y="210"/>
                  <a:pt x="251" y="226"/>
                  <a:pt x="238" y="239"/>
                </a:cubicBezTo>
                <a:cubicBezTo>
                  <a:pt x="225" y="252"/>
                  <a:pt x="210" y="262"/>
                  <a:pt x="193" y="269"/>
                </a:cubicBezTo>
                <a:cubicBezTo>
                  <a:pt x="176" y="276"/>
                  <a:pt x="158" y="279"/>
                  <a:pt x="140" y="279"/>
                </a:cubicBezTo>
                <a:cubicBezTo>
                  <a:pt x="121" y="279"/>
                  <a:pt x="104" y="276"/>
                  <a:pt x="87" y="269"/>
                </a:cubicBezTo>
                <a:cubicBezTo>
                  <a:pt x="69" y="262"/>
                  <a:pt x="54" y="252"/>
                  <a:pt x="41" y="239"/>
                </a:cubicBezTo>
                <a:cubicBezTo>
                  <a:pt x="28" y="226"/>
                  <a:pt x="17" y="210"/>
                  <a:pt x="10" y="192"/>
                </a:cubicBezTo>
                <a:cubicBezTo>
                  <a:pt x="3" y="175"/>
                  <a:pt x="0" y="158"/>
                  <a:pt x="0" y="139"/>
                </a:cubicBezTo>
                <a:cubicBezTo>
                  <a:pt x="0" y="121"/>
                  <a:pt x="3" y="103"/>
                  <a:pt x="10" y="86"/>
                </a:cubicBezTo>
                <a:cubicBezTo>
                  <a:pt x="17" y="69"/>
                  <a:pt x="28" y="54"/>
                  <a:pt x="41" y="41"/>
                </a:cubicBezTo>
                <a:cubicBezTo>
                  <a:pt x="54" y="28"/>
                  <a:pt x="69" y="18"/>
                  <a:pt x="87" y="11"/>
                </a:cubicBezTo>
                <a:cubicBezTo>
                  <a:pt x="104" y="3"/>
                  <a:pt x="121" y="0"/>
                  <a:pt x="140" y="0"/>
                </a:cubicBezTo>
                <a:cubicBezTo>
                  <a:pt x="158" y="0"/>
                  <a:pt x="176" y="3"/>
                  <a:pt x="193" y="11"/>
                </a:cubicBezTo>
                <a:cubicBezTo>
                  <a:pt x="210" y="18"/>
                  <a:pt x="225" y="28"/>
                  <a:pt x="238" y="41"/>
                </a:cubicBezTo>
                <a:cubicBezTo>
                  <a:pt x="251" y="54"/>
                  <a:pt x="261" y="69"/>
                  <a:pt x="269" y="86"/>
                </a:cubicBezTo>
                <a:cubicBezTo>
                  <a:pt x="276" y="103"/>
                  <a:pt x="279" y="121"/>
                  <a:pt x="279" y="139"/>
                </a:cubicBez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969120" y="3476160"/>
            <a:ext cx="3944880" cy="434880"/>
          </a:xfrm>
          <a:custGeom>
            <a:avLst/>
            <a:gdLst/>
            <a:ahLst/>
            <a:rect l="0" t="0" r="r" b="b"/>
            <a:pathLst>
              <a:path w="10958" h="1208">
                <a:moveTo>
                  <a:pt x="0" y="0"/>
                </a:moveTo>
                <a:lnTo>
                  <a:pt x="10958" y="0"/>
                </a:lnTo>
                <a:lnTo>
                  <a:pt x="10958" y="1208"/>
                </a:lnTo>
                <a:lnTo>
                  <a:pt x="0" y="1208"/>
                </a:lnTo>
                <a:lnTo>
                  <a:pt x="0" y="0"/>
                </a:lnTo>
                <a:close/>
              </a:path>
            </a:pathLst>
          </a:custGeom>
          <a:solidFill>
            <a:srgbClr val="4a90e2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969120" y="3476160"/>
            <a:ext cx="25560" cy="434880"/>
          </a:xfrm>
          <a:custGeom>
            <a:avLst/>
            <a:gdLst/>
            <a:ahLst/>
            <a:rect l="0" t="0" r="r" b="b"/>
            <a:pathLst>
              <a:path w="71" h="1208">
                <a:moveTo>
                  <a:pt x="0" y="0"/>
                </a:moveTo>
                <a:lnTo>
                  <a:pt x="71" y="0"/>
                </a:lnTo>
                <a:lnTo>
                  <a:pt x="71" y="1208"/>
                </a:lnTo>
                <a:lnTo>
                  <a:pt x="0" y="1208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36" name="" descr=""/>
          <p:cNvPicPr/>
          <p:nvPr/>
        </p:nvPicPr>
        <p:blipFill>
          <a:blip r:embed="rId10"/>
          <a:stretch/>
        </p:blipFill>
        <p:spPr>
          <a:xfrm>
            <a:off x="1094760" y="361008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7" name=""/>
          <p:cNvSpPr txBox="1"/>
          <p:nvPr/>
        </p:nvSpPr>
        <p:spPr>
          <a:xfrm>
            <a:off x="1261800" y="3052800"/>
            <a:ext cx="21128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単純な時間経過のみで放置判定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944280" y="3643200"/>
            <a:ext cx="100440" cy="100800"/>
          </a:xfrm>
          <a:custGeom>
            <a:avLst/>
            <a:gdLst/>
            <a:ahLst/>
            <a:rect l="0" t="0" r="r" b="b"/>
            <a:pathLst>
              <a:path w="279" h="280">
                <a:moveTo>
                  <a:pt x="279" y="141"/>
                </a:moveTo>
                <a:cubicBezTo>
                  <a:pt x="279" y="159"/>
                  <a:pt x="276" y="177"/>
                  <a:pt x="269" y="194"/>
                </a:cubicBezTo>
                <a:cubicBezTo>
                  <a:pt x="261" y="211"/>
                  <a:pt x="251" y="226"/>
                  <a:pt x="238" y="239"/>
                </a:cubicBezTo>
                <a:cubicBezTo>
                  <a:pt x="225" y="252"/>
                  <a:pt x="210" y="262"/>
                  <a:pt x="193" y="269"/>
                </a:cubicBezTo>
                <a:cubicBezTo>
                  <a:pt x="176" y="276"/>
                  <a:pt x="158" y="280"/>
                  <a:pt x="140" y="280"/>
                </a:cubicBezTo>
                <a:cubicBezTo>
                  <a:pt x="121" y="280"/>
                  <a:pt x="104" y="276"/>
                  <a:pt x="87" y="269"/>
                </a:cubicBezTo>
                <a:cubicBezTo>
                  <a:pt x="69" y="262"/>
                  <a:pt x="54" y="252"/>
                  <a:pt x="41" y="239"/>
                </a:cubicBezTo>
                <a:cubicBezTo>
                  <a:pt x="28" y="226"/>
                  <a:pt x="17" y="211"/>
                  <a:pt x="10" y="194"/>
                </a:cubicBezTo>
                <a:cubicBezTo>
                  <a:pt x="3" y="177"/>
                  <a:pt x="0" y="159"/>
                  <a:pt x="0" y="141"/>
                </a:cubicBezTo>
                <a:cubicBezTo>
                  <a:pt x="0" y="122"/>
                  <a:pt x="3" y="104"/>
                  <a:pt x="10" y="87"/>
                </a:cubicBezTo>
                <a:cubicBezTo>
                  <a:pt x="17" y="70"/>
                  <a:pt x="28" y="55"/>
                  <a:pt x="41" y="42"/>
                </a:cubicBezTo>
                <a:cubicBezTo>
                  <a:pt x="54" y="29"/>
                  <a:pt x="69" y="18"/>
                  <a:pt x="87" y="11"/>
                </a:cubicBezTo>
                <a:cubicBezTo>
                  <a:pt x="104" y="4"/>
                  <a:pt x="121" y="0"/>
                  <a:pt x="140" y="0"/>
                </a:cubicBezTo>
                <a:cubicBezTo>
                  <a:pt x="158" y="0"/>
                  <a:pt x="176" y="4"/>
                  <a:pt x="193" y="11"/>
                </a:cubicBezTo>
                <a:cubicBezTo>
                  <a:pt x="210" y="18"/>
                  <a:pt x="225" y="29"/>
                  <a:pt x="238" y="42"/>
                </a:cubicBezTo>
                <a:cubicBezTo>
                  <a:pt x="251" y="55"/>
                  <a:pt x="261" y="70"/>
                  <a:pt x="269" y="87"/>
                </a:cubicBezTo>
                <a:cubicBezTo>
                  <a:pt x="276" y="104"/>
                  <a:pt x="279" y="122"/>
                  <a:pt x="279" y="141"/>
                </a:cubicBez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6054120" y="4282560"/>
            <a:ext cx="3936600" cy="1145160"/>
          </a:xfrm>
          <a:custGeom>
            <a:avLst/>
            <a:gdLst/>
            <a:ahLst/>
            <a:rect l="0" t="0" r="r" b="b"/>
            <a:pathLst>
              <a:path w="10935" h="3181">
                <a:moveTo>
                  <a:pt x="0" y="3100"/>
                </a:moveTo>
                <a:lnTo>
                  <a:pt x="0" y="81"/>
                </a:lnTo>
                <a:cubicBezTo>
                  <a:pt x="0" y="71"/>
                  <a:pt x="2" y="60"/>
                  <a:pt x="7" y="50"/>
                </a:cubicBezTo>
                <a:cubicBezTo>
                  <a:pt x="11" y="40"/>
                  <a:pt x="17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0" y="2"/>
                  <a:pt x="71" y="0"/>
                  <a:pt x="82" y="0"/>
                </a:cubicBezTo>
                <a:lnTo>
                  <a:pt x="10853" y="0"/>
                </a:lnTo>
                <a:cubicBezTo>
                  <a:pt x="10864" y="0"/>
                  <a:pt x="10875" y="2"/>
                  <a:pt x="10885" y="6"/>
                </a:cubicBezTo>
                <a:cubicBezTo>
                  <a:pt x="10895" y="10"/>
                  <a:pt x="10903" y="16"/>
                  <a:pt x="10911" y="24"/>
                </a:cubicBezTo>
                <a:cubicBezTo>
                  <a:pt x="10919" y="32"/>
                  <a:pt x="10924" y="40"/>
                  <a:pt x="10929" y="50"/>
                </a:cubicBezTo>
                <a:cubicBezTo>
                  <a:pt x="10933" y="60"/>
                  <a:pt x="10935" y="71"/>
                  <a:pt x="10935" y="81"/>
                </a:cubicBezTo>
                <a:lnTo>
                  <a:pt x="10935" y="3100"/>
                </a:lnTo>
                <a:cubicBezTo>
                  <a:pt x="10935" y="3111"/>
                  <a:pt x="10933" y="3121"/>
                  <a:pt x="10929" y="3131"/>
                </a:cubicBezTo>
                <a:cubicBezTo>
                  <a:pt x="10924" y="3141"/>
                  <a:pt x="10919" y="3150"/>
                  <a:pt x="10911" y="3158"/>
                </a:cubicBezTo>
                <a:cubicBezTo>
                  <a:pt x="10903" y="3165"/>
                  <a:pt x="10895" y="3171"/>
                  <a:pt x="10885" y="3175"/>
                </a:cubicBezTo>
                <a:cubicBezTo>
                  <a:pt x="10875" y="3179"/>
                  <a:pt x="10864" y="3181"/>
                  <a:pt x="10853" y="3181"/>
                </a:cubicBezTo>
                <a:lnTo>
                  <a:pt x="82" y="3181"/>
                </a:lnTo>
                <a:cubicBezTo>
                  <a:pt x="71" y="3181"/>
                  <a:pt x="60" y="3179"/>
                  <a:pt x="51" y="3175"/>
                </a:cubicBezTo>
                <a:cubicBezTo>
                  <a:pt x="41" y="3171"/>
                  <a:pt x="32" y="3165"/>
                  <a:pt x="24" y="3158"/>
                </a:cubicBezTo>
                <a:cubicBezTo>
                  <a:pt x="17" y="3150"/>
                  <a:pt x="11" y="3141"/>
                  <a:pt x="7" y="3131"/>
                </a:cubicBezTo>
                <a:cubicBezTo>
                  <a:pt x="2" y="3121"/>
                  <a:pt x="0" y="3111"/>
                  <a:pt x="0" y="3100"/>
                </a:cubicBezTo>
                <a:close/>
              </a:path>
            </a:pathLst>
          </a:custGeom>
          <a:solidFill>
            <a:srgbClr val="2ecc71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6054120" y="4282560"/>
            <a:ext cx="3936600" cy="1145160"/>
          </a:xfrm>
          <a:custGeom>
            <a:avLst/>
            <a:gdLst/>
            <a:ahLst/>
            <a:rect l="0" t="0" r="r" b="b"/>
            <a:pathLst>
              <a:path fill="none" w="10935" h="3181">
                <a:moveTo>
                  <a:pt x="0" y="3100"/>
                </a:moveTo>
                <a:lnTo>
                  <a:pt x="0" y="81"/>
                </a:lnTo>
                <a:cubicBezTo>
                  <a:pt x="0" y="71"/>
                  <a:pt x="2" y="60"/>
                  <a:pt x="7" y="50"/>
                </a:cubicBezTo>
                <a:cubicBezTo>
                  <a:pt x="11" y="40"/>
                  <a:pt x="17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0" y="2"/>
                  <a:pt x="71" y="0"/>
                  <a:pt x="82" y="0"/>
                </a:cubicBezTo>
                <a:lnTo>
                  <a:pt x="10853" y="0"/>
                </a:lnTo>
                <a:cubicBezTo>
                  <a:pt x="10864" y="0"/>
                  <a:pt x="10875" y="2"/>
                  <a:pt x="10885" y="6"/>
                </a:cubicBezTo>
                <a:cubicBezTo>
                  <a:pt x="10895" y="10"/>
                  <a:pt x="10903" y="16"/>
                  <a:pt x="10911" y="24"/>
                </a:cubicBezTo>
                <a:cubicBezTo>
                  <a:pt x="10919" y="32"/>
                  <a:pt x="10924" y="40"/>
                  <a:pt x="10929" y="50"/>
                </a:cubicBezTo>
                <a:cubicBezTo>
                  <a:pt x="10933" y="60"/>
                  <a:pt x="10935" y="71"/>
                  <a:pt x="10935" y="81"/>
                </a:cubicBezTo>
                <a:lnTo>
                  <a:pt x="10935" y="3100"/>
                </a:lnTo>
                <a:cubicBezTo>
                  <a:pt x="10935" y="3111"/>
                  <a:pt x="10933" y="3121"/>
                  <a:pt x="10929" y="3131"/>
                </a:cubicBezTo>
                <a:cubicBezTo>
                  <a:pt x="10924" y="3141"/>
                  <a:pt x="10919" y="3150"/>
                  <a:pt x="10911" y="3158"/>
                </a:cubicBezTo>
                <a:cubicBezTo>
                  <a:pt x="10903" y="3165"/>
                  <a:pt x="10895" y="3171"/>
                  <a:pt x="10885" y="3175"/>
                </a:cubicBezTo>
                <a:cubicBezTo>
                  <a:pt x="10875" y="3179"/>
                  <a:pt x="10864" y="3181"/>
                  <a:pt x="10853" y="3181"/>
                </a:cubicBezTo>
                <a:lnTo>
                  <a:pt x="82" y="3181"/>
                </a:lnTo>
                <a:cubicBezTo>
                  <a:pt x="71" y="3181"/>
                  <a:pt x="60" y="3179"/>
                  <a:pt x="51" y="3175"/>
                </a:cubicBezTo>
                <a:cubicBezTo>
                  <a:pt x="41" y="3171"/>
                  <a:pt x="32" y="3165"/>
                  <a:pt x="24" y="3158"/>
                </a:cubicBezTo>
                <a:cubicBezTo>
                  <a:pt x="17" y="3150"/>
                  <a:pt x="11" y="3141"/>
                  <a:pt x="7" y="3131"/>
                </a:cubicBezTo>
                <a:cubicBezTo>
                  <a:pt x="2" y="3121"/>
                  <a:pt x="0" y="3111"/>
                  <a:pt x="0" y="3100"/>
                </a:cubicBezTo>
              </a:path>
            </a:pathLst>
          </a:custGeom>
          <a:ln w="8280">
            <a:solidFill>
              <a:srgbClr val="2ecc71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41" name="" descr=""/>
          <p:cNvPicPr/>
          <p:nvPr/>
        </p:nvPicPr>
        <p:blipFill>
          <a:blip r:embed="rId11"/>
          <a:stretch/>
        </p:blipFill>
        <p:spPr>
          <a:xfrm>
            <a:off x="6158880" y="4387320"/>
            <a:ext cx="1000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2" name=""/>
          <p:cNvSpPr txBox="1"/>
          <p:nvPr/>
        </p:nvSpPr>
        <p:spPr>
          <a:xfrm>
            <a:off x="1278720" y="3620880"/>
            <a:ext cx="28674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アラート発報後も状態変化を追跡できない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 txBox="1"/>
          <p:nvPr/>
        </p:nvSpPr>
        <p:spPr>
          <a:xfrm>
            <a:off x="6325920" y="4388400"/>
            <a:ext cx="6210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a3f5c8"/>
                </a:solidFill>
                <a:effectLst/>
                <a:uFillTx/>
                <a:latin typeface="NotoSansJP"/>
                <a:ea typeface="NotoSansJP"/>
              </a:rPr>
              <a:t>改善効果</a:t>
            </a:r>
            <a:r>
              <a:rPr b="0" lang="en-US" sz="1050" strike="noStrike" u="none">
                <a:solidFill>
                  <a:srgbClr val="a3f5c8"/>
                </a:solidFill>
                <a:effectLst/>
                <a:uFillTx/>
                <a:latin typeface="NotoSansJP"/>
                <a:ea typeface="NotoSansJP"/>
              </a:rPr>
              <a:t>: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6359400" y="4655880"/>
            <a:ext cx="28170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a3f5c8"/>
                </a:solidFill>
                <a:effectLst/>
                <a:uFillTx/>
                <a:latin typeface="NotoSansJP"/>
                <a:ea typeface="NotoSansJP"/>
              </a:rPr>
              <a:t>一時的なフレームアウトによる誤報を大幅削減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6359400" y="4923360"/>
            <a:ext cx="25488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a3f5c8"/>
                </a:solidFill>
                <a:effectLst/>
                <a:uFillTx/>
                <a:latin typeface="NotoSansJP"/>
                <a:ea typeface="NotoSansJP"/>
              </a:rPr>
              <a:t>「放置」と「盗難」を明確に区別して警告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5782680" y="1771560"/>
            <a:ext cx="8640" cy="3526920"/>
          </a:xfrm>
          <a:custGeom>
            <a:avLst/>
            <a:gdLst/>
            <a:ahLst/>
            <a:rect l="0" t="0" r="r" b="b"/>
            <a:pathLst>
              <a:path w="24" h="9797">
                <a:moveTo>
                  <a:pt x="0" y="0"/>
                </a:moveTo>
                <a:lnTo>
                  <a:pt x="24" y="0"/>
                </a:lnTo>
                <a:lnTo>
                  <a:pt x="24" y="9797"/>
                </a:lnTo>
                <a:lnTo>
                  <a:pt x="0" y="9797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6050160" y="1771560"/>
            <a:ext cx="3944520" cy="668880"/>
          </a:xfrm>
          <a:custGeom>
            <a:avLst/>
            <a:gdLst/>
            <a:ahLst/>
            <a:rect l="0" t="0" r="r" b="b"/>
            <a:pathLst>
              <a:path w="10957" h="1858">
                <a:moveTo>
                  <a:pt x="0" y="0"/>
                </a:moveTo>
                <a:lnTo>
                  <a:pt x="10957" y="0"/>
                </a:lnTo>
                <a:lnTo>
                  <a:pt x="10957" y="1858"/>
                </a:lnTo>
                <a:lnTo>
                  <a:pt x="0" y="1858"/>
                </a:lnTo>
                <a:lnTo>
                  <a:pt x="0" y="0"/>
                </a:lnTo>
                <a:close/>
              </a:path>
            </a:pathLst>
          </a:custGeom>
          <a:solidFill>
            <a:srgbClr val="4a90e2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6050160" y="1771560"/>
            <a:ext cx="25200" cy="668880"/>
          </a:xfrm>
          <a:custGeom>
            <a:avLst/>
            <a:gdLst/>
            <a:ahLst/>
            <a:rect l="0" t="0" r="r" b="b"/>
            <a:pathLst>
              <a:path w="70" h="1858">
                <a:moveTo>
                  <a:pt x="0" y="0"/>
                </a:moveTo>
                <a:lnTo>
                  <a:pt x="70" y="0"/>
                </a:lnTo>
                <a:lnTo>
                  <a:pt x="70" y="1858"/>
                </a:lnTo>
                <a:lnTo>
                  <a:pt x="0" y="1858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49" name="" descr=""/>
          <p:cNvPicPr/>
          <p:nvPr/>
        </p:nvPicPr>
        <p:blipFill>
          <a:blip r:embed="rId12"/>
          <a:stretch/>
        </p:blipFill>
        <p:spPr>
          <a:xfrm>
            <a:off x="6175440" y="1905480"/>
            <a:ext cx="1666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0" name=""/>
          <p:cNvSpPr txBox="1"/>
          <p:nvPr/>
        </p:nvSpPr>
        <p:spPr>
          <a:xfrm>
            <a:off x="6359400" y="5190840"/>
            <a:ext cx="26830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a3f5c8"/>
                </a:solidFill>
                <a:effectLst/>
                <a:uFillTx/>
                <a:latin typeface="NotoSansJP"/>
                <a:ea typeface="NotoSansJP"/>
              </a:rPr>
              <a:t>行動コンテキストによる高精度な所有者特定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6409440" y="1916280"/>
            <a:ext cx="34707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姿勢推定による「置く」行動の検出で高精度な所有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6024960" y="2055600"/>
            <a:ext cx="100800" cy="100440"/>
          </a:xfrm>
          <a:custGeom>
            <a:avLst/>
            <a:gdLst/>
            <a:ahLst/>
            <a:rect l="0" t="0" r="r" b="b"/>
            <a:pathLst>
              <a:path w="280" h="279">
                <a:moveTo>
                  <a:pt x="280" y="139"/>
                </a:moveTo>
                <a:cubicBezTo>
                  <a:pt x="280" y="158"/>
                  <a:pt x="276" y="175"/>
                  <a:pt x="269" y="192"/>
                </a:cubicBezTo>
                <a:cubicBezTo>
                  <a:pt x="262" y="210"/>
                  <a:pt x="252" y="225"/>
                  <a:pt x="239" y="238"/>
                </a:cubicBezTo>
                <a:cubicBezTo>
                  <a:pt x="226" y="251"/>
                  <a:pt x="211" y="261"/>
                  <a:pt x="194" y="269"/>
                </a:cubicBezTo>
                <a:cubicBezTo>
                  <a:pt x="177" y="276"/>
                  <a:pt x="159" y="279"/>
                  <a:pt x="140" y="279"/>
                </a:cubicBezTo>
                <a:cubicBezTo>
                  <a:pt x="122" y="279"/>
                  <a:pt x="104" y="276"/>
                  <a:pt x="87" y="269"/>
                </a:cubicBezTo>
                <a:cubicBezTo>
                  <a:pt x="69" y="261"/>
                  <a:pt x="54" y="251"/>
                  <a:pt x="41" y="238"/>
                </a:cubicBezTo>
                <a:cubicBezTo>
                  <a:pt x="28" y="225"/>
                  <a:pt x="18" y="210"/>
                  <a:pt x="11" y="192"/>
                </a:cubicBezTo>
                <a:cubicBezTo>
                  <a:pt x="4" y="175"/>
                  <a:pt x="0" y="158"/>
                  <a:pt x="0" y="139"/>
                </a:cubicBezTo>
                <a:cubicBezTo>
                  <a:pt x="0" y="121"/>
                  <a:pt x="4" y="103"/>
                  <a:pt x="11" y="86"/>
                </a:cubicBezTo>
                <a:cubicBezTo>
                  <a:pt x="18" y="69"/>
                  <a:pt x="28" y="54"/>
                  <a:pt x="41" y="41"/>
                </a:cubicBezTo>
                <a:cubicBezTo>
                  <a:pt x="54" y="28"/>
                  <a:pt x="69" y="18"/>
                  <a:pt x="87" y="11"/>
                </a:cubicBezTo>
                <a:cubicBezTo>
                  <a:pt x="104" y="3"/>
                  <a:pt x="122" y="0"/>
                  <a:pt x="140" y="0"/>
                </a:cubicBezTo>
                <a:cubicBezTo>
                  <a:pt x="159" y="0"/>
                  <a:pt x="177" y="3"/>
                  <a:pt x="194" y="11"/>
                </a:cubicBezTo>
                <a:cubicBezTo>
                  <a:pt x="211" y="18"/>
                  <a:pt x="226" y="28"/>
                  <a:pt x="239" y="41"/>
                </a:cubicBezTo>
                <a:cubicBezTo>
                  <a:pt x="252" y="54"/>
                  <a:pt x="262" y="69"/>
                  <a:pt x="269" y="86"/>
                </a:cubicBezTo>
                <a:cubicBezTo>
                  <a:pt x="276" y="103"/>
                  <a:pt x="280" y="121"/>
                  <a:pt x="280" y="139"/>
                </a:cubicBez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6050160" y="2573640"/>
            <a:ext cx="3944520" cy="434880"/>
          </a:xfrm>
          <a:custGeom>
            <a:avLst/>
            <a:gdLst/>
            <a:ahLst/>
            <a:rect l="0" t="0" r="r" b="b"/>
            <a:pathLst>
              <a:path w="10957" h="1208">
                <a:moveTo>
                  <a:pt x="0" y="0"/>
                </a:moveTo>
                <a:lnTo>
                  <a:pt x="10957" y="0"/>
                </a:lnTo>
                <a:lnTo>
                  <a:pt x="10957" y="1208"/>
                </a:lnTo>
                <a:lnTo>
                  <a:pt x="0" y="1208"/>
                </a:lnTo>
                <a:lnTo>
                  <a:pt x="0" y="0"/>
                </a:lnTo>
                <a:close/>
              </a:path>
            </a:pathLst>
          </a:custGeom>
          <a:solidFill>
            <a:srgbClr val="4a90e2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6050160" y="2573640"/>
            <a:ext cx="25200" cy="434880"/>
          </a:xfrm>
          <a:custGeom>
            <a:avLst/>
            <a:gdLst/>
            <a:ahLst/>
            <a:rect l="0" t="0" r="r" b="b"/>
            <a:pathLst>
              <a:path w="70" h="1208">
                <a:moveTo>
                  <a:pt x="0" y="0"/>
                </a:moveTo>
                <a:lnTo>
                  <a:pt x="70" y="0"/>
                </a:lnTo>
                <a:lnTo>
                  <a:pt x="70" y="1208"/>
                </a:lnTo>
                <a:lnTo>
                  <a:pt x="0" y="1208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55" name="" descr=""/>
          <p:cNvPicPr/>
          <p:nvPr/>
        </p:nvPicPr>
        <p:blipFill>
          <a:blip r:embed="rId13"/>
          <a:stretch/>
        </p:blipFill>
        <p:spPr>
          <a:xfrm>
            <a:off x="6175440" y="2707560"/>
            <a:ext cx="15012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6" name=""/>
          <p:cNvSpPr txBox="1"/>
          <p:nvPr/>
        </p:nvSpPr>
        <p:spPr>
          <a:xfrm>
            <a:off x="6409440" y="2150280"/>
            <a:ext cx="6040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者紐付け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6024960" y="2740680"/>
            <a:ext cx="100800" cy="100800"/>
          </a:xfrm>
          <a:custGeom>
            <a:avLst/>
            <a:gdLst/>
            <a:ahLst/>
            <a:rect l="0" t="0" r="r" b="b"/>
            <a:pathLst>
              <a:path w="280" h="280">
                <a:moveTo>
                  <a:pt x="280" y="141"/>
                </a:moveTo>
                <a:cubicBezTo>
                  <a:pt x="280" y="159"/>
                  <a:pt x="276" y="177"/>
                  <a:pt x="269" y="194"/>
                </a:cubicBezTo>
                <a:cubicBezTo>
                  <a:pt x="262" y="211"/>
                  <a:pt x="252" y="226"/>
                  <a:pt x="239" y="239"/>
                </a:cubicBezTo>
                <a:cubicBezTo>
                  <a:pt x="226" y="252"/>
                  <a:pt x="211" y="262"/>
                  <a:pt x="194" y="269"/>
                </a:cubicBezTo>
                <a:cubicBezTo>
                  <a:pt x="177" y="276"/>
                  <a:pt x="159" y="280"/>
                  <a:pt x="140" y="280"/>
                </a:cubicBezTo>
                <a:cubicBezTo>
                  <a:pt x="122" y="280"/>
                  <a:pt x="104" y="276"/>
                  <a:pt x="87" y="269"/>
                </a:cubicBezTo>
                <a:cubicBezTo>
                  <a:pt x="69" y="262"/>
                  <a:pt x="54" y="252"/>
                  <a:pt x="41" y="239"/>
                </a:cubicBezTo>
                <a:cubicBezTo>
                  <a:pt x="28" y="226"/>
                  <a:pt x="18" y="211"/>
                  <a:pt x="11" y="194"/>
                </a:cubicBezTo>
                <a:cubicBezTo>
                  <a:pt x="4" y="177"/>
                  <a:pt x="0" y="159"/>
                  <a:pt x="0" y="141"/>
                </a:cubicBezTo>
                <a:cubicBezTo>
                  <a:pt x="0" y="122"/>
                  <a:pt x="4" y="104"/>
                  <a:pt x="11" y="87"/>
                </a:cubicBezTo>
                <a:cubicBezTo>
                  <a:pt x="18" y="70"/>
                  <a:pt x="28" y="55"/>
                  <a:pt x="41" y="42"/>
                </a:cubicBezTo>
                <a:cubicBezTo>
                  <a:pt x="54" y="28"/>
                  <a:pt x="69" y="18"/>
                  <a:pt x="87" y="11"/>
                </a:cubicBezTo>
                <a:cubicBezTo>
                  <a:pt x="104" y="4"/>
                  <a:pt x="122" y="0"/>
                  <a:pt x="140" y="0"/>
                </a:cubicBezTo>
                <a:cubicBezTo>
                  <a:pt x="159" y="0"/>
                  <a:pt x="177" y="4"/>
                  <a:pt x="194" y="11"/>
                </a:cubicBezTo>
                <a:cubicBezTo>
                  <a:pt x="211" y="18"/>
                  <a:pt x="226" y="28"/>
                  <a:pt x="239" y="42"/>
                </a:cubicBezTo>
                <a:cubicBezTo>
                  <a:pt x="252" y="55"/>
                  <a:pt x="262" y="70"/>
                  <a:pt x="269" y="87"/>
                </a:cubicBezTo>
                <a:cubicBezTo>
                  <a:pt x="276" y="104"/>
                  <a:pt x="280" y="122"/>
                  <a:pt x="280" y="141"/>
                </a:cubicBez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6050160" y="3142080"/>
            <a:ext cx="3944520" cy="434880"/>
          </a:xfrm>
          <a:custGeom>
            <a:avLst/>
            <a:gdLst/>
            <a:ahLst/>
            <a:rect l="0" t="0" r="r" b="b"/>
            <a:pathLst>
              <a:path w="10957" h="1208">
                <a:moveTo>
                  <a:pt x="0" y="0"/>
                </a:moveTo>
                <a:lnTo>
                  <a:pt x="10957" y="0"/>
                </a:lnTo>
                <a:lnTo>
                  <a:pt x="10957" y="1208"/>
                </a:lnTo>
                <a:lnTo>
                  <a:pt x="0" y="1208"/>
                </a:lnTo>
                <a:lnTo>
                  <a:pt x="0" y="0"/>
                </a:lnTo>
                <a:close/>
              </a:path>
            </a:pathLst>
          </a:custGeom>
          <a:solidFill>
            <a:srgbClr val="4a90e2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6050160" y="3142080"/>
            <a:ext cx="25200" cy="434880"/>
          </a:xfrm>
          <a:custGeom>
            <a:avLst/>
            <a:gdLst/>
            <a:ahLst/>
            <a:rect l="0" t="0" r="r" b="b"/>
            <a:pathLst>
              <a:path w="70" h="1208">
                <a:moveTo>
                  <a:pt x="0" y="0"/>
                </a:moveTo>
                <a:lnTo>
                  <a:pt x="70" y="0"/>
                </a:lnTo>
                <a:lnTo>
                  <a:pt x="70" y="1208"/>
                </a:lnTo>
                <a:lnTo>
                  <a:pt x="0" y="1208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60" name="" descr=""/>
          <p:cNvPicPr/>
          <p:nvPr/>
        </p:nvPicPr>
        <p:blipFill>
          <a:blip r:embed="rId14"/>
          <a:stretch/>
        </p:blipFill>
        <p:spPr>
          <a:xfrm>
            <a:off x="6175440" y="3276000"/>
            <a:ext cx="1666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1" name=""/>
          <p:cNvSpPr txBox="1"/>
          <p:nvPr/>
        </p:nvSpPr>
        <p:spPr>
          <a:xfrm>
            <a:off x="6392880" y="2718360"/>
            <a:ext cx="35100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所有者がフレームから出ても</a:t>
            </a:r>
            <a:r>
              <a:rPr b="0" lang="en-US" sz="1180" strike="noStrike" u="none">
                <a:solidFill>
                  <a:srgbClr val="6ee7b7"/>
                </a:solidFill>
                <a:effectLst/>
                <a:uFillTx/>
                <a:latin typeface="NotoSansJP"/>
                <a:ea typeface="NotoSansJP"/>
              </a:rPr>
              <a:t>Re-ID</a:t>
            </a:r>
            <a:r>
              <a:rPr b="0" lang="zh-CN" sz="1180" strike="noStrike" u="none">
                <a:solidFill>
                  <a:srgbClr val="6ee7b7"/>
                </a:solidFill>
                <a:effectLst/>
                <a:uFillTx/>
                <a:latin typeface="NotoSansJP"/>
                <a:ea typeface="NotoSansJP"/>
              </a:rPr>
              <a:t>技術で追跡継続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6024960" y="3309120"/>
            <a:ext cx="100800" cy="100440"/>
          </a:xfrm>
          <a:custGeom>
            <a:avLst/>
            <a:gdLst/>
            <a:ahLst/>
            <a:rect l="0" t="0" r="r" b="b"/>
            <a:pathLst>
              <a:path w="280" h="279">
                <a:moveTo>
                  <a:pt x="280" y="140"/>
                </a:moveTo>
                <a:cubicBezTo>
                  <a:pt x="280" y="159"/>
                  <a:pt x="276" y="176"/>
                  <a:pt x="269" y="193"/>
                </a:cubicBezTo>
                <a:cubicBezTo>
                  <a:pt x="262" y="211"/>
                  <a:pt x="252" y="226"/>
                  <a:pt x="239" y="239"/>
                </a:cubicBezTo>
                <a:cubicBezTo>
                  <a:pt x="226" y="252"/>
                  <a:pt x="211" y="262"/>
                  <a:pt x="194" y="269"/>
                </a:cubicBezTo>
                <a:cubicBezTo>
                  <a:pt x="177" y="276"/>
                  <a:pt x="159" y="279"/>
                  <a:pt x="140" y="279"/>
                </a:cubicBezTo>
                <a:cubicBezTo>
                  <a:pt x="122" y="279"/>
                  <a:pt x="104" y="276"/>
                  <a:pt x="87" y="269"/>
                </a:cubicBezTo>
                <a:cubicBezTo>
                  <a:pt x="69" y="262"/>
                  <a:pt x="54" y="252"/>
                  <a:pt x="41" y="239"/>
                </a:cubicBezTo>
                <a:cubicBezTo>
                  <a:pt x="28" y="226"/>
                  <a:pt x="18" y="211"/>
                  <a:pt x="11" y="193"/>
                </a:cubicBezTo>
                <a:cubicBezTo>
                  <a:pt x="4" y="176"/>
                  <a:pt x="0" y="159"/>
                  <a:pt x="0" y="140"/>
                </a:cubicBezTo>
                <a:cubicBezTo>
                  <a:pt x="0" y="122"/>
                  <a:pt x="4" y="103"/>
                  <a:pt x="11" y="86"/>
                </a:cubicBezTo>
                <a:cubicBezTo>
                  <a:pt x="18" y="69"/>
                  <a:pt x="28" y="54"/>
                  <a:pt x="41" y="41"/>
                </a:cubicBezTo>
                <a:cubicBezTo>
                  <a:pt x="54" y="28"/>
                  <a:pt x="69" y="18"/>
                  <a:pt x="87" y="10"/>
                </a:cubicBezTo>
                <a:cubicBezTo>
                  <a:pt x="104" y="3"/>
                  <a:pt x="122" y="0"/>
                  <a:pt x="140" y="0"/>
                </a:cubicBezTo>
                <a:cubicBezTo>
                  <a:pt x="159" y="0"/>
                  <a:pt x="177" y="3"/>
                  <a:pt x="194" y="10"/>
                </a:cubicBezTo>
                <a:cubicBezTo>
                  <a:pt x="211" y="18"/>
                  <a:pt x="226" y="28"/>
                  <a:pt x="239" y="41"/>
                </a:cubicBezTo>
                <a:cubicBezTo>
                  <a:pt x="252" y="54"/>
                  <a:pt x="262" y="69"/>
                  <a:pt x="269" y="86"/>
                </a:cubicBezTo>
                <a:cubicBezTo>
                  <a:pt x="276" y="103"/>
                  <a:pt x="280" y="122"/>
                  <a:pt x="280" y="140"/>
                </a:cubicBez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6050160" y="3710160"/>
            <a:ext cx="3944520" cy="434880"/>
          </a:xfrm>
          <a:custGeom>
            <a:avLst/>
            <a:gdLst/>
            <a:ahLst/>
            <a:rect l="0" t="0" r="r" b="b"/>
            <a:pathLst>
              <a:path w="10957" h="1208">
                <a:moveTo>
                  <a:pt x="0" y="0"/>
                </a:moveTo>
                <a:lnTo>
                  <a:pt x="10957" y="0"/>
                </a:lnTo>
                <a:lnTo>
                  <a:pt x="10957" y="1208"/>
                </a:lnTo>
                <a:lnTo>
                  <a:pt x="0" y="1208"/>
                </a:lnTo>
                <a:lnTo>
                  <a:pt x="0" y="0"/>
                </a:lnTo>
                <a:close/>
              </a:path>
            </a:pathLst>
          </a:custGeom>
          <a:solidFill>
            <a:srgbClr val="4a90e2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6050160" y="3710160"/>
            <a:ext cx="25200" cy="434880"/>
          </a:xfrm>
          <a:custGeom>
            <a:avLst/>
            <a:gdLst/>
            <a:ahLst/>
            <a:rect l="0" t="0" r="r" b="b"/>
            <a:pathLst>
              <a:path w="70" h="1208">
                <a:moveTo>
                  <a:pt x="0" y="0"/>
                </a:moveTo>
                <a:lnTo>
                  <a:pt x="70" y="0"/>
                </a:lnTo>
                <a:lnTo>
                  <a:pt x="70" y="1208"/>
                </a:lnTo>
                <a:lnTo>
                  <a:pt x="0" y="1208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65" name="" descr=""/>
          <p:cNvPicPr/>
          <p:nvPr/>
        </p:nvPicPr>
        <p:blipFill>
          <a:blip r:embed="rId15"/>
          <a:stretch/>
        </p:blipFill>
        <p:spPr>
          <a:xfrm>
            <a:off x="6175440" y="384408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6" name=""/>
          <p:cNvSpPr txBox="1"/>
          <p:nvPr/>
        </p:nvSpPr>
        <p:spPr>
          <a:xfrm>
            <a:off x="6409440" y="3286800"/>
            <a:ext cx="28461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荷物の状態（静止</a:t>
            </a:r>
            <a:r>
              <a:rPr b="0" lang="en-US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/</a:t>
            </a:r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移動）を独立して追跡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6024960" y="3877200"/>
            <a:ext cx="100800" cy="100800"/>
          </a:xfrm>
          <a:custGeom>
            <a:avLst/>
            <a:gdLst/>
            <a:ahLst/>
            <a:rect l="0" t="0" r="r" b="b"/>
            <a:pathLst>
              <a:path w="280" h="280">
                <a:moveTo>
                  <a:pt x="280" y="140"/>
                </a:moveTo>
                <a:cubicBezTo>
                  <a:pt x="280" y="158"/>
                  <a:pt x="276" y="176"/>
                  <a:pt x="269" y="193"/>
                </a:cubicBezTo>
                <a:cubicBezTo>
                  <a:pt x="262" y="210"/>
                  <a:pt x="252" y="226"/>
                  <a:pt x="239" y="239"/>
                </a:cubicBezTo>
                <a:cubicBezTo>
                  <a:pt x="226" y="252"/>
                  <a:pt x="211" y="262"/>
                  <a:pt x="194" y="269"/>
                </a:cubicBezTo>
                <a:cubicBezTo>
                  <a:pt x="177" y="276"/>
                  <a:pt x="159" y="280"/>
                  <a:pt x="140" y="280"/>
                </a:cubicBezTo>
                <a:cubicBezTo>
                  <a:pt x="122" y="280"/>
                  <a:pt x="104" y="276"/>
                  <a:pt x="87" y="269"/>
                </a:cubicBezTo>
                <a:cubicBezTo>
                  <a:pt x="69" y="262"/>
                  <a:pt x="54" y="252"/>
                  <a:pt x="41" y="239"/>
                </a:cubicBezTo>
                <a:cubicBezTo>
                  <a:pt x="28" y="226"/>
                  <a:pt x="18" y="210"/>
                  <a:pt x="11" y="193"/>
                </a:cubicBezTo>
                <a:cubicBezTo>
                  <a:pt x="4" y="176"/>
                  <a:pt x="0" y="158"/>
                  <a:pt x="0" y="140"/>
                </a:cubicBezTo>
                <a:cubicBezTo>
                  <a:pt x="0" y="121"/>
                  <a:pt x="4" y="103"/>
                  <a:pt x="11" y="86"/>
                </a:cubicBezTo>
                <a:cubicBezTo>
                  <a:pt x="18" y="69"/>
                  <a:pt x="28" y="54"/>
                  <a:pt x="41" y="41"/>
                </a:cubicBezTo>
                <a:cubicBezTo>
                  <a:pt x="54" y="28"/>
                  <a:pt x="69" y="18"/>
                  <a:pt x="87" y="11"/>
                </a:cubicBezTo>
                <a:cubicBezTo>
                  <a:pt x="104" y="4"/>
                  <a:pt x="122" y="0"/>
                  <a:pt x="140" y="0"/>
                </a:cubicBezTo>
                <a:cubicBezTo>
                  <a:pt x="159" y="0"/>
                  <a:pt x="177" y="4"/>
                  <a:pt x="194" y="11"/>
                </a:cubicBezTo>
                <a:cubicBezTo>
                  <a:pt x="211" y="18"/>
                  <a:pt x="226" y="28"/>
                  <a:pt x="239" y="41"/>
                </a:cubicBezTo>
                <a:cubicBezTo>
                  <a:pt x="252" y="54"/>
                  <a:pt x="262" y="69"/>
                  <a:pt x="269" y="86"/>
                </a:cubicBezTo>
                <a:cubicBezTo>
                  <a:pt x="276" y="103"/>
                  <a:pt x="280" y="121"/>
                  <a:pt x="280" y="140"/>
                </a:cubicBez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6359400" y="3854880"/>
            <a:ext cx="27709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所有者状態</a:t>
            </a:r>
            <a:r>
              <a:rPr b="0" lang="en-US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×</a:t>
            </a:r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荷物状態の複合条件で判断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10153440" y="5717160"/>
            <a:ext cx="387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9ca3af"/>
                </a:solidFill>
                <a:effectLst/>
                <a:uFillTx/>
                <a:latin typeface="NotoSansJP"/>
                <a:ea typeface="NotoSansJP"/>
              </a:rPr>
              <a:t>9 / 12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696320" cy="618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1" name=""/>
          <p:cNvSpPr/>
          <p:nvPr/>
        </p:nvSpPr>
        <p:spPr>
          <a:xfrm>
            <a:off x="534600" y="735120"/>
            <a:ext cx="668880" cy="33840"/>
          </a:xfrm>
          <a:custGeom>
            <a:avLst/>
            <a:gdLst/>
            <a:ahLst/>
            <a:rect l="0" t="0" r="r" b="b"/>
            <a:pathLst>
              <a:path w="1858" h="94">
                <a:moveTo>
                  <a:pt x="0" y="0"/>
                </a:moveTo>
                <a:lnTo>
                  <a:pt x="1858" y="0"/>
                </a:lnTo>
                <a:lnTo>
                  <a:pt x="1858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60a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72" name="" descr=""/>
          <p:cNvPicPr/>
          <p:nvPr/>
        </p:nvPicPr>
        <p:blipFill>
          <a:blip r:embed="rId2"/>
          <a:stretch/>
        </p:blipFill>
        <p:spPr>
          <a:xfrm>
            <a:off x="534960" y="100296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3" name=""/>
          <p:cNvSpPr txBox="1"/>
          <p:nvPr/>
        </p:nvSpPr>
        <p:spPr>
          <a:xfrm>
            <a:off x="534960" y="356040"/>
            <a:ext cx="2102400" cy="43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37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評価指標と手法</a:t>
            </a:r>
            <a:endParaRPr b="0" lang="en-US" sz="2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547200" y="1370160"/>
            <a:ext cx="3105000" cy="1070280"/>
          </a:xfrm>
          <a:custGeom>
            <a:avLst/>
            <a:gdLst/>
            <a:ahLst/>
            <a:rect l="0" t="0" r="r" b="b"/>
            <a:pathLst>
              <a:path w="8625" h="2973">
                <a:moveTo>
                  <a:pt x="0" y="2787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5" y="138"/>
                  <a:pt x="8" y="126"/>
                  <a:pt x="11" y="115"/>
                </a:cubicBezTo>
                <a:cubicBezTo>
                  <a:pt x="15" y="104"/>
                  <a:pt x="20" y="93"/>
                  <a:pt x="25" y="83"/>
                </a:cubicBezTo>
                <a:cubicBezTo>
                  <a:pt x="31" y="73"/>
                  <a:pt x="37" y="63"/>
                  <a:pt x="44" y="55"/>
                </a:cubicBezTo>
                <a:cubicBezTo>
                  <a:pt x="51" y="46"/>
                  <a:pt x="59" y="39"/>
                  <a:pt x="67" y="32"/>
                </a:cubicBezTo>
                <a:cubicBezTo>
                  <a:pt x="75" y="25"/>
                  <a:pt x="84" y="19"/>
                  <a:pt x="93" y="15"/>
                </a:cubicBezTo>
                <a:cubicBezTo>
                  <a:pt x="102" y="10"/>
                  <a:pt x="112" y="6"/>
                  <a:pt x="121" y="4"/>
                </a:cubicBezTo>
                <a:cubicBezTo>
                  <a:pt x="131" y="2"/>
                  <a:pt x="141" y="0"/>
                  <a:pt x="151" y="0"/>
                </a:cubicBezTo>
                <a:lnTo>
                  <a:pt x="8439" y="0"/>
                </a:lnTo>
                <a:cubicBezTo>
                  <a:pt x="8451" y="0"/>
                  <a:pt x="8463" y="2"/>
                  <a:pt x="8475" y="4"/>
                </a:cubicBezTo>
                <a:cubicBezTo>
                  <a:pt x="8487" y="6"/>
                  <a:pt x="8499" y="10"/>
                  <a:pt x="8510" y="15"/>
                </a:cubicBezTo>
                <a:cubicBezTo>
                  <a:pt x="8521" y="19"/>
                  <a:pt x="8532" y="25"/>
                  <a:pt x="8542" y="32"/>
                </a:cubicBezTo>
                <a:cubicBezTo>
                  <a:pt x="8552" y="39"/>
                  <a:pt x="8562" y="46"/>
                  <a:pt x="8570" y="55"/>
                </a:cubicBezTo>
                <a:cubicBezTo>
                  <a:pt x="8579" y="63"/>
                  <a:pt x="8587" y="73"/>
                  <a:pt x="8593" y="83"/>
                </a:cubicBezTo>
                <a:cubicBezTo>
                  <a:pt x="8600" y="93"/>
                  <a:pt x="8606" y="104"/>
                  <a:pt x="8610" y="115"/>
                </a:cubicBezTo>
                <a:cubicBezTo>
                  <a:pt x="8615" y="126"/>
                  <a:pt x="8619" y="138"/>
                  <a:pt x="8621" y="150"/>
                </a:cubicBezTo>
                <a:cubicBezTo>
                  <a:pt x="8623" y="162"/>
                  <a:pt x="8625" y="174"/>
                  <a:pt x="8625" y="186"/>
                </a:cubicBezTo>
                <a:lnTo>
                  <a:pt x="8625" y="2787"/>
                </a:lnTo>
                <a:cubicBezTo>
                  <a:pt x="8625" y="2799"/>
                  <a:pt x="8623" y="2811"/>
                  <a:pt x="8621" y="2823"/>
                </a:cubicBezTo>
                <a:cubicBezTo>
                  <a:pt x="8619" y="2835"/>
                  <a:pt x="8615" y="2847"/>
                  <a:pt x="8610" y="2858"/>
                </a:cubicBezTo>
                <a:cubicBezTo>
                  <a:pt x="8606" y="2869"/>
                  <a:pt x="8600" y="2880"/>
                  <a:pt x="8593" y="2890"/>
                </a:cubicBezTo>
                <a:cubicBezTo>
                  <a:pt x="8587" y="2900"/>
                  <a:pt x="8579" y="2910"/>
                  <a:pt x="8570" y="2918"/>
                </a:cubicBezTo>
                <a:cubicBezTo>
                  <a:pt x="8562" y="2927"/>
                  <a:pt x="8552" y="2935"/>
                  <a:pt x="8542" y="2941"/>
                </a:cubicBezTo>
                <a:cubicBezTo>
                  <a:pt x="8532" y="2948"/>
                  <a:pt x="8521" y="2954"/>
                  <a:pt x="8510" y="2959"/>
                </a:cubicBezTo>
                <a:cubicBezTo>
                  <a:pt x="8499" y="2963"/>
                  <a:pt x="8487" y="2967"/>
                  <a:pt x="8475" y="2969"/>
                </a:cubicBezTo>
                <a:cubicBezTo>
                  <a:pt x="8463" y="2972"/>
                  <a:pt x="8451" y="2973"/>
                  <a:pt x="8439" y="2973"/>
                </a:cubicBezTo>
                <a:lnTo>
                  <a:pt x="151" y="2973"/>
                </a:lnTo>
                <a:cubicBezTo>
                  <a:pt x="141" y="2973"/>
                  <a:pt x="131" y="2972"/>
                  <a:pt x="121" y="2969"/>
                </a:cubicBezTo>
                <a:cubicBezTo>
                  <a:pt x="112" y="2967"/>
                  <a:pt x="102" y="2963"/>
                  <a:pt x="93" y="2959"/>
                </a:cubicBezTo>
                <a:cubicBezTo>
                  <a:pt x="84" y="2954"/>
                  <a:pt x="75" y="2948"/>
                  <a:pt x="67" y="2941"/>
                </a:cubicBezTo>
                <a:cubicBezTo>
                  <a:pt x="59" y="2935"/>
                  <a:pt x="51" y="2927"/>
                  <a:pt x="44" y="2918"/>
                </a:cubicBezTo>
                <a:cubicBezTo>
                  <a:pt x="37" y="2910"/>
                  <a:pt x="31" y="2900"/>
                  <a:pt x="25" y="2890"/>
                </a:cubicBezTo>
                <a:cubicBezTo>
                  <a:pt x="20" y="2880"/>
                  <a:pt x="15" y="2869"/>
                  <a:pt x="11" y="2858"/>
                </a:cubicBezTo>
                <a:cubicBezTo>
                  <a:pt x="8" y="2847"/>
                  <a:pt x="5" y="2835"/>
                  <a:pt x="3" y="2823"/>
                </a:cubicBezTo>
                <a:cubicBezTo>
                  <a:pt x="1" y="2811"/>
                  <a:pt x="0" y="2799"/>
                  <a:pt x="0" y="2787"/>
                </a:cubicBezTo>
                <a:close/>
              </a:path>
            </a:pathLst>
          </a:custGeom>
          <a:solidFill>
            <a:srgbClr val="1a2a57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534600" y="1370160"/>
            <a:ext cx="67320" cy="1070280"/>
          </a:xfrm>
          <a:custGeom>
            <a:avLst/>
            <a:gdLst/>
            <a:ahLst/>
            <a:rect l="0" t="0" r="r" b="b"/>
            <a:pathLst>
              <a:path w="187" h="2973">
                <a:moveTo>
                  <a:pt x="0" y="0"/>
                </a:moveTo>
                <a:lnTo>
                  <a:pt x="187" y="0"/>
                </a:lnTo>
                <a:lnTo>
                  <a:pt x="187" y="2973"/>
                </a:lnTo>
                <a:lnTo>
                  <a:pt x="0" y="2973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693360" y="1504080"/>
            <a:ext cx="418320" cy="418320"/>
          </a:xfrm>
          <a:custGeom>
            <a:avLst/>
            <a:gdLst/>
            <a:ahLst/>
            <a:rect l="0" t="0" r="r" b="b"/>
            <a:pathLst>
              <a:path w="1162" h="1162">
                <a:moveTo>
                  <a:pt x="1162" y="580"/>
                </a:moveTo>
                <a:cubicBezTo>
                  <a:pt x="1162" y="599"/>
                  <a:pt x="1161" y="618"/>
                  <a:pt x="1159" y="637"/>
                </a:cubicBezTo>
                <a:cubicBezTo>
                  <a:pt x="1157" y="656"/>
                  <a:pt x="1154" y="675"/>
                  <a:pt x="1151" y="693"/>
                </a:cubicBezTo>
                <a:cubicBezTo>
                  <a:pt x="1147" y="712"/>
                  <a:pt x="1142" y="730"/>
                  <a:pt x="1137" y="749"/>
                </a:cubicBezTo>
                <a:cubicBezTo>
                  <a:pt x="1131" y="767"/>
                  <a:pt x="1125" y="785"/>
                  <a:pt x="1118" y="802"/>
                </a:cubicBezTo>
                <a:cubicBezTo>
                  <a:pt x="1110" y="820"/>
                  <a:pt x="1102" y="837"/>
                  <a:pt x="1093" y="854"/>
                </a:cubicBezTo>
                <a:cubicBezTo>
                  <a:pt x="1084" y="871"/>
                  <a:pt x="1075" y="887"/>
                  <a:pt x="1064" y="903"/>
                </a:cubicBezTo>
                <a:cubicBezTo>
                  <a:pt x="1053" y="918"/>
                  <a:pt x="1042" y="934"/>
                  <a:pt x="1030" y="948"/>
                </a:cubicBezTo>
                <a:cubicBezTo>
                  <a:pt x="1018" y="963"/>
                  <a:pt x="1005" y="977"/>
                  <a:pt x="992" y="991"/>
                </a:cubicBezTo>
                <a:cubicBezTo>
                  <a:pt x="978" y="1004"/>
                  <a:pt x="963" y="1017"/>
                  <a:pt x="949" y="1029"/>
                </a:cubicBezTo>
                <a:cubicBezTo>
                  <a:pt x="934" y="1041"/>
                  <a:pt x="919" y="1053"/>
                  <a:pt x="903" y="1064"/>
                </a:cubicBezTo>
                <a:cubicBezTo>
                  <a:pt x="887" y="1074"/>
                  <a:pt x="871" y="1084"/>
                  <a:pt x="854" y="1093"/>
                </a:cubicBezTo>
                <a:cubicBezTo>
                  <a:pt x="837" y="1102"/>
                  <a:pt x="820" y="1110"/>
                  <a:pt x="803" y="1117"/>
                </a:cubicBezTo>
                <a:cubicBezTo>
                  <a:pt x="785" y="1125"/>
                  <a:pt x="767" y="1131"/>
                  <a:pt x="749" y="1137"/>
                </a:cubicBezTo>
                <a:cubicBezTo>
                  <a:pt x="731" y="1142"/>
                  <a:pt x="712" y="1147"/>
                  <a:pt x="694" y="1150"/>
                </a:cubicBezTo>
                <a:cubicBezTo>
                  <a:pt x="675" y="1154"/>
                  <a:pt x="656" y="1157"/>
                  <a:pt x="637" y="1159"/>
                </a:cubicBezTo>
                <a:cubicBezTo>
                  <a:pt x="618" y="1161"/>
                  <a:pt x="600" y="1162"/>
                  <a:pt x="581" y="1162"/>
                </a:cubicBezTo>
                <a:cubicBezTo>
                  <a:pt x="562" y="1162"/>
                  <a:pt x="543" y="1161"/>
                  <a:pt x="524" y="1159"/>
                </a:cubicBezTo>
                <a:cubicBezTo>
                  <a:pt x="505" y="1157"/>
                  <a:pt x="486" y="1154"/>
                  <a:pt x="467" y="1150"/>
                </a:cubicBezTo>
                <a:cubicBezTo>
                  <a:pt x="449" y="1147"/>
                  <a:pt x="430" y="1142"/>
                  <a:pt x="412" y="1137"/>
                </a:cubicBezTo>
                <a:cubicBezTo>
                  <a:pt x="394" y="1131"/>
                  <a:pt x="376" y="1125"/>
                  <a:pt x="358" y="1117"/>
                </a:cubicBezTo>
                <a:cubicBezTo>
                  <a:pt x="341" y="1110"/>
                  <a:pt x="324" y="1102"/>
                  <a:pt x="307" y="1093"/>
                </a:cubicBezTo>
                <a:cubicBezTo>
                  <a:pt x="290" y="1084"/>
                  <a:pt x="274" y="1074"/>
                  <a:pt x="258" y="1064"/>
                </a:cubicBezTo>
                <a:cubicBezTo>
                  <a:pt x="242" y="1053"/>
                  <a:pt x="227" y="1041"/>
                  <a:pt x="212" y="1029"/>
                </a:cubicBezTo>
                <a:cubicBezTo>
                  <a:pt x="198" y="1017"/>
                  <a:pt x="184" y="1004"/>
                  <a:pt x="170" y="991"/>
                </a:cubicBezTo>
                <a:cubicBezTo>
                  <a:pt x="157" y="977"/>
                  <a:pt x="144" y="963"/>
                  <a:pt x="132" y="948"/>
                </a:cubicBezTo>
                <a:cubicBezTo>
                  <a:pt x="120" y="934"/>
                  <a:pt x="109" y="918"/>
                  <a:pt x="98" y="903"/>
                </a:cubicBezTo>
                <a:cubicBezTo>
                  <a:pt x="87" y="887"/>
                  <a:pt x="78" y="871"/>
                  <a:pt x="69" y="854"/>
                </a:cubicBezTo>
                <a:cubicBezTo>
                  <a:pt x="60" y="837"/>
                  <a:pt x="52" y="820"/>
                  <a:pt x="44" y="802"/>
                </a:cubicBezTo>
                <a:cubicBezTo>
                  <a:pt x="37" y="785"/>
                  <a:pt x="31" y="767"/>
                  <a:pt x="25" y="749"/>
                </a:cubicBezTo>
                <a:cubicBezTo>
                  <a:pt x="20" y="730"/>
                  <a:pt x="15" y="712"/>
                  <a:pt x="11" y="693"/>
                </a:cubicBezTo>
                <a:cubicBezTo>
                  <a:pt x="8" y="675"/>
                  <a:pt x="5" y="656"/>
                  <a:pt x="3" y="637"/>
                </a:cubicBezTo>
                <a:cubicBezTo>
                  <a:pt x="1" y="618"/>
                  <a:pt x="0" y="599"/>
                  <a:pt x="0" y="580"/>
                </a:cubicBezTo>
                <a:cubicBezTo>
                  <a:pt x="0" y="561"/>
                  <a:pt x="1" y="542"/>
                  <a:pt x="3" y="523"/>
                </a:cubicBezTo>
                <a:cubicBezTo>
                  <a:pt x="5" y="504"/>
                  <a:pt x="8" y="486"/>
                  <a:pt x="11" y="467"/>
                </a:cubicBezTo>
                <a:cubicBezTo>
                  <a:pt x="15" y="448"/>
                  <a:pt x="20" y="430"/>
                  <a:pt x="25" y="412"/>
                </a:cubicBezTo>
                <a:cubicBezTo>
                  <a:pt x="31" y="394"/>
                  <a:pt x="37" y="376"/>
                  <a:pt x="44" y="358"/>
                </a:cubicBezTo>
                <a:cubicBezTo>
                  <a:pt x="52" y="341"/>
                  <a:pt x="60" y="323"/>
                  <a:pt x="69" y="307"/>
                </a:cubicBezTo>
                <a:cubicBezTo>
                  <a:pt x="78" y="290"/>
                  <a:pt x="87" y="274"/>
                  <a:pt x="98" y="258"/>
                </a:cubicBezTo>
                <a:cubicBezTo>
                  <a:pt x="109" y="242"/>
                  <a:pt x="120" y="227"/>
                  <a:pt x="132" y="212"/>
                </a:cubicBezTo>
                <a:cubicBezTo>
                  <a:pt x="144" y="197"/>
                  <a:pt x="157" y="183"/>
                  <a:pt x="170" y="170"/>
                </a:cubicBezTo>
                <a:cubicBezTo>
                  <a:pt x="184" y="156"/>
                  <a:pt x="198" y="144"/>
                  <a:pt x="212" y="132"/>
                </a:cubicBezTo>
                <a:cubicBezTo>
                  <a:pt x="227" y="120"/>
                  <a:pt x="242" y="108"/>
                  <a:pt x="258" y="98"/>
                </a:cubicBezTo>
                <a:cubicBezTo>
                  <a:pt x="274" y="87"/>
                  <a:pt x="290" y="77"/>
                  <a:pt x="307" y="68"/>
                </a:cubicBezTo>
                <a:cubicBezTo>
                  <a:pt x="324" y="59"/>
                  <a:pt x="341" y="51"/>
                  <a:pt x="358" y="44"/>
                </a:cubicBezTo>
                <a:cubicBezTo>
                  <a:pt x="376" y="37"/>
                  <a:pt x="394" y="30"/>
                  <a:pt x="412" y="25"/>
                </a:cubicBezTo>
                <a:cubicBezTo>
                  <a:pt x="430" y="19"/>
                  <a:pt x="449" y="15"/>
                  <a:pt x="467" y="11"/>
                </a:cubicBezTo>
                <a:cubicBezTo>
                  <a:pt x="486" y="7"/>
                  <a:pt x="505" y="5"/>
                  <a:pt x="524" y="3"/>
                </a:cubicBezTo>
                <a:cubicBezTo>
                  <a:pt x="543" y="1"/>
                  <a:pt x="562" y="0"/>
                  <a:pt x="581" y="0"/>
                </a:cubicBezTo>
                <a:cubicBezTo>
                  <a:pt x="600" y="0"/>
                  <a:pt x="618" y="1"/>
                  <a:pt x="637" y="3"/>
                </a:cubicBezTo>
                <a:cubicBezTo>
                  <a:pt x="656" y="5"/>
                  <a:pt x="675" y="7"/>
                  <a:pt x="694" y="11"/>
                </a:cubicBezTo>
                <a:cubicBezTo>
                  <a:pt x="712" y="15"/>
                  <a:pt x="731" y="19"/>
                  <a:pt x="749" y="25"/>
                </a:cubicBezTo>
                <a:cubicBezTo>
                  <a:pt x="767" y="30"/>
                  <a:pt x="785" y="37"/>
                  <a:pt x="803" y="44"/>
                </a:cubicBezTo>
                <a:cubicBezTo>
                  <a:pt x="820" y="51"/>
                  <a:pt x="837" y="59"/>
                  <a:pt x="854" y="68"/>
                </a:cubicBezTo>
                <a:cubicBezTo>
                  <a:pt x="871" y="77"/>
                  <a:pt x="887" y="87"/>
                  <a:pt x="903" y="98"/>
                </a:cubicBezTo>
                <a:cubicBezTo>
                  <a:pt x="919" y="108"/>
                  <a:pt x="934" y="120"/>
                  <a:pt x="949" y="132"/>
                </a:cubicBezTo>
                <a:cubicBezTo>
                  <a:pt x="963" y="144"/>
                  <a:pt x="978" y="156"/>
                  <a:pt x="992" y="170"/>
                </a:cubicBezTo>
                <a:cubicBezTo>
                  <a:pt x="1005" y="183"/>
                  <a:pt x="1018" y="197"/>
                  <a:pt x="1030" y="212"/>
                </a:cubicBezTo>
                <a:cubicBezTo>
                  <a:pt x="1042" y="227"/>
                  <a:pt x="1053" y="242"/>
                  <a:pt x="1064" y="258"/>
                </a:cubicBezTo>
                <a:cubicBezTo>
                  <a:pt x="1075" y="274"/>
                  <a:pt x="1084" y="290"/>
                  <a:pt x="1093" y="307"/>
                </a:cubicBezTo>
                <a:cubicBezTo>
                  <a:pt x="1102" y="323"/>
                  <a:pt x="1110" y="341"/>
                  <a:pt x="1118" y="358"/>
                </a:cubicBezTo>
                <a:cubicBezTo>
                  <a:pt x="1125" y="376"/>
                  <a:pt x="1131" y="394"/>
                  <a:pt x="1137" y="412"/>
                </a:cubicBezTo>
                <a:cubicBezTo>
                  <a:pt x="1142" y="430"/>
                  <a:pt x="1147" y="448"/>
                  <a:pt x="1151" y="467"/>
                </a:cubicBezTo>
                <a:cubicBezTo>
                  <a:pt x="1154" y="486"/>
                  <a:pt x="1157" y="504"/>
                  <a:pt x="1159" y="523"/>
                </a:cubicBezTo>
                <a:cubicBezTo>
                  <a:pt x="1161" y="542"/>
                  <a:pt x="1162" y="561"/>
                  <a:pt x="1162" y="580"/>
                </a:cubicBezTo>
                <a:close/>
              </a:path>
            </a:pathLst>
          </a:custGeom>
          <a:solidFill>
            <a:srgbClr val="4a90e2">
              <a:alpha val="1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77" name="" descr=""/>
          <p:cNvPicPr/>
          <p:nvPr/>
        </p:nvPicPr>
        <p:blipFill>
          <a:blip r:embed="rId3"/>
          <a:stretch/>
        </p:blipFill>
        <p:spPr>
          <a:xfrm>
            <a:off x="819000" y="162972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8" name=""/>
          <p:cNvSpPr txBox="1"/>
          <p:nvPr/>
        </p:nvSpPr>
        <p:spPr>
          <a:xfrm>
            <a:off x="835560" y="1000440"/>
            <a:ext cx="1409040" cy="29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580" strike="noStrike" u="none">
                <a:solidFill>
                  <a:srgbClr val="93c5fd"/>
                </a:solidFill>
                <a:effectLst/>
                <a:uFillTx/>
                <a:latin typeface="NotoSansJP"/>
                <a:ea typeface="NotoSansJP"/>
              </a:rPr>
              <a:t>定量的評価指標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1245240" y="1532880"/>
            <a:ext cx="153000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Precision (</a:t>
            </a:r>
            <a:r>
              <a:rPr b="0" lang="zh-CN" sz="132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適合率</a:t>
            </a:r>
            <a:r>
              <a:rPr b="0" lang="en-US" sz="132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)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1245240" y="1763280"/>
            <a:ext cx="223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放置と検知したうち、実際に放置だった割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1245240" y="1930320"/>
            <a:ext cx="1180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合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82" name="" descr=""/>
          <p:cNvPicPr/>
          <p:nvPr/>
        </p:nvPicPr>
        <p:blipFill>
          <a:blip r:embed="rId4"/>
          <a:stretch/>
        </p:blipFill>
        <p:spPr>
          <a:xfrm>
            <a:off x="2298240" y="2172600"/>
            <a:ext cx="91440" cy="10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3" name=""/>
          <p:cNvSpPr txBox="1"/>
          <p:nvPr/>
        </p:nvSpPr>
        <p:spPr>
          <a:xfrm>
            <a:off x="1245240" y="2158920"/>
            <a:ext cx="9867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93c5fd"/>
                </a:solidFill>
                <a:effectLst/>
                <a:uFillTx/>
                <a:latin typeface="Courier New"/>
                <a:ea typeface="Courier New"/>
              </a:rPr>
              <a:t>TP / (TP + FP)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3798000" y="1370160"/>
            <a:ext cx="3113280" cy="1070280"/>
          </a:xfrm>
          <a:custGeom>
            <a:avLst/>
            <a:gdLst/>
            <a:ahLst/>
            <a:rect l="0" t="0" r="r" b="b"/>
            <a:pathLst>
              <a:path w="8648" h="2973">
                <a:moveTo>
                  <a:pt x="0" y="2787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5" y="138"/>
                  <a:pt x="8" y="126"/>
                  <a:pt x="11" y="115"/>
                </a:cubicBezTo>
                <a:cubicBezTo>
                  <a:pt x="15" y="104"/>
                  <a:pt x="20" y="93"/>
                  <a:pt x="25" y="83"/>
                </a:cubicBezTo>
                <a:cubicBezTo>
                  <a:pt x="31" y="73"/>
                  <a:pt x="37" y="63"/>
                  <a:pt x="44" y="55"/>
                </a:cubicBezTo>
                <a:cubicBezTo>
                  <a:pt x="51" y="46"/>
                  <a:pt x="59" y="39"/>
                  <a:pt x="67" y="32"/>
                </a:cubicBezTo>
                <a:cubicBezTo>
                  <a:pt x="75" y="25"/>
                  <a:pt x="84" y="19"/>
                  <a:pt x="93" y="15"/>
                </a:cubicBezTo>
                <a:cubicBezTo>
                  <a:pt x="102" y="10"/>
                  <a:pt x="112" y="6"/>
                  <a:pt x="121" y="4"/>
                </a:cubicBezTo>
                <a:cubicBezTo>
                  <a:pt x="131" y="2"/>
                  <a:pt x="141" y="0"/>
                  <a:pt x="151" y="0"/>
                </a:cubicBezTo>
                <a:lnTo>
                  <a:pt x="8462" y="0"/>
                </a:lnTo>
                <a:cubicBezTo>
                  <a:pt x="8474" y="0"/>
                  <a:pt x="8486" y="2"/>
                  <a:pt x="8498" y="4"/>
                </a:cubicBezTo>
                <a:cubicBezTo>
                  <a:pt x="8510" y="6"/>
                  <a:pt x="8522" y="10"/>
                  <a:pt x="8533" y="15"/>
                </a:cubicBezTo>
                <a:cubicBezTo>
                  <a:pt x="8544" y="19"/>
                  <a:pt x="8555" y="25"/>
                  <a:pt x="8565" y="32"/>
                </a:cubicBezTo>
                <a:cubicBezTo>
                  <a:pt x="8575" y="39"/>
                  <a:pt x="8585" y="46"/>
                  <a:pt x="8593" y="55"/>
                </a:cubicBezTo>
                <a:cubicBezTo>
                  <a:pt x="8602" y="63"/>
                  <a:pt x="8610" y="73"/>
                  <a:pt x="8616" y="83"/>
                </a:cubicBezTo>
                <a:cubicBezTo>
                  <a:pt x="8623" y="93"/>
                  <a:pt x="8629" y="104"/>
                  <a:pt x="8634" y="115"/>
                </a:cubicBezTo>
                <a:cubicBezTo>
                  <a:pt x="8638" y="126"/>
                  <a:pt x="8642" y="138"/>
                  <a:pt x="8644" y="150"/>
                </a:cubicBezTo>
                <a:cubicBezTo>
                  <a:pt x="8647" y="162"/>
                  <a:pt x="8648" y="174"/>
                  <a:pt x="8648" y="186"/>
                </a:cubicBezTo>
                <a:lnTo>
                  <a:pt x="8648" y="2787"/>
                </a:lnTo>
                <a:cubicBezTo>
                  <a:pt x="8648" y="2799"/>
                  <a:pt x="8647" y="2811"/>
                  <a:pt x="8644" y="2823"/>
                </a:cubicBezTo>
                <a:cubicBezTo>
                  <a:pt x="8642" y="2835"/>
                  <a:pt x="8638" y="2847"/>
                  <a:pt x="8634" y="2858"/>
                </a:cubicBezTo>
                <a:cubicBezTo>
                  <a:pt x="8629" y="2869"/>
                  <a:pt x="8623" y="2880"/>
                  <a:pt x="8616" y="2890"/>
                </a:cubicBezTo>
                <a:cubicBezTo>
                  <a:pt x="8610" y="2900"/>
                  <a:pt x="8602" y="2910"/>
                  <a:pt x="8593" y="2918"/>
                </a:cubicBezTo>
                <a:cubicBezTo>
                  <a:pt x="8585" y="2927"/>
                  <a:pt x="8575" y="2935"/>
                  <a:pt x="8565" y="2941"/>
                </a:cubicBezTo>
                <a:cubicBezTo>
                  <a:pt x="8555" y="2948"/>
                  <a:pt x="8544" y="2954"/>
                  <a:pt x="8533" y="2959"/>
                </a:cubicBezTo>
                <a:cubicBezTo>
                  <a:pt x="8522" y="2963"/>
                  <a:pt x="8510" y="2967"/>
                  <a:pt x="8498" y="2969"/>
                </a:cubicBezTo>
                <a:cubicBezTo>
                  <a:pt x="8486" y="2972"/>
                  <a:pt x="8474" y="2973"/>
                  <a:pt x="8462" y="2973"/>
                </a:cubicBezTo>
                <a:lnTo>
                  <a:pt x="151" y="2973"/>
                </a:lnTo>
                <a:cubicBezTo>
                  <a:pt x="141" y="2973"/>
                  <a:pt x="131" y="2972"/>
                  <a:pt x="121" y="2969"/>
                </a:cubicBezTo>
                <a:cubicBezTo>
                  <a:pt x="112" y="2967"/>
                  <a:pt x="102" y="2963"/>
                  <a:pt x="93" y="2959"/>
                </a:cubicBezTo>
                <a:cubicBezTo>
                  <a:pt x="84" y="2954"/>
                  <a:pt x="75" y="2948"/>
                  <a:pt x="67" y="2941"/>
                </a:cubicBezTo>
                <a:cubicBezTo>
                  <a:pt x="59" y="2935"/>
                  <a:pt x="51" y="2927"/>
                  <a:pt x="44" y="2918"/>
                </a:cubicBezTo>
                <a:cubicBezTo>
                  <a:pt x="37" y="2910"/>
                  <a:pt x="31" y="2900"/>
                  <a:pt x="25" y="2890"/>
                </a:cubicBezTo>
                <a:cubicBezTo>
                  <a:pt x="20" y="2880"/>
                  <a:pt x="15" y="2869"/>
                  <a:pt x="11" y="2858"/>
                </a:cubicBezTo>
                <a:cubicBezTo>
                  <a:pt x="8" y="2847"/>
                  <a:pt x="5" y="2835"/>
                  <a:pt x="3" y="2823"/>
                </a:cubicBezTo>
                <a:cubicBezTo>
                  <a:pt x="1" y="2811"/>
                  <a:pt x="0" y="2799"/>
                  <a:pt x="0" y="2787"/>
                </a:cubicBezTo>
                <a:close/>
              </a:path>
            </a:pathLst>
          </a:custGeom>
          <a:solidFill>
            <a:srgbClr val="1a2a57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3785400" y="1370160"/>
            <a:ext cx="67320" cy="1070280"/>
          </a:xfrm>
          <a:custGeom>
            <a:avLst/>
            <a:gdLst/>
            <a:ahLst/>
            <a:rect l="0" t="0" r="r" b="b"/>
            <a:pathLst>
              <a:path w="187" h="2973">
                <a:moveTo>
                  <a:pt x="0" y="0"/>
                </a:moveTo>
                <a:lnTo>
                  <a:pt x="187" y="0"/>
                </a:lnTo>
                <a:lnTo>
                  <a:pt x="187" y="2973"/>
                </a:lnTo>
                <a:lnTo>
                  <a:pt x="0" y="2973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3944160" y="1504080"/>
            <a:ext cx="418320" cy="418320"/>
          </a:xfrm>
          <a:custGeom>
            <a:avLst/>
            <a:gdLst/>
            <a:ahLst/>
            <a:rect l="0" t="0" r="r" b="b"/>
            <a:pathLst>
              <a:path w="1162" h="1162">
                <a:moveTo>
                  <a:pt x="1162" y="580"/>
                </a:moveTo>
                <a:cubicBezTo>
                  <a:pt x="1162" y="599"/>
                  <a:pt x="1161" y="618"/>
                  <a:pt x="1159" y="637"/>
                </a:cubicBezTo>
                <a:cubicBezTo>
                  <a:pt x="1157" y="656"/>
                  <a:pt x="1154" y="675"/>
                  <a:pt x="1151" y="693"/>
                </a:cubicBezTo>
                <a:cubicBezTo>
                  <a:pt x="1147" y="712"/>
                  <a:pt x="1142" y="730"/>
                  <a:pt x="1137" y="749"/>
                </a:cubicBezTo>
                <a:cubicBezTo>
                  <a:pt x="1131" y="767"/>
                  <a:pt x="1125" y="785"/>
                  <a:pt x="1118" y="802"/>
                </a:cubicBezTo>
                <a:cubicBezTo>
                  <a:pt x="1110" y="820"/>
                  <a:pt x="1102" y="837"/>
                  <a:pt x="1093" y="854"/>
                </a:cubicBezTo>
                <a:cubicBezTo>
                  <a:pt x="1084" y="871"/>
                  <a:pt x="1074" y="887"/>
                  <a:pt x="1064" y="903"/>
                </a:cubicBezTo>
                <a:cubicBezTo>
                  <a:pt x="1053" y="918"/>
                  <a:pt x="1042" y="934"/>
                  <a:pt x="1030" y="948"/>
                </a:cubicBezTo>
                <a:cubicBezTo>
                  <a:pt x="1018" y="963"/>
                  <a:pt x="1005" y="977"/>
                  <a:pt x="992" y="991"/>
                </a:cubicBezTo>
                <a:cubicBezTo>
                  <a:pt x="978" y="1004"/>
                  <a:pt x="964" y="1017"/>
                  <a:pt x="950" y="1029"/>
                </a:cubicBezTo>
                <a:cubicBezTo>
                  <a:pt x="935" y="1041"/>
                  <a:pt x="920" y="1053"/>
                  <a:pt x="904" y="1064"/>
                </a:cubicBezTo>
                <a:cubicBezTo>
                  <a:pt x="888" y="1074"/>
                  <a:pt x="872" y="1084"/>
                  <a:pt x="855" y="1093"/>
                </a:cubicBezTo>
                <a:cubicBezTo>
                  <a:pt x="838" y="1102"/>
                  <a:pt x="821" y="1110"/>
                  <a:pt x="803" y="1117"/>
                </a:cubicBezTo>
                <a:cubicBezTo>
                  <a:pt x="786" y="1125"/>
                  <a:pt x="768" y="1131"/>
                  <a:pt x="750" y="1137"/>
                </a:cubicBezTo>
                <a:cubicBezTo>
                  <a:pt x="732" y="1142"/>
                  <a:pt x="713" y="1147"/>
                  <a:pt x="695" y="1150"/>
                </a:cubicBezTo>
                <a:cubicBezTo>
                  <a:pt x="676" y="1154"/>
                  <a:pt x="657" y="1157"/>
                  <a:pt x="638" y="1159"/>
                </a:cubicBezTo>
                <a:cubicBezTo>
                  <a:pt x="619" y="1161"/>
                  <a:pt x="600" y="1162"/>
                  <a:pt x="581" y="1162"/>
                </a:cubicBezTo>
                <a:cubicBezTo>
                  <a:pt x="562" y="1162"/>
                  <a:pt x="543" y="1161"/>
                  <a:pt x="525" y="1159"/>
                </a:cubicBezTo>
                <a:cubicBezTo>
                  <a:pt x="506" y="1157"/>
                  <a:pt x="487" y="1154"/>
                  <a:pt x="468" y="1150"/>
                </a:cubicBezTo>
                <a:cubicBezTo>
                  <a:pt x="450" y="1147"/>
                  <a:pt x="431" y="1142"/>
                  <a:pt x="413" y="1137"/>
                </a:cubicBezTo>
                <a:cubicBezTo>
                  <a:pt x="395" y="1131"/>
                  <a:pt x="377" y="1125"/>
                  <a:pt x="359" y="1117"/>
                </a:cubicBezTo>
                <a:cubicBezTo>
                  <a:pt x="342" y="1110"/>
                  <a:pt x="325" y="1102"/>
                  <a:pt x="308" y="1093"/>
                </a:cubicBezTo>
                <a:cubicBezTo>
                  <a:pt x="291" y="1084"/>
                  <a:pt x="275" y="1074"/>
                  <a:pt x="259" y="1064"/>
                </a:cubicBezTo>
                <a:cubicBezTo>
                  <a:pt x="243" y="1053"/>
                  <a:pt x="228" y="1041"/>
                  <a:pt x="213" y="1029"/>
                </a:cubicBezTo>
                <a:cubicBezTo>
                  <a:pt x="199" y="1017"/>
                  <a:pt x="184" y="1004"/>
                  <a:pt x="171" y="991"/>
                </a:cubicBezTo>
                <a:cubicBezTo>
                  <a:pt x="158" y="977"/>
                  <a:pt x="145" y="963"/>
                  <a:pt x="133" y="948"/>
                </a:cubicBezTo>
                <a:cubicBezTo>
                  <a:pt x="121" y="934"/>
                  <a:pt x="109" y="918"/>
                  <a:pt x="99" y="903"/>
                </a:cubicBezTo>
                <a:cubicBezTo>
                  <a:pt x="88" y="887"/>
                  <a:pt x="79" y="871"/>
                  <a:pt x="70" y="854"/>
                </a:cubicBezTo>
                <a:cubicBezTo>
                  <a:pt x="60" y="837"/>
                  <a:pt x="52" y="820"/>
                  <a:pt x="44" y="802"/>
                </a:cubicBezTo>
                <a:cubicBezTo>
                  <a:pt x="37" y="785"/>
                  <a:pt x="31" y="767"/>
                  <a:pt x="25" y="749"/>
                </a:cubicBezTo>
                <a:cubicBezTo>
                  <a:pt x="20" y="730"/>
                  <a:pt x="15" y="712"/>
                  <a:pt x="11" y="693"/>
                </a:cubicBezTo>
                <a:cubicBezTo>
                  <a:pt x="8" y="675"/>
                  <a:pt x="5" y="656"/>
                  <a:pt x="3" y="637"/>
                </a:cubicBezTo>
                <a:cubicBezTo>
                  <a:pt x="1" y="618"/>
                  <a:pt x="0" y="599"/>
                  <a:pt x="0" y="580"/>
                </a:cubicBezTo>
                <a:cubicBezTo>
                  <a:pt x="0" y="561"/>
                  <a:pt x="1" y="542"/>
                  <a:pt x="3" y="523"/>
                </a:cubicBezTo>
                <a:cubicBezTo>
                  <a:pt x="5" y="504"/>
                  <a:pt x="8" y="486"/>
                  <a:pt x="11" y="467"/>
                </a:cubicBezTo>
                <a:cubicBezTo>
                  <a:pt x="15" y="448"/>
                  <a:pt x="20" y="430"/>
                  <a:pt x="25" y="412"/>
                </a:cubicBezTo>
                <a:cubicBezTo>
                  <a:pt x="31" y="394"/>
                  <a:pt x="37" y="376"/>
                  <a:pt x="44" y="358"/>
                </a:cubicBezTo>
                <a:cubicBezTo>
                  <a:pt x="52" y="341"/>
                  <a:pt x="60" y="323"/>
                  <a:pt x="70" y="307"/>
                </a:cubicBezTo>
                <a:cubicBezTo>
                  <a:pt x="79" y="290"/>
                  <a:pt x="88" y="274"/>
                  <a:pt x="99" y="258"/>
                </a:cubicBezTo>
                <a:cubicBezTo>
                  <a:pt x="109" y="242"/>
                  <a:pt x="121" y="227"/>
                  <a:pt x="133" y="212"/>
                </a:cubicBezTo>
                <a:cubicBezTo>
                  <a:pt x="145" y="197"/>
                  <a:pt x="158" y="183"/>
                  <a:pt x="171" y="170"/>
                </a:cubicBezTo>
                <a:cubicBezTo>
                  <a:pt x="184" y="156"/>
                  <a:pt x="199" y="144"/>
                  <a:pt x="213" y="132"/>
                </a:cubicBezTo>
                <a:cubicBezTo>
                  <a:pt x="228" y="120"/>
                  <a:pt x="243" y="108"/>
                  <a:pt x="259" y="98"/>
                </a:cubicBezTo>
                <a:cubicBezTo>
                  <a:pt x="275" y="87"/>
                  <a:pt x="291" y="77"/>
                  <a:pt x="308" y="68"/>
                </a:cubicBezTo>
                <a:cubicBezTo>
                  <a:pt x="325" y="59"/>
                  <a:pt x="342" y="51"/>
                  <a:pt x="359" y="44"/>
                </a:cubicBezTo>
                <a:cubicBezTo>
                  <a:pt x="377" y="37"/>
                  <a:pt x="395" y="30"/>
                  <a:pt x="413" y="25"/>
                </a:cubicBezTo>
                <a:cubicBezTo>
                  <a:pt x="431" y="19"/>
                  <a:pt x="450" y="15"/>
                  <a:pt x="468" y="11"/>
                </a:cubicBezTo>
                <a:cubicBezTo>
                  <a:pt x="487" y="7"/>
                  <a:pt x="506" y="5"/>
                  <a:pt x="525" y="3"/>
                </a:cubicBezTo>
                <a:cubicBezTo>
                  <a:pt x="543" y="1"/>
                  <a:pt x="562" y="0"/>
                  <a:pt x="581" y="0"/>
                </a:cubicBezTo>
                <a:cubicBezTo>
                  <a:pt x="600" y="0"/>
                  <a:pt x="619" y="1"/>
                  <a:pt x="638" y="3"/>
                </a:cubicBezTo>
                <a:cubicBezTo>
                  <a:pt x="657" y="5"/>
                  <a:pt x="676" y="7"/>
                  <a:pt x="695" y="11"/>
                </a:cubicBezTo>
                <a:cubicBezTo>
                  <a:pt x="713" y="15"/>
                  <a:pt x="732" y="19"/>
                  <a:pt x="750" y="25"/>
                </a:cubicBezTo>
                <a:cubicBezTo>
                  <a:pt x="768" y="30"/>
                  <a:pt x="786" y="37"/>
                  <a:pt x="803" y="44"/>
                </a:cubicBezTo>
                <a:cubicBezTo>
                  <a:pt x="821" y="51"/>
                  <a:pt x="838" y="59"/>
                  <a:pt x="855" y="68"/>
                </a:cubicBezTo>
                <a:cubicBezTo>
                  <a:pt x="872" y="77"/>
                  <a:pt x="888" y="87"/>
                  <a:pt x="904" y="98"/>
                </a:cubicBezTo>
                <a:cubicBezTo>
                  <a:pt x="920" y="108"/>
                  <a:pt x="935" y="120"/>
                  <a:pt x="950" y="132"/>
                </a:cubicBezTo>
                <a:cubicBezTo>
                  <a:pt x="964" y="144"/>
                  <a:pt x="978" y="156"/>
                  <a:pt x="992" y="170"/>
                </a:cubicBezTo>
                <a:cubicBezTo>
                  <a:pt x="1005" y="183"/>
                  <a:pt x="1018" y="197"/>
                  <a:pt x="1030" y="212"/>
                </a:cubicBezTo>
                <a:cubicBezTo>
                  <a:pt x="1042" y="227"/>
                  <a:pt x="1053" y="242"/>
                  <a:pt x="1064" y="258"/>
                </a:cubicBezTo>
                <a:cubicBezTo>
                  <a:pt x="1074" y="274"/>
                  <a:pt x="1084" y="290"/>
                  <a:pt x="1093" y="307"/>
                </a:cubicBezTo>
                <a:cubicBezTo>
                  <a:pt x="1102" y="323"/>
                  <a:pt x="1110" y="341"/>
                  <a:pt x="1118" y="358"/>
                </a:cubicBezTo>
                <a:cubicBezTo>
                  <a:pt x="1125" y="376"/>
                  <a:pt x="1131" y="394"/>
                  <a:pt x="1137" y="412"/>
                </a:cubicBezTo>
                <a:cubicBezTo>
                  <a:pt x="1142" y="430"/>
                  <a:pt x="1147" y="448"/>
                  <a:pt x="1151" y="467"/>
                </a:cubicBezTo>
                <a:cubicBezTo>
                  <a:pt x="1154" y="486"/>
                  <a:pt x="1157" y="504"/>
                  <a:pt x="1159" y="523"/>
                </a:cubicBezTo>
                <a:cubicBezTo>
                  <a:pt x="1161" y="542"/>
                  <a:pt x="1162" y="561"/>
                  <a:pt x="1162" y="580"/>
                </a:cubicBezTo>
                <a:close/>
              </a:path>
            </a:pathLst>
          </a:custGeom>
          <a:solidFill>
            <a:srgbClr val="4a90e2">
              <a:alpha val="1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87" name="" descr=""/>
          <p:cNvPicPr/>
          <p:nvPr/>
        </p:nvPicPr>
        <p:blipFill>
          <a:blip r:embed="rId5"/>
          <a:stretch/>
        </p:blipFill>
        <p:spPr>
          <a:xfrm>
            <a:off x="4069800" y="162972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8" name=""/>
          <p:cNvSpPr txBox="1"/>
          <p:nvPr/>
        </p:nvSpPr>
        <p:spPr>
          <a:xfrm>
            <a:off x="2453760" y="2164320"/>
            <a:ext cx="10569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誤報の少なさを示す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4498560" y="1532880"/>
            <a:ext cx="128304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Recall (</a:t>
            </a:r>
            <a:r>
              <a:rPr b="0" lang="zh-CN" sz="132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再現率</a:t>
            </a:r>
            <a:r>
              <a:rPr b="0" lang="en-US" sz="132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)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4498560" y="1763280"/>
            <a:ext cx="223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実際の全放置事象のうち、検知できた割合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4498560" y="1991880"/>
            <a:ext cx="70488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93c5fd"/>
                </a:solidFill>
                <a:effectLst/>
                <a:uFillTx/>
                <a:latin typeface="Courier New"/>
                <a:ea typeface="Courier New"/>
              </a:rPr>
              <a:t>TP / (TP +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92" name="" descr=""/>
          <p:cNvPicPr/>
          <p:nvPr/>
        </p:nvPicPr>
        <p:blipFill>
          <a:blip r:embed="rId6"/>
          <a:stretch/>
        </p:blipFill>
        <p:spPr>
          <a:xfrm>
            <a:off x="5498640" y="2089080"/>
            <a:ext cx="91440" cy="10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3" name=""/>
          <p:cNvSpPr txBox="1"/>
          <p:nvPr/>
        </p:nvSpPr>
        <p:spPr>
          <a:xfrm>
            <a:off x="4498560" y="2158920"/>
            <a:ext cx="212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93c5fd"/>
                </a:solidFill>
                <a:effectLst/>
                <a:uFillTx/>
                <a:latin typeface="Courier New"/>
                <a:ea typeface="Courier New"/>
              </a:rPr>
              <a:t>FN)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5660280" y="1997280"/>
            <a:ext cx="10569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見逃しの少なさを示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7057080" y="1370160"/>
            <a:ext cx="3105000" cy="1070280"/>
          </a:xfrm>
          <a:custGeom>
            <a:avLst/>
            <a:gdLst/>
            <a:ahLst/>
            <a:rect l="0" t="0" r="r" b="b"/>
            <a:pathLst>
              <a:path w="8625" h="2973">
                <a:moveTo>
                  <a:pt x="0" y="2787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5" y="138"/>
                  <a:pt x="8" y="126"/>
                  <a:pt x="11" y="115"/>
                </a:cubicBezTo>
                <a:cubicBezTo>
                  <a:pt x="15" y="104"/>
                  <a:pt x="20" y="93"/>
                  <a:pt x="25" y="83"/>
                </a:cubicBezTo>
                <a:cubicBezTo>
                  <a:pt x="31" y="73"/>
                  <a:pt x="37" y="63"/>
                  <a:pt x="44" y="55"/>
                </a:cubicBezTo>
                <a:cubicBezTo>
                  <a:pt x="51" y="46"/>
                  <a:pt x="59" y="39"/>
                  <a:pt x="67" y="32"/>
                </a:cubicBezTo>
                <a:cubicBezTo>
                  <a:pt x="75" y="25"/>
                  <a:pt x="84" y="19"/>
                  <a:pt x="93" y="15"/>
                </a:cubicBezTo>
                <a:cubicBezTo>
                  <a:pt x="102" y="10"/>
                  <a:pt x="112" y="6"/>
                  <a:pt x="121" y="4"/>
                </a:cubicBezTo>
                <a:cubicBezTo>
                  <a:pt x="131" y="2"/>
                  <a:pt x="141" y="0"/>
                  <a:pt x="151" y="0"/>
                </a:cubicBezTo>
                <a:lnTo>
                  <a:pt x="8439" y="0"/>
                </a:lnTo>
                <a:cubicBezTo>
                  <a:pt x="8451" y="0"/>
                  <a:pt x="8463" y="2"/>
                  <a:pt x="8475" y="4"/>
                </a:cubicBezTo>
                <a:cubicBezTo>
                  <a:pt x="8487" y="6"/>
                  <a:pt x="8499" y="10"/>
                  <a:pt x="8510" y="15"/>
                </a:cubicBezTo>
                <a:cubicBezTo>
                  <a:pt x="8521" y="19"/>
                  <a:pt x="8532" y="25"/>
                  <a:pt x="8542" y="32"/>
                </a:cubicBezTo>
                <a:cubicBezTo>
                  <a:pt x="8552" y="39"/>
                  <a:pt x="8562" y="46"/>
                  <a:pt x="8570" y="55"/>
                </a:cubicBezTo>
                <a:cubicBezTo>
                  <a:pt x="8579" y="63"/>
                  <a:pt x="8586" y="73"/>
                  <a:pt x="8593" y="83"/>
                </a:cubicBezTo>
                <a:cubicBezTo>
                  <a:pt x="8600" y="93"/>
                  <a:pt x="8606" y="104"/>
                  <a:pt x="8610" y="115"/>
                </a:cubicBezTo>
                <a:cubicBezTo>
                  <a:pt x="8615" y="126"/>
                  <a:pt x="8619" y="138"/>
                  <a:pt x="8621" y="150"/>
                </a:cubicBezTo>
                <a:cubicBezTo>
                  <a:pt x="8623" y="162"/>
                  <a:pt x="8625" y="174"/>
                  <a:pt x="8625" y="186"/>
                </a:cubicBezTo>
                <a:lnTo>
                  <a:pt x="8625" y="2787"/>
                </a:lnTo>
                <a:cubicBezTo>
                  <a:pt x="8625" y="2799"/>
                  <a:pt x="8623" y="2811"/>
                  <a:pt x="8621" y="2823"/>
                </a:cubicBezTo>
                <a:cubicBezTo>
                  <a:pt x="8619" y="2835"/>
                  <a:pt x="8615" y="2847"/>
                  <a:pt x="8610" y="2858"/>
                </a:cubicBezTo>
                <a:cubicBezTo>
                  <a:pt x="8606" y="2869"/>
                  <a:pt x="8600" y="2880"/>
                  <a:pt x="8593" y="2890"/>
                </a:cubicBezTo>
                <a:cubicBezTo>
                  <a:pt x="8586" y="2900"/>
                  <a:pt x="8579" y="2910"/>
                  <a:pt x="8570" y="2918"/>
                </a:cubicBezTo>
                <a:cubicBezTo>
                  <a:pt x="8562" y="2927"/>
                  <a:pt x="8552" y="2935"/>
                  <a:pt x="8542" y="2941"/>
                </a:cubicBezTo>
                <a:cubicBezTo>
                  <a:pt x="8532" y="2948"/>
                  <a:pt x="8521" y="2954"/>
                  <a:pt x="8510" y="2959"/>
                </a:cubicBezTo>
                <a:cubicBezTo>
                  <a:pt x="8499" y="2963"/>
                  <a:pt x="8487" y="2967"/>
                  <a:pt x="8475" y="2969"/>
                </a:cubicBezTo>
                <a:cubicBezTo>
                  <a:pt x="8463" y="2972"/>
                  <a:pt x="8451" y="2973"/>
                  <a:pt x="8439" y="2973"/>
                </a:cubicBezTo>
                <a:lnTo>
                  <a:pt x="151" y="2973"/>
                </a:lnTo>
                <a:cubicBezTo>
                  <a:pt x="141" y="2973"/>
                  <a:pt x="131" y="2972"/>
                  <a:pt x="121" y="2969"/>
                </a:cubicBezTo>
                <a:cubicBezTo>
                  <a:pt x="112" y="2967"/>
                  <a:pt x="102" y="2963"/>
                  <a:pt x="93" y="2959"/>
                </a:cubicBezTo>
                <a:cubicBezTo>
                  <a:pt x="84" y="2954"/>
                  <a:pt x="75" y="2948"/>
                  <a:pt x="67" y="2941"/>
                </a:cubicBezTo>
                <a:cubicBezTo>
                  <a:pt x="59" y="2935"/>
                  <a:pt x="51" y="2927"/>
                  <a:pt x="44" y="2918"/>
                </a:cubicBezTo>
                <a:cubicBezTo>
                  <a:pt x="37" y="2910"/>
                  <a:pt x="31" y="2900"/>
                  <a:pt x="25" y="2890"/>
                </a:cubicBezTo>
                <a:cubicBezTo>
                  <a:pt x="20" y="2880"/>
                  <a:pt x="15" y="2869"/>
                  <a:pt x="11" y="2858"/>
                </a:cubicBezTo>
                <a:cubicBezTo>
                  <a:pt x="8" y="2847"/>
                  <a:pt x="5" y="2835"/>
                  <a:pt x="3" y="2823"/>
                </a:cubicBezTo>
                <a:cubicBezTo>
                  <a:pt x="1" y="2811"/>
                  <a:pt x="0" y="2799"/>
                  <a:pt x="0" y="2787"/>
                </a:cubicBezTo>
                <a:close/>
              </a:path>
            </a:pathLst>
          </a:custGeom>
          <a:solidFill>
            <a:srgbClr val="1a2a57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7044480" y="1370160"/>
            <a:ext cx="67320" cy="1070280"/>
          </a:xfrm>
          <a:custGeom>
            <a:avLst/>
            <a:gdLst/>
            <a:ahLst/>
            <a:rect l="0" t="0" r="r" b="b"/>
            <a:pathLst>
              <a:path w="187" h="2973">
                <a:moveTo>
                  <a:pt x="0" y="0"/>
                </a:moveTo>
                <a:lnTo>
                  <a:pt x="187" y="0"/>
                </a:lnTo>
                <a:lnTo>
                  <a:pt x="187" y="2973"/>
                </a:lnTo>
                <a:lnTo>
                  <a:pt x="0" y="2973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7203240" y="1504080"/>
            <a:ext cx="418320" cy="418320"/>
          </a:xfrm>
          <a:custGeom>
            <a:avLst/>
            <a:gdLst/>
            <a:ahLst/>
            <a:rect l="0" t="0" r="r" b="b"/>
            <a:pathLst>
              <a:path w="1162" h="1162">
                <a:moveTo>
                  <a:pt x="1162" y="580"/>
                </a:moveTo>
                <a:cubicBezTo>
                  <a:pt x="1162" y="599"/>
                  <a:pt x="1161" y="618"/>
                  <a:pt x="1159" y="637"/>
                </a:cubicBezTo>
                <a:cubicBezTo>
                  <a:pt x="1157" y="656"/>
                  <a:pt x="1154" y="675"/>
                  <a:pt x="1151" y="693"/>
                </a:cubicBezTo>
                <a:cubicBezTo>
                  <a:pt x="1147" y="712"/>
                  <a:pt x="1142" y="730"/>
                  <a:pt x="1137" y="749"/>
                </a:cubicBezTo>
                <a:cubicBezTo>
                  <a:pt x="1131" y="767"/>
                  <a:pt x="1125" y="785"/>
                  <a:pt x="1118" y="802"/>
                </a:cubicBezTo>
                <a:cubicBezTo>
                  <a:pt x="1110" y="820"/>
                  <a:pt x="1102" y="837"/>
                  <a:pt x="1093" y="854"/>
                </a:cubicBezTo>
                <a:cubicBezTo>
                  <a:pt x="1084" y="871"/>
                  <a:pt x="1075" y="887"/>
                  <a:pt x="1064" y="903"/>
                </a:cubicBezTo>
                <a:cubicBezTo>
                  <a:pt x="1053" y="918"/>
                  <a:pt x="1042" y="934"/>
                  <a:pt x="1030" y="948"/>
                </a:cubicBezTo>
                <a:cubicBezTo>
                  <a:pt x="1018" y="963"/>
                  <a:pt x="1005" y="977"/>
                  <a:pt x="992" y="991"/>
                </a:cubicBezTo>
                <a:cubicBezTo>
                  <a:pt x="978" y="1004"/>
                  <a:pt x="964" y="1017"/>
                  <a:pt x="950" y="1029"/>
                </a:cubicBezTo>
                <a:cubicBezTo>
                  <a:pt x="935" y="1041"/>
                  <a:pt x="920" y="1053"/>
                  <a:pt x="904" y="1064"/>
                </a:cubicBezTo>
                <a:cubicBezTo>
                  <a:pt x="888" y="1074"/>
                  <a:pt x="872" y="1084"/>
                  <a:pt x="855" y="1093"/>
                </a:cubicBezTo>
                <a:cubicBezTo>
                  <a:pt x="838" y="1102"/>
                  <a:pt x="821" y="1110"/>
                  <a:pt x="804" y="1117"/>
                </a:cubicBezTo>
                <a:cubicBezTo>
                  <a:pt x="786" y="1125"/>
                  <a:pt x="768" y="1131"/>
                  <a:pt x="750" y="1137"/>
                </a:cubicBezTo>
                <a:cubicBezTo>
                  <a:pt x="732" y="1142"/>
                  <a:pt x="713" y="1147"/>
                  <a:pt x="695" y="1150"/>
                </a:cubicBezTo>
                <a:cubicBezTo>
                  <a:pt x="676" y="1154"/>
                  <a:pt x="657" y="1157"/>
                  <a:pt x="638" y="1159"/>
                </a:cubicBezTo>
                <a:cubicBezTo>
                  <a:pt x="619" y="1161"/>
                  <a:pt x="600" y="1162"/>
                  <a:pt x="581" y="1162"/>
                </a:cubicBezTo>
                <a:cubicBezTo>
                  <a:pt x="562" y="1162"/>
                  <a:pt x="544" y="1161"/>
                  <a:pt x="525" y="1159"/>
                </a:cubicBezTo>
                <a:cubicBezTo>
                  <a:pt x="506" y="1157"/>
                  <a:pt x="487" y="1154"/>
                  <a:pt x="468" y="1150"/>
                </a:cubicBezTo>
                <a:cubicBezTo>
                  <a:pt x="450" y="1147"/>
                  <a:pt x="431" y="1142"/>
                  <a:pt x="413" y="1137"/>
                </a:cubicBezTo>
                <a:cubicBezTo>
                  <a:pt x="395" y="1131"/>
                  <a:pt x="377" y="1125"/>
                  <a:pt x="359" y="1117"/>
                </a:cubicBezTo>
                <a:cubicBezTo>
                  <a:pt x="342" y="1110"/>
                  <a:pt x="325" y="1102"/>
                  <a:pt x="308" y="1093"/>
                </a:cubicBezTo>
                <a:cubicBezTo>
                  <a:pt x="290" y="1084"/>
                  <a:pt x="274" y="1074"/>
                  <a:pt x="258" y="1064"/>
                </a:cubicBezTo>
                <a:cubicBezTo>
                  <a:pt x="242" y="1053"/>
                  <a:pt x="227" y="1041"/>
                  <a:pt x="212" y="1029"/>
                </a:cubicBezTo>
                <a:cubicBezTo>
                  <a:pt x="198" y="1017"/>
                  <a:pt x="184" y="1004"/>
                  <a:pt x="170" y="991"/>
                </a:cubicBezTo>
                <a:cubicBezTo>
                  <a:pt x="157" y="977"/>
                  <a:pt x="144" y="963"/>
                  <a:pt x="132" y="948"/>
                </a:cubicBezTo>
                <a:cubicBezTo>
                  <a:pt x="120" y="934"/>
                  <a:pt x="109" y="918"/>
                  <a:pt x="98" y="903"/>
                </a:cubicBezTo>
                <a:cubicBezTo>
                  <a:pt x="87" y="887"/>
                  <a:pt x="78" y="871"/>
                  <a:pt x="69" y="854"/>
                </a:cubicBezTo>
                <a:cubicBezTo>
                  <a:pt x="60" y="837"/>
                  <a:pt x="52" y="820"/>
                  <a:pt x="44" y="802"/>
                </a:cubicBezTo>
                <a:cubicBezTo>
                  <a:pt x="37" y="785"/>
                  <a:pt x="31" y="767"/>
                  <a:pt x="25" y="749"/>
                </a:cubicBezTo>
                <a:cubicBezTo>
                  <a:pt x="20" y="730"/>
                  <a:pt x="15" y="712"/>
                  <a:pt x="11" y="693"/>
                </a:cubicBezTo>
                <a:cubicBezTo>
                  <a:pt x="8" y="675"/>
                  <a:pt x="5" y="656"/>
                  <a:pt x="3" y="637"/>
                </a:cubicBezTo>
                <a:cubicBezTo>
                  <a:pt x="1" y="618"/>
                  <a:pt x="0" y="599"/>
                  <a:pt x="0" y="580"/>
                </a:cubicBezTo>
                <a:cubicBezTo>
                  <a:pt x="0" y="561"/>
                  <a:pt x="1" y="542"/>
                  <a:pt x="3" y="523"/>
                </a:cubicBezTo>
                <a:cubicBezTo>
                  <a:pt x="5" y="504"/>
                  <a:pt x="8" y="486"/>
                  <a:pt x="11" y="467"/>
                </a:cubicBezTo>
                <a:cubicBezTo>
                  <a:pt x="15" y="448"/>
                  <a:pt x="20" y="430"/>
                  <a:pt x="25" y="412"/>
                </a:cubicBezTo>
                <a:cubicBezTo>
                  <a:pt x="31" y="394"/>
                  <a:pt x="37" y="376"/>
                  <a:pt x="44" y="358"/>
                </a:cubicBezTo>
                <a:cubicBezTo>
                  <a:pt x="52" y="341"/>
                  <a:pt x="60" y="323"/>
                  <a:pt x="69" y="307"/>
                </a:cubicBezTo>
                <a:cubicBezTo>
                  <a:pt x="78" y="290"/>
                  <a:pt x="87" y="274"/>
                  <a:pt x="98" y="258"/>
                </a:cubicBezTo>
                <a:cubicBezTo>
                  <a:pt x="109" y="242"/>
                  <a:pt x="120" y="227"/>
                  <a:pt x="132" y="212"/>
                </a:cubicBezTo>
                <a:cubicBezTo>
                  <a:pt x="144" y="197"/>
                  <a:pt x="157" y="183"/>
                  <a:pt x="170" y="170"/>
                </a:cubicBezTo>
                <a:cubicBezTo>
                  <a:pt x="184" y="156"/>
                  <a:pt x="198" y="144"/>
                  <a:pt x="212" y="132"/>
                </a:cubicBezTo>
                <a:cubicBezTo>
                  <a:pt x="227" y="120"/>
                  <a:pt x="242" y="108"/>
                  <a:pt x="258" y="98"/>
                </a:cubicBezTo>
                <a:cubicBezTo>
                  <a:pt x="274" y="87"/>
                  <a:pt x="290" y="77"/>
                  <a:pt x="308" y="68"/>
                </a:cubicBezTo>
                <a:cubicBezTo>
                  <a:pt x="325" y="59"/>
                  <a:pt x="342" y="51"/>
                  <a:pt x="359" y="44"/>
                </a:cubicBezTo>
                <a:cubicBezTo>
                  <a:pt x="377" y="37"/>
                  <a:pt x="395" y="30"/>
                  <a:pt x="413" y="25"/>
                </a:cubicBezTo>
                <a:cubicBezTo>
                  <a:pt x="431" y="19"/>
                  <a:pt x="450" y="15"/>
                  <a:pt x="468" y="11"/>
                </a:cubicBezTo>
                <a:cubicBezTo>
                  <a:pt x="487" y="7"/>
                  <a:pt x="506" y="5"/>
                  <a:pt x="525" y="3"/>
                </a:cubicBezTo>
                <a:cubicBezTo>
                  <a:pt x="544" y="1"/>
                  <a:pt x="562" y="0"/>
                  <a:pt x="581" y="0"/>
                </a:cubicBezTo>
                <a:cubicBezTo>
                  <a:pt x="600" y="0"/>
                  <a:pt x="619" y="1"/>
                  <a:pt x="638" y="3"/>
                </a:cubicBezTo>
                <a:cubicBezTo>
                  <a:pt x="657" y="5"/>
                  <a:pt x="676" y="7"/>
                  <a:pt x="695" y="11"/>
                </a:cubicBezTo>
                <a:cubicBezTo>
                  <a:pt x="713" y="15"/>
                  <a:pt x="732" y="19"/>
                  <a:pt x="750" y="25"/>
                </a:cubicBezTo>
                <a:cubicBezTo>
                  <a:pt x="768" y="30"/>
                  <a:pt x="786" y="37"/>
                  <a:pt x="804" y="44"/>
                </a:cubicBezTo>
                <a:cubicBezTo>
                  <a:pt x="821" y="51"/>
                  <a:pt x="838" y="59"/>
                  <a:pt x="855" y="68"/>
                </a:cubicBezTo>
                <a:cubicBezTo>
                  <a:pt x="872" y="77"/>
                  <a:pt x="888" y="87"/>
                  <a:pt x="904" y="98"/>
                </a:cubicBezTo>
                <a:cubicBezTo>
                  <a:pt x="920" y="108"/>
                  <a:pt x="935" y="120"/>
                  <a:pt x="950" y="132"/>
                </a:cubicBezTo>
                <a:cubicBezTo>
                  <a:pt x="964" y="144"/>
                  <a:pt x="978" y="156"/>
                  <a:pt x="992" y="170"/>
                </a:cubicBezTo>
                <a:cubicBezTo>
                  <a:pt x="1005" y="183"/>
                  <a:pt x="1018" y="197"/>
                  <a:pt x="1030" y="212"/>
                </a:cubicBezTo>
                <a:cubicBezTo>
                  <a:pt x="1042" y="227"/>
                  <a:pt x="1053" y="242"/>
                  <a:pt x="1064" y="258"/>
                </a:cubicBezTo>
                <a:cubicBezTo>
                  <a:pt x="1075" y="274"/>
                  <a:pt x="1084" y="290"/>
                  <a:pt x="1093" y="307"/>
                </a:cubicBezTo>
                <a:cubicBezTo>
                  <a:pt x="1102" y="323"/>
                  <a:pt x="1110" y="341"/>
                  <a:pt x="1118" y="358"/>
                </a:cubicBezTo>
                <a:cubicBezTo>
                  <a:pt x="1125" y="376"/>
                  <a:pt x="1131" y="394"/>
                  <a:pt x="1137" y="412"/>
                </a:cubicBezTo>
                <a:cubicBezTo>
                  <a:pt x="1142" y="430"/>
                  <a:pt x="1147" y="448"/>
                  <a:pt x="1151" y="467"/>
                </a:cubicBezTo>
                <a:cubicBezTo>
                  <a:pt x="1154" y="486"/>
                  <a:pt x="1157" y="504"/>
                  <a:pt x="1159" y="523"/>
                </a:cubicBezTo>
                <a:cubicBezTo>
                  <a:pt x="1161" y="542"/>
                  <a:pt x="1162" y="561"/>
                  <a:pt x="1162" y="580"/>
                </a:cubicBezTo>
                <a:close/>
              </a:path>
            </a:pathLst>
          </a:custGeom>
          <a:solidFill>
            <a:srgbClr val="4a90e2">
              <a:alpha val="1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98" name="" descr=""/>
          <p:cNvPicPr/>
          <p:nvPr/>
        </p:nvPicPr>
        <p:blipFill>
          <a:blip r:embed="rId7"/>
          <a:stretch/>
        </p:blipFill>
        <p:spPr>
          <a:xfrm>
            <a:off x="7303680" y="1629720"/>
            <a:ext cx="20844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9" name=""/>
          <p:cNvSpPr txBox="1"/>
          <p:nvPr/>
        </p:nvSpPr>
        <p:spPr>
          <a:xfrm>
            <a:off x="5660280" y="2164320"/>
            <a:ext cx="1180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す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7752240" y="1532880"/>
            <a:ext cx="74556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F1</a:t>
            </a:r>
            <a:r>
              <a:rPr b="0" lang="zh-CN" sz="132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スコア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7752240" y="1763280"/>
            <a:ext cx="14090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適合率と再現率の調和平均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7752240" y="1991880"/>
            <a:ext cx="112752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93c5fd"/>
                </a:solidFill>
                <a:effectLst/>
                <a:uFillTx/>
                <a:latin typeface="Courier New"/>
                <a:ea typeface="Courier New"/>
              </a:rPr>
              <a:t>2 × (P × R) / (P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03" name="" descr=""/>
          <p:cNvPicPr/>
          <p:nvPr/>
        </p:nvPicPr>
        <p:blipFill>
          <a:blip r:embed="rId8"/>
          <a:stretch/>
        </p:blipFill>
        <p:spPr>
          <a:xfrm>
            <a:off x="9075240" y="2089080"/>
            <a:ext cx="91440" cy="10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4" name=""/>
          <p:cNvSpPr txBox="1"/>
          <p:nvPr/>
        </p:nvSpPr>
        <p:spPr>
          <a:xfrm>
            <a:off x="7752240" y="2158920"/>
            <a:ext cx="2822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93c5fd"/>
                </a:solidFill>
                <a:effectLst/>
                <a:uFillTx/>
                <a:latin typeface="Courier New"/>
                <a:ea typeface="Courier New"/>
              </a:rPr>
              <a:t>+ R)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9231840" y="1997280"/>
            <a:ext cx="7048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総合的な検知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547200" y="2573640"/>
            <a:ext cx="3105000" cy="1069920"/>
          </a:xfrm>
          <a:custGeom>
            <a:avLst/>
            <a:gdLst/>
            <a:ahLst/>
            <a:rect l="0" t="0" r="r" b="b"/>
            <a:pathLst>
              <a:path w="8625" h="2972">
                <a:moveTo>
                  <a:pt x="0" y="2787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5" y="138"/>
                  <a:pt x="8" y="126"/>
                  <a:pt x="11" y="115"/>
                </a:cubicBezTo>
                <a:cubicBezTo>
                  <a:pt x="15" y="103"/>
                  <a:pt x="20" y="93"/>
                  <a:pt x="25" y="83"/>
                </a:cubicBezTo>
                <a:cubicBezTo>
                  <a:pt x="31" y="73"/>
                  <a:pt x="37" y="63"/>
                  <a:pt x="44" y="55"/>
                </a:cubicBezTo>
                <a:cubicBezTo>
                  <a:pt x="51" y="46"/>
                  <a:pt x="59" y="38"/>
                  <a:pt x="67" y="31"/>
                </a:cubicBezTo>
                <a:cubicBezTo>
                  <a:pt x="75" y="25"/>
                  <a:pt x="84" y="19"/>
                  <a:pt x="93" y="14"/>
                </a:cubicBezTo>
                <a:cubicBezTo>
                  <a:pt x="102" y="10"/>
                  <a:pt x="112" y="6"/>
                  <a:pt x="121" y="4"/>
                </a:cubicBezTo>
                <a:cubicBezTo>
                  <a:pt x="131" y="1"/>
                  <a:pt x="141" y="0"/>
                  <a:pt x="151" y="0"/>
                </a:cubicBezTo>
                <a:lnTo>
                  <a:pt x="8439" y="0"/>
                </a:lnTo>
                <a:cubicBezTo>
                  <a:pt x="8451" y="0"/>
                  <a:pt x="8463" y="1"/>
                  <a:pt x="8475" y="4"/>
                </a:cubicBezTo>
                <a:cubicBezTo>
                  <a:pt x="8487" y="6"/>
                  <a:pt x="8499" y="10"/>
                  <a:pt x="8510" y="14"/>
                </a:cubicBezTo>
                <a:cubicBezTo>
                  <a:pt x="8521" y="19"/>
                  <a:pt x="8532" y="25"/>
                  <a:pt x="8542" y="31"/>
                </a:cubicBezTo>
                <a:cubicBezTo>
                  <a:pt x="8552" y="38"/>
                  <a:pt x="8562" y="46"/>
                  <a:pt x="8570" y="55"/>
                </a:cubicBezTo>
                <a:cubicBezTo>
                  <a:pt x="8579" y="63"/>
                  <a:pt x="8587" y="73"/>
                  <a:pt x="8593" y="83"/>
                </a:cubicBezTo>
                <a:cubicBezTo>
                  <a:pt x="8600" y="93"/>
                  <a:pt x="8606" y="103"/>
                  <a:pt x="8610" y="115"/>
                </a:cubicBezTo>
                <a:cubicBezTo>
                  <a:pt x="8615" y="126"/>
                  <a:pt x="8619" y="138"/>
                  <a:pt x="8621" y="150"/>
                </a:cubicBezTo>
                <a:cubicBezTo>
                  <a:pt x="8623" y="162"/>
                  <a:pt x="8625" y="174"/>
                  <a:pt x="8625" y="186"/>
                </a:cubicBezTo>
                <a:lnTo>
                  <a:pt x="8625" y="2787"/>
                </a:lnTo>
                <a:cubicBezTo>
                  <a:pt x="8625" y="2799"/>
                  <a:pt x="8623" y="2811"/>
                  <a:pt x="8621" y="2823"/>
                </a:cubicBezTo>
                <a:cubicBezTo>
                  <a:pt x="8619" y="2835"/>
                  <a:pt x="8615" y="2846"/>
                  <a:pt x="8610" y="2858"/>
                </a:cubicBezTo>
                <a:cubicBezTo>
                  <a:pt x="8606" y="2869"/>
                  <a:pt x="8600" y="2880"/>
                  <a:pt x="8593" y="2890"/>
                </a:cubicBezTo>
                <a:cubicBezTo>
                  <a:pt x="8587" y="2900"/>
                  <a:pt x="8579" y="2909"/>
                  <a:pt x="8570" y="2918"/>
                </a:cubicBezTo>
                <a:cubicBezTo>
                  <a:pt x="8562" y="2927"/>
                  <a:pt x="8552" y="2934"/>
                  <a:pt x="8542" y="2941"/>
                </a:cubicBezTo>
                <a:cubicBezTo>
                  <a:pt x="8532" y="2948"/>
                  <a:pt x="8521" y="2954"/>
                  <a:pt x="8510" y="2958"/>
                </a:cubicBezTo>
                <a:cubicBezTo>
                  <a:pt x="8499" y="2963"/>
                  <a:pt x="8487" y="2966"/>
                  <a:pt x="8475" y="2969"/>
                </a:cubicBezTo>
                <a:cubicBezTo>
                  <a:pt x="8463" y="2971"/>
                  <a:pt x="8451" y="2972"/>
                  <a:pt x="8439" y="2972"/>
                </a:cubicBezTo>
                <a:lnTo>
                  <a:pt x="151" y="2972"/>
                </a:lnTo>
                <a:cubicBezTo>
                  <a:pt x="141" y="2972"/>
                  <a:pt x="131" y="2971"/>
                  <a:pt x="121" y="2969"/>
                </a:cubicBezTo>
                <a:cubicBezTo>
                  <a:pt x="112" y="2966"/>
                  <a:pt x="102" y="2963"/>
                  <a:pt x="93" y="2958"/>
                </a:cubicBezTo>
                <a:cubicBezTo>
                  <a:pt x="84" y="2954"/>
                  <a:pt x="75" y="2948"/>
                  <a:pt x="67" y="2941"/>
                </a:cubicBezTo>
                <a:cubicBezTo>
                  <a:pt x="59" y="2934"/>
                  <a:pt x="51" y="2927"/>
                  <a:pt x="44" y="2918"/>
                </a:cubicBezTo>
                <a:cubicBezTo>
                  <a:pt x="37" y="2909"/>
                  <a:pt x="31" y="2900"/>
                  <a:pt x="25" y="2890"/>
                </a:cubicBezTo>
                <a:cubicBezTo>
                  <a:pt x="20" y="2880"/>
                  <a:pt x="15" y="2869"/>
                  <a:pt x="11" y="2858"/>
                </a:cubicBezTo>
                <a:cubicBezTo>
                  <a:pt x="8" y="2846"/>
                  <a:pt x="5" y="2835"/>
                  <a:pt x="3" y="2823"/>
                </a:cubicBezTo>
                <a:cubicBezTo>
                  <a:pt x="1" y="2811"/>
                  <a:pt x="0" y="2799"/>
                  <a:pt x="0" y="2787"/>
                </a:cubicBezTo>
                <a:close/>
              </a:path>
            </a:pathLst>
          </a:custGeom>
          <a:solidFill>
            <a:srgbClr val="1a2a57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534600" y="2573640"/>
            <a:ext cx="67320" cy="1069920"/>
          </a:xfrm>
          <a:custGeom>
            <a:avLst/>
            <a:gdLst/>
            <a:ahLst/>
            <a:rect l="0" t="0" r="r" b="b"/>
            <a:pathLst>
              <a:path w="187" h="2972">
                <a:moveTo>
                  <a:pt x="0" y="0"/>
                </a:moveTo>
                <a:lnTo>
                  <a:pt x="187" y="0"/>
                </a:lnTo>
                <a:lnTo>
                  <a:pt x="187" y="2972"/>
                </a:lnTo>
                <a:lnTo>
                  <a:pt x="0" y="2972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693360" y="2707560"/>
            <a:ext cx="418320" cy="417960"/>
          </a:xfrm>
          <a:custGeom>
            <a:avLst/>
            <a:gdLst/>
            <a:ahLst/>
            <a:rect l="0" t="0" r="r" b="b"/>
            <a:pathLst>
              <a:path w="1162" h="1161">
                <a:moveTo>
                  <a:pt x="1162" y="581"/>
                </a:moveTo>
                <a:cubicBezTo>
                  <a:pt x="1162" y="600"/>
                  <a:pt x="1161" y="619"/>
                  <a:pt x="1159" y="638"/>
                </a:cubicBezTo>
                <a:cubicBezTo>
                  <a:pt x="1157" y="657"/>
                  <a:pt x="1154" y="675"/>
                  <a:pt x="1151" y="694"/>
                </a:cubicBezTo>
                <a:cubicBezTo>
                  <a:pt x="1147" y="713"/>
                  <a:pt x="1142" y="731"/>
                  <a:pt x="1137" y="749"/>
                </a:cubicBezTo>
                <a:cubicBezTo>
                  <a:pt x="1131" y="768"/>
                  <a:pt x="1125" y="785"/>
                  <a:pt x="1118" y="803"/>
                </a:cubicBezTo>
                <a:cubicBezTo>
                  <a:pt x="1110" y="820"/>
                  <a:pt x="1102" y="838"/>
                  <a:pt x="1093" y="854"/>
                </a:cubicBezTo>
                <a:cubicBezTo>
                  <a:pt x="1084" y="871"/>
                  <a:pt x="1075" y="887"/>
                  <a:pt x="1064" y="903"/>
                </a:cubicBezTo>
                <a:cubicBezTo>
                  <a:pt x="1053" y="919"/>
                  <a:pt x="1042" y="934"/>
                  <a:pt x="1030" y="949"/>
                </a:cubicBezTo>
                <a:cubicBezTo>
                  <a:pt x="1018" y="964"/>
                  <a:pt x="1005" y="978"/>
                  <a:pt x="992" y="991"/>
                </a:cubicBezTo>
                <a:cubicBezTo>
                  <a:pt x="978" y="1005"/>
                  <a:pt x="963" y="1017"/>
                  <a:pt x="949" y="1029"/>
                </a:cubicBezTo>
                <a:cubicBezTo>
                  <a:pt x="934" y="1042"/>
                  <a:pt x="919" y="1053"/>
                  <a:pt x="903" y="1063"/>
                </a:cubicBezTo>
                <a:cubicBezTo>
                  <a:pt x="887" y="1074"/>
                  <a:pt x="871" y="1084"/>
                  <a:pt x="854" y="1093"/>
                </a:cubicBezTo>
                <a:cubicBezTo>
                  <a:pt x="837" y="1102"/>
                  <a:pt x="820" y="1110"/>
                  <a:pt x="803" y="1117"/>
                </a:cubicBezTo>
                <a:cubicBezTo>
                  <a:pt x="785" y="1124"/>
                  <a:pt x="767" y="1131"/>
                  <a:pt x="749" y="1136"/>
                </a:cubicBezTo>
                <a:cubicBezTo>
                  <a:pt x="731" y="1142"/>
                  <a:pt x="712" y="1146"/>
                  <a:pt x="694" y="1150"/>
                </a:cubicBezTo>
                <a:cubicBezTo>
                  <a:pt x="675" y="1154"/>
                  <a:pt x="656" y="1157"/>
                  <a:pt x="637" y="1158"/>
                </a:cubicBezTo>
                <a:cubicBezTo>
                  <a:pt x="618" y="1160"/>
                  <a:pt x="600" y="1161"/>
                  <a:pt x="581" y="1161"/>
                </a:cubicBezTo>
                <a:cubicBezTo>
                  <a:pt x="562" y="1161"/>
                  <a:pt x="543" y="1160"/>
                  <a:pt x="524" y="1158"/>
                </a:cubicBezTo>
                <a:cubicBezTo>
                  <a:pt x="505" y="1157"/>
                  <a:pt x="486" y="1154"/>
                  <a:pt x="467" y="1150"/>
                </a:cubicBezTo>
                <a:cubicBezTo>
                  <a:pt x="449" y="1146"/>
                  <a:pt x="430" y="1142"/>
                  <a:pt x="412" y="1136"/>
                </a:cubicBezTo>
                <a:cubicBezTo>
                  <a:pt x="394" y="1131"/>
                  <a:pt x="376" y="1124"/>
                  <a:pt x="358" y="1117"/>
                </a:cubicBezTo>
                <a:cubicBezTo>
                  <a:pt x="341" y="1110"/>
                  <a:pt x="324" y="1102"/>
                  <a:pt x="307" y="1093"/>
                </a:cubicBezTo>
                <a:cubicBezTo>
                  <a:pt x="290" y="1084"/>
                  <a:pt x="274" y="1074"/>
                  <a:pt x="258" y="1063"/>
                </a:cubicBezTo>
                <a:cubicBezTo>
                  <a:pt x="242" y="1053"/>
                  <a:pt x="227" y="1042"/>
                  <a:pt x="212" y="1029"/>
                </a:cubicBezTo>
                <a:cubicBezTo>
                  <a:pt x="198" y="1017"/>
                  <a:pt x="184" y="1005"/>
                  <a:pt x="170" y="991"/>
                </a:cubicBezTo>
                <a:cubicBezTo>
                  <a:pt x="157" y="978"/>
                  <a:pt x="144" y="964"/>
                  <a:pt x="132" y="949"/>
                </a:cubicBezTo>
                <a:cubicBezTo>
                  <a:pt x="120" y="934"/>
                  <a:pt x="109" y="919"/>
                  <a:pt x="98" y="903"/>
                </a:cubicBezTo>
                <a:cubicBezTo>
                  <a:pt x="87" y="887"/>
                  <a:pt x="78" y="871"/>
                  <a:pt x="69" y="854"/>
                </a:cubicBezTo>
                <a:cubicBezTo>
                  <a:pt x="60" y="838"/>
                  <a:pt x="52" y="820"/>
                  <a:pt x="44" y="803"/>
                </a:cubicBezTo>
                <a:cubicBezTo>
                  <a:pt x="37" y="785"/>
                  <a:pt x="31" y="768"/>
                  <a:pt x="25" y="749"/>
                </a:cubicBezTo>
                <a:cubicBezTo>
                  <a:pt x="20" y="731"/>
                  <a:pt x="15" y="713"/>
                  <a:pt x="11" y="694"/>
                </a:cubicBezTo>
                <a:cubicBezTo>
                  <a:pt x="8" y="675"/>
                  <a:pt x="5" y="657"/>
                  <a:pt x="3" y="638"/>
                </a:cubicBezTo>
                <a:cubicBezTo>
                  <a:pt x="1" y="619"/>
                  <a:pt x="0" y="600"/>
                  <a:pt x="0" y="581"/>
                </a:cubicBezTo>
                <a:cubicBezTo>
                  <a:pt x="0" y="562"/>
                  <a:pt x="1" y="543"/>
                  <a:pt x="3" y="524"/>
                </a:cubicBezTo>
                <a:cubicBezTo>
                  <a:pt x="5" y="505"/>
                  <a:pt x="8" y="486"/>
                  <a:pt x="11" y="468"/>
                </a:cubicBezTo>
                <a:cubicBezTo>
                  <a:pt x="15" y="449"/>
                  <a:pt x="20" y="431"/>
                  <a:pt x="25" y="412"/>
                </a:cubicBezTo>
                <a:cubicBezTo>
                  <a:pt x="31" y="394"/>
                  <a:pt x="37" y="376"/>
                  <a:pt x="44" y="359"/>
                </a:cubicBezTo>
                <a:cubicBezTo>
                  <a:pt x="52" y="341"/>
                  <a:pt x="60" y="324"/>
                  <a:pt x="69" y="307"/>
                </a:cubicBezTo>
                <a:cubicBezTo>
                  <a:pt x="78" y="291"/>
                  <a:pt x="87" y="274"/>
                  <a:pt x="98" y="258"/>
                </a:cubicBezTo>
                <a:cubicBezTo>
                  <a:pt x="109" y="243"/>
                  <a:pt x="120" y="227"/>
                  <a:pt x="132" y="213"/>
                </a:cubicBezTo>
                <a:cubicBezTo>
                  <a:pt x="144" y="198"/>
                  <a:pt x="157" y="184"/>
                  <a:pt x="170" y="171"/>
                </a:cubicBezTo>
                <a:cubicBezTo>
                  <a:pt x="184" y="157"/>
                  <a:pt x="198" y="144"/>
                  <a:pt x="212" y="132"/>
                </a:cubicBezTo>
                <a:cubicBezTo>
                  <a:pt x="227" y="120"/>
                  <a:pt x="242" y="109"/>
                  <a:pt x="258" y="98"/>
                </a:cubicBezTo>
                <a:cubicBezTo>
                  <a:pt x="274" y="88"/>
                  <a:pt x="290" y="78"/>
                  <a:pt x="307" y="69"/>
                </a:cubicBezTo>
                <a:cubicBezTo>
                  <a:pt x="324" y="60"/>
                  <a:pt x="341" y="52"/>
                  <a:pt x="358" y="45"/>
                </a:cubicBezTo>
                <a:cubicBezTo>
                  <a:pt x="376" y="37"/>
                  <a:pt x="394" y="31"/>
                  <a:pt x="412" y="26"/>
                </a:cubicBezTo>
                <a:cubicBezTo>
                  <a:pt x="430" y="20"/>
                  <a:pt x="449" y="14"/>
                  <a:pt x="467" y="11"/>
                </a:cubicBezTo>
                <a:cubicBezTo>
                  <a:pt x="486" y="7"/>
                  <a:pt x="505" y="4"/>
                  <a:pt x="524" y="2"/>
                </a:cubicBezTo>
                <a:cubicBezTo>
                  <a:pt x="543" y="0"/>
                  <a:pt x="562" y="0"/>
                  <a:pt x="581" y="0"/>
                </a:cubicBezTo>
                <a:cubicBezTo>
                  <a:pt x="600" y="0"/>
                  <a:pt x="618" y="0"/>
                  <a:pt x="637" y="2"/>
                </a:cubicBezTo>
                <a:cubicBezTo>
                  <a:pt x="656" y="4"/>
                  <a:pt x="675" y="7"/>
                  <a:pt x="694" y="11"/>
                </a:cubicBezTo>
                <a:cubicBezTo>
                  <a:pt x="712" y="14"/>
                  <a:pt x="731" y="20"/>
                  <a:pt x="749" y="26"/>
                </a:cubicBezTo>
                <a:cubicBezTo>
                  <a:pt x="767" y="31"/>
                  <a:pt x="785" y="37"/>
                  <a:pt x="803" y="45"/>
                </a:cubicBezTo>
                <a:cubicBezTo>
                  <a:pt x="820" y="52"/>
                  <a:pt x="837" y="60"/>
                  <a:pt x="854" y="69"/>
                </a:cubicBezTo>
                <a:cubicBezTo>
                  <a:pt x="871" y="78"/>
                  <a:pt x="887" y="88"/>
                  <a:pt x="903" y="98"/>
                </a:cubicBezTo>
                <a:cubicBezTo>
                  <a:pt x="919" y="109"/>
                  <a:pt x="934" y="120"/>
                  <a:pt x="949" y="132"/>
                </a:cubicBezTo>
                <a:cubicBezTo>
                  <a:pt x="963" y="144"/>
                  <a:pt x="978" y="157"/>
                  <a:pt x="992" y="171"/>
                </a:cubicBezTo>
                <a:cubicBezTo>
                  <a:pt x="1005" y="184"/>
                  <a:pt x="1018" y="198"/>
                  <a:pt x="1030" y="213"/>
                </a:cubicBezTo>
                <a:cubicBezTo>
                  <a:pt x="1042" y="227"/>
                  <a:pt x="1053" y="243"/>
                  <a:pt x="1064" y="258"/>
                </a:cubicBezTo>
                <a:cubicBezTo>
                  <a:pt x="1075" y="274"/>
                  <a:pt x="1084" y="291"/>
                  <a:pt x="1093" y="307"/>
                </a:cubicBezTo>
                <a:cubicBezTo>
                  <a:pt x="1102" y="324"/>
                  <a:pt x="1110" y="341"/>
                  <a:pt x="1118" y="359"/>
                </a:cubicBezTo>
                <a:cubicBezTo>
                  <a:pt x="1125" y="376"/>
                  <a:pt x="1131" y="394"/>
                  <a:pt x="1137" y="412"/>
                </a:cubicBezTo>
                <a:cubicBezTo>
                  <a:pt x="1142" y="431"/>
                  <a:pt x="1147" y="449"/>
                  <a:pt x="1151" y="468"/>
                </a:cubicBezTo>
                <a:cubicBezTo>
                  <a:pt x="1154" y="486"/>
                  <a:pt x="1157" y="505"/>
                  <a:pt x="1159" y="524"/>
                </a:cubicBezTo>
                <a:cubicBezTo>
                  <a:pt x="1161" y="543"/>
                  <a:pt x="1162" y="562"/>
                  <a:pt x="1162" y="581"/>
                </a:cubicBezTo>
                <a:close/>
              </a:path>
            </a:pathLst>
          </a:custGeom>
          <a:solidFill>
            <a:srgbClr val="4a90e2">
              <a:alpha val="1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09" name="" descr=""/>
          <p:cNvPicPr/>
          <p:nvPr/>
        </p:nvPicPr>
        <p:blipFill>
          <a:blip r:embed="rId9"/>
          <a:stretch/>
        </p:blipFill>
        <p:spPr>
          <a:xfrm>
            <a:off x="802080" y="2832840"/>
            <a:ext cx="20844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0" name=""/>
          <p:cNvSpPr txBox="1"/>
          <p:nvPr/>
        </p:nvSpPr>
        <p:spPr>
          <a:xfrm>
            <a:off x="9231840" y="2164320"/>
            <a:ext cx="2354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性能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1245240" y="2736360"/>
            <a:ext cx="50364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誤報率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1245240" y="2966760"/>
            <a:ext cx="223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正常な状況で誤ってアラートを発した割合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3798000" y="2573640"/>
            <a:ext cx="3113280" cy="1069920"/>
          </a:xfrm>
          <a:custGeom>
            <a:avLst/>
            <a:gdLst/>
            <a:ahLst/>
            <a:rect l="0" t="0" r="r" b="b"/>
            <a:pathLst>
              <a:path w="8648" h="2972">
                <a:moveTo>
                  <a:pt x="0" y="2787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5" y="138"/>
                  <a:pt x="8" y="126"/>
                  <a:pt x="11" y="115"/>
                </a:cubicBezTo>
                <a:cubicBezTo>
                  <a:pt x="15" y="103"/>
                  <a:pt x="20" y="93"/>
                  <a:pt x="25" y="83"/>
                </a:cubicBezTo>
                <a:cubicBezTo>
                  <a:pt x="31" y="73"/>
                  <a:pt x="37" y="63"/>
                  <a:pt x="44" y="55"/>
                </a:cubicBezTo>
                <a:cubicBezTo>
                  <a:pt x="51" y="46"/>
                  <a:pt x="59" y="38"/>
                  <a:pt x="67" y="31"/>
                </a:cubicBezTo>
                <a:cubicBezTo>
                  <a:pt x="75" y="25"/>
                  <a:pt x="84" y="19"/>
                  <a:pt x="93" y="14"/>
                </a:cubicBezTo>
                <a:cubicBezTo>
                  <a:pt x="102" y="10"/>
                  <a:pt x="112" y="6"/>
                  <a:pt x="121" y="4"/>
                </a:cubicBezTo>
                <a:cubicBezTo>
                  <a:pt x="131" y="1"/>
                  <a:pt x="141" y="0"/>
                  <a:pt x="151" y="0"/>
                </a:cubicBezTo>
                <a:lnTo>
                  <a:pt x="8462" y="0"/>
                </a:lnTo>
                <a:cubicBezTo>
                  <a:pt x="8474" y="0"/>
                  <a:pt x="8486" y="1"/>
                  <a:pt x="8498" y="4"/>
                </a:cubicBezTo>
                <a:cubicBezTo>
                  <a:pt x="8510" y="6"/>
                  <a:pt x="8522" y="10"/>
                  <a:pt x="8533" y="14"/>
                </a:cubicBezTo>
                <a:cubicBezTo>
                  <a:pt x="8544" y="19"/>
                  <a:pt x="8555" y="25"/>
                  <a:pt x="8565" y="31"/>
                </a:cubicBezTo>
                <a:cubicBezTo>
                  <a:pt x="8575" y="38"/>
                  <a:pt x="8585" y="46"/>
                  <a:pt x="8593" y="55"/>
                </a:cubicBezTo>
                <a:cubicBezTo>
                  <a:pt x="8602" y="63"/>
                  <a:pt x="8610" y="73"/>
                  <a:pt x="8616" y="83"/>
                </a:cubicBezTo>
                <a:cubicBezTo>
                  <a:pt x="8623" y="93"/>
                  <a:pt x="8629" y="103"/>
                  <a:pt x="8634" y="115"/>
                </a:cubicBezTo>
                <a:cubicBezTo>
                  <a:pt x="8638" y="126"/>
                  <a:pt x="8642" y="138"/>
                  <a:pt x="8644" y="150"/>
                </a:cubicBezTo>
                <a:cubicBezTo>
                  <a:pt x="8647" y="162"/>
                  <a:pt x="8648" y="174"/>
                  <a:pt x="8648" y="186"/>
                </a:cubicBezTo>
                <a:lnTo>
                  <a:pt x="8648" y="2787"/>
                </a:lnTo>
                <a:cubicBezTo>
                  <a:pt x="8648" y="2799"/>
                  <a:pt x="8647" y="2811"/>
                  <a:pt x="8644" y="2823"/>
                </a:cubicBezTo>
                <a:cubicBezTo>
                  <a:pt x="8642" y="2835"/>
                  <a:pt x="8638" y="2846"/>
                  <a:pt x="8634" y="2858"/>
                </a:cubicBezTo>
                <a:cubicBezTo>
                  <a:pt x="8629" y="2869"/>
                  <a:pt x="8623" y="2880"/>
                  <a:pt x="8616" y="2890"/>
                </a:cubicBezTo>
                <a:cubicBezTo>
                  <a:pt x="8610" y="2900"/>
                  <a:pt x="8602" y="2909"/>
                  <a:pt x="8593" y="2918"/>
                </a:cubicBezTo>
                <a:cubicBezTo>
                  <a:pt x="8585" y="2927"/>
                  <a:pt x="8575" y="2934"/>
                  <a:pt x="8565" y="2941"/>
                </a:cubicBezTo>
                <a:cubicBezTo>
                  <a:pt x="8555" y="2948"/>
                  <a:pt x="8544" y="2954"/>
                  <a:pt x="8533" y="2958"/>
                </a:cubicBezTo>
                <a:cubicBezTo>
                  <a:pt x="8522" y="2963"/>
                  <a:pt x="8510" y="2966"/>
                  <a:pt x="8498" y="2969"/>
                </a:cubicBezTo>
                <a:cubicBezTo>
                  <a:pt x="8486" y="2971"/>
                  <a:pt x="8474" y="2972"/>
                  <a:pt x="8462" y="2972"/>
                </a:cubicBezTo>
                <a:lnTo>
                  <a:pt x="151" y="2972"/>
                </a:lnTo>
                <a:cubicBezTo>
                  <a:pt x="141" y="2972"/>
                  <a:pt x="131" y="2971"/>
                  <a:pt x="121" y="2969"/>
                </a:cubicBezTo>
                <a:cubicBezTo>
                  <a:pt x="112" y="2966"/>
                  <a:pt x="102" y="2963"/>
                  <a:pt x="93" y="2958"/>
                </a:cubicBezTo>
                <a:cubicBezTo>
                  <a:pt x="84" y="2954"/>
                  <a:pt x="75" y="2948"/>
                  <a:pt x="67" y="2941"/>
                </a:cubicBezTo>
                <a:cubicBezTo>
                  <a:pt x="59" y="2934"/>
                  <a:pt x="51" y="2927"/>
                  <a:pt x="44" y="2918"/>
                </a:cubicBezTo>
                <a:cubicBezTo>
                  <a:pt x="37" y="2909"/>
                  <a:pt x="31" y="2900"/>
                  <a:pt x="25" y="2890"/>
                </a:cubicBezTo>
                <a:cubicBezTo>
                  <a:pt x="20" y="2880"/>
                  <a:pt x="15" y="2869"/>
                  <a:pt x="11" y="2858"/>
                </a:cubicBezTo>
                <a:cubicBezTo>
                  <a:pt x="8" y="2846"/>
                  <a:pt x="5" y="2835"/>
                  <a:pt x="3" y="2823"/>
                </a:cubicBezTo>
                <a:cubicBezTo>
                  <a:pt x="1" y="2811"/>
                  <a:pt x="0" y="2799"/>
                  <a:pt x="0" y="2787"/>
                </a:cubicBezTo>
                <a:close/>
              </a:path>
            </a:pathLst>
          </a:custGeom>
          <a:solidFill>
            <a:srgbClr val="1a2a57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3785400" y="2573640"/>
            <a:ext cx="67320" cy="1069920"/>
          </a:xfrm>
          <a:custGeom>
            <a:avLst/>
            <a:gdLst/>
            <a:ahLst/>
            <a:rect l="0" t="0" r="r" b="b"/>
            <a:pathLst>
              <a:path w="187" h="2972">
                <a:moveTo>
                  <a:pt x="0" y="0"/>
                </a:moveTo>
                <a:lnTo>
                  <a:pt x="187" y="0"/>
                </a:lnTo>
                <a:lnTo>
                  <a:pt x="187" y="2972"/>
                </a:lnTo>
                <a:lnTo>
                  <a:pt x="0" y="2972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3944160" y="2707560"/>
            <a:ext cx="418320" cy="417960"/>
          </a:xfrm>
          <a:custGeom>
            <a:avLst/>
            <a:gdLst/>
            <a:ahLst/>
            <a:rect l="0" t="0" r="r" b="b"/>
            <a:pathLst>
              <a:path w="1162" h="1161">
                <a:moveTo>
                  <a:pt x="1162" y="581"/>
                </a:moveTo>
                <a:cubicBezTo>
                  <a:pt x="1162" y="600"/>
                  <a:pt x="1161" y="619"/>
                  <a:pt x="1159" y="638"/>
                </a:cubicBezTo>
                <a:cubicBezTo>
                  <a:pt x="1157" y="657"/>
                  <a:pt x="1154" y="675"/>
                  <a:pt x="1151" y="694"/>
                </a:cubicBezTo>
                <a:cubicBezTo>
                  <a:pt x="1147" y="713"/>
                  <a:pt x="1142" y="731"/>
                  <a:pt x="1137" y="749"/>
                </a:cubicBezTo>
                <a:cubicBezTo>
                  <a:pt x="1131" y="768"/>
                  <a:pt x="1125" y="785"/>
                  <a:pt x="1118" y="803"/>
                </a:cubicBezTo>
                <a:cubicBezTo>
                  <a:pt x="1110" y="820"/>
                  <a:pt x="1102" y="838"/>
                  <a:pt x="1093" y="854"/>
                </a:cubicBezTo>
                <a:cubicBezTo>
                  <a:pt x="1084" y="871"/>
                  <a:pt x="1074" y="887"/>
                  <a:pt x="1064" y="903"/>
                </a:cubicBezTo>
                <a:cubicBezTo>
                  <a:pt x="1053" y="919"/>
                  <a:pt x="1042" y="934"/>
                  <a:pt x="1030" y="949"/>
                </a:cubicBezTo>
                <a:cubicBezTo>
                  <a:pt x="1018" y="964"/>
                  <a:pt x="1005" y="978"/>
                  <a:pt x="992" y="991"/>
                </a:cubicBezTo>
                <a:cubicBezTo>
                  <a:pt x="978" y="1005"/>
                  <a:pt x="964" y="1017"/>
                  <a:pt x="950" y="1029"/>
                </a:cubicBezTo>
                <a:cubicBezTo>
                  <a:pt x="935" y="1042"/>
                  <a:pt x="920" y="1053"/>
                  <a:pt x="904" y="1063"/>
                </a:cubicBezTo>
                <a:cubicBezTo>
                  <a:pt x="888" y="1074"/>
                  <a:pt x="872" y="1084"/>
                  <a:pt x="855" y="1093"/>
                </a:cubicBezTo>
                <a:cubicBezTo>
                  <a:pt x="838" y="1102"/>
                  <a:pt x="821" y="1110"/>
                  <a:pt x="803" y="1117"/>
                </a:cubicBezTo>
                <a:cubicBezTo>
                  <a:pt x="786" y="1124"/>
                  <a:pt x="768" y="1131"/>
                  <a:pt x="750" y="1136"/>
                </a:cubicBezTo>
                <a:cubicBezTo>
                  <a:pt x="732" y="1142"/>
                  <a:pt x="713" y="1146"/>
                  <a:pt x="695" y="1150"/>
                </a:cubicBezTo>
                <a:cubicBezTo>
                  <a:pt x="676" y="1154"/>
                  <a:pt x="657" y="1157"/>
                  <a:pt x="638" y="1158"/>
                </a:cubicBezTo>
                <a:cubicBezTo>
                  <a:pt x="619" y="1160"/>
                  <a:pt x="600" y="1161"/>
                  <a:pt x="581" y="1161"/>
                </a:cubicBezTo>
                <a:cubicBezTo>
                  <a:pt x="562" y="1161"/>
                  <a:pt x="543" y="1160"/>
                  <a:pt x="525" y="1158"/>
                </a:cubicBezTo>
                <a:cubicBezTo>
                  <a:pt x="506" y="1157"/>
                  <a:pt x="487" y="1154"/>
                  <a:pt x="468" y="1150"/>
                </a:cubicBezTo>
                <a:cubicBezTo>
                  <a:pt x="450" y="1146"/>
                  <a:pt x="431" y="1142"/>
                  <a:pt x="413" y="1136"/>
                </a:cubicBezTo>
                <a:cubicBezTo>
                  <a:pt x="395" y="1131"/>
                  <a:pt x="377" y="1124"/>
                  <a:pt x="359" y="1117"/>
                </a:cubicBezTo>
                <a:cubicBezTo>
                  <a:pt x="342" y="1110"/>
                  <a:pt x="325" y="1102"/>
                  <a:pt x="308" y="1093"/>
                </a:cubicBezTo>
                <a:cubicBezTo>
                  <a:pt x="291" y="1084"/>
                  <a:pt x="275" y="1074"/>
                  <a:pt x="259" y="1063"/>
                </a:cubicBezTo>
                <a:cubicBezTo>
                  <a:pt x="243" y="1053"/>
                  <a:pt x="228" y="1042"/>
                  <a:pt x="213" y="1029"/>
                </a:cubicBezTo>
                <a:cubicBezTo>
                  <a:pt x="199" y="1017"/>
                  <a:pt x="184" y="1005"/>
                  <a:pt x="171" y="991"/>
                </a:cubicBezTo>
                <a:cubicBezTo>
                  <a:pt x="158" y="978"/>
                  <a:pt x="145" y="964"/>
                  <a:pt x="133" y="949"/>
                </a:cubicBezTo>
                <a:cubicBezTo>
                  <a:pt x="121" y="934"/>
                  <a:pt x="109" y="919"/>
                  <a:pt x="99" y="903"/>
                </a:cubicBezTo>
                <a:cubicBezTo>
                  <a:pt x="88" y="887"/>
                  <a:pt x="79" y="871"/>
                  <a:pt x="70" y="854"/>
                </a:cubicBezTo>
                <a:cubicBezTo>
                  <a:pt x="60" y="838"/>
                  <a:pt x="52" y="820"/>
                  <a:pt x="44" y="803"/>
                </a:cubicBezTo>
                <a:cubicBezTo>
                  <a:pt x="37" y="785"/>
                  <a:pt x="31" y="768"/>
                  <a:pt x="25" y="749"/>
                </a:cubicBezTo>
                <a:cubicBezTo>
                  <a:pt x="20" y="731"/>
                  <a:pt x="15" y="713"/>
                  <a:pt x="11" y="694"/>
                </a:cubicBezTo>
                <a:cubicBezTo>
                  <a:pt x="8" y="675"/>
                  <a:pt x="5" y="657"/>
                  <a:pt x="3" y="638"/>
                </a:cubicBezTo>
                <a:cubicBezTo>
                  <a:pt x="1" y="619"/>
                  <a:pt x="0" y="600"/>
                  <a:pt x="0" y="581"/>
                </a:cubicBezTo>
                <a:cubicBezTo>
                  <a:pt x="0" y="562"/>
                  <a:pt x="1" y="543"/>
                  <a:pt x="3" y="524"/>
                </a:cubicBezTo>
                <a:cubicBezTo>
                  <a:pt x="5" y="505"/>
                  <a:pt x="8" y="486"/>
                  <a:pt x="11" y="468"/>
                </a:cubicBezTo>
                <a:cubicBezTo>
                  <a:pt x="15" y="449"/>
                  <a:pt x="20" y="431"/>
                  <a:pt x="25" y="412"/>
                </a:cubicBezTo>
                <a:cubicBezTo>
                  <a:pt x="31" y="394"/>
                  <a:pt x="37" y="376"/>
                  <a:pt x="44" y="359"/>
                </a:cubicBezTo>
                <a:cubicBezTo>
                  <a:pt x="52" y="341"/>
                  <a:pt x="60" y="324"/>
                  <a:pt x="70" y="307"/>
                </a:cubicBezTo>
                <a:cubicBezTo>
                  <a:pt x="79" y="291"/>
                  <a:pt x="88" y="274"/>
                  <a:pt x="99" y="258"/>
                </a:cubicBezTo>
                <a:cubicBezTo>
                  <a:pt x="109" y="243"/>
                  <a:pt x="121" y="227"/>
                  <a:pt x="133" y="213"/>
                </a:cubicBezTo>
                <a:cubicBezTo>
                  <a:pt x="145" y="198"/>
                  <a:pt x="158" y="184"/>
                  <a:pt x="171" y="171"/>
                </a:cubicBezTo>
                <a:cubicBezTo>
                  <a:pt x="184" y="157"/>
                  <a:pt x="199" y="144"/>
                  <a:pt x="213" y="132"/>
                </a:cubicBezTo>
                <a:cubicBezTo>
                  <a:pt x="228" y="120"/>
                  <a:pt x="243" y="109"/>
                  <a:pt x="259" y="98"/>
                </a:cubicBezTo>
                <a:cubicBezTo>
                  <a:pt x="275" y="88"/>
                  <a:pt x="291" y="78"/>
                  <a:pt x="308" y="69"/>
                </a:cubicBezTo>
                <a:cubicBezTo>
                  <a:pt x="325" y="60"/>
                  <a:pt x="342" y="52"/>
                  <a:pt x="359" y="45"/>
                </a:cubicBezTo>
                <a:cubicBezTo>
                  <a:pt x="377" y="37"/>
                  <a:pt x="395" y="31"/>
                  <a:pt x="413" y="26"/>
                </a:cubicBezTo>
                <a:cubicBezTo>
                  <a:pt x="431" y="20"/>
                  <a:pt x="450" y="14"/>
                  <a:pt x="468" y="11"/>
                </a:cubicBezTo>
                <a:cubicBezTo>
                  <a:pt x="487" y="7"/>
                  <a:pt x="506" y="4"/>
                  <a:pt x="525" y="2"/>
                </a:cubicBezTo>
                <a:cubicBezTo>
                  <a:pt x="543" y="0"/>
                  <a:pt x="562" y="0"/>
                  <a:pt x="581" y="0"/>
                </a:cubicBezTo>
                <a:cubicBezTo>
                  <a:pt x="600" y="0"/>
                  <a:pt x="619" y="0"/>
                  <a:pt x="638" y="2"/>
                </a:cubicBezTo>
                <a:cubicBezTo>
                  <a:pt x="657" y="4"/>
                  <a:pt x="676" y="7"/>
                  <a:pt x="695" y="11"/>
                </a:cubicBezTo>
                <a:cubicBezTo>
                  <a:pt x="713" y="14"/>
                  <a:pt x="732" y="20"/>
                  <a:pt x="750" y="26"/>
                </a:cubicBezTo>
                <a:cubicBezTo>
                  <a:pt x="768" y="31"/>
                  <a:pt x="786" y="37"/>
                  <a:pt x="803" y="45"/>
                </a:cubicBezTo>
                <a:cubicBezTo>
                  <a:pt x="821" y="52"/>
                  <a:pt x="838" y="60"/>
                  <a:pt x="855" y="69"/>
                </a:cubicBezTo>
                <a:cubicBezTo>
                  <a:pt x="872" y="78"/>
                  <a:pt x="888" y="88"/>
                  <a:pt x="904" y="98"/>
                </a:cubicBezTo>
                <a:cubicBezTo>
                  <a:pt x="920" y="109"/>
                  <a:pt x="935" y="120"/>
                  <a:pt x="950" y="132"/>
                </a:cubicBezTo>
                <a:cubicBezTo>
                  <a:pt x="964" y="144"/>
                  <a:pt x="978" y="157"/>
                  <a:pt x="992" y="171"/>
                </a:cubicBezTo>
                <a:cubicBezTo>
                  <a:pt x="1005" y="184"/>
                  <a:pt x="1018" y="198"/>
                  <a:pt x="1030" y="213"/>
                </a:cubicBezTo>
                <a:cubicBezTo>
                  <a:pt x="1042" y="227"/>
                  <a:pt x="1053" y="243"/>
                  <a:pt x="1064" y="258"/>
                </a:cubicBezTo>
                <a:cubicBezTo>
                  <a:pt x="1074" y="274"/>
                  <a:pt x="1084" y="291"/>
                  <a:pt x="1093" y="307"/>
                </a:cubicBezTo>
                <a:cubicBezTo>
                  <a:pt x="1102" y="324"/>
                  <a:pt x="1110" y="341"/>
                  <a:pt x="1118" y="359"/>
                </a:cubicBezTo>
                <a:cubicBezTo>
                  <a:pt x="1125" y="376"/>
                  <a:pt x="1131" y="394"/>
                  <a:pt x="1137" y="412"/>
                </a:cubicBezTo>
                <a:cubicBezTo>
                  <a:pt x="1142" y="431"/>
                  <a:pt x="1147" y="449"/>
                  <a:pt x="1151" y="468"/>
                </a:cubicBezTo>
                <a:cubicBezTo>
                  <a:pt x="1154" y="486"/>
                  <a:pt x="1157" y="505"/>
                  <a:pt x="1159" y="524"/>
                </a:cubicBezTo>
                <a:cubicBezTo>
                  <a:pt x="1161" y="543"/>
                  <a:pt x="1162" y="562"/>
                  <a:pt x="1162" y="581"/>
                </a:cubicBezTo>
                <a:close/>
              </a:path>
            </a:pathLst>
          </a:custGeom>
          <a:solidFill>
            <a:srgbClr val="4a90e2">
              <a:alpha val="1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16" name="" descr=""/>
          <p:cNvPicPr/>
          <p:nvPr/>
        </p:nvPicPr>
        <p:blipFill>
          <a:blip r:embed="rId10"/>
          <a:stretch/>
        </p:blipFill>
        <p:spPr>
          <a:xfrm>
            <a:off x="4078080" y="2832840"/>
            <a:ext cx="1501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7" name=""/>
          <p:cNvSpPr txBox="1"/>
          <p:nvPr/>
        </p:nvSpPr>
        <p:spPr>
          <a:xfrm>
            <a:off x="1245240" y="3200760"/>
            <a:ext cx="1761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システムの信頼性を示す重要指標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4498560" y="2736360"/>
            <a:ext cx="117432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盗難検知成功率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4498560" y="2966760"/>
            <a:ext cx="223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盗難事象を正しく「盗難」として識別でき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4498560" y="3133800"/>
            <a:ext cx="352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た割合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7057080" y="2573640"/>
            <a:ext cx="3105000" cy="1069920"/>
          </a:xfrm>
          <a:custGeom>
            <a:avLst/>
            <a:gdLst/>
            <a:ahLst/>
            <a:rect l="0" t="0" r="r" b="b"/>
            <a:pathLst>
              <a:path w="8625" h="2972">
                <a:moveTo>
                  <a:pt x="0" y="2787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5" y="138"/>
                  <a:pt x="8" y="126"/>
                  <a:pt x="11" y="115"/>
                </a:cubicBezTo>
                <a:cubicBezTo>
                  <a:pt x="15" y="103"/>
                  <a:pt x="20" y="93"/>
                  <a:pt x="25" y="83"/>
                </a:cubicBezTo>
                <a:cubicBezTo>
                  <a:pt x="31" y="73"/>
                  <a:pt x="37" y="63"/>
                  <a:pt x="44" y="55"/>
                </a:cubicBezTo>
                <a:cubicBezTo>
                  <a:pt x="51" y="46"/>
                  <a:pt x="59" y="38"/>
                  <a:pt x="67" y="31"/>
                </a:cubicBezTo>
                <a:cubicBezTo>
                  <a:pt x="75" y="25"/>
                  <a:pt x="84" y="19"/>
                  <a:pt x="93" y="14"/>
                </a:cubicBezTo>
                <a:cubicBezTo>
                  <a:pt x="102" y="10"/>
                  <a:pt x="112" y="6"/>
                  <a:pt x="121" y="4"/>
                </a:cubicBezTo>
                <a:cubicBezTo>
                  <a:pt x="131" y="1"/>
                  <a:pt x="141" y="0"/>
                  <a:pt x="151" y="0"/>
                </a:cubicBezTo>
                <a:lnTo>
                  <a:pt x="8439" y="0"/>
                </a:lnTo>
                <a:cubicBezTo>
                  <a:pt x="8451" y="0"/>
                  <a:pt x="8463" y="1"/>
                  <a:pt x="8475" y="4"/>
                </a:cubicBezTo>
                <a:cubicBezTo>
                  <a:pt x="8487" y="6"/>
                  <a:pt x="8499" y="10"/>
                  <a:pt x="8510" y="14"/>
                </a:cubicBezTo>
                <a:cubicBezTo>
                  <a:pt x="8521" y="19"/>
                  <a:pt x="8532" y="25"/>
                  <a:pt x="8542" y="31"/>
                </a:cubicBezTo>
                <a:cubicBezTo>
                  <a:pt x="8552" y="38"/>
                  <a:pt x="8562" y="46"/>
                  <a:pt x="8570" y="55"/>
                </a:cubicBezTo>
                <a:cubicBezTo>
                  <a:pt x="8579" y="63"/>
                  <a:pt x="8586" y="73"/>
                  <a:pt x="8593" y="83"/>
                </a:cubicBezTo>
                <a:cubicBezTo>
                  <a:pt x="8600" y="93"/>
                  <a:pt x="8606" y="103"/>
                  <a:pt x="8610" y="115"/>
                </a:cubicBezTo>
                <a:cubicBezTo>
                  <a:pt x="8615" y="126"/>
                  <a:pt x="8619" y="138"/>
                  <a:pt x="8621" y="150"/>
                </a:cubicBezTo>
                <a:cubicBezTo>
                  <a:pt x="8623" y="162"/>
                  <a:pt x="8625" y="174"/>
                  <a:pt x="8625" y="186"/>
                </a:cubicBezTo>
                <a:lnTo>
                  <a:pt x="8625" y="2787"/>
                </a:lnTo>
                <a:cubicBezTo>
                  <a:pt x="8625" y="2799"/>
                  <a:pt x="8623" y="2811"/>
                  <a:pt x="8621" y="2823"/>
                </a:cubicBezTo>
                <a:cubicBezTo>
                  <a:pt x="8619" y="2835"/>
                  <a:pt x="8615" y="2846"/>
                  <a:pt x="8610" y="2858"/>
                </a:cubicBezTo>
                <a:cubicBezTo>
                  <a:pt x="8606" y="2869"/>
                  <a:pt x="8600" y="2880"/>
                  <a:pt x="8593" y="2890"/>
                </a:cubicBezTo>
                <a:cubicBezTo>
                  <a:pt x="8586" y="2900"/>
                  <a:pt x="8579" y="2909"/>
                  <a:pt x="8570" y="2918"/>
                </a:cubicBezTo>
                <a:cubicBezTo>
                  <a:pt x="8562" y="2927"/>
                  <a:pt x="8552" y="2934"/>
                  <a:pt x="8542" y="2941"/>
                </a:cubicBezTo>
                <a:cubicBezTo>
                  <a:pt x="8532" y="2948"/>
                  <a:pt x="8521" y="2954"/>
                  <a:pt x="8510" y="2958"/>
                </a:cubicBezTo>
                <a:cubicBezTo>
                  <a:pt x="8499" y="2963"/>
                  <a:pt x="8487" y="2966"/>
                  <a:pt x="8475" y="2969"/>
                </a:cubicBezTo>
                <a:cubicBezTo>
                  <a:pt x="8463" y="2971"/>
                  <a:pt x="8451" y="2972"/>
                  <a:pt x="8439" y="2972"/>
                </a:cubicBezTo>
                <a:lnTo>
                  <a:pt x="151" y="2972"/>
                </a:lnTo>
                <a:cubicBezTo>
                  <a:pt x="141" y="2972"/>
                  <a:pt x="131" y="2971"/>
                  <a:pt x="121" y="2969"/>
                </a:cubicBezTo>
                <a:cubicBezTo>
                  <a:pt x="112" y="2966"/>
                  <a:pt x="102" y="2963"/>
                  <a:pt x="93" y="2958"/>
                </a:cubicBezTo>
                <a:cubicBezTo>
                  <a:pt x="84" y="2954"/>
                  <a:pt x="75" y="2948"/>
                  <a:pt x="67" y="2941"/>
                </a:cubicBezTo>
                <a:cubicBezTo>
                  <a:pt x="59" y="2934"/>
                  <a:pt x="51" y="2927"/>
                  <a:pt x="44" y="2918"/>
                </a:cubicBezTo>
                <a:cubicBezTo>
                  <a:pt x="37" y="2909"/>
                  <a:pt x="31" y="2900"/>
                  <a:pt x="25" y="2890"/>
                </a:cubicBezTo>
                <a:cubicBezTo>
                  <a:pt x="20" y="2880"/>
                  <a:pt x="15" y="2869"/>
                  <a:pt x="11" y="2858"/>
                </a:cubicBezTo>
                <a:cubicBezTo>
                  <a:pt x="8" y="2846"/>
                  <a:pt x="5" y="2835"/>
                  <a:pt x="3" y="2823"/>
                </a:cubicBezTo>
                <a:cubicBezTo>
                  <a:pt x="1" y="2811"/>
                  <a:pt x="0" y="2799"/>
                  <a:pt x="0" y="2787"/>
                </a:cubicBezTo>
                <a:close/>
              </a:path>
            </a:pathLst>
          </a:custGeom>
          <a:solidFill>
            <a:srgbClr val="1a2a57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7044480" y="2573640"/>
            <a:ext cx="67320" cy="1069920"/>
          </a:xfrm>
          <a:custGeom>
            <a:avLst/>
            <a:gdLst/>
            <a:ahLst/>
            <a:rect l="0" t="0" r="r" b="b"/>
            <a:pathLst>
              <a:path w="187" h="2972">
                <a:moveTo>
                  <a:pt x="0" y="0"/>
                </a:moveTo>
                <a:lnTo>
                  <a:pt x="187" y="0"/>
                </a:lnTo>
                <a:lnTo>
                  <a:pt x="187" y="2972"/>
                </a:lnTo>
                <a:lnTo>
                  <a:pt x="0" y="2972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7203240" y="2707560"/>
            <a:ext cx="418320" cy="417960"/>
          </a:xfrm>
          <a:custGeom>
            <a:avLst/>
            <a:gdLst/>
            <a:ahLst/>
            <a:rect l="0" t="0" r="r" b="b"/>
            <a:pathLst>
              <a:path w="1162" h="1161">
                <a:moveTo>
                  <a:pt x="1162" y="581"/>
                </a:moveTo>
                <a:cubicBezTo>
                  <a:pt x="1162" y="600"/>
                  <a:pt x="1161" y="619"/>
                  <a:pt x="1159" y="638"/>
                </a:cubicBezTo>
                <a:cubicBezTo>
                  <a:pt x="1157" y="657"/>
                  <a:pt x="1154" y="675"/>
                  <a:pt x="1151" y="694"/>
                </a:cubicBezTo>
                <a:cubicBezTo>
                  <a:pt x="1147" y="713"/>
                  <a:pt x="1142" y="731"/>
                  <a:pt x="1137" y="749"/>
                </a:cubicBezTo>
                <a:cubicBezTo>
                  <a:pt x="1131" y="768"/>
                  <a:pt x="1125" y="785"/>
                  <a:pt x="1118" y="803"/>
                </a:cubicBezTo>
                <a:cubicBezTo>
                  <a:pt x="1110" y="820"/>
                  <a:pt x="1102" y="838"/>
                  <a:pt x="1093" y="854"/>
                </a:cubicBezTo>
                <a:cubicBezTo>
                  <a:pt x="1084" y="871"/>
                  <a:pt x="1075" y="887"/>
                  <a:pt x="1064" y="903"/>
                </a:cubicBezTo>
                <a:cubicBezTo>
                  <a:pt x="1053" y="919"/>
                  <a:pt x="1042" y="934"/>
                  <a:pt x="1030" y="949"/>
                </a:cubicBezTo>
                <a:cubicBezTo>
                  <a:pt x="1018" y="964"/>
                  <a:pt x="1005" y="978"/>
                  <a:pt x="992" y="991"/>
                </a:cubicBezTo>
                <a:cubicBezTo>
                  <a:pt x="978" y="1005"/>
                  <a:pt x="964" y="1017"/>
                  <a:pt x="950" y="1029"/>
                </a:cubicBezTo>
                <a:cubicBezTo>
                  <a:pt x="935" y="1042"/>
                  <a:pt x="920" y="1053"/>
                  <a:pt x="904" y="1063"/>
                </a:cubicBezTo>
                <a:cubicBezTo>
                  <a:pt x="888" y="1074"/>
                  <a:pt x="872" y="1084"/>
                  <a:pt x="855" y="1093"/>
                </a:cubicBezTo>
                <a:cubicBezTo>
                  <a:pt x="838" y="1102"/>
                  <a:pt x="821" y="1110"/>
                  <a:pt x="804" y="1117"/>
                </a:cubicBezTo>
                <a:cubicBezTo>
                  <a:pt x="786" y="1124"/>
                  <a:pt x="768" y="1131"/>
                  <a:pt x="750" y="1136"/>
                </a:cubicBezTo>
                <a:cubicBezTo>
                  <a:pt x="732" y="1142"/>
                  <a:pt x="713" y="1146"/>
                  <a:pt x="695" y="1150"/>
                </a:cubicBezTo>
                <a:cubicBezTo>
                  <a:pt x="676" y="1154"/>
                  <a:pt x="657" y="1157"/>
                  <a:pt x="638" y="1158"/>
                </a:cubicBezTo>
                <a:cubicBezTo>
                  <a:pt x="619" y="1160"/>
                  <a:pt x="600" y="1161"/>
                  <a:pt x="581" y="1161"/>
                </a:cubicBezTo>
                <a:cubicBezTo>
                  <a:pt x="562" y="1161"/>
                  <a:pt x="544" y="1160"/>
                  <a:pt x="525" y="1158"/>
                </a:cubicBezTo>
                <a:cubicBezTo>
                  <a:pt x="506" y="1157"/>
                  <a:pt x="487" y="1154"/>
                  <a:pt x="468" y="1150"/>
                </a:cubicBezTo>
                <a:cubicBezTo>
                  <a:pt x="450" y="1146"/>
                  <a:pt x="431" y="1142"/>
                  <a:pt x="413" y="1136"/>
                </a:cubicBezTo>
                <a:cubicBezTo>
                  <a:pt x="395" y="1131"/>
                  <a:pt x="377" y="1124"/>
                  <a:pt x="359" y="1117"/>
                </a:cubicBezTo>
                <a:cubicBezTo>
                  <a:pt x="342" y="1110"/>
                  <a:pt x="325" y="1102"/>
                  <a:pt x="308" y="1093"/>
                </a:cubicBezTo>
                <a:cubicBezTo>
                  <a:pt x="290" y="1084"/>
                  <a:pt x="274" y="1074"/>
                  <a:pt x="258" y="1063"/>
                </a:cubicBezTo>
                <a:cubicBezTo>
                  <a:pt x="242" y="1053"/>
                  <a:pt x="227" y="1042"/>
                  <a:pt x="212" y="1029"/>
                </a:cubicBezTo>
                <a:cubicBezTo>
                  <a:pt x="198" y="1017"/>
                  <a:pt x="184" y="1005"/>
                  <a:pt x="170" y="991"/>
                </a:cubicBezTo>
                <a:cubicBezTo>
                  <a:pt x="157" y="978"/>
                  <a:pt x="144" y="964"/>
                  <a:pt x="132" y="949"/>
                </a:cubicBezTo>
                <a:cubicBezTo>
                  <a:pt x="120" y="934"/>
                  <a:pt x="109" y="919"/>
                  <a:pt x="98" y="903"/>
                </a:cubicBezTo>
                <a:cubicBezTo>
                  <a:pt x="87" y="887"/>
                  <a:pt x="78" y="871"/>
                  <a:pt x="69" y="854"/>
                </a:cubicBezTo>
                <a:cubicBezTo>
                  <a:pt x="60" y="838"/>
                  <a:pt x="52" y="820"/>
                  <a:pt x="44" y="803"/>
                </a:cubicBezTo>
                <a:cubicBezTo>
                  <a:pt x="37" y="785"/>
                  <a:pt x="31" y="768"/>
                  <a:pt x="25" y="749"/>
                </a:cubicBezTo>
                <a:cubicBezTo>
                  <a:pt x="20" y="731"/>
                  <a:pt x="15" y="713"/>
                  <a:pt x="11" y="694"/>
                </a:cubicBezTo>
                <a:cubicBezTo>
                  <a:pt x="8" y="675"/>
                  <a:pt x="5" y="657"/>
                  <a:pt x="3" y="638"/>
                </a:cubicBezTo>
                <a:cubicBezTo>
                  <a:pt x="1" y="619"/>
                  <a:pt x="0" y="600"/>
                  <a:pt x="0" y="581"/>
                </a:cubicBezTo>
                <a:cubicBezTo>
                  <a:pt x="0" y="562"/>
                  <a:pt x="1" y="543"/>
                  <a:pt x="3" y="524"/>
                </a:cubicBezTo>
                <a:cubicBezTo>
                  <a:pt x="5" y="505"/>
                  <a:pt x="8" y="486"/>
                  <a:pt x="11" y="468"/>
                </a:cubicBezTo>
                <a:cubicBezTo>
                  <a:pt x="15" y="449"/>
                  <a:pt x="20" y="431"/>
                  <a:pt x="25" y="412"/>
                </a:cubicBezTo>
                <a:cubicBezTo>
                  <a:pt x="31" y="394"/>
                  <a:pt x="37" y="376"/>
                  <a:pt x="44" y="359"/>
                </a:cubicBezTo>
                <a:cubicBezTo>
                  <a:pt x="52" y="341"/>
                  <a:pt x="60" y="324"/>
                  <a:pt x="69" y="307"/>
                </a:cubicBezTo>
                <a:cubicBezTo>
                  <a:pt x="78" y="291"/>
                  <a:pt x="87" y="274"/>
                  <a:pt x="98" y="258"/>
                </a:cubicBezTo>
                <a:cubicBezTo>
                  <a:pt x="109" y="243"/>
                  <a:pt x="120" y="227"/>
                  <a:pt x="132" y="213"/>
                </a:cubicBezTo>
                <a:cubicBezTo>
                  <a:pt x="144" y="198"/>
                  <a:pt x="157" y="184"/>
                  <a:pt x="170" y="171"/>
                </a:cubicBezTo>
                <a:cubicBezTo>
                  <a:pt x="184" y="157"/>
                  <a:pt x="198" y="144"/>
                  <a:pt x="212" y="132"/>
                </a:cubicBezTo>
                <a:cubicBezTo>
                  <a:pt x="227" y="120"/>
                  <a:pt x="242" y="109"/>
                  <a:pt x="258" y="98"/>
                </a:cubicBezTo>
                <a:cubicBezTo>
                  <a:pt x="274" y="88"/>
                  <a:pt x="290" y="78"/>
                  <a:pt x="308" y="69"/>
                </a:cubicBezTo>
                <a:cubicBezTo>
                  <a:pt x="325" y="60"/>
                  <a:pt x="342" y="52"/>
                  <a:pt x="359" y="45"/>
                </a:cubicBezTo>
                <a:cubicBezTo>
                  <a:pt x="377" y="37"/>
                  <a:pt x="395" y="31"/>
                  <a:pt x="413" y="26"/>
                </a:cubicBezTo>
                <a:cubicBezTo>
                  <a:pt x="431" y="20"/>
                  <a:pt x="450" y="14"/>
                  <a:pt x="468" y="11"/>
                </a:cubicBezTo>
                <a:cubicBezTo>
                  <a:pt x="487" y="7"/>
                  <a:pt x="506" y="4"/>
                  <a:pt x="525" y="2"/>
                </a:cubicBezTo>
                <a:cubicBezTo>
                  <a:pt x="544" y="0"/>
                  <a:pt x="562" y="0"/>
                  <a:pt x="581" y="0"/>
                </a:cubicBezTo>
                <a:cubicBezTo>
                  <a:pt x="600" y="0"/>
                  <a:pt x="619" y="0"/>
                  <a:pt x="638" y="2"/>
                </a:cubicBezTo>
                <a:cubicBezTo>
                  <a:pt x="657" y="4"/>
                  <a:pt x="676" y="7"/>
                  <a:pt x="695" y="11"/>
                </a:cubicBezTo>
                <a:cubicBezTo>
                  <a:pt x="713" y="14"/>
                  <a:pt x="732" y="20"/>
                  <a:pt x="750" y="26"/>
                </a:cubicBezTo>
                <a:cubicBezTo>
                  <a:pt x="768" y="31"/>
                  <a:pt x="786" y="37"/>
                  <a:pt x="804" y="45"/>
                </a:cubicBezTo>
                <a:cubicBezTo>
                  <a:pt x="821" y="52"/>
                  <a:pt x="838" y="60"/>
                  <a:pt x="855" y="69"/>
                </a:cubicBezTo>
                <a:cubicBezTo>
                  <a:pt x="872" y="78"/>
                  <a:pt x="888" y="88"/>
                  <a:pt x="904" y="98"/>
                </a:cubicBezTo>
                <a:cubicBezTo>
                  <a:pt x="920" y="109"/>
                  <a:pt x="935" y="120"/>
                  <a:pt x="950" y="132"/>
                </a:cubicBezTo>
                <a:cubicBezTo>
                  <a:pt x="964" y="144"/>
                  <a:pt x="978" y="157"/>
                  <a:pt x="992" y="171"/>
                </a:cubicBezTo>
                <a:cubicBezTo>
                  <a:pt x="1005" y="184"/>
                  <a:pt x="1018" y="198"/>
                  <a:pt x="1030" y="213"/>
                </a:cubicBezTo>
                <a:cubicBezTo>
                  <a:pt x="1042" y="227"/>
                  <a:pt x="1053" y="243"/>
                  <a:pt x="1064" y="258"/>
                </a:cubicBezTo>
                <a:cubicBezTo>
                  <a:pt x="1075" y="274"/>
                  <a:pt x="1084" y="291"/>
                  <a:pt x="1093" y="307"/>
                </a:cubicBezTo>
                <a:cubicBezTo>
                  <a:pt x="1102" y="324"/>
                  <a:pt x="1110" y="341"/>
                  <a:pt x="1118" y="359"/>
                </a:cubicBezTo>
                <a:cubicBezTo>
                  <a:pt x="1125" y="376"/>
                  <a:pt x="1131" y="394"/>
                  <a:pt x="1137" y="412"/>
                </a:cubicBezTo>
                <a:cubicBezTo>
                  <a:pt x="1142" y="431"/>
                  <a:pt x="1147" y="449"/>
                  <a:pt x="1151" y="468"/>
                </a:cubicBezTo>
                <a:cubicBezTo>
                  <a:pt x="1154" y="486"/>
                  <a:pt x="1157" y="505"/>
                  <a:pt x="1159" y="524"/>
                </a:cubicBezTo>
                <a:cubicBezTo>
                  <a:pt x="1161" y="543"/>
                  <a:pt x="1162" y="562"/>
                  <a:pt x="1162" y="581"/>
                </a:cubicBezTo>
                <a:close/>
              </a:path>
            </a:pathLst>
          </a:custGeom>
          <a:solidFill>
            <a:srgbClr val="4a90e2">
              <a:alpha val="1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24" name="" descr=""/>
          <p:cNvPicPr/>
          <p:nvPr/>
        </p:nvPicPr>
        <p:blipFill>
          <a:blip r:embed="rId11"/>
          <a:stretch/>
        </p:blipFill>
        <p:spPr>
          <a:xfrm>
            <a:off x="7311960" y="2832840"/>
            <a:ext cx="1918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5" name=""/>
          <p:cNvSpPr txBox="1"/>
          <p:nvPr/>
        </p:nvSpPr>
        <p:spPr>
          <a:xfrm>
            <a:off x="4498560" y="3367800"/>
            <a:ext cx="1526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提案システムの新規性を評価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7752240" y="2736360"/>
            <a:ext cx="114084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処理速度 </a:t>
            </a:r>
            <a:r>
              <a:rPr b="0" lang="en-US" sz="132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(fps)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 txBox="1"/>
          <p:nvPr/>
        </p:nvSpPr>
        <p:spPr>
          <a:xfrm>
            <a:off x="7752240" y="2966760"/>
            <a:ext cx="22143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1</a:t>
            </a:r>
            <a:r>
              <a:rPr b="0" lang="zh-CN" sz="92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秒あたりに処理できるビデオフレーム数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547200" y="4245120"/>
            <a:ext cx="9614880" cy="1604880"/>
          </a:xfrm>
          <a:custGeom>
            <a:avLst/>
            <a:gdLst/>
            <a:ahLst/>
            <a:rect l="0" t="0" r="r" b="b"/>
            <a:pathLst>
              <a:path w="26708" h="4458">
                <a:moveTo>
                  <a:pt x="0" y="4272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8" y="126"/>
                  <a:pt x="11" y="114"/>
                </a:cubicBezTo>
                <a:cubicBezTo>
                  <a:pt x="15" y="103"/>
                  <a:pt x="20" y="92"/>
                  <a:pt x="25" y="82"/>
                </a:cubicBezTo>
                <a:cubicBezTo>
                  <a:pt x="31" y="72"/>
                  <a:pt x="37" y="63"/>
                  <a:pt x="44" y="54"/>
                </a:cubicBezTo>
                <a:cubicBezTo>
                  <a:pt x="51" y="45"/>
                  <a:pt x="59" y="38"/>
                  <a:pt x="67" y="31"/>
                </a:cubicBezTo>
                <a:cubicBezTo>
                  <a:pt x="75" y="24"/>
                  <a:pt x="84" y="19"/>
                  <a:pt x="93" y="14"/>
                </a:cubicBezTo>
                <a:cubicBezTo>
                  <a:pt x="102" y="9"/>
                  <a:pt x="112" y="6"/>
                  <a:pt x="121" y="3"/>
                </a:cubicBezTo>
                <a:cubicBezTo>
                  <a:pt x="131" y="1"/>
                  <a:pt x="141" y="0"/>
                  <a:pt x="151" y="0"/>
                </a:cubicBezTo>
                <a:lnTo>
                  <a:pt x="26522" y="0"/>
                </a:lnTo>
                <a:cubicBezTo>
                  <a:pt x="26534" y="0"/>
                  <a:pt x="26546" y="1"/>
                  <a:pt x="26558" y="3"/>
                </a:cubicBezTo>
                <a:cubicBezTo>
                  <a:pt x="26570" y="6"/>
                  <a:pt x="26582" y="9"/>
                  <a:pt x="26593" y="14"/>
                </a:cubicBezTo>
                <a:cubicBezTo>
                  <a:pt x="26604" y="19"/>
                  <a:pt x="26615" y="24"/>
                  <a:pt x="26625" y="31"/>
                </a:cubicBezTo>
                <a:cubicBezTo>
                  <a:pt x="26635" y="38"/>
                  <a:pt x="26645" y="45"/>
                  <a:pt x="26653" y="54"/>
                </a:cubicBezTo>
                <a:cubicBezTo>
                  <a:pt x="26662" y="63"/>
                  <a:pt x="26669" y="72"/>
                  <a:pt x="26676" y="82"/>
                </a:cubicBezTo>
                <a:cubicBezTo>
                  <a:pt x="26683" y="92"/>
                  <a:pt x="26689" y="103"/>
                  <a:pt x="26693" y="114"/>
                </a:cubicBezTo>
                <a:cubicBezTo>
                  <a:pt x="26698" y="126"/>
                  <a:pt x="26702" y="137"/>
                  <a:pt x="26704" y="149"/>
                </a:cubicBezTo>
                <a:cubicBezTo>
                  <a:pt x="26706" y="161"/>
                  <a:pt x="26708" y="173"/>
                  <a:pt x="26708" y="185"/>
                </a:cubicBezTo>
                <a:lnTo>
                  <a:pt x="26708" y="4272"/>
                </a:lnTo>
                <a:cubicBezTo>
                  <a:pt x="26708" y="4284"/>
                  <a:pt x="26706" y="4296"/>
                  <a:pt x="26704" y="4308"/>
                </a:cubicBezTo>
                <a:cubicBezTo>
                  <a:pt x="26702" y="4320"/>
                  <a:pt x="26698" y="4332"/>
                  <a:pt x="26693" y="4343"/>
                </a:cubicBezTo>
                <a:cubicBezTo>
                  <a:pt x="26689" y="4354"/>
                  <a:pt x="26683" y="4365"/>
                  <a:pt x="26676" y="4375"/>
                </a:cubicBezTo>
                <a:cubicBezTo>
                  <a:pt x="26669" y="4385"/>
                  <a:pt x="26662" y="4395"/>
                  <a:pt x="26653" y="4403"/>
                </a:cubicBezTo>
                <a:cubicBezTo>
                  <a:pt x="26645" y="4412"/>
                  <a:pt x="26635" y="4420"/>
                  <a:pt x="26625" y="4426"/>
                </a:cubicBezTo>
                <a:cubicBezTo>
                  <a:pt x="26615" y="4433"/>
                  <a:pt x="26604" y="4439"/>
                  <a:pt x="26593" y="4443"/>
                </a:cubicBezTo>
                <a:cubicBezTo>
                  <a:pt x="26582" y="4448"/>
                  <a:pt x="26570" y="4452"/>
                  <a:pt x="26558" y="4454"/>
                </a:cubicBezTo>
                <a:cubicBezTo>
                  <a:pt x="26546" y="4456"/>
                  <a:pt x="26534" y="4458"/>
                  <a:pt x="26522" y="4458"/>
                </a:cubicBezTo>
                <a:lnTo>
                  <a:pt x="151" y="4458"/>
                </a:lnTo>
                <a:cubicBezTo>
                  <a:pt x="141" y="4458"/>
                  <a:pt x="131" y="4456"/>
                  <a:pt x="121" y="4454"/>
                </a:cubicBezTo>
                <a:cubicBezTo>
                  <a:pt x="112" y="4452"/>
                  <a:pt x="102" y="4448"/>
                  <a:pt x="93" y="4443"/>
                </a:cubicBezTo>
                <a:cubicBezTo>
                  <a:pt x="84" y="4439"/>
                  <a:pt x="75" y="4433"/>
                  <a:pt x="67" y="4426"/>
                </a:cubicBezTo>
                <a:cubicBezTo>
                  <a:pt x="59" y="4420"/>
                  <a:pt x="51" y="4412"/>
                  <a:pt x="44" y="4403"/>
                </a:cubicBezTo>
                <a:cubicBezTo>
                  <a:pt x="37" y="4395"/>
                  <a:pt x="31" y="4385"/>
                  <a:pt x="25" y="4375"/>
                </a:cubicBezTo>
                <a:cubicBezTo>
                  <a:pt x="20" y="4365"/>
                  <a:pt x="15" y="4354"/>
                  <a:pt x="11" y="4343"/>
                </a:cubicBezTo>
                <a:cubicBezTo>
                  <a:pt x="8" y="4332"/>
                  <a:pt x="5" y="4320"/>
                  <a:pt x="3" y="4308"/>
                </a:cubicBezTo>
                <a:cubicBezTo>
                  <a:pt x="1" y="4296"/>
                  <a:pt x="0" y="4284"/>
                  <a:pt x="0" y="4272"/>
                </a:cubicBezTo>
                <a:close/>
              </a:path>
            </a:pathLst>
          </a:custGeom>
          <a:solidFill>
            <a:srgbClr val="1a2a57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534600" y="4245120"/>
            <a:ext cx="67320" cy="1604880"/>
          </a:xfrm>
          <a:custGeom>
            <a:avLst/>
            <a:gdLst/>
            <a:ahLst/>
            <a:rect l="0" t="0" r="r" b="b"/>
            <a:pathLst>
              <a:path w="187" h="4458">
                <a:moveTo>
                  <a:pt x="0" y="0"/>
                </a:moveTo>
                <a:lnTo>
                  <a:pt x="187" y="0"/>
                </a:lnTo>
                <a:lnTo>
                  <a:pt x="187" y="4458"/>
                </a:lnTo>
                <a:lnTo>
                  <a:pt x="0" y="4458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30" name="" descr=""/>
          <p:cNvPicPr/>
          <p:nvPr/>
        </p:nvPicPr>
        <p:blipFill>
          <a:blip r:embed="rId12"/>
          <a:stretch/>
        </p:blipFill>
        <p:spPr>
          <a:xfrm>
            <a:off x="534960" y="3877560"/>
            <a:ext cx="15012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1" name=""/>
          <p:cNvSpPr txBox="1"/>
          <p:nvPr/>
        </p:nvSpPr>
        <p:spPr>
          <a:xfrm>
            <a:off x="7752240" y="3200760"/>
            <a:ext cx="1761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リアルタイム監視の実用性を評価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726840" y="4412160"/>
            <a:ext cx="418320" cy="418320"/>
          </a:xfrm>
          <a:custGeom>
            <a:avLst/>
            <a:gdLst/>
            <a:ahLst/>
            <a:rect l="0" t="0" r="r" b="b"/>
            <a:pathLst>
              <a:path w="1162" h="1162">
                <a:moveTo>
                  <a:pt x="1162" y="580"/>
                </a:moveTo>
                <a:cubicBezTo>
                  <a:pt x="1162" y="599"/>
                  <a:pt x="1161" y="618"/>
                  <a:pt x="1159" y="637"/>
                </a:cubicBezTo>
                <a:cubicBezTo>
                  <a:pt x="1157" y="656"/>
                  <a:pt x="1154" y="675"/>
                  <a:pt x="1151" y="694"/>
                </a:cubicBezTo>
                <a:cubicBezTo>
                  <a:pt x="1147" y="712"/>
                  <a:pt x="1142" y="731"/>
                  <a:pt x="1137" y="749"/>
                </a:cubicBezTo>
                <a:cubicBezTo>
                  <a:pt x="1131" y="767"/>
                  <a:pt x="1125" y="785"/>
                  <a:pt x="1118" y="802"/>
                </a:cubicBezTo>
                <a:cubicBezTo>
                  <a:pt x="1110" y="820"/>
                  <a:pt x="1102" y="837"/>
                  <a:pt x="1093" y="854"/>
                </a:cubicBezTo>
                <a:cubicBezTo>
                  <a:pt x="1084" y="871"/>
                  <a:pt x="1074" y="887"/>
                  <a:pt x="1064" y="903"/>
                </a:cubicBezTo>
                <a:cubicBezTo>
                  <a:pt x="1053" y="919"/>
                  <a:pt x="1042" y="934"/>
                  <a:pt x="1030" y="948"/>
                </a:cubicBezTo>
                <a:cubicBezTo>
                  <a:pt x="1018" y="963"/>
                  <a:pt x="1005" y="977"/>
                  <a:pt x="992" y="991"/>
                </a:cubicBezTo>
                <a:cubicBezTo>
                  <a:pt x="978" y="1004"/>
                  <a:pt x="964" y="1017"/>
                  <a:pt x="950" y="1029"/>
                </a:cubicBezTo>
                <a:cubicBezTo>
                  <a:pt x="935" y="1041"/>
                  <a:pt x="920" y="1052"/>
                  <a:pt x="904" y="1063"/>
                </a:cubicBezTo>
                <a:cubicBezTo>
                  <a:pt x="888" y="1073"/>
                  <a:pt x="871" y="1083"/>
                  <a:pt x="854" y="1093"/>
                </a:cubicBezTo>
                <a:cubicBezTo>
                  <a:pt x="837" y="1102"/>
                  <a:pt x="820" y="1110"/>
                  <a:pt x="802" y="1117"/>
                </a:cubicBezTo>
                <a:cubicBezTo>
                  <a:pt x="785" y="1125"/>
                  <a:pt x="767" y="1131"/>
                  <a:pt x="749" y="1137"/>
                </a:cubicBezTo>
                <a:cubicBezTo>
                  <a:pt x="731" y="1142"/>
                  <a:pt x="712" y="1147"/>
                  <a:pt x="694" y="1150"/>
                </a:cubicBezTo>
                <a:cubicBezTo>
                  <a:pt x="675" y="1154"/>
                  <a:pt x="656" y="1157"/>
                  <a:pt x="637" y="1159"/>
                </a:cubicBezTo>
                <a:cubicBezTo>
                  <a:pt x="618" y="1161"/>
                  <a:pt x="599" y="1162"/>
                  <a:pt x="580" y="1162"/>
                </a:cubicBezTo>
                <a:cubicBezTo>
                  <a:pt x="561" y="1162"/>
                  <a:pt x="542" y="1161"/>
                  <a:pt x="523" y="1159"/>
                </a:cubicBezTo>
                <a:cubicBezTo>
                  <a:pt x="505" y="1157"/>
                  <a:pt x="486" y="1154"/>
                  <a:pt x="467" y="1150"/>
                </a:cubicBezTo>
                <a:cubicBezTo>
                  <a:pt x="449" y="1147"/>
                  <a:pt x="430" y="1142"/>
                  <a:pt x="412" y="1137"/>
                </a:cubicBezTo>
                <a:cubicBezTo>
                  <a:pt x="394" y="1131"/>
                  <a:pt x="376" y="1125"/>
                  <a:pt x="358" y="1117"/>
                </a:cubicBezTo>
                <a:cubicBezTo>
                  <a:pt x="341" y="1110"/>
                  <a:pt x="324" y="1102"/>
                  <a:pt x="307" y="1093"/>
                </a:cubicBezTo>
                <a:cubicBezTo>
                  <a:pt x="290" y="1083"/>
                  <a:pt x="274" y="1073"/>
                  <a:pt x="258" y="1063"/>
                </a:cubicBezTo>
                <a:cubicBezTo>
                  <a:pt x="242" y="1052"/>
                  <a:pt x="227" y="1041"/>
                  <a:pt x="212" y="1029"/>
                </a:cubicBezTo>
                <a:cubicBezTo>
                  <a:pt x="198" y="1017"/>
                  <a:pt x="183" y="1004"/>
                  <a:pt x="170" y="991"/>
                </a:cubicBezTo>
                <a:cubicBezTo>
                  <a:pt x="157" y="977"/>
                  <a:pt x="144" y="963"/>
                  <a:pt x="132" y="948"/>
                </a:cubicBezTo>
                <a:cubicBezTo>
                  <a:pt x="120" y="934"/>
                  <a:pt x="108" y="919"/>
                  <a:pt x="98" y="903"/>
                </a:cubicBezTo>
                <a:cubicBezTo>
                  <a:pt x="87" y="887"/>
                  <a:pt x="78" y="871"/>
                  <a:pt x="69" y="854"/>
                </a:cubicBezTo>
                <a:cubicBezTo>
                  <a:pt x="60" y="837"/>
                  <a:pt x="51" y="820"/>
                  <a:pt x="44" y="802"/>
                </a:cubicBezTo>
                <a:cubicBezTo>
                  <a:pt x="37" y="785"/>
                  <a:pt x="31" y="767"/>
                  <a:pt x="25" y="749"/>
                </a:cubicBezTo>
                <a:cubicBezTo>
                  <a:pt x="20" y="731"/>
                  <a:pt x="15" y="712"/>
                  <a:pt x="11" y="694"/>
                </a:cubicBezTo>
                <a:cubicBezTo>
                  <a:pt x="7" y="675"/>
                  <a:pt x="5" y="656"/>
                  <a:pt x="3" y="637"/>
                </a:cubicBezTo>
                <a:cubicBezTo>
                  <a:pt x="1" y="618"/>
                  <a:pt x="0" y="599"/>
                  <a:pt x="0" y="580"/>
                </a:cubicBezTo>
                <a:cubicBezTo>
                  <a:pt x="0" y="561"/>
                  <a:pt x="1" y="542"/>
                  <a:pt x="3" y="523"/>
                </a:cubicBezTo>
                <a:cubicBezTo>
                  <a:pt x="5" y="505"/>
                  <a:pt x="7" y="486"/>
                  <a:pt x="11" y="467"/>
                </a:cubicBezTo>
                <a:cubicBezTo>
                  <a:pt x="15" y="448"/>
                  <a:pt x="20" y="430"/>
                  <a:pt x="25" y="412"/>
                </a:cubicBezTo>
                <a:cubicBezTo>
                  <a:pt x="31" y="394"/>
                  <a:pt x="37" y="376"/>
                  <a:pt x="44" y="358"/>
                </a:cubicBezTo>
                <a:cubicBezTo>
                  <a:pt x="51" y="341"/>
                  <a:pt x="60" y="324"/>
                  <a:pt x="69" y="307"/>
                </a:cubicBezTo>
                <a:cubicBezTo>
                  <a:pt x="78" y="290"/>
                  <a:pt x="87" y="274"/>
                  <a:pt x="98" y="258"/>
                </a:cubicBezTo>
                <a:cubicBezTo>
                  <a:pt x="108" y="242"/>
                  <a:pt x="120" y="227"/>
                  <a:pt x="132" y="212"/>
                </a:cubicBezTo>
                <a:cubicBezTo>
                  <a:pt x="144" y="197"/>
                  <a:pt x="157" y="183"/>
                  <a:pt x="170" y="170"/>
                </a:cubicBezTo>
                <a:cubicBezTo>
                  <a:pt x="183" y="157"/>
                  <a:pt x="198" y="144"/>
                  <a:pt x="212" y="132"/>
                </a:cubicBezTo>
                <a:cubicBezTo>
                  <a:pt x="227" y="120"/>
                  <a:pt x="242" y="108"/>
                  <a:pt x="258" y="98"/>
                </a:cubicBezTo>
                <a:cubicBezTo>
                  <a:pt x="274" y="87"/>
                  <a:pt x="290" y="77"/>
                  <a:pt x="307" y="69"/>
                </a:cubicBezTo>
                <a:cubicBezTo>
                  <a:pt x="324" y="60"/>
                  <a:pt x="341" y="51"/>
                  <a:pt x="358" y="44"/>
                </a:cubicBezTo>
                <a:cubicBezTo>
                  <a:pt x="376" y="37"/>
                  <a:pt x="394" y="30"/>
                  <a:pt x="412" y="25"/>
                </a:cubicBezTo>
                <a:cubicBezTo>
                  <a:pt x="430" y="19"/>
                  <a:pt x="449" y="15"/>
                  <a:pt x="467" y="11"/>
                </a:cubicBezTo>
                <a:cubicBezTo>
                  <a:pt x="486" y="7"/>
                  <a:pt x="505" y="5"/>
                  <a:pt x="523" y="3"/>
                </a:cubicBezTo>
                <a:cubicBezTo>
                  <a:pt x="542" y="1"/>
                  <a:pt x="561" y="0"/>
                  <a:pt x="580" y="0"/>
                </a:cubicBezTo>
                <a:cubicBezTo>
                  <a:pt x="599" y="0"/>
                  <a:pt x="618" y="1"/>
                  <a:pt x="637" y="3"/>
                </a:cubicBezTo>
                <a:cubicBezTo>
                  <a:pt x="656" y="5"/>
                  <a:pt x="675" y="7"/>
                  <a:pt x="694" y="11"/>
                </a:cubicBezTo>
                <a:cubicBezTo>
                  <a:pt x="712" y="15"/>
                  <a:pt x="731" y="19"/>
                  <a:pt x="749" y="25"/>
                </a:cubicBezTo>
                <a:cubicBezTo>
                  <a:pt x="767" y="30"/>
                  <a:pt x="785" y="37"/>
                  <a:pt x="802" y="44"/>
                </a:cubicBezTo>
                <a:cubicBezTo>
                  <a:pt x="820" y="51"/>
                  <a:pt x="837" y="60"/>
                  <a:pt x="854" y="69"/>
                </a:cubicBezTo>
                <a:cubicBezTo>
                  <a:pt x="871" y="77"/>
                  <a:pt x="888" y="87"/>
                  <a:pt x="904" y="98"/>
                </a:cubicBezTo>
                <a:cubicBezTo>
                  <a:pt x="920" y="108"/>
                  <a:pt x="935" y="120"/>
                  <a:pt x="950" y="132"/>
                </a:cubicBezTo>
                <a:cubicBezTo>
                  <a:pt x="964" y="144"/>
                  <a:pt x="978" y="157"/>
                  <a:pt x="992" y="170"/>
                </a:cubicBezTo>
                <a:cubicBezTo>
                  <a:pt x="1005" y="183"/>
                  <a:pt x="1018" y="197"/>
                  <a:pt x="1030" y="212"/>
                </a:cubicBezTo>
                <a:cubicBezTo>
                  <a:pt x="1042" y="227"/>
                  <a:pt x="1053" y="242"/>
                  <a:pt x="1064" y="258"/>
                </a:cubicBezTo>
                <a:cubicBezTo>
                  <a:pt x="1074" y="274"/>
                  <a:pt x="1084" y="290"/>
                  <a:pt x="1093" y="307"/>
                </a:cubicBezTo>
                <a:cubicBezTo>
                  <a:pt x="1102" y="324"/>
                  <a:pt x="1110" y="341"/>
                  <a:pt x="1118" y="358"/>
                </a:cubicBezTo>
                <a:cubicBezTo>
                  <a:pt x="1125" y="376"/>
                  <a:pt x="1131" y="394"/>
                  <a:pt x="1137" y="412"/>
                </a:cubicBezTo>
                <a:cubicBezTo>
                  <a:pt x="1142" y="430"/>
                  <a:pt x="1147" y="448"/>
                  <a:pt x="1151" y="467"/>
                </a:cubicBezTo>
                <a:cubicBezTo>
                  <a:pt x="1154" y="486"/>
                  <a:pt x="1157" y="505"/>
                  <a:pt x="1159" y="523"/>
                </a:cubicBezTo>
                <a:cubicBezTo>
                  <a:pt x="1161" y="542"/>
                  <a:pt x="1162" y="561"/>
                  <a:pt x="1162" y="580"/>
                </a:cubicBezTo>
                <a:close/>
              </a:path>
            </a:pathLst>
          </a:custGeom>
          <a:solidFill>
            <a:srgbClr val="4a90e2">
              <a:alpha val="1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33" name="" descr=""/>
          <p:cNvPicPr/>
          <p:nvPr/>
        </p:nvPicPr>
        <p:blipFill>
          <a:blip r:embed="rId13"/>
          <a:stretch/>
        </p:blipFill>
        <p:spPr>
          <a:xfrm>
            <a:off x="852480" y="453780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4" name=""/>
          <p:cNvSpPr txBox="1"/>
          <p:nvPr/>
        </p:nvSpPr>
        <p:spPr>
          <a:xfrm>
            <a:off x="785520" y="3875400"/>
            <a:ext cx="1409040" cy="29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580" strike="noStrike" u="none">
                <a:solidFill>
                  <a:srgbClr val="93c5fd"/>
                </a:solidFill>
                <a:effectLst/>
                <a:uFillTx/>
                <a:latin typeface="NotoSansJP"/>
                <a:ea typeface="NotoSansJP"/>
              </a:rPr>
              <a:t>定性的評価手法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 txBox="1"/>
          <p:nvPr/>
        </p:nvSpPr>
        <p:spPr>
          <a:xfrm>
            <a:off x="1278720" y="4440960"/>
            <a:ext cx="150948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シナリオ別挙動分析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1345320" y="4988880"/>
            <a:ext cx="42120" cy="42120"/>
          </a:xfrm>
          <a:custGeom>
            <a:avLst/>
            <a:gdLst/>
            <a:ah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5" y="74"/>
                  <a:pt x="112" y="81"/>
                </a:cubicBezTo>
                <a:cubicBezTo>
                  <a:pt x="110" y="88"/>
                  <a:pt x="105" y="94"/>
                  <a:pt x="100" y="100"/>
                </a:cubicBezTo>
                <a:cubicBezTo>
                  <a:pt x="94" y="105"/>
                  <a:pt x="88" y="109"/>
                  <a:pt x="81" y="112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1" y="117"/>
                  <a:pt x="44" y="115"/>
                  <a:pt x="37" y="112"/>
                </a:cubicBezTo>
                <a:cubicBezTo>
                  <a:pt x="29" y="109"/>
                  <a:pt x="22" y="105"/>
                  <a:pt x="17" y="100"/>
                </a:cubicBezTo>
                <a:cubicBezTo>
                  <a:pt x="11" y="94"/>
                  <a:pt x="7" y="88"/>
                  <a:pt x="4" y="81"/>
                </a:cubicBezTo>
                <a:cubicBezTo>
                  <a:pt x="1" y="74"/>
                  <a:pt x="0" y="66"/>
                  <a:pt x="0" y="59"/>
                </a:cubicBezTo>
                <a:cubicBezTo>
                  <a:pt x="0" y="51"/>
                  <a:pt x="1" y="44"/>
                  <a:pt x="4" y="37"/>
                </a:cubicBezTo>
                <a:cubicBezTo>
                  <a:pt x="7" y="29"/>
                  <a:pt x="11" y="23"/>
                  <a:pt x="17" y="18"/>
                </a:cubicBezTo>
                <a:cubicBezTo>
                  <a:pt x="22" y="12"/>
                  <a:pt x="29" y="8"/>
                  <a:pt x="37" y="5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5"/>
                </a:cubicBezTo>
                <a:cubicBezTo>
                  <a:pt x="88" y="8"/>
                  <a:pt x="94" y="12"/>
                  <a:pt x="100" y="18"/>
                </a:cubicBezTo>
                <a:cubicBezTo>
                  <a:pt x="105" y="23"/>
                  <a:pt x="110" y="29"/>
                  <a:pt x="112" y="37"/>
                </a:cubicBezTo>
                <a:cubicBezTo>
                  <a:pt x="115" y="44"/>
                  <a:pt x="117" y="51"/>
                  <a:pt x="117" y="5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 txBox="1"/>
          <p:nvPr/>
        </p:nvSpPr>
        <p:spPr>
          <a:xfrm>
            <a:off x="1278720" y="4681080"/>
            <a:ext cx="34876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各シナリオにおけるシステムの判断プロセスを記録‧分析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1345320" y="5189400"/>
            <a:ext cx="42120" cy="42120"/>
          </a:xfrm>
          <a:custGeom>
            <a:avLst/>
            <a:gdLst/>
            <a:ah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5" y="74"/>
                  <a:pt x="112" y="81"/>
                </a:cubicBezTo>
                <a:cubicBezTo>
                  <a:pt x="110" y="88"/>
                  <a:pt x="105" y="94"/>
                  <a:pt x="100" y="100"/>
                </a:cubicBezTo>
                <a:cubicBezTo>
                  <a:pt x="94" y="105"/>
                  <a:pt x="88" y="110"/>
                  <a:pt x="81" y="112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1" y="117"/>
                  <a:pt x="44" y="115"/>
                  <a:pt x="37" y="112"/>
                </a:cubicBezTo>
                <a:cubicBezTo>
                  <a:pt x="29" y="110"/>
                  <a:pt x="22" y="105"/>
                  <a:pt x="17" y="100"/>
                </a:cubicBezTo>
                <a:cubicBezTo>
                  <a:pt x="11" y="94"/>
                  <a:pt x="7" y="88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1"/>
                  <a:pt x="1" y="44"/>
                  <a:pt x="4" y="37"/>
                </a:cubicBezTo>
                <a:cubicBezTo>
                  <a:pt x="7" y="30"/>
                  <a:pt x="11" y="22"/>
                  <a:pt x="17" y="17"/>
                </a:cubicBezTo>
                <a:cubicBezTo>
                  <a:pt x="22" y="11"/>
                  <a:pt x="29" y="7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4" y="11"/>
                  <a:pt x="100" y="17"/>
                </a:cubicBezTo>
                <a:cubicBezTo>
                  <a:pt x="105" y="22"/>
                  <a:pt x="110" y="30"/>
                  <a:pt x="112" y="37"/>
                </a:cubicBezTo>
                <a:cubicBezTo>
                  <a:pt x="115" y="44"/>
                  <a:pt x="117" y="51"/>
                  <a:pt x="117" y="5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1512720" y="4938840"/>
            <a:ext cx="14090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所有者の追跡安定性の評価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1345320" y="5389920"/>
            <a:ext cx="42120" cy="42120"/>
          </a:xfrm>
          <a:custGeom>
            <a:avLst/>
            <a:gdLst/>
            <a:ah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5" y="74"/>
                  <a:pt x="112" y="81"/>
                </a:cubicBezTo>
                <a:cubicBezTo>
                  <a:pt x="110" y="88"/>
                  <a:pt x="105" y="95"/>
                  <a:pt x="100" y="100"/>
                </a:cubicBezTo>
                <a:cubicBezTo>
                  <a:pt x="94" y="105"/>
                  <a:pt x="88" y="110"/>
                  <a:pt x="81" y="113"/>
                </a:cubicBezTo>
                <a:cubicBezTo>
                  <a:pt x="74" y="116"/>
                  <a:pt x="67" y="117"/>
                  <a:pt x="59" y="117"/>
                </a:cubicBezTo>
                <a:cubicBezTo>
                  <a:pt x="51" y="117"/>
                  <a:pt x="44" y="116"/>
                  <a:pt x="37" y="113"/>
                </a:cubicBezTo>
                <a:cubicBezTo>
                  <a:pt x="29" y="110"/>
                  <a:pt x="22" y="105"/>
                  <a:pt x="17" y="100"/>
                </a:cubicBezTo>
                <a:cubicBezTo>
                  <a:pt x="11" y="95"/>
                  <a:pt x="7" y="88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1"/>
                  <a:pt x="1" y="43"/>
                  <a:pt x="4" y="36"/>
                </a:cubicBezTo>
                <a:cubicBezTo>
                  <a:pt x="7" y="29"/>
                  <a:pt x="11" y="22"/>
                  <a:pt x="17" y="17"/>
                </a:cubicBezTo>
                <a:cubicBezTo>
                  <a:pt x="22" y="11"/>
                  <a:pt x="29" y="7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4" y="11"/>
                  <a:pt x="100" y="17"/>
                </a:cubicBezTo>
                <a:cubicBezTo>
                  <a:pt x="105" y="22"/>
                  <a:pt x="110" y="29"/>
                  <a:pt x="112" y="36"/>
                </a:cubicBezTo>
                <a:cubicBezTo>
                  <a:pt x="115" y="43"/>
                  <a:pt x="117" y="51"/>
                  <a:pt x="117" y="5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1512720" y="5139360"/>
            <a:ext cx="1878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アラート発報のタイミングの適切さ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1345320" y="5590440"/>
            <a:ext cx="42120" cy="42120"/>
          </a:xfrm>
          <a:custGeom>
            <a:avLst/>
            <a:gdLst/>
            <a:ahLst/>
            <a:rect l="0" t="0" r="r" b="b"/>
            <a:pathLst>
              <a:path w="117" h="117">
                <a:moveTo>
                  <a:pt x="117" y="58"/>
                </a:moveTo>
                <a:cubicBezTo>
                  <a:pt x="117" y="66"/>
                  <a:pt x="115" y="73"/>
                  <a:pt x="112" y="81"/>
                </a:cubicBezTo>
                <a:cubicBezTo>
                  <a:pt x="110" y="88"/>
                  <a:pt x="105" y="95"/>
                  <a:pt x="100" y="100"/>
                </a:cubicBezTo>
                <a:cubicBezTo>
                  <a:pt x="94" y="106"/>
                  <a:pt x="88" y="110"/>
                  <a:pt x="81" y="113"/>
                </a:cubicBezTo>
                <a:cubicBezTo>
                  <a:pt x="74" y="116"/>
                  <a:pt x="67" y="117"/>
                  <a:pt x="59" y="117"/>
                </a:cubicBezTo>
                <a:cubicBezTo>
                  <a:pt x="51" y="117"/>
                  <a:pt x="44" y="116"/>
                  <a:pt x="37" y="113"/>
                </a:cubicBezTo>
                <a:cubicBezTo>
                  <a:pt x="29" y="110"/>
                  <a:pt x="22" y="106"/>
                  <a:pt x="17" y="100"/>
                </a:cubicBezTo>
                <a:cubicBezTo>
                  <a:pt x="11" y="95"/>
                  <a:pt x="7" y="88"/>
                  <a:pt x="4" y="81"/>
                </a:cubicBezTo>
                <a:cubicBezTo>
                  <a:pt x="1" y="73"/>
                  <a:pt x="0" y="66"/>
                  <a:pt x="0" y="58"/>
                </a:cubicBezTo>
                <a:cubicBezTo>
                  <a:pt x="0" y="50"/>
                  <a:pt x="1" y="43"/>
                  <a:pt x="4" y="36"/>
                </a:cubicBezTo>
                <a:cubicBezTo>
                  <a:pt x="7" y="29"/>
                  <a:pt x="11" y="22"/>
                  <a:pt x="17" y="17"/>
                </a:cubicBezTo>
                <a:cubicBezTo>
                  <a:pt x="22" y="12"/>
                  <a:pt x="29" y="7"/>
                  <a:pt x="37" y="4"/>
                </a:cubicBezTo>
                <a:cubicBezTo>
                  <a:pt x="44" y="2"/>
                  <a:pt x="51" y="0"/>
                  <a:pt x="59" y="0"/>
                </a:cubicBezTo>
                <a:cubicBezTo>
                  <a:pt x="67" y="0"/>
                  <a:pt x="74" y="2"/>
                  <a:pt x="81" y="4"/>
                </a:cubicBezTo>
                <a:cubicBezTo>
                  <a:pt x="88" y="7"/>
                  <a:pt x="94" y="12"/>
                  <a:pt x="100" y="17"/>
                </a:cubicBezTo>
                <a:cubicBezTo>
                  <a:pt x="105" y="22"/>
                  <a:pt x="110" y="29"/>
                  <a:pt x="112" y="36"/>
                </a:cubicBezTo>
                <a:cubicBezTo>
                  <a:pt x="115" y="43"/>
                  <a:pt x="117" y="50"/>
                  <a:pt x="117" y="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1512720" y="5339880"/>
            <a:ext cx="223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「放置」と「盗難」の識別性能の質的評価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44" name="" descr=""/>
          <p:cNvPicPr/>
          <p:nvPr/>
        </p:nvPicPr>
        <p:blipFill>
          <a:blip r:embed="rId14"/>
          <a:stretch/>
        </p:blipFill>
        <p:spPr>
          <a:xfrm>
            <a:off x="0" y="0"/>
            <a:ext cx="10696320" cy="61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5" name="" descr=""/>
          <p:cNvPicPr/>
          <p:nvPr/>
        </p:nvPicPr>
        <p:blipFill>
          <a:blip r:embed="rId15"/>
          <a:stretch/>
        </p:blipFill>
        <p:spPr>
          <a:xfrm>
            <a:off x="0" y="0"/>
            <a:ext cx="10696320" cy="618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6" name=""/>
          <p:cNvSpPr/>
          <p:nvPr/>
        </p:nvSpPr>
        <p:spPr>
          <a:xfrm>
            <a:off x="5912280" y="4968000"/>
            <a:ext cx="4245480" cy="409680"/>
          </a:xfrm>
          <a:custGeom>
            <a:avLst/>
            <a:gdLst/>
            <a:ahLst/>
            <a:rect l="0" t="0" r="r" b="b"/>
            <a:pathLst>
              <a:path w="11793" h="1138">
                <a:moveTo>
                  <a:pt x="0" y="964"/>
                </a:moveTo>
                <a:lnTo>
                  <a:pt x="0" y="174"/>
                </a:lnTo>
                <a:cubicBezTo>
                  <a:pt x="0" y="162"/>
                  <a:pt x="1" y="151"/>
                  <a:pt x="3" y="140"/>
                </a:cubicBezTo>
                <a:cubicBezTo>
                  <a:pt x="5" y="129"/>
                  <a:pt x="9" y="118"/>
                  <a:pt x="13" y="107"/>
                </a:cubicBezTo>
                <a:cubicBezTo>
                  <a:pt x="17" y="97"/>
                  <a:pt x="23" y="87"/>
                  <a:pt x="29" y="77"/>
                </a:cubicBezTo>
                <a:cubicBezTo>
                  <a:pt x="35" y="68"/>
                  <a:pt x="43" y="59"/>
                  <a:pt x="51" y="51"/>
                </a:cubicBezTo>
                <a:cubicBezTo>
                  <a:pt x="59" y="43"/>
                  <a:pt x="68" y="35"/>
                  <a:pt x="77" y="29"/>
                </a:cubicBezTo>
                <a:cubicBezTo>
                  <a:pt x="87" y="23"/>
                  <a:pt x="97" y="17"/>
                  <a:pt x="107" y="13"/>
                </a:cubicBezTo>
                <a:cubicBezTo>
                  <a:pt x="118" y="9"/>
                  <a:pt x="129" y="5"/>
                  <a:pt x="140" y="3"/>
                </a:cubicBezTo>
                <a:cubicBezTo>
                  <a:pt x="151" y="1"/>
                  <a:pt x="162" y="0"/>
                  <a:pt x="174" y="0"/>
                </a:cubicBezTo>
                <a:lnTo>
                  <a:pt x="11619" y="0"/>
                </a:lnTo>
                <a:cubicBezTo>
                  <a:pt x="11630" y="0"/>
                  <a:pt x="11642" y="1"/>
                  <a:pt x="11653" y="3"/>
                </a:cubicBezTo>
                <a:cubicBezTo>
                  <a:pt x="11664" y="5"/>
                  <a:pt x="11675" y="9"/>
                  <a:pt x="11685" y="13"/>
                </a:cubicBezTo>
                <a:cubicBezTo>
                  <a:pt x="11696" y="17"/>
                  <a:pt x="11706" y="23"/>
                  <a:pt x="11716" y="29"/>
                </a:cubicBezTo>
                <a:cubicBezTo>
                  <a:pt x="11725" y="35"/>
                  <a:pt x="11734" y="43"/>
                  <a:pt x="11742" y="51"/>
                </a:cubicBezTo>
                <a:cubicBezTo>
                  <a:pt x="11750" y="59"/>
                  <a:pt x="11757" y="68"/>
                  <a:pt x="11764" y="77"/>
                </a:cubicBezTo>
                <a:cubicBezTo>
                  <a:pt x="11770" y="87"/>
                  <a:pt x="11775" y="97"/>
                  <a:pt x="11780" y="107"/>
                </a:cubicBezTo>
                <a:cubicBezTo>
                  <a:pt x="11784" y="118"/>
                  <a:pt x="11787" y="129"/>
                  <a:pt x="11790" y="140"/>
                </a:cubicBezTo>
                <a:cubicBezTo>
                  <a:pt x="11792" y="151"/>
                  <a:pt x="11793" y="162"/>
                  <a:pt x="11793" y="174"/>
                </a:cubicBezTo>
                <a:lnTo>
                  <a:pt x="11793" y="964"/>
                </a:lnTo>
                <a:cubicBezTo>
                  <a:pt x="11793" y="975"/>
                  <a:pt x="11792" y="987"/>
                  <a:pt x="11790" y="998"/>
                </a:cubicBezTo>
                <a:cubicBezTo>
                  <a:pt x="11787" y="1009"/>
                  <a:pt x="11784" y="1020"/>
                  <a:pt x="11780" y="1031"/>
                </a:cubicBezTo>
                <a:cubicBezTo>
                  <a:pt x="11775" y="1041"/>
                  <a:pt x="11770" y="1051"/>
                  <a:pt x="11764" y="1061"/>
                </a:cubicBezTo>
                <a:cubicBezTo>
                  <a:pt x="11757" y="1070"/>
                  <a:pt x="11750" y="1079"/>
                  <a:pt x="11742" y="1087"/>
                </a:cubicBezTo>
                <a:cubicBezTo>
                  <a:pt x="11734" y="1095"/>
                  <a:pt x="11725" y="1102"/>
                  <a:pt x="11716" y="1109"/>
                </a:cubicBezTo>
                <a:cubicBezTo>
                  <a:pt x="11706" y="1115"/>
                  <a:pt x="11696" y="1120"/>
                  <a:pt x="11685" y="1125"/>
                </a:cubicBezTo>
                <a:cubicBezTo>
                  <a:pt x="11675" y="1129"/>
                  <a:pt x="11664" y="1133"/>
                  <a:pt x="11653" y="1135"/>
                </a:cubicBezTo>
                <a:cubicBezTo>
                  <a:pt x="11642" y="1137"/>
                  <a:pt x="11630" y="1138"/>
                  <a:pt x="11619" y="1138"/>
                </a:cubicBezTo>
                <a:lnTo>
                  <a:pt x="174" y="1138"/>
                </a:lnTo>
                <a:cubicBezTo>
                  <a:pt x="162" y="1138"/>
                  <a:pt x="151" y="1137"/>
                  <a:pt x="140" y="1135"/>
                </a:cubicBezTo>
                <a:cubicBezTo>
                  <a:pt x="129" y="1133"/>
                  <a:pt x="118" y="1129"/>
                  <a:pt x="107" y="1125"/>
                </a:cubicBezTo>
                <a:cubicBezTo>
                  <a:pt x="97" y="1120"/>
                  <a:pt x="87" y="1115"/>
                  <a:pt x="77" y="1109"/>
                </a:cubicBezTo>
                <a:cubicBezTo>
                  <a:pt x="68" y="1102"/>
                  <a:pt x="59" y="1095"/>
                  <a:pt x="51" y="1087"/>
                </a:cubicBezTo>
                <a:cubicBezTo>
                  <a:pt x="43" y="1079"/>
                  <a:pt x="35" y="1070"/>
                  <a:pt x="29" y="1061"/>
                </a:cubicBezTo>
                <a:cubicBezTo>
                  <a:pt x="23" y="1051"/>
                  <a:pt x="17" y="1041"/>
                  <a:pt x="13" y="1031"/>
                </a:cubicBezTo>
                <a:cubicBezTo>
                  <a:pt x="9" y="1020"/>
                  <a:pt x="5" y="1009"/>
                  <a:pt x="3" y="998"/>
                </a:cubicBezTo>
                <a:cubicBezTo>
                  <a:pt x="1" y="987"/>
                  <a:pt x="0" y="975"/>
                  <a:pt x="0" y="964"/>
                </a:cubicBezTo>
                <a:close/>
              </a:path>
            </a:pathLst>
          </a:custGeom>
          <a:solidFill>
            <a:srgbClr val="1e3a8a">
              <a:alpha val="7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5912280" y="4968000"/>
            <a:ext cx="4245480" cy="409680"/>
          </a:xfrm>
          <a:custGeom>
            <a:avLst/>
            <a:gdLst/>
            <a:ahLst/>
            <a:rect l="0" t="0" r="r" b="b"/>
            <a:pathLst>
              <a:path fill="none" w="11793" h="1138">
                <a:moveTo>
                  <a:pt x="0" y="964"/>
                </a:moveTo>
                <a:lnTo>
                  <a:pt x="0" y="174"/>
                </a:lnTo>
                <a:cubicBezTo>
                  <a:pt x="0" y="162"/>
                  <a:pt x="1" y="151"/>
                  <a:pt x="3" y="140"/>
                </a:cubicBezTo>
                <a:cubicBezTo>
                  <a:pt x="5" y="129"/>
                  <a:pt x="9" y="118"/>
                  <a:pt x="13" y="107"/>
                </a:cubicBezTo>
                <a:cubicBezTo>
                  <a:pt x="17" y="97"/>
                  <a:pt x="23" y="87"/>
                  <a:pt x="29" y="77"/>
                </a:cubicBezTo>
                <a:cubicBezTo>
                  <a:pt x="35" y="68"/>
                  <a:pt x="43" y="59"/>
                  <a:pt x="51" y="51"/>
                </a:cubicBezTo>
                <a:cubicBezTo>
                  <a:pt x="59" y="43"/>
                  <a:pt x="68" y="35"/>
                  <a:pt x="77" y="29"/>
                </a:cubicBezTo>
                <a:cubicBezTo>
                  <a:pt x="87" y="23"/>
                  <a:pt x="97" y="17"/>
                  <a:pt x="107" y="13"/>
                </a:cubicBezTo>
                <a:cubicBezTo>
                  <a:pt x="118" y="9"/>
                  <a:pt x="129" y="5"/>
                  <a:pt x="140" y="3"/>
                </a:cubicBezTo>
                <a:cubicBezTo>
                  <a:pt x="151" y="1"/>
                  <a:pt x="162" y="0"/>
                  <a:pt x="174" y="0"/>
                </a:cubicBezTo>
                <a:lnTo>
                  <a:pt x="11619" y="0"/>
                </a:lnTo>
                <a:cubicBezTo>
                  <a:pt x="11630" y="0"/>
                  <a:pt x="11642" y="1"/>
                  <a:pt x="11653" y="3"/>
                </a:cubicBezTo>
                <a:cubicBezTo>
                  <a:pt x="11664" y="5"/>
                  <a:pt x="11675" y="9"/>
                  <a:pt x="11685" y="13"/>
                </a:cubicBezTo>
                <a:cubicBezTo>
                  <a:pt x="11696" y="17"/>
                  <a:pt x="11706" y="23"/>
                  <a:pt x="11716" y="29"/>
                </a:cubicBezTo>
                <a:cubicBezTo>
                  <a:pt x="11725" y="35"/>
                  <a:pt x="11734" y="43"/>
                  <a:pt x="11742" y="51"/>
                </a:cubicBezTo>
                <a:cubicBezTo>
                  <a:pt x="11750" y="59"/>
                  <a:pt x="11757" y="68"/>
                  <a:pt x="11764" y="77"/>
                </a:cubicBezTo>
                <a:cubicBezTo>
                  <a:pt x="11770" y="87"/>
                  <a:pt x="11775" y="97"/>
                  <a:pt x="11780" y="107"/>
                </a:cubicBezTo>
                <a:cubicBezTo>
                  <a:pt x="11784" y="118"/>
                  <a:pt x="11787" y="129"/>
                  <a:pt x="11790" y="140"/>
                </a:cubicBezTo>
                <a:cubicBezTo>
                  <a:pt x="11792" y="151"/>
                  <a:pt x="11793" y="162"/>
                  <a:pt x="11793" y="174"/>
                </a:cubicBezTo>
                <a:lnTo>
                  <a:pt x="11793" y="964"/>
                </a:lnTo>
                <a:cubicBezTo>
                  <a:pt x="11793" y="975"/>
                  <a:pt x="11792" y="987"/>
                  <a:pt x="11790" y="998"/>
                </a:cubicBezTo>
                <a:cubicBezTo>
                  <a:pt x="11787" y="1009"/>
                  <a:pt x="11784" y="1020"/>
                  <a:pt x="11780" y="1031"/>
                </a:cubicBezTo>
                <a:cubicBezTo>
                  <a:pt x="11775" y="1041"/>
                  <a:pt x="11770" y="1051"/>
                  <a:pt x="11764" y="1061"/>
                </a:cubicBezTo>
                <a:cubicBezTo>
                  <a:pt x="11757" y="1070"/>
                  <a:pt x="11750" y="1079"/>
                  <a:pt x="11742" y="1087"/>
                </a:cubicBezTo>
                <a:cubicBezTo>
                  <a:pt x="11734" y="1095"/>
                  <a:pt x="11725" y="1102"/>
                  <a:pt x="11716" y="1109"/>
                </a:cubicBezTo>
                <a:cubicBezTo>
                  <a:pt x="11706" y="1115"/>
                  <a:pt x="11696" y="1120"/>
                  <a:pt x="11685" y="1125"/>
                </a:cubicBezTo>
                <a:cubicBezTo>
                  <a:pt x="11675" y="1129"/>
                  <a:pt x="11664" y="1133"/>
                  <a:pt x="11653" y="1135"/>
                </a:cubicBezTo>
                <a:cubicBezTo>
                  <a:pt x="11642" y="1137"/>
                  <a:pt x="11630" y="1138"/>
                  <a:pt x="11619" y="1138"/>
                </a:cubicBezTo>
                <a:lnTo>
                  <a:pt x="174" y="1138"/>
                </a:lnTo>
                <a:cubicBezTo>
                  <a:pt x="162" y="1138"/>
                  <a:pt x="151" y="1137"/>
                  <a:pt x="140" y="1135"/>
                </a:cubicBezTo>
                <a:cubicBezTo>
                  <a:pt x="129" y="1133"/>
                  <a:pt x="118" y="1129"/>
                  <a:pt x="107" y="1125"/>
                </a:cubicBezTo>
                <a:cubicBezTo>
                  <a:pt x="97" y="1120"/>
                  <a:pt x="87" y="1115"/>
                  <a:pt x="77" y="1109"/>
                </a:cubicBezTo>
                <a:cubicBezTo>
                  <a:pt x="68" y="1102"/>
                  <a:pt x="59" y="1095"/>
                  <a:pt x="51" y="1087"/>
                </a:cubicBezTo>
                <a:cubicBezTo>
                  <a:pt x="43" y="1079"/>
                  <a:pt x="35" y="1070"/>
                  <a:pt x="29" y="1061"/>
                </a:cubicBezTo>
                <a:cubicBezTo>
                  <a:pt x="23" y="1051"/>
                  <a:pt x="17" y="1041"/>
                  <a:pt x="13" y="1031"/>
                </a:cubicBezTo>
                <a:cubicBezTo>
                  <a:pt x="9" y="1020"/>
                  <a:pt x="5" y="1009"/>
                  <a:pt x="3" y="998"/>
                </a:cubicBezTo>
                <a:cubicBezTo>
                  <a:pt x="1" y="987"/>
                  <a:pt x="0" y="975"/>
                  <a:pt x="0" y="964"/>
                </a:cubicBezTo>
              </a:path>
            </a:pathLst>
          </a:custGeom>
          <a:ln w="8280">
            <a:solidFill>
              <a:srgbClr val="60a5fa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48" name="" descr=""/>
          <p:cNvPicPr/>
          <p:nvPr/>
        </p:nvPicPr>
        <p:blipFill>
          <a:blip r:embed="rId16"/>
          <a:stretch/>
        </p:blipFill>
        <p:spPr>
          <a:xfrm>
            <a:off x="6016680" y="5105880"/>
            <a:ext cx="1000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9" name=""/>
          <p:cNvSpPr txBox="1"/>
          <p:nvPr/>
        </p:nvSpPr>
        <p:spPr>
          <a:xfrm>
            <a:off x="1512720" y="5540400"/>
            <a:ext cx="1761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複雑な状況下での振る舞いの分析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 txBox="1"/>
          <p:nvPr/>
        </p:nvSpPr>
        <p:spPr>
          <a:xfrm>
            <a:off x="6184080" y="5107320"/>
            <a:ext cx="38898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ベースラインシステムとの比較を通じて提案手法の有効性を検証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 txBox="1"/>
          <p:nvPr/>
        </p:nvSpPr>
        <p:spPr>
          <a:xfrm>
            <a:off x="10078200" y="5884560"/>
            <a:ext cx="472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9ca3af"/>
                </a:solidFill>
                <a:effectLst/>
                <a:uFillTx/>
                <a:latin typeface="NotoSansJP"/>
                <a:ea typeface="NotoSansJP"/>
              </a:rPr>
              <a:t>10 / 12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696320" cy="651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3" name=""/>
          <p:cNvSpPr/>
          <p:nvPr/>
        </p:nvSpPr>
        <p:spPr>
          <a:xfrm>
            <a:off x="534600" y="802080"/>
            <a:ext cx="668880" cy="33840"/>
          </a:xfrm>
          <a:custGeom>
            <a:avLst/>
            <a:gdLst/>
            <a:ahLst/>
            <a:rect l="0" t="0" r="r" b="b"/>
            <a:pathLst>
              <a:path w="1858" h="94">
                <a:moveTo>
                  <a:pt x="0" y="0"/>
                </a:moveTo>
                <a:lnTo>
                  <a:pt x="1858" y="0"/>
                </a:lnTo>
                <a:lnTo>
                  <a:pt x="1858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60a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534600" y="1437120"/>
            <a:ext cx="4546440" cy="2607840"/>
          </a:xfrm>
          <a:custGeom>
            <a:avLst/>
            <a:gdLst/>
            <a:ahLst/>
            <a:rect l="0" t="0" r="r" b="b"/>
            <a:pathLst>
              <a:path w="12629" h="7244">
                <a:moveTo>
                  <a:pt x="0" y="7058"/>
                </a:moveTo>
                <a:lnTo>
                  <a:pt x="0" y="186"/>
                </a:lnTo>
                <a:cubicBezTo>
                  <a:pt x="0" y="174"/>
                  <a:pt x="1" y="162"/>
                  <a:pt x="4" y="150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4"/>
                  <a:pt x="25" y="93"/>
                  <a:pt x="31" y="83"/>
                </a:cubicBezTo>
                <a:cubicBezTo>
                  <a:pt x="38" y="73"/>
                  <a:pt x="46" y="63"/>
                  <a:pt x="55" y="55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lnTo>
                  <a:pt x="12443" y="0"/>
                </a:lnTo>
                <a:cubicBezTo>
                  <a:pt x="12456" y="0"/>
                  <a:pt x="12468" y="1"/>
                  <a:pt x="12480" y="4"/>
                </a:cubicBezTo>
                <a:cubicBezTo>
                  <a:pt x="12492" y="6"/>
                  <a:pt x="12503" y="10"/>
                  <a:pt x="12514" y="14"/>
                </a:cubicBezTo>
                <a:cubicBezTo>
                  <a:pt x="12526" y="19"/>
                  <a:pt x="12536" y="25"/>
                  <a:pt x="12547" y="31"/>
                </a:cubicBezTo>
                <a:cubicBezTo>
                  <a:pt x="12557" y="38"/>
                  <a:pt x="12566" y="46"/>
                  <a:pt x="12575" y="55"/>
                </a:cubicBezTo>
                <a:cubicBezTo>
                  <a:pt x="12583" y="63"/>
                  <a:pt x="12591" y="73"/>
                  <a:pt x="12598" y="83"/>
                </a:cubicBezTo>
                <a:cubicBezTo>
                  <a:pt x="12605" y="93"/>
                  <a:pt x="12610" y="104"/>
                  <a:pt x="12615" y="115"/>
                </a:cubicBezTo>
                <a:cubicBezTo>
                  <a:pt x="12620" y="126"/>
                  <a:pt x="12623" y="138"/>
                  <a:pt x="12625" y="150"/>
                </a:cubicBezTo>
                <a:cubicBezTo>
                  <a:pt x="12628" y="162"/>
                  <a:pt x="12629" y="174"/>
                  <a:pt x="12629" y="186"/>
                </a:cubicBezTo>
                <a:lnTo>
                  <a:pt x="12629" y="7058"/>
                </a:lnTo>
                <a:cubicBezTo>
                  <a:pt x="12629" y="7070"/>
                  <a:pt x="12628" y="7082"/>
                  <a:pt x="12625" y="7094"/>
                </a:cubicBezTo>
                <a:cubicBezTo>
                  <a:pt x="12623" y="7106"/>
                  <a:pt x="12620" y="7118"/>
                  <a:pt x="12615" y="7129"/>
                </a:cubicBezTo>
                <a:cubicBezTo>
                  <a:pt x="12610" y="7140"/>
                  <a:pt x="12605" y="7151"/>
                  <a:pt x="12598" y="7161"/>
                </a:cubicBezTo>
                <a:cubicBezTo>
                  <a:pt x="12591" y="7171"/>
                  <a:pt x="12583" y="7181"/>
                  <a:pt x="12575" y="7189"/>
                </a:cubicBezTo>
                <a:cubicBezTo>
                  <a:pt x="12566" y="7198"/>
                  <a:pt x="12557" y="7206"/>
                  <a:pt x="12547" y="7212"/>
                </a:cubicBezTo>
                <a:cubicBezTo>
                  <a:pt x="12536" y="7219"/>
                  <a:pt x="12526" y="7225"/>
                  <a:pt x="12514" y="7229"/>
                </a:cubicBezTo>
                <a:cubicBezTo>
                  <a:pt x="12503" y="7234"/>
                  <a:pt x="12492" y="7238"/>
                  <a:pt x="12480" y="7240"/>
                </a:cubicBezTo>
                <a:cubicBezTo>
                  <a:pt x="12468" y="7242"/>
                  <a:pt x="12456" y="7244"/>
                  <a:pt x="12443" y="7244"/>
                </a:cubicBezTo>
                <a:lnTo>
                  <a:pt x="186" y="7244"/>
                </a:lnTo>
                <a:cubicBezTo>
                  <a:pt x="174" y="7244"/>
                  <a:pt x="162" y="7242"/>
                  <a:pt x="150" y="7240"/>
                </a:cubicBezTo>
                <a:cubicBezTo>
                  <a:pt x="138" y="7238"/>
                  <a:pt x="126" y="7234"/>
                  <a:pt x="115" y="7229"/>
                </a:cubicBezTo>
                <a:cubicBezTo>
                  <a:pt x="104" y="7225"/>
                  <a:pt x="93" y="7219"/>
                  <a:pt x="83" y="7212"/>
                </a:cubicBezTo>
                <a:cubicBezTo>
                  <a:pt x="73" y="7206"/>
                  <a:pt x="63" y="7198"/>
                  <a:pt x="55" y="7189"/>
                </a:cubicBezTo>
                <a:cubicBezTo>
                  <a:pt x="46" y="7181"/>
                  <a:pt x="38" y="7171"/>
                  <a:pt x="31" y="7161"/>
                </a:cubicBezTo>
                <a:cubicBezTo>
                  <a:pt x="25" y="7151"/>
                  <a:pt x="19" y="7140"/>
                  <a:pt x="14" y="7129"/>
                </a:cubicBezTo>
                <a:cubicBezTo>
                  <a:pt x="10" y="7118"/>
                  <a:pt x="6" y="7106"/>
                  <a:pt x="4" y="7094"/>
                </a:cubicBezTo>
                <a:cubicBezTo>
                  <a:pt x="1" y="7082"/>
                  <a:pt x="0" y="7070"/>
                  <a:pt x="0" y="7058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55" name="" descr=""/>
          <p:cNvPicPr/>
          <p:nvPr/>
        </p:nvPicPr>
        <p:blipFill>
          <a:blip r:embed="rId2"/>
          <a:stretch/>
        </p:blipFill>
        <p:spPr>
          <a:xfrm>
            <a:off x="534960" y="1077840"/>
            <a:ext cx="25020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6" name=""/>
          <p:cNvSpPr txBox="1"/>
          <p:nvPr/>
        </p:nvSpPr>
        <p:spPr>
          <a:xfrm>
            <a:off x="534960" y="422640"/>
            <a:ext cx="2102400" cy="43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37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実験結果と考察</a:t>
            </a:r>
            <a:endParaRPr b="0" lang="en-US" sz="2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/>
          <p:nvPr/>
        </p:nvSpPr>
        <p:spPr>
          <a:xfrm>
            <a:off x="701640" y="1671120"/>
            <a:ext cx="100800" cy="100800"/>
          </a:xfrm>
          <a:custGeom>
            <a:avLst/>
            <a:gdLst/>
            <a:ahLst/>
            <a:rect l="0" t="0" r="r" b="b"/>
            <a:pathLst>
              <a:path w="280" h="280">
                <a:moveTo>
                  <a:pt x="280" y="139"/>
                </a:moveTo>
                <a:cubicBezTo>
                  <a:pt x="280" y="158"/>
                  <a:pt x="276" y="176"/>
                  <a:pt x="269" y="193"/>
                </a:cubicBezTo>
                <a:cubicBezTo>
                  <a:pt x="262" y="210"/>
                  <a:pt x="252" y="226"/>
                  <a:pt x="239" y="239"/>
                </a:cubicBezTo>
                <a:cubicBezTo>
                  <a:pt x="226" y="252"/>
                  <a:pt x="211" y="262"/>
                  <a:pt x="194" y="269"/>
                </a:cubicBezTo>
                <a:cubicBezTo>
                  <a:pt x="177" y="276"/>
                  <a:pt x="159" y="280"/>
                  <a:pt x="141" y="280"/>
                </a:cubicBezTo>
                <a:cubicBezTo>
                  <a:pt x="121" y="280"/>
                  <a:pt x="103" y="276"/>
                  <a:pt x="86" y="269"/>
                </a:cubicBezTo>
                <a:cubicBezTo>
                  <a:pt x="69" y="262"/>
                  <a:pt x="54" y="252"/>
                  <a:pt x="41" y="239"/>
                </a:cubicBezTo>
                <a:cubicBezTo>
                  <a:pt x="28" y="226"/>
                  <a:pt x="18" y="210"/>
                  <a:pt x="11" y="193"/>
                </a:cubicBezTo>
                <a:cubicBezTo>
                  <a:pt x="4" y="176"/>
                  <a:pt x="0" y="158"/>
                  <a:pt x="0" y="139"/>
                </a:cubicBezTo>
                <a:cubicBezTo>
                  <a:pt x="0" y="121"/>
                  <a:pt x="4" y="103"/>
                  <a:pt x="11" y="86"/>
                </a:cubicBezTo>
                <a:cubicBezTo>
                  <a:pt x="18" y="69"/>
                  <a:pt x="28" y="54"/>
                  <a:pt x="41" y="41"/>
                </a:cubicBezTo>
                <a:cubicBezTo>
                  <a:pt x="54" y="28"/>
                  <a:pt x="69" y="18"/>
                  <a:pt x="86" y="11"/>
                </a:cubicBezTo>
                <a:cubicBezTo>
                  <a:pt x="103" y="4"/>
                  <a:pt x="121" y="0"/>
                  <a:pt x="141" y="0"/>
                </a:cubicBezTo>
                <a:cubicBezTo>
                  <a:pt x="159" y="0"/>
                  <a:pt x="177" y="4"/>
                  <a:pt x="194" y="11"/>
                </a:cubicBezTo>
                <a:cubicBezTo>
                  <a:pt x="211" y="18"/>
                  <a:pt x="226" y="28"/>
                  <a:pt x="239" y="41"/>
                </a:cubicBezTo>
                <a:cubicBezTo>
                  <a:pt x="252" y="54"/>
                  <a:pt x="262" y="69"/>
                  <a:pt x="269" y="86"/>
                </a:cubicBezTo>
                <a:cubicBezTo>
                  <a:pt x="276" y="103"/>
                  <a:pt x="280" y="121"/>
                  <a:pt x="280" y="139"/>
                </a:cubicBezTo>
                <a:close/>
              </a:path>
            </a:pathLst>
          </a:custGeom>
          <a:solidFill>
            <a:srgbClr val="ef44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852480" y="1067400"/>
            <a:ext cx="1252800" cy="29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80" strike="noStrike" u="none">
                <a:solidFill>
                  <a:srgbClr val="93c5fd"/>
                </a:solidFill>
                <a:effectLst/>
                <a:uFillTx/>
                <a:latin typeface="NotoSansJP"/>
                <a:ea typeface="NotoSansJP"/>
              </a:rPr>
              <a:t> システム比較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701640" y="2841120"/>
            <a:ext cx="100800" cy="100440"/>
          </a:xfrm>
          <a:custGeom>
            <a:avLst/>
            <a:gdLst/>
            <a:ahLst/>
            <a:rect l="0" t="0" r="r" b="b"/>
            <a:pathLst>
              <a:path w="280" h="279">
                <a:moveTo>
                  <a:pt x="280" y="140"/>
                </a:moveTo>
                <a:cubicBezTo>
                  <a:pt x="280" y="159"/>
                  <a:pt x="276" y="176"/>
                  <a:pt x="269" y="194"/>
                </a:cubicBezTo>
                <a:cubicBezTo>
                  <a:pt x="262" y="211"/>
                  <a:pt x="252" y="226"/>
                  <a:pt x="239" y="239"/>
                </a:cubicBezTo>
                <a:cubicBezTo>
                  <a:pt x="226" y="252"/>
                  <a:pt x="211" y="262"/>
                  <a:pt x="194" y="269"/>
                </a:cubicBezTo>
                <a:cubicBezTo>
                  <a:pt x="177" y="276"/>
                  <a:pt x="159" y="279"/>
                  <a:pt x="141" y="279"/>
                </a:cubicBezTo>
                <a:cubicBezTo>
                  <a:pt x="121" y="279"/>
                  <a:pt x="103" y="276"/>
                  <a:pt x="86" y="269"/>
                </a:cubicBezTo>
                <a:cubicBezTo>
                  <a:pt x="69" y="262"/>
                  <a:pt x="54" y="252"/>
                  <a:pt x="41" y="239"/>
                </a:cubicBezTo>
                <a:cubicBezTo>
                  <a:pt x="28" y="226"/>
                  <a:pt x="18" y="211"/>
                  <a:pt x="11" y="194"/>
                </a:cubicBezTo>
                <a:cubicBezTo>
                  <a:pt x="4" y="176"/>
                  <a:pt x="0" y="159"/>
                  <a:pt x="0" y="140"/>
                </a:cubicBezTo>
                <a:cubicBezTo>
                  <a:pt x="0" y="122"/>
                  <a:pt x="4" y="104"/>
                  <a:pt x="11" y="87"/>
                </a:cubicBezTo>
                <a:cubicBezTo>
                  <a:pt x="18" y="70"/>
                  <a:pt x="28" y="55"/>
                  <a:pt x="41" y="42"/>
                </a:cubicBezTo>
                <a:cubicBezTo>
                  <a:pt x="54" y="28"/>
                  <a:pt x="69" y="18"/>
                  <a:pt x="86" y="11"/>
                </a:cubicBezTo>
                <a:cubicBezTo>
                  <a:pt x="103" y="3"/>
                  <a:pt x="121" y="0"/>
                  <a:pt x="141" y="0"/>
                </a:cubicBezTo>
                <a:cubicBezTo>
                  <a:pt x="159" y="0"/>
                  <a:pt x="177" y="3"/>
                  <a:pt x="194" y="11"/>
                </a:cubicBezTo>
                <a:cubicBezTo>
                  <a:pt x="211" y="18"/>
                  <a:pt x="226" y="28"/>
                  <a:pt x="239" y="42"/>
                </a:cubicBezTo>
                <a:cubicBezTo>
                  <a:pt x="252" y="55"/>
                  <a:pt x="262" y="70"/>
                  <a:pt x="269" y="87"/>
                </a:cubicBezTo>
                <a:cubicBezTo>
                  <a:pt x="276" y="104"/>
                  <a:pt x="280" y="122"/>
                  <a:pt x="280" y="140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869040" y="1633320"/>
            <a:ext cx="167724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fca5a5"/>
                </a:solidFill>
                <a:effectLst/>
                <a:uFillTx/>
                <a:latin typeface="NotoSansJP"/>
                <a:ea typeface="NotoSansJP"/>
              </a:rPr>
              <a:t>ベースラインシステム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61" name="" descr=""/>
          <p:cNvPicPr/>
          <p:nvPr/>
        </p:nvPicPr>
        <p:blipFill>
          <a:blip r:embed="rId3"/>
          <a:stretch/>
        </p:blipFill>
        <p:spPr>
          <a:xfrm>
            <a:off x="534960" y="428688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2" name=""/>
          <p:cNvSpPr txBox="1"/>
          <p:nvPr/>
        </p:nvSpPr>
        <p:spPr>
          <a:xfrm>
            <a:off x="869040" y="2803320"/>
            <a:ext cx="100656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93c5fd"/>
                </a:solidFill>
                <a:effectLst/>
                <a:uFillTx/>
                <a:latin typeface="NotoSansJP"/>
                <a:ea typeface="NotoSansJP"/>
              </a:rPr>
              <a:t>提案システム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63" name="" descr=""/>
          <p:cNvPicPr/>
          <p:nvPr/>
        </p:nvPicPr>
        <p:blipFill>
          <a:blip r:embed="rId4"/>
          <a:stretch/>
        </p:blipFill>
        <p:spPr>
          <a:xfrm>
            <a:off x="534960" y="46130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4" name=""/>
          <p:cNvSpPr txBox="1"/>
          <p:nvPr/>
        </p:nvSpPr>
        <p:spPr>
          <a:xfrm>
            <a:off x="768960" y="4273920"/>
            <a:ext cx="137952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 性能向上の主要因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65" name="" descr=""/>
          <p:cNvPicPr/>
          <p:nvPr/>
        </p:nvPicPr>
        <p:blipFill>
          <a:blip r:embed="rId5"/>
          <a:stretch/>
        </p:blipFill>
        <p:spPr>
          <a:xfrm>
            <a:off x="534960" y="48801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6" name=""/>
          <p:cNvSpPr txBox="1"/>
          <p:nvPr/>
        </p:nvSpPr>
        <p:spPr>
          <a:xfrm>
            <a:off x="735480" y="4614120"/>
            <a:ext cx="12078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誤報率の大幅な削減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67" name="" descr=""/>
          <p:cNvPicPr/>
          <p:nvPr/>
        </p:nvPicPr>
        <p:blipFill>
          <a:blip r:embed="rId6"/>
          <a:stretch/>
        </p:blipFill>
        <p:spPr>
          <a:xfrm>
            <a:off x="534960" y="51476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8" name=""/>
          <p:cNvSpPr txBox="1"/>
          <p:nvPr/>
        </p:nvSpPr>
        <p:spPr>
          <a:xfrm>
            <a:off x="735480" y="4881600"/>
            <a:ext cx="12078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盗難検知能力の実現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5627880" y="1437120"/>
            <a:ext cx="4534200" cy="1069920"/>
          </a:xfrm>
          <a:custGeom>
            <a:avLst/>
            <a:gdLst/>
            <a:ahLst/>
            <a:rect l="0" t="0" r="r" b="b"/>
            <a:pathLst>
              <a:path w="12595" h="2972">
                <a:moveTo>
                  <a:pt x="0" y="2880"/>
                </a:moveTo>
                <a:lnTo>
                  <a:pt x="0" y="93"/>
                </a:lnTo>
                <a:cubicBezTo>
                  <a:pt x="0" y="81"/>
                  <a:pt x="2" y="69"/>
                  <a:pt x="5" y="57"/>
                </a:cubicBezTo>
                <a:cubicBezTo>
                  <a:pt x="8" y="46"/>
                  <a:pt x="12" y="36"/>
                  <a:pt x="17" y="27"/>
                </a:cubicBezTo>
                <a:cubicBezTo>
                  <a:pt x="23" y="19"/>
                  <a:pt x="29" y="12"/>
                  <a:pt x="36" y="7"/>
                </a:cubicBezTo>
                <a:cubicBezTo>
                  <a:pt x="43" y="3"/>
                  <a:pt x="51" y="0"/>
                  <a:pt x="59" y="0"/>
                </a:cubicBezTo>
                <a:lnTo>
                  <a:pt x="12502" y="0"/>
                </a:lnTo>
                <a:cubicBezTo>
                  <a:pt x="12514" y="0"/>
                  <a:pt x="12526" y="3"/>
                  <a:pt x="12537" y="7"/>
                </a:cubicBezTo>
                <a:cubicBezTo>
                  <a:pt x="12549" y="12"/>
                  <a:pt x="12559" y="19"/>
                  <a:pt x="12567" y="27"/>
                </a:cubicBezTo>
                <a:cubicBezTo>
                  <a:pt x="12576" y="36"/>
                  <a:pt x="12583" y="46"/>
                  <a:pt x="12588" y="57"/>
                </a:cubicBezTo>
                <a:cubicBezTo>
                  <a:pt x="12592" y="69"/>
                  <a:pt x="12595" y="81"/>
                  <a:pt x="12595" y="93"/>
                </a:cubicBezTo>
                <a:lnTo>
                  <a:pt x="12595" y="2880"/>
                </a:lnTo>
                <a:cubicBezTo>
                  <a:pt x="12595" y="2892"/>
                  <a:pt x="12592" y="2904"/>
                  <a:pt x="12588" y="2915"/>
                </a:cubicBezTo>
                <a:cubicBezTo>
                  <a:pt x="12583" y="2926"/>
                  <a:pt x="12576" y="2937"/>
                  <a:pt x="12567" y="2945"/>
                </a:cubicBezTo>
                <a:cubicBezTo>
                  <a:pt x="12559" y="2954"/>
                  <a:pt x="12549" y="2961"/>
                  <a:pt x="12537" y="2965"/>
                </a:cubicBezTo>
                <a:cubicBezTo>
                  <a:pt x="12526" y="2970"/>
                  <a:pt x="12514" y="2972"/>
                  <a:pt x="12502" y="2972"/>
                </a:cubicBezTo>
                <a:lnTo>
                  <a:pt x="59" y="2972"/>
                </a:lnTo>
                <a:cubicBezTo>
                  <a:pt x="51" y="2972"/>
                  <a:pt x="43" y="2970"/>
                  <a:pt x="36" y="2965"/>
                </a:cubicBezTo>
                <a:cubicBezTo>
                  <a:pt x="29" y="2961"/>
                  <a:pt x="23" y="2954"/>
                  <a:pt x="17" y="2945"/>
                </a:cubicBezTo>
                <a:cubicBezTo>
                  <a:pt x="12" y="2937"/>
                  <a:pt x="8" y="2926"/>
                  <a:pt x="5" y="2915"/>
                </a:cubicBezTo>
                <a:cubicBezTo>
                  <a:pt x="2" y="2904"/>
                  <a:pt x="0" y="2892"/>
                  <a:pt x="0" y="288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5615640" y="1437120"/>
            <a:ext cx="33840" cy="1069920"/>
          </a:xfrm>
          <a:custGeom>
            <a:avLst/>
            <a:gdLst/>
            <a:ahLst/>
            <a:rect l="0" t="0" r="r" b="b"/>
            <a:pathLst>
              <a:path w="94" h="2972">
                <a:moveTo>
                  <a:pt x="0" y="0"/>
                </a:moveTo>
                <a:lnTo>
                  <a:pt x="94" y="0"/>
                </a:lnTo>
                <a:lnTo>
                  <a:pt x="94" y="2972"/>
                </a:lnTo>
                <a:lnTo>
                  <a:pt x="0" y="2972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5627880" y="2640600"/>
            <a:ext cx="4534200" cy="1069920"/>
          </a:xfrm>
          <a:custGeom>
            <a:avLst/>
            <a:gdLst/>
            <a:ahLst/>
            <a:rect l="0" t="0" r="r" b="b"/>
            <a:pathLst>
              <a:path w="12595" h="2972">
                <a:moveTo>
                  <a:pt x="0" y="2879"/>
                </a:moveTo>
                <a:lnTo>
                  <a:pt x="0" y="94"/>
                </a:lnTo>
                <a:cubicBezTo>
                  <a:pt x="0" y="80"/>
                  <a:pt x="2" y="69"/>
                  <a:pt x="5" y="57"/>
                </a:cubicBezTo>
                <a:cubicBezTo>
                  <a:pt x="8" y="46"/>
                  <a:pt x="12" y="36"/>
                  <a:pt x="17" y="27"/>
                </a:cubicBezTo>
                <a:cubicBezTo>
                  <a:pt x="23" y="18"/>
                  <a:pt x="29" y="12"/>
                  <a:pt x="36" y="7"/>
                </a:cubicBezTo>
                <a:cubicBezTo>
                  <a:pt x="43" y="2"/>
                  <a:pt x="51" y="0"/>
                  <a:pt x="59" y="0"/>
                </a:cubicBezTo>
                <a:lnTo>
                  <a:pt x="12502" y="0"/>
                </a:lnTo>
                <a:cubicBezTo>
                  <a:pt x="12514" y="0"/>
                  <a:pt x="12526" y="2"/>
                  <a:pt x="12537" y="7"/>
                </a:cubicBezTo>
                <a:cubicBezTo>
                  <a:pt x="12549" y="12"/>
                  <a:pt x="12559" y="18"/>
                  <a:pt x="12567" y="27"/>
                </a:cubicBezTo>
                <a:cubicBezTo>
                  <a:pt x="12576" y="36"/>
                  <a:pt x="12583" y="46"/>
                  <a:pt x="12588" y="57"/>
                </a:cubicBezTo>
                <a:cubicBezTo>
                  <a:pt x="12592" y="69"/>
                  <a:pt x="12595" y="80"/>
                  <a:pt x="12595" y="94"/>
                </a:cubicBezTo>
                <a:lnTo>
                  <a:pt x="12595" y="2879"/>
                </a:lnTo>
                <a:cubicBezTo>
                  <a:pt x="12595" y="2892"/>
                  <a:pt x="12592" y="2903"/>
                  <a:pt x="12588" y="2915"/>
                </a:cubicBezTo>
                <a:cubicBezTo>
                  <a:pt x="12583" y="2926"/>
                  <a:pt x="12576" y="2936"/>
                  <a:pt x="12567" y="2945"/>
                </a:cubicBezTo>
                <a:cubicBezTo>
                  <a:pt x="12559" y="2954"/>
                  <a:pt x="12549" y="2960"/>
                  <a:pt x="12537" y="2965"/>
                </a:cubicBezTo>
                <a:cubicBezTo>
                  <a:pt x="12526" y="2970"/>
                  <a:pt x="12514" y="2972"/>
                  <a:pt x="12502" y="2972"/>
                </a:cubicBezTo>
                <a:lnTo>
                  <a:pt x="59" y="2972"/>
                </a:lnTo>
                <a:cubicBezTo>
                  <a:pt x="51" y="2972"/>
                  <a:pt x="43" y="2970"/>
                  <a:pt x="36" y="2965"/>
                </a:cubicBezTo>
                <a:cubicBezTo>
                  <a:pt x="29" y="2960"/>
                  <a:pt x="23" y="2954"/>
                  <a:pt x="17" y="2945"/>
                </a:cubicBezTo>
                <a:cubicBezTo>
                  <a:pt x="12" y="2936"/>
                  <a:pt x="8" y="2926"/>
                  <a:pt x="5" y="2915"/>
                </a:cubicBezTo>
                <a:cubicBezTo>
                  <a:pt x="2" y="2903"/>
                  <a:pt x="0" y="2892"/>
                  <a:pt x="0" y="2879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5615640" y="2640600"/>
            <a:ext cx="33840" cy="1069920"/>
          </a:xfrm>
          <a:custGeom>
            <a:avLst/>
            <a:gdLst/>
            <a:ahLst/>
            <a:rect l="0" t="0" r="r" b="b"/>
            <a:pathLst>
              <a:path w="94" h="2972">
                <a:moveTo>
                  <a:pt x="0" y="0"/>
                </a:moveTo>
                <a:lnTo>
                  <a:pt x="94" y="0"/>
                </a:lnTo>
                <a:lnTo>
                  <a:pt x="94" y="2972"/>
                </a:lnTo>
                <a:lnTo>
                  <a:pt x="0" y="2972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>
            <a:off x="5627880" y="3844080"/>
            <a:ext cx="4534200" cy="1069920"/>
          </a:xfrm>
          <a:custGeom>
            <a:avLst/>
            <a:gdLst/>
            <a:ahLst/>
            <a:rect l="0" t="0" r="r" b="b"/>
            <a:pathLst>
              <a:path w="12595" h="2972">
                <a:moveTo>
                  <a:pt x="0" y="2879"/>
                </a:moveTo>
                <a:lnTo>
                  <a:pt x="0" y="92"/>
                </a:lnTo>
                <a:cubicBezTo>
                  <a:pt x="0" y="80"/>
                  <a:pt x="2" y="68"/>
                  <a:pt x="5" y="57"/>
                </a:cubicBezTo>
                <a:cubicBezTo>
                  <a:pt x="8" y="45"/>
                  <a:pt x="12" y="35"/>
                  <a:pt x="17" y="27"/>
                </a:cubicBezTo>
                <a:cubicBezTo>
                  <a:pt x="23" y="18"/>
                  <a:pt x="29" y="11"/>
                  <a:pt x="36" y="7"/>
                </a:cubicBezTo>
                <a:cubicBezTo>
                  <a:pt x="43" y="2"/>
                  <a:pt x="51" y="0"/>
                  <a:pt x="59" y="0"/>
                </a:cubicBezTo>
                <a:lnTo>
                  <a:pt x="12502" y="0"/>
                </a:lnTo>
                <a:cubicBezTo>
                  <a:pt x="12514" y="0"/>
                  <a:pt x="12526" y="2"/>
                  <a:pt x="12537" y="7"/>
                </a:cubicBezTo>
                <a:cubicBezTo>
                  <a:pt x="12549" y="11"/>
                  <a:pt x="12559" y="18"/>
                  <a:pt x="12567" y="27"/>
                </a:cubicBezTo>
                <a:cubicBezTo>
                  <a:pt x="12576" y="35"/>
                  <a:pt x="12583" y="45"/>
                  <a:pt x="12588" y="57"/>
                </a:cubicBezTo>
                <a:cubicBezTo>
                  <a:pt x="12592" y="68"/>
                  <a:pt x="12595" y="80"/>
                  <a:pt x="12595" y="92"/>
                </a:cubicBezTo>
                <a:lnTo>
                  <a:pt x="12595" y="2879"/>
                </a:lnTo>
                <a:cubicBezTo>
                  <a:pt x="12595" y="2891"/>
                  <a:pt x="12592" y="2903"/>
                  <a:pt x="12588" y="2914"/>
                </a:cubicBezTo>
                <a:cubicBezTo>
                  <a:pt x="12583" y="2926"/>
                  <a:pt x="12576" y="2936"/>
                  <a:pt x="12567" y="2945"/>
                </a:cubicBezTo>
                <a:cubicBezTo>
                  <a:pt x="12559" y="2953"/>
                  <a:pt x="12549" y="2960"/>
                  <a:pt x="12537" y="2965"/>
                </a:cubicBezTo>
                <a:cubicBezTo>
                  <a:pt x="12526" y="2969"/>
                  <a:pt x="12514" y="2972"/>
                  <a:pt x="12502" y="2972"/>
                </a:cubicBezTo>
                <a:lnTo>
                  <a:pt x="59" y="2972"/>
                </a:lnTo>
                <a:cubicBezTo>
                  <a:pt x="51" y="2972"/>
                  <a:pt x="43" y="2969"/>
                  <a:pt x="36" y="2965"/>
                </a:cubicBezTo>
                <a:cubicBezTo>
                  <a:pt x="29" y="2960"/>
                  <a:pt x="23" y="2953"/>
                  <a:pt x="17" y="2945"/>
                </a:cubicBezTo>
                <a:cubicBezTo>
                  <a:pt x="12" y="2936"/>
                  <a:pt x="8" y="2926"/>
                  <a:pt x="5" y="2914"/>
                </a:cubicBezTo>
                <a:cubicBezTo>
                  <a:pt x="2" y="2903"/>
                  <a:pt x="0" y="2891"/>
                  <a:pt x="0" y="2879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5615640" y="3844080"/>
            <a:ext cx="33840" cy="1069920"/>
          </a:xfrm>
          <a:custGeom>
            <a:avLst/>
            <a:gdLst/>
            <a:ahLst/>
            <a:rect l="0" t="0" r="r" b="b"/>
            <a:pathLst>
              <a:path w="94" h="2972">
                <a:moveTo>
                  <a:pt x="0" y="0"/>
                </a:moveTo>
                <a:lnTo>
                  <a:pt x="94" y="0"/>
                </a:lnTo>
                <a:lnTo>
                  <a:pt x="94" y="2972"/>
                </a:lnTo>
                <a:lnTo>
                  <a:pt x="0" y="2972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5627880" y="5047200"/>
            <a:ext cx="4534200" cy="1069920"/>
          </a:xfrm>
          <a:custGeom>
            <a:avLst/>
            <a:gdLst/>
            <a:ahLst/>
            <a:rect l="0" t="0" r="r" b="b"/>
            <a:pathLst>
              <a:path w="12595" h="2972">
                <a:moveTo>
                  <a:pt x="0" y="2880"/>
                </a:moveTo>
                <a:lnTo>
                  <a:pt x="0" y="93"/>
                </a:lnTo>
                <a:cubicBezTo>
                  <a:pt x="0" y="81"/>
                  <a:pt x="2" y="69"/>
                  <a:pt x="5" y="58"/>
                </a:cubicBezTo>
                <a:cubicBezTo>
                  <a:pt x="8" y="46"/>
                  <a:pt x="12" y="36"/>
                  <a:pt x="17" y="27"/>
                </a:cubicBezTo>
                <a:cubicBezTo>
                  <a:pt x="23" y="19"/>
                  <a:pt x="29" y="12"/>
                  <a:pt x="36" y="7"/>
                </a:cubicBezTo>
                <a:cubicBezTo>
                  <a:pt x="43" y="3"/>
                  <a:pt x="51" y="0"/>
                  <a:pt x="59" y="0"/>
                </a:cubicBezTo>
                <a:lnTo>
                  <a:pt x="12502" y="0"/>
                </a:lnTo>
                <a:cubicBezTo>
                  <a:pt x="12514" y="0"/>
                  <a:pt x="12526" y="3"/>
                  <a:pt x="12537" y="7"/>
                </a:cubicBezTo>
                <a:cubicBezTo>
                  <a:pt x="12549" y="12"/>
                  <a:pt x="12559" y="19"/>
                  <a:pt x="12567" y="27"/>
                </a:cubicBezTo>
                <a:cubicBezTo>
                  <a:pt x="12576" y="36"/>
                  <a:pt x="12583" y="46"/>
                  <a:pt x="12588" y="58"/>
                </a:cubicBezTo>
                <a:cubicBezTo>
                  <a:pt x="12592" y="69"/>
                  <a:pt x="12595" y="81"/>
                  <a:pt x="12595" y="93"/>
                </a:cubicBezTo>
                <a:lnTo>
                  <a:pt x="12595" y="2880"/>
                </a:lnTo>
                <a:cubicBezTo>
                  <a:pt x="12595" y="2892"/>
                  <a:pt x="12592" y="2904"/>
                  <a:pt x="12588" y="2915"/>
                </a:cubicBezTo>
                <a:cubicBezTo>
                  <a:pt x="12583" y="2927"/>
                  <a:pt x="12576" y="2937"/>
                  <a:pt x="12567" y="2945"/>
                </a:cubicBezTo>
                <a:cubicBezTo>
                  <a:pt x="12559" y="2954"/>
                  <a:pt x="12549" y="2961"/>
                  <a:pt x="12537" y="2965"/>
                </a:cubicBezTo>
                <a:cubicBezTo>
                  <a:pt x="12526" y="2970"/>
                  <a:pt x="12514" y="2972"/>
                  <a:pt x="12502" y="2972"/>
                </a:cubicBezTo>
                <a:lnTo>
                  <a:pt x="59" y="2972"/>
                </a:lnTo>
                <a:cubicBezTo>
                  <a:pt x="51" y="2972"/>
                  <a:pt x="43" y="2970"/>
                  <a:pt x="36" y="2965"/>
                </a:cubicBezTo>
                <a:cubicBezTo>
                  <a:pt x="29" y="2961"/>
                  <a:pt x="23" y="2954"/>
                  <a:pt x="17" y="2945"/>
                </a:cubicBezTo>
                <a:cubicBezTo>
                  <a:pt x="12" y="2937"/>
                  <a:pt x="8" y="2927"/>
                  <a:pt x="5" y="2915"/>
                </a:cubicBezTo>
                <a:cubicBezTo>
                  <a:pt x="2" y="2904"/>
                  <a:pt x="0" y="2892"/>
                  <a:pt x="0" y="288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5615640" y="5047200"/>
            <a:ext cx="33840" cy="1069920"/>
          </a:xfrm>
          <a:custGeom>
            <a:avLst/>
            <a:gdLst/>
            <a:ahLst/>
            <a:rect l="0" t="0" r="r" b="b"/>
            <a:pathLst>
              <a:path w="94" h="2972">
                <a:moveTo>
                  <a:pt x="0" y="0"/>
                </a:moveTo>
                <a:lnTo>
                  <a:pt x="94" y="0"/>
                </a:lnTo>
                <a:lnTo>
                  <a:pt x="94" y="2972"/>
                </a:lnTo>
                <a:lnTo>
                  <a:pt x="0" y="2972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77" name="" descr=""/>
          <p:cNvPicPr/>
          <p:nvPr/>
        </p:nvPicPr>
        <p:blipFill>
          <a:blip r:embed="rId7"/>
          <a:stretch/>
        </p:blipFill>
        <p:spPr>
          <a:xfrm>
            <a:off x="5615640" y="107784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8" name=""/>
          <p:cNvSpPr txBox="1"/>
          <p:nvPr/>
        </p:nvSpPr>
        <p:spPr>
          <a:xfrm>
            <a:off x="735480" y="5149080"/>
            <a:ext cx="18781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複雑なシナリオでの高い信頼性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5774400" y="1571040"/>
            <a:ext cx="342720" cy="334440"/>
          </a:xfrm>
          <a:custGeom>
            <a:avLst/>
            <a:gdLst/>
            <a:ahLst/>
            <a:rect l="0" t="0" r="r" b="b"/>
            <a:pathLst>
              <a:path w="952" h="929">
                <a:moveTo>
                  <a:pt x="0" y="464"/>
                </a:moveTo>
                <a:cubicBezTo>
                  <a:pt x="0" y="433"/>
                  <a:pt x="3" y="403"/>
                  <a:pt x="9" y="373"/>
                </a:cubicBezTo>
                <a:cubicBezTo>
                  <a:pt x="15" y="343"/>
                  <a:pt x="23" y="314"/>
                  <a:pt x="35" y="286"/>
                </a:cubicBezTo>
                <a:cubicBezTo>
                  <a:pt x="47" y="258"/>
                  <a:pt x="61" y="231"/>
                  <a:pt x="78" y="206"/>
                </a:cubicBezTo>
                <a:cubicBezTo>
                  <a:pt x="95" y="181"/>
                  <a:pt x="114" y="157"/>
                  <a:pt x="136" y="136"/>
                </a:cubicBezTo>
                <a:cubicBezTo>
                  <a:pt x="157" y="114"/>
                  <a:pt x="181" y="95"/>
                  <a:pt x="206" y="78"/>
                </a:cubicBezTo>
                <a:cubicBezTo>
                  <a:pt x="231" y="61"/>
                  <a:pt x="258" y="47"/>
                  <a:pt x="286" y="35"/>
                </a:cubicBezTo>
                <a:cubicBezTo>
                  <a:pt x="314" y="23"/>
                  <a:pt x="344" y="14"/>
                  <a:pt x="373" y="8"/>
                </a:cubicBezTo>
                <a:cubicBezTo>
                  <a:pt x="403" y="3"/>
                  <a:pt x="433" y="0"/>
                  <a:pt x="464" y="0"/>
                </a:cubicBezTo>
                <a:lnTo>
                  <a:pt x="487" y="0"/>
                </a:lnTo>
                <a:cubicBezTo>
                  <a:pt x="518" y="0"/>
                  <a:pt x="548" y="3"/>
                  <a:pt x="578" y="8"/>
                </a:cubicBezTo>
                <a:cubicBezTo>
                  <a:pt x="609" y="14"/>
                  <a:pt x="638" y="23"/>
                  <a:pt x="666" y="35"/>
                </a:cubicBezTo>
                <a:cubicBezTo>
                  <a:pt x="694" y="47"/>
                  <a:pt x="721" y="61"/>
                  <a:pt x="746" y="78"/>
                </a:cubicBezTo>
                <a:cubicBezTo>
                  <a:pt x="771" y="95"/>
                  <a:pt x="795" y="114"/>
                  <a:pt x="816" y="136"/>
                </a:cubicBezTo>
                <a:cubicBezTo>
                  <a:pt x="838" y="157"/>
                  <a:pt x="857" y="181"/>
                  <a:pt x="874" y="206"/>
                </a:cubicBezTo>
                <a:cubicBezTo>
                  <a:pt x="891" y="231"/>
                  <a:pt x="905" y="258"/>
                  <a:pt x="917" y="286"/>
                </a:cubicBezTo>
                <a:cubicBezTo>
                  <a:pt x="929" y="314"/>
                  <a:pt x="938" y="343"/>
                  <a:pt x="944" y="373"/>
                </a:cubicBezTo>
                <a:cubicBezTo>
                  <a:pt x="949" y="403"/>
                  <a:pt x="952" y="433"/>
                  <a:pt x="952" y="464"/>
                </a:cubicBezTo>
                <a:cubicBezTo>
                  <a:pt x="952" y="494"/>
                  <a:pt x="949" y="524"/>
                  <a:pt x="944" y="554"/>
                </a:cubicBezTo>
                <a:cubicBezTo>
                  <a:pt x="938" y="584"/>
                  <a:pt x="929" y="613"/>
                  <a:pt x="917" y="641"/>
                </a:cubicBezTo>
                <a:cubicBezTo>
                  <a:pt x="905" y="670"/>
                  <a:pt x="891" y="696"/>
                  <a:pt x="874" y="722"/>
                </a:cubicBezTo>
                <a:cubicBezTo>
                  <a:pt x="857" y="748"/>
                  <a:pt x="838" y="772"/>
                  <a:pt x="816" y="793"/>
                </a:cubicBezTo>
                <a:cubicBezTo>
                  <a:pt x="795" y="815"/>
                  <a:pt x="771" y="834"/>
                  <a:pt x="746" y="851"/>
                </a:cubicBezTo>
                <a:cubicBezTo>
                  <a:pt x="721" y="868"/>
                  <a:pt x="694" y="882"/>
                  <a:pt x="666" y="894"/>
                </a:cubicBezTo>
                <a:cubicBezTo>
                  <a:pt x="638" y="905"/>
                  <a:pt x="609" y="914"/>
                  <a:pt x="578" y="920"/>
                </a:cubicBezTo>
                <a:cubicBezTo>
                  <a:pt x="548" y="926"/>
                  <a:pt x="518" y="929"/>
                  <a:pt x="487" y="929"/>
                </a:cubicBezTo>
                <a:lnTo>
                  <a:pt x="464" y="929"/>
                </a:lnTo>
                <a:cubicBezTo>
                  <a:pt x="433" y="929"/>
                  <a:pt x="403" y="926"/>
                  <a:pt x="373" y="920"/>
                </a:cubicBezTo>
                <a:cubicBezTo>
                  <a:pt x="344" y="914"/>
                  <a:pt x="314" y="905"/>
                  <a:pt x="286" y="894"/>
                </a:cubicBezTo>
                <a:cubicBezTo>
                  <a:pt x="258" y="882"/>
                  <a:pt x="231" y="868"/>
                  <a:pt x="206" y="851"/>
                </a:cubicBezTo>
                <a:cubicBezTo>
                  <a:pt x="181" y="834"/>
                  <a:pt x="157" y="815"/>
                  <a:pt x="136" y="793"/>
                </a:cubicBezTo>
                <a:cubicBezTo>
                  <a:pt x="114" y="772"/>
                  <a:pt x="95" y="748"/>
                  <a:pt x="78" y="722"/>
                </a:cubicBezTo>
                <a:cubicBezTo>
                  <a:pt x="61" y="696"/>
                  <a:pt x="47" y="670"/>
                  <a:pt x="35" y="641"/>
                </a:cubicBezTo>
                <a:cubicBezTo>
                  <a:pt x="23" y="613"/>
                  <a:pt x="15" y="584"/>
                  <a:pt x="9" y="554"/>
                </a:cubicBezTo>
                <a:cubicBezTo>
                  <a:pt x="3" y="524"/>
                  <a:pt x="0" y="494"/>
                  <a:pt x="0" y="464"/>
                </a:cubicBezTo>
                <a:close/>
              </a:path>
            </a:pathLst>
          </a:custGeom>
          <a:solidFill>
            <a:srgbClr val="1e3a8a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80" name="" descr=""/>
          <p:cNvPicPr/>
          <p:nvPr/>
        </p:nvPicPr>
        <p:blipFill>
          <a:blip r:embed="rId8"/>
          <a:stretch/>
        </p:blipFill>
        <p:spPr>
          <a:xfrm>
            <a:off x="5841360" y="1654560"/>
            <a:ext cx="20844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1" name=""/>
          <p:cNvSpPr txBox="1"/>
          <p:nvPr/>
        </p:nvSpPr>
        <p:spPr>
          <a:xfrm>
            <a:off x="5883120" y="1067400"/>
            <a:ext cx="1856160" cy="29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80" strike="noStrike" u="none">
                <a:solidFill>
                  <a:srgbClr val="93c5fd"/>
                </a:solidFill>
                <a:effectLst/>
                <a:uFillTx/>
                <a:latin typeface="NotoSansJP"/>
                <a:ea typeface="NotoSansJP"/>
              </a:rPr>
              <a:t> 各技術要素の寄与度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6217560" y="1649880"/>
            <a:ext cx="205560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人物再識別（</a:t>
            </a:r>
            <a:r>
              <a:rPr b="0" lang="en-US" sz="132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Re-ID</a:t>
            </a:r>
            <a:r>
              <a:rPr b="0" lang="zh-CN" sz="132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）技術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6175440" y="2007000"/>
            <a:ext cx="37558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所有者が一時的にカメラ視野から外れても追跡を維持し、</a:t>
            </a:r>
            <a:r>
              <a:rPr b="0" lang="zh-CN" sz="105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誤報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5774400" y="2774160"/>
            <a:ext cx="342720" cy="334800"/>
          </a:xfrm>
          <a:custGeom>
            <a:avLst/>
            <a:gdLst/>
            <a:ahLst/>
            <a:rect l="0" t="0" r="r" b="b"/>
            <a:pathLst>
              <a:path w="952" h="930">
                <a:moveTo>
                  <a:pt x="0" y="465"/>
                </a:moveTo>
                <a:cubicBezTo>
                  <a:pt x="0" y="435"/>
                  <a:pt x="3" y="405"/>
                  <a:pt x="9" y="375"/>
                </a:cubicBezTo>
                <a:cubicBezTo>
                  <a:pt x="15" y="345"/>
                  <a:pt x="23" y="316"/>
                  <a:pt x="35" y="288"/>
                </a:cubicBezTo>
                <a:cubicBezTo>
                  <a:pt x="47" y="260"/>
                  <a:pt x="61" y="233"/>
                  <a:pt x="78" y="208"/>
                </a:cubicBezTo>
                <a:cubicBezTo>
                  <a:pt x="95" y="181"/>
                  <a:pt x="114" y="158"/>
                  <a:pt x="136" y="136"/>
                </a:cubicBezTo>
                <a:cubicBezTo>
                  <a:pt x="157" y="115"/>
                  <a:pt x="181" y="95"/>
                  <a:pt x="206" y="78"/>
                </a:cubicBezTo>
                <a:cubicBezTo>
                  <a:pt x="231" y="62"/>
                  <a:pt x="258" y="47"/>
                  <a:pt x="286" y="36"/>
                </a:cubicBezTo>
                <a:cubicBezTo>
                  <a:pt x="314" y="24"/>
                  <a:pt x="344" y="15"/>
                  <a:pt x="373" y="9"/>
                </a:cubicBezTo>
                <a:cubicBezTo>
                  <a:pt x="403" y="3"/>
                  <a:pt x="433" y="0"/>
                  <a:pt x="464" y="0"/>
                </a:cubicBezTo>
                <a:lnTo>
                  <a:pt x="487" y="0"/>
                </a:lnTo>
                <a:cubicBezTo>
                  <a:pt x="518" y="0"/>
                  <a:pt x="548" y="3"/>
                  <a:pt x="578" y="9"/>
                </a:cubicBezTo>
                <a:cubicBezTo>
                  <a:pt x="609" y="15"/>
                  <a:pt x="638" y="24"/>
                  <a:pt x="666" y="36"/>
                </a:cubicBezTo>
                <a:cubicBezTo>
                  <a:pt x="694" y="47"/>
                  <a:pt x="721" y="62"/>
                  <a:pt x="746" y="78"/>
                </a:cubicBezTo>
                <a:cubicBezTo>
                  <a:pt x="771" y="95"/>
                  <a:pt x="795" y="115"/>
                  <a:pt x="816" y="136"/>
                </a:cubicBezTo>
                <a:cubicBezTo>
                  <a:pt x="838" y="158"/>
                  <a:pt x="857" y="181"/>
                  <a:pt x="874" y="208"/>
                </a:cubicBezTo>
                <a:cubicBezTo>
                  <a:pt x="891" y="233"/>
                  <a:pt x="905" y="260"/>
                  <a:pt x="917" y="288"/>
                </a:cubicBezTo>
                <a:cubicBezTo>
                  <a:pt x="929" y="316"/>
                  <a:pt x="938" y="345"/>
                  <a:pt x="944" y="375"/>
                </a:cubicBezTo>
                <a:cubicBezTo>
                  <a:pt x="949" y="405"/>
                  <a:pt x="952" y="435"/>
                  <a:pt x="952" y="465"/>
                </a:cubicBezTo>
                <a:cubicBezTo>
                  <a:pt x="952" y="496"/>
                  <a:pt x="949" y="526"/>
                  <a:pt x="944" y="556"/>
                </a:cubicBezTo>
                <a:cubicBezTo>
                  <a:pt x="938" y="586"/>
                  <a:pt x="929" y="615"/>
                  <a:pt x="917" y="643"/>
                </a:cubicBezTo>
                <a:cubicBezTo>
                  <a:pt x="905" y="671"/>
                  <a:pt x="891" y="698"/>
                  <a:pt x="874" y="723"/>
                </a:cubicBezTo>
                <a:cubicBezTo>
                  <a:pt x="857" y="749"/>
                  <a:pt x="838" y="772"/>
                  <a:pt x="816" y="794"/>
                </a:cubicBezTo>
                <a:cubicBezTo>
                  <a:pt x="795" y="815"/>
                  <a:pt x="771" y="835"/>
                  <a:pt x="746" y="852"/>
                </a:cubicBezTo>
                <a:cubicBezTo>
                  <a:pt x="721" y="868"/>
                  <a:pt x="694" y="883"/>
                  <a:pt x="666" y="894"/>
                </a:cubicBezTo>
                <a:cubicBezTo>
                  <a:pt x="638" y="906"/>
                  <a:pt x="609" y="915"/>
                  <a:pt x="578" y="921"/>
                </a:cubicBezTo>
                <a:cubicBezTo>
                  <a:pt x="548" y="927"/>
                  <a:pt x="518" y="930"/>
                  <a:pt x="487" y="930"/>
                </a:cubicBezTo>
                <a:lnTo>
                  <a:pt x="464" y="930"/>
                </a:lnTo>
                <a:cubicBezTo>
                  <a:pt x="433" y="930"/>
                  <a:pt x="403" y="927"/>
                  <a:pt x="373" y="921"/>
                </a:cubicBezTo>
                <a:cubicBezTo>
                  <a:pt x="344" y="915"/>
                  <a:pt x="314" y="906"/>
                  <a:pt x="286" y="894"/>
                </a:cubicBezTo>
                <a:cubicBezTo>
                  <a:pt x="258" y="883"/>
                  <a:pt x="231" y="868"/>
                  <a:pt x="206" y="852"/>
                </a:cubicBezTo>
                <a:cubicBezTo>
                  <a:pt x="181" y="835"/>
                  <a:pt x="157" y="815"/>
                  <a:pt x="136" y="794"/>
                </a:cubicBezTo>
                <a:cubicBezTo>
                  <a:pt x="114" y="772"/>
                  <a:pt x="95" y="749"/>
                  <a:pt x="78" y="723"/>
                </a:cubicBezTo>
                <a:cubicBezTo>
                  <a:pt x="61" y="698"/>
                  <a:pt x="47" y="671"/>
                  <a:pt x="35" y="643"/>
                </a:cubicBezTo>
                <a:cubicBezTo>
                  <a:pt x="23" y="615"/>
                  <a:pt x="15" y="586"/>
                  <a:pt x="9" y="556"/>
                </a:cubicBezTo>
                <a:cubicBezTo>
                  <a:pt x="3" y="526"/>
                  <a:pt x="0" y="496"/>
                  <a:pt x="0" y="465"/>
                </a:cubicBezTo>
                <a:close/>
              </a:path>
            </a:pathLst>
          </a:custGeom>
          <a:solidFill>
            <a:srgbClr val="1e3a8a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85" name="" descr=""/>
          <p:cNvPicPr/>
          <p:nvPr/>
        </p:nvPicPr>
        <p:blipFill>
          <a:blip r:embed="rId9"/>
          <a:stretch/>
        </p:blipFill>
        <p:spPr>
          <a:xfrm>
            <a:off x="5841360" y="2858040"/>
            <a:ext cx="20844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6" name=""/>
          <p:cNvSpPr txBox="1"/>
          <p:nvPr/>
        </p:nvSpPr>
        <p:spPr>
          <a:xfrm>
            <a:off x="6175440" y="2207520"/>
            <a:ext cx="8053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を劇的に削減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6217560" y="2853360"/>
            <a:ext cx="134172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物体状態追跡機能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6175440" y="3210120"/>
            <a:ext cx="37558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荷物の状態変化を独立して監視し、</a:t>
            </a:r>
            <a:r>
              <a:rPr b="0" lang="zh-CN" sz="105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「放置」と「盗難」の識別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/>
          <p:nvPr/>
        </p:nvSpPr>
        <p:spPr>
          <a:xfrm>
            <a:off x="5774400" y="3977640"/>
            <a:ext cx="242640" cy="334440"/>
          </a:xfrm>
          <a:custGeom>
            <a:avLst/>
            <a:gdLst/>
            <a:ahLst/>
            <a:rect l="0" t="0" r="r" b="b"/>
            <a:pathLst>
              <a:path w="674" h="929">
                <a:moveTo>
                  <a:pt x="0" y="593"/>
                </a:moveTo>
                <a:lnTo>
                  <a:pt x="0" y="337"/>
                </a:lnTo>
                <a:cubicBezTo>
                  <a:pt x="0" y="314"/>
                  <a:pt x="2" y="293"/>
                  <a:pt x="6" y="271"/>
                </a:cubicBezTo>
                <a:cubicBezTo>
                  <a:pt x="10" y="249"/>
                  <a:pt x="17" y="228"/>
                  <a:pt x="25" y="208"/>
                </a:cubicBezTo>
                <a:cubicBezTo>
                  <a:pt x="34" y="187"/>
                  <a:pt x="44" y="168"/>
                  <a:pt x="56" y="150"/>
                </a:cubicBezTo>
                <a:cubicBezTo>
                  <a:pt x="69" y="131"/>
                  <a:pt x="83" y="114"/>
                  <a:pt x="98" y="98"/>
                </a:cubicBezTo>
                <a:cubicBezTo>
                  <a:pt x="114" y="83"/>
                  <a:pt x="131" y="69"/>
                  <a:pt x="149" y="57"/>
                </a:cubicBezTo>
                <a:cubicBezTo>
                  <a:pt x="168" y="44"/>
                  <a:pt x="187" y="34"/>
                  <a:pt x="208" y="26"/>
                </a:cubicBezTo>
                <a:cubicBezTo>
                  <a:pt x="228" y="17"/>
                  <a:pt x="249" y="11"/>
                  <a:pt x="271" y="6"/>
                </a:cubicBezTo>
                <a:cubicBezTo>
                  <a:pt x="292" y="2"/>
                  <a:pt x="314" y="0"/>
                  <a:pt x="336" y="0"/>
                </a:cubicBezTo>
                <a:cubicBezTo>
                  <a:pt x="358" y="0"/>
                  <a:pt x="380" y="2"/>
                  <a:pt x="402" y="6"/>
                </a:cubicBezTo>
                <a:cubicBezTo>
                  <a:pt x="424" y="11"/>
                  <a:pt x="445" y="17"/>
                  <a:pt x="466" y="26"/>
                </a:cubicBezTo>
                <a:cubicBezTo>
                  <a:pt x="487" y="34"/>
                  <a:pt x="506" y="44"/>
                  <a:pt x="524" y="57"/>
                </a:cubicBezTo>
                <a:cubicBezTo>
                  <a:pt x="543" y="69"/>
                  <a:pt x="560" y="83"/>
                  <a:pt x="575" y="98"/>
                </a:cubicBezTo>
                <a:cubicBezTo>
                  <a:pt x="591" y="114"/>
                  <a:pt x="605" y="131"/>
                  <a:pt x="617" y="150"/>
                </a:cubicBezTo>
                <a:cubicBezTo>
                  <a:pt x="629" y="168"/>
                  <a:pt x="640" y="187"/>
                  <a:pt x="648" y="208"/>
                </a:cubicBezTo>
                <a:cubicBezTo>
                  <a:pt x="657" y="228"/>
                  <a:pt x="663" y="249"/>
                  <a:pt x="667" y="271"/>
                </a:cubicBezTo>
                <a:cubicBezTo>
                  <a:pt x="672" y="293"/>
                  <a:pt x="674" y="314"/>
                  <a:pt x="674" y="337"/>
                </a:cubicBezTo>
                <a:lnTo>
                  <a:pt x="674" y="593"/>
                </a:lnTo>
                <a:cubicBezTo>
                  <a:pt x="674" y="615"/>
                  <a:pt x="672" y="637"/>
                  <a:pt x="667" y="659"/>
                </a:cubicBezTo>
                <a:cubicBezTo>
                  <a:pt x="663" y="680"/>
                  <a:pt x="657" y="701"/>
                  <a:pt x="648" y="722"/>
                </a:cubicBezTo>
                <a:cubicBezTo>
                  <a:pt x="640" y="742"/>
                  <a:pt x="629" y="761"/>
                  <a:pt x="617" y="780"/>
                </a:cubicBezTo>
                <a:cubicBezTo>
                  <a:pt x="605" y="798"/>
                  <a:pt x="591" y="815"/>
                  <a:pt x="575" y="831"/>
                </a:cubicBezTo>
                <a:cubicBezTo>
                  <a:pt x="560" y="846"/>
                  <a:pt x="543" y="860"/>
                  <a:pt x="524" y="873"/>
                </a:cubicBezTo>
                <a:cubicBezTo>
                  <a:pt x="506" y="885"/>
                  <a:pt x="487" y="895"/>
                  <a:pt x="466" y="904"/>
                </a:cubicBezTo>
                <a:cubicBezTo>
                  <a:pt x="445" y="912"/>
                  <a:pt x="424" y="919"/>
                  <a:pt x="402" y="923"/>
                </a:cubicBezTo>
                <a:cubicBezTo>
                  <a:pt x="380" y="927"/>
                  <a:pt x="358" y="929"/>
                  <a:pt x="336" y="929"/>
                </a:cubicBezTo>
                <a:cubicBezTo>
                  <a:pt x="314" y="929"/>
                  <a:pt x="292" y="927"/>
                  <a:pt x="271" y="923"/>
                </a:cubicBezTo>
                <a:cubicBezTo>
                  <a:pt x="249" y="919"/>
                  <a:pt x="228" y="912"/>
                  <a:pt x="208" y="904"/>
                </a:cubicBezTo>
                <a:cubicBezTo>
                  <a:pt x="187" y="895"/>
                  <a:pt x="168" y="885"/>
                  <a:pt x="149" y="873"/>
                </a:cubicBezTo>
                <a:cubicBezTo>
                  <a:pt x="131" y="860"/>
                  <a:pt x="114" y="846"/>
                  <a:pt x="98" y="831"/>
                </a:cubicBezTo>
                <a:cubicBezTo>
                  <a:pt x="83" y="815"/>
                  <a:pt x="69" y="798"/>
                  <a:pt x="56" y="780"/>
                </a:cubicBezTo>
                <a:cubicBezTo>
                  <a:pt x="44" y="761"/>
                  <a:pt x="34" y="742"/>
                  <a:pt x="25" y="722"/>
                </a:cubicBezTo>
                <a:cubicBezTo>
                  <a:pt x="17" y="701"/>
                  <a:pt x="10" y="680"/>
                  <a:pt x="6" y="659"/>
                </a:cubicBezTo>
                <a:cubicBezTo>
                  <a:pt x="2" y="637"/>
                  <a:pt x="0" y="615"/>
                  <a:pt x="0" y="593"/>
                </a:cubicBezTo>
                <a:close/>
              </a:path>
            </a:pathLst>
          </a:custGeom>
          <a:solidFill>
            <a:srgbClr val="1e3a8a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90" name="" descr=""/>
          <p:cNvPicPr/>
          <p:nvPr/>
        </p:nvPicPr>
        <p:blipFill>
          <a:blip r:embed="rId10"/>
          <a:stretch/>
        </p:blipFill>
        <p:spPr>
          <a:xfrm>
            <a:off x="5841360" y="4061520"/>
            <a:ext cx="10836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1" name=""/>
          <p:cNvSpPr txBox="1"/>
          <p:nvPr/>
        </p:nvSpPr>
        <p:spPr>
          <a:xfrm>
            <a:off x="6175440" y="3410640"/>
            <a:ext cx="4032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を実現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 txBox="1"/>
          <p:nvPr/>
        </p:nvSpPr>
        <p:spPr>
          <a:xfrm>
            <a:off x="6117120" y="4056840"/>
            <a:ext cx="218016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姿勢推定による所有者紐付け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6175440" y="4413600"/>
            <a:ext cx="37558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行動コンテキストを理解し、</a:t>
            </a:r>
            <a:r>
              <a:rPr b="0" lang="zh-CN" sz="105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混雑環境でも高精度</a:t>
            </a:r>
            <a:r>
              <a:rPr b="0" lang="zh-CN" sz="105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な所有者特定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/>
          <p:nvPr/>
        </p:nvSpPr>
        <p:spPr>
          <a:xfrm>
            <a:off x="5774400" y="5181120"/>
            <a:ext cx="300960" cy="334440"/>
          </a:xfrm>
          <a:custGeom>
            <a:avLst/>
            <a:gdLst/>
            <a:ahLst/>
            <a:rect l="0" t="0" r="r" b="b"/>
            <a:pathLst>
              <a:path w="836" h="929">
                <a:moveTo>
                  <a:pt x="0" y="510"/>
                </a:moveTo>
                <a:lnTo>
                  <a:pt x="0" y="417"/>
                </a:lnTo>
                <a:cubicBezTo>
                  <a:pt x="0" y="390"/>
                  <a:pt x="2" y="363"/>
                  <a:pt x="8" y="336"/>
                </a:cubicBezTo>
                <a:cubicBezTo>
                  <a:pt x="13" y="309"/>
                  <a:pt x="21" y="283"/>
                  <a:pt x="32" y="258"/>
                </a:cubicBezTo>
                <a:cubicBezTo>
                  <a:pt x="42" y="232"/>
                  <a:pt x="55" y="208"/>
                  <a:pt x="70" y="185"/>
                </a:cubicBezTo>
                <a:cubicBezTo>
                  <a:pt x="85" y="162"/>
                  <a:pt x="103" y="141"/>
                  <a:pt x="122" y="122"/>
                </a:cubicBezTo>
                <a:cubicBezTo>
                  <a:pt x="141" y="103"/>
                  <a:pt x="163" y="85"/>
                  <a:pt x="185" y="70"/>
                </a:cubicBezTo>
                <a:cubicBezTo>
                  <a:pt x="208" y="55"/>
                  <a:pt x="232" y="42"/>
                  <a:pt x="259" y="31"/>
                </a:cubicBezTo>
                <a:cubicBezTo>
                  <a:pt x="284" y="21"/>
                  <a:pt x="310" y="13"/>
                  <a:pt x="337" y="8"/>
                </a:cubicBezTo>
                <a:cubicBezTo>
                  <a:pt x="364" y="2"/>
                  <a:pt x="391" y="0"/>
                  <a:pt x="419" y="0"/>
                </a:cubicBezTo>
                <a:cubicBezTo>
                  <a:pt x="446" y="0"/>
                  <a:pt x="473" y="2"/>
                  <a:pt x="500" y="8"/>
                </a:cubicBezTo>
                <a:cubicBezTo>
                  <a:pt x="527" y="13"/>
                  <a:pt x="553" y="21"/>
                  <a:pt x="578" y="31"/>
                </a:cubicBezTo>
                <a:cubicBezTo>
                  <a:pt x="604" y="42"/>
                  <a:pt x="628" y="55"/>
                  <a:pt x="651" y="70"/>
                </a:cubicBezTo>
                <a:cubicBezTo>
                  <a:pt x="674" y="85"/>
                  <a:pt x="695" y="103"/>
                  <a:pt x="714" y="122"/>
                </a:cubicBezTo>
                <a:cubicBezTo>
                  <a:pt x="733" y="141"/>
                  <a:pt x="751" y="162"/>
                  <a:pt x="766" y="185"/>
                </a:cubicBezTo>
                <a:cubicBezTo>
                  <a:pt x="781" y="208"/>
                  <a:pt x="794" y="232"/>
                  <a:pt x="805" y="258"/>
                </a:cubicBezTo>
                <a:cubicBezTo>
                  <a:pt x="815" y="283"/>
                  <a:pt x="823" y="309"/>
                  <a:pt x="828" y="336"/>
                </a:cubicBezTo>
                <a:cubicBezTo>
                  <a:pt x="834" y="363"/>
                  <a:pt x="836" y="390"/>
                  <a:pt x="836" y="417"/>
                </a:cubicBezTo>
                <a:lnTo>
                  <a:pt x="836" y="510"/>
                </a:lnTo>
                <a:cubicBezTo>
                  <a:pt x="836" y="538"/>
                  <a:pt x="834" y="565"/>
                  <a:pt x="828" y="592"/>
                </a:cubicBezTo>
                <a:cubicBezTo>
                  <a:pt x="823" y="619"/>
                  <a:pt x="815" y="645"/>
                  <a:pt x="805" y="670"/>
                </a:cubicBezTo>
                <a:cubicBezTo>
                  <a:pt x="794" y="696"/>
                  <a:pt x="781" y="720"/>
                  <a:pt x="766" y="742"/>
                </a:cubicBezTo>
                <a:cubicBezTo>
                  <a:pt x="751" y="765"/>
                  <a:pt x="733" y="786"/>
                  <a:pt x="714" y="806"/>
                </a:cubicBezTo>
                <a:cubicBezTo>
                  <a:pt x="695" y="825"/>
                  <a:pt x="674" y="842"/>
                  <a:pt x="651" y="858"/>
                </a:cubicBezTo>
                <a:cubicBezTo>
                  <a:pt x="628" y="873"/>
                  <a:pt x="604" y="886"/>
                  <a:pt x="578" y="896"/>
                </a:cubicBezTo>
                <a:cubicBezTo>
                  <a:pt x="553" y="907"/>
                  <a:pt x="527" y="915"/>
                  <a:pt x="500" y="921"/>
                </a:cubicBezTo>
                <a:cubicBezTo>
                  <a:pt x="473" y="926"/>
                  <a:pt x="446" y="929"/>
                  <a:pt x="419" y="929"/>
                </a:cubicBezTo>
                <a:cubicBezTo>
                  <a:pt x="391" y="929"/>
                  <a:pt x="364" y="926"/>
                  <a:pt x="337" y="921"/>
                </a:cubicBezTo>
                <a:cubicBezTo>
                  <a:pt x="310" y="915"/>
                  <a:pt x="284" y="907"/>
                  <a:pt x="259" y="896"/>
                </a:cubicBezTo>
                <a:cubicBezTo>
                  <a:pt x="232" y="886"/>
                  <a:pt x="208" y="873"/>
                  <a:pt x="185" y="858"/>
                </a:cubicBezTo>
                <a:cubicBezTo>
                  <a:pt x="163" y="842"/>
                  <a:pt x="141" y="825"/>
                  <a:pt x="122" y="806"/>
                </a:cubicBezTo>
                <a:cubicBezTo>
                  <a:pt x="103" y="786"/>
                  <a:pt x="85" y="765"/>
                  <a:pt x="70" y="742"/>
                </a:cubicBezTo>
                <a:cubicBezTo>
                  <a:pt x="55" y="720"/>
                  <a:pt x="42" y="696"/>
                  <a:pt x="32" y="670"/>
                </a:cubicBezTo>
                <a:cubicBezTo>
                  <a:pt x="21" y="645"/>
                  <a:pt x="13" y="619"/>
                  <a:pt x="8" y="592"/>
                </a:cubicBezTo>
                <a:cubicBezTo>
                  <a:pt x="2" y="565"/>
                  <a:pt x="0" y="538"/>
                  <a:pt x="0" y="510"/>
                </a:cubicBezTo>
                <a:close/>
              </a:path>
            </a:pathLst>
          </a:custGeom>
          <a:solidFill>
            <a:srgbClr val="1e3a8a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95" name="" descr=""/>
          <p:cNvPicPr/>
          <p:nvPr/>
        </p:nvPicPr>
        <p:blipFill>
          <a:blip r:embed="rId11"/>
          <a:stretch/>
        </p:blipFill>
        <p:spPr>
          <a:xfrm>
            <a:off x="5841360" y="526464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6" name=""/>
          <p:cNvSpPr txBox="1"/>
          <p:nvPr/>
        </p:nvSpPr>
        <p:spPr>
          <a:xfrm>
            <a:off x="6175440" y="4614120"/>
            <a:ext cx="4032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を実現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6175440" y="5259960"/>
            <a:ext cx="150948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高度な警告ロジック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6175440" y="5617080"/>
            <a:ext cx="37562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複数の状態を組み合わせた判断で、</a:t>
            </a:r>
            <a:r>
              <a:rPr b="0" lang="zh-CN" sz="105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状況に応じた適切な警告</a:t>
            </a:r>
            <a:r>
              <a:rPr b="0" lang="zh-CN" sz="105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を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99" name="" descr=""/>
          <p:cNvPicPr/>
          <p:nvPr/>
        </p:nvPicPr>
        <p:blipFill>
          <a:blip r:embed="rId12"/>
          <a:stretch/>
        </p:blipFill>
        <p:spPr>
          <a:xfrm>
            <a:off x="0" y="0"/>
            <a:ext cx="10696320" cy="651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0" name="" descr=""/>
          <p:cNvPicPr/>
          <p:nvPr/>
        </p:nvPicPr>
        <p:blipFill>
          <a:blip r:embed="rId13"/>
          <a:stretch/>
        </p:blipFill>
        <p:spPr>
          <a:xfrm>
            <a:off x="0" y="0"/>
            <a:ext cx="10696320" cy="651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1" name=""/>
          <p:cNvSpPr txBox="1"/>
          <p:nvPr/>
        </p:nvSpPr>
        <p:spPr>
          <a:xfrm>
            <a:off x="6175440" y="5817600"/>
            <a:ext cx="2689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発報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/>
          <p:nvPr/>
        </p:nvSpPr>
        <p:spPr>
          <a:xfrm>
            <a:off x="785520" y="1988640"/>
            <a:ext cx="83880" cy="83880"/>
          </a:xfrm>
          <a:custGeom>
            <a:avLst/>
            <a:gdLst/>
            <a:ahLst/>
            <a:rect l="0" t="0" r="r" b="b"/>
            <a:pathLst>
              <a:path w="233" h="233">
                <a:moveTo>
                  <a:pt x="233" y="116"/>
                </a:moveTo>
                <a:cubicBezTo>
                  <a:pt x="233" y="132"/>
                  <a:pt x="230" y="146"/>
                  <a:pt x="224" y="162"/>
                </a:cubicBezTo>
                <a:cubicBezTo>
                  <a:pt x="218" y="176"/>
                  <a:pt x="210" y="188"/>
                  <a:pt x="199" y="199"/>
                </a:cubicBezTo>
                <a:cubicBezTo>
                  <a:pt x="188" y="210"/>
                  <a:pt x="175" y="219"/>
                  <a:pt x="161" y="225"/>
                </a:cubicBezTo>
                <a:cubicBezTo>
                  <a:pt x="147" y="230"/>
                  <a:pt x="132" y="233"/>
                  <a:pt x="117" y="233"/>
                </a:cubicBezTo>
                <a:cubicBezTo>
                  <a:pt x="101" y="233"/>
                  <a:pt x="86" y="230"/>
                  <a:pt x="72" y="225"/>
                </a:cubicBezTo>
                <a:cubicBezTo>
                  <a:pt x="58" y="219"/>
                  <a:pt x="45" y="210"/>
                  <a:pt x="35" y="199"/>
                </a:cubicBezTo>
                <a:cubicBezTo>
                  <a:pt x="24" y="188"/>
                  <a:pt x="14" y="176"/>
                  <a:pt x="8" y="162"/>
                </a:cubicBezTo>
                <a:cubicBezTo>
                  <a:pt x="2" y="146"/>
                  <a:pt x="0" y="132"/>
                  <a:pt x="0" y="116"/>
                </a:cubicBezTo>
                <a:cubicBezTo>
                  <a:pt x="0" y="101"/>
                  <a:pt x="2" y="86"/>
                  <a:pt x="8" y="72"/>
                </a:cubicBezTo>
                <a:cubicBezTo>
                  <a:pt x="14" y="58"/>
                  <a:pt x="24" y="45"/>
                  <a:pt x="35" y="34"/>
                </a:cubicBezTo>
                <a:cubicBezTo>
                  <a:pt x="45" y="23"/>
                  <a:pt x="58" y="15"/>
                  <a:pt x="72" y="9"/>
                </a:cubicBezTo>
                <a:cubicBezTo>
                  <a:pt x="86" y="3"/>
                  <a:pt x="101" y="0"/>
                  <a:pt x="117" y="0"/>
                </a:cubicBezTo>
                <a:cubicBezTo>
                  <a:pt x="132" y="0"/>
                  <a:pt x="147" y="3"/>
                  <a:pt x="161" y="9"/>
                </a:cubicBezTo>
                <a:cubicBezTo>
                  <a:pt x="175" y="15"/>
                  <a:pt x="188" y="23"/>
                  <a:pt x="199" y="34"/>
                </a:cubicBezTo>
                <a:cubicBezTo>
                  <a:pt x="210" y="45"/>
                  <a:pt x="218" y="58"/>
                  <a:pt x="224" y="72"/>
                </a:cubicBezTo>
                <a:cubicBezTo>
                  <a:pt x="230" y="86"/>
                  <a:pt x="233" y="101"/>
                  <a:pt x="233" y="116"/>
                </a:cubicBezTo>
                <a:close/>
              </a:path>
            </a:pathLst>
          </a:custGeom>
          <a:solidFill>
            <a:srgbClr val="d6454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952560" y="1940040"/>
            <a:ext cx="30852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所有者が一度フレームから外れると追跡が途切れる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/>
          <p:nvPr/>
        </p:nvSpPr>
        <p:spPr>
          <a:xfrm>
            <a:off x="785520" y="2256120"/>
            <a:ext cx="83880" cy="83880"/>
          </a:xfrm>
          <a:custGeom>
            <a:avLst/>
            <a:gdLst/>
            <a:ahLst/>
            <a:rect l="0" t="0" r="r" b="b"/>
            <a:pathLst>
              <a:path w="233" h="233">
                <a:moveTo>
                  <a:pt x="233" y="117"/>
                </a:moveTo>
                <a:cubicBezTo>
                  <a:pt x="233" y="132"/>
                  <a:pt x="230" y="147"/>
                  <a:pt x="224" y="162"/>
                </a:cubicBezTo>
                <a:cubicBezTo>
                  <a:pt x="218" y="176"/>
                  <a:pt x="210" y="188"/>
                  <a:pt x="199" y="199"/>
                </a:cubicBezTo>
                <a:cubicBezTo>
                  <a:pt x="188" y="210"/>
                  <a:pt x="175" y="218"/>
                  <a:pt x="161" y="224"/>
                </a:cubicBezTo>
                <a:cubicBezTo>
                  <a:pt x="147" y="230"/>
                  <a:pt x="132" y="233"/>
                  <a:pt x="117" y="233"/>
                </a:cubicBezTo>
                <a:cubicBezTo>
                  <a:pt x="101" y="233"/>
                  <a:pt x="86" y="230"/>
                  <a:pt x="72" y="224"/>
                </a:cubicBezTo>
                <a:cubicBezTo>
                  <a:pt x="58" y="218"/>
                  <a:pt x="45" y="210"/>
                  <a:pt x="35" y="199"/>
                </a:cubicBezTo>
                <a:cubicBezTo>
                  <a:pt x="24" y="188"/>
                  <a:pt x="14" y="176"/>
                  <a:pt x="8" y="162"/>
                </a:cubicBezTo>
                <a:cubicBezTo>
                  <a:pt x="2" y="147"/>
                  <a:pt x="0" y="132"/>
                  <a:pt x="0" y="117"/>
                </a:cubicBezTo>
                <a:cubicBezTo>
                  <a:pt x="0" y="101"/>
                  <a:pt x="2" y="86"/>
                  <a:pt x="8" y="72"/>
                </a:cubicBezTo>
                <a:cubicBezTo>
                  <a:pt x="14" y="57"/>
                  <a:pt x="24" y="45"/>
                  <a:pt x="35" y="34"/>
                </a:cubicBezTo>
                <a:cubicBezTo>
                  <a:pt x="45" y="23"/>
                  <a:pt x="58" y="15"/>
                  <a:pt x="72" y="9"/>
                </a:cubicBezTo>
                <a:cubicBezTo>
                  <a:pt x="86" y="3"/>
                  <a:pt x="101" y="0"/>
                  <a:pt x="117" y="0"/>
                </a:cubicBezTo>
                <a:cubicBezTo>
                  <a:pt x="132" y="0"/>
                  <a:pt x="147" y="3"/>
                  <a:pt x="161" y="9"/>
                </a:cubicBezTo>
                <a:cubicBezTo>
                  <a:pt x="175" y="15"/>
                  <a:pt x="188" y="23"/>
                  <a:pt x="199" y="34"/>
                </a:cubicBezTo>
                <a:cubicBezTo>
                  <a:pt x="210" y="45"/>
                  <a:pt x="218" y="57"/>
                  <a:pt x="224" y="72"/>
                </a:cubicBezTo>
                <a:cubicBezTo>
                  <a:pt x="230" y="86"/>
                  <a:pt x="233" y="101"/>
                  <a:pt x="233" y="117"/>
                </a:cubicBezTo>
                <a:close/>
              </a:path>
            </a:pathLst>
          </a:custGeom>
          <a:solidFill>
            <a:srgbClr val="d6454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952560" y="2207520"/>
            <a:ext cx="16099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放置と盗難を区別できない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/>
          <p:nvPr/>
        </p:nvSpPr>
        <p:spPr>
          <a:xfrm>
            <a:off x="785520" y="2523600"/>
            <a:ext cx="83880" cy="83880"/>
          </a:xfrm>
          <a:custGeom>
            <a:avLst/>
            <a:gdLst/>
            <a:ahLst/>
            <a:rect l="0" t="0" r="r" b="b"/>
            <a:pathLst>
              <a:path w="233" h="233">
                <a:moveTo>
                  <a:pt x="233" y="117"/>
                </a:moveTo>
                <a:cubicBezTo>
                  <a:pt x="233" y="132"/>
                  <a:pt x="230" y="147"/>
                  <a:pt x="224" y="161"/>
                </a:cubicBezTo>
                <a:cubicBezTo>
                  <a:pt x="218" y="176"/>
                  <a:pt x="210" y="188"/>
                  <a:pt x="199" y="199"/>
                </a:cubicBezTo>
                <a:cubicBezTo>
                  <a:pt x="188" y="210"/>
                  <a:pt x="175" y="218"/>
                  <a:pt x="161" y="224"/>
                </a:cubicBezTo>
                <a:cubicBezTo>
                  <a:pt x="147" y="230"/>
                  <a:pt x="132" y="233"/>
                  <a:pt x="117" y="233"/>
                </a:cubicBezTo>
                <a:cubicBezTo>
                  <a:pt x="101" y="233"/>
                  <a:pt x="86" y="230"/>
                  <a:pt x="72" y="224"/>
                </a:cubicBezTo>
                <a:cubicBezTo>
                  <a:pt x="58" y="218"/>
                  <a:pt x="45" y="210"/>
                  <a:pt x="35" y="199"/>
                </a:cubicBezTo>
                <a:cubicBezTo>
                  <a:pt x="24" y="188"/>
                  <a:pt x="14" y="176"/>
                  <a:pt x="8" y="161"/>
                </a:cubicBezTo>
                <a:cubicBezTo>
                  <a:pt x="2" y="147"/>
                  <a:pt x="0" y="132"/>
                  <a:pt x="0" y="117"/>
                </a:cubicBezTo>
                <a:cubicBezTo>
                  <a:pt x="0" y="102"/>
                  <a:pt x="2" y="87"/>
                  <a:pt x="8" y="72"/>
                </a:cubicBezTo>
                <a:cubicBezTo>
                  <a:pt x="14" y="57"/>
                  <a:pt x="24" y="45"/>
                  <a:pt x="35" y="34"/>
                </a:cubicBezTo>
                <a:cubicBezTo>
                  <a:pt x="45" y="23"/>
                  <a:pt x="58" y="15"/>
                  <a:pt x="72" y="9"/>
                </a:cubicBezTo>
                <a:cubicBezTo>
                  <a:pt x="86" y="3"/>
                  <a:pt x="101" y="0"/>
                  <a:pt x="117" y="0"/>
                </a:cubicBezTo>
                <a:cubicBezTo>
                  <a:pt x="132" y="0"/>
                  <a:pt x="147" y="3"/>
                  <a:pt x="161" y="9"/>
                </a:cubicBezTo>
                <a:cubicBezTo>
                  <a:pt x="175" y="15"/>
                  <a:pt x="188" y="23"/>
                  <a:pt x="199" y="34"/>
                </a:cubicBezTo>
                <a:cubicBezTo>
                  <a:pt x="210" y="45"/>
                  <a:pt x="218" y="57"/>
                  <a:pt x="224" y="72"/>
                </a:cubicBezTo>
                <a:cubicBezTo>
                  <a:pt x="230" y="87"/>
                  <a:pt x="233" y="102"/>
                  <a:pt x="233" y="117"/>
                </a:cubicBezTo>
                <a:close/>
              </a:path>
            </a:pathLst>
          </a:custGeom>
          <a:solidFill>
            <a:srgbClr val="d6454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952560" y="2475000"/>
            <a:ext cx="20124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混雑時に所有者特定の精度が低下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/>
          <p:nvPr/>
        </p:nvSpPr>
        <p:spPr>
          <a:xfrm>
            <a:off x="785520" y="3158640"/>
            <a:ext cx="83880" cy="83880"/>
          </a:xfrm>
          <a:custGeom>
            <a:avLst/>
            <a:gdLst/>
            <a:ahLst/>
            <a:rect l="0" t="0" r="r" b="b"/>
            <a:pathLst>
              <a:path w="233" h="233">
                <a:moveTo>
                  <a:pt x="233" y="116"/>
                </a:moveTo>
                <a:cubicBezTo>
                  <a:pt x="233" y="131"/>
                  <a:pt x="230" y="146"/>
                  <a:pt x="224" y="162"/>
                </a:cubicBezTo>
                <a:cubicBezTo>
                  <a:pt x="218" y="176"/>
                  <a:pt x="210" y="188"/>
                  <a:pt x="199" y="199"/>
                </a:cubicBezTo>
                <a:cubicBezTo>
                  <a:pt x="188" y="210"/>
                  <a:pt x="175" y="218"/>
                  <a:pt x="161" y="224"/>
                </a:cubicBezTo>
                <a:cubicBezTo>
                  <a:pt x="147" y="230"/>
                  <a:pt x="132" y="233"/>
                  <a:pt x="117" y="233"/>
                </a:cubicBezTo>
                <a:cubicBezTo>
                  <a:pt x="101" y="233"/>
                  <a:pt x="86" y="230"/>
                  <a:pt x="72" y="224"/>
                </a:cubicBezTo>
                <a:cubicBezTo>
                  <a:pt x="58" y="218"/>
                  <a:pt x="45" y="210"/>
                  <a:pt x="35" y="199"/>
                </a:cubicBezTo>
                <a:cubicBezTo>
                  <a:pt x="24" y="188"/>
                  <a:pt x="14" y="176"/>
                  <a:pt x="8" y="162"/>
                </a:cubicBezTo>
                <a:cubicBezTo>
                  <a:pt x="2" y="146"/>
                  <a:pt x="0" y="131"/>
                  <a:pt x="0" y="116"/>
                </a:cubicBezTo>
                <a:cubicBezTo>
                  <a:pt x="0" y="101"/>
                  <a:pt x="2" y="86"/>
                  <a:pt x="8" y="72"/>
                </a:cubicBezTo>
                <a:cubicBezTo>
                  <a:pt x="14" y="57"/>
                  <a:pt x="24" y="45"/>
                  <a:pt x="35" y="34"/>
                </a:cubicBezTo>
                <a:cubicBezTo>
                  <a:pt x="45" y="23"/>
                  <a:pt x="58" y="15"/>
                  <a:pt x="72" y="9"/>
                </a:cubicBezTo>
                <a:cubicBezTo>
                  <a:pt x="86" y="3"/>
                  <a:pt x="101" y="0"/>
                  <a:pt x="117" y="0"/>
                </a:cubicBezTo>
                <a:cubicBezTo>
                  <a:pt x="132" y="0"/>
                  <a:pt x="147" y="3"/>
                  <a:pt x="161" y="9"/>
                </a:cubicBezTo>
                <a:cubicBezTo>
                  <a:pt x="175" y="15"/>
                  <a:pt x="188" y="23"/>
                  <a:pt x="199" y="34"/>
                </a:cubicBezTo>
                <a:cubicBezTo>
                  <a:pt x="210" y="45"/>
                  <a:pt x="218" y="57"/>
                  <a:pt x="224" y="72"/>
                </a:cubicBezTo>
                <a:cubicBezTo>
                  <a:pt x="230" y="86"/>
                  <a:pt x="233" y="101"/>
                  <a:pt x="233" y="116"/>
                </a:cubicBez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952560" y="3110040"/>
            <a:ext cx="29512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所有者が一時的にフレーム外に出ても追跡を継続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/>
          <p:nvPr/>
        </p:nvSpPr>
        <p:spPr>
          <a:xfrm>
            <a:off x="785520" y="3426120"/>
            <a:ext cx="83880" cy="83880"/>
          </a:xfrm>
          <a:custGeom>
            <a:avLst/>
            <a:gdLst/>
            <a:ahLst/>
            <a:rect l="0" t="0" r="r" b="b"/>
            <a:pathLst>
              <a:path w="233" h="233">
                <a:moveTo>
                  <a:pt x="233" y="117"/>
                </a:moveTo>
                <a:cubicBezTo>
                  <a:pt x="233" y="132"/>
                  <a:pt x="230" y="147"/>
                  <a:pt x="224" y="161"/>
                </a:cubicBezTo>
                <a:cubicBezTo>
                  <a:pt x="218" y="176"/>
                  <a:pt x="210" y="188"/>
                  <a:pt x="199" y="199"/>
                </a:cubicBezTo>
                <a:cubicBezTo>
                  <a:pt x="188" y="210"/>
                  <a:pt x="175" y="218"/>
                  <a:pt x="161" y="224"/>
                </a:cubicBezTo>
                <a:cubicBezTo>
                  <a:pt x="147" y="230"/>
                  <a:pt x="132" y="233"/>
                  <a:pt x="117" y="233"/>
                </a:cubicBezTo>
                <a:cubicBezTo>
                  <a:pt x="101" y="233"/>
                  <a:pt x="86" y="230"/>
                  <a:pt x="72" y="224"/>
                </a:cubicBezTo>
                <a:cubicBezTo>
                  <a:pt x="58" y="218"/>
                  <a:pt x="45" y="210"/>
                  <a:pt x="35" y="199"/>
                </a:cubicBezTo>
                <a:cubicBezTo>
                  <a:pt x="24" y="188"/>
                  <a:pt x="14" y="176"/>
                  <a:pt x="8" y="161"/>
                </a:cubicBezTo>
                <a:cubicBezTo>
                  <a:pt x="2" y="147"/>
                  <a:pt x="0" y="132"/>
                  <a:pt x="0" y="117"/>
                </a:cubicBezTo>
                <a:cubicBezTo>
                  <a:pt x="0" y="101"/>
                  <a:pt x="2" y="86"/>
                  <a:pt x="8" y="72"/>
                </a:cubicBezTo>
                <a:cubicBezTo>
                  <a:pt x="14" y="57"/>
                  <a:pt x="24" y="45"/>
                  <a:pt x="35" y="34"/>
                </a:cubicBezTo>
                <a:cubicBezTo>
                  <a:pt x="45" y="23"/>
                  <a:pt x="58" y="15"/>
                  <a:pt x="72" y="9"/>
                </a:cubicBezTo>
                <a:cubicBezTo>
                  <a:pt x="86" y="3"/>
                  <a:pt x="101" y="0"/>
                  <a:pt x="117" y="0"/>
                </a:cubicBezTo>
                <a:cubicBezTo>
                  <a:pt x="132" y="0"/>
                  <a:pt x="147" y="3"/>
                  <a:pt x="161" y="9"/>
                </a:cubicBezTo>
                <a:cubicBezTo>
                  <a:pt x="175" y="15"/>
                  <a:pt x="188" y="23"/>
                  <a:pt x="199" y="34"/>
                </a:cubicBezTo>
                <a:cubicBezTo>
                  <a:pt x="210" y="45"/>
                  <a:pt x="218" y="57"/>
                  <a:pt x="224" y="72"/>
                </a:cubicBezTo>
                <a:cubicBezTo>
                  <a:pt x="230" y="86"/>
                  <a:pt x="233" y="101"/>
                  <a:pt x="233" y="117"/>
                </a:cubicBez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 txBox="1"/>
          <p:nvPr/>
        </p:nvSpPr>
        <p:spPr>
          <a:xfrm>
            <a:off x="952560" y="3377520"/>
            <a:ext cx="33346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物体状態と所有者状態を組み合わせて放置</a:t>
            </a:r>
            <a:r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/</a:t>
            </a:r>
            <a:r>
              <a:rPr b="0" lang="zh-CN" sz="105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盗難を区別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/>
          <p:nvPr/>
        </p:nvSpPr>
        <p:spPr>
          <a:xfrm>
            <a:off x="785520" y="3693600"/>
            <a:ext cx="83880" cy="83880"/>
          </a:xfrm>
          <a:custGeom>
            <a:avLst/>
            <a:gdLst/>
            <a:ahLst/>
            <a:rect l="0" t="0" r="r" b="b"/>
            <a:pathLst>
              <a:path w="233" h="233">
                <a:moveTo>
                  <a:pt x="233" y="117"/>
                </a:moveTo>
                <a:cubicBezTo>
                  <a:pt x="233" y="132"/>
                  <a:pt x="230" y="147"/>
                  <a:pt x="224" y="161"/>
                </a:cubicBezTo>
                <a:cubicBezTo>
                  <a:pt x="218" y="175"/>
                  <a:pt x="210" y="188"/>
                  <a:pt x="199" y="199"/>
                </a:cubicBezTo>
                <a:cubicBezTo>
                  <a:pt x="188" y="210"/>
                  <a:pt x="175" y="218"/>
                  <a:pt x="161" y="224"/>
                </a:cubicBezTo>
                <a:cubicBezTo>
                  <a:pt x="147" y="230"/>
                  <a:pt x="132" y="233"/>
                  <a:pt x="117" y="233"/>
                </a:cubicBezTo>
                <a:cubicBezTo>
                  <a:pt x="101" y="233"/>
                  <a:pt x="86" y="230"/>
                  <a:pt x="72" y="224"/>
                </a:cubicBezTo>
                <a:cubicBezTo>
                  <a:pt x="58" y="218"/>
                  <a:pt x="45" y="210"/>
                  <a:pt x="35" y="199"/>
                </a:cubicBezTo>
                <a:cubicBezTo>
                  <a:pt x="24" y="188"/>
                  <a:pt x="14" y="175"/>
                  <a:pt x="8" y="161"/>
                </a:cubicBezTo>
                <a:cubicBezTo>
                  <a:pt x="2" y="147"/>
                  <a:pt x="0" y="132"/>
                  <a:pt x="0" y="117"/>
                </a:cubicBezTo>
                <a:cubicBezTo>
                  <a:pt x="0" y="101"/>
                  <a:pt x="2" y="87"/>
                  <a:pt x="8" y="72"/>
                </a:cubicBezTo>
                <a:cubicBezTo>
                  <a:pt x="14" y="57"/>
                  <a:pt x="24" y="45"/>
                  <a:pt x="35" y="34"/>
                </a:cubicBezTo>
                <a:cubicBezTo>
                  <a:pt x="45" y="23"/>
                  <a:pt x="58" y="14"/>
                  <a:pt x="72" y="9"/>
                </a:cubicBezTo>
                <a:cubicBezTo>
                  <a:pt x="86" y="3"/>
                  <a:pt x="101" y="0"/>
                  <a:pt x="117" y="0"/>
                </a:cubicBezTo>
                <a:cubicBezTo>
                  <a:pt x="132" y="0"/>
                  <a:pt x="147" y="3"/>
                  <a:pt x="161" y="9"/>
                </a:cubicBezTo>
                <a:cubicBezTo>
                  <a:pt x="175" y="14"/>
                  <a:pt x="188" y="23"/>
                  <a:pt x="199" y="34"/>
                </a:cubicBezTo>
                <a:cubicBezTo>
                  <a:pt x="210" y="45"/>
                  <a:pt x="218" y="57"/>
                  <a:pt x="224" y="72"/>
                </a:cubicBezTo>
                <a:cubicBezTo>
                  <a:pt x="230" y="87"/>
                  <a:pt x="233" y="101"/>
                  <a:pt x="233" y="117"/>
                </a:cubicBez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952560" y="3644640"/>
            <a:ext cx="34876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行動コンテキストを考慮した所有者特定で混雑時も高精度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 txBox="1"/>
          <p:nvPr/>
        </p:nvSpPr>
        <p:spPr>
          <a:xfrm>
            <a:off x="10078200" y="6218640"/>
            <a:ext cx="472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9ca3af"/>
                </a:solidFill>
                <a:effectLst/>
                <a:uFillTx/>
                <a:latin typeface="NotoSansJP"/>
                <a:ea typeface="NotoSansJP"/>
              </a:rPr>
              <a:t>11 / 12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6" name=""/>
          <p:cNvSpPr/>
          <p:nvPr/>
        </p:nvSpPr>
        <p:spPr>
          <a:xfrm>
            <a:off x="534600" y="802080"/>
            <a:ext cx="668880" cy="33840"/>
          </a:xfrm>
          <a:custGeom>
            <a:avLst/>
            <a:gdLst/>
            <a:ahLst/>
            <a:rect l="0" t="0" r="r" b="b"/>
            <a:pathLst>
              <a:path w="1858" h="94">
                <a:moveTo>
                  <a:pt x="0" y="0"/>
                </a:moveTo>
                <a:lnTo>
                  <a:pt x="1858" y="0"/>
                </a:lnTo>
                <a:lnTo>
                  <a:pt x="1858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60a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/>
          <p:nvPr/>
        </p:nvSpPr>
        <p:spPr>
          <a:xfrm>
            <a:off x="534600" y="1048680"/>
            <a:ext cx="4546440" cy="3865320"/>
          </a:xfrm>
          <a:custGeom>
            <a:avLst/>
            <a:gdLst/>
            <a:ahLst/>
            <a:rect l="0" t="0" r="r" b="b"/>
            <a:pathLst>
              <a:path w="12629" h="10737">
                <a:moveTo>
                  <a:pt x="0" y="10551"/>
                </a:moveTo>
                <a:lnTo>
                  <a:pt x="0" y="151"/>
                </a:lnTo>
                <a:cubicBezTo>
                  <a:pt x="0" y="141"/>
                  <a:pt x="1" y="131"/>
                  <a:pt x="4" y="121"/>
                </a:cubicBezTo>
                <a:cubicBezTo>
                  <a:pt x="6" y="111"/>
                  <a:pt x="10" y="102"/>
                  <a:pt x="14" y="93"/>
                </a:cubicBezTo>
                <a:cubicBezTo>
                  <a:pt x="19" y="84"/>
                  <a:pt x="25" y="75"/>
                  <a:pt x="31" y="67"/>
                </a:cubicBezTo>
                <a:cubicBezTo>
                  <a:pt x="38" y="59"/>
                  <a:pt x="46" y="51"/>
                  <a:pt x="55" y="44"/>
                </a:cubicBezTo>
                <a:cubicBezTo>
                  <a:pt x="63" y="37"/>
                  <a:pt x="73" y="31"/>
                  <a:pt x="83" y="25"/>
                </a:cubicBezTo>
                <a:cubicBezTo>
                  <a:pt x="93" y="20"/>
                  <a:pt x="104" y="15"/>
                  <a:pt x="115" y="11"/>
                </a:cubicBezTo>
                <a:cubicBezTo>
                  <a:pt x="126" y="7"/>
                  <a:pt x="138" y="5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12443" y="0"/>
                </a:lnTo>
                <a:cubicBezTo>
                  <a:pt x="12456" y="0"/>
                  <a:pt x="12468" y="1"/>
                  <a:pt x="12480" y="3"/>
                </a:cubicBezTo>
                <a:cubicBezTo>
                  <a:pt x="12492" y="5"/>
                  <a:pt x="12503" y="7"/>
                  <a:pt x="12514" y="11"/>
                </a:cubicBezTo>
                <a:cubicBezTo>
                  <a:pt x="12526" y="15"/>
                  <a:pt x="12536" y="20"/>
                  <a:pt x="12547" y="25"/>
                </a:cubicBezTo>
                <a:cubicBezTo>
                  <a:pt x="12557" y="31"/>
                  <a:pt x="12566" y="37"/>
                  <a:pt x="12575" y="44"/>
                </a:cubicBezTo>
                <a:cubicBezTo>
                  <a:pt x="12583" y="51"/>
                  <a:pt x="12591" y="59"/>
                  <a:pt x="12598" y="67"/>
                </a:cubicBezTo>
                <a:cubicBezTo>
                  <a:pt x="12605" y="75"/>
                  <a:pt x="12610" y="84"/>
                  <a:pt x="12615" y="93"/>
                </a:cubicBezTo>
                <a:cubicBezTo>
                  <a:pt x="12620" y="102"/>
                  <a:pt x="12623" y="111"/>
                  <a:pt x="12625" y="121"/>
                </a:cubicBezTo>
                <a:cubicBezTo>
                  <a:pt x="12628" y="131"/>
                  <a:pt x="12629" y="141"/>
                  <a:pt x="12629" y="151"/>
                </a:cubicBezTo>
                <a:lnTo>
                  <a:pt x="12629" y="10551"/>
                </a:lnTo>
                <a:cubicBezTo>
                  <a:pt x="12629" y="10563"/>
                  <a:pt x="12628" y="10575"/>
                  <a:pt x="12625" y="10587"/>
                </a:cubicBezTo>
                <a:cubicBezTo>
                  <a:pt x="12623" y="10599"/>
                  <a:pt x="12620" y="10611"/>
                  <a:pt x="12615" y="10622"/>
                </a:cubicBezTo>
                <a:cubicBezTo>
                  <a:pt x="12610" y="10633"/>
                  <a:pt x="12605" y="10644"/>
                  <a:pt x="12598" y="10654"/>
                </a:cubicBezTo>
                <a:cubicBezTo>
                  <a:pt x="12591" y="10664"/>
                  <a:pt x="12583" y="10674"/>
                  <a:pt x="12575" y="10682"/>
                </a:cubicBezTo>
                <a:cubicBezTo>
                  <a:pt x="12566" y="10691"/>
                  <a:pt x="12557" y="10699"/>
                  <a:pt x="12547" y="10705"/>
                </a:cubicBezTo>
                <a:cubicBezTo>
                  <a:pt x="12536" y="10712"/>
                  <a:pt x="12526" y="10718"/>
                  <a:pt x="12514" y="10723"/>
                </a:cubicBezTo>
                <a:cubicBezTo>
                  <a:pt x="12503" y="10727"/>
                  <a:pt x="12492" y="10731"/>
                  <a:pt x="12480" y="10733"/>
                </a:cubicBezTo>
                <a:cubicBezTo>
                  <a:pt x="12468" y="10736"/>
                  <a:pt x="12456" y="10737"/>
                  <a:pt x="12443" y="10737"/>
                </a:cubicBezTo>
                <a:lnTo>
                  <a:pt x="186" y="10737"/>
                </a:lnTo>
                <a:cubicBezTo>
                  <a:pt x="174" y="10737"/>
                  <a:pt x="162" y="10736"/>
                  <a:pt x="150" y="10733"/>
                </a:cubicBezTo>
                <a:cubicBezTo>
                  <a:pt x="138" y="10731"/>
                  <a:pt x="126" y="10727"/>
                  <a:pt x="115" y="10723"/>
                </a:cubicBezTo>
                <a:cubicBezTo>
                  <a:pt x="104" y="10718"/>
                  <a:pt x="93" y="10712"/>
                  <a:pt x="83" y="10705"/>
                </a:cubicBezTo>
                <a:cubicBezTo>
                  <a:pt x="73" y="10699"/>
                  <a:pt x="63" y="10691"/>
                  <a:pt x="55" y="10682"/>
                </a:cubicBezTo>
                <a:cubicBezTo>
                  <a:pt x="46" y="10674"/>
                  <a:pt x="38" y="10664"/>
                  <a:pt x="31" y="10654"/>
                </a:cubicBezTo>
                <a:cubicBezTo>
                  <a:pt x="25" y="10644"/>
                  <a:pt x="19" y="10633"/>
                  <a:pt x="14" y="10622"/>
                </a:cubicBezTo>
                <a:cubicBezTo>
                  <a:pt x="10" y="10611"/>
                  <a:pt x="6" y="10599"/>
                  <a:pt x="4" y="10587"/>
                </a:cubicBezTo>
                <a:cubicBezTo>
                  <a:pt x="1" y="10575"/>
                  <a:pt x="0" y="10563"/>
                  <a:pt x="0" y="10551"/>
                </a:cubicBezTo>
                <a:close/>
              </a:path>
            </a:pathLst>
          </a:custGeom>
          <a:solidFill>
            <a:srgbClr val="1a2a57">
              <a:alpha val="7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/>
          <p:nvPr/>
        </p:nvSpPr>
        <p:spPr>
          <a:xfrm>
            <a:off x="534600" y="1036080"/>
            <a:ext cx="4546440" cy="67320"/>
          </a:xfrm>
          <a:custGeom>
            <a:avLst/>
            <a:gdLst/>
            <a:ahLst/>
            <a:rect l="0" t="0" r="r" b="b"/>
            <a:pathLst>
              <a:path w="12629" h="187">
                <a:moveTo>
                  <a:pt x="0" y="0"/>
                </a:moveTo>
                <a:lnTo>
                  <a:pt x="12629" y="0"/>
                </a:lnTo>
                <a:lnTo>
                  <a:pt x="12629" y="187"/>
                </a:lnTo>
                <a:lnTo>
                  <a:pt x="0" y="187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619" name="" descr=""/>
          <p:cNvPicPr/>
          <p:nvPr/>
        </p:nvPicPr>
        <p:blipFill>
          <a:blip r:embed="rId2"/>
          <a:stretch/>
        </p:blipFill>
        <p:spPr>
          <a:xfrm>
            <a:off x="735480" y="129528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0" name=""/>
          <p:cNvSpPr txBox="1"/>
          <p:nvPr/>
        </p:nvSpPr>
        <p:spPr>
          <a:xfrm>
            <a:off x="534960" y="422640"/>
            <a:ext cx="2702880" cy="43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37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まとめと今後の展望</a:t>
            </a:r>
            <a:endParaRPr b="0" lang="en-US" sz="2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21" name="" descr=""/>
          <p:cNvPicPr/>
          <p:nvPr/>
        </p:nvPicPr>
        <p:blipFill>
          <a:blip r:embed="rId3"/>
          <a:stretch/>
        </p:blipFill>
        <p:spPr>
          <a:xfrm>
            <a:off x="735480" y="1729800"/>
            <a:ext cx="19188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2" name=""/>
          <p:cNvSpPr txBox="1"/>
          <p:nvPr/>
        </p:nvSpPr>
        <p:spPr>
          <a:xfrm>
            <a:off x="1036080" y="1293120"/>
            <a:ext cx="1609920" cy="29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580" strike="noStrike" u="none">
                <a:solidFill>
                  <a:srgbClr val="93c5fd"/>
                </a:solidFill>
                <a:effectLst/>
                <a:uFillTx/>
                <a:latin typeface="NotoSansJP"/>
                <a:ea typeface="NotoSansJP"/>
              </a:rPr>
              <a:t>研究成果のまとめ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 txBox="1"/>
          <p:nvPr/>
        </p:nvSpPr>
        <p:spPr>
          <a:xfrm>
            <a:off x="1027800" y="1740600"/>
            <a:ext cx="39625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93c5fd"/>
                </a:solidFill>
                <a:effectLst/>
                <a:uFillTx/>
                <a:latin typeface="NotoSansJP"/>
                <a:ea typeface="NotoSansJP"/>
              </a:rPr>
              <a:t>人物再識別（</a:t>
            </a:r>
            <a:r>
              <a:rPr b="0" lang="en-US" sz="1180" strike="noStrike" u="none">
                <a:solidFill>
                  <a:srgbClr val="93c5fd"/>
                </a:solidFill>
                <a:effectLst/>
                <a:uFillTx/>
                <a:latin typeface="NotoSansJP"/>
                <a:ea typeface="NotoSansJP"/>
              </a:rPr>
              <a:t>Re-ID</a:t>
            </a:r>
            <a:r>
              <a:rPr b="0" lang="zh-CN" sz="1180" strike="noStrike" u="none">
                <a:solidFill>
                  <a:srgbClr val="93c5fd"/>
                </a:solidFill>
                <a:effectLst/>
                <a:uFillTx/>
                <a:latin typeface="NotoSansJP"/>
                <a:ea typeface="NotoSansJP"/>
              </a:rPr>
              <a:t>）技術</a:t>
            </a:r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の導入により、所有者が一時的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24" name="" descr=""/>
          <p:cNvPicPr/>
          <p:nvPr/>
        </p:nvPicPr>
        <p:blipFill>
          <a:blip r:embed="rId4"/>
          <a:stretch/>
        </p:blipFill>
        <p:spPr>
          <a:xfrm>
            <a:off x="735480" y="2331360"/>
            <a:ext cx="19188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5" name=""/>
          <p:cNvSpPr txBox="1"/>
          <p:nvPr/>
        </p:nvSpPr>
        <p:spPr>
          <a:xfrm>
            <a:off x="1027800" y="1974600"/>
            <a:ext cx="27165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に画面から消えた際の</a:t>
            </a:r>
            <a:r>
              <a:rPr b="0" lang="zh-CN" sz="1180" strike="noStrike" u="none">
                <a:solidFill>
                  <a:srgbClr val="fcd34d"/>
                </a:solidFill>
                <a:effectLst/>
                <a:uFillTx/>
                <a:latin typeface="NotoSansJP"/>
                <a:ea typeface="NotoSansJP"/>
              </a:rPr>
              <a:t>誤報を劇的に削減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1027800" y="2342520"/>
            <a:ext cx="39232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93c5fd"/>
                </a:solidFill>
                <a:effectLst/>
                <a:uFillTx/>
                <a:latin typeface="NotoSansJP"/>
                <a:ea typeface="NotoSansJP"/>
              </a:rPr>
              <a:t>物体状態追跡機能</a:t>
            </a:r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と高度な警告ロジックにより、</a:t>
            </a:r>
            <a:r>
              <a:rPr b="0" lang="zh-CN" sz="1180" strike="noStrike" u="none">
                <a:solidFill>
                  <a:srgbClr val="fcd34d"/>
                </a:solidFill>
                <a:effectLst/>
                <a:uFillTx/>
                <a:latin typeface="NotoSansJP"/>
                <a:ea typeface="NotoSansJP"/>
              </a:rPr>
              <a:t>「放置」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27" name="" descr=""/>
          <p:cNvPicPr/>
          <p:nvPr/>
        </p:nvPicPr>
        <p:blipFill>
          <a:blip r:embed="rId5"/>
          <a:stretch/>
        </p:blipFill>
        <p:spPr>
          <a:xfrm>
            <a:off x="735480" y="2933280"/>
            <a:ext cx="13320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8" name=""/>
          <p:cNvSpPr txBox="1"/>
          <p:nvPr/>
        </p:nvSpPr>
        <p:spPr>
          <a:xfrm>
            <a:off x="1027800" y="2576160"/>
            <a:ext cx="16603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cd34d"/>
                </a:solidFill>
                <a:effectLst/>
                <a:uFillTx/>
                <a:latin typeface="NotoSansJP"/>
                <a:ea typeface="NotoSansJP"/>
              </a:rPr>
              <a:t>と「盗難」を明確に識別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 txBox="1"/>
          <p:nvPr/>
        </p:nvSpPr>
        <p:spPr>
          <a:xfrm>
            <a:off x="969480" y="2944080"/>
            <a:ext cx="39232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93c5fd"/>
                </a:solidFill>
                <a:effectLst/>
                <a:uFillTx/>
                <a:latin typeface="NotoSansJP"/>
                <a:ea typeface="NotoSansJP"/>
              </a:rPr>
              <a:t>姿勢推定による所有者紐付け</a:t>
            </a:r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の強化で、混雑環境下でも</a:t>
            </a:r>
            <a:r>
              <a:rPr b="0" lang="zh-CN" sz="1180" strike="noStrike" u="none">
                <a:solidFill>
                  <a:srgbClr val="fcd34d"/>
                </a:solidFill>
                <a:effectLst/>
                <a:uFillTx/>
                <a:latin typeface="NotoSansJP"/>
                <a:ea typeface="NotoSansJP"/>
              </a:rPr>
              <a:t>正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30" name="" descr=""/>
          <p:cNvPicPr/>
          <p:nvPr/>
        </p:nvPicPr>
        <p:blipFill>
          <a:blip r:embed="rId6"/>
          <a:stretch/>
        </p:blipFill>
        <p:spPr>
          <a:xfrm>
            <a:off x="735480" y="3534840"/>
            <a:ext cx="15012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1" name=""/>
          <p:cNvSpPr txBox="1"/>
          <p:nvPr/>
        </p:nvSpPr>
        <p:spPr>
          <a:xfrm>
            <a:off x="969480" y="3178080"/>
            <a:ext cx="15094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cd34d"/>
                </a:solidFill>
                <a:effectLst/>
                <a:uFillTx/>
                <a:latin typeface="NotoSansJP"/>
                <a:ea typeface="NotoSansJP"/>
              </a:rPr>
              <a:t>確な所有者特定を実現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986040" y="3545640"/>
            <a:ext cx="37728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提案システムは公共空間の安全性を</a:t>
            </a:r>
            <a:r>
              <a:rPr b="0" lang="zh-CN" sz="1180" strike="noStrike" u="none">
                <a:solidFill>
                  <a:srgbClr val="fcd34d"/>
                </a:solidFill>
                <a:effectLst/>
                <a:uFillTx/>
                <a:latin typeface="NotoSansJP"/>
                <a:ea typeface="NotoSansJP"/>
              </a:rPr>
              <a:t>飛躍的に向上させる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5627880" y="1470600"/>
            <a:ext cx="4534200" cy="685440"/>
          </a:xfrm>
          <a:custGeom>
            <a:avLst/>
            <a:gdLst/>
            <a:ahLst/>
            <a:rect l="0" t="0" r="r" b="b"/>
            <a:pathLst>
              <a:path w="12595" h="1904">
                <a:moveTo>
                  <a:pt x="0" y="1904"/>
                </a:moveTo>
                <a:lnTo>
                  <a:pt x="0" y="0"/>
                </a:lnTo>
                <a:lnTo>
                  <a:pt x="12409" y="0"/>
                </a:lnTo>
                <a:cubicBezTo>
                  <a:pt x="12421" y="0"/>
                  <a:pt x="12433" y="1"/>
                  <a:pt x="12445" y="4"/>
                </a:cubicBezTo>
                <a:cubicBezTo>
                  <a:pt x="12457" y="6"/>
                  <a:pt x="12469" y="9"/>
                  <a:pt x="12480" y="14"/>
                </a:cubicBezTo>
                <a:cubicBezTo>
                  <a:pt x="12491" y="19"/>
                  <a:pt x="12502" y="25"/>
                  <a:pt x="12512" y="31"/>
                </a:cubicBezTo>
                <a:cubicBezTo>
                  <a:pt x="12522" y="38"/>
                  <a:pt x="12532" y="46"/>
                  <a:pt x="12540" y="54"/>
                </a:cubicBezTo>
                <a:cubicBezTo>
                  <a:pt x="12549" y="63"/>
                  <a:pt x="12556" y="72"/>
                  <a:pt x="12563" y="83"/>
                </a:cubicBezTo>
                <a:cubicBezTo>
                  <a:pt x="12570" y="93"/>
                  <a:pt x="12576" y="103"/>
                  <a:pt x="12580" y="115"/>
                </a:cubicBezTo>
                <a:cubicBezTo>
                  <a:pt x="12585" y="126"/>
                  <a:pt x="12589" y="138"/>
                  <a:pt x="12591" y="149"/>
                </a:cubicBezTo>
                <a:cubicBezTo>
                  <a:pt x="12593" y="161"/>
                  <a:pt x="12595" y="174"/>
                  <a:pt x="12595" y="186"/>
                </a:cubicBezTo>
                <a:lnTo>
                  <a:pt x="12595" y="1719"/>
                </a:lnTo>
                <a:cubicBezTo>
                  <a:pt x="12595" y="1731"/>
                  <a:pt x="12593" y="1743"/>
                  <a:pt x="12591" y="1755"/>
                </a:cubicBezTo>
                <a:cubicBezTo>
                  <a:pt x="12589" y="1767"/>
                  <a:pt x="12585" y="1779"/>
                  <a:pt x="12580" y="1790"/>
                </a:cubicBezTo>
                <a:cubicBezTo>
                  <a:pt x="12576" y="1801"/>
                  <a:pt x="12570" y="1812"/>
                  <a:pt x="12563" y="1822"/>
                </a:cubicBezTo>
                <a:cubicBezTo>
                  <a:pt x="12556" y="1832"/>
                  <a:pt x="12549" y="1841"/>
                  <a:pt x="12540" y="1850"/>
                </a:cubicBezTo>
                <a:cubicBezTo>
                  <a:pt x="12532" y="1859"/>
                  <a:pt x="12522" y="1866"/>
                  <a:pt x="12512" y="1873"/>
                </a:cubicBezTo>
                <a:cubicBezTo>
                  <a:pt x="12502" y="1880"/>
                  <a:pt x="12491" y="1886"/>
                  <a:pt x="12480" y="1890"/>
                </a:cubicBezTo>
                <a:cubicBezTo>
                  <a:pt x="12469" y="1895"/>
                  <a:pt x="12457" y="1899"/>
                  <a:pt x="12445" y="1901"/>
                </a:cubicBezTo>
                <a:cubicBezTo>
                  <a:pt x="12433" y="1903"/>
                  <a:pt x="12421" y="1904"/>
                  <a:pt x="12409" y="1904"/>
                </a:cubicBezTo>
                <a:lnTo>
                  <a:pt x="0" y="1904"/>
                </a:lnTo>
                <a:close/>
              </a:path>
            </a:pathLst>
          </a:custGeom>
          <a:solidFill>
            <a:srgbClr val="4a90e2">
              <a:alpha val="1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/>
          <p:nvPr/>
        </p:nvSpPr>
        <p:spPr>
          <a:xfrm>
            <a:off x="5615640" y="1470600"/>
            <a:ext cx="25200" cy="685440"/>
          </a:xfrm>
          <a:custGeom>
            <a:avLst/>
            <a:gdLst/>
            <a:ahLst/>
            <a:rect l="0" t="0" r="r" b="b"/>
            <a:pathLst>
              <a:path w="70" h="1904">
                <a:moveTo>
                  <a:pt x="0" y="0"/>
                </a:moveTo>
                <a:lnTo>
                  <a:pt x="70" y="0"/>
                </a:lnTo>
                <a:lnTo>
                  <a:pt x="70" y="1904"/>
                </a:lnTo>
                <a:lnTo>
                  <a:pt x="0" y="1904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5627880" y="2289600"/>
            <a:ext cx="4534200" cy="685440"/>
          </a:xfrm>
          <a:custGeom>
            <a:avLst/>
            <a:gdLst/>
            <a:ahLst/>
            <a:rect l="0" t="0" r="r" b="b"/>
            <a:pathLst>
              <a:path w="12595" h="1904">
                <a:moveTo>
                  <a:pt x="0" y="1904"/>
                </a:moveTo>
                <a:lnTo>
                  <a:pt x="0" y="0"/>
                </a:lnTo>
                <a:lnTo>
                  <a:pt x="12409" y="0"/>
                </a:lnTo>
                <a:cubicBezTo>
                  <a:pt x="12421" y="0"/>
                  <a:pt x="12433" y="1"/>
                  <a:pt x="12445" y="3"/>
                </a:cubicBezTo>
                <a:cubicBezTo>
                  <a:pt x="12457" y="6"/>
                  <a:pt x="12469" y="9"/>
                  <a:pt x="12480" y="14"/>
                </a:cubicBezTo>
                <a:cubicBezTo>
                  <a:pt x="12491" y="19"/>
                  <a:pt x="12502" y="24"/>
                  <a:pt x="12512" y="31"/>
                </a:cubicBezTo>
                <a:cubicBezTo>
                  <a:pt x="12522" y="38"/>
                  <a:pt x="12532" y="46"/>
                  <a:pt x="12540" y="54"/>
                </a:cubicBezTo>
                <a:cubicBezTo>
                  <a:pt x="12549" y="63"/>
                  <a:pt x="12556" y="72"/>
                  <a:pt x="12563" y="82"/>
                </a:cubicBezTo>
                <a:cubicBezTo>
                  <a:pt x="12570" y="93"/>
                  <a:pt x="12576" y="103"/>
                  <a:pt x="12580" y="115"/>
                </a:cubicBezTo>
                <a:cubicBezTo>
                  <a:pt x="12585" y="126"/>
                  <a:pt x="12589" y="137"/>
                  <a:pt x="12591" y="149"/>
                </a:cubicBezTo>
                <a:cubicBezTo>
                  <a:pt x="12593" y="161"/>
                  <a:pt x="12595" y="173"/>
                  <a:pt x="12595" y="186"/>
                </a:cubicBezTo>
                <a:lnTo>
                  <a:pt x="12595" y="1719"/>
                </a:lnTo>
                <a:cubicBezTo>
                  <a:pt x="12595" y="1731"/>
                  <a:pt x="12593" y="1743"/>
                  <a:pt x="12591" y="1755"/>
                </a:cubicBezTo>
                <a:cubicBezTo>
                  <a:pt x="12589" y="1767"/>
                  <a:pt x="12585" y="1778"/>
                  <a:pt x="12580" y="1790"/>
                </a:cubicBezTo>
                <a:cubicBezTo>
                  <a:pt x="12576" y="1801"/>
                  <a:pt x="12570" y="1812"/>
                  <a:pt x="12563" y="1822"/>
                </a:cubicBezTo>
                <a:cubicBezTo>
                  <a:pt x="12556" y="1832"/>
                  <a:pt x="12549" y="1841"/>
                  <a:pt x="12540" y="1850"/>
                </a:cubicBezTo>
                <a:cubicBezTo>
                  <a:pt x="12532" y="1859"/>
                  <a:pt x="12522" y="1866"/>
                  <a:pt x="12512" y="1873"/>
                </a:cubicBezTo>
                <a:cubicBezTo>
                  <a:pt x="12502" y="1880"/>
                  <a:pt x="12491" y="1886"/>
                  <a:pt x="12480" y="1890"/>
                </a:cubicBezTo>
                <a:cubicBezTo>
                  <a:pt x="12469" y="1895"/>
                  <a:pt x="12457" y="1898"/>
                  <a:pt x="12445" y="1901"/>
                </a:cubicBezTo>
                <a:cubicBezTo>
                  <a:pt x="12433" y="1903"/>
                  <a:pt x="12421" y="1904"/>
                  <a:pt x="12409" y="1904"/>
                </a:cubicBezTo>
                <a:lnTo>
                  <a:pt x="0" y="1904"/>
                </a:lnTo>
                <a:close/>
              </a:path>
            </a:pathLst>
          </a:custGeom>
          <a:solidFill>
            <a:srgbClr val="4a90e2">
              <a:alpha val="1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/>
          <p:nvPr/>
        </p:nvSpPr>
        <p:spPr>
          <a:xfrm>
            <a:off x="5615640" y="2289600"/>
            <a:ext cx="25200" cy="685440"/>
          </a:xfrm>
          <a:custGeom>
            <a:avLst/>
            <a:gdLst/>
            <a:ahLst/>
            <a:rect l="0" t="0" r="r" b="b"/>
            <a:pathLst>
              <a:path w="70" h="1904">
                <a:moveTo>
                  <a:pt x="0" y="0"/>
                </a:moveTo>
                <a:lnTo>
                  <a:pt x="70" y="0"/>
                </a:lnTo>
                <a:lnTo>
                  <a:pt x="70" y="1904"/>
                </a:lnTo>
                <a:lnTo>
                  <a:pt x="0" y="1904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5627880" y="3108600"/>
            <a:ext cx="4534200" cy="835920"/>
          </a:xfrm>
          <a:custGeom>
            <a:avLst/>
            <a:gdLst/>
            <a:ahLst/>
            <a:rect l="0" t="0" r="r" b="b"/>
            <a:pathLst>
              <a:path w="12595" h="2322">
                <a:moveTo>
                  <a:pt x="0" y="2322"/>
                </a:moveTo>
                <a:lnTo>
                  <a:pt x="0" y="0"/>
                </a:lnTo>
                <a:lnTo>
                  <a:pt x="12409" y="0"/>
                </a:lnTo>
                <a:cubicBezTo>
                  <a:pt x="12421" y="0"/>
                  <a:pt x="12433" y="1"/>
                  <a:pt x="12445" y="3"/>
                </a:cubicBezTo>
                <a:cubicBezTo>
                  <a:pt x="12457" y="6"/>
                  <a:pt x="12469" y="9"/>
                  <a:pt x="12480" y="14"/>
                </a:cubicBezTo>
                <a:cubicBezTo>
                  <a:pt x="12491" y="19"/>
                  <a:pt x="12502" y="24"/>
                  <a:pt x="12512" y="31"/>
                </a:cubicBezTo>
                <a:cubicBezTo>
                  <a:pt x="12522" y="38"/>
                  <a:pt x="12532" y="46"/>
                  <a:pt x="12540" y="54"/>
                </a:cubicBezTo>
                <a:cubicBezTo>
                  <a:pt x="12549" y="63"/>
                  <a:pt x="12556" y="72"/>
                  <a:pt x="12563" y="82"/>
                </a:cubicBezTo>
                <a:cubicBezTo>
                  <a:pt x="12570" y="92"/>
                  <a:pt x="12576" y="103"/>
                  <a:pt x="12580" y="114"/>
                </a:cubicBezTo>
                <a:cubicBezTo>
                  <a:pt x="12585" y="126"/>
                  <a:pt x="12589" y="137"/>
                  <a:pt x="12591" y="149"/>
                </a:cubicBezTo>
                <a:cubicBezTo>
                  <a:pt x="12593" y="161"/>
                  <a:pt x="12595" y="173"/>
                  <a:pt x="12595" y="185"/>
                </a:cubicBezTo>
                <a:lnTo>
                  <a:pt x="12595" y="2136"/>
                </a:lnTo>
                <a:cubicBezTo>
                  <a:pt x="12595" y="2149"/>
                  <a:pt x="12593" y="2161"/>
                  <a:pt x="12591" y="2173"/>
                </a:cubicBezTo>
                <a:cubicBezTo>
                  <a:pt x="12589" y="2185"/>
                  <a:pt x="12585" y="2196"/>
                  <a:pt x="12580" y="2207"/>
                </a:cubicBezTo>
                <a:cubicBezTo>
                  <a:pt x="12576" y="2219"/>
                  <a:pt x="12570" y="2229"/>
                  <a:pt x="12563" y="2240"/>
                </a:cubicBezTo>
                <a:cubicBezTo>
                  <a:pt x="12556" y="2250"/>
                  <a:pt x="12549" y="2259"/>
                  <a:pt x="12540" y="2268"/>
                </a:cubicBezTo>
                <a:cubicBezTo>
                  <a:pt x="12532" y="2276"/>
                  <a:pt x="12522" y="2284"/>
                  <a:pt x="12512" y="2291"/>
                </a:cubicBezTo>
                <a:cubicBezTo>
                  <a:pt x="12502" y="2298"/>
                  <a:pt x="12491" y="2303"/>
                  <a:pt x="12480" y="2308"/>
                </a:cubicBezTo>
                <a:cubicBezTo>
                  <a:pt x="12469" y="2313"/>
                  <a:pt x="12457" y="2316"/>
                  <a:pt x="12445" y="2318"/>
                </a:cubicBezTo>
                <a:cubicBezTo>
                  <a:pt x="12433" y="2321"/>
                  <a:pt x="12421" y="2322"/>
                  <a:pt x="12409" y="2322"/>
                </a:cubicBezTo>
                <a:lnTo>
                  <a:pt x="0" y="2322"/>
                </a:lnTo>
                <a:close/>
              </a:path>
            </a:pathLst>
          </a:custGeom>
          <a:solidFill>
            <a:srgbClr val="4a90e2">
              <a:alpha val="1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/>
          <p:nvPr/>
        </p:nvSpPr>
        <p:spPr>
          <a:xfrm>
            <a:off x="5615640" y="3108600"/>
            <a:ext cx="25200" cy="835920"/>
          </a:xfrm>
          <a:custGeom>
            <a:avLst/>
            <a:gdLst/>
            <a:ahLst/>
            <a:rect l="0" t="0" r="r" b="b"/>
            <a:pathLst>
              <a:path w="70" h="2322">
                <a:moveTo>
                  <a:pt x="0" y="0"/>
                </a:moveTo>
                <a:lnTo>
                  <a:pt x="70" y="0"/>
                </a:lnTo>
                <a:lnTo>
                  <a:pt x="70" y="2322"/>
                </a:lnTo>
                <a:lnTo>
                  <a:pt x="0" y="2322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5627880" y="4077720"/>
            <a:ext cx="4534200" cy="836280"/>
          </a:xfrm>
          <a:custGeom>
            <a:avLst/>
            <a:gdLst/>
            <a:ahLst/>
            <a:rect l="0" t="0" r="r" b="b"/>
            <a:pathLst>
              <a:path w="12595" h="2323">
                <a:moveTo>
                  <a:pt x="0" y="2323"/>
                </a:moveTo>
                <a:lnTo>
                  <a:pt x="0" y="0"/>
                </a:lnTo>
                <a:lnTo>
                  <a:pt x="12409" y="0"/>
                </a:lnTo>
                <a:cubicBezTo>
                  <a:pt x="12421" y="0"/>
                  <a:pt x="12433" y="2"/>
                  <a:pt x="12445" y="4"/>
                </a:cubicBezTo>
                <a:cubicBezTo>
                  <a:pt x="12457" y="6"/>
                  <a:pt x="12469" y="10"/>
                  <a:pt x="12480" y="15"/>
                </a:cubicBezTo>
                <a:cubicBezTo>
                  <a:pt x="12491" y="19"/>
                  <a:pt x="12502" y="25"/>
                  <a:pt x="12512" y="32"/>
                </a:cubicBezTo>
                <a:cubicBezTo>
                  <a:pt x="12522" y="39"/>
                  <a:pt x="12532" y="46"/>
                  <a:pt x="12540" y="55"/>
                </a:cubicBezTo>
                <a:cubicBezTo>
                  <a:pt x="12549" y="63"/>
                  <a:pt x="12556" y="73"/>
                  <a:pt x="12563" y="83"/>
                </a:cubicBezTo>
                <a:cubicBezTo>
                  <a:pt x="12570" y="93"/>
                  <a:pt x="12576" y="104"/>
                  <a:pt x="12580" y="115"/>
                </a:cubicBezTo>
                <a:cubicBezTo>
                  <a:pt x="12585" y="126"/>
                  <a:pt x="12589" y="138"/>
                  <a:pt x="12591" y="150"/>
                </a:cubicBezTo>
                <a:cubicBezTo>
                  <a:pt x="12593" y="162"/>
                  <a:pt x="12595" y="174"/>
                  <a:pt x="12595" y="186"/>
                </a:cubicBezTo>
                <a:lnTo>
                  <a:pt x="12595" y="2137"/>
                </a:lnTo>
                <a:cubicBezTo>
                  <a:pt x="12595" y="2149"/>
                  <a:pt x="12593" y="2161"/>
                  <a:pt x="12591" y="2173"/>
                </a:cubicBezTo>
                <a:cubicBezTo>
                  <a:pt x="12589" y="2185"/>
                  <a:pt x="12585" y="2197"/>
                  <a:pt x="12580" y="2208"/>
                </a:cubicBezTo>
                <a:cubicBezTo>
                  <a:pt x="12576" y="2219"/>
                  <a:pt x="12570" y="2230"/>
                  <a:pt x="12563" y="2240"/>
                </a:cubicBezTo>
                <a:cubicBezTo>
                  <a:pt x="12556" y="2250"/>
                  <a:pt x="12549" y="2260"/>
                  <a:pt x="12540" y="2268"/>
                </a:cubicBezTo>
                <a:cubicBezTo>
                  <a:pt x="12532" y="2277"/>
                  <a:pt x="12522" y="2285"/>
                  <a:pt x="12512" y="2291"/>
                </a:cubicBezTo>
                <a:cubicBezTo>
                  <a:pt x="12502" y="2298"/>
                  <a:pt x="12491" y="2304"/>
                  <a:pt x="12480" y="2309"/>
                </a:cubicBezTo>
                <a:cubicBezTo>
                  <a:pt x="12469" y="2313"/>
                  <a:pt x="12457" y="2317"/>
                  <a:pt x="12445" y="2319"/>
                </a:cubicBezTo>
                <a:cubicBezTo>
                  <a:pt x="12433" y="2322"/>
                  <a:pt x="12421" y="2323"/>
                  <a:pt x="12409" y="2323"/>
                </a:cubicBezTo>
                <a:lnTo>
                  <a:pt x="0" y="2323"/>
                </a:lnTo>
                <a:close/>
              </a:path>
            </a:pathLst>
          </a:custGeom>
          <a:solidFill>
            <a:srgbClr val="4a90e2">
              <a:alpha val="1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/>
          <p:nvPr/>
        </p:nvSpPr>
        <p:spPr>
          <a:xfrm>
            <a:off x="5615640" y="4077720"/>
            <a:ext cx="25200" cy="836280"/>
          </a:xfrm>
          <a:custGeom>
            <a:avLst/>
            <a:gdLst/>
            <a:ahLst/>
            <a:rect l="0" t="0" r="r" b="b"/>
            <a:pathLst>
              <a:path w="70" h="2323">
                <a:moveTo>
                  <a:pt x="0" y="0"/>
                </a:moveTo>
                <a:lnTo>
                  <a:pt x="70" y="0"/>
                </a:lnTo>
                <a:lnTo>
                  <a:pt x="70" y="2323"/>
                </a:lnTo>
                <a:lnTo>
                  <a:pt x="0" y="2323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641" name="" descr=""/>
          <p:cNvPicPr/>
          <p:nvPr/>
        </p:nvPicPr>
        <p:blipFill>
          <a:blip r:embed="rId7"/>
          <a:stretch/>
        </p:blipFill>
        <p:spPr>
          <a:xfrm>
            <a:off x="5615640" y="106956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2" name=""/>
          <p:cNvSpPr txBox="1"/>
          <p:nvPr/>
        </p:nvSpPr>
        <p:spPr>
          <a:xfrm>
            <a:off x="986040" y="3779640"/>
            <a:ext cx="13586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cd34d"/>
                </a:solidFill>
                <a:effectLst/>
                <a:uFillTx/>
                <a:latin typeface="NotoSansJP"/>
                <a:ea typeface="NotoSansJP"/>
              </a:rPr>
              <a:t>基盤技術</a:t>
            </a:r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として期待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/>
          <p:nvPr/>
        </p:nvSpPr>
        <p:spPr>
          <a:xfrm>
            <a:off x="5774400" y="1604160"/>
            <a:ext cx="417960" cy="418320"/>
          </a:xfrm>
          <a:custGeom>
            <a:avLst/>
            <a:gdLst/>
            <a:ahLst/>
            <a:rect l="0" t="0" r="r" b="b"/>
            <a:pathLst>
              <a:path w="1161" h="1162">
                <a:moveTo>
                  <a:pt x="1161" y="581"/>
                </a:moveTo>
                <a:cubicBezTo>
                  <a:pt x="1161" y="600"/>
                  <a:pt x="1160" y="619"/>
                  <a:pt x="1159" y="638"/>
                </a:cubicBezTo>
                <a:cubicBezTo>
                  <a:pt x="1157" y="657"/>
                  <a:pt x="1154" y="675"/>
                  <a:pt x="1150" y="694"/>
                </a:cubicBezTo>
                <a:cubicBezTo>
                  <a:pt x="1147" y="713"/>
                  <a:pt x="1142" y="731"/>
                  <a:pt x="1136" y="749"/>
                </a:cubicBezTo>
                <a:cubicBezTo>
                  <a:pt x="1131" y="768"/>
                  <a:pt x="1124" y="786"/>
                  <a:pt x="1117" y="804"/>
                </a:cubicBezTo>
                <a:cubicBezTo>
                  <a:pt x="1110" y="821"/>
                  <a:pt x="1102" y="839"/>
                  <a:pt x="1093" y="855"/>
                </a:cubicBezTo>
                <a:cubicBezTo>
                  <a:pt x="1084" y="872"/>
                  <a:pt x="1074" y="888"/>
                  <a:pt x="1064" y="904"/>
                </a:cubicBezTo>
                <a:cubicBezTo>
                  <a:pt x="1053" y="920"/>
                  <a:pt x="1042" y="935"/>
                  <a:pt x="1030" y="950"/>
                </a:cubicBezTo>
                <a:cubicBezTo>
                  <a:pt x="1018" y="965"/>
                  <a:pt x="1005" y="979"/>
                  <a:pt x="991" y="992"/>
                </a:cubicBezTo>
                <a:cubicBezTo>
                  <a:pt x="978" y="1006"/>
                  <a:pt x="964" y="1018"/>
                  <a:pt x="949" y="1030"/>
                </a:cubicBezTo>
                <a:cubicBezTo>
                  <a:pt x="935" y="1042"/>
                  <a:pt x="919" y="1054"/>
                  <a:pt x="903" y="1064"/>
                </a:cubicBezTo>
                <a:cubicBezTo>
                  <a:pt x="888" y="1075"/>
                  <a:pt x="871" y="1085"/>
                  <a:pt x="855" y="1094"/>
                </a:cubicBezTo>
                <a:cubicBezTo>
                  <a:pt x="838" y="1102"/>
                  <a:pt x="821" y="1111"/>
                  <a:pt x="803" y="1118"/>
                </a:cubicBezTo>
                <a:cubicBezTo>
                  <a:pt x="786" y="1125"/>
                  <a:pt x="767" y="1132"/>
                  <a:pt x="749" y="1137"/>
                </a:cubicBezTo>
                <a:cubicBezTo>
                  <a:pt x="730" y="1143"/>
                  <a:pt x="712" y="1147"/>
                  <a:pt x="693" y="1151"/>
                </a:cubicBezTo>
                <a:cubicBezTo>
                  <a:pt x="675" y="1155"/>
                  <a:pt x="656" y="1157"/>
                  <a:pt x="637" y="1159"/>
                </a:cubicBezTo>
                <a:cubicBezTo>
                  <a:pt x="618" y="1161"/>
                  <a:pt x="599" y="1162"/>
                  <a:pt x="580" y="1162"/>
                </a:cubicBezTo>
                <a:cubicBezTo>
                  <a:pt x="561" y="1162"/>
                  <a:pt x="542" y="1161"/>
                  <a:pt x="523" y="1159"/>
                </a:cubicBezTo>
                <a:cubicBezTo>
                  <a:pt x="504" y="1157"/>
                  <a:pt x="485" y="1155"/>
                  <a:pt x="467" y="1151"/>
                </a:cubicBezTo>
                <a:cubicBezTo>
                  <a:pt x="448" y="1147"/>
                  <a:pt x="430" y="1143"/>
                  <a:pt x="412" y="1137"/>
                </a:cubicBezTo>
                <a:cubicBezTo>
                  <a:pt x="393" y="1132"/>
                  <a:pt x="376" y="1125"/>
                  <a:pt x="358" y="1118"/>
                </a:cubicBezTo>
                <a:cubicBezTo>
                  <a:pt x="340" y="1111"/>
                  <a:pt x="323" y="1102"/>
                  <a:pt x="306" y="1094"/>
                </a:cubicBezTo>
                <a:cubicBezTo>
                  <a:pt x="290" y="1085"/>
                  <a:pt x="273" y="1075"/>
                  <a:pt x="258" y="1064"/>
                </a:cubicBezTo>
                <a:cubicBezTo>
                  <a:pt x="242" y="1054"/>
                  <a:pt x="227" y="1042"/>
                  <a:pt x="212" y="1030"/>
                </a:cubicBezTo>
                <a:cubicBezTo>
                  <a:pt x="197" y="1018"/>
                  <a:pt x="183" y="1006"/>
                  <a:pt x="170" y="992"/>
                </a:cubicBezTo>
                <a:cubicBezTo>
                  <a:pt x="156" y="979"/>
                  <a:pt x="144" y="965"/>
                  <a:pt x="131" y="950"/>
                </a:cubicBezTo>
                <a:cubicBezTo>
                  <a:pt x="119" y="935"/>
                  <a:pt x="108" y="920"/>
                  <a:pt x="98" y="904"/>
                </a:cubicBezTo>
                <a:cubicBezTo>
                  <a:pt x="87" y="888"/>
                  <a:pt x="77" y="872"/>
                  <a:pt x="68" y="855"/>
                </a:cubicBezTo>
                <a:cubicBezTo>
                  <a:pt x="59" y="839"/>
                  <a:pt x="51" y="821"/>
                  <a:pt x="44" y="804"/>
                </a:cubicBezTo>
                <a:cubicBezTo>
                  <a:pt x="37" y="786"/>
                  <a:pt x="30" y="768"/>
                  <a:pt x="25" y="749"/>
                </a:cubicBezTo>
                <a:cubicBezTo>
                  <a:pt x="19" y="731"/>
                  <a:pt x="15" y="713"/>
                  <a:pt x="11" y="694"/>
                </a:cubicBezTo>
                <a:cubicBezTo>
                  <a:pt x="7" y="675"/>
                  <a:pt x="4" y="657"/>
                  <a:pt x="3" y="638"/>
                </a:cubicBezTo>
                <a:cubicBezTo>
                  <a:pt x="1" y="619"/>
                  <a:pt x="0" y="600"/>
                  <a:pt x="0" y="581"/>
                </a:cubicBezTo>
                <a:cubicBezTo>
                  <a:pt x="0" y="562"/>
                  <a:pt x="1" y="543"/>
                  <a:pt x="3" y="524"/>
                </a:cubicBezTo>
                <a:cubicBezTo>
                  <a:pt x="4" y="505"/>
                  <a:pt x="7" y="486"/>
                  <a:pt x="11" y="468"/>
                </a:cubicBezTo>
                <a:cubicBezTo>
                  <a:pt x="15" y="449"/>
                  <a:pt x="19" y="430"/>
                  <a:pt x="25" y="412"/>
                </a:cubicBezTo>
                <a:cubicBezTo>
                  <a:pt x="30" y="394"/>
                  <a:pt x="37" y="376"/>
                  <a:pt x="44" y="359"/>
                </a:cubicBezTo>
                <a:cubicBezTo>
                  <a:pt x="51" y="341"/>
                  <a:pt x="59" y="324"/>
                  <a:pt x="68" y="307"/>
                </a:cubicBezTo>
                <a:cubicBezTo>
                  <a:pt x="77" y="290"/>
                  <a:pt x="87" y="274"/>
                  <a:pt x="98" y="258"/>
                </a:cubicBezTo>
                <a:cubicBezTo>
                  <a:pt x="108" y="243"/>
                  <a:pt x="119" y="227"/>
                  <a:pt x="131" y="213"/>
                </a:cubicBezTo>
                <a:cubicBezTo>
                  <a:pt x="144" y="198"/>
                  <a:pt x="156" y="184"/>
                  <a:pt x="170" y="170"/>
                </a:cubicBezTo>
                <a:cubicBezTo>
                  <a:pt x="183" y="157"/>
                  <a:pt x="197" y="144"/>
                  <a:pt x="212" y="132"/>
                </a:cubicBezTo>
                <a:cubicBezTo>
                  <a:pt x="227" y="120"/>
                  <a:pt x="242" y="109"/>
                  <a:pt x="258" y="98"/>
                </a:cubicBezTo>
                <a:cubicBezTo>
                  <a:pt x="273" y="88"/>
                  <a:pt x="290" y="78"/>
                  <a:pt x="306" y="69"/>
                </a:cubicBezTo>
                <a:cubicBezTo>
                  <a:pt x="323" y="60"/>
                  <a:pt x="340" y="52"/>
                  <a:pt x="358" y="45"/>
                </a:cubicBezTo>
                <a:cubicBezTo>
                  <a:pt x="376" y="37"/>
                  <a:pt x="393" y="31"/>
                  <a:pt x="412" y="25"/>
                </a:cubicBezTo>
                <a:cubicBezTo>
                  <a:pt x="430" y="20"/>
                  <a:pt x="448" y="15"/>
                  <a:pt x="467" y="12"/>
                </a:cubicBezTo>
                <a:cubicBezTo>
                  <a:pt x="485" y="8"/>
                  <a:pt x="504" y="5"/>
                  <a:pt x="523" y="3"/>
                </a:cubicBezTo>
                <a:cubicBezTo>
                  <a:pt x="542" y="1"/>
                  <a:pt x="561" y="0"/>
                  <a:pt x="580" y="0"/>
                </a:cubicBezTo>
                <a:cubicBezTo>
                  <a:pt x="599" y="0"/>
                  <a:pt x="618" y="1"/>
                  <a:pt x="637" y="3"/>
                </a:cubicBezTo>
                <a:cubicBezTo>
                  <a:pt x="656" y="5"/>
                  <a:pt x="675" y="8"/>
                  <a:pt x="693" y="12"/>
                </a:cubicBezTo>
                <a:cubicBezTo>
                  <a:pt x="712" y="15"/>
                  <a:pt x="730" y="20"/>
                  <a:pt x="749" y="25"/>
                </a:cubicBezTo>
                <a:cubicBezTo>
                  <a:pt x="767" y="31"/>
                  <a:pt x="786" y="37"/>
                  <a:pt x="803" y="45"/>
                </a:cubicBezTo>
                <a:cubicBezTo>
                  <a:pt x="821" y="52"/>
                  <a:pt x="838" y="60"/>
                  <a:pt x="855" y="69"/>
                </a:cubicBezTo>
                <a:cubicBezTo>
                  <a:pt x="871" y="78"/>
                  <a:pt x="888" y="88"/>
                  <a:pt x="903" y="98"/>
                </a:cubicBezTo>
                <a:cubicBezTo>
                  <a:pt x="919" y="109"/>
                  <a:pt x="935" y="120"/>
                  <a:pt x="949" y="132"/>
                </a:cubicBezTo>
                <a:cubicBezTo>
                  <a:pt x="964" y="144"/>
                  <a:pt x="978" y="157"/>
                  <a:pt x="991" y="170"/>
                </a:cubicBezTo>
                <a:cubicBezTo>
                  <a:pt x="1005" y="184"/>
                  <a:pt x="1018" y="198"/>
                  <a:pt x="1030" y="213"/>
                </a:cubicBezTo>
                <a:cubicBezTo>
                  <a:pt x="1042" y="227"/>
                  <a:pt x="1053" y="243"/>
                  <a:pt x="1064" y="258"/>
                </a:cubicBezTo>
                <a:cubicBezTo>
                  <a:pt x="1074" y="274"/>
                  <a:pt x="1084" y="290"/>
                  <a:pt x="1093" y="307"/>
                </a:cubicBezTo>
                <a:cubicBezTo>
                  <a:pt x="1102" y="324"/>
                  <a:pt x="1110" y="341"/>
                  <a:pt x="1117" y="359"/>
                </a:cubicBezTo>
                <a:cubicBezTo>
                  <a:pt x="1124" y="376"/>
                  <a:pt x="1131" y="394"/>
                  <a:pt x="1136" y="412"/>
                </a:cubicBezTo>
                <a:cubicBezTo>
                  <a:pt x="1142" y="430"/>
                  <a:pt x="1147" y="449"/>
                  <a:pt x="1150" y="468"/>
                </a:cubicBezTo>
                <a:cubicBezTo>
                  <a:pt x="1154" y="486"/>
                  <a:pt x="1157" y="505"/>
                  <a:pt x="1159" y="524"/>
                </a:cubicBezTo>
                <a:cubicBezTo>
                  <a:pt x="1160" y="543"/>
                  <a:pt x="1161" y="562"/>
                  <a:pt x="1161" y="581"/>
                </a:cubicBezTo>
                <a:close/>
              </a:path>
            </a:pathLst>
          </a:custGeom>
          <a:solidFill>
            <a:srgbClr val="4a90e2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644" name="" descr=""/>
          <p:cNvPicPr/>
          <p:nvPr/>
        </p:nvPicPr>
        <p:blipFill>
          <a:blip r:embed="rId8"/>
          <a:stretch/>
        </p:blipFill>
        <p:spPr>
          <a:xfrm>
            <a:off x="5857920" y="1713240"/>
            <a:ext cx="25020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5" name=""/>
          <p:cNvSpPr txBox="1"/>
          <p:nvPr/>
        </p:nvSpPr>
        <p:spPr>
          <a:xfrm>
            <a:off x="5916600" y="1067400"/>
            <a:ext cx="1006560" cy="29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580" strike="noStrike" u="none">
                <a:solidFill>
                  <a:srgbClr val="93c5fd"/>
                </a:solidFill>
                <a:effectLst/>
                <a:uFillTx/>
                <a:latin typeface="NotoSansJP"/>
                <a:ea typeface="NotoSansJP"/>
              </a:rPr>
              <a:t>今後の展望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 txBox="1"/>
          <p:nvPr/>
        </p:nvSpPr>
        <p:spPr>
          <a:xfrm>
            <a:off x="6325920" y="1639080"/>
            <a:ext cx="26830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複数人物‧複数物体のインタラクション対応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>
            <a:off x="5774400" y="2423160"/>
            <a:ext cx="417960" cy="418320"/>
          </a:xfrm>
          <a:custGeom>
            <a:avLst/>
            <a:gdLst/>
            <a:ahLst/>
            <a:rect l="0" t="0" r="r" b="b"/>
            <a:pathLst>
              <a:path w="1161" h="1162">
                <a:moveTo>
                  <a:pt x="1161" y="581"/>
                </a:moveTo>
                <a:cubicBezTo>
                  <a:pt x="1161" y="600"/>
                  <a:pt x="1160" y="619"/>
                  <a:pt x="1159" y="637"/>
                </a:cubicBezTo>
                <a:cubicBezTo>
                  <a:pt x="1157" y="656"/>
                  <a:pt x="1154" y="675"/>
                  <a:pt x="1150" y="694"/>
                </a:cubicBezTo>
                <a:cubicBezTo>
                  <a:pt x="1147" y="712"/>
                  <a:pt x="1142" y="731"/>
                  <a:pt x="1136" y="749"/>
                </a:cubicBezTo>
                <a:cubicBezTo>
                  <a:pt x="1131" y="767"/>
                  <a:pt x="1124" y="785"/>
                  <a:pt x="1117" y="803"/>
                </a:cubicBezTo>
                <a:cubicBezTo>
                  <a:pt x="1110" y="821"/>
                  <a:pt x="1102" y="838"/>
                  <a:pt x="1093" y="855"/>
                </a:cubicBezTo>
                <a:cubicBezTo>
                  <a:pt x="1084" y="872"/>
                  <a:pt x="1074" y="888"/>
                  <a:pt x="1064" y="904"/>
                </a:cubicBezTo>
                <a:cubicBezTo>
                  <a:pt x="1053" y="920"/>
                  <a:pt x="1042" y="935"/>
                  <a:pt x="1030" y="950"/>
                </a:cubicBezTo>
                <a:cubicBezTo>
                  <a:pt x="1018" y="964"/>
                  <a:pt x="1005" y="979"/>
                  <a:pt x="991" y="992"/>
                </a:cubicBezTo>
                <a:cubicBezTo>
                  <a:pt x="978" y="1005"/>
                  <a:pt x="964" y="1018"/>
                  <a:pt x="949" y="1030"/>
                </a:cubicBezTo>
                <a:cubicBezTo>
                  <a:pt x="935" y="1042"/>
                  <a:pt x="919" y="1054"/>
                  <a:pt x="903" y="1064"/>
                </a:cubicBezTo>
                <a:cubicBezTo>
                  <a:pt x="888" y="1075"/>
                  <a:pt x="871" y="1084"/>
                  <a:pt x="855" y="1093"/>
                </a:cubicBezTo>
                <a:cubicBezTo>
                  <a:pt x="838" y="1102"/>
                  <a:pt x="821" y="1110"/>
                  <a:pt x="803" y="1118"/>
                </a:cubicBezTo>
                <a:cubicBezTo>
                  <a:pt x="786" y="1125"/>
                  <a:pt x="767" y="1131"/>
                  <a:pt x="749" y="1137"/>
                </a:cubicBezTo>
                <a:cubicBezTo>
                  <a:pt x="730" y="1142"/>
                  <a:pt x="712" y="1147"/>
                  <a:pt x="693" y="1151"/>
                </a:cubicBezTo>
                <a:cubicBezTo>
                  <a:pt x="675" y="1154"/>
                  <a:pt x="656" y="1157"/>
                  <a:pt x="637" y="1159"/>
                </a:cubicBezTo>
                <a:cubicBezTo>
                  <a:pt x="618" y="1161"/>
                  <a:pt x="599" y="1162"/>
                  <a:pt x="580" y="1162"/>
                </a:cubicBezTo>
                <a:cubicBezTo>
                  <a:pt x="561" y="1162"/>
                  <a:pt x="542" y="1161"/>
                  <a:pt x="523" y="1159"/>
                </a:cubicBezTo>
                <a:cubicBezTo>
                  <a:pt x="504" y="1157"/>
                  <a:pt x="485" y="1154"/>
                  <a:pt x="467" y="1151"/>
                </a:cubicBezTo>
                <a:cubicBezTo>
                  <a:pt x="448" y="1147"/>
                  <a:pt x="430" y="1142"/>
                  <a:pt x="412" y="1137"/>
                </a:cubicBezTo>
                <a:cubicBezTo>
                  <a:pt x="393" y="1131"/>
                  <a:pt x="376" y="1125"/>
                  <a:pt x="358" y="1118"/>
                </a:cubicBezTo>
                <a:cubicBezTo>
                  <a:pt x="340" y="1110"/>
                  <a:pt x="323" y="1102"/>
                  <a:pt x="306" y="1093"/>
                </a:cubicBezTo>
                <a:cubicBezTo>
                  <a:pt x="290" y="1084"/>
                  <a:pt x="273" y="1075"/>
                  <a:pt x="258" y="1064"/>
                </a:cubicBezTo>
                <a:cubicBezTo>
                  <a:pt x="242" y="1054"/>
                  <a:pt x="227" y="1042"/>
                  <a:pt x="212" y="1030"/>
                </a:cubicBezTo>
                <a:cubicBezTo>
                  <a:pt x="197" y="1018"/>
                  <a:pt x="183" y="1005"/>
                  <a:pt x="170" y="992"/>
                </a:cubicBezTo>
                <a:cubicBezTo>
                  <a:pt x="156" y="979"/>
                  <a:pt x="144" y="964"/>
                  <a:pt x="131" y="950"/>
                </a:cubicBezTo>
                <a:cubicBezTo>
                  <a:pt x="119" y="935"/>
                  <a:pt x="108" y="920"/>
                  <a:pt x="98" y="904"/>
                </a:cubicBezTo>
                <a:cubicBezTo>
                  <a:pt x="87" y="888"/>
                  <a:pt x="77" y="872"/>
                  <a:pt x="68" y="855"/>
                </a:cubicBezTo>
                <a:cubicBezTo>
                  <a:pt x="59" y="838"/>
                  <a:pt x="51" y="821"/>
                  <a:pt x="44" y="803"/>
                </a:cubicBezTo>
                <a:cubicBezTo>
                  <a:pt x="37" y="785"/>
                  <a:pt x="30" y="767"/>
                  <a:pt x="25" y="749"/>
                </a:cubicBezTo>
                <a:cubicBezTo>
                  <a:pt x="19" y="731"/>
                  <a:pt x="15" y="712"/>
                  <a:pt x="11" y="694"/>
                </a:cubicBezTo>
                <a:cubicBezTo>
                  <a:pt x="7" y="675"/>
                  <a:pt x="4" y="656"/>
                  <a:pt x="3" y="637"/>
                </a:cubicBezTo>
                <a:cubicBezTo>
                  <a:pt x="1" y="619"/>
                  <a:pt x="0" y="600"/>
                  <a:pt x="0" y="581"/>
                </a:cubicBezTo>
                <a:cubicBezTo>
                  <a:pt x="0" y="562"/>
                  <a:pt x="1" y="543"/>
                  <a:pt x="3" y="524"/>
                </a:cubicBezTo>
                <a:cubicBezTo>
                  <a:pt x="4" y="505"/>
                  <a:pt x="7" y="486"/>
                  <a:pt x="11" y="467"/>
                </a:cubicBezTo>
                <a:cubicBezTo>
                  <a:pt x="15" y="449"/>
                  <a:pt x="19" y="430"/>
                  <a:pt x="25" y="412"/>
                </a:cubicBezTo>
                <a:cubicBezTo>
                  <a:pt x="30" y="394"/>
                  <a:pt x="37" y="376"/>
                  <a:pt x="44" y="359"/>
                </a:cubicBezTo>
                <a:cubicBezTo>
                  <a:pt x="51" y="341"/>
                  <a:pt x="59" y="324"/>
                  <a:pt x="68" y="307"/>
                </a:cubicBezTo>
                <a:cubicBezTo>
                  <a:pt x="77" y="290"/>
                  <a:pt x="87" y="274"/>
                  <a:pt x="98" y="258"/>
                </a:cubicBezTo>
                <a:cubicBezTo>
                  <a:pt x="108" y="242"/>
                  <a:pt x="119" y="227"/>
                  <a:pt x="131" y="212"/>
                </a:cubicBezTo>
                <a:cubicBezTo>
                  <a:pt x="144" y="198"/>
                  <a:pt x="156" y="184"/>
                  <a:pt x="170" y="170"/>
                </a:cubicBezTo>
                <a:cubicBezTo>
                  <a:pt x="183" y="157"/>
                  <a:pt x="197" y="144"/>
                  <a:pt x="212" y="132"/>
                </a:cubicBezTo>
                <a:cubicBezTo>
                  <a:pt x="227" y="120"/>
                  <a:pt x="242" y="109"/>
                  <a:pt x="258" y="98"/>
                </a:cubicBezTo>
                <a:cubicBezTo>
                  <a:pt x="273" y="88"/>
                  <a:pt x="290" y="78"/>
                  <a:pt x="306" y="69"/>
                </a:cubicBezTo>
                <a:cubicBezTo>
                  <a:pt x="323" y="60"/>
                  <a:pt x="340" y="52"/>
                  <a:pt x="358" y="44"/>
                </a:cubicBezTo>
                <a:cubicBezTo>
                  <a:pt x="376" y="37"/>
                  <a:pt x="393" y="31"/>
                  <a:pt x="412" y="25"/>
                </a:cubicBezTo>
                <a:cubicBezTo>
                  <a:pt x="430" y="20"/>
                  <a:pt x="448" y="15"/>
                  <a:pt x="467" y="11"/>
                </a:cubicBezTo>
                <a:cubicBezTo>
                  <a:pt x="485" y="8"/>
                  <a:pt x="504" y="5"/>
                  <a:pt x="523" y="3"/>
                </a:cubicBezTo>
                <a:cubicBezTo>
                  <a:pt x="542" y="1"/>
                  <a:pt x="561" y="0"/>
                  <a:pt x="580" y="0"/>
                </a:cubicBezTo>
                <a:cubicBezTo>
                  <a:pt x="599" y="0"/>
                  <a:pt x="618" y="1"/>
                  <a:pt x="637" y="3"/>
                </a:cubicBezTo>
                <a:cubicBezTo>
                  <a:pt x="656" y="5"/>
                  <a:pt x="675" y="8"/>
                  <a:pt x="693" y="11"/>
                </a:cubicBezTo>
                <a:cubicBezTo>
                  <a:pt x="712" y="15"/>
                  <a:pt x="730" y="20"/>
                  <a:pt x="749" y="25"/>
                </a:cubicBezTo>
                <a:cubicBezTo>
                  <a:pt x="767" y="31"/>
                  <a:pt x="786" y="37"/>
                  <a:pt x="803" y="44"/>
                </a:cubicBezTo>
                <a:cubicBezTo>
                  <a:pt x="821" y="52"/>
                  <a:pt x="838" y="60"/>
                  <a:pt x="855" y="69"/>
                </a:cubicBezTo>
                <a:cubicBezTo>
                  <a:pt x="871" y="78"/>
                  <a:pt x="888" y="88"/>
                  <a:pt x="903" y="98"/>
                </a:cubicBezTo>
                <a:cubicBezTo>
                  <a:pt x="919" y="109"/>
                  <a:pt x="935" y="120"/>
                  <a:pt x="949" y="132"/>
                </a:cubicBezTo>
                <a:cubicBezTo>
                  <a:pt x="964" y="144"/>
                  <a:pt x="978" y="157"/>
                  <a:pt x="991" y="170"/>
                </a:cubicBezTo>
                <a:cubicBezTo>
                  <a:pt x="1005" y="184"/>
                  <a:pt x="1018" y="198"/>
                  <a:pt x="1030" y="212"/>
                </a:cubicBezTo>
                <a:cubicBezTo>
                  <a:pt x="1042" y="227"/>
                  <a:pt x="1053" y="242"/>
                  <a:pt x="1064" y="258"/>
                </a:cubicBezTo>
                <a:cubicBezTo>
                  <a:pt x="1074" y="274"/>
                  <a:pt x="1084" y="290"/>
                  <a:pt x="1093" y="307"/>
                </a:cubicBezTo>
                <a:cubicBezTo>
                  <a:pt x="1102" y="324"/>
                  <a:pt x="1110" y="341"/>
                  <a:pt x="1117" y="359"/>
                </a:cubicBezTo>
                <a:cubicBezTo>
                  <a:pt x="1124" y="376"/>
                  <a:pt x="1131" y="394"/>
                  <a:pt x="1136" y="412"/>
                </a:cubicBezTo>
                <a:cubicBezTo>
                  <a:pt x="1142" y="430"/>
                  <a:pt x="1147" y="449"/>
                  <a:pt x="1150" y="467"/>
                </a:cubicBezTo>
                <a:cubicBezTo>
                  <a:pt x="1154" y="486"/>
                  <a:pt x="1157" y="505"/>
                  <a:pt x="1159" y="524"/>
                </a:cubicBezTo>
                <a:cubicBezTo>
                  <a:pt x="1160" y="543"/>
                  <a:pt x="1161" y="562"/>
                  <a:pt x="1161" y="581"/>
                </a:cubicBezTo>
                <a:close/>
              </a:path>
            </a:pathLst>
          </a:custGeom>
          <a:solidFill>
            <a:srgbClr val="4a90e2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648" name="" descr=""/>
          <p:cNvPicPr/>
          <p:nvPr/>
        </p:nvPicPr>
        <p:blipFill>
          <a:blip r:embed="rId9"/>
          <a:stretch/>
        </p:blipFill>
        <p:spPr>
          <a:xfrm>
            <a:off x="5883120" y="253224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9" name=""/>
          <p:cNvSpPr txBox="1"/>
          <p:nvPr/>
        </p:nvSpPr>
        <p:spPr>
          <a:xfrm>
            <a:off x="6325920" y="1863720"/>
            <a:ext cx="36385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複数の所有者や荷物間の複雑な関係性をモデル化し、対応範囲を拡大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 txBox="1"/>
          <p:nvPr/>
        </p:nvSpPr>
        <p:spPr>
          <a:xfrm>
            <a:off x="6325920" y="2458080"/>
            <a:ext cx="17442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高度な行動認識モデルの導入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5774400" y="3242160"/>
            <a:ext cx="417960" cy="418320"/>
          </a:xfrm>
          <a:custGeom>
            <a:avLst/>
            <a:gdLst/>
            <a:ahLst/>
            <a:rect l="0" t="0" r="r" b="b"/>
            <a:pathLst>
              <a:path w="1161" h="1162">
                <a:moveTo>
                  <a:pt x="1161" y="580"/>
                </a:moveTo>
                <a:cubicBezTo>
                  <a:pt x="1161" y="599"/>
                  <a:pt x="1160" y="618"/>
                  <a:pt x="1159" y="637"/>
                </a:cubicBezTo>
                <a:cubicBezTo>
                  <a:pt x="1157" y="656"/>
                  <a:pt x="1154" y="675"/>
                  <a:pt x="1150" y="694"/>
                </a:cubicBezTo>
                <a:cubicBezTo>
                  <a:pt x="1147" y="712"/>
                  <a:pt x="1142" y="731"/>
                  <a:pt x="1136" y="749"/>
                </a:cubicBezTo>
                <a:cubicBezTo>
                  <a:pt x="1131" y="767"/>
                  <a:pt x="1124" y="785"/>
                  <a:pt x="1117" y="803"/>
                </a:cubicBezTo>
                <a:cubicBezTo>
                  <a:pt x="1110" y="820"/>
                  <a:pt x="1102" y="837"/>
                  <a:pt x="1093" y="855"/>
                </a:cubicBezTo>
                <a:cubicBezTo>
                  <a:pt x="1084" y="872"/>
                  <a:pt x="1074" y="888"/>
                  <a:pt x="1064" y="904"/>
                </a:cubicBezTo>
                <a:cubicBezTo>
                  <a:pt x="1053" y="920"/>
                  <a:pt x="1042" y="935"/>
                  <a:pt x="1030" y="950"/>
                </a:cubicBezTo>
                <a:cubicBezTo>
                  <a:pt x="1018" y="964"/>
                  <a:pt x="1005" y="978"/>
                  <a:pt x="991" y="992"/>
                </a:cubicBezTo>
                <a:cubicBezTo>
                  <a:pt x="978" y="1005"/>
                  <a:pt x="964" y="1018"/>
                  <a:pt x="949" y="1030"/>
                </a:cubicBezTo>
                <a:cubicBezTo>
                  <a:pt x="935" y="1042"/>
                  <a:pt x="919" y="1053"/>
                  <a:pt x="903" y="1064"/>
                </a:cubicBezTo>
                <a:cubicBezTo>
                  <a:pt x="888" y="1075"/>
                  <a:pt x="871" y="1084"/>
                  <a:pt x="855" y="1093"/>
                </a:cubicBezTo>
                <a:cubicBezTo>
                  <a:pt x="838" y="1102"/>
                  <a:pt x="821" y="1110"/>
                  <a:pt x="803" y="1118"/>
                </a:cubicBezTo>
                <a:cubicBezTo>
                  <a:pt x="786" y="1125"/>
                  <a:pt x="767" y="1131"/>
                  <a:pt x="749" y="1137"/>
                </a:cubicBezTo>
                <a:cubicBezTo>
                  <a:pt x="730" y="1142"/>
                  <a:pt x="712" y="1147"/>
                  <a:pt x="693" y="1151"/>
                </a:cubicBezTo>
                <a:cubicBezTo>
                  <a:pt x="675" y="1154"/>
                  <a:pt x="656" y="1157"/>
                  <a:pt x="637" y="1159"/>
                </a:cubicBezTo>
                <a:cubicBezTo>
                  <a:pt x="618" y="1161"/>
                  <a:pt x="599" y="1162"/>
                  <a:pt x="580" y="1162"/>
                </a:cubicBezTo>
                <a:cubicBezTo>
                  <a:pt x="561" y="1162"/>
                  <a:pt x="542" y="1161"/>
                  <a:pt x="523" y="1159"/>
                </a:cubicBezTo>
                <a:cubicBezTo>
                  <a:pt x="504" y="1157"/>
                  <a:pt x="485" y="1154"/>
                  <a:pt x="467" y="1151"/>
                </a:cubicBezTo>
                <a:cubicBezTo>
                  <a:pt x="448" y="1147"/>
                  <a:pt x="430" y="1142"/>
                  <a:pt x="412" y="1137"/>
                </a:cubicBezTo>
                <a:cubicBezTo>
                  <a:pt x="393" y="1131"/>
                  <a:pt x="376" y="1125"/>
                  <a:pt x="358" y="1118"/>
                </a:cubicBezTo>
                <a:cubicBezTo>
                  <a:pt x="340" y="1110"/>
                  <a:pt x="323" y="1102"/>
                  <a:pt x="306" y="1093"/>
                </a:cubicBezTo>
                <a:cubicBezTo>
                  <a:pt x="290" y="1084"/>
                  <a:pt x="273" y="1075"/>
                  <a:pt x="258" y="1064"/>
                </a:cubicBezTo>
                <a:cubicBezTo>
                  <a:pt x="242" y="1053"/>
                  <a:pt x="227" y="1042"/>
                  <a:pt x="212" y="1030"/>
                </a:cubicBezTo>
                <a:cubicBezTo>
                  <a:pt x="197" y="1018"/>
                  <a:pt x="183" y="1005"/>
                  <a:pt x="170" y="992"/>
                </a:cubicBezTo>
                <a:cubicBezTo>
                  <a:pt x="156" y="978"/>
                  <a:pt x="144" y="964"/>
                  <a:pt x="131" y="950"/>
                </a:cubicBezTo>
                <a:cubicBezTo>
                  <a:pt x="119" y="935"/>
                  <a:pt x="108" y="920"/>
                  <a:pt x="98" y="904"/>
                </a:cubicBezTo>
                <a:cubicBezTo>
                  <a:pt x="87" y="888"/>
                  <a:pt x="77" y="872"/>
                  <a:pt x="68" y="855"/>
                </a:cubicBezTo>
                <a:cubicBezTo>
                  <a:pt x="59" y="837"/>
                  <a:pt x="51" y="820"/>
                  <a:pt x="44" y="803"/>
                </a:cubicBezTo>
                <a:cubicBezTo>
                  <a:pt x="37" y="785"/>
                  <a:pt x="30" y="767"/>
                  <a:pt x="25" y="749"/>
                </a:cubicBezTo>
                <a:cubicBezTo>
                  <a:pt x="19" y="731"/>
                  <a:pt x="15" y="712"/>
                  <a:pt x="11" y="694"/>
                </a:cubicBezTo>
                <a:cubicBezTo>
                  <a:pt x="7" y="675"/>
                  <a:pt x="4" y="656"/>
                  <a:pt x="3" y="637"/>
                </a:cubicBezTo>
                <a:cubicBezTo>
                  <a:pt x="1" y="618"/>
                  <a:pt x="0" y="599"/>
                  <a:pt x="0" y="580"/>
                </a:cubicBezTo>
                <a:cubicBezTo>
                  <a:pt x="0" y="561"/>
                  <a:pt x="1" y="543"/>
                  <a:pt x="3" y="524"/>
                </a:cubicBezTo>
                <a:cubicBezTo>
                  <a:pt x="4" y="505"/>
                  <a:pt x="7" y="486"/>
                  <a:pt x="11" y="467"/>
                </a:cubicBezTo>
                <a:cubicBezTo>
                  <a:pt x="15" y="449"/>
                  <a:pt x="19" y="430"/>
                  <a:pt x="25" y="412"/>
                </a:cubicBezTo>
                <a:cubicBezTo>
                  <a:pt x="30" y="394"/>
                  <a:pt x="37" y="376"/>
                  <a:pt x="44" y="358"/>
                </a:cubicBezTo>
                <a:cubicBezTo>
                  <a:pt x="51" y="341"/>
                  <a:pt x="59" y="324"/>
                  <a:pt x="68" y="307"/>
                </a:cubicBezTo>
                <a:cubicBezTo>
                  <a:pt x="77" y="290"/>
                  <a:pt x="87" y="274"/>
                  <a:pt x="98" y="258"/>
                </a:cubicBezTo>
                <a:cubicBezTo>
                  <a:pt x="108" y="242"/>
                  <a:pt x="119" y="227"/>
                  <a:pt x="131" y="212"/>
                </a:cubicBezTo>
                <a:cubicBezTo>
                  <a:pt x="144" y="198"/>
                  <a:pt x="156" y="184"/>
                  <a:pt x="170" y="170"/>
                </a:cubicBezTo>
                <a:cubicBezTo>
                  <a:pt x="183" y="157"/>
                  <a:pt x="197" y="144"/>
                  <a:pt x="212" y="132"/>
                </a:cubicBezTo>
                <a:cubicBezTo>
                  <a:pt x="227" y="120"/>
                  <a:pt x="242" y="109"/>
                  <a:pt x="258" y="98"/>
                </a:cubicBezTo>
                <a:cubicBezTo>
                  <a:pt x="273" y="87"/>
                  <a:pt x="290" y="78"/>
                  <a:pt x="306" y="69"/>
                </a:cubicBezTo>
                <a:cubicBezTo>
                  <a:pt x="323" y="60"/>
                  <a:pt x="340" y="52"/>
                  <a:pt x="358" y="44"/>
                </a:cubicBezTo>
                <a:cubicBezTo>
                  <a:pt x="376" y="37"/>
                  <a:pt x="393" y="31"/>
                  <a:pt x="412" y="25"/>
                </a:cubicBezTo>
                <a:cubicBezTo>
                  <a:pt x="430" y="20"/>
                  <a:pt x="448" y="15"/>
                  <a:pt x="467" y="11"/>
                </a:cubicBezTo>
                <a:cubicBezTo>
                  <a:pt x="485" y="8"/>
                  <a:pt x="504" y="5"/>
                  <a:pt x="523" y="3"/>
                </a:cubicBezTo>
                <a:cubicBezTo>
                  <a:pt x="542" y="1"/>
                  <a:pt x="561" y="0"/>
                  <a:pt x="580" y="0"/>
                </a:cubicBezTo>
                <a:cubicBezTo>
                  <a:pt x="599" y="0"/>
                  <a:pt x="618" y="1"/>
                  <a:pt x="637" y="3"/>
                </a:cubicBezTo>
                <a:cubicBezTo>
                  <a:pt x="656" y="5"/>
                  <a:pt x="675" y="8"/>
                  <a:pt x="693" y="11"/>
                </a:cubicBezTo>
                <a:cubicBezTo>
                  <a:pt x="712" y="15"/>
                  <a:pt x="730" y="20"/>
                  <a:pt x="749" y="25"/>
                </a:cubicBezTo>
                <a:cubicBezTo>
                  <a:pt x="767" y="31"/>
                  <a:pt x="786" y="37"/>
                  <a:pt x="803" y="44"/>
                </a:cubicBezTo>
                <a:cubicBezTo>
                  <a:pt x="821" y="52"/>
                  <a:pt x="838" y="60"/>
                  <a:pt x="855" y="69"/>
                </a:cubicBezTo>
                <a:cubicBezTo>
                  <a:pt x="871" y="78"/>
                  <a:pt x="888" y="87"/>
                  <a:pt x="903" y="98"/>
                </a:cubicBezTo>
                <a:cubicBezTo>
                  <a:pt x="919" y="109"/>
                  <a:pt x="935" y="120"/>
                  <a:pt x="949" y="132"/>
                </a:cubicBezTo>
                <a:cubicBezTo>
                  <a:pt x="964" y="144"/>
                  <a:pt x="978" y="157"/>
                  <a:pt x="991" y="170"/>
                </a:cubicBezTo>
                <a:cubicBezTo>
                  <a:pt x="1005" y="184"/>
                  <a:pt x="1018" y="198"/>
                  <a:pt x="1030" y="212"/>
                </a:cubicBezTo>
                <a:cubicBezTo>
                  <a:pt x="1042" y="227"/>
                  <a:pt x="1053" y="242"/>
                  <a:pt x="1064" y="258"/>
                </a:cubicBezTo>
                <a:cubicBezTo>
                  <a:pt x="1074" y="274"/>
                  <a:pt x="1084" y="290"/>
                  <a:pt x="1093" y="307"/>
                </a:cubicBezTo>
                <a:cubicBezTo>
                  <a:pt x="1102" y="324"/>
                  <a:pt x="1110" y="341"/>
                  <a:pt x="1117" y="358"/>
                </a:cubicBezTo>
                <a:cubicBezTo>
                  <a:pt x="1124" y="376"/>
                  <a:pt x="1131" y="394"/>
                  <a:pt x="1136" y="412"/>
                </a:cubicBezTo>
                <a:cubicBezTo>
                  <a:pt x="1142" y="430"/>
                  <a:pt x="1147" y="449"/>
                  <a:pt x="1150" y="467"/>
                </a:cubicBezTo>
                <a:cubicBezTo>
                  <a:pt x="1154" y="486"/>
                  <a:pt x="1157" y="505"/>
                  <a:pt x="1159" y="524"/>
                </a:cubicBezTo>
                <a:cubicBezTo>
                  <a:pt x="1160" y="543"/>
                  <a:pt x="1161" y="561"/>
                  <a:pt x="1161" y="580"/>
                </a:cubicBezTo>
                <a:close/>
              </a:path>
            </a:pathLst>
          </a:custGeom>
          <a:solidFill>
            <a:srgbClr val="4a90e2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652" name="" descr=""/>
          <p:cNvPicPr/>
          <p:nvPr/>
        </p:nvPicPr>
        <p:blipFill>
          <a:blip r:embed="rId10"/>
          <a:stretch/>
        </p:blipFill>
        <p:spPr>
          <a:xfrm>
            <a:off x="5874840" y="3350880"/>
            <a:ext cx="2253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3" name=""/>
          <p:cNvSpPr txBox="1"/>
          <p:nvPr/>
        </p:nvSpPr>
        <p:spPr>
          <a:xfrm>
            <a:off x="6325920" y="2682720"/>
            <a:ext cx="36385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「置く」以外の多様な行動意図を認識し、状況判断能力をさらに向上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 txBox="1"/>
          <p:nvPr/>
        </p:nvSpPr>
        <p:spPr>
          <a:xfrm>
            <a:off x="6325920" y="3277080"/>
            <a:ext cx="28170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複数カメラを用いた広域監視システムへの拡張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 txBox="1"/>
          <p:nvPr/>
        </p:nvSpPr>
        <p:spPr>
          <a:xfrm>
            <a:off x="6325920" y="3501360"/>
            <a:ext cx="36385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カメラ間でのシームレスな人物再識別により、空港や駅全体の死角の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5774400" y="4211640"/>
            <a:ext cx="417960" cy="418320"/>
          </a:xfrm>
          <a:custGeom>
            <a:avLst/>
            <a:gdLst/>
            <a:ahLst/>
            <a:rect l="0" t="0" r="r" b="b"/>
            <a:pathLst>
              <a:path w="1161" h="1162">
                <a:moveTo>
                  <a:pt x="1161" y="581"/>
                </a:moveTo>
                <a:cubicBezTo>
                  <a:pt x="1161" y="600"/>
                  <a:pt x="1160" y="619"/>
                  <a:pt x="1159" y="638"/>
                </a:cubicBezTo>
                <a:cubicBezTo>
                  <a:pt x="1157" y="657"/>
                  <a:pt x="1154" y="676"/>
                  <a:pt x="1150" y="694"/>
                </a:cubicBezTo>
                <a:cubicBezTo>
                  <a:pt x="1147" y="713"/>
                  <a:pt x="1142" y="731"/>
                  <a:pt x="1136" y="750"/>
                </a:cubicBezTo>
                <a:cubicBezTo>
                  <a:pt x="1131" y="768"/>
                  <a:pt x="1124" y="786"/>
                  <a:pt x="1117" y="803"/>
                </a:cubicBezTo>
                <a:cubicBezTo>
                  <a:pt x="1110" y="821"/>
                  <a:pt x="1102" y="838"/>
                  <a:pt x="1093" y="855"/>
                </a:cubicBezTo>
                <a:cubicBezTo>
                  <a:pt x="1084" y="872"/>
                  <a:pt x="1074" y="888"/>
                  <a:pt x="1064" y="904"/>
                </a:cubicBezTo>
                <a:cubicBezTo>
                  <a:pt x="1053" y="919"/>
                  <a:pt x="1042" y="935"/>
                  <a:pt x="1030" y="949"/>
                </a:cubicBezTo>
                <a:cubicBezTo>
                  <a:pt x="1018" y="964"/>
                  <a:pt x="1005" y="978"/>
                  <a:pt x="991" y="992"/>
                </a:cubicBezTo>
                <a:cubicBezTo>
                  <a:pt x="978" y="1005"/>
                  <a:pt x="964" y="1018"/>
                  <a:pt x="949" y="1030"/>
                </a:cubicBezTo>
                <a:cubicBezTo>
                  <a:pt x="935" y="1042"/>
                  <a:pt x="919" y="1053"/>
                  <a:pt x="903" y="1064"/>
                </a:cubicBezTo>
                <a:cubicBezTo>
                  <a:pt x="888" y="1074"/>
                  <a:pt x="871" y="1084"/>
                  <a:pt x="855" y="1093"/>
                </a:cubicBezTo>
                <a:cubicBezTo>
                  <a:pt x="838" y="1102"/>
                  <a:pt x="821" y="1110"/>
                  <a:pt x="803" y="1117"/>
                </a:cubicBezTo>
                <a:cubicBezTo>
                  <a:pt x="786" y="1125"/>
                  <a:pt x="767" y="1131"/>
                  <a:pt x="749" y="1137"/>
                </a:cubicBezTo>
                <a:cubicBezTo>
                  <a:pt x="730" y="1142"/>
                  <a:pt x="712" y="1147"/>
                  <a:pt x="693" y="1150"/>
                </a:cubicBezTo>
                <a:cubicBezTo>
                  <a:pt x="675" y="1154"/>
                  <a:pt x="656" y="1157"/>
                  <a:pt x="637" y="1159"/>
                </a:cubicBezTo>
                <a:cubicBezTo>
                  <a:pt x="618" y="1161"/>
                  <a:pt x="599" y="1162"/>
                  <a:pt x="580" y="1162"/>
                </a:cubicBezTo>
                <a:cubicBezTo>
                  <a:pt x="561" y="1162"/>
                  <a:pt x="542" y="1161"/>
                  <a:pt x="523" y="1159"/>
                </a:cubicBezTo>
                <a:cubicBezTo>
                  <a:pt x="504" y="1157"/>
                  <a:pt x="485" y="1154"/>
                  <a:pt x="467" y="1150"/>
                </a:cubicBezTo>
                <a:cubicBezTo>
                  <a:pt x="448" y="1147"/>
                  <a:pt x="430" y="1142"/>
                  <a:pt x="412" y="1137"/>
                </a:cubicBezTo>
                <a:cubicBezTo>
                  <a:pt x="393" y="1131"/>
                  <a:pt x="376" y="1125"/>
                  <a:pt x="358" y="1117"/>
                </a:cubicBezTo>
                <a:cubicBezTo>
                  <a:pt x="340" y="1110"/>
                  <a:pt x="323" y="1102"/>
                  <a:pt x="306" y="1093"/>
                </a:cubicBezTo>
                <a:cubicBezTo>
                  <a:pt x="290" y="1084"/>
                  <a:pt x="273" y="1074"/>
                  <a:pt x="258" y="1064"/>
                </a:cubicBezTo>
                <a:cubicBezTo>
                  <a:pt x="242" y="1053"/>
                  <a:pt x="227" y="1042"/>
                  <a:pt x="212" y="1030"/>
                </a:cubicBezTo>
                <a:cubicBezTo>
                  <a:pt x="197" y="1018"/>
                  <a:pt x="183" y="1005"/>
                  <a:pt x="170" y="992"/>
                </a:cubicBezTo>
                <a:cubicBezTo>
                  <a:pt x="156" y="978"/>
                  <a:pt x="144" y="964"/>
                  <a:pt x="131" y="949"/>
                </a:cubicBezTo>
                <a:cubicBezTo>
                  <a:pt x="119" y="935"/>
                  <a:pt x="108" y="919"/>
                  <a:pt x="98" y="904"/>
                </a:cubicBezTo>
                <a:cubicBezTo>
                  <a:pt x="87" y="888"/>
                  <a:pt x="77" y="872"/>
                  <a:pt x="68" y="855"/>
                </a:cubicBezTo>
                <a:cubicBezTo>
                  <a:pt x="59" y="838"/>
                  <a:pt x="51" y="821"/>
                  <a:pt x="44" y="803"/>
                </a:cubicBezTo>
                <a:cubicBezTo>
                  <a:pt x="37" y="786"/>
                  <a:pt x="30" y="768"/>
                  <a:pt x="25" y="750"/>
                </a:cubicBezTo>
                <a:cubicBezTo>
                  <a:pt x="19" y="731"/>
                  <a:pt x="15" y="713"/>
                  <a:pt x="11" y="694"/>
                </a:cubicBezTo>
                <a:cubicBezTo>
                  <a:pt x="7" y="676"/>
                  <a:pt x="4" y="657"/>
                  <a:pt x="3" y="638"/>
                </a:cubicBezTo>
                <a:cubicBezTo>
                  <a:pt x="1" y="619"/>
                  <a:pt x="0" y="600"/>
                  <a:pt x="0" y="581"/>
                </a:cubicBezTo>
                <a:cubicBezTo>
                  <a:pt x="0" y="562"/>
                  <a:pt x="1" y="543"/>
                  <a:pt x="3" y="524"/>
                </a:cubicBezTo>
                <a:cubicBezTo>
                  <a:pt x="4" y="505"/>
                  <a:pt x="7" y="487"/>
                  <a:pt x="11" y="467"/>
                </a:cubicBezTo>
                <a:cubicBezTo>
                  <a:pt x="15" y="448"/>
                  <a:pt x="19" y="430"/>
                  <a:pt x="25" y="412"/>
                </a:cubicBezTo>
                <a:cubicBezTo>
                  <a:pt x="30" y="394"/>
                  <a:pt x="37" y="376"/>
                  <a:pt x="44" y="358"/>
                </a:cubicBezTo>
                <a:cubicBezTo>
                  <a:pt x="51" y="341"/>
                  <a:pt x="59" y="323"/>
                  <a:pt x="68" y="307"/>
                </a:cubicBezTo>
                <a:cubicBezTo>
                  <a:pt x="77" y="290"/>
                  <a:pt x="87" y="274"/>
                  <a:pt x="98" y="258"/>
                </a:cubicBezTo>
                <a:cubicBezTo>
                  <a:pt x="108" y="242"/>
                  <a:pt x="119" y="227"/>
                  <a:pt x="131" y="212"/>
                </a:cubicBezTo>
                <a:cubicBezTo>
                  <a:pt x="144" y="197"/>
                  <a:pt x="156" y="183"/>
                  <a:pt x="170" y="170"/>
                </a:cubicBezTo>
                <a:cubicBezTo>
                  <a:pt x="183" y="156"/>
                  <a:pt x="197" y="144"/>
                  <a:pt x="212" y="132"/>
                </a:cubicBezTo>
                <a:cubicBezTo>
                  <a:pt x="227" y="120"/>
                  <a:pt x="242" y="108"/>
                  <a:pt x="258" y="98"/>
                </a:cubicBezTo>
                <a:cubicBezTo>
                  <a:pt x="273" y="87"/>
                  <a:pt x="290" y="77"/>
                  <a:pt x="306" y="68"/>
                </a:cubicBezTo>
                <a:cubicBezTo>
                  <a:pt x="323" y="59"/>
                  <a:pt x="340" y="51"/>
                  <a:pt x="358" y="44"/>
                </a:cubicBezTo>
                <a:cubicBezTo>
                  <a:pt x="376" y="37"/>
                  <a:pt x="393" y="30"/>
                  <a:pt x="412" y="25"/>
                </a:cubicBezTo>
                <a:cubicBezTo>
                  <a:pt x="430" y="19"/>
                  <a:pt x="448" y="15"/>
                  <a:pt x="467" y="11"/>
                </a:cubicBezTo>
                <a:cubicBezTo>
                  <a:pt x="485" y="7"/>
                  <a:pt x="504" y="5"/>
                  <a:pt x="523" y="3"/>
                </a:cubicBezTo>
                <a:cubicBezTo>
                  <a:pt x="542" y="1"/>
                  <a:pt x="561" y="0"/>
                  <a:pt x="580" y="0"/>
                </a:cubicBezTo>
                <a:cubicBezTo>
                  <a:pt x="599" y="0"/>
                  <a:pt x="618" y="1"/>
                  <a:pt x="637" y="3"/>
                </a:cubicBezTo>
                <a:cubicBezTo>
                  <a:pt x="656" y="5"/>
                  <a:pt x="675" y="7"/>
                  <a:pt x="693" y="11"/>
                </a:cubicBezTo>
                <a:cubicBezTo>
                  <a:pt x="712" y="15"/>
                  <a:pt x="730" y="19"/>
                  <a:pt x="749" y="25"/>
                </a:cubicBezTo>
                <a:cubicBezTo>
                  <a:pt x="767" y="30"/>
                  <a:pt x="786" y="37"/>
                  <a:pt x="803" y="44"/>
                </a:cubicBezTo>
                <a:cubicBezTo>
                  <a:pt x="821" y="51"/>
                  <a:pt x="838" y="59"/>
                  <a:pt x="855" y="68"/>
                </a:cubicBezTo>
                <a:cubicBezTo>
                  <a:pt x="871" y="77"/>
                  <a:pt x="888" y="87"/>
                  <a:pt x="903" y="98"/>
                </a:cubicBezTo>
                <a:cubicBezTo>
                  <a:pt x="919" y="108"/>
                  <a:pt x="935" y="120"/>
                  <a:pt x="949" y="132"/>
                </a:cubicBezTo>
                <a:cubicBezTo>
                  <a:pt x="964" y="144"/>
                  <a:pt x="978" y="156"/>
                  <a:pt x="991" y="170"/>
                </a:cubicBezTo>
                <a:cubicBezTo>
                  <a:pt x="1005" y="183"/>
                  <a:pt x="1018" y="197"/>
                  <a:pt x="1030" y="212"/>
                </a:cubicBezTo>
                <a:cubicBezTo>
                  <a:pt x="1042" y="227"/>
                  <a:pt x="1053" y="242"/>
                  <a:pt x="1064" y="258"/>
                </a:cubicBezTo>
                <a:cubicBezTo>
                  <a:pt x="1074" y="274"/>
                  <a:pt x="1084" y="290"/>
                  <a:pt x="1093" y="307"/>
                </a:cubicBezTo>
                <a:cubicBezTo>
                  <a:pt x="1102" y="323"/>
                  <a:pt x="1110" y="341"/>
                  <a:pt x="1117" y="358"/>
                </a:cubicBezTo>
                <a:cubicBezTo>
                  <a:pt x="1124" y="376"/>
                  <a:pt x="1131" y="394"/>
                  <a:pt x="1136" y="412"/>
                </a:cubicBezTo>
                <a:cubicBezTo>
                  <a:pt x="1142" y="430"/>
                  <a:pt x="1147" y="448"/>
                  <a:pt x="1150" y="467"/>
                </a:cubicBezTo>
                <a:cubicBezTo>
                  <a:pt x="1154" y="487"/>
                  <a:pt x="1157" y="505"/>
                  <a:pt x="1159" y="524"/>
                </a:cubicBezTo>
                <a:cubicBezTo>
                  <a:pt x="1160" y="543"/>
                  <a:pt x="1161" y="562"/>
                  <a:pt x="1161" y="581"/>
                </a:cubicBezTo>
                <a:close/>
              </a:path>
            </a:pathLst>
          </a:custGeom>
          <a:solidFill>
            <a:srgbClr val="4a90e2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657" name="" descr=""/>
          <p:cNvPicPr/>
          <p:nvPr/>
        </p:nvPicPr>
        <p:blipFill>
          <a:blip r:embed="rId11"/>
          <a:stretch/>
        </p:blipFill>
        <p:spPr>
          <a:xfrm>
            <a:off x="5857920" y="4320360"/>
            <a:ext cx="25020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8" name=""/>
          <p:cNvSpPr txBox="1"/>
          <p:nvPr/>
        </p:nvSpPr>
        <p:spPr>
          <a:xfrm>
            <a:off x="6325920" y="3668760"/>
            <a:ext cx="8222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ない監視を実現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 txBox="1"/>
          <p:nvPr/>
        </p:nvSpPr>
        <p:spPr>
          <a:xfrm>
            <a:off x="6325920" y="4246560"/>
            <a:ext cx="14760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実環境での長期運用評価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 txBox="1"/>
          <p:nvPr/>
        </p:nvSpPr>
        <p:spPr>
          <a:xfrm>
            <a:off x="6325920" y="4470840"/>
            <a:ext cx="36385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実際の公共施設における実証実験を通じて、システムの堅牢性と有効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 txBox="1"/>
          <p:nvPr/>
        </p:nvSpPr>
        <p:spPr>
          <a:xfrm>
            <a:off x="6325920" y="4637880"/>
            <a:ext cx="4701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d1d5db"/>
                </a:solidFill>
                <a:effectLst/>
                <a:uFillTx/>
                <a:latin typeface="NotoSansJP"/>
                <a:ea typeface="NotoSansJP"/>
              </a:rPr>
              <a:t>性を検証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62" name="" descr=""/>
          <p:cNvPicPr/>
          <p:nvPr/>
        </p:nvPicPr>
        <p:blipFill>
          <a:blip r:embed="rId12"/>
          <a:stretch/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3" name="" descr=""/>
          <p:cNvPicPr/>
          <p:nvPr/>
        </p:nvPicPr>
        <p:blipFill>
          <a:blip r:embed="rId13"/>
          <a:stretch/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4" name=""/>
          <p:cNvSpPr txBox="1"/>
          <p:nvPr/>
        </p:nvSpPr>
        <p:spPr>
          <a:xfrm>
            <a:off x="4178520" y="5209920"/>
            <a:ext cx="234756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bfdbfe"/>
                </a:solidFill>
                <a:effectLst/>
                <a:uFillTx/>
                <a:latin typeface="NotoSansJP"/>
                <a:ea typeface="NotoSansJP"/>
              </a:rPr>
              <a:t>ご清聴ありがとうございました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 txBox="1"/>
          <p:nvPr/>
        </p:nvSpPr>
        <p:spPr>
          <a:xfrm>
            <a:off x="10078200" y="5717160"/>
            <a:ext cx="472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9ca3af"/>
                </a:solidFill>
                <a:effectLst/>
                <a:uFillTx/>
                <a:latin typeface="NotoSansJP"/>
                <a:ea typeface="NotoSansJP"/>
              </a:rPr>
              <a:t>12 / 12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