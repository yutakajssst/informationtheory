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0706100" cy="7296150"/>
  <p:notesSz cx="10706100" cy="729615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showMasterSp="0">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0696575" cy="6016823"/>
          </a:xfrm>
          <a:prstGeom prst="rect">
            <a:avLst/>
          </a:prstGeom>
        </p:spPr>
      </p:pic>
      <p:sp>
        <p:nvSpPr>
          <p:cNvPr id="17" name="bg object 17"/>
          <p:cNvSpPr/>
          <p:nvPr/>
        </p:nvSpPr>
        <p:spPr>
          <a:xfrm>
            <a:off x="0" y="0"/>
            <a:ext cx="9852660" cy="5591175"/>
          </a:xfrm>
          <a:custGeom>
            <a:avLst/>
            <a:gdLst/>
            <a:ahLst/>
            <a:cxnLst/>
            <a:rect l="l" t="t" r="r" b="b"/>
            <a:pathLst>
              <a:path w="9852660" h="5591175">
                <a:moveTo>
                  <a:pt x="1758729" y="0"/>
                </a:moveTo>
                <a:lnTo>
                  <a:pt x="1788415" y="34003"/>
                </a:lnTo>
                <a:lnTo>
                  <a:pt x="1817277" y="69615"/>
                </a:lnTo>
                <a:lnTo>
                  <a:pt x="1844809" y="106265"/>
                </a:lnTo>
                <a:lnTo>
                  <a:pt x="1870972" y="143902"/>
                </a:lnTo>
                <a:lnTo>
                  <a:pt x="1895732" y="182477"/>
                </a:lnTo>
                <a:lnTo>
                  <a:pt x="1919057" y="221938"/>
                </a:lnTo>
                <a:lnTo>
                  <a:pt x="1940913" y="262231"/>
                </a:lnTo>
                <a:lnTo>
                  <a:pt x="1961270" y="303300"/>
                </a:lnTo>
                <a:lnTo>
                  <a:pt x="1980102" y="345090"/>
                </a:lnTo>
                <a:lnTo>
                  <a:pt x="1997384" y="387547"/>
                </a:lnTo>
                <a:lnTo>
                  <a:pt x="2013091" y="430611"/>
                </a:lnTo>
                <a:lnTo>
                  <a:pt x="2027202" y="474222"/>
                </a:lnTo>
                <a:lnTo>
                  <a:pt x="2039698" y="518323"/>
                </a:lnTo>
                <a:lnTo>
                  <a:pt x="2050563" y="562856"/>
                </a:lnTo>
                <a:lnTo>
                  <a:pt x="2059782" y="607759"/>
                </a:lnTo>
                <a:lnTo>
                  <a:pt x="2067341" y="652968"/>
                </a:lnTo>
                <a:lnTo>
                  <a:pt x="2073231" y="698425"/>
                </a:lnTo>
                <a:lnTo>
                  <a:pt x="2077444" y="744071"/>
                </a:lnTo>
                <a:lnTo>
                  <a:pt x="2079974" y="789840"/>
                </a:lnTo>
                <a:lnTo>
                  <a:pt x="2080818" y="835669"/>
                </a:lnTo>
                <a:lnTo>
                  <a:pt x="2080724" y="850950"/>
                </a:lnTo>
                <a:lnTo>
                  <a:pt x="2079318" y="896766"/>
                </a:lnTo>
                <a:lnTo>
                  <a:pt x="2076226" y="942499"/>
                </a:lnTo>
                <a:lnTo>
                  <a:pt x="2071454" y="988089"/>
                </a:lnTo>
                <a:lnTo>
                  <a:pt x="2065006" y="1033472"/>
                </a:lnTo>
                <a:lnTo>
                  <a:pt x="2056892" y="1078586"/>
                </a:lnTo>
                <a:lnTo>
                  <a:pt x="2047124" y="1123370"/>
                </a:lnTo>
                <a:lnTo>
                  <a:pt x="2035713" y="1167766"/>
                </a:lnTo>
                <a:lnTo>
                  <a:pt x="2022676" y="1211713"/>
                </a:lnTo>
                <a:lnTo>
                  <a:pt x="2008031" y="1255147"/>
                </a:lnTo>
                <a:lnTo>
                  <a:pt x="1991797" y="1298013"/>
                </a:lnTo>
                <a:lnTo>
                  <a:pt x="1973996" y="1340255"/>
                </a:lnTo>
                <a:lnTo>
                  <a:pt x="1954652" y="1381812"/>
                </a:lnTo>
                <a:lnTo>
                  <a:pt x="1933792" y="1422628"/>
                </a:lnTo>
                <a:lnTo>
                  <a:pt x="1911444" y="1462648"/>
                </a:lnTo>
                <a:lnTo>
                  <a:pt x="1887637" y="1501821"/>
                </a:lnTo>
                <a:lnTo>
                  <a:pt x="1862404" y="1540090"/>
                </a:lnTo>
                <a:lnTo>
                  <a:pt x="1835782" y="1577403"/>
                </a:lnTo>
                <a:lnTo>
                  <a:pt x="1807804" y="1613711"/>
                </a:lnTo>
                <a:lnTo>
                  <a:pt x="1778507" y="1648966"/>
                </a:lnTo>
                <a:lnTo>
                  <a:pt x="1747932" y="1683119"/>
                </a:lnTo>
                <a:lnTo>
                  <a:pt x="1716122" y="1716122"/>
                </a:lnTo>
                <a:lnTo>
                  <a:pt x="1683119" y="1747932"/>
                </a:lnTo>
                <a:lnTo>
                  <a:pt x="1648966" y="1778507"/>
                </a:lnTo>
                <a:lnTo>
                  <a:pt x="1613711" y="1807804"/>
                </a:lnTo>
                <a:lnTo>
                  <a:pt x="1577403" y="1835782"/>
                </a:lnTo>
                <a:lnTo>
                  <a:pt x="1540090" y="1862404"/>
                </a:lnTo>
                <a:lnTo>
                  <a:pt x="1501821" y="1887637"/>
                </a:lnTo>
                <a:lnTo>
                  <a:pt x="1462648" y="1911444"/>
                </a:lnTo>
                <a:lnTo>
                  <a:pt x="1422628" y="1933792"/>
                </a:lnTo>
                <a:lnTo>
                  <a:pt x="1381813" y="1954652"/>
                </a:lnTo>
                <a:lnTo>
                  <a:pt x="1340255" y="1973996"/>
                </a:lnTo>
                <a:lnTo>
                  <a:pt x="1298013" y="1991797"/>
                </a:lnTo>
                <a:lnTo>
                  <a:pt x="1255147" y="2008031"/>
                </a:lnTo>
                <a:lnTo>
                  <a:pt x="1211713" y="2022676"/>
                </a:lnTo>
                <a:lnTo>
                  <a:pt x="1167766" y="2035713"/>
                </a:lnTo>
                <a:lnTo>
                  <a:pt x="1123370" y="2047124"/>
                </a:lnTo>
                <a:lnTo>
                  <a:pt x="1078586" y="2056892"/>
                </a:lnTo>
                <a:lnTo>
                  <a:pt x="1033472" y="2065006"/>
                </a:lnTo>
                <a:lnTo>
                  <a:pt x="988089" y="2071454"/>
                </a:lnTo>
                <a:lnTo>
                  <a:pt x="942499" y="2076227"/>
                </a:lnTo>
                <a:lnTo>
                  <a:pt x="896766" y="2079318"/>
                </a:lnTo>
                <a:lnTo>
                  <a:pt x="850950" y="2080724"/>
                </a:lnTo>
                <a:lnTo>
                  <a:pt x="835669" y="2080818"/>
                </a:lnTo>
                <a:lnTo>
                  <a:pt x="820388" y="2080724"/>
                </a:lnTo>
                <a:lnTo>
                  <a:pt x="774573" y="2079318"/>
                </a:lnTo>
                <a:lnTo>
                  <a:pt x="728840" y="2076226"/>
                </a:lnTo>
                <a:lnTo>
                  <a:pt x="683250" y="2071454"/>
                </a:lnTo>
                <a:lnTo>
                  <a:pt x="637866" y="2065006"/>
                </a:lnTo>
                <a:lnTo>
                  <a:pt x="592753" y="2056892"/>
                </a:lnTo>
                <a:lnTo>
                  <a:pt x="547969" y="2047124"/>
                </a:lnTo>
                <a:lnTo>
                  <a:pt x="503573" y="2035713"/>
                </a:lnTo>
                <a:lnTo>
                  <a:pt x="459626" y="2022676"/>
                </a:lnTo>
                <a:lnTo>
                  <a:pt x="416192" y="2008031"/>
                </a:lnTo>
                <a:lnTo>
                  <a:pt x="373326" y="1991797"/>
                </a:lnTo>
                <a:lnTo>
                  <a:pt x="331084" y="1973996"/>
                </a:lnTo>
                <a:lnTo>
                  <a:pt x="289526" y="1954652"/>
                </a:lnTo>
                <a:lnTo>
                  <a:pt x="248711" y="1933792"/>
                </a:lnTo>
                <a:lnTo>
                  <a:pt x="208690" y="1911444"/>
                </a:lnTo>
                <a:lnTo>
                  <a:pt x="169518" y="1887637"/>
                </a:lnTo>
                <a:lnTo>
                  <a:pt x="131249" y="1862404"/>
                </a:lnTo>
                <a:lnTo>
                  <a:pt x="93936" y="1835782"/>
                </a:lnTo>
                <a:lnTo>
                  <a:pt x="57628" y="1807804"/>
                </a:lnTo>
                <a:lnTo>
                  <a:pt x="22372" y="1778507"/>
                </a:lnTo>
                <a:lnTo>
                  <a:pt x="10864" y="1768456"/>
                </a:lnTo>
                <a:lnTo>
                  <a:pt x="0" y="1758729"/>
                </a:lnTo>
              </a:path>
              <a:path w="9852660" h="5591175">
                <a:moveTo>
                  <a:pt x="9852549" y="4763318"/>
                </a:moveTo>
                <a:lnTo>
                  <a:pt x="9851552" y="4803912"/>
                </a:lnTo>
                <a:lnTo>
                  <a:pt x="9848565" y="4844410"/>
                </a:lnTo>
                <a:lnTo>
                  <a:pt x="9843593" y="4884711"/>
                </a:lnTo>
                <a:lnTo>
                  <a:pt x="9836651" y="4924719"/>
                </a:lnTo>
                <a:lnTo>
                  <a:pt x="9827754" y="4964339"/>
                </a:lnTo>
                <a:lnTo>
                  <a:pt x="9816923" y="5003474"/>
                </a:lnTo>
                <a:lnTo>
                  <a:pt x="9804186" y="5042031"/>
                </a:lnTo>
                <a:lnTo>
                  <a:pt x="9789572" y="5079917"/>
                </a:lnTo>
                <a:lnTo>
                  <a:pt x="9773117" y="5117040"/>
                </a:lnTo>
                <a:lnTo>
                  <a:pt x="9754860" y="5153311"/>
                </a:lnTo>
                <a:lnTo>
                  <a:pt x="9734845" y="5188641"/>
                </a:lnTo>
                <a:lnTo>
                  <a:pt x="9713121" y="5222949"/>
                </a:lnTo>
                <a:lnTo>
                  <a:pt x="9689740" y="5256148"/>
                </a:lnTo>
                <a:lnTo>
                  <a:pt x="9664758" y="5288161"/>
                </a:lnTo>
                <a:lnTo>
                  <a:pt x="9638234" y="5318907"/>
                </a:lnTo>
                <a:lnTo>
                  <a:pt x="9610234" y="5348317"/>
                </a:lnTo>
                <a:lnTo>
                  <a:pt x="9580825" y="5376317"/>
                </a:lnTo>
                <a:lnTo>
                  <a:pt x="9550078" y="5402840"/>
                </a:lnTo>
                <a:lnTo>
                  <a:pt x="9518065" y="5427822"/>
                </a:lnTo>
                <a:lnTo>
                  <a:pt x="9484866" y="5451204"/>
                </a:lnTo>
                <a:lnTo>
                  <a:pt x="9450559" y="5472928"/>
                </a:lnTo>
                <a:lnTo>
                  <a:pt x="9415228" y="5492943"/>
                </a:lnTo>
                <a:lnTo>
                  <a:pt x="9378957" y="5511200"/>
                </a:lnTo>
                <a:lnTo>
                  <a:pt x="9341833" y="5527655"/>
                </a:lnTo>
                <a:lnTo>
                  <a:pt x="9303947" y="5542270"/>
                </a:lnTo>
                <a:lnTo>
                  <a:pt x="9265391" y="5555008"/>
                </a:lnTo>
                <a:lnTo>
                  <a:pt x="9226256" y="5565838"/>
                </a:lnTo>
                <a:lnTo>
                  <a:pt x="9186636" y="5574735"/>
                </a:lnTo>
                <a:lnTo>
                  <a:pt x="9146628" y="5581678"/>
                </a:lnTo>
                <a:lnTo>
                  <a:pt x="9106327" y="5586648"/>
                </a:lnTo>
                <a:lnTo>
                  <a:pt x="9065829" y="5589635"/>
                </a:lnTo>
                <a:lnTo>
                  <a:pt x="9025235" y="5590632"/>
                </a:lnTo>
                <a:lnTo>
                  <a:pt x="9015082" y="5590569"/>
                </a:lnTo>
                <a:lnTo>
                  <a:pt x="8974502" y="5589075"/>
                </a:lnTo>
                <a:lnTo>
                  <a:pt x="8934046" y="5585591"/>
                </a:lnTo>
                <a:lnTo>
                  <a:pt x="8893809" y="5580126"/>
                </a:lnTo>
                <a:lnTo>
                  <a:pt x="8853888" y="5572693"/>
                </a:lnTo>
                <a:lnTo>
                  <a:pt x="8814382" y="5563310"/>
                </a:lnTo>
                <a:lnTo>
                  <a:pt x="8775381" y="5552000"/>
                </a:lnTo>
                <a:lnTo>
                  <a:pt x="8736982" y="5538790"/>
                </a:lnTo>
                <a:lnTo>
                  <a:pt x="8699279" y="5523712"/>
                </a:lnTo>
                <a:lnTo>
                  <a:pt x="8662360" y="5506802"/>
                </a:lnTo>
                <a:lnTo>
                  <a:pt x="8626317" y="5488102"/>
                </a:lnTo>
                <a:lnTo>
                  <a:pt x="8591234" y="5467655"/>
                </a:lnTo>
                <a:lnTo>
                  <a:pt x="8557196" y="5445511"/>
                </a:lnTo>
                <a:lnTo>
                  <a:pt x="8524287" y="5421724"/>
                </a:lnTo>
                <a:lnTo>
                  <a:pt x="8492583" y="5396351"/>
                </a:lnTo>
                <a:lnTo>
                  <a:pt x="8462163" y="5369452"/>
                </a:lnTo>
                <a:lnTo>
                  <a:pt x="8433100" y="5341093"/>
                </a:lnTo>
                <a:lnTo>
                  <a:pt x="8405464" y="5311342"/>
                </a:lnTo>
                <a:lnTo>
                  <a:pt x="8379320" y="5280272"/>
                </a:lnTo>
                <a:lnTo>
                  <a:pt x="8354732" y="5247956"/>
                </a:lnTo>
                <a:lnTo>
                  <a:pt x="8331759" y="5214472"/>
                </a:lnTo>
                <a:lnTo>
                  <a:pt x="8310458" y="5179901"/>
                </a:lnTo>
                <a:lnTo>
                  <a:pt x="8290878" y="5144327"/>
                </a:lnTo>
                <a:lnTo>
                  <a:pt x="8273067" y="5107835"/>
                </a:lnTo>
                <a:lnTo>
                  <a:pt x="8257069" y="5070513"/>
                </a:lnTo>
                <a:lnTo>
                  <a:pt x="8242921" y="5032451"/>
                </a:lnTo>
                <a:lnTo>
                  <a:pt x="8230657" y="4993740"/>
                </a:lnTo>
                <a:lnTo>
                  <a:pt x="8220308" y="4954475"/>
                </a:lnTo>
                <a:lnTo>
                  <a:pt x="8211898" y="4914749"/>
                </a:lnTo>
                <a:lnTo>
                  <a:pt x="8205448" y="4874658"/>
                </a:lnTo>
                <a:lnTo>
                  <a:pt x="8200972" y="4834299"/>
                </a:lnTo>
                <a:lnTo>
                  <a:pt x="8198482" y="4793769"/>
                </a:lnTo>
                <a:lnTo>
                  <a:pt x="8197922" y="4763318"/>
                </a:lnTo>
                <a:lnTo>
                  <a:pt x="8197984" y="4753165"/>
                </a:lnTo>
                <a:lnTo>
                  <a:pt x="8199479" y="4712586"/>
                </a:lnTo>
                <a:lnTo>
                  <a:pt x="8202963" y="4672129"/>
                </a:lnTo>
                <a:lnTo>
                  <a:pt x="8208427" y="4631892"/>
                </a:lnTo>
                <a:lnTo>
                  <a:pt x="8215860" y="4591971"/>
                </a:lnTo>
                <a:lnTo>
                  <a:pt x="8225242" y="4552464"/>
                </a:lnTo>
                <a:lnTo>
                  <a:pt x="8236552" y="4513464"/>
                </a:lnTo>
                <a:lnTo>
                  <a:pt x="8249762" y="4475066"/>
                </a:lnTo>
                <a:lnTo>
                  <a:pt x="8264839" y="4437362"/>
                </a:lnTo>
                <a:lnTo>
                  <a:pt x="8281749" y="4400444"/>
                </a:lnTo>
                <a:lnTo>
                  <a:pt x="8300450" y="4364400"/>
                </a:lnTo>
                <a:lnTo>
                  <a:pt x="8320897" y="4329317"/>
                </a:lnTo>
                <a:lnTo>
                  <a:pt x="8343041" y="4295280"/>
                </a:lnTo>
                <a:lnTo>
                  <a:pt x="8366829" y="4262370"/>
                </a:lnTo>
                <a:lnTo>
                  <a:pt x="8392202" y="4230667"/>
                </a:lnTo>
                <a:lnTo>
                  <a:pt x="8419100" y="4200247"/>
                </a:lnTo>
                <a:lnTo>
                  <a:pt x="8447459" y="4171184"/>
                </a:lnTo>
                <a:lnTo>
                  <a:pt x="8477210" y="4143547"/>
                </a:lnTo>
                <a:lnTo>
                  <a:pt x="8508281" y="4117404"/>
                </a:lnTo>
                <a:lnTo>
                  <a:pt x="8540597" y="4092816"/>
                </a:lnTo>
                <a:lnTo>
                  <a:pt x="8574080" y="4069843"/>
                </a:lnTo>
                <a:lnTo>
                  <a:pt x="8608650" y="4048541"/>
                </a:lnTo>
                <a:lnTo>
                  <a:pt x="8644225" y="4028962"/>
                </a:lnTo>
                <a:lnTo>
                  <a:pt x="8680716" y="4011151"/>
                </a:lnTo>
                <a:lnTo>
                  <a:pt x="8718038" y="3995152"/>
                </a:lnTo>
                <a:lnTo>
                  <a:pt x="8756101" y="3981005"/>
                </a:lnTo>
                <a:lnTo>
                  <a:pt x="8794813" y="3968741"/>
                </a:lnTo>
                <a:lnTo>
                  <a:pt x="8834079" y="3958392"/>
                </a:lnTo>
                <a:lnTo>
                  <a:pt x="8873805" y="3949982"/>
                </a:lnTo>
                <a:lnTo>
                  <a:pt x="8913895" y="3943531"/>
                </a:lnTo>
                <a:lnTo>
                  <a:pt x="8954254" y="3939056"/>
                </a:lnTo>
                <a:lnTo>
                  <a:pt x="8994784" y="3936565"/>
                </a:lnTo>
                <a:lnTo>
                  <a:pt x="9025235" y="3936005"/>
                </a:lnTo>
                <a:lnTo>
                  <a:pt x="9035389" y="3936067"/>
                </a:lnTo>
                <a:lnTo>
                  <a:pt x="9075967" y="3937562"/>
                </a:lnTo>
                <a:lnTo>
                  <a:pt x="9116425" y="3941046"/>
                </a:lnTo>
                <a:lnTo>
                  <a:pt x="9156662" y="3946511"/>
                </a:lnTo>
                <a:lnTo>
                  <a:pt x="9196582" y="3953944"/>
                </a:lnTo>
                <a:lnTo>
                  <a:pt x="9236090" y="3963326"/>
                </a:lnTo>
                <a:lnTo>
                  <a:pt x="9275089" y="3974636"/>
                </a:lnTo>
                <a:lnTo>
                  <a:pt x="9313486" y="3987845"/>
                </a:lnTo>
                <a:lnTo>
                  <a:pt x="9351190" y="4002923"/>
                </a:lnTo>
                <a:lnTo>
                  <a:pt x="9388109" y="4019833"/>
                </a:lnTo>
                <a:lnTo>
                  <a:pt x="9424153" y="4038534"/>
                </a:lnTo>
                <a:lnTo>
                  <a:pt x="9459236" y="4058981"/>
                </a:lnTo>
                <a:lnTo>
                  <a:pt x="9493272" y="4081125"/>
                </a:lnTo>
                <a:lnTo>
                  <a:pt x="9526182" y="4104912"/>
                </a:lnTo>
                <a:lnTo>
                  <a:pt x="9557886" y="4130286"/>
                </a:lnTo>
                <a:lnTo>
                  <a:pt x="9588306" y="4157184"/>
                </a:lnTo>
                <a:lnTo>
                  <a:pt x="9617369" y="4185543"/>
                </a:lnTo>
                <a:lnTo>
                  <a:pt x="9645005" y="4215293"/>
                </a:lnTo>
                <a:lnTo>
                  <a:pt x="9671150" y="4246364"/>
                </a:lnTo>
                <a:lnTo>
                  <a:pt x="9695738" y="4278680"/>
                </a:lnTo>
                <a:lnTo>
                  <a:pt x="9718710" y="4312164"/>
                </a:lnTo>
                <a:lnTo>
                  <a:pt x="9740011" y="4346735"/>
                </a:lnTo>
                <a:lnTo>
                  <a:pt x="9759592" y="4382309"/>
                </a:lnTo>
                <a:lnTo>
                  <a:pt x="9777402" y="4418801"/>
                </a:lnTo>
                <a:lnTo>
                  <a:pt x="9793400" y="4456123"/>
                </a:lnTo>
                <a:lnTo>
                  <a:pt x="9807548" y="4494185"/>
                </a:lnTo>
                <a:lnTo>
                  <a:pt x="9819811" y="4532896"/>
                </a:lnTo>
                <a:lnTo>
                  <a:pt x="9830161" y="4572161"/>
                </a:lnTo>
                <a:lnTo>
                  <a:pt x="9838571" y="4611888"/>
                </a:lnTo>
                <a:lnTo>
                  <a:pt x="9845022" y="4651979"/>
                </a:lnTo>
                <a:lnTo>
                  <a:pt x="9849498" y="4692337"/>
                </a:lnTo>
                <a:lnTo>
                  <a:pt x="9851988" y="4732867"/>
                </a:lnTo>
                <a:lnTo>
                  <a:pt x="9852549" y="4763318"/>
                </a:lnTo>
                <a:close/>
              </a:path>
            </a:pathLst>
          </a:custGeom>
          <a:ln w="16713">
            <a:solidFill>
              <a:srgbClr val="66CCFF"/>
            </a:solidFill>
          </a:ln>
        </p:spPr>
        <p:txBody>
          <a:bodyPr wrap="square" lIns="0" tIns="0" rIns="0" bIns="0" rtlCol="0"/>
          <a:lstStyle/>
          <a:p/>
        </p:txBody>
      </p:sp>
      <p:sp>
        <p:nvSpPr>
          <p:cNvPr id="18" name="bg object 18"/>
          <p:cNvSpPr/>
          <p:nvPr/>
        </p:nvSpPr>
        <p:spPr>
          <a:xfrm>
            <a:off x="1671332" y="417842"/>
            <a:ext cx="8189595" cy="4345940"/>
          </a:xfrm>
          <a:custGeom>
            <a:avLst/>
            <a:gdLst/>
            <a:ahLst/>
            <a:cxnLst/>
            <a:rect l="l" t="t" r="r" b="b"/>
            <a:pathLst>
              <a:path w="8189595" h="4345940">
                <a:moveTo>
                  <a:pt x="25069" y="0"/>
                </a:moveTo>
                <a:lnTo>
                  <a:pt x="0" y="0"/>
                </a:lnTo>
                <a:lnTo>
                  <a:pt x="0" y="1671332"/>
                </a:lnTo>
                <a:lnTo>
                  <a:pt x="25069" y="1671332"/>
                </a:lnTo>
                <a:lnTo>
                  <a:pt x="25069" y="0"/>
                </a:lnTo>
                <a:close/>
              </a:path>
              <a:path w="8189595" h="4345940">
                <a:moveTo>
                  <a:pt x="6518224" y="1253502"/>
                </a:moveTo>
                <a:lnTo>
                  <a:pt x="6501511" y="1253502"/>
                </a:lnTo>
                <a:lnTo>
                  <a:pt x="6501511" y="3760508"/>
                </a:lnTo>
                <a:lnTo>
                  <a:pt x="6518224" y="3760508"/>
                </a:lnTo>
                <a:lnTo>
                  <a:pt x="6518224" y="1253502"/>
                </a:lnTo>
                <a:close/>
              </a:path>
              <a:path w="8189595" h="4345940">
                <a:moveTo>
                  <a:pt x="8189569" y="4328769"/>
                </a:moveTo>
                <a:lnTo>
                  <a:pt x="4846891" y="4328769"/>
                </a:lnTo>
                <a:lnTo>
                  <a:pt x="4846891" y="4345483"/>
                </a:lnTo>
                <a:lnTo>
                  <a:pt x="8189569" y="4345483"/>
                </a:lnTo>
                <a:lnTo>
                  <a:pt x="8189569" y="4328769"/>
                </a:lnTo>
                <a:close/>
              </a:path>
            </a:pathLst>
          </a:custGeom>
          <a:solidFill>
            <a:srgbClr val="66CCFF">
              <a:alpha val="14898"/>
            </a:srgbClr>
          </a:solidFill>
        </p:spPr>
        <p:txBody>
          <a:bodyPr wrap="square" lIns="0" tIns="0" rIns="0" bIns="0" rtlCol="0"/>
          <a:lstStyle/>
          <a:p/>
        </p:txBody>
      </p:sp>
      <p:pic>
        <p:nvPicPr>
          <p:cNvPr id="19" name="bg object 19"/>
          <p:cNvPicPr/>
          <p:nvPr/>
        </p:nvPicPr>
        <p:blipFill>
          <a:blip r:embed="rId3" cstate="print"/>
          <a:stretch>
            <a:fillRect/>
          </a:stretch>
        </p:blipFill>
        <p:spPr>
          <a:xfrm>
            <a:off x="401121" y="5481994"/>
            <a:ext cx="133707" cy="150420"/>
          </a:xfrm>
          <a:prstGeom prst="rect">
            <a:avLst/>
          </a:prstGeom>
        </p:spPr>
      </p:pic>
      <p:sp>
        <p:nvSpPr>
          <p:cNvPr id="2" name="Holder 2"/>
          <p:cNvSpPr>
            <a:spLocks noGrp="1"/>
          </p:cNvSpPr>
          <p:nvPr>
            <p:ph type="ctrTitle"/>
          </p:nvPr>
        </p:nvSpPr>
        <p:spPr>
          <a:xfrm>
            <a:off x="513640" y="2458010"/>
            <a:ext cx="9678819" cy="560705"/>
          </a:xfrm>
          <a:prstGeom prst="rect">
            <a:avLst/>
          </a:prstGeom>
        </p:spPr>
        <p:txBody>
          <a:bodyPr wrap="square" lIns="0" tIns="0" rIns="0" bIns="0">
            <a:spAutoFit/>
          </a:bodyPr>
          <a:lstStyle>
            <a:lvl1pPr>
              <a:defRPr sz="2550" b="0" i="0">
                <a:solidFill>
                  <a:schemeClr val="bg1"/>
                </a:solidFill>
                <a:latin typeface="PMingLiU"/>
                <a:cs typeface="PMingLiU"/>
              </a:defRPr>
            </a:lvl1pPr>
          </a:lstStyle>
          <a:p/>
        </p:txBody>
      </p:sp>
      <p:sp>
        <p:nvSpPr>
          <p:cNvPr id="3" name="Holder 3"/>
          <p:cNvSpPr>
            <a:spLocks noGrp="1"/>
          </p:cNvSpPr>
          <p:nvPr>
            <p:ph type="subTitle" idx="4"/>
          </p:nvPr>
        </p:nvSpPr>
        <p:spPr>
          <a:xfrm>
            <a:off x="1605915" y="3371088"/>
            <a:ext cx="7494270" cy="1504950"/>
          </a:xfrm>
          <a:prstGeom prst="rect">
            <a:avLst/>
          </a:prstGeom>
        </p:spPr>
        <p:txBody>
          <a:bodyPr wrap="square" lIns="0" tIns="0" rIns="0" bIns="0">
            <a:spAutoFit/>
          </a:bodyPr>
          <a:lstStyle>
            <a:lvl1pPr>
              <a:defRPr sz="1800" b="0" i="0">
                <a:solidFill>
                  <a:srgbClr val="1D3A8A"/>
                </a:solidFill>
                <a:latin typeface="SimSun"/>
                <a:cs typeface="SimSun"/>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050" b="0" i="0">
                <a:solidFill>
                  <a:srgbClr val="4A5462"/>
                </a:solidFill>
                <a:latin typeface="Segoe UI Symbol"/>
                <a:cs typeface="Segoe UI Symbol"/>
              </a:defRPr>
            </a:lvl1pPr>
          </a:lstStyle>
          <a:p>
            <a:pPr marL="38100">
              <a:lnSpc>
                <a:spcPct val="100000"/>
              </a:lnSpc>
              <a:spcBef>
                <a:spcPts val="25"/>
              </a:spcBef>
            </a:pPr>
            <a:fld id="{81D60167-4931-47E6-BA6A-407CBD079E47}" type="slidenum">
              <a:rPr dirty="0" spc="105"/>
              <a:t>#</a:t>
            </a:fld>
            <a:r>
              <a:rPr dirty="0" spc="15"/>
              <a:t> </a:t>
            </a:r>
            <a:r>
              <a:rPr dirty="0"/>
              <a:t>/</a:t>
            </a:r>
            <a:r>
              <a:rPr dirty="0" spc="15"/>
              <a:t> </a:t>
            </a:r>
            <a:r>
              <a:rPr dirty="0" spc="80"/>
              <a:t>13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0" i="0">
                <a:solidFill>
                  <a:schemeClr val="bg1"/>
                </a:solidFill>
                <a:latin typeface="PMingLiU"/>
                <a:cs typeface="PMingLiU"/>
              </a:defRPr>
            </a:lvl1pPr>
          </a:lstStyle>
          <a:p/>
        </p:txBody>
      </p:sp>
      <p:sp>
        <p:nvSpPr>
          <p:cNvPr id="3" name="Holder 3"/>
          <p:cNvSpPr>
            <a:spLocks noGrp="1"/>
          </p:cNvSpPr>
          <p:nvPr>
            <p:ph type="body" idx="1"/>
          </p:nvPr>
        </p:nvSpPr>
        <p:spPr/>
        <p:txBody>
          <a:bodyPr lIns="0" tIns="0" rIns="0" bIns="0"/>
          <a:lstStyle>
            <a:lvl1pPr>
              <a:defRPr sz="1800" b="0" i="0">
                <a:solidFill>
                  <a:srgbClr val="1D3A8A"/>
                </a:solidFill>
                <a:latin typeface="SimSun"/>
                <a:cs typeface="SimSun"/>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050" b="0" i="0">
                <a:solidFill>
                  <a:srgbClr val="4A5462"/>
                </a:solidFill>
                <a:latin typeface="Segoe UI Symbol"/>
                <a:cs typeface="Segoe UI Symbol"/>
              </a:defRPr>
            </a:lvl1pPr>
          </a:lstStyle>
          <a:p>
            <a:pPr marL="38100">
              <a:lnSpc>
                <a:spcPct val="100000"/>
              </a:lnSpc>
              <a:spcBef>
                <a:spcPts val="25"/>
              </a:spcBef>
            </a:pPr>
            <a:fld id="{81D60167-4931-47E6-BA6A-407CBD079E47}" type="slidenum">
              <a:rPr dirty="0" spc="105"/>
              <a:t>#</a:t>
            </a:fld>
            <a:r>
              <a:rPr dirty="0" spc="15"/>
              <a:t> </a:t>
            </a:r>
            <a:r>
              <a:rPr dirty="0"/>
              <a:t>/</a:t>
            </a:r>
            <a:r>
              <a:rPr dirty="0" spc="15"/>
              <a:t> </a:t>
            </a:r>
            <a:r>
              <a:rPr dirty="0" spc="80"/>
              <a:t>13</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0" i="0">
                <a:solidFill>
                  <a:schemeClr val="bg1"/>
                </a:solidFill>
                <a:latin typeface="PMingLiU"/>
                <a:cs typeface="PMingLiU"/>
              </a:defRPr>
            </a:lvl1pPr>
          </a:lstStyle>
          <a:p/>
        </p:txBody>
      </p:sp>
      <p:sp>
        <p:nvSpPr>
          <p:cNvPr id="3" name="Holder 3"/>
          <p:cNvSpPr>
            <a:spLocks noGrp="1"/>
          </p:cNvSpPr>
          <p:nvPr>
            <p:ph idx="2" sz="half"/>
          </p:nvPr>
        </p:nvSpPr>
        <p:spPr>
          <a:xfrm>
            <a:off x="450602" y="1043116"/>
            <a:ext cx="4624705" cy="3659956"/>
          </a:xfrm>
          <a:prstGeom prst="rect">
            <a:avLst/>
          </a:prstGeom>
        </p:spPr>
        <p:txBody>
          <a:bodyPr wrap="square" lIns="0" tIns="0" rIns="0" bIns="0">
            <a:spAutoFit/>
          </a:bodyPr>
          <a:lstStyle>
            <a:lvl1pPr>
              <a:defRPr sz="1750" b="0" i="0">
                <a:solidFill>
                  <a:srgbClr val="1D3A8A"/>
                </a:solidFill>
                <a:latin typeface="SimSun"/>
                <a:cs typeface="SimSun"/>
              </a:defRPr>
            </a:lvl1pPr>
          </a:lstStyle>
          <a:p/>
        </p:txBody>
      </p:sp>
      <p:sp>
        <p:nvSpPr>
          <p:cNvPr id="4" name="Holder 4"/>
          <p:cNvSpPr>
            <a:spLocks noGrp="1"/>
          </p:cNvSpPr>
          <p:nvPr>
            <p:ph idx="3" sz="half"/>
          </p:nvPr>
        </p:nvSpPr>
        <p:spPr>
          <a:xfrm>
            <a:off x="5513641" y="1384554"/>
            <a:ext cx="4657153" cy="3973068"/>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050" b="0" i="0">
                <a:solidFill>
                  <a:srgbClr val="4A5462"/>
                </a:solidFill>
                <a:latin typeface="Segoe UI Symbol"/>
                <a:cs typeface="Segoe UI Symbol"/>
              </a:defRPr>
            </a:lvl1pPr>
          </a:lstStyle>
          <a:p>
            <a:pPr marL="38100">
              <a:lnSpc>
                <a:spcPct val="100000"/>
              </a:lnSpc>
              <a:spcBef>
                <a:spcPts val="25"/>
              </a:spcBef>
            </a:pPr>
            <a:fld id="{81D60167-4931-47E6-BA6A-407CBD079E47}" type="slidenum">
              <a:rPr dirty="0" spc="105"/>
              <a:t>#</a:t>
            </a:fld>
            <a:r>
              <a:rPr dirty="0" spc="15"/>
              <a:t> </a:t>
            </a:r>
            <a:r>
              <a:rPr dirty="0"/>
              <a:t>/</a:t>
            </a:r>
            <a:r>
              <a:rPr dirty="0" spc="15"/>
              <a:t> </a:t>
            </a:r>
            <a:r>
              <a:rPr dirty="0" spc="80"/>
              <a:t>13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0" i="0">
                <a:solidFill>
                  <a:schemeClr val="bg1"/>
                </a:solidFill>
                <a:latin typeface="PMingLiU"/>
                <a:cs typeface="PMingLiU"/>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050" b="0" i="0">
                <a:solidFill>
                  <a:srgbClr val="4A5462"/>
                </a:solidFill>
                <a:latin typeface="Segoe UI Symbol"/>
                <a:cs typeface="Segoe UI Symbol"/>
              </a:defRPr>
            </a:lvl1pPr>
          </a:lstStyle>
          <a:p>
            <a:pPr marL="38100">
              <a:lnSpc>
                <a:spcPct val="100000"/>
              </a:lnSpc>
              <a:spcBef>
                <a:spcPts val="25"/>
              </a:spcBef>
            </a:pPr>
            <a:fld id="{81D60167-4931-47E6-BA6A-407CBD079E47}" type="slidenum">
              <a:rPr dirty="0" spc="105"/>
              <a:t>#</a:t>
            </a:fld>
            <a:r>
              <a:rPr dirty="0" spc="15"/>
              <a:t> </a:t>
            </a:r>
            <a:r>
              <a:rPr dirty="0"/>
              <a:t>/</a:t>
            </a:r>
            <a:r>
              <a:rPr dirty="0" spc="15"/>
              <a:t> </a:t>
            </a:r>
            <a:r>
              <a:rPr dirty="0" spc="80"/>
              <a:t>13</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050" b="0" i="0">
                <a:solidFill>
                  <a:srgbClr val="4A5462"/>
                </a:solidFill>
                <a:latin typeface="Segoe UI Symbol"/>
                <a:cs typeface="Segoe UI Symbol"/>
              </a:defRPr>
            </a:lvl1pPr>
          </a:lstStyle>
          <a:p>
            <a:pPr marL="38100">
              <a:lnSpc>
                <a:spcPct val="100000"/>
              </a:lnSpc>
              <a:spcBef>
                <a:spcPts val="25"/>
              </a:spcBef>
            </a:pPr>
            <a:fld id="{81D60167-4931-47E6-BA6A-407CBD079E47}" type="slidenum">
              <a:rPr dirty="0" spc="105"/>
              <a:t>#</a:t>
            </a:fld>
            <a:r>
              <a:rPr dirty="0" spc="15"/>
              <a:t> </a:t>
            </a:r>
            <a:r>
              <a:rPr dirty="0"/>
              <a:t>/</a:t>
            </a:r>
            <a:r>
              <a:rPr dirty="0" spc="15"/>
              <a:t> </a:t>
            </a:r>
            <a:r>
              <a:rPr dirty="0" spc="80"/>
              <a:t>13</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21567" y="118134"/>
            <a:ext cx="4864100" cy="440055"/>
          </a:xfrm>
          <a:prstGeom prst="rect">
            <a:avLst/>
          </a:prstGeom>
        </p:spPr>
        <p:txBody>
          <a:bodyPr wrap="square" lIns="0" tIns="0" rIns="0" bIns="0">
            <a:spAutoFit/>
          </a:bodyPr>
          <a:lstStyle>
            <a:lvl1pPr>
              <a:defRPr sz="2550" b="0" i="0">
                <a:solidFill>
                  <a:schemeClr val="bg1"/>
                </a:solidFill>
                <a:latin typeface="PMingLiU"/>
                <a:cs typeface="PMingLiU"/>
              </a:defRPr>
            </a:lvl1pPr>
          </a:lstStyle>
          <a:p/>
        </p:txBody>
      </p:sp>
      <p:sp>
        <p:nvSpPr>
          <p:cNvPr id="3" name="Holder 3"/>
          <p:cNvSpPr>
            <a:spLocks noGrp="1"/>
          </p:cNvSpPr>
          <p:nvPr>
            <p:ph type="body" idx="1"/>
          </p:nvPr>
        </p:nvSpPr>
        <p:spPr>
          <a:xfrm>
            <a:off x="755786" y="2932318"/>
            <a:ext cx="7705090" cy="1322704"/>
          </a:xfrm>
          <a:prstGeom prst="rect">
            <a:avLst/>
          </a:prstGeom>
        </p:spPr>
        <p:txBody>
          <a:bodyPr wrap="square" lIns="0" tIns="0" rIns="0" bIns="0">
            <a:spAutoFit/>
          </a:bodyPr>
          <a:lstStyle>
            <a:lvl1pPr>
              <a:defRPr sz="1800" b="0" i="0">
                <a:solidFill>
                  <a:srgbClr val="1D3A8A"/>
                </a:solidFill>
                <a:latin typeface="SimSun"/>
                <a:cs typeface="SimSun"/>
              </a:defRPr>
            </a:lvl1pPr>
          </a:lstStyle>
          <a:p/>
        </p:txBody>
      </p:sp>
      <p:sp>
        <p:nvSpPr>
          <p:cNvPr id="4" name="Holder 4"/>
          <p:cNvSpPr>
            <a:spLocks noGrp="1"/>
          </p:cNvSpPr>
          <p:nvPr>
            <p:ph type="ftr" idx="5" sz="quarter"/>
          </p:nvPr>
        </p:nvSpPr>
        <p:spPr>
          <a:xfrm>
            <a:off x="3640074" y="5598414"/>
            <a:ext cx="3425952" cy="30099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535305" y="5598414"/>
            <a:ext cx="2462403" cy="30099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10072592" y="6155784"/>
            <a:ext cx="436245" cy="181610"/>
          </a:xfrm>
          <a:prstGeom prst="rect">
            <a:avLst/>
          </a:prstGeom>
        </p:spPr>
        <p:txBody>
          <a:bodyPr wrap="square" lIns="0" tIns="0" rIns="0" bIns="0">
            <a:spAutoFit/>
          </a:bodyPr>
          <a:lstStyle>
            <a:lvl1pPr>
              <a:defRPr sz="1050" b="0" i="0">
                <a:solidFill>
                  <a:srgbClr val="4A5462"/>
                </a:solidFill>
                <a:latin typeface="Segoe UI Symbol"/>
                <a:cs typeface="Segoe UI Symbol"/>
              </a:defRPr>
            </a:lvl1pPr>
          </a:lstStyle>
          <a:p>
            <a:pPr marL="38100">
              <a:lnSpc>
                <a:spcPct val="100000"/>
              </a:lnSpc>
              <a:spcBef>
                <a:spcPts val="25"/>
              </a:spcBef>
            </a:pPr>
            <a:fld id="{81D60167-4931-47E6-BA6A-407CBD079E47}" type="slidenum">
              <a:rPr dirty="0" spc="105"/>
              <a:t>#</a:t>
            </a:fld>
            <a:r>
              <a:rPr dirty="0" spc="15"/>
              <a:t> </a:t>
            </a:r>
            <a:r>
              <a:rPr dirty="0"/>
              <a:t>/</a:t>
            </a:r>
            <a:r>
              <a:rPr dirty="0" spc="15"/>
              <a:t> </a:t>
            </a:r>
            <a:r>
              <a:rPr dirty="0" spc="80"/>
              <a:t>13</a:t>
            </a:r>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jpg"/><Relationship Id="rId8"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14.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jpg"/><Relationship Id="rId10" Type="http://schemas.openxmlformats.org/officeDocument/2006/relationships/image" Target="../media/image56.png"/><Relationship Id="rId11" Type="http://schemas.openxmlformats.org/officeDocument/2006/relationships/image" Target="../media/image5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image" Target="../media/image64.png"/><Relationship Id="rId10" Type="http://schemas.openxmlformats.org/officeDocument/2006/relationships/image" Target="../media/image65.png"/><Relationship Id="rId11" Type="http://schemas.openxmlformats.org/officeDocument/2006/relationships/image" Target="../media/image66.png"/><Relationship Id="rId12" Type="http://schemas.openxmlformats.org/officeDocument/2006/relationships/image" Target="../media/image67.png"/><Relationship Id="rId13" Type="http://schemas.openxmlformats.org/officeDocument/2006/relationships/image" Target="../media/image68.png"/><Relationship Id="rId14" Type="http://schemas.openxmlformats.org/officeDocument/2006/relationships/image" Target="../media/image69.png"/><Relationship Id="rId15" Type="http://schemas.openxmlformats.org/officeDocument/2006/relationships/image" Target="../media/image70.png"/><Relationship Id="rId16" Type="http://schemas.openxmlformats.org/officeDocument/2006/relationships/image" Target="../media/image71.png"/><Relationship Id="rId17" Type="http://schemas.openxmlformats.org/officeDocument/2006/relationships/image" Target="../media/image7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10.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 Id="rId11" Type="http://schemas.openxmlformats.org/officeDocument/2006/relationships/image" Target="../media/image87.png"/><Relationship Id="rId12" Type="http://schemas.openxmlformats.org/officeDocument/2006/relationships/image" Target="../media/image77.png"/><Relationship Id="rId13" Type="http://schemas.openxmlformats.org/officeDocument/2006/relationships/image" Target="../media/image8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77.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588982" y="5452581"/>
            <a:ext cx="408305" cy="206375"/>
          </a:xfrm>
          <a:prstGeom prst="rect">
            <a:avLst/>
          </a:prstGeom>
        </p:spPr>
        <p:txBody>
          <a:bodyPr wrap="square" lIns="0" tIns="17145" rIns="0" bIns="0" rtlCol="0" vert="horz">
            <a:spAutoFit/>
          </a:bodyPr>
          <a:lstStyle/>
          <a:p>
            <a:pPr marL="12700">
              <a:lnSpc>
                <a:spcPct val="100000"/>
              </a:lnSpc>
              <a:spcBef>
                <a:spcPts val="135"/>
              </a:spcBef>
            </a:pPr>
            <a:r>
              <a:rPr dirty="0" sz="1150" spc="105">
                <a:solidFill>
                  <a:srgbClr val="9CA2AF"/>
                </a:solidFill>
                <a:latin typeface="Segoe UI Symbol"/>
                <a:cs typeface="Segoe UI Symbol"/>
              </a:rPr>
              <a:t>2023</a:t>
            </a:r>
            <a:endParaRPr sz="1150">
              <a:latin typeface="Segoe UI Symbol"/>
              <a:cs typeface="Segoe UI Symbol"/>
            </a:endParaRPr>
          </a:p>
        </p:txBody>
      </p:sp>
      <p:grpSp>
        <p:nvGrpSpPr>
          <p:cNvPr id="3" name="object 3" descr=""/>
          <p:cNvGrpSpPr/>
          <p:nvPr/>
        </p:nvGrpSpPr>
        <p:grpSpPr>
          <a:xfrm>
            <a:off x="4947166" y="1571059"/>
            <a:ext cx="3476625" cy="4061460"/>
            <a:chOff x="4947166" y="1571059"/>
            <a:chExt cx="3476625" cy="4061460"/>
          </a:xfrm>
        </p:grpSpPr>
        <p:pic>
          <p:nvPicPr>
            <p:cNvPr id="4" name="object 4" descr=""/>
            <p:cNvPicPr/>
            <p:nvPr/>
          </p:nvPicPr>
          <p:blipFill>
            <a:blip r:embed="rId2" cstate="print"/>
            <a:stretch>
              <a:fillRect/>
            </a:stretch>
          </p:blipFill>
          <p:spPr>
            <a:xfrm>
              <a:off x="8273132" y="5481994"/>
              <a:ext cx="150420" cy="150420"/>
            </a:xfrm>
            <a:prstGeom prst="rect">
              <a:avLst/>
            </a:prstGeom>
          </p:spPr>
        </p:pic>
        <p:sp>
          <p:nvSpPr>
            <p:cNvPr id="5" name="object 5" descr=""/>
            <p:cNvSpPr/>
            <p:nvPr/>
          </p:nvSpPr>
          <p:spPr>
            <a:xfrm>
              <a:off x="4947166" y="3844081"/>
              <a:ext cx="802640" cy="33655"/>
            </a:xfrm>
            <a:custGeom>
              <a:avLst/>
              <a:gdLst/>
              <a:ahLst/>
              <a:cxnLst/>
              <a:rect l="l" t="t" r="r" b="b"/>
              <a:pathLst>
                <a:path w="802639" h="33654">
                  <a:moveTo>
                    <a:pt x="802243" y="33426"/>
                  </a:moveTo>
                  <a:lnTo>
                    <a:pt x="0" y="33426"/>
                  </a:lnTo>
                  <a:lnTo>
                    <a:pt x="0" y="0"/>
                  </a:lnTo>
                  <a:lnTo>
                    <a:pt x="802243" y="0"/>
                  </a:lnTo>
                  <a:lnTo>
                    <a:pt x="802243" y="33426"/>
                  </a:lnTo>
                  <a:close/>
                </a:path>
              </a:pathLst>
            </a:custGeom>
            <a:solidFill>
              <a:srgbClr val="60A5FA"/>
            </a:solidFill>
          </p:spPr>
          <p:txBody>
            <a:bodyPr wrap="square" lIns="0" tIns="0" rIns="0" bIns="0" rtlCol="0"/>
            <a:lstStyle/>
            <a:p/>
          </p:txBody>
        </p:sp>
        <p:pic>
          <p:nvPicPr>
            <p:cNvPr id="6" name="object 6" descr=""/>
            <p:cNvPicPr/>
            <p:nvPr/>
          </p:nvPicPr>
          <p:blipFill>
            <a:blip r:embed="rId3" cstate="print"/>
            <a:stretch>
              <a:fillRect/>
            </a:stretch>
          </p:blipFill>
          <p:spPr>
            <a:xfrm>
              <a:off x="5047446" y="1571059"/>
              <a:ext cx="601682" cy="601682"/>
            </a:xfrm>
            <a:prstGeom prst="rect">
              <a:avLst/>
            </a:prstGeom>
          </p:spPr>
        </p:pic>
      </p:grpSp>
      <p:sp>
        <p:nvSpPr>
          <p:cNvPr id="7" name="object 7" descr=""/>
          <p:cNvSpPr txBox="1"/>
          <p:nvPr/>
        </p:nvSpPr>
        <p:spPr>
          <a:xfrm>
            <a:off x="8477706" y="5452581"/>
            <a:ext cx="1830705" cy="206375"/>
          </a:xfrm>
          <a:prstGeom prst="rect">
            <a:avLst/>
          </a:prstGeom>
        </p:spPr>
        <p:txBody>
          <a:bodyPr wrap="square" lIns="0" tIns="17145" rIns="0" bIns="0" rtlCol="0" vert="horz">
            <a:spAutoFit/>
          </a:bodyPr>
          <a:lstStyle/>
          <a:p>
            <a:pPr marL="12700">
              <a:lnSpc>
                <a:spcPct val="100000"/>
              </a:lnSpc>
              <a:spcBef>
                <a:spcPts val="135"/>
              </a:spcBef>
            </a:pPr>
            <a:r>
              <a:rPr dirty="0" sz="1150" spc="-5">
                <a:solidFill>
                  <a:srgbClr val="9CA2AF"/>
                </a:solidFill>
                <a:latin typeface="PMingLiU"/>
                <a:cs typeface="PMingLiU"/>
              </a:rPr>
              <a:t>半導体デバイス工学研究室</a:t>
            </a:r>
            <a:endParaRPr sz="1150">
              <a:latin typeface="PMingLiU"/>
              <a:cs typeface="PMingLiU"/>
            </a:endParaRPr>
          </a:p>
        </p:txBody>
      </p:sp>
      <p:sp>
        <p:nvSpPr>
          <p:cNvPr id="8" name="object 8"/>
          <p:cNvSpPr txBox="1">
            <a:spLocks noGrp="1"/>
          </p:cNvSpPr>
          <p:nvPr>
            <p:ph type="ctrTitle"/>
          </p:nvPr>
        </p:nvSpPr>
        <p:spPr>
          <a:prstGeom prst="rect"/>
        </p:spPr>
        <p:txBody>
          <a:bodyPr wrap="square" lIns="0" tIns="13970" rIns="0" bIns="0" rtlCol="0" vert="horz">
            <a:spAutoFit/>
          </a:bodyPr>
          <a:lstStyle/>
          <a:p>
            <a:pPr marL="13335">
              <a:lnSpc>
                <a:spcPct val="100000"/>
              </a:lnSpc>
              <a:spcBef>
                <a:spcPts val="110"/>
              </a:spcBef>
            </a:pPr>
            <a:r>
              <a:rPr dirty="0" sz="3150" b="1">
                <a:solidFill>
                  <a:srgbClr val="DAE9FE"/>
                </a:solidFill>
                <a:latin typeface="Yu Gothic"/>
                <a:cs typeface="Yu Gothic"/>
              </a:rPr>
              <a:t>PN-</a:t>
            </a:r>
            <a:r>
              <a:rPr dirty="0" sz="3150" spc="220" b="1">
                <a:solidFill>
                  <a:srgbClr val="DAE9FE"/>
                </a:solidFill>
                <a:latin typeface="Yu Gothic"/>
                <a:cs typeface="Yu Gothic"/>
              </a:rPr>
              <a:t>Body</a:t>
            </a:r>
            <a:r>
              <a:rPr dirty="0" sz="3150" spc="80" b="1">
                <a:solidFill>
                  <a:srgbClr val="DAE9FE"/>
                </a:solidFill>
                <a:latin typeface="Yu Gothic"/>
                <a:cs typeface="Yu Gothic"/>
              </a:rPr>
              <a:t> </a:t>
            </a:r>
            <a:r>
              <a:rPr dirty="0" sz="3150" spc="145" b="1">
                <a:solidFill>
                  <a:srgbClr val="DAE9FE"/>
                </a:solidFill>
                <a:latin typeface="Yu Gothic"/>
                <a:cs typeface="Yu Gothic"/>
              </a:rPr>
              <a:t>Tied</a:t>
            </a:r>
            <a:r>
              <a:rPr dirty="0" sz="3150" spc="80" b="1">
                <a:solidFill>
                  <a:srgbClr val="DAE9FE"/>
                </a:solidFill>
                <a:latin typeface="Yu Gothic"/>
                <a:cs typeface="Yu Gothic"/>
              </a:rPr>
              <a:t> </a:t>
            </a:r>
            <a:r>
              <a:rPr dirty="0" sz="3150" spc="150" b="1">
                <a:solidFill>
                  <a:srgbClr val="DAE9FE"/>
                </a:solidFill>
                <a:latin typeface="Yu Gothic"/>
                <a:cs typeface="Yu Gothic"/>
              </a:rPr>
              <a:t>SOI</a:t>
            </a:r>
            <a:r>
              <a:rPr dirty="0" sz="3150" spc="80" b="1">
                <a:solidFill>
                  <a:srgbClr val="DAE9FE"/>
                </a:solidFill>
                <a:latin typeface="Yu Gothic"/>
                <a:cs typeface="Yu Gothic"/>
              </a:rPr>
              <a:t> </a:t>
            </a:r>
            <a:r>
              <a:rPr dirty="0" sz="3150" spc="65" b="1">
                <a:solidFill>
                  <a:srgbClr val="DAE9FE"/>
                </a:solidFill>
                <a:latin typeface="Yu Gothic"/>
                <a:cs typeface="Yu Gothic"/>
              </a:rPr>
              <a:t>MOSFET</a:t>
            </a:r>
            <a:r>
              <a:rPr dirty="0" sz="3100">
                <a:solidFill>
                  <a:srgbClr val="DAE9FE"/>
                </a:solidFill>
              </a:rPr>
              <a:t>の</a:t>
            </a:r>
            <a:r>
              <a:rPr dirty="0" sz="3450" spc="-395">
                <a:solidFill>
                  <a:srgbClr val="DAE9FE"/>
                </a:solidFill>
                <a:latin typeface="SimSun"/>
                <a:cs typeface="SimSun"/>
              </a:rPr>
              <a:t>動作</a:t>
            </a:r>
            <a:r>
              <a:rPr dirty="0" sz="3350" spc="-285">
                <a:solidFill>
                  <a:srgbClr val="DAE9FE"/>
                </a:solidFill>
              </a:rPr>
              <a:t>原</a:t>
            </a:r>
            <a:r>
              <a:rPr dirty="0" sz="3400" spc="-355">
                <a:solidFill>
                  <a:srgbClr val="DAE9FE"/>
                </a:solidFill>
              </a:rPr>
              <a:t>理</a:t>
            </a:r>
            <a:r>
              <a:rPr dirty="0" sz="3100">
                <a:solidFill>
                  <a:srgbClr val="DAE9FE"/>
                </a:solidFill>
              </a:rPr>
              <a:t>と</a:t>
            </a:r>
            <a:r>
              <a:rPr dirty="0" sz="3500" spc="-430">
                <a:solidFill>
                  <a:srgbClr val="DAE9FE"/>
                </a:solidFill>
                <a:latin typeface="SimSun"/>
                <a:cs typeface="SimSun"/>
              </a:rPr>
              <a:t>特性</a:t>
            </a:r>
            <a:r>
              <a:rPr dirty="0" sz="3400" spc="-355">
                <a:solidFill>
                  <a:srgbClr val="DAE9FE"/>
                </a:solidFill>
              </a:rPr>
              <a:t>解</a:t>
            </a:r>
            <a:r>
              <a:rPr dirty="0" sz="3450" spc="-365">
                <a:solidFill>
                  <a:srgbClr val="DAE9FE"/>
                </a:solidFill>
                <a:latin typeface="SimSun"/>
                <a:cs typeface="SimSun"/>
              </a:rPr>
              <a:t>析</a:t>
            </a:r>
            <a:endParaRPr sz="3450">
              <a:latin typeface="SimSun"/>
              <a:cs typeface="SimSun"/>
            </a:endParaRPr>
          </a:p>
        </p:txBody>
      </p:sp>
      <p:sp>
        <p:nvSpPr>
          <p:cNvPr id="9" name="object 9" descr=""/>
          <p:cNvSpPr txBox="1"/>
          <p:nvPr/>
        </p:nvSpPr>
        <p:spPr>
          <a:xfrm>
            <a:off x="3091683" y="3162845"/>
            <a:ext cx="4512945" cy="266700"/>
          </a:xfrm>
          <a:prstGeom prst="rect">
            <a:avLst/>
          </a:prstGeom>
        </p:spPr>
        <p:txBody>
          <a:bodyPr wrap="square" lIns="0" tIns="16510" rIns="0" bIns="0" rtlCol="0" vert="horz">
            <a:spAutoFit/>
          </a:bodyPr>
          <a:lstStyle/>
          <a:p>
            <a:pPr marL="12700">
              <a:lnSpc>
                <a:spcPct val="100000"/>
              </a:lnSpc>
              <a:spcBef>
                <a:spcPts val="130"/>
              </a:spcBef>
            </a:pPr>
            <a:r>
              <a:rPr dirty="0" sz="1550" spc="-5">
                <a:solidFill>
                  <a:srgbClr val="BEDAFE"/>
                </a:solidFill>
                <a:latin typeface="PMingLiU"/>
                <a:cs typeface="PMingLiU"/>
              </a:rPr>
              <a:t>デバイス構造と電気的特性の最適化に関する研究</a:t>
            </a:r>
            <a:endParaRPr sz="1550">
              <a:latin typeface="PMingLiU"/>
              <a:cs typeface="PMingLiU"/>
            </a:endParaRPr>
          </a:p>
        </p:txBody>
      </p:sp>
      <p:sp>
        <p:nvSpPr>
          <p:cNvPr id="10" name="object 10" descr=""/>
          <p:cNvSpPr txBox="1"/>
          <p:nvPr/>
        </p:nvSpPr>
        <p:spPr>
          <a:xfrm>
            <a:off x="3496983" y="4207433"/>
            <a:ext cx="3702685" cy="226060"/>
          </a:xfrm>
          <a:prstGeom prst="rect">
            <a:avLst/>
          </a:prstGeom>
        </p:spPr>
        <p:txBody>
          <a:bodyPr wrap="square" lIns="0" tIns="14604" rIns="0" bIns="0" rtlCol="0" vert="horz">
            <a:spAutoFit/>
          </a:bodyPr>
          <a:lstStyle/>
          <a:p>
            <a:pPr marL="12700">
              <a:lnSpc>
                <a:spcPct val="100000"/>
              </a:lnSpc>
              <a:spcBef>
                <a:spcPts val="114"/>
              </a:spcBef>
            </a:pPr>
            <a:r>
              <a:rPr dirty="0" sz="1300" spc="-15">
                <a:solidFill>
                  <a:srgbClr val="D0D5DA"/>
                </a:solidFill>
                <a:latin typeface="PMingLiU"/>
                <a:cs typeface="PMingLiU"/>
              </a:rPr>
              <a:t>半導体デバイスシミュレーションによる特性評価</a:t>
            </a:r>
            <a:endParaRPr sz="1300">
              <a:latin typeface="PMingLiU"/>
              <a:cs typeface="PMingLiU"/>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6017260"/>
          </a:xfrm>
          <a:custGeom>
            <a:avLst/>
            <a:gdLst/>
            <a:ahLst/>
            <a:cxnLst/>
            <a:rect l="l" t="t" r="r" b="b"/>
            <a:pathLst>
              <a:path w="10696575" h="6017260">
                <a:moveTo>
                  <a:pt x="10696575" y="6016823"/>
                </a:moveTo>
                <a:lnTo>
                  <a:pt x="0" y="6016823"/>
                </a:lnTo>
                <a:lnTo>
                  <a:pt x="0" y="0"/>
                </a:lnTo>
                <a:lnTo>
                  <a:pt x="10696575" y="0"/>
                </a:lnTo>
                <a:lnTo>
                  <a:pt x="10696575" y="6016823"/>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p:cNvSpPr txBox="1">
            <a:spLocks noGrp="1"/>
          </p:cNvSpPr>
          <p:nvPr>
            <p:ph type="title"/>
          </p:nvPr>
        </p:nvSpPr>
        <p:spPr>
          <a:xfrm>
            <a:off x="321567" y="119309"/>
            <a:ext cx="1229360" cy="438784"/>
          </a:xfrm>
          <a:prstGeom prst="rect"/>
        </p:spPr>
        <p:txBody>
          <a:bodyPr wrap="square" lIns="0" tIns="13970" rIns="0" bIns="0" rtlCol="0" vert="horz">
            <a:spAutoFit/>
          </a:bodyPr>
          <a:lstStyle/>
          <a:p>
            <a:pPr marL="12700">
              <a:lnSpc>
                <a:spcPct val="100000"/>
              </a:lnSpc>
              <a:spcBef>
                <a:spcPts val="110"/>
              </a:spcBef>
            </a:pPr>
            <a:r>
              <a:rPr dirty="0" sz="2500" spc="-150"/>
              <a:t>研</a:t>
            </a:r>
            <a:r>
              <a:rPr dirty="0" sz="2700" spc="-355">
                <a:latin typeface="SimSun"/>
                <a:cs typeface="SimSun"/>
              </a:rPr>
              <a:t>究</a:t>
            </a:r>
            <a:r>
              <a:rPr dirty="0" sz="2650" spc="-295">
                <a:latin typeface="SimSun"/>
                <a:cs typeface="SimSun"/>
              </a:rPr>
              <a:t>背</a:t>
            </a:r>
            <a:r>
              <a:rPr dirty="0" sz="2600" spc="-135">
                <a:latin typeface="SimSun"/>
                <a:cs typeface="SimSun"/>
              </a:rPr>
              <a:t>景</a:t>
            </a:r>
            <a:endParaRPr sz="2600">
              <a:latin typeface="SimSun"/>
              <a:cs typeface="SimSun"/>
            </a:endParaRPr>
          </a:p>
        </p:txBody>
      </p:sp>
      <p:grpSp>
        <p:nvGrpSpPr>
          <p:cNvPr id="5" name="object 5" descr=""/>
          <p:cNvGrpSpPr/>
          <p:nvPr/>
        </p:nvGrpSpPr>
        <p:grpSpPr>
          <a:xfrm>
            <a:off x="334267" y="1002804"/>
            <a:ext cx="4846955" cy="4328795"/>
            <a:chOff x="334267" y="1002804"/>
            <a:chExt cx="4846955" cy="4328795"/>
          </a:xfrm>
        </p:grpSpPr>
        <p:sp>
          <p:nvSpPr>
            <p:cNvPr id="6" name="object 6" descr=""/>
            <p:cNvSpPr/>
            <p:nvPr/>
          </p:nvSpPr>
          <p:spPr>
            <a:xfrm>
              <a:off x="334267" y="1002804"/>
              <a:ext cx="4846955" cy="4328795"/>
            </a:xfrm>
            <a:custGeom>
              <a:avLst/>
              <a:gdLst/>
              <a:ahLst/>
              <a:cxnLst/>
              <a:rect l="l" t="t" r="r" b="b"/>
              <a:pathLst>
                <a:path w="4846955" h="4328795">
                  <a:moveTo>
                    <a:pt x="4784421" y="4328770"/>
                  </a:moveTo>
                  <a:lnTo>
                    <a:pt x="62463" y="4328770"/>
                  </a:lnTo>
                  <a:lnTo>
                    <a:pt x="58116" y="4328342"/>
                  </a:lnTo>
                  <a:lnTo>
                    <a:pt x="22684" y="4312293"/>
                  </a:lnTo>
                  <a:lnTo>
                    <a:pt x="2140" y="4279264"/>
                  </a:lnTo>
                  <a:lnTo>
                    <a:pt x="0" y="4266305"/>
                  </a:lnTo>
                  <a:lnTo>
                    <a:pt x="0" y="4261916"/>
                  </a:lnTo>
                  <a:lnTo>
                    <a:pt x="0" y="62463"/>
                  </a:lnTo>
                  <a:lnTo>
                    <a:pt x="13705" y="26061"/>
                  </a:lnTo>
                  <a:lnTo>
                    <a:pt x="45325" y="3408"/>
                  </a:lnTo>
                  <a:lnTo>
                    <a:pt x="62463" y="0"/>
                  </a:lnTo>
                  <a:lnTo>
                    <a:pt x="4784421" y="0"/>
                  </a:lnTo>
                  <a:lnTo>
                    <a:pt x="4820823" y="13705"/>
                  </a:lnTo>
                  <a:lnTo>
                    <a:pt x="4843476" y="45325"/>
                  </a:lnTo>
                  <a:lnTo>
                    <a:pt x="4846885" y="62463"/>
                  </a:lnTo>
                  <a:lnTo>
                    <a:pt x="4846885" y="4266305"/>
                  </a:lnTo>
                  <a:lnTo>
                    <a:pt x="4833180" y="4302708"/>
                  </a:lnTo>
                  <a:lnTo>
                    <a:pt x="4801560" y="4325361"/>
                  </a:lnTo>
                  <a:lnTo>
                    <a:pt x="4788769" y="4328342"/>
                  </a:lnTo>
                  <a:lnTo>
                    <a:pt x="4784421" y="4328770"/>
                  </a:lnTo>
                  <a:close/>
                </a:path>
              </a:pathLst>
            </a:custGeom>
            <a:solidFill>
              <a:srgbClr val="FFFFFF">
                <a:alpha val="94898"/>
              </a:srgbClr>
            </a:solidFill>
          </p:spPr>
          <p:txBody>
            <a:bodyPr wrap="square" lIns="0" tIns="0" rIns="0" bIns="0" rtlCol="0"/>
            <a:lstStyle/>
            <a:p/>
          </p:txBody>
        </p:sp>
        <p:pic>
          <p:nvPicPr>
            <p:cNvPr id="7" name="object 7" descr=""/>
            <p:cNvPicPr/>
            <p:nvPr/>
          </p:nvPicPr>
          <p:blipFill>
            <a:blip r:embed="rId3" cstate="print"/>
            <a:stretch>
              <a:fillRect/>
            </a:stretch>
          </p:blipFill>
          <p:spPr>
            <a:xfrm>
              <a:off x="543185" y="1713123"/>
              <a:ext cx="167133" cy="167133"/>
            </a:xfrm>
            <a:prstGeom prst="rect">
              <a:avLst/>
            </a:prstGeom>
          </p:spPr>
        </p:pic>
        <p:pic>
          <p:nvPicPr>
            <p:cNvPr id="8" name="object 8" descr=""/>
            <p:cNvPicPr/>
            <p:nvPr/>
          </p:nvPicPr>
          <p:blipFill>
            <a:blip r:embed="rId4" cstate="print"/>
            <a:stretch>
              <a:fillRect/>
            </a:stretch>
          </p:blipFill>
          <p:spPr>
            <a:xfrm>
              <a:off x="543185" y="2314805"/>
              <a:ext cx="125350" cy="167133"/>
            </a:xfrm>
            <a:prstGeom prst="rect">
              <a:avLst/>
            </a:prstGeom>
          </p:spPr>
        </p:pic>
        <p:pic>
          <p:nvPicPr>
            <p:cNvPr id="9" name="object 9" descr=""/>
            <p:cNvPicPr/>
            <p:nvPr/>
          </p:nvPicPr>
          <p:blipFill>
            <a:blip r:embed="rId5" cstate="print"/>
            <a:stretch>
              <a:fillRect/>
            </a:stretch>
          </p:blipFill>
          <p:spPr>
            <a:xfrm>
              <a:off x="543185" y="2682500"/>
              <a:ext cx="167133" cy="167133"/>
            </a:xfrm>
            <a:prstGeom prst="rect">
              <a:avLst/>
            </a:prstGeom>
          </p:spPr>
        </p:pic>
        <p:pic>
          <p:nvPicPr>
            <p:cNvPr id="10" name="object 10" descr=""/>
            <p:cNvPicPr/>
            <p:nvPr/>
          </p:nvPicPr>
          <p:blipFill>
            <a:blip r:embed="rId6" cstate="print"/>
            <a:stretch>
              <a:fillRect/>
            </a:stretch>
          </p:blipFill>
          <p:spPr>
            <a:xfrm>
              <a:off x="543185" y="3651877"/>
              <a:ext cx="125350" cy="167133"/>
            </a:xfrm>
            <a:prstGeom prst="rect">
              <a:avLst/>
            </a:prstGeom>
          </p:spPr>
        </p:pic>
        <p:pic>
          <p:nvPicPr>
            <p:cNvPr id="11" name="object 11" descr=""/>
            <p:cNvPicPr/>
            <p:nvPr/>
          </p:nvPicPr>
          <p:blipFill>
            <a:blip r:embed="rId7" cstate="print"/>
            <a:stretch>
              <a:fillRect/>
            </a:stretch>
          </p:blipFill>
          <p:spPr>
            <a:xfrm>
              <a:off x="543185" y="4019572"/>
              <a:ext cx="167133" cy="167133"/>
            </a:xfrm>
            <a:prstGeom prst="rect">
              <a:avLst/>
            </a:prstGeom>
          </p:spPr>
        </p:pic>
        <p:pic>
          <p:nvPicPr>
            <p:cNvPr id="12" name="object 12" descr=""/>
            <p:cNvPicPr/>
            <p:nvPr/>
          </p:nvPicPr>
          <p:blipFill>
            <a:blip r:embed="rId8" cstate="print"/>
            <a:stretch>
              <a:fillRect/>
            </a:stretch>
          </p:blipFill>
          <p:spPr>
            <a:xfrm>
              <a:off x="543185" y="4387267"/>
              <a:ext cx="208917" cy="167133"/>
            </a:xfrm>
            <a:prstGeom prst="rect">
              <a:avLst/>
            </a:prstGeom>
          </p:spPr>
        </p:pic>
      </p:grpSp>
      <p:sp>
        <p:nvSpPr>
          <p:cNvPr id="13" name="object 13" descr=""/>
          <p:cNvSpPr txBox="1"/>
          <p:nvPr/>
        </p:nvSpPr>
        <p:spPr>
          <a:xfrm>
            <a:off x="530485" y="1199021"/>
            <a:ext cx="4430395" cy="3364865"/>
          </a:xfrm>
          <a:prstGeom prst="rect">
            <a:avLst/>
          </a:prstGeom>
        </p:spPr>
        <p:txBody>
          <a:bodyPr wrap="square" lIns="0" tIns="16510" rIns="0" bIns="0" rtlCol="0" vert="horz">
            <a:spAutoFit/>
          </a:bodyPr>
          <a:lstStyle/>
          <a:p>
            <a:pPr marL="12700">
              <a:lnSpc>
                <a:spcPct val="100000"/>
              </a:lnSpc>
              <a:spcBef>
                <a:spcPts val="130"/>
              </a:spcBef>
            </a:pPr>
            <a:r>
              <a:rPr dirty="0" sz="1550" spc="114" b="1">
                <a:solidFill>
                  <a:srgbClr val="1D3A8A"/>
                </a:solidFill>
                <a:latin typeface="Yu Gothic"/>
                <a:cs typeface="Yu Gothic"/>
              </a:rPr>
              <a:t>PN-</a:t>
            </a:r>
            <a:r>
              <a:rPr dirty="0" sz="1550" spc="110" b="1">
                <a:solidFill>
                  <a:srgbClr val="1D3A8A"/>
                </a:solidFill>
                <a:latin typeface="Yu Gothic"/>
                <a:cs typeface="Yu Gothic"/>
              </a:rPr>
              <a:t>Body</a:t>
            </a:r>
            <a:r>
              <a:rPr dirty="0" sz="1550" spc="125" b="1">
                <a:solidFill>
                  <a:srgbClr val="1D3A8A"/>
                </a:solidFill>
                <a:latin typeface="Yu Gothic"/>
                <a:cs typeface="Yu Gothic"/>
              </a:rPr>
              <a:t> </a:t>
            </a:r>
            <a:r>
              <a:rPr dirty="0" sz="1550" spc="114" b="1">
                <a:solidFill>
                  <a:srgbClr val="1D3A8A"/>
                </a:solidFill>
                <a:latin typeface="Yu Gothic"/>
                <a:cs typeface="Yu Gothic"/>
              </a:rPr>
              <a:t>Tied</a:t>
            </a:r>
            <a:r>
              <a:rPr dirty="0" sz="1550" spc="125" b="1">
                <a:solidFill>
                  <a:srgbClr val="1D3A8A"/>
                </a:solidFill>
                <a:latin typeface="Yu Gothic"/>
                <a:cs typeface="Yu Gothic"/>
              </a:rPr>
              <a:t> </a:t>
            </a:r>
            <a:r>
              <a:rPr dirty="0" sz="1550" spc="114" b="1">
                <a:solidFill>
                  <a:srgbClr val="1D3A8A"/>
                </a:solidFill>
                <a:latin typeface="Yu Gothic"/>
                <a:cs typeface="Yu Gothic"/>
              </a:rPr>
              <a:t>SOI</a:t>
            </a:r>
            <a:r>
              <a:rPr dirty="0" sz="1550" spc="130" b="1">
                <a:solidFill>
                  <a:srgbClr val="1D3A8A"/>
                </a:solidFill>
                <a:latin typeface="Yu Gothic"/>
                <a:cs typeface="Yu Gothic"/>
              </a:rPr>
              <a:t> </a:t>
            </a:r>
            <a:r>
              <a:rPr dirty="0" sz="1550" spc="85" b="1">
                <a:solidFill>
                  <a:srgbClr val="1D3A8A"/>
                </a:solidFill>
                <a:latin typeface="Yu Gothic"/>
                <a:cs typeface="Yu Gothic"/>
              </a:rPr>
              <a:t>MOSFET</a:t>
            </a:r>
            <a:r>
              <a:rPr dirty="0" sz="1550" spc="45">
                <a:solidFill>
                  <a:srgbClr val="1D3A8A"/>
                </a:solidFill>
                <a:latin typeface="PMingLiU"/>
                <a:cs typeface="PMingLiU"/>
              </a:rPr>
              <a:t>とは</a:t>
            </a:r>
            <a:endParaRPr sz="1550">
              <a:latin typeface="PMingLiU"/>
              <a:cs typeface="PMingLiU"/>
            </a:endParaRPr>
          </a:p>
          <a:p>
            <a:pPr marL="304800" marR="271780">
              <a:lnSpc>
                <a:spcPct val="133500"/>
              </a:lnSpc>
              <a:spcBef>
                <a:spcPts val="1495"/>
              </a:spcBef>
            </a:pPr>
            <a:r>
              <a:rPr dirty="0" sz="1150" spc="65">
                <a:latin typeface="Segoe UI Symbol"/>
                <a:cs typeface="Segoe UI Symbol"/>
              </a:rPr>
              <a:t>SOI</a:t>
            </a:r>
            <a:r>
              <a:rPr dirty="0" sz="1150" spc="65">
                <a:latin typeface="PMingLiU"/>
                <a:cs typeface="PMingLiU"/>
              </a:rPr>
              <a:t>（</a:t>
            </a:r>
            <a:r>
              <a:rPr dirty="0" sz="1150" spc="65">
                <a:latin typeface="Segoe UI Symbol"/>
                <a:cs typeface="Segoe UI Symbol"/>
              </a:rPr>
              <a:t>Silicon-</a:t>
            </a:r>
            <a:r>
              <a:rPr dirty="0" sz="1150" spc="90">
                <a:latin typeface="Segoe UI Symbol"/>
                <a:cs typeface="Segoe UI Symbol"/>
              </a:rPr>
              <a:t>On-</a:t>
            </a:r>
            <a:r>
              <a:rPr dirty="0" sz="1150" spc="65">
                <a:latin typeface="Segoe UI Symbol"/>
                <a:cs typeface="Segoe UI Symbol"/>
              </a:rPr>
              <a:t>Insulator</a:t>
            </a:r>
            <a:r>
              <a:rPr dirty="0" sz="1150" spc="65">
                <a:latin typeface="PMingLiU"/>
                <a:cs typeface="PMingLiU"/>
              </a:rPr>
              <a:t>）</a:t>
            </a:r>
            <a:r>
              <a:rPr dirty="0" sz="1150" spc="-5">
                <a:latin typeface="PMingLiU"/>
                <a:cs typeface="PMingLiU"/>
              </a:rPr>
              <a:t>基板上に構築された特殊な</a:t>
            </a:r>
            <a:r>
              <a:rPr dirty="0" sz="1150" spc="-50">
                <a:latin typeface="PMingLiU"/>
                <a:cs typeface="PMingLiU"/>
              </a:rPr>
              <a:t> </a:t>
            </a:r>
            <a:r>
              <a:rPr dirty="0" sz="1150" spc="90">
                <a:latin typeface="Segoe UI Symbol"/>
                <a:cs typeface="Segoe UI Symbol"/>
              </a:rPr>
              <a:t>MOSFET</a:t>
            </a:r>
            <a:r>
              <a:rPr dirty="0" sz="1150" spc="-25">
                <a:latin typeface="PMingLiU"/>
                <a:cs typeface="PMingLiU"/>
              </a:rPr>
              <a:t>構造</a:t>
            </a:r>
            <a:endParaRPr sz="1150">
              <a:latin typeface="PMingLiU"/>
              <a:cs typeface="PMingLiU"/>
            </a:endParaRPr>
          </a:p>
          <a:p>
            <a:pPr marL="304800" marR="5080" indent="-41910">
              <a:lnSpc>
                <a:spcPct val="209800"/>
              </a:lnSpc>
            </a:pPr>
            <a:r>
              <a:rPr dirty="0" sz="1150" spc="100">
                <a:latin typeface="Segoe UI Symbol"/>
                <a:cs typeface="Segoe UI Symbol"/>
              </a:rPr>
              <a:t>Body</a:t>
            </a:r>
            <a:r>
              <a:rPr dirty="0" sz="1150" spc="20">
                <a:latin typeface="PMingLiU"/>
                <a:cs typeface="PMingLiU"/>
              </a:rPr>
              <a:t>と呼ばれる領域と</a:t>
            </a:r>
            <a:r>
              <a:rPr dirty="0" sz="1150" spc="35">
                <a:latin typeface="Segoe UI Symbol"/>
                <a:cs typeface="Segoe UI Symbol"/>
              </a:rPr>
              <a:t>PN</a:t>
            </a:r>
            <a:r>
              <a:rPr dirty="0" sz="1150" spc="10">
                <a:latin typeface="PMingLiU"/>
                <a:cs typeface="PMingLiU"/>
              </a:rPr>
              <a:t>接合を介して接続する構造を持つ</a:t>
            </a:r>
            <a:r>
              <a:rPr dirty="0" sz="1150" spc="5">
                <a:latin typeface="PMingLiU"/>
                <a:cs typeface="PMingLiU"/>
              </a:rPr>
              <a:t>特定の条件下で急峻な</a:t>
            </a:r>
            <a:r>
              <a:rPr dirty="0" sz="1150" spc="100">
                <a:latin typeface="Segoe UI Symbol"/>
                <a:cs typeface="Segoe UI Symbol"/>
              </a:rPr>
              <a:t>Body</a:t>
            </a:r>
            <a:r>
              <a:rPr dirty="0" sz="1150" spc="60">
                <a:latin typeface="Segoe UI Symbol"/>
                <a:cs typeface="Segoe UI Symbol"/>
              </a:rPr>
              <a:t> </a:t>
            </a:r>
            <a:r>
              <a:rPr dirty="0" sz="1150" spc="85">
                <a:latin typeface="Segoe UI Symbol"/>
                <a:cs typeface="Segoe UI Symbol"/>
              </a:rPr>
              <a:t>Tie</a:t>
            </a:r>
            <a:r>
              <a:rPr dirty="0" sz="1150" spc="10">
                <a:latin typeface="PMingLiU"/>
                <a:cs typeface="PMingLiU"/>
              </a:rPr>
              <a:t>電流の立ち上がり特性を示す</a:t>
            </a:r>
            <a:endParaRPr sz="1150">
              <a:latin typeface="PMingLiU"/>
              <a:cs typeface="PMingLiU"/>
            </a:endParaRPr>
          </a:p>
          <a:p>
            <a:pPr>
              <a:lnSpc>
                <a:spcPct val="100000"/>
              </a:lnSpc>
              <a:spcBef>
                <a:spcPts val="575"/>
              </a:spcBef>
            </a:pPr>
            <a:endParaRPr sz="1150">
              <a:latin typeface="PMingLiU"/>
              <a:cs typeface="PMingLiU"/>
            </a:endParaRPr>
          </a:p>
          <a:p>
            <a:pPr marL="12700">
              <a:lnSpc>
                <a:spcPct val="100000"/>
              </a:lnSpc>
            </a:pPr>
            <a:r>
              <a:rPr dirty="0" sz="1650" spc="-90">
                <a:solidFill>
                  <a:srgbClr val="1D3A8A"/>
                </a:solidFill>
                <a:latin typeface="PMingLiU"/>
                <a:cs typeface="PMingLiU"/>
              </a:rPr>
              <a:t>研</a:t>
            </a:r>
            <a:r>
              <a:rPr dirty="0" sz="1800" spc="-240">
                <a:solidFill>
                  <a:srgbClr val="1D3A8A"/>
                </a:solidFill>
                <a:latin typeface="SimSun"/>
                <a:cs typeface="SimSun"/>
              </a:rPr>
              <a:t>究</a:t>
            </a:r>
            <a:r>
              <a:rPr dirty="0" sz="1550" spc="85">
                <a:solidFill>
                  <a:srgbClr val="1D3A8A"/>
                </a:solidFill>
                <a:latin typeface="PMingLiU"/>
                <a:cs typeface="PMingLiU"/>
              </a:rPr>
              <a:t>の</a:t>
            </a:r>
            <a:r>
              <a:rPr dirty="0" sz="1650" spc="-90">
                <a:solidFill>
                  <a:srgbClr val="1D3A8A"/>
                </a:solidFill>
                <a:latin typeface="PMingLiU"/>
                <a:cs typeface="PMingLiU"/>
              </a:rPr>
              <a:t>目</a:t>
            </a:r>
            <a:r>
              <a:rPr dirty="0" sz="1700" spc="-50">
                <a:solidFill>
                  <a:srgbClr val="1D3A8A"/>
                </a:solidFill>
                <a:latin typeface="PMingLiU"/>
                <a:cs typeface="PMingLiU"/>
              </a:rPr>
              <a:t>的</a:t>
            </a:r>
            <a:endParaRPr sz="1700">
              <a:latin typeface="PMingLiU"/>
              <a:cs typeface="PMingLiU"/>
            </a:endParaRPr>
          </a:p>
          <a:p>
            <a:pPr marL="304800" marR="545465" indent="-41910">
              <a:lnSpc>
                <a:spcPct val="209800"/>
              </a:lnSpc>
              <a:spcBef>
                <a:spcPts val="395"/>
              </a:spcBef>
            </a:pPr>
            <a:r>
              <a:rPr dirty="0" sz="1150">
                <a:latin typeface="PMingLiU"/>
                <a:cs typeface="PMingLiU"/>
              </a:rPr>
              <a:t>デバイスの動作原理の定性的なメカニズムを解明する電気的特性の最適化条件を明らかにする</a:t>
            </a:r>
            <a:endParaRPr sz="1150">
              <a:latin typeface="PMingLiU"/>
              <a:cs typeface="PMingLiU"/>
            </a:endParaRPr>
          </a:p>
          <a:p>
            <a:pPr marL="346710">
              <a:lnSpc>
                <a:spcPct val="100000"/>
              </a:lnSpc>
              <a:spcBef>
                <a:spcPts val="1515"/>
              </a:spcBef>
            </a:pPr>
            <a:r>
              <a:rPr dirty="0" sz="1150">
                <a:latin typeface="PMingLiU"/>
                <a:cs typeface="PMingLiU"/>
              </a:rPr>
              <a:t>先行研究との比較検証を行い、モデルの精度を向上させる</a:t>
            </a:r>
            <a:endParaRPr sz="1150">
              <a:latin typeface="PMingLiU"/>
              <a:cs typeface="PMingLiU"/>
            </a:endParaRPr>
          </a:p>
        </p:txBody>
      </p:sp>
      <p:grpSp>
        <p:nvGrpSpPr>
          <p:cNvPr id="14" name="object 14" descr=""/>
          <p:cNvGrpSpPr/>
          <p:nvPr/>
        </p:nvGrpSpPr>
        <p:grpSpPr>
          <a:xfrm>
            <a:off x="5515421" y="1002804"/>
            <a:ext cx="4846955" cy="4328795"/>
            <a:chOff x="5515421" y="1002804"/>
            <a:chExt cx="4846955" cy="4328795"/>
          </a:xfrm>
        </p:grpSpPr>
        <p:sp>
          <p:nvSpPr>
            <p:cNvPr id="15" name="object 15" descr=""/>
            <p:cNvSpPr/>
            <p:nvPr/>
          </p:nvSpPr>
          <p:spPr>
            <a:xfrm>
              <a:off x="5515421" y="1002804"/>
              <a:ext cx="4846955" cy="4328795"/>
            </a:xfrm>
            <a:custGeom>
              <a:avLst/>
              <a:gdLst/>
              <a:ahLst/>
              <a:cxnLst/>
              <a:rect l="l" t="t" r="r" b="b"/>
              <a:pathLst>
                <a:path w="4846955" h="4328795">
                  <a:moveTo>
                    <a:pt x="4784422" y="4328770"/>
                  </a:moveTo>
                  <a:lnTo>
                    <a:pt x="62464" y="4328770"/>
                  </a:lnTo>
                  <a:lnTo>
                    <a:pt x="58116" y="4328342"/>
                  </a:lnTo>
                  <a:lnTo>
                    <a:pt x="22684" y="4312293"/>
                  </a:lnTo>
                  <a:lnTo>
                    <a:pt x="2141" y="4279264"/>
                  </a:lnTo>
                  <a:lnTo>
                    <a:pt x="0" y="4266305"/>
                  </a:lnTo>
                  <a:lnTo>
                    <a:pt x="0" y="4261916"/>
                  </a:lnTo>
                  <a:lnTo>
                    <a:pt x="0" y="62463"/>
                  </a:lnTo>
                  <a:lnTo>
                    <a:pt x="13705" y="26061"/>
                  </a:lnTo>
                  <a:lnTo>
                    <a:pt x="45325" y="3408"/>
                  </a:lnTo>
                  <a:lnTo>
                    <a:pt x="62464" y="0"/>
                  </a:lnTo>
                  <a:lnTo>
                    <a:pt x="4784422" y="0"/>
                  </a:lnTo>
                  <a:lnTo>
                    <a:pt x="4820824" y="13705"/>
                  </a:lnTo>
                  <a:lnTo>
                    <a:pt x="4843477" y="45325"/>
                  </a:lnTo>
                  <a:lnTo>
                    <a:pt x="4846886" y="62463"/>
                  </a:lnTo>
                  <a:lnTo>
                    <a:pt x="4846886" y="4266305"/>
                  </a:lnTo>
                  <a:lnTo>
                    <a:pt x="4833180" y="4302708"/>
                  </a:lnTo>
                  <a:lnTo>
                    <a:pt x="4801561" y="4325361"/>
                  </a:lnTo>
                  <a:lnTo>
                    <a:pt x="4788769" y="4328342"/>
                  </a:lnTo>
                  <a:lnTo>
                    <a:pt x="4784422" y="4328770"/>
                  </a:lnTo>
                  <a:close/>
                </a:path>
              </a:pathLst>
            </a:custGeom>
            <a:solidFill>
              <a:srgbClr val="FFFFFF">
                <a:alpha val="94898"/>
              </a:srgbClr>
            </a:solidFill>
          </p:spPr>
          <p:txBody>
            <a:bodyPr wrap="square" lIns="0" tIns="0" rIns="0" bIns="0" rtlCol="0"/>
            <a:lstStyle/>
            <a:p/>
          </p:txBody>
        </p:sp>
        <p:pic>
          <p:nvPicPr>
            <p:cNvPr id="16" name="object 16" descr=""/>
            <p:cNvPicPr/>
            <p:nvPr/>
          </p:nvPicPr>
          <p:blipFill>
            <a:blip r:embed="rId9" cstate="print"/>
            <a:stretch>
              <a:fillRect/>
            </a:stretch>
          </p:blipFill>
          <p:spPr>
            <a:xfrm>
              <a:off x="5724339" y="1378855"/>
              <a:ext cx="4429050" cy="3576667"/>
            </a:xfrm>
            <a:prstGeom prst="rect">
              <a:avLst/>
            </a:prstGeom>
          </p:spPr>
        </p:pic>
      </p:grpSp>
      <p:sp>
        <p:nvSpPr>
          <p:cNvPr id="17" name="object 17" descr=""/>
          <p:cNvSpPr txBox="1"/>
          <p:nvPr/>
        </p:nvSpPr>
        <p:spPr>
          <a:xfrm>
            <a:off x="6575904" y="5494365"/>
            <a:ext cx="2726055" cy="166370"/>
          </a:xfrm>
          <a:prstGeom prst="rect">
            <a:avLst/>
          </a:prstGeom>
        </p:spPr>
        <p:txBody>
          <a:bodyPr wrap="square" lIns="0" tIns="15240" rIns="0" bIns="0" rtlCol="0" vert="horz">
            <a:spAutoFit/>
          </a:bodyPr>
          <a:lstStyle/>
          <a:p>
            <a:pPr marL="12700">
              <a:lnSpc>
                <a:spcPct val="100000"/>
              </a:lnSpc>
              <a:spcBef>
                <a:spcPts val="120"/>
              </a:spcBef>
            </a:pPr>
            <a:r>
              <a:rPr dirty="0" sz="900" spc="-10">
                <a:solidFill>
                  <a:srgbClr val="4A5462"/>
                </a:solidFill>
                <a:latin typeface="Segoe UI Symbol"/>
                <a:cs typeface="Segoe UI Symbol"/>
              </a:rPr>
              <a:t>PN-</a:t>
            </a:r>
            <a:r>
              <a:rPr dirty="0" sz="900" spc="80">
                <a:solidFill>
                  <a:srgbClr val="4A5462"/>
                </a:solidFill>
                <a:latin typeface="Segoe UI Symbol"/>
                <a:cs typeface="Segoe UI Symbol"/>
              </a:rPr>
              <a:t>Body</a:t>
            </a:r>
            <a:r>
              <a:rPr dirty="0" sz="900" spc="105">
                <a:solidFill>
                  <a:srgbClr val="4A5462"/>
                </a:solidFill>
                <a:latin typeface="Segoe UI Symbol"/>
                <a:cs typeface="Segoe UI Symbol"/>
              </a:rPr>
              <a:t> </a:t>
            </a:r>
            <a:r>
              <a:rPr dirty="0" sz="900" spc="60">
                <a:solidFill>
                  <a:srgbClr val="4A5462"/>
                </a:solidFill>
                <a:latin typeface="Segoe UI Symbol"/>
                <a:cs typeface="Segoe UI Symbol"/>
              </a:rPr>
              <a:t>Tied</a:t>
            </a:r>
            <a:r>
              <a:rPr dirty="0" sz="900" spc="110">
                <a:solidFill>
                  <a:srgbClr val="4A5462"/>
                </a:solidFill>
                <a:latin typeface="Segoe UI Symbol"/>
                <a:cs typeface="Segoe UI Symbol"/>
              </a:rPr>
              <a:t> </a:t>
            </a:r>
            <a:r>
              <a:rPr dirty="0" sz="900" spc="60">
                <a:solidFill>
                  <a:srgbClr val="4A5462"/>
                </a:solidFill>
                <a:latin typeface="Segoe UI Symbol"/>
                <a:cs typeface="Segoe UI Symbol"/>
              </a:rPr>
              <a:t>SOI</a:t>
            </a:r>
            <a:r>
              <a:rPr dirty="0" sz="900" spc="105">
                <a:solidFill>
                  <a:srgbClr val="4A5462"/>
                </a:solidFill>
                <a:latin typeface="Segoe UI Symbol"/>
                <a:cs typeface="Segoe UI Symbol"/>
              </a:rPr>
              <a:t> </a:t>
            </a:r>
            <a:r>
              <a:rPr dirty="0" sz="900" spc="70">
                <a:solidFill>
                  <a:srgbClr val="4A5462"/>
                </a:solidFill>
                <a:latin typeface="Segoe UI Symbol"/>
                <a:cs typeface="Segoe UI Symbol"/>
              </a:rPr>
              <a:t>MOSFET</a:t>
            </a:r>
            <a:r>
              <a:rPr dirty="0" sz="900" spc="-10">
                <a:solidFill>
                  <a:srgbClr val="4A5462"/>
                </a:solidFill>
                <a:latin typeface="PMingLiU"/>
                <a:cs typeface="PMingLiU"/>
              </a:rPr>
              <a:t>の基本構造と動作特性</a:t>
            </a:r>
            <a:endParaRPr sz="900">
              <a:latin typeface="PMingLiU"/>
              <a:cs typeface="PMingLiU"/>
            </a:endParaRPr>
          </a:p>
        </p:txBody>
      </p:sp>
      <p:sp>
        <p:nvSpPr>
          <p:cNvPr id="18" name="object 18" descr=""/>
          <p:cNvSpPr txBox="1"/>
          <p:nvPr/>
        </p:nvSpPr>
        <p:spPr>
          <a:xfrm>
            <a:off x="10072592" y="5687809"/>
            <a:ext cx="436245" cy="181610"/>
          </a:xfrm>
          <a:prstGeom prst="rect">
            <a:avLst/>
          </a:prstGeom>
        </p:spPr>
        <p:txBody>
          <a:bodyPr wrap="square" lIns="0" tIns="3175" rIns="0" bIns="0" rtlCol="0" vert="horz">
            <a:spAutoFit/>
          </a:bodyPr>
          <a:lstStyle/>
          <a:p>
            <a:pPr marL="38100">
              <a:lnSpc>
                <a:spcPct val="100000"/>
              </a:lnSpc>
              <a:spcBef>
                <a:spcPts val="25"/>
              </a:spcBef>
            </a:pPr>
            <a:fld id="{81D60167-4931-47E6-BA6A-407CBD079E47}" type="slidenum">
              <a:rPr dirty="0" sz="1050" spc="105">
                <a:solidFill>
                  <a:srgbClr val="4A5462"/>
                </a:solidFill>
                <a:latin typeface="Segoe UI Symbol"/>
                <a:cs typeface="Segoe UI Symbol"/>
              </a:rPr>
              <a:t>2</a:t>
            </a:fld>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6485255"/>
          </a:xfrm>
          <a:custGeom>
            <a:avLst/>
            <a:gdLst/>
            <a:ahLst/>
            <a:cxnLst/>
            <a:rect l="l" t="t" r="r" b="b"/>
            <a:pathLst>
              <a:path w="10696575" h="6485255">
                <a:moveTo>
                  <a:pt x="10696575" y="6484799"/>
                </a:moveTo>
                <a:lnTo>
                  <a:pt x="0" y="6484799"/>
                </a:lnTo>
                <a:lnTo>
                  <a:pt x="0" y="0"/>
                </a:lnTo>
                <a:lnTo>
                  <a:pt x="10696575" y="0"/>
                </a:lnTo>
                <a:lnTo>
                  <a:pt x="10696575" y="6484799"/>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descr=""/>
          <p:cNvSpPr/>
          <p:nvPr/>
        </p:nvSpPr>
        <p:spPr>
          <a:xfrm>
            <a:off x="334267" y="1002804"/>
            <a:ext cx="10028555" cy="1654810"/>
          </a:xfrm>
          <a:custGeom>
            <a:avLst/>
            <a:gdLst/>
            <a:ahLst/>
            <a:cxnLst/>
            <a:rect l="l" t="t" r="r" b="b"/>
            <a:pathLst>
              <a:path w="10028555" h="1654810">
                <a:moveTo>
                  <a:pt x="9965575" y="1654626"/>
                </a:moveTo>
                <a:lnTo>
                  <a:pt x="62463" y="1654626"/>
                </a:lnTo>
                <a:lnTo>
                  <a:pt x="58116" y="1654198"/>
                </a:lnTo>
                <a:lnTo>
                  <a:pt x="22684" y="1638149"/>
                </a:lnTo>
                <a:lnTo>
                  <a:pt x="2140" y="1605120"/>
                </a:lnTo>
                <a:lnTo>
                  <a:pt x="0" y="1592162"/>
                </a:lnTo>
                <a:lnTo>
                  <a:pt x="0" y="1587772"/>
                </a:lnTo>
                <a:lnTo>
                  <a:pt x="0" y="62463"/>
                </a:lnTo>
                <a:lnTo>
                  <a:pt x="13705" y="26061"/>
                </a:lnTo>
                <a:lnTo>
                  <a:pt x="45325" y="3408"/>
                </a:lnTo>
                <a:lnTo>
                  <a:pt x="62463" y="0"/>
                </a:lnTo>
                <a:lnTo>
                  <a:pt x="9965575" y="0"/>
                </a:lnTo>
                <a:lnTo>
                  <a:pt x="10001978" y="13705"/>
                </a:lnTo>
                <a:lnTo>
                  <a:pt x="10024630" y="45325"/>
                </a:lnTo>
                <a:lnTo>
                  <a:pt x="10028039" y="62463"/>
                </a:lnTo>
                <a:lnTo>
                  <a:pt x="10028039" y="1592162"/>
                </a:lnTo>
                <a:lnTo>
                  <a:pt x="10014333" y="1628564"/>
                </a:lnTo>
                <a:lnTo>
                  <a:pt x="9982714" y="1651217"/>
                </a:lnTo>
                <a:lnTo>
                  <a:pt x="9969923" y="1654198"/>
                </a:lnTo>
                <a:lnTo>
                  <a:pt x="9965575" y="1654626"/>
                </a:lnTo>
                <a:close/>
              </a:path>
            </a:pathLst>
          </a:custGeom>
          <a:solidFill>
            <a:srgbClr val="FFFFFF">
              <a:alpha val="94898"/>
            </a:srgbClr>
          </a:solidFill>
        </p:spPr>
        <p:txBody>
          <a:bodyPr wrap="square" lIns="0" tIns="0" rIns="0" bIns="0" rtlCol="0"/>
          <a:lstStyle/>
          <a:p/>
        </p:txBody>
      </p:sp>
      <p:grpSp>
        <p:nvGrpSpPr>
          <p:cNvPr id="5" name="object 5" descr=""/>
          <p:cNvGrpSpPr/>
          <p:nvPr/>
        </p:nvGrpSpPr>
        <p:grpSpPr>
          <a:xfrm>
            <a:off x="334267" y="2824564"/>
            <a:ext cx="10028555" cy="3242945"/>
            <a:chOff x="334267" y="2824564"/>
            <a:chExt cx="10028555" cy="3242945"/>
          </a:xfrm>
        </p:grpSpPr>
        <p:sp>
          <p:nvSpPr>
            <p:cNvPr id="6" name="object 6" descr=""/>
            <p:cNvSpPr/>
            <p:nvPr/>
          </p:nvSpPr>
          <p:spPr>
            <a:xfrm>
              <a:off x="334267" y="2824564"/>
              <a:ext cx="10028555" cy="3242945"/>
            </a:xfrm>
            <a:custGeom>
              <a:avLst/>
              <a:gdLst/>
              <a:ahLst/>
              <a:cxnLst/>
              <a:rect l="l" t="t" r="r" b="b"/>
              <a:pathLst>
                <a:path w="10028555" h="3242945">
                  <a:moveTo>
                    <a:pt x="9965575" y="3242399"/>
                  </a:moveTo>
                  <a:lnTo>
                    <a:pt x="62463" y="3242399"/>
                  </a:lnTo>
                  <a:lnTo>
                    <a:pt x="58116" y="3241970"/>
                  </a:lnTo>
                  <a:lnTo>
                    <a:pt x="22684" y="3225921"/>
                  </a:lnTo>
                  <a:lnTo>
                    <a:pt x="2140" y="3192893"/>
                  </a:lnTo>
                  <a:lnTo>
                    <a:pt x="0" y="3179935"/>
                  </a:lnTo>
                  <a:lnTo>
                    <a:pt x="0" y="3175545"/>
                  </a:lnTo>
                  <a:lnTo>
                    <a:pt x="0" y="62463"/>
                  </a:lnTo>
                  <a:lnTo>
                    <a:pt x="13705" y="26061"/>
                  </a:lnTo>
                  <a:lnTo>
                    <a:pt x="45325" y="3408"/>
                  </a:lnTo>
                  <a:lnTo>
                    <a:pt x="62463" y="0"/>
                  </a:lnTo>
                  <a:lnTo>
                    <a:pt x="9965575" y="0"/>
                  </a:lnTo>
                  <a:lnTo>
                    <a:pt x="10001978" y="13705"/>
                  </a:lnTo>
                  <a:lnTo>
                    <a:pt x="10024630" y="45325"/>
                  </a:lnTo>
                  <a:lnTo>
                    <a:pt x="10028039" y="62463"/>
                  </a:lnTo>
                  <a:lnTo>
                    <a:pt x="10028039" y="3179935"/>
                  </a:lnTo>
                  <a:lnTo>
                    <a:pt x="10014333" y="3216336"/>
                  </a:lnTo>
                  <a:lnTo>
                    <a:pt x="9982714" y="3238989"/>
                  </a:lnTo>
                  <a:lnTo>
                    <a:pt x="9969923" y="3241970"/>
                  </a:lnTo>
                  <a:lnTo>
                    <a:pt x="9965575" y="3242399"/>
                  </a:lnTo>
                  <a:close/>
                </a:path>
              </a:pathLst>
            </a:custGeom>
            <a:solidFill>
              <a:srgbClr val="FFFFFF">
                <a:alpha val="94898"/>
              </a:srgbClr>
            </a:solidFill>
          </p:spPr>
          <p:txBody>
            <a:bodyPr wrap="square" lIns="0" tIns="0" rIns="0" bIns="0" rtlCol="0"/>
            <a:lstStyle/>
            <a:p/>
          </p:txBody>
        </p:sp>
        <p:pic>
          <p:nvPicPr>
            <p:cNvPr id="7" name="object 7" descr=""/>
            <p:cNvPicPr/>
            <p:nvPr/>
          </p:nvPicPr>
          <p:blipFill>
            <a:blip r:embed="rId3" cstate="print"/>
            <a:stretch>
              <a:fillRect/>
            </a:stretch>
          </p:blipFill>
          <p:spPr>
            <a:xfrm>
              <a:off x="543185" y="3058552"/>
              <a:ext cx="225630" cy="200560"/>
            </a:xfrm>
            <a:prstGeom prst="rect">
              <a:avLst/>
            </a:prstGeom>
          </p:spPr>
        </p:pic>
        <p:pic>
          <p:nvPicPr>
            <p:cNvPr id="8" name="object 8" descr=""/>
            <p:cNvPicPr/>
            <p:nvPr/>
          </p:nvPicPr>
          <p:blipFill>
            <a:blip r:embed="rId4" cstate="print"/>
            <a:stretch>
              <a:fillRect/>
            </a:stretch>
          </p:blipFill>
          <p:spPr>
            <a:xfrm>
              <a:off x="543185" y="3501457"/>
              <a:ext cx="150420" cy="167133"/>
            </a:xfrm>
            <a:prstGeom prst="rect">
              <a:avLst/>
            </a:prstGeom>
          </p:spPr>
        </p:pic>
      </p:grpSp>
      <p:sp>
        <p:nvSpPr>
          <p:cNvPr id="9" name="object 9"/>
          <p:cNvSpPr txBox="1">
            <a:spLocks noGrp="1"/>
          </p:cNvSpPr>
          <p:nvPr>
            <p:ph type="title"/>
          </p:nvPr>
        </p:nvSpPr>
        <p:spPr>
          <a:prstGeom prst="rect"/>
        </p:spPr>
        <p:txBody>
          <a:bodyPr wrap="square" lIns="0" tIns="14604" rIns="0" bIns="0" rtlCol="0" vert="horz">
            <a:spAutoFit/>
          </a:bodyPr>
          <a:lstStyle/>
          <a:p>
            <a:pPr marL="12700">
              <a:lnSpc>
                <a:spcPct val="100000"/>
              </a:lnSpc>
              <a:spcBef>
                <a:spcPts val="114"/>
              </a:spcBef>
            </a:pPr>
            <a:r>
              <a:rPr dirty="0" sz="2600" spc="-240">
                <a:latin typeface="SimSun"/>
                <a:cs typeface="SimSun"/>
              </a:rPr>
              <a:t>動作</a:t>
            </a:r>
            <a:r>
              <a:rPr dirty="0" sz="2500" spc="-150"/>
              <a:t>原</a:t>
            </a:r>
            <a:r>
              <a:rPr dirty="0" spc="-210"/>
              <a:t>理</a:t>
            </a:r>
            <a:r>
              <a:rPr dirty="0" sz="2250" spc="110"/>
              <a:t>：</a:t>
            </a:r>
            <a:r>
              <a:rPr dirty="0" sz="2700" spc="-355">
                <a:latin typeface="SimSun"/>
                <a:cs typeface="SimSun"/>
              </a:rPr>
              <a:t>定</a:t>
            </a:r>
            <a:r>
              <a:rPr dirty="0" sz="2600" spc="-240">
                <a:latin typeface="SimSun"/>
                <a:cs typeface="SimSun"/>
              </a:rPr>
              <a:t>性</a:t>
            </a:r>
            <a:r>
              <a:rPr dirty="0" sz="2600" spc="-240"/>
              <a:t>的</a:t>
            </a:r>
            <a:r>
              <a:rPr dirty="0" sz="2600" spc="-215">
                <a:latin typeface="SimSun"/>
                <a:cs typeface="SimSun"/>
              </a:rPr>
              <a:t>なメカニズム </a:t>
            </a:r>
            <a:r>
              <a:rPr dirty="0" sz="2350" spc="155" b="1">
                <a:latin typeface="Yu Gothic"/>
                <a:cs typeface="Yu Gothic"/>
              </a:rPr>
              <a:t>(1)</a:t>
            </a:r>
            <a:endParaRPr sz="2350">
              <a:latin typeface="Yu Gothic"/>
              <a:cs typeface="Yu Gothic"/>
            </a:endParaRPr>
          </a:p>
        </p:txBody>
      </p:sp>
      <p:pic>
        <p:nvPicPr>
          <p:cNvPr id="10" name="object 10" descr=""/>
          <p:cNvPicPr/>
          <p:nvPr/>
        </p:nvPicPr>
        <p:blipFill>
          <a:blip r:embed="rId5" cstate="print"/>
          <a:stretch>
            <a:fillRect/>
          </a:stretch>
        </p:blipFill>
        <p:spPr>
          <a:xfrm>
            <a:off x="543185" y="1236791"/>
            <a:ext cx="200560" cy="200560"/>
          </a:xfrm>
          <a:prstGeom prst="rect">
            <a:avLst/>
          </a:prstGeom>
        </p:spPr>
      </p:pic>
      <p:pic>
        <p:nvPicPr>
          <p:cNvPr id="11" name="object 11" descr=""/>
          <p:cNvPicPr/>
          <p:nvPr/>
        </p:nvPicPr>
        <p:blipFill>
          <a:blip r:embed="rId6" cstate="print"/>
          <a:stretch>
            <a:fillRect/>
          </a:stretch>
        </p:blipFill>
        <p:spPr>
          <a:xfrm>
            <a:off x="543185" y="1679696"/>
            <a:ext cx="167133" cy="167133"/>
          </a:xfrm>
          <a:prstGeom prst="rect">
            <a:avLst/>
          </a:prstGeom>
        </p:spPr>
      </p:pic>
      <p:pic>
        <p:nvPicPr>
          <p:cNvPr id="12" name="object 12" descr=""/>
          <p:cNvPicPr/>
          <p:nvPr/>
        </p:nvPicPr>
        <p:blipFill>
          <a:blip r:embed="rId7" cstate="print"/>
          <a:stretch>
            <a:fillRect/>
          </a:stretch>
        </p:blipFill>
        <p:spPr>
          <a:xfrm>
            <a:off x="543185" y="2080818"/>
            <a:ext cx="167133" cy="167133"/>
          </a:xfrm>
          <a:prstGeom prst="rect">
            <a:avLst/>
          </a:prstGeom>
        </p:spPr>
      </p:pic>
      <p:sp>
        <p:nvSpPr>
          <p:cNvPr id="13" name="object 13" descr=""/>
          <p:cNvSpPr txBox="1"/>
          <p:nvPr/>
        </p:nvSpPr>
        <p:spPr>
          <a:xfrm>
            <a:off x="822970" y="1175322"/>
            <a:ext cx="5085080" cy="1082040"/>
          </a:xfrm>
          <a:prstGeom prst="rect">
            <a:avLst/>
          </a:prstGeom>
        </p:spPr>
        <p:txBody>
          <a:bodyPr wrap="square" lIns="0" tIns="14604" rIns="0" bIns="0" rtlCol="0" vert="horz">
            <a:spAutoFit/>
          </a:bodyPr>
          <a:lstStyle/>
          <a:p>
            <a:pPr marL="90805">
              <a:lnSpc>
                <a:spcPct val="100000"/>
              </a:lnSpc>
              <a:spcBef>
                <a:spcPts val="114"/>
              </a:spcBef>
            </a:pPr>
            <a:r>
              <a:rPr dirty="0" sz="1650" spc="-30">
                <a:solidFill>
                  <a:srgbClr val="1D3A8A"/>
                </a:solidFill>
                <a:latin typeface="PMingLiU"/>
                <a:cs typeface="PMingLiU"/>
              </a:rPr>
              <a:t>ドレインを</a:t>
            </a:r>
            <a:r>
              <a:rPr dirty="0" sz="1750" spc="-175">
                <a:solidFill>
                  <a:srgbClr val="1D3A8A"/>
                </a:solidFill>
                <a:latin typeface="SimSun"/>
                <a:cs typeface="SimSun"/>
              </a:rPr>
              <a:t>省略</a:t>
            </a:r>
            <a:r>
              <a:rPr dirty="0" sz="1650" spc="-30">
                <a:solidFill>
                  <a:srgbClr val="1D3A8A"/>
                </a:solidFill>
                <a:latin typeface="PMingLiU"/>
                <a:cs typeface="PMingLiU"/>
              </a:rPr>
              <a:t>した</a:t>
            </a:r>
            <a:r>
              <a:rPr dirty="0" sz="1550" spc="200" b="1">
                <a:solidFill>
                  <a:srgbClr val="1D3A8A"/>
                </a:solidFill>
                <a:latin typeface="Yu Gothic"/>
                <a:cs typeface="Yu Gothic"/>
              </a:rPr>
              <a:t>2</a:t>
            </a:r>
            <a:r>
              <a:rPr dirty="0" sz="1700" spc="-145">
                <a:solidFill>
                  <a:srgbClr val="1D3A8A"/>
                </a:solidFill>
                <a:latin typeface="SimSun"/>
                <a:cs typeface="SimSun"/>
              </a:rPr>
              <a:t>次</a:t>
            </a:r>
            <a:r>
              <a:rPr dirty="0" sz="1700" spc="-145">
                <a:solidFill>
                  <a:srgbClr val="1D3A8A"/>
                </a:solidFill>
                <a:latin typeface="PMingLiU"/>
                <a:cs typeface="PMingLiU"/>
              </a:rPr>
              <a:t>元</a:t>
            </a:r>
            <a:r>
              <a:rPr dirty="0" sz="1650" spc="-30">
                <a:solidFill>
                  <a:srgbClr val="1D3A8A"/>
                </a:solidFill>
                <a:latin typeface="PMingLiU"/>
                <a:cs typeface="PMingLiU"/>
              </a:rPr>
              <a:t>デバイス</a:t>
            </a:r>
            <a:r>
              <a:rPr dirty="0" sz="1750" spc="-175">
                <a:solidFill>
                  <a:srgbClr val="1D3A8A"/>
                </a:solidFill>
                <a:latin typeface="SimSun"/>
                <a:cs typeface="SimSun"/>
              </a:rPr>
              <a:t>構</a:t>
            </a:r>
            <a:r>
              <a:rPr dirty="0" sz="1750" spc="-50">
                <a:solidFill>
                  <a:srgbClr val="1D3A8A"/>
                </a:solidFill>
                <a:latin typeface="PMingLiU"/>
                <a:cs typeface="PMingLiU"/>
              </a:rPr>
              <a:t>造</a:t>
            </a:r>
            <a:endParaRPr sz="1750">
              <a:latin typeface="PMingLiU"/>
              <a:cs typeface="PMingLiU"/>
            </a:endParaRPr>
          </a:p>
          <a:p>
            <a:pPr marL="12700" marR="5080">
              <a:lnSpc>
                <a:spcPts val="3160"/>
              </a:lnSpc>
              <a:spcBef>
                <a:spcPts val="80"/>
              </a:spcBef>
            </a:pPr>
            <a:r>
              <a:rPr dirty="0" sz="1150">
                <a:latin typeface="PMingLiU"/>
                <a:cs typeface="PMingLiU"/>
              </a:rPr>
              <a:t>解析を簡略化するため、ドレイン部分を省略した</a:t>
            </a:r>
            <a:r>
              <a:rPr dirty="0" sz="1150" spc="125">
                <a:latin typeface="Segoe UI Symbol"/>
                <a:cs typeface="Segoe UI Symbol"/>
              </a:rPr>
              <a:t>2</a:t>
            </a:r>
            <a:r>
              <a:rPr dirty="0" sz="1150" spc="15">
                <a:latin typeface="PMingLiU"/>
                <a:cs typeface="PMingLiU"/>
              </a:rPr>
              <a:t>次元デバイス構造を考察ゲート電圧の印加により反転層</a:t>
            </a:r>
            <a:r>
              <a:rPr dirty="0" sz="1150" spc="30">
                <a:latin typeface="PMingLiU"/>
                <a:cs typeface="PMingLiU"/>
              </a:rPr>
              <a:t>（反転電荷）</a:t>
            </a:r>
            <a:r>
              <a:rPr dirty="0" sz="1150" spc="20">
                <a:latin typeface="PMingLiU"/>
                <a:cs typeface="PMingLiU"/>
              </a:rPr>
              <a:t>が形成される</a:t>
            </a:r>
            <a:endParaRPr sz="1150">
              <a:latin typeface="PMingLiU"/>
              <a:cs typeface="PMingLiU"/>
            </a:endParaRPr>
          </a:p>
        </p:txBody>
      </p:sp>
      <p:sp>
        <p:nvSpPr>
          <p:cNvPr id="14" name="object 14" descr=""/>
          <p:cNvSpPr txBox="1"/>
          <p:nvPr/>
        </p:nvSpPr>
        <p:spPr>
          <a:xfrm>
            <a:off x="806256" y="2990423"/>
            <a:ext cx="4090670" cy="687705"/>
          </a:xfrm>
          <a:prstGeom prst="rect">
            <a:avLst/>
          </a:prstGeom>
        </p:spPr>
        <p:txBody>
          <a:bodyPr wrap="square" lIns="0" tIns="14604" rIns="0" bIns="0" rtlCol="0" vert="horz">
            <a:spAutoFit/>
          </a:bodyPr>
          <a:lstStyle/>
          <a:p>
            <a:pPr marL="132080">
              <a:lnSpc>
                <a:spcPct val="100000"/>
              </a:lnSpc>
              <a:spcBef>
                <a:spcPts val="114"/>
              </a:spcBef>
            </a:pPr>
            <a:r>
              <a:rPr dirty="0" sz="1800" spc="-240">
                <a:solidFill>
                  <a:srgbClr val="1D3A8A"/>
                </a:solidFill>
                <a:latin typeface="SimSun"/>
                <a:cs typeface="SimSun"/>
              </a:rPr>
              <a:t>反</a:t>
            </a:r>
            <a:r>
              <a:rPr dirty="0" sz="1700" spc="-145">
                <a:solidFill>
                  <a:srgbClr val="1D3A8A"/>
                </a:solidFill>
                <a:latin typeface="SimSun"/>
                <a:cs typeface="SimSun"/>
              </a:rPr>
              <a:t>転</a:t>
            </a:r>
            <a:r>
              <a:rPr dirty="0" sz="1700" spc="-145">
                <a:solidFill>
                  <a:srgbClr val="1D3A8A"/>
                </a:solidFill>
                <a:latin typeface="PMingLiU"/>
                <a:cs typeface="PMingLiU"/>
              </a:rPr>
              <a:t>電</a:t>
            </a:r>
            <a:r>
              <a:rPr dirty="0" sz="1750" spc="-175">
                <a:solidFill>
                  <a:srgbClr val="1D3A8A"/>
                </a:solidFill>
                <a:latin typeface="SimSun"/>
                <a:cs typeface="SimSun"/>
              </a:rPr>
              <a:t>荷</a:t>
            </a:r>
            <a:r>
              <a:rPr dirty="0" sz="1650" spc="-30">
                <a:solidFill>
                  <a:srgbClr val="1D3A8A"/>
                </a:solidFill>
                <a:latin typeface="PMingLiU"/>
                <a:cs typeface="PMingLiU"/>
              </a:rPr>
              <a:t>の</a:t>
            </a:r>
            <a:r>
              <a:rPr dirty="0" sz="1700" spc="-145">
                <a:solidFill>
                  <a:srgbClr val="1D3A8A"/>
                </a:solidFill>
                <a:latin typeface="SimSun"/>
                <a:cs typeface="SimSun"/>
              </a:rPr>
              <a:t>発</a:t>
            </a:r>
            <a:r>
              <a:rPr dirty="0" sz="1750" spc="-175">
                <a:solidFill>
                  <a:srgbClr val="1D3A8A"/>
                </a:solidFill>
                <a:latin typeface="SimSun"/>
                <a:cs typeface="SimSun"/>
              </a:rPr>
              <a:t>生</a:t>
            </a:r>
            <a:r>
              <a:rPr dirty="0" sz="1650" spc="-30">
                <a:solidFill>
                  <a:srgbClr val="1D3A8A"/>
                </a:solidFill>
                <a:latin typeface="PMingLiU"/>
                <a:cs typeface="PMingLiU"/>
              </a:rPr>
              <a:t>と</a:t>
            </a:r>
            <a:r>
              <a:rPr dirty="0" sz="1550" spc="160" b="1">
                <a:solidFill>
                  <a:srgbClr val="1D3A8A"/>
                </a:solidFill>
                <a:latin typeface="Yu Gothic"/>
                <a:cs typeface="Yu Gothic"/>
              </a:rPr>
              <a:t>Body</a:t>
            </a:r>
            <a:r>
              <a:rPr dirty="0" sz="1650" spc="-30">
                <a:solidFill>
                  <a:srgbClr val="1D3A8A"/>
                </a:solidFill>
                <a:latin typeface="PMingLiU"/>
                <a:cs typeface="PMingLiU"/>
              </a:rPr>
              <a:t>のバンド</a:t>
            </a:r>
            <a:r>
              <a:rPr dirty="0" sz="1800" spc="-240">
                <a:solidFill>
                  <a:srgbClr val="1D3A8A"/>
                </a:solidFill>
                <a:latin typeface="PMingLiU"/>
                <a:cs typeface="PMingLiU"/>
              </a:rPr>
              <a:t>変</a:t>
            </a:r>
            <a:r>
              <a:rPr dirty="0" sz="1800" spc="-50">
                <a:solidFill>
                  <a:srgbClr val="1D3A8A"/>
                </a:solidFill>
                <a:latin typeface="SimSun"/>
                <a:cs typeface="SimSun"/>
              </a:rPr>
              <a:t>化</a:t>
            </a:r>
            <a:endParaRPr sz="1800">
              <a:latin typeface="SimSun"/>
              <a:cs typeface="SimSun"/>
            </a:endParaRPr>
          </a:p>
          <a:p>
            <a:pPr marL="12700">
              <a:lnSpc>
                <a:spcPct val="100000"/>
              </a:lnSpc>
              <a:spcBef>
                <a:spcPts val="1650"/>
              </a:spcBef>
            </a:pPr>
            <a:r>
              <a:rPr dirty="0" sz="1150">
                <a:latin typeface="PMingLiU"/>
                <a:cs typeface="PMingLiU"/>
              </a:rPr>
              <a:t>ゲート電圧の印加により、半導体表面に反転層が形成される</a:t>
            </a:r>
            <a:endParaRPr sz="1150">
              <a:latin typeface="PMingLiU"/>
              <a:cs typeface="PMingLiU"/>
            </a:endParaRPr>
          </a:p>
        </p:txBody>
      </p:sp>
      <p:grpSp>
        <p:nvGrpSpPr>
          <p:cNvPr id="15" name="object 15" descr=""/>
          <p:cNvGrpSpPr/>
          <p:nvPr/>
        </p:nvGrpSpPr>
        <p:grpSpPr>
          <a:xfrm>
            <a:off x="543185" y="3467763"/>
            <a:ext cx="9610725" cy="2089785"/>
            <a:chOff x="543185" y="3467763"/>
            <a:chExt cx="9610725" cy="2089785"/>
          </a:xfrm>
        </p:grpSpPr>
        <p:pic>
          <p:nvPicPr>
            <p:cNvPr id="16" name="object 16" descr=""/>
            <p:cNvPicPr/>
            <p:nvPr/>
          </p:nvPicPr>
          <p:blipFill>
            <a:blip r:embed="rId8" cstate="print"/>
            <a:stretch>
              <a:fillRect/>
            </a:stretch>
          </p:blipFill>
          <p:spPr>
            <a:xfrm>
              <a:off x="543185" y="3902578"/>
              <a:ext cx="150420" cy="167133"/>
            </a:xfrm>
            <a:prstGeom prst="rect">
              <a:avLst/>
            </a:prstGeom>
          </p:spPr>
        </p:pic>
        <p:pic>
          <p:nvPicPr>
            <p:cNvPr id="17" name="object 17" descr=""/>
            <p:cNvPicPr/>
            <p:nvPr/>
          </p:nvPicPr>
          <p:blipFill>
            <a:blip r:embed="rId9" cstate="print"/>
            <a:stretch>
              <a:fillRect/>
            </a:stretch>
          </p:blipFill>
          <p:spPr>
            <a:xfrm>
              <a:off x="543185" y="4537687"/>
              <a:ext cx="125350" cy="167133"/>
            </a:xfrm>
            <a:prstGeom prst="rect">
              <a:avLst/>
            </a:prstGeom>
          </p:spPr>
        </p:pic>
        <p:sp>
          <p:nvSpPr>
            <p:cNvPr id="18" name="object 18" descr=""/>
            <p:cNvSpPr/>
            <p:nvPr/>
          </p:nvSpPr>
          <p:spPr>
            <a:xfrm>
              <a:off x="5519599" y="3472208"/>
              <a:ext cx="4629785" cy="2080895"/>
            </a:xfrm>
            <a:custGeom>
              <a:avLst/>
              <a:gdLst/>
              <a:ahLst/>
              <a:cxnLst/>
              <a:rect l="l" t="t" r="r" b="b"/>
              <a:pathLst>
                <a:path w="4629784" h="2080895">
                  <a:moveTo>
                    <a:pt x="4571052" y="2080817"/>
                  </a:moveTo>
                  <a:lnTo>
                    <a:pt x="58560" y="2080817"/>
                  </a:lnTo>
                  <a:lnTo>
                    <a:pt x="54483" y="2080416"/>
                  </a:lnTo>
                  <a:lnTo>
                    <a:pt x="15446" y="2059550"/>
                  </a:lnTo>
                  <a:lnTo>
                    <a:pt x="0" y="2022258"/>
                  </a:lnTo>
                  <a:lnTo>
                    <a:pt x="0" y="2018143"/>
                  </a:lnTo>
                  <a:lnTo>
                    <a:pt x="0" y="58559"/>
                  </a:lnTo>
                  <a:lnTo>
                    <a:pt x="15446" y="21266"/>
                  </a:lnTo>
                  <a:lnTo>
                    <a:pt x="54483" y="401"/>
                  </a:lnTo>
                  <a:lnTo>
                    <a:pt x="58560" y="0"/>
                  </a:lnTo>
                  <a:lnTo>
                    <a:pt x="4571052" y="0"/>
                  </a:lnTo>
                  <a:lnTo>
                    <a:pt x="4608344" y="15446"/>
                  </a:lnTo>
                  <a:lnTo>
                    <a:pt x="4629210" y="54483"/>
                  </a:lnTo>
                  <a:lnTo>
                    <a:pt x="4629611" y="58559"/>
                  </a:lnTo>
                  <a:lnTo>
                    <a:pt x="4629611" y="2022258"/>
                  </a:lnTo>
                  <a:lnTo>
                    <a:pt x="4614163" y="2059550"/>
                  </a:lnTo>
                  <a:lnTo>
                    <a:pt x="4575127" y="2080416"/>
                  </a:lnTo>
                  <a:lnTo>
                    <a:pt x="4571052" y="2080817"/>
                  </a:lnTo>
                  <a:close/>
                </a:path>
              </a:pathLst>
            </a:custGeom>
            <a:solidFill>
              <a:srgbClr val="F7F7F7"/>
            </a:solidFill>
          </p:spPr>
          <p:txBody>
            <a:bodyPr wrap="square" lIns="0" tIns="0" rIns="0" bIns="0" rtlCol="0"/>
            <a:lstStyle/>
            <a:p/>
          </p:txBody>
        </p:sp>
        <p:sp>
          <p:nvSpPr>
            <p:cNvPr id="19" name="object 19" descr=""/>
            <p:cNvSpPr/>
            <p:nvPr/>
          </p:nvSpPr>
          <p:spPr>
            <a:xfrm>
              <a:off x="5519599" y="3472208"/>
              <a:ext cx="4629785" cy="2080895"/>
            </a:xfrm>
            <a:custGeom>
              <a:avLst/>
              <a:gdLst/>
              <a:ahLst/>
              <a:cxnLst/>
              <a:rect l="l" t="t" r="r" b="b"/>
              <a:pathLst>
                <a:path w="4629784" h="2080895">
                  <a:moveTo>
                    <a:pt x="0" y="2018143"/>
                  </a:moveTo>
                  <a:lnTo>
                    <a:pt x="0" y="62675"/>
                  </a:lnTo>
                  <a:lnTo>
                    <a:pt x="0" y="58559"/>
                  </a:lnTo>
                  <a:lnTo>
                    <a:pt x="401" y="54483"/>
                  </a:lnTo>
                  <a:lnTo>
                    <a:pt x="1204" y="50447"/>
                  </a:lnTo>
                  <a:lnTo>
                    <a:pt x="2006" y="46411"/>
                  </a:lnTo>
                  <a:lnTo>
                    <a:pt x="3195" y="42492"/>
                  </a:lnTo>
                  <a:lnTo>
                    <a:pt x="4770" y="38690"/>
                  </a:lnTo>
                  <a:lnTo>
                    <a:pt x="6345" y="34888"/>
                  </a:lnTo>
                  <a:lnTo>
                    <a:pt x="8275" y="31276"/>
                  </a:lnTo>
                  <a:lnTo>
                    <a:pt x="10562" y="27854"/>
                  </a:lnTo>
                  <a:lnTo>
                    <a:pt x="12848" y="24432"/>
                  </a:lnTo>
                  <a:lnTo>
                    <a:pt x="15446" y="21266"/>
                  </a:lnTo>
                  <a:lnTo>
                    <a:pt x="18356" y="18356"/>
                  </a:lnTo>
                  <a:lnTo>
                    <a:pt x="21266" y="15446"/>
                  </a:lnTo>
                  <a:lnTo>
                    <a:pt x="24432" y="12848"/>
                  </a:lnTo>
                  <a:lnTo>
                    <a:pt x="27854" y="10562"/>
                  </a:lnTo>
                  <a:lnTo>
                    <a:pt x="31275" y="8276"/>
                  </a:lnTo>
                  <a:lnTo>
                    <a:pt x="34887" y="6345"/>
                  </a:lnTo>
                  <a:lnTo>
                    <a:pt x="38690" y="4770"/>
                  </a:lnTo>
                  <a:lnTo>
                    <a:pt x="42491" y="3195"/>
                  </a:lnTo>
                  <a:lnTo>
                    <a:pt x="46411" y="2007"/>
                  </a:lnTo>
                  <a:lnTo>
                    <a:pt x="50447" y="1204"/>
                  </a:lnTo>
                  <a:lnTo>
                    <a:pt x="54483" y="401"/>
                  </a:lnTo>
                  <a:lnTo>
                    <a:pt x="58560" y="0"/>
                  </a:lnTo>
                  <a:lnTo>
                    <a:pt x="62675" y="0"/>
                  </a:lnTo>
                  <a:lnTo>
                    <a:pt x="4566936" y="0"/>
                  </a:lnTo>
                  <a:lnTo>
                    <a:pt x="4571052" y="0"/>
                  </a:lnTo>
                  <a:lnTo>
                    <a:pt x="4575127" y="401"/>
                  </a:lnTo>
                  <a:lnTo>
                    <a:pt x="4579162" y="1204"/>
                  </a:lnTo>
                  <a:lnTo>
                    <a:pt x="4583199" y="2007"/>
                  </a:lnTo>
                  <a:lnTo>
                    <a:pt x="4601756" y="10562"/>
                  </a:lnTo>
                  <a:lnTo>
                    <a:pt x="4605178" y="12848"/>
                  </a:lnTo>
                  <a:lnTo>
                    <a:pt x="4619047" y="27854"/>
                  </a:lnTo>
                  <a:lnTo>
                    <a:pt x="4621334" y="31276"/>
                  </a:lnTo>
                  <a:lnTo>
                    <a:pt x="4623265" y="34888"/>
                  </a:lnTo>
                  <a:lnTo>
                    <a:pt x="4624840" y="38690"/>
                  </a:lnTo>
                  <a:lnTo>
                    <a:pt x="4626416" y="42492"/>
                  </a:lnTo>
                  <a:lnTo>
                    <a:pt x="4627604" y="46411"/>
                  </a:lnTo>
                  <a:lnTo>
                    <a:pt x="4628407" y="50447"/>
                  </a:lnTo>
                  <a:lnTo>
                    <a:pt x="4629210" y="54483"/>
                  </a:lnTo>
                  <a:lnTo>
                    <a:pt x="4629611" y="58559"/>
                  </a:lnTo>
                  <a:lnTo>
                    <a:pt x="4629612" y="62675"/>
                  </a:lnTo>
                  <a:lnTo>
                    <a:pt x="4629612" y="2018143"/>
                  </a:lnTo>
                  <a:lnTo>
                    <a:pt x="4629611" y="2022258"/>
                  </a:lnTo>
                  <a:lnTo>
                    <a:pt x="4629210" y="2026333"/>
                  </a:lnTo>
                  <a:lnTo>
                    <a:pt x="4628407" y="2030369"/>
                  </a:lnTo>
                  <a:lnTo>
                    <a:pt x="4627604" y="2034405"/>
                  </a:lnTo>
                  <a:lnTo>
                    <a:pt x="4626416" y="2038324"/>
                  </a:lnTo>
                  <a:lnTo>
                    <a:pt x="4624840" y="2042126"/>
                  </a:lnTo>
                  <a:lnTo>
                    <a:pt x="4623265" y="2045928"/>
                  </a:lnTo>
                  <a:lnTo>
                    <a:pt x="4601756" y="2070255"/>
                  </a:lnTo>
                  <a:lnTo>
                    <a:pt x="4598334" y="2072541"/>
                  </a:lnTo>
                  <a:lnTo>
                    <a:pt x="4566936" y="2080818"/>
                  </a:lnTo>
                  <a:lnTo>
                    <a:pt x="62675" y="2080818"/>
                  </a:lnTo>
                  <a:lnTo>
                    <a:pt x="24432" y="2067968"/>
                  </a:lnTo>
                  <a:lnTo>
                    <a:pt x="18356" y="2062460"/>
                  </a:lnTo>
                  <a:lnTo>
                    <a:pt x="15446" y="2059550"/>
                  </a:lnTo>
                  <a:lnTo>
                    <a:pt x="4770" y="2042126"/>
                  </a:lnTo>
                  <a:lnTo>
                    <a:pt x="3195" y="2038324"/>
                  </a:lnTo>
                  <a:lnTo>
                    <a:pt x="2006" y="2034405"/>
                  </a:lnTo>
                  <a:lnTo>
                    <a:pt x="1204" y="2030369"/>
                  </a:lnTo>
                  <a:lnTo>
                    <a:pt x="401" y="2026333"/>
                  </a:lnTo>
                  <a:lnTo>
                    <a:pt x="0" y="2022258"/>
                  </a:lnTo>
                  <a:lnTo>
                    <a:pt x="0" y="2018143"/>
                  </a:lnTo>
                  <a:close/>
                </a:path>
              </a:pathLst>
            </a:custGeom>
            <a:ln w="8356">
              <a:solidFill>
                <a:srgbClr val="CCCCCC"/>
              </a:solidFill>
            </a:ln>
          </p:spPr>
          <p:txBody>
            <a:bodyPr wrap="square" lIns="0" tIns="0" rIns="0" bIns="0" rtlCol="0"/>
            <a:lstStyle/>
            <a:p/>
          </p:txBody>
        </p:sp>
        <p:sp>
          <p:nvSpPr>
            <p:cNvPr id="20" name="object 20" descr=""/>
            <p:cNvSpPr/>
            <p:nvPr/>
          </p:nvSpPr>
          <p:spPr>
            <a:xfrm>
              <a:off x="5941613" y="3643521"/>
              <a:ext cx="836294" cy="836294"/>
            </a:xfrm>
            <a:custGeom>
              <a:avLst/>
              <a:gdLst/>
              <a:ahLst/>
              <a:cxnLst/>
              <a:rect l="l" t="t" r="r" b="b"/>
              <a:pathLst>
                <a:path w="836295" h="836295">
                  <a:moveTo>
                    <a:pt x="835669" y="835669"/>
                  </a:moveTo>
                  <a:lnTo>
                    <a:pt x="0" y="835669"/>
                  </a:lnTo>
                  <a:lnTo>
                    <a:pt x="0" y="0"/>
                  </a:lnTo>
                  <a:lnTo>
                    <a:pt x="835669" y="0"/>
                  </a:lnTo>
                  <a:lnTo>
                    <a:pt x="835669" y="835669"/>
                  </a:lnTo>
                  <a:close/>
                </a:path>
              </a:pathLst>
            </a:custGeom>
            <a:solidFill>
              <a:srgbClr val="66CCFF">
                <a:alpha val="30198"/>
              </a:srgbClr>
            </a:solidFill>
          </p:spPr>
          <p:txBody>
            <a:bodyPr wrap="square" lIns="0" tIns="0" rIns="0" bIns="0" rtlCol="0"/>
            <a:lstStyle/>
            <a:p/>
          </p:txBody>
        </p:sp>
      </p:grpSp>
      <p:sp>
        <p:nvSpPr>
          <p:cNvPr id="21" name="object 21" descr=""/>
          <p:cNvSpPr txBox="1"/>
          <p:nvPr/>
        </p:nvSpPr>
        <p:spPr>
          <a:xfrm>
            <a:off x="806256" y="3819682"/>
            <a:ext cx="4316095" cy="493395"/>
          </a:xfrm>
          <a:prstGeom prst="rect">
            <a:avLst/>
          </a:prstGeom>
        </p:spPr>
        <p:txBody>
          <a:bodyPr wrap="square" lIns="0" tIns="11430" rIns="0" bIns="0" rtlCol="0" vert="horz">
            <a:spAutoFit/>
          </a:bodyPr>
          <a:lstStyle/>
          <a:p>
            <a:pPr marL="12700" marR="5080">
              <a:lnSpc>
                <a:spcPct val="133500"/>
              </a:lnSpc>
              <a:spcBef>
                <a:spcPts val="90"/>
              </a:spcBef>
            </a:pPr>
            <a:r>
              <a:rPr dirty="0" sz="1150">
                <a:latin typeface="PMingLiU"/>
                <a:cs typeface="PMingLiU"/>
              </a:rPr>
              <a:t>反転電荷（電子）の発生により</a:t>
            </a:r>
            <a:r>
              <a:rPr dirty="0" sz="1150" spc="100">
                <a:latin typeface="Segoe UI Symbol"/>
                <a:cs typeface="Segoe UI Symbol"/>
              </a:rPr>
              <a:t>Body</a:t>
            </a:r>
            <a:r>
              <a:rPr dirty="0" sz="1150" spc="-5">
                <a:latin typeface="PMingLiU"/>
                <a:cs typeface="PMingLiU"/>
              </a:rPr>
              <a:t>のエネルギーバンドが下方</a:t>
            </a:r>
            <a:r>
              <a:rPr dirty="0" sz="1150">
                <a:latin typeface="PMingLiU"/>
                <a:cs typeface="PMingLiU"/>
              </a:rPr>
              <a:t>にシフト</a:t>
            </a:r>
            <a:endParaRPr sz="1150">
              <a:latin typeface="PMingLiU"/>
              <a:cs typeface="PMingLiU"/>
            </a:endParaRPr>
          </a:p>
        </p:txBody>
      </p:sp>
      <p:sp>
        <p:nvSpPr>
          <p:cNvPr id="22" name="object 22" descr=""/>
          <p:cNvSpPr txBox="1"/>
          <p:nvPr/>
        </p:nvSpPr>
        <p:spPr>
          <a:xfrm>
            <a:off x="781186" y="4508274"/>
            <a:ext cx="3188335" cy="206375"/>
          </a:xfrm>
          <a:prstGeom prst="rect">
            <a:avLst/>
          </a:prstGeom>
        </p:spPr>
        <p:txBody>
          <a:bodyPr wrap="square" lIns="0" tIns="17145" rIns="0" bIns="0" rtlCol="0" vert="horz">
            <a:spAutoFit/>
          </a:bodyPr>
          <a:lstStyle/>
          <a:p>
            <a:pPr marL="12700">
              <a:lnSpc>
                <a:spcPct val="100000"/>
              </a:lnSpc>
              <a:spcBef>
                <a:spcPts val="135"/>
              </a:spcBef>
            </a:pPr>
            <a:r>
              <a:rPr dirty="0" sz="1150">
                <a:latin typeface="PMingLiU"/>
                <a:cs typeface="PMingLiU"/>
              </a:rPr>
              <a:t>これが後続の電流増加メカニズムの起点となる</a:t>
            </a:r>
            <a:endParaRPr sz="1150">
              <a:latin typeface="PMingLiU"/>
              <a:cs typeface="PMingLiU"/>
            </a:endParaRPr>
          </a:p>
        </p:txBody>
      </p:sp>
      <p:sp>
        <p:nvSpPr>
          <p:cNvPr id="23" name="object 23" descr=""/>
          <p:cNvSpPr txBox="1"/>
          <p:nvPr/>
        </p:nvSpPr>
        <p:spPr>
          <a:xfrm>
            <a:off x="5945792" y="3647699"/>
            <a:ext cx="827405" cy="417830"/>
          </a:xfrm>
          <a:prstGeom prst="rect">
            <a:avLst/>
          </a:prstGeom>
          <a:solidFill>
            <a:srgbClr val="66CCFF">
              <a:alpha val="30198"/>
            </a:srgbClr>
          </a:solidFill>
          <a:ln w="8356">
            <a:solidFill>
              <a:srgbClr val="333333"/>
            </a:solidFill>
          </a:ln>
        </p:spPr>
        <p:txBody>
          <a:bodyPr wrap="square" lIns="0" tIns="0" rIns="0" bIns="0" rtlCol="0" vert="horz">
            <a:spAutoFit/>
          </a:bodyPr>
          <a:lstStyle/>
          <a:p>
            <a:pPr>
              <a:lnSpc>
                <a:spcPct val="100000"/>
              </a:lnSpc>
            </a:pPr>
            <a:endParaRPr sz="1050">
              <a:latin typeface="Times New Roman"/>
              <a:cs typeface="Times New Roman"/>
            </a:endParaRPr>
          </a:p>
          <a:p>
            <a:pPr>
              <a:lnSpc>
                <a:spcPct val="100000"/>
              </a:lnSpc>
              <a:spcBef>
                <a:spcPts val="20"/>
              </a:spcBef>
            </a:pPr>
            <a:endParaRPr sz="1050">
              <a:latin typeface="Times New Roman"/>
              <a:cs typeface="Times New Roman"/>
            </a:endParaRPr>
          </a:p>
          <a:p>
            <a:pPr marL="212725">
              <a:lnSpc>
                <a:spcPts val="855"/>
              </a:lnSpc>
            </a:pPr>
            <a:r>
              <a:rPr dirty="0" sz="1150" spc="-100">
                <a:latin typeface="PMingLiU"/>
                <a:cs typeface="PMingLiU"/>
              </a:rPr>
              <a:t>ゲート</a:t>
            </a:r>
            <a:endParaRPr sz="1150">
              <a:latin typeface="PMingLiU"/>
              <a:cs typeface="PMingLiU"/>
            </a:endParaRPr>
          </a:p>
        </p:txBody>
      </p:sp>
      <p:grpSp>
        <p:nvGrpSpPr>
          <p:cNvPr id="24" name="object 24" descr=""/>
          <p:cNvGrpSpPr/>
          <p:nvPr/>
        </p:nvGrpSpPr>
        <p:grpSpPr>
          <a:xfrm>
            <a:off x="5941347" y="4061089"/>
            <a:ext cx="836294" cy="836294"/>
            <a:chOff x="5941347" y="4061089"/>
            <a:chExt cx="836294" cy="836294"/>
          </a:xfrm>
        </p:grpSpPr>
        <p:sp>
          <p:nvSpPr>
            <p:cNvPr id="25" name="object 25" descr=""/>
            <p:cNvSpPr/>
            <p:nvPr/>
          </p:nvSpPr>
          <p:spPr>
            <a:xfrm>
              <a:off x="5941613" y="4061355"/>
              <a:ext cx="836294" cy="836294"/>
            </a:xfrm>
            <a:custGeom>
              <a:avLst/>
              <a:gdLst/>
              <a:ahLst/>
              <a:cxnLst/>
              <a:rect l="l" t="t" r="r" b="b"/>
              <a:pathLst>
                <a:path w="836295" h="836295">
                  <a:moveTo>
                    <a:pt x="835669" y="835669"/>
                  </a:moveTo>
                  <a:lnTo>
                    <a:pt x="0" y="835669"/>
                  </a:lnTo>
                  <a:lnTo>
                    <a:pt x="0" y="0"/>
                  </a:lnTo>
                  <a:lnTo>
                    <a:pt x="835669" y="0"/>
                  </a:lnTo>
                  <a:lnTo>
                    <a:pt x="835669" y="835669"/>
                  </a:lnTo>
                  <a:close/>
                </a:path>
              </a:pathLst>
            </a:custGeom>
            <a:solidFill>
              <a:srgbClr val="FFC7C7">
                <a:alpha val="30198"/>
              </a:srgbClr>
            </a:solidFill>
          </p:spPr>
          <p:txBody>
            <a:bodyPr wrap="square" lIns="0" tIns="0" rIns="0" bIns="0" rtlCol="0"/>
            <a:lstStyle/>
            <a:p/>
          </p:txBody>
        </p:sp>
        <p:sp>
          <p:nvSpPr>
            <p:cNvPr id="26" name="object 26" descr=""/>
            <p:cNvSpPr/>
            <p:nvPr/>
          </p:nvSpPr>
          <p:spPr>
            <a:xfrm>
              <a:off x="5945792" y="4065534"/>
              <a:ext cx="827405" cy="827405"/>
            </a:xfrm>
            <a:custGeom>
              <a:avLst/>
              <a:gdLst/>
              <a:ahLst/>
              <a:cxnLst/>
              <a:rect l="l" t="t" r="r" b="b"/>
              <a:pathLst>
                <a:path w="827404" h="827404">
                  <a:moveTo>
                    <a:pt x="0" y="0"/>
                  </a:moveTo>
                  <a:lnTo>
                    <a:pt x="827313" y="0"/>
                  </a:lnTo>
                  <a:lnTo>
                    <a:pt x="827313" y="827313"/>
                  </a:lnTo>
                  <a:lnTo>
                    <a:pt x="0" y="827313"/>
                  </a:lnTo>
                  <a:lnTo>
                    <a:pt x="0" y="0"/>
                  </a:lnTo>
                  <a:close/>
                </a:path>
              </a:pathLst>
            </a:custGeom>
            <a:ln w="8356">
              <a:solidFill>
                <a:srgbClr val="333333"/>
              </a:solidFill>
            </a:ln>
          </p:spPr>
          <p:txBody>
            <a:bodyPr wrap="square" lIns="0" tIns="0" rIns="0" bIns="0" rtlCol="0"/>
            <a:lstStyle/>
            <a:p/>
          </p:txBody>
        </p:sp>
      </p:grpSp>
      <p:sp>
        <p:nvSpPr>
          <p:cNvPr id="27" name="object 27" descr=""/>
          <p:cNvSpPr txBox="1"/>
          <p:nvPr/>
        </p:nvSpPr>
        <p:spPr>
          <a:xfrm>
            <a:off x="5945792" y="4065534"/>
            <a:ext cx="827405" cy="417830"/>
          </a:xfrm>
          <a:prstGeom prst="rect">
            <a:avLst/>
          </a:prstGeom>
          <a:solidFill>
            <a:srgbClr val="FFC7C7">
              <a:alpha val="30198"/>
            </a:srgbClr>
          </a:solidFill>
          <a:ln w="8356">
            <a:solidFill>
              <a:srgbClr val="333333"/>
            </a:solidFill>
          </a:ln>
        </p:spPr>
        <p:txBody>
          <a:bodyPr wrap="square" lIns="0" tIns="0" rIns="0" bIns="0" rtlCol="0" vert="horz">
            <a:spAutoFit/>
          </a:bodyPr>
          <a:lstStyle/>
          <a:p>
            <a:pPr>
              <a:lnSpc>
                <a:spcPct val="100000"/>
              </a:lnSpc>
            </a:pPr>
            <a:endParaRPr sz="1050">
              <a:latin typeface="Times New Roman"/>
              <a:cs typeface="Times New Roman"/>
            </a:endParaRPr>
          </a:p>
          <a:p>
            <a:pPr>
              <a:lnSpc>
                <a:spcPct val="100000"/>
              </a:lnSpc>
              <a:spcBef>
                <a:spcPts val="20"/>
              </a:spcBef>
            </a:pPr>
            <a:endParaRPr sz="1050">
              <a:latin typeface="Times New Roman"/>
              <a:cs typeface="Times New Roman"/>
            </a:endParaRPr>
          </a:p>
          <a:p>
            <a:pPr marL="212725">
              <a:lnSpc>
                <a:spcPts val="855"/>
              </a:lnSpc>
            </a:pPr>
            <a:r>
              <a:rPr dirty="0" sz="1150" spc="-90">
                <a:latin typeface="SimSun"/>
                <a:cs typeface="SimSun"/>
              </a:rPr>
              <a:t>酸化膜</a:t>
            </a:r>
            <a:endParaRPr sz="1150">
              <a:latin typeface="SimSun"/>
              <a:cs typeface="SimSun"/>
            </a:endParaRPr>
          </a:p>
        </p:txBody>
      </p:sp>
      <p:grpSp>
        <p:nvGrpSpPr>
          <p:cNvPr id="28" name="object 28" descr=""/>
          <p:cNvGrpSpPr/>
          <p:nvPr/>
        </p:nvGrpSpPr>
        <p:grpSpPr>
          <a:xfrm>
            <a:off x="5941613" y="4479190"/>
            <a:ext cx="2507615" cy="836294"/>
            <a:chOff x="5941613" y="4479190"/>
            <a:chExt cx="2507615" cy="836294"/>
          </a:xfrm>
        </p:grpSpPr>
        <p:sp>
          <p:nvSpPr>
            <p:cNvPr id="29" name="object 29" descr=""/>
            <p:cNvSpPr/>
            <p:nvPr/>
          </p:nvSpPr>
          <p:spPr>
            <a:xfrm>
              <a:off x="5941613" y="4479190"/>
              <a:ext cx="2507615" cy="836294"/>
            </a:xfrm>
            <a:custGeom>
              <a:avLst/>
              <a:gdLst/>
              <a:ahLst/>
              <a:cxnLst/>
              <a:rect l="l" t="t" r="r" b="b"/>
              <a:pathLst>
                <a:path w="2507615" h="836295">
                  <a:moveTo>
                    <a:pt x="2507009" y="835669"/>
                  </a:moveTo>
                  <a:lnTo>
                    <a:pt x="0" y="835669"/>
                  </a:lnTo>
                  <a:lnTo>
                    <a:pt x="0" y="0"/>
                  </a:lnTo>
                  <a:lnTo>
                    <a:pt x="2507009" y="0"/>
                  </a:lnTo>
                  <a:lnTo>
                    <a:pt x="2507009" y="835669"/>
                  </a:lnTo>
                  <a:close/>
                </a:path>
              </a:pathLst>
            </a:custGeom>
            <a:solidFill>
              <a:srgbClr val="C7FFC7">
                <a:alpha val="30198"/>
              </a:srgbClr>
            </a:solidFill>
          </p:spPr>
          <p:txBody>
            <a:bodyPr wrap="square" lIns="0" tIns="0" rIns="0" bIns="0" rtlCol="0"/>
            <a:lstStyle/>
            <a:p/>
          </p:txBody>
        </p:sp>
        <p:sp>
          <p:nvSpPr>
            <p:cNvPr id="30" name="object 30" descr=""/>
            <p:cNvSpPr/>
            <p:nvPr/>
          </p:nvSpPr>
          <p:spPr>
            <a:xfrm>
              <a:off x="5945792" y="4483369"/>
              <a:ext cx="2498725" cy="827405"/>
            </a:xfrm>
            <a:custGeom>
              <a:avLst/>
              <a:gdLst/>
              <a:ahLst/>
              <a:cxnLst/>
              <a:rect l="l" t="t" r="r" b="b"/>
              <a:pathLst>
                <a:path w="2498725" h="827404">
                  <a:moveTo>
                    <a:pt x="0" y="0"/>
                  </a:moveTo>
                  <a:lnTo>
                    <a:pt x="2498653" y="0"/>
                  </a:lnTo>
                  <a:lnTo>
                    <a:pt x="2498653" y="827313"/>
                  </a:lnTo>
                  <a:lnTo>
                    <a:pt x="0" y="827313"/>
                  </a:lnTo>
                  <a:lnTo>
                    <a:pt x="0" y="0"/>
                  </a:lnTo>
                  <a:close/>
                </a:path>
              </a:pathLst>
            </a:custGeom>
            <a:ln w="8356">
              <a:solidFill>
                <a:srgbClr val="333333"/>
              </a:solidFill>
            </a:ln>
          </p:spPr>
          <p:txBody>
            <a:bodyPr wrap="square" lIns="0" tIns="0" rIns="0" bIns="0" rtlCol="0"/>
            <a:lstStyle/>
            <a:p/>
          </p:txBody>
        </p:sp>
        <p:sp>
          <p:nvSpPr>
            <p:cNvPr id="31" name="object 31" descr=""/>
            <p:cNvSpPr/>
            <p:nvPr/>
          </p:nvSpPr>
          <p:spPr>
            <a:xfrm>
              <a:off x="6777283" y="4897025"/>
              <a:ext cx="1671955" cy="25400"/>
            </a:xfrm>
            <a:custGeom>
              <a:avLst/>
              <a:gdLst/>
              <a:ahLst/>
              <a:cxnLst/>
              <a:rect l="l" t="t" r="r" b="b"/>
              <a:pathLst>
                <a:path w="1671954" h="25400">
                  <a:moveTo>
                    <a:pt x="1671339" y="25070"/>
                  </a:moveTo>
                  <a:lnTo>
                    <a:pt x="0" y="25070"/>
                  </a:lnTo>
                  <a:lnTo>
                    <a:pt x="0" y="0"/>
                  </a:lnTo>
                  <a:lnTo>
                    <a:pt x="1671339" y="0"/>
                  </a:lnTo>
                  <a:lnTo>
                    <a:pt x="1671339" y="25070"/>
                  </a:lnTo>
                  <a:close/>
                </a:path>
              </a:pathLst>
            </a:custGeom>
            <a:solidFill>
              <a:srgbClr val="003366"/>
            </a:solidFill>
          </p:spPr>
          <p:txBody>
            <a:bodyPr wrap="square" lIns="0" tIns="0" rIns="0" bIns="0" rtlCol="0"/>
            <a:lstStyle/>
            <a:p/>
          </p:txBody>
        </p:sp>
        <p:sp>
          <p:nvSpPr>
            <p:cNvPr id="32" name="object 32" descr=""/>
            <p:cNvSpPr/>
            <p:nvPr/>
          </p:nvSpPr>
          <p:spPr>
            <a:xfrm>
              <a:off x="6777279" y="4980596"/>
              <a:ext cx="1671955" cy="276225"/>
            </a:xfrm>
            <a:custGeom>
              <a:avLst/>
              <a:gdLst/>
              <a:ahLst/>
              <a:cxnLst/>
              <a:rect l="l" t="t" r="r" b="b"/>
              <a:pathLst>
                <a:path w="1671954" h="276225">
                  <a:moveTo>
                    <a:pt x="1002804" y="0"/>
                  </a:moveTo>
                  <a:lnTo>
                    <a:pt x="835672" y="0"/>
                  </a:lnTo>
                  <a:lnTo>
                    <a:pt x="919238" y="125349"/>
                  </a:lnTo>
                  <a:lnTo>
                    <a:pt x="1002804" y="0"/>
                  </a:lnTo>
                  <a:close/>
                </a:path>
                <a:path w="1671954" h="276225">
                  <a:moveTo>
                    <a:pt x="1671332" y="250698"/>
                  </a:moveTo>
                  <a:lnTo>
                    <a:pt x="0" y="250698"/>
                  </a:lnTo>
                  <a:lnTo>
                    <a:pt x="0" y="275767"/>
                  </a:lnTo>
                  <a:lnTo>
                    <a:pt x="1671332" y="275767"/>
                  </a:lnTo>
                  <a:lnTo>
                    <a:pt x="1671332" y="250698"/>
                  </a:lnTo>
                  <a:close/>
                </a:path>
              </a:pathLst>
            </a:custGeom>
            <a:solidFill>
              <a:srgbClr val="66CCFF"/>
            </a:solidFill>
          </p:spPr>
          <p:txBody>
            <a:bodyPr wrap="square" lIns="0" tIns="0" rIns="0" bIns="0" rtlCol="0"/>
            <a:lstStyle/>
            <a:p/>
          </p:txBody>
        </p:sp>
      </p:grpSp>
      <p:sp>
        <p:nvSpPr>
          <p:cNvPr id="33" name="object 33" descr=""/>
          <p:cNvSpPr txBox="1"/>
          <p:nvPr/>
        </p:nvSpPr>
        <p:spPr>
          <a:xfrm>
            <a:off x="6777283" y="4487547"/>
            <a:ext cx="1663064" cy="409575"/>
          </a:xfrm>
          <a:prstGeom prst="rect">
            <a:avLst/>
          </a:prstGeom>
          <a:solidFill>
            <a:srgbClr val="C7FFC7">
              <a:alpha val="30198"/>
            </a:srgbClr>
          </a:solidFill>
        </p:spPr>
        <p:txBody>
          <a:bodyPr wrap="square" lIns="0" tIns="7620" rIns="0" bIns="0" rtlCol="0" vert="horz">
            <a:spAutoFit/>
          </a:bodyPr>
          <a:lstStyle/>
          <a:p>
            <a:pPr>
              <a:lnSpc>
                <a:spcPct val="100000"/>
              </a:lnSpc>
              <a:spcBef>
                <a:spcPts val="60"/>
              </a:spcBef>
            </a:pPr>
            <a:endParaRPr sz="750">
              <a:latin typeface="Times New Roman"/>
              <a:cs typeface="Times New Roman"/>
            </a:endParaRPr>
          </a:p>
          <a:p>
            <a:pPr marL="167005">
              <a:lnSpc>
                <a:spcPct val="100000"/>
              </a:lnSpc>
              <a:tabLst>
                <a:tab pos="417195" algn="l"/>
                <a:tab pos="668020" algn="l"/>
              </a:tabLst>
            </a:pPr>
            <a:r>
              <a:rPr dirty="0" baseline="-21164" sz="1575" spc="-37">
                <a:solidFill>
                  <a:srgbClr val="FF5733"/>
                </a:solidFill>
                <a:latin typeface="Segoe UI Symbol"/>
                <a:cs typeface="Segoe UI Symbol"/>
              </a:rPr>
              <a:t>e</a:t>
            </a:r>
            <a:r>
              <a:rPr dirty="0" sz="750" spc="-25">
                <a:solidFill>
                  <a:srgbClr val="FF5733"/>
                </a:solidFill>
                <a:latin typeface="Segoe UI Symbol"/>
                <a:cs typeface="Segoe UI Symbol"/>
              </a:rPr>
              <a:t>-</a:t>
            </a:r>
            <a:r>
              <a:rPr dirty="0" sz="750">
                <a:solidFill>
                  <a:srgbClr val="FF5733"/>
                </a:solidFill>
                <a:latin typeface="Segoe UI Symbol"/>
                <a:cs typeface="Segoe UI Symbol"/>
              </a:rPr>
              <a:t>	</a:t>
            </a:r>
            <a:r>
              <a:rPr dirty="0" baseline="-21164" sz="1575" spc="-37">
                <a:solidFill>
                  <a:srgbClr val="FF5733"/>
                </a:solidFill>
                <a:latin typeface="Segoe UI Symbol"/>
                <a:cs typeface="Segoe UI Symbol"/>
              </a:rPr>
              <a:t>e</a:t>
            </a:r>
            <a:r>
              <a:rPr dirty="0" sz="750" spc="-25">
                <a:solidFill>
                  <a:srgbClr val="FF5733"/>
                </a:solidFill>
                <a:latin typeface="Segoe UI Symbol"/>
                <a:cs typeface="Segoe UI Symbol"/>
              </a:rPr>
              <a:t>-</a:t>
            </a:r>
            <a:r>
              <a:rPr dirty="0" sz="750">
                <a:solidFill>
                  <a:srgbClr val="FF5733"/>
                </a:solidFill>
                <a:latin typeface="Segoe UI Symbol"/>
                <a:cs typeface="Segoe UI Symbol"/>
              </a:rPr>
              <a:t>	</a:t>
            </a:r>
            <a:r>
              <a:rPr dirty="0" baseline="-21164" sz="1575" spc="-37">
                <a:solidFill>
                  <a:srgbClr val="FF5733"/>
                </a:solidFill>
                <a:latin typeface="Segoe UI Symbol"/>
                <a:cs typeface="Segoe UI Symbol"/>
              </a:rPr>
              <a:t>e</a:t>
            </a:r>
            <a:r>
              <a:rPr dirty="0" sz="750" spc="-25">
                <a:solidFill>
                  <a:srgbClr val="FF5733"/>
                </a:solidFill>
                <a:latin typeface="Segoe UI Symbol"/>
                <a:cs typeface="Segoe UI Symbol"/>
              </a:rPr>
              <a:t>-</a:t>
            </a:r>
            <a:endParaRPr sz="750">
              <a:latin typeface="Segoe UI Symbol"/>
              <a:cs typeface="Segoe UI Symbol"/>
            </a:endParaRPr>
          </a:p>
          <a:p>
            <a:pPr marL="229235">
              <a:lnSpc>
                <a:spcPts val="720"/>
              </a:lnSpc>
              <a:spcBef>
                <a:spcPts val="320"/>
              </a:spcBef>
            </a:pPr>
            <a:r>
              <a:rPr dirty="0" sz="1050" spc="70" b="1">
                <a:latin typeface="Yu Gothic"/>
                <a:cs typeface="Yu Gothic"/>
              </a:rPr>
              <a:t>Body</a:t>
            </a:r>
            <a:endParaRPr sz="1050">
              <a:latin typeface="Yu Gothic"/>
              <a:cs typeface="Yu Gothic"/>
            </a:endParaRPr>
          </a:p>
        </p:txBody>
      </p:sp>
      <p:sp>
        <p:nvSpPr>
          <p:cNvPr id="35" name="object 35" descr=""/>
          <p:cNvSpPr txBox="1">
            <a:spLocks noGrp="1"/>
          </p:cNvSpPr>
          <p:nvPr>
            <p:ph type="sldNum" idx="7" sz="quarter"/>
          </p:nvPr>
        </p:nvSpPr>
        <p:spPr>
          <a:prstGeom prst="rect"/>
        </p:spPr>
        <p:txBody>
          <a:bodyPr wrap="square" lIns="0" tIns="3175" rIns="0" bIns="0" rtlCol="0" vert="horz">
            <a:spAutoFit/>
          </a:bodyPr>
          <a:lstStyle/>
          <a:p>
            <a:pPr marL="38100">
              <a:lnSpc>
                <a:spcPct val="100000"/>
              </a:lnSpc>
              <a:spcBef>
                <a:spcPts val="25"/>
              </a:spcBef>
            </a:pPr>
            <a:fld id="{81D60167-4931-47E6-BA6A-407CBD079E47}" type="slidenum">
              <a:rPr dirty="0" spc="105"/>
              <a:t>3</a:t>
            </a:fld>
            <a:r>
              <a:rPr dirty="0" spc="15"/>
              <a:t> </a:t>
            </a:r>
            <a:r>
              <a:rPr dirty="0"/>
              <a:t>/</a:t>
            </a:r>
            <a:r>
              <a:rPr dirty="0" spc="15"/>
              <a:t> </a:t>
            </a:r>
            <a:r>
              <a:rPr dirty="0" spc="80"/>
              <a:t>13</a:t>
            </a:r>
          </a:p>
        </p:txBody>
      </p:sp>
      <p:sp>
        <p:nvSpPr>
          <p:cNvPr id="34" name="object 34" descr=""/>
          <p:cNvSpPr txBox="1"/>
          <p:nvPr/>
        </p:nvSpPr>
        <p:spPr>
          <a:xfrm>
            <a:off x="6382656" y="4850899"/>
            <a:ext cx="2981325" cy="988694"/>
          </a:xfrm>
          <a:prstGeom prst="rect">
            <a:avLst/>
          </a:prstGeom>
        </p:spPr>
        <p:txBody>
          <a:bodyPr wrap="square" lIns="0" tIns="15240" rIns="0" bIns="0" rtlCol="0" vert="horz">
            <a:spAutoFit/>
          </a:bodyPr>
          <a:lstStyle/>
          <a:p>
            <a:pPr marL="2149475">
              <a:lnSpc>
                <a:spcPct val="100000"/>
              </a:lnSpc>
              <a:spcBef>
                <a:spcPts val="120"/>
              </a:spcBef>
            </a:pPr>
            <a:r>
              <a:rPr dirty="0" sz="900" spc="-15">
                <a:latin typeface="PMingLiU"/>
                <a:cs typeface="PMingLiU"/>
              </a:rPr>
              <a:t>初期状態</a:t>
            </a:r>
            <a:endParaRPr sz="900">
              <a:latin typeface="PMingLiU"/>
              <a:cs typeface="PMingLiU"/>
            </a:endParaRPr>
          </a:p>
          <a:p>
            <a:pPr>
              <a:lnSpc>
                <a:spcPct val="100000"/>
              </a:lnSpc>
              <a:spcBef>
                <a:spcPts val="290"/>
              </a:spcBef>
            </a:pPr>
            <a:endParaRPr sz="900">
              <a:latin typeface="PMingLiU"/>
              <a:cs typeface="PMingLiU"/>
            </a:endParaRPr>
          </a:p>
          <a:p>
            <a:pPr marL="2149475">
              <a:lnSpc>
                <a:spcPct val="100000"/>
              </a:lnSpc>
              <a:spcBef>
                <a:spcPts val="5"/>
              </a:spcBef>
            </a:pPr>
            <a:r>
              <a:rPr dirty="0" sz="900" spc="-10">
                <a:solidFill>
                  <a:srgbClr val="0066CC"/>
                </a:solidFill>
                <a:latin typeface="PMingLiU"/>
                <a:cs typeface="PMingLiU"/>
              </a:rPr>
              <a:t>反転電荷発生後</a:t>
            </a:r>
            <a:endParaRPr sz="900">
              <a:latin typeface="PMingLiU"/>
              <a:cs typeface="PMingLiU"/>
            </a:endParaRPr>
          </a:p>
          <a:p>
            <a:pPr>
              <a:lnSpc>
                <a:spcPct val="100000"/>
              </a:lnSpc>
            </a:pPr>
            <a:endParaRPr sz="900">
              <a:latin typeface="PMingLiU"/>
              <a:cs typeface="PMingLiU"/>
            </a:endParaRPr>
          </a:p>
          <a:p>
            <a:pPr>
              <a:lnSpc>
                <a:spcPct val="100000"/>
              </a:lnSpc>
              <a:spcBef>
                <a:spcPts val="65"/>
              </a:spcBef>
            </a:pPr>
            <a:endParaRPr sz="900">
              <a:latin typeface="PMingLiU"/>
              <a:cs typeface="PMingLiU"/>
            </a:endParaRPr>
          </a:p>
          <a:p>
            <a:pPr marL="12700">
              <a:lnSpc>
                <a:spcPct val="100000"/>
              </a:lnSpc>
            </a:pPr>
            <a:r>
              <a:rPr dirty="0" sz="1050" spc="-10">
                <a:solidFill>
                  <a:srgbClr val="4A5462"/>
                </a:solidFill>
                <a:latin typeface="PMingLiU"/>
                <a:cs typeface="PMingLiU"/>
              </a:rPr>
              <a:t>反転電荷発生による</a:t>
            </a:r>
            <a:r>
              <a:rPr dirty="0" sz="1050" spc="75">
                <a:solidFill>
                  <a:srgbClr val="4A5462"/>
                </a:solidFill>
                <a:latin typeface="Segoe UI Symbol"/>
                <a:cs typeface="Segoe UI Symbol"/>
              </a:rPr>
              <a:t>Body</a:t>
            </a:r>
            <a:r>
              <a:rPr dirty="0" sz="1050" spc="-20">
                <a:solidFill>
                  <a:srgbClr val="4A5462"/>
                </a:solidFill>
                <a:latin typeface="PMingLiU"/>
                <a:cs typeface="PMingLiU"/>
              </a:rPr>
              <a:t>のバンド変化の概念図</a:t>
            </a:r>
            <a:endParaRPr sz="1050">
              <a:latin typeface="PMingLiU"/>
              <a:cs typeface="PMingLiU"/>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6067425"/>
          </a:xfrm>
          <a:custGeom>
            <a:avLst/>
            <a:gdLst/>
            <a:ahLst/>
            <a:cxnLst/>
            <a:rect l="l" t="t" r="r" b="b"/>
            <a:pathLst>
              <a:path w="10696575" h="6067425">
                <a:moveTo>
                  <a:pt x="10696575" y="6066964"/>
                </a:moveTo>
                <a:lnTo>
                  <a:pt x="0" y="6066964"/>
                </a:lnTo>
                <a:lnTo>
                  <a:pt x="0" y="0"/>
                </a:lnTo>
                <a:lnTo>
                  <a:pt x="10696575" y="0"/>
                </a:lnTo>
                <a:lnTo>
                  <a:pt x="10696575" y="6066964"/>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p:cNvSpPr txBox="1">
            <a:spLocks noGrp="1"/>
          </p:cNvSpPr>
          <p:nvPr>
            <p:ph type="title"/>
          </p:nvPr>
        </p:nvSpPr>
        <p:spPr>
          <a:prstGeom prst="rect"/>
        </p:spPr>
        <p:txBody>
          <a:bodyPr wrap="square" lIns="0" tIns="14604" rIns="0" bIns="0" rtlCol="0" vert="horz">
            <a:spAutoFit/>
          </a:bodyPr>
          <a:lstStyle/>
          <a:p>
            <a:pPr marL="12700">
              <a:lnSpc>
                <a:spcPct val="100000"/>
              </a:lnSpc>
              <a:spcBef>
                <a:spcPts val="114"/>
              </a:spcBef>
            </a:pPr>
            <a:r>
              <a:rPr dirty="0" sz="2600" spc="-240">
                <a:latin typeface="SimSun"/>
                <a:cs typeface="SimSun"/>
              </a:rPr>
              <a:t>動作</a:t>
            </a:r>
            <a:r>
              <a:rPr dirty="0" sz="2500" spc="-150"/>
              <a:t>原</a:t>
            </a:r>
            <a:r>
              <a:rPr dirty="0" spc="-210"/>
              <a:t>理</a:t>
            </a:r>
            <a:r>
              <a:rPr dirty="0" sz="2250" spc="110"/>
              <a:t>：</a:t>
            </a:r>
            <a:r>
              <a:rPr dirty="0" sz="2700" spc="-355">
                <a:latin typeface="SimSun"/>
                <a:cs typeface="SimSun"/>
              </a:rPr>
              <a:t>定</a:t>
            </a:r>
            <a:r>
              <a:rPr dirty="0" sz="2600" spc="-240">
                <a:latin typeface="SimSun"/>
                <a:cs typeface="SimSun"/>
              </a:rPr>
              <a:t>性</a:t>
            </a:r>
            <a:r>
              <a:rPr dirty="0" sz="2600" spc="-240"/>
              <a:t>的</a:t>
            </a:r>
            <a:r>
              <a:rPr dirty="0" sz="2600" spc="-215">
                <a:latin typeface="SimSun"/>
                <a:cs typeface="SimSun"/>
              </a:rPr>
              <a:t>なメカニズム </a:t>
            </a:r>
            <a:r>
              <a:rPr dirty="0" sz="2350" spc="155" b="1">
                <a:latin typeface="Yu Gothic"/>
                <a:cs typeface="Yu Gothic"/>
              </a:rPr>
              <a:t>(2)</a:t>
            </a:r>
            <a:endParaRPr sz="2350">
              <a:latin typeface="Yu Gothic"/>
              <a:cs typeface="Yu Gothic"/>
            </a:endParaRPr>
          </a:p>
        </p:txBody>
      </p:sp>
      <p:grpSp>
        <p:nvGrpSpPr>
          <p:cNvPr id="5" name="object 5" descr=""/>
          <p:cNvGrpSpPr/>
          <p:nvPr/>
        </p:nvGrpSpPr>
        <p:grpSpPr>
          <a:xfrm>
            <a:off x="334267" y="1002804"/>
            <a:ext cx="4846955" cy="4813935"/>
            <a:chOff x="334267" y="1002804"/>
            <a:chExt cx="4846955" cy="4813935"/>
          </a:xfrm>
        </p:grpSpPr>
        <p:sp>
          <p:nvSpPr>
            <p:cNvPr id="6" name="object 6" descr=""/>
            <p:cNvSpPr/>
            <p:nvPr/>
          </p:nvSpPr>
          <p:spPr>
            <a:xfrm>
              <a:off x="334267" y="1002804"/>
              <a:ext cx="4846955" cy="4813935"/>
            </a:xfrm>
            <a:custGeom>
              <a:avLst/>
              <a:gdLst/>
              <a:ahLst/>
              <a:cxnLst/>
              <a:rect l="l" t="t" r="r" b="b"/>
              <a:pathLst>
                <a:path w="4846955" h="4813935">
                  <a:moveTo>
                    <a:pt x="4784421" y="4813458"/>
                  </a:moveTo>
                  <a:lnTo>
                    <a:pt x="62463" y="4813458"/>
                  </a:lnTo>
                  <a:lnTo>
                    <a:pt x="58116" y="4813030"/>
                  </a:lnTo>
                  <a:lnTo>
                    <a:pt x="22684" y="4796980"/>
                  </a:lnTo>
                  <a:lnTo>
                    <a:pt x="2140" y="4763951"/>
                  </a:lnTo>
                  <a:lnTo>
                    <a:pt x="0" y="4750994"/>
                  </a:lnTo>
                  <a:lnTo>
                    <a:pt x="0" y="4746605"/>
                  </a:lnTo>
                  <a:lnTo>
                    <a:pt x="0" y="62463"/>
                  </a:lnTo>
                  <a:lnTo>
                    <a:pt x="13705" y="26061"/>
                  </a:lnTo>
                  <a:lnTo>
                    <a:pt x="45325" y="3408"/>
                  </a:lnTo>
                  <a:lnTo>
                    <a:pt x="62463" y="0"/>
                  </a:lnTo>
                  <a:lnTo>
                    <a:pt x="4784421" y="0"/>
                  </a:lnTo>
                  <a:lnTo>
                    <a:pt x="4820823" y="13705"/>
                  </a:lnTo>
                  <a:lnTo>
                    <a:pt x="4843476" y="45325"/>
                  </a:lnTo>
                  <a:lnTo>
                    <a:pt x="4846885" y="62463"/>
                  </a:lnTo>
                  <a:lnTo>
                    <a:pt x="4846885" y="4750994"/>
                  </a:lnTo>
                  <a:lnTo>
                    <a:pt x="4833180" y="4787395"/>
                  </a:lnTo>
                  <a:lnTo>
                    <a:pt x="4801560" y="4810049"/>
                  </a:lnTo>
                  <a:lnTo>
                    <a:pt x="4788769" y="4813030"/>
                  </a:lnTo>
                  <a:lnTo>
                    <a:pt x="4784421" y="4813458"/>
                  </a:lnTo>
                  <a:close/>
                </a:path>
              </a:pathLst>
            </a:custGeom>
            <a:solidFill>
              <a:srgbClr val="FFFFFF">
                <a:alpha val="94898"/>
              </a:srgbClr>
            </a:solidFill>
          </p:spPr>
          <p:txBody>
            <a:bodyPr wrap="square" lIns="0" tIns="0" rIns="0" bIns="0" rtlCol="0"/>
            <a:lstStyle/>
            <a:p/>
          </p:txBody>
        </p:sp>
        <p:pic>
          <p:nvPicPr>
            <p:cNvPr id="7" name="object 7" descr=""/>
            <p:cNvPicPr/>
            <p:nvPr/>
          </p:nvPicPr>
          <p:blipFill>
            <a:blip r:embed="rId3" cstate="print"/>
            <a:stretch>
              <a:fillRect/>
            </a:stretch>
          </p:blipFill>
          <p:spPr>
            <a:xfrm>
              <a:off x="543185" y="1713123"/>
              <a:ext cx="167133" cy="167133"/>
            </a:xfrm>
            <a:prstGeom prst="rect">
              <a:avLst/>
            </a:prstGeom>
          </p:spPr>
        </p:pic>
        <p:pic>
          <p:nvPicPr>
            <p:cNvPr id="8" name="object 8" descr=""/>
            <p:cNvPicPr/>
            <p:nvPr/>
          </p:nvPicPr>
          <p:blipFill>
            <a:blip r:embed="rId4" cstate="print"/>
            <a:stretch>
              <a:fillRect/>
            </a:stretch>
          </p:blipFill>
          <p:spPr>
            <a:xfrm>
              <a:off x="543185" y="2515366"/>
              <a:ext cx="167133" cy="167133"/>
            </a:xfrm>
            <a:prstGeom prst="rect">
              <a:avLst/>
            </a:prstGeom>
          </p:spPr>
        </p:pic>
        <p:pic>
          <p:nvPicPr>
            <p:cNvPr id="9" name="object 9" descr=""/>
            <p:cNvPicPr/>
            <p:nvPr/>
          </p:nvPicPr>
          <p:blipFill>
            <a:blip r:embed="rId5" cstate="print"/>
            <a:stretch>
              <a:fillRect/>
            </a:stretch>
          </p:blipFill>
          <p:spPr>
            <a:xfrm>
              <a:off x="543185" y="3317609"/>
              <a:ext cx="167133" cy="167133"/>
            </a:xfrm>
            <a:prstGeom prst="rect">
              <a:avLst/>
            </a:prstGeom>
          </p:spPr>
        </p:pic>
        <p:pic>
          <p:nvPicPr>
            <p:cNvPr id="10" name="object 10" descr=""/>
            <p:cNvPicPr/>
            <p:nvPr/>
          </p:nvPicPr>
          <p:blipFill>
            <a:blip r:embed="rId6" cstate="print"/>
            <a:stretch>
              <a:fillRect/>
            </a:stretch>
          </p:blipFill>
          <p:spPr>
            <a:xfrm>
              <a:off x="543185" y="4119852"/>
              <a:ext cx="167133" cy="167133"/>
            </a:xfrm>
            <a:prstGeom prst="rect">
              <a:avLst/>
            </a:prstGeom>
          </p:spPr>
        </p:pic>
      </p:grpSp>
      <p:sp>
        <p:nvSpPr>
          <p:cNvPr id="11" name="object 11" descr=""/>
          <p:cNvSpPr txBox="1"/>
          <p:nvPr/>
        </p:nvSpPr>
        <p:spPr>
          <a:xfrm>
            <a:off x="530485" y="1168663"/>
            <a:ext cx="4413250" cy="3534410"/>
          </a:xfrm>
          <a:prstGeom prst="rect">
            <a:avLst/>
          </a:prstGeom>
        </p:spPr>
        <p:txBody>
          <a:bodyPr wrap="square" lIns="0" tIns="14604" rIns="0" bIns="0" rtlCol="0" vert="horz">
            <a:spAutoFit/>
          </a:bodyPr>
          <a:lstStyle/>
          <a:p>
            <a:pPr marL="12700">
              <a:lnSpc>
                <a:spcPct val="100000"/>
              </a:lnSpc>
              <a:spcBef>
                <a:spcPts val="114"/>
              </a:spcBef>
            </a:pPr>
            <a:r>
              <a:rPr dirty="0" sz="1800" spc="-240">
                <a:solidFill>
                  <a:srgbClr val="1D3A8A"/>
                </a:solidFill>
                <a:latin typeface="SimSun"/>
                <a:cs typeface="SimSun"/>
              </a:rPr>
              <a:t>反</a:t>
            </a:r>
            <a:r>
              <a:rPr dirty="0" sz="1700" spc="-145">
                <a:solidFill>
                  <a:srgbClr val="1D3A8A"/>
                </a:solidFill>
                <a:latin typeface="SimSun"/>
                <a:cs typeface="SimSun"/>
              </a:rPr>
              <a:t>転</a:t>
            </a:r>
            <a:r>
              <a:rPr dirty="0" sz="1700" spc="-145">
                <a:solidFill>
                  <a:srgbClr val="1D3A8A"/>
                </a:solidFill>
                <a:latin typeface="PMingLiU"/>
                <a:cs typeface="PMingLiU"/>
              </a:rPr>
              <a:t>電</a:t>
            </a:r>
            <a:r>
              <a:rPr dirty="0" sz="1750" spc="-175">
                <a:solidFill>
                  <a:srgbClr val="1D3A8A"/>
                </a:solidFill>
                <a:latin typeface="SimSun"/>
                <a:cs typeface="SimSun"/>
              </a:rPr>
              <a:t>荷</a:t>
            </a:r>
            <a:r>
              <a:rPr dirty="0" sz="1650" spc="-30">
                <a:solidFill>
                  <a:srgbClr val="1D3A8A"/>
                </a:solidFill>
                <a:latin typeface="PMingLiU"/>
                <a:cs typeface="PMingLiU"/>
              </a:rPr>
              <a:t>の</a:t>
            </a:r>
            <a:r>
              <a:rPr dirty="0" sz="1800" spc="-240">
                <a:solidFill>
                  <a:srgbClr val="1D3A8A"/>
                </a:solidFill>
                <a:latin typeface="SimSun"/>
                <a:cs typeface="SimSun"/>
              </a:rPr>
              <a:t>流</a:t>
            </a:r>
            <a:r>
              <a:rPr dirty="0" sz="1750" spc="-175">
                <a:solidFill>
                  <a:srgbClr val="1D3A8A"/>
                </a:solidFill>
                <a:latin typeface="SimSun"/>
                <a:cs typeface="SimSun"/>
              </a:rPr>
              <a:t>入</a:t>
            </a:r>
            <a:r>
              <a:rPr dirty="0" sz="1650" spc="-30">
                <a:solidFill>
                  <a:srgbClr val="1D3A8A"/>
                </a:solidFill>
                <a:latin typeface="PMingLiU"/>
                <a:cs typeface="PMingLiU"/>
              </a:rPr>
              <a:t>とバンド</a:t>
            </a:r>
            <a:r>
              <a:rPr dirty="0" sz="1750" spc="-175">
                <a:solidFill>
                  <a:srgbClr val="1D3A8A"/>
                </a:solidFill>
                <a:latin typeface="SimSun"/>
                <a:cs typeface="SimSun"/>
              </a:rPr>
              <a:t>構</a:t>
            </a:r>
            <a:r>
              <a:rPr dirty="0" sz="1750" spc="-175">
                <a:solidFill>
                  <a:srgbClr val="1D3A8A"/>
                </a:solidFill>
                <a:latin typeface="PMingLiU"/>
                <a:cs typeface="PMingLiU"/>
              </a:rPr>
              <a:t>造</a:t>
            </a:r>
            <a:r>
              <a:rPr dirty="0" sz="1650" spc="-30">
                <a:solidFill>
                  <a:srgbClr val="1D3A8A"/>
                </a:solidFill>
                <a:latin typeface="PMingLiU"/>
                <a:cs typeface="PMingLiU"/>
              </a:rPr>
              <a:t>の</a:t>
            </a:r>
            <a:r>
              <a:rPr dirty="0" sz="1800" spc="-240">
                <a:solidFill>
                  <a:srgbClr val="1D3A8A"/>
                </a:solidFill>
                <a:latin typeface="PMingLiU"/>
                <a:cs typeface="PMingLiU"/>
              </a:rPr>
              <a:t>変</a:t>
            </a:r>
            <a:r>
              <a:rPr dirty="0" sz="1800" spc="-50">
                <a:solidFill>
                  <a:srgbClr val="1D3A8A"/>
                </a:solidFill>
                <a:latin typeface="SimSun"/>
                <a:cs typeface="SimSun"/>
              </a:rPr>
              <a:t>化</a:t>
            </a:r>
            <a:endParaRPr sz="1800">
              <a:latin typeface="SimSun"/>
              <a:cs typeface="SimSun"/>
            </a:endParaRPr>
          </a:p>
          <a:p>
            <a:pPr marL="304800">
              <a:lnSpc>
                <a:spcPct val="100000"/>
              </a:lnSpc>
              <a:spcBef>
                <a:spcPts val="1715"/>
              </a:spcBef>
            </a:pPr>
            <a:r>
              <a:rPr dirty="0" sz="1150" spc="125" b="1">
                <a:solidFill>
                  <a:srgbClr val="1D40AF"/>
                </a:solidFill>
                <a:latin typeface="Yu Gothic"/>
                <a:cs typeface="Yu Gothic"/>
              </a:rPr>
              <a:t>Body</a:t>
            </a:r>
            <a:r>
              <a:rPr dirty="0" sz="1250" spc="-80">
                <a:solidFill>
                  <a:srgbClr val="1D40AF"/>
                </a:solidFill>
                <a:latin typeface="PMingLiU"/>
                <a:cs typeface="PMingLiU"/>
              </a:rPr>
              <a:t>の</a:t>
            </a:r>
            <a:r>
              <a:rPr dirty="0" sz="1350" spc="-185">
                <a:solidFill>
                  <a:srgbClr val="1D40AF"/>
                </a:solidFill>
                <a:latin typeface="SimSun"/>
                <a:cs typeface="SimSun"/>
              </a:rPr>
              <a:t>反</a:t>
            </a:r>
            <a:r>
              <a:rPr dirty="0" sz="1300" spc="-125">
                <a:solidFill>
                  <a:srgbClr val="1D40AF"/>
                </a:solidFill>
                <a:latin typeface="SimSun"/>
                <a:cs typeface="SimSun"/>
              </a:rPr>
              <a:t>転</a:t>
            </a:r>
            <a:r>
              <a:rPr dirty="0" sz="1250" spc="-75">
                <a:solidFill>
                  <a:srgbClr val="1D40AF"/>
                </a:solidFill>
                <a:latin typeface="PMingLiU"/>
                <a:cs typeface="PMingLiU"/>
              </a:rPr>
              <a:t>電</a:t>
            </a:r>
            <a:r>
              <a:rPr dirty="0" sz="1300" spc="-125">
                <a:solidFill>
                  <a:srgbClr val="1D40AF"/>
                </a:solidFill>
                <a:latin typeface="SimSun"/>
                <a:cs typeface="SimSun"/>
              </a:rPr>
              <a:t>荷</a:t>
            </a:r>
            <a:r>
              <a:rPr dirty="0" sz="1250" spc="-80">
                <a:solidFill>
                  <a:srgbClr val="1D40AF"/>
                </a:solidFill>
                <a:latin typeface="PMingLiU"/>
                <a:cs typeface="PMingLiU"/>
              </a:rPr>
              <a:t>が</a:t>
            </a:r>
            <a:r>
              <a:rPr dirty="0" sz="1150" spc="130" b="1">
                <a:solidFill>
                  <a:srgbClr val="1D40AF"/>
                </a:solidFill>
                <a:latin typeface="Yu Gothic"/>
                <a:cs typeface="Yu Gothic"/>
              </a:rPr>
              <a:t>n+</a:t>
            </a:r>
            <a:r>
              <a:rPr dirty="0" sz="1350" spc="-185">
                <a:solidFill>
                  <a:srgbClr val="1D40AF"/>
                </a:solidFill>
                <a:latin typeface="SimSun"/>
                <a:cs typeface="SimSun"/>
              </a:rPr>
              <a:t>領</a:t>
            </a:r>
            <a:r>
              <a:rPr dirty="0" sz="1300" spc="-130">
                <a:solidFill>
                  <a:srgbClr val="1D40AF"/>
                </a:solidFill>
                <a:latin typeface="SimSun"/>
                <a:cs typeface="SimSun"/>
              </a:rPr>
              <a:t>域</a:t>
            </a:r>
            <a:r>
              <a:rPr dirty="0" sz="1250" spc="-80">
                <a:solidFill>
                  <a:srgbClr val="1D40AF"/>
                </a:solidFill>
                <a:latin typeface="PMingLiU"/>
                <a:cs typeface="PMingLiU"/>
              </a:rPr>
              <a:t>に</a:t>
            </a:r>
            <a:r>
              <a:rPr dirty="0" sz="1350" spc="-185">
                <a:solidFill>
                  <a:srgbClr val="1D40AF"/>
                </a:solidFill>
                <a:latin typeface="SimSun"/>
                <a:cs typeface="SimSun"/>
              </a:rPr>
              <a:t>流</a:t>
            </a:r>
            <a:r>
              <a:rPr dirty="0" sz="1300" spc="-50">
                <a:solidFill>
                  <a:srgbClr val="1D40AF"/>
                </a:solidFill>
                <a:latin typeface="SimSun"/>
                <a:cs typeface="SimSun"/>
              </a:rPr>
              <a:t>入</a:t>
            </a:r>
            <a:endParaRPr sz="1300">
              <a:latin typeface="SimSun"/>
              <a:cs typeface="SimSun"/>
            </a:endParaRPr>
          </a:p>
          <a:p>
            <a:pPr marL="304800">
              <a:lnSpc>
                <a:spcPct val="100000"/>
              </a:lnSpc>
              <a:spcBef>
                <a:spcPts val="325"/>
              </a:spcBef>
            </a:pPr>
            <a:r>
              <a:rPr dirty="0" sz="1050" spc="-20">
                <a:latin typeface="PMingLiU"/>
                <a:cs typeface="PMingLiU"/>
              </a:rPr>
              <a:t>ゲート電圧の印加により</a:t>
            </a:r>
            <a:r>
              <a:rPr dirty="0" sz="1050" spc="75">
                <a:latin typeface="Segoe UI Symbol"/>
                <a:cs typeface="Segoe UI Symbol"/>
              </a:rPr>
              <a:t>Body</a:t>
            </a:r>
            <a:r>
              <a:rPr dirty="0" sz="1050" spc="-10">
                <a:latin typeface="PMingLiU"/>
                <a:cs typeface="PMingLiU"/>
              </a:rPr>
              <a:t>に生成された反転電荷</a:t>
            </a:r>
            <a:r>
              <a:rPr dirty="0" sz="1050">
                <a:latin typeface="PMingLiU"/>
                <a:cs typeface="PMingLiU"/>
              </a:rPr>
              <a:t>（電子）</a:t>
            </a:r>
            <a:r>
              <a:rPr dirty="0" sz="1050" spc="-50">
                <a:latin typeface="PMingLiU"/>
                <a:cs typeface="PMingLiU"/>
              </a:rPr>
              <a:t>が</a:t>
            </a:r>
            <a:endParaRPr sz="1050">
              <a:latin typeface="PMingLiU"/>
              <a:cs typeface="PMingLiU"/>
            </a:endParaRPr>
          </a:p>
          <a:p>
            <a:pPr marL="304800">
              <a:lnSpc>
                <a:spcPct val="100000"/>
              </a:lnSpc>
              <a:spcBef>
                <a:spcPts val="320"/>
              </a:spcBef>
            </a:pPr>
            <a:r>
              <a:rPr dirty="0" sz="1050" spc="114">
                <a:latin typeface="Segoe UI Symbol"/>
                <a:cs typeface="Segoe UI Symbol"/>
              </a:rPr>
              <a:t>n+</a:t>
            </a:r>
            <a:r>
              <a:rPr dirty="0" sz="1050" spc="-20">
                <a:latin typeface="PMingLiU"/>
                <a:cs typeface="PMingLiU"/>
              </a:rPr>
              <a:t>領域へ流れ込む</a:t>
            </a:r>
            <a:endParaRPr sz="1050">
              <a:latin typeface="PMingLiU"/>
              <a:cs typeface="PMingLiU"/>
            </a:endParaRPr>
          </a:p>
          <a:p>
            <a:pPr>
              <a:lnSpc>
                <a:spcPct val="100000"/>
              </a:lnSpc>
              <a:spcBef>
                <a:spcPts val="60"/>
              </a:spcBef>
            </a:pPr>
            <a:endParaRPr sz="1050">
              <a:latin typeface="PMingLiU"/>
              <a:cs typeface="PMingLiU"/>
            </a:endParaRPr>
          </a:p>
          <a:p>
            <a:pPr marL="304800">
              <a:lnSpc>
                <a:spcPct val="100000"/>
              </a:lnSpc>
            </a:pPr>
            <a:r>
              <a:rPr dirty="0" sz="1150" spc="130" b="1">
                <a:solidFill>
                  <a:srgbClr val="1D40AF"/>
                </a:solidFill>
                <a:latin typeface="Yu Gothic"/>
                <a:cs typeface="Yu Gothic"/>
              </a:rPr>
              <a:t>n+</a:t>
            </a:r>
            <a:r>
              <a:rPr dirty="0" sz="1350" spc="-185">
                <a:solidFill>
                  <a:srgbClr val="1D40AF"/>
                </a:solidFill>
                <a:latin typeface="SimSun"/>
                <a:cs typeface="SimSun"/>
              </a:rPr>
              <a:t>領</a:t>
            </a:r>
            <a:r>
              <a:rPr dirty="0" sz="1300" spc="-130">
                <a:solidFill>
                  <a:srgbClr val="1D40AF"/>
                </a:solidFill>
                <a:latin typeface="SimSun"/>
                <a:cs typeface="SimSun"/>
              </a:rPr>
              <a:t>域</a:t>
            </a:r>
            <a:r>
              <a:rPr dirty="0" sz="1250" spc="-80">
                <a:solidFill>
                  <a:srgbClr val="1D40AF"/>
                </a:solidFill>
                <a:latin typeface="PMingLiU"/>
                <a:cs typeface="PMingLiU"/>
              </a:rPr>
              <a:t>のバンドが</a:t>
            </a:r>
            <a:r>
              <a:rPr dirty="0" sz="1300" spc="-125">
                <a:solidFill>
                  <a:srgbClr val="1D40AF"/>
                </a:solidFill>
                <a:latin typeface="PMingLiU"/>
                <a:cs typeface="PMingLiU"/>
              </a:rPr>
              <a:t>上</a:t>
            </a:r>
            <a:r>
              <a:rPr dirty="0" sz="1300" spc="-50">
                <a:solidFill>
                  <a:srgbClr val="1D40AF"/>
                </a:solidFill>
                <a:latin typeface="SimSun"/>
                <a:cs typeface="SimSun"/>
              </a:rPr>
              <a:t>昇</a:t>
            </a:r>
            <a:endParaRPr sz="1300">
              <a:latin typeface="SimSun"/>
              <a:cs typeface="SimSun"/>
            </a:endParaRPr>
          </a:p>
          <a:p>
            <a:pPr marL="304800" marR="22225">
              <a:lnSpc>
                <a:spcPct val="125299"/>
              </a:lnSpc>
              <a:spcBef>
                <a:spcPts val="10"/>
              </a:spcBef>
            </a:pPr>
            <a:r>
              <a:rPr dirty="0" sz="1050" spc="-15">
                <a:latin typeface="PMingLiU"/>
                <a:cs typeface="PMingLiU"/>
              </a:rPr>
              <a:t>電子の流入により</a:t>
            </a:r>
            <a:r>
              <a:rPr dirty="0" sz="1050" spc="114">
                <a:latin typeface="Segoe UI Symbol"/>
                <a:cs typeface="Segoe UI Symbol"/>
              </a:rPr>
              <a:t>n+</a:t>
            </a:r>
            <a:r>
              <a:rPr dirty="0" sz="1050" spc="-25">
                <a:latin typeface="PMingLiU"/>
                <a:cs typeface="PMingLiU"/>
              </a:rPr>
              <a:t>領域の電子密度が増加し、エネルギーバンドが</a:t>
            </a:r>
            <a:r>
              <a:rPr dirty="0" sz="1050" spc="-15">
                <a:latin typeface="PMingLiU"/>
                <a:cs typeface="PMingLiU"/>
              </a:rPr>
              <a:t>上方にシフトする</a:t>
            </a:r>
            <a:endParaRPr sz="1050">
              <a:latin typeface="PMingLiU"/>
              <a:cs typeface="PMingLiU"/>
            </a:endParaRPr>
          </a:p>
          <a:p>
            <a:pPr>
              <a:lnSpc>
                <a:spcPct val="100000"/>
              </a:lnSpc>
              <a:spcBef>
                <a:spcPts val="60"/>
              </a:spcBef>
            </a:pPr>
            <a:endParaRPr sz="1050">
              <a:latin typeface="PMingLiU"/>
              <a:cs typeface="PMingLiU"/>
            </a:endParaRPr>
          </a:p>
          <a:p>
            <a:pPr marL="304800">
              <a:lnSpc>
                <a:spcPct val="100000"/>
              </a:lnSpc>
            </a:pPr>
            <a:r>
              <a:rPr dirty="0" sz="1250" spc="-75">
                <a:solidFill>
                  <a:srgbClr val="1D40AF"/>
                </a:solidFill>
                <a:latin typeface="PMingLiU"/>
                <a:cs typeface="PMingLiU"/>
              </a:rPr>
              <a:t>電</a:t>
            </a:r>
            <a:r>
              <a:rPr dirty="0" sz="1300" spc="-125">
                <a:solidFill>
                  <a:srgbClr val="1D40AF"/>
                </a:solidFill>
                <a:latin typeface="SimSun"/>
                <a:cs typeface="SimSun"/>
              </a:rPr>
              <a:t>位</a:t>
            </a:r>
            <a:r>
              <a:rPr dirty="0" sz="1350" spc="-185">
                <a:solidFill>
                  <a:srgbClr val="1D40AF"/>
                </a:solidFill>
                <a:latin typeface="SimSun"/>
                <a:cs typeface="SimSun"/>
              </a:rPr>
              <a:t>障壁</a:t>
            </a:r>
            <a:r>
              <a:rPr dirty="0" sz="1250" spc="-80">
                <a:solidFill>
                  <a:srgbClr val="1D40AF"/>
                </a:solidFill>
                <a:latin typeface="PMingLiU"/>
                <a:cs typeface="PMingLiU"/>
              </a:rPr>
              <a:t>の</a:t>
            </a:r>
            <a:r>
              <a:rPr dirty="0" sz="1350" spc="-185">
                <a:solidFill>
                  <a:srgbClr val="1D40AF"/>
                </a:solidFill>
                <a:latin typeface="PMingLiU"/>
                <a:cs typeface="PMingLiU"/>
              </a:rPr>
              <a:t>変</a:t>
            </a:r>
            <a:r>
              <a:rPr dirty="0" sz="1350" spc="-50">
                <a:solidFill>
                  <a:srgbClr val="1D40AF"/>
                </a:solidFill>
                <a:latin typeface="SimSun"/>
                <a:cs typeface="SimSun"/>
              </a:rPr>
              <a:t>化</a:t>
            </a:r>
            <a:endParaRPr sz="1350">
              <a:latin typeface="SimSun"/>
              <a:cs typeface="SimSun"/>
            </a:endParaRPr>
          </a:p>
          <a:p>
            <a:pPr marL="304800" marR="88900">
              <a:lnSpc>
                <a:spcPct val="125299"/>
              </a:lnSpc>
              <a:spcBef>
                <a:spcPts val="10"/>
              </a:spcBef>
            </a:pPr>
            <a:r>
              <a:rPr dirty="0" sz="1050" spc="114">
                <a:latin typeface="Segoe UI Symbol"/>
                <a:cs typeface="Segoe UI Symbol"/>
              </a:rPr>
              <a:t>n+</a:t>
            </a:r>
            <a:r>
              <a:rPr dirty="0" sz="1050" spc="-10">
                <a:latin typeface="PMingLiU"/>
                <a:cs typeface="PMingLiU"/>
              </a:rPr>
              <a:t>領域と</a:t>
            </a:r>
            <a:r>
              <a:rPr dirty="0" sz="1050" spc="75">
                <a:latin typeface="Segoe UI Symbol"/>
                <a:cs typeface="Segoe UI Symbol"/>
              </a:rPr>
              <a:t>Body</a:t>
            </a:r>
            <a:r>
              <a:rPr dirty="0" sz="1050" spc="-25">
                <a:latin typeface="PMingLiU"/>
                <a:cs typeface="PMingLiU"/>
              </a:rPr>
              <a:t>領域間の電位障壁が変化し、キャリアの移動に影響</a:t>
            </a:r>
            <a:r>
              <a:rPr dirty="0" sz="1050" spc="-20">
                <a:latin typeface="PMingLiU"/>
                <a:cs typeface="PMingLiU"/>
              </a:rPr>
              <a:t>を与える</a:t>
            </a:r>
            <a:endParaRPr sz="1050">
              <a:latin typeface="PMingLiU"/>
              <a:cs typeface="PMingLiU"/>
            </a:endParaRPr>
          </a:p>
          <a:p>
            <a:pPr>
              <a:lnSpc>
                <a:spcPct val="100000"/>
              </a:lnSpc>
              <a:spcBef>
                <a:spcPts val="60"/>
              </a:spcBef>
            </a:pPr>
            <a:endParaRPr sz="1050">
              <a:latin typeface="PMingLiU"/>
              <a:cs typeface="PMingLiU"/>
            </a:endParaRPr>
          </a:p>
          <a:p>
            <a:pPr marL="304800">
              <a:lnSpc>
                <a:spcPct val="100000"/>
              </a:lnSpc>
              <a:spcBef>
                <a:spcPts val="5"/>
              </a:spcBef>
            </a:pPr>
            <a:r>
              <a:rPr dirty="0" sz="1250" spc="-80">
                <a:solidFill>
                  <a:srgbClr val="1D40AF"/>
                </a:solidFill>
                <a:latin typeface="PMingLiU"/>
                <a:cs typeface="PMingLiU"/>
              </a:rPr>
              <a:t>デバイス</a:t>
            </a:r>
            <a:r>
              <a:rPr dirty="0" sz="1300" spc="-125">
                <a:solidFill>
                  <a:srgbClr val="1D40AF"/>
                </a:solidFill>
                <a:latin typeface="SimSun"/>
                <a:cs typeface="SimSun"/>
              </a:rPr>
              <a:t>特性</a:t>
            </a:r>
            <a:r>
              <a:rPr dirty="0" sz="1250" spc="-80">
                <a:solidFill>
                  <a:srgbClr val="1D40AF"/>
                </a:solidFill>
                <a:latin typeface="PMingLiU"/>
                <a:cs typeface="PMingLiU"/>
              </a:rPr>
              <a:t>への</a:t>
            </a:r>
            <a:r>
              <a:rPr dirty="0" sz="1300" spc="-125">
                <a:solidFill>
                  <a:srgbClr val="1D40AF"/>
                </a:solidFill>
                <a:latin typeface="SimSun"/>
                <a:cs typeface="SimSun"/>
              </a:rPr>
              <a:t>影</a:t>
            </a:r>
            <a:r>
              <a:rPr dirty="0" sz="1350" spc="-50">
                <a:solidFill>
                  <a:srgbClr val="1D40AF"/>
                </a:solidFill>
                <a:latin typeface="SimSun"/>
                <a:cs typeface="SimSun"/>
              </a:rPr>
              <a:t>響</a:t>
            </a:r>
            <a:endParaRPr sz="1350">
              <a:latin typeface="SimSun"/>
              <a:cs typeface="SimSun"/>
            </a:endParaRPr>
          </a:p>
          <a:p>
            <a:pPr marL="304800" marR="5080">
              <a:lnSpc>
                <a:spcPct val="125299"/>
              </a:lnSpc>
              <a:spcBef>
                <a:spcPts val="5"/>
              </a:spcBef>
            </a:pPr>
            <a:r>
              <a:rPr dirty="0" sz="1050" spc="-15">
                <a:latin typeface="PMingLiU"/>
                <a:cs typeface="PMingLiU"/>
              </a:rPr>
              <a:t>この現象は</a:t>
            </a:r>
            <a:r>
              <a:rPr dirty="0" sz="1050" spc="-20">
                <a:latin typeface="Segoe UI Symbol"/>
                <a:cs typeface="Segoe UI Symbol"/>
              </a:rPr>
              <a:t>PN-</a:t>
            </a:r>
            <a:r>
              <a:rPr dirty="0" sz="1050" spc="75">
                <a:latin typeface="Segoe UI Symbol"/>
                <a:cs typeface="Segoe UI Symbol"/>
              </a:rPr>
              <a:t>Body </a:t>
            </a:r>
            <a:r>
              <a:rPr dirty="0" sz="1050" spc="55">
                <a:latin typeface="Segoe UI Symbol"/>
                <a:cs typeface="Segoe UI Symbol"/>
              </a:rPr>
              <a:t>Tied</a:t>
            </a:r>
            <a:r>
              <a:rPr dirty="0" sz="1050" spc="-25">
                <a:latin typeface="PMingLiU"/>
                <a:cs typeface="PMingLiU"/>
              </a:rPr>
              <a:t>構造特有の電気的特性の急峻な変化に寄与</a:t>
            </a:r>
            <a:r>
              <a:rPr dirty="0" sz="1050" spc="-30">
                <a:latin typeface="PMingLiU"/>
                <a:cs typeface="PMingLiU"/>
              </a:rPr>
              <a:t>する</a:t>
            </a:r>
            <a:endParaRPr sz="1050">
              <a:latin typeface="PMingLiU"/>
              <a:cs typeface="PMingLiU"/>
            </a:endParaRPr>
          </a:p>
        </p:txBody>
      </p:sp>
      <p:grpSp>
        <p:nvGrpSpPr>
          <p:cNvPr id="12" name="object 12" descr=""/>
          <p:cNvGrpSpPr/>
          <p:nvPr/>
        </p:nvGrpSpPr>
        <p:grpSpPr>
          <a:xfrm>
            <a:off x="5515421" y="1002804"/>
            <a:ext cx="4846955" cy="4813935"/>
            <a:chOff x="5515421" y="1002804"/>
            <a:chExt cx="4846955" cy="4813935"/>
          </a:xfrm>
        </p:grpSpPr>
        <p:sp>
          <p:nvSpPr>
            <p:cNvPr id="13" name="object 13" descr=""/>
            <p:cNvSpPr/>
            <p:nvPr/>
          </p:nvSpPr>
          <p:spPr>
            <a:xfrm>
              <a:off x="5515421" y="1002804"/>
              <a:ext cx="4846955" cy="4813935"/>
            </a:xfrm>
            <a:custGeom>
              <a:avLst/>
              <a:gdLst/>
              <a:ahLst/>
              <a:cxnLst/>
              <a:rect l="l" t="t" r="r" b="b"/>
              <a:pathLst>
                <a:path w="4846955" h="4813935">
                  <a:moveTo>
                    <a:pt x="4784422" y="4813458"/>
                  </a:moveTo>
                  <a:lnTo>
                    <a:pt x="62464" y="4813458"/>
                  </a:lnTo>
                  <a:lnTo>
                    <a:pt x="58116" y="4813030"/>
                  </a:lnTo>
                  <a:lnTo>
                    <a:pt x="22684" y="4796980"/>
                  </a:lnTo>
                  <a:lnTo>
                    <a:pt x="2141" y="4763951"/>
                  </a:lnTo>
                  <a:lnTo>
                    <a:pt x="0" y="4750994"/>
                  </a:lnTo>
                  <a:lnTo>
                    <a:pt x="0" y="4746605"/>
                  </a:lnTo>
                  <a:lnTo>
                    <a:pt x="0" y="62463"/>
                  </a:lnTo>
                  <a:lnTo>
                    <a:pt x="13705" y="26061"/>
                  </a:lnTo>
                  <a:lnTo>
                    <a:pt x="45325" y="3408"/>
                  </a:lnTo>
                  <a:lnTo>
                    <a:pt x="62464" y="0"/>
                  </a:lnTo>
                  <a:lnTo>
                    <a:pt x="4784422" y="0"/>
                  </a:lnTo>
                  <a:lnTo>
                    <a:pt x="4820824" y="13705"/>
                  </a:lnTo>
                  <a:lnTo>
                    <a:pt x="4843477" y="45325"/>
                  </a:lnTo>
                  <a:lnTo>
                    <a:pt x="4846886" y="62463"/>
                  </a:lnTo>
                  <a:lnTo>
                    <a:pt x="4846886" y="4750994"/>
                  </a:lnTo>
                  <a:lnTo>
                    <a:pt x="4833180" y="4787395"/>
                  </a:lnTo>
                  <a:lnTo>
                    <a:pt x="4801561" y="4810049"/>
                  </a:lnTo>
                  <a:lnTo>
                    <a:pt x="4788769" y="4813030"/>
                  </a:lnTo>
                  <a:lnTo>
                    <a:pt x="4784422" y="4813458"/>
                  </a:lnTo>
                  <a:close/>
                </a:path>
              </a:pathLst>
            </a:custGeom>
            <a:solidFill>
              <a:srgbClr val="FFFFFF">
                <a:alpha val="94898"/>
              </a:srgbClr>
            </a:solidFill>
          </p:spPr>
          <p:txBody>
            <a:bodyPr wrap="square" lIns="0" tIns="0" rIns="0" bIns="0" rtlCol="0"/>
            <a:lstStyle/>
            <a:p/>
          </p:txBody>
        </p:sp>
        <p:sp>
          <p:nvSpPr>
            <p:cNvPr id="14" name="object 14" descr=""/>
            <p:cNvSpPr/>
            <p:nvPr/>
          </p:nvSpPr>
          <p:spPr>
            <a:xfrm>
              <a:off x="5728517" y="4257738"/>
              <a:ext cx="4420870" cy="1178560"/>
            </a:xfrm>
            <a:custGeom>
              <a:avLst/>
              <a:gdLst/>
              <a:ahLst/>
              <a:cxnLst/>
              <a:rect l="l" t="t" r="r" b="b"/>
              <a:pathLst>
                <a:path w="4420870" h="1178560">
                  <a:moveTo>
                    <a:pt x="4362134" y="1178294"/>
                  </a:moveTo>
                  <a:lnTo>
                    <a:pt x="58560" y="1178294"/>
                  </a:lnTo>
                  <a:lnTo>
                    <a:pt x="54484" y="1177892"/>
                  </a:lnTo>
                  <a:lnTo>
                    <a:pt x="15447" y="1157026"/>
                  </a:lnTo>
                  <a:lnTo>
                    <a:pt x="0" y="1119734"/>
                  </a:lnTo>
                  <a:lnTo>
                    <a:pt x="0" y="1115619"/>
                  </a:lnTo>
                  <a:lnTo>
                    <a:pt x="0" y="58559"/>
                  </a:lnTo>
                  <a:lnTo>
                    <a:pt x="15447" y="21266"/>
                  </a:lnTo>
                  <a:lnTo>
                    <a:pt x="54484" y="401"/>
                  </a:lnTo>
                  <a:lnTo>
                    <a:pt x="58560" y="0"/>
                  </a:lnTo>
                  <a:lnTo>
                    <a:pt x="4362134" y="0"/>
                  </a:lnTo>
                  <a:lnTo>
                    <a:pt x="4399426" y="15446"/>
                  </a:lnTo>
                  <a:lnTo>
                    <a:pt x="4420292" y="54483"/>
                  </a:lnTo>
                  <a:lnTo>
                    <a:pt x="4420693" y="58559"/>
                  </a:lnTo>
                  <a:lnTo>
                    <a:pt x="4420693" y="1119734"/>
                  </a:lnTo>
                  <a:lnTo>
                    <a:pt x="4405246" y="1157026"/>
                  </a:lnTo>
                  <a:lnTo>
                    <a:pt x="4366209" y="1177892"/>
                  </a:lnTo>
                  <a:lnTo>
                    <a:pt x="4362134" y="1178294"/>
                  </a:lnTo>
                  <a:close/>
                </a:path>
              </a:pathLst>
            </a:custGeom>
            <a:solidFill>
              <a:srgbClr val="EFF5FF"/>
            </a:solidFill>
          </p:spPr>
          <p:txBody>
            <a:bodyPr wrap="square" lIns="0" tIns="0" rIns="0" bIns="0" rtlCol="0"/>
            <a:lstStyle/>
            <a:p/>
          </p:txBody>
        </p:sp>
        <p:sp>
          <p:nvSpPr>
            <p:cNvPr id="15" name="object 15" descr=""/>
            <p:cNvSpPr/>
            <p:nvPr/>
          </p:nvSpPr>
          <p:spPr>
            <a:xfrm>
              <a:off x="5728517" y="4257738"/>
              <a:ext cx="4420870" cy="1178560"/>
            </a:xfrm>
            <a:custGeom>
              <a:avLst/>
              <a:gdLst/>
              <a:ahLst/>
              <a:cxnLst/>
              <a:rect l="l" t="t" r="r" b="b"/>
              <a:pathLst>
                <a:path w="4420870" h="1178560">
                  <a:moveTo>
                    <a:pt x="0" y="1115619"/>
                  </a:moveTo>
                  <a:lnTo>
                    <a:pt x="0" y="62675"/>
                  </a:lnTo>
                  <a:lnTo>
                    <a:pt x="0" y="58559"/>
                  </a:lnTo>
                  <a:lnTo>
                    <a:pt x="400" y="54483"/>
                  </a:lnTo>
                  <a:lnTo>
                    <a:pt x="1203" y="50447"/>
                  </a:lnTo>
                  <a:lnTo>
                    <a:pt x="2006" y="46411"/>
                  </a:lnTo>
                  <a:lnTo>
                    <a:pt x="3195" y="42491"/>
                  </a:lnTo>
                  <a:lnTo>
                    <a:pt x="18357" y="18356"/>
                  </a:lnTo>
                  <a:lnTo>
                    <a:pt x="21267" y="15446"/>
                  </a:lnTo>
                  <a:lnTo>
                    <a:pt x="50447" y="1204"/>
                  </a:lnTo>
                  <a:lnTo>
                    <a:pt x="54484" y="401"/>
                  </a:lnTo>
                  <a:lnTo>
                    <a:pt x="58560" y="0"/>
                  </a:lnTo>
                  <a:lnTo>
                    <a:pt x="62675" y="0"/>
                  </a:lnTo>
                  <a:lnTo>
                    <a:pt x="4358019" y="0"/>
                  </a:lnTo>
                  <a:lnTo>
                    <a:pt x="4362134" y="0"/>
                  </a:lnTo>
                  <a:lnTo>
                    <a:pt x="4366209" y="401"/>
                  </a:lnTo>
                  <a:lnTo>
                    <a:pt x="4392838" y="10562"/>
                  </a:lnTo>
                  <a:lnTo>
                    <a:pt x="4396261" y="12848"/>
                  </a:lnTo>
                  <a:lnTo>
                    <a:pt x="4415922" y="38690"/>
                  </a:lnTo>
                  <a:lnTo>
                    <a:pt x="4417498" y="42491"/>
                  </a:lnTo>
                  <a:lnTo>
                    <a:pt x="4418687" y="46411"/>
                  </a:lnTo>
                  <a:lnTo>
                    <a:pt x="4419489" y="50447"/>
                  </a:lnTo>
                  <a:lnTo>
                    <a:pt x="4420292" y="54483"/>
                  </a:lnTo>
                  <a:lnTo>
                    <a:pt x="4420693" y="58559"/>
                  </a:lnTo>
                  <a:lnTo>
                    <a:pt x="4420694" y="62675"/>
                  </a:lnTo>
                  <a:lnTo>
                    <a:pt x="4420694" y="1115619"/>
                  </a:lnTo>
                  <a:lnTo>
                    <a:pt x="4420693" y="1119734"/>
                  </a:lnTo>
                  <a:lnTo>
                    <a:pt x="4420292" y="1123809"/>
                  </a:lnTo>
                  <a:lnTo>
                    <a:pt x="4419489" y="1127845"/>
                  </a:lnTo>
                  <a:lnTo>
                    <a:pt x="4418687" y="1131881"/>
                  </a:lnTo>
                  <a:lnTo>
                    <a:pt x="4417498" y="1135801"/>
                  </a:lnTo>
                  <a:lnTo>
                    <a:pt x="4415922" y="1139603"/>
                  </a:lnTo>
                  <a:lnTo>
                    <a:pt x="4414347" y="1143405"/>
                  </a:lnTo>
                  <a:lnTo>
                    <a:pt x="4412416" y="1147017"/>
                  </a:lnTo>
                  <a:lnTo>
                    <a:pt x="4410130" y="1150438"/>
                  </a:lnTo>
                  <a:lnTo>
                    <a:pt x="4407844" y="1153860"/>
                  </a:lnTo>
                  <a:lnTo>
                    <a:pt x="4392838" y="1167730"/>
                  </a:lnTo>
                  <a:lnTo>
                    <a:pt x="4389417" y="1170017"/>
                  </a:lnTo>
                  <a:lnTo>
                    <a:pt x="4370245" y="1177089"/>
                  </a:lnTo>
                  <a:lnTo>
                    <a:pt x="4366209" y="1177892"/>
                  </a:lnTo>
                  <a:lnTo>
                    <a:pt x="4362134" y="1178294"/>
                  </a:lnTo>
                  <a:lnTo>
                    <a:pt x="4358019" y="1178294"/>
                  </a:lnTo>
                  <a:lnTo>
                    <a:pt x="62675" y="1178294"/>
                  </a:lnTo>
                  <a:lnTo>
                    <a:pt x="24432" y="1165444"/>
                  </a:lnTo>
                  <a:lnTo>
                    <a:pt x="4770" y="1139603"/>
                  </a:lnTo>
                  <a:lnTo>
                    <a:pt x="3195" y="1135801"/>
                  </a:lnTo>
                  <a:lnTo>
                    <a:pt x="2006" y="1131881"/>
                  </a:lnTo>
                  <a:lnTo>
                    <a:pt x="1203" y="1127845"/>
                  </a:lnTo>
                  <a:lnTo>
                    <a:pt x="400" y="1123809"/>
                  </a:lnTo>
                  <a:lnTo>
                    <a:pt x="0" y="1119734"/>
                  </a:lnTo>
                  <a:lnTo>
                    <a:pt x="0" y="1115619"/>
                  </a:lnTo>
                  <a:close/>
                </a:path>
              </a:pathLst>
            </a:custGeom>
            <a:ln w="8356">
              <a:solidFill>
                <a:srgbClr val="BEDAFE"/>
              </a:solidFill>
            </a:ln>
          </p:spPr>
          <p:txBody>
            <a:bodyPr wrap="square" lIns="0" tIns="0" rIns="0" bIns="0" rtlCol="0"/>
            <a:lstStyle/>
            <a:p/>
          </p:txBody>
        </p:sp>
      </p:grpSp>
      <p:sp>
        <p:nvSpPr>
          <p:cNvPr id="16" name="object 16" descr=""/>
          <p:cNvSpPr txBox="1"/>
          <p:nvPr/>
        </p:nvSpPr>
        <p:spPr>
          <a:xfrm>
            <a:off x="6275716" y="1168663"/>
            <a:ext cx="3322954" cy="302895"/>
          </a:xfrm>
          <a:prstGeom prst="rect">
            <a:avLst/>
          </a:prstGeom>
        </p:spPr>
        <p:txBody>
          <a:bodyPr wrap="square" lIns="0" tIns="14604" rIns="0" bIns="0" rtlCol="0" vert="horz">
            <a:spAutoFit/>
          </a:bodyPr>
          <a:lstStyle/>
          <a:p>
            <a:pPr marL="12700">
              <a:lnSpc>
                <a:spcPct val="100000"/>
              </a:lnSpc>
              <a:spcBef>
                <a:spcPts val="114"/>
              </a:spcBef>
            </a:pPr>
            <a:r>
              <a:rPr dirty="0" sz="1650" spc="-30">
                <a:solidFill>
                  <a:srgbClr val="1D3A8A"/>
                </a:solidFill>
                <a:latin typeface="PMingLiU"/>
                <a:cs typeface="PMingLiU"/>
              </a:rPr>
              <a:t>バンド</a:t>
            </a:r>
            <a:r>
              <a:rPr dirty="0" sz="1750" spc="-175">
                <a:solidFill>
                  <a:srgbClr val="1D3A8A"/>
                </a:solidFill>
                <a:latin typeface="SimSun"/>
                <a:cs typeface="SimSun"/>
              </a:rPr>
              <a:t>構</a:t>
            </a:r>
            <a:r>
              <a:rPr dirty="0" sz="1750" spc="-175">
                <a:solidFill>
                  <a:srgbClr val="1D3A8A"/>
                </a:solidFill>
                <a:latin typeface="PMingLiU"/>
                <a:cs typeface="PMingLiU"/>
              </a:rPr>
              <a:t>造</a:t>
            </a:r>
            <a:r>
              <a:rPr dirty="0" sz="1650" spc="-30">
                <a:solidFill>
                  <a:srgbClr val="1D3A8A"/>
                </a:solidFill>
                <a:latin typeface="PMingLiU"/>
                <a:cs typeface="PMingLiU"/>
              </a:rPr>
              <a:t>の</a:t>
            </a:r>
            <a:r>
              <a:rPr dirty="0" sz="1800" spc="-240">
                <a:solidFill>
                  <a:srgbClr val="1D3A8A"/>
                </a:solidFill>
                <a:latin typeface="PMingLiU"/>
                <a:cs typeface="PMingLiU"/>
              </a:rPr>
              <a:t>変</a:t>
            </a:r>
            <a:r>
              <a:rPr dirty="0" sz="1800" spc="-240">
                <a:solidFill>
                  <a:srgbClr val="1D3A8A"/>
                </a:solidFill>
                <a:latin typeface="SimSun"/>
                <a:cs typeface="SimSun"/>
              </a:rPr>
              <a:t>化</a:t>
            </a:r>
            <a:r>
              <a:rPr dirty="0" sz="1650" spc="-30">
                <a:solidFill>
                  <a:srgbClr val="1D3A8A"/>
                </a:solidFill>
                <a:latin typeface="PMingLiU"/>
                <a:cs typeface="PMingLiU"/>
              </a:rPr>
              <a:t>とキャリアの</a:t>
            </a:r>
            <a:r>
              <a:rPr dirty="0" sz="1800" spc="-240">
                <a:solidFill>
                  <a:srgbClr val="1D3A8A"/>
                </a:solidFill>
                <a:latin typeface="SimSun"/>
                <a:cs typeface="SimSun"/>
              </a:rPr>
              <a:t>流</a:t>
            </a:r>
            <a:r>
              <a:rPr dirty="0" sz="1650" spc="-50">
                <a:solidFill>
                  <a:srgbClr val="1D3A8A"/>
                </a:solidFill>
                <a:latin typeface="PMingLiU"/>
                <a:cs typeface="PMingLiU"/>
              </a:rPr>
              <a:t>れ</a:t>
            </a:r>
            <a:endParaRPr sz="1650">
              <a:latin typeface="PMingLiU"/>
              <a:cs typeface="PMingLiU"/>
            </a:endParaRPr>
          </a:p>
        </p:txBody>
      </p:sp>
      <p:grpSp>
        <p:nvGrpSpPr>
          <p:cNvPr id="17" name="object 17" descr=""/>
          <p:cNvGrpSpPr/>
          <p:nvPr/>
        </p:nvGrpSpPr>
        <p:grpSpPr>
          <a:xfrm>
            <a:off x="5724338" y="1612843"/>
            <a:ext cx="4429125" cy="2966720"/>
            <a:chOff x="5724338" y="1612843"/>
            <a:chExt cx="4429125" cy="2966720"/>
          </a:xfrm>
        </p:grpSpPr>
        <p:pic>
          <p:nvPicPr>
            <p:cNvPr id="18" name="object 18" descr=""/>
            <p:cNvPicPr/>
            <p:nvPr/>
          </p:nvPicPr>
          <p:blipFill>
            <a:blip r:embed="rId7" cstate="print"/>
            <a:stretch>
              <a:fillRect/>
            </a:stretch>
          </p:blipFill>
          <p:spPr>
            <a:xfrm>
              <a:off x="5724338" y="1612843"/>
              <a:ext cx="4429050" cy="2507009"/>
            </a:xfrm>
            <a:prstGeom prst="rect">
              <a:avLst/>
            </a:prstGeom>
          </p:spPr>
        </p:pic>
        <p:pic>
          <p:nvPicPr>
            <p:cNvPr id="19" name="object 19" descr=""/>
            <p:cNvPicPr/>
            <p:nvPr/>
          </p:nvPicPr>
          <p:blipFill>
            <a:blip r:embed="rId8" cstate="print"/>
            <a:stretch>
              <a:fillRect/>
            </a:stretch>
          </p:blipFill>
          <p:spPr>
            <a:xfrm>
              <a:off x="5866402" y="4429050"/>
              <a:ext cx="150420" cy="150420"/>
            </a:xfrm>
            <a:prstGeom prst="rect">
              <a:avLst/>
            </a:prstGeom>
          </p:spPr>
        </p:pic>
      </p:grpSp>
      <p:sp>
        <p:nvSpPr>
          <p:cNvPr id="20" name="object 20" descr=""/>
          <p:cNvSpPr txBox="1"/>
          <p:nvPr/>
        </p:nvSpPr>
        <p:spPr>
          <a:xfrm>
            <a:off x="5853703" y="4380247"/>
            <a:ext cx="4082415" cy="899160"/>
          </a:xfrm>
          <a:prstGeom prst="rect">
            <a:avLst/>
          </a:prstGeom>
        </p:spPr>
        <p:txBody>
          <a:bodyPr wrap="square" lIns="0" tIns="17145" rIns="0" bIns="0" rtlCol="0" vert="horz">
            <a:spAutoFit/>
          </a:bodyPr>
          <a:lstStyle/>
          <a:p>
            <a:pPr marL="229870">
              <a:lnSpc>
                <a:spcPct val="100000"/>
              </a:lnSpc>
              <a:spcBef>
                <a:spcPts val="135"/>
              </a:spcBef>
            </a:pPr>
            <a:r>
              <a:rPr dirty="0" sz="1300" spc="-125">
                <a:solidFill>
                  <a:srgbClr val="1D40AF"/>
                </a:solidFill>
                <a:latin typeface="PMingLiU"/>
                <a:cs typeface="PMingLiU"/>
              </a:rPr>
              <a:t>重</a:t>
            </a:r>
            <a:r>
              <a:rPr dirty="0" sz="1250" spc="-75">
                <a:solidFill>
                  <a:srgbClr val="1D40AF"/>
                </a:solidFill>
                <a:latin typeface="PMingLiU"/>
                <a:cs typeface="PMingLiU"/>
              </a:rPr>
              <a:t>要ポイント</a:t>
            </a:r>
            <a:endParaRPr sz="1250">
              <a:latin typeface="PMingLiU"/>
              <a:cs typeface="PMingLiU"/>
            </a:endParaRPr>
          </a:p>
          <a:p>
            <a:pPr marL="12700" marR="5080">
              <a:lnSpc>
                <a:spcPct val="125299"/>
              </a:lnSpc>
              <a:spcBef>
                <a:spcPts val="545"/>
              </a:spcBef>
            </a:pPr>
            <a:r>
              <a:rPr dirty="0" sz="1050" spc="-10">
                <a:latin typeface="PMingLiU"/>
                <a:cs typeface="PMingLiU"/>
              </a:rPr>
              <a:t>反転電荷の流入は</a:t>
            </a:r>
            <a:r>
              <a:rPr dirty="0" sz="1050" spc="114">
                <a:latin typeface="Segoe UI Symbol"/>
                <a:cs typeface="Segoe UI Symbol"/>
              </a:rPr>
              <a:t>n+</a:t>
            </a:r>
            <a:r>
              <a:rPr dirty="0" sz="1050" spc="-25">
                <a:latin typeface="PMingLiU"/>
                <a:cs typeface="PMingLiU"/>
              </a:rPr>
              <a:t>領域のバンド構造を変化させ、これによって</a:t>
            </a:r>
            <a:r>
              <a:rPr dirty="0" sz="1050" spc="-50">
                <a:latin typeface="PMingLiU"/>
                <a:cs typeface="PMingLiU"/>
              </a:rPr>
              <a:t> </a:t>
            </a:r>
            <a:r>
              <a:rPr dirty="0" sz="1050" spc="75">
                <a:latin typeface="Segoe UI Symbol"/>
                <a:cs typeface="Segoe UI Symbol"/>
              </a:rPr>
              <a:t>Body </a:t>
            </a:r>
            <a:r>
              <a:rPr dirty="0" sz="1050" spc="60">
                <a:latin typeface="Segoe UI Symbol"/>
                <a:cs typeface="Segoe UI Symbol"/>
              </a:rPr>
              <a:t>Tie</a:t>
            </a:r>
            <a:r>
              <a:rPr dirty="0" sz="1050" spc="-25">
                <a:latin typeface="PMingLiU"/>
                <a:cs typeface="PMingLiU"/>
              </a:rPr>
              <a:t>電流の特性に大きく影響します。この現象はゲート電圧の</a:t>
            </a:r>
            <a:r>
              <a:rPr dirty="0" sz="1050" spc="-30">
                <a:latin typeface="PMingLiU"/>
                <a:cs typeface="PMingLiU"/>
              </a:rPr>
              <a:t>変化に対する急峻な電流変化の一因となります。</a:t>
            </a:r>
            <a:endParaRPr sz="1050">
              <a:latin typeface="PMingLiU"/>
              <a:cs typeface="PMingLiU"/>
            </a:endParaRPr>
          </a:p>
        </p:txBody>
      </p:sp>
      <p:sp>
        <p:nvSpPr>
          <p:cNvPr id="21" name="object 21" descr=""/>
          <p:cNvSpPr txBox="1"/>
          <p:nvPr/>
        </p:nvSpPr>
        <p:spPr>
          <a:xfrm>
            <a:off x="10097992" y="5737949"/>
            <a:ext cx="410845" cy="181610"/>
          </a:xfrm>
          <a:prstGeom prst="rect">
            <a:avLst/>
          </a:prstGeom>
        </p:spPr>
        <p:txBody>
          <a:bodyPr wrap="square" lIns="0" tIns="3175" rIns="0" bIns="0" rtlCol="0" vert="horz">
            <a:spAutoFit/>
          </a:bodyPr>
          <a:lstStyle/>
          <a:p>
            <a:pPr marL="12700">
              <a:lnSpc>
                <a:spcPct val="100000"/>
              </a:lnSpc>
              <a:spcBef>
                <a:spcPts val="25"/>
              </a:spcBef>
            </a:pPr>
            <a:r>
              <a:rPr dirty="0" sz="1050" spc="105">
                <a:solidFill>
                  <a:srgbClr val="4A5462"/>
                </a:solidFill>
                <a:latin typeface="Segoe UI Symbol"/>
                <a:cs typeface="Segoe UI Symbol"/>
              </a:rPr>
              <a:t>4</a:t>
            </a:r>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7078345"/>
          </a:xfrm>
          <a:custGeom>
            <a:avLst/>
            <a:gdLst/>
            <a:ahLst/>
            <a:cxnLst/>
            <a:rect l="l" t="t" r="r" b="b"/>
            <a:pathLst>
              <a:path w="10696575" h="7078345">
                <a:moveTo>
                  <a:pt x="10696575" y="7078124"/>
                </a:moveTo>
                <a:lnTo>
                  <a:pt x="0" y="7078124"/>
                </a:lnTo>
                <a:lnTo>
                  <a:pt x="0" y="0"/>
                </a:lnTo>
                <a:lnTo>
                  <a:pt x="10696575" y="0"/>
                </a:lnTo>
                <a:lnTo>
                  <a:pt x="10696575" y="7078124"/>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descr=""/>
          <p:cNvSpPr/>
          <p:nvPr/>
        </p:nvSpPr>
        <p:spPr>
          <a:xfrm>
            <a:off x="334267" y="1086370"/>
            <a:ext cx="10028555" cy="3677285"/>
          </a:xfrm>
          <a:custGeom>
            <a:avLst/>
            <a:gdLst/>
            <a:ahLst/>
            <a:cxnLst/>
            <a:rect l="l" t="t" r="r" b="b"/>
            <a:pathLst>
              <a:path w="10028555" h="3677285">
                <a:moveTo>
                  <a:pt x="9965575" y="3676947"/>
                </a:moveTo>
                <a:lnTo>
                  <a:pt x="62463" y="3676947"/>
                </a:lnTo>
                <a:lnTo>
                  <a:pt x="58116" y="3676519"/>
                </a:lnTo>
                <a:lnTo>
                  <a:pt x="22684" y="3660471"/>
                </a:lnTo>
                <a:lnTo>
                  <a:pt x="2140" y="3627441"/>
                </a:lnTo>
                <a:lnTo>
                  <a:pt x="0" y="3614483"/>
                </a:lnTo>
                <a:lnTo>
                  <a:pt x="0" y="3610094"/>
                </a:lnTo>
                <a:lnTo>
                  <a:pt x="0" y="62463"/>
                </a:lnTo>
                <a:lnTo>
                  <a:pt x="13705" y="26061"/>
                </a:lnTo>
                <a:lnTo>
                  <a:pt x="45325" y="3408"/>
                </a:lnTo>
                <a:lnTo>
                  <a:pt x="62463" y="0"/>
                </a:lnTo>
                <a:lnTo>
                  <a:pt x="9965575" y="0"/>
                </a:lnTo>
                <a:lnTo>
                  <a:pt x="10001978" y="13705"/>
                </a:lnTo>
                <a:lnTo>
                  <a:pt x="10024630" y="45325"/>
                </a:lnTo>
                <a:lnTo>
                  <a:pt x="10028039" y="62463"/>
                </a:lnTo>
                <a:lnTo>
                  <a:pt x="10028039" y="3614483"/>
                </a:lnTo>
                <a:lnTo>
                  <a:pt x="10014333" y="3650885"/>
                </a:lnTo>
                <a:lnTo>
                  <a:pt x="9982714" y="3673537"/>
                </a:lnTo>
                <a:lnTo>
                  <a:pt x="9969923" y="3676519"/>
                </a:lnTo>
                <a:lnTo>
                  <a:pt x="9965575" y="3676947"/>
                </a:lnTo>
                <a:close/>
              </a:path>
            </a:pathLst>
          </a:custGeom>
          <a:solidFill>
            <a:srgbClr val="FFFFFF"/>
          </a:solidFill>
        </p:spPr>
        <p:txBody>
          <a:bodyPr wrap="square" lIns="0" tIns="0" rIns="0" bIns="0" rtlCol="0"/>
          <a:lstStyle/>
          <a:p/>
        </p:txBody>
      </p:sp>
      <p:sp>
        <p:nvSpPr>
          <p:cNvPr id="5" name="object 5" descr=""/>
          <p:cNvSpPr/>
          <p:nvPr/>
        </p:nvSpPr>
        <p:spPr>
          <a:xfrm>
            <a:off x="334267" y="4963879"/>
            <a:ext cx="10028555" cy="1780539"/>
          </a:xfrm>
          <a:custGeom>
            <a:avLst/>
            <a:gdLst/>
            <a:ahLst/>
            <a:cxnLst/>
            <a:rect l="l" t="t" r="r" b="b"/>
            <a:pathLst>
              <a:path w="10028555" h="1780540">
                <a:moveTo>
                  <a:pt x="9965575" y="1779976"/>
                </a:moveTo>
                <a:lnTo>
                  <a:pt x="62463" y="1779976"/>
                </a:lnTo>
                <a:lnTo>
                  <a:pt x="58116" y="1779548"/>
                </a:lnTo>
                <a:lnTo>
                  <a:pt x="22684" y="1763499"/>
                </a:lnTo>
                <a:lnTo>
                  <a:pt x="2140" y="1730470"/>
                </a:lnTo>
                <a:lnTo>
                  <a:pt x="0" y="1717512"/>
                </a:lnTo>
                <a:lnTo>
                  <a:pt x="0" y="1713123"/>
                </a:lnTo>
                <a:lnTo>
                  <a:pt x="0" y="62463"/>
                </a:lnTo>
                <a:lnTo>
                  <a:pt x="13705" y="26061"/>
                </a:lnTo>
                <a:lnTo>
                  <a:pt x="45325" y="3409"/>
                </a:lnTo>
                <a:lnTo>
                  <a:pt x="62463" y="0"/>
                </a:lnTo>
                <a:lnTo>
                  <a:pt x="9965575" y="0"/>
                </a:lnTo>
                <a:lnTo>
                  <a:pt x="10001978" y="13705"/>
                </a:lnTo>
                <a:lnTo>
                  <a:pt x="10024630" y="45324"/>
                </a:lnTo>
                <a:lnTo>
                  <a:pt x="10028039" y="62463"/>
                </a:lnTo>
                <a:lnTo>
                  <a:pt x="10028039" y="1717512"/>
                </a:lnTo>
                <a:lnTo>
                  <a:pt x="10014333" y="1753914"/>
                </a:lnTo>
                <a:lnTo>
                  <a:pt x="9982714" y="1776567"/>
                </a:lnTo>
                <a:lnTo>
                  <a:pt x="9969923" y="1779548"/>
                </a:lnTo>
                <a:lnTo>
                  <a:pt x="9965575" y="1779976"/>
                </a:lnTo>
                <a:close/>
              </a:path>
            </a:pathLst>
          </a:custGeom>
          <a:solidFill>
            <a:srgbClr val="FFFFFF"/>
          </a:solidFill>
        </p:spPr>
        <p:txBody>
          <a:bodyPr wrap="square" lIns="0" tIns="0" rIns="0" bIns="0" rtlCol="0"/>
          <a:lstStyle/>
          <a:p/>
        </p:txBody>
      </p:sp>
      <p:sp>
        <p:nvSpPr>
          <p:cNvPr id="6" name="object 6"/>
          <p:cNvSpPr txBox="1">
            <a:spLocks noGrp="1"/>
          </p:cNvSpPr>
          <p:nvPr>
            <p:ph type="title"/>
          </p:nvPr>
        </p:nvSpPr>
        <p:spPr>
          <a:prstGeom prst="rect"/>
        </p:spPr>
        <p:txBody>
          <a:bodyPr wrap="square" lIns="0" tIns="14604" rIns="0" bIns="0" rtlCol="0" vert="horz">
            <a:spAutoFit/>
          </a:bodyPr>
          <a:lstStyle/>
          <a:p>
            <a:pPr marL="12700">
              <a:lnSpc>
                <a:spcPct val="100000"/>
              </a:lnSpc>
              <a:spcBef>
                <a:spcPts val="114"/>
              </a:spcBef>
            </a:pPr>
            <a:r>
              <a:rPr dirty="0" sz="2600" spc="-240">
                <a:latin typeface="SimSun"/>
                <a:cs typeface="SimSun"/>
              </a:rPr>
              <a:t>動作</a:t>
            </a:r>
            <a:r>
              <a:rPr dirty="0" sz="2500" spc="-150"/>
              <a:t>原</a:t>
            </a:r>
            <a:r>
              <a:rPr dirty="0" spc="-210"/>
              <a:t>理</a:t>
            </a:r>
            <a:r>
              <a:rPr dirty="0" sz="2250" spc="110"/>
              <a:t>：</a:t>
            </a:r>
            <a:r>
              <a:rPr dirty="0" sz="2700" spc="-355">
                <a:latin typeface="SimSun"/>
                <a:cs typeface="SimSun"/>
              </a:rPr>
              <a:t>定</a:t>
            </a:r>
            <a:r>
              <a:rPr dirty="0" sz="2600" spc="-240">
                <a:latin typeface="SimSun"/>
                <a:cs typeface="SimSun"/>
              </a:rPr>
              <a:t>性</a:t>
            </a:r>
            <a:r>
              <a:rPr dirty="0" sz="2600" spc="-240"/>
              <a:t>的</a:t>
            </a:r>
            <a:r>
              <a:rPr dirty="0" sz="2600" spc="-215">
                <a:latin typeface="SimSun"/>
                <a:cs typeface="SimSun"/>
              </a:rPr>
              <a:t>なメカニズム </a:t>
            </a:r>
            <a:r>
              <a:rPr dirty="0" sz="2350" spc="155" b="1">
                <a:latin typeface="Yu Gothic"/>
                <a:cs typeface="Yu Gothic"/>
              </a:rPr>
              <a:t>(3)</a:t>
            </a:r>
            <a:endParaRPr sz="2350">
              <a:latin typeface="Yu Gothic"/>
              <a:cs typeface="Yu Gothic"/>
            </a:endParaRPr>
          </a:p>
        </p:txBody>
      </p:sp>
      <p:sp>
        <p:nvSpPr>
          <p:cNvPr id="7" name="object 7" descr=""/>
          <p:cNvSpPr txBox="1"/>
          <p:nvPr/>
        </p:nvSpPr>
        <p:spPr>
          <a:xfrm>
            <a:off x="522128" y="1243873"/>
            <a:ext cx="4843145" cy="302895"/>
          </a:xfrm>
          <a:prstGeom prst="rect">
            <a:avLst/>
          </a:prstGeom>
        </p:spPr>
        <p:txBody>
          <a:bodyPr wrap="square" lIns="0" tIns="14604" rIns="0" bIns="0" rtlCol="0" vert="horz">
            <a:spAutoFit/>
          </a:bodyPr>
          <a:lstStyle/>
          <a:p>
            <a:pPr marL="12700">
              <a:lnSpc>
                <a:spcPct val="100000"/>
              </a:lnSpc>
              <a:spcBef>
                <a:spcPts val="114"/>
              </a:spcBef>
            </a:pPr>
            <a:r>
              <a:rPr dirty="0" sz="1550" spc="160" b="1">
                <a:solidFill>
                  <a:srgbClr val="1D3A8A"/>
                </a:solidFill>
                <a:latin typeface="Yu Gothic"/>
                <a:cs typeface="Yu Gothic"/>
              </a:rPr>
              <a:t>Body </a:t>
            </a:r>
            <a:r>
              <a:rPr dirty="0" sz="1550" spc="100" b="1">
                <a:solidFill>
                  <a:srgbClr val="1D3A8A"/>
                </a:solidFill>
                <a:latin typeface="Yu Gothic"/>
                <a:cs typeface="Yu Gothic"/>
              </a:rPr>
              <a:t>Tie</a:t>
            </a:r>
            <a:r>
              <a:rPr dirty="0" sz="1700" spc="-145">
                <a:solidFill>
                  <a:srgbClr val="1D3A8A"/>
                </a:solidFill>
                <a:latin typeface="SimSun"/>
                <a:cs typeface="SimSun"/>
              </a:rPr>
              <a:t>領</a:t>
            </a:r>
            <a:r>
              <a:rPr dirty="0" sz="1750" spc="-180">
                <a:solidFill>
                  <a:srgbClr val="1D3A8A"/>
                </a:solidFill>
                <a:latin typeface="SimSun"/>
                <a:cs typeface="SimSun"/>
              </a:rPr>
              <a:t>域</a:t>
            </a:r>
            <a:r>
              <a:rPr dirty="0" sz="1700" spc="-60">
                <a:solidFill>
                  <a:srgbClr val="1D3A8A"/>
                </a:solidFill>
                <a:latin typeface="SimSun"/>
                <a:cs typeface="SimSun"/>
              </a:rPr>
              <a:t>から</a:t>
            </a:r>
            <a:r>
              <a:rPr dirty="0" sz="1550" spc="160" b="1">
                <a:solidFill>
                  <a:srgbClr val="1D3A8A"/>
                </a:solidFill>
                <a:latin typeface="Yu Gothic"/>
                <a:cs typeface="Yu Gothic"/>
              </a:rPr>
              <a:t>Body</a:t>
            </a:r>
            <a:r>
              <a:rPr dirty="0" sz="1700" spc="-60">
                <a:solidFill>
                  <a:srgbClr val="1D3A8A"/>
                </a:solidFill>
                <a:latin typeface="SimSun"/>
                <a:cs typeface="SimSun"/>
              </a:rPr>
              <a:t>への</a:t>
            </a:r>
            <a:r>
              <a:rPr dirty="0" sz="1650" spc="-90">
                <a:solidFill>
                  <a:srgbClr val="1D3A8A"/>
                </a:solidFill>
                <a:latin typeface="PMingLiU"/>
                <a:cs typeface="PMingLiU"/>
              </a:rPr>
              <a:t>正</a:t>
            </a:r>
            <a:r>
              <a:rPr dirty="0" sz="1700" spc="-145">
                <a:solidFill>
                  <a:srgbClr val="1D3A8A"/>
                </a:solidFill>
                <a:latin typeface="PMingLiU"/>
                <a:cs typeface="PMingLiU"/>
              </a:rPr>
              <a:t>孔</a:t>
            </a:r>
            <a:r>
              <a:rPr dirty="0" sz="1800" spc="-240">
                <a:solidFill>
                  <a:srgbClr val="1D3A8A"/>
                </a:solidFill>
                <a:latin typeface="SimSun"/>
                <a:cs typeface="SimSun"/>
              </a:rPr>
              <a:t>流</a:t>
            </a:r>
            <a:r>
              <a:rPr dirty="0" sz="1750" spc="-175">
                <a:solidFill>
                  <a:srgbClr val="1D3A8A"/>
                </a:solidFill>
                <a:latin typeface="SimSun"/>
                <a:cs typeface="SimSun"/>
              </a:rPr>
              <a:t>入</a:t>
            </a:r>
            <a:r>
              <a:rPr dirty="0" sz="1700" spc="-60">
                <a:solidFill>
                  <a:srgbClr val="1D3A8A"/>
                </a:solidFill>
                <a:latin typeface="SimSun"/>
                <a:cs typeface="SimSun"/>
              </a:rPr>
              <a:t>とバンド</a:t>
            </a:r>
            <a:r>
              <a:rPr dirty="0" sz="1800" spc="-240">
                <a:solidFill>
                  <a:srgbClr val="1D3A8A"/>
                </a:solidFill>
                <a:latin typeface="PMingLiU"/>
                <a:cs typeface="PMingLiU"/>
              </a:rPr>
              <a:t>変</a:t>
            </a:r>
            <a:r>
              <a:rPr dirty="0" sz="1750" spc="-50">
                <a:solidFill>
                  <a:srgbClr val="1D3A8A"/>
                </a:solidFill>
                <a:latin typeface="SimSun"/>
                <a:cs typeface="SimSun"/>
              </a:rPr>
              <a:t>化</a:t>
            </a:r>
            <a:endParaRPr sz="1750">
              <a:latin typeface="SimSun"/>
              <a:cs typeface="SimSun"/>
            </a:endParaRPr>
          </a:p>
        </p:txBody>
      </p:sp>
      <p:sp>
        <p:nvSpPr>
          <p:cNvPr id="8" name="object 8" descr=""/>
          <p:cNvSpPr/>
          <p:nvPr/>
        </p:nvSpPr>
        <p:spPr>
          <a:xfrm>
            <a:off x="3342680" y="4395623"/>
            <a:ext cx="133985" cy="133985"/>
          </a:xfrm>
          <a:custGeom>
            <a:avLst/>
            <a:gdLst/>
            <a:ahLst/>
            <a:cxnLst/>
            <a:rect l="l" t="t" r="r" b="b"/>
            <a:pathLst>
              <a:path w="133985" h="133985">
                <a:moveTo>
                  <a:pt x="133707" y="133707"/>
                </a:moveTo>
                <a:lnTo>
                  <a:pt x="0" y="133707"/>
                </a:lnTo>
                <a:lnTo>
                  <a:pt x="0" y="0"/>
                </a:lnTo>
                <a:lnTo>
                  <a:pt x="133707" y="0"/>
                </a:lnTo>
                <a:lnTo>
                  <a:pt x="133707" y="133707"/>
                </a:lnTo>
                <a:close/>
              </a:path>
            </a:pathLst>
          </a:custGeom>
          <a:solidFill>
            <a:srgbClr val="3B81F5"/>
          </a:solidFill>
        </p:spPr>
        <p:txBody>
          <a:bodyPr wrap="square" lIns="0" tIns="0" rIns="0" bIns="0" rtlCol="0"/>
          <a:lstStyle/>
          <a:p/>
        </p:txBody>
      </p:sp>
      <p:sp>
        <p:nvSpPr>
          <p:cNvPr id="9" name="object 9" descr=""/>
          <p:cNvSpPr txBox="1"/>
          <p:nvPr/>
        </p:nvSpPr>
        <p:spPr>
          <a:xfrm>
            <a:off x="3530540" y="4357853"/>
            <a:ext cx="426720" cy="186055"/>
          </a:xfrm>
          <a:prstGeom prst="rect">
            <a:avLst/>
          </a:prstGeom>
        </p:spPr>
        <p:txBody>
          <a:bodyPr wrap="square" lIns="0" tIns="12700" rIns="0" bIns="0" rtlCol="0" vert="horz">
            <a:spAutoFit/>
          </a:bodyPr>
          <a:lstStyle/>
          <a:p>
            <a:pPr marL="12700">
              <a:lnSpc>
                <a:spcPct val="100000"/>
              </a:lnSpc>
              <a:spcBef>
                <a:spcPts val="100"/>
              </a:spcBef>
            </a:pPr>
            <a:r>
              <a:rPr dirty="0" sz="1050" spc="-20">
                <a:latin typeface="PMingLiU"/>
                <a:cs typeface="PMingLiU"/>
              </a:rPr>
              <a:t>伝導帯</a:t>
            </a:r>
            <a:endParaRPr sz="1050">
              <a:latin typeface="PMingLiU"/>
              <a:cs typeface="PMingLiU"/>
            </a:endParaRPr>
          </a:p>
        </p:txBody>
      </p:sp>
      <p:sp>
        <p:nvSpPr>
          <p:cNvPr id="10" name="object 10" descr=""/>
          <p:cNvSpPr/>
          <p:nvPr/>
        </p:nvSpPr>
        <p:spPr>
          <a:xfrm>
            <a:off x="4479190" y="4395623"/>
            <a:ext cx="133985" cy="133985"/>
          </a:xfrm>
          <a:custGeom>
            <a:avLst/>
            <a:gdLst/>
            <a:ahLst/>
            <a:cxnLst/>
            <a:rect l="l" t="t" r="r" b="b"/>
            <a:pathLst>
              <a:path w="133985" h="133985">
                <a:moveTo>
                  <a:pt x="133707" y="133707"/>
                </a:moveTo>
                <a:lnTo>
                  <a:pt x="0" y="133707"/>
                </a:lnTo>
                <a:lnTo>
                  <a:pt x="0" y="0"/>
                </a:lnTo>
                <a:lnTo>
                  <a:pt x="133707" y="0"/>
                </a:lnTo>
                <a:lnTo>
                  <a:pt x="133707" y="133707"/>
                </a:lnTo>
                <a:close/>
              </a:path>
            </a:pathLst>
          </a:custGeom>
          <a:solidFill>
            <a:srgbClr val="EF4444"/>
          </a:solidFill>
        </p:spPr>
        <p:txBody>
          <a:bodyPr wrap="square" lIns="0" tIns="0" rIns="0" bIns="0" rtlCol="0"/>
          <a:lstStyle/>
          <a:p/>
        </p:txBody>
      </p:sp>
      <p:sp>
        <p:nvSpPr>
          <p:cNvPr id="11" name="object 11" descr=""/>
          <p:cNvSpPr txBox="1"/>
          <p:nvPr/>
        </p:nvSpPr>
        <p:spPr>
          <a:xfrm>
            <a:off x="4667051" y="4357853"/>
            <a:ext cx="560705" cy="186055"/>
          </a:xfrm>
          <a:prstGeom prst="rect">
            <a:avLst/>
          </a:prstGeom>
        </p:spPr>
        <p:txBody>
          <a:bodyPr wrap="square" lIns="0" tIns="12700" rIns="0" bIns="0" rtlCol="0" vert="horz">
            <a:spAutoFit/>
          </a:bodyPr>
          <a:lstStyle/>
          <a:p>
            <a:pPr marL="12700">
              <a:lnSpc>
                <a:spcPct val="100000"/>
              </a:lnSpc>
              <a:spcBef>
                <a:spcPts val="100"/>
              </a:spcBef>
            </a:pPr>
            <a:r>
              <a:rPr dirty="0" sz="1050" spc="-15">
                <a:latin typeface="PMingLiU"/>
                <a:cs typeface="PMingLiU"/>
              </a:rPr>
              <a:t>価電子帯</a:t>
            </a:r>
            <a:endParaRPr sz="1050">
              <a:latin typeface="PMingLiU"/>
              <a:cs typeface="PMingLiU"/>
            </a:endParaRPr>
          </a:p>
        </p:txBody>
      </p:sp>
      <p:sp>
        <p:nvSpPr>
          <p:cNvPr id="12" name="object 12" descr=""/>
          <p:cNvSpPr/>
          <p:nvPr/>
        </p:nvSpPr>
        <p:spPr>
          <a:xfrm>
            <a:off x="5481993" y="4454131"/>
            <a:ext cx="267970" cy="17145"/>
          </a:xfrm>
          <a:custGeom>
            <a:avLst/>
            <a:gdLst/>
            <a:ahLst/>
            <a:cxnLst/>
            <a:rect l="l" t="t" r="r" b="b"/>
            <a:pathLst>
              <a:path w="267970" h="17145">
                <a:moveTo>
                  <a:pt x="50139" y="0"/>
                </a:moveTo>
                <a:lnTo>
                  <a:pt x="0" y="0"/>
                </a:lnTo>
                <a:lnTo>
                  <a:pt x="0" y="16713"/>
                </a:lnTo>
                <a:lnTo>
                  <a:pt x="50139" y="16713"/>
                </a:lnTo>
                <a:lnTo>
                  <a:pt x="50139" y="0"/>
                </a:lnTo>
                <a:close/>
              </a:path>
              <a:path w="267970" h="17145">
                <a:moveTo>
                  <a:pt x="122555" y="0"/>
                </a:moveTo>
                <a:lnTo>
                  <a:pt x="72415" y="0"/>
                </a:lnTo>
                <a:lnTo>
                  <a:pt x="72415" y="16713"/>
                </a:lnTo>
                <a:lnTo>
                  <a:pt x="122555" y="16713"/>
                </a:lnTo>
                <a:lnTo>
                  <a:pt x="122555" y="0"/>
                </a:lnTo>
                <a:close/>
              </a:path>
              <a:path w="267970" h="17145">
                <a:moveTo>
                  <a:pt x="194983" y="0"/>
                </a:moveTo>
                <a:lnTo>
                  <a:pt x="144843" y="0"/>
                </a:lnTo>
                <a:lnTo>
                  <a:pt x="144843" y="16713"/>
                </a:lnTo>
                <a:lnTo>
                  <a:pt x="194983" y="16713"/>
                </a:lnTo>
                <a:lnTo>
                  <a:pt x="194983" y="0"/>
                </a:lnTo>
                <a:close/>
              </a:path>
              <a:path w="267970" h="17145">
                <a:moveTo>
                  <a:pt x="267411" y="0"/>
                </a:moveTo>
                <a:lnTo>
                  <a:pt x="217271" y="0"/>
                </a:lnTo>
                <a:lnTo>
                  <a:pt x="217271" y="16713"/>
                </a:lnTo>
                <a:lnTo>
                  <a:pt x="267411" y="16713"/>
                </a:lnTo>
                <a:lnTo>
                  <a:pt x="267411" y="0"/>
                </a:lnTo>
                <a:close/>
              </a:path>
            </a:pathLst>
          </a:custGeom>
          <a:solidFill>
            <a:srgbClr val="6A7280"/>
          </a:solidFill>
        </p:spPr>
        <p:txBody>
          <a:bodyPr wrap="square" lIns="0" tIns="0" rIns="0" bIns="0" rtlCol="0"/>
          <a:lstStyle/>
          <a:p/>
        </p:txBody>
      </p:sp>
      <p:sp>
        <p:nvSpPr>
          <p:cNvPr id="13" name="object 13" descr=""/>
          <p:cNvSpPr txBox="1"/>
          <p:nvPr/>
        </p:nvSpPr>
        <p:spPr>
          <a:xfrm>
            <a:off x="5803563" y="4357853"/>
            <a:ext cx="560705" cy="186055"/>
          </a:xfrm>
          <a:prstGeom prst="rect">
            <a:avLst/>
          </a:prstGeom>
        </p:spPr>
        <p:txBody>
          <a:bodyPr wrap="square" lIns="0" tIns="12700" rIns="0" bIns="0" rtlCol="0" vert="horz">
            <a:spAutoFit/>
          </a:bodyPr>
          <a:lstStyle/>
          <a:p>
            <a:pPr marL="12700">
              <a:lnSpc>
                <a:spcPct val="100000"/>
              </a:lnSpc>
              <a:spcBef>
                <a:spcPts val="100"/>
              </a:spcBef>
            </a:pPr>
            <a:r>
              <a:rPr dirty="0" sz="1050" spc="-15">
                <a:latin typeface="PMingLiU"/>
                <a:cs typeface="PMingLiU"/>
              </a:rPr>
              <a:t>初期状態</a:t>
            </a:r>
            <a:endParaRPr sz="1050">
              <a:latin typeface="PMingLiU"/>
              <a:cs typeface="PMingLiU"/>
            </a:endParaRPr>
          </a:p>
        </p:txBody>
      </p:sp>
      <p:sp>
        <p:nvSpPr>
          <p:cNvPr id="14" name="object 14" descr=""/>
          <p:cNvSpPr/>
          <p:nvPr/>
        </p:nvSpPr>
        <p:spPr>
          <a:xfrm>
            <a:off x="6618506" y="4454121"/>
            <a:ext cx="267970" cy="17145"/>
          </a:xfrm>
          <a:custGeom>
            <a:avLst/>
            <a:gdLst/>
            <a:ahLst/>
            <a:cxnLst/>
            <a:rect l="l" t="t" r="r" b="b"/>
            <a:pathLst>
              <a:path w="267970" h="17145">
                <a:moveTo>
                  <a:pt x="267414" y="16713"/>
                </a:moveTo>
                <a:lnTo>
                  <a:pt x="0" y="16713"/>
                </a:lnTo>
                <a:lnTo>
                  <a:pt x="0" y="0"/>
                </a:lnTo>
                <a:lnTo>
                  <a:pt x="267414" y="0"/>
                </a:lnTo>
                <a:lnTo>
                  <a:pt x="267414" y="16713"/>
                </a:lnTo>
                <a:close/>
              </a:path>
            </a:pathLst>
          </a:custGeom>
          <a:solidFill>
            <a:srgbClr val="6A7280"/>
          </a:solidFill>
        </p:spPr>
        <p:txBody>
          <a:bodyPr wrap="square" lIns="0" tIns="0" rIns="0" bIns="0" rtlCol="0"/>
          <a:lstStyle/>
          <a:p/>
        </p:txBody>
      </p:sp>
      <p:sp>
        <p:nvSpPr>
          <p:cNvPr id="15" name="object 15" descr=""/>
          <p:cNvSpPr txBox="1"/>
          <p:nvPr/>
        </p:nvSpPr>
        <p:spPr>
          <a:xfrm>
            <a:off x="6940074" y="4357853"/>
            <a:ext cx="426720" cy="186055"/>
          </a:xfrm>
          <a:prstGeom prst="rect">
            <a:avLst/>
          </a:prstGeom>
        </p:spPr>
        <p:txBody>
          <a:bodyPr wrap="square" lIns="0" tIns="12700" rIns="0" bIns="0" rtlCol="0" vert="horz">
            <a:spAutoFit/>
          </a:bodyPr>
          <a:lstStyle/>
          <a:p>
            <a:pPr marL="12700">
              <a:lnSpc>
                <a:spcPct val="100000"/>
              </a:lnSpc>
              <a:spcBef>
                <a:spcPts val="100"/>
              </a:spcBef>
            </a:pPr>
            <a:r>
              <a:rPr dirty="0" sz="1050" spc="-20">
                <a:latin typeface="PMingLiU"/>
                <a:cs typeface="PMingLiU"/>
              </a:rPr>
              <a:t>変化後</a:t>
            </a:r>
            <a:endParaRPr sz="1050">
              <a:latin typeface="PMingLiU"/>
              <a:cs typeface="PMingLiU"/>
            </a:endParaRPr>
          </a:p>
        </p:txBody>
      </p:sp>
      <p:sp>
        <p:nvSpPr>
          <p:cNvPr id="16" name="object 16" descr=""/>
          <p:cNvSpPr txBox="1"/>
          <p:nvPr/>
        </p:nvSpPr>
        <p:spPr>
          <a:xfrm>
            <a:off x="522128" y="5125495"/>
            <a:ext cx="1680210" cy="297815"/>
          </a:xfrm>
          <a:prstGeom prst="rect">
            <a:avLst/>
          </a:prstGeom>
        </p:spPr>
        <p:txBody>
          <a:bodyPr wrap="square" lIns="0" tIns="17145" rIns="0" bIns="0" rtlCol="0" vert="horz">
            <a:spAutoFit/>
          </a:bodyPr>
          <a:lstStyle/>
          <a:p>
            <a:pPr marL="12700">
              <a:lnSpc>
                <a:spcPct val="100000"/>
              </a:lnSpc>
              <a:spcBef>
                <a:spcPts val="135"/>
              </a:spcBef>
            </a:pPr>
            <a:r>
              <a:rPr dirty="0" sz="1700" spc="-60">
                <a:solidFill>
                  <a:srgbClr val="1D3A8A"/>
                </a:solidFill>
                <a:latin typeface="SimSun"/>
                <a:cs typeface="SimSun"/>
              </a:rPr>
              <a:t>メカニズムの</a:t>
            </a:r>
            <a:r>
              <a:rPr dirty="0" sz="1750" spc="-175">
                <a:solidFill>
                  <a:srgbClr val="1D3A8A"/>
                </a:solidFill>
                <a:latin typeface="SimSun"/>
                <a:cs typeface="SimSun"/>
              </a:rPr>
              <a:t>説</a:t>
            </a:r>
            <a:r>
              <a:rPr dirty="0" sz="1700" spc="-50">
                <a:solidFill>
                  <a:srgbClr val="1D3A8A"/>
                </a:solidFill>
                <a:latin typeface="PMingLiU"/>
                <a:cs typeface="PMingLiU"/>
              </a:rPr>
              <a:t>明</a:t>
            </a:r>
            <a:endParaRPr sz="1700">
              <a:latin typeface="PMingLiU"/>
              <a:cs typeface="PMingLiU"/>
            </a:endParaRPr>
          </a:p>
        </p:txBody>
      </p:sp>
      <p:grpSp>
        <p:nvGrpSpPr>
          <p:cNvPr id="17" name="object 17" descr=""/>
          <p:cNvGrpSpPr/>
          <p:nvPr/>
        </p:nvGrpSpPr>
        <p:grpSpPr>
          <a:xfrm>
            <a:off x="534828" y="5565561"/>
            <a:ext cx="5114925" cy="852805"/>
            <a:chOff x="534828" y="5565561"/>
            <a:chExt cx="5114925" cy="852805"/>
          </a:xfrm>
        </p:grpSpPr>
        <p:pic>
          <p:nvPicPr>
            <p:cNvPr id="18" name="object 18" descr=""/>
            <p:cNvPicPr/>
            <p:nvPr/>
          </p:nvPicPr>
          <p:blipFill>
            <a:blip r:embed="rId3" cstate="print"/>
            <a:stretch>
              <a:fillRect/>
            </a:stretch>
          </p:blipFill>
          <p:spPr>
            <a:xfrm>
              <a:off x="534828" y="5565561"/>
              <a:ext cx="175490" cy="200560"/>
            </a:xfrm>
            <a:prstGeom prst="rect">
              <a:avLst/>
            </a:prstGeom>
          </p:spPr>
        </p:pic>
        <p:pic>
          <p:nvPicPr>
            <p:cNvPr id="19" name="object 19" descr=""/>
            <p:cNvPicPr/>
            <p:nvPr/>
          </p:nvPicPr>
          <p:blipFill>
            <a:blip r:embed="rId4" cstate="print"/>
            <a:stretch>
              <a:fillRect/>
            </a:stretch>
          </p:blipFill>
          <p:spPr>
            <a:xfrm>
              <a:off x="534828" y="5891473"/>
              <a:ext cx="150420" cy="200560"/>
            </a:xfrm>
            <a:prstGeom prst="rect">
              <a:avLst/>
            </a:prstGeom>
          </p:spPr>
        </p:pic>
        <p:pic>
          <p:nvPicPr>
            <p:cNvPr id="20" name="object 20" descr=""/>
            <p:cNvPicPr/>
            <p:nvPr/>
          </p:nvPicPr>
          <p:blipFill>
            <a:blip r:embed="rId5" cstate="print"/>
            <a:stretch>
              <a:fillRect/>
            </a:stretch>
          </p:blipFill>
          <p:spPr>
            <a:xfrm>
              <a:off x="534828" y="6217384"/>
              <a:ext cx="200560" cy="200560"/>
            </a:xfrm>
            <a:prstGeom prst="rect">
              <a:avLst/>
            </a:prstGeom>
          </p:spPr>
        </p:pic>
        <p:pic>
          <p:nvPicPr>
            <p:cNvPr id="21" name="object 21" descr=""/>
            <p:cNvPicPr/>
            <p:nvPr/>
          </p:nvPicPr>
          <p:blipFill>
            <a:blip r:embed="rId6" cstate="print"/>
            <a:stretch>
              <a:fillRect/>
            </a:stretch>
          </p:blipFill>
          <p:spPr>
            <a:xfrm>
              <a:off x="5448568" y="5565561"/>
              <a:ext cx="150420" cy="200560"/>
            </a:xfrm>
            <a:prstGeom prst="rect">
              <a:avLst/>
            </a:prstGeom>
          </p:spPr>
        </p:pic>
        <p:pic>
          <p:nvPicPr>
            <p:cNvPr id="22" name="object 22" descr=""/>
            <p:cNvPicPr/>
            <p:nvPr/>
          </p:nvPicPr>
          <p:blipFill>
            <a:blip r:embed="rId7" cstate="print"/>
            <a:stretch>
              <a:fillRect/>
            </a:stretch>
          </p:blipFill>
          <p:spPr>
            <a:xfrm>
              <a:off x="5448568" y="5891473"/>
              <a:ext cx="200560" cy="200560"/>
            </a:xfrm>
            <a:prstGeom prst="rect">
              <a:avLst/>
            </a:prstGeom>
          </p:spPr>
        </p:pic>
        <p:pic>
          <p:nvPicPr>
            <p:cNvPr id="23" name="object 23" descr=""/>
            <p:cNvPicPr/>
            <p:nvPr/>
          </p:nvPicPr>
          <p:blipFill>
            <a:blip r:embed="rId8" cstate="print"/>
            <a:stretch>
              <a:fillRect/>
            </a:stretch>
          </p:blipFill>
          <p:spPr>
            <a:xfrm>
              <a:off x="5448568" y="6217384"/>
              <a:ext cx="200560" cy="200560"/>
            </a:xfrm>
            <a:prstGeom prst="rect">
              <a:avLst/>
            </a:prstGeom>
          </p:spPr>
        </p:pic>
      </p:grpSp>
      <p:sp>
        <p:nvSpPr>
          <p:cNvPr id="24" name="object 24" descr=""/>
          <p:cNvSpPr txBox="1"/>
          <p:nvPr/>
        </p:nvSpPr>
        <p:spPr>
          <a:xfrm>
            <a:off x="822970" y="5561218"/>
            <a:ext cx="2741930" cy="186055"/>
          </a:xfrm>
          <a:prstGeom prst="rect">
            <a:avLst/>
          </a:prstGeom>
        </p:spPr>
        <p:txBody>
          <a:bodyPr wrap="square" lIns="0" tIns="12700" rIns="0" bIns="0" rtlCol="0" vert="horz">
            <a:spAutoFit/>
          </a:bodyPr>
          <a:lstStyle/>
          <a:p>
            <a:pPr marL="12700">
              <a:lnSpc>
                <a:spcPct val="100000"/>
              </a:lnSpc>
              <a:spcBef>
                <a:spcPts val="100"/>
              </a:spcBef>
            </a:pPr>
            <a:r>
              <a:rPr dirty="0" sz="1050" spc="75">
                <a:latin typeface="Segoe UI Symbol"/>
                <a:cs typeface="Segoe UI Symbol"/>
              </a:rPr>
              <a:t>Body</a:t>
            </a:r>
            <a:r>
              <a:rPr dirty="0" sz="1050" spc="120">
                <a:latin typeface="Segoe UI Symbol"/>
                <a:cs typeface="Segoe UI Symbol"/>
              </a:rPr>
              <a:t> </a:t>
            </a:r>
            <a:r>
              <a:rPr dirty="0" sz="1050" spc="60">
                <a:latin typeface="Segoe UI Symbol"/>
                <a:cs typeface="Segoe UI Symbol"/>
              </a:rPr>
              <a:t>Tie</a:t>
            </a:r>
            <a:r>
              <a:rPr dirty="0" sz="1050">
                <a:latin typeface="PMingLiU"/>
                <a:cs typeface="PMingLiU"/>
              </a:rPr>
              <a:t>領域</a:t>
            </a:r>
            <a:r>
              <a:rPr dirty="0" sz="1050" spc="55">
                <a:latin typeface="PMingLiU"/>
                <a:cs typeface="PMingLiU"/>
              </a:rPr>
              <a:t>（</a:t>
            </a:r>
            <a:r>
              <a:rPr dirty="0" sz="1050" spc="55">
                <a:latin typeface="Segoe UI Symbol"/>
                <a:cs typeface="Segoe UI Symbol"/>
              </a:rPr>
              <a:t>p+</a:t>
            </a:r>
            <a:r>
              <a:rPr dirty="0" sz="1050" spc="55">
                <a:latin typeface="PMingLiU"/>
                <a:cs typeface="PMingLiU"/>
              </a:rPr>
              <a:t>）</a:t>
            </a:r>
            <a:r>
              <a:rPr dirty="0" sz="1050" spc="-20">
                <a:latin typeface="PMingLiU"/>
                <a:cs typeface="PMingLiU"/>
              </a:rPr>
              <a:t>から正孔が</a:t>
            </a:r>
            <a:r>
              <a:rPr dirty="0" sz="1050" spc="75">
                <a:latin typeface="Segoe UI Symbol"/>
                <a:cs typeface="Segoe UI Symbol"/>
              </a:rPr>
              <a:t>Body</a:t>
            </a:r>
            <a:r>
              <a:rPr dirty="0" sz="1050" spc="-20">
                <a:latin typeface="PMingLiU"/>
                <a:cs typeface="PMingLiU"/>
              </a:rPr>
              <a:t>へ流入</a:t>
            </a:r>
            <a:endParaRPr sz="1050">
              <a:latin typeface="PMingLiU"/>
              <a:cs typeface="PMingLiU"/>
            </a:endParaRPr>
          </a:p>
        </p:txBody>
      </p:sp>
      <p:sp>
        <p:nvSpPr>
          <p:cNvPr id="25" name="object 25" descr=""/>
          <p:cNvSpPr txBox="1"/>
          <p:nvPr/>
        </p:nvSpPr>
        <p:spPr>
          <a:xfrm>
            <a:off x="797899" y="5887130"/>
            <a:ext cx="3307715" cy="186055"/>
          </a:xfrm>
          <a:prstGeom prst="rect">
            <a:avLst/>
          </a:prstGeom>
        </p:spPr>
        <p:txBody>
          <a:bodyPr wrap="square" lIns="0" tIns="12700" rIns="0" bIns="0" rtlCol="0" vert="horz">
            <a:spAutoFit/>
          </a:bodyPr>
          <a:lstStyle/>
          <a:p>
            <a:pPr marL="12700">
              <a:lnSpc>
                <a:spcPct val="100000"/>
              </a:lnSpc>
              <a:spcBef>
                <a:spcPts val="100"/>
              </a:spcBef>
            </a:pPr>
            <a:r>
              <a:rPr dirty="0" sz="1050" spc="-15">
                <a:latin typeface="PMingLiU"/>
                <a:cs typeface="PMingLiU"/>
              </a:rPr>
              <a:t>正孔の流入により</a:t>
            </a:r>
            <a:r>
              <a:rPr dirty="0" sz="1050" spc="75">
                <a:latin typeface="Segoe UI Symbol"/>
                <a:cs typeface="Segoe UI Symbol"/>
              </a:rPr>
              <a:t>Body</a:t>
            </a:r>
            <a:r>
              <a:rPr dirty="0" sz="1050" spc="-20">
                <a:latin typeface="PMingLiU"/>
                <a:cs typeface="PMingLiU"/>
              </a:rPr>
              <a:t>のバンドがさらに下方にシフト</a:t>
            </a:r>
            <a:endParaRPr sz="1050">
              <a:latin typeface="PMingLiU"/>
              <a:cs typeface="PMingLiU"/>
            </a:endParaRPr>
          </a:p>
        </p:txBody>
      </p:sp>
      <p:sp>
        <p:nvSpPr>
          <p:cNvPr id="26" name="object 26" descr=""/>
          <p:cNvSpPr txBox="1"/>
          <p:nvPr/>
        </p:nvSpPr>
        <p:spPr>
          <a:xfrm>
            <a:off x="848040" y="6213041"/>
            <a:ext cx="2699385" cy="186055"/>
          </a:xfrm>
          <a:prstGeom prst="rect">
            <a:avLst/>
          </a:prstGeom>
        </p:spPr>
        <p:txBody>
          <a:bodyPr wrap="square" lIns="0" tIns="12700" rIns="0" bIns="0" rtlCol="0" vert="horz">
            <a:spAutoFit/>
          </a:bodyPr>
          <a:lstStyle/>
          <a:p>
            <a:pPr marL="12700">
              <a:lnSpc>
                <a:spcPct val="100000"/>
              </a:lnSpc>
              <a:spcBef>
                <a:spcPts val="100"/>
              </a:spcBef>
            </a:pPr>
            <a:r>
              <a:rPr dirty="0" sz="1050" spc="114">
                <a:latin typeface="Segoe UI Symbol"/>
                <a:cs typeface="Segoe UI Symbol"/>
              </a:rPr>
              <a:t>n+</a:t>
            </a:r>
            <a:r>
              <a:rPr dirty="0" sz="1050" spc="-10">
                <a:latin typeface="PMingLiU"/>
                <a:cs typeface="PMingLiU"/>
              </a:rPr>
              <a:t>領域と</a:t>
            </a:r>
            <a:r>
              <a:rPr dirty="0" sz="1050" spc="75">
                <a:latin typeface="Segoe UI Symbol"/>
                <a:cs typeface="Segoe UI Symbol"/>
              </a:rPr>
              <a:t>Body</a:t>
            </a:r>
            <a:r>
              <a:rPr dirty="0" sz="1050" spc="-20">
                <a:latin typeface="PMingLiU"/>
                <a:cs typeface="PMingLiU"/>
              </a:rPr>
              <a:t>の間のポテンシャル差が増大</a:t>
            </a:r>
            <a:endParaRPr sz="1050">
              <a:latin typeface="PMingLiU"/>
              <a:cs typeface="PMingLiU"/>
            </a:endParaRPr>
          </a:p>
        </p:txBody>
      </p:sp>
      <p:sp>
        <p:nvSpPr>
          <p:cNvPr id="27" name="object 27" descr=""/>
          <p:cNvSpPr txBox="1"/>
          <p:nvPr/>
        </p:nvSpPr>
        <p:spPr>
          <a:xfrm>
            <a:off x="5711639" y="5561218"/>
            <a:ext cx="1566545" cy="186055"/>
          </a:xfrm>
          <a:prstGeom prst="rect">
            <a:avLst/>
          </a:prstGeom>
        </p:spPr>
        <p:txBody>
          <a:bodyPr wrap="square" lIns="0" tIns="12700" rIns="0" bIns="0" rtlCol="0" vert="horz">
            <a:spAutoFit/>
          </a:bodyPr>
          <a:lstStyle/>
          <a:p>
            <a:pPr marL="12700">
              <a:lnSpc>
                <a:spcPct val="100000"/>
              </a:lnSpc>
              <a:spcBef>
                <a:spcPts val="100"/>
              </a:spcBef>
            </a:pPr>
            <a:r>
              <a:rPr dirty="0" sz="1050" spc="75">
                <a:latin typeface="Segoe UI Symbol"/>
                <a:cs typeface="Segoe UI Symbol"/>
              </a:rPr>
              <a:t>Body</a:t>
            </a:r>
            <a:r>
              <a:rPr dirty="0" sz="1050" spc="-20">
                <a:latin typeface="PMingLiU"/>
                <a:cs typeface="PMingLiU"/>
              </a:rPr>
              <a:t>内の電界強度が増加</a:t>
            </a:r>
            <a:endParaRPr sz="1050">
              <a:latin typeface="PMingLiU"/>
              <a:cs typeface="PMingLiU"/>
            </a:endParaRPr>
          </a:p>
        </p:txBody>
      </p:sp>
      <p:sp>
        <p:nvSpPr>
          <p:cNvPr id="28" name="object 28" descr=""/>
          <p:cNvSpPr txBox="1"/>
          <p:nvPr/>
        </p:nvSpPr>
        <p:spPr>
          <a:xfrm>
            <a:off x="5761779" y="5887130"/>
            <a:ext cx="2031364" cy="186055"/>
          </a:xfrm>
          <a:prstGeom prst="rect">
            <a:avLst/>
          </a:prstGeom>
        </p:spPr>
        <p:txBody>
          <a:bodyPr wrap="square" lIns="0" tIns="12700" rIns="0" bIns="0" rtlCol="0" vert="horz">
            <a:spAutoFit/>
          </a:bodyPr>
          <a:lstStyle/>
          <a:p>
            <a:pPr marL="12700">
              <a:lnSpc>
                <a:spcPct val="100000"/>
              </a:lnSpc>
              <a:spcBef>
                <a:spcPts val="100"/>
              </a:spcBef>
            </a:pPr>
            <a:r>
              <a:rPr dirty="0" sz="1050" spc="-20">
                <a:latin typeface="PMingLiU"/>
                <a:cs typeface="PMingLiU"/>
              </a:rPr>
              <a:t>このプロセスが自己強化的に進行</a:t>
            </a:r>
            <a:endParaRPr sz="1050">
              <a:latin typeface="PMingLiU"/>
              <a:cs typeface="PMingLiU"/>
            </a:endParaRPr>
          </a:p>
        </p:txBody>
      </p:sp>
      <p:sp>
        <p:nvSpPr>
          <p:cNvPr id="29" name="object 29" descr=""/>
          <p:cNvSpPr txBox="1"/>
          <p:nvPr/>
        </p:nvSpPr>
        <p:spPr>
          <a:xfrm>
            <a:off x="5761779" y="6213041"/>
            <a:ext cx="3143250" cy="186055"/>
          </a:xfrm>
          <a:prstGeom prst="rect">
            <a:avLst/>
          </a:prstGeom>
        </p:spPr>
        <p:txBody>
          <a:bodyPr wrap="square" lIns="0" tIns="12700" rIns="0" bIns="0" rtlCol="0" vert="horz">
            <a:spAutoFit/>
          </a:bodyPr>
          <a:lstStyle/>
          <a:p>
            <a:pPr marL="12700">
              <a:lnSpc>
                <a:spcPct val="100000"/>
              </a:lnSpc>
              <a:spcBef>
                <a:spcPts val="100"/>
              </a:spcBef>
            </a:pPr>
            <a:r>
              <a:rPr dirty="0" sz="1050" spc="-10">
                <a:latin typeface="PMingLiU"/>
                <a:cs typeface="PMingLiU"/>
              </a:rPr>
              <a:t>結果として</a:t>
            </a:r>
            <a:r>
              <a:rPr dirty="0" sz="1050" spc="75">
                <a:latin typeface="Segoe UI Symbol"/>
                <a:cs typeface="Segoe UI Symbol"/>
              </a:rPr>
              <a:t>Body</a:t>
            </a:r>
            <a:r>
              <a:rPr dirty="0" sz="1050" spc="190">
                <a:latin typeface="Segoe UI Symbol"/>
                <a:cs typeface="Segoe UI Symbol"/>
              </a:rPr>
              <a:t> </a:t>
            </a:r>
            <a:r>
              <a:rPr dirty="0" sz="1050" spc="60">
                <a:latin typeface="Segoe UI Symbol"/>
                <a:cs typeface="Segoe UI Symbol"/>
              </a:rPr>
              <a:t>Tie</a:t>
            </a:r>
            <a:r>
              <a:rPr dirty="0" sz="1050" spc="-25">
                <a:latin typeface="PMingLiU"/>
                <a:cs typeface="PMingLiU"/>
              </a:rPr>
              <a:t>電流の急峻な立ち上がりが発生</a:t>
            </a:r>
            <a:endParaRPr sz="1050">
              <a:latin typeface="PMingLiU"/>
              <a:cs typeface="PMingLiU"/>
            </a:endParaRPr>
          </a:p>
        </p:txBody>
      </p:sp>
      <p:grpSp>
        <p:nvGrpSpPr>
          <p:cNvPr id="30" name="object 30" descr=""/>
          <p:cNvGrpSpPr/>
          <p:nvPr/>
        </p:nvGrpSpPr>
        <p:grpSpPr>
          <a:xfrm>
            <a:off x="1495849" y="1721480"/>
            <a:ext cx="2407285" cy="2507615"/>
            <a:chOff x="1495849" y="1721480"/>
            <a:chExt cx="2407285" cy="2507615"/>
          </a:xfrm>
        </p:grpSpPr>
        <p:sp>
          <p:nvSpPr>
            <p:cNvPr id="31" name="object 31" descr=""/>
            <p:cNvSpPr/>
            <p:nvPr/>
          </p:nvSpPr>
          <p:spPr>
            <a:xfrm>
              <a:off x="1495849" y="1721480"/>
              <a:ext cx="2407285" cy="2507615"/>
            </a:xfrm>
            <a:custGeom>
              <a:avLst/>
              <a:gdLst/>
              <a:ahLst/>
              <a:cxnLst/>
              <a:rect l="l" t="t" r="r" b="b"/>
              <a:pathLst>
                <a:path w="2407285" h="2507615">
                  <a:moveTo>
                    <a:pt x="2406729" y="2507009"/>
                  </a:moveTo>
                  <a:lnTo>
                    <a:pt x="0" y="2507009"/>
                  </a:lnTo>
                  <a:lnTo>
                    <a:pt x="0" y="0"/>
                  </a:lnTo>
                  <a:lnTo>
                    <a:pt x="2406729" y="0"/>
                  </a:lnTo>
                  <a:lnTo>
                    <a:pt x="2406729" y="2507009"/>
                  </a:lnTo>
                  <a:close/>
                </a:path>
              </a:pathLst>
            </a:custGeom>
            <a:solidFill>
              <a:srgbClr val="E89579">
                <a:alpha val="10198"/>
              </a:srgbClr>
            </a:solidFill>
          </p:spPr>
          <p:txBody>
            <a:bodyPr wrap="square" lIns="0" tIns="0" rIns="0" bIns="0" rtlCol="0"/>
            <a:lstStyle/>
            <a:p/>
          </p:txBody>
        </p:sp>
        <p:sp>
          <p:nvSpPr>
            <p:cNvPr id="32" name="object 32" descr=""/>
            <p:cNvSpPr/>
            <p:nvPr/>
          </p:nvSpPr>
          <p:spPr>
            <a:xfrm>
              <a:off x="1495849" y="4211776"/>
              <a:ext cx="2407285" cy="17145"/>
            </a:xfrm>
            <a:custGeom>
              <a:avLst/>
              <a:gdLst/>
              <a:ahLst/>
              <a:cxnLst/>
              <a:rect l="l" t="t" r="r" b="b"/>
              <a:pathLst>
                <a:path w="2407285" h="17145">
                  <a:moveTo>
                    <a:pt x="2406729" y="16713"/>
                  </a:moveTo>
                  <a:lnTo>
                    <a:pt x="0" y="16713"/>
                  </a:lnTo>
                  <a:lnTo>
                    <a:pt x="0" y="0"/>
                  </a:lnTo>
                  <a:lnTo>
                    <a:pt x="2406729" y="0"/>
                  </a:lnTo>
                  <a:lnTo>
                    <a:pt x="2406729" y="16713"/>
                  </a:lnTo>
                  <a:close/>
                </a:path>
              </a:pathLst>
            </a:custGeom>
            <a:solidFill>
              <a:srgbClr val="333333"/>
            </a:solidFill>
          </p:spPr>
          <p:txBody>
            <a:bodyPr wrap="square" lIns="0" tIns="0" rIns="0" bIns="0" rtlCol="0"/>
            <a:lstStyle/>
            <a:p/>
          </p:txBody>
        </p:sp>
      </p:grpSp>
      <p:sp>
        <p:nvSpPr>
          <p:cNvPr id="33" name="object 33" descr=""/>
          <p:cNvSpPr txBox="1"/>
          <p:nvPr/>
        </p:nvSpPr>
        <p:spPr>
          <a:xfrm>
            <a:off x="2186974" y="4006872"/>
            <a:ext cx="1040130" cy="186055"/>
          </a:xfrm>
          <a:prstGeom prst="rect">
            <a:avLst/>
          </a:prstGeom>
        </p:spPr>
        <p:txBody>
          <a:bodyPr wrap="square" lIns="0" tIns="12700" rIns="0" bIns="0" rtlCol="0" vert="horz">
            <a:spAutoFit/>
          </a:bodyPr>
          <a:lstStyle/>
          <a:p>
            <a:pPr>
              <a:lnSpc>
                <a:spcPct val="100000"/>
              </a:lnSpc>
              <a:spcBef>
                <a:spcPts val="100"/>
              </a:spcBef>
            </a:pPr>
            <a:r>
              <a:rPr dirty="0" sz="1050" spc="90" b="1">
                <a:latin typeface="Yu Gothic"/>
                <a:cs typeface="Yu Gothic"/>
              </a:rPr>
              <a:t>Body</a:t>
            </a:r>
            <a:r>
              <a:rPr dirty="0" sz="1050" spc="70" b="1">
                <a:latin typeface="Yu Gothic"/>
                <a:cs typeface="Yu Gothic"/>
              </a:rPr>
              <a:t> </a:t>
            </a:r>
            <a:r>
              <a:rPr dirty="0" sz="1050" spc="60" b="1">
                <a:latin typeface="Yu Gothic"/>
                <a:cs typeface="Yu Gothic"/>
              </a:rPr>
              <a:t>Tie</a:t>
            </a:r>
            <a:r>
              <a:rPr dirty="0" sz="1050" spc="70" b="1">
                <a:latin typeface="Yu Gothic"/>
                <a:cs typeface="Yu Gothic"/>
              </a:rPr>
              <a:t> </a:t>
            </a:r>
            <a:r>
              <a:rPr dirty="0" sz="1050" spc="55" b="1">
                <a:latin typeface="Yu Gothic"/>
                <a:cs typeface="Yu Gothic"/>
              </a:rPr>
              <a:t>(p+)</a:t>
            </a:r>
            <a:endParaRPr sz="1050">
              <a:latin typeface="Yu Gothic"/>
              <a:cs typeface="Yu Gothic"/>
            </a:endParaRPr>
          </a:p>
        </p:txBody>
      </p:sp>
      <p:grpSp>
        <p:nvGrpSpPr>
          <p:cNvPr id="34" name="object 34" descr=""/>
          <p:cNvGrpSpPr/>
          <p:nvPr/>
        </p:nvGrpSpPr>
        <p:grpSpPr>
          <a:xfrm>
            <a:off x="3902578" y="1721480"/>
            <a:ext cx="2891790" cy="2507615"/>
            <a:chOff x="3902578" y="1721480"/>
            <a:chExt cx="2891790" cy="2507615"/>
          </a:xfrm>
        </p:grpSpPr>
        <p:sp>
          <p:nvSpPr>
            <p:cNvPr id="35" name="object 35" descr=""/>
            <p:cNvSpPr/>
            <p:nvPr/>
          </p:nvSpPr>
          <p:spPr>
            <a:xfrm>
              <a:off x="3902578" y="1721480"/>
              <a:ext cx="2891790" cy="2507615"/>
            </a:xfrm>
            <a:custGeom>
              <a:avLst/>
              <a:gdLst/>
              <a:ahLst/>
              <a:cxnLst/>
              <a:rect l="l" t="t" r="r" b="b"/>
              <a:pathLst>
                <a:path w="2891790" h="2507615">
                  <a:moveTo>
                    <a:pt x="2891418" y="2507009"/>
                  </a:moveTo>
                  <a:lnTo>
                    <a:pt x="0" y="2507009"/>
                  </a:lnTo>
                  <a:lnTo>
                    <a:pt x="0" y="0"/>
                  </a:lnTo>
                  <a:lnTo>
                    <a:pt x="2891418" y="0"/>
                  </a:lnTo>
                  <a:lnTo>
                    <a:pt x="2891418" y="2507009"/>
                  </a:lnTo>
                  <a:close/>
                </a:path>
              </a:pathLst>
            </a:custGeom>
            <a:solidFill>
              <a:srgbClr val="ACD8E6">
                <a:alpha val="10198"/>
              </a:srgbClr>
            </a:solidFill>
          </p:spPr>
          <p:txBody>
            <a:bodyPr wrap="square" lIns="0" tIns="0" rIns="0" bIns="0" rtlCol="0"/>
            <a:lstStyle/>
            <a:p/>
          </p:txBody>
        </p:sp>
        <p:sp>
          <p:nvSpPr>
            <p:cNvPr id="36" name="object 36" descr=""/>
            <p:cNvSpPr/>
            <p:nvPr/>
          </p:nvSpPr>
          <p:spPr>
            <a:xfrm>
              <a:off x="3902578" y="4211776"/>
              <a:ext cx="2891790" cy="17145"/>
            </a:xfrm>
            <a:custGeom>
              <a:avLst/>
              <a:gdLst/>
              <a:ahLst/>
              <a:cxnLst/>
              <a:rect l="l" t="t" r="r" b="b"/>
              <a:pathLst>
                <a:path w="2891790" h="17145">
                  <a:moveTo>
                    <a:pt x="2891418" y="16713"/>
                  </a:moveTo>
                  <a:lnTo>
                    <a:pt x="0" y="16713"/>
                  </a:lnTo>
                  <a:lnTo>
                    <a:pt x="0" y="0"/>
                  </a:lnTo>
                  <a:lnTo>
                    <a:pt x="2891418" y="0"/>
                  </a:lnTo>
                  <a:lnTo>
                    <a:pt x="2891418" y="16713"/>
                  </a:lnTo>
                  <a:close/>
                </a:path>
              </a:pathLst>
            </a:custGeom>
            <a:solidFill>
              <a:srgbClr val="333333"/>
            </a:solidFill>
          </p:spPr>
          <p:txBody>
            <a:bodyPr wrap="square" lIns="0" tIns="0" rIns="0" bIns="0" rtlCol="0"/>
            <a:lstStyle/>
            <a:p/>
          </p:txBody>
        </p:sp>
      </p:grpSp>
      <p:sp>
        <p:nvSpPr>
          <p:cNvPr id="37" name="object 37" descr=""/>
          <p:cNvSpPr txBox="1"/>
          <p:nvPr/>
        </p:nvSpPr>
        <p:spPr>
          <a:xfrm>
            <a:off x="5027599" y="4006872"/>
            <a:ext cx="654050" cy="186055"/>
          </a:xfrm>
          <a:prstGeom prst="rect">
            <a:avLst/>
          </a:prstGeom>
        </p:spPr>
        <p:txBody>
          <a:bodyPr wrap="square" lIns="0" tIns="12700" rIns="0" bIns="0" rtlCol="0" vert="horz">
            <a:spAutoFit/>
          </a:bodyPr>
          <a:lstStyle/>
          <a:p>
            <a:pPr>
              <a:lnSpc>
                <a:spcPct val="100000"/>
              </a:lnSpc>
              <a:spcBef>
                <a:spcPts val="100"/>
              </a:spcBef>
            </a:pPr>
            <a:r>
              <a:rPr dirty="0" sz="1050" spc="90" b="1">
                <a:latin typeface="Yu Gothic"/>
                <a:cs typeface="Yu Gothic"/>
              </a:rPr>
              <a:t>Body</a:t>
            </a:r>
            <a:r>
              <a:rPr dirty="0" sz="1050" spc="65" b="1">
                <a:latin typeface="Yu Gothic"/>
                <a:cs typeface="Yu Gothic"/>
              </a:rPr>
              <a:t> </a:t>
            </a:r>
            <a:r>
              <a:rPr dirty="0" sz="1050" spc="45" b="1">
                <a:latin typeface="Yu Gothic"/>
                <a:cs typeface="Yu Gothic"/>
              </a:rPr>
              <a:t>(p)</a:t>
            </a:r>
            <a:endParaRPr sz="1050">
              <a:latin typeface="Yu Gothic"/>
              <a:cs typeface="Yu Gothic"/>
            </a:endParaRPr>
          </a:p>
        </p:txBody>
      </p:sp>
      <p:grpSp>
        <p:nvGrpSpPr>
          <p:cNvPr id="38" name="object 38" descr=""/>
          <p:cNvGrpSpPr/>
          <p:nvPr/>
        </p:nvGrpSpPr>
        <p:grpSpPr>
          <a:xfrm>
            <a:off x="6793996" y="1721480"/>
            <a:ext cx="2407285" cy="2507615"/>
            <a:chOff x="6793996" y="1721480"/>
            <a:chExt cx="2407285" cy="2507615"/>
          </a:xfrm>
        </p:grpSpPr>
        <p:sp>
          <p:nvSpPr>
            <p:cNvPr id="39" name="object 39" descr=""/>
            <p:cNvSpPr/>
            <p:nvPr/>
          </p:nvSpPr>
          <p:spPr>
            <a:xfrm>
              <a:off x="6793996" y="1721480"/>
              <a:ext cx="2407285" cy="2507615"/>
            </a:xfrm>
            <a:custGeom>
              <a:avLst/>
              <a:gdLst/>
              <a:ahLst/>
              <a:cxnLst/>
              <a:rect l="l" t="t" r="r" b="b"/>
              <a:pathLst>
                <a:path w="2407284" h="2507615">
                  <a:moveTo>
                    <a:pt x="2406729" y="2507009"/>
                  </a:moveTo>
                  <a:lnTo>
                    <a:pt x="0" y="2507009"/>
                  </a:lnTo>
                  <a:lnTo>
                    <a:pt x="0" y="0"/>
                  </a:lnTo>
                  <a:lnTo>
                    <a:pt x="2406729" y="0"/>
                  </a:lnTo>
                  <a:lnTo>
                    <a:pt x="2406729" y="2507009"/>
                  </a:lnTo>
                  <a:close/>
                </a:path>
              </a:pathLst>
            </a:custGeom>
            <a:solidFill>
              <a:srgbClr val="8FED8F">
                <a:alpha val="10198"/>
              </a:srgbClr>
            </a:solidFill>
          </p:spPr>
          <p:txBody>
            <a:bodyPr wrap="square" lIns="0" tIns="0" rIns="0" bIns="0" rtlCol="0"/>
            <a:lstStyle/>
            <a:p/>
          </p:txBody>
        </p:sp>
        <p:sp>
          <p:nvSpPr>
            <p:cNvPr id="40" name="object 40" descr=""/>
            <p:cNvSpPr/>
            <p:nvPr/>
          </p:nvSpPr>
          <p:spPr>
            <a:xfrm>
              <a:off x="6793996" y="4211776"/>
              <a:ext cx="2407285" cy="17145"/>
            </a:xfrm>
            <a:custGeom>
              <a:avLst/>
              <a:gdLst/>
              <a:ahLst/>
              <a:cxnLst/>
              <a:rect l="l" t="t" r="r" b="b"/>
              <a:pathLst>
                <a:path w="2407284" h="17145">
                  <a:moveTo>
                    <a:pt x="2406729" y="16713"/>
                  </a:moveTo>
                  <a:lnTo>
                    <a:pt x="0" y="16713"/>
                  </a:lnTo>
                  <a:lnTo>
                    <a:pt x="0" y="0"/>
                  </a:lnTo>
                  <a:lnTo>
                    <a:pt x="2406729" y="0"/>
                  </a:lnTo>
                  <a:lnTo>
                    <a:pt x="2406729" y="16713"/>
                  </a:lnTo>
                  <a:close/>
                </a:path>
              </a:pathLst>
            </a:custGeom>
            <a:solidFill>
              <a:srgbClr val="333333"/>
            </a:solidFill>
          </p:spPr>
          <p:txBody>
            <a:bodyPr wrap="square" lIns="0" tIns="0" rIns="0" bIns="0" rtlCol="0"/>
            <a:lstStyle/>
            <a:p/>
          </p:txBody>
        </p:sp>
      </p:grpSp>
      <p:sp>
        <p:nvSpPr>
          <p:cNvPr id="41" name="object 41" descr=""/>
          <p:cNvSpPr txBox="1"/>
          <p:nvPr/>
        </p:nvSpPr>
        <p:spPr>
          <a:xfrm>
            <a:off x="7735039" y="3991709"/>
            <a:ext cx="537210" cy="204470"/>
          </a:xfrm>
          <a:prstGeom prst="rect">
            <a:avLst/>
          </a:prstGeom>
        </p:spPr>
        <p:txBody>
          <a:bodyPr wrap="square" lIns="0" tIns="15240" rIns="0" bIns="0" rtlCol="0" vert="horz">
            <a:spAutoFit/>
          </a:bodyPr>
          <a:lstStyle/>
          <a:p>
            <a:pPr>
              <a:lnSpc>
                <a:spcPct val="100000"/>
              </a:lnSpc>
              <a:spcBef>
                <a:spcPts val="120"/>
              </a:spcBef>
            </a:pPr>
            <a:r>
              <a:rPr dirty="0" sz="1050" spc="95" b="1">
                <a:latin typeface="Yu Gothic"/>
                <a:cs typeface="Yu Gothic"/>
              </a:rPr>
              <a:t>n+</a:t>
            </a:r>
            <a:r>
              <a:rPr dirty="0" sz="1050" spc="80" b="1">
                <a:latin typeface="Yu Gothic"/>
                <a:cs typeface="Yu Gothic"/>
              </a:rPr>
              <a:t> </a:t>
            </a:r>
            <a:r>
              <a:rPr dirty="0" sz="1150" spc="-80">
                <a:latin typeface="SimSun"/>
                <a:cs typeface="SimSun"/>
              </a:rPr>
              <a:t>領域</a:t>
            </a:r>
            <a:endParaRPr sz="1150">
              <a:latin typeface="SimSun"/>
              <a:cs typeface="SimSun"/>
            </a:endParaRPr>
          </a:p>
        </p:txBody>
      </p:sp>
      <p:grpSp>
        <p:nvGrpSpPr>
          <p:cNvPr id="42" name="object 42" descr=""/>
          <p:cNvGrpSpPr/>
          <p:nvPr/>
        </p:nvGrpSpPr>
        <p:grpSpPr>
          <a:xfrm>
            <a:off x="1495849" y="2222882"/>
            <a:ext cx="7705090" cy="1320800"/>
            <a:chOff x="1495849" y="2222882"/>
            <a:chExt cx="7705090" cy="1320800"/>
          </a:xfrm>
        </p:grpSpPr>
        <p:sp>
          <p:nvSpPr>
            <p:cNvPr id="43" name="object 43" descr=""/>
            <p:cNvSpPr/>
            <p:nvPr/>
          </p:nvSpPr>
          <p:spPr>
            <a:xfrm>
              <a:off x="1495844" y="2473591"/>
              <a:ext cx="7705090" cy="67310"/>
            </a:xfrm>
            <a:custGeom>
              <a:avLst/>
              <a:gdLst/>
              <a:ahLst/>
              <a:cxnLst/>
              <a:rect l="l" t="t" r="r" b="b"/>
              <a:pathLst>
                <a:path w="7705090" h="67310">
                  <a:moveTo>
                    <a:pt x="43141" y="50139"/>
                  </a:moveTo>
                  <a:lnTo>
                    <a:pt x="28816" y="50139"/>
                  </a:lnTo>
                  <a:lnTo>
                    <a:pt x="24866" y="48501"/>
                  </a:lnTo>
                  <a:lnTo>
                    <a:pt x="21602" y="45237"/>
                  </a:lnTo>
                  <a:lnTo>
                    <a:pt x="18338" y="41973"/>
                  </a:lnTo>
                  <a:lnTo>
                    <a:pt x="16713" y="38036"/>
                  </a:lnTo>
                  <a:lnTo>
                    <a:pt x="16713" y="32143"/>
                  </a:lnTo>
                  <a:lnTo>
                    <a:pt x="228" y="30873"/>
                  </a:lnTo>
                  <a:lnTo>
                    <a:pt x="114" y="32143"/>
                  </a:lnTo>
                  <a:lnTo>
                    <a:pt x="0" y="33426"/>
                  </a:lnTo>
                  <a:lnTo>
                    <a:pt x="609" y="40093"/>
                  </a:lnTo>
                  <a:lnTo>
                    <a:pt x="33426" y="66852"/>
                  </a:lnTo>
                  <a:lnTo>
                    <a:pt x="43141" y="66852"/>
                  </a:lnTo>
                  <a:lnTo>
                    <a:pt x="43141" y="50139"/>
                  </a:lnTo>
                  <a:close/>
                </a:path>
                <a:path w="7705090" h="67310">
                  <a:moveTo>
                    <a:pt x="83566" y="0"/>
                  </a:moveTo>
                  <a:lnTo>
                    <a:pt x="33426" y="0"/>
                  </a:lnTo>
                  <a:lnTo>
                    <a:pt x="29565" y="355"/>
                  </a:lnTo>
                  <a:lnTo>
                    <a:pt x="31470" y="16713"/>
                  </a:lnTo>
                  <a:lnTo>
                    <a:pt x="83566" y="16713"/>
                  </a:lnTo>
                  <a:lnTo>
                    <a:pt x="83566" y="0"/>
                  </a:lnTo>
                  <a:close/>
                </a:path>
                <a:path w="7705090" h="67310">
                  <a:moveTo>
                    <a:pt x="126530" y="50139"/>
                  </a:moveTo>
                  <a:lnTo>
                    <a:pt x="76390" y="50139"/>
                  </a:lnTo>
                  <a:lnTo>
                    <a:pt x="76390" y="66852"/>
                  </a:lnTo>
                  <a:lnTo>
                    <a:pt x="126530" y="66852"/>
                  </a:lnTo>
                  <a:lnTo>
                    <a:pt x="126530" y="50139"/>
                  </a:lnTo>
                  <a:close/>
                </a:path>
                <a:path w="7705090" h="67310">
                  <a:moveTo>
                    <a:pt x="166954" y="0"/>
                  </a:moveTo>
                  <a:lnTo>
                    <a:pt x="116814" y="0"/>
                  </a:lnTo>
                  <a:lnTo>
                    <a:pt x="116814" y="16713"/>
                  </a:lnTo>
                  <a:lnTo>
                    <a:pt x="166954" y="16713"/>
                  </a:lnTo>
                  <a:lnTo>
                    <a:pt x="166954" y="0"/>
                  </a:lnTo>
                  <a:close/>
                </a:path>
                <a:path w="7705090" h="67310">
                  <a:moveTo>
                    <a:pt x="209918" y="50139"/>
                  </a:moveTo>
                  <a:lnTo>
                    <a:pt x="159778" y="50139"/>
                  </a:lnTo>
                  <a:lnTo>
                    <a:pt x="159778" y="66852"/>
                  </a:lnTo>
                  <a:lnTo>
                    <a:pt x="209918" y="66852"/>
                  </a:lnTo>
                  <a:lnTo>
                    <a:pt x="209918" y="50139"/>
                  </a:lnTo>
                  <a:close/>
                </a:path>
                <a:path w="7705090" h="67310">
                  <a:moveTo>
                    <a:pt x="250342" y="0"/>
                  </a:moveTo>
                  <a:lnTo>
                    <a:pt x="200202" y="0"/>
                  </a:lnTo>
                  <a:lnTo>
                    <a:pt x="200202" y="16713"/>
                  </a:lnTo>
                  <a:lnTo>
                    <a:pt x="250342" y="16713"/>
                  </a:lnTo>
                  <a:lnTo>
                    <a:pt x="250342" y="0"/>
                  </a:lnTo>
                  <a:close/>
                </a:path>
                <a:path w="7705090" h="67310">
                  <a:moveTo>
                    <a:pt x="293306" y="50139"/>
                  </a:moveTo>
                  <a:lnTo>
                    <a:pt x="243166" y="50139"/>
                  </a:lnTo>
                  <a:lnTo>
                    <a:pt x="243166" y="66852"/>
                  </a:lnTo>
                  <a:lnTo>
                    <a:pt x="293306" y="66852"/>
                  </a:lnTo>
                  <a:lnTo>
                    <a:pt x="293306" y="50139"/>
                  </a:lnTo>
                  <a:close/>
                </a:path>
                <a:path w="7705090" h="67310">
                  <a:moveTo>
                    <a:pt x="333730" y="0"/>
                  </a:moveTo>
                  <a:lnTo>
                    <a:pt x="283578" y="0"/>
                  </a:lnTo>
                  <a:lnTo>
                    <a:pt x="283578" y="16713"/>
                  </a:lnTo>
                  <a:lnTo>
                    <a:pt x="333730" y="16713"/>
                  </a:lnTo>
                  <a:lnTo>
                    <a:pt x="333730" y="0"/>
                  </a:lnTo>
                  <a:close/>
                </a:path>
                <a:path w="7705090" h="67310">
                  <a:moveTo>
                    <a:pt x="376682" y="50139"/>
                  </a:moveTo>
                  <a:lnTo>
                    <a:pt x="326542" y="50139"/>
                  </a:lnTo>
                  <a:lnTo>
                    <a:pt x="326542" y="66852"/>
                  </a:lnTo>
                  <a:lnTo>
                    <a:pt x="376682" y="66852"/>
                  </a:lnTo>
                  <a:lnTo>
                    <a:pt x="376682" y="50139"/>
                  </a:lnTo>
                  <a:close/>
                </a:path>
                <a:path w="7705090" h="67310">
                  <a:moveTo>
                    <a:pt x="417106" y="0"/>
                  </a:moveTo>
                  <a:lnTo>
                    <a:pt x="366966" y="0"/>
                  </a:lnTo>
                  <a:lnTo>
                    <a:pt x="366966" y="16713"/>
                  </a:lnTo>
                  <a:lnTo>
                    <a:pt x="417106" y="16713"/>
                  </a:lnTo>
                  <a:lnTo>
                    <a:pt x="417106" y="0"/>
                  </a:lnTo>
                  <a:close/>
                </a:path>
                <a:path w="7705090" h="67310">
                  <a:moveTo>
                    <a:pt x="460070" y="50139"/>
                  </a:moveTo>
                  <a:lnTo>
                    <a:pt x="409930" y="50139"/>
                  </a:lnTo>
                  <a:lnTo>
                    <a:pt x="409930" y="66852"/>
                  </a:lnTo>
                  <a:lnTo>
                    <a:pt x="460070" y="66852"/>
                  </a:lnTo>
                  <a:lnTo>
                    <a:pt x="460070" y="50139"/>
                  </a:lnTo>
                  <a:close/>
                </a:path>
                <a:path w="7705090" h="67310">
                  <a:moveTo>
                    <a:pt x="500494" y="0"/>
                  </a:moveTo>
                  <a:lnTo>
                    <a:pt x="450354" y="0"/>
                  </a:lnTo>
                  <a:lnTo>
                    <a:pt x="450354" y="16713"/>
                  </a:lnTo>
                  <a:lnTo>
                    <a:pt x="500494" y="16713"/>
                  </a:lnTo>
                  <a:lnTo>
                    <a:pt x="500494" y="0"/>
                  </a:lnTo>
                  <a:close/>
                </a:path>
                <a:path w="7705090" h="67310">
                  <a:moveTo>
                    <a:pt x="543458" y="50139"/>
                  </a:moveTo>
                  <a:lnTo>
                    <a:pt x="493318" y="50139"/>
                  </a:lnTo>
                  <a:lnTo>
                    <a:pt x="493318" y="66852"/>
                  </a:lnTo>
                  <a:lnTo>
                    <a:pt x="543458" y="66852"/>
                  </a:lnTo>
                  <a:lnTo>
                    <a:pt x="543458" y="50139"/>
                  </a:lnTo>
                  <a:close/>
                </a:path>
                <a:path w="7705090" h="67310">
                  <a:moveTo>
                    <a:pt x="583882" y="0"/>
                  </a:moveTo>
                  <a:lnTo>
                    <a:pt x="533742" y="0"/>
                  </a:lnTo>
                  <a:lnTo>
                    <a:pt x="533742" y="16713"/>
                  </a:lnTo>
                  <a:lnTo>
                    <a:pt x="583882" y="16713"/>
                  </a:lnTo>
                  <a:lnTo>
                    <a:pt x="583882" y="0"/>
                  </a:lnTo>
                  <a:close/>
                </a:path>
                <a:path w="7705090" h="67310">
                  <a:moveTo>
                    <a:pt x="626846" y="50139"/>
                  </a:moveTo>
                  <a:lnTo>
                    <a:pt x="576707" y="50139"/>
                  </a:lnTo>
                  <a:lnTo>
                    <a:pt x="576707" y="66852"/>
                  </a:lnTo>
                  <a:lnTo>
                    <a:pt x="626846" y="66852"/>
                  </a:lnTo>
                  <a:lnTo>
                    <a:pt x="626846" y="50139"/>
                  </a:lnTo>
                  <a:close/>
                </a:path>
                <a:path w="7705090" h="67310">
                  <a:moveTo>
                    <a:pt x="667270" y="0"/>
                  </a:moveTo>
                  <a:lnTo>
                    <a:pt x="617131" y="0"/>
                  </a:lnTo>
                  <a:lnTo>
                    <a:pt x="617131" y="16713"/>
                  </a:lnTo>
                  <a:lnTo>
                    <a:pt x="667270" y="16713"/>
                  </a:lnTo>
                  <a:lnTo>
                    <a:pt x="667270" y="0"/>
                  </a:lnTo>
                  <a:close/>
                </a:path>
                <a:path w="7705090" h="67310">
                  <a:moveTo>
                    <a:pt x="710234" y="50139"/>
                  </a:moveTo>
                  <a:lnTo>
                    <a:pt x="660095" y="50139"/>
                  </a:lnTo>
                  <a:lnTo>
                    <a:pt x="660095" y="66852"/>
                  </a:lnTo>
                  <a:lnTo>
                    <a:pt x="710234" y="66852"/>
                  </a:lnTo>
                  <a:lnTo>
                    <a:pt x="710234" y="50139"/>
                  </a:lnTo>
                  <a:close/>
                </a:path>
                <a:path w="7705090" h="67310">
                  <a:moveTo>
                    <a:pt x="750658" y="0"/>
                  </a:moveTo>
                  <a:lnTo>
                    <a:pt x="700519" y="0"/>
                  </a:lnTo>
                  <a:lnTo>
                    <a:pt x="700519" y="16713"/>
                  </a:lnTo>
                  <a:lnTo>
                    <a:pt x="750658" y="16713"/>
                  </a:lnTo>
                  <a:lnTo>
                    <a:pt x="750658" y="0"/>
                  </a:lnTo>
                  <a:close/>
                </a:path>
                <a:path w="7705090" h="67310">
                  <a:moveTo>
                    <a:pt x="793623" y="50139"/>
                  </a:moveTo>
                  <a:lnTo>
                    <a:pt x="743483" y="50139"/>
                  </a:lnTo>
                  <a:lnTo>
                    <a:pt x="743483" y="66852"/>
                  </a:lnTo>
                  <a:lnTo>
                    <a:pt x="793623" y="66852"/>
                  </a:lnTo>
                  <a:lnTo>
                    <a:pt x="793623" y="50139"/>
                  </a:lnTo>
                  <a:close/>
                </a:path>
                <a:path w="7705090" h="67310">
                  <a:moveTo>
                    <a:pt x="834047" y="0"/>
                  </a:moveTo>
                  <a:lnTo>
                    <a:pt x="783907" y="0"/>
                  </a:lnTo>
                  <a:lnTo>
                    <a:pt x="783907" y="16713"/>
                  </a:lnTo>
                  <a:lnTo>
                    <a:pt x="834047" y="16713"/>
                  </a:lnTo>
                  <a:lnTo>
                    <a:pt x="834047" y="0"/>
                  </a:lnTo>
                  <a:close/>
                </a:path>
                <a:path w="7705090" h="67310">
                  <a:moveTo>
                    <a:pt x="877011" y="50139"/>
                  </a:moveTo>
                  <a:lnTo>
                    <a:pt x="826871" y="50139"/>
                  </a:lnTo>
                  <a:lnTo>
                    <a:pt x="826871" y="66852"/>
                  </a:lnTo>
                  <a:lnTo>
                    <a:pt x="877011" y="66852"/>
                  </a:lnTo>
                  <a:lnTo>
                    <a:pt x="877011" y="50139"/>
                  </a:lnTo>
                  <a:close/>
                </a:path>
                <a:path w="7705090" h="67310">
                  <a:moveTo>
                    <a:pt x="917422" y="0"/>
                  </a:moveTo>
                  <a:lnTo>
                    <a:pt x="867283" y="0"/>
                  </a:lnTo>
                  <a:lnTo>
                    <a:pt x="867283" y="16713"/>
                  </a:lnTo>
                  <a:lnTo>
                    <a:pt x="917422" y="16713"/>
                  </a:lnTo>
                  <a:lnTo>
                    <a:pt x="917422" y="0"/>
                  </a:lnTo>
                  <a:close/>
                </a:path>
                <a:path w="7705090" h="67310">
                  <a:moveTo>
                    <a:pt x="960386" y="50139"/>
                  </a:moveTo>
                  <a:lnTo>
                    <a:pt x="910247" y="50139"/>
                  </a:lnTo>
                  <a:lnTo>
                    <a:pt x="910247" y="66852"/>
                  </a:lnTo>
                  <a:lnTo>
                    <a:pt x="960386" y="66852"/>
                  </a:lnTo>
                  <a:lnTo>
                    <a:pt x="960386" y="50139"/>
                  </a:lnTo>
                  <a:close/>
                </a:path>
                <a:path w="7705090" h="67310">
                  <a:moveTo>
                    <a:pt x="1000810" y="0"/>
                  </a:moveTo>
                  <a:lnTo>
                    <a:pt x="950671" y="0"/>
                  </a:lnTo>
                  <a:lnTo>
                    <a:pt x="950671" y="16713"/>
                  </a:lnTo>
                  <a:lnTo>
                    <a:pt x="1000810" y="16713"/>
                  </a:lnTo>
                  <a:lnTo>
                    <a:pt x="1000810" y="0"/>
                  </a:lnTo>
                  <a:close/>
                </a:path>
                <a:path w="7705090" h="67310">
                  <a:moveTo>
                    <a:pt x="1043774" y="50139"/>
                  </a:moveTo>
                  <a:lnTo>
                    <a:pt x="993635" y="50139"/>
                  </a:lnTo>
                  <a:lnTo>
                    <a:pt x="993635" y="66852"/>
                  </a:lnTo>
                  <a:lnTo>
                    <a:pt x="1043774" y="66852"/>
                  </a:lnTo>
                  <a:lnTo>
                    <a:pt x="1043774" y="50139"/>
                  </a:lnTo>
                  <a:close/>
                </a:path>
                <a:path w="7705090" h="67310">
                  <a:moveTo>
                    <a:pt x="1084199" y="0"/>
                  </a:moveTo>
                  <a:lnTo>
                    <a:pt x="1034059" y="0"/>
                  </a:lnTo>
                  <a:lnTo>
                    <a:pt x="1034059" y="16713"/>
                  </a:lnTo>
                  <a:lnTo>
                    <a:pt x="1084199" y="16713"/>
                  </a:lnTo>
                  <a:lnTo>
                    <a:pt x="1084199" y="0"/>
                  </a:lnTo>
                  <a:close/>
                </a:path>
                <a:path w="7705090" h="67310">
                  <a:moveTo>
                    <a:pt x="1127163" y="50139"/>
                  </a:moveTo>
                  <a:lnTo>
                    <a:pt x="1077023" y="50139"/>
                  </a:lnTo>
                  <a:lnTo>
                    <a:pt x="1077023" y="66852"/>
                  </a:lnTo>
                  <a:lnTo>
                    <a:pt x="1127163" y="66852"/>
                  </a:lnTo>
                  <a:lnTo>
                    <a:pt x="1127163" y="50139"/>
                  </a:lnTo>
                  <a:close/>
                </a:path>
                <a:path w="7705090" h="67310">
                  <a:moveTo>
                    <a:pt x="1167587" y="0"/>
                  </a:moveTo>
                  <a:lnTo>
                    <a:pt x="1117447" y="0"/>
                  </a:lnTo>
                  <a:lnTo>
                    <a:pt x="1117447" y="16713"/>
                  </a:lnTo>
                  <a:lnTo>
                    <a:pt x="1167587" y="16713"/>
                  </a:lnTo>
                  <a:lnTo>
                    <a:pt x="1167587" y="0"/>
                  </a:lnTo>
                  <a:close/>
                </a:path>
                <a:path w="7705090" h="67310">
                  <a:moveTo>
                    <a:pt x="1210551" y="50139"/>
                  </a:moveTo>
                  <a:lnTo>
                    <a:pt x="1160411" y="50139"/>
                  </a:lnTo>
                  <a:lnTo>
                    <a:pt x="1160411" y="66852"/>
                  </a:lnTo>
                  <a:lnTo>
                    <a:pt x="1210551" y="66852"/>
                  </a:lnTo>
                  <a:lnTo>
                    <a:pt x="1210551" y="50139"/>
                  </a:lnTo>
                  <a:close/>
                </a:path>
                <a:path w="7705090" h="67310">
                  <a:moveTo>
                    <a:pt x="1250975" y="0"/>
                  </a:moveTo>
                  <a:lnTo>
                    <a:pt x="1200835" y="0"/>
                  </a:lnTo>
                  <a:lnTo>
                    <a:pt x="1200835" y="16713"/>
                  </a:lnTo>
                  <a:lnTo>
                    <a:pt x="1250975" y="16713"/>
                  </a:lnTo>
                  <a:lnTo>
                    <a:pt x="1250975" y="0"/>
                  </a:lnTo>
                  <a:close/>
                </a:path>
                <a:path w="7705090" h="67310">
                  <a:moveTo>
                    <a:pt x="1293939" y="50139"/>
                  </a:moveTo>
                  <a:lnTo>
                    <a:pt x="1243799" y="50139"/>
                  </a:lnTo>
                  <a:lnTo>
                    <a:pt x="1243799" y="66852"/>
                  </a:lnTo>
                  <a:lnTo>
                    <a:pt x="1293939" y="66852"/>
                  </a:lnTo>
                  <a:lnTo>
                    <a:pt x="1293939" y="50139"/>
                  </a:lnTo>
                  <a:close/>
                </a:path>
                <a:path w="7705090" h="67310">
                  <a:moveTo>
                    <a:pt x="1334363" y="0"/>
                  </a:moveTo>
                  <a:lnTo>
                    <a:pt x="1284224" y="0"/>
                  </a:lnTo>
                  <a:lnTo>
                    <a:pt x="1284224" y="16713"/>
                  </a:lnTo>
                  <a:lnTo>
                    <a:pt x="1334363" y="16713"/>
                  </a:lnTo>
                  <a:lnTo>
                    <a:pt x="1334363" y="0"/>
                  </a:lnTo>
                  <a:close/>
                </a:path>
                <a:path w="7705090" h="67310">
                  <a:moveTo>
                    <a:pt x="1377327" y="50139"/>
                  </a:moveTo>
                  <a:lnTo>
                    <a:pt x="1327188" y="50139"/>
                  </a:lnTo>
                  <a:lnTo>
                    <a:pt x="1327188" y="66852"/>
                  </a:lnTo>
                  <a:lnTo>
                    <a:pt x="1377327" y="66852"/>
                  </a:lnTo>
                  <a:lnTo>
                    <a:pt x="1377327" y="50139"/>
                  </a:lnTo>
                  <a:close/>
                </a:path>
                <a:path w="7705090" h="67310">
                  <a:moveTo>
                    <a:pt x="1417751" y="0"/>
                  </a:moveTo>
                  <a:lnTo>
                    <a:pt x="1367612" y="0"/>
                  </a:lnTo>
                  <a:lnTo>
                    <a:pt x="1367612" y="16713"/>
                  </a:lnTo>
                  <a:lnTo>
                    <a:pt x="1417751" y="16713"/>
                  </a:lnTo>
                  <a:lnTo>
                    <a:pt x="1417751" y="0"/>
                  </a:lnTo>
                  <a:close/>
                </a:path>
                <a:path w="7705090" h="67310">
                  <a:moveTo>
                    <a:pt x="1460715" y="50139"/>
                  </a:moveTo>
                  <a:lnTo>
                    <a:pt x="1410563" y="50139"/>
                  </a:lnTo>
                  <a:lnTo>
                    <a:pt x="1410563" y="66852"/>
                  </a:lnTo>
                  <a:lnTo>
                    <a:pt x="1460715" y="66852"/>
                  </a:lnTo>
                  <a:lnTo>
                    <a:pt x="1460715" y="50139"/>
                  </a:lnTo>
                  <a:close/>
                </a:path>
                <a:path w="7705090" h="67310">
                  <a:moveTo>
                    <a:pt x="1501127" y="0"/>
                  </a:moveTo>
                  <a:lnTo>
                    <a:pt x="1450987" y="0"/>
                  </a:lnTo>
                  <a:lnTo>
                    <a:pt x="1450987" y="16713"/>
                  </a:lnTo>
                  <a:lnTo>
                    <a:pt x="1501127" y="16713"/>
                  </a:lnTo>
                  <a:lnTo>
                    <a:pt x="1501127" y="0"/>
                  </a:lnTo>
                  <a:close/>
                </a:path>
                <a:path w="7705090" h="67310">
                  <a:moveTo>
                    <a:pt x="1544091" y="50139"/>
                  </a:moveTo>
                  <a:lnTo>
                    <a:pt x="1493951" y="50139"/>
                  </a:lnTo>
                  <a:lnTo>
                    <a:pt x="1493951" y="66852"/>
                  </a:lnTo>
                  <a:lnTo>
                    <a:pt x="1544091" y="66852"/>
                  </a:lnTo>
                  <a:lnTo>
                    <a:pt x="1544091" y="50139"/>
                  </a:lnTo>
                  <a:close/>
                </a:path>
                <a:path w="7705090" h="67310">
                  <a:moveTo>
                    <a:pt x="1584515" y="0"/>
                  </a:moveTo>
                  <a:lnTo>
                    <a:pt x="1534375" y="0"/>
                  </a:lnTo>
                  <a:lnTo>
                    <a:pt x="1534375" y="16713"/>
                  </a:lnTo>
                  <a:lnTo>
                    <a:pt x="1584515" y="16713"/>
                  </a:lnTo>
                  <a:lnTo>
                    <a:pt x="1584515" y="0"/>
                  </a:lnTo>
                  <a:close/>
                </a:path>
                <a:path w="7705090" h="67310">
                  <a:moveTo>
                    <a:pt x="1627479" y="50139"/>
                  </a:moveTo>
                  <a:lnTo>
                    <a:pt x="1577340" y="50139"/>
                  </a:lnTo>
                  <a:lnTo>
                    <a:pt x="1577340" y="66852"/>
                  </a:lnTo>
                  <a:lnTo>
                    <a:pt x="1627479" y="66852"/>
                  </a:lnTo>
                  <a:lnTo>
                    <a:pt x="1627479" y="50139"/>
                  </a:lnTo>
                  <a:close/>
                </a:path>
                <a:path w="7705090" h="67310">
                  <a:moveTo>
                    <a:pt x="1667903" y="0"/>
                  </a:moveTo>
                  <a:lnTo>
                    <a:pt x="1617764" y="0"/>
                  </a:lnTo>
                  <a:lnTo>
                    <a:pt x="1617764" y="16713"/>
                  </a:lnTo>
                  <a:lnTo>
                    <a:pt x="1667903" y="16713"/>
                  </a:lnTo>
                  <a:lnTo>
                    <a:pt x="1667903" y="0"/>
                  </a:lnTo>
                  <a:close/>
                </a:path>
                <a:path w="7705090" h="67310">
                  <a:moveTo>
                    <a:pt x="1710867" y="50139"/>
                  </a:moveTo>
                  <a:lnTo>
                    <a:pt x="1660728" y="50139"/>
                  </a:lnTo>
                  <a:lnTo>
                    <a:pt x="1660728" y="66852"/>
                  </a:lnTo>
                  <a:lnTo>
                    <a:pt x="1710867" y="66852"/>
                  </a:lnTo>
                  <a:lnTo>
                    <a:pt x="1710867" y="50139"/>
                  </a:lnTo>
                  <a:close/>
                </a:path>
                <a:path w="7705090" h="67310">
                  <a:moveTo>
                    <a:pt x="1751291" y="0"/>
                  </a:moveTo>
                  <a:lnTo>
                    <a:pt x="1701152" y="0"/>
                  </a:lnTo>
                  <a:lnTo>
                    <a:pt x="1701152" y="16713"/>
                  </a:lnTo>
                  <a:lnTo>
                    <a:pt x="1751291" y="16713"/>
                  </a:lnTo>
                  <a:lnTo>
                    <a:pt x="1751291" y="0"/>
                  </a:lnTo>
                  <a:close/>
                </a:path>
                <a:path w="7705090" h="67310">
                  <a:moveTo>
                    <a:pt x="1794256" y="50139"/>
                  </a:moveTo>
                  <a:lnTo>
                    <a:pt x="1744116" y="50139"/>
                  </a:lnTo>
                  <a:lnTo>
                    <a:pt x="1744116" y="66852"/>
                  </a:lnTo>
                  <a:lnTo>
                    <a:pt x="1794256" y="66852"/>
                  </a:lnTo>
                  <a:lnTo>
                    <a:pt x="1794256" y="50139"/>
                  </a:lnTo>
                  <a:close/>
                </a:path>
                <a:path w="7705090" h="67310">
                  <a:moveTo>
                    <a:pt x="1834680" y="0"/>
                  </a:moveTo>
                  <a:lnTo>
                    <a:pt x="1784540" y="0"/>
                  </a:lnTo>
                  <a:lnTo>
                    <a:pt x="1784540" y="16713"/>
                  </a:lnTo>
                  <a:lnTo>
                    <a:pt x="1834680" y="16713"/>
                  </a:lnTo>
                  <a:lnTo>
                    <a:pt x="1834680" y="0"/>
                  </a:lnTo>
                  <a:close/>
                </a:path>
                <a:path w="7705090" h="67310">
                  <a:moveTo>
                    <a:pt x="1877644" y="50139"/>
                  </a:moveTo>
                  <a:lnTo>
                    <a:pt x="1827504" y="50139"/>
                  </a:lnTo>
                  <a:lnTo>
                    <a:pt x="1827504" y="66852"/>
                  </a:lnTo>
                  <a:lnTo>
                    <a:pt x="1877644" y="66852"/>
                  </a:lnTo>
                  <a:lnTo>
                    <a:pt x="1877644" y="50139"/>
                  </a:lnTo>
                  <a:close/>
                </a:path>
                <a:path w="7705090" h="67310">
                  <a:moveTo>
                    <a:pt x="1918068" y="0"/>
                  </a:moveTo>
                  <a:lnTo>
                    <a:pt x="1867928" y="0"/>
                  </a:lnTo>
                  <a:lnTo>
                    <a:pt x="1867928" y="16713"/>
                  </a:lnTo>
                  <a:lnTo>
                    <a:pt x="1918068" y="16713"/>
                  </a:lnTo>
                  <a:lnTo>
                    <a:pt x="1918068" y="0"/>
                  </a:lnTo>
                  <a:close/>
                </a:path>
                <a:path w="7705090" h="67310">
                  <a:moveTo>
                    <a:pt x="1961032" y="50139"/>
                  </a:moveTo>
                  <a:lnTo>
                    <a:pt x="1910892" y="50139"/>
                  </a:lnTo>
                  <a:lnTo>
                    <a:pt x="1910892" y="66852"/>
                  </a:lnTo>
                  <a:lnTo>
                    <a:pt x="1961032" y="66852"/>
                  </a:lnTo>
                  <a:lnTo>
                    <a:pt x="1961032" y="50139"/>
                  </a:lnTo>
                  <a:close/>
                </a:path>
                <a:path w="7705090" h="67310">
                  <a:moveTo>
                    <a:pt x="2001456" y="0"/>
                  </a:moveTo>
                  <a:lnTo>
                    <a:pt x="1951316" y="0"/>
                  </a:lnTo>
                  <a:lnTo>
                    <a:pt x="1951316" y="16713"/>
                  </a:lnTo>
                  <a:lnTo>
                    <a:pt x="2001456" y="16713"/>
                  </a:lnTo>
                  <a:lnTo>
                    <a:pt x="2001456" y="0"/>
                  </a:lnTo>
                  <a:close/>
                </a:path>
                <a:path w="7705090" h="67310">
                  <a:moveTo>
                    <a:pt x="2044407" y="50139"/>
                  </a:moveTo>
                  <a:lnTo>
                    <a:pt x="1994268" y="50139"/>
                  </a:lnTo>
                  <a:lnTo>
                    <a:pt x="1994268" y="66852"/>
                  </a:lnTo>
                  <a:lnTo>
                    <a:pt x="2044407" y="66852"/>
                  </a:lnTo>
                  <a:lnTo>
                    <a:pt x="2044407" y="50139"/>
                  </a:lnTo>
                  <a:close/>
                </a:path>
                <a:path w="7705090" h="67310">
                  <a:moveTo>
                    <a:pt x="2084832" y="0"/>
                  </a:moveTo>
                  <a:lnTo>
                    <a:pt x="2034692" y="0"/>
                  </a:lnTo>
                  <a:lnTo>
                    <a:pt x="2034692" y="16713"/>
                  </a:lnTo>
                  <a:lnTo>
                    <a:pt x="2084832" y="16713"/>
                  </a:lnTo>
                  <a:lnTo>
                    <a:pt x="2084832" y="0"/>
                  </a:lnTo>
                  <a:close/>
                </a:path>
                <a:path w="7705090" h="67310">
                  <a:moveTo>
                    <a:pt x="2127796" y="50139"/>
                  </a:moveTo>
                  <a:lnTo>
                    <a:pt x="2077656" y="50139"/>
                  </a:lnTo>
                  <a:lnTo>
                    <a:pt x="2077656" y="66852"/>
                  </a:lnTo>
                  <a:lnTo>
                    <a:pt x="2127796" y="66852"/>
                  </a:lnTo>
                  <a:lnTo>
                    <a:pt x="2127796" y="50139"/>
                  </a:lnTo>
                  <a:close/>
                </a:path>
                <a:path w="7705090" h="67310">
                  <a:moveTo>
                    <a:pt x="2168220" y="0"/>
                  </a:moveTo>
                  <a:lnTo>
                    <a:pt x="2118080" y="0"/>
                  </a:lnTo>
                  <a:lnTo>
                    <a:pt x="2118080" y="16713"/>
                  </a:lnTo>
                  <a:lnTo>
                    <a:pt x="2168220" y="16713"/>
                  </a:lnTo>
                  <a:lnTo>
                    <a:pt x="2168220" y="0"/>
                  </a:lnTo>
                  <a:close/>
                </a:path>
                <a:path w="7705090" h="67310">
                  <a:moveTo>
                    <a:pt x="2211184" y="50139"/>
                  </a:moveTo>
                  <a:lnTo>
                    <a:pt x="2161044" y="50139"/>
                  </a:lnTo>
                  <a:lnTo>
                    <a:pt x="2161044" y="66852"/>
                  </a:lnTo>
                  <a:lnTo>
                    <a:pt x="2211184" y="66852"/>
                  </a:lnTo>
                  <a:lnTo>
                    <a:pt x="2211184" y="50139"/>
                  </a:lnTo>
                  <a:close/>
                </a:path>
                <a:path w="7705090" h="67310">
                  <a:moveTo>
                    <a:pt x="2251608" y="0"/>
                  </a:moveTo>
                  <a:lnTo>
                    <a:pt x="2201468" y="0"/>
                  </a:lnTo>
                  <a:lnTo>
                    <a:pt x="2201468" y="16713"/>
                  </a:lnTo>
                  <a:lnTo>
                    <a:pt x="2251608" y="16713"/>
                  </a:lnTo>
                  <a:lnTo>
                    <a:pt x="2251608" y="0"/>
                  </a:lnTo>
                  <a:close/>
                </a:path>
                <a:path w="7705090" h="67310">
                  <a:moveTo>
                    <a:pt x="2294572" y="50139"/>
                  </a:moveTo>
                  <a:lnTo>
                    <a:pt x="2244433" y="50139"/>
                  </a:lnTo>
                  <a:lnTo>
                    <a:pt x="2244433" y="66852"/>
                  </a:lnTo>
                  <a:lnTo>
                    <a:pt x="2294572" y="66852"/>
                  </a:lnTo>
                  <a:lnTo>
                    <a:pt x="2294572" y="50139"/>
                  </a:lnTo>
                  <a:close/>
                </a:path>
                <a:path w="7705090" h="67310">
                  <a:moveTo>
                    <a:pt x="2334996" y="0"/>
                  </a:moveTo>
                  <a:lnTo>
                    <a:pt x="2284857" y="0"/>
                  </a:lnTo>
                  <a:lnTo>
                    <a:pt x="2284857" y="16713"/>
                  </a:lnTo>
                  <a:lnTo>
                    <a:pt x="2334996" y="16713"/>
                  </a:lnTo>
                  <a:lnTo>
                    <a:pt x="2334996" y="0"/>
                  </a:lnTo>
                  <a:close/>
                </a:path>
                <a:path w="7705090" h="67310">
                  <a:moveTo>
                    <a:pt x="2377960" y="50139"/>
                  </a:moveTo>
                  <a:lnTo>
                    <a:pt x="2327821" y="50139"/>
                  </a:lnTo>
                  <a:lnTo>
                    <a:pt x="2327821" y="66852"/>
                  </a:lnTo>
                  <a:lnTo>
                    <a:pt x="2377960" y="66852"/>
                  </a:lnTo>
                  <a:lnTo>
                    <a:pt x="2377960" y="50139"/>
                  </a:lnTo>
                  <a:close/>
                </a:path>
                <a:path w="7705090" h="67310">
                  <a:moveTo>
                    <a:pt x="2418384" y="0"/>
                  </a:moveTo>
                  <a:lnTo>
                    <a:pt x="2368245" y="0"/>
                  </a:lnTo>
                  <a:lnTo>
                    <a:pt x="2368245" y="16713"/>
                  </a:lnTo>
                  <a:lnTo>
                    <a:pt x="2418384" y="16713"/>
                  </a:lnTo>
                  <a:lnTo>
                    <a:pt x="2418384" y="0"/>
                  </a:lnTo>
                  <a:close/>
                </a:path>
                <a:path w="7705090" h="67310">
                  <a:moveTo>
                    <a:pt x="2461349" y="50139"/>
                  </a:moveTo>
                  <a:lnTo>
                    <a:pt x="2411209" y="50139"/>
                  </a:lnTo>
                  <a:lnTo>
                    <a:pt x="2411209" y="66852"/>
                  </a:lnTo>
                  <a:lnTo>
                    <a:pt x="2461349" y="66852"/>
                  </a:lnTo>
                  <a:lnTo>
                    <a:pt x="2461349" y="50139"/>
                  </a:lnTo>
                  <a:close/>
                </a:path>
                <a:path w="7705090" h="67310">
                  <a:moveTo>
                    <a:pt x="2501773" y="0"/>
                  </a:moveTo>
                  <a:lnTo>
                    <a:pt x="2451633" y="0"/>
                  </a:lnTo>
                  <a:lnTo>
                    <a:pt x="2451633" y="16713"/>
                  </a:lnTo>
                  <a:lnTo>
                    <a:pt x="2501773" y="16713"/>
                  </a:lnTo>
                  <a:lnTo>
                    <a:pt x="2501773" y="0"/>
                  </a:lnTo>
                  <a:close/>
                </a:path>
                <a:path w="7705090" h="67310">
                  <a:moveTo>
                    <a:pt x="2544737" y="50139"/>
                  </a:moveTo>
                  <a:lnTo>
                    <a:pt x="2494584" y="50139"/>
                  </a:lnTo>
                  <a:lnTo>
                    <a:pt x="2494584" y="66852"/>
                  </a:lnTo>
                  <a:lnTo>
                    <a:pt x="2544737" y="66852"/>
                  </a:lnTo>
                  <a:lnTo>
                    <a:pt x="2544737" y="50139"/>
                  </a:lnTo>
                  <a:close/>
                </a:path>
                <a:path w="7705090" h="67310">
                  <a:moveTo>
                    <a:pt x="2585161" y="0"/>
                  </a:moveTo>
                  <a:lnTo>
                    <a:pt x="2535009" y="0"/>
                  </a:lnTo>
                  <a:lnTo>
                    <a:pt x="2535009" y="16713"/>
                  </a:lnTo>
                  <a:lnTo>
                    <a:pt x="2585161" y="16713"/>
                  </a:lnTo>
                  <a:lnTo>
                    <a:pt x="2585161" y="0"/>
                  </a:lnTo>
                  <a:close/>
                </a:path>
                <a:path w="7705090" h="67310">
                  <a:moveTo>
                    <a:pt x="2628112" y="50139"/>
                  </a:moveTo>
                  <a:lnTo>
                    <a:pt x="2577973" y="50139"/>
                  </a:lnTo>
                  <a:lnTo>
                    <a:pt x="2577973" y="66852"/>
                  </a:lnTo>
                  <a:lnTo>
                    <a:pt x="2628112" y="66852"/>
                  </a:lnTo>
                  <a:lnTo>
                    <a:pt x="2628112" y="50139"/>
                  </a:lnTo>
                  <a:close/>
                </a:path>
                <a:path w="7705090" h="67310">
                  <a:moveTo>
                    <a:pt x="2668536" y="0"/>
                  </a:moveTo>
                  <a:lnTo>
                    <a:pt x="2618397" y="0"/>
                  </a:lnTo>
                  <a:lnTo>
                    <a:pt x="2618397" y="16713"/>
                  </a:lnTo>
                  <a:lnTo>
                    <a:pt x="2668536" y="16713"/>
                  </a:lnTo>
                  <a:lnTo>
                    <a:pt x="2668536" y="0"/>
                  </a:lnTo>
                  <a:close/>
                </a:path>
                <a:path w="7705090" h="67310">
                  <a:moveTo>
                    <a:pt x="2711500" y="50139"/>
                  </a:moveTo>
                  <a:lnTo>
                    <a:pt x="2661361" y="50139"/>
                  </a:lnTo>
                  <a:lnTo>
                    <a:pt x="2661361" y="66852"/>
                  </a:lnTo>
                  <a:lnTo>
                    <a:pt x="2711500" y="66852"/>
                  </a:lnTo>
                  <a:lnTo>
                    <a:pt x="2711500" y="50139"/>
                  </a:lnTo>
                  <a:close/>
                </a:path>
                <a:path w="7705090" h="67310">
                  <a:moveTo>
                    <a:pt x="2751925" y="0"/>
                  </a:moveTo>
                  <a:lnTo>
                    <a:pt x="2701785" y="0"/>
                  </a:lnTo>
                  <a:lnTo>
                    <a:pt x="2701785" y="16713"/>
                  </a:lnTo>
                  <a:lnTo>
                    <a:pt x="2751925" y="16713"/>
                  </a:lnTo>
                  <a:lnTo>
                    <a:pt x="2751925" y="0"/>
                  </a:lnTo>
                  <a:close/>
                </a:path>
                <a:path w="7705090" h="67310">
                  <a:moveTo>
                    <a:pt x="2794889" y="50139"/>
                  </a:moveTo>
                  <a:lnTo>
                    <a:pt x="2744749" y="50139"/>
                  </a:lnTo>
                  <a:lnTo>
                    <a:pt x="2744749" y="66852"/>
                  </a:lnTo>
                  <a:lnTo>
                    <a:pt x="2794889" y="66852"/>
                  </a:lnTo>
                  <a:lnTo>
                    <a:pt x="2794889" y="50139"/>
                  </a:lnTo>
                  <a:close/>
                </a:path>
                <a:path w="7705090" h="67310">
                  <a:moveTo>
                    <a:pt x="2835313" y="0"/>
                  </a:moveTo>
                  <a:lnTo>
                    <a:pt x="2785173" y="0"/>
                  </a:lnTo>
                  <a:lnTo>
                    <a:pt x="2785173" y="16713"/>
                  </a:lnTo>
                  <a:lnTo>
                    <a:pt x="2835313" y="16713"/>
                  </a:lnTo>
                  <a:lnTo>
                    <a:pt x="2835313" y="0"/>
                  </a:lnTo>
                  <a:close/>
                </a:path>
                <a:path w="7705090" h="67310">
                  <a:moveTo>
                    <a:pt x="2878277" y="50139"/>
                  </a:moveTo>
                  <a:lnTo>
                    <a:pt x="2828137" y="50139"/>
                  </a:lnTo>
                  <a:lnTo>
                    <a:pt x="2828137" y="66852"/>
                  </a:lnTo>
                  <a:lnTo>
                    <a:pt x="2878277" y="66852"/>
                  </a:lnTo>
                  <a:lnTo>
                    <a:pt x="2878277" y="50139"/>
                  </a:lnTo>
                  <a:close/>
                </a:path>
                <a:path w="7705090" h="67310">
                  <a:moveTo>
                    <a:pt x="2918701" y="0"/>
                  </a:moveTo>
                  <a:lnTo>
                    <a:pt x="2868561" y="0"/>
                  </a:lnTo>
                  <a:lnTo>
                    <a:pt x="2868561" y="16713"/>
                  </a:lnTo>
                  <a:lnTo>
                    <a:pt x="2918701" y="16713"/>
                  </a:lnTo>
                  <a:lnTo>
                    <a:pt x="2918701" y="0"/>
                  </a:lnTo>
                  <a:close/>
                </a:path>
                <a:path w="7705090" h="67310">
                  <a:moveTo>
                    <a:pt x="2961665" y="50139"/>
                  </a:moveTo>
                  <a:lnTo>
                    <a:pt x="2911525" y="50139"/>
                  </a:lnTo>
                  <a:lnTo>
                    <a:pt x="2911525" y="66852"/>
                  </a:lnTo>
                  <a:lnTo>
                    <a:pt x="2961665" y="66852"/>
                  </a:lnTo>
                  <a:lnTo>
                    <a:pt x="2961665" y="50139"/>
                  </a:lnTo>
                  <a:close/>
                </a:path>
                <a:path w="7705090" h="67310">
                  <a:moveTo>
                    <a:pt x="3002089" y="0"/>
                  </a:moveTo>
                  <a:lnTo>
                    <a:pt x="2951950" y="0"/>
                  </a:lnTo>
                  <a:lnTo>
                    <a:pt x="2951950" y="16713"/>
                  </a:lnTo>
                  <a:lnTo>
                    <a:pt x="3002089" y="16713"/>
                  </a:lnTo>
                  <a:lnTo>
                    <a:pt x="3002089" y="0"/>
                  </a:lnTo>
                  <a:close/>
                </a:path>
                <a:path w="7705090" h="67310">
                  <a:moveTo>
                    <a:pt x="3045053" y="50139"/>
                  </a:moveTo>
                  <a:lnTo>
                    <a:pt x="2994914" y="50139"/>
                  </a:lnTo>
                  <a:lnTo>
                    <a:pt x="2994914" y="66852"/>
                  </a:lnTo>
                  <a:lnTo>
                    <a:pt x="3045053" y="66852"/>
                  </a:lnTo>
                  <a:lnTo>
                    <a:pt x="3045053" y="50139"/>
                  </a:lnTo>
                  <a:close/>
                </a:path>
                <a:path w="7705090" h="67310">
                  <a:moveTo>
                    <a:pt x="3085477" y="0"/>
                  </a:moveTo>
                  <a:lnTo>
                    <a:pt x="3035338" y="0"/>
                  </a:lnTo>
                  <a:lnTo>
                    <a:pt x="3035338" y="16713"/>
                  </a:lnTo>
                  <a:lnTo>
                    <a:pt x="3085477" y="16713"/>
                  </a:lnTo>
                  <a:lnTo>
                    <a:pt x="3085477" y="0"/>
                  </a:lnTo>
                  <a:close/>
                </a:path>
                <a:path w="7705090" h="67310">
                  <a:moveTo>
                    <a:pt x="3128429" y="50139"/>
                  </a:moveTo>
                  <a:lnTo>
                    <a:pt x="3078289" y="50139"/>
                  </a:lnTo>
                  <a:lnTo>
                    <a:pt x="3078289" y="66852"/>
                  </a:lnTo>
                  <a:lnTo>
                    <a:pt x="3128429" y="66852"/>
                  </a:lnTo>
                  <a:lnTo>
                    <a:pt x="3128429" y="50139"/>
                  </a:lnTo>
                  <a:close/>
                </a:path>
                <a:path w="7705090" h="67310">
                  <a:moveTo>
                    <a:pt x="3168853" y="0"/>
                  </a:moveTo>
                  <a:lnTo>
                    <a:pt x="3118713" y="0"/>
                  </a:lnTo>
                  <a:lnTo>
                    <a:pt x="3118713" y="16713"/>
                  </a:lnTo>
                  <a:lnTo>
                    <a:pt x="3168853" y="16713"/>
                  </a:lnTo>
                  <a:lnTo>
                    <a:pt x="3168853" y="0"/>
                  </a:lnTo>
                  <a:close/>
                </a:path>
                <a:path w="7705090" h="67310">
                  <a:moveTo>
                    <a:pt x="3211817" y="50139"/>
                  </a:moveTo>
                  <a:lnTo>
                    <a:pt x="3161677" y="50139"/>
                  </a:lnTo>
                  <a:lnTo>
                    <a:pt x="3161677" y="66852"/>
                  </a:lnTo>
                  <a:lnTo>
                    <a:pt x="3211817" y="66852"/>
                  </a:lnTo>
                  <a:lnTo>
                    <a:pt x="3211817" y="50139"/>
                  </a:lnTo>
                  <a:close/>
                </a:path>
                <a:path w="7705090" h="67310">
                  <a:moveTo>
                    <a:pt x="3252241" y="0"/>
                  </a:moveTo>
                  <a:lnTo>
                    <a:pt x="3202101" y="0"/>
                  </a:lnTo>
                  <a:lnTo>
                    <a:pt x="3202101" y="16713"/>
                  </a:lnTo>
                  <a:lnTo>
                    <a:pt x="3252241" y="16713"/>
                  </a:lnTo>
                  <a:lnTo>
                    <a:pt x="3252241" y="0"/>
                  </a:lnTo>
                  <a:close/>
                </a:path>
                <a:path w="7705090" h="67310">
                  <a:moveTo>
                    <a:pt x="3295205" y="50139"/>
                  </a:moveTo>
                  <a:lnTo>
                    <a:pt x="3245066" y="50139"/>
                  </a:lnTo>
                  <a:lnTo>
                    <a:pt x="3245066" y="66852"/>
                  </a:lnTo>
                  <a:lnTo>
                    <a:pt x="3295205" y="66852"/>
                  </a:lnTo>
                  <a:lnTo>
                    <a:pt x="3295205" y="50139"/>
                  </a:lnTo>
                  <a:close/>
                </a:path>
                <a:path w="7705090" h="67310">
                  <a:moveTo>
                    <a:pt x="3335629" y="0"/>
                  </a:moveTo>
                  <a:lnTo>
                    <a:pt x="3285490" y="0"/>
                  </a:lnTo>
                  <a:lnTo>
                    <a:pt x="3285490" y="16713"/>
                  </a:lnTo>
                  <a:lnTo>
                    <a:pt x="3335629" y="16713"/>
                  </a:lnTo>
                  <a:lnTo>
                    <a:pt x="3335629" y="0"/>
                  </a:lnTo>
                  <a:close/>
                </a:path>
                <a:path w="7705090" h="67310">
                  <a:moveTo>
                    <a:pt x="3378593" y="50139"/>
                  </a:moveTo>
                  <a:lnTo>
                    <a:pt x="3328454" y="50139"/>
                  </a:lnTo>
                  <a:lnTo>
                    <a:pt x="3328454" y="66852"/>
                  </a:lnTo>
                  <a:lnTo>
                    <a:pt x="3378593" y="66852"/>
                  </a:lnTo>
                  <a:lnTo>
                    <a:pt x="3378593" y="50139"/>
                  </a:lnTo>
                  <a:close/>
                </a:path>
                <a:path w="7705090" h="67310">
                  <a:moveTo>
                    <a:pt x="3419017" y="0"/>
                  </a:moveTo>
                  <a:lnTo>
                    <a:pt x="3368878" y="0"/>
                  </a:lnTo>
                  <a:lnTo>
                    <a:pt x="3368878" y="16713"/>
                  </a:lnTo>
                  <a:lnTo>
                    <a:pt x="3419017" y="16713"/>
                  </a:lnTo>
                  <a:lnTo>
                    <a:pt x="3419017" y="0"/>
                  </a:lnTo>
                  <a:close/>
                </a:path>
                <a:path w="7705090" h="67310">
                  <a:moveTo>
                    <a:pt x="3461982" y="50139"/>
                  </a:moveTo>
                  <a:lnTo>
                    <a:pt x="3411842" y="50139"/>
                  </a:lnTo>
                  <a:lnTo>
                    <a:pt x="3411842" y="66852"/>
                  </a:lnTo>
                  <a:lnTo>
                    <a:pt x="3461982" y="66852"/>
                  </a:lnTo>
                  <a:lnTo>
                    <a:pt x="3461982" y="50139"/>
                  </a:lnTo>
                  <a:close/>
                </a:path>
                <a:path w="7705090" h="67310">
                  <a:moveTo>
                    <a:pt x="3502406" y="0"/>
                  </a:moveTo>
                  <a:lnTo>
                    <a:pt x="3452266" y="0"/>
                  </a:lnTo>
                  <a:lnTo>
                    <a:pt x="3452266" y="16713"/>
                  </a:lnTo>
                  <a:lnTo>
                    <a:pt x="3502406" y="16713"/>
                  </a:lnTo>
                  <a:lnTo>
                    <a:pt x="3502406" y="0"/>
                  </a:lnTo>
                  <a:close/>
                </a:path>
                <a:path w="7705090" h="67310">
                  <a:moveTo>
                    <a:pt x="3545370" y="50139"/>
                  </a:moveTo>
                  <a:lnTo>
                    <a:pt x="3495230" y="50139"/>
                  </a:lnTo>
                  <a:lnTo>
                    <a:pt x="3495230" y="66852"/>
                  </a:lnTo>
                  <a:lnTo>
                    <a:pt x="3545370" y="66852"/>
                  </a:lnTo>
                  <a:lnTo>
                    <a:pt x="3545370" y="50139"/>
                  </a:lnTo>
                  <a:close/>
                </a:path>
                <a:path w="7705090" h="67310">
                  <a:moveTo>
                    <a:pt x="3585794" y="0"/>
                  </a:moveTo>
                  <a:lnTo>
                    <a:pt x="3535654" y="0"/>
                  </a:lnTo>
                  <a:lnTo>
                    <a:pt x="3535654" y="16713"/>
                  </a:lnTo>
                  <a:lnTo>
                    <a:pt x="3585794" y="16713"/>
                  </a:lnTo>
                  <a:lnTo>
                    <a:pt x="3585794" y="0"/>
                  </a:lnTo>
                  <a:close/>
                </a:path>
                <a:path w="7705090" h="67310">
                  <a:moveTo>
                    <a:pt x="3628758" y="50139"/>
                  </a:moveTo>
                  <a:lnTo>
                    <a:pt x="3578618" y="50139"/>
                  </a:lnTo>
                  <a:lnTo>
                    <a:pt x="3578618" y="66852"/>
                  </a:lnTo>
                  <a:lnTo>
                    <a:pt x="3628758" y="66852"/>
                  </a:lnTo>
                  <a:lnTo>
                    <a:pt x="3628758" y="50139"/>
                  </a:lnTo>
                  <a:close/>
                </a:path>
                <a:path w="7705090" h="67310">
                  <a:moveTo>
                    <a:pt x="3669182" y="0"/>
                  </a:moveTo>
                  <a:lnTo>
                    <a:pt x="3619042" y="0"/>
                  </a:lnTo>
                  <a:lnTo>
                    <a:pt x="3619042" y="16713"/>
                  </a:lnTo>
                  <a:lnTo>
                    <a:pt x="3669182" y="16713"/>
                  </a:lnTo>
                  <a:lnTo>
                    <a:pt x="3669182" y="0"/>
                  </a:lnTo>
                  <a:close/>
                </a:path>
                <a:path w="7705090" h="67310">
                  <a:moveTo>
                    <a:pt x="3712146" y="50139"/>
                  </a:moveTo>
                  <a:lnTo>
                    <a:pt x="3661994" y="50139"/>
                  </a:lnTo>
                  <a:lnTo>
                    <a:pt x="3661994" y="66852"/>
                  </a:lnTo>
                  <a:lnTo>
                    <a:pt x="3712146" y="66852"/>
                  </a:lnTo>
                  <a:lnTo>
                    <a:pt x="3712146" y="50139"/>
                  </a:lnTo>
                  <a:close/>
                </a:path>
                <a:path w="7705090" h="67310">
                  <a:moveTo>
                    <a:pt x="3752558" y="0"/>
                  </a:moveTo>
                  <a:lnTo>
                    <a:pt x="3702418" y="0"/>
                  </a:lnTo>
                  <a:lnTo>
                    <a:pt x="3702418" y="16713"/>
                  </a:lnTo>
                  <a:lnTo>
                    <a:pt x="3752558" y="16713"/>
                  </a:lnTo>
                  <a:lnTo>
                    <a:pt x="3752558" y="0"/>
                  </a:lnTo>
                  <a:close/>
                </a:path>
                <a:path w="7705090" h="67310">
                  <a:moveTo>
                    <a:pt x="3795522" y="50139"/>
                  </a:moveTo>
                  <a:lnTo>
                    <a:pt x="3745382" y="50139"/>
                  </a:lnTo>
                  <a:lnTo>
                    <a:pt x="3745382" y="66852"/>
                  </a:lnTo>
                  <a:lnTo>
                    <a:pt x="3795522" y="66852"/>
                  </a:lnTo>
                  <a:lnTo>
                    <a:pt x="3795522" y="50139"/>
                  </a:lnTo>
                  <a:close/>
                </a:path>
                <a:path w="7705090" h="67310">
                  <a:moveTo>
                    <a:pt x="3835946" y="0"/>
                  </a:moveTo>
                  <a:lnTo>
                    <a:pt x="3785806" y="0"/>
                  </a:lnTo>
                  <a:lnTo>
                    <a:pt x="3785806" y="16713"/>
                  </a:lnTo>
                  <a:lnTo>
                    <a:pt x="3835946" y="16713"/>
                  </a:lnTo>
                  <a:lnTo>
                    <a:pt x="3835946" y="0"/>
                  </a:lnTo>
                  <a:close/>
                </a:path>
                <a:path w="7705090" h="67310">
                  <a:moveTo>
                    <a:pt x="3878910" y="50139"/>
                  </a:moveTo>
                  <a:lnTo>
                    <a:pt x="3828770" y="50139"/>
                  </a:lnTo>
                  <a:lnTo>
                    <a:pt x="3828770" y="66852"/>
                  </a:lnTo>
                  <a:lnTo>
                    <a:pt x="3878910" y="66852"/>
                  </a:lnTo>
                  <a:lnTo>
                    <a:pt x="3878910" y="50139"/>
                  </a:lnTo>
                  <a:close/>
                </a:path>
                <a:path w="7705090" h="67310">
                  <a:moveTo>
                    <a:pt x="3919334" y="0"/>
                  </a:moveTo>
                  <a:lnTo>
                    <a:pt x="3869194" y="0"/>
                  </a:lnTo>
                  <a:lnTo>
                    <a:pt x="3869194" y="16713"/>
                  </a:lnTo>
                  <a:lnTo>
                    <a:pt x="3919334" y="16713"/>
                  </a:lnTo>
                  <a:lnTo>
                    <a:pt x="3919334" y="0"/>
                  </a:lnTo>
                  <a:close/>
                </a:path>
                <a:path w="7705090" h="67310">
                  <a:moveTo>
                    <a:pt x="3962298" y="50139"/>
                  </a:moveTo>
                  <a:lnTo>
                    <a:pt x="3912158" y="50139"/>
                  </a:lnTo>
                  <a:lnTo>
                    <a:pt x="3912158" y="66852"/>
                  </a:lnTo>
                  <a:lnTo>
                    <a:pt x="3962298" y="66852"/>
                  </a:lnTo>
                  <a:lnTo>
                    <a:pt x="3962298" y="50139"/>
                  </a:lnTo>
                  <a:close/>
                </a:path>
                <a:path w="7705090" h="67310">
                  <a:moveTo>
                    <a:pt x="4002722" y="0"/>
                  </a:moveTo>
                  <a:lnTo>
                    <a:pt x="3952583" y="0"/>
                  </a:lnTo>
                  <a:lnTo>
                    <a:pt x="3952583" y="16713"/>
                  </a:lnTo>
                  <a:lnTo>
                    <a:pt x="4002722" y="16713"/>
                  </a:lnTo>
                  <a:lnTo>
                    <a:pt x="4002722" y="0"/>
                  </a:lnTo>
                  <a:close/>
                </a:path>
                <a:path w="7705090" h="67310">
                  <a:moveTo>
                    <a:pt x="4045686" y="50139"/>
                  </a:moveTo>
                  <a:lnTo>
                    <a:pt x="3995547" y="50139"/>
                  </a:lnTo>
                  <a:lnTo>
                    <a:pt x="3995547" y="66852"/>
                  </a:lnTo>
                  <a:lnTo>
                    <a:pt x="4045686" y="66852"/>
                  </a:lnTo>
                  <a:lnTo>
                    <a:pt x="4045686" y="50139"/>
                  </a:lnTo>
                  <a:close/>
                </a:path>
                <a:path w="7705090" h="67310">
                  <a:moveTo>
                    <a:pt x="4086110" y="0"/>
                  </a:moveTo>
                  <a:lnTo>
                    <a:pt x="4035971" y="0"/>
                  </a:lnTo>
                  <a:lnTo>
                    <a:pt x="4035971" y="16713"/>
                  </a:lnTo>
                  <a:lnTo>
                    <a:pt x="4086110" y="16713"/>
                  </a:lnTo>
                  <a:lnTo>
                    <a:pt x="4086110" y="0"/>
                  </a:lnTo>
                  <a:close/>
                </a:path>
                <a:path w="7705090" h="67310">
                  <a:moveTo>
                    <a:pt x="4129074" y="50139"/>
                  </a:moveTo>
                  <a:lnTo>
                    <a:pt x="4078935" y="50139"/>
                  </a:lnTo>
                  <a:lnTo>
                    <a:pt x="4078935" y="66852"/>
                  </a:lnTo>
                  <a:lnTo>
                    <a:pt x="4129074" y="66852"/>
                  </a:lnTo>
                  <a:lnTo>
                    <a:pt x="4129074" y="50139"/>
                  </a:lnTo>
                  <a:close/>
                </a:path>
                <a:path w="7705090" h="67310">
                  <a:moveTo>
                    <a:pt x="4169499" y="0"/>
                  </a:moveTo>
                  <a:lnTo>
                    <a:pt x="4119359" y="0"/>
                  </a:lnTo>
                  <a:lnTo>
                    <a:pt x="4119359" y="16713"/>
                  </a:lnTo>
                  <a:lnTo>
                    <a:pt x="4169499" y="16713"/>
                  </a:lnTo>
                  <a:lnTo>
                    <a:pt x="4169499" y="0"/>
                  </a:lnTo>
                  <a:close/>
                </a:path>
                <a:path w="7705090" h="67310">
                  <a:moveTo>
                    <a:pt x="4212463" y="50139"/>
                  </a:moveTo>
                  <a:lnTo>
                    <a:pt x="4162323" y="50139"/>
                  </a:lnTo>
                  <a:lnTo>
                    <a:pt x="4162323" y="66852"/>
                  </a:lnTo>
                  <a:lnTo>
                    <a:pt x="4212463" y="66852"/>
                  </a:lnTo>
                  <a:lnTo>
                    <a:pt x="4212463" y="50139"/>
                  </a:lnTo>
                  <a:close/>
                </a:path>
                <a:path w="7705090" h="67310">
                  <a:moveTo>
                    <a:pt x="4252887" y="0"/>
                  </a:moveTo>
                  <a:lnTo>
                    <a:pt x="4202747" y="0"/>
                  </a:lnTo>
                  <a:lnTo>
                    <a:pt x="4202747" y="16713"/>
                  </a:lnTo>
                  <a:lnTo>
                    <a:pt x="4252887" y="16713"/>
                  </a:lnTo>
                  <a:lnTo>
                    <a:pt x="4252887" y="0"/>
                  </a:lnTo>
                  <a:close/>
                </a:path>
                <a:path w="7705090" h="67310">
                  <a:moveTo>
                    <a:pt x="4295838" y="50139"/>
                  </a:moveTo>
                  <a:lnTo>
                    <a:pt x="4245699" y="50139"/>
                  </a:lnTo>
                  <a:lnTo>
                    <a:pt x="4245699" y="66852"/>
                  </a:lnTo>
                  <a:lnTo>
                    <a:pt x="4295838" y="66852"/>
                  </a:lnTo>
                  <a:lnTo>
                    <a:pt x="4295838" y="50139"/>
                  </a:lnTo>
                  <a:close/>
                </a:path>
                <a:path w="7705090" h="67310">
                  <a:moveTo>
                    <a:pt x="4336262" y="0"/>
                  </a:moveTo>
                  <a:lnTo>
                    <a:pt x="4286123" y="0"/>
                  </a:lnTo>
                  <a:lnTo>
                    <a:pt x="4286123" y="16713"/>
                  </a:lnTo>
                  <a:lnTo>
                    <a:pt x="4336262" y="16713"/>
                  </a:lnTo>
                  <a:lnTo>
                    <a:pt x="4336262" y="0"/>
                  </a:lnTo>
                  <a:close/>
                </a:path>
                <a:path w="7705090" h="67310">
                  <a:moveTo>
                    <a:pt x="4379226" y="50139"/>
                  </a:moveTo>
                  <a:lnTo>
                    <a:pt x="4329087" y="50139"/>
                  </a:lnTo>
                  <a:lnTo>
                    <a:pt x="4329087" y="66852"/>
                  </a:lnTo>
                  <a:lnTo>
                    <a:pt x="4379226" y="66852"/>
                  </a:lnTo>
                  <a:lnTo>
                    <a:pt x="4379226" y="50139"/>
                  </a:lnTo>
                  <a:close/>
                </a:path>
                <a:path w="7705090" h="67310">
                  <a:moveTo>
                    <a:pt x="4419651" y="0"/>
                  </a:moveTo>
                  <a:lnTo>
                    <a:pt x="4369511" y="0"/>
                  </a:lnTo>
                  <a:lnTo>
                    <a:pt x="4369511" y="16713"/>
                  </a:lnTo>
                  <a:lnTo>
                    <a:pt x="4419651" y="16713"/>
                  </a:lnTo>
                  <a:lnTo>
                    <a:pt x="4419651" y="0"/>
                  </a:lnTo>
                  <a:close/>
                </a:path>
                <a:path w="7705090" h="67310">
                  <a:moveTo>
                    <a:pt x="4462615" y="50139"/>
                  </a:moveTo>
                  <a:lnTo>
                    <a:pt x="4412475" y="50139"/>
                  </a:lnTo>
                  <a:lnTo>
                    <a:pt x="4412475" y="66852"/>
                  </a:lnTo>
                  <a:lnTo>
                    <a:pt x="4462615" y="66852"/>
                  </a:lnTo>
                  <a:lnTo>
                    <a:pt x="4462615" y="50139"/>
                  </a:lnTo>
                  <a:close/>
                </a:path>
                <a:path w="7705090" h="67310">
                  <a:moveTo>
                    <a:pt x="4503039" y="0"/>
                  </a:moveTo>
                  <a:lnTo>
                    <a:pt x="4452899" y="0"/>
                  </a:lnTo>
                  <a:lnTo>
                    <a:pt x="4452899" y="16713"/>
                  </a:lnTo>
                  <a:lnTo>
                    <a:pt x="4503039" y="16713"/>
                  </a:lnTo>
                  <a:lnTo>
                    <a:pt x="4503039" y="0"/>
                  </a:lnTo>
                  <a:close/>
                </a:path>
                <a:path w="7705090" h="67310">
                  <a:moveTo>
                    <a:pt x="4546003" y="50139"/>
                  </a:moveTo>
                  <a:lnTo>
                    <a:pt x="4495863" y="50139"/>
                  </a:lnTo>
                  <a:lnTo>
                    <a:pt x="4495863" y="66852"/>
                  </a:lnTo>
                  <a:lnTo>
                    <a:pt x="4546003" y="66852"/>
                  </a:lnTo>
                  <a:lnTo>
                    <a:pt x="4546003" y="50139"/>
                  </a:lnTo>
                  <a:close/>
                </a:path>
                <a:path w="7705090" h="67310">
                  <a:moveTo>
                    <a:pt x="4586427" y="0"/>
                  </a:moveTo>
                  <a:lnTo>
                    <a:pt x="4536287" y="0"/>
                  </a:lnTo>
                  <a:lnTo>
                    <a:pt x="4536287" y="16713"/>
                  </a:lnTo>
                  <a:lnTo>
                    <a:pt x="4586427" y="16713"/>
                  </a:lnTo>
                  <a:lnTo>
                    <a:pt x="4586427" y="0"/>
                  </a:lnTo>
                  <a:close/>
                </a:path>
                <a:path w="7705090" h="67310">
                  <a:moveTo>
                    <a:pt x="4629391" y="50139"/>
                  </a:moveTo>
                  <a:lnTo>
                    <a:pt x="4579251" y="50139"/>
                  </a:lnTo>
                  <a:lnTo>
                    <a:pt x="4579251" y="66852"/>
                  </a:lnTo>
                  <a:lnTo>
                    <a:pt x="4629391" y="66852"/>
                  </a:lnTo>
                  <a:lnTo>
                    <a:pt x="4629391" y="50139"/>
                  </a:lnTo>
                  <a:close/>
                </a:path>
                <a:path w="7705090" h="67310">
                  <a:moveTo>
                    <a:pt x="4669815" y="0"/>
                  </a:moveTo>
                  <a:lnTo>
                    <a:pt x="4619676" y="0"/>
                  </a:lnTo>
                  <a:lnTo>
                    <a:pt x="4619676" y="16713"/>
                  </a:lnTo>
                  <a:lnTo>
                    <a:pt x="4669815" y="16713"/>
                  </a:lnTo>
                  <a:lnTo>
                    <a:pt x="4669815" y="0"/>
                  </a:lnTo>
                  <a:close/>
                </a:path>
                <a:path w="7705090" h="67310">
                  <a:moveTo>
                    <a:pt x="4712779" y="50139"/>
                  </a:moveTo>
                  <a:lnTo>
                    <a:pt x="4662640" y="50139"/>
                  </a:lnTo>
                  <a:lnTo>
                    <a:pt x="4662640" y="66852"/>
                  </a:lnTo>
                  <a:lnTo>
                    <a:pt x="4712779" y="66852"/>
                  </a:lnTo>
                  <a:lnTo>
                    <a:pt x="4712779" y="50139"/>
                  </a:lnTo>
                  <a:close/>
                </a:path>
                <a:path w="7705090" h="67310">
                  <a:moveTo>
                    <a:pt x="4753203" y="0"/>
                  </a:moveTo>
                  <a:lnTo>
                    <a:pt x="4703064" y="0"/>
                  </a:lnTo>
                  <a:lnTo>
                    <a:pt x="4703064" y="16713"/>
                  </a:lnTo>
                  <a:lnTo>
                    <a:pt x="4753203" y="16713"/>
                  </a:lnTo>
                  <a:lnTo>
                    <a:pt x="4753203" y="0"/>
                  </a:lnTo>
                  <a:close/>
                </a:path>
                <a:path w="7705090" h="67310">
                  <a:moveTo>
                    <a:pt x="4796167" y="50139"/>
                  </a:moveTo>
                  <a:lnTo>
                    <a:pt x="4746028" y="50139"/>
                  </a:lnTo>
                  <a:lnTo>
                    <a:pt x="4746028" y="66852"/>
                  </a:lnTo>
                  <a:lnTo>
                    <a:pt x="4796167" y="66852"/>
                  </a:lnTo>
                  <a:lnTo>
                    <a:pt x="4796167" y="50139"/>
                  </a:lnTo>
                  <a:close/>
                </a:path>
                <a:path w="7705090" h="67310">
                  <a:moveTo>
                    <a:pt x="4836592" y="0"/>
                  </a:moveTo>
                  <a:lnTo>
                    <a:pt x="4786439" y="0"/>
                  </a:lnTo>
                  <a:lnTo>
                    <a:pt x="4786439" y="16713"/>
                  </a:lnTo>
                  <a:lnTo>
                    <a:pt x="4836592" y="16713"/>
                  </a:lnTo>
                  <a:lnTo>
                    <a:pt x="4836592" y="0"/>
                  </a:lnTo>
                  <a:close/>
                </a:path>
                <a:path w="7705090" h="67310">
                  <a:moveTo>
                    <a:pt x="4879543" y="50139"/>
                  </a:moveTo>
                  <a:lnTo>
                    <a:pt x="4829403" y="50139"/>
                  </a:lnTo>
                  <a:lnTo>
                    <a:pt x="4829403" y="66852"/>
                  </a:lnTo>
                  <a:lnTo>
                    <a:pt x="4879543" y="66852"/>
                  </a:lnTo>
                  <a:lnTo>
                    <a:pt x="4879543" y="50139"/>
                  </a:lnTo>
                  <a:close/>
                </a:path>
                <a:path w="7705090" h="67310">
                  <a:moveTo>
                    <a:pt x="4919967" y="0"/>
                  </a:moveTo>
                  <a:lnTo>
                    <a:pt x="4869827" y="0"/>
                  </a:lnTo>
                  <a:lnTo>
                    <a:pt x="4869827" y="16713"/>
                  </a:lnTo>
                  <a:lnTo>
                    <a:pt x="4919967" y="16713"/>
                  </a:lnTo>
                  <a:lnTo>
                    <a:pt x="4919967" y="0"/>
                  </a:lnTo>
                  <a:close/>
                </a:path>
                <a:path w="7705090" h="67310">
                  <a:moveTo>
                    <a:pt x="4962931" y="50139"/>
                  </a:moveTo>
                  <a:lnTo>
                    <a:pt x="4912792" y="50139"/>
                  </a:lnTo>
                  <a:lnTo>
                    <a:pt x="4912792" y="66852"/>
                  </a:lnTo>
                  <a:lnTo>
                    <a:pt x="4962931" y="66852"/>
                  </a:lnTo>
                  <a:lnTo>
                    <a:pt x="4962931" y="50139"/>
                  </a:lnTo>
                  <a:close/>
                </a:path>
                <a:path w="7705090" h="67310">
                  <a:moveTo>
                    <a:pt x="5003355" y="0"/>
                  </a:moveTo>
                  <a:lnTo>
                    <a:pt x="4953216" y="0"/>
                  </a:lnTo>
                  <a:lnTo>
                    <a:pt x="4953216" y="16713"/>
                  </a:lnTo>
                  <a:lnTo>
                    <a:pt x="5003355" y="16713"/>
                  </a:lnTo>
                  <a:lnTo>
                    <a:pt x="5003355" y="0"/>
                  </a:lnTo>
                  <a:close/>
                </a:path>
                <a:path w="7705090" h="67310">
                  <a:moveTo>
                    <a:pt x="5046319" y="50139"/>
                  </a:moveTo>
                  <a:lnTo>
                    <a:pt x="4996180" y="50139"/>
                  </a:lnTo>
                  <a:lnTo>
                    <a:pt x="4996180" y="66852"/>
                  </a:lnTo>
                  <a:lnTo>
                    <a:pt x="5046319" y="66852"/>
                  </a:lnTo>
                  <a:lnTo>
                    <a:pt x="5046319" y="50139"/>
                  </a:lnTo>
                  <a:close/>
                </a:path>
                <a:path w="7705090" h="67310">
                  <a:moveTo>
                    <a:pt x="5086743" y="0"/>
                  </a:moveTo>
                  <a:lnTo>
                    <a:pt x="5036604" y="0"/>
                  </a:lnTo>
                  <a:lnTo>
                    <a:pt x="5036604" y="16713"/>
                  </a:lnTo>
                  <a:lnTo>
                    <a:pt x="5086743" y="16713"/>
                  </a:lnTo>
                  <a:lnTo>
                    <a:pt x="5086743" y="0"/>
                  </a:lnTo>
                  <a:close/>
                </a:path>
                <a:path w="7705090" h="67310">
                  <a:moveTo>
                    <a:pt x="5129708" y="50139"/>
                  </a:moveTo>
                  <a:lnTo>
                    <a:pt x="5079568" y="50139"/>
                  </a:lnTo>
                  <a:lnTo>
                    <a:pt x="5079568" y="66852"/>
                  </a:lnTo>
                  <a:lnTo>
                    <a:pt x="5129708" y="66852"/>
                  </a:lnTo>
                  <a:lnTo>
                    <a:pt x="5129708" y="50139"/>
                  </a:lnTo>
                  <a:close/>
                </a:path>
                <a:path w="7705090" h="67310">
                  <a:moveTo>
                    <a:pt x="5170132" y="0"/>
                  </a:moveTo>
                  <a:lnTo>
                    <a:pt x="5119992" y="0"/>
                  </a:lnTo>
                  <a:lnTo>
                    <a:pt x="5119992" y="16713"/>
                  </a:lnTo>
                  <a:lnTo>
                    <a:pt x="5170132" y="16713"/>
                  </a:lnTo>
                  <a:lnTo>
                    <a:pt x="5170132" y="0"/>
                  </a:lnTo>
                  <a:close/>
                </a:path>
                <a:path w="7705090" h="67310">
                  <a:moveTo>
                    <a:pt x="5213096" y="50139"/>
                  </a:moveTo>
                  <a:lnTo>
                    <a:pt x="5162956" y="50139"/>
                  </a:lnTo>
                  <a:lnTo>
                    <a:pt x="5162956" y="66852"/>
                  </a:lnTo>
                  <a:lnTo>
                    <a:pt x="5213096" y="66852"/>
                  </a:lnTo>
                  <a:lnTo>
                    <a:pt x="5213096" y="50139"/>
                  </a:lnTo>
                  <a:close/>
                </a:path>
                <a:path w="7705090" h="67310">
                  <a:moveTo>
                    <a:pt x="5253520" y="0"/>
                  </a:moveTo>
                  <a:lnTo>
                    <a:pt x="5203380" y="0"/>
                  </a:lnTo>
                  <a:lnTo>
                    <a:pt x="5203380" y="16713"/>
                  </a:lnTo>
                  <a:lnTo>
                    <a:pt x="5253520" y="16713"/>
                  </a:lnTo>
                  <a:lnTo>
                    <a:pt x="5253520" y="0"/>
                  </a:lnTo>
                  <a:close/>
                </a:path>
                <a:path w="7705090" h="67310">
                  <a:moveTo>
                    <a:pt x="5296484" y="50139"/>
                  </a:moveTo>
                  <a:lnTo>
                    <a:pt x="5246344" y="50139"/>
                  </a:lnTo>
                  <a:lnTo>
                    <a:pt x="5246344" y="66852"/>
                  </a:lnTo>
                  <a:lnTo>
                    <a:pt x="5296484" y="66852"/>
                  </a:lnTo>
                  <a:lnTo>
                    <a:pt x="5296484" y="50139"/>
                  </a:lnTo>
                  <a:close/>
                </a:path>
                <a:path w="7705090" h="67310">
                  <a:moveTo>
                    <a:pt x="5336908" y="0"/>
                  </a:moveTo>
                  <a:lnTo>
                    <a:pt x="5286768" y="0"/>
                  </a:lnTo>
                  <a:lnTo>
                    <a:pt x="5286768" y="16713"/>
                  </a:lnTo>
                  <a:lnTo>
                    <a:pt x="5336908" y="16713"/>
                  </a:lnTo>
                  <a:lnTo>
                    <a:pt x="5336908" y="0"/>
                  </a:lnTo>
                  <a:close/>
                </a:path>
                <a:path w="7705090" h="67310">
                  <a:moveTo>
                    <a:pt x="5379872" y="50139"/>
                  </a:moveTo>
                  <a:lnTo>
                    <a:pt x="5329720" y="50139"/>
                  </a:lnTo>
                  <a:lnTo>
                    <a:pt x="5329720" y="66852"/>
                  </a:lnTo>
                  <a:lnTo>
                    <a:pt x="5379872" y="66852"/>
                  </a:lnTo>
                  <a:lnTo>
                    <a:pt x="5379872" y="50139"/>
                  </a:lnTo>
                  <a:close/>
                </a:path>
                <a:path w="7705090" h="67310">
                  <a:moveTo>
                    <a:pt x="5420284" y="0"/>
                  </a:moveTo>
                  <a:lnTo>
                    <a:pt x="5370144" y="0"/>
                  </a:lnTo>
                  <a:lnTo>
                    <a:pt x="5370144" y="16713"/>
                  </a:lnTo>
                  <a:lnTo>
                    <a:pt x="5420284" y="16713"/>
                  </a:lnTo>
                  <a:lnTo>
                    <a:pt x="5420284" y="0"/>
                  </a:lnTo>
                  <a:close/>
                </a:path>
                <a:path w="7705090" h="67310">
                  <a:moveTo>
                    <a:pt x="5463248" y="50139"/>
                  </a:moveTo>
                  <a:lnTo>
                    <a:pt x="5413108" y="50139"/>
                  </a:lnTo>
                  <a:lnTo>
                    <a:pt x="5413108" y="66852"/>
                  </a:lnTo>
                  <a:lnTo>
                    <a:pt x="5463248" y="66852"/>
                  </a:lnTo>
                  <a:lnTo>
                    <a:pt x="5463248" y="50139"/>
                  </a:lnTo>
                  <a:close/>
                </a:path>
                <a:path w="7705090" h="67310">
                  <a:moveTo>
                    <a:pt x="5503672" y="0"/>
                  </a:moveTo>
                  <a:lnTo>
                    <a:pt x="5453532" y="0"/>
                  </a:lnTo>
                  <a:lnTo>
                    <a:pt x="5453532" y="16713"/>
                  </a:lnTo>
                  <a:lnTo>
                    <a:pt x="5503672" y="16713"/>
                  </a:lnTo>
                  <a:lnTo>
                    <a:pt x="5503672" y="0"/>
                  </a:lnTo>
                  <a:close/>
                </a:path>
                <a:path w="7705090" h="67310">
                  <a:moveTo>
                    <a:pt x="5546636" y="50139"/>
                  </a:moveTo>
                  <a:lnTo>
                    <a:pt x="5496496" y="50139"/>
                  </a:lnTo>
                  <a:lnTo>
                    <a:pt x="5496496" y="66852"/>
                  </a:lnTo>
                  <a:lnTo>
                    <a:pt x="5546636" y="66852"/>
                  </a:lnTo>
                  <a:lnTo>
                    <a:pt x="5546636" y="50139"/>
                  </a:lnTo>
                  <a:close/>
                </a:path>
                <a:path w="7705090" h="67310">
                  <a:moveTo>
                    <a:pt x="5587060" y="0"/>
                  </a:moveTo>
                  <a:lnTo>
                    <a:pt x="5536920" y="0"/>
                  </a:lnTo>
                  <a:lnTo>
                    <a:pt x="5536920" y="16713"/>
                  </a:lnTo>
                  <a:lnTo>
                    <a:pt x="5587060" y="16713"/>
                  </a:lnTo>
                  <a:lnTo>
                    <a:pt x="5587060" y="0"/>
                  </a:lnTo>
                  <a:close/>
                </a:path>
                <a:path w="7705090" h="67310">
                  <a:moveTo>
                    <a:pt x="5630024" y="50139"/>
                  </a:moveTo>
                  <a:lnTo>
                    <a:pt x="5579884" y="50139"/>
                  </a:lnTo>
                  <a:lnTo>
                    <a:pt x="5579884" y="66852"/>
                  </a:lnTo>
                  <a:lnTo>
                    <a:pt x="5630024" y="66852"/>
                  </a:lnTo>
                  <a:lnTo>
                    <a:pt x="5630024" y="50139"/>
                  </a:lnTo>
                  <a:close/>
                </a:path>
                <a:path w="7705090" h="67310">
                  <a:moveTo>
                    <a:pt x="5670448" y="0"/>
                  </a:moveTo>
                  <a:lnTo>
                    <a:pt x="5620309" y="0"/>
                  </a:lnTo>
                  <a:lnTo>
                    <a:pt x="5620309" y="16713"/>
                  </a:lnTo>
                  <a:lnTo>
                    <a:pt x="5670448" y="16713"/>
                  </a:lnTo>
                  <a:lnTo>
                    <a:pt x="5670448" y="0"/>
                  </a:lnTo>
                  <a:close/>
                </a:path>
                <a:path w="7705090" h="67310">
                  <a:moveTo>
                    <a:pt x="5713412" y="50139"/>
                  </a:moveTo>
                  <a:lnTo>
                    <a:pt x="5663273" y="50139"/>
                  </a:lnTo>
                  <a:lnTo>
                    <a:pt x="5663273" y="66852"/>
                  </a:lnTo>
                  <a:lnTo>
                    <a:pt x="5713412" y="66852"/>
                  </a:lnTo>
                  <a:lnTo>
                    <a:pt x="5713412" y="50139"/>
                  </a:lnTo>
                  <a:close/>
                </a:path>
                <a:path w="7705090" h="67310">
                  <a:moveTo>
                    <a:pt x="5753836" y="0"/>
                  </a:moveTo>
                  <a:lnTo>
                    <a:pt x="5703697" y="0"/>
                  </a:lnTo>
                  <a:lnTo>
                    <a:pt x="5703697" y="16713"/>
                  </a:lnTo>
                  <a:lnTo>
                    <a:pt x="5753836" y="16713"/>
                  </a:lnTo>
                  <a:lnTo>
                    <a:pt x="5753836" y="0"/>
                  </a:lnTo>
                  <a:close/>
                </a:path>
                <a:path w="7705090" h="67310">
                  <a:moveTo>
                    <a:pt x="5796800" y="50139"/>
                  </a:moveTo>
                  <a:lnTo>
                    <a:pt x="5746661" y="50139"/>
                  </a:lnTo>
                  <a:lnTo>
                    <a:pt x="5746661" y="66852"/>
                  </a:lnTo>
                  <a:lnTo>
                    <a:pt x="5796800" y="66852"/>
                  </a:lnTo>
                  <a:lnTo>
                    <a:pt x="5796800" y="50139"/>
                  </a:lnTo>
                  <a:close/>
                </a:path>
                <a:path w="7705090" h="67310">
                  <a:moveTo>
                    <a:pt x="5837225" y="0"/>
                  </a:moveTo>
                  <a:lnTo>
                    <a:pt x="5787085" y="0"/>
                  </a:lnTo>
                  <a:lnTo>
                    <a:pt x="5787085" y="16713"/>
                  </a:lnTo>
                  <a:lnTo>
                    <a:pt x="5837225" y="16713"/>
                  </a:lnTo>
                  <a:lnTo>
                    <a:pt x="5837225" y="0"/>
                  </a:lnTo>
                  <a:close/>
                </a:path>
                <a:path w="7705090" h="67310">
                  <a:moveTo>
                    <a:pt x="5880189" y="50139"/>
                  </a:moveTo>
                  <a:lnTo>
                    <a:pt x="5830049" y="50139"/>
                  </a:lnTo>
                  <a:lnTo>
                    <a:pt x="5830049" y="66852"/>
                  </a:lnTo>
                  <a:lnTo>
                    <a:pt x="5880189" y="66852"/>
                  </a:lnTo>
                  <a:lnTo>
                    <a:pt x="5880189" y="50139"/>
                  </a:lnTo>
                  <a:close/>
                </a:path>
                <a:path w="7705090" h="67310">
                  <a:moveTo>
                    <a:pt x="5920613" y="0"/>
                  </a:moveTo>
                  <a:lnTo>
                    <a:pt x="5870473" y="0"/>
                  </a:lnTo>
                  <a:lnTo>
                    <a:pt x="5870473" y="16713"/>
                  </a:lnTo>
                  <a:lnTo>
                    <a:pt x="5920613" y="16713"/>
                  </a:lnTo>
                  <a:lnTo>
                    <a:pt x="5920613" y="0"/>
                  </a:lnTo>
                  <a:close/>
                </a:path>
                <a:path w="7705090" h="67310">
                  <a:moveTo>
                    <a:pt x="5963564" y="50139"/>
                  </a:moveTo>
                  <a:lnTo>
                    <a:pt x="5913425" y="50139"/>
                  </a:lnTo>
                  <a:lnTo>
                    <a:pt x="5913425" y="66852"/>
                  </a:lnTo>
                  <a:lnTo>
                    <a:pt x="5963564" y="66852"/>
                  </a:lnTo>
                  <a:lnTo>
                    <a:pt x="5963564" y="50139"/>
                  </a:lnTo>
                  <a:close/>
                </a:path>
                <a:path w="7705090" h="67310">
                  <a:moveTo>
                    <a:pt x="6003988" y="0"/>
                  </a:moveTo>
                  <a:lnTo>
                    <a:pt x="5953849" y="0"/>
                  </a:lnTo>
                  <a:lnTo>
                    <a:pt x="5953849" y="16713"/>
                  </a:lnTo>
                  <a:lnTo>
                    <a:pt x="6003988" y="16713"/>
                  </a:lnTo>
                  <a:lnTo>
                    <a:pt x="6003988" y="0"/>
                  </a:lnTo>
                  <a:close/>
                </a:path>
                <a:path w="7705090" h="67310">
                  <a:moveTo>
                    <a:pt x="6046952" y="50139"/>
                  </a:moveTo>
                  <a:lnTo>
                    <a:pt x="5996813" y="50139"/>
                  </a:lnTo>
                  <a:lnTo>
                    <a:pt x="5996813" y="66852"/>
                  </a:lnTo>
                  <a:lnTo>
                    <a:pt x="6046952" y="66852"/>
                  </a:lnTo>
                  <a:lnTo>
                    <a:pt x="6046952" y="50139"/>
                  </a:lnTo>
                  <a:close/>
                </a:path>
                <a:path w="7705090" h="67310">
                  <a:moveTo>
                    <a:pt x="6087376" y="0"/>
                  </a:moveTo>
                  <a:lnTo>
                    <a:pt x="6037237" y="0"/>
                  </a:lnTo>
                  <a:lnTo>
                    <a:pt x="6037237" y="16713"/>
                  </a:lnTo>
                  <a:lnTo>
                    <a:pt x="6087376" y="16713"/>
                  </a:lnTo>
                  <a:lnTo>
                    <a:pt x="6087376" y="0"/>
                  </a:lnTo>
                  <a:close/>
                </a:path>
                <a:path w="7705090" h="67310">
                  <a:moveTo>
                    <a:pt x="6130341" y="50139"/>
                  </a:moveTo>
                  <a:lnTo>
                    <a:pt x="6080201" y="50139"/>
                  </a:lnTo>
                  <a:lnTo>
                    <a:pt x="6080201" y="66852"/>
                  </a:lnTo>
                  <a:lnTo>
                    <a:pt x="6130341" y="66852"/>
                  </a:lnTo>
                  <a:lnTo>
                    <a:pt x="6130341" y="50139"/>
                  </a:lnTo>
                  <a:close/>
                </a:path>
                <a:path w="7705090" h="67310">
                  <a:moveTo>
                    <a:pt x="6170765" y="0"/>
                  </a:moveTo>
                  <a:lnTo>
                    <a:pt x="6120625" y="0"/>
                  </a:lnTo>
                  <a:lnTo>
                    <a:pt x="6120625" y="16713"/>
                  </a:lnTo>
                  <a:lnTo>
                    <a:pt x="6170765" y="16713"/>
                  </a:lnTo>
                  <a:lnTo>
                    <a:pt x="6170765" y="0"/>
                  </a:lnTo>
                  <a:close/>
                </a:path>
                <a:path w="7705090" h="67310">
                  <a:moveTo>
                    <a:pt x="6213729" y="50139"/>
                  </a:moveTo>
                  <a:lnTo>
                    <a:pt x="6163589" y="50139"/>
                  </a:lnTo>
                  <a:lnTo>
                    <a:pt x="6163589" y="66852"/>
                  </a:lnTo>
                  <a:lnTo>
                    <a:pt x="6213729" y="66852"/>
                  </a:lnTo>
                  <a:lnTo>
                    <a:pt x="6213729" y="50139"/>
                  </a:lnTo>
                  <a:close/>
                </a:path>
                <a:path w="7705090" h="67310">
                  <a:moveTo>
                    <a:pt x="6254153" y="0"/>
                  </a:moveTo>
                  <a:lnTo>
                    <a:pt x="6204013" y="0"/>
                  </a:lnTo>
                  <a:lnTo>
                    <a:pt x="6204013" y="16713"/>
                  </a:lnTo>
                  <a:lnTo>
                    <a:pt x="6254153" y="16713"/>
                  </a:lnTo>
                  <a:lnTo>
                    <a:pt x="6254153" y="0"/>
                  </a:lnTo>
                  <a:close/>
                </a:path>
                <a:path w="7705090" h="67310">
                  <a:moveTo>
                    <a:pt x="6297117" y="50139"/>
                  </a:moveTo>
                  <a:lnTo>
                    <a:pt x="6246977" y="50139"/>
                  </a:lnTo>
                  <a:lnTo>
                    <a:pt x="6246977" y="66852"/>
                  </a:lnTo>
                  <a:lnTo>
                    <a:pt x="6297117" y="66852"/>
                  </a:lnTo>
                  <a:lnTo>
                    <a:pt x="6297117" y="50139"/>
                  </a:lnTo>
                  <a:close/>
                </a:path>
                <a:path w="7705090" h="67310">
                  <a:moveTo>
                    <a:pt x="6337541" y="0"/>
                  </a:moveTo>
                  <a:lnTo>
                    <a:pt x="6287401" y="0"/>
                  </a:lnTo>
                  <a:lnTo>
                    <a:pt x="6287401" y="16713"/>
                  </a:lnTo>
                  <a:lnTo>
                    <a:pt x="6337541" y="16713"/>
                  </a:lnTo>
                  <a:lnTo>
                    <a:pt x="6337541" y="0"/>
                  </a:lnTo>
                  <a:close/>
                </a:path>
                <a:path w="7705090" h="67310">
                  <a:moveTo>
                    <a:pt x="6380505" y="50139"/>
                  </a:moveTo>
                  <a:lnTo>
                    <a:pt x="6330366" y="50139"/>
                  </a:lnTo>
                  <a:lnTo>
                    <a:pt x="6330366" y="66852"/>
                  </a:lnTo>
                  <a:lnTo>
                    <a:pt x="6380505" y="66852"/>
                  </a:lnTo>
                  <a:lnTo>
                    <a:pt x="6380505" y="50139"/>
                  </a:lnTo>
                  <a:close/>
                </a:path>
                <a:path w="7705090" h="67310">
                  <a:moveTo>
                    <a:pt x="6420929" y="0"/>
                  </a:moveTo>
                  <a:lnTo>
                    <a:pt x="6370790" y="0"/>
                  </a:lnTo>
                  <a:lnTo>
                    <a:pt x="6370790" y="16713"/>
                  </a:lnTo>
                  <a:lnTo>
                    <a:pt x="6420929" y="16713"/>
                  </a:lnTo>
                  <a:lnTo>
                    <a:pt x="6420929" y="0"/>
                  </a:lnTo>
                  <a:close/>
                </a:path>
                <a:path w="7705090" h="67310">
                  <a:moveTo>
                    <a:pt x="6463893" y="50139"/>
                  </a:moveTo>
                  <a:lnTo>
                    <a:pt x="6413741" y="50139"/>
                  </a:lnTo>
                  <a:lnTo>
                    <a:pt x="6413741" y="66852"/>
                  </a:lnTo>
                  <a:lnTo>
                    <a:pt x="6463893" y="66852"/>
                  </a:lnTo>
                  <a:lnTo>
                    <a:pt x="6463893" y="50139"/>
                  </a:lnTo>
                  <a:close/>
                </a:path>
                <a:path w="7705090" h="67310">
                  <a:moveTo>
                    <a:pt x="6504318" y="0"/>
                  </a:moveTo>
                  <a:lnTo>
                    <a:pt x="6454178" y="0"/>
                  </a:lnTo>
                  <a:lnTo>
                    <a:pt x="6454178" y="16713"/>
                  </a:lnTo>
                  <a:lnTo>
                    <a:pt x="6504318" y="16713"/>
                  </a:lnTo>
                  <a:lnTo>
                    <a:pt x="6504318" y="0"/>
                  </a:lnTo>
                  <a:close/>
                </a:path>
                <a:path w="7705090" h="67310">
                  <a:moveTo>
                    <a:pt x="6547269" y="50139"/>
                  </a:moveTo>
                  <a:lnTo>
                    <a:pt x="6497129" y="50139"/>
                  </a:lnTo>
                  <a:lnTo>
                    <a:pt x="6497129" y="66852"/>
                  </a:lnTo>
                  <a:lnTo>
                    <a:pt x="6547269" y="66852"/>
                  </a:lnTo>
                  <a:lnTo>
                    <a:pt x="6547269" y="50139"/>
                  </a:lnTo>
                  <a:close/>
                </a:path>
                <a:path w="7705090" h="67310">
                  <a:moveTo>
                    <a:pt x="6587693" y="0"/>
                  </a:moveTo>
                  <a:lnTo>
                    <a:pt x="6537553" y="0"/>
                  </a:lnTo>
                  <a:lnTo>
                    <a:pt x="6537553" y="16713"/>
                  </a:lnTo>
                  <a:lnTo>
                    <a:pt x="6587693" y="16713"/>
                  </a:lnTo>
                  <a:lnTo>
                    <a:pt x="6587693" y="0"/>
                  </a:lnTo>
                  <a:close/>
                </a:path>
                <a:path w="7705090" h="67310">
                  <a:moveTo>
                    <a:pt x="6630657" y="50139"/>
                  </a:moveTo>
                  <a:lnTo>
                    <a:pt x="6580518" y="50139"/>
                  </a:lnTo>
                  <a:lnTo>
                    <a:pt x="6580518" y="66852"/>
                  </a:lnTo>
                  <a:lnTo>
                    <a:pt x="6630657" y="66852"/>
                  </a:lnTo>
                  <a:lnTo>
                    <a:pt x="6630657" y="50139"/>
                  </a:lnTo>
                  <a:close/>
                </a:path>
                <a:path w="7705090" h="67310">
                  <a:moveTo>
                    <a:pt x="6671081" y="0"/>
                  </a:moveTo>
                  <a:lnTo>
                    <a:pt x="6620942" y="0"/>
                  </a:lnTo>
                  <a:lnTo>
                    <a:pt x="6620942" y="16713"/>
                  </a:lnTo>
                  <a:lnTo>
                    <a:pt x="6671081" y="16713"/>
                  </a:lnTo>
                  <a:lnTo>
                    <a:pt x="6671081" y="0"/>
                  </a:lnTo>
                  <a:close/>
                </a:path>
                <a:path w="7705090" h="67310">
                  <a:moveTo>
                    <a:pt x="6714045" y="50139"/>
                  </a:moveTo>
                  <a:lnTo>
                    <a:pt x="6663906" y="50139"/>
                  </a:lnTo>
                  <a:lnTo>
                    <a:pt x="6663906" y="66852"/>
                  </a:lnTo>
                  <a:lnTo>
                    <a:pt x="6714045" y="66852"/>
                  </a:lnTo>
                  <a:lnTo>
                    <a:pt x="6714045" y="50139"/>
                  </a:lnTo>
                  <a:close/>
                </a:path>
                <a:path w="7705090" h="67310">
                  <a:moveTo>
                    <a:pt x="6754469" y="0"/>
                  </a:moveTo>
                  <a:lnTo>
                    <a:pt x="6704330" y="0"/>
                  </a:lnTo>
                  <a:lnTo>
                    <a:pt x="6704330" y="16713"/>
                  </a:lnTo>
                  <a:lnTo>
                    <a:pt x="6754469" y="16713"/>
                  </a:lnTo>
                  <a:lnTo>
                    <a:pt x="6754469" y="0"/>
                  </a:lnTo>
                  <a:close/>
                </a:path>
                <a:path w="7705090" h="67310">
                  <a:moveTo>
                    <a:pt x="6797434" y="50139"/>
                  </a:moveTo>
                  <a:lnTo>
                    <a:pt x="6747294" y="50139"/>
                  </a:lnTo>
                  <a:lnTo>
                    <a:pt x="6747294" y="66852"/>
                  </a:lnTo>
                  <a:lnTo>
                    <a:pt x="6797434" y="66852"/>
                  </a:lnTo>
                  <a:lnTo>
                    <a:pt x="6797434" y="50139"/>
                  </a:lnTo>
                  <a:close/>
                </a:path>
                <a:path w="7705090" h="67310">
                  <a:moveTo>
                    <a:pt x="6837858" y="0"/>
                  </a:moveTo>
                  <a:lnTo>
                    <a:pt x="6787718" y="0"/>
                  </a:lnTo>
                  <a:lnTo>
                    <a:pt x="6787718" y="16713"/>
                  </a:lnTo>
                  <a:lnTo>
                    <a:pt x="6837858" y="16713"/>
                  </a:lnTo>
                  <a:lnTo>
                    <a:pt x="6837858" y="0"/>
                  </a:lnTo>
                  <a:close/>
                </a:path>
                <a:path w="7705090" h="67310">
                  <a:moveTo>
                    <a:pt x="6880822" y="50139"/>
                  </a:moveTo>
                  <a:lnTo>
                    <a:pt x="6830682" y="50139"/>
                  </a:lnTo>
                  <a:lnTo>
                    <a:pt x="6830682" y="66852"/>
                  </a:lnTo>
                  <a:lnTo>
                    <a:pt x="6880822" y="66852"/>
                  </a:lnTo>
                  <a:lnTo>
                    <a:pt x="6880822" y="50139"/>
                  </a:lnTo>
                  <a:close/>
                </a:path>
                <a:path w="7705090" h="67310">
                  <a:moveTo>
                    <a:pt x="6921246" y="0"/>
                  </a:moveTo>
                  <a:lnTo>
                    <a:pt x="6871106" y="0"/>
                  </a:lnTo>
                  <a:lnTo>
                    <a:pt x="6871106" y="16713"/>
                  </a:lnTo>
                  <a:lnTo>
                    <a:pt x="6921246" y="16713"/>
                  </a:lnTo>
                  <a:lnTo>
                    <a:pt x="6921246" y="0"/>
                  </a:lnTo>
                  <a:close/>
                </a:path>
                <a:path w="7705090" h="67310">
                  <a:moveTo>
                    <a:pt x="6964210" y="50139"/>
                  </a:moveTo>
                  <a:lnTo>
                    <a:pt x="6914070" y="50139"/>
                  </a:lnTo>
                  <a:lnTo>
                    <a:pt x="6914070" y="66852"/>
                  </a:lnTo>
                  <a:lnTo>
                    <a:pt x="6964210" y="66852"/>
                  </a:lnTo>
                  <a:lnTo>
                    <a:pt x="6964210" y="50139"/>
                  </a:lnTo>
                  <a:close/>
                </a:path>
                <a:path w="7705090" h="67310">
                  <a:moveTo>
                    <a:pt x="7004634" y="0"/>
                  </a:moveTo>
                  <a:lnTo>
                    <a:pt x="6954494" y="0"/>
                  </a:lnTo>
                  <a:lnTo>
                    <a:pt x="6954494" y="16713"/>
                  </a:lnTo>
                  <a:lnTo>
                    <a:pt x="7004634" y="16713"/>
                  </a:lnTo>
                  <a:lnTo>
                    <a:pt x="7004634" y="0"/>
                  </a:lnTo>
                  <a:close/>
                </a:path>
                <a:path w="7705090" h="67310">
                  <a:moveTo>
                    <a:pt x="7047598" y="50139"/>
                  </a:moveTo>
                  <a:lnTo>
                    <a:pt x="6997446" y="50139"/>
                  </a:lnTo>
                  <a:lnTo>
                    <a:pt x="6997446" y="66852"/>
                  </a:lnTo>
                  <a:lnTo>
                    <a:pt x="7047598" y="66852"/>
                  </a:lnTo>
                  <a:lnTo>
                    <a:pt x="7047598" y="50139"/>
                  </a:lnTo>
                  <a:close/>
                </a:path>
                <a:path w="7705090" h="67310">
                  <a:moveTo>
                    <a:pt x="7088022" y="0"/>
                  </a:moveTo>
                  <a:lnTo>
                    <a:pt x="7037870" y="0"/>
                  </a:lnTo>
                  <a:lnTo>
                    <a:pt x="7037870" y="16713"/>
                  </a:lnTo>
                  <a:lnTo>
                    <a:pt x="7088022" y="16713"/>
                  </a:lnTo>
                  <a:lnTo>
                    <a:pt x="7088022" y="0"/>
                  </a:lnTo>
                  <a:close/>
                </a:path>
                <a:path w="7705090" h="67310">
                  <a:moveTo>
                    <a:pt x="7130974" y="50139"/>
                  </a:moveTo>
                  <a:lnTo>
                    <a:pt x="7080834" y="50139"/>
                  </a:lnTo>
                  <a:lnTo>
                    <a:pt x="7080834" y="66852"/>
                  </a:lnTo>
                  <a:lnTo>
                    <a:pt x="7130974" y="66852"/>
                  </a:lnTo>
                  <a:lnTo>
                    <a:pt x="7130974" y="50139"/>
                  </a:lnTo>
                  <a:close/>
                </a:path>
                <a:path w="7705090" h="67310">
                  <a:moveTo>
                    <a:pt x="7171398" y="0"/>
                  </a:moveTo>
                  <a:lnTo>
                    <a:pt x="7121258" y="0"/>
                  </a:lnTo>
                  <a:lnTo>
                    <a:pt x="7121258" y="16713"/>
                  </a:lnTo>
                  <a:lnTo>
                    <a:pt x="7171398" y="16713"/>
                  </a:lnTo>
                  <a:lnTo>
                    <a:pt x="7171398" y="0"/>
                  </a:lnTo>
                  <a:close/>
                </a:path>
                <a:path w="7705090" h="67310">
                  <a:moveTo>
                    <a:pt x="7214362" y="50139"/>
                  </a:moveTo>
                  <a:lnTo>
                    <a:pt x="7164222" y="50139"/>
                  </a:lnTo>
                  <a:lnTo>
                    <a:pt x="7164222" y="66852"/>
                  </a:lnTo>
                  <a:lnTo>
                    <a:pt x="7214362" y="66852"/>
                  </a:lnTo>
                  <a:lnTo>
                    <a:pt x="7214362" y="50139"/>
                  </a:lnTo>
                  <a:close/>
                </a:path>
                <a:path w="7705090" h="67310">
                  <a:moveTo>
                    <a:pt x="7254786" y="0"/>
                  </a:moveTo>
                  <a:lnTo>
                    <a:pt x="7204646" y="0"/>
                  </a:lnTo>
                  <a:lnTo>
                    <a:pt x="7204646" y="16713"/>
                  </a:lnTo>
                  <a:lnTo>
                    <a:pt x="7254786" y="16713"/>
                  </a:lnTo>
                  <a:lnTo>
                    <a:pt x="7254786" y="0"/>
                  </a:lnTo>
                  <a:close/>
                </a:path>
                <a:path w="7705090" h="67310">
                  <a:moveTo>
                    <a:pt x="7297750" y="50139"/>
                  </a:moveTo>
                  <a:lnTo>
                    <a:pt x="7247610" y="50139"/>
                  </a:lnTo>
                  <a:lnTo>
                    <a:pt x="7247610" y="66852"/>
                  </a:lnTo>
                  <a:lnTo>
                    <a:pt x="7297750" y="66852"/>
                  </a:lnTo>
                  <a:lnTo>
                    <a:pt x="7297750" y="50139"/>
                  </a:lnTo>
                  <a:close/>
                </a:path>
                <a:path w="7705090" h="67310">
                  <a:moveTo>
                    <a:pt x="7338174" y="0"/>
                  </a:moveTo>
                  <a:lnTo>
                    <a:pt x="7288035" y="0"/>
                  </a:lnTo>
                  <a:lnTo>
                    <a:pt x="7288035" y="16713"/>
                  </a:lnTo>
                  <a:lnTo>
                    <a:pt x="7338174" y="16713"/>
                  </a:lnTo>
                  <a:lnTo>
                    <a:pt x="7338174" y="0"/>
                  </a:lnTo>
                  <a:close/>
                </a:path>
                <a:path w="7705090" h="67310">
                  <a:moveTo>
                    <a:pt x="7381138" y="50139"/>
                  </a:moveTo>
                  <a:lnTo>
                    <a:pt x="7330999" y="50139"/>
                  </a:lnTo>
                  <a:lnTo>
                    <a:pt x="7330999" y="66852"/>
                  </a:lnTo>
                  <a:lnTo>
                    <a:pt x="7381138" y="66852"/>
                  </a:lnTo>
                  <a:lnTo>
                    <a:pt x="7381138" y="50139"/>
                  </a:lnTo>
                  <a:close/>
                </a:path>
                <a:path w="7705090" h="67310">
                  <a:moveTo>
                    <a:pt x="7421562" y="0"/>
                  </a:moveTo>
                  <a:lnTo>
                    <a:pt x="7371423" y="0"/>
                  </a:lnTo>
                  <a:lnTo>
                    <a:pt x="7371423" y="16713"/>
                  </a:lnTo>
                  <a:lnTo>
                    <a:pt x="7421562" y="16713"/>
                  </a:lnTo>
                  <a:lnTo>
                    <a:pt x="7421562" y="0"/>
                  </a:lnTo>
                  <a:close/>
                </a:path>
                <a:path w="7705090" h="67310">
                  <a:moveTo>
                    <a:pt x="7464526" y="50139"/>
                  </a:moveTo>
                  <a:lnTo>
                    <a:pt x="7414387" y="50139"/>
                  </a:lnTo>
                  <a:lnTo>
                    <a:pt x="7414387" y="66852"/>
                  </a:lnTo>
                  <a:lnTo>
                    <a:pt x="7464526" y="66852"/>
                  </a:lnTo>
                  <a:lnTo>
                    <a:pt x="7464526" y="50139"/>
                  </a:lnTo>
                  <a:close/>
                </a:path>
                <a:path w="7705090" h="67310">
                  <a:moveTo>
                    <a:pt x="7504951" y="0"/>
                  </a:moveTo>
                  <a:lnTo>
                    <a:pt x="7454811" y="0"/>
                  </a:lnTo>
                  <a:lnTo>
                    <a:pt x="7454811" y="16713"/>
                  </a:lnTo>
                  <a:lnTo>
                    <a:pt x="7504951" y="16713"/>
                  </a:lnTo>
                  <a:lnTo>
                    <a:pt x="7504951" y="0"/>
                  </a:lnTo>
                  <a:close/>
                </a:path>
                <a:path w="7705090" h="67310">
                  <a:moveTo>
                    <a:pt x="7547915" y="50139"/>
                  </a:moveTo>
                  <a:lnTo>
                    <a:pt x="7497775" y="50139"/>
                  </a:lnTo>
                  <a:lnTo>
                    <a:pt x="7497775" y="66852"/>
                  </a:lnTo>
                  <a:lnTo>
                    <a:pt x="7547915" y="66852"/>
                  </a:lnTo>
                  <a:lnTo>
                    <a:pt x="7547915" y="50139"/>
                  </a:lnTo>
                  <a:close/>
                </a:path>
                <a:path w="7705090" h="67310">
                  <a:moveTo>
                    <a:pt x="7588339" y="0"/>
                  </a:moveTo>
                  <a:lnTo>
                    <a:pt x="7538199" y="0"/>
                  </a:lnTo>
                  <a:lnTo>
                    <a:pt x="7538199" y="16713"/>
                  </a:lnTo>
                  <a:lnTo>
                    <a:pt x="7588339" y="16713"/>
                  </a:lnTo>
                  <a:lnTo>
                    <a:pt x="7588339" y="0"/>
                  </a:lnTo>
                  <a:close/>
                </a:path>
                <a:path w="7705090" h="67310">
                  <a:moveTo>
                    <a:pt x="7631290" y="50139"/>
                  </a:moveTo>
                  <a:lnTo>
                    <a:pt x="7581151" y="50139"/>
                  </a:lnTo>
                  <a:lnTo>
                    <a:pt x="7581151" y="66852"/>
                  </a:lnTo>
                  <a:lnTo>
                    <a:pt x="7631290" y="66852"/>
                  </a:lnTo>
                  <a:lnTo>
                    <a:pt x="7631290" y="50139"/>
                  </a:lnTo>
                  <a:close/>
                </a:path>
                <a:path w="7705090" h="67310">
                  <a:moveTo>
                    <a:pt x="7671790" y="0"/>
                  </a:moveTo>
                  <a:lnTo>
                    <a:pt x="7621575" y="0"/>
                  </a:lnTo>
                  <a:lnTo>
                    <a:pt x="7621575" y="16713"/>
                  </a:lnTo>
                  <a:lnTo>
                    <a:pt x="7671613" y="16713"/>
                  </a:lnTo>
                  <a:lnTo>
                    <a:pt x="7671790" y="0"/>
                  </a:lnTo>
                  <a:close/>
                </a:path>
                <a:path w="7705090" h="67310">
                  <a:moveTo>
                    <a:pt x="7704874" y="33426"/>
                  </a:moveTo>
                  <a:lnTo>
                    <a:pt x="7704315" y="27266"/>
                  </a:lnTo>
                  <a:lnTo>
                    <a:pt x="7688161" y="30289"/>
                  </a:lnTo>
                  <a:lnTo>
                    <a:pt x="7688161" y="38036"/>
                  </a:lnTo>
                  <a:lnTo>
                    <a:pt x="7686535" y="41973"/>
                  </a:lnTo>
                  <a:lnTo>
                    <a:pt x="7683271" y="45237"/>
                  </a:lnTo>
                  <a:lnTo>
                    <a:pt x="7680007" y="48501"/>
                  </a:lnTo>
                  <a:lnTo>
                    <a:pt x="7676058" y="50139"/>
                  </a:lnTo>
                  <a:lnTo>
                    <a:pt x="7664539" y="50139"/>
                  </a:lnTo>
                  <a:lnTo>
                    <a:pt x="7664539" y="66852"/>
                  </a:lnTo>
                  <a:lnTo>
                    <a:pt x="7671448" y="66852"/>
                  </a:lnTo>
                  <a:lnTo>
                    <a:pt x="7678115" y="66243"/>
                  </a:lnTo>
                  <a:lnTo>
                    <a:pt x="7704264" y="40093"/>
                  </a:lnTo>
                  <a:lnTo>
                    <a:pt x="7704874" y="33426"/>
                  </a:lnTo>
                  <a:close/>
                </a:path>
              </a:pathLst>
            </a:custGeom>
            <a:solidFill>
              <a:srgbClr val="3398DA"/>
            </a:solidFill>
          </p:spPr>
          <p:txBody>
            <a:bodyPr wrap="square" lIns="0" tIns="0" rIns="0" bIns="0" rtlCol="0"/>
            <a:lstStyle/>
            <a:p/>
          </p:txBody>
        </p:sp>
        <p:sp>
          <p:nvSpPr>
            <p:cNvPr id="44" name="object 44" descr=""/>
            <p:cNvSpPr/>
            <p:nvPr/>
          </p:nvSpPr>
          <p:spPr>
            <a:xfrm>
              <a:off x="1495844" y="3225698"/>
              <a:ext cx="7705090" cy="67310"/>
            </a:xfrm>
            <a:custGeom>
              <a:avLst/>
              <a:gdLst/>
              <a:ahLst/>
              <a:cxnLst/>
              <a:rect l="l" t="t" r="r" b="b"/>
              <a:pathLst>
                <a:path w="7705090" h="67310">
                  <a:moveTo>
                    <a:pt x="43141" y="50139"/>
                  </a:moveTo>
                  <a:lnTo>
                    <a:pt x="28816" y="50139"/>
                  </a:lnTo>
                  <a:lnTo>
                    <a:pt x="24866" y="48501"/>
                  </a:lnTo>
                  <a:lnTo>
                    <a:pt x="21602" y="45237"/>
                  </a:lnTo>
                  <a:lnTo>
                    <a:pt x="18338" y="41973"/>
                  </a:lnTo>
                  <a:lnTo>
                    <a:pt x="16713" y="38036"/>
                  </a:lnTo>
                  <a:lnTo>
                    <a:pt x="16713" y="32143"/>
                  </a:lnTo>
                  <a:lnTo>
                    <a:pt x="228" y="30873"/>
                  </a:lnTo>
                  <a:lnTo>
                    <a:pt x="114" y="32143"/>
                  </a:lnTo>
                  <a:lnTo>
                    <a:pt x="0" y="33426"/>
                  </a:lnTo>
                  <a:lnTo>
                    <a:pt x="609" y="40093"/>
                  </a:lnTo>
                  <a:lnTo>
                    <a:pt x="33426" y="66852"/>
                  </a:lnTo>
                  <a:lnTo>
                    <a:pt x="43141" y="66852"/>
                  </a:lnTo>
                  <a:lnTo>
                    <a:pt x="43141" y="50139"/>
                  </a:lnTo>
                  <a:close/>
                </a:path>
                <a:path w="7705090" h="67310">
                  <a:moveTo>
                    <a:pt x="83566" y="0"/>
                  </a:moveTo>
                  <a:lnTo>
                    <a:pt x="33426" y="0"/>
                  </a:lnTo>
                  <a:lnTo>
                    <a:pt x="29565" y="342"/>
                  </a:lnTo>
                  <a:lnTo>
                    <a:pt x="31470" y="16713"/>
                  </a:lnTo>
                  <a:lnTo>
                    <a:pt x="83566" y="16713"/>
                  </a:lnTo>
                  <a:lnTo>
                    <a:pt x="83566" y="0"/>
                  </a:lnTo>
                  <a:close/>
                </a:path>
                <a:path w="7705090" h="67310">
                  <a:moveTo>
                    <a:pt x="126530" y="50139"/>
                  </a:moveTo>
                  <a:lnTo>
                    <a:pt x="76390" y="50139"/>
                  </a:lnTo>
                  <a:lnTo>
                    <a:pt x="76390" y="66852"/>
                  </a:lnTo>
                  <a:lnTo>
                    <a:pt x="126530" y="66852"/>
                  </a:lnTo>
                  <a:lnTo>
                    <a:pt x="126530" y="50139"/>
                  </a:lnTo>
                  <a:close/>
                </a:path>
                <a:path w="7705090" h="67310">
                  <a:moveTo>
                    <a:pt x="166954" y="0"/>
                  </a:moveTo>
                  <a:lnTo>
                    <a:pt x="116814" y="0"/>
                  </a:lnTo>
                  <a:lnTo>
                    <a:pt x="116814" y="16713"/>
                  </a:lnTo>
                  <a:lnTo>
                    <a:pt x="166954" y="16713"/>
                  </a:lnTo>
                  <a:lnTo>
                    <a:pt x="166954" y="0"/>
                  </a:lnTo>
                  <a:close/>
                </a:path>
                <a:path w="7705090" h="67310">
                  <a:moveTo>
                    <a:pt x="209918" y="50139"/>
                  </a:moveTo>
                  <a:lnTo>
                    <a:pt x="159778" y="50139"/>
                  </a:lnTo>
                  <a:lnTo>
                    <a:pt x="159778" y="66852"/>
                  </a:lnTo>
                  <a:lnTo>
                    <a:pt x="209918" y="66852"/>
                  </a:lnTo>
                  <a:lnTo>
                    <a:pt x="209918" y="50139"/>
                  </a:lnTo>
                  <a:close/>
                </a:path>
                <a:path w="7705090" h="67310">
                  <a:moveTo>
                    <a:pt x="250342" y="0"/>
                  </a:moveTo>
                  <a:lnTo>
                    <a:pt x="200202" y="0"/>
                  </a:lnTo>
                  <a:lnTo>
                    <a:pt x="200202" y="16713"/>
                  </a:lnTo>
                  <a:lnTo>
                    <a:pt x="250342" y="16713"/>
                  </a:lnTo>
                  <a:lnTo>
                    <a:pt x="250342" y="0"/>
                  </a:lnTo>
                  <a:close/>
                </a:path>
                <a:path w="7705090" h="67310">
                  <a:moveTo>
                    <a:pt x="293306" y="50139"/>
                  </a:moveTo>
                  <a:lnTo>
                    <a:pt x="243166" y="50139"/>
                  </a:lnTo>
                  <a:lnTo>
                    <a:pt x="243166" y="66852"/>
                  </a:lnTo>
                  <a:lnTo>
                    <a:pt x="293306" y="66852"/>
                  </a:lnTo>
                  <a:lnTo>
                    <a:pt x="293306" y="50139"/>
                  </a:lnTo>
                  <a:close/>
                </a:path>
                <a:path w="7705090" h="67310">
                  <a:moveTo>
                    <a:pt x="333730" y="0"/>
                  </a:moveTo>
                  <a:lnTo>
                    <a:pt x="283578" y="0"/>
                  </a:lnTo>
                  <a:lnTo>
                    <a:pt x="283578" y="16713"/>
                  </a:lnTo>
                  <a:lnTo>
                    <a:pt x="333730" y="16713"/>
                  </a:lnTo>
                  <a:lnTo>
                    <a:pt x="333730" y="0"/>
                  </a:lnTo>
                  <a:close/>
                </a:path>
                <a:path w="7705090" h="67310">
                  <a:moveTo>
                    <a:pt x="376682" y="50139"/>
                  </a:moveTo>
                  <a:lnTo>
                    <a:pt x="326542" y="50139"/>
                  </a:lnTo>
                  <a:lnTo>
                    <a:pt x="326542" y="66852"/>
                  </a:lnTo>
                  <a:lnTo>
                    <a:pt x="376682" y="66852"/>
                  </a:lnTo>
                  <a:lnTo>
                    <a:pt x="376682" y="50139"/>
                  </a:lnTo>
                  <a:close/>
                </a:path>
                <a:path w="7705090" h="67310">
                  <a:moveTo>
                    <a:pt x="417106" y="0"/>
                  </a:moveTo>
                  <a:lnTo>
                    <a:pt x="366966" y="0"/>
                  </a:lnTo>
                  <a:lnTo>
                    <a:pt x="366966" y="16713"/>
                  </a:lnTo>
                  <a:lnTo>
                    <a:pt x="417106" y="16713"/>
                  </a:lnTo>
                  <a:lnTo>
                    <a:pt x="417106" y="0"/>
                  </a:lnTo>
                  <a:close/>
                </a:path>
                <a:path w="7705090" h="67310">
                  <a:moveTo>
                    <a:pt x="460070" y="50139"/>
                  </a:moveTo>
                  <a:lnTo>
                    <a:pt x="409930" y="50139"/>
                  </a:lnTo>
                  <a:lnTo>
                    <a:pt x="409930" y="66852"/>
                  </a:lnTo>
                  <a:lnTo>
                    <a:pt x="460070" y="66852"/>
                  </a:lnTo>
                  <a:lnTo>
                    <a:pt x="460070" y="50139"/>
                  </a:lnTo>
                  <a:close/>
                </a:path>
                <a:path w="7705090" h="67310">
                  <a:moveTo>
                    <a:pt x="500494" y="0"/>
                  </a:moveTo>
                  <a:lnTo>
                    <a:pt x="450354" y="0"/>
                  </a:lnTo>
                  <a:lnTo>
                    <a:pt x="450354" y="16713"/>
                  </a:lnTo>
                  <a:lnTo>
                    <a:pt x="500494" y="16713"/>
                  </a:lnTo>
                  <a:lnTo>
                    <a:pt x="500494" y="0"/>
                  </a:lnTo>
                  <a:close/>
                </a:path>
                <a:path w="7705090" h="67310">
                  <a:moveTo>
                    <a:pt x="543458" y="50139"/>
                  </a:moveTo>
                  <a:lnTo>
                    <a:pt x="493318" y="50139"/>
                  </a:lnTo>
                  <a:lnTo>
                    <a:pt x="493318" y="66852"/>
                  </a:lnTo>
                  <a:lnTo>
                    <a:pt x="543458" y="66852"/>
                  </a:lnTo>
                  <a:lnTo>
                    <a:pt x="543458" y="50139"/>
                  </a:lnTo>
                  <a:close/>
                </a:path>
                <a:path w="7705090" h="67310">
                  <a:moveTo>
                    <a:pt x="583882" y="0"/>
                  </a:moveTo>
                  <a:lnTo>
                    <a:pt x="533742" y="0"/>
                  </a:lnTo>
                  <a:lnTo>
                    <a:pt x="533742" y="16713"/>
                  </a:lnTo>
                  <a:lnTo>
                    <a:pt x="583882" y="16713"/>
                  </a:lnTo>
                  <a:lnTo>
                    <a:pt x="583882" y="0"/>
                  </a:lnTo>
                  <a:close/>
                </a:path>
                <a:path w="7705090" h="67310">
                  <a:moveTo>
                    <a:pt x="626846" y="50139"/>
                  </a:moveTo>
                  <a:lnTo>
                    <a:pt x="576707" y="50139"/>
                  </a:lnTo>
                  <a:lnTo>
                    <a:pt x="576707" y="66852"/>
                  </a:lnTo>
                  <a:lnTo>
                    <a:pt x="626846" y="66852"/>
                  </a:lnTo>
                  <a:lnTo>
                    <a:pt x="626846" y="50139"/>
                  </a:lnTo>
                  <a:close/>
                </a:path>
                <a:path w="7705090" h="67310">
                  <a:moveTo>
                    <a:pt x="667270" y="0"/>
                  </a:moveTo>
                  <a:lnTo>
                    <a:pt x="617131" y="0"/>
                  </a:lnTo>
                  <a:lnTo>
                    <a:pt x="617131" y="16713"/>
                  </a:lnTo>
                  <a:lnTo>
                    <a:pt x="667270" y="16713"/>
                  </a:lnTo>
                  <a:lnTo>
                    <a:pt x="667270" y="0"/>
                  </a:lnTo>
                  <a:close/>
                </a:path>
                <a:path w="7705090" h="67310">
                  <a:moveTo>
                    <a:pt x="710234" y="50139"/>
                  </a:moveTo>
                  <a:lnTo>
                    <a:pt x="660095" y="50139"/>
                  </a:lnTo>
                  <a:lnTo>
                    <a:pt x="660095" y="66852"/>
                  </a:lnTo>
                  <a:lnTo>
                    <a:pt x="710234" y="66852"/>
                  </a:lnTo>
                  <a:lnTo>
                    <a:pt x="710234" y="50139"/>
                  </a:lnTo>
                  <a:close/>
                </a:path>
                <a:path w="7705090" h="67310">
                  <a:moveTo>
                    <a:pt x="750658" y="0"/>
                  </a:moveTo>
                  <a:lnTo>
                    <a:pt x="700519" y="0"/>
                  </a:lnTo>
                  <a:lnTo>
                    <a:pt x="700519" y="16713"/>
                  </a:lnTo>
                  <a:lnTo>
                    <a:pt x="750658" y="16713"/>
                  </a:lnTo>
                  <a:lnTo>
                    <a:pt x="750658" y="0"/>
                  </a:lnTo>
                  <a:close/>
                </a:path>
                <a:path w="7705090" h="67310">
                  <a:moveTo>
                    <a:pt x="793623" y="50139"/>
                  </a:moveTo>
                  <a:lnTo>
                    <a:pt x="743483" y="50139"/>
                  </a:lnTo>
                  <a:lnTo>
                    <a:pt x="743483" y="66852"/>
                  </a:lnTo>
                  <a:lnTo>
                    <a:pt x="793623" y="66852"/>
                  </a:lnTo>
                  <a:lnTo>
                    <a:pt x="793623" y="50139"/>
                  </a:lnTo>
                  <a:close/>
                </a:path>
                <a:path w="7705090" h="67310">
                  <a:moveTo>
                    <a:pt x="834047" y="0"/>
                  </a:moveTo>
                  <a:lnTo>
                    <a:pt x="783907" y="0"/>
                  </a:lnTo>
                  <a:lnTo>
                    <a:pt x="783907" y="16713"/>
                  </a:lnTo>
                  <a:lnTo>
                    <a:pt x="834047" y="16713"/>
                  </a:lnTo>
                  <a:lnTo>
                    <a:pt x="834047" y="0"/>
                  </a:lnTo>
                  <a:close/>
                </a:path>
                <a:path w="7705090" h="67310">
                  <a:moveTo>
                    <a:pt x="877011" y="50139"/>
                  </a:moveTo>
                  <a:lnTo>
                    <a:pt x="826871" y="50139"/>
                  </a:lnTo>
                  <a:lnTo>
                    <a:pt x="826871" y="66852"/>
                  </a:lnTo>
                  <a:lnTo>
                    <a:pt x="877011" y="66852"/>
                  </a:lnTo>
                  <a:lnTo>
                    <a:pt x="877011" y="50139"/>
                  </a:lnTo>
                  <a:close/>
                </a:path>
                <a:path w="7705090" h="67310">
                  <a:moveTo>
                    <a:pt x="917422" y="0"/>
                  </a:moveTo>
                  <a:lnTo>
                    <a:pt x="867283" y="0"/>
                  </a:lnTo>
                  <a:lnTo>
                    <a:pt x="867283" y="16713"/>
                  </a:lnTo>
                  <a:lnTo>
                    <a:pt x="917422" y="16713"/>
                  </a:lnTo>
                  <a:lnTo>
                    <a:pt x="917422" y="0"/>
                  </a:lnTo>
                  <a:close/>
                </a:path>
                <a:path w="7705090" h="67310">
                  <a:moveTo>
                    <a:pt x="960386" y="50139"/>
                  </a:moveTo>
                  <a:lnTo>
                    <a:pt x="910247" y="50139"/>
                  </a:lnTo>
                  <a:lnTo>
                    <a:pt x="910247" y="66852"/>
                  </a:lnTo>
                  <a:lnTo>
                    <a:pt x="960386" y="66852"/>
                  </a:lnTo>
                  <a:lnTo>
                    <a:pt x="960386" y="50139"/>
                  </a:lnTo>
                  <a:close/>
                </a:path>
                <a:path w="7705090" h="67310">
                  <a:moveTo>
                    <a:pt x="1000810" y="0"/>
                  </a:moveTo>
                  <a:lnTo>
                    <a:pt x="950671" y="0"/>
                  </a:lnTo>
                  <a:lnTo>
                    <a:pt x="950671" y="16713"/>
                  </a:lnTo>
                  <a:lnTo>
                    <a:pt x="1000810" y="16713"/>
                  </a:lnTo>
                  <a:lnTo>
                    <a:pt x="1000810" y="0"/>
                  </a:lnTo>
                  <a:close/>
                </a:path>
                <a:path w="7705090" h="67310">
                  <a:moveTo>
                    <a:pt x="1043774" y="50139"/>
                  </a:moveTo>
                  <a:lnTo>
                    <a:pt x="993635" y="50139"/>
                  </a:lnTo>
                  <a:lnTo>
                    <a:pt x="993635" y="66852"/>
                  </a:lnTo>
                  <a:lnTo>
                    <a:pt x="1043774" y="66852"/>
                  </a:lnTo>
                  <a:lnTo>
                    <a:pt x="1043774" y="50139"/>
                  </a:lnTo>
                  <a:close/>
                </a:path>
                <a:path w="7705090" h="67310">
                  <a:moveTo>
                    <a:pt x="1084199" y="0"/>
                  </a:moveTo>
                  <a:lnTo>
                    <a:pt x="1034059" y="0"/>
                  </a:lnTo>
                  <a:lnTo>
                    <a:pt x="1034059" y="16713"/>
                  </a:lnTo>
                  <a:lnTo>
                    <a:pt x="1084199" y="16713"/>
                  </a:lnTo>
                  <a:lnTo>
                    <a:pt x="1084199" y="0"/>
                  </a:lnTo>
                  <a:close/>
                </a:path>
                <a:path w="7705090" h="67310">
                  <a:moveTo>
                    <a:pt x="1127163" y="50139"/>
                  </a:moveTo>
                  <a:lnTo>
                    <a:pt x="1077023" y="50139"/>
                  </a:lnTo>
                  <a:lnTo>
                    <a:pt x="1077023" y="66852"/>
                  </a:lnTo>
                  <a:lnTo>
                    <a:pt x="1127163" y="66852"/>
                  </a:lnTo>
                  <a:lnTo>
                    <a:pt x="1127163" y="50139"/>
                  </a:lnTo>
                  <a:close/>
                </a:path>
                <a:path w="7705090" h="67310">
                  <a:moveTo>
                    <a:pt x="1167587" y="0"/>
                  </a:moveTo>
                  <a:lnTo>
                    <a:pt x="1117447" y="0"/>
                  </a:lnTo>
                  <a:lnTo>
                    <a:pt x="1117447" y="16713"/>
                  </a:lnTo>
                  <a:lnTo>
                    <a:pt x="1167587" y="16713"/>
                  </a:lnTo>
                  <a:lnTo>
                    <a:pt x="1167587" y="0"/>
                  </a:lnTo>
                  <a:close/>
                </a:path>
                <a:path w="7705090" h="67310">
                  <a:moveTo>
                    <a:pt x="1210551" y="50139"/>
                  </a:moveTo>
                  <a:lnTo>
                    <a:pt x="1160411" y="50139"/>
                  </a:lnTo>
                  <a:lnTo>
                    <a:pt x="1160411" y="66852"/>
                  </a:lnTo>
                  <a:lnTo>
                    <a:pt x="1210551" y="66852"/>
                  </a:lnTo>
                  <a:lnTo>
                    <a:pt x="1210551" y="50139"/>
                  </a:lnTo>
                  <a:close/>
                </a:path>
                <a:path w="7705090" h="67310">
                  <a:moveTo>
                    <a:pt x="1250975" y="0"/>
                  </a:moveTo>
                  <a:lnTo>
                    <a:pt x="1200835" y="0"/>
                  </a:lnTo>
                  <a:lnTo>
                    <a:pt x="1200835" y="16713"/>
                  </a:lnTo>
                  <a:lnTo>
                    <a:pt x="1250975" y="16713"/>
                  </a:lnTo>
                  <a:lnTo>
                    <a:pt x="1250975" y="0"/>
                  </a:lnTo>
                  <a:close/>
                </a:path>
                <a:path w="7705090" h="67310">
                  <a:moveTo>
                    <a:pt x="1293939" y="50139"/>
                  </a:moveTo>
                  <a:lnTo>
                    <a:pt x="1243799" y="50139"/>
                  </a:lnTo>
                  <a:lnTo>
                    <a:pt x="1243799" y="66852"/>
                  </a:lnTo>
                  <a:lnTo>
                    <a:pt x="1293939" y="66852"/>
                  </a:lnTo>
                  <a:lnTo>
                    <a:pt x="1293939" y="50139"/>
                  </a:lnTo>
                  <a:close/>
                </a:path>
                <a:path w="7705090" h="67310">
                  <a:moveTo>
                    <a:pt x="1334363" y="0"/>
                  </a:moveTo>
                  <a:lnTo>
                    <a:pt x="1284224" y="0"/>
                  </a:lnTo>
                  <a:lnTo>
                    <a:pt x="1284224" y="16713"/>
                  </a:lnTo>
                  <a:lnTo>
                    <a:pt x="1334363" y="16713"/>
                  </a:lnTo>
                  <a:lnTo>
                    <a:pt x="1334363" y="0"/>
                  </a:lnTo>
                  <a:close/>
                </a:path>
                <a:path w="7705090" h="67310">
                  <a:moveTo>
                    <a:pt x="1377327" y="50139"/>
                  </a:moveTo>
                  <a:lnTo>
                    <a:pt x="1327188" y="50139"/>
                  </a:lnTo>
                  <a:lnTo>
                    <a:pt x="1327188" y="66852"/>
                  </a:lnTo>
                  <a:lnTo>
                    <a:pt x="1377327" y="66852"/>
                  </a:lnTo>
                  <a:lnTo>
                    <a:pt x="1377327" y="50139"/>
                  </a:lnTo>
                  <a:close/>
                </a:path>
                <a:path w="7705090" h="67310">
                  <a:moveTo>
                    <a:pt x="1417751" y="0"/>
                  </a:moveTo>
                  <a:lnTo>
                    <a:pt x="1367612" y="0"/>
                  </a:lnTo>
                  <a:lnTo>
                    <a:pt x="1367612" y="16713"/>
                  </a:lnTo>
                  <a:lnTo>
                    <a:pt x="1417751" y="16713"/>
                  </a:lnTo>
                  <a:lnTo>
                    <a:pt x="1417751" y="0"/>
                  </a:lnTo>
                  <a:close/>
                </a:path>
                <a:path w="7705090" h="67310">
                  <a:moveTo>
                    <a:pt x="1460715" y="50139"/>
                  </a:moveTo>
                  <a:lnTo>
                    <a:pt x="1410563" y="50139"/>
                  </a:lnTo>
                  <a:lnTo>
                    <a:pt x="1410563" y="66852"/>
                  </a:lnTo>
                  <a:lnTo>
                    <a:pt x="1460715" y="66852"/>
                  </a:lnTo>
                  <a:lnTo>
                    <a:pt x="1460715" y="50139"/>
                  </a:lnTo>
                  <a:close/>
                </a:path>
                <a:path w="7705090" h="67310">
                  <a:moveTo>
                    <a:pt x="1501127" y="0"/>
                  </a:moveTo>
                  <a:lnTo>
                    <a:pt x="1450987" y="0"/>
                  </a:lnTo>
                  <a:lnTo>
                    <a:pt x="1450987" y="16713"/>
                  </a:lnTo>
                  <a:lnTo>
                    <a:pt x="1501127" y="16713"/>
                  </a:lnTo>
                  <a:lnTo>
                    <a:pt x="1501127" y="0"/>
                  </a:lnTo>
                  <a:close/>
                </a:path>
                <a:path w="7705090" h="67310">
                  <a:moveTo>
                    <a:pt x="1544091" y="50139"/>
                  </a:moveTo>
                  <a:lnTo>
                    <a:pt x="1493951" y="50139"/>
                  </a:lnTo>
                  <a:lnTo>
                    <a:pt x="1493951" y="66852"/>
                  </a:lnTo>
                  <a:lnTo>
                    <a:pt x="1544091" y="66852"/>
                  </a:lnTo>
                  <a:lnTo>
                    <a:pt x="1544091" y="50139"/>
                  </a:lnTo>
                  <a:close/>
                </a:path>
                <a:path w="7705090" h="67310">
                  <a:moveTo>
                    <a:pt x="1584515" y="0"/>
                  </a:moveTo>
                  <a:lnTo>
                    <a:pt x="1534375" y="0"/>
                  </a:lnTo>
                  <a:lnTo>
                    <a:pt x="1534375" y="16713"/>
                  </a:lnTo>
                  <a:lnTo>
                    <a:pt x="1584515" y="16713"/>
                  </a:lnTo>
                  <a:lnTo>
                    <a:pt x="1584515" y="0"/>
                  </a:lnTo>
                  <a:close/>
                </a:path>
                <a:path w="7705090" h="67310">
                  <a:moveTo>
                    <a:pt x="1627479" y="50139"/>
                  </a:moveTo>
                  <a:lnTo>
                    <a:pt x="1577340" y="50139"/>
                  </a:lnTo>
                  <a:lnTo>
                    <a:pt x="1577340" y="66852"/>
                  </a:lnTo>
                  <a:lnTo>
                    <a:pt x="1627479" y="66852"/>
                  </a:lnTo>
                  <a:lnTo>
                    <a:pt x="1627479" y="50139"/>
                  </a:lnTo>
                  <a:close/>
                </a:path>
                <a:path w="7705090" h="67310">
                  <a:moveTo>
                    <a:pt x="1667903" y="0"/>
                  </a:moveTo>
                  <a:lnTo>
                    <a:pt x="1617764" y="0"/>
                  </a:lnTo>
                  <a:lnTo>
                    <a:pt x="1617764" y="16713"/>
                  </a:lnTo>
                  <a:lnTo>
                    <a:pt x="1667903" y="16713"/>
                  </a:lnTo>
                  <a:lnTo>
                    <a:pt x="1667903" y="0"/>
                  </a:lnTo>
                  <a:close/>
                </a:path>
                <a:path w="7705090" h="67310">
                  <a:moveTo>
                    <a:pt x="1710867" y="50139"/>
                  </a:moveTo>
                  <a:lnTo>
                    <a:pt x="1660728" y="50139"/>
                  </a:lnTo>
                  <a:lnTo>
                    <a:pt x="1660728" y="66852"/>
                  </a:lnTo>
                  <a:lnTo>
                    <a:pt x="1710867" y="66852"/>
                  </a:lnTo>
                  <a:lnTo>
                    <a:pt x="1710867" y="50139"/>
                  </a:lnTo>
                  <a:close/>
                </a:path>
                <a:path w="7705090" h="67310">
                  <a:moveTo>
                    <a:pt x="1751291" y="0"/>
                  </a:moveTo>
                  <a:lnTo>
                    <a:pt x="1701152" y="0"/>
                  </a:lnTo>
                  <a:lnTo>
                    <a:pt x="1701152" y="16713"/>
                  </a:lnTo>
                  <a:lnTo>
                    <a:pt x="1751291" y="16713"/>
                  </a:lnTo>
                  <a:lnTo>
                    <a:pt x="1751291" y="0"/>
                  </a:lnTo>
                  <a:close/>
                </a:path>
                <a:path w="7705090" h="67310">
                  <a:moveTo>
                    <a:pt x="1794256" y="50139"/>
                  </a:moveTo>
                  <a:lnTo>
                    <a:pt x="1744116" y="50139"/>
                  </a:lnTo>
                  <a:lnTo>
                    <a:pt x="1744116" y="66852"/>
                  </a:lnTo>
                  <a:lnTo>
                    <a:pt x="1794256" y="66852"/>
                  </a:lnTo>
                  <a:lnTo>
                    <a:pt x="1794256" y="50139"/>
                  </a:lnTo>
                  <a:close/>
                </a:path>
                <a:path w="7705090" h="67310">
                  <a:moveTo>
                    <a:pt x="1834680" y="0"/>
                  </a:moveTo>
                  <a:lnTo>
                    <a:pt x="1784540" y="0"/>
                  </a:lnTo>
                  <a:lnTo>
                    <a:pt x="1784540" y="16713"/>
                  </a:lnTo>
                  <a:lnTo>
                    <a:pt x="1834680" y="16713"/>
                  </a:lnTo>
                  <a:lnTo>
                    <a:pt x="1834680" y="0"/>
                  </a:lnTo>
                  <a:close/>
                </a:path>
                <a:path w="7705090" h="67310">
                  <a:moveTo>
                    <a:pt x="1877644" y="50139"/>
                  </a:moveTo>
                  <a:lnTo>
                    <a:pt x="1827504" y="50139"/>
                  </a:lnTo>
                  <a:lnTo>
                    <a:pt x="1827504" y="66852"/>
                  </a:lnTo>
                  <a:lnTo>
                    <a:pt x="1877644" y="66852"/>
                  </a:lnTo>
                  <a:lnTo>
                    <a:pt x="1877644" y="50139"/>
                  </a:lnTo>
                  <a:close/>
                </a:path>
                <a:path w="7705090" h="67310">
                  <a:moveTo>
                    <a:pt x="1918068" y="0"/>
                  </a:moveTo>
                  <a:lnTo>
                    <a:pt x="1867928" y="0"/>
                  </a:lnTo>
                  <a:lnTo>
                    <a:pt x="1867928" y="16713"/>
                  </a:lnTo>
                  <a:lnTo>
                    <a:pt x="1918068" y="16713"/>
                  </a:lnTo>
                  <a:lnTo>
                    <a:pt x="1918068" y="0"/>
                  </a:lnTo>
                  <a:close/>
                </a:path>
                <a:path w="7705090" h="67310">
                  <a:moveTo>
                    <a:pt x="1961032" y="50139"/>
                  </a:moveTo>
                  <a:lnTo>
                    <a:pt x="1910892" y="50139"/>
                  </a:lnTo>
                  <a:lnTo>
                    <a:pt x="1910892" y="66852"/>
                  </a:lnTo>
                  <a:lnTo>
                    <a:pt x="1961032" y="66852"/>
                  </a:lnTo>
                  <a:lnTo>
                    <a:pt x="1961032" y="50139"/>
                  </a:lnTo>
                  <a:close/>
                </a:path>
                <a:path w="7705090" h="67310">
                  <a:moveTo>
                    <a:pt x="2001456" y="0"/>
                  </a:moveTo>
                  <a:lnTo>
                    <a:pt x="1951316" y="0"/>
                  </a:lnTo>
                  <a:lnTo>
                    <a:pt x="1951316" y="16713"/>
                  </a:lnTo>
                  <a:lnTo>
                    <a:pt x="2001456" y="16713"/>
                  </a:lnTo>
                  <a:lnTo>
                    <a:pt x="2001456" y="0"/>
                  </a:lnTo>
                  <a:close/>
                </a:path>
                <a:path w="7705090" h="67310">
                  <a:moveTo>
                    <a:pt x="2044407" y="50139"/>
                  </a:moveTo>
                  <a:lnTo>
                    <a:pt x="1994268" y="50139"/>
                  </a:lnTo>
                  <a:lnTo>
                    <a:pt x="1994268" y="66852"/>
                  </a:lnTo>
                  <a:lnTo>
                    <a:pt x="2044407" y="66852"/>
                  </a:lnTo>
                  <a:lnTo>
                    <a:pt x="2044407" y="50139"/>
                  </a:lnTo>
                  <a:close/>
                </a:path>
                <a:path w="7705090" h="67310">
                  <a:moveTo>
                    <a:pt x="2084832" y="0"/>
                  </a:moveTo>
                  <a:lnTo>
                    <a:pt x="2034692" y="0"/>
                  </a:lnTo>
                  <a:lnTo>
                    <a:pt x="2034692" y="16713"/>
                  </a:lnTo>
                  <a:lnTo>
                    <a:pt x="2084832" y="16713"/>
                  </a:lnTo>
                  <a:lnTo>
                    <a:pt x="2084832" y="0"/>
                  </a:lnTo>
                  <a:close/>
                </a:path>
                <a:path w="7705090" h="67310">
                  <a:moveTo>
                    <a:pt x="2127796" y="50139"/>
                  </a:moveTo>
                  <a:lnTo>
                    <a:pt x="2077656" y="50139"/>
                  </a:lnTo>
                  <a:lnTo>
                    <a:pt x="2077656" y="66852"/>
                  </a:lnTo>
                  <a:lnTo>
                    <a:pt x="2127796" y="66852"/>
                  </a:lnTo>
                  <a:lnTo>
                    <a:pt x="2127796" y="50139"/>
                  </a:lnTo>
                  <a:close/>
                </a:path>
                <a:path w="7705090" h="67310">
                  <a:moveTo>
                    <a:pt x="2168220" y="0"/>
                  </a:moveTo>
                  <a:lnTo>
                    <a:pt x="2118080" y="0"/>
                  </a:lnTo>
                  <a:lnTo>
                    <a:pt x="2118080" y="16713"/>
                  </a:lnTo>
                  <a:lnTo>
                    <a:pt x="2168220" y="16713"/>
                  </a:lnTo>
                  <a:lnTo>
                    <a:pt x="2168220" y="0"/>
                  </a:lnTo>
                  <a:close/>
                </a:path>
                <a:path w="7705090" h="67310">
                  <a:moveTo>
                    <a:pt x="2211184" y="50139"/>
                  </a:moveTo>
                  <a:lnTo>
                    <a:pt x="2161044" y="50139"/>
                  </a:lnTo>
                  <a:lnTo>
                    <a:pt x="2161044" y="66852"/>
                  </a:lnTo>
                  <a:lnTo>
                    <a:pt x="2211184" y="66852"/>
                  </a:lnTo>
                  <a:lnTo>
                    <a:pt x="2211184" y="50139"/>
                  </a:lnTo>
                  <a:close/>
                </a:path>
                <a:path w="7705090" h="67310">
                  <a:moveTo>
                    <a:pt x="2251608" y="0"/>
                  </a:moveTo>
                  <a:lnTo>
                    <a:pt x="2201468" y="0"/>
                  </a:lnTo>
                  <a:lnTo>
                    <a:pt x="2201468" y="16713"/>
                  </a:lnTo>
                  <a:lnTo>
                    <a:pt x="2251608" y="16713"/>
                  </a:lnTo>
                  <a:lnTo>
                    <a:pt x="2251608" y="0"/>
                  </a:lnTo>
                  <a:close/>
                </a:path>
                <a:path w="7705090" h="67310">
                  <a:moveTo>
                    <a:pt x="2294572" y="50139"/>
                  </a:moveTo>
                  <a:lnTo>
                    <a:pt x="2244433" y="50139"/>
                  </a:lnTo>
                  <a:lnTo>
                    <a:pt x="2244433" y="66852"/>
                  </a:lnTo>
                  <a:lnTo>
                    <a:pt x="2294572" y="66852"/>
                  </a:lnTo>
                  <a:lnTo>
                    <a:pt x="2294572" y="50139"/>
                  </a:lnTo>
                  <a:close/>
                </a:path>
                <a:path w="7705090" h="67310">
                  <a:moveTo>
                    <a:pt x="2334996" y="0"/>
                  </a:moveTo>
                  <a:lnTo>
                    <a:pt x="2284857" y="0"/>
                  </a:lnTo>
                  <a:lnTo>
                    <a:pt x="2284857" y="16713"/>
                  </a:lnTo>
                  <a:lnTo>
                    <a:pt x="2334996" y="16713"/>
                  </a:lnTo>
                  <a:lnTo>
                    <a:pt x="2334996" y="0"/>
                  </a:lnTo>
                  <a:close/>
                </a:path>
                <a:path w="7705090" h="67310">
                  <a:moveTo>
                    <a:pt x="2377960" y="50139"/>
                  </a:moveTo>
                  <a:lnTo>
                    <a:pt x="2327821" y="50139"/>
                  </a:lnTo>
                  <a:lnTo>
                    <a:pt x="2327821" y="66852"/>
                  </a:lnTo>
                  <a:lnTo>
                    <a:pt x="2377960" y="66852"/>
                  </a:lnTo>
                  <a:lnTo>
                    <a:pt x="2377960" y="50139"/>
                  </a:lnTo>
                  <a:close/>
                </a:path>
                <a:path w="7705090" h="67310">
                  <a:moveTo>
                    <a:pt x="2418384" y="0"/>
                  </a:moveTo>
                  <a:lnTo>
                    <a:pt x="2368245" y="0"/>
                  </a:lnTo>
                  <a:lnTo>
                    <a:pt x="2368245" y="16713"/>
                  </a:lnTo>
                  <a:lnTo>
                    <a:pt x="2418384" y="16713"/>
                  </a:lnTo>
                  <a:lnTo>
                    <a:pt x="2418384" y="0"/>
                  </a:lnTo>
                  <a:close/>
                </a:path>
                <a:path w="7705090" h="67310">
                  <a:moveTo>
                    <a:pt x="2461349" y="50139"/>
                  </a:moveTo>
                  <a:lnTo>
                    <a:pt x="2411209" y="50139"/>
                  </a:lnTo>
                  <a:lnTo>
                    <a:pt x="2411209" y="66852"/>
                  </a:lnTo>
                  <a:lnTo>
                    <a:pt x="2461349" y="66852"/>
                  </a:lnTo>
                  <a:lnTo>
                    <a:pt x="2461349" y="50139"/>
                  </a:lnTo>
                  <a:close/>
                </a:path>
                <a:path w="7705090" h="67310">
                  <a:moveTo>
                    <a:pt x="2501773" y="0"/>
                  </a:moveTo>
                  <a:lnTo>
                    <a:pt x="2451633" y="0"/>
                  </a:lnTo>
                  <a:lnTo>
                    <a:pt x="2451633" y="16713"/>
                  </a:lnTo>
                  <a:lnTo>
                    <a:pt x="2501773" y="16713"/>
                  </a:lnTo>
                  <a:lnTo>
                    <a:pt x="2501773" y="0"/>
                  </a:lnTo>
                  <a:close/>
                </a:path>
                <a:path w="7705090" h="67310">
                  <a:moveTo>
                    <a:pt x="2544737" y="50139"/>
                  </a:moveTo>
                  <a:lnTo>
                    <a:pt x="2494584" y="50139"/>
                  </a:lnTo>
                  <a:lnTo>
                    <a:pt x="2494584" y="66852"/>
                  </a:lnTo>
                  <a:lnTo>
                    <a:pt x="2544737" y="66852"/>
                  </a:lnTo>
                  <a:lnTo>
                    <a:pt x="2544737" y="50139"/>
                  </a:lnTo>
                  <a:close/>
                </a:path>
                <a:path w="7705090" h="67310">
                  <a:moveTo>
                    <a:pt x="2585161" y="0"/>
                  </a:moveTo>
                  <a:lnTo>
                    <a:pt x="2535009" y="0"/>
                  </a:lnTo>
                  <a:lnTo>
                    <a:pt x="2535009" y="16713"/>
                  </a:lnTo>
                  <a:lnTo>
                    <a:pt x="2585161" y="16713"/>
                  </a:lnTo>
                  <a:lnTo>
                    <a:pt x="2585161" y="0"/>
                  </a:lnTo>
                  <a:close/>
                </a:path>
                <a:path w="7705090" h="67310">
                  <a:moveTo>
                    <a:pt x="2628112" y="50139"/>
                  </a:moveTo>
                  <a:lnTo>
                    <a:pt x="2577973" y="50139"/>
                  </a:lnTo>
                  <a:lnTo>
                    <a:pt x="2577973" y="66852"/>
                  </a:lnTo>
                  <a:lnTo>
                    <a:pt x="2628112" y="66852"/>
                  </a:lnTo>
                  <a:lnTo>
                    <a:pt x="2628112" y="50139"/>
                  </a:lnTo>
                  <a:close/>
                </a:path>
                <a:path w="7705090" h="67310">
                  <a:moveTo>
                    <a:pt x="2668536" y="0"/>
                  </a:moveTo>
                  <a:lnTo>
                    <a:pt x="2618397" y="0"/>
                  </a:lnTo>
                  <a:lnTo>
                    <a:pt x="2618397" y="16713"/>
                  </a:lnTo>
                  <a:lnTo>
                    <a:pt x="2668536" y="16713"/>
                  </a:lnTo>
                  <a:lnTo>
                    <a:pt x="2668536" y="0"/>
                  </a:lnTo>
                  <a:close/>
                </a:path>
                <a:path w="7705090" h="67310">
                  <a:moveTo>
                    <a:pt x="2711500" y="50139"/>
                  </a:moveTo>
                  <a:lnTo>
                    <a:pt x="2661361" y="50139"/>
                  </a:lnTo>
                  <a:lnTo>
                    <a:pt x="2661361" y="66852"/>
                  </a:lnTo>
                  <a:lnTo>
                    <a:pt x="2711500" y="66852"/>
                  </a:lnTo>
                  <a:lnTo>
                    <a:pt x="2711500" y="50139"/>
                  </a:lnTo>
                  <a:close/>
                </a:path>
                <a:path w="7705090" h="67310">
                  <a:moveTo>
                    <a:pt x="2751925" y="0"/>
                  </a:moveTo>
                  <a:lnTo>
                    <a:pt x="2701785" y="0"/>
                  </a:lnTo>
                  <a:lnTo>
                    <a:pt x="2701785" y="16713"/>
                  </a:lnTo>
                  <a:lnTo>
                    <a:pt x="2751925" y="16713"/>
                  </a:lnTo>
                  <a:lnTo>
                    <a:pt x="2751925" y="0"/>
                  </a:lnTo>
                  <a:close/>
                </a:path>
                <a:path w="7705090" h="67310">
                  <a:moveTo>
                    <a:pt x="2794889" y="50139"/>
                  </a:moveTo>
                  <a:lnTo>
                    <a:pt x="2744749" y="50139"/>
                  </a:lnTo>
                  <a:lnTo>
                    <a:pt x="2744749" y="66852"/>
                  </a:lnTo>
                  <a:lnTo>
                    <a:pt x="2794889" y="66852"/>
                  </a:lnTo>
                  <a:lnTo>
                    <a:pt x="2794889" y="50139"/>
                  </a:lnTo>
                  <a:close/>
                </a:path>
                <a:path w="7705090" h="67310">
                  <a:moveTo>
                    <a:pt x="2835313" y="0"/>
                  </a:moveTo>
                  <a:lnTo>
                    <a:pt x="2785173" y="0"/>
                  </a:lnTo>
                  <a:lnTo>
                    <a:pt x="2785173" y="16713"/>
                  </a:lnTo>
                  <a:lnTo>
                    <a:pt x="2835313" y="16713"/>
                  </a:lnTo>
                  <a:lnTo>
                    <a:pt x="2835313" y="0"/>
                  </a:lnTo>
                  <a:close/>
                </a:path>
                <a:path w="7705090" h="67310">
                  <a:moveTo>
                    <a:pt x="2878277" y="50139"/>
                  </a:moveTo>
                  <a:lnTo>
                    <a:pt x="2828137" y="50139"/>
                  </a:lnTo>
                  <a:lnTo>
                    <a:pt x="2828137" y="66852"/>
                  </a:lnTo>
                  <a:lnTo>
                    <a:pt x="2878277" y="66852"/>
                  </a:lnTo>
                  <a:lnTo>
                    <a:pt x="2878277" y="50139"/>
                  </a:lnTo>
                  <a:close/>
                </a:path>
                <a:path w="7705090" h="67310">
                  <a:moveTo>
                    <a:pt x="2918701" y="0"/>
                  </a:moveTo>
                  <a:lnTo>
                    <a:pt x="2868561" y="0"/>
                  </a:lnTo>
                  <a:lnTo>
                    <a:pt x="2868561" y="16713"/>
                  </a:lnTo>
                  <a:lnTo>
                    <a:pt x="2918701" y="16713"/>
                  </a:lnTo>
                  <a:lnTo>
                    <a:pt x="2918701" y="0"/>
                  </a:lnTo>
                  <a:close/>
                </a:path>
                <a:path w="7705090" h="67310">
                  <a:moveTo>
                    <a:pt x="2961665" y="50139"/>
                  </a:moveTo>
                  <a:lnTo>
                    <a:pt x="2911525" y="50139"/>
                  </a:lnTo>
                  <a:lnTo>
                    <a:pt x="2911525" y="66852"/>
                  </a:lnTo>
                  <a:lnTo>
                    <a:pt x="2961665" y="66852"/>
                  </a:lnTo>
                  <a:lnTo>
                    <a:pt x="2961665" y="50139"/>
                  </a:lnTo>
                  <a:close/>
                </a:path>
                <a:path w="7705090" h="67310">
                  <a:moveTo>
                    <a:pt x="3002089" y="0"/>
                  </a:moveTo>
                  <a:lnTo>
                    <a:pt x="2951950" y="0"/>
                  </a:lnTo>
                  <a:lnTo>
                    <a:pt x="2951950" y="16713"/>
                  </a:lnTo>
                  <a:lnTo>
                    <a:pt x="3002089" y="16713"/>
                  </a:lnTo>
                  <a:lnTo>
                    <a:pt x="3002089" y="0"/>
                  </a:lnTo>
                  <a:close/>
                </a:path>
                <a:path w="7705090" h="67310">
                  <a:moveTo>
                    <a:pt x="3045053" y="50139"/>
                  </a:moveTo>
                  <a:lnTo>
                    <a:pt x="2994914" y="50139"/>
                  </a:lnTo>
                  <a:lnTo>
                    <a:pt x="2994914" y="66852"/>
                  </a:lnTo>
                  <a:lnTo>
                    <a:pt x="3045053" y="66852"/>
                  </a:lnTo>
                  <a:lnTo>
                    <a:pt x="3045053" y="50139"/>
                  </a:lnTo>
                  <a:close/>
                </a:path>
                <a:path w="7705090" h="67310">
                  <a:moveTo>
                    <a:pt x="3085477" y="0"/>
                  </a:moveTo>
                  <a:lnTo>
                    <a:pt x="3035338" y="0"/>
                  </a:lnTo>
                  <a:lnTo>
                    <a:pt x="3035338" y="16713"/>
                  </a:lnTo>
                  <a:lnTo>
                    <a:pt x="3085477" y="16713"/>
                  </a:lnTo>
                  <a:lnTo>
                    <a:pt x="3085477" y="0"/>
                  </a:lnTo>
                  <a:close/>
                </a:path>
                <a:path w="7705090" h="67310">
                  <a:moveTo>
                    <a:pt x="3128429" y="50139"/>
                  </a:moveTo>
                  <a:lnTo>
                    <a:pt x="3078289" y="50139"/>
                  </a:lnTo>
                  <a:lnTo>
                    <a:pt x="3078289" y="66852"/>
                  </a:lnTo>
                  <a:lnTo>
                    <a:pt x="3128429" y="66852"/>
                  </a:lnTo>
                  <a:lnTo>
                    <a:pt x="3128429" y="50139"/>
                  </a:lnTo>
                  <a:close/>
                </a:path>
                <a:path w="7705090" h="67310">
                  <a:moveTo>
                    <a:pt x="3168853" y="0"/>
                  </a:moveTo>
                  <a:lnTo>
                    <a:pt x="3118713" y="0"/>
                  </a:lnTo>
                  <a:lnTo>
                    <a:pt x="3118713" y="16713"/>
                  </a:lnTo>
                  <a:lnTo>
                    <a:pt x="3168853" y="16713"/>
                  </a:lnTo>
                  <a:lnTo>
                    <a:pt x="3168853" y="0"/>
                  </a:lnTo>
                  <a:close/>
                </a:path>
                <a:path w="7705090" h="67310">
                  <a:moveTo>
                    <a:pt x="3211817" y="50139"/>
                  </a:moveTo>
                  <a:lnTo>
                    <a:pt x="3161677" y="50139"/>
                  </a:lnTo>
                  <a:lnTo>
                    <a:pt x="3161677" y="66852"/>
                  </a:lnTo>
                  <a:lnTo>
                    <a:pt x="3211817" y="66852"/>
                  </a:lnTo>
                  <a:lnTo>
                    <a:pt x="3211817" y="50139"/>
                  </a:lnTo>
                  <a:close/>
                </a:path>
                <a:path w="7705090" h="67310">
                  <a:moveTo>
                    <a:pt x="3252241" y="0"/>
                  </a:moveTo>
                  <a:lnTo>
                    <a:pt x="3202101" y="0"/>
                  </a:lnTo>
                  <a:lnTo>
                    <a:pt x="3202101" y="16713"/>
                  </a:lnTo>
                  <a:lnTo>
                    <a:pt x="3252241" y="16713"/>
                  </a:lnTo>
                  <a:lnTo>
                    <a:pt x="3252241" y="0"/>
                  </a:lnTo>
                  <a:close/>
                </a:path>
                <a:path w="7705090" h="67310">
                  <a:moveTo>
                    <a:pt x="3295205" y="50139"/>
                  </a:moveTo>
                  <a:lnTo>
                    <a:pt x="3245066" y="50139"/>
                  </a:lnTo>
                  <a:lnTo>
                    <a:pt x="3245066" y="66852"/>
                  </a:lnTo>
                  <a:lnTo>
                    <a:pt x="3295205" y="66852"/>
                  </a:lnTo>
                  <a:lnTo>
                    <a:pt x="3295205" y="50139"/>
                  </a:lnTo>
                  <a:close/>
                </a:path>
                <a:path w="7705090" h="67310">
                  <a:moveTo>
                    <a:pt x="3335629" y="0"/>
                  </a:moveTo>
                  <a:lnTo>
                    <a:pt x="3285490" y="0"/>
                  </a:lnTo>
                  <a:lnTo>
                    <a:pt x="3285490" y="16713"/>
                  </a:lnTo>
                  <a:lnTo>
                    <a:pt x="3335629" y="16713"/>
                  </a:lnTo>
                  <a:lnTo>
                    <a:pt x="3335629" y="0"/>
                  </a:lnTo>
                  <a:close/>
                </a:path>
                <a:path w="7705090" h="67310">
                  <a:moveTo>
                    <a:pt x="3378593" y="50139"/>
                  </a:moveTo>
                  <a:lnTo>
                    <a:pt x="3328454" y="50139"/>
                  </a:lnTo>
                  <a:lnTo>
                    <a:pt x="3328454" y="66852"/>
                  </a:lnTo>
                  <a:lnTo>
                    <a:pt x="3378593" y="66852"/>
                  </a:lnTo>
                  <a:lnTo>
                    <a:pt x="3378593" y="50139"/>
                  </a:lnTo>
                  <a:close/>
                </a:path>
                <a:path w="7705090" h="67310">
                  <a:moveTo>
                    <a:pt x="3419017" y="0"/>
                  </a:moveTo>
                  <a:lnTo>
                    <a:pt x="3368878" y="0"/>
                  </a:lnTo>
                  <a:lnTo>
                    <a:pt x="3368878" y="16713"/>
                  </a:lnTo>
                  <a:lnTo>
                    <a:pt x="3419017" y="16713"/>
                  </a:lnTo>
                  <a:lnTo>
                    <a:pt x="3419017" y="0"/>
                  </a:lnTo>
                  <a:close/>
                </a:path>
                <a:path w="7705090" h="67310">
                  <a:moveTo>
                    <a:pt x="3461982" y="50139"/>
                  </a:moveTo>
                  <a:lnTo>
                    <a:pt x="3411842" y="50139"/>
                  </a:lnTo>
                  <a:lnTo>
                    <a:pt x="3411842" y="66852"/>
                  </a:lnTo>
                  <a:lnTo>
                    <a:pt x="3461982" y="66852"/>
                  </a:lnTo>
                  <a:lnTo>
                    <a:pt x="3461982" y="50139"/>
                  </a:lnTo>
                  <a:close/>
                </a:path>
                <a:path w="7705090" h="67310">
                  <a:moveTo>
                    <a:pt x="3502406" y="0"/>
                  </a:moveTo>
                  <a:lnTo>
                    <a:pt x="3452266" y="0"/>
                  </a:lnTo>
                  <a:lnTo>
                    <a:pt x="3452266" y="16713"/>
                  </a:lnTo>
                  <a:lnTo>
                    <a:pt x="3502406" y="16713"/>
                  </a:lnTo>
                  <a:lnTo>
                    <a:pt x="3502406" y="0"/>
                  </a:lnTo>
                  <a:close/>
                </a:path>
                <a:path w="7705090" h="67310">
                  <a:moveTo>
                    <a:pt x="3545370" y="50139"/>
                  </a:moveTo>
                  <a:lnTo>
                    <a:pt x="3495230" y="50139"/>
                  </a:lnTo>
                  <a:lnTo>
                    <a:pt x="3495230" y="66852"/>
                  </a:lnTo>
                  <a:lnTo>
                    <a:pt x="3545370" y="66852"/>
                  </a:lnTo>
                  <a:lnTo>
                    <a:pt x="3545370" y="50139"/>
                  </a:lnTo>
                  <a:close/>
                </a:path>
                <a:path w="7705090" h="67310">
                  <a:moveTo>
                    <a:pt x="3585794" y="0"/>
                  </a:moveTo>
                  <a:lnTo>
                    <a:pt x="3535654" y="0"/>
                  </a:lnTo>
                  <a:lnTo>
                    <a:pt x="3535654" y="16713"/>
                  </a:lnTo>
                  <a:lnTo>
                    <a:pt x="3585794" y="16713"/>
                  </a:lnTo>
                  <a:lnTo>
                    <a:pt x="3585794" y="0"/>
                  </a:lnTo>
                  <a:close/>
                </a:path>
                <a:path w="7705090" h="67310">
                  <a:moveTo>
                    <a:pt x="3628758" y="50139"/>
                  </a:moveTo>
                  <a:lnTo>
                    <a:pt x="3578618" y="50139"/>
                  </a:lnTo>
                  <a:lnTo>
                    <a:pt x="3578618" y="66852"/>
                  </a:lnTo>
                  <a:lnTo>
                    <a:pt x="3628758" y="66852"/>
                  </a:lnTo>
                  <a:lnTo>
                    <a:pt x="3628758" y="50139"/>
                  </a:lnTo>
                  <a:close/>
                </a:path>
                <a:path w="7705090" h="67310">
                  <a:moveTo>
                    <a:pt x="3669182" y="0"/>
                  </a:moveTo>
                  <a:lnTo>
                    <a:pt x="3619042" y="0"/>
                  </a:lnTo>
                  <a:lnTo>
                    <a:pt x="3619042" y="16713"/>
                  </a:lnTo>
                  <a:lnTo>
                    <a:pt x="3669182" y="16713"/>
                  </a:lnTo>
                  <a:lnTo>
                    <a:pt x="3669182" y="0"/>
                  </a:lnTo>
                  <a:close/>
                </a:path>
                <a:path w="7705090" h="67310">
                  <a:moveTo>
                    <a:pt x="3712146" y="50139"/>
                  </a:moveTo>
                  <a:lnTo>
                    <a:pt x="3661994" y="50139"/>
                  </a:lnTo>
                  <a:lnTo>
                    <a:pt x="3661994" y="66852"/>
                  </a:lnTo>
                  <a:lnTo>
                    <a:pt x="3712146" y="66852"/>
                  </a:lnTo>
                  <a:lnTo>
                    <a:pt x="3712146" y="50139"/>
                  </a:lnTo>
                  <a:close/>
                </a:path>
                <a:path w="7705090" h="67310">
                  <a:moveTo>
                    <a:pt x="3752558" y="0"/>
                  </a:moveTo>
                  <a:lnTo>
                    <a:pt x="3702418" y="0"/>
                  </a:lnTo>
                  <a:lnTo>
                    <a:pt x="3702418" y="16713"/>
                  </a:lnTo>
                  <a:lnTo>
                    <a:pt x="3752558" y="16713"/>
                  </a:lnTo>
                  <a:lnTo>
                    <a:pt x="3752558" y="0"/>
                  </a:lnTo>
                  <a:close/>
                </a:path>
                <a:path w="7705090" h="67310">
                  <a:moveTo>
                    <a:pt x="3795522" y="50139"/>
                  </a:moveTo>
                  <a:lnTo>
                    <a:pt x="3745382" y="50139"/>
                  </a:lnTo>
                  <a:lnTo>
                    <a:pt x="3745382" y="66852"/>
                  </a:lnTo>
                  <a:lnTo>
                    <a:pt x="3795522" y="66852"/>
                  </a:lnTo>
                  <a:lnTo>
                    <a:pt x="3795522" y="50139"/>
                  </a:lnTo>
                  <a:close/>
                </a:path>
                <a:path w="7705090" h="67310">
                  <a:moveTo>
                    <a:pt x="3835946" y="0"/>
                  </a:moveTo>
                  <a:lnTo>
                    <a:pt x="3785806" y="0"/>
                  </a:lnTo>
                  <a:lnTo>
                    <a:pt x="3785806" y="16713"/>
                  </a:lnTo>
                  <a:lnTo>
                    <a:pt x="3835946" y="16713"/>
                  </a:lnTo>
                  <a:lnTo>
                    <a:pt x="3835946" y="0"/>
                  </a:lnTo>
                  <a:close/>
                </a:path>
                <a:path w="7705090" h="67310">
                  <a:moveTo>
                    <a:pt x="3878910" y="50139"/>
                  </a:moveTo>
                  <a:lnTo>
                    <a:pt x="3828770" y="50139"/>
                  </a:lnTo>
                  <a:lnTo>
                    <a:pt x="3828770" y="66852"/>
                  </a:lnTo>
                  <a:lnTo>
                    <a:pt x="3878910" y="66852"/>
                  </a:lnTo>
                  <a:lnTo>
                    <a:pt x="3878910" y="50139"/>
                  </a:lnTo>
                  <a:close/>
                </a:path>
                <a:path w="7705090" h="67310">
                  <a:moveTo>
                    <a:pt x="3919334" y="0"/>
                  </a:moveTo>
                  <a:lnTo>
                    <a:pt x="3869194" y="0"/>
                  </a:lnTo>
                  <a:lnTo>
                    <a:pt x="3869194" y="16713"/>
                  </a:lnTo>
                  <a:lnTo>
                    <a:pt x="3919334" y="16713"/>
                  </a:lnTo>
                  <a:lnTo>
                    <a:pt x="3919334" y="0"/>
                  </a:lnTo>
                  <a:close/>
                </a:path>
                <a:path w="7705090" h="67310">
                  <a:moveTo>
                    <a:pt x="3962298" y="50139"/>
                  </a:moveTo>
                  <a:lnTo>
                    <a:pt x="3912158" y="50139"/>
                  </a:lnTo>
                  <a:lnTo>
                    <a:pt x="3912158" y="66852"/>
                  </a:lnTo>
                  <a:lnTo>
                    <a:pt x="3962298" y="66852"/>
                  </a:lnTo>
                  <a:lnTo>
                    <a:pt x="3962298" y="50139"/>
                  </a:lnTo>
                  <a:close/>
                </a:path>
                <a:path w="7705090" h="67310">
                  <a:moveTo>
                    <a:pt x="4002722" y="0"/>
                  </a:moveTo>
                  <a:lnTo>
                    <a:pt x="3952583" y="0"/>
                  </a:lnTo>
                  <a:lnTo>
                    <a:pt x="3952583" y="16713"/>
                  </a:lnTo>
                  <a:lnTo>
                    <a:pt x="4002722" y="16713"/>
                  </a:lnTo>
                  <a:lnTo>
                    <a:pt x="4002722" y="0"/>
                  </a:lnTo>
                  <a:close/>
                </a:path>
                <a:path w="7705090" h="67310">
                  <a:moveTo>
                    <a:pt x="4045686" y="50139"/>
                  </a:moveTo>
                  <a:lnTo>
                    <a:pt x="3995547" y="50139"/>
                  </a:lnTo>
                  <a:lnTo>
                    <a:pt x="3995547" y="66852"/>
                  </a:lnTo>
                  <a:lnTo>
                    <a:pt x="4045686" y="66852"/>
                  </a:lnTo>
                  <a:lnTo>
                    <a:pt x="4045686" y="50139"/>
                  </a:lnTo>
                  <a:close/>
                </a:path>
                <a:path w="7705090" h="67310">
                  <a:moveTo>
                    <a:pt x="4086110" y="0"/>
                  </a:moveTo>
                  <a:lnTo>
                    <a:pt x="4035971" y="0"/>
                  </a:lnTo>
                  <a:lnTo>
                    <a:pt x="4035971" y="16713"/>
                  </a:lnTo>
                  <a:lnTo>
                    <a:pt x="4086110" y="16713"/>
                  </a:lnTo>
                  <a:lnTo>
                    <a:pt x="4086110" y="0"/>
                  </a:lnTo>
                  <a:close/>
                </a:path>
                <a:path w="7705090" h="67310">
                  <a:moveTo>
                    <a:pt x="4129074" y="50139"/>
                  </a:moveTo>
                  <a:lnTo>
                    <a:pt x="4078935" y="50139"/>
                  </a:lnTo>
                  <a:lnTo>
                    <a:pt x="4078935" y="66852"/>
                  </a:lnTo>
                  <a:lnTo>
                    <a:pt x="4129074" y="66852"/>
                  </a:lnTo>
                  <a:lnTo>
                    <a:pt x="4129074" y="50139"/>
                  </a:lnTo>
                  <a:close/>
                </a:path>
                <a:path w="7705090" h="67310">
                  <a:moveTo>
                    <a:pt x="4169499" y="0"/>
                  </a:moveTo>
                  <a:lnTo>
                    <a:pt x="4119359" y="0"/>
                  </a:lnTo>
                  <a:lnTo>
                    <a:pt x="4119359" y="16713"/>
                  </a:lnTo>
                  <a:lnTo>
                    <a:pt x="4169499" y="16713"/>
                  </a:lnTo>
                  <a:lnTo>
                    <a:pt x="4169499" y="0"/>
                  </a:lnTo>
                  <a:close/>
                </a:path>
                <a:path w="7705090" h="67310">
                  <a:moveTo>
                    <a:pt x="4212463" y="50139"/>
                  </a:moveTo>
                  <a:lnTo>
                    <a:pt x="4162323" y="50139"/>
                  </a:lnTo>
                  <a:lnTo>
                    <a:pt x="4162323" y="66852"/>
                  </a:lnTo>
                  <a:lnTo>
                    <a:pt x="4212463" y="66852"/>
                  </a:lnTo>
                  <a:lnTo>
                    <a:pt x="4212463" y="50139"/>
                  </a:lnTo>
                  <a:close/>
                </a:path>
                <a:path w="7705090" h="67310">
                  <a:moveTo>
                    <a:pt x="4252887" y="0"/>
                  </a:moveTo>
                  <a:lnTo>
                    <a:pt x="4202747" y="0"/>
                  </a:lnTo>
                  <a:lnTo>
                    <a:pt x="4202747" y="16713"/>
                  </a:lnTo>
                  <a:lnTo>
                    <a:pt x="4252887" y="16713"/>
                  </a:lnTo>
                  <a:lnTo>
                    <a:pt x="4252887" y="0"/>
                  </a:lnTo>
                  <a:close/>
                </a:path>
                <a:path w="7705090" h="67310">
                  <a:moveTo>
                    <a:pt x="4295838" y="50139"/>
                  </a:moveTo>
                  <a:lnTo>
                    <a:pt x="4245699" y="50139"/>
                  </a:lnTo>
                  <a:lnTo>
                    <a:pt x="4245699" y="66852"/>
                  </a:lnTo>
                  <a:lnTo>
                    <a:pt x="4295838" y="66852"/>
                  </a:lnTo>
                  <a:lnTo>
                    <a:pt x="4295838" y="50139"/>
                  </a:lnTo>
                  <a:close/>
                </a:path>
                <a:path w="7705090" h="67310">
                  <a:moveTo>
                    <a:pt x="4336262" y="0"/>
                  </a:moveTo>
                  <a:lnTo>
                    <a:pt x="4286123" y="0"/>
                  </a:lnTo>
                  <a:lnTo>
                    <a:pt x="4286123" y="16713"/>
                  </a:lnTo>
                  <a:lnTo>
                    <a:pt x="4336262" y="16713"/>
                  </a:lnTo>
                  <a:lnTo>
                    <a:pt x="4336262" y="0"/>
                  </a:lnTo>
                  <a:close/>
                </a:path>
                <a:path w="7705090" h="67310">
                  <a:moveTo>
                    <a:pt x="4379226" y="50139"/>
                  </a:moveTo>
                  <a:lnTo>
                    <a:pt x="4329087" y="50139"/>
                  </a:lnTo>
                  <a:lnTo>
                    <a:pt x="4329087" y="66852"/>
                  </a:lnTo>
                  <a:lnTo>
                    <a:pt x="4379226" y="66852"/>
                  </a:lnTo>
                  <a:lnTo>
                    <a:pt x="4379226" y="50139"/>
                  </a:lnTo>
                  <a:close/>
                </a:path>
                <a:path w="7705090" h="67310">
                  <a:moveTo>
                    <a:pt x="4419651" y="0"/>
                  </a:moveTo>
                  <a:lnTo>
                    <a:pt x="4369511" y="0"/>
                  </a:lnTo>
                  <a:lnTo>
                    <a:pt x="4369511" y="16713"/>
                  </a:lnTo>
                  <a:lnTo>
                    <a:pt x="4419651" y="16713"/>
                  </a:lnTo>
                  <a:lnTo>
                    <a:pt x="4419651" y="0"/>
                  </a:lnTo>
                  <a:close/>
                </a:path>
                <a:path w="7705090" h="67310">
                  <a:moveTo>
                    <a:pt x="4462615" y="50139"/>
                  </a:moveTo>
                  <a:lnTo>
                    <a:pt x="4412475" y="50139"/>
                  </a:lnTo>
                  <a:lnTo>
                    <a:pt x="4412475" y="66852"/>
                  </a:lnTo>
                  <a:lnTo>
                    <a:pt x="4462615" y="66852"/>
                  </a:lnTo>
                  <a:lnTo>
                    <a:pt x="4462615" y="50139"/>
                  </a:lnTo>
                  <a:close/>
                </a:path>
                <a:path w="7705090" h="67310">
                  <a:moveTo>
                    <a:pt x="4503039" y="0"/>
                  </a:moveTo>
                  <a:lnTo>
                    <a:pt x="4452899" y="0"/>
                  </a:lnTo>
                  <a:lnTo>
                    <a:pt x="4452899" y="16713"/>
                  </a:lnTo>
                  <a:lnTo>
                    <a:pt x="4503039" y="16713"/>
                  </a:lnTo>
                  <a:lnTo>
                    <a:pt x="4503039" y="0"/>
                  </a:lnTo>
                  <a:close/>
                </a:path>
                <a:path w="7705090" h="67310">
                  <a:moveTo>
                    <a:pt x="4546003" y="50139"/>
                  </a:moveTo>
                  <a:lnTo>
                    <a:pt x="4495863" y="50139"/>
                  </a:lnTo>
                  <a:lnTo>
                    <a:pt x="4495863" y="66852"/>
                  </a:lnTo>
                  <a:lnTo>
                    <a:pt x="4546003" y="66852"/>
                  </a:lnTo>
                  <a:lnTo>
                    <a:pt x="4546003" y="50139"/>
                  </a:lnTo>
                  <a:close/>
                </a:path>
                <a:path w="7705090" h="67310">
                  <a:moveTo>
                    <a:pt x="4586427" y="0"/>
                  </a:moveTo>
                  <a:lnTo>
                    <a:pt x="4536287" y="0"/>
                  </a:lnTo>
                  <a:lnTo>
                    <a:pt x="4536287" y="16713"/>
                  </a:lnTo>
                  <a:lnTo>
                    <a:pt x="4586427" y="16713"/>
                  </a:lnTo>
                  <a:lnTo>
                    <a:pt x="4586427" y="0"/>
                  </a:lnTo>
                  <a:close/>
                </a:path>
                <a:path w="7705090" h="67310">
                  <a:moveTo>
                    <a:pt x="4629391" y="50139"/>
                  </a:moveTo>
                  <a:lnTo>
                    <a:pt x="4579251" y="50139"/>
                  </a:lnTo>
                  <a:lnTo>
                    <a:pt x="4579251" y="66852"/>
                  </a:lnTo>
                  <a:lnTo>
                    <a:pt x="4629391" y="66852"/>
                  </a:lnTo>
                  <a:lnTo>
                    <a:pt x="4629391" y="50139"/>
                  </a:lnTo>
                  <a:close/>
                </a:path>
                <a:path w="7705090" h="67310">
                  <a:moveTo>
                    <a:pt x="4669815" y="0"/>
                  </a:moveTo>
                  <a:lnTo>
                    <a:pt x="4619676" y="0"/>
                  </a:lnTo>
                  <a:lnTo>
                    <a:pt x="4619676" y="16713"/>
                  </a:lnTo>
                  <a:lnTo>
                    <a:pt x="4669815" y="16713"/>
                  </a:lnTo>
                  <a:lnTo>
                    <a:pt x="4669815" y="0"/>
                  </a:lnTo>
                  <a:close/>
                </a:path>
                <a:path w="7705090" h="67310">
                  <a:moveTo>
                    <a:pt x="4712779" y="50139"/>
                  </a:moveTo>
                  <a:lnTo>
                    <a:pt x="4662640" y="50139"/>
                  </a:lnTo>
                  <a:lnTo>
                    <a:pt x="4662640" y="66852"/>
                  </a:lnTo>
                  <a:lnTo>
                    <a:pt x="4712779" y="66852"/>
                  </a:lnTo>
                  <a:lnTo>
                    <a:pt x="4712779" y="50139"/>
                  </a:lnTo>
                  <a:close/>
                </a:path>
                <a:path w="7705090" h="67310">
                  <a:moveTo>
                    <a:pt x="4753203" y="0"/>
                  </a:moveTo>
                  <a:lnTo>
                    <a:pt x="4703064" y="0"/>
                  </a:lnTo>
                  <a:lnTo>
                    <a:pt x="4703064" y="16713"/>
                  </a:lnTo>
                  <a:lnTo>
                    <a:pt x="4753203" y="16713"/>
                  </a:lnTo>
                  <a:lnTo>
                    <a:pt x="4753203" y="0"/>
                  </a:lnTo>
                  <a:close/>
                </a:path>
                <a:path w="7705090" h="67310">
                  <a:moveTo>
                    <a:pt x="4796167" y="50139"/>
                  </a:moveTo>
                  <a:lnTo>
                    <a:pt x="4746028" y="50139"/>
                  </a:lnTo>
                  <a:lnTo>
                    <a:pt x="4746028" y="66852"/>
                  </a:lnTo>
                  <a:lnTo>
                    <a:pt x="4796167" y="66852"/>
                  </a:lnTo>
                  <a:lnTo>
                    <a:pt x="4796167" y="50139"/>
                  </a:lnTo>
                  <a:close/>
                </a:path>
                <a:path w="7705090" h="67310">
                  <a:moveTo>
                    <a:pt x="4836592" y="0"/>
                  </a:moveTo>
                  <a:lnTo>
                    <a:pt x="4786439" y="0"/>
                  </a:lnTo>
                  <a:lnTo>
                    <a:pt x="4786439" y="16713"/>
                  </a:lnTo>
                  <a:lnTo>
                    <a:pt x="4836592" y="16713"/>
                  </a:lnTo>
                  <a:lnTo>
                    <a:pt x="4836592" y="0"/>
                  </a:lnTo>
                  <a:close/>
                </a:path>
                <a:path w="7705090" h="67310">
                  <a:moveTo>
                    <a:pt x="4879543" y="50139"/>
                  </a:moveTo>
                  <a:lnTo>
                    <a:pt x="4829403" y="50139"/>
                  </a:lnTo>
                  <a:lnTo>
                    <a:pt x="4829403" y="66852"/>
                  </a:lnTo>
                  <a:lnTo>
                    <a:pt x="4879543" y="66852"/>
                  </a:lnTo>
                  <a:lnTo>
                    <a:pt x="4879543" y="50139"/>
                  </a:lnTo>
                  <a:close/>
                </a:path>
                <a:path w="7705090" h="67310">
                  <a:moveTo>
                    <a:pt x="4919967" y="0"/>
                  </a:moveTo>
                  <a:lnTo>
                    <a:pt x="4869827" y="0"/>
                  </a:lnTo>
                  <a:lnTo>
                    <a:pt x="4869827" y="16713"/>
                  </a:lnTo>
                  <a:lnTo>
                    <a:pt x="4919967" y="16713"/>
                  </a:lnTo>
                  <a:lnTo>
                    <a:pt x="4919967" y="0"/>
                  </a:lnTo>
                  <a:close/>
                </a:path>
                <a:path w="7705090" h="67310">
                  <a:moveTo>
                    <a:pt x="4962931" y="50139"/>
                  </a:moveTo>
                  <a:lnTo>
                    <a:pt x="4912792" y="50139"/>
                  </a:lnTo>
                  <a:lnTo>
                    <a:pt x="4912792" y="66852"/>
                  </a:lnTo>
                  <a:lnTo>
                    <a:pt x="4962931" y="66852"/>
                  </a:lnTo>
                  <a:lnTo>
                    <a:pt x="4962931" y="50139"/>
                  </a:lnTo>
                  <a:close/>
                </a:path>
                <a:path w="7705090" h="67310">
                  <a:moveTo>
                    <a:pt x="5003355" y="0"/>
                  </a:moveTo>
                  <a:lnTo>
                    <a:pt x="4953216" y="0"/>
                  </a:lnTo>
                  <a:lnTo>
                    <a:pt x="4953216" y="16713"/>
                  </a:lnTo>
                  <a:lnTo>
                    <a:pt x="5003355" y="16713"/>
                  </a:lnTo>
                  <a:lnTo>
                    <a:pt x="5003355" y="0"/>
                  </a:lnTo>
                  <a:close/>
                </a:path>
                <a:path w="7705090" h="67310">
                  <a:moveTo>
                    <a:pt x="5046319" y="50139"/>
                  </a:moveTo>
                  <a:lnTo>
                    <a:pt x="4996180" y="50139"/>
                  </a:lnTo>
                  <a:lnTo>
                    <a:pt x="4996180" y="66852"/>
                  </a:lnTo>
                  <a:lnTo>
                    <a:pt x="5046319" y="66852"/>
                  </a:lnTo>
                  <a:lnTo>
                    <a:pt x="5046319" y="50139"/>
                  </a:lnTo>
                  <a:close/>
                </a:path>
                <a:path w="7705090" h="67310">
                  <a:moveTo>
                    <a:pt x="5086743" y="0"/>
                  </a:moveTo>
                  <a:lnTo>
                    <a:pt x="5036604" y="0"/>
                  </a:lnTo>
                  <a:lnTo>
                    <a:pt x="5036604" y="16713"/>
                  </a:lnTo>
                  <a:lnTo>
                    <a:pt x="5086743" y="16713"/>
                  </a:lnTo>
                  <a:lnTo>
                    <a:pt x="5086743" y="0"/>
                  </a:lnTo>
                  <a:close/>
                </a:path>
                <a:path w="7705090" h="67310">
                  <a:moveTo>
                    <a:pt x="5129708" y="50139"/>
                  </a:moveTo>
                  <a:lnTo>
                    <a:pt x="5079568" y="50139"/>
                  </a:lnTo>
                  <a:lnTo>
                    <a:pt x="5079568" y="66852"/>
                  </a:lnTo>
                  <a:lnTo>
                    <a:pt x="5129708" y="66852"/>
                  </a:lnTo>
                  <a:lnTo>
                    <a:pt x="5129708" y="50139"/>
                  </a:lnTo>
                  <a:close/>
                </a:path>
                <a:path w="7705090" h="67310">
                  <a:moveTo>
                    <a:pt x="5170132" y="0"/>
                  </a:moveTo>
                  <a:lnTo>
                    <a:pt x="5119992" y="0"/>
                  </a:lnTo>
                  <a:lnTo>
                    <a:pt x="5119992" y="16713"/>
                  </a:lnTo>
                  <a:lnTo>
                    <a:pt x="5170132" y="16713"/>
                  </a:lnTo>
                  <a:lnTo>
                    <a:pt x="5170132" y="0"/>
                  </a:lnTo>
                  <a:close/>
                </a:path>
                <a:path w="7705090" h="67310">
                  <a:moveTo>
                    <a:pt x="5213096" y="50139"/>
                  </a:moveTo>
                  <a:lnTo>
                    <a:pt x="5162956" y="50139"/>
                  </a:lnTo>
                  <a:lnTo>
                    <a:pt x="5162956" y="66852"/>
                  </a:lnTo>
                  <a:lnTo>
                    <a:pt x="5213096" y="66852"/>
                  </a:lnTo>
                  <a:lnTo>
                    <a:pt x="5213096" y="50139"/>
                  </a:lnTo>
                  <a:close/>
                </a:path>
                <a:path w="7705090" h="67310">
                  <a:moveTo>
                    <a:pt x="5253520" y="0"/>
                  </a:moveTo>
                  <a:lnTo>
                    <a:pt x="5203380" y="0"/>
                  </a:lnTo>
                  <a:lnTo>
                    <a:pt x="5203380" y="16713"/>
                  </a:lnTo>
                  <a:lnTo>
                    <a:pt x="5253520" y="16713"/>
                  </a:lnTo>
                  <a:lnTo>
                    <a:pt x="5253520" y="0"/>
                  </a:lnTo>
                  <a:close/>
                </a:path>
                <a:path w="7705090" h="67310">
                  <a:moveTo>
                    <a:pt x="5296484" y="50139"/>
                  </a:moveTo>
                  <a:lnTo>
                    <a:pt x="5246344" y="50139"/>
                  </a:lnTo>
                  <a:lnTo>
                    <a:pt x="5246344" y="66852"/>
                  </a:lnTo>
                  <a:lnTo>
                    <a:pt x="5296484" y="66852"/>
                  </a:lnTo>
                  <a:lnTo>
                    <a:pt x="5296484" y="50139"/>
                  </a:lnTo>
                  <a:close/>
                </a:path>
                <a:path w="7705090" h="67310">
                  <a:moveTo>
                    <a:pt x="5336908" y="0"/>
                  </a:moveTo>
                  <a:lnTo>
                    <a:pt x="5286768" y="0"/>
                  </a:lnTo>
                  <a:lnTo>
                    <a:pt x="5286768" y="16713"/>
                  </a:lnTo>
                  <a:lnTo>
                    <a:pt x="5336908" y="16713"/>
                  </a:lnTo>
                  <a:lnTo>
                    <a:pt x="5336908" y="0"/>
                  </a:lnTo>
                  <a:close/>
                </a:path>
                <a:path w="7705090" h="67310">
                  <a:moveTo>
                    <a:pt x="5379872" y="50139"/>
                  </a:moveTo>
                  <a:lnTo>
                    <a:pt x="5329720" y="50139"/>
                  </a:lnTo>
                  <a:lnTo>
                    <a:pt x="5329720" y="66852"/>
                  </a:lnTo>
                  <a:lnTo>
                    <a:pt x="5379872" y="66852"/>
                  </a:lnTo>
                  <a:lnTo>
                    <a:pt x="5379872" y="50139"/>
                  </a:lnTo>
                  <a:close/>
                </a:path>
                <a:path w="7705090" h="67310">
                  <a:moveTo>
                    <a:pt x="5420284" y="0"/>
                  </a:moveTo>
                  <a:lnTo>
                    <a:pt x="5370144" y="0"/>
                  </a:lnTo>
                  <a:lnTo>
                    <a:pt x="5370144" y="16713"/>
                  </a:lnTo>
                  <a:lnTo>
                    <a:pt x="5420284" y="16713"/>
                  </a:lnTo>
                  <a:lnTo>
                    <a:pt x="5420284" y="0"/>
                  </a:lnTo>
                  <a:close/>
                </a:path>
                <a:path w="7705090" h="67310">
                  <a:moveTo>
                    <a:pt x="5463248" y="50139"/>
                  </a:moveTo>
                  <a:lnTo>
                    <a:pt x="5413108" y="50139"/>
                  </a:lnTo>
                  <a:lnTo>
                    <a:pt x="5413108" y="66852"/>
                  </a:lnTo>
                  <a:lnTo>
                    <a:pt x="5463248" y="66852"/>
                  </a:lnTo>
                  <a:lnTo>
                    <a:pt x="5463248" y="50139"/>
                  </a:lnTo>
                  <a:close/>
                </a:path>
                <a:path w="7705090" h="67310">
                  <a:moveTo>
                    <a:pt x="5503672" y="0"/>
                  </a:moveTo>
                  <a:lnTo>
                    <a:pt x="5453532" y="0"/>
                  </a:lnTo>
                  <a:lnTo>
                    <a:pt x="5453532" y="16713"/>
                  </a:lnTo>
                  <a:lnTo>
                    <a:pt x="5503672" y="16713"/>
                  </a:lnTo>
                  <a:lnTo>
                    <a:pt x="5503672" y="0"/>
                  </a:lnTo>
                  <a:close/>
                </a:path>
                <a:path w="7705090" h="67310">
                  <a:moveTo>
                    <a:pt x="5546636" y="50139"/>
                  </a:moveTo>
                  <a:lnTo>
                    <a:pt x="5496496" y="50139"/>
                  </a:lnTo>
                  <a:lnTo>
                    <a:pt x="5496496" y="66852"/>
                  </a:lnTo>
                  <a:lnTo>
                    <a:pt x="5546636" y="66852"/>
                  </a:lnTo>
                  <a:lnTo>
                    <a:pt x="5546636" y="50139"/>
                  </a:lnTo>
                  <a:close/>
                </a:path>
                <a:path w="7705090" h="67310">
                  <a:moveTo>
                    <a:pt x="5587060" y="0"/>
                  </a:moveTo>
                  <a:lnTo>
                    <a:pt x="5536920" y="0"/>
                  </a:lnTo>
                  <a:lnTo>
                    <a:pt x="5536920" y="16713"/>
                  </a:lnTo>
                  <a:lnTo>
                    <a:pt x="5587060" y="16713"/>
                  </a:lnTo>
                  <a:lnTo>
                    <a:pt x="5587060" y="0"/>
                  </a:lnTo>
                  <a:close/>
                </a:path>
                <a:path w="7705090" h="67310">
                  <a:moveTo>
                    <a:pt x="5630024" y="50139"/>
                  </a:moveTo>
                  <a:lnTo>
                    <a:pt x="5579884" y="50139"/>
                  </a:lnTo>
                  <a:lnTo>
                    <a:pt x="5579884" y="66852"/>
                  </a:lnTo>
                  <a:lnTo>
                    <a:pt x="5630024" y="66852"/>
                  </a:lnTo>
                  <a:lnTo>
                    <a:pt x="5630024" y="50139"/>
                  </a:lnTo>
                  <a:close/>
                </a:path>
                <a:path w="7705090" h="67310">
                  <a:moveTo>
                    <a:pt x="5670448" y="0"/>
                  </a:moveTo>
                  <a:lnTo>
                    <a:pt x="5620309" y="0"/>
                  </a:lnTo>
                  <a:lnTo>
                    <a:pt x="5620309" y="16713"/>
                  </a:lnTo>
                  <a:lnTo>
                    <a:pt x="5670448" y="16713"/>
                  </a:lnTo>
                  <a:lnTo>
                    <a:pt x="5670448" y="0"/>
                  </a:lnTo>
                  <a:close/>
                </a:path>
                <a:path w="7705090" h="67310">
                  <a:moveTo>
                    <a:pt x="5713412" y="50139"/>
                  </a:moveTo>
                  <a:lnTo>
                    <a:pt x="5663273" y="50139"/>
                  </a:lnTo>
                  <a:lnTo>
                    <a:pt x="5663273" y="66852"/>
                  </a:lnTo>
                  <a:lnTo>
                    <a:pt x="5713412" y="66852"/>
                  </a:lnTo>
                  <a:lnTo>
                    <a:pt x="5713412" y="50139"/>
                  </a:lnTo>
                  <a:close/>
                </a:path>
                <a:path w="7705090" h="67310">
                  <a:moveTo>
                    <a:pt x="5753836" y="0"/>
                  </a:moveTo>
                  <a:lnTo>
                    <a:pt x="5703697" y="0"/>
                  </a:lnTo>
                  <a:lnTo>
                    <a:pt x="5703697" y="16713"/>
                  </a:lnTo>
                  <a:lnTo>
                    <a:pt x="5753836" y="16713"/>
                  </a:lnTo>
                  <a:lnTo>
                    <a:pt x="5753836" y="0"/>
                  </a:lnTo>
                  <a:close/>
                </a:path>
                <a:path w="7705090" h="67310">
                  <a:moveTo>
                    <a:pt x="5796800" y="50139"/>
                  </a:moveTo>
                  <a:lnTo>
                    <a:pt x="5746661" y="50139"/>
                  </a:lnTo>
                  <a:lnTo>
                    <a:pt x="5746661" y="66852"/>
                  </a:lnTo>
                  <a:lnTo>
                    <a:pt x="5796800" y="66852"/>
                  </a:lnTo>
                  <a:lnTo>
                    <a:pt x="5796800" y="50139"/>
                  </a:lnTo>
                  <a:close/>
                </a:path>
                <a:path w="7705090" h="67310">
                  <a:moveTo>
                    <a:pt x="5837225" y="0"/>
                  </a:moveTo>
                  <a:lnTo>
                    <a:pt x="5787085" y="0"/>
                  </a:lnTo>
                  <a:lnTo>
                    <a:pt x="5787085" y="16713"/>
                  </a:lnTo>
                  <a:lnTo>
                    <a:pt x="5837225" y="16713"/>
                  </a:lnTo>
                  <a:lnTo>
                    <a:pt x="5837225" y="0"/>
                  </a:lnTo>
                  <a:close/>
                </a:path>
                <a:path w="7705090" h="67310">
                  <a:moveTo>
                    <a:pt x="5880189" y="50139"/>
                  </a:moveTo>
                  <a:lnTo>
                    <a:pt x="5830049" y="50139"/>
                  </a:lnTo>
                  <a:lnTo>
                    <a:pt x="5830049" y="66852"/>
                  </a:lnTo>
                  <a:lnTo>
                    <a:pt x="5880189" y="66852"/>
                  </a:lnTo>
                  <a:lnTo>
                    <a:pt x="5880189" y="50139"/>
                  </a:lnTo>
                  <a:close/>
                </a:path>
                <a:path w="7705090" h="67310">
                  <a:moveTo>
                    <a:pt x="5920613" y="0"/>
                  </a:moveTo>
                  <a:lnTo>
                    <a:pt x="5870473" y="0"/>
                  </a:lnTo>
                  <a:lnTo>
                    <a:pt x="5870473" y="16713"/>
                  </a:lnTo>
                  <a:lnTo>
                    <a:pt x="5920613" y="16713"/>
                  </a:lnTo>
                  <a:lnTo>
                    <a:pt x="5920613" y="0"/>
                  </a:lnTo>
                  <a:close/>
                </a:path>
                <a:path w="7705090" h="67310">
                  <a:moveTo>
                    <a:pt x="5963564" y="50139"/>
                  </a:moveTo>
                  <a:lnTo>
                    <a:pt x="5913425" y="50139"/>
                  </a:lnTo>
                  <a:lnTo>
                    <a:pt x="5913425" y="66852"/>
                  </a:lnTo>
                  <a:lnTo>
                    <a:pt x="5963564" y="66852"/>
                  </a:lnTo>
                  <a:lnTo>
                    <a:pt x="5963564" y="50139"/>
                  </a:lnTo>
                  <a:close/>
                </a:path>
                <a:path w="7705090" h="67310">
                  <a:moveTo>
                    <a:pt x="6003988" y="0"/>
                  </a:moveTo>
                  <a:lnTo>
                    <a:pt x="5953849" y="0"/>
                  </a:lnTo>
                  <a:lnTo>
                    <a:pt x="5953849" y="16713"/>
                  </a:lnTo>
                  <a:lnTo>
                    <a:pt x="6003988" y="16713"/>
                  </a:lnTo>
                  <a:lnTo>
                    <a:pt x="6003988" y="0"/>
                  </a:lnTo>
                  <a:close/>
                </a:path>
                <a:path w="7705090" h="67310">
                  <a:moveTo>
                    <a:pt x="6046952" y="50139"/>
                  </a:moveTo>
                  <a:lnTo>
                    <a:pt x="5996813" y="50139"/>
                  </a:lnTo>
                  <a:lnTo>
                    <a:pt x="5996813" y="66852"/>
                  </a:lnTo>
                  <a:lnTo>
                    <a:pt x="6046952" y="66852"/>
                  </a:lnTo>
                  <a:lnTo>
                    <a:pt x="6046952" y="50139"/>
                  </a:lnTo>
                  <a:close/>
                </a:path>
                <a:path w="7705090" h="67310">
                  <a:moveTo>
                    <a:pt x="6087376" y="0"/>
                  </a:moveTo>
                  <a:lnTo>
                    <a:pt x="6037237" y="0"/>
                  </a:lnTo>
                  <a:lnTo>
                    <a:pt x="6037237" y="16713"/>
                  </a:lnTo>
                  <a:lnTo>
                    <a:pt x="6087376" y="16713"/>
                  </a:lnTo>
                  <a:lnTo>
                    <a:pt x="6087376" y="0"/>
                  </a:lnTo>
                  <a:close/>
                </a:path>
                <a:path w="7705090" h="67310">
                  <a:moveTo>
                    <a:pt x="6130341" y="50139"/>
                  </a:moveTo>
                  <a:lnTo>
                    <a:pt x="6080201" y="50139"/>
                  </a:lnTo>
                  <a:lnTo>
                    <a:pt x="6080201" y="66852"/>
                  </a:lnTo>
                  <a:lnTo>
                    <a:pt x="6130341" y="66852"/>
                  </a:lnTo>
                  <a:lnTo>
                    <a:pt x="6130341" y="50139"/>
                  </a:lnTo>
                  <a:close/>
                </a:path>
                <a:path w="7705090" h="67310">
                  <a:moveTo>
                    <a:pt x="6170765" y="0"/>
                  </a:moveTo>
                  <a:lnTo>
                    <a:pt x="6120625" y="0"/>
                  </a:lnTo>
                  <a:lnTo>
                    <a:pt x="6120625" y="16713"/>
                  </a:lnTo>
                  <a:lnTo>
                    <a:pt x="6170765" y="16713"/>
                  </a:lnTo>
                  <a:lnTo>
                    <a:pt x="6170765" y="0"/>
                  </a:lnTo>
                  <a:close/>
                </a:path>
                <a:path w="7705090" h="67310">
                  <a:moveTo>
                    <a:pt x="6213729" y="50139"/>
                  </a:moveTo>
                  <a:lnTo>
                    <a:pt x="6163589" y="50139"/>
                  </a:lnTo>
                  <a:lnTo>
                    <a:pt x="6163589" y="66852"/>
                  </a:lnTo>
                  <a:lnTo>
                    <a:pt x="6213729" y="66852"/>
                  </a:lnTo>
                  <a:lnTo>
                    <a:pt x="6213729" y="50139"/>
                  </a:lnTo>
                  <a:close/>
                </a:path>
                <a:path w="7705090" h="67310">
                  <a:moveTo>
                    <a:pt x="6254153" y="0"/>
                  </a:moveTo>
                  <a:lnTo>
                    <a:pt x="6204013" y="0"/>
                  </a:lnTo>
                  <a:lnTo>
                    <a:pt x="6204013" y="16713"/>
                  </a:lnTo>
                  <a:lnTo>
                    <a:pt x="6254153" y="16713"/>
                  </a:lnTo>
                  <a:lnTo>
                    <a:pt x="6254153" y="0"/>
                  </a:lnTo>
                  <a:close/>
                </a:path>
                <a:path w="7705090" h="67310">
                  <a:moveTo>
                    <a:pt x="6297117" y="50139"/>
                  </a:moveTo>
                  <a:lnTo>
                    <a:pt x="6246977" y="50139"/>
                  </a:lnTo>
                  <a:lnTo>
                    <a:pt x="6246977" y="66852"/>
                  </a:lnTo>
                  <a:lnTo>
                    <a:pt x="6297117" y="66852"/>
                  </a:lnTo>
                  <a:lnTo>
                    <a:pt x="6297117" y="50139"/>
                  </a:lnTo>
                  <a:close/>
                </a:path>
                <a:path w="7705090" h="67310">
                  <a:moveTo>
                    <a:pt x="6337541" y="0"/>
                  </a:moveTo>
                  <a:lnTo>
                    <a:pt x="6287401" y="0"/>
                  </a:lnTo>
                  <a:lnTo>
                    <a:pt x="6287401" y="16713"/>
                  </a:lnTo>
                  <a:lnTo>
                    <a:pt x="6337541" y="16713"/>
                  </a:lnTo>
                  <a:lnTo>
                    <a:pt x="6337541" y="0"/>
                  </a:lnTo>
                  <a:close/>
                </a:path>
                <a:path w="7705090" h="67310">
                  <a:moveTo>
                    <a:pt x="6380505" y="50139"/>
                  </a:moveTo>
                  <a:lnTo>
                    <a:pt x="6330366" y="50139"/>
                  </a:lnTo>
                  <a:lnTo>
                    <a:pt x="6330366" y="66852"/>
                  </a:lnTo>
                  <a:lnTo>
                    <a:pt x="6380505" y="66852"/>
                  </a:lnTo>
                  <a:lnTo>
                    <a:pt x="6380505" y="50139"/>
                  </a:lnTo>
                  <a:close/>
                </a:path>
                <a:path w="7705090" h="67310">
                  <a:moveTo>
                    <a:pt x="6420929" y="0"/>
                  </a:moveTo>
                  <a:lnTo>
                    <a:pt x="6370790" y="0"/>
                  </a:lnTo>
                  <a:lnTo>
                    <a:pt x="6370790" y="16713"/>
                  </a:lnTo>
                  <a:lnTo>
                    <a:pt x="6420929" y="16713"/>
                  </a:lnTo>
                  <a:lnTo>
                    <a:pt x="6420929" y="0"/>
                  </a:lnTo>
                  <a:close/>
                </a:path>
                <a:path w="7705090" h="67310">
                  <a:moveTo>
                    <a:pt x="6463893" y="50139"/>
                  </a:moveTo>
                  <a:lnTo>
                    <a:pt x="6413741" y="50139"/>
                  </a:lnTo>
                  <a:lnTo>
                    <a:pt x="6413741" y="66852"/>
                  </a:lnTo>
                  <a:lnTo>
                    <a:pt x="6463893" y="66852"/>
                  </a:lnTo>
                  <a:lnTo>
                    <a:pt x="6463893" y="50139"/>
                  </a:lnTo>
                  <a:close/>
                </a:path>
                <a:path w="7705090" h="67310">
                  <a:moveTo>
                    <a:pt x="6504318" y="0"/>
                  </a:moveTo>
                  <a:lnTo>
                    <a:pt x="6454178" y="0"/>
                  </a:lnTo>
                  <a:lnTo>
                    <a:pt x="6454178" y="16713"/>
                  </a:lnTo>
                  <a:lnTo>
                    <a:pt x="6504318" y="16713"/>
                  </a:lnTo>
                  <a:lnTo>
                    <a:pt x="6504318" y="0"/>
                  </a:lnTo>
                  <a:close/>
                </a:path>
                <a:path w="7705090" h="67310">
                  <a:moveTo>
                    <a:pt x="6547269" y="50139"/>
                  </a:moveTo>
                  <a:lnTo>
                    <a:pt x="6497129" y="50139"/>
                  </a:lnTo>
                  <a:lnTo>
                    <a:pt x="6497129" y="66852"/>
                  </a:lnTo>
                  <a:lnTo>
                    <a:pt x="6547269" y="66852"/>
                  </a:lnTo>
                  <a:lnTo>
                    <a:pt x="6547269" y="50139"/>
                  </a:lnTo>
                  <a:close/>
                </a:path>
                <a:path w="7705090" h="67310">
                  <a:moveTo>
                    <a:pt x="6587693" y="0"/>
                  </a:moveTo>
                  <a:lnTo>
                    <a:pt x="6537553" y="0"/>
                  </a:lnTo>
                  <a:lnTo>
                    <a:pt x="6537553" y="16713"/>
                  </a:lnTo>
                  <a:lnTo>
                    <a:pt x="6587693" y="16713"/>
                  </a:lnTo>
                  <a:lnTo>
                    <a:pt x="6587693" y="0"/>
                  </a:lnTo>
                  <a:close/>
                </a:path>
                <a:path w="7705090" h="67310">
                  <a:moveTo>
                    <a:pt x="6630657" y="50139"/>
                  </a:moveTo>
                  <a:lnTo>
                    <a:pt x="6580518" y="50139"/>
                  </a:lnTo>
                  <a:lnTo>
                    <a:pt x="6580518" y="66852"/>
                  </a:lnTo>
                  <a:lnTo>
                    <a:pt x="6630657" y="66852"/>
                  </a:lnTo>
                  <a:lnTo>
                    <a:pt x="6630657" y="50139"/>
                  </a:lnTo>
                  <a:close/>
                </a:path>
                <a:path w="7705090" h="67310">
                  <a:moveTo>
                    <a:pt x="6671081" y="0"/>
                  </a:moveTo>
                  <a:lnTo>
                    <a:pt x="6620942" y="0"/>
                  </a:lnTo>
                  <a:lnTo>
                    <a:pt x="6620942" y="16713"/>
                  </a:lnTo>
                  <a:lnTo>
                    <a:pt x="6671081" y="16713"/>
                  </a:lnTo>
                  <a:lnTo>
                    <a:pt x="6671081" y="0"/>
                  </a:lnTo>
                  <a:close/>
                </a:path>
                <a:path w="7705090" h="67310">
                  <a:moveTo>
                    <a:pt x="6714045" y="50139"/>
                  </a:moveTo>
                  <a:lnTo>
                    <a:pt x="6663906" y="50139"/>
                  </a:lnTo>
                  <a:lnTo>
                    <a:pt x="6663906" y="66852"/>
                  </a:lnTo>
                  <a:lnTo>
                    <a:pt x="6714045" y="66852"/>
                  </a:lnTo>
                  <a:lnTo>
                    <a:pt x="6714045" y="50139"/>
                  </a:lnTo>
                  <a:close/>
                </a:path>
                <a:path w="7705090" h="67310">
                  <a:moveTo>
                    <a:pt x="6754469" y="0"/>
                  </a:moveTo>
                  <a:lnTo>
                    <a:pt x="6704330" y="0"/>
                  </a:lnTo>
                  <a:lnTo>
                    <a:pt x="6704330" y="16713"/>
                  </a:lnTo>
                  <a:lnTo>
                    <a:pt x="6754469" y="16713"/>
                  </a:lnTo>
                  <a:lnTo>
                    <a:pt x="6754469" y="0"/>
                  </a:lnTo>
                  <a:close/>
                </a:path>
                <a:path w="7705090" h="67310">
                  <a:moveTo>
                    <a:pt x="6797434" y="50139"/>
                  </a:moveTo>
                  <a:lnTo>
                    <a:pt x="6747294" y="50139"/>
                  </a:lnTo>
                  <a:lnTo>
                    <a:pt x="6747294" y="66852"/>
                  </a:lnTo>
                  <a:lnTo>
                    <a:pt x="6797434" y="66852"/>
                  </a:lnTo>
                  <a:lnTo>
                    <a:pt x="6797434" y="50139"/>
                  </a:lnTo>
                  <a:close/>
                </a:path>
                <a:path w="7705090" h="67310">
                  <a:moveTo>
                    <a:pt x="6837858" y="0"/>
                  </a:moveTo>
                  <a:lnTo>
                    <a:pt x="6787718" y="0"/>
                  </a:lnTo>
                  <a:lnTo>
                    <a:pt x="6787718" y="16713"/>
                  </a:lnTo>
                  <a:lnTo>
                    <a:pt x="6837858" y="16713"/>
                  </a:lnTo>
                  <a:lnTo>
                    <a:pt x="6837858" y="0"/>
                  </a:lnTo>
                  <a:close/>
                </a:path>
                <a:path w="7705090" h="67310">
                  <a:moveTo>
                    <a:pt x="6880822" y="50139"/>
                  </a:moveTo>
                  <a:lnTo>
                    <a:pt x="6830682" y="50139"/>
                  </a:lnTo>
                  <a:lnTo>
                    <a:pt x="6830682" y="66852"/>
                  </a:lnTo>
                  <a:lnTo>
                    <a:pt x="6880822" y="66852"/>
                  </a:lnTo>
                  <a:lnTo>
                    <a:pt x="6880822" y="50139"/>
                  </a:lnTo>
                  <a:close/>
                </a:path>
                <a:path w="7705090" h="67310">
                  <a:moveTo>
                    <a:pt x="6921246" y="0"/>
                  </a:moveTo>
                  <a:lnTo>
                    <a:pt x="6871106" y="0"/>
                  </a:lnTo>
                  <a:lnTo>
                    <a:pt x="6871106" y="16713"/>
                  </a:lnTo>
                  <a:lnTo>
                    <a:pt x="6921246" y="16713"/>
                  </a:lnTo>
                  <a:lnTo>
                    <a:pt x="6921246" y="0"/>
                  </a:lnTo>
                  <a:close/>
                </a:path>
                <a:path w="7705090" h="67310">
                  <a:moveTo>
                    <a:pt x="6964210" y="50139"/>
                  </a:moveTo>
                  <a:lnTo>
                    <a:pt x="6914070" y="50139"/>
                  </a:lnTo>
                  <a:lnTo>
                    <a:pt x="6914070" y="66852"/>
                  </a:lnTo>
                  <a:lnTo>
                    <a:pt x="6964210" y="66852"/>
                  </a:lnTo>
                  <a:lnTo>
                    <a:pt x="6964210" y="50139"/>
                  </a:lnTo>
                  <a:close/>
                </a:path>
                <a:path w="7705090" h="67310">
                  <a:moveTo>
                    <a:pt x="7004634" y="0"/>
                  </a:moveTo>
                  <a:lnTo>
                    <a:pt x="6954494" y="0"/>
                  </a:lnTo>
                  <a:lnTo>
                    <a:pt x="6954494" y="16713"/>
                  </a:lnTo>
                  <a:lnTo>
                    <a:pt x="7004634" y="16713"/>
                  </a:lnTo>
                  <a:lnTo>
                    <a:pt x="7004634" y="0"/>
                  </a:lnTo>
                  <a:close/>
                </a:path>
                <a:path w="7705090" h="67310">
                  <a:moveTo>
                    <a:pt x="7047598" y="50139"/>
                  </a:moveTo>
                  <a:lnTo>
                    <a:pt x="6997446" y="50139"/>
                  </a:lnTo>
                  <a:lnTo>
                    <a:pt x="6997446" y="66852"/>
                  </a:lnTo>
                  <a:lnTo>
                    <a:pt x="7047598" y="66852"/>
                  </a:lnTo>
                  <a:lnTo>
                    <a:pt x="7047598" y="50139"/>
                  </a:lnTo>
                  <a:close/>
                </a:path>
                <a:path w="7705090" h="67310">
                  <a:moveTo>
                    <a:pt x="7088022" y="0"/>
                  </a:moveTo>
                  <a:lnTo>
                    <a:pt x="7037870" y="0"/>
                  </a:lnTo>
                  <a:lnTo>
                    <a:pt x="7037870" y="16713"/>
                  </a:lnTo>
                  <a:lnTo>
                    <a:pt x="7088022" y="16713"/>
                  </a:lnTo>
                  <a:lnTo>
                    <a:pt x="7088022" y="0"/>
                  </a:lnTo>
                  <a:close/>
                </a:path>
                <a:path w="7705090" h="67310">
                  <a:moveTo>
                    <a:pt x="7130974" y="50139"/>
                  </a:moveTo>
                  <a:lnTo>
                    <a:pt x="7080834" y="50139"/>
                  </a:lnTo>
                  <a:lnTo>
                    <a:pt x="7080834" y="66852"/>
                  </a:lnTo>
                  <a:lnTo>
                    <a:pt x="7130974" y="66852"/>
                  </a:lnTo>
                  <a:lnTo>
                    <a:pt x="7130974" y="50139"/>
                  </a:lnTo>
                  <a:close/>
                </a:path>
                <a:path w="7705090" h="67310">
                  <a:moveTo>
                    <a:pt x="7171398" y="0"/>
                  </a:moveTo>
                  <a:lnTo>
                    <a:pt x="7121258" y="0"/>
                  </a:lnTo>
                  <a:lnTo>
                    <a:pt x="7121258" y="16713"/>
                  </a:lnTo>
                  <a:lnTo>
                    <a:pt x="7171398" y="16713"/>
                  </a:lnTo>
                  <a:lnTo>
                    <a:pt x="7171398" y="0"/>
                  </a:lnTo>
                  <a:close/>
                </a:path>
                <a:path w="7705090" h="67310">
                  <a:moveTo>
                    <a:pt x="7214362" y="50139"/>
                  </a:moveTo>
                  <a:lnTo>
                    <a:pt x="7164222" y="50139"/>
                  </a:lnTo>
                  <a:lnTo>
                    <a:pt x="7164222" y="66852"/>
                  </a:lnTo>
                  <a:lnTo>
                    <a:pt x="7214362" y="66852"/>
                  </a:lnTo>
                  <a:lnTo>
                    <a:pt x="7214362" y="50139"/>
                  </a:lnTo>
                  <a:close/>
                </a:path>
                <a:path w="7705090" h="67310">
                  <a:moveTo>
                    <a:pt x="7254786" y="0"/>
                  </a:moveTo>
                  <a:lnTo>
                    <a:pt x="7204646" y="0"/>
                  </a:lnTo>
                  <a:lnTo>
                    <a:pt x="7204646" y="16713"/>
                  </a:lnTo>
                  <a:lnTo>
                    <a:pt x="7254786" y="16713"/>
                  </a:lnTo>
                  <a:lnTo>
                    <a:pt x="7254786" y="0"/>
                  </a:lnTo>
                  <a:close/>
                </a:path>
                <a:path w="7705090" h="67310">
                  <a:moveTo>
                    <a:pt x="7297750" y="50139"/>
                  </a:moveTo>
                  <a:lnTo>
                    <a:pt x="7247610" y="50139"/>
                  </a:lnTo>
                  <a:lnTo>
                    <a:pt x="7247610" y="66852"/>
                  </a:lnTo>
                  <a:lnTo>
                    <a:pt x="7297750" y="66852"/>
                  </a:lnTo>
                  <a:lnTo>
                    <a:pt x="7297750" y="50139"/>
                  </a:lnTo>
                  <a:close/>
                </a:path>
                <a:path w="7705090" h="67310">
                  <a:moveTo>
                    <a:pt x="7338174" y="0"/>
                  </a:moveTo>
                  <a:lnTo>
                    <a:pt x="7288035" y="0"/>
                  </a:lnTo>
                  <a:lnTo>
                    <a:pt x="7288035" y="16713"/>
                  </a:lnTo>
                  <a:lnTo>
                    <a:pt x="7338174" y="16713"/>
                  </a:lnTo>
                  <a:lnTo>
                    <a:pt x="7338174" y="0"/>
                  </a:lnTo>
                  <a:close/>
                </a:path>
                <a:path w="7705090" h="67310">
                  <a:moveTo>
                    <a:pt x="7381138" y="50139"/>
                  </a:moveTo>
                  <a:lnTo>
                    <a:pt x="7330999" y="50139"/>
                  </a:lnTo>
                  <a:lnTo>
                    <a:pt x="7330999" y="66852"/>
                  </a:lnTo>
                  <a:lnTo>
                    <a:pt x="7381138" y="66852"/>
                  </a:lnTo>
                  <a:lnTo>
                    <a:pt x="7381138" y="50139"/>
                  </a:lnTo>
                  <a:close/>
                </a:path>
                <a:path w="7705090" h="67310">
                  <a:moveTo>
                    <a:pt x="7421562" y="0"/>
                  </a:moveTo>
                  <a:lnTo>
                    <a:pt x="7371423" y="0"/>
                  </a:lnTo>
                  <a:lnTo>
                    <a:pt x="7371423" y="16713"/>
                  </a:lnTo>
                  <a:lnTo>
                    <a:pt x="7421562" y="16713"/>
                  </a:lnTo>
                  <a:lnTo>
                    <a:pt x="7421562" y="0"/>
                  </a:lnTo>
                  <a:close/>
                </a:path>
                <a:path w="7705090" h="67310">
                  <a:moveTo>
                    <a:pt x="7464526" y="50139"/>
                  </a:moveTo>
                  <a:lnTo>
                    <a:pt x="7414387" y="50139"/>
                  </a:lnTo>
                  <a:lnTo>
                    <a:pt x="7414387" y="66852"/>
                  </a:lnTo>
                  <a:lnTo>
                    <a:pt x="7464526" y="66852"/>
                  </a:lnTo>
                  <a:lnTo>
                    <a:pt x="7464526" y="50139"/>
                  </a:lnTo>
                  <a:close/>
                </a:path>
                <a:path w="7705090" h="67310">
                  <a:moveTo>
                    <a:pt x="7504951" y="0"/>
                  </a:moveTo>
                  <a:lnTo>
                    <a:pt x="7454811" y="0"/>
                  </a:lnTo>
                  <a:lnTo>
                    <a:pt x="7454811" y="16713"/>
                  </a:lnTo>
                  <a:lnTo>
                    <a:pt x="7504951" y="16713"/>
                  </a:lnTo>
                  <a:lnTo>
                    <a:pt x="7504951" y="0"/>
                  </a:lnTo>
                  <a:close/>
                </a:path>
                <a:path w="7705090" h="67310">
                  <a:moveTo>
                    <a:pt x="7547915" y="50139"/>
                  </a:moveTo>
                  <a:lnTo>
                    <a:pt x="7497775" y="50139"/>
                  </a:lnTo>
                  <a:lnTo>
                    <a:pt x="7497775" y="66852"/>
                  </a:lnTo>
                  <a:lnTo>
                    <a:pt x="7547915" y="66852"/>
                  </a:lnTo>
                  <a:lnTo>
                    <a:pt x="7547915" y="50139"/>
                  </a:lnTo>
                  <a:close/>
                </a:path>
                <a:path w="7705090" h="67310">
                  <a:moveTo>
                    <a:pt x="7588339" y="0"/>
                  </a:moveTo>
                  <a:lnTo>
                    <a:pt x="7538199" y="0"/>
                  </a:lnTo>
                  <a:lnTo>
                    <a:pt x="7538199" y="16713"/>
                  </a:lnTo>
                  <a:lnTo>
                    <a:pt x="7588339" y="16713"/>
                  </a:lnTo>
                  <a:lnTo>
                    <a:pt x="7588339" y="0"/>
                  </a:lnTo>
                  <a:close/>
                </a:path>
                <a:path w="7705090" h="67310">
                  <a:moveTo>
                    <a:pt x="7631290" y="50139"/>
                  </a:moveTo>
                  <a:lnTo>
                    <a:pt x="7581151" y="50139"/>
                  </a:lnTo>
                  <a:lnTo>
                    <a:pt x="7581151" y="66852"/>
                  </a:lnTo>
                  <a:lnTo>
                    <a:pt x="7631290" y="66852"/>
                  </a:lnTo>
                  <a:lnTo>
                    <a:pt x="7631290" y="50139"/>
                  </a:lnTo>
                  <a:close/>
                </a:path>
                <a:path w="7705090" h="67310">
                  <a:moveTo>
                    <a:pt x="7671752" y="0"/>
                  </a:moveTo>
                  <a:lnTo>
                    <a:pt x="7621575" y="0"/>
                  </a:lnTo>
                  <a:lnTo>
                    <a:pt x="7621575" y="16713"/>
                  </a:lnTo>
                  <a:lnTo>
                    <a:pt x="7671651" y="16713"/>
                  </a:lnTo>
                  <a:lnTo>
                    <a:pt x="7671752" y="0"/>
                  </a:lnTo>
                  <a:close/>
                </a:path>
                <a:path w="7705090" h="67310">
                  <a:moveTo>
                    <a:pt x="7704874" y="33426"/>
                  </a:moveTo>
                  <a:lnTo>
                    <a:pt x="7704315" y="27254"/>
                  </a:lnTo>
                  <a:lnTo>
                    <a:pt x="7688161" y="30289"/>
                  </a:lnTo>
                  <a:lnTo>
                    <a:pt x="7688161" y="38036"/>
                  </a:lnTo>
                  <a:lnTo>
                    <a:pt x="7686535" y="41973"/>
                  </a:lnTo>
                  <a:lnTo>
                    <a:pt x="7683271" y="45237"/>
                  </a:lnTo>
                  <a:lnTo>
                    <a:pt x="7680007" y="48501"/>
                  </a:lnTo>
                  <a:lnTo>
                    <a:pt x="7676058" y="50139"/>
                  </a:lnTo>
                  <a:lnTo>
                    <a:pt x="7664539" y="50139"/>
                  </a:lnTo>
                  <a:lnTo>
                    <a:pt x="7664539" y="66852"/>
                  </a:lnTo>
                  <a:lnTo>
                    <a:pt x="7671448" y="66852"/>
                  </a:lnTo>
                  <a:lnTo>
                    <a:pt x="7678115" y="66230"/>
                  </a:lnTo>
                  <a:lnTo>
                    <a:pt x="7704264" y="40093"/>
                  </a:lnTo>
                  <a:lnTo>
                    <a:pt x="7704874" y="33426"/>
                  </a:lnTo>
                  <a:close/>
                </a:path>
              </a:pathLst>
            </a:custGeom>
            <a:solidFill>
              <a:srgbClr val="E74B3C"/>
            </a:solidFill>
          </p:spPr>
          <p:txBody>
            <a:bodyPr wrap="square" lIns="0" tIns="0" rIns="0" bIns="0" rtlCol="0"/>
            <a:lstStyle/>
            <a:p/>
          </p:txBody>
        </p:sp>
        <p:sp>
          <p:nvSpPr>
            <p:cNvPr id="45" name="object 45" descr=""/>
            <p:cNvSpPr/>
            <p:nvPr/>
          </p:nvSpPr>
          <p:spPr>
            <a:xfrm>
              <a:off x="1495844" y="2222893"/>
              <a:ext cx="7705090" cy="568325"/>
            </a:xfrm>
            <a:custGeom>
              <a:avLst/>
              <a:gdLst/>
              <a:ahLst/>
              <a:cxnLst/>
              <a:rect l="l" t="t" r="r" b="b"/>
              <a:pathLst>
                <a:path w="7705090" h="568325">
                  <a:moveTo>
                    <a:pt x="2406726" y="154343"/>
                  </a:moveTo>
                  <a:lnTo>
                    <a:pt x="2377732" y="125349"/>
                  </a:lnTo>
                  <a:lnTo>
                    <a:pt x="28994" y="125349"/>
                  </a:lnTo>
                  <a:lnTo>
                    <a:pt x="0" y="154343"/>
                  </a:lnTo>
                  <a:lnTo>
                    <a:pt x="0" y="158775"/>
                  </a:lnTo>
                  <a:lnTo>
                    <a:pt x="0" y="163207"/>
                  </a:lnTo>
                  <a:lnTo>
                    <a:pt x="28994" y="192201"/>
                  </a:lnTo>
                  <a:lnTo>
                    <a:pt x="2377732" y="192201"/>
                  </a:lnTo>
                  <a:lnTo>
                    <a:pt x="2406726" y="163207"/>
                  </a:lnTo>
                  <a:lnTo>
                    <a:pt x="2406726" y="154343"/>
                  </a:lnTo>
                  <a:close/>
                </a:path>
                <a:path w="7705090" h="568325">
                  <a:moveTo>
                    <a:pt x="5298148" y="530390"/>
                  </a:moveTo>
                  <a:lnTo>
                    <a:pt x="5269154" y="501396"/>
                  </a:lnTo>
                  <a:lnTo>
                    <a:pt x="2435720" y="501396"/>
                  </a:lnTo>
                  <a:lnTo>
                    <a:pt x="2406726" y="530390"/>
                  </a:lnTo>
                  <a:lnTo>
                    <a:pt x="2406726" y="534822"/>
                  </a:lnTo>
                  <a:lnTo>
                    <a:pt x="2406726" y="539254"/>
                  </a:lnTo>
                  <a:lnTo>
                    <a:pt x="2435720" y="568248"/>
                  </a:lnTo>
                  <a:lnTo>
                    <a:pt x="5269154" y="568248"/>
                  </a:lnTo>
                  <a:lnTo>
                    <a:pt x="5298148" y="539254"/>
                  </a:lnTo>
                  <a:lnTo>
                    <a:pt x="5298148" y="530390"/>
                  </a:lnTo>
                  <a:close/>
                </a:path>
                <a:path w="7705090" h="568325">
                  <a:moveTo>
                    <a:pt x="7704874" y="28994"/>
                  </a:moveTo>
                  <a:lnTo>
                    <a:pt x="7675880" y="0"/>
                  </a:lnTo>
                  <a:lnTo>
                    <a:pt x="5327142" y="0"/>
                  </a:lnTo>
                  <a:lnTo>
                    <a:pt x="5298148" y="28994"/>
                  </a:lnTo>
                  <a:lnTo>
                    <a:pt x="5298148" y="33426"/>
                  </a:lnTo>
                  <a:lnTo>
                    <a:pt x="5298148" y="37858"/>
                  </a:lnTo>
                  <a:lnTo>
                    <a:pt x="5327142" y="66852"/>
                  </a:lnTo>
                  <a:lnTo>
                    <a:pt x="7675880" y="66852"/>
                  </a:lnTo>
                  <a:lnTo>
                    <a:pt x="7704874" y="37858"/>
                  </a:lnTo>
                  <a:lnTo>
                    <a:pt x="7704874" y="28994"/>
                  </a:lnTo>
                  <a:close/>
                </a:path>
              </a:pathLst>
            </a:custGeom>
            <a:solidFill>
              <a:srgbClr val="3398DA"/>
            </a:solidFill>
          </p:spPr>
          <p:txBody>
            <a:bodyPr wrap="square" lIns="0" tIns="0" rIns="0" bIns="0" rtlCol="0"/>
            <a:lstStyle/>
            <a:p/>
          </p:txBody>
        </p:sp>
        <p:sp>
          <p:nvSpPr>
            <p:cNvPr id="46" name="object 46" descr=""/>
            <p:cNvSpPr/>
            <p:nvPr/>
          </p:nvSpPr>
          <p:spPr>
            <a:xfrm>
              <a:off x="1495844" y="2974987"/>
              <a:ext cx="7705090" cy="568325"/>
            </a:xfrm>
            <a:custGeom>
              <a:avLst/>
              <a:gdLst/>
              <a:ahLst/>
              <a:cxnLst/>
              <a:rect l="l" t="t" r="r" b="b"/>
              <a:pathLst>
                <a:path w="7705090" h="568325">
                  <a:moveTo>
                    <a:pt x="2406726" y="154343"/>
                  </a:moveTo>
                  <a:lnTo>
                    <a:pt x="2377732" y="125349"/>
                  </a:lnTo>
                  <a:lnTo>
                    <a:pt x="28994" y="125349"/>
                  </a:lnTo>
                  <a:lnTo>
                    <a:pt x="0" y="154343"/>
                  </a:lnTo>
                  <a:lnTo>
                    <a:pt x="0" y="158775"/>
                  </a:lnTo>
                  <a:lnTo>
                    <a:pt x="0" y="163207"/>
                  </a:lnTo>
                  <a:lnTo>
                    <a:pt x="28994" y="192201"/>
                  </a:lnTo>
                  <a:lnTo>
                    <a:pt x="2377732" y="192201"/>
                  </a:lnTo>
                  <a:lnTo>
                    <a:pt x="2406726" y="163207"/>
                  </a:lnTo>
                  <a:lnTo>
                    <a:pt x="2406726" y="154343"/>
                  </a:lnTo>
                  <a:close/>
                </a:path>
                <a:path w="7705090" h="568325">
                  <a:moveTo>
                    <a:pt x="5298148" y="530402"/>
                  </a:moveTo>
                  <a:lnTo>
                    <a:pt x="5269154" y="501408"/>
                  </a:lnTo>
                  <a:lnTo>
                    <a:pt x="2435720" y="501408"/>
                  </a:lnTo>
                  <a:lnTo>
                    <a:pt x="2406726" y="530402"/>
                  </a:lnTo>
                  <a:lnTo>
                    <a:pt x="2406726" y="534835"/>
                  </a:lnTo>
                  <a:lnTo>
                    <a:pt x="2406726" y="539267"/>
                  </a:lnTo>
                  <a:lnTo>
                    <a:pt x="2435720" y="568261"/>
                  </a:lnTo>
                  <a:lnTo>
                    <a:pt x="5269154" y="568261"/>
                  </a:lnTo>
                  <a:lnTo>
                    <a:pt x="5298148" y="539267"/>
                  </a:lnTo>
                  <a:lnTo>
                    <a:pt x="5298148" y="530402"/>
                  </a:lnTo>
                  <a:close/>
                </a:path>
                <a:path w="7705090" h="568325">
                  <a:moveTo>
                    <a:pt x="7704874" y="28994"/>
                  </a:moveTo>
                  <a:lnTo>
                    <a:pt x="7675880" y="0"/>
                  </a:lnTo>
                  <a:lnTo>
                    <a:pt x="5327142" y="0"/>
                  </a:lnTo>
                  <a:lnTo>
                    <a:pt x="5298148" y="28994"/>
                  </a:lnTo>
                  <a:lnTo>
                    <a:pt x="5298148" y="33426"/>
                  </a:lnTo>
                  <a:lnTo>
                    <a:pt x="5298148" y="37858"/>
                  </a:lnTo>
                  <a:lnTo>
                    <a:pt x="5327142" y="66852"/>
                  </a:lnTo>
                  <a:lnTo>
                    <a:pt x="7675880" y="66852"/>
                  </a:lnTo>
                  <a:lnTo>
                    <a:pt x="7704874" y="37858"/>
                  </a:lnTo>
                  <a:lnTo>
                    <a:pt x="7704874" y="28994"/>
                  </a:lnTo>
                  <a:close/>
                </a:path>
              </a:pathLst>
            </a:custGeom>
            <a:solidFill>
              <a:srgbClr val="E74B3C"/>
            </a:solidFill>
          </p:spPr>
          <p:txBody>
            <a:bodyPr wrap="square" lIns="0" tIns="0" rIns="0" bIns="0" rtlCol="0"/>
            <a:lstStyle/>
            <a:p/>
          </p:txBody>
        </p:sp>
        <p:pic>
          <p:nvPicPr>
            <p:cNvPr id="47" name="object 47" descr=""/>
            <p:cNvPicPr/>
            <p:nvPr/>
          </p:nvPicPr>
          <p:blipFill>
            <a:blip r:embed="rId9" cstate="print"/>
            <a:stretch>
              <a:fillRect/>
            </a:stretch>
          </p:blipFill>
          <p:spPr>
            <a:xfrm>
              <a:off x="2649073" y="3275826"/>
              <a:ext cx="200560" cy="200560"/>
            </a:xfrm>
            <a:prstGeom prst="rect">
              <a:avLst/>
            </a:prstGeom>
          </p:spPr>
        </p:pic>
      </p:grpSp>
      <p:sp>
        <p:nvSpPr>
          <p:cNvPr id="48" name="object 48" descr=""/>
          <p:cNvSpPr txBox="1"/>
          <p:nvPr/>
        </p:nvSpPr>
        <p:spPr>
          <a:xfrm>
            <a:off x="2652729" y="3104349"/>
            <a:ext cx="598170" cy="166370"/>
          </a:xfrm>
          <a:prstGeom prst="rect">
            <a:avLst/>
          </a:prstGeom>
        </p:spPr>
        <p:txBody>
          <a:bodyPr wrap="square" lIns="0" tIns="15240" rIns="0" bIns="0" rtlCol="0" vert="horz">
            <a:spAutoFit/>
          </a:bodyPr>
          <a:lstStyle/>
          <a:p>
            <a:pPr>
              <a:lnSpc>
                <a:spcPct val="100000"/>
              </a:lnSpc>
              <a:spcBef>
                <a:spcPts val="120"/>
              </a:spcBef>
            </a:pPr>
            <a:r>
              <a:rPr dirty="0" sz="900" spc="-10">
                <a:solidFill>
                  <a:srgbClr val="DB2525"/>
                </a:solidFill>
                <a:latin typeface="PMingLiU"/>
                <a:cs typeface="PMingLiU"/>
              </a:rPr>
              <a:t>正孔の流入</a:t>
            </a:r>
            <a:endParaRPr sz="900">
              <a:latin typeface="PMingLiU"/>
              <a:cs typeface="PMingLiU"/>
            </a:endParaRPr>
          </a:p>
        </p:txBody>
      </p:sp>
      <p:pic>
        <p:nvPicPr>
          <p:cNvPr id="49" name="object 49" descr=""/>
          <p:cNvPicPr/>
          <p:nvPr/>
        </p:nvPicPr>
        <p:blipFill>
          <a:blip r:embed="rId10" cstate="print"/>
          <a:stretch>
            <a:fillRect/>
          </a:stretch>
        </p:blipFill>
        <p:spPr>
          <a:xfrm>
            <a:off x="4863599" y="3100335"/>
            <a:ext cx="150420" cy="200560"/>
          </a:xfrm>
          <a:prstGeom prst="rect">
            <a:avLst/>
          </a:prstGeom>
        </p:spPr>
      </p:pic>
      <p:sp>
        <p:nvSpPr>
          <p:cNvPr id="50" name="object 50" descr=""/>
          <p:cNvSpPr txBox="1"/>
          <p:nvPr/>
        </p:nvSpPr>
        <p:spPr>
          <a:xfrm>
            <a:off x="4741513" y="3319951"/>
            <a:ext cx="717550" cy="360045"/>
          </a:xfrm>
          <a:prstGeom prst="rect">
            <a:avLst/>
          </a:prstGeom>
        </p:spPr>
        <p:txBody>
          <a:bodyPr wrap="square" lIns="0" tIns="12065" rIns="0" bIns="0" rtlCol="0" vert="horz">
            <a:spAutoFit/>
          </a:bodyPr>
          <a:lstStyle/>
          <a:p>
            <a:pPr marR="5080">
              <a:lnSpc>
                <a:spcPct val="121900"/>
              </a:lnSpc>
              <a:spcBef>
                <a:spcPts val="95"/>
              </a:spcBef>
            </a:pPr>
            <a:r>
              <a:rPr dirty="0" sz="900" spc="-10">
                <a:solidFill>
                  <a:srgbClr val="6D28D9"/>
                </a:solidFill>
                <a:latin typeface="PMingLiU"/>
                <a:cs typeface="PMingLiU"/>
              </a:rPr>
              <a:t>バンドが下が</a:t>
            </a:r>
            <a:r>
              <a:rPr dirty="0" sz="900" spc="-50">
                <a:solidFill>
                  <a:srgbClr val="6D28D9"/>
                </a:solidFill>
                <a:latin typeface="PMingLiU"/>
                <a:cs typeface="PMingLiU"/>
              </a:rPr>
              <a:t>る</a:t>
            </a:r>
            <a:endParaRPr sz="900">
              <a:latin typeface="PMingLiU"/>
              <a:cs typeface="PMingLiU"/>
            </a:endParaRPr>
          </a:p>
        </p:txBody>
      </p:sp>
      <p:sp>
        <p:nvSpPr>
          <p:cNvPr id="51" name="object 51" descr=""/>
          <p:cNvSpPr txBox="1"/>
          <p:nvPr/>
        </p:nvSpPr>
        <p:spPr>
          <a:xfrm>
            <a:off x="10097992" y="6749110"/>
            <a:ext cx="410845" cy="181610"/>
          </a:xfrm>
          <a:prstGeom prst="rect">
            <a:avLst/>
          </a:prstGeom>
        </p:spPr>
        <p:txBody>
          <a:bodyPr wrap="square" lIns="0" tIns="3175" rIns="0" bIns="0" rtlCol="0" vert="horz">
            <a:spAutoFit/>
          </a:bodyPr>
          <a:lstStyle/>
          <a:p>
            <a:pPr marL="12700">
              <a:lnSpc>
                <a:spcPct val="100000"/>
              </a:lnSpc>
              <a:spcBef>
                <a:spcPts val="25"/>
              </a:spcBef>
            </a:pPr>
            <a:r>
              <a:rPr dirty="0" sz="1050" spc="105">
                <a:solidFill>
                  <a:srgbClr val="4A5462"/>
                </a:solidFill>
                <a:latin typeface="Segoe UI Symbol"/>
                <a:cs typeface="Segoe UI Symbol"/>
              </a:rPr>
              <a:t>5</a:t>
            </a:r>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6017260"/>
          </a:xfrm>
          <a:custGeom>
            <a:avLst/>
            <a:gdLst/>
            <a:ahLst/>
            <a:cxnLst/>
            <a:rect l="l" t="t" r="r" b="b"/>
            <a:pathLst>
              <a:path w="10696575" h="6017260">
                <a:moveTo>
                  <a:pt x="10696575" y="6016823"/>
                </a:moveTo>
                <a:lnTo>
                  <a:pt x="0" y="6016823"/>
                </a:lnTo>
                <a:lnTo>
                  <a:pt x="0" y="0"/>
                </a:lnTo>
                <a:lnTo>
                  <a:pt x="10696575" y="0"/>
                </a:lnTo>
                <a:lnTo>
                  <a:pt x="10696575" y="6016823"/>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p:cNvSpPr txBox="1">
            <a:spLocks noGrp="1"/>
          </p:cNvSpPr>
          <p:nvPr>
            <p:ph type="title"/>
          </p:nvPr>
        </p:nvSpPr>
        <p:spPr>
          <a:xfrm>
            <a:off x="321567" y="124010"/>
            <a:ext cx="5992495" cy="433070"/>
          </a:xfrm>
          <a:prstGeom prst="rect"/>
        </p:spPr>
        <p:txBody>
          <a:bodyPr wrap="square" lIns="0" tIns="15875" rIns="0" bIns="0" rtlCol="0" vert="horz">
            <a:spAutoFit/>
          </a:bodyPr>
          <a:lstStyle/>
          <a:p>
            <a:pPr marL="12700">
              <a:lnSpc>
                <a:spcPct val="100000"/>
              </a:lnSpc>
              <a:spcBef>
                <a:spcPts val="125"/>
              </a:spcBef>
            </a:pPr>
            <a:r>
              <a:rPr dirty="0" sz="2350" spc="295" b="1">
                <a:latin typeface="Yu Gothic"/>
                <a:cs typeface="Yu Gothic"/>
              </a:rPr>
              <a:t>2</a:t>
            </a:r>
            <a:r>
              <a:rPr dirty="0" spc="-210">
                <a:latin typeface="SimSun"/>
                <a:cs typeface="SimSun"/>
              </a:rPr>
              <a:t>次</a:t>
            </a:r>
            <a:r>
              <a:rPr dirty="0" spc="-210"/>
              <a:t>元</a:t>
            </a:r>
            <a:r>
              <a:rPr dirty="0" sz="2450" spc="-45"/>
              <a:t>デバイス</a:t>
            </a:r>
            <a:r>
              <a:rPr dirty="0" sz="2650" spc="-295">
                <a:latin typeface="SimSun"/>
                <a:cs typeface="SimSun"/>
              </a:rPr>
              <a:t>構</a:t>
            </a:r>
            <a:r>
              <a:rPr dirty="0" sz="2650" spc="-295"/>
              <a:t>造</a:t>
            </a:r>
            <a:r>
              <a:rPr dirty="0" sz="2450" spc="-45"/>
              <a:t>の</a:t>
            </a:r>
            <a:r>
              <a:rPr dirty="0" spc="-210"/>
              <a:t>電気</a:t>
            </a:r>
            <a:r>
              <a:rPr dirty="0" sz="2600" spc="-240"/>
              <a:t>的</a:t>
            </a:r>
            <a:r>
              <a:rPr dirty="0" sz="2600" spc="-240">
                <a:latin typeface="SimSun"/>
                <a:cs typeface="SimSun"/>
              </a:rPr>
              <a:t>特性</a:t>
            </a:r>
            <a:r>
              <a:rPr dirty="0" sz="2650" spc="-295">
                <a:latin typeface="SimSun"/>
                <a:cs typeface="SimSun"/>
              </a:rPr>
              <a:t>計</a:t>
            </a:r>
            <a:r>
              <a:rPr dirty="0" sz="2600" spc="-240">
                <a:latin typeface="SimSun"/>
                <a:cs typeface="SimSun"/>
              </a:rPr>
              <a:t>算</a:t>
            </a:r>
            <a:r>
              <a:rPr dirty="0" sz="2250" spc="110"/>
              <a:t>：</a:t>
            </a:r>
            <a:r>
              <a:rPr dirty="0" sz="2650" spc="-295">
                <a:latin typeface="SimSun"/>
                <a:cs typeface="SimSun"/>
              </a:rPr>
              <a:t>概</a:t>
            </a:r>
            <a:r>
              <a:rPr dirty="0" sz="2500" spc="-50"/>
              <a:t>要</a:t>
            </a:r>
            <a:endParaRPr sz="2500">
              <a:latin typeface="SimSun"/>
              <a:cs typeface="SimSun"/>
            </a:endParaRPr>
          </a:p>
        </p:txBody>
      </p:sp>
      <p:sp>
        <p:nvSpPr>
          <p:cNvPr id="5" name="object 5" descr=""/>
          <p:cNvSpPr/>
          <p:nvPr/>
        </p:nvSpPr>
        <p:spPr>
          <a:xfrm>
            <a:off x="334267" y="1002804"/>
            <a:ext cx="10028555" cy="501650"/>
          </a:xfrm>
          <a:custGeom>
            <a:avLst/>
            <a:gdLst/>
            <a:ahLst/>
            <a:cxnLst/>
            <a:rect l="l" t="t" r="r" b="b"/>
            <a:pathLst>
              <a:path w="10028555" h="501650">
                <a:moveTo>
                  <a:pt x="9965575" y="501401"/>
                </a:moveTo>
                <a:lnTo>
                  <a:pt x="62463" y="501401"/>
                </a:lnTo>
                <a:lnTo>
                  <a:pt x="58116" y="500973"/>
                </a:lnTo>
                <a:lnTo>
                  <a:pt x="22684" y="484924"/>
                </a:lnTo>
                <a:lnTo>
                  <a:pt x="2140" y="451896"/>
                </a:lnTo>
                <a:lnTo>
                  <a:pt x="0" y="438937"/>
                </a:lnTo>
                <a:lnTo>
                  <a:pt x="0" y="434548"/>
                </a:lnTo>
                <a:lnTo>
                  <a:pt x="0" y="62463"/>
                </a:lnTo>
                <a:lnTo>
                  <a:pt x="13705" y="26061"/>
                </a:lnTo>
                <a:lnTo>
                  <a:pt x="45325" y="3408"/>
                </a:lnTo>
                <a:lnTo>
                  <a:pt x="62463" y="0"/>
                </a:lnTo>
                <a:lnTo>
                  <a:pt x="9965575" y="0"/>
                </a:lnTo>
                <a:lnTo>
                  <a:pt x="10001978" y="13705"/>
                </a:lnTo>
                <a:lnTo>
                  <a:pt x="10024630" y="45325"/>
                </a:lnTo>
                <a:lnTo>
                  <a:pt x="10028039" y="62463"/>
                </a:lnTo>
                <a:lnTo>
                  <a:pt x="10028039" y="438937"/>
                </a:lnTo>
                <a:lnTo>
                  <a:pt x="10014333" y="475340"/>
                </a:lnTo>
                <a:lnTo>
                  <a:pt x="9982714" y="497992"/>
                </a:lnTo>
                <a:lnTo>
                  <a:pt x="9969923" y="500973"/>
                </a:lnTo>
                <a:lnTo>
                  <a:pt x="9965575" y="501401"/>
                </a:lnTo>
                <a:close/>
              </a:path>
            </a:pathLst>
          </a:custGeom>
          <a:solidFill>
            <a:srgbClr val="FFFFFF"/>
          </a:solidFill>
        </p:spPr>
        <p:txBody>
          <a:bodyPr wrap="square" lIns="0" tIns="0" rIns="0" bIns="0" rtlCol="0"/>
          <a:lstStyle/>
          <a:p/>
        </p:txBody>
      </p:sp>
      <p:sp>
        <p:nvSpPr>
          <p:cNvPr id="6" name="object 6" descr=""/>
          <p:cNvSpPr txBox="1"/>
          <p:nvPr/>
        </p:nvSpPr>
        <p:spPr>
          <a:xfrm>
            <a:off x="455275" y="1140524"/>
            <a:ext cx="8441690" cy="206375"/>
          </a:xfrm>
          <a:prstGeom prst="rect">
            <a:avLst/>
          </a:prstGeom>
        </p:spPr>
        <p:txBody>
          <a:bodyPr wrap="square" lIns="0" tIns="17145" rIns="0" bIns="0" rtlCol="0" vert="horz">
            <a:spAutoFit/>
          </a:bodyPr>
          <a:lstStyle/>
          <a:p>
            <a:pPr marL="12700">
              <a:lnSpc>
                <a:spcPct val="100000"/>
              </a:lnSpc>
              <a:spcBef>
                <a:spcPts val="135"/>
              </a:spcBef>
            </a:pPr>
            <a:r>
              <a:rPr dirty="0" sz="1150">
                <a:latin typeface="PMingLiU"/>
                <a:cs typeface="PMingLiU"/>
              </a:rPr>
              <a:t>ドレイン部分を省略した</a:t>
            </a:r>
            <a:r>
              <a:rPr dirty="0" sz="1150" spc="125">
                <a:latin typeface="Segoe UI Symbol"/>
                <a:cs typeface="Segoe UI Symbol"/>
              </a:rPr>
              <a:t>2</a:t>
            </a:r>
            <a:r>
              <a:rPr dirty="0" sz="1150">
                <a:latin typeface="PMingLiU"/>
                <a:cs typeface="PMingLiU"/>
              </a:rPr>
              <a:t>次元デバイス構造においてゲート電圧変化に対する</a:t>
            </a:r>
            <a:r>
              <a:rPr dirty="0" sz="1150" spc="100">
                <a:latin typeface="Segoe UI Symbol"/>
                <a:cs typeface="Segoe UI Symbol"/>
              </a:rPr>
              <a:t>Body</a:t>
            </a:r>
            <a:r>
              <a:rPr dirty="0" sz="1150" spc="250">
                <a:latin typeface="Segoe UI Symbol"/>
                <a:cs typeface="Segoe UI Symbol"/>
              </a:rPr>
              <a:t>   </a:t>
            </a:r>
            <a:r>
              <a:rPr dirty="0" sz="1150" spc="85">
                <a:latin typeface="Segoe UI Symbol"/>
                <a:cs typeface="Segoe UI Symbol"/>
              </a:rPr>
              <a:t>Tie</a:t>
            </a:r>
            <a:r>
              <a:rPr dirty="0" sz="1150" spc="-5">
                <a:latin typeface="PMingLiU"/>
                <a:cs typeface="PMingLiU"/>
              </a:rPr>
              <a:t>電流の変化を計算するための条件設定</a:t>
            </a:r>
            <a:endParaRPr sz="1150">
              <a:latin typeface="PMingLiU"/>
              <a:cs typeface="PMingLiU"/>
            </a:endParaRPr>
          </a:p>
        </p:txBody>
      </p:sp>
      <p:grpSp>
        <p:nvGrpSpPr>
          <p:cNvPr id="7" name="object 7" descr=""/>
          <p:cNvGrpSpPr/>
          <p:nvPr/>
        </p:nvGrpSpPr>
        <p:grpSpPr>
          <a:xfrm>
            <a:off x="334267" y="1637913"/>
            <a:ext cx="4914265" cy="768985"/>
            <a:chOff x="334267" y="1637913"/>
            <a:chExt cx="4914265" cy="768985"/>
          </a:xfrm>
        </p:grpSpPr>
        <p:sp>
          <p:nvSpPr>
            <p:cNvPr id="8" name="object 8" descr=""/>
            <p:cNvSpPr/>
            <p:nvPr/>
          </p:nvSpPr>
          <p:spPr>
            <a:xfrm>
              <a:off x="334267" y="1637913"/>
              <a:ext cx="4914265" cy="768985"/>
            </a:xfrm>
            <a:custGeom>
              <a:avLst/>
              <a:gdLst/>
              <a:ahLst/>
              <a:cxnLst/>
              <a:rect l="l" t="t" r="r" b="b"/>
              <a:pathLst>
                <a:path w="4914265" h="768985">
                  <a:moveTo>
                    <a:pt x="4851274" y="768816"/>
                  </a:moveTo>
                  <a:lnTo>
                    <a:pt x="62463" y="768816"/>
                  </a:lnTo>
                  <a:lnTo>
                    <a:pt x="58116" y="768387"/>
                  </a:lnTo>
                  <a:lnTo>
                    <a:pt x="22684" y="752339"/>
                  </a:lnTo>
                  <a:lnTo>
                    <a:pt x="2140" y="719310"/>
                  </a:lnTo>
                  <a:lnTo>
                    <a:pt x="0" y="706352"/>
                  </a:lnTo>
                  <a:lnTo>
                    <a:pt x="0" y="701962"/>
                  </a:lnTo>
                  <a:lnTo>
                    <a:pt x="0" y="62463"/>
                  </a:lnTo>
                  <a:lnTo>
                    <a:pt x="13705" y="26061"/>
                  </a:lnTo>
                  <a:lnTo>
                    <a:pt x="45325" y="3408"/>
                  </a:lnTo>
                  <a:lnTo>
                    <a:pt x="62463" y="0"/>
                  </a:lnTo>
                  <a:lnTo>
                    <a:pt x="4851274" y="0"/>
                  </a:lnTo>
                  <a:lnTo>
                    <a:pt x="4887677" y="13705"/>
                  </a:lnTo>
                  <a:lnTo>
                    <a:pt x="4910329" y="45325"/>
                  </a:lnTo>
                  <a:lnTo>
                    <a:pt x="4913739" y="62463"/>
                  </a:lnTo>
                  <a:lnTo>
                    <a:pt x="4913739" y="706352"/>
                  </a:lnTo>
                  <a:lnTo>
                    <a:pt x="4900032" y="742754"/>
                  </a:lnTo>
                  <a:lnTo>
                    <a:pt x="4868413" y="765406"/>
                  </a:lnTo>
                  <a:lnTo>
                    <a:pt x="4855622" y="768387"/>
                  </a:lnTo>
                  <a:lnTo>
                    <a:pt x="4851274" y="768816"/>
                  </a:lnTo>
                  <a:close/>
                </a:path>
              </a:pathLst>
            </a:custGeom>
            <a:solidFill>
              <a:srgbClr val="FFFFFF"/>
            </a:solidFill>
          </p:spPr>
          <p:txBody>
            <a:bodyPr wrap="square" lIns="0" tIns="0" rIns="0" bIns="0" rtlCol="0"/>
            <a:lstStyle/>
            <a:p/>
          </p:txBody>
        </p:sp>
        <p:sp>
          <p:nvSpPr>
            <p:cNvPr id="9" name="object 9" descr=""/>
            <p:cNvSpPr/>
            <p:nvPr/>
          </p:nvSpPr>
          <p:spPr>
            <a:xfrm>
              <a:off x="501402" y="1813404"/>
              <a:ext cx="417830" cy="417830"/>
            </a:xfrm>
            <a:custGeom>
              <a:avLst/>
              <a:gdLst/>
              <a:ahLst/>
              <a:cxnLst/>
              <a:rect l="l" t="t" r="r" b="b"/>
              <a:pathLst>
                <a:path w="417830" h="417830">
                  <a:moveTo>
                    <a:pt x="215759" y="417834"/>
                  </a:moveTo>
                  <a:lnTo>
                    <a:pt x="202075" y="417834"/>
                  </a:lnTo>
                  <a:lnTo>
                    <a:pt x="195249" y="417499"/>
                  </a:lnTo>
                  <a:lnTo>
                    <a:pt x="154819" y="410824"/>
                  </a:lnTo>
                  <a:lnTo>
                    <a:pt x="116468" y="396391"/>
                  </a:lnTo>
                  <a:lnTo>
                    <a:pt x="81670" y="374753"/>
                  </a:lnTo>
                  <a:lnTo>
                    <a:pt x="51762" y="346742"/>
                  </a:lnTo>
                  <a:lnTo>
                    <a:pt x="27894" y="313434"/>
                  </a:lnTo>
                  <a:lnTo>
                    <a:pt x="10982" y="276110"/>
                  </a:lnTo>
                  <a:lnTo>
                    <a:pt x="1676" y="236204"/>
                  </a:lnTo>
                  <a:lnTo>
                    <a:pt x="0" y="215759"/>
                  </a:lnTo>
                  <a:lnTo>
                    <a:pt x="0" y="202075"/>
                  </a:lnTo>
                  <a:lnTo>
                    <a:pt x="5349" y="161448"/>
                  </a:lnTo>
                  <a:lnTo>
                    <a:pt x="18521" y="122646"/>
                  </a:lnTo>
                  <a:lnTo>
                    <a:pt x="39010" y="87159"/>
                  </a:lnTo>
                  <a:lnTo>
                    <a:pt x="66028" y="56351"/>
                  </a:lnTo>
                  <a:lnTo>
                    <a:pt x="98538" y="31407"/>
                  </a:lnTo>
                  <a:lnTo>
                    <a:pt x="135289" y="13284"/>
                  </a:lnTo>
                  <a:lnTo>
                    <a:pt x="174870" y="2679"/>
                  </a:lnTo>
                  <a:lnTo>
                    <a:pt x="202075" y="0"/>
                  </a:lnTo>
                  <a:lnTo>
                    <a:pt x="215759" y="0"/>
                  </a:lnTo>
                  <a:lnTo>
                    <a:pt x="256385" y="5349"/>
                  </a:lnTo>
                  <a:lnTo>
                    <a:pt x="295188" y="18521"/>
                  </a:lnTo>
                  <a:lnTo>
                    <a:pt x="330674" y="39010"/>
                  </a:lnTo>
                  <a:lnTo>
                    <a:pt x="361482" y="66028"/>
                  </a:lnTo>
                  <a:lnTo>
                    <a:pt x="386427" y="98537"/>
                  </a:lnTo>
                  <a:lnTo>
                    <a:pt x="404550" y="135289"/>
                  </a:lnTo>
                  <a:lnTo>
                    <a:pt x="415155" y="174870"/>
                  </a:lnTo>
                  <a:lnTo>
                    <a:pt x="417834" y="202075"/>
                  </a:lnTo>
                  <a:lnTo>
                    <a:pt x="417834" y="208917"/>
                  </a:lnTo>
                  <a:lnTo>
                    <a:pt x="417834" y="215759"/>
                  </a:lnTo>
                  <a:lnTo>
                    <a:pt x="412485" y="256385"/>
                  </a:lnTo>
                  <a:lnTo>
                    <a:pt x="399313" y="295187"/>
                  </a:lnTo>
                  <a:lnTo>
                    <a:pt x="378824" y="330674"/>
                  </a:lnTo>
                  <a:lnTo>
                    <a:pt x="351806" y="361482"/>
                  </a:lnTo>
                  <a:lnTo>
                    <a:pt x="319296" y="386427"/>
                  </a:lnTo>
                  <a:lnTo>
                    <a:pt x="282545" y="404550"/>
                  </a:lnTo>
                  <a:lnTo>
                    <a:pt x="242964" y="415155"/>
                  </a:lnTo>
                  <a:lnTo>
                    <a:pt x="222585" y="417499"/>
                  </a:lnTo>
                  <a:lnTo>
                    <a:pt x="215759" y="417834"/>
                  </a:lnTo>
                  <a:close/>
                </a:path>
              </a:pathLst>
            </a:custGeom>
            <a:solidFill>
              <a:srgbClr val="2562EB"/>
            </a:solidFill>
          </p:spPr>
          <p:txBody>
            <a:bodyPr wrap="square" lIns="0" tIns="0" rIns="0" bIns="0" rtlCol="0"/>
            <a:lstStyle/>
            <a:p/>
          </p:txBody>
        </p:sp>
      </p:grpSp>
      <p:grpSp>
        <p:nvGrpSpPr>
          <p:cNvPr id="10" name="object 10" descr=""/>
          <p:cNvGrpSpPr/>
          <p:nvPr/>
        </p:nvGrpSpPr>
        <p:grpSpPr>
          <a:xfrm>
            <a:off x="334267" y="2540436"/>
            <a:ext cx="4914265" cy="768985"/>
            <a:chOff x="334267" y="2540436"/>
            <a:chExt cx="4914265" cy="768985"/>
          </a:xfrm>
        </p:grpSpPr>
        <p:sp>
          <p:nvSpPr>
            <p:cNvPr id="11" name="object 11" descr=""/>
            <p:cNvSpPr/>
            <p:nvPr/>
          </p:nvSpPr>
          <p:spPr>
            <a:xfrm>
              <a:off x="334267" y="2540436"/>
              <a:ext cx="4914265" cy="768985"/>
            </a:xfrm>
            <a:custGeom>
              <a:avLst/>
              <a:gdLst/>
              <a:ahLst/>
              <a:cxnLst/>
              <a:rect l="l" t="t" r="r" b="b"/>
              <a:pathLst>
                <a:path w="4914265" h="768985">
                  <a:moveTo>
                    <a:pt x="4851274" y="768816"/>
                  </a:moveTo>
                  <a:lnTo>
                    <a:pt x="62463" y="768816"/>
                  </a:lnTo>
                  <a:lnTo>
                    <a:pt x="58116" y="768388"/>
                  </a:lnTo>
                  <a:lnTo>
                    <a:pt x="22684" y="752339"/>
                  </a:lnTo>
                  <a:lnTo>
                    <a:pt x="2140" y="719310"/>
                  </a:lnTo>
                  <a:lnTo>
                    <a:pt x="0" y="706352"/>
                  </a:lnTo>
                  <a:lnTo>
                    <a:pt x="0" y="701962"/>
                  </a:lnTo>
                  <a:lnTo>
                    <a:pt x="0" y="62463"/>
                  </a:lnTo>
                  <a:lnTo>
                    <a:pt x="13705" y="26061"/>
                  </a:lnTo>
                  <a:lnTo>
                    <a:pt x="45325" y="3408"/>
                  </a:lnTo>
                  <a:lnTo>
                    <a:pt x="62463" y="0"/>
                  </a:lnTo>
                  <a:lnTo>
                    <a:pt x="4851274" y="0"/>
                  </a:lnTo>
                  <a:lnTo>
                    <a:pt x="4887677" y="13705"/>
                  </a:lnTo>
                  <a:lnTo>
                    <a:pt x="4910329" y="45325"/>
                  </a:lnTo>
                  <a:lnTo>
                    <a:pt x="4913739" y="62463"/>
                  </a:lnTo>
                  <a:lnTo>
                    <a:pt x="4913739" y="706352"/>
                  </a:lnTo>
                  <a:lnTo>
                    <a:pt x="4900032" y="742754"/>
                  </a:lnTo>
                  <a:lnTo>
                    <a:pt x="4868413" y="765406"/>
                  </a:lnTo>
                  <a:lnTo>
                    <a:pt x="4855622" y="768388"/>
                  </a:lnTo>
                  <a:lnTo>
                    <a:pt x="4851274" y="768816"/>
                  </a:lnTo>
                  <a:close/>
                </a:path>
              </a:pathLst>
            </a:custGeom>
            <a:solidFill>
              <a:srgbClr val="FFFFFF"/>
            </a:solidFill>
          </p:spPr>
          <p:txBody>
            <a:bodyPr wrap="square" lIns="0" tIns="0" rIns="0" bIns="0" rtlCol="0"/>
            <a:lstStyle/>
            <a:p/>
          </p:txBody>
        </p:sp>
        <p:sp>
          <p:nvSpPr>
            <p:cNvPr id="12" name="object 12" descr=""/>
            <p:cNvSpPr/>
            <p:nvPr/>
          </p:nvSpPr>
          <p:spPr>
            <a:xfrm>
              <a:off x="501402" y="2715927"/>
              <a:ext cx="417830" cy="417830"/>
            </a:xfrm>
            <a:custGeom>
              <a:avLst/>
              <a:gdLst/>
              <a:ahLst/>
              <a:cxnLst/>
              <a:rect l="l" t="t" r="r" b="b"/>
              <a:pathLst>
                <a:path w="417830" h="417830">
                  <a:moveTo>
                    <a:pt x="215759" y="417834"/>
                  </a:moveTo>
                  <a:lnTo>
                    <a:pt x="202075" y="417834"/>
                  </a:lnTo>
                  <a:lnTo>
                    <a:pt x="195249" y="417499"/>
                  </a:lnTo>
                  <a:lnTo>
                    <a:pt x="154819" y="410824"/>
                  </a:lnTo>
                  <a:lnTo>
                    <a:pt x="116468" y="396391"/>
                  </a:lnTo>
                  <a:lnTo>
                    <a:pt x="81670" y="374753"/>
                  </a:lnTo>
                  <a:lnTo>
                    <a:pt x="51762" y="346742"/>
                  </a:lnTo>
                  <a:lnTo>
                    <a:pt x="27894" y="313434"/>
                  </a:lnTo>
                  <a:lnTo>
                    <a:pt x="10982" y="276110"/>
                  </a:lnTo>
                  <a:lnTo>
                    <a:pt x="1676" y="236204"/>
                  </a:lnTo>
                  <a:lnTo>
                    <a:pt x="0" y="215759"/>
                  </a:lnTo>
                  <a:lnTo>
                    <a:pt x="0" y="202075"/>
                  </a:lnTo>
                  <a:lnTo>
                    <a:pt x="5349" y="161448"/>
                  </a:lnTo>
                  <a:lnTo>
                    <a:pt x="18521" y="122646"/>
                  </a:lnTo>
                  <a:lnTo>
                    <a:pt x="39010" y="87159"/>
                  </a:lnTo>
                  <a:lnTo>
                    <a:pt x="66028" y="56351"/>
                  </a:lnTo>
                  <a:lnTo>
                    <a:pt x="98538" y="31407"/>
                  </a:lnTo>
                  <a:lnTo>
                    <a:pt x="135289" y="13284"/>
                  </a:lnTo>
                  <a:lnTo>
                    <a:pt x="174870" y="2679"/>
                  </a:lnTo>
                  <a:lnTo>
                    <a:pt x="202075" y="0"/>
                  </a:lnTo>
                  <a:lnTo>
                    <a:pt x="215759" y="0"/>
                  </a:lnTo>
                  <a:lnTo>
                    <a:pt x="256385" y="5349"/>
                  </a:lnTo>
                  <a:lnTo>
                    <a:pt x="295188" y="18520"/>
                  </a:lnTo>
                  <a:lnTo>
                    <a:pt x="330674" y="39009"/>
                  </a:lnTo>
                  <a:lnTo>
                    <a:pt x="361482" y="66028"/>
                  </a:lnTo>
                  <a:lnTo>
                    <a:pt x="386427" y="98537"/>
                  </a:lnTo>
                  <a:lnTo>
                    <a:pt x="404550" y="135289"/>
                  </a:lnTo>
                  <a:lnTo>
                    <a:pt x="415155" y="174870"/>
                  </a:lnTo>
                  <a:lnTo>
                    <a:pt x="417834" y="202075"/>
                  </a:lnTo>
                  <a:lnTo>
                    <a:pt x="417834" y="208917"/>
                  </a:lnTo>
                  <a:lnTo>
                    <a:pt x="417834" y="215759"/>
                  </a:lnTo>
                  <a:lnTo>
                    <a:pt x="412485" y="256385"/>
                  </a:lnTo>
                  <a:lnTo>
                    <a:pt x="399313" y="295187"/>
                  </a:lnTo>
                  <a:lnTo>
                    <a:pt x="378824" y="330674"/>
                  </a:lnTo>
                  <a:lnTo>
                    <a:pt x="351806" y="361482"/>
                  </a:lnTo>
                  <a:lnTo>
                    <a:pt x="319296" y="386426"/>
                  </a:lnTo>
                  <a:lnTo>
                    <a:pt x="282545" y="404550"/>
                  </a:lnTo>
                  <a:lnTo>
                    <a:pt x="242964" y="415155"/>
                  </a:lnTo>
                  <a:lnTo>
                    <a:pt x="222585" y="417499"/>
                  </a:lnTo>
                  <a:lnTo>
                    <a:pt x="215759" y="417834"/>
                  </a:lnTo>
                  <a:close/>
                </a:path>
              </a:pathLst>
            </a:custGeom>
            <a:solidFill>
              <a:srgbClr val="049569"/>
            </a:solidFill>
          </p:spPr>
          <p:txBody>
            <a:bodyPr wrap="square" lIns="0" tIns="0" rIns="0" bIns="0" rtlCol="0"/>
            <a:lstStyle/>
            <a:p/>
          </p:txBody>
        </p:sp>
      </p:grpSp>
      <p:grpSp>
        <p:nvGrpSpPr>
          <p:cNvPr id="13" name="object 13" descr=""/>
          <p:cNvGrpSpPr/>
          <p:nvPr/>
        </p:nvGrpSpPr>
        <p:grpSpPr>
          <a:xfrm>
            <a:off x="334267" y="3442960"/>
            <a:ext cx="4914265" cy="768985"/>
            <a:chOff x="334267" y="3442960"/>
            <a:chExt cx="4914265" cy="768985"/>
          </a:xfrm>
        </p:grpSpPr>
        <p:sp>
          <p:nvSpPr>
            <p:cNvPr id="14" name="object 14" descr=""/>
            <p:cNvSpPr/>
            <p:nvPr/>
          </p:nvSpPr>
          <p:spPr>
            <a:xfrm>
              <a:off x="334267" y="3442960"/>
              <a:ext cx="4914265" cy="768985"/>
            </a:xfrm>
            <a:custGeom>
              <a:avLst/>
              <a:gdLst/>
              <a:ahLst/>
              <a:cxnLst/>
              <a:rect l="l" t="t" r="r" b="b"/>
              <a:pathLst>
                <a:path w="4914265" h="768985">
                  <a:moveTo>
                    <a:pt x="4851274" y="768816"/>
                  </a:moveTo>
                  <a:lnTo>
                    <a:pt x="62463" y="768816"/>
                  </a:lnTo>
                  <a:lnTo>
                    <a:pt x="58116" y="768387"/>
                  </a:lnTo>
                  <a:lnTo>
                    <a:pt x="22684" y="752339"/>
                  </a:lnTo>
                  <a:lnTo>
                    <a:pt x="2140" y="719310"/>
                  </a:lnTo>
                  <a:lnTo>
                    <a:pt x="0" y="706352"/>
                  </a:lnTo>
                  <a:lnTo>
                    <a:pt x="0" y="701962"/>
                  </a:lnTo>
                  <a:lnTo>
                    <a:pt x="0" y="62463"/>
                  </a:lnTo>
                  <a:lnTo>
                    <a:pt x="13705" y="26061"/>
                  </a:lnTo>
                  <a:lnTo>
                    <a:pt x="45325" y="3408"/>
                  </a:lnTo>
                  <a:lnTo>
                    <a:pt x="62463" y="0"/>
                  </a:lnTo>
                  <a:lnTo>
                    <a:pt x="4851274" y="0"/>
                  </a:lnTo>
                  <a:lnTo>
                    <a:pt x="4887677" y="13705"/>
                  </a:lnTo>
                  <a:lnTo>
                    <a:pt x="4910329" y="45325"/>
                  </a:lnTo>
                  <a:lnTo>
                    <a:pt x="4913739" y="62463"/>
                  </a:lnTo>
                  <a:lnTo>
                    <a:pt x="4913739" y="706352"/>
                  </a:lnTo>
                  <a:lnTo>
                    <a:pt x="4900032" y="742754"/>
                  </a:lnTo>
                  <a:lnTo>
                    <a:pt x="4868413" y="765406"/>
                  </a:lnTo>
                  <a:lnTo>
                    <a:pt x="4855622" y="768387"/>
                  </a:lnTo>
                  <a:lnTo>
                    <a:pt x="4851274" y="768816"/>
                  </a:lnTo>
                  <a:close/>
                </a:path>
              </a:pathLst>
            </a:custGeom>
            <a:solidFill>
              <a:srgbClr val="FFFFFF"/>
            </a:solidFill>
          </p:spPr>
          <p:txBody>
            <a:bodyPr wrap="square" lIns="0" tIns="0" rIns="0" bIns="0" rtlCol="0"/>
            <a:lstStyle/>
            <a:p/>
          </p:txBody>
        </p:sp>
        <p:sp>
          <p:nvSpPr>
            <p:cNvPr id="15" name="object 15" descr=""/>
            <p:cNvSpPr/>
            <p:nvPr/>
          </p:nvSpPr>
          <p:spPr>
            <a:xfrm>
              <a:off x="501402" y="3618451"/>
              <a:ext cx="417830" cy="417830"/>
            </a:xfrm>
            <a:custGeom>
              <a:avLst/>
              <a:gdLst/>
              <a:ahLst/>
              <a:cxnLst/>
              <a:rect l="l" t="t" r="r" b="b"/>
              <a:pathLst>
                <a:path w="417830" h="417829">
                  <a:moveTo>
                    <a:pt x="215759" y="417834"/>
                  </a:moveTo>
                  <a:lnTo>
                    <a:pt x="202075" y="417834"/>
                  </a:lnTo>
                  <a:lnTo>
                    <a:pt x="195249" y="417499"/>
                  </a:lnTo>
                  <a:lnTo>
                    <a:pt x="154819" y="410824"/>
                  </a:lnTo>
                  <a:lnTo>
                    <a:pt x="116468" y="396390"/>
                  </a:lnTo>
                  <a:lnTo>
                    <a:pt x="81670" y="374753"/>
                  </a:lnTo>
                  <a:lnTo>
                    <a:pt x="51762" y="346742"/>
                  </a:lnTo>
                  <a:lnTo>
                    <a:pt x="27894" y="313434"/>
                  </a:lnTo>
                  <a:lnTo>
                    <a:pt x="10982" y="276110"/>
                  </a:lnTo>
                  <a:lnTo>
                    <a:pt x="1676" y="236204"/>
                  </a:lnTo>
                  <a:lnTo>
                    <a:pt x="0" y="215759"/>
                  </a:lnTo>
                  <a:lnTo>
                    <a:pt x="0" y="202074"/>
                  </a:lnTo>
                  <a:lnTo>
                    <a:pt x="5349" y="161448"/>
                  </a:lnTo>
                  <a:lnTo>
                    <a:pt x="18521" y="122645"/>
                  </a:lnTo>
                  <a:lnTo>
                    <a:pt x="39010" y="87159"/>
                  </a:lnTo>
                  <a:lnTo>
                    <a:pt x="66028" y="56351"/>
                  </a:lnTo>
                  <a:lnTo>
                    <a:pt x="98538" y="31406"/>
                  </a:lnTo>
                  <a:lnTo>
                    <a:pt x="135289" y="13284"/>
                  </a:lnTo>
                  <a:lnTo>
                    <a:pt x="174870" y="2679"/>
                  </a:lnTo>
                  <a:lnTo>
                    <a:pt x="202075" y="0"/>
                  </a:lnTo>
                  <a:lnTo>
                    <a:pt x="215759" y="0"/>
                  </a:lnTo>
                  <a:lnTo>
                    <a:pt x="256385" y="5348"/>
                  </a:lnTo>
                  <a:lnTo>
                    <a:pt x="295188" y="18520"/>
                  </a:lnTo>
                  <a:lnTo>
                    <a:pt x="330674" y="39010"/>
                  </a:lnTo>
                  <a:lnTo>
                    <a:pt x="361482" y="66028"/>
                  </a:lnTo>
                  <a:lnTo>
                    <a:pt x="386427" y="98537"/>
                  </a:lnTo>
                  <a:lnTo>
                    <a:pt x="404550" y="135289"/>
                  </a:lnTo>
                  <a:lnTo>
                    <a:pt x="415155" y="174870"/>
                  </a:lnTo>
                  <a:lnTo>
                    <a:pt x="417834" y="202074"/>
                  </a:lnTo>
                  <a:lnTo>
                    <a:pt x="417834" y="208917"/>
                  </a:lnTo>
                  <a:lnTo>
                    <a:pt x="417834" y="215759"/>
                  </a:lnTo>
                  <a:lnTo>
                    <a:pt x="412485" y="256385"/>
                  </a:lnTo>
                  <a:lnTo>
                    <a:pt x="399313" y="295187"/>
                  </a:lnTo>
                  <a:lnTo>
                    <a:pt x="378824" y="330674"/>
                  </a:lnTo>
                  <a:lnTo>
                    <a:pt x="351806" y="361482"/>
                  </a:lnTo>
                  <a:lnTo>
                    <a:pt x="319296" y="386427"/>
                  </a:lnTo>
                  <a:lnTo>
                    <a:pt x="282545" y="404549"/>
                  </a:lnTo>
                  <a:lnTo>
                    <a:pt x="242964" y="415155"/>
                  </a:lnTo>
                  <a:lnTo>
                    <a:pt x="222585" y="417499"/>
                  </a:lnTo>
                  <a:lnTo>
                    <a:pt x="215759" y="417834"/>
                  </a:lnTo>
                  <a:close/>
                </a:path>
              </a:pathLst>
            </a:custGeom>
            <a:solidFill>
              <a:srgbClr val="7C3AEC"/>
            </a:solidFill>
          </p:spPr>
          <p:txBody>
            <a:bodyPr wrap="square" lIns="0" tIns="0" rIns="0" bIns="0" rtlCol="0"/>
            <a:lstStyle/>
            <a:p/>
          </p:txBody>
        </p:sp>
      </p:grpSp>
      <p:grpSp>
        <p:nvGrpSpPr>
          <p:cNvPr id="16" name="object 16" descr=""/>
          <p:cNvGrpSpPr/>
          <p:nvPr/>
        </p:nvGrpSpPr>
        <p:grpSpPr>
          <a:xfrm>
            <a:off x="334267" y="4345483"/>
            <a:ext cx="4914265" cy="768985"/>
            <a:chOff x="334267" y="4345483"/>
            <a:chExt cx="4914265" cy="768985"/>
          </a:xfrm>
        </p:grpSpPr>
        <p:sp>
          <p:nvSpPr>
            <p:cNvPr id="17" name="object 17" descr=""/>
            <p:cNvSpPr/>
            <p:nvPr/>
          </p:nvSpPr>
          <p:spPr>
            <a:xfrm>
              <a:off x="334267" y="4345483"/>
              <a:ext cx="4914265" cy="768985"/>
            </a:xfrm>
            <a:custGeom>
              <a:avLst/>
              <a:gdLst/>
              <a:ahLst/>
              <a:cxnLst/>
              <a:rect l="l" t="t" r="r" b="b"/>
              <a:pathLst>
                <a:path w="4914265" h="768985">
                  <a:moveTo>
                    <a:pt x="4851274" y="768815"/>
                  </a:moveTo>
                  <a:lnTo>
                    <a:pt x="62463" y="768815"/>
                  </a:lnTo>
                  <a:lnTo>
                    <a:pt x="58116" y="768387"/>
                  </a:lnTo>
                  <a:lnTo>
                    <a:pt x="22684" y="752339"/>
                  </a:lnTo>
                  <a:lnTo>
                    <a:pt x="2140" y="719309"/>
                  </a:lnTo>
                  <a:lnTo>
                    <a:pt x="0" y="706352"/>
                  </a:lnTo>
                  <a:lnTo>
                    <a:pt x="0" y="701962"/>
                  </a:lnTo>
                  <a:lnTo>
                    <a:pt x="0" y="62464"/>
                  </a:lnTo>
                  <a:lnTo>
                    <a:pt x="13705" y="26061"/>
                  </a:lnTo>
                  <a:lnTo>
                    <a:pt x="45325" y="3409"/>
                  </a:lnTo>
                  <a:lnTo>
                    <a:pt x="62463" y="0"/>
                  </a:lnTo>
                  <a:lnTo>
                    <a:pt x="4851274" y="0"/>
                  </a:lnTo>
                  <a:lnTo>
                    <a:pt x="4887677" y="13705"/>
                  </a:lnTo>
                  <a:lnTo>
                    <a:pt x="4910329" y="45324"/>
                  </a:lnTo>
                  <a:lnTo>
                    <a:pt x="4913739" y="62464"/>
                  </a:lnTo>
                  <a:lnTo>
                    <a:pt x="4913739" y="706352"/>
                  </a:lnTo>
                  <a:lnTo>
                    <a:pt x="4900032" y="742753"/>
                  </a:lnTo>
                  <a:lnTo>
                    <a:pt x="4868413" y="765406"/>
                  </a:lnTo>
                  <a:lnTo>
                    <a:pt x="4855622" y="768387"/>
                  </a:lnTo>
                  <a:lnTo>
                    <a:pt x="4851274" y="768815"/>
                  </a:lnTo>
                  <a:close/>
                </a:path>
              </a:pathLst>
            </a:custGeom>
            <a:solidFill>
              <a:srgbClr val="FFFFFF"/>
            </a:solidFill>
          </p:spPr>
          <p:txBody>
            <a:bodyPr wrap="square" lIns="0" tIns="0" rIns="0" bIns="0" rtlCol="0"/>
            <a:lstStyle/>
            <a:p/>
          </p:txBody>
        </p:sp>
        <p:sp>
          <p:nvSpPr>
            <p:cNvPr id="18" name="object 18" descr=""/>
            <p:cNvSpPr/>
            <p:nvPr/>
          </p:nvSpPr>
          <p:spPr>
            <a:xfrm>
              <a:off x="501402" y="4520975"/>
              <a:ext cx="417830" cy="417830"/>
            </a:xfrm>
            <a:custGeom>
              <a:avLst/>
              <a:gdLst/>
              <a:ahLst/>
              <a:cxnLst/>
              <a:rect l="l" t="t" r="r" b="b"/>
              <a:pathLst>
                <a:path w="417830" h="417829">
                  <a:moveTo>
                    <a:pt x="215759" y="417834"/>
                  </a:moveTo>
                  <a:lnTo>
                    <a:pt x="202075" y="417834"/>
                  </a:lnTo>
                  <a:lnTo>
                    <a:pt x="195249" y="417498"/>
                  </a:lnTo>
                  <a:lnTo>
                    <a:pt x="154819" y="410824"/>
                  </a:lnTo>
                  <a:lnTo>
                    <a:pt x="116468" y="396390"/>
                  </a:lnTo>
                  <a:lnTo>
                    <a:pt x="81670" y="374752"/>
                  </a:lnTo>
                  <a:lnTo>
                    <a:pt x="51762" y="346741"/>
                  </a:lnTo>
                  <a:lnTo>
                    <a:pt x="27894" y="313433"/>
                  </a:lnTo>
                  <a:lnTo>
                    <a:pt x="10982" y="276109"/>
                  </a:lnTo>
                  <a:lnTo>
                    <a:pt x="1676" y="236203"/>
                  </a:lnTo>
                  <a:lnTo>
                    <a:pt x="0" y="215759"/>
                  </a:lnTo>
                  <a:lnTo>
                    <a:pt x="0" y="202075"/>
                  </a:lnTo>
                  <a:lnTo>
                    <a:pt x="5349" y="161448"/>
                  </a:lnTo>
                  <a:lnTo>
                    <a:pt x="18521" y="122646"/>
                  </a:lnTo>
                  <a:lnTo>
                    <a:pt x="39010" y="87159"/>
                  </a:lnTo>
                  <a:lnTo>
                    <a:pt x="66028" y="56352"/>
                  </a:lnTo>
                  <a:lnTo>
                    <a:pt x="98538" y="31406"/>
                  </a:lnTo>
                  <a:lnTo>
                    <a:pt x="135289" y="13283"/>
                  </a:lnTo>
                  <a:lnTo>
                    <a:pt x="174870" y="2679"/>
                  </a:lnTo>
                  <a:lnTo>
                    <a:pt x="202075" y="0"/>
                  </a:lnTo>
                  <a:lnTo>
                    <a:pt x="215759" y="0"/>
                  </a:lnTo>
                  <a:lnTo>
                    <a:pt x="256385" y="5348"/>
                  </a:lnTo>
                  <a:lnTo>
                    <a:pt x="295188" y="18520"/>
                  </a:lnTo>
                  <a:lnTo>
                    <a:pt x="330674" y="39009"/>
                  </a:lnTo>
                  <a:lnTo>
                    <a:pt x="361482" y="66028"/>
                  </a:lnTo>
                  <a:lnTo>
                    <a:pt x="386427" y="98538"/>
                  </a:lnTo>
                  <a:lnTo>
                    <a:pt x="404550" y="135288"/>
                  </a:lnTo>
                  <a:lnTo>
                    <a:pt x="415155" y="174869"/>
                  </a:lnTo>
                  <a:lnTo>
                    <a:pt x="417834" y="202075"/>
                  </a:lnTo>
                  <a:lnTo>
                    <a:pt x="417834" y="208916"/>
                  </a:lnTo>
                  <a:lnTo>
                    <a:pt x="417834" y="215759"/>
                  </a:lnTo>
                  <a:lnTo>
                    <a:pt x="412485" y="256385"/>
                  </a:lnTo>
                  <a:lnTo>
                    <a:pt x="399313" y="295187"/>
                  </a:lnTo>
                  <a:lnTo>
                    <a:pt x="378824" y="330673"/>
                  </a:lnTo>
                  <a:lnTo>
                    <a:pt x="351806" y="361481"/>
                  </a:lnTo>
                  <a:lnTo>
                    <a:pt x="319296" y="386426"/>
                  </a:lnTo>
                  <a:lnTo>
                    <a:pt x="282545" y="404549"/>
                  </a:lnTo>
                  <a:lnTo>
                    <a:pt x="242964" y="415154"/>
                  </a:lnTo>
                  <a:lnTo>
                    <a:pt x="222585" y="417498"/>
                  </a:lnTo>
                  <a:lnTo>
                    <a:pt x="215759" y="417834"/>
                  </a:lnTo>
                  <a:close/>
                </a:path>
              </a:pathLst>
            </a:custGeom>
            <a:solidFill>
              <a:srgbClr val="DB2525"/>
            </a:solidFill>
          </p:spPr>
          <p:txBody>
            <a:bodyPr wrap="square" lIns="0" tIns="0" rIns="0" bIns="0" rtlCol="0"/>
            <a:lstStyle/>
            <a:p/>
          </p:txBody>
        </p:sp>
      </p:grpSp>
      <p:sp>
        <p:nvSpPr>
          <p:cNvPr id="19" name="object 19" descr=""/>
          <p:cNvSpPr txBox="1"/>
          <p:nvPr/>
        </p:nvSpPr>
        <p:spPr>
          <a:xfrm>
            <a:off x="626848" y="1900984"/>
            <a:ext cx="167005" cy="226060"/>
          </a:xfrm>
          <a:prstGeom prst="rect">
            <a:avLst/>
          </a:prstGeom>
        </p:spPr>
        <p:txBody>
          <a:bodyPr wrap="square" lIns="0" tIns="14604" rIns="0" bIns="0" rtlCol="0" vert="horz">
            <a:spAutoFit/>
          </a:bodyPr>
          <a:lstStyle/>
          <a:p>
            <a:pPr marL="12700">
              <a:lnSpc>
                <a:spcPct val="100000"/>
              </a:lnSpc>
              <a:spcBef>
                <a:spcPts val="114"/>
              </a:spcBef>
            </a:pPr>
            <a:r>
              <a:rPr dirty="0" sz="1300" spc="-135" b="1">
                <a:solidFill>
                  <a:srgbClr val="FFFFFF"/>
                </a:solidFill>
                <a:latin typeface="Yu Gothic"/>
                <a:cs typeface="Yu Gothic"/>
              </a:rPr>
              <a:t>①</a:t>
            </a:r>
            <a:endParaRPr sz="1300">
              <a:latin typeface="Yu Gothic"/>
              <a:cs typeface="Yu Gothic"/>
            </a:endParaRPr>
          </a:p>
        </p:txBody>
      </p:sp>
      <p:sp>
        <p:nvSpPr>
          <p:cNvPr id="20" name="object 20" descr=""/>
          <p:cNvSpPr txBox="1"/>
          <p:nvPr/>
        </p:nvSpPr>
        <p:spPr>
          <a:xfrm>
            <a:off x="1073670" y="1734814"/>
            <a:ext cx="2031364" cy="485775"/>
          </a:xfrm>
          <a:prstGeom prst="rect">
            <a:avLst/>
          </a:prstGeom>
        </p:spPr>
        <p:txBody>
          <a:bodyPr wrap="square" lIns="0" tIns="66040" rIns="0" bIns="0" rtlCol="0" vert="horz">
            <a:spAutoFit/>
          </a:bodyPr>
          <a:lstStyle/>
          <a:p>
            <a:pPr marL="12700">
              <a:lnSpc>
                <a:spcPct val="100000"/>
              </a:lnSpc>
              <a:spcBef>
                <a:spcPts val="520"/>
              </a:spcBef>
            </a:pPr>
            <a:r>
              <a:rPr dirty="0" sz="1150" spc="130" b="1">
                <a:solidFill>
                  <a:srgbClr val="1D3A8A"/>
                </a:solidFill>
                <a:latin typeface="Yu Gothic"/>
                <a:cs typeface="Yu Gothic"/>
              </a:rPr>
              <a:t>pn</a:t>
            </a:r>
            <a:r>
              <a:rPr dirty="0" sz="1350" spc="-185">
                <a:solidFill>
                  <a:srgbClr val="1D3A8A"/>
                </a:solidFill>
                <a:latin typeface="SimSun"/>
                <a:cs typeface="SimSun"/>
              </a:rPr>
              <a:t>接</a:t>
            </a:r>
            <a:r>
              <a:rPr dirty="0" sz="1300" spc="-125">
                <a:solidFill>
                  <a:srgbClr val="1D3A8A"/>
                </a:solidFill>
                <a:latin typeface="SimSun"/>
                <a:cs typeface="SimSun"/>
              </a:rPr>
              <a:t>合</a:t>
            </a:r>
            <a:r>
              <a:rPr dirty="0" sz="1350" spc="-185">
                <a:solidFill>
                  <a:srgbClr val="1D3A8A"/>
                </a:solidFill>
                <a:latin typeface="SimSun"/>
                <a:cs typeface="SimSun"/>
              </a:rPr>
              <a:t>部</a:t>
            </a:r>
            <a:r>
              <a:rPr dirty="0" sz="1300" spc="-125">
                <a:solidFill>
                  <a:srgbClr val="1D3A8A"/>
                </a:solidFill>
                <a:latin typeface="SimSun"/>
                <a:cs typeface="SimSun"/>
              </a:rPr>
              <a:t>階段</a:t>
            </a:r>
            <a:r>
              <a:rPr dirty="0" sz="1350" spc="-185">
                <a:solidFill>
                  <a:srgbClr val="1D3A8A"/>
                </a:solidFill>
                <a:latin typeface="SimSun"/>
                <a:cs typeface="SimSun"/>
              </a:rPr>
              <a:t>接</a:t>
            </a:r>
            <a:r>
              <a:rPr dirty="0" sz="1300" spc="-50">
                <a:solidFill>
                  <a:srgbClr val="1D3A8A"/>
                </a:solidFill>
                <a:latin typeface="SimSun"/>
                <a:cs typeface="SimSun"/>
              </a:rPr>
              <a:t>合</a:t>
            </a:r>
            <a:endParaRPr sz="1300">
              <a:latin typeface="SimSun"/>
              <a:cs typeface="SimSun"/>
            </a:endParaRPr>
          </a:p>
          <a:p>
            <a:pPr marL="12700">
              <a:lnSpc>
                <a:spcPct val="100000"/>
              </a:lnSpc>
              <a:spcBef>
                <a:spcPts val="325"/>
              </a:spcBef>
            </a:pPr>
            <a:r>
              <a:rPr dirty="0" sz="1050" spc="-20">
                <a:solidFill>
                  <a:srgbClr val="374050"/>
                </a:solidFill>
                <a:latin typeface="PMingLiU"/>
                <a:cs typeface="PMingLiU"/>
              </a:rPr>
              <a:t>先行研究と同じ条件での基本構造</a:t>
            </a:r>
            <a:endParaRPr sz="1050">
              <a:latin typeface="PMingLiU"/>
              <a:cs typeface="PMingLiU"/>
            </a:endParaRPr>
          </a:p>
        </p:txBody>
      </p:sp>
      <p:sp>
        <p:nvSpPr>
          <p:cNvPr id="21" name="object 21" descr=""/>
          <p:cNvSpPr txBox="1"/>
          <p:nvPr/>
        </p:nvSpPr>
        <p:spPr>
          <a:xfrm>
            <a:off x="626848" y="2803507"/>
            <a:ext cx="167005" cy="226060"/>
          </a:xfrm>
          <a:prstGeom prst="rect">
            <a:avLst/>
          </a:prstGeom>
        </p:spPr>
        <p:txBody>
          <a:bodyPr wrap="square" lIns="0" tIns="14604" rIns="0" bIns="0" rtlCol="0" vert="horz">
            <a:spAutoFit/>
          </a:bodyPr>
          <a:lstStyle/>
          <a:p>
            <a:pPr marL="12700">
              <a:lnSpc>
                <a:spcPct val="100000"/>
              </a:lnSpc>
              <a:spcBef>
                <a:spcPts val="114"/>
              </a:spcBef>
            </a:pPr>
            <a:r>
              <a:rPr dirty="0" sz="1300" spc="-135" b="1">
                <a:solidFill>
                  <a:srgbClr val="FFFFFF"/>
                </a:solidFill>
                <a:latin typeface="Yu Gothic"/>
                <a:cs typeface="Yu Gothic"/>
              </a:rPr>
              <a:t>➁</a:t>
            </a:r>
            <a:endParaRPr sz="1300">
              <a:latin typeface="Yu Gothic"/>
              <a:cs typeface="Yu Gothic"/>
            </a:endParaRPr>
          </a:p>
        </p:txBody>
      </p:sp>
      <p:sp>
        <p:nvSpPr>
          <p:cNvPr id="22" name="object 22" descr=""/>
          <p:cNvSpPr txBox="1"/>
          <p:nvPr/>
        </p:nvSpPr>
        <p:spPr>
          <a:xfrm>
            <a:off x="1073670" y="2636569"/>
            <a:ext cx="3234690" cy="487045"/>
          </a:xfrm>
          <a:prstGeom prst="rect">
            <a:avLst/>
          </a:prstGeom>
        </p:spPr>
        <p:txBody>
          <a:bodyPr wrap="square" lIns="0" tIns="66675" rIns="0" bIns="0" rtlCol="0" vert="horz">
            <a:spAutoFit/>
          </a:bodyPr>
          <a:lstStyle/>
          <a:p>
            <a:pPr marL="12700">
              <a:lnSpc>
                <a:spcPct val="100000"/>
              </a:lnSpc>
              <a:spcBef>
                <a:spcPts val="525"/>
              </a:spcBef>
            </a:pPr>
            <a:r>
              <a:rPr dirty="0" sz="1150" spc="130" b="1">
                <a:solidFill>
                  <a:srgbClr val="054E3B"/>
                </a:solidFill>
                <a:latin typeface="Yu Gothic"/>
                <a:cs typeface="Yu Gothic"/>
              </a:rPr>
              <a:t>pn</a:t>
            </a:r>
            <a:r>
              <a:rPr dirty="0" sz="1350" spc="-185">
                <a:solidFill>
                  <a:srgbClr val="054E3B"/>
                </a:solidFill>
                <a:latin typeface="SimSun"/>
                <a:cs typeface="SimSun"/>
              </a:rPr>
              <a:t>接</a:t>
            </a:r>
            <a:r>
              <a:rPr dirty="0" sz="1300" spc="-125">
                <a:solidFill>
                  <a:srgbClr val="054E3B"/>
                </a:solidFill>
                <a:latin typeface="SimSun"/>
                <a:cs typeface="SimSun"/>
              </a:rPr>
              <a:t>合</a:t>
            </a:r>
            <a:r>
              <a:rPr dirty="0" sz="1350" spc="-185">
                <a:solidFill>
                  <a:srgbClr val="054E3B"/>
                </a:solidFill>
                <a:latin typeface="SimSun"/>
                <a:cs typeface="SimSun"/>
              </a:rPr>
              <a:t>部</a:t>
            </a:r>
            <a:r>
              <a:rPr dirty="0" sz="1250" spc="-75">
                <a:solidFill>
                  <a:srgbClr val="054E3B"/>
                </a:solidFill>
                <a:latin typeface="PMingLiU"/>
                <a:cs typeface="PMingLiU"/>
              </a:rPr>
              <a:t>不</a:t>
            </a:r>
            <a:r>
              <a:rPr dirty="0" sz="1300" spc="-125">
                <a:solidFill>
                  <a:srgbClr val="054E3B"/>
                </a:solidFill>
                <a:latin typeface="SimSun"/>
                <a:cs typeface="SimSun"/>
              </a:rPr>
              <a:t>純物濃</a:t>
            </a:r>
            <a:r>
              <a:rPr dirty="0" sz="1350" spc="-185">
                <a:solidFill>
                  <a:srgbClr val="054E3B"/>
                </a:solidFill>
                <a:latin typeface="SimSun"/>
                <a:cs typeface="SimSun"/>
              </a:rPr>
              <a:t>度</a:t>
            </a:r>
            <a:r>
              <a:rPr dirty="0" sz="1250" spc="-80">
                <a:solidFill>
                  <a:srgbClr val="054E3B"/>
                </a:solidFill>
                <a:latin typeface="PMingLiU"/>
                <a:cs typeface="PMingLiU"/>
              </a:rPr>
              <a:t>ガウス</a:t>
            </a:r>
            <a:r>
              <a:rPr dirty="0" sz="1300" spc="-125">
                <a:solidFill>
                  <a:srgbClr val="054E3B"/>
                </a:solidFill>
                <a:latin typeface="SimSun"/>
                <a:cs typeface="SimSun"/>
              </a:rPr>
              <a:t>分</a:t>
            </a:r>
            <a:r>
              <a:rPr dirty="0" sz="1350" spc="-50">
                <a:solidFill>
                  <a:srgbClr val="054E3B"/>
                </a:solidFill>
                <a:latin typeface="SimSun"/>
                <a:cs typeface="SimSun"/>
              </a:rPr>
              <a:t>布</a:t>
            </a:r>
            <a:endParaRPr sz="1350">
              <a:latin typeface="SimSun"/>
              <a:cs typeface="SimSun"/>
            </a:endParaRPr>
          </a:p>
          <a:p>
            <a:pPr marL="12700">
              <a:lnSpc>
                <a:spcPct val="100000"/>
              </a:lnSpc>
              <a:spcBef>
                <a:spcPts val="325"/>
              </a:spcBef>
            </a:pPr>
            <a:r>
              <a:rPr dirty="0" sz="1050" spc="-25">
                <a:solidFill>
                  <a:srgbClr val="374050"/>
                </a:solidFill>
                <a:latin typeface="PMingLiU"/>
                <a:cs typeface="PMingLiU"/>
              </a:rPr>
              <a:t>接合部の不純物濃度をより現実的なガウス分布に設定</a:t>
            </a:r>
            <a:endParaRPr sz="1050">
              <a:latin typeface="PMingLiU"/>
              <a:cs typeface="PMingLiU"/>
            </a:endParaRPr>
          </a:p>
        </p:txBody>
      </p:sp>
      <p:sp>
        <p:nvSpPr>
          <p:cNvPr id="23" name="object 23" descr=""/>
          <p:cNvSpPr txBox="1"/>
          <p:nvPr/>
        </p:nvSpPr>
        <p:spPr>
          <a:xfrm>
            <a:off x="626848" y="3706031"/>
            <a:ext cx="167005" cy="226060"/>
          </a:xfrm>
          <a:prstGeom prst="rect">
            <a:avLst/>
          </a:prstGeom>
        </p:spPr>
        <p:txBody>
          <a:bodyPr wrap="square" lIns="0" tIns="14604" rIns="0" bIns="0" rtlCol="0" vert="horz">
            <a:spAutoFit/>
          </a:bodyPr>
          <a:lstStyle/>
          <a:p>
            <a:pPr marL="12700">
              <a:lnSpc>
                <a:spcPct val="100000"/>
              </a:lnSpc>
              <a:spcBef>
                <a:spcPts val="114"/>
              </a:spcBef>
            </a:pPr>
            <a:r>
              <a:rPr dirty="0" sz="1300" spc="-135" b="1">
                <a:solidFill>
                  <a:srgbClr val="FFFFFF"/>
                </a:solidFill>
                <a:latin typeface="Yu Gothic"/>
                <a:cs typeface="Yu Gothic"/>
              </a:rPr>
              <a:t>③</a:t>
            </a:r>
            <a:endParaRPr sz="1300">
              <a:latin typeface="Yu Gothic"/>
              <a:cs typeface="Yu Gothic"/>
            </a:endParaRPr>
          </a:p>
        </p:txBody>
      </p:sp>
      <p:sp>
        <p:nvSpPr>
          <p:cNvPr id="24" name="object 24" descr=""/>
          <p:cNvSpPr txBox="1"/>
          <p:nvPr/>
        </p:nvSpPr>
        <p:spPr>
          <a:xfrm>
            <a:off x="626848" y="4608554"/>
            <a:ext cx="167005" cy="226060"/>
          </a:xfrm>
          <a:prstGeom prst="rect">
            <a:avLst/>
          </a:prstGeom>
        </p:spPr>
        <p:txBody>
          <a:bodyPr wrap="square" lIns="0" tIns="14604" rIns="0" bIns="0" rtlCol="0" vert="horz">
            <a:spAutoFit/>
          </a:bodyPr>
          <a:lstStyle/>
          <a:p>
            <a:pPr marL="12700">
              <a:lnSpc>
                <a:spcPct val="100000"/>
              </a:lnSpc>
              <a:spcBef>
                <a:spcPts val="114"/>
              </a:spcBef>
            </a:pPr>
            <a:r>
              <a:rPr dirty="0" sz="1300" spc="-135" b="1">
                <a:solidFill>
                  <a:srgbClr val="FFFFFF"/>
                </a:solidFill>
                <a:latin typeface="Yu Gothic"/>
                <a:cs typeface="Yu Gothic"/>
              </a:rPr>
              <a:t>④</a:t>
            </a:r>
            <a:endParaRPr sz="1300">
              <a:latin typeface="Yu Gothic"/>
              <a:cs typeface="Yu Gothic"/>
            </a:endParaRPr>
          </a:p>
        </p:txBody>
      </p:sp>
      <p:sp>
        <p:nvSpPr>
          <p:cNvPr id="25" name="object 25" descr=""/>
          <p:cNvSpPr/>
          <p:nvPr/>
        </p:nvSpPr>
        <p:spPr>
          <a:xfrm>
            <a:off x="5448567" y="3777228"/>
            <a:ext cx="4914265" cy="1663064"/>
          </a:xfrm>
          <a:custGeom>
            <a:avLst/>
            <a:gdLst/>
            <a:ahLst/>
            <a:cxnLst/>
            <a:rect l="l" t="t" r="r" b="b"/>
            <a:pathLst>
              <a:path w="4914265" h="1663064">
                <a:moveTo>
                  <a:pt x="4851275" y="1662983"/>
                </a:moveTo>
                <a:lnTo>
                  <a:pt x="62464" y="1662983"/>
                </a:lnTo>
                <a:lnTo>
                  <a:pt x="58116" y="1662554"/>
                </a:lnTo>
                <a:lnTo>
                  <a:pt x="22684" y="1646505"/>
                </a:lnTo>
                <a:lnTo>
                  <a:pt x="2140" y="1613477"/>
                </a:lnTo>
                <a:lnTo>
                  <a:pt x="0" y="1600519"/>
                </a:lnTo>
                <a:lnTo>
                  <a:pt x="0" y="1596129"/>
                </a:lnTo>
                <a:lnTo>
                  <a:pt x="0" y="62463"/>
                </a:lnTo>
                <a:lnTo>
                  <a:pt x="13705" y="26061"/>
                </a:lnTo>
                <a:lnTo>
                  <a:pt x="45324" y="3408"/>
                </a:lnTo>
                <a:lnTo>
                  <a:pt x="62464" y="0"/>
                </a:lnTo>
                <a:lnTo>
                  <a:pt x="4851275" y="0"/>
                </a:lnTo>
                <a:lnTo>
                  <a:pt x="4887678" y="13705"/>
                </a:lnTo>
                <a:lnTo>
                  <a:pt x="4910330" y="45325"/>
                </a:lnTo>
                <a:lnTo>
                  <a:pt x="4913739" y="62463"/>
                </a:lnTo>
                <a:lnTo>
                  <a:pt x="4913739" y="1600519"/>
                </a:lnTo>
                <a:lnTo>
                  <a:pt x="4900033" y="1636920"/>
                </a:lnTo>
                <a:lnTo>
                  <a:pt x="4868414" y="1659573"/>
                </a:lnTo>
                <a:lnTo>
                  <a:pt x="4855623" y="1662554"/>
                </a:lnTo>
                <a:lnTo>
                  <a:pt x="4851275" y="1662983"/>
                </a:lnTo>
                <a:close/>
              </a:path>
            </a:pathLst>
          </a:custGeom>
          <a:solidFill>
            <a:srgbClr val="FFFFFF"/>
          </a:solidFill>
        </p:spPr>
        <p:txBody>
          <a:bodyPr wrap="square" lIns="0" tIns="0" rIns="0" bIns="0" rtlCol="0"/>
          <a:lstStyle/>
          <a:p/>
        </p:txBody>
      </p:sp>
      <p:sp>
        <p:nvSpPr>
          <p:cNvPr id="26" name="object 26" descr=""/>
          <p:cNvSpPr txBox="1"/>
          <p:nvPr/>
        </p:nvSpPr>
        <p:spPr>
          <a:xfrm>
            <a:off x="5603002" y="3928985"/>
            <a:ext cx="1082040" cy="229235"/>
          </a:xfrm>
          <a:prstGeom prst="rect">
            <a:avLst/>
          </a:prstGeom>
        </p:spPr>
        <p:txBody>
          <a:bodyPr wrap="square" lIns="0" tIns="17145" rIns="0" bIns="0" rtlCol="0" vert="horz">
            <a:spAutoFit/>
          </a:bodyPr>
          <a:lstStyle/>
          <a:p>
            <a:pPr marL="12700">
              <a:lnSpc>
                <a:spcPct val="100000"/>
              </a:lnSpc>
              <a:spcBef>
                <a:spcPts val="135"/>
              </a:spcBef>
            </a:pPr>
            <a:r>
              <a:rPr dirty="0" sz="1300" spc="-125">
                <a:latin typeface="SimSun"/>
                <a:cs typeface="SimSun"/>
              </a:rPr>
              <a:t>計算</a:t>
            </a:r>
            <a:r>
              <a:rPr dirty="0" sz="1250" spc="-75">
                <a:latin typeface="PMingLiU"/>
                <a:cs typeface="PMingLiU"/>
              </a:rPr>
              <a:t>パラメータ</a:t>
            </a:r>
            <a:endParaRPr sz="1250">
              <a:latin typeface="PMingLiU"/>
              <a:cs typeface="PMingLiU"/>
            </a:endParaRPr>
          </a:p>
        </p:txBody>
      </p:sp>
      <p:grpSp>
        <p:nvGrpSpPr>
          <p:cNvPr id="27" name="object 27" descr=""/>
          <p:cNvGrpSpPr/>
          <p:nvPr/>
        </p:nvGrpSpPr>
        <p:grpSpPr>
          <a:xfrm>
            <a:off x="5615701" y="4278630"/>
            <a:ext cx="3576954" cy="911225"/>
            <a:chOff x="5615701" y="4278630"/>
            <a:chExt cx="3576954" cy="911225"/>
          </a:xfrm>
        </p:grpSpPr>
        <p:sp>
          <p:nvSpPr>
            <p:cNvPr id="28" name="object 28" descr=""/>
            <p:cNvSpPr/>
            <p:nvPr/>
          </p:nvSpPr>
          <p:spPr>
            <a:xfrm>
              <a:off x="5615701" y="4278630"/>
              <a:ext cx="1395730" cy="250825"/>
            </a:xfrm>
            <a:custGeom>
              <a:avLst/>
              <a:gdLst/>
              <a:ahLst/>
              <a:cxnLst/>
              <a:rect l="l" t="t" r="r" b="b"/>
              <a:pathLst>
                <a:path w="1395729" h="250825">
                  <a:moveTo>
                    <a:pt x="1366574" y="250700"/>
                  </a:moveTo>
                  <a:lnTo>
                    <a:pt x="28994" y="250700"/>
                  </a:lnTo>
                  <a:lnTo>
                    <a:pt x="24730" y="249852"/>
                  </a:lnTo>
                  <a:lnTo>
                    <a:pt x="0" y="221706"/>
                  </a:lnTo>
                  <a:lnTo>
                    <a:pt x="0" y="217274"/>
                  </a:lnTo>
                  <a:lnTo>
                    <a:pt x="0" y="28993"/>
                  </a:lnTo>
                  <a:lnTo>
                    <a:pt x="28994" y="0"/>
                  </a:lnTo>
                  <a:lnTo>
                    <a:pt x="1366574" y="0"/>
                  </a:lnTo>
                  <a:lnTo>
                    <a:pt x="1395568" y="28993"/>
                  </a:lnTo>
                  <a:lnTo>
                    <a:pt x="1395568" y="221706"/>
                  </a:lnTo>
                  <a:lnTo>
                    <a:pt x="1370838" y="249852"/>
                  </a:lnTo>
                  <a:lnTo>
                    <a:pt x="1366574" y="250700"/>
                  </a:lnTo>
                  <a:close/>
                </a:path>
              </a:pathLst>
            </a:custGeom>
            <a:solidFill>
              <a:srgbClr val="F0F5FF"/>
            </a:solidFill>
          </p:spPr>
          <p:txBody>
            <a:bodyPr wrap="square" lIns="0" tIns="0" rIns="0" bIns="0" rtlCol="0"/>
            <a:lstStyle/>
            <a:p/>
          </p:txBody>
        </p:sp>
        <p:pic>
          <p:nvPicPr>
            <p:cNvPr id="29" name="object 29" descr=""/>
            <p:cNvPicPr/>
            <p:nvPr/>
          </p:nvPicPr>
          <p:blipFill>
            <a:blip r:embed="rId3" cstate="print"/>
            <a:stretch>
              <a:fillRect/>
            </a:stretch>
          </p:blipFill>
          <p:spPr>
            <a:xfrm>
              <a:off x="5699269" y="4328770"/>
              <a:ext cx="116993" cy="116993"/>
            </a:xfrm>
            <a:prstGeom prst="rect">
              <a:avLst/>
            </a:prstGeom>
          </p:spPr>
        </p:pic>
        <p:sp>
          <p:nvSpPr>
            <p:cNvPr id="30" name="object 30" descr=""/>
            <p:cNvSpPr/>
            <p:nvPr/>
          </p:nvSpPr>
          <p:spPr>
            <a:xfrm>
              <a:off x="7178404" y="4278630"/>
              <a:ext cx="1454150" cy="250825"/>
            </a:xfrm>
            <a:custGeom>
              <a:avLst/>
              <a:gdLst/>
              <a:ahLst/>
              <a:cxnLst/>
              <a:rect l="l" t="t" r="r" b="b"/>
              <a:pathLst>
                <a:path w="1454150" h="250825">
                  <a:moveTo>
                    <a:pt x="1425071" y="250700"/>
                  </a:moveTo>
                  <a:lnTo>
                    <a:pt x="28994" y="250700"/>
                  </a:lnTo>
                  <a:lnTo>
                    <a:pt x="24730" y="249852"/>
                  </a:lnTo>
                  <a:lnTo>
                    <a:pt x="0" y="221706"/>
                  </a:lnTo>
                  <a:lnTo>
                    <a:pt x="0" y="217274"/>
                  </a:lnTo>
                  <a:lnTo>
                    <a:pt x="0" y="28993"/>
                  </a:lnTo>
                  <a:lnTo>
                    <a:pt x="28994" y="0"/>
                  </a:lnTo>
                  <a:lnTo>
                    <a:pt x="1425071" y="0"/>
                  </a:lnTo>
                  <a:lnTo>
                    <a:pt x="1454065" y="28993"/>
                  </a:lnTo>
                  <a:lnTo>
                    <a:pt x="1454065" y="221706"/>
                  </a:lnTo>
                  <a:lnTo>
                    <a:pt x="1429334" y="249852"/>
                  </a:lnTo>
                  <a:lnTo>
                    <a:pt x="1425071" y="250700"/>
                  </a:lnTo>
                  <a:close/>
                </a:path>
              </a:pathLst>
            </a:custGeom>
            <a:solidFill>
              <a:srgbClr val="F0F5FF"/>
            </a:solidFill>
          </p:spPr>
          <p:txBody>
            <a:bodyPr wrap="square" lIns="0" tIns="0" rIns="0" bIns="0" rtlCol="0"/>
            <a:lstStyle/>
            <a:p/>
          </p:txBody>
        </p:sp>
        <p:pic>
          <p:nvPicPr>
            <p:cNvPr id="31" name="object 31" descr=""/>
            <p:cNvPicPr/>
            <p:nvPr/>
          </p:nvPicPr>
          <p:blipFill>
            <a:blip r:embed="rId4" cstate="print"/>
            <a:stretch>
              <a:fillRect/>
            </a:stretch>
          </p:blipFill>
          <p:spPr>
            <a:xfrm>
              <a:off x="7261972" y="4328770"/>
              <a:ext cx="116993" cy="116993"/>
            </a:xfrm>
            <a:prstGeom prst="rect">
              <a:avLst/>
            </a:prstGeom>
          </p:spPr>
        </p:pic>
        <p:sp>
          <p:nvSpPr>
            <p:cNvPr id="32" name="object 32" descr=""/>
            <p:cNvSpPr/>
            <p:nvPr/>
          </p:nvSpPr>
          <p:spPr>
            <a:xfrm>
              <a:off x="5615701" y="4612898"/>
              <a:ext cx="1445895" cy="242570"/>
            </a:xfrm>
            <a:custGeom>
              <a:avLst/>
              <a:gdLst/>
              <a:ahLst/>
              <a:cxnLst/>
              <a:rect l="l" t="t" r="r" b="b"/>
              <a:pathLst>
                <a:path w="1445895" h="242570">
                  <a:moveTo>
                    <a:pt x="1416715" y="242343"/>
                  </a:moveTo>
                  <a:lnTo>
                    <a:pt x="28994" y="242343"/>
                  </a:lnTo>
                  <a:lnTo>
                    <a:pt x="24730" y="241495"/>
                  </a:lnTo>
                  <a:lnTo>
                    <a:pt x="0" y="213349"/>
                  </a:lnTo>
                  <a:lnTo>
                    <a:pt x="0" y="208917"/>
                  </a:lnTo>
                  <a:lnTo>
                    <a:pt x="0" y="28993"/>
                  </a:lnTo>
                  <a:lnTo>
                    <a:pt x="28994" y="0"/>
                  </a:lnTo>
                  <a:lnTo>
                    <a:pt x="1416715" y="0"/>
                  </a:lnTo>
                  <a:lnTo>
                    <a:pt x="1445709" y="28993"/>
                  </a:lnTo>
                  <a:lnTo>
                    <a:pt x="1445709" y="213349"/>
                  </a:lnTo>
                  <a:lnTo>
                    <a:pt x="1420978" y="241495"/>
                  </a:lnTo>
                  <a:lnTo>
                    <a:pt x="1416715" y="242343"/>
                  </a:lnTo>
                  <a:close/>
                </a:path>
              </a:pathLst>
            </a:custGeom>
            <a:solidFill>
              <a:srgbClr val="F0F5FF"/>
            </a:solidFill>
          </p:spPr>
          <p:txBody>
            <a:bodyPr wrap="square" lIns="0" tIns="0" rIns="0" bIns="0" rtlCol="0"/>
            <a:lstStyle/>
            <a:p/>
          </p:txBody>
        </p:sp>
        <p:pic>
          <p:nvPicPr>
            <p:cNvPr id="33" name="object 33" descr=""/>
            <p:cNvPicPr/>
            <p:nvPr/>
          </p:nvPicPr>
          <p:blipFill>
            <a:blip r:embed="rId5" cstate="print"/>
            <a:stretch>
              <a:fillRect/>
            </a:stretch>
          </p:blipFill>
          <p:spPr>
            <a:xfrm>
              <a:off x="5699269" y="4671395"/>
              <a:ext cx="116993" cy="116993"/>
            </a:xfrm>
            <a:prstGeom prst="rect">
              <a:avLst/>
            </a:prstGeom>
          </p:spPr>
        </p:pic>
        <p:sp>
          <p:nvSpPr>
            <p:cNvPr id="34" name="object 34" descr=""/>
            <p:cNvSpPr/>
            <p:nvPr/>
          </p:nvSpPr>
          <p:spPr>
            <a:xfrm>
              <a:off x="7228544" y="4612898"/>
              <a:ext cx="1964055" cy="242570"/>
            </a:xfrm>
            <a:custGeom>
              <a:avLst/>
              <a:gdLst/>
              <a:ahLst/>
              <a:cxnLst/>
              <a:rect l="l" t="t" r="r" b="b"/>
              <a:pathLst>
                <a:path w="1964054" h="242570">
                  <a:moveTo>
                    <a:pt x="1934829" y="242343"/>
                  </a:moveTo>
                  <a:lnTo>
                    <a:pt x="28994" y="242343"/>
                  </a:lnTo>
                  <a:lnTo>
                    <a:pt x="24729" y="241495"/>
                  </a:lnTo>
                  <a:lnTo>
                    <a:pt x="0" y="213349"/>
                  </a:lnTo>
                  <a:lnTo>
                    <a:pt x="0" y="208917"/>
                  </a:lnTo>
                  <a:lnTo>
                    <a:pt x="0" y="28993"/>
                  </a:lnTo>
                  <a:lnTo>
                    <a:pt x="28994" y="0"/>
                  </a:lnTo>
                  <a:lnTo>
                    <a:pt x="1934829" y="0"/>
                  </a:lnTo>
                  <a:lnTo>
                    <a:pt x="1963823" y="28993"/>
                  </a:lnTo>
                  <a:lnTo>
                    <a:pt x="1963823" y="213349"/>
                  </a:lnTo>
                  <a:lnTo>
                    <a:pt x="1939093" y="241495"/>
                  </a:lnTo>
                  <a:lnTo>
                    <a:pt x="1934829" y="242343"/>
                  </a:lnTo>
                  <a:close/>
                </a:path>
              </a:pathLst>
            </a:custGeom>
            <a:solidFill>
              <a:srgbClr val="F0F5FF"/>
            </a:solidFill>
          </p:spPr>
          <p:txBody>
            <a:bodyPr wrap="square" lIns="0" tIns="0" rIns="0" bIns="0" rtlCol="0"/>
            <a:lstStyle/>
            <a:p/>
          </p:txBody>
        </p:sp>
        <p:pic>
          <p:nvPicPr>
            <p:cNvPr id="35" name="object 35" descr=""/>
            <p:cNvPicPr/>
            <p:nvPr/>
          </p:nvPicPr>
          <p:blipFill>
            <a:blip r:embed="rId6" cstate="print"/>
            <a:stretch>
              <a:fillRect/>
            </a:stretch>
          </p:blipFill>
          <p:spPr>
            <a:xfrm>
              <a:off x="7312112" y="4671395"/>
              <a:ext cx="116993" cy="116993"/>
            </a:xfrm>
            <a:prstGeom prst="rect">
              <a:avLst/>
            </a:prstGeom>
          </p:spPr>
        </p:pic>
        <p:sp>
          <p:nvSpPr>
            <p:cNvPr id="36" name="object 36" descr=""/>
            <p:cNvSpPr/>
            <p:nvPr/>
          </p:nvSpPr>
          <p:spPr>
            <a:xfrm>
              <a:off x="5615701" y="4938809"/>
              <a:ext cx="1212215" cy="250825"/>
            </a:xfrm>
            <a:custGeom>
              <a:avLst/>
              <a:gdLst/>
              <a:ahLst/>
              <a:cxnLst/>
              <a:rect l="l" t="t" r="r" b="b"/>
              <a:pathLst>
                <a:path w="1212215" h="250825">
                  <a:moveTo>
                    <a:pt x="1182727" y="250700"/>
                  </a:moveTo>
                  <a:lnTo>
                    <a:pt x="28994" y="250700"/>
                  </a:lnTo>
                  <a:lnTo>
                    <a:pt x="24730" y="249852"/>
                  </a:lnTo>
                  <a:lnTo>
                    <a:pt x="0" y="221706"/>
                  </a:lnTo>
                  <a:lnTo>
                    <a:pt x="0" y="217274"/>
                  </a:lnTo>
                  <a:lnTo>
                    <a:pt x="0" y="28993"/>
                  </a:lnTo>
                  <a:lnTo>
                    <a:pt x="28994" y="0"/>
                  </a:lnTo>
                  <a:lnTo>
                    <a:pt x="1182727" y="0"/>
                  </a:lnTo>
                  <a:lnTo>
                    <a:pt x="1211721" y="28993"/>
                  </a:lnTo>
                  <a:lnTo>
                    <a:pt x="1211721" y="221706"/>
                  </a:lnTo>
                  <a:lnTo>
                    <a:pt x="1186991" y="249852"/>
                  </a:lnTo>
                  <a:lnTo>
                    <a:pt x="1182727" y="250700"/>
                  </a:lnTo>
                  <a:close/>
                </a:path>
              </a:pathLst>
            </a:custGeom>
            <a:solidFill>
              <a:srgbClr val="F0F5FF"/>
            </a:solidFill>
          </p:spPr>
          <p:txBody>
            <a:bodyPr wrap="square" lIns="0" tIns="0" rIns="0" bIns="0" rtlCol="0"/>
            <a:lstStyle/>
            <a:p/>
          </p:txBody>
        </p:sp>
        <p:pic>
          <p:nvPicPr>
            <p:cNvPr id="37" name="object 37" descr=""/>
            <p:cNvPicPr/>
            <p:nvPr/>
          </p:nvPicPr>
          <p:blipFill>
            <a:blip r:embed="rId7" cstate="print"/>
            <a:stretch>
              <a:fillRect/>
            </a:stretch>
          </p:blipFill>
          <p:spPr>
            <a:xfrm>
              <a:off x="5699269" y="4980592"/>
              <a:ext cx="167133" cy="133707"/>
            </a:xfrm>
            <a:prstGeom prst="rect">
              <a:avLst/>
            </a:prstGeom>
          </p:spPr>
        </p:pic>
      </p:grpSp>
      <p:sp>
        <p:nvSpPr>
          <p:cNvPr id="38" name="object 38" descr=""/>
          <p:cNvSpPr txBox="1"/>
          <p:nvPr/>
        </p:nvSpPr>
        <p:spPr>
          <a:xfrm>
            <a:off x="1048270" y="3541193"/>
            <a:ext cx="2943860" cy="484505"/>
          </a:xfrm>
          <a:prstGeom prst="rect">
            <a:avLst/>
          </a:prstGeom>
        </p:spPr>
        <p:txBody>
          <a:bodyPr wrap="square" lIns="0" tIns="64135" rIns="0" bIns="0" rtlCol="0" vert="horz">
            <a:spAutoFit/>
          </a:bodyPr>
          <a:lstStyle/>
          <a:p>
            <a:pPr marL="38100">
              <a:lnSpc>
                <a:spcPct val="100000"/>
              </a:lnSpc>
              <a:spcBef>
                <a:spcPts val="505"/>
              </a:spcBef>
            </a:pPr>
            <a:r>
              <a:rPr dirty="0" sz="1200" spc="-25">
                <a:solidFill>
                  <a:srgbClr val="4B1C94"/>
                </a:solidFill>
                <a:latin typeface="PMingLiU"/>
                <a:cs typeface="PMingLiU"/>
              </a:rPr>
              <a:t>デバイス</a:t>
            </a:r>
            <a:r>
              <a:rPr dirty="0" sz="1250" spc="-75">
                <a:solidFill>
                  <a:srgbClr val="4B1C94"/>
                </a:solidFill>
                <a:latin typeface="PMingLiU"/>
                <a:cs typeface="PMingLiU"/>
              </a:rPr>
              <a:t>両</a:t>
            </a:r>
            <a:r>
              <a:rPr dirty="0" sz="1300" spc="-125">
                <a:solidFill>
                  <a:srgbClr val="4B1C94"/>
                </a:solidFill>
                <a:latin typeface="SimSun"/>
                <a:cs typeface="SimSun"/>
              </a:rPr>
              <a:t>端</a:t>
            </a:r>
            <a:r>
              <a:rPr dirty="0" sz="1200" spc="-25">
                <a:solidFill>
                  <a:srgbClr val="4B1C94"/>
                </a:solidFill>
                <a:latin typeface="PMingLiU"/>
                <a:cs typeface="PMingLiU"/>
              </a:rPr>
              <a:t>に</a:t>
            </a:r>
            <a:r>
              <a:rPr dirty="0" sz="1150" spc="105" b="1">
                <a:solidFill>
                  <a:srgbClr val="4B1C94"/>
                </a:solidFill>
                <a:latin typeface="Yu Gothic"/>
                <a:cs typeface="Yu Gothic"/>
              </a:rPr>
              <a:t>SiO</a:t>
            </a:r>
            <a:r>
              <a:rPr dirty="0" baseline="-13071" sz="1275" spc="157" b="1">
                <a:solidFill>
                  <a:srgbClr val="4B1C94"/>
                </a:solidFill>
                <a:latin typeface="Yu Gothic"/>
                <a:cs typeface="Yu Gothic"/>
              </a:rPr>
              <a:t>2</a:t>
            </a:r>
            <a:r>
              <a:rPr dirty="0" sz="1300" spc="-125">
                <a:solidFill>
                  <a:srgbClr val="4B1C94"/>
                </a:solidFill>
                <a:latin typeface="PMingLiU"/>
                <a:cs typeface="PMingLiU"/>
              </a:rPr>
              <a:t>追加</a:t>
            </a:r>
            <a:r>
              <a:rPr dirty="0" sz="1150">
                <a:solidFill>
                  <a:srgbClr val="4B1C94"/>
                </a:solidFill>
                <a:latin typeface="PMingLiU"/>
                <a:cs typeface="PMingLiU"/>
              </a:rPr>
              <a:t>（</a:t>
            </a:r>
            <a:r>
              <a:rPr dirty="0" sz="1300" spc="-125">
                <a:solidFill>
                  <a:srgbClr val="4B1C94"/>
                </a:solidFill>
                <a:latin typeface="SimSun"/>
                <a:cs typeface="SimSun"/>
              </a:rPr>
              <a:t>階段</a:t>
            </a:r>
            <a:r>
              <a:rPr dirty="0" sz="1350" spc="-185">
                <a:solidFill>
                  <a:srgbClr val="4B1C94"/>
                </a:solidFill>
                <a:latin typeface="SimSun"/>
                <a:cs typeface="SimSun"/>
              </a:rPr>
              <a:t>接</a:t>
            </a:r>
            <a:r>
              <a:rPr dirty="0" sz="1300" spc="-125">
                <a:solidFill>
                  <a:srgbClr val="4B1C94"/>
                </a:solidFill>
                <a:latin typeface="SimSun"/>
                <a:cs typeface="SimSun"/>
              </a:rPr>
              <a:t>合</a:t>
            </a:r>
            <a:r>
              <a:rPr dirty="0" sz="1150" spc="-50">
                <a:solidFill>
                  <a:srgbClr val="4B1C94"/>
                </a:solidFill>
                <a:latin typeface="PMingLiU"/>
                <a:cs typeface="PMingLiU"/>
              </a:rPr>
              <a:t>）</a:t>
            </a:r>
            <a:endParaRPr sz="1150">
              <a:latin typeface="PMingLiU"/>
              <a:cs typeface="PMingLiU"/>
            </a:endParaRPr>
          </a:p>
          <a:p>
            <a:pPr marL="38100">
              <a:lnSpc>
                <a:spcPct val="100000"/>
              </a:lnSpc>
              <a:spcBef>
                <a:spcPts val="325"/>
              </a:spcBef>
            </a:pPr>
            <a:r>
              <a:rPr dirty="0" sz="1050" spc="60">
                <a:solidFill>
                  <a:srgbClr val="374050"/>
                </a:solidFill>
                <a:latin typeface="Segoe UI Symbol"/>
                <a:cs typeface="Segoe UI Symbol"/>
              </a:rPr>
              <a:t>pn</a:t>
            </a:r>
            <a:r>
              <a:rPr dirty="0" sz="1050" spc="-15">
                <a:solidFill>
                  <a:srgbClr val="374050"/>
                </a:solidFill>
                <a:latin typeface="PMingLiU"/>
                <a:cs typeface="PMingLiU"/>
              </a:rPr>
              <a:t>境界階段接合を維持しつつ両端に</a:t>
            </a:r>
            <a:r>
              <a:rPr dirty="0" sz="1050" spc="65">
                <a:solidFill>
                  <a:srgbClr val="374050"/>
                </a:solidFill>
                <a:latin typeface="Segoe UI Symbol"/>
                <a:cs typeface="Segoe UI Symbol"/>
              </a:rPr>
              <a:t>SiO</a:t>
            </a:r>
            <a:r>
              <a:rPr dirty="0" baseline="-14814" sz="1125" spc="97">
                <a:solidFill>
                  <a:srgbClr val="374050"/>
                </a:solidFill>
                <a:latin typeface="Segoe UI Symbol"/>
                <a:cs typeface="Segoe UI Symbol"/>
              </a:rPr>
              <a:t>2</a:t>
            </a:r>
            <a:r>
              <a:rPr dirty="0" sz="1050" spc="-20">
                <a:solidFill>
                  <a:srgbClr val="374050"/>
                </a:solidFill>
                <a:latin typeface="PMingLiU"/>
                <a:cs typeface="PMingLiU"/>
              </a:rPr>
              <a:t>を追加</a:t>
            </a:r>
            <a:endParaRPr sz="1050">
              <a:latin typeface="PMingLiU"/>
              <a:cs typeface="PMingLiU"/>
            </a:endParaRPr>
          </a:p>
        </p:txBody>
      </p:sp>
      <p:sp>
        <p:nvSpPr>
          <p:cNvPr id="39" name="object 39" descr=""/>
          <p:cNvSpPr txBox="1"/>
          <p:nvPr/>
        </p:nvSpPr>
        <p:spPr>
          <a:xfrm>
            <a:off x="1048270" y="4446718"/>
            <a:ext cx="2849880" cy="481965"/>
          </a:xfrm>
          <a:prstGeom prst="rect">
            <a:avLst/>
          </a:prstGeom>
        </p:spPr>
        <p:txBody>
          <a:bodyPr wrap="square" lIns="0" tIns="67945" rIns="0" bIns="0" rtlCol="0" vert="horz">
            <a:spAutoFit/>
          </a:bodyPr>
          <a:lstStyle/>
          <a:p>
            <a:pPr marL="38100">
              <a:lnSpc>
                <a:spcPct val="100000"/>
              </a:lnSpc>
              <a:spcBef>
                <a:spcPts val="535"/>
              </a:spcBef>
            </a:pPr>
            <a:r>
              <a:rPr dirty="0" sz="1250" spc="-80">
                <a:solidFill>
                  <a:srgbClr val="7E1C1C"/>
                </a:solidFill>
                <a:latin typeface="PMingLiU"/>
                <a:cs typeface="PMingLiU"/>
              </a:rPr>
              <a:t>デバイス両</a:t>
            </a:r>
            <a:r>
              <a:rPr dirty="0" sz="1300" spc="-125">
                <a:solidFill>
                  <a:srgbClr val="7E1C1C"/>
                </a:solidFill>
                <a:latin typeface="SimSun"/>
                <a:cs typeface="SimSun"/>
              </a:rPr>
              <a:t>端</a:t>
            </a:r>
            <a:r>
              <a:rPr dirty="0" sz="1250" spc="-80">
                <a:solidFill>
                  <a:srgbClr val="7E1C1C"/>
                </a:solidFill>
                <a:latin typeface="PMingLiU"/>
                <a:cs typeface="PMingLiU"/>
              </a:rPr>
              <a:t>に</a:t>
            </a:r>
            <a:r>
              <a:rPr dirty="0" sz="1150" spc="105" b="1">
                <a:solidFill>
                  <a:srgbClr val="7E1C1C"/>
                </a:solidFill>
                <a:latin typeface="Yu Gothic"/>
                <a:cs typeface="Yu Gothic"/>
              </a:rPr>
              <a:t>SiO</a:t>
            </a:r>
            <a:r>
              <a:rPr dirty="0" baseline="-13071" sz="1275" spc="157" b="1">
                <a:solidFill>
                  <a:srgbClr val="7E1C1C"/>
                </a:solidFill>
                <a:latin typeface="Yu Gothic"/>
                <a:cs typeface="Yu Gothic"/>
              </a:rPr>
              <a:t>2</a:t>
            </a:r>
            <a:r>
              <a:rPr dirty="0" sz="1300" spc="-125">
                <a:solidFill>
                  <a:srgbClr val="7E1C1C"/>
                </a:solidFill>
                <a:latin typeface="PMingLiU"/>
                <a:cs typeface="PMingLiU"/>
              </a:rPr>
              <a:t>追加</a:t>
            </a:r>
            <a:r>
              <a:rPr dirty="0" sz="1150">
                <a:solidFill>
                  <a:srgbClr val="7E1C1C"/>
                </a:solidFill>
                <a:latin typeface="PMingLiU"/>
                <a:cs typeface="PMingLiU"/>
              </a:rPr>
              <a:t>（</a:t>
            </a:r>
            <a:r>
              <a:rPr dirty="0" sz="1250" spc="-80">
                <a:solidFill>
                  <a:srgbClr val="7E1C1C"/>
                </a:solidFill>
                <a:latin typeface="PMingLiU"/>
                <a:cs typeface="PMingLiU"/>
              </a:rPr>
              <a:t>ガウス</a:t>
            </a:r>
            <a:r>
              <a:rPr dirty="0" sz="1300" spc="-125">
                <a:solidFill>
                  <a:srgbClr val="7E1C1C"/>
                </a:solidFill>
                <a:latin typeface="SimSun"/>
                <a:cs typeface="SimSun"/>
              </a:rPr>
              <a:t>分布</a:t>
            </a:r>
            <a:r>
              <a:rPr dirty="0" sz="1150" spc="-50">
                <a:solidFill>
                  <a:srgbClr val="7E1C1C"/>
                </a:solidFill>
                <a:latin typeface="PMingLiU"/>
                <a:cs typeface="PMingLiU"/>
              </a:rPr>
              <a:t>）</a:t>
            </a:r>
            <a:endParaRPr sz="1150">
              <a:latin typeface="PMingLiU"/>
              <a:cs typeface="PMingLiU"/>
            </a:endParaRPr>
          </a:p>
          <a:p>
            <a:pPr marL="38100">
              <a:lnSpc>
                <a:spcPct val="100000"/>
              </a:lnSpc>
              <a:spcBef>
                <a:spcPts val="334"/>
              </a:spcBef>
            </a:pPr>
            <a:r>
              <a:rPr dirty="0" sz="1050" spc="60">
                <a:solidFill>
                  <a:srgbClr val="374050"/>
                </a:solidFill>
                <a:latin typeface="Segoe UI Symbol"/>
                <a:cs typeface="Segoe UI Symbol"/>
              </a:rPr>
              <a:t>pn</a:t>
            </a:r>
            <a:r>
              <a:rPr dirty="0" sz="1050" spc="-20">
                <a:solidFill>
                  <a:srgbClr val="374050"/>
                </a:solidFill>
                <a:latin typeface="PMingLiU"/>
                <a:cs typeface="PMingLiU"/>
              </a:rPr>
              <a:t>境界ガウス分布を採用し両端に</a:t>
            </a:r>
            <a:r>
              <a:rPr dirty="0" sz="1050" spc="65">
                <a:solidFill>
                  <a:srgbClr val="374050"/>
                </a:solidFill>
                <a:latin typeface="Segoe UI Symbol"/>
                <a:cs typeface="Segoe UI Symbol"/>
              </a:rPr>
              <a:t>SiO</a:t>
            </a:r>
            <a:r>
              <a:rPr dirty="0" baseline="-14814" sz="1125" spc="97">
                <a:solidFill>
                  <a:srgbClr val="374050"/>
                </a:solidFill>
                <a:latin typeface="Segoe UI Symbol"/>
                <a:cs typeface="Segoe UI Symbol"/>
              </a:rPr>
              <a:t>2</a:t>
            </a:r>
            <a:r>
              <a:rPr dirty="0" sz="1050" spc="-20">
                <a:solidFill>
                  <a:srgbClr val="374050"/>
                </a:solidFill>
                <a:latin typeface="PMingLiU"/>
                <a:cs typeface="PMingLiU"/>
              </a:rPr>
              <a:t>を追加</a:t>
            </a:r>
            <a:endParaRPr sz="1050">
              <a:latin typeface="PMingLiU"/>
              <a:cs typeface="PMingLiU"/>
            </a:endParaRPr>
          </a:p>
        </p:txBody>
      </p:sp>
      <p:sp>
        <p:nvSpPr>
          <p:cNvPr id="40" name="object 40" descr=""/>
          <p:cNvSpPr/>
          <p:nvPr/>
        </p:nvSpPr>
        <p:spPr>
          <a:xfrm>
            <a:off x="5448567" y="1637913"/>
            <a:ext cx="4914265" cy="2005964"/>
          </a:xfrm>
          <a:custGeom>
            <a:avLst/>
            <a:gdLst/>
            <a:ahLst/>
            <a:cxnLst/>
            <a:rect l="l" t="t" r="r" b="b"/>
            <a:pathLst>
              <a:path w="4914265" h="2005964">
                <a:moveTo>
                  <a:pt x="4851275" y="2005607"/>
                </a:moveTo>
                <a:lnTo>
                  <a:pt x="62464" y="2005607"/>
                </a:lnTo>
                <a:lnTo>
                  <a:pt x="58116" y="2005179"/>
                </a:lnTo>
                <a:lnTo>
                  <a:pt x="22684" y="1989130"/>
                </a:lnTo>
                <a:lnTo>
                  <a:pt x="2140" y="1956101"/>
                </a:lnTo>
                <a:lnTo>
                  <a:pt x="0" y="1943143"/>
                </a:lnTo>
                <a:lnTo>
                  <a:pt x="0" y="1938754"/>
                </a:lnTo>
                <a:lnTo>
                  <a:pt x="0" y="62463"/>
                </a:lnTo>
                <a:lnTo>
                  <a:pt x="13705" y="26061"/>
                </a:lnTo>
                <a:lnTo>
                  <a:pt x="45324" y="3408"/>
                </a:lnTo>
                <a:lnTo>
                  <a:pt x="62464" y="0"/>
                </a:lnTo>
                <a:lnTo>
                  <a:pt x="4851275" y="0"/>
                </a:lnTo>
                <a:lnTo>
                  <a:pt x="4887678" y="13705"/>
                </a:lnTo>
                <a:lnTo>
                  <a:pt x="4910330" y="45325"/>
                </a:lnTo>
                <a:lnTo>
                  <a:pt x="4913739" y="62463"/>
                </a:lnTo>
                <a:lnTo>
                  <a:pt x="4913739" y="1943143"/>
                </a:lnTo>
                <a:lnTo>
                  <a:pt x="4900033" y="1979545"/>
                </a:lnTo>
                <a:lnTo>
                  <a:pt x="4868414" y="2002198"/>
                </a:lnTo>
                <a:lnTo>
                  <a:pt x="4855623" y="2005179"/>
                </a:lnTo>
                <a:lnTo>
                  <a:pt x="4851275" y="2005607"/>
                </a:lnTo>
                <a:close/>
              </a:path>
            </a:pathLst>
          </a:custGeom>
          <a:solidFill>
            <a:srgbClr val="FFFFFF"/>
          </a:solidFill>
        </p:spPr>
        <p:txBody>
          <a:bodyPr wrap="square" lIns="0" tIns="0" rIns="0" bIns="0" rtlCol="0"/>
          <a:lstStyle/>
          <a:p/>
        </p:txBody>
      </p:sp>
      <p:sp>
        <p:nvSpPr>
          <p:cNvPr id="41" name="object 41" descr=""/>
          <p:cNvSpPr txBox="1"/>
          <p:nvPr/>
        </p:nvSpPr>
        <p:spPr>
          <a:xfrm>
            <a:off x="6937854" y="1758006"/>
            <a:ext cx="1935480" cy="227329"/>
          </a:xfrm>
          <a:prstGeom prst="rect">
            <a:avLst/>
          </a:prstGeom>
        </p:spPr>
        <p:txBody>
          <a:bodyPr wrap="square" lIns="0" tIns="15240" rIns="0" bIns="0" rtlCol="0" vert="horz">
            <a:spAutoFit/>
          </a:bodyPr>
          <a:lstStyle/>
          <a:p>
            <a:pPr marL="12700">
              <a:lnSpc>
                <a:spcPct val="100000"/>
              </a:lnSpc>
              <a:spcBef>
                <a:spcPts val="120"/>
              </a:spcBef>
            </a:pPr>
            <a:r>
              <a:rPr dirty="0" sz="1150" spc="155" b="1">
                <a:latin typeface="Yu Gothic"/>
                <a:cs typeface="Yu Gothic"/>
              </a:rPr>
              <a:t>2</a:t>
            </a:r>
            <a:r>
              <a:rPr dirty="0" sz="1300" spc="-125">
                <a:latin typeface="SimSun"/>
                <a:cs typeface="SimSun"/>
              </a:rPr>
              <a:t>次</a:t>
            </a:r>
            <a:r>
              <a:rPr dirty="0" sz="1250" spc="-80">
                <a:latin typeface="PMingLiU"/>
                <a:cs typeface="PMingLiU"/>
              </a:rPr>
              <a:t>元デバイス</a:t>
            </a:r>
            <a:r>
              <a:rPr dirty="0" sz="1300" spc="-125">
                <a:latin typeface="SimSun"/>
                <a:cs typeface="SimSun"/>
              </a:rPr>
              <a:t>構</a:t>
            </a:r>
            <a:r>
              <a:rPr dirty="0" sz="1300" spc="-125">
                <a:latin typeface="PMingLiU"/>
                <a:cs typeface="PMingLiU"/>
              </a:rPr>
              <a:t>造</a:t>
            </a:r>
            <a:r>
              <a:rPr dirty="0" sz="1250" spc="-80">
                <a:latin typeface="PMingLiU"/>
                <a:cs typeface="PMingLiU"/>
              </a:rPr>
              <a:t>の</a:t>
            </a:r>
            <a:r>
              <a:rPr dirty="0" sz="1300" spc="-125">
                <a:latin typeface="SimSun"/>
                <a:cs typeface="SimSun"/>
              </a:rPr>
              <a:t>概</a:t>
            </a:r>
            <a:r>
              <a:rPr dirty="0" sz="1300" spc="-125">
                <a:latin typeface="PMingLiU"/>
                <a:cs typeface="PMingLiU"/>
              </a:rPr>
              <a:t>略</a:t>
            </a:r>
            <a:r>
              <a:rPr dirty="0" sz="1250" spc="-50">
                <a:latin typeface="PMingLiU"/>
                <a:cs typeface="PMingLiU"/>
              </a:rPr>
              <a:t>図</a:t>
            </a:r>
            <a:endParaRPr sz="1250">
              <a:latin typeface="PMingLiU"/>
              <a:cs typeface="PMingLiU"/>
            </a:endParaRPr>
          </a:p>
        </p:txBody>
      </p:sp>
      <p:pic>
        <p:nvPicPr>
          <p:cNvPr id="42" name="object 42" descr=""/>
          <p:cNvPicPr/>
          <p:nvPr/>
        </p:nvPicPr>
        <p:blipFill>
          <a:blip r:embed="rId8" cstate="print"/>
          <a:stretch>
            <a:fillRect/>
          </a:stretch>
        </p:blipFill>
        <p:spPr>
          <a:xfrm>
            <a:off x="5582275" y="2105888"/>
            <a:ext cx="4646324" cy="1337071"/>
          </a:xfrm>
          <a:prstGeom prst="rect">
            <a:avLst/>
          </a:prstGeom>
        </p:spPr>
      </p:pic>
      <p:sp>
        <p:nvSpPr>
          <p:cNvPr id="43" name="object 43" descr=""/>
          <p:cNvSpPr txBox="1"/>
          <p:nvPr/>
        </p:nvSpPr>
        <p:spPr>
          <a:xfrm>
            <a:off x="7132278" y="3505470"/>
            <a:ext cx="1546860" cy="166370"/>
          </a:xfrm>
          <a:prstGeom prst="rect">
            <a:avLst/>
          </a:prstGeom>
        </p:spPr>
        <p:txBody>
          <a:bodyPr wrap="square" lIns="0" tIns="15240" rIns="0" bIns="0" rtlCol="0" vert="horz">
            <a:spAutoFit/>
          </a:bodyPr>
          <a:lstStyle/>
          <a:p>
            <a:pPr marL="12700">
              <a:lnSpc>
                <a:spcPct val="100000"/>
              </a:lnSpc>
              <a:spcBef>
                <a:spcPts val="120"/>
              </a:spcBef>
            </a:pPr>
            <a:r>
              <a:rPr dirty="0" sz="900" spc="-5">
                <a:solidFill>
                  <a:srgbClr val="6A7280"/>
                </a:solidFill>
                <a:latin typeface="PMingLiU"/>
                <a:cs typeface="PMingLiU"/>
              </a:rPr>
              <a:t>ドレイン部分を省略した構造</a:t>
            </a:r>
            <a:endParaRPr sz="900">
              <a:latin typeface="PMingLiU"/>
              <a:cs typeface="PMingLiU"/>
            </a:endParaRPr>
          </a:p>
        </p:txBody>
      </p:sp>
      <p:sp>
        <p:nvSpPr>
          <p:cNvPr id="44" name="object 44" descr=""/>
          <p:cNvSpPr txBox="1"/>
          <p:nvPr/>
        </p:nvSpPr>
        <p:spPr>
          <a:xfrm>
            <a:off x="5845016" y="4316070"/>
            <a:ext cx="1123315" cy="156210"/>
          </a:xfrm>
          <a:prstGeom prst="rect">
            <a:avLst/>
          </a:prstGeom>
        </p:spPr>
        <p:txBody>
          <a:bodyPr wrap="square" lIns="0" tIns="13335" rIns="0" bIns="0" rtlCol="0" vert="horz">
            <a:spAutoFit/>
          </a:bodyPr>
          <a:lstStyle/>
          <a:p>
            <a:pPr marL="38100">
              <a:lnSpc>
                <a:spcPct val="100000"/>
              </a:lnSpc>
              <a:spcBef>
                <a:spcPts val="105"/>
              </a:spcBef>
            </a:pPr>
            <a:r>
              <a:rPr dirty="0" sz="850">
                <a:latin typeface="Courier New"/>
                <a:cs typeface="Courier New"/>
              </a:rPr>
              <a:t>N</a:t>
            </a:r>
            <a:r>
              <a:rPr dirty="0" sz="850" spc="5">
                <a:latin typeface="Courier New"/>
                <a:cs typeface="Courier New"/>
              </a:rPr>
              <a:t> </a:t>
            </a:r>
            <a:r>
              <a:rPr dirty="0" sz="850">
                <a:latin typeface="Courier New"/>
                <a:cs typeface="Courier New"/>
              </a:rPr>
              <a:t>=</a:t>
            </a:r>
            <a:r>
              <a:rPr dirty="0" sz="850" spc="10">
                <a:latin typeface="Courier New"/>
                <a:cs typeface="Courier New"/>
              </a:rPr>
              <a:t> </a:t>
            </a:r>
            <a:r>
              <a:rPr dirty="0" sz="850">
                <a:latin typeface="Courier New"/>
                <a:cs typeface="Courier New"/>
              </a:rPr>
              <a:t>1×10</a:t>
            </a:r>
            <a:r>
              <a:rPr dirty="0" baseline="29914" sz="975">
                <a:latin typeface="Courier New"/>
                <a:cs typeface="Courier New"/>
              </a:rPr>
              <a:t>20</a:t>
            </a:r>
            <a:r>
              <a:rPr dirty="0" baseline="29914" sz="975" spc="202">
                <a:latin typeface="Courier New"/>
                <a:cs typeface="Courier New"/>
              </a:rPr>
              <a:t> </a:t>
            </a:r>
            <a:r>
              <a:rPr dirty="0" sz="850" spc="-10">
                <a:latin typeface="Courier New"/>
                <a:cs typeface="Courier New"/>
              </a:rPr>
              <a:t>[cm</a:t>
            </a:r>
            <a:r>
              <a:rPr dirty="0" baseline="29914" sz="975" spc="-15">
                <a:latin typeface="Courier New"/>
                <a:cs typeface="Courier New"/>
              </a:rPr>
              <a:t>-</a:t>
            </a:r>
            <a:r>
              <a:rPr dirty="0" baseline="29914" sz="975" spc="-37">
                <a:latin typeface="Courier New"/>
                <a:cs typeface="Courier New"/>
              </a:rPr>
              <a:t>3</a:t>
            </a:r>
            <a:r>
              <a:rPr dirty="0" sz="850" spc="-25">
                <a:latin typeface="Courier New"/>
                <a:cs typeface="Courier New"/>
              </a:rPr>
              <a:t>]</a:t>
            </a:r>
            <a:endParaRPr sz="850">
              <a:latin typeface="Courier New"/>
              <a:cs typeface="Courier New"/>
            </a:endParaRPr>
          </a:p>
        </p:txBody>
      </p:sp>
      <p:sp>
        <p:nvSpPr>
          <p:cNvPr id="45" name="object 45" descr=""/>
          <p:cNvSpPr txBox="1"/>
          <p:nvPr/>
        </p:nvSpPr>
        <p:spPr>
          <a:xfrm>
            <a:off x="7410722" y="4316070"/>
            <a:ext cx="1172210" cy="156210"/>
          </a:xfrm>
          <a:prstGeom prst="rect">
            <a:avLst/>
          </a:prstGeom>
        </p:spPr>
        <p:txBody>
          <a:bodyPr wrap="square" lIns="0" tIns="13335" rIns="0" bIns="0" rtlCol="0" vert="horz">
            <a:spAutoFit/>
          </a:bodyPr>
          <a:lstStyle/>
          <a:p>
            <a:pPr marL="38100">
              <a:lnSpc>
                <a:spcPct val="100000"/>
              </a:lnSpc>
              <a:spcBef>
                <a:spcPts val="105"/>
              </a:spcBef>
            </a:pPr>
            <a:r>
              <a:rPr dirty="0" sz="850">
                <a:latin typeface="Courier New"/>
                <a:cs typeface="Courier New"/>
              </a:rPr>
              <a:t>N</a:t>
            </a:r>
            <a:r>
              <a:rPr dirty="0" baseline="-12820" sz="975">
                <a:latin typeface="Courier New"/>
                <a:cs typeface="Courier New"/>
              </a:rPr>
              <a:t>S</a:t>
            </a:r>
            <a:r>
              <a:rPr dirty="0" baseline="-12820" sz="975" spc="195">
                <a:latin typeface="Courier New"/>
                <a:cs typeface="Courier New"/>
              </a:rPr>
              <a:t> </a:t>
            </a:r>
            <a:r>
              <a:rPr dirty="0" sz="850">
                <a:latin typeface="Courier New"/>
                <a:cs typeface="Courier New"/>
              </a:rPr>
              <a:t>=</a:t>
            </a:r>
            <a:r>
              <a:rPr dirty="0" sz="850" spc="10">
                <a:latin typeface="Courier New"/>
                <a:cs typeface="Courier New"/>
              </a:rPr>
              <a:t> </a:t>
            </a:r>
            <a:r>
              <a:rPr dirty="0" sz="850">
                <a:latin typeface="Courier New"/>
                <a:cs typeface="Courier New"/>
              </a:rPr>
              <a:t>1×10</a:t>
            </a:r>
            <a:r>
              <a:rPr dirty="0" baseline="29914" sz="975">
                <a:latin typeface="Courier New"/>
                <a:cs typeface="Courier New"/>
              </a:rPr>
              <a:t>18</a:t>
            </a:r>
            <a:r>
              <a:rPr dirty="0" baseline="29914" sz="975" spc="195">
                <a:latin typeface="Courier New"/>
                <a:cs typeface="Courier New"/>
              </a:rPr>
              <a:t> </a:t>
            </a:r>
            <a:r>
              <a:rPr dirty="0" sz="850" spc="-10">
                <a:latin typeface="Courier New"/>
                <a:cs typeface="Courier New"/>
              </a:rPr>
              <a:t>[cm</a:t>
            </a:r>
            <a:r>
              <a:rPr dirty="0" baseline="29914" sz="975" spc="-15">
                <a:latin typeface="Courier New"/>
                <a:cs typeface="Courier New"/>
              </a:rPr>
              <a:t>-</a:t>
            </a:r>
            <a:r>
              <a:rPr dirty="0" baseline="29914" sz="975" spc="-37">
                <a:latin typeface="Courier New"/>
                <a:cs typeface="Courier New"/>
              </a:rPr>
              <a:t>3</a:t>
            </a:r>
            <a:r>
              <a:rPr dirty="0" sz="850" spc="-25">
                <a:latin typeface="Courier New"/>
                <a:cs typeface="Courier New"/>
              </a:rPr>
              <a:t>]</a:t>
            </a:r>
            <a:endParaRPr sz="850">
              <a:latin typeface="Courier New"/>
              <a:cs typeface="Courier New"/>
            </a:endParaRPr>
          </a:p>
        </p:txBody>
      </p:sp>
      <p:sp>
        <p:nvSpPr>
          <p:cNvPr id="46" name="object 46" descr=""/>
          <p:cNvSpPr txBox="1"/>
          <p:nvPr/>
        </p:nvSpPr>
        <p:spPr>
          <a:xfrm>
            <a:off x="5935833" y="4694211"/>
            <a:ext cx="74930" cy="123189"/>
          </a:xfrm>
          <a:prstGeom prst="rect">
            <a:avLst/>
          </a:prstGeom>
        </p:spPr>
        <p:txBody>
          <a:bodyPr wrap="square" lIns="0" tIns="11430" rIns="0" bIns="0" rtlCol="0" vert="horz">
            <a:spAutoFit/>
          </a:bodyPr>
          <a:lstStyle/>
          <a:p>
            <a:pPr marL="12700">
              <a:lnSpc>
                <a:spcPct val="100000"/>
              </a:lnSpc>
              <a:spcBef>
                <a:spcPts val="90"/>
              </a:spcBef>
            </a:pPr>
            <a:r>
              <a:rPr dirty="0" sz="650" spc="-50">
                <a:latin typeface="Courier New"/>
                <a:cs typeface="Courier New"/>
              </a:rPr>
              <a:t>b</a:t>
            </a:r>
            <a:endParaRPr sz="650">
              <a:latin typeface="Courier New"/>
              <a:cs typeface="Courier New"/>
            </a:endParaRPr>
          </a:p>
        </p:txBody>
      </p:sp>
      <p:sp>
        <p:nvSpPr>
          <p:cNvPr id="47" name="object 47" descr=""/>
          <p:cNvSpPr txBox="1"/>
          <p:nvPr/>
        </p:nvSpPr>
        <p:spPr>
          <a:xfrm>
            <a:off x="5845016" y="4650338"/>
            <a:ext cx="1172210" cy="156210"/>
          </a:xfrm>
          <a:prstGeom prst="rect">
            <a:avLst/>
          </a:prstGeom>
        </p:spPr>
        <p:txBody>
          <a:bodyPr wrap="square" lIns="0" tIns="13335" rIns="0" bIns="0" rtlCol="0" vert="horz">
            <a:spAutoFit/>
          </a:bodyPr>
          <a:lstStyle/>
          <a:p>
            <a:pPr marL="38100">
              <a:lnSpc>
                <a:spcPct val="100000"/>
              </a:lnSpc>
              <a:spcBef>
                <a:spcPts val="105"/>
              </a:spcBef>
            </a:pPr>
            <a:r>
              <a:rPr dirty="0" sz="850">
                <a:latin typeface="Courier New"/>
                <a:cs typeface="Courier New"/>
              </a:rPr>
              <a:t>N</a:t>
            </a:r>
            <a:r>
              <a:rPr dirty="0" sz="850" spc="400">
                <a:latin typeface="Courier New"/>
                <a:cs typeface="Courier New"/>
              </a:rPr>
              <a:t> </a:t>
            </a:r>
            <a:r>
              <a:rPr dirty="0" sz="850">
                <a:latin typeface="Courier New"/>
                <a:cs typeface="Courier New"/>
              </a:rPr>
              <a:t>=</a:t>
            </a:r>
            <a:r>
              <a:rPr dirty="0" sz="850" spc="10">
                <a:latin typeface="Courier New"/>
                <a:cs typeface="Courier New"/>
              </a:rPr>
              <a:t> </a:t>
            </a:r>
            <a:r>
              <a:rPr dirty="0" sz="850">
                <a:latin typeface="Courier New"/>
                <a:cs typeface="Courier New"/>
              </a:rPr>
              <a:t>1×10</a:t>
            </a:r>
            <a:r>
              <a:rPr dirty="0" baseline="29914" sz="975">
                <a:latin typeface="Courier New"/>
                <a:cs typeface="Courier New"/>
              </a:rPr>
              <a:t>20</a:t>
            </a:r>
            <a:r>
              <a:rPr dirty="0" baseline="29914" sz="975" spc="195">
                <a:latin typeface="Courier New"/>
                <a:cs typeface="Courier New"/>
              </a:rPr>
              <a:t> </a:t>
            </a:r>
            <a:r>
              <a:rPr dirty="0" sz="850" spc="-10">
                <a:latin typeface="Courier New"/>
                <a:cs typeface="Courier New"/>
              </a:rPr>
              <a:t>[cm</a:t>
            </a:r>
            <a:r>
              <a:rPr dirty="0" baseline="29914" sz="975" spc="-15">
                <a:latin typeface="Courier New"/>
                <a:cs typeface="Courier New"/>
              </a:rPr>
              <a:t>-</a:t>
            </a:r>
            <a:r>
              <a:rPr dirty="0" baseline="29914" sz="975" spc="-37">
                <a:latin typeface="Courier New"/>
                <a:cs typeface="Courier New"/>
              </a:rPr>
              <a:t>3</a:t>
            </a:r>
            <a:r>
              <a:rPr dirty="0" sz="850" spc="-25">
                <a:latin typeface="Courier New"/>
                <a:cs typeface="Courier New"/>
              </a:rPr>
              <a:t>]</a:t>
            </a:r>
            <a:endParaRPr sz="850">
              <a:latin typeface="Courier New"/>
              <a:cs typeface="Courier New"/>
            </a:endParaRPr>
          </a:p>
        </p:txBody>
      </p:sp>
      <p:sp>
        <p:nvSpPr>
          <p:cNvPr id="48" name="object 48" descr=""/>
          <p:cNvSpPr txBox="1"/>
          <p:nvPr/>
        </p:nvSpPr>
        <p:spPr>
          <a:xfrm>
            <a:off x="7550635" y="4694211"/>
            <a:ext cx="123825" cy="123189"/>
          </a:xfrm>
          <a:prstGeom prst="rect">
            <a:avLst/>
          </a:prstGeom>
        </p:spPr>
        <p:txBody>
          <a:bodyPr wrap="square" lIns="0" tIns="11430" rIns="0" bIns="0" rtlCol="0" vert="horz">
            <a:spAutoFit/>
          </a:bodyPr>
          <a:lstStyle/>
          <a:p>
            <a:pPr marL="12700">
              <a:lnSpc>
                <a:spcPct val="100000"/>
              </a:lnSpc>
              <a:spcBef>
                <a:spcPts val="90"/>
              </a:spcBef>
            </a:pPr>
            <a:r>
              <a:rPr dirty="0" sz="650" spc="-25">
                <a:latin typeface="Courier New"/>
                <a:cs typeface="Courier New"/>
              </a:rPr>
              <a:t>bt</a:t>
            </a:r>
            <a:endParaRPr sz="650">
              <a:latin typeface="Courier New"/>
              <a:cs typeface="Courier New"/>
            </a:endParaRPr>
          </a:p>
        </p:txBody>
      </p:sp>
      <p:sp>
        <p:nvSpPr>
          <p:cNvPr id="49" name="object 49" descr=""/>
          <p:cNvSpPr txBox="1"/>
          <p:nvPr/>
        </p:nvSpPr>
        <p:spPr>
          <a:xfrm>
            <a:off x="7459818" y="4650338"/>
            <a:ext cx="1689735" cy="156210"/>
          </a:xfrm>
          <a:prstGeom prst="rect">
            <a:avLst/>
          </a:prstGeom>
        </p:spPr>
        <p:txBody>
          <a:bodyPr wrap="square" lIns="0" tIns="13335" rIns="0" bIns="0" rtlCol="0" vert="horz">
            <a:spAutoFit/>
          </a:bodyPr>
          <a:lstStyle/>
          <a:p>
            <a:pPr marL="38100">
              <a:lnSpc>
                <a:spcPct val="100000"/>
              </a:lnSpc>
              <a:spcBef>
                <a:spcPts val="105"/>
              </a:spcBef>
              <a:tabLst>
                <a:tab pos="266700" algn="l"/>
              </a:tabLst>
            </a:pPr>
            <a:r>
              <a:rPr dirty="0" sz="850" spc="-50">
                <a:latin typeface="Courier New"/>
                <a:cs typeface="Courier New"/>
              </a:rPr>
              <a:t>N</a:t>
            </a:r>
            <a:r>
              <a:rPr dirty="0" sz="850">
                <a:latin typeface="Courier New"/>
                <a:cs typeface="Courier New"/>
              </a:rPr>
              <a:t>	=</a:t>
            </a:r>
            <a:r>
              <a:rPr dirty="0" sz="850" spc="10">
                <a:latin typeface="Courier New"/>
                <a:cs typeface="Courier New"/>
              </a:rPr>
              <a:t> </a:t>
            </a:r>
            <a:r>
              <a:rPr dirty="0" sz="850">
                <a:latin typeface="Courier New"/>
                <a:cs typeface="Courier New"/>
              </a:rPr>
              <a:t>1×10</a:t>
            </a:r>
            <a:r>
              <a:rPr dirty="0" baseline="29914" sz="975">
                <a:latin typeface="Courier New"/>
                <a:cs typeface="Courier New"/>
              </a:rPr>
              <a:t>18</a:t>
            </a:r>
            <a:r>
              <a:rPr dirty="0" sz="850">
                <a:latin typeface="PMingLiU"/>
                <a:cs typeface="PMingLiU"/>
              </a:rPr>
              <a:t>～</a:t>
            </a:r>
            <a:r>
              <a:rPr dirty="0" sz="850">
                <a:latin typeface="Courier New"/>
                <a:cs typeface="Courier New"/>
              </a:rPr>
              <a:t>1×10</a:t>
            </a:r>
            <a:r>
              <a:rPr dirty="0" baseline="29914" sz="975">
                <a:latin typeface="Courier New"/>
                <a:cs typeface="Courier New"/>
              </a:rPr>
              <a:t>20</a:t>
            </a:r>
            <a:r>
              <a:rPr dirty="0" baseline="29914" sz="975" spc="202">
                <a:latin typeface="Courier New"/>
                <a:cs typeface="Courier New"/>
              </a:rPr>
              <a:t> </a:t>
            </a:r>
            <a:r>
              <a:rPr dirty="0" sz="850" spc="-10">
                <a:latin typeface="Courier New"/>
                <a:cs typeface="Courier New"/>
              </a:rPr>
              <a:t>[cm</a:t>
            </a:r>
            <a:r>
              <a:rPr dirty="0" baseline="29914" sz="975" spc="-15">
                <a:latin typeface="Courier New"/>
                <a:cs typeface="Courier New"/>
              </a:rPr>
              <a:t>-</a:t>
            </a:r>
            <a:r>
              <a:rPr dirty="0" baseline="29914" sz="975" spc="-37">
                <a:latin typeface="Courier New"/>
                <a:cs typeface="Courier New"/>
              </a:rPr>
              <a:t>3</a:t>
            </a:r>
            <a:r>
              <a:rPr dirty="0" sz="850" spc="-25">
                <a:latin typeface="Courier New"/>
                <a:cs typeface="Courier New"/>
              </a:rPr>
              <a:t>]</a:t>
            </a:r>
            <a:endParaRPr sz="850">
              <a:latin typeface="Courier New"/>
              <a:cs typeface="Courier New"/>
            </a:endParaRPr>
          </a:p>
        </p:txBody>
      </p:sp>
      <p:sp>
        <p:nvSpPr>
          <p:cNvPr id="50" name="object 50" descr=""/>
          <p:cNvSpPr txBox="1"/>
          <p:nvPr/>
        </p:nvSpPr>
        <p:spPr>
          <a:xfrm>
            <a:off x="5895156" y="4976249"/>
            <a:ext cx="888365" cy="156210"/>
          </a:xfrm>
          <a:prstGeom prst="rect">
            <a:avLst/>
          </a:prstGeom>
        </p:spPr>
        <p:txBody>
          <a:bodyPr wrap="square" lIns="0" tIns="13335" rIns="0" bIns="0" rtlCol="0" vert="horz">
            <a:spAutoFit/>
          </a:bodyPr>
          <a:lstStyle/>
          <a:p>
            <a:pPr marL="38100">
              <a:lnSpc>
                <a:spcPct val="100000"/>
              </a:lnSpc>
              <a:spcBef>
                <a:spcPts val="105"/>
              </a:spcBef>
            </a:pPr>
            <a:r>
              <a:rPr dirty="0" sz="850">
                <a:latin typeface="Courier New"/>
                <a:cs typeface="Courier New"/>
              </a:rPr>
              <a:t>L</a:t>
            </a:r>
            <a:r>
              <a:rPr dirty="0" baseline="-12820" sz="975">
                <a:latin typeface="Courier New"/>
                <a:cs typeface="Courier New"/>
              </a:rPr>
              <a:t>n</a:t>
            </a:r>
            <a:r>
              <a:rPr dirty="0" baseline="-12820" sz="975" spc="179">
                <a:latin typeface="Courier New"/>
                <a:cs typeface="Courier New"/>
              </a:rPr>
              <a:t> </a:t>
            </a:r>
            <a:r>
              <a:rPr dirty="0" sz="850">
                <a:latin typeface="Courier New"/>
                <a:cs typeface="Courier New"/>
              </a:rPr>
              <a:t>= </a:t>
            </a:r>
            <a:r>
              <a:rPr dirty="0" sz="850" spc="-10">
                <a:latin typeface="Courier New"/>
                <a:cs typeface="Courier New"/>
              </a:rPr>
              <a:t>0.1</a:t>
            </a:r>
            <a:r>
              <a:rPr dirty="0" sz="850" spc="-10">
                <a:latin typeface="PMingLiU"/>
                <a:cs typeface="PMingLiU"/>
              </a:rPr>
              <a:t>～</a:t>
            </a:r>
            <a:r>
              <a:rPr dirty="0" sz="850" spc="-10">
                <a:latin typeface="Courier New"/>
                <a:cs typeface="Courier New"/>
              </a:rPr>
              <a:t>2µm</a:t>
            </a:r>
            <a:endParaRPr sz="850">
              <a:latin typeface="Courier New"/>
              <a:cs typeface="Courier New"/>
            </a:endParaRPr>
          </a:p>
        </p:txBody>
      </p:sp>
      <p:sp>
        <p:nvSpPr>
          <p:cNvPr id="51" name="object 51" descr=""/>
          <p:cNvSpPr txBox="1"/>
          <p:nvPr/>
        </p:nvSpPr>
        <p:spPr>
          <a:xfrm>
            <a:off x="10097992" y="5678212"/>
            <a:ext cx="410845" cy="186055"/>
          </a:xfrm>
          <a:prstGeom prst="rect">
            <a:avLst/>
          </a:prstGeom>
        </p:spPr>
        <p:txBody>
          <a:bodyPr wrap="square" lIns="0" tIns="12700" rIns="0" bIns="0" rtlCol="0" vert="horz">
            <a:spAutoFit/>
          </a:bodyPr>
          <a:lstStyle/>
          <a:p>
            <a:pPr marL="12700">
              <a:lnSpc>
                <a:spcPct val="100000"/>
              </a:lnSpc>
              <a:spcBef>
                <a:spcPts val="100"/>
              </a:spcBef>
            </a:pPr>
            <a:r>
              <a:rPr dirty="0" sz="1050" spc="105">
                <a:solidFill>
                  <a:srgbClr val="4A5462"/>
                </a:solidFill>
                <a:latin typeface="Segoe UI Symbol"/>
                <a:cs typeface="Segoe UI Symbol"/>
              </a:rPr>
              <a:t>6</a:t>
            </a:r>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6861175"/>
          </a:xfrm>
          <a:custGeom>
            <a:avLst/>
            <a:gdLst/>
            <a:ahLst/>
            <a:cxnLst/>
            <a:rect l="l" t="t" r="r" b="b"/>
            <a:pathLst>
              <a:path w="10696575" h="6861175">
                <a:moveTo>
                  <a:pt x="10696575" y="6860850"/>
                </a:moveTo>
                <a:lnTo>
                  <a:pt x="0" y="6860850"/>
                </a:lnTo>
                <a:lnTo>
                  <a:pt x="0" y="0"/>
                </a:lnTo>
                <a:lnTo>
                  <a:pt x="10696575" y="0"/>
                </a:lnTo>
                <a:lnTo>
                  <a:pt x="10696575" y="6860850"/>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p:cNvSpPr txBox="1">
            <a:spLocks noGrp="1"/>
          </p:cNvSpPr>
          <p:nvPr>
            <p:ph type="title"/>
          </p:nvPr>
        </p:nvSpPr>
        <p:spPr>
          <a:xfrm>
            <a:off x="321567" y="124010"/>
            <a:ext cx="5110480" cy="433070"/>
          </a:xfrm>
          <a:prstGeom prst="rect"/>
        </p:spPr>
        <p:txBody>
          <a:bodyPr wrap="square" lIns="0" tIns="15875" rIns="0" bIns="0" rtlCol="0" vert="horz">
            <a:spAutoFit/>
          </a:bodyPr>
          <a:lstStyle/>
          <a:p>
            <a:pPr marL="12700">
              <a:lnSpc>
                <a:spcPct val="100000"/>
              </a:lnSpc>
              <a:spcBef>
                <a:spcPts val="125"/>
              </a:spcBef>
            </a:pPr>
            <a:r>
              <a:rPr dirty="0" spc="-210"/>
              <a:t>電気</a:t>
            </a:r>
            <a:r>
              <a:rPr dirty="0" sz="2600" spc="-240"/>
              <a:t>的</a:t>
            </a:r>
            <a:r>
              <a:rPr dirty="0" sz="2600" spc="-240">
                <a:latin typeface="SimSun"/>
                <a:cs typeface="SimSun"/>
              </a:rPr>
              <a:t>特性</a:t>
            </a:r>
            <a:r>
              <a:rPr dirty="0" sz="2250" spc="165"/>
              <a:t>の</a:t>
            </a:r>
            <a:r>
              <a:rPr dirty="0" sz="2650" spc="-295">
                <a:latin typeface="SimSun"/>
                <a:cs typeface="SimSun"/>
              </a:rPr>
              <a:t>計</a:t>
            </a:r>
            <a:r>
              <a:rPr dirty="0" sz="2600" spc="-240">
                <a:latin typeface="SimSun"/>
                <a:cs typeface="SimSun"/>
              </a:rPr>
              <a:t>算</a:t>
            </a:r>
            <a:r>
              <a:rPr dirty="0" sz="2350" spc="-120" b="1">
                <a:latin typeface="Yu Gothic"/>
                <a:cs typeface="Yu Gothic"/>
              </a:rPr>
              <a:t>①</a:t>
            </a:r>
            <a:r>
              <a:rPr dirty="0" sz="2250" spc="-120"/>
              <a:t>：</a:t>
            </a:r>
            <a:r>
              <a:rPr dirty="0" sz="2650" spc="-295"/>
              <a:t>基</a:t>
            </a:r>
            <a:r>
              <a:rPr dirty="0" sz="2650" spc="-295">
                <a:latin typeface="SimSun"/>
                <a:cs typeface="SimSun"/>
              </a:rPr>
              <a:t>本構</a:t>
            </a:r>
            <a:r>
              <a:rPr dirty="0" sz="2650" spc="-295"/>
              <a:t>造</a:t>
            </a:r>
            <a:r>
              <a:rPr dirty="0" sz="2250" spc="165"/>
              <a:t>の</a:t>
            </a:r>
            <a:r>
              <a:rPr dirty="0" sz="2600" spc="-145">
                <a:latin typeface="SimSun"/>
                <a:cs typeface="SimSun"/>
              </a:rPr>
              <a:t>特性</a:t>
            </a:r>
            <a:endParaRPr sz="2600">
              <a:latin typeface="SimSun"/>
              <a:cs typeface="SimSun"/>
            </a:endParaRPr>
          </a:p>
        </p:txBody>
      </p:sp>
      <p:grpSp>
        <p:nvGrpSpPr>
          <p:cNvPr id="5" name="object 5" descr=""/>
          <p:cNvGrpSpPr/>
          <p:nvPr/>
        </p:nvGrpSpPr>
        <p:grpSpPr>
          <a:xfrm>
            <a:off x="334267" y="919237"/>
            <a:ext cx="4880610" cy="5774690"/>
            <a:chOff x="334267" y="919237"/>
            <a:chExt cx="4880610" cy="5774690"/>
          </a:xfrm>
        </p:grpSpPr>
        <p:sp>
          <p:nvSpPr>
            <p:cNvPr id="6" name="object 6" descr=""/>
            <p:cNvSpPr/>
            <p:nvPr/>
          </p:nvSpPr>
          <p:spPr>
            <a:xfrm>
              <a:off x="334267" y="919237"/>
              <a:ext cx="4880610" cy="5774690"/>
            </a:xfrm>
            <a:custGeom>
              <a:avLst/>
              <a:gdLst/>
              <a:ahLst/>
              <a:cxnLst/>
              <a:rect l="l" t="t" r="r" b="b"/>
              <a:pathLst>
                <a:path w="4880610" h="5774690">
                  <a:moveTo>
                    <a:pt x="4817848" y="5774479"/>
                  </a:moveTo>
                  <a:lnTo>
                    <a:pt x="62463" y="5774479"/>
                  </a:lnTo>
                  <a:lnTo>
                    <a:pt x="58116" y="5774051"/>
                  </a:lnTo>
                  <a:lnTo>
                    <a:pt x="22684" y="5758002"/>
                  </a:lnTo>
                  <a:lnTo>
                    <a:pt x="2140" y="5724973"/>
                  </a:lnTo>
                  <a:lnTo>
                    <a:pt x="0" y="5712016"/>
                  </a:lnTo>
                  <a:lnTo>
                    <a:pt x="0" y="5707625"/>
                  </a:lnTo>
                  <a:lnTo>
                    <a:pt x="0" y="62463"/>
                  </a:lnTo>
                  <a:lnTo>
                    <a:pt x="13705" y="26061"/>
                  </a:lnTo>
                  <a:lnTo>
                    <a:pt x="45325" y="3408"/>
                  </a:lnTo>
                  <a:lnTo>
                    <a:pt x="62463" y="0"/>
                  </a:lnTo>
                  <a:lnTo>
                    <a:pt x="4817848" y="0"/>
                  </a:lnTo>
                  <a:lnTo>
                    <a:pt x="4854250" y="13705"/>
                  </a:lnTo>
                  <a:lnTo>
                    <a:pt x="4876903" y="45325"/>
                  </a:lnTo>
                  <a:lnTo>
                    <a:pt x="4880312" y="62463"/>
                  </a:lnTo>
                  <a:lnTo>
                    <a:pt x="4880312" y="5712016"/>
                  </a:lnTo>
                  <a:lnTo>
                    <a:pt x="4866606" y="5748416"/>
                  </a:lnTo>
                  <a:lnTo>
                    <a:pt x="4834986" y="5771069"/>
                  </a:lnTo>
                  <a:lnTo>
                    <a:pt x="4822195" y="5774051"/>
                  </a:lnTo>
                  <a:lnTo>
                    <a:pt x="4817848" y="5774479"/>
                  </a:lnTo>
                  <a:close/>
                </a:path>
              </a:pathLst>
            </a:custGeom>
            <a:solidFill>
              <a:srgbClr val="FFFFFF">
                <a:alpha val="94898"/>
              </a:srgbClr>
            </a:solidFill>
          </p:spPr>
          <p:txBody>
            <a:bodyPr wrap="square" lIns="0" tIns="0" rIns="0" bIns="0" rtlCol="0"/>
            <a:lstStyle/>
            <a:p/>
          </p:txBody>
        </p:sp>
        <p:sp>
          <p:nvSpPr>
            <p:cNvPr id="7" name="object 7" descr=""/>
            <p:cNvSpPr/>
            <p:nvPr/>
          </p:nvSpPr>
          <p:spPr>
            <a:xfrm>
              <a:off x="501402" y="3693661"/>
              <a:ext cx="4546600" cy="8890"/>
            </a:xfrm>
            <a:custGeom>
              <a:avLst/>
              <a:gdLst/>
              <a:ahLst/>
              <a:cxnLst/>
              <a:rect l="l" t="t" r="r" b="b"/>
              <a:pathLst>
                <a:path w="4546600" h="8889">
                  <a:moveTo>
                    <a:pt x="4546044" y="8356"/>
                  </a:moveTo>
                  <a:lnTo>
                    <a:pt x="0" y="8356"/>
                  </a:lnTo>
                  <a:lnTo>
                    <a:pt x="0" y="0"/>
                  </a:lnTo>
                  <a:lnTo>
                    <a:pt x="4546044" y="0"/>
                  </a:lnTo>
                  <a:lnTo>
                    <a:pt x="4546044" y="8356"/>
                  </a:lnTo>
                  <a:close/>
                </a:path>
              </a:pathLst>
            </a:custGeom>
            <a:solidFill>
              <a:srgbClr val="D0D5DA"/>
            </a:solidFill>
          </p:spPr>
          <p:txBody>
            <a:bodyPr wrap="square" lIns="0" tIns="0" rIns="0" bIns="0" rtlCol="0"/>
            <a:lstStyle/>
            <a:p/>
          </p:txBody>
        </p:sp>
        <p:pic>
          <p:nvPicPr>
            <p:cNvPr id="8" name="object 8" descr=""/>
            <p:cNvPicPr/>
            <p:nvPr/>
          </p:nvPicPr>
          <p:blipFill>
            <a:blip r:embed="rId3" cstate="print"/>
            <a:stretch>
              <a:fillRect/>
            </a:stretch>
          </p:blipFill>
          <p:spPr>
            <a:xfrm>
              <a:off x="501401" y="1520919"/>
              <a:ext cx="167133" cy="167133"/>
            </a:xfrm>
            <a:prstGeom prst="rect">
              <a:avLst/>
            </a:prstGeom>
          </p:spPr>
        </p:pic>
        <p:pic>
          <p:nvPicPr>
            <p:cNvPr id="9" name="object 9" descr=""/>
            <p:cNvPicPr/>
            <p:nvPr/>
          </p:nvPicPr>
          <p:blipFill>
            <a:blip r:embed="rId4" cstate="print"/>
            <a:stretch>
              <a:fillRect/>
            </a:stretch>
          </p:blipFill>
          <p:spPr>
            <a:xfrm>
              <a:off x="501401" y="2089174"/>
              <a:ext cx="167133" cy="167133"/>
            </a:xfrm>
            <a:prstGeom prst="rect">
              <a:avLst/>
            </a:prstGeom>
          </p:spPr>
        </p:pic>
        <p:pic>
          <p:nvPicPr>
            <p:cNvPr id="10" name="object 10" descr=""/>
            <p:cNvPicPr/>
            <p:nvPr/>
          </p:nvPicPr>
          <p:blipFill>
            <a:blip r:embed="rId5" cstate="print"/>
            <a:stretch>
              <a:fillRect/>
            </a:stretch>
          </p:blipFill>
          <p:spPr>
            <a:xfrm>
              <a:off x="501401" y="2657430"/>
              <a:ext cx="167133" cy="167133"/>
            </a:xfrm>
            <a:prstGeom prst="rect">
              <a:avLst/>
            </a:prstGeom>
          </p:spPr>
        </p:pic>
        <p:sp>
          <p:nvSpPr>
            <p:cNvPr id="11" name="object 11" descr=""/>
            <p:cNvSpPr/>
            <p:nvPr/>
          </p:nvSpPr>
          <p:spPr>
            <a:xfrm>
              <a:off x="852373" y="2966630"/>
              <a:ext cx="41910" cy="443230"/>
            </a:xfrm>
            <a:custGeom>
              <a:avLst/>
              <a:gdLst/>
              <a:ahLst/>
              <a:cxnLst/>
              <a:rect l="l" t="t" r="r" b="b"/>
              <a:pathLst>
                <a:path w="41909" h="443229">
                  <a:moveTo>
                    <a:pt x="41783" y="419252"/>
                  </a:moveTo>
                  <a:lnTo>
                    <a:pt x="23660" y="401129"/>
                  </a:lnTo>
                  <a:lnTo>
                    <a:pt x="18122" y="401129"/>
                  </a:lnTo>
                  <a:lnTo>
                    <a:pt x="0" y="419252"/>
                  </a:lnTo>
                  <a:lnTo>
                    <a:pt x="0" y="424789"/>
                  </a:lnTo>
                  <a:lnTo>
                    <a:pt x="18122" y="442912"/>
                  </a:lnTo>
                  <a:lnTo>
                    <a:pt x="23660" y="442912"/>
                  </a:lnTo>
                  <a:lnTo>
                    <a:pt x="41783" y="424789"/>
                  </a:lnTo>
                  <a:lnTo>
                    <a:pt x="41783" y="422021"/>
                  </a:lnTo>
                  <a:lnTo>
                    <a:pt x="41783" y="419252"/>
                  </a:lnTo>
                  <a:close/>
                </a:path>
                <a:path w="41909" h="443229">
                  <a:moveTo>
                    <a:pt x="41783" y="218681"/>
                  </a:moveTo>
                  <a:lnTo>
                    <a:pt x="23660" y="200558"/>
                  </a:lnTo>
                  <a:lnTo>
                    <a:pt x="18122" y="200558"/>
                  </a:lnTo>
                  <a:lnTo>
                    <a:pt x="0" y="218681"/>
                  </a:lnTo>
                  <a:lnTo>
                    <a:pt x="0" y="224231"/>
                  </a:lnTo>
                  <a:lnTo>
                    <a:pt x="18122" y="242354"/>
                  </a:lnTo>
                  <a:lnTo>
                    <a:pt x="23660" y="242354"/>
                  </a:lnTo>
                  <a:lnTo>
                    <a:pt x="41783" y="224231"/>
                  </a:lnTo>
                  <a:lnTo>
                    <a:pt x="41783" y="221462"/>
                  </a:lnTo>
                  <a:lnTo>
                    <a:pt x="41783" y="218681"/>
                  </a:lnTo>
                  <a:close/>
                </a:path>
                <a:path w="41909" h="443229">
                  <a:moveTo>
                    <a:pt x="41783" y="18122"/>
                  </a:moveTo>
                  <a:lnTo>
                    <a:pt x="23660" y="0"/>
                  </a:lnTo>
                  <a:lnTo>
                    <a:pt x="18122" y="0"/>
                  </a:lnTo>
                  <a:lnTo>
                    <a:pt x="0" y="18122"/>
                  </a:lnTo>
                  <a:lnTo>
                    <a:pt x="0" y="23660"/>
                  </a:lnTo>
                  <a:lnTo>
                    <a:pt x="18122" y="41783"/>
                  </a:lnTo>
                  <a:lnTo>
                    <a:pt x="23660" y="41783"/>
                  </a:lnTo>
                  <a:lnTo>
                    <a:pt x="41783" y="23660"/>
                  </a:lnTo>
                  <a:lnTo>
                    <a:pt x="41783" y="20891"/>
                  </a:lnTo>
                  <a:lnTo>
                    <a:pt x="41783" y="18122"/>
                  </a:lnTo>
                  <a:close/>
                </a:path>
              </a:pathLst>
            </a:custGeom>
            <a:solidFill>
              <a:srgbClr val="000000"/>
            </a:solidFill>
          </p:spPr>
          <p:txBody>
            <a:bodyPr wrap="square" lIns="0" tIns="0" rIns="0" bIns="0" rtlCol="0"/>
            <a:lstStyle/>
            <a:p/>
          </p:txBody>
        </p:sp>
        <p:pic>
          <p:nvPicPr>
            <p:cNvPr id="12" name="object 12" descr=""/>
            <p:cNvPicPr/>
            <p:nvPr/>
          </p:nvPicPr>
          <p:blipFill>
            <a:blip r:embed="rId6" cstate="print"/>
            <a:stretch>
              <a:fillRect/>
            </a:stretch>
          </p:blipFill>
          <p:spPr>
            <a:xfrm>
              <a:off x="501401" y="3869151"/>
              <a:ext cx="167133" cy="167133"/>
            </a:xfrm>
            <a:prstGeom prst="rect">
              <a:avLst/>
            </a:prstGeom>
          </p:spPr>
        </p:pic>
      </p:grpSp>
      <p:sp>
        <p:nvSpPr>
          <p:cNvPr id="13" name="object 13" descr=""/>
          <p:cNvSpPr/>
          <p:nvPr/>
        </p:nvSpPr>
        <p:spPr>
          <a:xfrm>
            <a:off x="5481994" y="919237"/>
            <a:ext cx="4880610" cy="3510279"/>
          </a:xfrm>
          <a:custGeom>
            <a:avLst/>
            <a:gdLst/>
            <a:ahLst/>
            <a:cxnLst/>
            <a:rect l="l" t="t" r="r" b="b"/>
            <a:pathLst>
              <a:path w="4880609" h="3510279">
                <a:moveTo>
                  <a:pt x="4817849" y="3509813"/>
                </a:moveTo>
                <a:lnTo>
                  <a:pt x="62464" y="3509813"/>
                </a:lnTo>
                <a:lnTo>
                  <a:pt x="58116" y="3509385"/>
                </a:lnTo>
                <a:lnTo>
                  <a:pt x="22685" y="3493336"/>
                </a:lnTo>
                <a:lnTo>
                  <a:pt x="2141" y="3460307"/>
                </a:lnTo>
                <a:lnTo>
                  <a:pt x="0" y="3447349"/>
                </a:lnTo>
                <a:lnTo>
                  <a:pt x="0" y="3442960"/>
                </a:lnTo>
                <a:lnTo>
                  <a:pt x="0" y="62463"/>
                </a:lnTo>
                <a:lnTo>
                  <a:pt x="13705" y="26061"/>
                </a:lnTo>
                <a:lnTo>
                  <a:pt x="45325" y="3408"/>
                </a:lnTo>
                <a:lnTo>
                  <a:pt x="62464" y="0"/>
                </a:lnTo>
                <a:lnTo>
                  <a:pt x="4817849" y="0"/>
                </a:lnTo>
                <a:lnTo>
                  <a:pt x="4854251" y="13705"/>
                </a:lnTo>
                <a:lnTo>
                  <a:pt x="4876903" y="45325"/>
                </a:lnTo>
                <a:lnTo>
                  <a:pt x="4880313" y="62463"/>
                </a:lnTo>
                <a:lnTo>
                  <a:pt x="4880313" y="3447349"/>
                </a:lnTo>
                <a:lnTo>
                  <a:pt x="4866607" y="3483751"/>
                </a:lnTo>
                <a:lnTo>
                  <a:pt x="4834987" y="3506404"/>
                </a:lnTo>
                <a:lnTo>
                  <a:pt x="4822196" y="3509385"/>
                </a:lnTo>
                <a:lnTo>
                  <a:pt x="4817849" y="3509813"/>
                </a:lnTo>
                <a:close/>
              </a:path>
            </a:pathLst>
          </a:custGeom>
          <a:solidFill>
            <a:srgbClr val="FFFFFF">
              <a:alpha val="94898"/>
            </a:srgbClr>
          </a:solidFill>
        </p:spPr>
        <p:txBody>
          <a:bodyPr wrap="square" lIns="0" tIns="0" rIns="0" bIns="0" rtlCol="0"/>
          <a:lstStyle/>
          <a:p/>
        </p:txBody>
      </p:sp>
      <p:sp>
        <p:nvSpPr>
          <p:cNvPr id="14" name="object 14" descr=""/>
          <p:cNvSpPr/>
          <p:nvPr/>
        </p:nvSpPr>
        <p:spPr>
          <a:xfrm>
            <a:off x="5481994" y="4562757"/>
            <a:ext cx="4880610" cy="2005964"/>
          </a:xfrm>
          <a:custGeom>
            <a:avLst/>
            <a:gdLst/>
            <a:ahLst/>
            <a:cxnLst/>
            <a:rect l="l" t="t" r="r" b="b"/>
            <a:pathLst>
              <a:path w="4880609" h="2005965">
                <a:moveTo>
                  <a:pt x="4817849" y="2005607"/>
                </a:moveTo>
                <a:lnTo>
                  <a:pt x="62464" y="2005607"/>
                </a:lnTo>
                <a:lnTo>
                  <a:pt x="58116" y="2005179"/>
                </a:lnTo>
                <a:lnTo>
                  <a:pt x="22685" y="1989130"/>
                </a:lnTo>
                <a:lnTo>
                  <a:pt x="2141" y="1956101"/>
                </a:lnTo>
                <a:lnTo>
                  <a:pt x="0" y="1943143"/>
                </a:lnTo>
                <a:lnTo>
                  <a:pt x="0" y="1938754"/>
                </a:lnTo>
                <a:lnTo>
                  <a:pt x="0" y="62463"/>
                </a:lnTo>
                <a:lnTo>
                  <a:pt x="13705" y="26062"/>
                </a:lnTo>
                <a:lnTo>
                  <a:pt x="45325" y="3408"/>
                </a:lnTo>
                <a:lnTo>
                  <a:pt x="62464" y="0"/>
                </a:lnTo>
                <a:lnTo>
                  <a:pt x="4817849" y="0"/>
                </a:lnTo>
                <a:lnTo>
                  <a:pt x="4854251" y="13705"/>
                </a:lnTo>
                <a:lnTo>
                  <a:pt x="4876903" y="45324"/>
                </a:lnTo>
                <a:lnTo>
                  <a:pt x="4880313" y="62463"/>
                </a:lnTo>
                <a:lnTo>
                  <a:pt x="4880313" y="1943143"/>
                </a:lnTo>
                <a:lnTo>
                  <a:pt x="4866607" y="1979545"/>
                </a:lnTo>
                <a:lnTo>
                  <a:pt x="4834987" y="2002197"/>
                </a:lnTo>
                <a:lnTo>
                  <a:pt x="4822196" y="2005179"/>
                </a:lnTo>
                <a:lnTo>
                  <a:pt x="4817849" y="2005607"/>
                </a:lnTo>
                <a:close/>
              </a:path>
            </a:pathLst>
          </a:custGeom>
          <a:solidFill>
            <a:srgbClr val="FFFFFF">
              <a:alpha val="94898"/>
            </a:srgbClr>
          </a:solidFill>
        </p:spPr>
        <p:txBody>
          <a:bodyPr wrap="square" lIns="0" tIns="0" rIns="0" bIns="0" rtlCol="0"/>
          <a:lstStyle/>
          <a:p/>
        </p:txBody>
      </p:sp>
      <p:sp>
        <p:nvSpPr>
          <p:cNvPr id="15" name="object 15" descr=""/>
          <p:cNvSpPr txBox="1"/>
          <p:nvPr/>
        </p:nvSpPr>
        <p:spPr>
          <a:xfrm>
            <a:off x="5636428" y="1043704"/>
            <a:ext cx="4370070" cy="302260"/>
          </a:xfrm>
          <a:prstGeom prst="rect">
            <a:avLst/>
          </a:prstGeom>
        </p:spPr>
        <p:txBody>
          <a:bodyPr wrap="square" lIns="0" tIns="14604" rIns="0" bIns="0" rtlCol="0" vert="horz">
            <a:spAutoFit/>
          </a:bodyPr>
          <a:lstStyle/>
          <a:p>
            <a:pPr marL="12700">
              <a:lnSpc>
                <a:spcPct val="100000"/>
              </a:lnSpc>
              <a:spcBef>
                <a:spcPts val="114"/>
              </a:spcBef>
            </a:pPr>
            <a:r>
              <a:rPr dirty="0" sz="1550" spc="160" b="1">
                <a:solidFill>
                  <a:srgbClr val="1D3A8A"/>
                </a:solidFill>
                <a:latin typeface="Yu Gothic"/>
                <a:cs typeface="Yu Gothic"/>
              </a:rPr>
              <a:t>Body</a:t>
            </a:r>
            <a:r>
              <a:rPr dirty="0" sz="1550" spc="140" b="1">
                <a:solidFill>
                  <a:srgbClr val="1D3A8A"/>
                </a:solidFill>
                <a:latin typeface="Yu Gothic"/>
                <a:cs typeface="Yu Gothic"/>
              </a:rPr>
              <a:t> </a:t>
            </a:r>
            <a:r>
              <a:rPr dirty="0" sz="1550" spc="100" b="1">
                <a:solidFill>
                  <a:srgbClr val="1D3A8A"/>
                </a:solidFill>
                <a:latin typeface="Yu Gothic"/>
                <a:cs typeface="Yu Gothic"/>
              </a:rPr>
              <a:t>Tie</a:t>
            </a:r>
            <a:r>
              <a:rPr dirty="0" sz="1700" spc="-145">
                <a:solidFill>
                  <a:srgbClr val="1D3A8A"/>
                </a:solidFill>
                <a:latin typeface="PMingLiU"/>
                <a:cs typeface="PMingLiU"/>
              </a:rPr>
              <a:t>電</a:t>
            </a:r>
            <a:r>
              <a:rPr dirty="0" sz="1800" spc="-240">
                <a:solidFill>
                  <a:srgbClr val="1D3A8A"/>
                </a:solidFill>
                <a:latin typeface="SimSun"/>
                <a:cs typeface="SimSun"/>
              </a:rPr>
              <a:t>流</a:t>
            </a:r>
            <a:r>
              <a:rPr dirty="0" sz="1800" spc="-240">
                <a:solidFill>
                  <a:srgbClr val="1D3A8A"/>
                </a:solidFill>
                <a:latin typeface="PMingLiU"/>
                <a:cs typeface="PMingLiU"/>
              </a:rPr>
              <a:t>立</a:t>
            </a:r>
            <a:r>
              <a:rPr dirty="0" sz="1650" spc="-30">
                <a:solidFill>
                  <a:srgbClr val="1D3A8A"/>
                </a:solidFill>
                <a:latin typeface="PMingLiU"/>
                <a:cs typeface="PMingLiU"/>
              </a:rPr>
              <a:t>ち</a:t>
            </a:r>
            <a:r>
              <a:rPr dirty="0" sz="1750" spc="-175">
                <a:solidFill>
                  <a:srgbClr val="1D3A8A"/>
                </a:solidFill>
                <a:latin typeface="PMingLiU"/>
                <a:cs typeface="PMingLiU"/>
              </a:rPr>
              <a:t>上</a:t>
            </a:r>
            <a:r>
              <a:rPr dirty="0" sz="1650" spc="-30">
                <a:solidFill>
                  <a:srgbClr val="1D3A8A"/>
                </a:solidFill>
                <a:latin typeface="PMingLiU"/>
                <a:cs typeface="PMingLiU"/>
              </a:rPr>
              <a:t>がり</a:t>
            </a:r>
            <a:r>
              <a:rPr dirty="0" sz="1750" spc="-175">
                <a:solidFill>
                  <a:srgbClr val="1D3A8A"/>
                </a:solidFill>
                <a:latin typeface="SimSun"/>
                <a:cs typeface="SimSun"/>
              </a:rPr>
              <a:t>桁</a:t>
            </a:r>
            <a:r>
              <a:rPr dirty="0" sz="1700" spc="-145">
                <a:solidFill>
                  <a:srgbClr val="1D3A8A"/>
                </a:solidFill>
                <a:latin typeface="SimSun"/>
                <a:cs typeface="SimSun"/>
              </a:rPr>
              <a:t>数</a:t>
            </a:r>
            <a:r>
              <a:rPr dirty="0" sz="1650" spc="-30">
                <a:solidFill>
                  <a:srgbClr val="1D3A8A"/>
                </a:solidFill>
                <a:latin typeface="PMingLiU"/>
                <a:cs typeface="PMingLiU"/>
              </a:rPr>
              <a:t>の</a:t>
            </a:r>
            <a:r>
              <a:rPr dirty="0" sz="1550" spc="114" b="1">
                <a:solidFill>
                  <a:srgbClr val="1D3A8A"/>
                </a:solidFill>
                <a:latin typeface="Yu Gothic"/>
                <a:cs typeface="Yu Gothic"/>
              </a:rPr>
              <a:t>Ln,</a:t>
            </a:r>
            <a:r>
              <a:rPr dirty="0" sz="1550" spc="145" b="1">
                <a:solidFill>
                  <a:srgbClr val="1D3A8A"/>
                </a:solidFill>
                <a:latin typeface="Yu Gothic"/>
                <a:cs typeface="Yu Gothic"/>
              </a:rPr>
              <a:t> </a:t>
            </a:r>
            <a:r>
              <a:rPr dirty="0" sz="1550" spc="130" b="1">
                <a:solidFill>
                  <a:srgbClr val="1D3A8A"/>
                </a:solidFill>
                <a:latin typeface="Yu Gothic"/>
                <a:cs typeface="Yu Gothic"/>
              </a:rPr>
              <a:t>Nn</a:t>
            </a:r>
            <a:r>
              <a:rPr dirty="0" sz="1750" spc="-135">
                <a:solidFill>
                  <a:srgbClr val="1D3A8A"/>
                </a:solidFill>
                <a:latin typeface="SimSun"/>
                <a:cs typeface="SimSun"/>
              </a:rPr>
              <a:t>依存性</a:t>
            </a:r>
            <a:endParaRPr sz="1750">
              <a:latin typeface="SimSun"/>
              <a:cs typeface="SimSun"/>
            </a:endParaRPr>
          </a:p>
        </p:txBody>
      </p:sp>
      <p:pic>
        <p:nvPicPr>
          <p:cNvPr id="16" name="object 16" descr=""/>
          <p:cNvPicPr/>
          <p:nvPr/>
        </p:nvPicPr>
        <p:blipFill>
          <a:blip r:embed="rId7" cstate="print"/>
          <a:stretch>
            <a:fillRect/>
          </a:stretch>
        </p:blipFill>
        <p:spPr>
          <a:xfrm>
            <a:off x="5649128" y="1487492"/>
            <a:ext cx="4546044" cy="2507009"/>
          </a:xfrm>
          <a:prstGeom prst="rect">
            <a:avLst/>
          </a:prstGeom>
        </p:spPr>
      </p:pic>
      <p:sp>
        <p:nvSpPr>
          <p:cNvPr id="17" name="object 17" descr=""/>
          <p:cNvSpPr txBox="1"/>
          <p:nvPr/>
        </p:nvSpPr>
        <p:spPr>
          <a:xfrm>
            <a:off x="5636428" y="4705962"/>
            <a:ext cx="1199515" cy="249554"/>
          </a:xfrm>
          <a:prstGeom prst="rect">
            <a:avLst/>
          </a:prstGeom>
        </p:spPr>
        <p:txBody>
          <a:bodyPr wrap="square" lIns="0" tIns="15240" rIns="0" bIns="0" rtlCol="0" vert="horz">
            <a:spAutoFit/>
          </a:bodyPr>
          <a:lstStyle/>
          <a:p>
            <a:pPr marL="12700">
              <a:lnSpc>
                <a:spcPct val="100000"/>
              </a:lnSpc>
              <a:spcBef>
                <a:spcPts val="120"/>
              </a:spcBef>
            </a:pPr>
            <a:r>
              <a:rPr dirty="0" sz="1450" spc="-145">
                <a:solidFill>
                  <a:srgbClr val="1D3A8A"/>
                </a:solidFill>
                <a:latin typeface="SimSun"/>
                <a:cs typeface="SimSun"/>
              </a:rPr>
              <a:t>構</a:t>
            </a:r>
            <a:r>
              <a:rPr dirty="0" sz="1450" spc="-145">
                <a:solidFill>
                  <a:srgbClr val="1D3A8A"/>
                </a:solidFill>
                <a:latin typeface="PMingLiU"/>
                <a:cs typeface="PMingLiU"/>
              </a:rPr>
              <a:t>造</a:t>
            </a:r>
            <a:r>
              <a:rPr dirty="0" sz="1350" spc="-55">
                <a:solidFill>
                  <a:srgbClr val="1D3A8A"/>
                </a:solidFill>
                <a:latin typeface="PMingLiU"/>
                <a:cs typeface="PMingLiU"/>
              </a:rPr>
              <a:t>パラメータ</a:t>
            </a:r>
            <a:endParaRPr sz="1350">
              <a:latin typeface="PMingLiU"/>
              <a:cs typeface="PMingLiU"/>
            </a:endParaRPr>
          </a:p>
        </p:txBody>
      </p:sp>
      <p:sp>
        <p:nvSpPr>
          <p:cNvPr id="18" name="object 18" descr=""/>
          <p:cNvSpPr/>
          <p:nvPr/>
        </p:nvSpPr>
        <p:spPr>
          <a:xfrm>
            <a:off x="5649125" y="5064162"/>
            <a:ext cx="4546600" cy="1337310"/>
          </a:xfrm>
          <a:custGeom>
            <a:avLst/>
            <a:gdLst/>
            <a:ahLst/>
            <a:cxnLst/>
            <a:rect l="l" t="t" r="r" b="b"/>
            <a:pathLst>
              <a:path w="4546600" h="1337310">
                <a:moveTo>
                  <a:pt x="2206167" y="778878"/>
                </a:moveTo>
                <a:lnTo>
                  <a:pt x="2186775" y="745375"/>
                </a:lnTo>
                <a:lnTo>
                  <a:pt x="2162670" y="735393"/>
                </a:lnTo>
                <a:lnTo>
                  <a:pt x="43484" y="735393"/>
                </a:lnTo>
                <a:lnTo>
                  <a:pt x="9982" y="754773"/>
                </a:lnTo>
                <a:lnTo>
                  <a:pt x="0" y="778878"/>
                </a:lnTo>
                <a:lnTo>
                  <a:pt x="0" y="1286929"/>
                </a:lnTo>
                <a:lnTo>
                  <a:pt x="0" y="1293583"/>
                </a:lnTo>
                <a:lnTo>
                  <a:pt x="19380" y="1327086"/>
                </a:lnTo>
                <a:lnTo>
                  <a:pt x="43484" y="1337068"/>
                </a:lnTo>
                <a:lnTo>
                  <a:pt x="2162670" y="1337068"/>
                </a:lnTo>
                <a:lnTo>
                  <a:pt x="2196185" y="1317688"/>
                </a:lnTo>
                <a:lnTo>
                  <a:pt x="2206167" y="1293583"/>
                </a:lnTo>
                <a:lnTo>
                  <a:pt x="2206167" y="778878"/>
                </a:lnTo>
                <a:close/>
              </a:path>
              <a:path w="4546600" h="1337310">
                <a:moveTo>
                  <a:pt x="2206167" y="43497"/>
                </a:moveTo>
                <a:lnTo>
                  <a:pt x="2186775" y="9982"/>
                </a:lnTo>
                <a:lnTo>
                  <a:pt x="2162670" y="0"/>
                </a:lnTo>
                <a:lnTo>
                  <a:pt x="43484" y="0"/>
                </a:lnTo>
                <a:lnTo>
                  <a:pt x="9982" y="19392"/>
                </a:lnTo>
                <a:lnTo>
                  <a:pt x="0" y="43497"/>
                </a:lnTo>
                <a:lnTo>
                  <a:pt x="0" y="551548"/>
                </a:lnTo>
                <a:lnTo>
                  <a:pt x="0" y="558190"/>
                </a:lnTo>
                <a:lnTo>
                  <a:pt x="19380" y="591705"/>
                </a:lnTo>
                <a:lnTo>
                  <a:pt x="43484" y="601687"/>
                </a:lnTo>
                <a:lnTo>
                  <a:pt x="2162670" y="601687"/>
                </a:lnTo>
                <a:lnTo>
                  <a:pt x="2196185" y="582295"/>
                </a:lnTo>
                <a:lnTo>
                  <a:pt x="2206167" y="558190"/>
                </a:lnTo>
                <a:lnTo>
                  <a:pt x="2206167" y="43497"/>
                </a:lnTo>
                <a:close/>
              </a:path>
              <a:path w="4546600" h="1337310">
                <a:moveTo>
                  <a:pt x="4546041" y="778878"/>
                </a:moveTo>
                <a:lnTo>
                  <a:pt x="4526648" y="745375"/>
                </a:lnTo>
                <a:lnTo>
                  <a:pt x="4502556" y="735393"/>
                </a:lnTo>
                <a:lnTo>
                  <a:pt x="2383358" y="735393"/>
                </a:lnTo>
                <a:lnTo>
                  <a:pt x="2349855" y="754773"/>
                </a:lnTo>
                <a:lnTo>
                  <a:pt x="2339873" y="778878"/>
                </a:lnTo>
                <a:lnTo>
                  <a:pt x="2339873" y="1286929"/>
                </a:lnTo>
                <a:lnTo>
                  <a:pt x="2339873" y="1293583"/>
                </a:lnTo>
                <a:lnTo>
                  <a:pt x="2359266" y="1327086"/>
                </a:lnTo>
                <a:lnTo>
                  <a:pt x="2383358" y="1337068"/>
                </a:lnTo>
                <a:lnTo>
                  <a:pt x="4502556" y="1337068"/>
                </a:lnTo>
                <a:lnTo>
                  <a:pt x="4536059" y="1317688"/>
                </a:lnTo>
                <a:lnTo>
                  <a:pt x="4546041" y="1293583"/>
                </a:lnTo>
                <a:lnTo>
                  <a:pt x="4546041" y="778878"/>
                </a:lnTo>
                <a:close/>
              </a:path>
              <a:path w="4546600" h="1337310">
                <a:moveTo>
                  <a:pt x="4546041" y="43497"/>
                </a:moveTo>
                <a:lnTo>
                  <a:pt x="4526648" y="9982"/>
                </a:lnTo>
                <a:lnTo>
                  <a:pt x="4502556" y="0"/>
                </a:lnTo>
                <a:lnTo>
                  <a:pt x="2383358" y="0"/>
                </a:lnTo>
                <a:lnTo>
                  <a:pt x="2349855" y="19392"/>
                </a:lnTo>
                <a:lnTo>
                  <a:pt x="2339873" y="43497"/>
                </a:lnTo>
                <a:lnTo>
                  <a:pt x="2339873" y="551548"/>
                </a:lnTo>
                <a:lnTo>
                  <a:pt x="2339873" y="558190"/>
                </a:lnTo>
                <a:lnTo>
                  <a:pt x="2359266" y="591705"/>
                </a:lnTo>
                <a:lnTo>
                  <a:pt x="2383358" y="601687"/>
                </a:lnTo>
                <a:lnTo>
                  <a:pt x="4502556" y="601687"/>
                </a:lnTo>
                <a:lnTo>
                  <a:pt x="4536059" y="582295"/>
                </a:lnTo>
                <a:lnTo>
                  <a:pt x="4546041" y="558190"/>
                </a:lnTo>
                <a:lnTo>
                  <a:pt x="4546041" y="43497"/>
                </a:lnTo>
                <a:close/>
              </a:path>
            </a:pathLst>
          </a:custGeom>
          <a:solidFill>
            <a:srgbClr val="EFF5FF"/>
          </a:solidFill>
        </p:spPr>
        <p:txBody>
          <a:bodyPr wrap="square" lIns="0" tIns="0" rIns="0" bIns="0" rtlCol="0"/>
          <a:lstStyle/>
          <a:p/>
        </p:txBody>
      </p:sp>
      <p:sp>
        <p:nvSpPr>
          <p:cNvPr id="19" name="object 19" descr=""/>
          <p:cNvSpPr txBox="1">
            <a:spLocks noGrp="1"/>
          </p:cNvSpPr>
          <p:nvPr>
            <p:ph idx="2" sz="half"/>
          </p:nvPr>
        </p:nvSpPr>
        <p:spPr>
          <a:prstGeom prst="rect"/>
        </p:spPr>
        <p:txBody>
          <a:bodyPr wrap="square" lIns="0" tIns="15240" rIns="0" bIns="0" rtlCol="0" vert="horz">
            <a:spAutoFit/>
          </a:bodyPr>
          <a:lstStyle/>
          <a:p>
            <a:pPr marL="50800">
              <a:lnSpc>
                <a:spcPct val="100000"/>
              </a:lnSpc>
              <a:spcBef>
                <a:spcPts val="120"/>
              </a:spcBef>
            </a:pPr>
            <a:r>
              <a:rPr dirty="0" spc="-175"/>
              <a:t>条</a:t>
            </a:r>
            <a:r>
              <a:rPr dirty="0" sz="1800" spc="-240"/>
              <a:t>件</a:t>
            </a:r>
            <a:r>
              <a:rPr dirty="0" sz="1550" b="1">
                <a:latin typeface="Yu Gothic"/>
                <a:cs typeface="Yu Gothic"/>
              </a:rPr>
              <a:t>①</a:t>
            </a:r>
            <a:r>
              <a:rPr dirty="0" sz="1550">
                <a:latin typeface="PMingLiU"/>
                <a:cs typeface="PMingLiU"/>
              </a:rPr>
              <a:t>（</a:t>
            </a:r>
            <a:r>
              <a:rPr dirty="0" sz="1550" b="1">
                <a:latin typeface="Yu Gothic"/>
                <a:cs typeface="Yu Gothic"/>
              </a:rPr>
              <a:t>pn</a:t>
            </a:r>
            <a:r>
              <a:rPr dirty="0" sz="1800" spc="-245"/>
              <a:t>接</a:t>
            </a:r>
            <a:r>
              <a:rPr dirty="0" spc="-175"/>
              <a:t>合</a:t>
            </a:r>
            <a:r>
              <a:rPr dirty="0" sz="1800" spc="-240"/>
              <a:t>部</a:t>
            </a:r>
            <a:r>
              <a:rPr dirty="0" spc="-175"/>
              <a:t>階段</a:t>
            </a:r>
            <a:r>
              <a:rPr dirty="0" sz="1800" spc="-245"/>
              <a:t>接</a:t>
            </a:r>
            <a:r>
              <a:rPr dirty="0" spc="-175"/>
              <a:t>合</a:t>
            </a:r>
            <a:r>
              <a:rPr dirty="0" sz="1550">
                <a:latin typeface="PMingLiU"/>
                <a:cs typeface="PMingLiU"/>
              </a:rPr>
              <a:t>）</a:t>
            </a:r>
            <a:r>
              <a:rPr dirty="0" sz="1650" spc="-30">
                <a:latin typeface="PMingLiU"/>
                <a:cs typeface="PMingLiU"/>
              </a:rPr>
              <a:t>の</a:t>
            </a:r>
            <a:r>
              <a:rPr dirty="0" sz="1800" spc="-240"/>
              <a:t>主</a:t>
            </a:r>
            <a:r>
              <a:rPr dirty="0" sz="1650" spc="-90">
                <a:latin typeface="PMingLiU"/>
                <a:cs typeface="PMingLiU"/>
              </a:rPr>
              <a:t>要</a:t>
            </a:r>
            <a:r>
              <a:rPr dirty="0" sz="1700" spc="-145">
                <a:latin typeface="PMingLiU"/>
                <a:cs typeface="PMingLiU"/>
              </a:rPr>
              <a:t>結</a:t>
            </a:r>
            <a:r>
              <a:rPr dirty="0" spc="-50"/>
              <a:t>果</a:t>
            </a:r>
            <a:endParaRPr sz="1700">
              <a:latin typeface="PMingLiU"/>
              <a:cs typeface="PMingLiU"/>
            </a:endParaRPr>
          </a:p>
          <a:p>
            <a:pPr algn="just" marL="342900" marR="76200">
              <a:lnSpc>
                <a:spcPct val="116799"/>
              </a:lnSpc>
              <a:spcBef>
                <a:spcPts val="910"/>
              </a:spcBef>
            </a:pPr>
            <a:r>
              <a:rPr dirty="0" sz="1300" spc="-125">
                <a:solidFill>
                  <a:srgbClr val="000000"/>
                </a:solidFill>
              </a:rPr>
              <a:t>最大</a:t>
            </a:r>
            <a:r>
              <a:rPr dirty="0" sz="1250" spc="-75">
                <a:solidFill>
                  <a:srgbClr val="000000"/>
                </a:solidFill>
                <a:latin typeface="PMingLiU"/>
                <a:cs typeface="PMingLiU"/>
              </a:rPr>
              <a:t>電</a:t>
            </a:r>
            <a:r>
              <a:rPr dirty="0" sz="1350" spc="-185">
                <a:solidFill>
                  <a:srgbClr val="000000"/>
                </a:solidFill>
              </a:rPr>
              <a:t>流立</a:t>
            </a:r>
            <a:r>
              <a:rPr dirty="0" sz="1250" spc="-80">
                <a:solidFill>
                  <a:srgbClr val="000000"/>
                </a:solidFill>
                <a:latin typeface="PMingLiU"/>
                <a:cs typeface="PMingLiU"/>
              </a:rPr>
              <a:t>ち</a:t>
            </a:r>
            <a:r>
              <a:rPr dirty="0" sz="1300" spc="-125">
                <a:solidFill>
                  <a:srgbClr val="000000"/>
                </a:solidFill>
              </a:rPr>
              <a:t>上</a:t>
            </a:r>
            <a:r>
              <a:rPr dirty="0" sz="1250" spc="-80">
                <a:solidFill>
                  <a:srgbClr val="000000"/>
                </a:solidFill>
                <a:latin typeface="PMingLiU"/>
                <a:cs typeface="PMingLiU"/>
              </a:rPr>
              <a:t>がり</a:t>
            </a:r>
            <a:r>
              <a:rPr dirty="0" sz="1150" spc="105" b="1">
                <a:solidFill>
                  <a:srgbClr val="000000"/>
                </a:solidFill>
                <a:latin typeface="Yu Gothic"/>
                <a:cs typeface="Yu Gothic"/>
              </a:rPr>
              <a:t>: </a:t>
            </a:r>
            <a:r>
              <a:rPr dirty="0" sz="1150" spc="130">
                <a:solidFill>
                  <a:srgbClr val="000000"/>
                </a:solidFill>
                <a:latin typeface="Segoe UI Symbol"/>
                <a:cs typeface="Segoe UI Symbol"/>
              </a:rPr>
              <a:t>Ln=1.2µm,</a:t>
            </a:r>
            <a:r>
              <a:rPr dirty="0" sz="1150" spc="105">
                <a:solidFill>
                  <a:srgbClr val="000000"/>
                </a:solidFill>
                <a:latin typeface="Segoe UI Symbol"/>
                <a:cs typeface="Segoe UI Symbol"/>
              </a:rPr>
              <a:t> </a:t>
            </a:r>
            <a:r>
              <a:rPr dirty="0" sz="1150" spc="120">
                <a:solidFill>
                  <a:srgbClr val="000000"/>
                </a:solidFill>
                <a:latin typeface="Segoe UI Symbol"/>
                <a:cs typeface="Segoe UI Symbol"/>
              </a:rPr>
              <a:t>Nn=2×10</a:t>
            </a:r>
            <a:r>
              <a:rPr dirty="0" baseline="29411" sz="1275" spc="179">
                <a:solidFill>
                  <a:srgbClr val="000000"/>
                </a:solidFill>
                <a:latin typeface="Segoe UI Symbol"/>
                <a:cs typeface="Segoe UI Symbol"/>
              </a:rPr>
              <a:t>19 </a:t>
            </a:r>
            <a:r>
              <a:rPr dirty="0" sz="1150" spc="105">
                <a:solidFill>
                  <a:srgbClr val="000000"/>
                </a:solidFill>
                <a:latin typeface="Segoe UI Symbol"/>
                <a:cs typeface="Segoe UI Symbol"/>
              </a:rPr>
              <a:t>[cm</a:t>
            </a:r>
            <a:r>
              <a:rPr dirty="0" baseline="29411" sz="1275" spc="157">
                <a:solidFill>
                  <a:srgbClr val="000000"/>
                </a:solidFill>
                <a:latin typeface="Segoe UI Symbol"/>
                <a:cs typeface="Segoe UI Symbol"/>
              </a:rPr>
              <a:t>-</a:t>
            </a:r>
            <a:r>
              <a:rPr dirty="0" baseline="29411" sz="1275" spc="112">
                <a:solidFill>
                  <a:srgbClr val="000000"/>
                </a:solidFill>
                <a:latin typeface="Segoe UI Symbol"/>
                <a:cs typeface="Segoe UI Symbol"/>
              </a:rPr>
              <a:t>3</a:t>
            </a:r>
            <a:r>
              <a:rPr dirty="0" sz="1150" spc="75">
                <a:solidFill>
                  <a:srgbClr val="000000"/>
                </a:solidFill>
                <a:latin typeface="Segoe UI Symbol"/>
                <a:cs typeface="Segoe UI Symbol"/>
              </a:rPr>
              <a:t>]</a:t>
            </a:r>
            <a:r>
              <a:rPr dirty="0" sz="1150">
                <a:solidFill>
                  <a:srgbClr val="000000"/>
                </a:solidFill>
                <a:latin typeface="PMingLiU"/>
                <a:cs typeface="PMingLiU"/>
              </a:rPr>
              <a:t>において</a:t>
            </a:r>
            <a:r>
              <a:rPr dirty="0" sz="1150" spc="145" b="1">
                <a:solidFill>
                  <a:srgbClr val="1C4ED8"/>
                </a:solidFill>
                <a:latin typeface="Yu Gothic"/>
                <a:cs typeface="Yu Gothic"/>
              </a:rPr>
              <a:t>7.9</a:t>
            </a:r>
            <a:r>
              <a:rPr dirty="0" sz="1300" spc="-50">
                <a:solidFill>
                  <a:srgbClr val="1C4ED8"/>
                </a:solidFill>
              </a:rPr>
              <a:t>桁</a:t>
            </a:r>
            <a:endParaRPr sz="1300">
              <a:latin typeface="Yu Gothic"/>
              <a:cs typeface="Yu Gothic"/>
            </a:endParaRPr>
          </a:p>
          <a:p>
            <a:pPr algn="just" marL="342900" marR="43180">
              <a:lnSpc>
                <a:spcPct val="126099"/>
              </a:lnSpc>
              <a:spcBef>
                <a:spcPts val="600"/>
              </a:spcBef>
            </a:pPr>
            <a:r>
              <a:rPr dirty="0" sz="1300" spc="-125">
                <a:solidFill>
                  <a:srgbClr val="000000"/>
                </a:solidFill>
              </a:rPr>
              <a:t>特</a:t>
            </a:r>
            <a:r>
              <a:rPr dirty="0" sz="1350" spc="-185">
                <a:solidFill>
                  <a:srgbClr val="000000"/>
                </a:solidFill>
              </a:rPr>
              <a:t>定</a:t>
            </a:r>
            <a:r>
              <a:rPr dirty="0" sz="1300" spc="-125">
                <a:solidFill>
                  <a:srgbClr val="000000"/>
                </a:solidFill>
              </a:rPr>
              <a:t>条件下</a:t>
            </a:r>
            <a:r>
              <a:rPr dirty="0" sz="1250" spc="-80">
                <a:solidFill>
                  <a:srgbClr val="000000"/>
                </a:solidFill>
                <a:latin typeface="PMingLiU"/>
                <a:cs typeface="PMingLiU"/>
              </a:rPr>
              <a:t>のみで</a:t>
            </a:r>
            <a:r>
              <a:rPr dirty="0" sz="1300" spc="-125">
                <a:solidFill>
                  <a:srgbClr val="000000"/>
                </a:solidFill>
              </a:rPr>
              <a:t>急</a:t>
            </a:r>
            <a:r>
              <a:rPr dirty="0" sz="1300" spc="-125">
                <a:solidFill>
                  <a:srgbClr val="000000"/>
                </a:solidFill>
                <a:latin typeface="PMingLiU"/>
                <a:cs typeface="PMingLiU"/>
              </a:rPr>
              <a:t>峻</a:t>
            </a:r>
            <a:r>
              <a:rPr dirty="0" sz="1250" spc="-80">
                <a:solidFill>
                  <a:srgbClr val="000000"/>
                </a:solidFill>
                <a:latin typeface="PMingLiU"/>
                <a:cs typeface="PMingLiU"/>
              </a:rPr>
              <a:t>な</a:t>
            </a:r>
            <a:r>
              <a:rPr dirty="0" sz="1350" spc="-185">
                <a:solidFill>
                  <a:srgbClr val="000000"/>
                </a:solidFill>
              </a:rPr>
              <a:t>立</a:t>
            </a:r>
            <a:r>
              <a:rPr dirty="0" sz="1250" spc="-80">
                <a:solidFill>
                  <a:srgbClr val="000000"/>
                </a:solidFill>
                <a:latin typeface="PMingLiU"/>
                <a:cs typeface="PMingLiU"/>
              </a:rPr>
              <a:t>ち</a:t>
            </a:r>
            <a:r>
              <a:rPr dirty="0" sz="1300" spc="-125">
                <a:solidFill>
                  <a:srgbClr val="000000"/>
                </a:solidFill>
              </a:rPr>
              <a:t>上</a:t>
            </a:r>
            <a:r>
              <a:rPr dirty="0" sz="1250" spc="-80">
                <a:solidFill>
                  <a:srgbClr val="000000"/>
                </a:solidFill>
                <a:latin typeface="PMingLiU"/>
                <a:cs typeface="PMingLiU"/>
              </a:rPr>
              <a:t>がり</a:t>
            </a:r>
            <a:r>
              <a:rPr dirty="0" sz="1150" spc="120" b="1">
                <a:solidFill>
                  <a:srgbClr val="000000"/>
                </a:solidFill>
                <a:latin typeface="Yu Gothic"/>
                <a:cs typeface="Yu Gothic"/>
              </a:rPr>
              <a:t>: </a:t>
            </a:r>
            <a:r>
              <a:rPr dirty="0" sz="1150" spc="60">
                <a:solidFill>
                  <a:srgbClr val="000000"/>
                </a:solidFill>
                <a:latin typeface="Segoe UI Symbol"/>
                <a:cs typeface="Segoe UI Symbol"/>
              </a:rPr>
              <a:t>Nn</a:t>
            </a:r>
            <a:r>
              <a:rPr dirty="0" sz="1150" spc="-5">
                <a:solidFill>
                  <a:srgbClr val="000000"/>
                </a:solidFill>
                <a:latin typeface="PMingLiU"/>
                <a:cs typeface="PMingLiU"/>
              </a:rPr>
              <a:t>が小さいと電流の立ち</a:t>
            </a:r>
            <a:r>
              <a:rPr dirty="0" sz="1150">
                <a:solidFill>
                  <a:srgbClr val="000000"/>
                </a:solidFill>
                <a:latin typeface="PMingLiU"/>
                <a:cs typeface="PMingLiU"/>
              </a:rPr>
              <a:t>上がりが見られない</a:t>
            </a:r>
            <a:endParaRPr sz="1150">
              <a:latin typeface="PMingLiU"/>
              <a:cs typeface="PMingLiU"/>
            </a:endParaRPr>
          </a:p>
          <a:p>
            <a:pPr marL="342900">
              <a:lnSpc>
                <a:spcPct val="100000"/>
              </a:lnSpc>
              <a:spcBef>
                <a:spcPts val="1055"/>
              </a:spcBef>
            </a:pPr>
            <a:r>
              <a:rPr dirty="0" sz="1300" spc="-125">
                <a:solidFill>
                  <a:srgbClr val="000000"/>
                </a:solidFill>
              </a:rPr>
              <a:t>先行</a:t>
            </a:r>
            <a:r>
              <a:rPr dirty="0" sz="1250" spc="-75">
                <a:solidFill>
                  <a:srgbClr val="000000"/>
                </a:solidFill>
                <a:latin typeface="PMingLiU"/>
                <a:cs typeface="PMingLiU"/>
              </a:rPr>
              <a:t>研</a:t>
            </a:r>
            <a:r>
              <a:rPr dirty="0" sz="1350" spc="-185">
                <a:solidFill>
                  <a:srgbClr val="000000"/>
                </a:solidFill>
              </a:rPr>
              <a:t>究</a:t>
            </a:r>
            <a:r>
              <a:rPr dirty="0" sz="1250" spc="-80">
                <a:solidFill>
                  <a:srgbClr val="000000"/>
                </a:solidFill>
                <a:latin typeface="PMingLiU"/>
                <a:cs typeface="PMingLiU"/>
              </a:rPr>
              <a:t>との</a:t>
            </a:r>
            <a:r>
              <a:rPr dirty="0" sz="1300" spc="-125">
                <a:solidFill>
                  <a:srgbClr val="000000"/>
                </a:solidFill>
              </a:rPr>
              <a:t>比較</a:t>
            </a:r>
            <a:r>
              <a:rPr dirty="0" sz="1150" spc="70" b="1">
                <a:solidFill>
                  <a:srgbClr val="000000"/>
                </a:solidFill>
                <a:latin typeface="Yu Gothic"/>
                <a:cs typeface="Yu Gothic"/>
              </a:rPr>
              <a:t>:</a:t>
            </a:r>
            <a:endParaRPr sz="1150">
              <a:latin typeface="Yu Gothic"/>
              <a:cs typeface="Yu Gothic"/>
            </a:endParaRPr>
          </a:p>
          <a:p>
            <a:pPr marL="543560" marR="132080">
              <a:lnSpc>
                <a:spcPct val="125299"/>
              </a:lnSpc>
              <a:spcBef>
                <a:spcPts val="265"/>
              </a:spcBef>
            </a:pPr>
            <a:r>
              <a:rPr dirty="0" sz="1050">
                <a:solidFill>
                  <a:srgbClr val="000000"/>
                </a:solidFill>
                <a:latin typeface="PMingLiU"/>
                <a:cs typeface="PMingLiU"/>
              </a:rPr>
              <a:t>先行研究</a:t>
            </a:r>
            <a:r>
              <a:rPr dirty="0" sz="1050" spc="100">
                <a:solidFill>
                  <a:srgbClr val="000000"/>
                </a:solidFill>
                <a:latin typeface="Segoe UI Symbol"/>
                <a:cs typeface="Segoe UI Symbol"/>
              </a:rPr>
              <a:t>: Ln=0.3µm,</a:t>
            </a:r>
            <a:r>
              <a:rPr dirty="0" sz="1050" spc="80">
                <a:solidFill>
                  <a:srgbClr val="000000"/>
                </a:solidFill>
                <a:latin typeface="Segoe UI Symbol"/>
                <a:cs typeface="Segoe UI Symbol"/>
              </a:rPr>
              <a:t> </a:t>
            </a:r>
            <a:r>
              <a:rPr dirty="0" sz="1050" spc="100">
                <a:solidFill>
                  <a:srgbClr val="000000"/>
                </a:solidFill>
                <a:latin typeface="Segoe UI Symbol"/>
                <a:cs typeface="Segoe UI Symbol"/>
              </a:rPr>
              <a:t>Nn=1×10</a:t>
            </a:r>
            <a:r>
              <a:rPr dirty="0" baseline="29629" sz="1125" spc="150">
                <a:solidFill>
                  <a:srgbClr val="000000"/>
                </a:solidFill>
                <a:latin typeface="Segoe UI Symbol"/>
                <a:cs typeface="Segoe UI Symbol"/>
              </a:rPr>
              <a:t>19 </a:t>
            </a:r>
            <a:r>
              <a:rPr dirty="0" sz="1050" spc="85">
                <a:solidFill>
                  <a:srgbClr val="000000"/>
                </a:solidFill>
                <a:latin typeface="Segoe UI Symbol"/>
                <a:cs typeface="Segoe UI Symbol"/>
              </a:rPr>
              <a:t>[cm</a:t>
            </a:r>
            <a:r>
              <a:rPr dirty="0" baseline="29629" sz="1125" spc="127">
                <a:solidFill>
                  <a:srgbClr val="000000"/>
                </a:solidFill>
                <a:latin typeface="Segoe UI Symbol"/>
                <a:cs typeface="Segoe UI Symbol"/>
              </a:rPr>
              <a:t>-</a:t>
            </a:r>
            <a:r>
              <a:rPr dirty="0" baseline="29629" sz="1125" spc="104">
                <a:solidFill>
                  <a:srgbClr val="000000"/>
                </a:solidFill>
                <a:latin typeface="Segoe UI Symbol"/>
                <a:cs typeface="Segoe UI Symbol"/>
              </a:rPr>
              <a:t>3</a:t>
            </a:r>
            <a:r>
              <a:rPr dirty="0" sz="1050" spc="70">
                <a:solidFill>
                  <a:srgbClr val="000000"/>
                </a:solidFill>
                <a:latin typeface="Segoe UI Symbol"/>
                <a:cs typeface="Segoe UI Symbol"/>
              </a:rPr>
              <a:t>]</a:t>
            </a:r>
            <a:r>
              <a:rPr dirty="0" sz="1050" spc="-5">
                <a:solidFill>
                  <a:srgbClr val="000000"/>
                </a:solidFill>
                <a:latin typeface="PMingLiU"/>
                <a:cs typeface="PMingLiU"/>
              </a:rPr>
              <a:t>で約</a:t>
            </a:r>
            <a:r>
              <a:rPr dirty="0" sz="1050" spc="105">
                <a:solidFill>
                  <a:srgbClr val="000000"/>
                </a:solidFill>
                <a:latin typeface="Segoe UI Symbol"/>
                <a:cs typeface="Segoe UI Symbol"/>
              </a:rPr>
              <a:t>8</a:t>
            </a:r>
            <a:r>
              <a:rPr dirty="0" sz="1050" spc="-25">
                <a:solidFill>
                  <a:srgbClr val="000000"/>
                </a:solidFill>
                <a:latin typeface="PMingLiU"/>
                <a:cs typeface="PMingLiU"/>
              </a:rPr>
              <a:t>桁の立ち上がり</a:t>
            </a:r>
            <a:r>
              <a:rPr dirty="0" sz="1050" spc="-20">
                <a:solidFill>
                  <a:srgbClr val="000000"/>
                </a:solidFill>
                <a:latin typeface="PMingLiU"/>
                <a:cs typeface="PMingLiU"/>
              </a:rPr>
              <a:t>定性的には先行研究と一致</a:t>
            </a:r>
            <a:endParaRPr sz="1050">
              <a:latin typeface="PMingLiU"/>
              <a:cs typeface="PMingLiU"/>
            </a:endParaRPr>
          </a:p>
          <a:p>
            <a:pPr marL="543560">
              <a:lnSpc>
                <a:spcPct val="100000"/>
              </a:lnSpc>
              <a:spcBef>
                <a:spcPts val="320"/>
              </a:spcBef>
            </a:pPr>
            <a:r>
              <a:rPr dirty="0" sz="1050" spc="-25">
                <a:solidFill>
                  <a:srgbClr val="000000"/>
                </a:solidFill>
                <a:latin typeface="PMingLiU"/>
                <a:cs typeface="PMingLiU"/>
              </a:rPr>
              <a:t>定量的な部分が異なる</a:t>
            </a:r>
            <a:endParaRPr sz="1050">
              <a:latin typeface="PMingLiU"/>
              <a:cs typeface="PMingLiU"/>
            </a:endParaRPr>
          </a:p>
          <a:p>
            <a:pPr>
              <a:lnSpc>
                <a:spcPct val="100000"/>
              </a:lnSpc>
              <a:spcBef>
                <a:spcPts val="1445"/>
              </a:spcBef>
            </a:pPr>
            <a:endParaRPr sz="1050">
              <a:latin typeface="PMingLiU"/>
              <a:cs typeface="PMingLiU"/>
            </a:endParaRPr>
          </a:p>
          <a:p>
            <a:pPr marL="342900">
              <a:lnSpc>
                <a:spcPct val="100000"/>
              </a:lnSpc>
            </a:pPr>
            <a:r>
              <a:rPr dirty="0" sz="1300" spc="-130">
                <a:solidFill>
                  <a:srgbClr val="000000"/>
                </a:solidFill>
              </a:rPr>
              <a:t>考</a:t>
            </a:r>
            <a:r>
              <a:rPr dirty="0" sz="1350" spc="-185">
                <a:solidFill>
                  <a:srgbClr val="000000"/>
                </a:solidFill>
              </a:rPr>
              <a:t>察</a:t>
            </a:r>
            <a:r>
              <a:rPr dirty="0" sz="1150" spc="70" b="1">
                <a:solidFill>
                  <a:srgbClr val="000000"/>
                </a:solidFill>
                <a:latin typeface="Yu Gothic"/>
                <a:cs typeface="Yu Gothic"/>
              </a:rPr>
              <a:t>:</a:t>
            </a:r>
            <a:endParaRPr sz="1150">
              <a:latin typeface="Yu Gothic"/>
              <a:cs typeface="Yu Gothic"/>
            </a:endParaRPr>
          </a:p>
          <a:p>
            <a:pPr algn="just" marL="342900" marR="100330">
              <a:lnSpc>
                <a:spcPct val="125299"/>
              </a:lnSpc>
              <a:spcBef>
                <a:spcPts val="270"/>
              </a:spcBef>
            </a:pPr>
            <a:r>
              <a:rPr dirty="0" sz="1050" spc="-20">
                <a:solidFill>
                  <a:srgbClr val="000000"/>
                </a:solidFill>
                <a:latin typeface="PMingLiU"/>
                <a:cs typeface="PMingLiU"/>
              </a:rPr>
              <a:t>デバイス構造パラメータ</a:t>
            </a:r>
            <a:r>
              <a:rPr dirty="0" sz="1050" spc="60">
                <a:solidFill>
                  <a:srgbClr val="000000"/>
                </a:solidFill>
                <a:latin typeface="PMingLiU"/>
                <a:cs typeface="PMingLiU"/>
              </a:rPr>
              <a:t>（</a:t>
            </a:r>
            <a:r>
              <a:rPr dirty="0" sz="1050" spc="60">
                <a:solidFill>
                  <a:srgbClr val="000000"/>
                </a:solidFill>
                <a:latin typeface="Segoe UI Symbol"/>
                <a:cs typeface="Segoe UI Symbol"/>
              </a:rPr>
              <a:t>Ln, </a:t>
            </a:r>
            <a:r>
              <a:rPr dirty="0" sz="1050">
                <a:solidFill>
                  <a:srgbClr val="000000"/>
                </a:solidFill>
                <a:latin typeface="Segoe UI Symbol"/>
                <a:cs typeface="Segoe UI Symbol"/>
              </a:rPr>
              <a:t>Nn</a:t>
            </a:r>
            <a:r>
              <a:rPr dirty="0" sz="1050">
                <a:solidFill>
                  <a:srgbClr val="000000"/>
                </a:solidFill>
                <a:latin typeface="PMingLiU"/>
                <a:cs typeface="PMingLiU"/>
              </a:rPr>
              <a:t>）</a:t>
            </a:r>
            <a:r>
              <a:rPr dirty="0" sz="1050" spc="-25">
                <a:solidFill>
                  <a:srgbClr val="000000"/>
                </a:solidFill>
                <a:latin typeface="PMingLiU"/>
                <a:cs typeface="PMingLiU"/>
              </a:rPr>
              <a:t>が電流特性に大きく影響し、最適</a:t>
            </a:r>
            <a:r>
              <a:rPr dirty="0" sz="1050" spc="-30">
                <a:solidFill>
                  <a:srgbClr val="000000"/>
                </a:solidFill>
                <a:latin typeface="PMingLiU"/>
                <a:cs typeface="PMingLiU"/>
              </a:rPr>
              <a:t>値が存在する。この最適値は先行研究と異なるため、モデルの精緻化</a:t>
            </a:r>
            <a:r>
              <a:rPr dirty="0" sz="1050" spc="-20">
                <a:solidFill>
                  <a:srgbClr val="000000"/>
                </a:solidFill>
                <a:latin typeface="PMingLiU"/>
                <a:cs typeface="PMingLiU"/>
              </a:rPr>
              <a:t>が必要。</a:t>
            </a:r>
            <a:endParaRPr sz="1050">
              <a:latin typeface="PMingLiU"/>
              <a:cs typeface="PMingLiU"/>
            </a:endParaRPr>
          </a:p>
        </p:txBody>
      </p:sp>
      <p:sp>
        <p:nvSpPr>
          <p:cNvPr id="24" name="object 24" descr=""/>
          <p:cNvSpPr txBox="1"/>
          <p:nvPr/>
        </p:nvSpPr>
        <p:spPr>
          <a:xfrm>
            <a:off x="10097992" y="6531836"/>
            <a:ext cx="410845" cy="181610"/>
          </a:xfrm>
          <a:prstGeom prst="rect">
            <a:avLst/>
          </a:prstGeom>
        </p:spPr>
        <p:txBody>
          <a:bodyPr wrap="square" lIns="0" tIns="3175" rIns="0" bIns="0" rtlCol="0" vert="horz">
            <a:spAutoFit/>
          </a:bodyPr>
          <a:lstStyle/>
          <a:p>
            <a:pPr marL="12700">
              <a:lnSpc>
                <a:spcPct val="100000"/>
              </a:lnSpc>
              <a:spcBef>
                <a:spcPts val="25"/>
              </a:spcBef>
            </a:pPr>
            <a:r>
              <a:rPr dirty="0" sz="1050" spc="105">
                <a:solidFill>
                  <a:srgbClr val="4A5462"/>
                </a:solidFill>
                <a:latin typeface="Segoe UI Symbol"/>
                <a:cs typeface="Segoe UI Symbol"/>
              </a:rPr>
              <a:t>7</a:t>
            </a:r>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
        <p:nvSpPr>
          <p:cNvPr id="20" name="object 20" descr=""/>
          <p:cNvSpPr txBox="1"/>
          <p:nvPr/>
        </p:nvSpPr>
        <p:spPr>
          <a:xfrm>
            <a:off x="6310119" y="4090439"/>
            <a:ext cx="3224530" cy="166370"/>
          </a:xfrm>
          <a:prstGeom prst="rect">
            <a:avLst/>
          </a:prstGeom>
        </p:spPr>
        <p:txBody>
          <a:bodyPr wrap="square" lIns="0" tIns="15240" rIns="0" bIns="0" rtlCol="0" vert="horz">
            <a:spAutoFit/>
          </a:bodyPr>
          <a:lstStyle/>
          <a:p>
            <a:pPr marL="38100">
              <a:lnSpc>
                <a:spcPct val="100000"/>
              </a:lnSpc>
              <a:spcBef>
                <a:spcPts val="120"/>
              </a:spcBef>
            </a:pPr>
            <a:r>
              <a:rPr dirty="0" sz="900" spc="85">
                <a:solidFill>
                  <a:srgbClr val="4A5462"/>
                </a:solidFill>
                <a:latin typeface="Segoe UI Symbol"/>
                <a:cs typeface="Segoe UI Symbol"/>
              </a:rPr>
              <a:t>Ln:</a:t>
            </a:r>
            <a:r>
              <a:rPr dirty="0" sz="900" spc="125">
                <a:solidFill>
                  <a:srgbClr val="4A5462"/>
                </a:solidFill>
                <a:latin typeface="Segoe UI Symbol"/>
                <a:cs typeface="Segoe UI Symbol"/>
              </a:rPr>
              <a:t> </a:t>
            </a:r>
            <a:r>
              <a:rPr dirty="0" sz="900" spc="110">
                <a:solidFill>
                  <a:srgbClr val="4A5462"/>
                </a:solidFill>
                <a:latin typeface="Segoe UI Symbol"/>
                <a:cs typeface="Segoe UI Symbol"/>
              </a:rPr>
              <a:t>n+</a:t>
            </a:r>
            <a:r>
              <a:rPr dirty="0" sz="900" spc="15">
                <a:solidFill>
                  <a:srgbClr val="4A5462"/>
                </a:solidFill>
                <a:latin typeface="PMingLiU"/>
                <a:cs typeface="PMingLiU"/>
              </a:rPr>
              <a:t>領域の長さ </a:t>
            </a:r>
            <a:r>
              <a:rPr dirty="0" sz="900" spc="85">
                <a:solidFill>
                  <a:srgbClr val="4A5462"/>
                </a:solidFill>
                <a:latin typeface="Segoe UI Symbol"/>
                <a:cs typeface="Segoe UI Symbol"/>
              </a:rPr>
              <a:t>[µm]</a:t>
            </a:r>
            <a:r>
              <a:rPr dirty="0" sz="900">
                <a:solidFill>
                  <a:srgbClr val="4A5462"/>
                </a:solidFill>
                <a:latin typeface="PMingLiU"/>
                <a:cs typeface="PMingLiU"/>
              </a:rPr>
              <a:t>、</a:t>
            </a:r>
            <a:r>
              <a:rPr dirty="0" sz="900" spc="60">
                <a:solidFill>
                  <a:srgbClr val="4A5462"/>
                </a:solidFill>
                <a:latin typeface="Segoe UI Symbol"/>
                <a:cs typeface="Segoe UI Symbol"/>
              </a:rPr>
              <a:t>Nn:</a:t>
            </a:r>
            <a:r>
              <a:rPr dirty="0" sz="900" spc="130">
                <a:solidFill>
                  <a:srgbClr val="4A5462"/>
                </a:solidFill>
                <a:latin typeface="Segoe UI Symbol"/>
                <a:cs typeface="Segoe UI Symbol"/>
              </a:rPr>
              <a:t> </a:t>
            </a:r>
            <a:r>
              <a:rPr dirty="0" sz="900" spc="110">
                <a:solidFill>
                  <a:srgbClr val="4A5462"/>
                </a:solidFill>
                <a:latin typeface="Segoe UI Symbol"/>
                <a:cs typeface="Segoe UI Symbol"/>
              </a:rPr>
              <a:t>n+</a:t>
            </a:r>
            <a:r>
              <a:rPr dirty="0" sz="900" spc="15">
                <a:solidFill>
                  <a:srgbClr val="4A5462"/>
                </a:solidFill>
                <a:latin typeface="PMingLiU"/>
                <a:cs typeface="PMingLiU"/>
              </a:rPr>
              <a:t>領域の不純物濃度 </a:t>
            </a:r>
            <a:r>
              <a:rPr dirty="0" sz="900" spc="75">
                <a:solidFill>
                  <a:srgbClr val="4A5462"/>
                </a:solidFill>
                <a:latin typeface="Segoe UI Symbol"/>
                <a:cs typeface="Segoe UI Symbol"/>
              </a:rPr>
              <a:t>[cm</a:t>
            </a:r>
            <a:r>
              <a:rPr dirty="0" baseline="27777" sz="1050" spc="112">
                <a:solidFill>
                  <a:srgbClr val="4A5462"/>
                </a:solidFill>
                <a:latin typeface="Segoe UI Symbol"/>
                <a:cs typeface="Segoe UI Symbol"/>
              </a:rPr>
              <a:t>-</a:t>
            </a:r>
            <a:r>
              <a:rPr dirty="0" baseline="27777" sz="1050" spc="37">
                <a:solidFill>
                  <a:srgbClr val="4A5462"/>
                </a:solidFill>
                <a:latin typeface="Segoe UI Symbol"/>
                <a:cs typeface="Segoe UI Symbol"/>
              </a:rPr>
              <a:t>3</a:t>
            </a:r>
            <a:r>
              <a:rPr dirty="0" sz="900" spc="25">
                <a:solidFill>
                  <a:srgbClr val="4A5462"/>
                </a:solidFill>
                <a:latin typeface="Segoe UI Symbol"/>
                <a:cs typeface="Segoe UI Symbol"/>
              </a:rPr>
              <a:t>]</a:t>
            </a:r>
            <a:endParaRPr sz="900">
              <a:latin typeface="Segoe UI Symbol"/>
              <a:cs typeface="Segoe UI Symbol"/>
            </a:endParaRPr>
          </a:p>
        </p:txBody>
      </p:sp>
      <p:sp>
        <p:nvSpPr>
          <p:cNvPr id="21" name="object 21" descr=""/>
          <p:cNvSpPr txBox="1"/>
          <p:nvPr/>
        </p:nvSpPr>
        <p:spPr>
          <a:xfrm>
            <a:off x="5711309" y="5103649"/>
            <a:ext cx="1383030" cy="443230"/>
          </a:xfrm>
          <a:prstGeom prst="rect">
            <a:avLst/>
          </a:prstGeom>
        </p:spPr>
        <p:txBody>
          <a:bodyPr wrap="square" lIns="0" tIns="56515" rIns="0" bIns="0" rtlCol="0" vert="horz">
            <a:spAutoFit/>
          </a:bodyPr>
          <a:lstStyle/>
          <a:p>
            <a:pPr marL="38100">
              <a:lnSpc>
                <a:spcPct val="100000"/>
              </a:lnSpc>
              <a:spcBef>
                <a:spcPts val="445"/>
              </a:spcBef>
            </a:pPr>
            <a:r>
              <a:rPr dirty="0" sz="1050" spc="95" b="1">
                <a:solidFill>
                  <a:srgbClr val="1D40AF"/>
                </a:solidFill>
                <a:latin typeface="Yu Gothic"/>
                <a:cs typeface="Yu Gothic"/>
              </a:rPr>
              <a:t>n+</a:t>
            </a:r>
            <a:r>
              <a:rPr dirty="0" sz="1150" spc="-80">
                <a:solidFill>
                  <a:srgbClr val="1D40AF"/>
                </a:solidFill>
                <a:latin typeface="SimSun"/>
                <a:cs typeface="SimSun"/>
              </a:rPr>
              <a:t>領域</a:t>
            </a:r>
            <a:endParaRPr sz="1150">
              <a:latin typeface="SimSun"/>
              <a:cs typeface="SimSun"/>
            </a:endParaRPr>
          </a:p>
          <a:p>
            <a:pPr marL="38100">
              <a:lnSpc>
                <a:spcPct val="100000"/>
              </a:lnSpc>
              <a:spcBef>
                <a:spcPts val="300"/>
              </a:spcBef>
            </a:pPr>
            <a:r>
              <a:rPr dirty="0" sz="1050">
                <a:latin typeface="Segoe UI Symbol"/>
                <a:cs typeface="Segoe UI Symbol"/>
              </a:rPr>
              <a:t>N</a:t>
            </a:r>
            <a:r>
              <a:rPr dirty="0" baseline="-14814" sz="1125">
                <a:latin typeface="Segoe UI Symbol"/>
                <a:cs typeface="Segoe UI Symbol"/>
              </a:rPr>
              <a:t>n</a:t>
            </a:r>
            <a:r>
              <a:rPr dirty="0" baseline="-14814" sz="1125" spc="225">
                <a:latin typeface="Segoe UI Symbol"/>
                <a:cs typeface="Segoe UI Symbol"/>
              </a:rPr>
              <a:t> </a:t>
            </a:r>
            <a:r>
              <a:rPr dirty="0" sz="1050" spc="160">
                <a:latin typeface="Segoe UI Symbol"/>
                <a:cs typeface="Segoe UI Symbol"/>
              </a:rPr>
              <a:t>=</a:t>
            </a:r>
            <a:r>
              <a:rPr dirty="0" sz="1050" spc="80">
                <a:latin typeface="Segoe UI Symbol"/>
                <a:cs typeface="Segoe UI Symbol"/>
              </a:rPr>
              <a:t> </a:t>
            </a:r>
            <a:r>
              <a:rPr dirty="0" sz="1050" spc="110">
                <a:latin typeface="Segoe UI Symbol"/>
                <a:cs typeface="Segoe UI Symbol"/>
              </a:rPr>
              <a:t>1×10</a:t>
            </a:r>
            <a:r>
              <a:rPr dirty="0" baseline="29629" sz="1125" spc="165">
                <a:latin typeface="Segoe UI Symbol"/>
                <a:cs typeface="Segoe UI Symbol"/>
              </a:rPr>
              <a:t>20</a:t>
            </a:r>
            <a:r>
              <a:rPr dirty="0" baseline="29629" sz="1125" spc="225">
                <a:latin typeface="Segoe UI Symbol"/>
                <a:cs typeface="Segoe UI Symbol"/>
              </a:rPr>
              <a:t> </a:t>
            </a:r>
            <a:r>
              <a:rPr dirty="0" sz="1050" spc="85">
                <a:latin typeface="Segoe UI Symbol"/>
                <a:cs typeface="Segoe UI Symbol"/>
              </a:rPr>
              <a:t>[cm</a:t>
            </a:r>
            <a:r>
              <a:rPr dirty="0" baseline="29629" sz="1125" spc="127">
                <a:latin typeface="Segoe UI Symbol"/>
                <a:cs typeface="Segoe UI Symbol"/>
              </a:rPr>
              <a:t>-</a:t>
            </a:r>
            <a:r>
              <a:rPr dirty="0" baseline="29629" sz="1125" spc="67">
                <a:latin typeface="Segoe UI Symbol"/>
                <a:cs typeface="Segoe UI Symbol"/>
              </a:rPr>
              <a:t>3</a:t>
            </a:r>
            <a:r>
              <a:rPr dirty="0" sz="1050" spc="45">
                <a:latin typeface="Segoe UI Symbol"/>
                <a:cs typeface="Segoe UI Symbol"/>
              </a:rPr>
              <a:t>]</a:t>
            </a:r>
            <a:endParaRPr sz="1050">
              <a:latin typeface="Segoe UI Symbol"/>
              <a:cs typeface="Segoe UI Symbol"/>
            </a:endParaRPr>
          </a:p>
        </p:txBody>
      </p:sp>
      <p:sp>
        <p:nvSpPr>
          <p:cNvPr id="22" name="object 22" descr=""/>
          <p:cNvSpPr txBox="1"/>
          <p:nvPr/>
        </p:nvSpPr>
        <p:spPr>
          <a:xfrm>
            <a:off x="5711309" y="5839039"/>
            <a:ext cx="1422400" cy="443230"/>
          </a:xfrm>
          <a:prstGeom prst="rect">
            <a:avLst/>
          </a:prstGeom>
        </p:spPr>
        <p:txBody>
          <a:bodyPr wrap="square" lIns="0" tIns="56515" rIns="0" bIns="0" rtlCol="0" vert="horz">
            <a:spAutoFit/>
          </a:bodyPr>
          <a:lstStyle/>
          <a:p>
            <a:pPr marL="38100">
              <a:lnSpc>
                <a:spcPct val="100000"/>
              </a:lnSpc>
              <a:spcBef>
                <a:spcPts val="445"/>
              </a:spcBef>
            </a:pPr>
            <a:r>
              <a:rPr dirty="0" sz="1050" spc="90" b="1">
                <a:solidFill>
                  <a:srgbClr val="1D40AF"/>
                </a:solidFill>
                <a:latin typeface="Yu Gothic"/>
                <a:cs typeface="Yu Gothic"/>
              </a:rPr>
              <a:t>Body</a:t>
            </a:r>
            <a:r>
              <a:rPr dirty="0" sz="1050" spc="85" b="1">
                <a:solidFill>
                  <a:srgbClr val="1D40AF"/>
                </a:solidFill>
                <a:latin typeface="Yu Gothic"/>
                <a:cs typeface="Yu Gothic"/>
              </a:rPr>
              <a:t> </a:t>
            </a:r>
            <a:r>
              <a:rPr dirty="0" sz="1050" spc="60" b="1">
                <a:solidFill>
                  <a:srgbClr val="1D40AF"/>
                </a:solidFill>
                <a:latin typeface="Yu Gothic"/>
                <a:cs typeface="Yu Gothic"/>
              </a:rPr>
              <a:t>Tie</a:t>
            </a:r>
            <a:r>
              <a:rPr dirty="0" sz="1150" spc="-80">
                <a:solidFill>
                  <a:srgbClr val="1D40AF"/>
                </a:solidFill>
                <a:latin typeface="SimSun"/>
                <a:cs typeface="SimSun"/>
              </a:rPr>
              <a:t>領域</a:t>
            </a:r>
            <a:endParaRPr sz="1150">
              <a:latin typeface="SimSun"/>
              <a:cs typeface="SimSun"/>
            </a:endParaRPr>
          </a:p>
          <a:p>
            <a:pPr marL="38100">
              <a:lnSpc>
                <a:spcPct val="100000"/>
              </a:lnSpc>
              <a:spcBef>
                <a:spcPts val="300"/>
              </a:spcBef>
            </a:pPr>
            <a:r>
              <a:rPr dirty="0" sz="1050">
                <a:latin typeface="Segoe UI Symbol"/>
                <a:cs typeface="Segoe UI Symbol"/>
              </a:rPr>
              <a:t>N</a:t>
            </a:r>
            <a:r>
              <a:rPr dirty="0" baseline="-14814" sz="1125">
                <a:latin typeface="Segoe UI Symbol"/>
                <a:cs typeface="Segoe UI Symbol"/>
              </a:rPr>
              <a:t>bt</a:t>
            </a:r>
            <a:r>
              <a:rPr dirty="0" baseline="-14814" sz="1125" spc="247">
                <a:latin typeface="Segoe UI Symbol"/>
                <a:cs typeface="Segoe UI Symbol"/>
              </a:rPr>
              <a:t> </a:t>
            </a:r>
            <a:r>
              <a:rPr dirty="0" sz="1050" spc="160">
                <a:latin typeface="Segoe UI Symbol"/>
                <a:cs typeface="Segoe UI Symbol"/>
              </a:rPr>
              <a:t>=</a:t>
            </a:r>
            <a:r>
              <a:rPr dirty="0" sz="1050" spc="95">
                <a:latin typeface="Segoe UI Symbol"/>
                <a:cs typeface="Segoe UI Symbol"/>
              </a:rPr>
              <a:t> </a:t>
            </a:r>
            <a:r>
              <a:rPr dirty="0" sz="1050" spc="110">
                <a:latin typeface="Segoe UI Symbol"/>
                <a:cs typeface="Segoe UI Symbol"/>
              </a:rPr>
              <a:t>1×10</a:t>
            </a:r>
            <a:r>
              <a:rPr dirty="0" baseline="29629" sz="1125" spc="165">
                <a:latin typeface="Segoe UI Symbol"/>
                <a:cs typeface="Segoe UI Symbol"/>
              </a:rPr>
              <a:t>20</a:t>
            </a:r>
            <a:r>
              <a:rPr dirty="0" baseline="29629" sz="1125" spc="247">
                <a:latin typeface="Segoe UI Symbol"/>
                <a:cs typeface="Segoe UI Symbol"/>
              </a:rPr>
              <a:t> </a:t>
            </a:r>
            <a:r>
              <a:rPr dirty="0" sz="1050" spc="85">
                <a:latin typeface="Segoe UI Symbol"/>
                <a:cs typeface="Segoe UI Symbol"/>
              </a:rPr>
              <a:t>[cm</a:t>
            </a:r>
            <a:r>
              <a:rPr dirty="0" baseline="29629" sz="1125" spc="127">
                <a:latin typeface="Segoe UI Symbol"/>
                <a:cs typeface="Segoe UI Symbol"/>
              </a:rPr>
              <a:t>-</a:t>
            </a:r>
            <a:r>
              <a:rPr dirty="0" baseline="29629" sz="1125" spc="67">
                <a:latin typeface="Segoe UI Symbol"/>
                <a:cs typeface="Segoe UI Symbol"/>
              </a:rPr>
              <a:t>3</a:t>
            </a:r>
            <a:r>
              <a:rPr dirty="0" sz="1050" spc="45">
                <a:latin typeface="Segoe UI Symbol"/>
                <a:cs typeface="Segoe UI Symbol"/>
              </a:rPr>
              <a:t>]</a:t>
            </a:r>
            <a:endParaRPr sz="1050">
              <a:latin typeface="Segoe UI Symbol"/>
              <a:cs typeface="Segoe UI Symbol"/>
            </a:endParaRPr>
          </a:p>
        </p:txBody>
      </p:sp>
      <p:sp>
        <p:nvSpPr>
          <p:cNvPr id="23" name="object 23" descr=""/>
          <p:cNvSpPr txBox="1"/>
          <p:nvPr/>
        </p:nvSpPr>
        <p:spPr>
          <a:xfrm>
            <a:off x="8038485" y="5103649"/>
            <a:ext cx="1618615" cy="1178560"/>
          </a:xfrm>
          <a:prstGeom prst="rect">
            <a:avLst/>
          </a:prstGeom>
        </p:spPr>
        <p:txBody>
          <a:bodyPr wrap="square" lIns="0" tIns="56515" rIns="0" bIns="0" rtlCol="0" vert="horz">
            <a:spAutoFit/>
          </a:bodyPr>
          <a:lstStyle/>
          <a:p>
            <a:pPr marL="50800">
              <a:lnSpc>
                <a:spcPct val="100000"/>
              </a:lnSpc>
              <a:spcBef>
                <a:spcPts val="445"/>
              </a:spcBef>
            </a:pPr>
            <a:r>
              <a:rPr dirty="0" sz="1050" spc="90" b="1">
                <a:solidFill>
                  <a:srgbClr val="1D40AF"/>
                </a:solidFill>
                <a:latin typeface="Yu Gothic"/>
                <a:cs typeface="Yu Gothic"/>
              </a:rPr>
              <a:t>Body</a:t>
            </a:r>
            <a:r>
              <a:rPr dirty="0" sz="1150" spc="-80">
                <a:solidFill>
                  <a:srgbClr val="1D40AF"/>
                </a:solidFill>
                <a:latin typeface="SimSun"/>
                <a:cs typeface="SimSun"/>
              </a:rPr>
              <a:t>領域</a:t>
            </a:r>
            <a:endParaRPr sz="1150">
              <a:latin typeface="SimSun"/>
              <a:cs typeface="SimSun"/>
            </a:endParaRPr>
          </a:p>
          <a:p>
            <a:pPr marL="50800">
              <a:lnSpc>
                <a:spcPct val="100000"/>
              </a:lnSpc>
              <a:spcBef>
                <a:spcPts val="300"/>
              </a:spcBef>
            </a:pPr>
            <a:r>
              <a:rPr dirty="0" sz="1050">
                <a:latin typeface="Segoe UI Symbol"/>
                <a:cs typeface="Segoe UI Symbol"/>
              </a:rPr>
              <a:t>N</a:t>
            </a:r>
            <a:r>
              <a:rPr dirty="0" baseline="-14814" sz="1125">
                <a:latin typeface="Segoe UI Symbol"/>
                <a:cs typeface="Segoe UI Symbol"/>
              </a:rPr>
              <a:t>b</a:t>
            </a:r>
            <a:r>
              <a:rPr dirty="0" baseline="-14814" sz="1125" spc="217">
                <a:latin typeface="Segoe UI Symbol"/>
                <a:cs typeface="Segoe UI Symbol"/>
              </a:rPr>
              <a:t> </a:t>
            </a:r>
            <a:r>
              <a:rPr dirty="0" sz="1050" spc="160">
                <a:latin typeface="Segoe UI Symbol"/>
                <a:cs typeface="Segoe UI Symbol"/>
              </a:rPr>
              <a:t>=</a:t>
            </a:r>
            <a:r>
              <a:rPr dirty="0" sz="1050" spc="75">
                <a:latin typeface="Segoe UI Symbol"/>
                <a:cs typeface="Segoe UI Symbol"/>
              </a:rPr>
              <a:t> </a:t>
            </a:r>
            <a:r>
              <a:rPr dirty="0" sz="1050" spc="110">
                <a:latin typeface="Segoe UI Symbol"/>
                <a:cs typeface="Segoe UI Symbol"/>
              </a:rPr>
              <a:t>1×10</a:t>
            </a:r>
            <a:r>
              <a:rPr dirty="0" baseline="29629" sz="1125" spc="165">
                <a:latin typeface="Segoe UI Symbol"/>
                <a:cs typeface="Segoe UI Symbol"/>
              </a:rPr>
              <a:t>18</a:t>
            </a:r>
            <a:r>
              <a:rPr dirty="0" baseline="29629" sz="1125" spc="225">
                <a:latin typeface="Segoe UI Symbol"/>
                <a:cs typeface="Segoe UI Symbol"/>
              </a:rPr>
              <a:t> </a:t>
            </a:r>
            <a:r>
              <a:rPr dirty="0" sz="1050" spc="85">
                <a:latin typeface="Segoe UI Symbol"/>
                <a:cs typeface="Segoe UI Symbol"/>
              </a:rPr>
              <a:t>[cm</a:t>
            </a:r>
            <a:r>
              <a:rPr dirty="0" baseline="29629" sz="1125" spc="127">
                <a:latin typeface="Segoe UI Symbol"/>
                <a:cs typeface="Segoe UI Symbol"/>
              </a:rPr>
              <a:t>-</a:t>
            </a:r>
            <a:r>
              <a:rPr dirty="0" baseline="29629" sz="1125" spc="67">
                <a:latin typeface="Segoe UI Symbol"/>
                <a:cs typeface="Segoe UI Symbol"/>
              </a:rPr>
              <a:t>3</a:t>
            </a:r>
            <a:r>
              <a:rPr dirty="0" sz="1050" spc="45">
                <a:latin typeface="Segoe UI Symbol"/>
                <a:cs typeface="Segoe UI Symbol"/>
              </a:rPr>
              <a:t>]</a:t>
            </a:r>
            <a:endParaRPr sz="1050">
              <a:latin typeface="Segoe UI Symbol"/>
              <a:cs typeface="Segoe UI Symbol"/>
            </a:endParaRPr>
          </a:p>
          <a:p>
            <a:pPr>
              <a:lnSpc>
                <a:spcPct val="100000"/>
              </a:lnSpc>
            </a:pPr>
            <a:endParaRPr sz="1050">
              <a:latin typeface="Segoe UI Symbol"/>
              <a:cs typeface="Segoe UI Symbol"/>
            </a:endParaRPr>
          </a:p>
          <a:p>
            <a:pPr>
              <a:lnSpc>
                <a:spcPct val="100000"/>
              </a:lnSpc>
              <a:spcBef>
                <a:spcPts val="55"/>
              </a:spcBef>
            </a:pPr>
            <a:endParaRPr sz="1050">
              <a:latin typeface="Segoe UI Symbol"/>
              <a:cs typeface="Segoe UI Symbol"/>
            </a:endParaRPr>
          </a:p>
          <a:p>
            <a:pPr marL="50800">
              <a:lnSpc>
                <a:spcPct val="100000"/>
              </a:lnSpc>
              <a:spcBef>
                <a:spcPts val="5"/>
              </a:spcBef>
            </a:pPr>
            <a:r>
              <a:rPr dirty="0" sz="1050" spc="95" b="1">
                <a:solidFill>
                  <a:srgbClr val="1D40AF"/>
                </a:solidFill>
                <a:latin typeface="Yu Gothic"/>
                <a:cs typeface="Yu Gothic"/>
              </a:rPr>
              <a:t>n+</a:t>
            </a:r>
            <a:r>
              <a:rPr dirty="0" sz="1150" spc="-114">
                <a:solidFill>
                  <a:srgbClr val="1D40AF"/>
                </a:solidFill>
                <a:latin typeface="SimSun"/>
                <a:cs typeface="SimSun"/>
              </a:rPr>
              <a:t>領域</a:t>
            </a:r>
            <a:r>
              <a:rPr dirty="0" sz="1100" spc="-50">
                <a:solidFill>
                  <a:srgbClr val="1D40AF"/>
                </a:solidFill>
                <a:latin typeface="PMingLiU"/>
                <a:cs typeface="PMingLiU"/>
              </a:rPr>
              <a:t>長</a:t>
            </a:r>
            <a:endParaRPr sz="1100">
              <a:latin typeface="PMingLiU"/>
              <a:cs typeface="PMingLiU"/>
            </a:endParaRPr>
          </a:p>
          <a:p>
            <a:pPr marL="50800">
              <a:lnSpc>
                <a:spcPct val="100000"/>
              </a:lnSpc>
              <a:spcBef>
                <a:spcPts val="295"/>
              </a:spcBef>
            </a:pPr>
            <a:r>
              <a:rPr dirty="0" sz="1050" spc="75">
                <a:latin typeface="Segoe UI Symbol"/>
                <a:cs typeface="Segoe UI Symbol"/>
              </a:rPr>
              <a:t>L</a:t>
            </a:r>
            <a:r>
              <a:rPr dirty="0" baseline="-14814" sz="1125" spc="112">
                <a:latin typeface="Segoe UI Symbol"/>
                <a:cs typeface="Segoe UI Symbol"/>
              </a:rPr>
              <a:t>n</a:t>
            </a:r>
            <a:r>
              <a:rPr dirty="0" baseline="-14814" sz="1125" spc="195">
                <a:latin typeface="Segoe UI Symbol"/>
                <a:cs typeface="Segoe UI Symbol"/>
              </a:rPr>
              <a:t> </a:t>
            </a:r>
            <a:r>
              <a:rPr dirty="0" sz="1050" spc="105">
                <a:latin typeface="Segoe UI Symbol"/>
                <a:cs typeface="Segoe UI Symbol"/>
              </a:rPr>
              <a:t>= </a:t>
            </a:r>
            <a:r>
              <a:rPr dirty="0" sz="1050" spc="75">
                <a:latin typeface="Segoe UI Symbol"/>
                <a:cs typeface="Segoe UI Symbol"/>
              </a:rPr>
              <a:t>0.1</a:t>
            </a:r>
            <a:r>
              <a:rPr dirty="0" sz="1050" spc="75">
                <a:latin typeface="PMingLiU"/>
                <a:cs typeface="PMingLiU"/>
              </a:rPr>
              <a:t>～</a:t>
            </a:r>
            <a:r>
              <a:rPr dirty="0" sz="1050" spc="75">
                <a:latin typeface="Segoe UI Symbol"/>
                <a:cs typeface="Segoe UI Symbol"/>
              </a:rPr>
              <a:t>2µm</a:t>
            </a:r>
            <a:r>
              <a:rPr dirty="0" sz="1050" spc="75">
                <a:latin typeface="PMingLiU"/>
                <a:cs typeface="PMingLiU"/>
              </a:rPr>
              <a:t>（</a:t>
            </a:r>
            <a:r>
              <a:rPr dirty="0" sz="1050">
                <a:latin typeface="PMingLiU"/>
                <a:cs typeface="PMingLiU"/>
              </a:rPr>
              <a:t>可変</a:t>
            </a:r>
            <a:r>
              <a:rPr dirty="0" sz="1050" spc="-50">
                <a:latin typeface="PMingLiU"/>
                <a:cs typeface="PMingLiU"/>
              </a:rPr>
              <a:t>）</a:t>
            </a:r>
            <a:endParaRPr sz="1050">
              <a:latin typeface="PMingLiU"/>
              <a:cs typeface="PMingLiU"/>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7287259"/>
          </a:xfrm>
          <a:custGeom>
            <a:avLst/>
            <a:gdLst/>
            <a:ahLst/>
            <a:cxnLst/>
            <a:rect l="l" t="t" r="r" b="b"/>
            <a:pathLst>
              <a:path w="10696575" h="7287259">
                <a:moveTo>
                  <a:pt x="10696575" y="7287042"/>
                </a:moveTo>
                <a:lnTo>
                  <a:pt x="0" y="7287042"/>
                </a:lnTo>
                <a:lnTo>
                  <a:pt x="0" y="0"/>
                </a:lnTo>
                <a:lnTo>
                  <a:pt x="10696575" y="0"/>
                </a:lnTo>
                <a:lnTo>
                  <a:pt x="10696575" y="7287042"/>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p:cNvSpPr txBox="1">
            <a:spLocks noGrp="1"/>
          </p:cNvSpPr>
          <p:nvPr>
            <p:ph type="title"/>
          </p:nvPr>
        </p:nvSpPr>
        <p:spPr>
          <a:xfrm>
            <a:off x="321567" y="120778"/>
            <a:ext cx="5436235" cy="436880"/>
          </a:xfrm>
          <a:prstGeom prst="rect"/>
        </p:spPr>
        <p:txBody>
          <a:bodyPr wrap="square" lIns="0" tIns="12700" rIns="0" bIns="0" rtlCol="0" vert="horz">
            <a:spAutoFit/>
          </a:bodyPr>
          <a:lstStyle/>
          <a:p>
            <a:pPr marL="12700">
              <a:lnSpc>
                <a:spcPct val="100000"/>
              </a:lnSpc>
              <a:spcBef>
                <a:spcPts val="100"/>
              </a:spcBef>
            </a:pPr>
            <a:r>
              <a:rPr dirty="0" spc="-210"/>
              <a:t>電気</a:t>
            </a:r>
            <a:r>
              <a:rPr dirty="0" sz="2600" spc="-240"/>
              <a:t>的</a:t>
            </a:r>
            <a:r>
              <a:rPr dirty="0" sz="2600" spc="-240">
                <a:latin typeface="SimSun"/>
                <a:cs typeface="SimSun"/>
              </a:rPr>
              <a:t>特性</a:t>
            </a:r>
            <a:r>
              <a:rPr dirty="0" sz="2500" spc="-90"/>
              <a:t>の</a:t>
            </a:r>
            <a:r>
              <a:rPr dirty="0" sz="2650" spc="-295">
                <a:latin typeface="SimSun"/>
                <a:cs typeface="SimSun"/>
              </a:rPr>
              <a:t>計</a:t>
            </a:r>
            <a:r>
              <a:rPr dirty="0" sz="2600" spc="-240">
                <a:latin typeface="SimSun"/>
                <a:cs typeface="SimSun"/>
              </a:rPr>
              <a:t>算</a:t>
            </a:r>
            <a:r>
              <a:rPr dirty="0" sz="2350" spc="-120" b="1">
                <a:latin typeface="Yu Gothic"/>
                <a:cs typeface="Yu Gothic"/>
              </a:rPr>
              <a:t>➁</a:t>
            </a:r>
            <a:r>
              <a:rPr dirty="0" sz="2250" spc="-120"/>
              <a:t>：</a:t>
            </a:r>
            <a:r>
              <a:rPr dirty="0" sz="2500" spc="-90"/>
              <a:t>ガウス</a:t>
            </a:r>
            <a:r>
              <a:rPr dirty="0" sz="2600" spc="-240">
                <a:latin typeface="SimSun"/>
                <a:cs typeface="SimSun"/>
              </a:rPr>
              <a:t>分布</a:t>
            </a:r>
            <a:r>
              <a:rPr dirty="0" sz="2500" spc="-90"/>
              <a:t>の</a:t>
            </a:r>
            <a:r>
              <a:rPr dirty="0" sz="2600" spc="-240">
                <a:latin typeface="SimSun"/>
                <a:cs typeface="SimSun"/>
              </a:rPr>
              <a:t>影</a:t>
            </a:r>
            <a:r>
              <a:rPr dirty="0" sz="2700" spc="-405">
                <a:latin typeface="SimSun"/>
                <a:cs typeface="SimSun"/>
              </a:rPr>
              <a:t>響</a:t>
            </a:r>
            <a:endParaRPr sz="2700">
              <a:latin typeface="SimSun"/>
              <a:cs typeface="SimSun"/>
            </a:endParaRPr>
          </a:p>
        </p:txBody>
      </p:sp>
      <p:sp>
        <p:nvSpPr>
          <p:cNvPr id="5" name="object 5" descr=""/>
          <p:cNvSpPr/>
          <p:nvPr/>
        </p:nvSpPr>
        <p:spPr>
          <a:xfrm>
            <a:off x="334267" y="1002803"/>
            <a:ext cx="4813935" cy="5883275"/>
          </a:xfrm>
          <a:custGeom>
            <a:avLst/>
            <a:gdLst/>
            <a:ahLst/>
            <a:cxnLst/>
            <a:rect l="l" t="t" r="r" b="b"/>
            <a:pathLst>
              <a:path w="4813935" h="5883275">
                <a:moveTo>
                  <a:pt x="4750995" y="5883116"/>
                </a:moveTo>
                <a:lnTo>
                  <a:pt x="62463" y="5883116"/>
                </a:lnTo>
                <a:lnTo>
                  <a:pt x="58116" y="5882687"/>
                </a:lnTo>
                <a:lnTo>
                  <a:pt x="22684" y="5866638"/>
                </a:lnTo>
                <a:lnTo>
                  <a:pt x="2140" y="5833609"/>
                </a:lnTo>
                <a:lnTo>
                  <a:pt x="0" y="5820652"/>
                </a:lnTo>
                <a:lnTo>
                  <a:pt x="0" y="5816263"/>
                </a:lnTo>
                <a:lnTo>
                  <a:pt x="0" y="62463"/>
                </a:lnTo>
                <a:lnTo>
                  <a:pt x="13705" y="26061"/>
                </a:lnTo>
                <a:lnTo>
                  <a:pt x="45325" y="3408"/>
                </a:lnTo>
                <a:lnTo>
                  <a:pt x="62463" y="0"/>
                </a:lnTo>
                <a:lnTo>
                  <a:pt x="4750995" y="0"/>
                </a:lnTo>
                <a:lnTo>
                  <a:pt x="4787396" y="13705"/>
                </a:lnTo>
                <a:lnTo>
                  <a:pt x="4810049" y="45325"/>
                </a:lnTo>
                <a:lnTo>
                  <a:pt x="4813459" y="62463"/>
                </a:lnTo>
                <a:lnTo>
                  <a:pt x="4813459" y="5820652"/>
                </a:lnTo>
                <a:lnTo>
                  <a:pt x="4799752" y="5857054"/>
                </a:lnTo>
                <a:lnTo>
                  <a:pt x="4768133" y="5879706"/>
                </a:lnTo>
                <a:lnTo>
                  <a:pt x="4755342" y="5882688"/>
                </a:lnTo>
                <a:lnTo>
                  <a:pt x="4750995" y="5883116"/>
                </a:lnTo>
                <a:close/>
              </a:path>
            </a:pathLst>
          </a:custGeom>
          <a:solidFill>
            <a:srgbClr val="FFFFFF">
              <a:alpha val="94898"/>
            </a:srgbClr>
          </a:solidFill>
        </p:spPr>
        <p:txBody>
          <a:bodyPr wrap="square" lIns="0" tIns="0" rIns="0" bIns="0" rtlCol="0"/>
          <a:lstStyle/>
          <a:p/>
        </p:txBody>
      </p:sp>
      <p:sp>
        <p:nvSpPr>
          <p:cNvPr id="6" name="object 6" descr=""/>
          <p:cNvSpPr txBox="1"/>
          <p:nvPr/>
        </p:nvSpPr>
        <p:spPr>
          <a:xfrm>
            <a:off x="530485" y="1175910"/>
            <a:ext cx="1585595" cy="294005"/>
          </a:xfrm>
          <a:prstGeom prst="rect">
            <a:avLst/>
          </a:prstGeom>
        </p:spPr>
        <p:txBody>
          <a:bodyPr wrap="square" lIns="0" tIns="13970" rIns="0" bIns="0" rtlCol="0" vert="horz">
            <a:spAutoFit/>
          </a:bodyPr>
          <a:lstStyle/>
          <a:p>
            <a:pPr marL="12700">
              <a:lnSpc>
                <a:spcPct val="100000"/>
              </a:lnSpc>
              <a:spcBef>
                <a:spcPts val="110"/>
              </a:spcBef>
            </a:pPr>
            <a:r>
              <a:rPr dirty="0" sz="1750" spc="-175">
                <a:solidFill>
                  <a:srgbClr val="1D3A8A"/>
                </a:solidFill>
                <a:latin typeface="SimSun"/>
                <a:cs typeface="SimSun"/>
              </a:rPr>
              <a:t>条</a:t>
            </a:r>
            <a:r>
              <a:rPr dirty="0" sz="1700" spc="-145">
                <a:solidFill>
                  <a:srgbClr val="1D3A8A"/>
                </a:solidFill>
                <a:latin typeface="SimSun"/>
                <a:cs typeface="SimSun"/>
              </a:rPr>
              <a:t>件</a:t>
            </a:r>
            <a:r>
              <a:rPr dirty="0" sz="1550" spc="-225" b="1">
                <a:solidFill>
                  <a:srgbClr val="1D3A8A"/>
                </a:solidFill>
                <a:latin typeface="Yu Gothic"/>
                <a:cs typeface="Yu Gothic"/>
              </a:rPr>
              <a:t>①</a:t>
            </a:r>
            <a:r>
              <a:rPr dirty="0" sz="1550" spc="85">
                <a:solidFill>
                  <a:srgbClr val="1D3A8A"/>
                </a:solidFill>
                <a:latin typeface="PMingLiU"/>
                <a:cs typeface="PMingLiU"/>
              </a:rPr>
              <a:t>と</a:t>
            </a:r>
            <a:r>
              <a:rPr dirty="0" sz="1550" spc="-225" b="1">
                <a:solidFill>
                  <a:srgbClr val="1D3A8A"/>
                </a:solidFill>
                <a:latin typeface="Yu Gothic"/>
                <a:cs typeface="Yu Gothic"/>
              </a:rPr>
              <a:t>➁</a:t>
            </a:r>
            <a:r>
              <a:rPr dirty="0" sz="1550" spc="85">
                <a:solidFill>
                  <a:srgbClr val="1D3A8A"/>
                </a:solidFill>
                <a:latin typeface="PMingLiU"/>
                <a:cs typeface="PMingLiU"/>
              </a:rPr>
              <a:t>の</a:t>
            </a:r>
            <a:r>
              <a:rPr dirty="0" sz="1750" spc="-125">
                <a:solidFill>
                  <a:srgbClr val="1D3A8A"/>
                </a:solidFill>
                <a:latin typeface="SimSun"/>
                <a:cs typeface="SimSun"/>
              </a:rPr>
              <a:t>比較</a:t>
            </a:r>
            <a:endParaRPr sz="1750">
              <a:latin typeface="SimSun"/>
              <a:cs typeface="SimSun"/>
            </a:endParaRPr>
          </a:p>
        </p:txBody>
      </p:sp>
      <p:grpSp>
        <p:nvGrpSpPr>
          <p:cNvPr id="7" name="object 7" descr=""/>
          <p:cNvGrpSpPr/>
          <p:nvPr/>
        </p:nvGrpSpPr>
        <p:grpSpPr>
          <a:xfrm>
            <a:off x="543185" y="1947110"/>
            <a:ext cx="167640" cy="3050540"/>
            <a:chOff x="543185" y="1947110"/>
            <a:chExt cx="167640" cy="3050540"/>
          </a:xfrm>
        </p:grpSpPr>
        <p:pic>
          <p:nvPicPr>
            <p:cNvPr id="8" name="object 8" descr=""/>
            <p:cNvPicPr/>
            <p:nvPr/>
          </p:nvPicPr>
          <p:blipFill>
            <a:blip r:embed="rId3" cstate="print"/>
            <a:stretch>
              <a:fillRect/>
            </a:stretch>
          </p:blipFill>
          <p:spPr>
            <a:xfrm>
              <a:off x="543185" y="1947110"/>
              <a:ext cx="150420" cy="167133"/>
            </a:xfrm>
            <a:prstGeom prst="rect">
              <a:avLst/>
            </a:prstGeom>
          </p:spPr>
        </p:pic>
        <p:pic>
          <p:nvPicPr>
            <p:cNvPr id="9" name="object 9" descr=""/>
            <p:cNvPicPr/>
            <p:nvPr/>
          </p:nvPicPr>
          <p:blipFill>
            <a:blip r:embed="rId3" cstate="print"/>
            <a:stretch>
              <a:fillRect/>
            </a:stretch>
          </p:blipFill>
          <p:spPr>
            <a:xfrm>
              <a:off x="543185" y="2774424"/>
              <a:ext cx="150420" cy="167133"/>
            </a:xfrm>
            <a:prstGeom prst="rect">
              <a:avLst/>
            </a:prstGeom>
          </p:spPr>
        </p:pic>
        <p:pic>
          <p:nvPicPr>
            <p:cNvPr id="10" name="object 10" descr=""/>
            <p:cNvPicPr/>
            <p:nvPr/>
          </p:nvPicPr>
          <p:blipFill>
            <a:blip r:embed="rId4" cstate="print"/>
            <a:stretch>
              <a:fillRect/>
            </a:stretch>
          </p:blipFill>
          <p:spPr>
            <a:xfrm>
              <a:off x="543185" y="3877508"/>
              <a:ext cx="125350" cy="167133"/>
            </a:xfrm>
            <a:prstGeom prst="rect">
              <a:avLst/>
            </a:prstGeom>
          </p:spPr>
        </p:pic>
        <p:pic>
          <p:nvPicPr>
            <p:cNvPr id="11" name="object 11" descr=""/>
            <p:cNvPicPr/>
            <p:nvPr/>
          </p:nvPicPr>
          <p:blipFill>
            <a:blip r:embed="rId5" cstate="print"/>
            <a:stretch>
              <a:fillRect/>
            </a:stretch>
          </p:blipFill>
          <p:spPr>
            <a:xfrm>
              <a:off x="543185" y="4353840"/>
              <a:ext cx="167133" cy="167133"/>
            </a:xfrm>
            <a:prstGeom prst="rect">
              <a:avLst/>
            </a:prstGeom>
          </p:spPr>
        </p:pic>
        <p:pic>
          <p:nvPicPr>
            <p:cNvPr id="12" name="object 12" descr=""/>
            <p:cNvPicPr/>
            <p:nvPr/>
          </p:nvPicPr>
          <p:blipFill>
            <a:blip r:embed="rId6" cstate="print"/>
            <a:stretch>
              <a:fillRect/>
            </a:stretch>
          </p:blipFill>
          <p:spPr>
            <a:xfrm>
              <a:off x="543185" y="4830172"/>
              <a:ext cx="125350" cy="167133"/>
            </a:xfrm>
            <a:prstGeom prst="rect">
              <a:avLst/>
            </a:prstGeom>
          </p:spPr>
        </p:pic>
      </p:grpSp>
      <p:sp>
        <p:nvSpPr>
          <p:cNvPr id="13" name="object 13" descr=""/>
          <p:cNvSpPr txBox="1"/>
          <p:nvPr/>
        </p:nvSpPr>
        <p:spPr>
          <a:xfrm>
            <a:off x="530485" y="3447071"/>
            <a:ext cx="360045" cy="256540"/>
          </a:xfrm>
          <a:prstGeom prst="rect">
            <a:avLst/>
          </a:prstGeom>
        </p:spPr>
        <p:txBody>
          <a:bodyPr wrap="square" lIns="0" tIns="13970" rIns="0" bIns="0" rtlCol="0" vert="horz">
            <a:spAutoFit/>
          </a:bodyPr>
          <a:lstStyle/>
          <a:p>
            <a:pPr marL="12700">
              <a:lnSpc>
                <a:spcPct val="100000"/>
              </a:lnSpc>
              <a:spcBef>
                <a:spcPts val="110"/>
              </a:spcBef>
            </a:pPr>
            <a:r>
              <a:rPr dirty="0" sz="1450" spc="-150">
                <a:solidFill>
                  <a:srgbClr val="1D40AF"/>
                </a:solidFill>
                <a:latin typeface="SimSun"/>
                <a:cs typeface="SimSun"/>
              </a:rPr>
              <a:t>考</a:t>
            </a:r>
            <a:r>
              <a:rPr dirty="0" sz="1500" spc="-114">
                <a:solidFill>
                  <a:srgbClr val="1D40AF"/>
                </a:solidFill>
                <a:latin typeface="SimSun"/>
                <a:cs typeface="SimSun"/>
              </a:rPr>
              <a:t>察</a:t>
            </a:r>
            <a:endParaRPr sz="1500">
              <a:latin typeface="SimSun"/>
              <a:cs typeface="SimSun"/>
            </a:endParaRPr>
          </a:p>
        </p:txBody>
      </p:sp>
      <p:sp>
        <p:nvSpPr>
          <p:cNvPr id="14" name="object 14" descr=""/>
          <p:cNvSpPr txBox="1"/>
          <p:nvPr/>
        </p:nvSpPr>
        <p:spPr>
          <a:xfrm>
            <a:off x="781186" y="3848095"/>
            <a:ext cx="3335020" cy="206375"/>
          </a:xfrm>
          <a:prstGeom prst="rect">
            <a:avLst/>
          </a:prstGeom>
        </p:spPr>
        <p:txBody>
          <a:bodyPr wrap="square" lIns="0" tIns="17145" rIns="0" bIns="0" rtlCol="0" vert="horz">
            <a:spAutoFit/>
          </a:bodyPr>
          <a:lstStyle/>
          <a:p>
            <a:pPr marL="12700">
              <a:lnSpc>
                <a:spcPct val="100000"/>
              </a:lnSpc>
              <a:spcBef>
                <a:spcPts val="135"/>
              </a:spcBef>
            </a:pPr>
            <a:r>
              <a:rPr dirty="0" sz="1150" spc="-5">
                <a:latin typeface="PMingLiU"/>
                <a:cs typeface="PMingLiU"/>
              </a:rPr>
              <a:t>ガウス分布により立ち上がり桁数の最大値が増加</a:t>
            </a:r>
            <a:endParaRPr sz="1150">
              <a:latin typeface="PMingLiU"/>
              <a:cs typeface="PMingLiU"/>
            </a:endParaRPr>
          </a:p>
        </p:txBody>
      </p:sp>
      <p:sp>
        <p:nvSpPr>
          <p:cNvPr id="15" name="object 15" descr=""/>
          <p:cNvSpPr txBox="1"/>
          <p:nvPr/>
        </p:nvSpPr>
        <p:spPr>
          <a:xfrm>
            <a:off x="822970" y="4153950"/>
            <a:ext cx="3830320" cy="493395"/>
          </a:xfrm>
          <a:prstGeom prst="rect">
            <a:avLst/>
          </a:prstGeom>
        </p:spPr>
        <p:txBody>
          <a:bodyPr wrap="square" lIns="0" tIns="11430" rIns="0" bIns="0" rtlCol="0" vert="horz">
            <a:spAutoFit/>
          </a:bodyPr>
          <a:lstStyle/>
          <a:p>
            <a:pPr marL="12700" marR="5080">
              <a:lnSpc>
                <a:spcPct val="133500"/>
              </a:lnSpc>
              <a:spcBef>
                <a:spcPts val="90"/>
              </a:spcBef>
            </a:pPr>
            <a:r>
              <a:rPr dirty="0" sz="1150" spc="85">
                <a:latin typeface="Segoe UI Symbol"/>
                <a:cs typeface="Segoe UI Symbol"/>
              </a:rPr>
              <a:t>pn</a:t>
            </a:r>
            <a:r>
              <a:rPr dirty="0" sz="1150">
                <a:latin typeface="PMingLiU"/>
                <a:cs typeface="PMingLiU"/>
              </a:rPr>
              <a:t>接合界面の不純物濃度分布をガウス分布にしたことで</a:t>
            </a:r>
            <a:r>
              <a:rPr dirty="0" sz="1150" spc="5">
                <a:latin typeface="PMingLiU"/>
                <a:cs typeface="PMingLiU"/>
              </a:rPr>
              <a:t> </a:t>
            </a:r>
            <a:r>
              <a:rPr dirty="0" sz="1150" spc="150">
                <a:latin typeface="Segoe UI Symbol"/>
                <a:cs typeface="Segoe UI Symbol"/>
              </a:rPr>
              <a:t>n+</a:t>
            </a:r>
            <a:r>
              <a:rPr dirty="0" sz="1150" spc="-5">
                <a:latin typeface="PMingLiU"/>
                <a:cs typeface="PMingLiU"/>
              </a:rPr>
              <a:t>領域の長さが少し増加</a:t>
            </a:r>
            <a:endParaRPr sz="1150">
              <a:latin typeface="PMingLiU"/>
              <a:cs typeface="PMingLiU"/>
            </a:endParaRPr>
          </a:p>
        </p:txBody>
      </p:sp>
      <p:sp>
        <p:nvSpPr>
          <p:cNvPr id="16" name="object 16" descr=""/>
          <p:cNvSpPr txBox="1"/>
          <p:nvPr/>
        </p:nvSpPr>
        <p:spPr>
          <a:xfrm>
            <a:off x="781186" y="4800758"/>
            <a:ext cx="3936365" cy="206375"/>
          </a:xfrm>
          <a:prstGeom prst="rect">
            <a:avLst/>
          </a:prstGeom>
        </p:spPr>
        <p:txBody>
          <a:bodyPr wrap="square" lIns="0" tIns="17145" rIns="0" bIns="0" rtlCol="0" vert="horz">
            <a:spAutoFit/>
          </a:bodyPr>
          <a:lstStyle/>
          <a:p>
            <a:pPr marL="12700">
              <a:lnSpc>
                <a:spcPct val="100000"/>
              </a:lnSpc>
              <a:spcBef>
                <a:spcPts val="135"/>
              </a:spcBef>
            </a:pPr>
            <a:r>
              <a:rPr dirty="0" sz="1150" spc="-5">
                <a:latin typeface="PMingLiU"/>
                <a:cs typeface="PMingLiU"/>
              </a:rPr>
              <a:t>正孔よりも移動度の高い電子が増えたことで電流が増加？</a:t>
            </a:r>
            <a:endParaRPr sz="1150">
              <a:latin typeface="PMingLiU"/>
              <a:cs typeface="PMingLiU"/>
            </a:endParaRPr>
          </a:p>
        </p:txBody>
      </p:sp>
      <p:grpSp>
        <p:nvGrpSpPr>
          <p:cNvPr id="17" name="object 17" descr=""/>
          <p:cNvGrpSpPr/>
          <p:nvPr/>
        </p:nvGrpSpPr>
        <p:grpSpPr>
          <a:xfrm>
            <a:off x="5548848" y="1002803"/>
            <a:ext cx="4813935" cy="5883275"/>
            <a:chOff x="5548848" y="1002803"/>
            <a:chExt cx="4813935" cy="5883275"/>
          </a:xfrm>
        </p:grpSpPr>
        <p:sp>
          <p:nvSpPr>
            <p:cNvPr id="18" name="object 18" descr=""/>
            <p:cNvSpPr/>
            <p:nvPr/>
          </p:nvSpPr>
          <p:spPr>
            <a:xfrm>
              <a:off x="5548848" y="1002803"/>
              <a:ext cx="4813935" cy="5883275"/>
            </a:xfrm>
            <a:custGeom>
              <a:avLst/>
              <a:gdLst/>
              <a:ahLst/>
              <a:cxnLst/>
              <a:rect l="l" t="t" r="r" b="b"/>
              <a:pathLst>
                <a:path w="4813934" h="5883275">
                  <a:moveTo>
                    <a:pt x="4750995" y="5883116"/>
                  </a:moveTo>
                  <a:lnTo>
                    <a:pt x="62463" y="5883116"/>
                  </a:lnTo>
                  <a:lnTo>
                    <a:pt x="58116" y="5882687"/>
                  </a:lnTo>
                  <a:lnTo>
                    <a:pt x="22684" y="5866638"/>
                  </a:lnTo>
                  <a:lnTo>
                    <a:pt x="2140" y="5833609"/>
                  </a:lnTo>
                  <a:lnTo>
                    <a:pt x="0" y="5820652"/>
                  </a:lnTo>
                  <a:lnTo>
                    <a:pt x="0" y="5816263"/>
                  </a:lnTo>
                  <a:lnTo>
                    <a:pt x="0" y="62463"/>
                  </a:lnTo>
                  <a:lnTo>
                    <a:pt x="13705" y="26061"/>
                  </a:lnTo>
                  <a:lnTo>
                    <a:pt x="45324" y="3408"/>
                  </a:lnTo>
                  <a:lnTo>
                    <a:pt x="62463" y="0"/>
                  </a:lnTo>
                  <a:lnTo>
                    <a:pt x="4750995" y="0"/>
                  </a:lnTo>
                  <a:lnTo>
                    <a:pt x="4787397" y="13705"/>
                  </a:lnTo>
                  <a:lnTo>
                    <a:pt x="4810049" y="45325"/>
                  </a:lnTo>
                  <a:lnTo>
                    <a:pt x="4813459" y="62463"/>
                  </a:lnTo>
                  <a:lnTo>
                    <a:pt x="4813459" y="5820652"/>
                  </a:lnTo>
                  <a:lnTo>
                    <a:pt x="4799752" y="5857054"/>
                  </a:lnTo>
                  <a:lnTo>
                    <a:pt x="4768133" y="5879706"/>
                  </a:lnTo>
                  <a:lnTo>
                    <a:pt x="4755342" y="5882688"/>
                  </a:lnTo>
                  <a:lnTo>
                    <a:pt x="4750995" y="5883116"/>
                  </a:lnTo>
                  <a:close/>
                </a:path>
              </a:pathLst>
            </a:custGeom>
            <a:solidFill>
              <a:srgbClr val="FFFFFF">
                <a:alpha val="94898"/>
              </a:srgbClr>
            </a:solidFill>
          </p:spPr>
          <p:txBody>
            <a:bodyPr wrap="square" lIns="0" tIns="0" rIns="0" bIns="0" rtlCol="0"/>
            <a:lstStyle/>
            <a:p/>
          </p:txBody>
        </p:sp>
        <p:sp>
          <p:nvSpPr>
            <p:cNvPr id="19" name="object 19" descr=""/>
            <p:cNvSpPr/>
            <p:nvPr/>
          </p:nvSpPr>
          <p:spPr>
            <a:xfrm>
              <a:off x="5757765" y="5607345"/>
              <a:ext cx="4396105" cy="902969"/>
            </a:xfrm>
            <a:custGeom>
              <a:avLst/>
              <a:gdLst/>
              <a:ahLst/>
              <a:cxnLst/>
              <a:rect l="l" t="t" r="r" b="b"/>
              <a:pathLst>
                <a:path w="4396105" h="902970">
                  <a:moveTo>
                    <a:pt x="4333160" y="902523"/>
                  </a:moveTo>
                  <a:lnTo>
                    <a:pt x="62464" y="902523"/>
                  </a:lnTo>
                  <a:lnTo>
                    <a:pt x="58116" y="902095"/>
                  </a:lnTo>
                  <a:lnTo>
                    <a:pt x="22685" y="886045"/>
                  </a:lnTo>
                  <a:lnTo>
                    <a:pt x="2140" y="853017"/>
                  </a:lnTo>
                  <a:lnTo>
                    <a:pt x="0" y="840059"/>
                  </a:lnTo>
                  <a:lnTo>
                    <a:pt x="0" y="835669"/>
                  </a:lnTo>
                  <a:lnTo>
                    <a:pt x="0" y="62463"/>
                  </a:lnTo>
                  <a:lnTo>
                    <a:pt x="13705" y="26060"/>
                  </a:lnTo>
                  <a:lnTo>
                    <a:pt x="45324" y="3408"/>
                  </a:lnTo>
                  <a:lnTo>
                    <a:pt x="62464" y="0"/>
                  </a:lnTo>
                  <a:lnTo>
                    <a:pt x="4333160" y="0"/>
                  </a:lnTo>
                  <a:lnTo>
                    <a:pt x="4369561" y="13705"/>
                  </a:lnTo>
                  <a:lnTo>
                    <a:pt x="4392214" y="45324"/>
                  </a:lnTo>
                  <a:lnTo>
                    <a:pt x="4395624" y="62463"/>
                  </a:lnTo>
                  <a:lnTo>
                    <a:pt x="4395624" y="840059"/>
                  </a:lnTo>
                  <a:lnTo>
                    <a:pt x="4381917" y="876460"/>
                  </a:lnTo>
                  <a:lnTo>
                    <a:pt x="4350297" y="899113"/>
                  </a:lnTo>
                  <a:lnTo>
                    <a:pt x="4337508" y="902095"/>
                  </a:lnTo>
                  <a:lnTo>
                    <a:pt x="4333160" y="902523"/>
                  </a:lnTo>
                  <a:close/>
                </a:path>
              </a:pathLst>
            </a:custGeom>
            <a:solidFill>
              <a:srgbClr val="EFF5FF"/>
            </a:solidFill>
          </p:spPr>
          <p:txBody>
            <a:bodyPr wrap="square" lIns="0" tIns="0" rIns="0" bIns="0" rtlCol="0"/>
            <a:lstStyle/>
            <a:p/>
          </p:txBody>
        </p:sp>
      </p:grpSp>
      <p:sp>
        <p:nvSpPr>
          <p:cNvPr id="20" name="object 20" descr=""/>
          <p:cNvSpPr txBox="1"/>
          <p:nvPr/>
        </p:nvSpPr>
        <p:spPr>
          <a:xfrm>
            <a:off x="5745065" y="1175910"/>
            <a:ext cx="828040" cy="294005"/>
          </a:xfrm>
          <a:prstGeom prst="rect">
            <a:avLst/>
          </a:prstGeom>
        </p:spPr>
        <p:txBody>
          <a:bodyPr wrap="square" lIns="0" tIns="13970" rIns="0" bIns="0" rtlCol="0" vert="horz">
            <a:spAutoFit/>
          </a:bodyPr>
          <a:lstStyle/>
          <a:p>
            <a:pPr marL="12700">
              <a:lnSpc>
                <a:spcPct val="100000"/>
              </a:lnSpc>
              <a:spcBef>
                <a:spcPts val="110"/>
              </a:spcBef>
            </a:pPr>
            <a:r>
              <a:rPr dirty="0" sz="1750" spc="-160">
                <a:solidFill>
                  <a:srgbClr val="1D3A8A"/>
                </a:solidFill>
                <a:latin typeface="SimSun"/>
                <a:cs typeface="SimSun"/>
              </a:rPr>
              <a:t>特性比較</a:t>
            </a:r>
            <a:endParaRPr sz="1750">
              <a:latin typeface="SimSun"/>
              <a:cs typeface="SimSun"/>
            </a:endParaRPr>
          </a:p>
        </p:txBody>
      </p:sp>
      <p:grpSp>
        <p:nvGrpSpPr>
          <p:cNvPr id="21" name="object 21" descr=""/>
          <p:cNvGrpSpPr/>
          <p:nvPr/>
        </p:nvGrpSpPr>
        <p:grpSpPr>
          <a:xfrm>
            <a:off x="5757499" y="1679696"/>
            <a:ext cx="4396105" cy="3727450"/>
            <a:chOff x="5757499" y="1679696"/>
            <a:chExt cx="4396105" cy="3727450"/>
          </a:xfrm>
        </p:grpSpPr>
        <p:pic>
          <p:nvPicPr>
            <p:cNvPr id="22" name="object 22" descr=""/>
            <p:cNvPicPr/>
            <p:nvPr/>
          </p:nvPicPr>
          <p:blipFill>
            <a:blip r:embed="rId7" cstate="print"/>
            <a:stretch>
              <a:fillRect/>
            </a:stretch>
          </p:blipFill>
          <p:spPr>
            <a:xfrm>
              <a:off x="5757765" y="1679696"/>
              <a:ext cx="4395623" cy="2005607"/>
            </a:xfrm>
            <a:prstGeom prst="rect">
              <a:avLst/>
            </a:prstGeom>
          </p:spPr>
        </p:pic>
        <p:sp>
          <p:nvSpPr>
            <p:cNvPr id="23" name="object 23" descr=""/>
            <p:cNvSpPr/>
            <p:nvPr/>
          </p:nvSpPr>
          <p:spPr>
            <a:xfrm>
              <a:off x="5761944" y="3956897"/>
              <a:ext cx="1821814" cy="1445895"/>
            </a:xfrm>
            <a:custGeom>
              <a:avLst/>
              <a:gdLst/>
              <a:ahLst/>
              <a:cxnLst/>
              <a:rect l="l" t="t" r="r" b="b"/>
              <a:pathLst>
                <a:path w="1821815" h="1445895">
                  <a:moveTo>
                    <a:pt x="0" y="1383033"/>
                  </a:moveTo>
                  <a:lnTo>
                    <a:pt x="0" y="62675"/>
                  </a:lnTo>
                  <a:lnTo>
                    <a:pt x="0" y="58559"/>
                  </a:lnTo>
                  <a:lnTo>
                    <a:pt x="401" y="54484"/>
                  </a:lnTo>
                  <a:lnTo>
                    <a:pt x="1204" y="50447"/>
                  </a:lnTo>
                  <a:lnTo>
                    <a:pt x="2006" y="46411"/>
                  </a:lnTo>
                  <a:lnTo>
                    <a:pt x="3195" y="42491"/>
                  </a:lnTo>
                  <a:lnTo>
                    <a:pt x="18356" y="18357"/>
                  </a:lnTo>
                  <a:lnTo>
                    <a:pt x="21266" y="15446"/>
                  </a:lnTo>
                  <a:lnTo>
                    <a:pt x="24432" y="12849"/>
                  </a:lnTo>
                  <a:lnTo>
                    <a:pt x="27854" y="10562"/>
                  </a:lnTo>
                  <a:lnTo>
                    <a:pt x="31275" y="8276"/>
                  </a:lnTo>
                  <a:lnTo>
                    <a:pt x="58559" y="0"/>
                  </a:lnTo>
                  <a:lnTo>
                    <a:pt x="62675" y="0"/>
                  </a:lnTo>
                  <a:lnTo>
                    <a:pt x="1759085" y="0"/>
                  </a:lnTo>
                  <a:lnTo>
                    <a:pt x="1763200" y="0"/>
                  </a:lnTo>
                  <a:lnTo>
                    <a:pt x="1767276" y="401"/>
                  </a:lnTo>
                  <a:lnTo>
                    <a:pt x="1803403" y="18357"/>
                  </a:lnTo>
                  <a:lnTo>
                    <a:pt x="1806313" y="21266"/>
                  </a:lnTo>
                  <a:lnTo>
                    <a:pt x="1808911" y="24432"/>
                  </a:lnTo>
                  <a:lnTo>
                    <a:pt x="1811197" y="27854"/>
                  </a:lnTo>
                  <a:lnTo>
                    <a:pt x="1813483" y="31275"/>
                  </a:lnTo>
                  <a:lnTo>
                    <a:pt x="1820555" y="50447"/>
                  </a:lnTo>
                  <a:lnTo>
                    <a:pt x="1821359" y="54484"/>
                  </a:lnTo>
                  <a:lnTo>
                    <a:pt x="1821760" y="58559"/>
                  </a:lnTo>
                  <a:lnTo>
                    <a:pt x="1821760" y="62675"/>
                  </a:lnTo>
                  <a:lnTo>
                    <a:pt x="1821760" y="1383033"/>
                  </a:lnTo>
                  <a:lnTo>
                    <a:pt x="1821760" y="1387148"/>
                  </a:lnTo>
                  <a:lnTo>
                    <a:pt x="1821359" y="1391224"/>
                  </a:lnTo>
                  <a:lnTo>
                    <a:pt x="1820555" y="1395260"/>
                  </a:lnTo>
                  <a:lnTo>
                    <a:pt x="1819753" y="1399296"/>
                  </a:lnTo>
                  <a:lnTo>
                    <a:pt x="1818564" y="1403215"/>
                  </a:lnTo>
                  <a:lnTo>
                    <a:pt x="1816989" y="1407018"/>
                  </a:lnTo>
                  <a:lnTo>
                    <a:pt x="1815414" y="1410819"/>
                  </a:lnTo>
                  <a:lnTo>
                    <a:pt x="1813483" y="1414432"/>
                  </a:lnTo>
                  <a:lnTo>
                    <a:pt x="1811197" y="1417854"/>
                  </a:lnTo>
                  <a:lnTo>
                    <a:pt x="1808911" y="1421276"/>
                  </a:lnTo>
                  <a:lnTo>
                    <a:pt x="1806313" y="1424441"/>
                  </a:lnTo>
                  <a:lnTo>
                    <a:pt x="1803403" y="1427351"/>
                  </a:lnTo>
                  <a:lnTo>
                    <a:pt x="1800493" y="1430261"/>
                  </a:lnTo>
                  <a:lnTo>
                    <a:pt x="1797327" y="1432859"/>
                  </a:lnTo>
                  <a:lnTo>
                    <a:pt x="1793905" y="1435145"/>
                  </a:lnTo>
                  <a:lnTo>
                    <a:pt x="1790483" y="1437431"/>
                  </a:lnTo>
                  <a:lnTo>
                    <a:pt x="1759085" y="1445709"/>
                  </a:lnTo>
                  <a:lnTo>
                    <a:pt x="62675" y="1445709"/>
                  </a:lnTo>
                  <a:lnTo>
                    <a:pt x="27853" y="1435145"/>
                  </a:lnTo>
                  <a:lnTo>
                    <a:pt x="24432" y="1432859"/>
                  </a:lnTo>
                  <a:lnTo>
                    <a:pt x="21266" y="1430261"/>
                  </a:lnTo>
                  <a:lnTo>
                    <a:pt x="18356" y="1427351"/>
                  </a:lnTo>
                  <a:lnTo>
                    <a:pt x="15446" y="1424441"/>
                  </a:lnTo>
                  <a:lnTo>
                    <a:pt x="1204" y="1395260"/>
                  </a:lnTo>
                  <a:lnTo>
                    <a:pt x="401" y="1391224"/>
                  </a:lnTo>
                  <a:lnTo>
                    <a:pt x="0" y="1387148"/>
                  </a:lnTo>
                  <a:lnTo>
                    <a:pt x="0" y="1383033"/>
                  </a:lnTo>
                  <a:close/>
                </a:path>
              </a:pathLst>
            </a:custGeom>
            <a:ln w="8356">
              <a:solidFill>
                <a:srgbClr val="D0D5DA"/>
              </a:solidFill>
            </a:ln>
          </p:spPr>
          <p:txBody>
            <a:bodyPr wrap="square" lIns="0" tIns="0" rIns="0" bIns="0" rtlCol="0"/>
            <a:lstStyle/>
            <a:p/>
          </p:txBody>
        </p:sp>
      </p:grpSp>
      <p:sp>
        <p:nvSpPr>
          <p:cNvPr id="24" name="object 24" descr=""/>
          <p:cNvSpPr txBox="1"/>
          <p:nvPr/>
        </p:nvSpPr>
        <p:spPr>
          <a:xfrm>
            <a:off x="5995375" y="4044898"/>
            <a:ext cx="1356360" cy="230504"/>
          </a:xfrm>
          <a:prstGeom prst="rect">
            <a:avLst/>
          </a:prstGeom>
        </p:spPr>
        <p:txBody>
          <a:bodyPr wrap="square" lIns="0" tIns="12065" rIns="0" bIns="0" rtlCol="0" vert="horz">
            <a:spAutoFit/>
          </a:bodyPr>
          <a:lstStyle/>
          <a:p>
            <a:pPr marL="12700">
              <a:lnSpc>
                <a:spcPct val="100000"/>
              </a:lnSpc>
              <a:spcBef>
                <a:spcPts val="95"/>
              </a:spcBef>
            </a:pPr>
            <a:r>
              <a:rPr dirty="0" sz="1300" spc="-125">
                <a:solidFill>
                  <a:srgbClr val="1D40AF"/>
                </a:solidFill>
                <a:latin typeface="SimSun"/>
                <a:cs typeface="SimSun"/>
              </a:rPr>
              <a:t>階段</a:t>
            </a:r>
            <a:r>
              <a:rPr dirty="0" sz="1350" spc="-185">
                <a:solidFill>
                  <a:srgbClr val="1D40AF"/>
                </a:solidFill>
                <a:latin typeface="SimSun"/>
                <a:cs typeface="SimSun"/>
              </a:rPr>
              <a:t>接</a:t>
            </a:r>
            <a:r>
              <a:rPr dirty="0" sz="1300" spc="-125">
                <a:solidFill>
                  <a:srgbClr val="1D40AF"/>
                </a:solidFill>
                <a:latin typeface="SimSun"/>
                <a:cs typeface="SimSun"/>
              </a:rPr>
              <a:t>合</a:t>
            </a:r>
            <a:r>
              <a:rPr dirty="0" sz="1150">
                <a:solidFill>
                  <a:srgbClr val="1D40AF"/>
                </a:solidFill>
                <a:latin typeface="PMingLiU"/>
                <a:cs typeface="PMingLiU"/>
              </a:rPr>
              <a:t>（</a:t>
            </a:r>
            <a:r>
              <a:rPr dirty="0" sz="1300" spc="-125">
                <a:solidFill>
                  <a:srgbClr val="1D40AF"/>
                </a:solidFill>
                <a:latin typeface="SimSun"/>
                <a:cs typeface="SimSun"/>
              </a:rPr>
              <a:t>条件</a:t>
            </a:r>
            <a:r>
              <a:rPr dirty="0" sz="1150" spc="-25" b="1">
                <a:solidFill>
                  <a:srgbClr val="1D40AF"/>
                </a:solidFill>
                <a:latin typeface="Yu Gothic"/>
                <a:cs typeface="Yu Gothic"/>
              </a:rPr>
              <a:t>①</a:t>
            </a:r>
            <a:r>
              <a:rPr dirty="0" sz="1150" spc="-25">
                <a:solidFill>
                  <a:srgbClr val="1D40AF"/>
                </a:solidFill>
                <a:latin typeface="PMingLiU"/>
                <a:cs typeface="PMingLiU"/>
              </a:rPr>
              <a:t>）</a:t>
            </a:r>
            <a:endParaRPr sz="1150">
              <a:latin typeface="PMingLiU"/>
              <a:cs typeface="PMingLiU"/>
            </a:endParaRPr>
          </a:p>
        </p:txBody>
      </p:sp>
      <p:grpSp>
        <p:nvGrpSpPr>
          <p:cNvPr id="25" name="object 25" descr=""/>
          <p:cNvGrpSpPr/>
          <p:nvPr/>
        </p:nvGrpSpPr>
        <p:grpSpPr>
          <a:xfrm>
            <a:off x="5866403" y="3952452"/>
            <a:ext cx="4287520" cy="1454785"/>
            <a:chOff x="5866403" y="3952452"/>
            <a:chExt cx="4287520" cy="1454785"/>
          </a:xfrm>
        </p:grpSpPr>
        <p:pic>
          <p:nvPicPr>
            <p:cNvPr id="26" name="object 26" descr=""/>
            <p:cNvPicPr/>
            <p:nvPr/>
          </p:nvPicPr>
          <p:blipFill>
            <a:blip r:embed="rId8" cstate="print"/>
            <a:stretch>
              <a:fillRect/>
            </a:stretch>
          </p:blipFill>
          <p:spPr>
            <a:xfrm>
              <a:off x="5866403" y="4362196"/>
              <a:ext cx="1612843" cy="919236"/>
            </a:xfrm>
            <a:prstGeom prst="rect">
              <a:avLst/>
            </a:prstGeom>
          </p:spPr>
        </p:pic>
        <p:sp>
          <p:nvSpPr>
            <p:cNvPr id="27" name="object 27" descr=""/>
            <p:cNvSpPr/>
            <p:nvPr/>
          </p:nvSpPr>
          <p:spPr>
            <a:xfrm>
              <a:off x="8327451" y="3956897"/>
              <a:ext cx="1821814" cy="1445895"/>
            </a:xfrm>
            <a:custGeom>
              <a:avLst/>
              <a:gdLst/>
              <a:ahLst/>
              <a:cxnLst/>
              <a:rect l="l" t="t" r="r" b="b"/>
              <a:pathLst>
                <a:path w="1821815" h="1445895">
                  <a:moveTo>
                    <a:pt x="0" y="1383033"/>
                  </a:moveTo>
                  <a:lnTo>
                    <a:pt x="0" y="62675"/>
                  </a:lnTo>
                  <a:lnTo>
                    <a:pt x="0" y="58559"/>
                  </a:lnTo>
                  <a:lnTo>
                    <a:pt x="401" y="54484"/>
                  </a:lnTo>
                  <a:lnTo>
                    <a:pt x="1203" y="50447"/>
                  </a:lnTo>
                  <a:lnTo>
                    <a:pt x="2006" y="46411"/>
                  </a:lnTo>
                  <a:lnTo>
                    <a:pt x="3194" y="42491"/>
                  </a:lnTo>
                  <a:lnTo>
                    <a:pt x="4770" y="38690"/>
                  </a:lnTo>
                  <a:lnTo>
                    <a:pt x="6344" y="34887"/>
                  </a:lnTo>
                  <a:lnTo>
                    <a:pt x="8275" y="31275"/>
                  </a:lnTo>
                  <a:lnTo>
                    <a:pt x="10562" y="27854"/>
                  </a:lnTo>
                  <a:lnTo>
                    <a:pt x="12848" y="24432"/>
                  </a:lnTo>
                  <a:lnTo>
                    <a:pt x="15446" y="21266"/>
                  </a:lnTo>
                  <a:lnTo>
                    <a:pt x="18356" y="18357"/>
                  </a:lnTo>
                  <a:lnTo>
                    <a:pt x="21266" y="15446"/>
                  </a:lnTo>
                  <a:lnTo>
                    <a:pt x="24432" y="12849"/>
                  </a:lnTo>
                  <a:lnTo>
                    <a:pt x="27854" y="10562"/>
                  </a:lnTo>
                  <a:lnTo>
                    <a:pt x="31276" y="8276"/>
                  </a:lnTo>
                  <a:lnTo>
                    <a:pt x="58560" y="0"/>
                  </a:lnTo>
                  <a:lnTo>
                    <a:pt x="62675" y="0"/>
                  </a:lnTo>
                  <a:lnTo>
                    <a:pt x="1759085" y="0"/>
                  </a:lnTo>
                  <a:lnTo>
                    <a:pt x="1763200" y="0"/>
                  </a:lnTo>
                  <a:lnTo>
                    <a:pt x="1767276" y="401"/>
                  </a:lnTo>
                  <a:lnTo>
                    <a:pt x="1793905" y="10562"/>
                  </a:lnTo>
                  <a:lnTo>
                    <a:pt x="1797327" y="12848"/>
                  </a:lnTo>
                  <a:lnTo>
                    <a:pt x="1816989" y="38690"/>
                  </a:lnTo>
                  <a:lnTo>
                    <a:pt x="1818565" y="42491"/>
                  </a:lnTo>
                  <a:lnTo>
                    <a:pt x="1819753" y="46411"/>
                  </a:lnTo>
                  <a:lnTo>
                    <a:pt x="1820556" y="50447"/>
                  </a:lnTo>
                  <a:lnTo>
                    <a:pt x="1821359" y="54484"/>
                  </a:lnTo>
                  <a:lnTo>
                    <a:pt x="1821760" y="58559"/>
                  </a:lnTo>
                  <a:lnTo>
                    <a:pt x="1821761" y="62675"/>
                  </a:lnTo>
                  <a:lnTo>
                    <a:pt x="1821761" y="1383033"/>
                  </a:lnTo>
                  <a:lnTo>
                    <a:pt x="1821760" y="1387148"/>
                  </a:lnTo>
                  <a:lnTo>
                    <a:pt x="1821359" y="1391224"/>
                  </a:lnTo>
                  <a:lnTo>
                    <a:pt x="1820556" y="1395260"/>
                  </a:lnTo>
                  <a:lnTo>
                    <a:pt x="1819753" y="1399296"/>
                  </a:lnTo>
                  <a:lnTo>
                    <a:pt x="1818565" y="1403215"/>
                  </a:lnTo>
                  <a:lnTo>
                    <a:pt x="1816989" y="1407018"/>
                  </a:lnTo>
                  <a:lnTo>
                    <a:pt x="1815413" y="1410819"/>
                  </a:lnTo>
                  <a:lnTo>
                    <a:pt x="1793905" y="1435145"/>
                  </a:lnTo>
                  <a:lnTo>
                    <a:pt x="1790483" y="1437431"/>
                  </a:lnTo>
                  <a:lnTo>
                    <a:pt x="1759085" y="1445709"/>
                  </a:lnTo>
                  <a:lnTo>
                    <a:pt x="62675" y="1445709"/>
                  </a:lnTo>
                  <a:lnTo>
                    <a:pt x="27853" y="1435145"/>
                  </a:lnTo>
                  <a:lnTo>
                    <a:pt x="24432" y="1432859"/>
                  </a:lnTo>
                  <a:lnTo>
                    <a:pt x="21266" y="1430261"/>
                  </a:lnTo>
                  <a:lnTo>
                    <a:pt x="18356" y="1427351"/>
                  </a:lnTo>
                  <a:lnTo>
                    <a:pt x="15446" y="1424441"/>
                  </a:lnTo>
                  <a:lnTo>
                    <a:pt x="4770" y="1407018"/>
                  </a:lnTo>
                  <a:lnTo>
                    <a:pt x="3194" y="1403215"/>
                  </a:lnTo>
                  <a:lnTo>
                    <a:pt x="2006" y="1399296"/>
                  </a:lnTo>
                  <a:lnTo>
                    <a:pt x="1203" y="1395260"/>
                  </a:lnTo>
                  <a:lnTo>
                    <a:pt x="401" y="1391224"/>
                  </a:lnTo>
                  <a:lnTo>
                    <a:pt x="0" y="1387148"/>
                  </a:lnTo>
                  <a:lnTo>
                    <a:pt x="0" y="1383033"/>
                  </a:lnTo>
                  <a:close/>
                </a:path>
              </a:pathLst>
            </a:custGeom>
            <a:ln w="8356">
              <a:solidFill>
                <a:srgbClr val="D0D5DA"/>
              </a:solidFill>
            </a:ln>
          </p:spPr>
          <p:txBody>
            <a:bodyPr wrap="square" lIns="0" tIns="0" rIns="0" bIns="0" rtlCol="0"/>
            <a:lstStyle/>
            <a:p/>
          </p:txBody>
        </p:sp>
      </p:grpSp>
      <p:sp>
        <p:nvSpPr>
          <p:cNvPr id="28" name="object 28" descr=""/>
          <p:cNvSpPr txBox="1"/>
          <p:nvPr/>
        </p:nvSpPr>
        <p:spPr>
          <a:xfrm>
            <a:off x="8484365" y="4049651"/>
            <a:ext cx="1506855" cy="224790"/>
          </a:xfrm>
          <a:prstGeom prst="rect">
            <a:avLst/>
          </a:prstGeom>
        </p:spPr>
        <p:txBody>
          <a:bodyPr wrap="square" lIns="0" tIns="13335" rIns="0" bIns="0" rtlCol="0" vert="horz">
            <a:spAutoFit/>
          </a:bodyPr>
          <a:lstStyle/>
          <a:p>
            <a:pPr marL="12700">
              <a:lnSpc>
                <a:spcPct val="100000"/>
              </a:lnSpc>
              <a:spcBef>
                <a:spcPts val="105"/>
              </a:spcBef>
            </a:pPr>
            <a:r>
              <a:rPr dirty="0" sz="1250" spc="-80">
                <a:solidFill>
                  <a:srgbClr val="1D40AF"/>
                </a:solidFill>
                <a:latin typeface="PMingLiU"/>
                <a:cs typeface="PMingLiU"/>
              </a:rPr>
              <a:t>ガウス</a:t>
            </a:r>
            <a:r>
              <a:rPr dirty="0" sz="1300" spc="-125">
                <a:solidFill>
                  <a:srgbClr val="1D40AF"/>
                </a:solidFill>
                <a:latin typeface="SimSun"/>
                <a:cs typeface="SimSun"/>
              </a:rPr>
              <a:t>分布</a:t>
            </a:r>
            <a:r>
              <a:rPr dirty="0" sz="1150">
                <a:solidFill>
                  <a:srgbClr val="1D40AF"/>
                </a:solidFill>
                <a:latin typeface="PMingLiU"/>
                <a:cs typeface="PMingLiU"/>
              </a:rPr>
              <a:t>（</a:t>
            </a:r>
            <a:r>
              <a:rPr dirty="0" sz="1300" spc="-125">
                <a:solidFill>
                  <a:srgbClr val="1D40AF"/>
                </a:solidFill>
                <a:latin typeface="SimSun"/>
                <a:cs typeface="SimSun"/>
              </a:rPr>
              <a:t>条件</a:t>
            </a:r>
            <a:r>
              <a:rPr dirty="0" sz="1150" spc="-25" b="1">
                <a:solidFill>
                  <a:srgbClr val="1D40AF"/>
                </a:solidFill>
                <a:latin typeface="Yu Gothic"/>
                <a:cs typeface="Yu Gothic"/>
              </a:rPr>
              <a:t>➁</a:t>
            </a:r>
            <a:r>
              <a:rPr dirty="0" sz="1150" spc="-25">
                <a:solidFill>
                  <a:srgbClr val="1D40AF"/>
                </a:solidFill>
                <a:latin typeface="PMingLiU"/>
                <a:cs typeface="PMingLiU"/>
              </a:rPr>
              <a:t>）</a:t>
            </a:r>
            <a:endParaRPr sz="1150">
              <a:latin typeface="PMingLiU"/>
              <a:cs typeface="PMingLiU"/>
            </a:endParaRPr>
          </a:p>
        </p:txBody>
      </p:sp>
      <p:grpSp>
        <p:nvGrpSpPr>
          <p:cNvPr id="29" name="object 29" descr=""/>
          <p:cNvGrpSpPr/>
          <p:nvPr/>
        </p:nvGrpSpPr>
        <p:grpSpPr>
          <a:xfrm>
            <a:off x="6317665" y="4362196"/>
            <a:ext cx="3727450" cy="1529715"/>
            <a:chOff x="6317665" y="4362196"/>
            <a:chExt cx="3727450" cy="1529715"/>
          </a:xfrm>
        </p:grpSpPr>
        <p:pic>
          <p:nvPicPr>
            <p:cNvPr id="30" name="object 30" descr=""/>
            <p:cNvPicPr/>
            <p:nvPr/>
          </p:nvPicPr>
          <p:blipFill>
            <a:blip r:embed="rId9" cstate="print"/>
            <a:stretch>
              <a:fillRect/>
            </a:stretch>
          </p:blipFill>
          <p:spPr>
            <a:xfrm>
              <a:off x="8431909" y="4362196"/>
              <a:ext cx="1612843" cy="919236"/>
            </a:xfrm>
            <a:prstGeom prst="rect">
              <a:avLst/>
            </a:prstGeom>
          </p:spPr>
        </p:pic>
        <p:pic>
          <p:nvPicPr>
            <p:cNvPr id="31" name="object 31" descr=""/>
            <p:cNvPicPr/>
            <p:nvPr/>
          </p:nvPicPr>
          <p:blipFill>
            <a:blip r:embed="rId10" cstate="print"/>
            <a:stretch>
              <a:fillRect/>
            </a:stretch>
          </p:blipFill>
          <p:spPr>
            <a:xfrm>
              <a:off x="6317665" y="5741052"/>
              <a:ext cx="150420" cy="150420"/>
            </a:xfrm>
            <a:prstGeom prst="rect">
              <a:avLst/>
            </a:prstGeom>
          </p:spPr>
        </p:pic>
      </p:grpSp>
      <p:sp>
        <p:nvSpPr>
          <p:cNvPr id="32" name="object 32" descr=""/>
          <p:cNvSpPr txBox="1"/>
          <p:nvPr/>
        </p:nvSpPr>
        <p:spPr>
          <a:xfrm>
            <a:off x="780856" y="1612720"/>
            <a:ext cx="2982595" cy="1572260"/>
          </a:xfrm>
          <a:prstGeom prst="rect">
            <a:avLst/>
          </a:prstGeom>
        </p:spPr>
        <p:txBody>
          <a:bodyPr wrap="square" lIns="0" tIns="13970" rIns="0" bIns="0" rtlCol="0" vert="horz">
            <a:spAutoFit/>
          </a:bodyPr>
          <a:lstStyle/>
          <a:p>
            <a:pPr marL="171450" marR="1083310" indent="-133985">
              <a:lnSpc>
                <a:spcPct val="127699"/>
              </a:lnSpc>
              <a:spcBef>
                <a:spcPts val="110"/>
              </a:spcBef>
            </a:pPr>
            <a:r>
              <a:rPr dirty="0" sz="1300" spc="-125">
                <a:latin typeface="SimSun"/>
                <a:cs typeface="SimSun"/>
              </a:rPr>
              <a:t>条件</a:t>
            </a:r>
            <a:r>
              <a:rPr dirty="0" sz="1150" b="1">
                <a:latin typeface="Yu Gothic"/>
                <a:cs typeface="Yu Gothic"/>
              </a:rPr>
              <a:t>①</a:t>
            </a:r>
            <a:r>
              <a:rPr dirty="0" sz="1100">
                <a:latin typeface="PMingLiU"/>
                <a:cs typeface="PMingLiU"/>
              </a:rPr>
              <a:t>：</a:t>
            </a:r>
            <a:r>
              <a:rPr dirty="0" sz="1150">
                <a:latin typeface="Segoe UI Symbol"/>
                <a:cs typeface="Segoe UI Symbol"/>
              </a:rPr>
              <a:t>pn</a:t>
            </a:r>
            <a:r>
              <a:rPr dirty="0" sz="1150" spc="-10">
                <a:latin typeface="PMingLiU"/>
                <a:cs typeface="PMingLiU"/>
              </a:rPr>
              <a:t>接合部階段接合</a:t>
            </a:r>
            <a:r>
              <a:rPr dirty="0" sz="1150">
                <a:latin typeface="PMingLiU"/>
                <a:cs typeface="PMingLiU"/>
              </a:rPr>
              <a:t>最大立ち上がり桁数</a:t>
            </a:r>
            <a:r>
              <a:rPr dirty="0" sz="1150" spc="225">
                <a:latin typeface="Segoe UI Symbol"/>
                <a:cs typeface="Segoe UI Symbol"/>
              </a:rPr>
              <a:t>: </a:t>
            </a:r>
            <a:r>
              <a:rPr dirty="0" sz="1150" spc="120" b="1">
                <a:solidFill>
                  <a:srgbClr val="003366"/>
                </a:solidFill>
                <a:latin typeface="Yu Gothic"/>
                <a:cs typeface="Yu Gothic"/>
              </a:rPr>
              <a:t>7.9</a:t>
            </a:r>
            <a:endParaRPr sz="1150">
              <a:latin typeface="Yu Gothic"/>
              <a:cs typeface="Yu Gothic"/>
            </a:endParaRPr>
          </a:p>
          <a:p>
            <a:pPr marL="171450">
              <a:lnSpc>
                <a:spcPct val="100000"/>
              </a:lnSpc>
              <a:spcBef>
                <a:spcPts val="459"/>
              </a:spcBef>
            </a:pPr>
            <a:r>
              <a:rPr dirty="0" sz="1150">
                <a:latin typeface="PMingLiU"/>
                <a:cs typeface="PMingLiU"/>
              </a:rPr>
              <a:t>条件</a:t>
            </a:r>
            <a:r>
              <a:rPr dirty="0" sz="1150" spc="120">
                <a:latin typeface="Segoe UI Symbol"/>
                <a:cs typeface="Segoe UI Symbol"/>
              </a:rPr>
              <a:t>: </a:t>
            </a:r>
            <a:r>
              <a:rPr dirty="0" sz="1150" spc="145">
                <a:latin typeface="Segoe UI Symbol"/>
                <a:cs typeface="Segoe UI Symbol"/>
              </a:rPr>
              <a:t>Ln=</a:t>
            </a:r>
            <a:r>
              <a:rPr dirty="0" sz="1150" spc="145" b="1">
                <a:solidFill>
                  <a:srgbClr val="003366"/>
                </a:solidFill>
                <a:latin typeface="Yu Gothic"/>
                <a:cs typeface="Yu Gothic"/>
              </a:rPr>
              <a:t>1.2µm</a:t>
            </a:r>
            <a:r>
              <a:rPr dirty="0" sz="1150" spc="120">
                <a:latin typeface="Segoe UI Symbol"/>
                <a:cs typeface="Segoe UI Symbol"/>
              </a:rPr>
              <a:t>, </a:t>
            </a:r>
            <a:r>
              <a:rPr dirty="0" sz="1150" spc="95">
                <a:latin typeface="Segoe UI Symbol"/>
                <a:cs typeface="Segoe UI Symbol"/>
              </a:rPr>
              <a:t>Nn=</a:t>
            </a:r>
            <a:r>
              <a:rPr dirty="0" sz="1150" spc="95" b="1">
                <a:solidFill>
                  <a:srgbClr val="003366"/>
                </a:solidFill>
                <a:latin typeface="Yu Gothic"/>
                <a:cs typeface="Yu Gothic"/>
              </a:rPr>
              <a:t>2×10</a:t>
            </a:r>
            <a:r>
              <a:rPr dirty="0" baseline="29411" sz="1275" spc="142" b="1">
                <a:solidFill>
                  <a:srgbClr val="003366"/>
                </a:solidFill>
                <a:latin typeface="Yu Gothic"/>
                <a:cs typeface="Yu Gothic"/>
              </a:rPr>
              <a:t>19</a:t>
            </a:r>
            <a:r>
              <a:rPr dirty="0" baseline="29411" sz="1275" spc="240" b="1">
                <a:solidFill>
                  <a:srgbClr val="003366"/>
                </a:solidFill>
                <a:latin typeface="Yu Gothic"/>
                <a:cs typeface="Yu Gothic"/>
              </a:rPr>
              <a:t> </a:t>
            </a:r>
            <a:r>
              <a:rPr dirty="0" sz="1150" spc="105">
                <a:latin typeface="Segoe UI Symbol"/>
                <a:cs typeface="Segoe UI Symbol"/>
              </a:rPr>
              <a:t>[cm</a:t>
            </a:r>
            <a:r>
              <a:rPr dirty="0" baseline="29411" sz="1275" spc="157">
                <a:latin typeface="Segoe UI Symbol"/>
                <a:cs typeface="Segoe UI Symbol"/>
              </a:rPr>
              <a:t>-</a:t>
            </a:r>
            <a:r>
              <a:rPr dirty="0" baseline="29411" sz="1275" spc="75">
                <a:latin typeface="Segoe UI Symbol"/>
                <a:cs typeface="Segoe UI Symbol"/>
              </a:rPr>
              <a:t>3</a:t>
            </a:r>
            <a:r>
              <a:rPr dirty="0" sz="1150" spc="50">
                <a:latin typeface="Segoe UI Symbol"/>
                <a:cs typeface="Segoe UI Symbol"/>
              </a:rPr>
              <a:t>]</a:t>
            </a:r>
            <a:endParaRPr sz="1150">
              <a:latin typeface="Segoe UI Symbol"/>
              <a:cs typeface="Segoe UI Symbol"/>
            </a:endParaRPr>
          </a:p>
          <a:p>
            <a:pPr marL="171450" marR="211454" indent="-133985">
              <a:lnSpc>
                <a:spcPct val="127699"/>
              </a:lnSpc>
              <a:spcBef>
                <a:spcPts val="869"/>
              </a:spcBef>
            </a:pPr>
            <a:r>
              <a:rPr dirty="0" sz="1300" spc="-125">
                <a:latin typeface="SimSun"/>
                <a:cs typeface="SimSun"/>
              </a:rPr>
              <a:t>条件</a:t>
            </a:r>
            <a:r>
              <a:rPr dirty="0" sz="1150" b="1">
                <a:latin typeface="Yu Gothic"/>
                <a:cs typeface="Yu Gothic"/>
              </a:rPr>
              <a:t>➁</a:t>
            </a:r>
            <a:r>
              <a:rPr dirty="0" sz="1100">
                <a:latin typeface="PMingLiU"/>
                <a:cs typeface="PMingLiU"/>
              </a:rPr>
              <a:t>：</a:t>
            </a:r>
            <a:r>
              <a:rPr dirty="0" sz="1150">
                <a:latin typeface="Segoe UI Symbol"/>
                <a:cs typeface="Segoe UI Symbol"/>
              </a:rPr>
              <a:t>pn</a:t>
            </a:r>
            <a:r>
              <a:rPr dirty="0" sz="1150" spc="-5">
                <a:latin typeface="PMingLiU"/>
                <a:cs typeface="PMingLiU"/>
              </a:rPr>
              <a:t>接合部不純物濃度ガウス分布</a:t>
            </a:r>
            <a:r>
              <a:rPr dirty="0" sz="1150">
                <a:latin typeface="PMingLiU"/>
                <a:cs typeface="PMingLiU"/>
              </a:rPr>
              <a:t>最大立ち上がり桁数</a:t>
            </a:r>
            <a:r>
              <a:rPr dirty="0" sz="1150" spc="225">
                <a:latin typeface="Segoe UI Symbol"/>
                <a:cs typeface="Segoe UI Symbol"/>
              </a:rPr>
              <a:t>: </a:t>
            </a:r>
            <a:r>
              <a:rPr dirty="0" sz="1150" spc="120" b="1">
                <a:solidFill>
                  <a:srgbClr val="003366"/>
                </a:solidFill>
                <a:latin typeface="Yu Gothic"/>
                <a:cs typeface="Yu Gothic"/>
              </a:rPr>
              <a:t>9.4</a:t>
            </a:r>
            <a:endParaRPr sz="1150">
              <a:latin typeface="Yu Gothic"/>
              <a:cs typeface="Yu Gothic"/>
            </a:endParaRPr>
          </a:p>
          <a:p>
            <a:pPr marL="171450">
              <a:lnSpc>
                <a:spcPct val="100000"/>
              </a:lnSpc>
              <a:spcBef>
                <a:spcPts val="459"/>
              </a:spcBef>
            </a:pPr>
            <a:r>
              <a:rPr dirty="0" sz="1150">
                <a:latin typeface="PMingLiU"/>
                <a:cs typeface="PMingLiU"/>
              </a:rPr>
              <a:t>条件</a:t>
            </a:r>
            <a:r>
              <a:rPr dirty="0" sz="1150" spc="120">
                <a:latin typeface="Segoe UI Symbol"/>
                <a:cs typeface="Segoe UI Symbol"/>
              </a:rPr>
              <a:t>: </a:t>
            </a:r>
            <a:r>
              <a:rPr dirty="0" sz="1150" spc="145">
                <a:latin typeface="Segoe UI Symbol"/>
                <a:cs typeface="Segoe UI Symbol"/>
              </a:rPr>
              <a:t>Ln=</a:t>
            </a:r>
            <a:r>
              <a:rPr dirty="0" sz="1150" spc="145" b="1">
                <a:solidFill>
                  <a:srgbClr val="003366"/>
                </a:solidFill>
                <a:latin typeface="Yu Gothic"/>
                <a:cs typeface="Yu Gothic"/>
              </a:rPr>
              <a:t>0.6µm</a:t>
            </a:r>
            <a:r>
              <a:rPr dirty="0" sz="1150" spc="120">
                <a:latin typeface="Segoe UI Symbol"/>
                <a:cs typeface="Segoe UI Symbol"/>
              </a:rPr>
              <a:t>, </a:t>
            </a:r>
            <a:r>
              <a:rPr dirty="0" sz="1150" spc="95">
                <a:latin typeface="Segoe UI Symbol"/>
                <a:cs typeface="Segoe UI Symbol"/>
              </a:rPr>
              <a:t>Nn=</a:t>
            </a:r>
            <a:r>
              <a:rPr dirty="0" sz="1150" spc="95" b="1">
                <a:solidFill>
                  <a:srgbClr val="003366"/>
                </a:solidFill>
                <a:latin typeface="Yu Gothic"/>
                <a:cs typeface="Yu Gothic"/>
              </a:rPr>
              <a:t>7×10</a:t>
            </a:r>
            <a:r>
              <a:rPr dirty="0" baseline="29411" sz="1275" spc="142" b="1">
                <a:solidFill>
                  <a:srgbClr val="003366"/>
                </a:solidFill>
                <a:latin typeface="Yu Gothic"/>
                <a:cs typeface="Yu Gothic"/>
              </a:rPr>
              <a:t>19</a:t>
            </a:r>
            <a:r>
              <a:rPr dirty="0" baseline="29411" sz="1275" spc="240" b="1">
                <a:solidFill>
                  <a:srgbClr val="003366"/>
                </a:solidFill>
                <a:latin typeface="Yu Gothic"/>
                <a:cs typeface="Yu Gothic"/>
              </a:rPr>
              <a:t> </a:t>
            </a:r>
            <a:r>
              <a:rPr dirty="0" sz="1150" spc="105">
                <a:latin typeface="Segoe UI Symbol"/>
                <a:cs typeface="Segoe UI Symbol"/>
              </a:rPr>
              <a:t>[cm</a:t>
            </a:r>
            <a:r>
              <a:rPr dirty="0" baseline="29411" sz="1275" spc="157">
                <a:latin typeface="Segoe UI Symbol"/>
                <a:cs typeface="Segoe UI Symbol"/>
              </a:rPr>
              <a:t>-</a:t>
            </a:r>
            <a:r>
              <a:rPr dirty="0" baseline="29411" sz="1275" spc="75">
                <a:latin typeface="Segoe UI Symbol"/>
                <a:cs typeface="Segoe UI Symbol"/>
              </a:rPr>
              <a:t>3</a:t>
            </a:r>
            <a:r>
              <a:rPr dirty="0" sz="1150" spc="50">
                <a:latin typeface="Segoe UI Symbol"/>
                <a:cs typeface="Segoe UI Symbol"/>
              </a:rPr>
              <a:t>]</a:t>
            </a:r>
            <a:endParaRPr sz="1150">
              <a:latin typeface="Segoe UI Symbol"/>
              <a:cs typeface="Segoe UI Symbol"/>
            </a:endParaRPr>
          </a:p>
        </p:txBody>
      </p:sp>
      <p:sp>
        <p:nvSpPr>
          <p:cNvPr id="34" name="object 34" descr=""/>
          <p:cNvSpPr txBox="1"/>
          <p:nvPr/>
        </p:nvSpPr>
        <p:spPr>
          <a:xfrm>
            <a:off x="10097992" y="6958028"/>
            <a:ext cx="410845" cy="181610"/>
          </a:xfrm>
          <a:prstGeom prst="rect">
            <a:avLst/>
          </a:prstGeom>
        </p:spPr>
        <p:txBody>
          <a:bodyPr wrap="square" lIns="0" tIns="3175" rIns="0" bIns="0" rtlCol="0" vert="horz">
            <a:spAutoFit/>
          </a:bodyPr>
          <a:lstStyle/>
          <a:p>
            <a:pPr marL="12700">
              <a:lnSpc>
                <a:spcPct val="100000"/>
              </a:lnSpc>
              <a:spcBef>
                <a:spcPts val="25"/>
              </a:spcBef>
            </a:pPr>
            <a:r>
              <a:rPr dirty="0" sz="1050" spc="105">
                <a:solidFill>
                  <a:srgbClr val="4A5462"/>
                </a:solidFill>
                <a:latin typeface="Segoe UI Symbol"/>
                <a:cs typeface="Segoe UI Symbol"/>
              </a:rPr>
              <a:t>8</a:t>
            </a:r>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
        <p:nvSpPr>
          <p:cNvPr id="33" name="object 33" descr=""/>
          <p:cNvSpPr txBox="1"/>
          <p:nvPr/>
        </p:nvSpPr>
        <p:spPr>
          <a:xfrm>
            <a:off x="5896723" y="5658156"/>
            <a:ext cx="4117975" cy="727710"/>
          </a:xfrm>
          <a:prstGeom prst="rect">
            <a:avLst/>
          </a:prstGeom>
        </p:spPr>
        <p:txBody>
          <a:bodyPr wrap="square" lIns="0" tIns="70485" rIns="0" bIns="0" rtlCol="0" vert="horz">
            <a:spAutoFit/>
          </a:bodyPr>
          <a:lstStyle/>
          <a:p>
            <a:pPr algn="ctr" marL="267970">
              <a:lnSpc>
                <a:spcPct val="100000"/>
              </a:lnSpc>
              <a:spcBef>
                <a:spcPts val="555"/>
              </a:spcBef>
            </a:pPr>
            <a:r>
              <a:rPr dirty="0" sz="1150">
                <a:latin typeface="PMingLiU"/>
                <a:cs typeface="PMingLiU"/>
              </a:rPr>
              <a:t>ガウス分布の導入により、最適パラメータが</a:t>
            </a:r>
            <a:endParaRPr sz="1150">
              <a:latin typeface="PMingLiU"/>
              <a:cs typeface="PMingLiU"/>
            </a:endParaRPr>
          </a:p>
          <a:p>
            <a:pPr algn="ctr">
              <a:lnSpc>
                <a:spcPct val="100000"/>
              </a:lnSpc>
              <a:spcBef>
                <a:spcPts val="459"/>
              </a:spcBef>
            </a:pPr>
            <a:r>
              <a:rPr dirty="0" sz="1150" spc="90" b="1">
                <a:latin typeface="Yu Gothic"/>
                <a:cs typeface="Yu Gothic"/>
              </a:rPr>
              <a:t>Ln:</a:t>
            </a:r>
            <a:r>
              <a:rPr dirty="0" sz="1150" spc="55" b="1">
                <a:latin typeface="Yu Gothic"/>
                <a:cs typeface="Yu Gothic"/>
              </a:rPr>
              <a:t> </a:t>
            </a:r>
            <a:r>
              <a:rPr dirty="0" sz="1150" spc="155" b="1">
                <a:latin typeface="Yu Gothic"/>
                <a:cs typeface="Yu Gothic"/>
              </a:rPr>
              <a:t>1.2µm</a:t>
            </a:r>
            <a:r>
              <a:rPr dirty="0" sz="1150" spc="55" b="1">
                <a:latin typeface="Yu Gothic"/>
                <a:cs typeface="Yu Gothic"/>
              </a:rPr>
              <a:t> </a:t>
            </a:r>
            <a:r>
              <a:rPr dirty="0" sz="1150" spc="-25" b="1">
                <a:latin typeface="Yu Gothic"/>
                <a:cs typeface="Yu Gothic"/>
              </a:rPr>
              <a:t>→</a:t>
            </a:r>
            <a:r>
              <a:rPr dirty="0" sz="1150" spc="60" b="1">
                <a:latin typeface="Yu Gothic"/>
                <a:cs typeface="Yu Gothic"/>
              </a:rPr>
              <a:t> </a:t>
            </a:r>
            <a:r>
              <a:rPr dirty="0" sz="1150" spc="150" b="1">
                <a:latin typeface="Yu Gothic"/>
                <a:cs typeface="Yu Gothic"/>
              </a:rPr>
              <a:t>0.6µm</a:t>
            </a:r>
            <a:r>
              <a:rPr dirty="0" sz="1150" spc="150">
                <a:latin typeface="Segoe UI Symbol"/>
                <a:cs typeface="Segoe UI Symbol"/>
              </a:rPr>
              <a:t>,</a:t>
            </a:r>
            <a:r>
              <a:rPr dirty="0" sz="1150" spc="40">
                <a:latin typeface="Segoe UI Symbol"/>
                <a:cs typeface="Segoe UI Symbol"/>
              </a:rPr>
              <a:t> </a:t>
            </a:r>
            <a:r>
              <a:rPr dirty="0" sz="1150" spc="110" b="1">
                <a:latin typeface="Yu Gothic"/>
                <a:cs typeface="Yu Gothic"/>
              </a:rPr>
              <a:t>Nn:</a:t>
            </a:r>
            <a:r>
              <a:rPr dirty="0" sz="1150" spc="55" b="1">
                <a:latin typeface="Yu Gothic"/>
                <a:cs typeface="Yu Gothic"/>
              </a:rPr>
              <a:t> </a:t>
            </a:r>
            <a:r>
              <a:rPr dirty="0" sz="1150" spc="90" b="1">
                <a:latin typeface="Yu Gothic"/>
                <a:cs typeface="Yu Gothic"/>
              </a:rPr>
              <a:t>2×10</a:t>
            </a:r>
            <a:r>
              <a:rPr dirty="0" baseline="29411" sz="1275" spc="135" b="1">
                <a:latin typeface="Yu Gothic"/>
                <a:cs typeface="Yu Gothic"/>
              </a:rPr>
              <a:t>19</a:t>
            </a:r>
            <a:r>
              <a:rPr dirty="0" baseline="29411" sz="1275" spc="209" b="1">
                <a:latin typeface="Yu Gothic"/>
                <a:cs typeface="Yu Gothic"/>
              </a:rPr>
              <a:t> </a:t>
            </a:r>
            <a:r>
              <a:rPr dirty="0" sz="1150" spc="-25" b="1">
                <a:latin typeface="Yu Gothic"/>
                <a:cs typeface="Yu Gothic"/>
              </a:rPr>
              <a:t>→</a:t>
            </a:r>
            <a:r>
              <a:rPr dirty="0" sz="1150" spc="55" b="1">
                <a:latin typeface="Yu Gothic"/>
                <a:cs typeface="Yu Gothic"/>
              </a:rPr>
              <a:t> </a:t>
            </a:r>
            <a:r>
              <a:rPr dirty="0" sz="1150" spc="90" b="1">
                <a:latin typeface="Yu Gothic"/>
                <a:cs typeface="Yu Gothic"/>
              </a:rPr>
              <a:t>7×10</a:t>
            </a:r>
            <a:r>
              <a:rPr dirty="0" baseline="29411" sz="1275" spc="135" b="1">
                <a:latin typeface="Yu Gothic"/>
                <a:cs typeface="Yu Gothic"/>
              </a:rPr>
              <a:t>19</a:t>
            </a:r>
            <a:r>
              <a:rPr dirty="0" baseline="29411" sz="1275" spc="209" b="1">
                <a:latin typeface="Yu Gothic"/>
                <a:cs typeface="Yu Gothic"/>
              </a:rPr>
              <a:t> </a:t>
            </a:r>
            <a:r>
              <a:rPr dirty="0" sz="1150" spc="95" b="1">
                <a:latin typeface="Yu Gothic"/>
                <a:cs typeface="Yu Gothic"/>
              </a:rPr>
              <a:t>[cm</a:t>
            </a:r>
            <a:r>
              <a:rPr dirty="0" baseline="29411" sz="1275" spc="142" b="1">
                <a:latin typeface="Yu Gothic"/>
                <a:cs typeface="Yu Gothic"/>
              </a:rPr>
              <a:t>-</a:t>
            </a:r>
            <a:r>
              <a:rPr dirty="0" baseline="29411" sz="1275" spc="75" b="1">
                <a:latin typeface="Yu Gothic"/>
                <a:cs typeface="Yu Gothic"/>
              </a:rPr>
              <a:t>3</a:t>
            </a:r>
            <a:r>
              <a:rPr dirty="0" sz="1150" spc="50" b="1">
                <a:latin typeface="Yu Gothic"/>
                <a:cs typeface="Yu Gothic"/>
              </a:rPr>
              <a:t>]</a:t>
            </a:r>
            <a:endParaRPr sz="1150">
              <a:latin typeface="Yu Gothic"/>
              <a:cs typeface="Yu Gothic"/>
            </a:endParaRPr>
          </a:p>
          <a:p>
            <a:pPr algn="ctr">
              <a:lnSpc>
                <a:spcPct val="100000"/>
              </a:lnSpc>
              <a:spcBef>
                <a:spcPts val="465"/>
              </a:spcBef>
            </a:pPr>
            <a:r>
              <a:rPr dirty="0" sz="1150" spc="-5">
                <a:latin typeface="PMingLiU"/>
                <a:cs typeface="PMingLiU"/>
              </a:rPr>
              <a:t>へと変化し、特性が向上</a:t>
            </a:r>
            <a:endParaRPr sz="1150">
              <a:latin typeface="PMingLiU"/>
              <a:cs typeface="PMingLiU"/>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6067425"/>
          </a:xfrm>
          <a:custGeom>
            <a:avLst/>
            <a:gdLst/>
            <a:ahLst/>
            <a:cxnLst/>
            <a:rect l="l" t="t" r="r" b="b"/>
            <a:pathLst>
              <a:path w="10696575" h="6067425">
                <a:moveTo>
                  <a:pt x="10696575" y="6066964"/>
                </a:moveTo>
                <a:lnTo>
                  <a:pt x="0" y="6066964"/>
                </a:lnTo>
                <a:lnTo>
                  <a:pt x="0" y="0"/>
                </a:lnTo>
                <a:lnTo>
                  <a:pt x="10696575" y="0"/>
                </a:lnTo>
                <a:lnTo>
                  <a:pt x="10696575" y="6066964"/>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p:cNvSpPr txBox="1">
            <a:spLocks noGrp="1"/>
          </p:cNvSpPr>
          <p:nvPr>
            <p:ph type="title"/>
          </p:nvPr>
        </p:nvSpPr>
        <p:spPr>
          <a:xfrm>
            <a:off x="321567" y="124010"/>
            <a:ext cx="5216525" cy="433070"/>
          </a:xfrm>
          <a:prstGeom prst="rect"/>
        </p:spPr>
        <p:txBody>
          <a:bodyPr wrap="square" lIns="0" tIns="15875" rIns="0" bIns="0" rtlCol="0" vert="horz">
            <a:spAutoFit/>
          </a:bodyPr>
          <a:lstStyle/>
          <a:p>
            <a:pPr marL="12700">
              <a:lnSpc>
                <a:spcPct val="100000"/>
              </a:lnSpc>
              <a:spcBef>
                <a:spcPts val="125"/>
              </a:spcBef>
            </a:pPr>
            <a:r>
              <a:rPr dirty="0" spc="-210"/>
              <a:t>電気</a:t>
            </a:r>
            <a:r>
              <a:rPr dirty="0" sz="2600" spc="-240"/>
              <a:t>的</a:t>
            </a:r>
            <a:r>
              <a:rPr dirty="0" sz="2600" spc="-240">
                <a:latin typeface="SimSun"/>
                <a:cs typeface="SimSun"/>
              </a:rPr>
              <a:t>特性</a:t>
            </a:r>
            <a:r>
              <a:rPr dirty="0" sz="2250" spc="165"/>
              <a:t>の</a:t>
            </a:r>
            <a:r>
              <a:rPr dirty="0" sz="2650" spc="-295">
                <a:latin typeface="SimSun"/>
                <a:cs typeface="SimSun"/>
              </a:rPr>
              <a:t>計</a:t>
            </a:r>
            <a:r>
              <a:rPr dirty="0" sz="2600" spc="-240">
                <a:latin typeface="SimSun"/>
                <a:cs typeface="SimSun"/>
              </a:rPr>
              <a:t>算</a:t>
            </a:r>
            <a:r>
              <a:rPr dirty="0" sz="2350" spc="65" b="1">
                <a:latin typeface="Yu Gothic"/>
                <a:cs typeface="Yu Gothic"/>
              </a:rPr>
              <a:t>③</a:t>
            </a:r>
            <a:r>
              <a:rPr dirty="0" sz="2250" spc="65"/>
              <a:t>：</a:t>
            </a:r>
            <a:r>
              <a:rPr dirty="0" sz="2350" spc="65" b="1">
                <a:latin typeface="Yu Gothic"/>
                <a:cs typeface="Yu Gothic"/>
              </a:rPr>
              <a:t>SiO₂</a:t>
            </a:r>
            <a:r>
              <a:rPr dirty="0" sz="2600" spc="-240"/>
              <a:t>追</a:t>
            </a:r>
            <a:r>
              <a:rPr dirty="0" sz="2650" spc="-295">
                <a:latin typeface="SimSun"/>
                <a:cs typeface="SimSun"/>
              </a:rPr>
              <a:t>加</a:t>
            </a:r>
            <a:r>
              <a:rPr dirty="0" sz="2250" spc="165"/>
              <a:t>の</a:t>
            </a:r>
            <a:r>
              <a:rPr dirty="0" sz="2650" spc="-295">
                <a:latin typeface="SimSun"/>
                <a:cs typeface="SimSun"/>
              </a:rPr>
              <a:t>効</a:t>
            </a:r>
            <a:r>
              <a:rPr dirty="0" spc="-50"/>
              <a:t>果</a:t>
            </a:r>
            <a:endParaRPr sz="2650">
              <a:latin typeface="SimSun"/>
              <a:cs typeface="SimSun"/>
            </a:endParaRPr>
          </a:p>
        </p:txBody>
      </p:sp>
      <p:grpSp>
        <p:nvGrpSpPr>
          <p:cNvPr id="5" name="object 5" descr=""/>
          <p:cNvGrpSpPr/>
          <p:nvPr/>
        </p:nvGrpSpPr>
        <p:grpSpPr>
          <a:xfrm>
            <a:off x="334267" y="919236"/>
            <a:ext cx="3910965" cy="4980940"/>
            <a:chOff x="334267" y="919236"/>
            <a:chExt cx="3910965" cy="4980940"/>
          </a:xfrm>
        </p:grpSpPr>
        <p:sp>
          <p:nvSpPr>
            <p:cNvPr id="6" name="object 6" descr=""/>
            <p:cNvSpPr/>
            <p:nvPr/>
          </p:nvSpPr>
          <p:spPr>
            <a:xfrm>
              <a:off x="334267" y="919236"/>
              <a:ext cx="3910965" cy="4980940"/>
            </a:xfrm>
            <a:custGeom>
              <a:avLst/>
              <a:gdLst/>
              <a:ahLst/>
              <a:cxnLst/>
              <a:rect l="l" t="t" r="r" b="b"/>
              <a:pathLst>
                <a:path w="3910965" h="4980940">
                  <a:moveTo>
                    <a:pt x="3848471" y="4980592"/>
                  </a:moveTo>
                  <a:lnTo>
                    <a:pt x="62463" y="4980592"/>
                  </a:lnTo>
                  <a:lnTo>
                    <a:pt x="58116" y="4980164"/>
                  </a:lnTo>
                  <a:lnTo>
                    <a:pt x="22684" y="4964115"/>
                  </a:lnTo>
                  <a:lnTo>
                    <a:pt x="2140" y="4931086"/>
                  </a:lnTo>
                  <a:lnTo>
                    <a:pt x="0" y="4918129"/>
                  </a:lnTo>
                  <a:lnTo>
                    <a:pt x="0" y="4913739"/>
                  </a:lnTo>
                  <a:lnTo>
                    <a:pt x="0" y="62463"/>
                  </a:lnTo>
                  <a:lnTo>
                    <a:pt x="13705" y="26061"/>
                  </a:lnTo>
                  <a:lnTo>
                    <a:pt x="45325" y="3408"/>
                  </a:lnTo>
                  <a:lnTo>
                    <a:pt x="62463" y="0"/>
                  </a:lnTo>
                  <a:lnTo>
                    <a:pt x="3848471" y="0"/>
                  </a:lnTo>
                  <a:lnTo>
                    <a:pt x="3884872" y="13705"/>
                  </a:lnTo>
                  <a:lnTo>
                    <a:pt x="3907525" y="45325"/>
                  </a:lnTo>
                  <a:lnTo>
                    <a:pt x="3910935" y="62463"/>
                  </a:lnTo>
                  <a:lnTo>
                    <a:pt x="3910935" y="4918129"/>
                  </a:lnTo>
                  <a:lnTo>
                    <a:pt x="3897229" y="4954530"/>
                  </a:lnTo>
                  <a:lnTo>
                    <a:pt x="3865609" y="4977183"/>
                  </a:lnTo>
                  <a:lnTo>
                    <a:pt x="3852818" y="4980164"/>
                  </a:lnTo>
                  <a:lnTo>
                    <a:pt x="3848471" y="4980592"/>
                  </a:lnTo>
                  <a:close/>
                </a:path>
              </a:pathLst>
            </a:custGeom>
            <a:solidFill>
              <a:srgbClr val="FFFFFF">
                <a:alpha val="94898"/>
              </a:srgbClr>
            </a:solidFill>
          </p:spPr>
          <p:txBody>
            <a:bodyPr wrap="square" lIns="0" tIns="0" rIns="0" bIns="0" rtlCol="0"/>
            <a:lstStyle/>
            <a:p/>
          </p:txBody>
        </p:sp>
        <p:sp>
          <p:nvSpPr>
            <p:cNvPr id="7" name="object 7" descr=""/>
            <p:cNvSpPr/>
            <p:nvPr/>
          </p:nvSpPr>
          <p:spPr>
            <a:xfrm>
              <a:off x="501401" y="2991698"/>
              <a:ext cx="3576954" cy="735965"/>
            </a:xfrm>
            <a:custGeom>
              <a:avLst/>
              <a:gdLst/>
              <a:ahLst/>
              <a:cxnLst/>
              <a:rect l="l" t="t" r="r" b="b"/>
              <a:pathLst>
                <a:path w="3576954" h="735964">
                  <a:moveTo>
                    <a:pt x="3514203" y="735389"/>
                  </a:moveTo>
                  <a:lnTo>
                    <a:pt x="62463" y="735389"/>
                  </a:lnTo>
                  <a:lnTo>
                    <a:pt x="58116" y="734961"/>
                  </a:lnTo>
                  <a:lnTo>
                    <a:pt x="22684" y="718912"/>
                  </a:lnTo>
                  <a:lnTo>
                    <a:pt x="2140" y="685883"/>
                  </a:lnTo>
                  <a:lnTo>
                    <a:pt x="0" y="672925"/>
                  </a:lnTo>
                  <a:lnTo>
                    <a:pt x="0" y="668535"/>
                  </a:lnTo>
                  <a:lnTo>
                    <a:pt x="0" y="62463"/>
                  </a:lnTo>
                  <a:lnTo>
                    <a:pt x="13705" y="26061"/>
                  </a:lnTo>
                  <a:lnTo>
                    <a:pt x="45325" y="3408"/>
                  </a:lnTo>
                  <a:lnTo>
                    <a:pt x="62463" y="0"/>
                  </a:lnTo>
                  <a:lnTo>
                    <a:pt x="3514203" y="0"/>
                  </a:lnTo>
                  <a:lnTo>
                    <a:pt x="3550605" y="13705"/>
                  </a:lnTo>
                  <a:lnTo>
                    <a:pt x="3573258" y="45325"/>
                  </a:lnTo>
                  <a:lnTo>
                    <a:pt x="3576667" y="62463"/>
                  </a:lnTo>
                  <a:lnTo>
                    <a:pt x="3576667" y="672925"/>
                  </a:lnTo>
                  <a:lnTo>
                    <a:pt x="3562961" y="709327"/>
                  </a:lnTo>
                  <a:lnTo>
                    <a:pt x="3531341" y="731980"/>
                  </a:lnTo>
                  <a:lnTo>
                    <a:pt x="3518550" y="734961"/>
                  </a:lnTo>
                  <a:lnTo>
                    <a:pt x="3514203" y="735389"/>
                  </a:lnTo>
                  <a:close/>
                </a:path>
              </a:pathLst>
            </a:custGeom>
            <a:solidFill>
              <a:srgbClr val="EFF5FF"/>
            </a:solidFill>
          </p:spPr>
          <p:txBody>
            <a:bodyPr wrap="square" lIns="0" tIns="0" rIns="0" bIns="0" rtlCol="0"/>
            <a:lstStyle/>
            <a:p/>
          </p:txBody>
        </p:sp>
        <p:sp>
          <p:nvSpPr>
            <p:cNvPr id="8" name="object 8" descr=""/>
            <p:cNvSpPr/>
            <p:nvPr/>
          </p:nvSpPr>
          <p:spPr>
            <a:xfrm>
              <a:off x="501401" y="3860795"/>
              <a:ext cx="3576954" cy="735965"/>
            </a:xfrm>
            <a:custGeom>
              <a:avLst/>
              <a:gdLst/>
              <a:ahLst/>
              <a:cxnLst/>
              <a:rect l="l" t="t" r="r" b="b"/>
              <a:pathLst>
                <a:path w="3576954" h="735964">
                  <a:moveTo>
                    <a:pt x="3514203" y="735389"/>
                  </a:moveTo>
                  <a:lnTo>
                    <a:pt x="62463" y="735389"/>
                  </a:lnTo>
                  <a:lnTo>
                    <a:pt x="58116" y="734961"/>
                  </a:lnTo>
                  <a:lnTo>
                    <a:pt x="22684" y="718911"/>
                  </a:lnTo>
                  <a:lnTo>
                    <a:pt x="2140" y="685883"/>
                  </a:lnTo>
                  <a:lnTo>
                    <a:pt x="0" y="672925"/>
                  </a:lnTo>
                  <a:lnTo>
                    <a:pt x="0" y="668535"/>
                  </a:lnTo>
                  <a:lnTo>
                    <a:pt x="0" y="62463"/>
                  </a:lnTo>
                  <a:lnTo>
                    <a:pt x="13705" y="26061"/>
                  </a:lnTo>
                  <a:lnTo>
                    <a:pt x="45325" y="3408"/>
                  </a:lnTo>
                  <a:lnTo>
                    <a:pt x="62463" y="0"/>
                  </a:lnTo>
                  <a:lnTo>
                    <a:pt x="3514203" y="0"/>
                  </a:lnTo>
                  <a:lnTo>
                    <a:pt x="3550605" y="13705"/>
                  </a:lnTo>
                  <a:lnTo>
                    <a:pt x="3573258" y="45325"/>
                  </a:lnTo>
                  <a:lnTo>
                    <a:pt x="3576667" y="62463"/>
                  </a:lnTo>
                  <a:lnTo>
                    <a:pt x="3576667" y="672925"/>
                  </a:lnTo>
                  <a:lnTo>
                    <a:pt x="3562961" y="709327"/>
                  </a:lnTo>
                  <a:lnTo>
                    <a:pt x="3531341" y="731979"/>
                  </a:lnTo>
                  <a:lnTo>
                    <a:pt x="3518550" y="734961"/>
                  </a:lnTo>
                  <a:lnTo>
                    <a:pt x="3514203" y="735389"/>
                  </a:lnTo>
                  <a:close/>
                </a:path>
              </a:pathLst>
            </a:custGeom>
            <a:solidFill>
              <a:srgbClr val="ECFDF5"/>
            </a:solidFill>
          </p:spPr>
          <p:txBody>
            <a:bodyPr wrap="square" lIns="0" tIns="0" rIns="0" bIns="0" rtlCol="0"/>
            <a:lstStyle/>
            <a:p/>
          </p:txBody>
        </p:sp>
        <p:sp>
          <p:nvSpPr>
            <p:cNvPr id="9" name="object 9" descr=""/>
            <p:cNvSpPr/>
            <p:nvPr/>
          </p:nvSpPr>
          <p:spPr>
            <a:xfrm>
              <a:off x="501401" y="4729891"/>
              <a:ext cx="3576954" cy="836294"/>
            </a:xfrm>
            <a:custGeom>
              <a:avLst/>
              <a:gdLst/>
              <a:ahLst/>
              <a:cxnLst/>
              <a:rect l="l" t="t" r="r" b="b"/>
              <a:pathLst>
                <a:path w="3576954" h="836295">
                  <a:moveTo>
                    <a:pt x="3514203" y="835669"/>
                  </a:moveTo>
                  <a:lnTo>
                    <a:pt x="62463" y="835669"/>
                  </a:lnTo>
                  <a:lnTo>
                    <a:pt x="58116" y="835241"/>
                  </a:lnTo>
                  <a:lnTo>
                    <a:pt x="22684" y="819192"/>
                  </a:lnTo>
                  <a:lnTo>
                    <a:pt x="2140" y="786163"/>
                  </a:lnTo>
                  <a:lnTo>
                    <a:pt x="0" y="773205"/>
                  </a:lnTo>
                  <a:lnTo>
                    <a:pt x="0" y="768816"/>
                  </a:lnTo>
                  <a:lnTo>
                    <a:pt x="0" y="62463"/>
                  </a:lnTo>
                  <a:lnTo>
                    <a:pt x="13705" y="26061"/>
                  </a:lnTo>
                  <a:lnTo>
                    <a:pt x="45325" y="3409"/>
                  </a:lnTo>
                  <a:lnTo>
                    <a:pt x="62463" y="0"/>
                  </a:lnTo>
                  <a:lnTo>
                    <a:pt x="3514203" y="0"/>
                  </a:lnTo>
                  <a:lnTo>
                    <a:pt x="3550605" y="13704"/>
                  </a:lnTo>
                  <a:lnTo>
                    <a:pt x="3573258" y="45324"/>
                  </a:lnTo>
                  <a:lnTo>
                    <a:pt x="3576667" y="62463"/>
                  </a:lnTo>
                  <a:lnTo>
                    <a:pt x="3576667" y="773205"/>
                  </a:lnTo>
                  <a:lnTo>
                    <a:pt x="3562961" y="809607"/>
                  </a:lnTo>
                  <a:lnTo>
                    <a:pt x="3531341" y="832259"/>
                  </a:lnTo>
                  <a:lnTo>
                    <a:pt x="3518550" y="835241"/>
                  </a:lnTo>
                  <a:lnTo>
                    <a:pt x="3514203" y="835669"/>
                  </a:lnTo>
                  <a:close/>
                </a:path>
              </a:pathLst>
            </a:custGeom>
            <a:solidFill>
              <a:srgbClr val="FFFAEB"/>
            </a:solidFill>
          </p:spPr>
          <p:txBody>
            <a:bodyPr wrap="square" lIns="0" tIns="0" rIns="0" bIns="0" rtlCol="0"/>
            <a:lstStyle/>
            <a:p/>
          </p:txBody>
        </p:sp>
        <p:pic>
          <p:nvPicPr>
            <p:cNvPr id="10" name="object 10" descr=""/>
            <p:cNvPicPr/>
            <p:nvPr/>
          </p:nvPicPr>
          <p:blipFill>
            <a:blip r:embed="rId3" cstate="print"/>
            <a:stretch>
              <a:fillRect/>
            </a:stretch>
          </p:blipFill>
          <p:spPr>
            <a:xfrm>
              <a:off x="501401" y="1604486"/>
              <a:ext cx="150420" cy="167133"/>
            </a:xfrm>
            <a:prstGeom prst="rect">
              <a:avLst/>
            </a:prstGeom>
          </p:spPr>
        </p:pic>
        <p:pic>
          <p:nvPicPr>
            <p:cNvPr id="11" name="object 11" descr=""/>
            <p:cNvPicPr/>
            <p:nvPr/>
          </p:nvPicPr>
          <p:blipFill>
            <a:blip r:embed="rId4" cstate="print"/>
            <a:stretch>
              <a:fillRect/>
            </a:stretch>
          </p:blipFill>
          <p:spPr>
            <a:xfrm>
              <a:off x="501401" y="2105888"/>
              <a:ext cx="208917" cy="167133"/>
            </a:xfrm>
            <a:prstGeom prst="rect">
              <a:avLst/>
            </a:prstGeom>
          </p:spPr>
        </p:pic>
      </p:grpSp>
      <p:sp>
        <p:nvSpPr>
          <p:cNvPr id="12" name="object 12" descr=""/>
          <p:cNvSpPr txBox="1"/>
          <p:nvPr/>
        </p:nvSpPr>
        <p:spPr>
          <a:xfrm>
            <a:off x="488702" y="1044096"/>
            <a:ext cx="2874010" cy="1340485"/>
          </a:xfrm>
          <a:prstGeom prst="rect">
            <a:avLst/>
          </a:prstGeom>
        </p:spPr>
        <p:txBody>
          <a:bodyPr wrap="square" lIns="0" tIns="13970" rIns="0" bIns="0" rtlCol="0" vert="horz">
            <a:spAutoFit/>
          </a:bodyPr>
          <a:lstStyle/>
          <a:p>
            <a:pPr marL="12700">
              <a:lnSpc>
                <a:spcPct val="100000"/>
              </a:lnSpc>
              <a:spcBef>
                <a:spcPts val="110"/>
              </a:spcBef>
            </a:pPr>
            <a:r>
              <a:rPr dirty="0" sz="1750" spc="-175">
                <a:solidFill>
                  <a:srgbClr val="1D3A8A"/>
                </a:solidFill>
                <a:latin typeface="SimSun"/>
                <a:cs typeface="SimSun"/>
              </a:rPr>
              <a:t>条</a:t>
            </a:r>
            <a:r>
              <a:rPr dirty="0" sz="1700" spc="-145">
                <a:solidFill>
                  <a:srgbClr val="1D3A8A"/>
                </a:solidFill>
                <a:latin typeface="SimSun"/>
                <a:cs typeface="SimSun"/>
              </a:rPr>
              <a:t>件</a:t>
            </a:r>
            <a:r>
              <a:rPr dirty="0" sz="1550" spc="-225" b="1">
                <a:solidFill>
                  <a:srgbClr val="1D3A8A"/>
                </a:solidFill>
                <a:latin typeface="Yu Gothic"/>
                <a:cs typeface="Yu Gothic"/>
              </a:rPr>
              <a:t>③</a:t>
            </a:r>
            <a:r>
              <a:rPr dirty="0" sz="1650" spc="-30">
                <a:solidFill>
                  <a:srgbClr val="1D3A8A"/>
                </a:solidFill>
                <a:latin typeface="PMingLiU"/>
                <a:cs typeface="PMingLiU"/>
              </a:rPr>
              <a:t>の</a:t>
            </a:r>
            <a:r>
              <a:rPr dirty="0" sz="1750" spc="-175">
                <a:solidFill>
                  <a:srgbClr val="1D3A8A"/>
                </a:solidFill>
                <a:latin typeface="SimSun"/>
                <a:cs typeface="SimSun"/>
              </a:rPr>
              <a:t>設</a:t>
            </a:r>
            <a:r>
              <a:rPr dirty="0" sz="1800" spc="-50">
                <a:solidFill>
                  <a:srgbClr val="1D3A8A"/>
                </a:solidFill>
                <a:latin typeface="SimSun"/>
                <a:cs typeface="SimSun"/>
              </a:rPr>
              <a:t>定</a:t>
            </a:r>
            <a:endParaRPr sz="1800">
              <a:latin typeface="SimSun"/>
              <a:cs typeface="SimSun"/>
            </a:endParaRPr>
          </a:p>
          <a:p>
            <a:pPr marL="288290">
              <a:lnSpc>
                <a:spcPct val="100000"/>
              </a:lnSpc>
              <a:spcBef>
                <a:spcPts val="1385"/>
              </a:spcBef>
            </a:pPr>
            <a:r>
              <a:rPr dirty="0" sz="1150">
                <a:latin typeface="PMingLiU"/>
                <a:cs typeface="PMingLiU"/>
              </a:rPr>
              <a:t>デバイス両端に同じ高さの</a:t>
            </a:r>
            <a:r>
              <a:rPr dirty="0" sz="1150" spc="75">
                <a:latin typeface="Segoe UI Symbol"/>
                <a:cs typeface="Segoe UI Symbol"/>
              </a:rPr>
              <a:t>SiO₂</a:t>
            </a:r>
            <a:r>
              <a:rPr dirty="0" sz="1150" spc="-20">
                <a:latin typeface="PMingLiU"/>
                <a:cs typeface="PMingLiU"/>
              </a:rPr>
              <a:t>を追加</a:t>
            </a:r>
            <a:endParaRPr sz="1150">
              <a:latin typeface="PMingLiU"/>
              <a:cs typeface="PMingLiU"/>
            </a:endParaRPr>
          </a:p>
          <a:p>
            <a:pPr marL="288290">
              <a:lnSpc>
                <a:spcPct val="100000"/>
              </a:lnSpc>
              <a:spcBef>
                <a:spcPts val="385"/>
              </a:spcBef>
            </a:pPr>
            <a:r>
              <a:rPr dirty="0" sz="900">
                <a:solidFill>
                  <a:srgbClr val="4A5462"/>
                </a:solidFill>
                <a:latin typeface="PMingLiU"/>
                <a:cs typeface="PMingLiU"/>
              </a:rPr>
              <a:t>（</a:t>
            </a:r>
            <a:r>
              <a:rPr dirty="0" sz="900">
                <a:solidFill>
                  <a:srgbClr val="4A5462"/>
                </a:solidFill>
                <a:latin typeface="Segoe UI Symbol"/>
                <a:cs typeface="Segoe UI Symbol"/>
              </a:rPr>
              <a:t>pn</a:t>
            </a:r>
            <a:r>
              <a:rPr dirty="0" sz="900">
                <a:solidFill>
                  <a:srgbClr val="4A5462"/>
                </a:solidFill>
                <a:latin typeface="PMingLiU"/>
                <a:cs typeface="PMingLiU"/>
              </a:rPr>
              <a:t>境界はガウス分布</a:t>
            </a:r>
            <a:r>
              <a:rPr dirty="0" sz="900" spc="-50">
                <a:solidFill>
                  <a:srgbClr val="4A5462"/>
                </a:solidFill>
                <a:latin typeface="PMingLiU"/>
                <a:cs typeface="PMingLiU"/>
              </a:rPr>
              <a:t>）</a:t>
            </a:r>
            <a:endParaRPr sz="900">
              <a:latin typeface="PMingLiU"/>
              <a:cs typeface="PMingLiU"/>
            </a:endParaRPr>
          </a:p>
          <a:p>
            <a:pPr marL="346710">
              <a:lnSpc>
                <a:spcPct val="100000"/>
              </a:lnSpc>
              <a:spcBef>
                <a:spcPts val="1105"/>
              </a:spcBef>
            </a:pPr>
            <a:r>
              <a:rPr dirty="0" sz="1150" spc="-10">
                <a:latin typeface="PMingLiU"/>
                <a:cs typeface="PMingLiU"/>
              </a:rPr>
              <a:t>最適条件パラメータ</a:t>
            </a:r>
            <a:endParaRPr sz="1150">
              <a:latin typeface="PMingLiU"/>
              <a:cs typeface="PMingLiU"/>
            </a:endParaRPr>
          </a:p>
          <a:p>
            <a:pPr marL="346710">
              <a:lnSpc>
                <a:spcPct val="100000"/>
              </a:lnSpc>
              <a:spcBef>
                <a:spcPts val="380"/>
              </a:spcBef>
            </a:pPr>
            <a:r>
              <a:rPr dirty="0" sz="900" spc="75">
                <a:solidFill>
                  <a:srgbClr val="374050"/>
                </a:solidFill>
                <a:latin typeface="Segoe UI Symbol"/>
                <a:cs typeface="Segoe UI Symbol"/>
              </a:rPr>
              <a:t>Ln</a:t>
            </a:r>
            <a:r>
              <a:rPr dirty="0" sz="900" spc="65">
                <a:solidFill>
                  <a:srgbClr val="374050"/>
                </a:solidFill>
                <a:latin typeface="Segoe UI Symbol"/>
                <a:cs typeface="Segoe UI Symbol"/>
              </a:rPr>
              <a:t> </a:t>
            </a:r>
            <a:r>
              <a:rPr dirty="0" sz="900" spc="155">
                <a:solidFill>
                  <a:srgbClr val="374050"/>
                </a:solidFill>
                <a:latin typeface="Segoe UI Symbol"/>
                <a:cs typeface="Segoe UI Symbol"/>
              </a:rPr>
              <a:t>=</a:t>
            </a:r>
            <a:r>
              <a:rPr dirty="0" sz="900" spc="70">
                <a:solidFill>
                  <a:srgbClr val="374050"/>
                </a:solidFill>
                <a:latin typeface="Segoe UI Symbol"/>
                <a:cs typeface="Segoe UI Symbol"/>
              </a:rPr>
              <a:t> </a:t>
            </a:r>
            <a:r>
              <a:rPr dirty="0" sz="900" spc="90">
                <a:solidFill>
                  <a:srgbClr val="374050"/>
                </a:solidFill>
                <a:latin typeface="Segoe UI Symbol"/>
                <a:cs typeface="Segoe UI Symbol"/>
              </a:rPr>
              <a:t>0.6µm,</a:t>
            </a:r>
            <a:r>
              <a:rPr dirty="0" sz="900" spc="70">
                <a:solidFill>
                  <a:srgbClr val="374050"/>
                </a:solidFill>
                <a:latin typeface="Segoe UI Symbol"/>
                <a:cs typeface="Segoe UI Symbol"/>
              </a:rPr>
              <a:t> </a:t>
            </a:r>
            <a:r>
              <a:rPr dirty="0" sz="900">
                <a:solidFill>
                  <a:srgbClr val="374050"/>
                </a:solidFill>
                <a:latin typeface="Segoe UI Symbol"/>
                <a:cs typeface="Segoe UI Symbol"/>
              </a:rPr>
              <a:t>Nn</a:t>
            </a:r>
            <a:r>
              <a:rPr dirty="0" sz="900" spc="70">
                <a:solidFill>
                  <a:srgbClr val="374050"/>
                </a:solidFill>
                <a:latin typeface="Segoe UI Symbol"/>
                <a:cs typeface="Segoe UI Symbol"/>
              </a:rPr>
              <a:t> </a:t>
            </a:r>
            <a:r>
              <a:rPr dirty="0" sz="900" spc="155">
                <a:solidFill>
                  <a:srgbClr val="374050"/>
                </a:solidFill>
                <a:latin typeface="Segoe UI Symbol"/>
                <a:cs typeface="Segoe UI Symbol"/>
              </a:rPr>
              <a:t>=</a:t>
            </a:r>
            <a:r>
              <a:rPr dirty="0" sz="900" spc="70">
                <a:solidFill>
                  <a:srgbClr val="374050"/>
                </a:solidFill>
                <a:latin typeface="Segoe UI Symbol"/>
                <a:cs typeface="Segoe UI Symbol"/>
              </a:rPr>
              <a:t> </a:t>
            </a:r>
            <a:r>
              <a:rPr dirty="0" sz="900" spc="80">
                <a:solidFill>
                  <a:srgbClr val="374050"/>
                </a:solidFill>
                <a:latin typeface="Segoe UI Symbol"/>
                <a:cs typeface="Segoe UI Symbol"/>
              </a:rPr>
              <a:t>7×10¹⁹[cm⁻³]</a:t>
            </a:r>
            <a:endParaRPr sz="900">
              <a:latin typeface="Segoe UI Symbol"/>
              <a:cs typeface="Segoe UI Symbol"/>
            </a:endParaRPr>
          </a:p>
        </p:txBody>
      </p:sp>
      <p:sp>
        <p:nvSpPr>
          <p:cNvPr id="13" name="object 13" descr=""/>
          <p:cNvSpPr txBox="1"/>
          <p:nvPr/>
        </p:nvSpPr>
        <p:spPr>
          <a:xfrm>
            <a:off x="488702" y="2554765"/>
            <a:ext cx="1415415" cy="294005"/>
          </a:xfrm>
          <a:prstGeom prst="rect">
            <a:avLst/>
          </a:prstGeom>
        </p:spPr>
        <p:txBody>
          <a:bodyPr wrap="square" lIns="0" tIns="13970" rIns="0" bIns="0" rtlCol="0" vert="horz">
            <a:spAutoFit/>
          </a:bodyPr>
          <a:lstStyle/>
          <a:p>
            <a:pPr marL="12700">
              <a:lnSpc>
                <a:spcPct val="100000"/>
              </a:lnSpc>
              <a:spcBef>
                <a:spcPts val="110"/>
              </a:spcBef>
            </a:pPr>
            <a:r>
              <a:rPr dirty="0" sz="1750" spc="-175">
                <a:solidFill>
                  <a:srgbClr val="1D3A8A"/>
                </a:solidFill>
                <a:latin typeface="SimSun"/>
                <a:cs typeface="SimSun"/>
              </a:rPr>
              <a:t>条</a:t>
            </a:r>
            <a:r>
              <a:rPr dirty="0" sz="1700" spc="-145">
                <a:solidFill>
                  <a:srgbClr val="1D3A8A"/>
                </a:solidFill>
                <a:latin typeface="SimSun"/>
                <a:cs typeface="SimSun"/>
              </a:rPr>
              <a:t>件</a:t>
            </a:r>
            <a:r>
              <a:rPr dirty="0" sz="1550" spc="-225" b="1">
                <a:solidFill>
                  <a:srgbClr val="1D3A8A"/>
                </a:solidFill>
                <a:latin typeface="Yu Gothic"/>
                <a:cs typeface="Yu Gothic"/>
              </a:rPr>
              <a:t>①</a:t>
            </a:r>
            <a:r>
              <a:rPr dirty="0" sz="1650" spc="-30">
                <a:solidFill>
                  <a:srgbClr val="1D3A8A"/>
                </a:solidFill>
                <a:latin typeface="PMingLiU"/>
                <a:cs typeface="PMingLiU"/>
              </a:rPr>
              <a:t>との</a:t>
            </a:r>
            <a:r>
              <a:rPr dirty="0" sz="1750" spc="-120">
                <a:solidFill>
                  <a:srgbClr val="1D3A8A"/>
                </a:solidFill>
                <a:latin typeface="SimSun"/>
                <a:cs typeface="SimSun"/>
              </a:rPr>
              <a:t>比較</a:t>
            </a:r>
            <a:endParaRPr sz="1750">
              <a:latin typeface="SimSun"/>
              <a:cs typeface="SimSun"/>
            </a:endParaRPr>
          </a:p>
        </p:txBody>
      </p:sp>
      <p:grpSp>
        <p:nvGrpSpPr>
          <p:cNvPr id="14" name="object 14" descr=""/>
          <p:cNvGrpSpPr/>
          <p:nvPr/>
        </p:nvGrpSpPr>
        <p:grpSpPr>
          <a:xfrm>
            <a:off x="601682" y="3125405"/>
            <a:ext cx="133985" cy="1897380"/>
            <a:chOff x="601682" y="3125405"/>
            <a:chExt cx="133985" cy="1897380"/>
          </a:xfrm>
        </p:grpSpPr>
        <p:pic>
          <p:nvPicPr>
            <p:cNvPr id="15" name="object 15" descr=""/>
            <p:cNvPicPr/>
            <p:nvPr/>
          </p:nvPicPr>
          <p:blipFill>
            <a:blip r:embed="rId5" cstate="print"/>
            <a:stretch>
              <a:fillRect/>
            </a:stretch>
          </p:blipFill>
          <p:spPr>
            <a:xfrm>
              <a:off x="601682" y="3125405"/>
              <a:ext cx="133707" cy="133707"/>
            </a:xfrm>
            <a:prstGeom prst="rect">
              <a:avLst/>
            </a:prstGeom>
          </p:spPr>
        </p:pic>
        <p:pic>
          <p:nvPicPr>
            <p:cNvPr id="16" name="object 16" descr=""/>
            <p:cNvPicPr/>
            <p:nvPr/>
          </p:nvPicPr>
          <p:blipFill>
            <a:blip r:embed="rId6" cstate="print"/>
            <a:stretch>
              <a:fillRect/>
            </a:stretch>
          </p:blipFill>
          <p:spPr>
            <a:xfrm>
              <a:off x="601682" y="3409533"/>
              <a:ext cx="116993" cy="100280"/>
            </a:xfrm>
            <a:prstGeom prst="rect">
              <a:avLst/>
            </a:prstGeom>
          </p:spPr>
        </p:pic>
        <p:pic>
          <p:nvPicPr>
            <p:cNvPr id="17" name="object 17" descr=""/>
            <p:cNvPicPr/>
            <p:nvPr/>
          </p:nvPicPr>
          <p:blipFill>
            <a:blip r:embed="rId5" cstate="print"/>
            <a:stretch>
              <a:fillRect/>
            </a:stretch>
          </p:blipFill>
          <p:spPr>
            <a:xfrm>
              <a:off x="601682" y="3994502"/>
              <a:ext cx="133707" cy="133707"/>
            </a:xfrm>
            <a:prstGeom prst="rect">
              <a:avLst/>
            </a:prstGeom>
          </p:spPr>
        </p:pic>
        <p:pic>
          <p:nvPicPr>
            <p:cNvPr id="18" name="object 18" descr=""/>
            <p:cNvPicPr/>
            <p:nvPr/>
          </p:nvPicPr>
          <p:blipFill>
            <a:blip r:embed="rId6" cstate="print"/>
            <a:stretch>
              <a:fillRect/>
            </a:stretch>
          </p:blipFill>
          <p:spPr>
            <a:xfrm>
              <a:off x="601682" y="4278630"/>
              <a:ext cx="116993" cy="100280"/>
            </a:xfrm>
            <a:prstGeom prst="rect">
              <a:avLst/>
            </a:prstGeom>
          </p:spPr>
        </p:pic>
        <p:pic>
          <p:nvPicPr>
            <p:cNvPr id="19" name="object 19" descr=""/>
            <p:cNvPicPr/>
            <p:nvPr/>
          </p:nvPicPr>
          <p:blipFill>
            <a:blip r:embed="rId7" cstate="print"/>
            <a:stretch>
              <a:fillRect/>
            </a:stretch>
          </p:blipFill>
          <p:spPr>
            <a:xfrm>
              <a:off x="601682" y="4871955"/>
              <a:ext cx="116993" cy="150420"/>
            </a:xfrm>
            <a:prstGeom prst="rect">
              <a:avLst/>
            </a:prstGeom>
          </p:spPr>
        </p:pic>
      </p:grpSp>
      <p:sp>
        <p:nvSpPr>
          <p:cNvPr id="20" name="object 20" descr=""/>
          <p:cNvSpPr txBox="1"/>
          <p:nvPr/>
        </p:nvSpPr>
        <p:spPr>
          <a:xfrm>
            <a:off x="789543" y="3073925"/>
            <a:ext cx="2586990" cy="467359"/>
          </a:xfrm>
          <a:prstGeom prst="rect">
            <a:avLst/>
          </a:prstGeom>
        </p:spPr>
        <p:txBody>
          <a:bodyPr wrap="square" lIns="0" tIns="13970" rIns="0" bIns="0" rtlCol="0" vert="horz">
            <a:spAutoFit/>
          </a:bodyPr>
          <a:lstStyle/>
          <a:p>
            <a:pPr marL="29209">
              <a:lnSpc>
                <a:spcPct val="100000"/>
              </a:lnSpc>
              <a:spcBef>
                <a:spcPts val="110"/>
              </a:spcBef>
            </a:pPr>
            <a:r>
              <a:rPr dirty="0" sz="1150" spc="-110">
                <a:latin typeface="SimSun"/>
                <a:cs typeface="SimSun"/>
              </a:rPr>
              <a:t>条件</a:t>
            </a:r>
            <a:r>
              <a:rPr dirty="0" sz="1050" b="1">
                <a:latin typeface="Yu Gothic"/>
                <a:cs typeface="Yu Gothic"/>
              </a:rPr>
              <a:t>①</a:t>
            </a:r>
            <a:r>
              <a:rPr dirty="0" sz="1000" spc="15">
                <a:latin typeface="PMingLiU"/>
                <a:cs typeface="PMingLiU"/>
              </a:rPr>
              <a:t>： </a:t>
            </a:r>
            <a:r>
              <a:rPr dirty="0" sz="1050" spc="100">
                <a:latin typeface="Segoe UI Symbol"/>
                <a:cs typeface="Segoe UI Symbol"/>
              </a:rPr>
              <a:t>Ln=1.2µm,</a:t>
            </a:r>
            <a:r>
              <a:rPr dirty="0" sz="1050" spc="5">
                <a:latin typeface="Segoe UI Symbol"/>
                <a:cs typeface="Segoe UI Symbol"/>
              </a:rPr>
              <a:t> </a:t>
            </a:r>
            <a:r>
              <a:rPr dirty="0" sz="1050" spc="80">
                <a:latin typeface="Segoe UI Symbol"/>
                <a:cs typeface="Segoe UI Symbol"/>
              </a:rPr>
              <a:t>Nn=2×10¹⁹[cm⁻³]</a:t>
            </a:r>
            <a:endParaRPr sz="1050">
              <a:latin typeface="Segoe UI Symbol"/>
              <a:cs typeface="Segoe UI Symbol"/>
            </a:endParaRPr>
          </a:p>
          <a:p>
            <a:pPr marL="12700">
              <a:lnSpc>
                <a:spcPct val="100000"/>
              </a:lnSpc>
              <a:spcBef>
                <a:spcPts val="825"/>
              </a:spcBef>
            </a:pPr>
            <a:r>
              <a:rPr dirty="0" sz="1050" spc="-15">
                <a:latin typeface="PMingLiU"/>
                <a:cs typeface="PMingLiU"/>
              </a:rPr>
              <a:t>電流立ち上がり最大桁数</a:t>
            </a:r>
            <a:r>
              <a:rPr dirty="0" sz="1050" spc="95">
                <a:latin typeface="Segoe UI Symbol"/>
                <a:cs typeface="Segoe UI Symbol"/>
              </a:rPr>
              <a:t>: </a:t>
            </a:r>
            <a:r>
              <a:rPr dirty="0" sz="1050" spc="95" b="1">
                <a:latin typeface="Yu Gothic"/>
                <a:cs typeface="Yu Gothic"/>
              </a:rPr>
              <a:t>7.9</a:t>
            </a:r>
            <a:endParaRPr sz="1050">
              <a:latin typeface="Yu Gothic"/>
              <a:cs typeface="Yu Gothic"/>
            </a:endParaRPr>
          </a:p>
        </p:txBody>
      </p:sp>
      <p:sp>
        <p:nvSpPr>
          <p:cNvPr id="21" name="object 21" descr=""/>
          <p:cNvSpPr txBox="1"/>
          <p:nvPr/>
        </p:nvSpPr>
        <p:spPr>
          <a:xfrm>
            <a:off x="806256" y="3943022"/>
            <a:ext cx="2570480" cy="202565"/>
          </a:xfrm>
          <a:prstGeom prst="rect">
            <a:avLst/>
          </a:prstGeom>
        </p:spPr>
        <p:txBody>
          <a:bodyPr wrap="square" lIns="0" tIns="13970" rIns="0" bIns="0" rtlCol="0" vert="horz">
            <a:spAutoFit/>
          </a:bodyPr>
          <a:lstStyle/>
          <a:p>
            <a:pPr marL="12700">
              <a:lnSpc>
                <a:spcPct val="100000"/>
              </a:lnSpc>
              <a:spcBef>
                <a:spcPts val="110"/>
              </a:spcBef>
            </a:pPr>
            <a:r>
              <a:rPr dirty="0" sz="1150" spc="-110">
                <a:latin typeface="SimSun"/>
                <a:cs typeface="SimSun"/>
              </a:rPr>
              <a:t>条件</a:t>
            </a:r>
            <a:r>
              <a:rPr dirty="0" sz="1050" b="1">
                <a:latin typeface="Yu Gothic"/>
                <a:cs typeface="Yu Gothic"/>
              </a:rPr>
              <a:t>③</a:t>
            </a:r>
            <a:r>
              <a:rPr dirty="0" sz="1000" spc="15">
                <a:latin typeface="PMingLiU"/>
                <a:cs typeface="PMingLiU"/>
              </a:rPr>
              <a:t>： </a:t>
            </a:r>
            <a:r>
              <a:rPr dirty="0" sz="1050" spc="100">
                <a:latin typeface="Segoe UI Symbol"/>
                <a:cs typeface="Segoe UI Symbol"/>
              </a:rPr>
              <a:t>Ln=0.6µm,</a:t>
            </a:r>
            <a:r>
              <a:rPr dirty="0" sz="1050" spc="5">
                <a:latin typeface="Segoe UI Symbol"/>
                <a:cs typeface="Segoe UI Symbol"/>
              </a:rPr>
              <a:t> </a:t>
            </a:r>
            <a:r>
              <a:rPr dirty="0" sz="1050" spc="80">
                <a:latin typeface="Segoe UI Symbol"/>
                <a:cs typeface="Segoe UI Symbol"/>
              </a:rPr>
              <a:t>Nn=7×10¹⁹[cm⁻³]</a:t>
            </a:r>
            <a:endParaRPr sz="1050">
              <a:latin typeface="Segoe UI Symbol"/>
              <a:cs typeface="Segoe UI Symbol"/>
            </a:endParaRPr>
          </a:p>
        </p:txBody>
      </p:sp>
      <p:sp>
        <p:nvSpPr>
          <p:cNvPr id="22" name="object 22" descr=""/>
          <p:cNvSpPr txBox="1"/>
          <p:nvPr/>
        </p:nvSpPr>
        <p:spPr>
          <a:xfrm>
            <a:off x="789543" y="4224146"/>
            <a:ext cx="1821180" cy="186055"/>
          </a:xfrm>
          <a:prstGeom prst="rect">
            <a:avLst/>
          </a:prstGeom>
        </p:spPr>
        <p:txBody>
          <a:bodyPr wrap="square" lIns="0" tIns="12700" rIns="0" bIns="0" rtlCol="0" vert="horz">
            <a:spAutoFit/>
          </a:bodyPr>
          <a:lstStyle/>
          <a:p>
            <a:pPr marL="12700">
              <a:lnSpc>
                <a:spcPct val="100000"/>
              </a:lnSpc>
              <a:spcBef>
                <a:spcPts val="100"/>
              </a:spcBef>
            </a:pPr>
            <a:r>
              <a:rPr dirty="0" sz="1050" spc="-15">
                <a:latin typeface="PMingLiU"/>
                <a:cs typeface="PMingLiU"/>
              </a:rPr>
              <a:t>電流立ち上がり最大桁数</a:t>
            </a:r>
            <a:r>
              <a:rPr dirty="0" sz="1050" spc="95">
                <a:latin typeface="Segoe UI Symbol"/>
                <a:cs typeface="Segoe UI Symbol"/>
              </a:rPr>
              <a:t>: </a:t>
            </a:r>
            <a:r>
              <a:rPr dirty="0" sz="1050" spc="95" b="1">
                <a:latin typeface="Yu Gothic"/>
                <a:cs typeface="Yu Gothic"/>
              </a:rPr>
              <a:t>8.7</a:t>
            </a:r>
            <a:endParaRPr sz="1050">
              <a:latin typeface="Yu Gothic"/>
              <a:cs typeface="Yu Gothic"/>
            </a:endParaRPr>
          </a:p>
        </p:txBody>
      </p:sp>
      <p:sp>
        <p:nvSpPr>
          <p:cNvPr id="23" name="object 23" descr=""/>
          <p:cNvSpPr txBox="1"/>
          <p:nvPr/>
        </p:nvSpPr>
        <p:spPr>
          <a:xfrm>
            <a:off x="588982" y="4759171"/>
            <a:ext cx="2846705" cy="687070"/>
          </a:xfrm>
          <a:prstGeom prst="rect">
            <a:avLst/>
          </a:prstGeom>
        </p:spPr>
        <p:txBody>
          <a:bodyPr wrap="square" lIns="0" tIns="66675" rIns="0" bIns="0" rtlCol="0" vert="horz">
            <a:spAutoFit/>
          </a:bodyPr>
          <a:lstStyle/>
          <a:p>
            <a:pPr marL="196215">
              <a:lnSpc>
                <a:spcPct val="100000"/>
              </a:lnSpc>
              <a:spcBef>
                <a:spcPts val="525"/>
              </a:spcBef>
            </a:pPr>
            <a:r>
              <a:rPr dirty="0" sz="1250" spc="-75">
                <a:latin typeface="PMingLiU"/>
                <a:cs typeface="PMingLiU"/>
              </a:rPr>
              <a:t>結果</a:t>
            </a:r>
            <a:r>
              <a:rPr dirty="0" sz="1100" spc="80">
                <a:latin typeface="PMingLiU"/>
                <a:cs typeface="PMingLiU"/>
              </a:rPr>
              <a:t>の</a:t>
            </a:r>
            <a:r>
              <a:rPr dirty="0" sz="1300" spc="-130">
                <a:latin typeface="SimSun"/>
                <a:cs typeface="SimSun"/>
              </a:rPr>
              <a:t>考</a:t>
            </a:r>
            <a:r>
              <a:rPr dirty="0" sz="1350" spc="-50">
                <a:latin typeface="SimSun"/>
                <a:cs typeface="SimSun"/>
              </a:rPr>
              <a:t>察</a:t>
            </a:r>
            <a:endParaRPr sz="1350">
              <a:latin typeface="SimSun"/>
              <a:cs typeface="SimSun"/>
            </a:endParaRPr>
          </a:p>
          <a:p>
            <a:pPr marL="12700">
              <a:lnSpc>
                <a:spcPct val="100000"/>
              </a:lnSpc>
              <a:spcBef>
                <a:spcPts val="325"/>
              </a:spcBef>
            </a:pPr>
            <a:r>
              <a:rPr dirty="0" sz="1050" spc="50">
                <a:solidFill>
                  <a:srgbClr val="1F2937"/>
                </a:solidFill>
                <a:latin typeface="Segoe UI Symbol"/>
                <a:cs typeface="Segoe UI Symbol"/>
              </a:rPr>
              <a:t>SiO₂</a:t>
            </a:r>
            <a:r>
              <a:rPr dirty="0" sz="1050" spc="-30">
                <a:solidFill>
                  <a:srgbClr val="1F2937"/>
                </a:solidFill>
                <a:latin typeface="PMingLiU"/>
                <a:cs typeface="PMingLiU"/>
              </a:rPr>
              <a:t>追加により立ち上がり桁数の最大値が増加</a:t>
            </a:r>
            <a:endParaRPr sz="1050">
              <a:latin typeface="PMingLiU"/>
              <a:cs typeface="PMingLiU"/>
            </a:endParaRPr>
          </a:p>
          <a:p>
            <a:pPr marL="12700">
              <a:lnSpc>
                <a:spcPct val="100000"/>
              </a:lnSpc>
              <a:spcBef>
                <a:spcPts val="320"/>
              </a:spcBef>
            </a:pPr>
            <a:r>
              <a:rPr dirty="0" sz="1050" spc="65">
                <a:solidFill>
                  <a:srgbClr val="1F2937"/>
                </a:solidFill>
                <a:latin typeface="PMingLiU"/>
                <a:cs typeface="PMingLiU"/>
              </a:rPr>
              <a:t>（</a:t>
            </a:r>
            <a:r>
              <a:rPr dirty="0" sz="1050" spc="65">
                <a:solidFill>
                  <a:srgbClr val="1F2937"/>
                </a:solidFill>
                <a:latin typeface="Segoe UI Symbol"/>
                <a:cs typeface="Segoe UI Symbol"/>
              </a:rPr>
              <a:t>+0.8</a:t>
            </a:r>
            <a:r>
              <a:rPr dirty="0" sz="1050" spc="65">
                <a:solidFill>
                  <a:srgbClr val="1F2937"/>
                </a:solidFill>
                <a:latin typeface="PMingLiU"/>
                <a:cs typeface="PMingLiU"/>
              </a:rPr>
              <a:t>）</a:t>
            </a:r>
            <a:endParaRPr sz="1050">
              <a:latin typeface="PMingLiU"/>
              <a:cs typeface="PMingLiU"/>
            </a:endParaRPr>
          </a:p>
        </p:txBody>
      </p:sp>
      <p:sp>
        <p:nvSpPr>
          <p:cNvPr id="24" name="object 24" descr=""/>
          <p:cNvSpPr/>
          <p:nvPr/>
        </p:nvSpPr>
        <p:spPr>
          <a:xfrm>
            <a:off x="4412337" y="919236"/>
            <a:ext cx="5950585" cy="4295775"/>
          </a:xfrm>
          <a:custGeom>
            <a:avLst/>
            <a:gdLst/>
            <a:ahLst/>
            <a:cxnLst/>
            <a:rect l="l" t="t" r="r" b="b"/>
            <a:pathLst>
              <a:path w="5950584" h="4295775">
                <a:moveTo>
                  <a:pt x="5887506" y="4295343"/>
                </a:moveTo>
                <a:lnTo>
                  <a:pt x="62463" y="4295343"/>
                </a:lnTo>
                <a:lnTo>
                  <a:pt x="58115" y="4294914"/>
                </a:lnTo>
                <a:lnTo>
                  <a:pt x="22684" y="4278865"/>
                </a:lnTo>
                <a:lnTo>
                  <a:pt x="2140" y="4245837"/>
                </a:lnTo>
                <a:lnTo>
                  <a:pt x="0" y="4232879"/>
                </a:lnTo>
                <a:lnTo>
                  <a:pt x="0" y="4228490"/>
                </a:lnTo>
                <a:lnTo>
                  <a:pt x="0" y="62463"/>
                </a:lnTo>
                <a:lnTo>
                  <a:pt x="13705" y="26061"/>
                </a:lnTo>
                <a:lnTo>
                  <a:pt x="45324" y="3408"/>
                </a:lnTo>
                <a:lnTo>
                  <a:pt x="62463" y="0"/>
                </a:lnTo>
                <a:lnTo>
                  <a:pt x="5887506" y="0"/>
                </a:lnTo>
                <a:lnTo>
                  <a:pt x="5923908" y="13705"/>
                </a:lnTo>
                <a:lnTo>
                  <a:pt x="5946561" y="45325"/>
                </a:lnTo>
                <a:lnTo>
                  <a:pt x="5949970" y="62463"/>
                </a:lnTo>
                <a:lnTo>
                  <a:pt x="5949970" y="4232879"/>
                </a:lnTo>
                <a:lnTo>
                  <a:pt x="5936264" y="4269281"/>
                </a:lnTo>
                <a:lnTo>
                  <a:pt x="5904644" y="4291934"/>
                </a:lnTo>
                <a:lnTo>
                  <a:pt x="5891853" y="4294914"/>
                </a:lnTo>
                <a:lnTo>
                  <a:pt x="5887506" y="4295343"/>
                </a:lnTo>
                <a:close/>
              </a:path>
            </a:pathLst>
          </a:custGeom>
          <a:solidFill>
            <a:srgbClr val="FFFFFF">
              <a:alpha val="94898"/>
            </a:srgbClr>
          </a:solidFill>
        </p:spPr>
        <p:txBody>
          <a:bodyPr wrap="square" lIns="0" tIns="0" rIns="0" bIns="0" rtlCol="0"/>
          <a:lstStyle/>
          <a:p/>
        </p:txBody>
      </p:sp>
      <p:sp>
        <p:nvSpPr>
          <p:cNvPr id="25" name="object 25" descr=""/>
          <p:cNvSpPr txBox="1"/>
          <p:nvPr/>
        </p:nvSpPr>
        <p:spPr>
          <a:xfrm>
            <a:off x="4566771" y="1043704"/>
            <a:ext cx="5149850" cy="302260"/>
          </a:xfrm>
          <a:prstGeom prst="rect">
            <a:avLst/>
          </a:prstGeom>
        </p:spPr>
        <p:txBody>
          <a:bodyPr wrap="square" lIns="0" tIns="14604" rIns="0" bIns="0" rtlCol="0" vert="horz">
            <a:spAutoFit/>
          </a:bodyPr>
          <a:lstStyle/>
          <a:p>
            <a:pPr marL="12700">
              <a:lnSpc>
                <a:spcPct val="100000"/>
              </a:lnSpc>
              <a:spcBef>
                <a:spcPts val="114"/>
              </a:spcBef>
            </a:pPr>
            <a:r>
              <a:rPr dirty="0" sz="1750" spc="-175">
                <a:solidFill>
                  <a:srgbClr val="1D3A8A"/>
                </a:solidFill>
                <a:latin typeface="SimSun"/>
                <a:cs typeface="SimSun"/>
              </a:rPr>
              <a:t>条</a:t>
            </a:r>
            <a:r>
              <a:rPr dirty="0" sz="1700" spc="-145">
                <a:solidFill>
                  <a:srgbClr val="1D3A8A"/>
                </a:solidFill>
                <a:latin typeface="SimSun"/>
                <a:cs typeface="SimSun"/>
              </a:rPr>
              <a:t>件</a:t>
            </a:r>
            <a:r>
              <a:rPr dirty="0" sz="1550" spc="-225" b="1">
                <a:solidFill>
                  <a:srgbClr val="1D3A8A"/>
                </a:solidFill>
                <a:latin typeface="Yu Gothic"/>
                <a:cs typeface="Yu Gothic"/>
              </a:rPr>
              <a:t>③</a:t>
            </a:r>
            <a:r>
              <a:rPr dirty="0" sz="1650" spc="-30">
                <a:solidFill>
                  <a:srgbClr val="1D3A8A"/>
                </a:solidFill>
                <a:latin typeface="PMingLiU"/>
                <a:cs typeface="PMingLiU"/>
              </a:rPr>
              <a:t>の</a:t>
            </a:r>
            <a:r>
              <a:rPr dirty="0" sz="1550" spc="160" b="1">
                <a:solidFill>
                  <a:srgbClr val="1D3A8A"/>
                </a:solidFill>
                <a:latin typeface="Yu Gothic"/>
                <a:cs typeface="Yu Gothic"/>
              </a:rPr>
              <a:t>Body</a:t>
            </a:r>
            <a:r>
              <a:rPr dirty="0" sz="1550" spc="155" b="1">
                <a:solidFill>
                  <a:srgbClr val="1D3A8A"/>
                </a:solidFill>
                <a:latin typeface="Yu Gothic"/>
                <a:cs typeface="Yu Gothic"/>
              </a:rPr>
              <a:t> </a:t>
            </a:r>
            <a:r>
              <a:rPr dirty="0" sz="1550" spc="100" b="1">
                <a:solidFill>
                  <a:srgbClr val="1D3A8A"/>
                </a:solidFill>
                <a:latin typeface="Yu Gothic"/>
                <a:cs typeface="Yu Gothic"/>
              </a:rPr>
              <a:t>Tie</a:t>
            </a:r>
            <a:r>
              <a:rPr dirty="0" sz="1700" spc="-145">
                <a:solidFill>
                  <a:srgbClr val="1D3A8A"/>
                </a:solidFill>
                <a:latin typeface="PMingLiU"/>
                <a:cs typeface="PMingLiU"/>
              </a:rPr>
              <a:t>電</a:t>
            </a:r>
            <a:r>
              <a:rPr dirty="0" sz="1800" spc="-240">
                <a:solidFill>
                  <a:srgbClr val="1D3A8A"/>
                </a:solidFill>
                <a:latin typeface="SimSun"/>
                <a:cs typeface="SimSun"/>
              </a:rPr>
              <a:t>流</a:t>
            </a:r>
            <a:r>
              <a:rPr dirty="0" sz="1800" spc="-240">
                <a:solidFill>
                  <a:srgbClr val="1D3A8A"/>
                </a:solidFill>
                <a:latin typeface="PMingLiU"/>
                <a:cs typeface="PMingLiU"/>
              </a:rPr>
              <a:t>立</a:t>
            </a:r>
            <a:r>
              <a:rPr dirty="0" sz="1650" spc="-30">
                <a:solidFill>
                  <a:srgbClr val="1D3A8A"/>
                </a:solidFill>
                <a:latin typeface="PMingLiU"/>
                <a:cs typeface="PMingLiU"/>
              </a:rPr>
              <a:t>ち</a:t>
            </a:r>
            <a:r>
              <a:rPr dirty="0" sz="1750" spc="-175">
                <a:solidFill>
                  <a:srgbClr val="1D3A8A"/>
                </a:solidFill>
                <a:latin typeface="PMingLiU"/>
                <a:cs typeface="PMingLiU"/>
              </a:rPr>
              <a:t>上</a:t>
            </a:r>
            <a:r>
              <a:rPr dirty="0" sz="1650" spc="-30">
                <a:solidFill>
                  <a:srgbClr val="1D3A8A"/>
                </a:solidFill>
                <a:latin typeface="PMingLiU"/>
                <a:cs typeface="PMingLiU"/>
              </a:rPr>
              <a:t>がり</a:t>
            </a:r>
            <a:r>
              <a:rPr dirty="0" sz="1750" spc="-175">
                <a:solidFill>
                  <a:srgbClr val="1D3A8A"/>
                </a:solidFill>
                <a:latin typeface="SimSun"/>
                <a:cs typeface="SimSun"/>
              </a:rPr>
              <a:t>桁</a:t>
            </a:r>
            <a:r>
              <a:rPr dirty="0" sz="1700" spc="-145">
                <a:solidFill>
                  <a:srgbClr val="1D3A8A"/>
                </a:solidFill>
                <a:latin typeface="SimSun"/>
                <a:cs typeface="SimSun"/>
              </a:rPr>
              <a:t>数</a:t>
            </a:r>
            <a:r>
              <a:rPr dirty="0" sz="1650" spc="-30">
                <a:solidFill>
                  <a:srgbClr val="1D3A8A"/>
                </a:solidFill>
                <a:latin typeface="PMingLiU"/>
                <a:cs typeface="PMingLiU"/>
              </a:rPr>
              <a:t>の</a:t>
            </a:r>
            <a:r>
              <a:rPr dirty="0" sz="1550" spc="114" b="1">
                <a:solidFill>
                  <a:srgbClr val="1D3A8A"/>
                </a:solidFill>
                <a:latin typeface="Yu Gothic"/>
                <a:cs typeface="Yu Gothic"/>
              </a:rPr>
              <a:t>Ln,</a:t>
            </a:r>
            <a:r>
              <a:rPr dirty="0" sz="1550" spc="160" b="1">
                <a:solidFill>
                  <a:srgbClr val="1D3A8A"/>
                </a:solidFill>
                <a:latin typeface="Yu Gothic"/>
                <a:cs typeface="Yu Gothic"/>
              </a:rPr>
              <a:t> </a:t>
            </a:r>
            <a:r>
              <a:rPr dirty="0" sz="1550" spc="130" b="1">
                <a:solidFill>
                  <a:srgbClr val="1D3A8A"/>
                </a:solidFill>
                <a:latin typeface="Yu Gothic"/>
                <a:cs typeface="Yu Gothic"/>
              </a:rPr>
              <a:t>Nn</a:t>
            </a:r>
            <a:r>
              <a:rPr dirty="0" sz="1750" spc="-175">
                <a:solidFill>
                  <a:srgbClr val="1D3A8A"/>
                </a:solidFill>
                <a:latin typeface="SimSun"/>
                <a:cs typeface="SimSun"/>
              </a:rPr>
              <a:t>依</a:t>
            </a:r>
            <a:r>
              <a:rPr dirty="0" sz="1800" spc="-240">
                <a:solidFill>
                  <a:srgbClr val="1D3A8A"/>
                </a:solidFill>
                <a:latin typeface="SimSun"/>
                <a:cs typeface="SimSun"/>
              </a:rPr>
              <a:t>存</a:t>
            </a:r>
            <a:r>
              <a:rPr dirty="0" sz="1750" spc="-50">
                <a:solidFill>
                  <a:srgbClr val="1D3A8A"/>
                </a:solidFill>
                <a:latin typeface="SimSun"/>
                <a:cs typeface="SimSun"/>
              </a:rPr>
              <a:t>性</a:t>
            </a:r>
            <a:endParaRPr sz="1750">
              <a:latin typeface="SimSun"/>
              <a:cs typeface="SimSun"/>
            </a:endParaRPr>
          </a:p>
        </p:txBody>
      </p:sp>
      <p:grpSp>
        <p:nvGrpSpPr>
          <p:cNvPr id="26" name="object 26" descr=""/>
          <p:cNvGrpSpPr/>
          <p:nvPr/>
        </p:nvGrpSpPr>
        <p:grpSpPr>
          <a:xfrm>
            <a:off x="4579470" y="1487492"/>
            <a:ext cx="5615940" cy="3560445"/>
            <a:chOff x="4579470" y="1487492"/>
            <a:chExt cx="5615940" cy="3560445"/>
          </a:xfrm>
        </p:grpSpPr>
        <p:pic>
          <p:nvPicPr>
            <p:cNvPr id="27" name="object 27" descr=""/>
            <p:cNvPicPr/>
            <p:nvPr/>
          </p:nvPicPr>
          <p:blipFill>
            <a:blip r:embed="rId8" cstate="print"/>
            <a:stretch>
              <a:fillRect/>
            </a:stretch>
          </p:blipFill>
          <p:spPr>
            <a:xfrm>
              <a:off x="4579471" y="1487492"/>
              <a:ext cx="5615702" cy="2339875"/>
            </a:xfrm>
            <a:prstGeom prst="rect">
              <a:avLst/>
            </a:prstGeom>
          </p:spPr>
        </p:pic>
        <p:pic>
          <p:nvPicPr>
            <p:cNvPr id="28" name="object 28" descr=""/>
            <p:cNvPicPr/>
            <p:nvPr/>
          </p:nvPicPr>
          <p:blipFill>
            <a:blip r:embed="rId9" cstate="print"/>
            <a:stretch>
              <a:fillRect/>
            </a:stretch>
          </p:blipFill>
          <p:spPr>
            <a:xfrm>
              <a:off x="6551652" y="3927648"/>
              <a:ext cx="1671339" cy="167133"/>
            </a:xfrm>
            <a:prstGeom prst="rect">
              <a:avLst/>
            </a:prstGeom>
          </p:spPr>
        </p:pic>
        <p:sp>
          <p:nvSpPr>
            <p:cNvPr id="29" name="object 29" descr=""/>
            <p:cNvSpPr/>
            <p:nvPr/>
          </p:nvSpPr>
          <p:spPr>
            <a:xfrm>
              <a:off x="4579470" y="4245203"/>
              <a:ext cx="2741295" cy="802640"/>
            </a:xfrm>
            <a:custGeom>
              <a:avLst/>
              <a:gdLst/>
              <a:ahLst/>
              <a:cxnLst/>
              <a:rect l="l" t="t" r="r" b="b"/>
              <a:pathLst>
                <a:path w="2741295" h="802639">
                  <a:moveTo>
                    <a:pt x="2678533" y="802243"/>
                  </a:moveTo>
                  <a:lnTo>
                    <a:pt x="62464" y="802243"/>
                  </a:lnTo>
                  <a:lnTo>
                    <a:pt x="58116" y="801814"/>
                  </a:lnTo>
                  <a:lnTo>
                    <a:pt x="22684" y="785766"/>
                  </a:lnTo>
                  <a:lnTo>
                    <a:pt x="2140" y="752737"/>
                  </a:lnTo>
                  <a:lnTo>
                    <a:pt x="0" y="739778"/>
                  </a:lnTo>
                  <a:lnTo>
                    <a:pt x="0" y="735389"/>
                  </a:lnTo>
                  <a:lnTo>
                    <a:pt x="0" y="62463"/>
                  </a:lnTo>
                  <a:lnTo>
                    <a:pt x="13705" y="26060"/>
                  </a:lnTo>
                  <a:lnTo>
                    <a:pt x="45325" y="3408"/>
                  </a:lnTo>
                  <a:lnTo>
                    <a:pt x="62464" y="0"/>
                  </a:lnTo>
                  <a:lnTo>
                    <a:pt x="2678533" y="0"/>
                  </a:lnTo>
                  <a:lnTo>
                    <a:pt x="2714935" y="13705"/>
                  </a:lnTo>
                  <a:lnTo>
                    <a:pt x="2737587" y="45324"/>
                  </a:lnTo>
                  <a:lnTo>
                    <a:pt x="2740997" y="62463"/>
                  </a:lnTo>
                  <a:lnTo>
                    <a:pt x="2740997" y="739778"/>
                  </a:lnTo>
                  <a:lnTo>
                    <a:pt x="2727291" y="776181"/>
                  </a:lnTo>
                  <a:lnTo>
                    <a:pt x="2695671" y="798833"/>
                  </a:lnTo>
                  <a:lnTo>
                    <a:pt x="2682881" y="801814"/>
                  </a:lnTo>
                  <a:lnTo>
                    <a:pt x="2678533" y="802243"/>
                  </a:lnTo>
                  <a:close/>
                </a:path>
              </a:pathLst>
            </a:custGeom>
            <a:solidFill>
              <a:srgbClr val="EFF5FF"/>
            </a:solidFill>
          </p:spPr>
          <p:txBody>
            <a:bodyPr wrap="square" lIns="0" tIns="0" rIns="0" bIns="0" rtlCol="0"/>
            <a:lstStyle/>
            <a:p/>
          </p:txBody>
        </p:sp>
        <p:pic>
          <p:nvPicPr>
            <p:cNvPr id="30" name="object 30" descr=""/>
            <p:cNvPicPr/>
            <p:nvPr/>
          </p:nvPicPr>
          <p:blipFill>
            <a:blip r:embed="rId10" cstate="print"/>
            <a:stretch>
              <a:fillRect/>
            </a:stretch>
          </p:blipFill>
          <p:spPr>
            <a:xfrm>
              <a:off x="4679751" y="4378910"/>
              <a:ext cx="133707" cy="133707"/>
            </a:xfrm>
            <a:prstGeom prst="rect">
              <a:avLst/>
            </a:prstGeom>
          </p:spPr>
        </p:pic>
      </p:grpSp>
      <p:sp>
        <p:nvSpPr>
          <p:cNvPr id="31" name="object 31" descr=""/>
          <p:cNvSpPr txBox="1"/>
          <p:nvPr/>
        </p:nvSpPr>
        <p:spPr>
          <a:xfrm>
            <a:off x="6321678" y="3906592"/>
            <a:ext cx="159385" cy="186055"/>
          </a:xfrm>
          <a:prstGeom prst="rect">
            <a:avLst/>
          </a:prstGeom>
        </p:spPr>
        <p:txBody>
          <a:bodyPr wrap="square" lIns="0" tIns="12700" rIns="0" bIns="0" rtlCol="0" vert="horz">
            <a:spAutoFit/>
          </a:bodyPr>
          <a:lstStyle/>
          <a:p>
            <a:pPr marL="12700">
              <a:lnSpc>
                <a:spcPct val="100000"/>
              </a:lnSpc>
              <a:spcBef>
                <a:spcPts val="100"/>
              </a:spcBef>
            </a:pPr>
            <a:r>
              <a:rPr dirty="0" sz="1050" spc="-50">
                <a:latin typeface="PMingLiU"/>
                <a:cs typeface="PMingLiU"/>
              </a:rPr>
              <a:t>低</a:t>
            </a:r>
            <a:endParaRPr sz="1050">
              <a:latin typeface="PMingLiU"/>
              <a:cs typeface="PMingLiU"/>
            </a:endParaRPr>
          </a:p>
        </p:txBody>
      </p:sp>
      <p:sp>
        <p:nvSpPr>
          <p:cNvPr id="32" name="object 32" descr=""/>
          <p:cNvSpPr txBox="1"/>
          <p:nvPr/>
        </p:nvSpPr>
        <p:spPr>
          <a:xfrm>
            <a:off x="8293859" y="3906592"/>
            <a:ext cx="159385" cy="186055"/>
          </a:xfrm>
          <a:prstGeom prst="rect">
            <a:avLst/>
          </a:prstGeom>
        </p:spPr>
        <p:txBody>
          <a:bodyPr wrap="square" lIns="0" tIns="12700" rIns="0" bIns="0" rtlCol="0" vert="horz">
            <a:spAutoFit/>
          </a:bodyPr>
          <a:lstStyle/>
          <a:p>
            <a:pPr marL="12700">
              <a:lnSpc>
                <a:spcPct val="100000"/>
              </a:lnSpc>
              <a:spcBef>
                <a:spcPts val="100"/>
              </a:spcBef>
            </a:pPr>
            <a:r>
              <a:rPr dirty="0" sz="1050" spc="-50">
                <a:latin typeface="PMingLiU"/>
                <a:cs typeface="PMingLiU"/>
              </a:rPr>
              <a:t>高</a:t>
            </a:r>
            <a:endParaRPr sz="1050">
              <a:latin typeface="PMingLiU"/>
              <a:cs typeface="PMingLiU"/>
            </a:endParaRPr>
          </a:p>
        </p:txBody>
      </p:sp>
      <p:sp>
        <p:nvSpPr>
          <p:cNvPr id="33" name="object 33" descr=""/>
          <p:cNvSpPr txBox="1"/>
          <p:nvPr/>
        </p:nvSpPr>
        <p:spPr>
          <a:xfrm>
            <a:off x="4667051" y="4279650"/>
            <a:ext cx="2548255" cy="648970"/>
          </a:xfrm>
          <a:prstGeom prst="rect">
            <a:avLst/>
          </a:prstGeom>
        </p:spPr>
        <p:txBody>
          <a:bodyPr wrap="square" lIns="0" tIns="55244" rIns="0" bIns="0" rtlCol="0" vert="horz">
            <a:spAutoFit/>
          </a:bodyPr>
          <a:lstStyle/>
          <a:p>
            <a:pPr marL="212725">
              <a:lnSpc>
                <a:spcPct val="100000"/>
              </a:lnSpc>
              <a:spcBef>
                <a:spcPts val="434"/>
              </a:spcBef>
            </a:pPr>
            <a:r>
              <a:rPr dirty="0" sz="1150" spc="-110">
                <a:latin typeface="SimSun"/>
                <a:cs typeface="SimSun"/>
              </a:rPr>
              <a:t>最</a:t>
            </a:r>
            <a:r>
              <a:rPr dirty="0" sz="1200" spc="-165">
                <a:latin typeface="PMingLiU"/>
                <a:cs typeface="PMingLiU"/>
              </a:rPr>
              <a:t>適</a:t>
            </a:r>
            <a:r>
              <a:rPr dirty="0" sz="1150" spc="-110">
                <a:latin typeface="SimSun"/>
                <a:cs typeface="SimSun"/>
              </a:rPr>
              <a:t>構</a:t>
            </a:r>
            <a:r>
              <a:rPr dirty="0" sz="1200" spc="-165">
                <a:latin typeface="PMingLiU"/>
                <a:cs typeface="PMingLiU"/>
              </a:rPr>
              <a:t>造</a:t>
            </a:r>
            <a:r>
              <a:rPr dirty="0" sz="1100" spc="-65">
                <a:latin typeface="PMingLiU"/>
                <a:cs typeface="PMingLiU"/>
              </a:rPr>
              <a:t>パラメータ</a:t>
            </a:r>
            <a:endParaRPr sz="1100">
              <a:latin typeface="PMingLiU"/>
              <a:cs typeface="PMingLiU"/>
            </a:endParaRPr>
          </a:p>
          <a:p>
            <a:pPr marL="12700" marR="5080">
              <a:lnSpc>
                <a:spcPts val="1580"/>
              </a:lnSpc>
              <a:spcBef>
                <a:spcPts val="70"/>
              </a:spcBef>
            </a:pPr>
            <a:r>
              <a:rPr dirty="0" sz="1050" spc="100">
                <a:solidFill>
                  <a:srgbClr val="1F2937"/>
                </a:solidFill>
                <a:latin typeface="Segoe UI Symbol"/>
                <a:cs typeface="Segoe UI Symbol"/>
              </a:rPr>
              <a:t>Ln=0.6µm,</a:t>
            </a:r>
            <a:r>
              <a:rPr dirty="0" sz="1050" spc="70">
                <a:solidFill>
                  <a:srgbClr val="1F2937"/>
                </a:solidFill>
                <a:latin typeface="Segoe UI Symbol"/>
                <a:cs typeface="Segoe UI Symbol"/>
              </a:rPr>
              <a:t> </a:t>
            </a:r>
            <a:r>
              <a:rPr dirty="0" sz="1050" spc="90">
                <a:solidFill>
                  <a:srgbClr val="1F2937"/>
                </a:solidFill>
                <a:latin typeface="Segoe UI Symbol"/>
                <a:cs typeface="Segoe UI Symbol"/>
              </a:rPr>
              <a:t>Nn=7×10¹⁹[cm⁻³]</a:t>
            </a:r>
            <a:r>
              <a:rPr dirty="0" sz="1050" spc="-20">
                <a:solidFill>
                  <a:srgbClr val="1F2937"/>
                </a:solidFill>
                <a:latin typeface="PMingLiU"/>
                <a:cs typeface="PMingLiU"/>
              </a:rPr>
              <a:t>で最大値を示す</a:t>
            </a:r>
            <a:endParaRPr sz="1050">
              <a:latin typeface="PMingLiU"/>
              <a:cs typeface="PMingLiU"/>
            </a:endParaRPr>
          </a:p>
        </p:txBody>
      </p:sp>
      <p:grpSp>
        <p:nvGrpSpPr>
          <p:cNvPr id="34" name="object 34" descr=""/>
          <p:cNvGrpSpPr/>
          <p:nvPr/>
        </p:nvGrpSpPr>
        <p:grpSpPr>
          <a:xfrm>
            <a:off x="7454176" y="4245203"/>
            <a:ext cx="2741295" cy="802640"/>
            <a:chOff x="7454176" y="4245203"/>
            <a:chExt cx="2741295" cy="802640"/>
          </a:xfrm>
        </p:grpSpPr>
        <p:sp>
          <p:nvSpPr>
            <p:cNvPr id="35" name="object 35" descr=""/>
            <p:cNvSpPr/>
            <p:nvPr/>
          </p:nvSpPr>
          <p:spPr>
            <a:xfrm>
              <a:off x="7454176" y="4245203"/>
              <a:ext cx="2741295" cy="802640"/>
            </a:xfrm>
            <a:custGeom>
              <a:avLst/>
              <a:gdLst/>
              <a:ahLst/>
              <a:cxnLst/>
              <a:rect l="l" t="t" r="r" b="b"/>
              <a:pathLst>
                <a:path w="2741295" h="802639">
                  <a:moveTo>
                    <a:pt x="2678533" y="802243"/>
                  </a:moveTo>
                  <a:lnTo>
                    <a:pt x="62464" y="802243"/>
                  </a:lnTo>
                  <a:lnTo>
                    <a:pt x="58116" y="801814"/>
                  </a:lnTo>
                  <a:lnTo>
                    <a:pt x="22684" y="785766"/>
                  </a:lnTo>
                  <a:lnTo>
                    <a:pt x="2140" y="752737"/>
                  </a:lnTo>
                  <a:lnTo>
                    <a:pt x="0" y="739778"/>
                  </a:lnTo>
                  <a:lnTo>
                    <a:pt x="0" y="735389"/>
                  </a:lnTo>
                  <a:lnTo>
                    <a:pt x="0" y="62463"/>
                  </a:lnTo>
                  <a:lnTo>
                    <a:pt x="13705" y="26060"/>
                  </a:lnTo>
                  <a:lnTo>
                    <a:pt x="45324" y="3408"/>
                  </a:lnTo>
                  <a:lnTo>
                    <a:pt x="62464" y="0"/>
                  </a:lnTo>
                  <a:lnTo>
                    <a:pt x="2678533" y="0"/>
                  </a:lnTo>
                  <a:lnTo>
                    <a:pt x="2714936" y="13705"/>
                  </a:lnTo>
                  <a:lnTo>
                    <a:pt x="2737587" y="45324"/>
                  </a:lnTo>
                  <a:lnTo>
                    <a:pt x="2740998" y="62463"/>
                  </a:lnTo>
                  <a:lnTo>
                    <a:pt x="2740998" y="739778"/>
                  </a:lnTo>
                  <a:lnTo>
                    <a:pt x="2727292" y="776181"/>
                  </a:lnTo>
                  <a:lnTo>
                    <a:pt x="2695671" y="798833"/>
                  </a:lnTo>
                  <a:lnTo>
                    <a:pt x="2682880" y="801814"/>
                  </a:lnTo>
                  <a:lnTo>
                    <a:pt x="2678533" y="802243"/>
                  </a:lnTo>
                  <a:close/>
                </a:path>
              </a:pathLst>
            </a:custGeom>
            <a:solidFill>
              <a:srgbClr val="ECFDF5"/>
            </a:solidFill>
          </p:spPr>
          <p:txBody>
            <a:bodyPr wrap="square" lIns="0" tIns="0" rIns="0" bIns="0" rtlCol="0"/>
            <a:lstStyle/>
            <a:p/>
          </p:txBody>
        </p:sp>
        <p:pic>
          <p:nvPicPr>
            <p:cNvPr id="36" name="object 36" descr=""/>
            <p:cNvPicPr/>
            <p:nvPr/>
          </p:nvPicPr>
          <p:blipFill>
            <a:blip r:embed="rId11" cstate="print"/>
            <a:stretch>
              <a:fillRect/>
            </a:stretch>
          </p:blipFill>
          <p:spPr>
            <a:xfrm>
              <a:off x="7554456" y="4387267"/>
              <a:ext cx="133707" cy="116993"/>
            </a:xfrm>
            <a:prstGeom prst="rect">
              <a:avLst/>
            </a:prstGeom>
          </p:spPr>
        </p:pic>
      </p:grpSp>
      <p:sp>
        <p:nvSpPr>
          <p:cNvPr id="37" name="object 37" descr=""/>
          <p:cNvSpPr txBox="1"/>
          <p:nvPr/>
        </p:nvSpPr>
        <p:spPr>
          <a:xfrm>
            <a:off x="7541756" y="4279378"/>
            <a:ext cx="2044700" cy="448309"/>
          </a:xfrm>
          <a:prstGeom prst="rect">
            <a:avLst/>
          </a:prstGeom>
        </p:spPr>
        <p:txBody>
          <a:bodyPr wrap="square" lIns="0" tIns="55879" rIns="0" bIns="0" rtlCol="0" vert="horz">
            <a:spAutoFit/>
          </a:bodyPr>
          <a:lstStyle/>
          <a:p>
            <a:pPr marL="212725">
              <a:lnSpc>
                <a:spcPct val="100000"/>
              </a:lnSpc>
              <a:spcBef>
                <a:spcPts val="439"/>
              </a:spcBef>
            </a:pPr>
            <a:r>
              <a:rPr dirty="0" sz="1150" spc="-110">
                <a:latin typeface="SimSun"/>
                <a:cs typeface="SimSun"/>
              </a:rPr>
              <a:t>条件</a:t>
            </a:r>
            <a:r>
              <a:rPr dirty="0" sz="1200" spc="-165">
                <a:latin typeface="PMingLiU"/>
                <a:cs typeface="PMingLiU"/>
              </a:rPr>
              <a:t>変</a:t>
            </a:r>
            <a:r>
              <a:rPr dirty="0" sz="1150" spc="-110">
                <a:latin typeface="SimSun"/>
                <a:cs typeface="SimSun"/>
              </a:rPr>
              <a:t>化</a:t>
            </a:r>
            <a:r>
              <a:rPr dirty="0" sz="1100" spc="-65">
                <a:latin typeface="PMingLiU"/>
                <a:cs typeface="PMingLiU"/>
              </a:rPr>
              <a:t>による</a:t>
            </a:r>
            <a:r>
              <a:rPr dirty="0" sz="1150" spc="-80">
                <a:latin typeface="SimSun"/>
                <a:cs typeface="SimSun"/>
              </a:rPr>
              <a:t>効果</a:t>
            </a:r>
            <a:endParaRPr sz="1150">
              <a:latin typeface="SimSun"/>
              <a:cs typeface="SimSun"/>
            </a:endParaRPr>
          </a:p>
          <a:p>
            <a:pPr marL="12700">
              <a:lnSpc>
                <a:spcPct val="100000"/>
              </a:lnSpc>
              <a:spcBef>
                <a:spcPts val="285"/>
              </a:spcBef>
            </a:pPr>
            <a:r>
              <a:rPr dirty="0" sz="1050" spc="50">
                <a:solidFill>
                  <a:srgbClr val="1F2937"/>
                </a:solidFill>
                <a:latin typeface="Segoe UI Symbol"/>
                <a:cs typeface="Segoe UI Symbol"/>
              </a:rPr>
              <a:t>SiO₂</a:t>
            </a:r>
            <a:r>
              <a:rPr dirty="0" sz="1050" spc="-20">
                <a:solidFill>
                  <a:srgbClr val="1F2937"/>
                </a:solidFill>
                <a:latin typeface="PMingLiU"/>
                <a:cs typeface="PMingLiU"/>
              </a:rPr>
              <a:t>追加によって電流特性が改善</a:t>
            </a:r>
            <a:endParaRPr sz="1050">
              <a:latin typeface="PMingLiU"/>
              <a:cs typeface="PMingLiU"/>
            </a:endParaRPr>
          </a:p>
        </p:txBody>
      </p:sp>
      <p:sp>
        <p:nvSpPr>
          <p:cNvPr id="38" name="object 38" descr=""/>
          <p:cNvSpPr txBox="1"/>
          <p:nvPr/>
        </p:nvSpPr>
        <p:spPr>
          <a:xfrm>
            <a:off x="10097992" y="5728352"/>
            <a:ext cx="410845" cy="186055"/>
          </a:xfrm>
          <a:prstGeom prst="rect">
            <a:avLst/>
          </a:prstGeom>
        </p:spPr>
        <p:txBody>
          <a:bodyPr wrap="square" lIns="0" tIns="12700" rIns="0" bIns="0" rtlCol="0" vert="horz">
            <a:spAutoFit/>
          </a:bodyPr>
          <a:lstStyle/>
          <a:p>
            <a:pPr marL="12700">
              <a:lnSpc>
                <a:spcPct val="100000"/>
              </a:lnSpc>
              <a:spcBef>
                <a:spcPts val="100"/>
              </a:spcBef>
            </a:pPr>
            <a:r>
              <a:rPr dirty="0" sz="1050" spc="105">
                <a:solidFill>
                  <a:srgbClr val="4A5462"/>
                </a:solidFill>
                <a:latin typeface="Segoe UI Symbol"/>
                <a:cs typeface="Segoe UI Symbol"/>
              </a:rPr>
              <a:t>9</a:t>
            </a:r>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7094855"/>
          </a:xfrm>
          <a:custGeom>
            <a:avLst/>
            <a:gdLst/>
            <a:ahLst/>
            <a:cxnLst/>
            <a:rect l="l" t="t" r="r" b="b"/>
            <a:pathLst>
              <a:path w="10696575" h="7094855">
                <a:moveTo>
                  <a:pt x="10696575" y="7094838"/>
                </a:moveTo>
                <a:lnTo>
                  <a:pt x="0" y="7094838"/>
                </a:lnTo>
                <a:lnTo>
                  <a:pt x="0" y="0"/>
                </a:lnTo>
                <a:lnTo>
                  <a:pt x="10696575" y="0"/>
                </a:lnTo>
                <a:lnTo>
                  <a:pt x="10696575" y="7094838"/>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p:cNvSpPr txBox="1">
            <a:spLocks noGrp="1"/>
          </p:cNvSpPr>
          <p:nvPr>
            <p:ph type="title"/>
          </p:nvPr>
        </p:nvSpPr>
        <p:spPr>
          <a:xfrm>
            <a:off x="321567" y="117841"/>
            <a:ext cx="5411470" cy="440690"/>
          </a:xfrm>
          <a:prstGeom prst="rect"/>
        </p:spPr>
        <p:txBody>
          <a:bodyPr wrap="square" lIns="0" tIns="15240" rIns="0" bIns="0" rtlCol="0" vert="horz">
            <a:spAutoFit/>
          </a:bodyPr>
          <a:lstStyle/>
          <a:p>
            <a:pPr marL="12700">
              <a:lnSpc>
                <a:spcPct val="100000"/>
              </a:lnSpc>
              <a:spcBef>
                <a:spcPts val="120"/>
              </a:spcBef>
            </a:pPr>
            <a:r>
              <a:rPr dirty="0" spc="-210"/>
              <a:t>電気</a:t>
            </a:r>
            <a:r>
              <a:rPr dirty="0" sz="2600" spc="-240"/>
              <a:t>的</a:t>
            </a:r>
            <a:r>
              <a:rPr dirty="0" sz="2600" spc="-240">
                <a:latin typeface="SimSun"/>
                <a:cs typeface="SimSun"/>
              </a:rPr>
              <a:t>特性</a:t>
            </a:r>
            <a:r>
              <a:rPr dirty="0" sz="2250" spc="165"/>
              <a:t>の</a:t>
            </a:r>
            <a:r>
              <a:rPr dirty="0" sz="2650" spc="-295">
                <a:latin typeface="SimSun"/>
                <a:cs typeface="SimSun"/>
              </a:rPr>
              <a:t>計</a:t>
            </a:r>
            <a:r>
              <a:rPr dirty="0" sz="2600" spc="-240">
                <a:latin typeface="SimSun"/>
                <a:cs typeface="SimSun"/>
              </a:rPr>
              <a:t>算</a:t>
            </a:r>
            <a:r>
              <a:rPr dirty="0" sz="2350" spc="-120" b="1">
                <a:latin typeface="Yu Gothic"/>
                <a:cs typeface="Yu Gothic"/>
              </a:rPr>
              <a:t>④</a:t>
            </a:r>
            <a:r>
              <a:rPr dirty="0" sz="2250" spc="-120"/>
              <a:t>：</a:t>
            </a:r>
            <a:r>
              <a:rPr dirty="0" sz="2650" spc="-295">
                <a:latin typeface="SimSun"/>
                <a:cs typeface="SimSun"/>
              </a:rPr>
              <a:t>構</a:t>
            </a:r>
            <a:r>
              <a:rPr dirty="0" sz="2700" spc="-355"/>
              <a:t>造</a:t>
            </a:r>
            <a:r>
              <a:rPr dirty="0" spc="-210"/>
              <a:t>最</a:t>
            </a:r>
            <a:r>
              <a:rPr dirty="0" sz="2700" spc="-355"/>
              <a:t>適</a:t>
            </a:r>
            <a:r>
              <a:rPr dirty="0" sz="2600" spc="-240">
                <a:latin typeface="SimSun"/>
                <a:cs typeface="SimSun"/>
              </a:rPr>
              <a:t>化</a:t>
            </a:r>
            <a:r>
              <a:rPr dirty="0" sz="2250" spc="165"/>
              <a:t>の</a:t>
            </a:r>
            <a:r>
              <a:rPr dirty="0" spc="-130"/>
              <a:t>結果</a:t>
            </a:r>
            <a:endParaRPr sz="2250">
              <a:latin typeface="SimSun"/>
              <a:cs typeface="SimSun"/>
            </a:endParaRPr>
          </a:p>
        </p:txBody>
      </p:sp>
      <p:grpSp>
        <p:nvGrpSpPr>
          <p:cNvPr id="5" name="object 5" descr=""/>
          <p:cNvGrpSpPr/>
          <p:nvPr/>
        </p:nvGrpSpPr>
        <p:grpSpPr>
          <a:xfrm>
            <a:off x="334267" y="1002803"/>
            <a:ext cx="4914265" cy="2448560"/>
            <a:chOff x="334267" y="1002803"/>
            <a:chExt cx="4914265" cy="2448560"/>
          </a:xfrm>
        </p:grpSpPr>
        <p:sp>
          <p:nvSpPr>
            <p:cNvPr id="6" name="object 6" descr=""/>
            <p:cNvSpPr/>
            <p:nvPr/>
          </p:nvSpPr>
          <p:spPr>
            <a:xfrm>
              <a:off x="342624" y="1011160"/>
              <a:ext cx="4897120" cy="2432050"/>
            </a:xfrm>
            <a:custGeom>
              <a:avLst/>
              <a:gdLst/>
              <a:ahLst/>
              <a:cxnLst/>
              <a:rect l="l" t="t" r="r" b="b"/>
              <a:pathLst>
                <a:path w="4897120" h="2432050">
                  <a:moveTo>
                    <a:pt x="0" y="2373302"/>
                  </a:moveTo>
                  <a:lnTo>
                    <a:pt x="0" y="58496"/>
                  </a:lnTo>
                  <a:lnTo>
                    <a:pt x="0" y="54655"/>
                  </a:lnTo>
                  <a:lnTo>
                    <a:pt x="374" y="50851"/>
                  </a:lnTo>
                  <a:lnTo>
                    <a:pt x="1124" y="47084"/>
                  </a:lnTo>
                  <a:lnTo>
                    <a:pt x="1873" y="43317"/>
                  </a:lnTo>
                  <a:lnTo>
                    <a:pt x="2982" y="39659"/>
                  </a:lnTo>
                  <a:lnTo>
                    <a:pt x="4452" y="36110"/>
                  </a:lnTo>
                  <a:lnTo>
                    <a:pt x="5922" y="32562"/>
                  </a:lnTo>
                  <a:lnTo>
                    <a:pt x="7724" y="29191"/>
                  </a:lnTo>
                  <a:lnTo>
                    <a:pt x="9858" y="25997"/>
                  </a:lnTo>
                  <a:lnTo>
                    <a:pt x="11992" y="22803"/>
                  </a:lnTo>
                  <a:lnTo>
                    <a:pt x="14417" y="19849"/>
                  </a:lnTo>
                  <a:lnTo>
                    <a:pt x="17133" y="17133"/>
                  </a:lnTo>
                  <a:lnTo>
                    <a:pt x="19849" y="14417"/>
                  </a:lnTo>
                  <a:lnTo>
                    <a:pt x="22804" y="11992"/>
                  </a:lnTo>
                  <a:lnTo>
                    <a:pt x="47084" y="1123"/>
                  </a:lnTo>
                  <a:lnTo>
                    <a:pt x="50851" y="374"/>
                  </a:lnTo>
                  <a:lnTo>
                    <a:pt x="54655" y="0"/>
                  </a:lnTo>
                  <a:lnTo>
                    <a:pt x="58496" y="0"/>
                  </a:lnTo>
                  <a:lnTo>
                    <a:pt x="4838529" y="0"/>
                  </a:lnTo>
                  <a:lnTo>
                    <a:pt x="4842369" y="0"/>
                  </a:lnTo>
                  <a:lnTo>
                    <a:pt x="4846173" y="374"/>
                  </a:lnTo>
                  <a:lnTo>
                    <a:pt x="4849940" y="1123"/>
                  </a:lnTo>
                  <a:lnTo>
                    <a:pt x="4853707" y="1873"/>
                  </a:lnTo>
                  <a:lnTo>
                    <a:pt x="4871027" y="9858"/>
                  </a:lnTo>
                  <a:lnTo>
                    <a:pt x="4874221" y="11992"/>
                  </a:lnTo>
                  <a:lnTo>
                    <a:pt x="4887166" y="25997"/>
                  </a:lnTo>
                  <a:lnTo>
                    <a:pt x="4889301" y="29191"/>
                  </a:lnTo>
                  <a:lnTo>
                    <a:pt x="4891103" y="32562"/>
                  </a:lnTo>
                  <a:lnTo>
                    <a:pt x="4892572" y="36110"/>
                  </a:lnTo>
                  <a:lnTo>
                    <a:pt x="4894042" y="39659"/>
                  </a:lnTo>
                  <a:lnTo>
                    <a:pt x="4895152" y="43317"/>
                  </a:lnTo>
                  <a:lnTo>
                    <a:pt x="4895901" y="47084"/>
                  </a:lnTo>
                  <a:lnTo>
                    <a:pt x="4896651" y="50851"/>
                  </a:lnTo>
                  <a:lnTo>
                    <a:pt x="4897026" y="54655"/>
                  </a:lnTo>
                  <a:lnTo>
                    <a:pt x="4897026" y="58496"/>
                  </a:lnTo>
                  <a:lnTo>
                    <a:pt x="4897026" y="2373302"/>
                  </a:lnTo>
                  <a:lnTo>
                    <a:pt x="4897026" y="2377143"/>
                  </a:lnTo>
                  <a:lnTo>
                    <a:pt x="4896651" y="2380947"/>
                  </a:lnTo>
                  <a:lnTo>
                    <a:pt x="4895901" y="2384714"/>
                  </a:lnTo>
                  <a:lnTo>
                    <a:pt x="4895152" y="2388481"/>
                  </a:lnTo>
                  <a:lnTo>
                    <a:pt x="4894042" y="2392139"/>
                  </a:lnTo>
                  <a:lnTo>
                    <a:pt x="4892572" y="2395688"/>
                  </a:lnTo>
                  <a:lnTo>
                    <a:pt x="4891103" y="2399236"/>
                  </a:lnTo>
                  <a:lnTo>
                    <a:pt x="4889301" y="2402607"/>
                  </a:lnTo>
                  <a:lnTo>
                    <a:pt x="4887166" y="2405801"/>
                  </a:lnTo>
                  <a:lnTo>
                    <a:pt x="4885033" y="2408995"/>
                  </a:lnTo>
                  <a:lnTo>
                    <a:pt x="4871027" y="2421940"/>
                  </a:lnTo>
                  <a:lnTo>
                    <a:pt x="4867834" y="2424074"/>
                  </a:lnTo>
                  <a:lnTo>
                    <a:pt x="4864462" y="2425876"/>
                  </a:lnTo>
                  <a:lnTo>
                    <a:pt x="4860914" y="2427346"/>
                  </a:lnTo>
                  <a:lnTo>
                    <a:pt x="4857365" y="2428816"/>
                  </a:lnTo>
                  <a:lnTo>
                    <a:pt x="4838529" y="2431799"/>
                  </a:lnTo>
                  <a:lnTo>
                    <a:pt x="58496" y="2431799"/>
                  </a:lnTo>
                  <a:lnTo>
                    <a:pt x="54655" y="2431799"/>
                  </a:lnTo>
                  <a:lnTo>
                    <a:pt x="50851" y="2431424"/>
                  </a:lnTo>
                  <a:lnTo>
                    <a:pt x="47084" y="2430675"/>
                  </a:lnTo>
                  <a:lnTo>
                    <a:pt x="43317" y="2429925"/>
                  </a:lnTo>
                  <a:lnTo>
                    <a:pt x="39659" y="2428816"/>
                  </a:lnTo>
                  <a:lnTo>
                    <a:pt x="36111" y="2427346"/>
                  </a:lnTo>
                  <a:lnTo>
                    <a:pt x="32562" y="2425876"/>
                  </a:lnTo>
                  <a:lnTo>
                    <a:pt x="4452" y="2395688"/>
                  </a:lnTo>
                  <a:lnTo>
                    <a:pt x="1124" y="2384714"/>
                  </a:lnTo>
                  <a:lnTo>
                    <a:pt x="374" y="2380947"/>
                  </a:lnTo>
                  <a:lnTo>
                    <a:pt x="0" y="2377143"/>
                  </a:lnTo>
                  <a:lnTo>
                    <a:pt x="0" y="2373302"/>
                  </a:lnTo>
                  <a:close/>
                </a:path>
              </a:pathLst>
            </a:custGeom>
            <a:ln w="16713">
              <a:solidFill>
                <a:srgbClr val="000000"/>
              </a:solidFill>
            </a:ln>
          </p:spPr>
          <p:txBody>
            <a:bodyPr wrap="square" lIns="0" tIns="0" rIns="0" bIns="0" rtlCol="0"/>
            <a:lstStyle/>
            <a:p/>
          </p:txBody>
        </p:sp>
        <p:pic>
          <p:nvPicPr>
            <p:cNvPr id="7" name="object 7" descr=""/>
            <p:cNvPicPr/>
            <p:nvPr/>
          </p:nvPicPr>
          <p:blipFill>
            <a:blip r:embed="rId3" cstate="print"/>
            <a:stretch>
              <a:fillRect/>
            </a:stretch>
          </p:blipFill>
          <p:spPr>
            <a:xfrm>
              <a:off x="476331" y="1562702"/>
              <a:ext cx="250700" cy="133707"/>
            </a:xfrm>
            <a:prstGeom prst="rect">
              <a:avLst/>
            </a:prstGeom>
          </p:spPr>
        </p:pic>
        <p:pic>
          <p:nvPicPr>
            <p:cNvPr id="8" name="object 8" descr=""/>
            <p:cNvPicPr/>
            <p:nvPr/>
          </p:nvPicPr>
          <p:blipFill>
            <a:blip r:embed="rId4" cstate="print"/>
            <a:stretch>
              <a:fillRect/>
            </a:stretch>
          </p:blipFill>
          <p:spPr>
            <a:xfrm>
              <a:off x="476331" y="1896970"/>
              <a:ext cx="250700" cy="133707"/>
            </a:xfrm>
            <a:prstGeom prst="rect">
              <a:avLst/>
            </a:prstGeom>
          </p:spPr>
        </p:pic>
        <p:pic>
          <p:nvPicPr>
            <p:cNvPr id="9" name="object 9" descr=""/>
            <p:cNvPicPr/>
            <p:nvPr/>
          </p:nvPicPr>
          <p:blipFill>
            <a:blip r:embed="rId5" cstate="print"/>
            <a:stretch>
              <a:fillRect/>
            </a:stretch>
          </p:blipFill>
          <p:spPr>
            <a:xfrm>
              <a:off x="476331" y="2231238"/>
              <a:ext cx="250700" cy="133707"/>
            </a:xfrm>
            <a:prstGeom prst="rect">
              <a:avLst/>
            </a:prstGeom>
          </p:spPr>
        </p:pic>
        <p:pic>
          <p:nvPicPr>
            <p:cNvPr id="10" name="object 10" descr=""/>
            <p:cNvPicPr/>
            <p:nvPr/>
          </p:nvPicPr>
          <p:blipFill>
            <a:blip r:embed="rId6" cstate="print"/>
            <a:stretch>
              <a:fillRect/>
            </a:stretch>
          </p:blipFill>
          <p:spPr>
            <a:xfrm>
              <a:off x="476331" y="2565506"/>
              <a:ext cx="250700" cy="133707"/>
            </a:xfrm>
            <a:prstGeom prst="rect">
              <a:avLst/>
            </a:prstGeom>
          </p:spPr>
        </p:pic>
        <p:pic>
          <p:nvPicPr>
            <p:cNvPr id="11" name="object 11" descr=""/>
            <p:cNvPicPr/>
            <p:nvPr/>
          </p:nvPicPr>
          <p:blipFill>
            <a:blip r:embed="rId7" cstate="print"/>
            <a:stretch>
              <a:fillRect/>
            </a:stretch>
          </p:blipFill>
          <p:spPr>
            <a:xfrm>
              <a:off x="476331" y="2899774"/>
              <a:ext cx="250700" cy="133707"/>
            </a:xfrm>
            <a:prstGeom prst="rect">
              <a:avLst/>
            </a:prstGeom>
          </p:spPr>
        </p:pic>
      </p:grpSp>
      <p:grpSp>
        <p:nvGrpSpPr>
          <p:cNvPr id="12" name="object 12" descr=""/>
          <p:cNvGrpSpPr/>
          <p:nvPr/>
        </p:nvGrpSpPr>
        <p:grpSpPr>
          <a:xfrm>
            <a:off x="5448567" y="1002803"/>
            <a:ext cx="4914265" cy="2448560"/>
            <a:chOff x="5448567" y="1002803"/>
            <a:chExt cx="4914265" cy="2448560"/>
          </a:xfrm>
        </p:grpSpPr>
        <p:sp>
          <p:nvSpPr>
            <p:cNvPr id="13" name="object 13" descr=""/>
            <p:cNvSpPr/>
            <p:nvPr/>
          </p:nvSpPr>
          <p:spPr>
            <a:xfrm>
              <a:off x="5456924" y="1011160"/>
              <a:ext cx="4897120" cy="2432050"/>
            </a:xfrm>
            <a:custGeom>
              <a:avLst/>
              <a:gdLst/>
              <a:ahLst/>
              <a:cxnLst/>
              <a:rect l="l" t="t" r="r" b="b"/>
              <a:pathLst>
                <a:path w="4897120" h="2432050">
                  <a:moveTo>
                    <a:pt x="4842370" y="2431799"/>
                  </a:moveTo>
                  <a:lnTo>
                    <a:pt x="54656" y="2431799"/>
                  </a:lnTo>
                  <a:lnTo>
                    <a:pt x="50852" y="2431424"/>
                  </a:lnTo>
                  <a:lnTo>
                    <a:pt x="14417" y="2411950"/>
                  </a:lnTo>
                  <a:lnTo>
                    <a:pt x="0" y="2377143"/>
                  </a:lnTo>
                  <a:lnTo>
                    <a:pt x="0" y="2373302"/>
                  </a:lnTo>
                  <a:lnTo>
                    <a:pt x="0" y="54655"/>
                  </a:lnTo>
                  <a:lnTo>
                    <a:pt x="19849" y="14417"/>
                  </a:lnTo>
                  <a:lnTo>
                    <a:pt x="54656" y="0"/>
                  </a:lnTo>
                  <a:lnTo>
                    <a:pt x="4842370" y="0"/>
                  </a:lnTo>
                  <a:lnTo>
                    <a:pt x="4882607" y="19849"/>
                  </a:lnTo>
                  <a:lnTo>
                    <a:pt x="4897025" y="54655"/>
                  </a:lnTo>
                  <a:lnTo>
                    <a:pt x="4897025" y="2377143"/>
                  </a:lnTo>
                  <a:lnTo>
                    <a:pt x="4877176" y="2417382"/>
                  </a:lnTo>
                  <a:lnTo>
                    <a:pt x="4846174" y="2431424"/>
                  </a:lnTo>
                  <a:lnTo>
                    <a:pt x="4842370" y="2431799"/>
                  </a:lnTo>
                  <a:close/>
                </a:path>
              </a:pathLst>
            </a:custGeom>
            <a:solidFill>
              <a:srgbClr val="ECFDF5"/>
            </a:solidFill>
          </p:spPr>
          <p:txBody>
            <a:bodyPr wrap="square" lIns="0" tIns="0" rIns="0" bIns="0" rtlCol="0"/>
            <a:lstStyle/>
            <a:p/>
          </p:txBody>
        </p:sp>
        <p:sp>
          <p:nvSpPr>
            <p:cNvPr id="14" name="object 14" descr=""/>
            <p:cNvSpPr/>
            <p:nvPr/>
          </p:nvSpPr>
          <p:spPr>
            <a:xfrm>
              <a:off x="5456924" y="1011160"/>
              <a:ext cx="4897120" cy="2432050"/>
            </a:xfrm>
            <a:custGeom>
              <a:avLst/>
              <a:gdLst/>
              <a:ahLst/>
              <a:cxnLst/>
              <a:rect l="l" t="t" r="r" b="b"/>
              <a:pathLst>
                <a:path w="4897120" h="2432050">
                  <a:moveTo>
                    <a:pt x="0" y="2373302"/>
                  </a:moveTo>
                  <a:lnTo>
                    <a:pt x="0" y="58496"/>
                  </a:lnTo>
                  <a:lnTo>
                    <a:pt x="0" y="54655"/>
                  </a:lnTo>
                  <a:lnTo>
                    <a:pt x="374" y="50851"/>
                  </a:lnTo>
                  <a:lnTo>
                    <a:pt x="1123" y="47084"/>
                  </a:lnTo>
                  <a:lnTo>
                    <a:pt x="1872" y="43317"/>
                  </a:lnTo>
                  <a:lnTo>
                    <a:pt x="2982" y="39659"/>
                  </a:lnTo>
                  <a:lnTo>
                    <a:pt x="4452" y="36110"/>
                  </a:lnTo>
                  <a:lnTo>
                    <a:pt x="5922" y="32562"/>
                  </a:lnTo>
                  <a:lnTo>
                    <a:pt x="7724" y="29191"/>
                  </a:lnTo>
                  <a:lnTo>
                    <a:pt x="9858" y="25997"/>
                  </a:lnTo>
                  <a:lnTo>
                    <a:pt x="11992" y="22803"/>
                  </a:lnTo>
                  <a:lnTo>
                    <a:pt x="14417" y="19849"/>
                  </a:lnTo>
                  <a:lnTo>
                    <a:pt x="17133" y="17133"/>
                  </a:lnTo>
                  <a:lnTo>
                    <a:pt x="19849" y="14417"/>
                  </a:lnTo>
                  <a:lnTo>
                    <a:pt x="36111" y="4452"/>
                  </a:lnTo>
                  <a:lnTo>
                    <a:pt x="39659" y="2982"/>
                  </a:lnTo>
                  <a:lnTo>
                    <a:pt x="43317" y="1873"/>
                  </a:lnTo>
                  <a:lnTo>
                    <a:pt x="47084" y="1123"/>
                  </a:lnTo>
                  <a:lnTo>
                    <a:pt x="50852" y="374"/>
                  </a:lnTo>
                  <a:lnTo>
                    <a:pt x="54656" y="0"/>
                  </a:lnTo>
                  <a:lnTo>
                    <a:pt x="58497" y="0"/>
                  </a:lnTo>
                  <a:lnTo>
                    <a:pt x="4838529" y="0"/>
                  </a:lnTo>
                  <a:lnTo>
                    <a:pt x="4842370" y="0"/>
                  </a:lnTo>
                  <a:lnTo>
                    <a:pt x="4846174" y="374"/>
                  </a:lnTo>
                  <a:lnTo>
                    <a:pt x="4879891" y="17133"/>
                  </a:lnTo>
                  <a:lnTo>
                    <a:pt x="4882607" y="19849"/>
                  </a:lnTo>
                  <a:lnTo>
                    <a:pt x="4892571" y="36110"/>
                  </a:lnTo>
                  <a:lnTo>
                    <a:pt x="4894041" y="39659"/>
                  </a:lnTo>
                  <a:lnTo>
                    <a:pt x="4897026" y="58496"/>
                  </a:lnTo>
                  <a:lnTo>
                    <a:pt x="4897026" y="2373302"/>
                  </a:lnTo>
                  <a:lnTo>
                    <a:pt x="4882607" y="2411950"/>
                  </a:lnTo>
                  <a:lnTo>
                    <a:pt x="4860913" y="2427346"/>
                  </a:lnTo>
                  <a:lnTo>
                    <a:pt x="4857364" y="2428816"/>
                  </a:lnTo>
                  <a:lnTo>
                    <a:pt x="4838529" y="2431799"/>
                  </a:lnTo>
                  <a:lnTo>
                    <a:pt x="58497" y="2431799"/>
                  </a:lnTo>
                  <a:lnTo>
                    <a:pt x="54656" y="2431799"/>
                  </a:lnTo>
                  <a:lnTo>
                    <a:pt x="50852" y="2431424"/>
                  </a:lnTo>
                  <a:lnTo>
                    <a:pt x="47084" y="2430675"/>
                  </a:lnTo>
                  <a:lnTo>
                    <a:pt x="43317" y="2429925"/>
                  </a:lnTo>
                  <a:lnTo>
                    <a:pt x="39659" y="2428816"/>
                  </a:lnTo>
                  <a:lnTo>
                    <a:pt x="36111" y="2427346"/>
                  </a:lnTo>
                  <a:lnTo>
                    <a:pt x="32561" y="2425876"/>
                  </a:lnTo>
                  <a:lnTo>
                    <a:pt x="29190" y="2424074"/>
                  </a:lnTo>
                  <a:lnTo>
                    <a:pt x="25997" y="2421940"/>
                  </a:lnTo>
                  <a:lnTo>
                    <a:pt x="22803" y="2419807"/>
                  </a:lnTo>
                  <a:lnTo>
                    <a:pt x="19849" y="2417382"/>
                  </a:lnTo>
                  <a:lnTo>
                    <a:pt x="17133" y="2414666"/>
                  </a:lnTo>
                  <a:lnTo>
                    <a:pt x="14417" y="2411950"/>
                  </a:lnTo>
                  <a:lnTo>
                    <a:pt x="0" y="2377143"/>
                  </a:lnTo>
                  <a:lnTo>
                    <a:pt x="0" y="2373302"/>
                  </a:lnTo>
                  <a:close/>
                </a:path>
              </a:pathLst>
            </a:custGeom>
            <a:ln w="16713">
              <a:solidFill>
                <a:srgbClr val="000000"/>
              </a:solidFill>
            </a:ln>
          </p:spPr>
          <p:txBody>
            <a:bodyPr wrap="square" lIns="0" tIns="0" rIns="0" bIns="0" rtlCol="0"/>
            <a:lstStyle/>
            <a:p/>
          </p:txBody>
        </p:sp>
        <p:pic>
          <p:nvPicPr>
            <p:cNvPr id="15" name="object 15" descr=""/>
            <p:cNvPicPr/>
            <p:nvPr/>
          </p:nvPicPr>
          <p:blipFill>
            <a:blip r:embed="rId8" cstate="print"/>
            <a:stretch>
              <a:fillRect/>
            </a:stretch>
          </p:blipFill>
          <p:spPr>
            <a:xfrm>
              <a:off x="5590631" y="1562702"/>
              <a:ext cx="250700" cy="133707"/>
            </a:xfrm>
            <a:prstGeom prst="rect">
              <a:avLst/>
            </a:prstGeom>
          </p:spPr>
        </p:pic>
        <p:pic>
          <p:nvPicPr>
            <p:cNvPr id="16" name="object 16" descr=""/>
            <p:cNvPicPr/>
            <p:nvPr/>
          </p:nvPicPr>
          <p:blipFill>
            <a:blip r:embed="rId9" cstate="print"/>
            <a:stretch>
              <a:fillRect/>
            </a:stretch>
          </p:blipFill>
          <p:spPr>
            <a:xfrm>
              <a:off x="5590631" y="1896970"/>
              <a:ext cx="250700" cy="133707"/>
            </a:xfrm>
            <a:prstGeom prst="rect">
              <a:avLst/>
            </a:prstGeom>
          </p:spPr>
        </p:pic>
        <p:pic>
          <p:nvPicPr>
            <p:cNvPr id="17" name="object 17" descr=""/>
            <p:cNvPicPr/>
            <p:nvPr/>
          </p:nvPicPr>
          <p:blipFill>
            <a:blip r:embed="rId10" cstate="print"/>
            <a:stretch>
              <a:fillRect/>
            </a:stretch>
          </p:blipFill>
          <p:spPr>
            <a:xfrm>
              <a:off x="5590631" y="2231238"/>
              <a:ext cx="250700" cy="133707"/>
            </a:xfrm>
            <a:prstGeom prst="rect">
              <a:avLst/>
            </a:prstGeom>
          </p:spPr>
        </p:pic>
        <p:pic>
          <p:nvPicPr>
            <p:cNvPr id="18" name="object 18" descr=""/>
            <p:cNvPicPr/>
            <p:nvPr/>
          </p:nvPicPr>
          <p:blipFill>
            <a:blip r:embed="rId11" cstate="print"/>
            <a:stretch>
              <a:fillRect/>
            </a:stretch>
          </p:blipFill>
          <p:spPr>
            <a:xfrm>
              <a:off x="5590631" y="2565506"/>
              <a:ext cx="250700" cy="133707"/>
            </a:xfrm>
            <a:prstGeom prst="rect">
              <a:avLst/>
            </a:prstGeom>
          </p:spPr>
        </p:pic>
        <p:pic>
          <p:nvPicPr>
            <p:cNvPr id="19" name="object 19" descr=""/>
            <p:cNvPicPr/>
            <p:nvPr/>
          </p:nvPicPr>
          <p:blipFill>
            <a:blip r:embed="rId12" cstate="print"/>
            <a:stretch>
              <a:fillRect/>
            </a:stretch>
          </p:blipFill>
          <p:spPr>
            <a:xfrm>
              <a:off x="5590631" y="2899774"/>
              <a:ext cx="250700" cy="133707"/>
            </a:xfrm>
            <a:prstGeom prst="rect">
              <a:avLst/>
            </a:prstGeom>
          </p:spPr>
        </p:pic>
      </p:grpSp>
      <p:sp>
        <p:nvSpPr>
          <p:cNvPr id="20" name="object 20" descr=""/>
          <p:cNvSpPr/>
          <p:nvPr/>
        </p:nvSpPr>
        <p:spPr>
          <a:xfrm>
            <a:off x="334267" y="3585024"/>
            <a:ext cx="5916930" cy="3259454"/>
          </a:xfrm>
          <a:custGeom>
            <a:avLst/>
            <a:gdLst/>
            <a:ahLst/>
            <a:cxnLst/>
            <a:rect l="l" t="t" r="r" b="b"/>
            <a:pathLst>
              <a:path w="5916930" h="3259454">
                <a:moveTo>
                  <a:pt x="5854079" y="3259112"/>
                </a:moveTo>
                <a:lnTo>
                  <a:pt x="62463" y="3259112"/>
                </a:lnTo>
                <a:lnTo>
                  <a:pt x="58116" y="3258683"/>
                </a:lnTo>
                <a:lnTo>
                  <a:pt x="22684" y="3242634"/>
                </a:lnTo>
                <a:lnTo>
                  <a:pt x="2140" y="3209605"/>
                </a:lnTo>
                <a:lnTo>
                  <a:pt x="0" y="3196648"/>
                </a:lnTo>
                <a:lnTo>
                  <a:pt x="0" y="3192259"/>
                </a:lnTo>
                <a:lnTo>
                  <a:pt x="0" y="62463"/>
                </a:lnTo>
                <a:lnTo>
                  <a:pt x="13705" y="26061"/>
                </a:lnTo>
                <a:lnTo>
                  <a:pt x="45325" y="3408"/>
                </a:lnTo>
                <a:lnTo>
                  <a:pt x="62463" y="0"/>
                </a:lnTo>
                <a:lnTo>
                  <a:pt x="5854079" y="0"/>
                </a:lnTo>
                <a:lnTo>
                  <a:pt x="5890480" y="13705"/>
                </a:lnTo>
                <a:lnTo>
                  <a:pt x="5913133" y="45325"/>
                </a:lnTo>
                <a:lnTo>
                  <a:pt x="5916543" y="62463"/>
                </a:lnTo>
                <a:lnTo>
                  <a:pt x="5916543" y="3196648"/>
                </a:lnTo>
                <a:lnTo>
                  <a:pt x="5902836" y="3233049"/>
                </a:lnTo>
                <a:lnTo>
                  <a:pt x="5871217" y="3255702"/>
                </a:lnTo>
                <a:lnTo>
                  <a:pt x="5858426" y="3258683"/>
                </a:lnTo>
                <a:lnTo>
                  <a:pt x="5854079" y="3259112"/>
                </a:lnTo>
                <a:close/>
              </a:path>
            </a:pathLst>
          </a:custGeom>
          <a:solidFill>
            <a:srgbClr val="FFFFFF">
              <a:alpha val="94898"/>
            </a:srgbClr>
          </a:solidFill>
        </p:spPr>
        <p:txBody>
          <a:bodyPr wrap="square" lIns="0" tIns="0" rIns="0" bIns="0" rtlCol="0"/>
          <a:lstStyle/>
          <a:p/>
        </p:txBody>
      </p:sp>
      <p:sp>
        <p:nvSpPr>
          <p:cNvPr id="21" name="object 21" descr=""/>
          <p:cNvSpPr txBox="1"/>
          <p:nvPr/>
        </p:nvSpPr>
        <p:spPr>
          <a:xfrm>
            <a:off x="530485" y="3764789"/>
            <a:ext cx="2413000" cy="255904"/>
          </a:xfrm>
          <a:prstGeom prst="rect">
            <a:avLst/>
          </a:prstGeom>
        </p:spPr>
        <p:txBody>
          <a:bodyPr wrap="square" lIns="0" tIns="13970" rIns="0" bIns="0" rtlCol="0" vert="horz">
            <a:spAutoFit/>
          </a:bodyPr>
          <a:lstStyle/>
          <a:p>
            <a:pPr marL="12700">
              <a:lnSpc>
                <a:spcPct val="100000"/>
              </a:lnSpc>
              <a:spcBef>
                <a:spcPts val="110"/>
              </a:spcBef>
            </a:pPr>
            <a:r>
              <a:rPr dirty="0" sz="1400" spc="-100">
                <a:solidFill>
                  <a:srgbClr val="374050"/>
                </a:solidFill>
                <a:latin typeface="PMingLiU"/>
                <a:cs typeface="PMingLiU"/>
              </a:rPr>
              <a:t>ゲート電圧</a:t>
            </a:r>
            <a:r>
              <a:rPr dirty="0" sz="1300" spc="70" b="1">
                <a:solidFill>
                  <a:srgbClr val="374050"/>
                </a:solidFill>
                <a:latin typeface="Yu Gothic"/>
                <a:cs typeface="Yu Gothic"/>
              </a:rPr>
              <a:t>-</a:t>
            </a:r>
            <a:r>
              <a:rPr dirty="0" sz="1300" spc="100" b="1">
                <a:solidFill>
                  <a:srgbClr val="374050"/>
                </a:solidFill>
                <a:latin typeface="Yu Gothic"/>
                <a:cs typeface="Yu Gothic"/>
              </a:rPr>
              <a:t>Body</a:t>
            </a:r>
            <a:r>
              <a:rPr dirty="0" sz="1300" spc="155" b="1">
                <a:solidFill>
                  <a:srgbClr val="374050"/>
                </a:solidFill>
                <a:latin typeface="Yu Gothic"/>
                <a:cs typeface="Yu Gothic"/>
              </a:rPr>
              <a:t> </a:t>
            </a:r>
            <a:r>
              <a:rPr dirty="0" sz="1300" spc="75" b="1">
                <a:solidFill>
                  <a:srgbClr val="374050"/>
                </a:solidFill>
                <a:latin typeface="Yu Gothic"/>
                <a:cs typeface="Yu Gothic"/>
              </a:rPr>
              <a:t>Tie</a:t>
            </a:r>
            <a:r>
              <a:rPr dirty="0" sz="1400" spc="-90">
                <a:solidFill>
                  <a:srgbClr val="374050"/>
                </a:solidFill>
                <a:latin typeface="PMingLiU"/>
                <a:cs typeface="PMingLiU"/>
              </a:rPr>
              <a:t>電</a:t>
            </a:r>
            <a:r>
              <a:rPr dirty="0" sz="1500" spc="-195">
                <a:solidFill>
                  <a:srgbClr val="374050"/>
                </a:solidFill>
                <a:latin typeface="SimSun"/>
                <a:cs typeface="SimSun"/>
              </a:rPr>
              <a:t>流</a:t>
            </a:r>
            <a:r>
              <a:rPr dirty="0" sz="1450" spc="-100">
                <a:solidFill>
                  <a:srgbClr val="374050"/>
                </a:solidFill>
                <a:latin typeface="SimSun"/>
                <a:cs typeface="SimSun"/>
              </a:rPr>
              <a:t>特性</a:t>
            </a:r>
            <a:endParaRPr sz="1450">
              <a:latin typeface="SimSun"/>
              <a:cs typeface="SimSun"/>
            </a:endParaRPr>
          </a:p>
        </p:txBody>
      </p:sp>
      <p:pic>
        <p:nvPicPr>
          <p:cNvPr id="22" name="object 22" descr=""/>
          <p:cNvPicPr/>
          <p:nvPr/>
        </p:nvPicPr>
        <p:blipFill>
          <a:blip r:embed="rId13" cstate="print"/>
          <a:stretch>
            <a:fillRect/>
          </a:stretch>
        </p:blipFill>
        <p:spPr>
          <a:xfrm>
            <a:off x="543185" y="4128209"/>
            <a:ext cx="5498708" cy="2339875"/>
          </a:xfrm>
          <a:prstGeom prst="rect">
            <a:avLst/>
          </a:prstGeom>
        </p:spPr>
      </p:pic>
      <p:grpSp>
        <p:nvGrpSpPr>
          <p:cNvPr id="23" name="object 23" descr=""/>
          <p:cNvGrpSpPr/>
          <p:nvPr/>
        </p:nvGrpSpPr>
        <p:grpSpPr>
          <a:xfrm>
            <a:off x="6451372" y="3585024"/>
            <a:ext cx="3910965" cy="3259454"/>
            <a:chOff x="6451372" y="3585024"/>
            <a:chExt cx="3910965" cy="3259454"/>
          </a:xfrm>
        </p:grpSpPr>
        <p:sp>
          <p:nvSpPr>
            <p:cNvPr id="24" name="object 24" descr=""/>
            <p:cNvSpPr/>
            <p:nvPr/>
          </p:nvSpPr>
          <p:spPr>
            <a:xfrm>
              <a:off x="6451372" y="3585024"/>
              <a:ext cx="3910965" cy="3259454"/>
            </a:xfrm>
            <a:custGeom>
              <a:avLst/>
              <a:gdLst/>
              <a:ahLst/>
              <a:cxnLst/>
              <a:rect l="l" t="t" r="r" b="b"/>
              <a:pathLst>
                <a:path w="3910965" h="3259454">
                  <a:moveTo>
                    <a:pt x="3848471" y="3259112"/>
                  </a:moveTo>
                  <a:lnTo>
                    <a:pt x="62463" y="3259112"/>
                  </a:lnTo>
                  <a:lnTo>
                    <a:pt x="58115" y="3258683"/>
                  </a:lnTo>
                  <a:lnTo>
                    <a:pt x="22684" y="3242634"/>
                  </a:lnTo>
                  <a:lnTo>
                    <a:pt x="2140" y="3209605"/>
                  </a:lnTo>
                  <a:lnTo>
                    <a:pt x="0" y="3196648"/>
                  </a:lnTo>
                  <a:lnTo>
                    <a:pt x="0" y="3192259"/>
                  </a:lnTo>
                  <a:lnTo>
                    <a:pt x="0" y="62463"/>
                  </a:lnTo>
                  <a:lnTo>
                    <a:pt x="13705" y="26061"/>
                  </a:lnTo>
                  <a:lnTo>
                    <a:pt x="45324" y="3408"/>
                  </a:lnTo>
                  <a:lnTo>
                    <a:pt x="62463" y="0"/>
                  </a:lnTo>
                  <a:lnTo>
                    <a:pt x="3848471" y="0"/>
                  </a:lnTo>
                  <a:lnTo>
                    <a:pt x="3884873" y="13705"/>
                  </a:lnTo>
                  <a:lnTo>
                    <a:pt x="3907526" y="45325"/>
                  </a:lnTo>
                  <a:lnTo>
                    <a:pt x="3910935" y="62463"/>
                  </a:lnTo>
                  <a:lnTo>
                    <a:pt x="3910935" y="3196648"/>
                  </a:lnTo>
                  <a:lnTo>
                    <a:pt x="3897229" y="3233049"/>
                  </a:lnTo>
                  <a:lnTo>
                    <a:pt x="3865610" y="3255702"/>
                  </a:lnTo>
                  <a:lnTo>
                    <a:pt x="3852819" y="3258683"/>
                  </a:lnTo>
                  <a:lnTo>
                    <a:pt x="3848471" y="3259112"/>
                  </a:lnTo>
                  <a:close/>
                </a:path>
              </a:pathLst>
            </a:custGeom>
            <a:solidFill>
              <a:srgbClr val="FFFFFF">
                <a:alpha val="94898"/>
              </a:srgbClr>
            </a:solidFill>
          </p:spPr>
          <p:txBody>
            <a:bodyPr wrap="square" lIns="0" tIns="0" rIns="0" bIns="0" rtlCol="0"/>
            <a:lstStyle/>
            <a:p/>
          </p:txBody>
        </p:sp>
        <p:sp>
          <p:nvSpPr>
            <p:cNvPr id="25" name="object 25" descr=""/>
            <p:cNvSpPr/>
            <p:nvPr/>
          </p:nvSpPr>
          <p:spPr>
            <a:xfrm>
              <a:off x="6660289" y="5465281"/>
              <a:ext cx="3493135" cy="902969"/>
            </a:xfrm>
            <a:custGeom>
              <a:avLst/>
              <a:gdLst/>
              <a:ahLst/>
              <a:cxnLst/>
              <a:rect l="l" t="t" r="r" b="b"/>
              <a:pathLst>
                <a:path w="3493134" h="902970">
                  <a:moveTo>
                    <a:pt x="3430636" y="902523"/>
                  </a:moveTo>
                  <a:lnTo>
                    <a:pt x="62464" y="902523"/>
                  </a:lnTo>
                  <a:lnTo>
                    <a:pt x="58116" y="902095"/>
                  </a:lnTo>
                  <a:lnTo>
                    <a:pt x="22685" y="886046"/>
                  </a:lnTo>
                  <a:lnTo>
                    <a:pt x="2140" y="853017"/>
                  </a:lnTo>
                  <a:lnTo>
                    <a:pt x="0" y="840060"/>
                  </a:lnTo>
                  <a:lnTo>
                    <a:pt x="0" y="835669"/>
                  </a:lnTo>
                  <a:lnTo>
                    <a:pt x="0" y="62463"/>
                  </a:lnTo>
                  <a:lnTo>
                    <a:pt x="13705" y="26060"/>
                  </a:lnTo>
                  <a:lnTo>
                    <a:pt x="45324" y="3408"/>
                  </a:lnTo>
                  <a:lnTo>
                    <a:pt x="62464" y="0"/>
                  </a:lnTo>
                  <a:lnTo>
                    <a:pt x="3430636" y="0"/>
                  </a:lnTo>
                  <a:lnTo>
                    <a:pt x="3467038" y="13705"/>
                  </a:lnTo>
                  <a:lnTo>
                    <a:pt x="3489690" y="45324"/>
                  </a:lnTo>
                  <a:lnTo>
                    <a:pt x="3493101" y="62463"/>
                  </a:lnTo>
                  <a:lnTo>
                    <a:pt x="3493101" y="840060"/>
                  </a:lnTo>
                  <a:lnTo>
                    <a:pt x="3479393" y="876461"/>
                  </a:lnTo>
                  <a:lnTo>
                    <a:pt x="3447773" y="899113"/>
                  </a:lnTo>
                  <a:lnTo>
                    <a:pt x="3434984" y="902095"/>
                  </a:lnTo>
                  <a:lnTo>
                    <a:pt x="3430636" y="902523"/>
                  </a:lnTo>
                  <a:close/>
                </a:path>
              </a:pathLst>
            </a:custGeom>
            <a:solidFill>
              <a:srgbClr val="DAE9FE"/>
            </a:solidFill>
          </p:spPr>
          <p:txBody>
            <a:bodyPr wrap="square" lIns="0" tIns="0" rIns="0" bIns="0" rtlCol="0"/>
            <a:lstStyle/>
            <a:p/>
          </p:txBody>
        </p:sp>
      </p:grpSp>
      <p:sp>
        <p:nvSpPr>
          <p:cNvPr id="26" name="object 26" descr=""/>
          <p:cNvSpPr txBox="1"/>
          <p:nvPr/>
        </p:nvSpPr>
        <p:spPr>
          <a:xfrm>
            <a:off x="6647589" y="3767564"/>
            <a:ext cx="360045" cy="252729"/>
          </a:xfrm>
          <a:prstGeom prst="rect">
            <a:avLst/>
          </a:prstGeom>
        </p:spPr>
        <p:txBody>
          <a:bodyPr wrap="square" lIns="0" tIns="17780" rIns="0" bIns="0" rtlCol="0" vert="horz">
            <a:spAutoFit/>
          </a:bodyPr>
          <a:lstStyle/>
          <a:p>
            <a:pPr marL="12700">
              <a:lnSpc>
                <a:spcPct val="100000"/>
              </a:lnSpc>
              <a:spcBef>
                <a:spcPts val="140"/>
              </a:spcBef>
            </a:pPr>
            <a:r>
              <a:rPr dirty="0" sz="1400" spc="-90">
                <a:solidFill>
                  <a:srgbClr val="374050"/>
                </a:solidFill>
                <a:latin typeface="PMingLiU"/>
                <a:cs typeface="PMingLiU"/>
              </a:rPr>
              <a:t>結</a:t>
            </a:r>
            <a:r>
              <a:rPr dirty="0" sz="1450" spc="-90">
                <a:solidFill>
                  <a:srgbClr val="374050"/>
                </a:solidFill>
                <a:latin typeface="SimSun"/>
                <a:cs typeface="SimSun"/>
              </a:rPr>
              <a:t>論</a:t>
            </a:r>
            <a:endParaRPr sz="1450">
              <a:latin typeface="SimSun"/>
              <a:cs typeface="SimSun"/>
            </a:endParaRPr>
          </a:p>
        </p:txBody>
      </p:sp>
      <p:grpSp>
        <p:nvGrpSpPr>
          <p:cNvPr id="27" name="object 27" descr=""/>
          <p:cNvGrpSpPr/>
          <p:nvPr/>
        </p:nvGrpSpPr>
        <p:grpSpPr>
          <a:xfrm>
            <a:off x="6660289" y="4261916"/>
            <a:ext cx="267970" cy="1487805"/>
            <a:chOff x="6660289" y="4261916"/>
            <a:chExt cx="267970" cy="1487805"/>
          </a:xfrm>
        </p:grpSpPr>
        <p:pic>
          <p:nvPicPr>
            <p:cNvPr id="28" name="object 28" descr=""/>
            <p:cNvPicPr/>
            <p:nvPr/>
          </p:nvPicPr>
          <p:blipFill>
            <a:blip r:embed="rId14" cstate="print"/>
            <a:stretch>
              <a:fillRect/>
            </a:stretch>
          </p:blipFill>
          <p:spPr>
            <a:xfrm>
              <a:off x="6660289" y="4261916"/>
              <a:ext cx="250700" cy="133707"/>
            </a:xfrm>
            <a:prstGeom prst="rect">
              <a:avLst/>
            </a:prstGeom>
          </p:spPr>
        </p:pic>
        <p:pic>
          <p:nvPicPr>
            <p:cNvPr id="29" name="object 29" descr=""/>
            <p:cNvPicPr/>
            <p:nvPr/>
          </p:nvPicPr>
          <p:blipFill>
            <a:blip r:embed="rId15" cstate="print"/>
            <a:stretch>
              <a:fillRect/>
            </a:stretch>
          </p:blipFill>
          <p:spPr>
            <a:xfrm>
              <a:off x="6660289" y="4663038"/>
              <a:ext cx="250700" cy="133707"/>
            </a:xfrm>
            <a:prstGeom prst="rect">
              <a:avLst/>
            </a:prstGeom>
          </p:spPr>
        </p:pic>
        <p:pic>
          <p:nvPicPr>
            <p:cNvPr id="30" name="object 30" descr=""/>
            <p:cNvPicPr/>
            <p:nvPr/>
          </p:nvPicPr>
          <p:blipFill>
            <a:blip r:embed="rId16" cstate="print"/>
            <a:stretch>
              <a:fillRect/>
            </a:stretch>
          </p:blipFill>
          <p:spPr>
            <a:xfrm>
              <a:off x="6660289" y="5064159"/>
              <a:ext cx="250700" cy="133707"/>
            </a:xfrm>
            <a:prstGeom prst="rect">
              <a:avLst/>
            </a:prstGeom>
          </p:spPr>
        </p:pic>
        <p:pic>
          <p:nvPicPr>
            <p:cNvPr id="31" name="object 31" descr=""/>
            <p:cNvPicPr/>
            <p:nvPr/>
          </p:nvPicPr>
          <p:blipFill>
            <a:blip r:embed="rId17" cstate="print"/>
            <a:stretch>
              <a:fillRect/>
            </a:stretch>
          </p:blipFill>
          <p:spPr>
            <a:xfrm>
              <a:off x="6760570" y="5598988"/>
              <a:ext cx="167133" cy="150420"/>
            </a:xfrm>
            <a:prstGeom prst="rect">
              <a:avLst/>
            </a:prstGeom>
          </p:spPr>
        </p:pic>
      </p:grpSp>
      <p:sp>
        <p:nvSpPr>
          <p:cNvPr id="32" name="object 32" descr=""/>
          <p:cNvSpPr txBox="1"/>
          <p:nvPr/>
        </p:nvSpPr>
        <p:spPr>
          <a:xfrm>
            <a:off x="438231" y="1104872"/>
            <a:ext cx="3171825" cy="1958339"/>
          </a:xfrm>
          <a:prstGeom prst="rect">
            <a:avLst/>
          </a:prstGeom>
        </p:spPr>
        <p:txBody>
          <a:bodyPr wrap="square" lIns="0" tIns="12065" rIns="0" bIns="0" rtlCol="0" vert="horz">
            <a:spAutoFit/>
          </a:bodyPr>
          <a:lstStyle/>
          <a:p>
            <a:pPr marL="38100">
              <a:lnSpc>
                <a:spcPct val="100000"/>
              </a:lnSpc>
              <a:spcBef>
                <a:spcPts val="95"/>
              </a:spcBef>
            </a:pPr>
            <a:r>
              <a:rPr dirty="0" sz="1750" spc="-175">
                <a:solidFill>
                  <a:srgbClr val="1D40AF"/>
                </a:solidFill>
                <a:latin typeface="SimSun"/>
                <a:cs typeface="SimSun"/>
              </a:rPr>
              <a:t>条</a:t>
            </a:r>
            <a:r>
              <a:rPr dirty="0" sz="1700" spc="-145">
                <a:solidFill>
                  <a:srgbClr val="1D40AF"/>
                </a:solidFill>
                <a:latin typeface="SimSun"/>
                <a:cs typeface="SimSun"/>
              </a:rPr>
              <a:t>件</a:t>
            </a:r>
            <a:r>
              <a:rPr dirty="0" sz="1550" spc="25" b="1">
                <a:solidFill>
                  <a:srgbClr val="1D40AF"/>
                </a:solidFill>
                <a:latin typeface="Yu Gothic"/>
                <a:cs typeface="Yu Gothic"/>
              </a:rPr>
              <a:t>➁: </a:t>
            </a:r>
            <a:r>
              <a:rPr dirty="0" sz="1550" spc="160" b="1">
                <a:solidFill>
                  <a:srgbClr val="1D40AF"/>
                </a:solidFill>
                <a:latin typeface="Yu Gothic"/>
                <a:cs typeface="Yu Gothic"/>
              </a:rPr>
              <a:t>pn</a:t>
            </a:r>
            <a:r>
              <a:rPr dirty="0" sz="1800" spc="-245">
                <a:solidFill>
                  <a:srgbClr val="1D40AF"/>
                </a:solidFill>
                <a:latin typeface="SimSun"/>
                <a:cs typeface="SimSun"/>
              </a:rPr>
              <a:t>接</a:t>
            </a:r>
            <a:r>
              <a:rPr dirty="0" sz="1750" spc="-175">
                <a:solidFill>
                  <a:srgbClr val="1D40AF"/>
                </a:solidFill>
                <a:latin typeface="SimSun"/>
                <a:cs typeface="SimSun"/>
              </a:rPr>
              <a:t>合</a:t>
            </a:r>
            <a:r>
              <a:rPr dirty="0" sz="1650" spc="-30">
                <a:solidFill>
                  <a:srgbClr val="1D40AF"/>
                </a:solidFill>
                <a:latin typeface="PMingLiU"/>
                <a:cs typeface="PMingLiU"/>
              </a:rPr>
              <a:t>ガウス</a:t>
            </a:r>
            <a:r>
              <a:rPr dirty="0" sz="1750" spc="-114">
                <a:solidFill>
                  <a:srgbClr val="1D40AF"/>
                </a:solidFill>
                <a:latin typeface="SimSun"/>
                <a:cs typeface="SimSun"/>
              </a:rPr>
              <a:t>分布</a:t>
            </a:r>
            <a:endParaRPr sz="1750">
              <a:latin typeface="SimSun"/>
              <a:cs typeface="SimSun"/>
            </a:endParaRPr>
          </a:p>
          <a:p>
            <a:pPr marL="372110">
              <a:lnSpc>
                <a:spcPct val="100000"/>
              </a:lnSpc>
              <a:spcBef>
                <a:spcPts val="1120"/>
              </a:spcBef>
            </a:pPr>
            <a:r>
              <a:rPr dirty="0" sz="1150" spc="105">
                <a:latin typeface="Segoe UI Symbol"/>
                <a:cs typeface="Segoe UI Symbol"/>
              </a:rPr>
              <a:t>Ln</a:t>
            </a:r>
            <a:r>
              <a:rPr dirty="0" sz="1150" spc="60">
                <a:latin typeface="Segoe UI Symbol"/>
                <a:cs typeface="Segoe UI Symbol"/>
              </a:rPr>
              <a:t> </a:t>
            </a:r>
            <a:r>
              <a:rPr dirty="0" sz="1150" spc="200">
                <a:latin typeface="Segoe UI Symbol"/>
                <a:cs typeface="Segoe UI Symbol"/>
              </a:rPr>
              <a:t>=</a:t>
            </a:r>
            <a:r>
              <a:rPr dirty="0" sz="1150" spc="65">
                <a:latin typeface="Segoe UI Symbol"/>
                <a:cs typeface="Segoe UI Symbol"/>
              </a:rPr>
              <a:t> </a:t>
            </a:r>
            <a:r>
              <a:rPr dirty="0" sz="1150" spc="125">
                <a:latin typeface="Segoe UI Symbol"/>
                <a:cs typeface="Segoe UI Symbol"/>
              </a:rPr>
              <a:t>0.6</a:t>
            </a:r>
            <a:r>
              <a:rPr dirty="0" sz="1150" spc="60">
                <a:latin typeface="Segoe UI Symbol"/>
                <a:cs typeface="Segoe UI Symbol"/>
              </a:rPr>
              <a:t> </a:t>
            </a:r>
            <a:r>
              <a:rPr dirty="0" sz="1150" spc="95">
                <a:latin typeface="Segoe UI Symbol"/>
                <a:cs typeface="Segoe UI Symbol"/>
              </a:rPr>
              <a:t>µm</a:t>
            </a:r>
            <a:endParaRPr sz="1150">
              <a:latin typeface="Segoe UI Symbol"/>
              <a:cs typeface="Segoe UI Symbol"/>
            </a:endParaRPr>
          </a:p>
          <a:p>
            <a:pPr marL="372110">
              <a:lnSpc>
                <a:spcPct val="100000"/>
              </a:lnSpc>
              <a:spcBef>
                <a:spcPts val="1250"/>
              </a:spcBef>
            </a:pPr>
            <a:r>
              <a:rPr dirty="0" sz="1150" spc="60">
                <a:latin typeface="Segoe UI Symbol"/>
                <a:cs typeface="Segoe UI Symbol"/>
              </a:rPr>
              <a:t>Nn</a:t>
            </a:r>
            <a:r>
              <a:rPr dirty="0" sz="1150" spc="65">
                <a:latin typeface="Segoe UI Symbol"/>
                <a:cs typeface="Segoe UI Symbol"/>
              </a:rPr>
              <a:t> </a:t>
            </a:r>
            <a:r>
              <a:rPr dirty="0" sz="1150" spc="200">
                <a:latin typeface="Segoe UI Symbol"/>
                <a:cs typeface="Segoe UI Symbol"/>
              </a:rPr>
              <a:t>=</a:t>
            </a:r>
            <a:r>
              <a:rPr dirty="0" sz="1150" spc="65">
                <a:latin typeface="Segoe UI Symbol"/>
                <a:cs typeface="Segoe UI Symbol"/>
              </a:rPr>
              <a:t> </a:t>
            </a:r>
            <a:r>
              <a:rPr dirty="0" sz="1150" spc="130">
                <a:latin typeface="Segoe UI Symbol"/>
                <a:cs typeface="Segoe UI Symbol"/>
              </a:rPr>
              <a:t>7×10</a:t>
            </a:r>
            <a:r>
              <a:rPr dirty="0" baseline="29411" sz="1275" spc="195">
                <a:latin typeface="Segoe UI Symbol"/>
                <a:cs typeface="Segoe UI Symbol"/>
              </a:rPr>
              <a:t>19</a:t>
            </a:r>
            <a:r>
              <a:rPr dirty="0" baseline="29411" sz="1275" spc="225">
                <a:latin typeface="Segoe UI Symbol"/>
                <a:cs typeface="Segoe UI Symbol"/>
              </a:rPr>
              <a:t> </a:t>
            </a:r>
            <a:r>
              <a:rPr dirty="0" sz="1150" spc="105">
                <a:latin typeface="Segoe UI Symbol"/>
                <a:cs typeface="Segoe UI Symbol"/>
              </a:rPr>
              <a:t>[cm</a:t>
            </a:r>
            <a:r>
              <a:rPr dirty="0" baseline="29411" sz="1275" spc="157">
                <a:latin typeface="Segoe UI Symbol"/>
                <a:cs typeface="Segoe UI Symbol"/>
              </a:rPr>
              <a:t>-</a:t>
            </a:r>
            <a:r>
              <a:rPr dirty="0" baseline="29411" sz="1275" spc="75">
                <a:latin typeface="Segoe UI Symbol"/>
                <a:cs typeface="Segoe UI Symbol"/>
              </a:rPr>
              <a:t>3</a:t>
            </a:r>
            <a:r>
              <a:rPr dirty="0" sz="1150" spc="50">
                <a:latin typeface="Segoe UI Symbol"/>
                <a:cs typeface="Segoe UI Symbol"/>
              </a:rPr>
              <a:t>]</a:t>
            </a:r>
            <a:endParaRPr sz="1150">
              <a:latin typeface="Segoe UI Symbol"/>
              <a:cs typeface="Segoe UI Symbol"/>
            </a:endParaRPr>
          </a:p>
          <a:p>
            <a:pPr marL="372110">
              <a:lnSpc>
                <a:spcPct val="100000"/>
              </a:lnSpc>
              <a:spcBef>
                <a:spcPts val="1255"/>
              </a:spcBef>
            </a:pPr>
            <a:r>
              <a:rPr dirty="0" sz="1150">
                <a:latin typeface="PMingLiU"/>
                <a:cs typeface="PMingLiU"/>
              </a:rPr>
              <a:t>電流立ち上がり桁数</a:t>
            </a:r>
            <a:r>
              <a:rPr dirty="0" sz="1150" spc="225">
                <a:latin typeface="Segoe UI Symbol"/>
                <a:cs typeface="Segoe UI Symbol"/>
              </a:rPr>
              <a:t>: </a:t>
            </a:r>
            <a:r>
              <a:rPr dirty="0" sz="1150" spc="120" b="1">
                <a:latin typeface="Yu Gothic"/>
                <a:cs typeface="Yu Gothic"/>
              </a:rPr>
              <a:t>9.4</a:t>
            </a:r>
            <a:endParaRPr sz="1150">
              <a:latin typeface="Yu Gothic"/>
              <a:cs typeface="Yu Gothic"/>
            </a:endParaRPr>
          </a:p>
          <a:p>
            <a:pPr marL="372110">
              <a:lnSpc>
                <a:spcPct val="100000"/>
              </a:lnSpc>
              <a:spcBef>
                <a:spcPts val="1250"/>
              </a:spcBef>
            </a:pPr>
            <a:r>
              <a:rPr dirty="0" sz="1150">
                <a:latin typeface="PMingLiU"/>
                <a:cs typeface="PMingLiU"/>
              </a:rPr>
              <a:t>急峻な立ち上がりゲート電圧</a:t>
            </a:r>
            <a:r>
              <a:rPr dirty="0" sz="1150" spc="185">
                <a:latin typeface="Segoe UI Symbol"/>
                <a:cs typeface="Segoe UI Symbol"/>
              </a:rPr>
              <a:t>: </a:t>
            </a:r>
            <a:r>
              <a:rPr dirty="0" sz="1150" spc="105" b="1">
                <a:latin typeface="Yu Gothic"/>
                <a:cs typeface="Yu Gothic"/>
              </a:rPr>
              <a:t>-</a:t>
            </a:r>
            <a:r>
              <a:rPr dirty="0" sz="1150" spc="125" b="1">
                <a:latin typeface="Yu Gothic"/>
                <a:cs typeface="Yu Gothic"/>
              </a:rPr>
              <a:t>0.008</a:t>
            </a:r>
            <a:r>
              <a:rPr dirty="0" sz="1150" spc="270" b="1">
                <a:latin typeface="Yu Gothic"/>
                <a:cs typeface="Yu Gothic"/>
              </a:rPr>
              <a:t> </a:t>
            </a:r>
            <a:r>
              <a:rPr dirty="0" sz="1150" spc="75" b="1">
                <a:latin typeface="Yu Gothic"/>
                <a:cs typeface="Yu Gothic"/>
              </a:rPr>
              <a:t>V</a:t>
            </a:r>
            <a:endParaRPr sz="1150">
              <a:latin typeface="Yu Gothic"/>
              <a:cs typeface="Yu Gothic"/>
            </a:endParaRPr>
          </a:p>
          <a:p>
            <a:pPr marL="372110">
              <a:lnSpc>
                <a:spcPct val="100000"/>
              </a:lnSpc>
              <a:spcBef>
                <a:spcPts val="1105"/>
              </a:spcBef>
            </a:pPr>
            <a:r>
              <a:rPr dirty="0" sz="1300" spc="-125">
                <a:latin typeface="SimSun"/>
                <a:cs typeface="SimSun"/>
              </a:rPr>
              <a:t>負</a:t>
            </a:r>
            <a:r>
              <a:rPr dirty="0" sz="1250" spc="-80">
                <a:latin typeface="PMingLiU"/>
                <a:cs typeface="PMingLiU"/>
              </a:rPr>
              <a:t>のゲート電圧</a:t>
            </a:r>
            <a:r>
              <a:rPr dirty="0" sz="1150" spc="-10">
                <a:latin typeface="PMingLiU"/>
                <a:cs typeface="PMingLiU"/>
              </a:rPr>
              <a:t>で電流が急激に増加</a:t>
            </a:r>
            <a:endParaRPr sz="1150">
              <a:latin typeface="PMingLiU"/>
              <a:cs typeface="PMingLiU"/>
            </a:endParaRPr>
          </a:p>
        </p:txBody>
      </p:sp>
      <p:sp>
        <p:nvSpPr>
          <p:cNvPr id="33" name="object 33" descr=""/>
          <p:cNvSpPr txBox="1"/>
          <p:nvPr/>
        </p:nvSpPr>
        <p:spPr>
          <a:xfrm>
            <a:off x="5552532" y="1108664"/>
            <a:ext cx="3109595" cy="1953895"/>
          </a:xfrm>
          <a:prstGeom prst="rect">
            <a:avLst/>
          </a:prstGeom>
        </p:spPr>
        <p:txBody>
          <a:bodyPr wrap="square" lIns="0" tIns="14605" rIns="0" bIns="0" rtlCol="0" vert="horz">
            <a:spAutoFit/>
          </a:bodyPr>
          <a:lstStyle/>
          <a:p>
            <a:pPr marL="38100">
              <a:lnSpc>
                <a:spcPct val="100000"/>
              </a:lnSpc>
              <a:spcBef>
                <a:spcPts val="115"/>
              </a:spcBef>
            </a:pPr>
            <a:r>
              <a:rPr dirty="0" sz="1750" spc="-175">
                <a:solidFill>
                  <a:srgbClr val="055E45"/>
                </a:solidFill>
                <a:latin typeface="SimSun"/>
                <a:cs typeface="SimSun"/>
              </a:rPr>
              <a:t>条</a:t>
            </a:r>
            <a:r>
              <a:rPr dirty="0" sz="1700" spc="-145">
                <a:solidFill>
                  <a:srgbClr val="055E45"/>
                </a:solidFill>
                <a:latin typeface="SimSun"/>
                <a:cs typeface="SimSun"/>
              </a:rPr>
              <a:t>件</a:t>
            </a:r>
            <a:r>
              <a:rPr dirty="0" sz="1550" spc="10" b="1">
                <a:solidFill>
                  <a:srgbClr val="055E45"/>
                </a:solidFill>
                <a:latin typeface="Yu Gothic"/>
                <a:cs typeface="Yu Gothic"/>
              </a:rPr>
              <a:t>④: </a:t>
            </a:r>
            <a:r>
              <a:rPr dirty="0" sz="1550" spc="130" b="1">
                <a:solidFill>
                  <a:srgbClr val="055E45"/>
                </a:solidFill>
                <a:latin typeface="Yu Gothic"/>
                <a:cs typeface="Yu Gothic"/>
              </a:rPr>
              <a:t>SiO</a:t>
            </a:r>
            <a:r>
              <a:rPr dirty="0" baseline="-16908" sz="1725" spc="195" b="1">
                <a:solidFill>
                  <a:srgbClr val="055E45"/>
                </a:solidFill>
                <a:latin typeface="Yu Gothic"/>
                <a:cs typeface="Yu Gothic"/>
              </a:rPr>
              <a:t>2</a:t>
            </a:r>
            <a:r>
              <a:rPr dirty="0" sz="1750" spc="-50">
                <a:solidFill>
                  <a:srgbClr val="055E45"/>
                </a:solidFill>
                <a:latin typeface="PMingLiU"/>
                <a:cs typeface="PMingLiU"/>
              </a:rPr>
              <a:t>追加 </a:t>
            </a:r>
            <a:r>
              <a:rPr dirty="0" sz="1550" spc="105" b="1">
                <a:solidFill>
                  <a:srgbClr val="055E45"/>
                </a:solidFill>
                <a:latin typeface="Yu Gothic"/>
                <a:cs typeface="Yu Gothic"/>
              </a:rPr>
              <a:t>+ </a:t>
            </a:r>
            <a:r>
              <a:rPr dirty="0" sz="1650" spc="-30">
                <a:solidFill>
                  <a:srgbClr val="055E45"/>
                </a:solidFill>
                <a:latin typeface="PMingLiU"/>
                <a:cs typeface="PMingLiU"/>
              </a:rPr>
              <a:t>ガウス</a:t>
            </a:r>
            <a:r>
              <a:rPr dirty="0" sz="1750" spc="-114">
                <a:solidFill>
                  <a:srgbClr val="055E45"/>
                </a:solidFill>
                <a:latin typeface="SimSun"/>
                <a:cs typeface="SimSun"/>
              </a:rPr>
              <a:t>分布</a:t>
            </a:r>
            <a:endParaRPr sz="1750">
              <a:latin typeface="SimSun"/>
              <a:cs typeface="SimSun"/>
            </a:endParaRPr>
          </a:p>
          <a:p>
            <a:pPr marL="372110">
              <a:lnSpc>
                <a:spcPct val="100000"/>
              </a:lnSpc>
              <a:spcBef>
                <a:spcPts val="1130"/>
              </a:spcBef>
            </a:pPr>
            <a:r>
              <a:rPr dirty="0" sz="1150" spc="105">
                <a:latin typeface="Segoe UI Symbol"/>
                <a:cs typeface="Segoe UI Symbol"/>
              </a:rPr>
              <a:t>Ln</a:t>
            </a:r>
            <a:r>
              <a:rPr dirty="0" sz="1150" spc="60">
                <a:latin typeface="Segoe UI Symbol"/>
                <a:cs typeface="Segoe UI Symbol"/>
              </a:rPr>
              <a:t> </a:t>
            </a:r>
            <a:r>
              <a:rPr dirty="0" sz="1150" spc="200">
                <a:latin typeface="Segoe UI Symbol"/>
                <a:cs typeface="Segoe UI Symbol"/>
              </a:rPr>
              <a:t>=</a:t>
            </a:r>
            <a:r>
              <a:rPr dirty="0" sz="1150" spc="65">
                <a:latin typeface="Segoe UI Symbol"/>
                <a:cs typeface="Segoe UI Symbol"/>
              </a:rPr>
              <a:t> </a:t>
            </a:r>
            <a:r>
              <a:rPr dirty="0" sz="1150" spc="125">
                <a:latin typeface="Segoe UI Symbol"/>
                <a:cs typeface="Segoe UI Symbol"/>
              </a:rPr>
              <a:t>0.6</a:t>
            </a:r>
            <a:r>
              <a:rPr dirty="0" sz="1150" spc="60">
                <a:latin typeface="Segoe UI Symbol"/>
                <a:cs typeface="Segoe UI Symbol"/>
              </a:rPr>
              <a:t> </a:t>
            </a:r>
            <a:r>
              <a:rPr dirty="0" sz="1150" spc="95">
                <a:latin typeface="Segoe UI Symbol"/>
                <a:cs typeface="Segoe UI Symbol"/>
              </a:rPr>
              <a:t>µm</a:t>
            </a:r>
            <a:endParaRPr sz="1150">
              <a:latin typeface="Segoe UI Symbol"/>
              <a:cs typeface="Segoe UI Symbol"/>
            </a:endParaRPr>
          </a:p>
          <a:p>
            <a:pPr marL="372110">
              <a:lnSpc>
                <a:spcPct val="100000"/>
              </a:lnSpc>
              <a:spcBef>
                <a:spcPts val="1250"/>
              </a:spcBef>
            </a:pPr>
            <a:r>
              <a:rPr dirty="0" sz="1150" spc="60">
                <a:latin typeface="Segoe UI Symbol"/>
                <a:cs typeface="Segoe UI Symbol"/>
              </a:rPr>
              <a:t>Nn</a:t>
            </a:r>
            <a:r>
              <a:rPr dirty="0" sz="1150" spc="65">
                <a:latin typeface="Segoe UI Symbol"/>
                <a:cs typeface="Segoe UI Symbol"/>
              </a:rPr>
              <a:t> </a:t>
            </a:r>
            <a:r>
              <a:rPr dirty="0" sz="1150" spc="200">
                <a:latin typeface="Segoe UI Symbol"/>
                <a:cs typeface="Segoe UI Symbol"/>
              </a:rPr>
              <a:t>=</a:t>
            </a:r>
            <a:r>
              <a:rPr dirty="0" sz="1150" spc="65">
                <a:latin typeface="Segoe UI Symbol"/>
                <a:cs typeface="Segoe UI Symbol"/>
              </a:rPr>
              <a:t> </a:t>
            </a:r>
            <a:r>
              <a:rPr dirty="0" sz="1150" spc="130">
                <a:latin typeface="Segoe UI Symbol"/>
                <a:cs typeface="Segoe UI Symbol"/>
              </a:rPr>
              <a:t>7×10</a:t>
            </a:r>
            <a:r>
              <a:rPr dirty="0" baseline="29411" sz="1275" spc="195">
                <a:latin typeface="Segoe UI Symbol"/>
                <a:cs typeface="Segoe UI Symbol"/>
              </a:rPr>
              <a:t>19</a:t>
            </a:r>
            <a:r>
              <a:rPr dirty="0" baseline="29411" sz="1275" spc="225">
                <a:latin typeface="Segoe UI Symbol"/>
                <a:cs typeface="Segoe UI Symbol"/>
              </a:rPr>
              <a:t> </a:t>
            </a:r>
            <a:r>
              <a:rPr dirty="0" sz="1150" spc="105">
                <a:latin typeface="Segoe UI Symbol"/>
                <a:cs typeface="Segoe UI Symbol"/>
              </a:rPr>
              <a:t>[cm</a:t>
            </a:r>
            <a:r>
              <a:rPr dirty="0" baseline="29411" sz="1275" spc="157">
                <a:latin typeface="Segoe UI Symbol"/>
                <a:cs typeface="Segoe UI Symbol"/>
              </a:rPr>
              <a:t>-</a:t>
            </a:r>
            <a:r>
              <a:rPr dirty="0" baseline="29411" sz="1275" spc="75">
                <a:latin typeface="Segoe UI Symbol"/>
                <a:cs typeface="Segoe UI Symbol"/>
              </a:rPr>
              <a:t>3</a:t>
            </a:r>
            <a:r>
              <a:rPr dirty="0" sz="1150" spc="50">
                <a:latin typeface="Segoe UI Symbol"/>
                <a:cs typeface="Segoe UI Symbol"/>
              </a:rPr>
              <a:t>]</a:t>
            </a:r>
            <a:endParaRPr sz="1150">
              <a:latin typeface="Segoe UI Symbol"/>
              <a:cs typeface="Segoe UI Symbol"/>
            </a:endParaRPr>
          </a:p>
          <a:p>
            <a:pPr marL="372110">
              <a:lnSpc>
                <a:spcPct val="100000"/>
              </a:lnSpc>
              <a:spcBef>
                <a:spcPts val="1255"/>
              </a:spcBef>
            </a:pPr>
            <a:r>
              <a:rPr dirty="0" sz="1150">
                <a:latin typeface="PMingLiU"/>
                <a:cs typeface="PMingLiU"/>
              </a:rPr>
              <a:t>電流立ち上がり桁数</a:t>
            </a:r>
            <a:r>
              <a:rPr dirty="0" sz="1150" spc="165">
                <a:latin typeface="Segoe UI Symbol"/>
                <a:cs typeface="Segoe UI Symbol"/>
              </a:rPr>
              <a:t>: </a:t>
            </a:r>
            <a:r>
              <a:rPr dirty="0" sz="1150" spc="145" b="1">
                <a:latin typeface="Yu Gothic"/>
                <a:cs typeface="Yu Gothic"/>
              </a:rPr>
              <a:t>9.5</a:t>
            </a:r>
            <a:r>
              <a:rPr dirty="0" sz="1150" spc="175" b="1">
                <a:latin typeface="Yu Gothic"/>
                <a:cs typeface="Yu Gothic"/>
              </a:rPr>
              <a:t> </a:t>
            </a:r>
            <a:r>
              <a:rPr dirty="0" sz="1150" spc="120">
                <a:solidFill>
                  <a:srgbClr val="EF4444"/>
                </a:solidFill>
                <a:latin typeface="Segoe UI Symbol"/>
                <a:cs typeface="Segoe UI Symbol"/>
              </a:rPr>
              <a:t>(+0.1)</a:t>
            </a:r>
            <a:endParaRPr sz="1150">
              <a:latin typeface="Segoe UI Symbol"/>
              <a:cs typeface="Segoe UI Symbol"/>
            </a:endParaRPr>
          </a:p>
          <a:p>
            <a:pPr marL="372110">
              <a:lnSpc>
                <a:spcPct val="100000"/>
              </a:lnSpc>
              <a:spcBef>
                <a:spcPts val="1250"/>
              </a:spcBef>
            </a:pPr>
            <a:r>
              <a:rPr dirty="0" sz="1150">
                <a:latin typeface="PMingLiU"/>
                <a:cs typeface="PMingLiU"/>
              </a:rPr>
              <a:t>急峻な立ち上がりゲート電圧</a:t>
            </a:r>
            <a:r>
              <a:rPr dirty="0" sz="1150" spc="190">
                <a:latin typeface="Segoe UI Symbol"/>
                <a:cs typeface="Segoe UI Symbol"/>
              </a:rPr>
              <a:t>: </a:t>
            </a:r>
            <a:r>
              <a:rPr dirty="0" sz="1150" spc="145" b="1">
                <a:latin typeface="Yu Gothic"/>
                <a:cs typeface="Yu Gothic"/>
              </a:rPr>
              <a:t>0.052</a:t>
            </a:r>
            <a:r>
              <a:rPr dirty="0" sz="1150" spc="280" b="1">
                <a:latin typeface="Yu Gothic"/>
                <a:cs typeface="Yu Gothic"/>
              </a:rPr>
              <a:t> </a:t>
            </a:r>
            <a:r>
              <a:rPr dirty="0" sz="1150" spc="75" b="1">
                <a:latin typeface="Yu Gothic"/>
                <a:cs typeface="Yu Gothic"/>
              </a:rPr>
              <a:t>V</a:t>
            </a:r>
            <a:endParaRPr sz="1150">
              <a:latin typeface="Yu Gothic"/>
              <a:cs typeface="Yu Gothic"/>
            </a:endParaRPr>
          </a:p>
          <a:p>
            <a:pPr marL="372110">
              <a:lnSpc>
                <a:spcPct val="100000"/>
              </a:lnSpc>
              <a:spcBef>
                <a:spcPts val="1155"/>
              </a:spcBef>
            </a:pPr>
            <a:r>
              <a:rPr dirty="0" sz="1250" spc="-80">
                <a:latin typeface="PMingLiU"/>
                <a:cs typeface="PMingLiU"/>
              </a:rPr>
              <a:t>正のゲート電圧</a:t>
            </a:r>
            <a:r>
              <a:rPr dirty="0" sz="1150" spc="-10">
                <a:latin typeface="PMingLiU"/>
                <a:cs typeface="PMingLiU"/>
              </a:rPr>
              <a:t>で電流が急激に増加</a:t>
            </a:r>
            <a:endParaRPr sz="1150">
              <a:latin typeface="PMingLiU"/>
              <a:cs typeface="PMingLiU"/>
            </a:endParaRPr>
          </a:p>
        </p:txBody>
      </p:sp>
      <p:sp>
        <p:nvSpPr>
          <p:cNvPr id="34" name="object 34" descr=""/>
          <p:cNvSpPr txBox="1"/>
          <p:nvPr/>
        </p:nvSpPr>
        <p:spPr>
          <a:xfrm>
            <a:off x="6735170" y="4083754"/>
            <a:ext cx="3412490" cy="2162175"/>
          </a:xfrm>
          <a:prstGeom prst="rect">
            <a:avLst/>
          </a:prstGeom>
        </p:spPr>
        <p:txBody>
          <a:bodyPr wrap="square" lIns="0" tIns="12700" rIns="0" bIns="0" rtlCol="0" vert="horz">
            <a:spAutoFit/>
          </a:bodyPr>
          <a:lstStyle/>
          <a:p>
            <a:pPr marL="259079" marR="45720">
              <a:lnSpc>
                <a:spcPct val="125299"/>
              </a:lnSpc>
              <a:spcBef>
                <a:spcPts val="100"/>
              </a:spcBef>
            </a:pPr>
            <a:r>
              <a:rPr dirty="0" sz="1050" spc="-15">
                <a:latin typeface="PMingLiU"/>
                <a:cs typeface="PMingLiU"/>
              </a:rPr>
              <a:t>デバイス両端の</a:t>
            </a:r>
            <a:r>
              <a:rPr dirty="0" sz="1050" spc="65">
                <a:latin typeface="Segoe UI Symbol"/>
                <a:cs typeface="Segoe UI Symbol"/>
              </a:rPr>
              <a:t>SiO</a:t>
            </a:r>
            <a:r>
              <a:rPr dirty="0" baseline="-14814" sz="1125" spc="97">
                <a:latin typeface="Segoe UI Symbol"/>
                <a:cs typeface="Segoe UI Symbol"/>
              </a:rPr>
              <a:t>2</a:t>
            </a:r>
            <a:r>
              <a:rPr dirty="0" sz="1050" spc="-25">
                <a:latin typeface="PMingLiU"/>
                <a:cs typeface="PMingLiU"/>
              </a:rPr>
              <a:t>追加によって最大立ち上がり桁</a:t>
            </a:r>
            <a:r>
              <a:rPr dirty="0" sz="1050" spc="-10">
                <a:latin typeface="PMingLiU"/>
                <a:cs typeface="PMingLiU"/>
              </a:rPr>
              <a:t>数が</a:t>
            </a:r>
            <a:r>
              <a:rPr dirty="0" sz="1050" spc="120" b="1">
                <a:latin typeface="Yu Gothic"/>
                <a:cs typeface="Yu Gothic"/>
              </a:rPr>
              <a:t>0.1</a:t>
            </a:r>
            <a:r>
              <a:rPr dirty="0" sz="1050" spc="-25">
                <a:latin typeface="PMingLiU"/>
                <a:cs typeface="PMingLiU"/>
              </a:rPr>
              <a:t>増加</a:t>
            </a:r>
            <a:endParaRPr sz="1050">
              <a:latin typeface="PMingLiU"/>
              <a:cs typeface="PMingLiU"/>
            </a:endParaRPr>
          </a:p>
          <a:p>
            <a:pPr marL="259079">
              <a:lnSpc>
                <a:spcPct val="100000"/>
              </a:lnSpc>
              <a:spcBef>
                <a:spcPts val="1005"/>
              </a:spcBef>
            </a:pPr>
            <a:r>
              <a:rPr dirty="0" sz="1050" spc="-20">
                <a:latin typeface="PMingLiU"/>
                <a:cs typeface="PMingLiU"/>
              </a:rPr>
              <a:t>電流立ち上がりのゲート電圧が</a:t>
            </a:r>
            <a:r>
              <a:rPr dirty="0" sz="1150" spc="-110">
                <a:latin typeface="SimSun"/>
                <a:cs typeface="SimSun"/>
              </a:rPr>
              <a:t>負</a:t>
            </a:r>
            <a:r>
              <a:rPr dirty="0" sz="1050" spc="-10">
                <a:latin typeface="PMingLiU"/>
                <a:cs typeface="PMingLiU"/>
              </a:rPr>
              <a:t>から</a:t>
            </a:r>
            <a:r>
              <a:rPr dirty="0" sz="1100" spc="-55">
                <a:latin typeface="PMingLiU"/>
                <a:cs typeface="PMingLiU"/>
              </a:rPr>
              <a:t>正</a:t>
            </a:r>
            <a:r>
              <a:rPr dirty="0" sz="1050" spc="-20">
                <a:latin typeface="PMingLiU"/>
                <a:cs typeface="PMingLiU"/>
              </a:rPr>
              <a:t>へ変化</a:t>
            </a:r>
            <a:endParaRPr sz="1050">
              <a:latin typeface="PMingLiU"/>
              <a:cs typeface="PMingLiU"/>
            </a:endParaRPr>
          </a:p>
          <a:p>
            <a:pPr marL="259079" marR="43180">
              <a:lnSpc>
                <a:spcPct val="125299"/>
              </a:lnSpc>
              <a:spcBef>
                <a:spcPts val="770"/>
              </a:spcBef>
            </a:pPr>
            <a:r>
              <a:rPr dirty="0" sz="1050" spc="-15">
                <a:latin typeface="PMingLiU"/>
                <a:cs typeface="PMingLiU"/>
              </a:rPr>
              <a:t>デバイス両端の</a:t>
            </a:r>
            <a:r>
              <a:rPr dirty="0" sz="1050" spc="65">
                <a:latin typeface="Segoe UI Symbol"/>
                <a:cs typeface="Segoe UI Symbol"/>
              </a:rPr>
              <a:t>SiO</a:t>
            </a:r>
            <a:r>
              <a:rPr dirty="0" baseline="-14814" sz="1125" spc="97">
                <a:latin typeface="Segoe UI Symbol"/>
                <a:cs typeface="Segoe UI Symbol"/>
              </a:rPr>
              <a:t>2</a:t>
            </a:r>
            <a:r>
              <a:rPr dirty="0" sz="1050" spc="-25">
                <a:latin typeface="PMingLiU"/>
                <a:cs typeface="PMingLiU"/>
              </a:rPr>
              <a:t>追加によって負のゲート電圧で</a:t>
            </a:r>
            <a:r>
              <a:rPr dirty="0" sz="1050" spc="-10">
                <a:latin typeface="PMingLiU"/>
                <a:cs typeface="PMingLiU"/>
              </a:rPr>
              <a:t>の</a:t>
            </a:r>
            <a:r>
              <a:rPr dirty="0" sz="1050" spc="75">
                <a:latin typeface="Segoe UI Symbol"/>
                <a:cs typeface="Segoe UI Symbol"/>
              </a:rPr>
              <a:t>Body</a:t>
            </a:r>
            <a:r>
              <a:rPr dirty="0" sz="1050" spc="130">
                <a:latin typeface="Segoe UI Symbol"/>
                <a:cs typeface="Segoe UI Symbol"/>
              </a:rPr>
              <a:t> </a:t>
            </a:r>
            <a:r>
              <a:rPr dirty="0" sz="1050" spc="60">
                <a:latin typeface="Segoe UI Symbol"/>
                <a:cs typeface="Segoe UI Symbol"/>
              </a:rPr>
              <a:t>Tie</a:t>
            </a:r>
            <a:r>
              <a:rPr dirty="0" sz="1050" spc="-25">
                <a:latin typeface="PMingLiU"/>
                <a:cs typeface="PMingLiU"/>
              </a:rPr>
              <a:t>電流の立ち上がりが解消</a:t>
            </a:r>
            <a:endParaRPr sz="1050">
              <a:latin typeface="PMingLiU"/>
              <a:cs typeface="PMingLiU"/>
            </a:endParaRPr>
          </a:p>
          <a:p>
            <a:pPr>
              <a:lnSpc>
                <a:spcPct val="100000"/>
              </a:lnSpc>
              <a:spcBef>
                <a:spcPts val="320"/>
              </a:spcBef>
            </a:pPr>
            <a:endParaRPr sz="1050">
              <a:latin typeface="PMingLiU"/>
              <a:cs typeface="PMingLiU"/>
            </a:endParaRPr>
          </a:p>
          <a:p>
            <a:pPr algn="just" marL="25400" marR="220345" indent="285750">
              <a:lnSpc>
                <a:spcPct val="116799"/>
              </a:lnSpc>
            </a:pPr>
            <a:r>
              <a:rPr dirty="0" sz="1300" spc="-125">
                <a:solidFill>
                  <a:srgbClr val="1D40AF"/>
                </a:solidFill>
                <a:latin typeface="SimSun"/>
                <a:cs typeface="SimSun"/>
              </a:rPr>
              <a:t>構</a:t>
            </a:r>
            <a:r>
              <a:rPr dirty="0" sz="1350" spc="-185">
                <a:solidFill>
                  <a:srgbClr val="1D40AF"/>
                </a:solidFill>
                <a:latin typeface="PMingLiU"/>
                <a:cs typeface="PMingLiU"/>
              </a:rPr>
              <a:t>造</a:t>
            </a:r>
            <a:r>
              <a:rPr dirty="0" sz="1250" spc="-75">
                <a:solidFill>
                  <a:srgbClr val="1D40AF"/>
                </a:solidFill>
                <a:latin typeface="PMingLiU"/>
                <a:cs typeface="PMingLiU"/>
              </a:rPr>
              <a:t>最</a:t>
            </a:r>
            <a:r>
              <a:rPr dirty="0" sz="1350" spc="-185">
                <a:solidFill>
                  <a:srgbClr val="1D40AF"/>
                </a:solidFill>
                <a:latin typeface="PMingLiU"/>
                <a:cs typeface="PMingLiU"/>
              </a:rPr>
              <a:t>適</a:t>
            </a:r>
            <a:r>
              <a:rPr dirty="0" sz="1300" spc="-125">
                <a:solidFill>
                  <a:srgbClr val="1D40AF"/>
                </a:solidFill>
                <a:latin typeface="SimSun"/>
                <a:cs typeface="SimSun"/>
              </a:rPr>
              <a:t>化</a:t>
            </a:r>
            <a:r>
              <a:rPr dirty="0" sz="1250" spc="-80">
                <a:solidFill>
                  <a:srgbClr val="1D40AF"/>
                </a:solidFill>
                <a:latin typeface="PMingLiU"/>
                <a:cs typeface="PMingLiU"/>
              </a:rPr>
              <a:t>により正のゲート電圧での</a:t>
            </a:r>
            <a:r>
              <a:rPr dirty="0" sz="1300" spc="-90">
                <a:solidFill>
                  <a:srgbClr val="1D40AF"/>
                </a:solidFill>
                <a:latin typeface="SimSun"/>
                <a:cs typeface="SimSun"/>
              </a:rPr>
              <a:t>動作</a:t>
            </a:r>
            <a:r>
              <a:rPr dirty="0" sz="1250" spc="-80">
                <a:solidFill>
                  <a:srgbClr val="1D40AF"/>
                </a:solidFill>
                <a:latin typeface="PMingLiU"/>
                <a:cs typeface="PMingLiU"/>
              </a:rPr>
              <a:t>が</a:t>
            </a:r>
            <a:r>
              <a:rPr dirty="0" sz="1300" spc="-125">
                <a:solidFill>
                  <a:srgbClr val="1D40AF"/>
                </a:solidFill>
                <a:latin typeface="SimSun"/>
                <a:cs typeface="SimSun"/>
              </a:rPr>
              <a:t>可</a:t>
            </a:r>
            <a:r>
              <a:rPr dirty="0" sz="1300" spc="-125">
                <a:solidFill>
                  <a:srgbClr val="1D40AF"/>
                </a:solidFill>
                <a:latin typeface="PMingLiU"/>
                <a:cs typeface="PMingLiU"/>
              </a:rPr>
              <a:t>能</a:t>
            </a:r>
            <a:r>
              <a:rPr dirty="0" sz="1250" spc="-80">
                <a:solidFill>
                  <a:srgbClr val="1D40AF"/>
                </a:solidFill>
                <a:latin typeface="PMingLiU"/>
                <a:cs typeface="PMingLiU"/>
              </a:rPr>
              <a:t>になり</a:t>
            </a:r>
            <a:r>
              <a:rPr dirty="0" sz="1100" spc="75">
                <a:solidFill>
                  <a:srgbClr val="1D40AF"/>
                </a:solidFill>
                <a:latin typeface="PMingLiU"/>
                <a:cs typeface="PMingLiU"/>
              </a:rPr>
              <a:t>、</a:t>
            </a:r>
            <a:r>
              <a:rPr dirty="0" sz="1250" spc="-80">
                <a:solidFill>
                  <a:srgbClr val="1D40AF"/>
                </a:solidFill>
                <a:latin typeface="PMingLiU"/>
                <a:cs typeface="PMingLiU"/>
              </a:rPr>
              <a:t>より</a:t>
            </a:r>
            <a:r>
              <a:rPr dirty="0" sz="1350" spc="-185">
                <a:solidFill>
                  <a:srgbClr val="1D40AF"/>
                </a:solidFill>
                <a:latin typeface="SimSun"/>
                <a:cs typeface="SimSun"/>
              </a:rPr>
              <a:t>実</a:t>
            </a:r>
            <a:r>
              <a:rPr dirty="0" sz="1250" spc="-75">
                <a:solidFill>
                  <a:srgbClr val="1D40AF"/>
                </a:solidFill>
                <a:latin typeface="PMingLiU"/>
                <a:cs typeface="PMingLiU"/>
              </a:rPr>
              <a:t>用</a:t>
            </a:r>
            <a:r>
              <a:rPr dirty="0" sz="1300" spc="-125">
                <a:solidFill>
                  <a:srgbClr val="1D40AF"/>
                </a:solidFill>
                <a:latin typeface="PMingLiU"/>
                <a:cs typeface="PMingLiU"/>
              </a:rPr>
              <a:t>的</a:t>
            </a:r>
            <a:r>
              <a:rPr dirty="0" sz="1250" spc="-80">
                <a:solidFill>
                  <a:srgbClr val="1D40AF"/>
                </a:solidFill>
                <a:latin typeface="PMingLiU"/>
                <a:cs typeface="PMingLiU"/>
              </a:rPr>
              <a:t>なデバイス</a:t>
            </a:r>
            <a:r>
              <a:rPr dirty="0" sz="1300" spc="-125">
                <a:solidFill>
                  <a:srgbClr val="1D40AF"/>
                </a:solidFill>
                <a:latin typeface="SimSun"/>
                <a:cs typeface="SimSun"/>
              </a:rPr>
              <a:t>特性</a:t>
            </a:r>
            <a:r>
              <a:rPr dirty="0" sz="1250" spc="-80">
                <a:solidFill>
                  <a:srgbClr val="1D40AF"/>
                </a:solidFill>
                <a:latin typeface="PMingLiU"/>
                <a:cs typeface="PMingLiU"/>
              </a:rPr>
              <a:t>を</a:t>
            </a:r>
            <a:r>
              <a:rPr dirty="0" sz="1350" spc="-50">
                <a:solidFill>
                  <a:srgbClr val="1D40AF"/>
                </a:solidFill>
                <a:latin typeface="SimSun"/>
                <a:cs typeface="SimSun"/>
              </a:rPr>
              <a:t>実</a:t>
            </a:r>
            <a:r>
              <a:rPr dirty="0" sz="1250" spc="-50">
                <a:solidFill>
                  <a:srgbClr val="1D40AF"/>
                </a:solidFill>
                <a:latin typeface="PMingLiU"/>
                <a:cs typeface="PMingLiU"/>
              </a:rPr>
              <a:t>現</a:t>
            </a:r>
            <a:endParaRPr sz="1250">
              <a:latin typeface="PMingLiU"/>
              <a:cs typeface="PMingLiU"/>
            </a:endParaRPr>
          </a:p>
        </p:txBody>
      </p:sp>
      <p:sp>
        <p:nvSpPr>
          <p:cNvPr id="35" name="object 35" descr=""/>
          <p:cNvSpPr txBox="1"/>
          <p:nvPr/>
        </p:nvSpPr>
        <p:spPr>
          <a:xfrm>
            <a:off x="10012989" y="6756226"/>
            <a:ext cx="495934" cy="186055"/>
          </a:xfrm>
          <a:prstGeom prst="rect">
            <a:avLst/>
          </a:prstGeom>
        </p:spPr>
        <p:txBody>
          <a:bodyPr wrap="square" lIns="0" tIns="12700" rIns="0" bIns="0" rtlCol="0" vert="horz">
            <a:spAutoFit/>
          </a:bodyPr>
          <a:lstStyle/>
          <a:p>
            <a:pPr marL="12700">
              <a:lnSpc>
                <a:spcPct val="100000"/>
              </a:lnSpc>
              <a:spcBef>
                <a:spcPts val="100"/>
              </a:spcBef>
            </a:pPr>
            <a:r>
              <a:rPr dirty="0" sz="1050" spc="105">
                <a:solidFill>
                  <a:srgbClr val="4A5462"/>
                </a:solidFill>
                <a:latin typeface="Segoe UI Symbol"/>
                <a:cs typeface="Segoe UI Symbol"/>
              </a:rPr>
              <a:t>10</a:t>
            </a:r>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6017260"/>
          </a:xfrm>
          <a:custGeom>
            <a:avLst/>
            <a:gdLst/>
            <a:ahLst/>
            <a:cxnLst/>
            <a:rect l="l" t="t" r="r" b="b"/>
            <a:pathLst>
              <a:path w="10696575" h="6017260">
                <a:moveTo>
                  <a:pt x="10696575" y="6016823"/>
                </a:moveTo>
                <a:lnTo>
                  <a:pt x="0" y="6016823"/>
                </a:lnTo>
                <a:lnTo>
                  <a:pt x="0" y="0"/>
                </a:lnTo>
                <a:lnTo>
                  <a:pt x="10696575" y="0"/>
                </a:lnTo>
                <a:lnTo>
                  <a:pt x="10696575" y="6016823"/>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p:cNvSpPr txBox="1">
            <a:spLocks noGrp="1"/>
          </p:cNvSpPr>
          <p:nvPr>
            <p:ph type="title"/>
          </p:nvPr>
        </p:nvSpPr>
        <p:spPr>
          <a:prstGeom prst="rect"/>
        </p:spPr>
        <p:txBody>
          <a:bodyPr wrap="square" lIns="0" tIns="15240" rIns="0" bIns="0" rtlCol="0" vert="horz">
            <a:spAutoFit/>
          </a:bodyPr>
          <a:lstStyle/>
          <a:p>
            <a:pPr marL="12700">
              <a:lnSpc>
                <a:spcPct val="100000"/>
              </a:lnSpc>
              <a:spcBef>
                <a:spcPts val="120"/>
              </a:spcBef>
            </a:pPr>
            <a:r>
              <a:rPr dirty="0" sz="2600" spc="-240">
                <a:latin typeface="SimSun"/>
                <a:cs typeface="SimSun"/>
              </a:rPr>
              <a:t>条</a:t>
            </a:r>
            <a:r>
              <a:rPr dirty="0" spc="-210">
                <a:latin typeface="SimSun"/>
                <a:cs typeface="SimSun"/>
              </a:rPr>
              <a:t>件</a:t>
            </a:r>
            <a:r>
              <a:rPr dirty="0" spc="-204"/>
              <a:t>間</a:t>
            </a:r>
            <a:r>
              <a:rPr dirty="0" sz="2650" spc="-295">
                <a:latin typeface="SimSun"/>
                <a:cs typeface="SimSun"/>
              </a:rPr>
              <a:t>比較</a:t>
            </a:r>
            <a:r>
              <a:rPr dirty="0" sz="2250" spc="110"/>
              <a:t>：</a:t>
            </a:r>
            <a:r>
              <a:rPr dirty="0" spc="-170"/>
              <a:t>ゲート電</a:t>
            </a:r>
            <a:r>
              <a:rPr dirty="0" sz="2500" spc="-150"/>
              <a:t>圧</a:t>
            </a:r>
            <a:r>
              <a:rPr dirty="0" spc="-170"/>
              <a:t>と電</a:t>
            </a:r>
            <a:r>
              <a:rPr dirty="0" sz="2700" spc="-355">
                <a:latin typeface="SimSun"/>
                <a:cs typeface="SimSun"/>
              </a:rPr>
              <a:t>流</a:t>
            </a:r>
            <a:r>
              <a:rPr dirty="0" sz="2600" spc="-145">
                <a:latin typeface="SimSun"/>
                <a:cs typeface="SimSun"/>
              </a:rPr>
              <a:t>特性</a:t>
            </a:r>
            <a:endParaRPr sz="2600">
              <a:latin typeface="SimSun"/>
              <a:cs typeface="SimSun"/>
            </a:endParaRPr>
          </a:p>
        </p:txBody>
      </p:sp>
      <p:sp>
        <p:nvSpPr>
          <p:cNvPr id="5" name="object 5" descr=""/>
          <p:cNvSpPr/>
          <p:nvPr/>
        </p:nvSpPr>
        <p:spPr>
          <a:xfrm>
            <a:off x="334267" y="919236"/>
            <a:ext cx="5766435" cy="4278630"/>
          </a:xfrm>
          <a:custGeom>
            <a:avLst/>
            <a:gdLst/>
            <a:ahLst/>
            <a:cxnLst/>
            <a:rect l="l" t="t" r="r" b="b"/>
            <a:pathLst>
              <a:path w="5766435" h="4278630">
                <a:moveTo>
                  <a:pt x="5703659" y="4278629"/>
                </a:moveTo>
                <a:lnTo>
                  <a:pt x="62463" y="4278629"/>
                </a:lnTo>
                <a:lnTo>
                  <a:pt x="58116" y="4278201"/>
                </a:lnTo>
                <a:lnTo>
                  <a:pt x="22684" y="4262152"/>
                </a:lnTo>
                <a:lnTo>
                  <a:pt x="2140" y="4229124"/>
                </a:lnTo>
                <a:lnTo>
                  <a:pt x="0" y="4216166"/>
                </a:lnTo>
                <a:lnTo>
                  <a:pt x="0" y="4211776"/>
                </a:lnTo>
                <a:lnTo>
                  <a:pt x="0" y="62463"/>
                </a:lnTo>
                <a:lnTo>
                  <a:pt x="13705" y="26061"/>
                </a:lnTo>
                <a:lnTo>
                  <a:pt x="45325" y="3408"/>
                </a:lnTo>
                <a:lnTo>
                  <a:pt x="62463" y="0"/>
                </a:lnTo>
                <a:lnTo>
                  <a:pt x="5703659" y="0"/>
                </a:lnTo>
                <a:lnTo>
                  <a:pt x="5740060" y="13705"/>
                </a:lnTo>
                <a:lnTo>
                  <a:pt x="5762713" y="45325"/>
                </a:lnTo>
                <a:lnTo>
                  <a:pt x="5766122" y="62463"/>
                </a:lnTo>
                <a:lnTo>
                  <a:pt x="5766122" y="4216166"/>
                </a:lnTo>
                <a:lnTo>
                  <a:pt x="5752416" y="4252567"/>
                </a:lnTo>
                <a:lnTo>
                  <a:pt x="5720797" y="4275220"/>
                </a:lnTo>
                <a:lnTo>
                  <a:pt x="5708006" y="4278201"/>
                </a:lnTo>
                <a:lnTo>
                  <a:pt x="5703659" y="4278629"/>
                </a:lnTo>
                <a:close/>
              </a:path>
            </a:pathLst>
          </a:custGeom>
          <a:solidFill>
            <a:srgbClr val="FFFFFF">
              <a:alpha val="94898"/>
            </a:srgbClr>
          </a:solidFill>
        </p:spPr>
        <p:txBody>
          <a:bodyPr wrap="square" lIns="0" tIns="0" rIns="0" bIns="0" rtlCol="0"/>
          <a:lstStyle/>
          <a:p/>
        </p:txBody>
      </p:sp>
      <p:sp>
        <p:nvSpPr>
          <p:cNvPr id="6" name="object 6" descr=""/>
          <p:cNvSpPr txBox="1"/>
          <p:nvPr/>
        </p:nvSpPr>
        <p:spPr>
          <a:xfrm>
            <a:off x="488702" y="1043312"/>
            <a:ext cx="3860165" cy="302895"/>
          </a:xfrm>
          <a:prstGeom prst="rect">
            <a:avLst/>
          </a:prstGeom>
        </p:spPr>
        <p:txBody>
          <a:bodyPr wrap="square" lIns="0" tIns="14604" rIns="0" bIns="0" rtlCol="0" vert="horz">
            <a:spAutoFit/>
          </a:bodyPr>
          <a:lstStyle/>
          <a:p>
            <a:pPr marL="12700">
              <a:lnSpc>
                <a:spcPct val="100000"/>
              </a:lnSpc>
              <a:spcBef>
                <a:spcPts val="114"/>
              </a:spcBef>
            </a:pPr>
            <a:r>
              <a:rPr dirty="0" sz="1700" spc="-105">
                <a:solidFill>
                  <a:srgbClr val="1D3A8A"/>
                </a:solidFill>
                <a:latin typeface="PMingLiU"/>
                <a:cs typeface="PMingLiU"/>
              </a:rPr>
              <a:t>ゲート電</a:t>
            </a:r>
            <a:r>
              <a:rPr dirty="0" sz="1650" spc="-90">
                <a:solidFill>
                  <a:srgbClr val="1D3A8A"/>
                </a:solidFill>
                <a:latin typeface="PMingLiU"/>
                <a:cs typeface="PMingLiU"/>
              </a:rPr>
              <a:t>圧</a:t>
            </a:r>
            <a:r>
              <a:rPr dirty="0" sz="1700" spc="-60">
                <a:solidFill>
                  <a:srgbClr val="1D3A8A"/>
                </a:solidFill>
                <a:latin typeface="PMingLiU"/>
                <a:cs typeface="PMingLiU"/>
              </a:rPr>
              <a:t>に</a:t>
            </a:r>
            <a:r>
              <a:rPr dirty="0" sz="1800" spc="-240">
                <a:solidFill>
                  <a:srgbClr val="1D3A8A"/>
                </a:solidFill>
                <a:latin typeface="SimSun"/>
                <a:cs typeface="SimSun"/>
              </a:rPr>
              <a:t>対</a:t>
            </a:r>
            <a:r>
              <a:rPr dirty="0" sz="1700" spc="-60">
                <a:solidFill>
                  <a:srgbClr val="1D3A8A"/>
                </a:solidFill>
                <a:latin typeface="PMingLiU"/>
                <a:cs typeface="PMingLiU"/>
              </a:rPr>
              <a:t>する</a:t>
            </a:r>
            <a:r>
              <a:rPr dirty="0" sz="1550" spc="160" b="1">
                <a:solidFill>
                  <a:srgbClr val="1D3A8A"/>
                </a:solidFill>
                <a:latin typeface="Yu Gothic"/>
                <a:cs typeface="Yu Gothic"/>
              </a:rPr>
              <a:t>Body</a:t>
            </a:r>
            <a:r>
              <a:rPr dirty="0" sz="1550" spc="170" b="1">
                <a:solidFill>
                  <a:srgbClr val="1D3A8A"/>
                </a:solidFill>
                <a:latin typeface="Yu Gothic"/>
                <a:cs typeface="Yu Gothic"/>
              </a:rPr>
              <a:t> </a:t>
            </a:r>
            <a:r>
              <a:rPr dirty="0" sz="1550" spc="100" b="1">
                <a:solidFill>
                  <a:srgbClr val="1D3A8A"/>
                </a:solidFill>
                <a:latin typeface="Yu Gothic"/>
                <a:cs typeface="Yu Gothic"/>
              </a:rPr>
              <a:t>Tie</a:t>
            </a:r>
            <a:r>
              <a:rPr dirty="0" sz="1700" spc="-145">
                <a:solidFill>
                  <a:srgbClr val="1D3A8A"/>
                </a:solidFill>
                <a:latin typeface="PMingLiU"/>
                <a:cs typeface="PMingLiU"/>
              </a:rPr>
              <a:t>電</a:t>
            </a:r>
            <a:r>
              <a:rPr dirty="0" sz="1800" spc="-240">
                <a:solidFill>
                  <a:srgbClr val="1D3A8A"/>
                </a:solidFill>
                <a:latin typeface="SimSun"/>
                <a:cs typeface="SimSun"/>
              </a:rPr>
              <a:t>流</a:t>
            </a:r>
            <a:r>
              <a:rPr dirty="0" sz="1700" spc="-60">
                <a:solidFill>
                  <a:srgbClr val="1D3A8A"/>
                </a:solidFill>
                <a:latin typeface="PMingLiU"/>
                <a:cs typeface="PMingLiU"/>
              </a:rPr>
              <a:t>の</a:t>
            </a:r>
            <a:r>
              <a:rPr dirty="0" sz="1800" spc="-240">
                <a:solidFill>
                  <a:srgbClr val="1D3A8A"/>
                </a:solidFill>
                <a:latin typeface="PMingLiU"/>
                <a:cs typeface="PMingLiU"/>
              </a:rPr>
              <a:t>変</a:t>
            </a:r>
            <a:r>
              <a:rPr dirty="0" sz="1750" spc="-50">
                <a:solidFill>
                  <a:srgbClr val="1D3A8A"/>
                </a:solidFill>
                <a:latin typeface="SimSun"/>
                <a:cs typeface="SimSun"/>
              </a:rPr>
              <a:t>化</a:t>
            </a:r>
            <a:endParaRPr sz="1750">
              <a:latin typeface="SimSun"/>
              <a:cs typeface="SimSun"/>
            </a:endParaRPr>
          </a:p>
        </p:txBody>
      </p:sp>
      <p:grpSp>
        <p:nvGrpSpPr>
          <p:cNvPr id="7" name="object 7" descr=""/>
          <p:cNvGrpSpPr/>
          <p:nvPr/>
        </p:nvGrpSpPr>
        <p:grpSpPr>
          <a:xfrm>
            <a:off x="501402" y="1487492"/>
            <a:ext cx="5432425" cy="3510279"/>
            <a:chOff x="501402" y="1487492"/>
            <a:chExt cx="5432425" cy="3510279"/>
          </a:xfrm>
        </p:grpSpPr>
        <p:pic>
          <p:nvPicPr>
            <p:cNvPr id="8" name="object 8" descr=""/>
            <p:cNvPicPr/>
            <p:nvPr/>
          </p:nvPicPr>
          <p:blipFill>
            <a:blip r:embed="rId3" cstate="print"/>
            <a:stretch>
              <a:fillRect/>
            </a:stretch>
          </p:blipFill>
          <p:spPr>
            <a:xfrm>
              <a:off x="501402" y="1487492"/>
              <a:ext cx="5431854" cy="3208972"/>
            </a:xfrm>
            <a:prstGeom prst="rect">
              <a:avLst/>
            </a:prstGeom>
          </p:spPr>
        </p:pic>
        <p:pic>
          <p:nvPicPr>
            <p:cNvPr id="9" name="object 9" descr=""/>
            <p:cNvPicPr/>
            <p:nvPr/>
          </p:nvPicPr>
          <p:blipFill>
            <a:blip r:embed="rId4" cstate="print"/>
            <a:stretch>
              <a:fillRect/>
            </a:stretch>
          </p:blipFill>
          <p:spPr>
            <a:xfrm>
              <a:off x="2473582" y="4871955"/>
              <a:ext cx="125350" cy="125349"/>
            </a:xfrm>
            <a:prstGeom prst="rect">
              <a:avLst/>
            </a:prstGeom>
          </p:spPr>
        </p:pic>
        <p:pic>
          <p:nvPicPr>
            <p:cNvPr id="10" name="object 10" descr=""/>
            <p:cNvPicPr/>
            <p:nvPr/>
          </p:nvPicPr>
          <p:blipFill>
            <a:blip r:embed="rId5" cstate="print"/>
            <a:stretch>
              <a:fillRect/>
            </a:stretch>
          </p:blipFill>
          <p:spPr>
            <a:xfrm>
              <a:off x="3217329" y="4871955"/>
              <a:ext cx="125350" cy="125349"/>
            </a:xfrm>
            <a:prstGeom prst="rect">
              <a:avLst/>
            </a:prstGeom>
          </p:spPr>
        </p:pic>
      </p:grpSp>
      <p:sp>
        <p:nvSpPr>
          <p:cNvPr id="11" name="object 11" descr=""/>
          <p:cNvSpPr txBox="1"/>
          <p:nvPr/>
        </p:nvSpPr>
        <p:spPr>
          <a:xfrm>
            <a:off x="2650214" y="4825829"/>
            <a:ext cx="412750" cy="186055"/>
          </a:xfrm>
          <a:prstGeom prst="rect">
            <a:avLst/>
          </a:prstGeom>
        </p:spPr>
        <p:txBody>
          <a:bodyPr wrap="square" lIns="0" tIns="12700" rIns="0" bIns="0" rtlCol="0" vert="horz">
            <a:spAutoFit/>
          </a:bodyPr>
          <a:lstStyle/>
          <a:p>
            <a:pPr marL="12700">
              <a:lnSpc>
                <a:spcPct val="100000"/>
              </a:lnSpc>
              <a:spcBef>
                <a:spcPts val="100"/>
              </a:spcBef>
            </a:pPr>
            <a:r>
              <a:rPr dirty="0" sz="1050">
                <a:latin typeface="PMingLiU"/>
                <a:cs typeface="PMingLiU"/>
              </a:rPr>
              <a:t>条件</a:t>
            </a:r>
            <a:r>
              <a:rPr dirty="0" sz="1050" spc="25">
                <a:latin typeface="Segoe UI Symbol"/>
                <a:cs typeface="Segoe UI Symbol"/>
              </a:rPr>
              <a:t>➁</a:t>
            </a:r>
            <a:endParaRPr sz="1050">
              <a:latin typeface="Segoe UI Symbol"/>
              <a:cs typeface="Segoe UI Symbol"/>
            </a:endParaRPr>
          </a:p>
        </p:txBody>
      </p:sp>
      <p:sp>
        <p:nvSpPr>
          <p:cNvPr id="12" name="object 12" descr=""/>
          <p:cNvSpPr txBox="1"/>
          <p:nvPr/>
        </p:nvSpPr>
        <p:spPr>
          <a:xfrm>
            <a:off x="3396833" y="4825829"/>
            <a:ext cx="412750" cy="186055"/>
          </a:xfrm>
          <a:prstGeom prst="rect">
            <a:avLst/>
          </a:prstGeom>
        </p:spPr>
        <p:txBody>
          <a:bodyPr wrap="square" lIns="0" tIns="12700" rIns="0" bIns="0" rtlCol="0" vert="horz">
            <a:spAutoFit/>
          </a:bodyPr>
          <a:lstStyle/>
          <a:p>
            <a:pPr marL="12700">
              <a:lnSpc>
                <a:spcPct val="100000"/>
              </a:lnSpc>
              <a:spcBef>
                <a:spcPts val="100"/>
              </a:spcBef>
            </a:pPr>
            <a:r>
              <a:rPr dirty="0" sz="1050">
                <a:latin typeface="PMingLiU"/>
                <a:cs typeface="PMingLiU"/>
              </a:rPr>
              <a:t>条件</a:t>
            </a:r>
            <a:r>
              <a:rPr dirty="0" sz="1050" spc="-50">
                <a:latin typeface="Segoe UI Symbol"/>
                <a:cs typeface="Segoe UI Symbol"/>
              </a:rPr>
              <a:t>④</a:t>
            </a:r>
            <a:endParaRPr sz="1050">
              <a:latin typeface="Segoe UI Symbol"/>
              <a:cs typeface="Segoe UI Symbol"/>
            </a:endParaRPr>
          </a:p>
        </p:txBody>
      </p:sp>
      <p:grpSp>
        <p:nvGrpSpPr>
          <p:cNvPr id="13" name="object 13" descr=""/>
          <p:cNvGrpSpPr/>
          <p:nvPr/>
        </p:nvGrpSpPr>
        <p:grpSpPr>
          <a:xfrm>
            <a:off x="6300951" y="919236"/>
            <a:ext cx="4061460" cy="4278630"/>
            <a:chOff x="6300951" y="919236"/>
            <a:chExt cx="4061460" cy="4278630"/>
          </a:xfrm>
        </p:grpSpPr>
        <p:sp>
          <p:nvSpPr>
            <p:cNvPr id="14" name="object 14" descr=""/>
            <p:cNvSpPr/>
            <p:nvPr/>
          </p:nvSpPr>
          <p:spPr>
            <a:xfrm>
              <a:off x="6300951" y="919236"/>
              <a:ext cx="4061460" cy="4278630"/>
            </a:xfrm>
            <a:custGeom>
              <a:avLst/>
              <a:gdLst/>
              <a:ahLst/>
              <a:cxnLst/>
              <a:rect l="l" t="t" r="r" b="b"/>
              <a:pathLst>
                <a:path w="4061459" h="4278630">
                  <a:moveTo>
                    <a:pt x="3998892" y="4278629"/>
                  </a:moveTo>
                  <a:lnTo>
                    <a:pt x="62463" y="4278629"/>
                  </a:lnTo>
                  <a:lnTo>
                    <a:pt x="58115" y="4278201"/>
                  </a:lnTo>
                  <a:lnTo>
                    <a:pt x="22684" y="4262152"/>
                  </a:lnTo>
                  <a:lnTo>
                    <a:pt x="2140" y="4229124"/>
                  </a:lnTo>
                  <a:lnTo>
                    <a:pt x="0" y="4216166"/>
                  </a:lnTo>
                  <a:lnTo>
                    <a:pt x="0" y="4211776"/>
                  </a:lnTo>
                  <a:lnTo>
                    <a:pt x="0" y="62463"/>
                  </a:lnTo>
                  <a:lnTo>
                    <a:pt x="13704" y="26061"/>
                  </a:lnTo>
                  <a:lnTo>
                    <a:pt x="45324" y="3408"/>
                  </a:lnTo>
                  <a:lnTo>
                    <a:pt x="62463" y="0"/>
                  </a:lnTo>
                  <a:lnTo>
                    <a:pt x="3998892" y="0"/>
                  </a:lnTo>
                  <a:lnTo>
                    <a:pt x="4035294" y="13705"/>
                  </a:lnTo>
                  <a:lnTo>
                    <a:pt x="4057946" y="45325"/>
                  </a:lnTo>
                  <a:lnTo>
                    <a:pt x="4061356" y="62463"/>
                  </a:lnTo>
                  <a:lnTo>
                    <a:pt x="4061356" y="4216166"/>
                  </a:lnTo>
                  <a:lnTo>
                    <a:pt x="4047649" y="4252567"/>
                  </a:lnTo>
                  <a:lnTo>
                    <a:pt x="4016030" y="4275220"/>
                  </a:lnTo>
                  <a:lnTo>
                    <a:pt x="4003239" y="4278201"/>
                  </a:lnTo>
                  <a:lnTo>
                    <a:pt x="3998892" y="4278629"/>
                  </a:lnTo>
                  <a:close/>
                </a:path>
              </a:pathLst>
            </a:custGeom>
            <a:solidFill>
              <a:srgbClr val="FFFFFF">
                <a:alpha val="94898"/>
              </a:srgbClr>
            </a:solidFill>
          </p:spPr>
          <p:txBody>
            <a:bodyPr wrap="square" lIns="0" tIns="0" rIns="0" bIns="0" rtlCol="0"/>
            <a:lstStyle/>
            <a:p/>
          </p:txBody>
        </p:sp>
        <p:sp>
          <p:nvSpPr>
            <p:cNvPr id="15" name="object 15" descr=""/>
            <p:cNvSpPr/>
            <p:nvPr/>
          </p:nvSpPr>
          <p:spPr>
            <a:xfrm>
              <a:off x="6468085" y="3125405"/>
              <a:ext cx="3727450" cy="8890"/>
            </a:xfrm>
            <a:custGeom>
              <a:avLst/>
              <a:gdLst/>
              <a:ahLst/>
              <a:cxnLst/>
              <a:rect l="l" t="t" r="r" b="b"/>
              <a:pathLst>
                <a:path w="3727450" h="8889">
                  <a:moveTo>
                    <a:pt x="3727088" y="8356"/>
                  </a:moveTo>
                  <a:lnTo>
                    <a:pt x="0" y="8356"/>
                  </a:lnTo>
                  <a:lnTo>
                    <a:pt x="0" y="0"/>
                  </a:lnTo>
                  <a:lnTo>
                    <a:pt x="3727088" y="0"/>
                  </a:lnTo>
                  <a:lnTo>
                    <a:pt x="3727088" y="8356"/>
                  </a:lnTo>
                  <a:close/>
                </a:path>
              </a:pathLst>
            </a:custGeom>
            <a:solidFill>
              <a:srgbClr val="D0D5DA"/>
            </a:solidFill>
          </p:spPr>
          <p:txBody>
            <a:bodyPr wrap="square" lIns="0" tIns="0" rIns="0" bIns="0" rtlCol="0"/>
            <a:lstStyle/>
            <a:p/>
          </p:txBody>
        </p:sp>
      </p:grpSp>
      <p:sp>
        <p:nvSpPr>
          <p:cNvPr id="16" name="object 16" descr=""/>
          <p:cNvSpPr txBox="1"/>
          <p:nvPr/>
        </p:nvSpPr>
        <p:spPr>
          <a:xfrm>
            <a:off x="6455385" y="1043508"/>
            <a:ext cx="1438275" cy="302895"/>
          </a:xfrm>
          <a:prstGeom prst="rect">
            <a:avLst/>
          </a:prstGeom>
        </p:spPr>
        <p:txBody>
          <a:bodyPr wrap="square" lIns="0" tIns="14604" rIns="0" bIns="0" rtlCol="0" vert="horz">
            <a:spAutoFit/>
          </a:bodyPr>
          <a:lstStyle/>
          <a:p>
            <a:pPr marL="12700">
              <a:lnSpc>
                <a:spcPct val="100000"/>
              </a:lnSpc>
              <a:spcBef>
                <a:spcPts val="114"/>
              </a:spcBef>
            </a:pPr>
            <a:r>
              <a:rPr dirty="0" sz="1750" spc="-175">
                <a:solidFill>
                  <a:srgbClr val="1D3A8A"/>
                </a:solidFill>
                <a:latin typeface="SimSun"/>
                <a:cs typeface="SimSun"/>
              </a:rPr>
              <a:t>特性比較</a:t>
            </a:r>
            <a:r>
              <a:rPr dirty="0" sz="1700" spc="-60">
                <a:solidFill>
                  <a:srgbClr val="1D3A8A"/>
                </a:solidFill>
                <a:latin typeface="PMingLiU"/>
                <a:cs typeface="PMingLiU"/>
              </a:rPr>
              <a:t>と</a:t>
            </a:r>
            <a:r>
              <a:rPr dirty="0" sz="1750" spc="-180">
                <a:solidFill>
                  <a:srgbClr val="1D3A8A"/>
                </a:solidFill>
                <a:latin typeface="SimSun"/>
                <a:cs typeface="SimSun"/>
              </a:rPr>
              <a:t>考</a:t>
            </a:r>
            <a:r>
              <a:rPr dirty="0" sz="1800" spc="-135">
                <a:solidFill>
                  <a:srgbClr val="1D3A8A"/>
                </a:solidFill>
                <a:latin typeface="SimSun"/>
                <a:cs typeface="SimSun"/>
              </a:rPr>
              <a:t>察</a:t>
            </a:r>
            <a:endParaRPr sz="1800">
              <a:latin typeface="SimSun"/>
              <a:cs typeface="SimSun"/>
            </a:endParaRPr>
          </a:p>
        </p:txBody>
      </p:sp>
      <p:grpSp>
        <p:nvGrpSpPr>
          <p:cNvPr id="17" name="object 17" descr=""/>
          <p:cNvGrpSpPr/>
          <p:nvPr/>
        </p:nvGrpSpPr>
        <p:grpSpPr>
          <a:xfrm>
            <a:off x="6468085" y="1587772"/>
            <a:ext cx="167640" cy="2616200"/>
            <a:chOff x="6468085" y="1587772"/>
            <a:chExt cx="167640" cy="2616200"/>
          </a:xfrm>
        </p:grpSpPr>
        <p:pic>
          <p:nvPicPr>
            <p:cNvPr id="18" name="object 18" descr=""/>
            <p:cNvPicPr/>
            <p:nvPr/>
          </p:nvPicPr>
          <p:blipFill>
            <a:blip r:embed="rId6" cstate="print"/>
            <a:stretch>
              <a:fillRect/>
            </a:stretch>
          </p:blipFill>
          <p:spPr>
            <a:xfrm>
              <a:off x="6468085" y="1587772"/>
              <a:ext cx="167133" cy="167133"/>
            </a:xfrm>
            <a:prstGeom prst="rect">
              <a:avLst/>
            </a:prstGeom>
          </p:spPr>
        </p:pic>
        <p:pic>
          <p:nvPicPr>
            <p:cNvPr id="19" name="object 19" descr=""/>
            <p:cNvPicPr/>
            <p:nvPr/>
          </p:nvPicPr>
          <p:blipFill>
            <a:blip r:embed="rId7" cstate="print"/>
            <a:stretch>
              <a:fillRect/>
            </a:stretch>
          </p:blipFill>
          <p:spPr>
            <a:xfrm>
              <a:off x="6468085" y="2323162"/>
              <a:ext cx="167133" cy="167133"/>
            </a:xfrm>
            <a:prstGeom prst="rect">
              <a:avLst/>
            </a:prstGeom>
          </p:spPr>
        </p:pic>
        <p:pic>
          <p:nvPicPr>
            <p:cNvPr id="20" name="object 20" descr=""/>
            <p:cNvPicPr/>
            <p:nvPr/>
          </p:nvPicPr>
          <p:blipFill>
            <a:blip r:embed="rId8" cstate="print"/>
            <a:stretch>
              <a:fillRect/>
            </a:stretch>
          </p:blipFill>
          <p:spPr>
            <a:xfrm>
              <a:off x="6468085" y="3300896"/>
              <a:ext cx="125350" cy="167133"/>
            </a:xfrm>
            <a:prstGeom prst="rect">
              <a:avLst/>
            </a:prstGeom>
          </p:spPr>
        </p:pic>
        <p:pic>
          <p:nvPicPr>
            <p:cNvPr id="21" name="object 21" descr=""/>
            <p:cNvPicPr/>
            <p:nvPr/>
          </p:nvPicPr>
          <p:blipFill>
            <a:blip r:embed="rId9" cstate="print"/>
            <a:stretch>
              <a:fillRect/>
            </a:stretch>
          </p:blipFill>
          <p:spPr>
            <a:xfrm>
              <a:off x="6468085" y="4036285"/>
              <a:ext cx="167133" cy="167133"/>
            </a:xfrm>
            <a:prstGeom prst="rect">
              <a:avLst/>
            </a:prstGeom>
          </p:spPr>
        </p:pic>
      </p:grpSp>
      <p:sp>
        <p:nvSpPr>
          <p:cNvPr id="22" name="object 22" descr=""/>
          <p:cNvSpPr txBox="1"/>
          <p:nvPr/>
        </p:nvSpPr>
        <p:spPr>
          <a:xfrm>
            <a:off x="6655286" y="1489382"/>
            <a:ext cx="3496945" cy="3129915"/>
          </a:xfrm>
          <a:prstGeom prst="rect">
            <a:avLst/>
          </a:prstGeom>
        </p:spPr>
        <p:txBody>
          <a:bodyPr wrap="square" lIns="0" tIns="66675" rIns="0" bIns="0" rtlCol="0" vert="horz">
            <a:spAutoFit/>
          </a:bodyPr>
          <a:lstStyle/>
          <a:p>
            <a:pPr marL="104775">
              <a:lnSpc>
                <a:spcPct val="100000"/>
              </a:lnSpc>
              <a:spcBef>
                <a:spcPts val="525"/>
              </a:spcBef>
            </a:pPr>
            <a:r>
              <a:rPr dirty="0" sz="1300" spc="-125">
                <a:latin typeface="SimSun"/>
                <a:cs typeface="SimSun"/>
              </a:rPr>
              <a:t>条件</a:t>
            </a:r>
            <a:r>
              <a:rPr dirty="0" sz="1150" spc="-155" b="1">
                <a:latin typeface="Yu Gothic"/>
                <a:cs typeface="Yu Gothic"/>
              </a:rPr>
              <a:t>➁</a:t>
            </a:r>
            <a:r>
              <a:rPr dirty="0" sz="1250" spc="-80">
                <a:latin typeface="PMingLiU"/>
                <a:cs typeface="PMingLiU"/>
              </a:rPr>
              <a:t>の</a:t>
            </a:r>
            <a:r>
              <a:rPr dirty="0" sz="1300" spc="-90">
                <a:latin typeface="SimSun"/>
                <a:cs typeface="SimSun"/>
              </a:rPr>
              <a:t>特徴</a:t>
            </a:r>
            <a:endParaRPr sz="1300">
              <a:latin typeface="SimSun"/>
              <a:cs typeface="SimSun"/>
            </a:endParaRPr>
          </a:p>
          <a:p>
            <a:pPr marL="104775" marR="574040">
              <a:lnSpc>
                <a:spcPct val="125299"/>
              </a:lnSpc>
              <a:spcBef>
                <a:spcPts val="15"/>
              </a:spcBef>
            </a:pPr>
            <a:r>
              <a:rPr dirty="0" sz="1050" spc="-10">
                <a:latin typeface="PMingLiU"/>
                <a:cs typeface="PMingLiU"/>
              </a:rPr>
              <a:t>ゲート電圧 </a:t>
            </a:r>
            <a:r>
              <a:rPr dirty="0" sz="1050" spc="80" b="1">
                <a:latin typeface="Yu Gothic"/>
                <a:cs typeface="Yu Gothic"/>
              </a:rPr>
              <a:t>-</a:t>
            </a:r>
            <a:r>
              <a:rPr dirty="0" sz="1050" spc="100" b="1">
                <a:latin typeface="Yu Gothic"/>
                <a:cs typeface="Yu Gothic"/>
              </a:rPr>
              <a:t>0.008V</a:t>
            </a:r>
            <a:r>
              <a:rPr dirty="0" sz="1050" spc="75" b="1">
                <a:latin typeface="Yu Gothic"/>
                <a:cs typeface="Yu Gothic"/>
              </a:rPr>
              <a:t> </a:t>
            </a:r>
            <a:r>
              <a:rPr dirty="0" sz="1050" spc="-25">
                <a:latin typeface="PMingLiU"/>
                <a:cs typeface="PMingLiU"/>
              </a:rPr>
              <a:t>で急峻な電流立ち上がり負のゲート電圧で電流が急増</a:t>
            </a:r>
            <a:endParaRPr sz="1050">
              <a:latin typeface="PMingLiU"/>
              <a:cs typeface="PMingLiU"/>
            </a:endParaRPr>
          </a:p>
          <a:p>
            <a:pPr marL="104775">
              <a:lnSpc>
                <a:spcPct val="100000"/>
              </a:lnSpc>
              <a:spcBef>
                <a:spcPts val="1060"/>
              </a:spcBef>
            </a:pPr>
            <a:r>
              <a:rPr dirty="0" sz="1300" spc="-125">
                <a:latin typeface="SimSun"/>
                <a:cs typeface="SimSun"/>
              </a:rPr>
              <a:t>条件</a:t>
            </a:r>
            <a:r>
              <a:rPr dirty="0" sz="1150" spc="-155" b="1">
                <a:latin typeface="Yu Gothic"/>
                <a:cs typeface="Yu Gothic"/>
              </a:rPr>
              <a:t>④</a:t>
            </a:r>
            <a:r>
              <a:rPr dirty="0" sz="1250" spc="-80">
                <a:latin typeface="PMingLiU"/>
                <a:cs typeface="PMingLiU"/>
              </a:rPr>
              <a:t>の</a:t>
            </a:r>
            <a:r>
              <a:rPr dirty="0" sz="1300" spc="-90">
                <a:latin typeface="SimSun"/>
                <a:cs typeface="SimSun"/>
              </a:rPr>
              <a:t>特徴</a:t>
            </a:r>
            <a:endParaRPr sz="1300">
              <a:latin typeface="SimSun"/>
              <a:cs typeface="SimSun"/>
            </a:endParaRPr>
          </a:p>
          <a:p>
            <a:pPr marL="104775" marR="629285">
              <a:lnSpc>
                <a:spcPct val="125299"/>
              </a:lnSpc>
              <a:spcBef>
                <a:spcPts val="15"/>
              </a:spcBef>
            </a:pPr>
            <a:r>
              <a:rPr dirty="0" sz="1050" spc="-10">
                <a:latin typeface="PMingLiU"/>
                <a:cs typeface="PMingLiU"/>
              </a:rPr>
              <a:t>ゲート電圧 </a:t>
            </a:r>
            <a:r>
              <a:rPr dirty="0" sz="1050" spc="114" b="1">
                <a:latin typeface="Yu Gothic"/>
                <a:cs typeface="Yu Gothic"/>
              </a:rPr>
              <a:t>0.052V</a:t>
            </a:r>
            <a:r>
              <a:rPr dirty="0" sz="1050" spc="75" b="1">
                <a:latin typeface="Yu Gothic"/>
                <a:cs typeface="Yu Gothic"/>
              </a:rPr>
              <a:t> </a:t>
            </a:r>
            <a:r>
              <a:rPr dirty="0" sz="1050" spc="-25">
                <a:latin typeface="PMingLiU"/>
                <a:cs typeface="PMingLiU"/>
              </a:rPr>
              <a:t>で急峻な電流立ち上がり正のゲート電圧で電流が急増</a:t>
            </a:r>
            <a:endParaRPr sz="1050">
              <a:latin typeface="PMingLiU"/>
              <a:cs typeface="PMingLiU"/>
            </a:endParaRPr>
          </a:p>
          <a:p>
            <a:pPr>
              <a:lnSpc>
                <a:spcPct val="100000"/>
              </a:lnSpc>
            </a:pPr>
            <a:endParaRPr sz="1050">
              <a:latin typeface="PMingLiU"/>
              <a:cs typeface="PMingLiU"/>
            </a:endParaRPr>
          </a:p>
          <a:p>
            <a:pPr>
              <a:lnSpc>
                <a:spcPct val="100000"/>
              </a:lnSpc>
              <a:spcBef>
                <a:spcPts val="25"/>
              </a:spcBef>
            </a:pPr>
            <a:endParaRPr sz="1050">
              <a:latin typeface="PMingLiU"/>
              <a:cs typeface="PMingLiU"/>
            </a:endParaRPr>
          </a:p>
          <a:p>
            <a:pPr marL="63500">
              <a:lnSpc>
                <a:spcPct val="100000"/>
              </a:lnSpc>
            </a:pPr>
            <a:r>
              <a:rPr dirty="0" sz="1300" spc="-125">
                <a:latin typeface="PMingLiU"/>
                <a:cs typeface="PMingLiU"/>
              </a:rPr>
              <a:t>重</a:t>
            </a:r>
            <a:r>
              <a:rPr dirty="0" sz="1250" spc="-80">
                <a:latin typeface="PMingLiU"/>
                <a:cs typeface="PMingLiU"/>
              </a:rPr>
              <a:t>要な</a:t>
            </a:r>
            <a:r>
              <a:rPr dirty="0" sz="1300" spc="-125">
                <a:latin typeface="PMingLiU"/>
                <a:cs typeface="PMingLiU"/>
              </a:rPr>
              <a:t>差</a:t>
            </a:r>
            <a:r>
              <a:rPr dirty="0" sz="1250" spc="-50">
                <a:latin typeface="PMingLiU"/>
                <a:cs typeface="PMingLiU"/>
              </a:rPr>
              <a:t>異</a:t>
            </a:r>
            <a:endParaRPr sz="1250">
              <a:latin typeface="PMingLiU"/>
              <a:cs typeface="PMingLiU"/>
            </a:endParaRPr>
          </a:p>
          <a:p>
            <a:pPr marL="63500" marR="55880">
              <a:lnSpc>
                <a:spcPct val="125299"/>
              </a:lnSpc>
              <a:spcBef>
                <a:spcPts val="20"/>
              </a:spcBef>
            </a:pPr>
            <a:r>
              <a:rPr dirty="0" sz="1050" spc="-15">
                <a:latin typeface="PMingLiU"/>
                <a:cs typeface="PMingLiU"/>
              </a:rPr>
              <a:t>デバイス両端の</a:t>
            </a:r>
            <a:r>
              <a:rPr dirty="0" sz="1050" spc="65">
                <a:latin typeface="Segoe UI Symbol"/>
                <a:cs typeface="Segoe UI Symbol"/>
              </a:rPr>
              <a:t>SiO</a:t>
            </a:r>
            <a:r>
              <a:rPr dirty="0" baseline="-14814" sz="1125" spc="97">
                <a:latin typeface="Segoe UI Symbol"/>
                <a:cs typeface="Segoe UI Symbol"/>
              </a:rPr>
              <a:t>2</a:t>
            </a:r>
            <a:r>
              <a:rPr dirty="0" sz="1050" spc="-25">
                <a:latin typeface="PMingLiU"/>
                <a:cs typeface="PMingLiU"/>
              </a:rPr>
              <a:t>追加により、電流特性の立ち上がりゲート電圧が負から正へ変化</a:t>
            </a:r>
            <a:endParaRPr sz="1050">
              <a:latin typeface="PMingLiU"/>
              <a:cs typeface="PMingLiU"/>
            </a:endParaRPr>
          </a:p>
          <a:p>
            <a:pPr marL="104775">
              <a:lnSpc>
                <a:spcPct val="100000"/>
              </a:lnSpc>
              <a:spcBef>
                <a:spcPts val="1005"/>
              </a:spcBef>
            </a:pPr>
            <a:r>
              <a:rPr dirty="0" sz="1350" spc="-185">
                <a:latin typeface="PMingLiU"/>
                <a:cs typeface="PMingLiU"/>
              </a:rPr>
              <a:t>立</a:t>
            </a:r>
            <a:r>
              <a:rPr dirty="0" sz="1250" spc="-80">
                <a:latin typeface="PMingLiU"/>
                <a:cs typeface="PMingLiU"/>
              </a:rPr>
              <a:t>ち</a:t>
            </a:r>
            <a:r>
              <a:rPr dirty="0" sz="1300" spc="-125">
                <a:latin typeface="PMingLiU"/>
                <a:cs typeface="PMingLiU"/>
              </a:rPr>
              <a:t>上</a:t>
            </a:r>
            <a:r>
              <a:rPr dirty="0" sz="1250" spc="-80">
                <a:latin typeface="PMingLiU"/>
                <a:cs typeface="PMingLiU"/>
              </a:rPr>
              <a:t>がり</a:t>
            </a:r>
            <a:r>
              <a:rPr dirty="0" sz="1300" spc="-125">
                <a:latin typeface="SimSun"/>
                <a:cs typeface="SimSun"/>
              </a:rPr>
              <a:t>桁数</a:t>
            </a:r>
            <a:r>
              <a:rPr dirty="0" sz="1250" spc="-80">
                <a:latin typeface="PMingLiU"/>
                <a:cs typeface="PMingLiU"/>
              </a:rPr>
              <a:t>の</a:t>
            </a:r>
            <a:r>
              <a:rPr dirty="0" sz="1300" spc="-90">
                <a:latin typeface="SimSun"/>
                <a:cs typeface="SimSun"/>
              </a:rPr>
              <a:t>比較</a:t>
            </a:r>
            <a:endParaRPr sz="1300">
              <a:latin typeface="SimSun"/>
              <a:cs typeface="SimSun"/>
            </a:endParaRPr>
          </a:p>
          <a:p>
            <a:pPr marL="104775">
              <a:lnSpc>
                <a:spcPct val="100000"/>
              </a:lnSpc>
              <a:spcBef>
                <a:spcPts val="325"/>
              </a:spcBef>
            </a:pPr>
            <a:r>
              <a:rPr dirty="0" sz="1050">
                <a:latin typeface="PMingLiU"/>
                <a:cs typeface="PMingLiU"/>
              </a:rPr>
              <a:t>条件</a:t>
            </a:r>
            <a:r>
              <a:rPr dirty="0" sz="1050" spc="85">
                <a:latin typeface="Segoe UI Symbol"/>
                <a:cs typeface="Segoe UI Symbol"/>
              </a:rPr>
              <a:t>➁: </a:t>
            </a:r>
            <a:r>
              <a:rPr dirty="0" sz="1050" spc="-10">
                <a:latin typeface="PMingLiU"/>
                <a:cs typeface="PMingLiU"/>
              </a:rPr>
              <a:t>最大立ち上がり桁数 </a:t>
            </a:r>
            <a:r>
              <a:rPr dirty="0" sz="1050" spc="95" b="1">
                <a:latin typeface="Yu Gothic"/>
                <a:cs typeface="Yu Gothic"/>
              </a:rPr>
              <a:t>9.4</a:t>
            </a:r>
            <a:endParaRPr sz="1050">
              <a:latin typeface="Yu Gothic"/>
              <a:cs typeface="Yu Gothic"/>
            </a:endParaRPr>
          </a:p>
          <a:p>
            <a:pPr marL="104775">
              <a:lnSpc>
                <a:spcPct val="100000"/>
              </a:lnSpc>
              <a:spcBef>
                <a:spcPts val="320"/>
              </a:spcBef>
            </a:pPr>
            <a:r>
              <a:rPr dirty="0" sz="1050">
                <a:latin typeface="PMingLiU"/>
                <a:cs typeface="PMingLiU"/>
              </a:rPr>
              <a:t>条件</a:t>
            </a:r>
            <a:r>
              <a:rPr dirty="0" sz="1050" spc="70">
                <a:latin typeface="Segoe UI Symbol"/>
                <a:cs typeface="Segoe UI Symbol"/>
              </a:rPr>
              <a:t>④: </a:t>
            </a:r>
            <a:r>
              <a:rPr dirty="0" sz="1050" spc="-10">
                <a:latin typeface="PMingLiU"/>
                <a:cs typeface="PMingLiU"/>
              </a:rPr>
              <a:t>最大立ち上がり桁数 </a:t>
            </a:r>
            <a:r>
              <a:rPr dirty="0" sz="1050" spc="95" b="1">
                <a:latin typeface="Yu Gothic"/>
                <a:cs typeface="Yu Gothic"/>
              </a:rPr>
              <a:t>9.5</a:t>
            </a:r>
            <a:endParaRPr sz="1050">
              <a:latin typeface="Yu Gothic"/>
              <a:cs typeface="Yu Gothic"/>
            </a:endParaRPr>
          </a:p>
        </p:txBody>
      </p:sp>
      <p:sp>
        <p:nvSpPr>
          <p:cNvPr id="23" name="object 23" descr=""/>
          <p:cNvSpPr txBox="1"/>
          <p:nvPr/>
        </p:nvSpPr>
        <p:spPr>
          <a:xfrm>
            <a:off x="10012989" y="5678212"/>
            <a:ext cx="495934" cy="186055"/>
          </a:xfrm>
          <a:prstGeom prst="rect">
            <a:avLst/>
          </a:prstGeom>
        </p:spPr>
        <p:txBody>
          <a:bodyPr wrap="square" lIns="0" tIns="12700" rIns="0" bIns="0" rtlCol="0" vert="horz">
            <a:spAutoFit/>
          </a:bodyPr>
          <a:lstStyle/>
          <a:p>
            <a:pPr marL="12700">
              <a:lnSpc>
                <a:spcPct val="100000"/>
              </a:lnSpc>
              <a:spcBef>
                <a:spcPts val="100"/>
              </a:spcBef>
            </a:pPr>
            <a:r>
              <a:rPr dirty="0" sz="1050" spc="105">
                <a:solidFill>
                  <a:srgbClr val="4A5462"/>
                </a:solidFill>
                <a:latin typeface="Segoe UI Symbol"/>
                <a:cs typeface="Segoe UI Symbol"/>
              </a:rPr>
              <a:t>11</a:t>
            </a:r>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6869430"/>
          </a:xfrm>
          <a:custGeom>
            <a:avLst/>
            <a:gdLst/>
            <a:ahLst/>
            <a:cxnLst/>
            <a:rect l="l" t="t" r="r" b="b"/>
            <a:pathLst>
              <a:path w="10696575" h="6869430">
                <a:moveTo>
                  <a:pt x="10696575" y="6869207"/>
                </a:moveTo>
                <a:lnTo>
                  <a:pt x="0" y="6869207"/>
                </a:lnTo>
                <a:lnTo>
                  <a:pt x="0" y="0"/>
                </a:lnTo>
                <a:lnTo>
                  <a:pt x="10696575" y="0"/>
                </a:lnTo>
                <a:lnTo>
                  <a:pt x="10696575" y="6869207"/>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grpSp>
        <p:nvGrpSpPr>
          <p:cNvPr id="4" name="object 4" descr=""/>
          <p:cNvGrpSpPr/>
          <p:nvPr/>
        </p:nvGrpSpPr>
        <p:grpSpPr>
          <a:xfrm>
            <a:off x="334267" y="1002803"/>
            <a:ext cx="10028555" cy="1638300"/>
            <a:chOff x="334267" y="1002803"/>
            <a:chExt cx="10028555" cy="1638300"/>
          </a:xfrm>
        </p:grpSpPr>
        <p:sp>
          <p:nvSpPr>
            <p:cNvPr id="5" name="object 5" descr=""/>
            <p:cNvSpPr/>
            <p:nvPr/>
          </p:nvSpPr>
          <p:spPr>
            <a:xfrm>
              <a:off x="355159" y="1002803"/>
              <a:ext cx="10007600" cy="1638300"/>
            </a:xfrm>
            <a:custGeom>
              <a:avLst/>
              <a:gdLst/>
              <a:ahLst/>
              <a:cxnLst/>
              <a:rect l="l" t="t" r="r" b="b"/>
              <a:pathLst>
                <a:path w="10007600" h="1638300">
                  <a:moveTo>
                    <a:pt x="9944683" y="1637912"/>
                  </a:moveTo>
                  <a:lnTo>
                    <a:pt x="42943" y="1637912"/>
                  </a:lnTo>
                  <a:lnTo>
                    <a:pt x="39955" y="1637484"/>
                  </a:lnTo>
                  <a:lnTo>
                    <a:pt x="9422" y="1611851"/>
                  </a:lnTo>
                  <a:lnTo>
                    <a:pt x="0" y="1575449"/>
                  </a:lnTo>
                  <a:lnTo>
                    <a:pt x="0" y="1571059"/>
                  </a:lnTo>
                  <a:lnTo>
                    <a:pt x="0" y="62463"/>
                  </a:lnTo>
                  <a:lnTo>
                    <a:pt x="11327" y="22684"/>
                  </a:lnTo>
                  <a:lnTo>
                    <a:pt x="42943" y="0"/>
                  </a:lnTo>
                  <a:lnTo>
                    <a:pt x="9944683" y="0"/>
                  </a:lnTo>
                  <a:lnTo>
                    <a:pt x="9981086" y="13705"/>
                  </a:lnTo>
                  <a:lnTo>
                    <a:pt x="10003738" y="45325"/>
                  </a:lnTo>
                  <a:lnTo>
                    <a:pt x="10007148" y="62463"/>
                  </a:lnTo>
                  <a:lnTo>
                    <a:pt x="10007148" y="1575449"/>
                  </a:lnTo>
                  <a:lnTo>
                    <a:pt x="9993441" y="1611851"/>
                  </a:lnTo>
                  <a:lnTo>
                    <a:pt x="9961822" y="1634503"/>
                  </a:lnTo>
                  <a:lnTo>
                    <a:pt x="9949031" y="1637484"/>
                  </a:lnTo>
                  <a:lnTo>
                    <a:pt x="9944683" y="1637912"/>
                  </a:lnTo>
                  <a:close/>
                </a:path>
              </a:pathLst>
            </a:custGeom>
            <a:solidFill>
              <a:srgbClr val="FFFFFF">
                <a:alpha val="94898"/>
              </a:srgbClr>
            </a:solidFill>
          </p:spPr>
          <p:txBody>
            <a:bodyPr wrap="square" lIns="0" tIns="0" rIns="0" bIns="0" rtlCol="0"/>
            <a:lstStyle/>
            <a:p/>
          </p:txBody>
        </p:sp>
        <p:sp>
          <p:nvSpPr>
            <p:cNvPr id="6" name="object 6" descr=""/>
            <p:cNvSpPr/>
            <p:nvPr/>
          </p:nvSpPr>
          <p:spPr>
            <a:xfrm>
              <a:off x="334267" y="1002980"/>
              <a:ext cx="63500" cy="1637664"/>
            </a:xfrm>
            <a:custGeom>
              <a:avLst/>
              <a:gdLst/>
              <a:ahLst/>
              <a:cxnLst/>
              <a:rect l="l" t="t" r="r" b="b"/>
              <a:pathLst>
                <a:path w="63500" h="1637664">
                  <a:moveTo>
                    <a:pt x="63196" y="1637559"/>
                  </a:moveTo>
                  <a:lnTo>
                    <a:pt x="24462" y="1622587"/>
                  </a:lnTo>
                  <a:lnTo>
                    <a:pt x="2862" y="1590260"/>
                  </a:lnTo>
                  <a:lnTo>
                    <a:pt x="0" y="1570882"/>
                  </a:lnTo>
                  <a:lnTo>
                    <a:pt x="0" y="66676"/>
                  </a:lnTo>
                  <a:lnTo>
                    <a:pt x="11256" y="29527"/>
                  </a:lnTo>
                  <a:lnTo>
                    <a:pt x="41269" y="4912"/>
                  </a:lnTo>
                  <a:lnTo>
                    <a:pt x="63196" y="0"/>
                  </a:lnTo>
                  <a:lnTo>
                    <a:pt x="60331" y="1519"/>
                  </a:lnTo>
                  <a:lnTo>
                    <a:pt x="54188" y="8304"/>
                  </a:lnTo>
                  <a:lnTo>
                    <a:pt x="42856" y="47299"/>
                  </a:lnTo>
                  <a:lnTo>
                    <a:pt x="41902" y="60091"/>
                  </a:lnTo>
                  <a:lnTo>
                    <a:pt x="41902" y="1577468"/>
                  </a:lnTo>
                  <a:lnTo>
                    <a:pt x="51477" y="1624423"/>
                  </a:lnTo>
                  <a:lnTo>
                    <a:pt x="60331" y="1636039"/>
                  </a:lnTo>
                  <a:lnTo>
                    <a:pt x="63196" y="1637559"/>
                  </a:lnTo>
                  <a:close/>
                </a:path>
              </a:pathLst>
            </a:custGeom>
            <a:solidFill>
              <a:srgbClr val="003366"/>
            </a:solidFill>
          </p:spPr>
          <p:txBody>
            <a:bodyPr wrap="square" lIns="0" tIns="0" rIns="0" bIns="0" rtlCol="0"/>
            <a:lstStyle/>
            <a:p/>
          </p:txBody>
        </p:sp>
      </p:grpSp>
      <p:grpSp>
        <p:nvGrpSpPr>
          <p:cNvPr id="7" name="object 7" descr=""/>
          <p:cNvGrpSpPr/>
          <p:nvPr/>
        </p:nvGrpSpPr>
        <p:grpSpPr>
          <a:xfrm>
            <a:off x="334267" y="2807851"/>
            <a:ext cx="10028555" cy="1738630"/>
            <a:chOff x="334267" y="2807851"/>
            <a:chExt cx="10028555" cy="1738630"/>
          </a:xfrm>
        </p:grpSpPr>
        <p:sp>
          <p:nvSpPr>
            <p:cNvPr id="8" name="object 8" descr=""/>
            <p:cNvSpPr/>
            <p:nvPr/>
          </p:nvSpPr>
          <p:spPr>
            <a:xfrm>
              <a:off x="355159" y="2807851"/>
              <a:ext cx="10007600" cy="1738630"/>
            </a:xfrm>
            <a:custGeom>
              <a:avLst/>
              <a:gdLst/>
              <a:ahLst/>
              <a:cxnLst/>
              <a:rect l="l" t="t" r="r" b="b"/>
              <a:pathLst>
                <a:path w="10007600" h="1738629">
                  <a:moveTo>
                    <a:pt x="9944683" y="1738193"/>
                  </a:moveTo>
                  <a:lnTo>
                    <a:pt x="42943" y="1738193"/>
                  </a:lnTo>
                  <a:lnTo>
                    <a:pt x="39955" y="1737764"/>
                  </a:lnTo>
                  <a:lnTo>
                    <a:pt x="9422" y="1712131"/>
                  </a:lnTo>
                  <a:lnTo>
                    <a:pt x="0" y="1675729"/>
                  </a:lnTo>
                  <a:lnTo>
                    <a:pt x="0" y="1671339"/>
                  </a:lnTo>
                  <a:lnTo>
                    <a:pt x="0" y="62463"/>
                  </a:lnTo>
                  <a:lnTo>
                    <a:pt x="11327" y="22684"/>
                  </a:lnTo>
                  <a:lnTo>
                    <a:pt x="42943" y="0"/>
                  </a:lnTo>
                  <a:lnTo>
                    <a:pt x="9944683" y="0"/>
                  </a:lnTo>
                  <a:lnTo>
                    <a:pt x="9981086" y="13705"/>
                  </a:lnTo>
                  <a:lnTo>
                    <a:pt x="10003738" y="45325"/>
                  </a:lnTo>
                  <a:lnTo>
                    <a:pt x="10007148" y="62463"/>
                  </a:lnTo>
                  <a:lnTo>
                    <a:pt x="10007148" y="1675729"/>
                  </a:lnTo>
                  <a:lnTo>
                    <a:pt x="9993441" y="1712131"/>
                  </a:lnTo>
                  <a:lnTo>
                    <a:pt x="9961822" y="1734783"/>
                  </a:lnTo>
                  <a:lnTo>
                    <a:pt x="9949031" y="1737764"/>
                  </a:lnTo>
                  <a:lnTo>
                    <a:pt x="9944683" y="1738193"/>
                  </a:lnTo>
                  <a:close/>
                </a:path>
              </a:pathLst>
            </a:custGeom>
            <a:solidFill>
              <a:srgbClr val="FFFFFF">
                <a:alpha val="94898"/>
              </a:srgbClr>
            </a:solidFill>
          </p:spPr>
          <p:txBody>
            <a:bodyPr wrap="square" lIns="0" tIns="0" rIns="0" bIns="0" rtlCol="0"/>
            <a:lstStyle/>
            <a:p/>
          </p:txBody>
        </p:sp>
        <p:sp>
          <p:nvSpPr>
            <p:cNvPr id="9" name="object 9" descr=""/>
            <p:cNvSpPr/>
            <p:nvPr/>
          </p:nvSpPr>
          <p:spPr>
            <a:xfrm>
              <a:off x="334267" y="2808027"/>
              <a:ext cx="63500" cy="1737995"/>
            </a:xfrm>
            <a:custGeom>
              <a:avLst/>
              <a:gdLst/>
              <a:ahLst/>
              <a:cxnLst/>
              <a:rect l="l" t="t" r="r" b="b"/>
              <a:pathLst>
                <a:path w="63500" h="1737995">
                  <a:moveTo>
                    <a:pt x="63196" y="1737840"/>
                  </a:moveTo>
                  <a:lnTo>
                    <a:pt x="24462" y="1722867"/>
                  </a:lnTo>
                  <a:lnTo>
                    <a:pt x="2862" y="1690540"/>
                  </a:lnTo>
                  <a:lnTo>
                    <a:pt x="0" y="1671163"/>
                  </a:lnTo>
                  <a:lnTo>
                    <a:pt x="0" y="66676"/>
                  </a:lnTo>
                  <a:lnTo>
                    <a:pt x="11256" y="29527"/>
                  </a:lnTo>
                  <a:lnTo>
                    <a:pt x="41269" y="4911"/>
                  </a:lnTo>
                  <a:lnTo>
                    <a:pt x="63196" y="0"/>
                  </a:lnTo>
                  <a:lnTo>
                    <a:pt x="60331" y="1519"/>
                  </a:lnTo>
                  <a:lnTo>
                    <a:pt x="54188" y="8304"/>
                  </a:lnTo>
                  <a:lnTo>
                    <a:pt x="42856" y="47299"/>
                  </a:lnTo>
                  <a:lnTo>
                    <a:pt x="41902" y="60091"/>
                  </a:lnTo>
                  <a:lnTo>
                    <a:pt x="41902" y="1677748"/>
                  </a:lnTo>
                  <a:lnTo>
                    <a:pt x="51477" y="1724704"/>
                  </a:lnTo>
                  <a:lnTo>
                    <a:pt x="60331" y="1736319"/>
                  </a:lnTo>
                  <a:lnTo>
                    <a:pt x="63196" y="1737840"/>
                  </a:lnTo>
                  <a:close/>
                </a:path>
              </a:pathLst>
            </a:custGeom>
            <a:solidFill>
              <a:srgbClr val="003366"/>
            </a:solidFill>
          </p:spPr>
          <p:txBody>
            <a:bodyPr wrap="square" lIns="0" tIns="0" rIns="0" bIns="0" rtlCol="0"/>
            <a:lstStyle/>
            <a:p/>
          </p:txBody>
        </p:sp>
      </p:grpSp>
      <p:grpSp>
        <p:nvGrpSpPr>
          <p:cNvPr id="10" name="object 10" descr=""/>
          <p:cNvGrpSpPr/>
          <p:nvPr/>
        </p:nvGrpSpPr>
        <p:grpSpPr>
          <a:xfrm>
            <a:off x="334267" y="4713178"/>
            <a:ext cx="10028555" cy="1738630"/>
            <a:chOff x="334267" y="4713178"/>
            <a:chExt cx="10028555" cy="1738630"/>
          </a:xfrm>
        </p:grpSpPr>
        <p:sp>
          <p:nvSpPr>
            <p:cNvPr id="11" name="object 11" descr=""/>
            <p:cNvSpPr/>
            <p:nvPr/>
          </p:nvSpPr>
          <p:spPr>
            <a:xfrm>
              <a:off x="355159" y="4713178"/>
              <a:ext cx="10007600" cy="1738630"/>
            </a:xfrm>
            <a:custGeom>
              <a:avLst/>
              <a:gdLst/>
              <a:ahLst/>
              <a:cxnLst/>
              <a:rect l="l" t="t" r="r" b="b"/>
              <a:pathLst>
                <a:path w="10007600" h="1738629">
                  <a:moveTo>
                    <a:pt x="9944683" y="1738193"/>
                  </a:moveTo>
                  <a:lnTo>
                    <a:pt x="42943" y="1738193"/>
                  </a:lnTo>
                  <a:lnTo>
                    <a:pt x="39955" y="1737765"/>
                  </a:lnTo>
                  <a:lnTo>
                    <a:pt x="9422" y="1712131"/>
                  </a:lnTo>
                  <a:lnTo>
                    <a:pt x="0" y="1675729"/>
                  </a:lnTo>
                  <a:lnTo>
                    <a:pt x="0" y="1671339"/>
                  </a:lnTo>
                  <a:lnTo>
                    <a:pt x="0" y="62464"/>
                  </a:lnTo>
                  <a:lnTo>
                    <a:pt x="11327" y="22684"/>
                  </a:lnTo>
                  <a:lnTo>
                    <a:pt x="42943" y="0"/>
                  </a:lnTo>
                  <a:lnTo>
                    <a:pt x="9944683" y="0"/>
                  </a:lnTo>
                  <a:lnTo>
                    <a:pt x="9981086" y="13705"/>
                  </a:lnTo>
                  <a:lnTo>
                    <a:pt x="10003738" y="45324"/>
                  </a:lnTo>
                  <a:lnTo>
                    <a:pt x="10007148" y="62464"/>
                  </a:lnTo>
                  <a:lnTo>
                    <a:pt x="10007148" y="1675729"/>
                  </a:lnTo>
                  <a:lnTo>
                    <a:pt x="9993441" y="1712131"/>
                  </a:lnTo>
                  <a:lnTo>
                    <a:pt x="9961822" y="1734784"/>
                  </a:lnTo>
                  <a:lnTo>
                    <a:pt x="9949031" y="1737765"/>
                  </a:lnTo>
                  <a:lnTo>
                    <a:pt x="9944683" y="1738193"/>
                  </a:lnTo>
                  <a:close/>
                </a:path>
              </a:pathLst>
            </a:custGeom>
            <a:solidFill>
              <a:srgbClr val="FFFFFF">
                <a:alpha val="94898"/>
              </a:srgbClr>
            </a:solidFill>
          </p:spPr>
          <p:txBody>
            <a:bodyPr wrap="square" lIns="0" tIns="0" rIns="0" bIns="0" rtlCol="0"/>
            <a:lstStyle/>
            <a:p/>
          </p:txBody>
        </p:sp>
        <p:sp>
          <p:nvSpPr>
            <p:cNvPr id="12" name="object 12" descr=""/>
            <p:cNvSpPr/>
            <p:nvPr/>
          </p:nvSpPr>
          <p:spPr>
            <a:xfrm>
              <a:off x="334267" y="4713355"/>
              <a:ext cx="63500" cy="1737995"/>
            </a:xfrm>
            <a:custGeom>
              <a:avLst/>
              <a:gdLst/>
              <a:ahLst/>
              <a:cxnLst/>
              <a:rect l="l" t="t" r="r" b="b"/>
              <a:pathLst>
                <a:path w="63500" h="1737995">
                  <a:moveTo>
                    <a:pt x="63196" y="1737840"/>
                  </a:moveTo>
                  <a:lnTo>
                    <a:pt x="24462" y="1722867"/>
                  </a:lnTo>
                  <a:lnTo>
                    <a:pt x="2862" y="1690540"/>
                  </a:lnTo>
                  <a:lnTo>
                    <a:pt x="0" y="1671163"/>
                  </a:lnTo>
                  <a:lnTo>
                    <a:pt x="0" y="66676"/>
                  </a:lnTo>
                  <a:lnTo>
                    <a:pt x="11256" y="29527"/>
                  </a:lnTo>
                  <a:lnTo>
                    <a:pt x="41269" y="4911"/>
                  </a:lnTo>
                  <a:lnTo>
                    <a:pt x="63196" y="0"/>
                  </a:lnTo>
                  <a:lnTo>
                    <a:pt x="60331" y="1519"/>
                  </a:lnTo>
                  <a:lnTo>
                    <a:pt x="54188" y="8304"/>
                  </a:lnTo>
                  <a:lnTo>
                    <a:pt x="42856" y="47298"/>
                  </a:lnTo>
                  <a:lnTo>
                    <a:pt x="41902" y="60090"/>
                  </a:lnTo>
                  <a:lnTo>
                    <a:pt x="41902" y="1677748"/>
                  </a:lnTo>
                  <a:lnTo>
                    <a:pt x="51477" y="1724703"/>
                  </a:lnTo>
                  <a:lnTo>
                    <a:pt x="60331" y="1736319"/>
                  </a:lnTo>
                  <a:lnTo>
                    <a:pt x="63196" y="1737840"/>
                  </a:lnTo>
                  <a:close/>
                </a:path>
              </a:pathLst>
            </a:custGeom>
            <a:solidFill>
              <a:srgbClr val="003366"/>
            </a:solidFill>
          </p:spPr>
          <p:txBody>
            <a:bodyPr wrap="square" lIns="0" tIns="0" rIns="0" bIns="0" rtlCol="0"/>
            <a:lstStyle/>
            <a:p/>
          </p:txBody>
        </p:sp>
        <p:pic>
          <p:nvPicPr>
            <p:cNvPr id="13" name="object 13" descr=""/>
            <p:cNvPicPr/>
            <p:nvPr/>
          </p:nvPicPr>
          <p:blipFill>
            <a:blip r:embed="rId3" cstate="print"/>
            <a:stretch>
              <a:fillRect/>
            </a:stretch>
          </p:blipFill>
          <p:spPr>
            <a:xfrm>
              <a:off x="543185" y="4913739"/>
              <a:ext cx="200560" cy="200560"/>
            </a:xfrm>
            <a:prstGeom prst="rect">
              <a:avLst/>
            </a:prstGeom>
          </p:spPr>
        </p:pic>
        <p:pic>
          <p:nvPicPr>
            <p:cNvPr id="14" name="object 14" descr=""/>
            <p:cNvPicPr/>
            <p:nvPr/>
          </p:nvPicPr>
          <p:blipFill>
            <a:blip r:embed="rId4" cstate="print"/>
            <a:stretch>
              <a:fillRect/>
            </a:stretch>
          </p:blipFill>
          <p:spPr>
            <a:xfrm>
              <a:off x="543185" y="5314860"/>
              <a:ext cx="167133" cy="167133"/>
            </a:xfrm>
            <a:prstGeom prst="rect">
              <a:avLst/>
            </a:prstGeom>
          </p:spPr>
        </p:pic>
        <p:sp>
          <p:nvSpPr>
            <p:cNvPr id="15" name="object 15" descr=""/>
            <p:cNvSpPr/>
            <p:nvPr/>
          </p:nvSpPr>
          <p:spPr>
            <a:xfrm>
              <a:off x="3117048" y="5289790"/>
              <a:ext cx="1913889" cy="208915"/>
            </a:xfrm>
            <a:custGeom>
              <a:avLst/>
              <a:gdLst/>
              <a:ahLst/>
              <a:cxnLst/>
              <a:rect l="l" t="t" r="r" b="b"/>
              <a:pathLst>
                <a:path w="1913889" h="208914">
                  <a:moveTo>
                    <a:pt x="1891938" y="208916"/>
                  </a:moveTo>
                  <a:lnTo>
                    <a:pt x="21745" y="208916"/>
                  </a:lnTo>
                  <a:lnTo>
                    <a:pt x="18547" y="208280"/>
                  </a:lnTo>
                  <a:lnTo>
                    <a:pt x="0" y="187171"/>
                  </a:lnTo>
                  <a:lnTo>
                    <a:pt x="0" y="183847"/>
                  </a:lnTo>
                  <a:lnTo>
                    <a:pt x="0" y="21745"/>
                  </a:lnTo>
                  <a:lnTo>
                    <a:pt x="21745" y="0"/>
                  </a:lnTo>
                  <a:lnTo>
                    <a:pt x="1891938" y="0"/>
                  </a:lnTo>
                  <a:lnTo>
                    <a:pt x="1913684" y="21745"/>
                  </a:lnTo>
                  <a:lnTo>
                    <a:pt x="1913684" y="187171"/>
                  </a:lnTo>
                  <a:lnTo>
                    <a:pt x="1895135" y="208280"/>
                  </a:lnTo>
                  <a:lnTo>
                    <a:pt x="1891938" y="208916"/>
                  </a:lnTo>
                  <a:close/>
                </a:path>
              </a:pathLst>
            </a:custGeom>
            <a:solidFill>
              <a:srgbClr val="66CCFF">
                <a:alpha val="19999"/>
              </a:srgbClr>
            </a:solidFill>
          </p:spPr>
          <p:txBody>
            <a:bodyPr wrap="square" lIns="0" tIns="0" rIns="0" bIns="0" rtlCol="0"/>
            <a:lstStyle/>
            <a:p/>
          </p:txBody>
        </p:sp>
        <p:pic>
          <p:nvPicPr>
            <p:cNvPr id="16" name="object 16" descr=""/>
            <p:cNvPicPr/>
            <p:nvPr/>
          </p:nvPicPr>
          <p:blipFill>
            <a:blip r:embed="rId5" cstate="print"/>
            <a:stretch>
              <a:fillRect/>
            </a:stretch>
          </p:blipFill>
          <p:spPr>
            <a:xfrm>
              <a:off x="543185" y="5649128"/>
              <a:ext cx="125350" cy="167133"/>
            </a:xfrm>
            <a:prstGeom prst="rect">
              <a:avLst/>
            </a:prstGeom>
          </p:spPr>
        </p:pic>
        <p:sp>
          <p:nvSpPr>
            <p:cNvPr id="17" name="object 17" descr=""/>
            <p:cNvSpPr/>
            <p:nvPr/>
          </p:nvSpPr>
          <p:spPr>
            <a:xfrm>
              <a:off x="793886" y="5624058"/>
              <a:ext cx="1588135" cy="208915"/>
            </a:xfrm>
            <a:custGeom>
              <a:avLst/>
              <a:gdLst/>
              <a:ahLst/>
              <a:cxnLst/>
              <a:rect l="l" t="t" r="r" b="b"/>
              <a:pathLst>
                <a:path w="1588135" h="208914">
                  <a:moveTo>
                    <a:pt x="1566027" y="208916"/>
                  </a:moveTo>
                  <a:lnTo>
                    <a:pt x="21745" y="208916"/>
                  </a:lnTo>
                  <a:lnTo>
                    <a:pt x="18547" y="208280"/>
                  </a:lnTo>
                  <a:lnTo>
                    <a:pt x="0" y="187171"/>
                  </a:lnTo>
                  <a:lnTo>
                    <a:pt x="0" y="183847"/>
                  </a:lnTo>
                  <a:lnTo>
                    <a:pt x="0" y="21745"/>
                  </a:lnTo>
                  <a:lnTo>
                    <a:pt x="21745" y="0"/>
                  </a:lnTo>
                  <a:lnTo>
                    <a:pt x="1566027" y="0"/>
                  </a:lnTo>
                  <a:lnTo>
                    <a:pt x="1587772" y="21745"/>
                  </a:lnTo>
                  <a:lnTo>
                    <a:pt x="1587772" y="187171"/>
                  </a:lnTo>
                  <a:lnTo>
                    <a:pt x="1569225" y="208280"/>
                  </a:lnTo>
                  <a:lnTo>
                    <a:pt x="1566027" y="208916"/>
                  </a:lnTo>
                  <a:close/>
                </a:path>
              </a:pathLst>
            </a:custGeom>
            <a:solidFill>
              <a:srgbClr val="66CCFF">
                <a:alpha val="19999"/>
              </a:srgbClr>
            </a:solidFill>
          </p:spPr>
          <p:txBody>
            <a:bodyPr wrap="square" lIns="0" tIns="0" rIns="0" bIns="0" rtlCol="0"/>
            <a:lstStyle/>
            <a:p/>
          </p:txBody>
        </p:sp>
        <p:pic>
          <p:nvPicPr>
            <p:cNvPr id="18" name="object 18" descr=""/>
            <p:cNvPicPr/>
            <p:nvPr/>
          </p:nvPicPr>
          <p:blipFill>
            <a:blip r:embed="rId6" cstate="print"/>
            <a:stretch>
              <a:fillRect/>
            </a:stretch>
          </p:blipFill>
          <p:spPr>
            <a:xfrm>
              <a:off x="543185" y="5983396"/>
              <a:ext cx="167133" cy="167133"/>
            </a:xfrm>
            <a:prstGeom prst="rect">
              <a:avLst/>
            </a:prstGeom>
          </p:spPr>
        </p:pic>
        <p:sp>
          <p:nvSpPr>
            <p:cNvPr id="19" name="object 19" descr=""/>
            <p:cNvSpPr/>
            <p:nvPr/>
          </p:nvSpPr>
          <p:spPr>
            <a:xfrm>
              <a:off x="3117048" y="5958326"/>
              <a:ext cx="4044950" cy="208915"/>
            </a:xfrm>
            <a:custGeom>
              <a:avLst/>
              <a:gdLst/>
              <a:ahLst/>
              <a:cxnLst/>
              <a:rect l="l" t="t" r="r" b="b"/>
              <a:pathLst>
                <a:path w="4044950" h="208914">
                  <a:moveTo>
                    <a:pt x="4022896" y="208916"/>
                  </a:moveTo>
                  <a:lnTo>
                    <a:pt x="21745" y="208916"/>
                  </a:lnTo>
                  <a:lnTo>
                    <a:pt x="18547" y="208280"/>
                  </a:lnTo>
                  <a:lnTo>
                    <a:pt x="0" y="187171"/>
                  </a:lnTo>
                  <a:lnTo>
                    <a:pt x="0" y="183847"/>
                  </a:lnTo>
                  <a:lnTo>
                    <a:pt x="0" y="21745"/>
                  </a:lnTo>
                  <a:lnTo>
                    <a:pt x="21745" y="0"/>
                  </a:lnTo>
                  <a:lnTo>
                    <a:pt x="4022896" y="0"/>
                  </a:lnTo>
                  <a:lnTo>
                    <a:pt x="4044642" y="21745"/>
                  </a:lnTo>
                  <a:lnTo>
                    <a:pt x="4044642" y="187171"/>
                  </a:lnTo>
                  <a:lnTo>
                    <a:pt x="4026094" y="208280"/>
                  </a:lnTo>
                  <a:lnTo>
                    <a:pt x="4022896" y="208916"/>
                  </a:lnTo>
                  <a:close/>
                </a:path>
              </a:pathLst>
            </a:custGeom>
            <a:solidFill>
              <a:srgbClr val="66CCFF">
                <a:alpha val="19999"/>
              </a:srgbClr>
            </a:solidFill>
          </p:spPr>
          <p:txBody>
            <a:bodyPr wrap="square" lIns="0" tIns="0" rIns="0" bIns="0" rtlCol="0"/>
            <a:lstStyle/>
            <a:p/>
          </p:txBody>
        </p:sp>
      </p:grpSp>
      <p:sp>
        <p:nvSpPr>
          <p:cNvPr id="20" name="object 20"/>
          <p:cNvSpPr txBox="1">
            <a:spLocks noGrp="1"/>
          </p:cNvSpPr>
          <p:nvPr>
            <p:ph type="title"/>
          </p:nvPr>
        </p:nvSpPr>
        <p:spPr>
          <a:xfrm>
            <a:off x="321567" y="119310"/>
            <a:ext cx="2464435" cy="438784"/>
          </a:xfrm>
          <a:prstGeom prst="rect"/>
        </p:spPr>
        <p:txBody>
          <a:bodyPr wrap="square" lIns="0" tIns="13970" rIns="0" bIns="0" rtlCol="0" vert="horz">
            <a:spAutoFit/>
          </a:bodyPr>
          <a:lstStyle/>
          <a:p>
            <a:pPr marL="12700">
              <a:lnSpc>
                <a:spcPct val="100000"/>
              </a:lnSpc>
              <a:spcBef>
                <a:spcPts val="110"/>
              </a:spcBef>
            </a:pPr>
            <a:r>
              <a:rPr dirty="0" sz="2500" spc="-150"/>
              <a:t>研</a:t>
            </a:r>
            <a:r>
              <a:rPr dirty="0" sz="2700" spc="-355">
                <a:latin typeface="SimSun"/>
                <a:cs typeface="SimSun"/>
              </a:rPr>
              <a:t>究</a:t>
            </a:r>
            <a:r>
              <a:rPr dirty="0" sz="2650" spc="-285">
                <a:latin typeface="SimSun"/>
                <a:cs typeface="SimSun"/>
              </a:rPr>
              <a:t>成</a:t>
            </a:r>
            <a:r>
              <a:rPr dirty="0" spc="-210"/>
              <a:t>果</a:t>
            </a:r>
            <a:r>
              <a:rPr dirty="0" sz="2450" spc="-50"/>
              <a:t>のまとめ</a:t>
            </a:r>
            <a:endParaRPr sz="2450">
              <a:latin typeface="SimSun"/>
              <a:cs typeface="SimSun"/>
            </a:endParaRPr>
          </a:p>
        </p:txBody>
      </p:sp>
      <p:pic>
        <p:nvPicPr>
          <p:cNvPr id="21" name="object 21" descr=""/>
          <p:cNvPicPr/>
          <p:nvPr/>
        </p:nvPicPr>
        <p:blipFill>
          <a:blip r:embed="rId7" cstate="print"/>
          <a:stretch>
            <a:fillRect/>
          </a:stretch>
        </p:blipFill>
        <p:spPr>
          <a:xfrm>
            <a:off x="543185" y="1203364"/>
            <a:ext cx="200560" cy="200560"/>
          </a:xfrm>
          <a:prstGeom prst="rect">
            <a:avLst/>
          </a:prstGeom>
        </p:spPr>
      </p:pic>
      <p:sp>
        <p:nvSpPr>
          <p:cNvPr id="22" name="object 22" descr=""/>
          <p:cNvSpPr txBox="1"/>
          <p:nvPr/>
        </p:nvSpPr>
        <p:spPr>
          <a:xfrm>
            <a:off x="831326" y="1128250"/>
            <a:ext cx="1647189" cy="300990"/>
          </a:xfrm>
          <a:prstGeom prst="rect">
            <a:avLst/>
          </a:prstGeom>
        </p:spPr>
        <p:txBody>
          <a:bodyPr wrap="square" lIns="0" tIns="13335" rIns="0" bIns="0" rtlCol="0" vert="horz">
            <a:spAutoFit/>
          </a:bodyPr>
          <a:lstStyle/>
          <a:p>
            <a:pPr marL="12700">
              <a:lnSpc>
                <a:spcPct val="100000"/>
              </a:lnSpc>
              <a:spcBef>
                <a:spcPts val="105"/>
              </a:spcBef>
            </a:pPr>
            <a:r>
              <a:rPr dirty="0" sz="1750" spc="-175">
                <a:solidFill>
                  <a:srgbClr val="1D3A8A"/>
                </a:solidFill>
                <a:latin typeface="SimSun"/>
                <a:cs typeface="SimSun"/>
              </a:rPr>
              <a:t>先</a:t>
            </a:r>
            <a:r>
              <a:rPr dirty="0" sz="1700" spc="-145">
                <a:solidFill>
                  <a:srgbClr val="1D3A8A"/>
                </a:solidFill>
                <a:latin typeface="SimSun"/>
                <a:cs typeface="SimSun"/>
              </a:rPr>
              <a:t>行</a:t>
            </a:r>
            <a:r>
              <a:rPr dirty="0" sz="1650" spc="-90">
                <a:solidFill>
                  <a:srgbClr val="1D3A8A"/>
                </a:solidFill>
                <a:latin typeface="PMingLiU"/>
                <a:cs typeface="PMingLiU"/>
              </a:rPr>
              <a:t>研</a:t>
            </a:r>
            <a:r>
              <a:rPr dirty="0" sz="1800" spc="-240">
                <a:solidFill>
                  <a:srgbClr val="1D3A8A"/>
                </a:solidFill>
                <a:latin typeface="SimSun"/>
                <a:cs typeface="SimSun"/>
              </a:rPr>
              <a:t>究</a:t>
            </a:r>
            <a:r>
              <a:rPr dirty="0" sz="1600">
                <a:solidFill>
                  <a:srgbClr val="1D3A8A"/>
                </a:solidFill>
                <a:latin typeface="PMingLiU"/>
                <a:cs typeface="PMingLiU"/>
              </a:rPr>
              <a:t>との</a:t>
            </a:r>
            <a:r>
              <a:rPr dirty="0" sz="1750" spc="-120">
                <a:solidFill>
                  <a:srgbClr val="1D3A8A"/>
                </a:solidFill>
                <a:latin typeface="SimSun"/>
                <a:cs typeface="SimSun"/>
              </a:rPr>
              <a:t>比較</a:t>
            </a:r>
            <a:endParaRPr sz="1750">
              <a:latin typeface="SimSun"/>
              <a:cs typeface="SimSun"/>
            </a:endParaRPr>
          </a:p>
        </p:txBody>
      </p:sp>
      <p:pic>
        <p:nvPicPr>
          <p:cNvPr id="23" name="object 23" descr=""/>
          <p:cNvPicPr/>
          <p:nvPr/>
        </p:nvPicPr>
        <p:blipFill>
          <a:blip r:embed="rId8" cstate="print"/>
          <a:stretch>
            <a:fillRect/>
          </a:stretch>
        </p:blipFill>
        <p:spPr>
          <a:xfrm>
            <a:off x="543185" y="1604486"/>
            <a:ext cx="167133" cy="167133"/>
          </a:xfrm>
          <a:prstGeom prst="rect">
            <a:avLst/>
          </a:prstGeom>
        </p:spPr>
      </p:pic>
      <p:sp>
        <p:nvSpPr>
          <p:cNvPr id="24" name="object 24" descr=""/>
          <p:cNvSpPr/>
          <p:nvPr/>
        </p:nvSpPr>
        <p:spPr>
          <a:xfrm>
            <a:off x="835669" y="1579416"/>
            <a:ext cx="1136650" cy="208915"/>
          </a:xfrm>
          <a:custGeom>
            <a:avLst/>
            <a:gdLst/>
            <a:ahLst/>
            <a:cxnLst/>
            <a:rect l="l" t="t" r="r" b="b"/>
            <a:pathLst>
              <a:path w="1136650" h="208914">
                <a:moveTo>
                  <a:pt x="1114765" y="208917"/>
                </a:moveTo>
                <a:lnTo>
                  <a:pt x="21745" y="208917"/>
                </a:lnTo>
                <a:lnTo>
                  <a:pt x="18547" y="208281"/>
                </a:lnTo>
                <a:lnTo>
                  <a:pt x="0" y="187171"/>
                </a:lnTo>
                <a:lnTo>
                  <a:pt x="0" y="183847"/>
                </a:lnTo>
                <a:lnTo>
                  <a:pt x="0" y="21745"/>
                </a:lnTo>
                <a:lnTo>
                  <a:pt x="21745" y="0"/>
                </a:lnTo>
                <a:lnTo>
                  <a:pt x="1114765" y="0"/>
                </a:lnTo>
                <a:lnTo>
                  <a:pt x="1136511" y="21745"/>
                </a:lnTo>
                <a:lnTo>
                  <a:pt x="1136511" y="187171"/>
                </a:lnTo>
                <a:lnTo>
                  <a:pt x="1117963" y="208281"/>
                </a:lnTo>
                <a:lnTo>
                  <a:pt x="1114765" y="208917"/>
                </a:lnTo>
                <a:close/>
              </a:path>
            </a:pathLst>
          </a:custGeom>
          <a:solidFill>
            <a:srgbClr val="66CCFF">
              <a:alpha val="19999"/>
            </a:srgbClr>
          </a:solidFill>
        </p:spPr>
        <p:txBody>
          <a:bodyPr wrap="square" lIns="0" tIns="0" rIns="0" bIns="0" rtlCol="0"/>
          <a:lstStyle/>
          <a:p/>
        </p:txBody>
      </p:sp>
      <p:pic>
        <p:nvPicPr>
          <p:cNvPr id="25" name="object 25" descr=""/>
          <p:cNvPicPr/>
          <p:nvPr/>
        </p:nvPicPr>
        <p:blipFill>
          <a:blip r:embed="rId9" cstate="print"/>
          <a:stretch>
            <a:fillRect/>
          </a:stretch>
        </p:blipFill>
        <p:spPr>
          <a:xfrm>
            <a:off x="543185" y="1938754"/>
            <a:ext cx="167133" cy="167133"/>
          </a:xfrm>
          <a:prstGeom prst="rect">
            <a:avLst/>
          </a:prstGeom>
        </p:spPr>
      </p:pic>
      <p:sp>
        <p:nvSpPr>
          <p:cNvPr id="26" name="object 26" descr=""/>
          <p:cNvSpPr/>
          <p:nvPr/>
        </p:nvSpPr>
        <p:spPr>
          <a:xfrm>
            <a:off x="835669" y="1913684"/>
            <a:ext cx="1136650" cy="208915"/>
          </a:xfrm>
          <a:custGeom>
            <a:avLst/>
            <a:gdLst/>
            <a:ahLst/>
            <a:cxnLst/>
            <a:rect l="l" t="t" r="r" b="b"/>
            <a:pathLst>
              <a:path w="1136650" h="208914">
                <a:moveTo>
                  <a:pt x="1114765" y="208917"/>
                </a:moveTo>
                <a:lnTo>
                  <a:pt x="21745" y="208917"/>
                </a:lnTo>
                <a:lnTo>
                  <a:pt x="18547" y="208281"/>
                </a:lnTo>
                <a:lnTo>
                  <a:pt x="0" y="187171"/>
                </a:lnTo>
                <a:lnTo>
                  <a:pt x="0" y="183847"/>
                </a:lnTo>
                <a:lnTo>
                  <a:pt x="0" y="21745"/>
                </a:lnTo>
                <a:lnTo>
                  <a:pt x="21745" y="0"/>
                </a:lnTo>
                <a:lnTo>
                  <a:pt x="1114765" y="0"/>
                </a:lnTo>
                <a:lnTo>
                  <a:pt x="1136511" y="21745"/>
                </a:lnTo>
                <a:lnTo>
                  <a:pt x="1136511" y="187171"/>
                </a:lnTo>
                <a:lnTo>
                  <a:pt x="1117963" y="208281"/>
                </a:lnTo>
                <a:lnTo>
                  <a:pt x="1114765" y="208917"/>
                </a:lnTo>
                <a:close/>
              </a:path>
            </a:pathLst>
          </a:custGeom>
          <a:solidFill>
            <a:srgbClr val="66CCFF">
              <a:alpha val="19999"/>
            </a:srgbClr>
          </a:solidFill>
        </p:spPr>
        <p:txBody>
          <a:bodyPr wrap="square" lIns="0" tIns="0" rIns="0" bIns="0" rtlCol="0"/>
          <a:lstStyle/>
          <a:p/>
        </p:txBody>
      </p:sp>
      <p:pic>
        <p:nvPicPr>
          <p:cNvPr id="27" name="object 27" descr=""/>
          <p:cNvPicPr/>
          <p:nvPr/>
        </p:nvPicPr>
        <p:blipFill>
          <a:blip r:embed="rId10" cstate="print"/>
          <a:stretch>
            <a:fillRect/>
          </a:stretch>
        </p:blipFill>
        <p:spPr>
          <a:xfrm>
            <a:off x="543185" y="3008411"/>
            <a:ext cx="200560" cy="200560"/>
          </a:xfrm>
          <a:prstGeom prst="rect">
            <a:avLst/>
          </a:prstGeom>
        </p:spPr>
      </p:pic>
      <p:pic>
        <p:nvPicPr>
          <p:cNvPr id="28" name="object 28" descr=""/>
          <p:cNvPicPr/>
          <p:nvPr/>
        </p:nvPicPr>
        <p:blipFill>
          <a:blip r:embed="rId11" cstate="print"/>
          <a:stretch>
            <a:fillRect/>
          </a:stretch>
        </p:blipFill>
        <p:spPr>
          <a:xfrm>
            <a:off x="543185" y="3409533"/>
            <a:ext cx="167133" cy="167133"/>
          </a:xfrm>
          <a:prstGeom prst="rect">
            <a:avLst/>
          </a:prstGeom>
        </p:spPr>
      </p:pic>
      <p:sp>
        <p:nvSpPr>
          <p:cNvPr id="29" name="object 29" descr=""/>
          <p:cNvSpPr/>
          <p:nvPr/>
        </p:nvSpPr>
        <p:spPr>
          <a:xfrm>
            <a:off x="2791137" y="3384463"/>
            <a:ext cx="1663064" cy="208915"/>
          </a:xfrm>
          <a:custGeom>
            <a:avLst/>
            <a:gdLst/>
            <a:ahLst/>
            <a:cxnLst/>
            <a:rect l="l" t="t" r="r" b="b"/>
            <a:pathLst>
              <a:path w="1663064" h="208914">
                <a:moveTo>
                  <a:pt x="1641237" y="208917"/>
                </a:moveTo>
                <a:lnTo>
                  <a:pt x="21745" y="208917"/>
                </a:lnTo>
                <a:lnTo>
                  <a:pt x="18547" y="208281"/>
                </a:lnTo>
                <a:lnTo>
                  <a:pt x="0" y="187171"/>
                </a:lnTo>
                <a:lnTo>
                  <a:pt x="0" y="183847"/>
                </a:lnTo>
                <a:lnTo>
                  <a:pt x="0" y="21745"/>
                </a:lnTo>
                <a:lnTo>
                  <a:pt x="21745" y="0"/>
                </a:lnTo>
                <a:lnTo>
                  <a:pt x="1641237" y="0"/>
                </a:lnTo>
                <a:lnTo>
                  <a:pt x="1662983" y="21745"/>
                </a:lnTo>
                <a:lnTo>
                  <a:pt x="1662983" y="187171"/>
                </a:lnTo>
                <a:lnTo>
                  <a:pt x="1644435" y="208281"/>
                </a:lnTo>
                <a:lnTo>
                  <a:pt x="1641237" y="208917"/>
                </a:lnTo>
                <a:close/>
              </a:path>
            </a:pathLst>
          </a:custGeom>
          <a:solidFill>
            <a:srgbClr val="66CCFF">
              <a:alpha val="19999"/>
            </a:srgbClr>
          </a:solidFill>
        </p:spPr>
        <p:txBody>
          <a:bodyPr wrap="square" lIns="0" tIns="0" rIns="0" bIns="0" rtlCol="0"/>
          <a:lstStyle/>
          <a:p/>
        </p:txBody>
      </p:sp>
      <p:pic>
        <p:nvPicPr>
          <p:cNvPr id="30" name="object 30" descr=""/>
          <p:cNvPicPr/>
          <p:nvPr/>
        </p:nvPicPr>
        <p:blipFill>
          <a:blip r:embed="rId12" cstate="print"/>
          <a:stretch>
            <a:fillRect/>
          </a:stretch>
        </p:blipFill>
        <p:spPr>
          <a:xfrm>
            <a:off x="543185" y="3743801"/>
            <a:ext cx="125350" cy="167133"/>
          </a:xfrm>
          <a:prstGeom prst="rect">
            <a:avLst/>
          </a:prstGeom>
        </p:spPr>
      </p:pic>
      <p:sp>
        <p:nvSpPr>
          <p:cNvPr id="31" name="object 31" descr=""/>
          <p:cNvSpPr/>
          <p:nvPr/>
        </p:nvSpPr>
        <p:spPr>
          <a:xfrm>
            <a:off x="1846830" y="3718731"/>
            <a:ext cx="2256790" cy="208915"/>
          </a:xfrm>
          <a:custGeom>
            <a:avLst/>
            <a:gdLst/>
            <a:ahLst/>
            <a:cxnLst/>
            <a:rect l="l" t="t" r="r" b="b"/>
            <a:pathLst>
              <a:path w="2256790" h="208914">
                <a:moveTo>
                  <a:pt x="2234563" y="208917"/>
                </a:moveTo>
                <a:lnTo>
                  <a:pt x="21745" y="208917"/>
                </a:lnTo>
                <a:lnTo>
                  <a:pt x="18547" y="208281"/>
                </a:lnTo>
                <a:lnTo>
                  <a:pt x="0" y="187171"/>
                </a:lnTo>
                <a:lnTo>
                  <a:pt x="0" y="183847"/>
                </a:lnTo>
                <a:lnTo>
                  <a:pt x="0" y="21745"/>
                </a:lnTo>
                <a:lnTo>
                  <a:pt x="21745" y="0"/>
                </a:lnTo>
                <a:lnTo>
                  <a:pt x="2234563" y="0"/>
                </a:lnTo>
                <a:lnTo>
                  <a:pt x="2256308" y="21745"/>
                </a:lnTo>
                <a:lnTo>
                  <a:pt x="2256308" y="187171"/>
                </a:lnTo>
                <a:lnTo>
                  <a:pt x="2237761" y="208281"/>
                </a:lnTo>
                <a:lnTo>
                  <a:pt x="2234563" y="208917"/>
                </a:lnTo>
                <a:close/>
              </a:path>
            </a:pathLst>
          </a:custGeom>
          <a:solidFill>
            <a:srgbClr val="66CCFF">
              <a:alpha val="19999"/>
            </a:srgbClr>
          </a:solidFill>
        </p:spPr>
        <p:txBody>
          <a:bodyPr wrap="square" lIns="0" tIns="0" rIns="0" bIns="0" rtlCol="0"/>
          <a:lstStyle/>
          <a:p/>
        </p:txBody>
      </p:sp>
      <p:sp>
        <p:nvSpPr>
          <p:cNvPr id="32" name="object 32" descr=""/>
          <p:cNvSpPr/>
          <p:nvPr/>
        </p:nvSpPr>
        <p:spPr>
          <a:xfrm>
            <a:off x="5757765" y="3718731"/>
            <a:ext cx="318135" cy="208915"/>
          </a:xfrm>
          <a:custGeom>
            <a:avLst/>
            <a:gdLst/>
            <a:ahLst/>
            <a:cxnLst/>
            <a:rect l="l" t="t" r="r" b="b"/>
            <a:pathLst>
              <a:path w="318135" h="208914">
                <a:moveTo>
                  <a:pt x="295809" y="208917"/>
                </a:moveTo>
                <a:lnTo>
                  <a:pt x="21745" y="208917"/>
                </a:lnTo>
                <a:lnTo>
                  <a:pt x="18547" y="208281"/>
                </a:lnTo>
                <a:lnTo>
                  <a:pt x="0" y="187171"/>
                </a:lnTo>
                <a:lnTo>
                  <a:pt x="0" y="183847"/>
                </a:lnTo>
                <a:lnTo>
                  <a:pt x="0" y="21745"/>
                </a:lnTo>
                <a:lnTo>
                  <a:pt x="21745" y="0"/>
                </a:lnTo>
                <a:lnTo>
                  <a:pt x="295809" y="0"/>
                </a:lnTo>
                <a:lnTo>
                  <a:pt x="317554" y="21745"/>
                </a:lnTo>
                <a:lnTo>
                  <a:pt x="317554" y="187171"/>
                </a:lnTo>
                <a:lnTo>
                  <a:pt x="299007" y="208281"/>
                </a:lnTo>
                <a:lnTo>
                  <a:pt x="295809" y="208917"/>
                </a:lnTo>
                <a:close/>
              </a:path>
            </a:pathLst>
          </a:custGeom>
          <a:solidFill>
            <a:srgbClr val="66CCFF">
              <a:alpha val="19999"/>
            </a:srgbClr>
          </a:solidFill>
        </p:spPr>
        <p:txBody>
          <a:bodyPr wrap="square" lIns="0" tIns="0" rIns="0" bIns="0" rtlCol="0"/>
          <a:lstStyle/>
          <a:p/>
        </p:txBody>
      </p:sp>
      <p:pic>
        <p:nvPicPr>
          <p:cNvPr id="33" name="object 33" descr=""/>
          <p:cNvPicPr/>
          <p:nvPr/>
        </p:nvPicPr>
        <p:blipFill>
          <a:blip r:embed="rId13" cstate="print"/>
          <a:stretch>
            <a:fillRect/>
          </a:stretch>
        </p:blipFill>
        <p:spPr>
          <a:xfrm>
            <a:off x="543185" y="4078069"/>
            <a:ext cx="167133" cy="167133"/>
          </a:xfrm>
          <a:prstGeom prst="rect">
            <a:avLst/>
          </a:prstGeom>
        </p:spPr>
      </p:pic>
      <p:sp>
        <p:nvSpPr>
          <p:cNvPr id="34" name="object 34" descr=""/>
          <p:cNvSpPr/>
          <p:nvPr/>
        </p:nvSpPr>
        <p:spPr>
          <a:xfrm>
            <a:off x="4462477" y="4052999"/>
            <a:ext cx="1654810" cy="208915"/>
          </a:xfrm>
          <a:custGeom>
            <a:avLst/>
            <a:gdLst/>
            <a:ahLst/>
            <a:cxnLst/>
            <a:rect l="l" t="t" r="r" b="b"/>
            <a:pathLst>
              <a:path w="1654810" h="208914">
                <a:moveTo>
                  <a:pt x="1632881" y="208917"/>
                </a:moveTo>
                <a:lnTo>
                  <a:pt x="21745" y="208917"/>
                </a:lnTo>
                <a:lnTo>
                  <a:pt x="18547" y="208281"/>
                </a:lnTo>
                <a:lnTo>
                  <a:pt x="0" y="187171"/>
                </a:lnTo>
                <a:lnTo>
                  <a:pt x="0" y="183847"/>
                </a:lnTo>
                <a:lnTo>
                  <a:pt x="0" y="21745"/>
                </a:lnTo>
                <a:lnTo>
                  <a:pt x="21745" y="0"/>
                </a:lnTo>
                <a:lnTo>
                  <a:pt x="1632881" y="0"/>
                </a:lnTo>
                <a:lnTo>
                  <a:pt x="1654626" y="21745"/>
                </a:lnTo>
                <a:lnTo>
                  <a:pt x="1654626" y="187171"/>
                </a:lnTo>
                <a:lnTo>
                  <a:pt x="1636079" y="208280"/>
                </a:lnTo>
                <a:lnTo>
                  <a:pt x="1632881" y="208917"/>
                </a:lnTo>
                <a:close/>
              </a:path>
            </a:pathLst>
          </a:custGeom>
          <a:solidFill>
            <a:srgbClr val="66CCFF">
              <a:alpha val="19999"/>
            </a:srgbClr>
          </a:solidFill>
        </p:spPr>
        <p:txBody>
          <a:bodyPr wrap="square" lIns="0" tIns="0" rIns="0" bIns="0" rtlCol="0"/>
          <a:lstStyle/>
          <a:p/>
        </p:txBody>
      </p:sp>
      <p:sp>
        <p:nvSpPr>
          <p:cNvPr id="35" name="object 35" descr=""/>
          <p:cNvSpPr txBox="1"/>
          <p:nvPr/>
        </p:nvSpPr>
        <p:spPr>
          <a:xfrm>
            <a:off x="797569" y="1575072"/>
            <a:ext cx="8327390" cy="774700"/>
          </a:xfrm>
          <a:prstGeom prst="rect">
            <a:avLst/>
          </a:prstGeom>
        </p:spPr>
        <p:txBody>
          <a:bodyPr wrap="square" lIns="0" tIns="17145" rIns="0" bIns="0" rtlCol="0" vert="horz">
            <a:spAutoFit/>
          </a:bodyPr>
          <a:lstStyle/>
          <a:p>
            <a:pPr marL="79375">
              <a:lnSpc>
                <a:spcPct val="100000"/>
              </a:lnSpc>
              <a:spcBef>
                <a:spcPts val="135"/>
              </a:spcBef>
            </a:pPr>
            <a:r>
              <a:rPr dirty="0" sz="1150" spc="-5">
                <a:latin typeface="PMingLiU"/>
                <a:cs typeface="PMingLiU"/>
              </a:rPr>
              <a:t>定性的には一致  ：急峻な電流立ち上がり特性を確認</a:t>
            </a:r>
            <a:endParaRPr sz="1150">
              <a:latin typeface="PMingLiU"/>
              <a:cs typeface="PMingLiU"/>
            </a:endParaRPr>
          </a:p>
          <a:p>
            <a:pPr marL="79375">
              <a:lnSpc>
                <a:spcPct val="100000"/>
              </a:lnSpc>
              <a:spcBef>
                <a:spcPts val="1250"/>
              </a:spcBef>
            </a:pPr>
            <a:r>
              <a:rPr dirty="0" sz="1150">
                <a:latin typeface="PMingLiU"/>
                <a:cs typeface="PMingLiU"/>
              </a:rPr>
              <a:t>定量的には相違  ：今回の計算では最大立ち上がり条件が</a:t>
            </a:r>
            <a:r>
              <a:rPr dirty="0" sz="1150" spc="135" b="1">
                <a:latin typeface="Yu Gothic"/>
                <a:cs typeface="Yu Gothic"/>
              </a:rPr>
              <a:t>Ln=1.2µm</a:t>
            </a:r>
            <a:r>
              <a:rPr dirty="0" sz="1100" spc="75">
                <a:latin typeface="PMingLiU"/>
                <a:cs typeface="PMingLiU"/>
              </a:rPr>
              <a:t>、</a:t>
            </a:r>
            <a:r>
              <a:rPr dirty="0" sz="1150" spc="100" b="1">
                <a:latin typeface="Yu Gothic"/>
                <a:cs typeface="Yu Gothic"/>
              </a:rPr>
              <a:t>Nn=2×10</a:t>
            </a:r>
            <a:r>
              <a:rPr dirty="0" baseline="29411" sz="1275" spc="150" b="1">
                <a:latin typeface="Yu Gothic"/>
                <a:cs typeface="Yu Gothic"/>
              </a:rPr>
              <a:t>19</a:t>
            </a:r>
            <a:r>
              <a:rPr dirty="0" sz="1150" spc="100" b="1">
                <a:latin typeface="Yu Gothic"/>
                <a:cs typeface="Yu Gothic"/>
              </a:rPr>
              <a:t>cm</a:t>
            </a:r>
            <a:r>
              <a:rPr dirty="0" baseline="29411" sz="1275" spc="150" b="1">
                <a:latin typeface="Yu Gothic"/>
                <a:cs typeface="Yu Gothic"/>
              </a:rPr>
              <a:t>-</a:t>
            </a:r>
            <a:r>
              <a:rPr dirty="0" baseline="29411" sz="1275" spc="112" b="1">
                <a:latin typeface="Yu Gothic"/>
                <a:cs typeface="Yu Gothic"/>
              </a:rPr>
              <a:t>3</a:t>
            </a:r>
            <a:r>
              <a:rPr dirty="0" sz="1150">
                <a:latin typeface="PMingLiU"/>
                <a:cs typeface="PMingLiU"/>
              </a:rPr>
              <a:t>、先行研究では</a:t>
            </a:r>
            <a:r>
              <a:rPr dirty="0" sz="1150" spc="135" b="1">
                <a:latin typeface="Yu Gothic"/>
                <a:cs typeface="Yu Gothic"/>
              </a:rPr>
              <a:t>Ln=0.3µm</a:t>
            </a:r>
            <a:r>
              <a:rPr dirty="0" sz="1100" spc="25">
                <a:latin typeface="PMingLiU"/>
                <a:cs typeface="PMingLiU"/>
              </a:rPr>
              <a:t>、</a:t>
            </a:r>
            <a:endParaRPr sz="1100">
              <a:latin typeface="PMingLiU"/>
              <a:cs typeface="PMingLiU"/>
            </a:endParaRPr>
          </a:p>
          <a:p>
            <a:pPr marL="38100">
              <a:lnSpc>
                <a:spcPct val="100000"/>
              </a:lnSpc>
              <a:spcBef>
                <a:spcPts val="459"/>
              </a:spcBef>
            </a:pPr>
            <a:r>
              <a:rPr dirty="0" sz="1150" spc="100" b="1">
                <a:latin typeface="Yu Gothic"/>
                <a:cs typeface="Yu Gothic"/>
              </a:rPr>
              <a:t>Nn=1×10</a:t>
            </a:r>
            <a:r>
              <a:rPr dirty="0" baseline="29411" sz="1275" spc="150" b="1">
                <a:latin typeface="Yu Gothic"/>
                <a:cs typeface="Yu Gothic"/>
              </a:rPr>
              <a:t>19</a:t>
            </a:r>
            <a:r>
              <a:rPr dirty="0" sz="1150" spc="100" b="1">
                <a:latin typeface="Yu Gothic"/>
                <a:cs typeface="Yu Gothic"/>
              </a:rPr>
              <a:t>cm</a:t>
            </a:r>
            <a:r>
              <a:rPr dirty="0" baseline="29411" sz="1275" spc="150" b="1">
                <a:latin typeface="Yu Gothic"/>
                <a:cs typeface="Yu Gothic"/>
              </a:rPr>
              <a:t>-</a:t>
            </a:r>
            <a:r>
              <a:rPr dirty="0" baseline="29411" sz="1275" spc="37" b="1">
                <a:latin typeface="Yu Gothic"/>
                <a:cs typeface="Yu Gothic"/>
              </a:rPr>
              <a:t>3</a:t>
            </a:r>
            <a:endParaRPr baseline="29411" sz="1275">
              <a:latin typeface="Yu Gothic"/>
              <a:cs typeface="Yu Gothic"/>
            </a:endParaRPr>
          </a:p>
        </p:txBody>
      </p:sp>
      <p:sp>
        <p:nvSpPr>
          <p:cNvPr id="38" name="object 38" descr=""/>
          <p:cNvSpPr txBox="1"/>
          <p:nvPr/>
        </p:nvSpPr>
        <p:spPr>
          <a:xfrm>
            <a:off x="10012989" y="6540193"/>
            <a:ext cx="495934" cy="181610"/>
          </a:xfrm>
          <a:prstGeom prst="rect">
            <a:avLst/>
          </a:prstGeom>
        </p:spPr>
        <p:txBody>
          <a:bodyPr wrap="square" lIns="0" tIns="3175" rIns="0" bIns="0" rtlCol="0" vert="horz">
            <a:spAutoFit/>
          </a:bodyPr>
          <a:lstStyle/>
          <a:p>
            <a:pPr marL="12700">
              <a:lnSpc>
                <a:spcPct val="100000"/>
              </a:lnSpc>
              <a:spcBef>
                <a:spcPts val="25"/>
              </a:spcBef>
            </a:pPr>
            <a:r>
              <a:rPr dirty="0" sz="1050" spc="105">
                <a:solidFill>
                  <a:srgbClr val="4A5462"/>
                </a:solidFill>
                <a:latin typeface="Segoe UI Symbol"/>
                <a:cs typeface="Segoe UI Symbol"/>
              </a:rPr>
              <a:t>12</a:t>
            </a:r>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
        <p:nvSpPr>
          <p:cNvPr id="36" name="object 36" descr=""/>
          <p:cNvSpPr txBox="1">
            <a:spLocks noGrp="1"/>
          </p:cNvSpPr>
          <p:nvPr>
            <p:ph type="body" idx="1"/>
          </p:nvPr>
        </p:nvSpPr>
        <p:spPr>
          <a:prstGeom prst="rect"/>
        </p:spPr>
        <p:txBody>
          <a:bodyPr wrap="square" lIns="0" tIns="14604" rIns="0" bIns="0" rtlCol="0" vert="horz">
            <a:spAutoFit/>
          </a:bodyPr>
          <a:lstStyle/>
          <a:p>
            <a:pPr marL="87630">
              <a:lnSpc>
                <a:spcPct val="100000"/>
              </a:lnSpc>
              <a:spcBef>
                <a:spcPts val="114"/>
              </a:spcBef>
            </a:pPr>
            <a:r>
              <a:rPr dirty="0" sz="1550" spc="160" b="1">
                <a:latin typeface="Yu Gothic"/>
                <a:cs typeface="Yu Gothic"/>
              </a:rPr>
              <a:t>pn</a:t>
            </a:r>
            <a:r>
              <a:rPr dirty="0" spc="-245"/>
              <a:t>接</a:t>
            </a:r>
            <a:r>
              <a:rPr dirty="0" sz="1750" spc="-175"/>
              <a:t>合</a:t>
            </a:r>
            <a:r>
              <a:rPr dirty="0" spc="-240"/>
              <a:t>部</a:t>
            </a:r>
            <a:r>
              <a:rPr dirty="0" sz="1600">
                <a:latin typeface="PMingLiU"/>
                <a:cs typeface="PMingLiU"/>
              </a:rPr>
              <a:t>の</a:t>
            </a:r>
            <a:r>
              <a:rPr dirty="0" sz="1650" spc="-90">
                <a:latin typeface="PMingLiU"/>
                <a:cs typeface="PMingLiU"/>
              </a:rPr>
              <a:t>不</a:t>
            </a:r>
            <a:r>
              <a:rPr dirty="0" sz="1700" spc="-145"/>
              <a:t>純物</a:t>
            </a:r>
            <a:r>
              <a:rPr dirty="0" sz="1750" spc="-175"/>
              <a:t>濃</a:t>
            </a:r>
            <a:r>
              <a:rPr dirty="0" spc="-240"/>
              <a:t>度</a:t>
            </a:r>
            <a:r>
              <a:rPr dirty="0" sz="1750" spc="-175"/>
              <a:t>分</a:t>
            </a:r>
            <a:r>
              <a:rPr dirty="0" spc="-240"/>
              <a:t>布</a:t>
            </a:r>
            <a:r>
              <a:rPr dirty="0" sz="1600">
                <a:latin typeface="PMingLiU"/>
                <a:cs typeface="PMingLiU"/>
              </a:rPr>
              <a:t>の</a:t>
            </a:r>
            <a:r>
              <a:rPr dirty="0" sz="1750" spc="-175"/>
              <a:t>影</a:t>
            </a:r>
            <a:r>
              <a:rPr dirty="0" spc="-50"/>
              <a:t>響</a:t>
            </a:r>
            <a:endParaRPr sz="1750">
              <a:latin typeface="PMingLiU"/>
              <a:cs typeface="PMingLiU"/>
            </a:endParaRPr>
          </a:p>
          <a:p>
            <a:pPr marL="79375">
              <a:lnSpc>
                <a:spcPct val="100000"/>
              </a:lnSpc>
              <a:spcBef>
                <a:spcPts val="1385"/>
              </a:spcBef>
            </a:pPr>
            <a:r>
              <a:rPr dirty="0" sz="1150" spc="10">
                <a:solidFill>
                  <a:srgbClr val="000000"/>
                </a:solidFill>
                <a:latin typeface="PMingLiU"/>
                <a:cs typeface="PMingLiU"/>
              </a:rPr>
              <a:t>電流の最大立ち上がり桁数： ガウス分布 </a:t>
            </a:r>
            <a:r>
              <a:rPr dirty="0" sz="1150" spc="225">
                <a:solidFill>
                  <a:srgbClr val="000000"/>
                </a:solidFill>
                <a:latin typeface="Segoe UI Symbol"/>
                <a:cs typeface="Segoe UI Symbol"/>
              </a:rPr>
              <a:t>&gt; </a:t>
            </a:r>
            <a:r>
              <a:rPr dirty="0" sz="1150" spc="-15">
                <a:solidFill>
                  <a:srgbClr val="000000"/>
                </a:solidFill>
                <a:latin typeface="PMingLiU"/>
                <a:cs typeface="PMingLiU"/>
              </a:rPr>
              <a:t>階段接合</a:t>
            </a:r>
            <a:endParaRPr sz="1150">
              <a:latin typeface="PMingLiU"/>
              <a:cs typeface="PMingLiU"/>
            </a:endParaRPr>
          </a:p>
          <a:p>
            <a:pPr marL="79375" marR="30480" indent="-41910">
              <a:lnSpc>
                <a:spcPct val="190700"/>
              </a:lnSpc>
            </a:pPr>
            <a:r>
              <a:rPr dirty="0" sz="1150" spc="20">
                <a:solidFill>
                  <a:srgbClr val="000000"/>
                </a:solidFill>
                <a:latin typeface="PMingLiU"/>
                <a:cs typeface="PMingLiU"/>
              </a:rPr>
              <a:t>ガウス分布では </a:t>
            </a:r>
            <a:r>
              <a:rPr dirty="0" sz="1150" spc="125">
                <a:solidFill>
                  <a:srgbClr val="000000"/>
                </a:solidFill>
                <a:latin typeface="Segoe UI Symbol"/>
                <a:cs typeface="Segoe UI Symbol"/>
              </a:rPr>
              <a:t>Ln=0.6µm</a:t>
            </a:r>
            <a:r>
              <a:rPr dirty="0" sz="1150">
                <a:solidFill>
                  <a:srgbClr val="000000"/>
                </a:solidFill>
                <a:latin typeface="PMingLiU"/>
                <a:cs typeface="PMingLiU"/>
              </a:rPr>
              <a:t>、</a:t>
            </a:r>
            <a:r>
              <a:rPr dirty="0" sz="1150" spc="114">
                <a:solidFill>
                  <a:srgbClr val="000000"/>
                </a:solidFill>
                <a:latin typeface="Segoe UI Symbol"/>
                <a:cs typeface="Segoe UI Symbol"/>
              </a:rPr>
              <a:t>Nn=7×10</a:t>
            </a:r>
            <a:r>
              <a:rPr dirty="0" baseline="29411" sz="1275" spc="172">
                <a:solidFill>
                  <a:srgbClr val="000000"/>
                </a:solidFill>
                <a:latin typeface="Segoe UI Symbol"/>
                <a:cs typeface="Segoe UI Symbol"/>
              </a:rPr>
              <a:t>19</a:t>
            </a:r>
            <a:r>
              <a:rPr dirty="0" sz="1150" spc="114">
                <a:solidFill>
                  <a:srgbClr val="000000"/>
                </a:solidFill>
                <a:latin typeface="Segoe UI Symbol"/>
                <a:cs typeface="Segoe UI Symbol"/>
              </a:rPr>
              <a:t>cm</a:t>
            </a:r>
            <a:r>
              <a:rPr dirty="0" baseline="29411" sz="1275" spc="172">
                <a:solidFill>
                  <a:srgbClr val="000000"/>
                </a:solidFill>
                <a:latin typeface="Segoe UI Symbol"/>
                <a:cs typeface="Segoe UI Symbol"/>
              </a:rPr>
              <a:t>-</a:t>
            </a:r>
            <a:r>
              <a:rPr dirty="0" baseline="29411" sz="1275">
                <a:solidFill>
                  <a:srgbClr val="000000"/>
                </a:solidFill>
                <a:latin typeface="Segoe UI Symbol"/>
                <a:cs typeface="Segoe UI Symbol"/>
              </a:rPr>
              <a:t>3</a:t>
            </a:r>
            <a:r>
              <a:rPr dirty="0" baseline="29411" sz="1275" spc="517">
                <a:solidFill>
                  <a:srgbClr val="000000"/>
                </a:solidFill>
                <a:latin typeface="Segoe UI Symbol"/>
                <a:cs typeface="Segoe UI Symbol"/>
              </a:rPr>
              <a:t> </a:t>
            </a:r>
            <a:r>
              <a:rPr dirty="0" sz="1150" spc="10">
                <a:solidFill>
                  <a:srgbClr val="000000"/>
                </a:solidFill>
                <a:latin typeface="PMingLiU"/>
                <a:cs typeface="PMingLiU"/>
              </a:rPr>
              <a:t>において立ち上がり桁数 </a:t>
            </a:r>
            <a:r>
              <a:rPr dirty="0" sz="1150" spc="125">
                <a:solidFill>
                  <a:srgbClr val="000000"/>
                </a:solidFill>
                <a:latin typeface="Segoe UI Symbol"/>
                <a:cs typeface="Segoe UI Symbol"/>
              </a:rPr>
              <a:t>9.4 </a:t>
            </a:r>
            <a:r>
              <a:rPr dirty="0" sz="1150">
                <a:solidFill>
                  <a:srgbClr val="000000"/>
                </a:solidFill>
                <a:latin typeface="PMingLiU"/>
                <a:cs typeface="PMingLiU"/>
              </a:rPr>
              <a:t>で最大（階段接合の</a:t>
            </a:r>
            <a:r>
              <a:rPr dirty="0" sz="1150" spc="125">
                <a:solidFill>
                  <a:srgbClr val="000000"/>
                </a:solidFill>
                <a:latin typeface="Segoe UI Symbol"/>
                <a:cs typeface="Segoe UI Symbol"/>
              </a:rPr>
              <a:t>7.9</a:t>
            </a:r>
            <a:r>
              <a:rPr dirty="0" sz="1150">
                <a:solidFill>
                  <a:srgbClr val="000000"/>
                </a:solidFill>
                <a:latin typeface="PMingLiU"/>
                <a:cs typeface="PMingLiU"/>
              </a:rPr>
              <a:t>より向上</a:t>
            </a:r>
            <a:r>
              <a:rPr dirty="0" sz="1150" spc="-50">
                <a:solidFill>
                  <a:srgbClr val="000000"/>
                </a:solidFill>
                <a:latin typeface="PMingLiU"/>
                <a:cs typeface="PMingLiU"/>
              </a:rPr>
              <a:t>）</a:t>
            </a:r>
            <a:r>
              <a:rPr dirty="0" sz="1150" spc="35">
                <a:solidFill>
                  <a:srgbClr val="000000"/>
                </a:solidFill>
                <a:latin typeface="PMingLiU"/>
                <a:cs typeface="PMingLiU"/>
              </a:rPr>
              <a:t>考察：</a:t>
            </a:r>
            <a:r>
              <a:rPr dirty="0" sz="1150" spc="105">
                <a:solidFill>
                  <a:srgbClr val="000000"/>
                </a:solidFill>
                <a:latin typeface="Segoe UI Symbol"/>
                <a:cs typeface="Segoe UI Symbol"/>
              </a:rPr>
              <a:t>n+</a:t>
            </a:r>
            <a:r>
              <a:rPr dirty="0" sz="1150">
                <a:solidFill>
                  <a:srgbClr val="000000"/>
                </a:solidFill>
                <a:latin typeface="PMingLiU"/>
                <a:cs typeface="PMingLiU"/>
              </a:rPr>
              <a:t>領域の不純物が</a:t>
            </a:r>
            <a:r>
              <a:rPr dirty="0" sz="1150" spc="70">
                <a:solidFill>
                  <a:srgbClr val="000000"/>
                </a:solidFill>
                <a:latin typeface="Segoe UI Symbol"/>
                <a:cs typeface="Segoe UI Symbol"/>
              </a:rPr>
              <a:t>p</a:t>
            </a:r>
            <a:r>
              <a:rPr dirty="0" sz="1150" spc="20">
                <a:solidFill>
                  <a:srgbClr val="000000"/>
                </a:solidFill>
                <a:latin typeface="PMingLiU"/>
                <a:cs typeface="PMingLiU"/>
              </a:rPr>
              <a:t>形領域に拡散することで、  </a:t>
            </a:r>
            <a:r>
              <a:rPr dirty="0" sz="1150" spc="150">
                <a:solidFill>
                  <a:srgbClr val="000000"/>
                </a:solidFill>
                <a:latin typeface="Segoe UI Symbol"/>
                <a:cs typeface="Segoe UI Symbol"/>
              </a:rPr>
              <a:t>n+</a:t>
            </a:r>
            <a:r>
              <a:rPr dirty="0" sz="1150" spc="-5">
                <a:solidFill>
                  <a:srgbClr val="000000"/>
                </a:solidFill>
                <a:latin typeface="PMingLiU"/>
                <a:cs typeface="PMingLiU"/>
              </a:rPr>
              <a:t>領域が実質的に増加  し、電子数増加により電流が向上</a:t>
            </a:r>
            <a:endParaRPr sz="1150">
              <a:latin typeface="PMingLiU"/>
              <a:cs typeface="PMingLiU"/>
            </a:endParaRPr>
          </a:p>
        </p:txBody>
      </p:sp>
      <p:sp>
        <p:nvSpPr>
          <p:cNvPr id="37" name="object 37" descr=""/>
          <p:cNvSpPr txBox="1"/>
          <p:nvPr/>
        </p:nvSpPr>
        <p:spPr>
          <a:xfrm>
            <a:off x="797569" y="4842150"/>
            <a:ext cx="8763635" cy="1318260"/>
          </a:xfrm>
          <a:prstGeom prst="rect">
            <a:avLst/>
          </a:prstGeom>
        </p:spPr>
        <p:txBody>
          <a:bodyPr wrap="square" lIns="0" tIns="16510" rIns="0" bIns="0" rtlCol="0" vert="horz">
            <a:spAutoFit/>
          </a:bodyPr>
          <a:lstStyle/>
          <a:p>
            <a:pPr marL="46355">
              <a:lnSpc>
                <a:spcPct val="100000"/>
              </a:lnSpc>
              <a:spcBef>
                <a:spcPts val="130"/>
              </a:spcBef>
            </a:pPr>
            <a:r>
              <a:rPr dirty="0" sz="1600">
                <a:solidFill>
                  <a:srgbClr val="1D3A8A"/>
                </a:solidFill>
                <a:latin typeface="PMingLiU"/>
                <a:cs typeface="PMingLiU"/>
              </a:rPr>
              <a:t>デバイス</a:t>
            </a:r>
            <a:r>
              <a:rPr dirty="0" sz="1650" spc="-90">
                <a:solidFill>
                  <a:srgbClr val="1D3A8A"/>
                </a:solidFill>
                <a:latin typeface="PMingLiU"/>
                <a:cs typeface="PMingLiU"/>
              </a:rPr>
              <a:t>両</a:t>
            </a:r>
            <a:r>
              <a:rPr dirty="0" sz="1750" spc="-175">
                <a:solidFill>
                  <a:srgbClr val="1D3A8A"/>
                </a:solidFill>
                <a:latin typeface="SimSun"/>
                <a:cs typeface="SimSun"/>
              </a:rPr>
              <a:t>端</a:t>
            </a:r>
            <a:r>
              <a:rPr dirty="0" sz="1600">
                <a:solidFill>
                  <a:srgbClr val="1D3A8A"/>
                </a:solidFill>
                <a:latin typeface="PMingLiU"/>
                <a:cs typeface="PMingLiU"/>
              </a:rPr>
              <a:t>の</a:t>
            </a:r>
            <a:r>
              <a:rPr dirty="0" sz="1550" spc="130" b="1">
                <a:solidFill>
                  <a:srgbClr val="1D3A8A"/>
                </a:solidFill>
                <a:latin typeface="Yu Gothic"/>
                <a:cs typeface="Yu Gothic"/>
              </a:rPr>
              <a:t>SiO</a:t>
            </a:r>
            <a:r>
              <a:rPr dirty="0" baseline="-9661" sz="1725" spc="195" b="1">
                <a:solidFill>
                  <a:srgbClr val="1D3A8A"/>
                </a:solidFill>
                <a:latin typeface="Yu Gothic"/>
                <a:cs typeface="Yu Gothic"/>
              </a:rPr>
              <a:t>2</a:t>
            </a:r>
            <a:r>
              <a:rPr dirty="0" sz="1750" spc="-175">
                <a:solidFill>
                  <a:srgbClr val="1D3A8A"/>
                </a:solidFill>
                <a:latin typeface="PMingLiU"/>
                <a:cs typeface="PMingLiU"/>
              </a:rPr>
              <a:t>追</a:t>
            </a:r>
            <a:r>
              <a:rPr dirty="0" sz="1750" spc="-175">
                <a:solidFill>
                  <a:srgbClr val="1D3A8A"/>
                </a:solidFill>
                <a:latin typeface="SimSun"/>
                <a:cs typeface="SimSun"/>
              </a:rPr>
              <a:t>加</a:t>
            </a:r>
            <a:r>
              <a:rPr dirty="0" sz="1600">
                <a:solidFill>
                  <a:srgbClr val="1D3A8A"/>
                </a:solidFill>
                <a:latin typeface="PMingLiU"/>
                <a:cs typeface="PMingLiU"/>
              </a:rPr>
              <a:t>の</a:t>
            </a:r>
            <a:r>
              <a:rPr dirty="0" sz="1750" spc="-175">
                <a:solidFill>
                  <a:srgbClr val="1D3A8A"/>
                </a:solidFill>
                <a:latin typeface="SimSun"/>
                <a:cs typeface="SimSun"/>
              </a:rPr>
              <a:t>効</a:t>
            </a:r>
            <a:r>
              <a:rPr dirty="0" sz="1700" spc="-50">
                <a:solidFill>
                  <a:srgbClr val="1D3A8A"/>
                </a:solidFill>
                <a:latin typeface="PMingLiU"/>
                <a:cs typeface="PMingLiU"/>
              </a:rPr>
              <a:t>果</a:t>
            </a:r>
            <a:endParaRPr sz="1700">
              <a:latin typeface="PMingLiU"/>
              <a:cs typeface="PMingLiU"/>
            </a:endParaRPr>
          </a:p>
          <a:p>
            <a:pPr marL="38100">
              <a:lnSpc>
                <a:spcPct val="100000"/>
              </a:lnSpc>
              <a:spcBef>
                <a:spcPts val="1395"/>
              </a:spcBef>
            </a:pPr>
            <a:r>
              <a:rPr dirty="0" sz="1150" spc="90">
                <a:latin typeface="Segoe UI Symbol"/>
                <a:cs typeface="Segoe UI Symbol"/>
              </a:rPr>
              <a:t>SiO</a:t>
            </a:r>
            <a:r>
              <a:rPr dirty="0" baseline="-13071" sz="1275" spc="135">
                <a:latin typeface="Segoe UI Symbol"/>
                <a:cs typeface="Segoe UI Symbol"/>
              </a:rPr>
              <a:t>2</a:t>
            </a:r>
            <a:r>
              <a:rPr dirty="0" sz="1150" spc="20">
                <a:latin typeface="PMingLiU"/>
                <a:cs typeface="PMingLiU"/>
              </a:rPr>
              <a:t>追加により立ち上がり桁数が  </a:t>
            </a:r>
            <a:r>
              <a:rPr dirty="0" sz="1150" spc="125">
                <a:latin typeface="Segoe UI Symbol"/>
                <a:cs typeface="Segoe UI Symbol"/>
              </a:rPr>
              <a:t>9.4</a:t>
            </a:r>
            <a:r>
              <a:rPr dirty="0" sz="1150">
                <a:latin typeface="PMingLiU"/>
                <a:cs typeface="PMingLiU"/>
              </a:rPr>
              <a:t>から</a:t>
            </a:r>
            <a:r>
              <a:rPr dirty="0" sz="1150" spc="125">
                <a:latin typeface="Segoe UI Symbol"/>
                <a:cs typeface="Segoe UI Symbol"/>
              </a:rPr>
              <a:t>9.5</a:t>
            </a:r>
            <a:r>
              <a:rPr dirty="0" sz="1150" spc="-10">
                <a:latin typeface="PMingLiU"/>
                <a:cs typeface="PMingLiU"/>
              </a:rPr>
              <a:t>へわずかに増加</a:t>
            </a:r>
            <a:endParaRPr sz="1150">
              <a:latin typeface="PMingLiU"/>
              <a:cs typeface="PMingLiU"/>
            </a:endParaRPr>
          </a:p>
          <a:p>
            <a:pPr marL="38100" marR="30480">
              <a:lnSpc>
                <a:spcPts val="2630"/>
              </a:lnSpc>
              <a:spcBef>
                <a:spcPts val="110"/>
              </a:spcBef>
            </a:pPr>
            <a:r>
              <a:rPr dirty="0" sz="1150" spc="45">
                <a:latin typeface="PMingLiU"/>
                <a:cs typeface="PMingLiU"/>
              </a:rPr>
              <a:t>ゲート電圧特性の変化 ：</a:t>
            </a:r>
            <a:r>
              <a:rPr dirty="0" sz="1150" spc="75">
                <a:latin typeface="Segoe UI Symbol"/>
                <a:cs typeface="Segoe UI Symbol"/>
              </a:rPr>
              <a:t>SiO</a:t>
            </a:r>
            <a:r>
              <a:rPr dirty="0" baseline="-13071" sz="1275" spc="112">
                <a:latin typeface="Segoe UI Symbol"/>
                <a:cs typeface="Segoe UI Symbol"/>
              </a:rPr>
              <a:t>2</a:t>
            </a:r>
            <a:r>
              <a:rPr dirty="0" sz="1150">
                <a:latin typeface="PMingLiU"/>
                <a:cs typeface="PMingLiU"/>
              </a:rPr>
              <a:t>なしでは</a:t>
            </a:r>
            <a:r>
              <a:rPr dirty="0" sz="1300" spc="-125">
                <a:latin typeface="SimSun"/>
                <a:cs typeface="SimSun"/>
              </a:rPr>
              <a:t>負</a:t>
            </a:r>
            <a:r>
              <a:rPr dirty="0" sz="1250" spc="-80">
                <a:latin typeface="PMingLiU"/>
                <a:cs typeface="PMingLiU"/>
              </a:rPr>
              <a:t>のゲート電圧</a:t>
            </a:r>
            <a:r>
              <a:rPr dirty="0" sz="1150" spc="95" b="1">
                <a:latin typeface="Yu Gothic"/>
                <a:cs typeface="Yu Gothic"/>
              </a:rPr>
              <a:t>(-</a:t>
            </a:r>
            <a:r>
              <a:rPr dirty="0" sz="1150" spc="120" b="1">
                <a:latin typeface="Yu Gothic"/>
                <a:cs typeface="Yu Gothic"/>
              </a:rPr>
              <a:t>0.008V)</a:t>
            </a:r>
            <a:r>
              <a:rPr dirty="0" sz="1150">
                <a:latin typeface="PMingLiU"/>
                <a:cs typeface="PMingLiU"/>
              </a:rPr>
              <a:t>、</a:t>
            </a:r>
            <a:r>
              <a:rPr dirty="0" sz="1150" spc="90">
                <a:latin typeface="Segoe UI Symbol"/>
                <a:cs typeface="Segoe UI Symbol"/>
              </a:rPr>
              <a:t>SiO</a:t>
            </a:r>
            <a:r>
              <a:rPr dirty="0" baseline="-13071" sz="1275" spc="135">
                <a:latin typeface="Segoe UI Symbol"/>
                <a:cs typeface="Segoe UI Symbol"/>
              </a:rPr>
              <a:t>2</a:t>
            </a:r>
            <a:r>
              <a:rPr dirty="0" sz="1150">
                <a:latin typeface="PMingLiU"/>
                <a:cs typeface="PMingLiU"/>
              </a:rPr>
              <a:t>ありでは</a:t>
            </a:r>
            <a:r>
              <a:rPr dirty="0" sz="1250" spc="-80">
                <a:latin typeface="PMingLiU"/>
                <a:cs typeface="PMingLiU"/>
              </a:rPr>
              <a:t>正のゲート電圧</a:t>
            </a:r>
            <a:r>
              <a:rPr dirty="0" sz="1150" spc="125" b="1">
                <a:latin typeface="Yu Gothic"/>
                <a:cs typeface="Yu Gothic"/>
              </a:rPr>
              <a:t>(0.052V)</a:t>
            </a:r>
            <a:r>
              <a:rPr dirty="0" sz="1150" spc="-10">
                <a:latin typeface="PMingLiU"/>
                <a:cs typeface="PMingLiU"/>
              </a:rPr>
              <a:t>で電流が急激に増加</a:t>
            </a:r>
            <a:r>
              <a:rPr dirty="0" sz="1150">
                <a:latin typeface="PMingLiU"/>
                <a:cs typeface="PMingLiU"/>
              </a:rPr>
              <a:t>デバイス両端の</a:t>
            </a:r>
            <a:r>
              <a:rPr dirty="0" sz="1150" spc="90">
                <a:latin typeface="Segoe UI Symbol"/>
                <a:cs typeface="Segoe UI Symbol"/>
              </a:rPr>
              <a:t>SiO</a:t>
            </a:r>
            <a:r>
              <a:rPr dirty="0" baseline="-13071" sz="1275" spc="135">
                <a:latin typeface="Segoe UI Symbol"/>
                <a:cs typeface="Segoe UI Symbol"/>
              </a:rPr>
              <a:t>2</a:t>
            </a:r>
            <a:r>
              <a:rPr dirty="0" sz="1150">
                <a:latin typeface="PMingLiU"/>
                <a:cs typeface="PMingLiU"/>
              </a:rPr>
              <a:t>追加によって負のゲート電圧での</a:t>
            </a:r>
            <a:r>
              <a:rPr dirty="0" sz="1150" spc="100">
                <a:latin typeface="Segoe UI Symbol"/>
                <a:cs typeface="Segoe UI Symbol"/>
              </a:rPr>
              <a:t>Body</a:t>
            </a:r>
            <a:r>
              <a:rPr dirty="0" sz="1150" spc="325">
                <a:latin typeface="Segoe UI Symbol"/>
                <a:cs typeface="Segoe UI Symbol"/>
              </a:rPr>
              <a:t>  </a:t>
            </a:r>
            <a:r>
              <a:rPr dirty="0" sz="1150" spc="85">
                <a:latin typeface="Segoe UI Symbol"/>
                <a:cs typeface="Segoe UI Symbol"/>
              </a:rPr>
              <a:t>Tie</a:t>
            </a:r>
            <a:r>
              <a:rPr dirty="0" sz="1150" spc="-5">
                <a:latin typeface="PMingLiU"/>
                <a:cs typeface="PMingLiU"/>
              </a:rPr>
              <a:t>電流の立ち上がり問題が解消</a:t>
            </a:r>
            <a:endParaRPr sz="1150">
              <a:latin typeface="PMingLiU"/>
              <a:cs typeface="PMingLiU"/>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10696575" cy="7287259"/>
          </a:xfrm>
          <a:custGeom>
            <a:avLst/>
            <a:gdLst/>
            <a:ahLst/>
            <a:cxnLst/>
            <a:rect l="l" t="t" r="r" b="b"/>
            <a:pathLst>
              <a:path w="10696575" h="7287259">
                <a:moveTo>
                  <a:pt x="10696575" y="7287042"/>
                </a:moveTo>
                <a:lnTo>
                  <a:pt x="0" y="7287042"/>
                </a:lnTo>
                <a:lnTo>
                  <a:pt x="0" y="0"/>
                </a:lnTo>
                <a:lnTo>
                  <a:pt x="10696575" y="0"/>
                </a:lnTo>
                <a:lnTo>
                  <a:pt x="10696575" y="7287042"/>
                </a:lnTo>
                <a:close/>
              </a:path>
            </a:pathLst>
          </a:custGeom>
          <a:solidFill>
            <a:srgbClr val="F2F4F5"/>
          </a:solidFill>
        </p:spPr>
        <p:txBody>
          <a:bodyPr wrap="square" lIns="0" tIns="0" rIns="0" bIns="0" rtlCol="0"/>
          <a:lstStyle/>
          <a:p/>
        </p:txBody>
      </p:sp>
      <p:pic>
        <p:nvPicPr>
          <p:cNvPr id="3" name="object 3" descr=""/>
          <p:cNvPicPr/>
          <p:nvPr/>
        </p:nvPicPr>
        <p:blipFill>
          <a:blip r:embed="rId2" cstate="print"/>
          <a:stretch>
            <a:fillRect/>
          </a:stretch>
        </p:blipFill>
        <p:spPr>
          <a:xfrm>
            <a:off x="0" y="0"/>
            <a:ext cx="10696575" cy="752102"/>
          </a:xfrm>
          <a:prstGeom prst="rect">
            <a:avLst/>
          </a:prstGeom>
        </p:spPr>
      </p:pic>
      <p:sp>
        <p:nvSpPr>
          <p:cNvPr id="4" name="object 4"/>
          <p:cNvSpPr txBox="1">
            <a:spLocks noGrp="1"/>
          </p:cNvSpPr>
          <p:nvPr>
            <p:ph type="title"/>
          </p:nvPr>
        </p:nvSpPr>
        <p:spPr>
          <a:xfrm>
            <a:off x="321567" y="117253"/>
            <a:ext cx="2139950" cy="441325"/>
          </a:xfrm>
          <a:prstGeom prst="rect"/>
        </p:spPr>
        <p:txBody>
          <a:bodyPr wrap="square" lIns="0" tIns="15875" rIns="0" bIns="0" rtlCol="0" vert="horz">
            <a:spAutoFit/>
          </a:bodyPr>
          <a:lstStyle/>
          <a:p>
            <a:pPr marL="12700">
              <a:lnSpc>
                <a:spcPct val="100000"/>
              </a:lnSpc>
              <a:spcBef>
                <a:spcPts val="125"/>
              </a:spcBef>
            </a:pPr>
            <a:r>
              <a:rPr dirty="0" sz="2600" spc="-240">
                <a:latin typeface="SimSun"/>
                <a:cs typeface="SimSun"/>
              </a:rPr>
              <a:t>今</a:t>
            </a:r>
            <a:r>
              <a:rPr dirty="0" sz="2650" spc="-295">
                <a:latin typeface="SimSun"/>
                <a:cs typeface="SimSun"/>
              </a:rPr>
              <a:t>後</a:t>
            </a:r>
            <a:r>
              <a:rPr dirty="0" sz="2250" spc="165"/>
              <a:t>の</a:t>
            </a:r>
            <a:r>
              <a:rPr dirty="0" sz="2500" spc="-150"/>
              <a:t>研</a:t>
            </a:r>
            <a:r>
              <a:rPr dirty="0" sz="2700" spc="-355">
                <a:latin typeface="SimSun"/>
                <a:cs typeface="SimSun"/>
              </a:rPr>
              <a:t>究方</a:t>
            </a:r>
            <a:r>
              <a:rPr dirty="0" spc="-50"/>
              <a:t>針</a:t>
            </a:r>
            <a:endParaRPr sz="2700">
              <a:latin typeface="SimSun"/>
              <a:cs typeface="SimSun"/>
            </a:endParaRPr>
          </a:p>
        </p:txBody>
      </p:sp>
      <p:grpSp>
        <p:nvGrpSpPr>
          <p:cNvPr id="5" name="object 5" descr=""/>
          <p:cNvGrpSpPr/>
          <p:nvPr/>
        </p:nvGrpSpPr>
        <p:grpSpPr>
          <a:xfrm>
            <a:off x="334267" y="1002803"/>
            <a:ext cx="6485255" cy="1220470"/>
            <a:chOff x="334267" y="1002803"/>
            <a:chExt cx="6485255" cy="1220470"/>
          </a:xfrm>
        </p:grpSpPr>
        <p:sp>
          <p:nvSpPr>
            <p:cNvPr id="6" name="object 6" descr=""/>
            <p:cNvSpPr/>
            <p:nvPr/>
          </p:nvSpPr>
          <p:spPr>
            <a:xfrm>
              <a:off x="355159" y="1002803"/>
              <a:ext cx="6464300" cy="1220470"/>
            </a:xfrm>
            <a:custGeom>
              <a:avLst/>
              <a:gdLst/>
              <a:ahLst/>
              <a:cxnLst/>
              <a:rect l="l" t="t" r="r" b="b"/>
              <a:pathLst>
                <a:path w="6464300" h="1220470">
                  <a:moveTo>
                    <a:pt x="6401443" y="1220077"/>
                  </a:moveTo>
                  <a:lnTo>
                    <a:pt x="42943" y="1220077"/>
                  </a:lnTo>
                  <a:lnTo>
                    <a:pt x="39955" y="1219649"/>
                  </a:lnTo>
                  <a:lnTo>
                    <a:pt x="9422" y="1194016"/>
                  </a:lnTo>
                  <a:lnTo>
                    <a:pt x="0" y="1157614"/>
                  </a:lnTo>
                  <a:lnTo>
                    <a:pt x="0" y="1153224"/>
                  </a:lnTo>
                  <a:lnTo>
                    <a:pt x="0" y="62463"/>
                  </a:lnTo>
                  <a:lnTo>
                    <a:pt x="11327" y="22684"/>
                  </a:lnTo>
                  <a:lnTo>
                    <a:pt x="42943" y="0"/>
                  </a:lnTo>
                  <a:lnTo>
                    <a:pt x="6401443" y="0"/>
                  </a:lnTo>
                  <a:lnTo>
                    <a:pt x="6437844" y="13705"/>
                  </a:lnTo>
                  <a:lnTo>
                    <a:pt x="6460497" y="45325"/>
                  </a:lnTo>
                  <a:lnTo>
                    <a:pt x="6463907" y="62463"/>
                  </a:lnTo>
                  <a:lnTo>
                    <a:pt x="6463907" y="1157614"/>
                  </a:lnTo>
                  <a:lnTo>
                    <a:pt x="6450201" y="1194016"/>
                  </a:lnTo>
                  <a:lnTo>
                    <a:pt x="6418581" y="1216668"/>
                  </a:lnTo>
                  <a:lnTo>
                    <a:pt x="6405790" y="1219649"/>
                  </a:lnTo>
                  <a:lnTo>
                    <a:pt x="6401443" y="1220077"/>
                  </a:lnTo>
                  <a:close/>
                </a:path>
              </a:pathLst>
            </a:custGeom>
            <a:solidFill>
              <a:srgbClr val="FFFFFF"/>
            </a:solidFill>
          </p:spPr>
          <p:txBody>
            <a:bodyPr wrap="square" lIns="0" tIns="0" rIns="0" bIns="0" rtlCol="0"/>
            <a:lstStyle/>
            <a:p/>
          </p:txBody>
        </p:sp>
        <p:sp>
          <p:nvSpPr>
            <p:cNvPr id="7" name="object 7" descr=""/>
            <p:cNvSpPr/>
            <p:nvPr/>
          </p:nvSpPr>
          <p:spPr>
            <a:xfrm>
              <a:off x="334264" y="1002982"/>
              <a:ext cx="543560" cy="1219835"/>
            </a:xfrm>
            <a:custGeom>
              <a:avLst/>
              <a:gdLst/>
              <a:ahLst/>
              <a:cxnLst/>
              <a:rect l="l" t="t" r="r" b="b"/>
              <a:pathLst>
                <a:path w="543560" h="1219835">
                  <a:moveTo>
                    <a:pt x="63195" y="0"/>
                  </a:moveTo>
                  <a:lnTo>
                    <a:pt x="24460" y="14973"/>
                  </a:lnTo>
                  <a:lnTo>
                    <a:pt x="2857" y="47307"/>
                  </a:lnTo>
                  <a:lnTo>
                    <a:pt x="0" y="66687"/>
                  </a:lnTo>
                  <a:lnTo>
                    <a:pt x="0" y="1153058"/>
                  </a:lnTo>
                  <a:lnTo>
                    <a:pt x="11252" y="1190205"/>
                  </a:lnTo>
                  <a:lnTo>
                    <a:pt x="41262" y="1214818"/>
                  </a:lnTo>
                  <a:lnTo>
                    <a:pt x="63195" y="1219733"/>
                  </a:lnTo>
                  <a:lnTo>
                    <a:pt x="60325" y="1218209"/>
                  </a:lnTo>
                  <a:lnTo>
                    <a:pt x="54190" y="1211427"/>
                  </a:lnTo>
                  <a:lnTo>
                    <a:pt x="42849" y="1172425"/>
                  </a:lnTo>
                  <a:lnTo>
                    <a:pt x="41897" y="1159637"/>
                  </a:lnTo>
                  <a:lnTo>
                    <a:pt x="41897" y="60096"/>
                  </a:lnTo>
                  <a:lnTo>
                    <a:pt x="51473" y="13144"/>
                  </a:lnTo>
                  <a:lnTo>
                    <a:pt x="60325" y="1524"/>
                  </a:lnTo>
                  <a:lnTo>
                    <a:pt x="63195" y="0"/>
                  </a:lnTo>
                  <a:close/>
                </a:path>
                <a:path w="543560" h="1219835">
                  <a:moveTo>
                    <a:pt x="543179" y="334098"/>
                  </a:moveTo>
                  <a:lnTo>
                    <a:pt x="538175" y="293471"/>
                  </a:lnTo>
                  <a:lnTo>
                    <a:pt x="523455" y="255308"/>
                  </a:lnTo>
                  <a:lnTo>
                    <a:pt x="499897" y="221856"/>
                  </a:lnTo>
                  <a:lnTo>
                    <a:pt x="468909" y="195122"/>
                  </a:lnTo>
                  <a:lnTo>
                    <a:pt x="432346" y="176733"/>
                  </a:lnTo>
                  <a:lnTo>
                    <a:pt x="392430" y="167767"/>
                  </a:lnTo>
                  <a:lnTo>
                    <a:pt x="376047" y="166966"/>
                  </a:lnTo>
                  <a:lnTo>
                    <a:pt x="367842" y="167157"/>
                  </a:lnTo>
                  <a:lnTo>
                    <a:pt x="327533" y="174155"/>
                  </a:lnTo>
                  <a:lnTo>
                    <a:pt x="290131" y="190728"/>
                  </a:lnTo>
                  <a:lnTo>
                    <a:pt x="257873" y="215912"/>
                  </a:lnTo>
                  <a:lnTo>
                    <a:pt x="232689" y="248183"/>
                  </a:lnTo>
                  <a:lnTo>
                    <a:pt x="216115" y="285572"/>
                  </a:lnTo>
                  <a:lnTo>
                    <a:pt x="209118" y="325882"/>
                  </a:lnTo>
                  <a:lnTo>
                    <a:pt x="208915" y="334098"/>
                  </a:lnTo>
                  <a:lnTo>
                    <a:pt x="209118" y="342303"/>
                  </a:lnTo>
                  <a:lnTo>
                    <a:pt x="216115" y="382612"/>
                  </a:lnTo>
                  <a:lnTo>
                    <a:pt x="232689" y="420014"/>
                  </a:lnTo>
                  <a:lnTo>
                    <a:pt x="257873" y="452272"/>
                  </a:lnTo>
                  <a:lnTo>
                    <a:pt x="290131" y="477456"/>
                  </a:lnTo>
                  <a:lnTo>
                    <a:pt x="327533" y="494030"/>
                  </a:lnTo>
                  <a:lnTo>
                    <a:pt x="367842" y="501027"/>
                  </a:lnTo>
                  <a:lnTo>
                    <a:pt x="376047" y="501230"/>
                  </a:lnTo>
                  <a:lnTo>
                    <a:pt x="384263" y="501027"/>
                  </a:lnTo>
                  <a:lnTo>
                    <a:pt x="424561" y="494030"/>
                  </a:lnTo>
                  <a:lnTo>
                    <a:pt x="461962" y="477456"/>
                  </a:lnTo>
                  <a:lnTo>
                    <a:pt x="494233" y="452272"/>
                  </a:lnTo>
                  <a:lnTo>
                    <a:pt x="519404" y="420014"/>
                  </a:lnTo>
                  <a:lnTo>
                    <a:pt x="535990" y="382612"/>
                  </a:lnTo>
                  <a:lnTo>
                    <a:pt x="542988" y="342303"/>
                  </a:lnTo>
                  <a:lnTo>
                    <a:pt x="543179" y="334098"/>
                  </a:lnTo>
                  <a:close/>
                </a:path>
              </a:pathLst>
            </a:custGeom>
            <a:solidFill>
              <a:srgbClr val="003366"/>
            </a:solidFill>
          </p:spPr>
          <p:txBody>
            <a:bodyPr wrap="square" lIns="0" tIns="0" rIns="0" bIns="0" rtlCol="0"/>
            <a:lstStyle/>
            <a:p/>
          </p:txBody>
        </p:sp>
        <p:pic>
          <p:nvPicPr>
            <p:cNvPr id="8" name="object 8" descr=""/>
            <p:cNvPicPr/>
            <p:nvPr/>
          </p:nvPicPr>
          <p:blipFill>
            <a:blip r:embed="rId3" cstate="print"/>
            <a:stretch>
              <a:fillRect/>
            </a:stretch>
          </p:blipFill>
          <p:spPr>
            <a:xfrm>
              <a:off x="651822" y="1295288"/>
              <a:ext cx="116993" cy="83566"/>
            </a:xfrm>
            <a:prstGeom prst="rect">
              <a:avLst/>
            </a:prstGeom>
          </p:spPr>
        </p:pic>
      </p:grpSp>
      <p:grpSp>
        <p:nvGrpSpPr>
          <p:cNvPr id="9" name="object 9" descr=""/>
          <p:cNvGrpSpPr/>
          <p:nvPr/>
        </p:nvGrpSpPr>
        <p:grpSpPr>
          <a:xfrm>
            <a:off x="334267" y="2306449"/>
            <a:ext cx="6485255" cy="1387475"/>
            <a:chOff x="334267" y="2306449"/>
            <a:chExt cx="6485255" cy="1387475"/>
          </a:xfrm>
        </p:grpSpPr>
        <p:sp>
          <p:nvSpPr>
            <p:cNvPr id="10" name="object 10" descr=""/>
            <p:cNvSpPr/>
            <p:nvPr/>
          </p:nvSpPr>
          <p:spPr>
            <a:xfrm>
              <a:off x="484688" y="2306449"/>
              <a:ext cx="33655" cy="250825"/>
            </a:xfrm>
            <a:custGeom>
              <a:avLst/>
              <a:gdLst/>
              <a:ahLst/>
              <a:cxnLst/>
              <a:rect l="l" t="t" r="r" b="b"/>
              <a:pathLst>
                <a:path w="33654" h="250825">
                  <a:moveTo>
                    <a:pt x="33426" y="250700"/>
                  </a:moveTo>
                  <a:lnTo>
                    <a:pt x="0" y="250700"/>
                  </a:lnTo>
                  <a:lnTo>
                    <a:pt x="0" y="0"/>
                  </a:lnTo>
                  <a:lnTo>
                    <a:pt x="33426" y="0"/>
                  </a:lnTo>
                  <a:lnTo>
                    <a:pt x="33426" y="250700"/>
                  </a:lnTo>
                  <a:close/>
                </a:path>
              </a:pathLst>
            </a:custGeom>
            <a:solidFill>
              <a:srgbClr val="66CCFF"/>
            </a:solidFill>
          </p:spPr>
          <p:txBody>
            <a:bodyPr wrap="square" lIns="0" tIns="0" rIns="0" bIns="0" rtlCol="0"/>
            <a:lstStyle/>
            <a:p/>
          </p:txBody>
        </p:sp>
        <p:sp>
          <p:nvSpPr>
            <p:cNvPr id="11" name="object 11" descr=""/>
            <p:cNvSpPr/>
            <p:nvPr/>
          </p:nvSpPr>
          <p:spPr>
            <a:xfrm>
              <a:off x="355159" y="2473583"/>
              <a:ext cx="6464300" cy="1220470"/>
            </a:xfrm>
            <a:custGeom>
              <a:avLst/>
              <a:gdLst/>
              <a:ahLst/>
              <a:cxnLst/>
              <a:rect l="l" t="t" r="r" b="b"/>
              <a:pathLst>
                <a:path w="6464300" h="1220470">
                  <a:moveTo>
                    <a:pt x="6401443" y="1220077"/>
                  </a:moveTo>
                  <a:lnTo>
                    <a:pt x="42943" y="1220077"/>
                  </a:lnTo>
                  <a:lnTo>
                    <a:pt x="39955" y="1219649"/>
                  </a:lnTo>
                  <a:lnTo>
                    <a:pt x="9422" y="1194016"/>
                  </a:lnTo>
                  <a:lnTo>
                    <a:pt x="0" y="1157614"/>
                  </a:lnTo>
                  <a:lnTo>
                    <a:pt x="0" y="1153224"/>
                  </a:lnTo>
                  <a:lnTo>
                    <a:pt x="0" y="62463"/>
                  </a:lnTo>
                  <a:lnTo>
                    <a:pt x="11327" y="22684"/>
                  </a:lnTo>
                  <a:lnTo>
                    <a:pt x="42943" y="0"/>
                  </a:lnTo>
                  <a:lnTo>
                    <a:pt x="6401443" y="0"/>
                  </a:lnTo>
                  <a:lnTo>
                    <a:pt x="6437844" y="13705"/>
                  </a:lnTo>
                  <a:lnTo>
                    <a:pt x="6460497" y="45324"/>
                  </a:lnTo>
                  <a:lnTo>
                    <a:pt x="6463907" y="62463"/>
                  </a:lnTo>
                  <a:lnTo>
                    <a:pt x="6463907" y="1157614"/>
                  </a:lnTo>
                  <a:lnTo>
                    <a:pt x="6450201" y="1194016"/>
                  </a:lnTo>
                  <a:lnTo>
                    <a:pt x="6418581" y="1216668"/>
                  </a:lnTo>
                  <a:lnTo>
                    <a:pt x="6405790" y="1219649"/>
                  </a:lnTo>
                  <a:lnTo>
                    <a:pt x="6401443" y="1220077"/>
                  </a:lnTo>
                  <a:close/>
                </a:path>
              </a:pathLst>
            </a:custGeom>
            <a:solidFill>
              <a:srgbClr val="FFFFFF"/>
            </a:solidFill>
          </p:spPr>
          <p:txBody>
            <a:bodyPr wrap="square" lIns="0" tIns="0" rIns="0" bIns="0" rtlCol="0"/>
            <a:lstStyle/>
            <a:p/>
          </p:txBody>
        </p:sp>
        <p:sp>
          <p:nvSpPr>
            <p:cNvPr id="12" name="object 12" descr=""/>
            <p:cNvSpPr/>
            <p:nvPr/>
          </p:nvSpPr>
          <p:spPr>
            <a:xfrm>
              <a:off x="334264" y="2473769"/>
              <a:ext cx="543560" cy="1219835"/>
            </a:xfrm>
            <a:custGeom>
              <a:avLst/>
              <a:gdLst/>
              <a:ahLst/>
              <a:cxnLst/>
              <a:rect l="l" t="t" r="r" b="b"/>
              <a:pathLst>
                <a:path w="543560" h="1219835">
                  <a:moveTo>
                    <a:pt x="63195" y="0"/>
                  </a:moveTo>
                  <a:lnTo>
                    <a:pt x="24460" y="14973"/>
                  </a:lnTo>
                  <a:lnTo>
                    <a:pt x="2857" y="47294"/>
                  </a:lnTo>
                  <a:lnTo>
                    <a:pt x="0" y="66675"/>
                  </a:lnTo>
                  <a:lnTo>
                    <a:pt x="0" y="1153045"/>
                  </a:lnTo>
                  <a:lnTo>
                    <a:pt x="11252" y="1190193"/>
                  </a:lnTo>
                  <a:lnTo>
                    <a:pt x="41262" y="1214805"/>
                  </a:lnTo>
                  <a:lnTo>
                    <a:pt x="63195" y="1219720"/>
                  </a:lnTo>
                  <a:lnTo>
                    <a:pt x="60325" y="1218196"/>
                  </a:lnTo>
                  <a:lnTo>
                    <a:pt x="54190" y="1211414"/>
                  </a:lnTo>
                  <a:lnTo>
                    <a:pt x="42849" y="1172425"/>
                  </a:lnTo>
                  <a:lnTo>
                    <a:pt x="41897" y="1159624"/>
                  </a:lnTo>
                  <a:lnTo>
                    <a:pt x="41897" y="60083"/>
                  </a:lnTo>
                  <a:lnTo>
                    <a:pt x="51473" y="13131"/>
                  </a:lnTo>
                  <a:lnTo>
                    <a:pt x="60325" y="1511"/>
                  </a:lnTo>
                  <a:lnTo>
                    <a:pt x="63195" y="0"/>
                  </a:lnTo>
                  <a:close/>
                </a:path>
                <a:path w="543560" h="1219835">
                  <a:moveTo>
                    <a:pt x="543179" y="334086"/>
                  </a:moveTo>
                  <a:lnTo>
                    <a:pt x="538175" y="293471"/>
                  </a:lnTo>
                  <a:lnTo>
                    <a:pt x="523455" y="255295"/>
                  </a:lnTo>
                  <a:lnTo>
                    <a:pt x="499897" y="221856"/>
                  </a:lnTo>
                  <a:lnTo>
                    <a:pt x="468909" y="195122"/>
                  </a:lnTo>
                  <a:lnTo>
                    <a:pt x="432346" y="176720"/>
                  </a:lnTo>
                  <a:lnTo>
                    <a:pt x="392430" y="167754"/>
                  </a:lnTo>
                  <a:lnTo>
                    <a:pt x="376047" y="166954"/>
                  </a:lnTo>
                  <a:lnTo>
                    <a:pt x="367842" y="167157"/>
                  </a:lnTo>
                  <a:lnTo>
                    <a:pt x="327533" y="174142"/>
                  </a:lnTo>
                  <a:lnTo>
                    <a:pt x="290131" y="190728"/>
                  </a:lnTo>
                  <a:lnTo>
                    <a:pt x="257873" y="215900"/>
                  </a:lnTo>
                  <a:lnTo>
                    <a:pt x="232689" y="248170"/>
                  </a:lnTo>
                  <a:lnTo>
                    <a:pt x="216115" y="285572"/>
                  </a:lnTo>
                  <a:lnTo>
                    <a:pt x="209118" y="325882"/>
                  </a:lnTo>
                  <a:lnTo>
                    <a:pt x="208915" y="334086"/>
                  </a:lnTo>
                  <a:lnTo>
                    <a:pt x="209118" y="342303"/>
                  </a:lnTo>
                  <a:lnTo>
                    <a:pt x="216115" y="382600"/>
                  </a:lnTo>
                  <a:lnTo>
                    <a:pt x="232689" y="420001"/>
                  </a:lnTo>
                  <a:lnTo>
                    <a:pt x="257873" y="452272"/>
                  </a:lnTo>
                  <a:lnTo>
                    <a:pt x="290131" y="477443"/>
                  </a:lnTo>
                  <a:lnTo>
                    <a:pt x="327533" y="494030"/>
                  </a:lnTo>
                  <a:lnTo>
                    <a:pt x="367842" y="501015"/>
                  </a:lnTo>
                  <a:lnTo>
                    <a:pt x="376047" y="501218"/>
                  </a:lnTo>
                  <a:lnTo>
                    <a:pt x="384263" y="501015"/>
                  </a:lnTo>
                  <a:lnTo>
                    <a:pt x="424561" y="494030"/>
                  </a:lnTo>
                  <a:lnTo>
                    <a:pt x="461962" y="477443"/>
                  </a:lnTo>
                  <a:lnTo>
                    <a:pt x="494233" y="452272"/>
                  </a:lnTo>
                  <a:lnTo>
                    <a:pt x="519404" y="420001"/>
                  </a:lnTo>
                  <a:lnTo>
                    <a:pt x="535990" y="382600"/>
                  </a:lnTo>
                  <a:lnTo>
                    <a:pt x="542988" y="342303"/>
                  </a:lnTo>
                  <a:lnTo>
                    <a:pt x="543179" y="334086"/>
                  </a:lnTo>
                  <a:close/>
                </a:path>
              </a:pathLst>
            </a:custGeom>
            <a:solidFill>
              <a:srgbClr val="003366"/>
            </a:solidFill>
          </p:spPr>
          <p:txBody>
            <a:bodyPr wrap="square" lIns="0" tIns="0" rIns="0" bIns="0" rtlCol="0"/>
            <a:lstStyle/>
            <a:p/>
          </p:txBody>
        </p:sp>
        <p:pic>
          <p:nvPicPr>
            <p:cNvPr id="13" name="object 13" descr=""/>
            <p:cNvPicPr/>
            <p:nvPr/>
          </p:nvPicPr>
          <p:blipFill>
            <a:blip r:embed="rId4" cstate="print"/>
            <a:stretch>
              <a:fillRect/>
            </a:stretch>
          </p:blipFill>
          <p:spPr>
            <a:xfrm>
              <a:off x="643465" y="2740997"/>
              <a:ext cx="133707" cy="133707"/>
            </a:xfrm>
            <a:prstGeom prst="rect">
              <a:avLst/>
            </a:prstGeom>
          </p:spPr>
        </p:pic>
      </p:grpSp>
      <p:grpSp>
        <p:nvGrpSpPr>
          <p:cNvPr id="14" name="object 14" descr=""/>
          <p:cNvGrpSpPr/>
          <p:nvPr/>
        </p:nvGrpSpPr>
        <p:grpSpPr>
          <a:xfrm>
            <a:off x="334267" y="3777228"/>
            <a:ext cx="6485255" cy="1387475"/>
            <a:chOff x="334267" y="3777228"/>
            <a:chExt cx="6485255" cy="1387475"/>
          </a:xfrm>
        </p:grpSpPr>
        <p:sp>
          <p:nvSpPr>
            <p:cNvPr id="15" name="object 15" descr=""/>
            <p:cNvSpPr/>
            <p:nvPr/>
          </p:nvSpPr>
          <p:spPr>
            <a:xfrm>
              <a:off x="484688" y="3777228"/>
              <a:ext cx="33655" cy="250825"/>
            </a:xfrm>
            <a:custGeom>
              <a:avLst/>
              <a:gdLst/>
              <a:ahLst/>
              <a:cxnLst/>
              <a:rect l="l" t="t" r="r" b="b"/>
              <a:pathLst>
                <a:path w="33654" h="250825">
                  <a:moveTo>
                    <a:pt x="33426" y="250700"/>
                  </a:moveTo>
                  <a:lnTo>
                    <a:pt x="0" y="250700"/>
                  </a:lnTo>
                  <a:lnTo>
                    <a:pt x="0" y="0"/>
                  </a:lnTo>
                  <a:lnTo>
                    <a:pt x="33426" y="0"/>
                  </a:lnTo>
                  <a:lnTo>
                    <a:pt x="33426" y="250700"/>
                  </a:lnTo>
                  <a:close/>
                </a:path>
              </a:pathLst>
            </a:custGeom>
            <a:solidFill>
              <a:srgbClr val="66CCFF"/>
            </a:solidFill>
          </p:spPr>
          <p:txBody>
            <a:bodyPr wrap="square" lIns="0" tIns="0" rIns="0" bIns="0" rtlCol="0"/>
            <a:lstStyle/>
            <a:p/>
          </p:txBody>
        </p:sp>
        <p:sp>
          <p:nvSpPr>
            <p:cNvPr id="16" name="object 16" descr=""/>
            <p:cNvSpPr/>
            <p:nvPr/>
          </p:nvSpPr>
          <p:spPr>
            <a:xfrm>
              <a:off x="355159" y="3944362"/>
              <a:ext cx="6464300" cy="1220470"/>
            </a:xfrm>
            <a:custGeom>
              <a:avLst/>
              <a:gdLst/>
              <a:ahLst/>
              <a:cxnLst/>
              <a:rect l="l" t="t" r="r" b="b"/>
              <a:pathLst>
                <a:path w="6464300" h="1220470">
                  <a:moveTo>
                    <a:pt x="6401443" y="1220077"/>
                  </a:moveTo>
                  <a:lnTo>
                    <a:pt x="42943" y="1220077"/>
                  </a:lnTo>
                  <a:lnTo>
                    <a:pt x="39955" y="1219649"/>
                  </a:lnTo>
                  <a:lnTo>
                    <a:pt x="9422" y="1194015"/>
                  </a:lnTo>
                  <a:lnTo>
                    <a:pt x="0" y="1157614"/>
                  </a:lnTo>
                  <a:lnTo>
                    <a:pt x="0" y="1153224"/>
                  </a:lnTo>
                  <a:lnTo>
                    <a:pt x="0" y="62463"/>
                  </a:lnTo>
                  <a:lnTo>
                    <a:pt x="11327" y="22684"/>
                  </a:lnTo>
                  <a:lnTo>
                    <a:pt x="42943" y="0"/>
                  </a:lnTo>
                  <a:lnTo>
                    <a:pt x="6401443" y="0"/>
                  </a:lnTo>
                  <a:lnTo>
                    <a:pt x="6437844" y="13705"/>
                  </a:lnTo>
                  <a:lnTo>
                    <a:pt x="6460497" y="45325"/>
                  </a:lnTo>
                  <a:lnTo>
                    <a:pt x="6463907" y="62463"/>
                  </a:lnTo>
                  <a:lnTo>
                    <a:pt x="6463907" y="1157614"/>
                  </a:lnTo>
                  <a:lnTo>
                    <a:pt x="6450201" y="1194015"/>
                  </a:lnTo>
                  <a:lnTo>
                    <a:pt x="6418581" y="1216667"/>
                  </a:lnTo>
                  <a:lnTo>
                    <a:pt x="6405790" y="1219649"/>
                  </a:lnTo>
                  <a:lnTo>
                    <a:pt x="6401443" y="1220077"/>
                  </a:lnTo>
                  <a:close/>
                </a:path>
              </a:pathLst>
            </a:custGeom>
            <a:solidFill>
              <a:srgbClr val="FFFFFF"/>
            </a:solidFill>
          </p:spPr>
          <p:txBody>
            <a:bodyPr wrap="square" lIns="0" tIns="0" rIns="0" bIns="0" rtlCol="0"/>
            <a:lstStyle/>
            <a:p/>
          </p:txBody>
        </p:sp>
        <p:sp>
          <p:nvSpPr>
            <p:cNvPr id="17" name="object 17" descr=""/>
            <p:cNvSpPr/>
            <p:nvPr/>
          </p:nvSpPr>
          <p:spPr>
            <a:xfrm>
              <a:off x="334264" y="3944543"/>
              <a:ext cx="543560" cy="1219835"/>
            </a:xfrm>
            <a:custGeom>
              <a:avLst/>
              <a:gdLst/>
              <a:ahLst/>
              <a:cxnLst/>
              <a:rect l="l" t="t" r="r" b="b"/>
              <a:pathLst>
                <a:path w="543560" h="1219835">
                  <a:moveTo>
                    <a:pt x="63195" y="0"/>
                  </a:moveTo>
                  <a:lnTo>
                    <a:pt x="24460" y="14973"/>
                  </a:lnTo>
                  <a:lnTo>
                    <a:pt x="2857" y="47294"/>
                  </a:lnTo>
                  <a:lnTo>
                    <a:pt x="0" y="66675"/>
                  </a:lnTo>
                  <a:lnTo>
                    <a:pt x="0" y="1153045"/>
                  </a:lnTo>
                  <a:lnTo>
                    <a:pt x="11252" y="1190193"/>
                  </a:lnTo>
                  <a:lnTo>
                    <a:pt x="41262" y="1214818"/>
                  </a:lnTo>
                  <a:lnTo>
                    <a:pt x="63195" y="1219720"/>
                  </a:lnTo>
                  <a:lnTo>
                    <a:pt x="60325" y="1218209"/>
                  </a:lnTo>
                  <a:lnTo>
                    <a:pt x="54190" y="1211414"/>
                  </a:lnTo>
                  <a:lnTo>
                    <a:pt x="42849" y="1172425"/>
                  </a:lnTo>
                  <a:lnTo>
                    <a:pt x="41897" y="1159637"/>
                  </a:lnTo>
                  <a:lnTo>
                    <a:pt x="41897" y="60096"/>
                  </a:lnTo>
                  <a:lnTo>
                    <a:pt x="51473" y="13131"/>
                  </a:lnTo>
                  <a:lnTo>
                    <a:pt x="60325" y="1524"/>
                  </a:lnTo>
                  <a:lnTo>
                    <a:pt x="63195" y="0"/>
                  </a:lnTo>
                  <a:close/>
                </a:path>
                <a:path w="543560" h="1219835">
                  <a:moveTo>
                    <a:pt x="543179" y="334098"/>
                  </a:moveTo>
                  <a:lnTo>
                    <a:pt x="538175" y="293471"/>
                  </a:lnTo>
                  <a:lnTo>
                    <a:pt x="523455" y="255308"/>
                  </a:lnTo>
                  <a:lnTo>
                    <a:pt x="499897" y="221856"/>
                  </a:lnTo>
                  <a:lnTo>
                    <a:pt x="468909" y="195122"/>
                  </a:lnTo>
                  <a:lnTo>
                    <a:pt x="432346" y="176720"/>
                  </a:lnTo>
                  <a:lnTo>
                    <a:pt x="392430" y="167767"/>
                  </a:lnTo>
                  <a:lnTo>
                    <a:pt x="376047" y="166954"/>
                  </a:lnTo>
                  <a:lnTo>
                    <a:pt x="367842" y="167157"/>
                  </a:lnTo>
                  <a:lnTo>
                    <a:pt x="327533" y="174155"/>
                  </a:lnTo>
                  <a:lnTo>
                    <a:pt x="290131" y="190728"/>
                  </a:lnTo>
                  <a:lnTo>
                    <a:pt x="257873" y="215912"/>
                  </a:lnTo>
                  <a:lnTo>
                    <a:pt x="232689" y="248170"/>
                  </a:lnTo>
                  <a:lnTo>
                    <a:pt x="216115" y="285572"/>
                  </a:lnTo>
                  <a:lnTo>
                    <a:pt x="209118" y="325882"/>
                  </a:lnTo>
                  <a:lnTo>
                    <a:pt x="208915" y="334098"/>
                  </a:lnTo>
                  <a:lnTo>
                    <a:pt x="209118" y="342303"/>
                  </a:lnTo>
                  <a:lnTo>
                    <a:pt x="216115" y="382612"/>
                  </a:lnTo>
                  <a:lnTo>
                    <a:pt x="232689" y="420001"/>
                  </a:lnTo>
                  <a:lnTo>
                    <a:pt x="257873" y="452272"/>
                  </a:lnTo>
                  <a:lnTo>
                    <a:pt x="290131" y="477456"/>
                  </a:lnTo>
                  <a:lnTo>
                    <a:pt x="327533" y="494030"/>
                  </a:lnTo>
                  <a:lnTo>
                    <a:pt x="367842" y="501027"/>
                  </a:lnTo>
                  <a:lnTo>
                    <a:pt x="376047" y="501230"/>
                  </a:lnTo>
                  <a:lnTo>
                    <a:pt x="384263" y="501027"/>
                  </a:lnTo>
                  <a:lnTo>
                    <a:pt x="424561" y="494030"/>
                  </a:lnTo>
                  <a:lnTo>
                    <a:pt x="461962" y="477456"/>
                  </a:lnTo>
                  <a:lnTo>
                    <a:pt x="494233" y="452272"/>
                  </a:lnTo>
                  <a:lnTo>
                    <a:pt x="519404" y="420001"/>
                  </a:lnTo>
                  <a:lnTo>
                    <a:pt x="535990" y="382612"/>
                  </a:lnTo>
                  <a:lnTo>
                    <a:pt x="542988" y="342303"/>
                  </a:lnTo>
                  <a:lnTo>
                    <a:pt x="543179" y="334098"/>
                  </a:lnTo>
                  <a:close/>
                </a:path>
              </a:pathLst>
            </a:custGeom>
            <a:solidFill>
              <a:srgbClr val="003366"/>
            </a:solidFill>
          </p:spPr>
          <p:txBody>
            <a:bodyPr wrap="square" lIns="0" tIns="0" rIns="0" bIns="0" rtlCol="0"/>
            <a:lstStyle/>
            <a:p/>
          </p:txBody>
        </p:sp>
        <p:pic>
          <p:nvPicPr>
            <p:cNvPr id="18" name="object 18" descr=""/>
            <p:cNvPicPr/>
            <p:nvPr/>
          </p:nvPicPr>
          <p:blipFill>
            <a:blip r:embed="rId5" cstate="print"/>
            <a:stretch>
              <a:fillRect/>
            </a:stretch>
          </p:blipFill>
          <p:spPr>
            <a:xfrm>
              <a:off x="660179" y="4211776"/>
              <a:ext cx="100280" cy="133707"/>
            </a:xfrm>
            <a:prstGeom prst="rect">
              <a:avLst/>
            </a:prstGeom>
          </p:spPr>
        </p:pic>
      </p:grpSp>
      <p:grpSp>
        <p:nvGrpSpPr>
          <p:cNvPr id="19" name="object 19" descr=""/>
          <p:cNvGrpSpPr/>
          <p:nvPr/>
        </p:nvGrpSpPr>
        <p:grpSpPr>
          <a:xfrm>
            <a:off x="334267" y="5248007"/>
            <a:ext cx="6485255" cy="1621790"/>
            <a:chOff x="334267" y="5248007"/>
            <a:chExt cx="6485255" cy="1621790"/>
          </a:xfrm>
        </p:grpSpPr>
        <p:sp>
          <p:nvSpPr>
            <p:cNvPr id="20" name="object 20" descr=""/>
            <p:cNvSpPr/>
            <p:nvPr/>
          </p:nvSpPr>
          <p:spPr>
            <a:xfrm>
              <a:off x="484688" y="5248007"/>
              <a:ext cx="33655" cy="250825"/>
            </a:xfrm>
            <a:custGeom>
              <a:avLst/>
              <a:gdLst/>
              <a:ahLst/>
              <a:cxnLst/>
              <a:rect l="l" t="t" r="r" b="b"/>
              <a:pathLst>
                <a:path w="33654" h="250825">
                  <a:moveTo>
                    <a:pt x="33426" y="250700"/>
                  </a:moveTo>
                  <a:lnTo>
                    <a:pt x="0" y="250700"/>
                  </a:lnTo>
                  <a:lnTo>
                    <a:pt x="0" y="0"/>
                  </a:lnTo>
                  <a:lnTo>
                    <a:pt x="33426" y="0"/>
                  </a:lnTo>
                  <a:lnTo>
                    <a:pt x="33426" y="250700"/>
                  </a:lnTo>
                  <a:close/>
                </a:path>
              </a:pathLst>
            </a:custGeom>
            <a:solidFill>
              <a:srgbClr val="66CCFF"/>
            </a:solidFill>
          </p:spPr>
          <p:txBody>
            <a:bodyPr wrap="square" lIns="0" tIns="0" rIns="0" bIns="0" rtlCol="0"/>
            <a:lstStyle/>
            <a:p/>
          </p:txBody>
        </p:sp>
        <p:sp>
          <p:nvSpPr>
            <p:cNvPr id="21" name="object 21" descr=""/>
            <p:cNvSpPr/>
            <p:nvPr/>
          </p:nvSpPr>
          <p:spPr>
            <a:xfrm>
              <a:off x="355159" y="5415141"/>
              <a:ext cx="6464300" cy="1454150"/>
            </a:xfrm>
            <a:custGeom>
              <a:avLst/>
              <a:gdLst/>
              <a:ahLst/>
              <a:cxnLst/>
              <a:rect l="l" t="t" r="r" b="b"/>
              <a:pathLst>
                <a:path w="6464300" h="1454150">
                  <a:moveTo>
                    <a:pt x="6401443" y="1454065"/>
                  </a:moveTo>
                  <a:lnTo>
                    <a:pt x="42943" y="1454065"/>
                  </a:lnTo>
                  <a:lnTo>
                    <a:pt x="39955" y="1453636"/>
                  </a:lnTo>
                  <a:lnTo>
                    <a:pt x="9422" y="1428003"/>
                  </a:lnTo>
                  <a:lnTo>
                    <a:pt x="0" y="1391601"/>
                  </a:lnTo>
                  <a:lnTo>
                    <a:pt x="0" y="1387212"/>
                  </a:lnTo>
                  <a:lnTo>
                    <a:pt x="0" y="62464"/>
                  </a:lnTo>
                  <a:lnTo>
                    <a:pt x="11327" y="22684"/>
                  </a:lnTo>
                  <a:lnTo>
                    <a:pt x="42943" y="0"/>
                  </a:lnTo>
                  <a:lnTo>
                    <a:pt x="6401443" y="0"/>
                  </a:lnTo>
                  <a:lnTo>
                    <a:pt x="6437844" y="13705"/>
                  </a:lnTo>
                  <a:lnTo>
                    <a:pt x="6460497" y="45324"/>
                  </a:lnTo>
                  <a:lnTo>
                    <a:pt x="6463907" y="62464"/>
                  </a:lnTo>
                  <a:lnTo>
                    <a:pt x="6463907" y="1391601"/>
                  </a:lnTo>
                  <a:lnTo>
                    <a:pt x="6450201" y="1428003"/>
                  </a:lnTo>
                  <a:lnTo>
                    <a:pt x="6418581" y="1450656"/>
                  </a:lnTo>
                  <a:lnTo>
                    <a:pt x="6405790" y="1453636"/>
                  </a:lnTo>
                  <a:lnTo>
                    <a:pt x="6401443" y="1454065"/>
                  </a:lnTo>
                  <a:close/>
                </a:path>
              </a:pathLst>
            </a:custGeom>
            <a:solidFill>
              <a:srgbClr val="FFFFFF"/>
            </a:solidFill>
          </p:spPr>
          <p:txBody>
            <a:bodyPr wrap="square" lIns="0" tIns="0" rIns="0" bIns="0" rtlCol="0"/>
            <a:lstStyle/>
            <a:p/>
          </p:txBody>
        </p:sp>
        <p:sp>
          <p:nvSpPr>
            <p:cNvPr id="22" name="object 22" descr=""/>
            <p:cNvSpPr/>
            <p:nvPr/>
          </p:nvSpPr>
          <p:spPr>
            <a:xfrm>
              <a:off x="334264" y="5415318"/>
              <a:ext cx="543560" cy="1454150"/>
            </a:xfrm>
            <a:custGeom>
              <a:avLst/>
              <a:gdLst/>
              <a:ahLst/>
              <a:cxnLst/>
              <a:rect l="l" t="t" r="r" b="b"/>
              <a:pathLst>
                <a:path w="543560" h="1454150">
                  <a:moveTo>
                    <a:pt x="63195" y="0"/>
                  </a:moveTo>
                  <a:lnTo>
                    <a:pt x="24460" y="14973"/>
                  </a:lnTo>
                  <a:lnTo>
                    <a:pt x="2857" y="47307"/>
                  </a:lnTo>
                  <a:lnTo>
                    <a:pt x="0" y="66687"/>
                  </a:lnTo>
                  <a:lnTo>
                    <a:pt x="0" y="1387043"/>
                  </a:lnTo>
                  <a:lnTo>
                    <a:pt x="11252" y="1424190"/>
                  </a:lnTo>
                  <a:lnTo>
                    <a:pt x="41262" y="1448803"/>
                  </a:lnTo>
                  <a:lnTo>
                    <a:pt x="63195" y="1453718"/>
                  </a:lnTo>
                  <a:lnTo>
                    <a:pt x="60325" y="1452194"/>
                  </a:lnTo>
                  <a:lnTo>
                    <a:pt x="54190" y="1445412"/>
                  </a:lnTo>
                  <a:lnTo>
                    <a:pt x="42849" y="1406423"/>
                  </a:lnTo>
                  <a:lnTo>
                    <a:pt x="41897" y="1393621"/>
                  </a:lnTo>
                  <a:lnTo>
                    <a:pt x="41897" y="60096"/>
                  </a:lnTo>
                  <a:lnTo>
                    <a:pt x="51473" y="13144"/>
                  </a:lnTo>
                  <a:lnTo>
                    <a:pt x="60325" y="1524"/>
                  </a:lnTo>
                  <a:lnTo>
                    <a:pt x="63195" y="0"/>
                  </a:lnTo>
                  <a:close/>
                </a:path>
                <a:path w="543560" h="1454150">
                  <a:moveTo>
                    <a:pt x="543179" y="334098"/>
                  </a:moveTo>
                  <a:lnTo>
                    <a:pt x="538175" y="293471"/>
                  </a:lnTo>
                  <a:lnTo>
                    <a:pt x="523455" y="255308"/>
                  </a:lnTo>
                  <a:lnTo>
                    <a:pt x="499897" y="221869"/>
                  </a:lnTo>
                  <a:lnTo>
                    <a:pt x="468909" y="195135"/>
                  </a:lnTo>
                  <a:lnTo>
                    <a:pt x="432346" y="176733"/>
                  </a:lnTo>
                  <a:lnTo>
                    <a:pt x="392430" y="167767"/>
                  </a:lnTo>
                  <a:lnTo>
                    <a:pt x="376047" y="166966"/>
                  </a:lnTo>
                  <a:lnTo>
                    <a:pt x="367842" y="167170"/>
                  </a:lnTo>
                  <a:lnTo>
                    <a:pt x="327533" y="174155"/>
                  </a:lnTo>
                  <a:lnTo>
                    <a:pt x="290131" y="190741"/>
                  </a:lnTo>
                  <a:lnTo>
                    <a:pt x="257873" y="215912"/>
                  </a:lnTo>
                  <a:lnTo>
                    <a:pt x="232689" y="248183"/>
                  </a:lnTo>
                  <a:lnTo>
                    <a:pt x="216115" y="285584"/>
                  </a:lnTo>
                  <a:lnTo>
                    <a:pt x="209118" y="325882"/>
                  </a:lnTo>
                  <a:lnTo>
                    <a:pt x="208915" y="334098"/>
                  </a:lnTo>
                  <a:lnTo>
                    <a:pt x="209118" y="342303"/>
                  </a:lnTo>
                  <a:lnTo>
                    <a:pt x="216115" y="382612"/>
                  </a:lnTo>
                  <a:lnTo>
                    <a:pt x="232689" y="420014"/>
                  </a:lnTo>
                  <a:lnTo>
                    <a:pt x="257873" y="452285"/>
                  </a:lnTo>
                  <a:lnTo>
                    <a:pt x="290131" y="477456"/>
                  </a:lnTo>
                  <a:lnTo>
                    <a:pt x="327533" y="494030"/>
                  </a:lnTo>
                  <a:lnTo>
                    <a:pt x="367842" y="501027"/>
                  </a:lnTo>
                  <a:lnTo>
                    <a:pt x="376047" y="501230"/>
                  </a:lnTo>
                  <a:lnTo>
                    <a:pt x="384263" y="501027"/>
                  </a:lnTo>
                  <a:lnTo>
                    <a:pt x="424561" y="494030"/>
                  </a:lnTo>
                  <a:lnTo>
                    <a:pt x="461962" y="477456"/>
                  </a:lnTo>
                  <a:lnTo>
                    <a:pt x="494233" y="452285"/>
                  </a:lnTo>
                  <a:lnTo>
                    <a:pt x="519404" y="420014"/>
                  </a:lnTo>
                  <a:lnTo>
                    <a:pt x="535990" y="382612"/>
                  </a:lnTo>
                  <a:lnTo>
                    <a:pt x="542988" y="342303"/>
                  </a:lnTo>
                  <a:lnTo>
                    <a:pt x="543179" y="334098"/>
                  </a:lnTo>
                  <a:close/>
                </a:path>
              </a:pathLst>
            </a:custGeom>
            <a:solidFill>
              <a:srgbClr val="003366"/>
            </a:solidFill>
          </p:spPr>
          <p:txBody>
            <a:bodyPr wrap="square" lIns="0" tIns="0" rIns="0" bIns="0" rtlCol="0"/>
            <a:lstStyle/>
            <a:p/>
          </p:txBody>
        </p:sp>
        <p:pic>
          <p:nvPicPr>
            <p:cNvPr id="23" name="object 23" descr=""/>
            <p:cNvPicPr/>
            <p:nvPr/>
          </p:nvPicPr>
          <p:blipFill>
            <a:blip r:embed="rId6" cstate="print"/>
            <a:stretch>
              <a:fillRect/>
            </a:stretch>
          </p:blipFill>
          <p:spPr>
            <a:xfrm>
              <a:off x="643465" y="5682555"/>
              <a:ext cx="133707" cy="133707"/>
            </a:xfrm>
            <a:prstGeom prst="rect">
              <a:avLst/>
            </a:prstGeom>
          </p:spPr>
        </p:pic>
      </p:grpSp>
      <p:sp>
        <p:nvSpPr>
          <p:cNvPr id="24" name="object 24" descr=""/>
          <p:cNvSpPr txBox="1"/>
          <p:nvPr/>
        </p:nvSpPr>
        <p:spPr>
          <a:xfrm>
            <a:off x="990104" y="1164419"/>
            <a:ext cx="5661025" cy="867410"/>
          </a:xfrm>
          <a:prstGeom prst="rect">
            <a:avLst/>
          </a:prstGeom>
        </p:spPr>
        <p:txBody>
          <a:bodyPr wrap="square" lIns="0" tIns="17145" rIns="0" bIns="0" rtlCol="0" vert="horz">
            <a:spAutoFit/>
          </a:bodyPr>
          <a:lstStyle/>
          <a:p>
            <a:pPr marL="12700">
              <a:lnSpc>
                <a:spcPct val="100000"/>
              </a:lnSpc>
              <a:spcBef>
                <a:spcPts val="135"/>
              </a:spcBef>
            </a:pPr>
            <a:r>
              <a:rPr dirty="0" sz="1750" spc="-175">
                <a:solidFill>
                  <a:srgbClr val="1D3A8A"/>
                </a:solidFill>
                <a:latin typeface="PMingLiU"/>
                <a:cs typeface="PMingLiU"/>
              </a:rPr>
              <a:t>通常</a:t>
            </a:r>
            <a:r>
              <a:rPr dirty="0" sz="1600">
                <a:solidFill>
                  <a:srgbClr val="1D3A8A"/>
                </a:solidFill>
                <a:latin typeface="PMingLiU"/>
                <a:cs typeface="PMingLiU"/>
              </a:rPr>
              <a:t>の</a:t>
            </a:r>
            <a:r>
              <a:rPr dirty="0" sz="1550" spc="85" b="1">
                <a:solidFill>
                  <a:srgbClr val="1D3A8A"/>
                </a:solidFill>
                <a:latin typeface="Yu Gothic"/>
                <a:cs typeface="Yu Gothic"/>
              </a:rPr>
              <a:t>MOSFET</a:t>
            </a:r>
            <a:r>
              <a:rPr dirty="0" sz="1600">
                <a:solidFill>
                  <a:srgbClr val="1D3A8A"/>
                </a:solidFill>
                <a:latin typeface="PMingLiU"/>
                <a:cs typeface="PMingLiU"/>
              </a:rPr>
              <a:t>の</a:t>
            </a:r>
            <a:r>
              <a:rPr dirty="0" sz="1750" spc="-175">
                <a:solidFill>
                  <a:srgbClr val="1D3A8A"/>
                </a:solidFill>
                <a:latin typeface="SimSun"/>
                <a:cs typeface="SimSun"/>
              </a:rPr>
              <a:t>特性</a:t>
            </a:r>
            <a:r>
              <a:rPr dirty="0" sz="1700" spc="-145">
                <a:solidFill>
                  <a:srgbClr val="1D3A8A"/>
                </a:solidFill>
                <a:latin typeface="PMingLiU"/>
                <a:cs typeface="PMingLiU"/>
              </a:rPr>
              <a:t>確</a:t>
            </a:r>
            <a:r>
              <a:rPr dirty="0" sz="1750" spc="-50">
                <a:solidFill>
                  <a:srgbClr val="1D3A8A"/>
                </a:solidFill>
                <a:latin typeface="SimSun"/>
                <a:cs typeface="SimSun"/>
              </a:rPr>
              <a:t>認</a:t>
            </a:r>
            <a:endParaRPr sz="1750">
              <a:latin typeface="SimSun"/>
              <a:cs typeface="SimSun"/>
            </a:endParaRPr>
          </a:p>
          <a:p>
            <a:pPr marL="20955" marR="5080">
              <a:lnSpc>
                <a:spcPct val="133500"/>
              </a:lnSpc>
              <a:spcBef>
                <a:spcPts val="800"/>
              </a:spcBef>
            </a:pPr>
            <a:r>
              <a:rPr dirty="0" sz="1150" spc="125">
                <a:solidFill>
                  <a:srgbClr val="374050"/>
                </a:solidFill>
                <a:latin typeface="Segoe UI Symbol"/>
                <a:cs typeface="Segoe UI Symbol"/>
              </a:rPr>
              <a:t>3</a:t>
            </a:r>
            <a:r>
              <a:rPr dirty="0" sz="1150">
                <a:solidFill>
                  <a:srgbClr val="374050"/>
                </a:solidFill>
                <a:latin typeface="PMingLiU"/>
                <a:cs typeface="PMingLiU"/>
              </a:rPr>
              <a:t>次元</a:t>
            </a:r>
            <a:r>
              <a:rPr dirty="0" sz="1150" spc="90">
                <a:solidFill>
                  <a:srgbClr val="374050"/>
                </a:solidFill>
                <a:latin typeface="Segoe UI Symbol"/>
                <a:cs typeface="Segoe UI Symbol"/>
              </a:rPr>
              <a:t>PNBT</a:t>
            </a:r>
            <a:r>
              <a:rPr dirty="0" sz="1150">
                <a:solidFill>
                  <a:srgbClr val="374050"/>
                </a:solidFill>
                <a:latin typeface="PMingLiU"/>
                <a:cs typeface="PMingLiU"/>
              </a:rPr>
              <a:t>の特性計算の前に、通常の</a:t>
            </a:r>
            <a:r>
              <a:rPr dirty="0" sz="1150" spc="90">
                <a:solidFill>
                  <a:srgbClr val="374050"/>
                </a:solidFill>
                <a:latin typeface="Segoe UI Symbol"/>
                <a:cs typeface="Segoe UI Symbol"/>
              </a:rPr>
              <a:t>MOSFET</a:t>
            </a:r>
            <a:r>
              <a:rPr dirty="0" sz="1150">
                <a:solidFill>
                  <a:srgbClr val="374050"/>
                </a:solidFill>
                <a:latin typeface="PMingLiU"/>
                <a:cs typeface="PMingLiU"/>
              </a:rPr>
              <a:t>の特性が計算できることを確認しま</a:t>
            </a:r>
            <a:r>
              <a:rPr dirty="0" sz="1150" spc="-5">
                <a:solidFill>
                  <a:srgbClr val="374050"/>
                </a:solidFill>
                <a:latin typeface="PMingLiU"/>
                <a:cs typeface="PMingLiU"/>
              </a:rPr>
              <a:t>す。これにより、シミュレーションの基盤となる計算精度を検証します。</a:t>
            </a:r>
            <a:endParaRPr sz="1150">
              <a:latin typeface="PMingLiU"/>
              <a:cs typeface="PMingLiU"/>
            </a:endParaRPr>
          </a:p>
        </p:txBody>
      </p:sp>
      <p:sp>
        <p:nvSpPr>
          <p:cNvPr id="25" name="object 25" descr=""/>
          <p:cNvSpPr txBox="1"/>
          <p:nvPr/>
        </p:nvSpPr>
        <p:spPr>
          <a:xfrm>
            <a:off x="990104" y="2635198"/>
            <a:ext cx="2413000" cy="297815"/>
          </a:xfrm>
          <a:prstGeom prst="rect">
            <a:avLst/>
          </a:prstGeom>
        </p:spPr>
        <p:txBody>
          <a:bodyPr wrap="square" lIns="0" tIns="17145" rIns="0" bIns="0" rtlCol="0" vert="horz">
            <a:spAutoFit/>
          </a:bodyPr>
          <a:lstStyle/>
          <a:p>
            <a:pPr marL="12700">
              <a:lnSpc>
                <a:spcPct val="100000"/>
              </a:lnSpc>
              <a:spcBef>
                <a:spcPts val="135"/>
              </a:spcBef>
            </a:pPr>
            <a:r>
              <a:rPr dirty="0" sz="1550" spc="200" b="1">
                <a:solidFill>
                  <a:srgbClr val="1D3A8A"/>
                </a:solidFill>
                <a:latin typeface="Yu Gothic"/>
                <a:cs typeface="Yu Gothic"/>
              </a:rPr>
              <a:t>3</a:t>
            </a:r>
            <a:r>
              <a:rPr dirty="0" sz="1700" spc="-145">
                <a:solidFill>
                  <a:srgbClr val="1D3A8A"/>
                </a:solidFill>
                <a:latin typeface="SimSun"/>
                <a:cs typeface="SimSun"/>
              </a:rPr>
              <a:t>次</a:t>
            </a:r>
            <a:r>
              <a:rPr dirty="0" sz="1700" spc="-145">
                <a:solidFill>
                  <a:srgbClr val="1D3A8A"/>
                </a:solidFill>
                <a:latin typeface="PMingLiU"/>
                <a:cs typeface="PMingLiU"/>
              </a:rPr>
              <a:t>元</a:t>
            </a:r>
            <a:r>
              <a:rPr dirty="0" sz="1600">
                <a:solidFill>
                  <a:srgbClr val="1D3A8A"/>
                </a:solidFill>
                <a:latin typeface="PMingLiU"/>
                <a:cs typeface="PMingLiU"/>
              </a:rPr>
              <a:t>デバイス</a:t>
            </a:r>
            <a:r>
              <a:rPr dirty="0" sz="1750" spc="-175">
                <a:solidFill>
                  <a:srgbClr val="1D3A8A"/>
                </a:solidFill>
                <a:latin typeface="SimSun"/>
                <a:cs typeface="SimSun"/>
              </a:rPr>
              <a:t>構</a:t>
            </a:r>
            <a:r>
              <a:rPr dirty="0" sz="1750" spc="-175">
                <a:solidFill>
                  <a:srgbClr val="1D3A8A"/>
                </a:solidFill>
                <a:latin typeface="PMingLiU"/>
                <a:cs typeface="PMingLiU"/>
              </a:rPr>
              <a:t>造</a:t>
            </a:r>
            <a:r>
              <a:rPr dirty="0" sz="1600">
                <a:solidFill>
                  <a:srgbClr val="1D3A8A"/>
                </a:solidFill>
                <a:latin typeface="PMingLiU"/>
                <a:cs typeface="PMingLiU"/>
              </a:rPr>
              <a:t>の</a:t>
            </a:r>
            <a:r>
              <a:rPr dirty="0" sz="1750" spc="-114">
                <a:solidFill>
                  <a:srgbClr val="1D3A8A"/>
                </a:solidFill>
                <a:latin typeface="SimSun"/>
                <a:cs typeface="SimSun"/>
              </a:rPr>
              <a:t>設計</a:t>
            </a:r>
            <a:endParaRPr sz="1750">
              <a:latin typeface="SimSun"/>
              <a:cs typeface="SimSun"/>
            </a:endParaRPr>
          </a:p>
        </p:txBody>
      </p:sp>
      <p:sp>
        <p:nvSpPr>
          <p:cNvPr id="26" name="object 26" descr=""/>
          <p:cNvSpPr txBox="1"/>
          <p:nvPr/>
        </p:nvSpPr>
        <p:spPr>
          <a:xfrm>
            <a:off x="998460" y="3009082"/>
            <a:ext cx="5635625" cy="493395"/>
          </a:xfrm>
          <a:prstGeom prst="rect">
            <a:avLst/>
          </a:prstGeom>
        </p:spPr>
        <p:txBody>
          <a:bodyPr wrap="square" lIns="0" tIns="11430" rIns="0" bIns="0" rtlCol="0" vert="horz">
            <a:spAutoFit/>
          </a:bodyPr>
          <a:lstStyle/>
          <a:p>
            <a:pPr marL="12700" marR="5080">
              <a:lnSpc>
                <a:spcPct val="133500"/>
              </a:lnSpc>
              <a:spcBef>
                <a:spcPts val="90"/>
              </a:spcBef>
            </a:pPr>
            <a:r>
              <a:rPr dirty="0" sz="1150" spc="125">
                <a:solidFill>
                  <a:srgbClr val="374050"/>
                </a:solidFill>
                <a:latin typeface="Segoe UI Symbol"/>
                <a:cs typeface="Segoe UI Symbol"/>
              </a:rPr>
              <a:t>2</a:t>
            </a:r>
            <a:r>
              <a:rPr dirty="0" sz="1150">
                <a:solidFill>
                  <a:srgbClr val="374050"/>
                </a:solidFill>
                <a:latin typeface="PMingLiU"/>
                <a:cs typeface="PMingLiU"/>
              </a:rPr>
              <a:t>次元構造での電流の立ち上がり桁数が最大になる条件をもとに、</a:t>
            </a:r>
            <a:r>
              <a:rPr dirty="0" sz="1150" spc="125">
                <a:solidFill>
                  <a:srgbClr val="374050"/>
                </a:solidFill>
                <a:latin typeface="Segoe UI Symbol"/>
                <a:cs typeface="Segoe UI Symbol"/>
              </a:rPr>
              <a:t>3</a:t>
            </a:r>
            <a:r>
              <a:rPr dirty="0" sz="1150" spc="25">
                <a:solidFill>
                  <a:srgbClr val="374050"/>
                </a:solidFill>
                <a:latin typeface="PMingLiU"/>
                <a:cs typeface="PMingLiU"/>
              </a:rPr>
              <a:t>次元デバイスの</a:t>
            </a:r>
            <a:r>
              <a:rPr dirty="0" sz="1150" spc="5">
                <a:solidFill>
                  <a:srgbClr val="374050"/>
                </a:solidFill>
                <a:latin typeface="PMingLiU"/>
                <a:cs typeface="PMingLiU"/>
              </a:rPr>
              <a:t>構造パラメータを設定します。これにより最適な</a:t>
            </a:r>
            <a:r>
              <a:rPr dirty="0" sz="1150" spc="125">
                <a:solidFill>
                  <a:srgbClr val="374050"/>
                </a:solidFill>
                <a:latin typeface="Segoe UI Symbol"/>
                <a:cs typeface="Segoe UI Symbol"/>
              </a:rPr>
              <a:t>3</a:t>
            </a:r>
            <a:r>
              <a:rPr dirty="0" sz="1150" spc="15">
                <a:solidFill>
                  <a:srgbClr val="374050"/>
                </a:solidFill>
                <a:latin typeface="PMingLiU"/>
                <a:cs typeface="PMingLiU"/>
              </a:rPr>
              <a:t>次元構造を設計します。</a:t>
            </a:r>
            <a:endParaRPr sz="1150">
              <a:latin typeface="PMingLiU"/>
              <a:cs typeface="PMingLiU"/>
            </a:endParaRPr>
          </a:p>
        </p:txBody>
      </p:sp>
      <p:sp>
        <p:nvSpPr>
          <p:cNvPr id="27" name="object 27" descr=""/>
          <p:cNvSpPr txBox="1"/>
          <p:nvPr/>
        </p:nvSpPr>
        <p:spPr>
          <a:xfrm>
            <a:off x="990104" y="4105977"/>
            <a:ext cx="5548630" cy="867410"/>
          </a:xfrm>
          <a:prstGeom prst="rect">
            <a:avLst/>
          </a:prstGeom>
        </p:spPr>
        <p:txBody>
          <a:bodyPr wrap="square" lIns="0" tIns="17145" rIns="0" bIns="0" rtlCol="0" vert="horz">
            <a:spAutoFit/>
          </a:bodyPr>
          <a:lstStyle/>
          <a:p>
            <a:pPr marL="12700">
              <a:lnSpc>
                <a:spcPct val="100000"/>
              </a:lnSpc>
              <a:spcBef>
                <a:spcPts val="135"/>
              </a:spcBef>
            </a:pPr>
            <a:r>
              <a:rPr dirty="0" sz="1550" spc="200" b="1">
                <a:solidFill>
                  <a:srgbClr val="1D3A8A"/>
                </a:solidFill>
                <a:latin typeface="Yu Gothic"/>
                <a:cs typeface="Yu Gothic"/>
              </a:rPr>
              <a:t>3</a:t>
            </a:r>
            <a:r>
              <a:rPr dirty="0" sz="1700" spc="-145">
                <a:solidFill>
                  <a:srgbClr val="1D3A8A"/>
                </a:solidFill>
                <a:latin typeface="SimSun"/>
                <a:cs typeface="SimSun"/>
              </a:rPr>
              <a:t>次</a:t>
            </a:r>
            <a:r>
              <a:rPr dirty="0" sz="1700" spc="-145">
                <a:solidFill>
                  <a:srgbClr val="1D3A8A"/>
                </a:solidFill>
                <a:latin typeface="PMingLiU"/>
                <a:cs typeface="PMingLiU"/>
              </a:rPr>
              <a:t>元</a:t>
            </a:r>
            <a:r>
              <a:rPr dirty="0" sz="1750" spc="-175">
                <a:solidFill>
                  <a:srgbClr val="1D3A8A"/>
                </a:solidFill>
                <a:latin typeface="SimSun"/>
                <a:cs typeface="SimSun"/>
              </a:rPr>
              <a:t>構</a:t>
            </a:r>
            <a:r>
              <a:rPr dirty="0" sz="1750" spc="-175">
                <a:solidFill>
                  <a:srgbClr val="1D3A8A"/>
                </a:solidFill>
                <a:latin typeface="PMingLiU"/>
                <a:cs typeface="PMingLiU"/>
              </a:rPr>
              <a:t>造</a:t>
            </a:r>
            <a:r>
              <a:rPr dirty="0" sz="1600">
                <a:solidFill>
                  <a:srgbClr val="1D3A8A"/>
                </a:solidFill>
                <a:latin typeface="PMingLiU"/>
                <a:cs typeface="PMingLiU"/>
              </a:rPr>
              <a:t>の</a:t>
            </a:r>
            <a:r>
              <a:rPr dirty="0" sz="1750" spc="-145">
                <a:solidFill>
                  <a:srgbClr val="1D3A8A"/>
                </a:solidFill>
                <a:latin typeface="SimSun"/>
                <a:cs typeface="SimSun"/>
              </a:rPr>
              <a:t>特性計算</a:t>
            </a:r>
            <a:endParaRPr sz="1750">
              <a:latin typeface="SimSun"/>
              <a:cs typeface="SimSun"/>
            </a:endParaRPr>
          </a:p>
          <a:p>
            <a:pPr marL="20955" marR="5080">
              <a:lnSpc>
                <a:spcPct val="133500"/>
              </a:lnSpc>
              <a:spcBef>
                <a:spcPts val="800"/>
              </a:spcBef>
            </a:pPr>
            <a:r>
              <a:rPr dirty="0" sz="1150" spc="15">
                <a:solidFill>
                  <a:srgbClr val="374050"/>
                </a:solidFill>
                <a:latin typeface="PMingLiU"/>
                <a:cs typeface="PMingLiU"/>
              </a:rPr>
              <a:t>設計した</a:t>
            </a:r>
            <a:r>
              <a:rPr dirty="0" sz="1150" spc="125">
                <a:solidFill>
                  <a:srgbClr val="374050"/>
                </a:solidFill>
                <a:latin typeface="Segoe UI Symbol"/>
                <a:cs typeface="Segoe UI Symbol"/>
              </a:rPr>
              <a:t>3</a:t>
            </a:r>
            <a:r>
              <a:rPr dirty="0" sz="1150">
                <a:solidFill>
                  <a:srgbClr val="374050"/>
                </a:solidFill>
                <a:latin typeface="PMingLiU"/>
                <a:cs typeface="PMingLiU"/>
              </a:rPr>
              <a:t>次元構造に基づいて電気的特性の計算を行い、動作原理の検証と特性の最適化を進めます。実用的なデバイス設計への応用を目指します。</a:t>
            </a:r>
            <a:endParaRPr sz="1150">
              <a:latin typeface="PMingLiU"/>
              <a:cs typeface="PMingLiU"/>
            </a:endParaRPr>
          </a:p>
        </p:txBody>
      </p:sp>
      <p:sp>
        <p:nvSpPr>
          <p:cNvPr id="28" name="object 28" descr=""/>
          <p:cNvSpPr txBox="1"/>
          <p:nvPr/>
        </p:nvSpPr>
        <p:spPr>
          <a:xfrm>
            <a:off x="990104" y="5574994"/>
            <a:ext cx="5603240" cy="1103630"/>
          </a:xfrm>
          <a:prstGeom prst="rect">
            <a:avLst/>
          </a:prstGeom>
        </p:spPr>
        <p:txBody>
          <a:bodyPr wrap="square" lIns="0" tIns="12700" rIns="0" bIns="0" rtlCol="0" vert="horz">
            <a:spAutoFit/>
          </a:bodyPr>
          <a:lstStyle/>
          <a:p>
            <a:pPr marL="12700">
              <a:lnSpc>
                <a:spcPct val="100000"/>
              </a:lnSpc>
              <a:spcBef>
                <a:spcPts val="100"/>
              </a:spcBef>
            </a:pPr>
            <a:r>
              <a:rPr dirty="0" sz="1600">
                <a:solidFill>
                  <a:srgbClr val="1D3A8A"/>
                </a:solidFill>
                <a:latin typeface="PMingLiU"/>
                <a:cs typeface="PMingLiU"/>
              </a:rPr>
              <a:t>メッシュ</a:t>
            </a:r>
            <a:r>
              <a:rPr dirty="0" sz="1650" spc="-90">
                <a:solidFill>
                  <a:srgbClr val="1D3A8A"/>
                </a:solidFill>
                <a:latin typeface="PMingLiU"/>
                <a:cs typeface="PMingLiU"/>
              </a:rPr>
              <a:t>粗</a:t>
            </a:r>
            <a:r>
              <a:rPr dirty="0" sz="1600">
                <a:solidFill>
                  <a:srgbClr val="1D3A8A"/>
                </a:solidFill>
                <a:latin typeface="PMingLiU"/>
                <a:cs typeface="PMingLiU"/>
              </a:rPr>
              <a:t>さの</a:t>
            </a:r>
            <a:r>
              <a:rPr dirty="0" sz="1750" spc="-175">
                <a:solidFill>
                  <a:srgbClr val="1D3A8A"/>
                </a:solidFill>
                <a:latin typeface="SimSun"/>
                <a:cs typeface="SimSun"/>
              </a:rPr>
              <a:t>影</a:t>
            </a:r>
            <a:r>
              <a:rPr dirty="0" sz="1800" spc="-240">
                <a:solidFill>
                  <a:srgbClr val="1D3A8A"/>
                </a:solidFill>
                <a:latin typeface="SimSun"/>
                <a:cs typeface="SimSun"/>
              </a:rPr>
              <a:t>響</a:t>
            </a:r>
            <a:r>
              <a:rPr dirty="0" sz="1750" spc="-114">
                <a:solidFill>
                  <a:srgbClr val="1D3A8A"/>
                </a:solidFill>
                <a:latin typeface="SimSun"/>
                <a:cs typeface="SimSun"/>
              </a:rPr>
              <a:t>検証</a:t>
            </a:r>
            <a:endParaRPr sz="1750">
              <a:latin typeface="SimSun"/>
              <a:cs typeface="SimSun"/>
            </a:endParaRPr>
          </a:p>
          <a:p>
            <a:pPr marL="20955" marR="5080">
              <a:lnSpc>
                <a:spcPct val="133500"/>
              </a:lnSpc>
              <a:spcBef>
                <a:spcPts val="790"/>
              </a:spcBef>
            </a:pPr>
            <a:r>
              <a:rPr dirty="0" sz="1150" spc="125">
                <a:solidFill>
                  <a:srgbClr val="374050"/>
                </a:solidFill>
                <a:latin typeface="Segoe UI Symbol"/>
                <a:cs typeface="Segoe UI Symbol"/>
              </a:rPr>
              <a:t>2</a:t>
            </a:r>
            <a:r>
              <a:rPr dirty="0" sz="1150" spc="5">
                <a:solidFill>
                  <a:srgbClr val="374050"/>
                </a:solidFill>
                <a:latin typeface="PMingLiU"/>
                <a:cs typeface="PMingLiU"/>
              </a:rPr>
              <a:t>次元構造デバイスのメッシュの粗さを変えた場合に、計算結果がどのように変化</a:t>
            </a:r>
            <a:r>
              <a:rPr dirty="0" sz="1150">
                <a:solidFill>
                  <a:srgbClr val="374050"/>
                </a:solidFill>
                <a:latin typeface="PMingLiU"/>
                <a:cs typeface="PMingLiU"/>
              </a:rPr>
              <a:t>するかを検証します。シミュレーション精度と計算効率の最適なバランスを見出し</a:t>
            </a:r>
            <a:r>
              <a:rPr dirty="0" sz="1150" spc="20">
                <a:solidFill>
                  <a:srgbClr val="374050"/>
                </a:solidFill>
                <a:latin typeface="PMingLiU"/>
                <a:cs typeface="PMingLiU"/>
              </a:rPr>
              <a:t>ます。</a:t>
            </a:r>
            <a:endParaRPr sz="1150">
              <a:latin typeface="PMingLiU"/>
              <a:cs typeface="PMingLiU"/>
            </a:endParaRPr>
          </a:p>
        </p:txBody>
      </p:sp>
      <p:grpSp>
        <p:nvGrpSpPr>
          <p:cNvPr id="29" name="object 29" descr=""/>
          <p:cNvGrpSpPr/>
          <p:nvPr/>
        </p:nvGrpSpPr>
        <p:grpSpPr>
          <a:xfrm>
            <a:off x="7153334" y="1002803"/>
            <a:ext cx="3209290" cy="1805305"/>
            <a:chOff x="7153334" y="1002803"/>
            <a:chExt cx="3209290" cy="1805305"/>
          </a:xfrm>
        </p:grpSpPr>
        <p:sp>
          <p:nvSpPr>
            <p:cNvPr id="30" name="object 30" descr=""/>
            <p:cNvSpPr/>
            <p:nvPr/>
          </p:nvSpPr>
          <p:spPr>
            <a:xfrm>
              <a:off x="7153334" y="1002803"/>
              <a:ext cx="3209290" cy="1805305"/>
            </a:xfrm>
            <a:custGeom>
              <a:avLst/>
              <a:gdLst/>
              <a:ahLst/>
              <a:cxnLst/>
              <a:rect l="l" t="t" r="r" b="b"/>
              <a:pathLst>
                <a:path w="3209290" h="1805305">
                  <a:moveTo>
                    <a:pt x="3146509" y="1805046"/>
                  </a:moveTo>
                  <a:lnTo>
                    <a:pt x="62464" y="1805046"/>
                  </a:lnTo>
                  <a:lnTo>
                    <a:pt x="58116" y="1804618"/>
                  </a:lnTo>
                  <a:lnTo>
                    <a:pt x="22685" y="1788569"/>
                  </a:lnTo>
                  <a:lnTo>
                    <a:pt x="2140" y="1755540"/>
                  </a:lnTo>
                  <a:lnTo>
                    <a:pt x="0" y="1742583"/>
                  </a:lnTo>
                  <a:lnTo>
                    <a:pt x="0" y="1738193"/>
                  </a:lnTo>
                  <a:lnTo>
                    <a:pt x="0" y="62463"/>
                  </a:lnTo>
                  <a:lnTo>
                    <a:pt x="13705" y="26061"/>
                  </a:lnTo>
                  <a:lnTo>
                    <a:pt x="45325" y="3408"/>
                  </a:lnTo>
                  <a:lnTo>
                    <a:pt x="62464" y="0"/>
                  </a:lnTo>
                  <a:lnTo>
                    <a:pt x="3146509" y="0"/>
                  </a:lnTo>
                  <a:lnTo>
                    <a:pt x="3182911" y="13705"/>
                  </a:lnTo>
                  <a:lnTo>
                    <a:pt x="3205564" y="45325"/>
                  </a:lnTo>
                  <a:lnTo>
                    <a:pt x="3208973" y="62463"/>
                  </a:lnTo>
                  <a:lnTo>
                    <a:pt x="3208973" y="1742583"/>
                  </a:lnTo>
                  <a:lnTo>
                    <a:pt x="3195267" y="1778984"/>
                  </a:lnTo>
                  <a:lnTo>
                    <a:pt x="3163647" y="1801637"/>
                  </a:lnTo>
                  <a:lnTo>
                    <a:pt x="3150856" y="1804618"/>
                  </a:lnTo>
                  <a:lnTo>
                    <a:pt x="3146509" y="1805046"/>
                  </a:lnTo>
                  <a:close/>
                </a:path>
              </a:pathLst>
            </a:custGeom>
            <a:solidFill>
              <a:srgbClr val="FFFFFF"/>
            </a:solidFill>
          </p:spPr>
          <p:txBody>
            <a:bodyPr wrap="square" lIns="0" tIns="0" rIns="0" bIns="0" rtlCol="0"/>
            <a:lstStyle/>
            <a:p/>
          </p:txBody>
        </p:sp>
        <p:pic>
          <p:nvPicPr>
            <p:cNvPr id="31" name="object 31" descr=""/>
            <p:cNvPicPr/>
            <p:nvPr/>
          </p:nvPicPr>
          <p:blipFill>
            <a:blip r:embed="rId7" cstate="print"/>
            <a:stretch>
              <a:fillRect/>
            </a:stretch>
          </p:blipFill>
          <p:spPr>
            <a:xfrm>
              <a:off x="7320469" y="1203364"/>
              <a:ext cx="125350" cy="167133"/>
            </a:xfrm>
            <a:prstGeom prst="rect">
              <a:avLst/>
            </a:prstGeom>
          </p:spPr>
        </p:pic>
      </p:grpSp>
      <p:grpSp>
        <p:nvGrpSpPr>
          <p:cNvPr id="32" name="object 32" descr=""/>
          <p:cNvGrpSpPr/>
          <p:nvPr/>
        </p:nvGrpSpPr>
        <p:grpSpPr>
          <a:xfrm>
            <a:off x="7153334" y="3008411"/>
            <a:ext cx="3209290" cy="1504315"/>
            <a:chOff x="7153334" y="3008411"/>
            <a:chExt cx="3209290" cy="1504315"/>
          </a:xfrm>
        </p:grpSpPr>
        <p:sp>
          <p:nvSpPr>
            <p:cNvPr id="33" name="object 33" descr=""/>
            <p:cNvSpPr/>
            <p:nvPr/>
          </p:nvSpPr>
          <p:spPr>
            <a:xfrm>
              <a:off x="7153334" y="3008411"/>
              <a:ext cx="3209290" cy="1504315"/>
            </a:xfrm>
            <a:custGeom>
              <a:avLst/>
              <a:gdLst/>
              <a:ahLst/>
              <a:cxnLst/>
              <a:rect l="l" t="t" r="r" b="b"/>
              <a:pathLst>
                <a:path w="3209290" h="1504314">
                  <a:moveTo>
                    <a:pt x="3146509" y="1504205"/>
                  </a:moveTo>
                  <a:lnTo>
                    <a:pt x="62464" y="1504205"/>
                  </a:lnTo>
                  <a:lnTo>
                    <a:pt x="58116" y="1503777"/>
                  </a:lnTo>
                  <a:lnTo>
                    <a:pt x="22685" y="1487728"/>
                  </a:lnTo>
                  <a:lnTo>
                    <a:pt x="2140" y="1454699"/>
                  </a:lnTo>
                  <a:lnTo>
                    <a:pt x="0" y="1441741"/>
                  </a:lnTo>
                  <a:lnTo>
                    <a:pt x="0" y="1437352"/>
                  </a:lnTo>
                  <a:lnTo>
                    <a:pt x="0" y="62463"/>
                  </a:lnTo>
                  <a:lnTo>
                    <a:pt x="13705" y="26061"/>
                  </a:lnTo>
                  <a:lnTo>
                    <a:pt x="45325" y="3408"/>
                  </a:lnTo>
                  <a:lnTo>
                    <a:pt x="62464" y="0"/>
                  </a:lnTo>
                  <a:lnTo>
                    <a:pt x="3146509" y="0"/>
                  </a:lnTo>
                  <a:lnTo>
                    <a:pt x="3182911" y="13705"/>
                  </a:lnTo>
                  <a:lnTo>
                    <a:pt x="3205564" y="45325"/>
                  </a:lnTo>
                  <a:lnTo>
                    <a:pt x="3208973" y="62463"/>
                  </a:lnTo>
                  <a:lnTo>
                    <a:pt x="3208973" y="1441741"/>
                  </a:lnTo>
                  <a:lnTo>
                    <a:pt x="3195267" y="1478143"/>
                  </a:lnTo>
                  <a:lnTo>
                    <a:pt x="3163647" y="1500795"/>
                  </a:lnTo>
                  <a:lnTo>
                    <a:pt x="3150856" y="1503777"/>
                  </a:lnTo>
                  <a:lnTo>
                    <a:pt x="3146509" y="1504205"/>
                  </a:lnTo>
                  <a:close/>
                </a:path>
              </a:pathLst>
            </a:custGeom>
            <a:solidFill>
              <a:srgbClr val="FFFFFF"/>
            </a:solidFill>
          </p:spPr>
          <p:txBody>
            <a:bodyPr wrap="square" lIns="0" tIns="0" rIns="0" bIns="0" rtlCol="0"/>
            <a:lstStyle/>
            <a:p/>
          </p:txBody>
        </p:sp>
        <p:pic>
          <p:nvPicPr>
            <p:cNvPr id="34" name="object 34" descr=""/>
            <p:cNvPicPr/>
            <p:nvPr/>
          </p:nvPicPr>
          <p:blipFill>
            <a:blip r:embed="rId8" cstate="print"/>
            <a:stretch>
              <a:fillRect/>
            </a:stretch>
          </p:blipFill>
          <p:spPr>
            <a:xfrm>
              <a:off x="7320469" y="3208972"/>
              <a:ext cx="167133" cy="167133"/>
            </a:xfrm>
            <a:prstGeom prst="rect">
              <a:avLst/>
            </a:prstGeom>
          </p:spPr>
        </p:pic>
      </p:grpSp>
      <p:sp>
        <p:nvSpPr>
          <p:cNvPr id="35" name="object 35" descr=""/>
          <p:cNvSpPr txBox="1"/>
          <p:nvPr/>
        </p:nvSpPr>
        <p:spPr>
          <a:xfrm>
            <a:off x="7533399" y="1146337"/>
            <a:ext cx="1195705" cy="249554"/>
          </a:xfrm>
          <a:prstGeom prst="rect">
            <a:avLst/>
          </a:prstGeom>
        </p:spPr>
        <p:txBody>
          <a:bodyPr wrap="square" lIns="0" tIns="14604" rIns="0" bIns="0" rtlCol="0" vert="horz">
            <a:spAutoFit/>
          </a:bodyPr>
          <a:lstStyle/>
          <a:p>
            <a:pPr marL="12700">
              <a:lnSpc>
                <a:spcPct val="100000"/>
              </a:lnSpc>
              <a:spcBef>
                <a:spcPts val="114"/>
              </a:spcBef>
            </a:pPr>
            <a:r>
              <a:rPr dirty="0" sz="1450" spc="-145">
                <a:solidFill>
                  <a:srgbClr val="1D3A8A"/>
                </a:solidFill>
                <a:latin typeface="SimSun"/>
                <a:cs typeface="SimSun"/>
              </a:rPr>
              <a:t>期待</a:t>
            </a:r>
            <a:r>
              <a:rPr dirty="0" sz="1350" spc="-55">
                <a:solidFill>
                  <a:srgbClr val="1D3A8A"/>
                </a:solidFill>
                <a:latin typeface="PMingLiU"/>
                <a:cs typeface="PMingLiU"/>
              </a:rPr>
              <a:t>される</a:t>
            </a:r>
            <a:r>
              <a:rPr dirty="0" sz="1450" spc="-100">
                <a:solidFill>
                  <a:srgbClr val="1D3A8A"/>
                </a:solidFill>
                <a:latin typeface="SimSun"/>
                <a:cs typeface="SimSun"/>
              </a:rPr>
              <a:t>成果</a:t>
            </a:r>
            <a:endParaRPr sz="1450">
              <a:latin typeface="SimSun"/>
              <a:cs typeface="SimSun"/>
            </a:endParaRPr>
          </a:p>
        </p:txBody>
      </p:sp>
      <p:grpSp>
        <p:nvGrpSpPr>
          <p:cNvPr id="36" name="object 36" descr=""/>
          <p:cNvGrpSpPr/>
          <p:nvPr/>
        </p:nvGrpSpPr>
        <p:grpSpPr>
          <a:xfrm>
            <a:off x="7328825" y="1587772"/>
            <a:ext cx="59055" cy="1003300"/>
            <a:chOff x="7328825" y="1587772"/>
            <a:chExt cx="59055" cy="1003300"/>
          </a:xfrm>
        </p:grpSpPr>
        <p:pic>
          <p:nvPicPr>
            <p:cNvPr id="37" name="object 37" descr=""/>
            <p:cNvPicPr/>
            <p:nvPr/>
          </p:nvPicPr>
          <p:blipFill>
            <a:blip r:embed="rId9" cstate="print"/>
            <a:stretch>
              <a:fillRect/>
            </a:stretch>
          </p:blipFill>
          <p:spPr>
            <a:xfrm>
              <a:off x="7328825" y="1587772"/>
              <a:ext cx="58496" cy="100280"/>
            </a:xfrm>
            <a:prstGeom prst="rect">
              <a:avLst/>
            </a:prstGeom>
          </p:spPr>
        </p:pic>
        <p:pic>
          <p:nvPicPr>
            <p:cNvPr id="38" name="object 38" descr=""/>
            <p:cNvPicPr/>
            <p:nvPr/>
          </p:nvPicPr>
          <p:blipFill>
            <a:blip r:embed="rId9" cstate="print"/>
            <a:stretch>
              <a:fillRect/>
            </a:stretch>
          </p:blipFill>
          <p:spPr>
            <a:xfrm>
              <a:off x="7328825" y="1888614"/>
              <a:ext cx="58496" cy="100280"/>
            </a:xfrm>
            <a:prstGeom prst="rect">
              <a:avLst/>
            </a:prstGeom>
          </p:spPr>
        </p:pic>
        <p:pic>
          <p:nvPicPr>
            <p:cNvPr id="39" name="object 39" descr=""/>
            <p:cNvPicPr/>
            <p:nvPr/>
          </p:nvPicPr>
          <p:blipFill>
            <a:blip r:embed="rId9" cstate="print"/>
            <a:stretch>
              <a:fillRect/>
            </a:stretch>
          </p:blipFill>
          <p:spPr>
            <a:xfrm>
              <a:off x="7328825" y="2189455"/>
              <a:ext cx="58496" cy="100280"/>
            </a:xfrm>
            <a:prstGeom prst="rect">
              <a:avLst/>
            </a:prstGeom>
          </p:spPr>
        </p:pic>
        <p:pic>
          <p:nvPicPr>
            <p:cNvPr id="40" name="object 40" descr=""/>
            <p:cNvPicPr/>
            <p:nvPr/>
          </p:nvPicPr>
          <p:blipFill>
            <a:blip r:embed="rId9" cstate="print"/>
            <a:stretch>
              <a:fillRect/>
            </a:stretch>
          </p:blipFill>
          <p:spPr>
            <a:xfrm>
              <a:off x="7328825" y="2490296"/>
              <a:ext cx="58496" cy="100280"/>
            </a:xfrm>
            <a:prstGeom prst="rect">
              <a:avLst/>
            </a:prstGeom>
          </p:spPr>
        </p:pic>
      </p:grpSp>
      <p:sp>
        <p:nvSpPr>
          <p:cNvPr id="41" name="object 41" descr=""/>
          <p:cNvSpPr txBox="1"/>
          <p:nvPr/>
        </p:nvSpPr>
        <p:spPr>
          <a:xfrm>
            <a:off x="7441476" y="1533289"/>
            <a:ext cx="2031364" cy="1088390"/>
          </a:xfrm>
          <a:prstGeom prst="rect">
            <a:avLst/>
          </a:prstGeom>
        </p:spPr>
        <p:txBody>
          <a:bodyPr wrap="square" lIns="0" tIns="12700" rIns="0" bIns="0" rtlCol="0" vert="horz">
            <a:spAutoFit/>
          </a:bodyPr>
          <a:lstStyle/>
          <a:p>
            <a:pPr marL="12700">
              <a:lnSpc>
                <a:spcPct val="100000"/>
              </a:lnSpc>
              <a:spcBef>
                <a:spcPts val="100"/>
              </a:spcBef>
            </a:pPr>
            <a:r>
              <a:rPr dirty="0" sz="1050" spc="-20">
                <a:solidFill>
                  <a:srgbClr val="374050"/>
                </a:solidFill>
                <a:latin typeface="PMingLiU"/>
                <a:cs typeface="PMingLiU"/>
              </a:rPr>
              <a:t>より正確なデバイスモデルの確立</a:t>
            </a:r>
            <a:endParaRPr sz="1050">
              <a:latin typeface="PMingLiU"/>
              <a:cs typeface="PMingLiU"/>
            </a:endParaRPr>
          </a:p>
          <a:p>
            <a:pPr marL="12700" marR="138430">
              <a:lnSpc>
                <a:spcPct val="188000"/>
              </a:lnSpc>
            </a:pPr>
            <a:r>
              <a:rPr dirty="0" sz="1050" spc="-25">
                <a:solidFill>
                  <a:srgbClr val="374050"/>
                </a:solidFill>
                <a:latin typeface="PMingLiU"/>
                <a:cs typeface="PMingLiU"/>
              </a:rPr>
              <a:t>最適な構造パラメータの特定</a:t>
            </a:r>
            <a:r>
              <a:rPr dirty="0" sz="1050" spc="500">
                <a:solidFill>
                  <a:srgbClr val="374050"/>
                </a:solidFill>
                <a:latin typeface="PMingLiU"/>
                <a:cs typeface="PMingLiU"/>
              </a:rPr>
              <a:t> </a:t>
            </a:r>
            <a:r>
              <a:rPr dirty="0" sz="1050" spc="-15">
                <a:solidFill>
                  <a:srgbClr val="374050"/>
                </a:solidFill>
                <a:latin typeface="PMingLiU"/>
                <a:cs typeface="PMingLiU"/>
              </a:rPr>
              <a:t>計算精度と効率のバランス改善</a:t>
            </a:r>
            <a:r>
              <a:rPr dirty="0" sz="1050" spc="-20">
                <a:solidFill>
                  <a:srgbClr val="374050"/>
                </a:solidFill>
                <a:latin typeface="PMingLiU"/>
                <a:cs typeface="PMingLiU"/>
              </a:rPr>
              <a:t>実用デバイス設計への応用</a:t>
            </a:r>
            <a:endParaRPr sz="1050">
              <a:latin typeface="PMingLiU"/>
              <a:cs typeface="PMingLiU"/>
            </a:endParaRPr>
          </a:p>
        </p:txBody>
      </p:sp>
      <p:sp>
        <p:nvSpPr>
          <p:cNvPr id="42" name="object 42" descr=""/>
          <p:cNvSpPr txBox="1"/>
          <p:nvPr/>
        </p:nvSpPr>
        <p:spPr>
          <a:xfrm>
            <a:off x="7575183" y="3147046"/>
            <a:ext cx="694055" cy="255270"/>
          </a:xfrm>
          <a:prstGeom prst="rect">
            <a:avLst/>
          </a:prstGeom>
        </p:spPr>
        <p:txBody>
          <a:bodyPr wrap="square" lIns="0" tIns="13335" rIns="0" bIns="0" rtlCol="0" vert="horz">
            <a:spAutoFit/>
          </a:bodyPr>
          <a:lstStyle/>
          <a:p>
            <a:pPr marL="12700">
              <a:lnSpc>
                <a:spcPct val="100000"/>
              </a:lnSpc>
              <a:spcBef>
                <a:spcPts val="105"/>
              </a:spcBef>
            </a:pPr>
            <a:r>
              <a:rPr dirty="0" sz="1400" spc="-90">
                <a:solidFill>
                  <a:srgbClr val="1D3A8A"/>
                </a:solidFill>
                <a:latin typeface="PMingLiU"/>
                <a:cs typeface="PMingLiU"/>
              </a:rPr>
              <a:t>研</a:t>
            </a:r>
            <a:r>
              <a:rPr dirty="0" sz="1500" spc="-195">
                <a:solidFill>
                  <a:srgbClr val="1D3A8A"/>
                </a:solidFill>
                <a:latin typeface="SimSun"/>
                <a:cs typeface="SimSun"/>
              </a:rPr>
              <a:t>究</a:t>
            </a:r>
            <a:r>
              <a:rPr dirty="0" sz="1450" spc="-145">
                <a:solidFill>
                  <a:srgbClr val="1D3A8A"/>
                </a:solidFill>
                <a:latin typeface="SimSun"/>
                <a:cs typeface="SimSun"/>
              </a:rPr>
              <a:t>課</a:t>
            </a:r>
            <a:r>
              <a:rPr dirty="0" sz="1400" spc="-50">
                <a:solidFill>
                  <a:srgbClr val="1D3A8A"/>
                </a:solidFill>
                <a:latin typeface="PMingLiU"/>
                <a:cs typeface="PMingLiU"/>
              </a:rPr>
              <a:t>題</a:t>
            </a:r>
            <a:endParaRPr sz="1400">
              <a:latin typeface="PMingLiU"/>
              <a:cs typeface="PMingLiU"/>
            </a:endParaRPr>
          </a:p>
        </p:txBody>
      </p:sp>
      <p:grpSp>
        <p:nvGrpSpPr>
          <p:cNvPr id="43" name="object 43" descr=""/>
          <p:cNvGrpSpPr/>
          <p:nvPr/>
        </p:nvGrpSpPr>
        <p:grpSpPr>
          <a:xfrm>
            <a:off x="7320469" y="3576667"/>
            <a:ext cx="133985" cy="735965"/>
            <a:chOff x="7320469" y="3576667"/>
            <a:chExt cx="133985" cy="735965"/>
          </a:xfrm>
        </p:grpSpPr>
        <p:pic>
          <p:nvPicPr>
            <p:cNvPr id="44" name="object 44" descr=""/>
            <p:cNvPicPr/>
            <p:nvPr/>
          </p:nvPicPr>
          <p:blipFill>
            <a:blip r:embed="rId10" cstate="print"/>
            <a:stretch>
              <a:fillRect/>
            </a:stretch>
          </p:blipFill>
          <p:spPr>
            <a:xfrm>
              <a:off x="7320469" y="3576667"/>
              <a:ext cx="133707" cy="133707"/>
            </a:xfrm>
            <a:prstGeom prst="rect">
              <a:avLst/>
            </a:prstGeom>
          </p:spPr>
        </p:pic>
        <p:pic>
          <p:nvPicPr>
            <p:cNvPr id="45" name="object 45" descr=""/>
            <p:cNvPicPr/>
            <p:nvPr/>
          </p:nvPicPr>
          <p:blipFill>
            <a:blip r:embed="rId10" cstate="print"/>
            <a:stretch>
              <a:fillRect/>
            </a:stretch>
          </p:blipFill>
          <p:spPr>
            <a:xfrm>
              <a:off x="7320469" y="3877508"/>
              <a:ext cx="133707" cy="133707"/>
            </a:xfrm>
            <a:prstGeom prst="rect">
              <a:avLst/>
            </a:prstGeom>
          </p:spPr>
        </p:pic>
        <p:pic>
          <p:nvPicPr>
            <p:cNvPr id="46" name="object 46" descr=""/>
            <p:cNvPicPr/>
            <p:nvPr/>
          </p:nvPicPr>
          <p:blipFill>
            <a:blip r:embed="rId10" cstate="print"/>
            <a:stretch>
              <a:fillRect/>
            </a:stretch>
          </p:blipFill>
          <p:spPr>
            <a:xfrm>
              <a:off x="7320469" y="4178349"/>
              <a:ext cx="133707" cy="133707"/>
            </a:xfrm>
            <a:prstGeom prst="rect">
              <a:avLst/>
            </a:prstGeom>
          </p:spPr>
        </p:pic>
      </p:grpSp>
      <p:sp>
        <p:nvSpPr>
          <p:cNvPr id="47" name="object 47" descr=""/>
          <p:cNvSpPr txBox="1"/>
          <p:nvPr/>
        </p:nvSpPr>
        <p:spPr>
          <a:xfrm>
            <a:off x="7508330" y="3538897"/>
            <a:ext cx="2435860" cy="788035"/>
          </a:xfrm>
          <a:prstGeom prst="rect">
            <a:avLst/>
          </a:prstGeom>
        </p:spPr>
        <p:txBody>
          <a:bodyPr wrap="square" lIns="0" tIns="12700" rIns="0" bIns="0" rtlCol="0" vert="horz">
            <a:spAutoFit/>
          </a:bodyPr>
          <a:lstStyle/>
          <a:p>
            <a:pPr marL="12700">
              <a:lnSpc>
                <a:spcPct val="100000"/>
              </a:lnSpc>
              <a:spcBef>
                <a:spcPts val="100"/>
              </a:spcBef>
            </a:pPr>
            <a:r>
              <a:rPr dirty="0" sz="1050" spc="105">
                <a:solidFill>
                  <a:srgbClr val="374050"/>
                </a:solidFill>
                <a:latin typeface="Segoe UI Symbol"/>
                <a:cs typeface="Segoe UI Symbol"/>
              </a:rPr>
              <a:t>3</a:t>
            </a:r>
            <a:r>
              <a:rPr dirty="0" sz="1050" spc="-15">
                <a:solidFill>
                  <a:srgbClr val="374050"/>
                </a:solidFill>
                <a:latin typeface="PMingLiU"/>
                <a:cs typeface="PMingLiU"/>
              </a:rPr>
              <a:t>次元構造の計算負荷の増大</a:t>
            </a:r>
            <a:endParaRPr sz="1050">
              <a:latin typeface="PMingLiU"/>
              <a:cs typeface="PMingLiU"/>
            </a:endParaRPr>
          </a:p>
          <a:p>
            <a:pPr marL="12700" marR="5080">
              <a:lnSpc>
                <a:spcPct val="188000"/>
              </a:lnSpc>
            </a:pPr>
            <a:r>
              <a:rPr dirty="0" sz="1050" spc="-25">
                <a:solidFill>
                  <a:srgbClr val="374050"/>
                </a:solidFill>
                <a:latin typeface="PMingLiU"/>
                <a:cs typeface="PMingLiU"/>
              </a:rPr>
              <a:t>メッシュ粗さと計算精度のトレードオフ</a:t>
            </a:r>
            <a:r>
              <a:rPr dirty="0" sz="1050" spc="-15">
                <a:solidFill>
                  <a:srgbClr val="374050"/>
                </a:solidFill>
                <a:latin typeface="PMingLiU"/>
                <a:cs typeface="PMingLiU"/>
              </a:rPr>
              <a:t>実験結果との整合性検証</a:t>
            </a:r>
            <a:endParaRPr sz="1050">
              <a:latin typeface="PMingLiU"/>
              <a:cs typeface="PMingLiU"/>
            </a:endParaRPr>
          </a:p>
        </p:txBody>
      </p:sp>
      <p:sp>
        <p:nvSpPr>
          <p:cNvPr id="48" name="object 48" descr=""/>
          <p:cNvSpPr txBox="1"/>
          <p:nvPr/>
        </p:nvSpPr>
        <p:spPr>
          <a:xfrm>
            <a:off x="10012989" y="6958028"/>
            <a:ext cx="495934" cy="181610"/>
          </a:xfrm>
          <a:prstGeom prst="rect">
            <a:avLst/>
          </a:prstGeom>
        </p:spPr>
        <p:txBody>
          <a:bodyPr wrap="square" lIns="0" tIns="3175" rIns="0" bIns="0" rtlCol="0" vert="horz">
            <a:spAutoFit/>
          </a:bodyPr>
          <a:lstStyle/>
          <a:p>
            <a:pPr marL="12700">
              <a:lnSpc>
                <a:spcPct val="100000"/>
              </a:lnSpc>
              <a:spcBef>
                <a:spcPts val="25"/>
              </a:spcBef>
            </a:pPr>
            <a:r>
              <a:rPr dirty="0" sz="1050" spc="105">
                <a:solidFill>
                  <a:srgbClr val="4A5462"/>
                </a:solidFill>
                <a:latin typeface="Segoe UI Symbol"/>
                <a:cs typeface="Segoe UI Symbol"/>
              </a:rPr>
              <a:t>13</a:t>
            </a:r>
            <a:r>
              <a:rPr dirty="0" sz="1050" spc="15">
                <a:solidFill>
                  <a:srgbClr val="4A5462"/>
                </a:solidFill>
                <a:latin typeface="Segoe UI Symbol"/>
                <a:cs typeface="Segoe UI Symbol"/>
              </a:rPr>
              <a:t> </a:t>
            </a:r>
            <a:r>
              <a:rPr dirty="0" sz="1050">
                <a:solidFill>
                  <a:srgbClr val="4A5462"/>
                </a:solidFill>
                <a:latin typeface="Segoe UI Symbol"/>
                <a:cs typeface="Segoe UI Symbol"/>
              </a:rPr>
              <a:t>/</a:t>
            </a:r>
            <a:r>
              <a:rPr dirty="0" sz="1050" spc="15">
                <a:solidFill>
                  <a:srgbClr val="4A5462"/>
                </a:solidFill>
                <a:latin typeface="Segoe UI Symbol"/>
                <a:cs typeface="Segoe UI Symbol"/>
              </a:rPr>
              <a:t> </a:t>
            </a:r>
            <a:r>
              <a:rPr dirty="0" sz="1050" spc="80">
                <a:solidFill>
                  <a:srgbClr val="4A5462"/>
                </a:solidFill>
                <a:latin typeface="Segoe UI Symbol"/>
                <a:cs typeface="Segoe UI Symbol"/>
              </a:rPr>
              <a:t>13</a:t>
            </a:r>
            <a:endParaRPr sz="1050">
              <a:latin typeface="Segoe UI Symbol"/>
              <a:cs typeface="Segoe UI Symbo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2025-07-29T10:09:09Z</dcterms:created>
  <dcterms:modified xsi:type="dcterms:W3CDTF">2025-07-29T10:09:09Z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2025-07-29T00:00:00Z</vt:filetime>
  </property>
  <property fmtid="{D5CDD505-2E9C-101B-9397-08002B2CF9AE}" pid="3" name="LastSaved">
    <vt:filetime>2025-07-29T00:00:00Z</vt:filetime>
  </property>
  <property fmtid="{D5CDD505-2E9C-101B-9397-08002B2CF9AE}" pid="4" name="Producer">
    <vt:lpwstr>pdfcpu v0.8.0 dev</vt:lpwstr>
  </property>
</Properties>
</file>