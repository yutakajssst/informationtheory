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704513" cy="6016625"/>
  <p:notesSz cx="7559675" cy="10691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7"/>
  </p:normalViewPr>
  <p:slideViewPr>
    <p:cSldViewPr snapToGrid="0">
      <p:cViewPr varScale="1">
        <p:scale>
          <a:sx n="131" d="100"/>
          <a:sy n="131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960" y="574200"/>
            <a:ext cx="963324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960" y="1792080"/>
            <a:ext cx="9633240" cy="363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960" y="574200"/>
            <a:ext cx="963324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960" y="1792080"/>
            <a:ext cx="9633240" cy="363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34960" y="574200"/>
            <a:ext cx="963324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34960" y="1792080"/>
            <a:ext cx="9633240" cy="363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1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image" Target="../media/image26.png"/><Relationship Id="rId4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2.png"/><Relationship Id="rId18" Type="http://schemas.openxmlformats.org/officeDocument/2006/relationships/image" Target="../media/image1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image" Target="../media/image62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11" Type="http://schemas.openxmlformats.org/officeDocument/2006/relationships/image" Target="../media/image70.png"/><Relationship Id="rId5" Type="http://schemas.openxmlformats.org/officeDocument/2006/relationships/image" Target="../media/image65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4.png"/><Relationship Id="rId9" Type="http://schemas.openxmlformats.org/officeDocument/2006/relationships/image" Target="../media/image22.png"/><Relationship Id="rId14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png"/><Relationship Id="rId11" Type="http://schemas.openxmlformats.org/officeDocument/2006/relationships/image" Target="../media/image50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40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/>
          <p:nvPr/>
        </p:nvPicPr>
        <p:blipFill>
          <a:blip r:embed="rId2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フリーフォーム 6"/>
          <p:cNvSpPr/>
          <p:nvPr/>
        </p:nvSpPr>
        <p:spPr>
          <a:xfrm>
            <a:off x="4813200" y="3450960"/>
            <a:ext cx="1069920" cy="33840"/>
          </a:xfrm>
          <a:custGeom>
            <a:avLst/>
            <a:gdLst/>
            <a:ahLst/>
            <a:cxnLst/>
            <a:rect l="0" t="0" r="r" b="b"/>
            <a:pathLst>
              <a:path w="2972" h="94">
                <a:moveTo>
                  <a:pt x="0" y="0"/>
                </a:moveTo>
                <a:lnTo>
                  <a:pt x="2972" y="0"/>
                </a:lnTo>
                <a:lnTo>
                  <a:pt x="2972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051349" y="1664767"/>
            <a:ext cx="6395982" cy="7294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2370" b="0" u="none" strike="noStrike" dirty="0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自動生成した標的型メールを用いた</a:t>
            </a:r>
            <a:endParaRPr lang="en-US" altLang="zh-CN" sz="2370" b="0" u="none" strike="noStrike" dirty="0">
              <a:solidFill>
                <a:srgbClr val="FFFFFF"/>
              </a:solidFill>
              <a:effectLst/>
              <a:uFillTx/>
              <a:latin typeface="WenQuanYiZenHei"/>
              <a:ea typeface="WenQuanYiZenHei"/>
            </a:endParaRPr>
          </a:p>
          <a:p>
            <a:r>
              <a:rPr lang="zh-CN" sz="2370" b="0" u="none" strike="noStrike" dirty="0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訓練用標的型メー</a:t>
            </a:r>
            <a:r>
              <a:rPr lang="zh-CN" altLang="ja-JP" sz="2370" b="0" u="none" strike="noStrike" dirty="0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ル配信システムの開発と評価</a:t>
            </a:r>
            <a:endParaRPr lang="en-US" altLang="ja-JP" sz="237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720647" y="2805955"/>
            <a:ext cx="9255026" cy="2431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580" b="0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Development and Evaluation of a Training Targeted Email Delivery System</a:t>
            </a:r>
            <a:r>
              <a:rPr lang="en-US" sz="1580" dirty="0">
                <a:solidFill>
                  <a:srgbClr val="FFFFFF"/>
                </a:solidFill>
                <a:latin typeface="DejaVuSans"/>
                <a:ea typeface="DejaVuSans"/>
              </a:rPr>
              <a:t> </a:t>
            </a:r>
            <a:r>
              <a:rPr lang="en-US" altLang="ja-JP" sz="1580" b="0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Using Auto-Generated Phishing Emails</a:t>
            </a:r>
            <a:endParaRPr lang="en-US" altLang="ja-JP" sz="15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381920" y="3759480"/>
            <a:ext cx="403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徳野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782960" y="3766680"/>
            <a:ext cx="20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846680" y="375948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響・五味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649120" y="3766680"/>
            <a:ext cx="20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5712840" y="3759480"/>
            <a:ext cx="604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悠一郎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" name="図 16"/>
          <p:cNvPicPr/>
          <p:nvPr/>
        </p:nvPicPr>
        <p:blipFill>
          <a:blip r:embed="rId3"/>
          <a:stretch/>
        </p:blipFill>
        <p:spPr>
          <a:xfrm>
            <a:off x="4094640" y="334440"/>
            <a:ext cx="400680" cy="40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図 17"/>
          <p:cNvPicPr/>
          <p:nvPr/>
        </p:nvPicPr>
        <p:blipFill>
          <a:blip r:embed="rId4"/>
          <a:stretch/>
        </p:blipFill>
        <p:spPr>
          <a:xfrm>
            <a:off x="5147820" y="334440"/>
            <a:ext cx="400680" cy="40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図 18"/>
          <p:cNvPicPr/>
          <p:nvPr/>
        </p:nvPicPr>
        <p:blipFill>
          <a:blip r:embed="rId5"/>
          <a:stretch/>
        </p:blipFill>
        <p:spPr>
          <a:xfrm>
            <a:off x="6100560" y="334440"/>
            <a:ext cx="501120" cy="40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テキスト ボックス 19"/>
          <p:cNvSpPr txBox="1"/>
          <p:nvPr/>
        </p:nvSpPr>
        <p:spPr>
          <a:xfrm>
            <a:off x="4094640" y="4167720"/>
            <a:ext cx="25153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BFDBFE"/>
                </a:solidFill>
                <a:effectLst/>
                <a:uFillTx/>
                <a:latin typeface="WenQuanYiZenHei"/>
                <a:ea typeface="WenQuanYiZenHei"/>
              </a:rPr>
              <a:t>日本大学理工学部応用情報工学科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図 25"/>
          <p:cNvPicPr/>
          <p:nvPr/>
        </p:nvPicPr>
        <p:blipFill>
          <a:blip r:embed="rId6"/>
          <a:stretch/>
        </p:blipFill>
        <p:spPr>
          <a:xfrm>
            <a:off x="4069800" y="5281560"/>
            <a:ext cx="350640" cy="40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図 26"/>
          <p:cNvPicPr/>
          <p:nvPr/>
        </p:nvPicPr>
        <p:blipFill>
          <a:blip r:embed="rId7"/>
          <a:stretch/>
        </p:blipFill>
        <p:spPr>
          <a:xfrm>
            <a:off x="5085360" y="5281560"/>
            <a:ext cx="501120" cy="40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図 27"/>
          <p:cNvPicPr/>
          <p:nvPr/>
        </p:nvPicPr>
        <p:blipFill>
          <a:blip r:embed="rId8"/>
          <a:stretch/>
        </p:blipFill>
        <p:spPr>
          <a:xfrm>
            <a:off x="6125400" y="5281560"/>
            <a:ext cx="501120" cy="400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図 29"/>
          <p:cNvPicPr/>
          <p:nvPr/>
        </p:nvPicPr>
        <p:blipFill>
          <a:blip r:embed="rId2"/>
          <a:stretch/>
        </p:blipFill>
        <p:spPr>
          <a:xfrm>
            <a:off x="0" y="0"/>
            <a:ext cx="10696320" cy="63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テキスト ボックス 30"/>
          <p:cNvSpPr txBox="1"/>
          <p:nvPr/>
        </p:nvSpPr>
        <p:spPr>
          <a:xfrm>
            <a:off x="334440" y="326880"/>
            <a:ext cx="176688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79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研究背景と目的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フリーフォーム 31"/>
          <p:cNvSpPr/>
          <p:nvPr/>
        </p:nvSpPr>
        <p:spPr>
          <a:xfrm>
            <a:off x="334080" y="902520"/>
            <a:ext cx="4813920" cy="3543480"/>
          </a:xfrm>
          <a:custGeom>
            <a:avLst/>
            <a:gdLst/>
            <a:ahLst/>
            <a:cxnLst/>
            <a:rect l="0" t="0" r="r" b="b"/>
            <a:pathLst>
              <a:path w="13372" h="9843">
                <a:moveTo>
                  <a:pt x="0" y="9657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8" y="5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13186" y="0"/>
                </a:lnTo>
                <a:cubicBezTo>
                  <a:pt x="13198" y="0"/>
                  <a:pt x="13210" y="1"/>
                  <a:pt x="13222" y="3"/>
                </a:cubicBezTo>
                <a:cubicBezTo>
                  <a:pt x="13234" y="5"/>
                  <a:pt x="13246" y="9"/>
                  <a:pt x="13257" y="14"/>
                </a:cubicBezTo>
                <a:cubicBezTo>
                  <a:pt x="13268" y="18"/>
                  <a:pt x="13279" y="24"/>
                  <a:pt x="13289" y="31"/>
                </a:cubicBezTo>
                <a:cubicBezTo>
                  <a:pt x="13299" y="38"/>
                  <a:pt x="13309" y="45"/>
                  <a:pt x="13317" y="54"/>
                </a:cubicBezTo>
                <a:cubicBezTo>
                  <a:pt x="13326" y="63"/>
                  <a:pt x="13334" y="72"/>
                  <a:pt x="13340" y="82"/>
                </a:cubicBezTo>
                <a:cubicBezTo>
                  <a:pt x="13347" y="92"/>
                  <a:pt x="13353" y="103"/>
                  <a:pt x="13358" y="114"/>
                </a:cubicBezTo>
                <a:cubicBezTo>
                  <a:pt x="13362" y="125"/>
                  <a:pt x="13366" y="137"/>
                  <a:pt x="13368" y="149"/>
                </a:cubicBezTo>
                <a:cubicBezTo>
                  <a:pt x="13371" y="161"/>
                  <a:pt x="13372" y="173"/>
                  <a:pt x="13372" y="185"/>
                </a:cubicBezTo>
                <a:lnTo>
                  <a:pt x="13372" y="9657"/>
                </a:lnTo>
                <a:cubicBezTo>
                  <a:pt x="13372" y="9669"/>
                  <a:pt x="13371" y="9681"/>
                  <a:pt x="13368" y="9693"/>
                </a:cubicBezTo>
                <a:cubicBezTo>
                  <a:pt x="13366" y="9705"/>
                  <a:pt x="13362" y="9717"/>
                  <a:pt x="13358" y="9728"/>
                </a:cubicBezTo>
                <a:cubicBezTo>
                  <a:pt x="13353" y="9739"/>
                  <a:pt x="13347" y="9750"/>
                  <a:pt x="13340" y="9760"/>
                </a:cubicBezTo>
                <a:cubicBezTo>
                  <a:pt x="13334" y="9770"/>
                  <a:pt x="13326" y="9780"/>
                  <a:pt x="13317" y="9788"/>
                </a:cubicBezTo>
                <a:cubicBezTo>
                  <a:pt x="13309" y="9797"/>
                  <a:pt x="13299" y="9805"/>
                  <a:pt x="13289" y="9812"/>
                </a:cubicBezTo>
                <a:cubicBezTo>
                  <a:pt x="13279" y="9818"/>
                  <a:pt x="13268" y="9824"/>
                  <a:pt x="13257" y="9829"/>
                </a:cubicBezTo>
                <a:cubicBezTo>
                  <a:pt x="13246" y="9833"/>
                  <a:pt x="13234" y="9837"/>
                  <a:pt x="13222" y="9839"/>
                </a:cubicBezTo>
                <a:cubicBezTo>
                  <a:pt x="13210" y="9842"/>
                  <a:pt x="13198" y="9843"/>
                  <a:pt x="13186" y="9843"/>
                </a:cubicBezTo>
                <a:lnTo>
                  <a:pt x="186" y="9843"/>
                </a:lnTo>
                <a:cubicBezTo>
                  <a:pt x="174" y="9843"/>
                  <a:pt x="161" y="9842"/>
                  <a:pt x="149" y="9839"/>
                </a:cubicBezTo>
                <a:cubicBezTo>
                  <a:pt x="138" y="9837"/>
                  <a:pt x="126" y="9833"/>
                  <a:pt x="115" y="9829"/>
                </a:cubicBezTo>
                <a:cubicBezTo>
                  <a:pt x="103" y="9824"/>
                  <a:pt x="93" y="9818"/>
                  <a:pt x="83" y="9812"/>
                </a:cubicBezTo>
                <a:cubicBezTo>
                  <a:pt x="72" y="9805"/>
                  <a:pt x="63" y="9797"/>
                  <a:pt x="54" y="9788"/>
                </a:cubicBezTo>
                <a:cubicBezTo>
                  <a:pt x="46" y="9780"/>
                  <a:pt x="38" y="9770"/>
                  <a:pt x="31" y="9760"/>
                </a:cubicBezTo>
                <a:cubicBezTo>
                  <a:pt x="25" y="9750"/>
                  <a:pt x="19" y="9739"/>
                  <a:pt x="14" y="9728"/>
                </a:cubicBezTo>
                <a:cubicBezTo>
                  <a:pt x="9" y="9717"/>
                  <a:pt x="6" y="9705"/>
                  <a:pt x="4" y="9693"/>
                </a:cubicBezTo>
                <a:cubicBezTo>
                  <a:pt x="1" y="9681"/>
                  <a:pt x="0" y="9669"/>
                  <a:pt x="0" y="9657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" name="図 32"/>
          <p:cNvPicPr/>
          <p:nvPr/>
        </p:nvPicPr>
        <p:blipFill>
          <a:blip r:embed="rId3"/>
          <a:stretch/>
        </p:blipFill>
        <p:spPr>
          <a:xfrm>
            <a:off x="534960" y="11365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テキスト ボックス 33"/>
          <p:cNvSpPr txBox="1"/>
          <p:nvPr/>
        </p:nvSpPr>
        <p:spPr>
          <a:xfrm>
            <a:off x="9880560" y="388080"/>
            <a:ext cx="4838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 / 12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フリーフォーム 34"/>
          <p:cNvSpPr/>
          <p:nvPr/>
        </p:nvSpPr>
        <p:spPr>
          <a:xfrm>
            <a:off x="584640" y="160416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1"/>
                </a:moveTo>
                <a:cubicBezTo>
                  <a:pt x="141" y="80"/>
                  <a:pt x="139" y="89"/>
                  <a:pt x="135" y="98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8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1"/>
                  <a:pt x="2" y="52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1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835560" y="1110600"/>
            <a:ext cx="16146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標的型攻撃の脅威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735480" y="1526400"/>
            <a:ext cx="1229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情報セキュリティ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1938600" y="1531800"/>
            <a:ext cx="192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10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2130120" y="1526400"/>
            <a:ext cx="607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大脅威に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2731680" y="1531800"/>
            <a:ext cx="4204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2016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3150360" y="1526400"/>
            <a:ext cx="460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年から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3601800" y="153180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9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フリーフォーム 42"/>
          <p:cNvSpPr/>
          <p:nvPr/>
        </p:nvSpPr>
        <p:spPr>
          <a:xfrm>
            <a:off x="584640" y="193860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79"/>
                  <a:pt x="139" y="88"/>
                  <a:pt x="135" y="96"/>
                </a:cubicBezTo>
                <a:cubicBezTo>
                  <a:pt x="132" y="105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5"/>
                  <a:pt x="6" y="96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0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0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3706560" y="1526400"/>
            <a:ext cx="909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年連続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で選出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フリーフォーム 44"/>
          <p:cNvSpPr/>
          <p:nvPr/>
        </p:nvSpPr>
        <p:spPr>
          <a:xfrm>
            <a:off x="584640" y="227268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1"/>
                </a:moveTo>
                <a:cubicBezTo>
                  <a:pt x="141" y="80"/>
                  <a:pt x="139" y="89"/>
                  <a:pt x="135" y="98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8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2"/>
                  <a:pt x="2" y="53"/>
                  <a:pt x="6" y="44"/>
                </a:cubicBezTo>
                <a:cubicBezTo>
                  <a:pt x="9" y="36"/>
                  <a:pt x="14" y="28"/>
                  <a:pt x="21" y="22"/>
                </a:cubicBezTo>
                <a:cubicBezTo>
                  <a:pt x="27" y="15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5"/>
                  <a:pt x="120" y="22"/>
                </a:cubicBezTo>
                <a:cubicBezTo>
                  <a:pt x="127" y="28"/>
                  <a:pt x="132" y="36"/>
                  <a:pt x="135" y="44"/>
                </a:cubicBezTo>
                <a:cubicBezTo>
                  <a:pt x="139" y="53"/>
                  <a:pt x="141" y="62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735480" y="1860840"/>
            <a:ext cx="39553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標的型メールは、情報窃取を目的として特定の範囲に送信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735480" y="2194920"/>
            <a:ext cx="607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利用者の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1337040" y="2200320"/>
            <a:ext cx="1969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PC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フリーフォーム 48"/>
          <p:cNvSpPr/>
          <p:nvPr/>
        </p:nvSpPr>
        <p:spPr>
          <a:xfrm>
            <a:off x="584640" y="260712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1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1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1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1532880" y="2194920"/>
            <a:ext cx="2611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をマルウェアに感染させることが目的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" name="図 50"/>
          <p:cNvPicPr/>
          <p:nvPr/>
        </p:nvPicPr>
        <p:blipFill>
          <a:blip r:embed="rId4"/>
          <a:stretch/>
        </p:blipFill>
        <p:spPr>
          <a:xfrm>
            <a:off x="534960" y="297504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テキスト ボックス 51"/>
          <p:cNvSpPr txBox="1"/>
          <p:nvPr/>
        </p:nvSpPr>
        <p:spPr>
          <a:xfrm>
            <a:off x="735480" y="2529360"/>
            <a:ext cx="2586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送信者の詐称や本文の細工などが特徴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フリーフォーム 52"/>
          <p:cNvSpPr/>
          <p:nvPr/>
        </p:nvSpPr>
        <p:spPr>
          <a:xfrm>
            <a:off x="584640" y="344268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0"/>
                </a:moveTo>
                <a:cubicBezTo>
                  <a:pt x="141" y="79"/>
                  <a:pt x="139" y="88"/>
                  <a:pt x="135" y="97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7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1"/>
                  <a:pt x="2" y="52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835560" y="2949120"/>
            <a:ext cx="1011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対策の現状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フリーフォーム 54"/>
          <p:cNvSpPr/>
          <p:nvPr/>
        </p:nvSpPr>
        <p:spPr>
          <a:xfrm>
            <a:off x="584640" y="377712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9"/>
                  <a:pt x="0" y="80"/>
                  <a:pt x="0" y="70"/>
                </a:cubicBezTo>
                <a:cubicBezTo>
                  <a:pt x="0" y="61"/>
                  <a:pt x="2" y="52"/>
                  <a:pt x="6" y="44"/>
                </a:cubicBezTo>
                <a:cubicBezTo>
                  <a:pt x="9" y="35"/>
                  <a:pt x="14" y="28"/>
                  <a:pt x="21" y="21"/>
                </a:cubicBezTo>
                <a:cubicBezTo>
                  <a:pt x="27" y="15"/>
                  <a:pt x="35" y="10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10"/>
                  <a:pt x="113" y="15"/>
                  <a:pt x="120" y="21"/>
                </a:cubicBezTo>
                <a:cubicBezTo>
                  <a:pt x="127" y="28"/>
                  <a:pt x="132" y="35"/>
                  <a:pt x="135" y="44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735480" y="3364920"/>
            <a:ext cx="36853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 dirty="0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システムによるセキュリティのみでは完全回避が困難</a:t>
            </a:r>
            <a:endParaRPr lang="en-US" sz="11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フリーフォーム 56"/>
          <p:cNvSpPr/>
          <p:nvPr/>
        </p:nvSpPr>
        <p:spPr>
          <a:xfrm>
            <a:off x="584640" y="411120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1"/>
                </a:moveTo>
                <a:cubicBezTo>
                  <a:pt x="141" y="80"/>
                  <a:pt x="139" y="89"/>
                  <a:pt x="135" y="98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8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2"/>
                  <a:pt x="2" y="53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3"/>
                  <a:pt x="141" y="62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735480" y="3699360"/>
            <a:ext cx="22957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人的セキュリティとの併用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が重要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フリーフォーム 58"/>
          <p:cNvSpPr/>
          <p:nvPr/>
        </p:nvSpPr>
        <p:spPr>
          <a:xfrm>
            <a:off x="5548680" y="902520"/>
            <a:ext cx="4813920" cy="3543480"/>
          </a:xfrm>
          <a:custGeom>
            <a:avLst/>
            <a:gdLst/>
            <a:ahLst/>
            <a:cxnLst/>
            <a:rect l="0" t="0" r="r" b="b"/>
            <a:pathLst>
              <a:path w="13372" h="9843">
                <a:moveTo>
                  <a:pt x="0" y="9657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3186" y="0"/>
                </a:lnTo>
                <a:cubicBezTo>
                  <a:pt x="13198" y="0"/>
                  <a:pt x="13210" y="1"/>
                  <a:pt x="13222" y="3"/>
                </a:cubicBezTo>
                <a:cubicBezTo>
                  <a:pt x="13234" y="5"/>
                  <a:pt x="13246" y="9"/>
                  <a:pt x="13257" y="14"/>
                </a:cubicBezTo>
                <a:cubicBezTo>
                  <a:pt x="13268" y="18"/>
                  <a:pt x="13279" y="24"/>
                  <a:pt x="13289" y="31"/>
                </a:cubicBezTo>
                <a:cubicBezTo>
                  <a:pt x="13299" y="38"/>
                  <a:pt x="13309" y="45"/>
                  <a:pt x="13317" y="54"/>
                </a:cubicBezTo>
                <a:cubicBezTo>
                  <a:pt x="13326" y="63"/>
                  <a:pt x="13334" y="72"/>
                  <a:pt x="13340" y="82"/>
                </a:cubicBezTo>
                <a:cubicBezTo>
                  <a:pt x="13347" y="92"/>
                  <a:pt x="13353" y="103"/>
                  <a:pt x="13358" y="114"/>
                </a:cubicBezTo>
                <a:cubicBezTo>
                  <a:pt x="13362" y="125"/>
                  <a:pt x="13366" y="137"/>
                  <a:pt x="13368" y="149"/>
                </a:cubicBezTo>
                <a:cubicBezTo>
                  <a:pt x="13370" y="161"/>
                  <a:pt x="13372" y="173"/>
                  <a:pt x="13372" y="185"/>
                </a:cubicBezTo>
                <a:lnTo>
                  <a:pt x="13372" y="9657"/>
                </a:lnTo>
                <a:cubicBezTo>
                  <a:pt x="13372" y="9669"/>
                  <a:pt x="13370" y="9681"/>
                  <a:pt x="13368" y="9693"/>
                </a:cubicBezTo>
                <a:cubicBezTo>
                  <a:pt x="13366" y="9705"/>
                  <a:pt x="13362" y="9717"/>
                  <a:pt x="13358" y="9728"/>
                </a:cubicBezTo>
                <a:cubicBezTo>
                  <a:pt x="13353" y="9739"/>
                  <a:pt x="13347" y="9750"/>
                  <a:pt x="13340" y="9760"/>
                </a:cubicBezTo>
                <a:cubicBezTo>
                  <a:pt x="13334" y="9770"/>
                  <a:pt x="13326" y="9780"/>
                  <a:pt x="13317" y="9788"/>
                </a:cubicBezTo>
                <a:cubicBezTo>
                  <a:pt x="13309" y="9797"/>
                  <a:pt x="13299" y="9805"/>
                  <a:pt x="13289" y="9812"/>
                </a:cubicBezTo>
                <a:cubicBezTo>
                  <a:pt x="13279" y="9818"/>
                  <a:pt x="13268" y="9824"/>
                  <a:pt x="13257" y="9829"/>
                </a:cubicBezTo>
                <a:cubicBezTo>
                  <a:pt x="13246" y="9833"/>
                  <a:pt x="13234" y="9837"/>
                  <a:pt x="13222" y="9839"/>
                </a:cubicBezTo>
                <a:cubicBezTo>
                  <a:pt x="13210" y="9842"/>
                  <a:pt x="13198" y="9843"/>
                  <a:pt x="13186" y="9843"/>
                </a:cubicBezTo>
                <a:lnTo>
                  <a:pt x="186" y="9843"/>
                </a:lnTo>
                <a:cubicBezTo>
                  <a:pt x="173" y="9843"/>
                  <a:pt x="161" y="9842"/>
                  <a:pt x="149" y="9839"/>
                </a:cubicBezTo>
                <a:cubicBezTo>
                  <a:pt x="137" y="9837"/>
                  <a:pt x="126" y="9833"/>
                  <a:pt x="115" y="9829"/>
                </a:cubicBezTo>
                <a:cubicBezTo>
                  <a:pt x="103" y="9824"/>
                  <a:pt x="93" y="9818"/>
                  <a:pt x="83" y="9812"/>
                </a:cubicBezTo>
                <a:cubicBezTo>
                  <a:pt x="72" y="9805"/>
                  <a:pt x="63" y="9797"/>
                  <a:pt x="54" y="9788"/>
                </a:cubicBezTo>
                <a:cubicBezTo>
                  <a:pt x="46" y="9780"/>
                  <a:pt x="38" y="9770"/>
                  <a:pt x="31" y="9760"/>
                </a:cubicBezTo>
                <a:cubicBezTo>
                  <a:pt x="24" y="9750"/>
                  <a:pt x="19" y="9739"/>
                  <a:pt x="14" y="9728"/>
                </a:cubicBezTo>
                <a:cubicBezTo>
                  <a:pt x="9" y="9717"/>
                  <a:pt x="6" y="9705"/>
                  <a:pt x="4" y="9693"/>
                </a:cubicBezTo>
                <a:cubicBezTo>
                  <a:pt x="1" y="9681"/>
                  <a:pt x="0" y="9669"/>
                  <a:pt x="0" y="9657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" name="図 59"/>
          <p:cNvPicPr/>
          <p:nvPr/>
        </p:nvPicPr>
        <p:blipFill>
          <a:blip r:embed="rId5"/>
          <a:stretch/>
        </p:blipFill>
        <p:spPr>
          <a:xfrm>
            <a:off x="5749560" y="11365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テキスト ボックス 60"/>
          <p:cNvSpPr txBox="1"/>
          <p:nvPr/>
        </p:nvSpPr>
        <p:spPr>
          <a:xfrm>
            <a:off x="735480" y="4033440"/>
            <a:ext cx="2586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標的型メール訓練が重要な対策の一つ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フリーフォーム 61"/>
          <p:cNvSpPr/>
          <p:nvPr/>
        </p:nvSpPr>
        <p:spPr>
          <a:xfrm>
            <a:off x="5799240" y="160416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1"/>
                </a:moveTo>
                <a:cubicBezTo>
                  <a:pt x="141" y="80"/>
                  <a:pt x="139" y="89"/>
                  <a:pt x="135" y="98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4" y="127"/>
                  <a:pt x="106" y="132"/>
                  <a:pt x="98" y="135"/>
                </a:cubicBezTo>
                <a:cubicBezTo>
                  <a:pt x="89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8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1"/>
                  <a:pt x="2" y="52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9" y="2"/>
                  <a:pt x="98" y="6"/>
                </a:cubicBezTo>
                <a:cubicBezTo>
                  <a:pt x="106" y="9"/>
                  <a:pt x="114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1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6050160" y="1110600"/>
            <a:ext cx="22276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標的型メール訓練の課題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フリーフォーム 63"/>
          <p:cNvSpPr/>
          <p:nvPr/>
        </p:nvSpPr>
        <p:spPr>
          <a:xfrm>
            <a:off x="5799240" y="193860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79"/>
                  <a:pt x="139" y="88"/>
                  <a:pt x="135" y="96"/>
                </a:cubicBezTo>
                <a:cubicBezTo>
                  <a:pt x="132" y="105"/>
                  <a:pt x="127" y="113"/>
                  <a:pt x="120" y="120"/>
                </a:cubicBezTo>
                <a:cubicBezTo>
                  <a:pt x="114" y="126"/>
                  <a:pt x="106" y="131"/>
                  <a:pt x="98" y="135"/>
                </a:cubicBezTo>
                <a:cubicBezTo>
                  <a:pt x="89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5"/>
                  <a:pt x="6" y="96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0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9" y="2"/>
                  <a:pt x="98" y="5"/>
                </a:cubicBezTo>
                <a:cubicBezTo>
                  <a:pt x="106" y="9"/>
                  <a:pt x="114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0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5950080" y="1526400"/>
            <a:ext cx="1674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訓練サービス費用の問題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フリーフォーム 65"/>
          <p:cNvSpPr/>
          <p:nvPr/>
        </p:nvSpPr>
        <p:spPr>
          <a:xfrm>
            <a:off x="5799240" y="227268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1"/>
                </a:moveTo>
                <a:cubicBezTo>
                  <a:pt x="141" y="80"/>
                  <a:pt x="139" y="89"/>
                  <a:pt x="135" y="98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4" y="127"/>
                  <a:pt x="106" y="132"/>
                  <a:pt x="98" y="135"/>
                </a:cubicBezTo>
                <a:cubicBezTo>
                  <a:pt x="89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8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2"/>
                  <a:pt x="2" y="53"/>
                  <a:pt x="6" y="44"/>
                </a:cubicBezTo>
                <a:cubicBezTo>
                  <a:pt x="9" y="36"/>
                  <a:pt x="14" y="28"/>
                  <a:pt x="21" y="22"/>
                </a:cubicBezTo>
                <a:cubicBezTo>
                  <a:pt x="27" y="15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9" y="2"/>
                  <a:pt x="98" y="6"/>
                </a:cubicBezTo>
                <a:cubicBezTo>
                  <a:pt x="106" y="9"/>
                  <a:pt x="114" y="15"/>
                  <a:pt x="120" y="22"/>
                </a:cubicBezTo>
                <a:cubicBezTo>
                  <a:pt x="127" y="28"/>
                  <a:pt x="132" y="36"/>
                  <a:pt x="135" y="44"/>
                </a:cubicBezTo>
                <a:cubicBezTo>
                  <a:pt x="139" y="53"/>
                  <a:pt x="141" y="62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5950080" y="1860840"/>
            <a:ext cx="2741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企業が訓練を積極的に実施できない状況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フリーフォーム 67"/>
          <p:cNvSpPr/>
          <p:nvPr/>
        </p:nvSpPr>
        <p:spPr>
          <a:xfrm>
            <a:off x="5799240" y="260712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1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4" y="126"/>
                  <a:pt x="106" y="131"/>
                  <a:pt x="98" y="135"/>
                </a:cubicBezTo>
                <a:cubicBezTo>
                  <a:pt x="89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1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9" y="2"/>
                  <a:pt x="98" y="5"/>
                </a:cubicBezTo>
                <a:cubicBezTo>
                  <a:pt x="106" y="9"/>
                  <a:pt x="114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1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5950080" y="2194920"/>
            <a:ext cx="31939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独自環境構築には技術的知識・ノウハウが必要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5950080" y="2529360"/>
            <a:ext cx="31939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訓練用標的型メールの自動生成における課題：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6150600" y="2829960"/>
            <a:ext cx="2737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未知の標的型メールへの対応手法の不足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フリーフォーム 71"/>
          <p:cNvSpPr/>
          <p:nvPr/>
        </p:nvSpPr>
        <p:spPr>
          <a:xfrm>
            <a:off x="334080" y="4713120"/>
            <a:ext cx="10028520" cy="1345680"/>
          </a:xfrm>
          <a:custGeom>
            <a:avLst/>
            <a:gdLst/>
            <a:ahLst/>
            <a:cxnLst/>
            <a:rect l="0" t="0" r="r" b="b"/>
            <a:pathLst>
              <a:path w="27857" h="3738">
                <a:moveTo>
                  <a:pt x="0" y="3551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27671" y="0"/>
                </a:lnTo>
                <a:cubicBezTo>
                  <a:pt x="27683" y="0"/>
                  <a:pt x="27695" y="1"/>
                  <a:pt x="27707" y="3"/>
                </a:cubicBezTo>
                <a:cubicBezTo>
                  <a:pt x="27719" y="6"/>
                  <a:pt x="27731" y="9"/>
                  <a:pt x="27742" y="14"/>
                </a:cubicBezTo>
                <a:cubicBezTo>
                  <a:pt x="27753" y="18"/>
                  <a:pt x="27764" y="24"/>
                  <a:pt x="27774" y="31"/>
                </a:cubicBezTo>
                <a:cubicBezTo>
                  <a:pt x="27784" y="38"/>
                  <a:pt x="27794" y="45"/>
                  <a:pt x="27802" y="54"/>
                </a:cubicBezTo>
                <a:cubicBezTo>
                  <a:pt x="27811" y="63"/>
                  <a:pt x="27819" y="72"/>
                  <a:pt x="27825" y="82"/>
                </a:cubicBezTo>
                <a:cubicBezTo>
                  <a:pt x="27832" y="92"/>
                  <a:pt x="27838" y="103"/>
                  <a:pt x="27843" y="114"/>
                </a:cubicBezTo>
                <a:cubicBezTo>
                  <a:pt x="27847" y="126"/>
                  <a:pt x="27851" y="137"/>
                  <a:pt x="27853" y="149"/>
                </a:cubicBezTo>
                <a:cubicBezTo>
                  <a:pt x="27855" y="161"/>
                  <a:pt x="27857" y="173"/>
                  <a:pt x="27857" y="185"/>
                </a:cubicBezTo>
                <a:lnTo>
                  <a:pt x="27857" y="3551"/>
                </a:lnTo>
                <a:cubicBezTo>
                  <a:pt x="27857" y="3563"/>
                  <a:pt x="27855" y="3576"/>
                  <a:pt x="27853" y="3587"/>
                </a:cubicBezTo>
                <a:cubicBezTo>
                  <a:pt x="27851" y="3599"/>
                  <a:pt x="27847" y="3611"/>
                  <a:pt x="27843" y="3622"/>
                </a:cubicBezTo>
                <a:cubicBezTo>
                  <a:pt x="27838" y="3634"/>
                  <a:pt x="27832" y="3644"/>
                  <a:pt x="27825" y="3654"/>
                </a:cubicBezTo>
                <a:cubicBezTo>
                  <a:pt x="27819" y="3665"/>
                  <a:pt x="27811" y="3674"/>
                  <a:pt x="27802" y="3683"/>
                </a:cubicBezTo>
                <a:cubicBezTo>
                  <a:pt x="27794" y="3691"/>
                  <a:pt x="27784" y="3699"/>
                  <a:pt x="27774" y="3706"/>
                </a:cubicBezTo>
                <a:cubicBezTo>
                  <a:pt x="27764" y="3712"/>
                  <a:pt x="27753" y="3718"/>
                  <a:pt x="27742" y="3723"/>
                </a:cubicBezTo>
                <a:cubicBezTo>
                  <a:pt x="27731" y="3728"/>
                  <a:pt x="27719" y="3732"/>
                  <a:pt x="27707" y="3734"/>
                </a:cubicBezTo>
                <a:cubicBezTo>
                  <a:pt x="27695" y="3737"/>
                  <a:pt x="27683" y="3738"/>
                  <a:pt x="27671" y="3738"/>
                </a:cubicBezTo>
                <a:lnTo>
                  <a:pt x="186" y="3738"/>
                </a:lnTo>
                <a:cubicBezTo>
                  <a:pt x="174" y="3738"/>
                  <a:pt x="161" y="3737"/>
                  <a:pt x="149" y="3734"/>
                </a:cubicBezTo>
                <a:cubicBezTo>
                  <a:pt x="138" y="3732"/>
                  <a:pt x="126" y="3728"/>
                  <a:pt x="115" y="3723"/>
                </a:cubicBezTo>
                <a:cubicBezTo>
                  <a:pt x="103" y="3718"/>
                  <a:pt x="93" y="3712"/>
                  <a:pt x="83" y="3706"/>
                </a:cubicBezTo>
                <a:cubicBezTo>
                  <a:pt x="72" y="3699"/>
                  <a:pt x="63" y="3691"/>
                  <a:pt x="54" y="3683"/>
                </a:cubicBezTo>
                <a:cubicBezTo>
                  <a:pt x="46" y="3674"/>
                  <a:pt x="38" y="3665"/>
                  <a:pt x="31" y="3654"/>
                </a:cubicBezTo>
                <a:cubicBezTo>
                  <a:pt x="25" y="3644"/>
                  <a:pt x="19" y="3634"/>
                  <a:pt x="14" y="3622"/>
                </a:cubicBezTo>
                <a:cubicBezTo>
                  <a:pt x="9" y="3611"/>
                  <a:pt x="6" y="3599"/>
                  <a:pt x="4" y="3587"/>
                </a:cubicBezTo>
                <a:cubicBezTo>
                  <a:pt x="1" y="3576"/>
                  <a:pt x="0" y="3563"/>
                  <a:pt x="0" y="3551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" name="図 72"/>
          <p:cNvPicPr/>
          <p:nvPr/>
        </p:nvPicPr>
        <p:blipFill>
          <a:blip r:embed="rId6"/>
          <a:stretch/>
        </p:blipFill>
        <p:spPr>
          <a:xfrm>
            <a:off x="534960" y="49471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テキスト ボックス 73"/>
          <p:cNvSpPr txBox="1"/>
          <p:nvPr/>
        </p:nvSpPr>
        <p:spPr>
          <a:xfrm>
            <a:off x="6150600" y="3063960"/>
            <a:ext cx="19868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標的型メールサンプルの不足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835560" y="492120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研究目的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534960" y="5346000"/>
            <a:ext cx="710424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CD34D"/>
                </a:solidFill>
                <a:effectLst/>
                <a:uFillTx/>
                <a:latin typeface="WenQuanYiZenHei"/>
                <a:ea typeface="WenQuanYiZenHei"/>
              </a:rPr>
              <a:t>「自作標的型メールを学習させ生成した訓練用標的型メールの自動配信システム」</a:t>
            </a:r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を構築し、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7554600" y="5352120"/>
            <a:ext cx="16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テキスト ボックス 77"/>
          <p:cNvSpPr txBox="1"/>
          <p:nvPr/>
        </p:nvSpPr>
        <p:spPr>
          <a:xfrm>
            <a:off x="7607520" y="5346000"/>
            <a:ext cx="25311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企業が標的型メール訓練を積極的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534960" y="5621760"/>
            <a:ext cx="30693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に行うことができる状況を作ることで、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3543120" y="5627880"/>
            <a:ext cx="16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1" name="図 80"/>
          <p:cNvPicPr/>
          <p:nvPr/>
        </p:nvPicPr>
        <p:blipFill>
          <a:blip r:embed="rId7"/>
          <a:stretch/>
        </p:blipFill>
        <p:spPr>
          <a:xfrm>
            <a:off x="10053000" y="6025320"/>
            <a:ext cx="50940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テキスト ボックス 81"/>
          <p:cNvSpPr txBox="1"/>
          <p:nvPr/>
        </p:nvSpPr>
        <p:spPr>
          <a:xfrm>
            <a:off x="3596400" y="5621760"/>
            <a:ext cx="5603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社会のセキュリティ意識を向上させ、標的型メール被害を減少させること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図 82"/>
          <p:cNvPicPr/>
          <p:nvPr/>
        </p:nvPicPr>
        <p:blipFill>
          <a:blip r:embed="rId2"/>
          <a:stretch/>
        </p:blipFill>
        <p:spPr>
          <a:xfrm>
            <a:off x="0" y="0"/>
            <a:ext cx="10696320" cy="695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テキスト ボックス 83"/>
          <p:cNvSpPr txBox="1"/>
          <p:nvPr/>
        </p:nvSpPr>
        <p:spPr>
          <a:xfrm>
            <a:off x="334440" y="326880"/>
            <a:ext cx="354456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79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標的型メール攻撃の現状と対策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フリーフォーム 84"/>
          <p:cNvSpPr/>
          <p:nvPr/>
        </p:nvSpPr>
        <p:spPr>
          <a:xfrm>
            <a:off x="334080" y="835560"/>
            <a:ext cx="3209400" cy="3643920"/>
          </a:xfrm>
          <a:custGeom>
            <a:avLst/>
            <a:gdLst/>
            <a:ahLst/>
            <a:cxnLst/>
            <a:rect l="0" t="0" r="r" b="b"/>
            <a:pathLst>
              <a:path w="8915" h="10122">
                <a:moveTo>
                  <a:pt x="0" y="9936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6"/>
                  <a:pt x="8789" y="9"/>
                  <a:pt x="8800" y="14"/>
                </a:cubicBezTo>
                <a:cubicBezTo>
                  <a:pt x="8811" y="19"/>
                  <a:pt x="8822" y="24"/>
                  <a:pt x="8832" y="31"/>
                </a:cubicBezTo>
                <a:cubicBezTo>
                  <a:pt x="8842" y="38"/>
                  <a:pt x="8852" y="46"/>
                  <a:pt x="8860" y="54"/>
                </a:cubicBezTo>
                <a:cubicBezTo>
                  <a:pt x="8869" y="63"/>
                  <a:pt x="8877" y="72"/>
                  <a:pt x="8884" y="82"/>
                </a:cubicBezTo>
                <a:cubicBezTo>
                  <a:pt x="8890" y="92"/>
                  <a:pt x="8896" y="103"/>
                  <a:pt x="8901" y="114"/>
                </a:cubicBezTo>
                <a:cubicBezTo>
                  <a:pt x="8905" y="126"/>
                  <a:pt x="8909" y="137"/>
                  <a:pt x="8911" y="149"/>
                </a:cubicBezTo>
                <a:cubicBezTo>
                  <a:pt x="8914" y="161"/>
                  <a:pt x="8915" y="173"/>
                  <a:pt x="8915" y="186"/>
                </a:cubicBezTo>
                <a:lnTo>
                  <a:pt x="8915" y="9936"/>
                </a:lnTo>
                <a:cubicBezTo>
                  <a:pt x="8915" y="9948"/>
                  <a:pt x="8914" y="9960"/>
                  <a:pt x="8911" y="9972"/>
                </a:cubicBezTo>
                <a:cubicBezTo>
                  <a:pt x="8909" y="9984"/>
                  <a:pt x="8905" y="9996"/>
                  <a:pt x="8901" y="10007"/>
                </a:cubicBezTo>
                <a:cubicBezTo>
                  <a:pt x="8896" y="10018"/>
                  <a:pt x="8890" y="10029"/>
                  <a:pt x="8884" y="10039"/>
                </a:cubicBezTo>
                <a:cubicBezTo>
                  <a:pt x="8877" y="10049"/>
                  <a:pt x="8869" y="10059"/>
                  <a:pt x="8860" y="10067"/>
                </a:cubicBezTo>
                <a:cubicBezTo>
                  <a:pt x="8852" y="10076"/>
                  <a:pt x="8842" y="10084"/>
                  <a:pt x="8832" y="10090"/>
                </a:cubicBezTo>
                <a:cubicBezTo>
                  <a:pt x="8822" y="10097"/>
                  <a:pt x="8811" y="10103"/>
                  <a:pt x="8800" y="10108"/>
                </a:cubicBezTo>
                <a:cubicBezTo>
                  <a:pt x="8789" y="10112"/>
                  <a:pt x="8777" y="10116"/>
                  <a:pt x="8765" y="10118"/>
                </a:cubicBezTo>
                <a:cubicBezTo>
                  <a:pt x="8753" y="10121"/>
                  <a:pt x="8741" y="10122"/>
                  <a:pt x="8729" y="10122"/>
                </a:cubicBezTo>
                <a:lnTo>
                  <a:pt x="186" y="10122"/>
                </a:lnTo>
                <a:cubicBezTo>
                  <a:pt x="174" y="10122"/>
                  <a:pt x="161" y="10121"/>
                  <a:pt x="149" y="10118"/>
                </a:cubicBezTo>
                <a:cubicBezTo>
                  <a:pt x="138" y="10116"/>
                  <a:pt x="126" y="10112"/>
                  <a:pt x="115" y="10108"/>
                </a:cubicBezTo>
                <a:cubicBezTo>
                  <a:pt x="103" y="10103"/>
                  <a:pt x="93" y="10097"/>
                  <a:pt x="83" y="10090"/>
                </a:cubicBezTo>
                <a:cubicBezTo>
                  <a:pt x="72" y="10084"/>
                  <a:pt x="63" y="10076"/>
                  <a:pt x="54" y="10067"/>
                </a:cubicBezTo>
                <a:cubicBezTo>
                  <a:pt x="46" y="10059"/>
                  <a:pt x="38" y="10049"/>
                  <a:pt x="31" y="10039"/>
                </a:cubicBezTo>
                <a:cubicBezTo>
                  <a:pt x="25" y="10029"/>
                  <a:pt x="19" y="10018"/>
                  <a:pt x="14" y="10007"/>
                </a:cubicBezTo>
                <a:cubicBezTo>
                  <a:pt x="9" y="9996"/>
                  <a:pt x="6" y="9984"/>
                  <a:pt x="4" y="9972"/>
                </a:cubicBezTo>
                <a:cubicBezTo>
                  <a:pt x="1" y="9960"/>
                  <a:pt x="0" y="9948"/>
                  <a:pt x="0" y="9936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6" name="図 85"/>
          <p:cNvPicPr/>
          <p:nvPr/>
        </p:nvPicPr>
        <p:blipFill>
          <a:blip r:embed="rId3"/>
          <a:stretch/>
        </p:blipFill>
        <p:spPr>
          <a:xfrm>
            <a:off x="534960" y="10695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テキスト ボックス 86"/>
          <p:cNvSpPr txBox="1"/>
          <p:nvPr/>
        </p:nvSpPr>
        <p:spPr>
          <a:xfrm>
            <a:off x="9880560" y="388080"/>
            <a:ext cx="4838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 / 12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フリーフォーム 87"/>
          <p:cNvSpPr/>
          <p:nvPr/>
        </p:nvSpPr>
        <p:spPr>
          <a:xfrm>
            <a:off x="584640" y="153756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69"/>
                </a:moveTo>
                <a:cubicBezTo>
                  <a:pt x="141" y="79"/>
                  <a:pt x="139" y="87"/>
                  <a:pt x="135" y="96"/>
                </a:cubicBezTo>
                <a:cubicBezTo>
                  <a:pt x="132" y="105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5"/>
                  <a:pt x="6" y="96"/>
                </a:cubicBezTo>
                <a:cubicBezTo>
                  <a:pt x="2" y="87"/>
                  <a:pt x="0" y="79"/>
                  <a:pt x="0" y="69"/>
                </a:cubicBezTo>
                <a:cubicBezTo>
                  <a:pt x="0" y="60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1"/>
                  <a:pt x="61" y="0"/>
                  <a:pt x="70" y="0"/>
                </a:cubicBezTo>
                <a:cubicBezTo>
                  <a:pt x="79" y="0"/>
                  <a:pt x="88" y="1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0"/>
                  <a:pt x="141" y="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テキスト ボックス 88"/>
          <p:cNvSpPr txBox="1"/>
          <p:nvPr/>
        </p:nvSpPr>
        <p:spPr>
          <a:xfrm>
            <a:off x="835560" y="1043640"/>
            <a:ext cx="22276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標的型メール攻撃の特徴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テキスト ボックス 89"/>
          <p:cNvSpPr txBox="1"/>
          <p:nvPr/>
        </p:nvSpPr>
        <p:spPr>
          <a:xfrm>
            <a:off x="735480" y="1459800"/>
            <a:ext cx="2583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情報窃取等を目的として特定範囲に送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フリーフォーム 90"/>
          <p:cNvSpPr/>
          <p:nvPr/>
        </p:nvSpPr>
        <p:spPr>
          <a:xfrm>
            <a:off x="584640" y="210564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1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0"/>
                  <a:pt x="70" y="140"/>
                </a:cubicBezTo>
                <a:cubicBezTo>
                  <a:pt x="61" y="140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7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2"/>
                  <a:pt x="2" y="52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2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テキスト ボックス 91"/>
          <p:cNvSpPr txBox="1"/>
          <p:nvPr/>
        </p:nvSpPr>
        <p:spPr>
          <a:xfrm>
            <a:off x="735480" y="1693440"/>
            <a:ext cx="151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信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テキスト ボックス 92"/>
          <p:cNvSpPr txBox="1"/>
          <p:nvPr/>
        </p:nvSpPr>
        <p:spPr>
          <a:xfrm>
            <a:off x="735480" y="2027880"/>
            <a:ext cx="607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利用者の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1337040" y="2033280"/>
            <a:ext cx="1969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PC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1532880" y="2027880"/>
            <a:ext cx="1846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をマルウェアに感染させる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フリーフォーム 95"/>
          <p:cNvSpPr/>
          <p:nvPr/>
        </p:nvSpPr>
        <p:spPr>
          <a:xfrm>
            <a:off x="584640" y="267408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80"/>
                  <a:pt x="139" y="88"/>
                  <a:pt x="135" y="97"/>
                </a:cubicBezTo>
                <a:cubicBezTo>
                  <a:pt x="132" y="105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5"/>
                  <a:pt x="6" y="97"/>
                </a:cubicBezTo>
                <a:cubicBezTo>
                  <a:pt x="2" y="88"/>
                  <a:pt x="0" y="80"/>
                  <a:pt x="0" y="70"/>
                </a:cubicBezTo>
                <a:cubicBezTo>
                  <a:pt x="0" y="61"/>
                  <a:pt x="2" y="52"/>
                  <a:pt x="6" y="44"/>
                </a:cubicBezTo>
                <a:cubicBezTo>
                  <a:pt x="9" y="35"/>
                  <a:pt x="14" y="28"/>
                  <a:pt x="21" y="21"/>
                </a:cubicBezTo>
                <a:cubicBezTo>
                  <a:pt x="27" y="15"/>
                  <a:pt x="35" y="10"/>
                  <a:pt x="43" y="5"/>
                </a:cubicBezTo>
                <a:cubicBezTo>
                  <a:pt x="52" y="1"/>
                  <a:pt x="61" y="0"/>
                  <a:pt x="70" y="0"/>
                </a:cubicBezTo>
                <a:cubicBezTo>
                  <a:pt x="79" y="0"/>
                  <a:pt x="88" y="1"/>
                  <a:pt x="97" y="5"/>
                </a:cubicBezTo>
                <a:cubicBezTo>
                  <a:pt x="105" y="10"/>
                  <a:pt x="113" y="15"/>
                  <a:pt x="120" y="21"/>
                </a:cubicBezTo>
                <a:cubicBezTo>
                  <a:pt x="127" y="28"/>
                  <a:pt x="132" y="35"/>
                  <a:pt x="135" y="44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テキスト ボックス 96"/>
          <p:cNvSpPr txBox="1"/>
          <p:nvPr/>
        </p:nvSpPr>
        <p:spPr>
          <a:xfrm>
            <a:off x="735480" y="2261880"/>
            <a:ext cx="7657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ことが目的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フリーフォーム 97"/>
          <p:cNvSpPr/>
          <p:nvPr/>
        </p:nvSpPr>
        <p:spPr>
          <a:xfrm>
            <a:off x="584640" y="300816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1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0"/>
                  <a:pt x="70" y="140"/>
                </a:cubicBezTo>
                <a:cubicBezTo>
                  <a:pt x="61" y="140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7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2"/>
                  <a:pt x="2" y="52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2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テキスト ボックス 98"/>
          <p:cNvSpPr txBox="1"/>
          <p:nvPr/>
        </p:nvSpPr>
        <p:spPr>
          <a:xfrm>
            <a:off x="735480" y="2596320"/>
            <a:ext cx="909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送信者の詐称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テキスト ボックス 99"/>
          <p:cNvSpPr txBox="1"/>
          <p:nvPr/>
        </p:nvSpPr>
        <p:spPr>
          <a:xfrm>
            <a:off x="735480" y="2930400"/>
            <a:ext cx="2608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添付ファイルを開かせるための件名の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フリーフォーム 100"/>
          <p:cNvSpPr/>
          <p:nvPr/>
        </p:nvSpPr>
        <p:spPr>
          <a:xfrm>
            <a:off x="584640" y="357660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80"/>
                  <a:pt x="139" y="88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8"/>
                  <a:pt x="0" y="80"/>
                  <a:pt x="0" y="70"/>
                </a:cubicBezTo>
                <a:cubicBezTo>
                  <a:pt x="0" y="61"/>
                  <a:pt x="2" y="52"/>
                  <a:pt x="6" y="44"/>
                </a:cubicBezTo>
                <a:cubicBezTo>
                  <a:pt x="9" y="35"/>
                  <a:pt x="14" y="28"/>
                  <a:pt x="21" y="21"/>
                </a:cubicBezTo>
                <a:cubicBezTo>
                  <a:pt x="27" y="15"/>
                  <a:pt x="35" y="10"/>
                  <a:pt x="43" y="6"/>
                </a:cubicBezTo>
                <a:cubicBezTo>
                  <a:pt x="52" y="1"/>
                  <a:pt x="61" y="0"/>
                  <a:pt x="70" y="0"/>
                </a:cubicBezTo>
                <a:cubicBezTo>
                  <a:pt x="79" y="0"/>
                  <a:pt x="88" y="1"/>
                  <a:pt x="97" y="6"/>
                </a:cubicBezTo>
                <a:cubicBezTo>
                  <a:pt x="105" y="10"/>
                  <a:pt x="113" y="15"/>
                  <a:pt x="120" y="21"/>
                </a:cubicBezTo>
                <a:cubicBezTo>
                  <a:pt x="127" y="28"/>
                  <a:pt x="132" y="35"/>
                  <a:pt x="135" y="44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テキスト ボックス 101"/>
          <p:cNvSpPr txBox="1"/>
          <p:nvPr/>
        </p:nvSpPr>
        <p:spPr>
          <a:xfrm>
            <a:off x="735480" y="3164400"/>
            <a:ext cx="302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工夫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フリーフォーム 102"/>
          <p:cNvSpPr/>
          <p:nvPr/>
        </p:nvSpPr>
        <p:spPr>
          <a:xfrm>
            <a:off x="584640" y="391068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1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0"/>
                  <a:pt x="70" y="140"/>
                </a:cubicBezTo>
                <a:cubicBezTo>
                  <a:pt x="61" y="140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7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2"/>
                  <a:pt x="2" y="53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3"/>
                  <a:pt x="141" y="62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テキスト ボックス 103"/>
          <p:cNvSpPr txBox="1"/>
          <p:nvPr/>
        </p:nvSpPr>
        <p:spPr>
          <a:xfrm>
            <a:off x="735480" y="3498840"/>
            <a:ext cx="1214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本文の巧妙な細工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テキスト ボックス 104"/>
          <p:cNvSpPr txBox="1"/>
          <p:nvPr/>
        </p:nvSpPr>
        <p:spPr>
          <a:xfrm>
            <a:off x="735480" y="3832920"/>
            <a:ext cx="2593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標的組織のネットワークへの初期侵入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フリーフォーム 105"/>
          <p:cNvSpPr/>
          <p:nvPr/>
        </p:nvSpPr>
        <p:spPr>
          <a:xfrm>
            <a:off x="3743640" y="835560"/>
            <a:ext cx="3209400" cy="3643920"/>
          </a:xfrm>
          <a:custGeom>
            <a:avLst/>
            <a:gdLst/>
            <a:ahLst/>
            <a:cxnLst/>
            <a:rect l="0" t="0" r="r" b="b"/>
            <a:pathLst>
              <a:path w="8915" h="10122">
                <a:moveTo>
                  <a:pt x="0" y="9936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6"/>
                  <a:pt x="8789" y="9"/>
                  <a:pt x="8800" y="14"/>
                </a:cubicBezTo>
                <a:cubicBezTo>
                  <a:pt x="8811" y="19"/>
                  <a:pt x="8822" y="24"/>
                  <a:pt x="8832" y="31"/>
                </a:cubicBezTo>
                <a:cubicBezTo>
                  <a:pt x="8842" y="38"/>
                  <a:pt x="8852" y="46"/>
                  <a:pt x="8860" y="54"/>
                </a:cubicBezTo>
                <a:cubicBezTo>
                  <a:pt x="8869" y="63"/>
                  <a:pt x="8877" y="72"/>
                  <a:pt x="8883" y="82"/>
                </a:cubicBezTo>
                <a:cubicBezTo>
                  <a:pt x="8890" y="92"/>
                  <a:pt x="8896" y="103"/>
                  <a:pt x="8901" y="114"/>
                </a:cubicBezTo>
                <a:cubicBezTo>
                  <a:pt x="8905" y="126"/>
                  <a:pt x="8909" y="137"/>
                  <a:pt x="8911" y="149"/>
                </a:cubicBezTo>
                <a:cubicBezTo>
                  <a:pt x="8914" y="161"/>
                  <a:pt x="8915" y="173"/>
                  <a:pt x="8915" y="186"/>
                </a:cubicBezTo>
                <a:lnTo>
                  <a:pt x="8915" y="9936"/>
                </a:lnTo>
                <a:cubicBezTo>
                  <a:pt x="8915" y="9948"/>
                  <a:pt x="8914" y="9960"/>
                  <a:pt x="8911" y="9972"/>
                </a:cubicBezTo>
                <a:cubicBezTo>
                  <a:pt x="8909" y="9984"/>
                  <a:pt x="8905" y="9996"/>
                  <a:pt x="8901" y="10007"/>
                </a:cubicBezTo>
                <a:cubicBezTo>
                  <a:pt x="8896" y="10018"/>
                  <a:pt x="8890" y="10029"/>
                  <a:pt x="8883" y="10039"/>
                </a:cubicBezTo>
                <a:cubicBezTo>
                  <a:pt x="8877" y="10049"/>
                  <a:pt x="8869" y="10059"/>
                  <a:pt x="8860" y="10067"/>
                </a:cubicBezTo>
                <a:cubicBezTo>
                  <a:pt x="8852" y="10076"/>
                  <a:pt x="8842" y="10084"/>
                  <a:pt x="8832" y="10090"/>
                </a:cubicBezTo>
                <a:cubicBezTo>
                  <a:pt x="8822" y="10097"/>
                  <a:pt x="8811" y="10103"/>
                  <a:pt x="8800" y="10108"/>
                </a:cubicBezTo>
                <a:cubicBezTo>
                  <a:pt x="8789" y="10112"/>
                  <a:pt x="8777" y="10116"/>
                  <a:pt x="8765" y="10118"/>
                </a:cubicBezTo>
                <a:cubicBezTo>
                  <a:pt x="8753" y="10121"/>
                  <a:pt x="8741" y="10122"/>
                  <a:pt x="8729" y="10122"/>
                </a:cubicBezTo>
                <a:lnTo>
                  <a:pt x="186" y="10122"/>
                </a:lnTo>
                <a:cubicBezTo>
                  <a:pt x="173" y="10122"/>
                  <a:pt x="161" y="10121"/>
                  <a:pt x="149" y="10118"/>
                </a:cubicBezTo>
                <a:cubicBezTo>
                  <a:pt x="137" y="10116"/>
                  <a:pt x="126" y="10112"/>
                  <a:pt x="115" y="10108"/>
                </a:cubicBezTo>
                <a:cubicBezTo>
                  <a:pt x="103" y="10103"/>
                  <a:pt x="93" y="10097"/>
                  <a:pt x="82" y="10090"/>
                </a:cubicBezTo>
                <a:cubicBezTo>
                  <a:pt x="72" y="10084"/>
                  <a:pt x="63" y="10076"/>
                  <a:pt x="54" y="10067"/>
                </a:cubicBezTo>
                <a:cubicBezTo>
                  <a:pt x="46" y="10059"/>
                  <a:pt x="38" y="10049"/>
                  <a:pt x="31" y="10039"/>
                </a:cubicBezTo>
                <a:cubicBezTo>
                  <a:pt x="24" y="10029"/>
                  <a:pt x="19" y="10018"/>
                  <a:pt x="14" y="10007"/>
                </a:cubicBezTo>
                <a:cubicBezTo>
                  <a:pt x="9" y="9996"/>
                  <a:pt x="6" y="9984"/>
                  <a:pt x="4" y="9972"/>
                </a:cubicBezTo>
                <a:cubicBezTo>
                  <a:pt x="1" y="9960"/>
                  <a:pt x="0" y="9948"/>
                  <a:pt x="0" y="9936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7" name="図 106"/>
          <p:cNvPicPr/>
          <p:nvPr/>
        </p:nvPicPr>
        <p:blipFill>
          <a:blip r:embed="rId4"/>
          <a:stretch/>
        </p:blipFill>
        <p:spPr>
          <a:xfrm>
            <a:off x="3944520" y="10695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テキスト ボックス 107"/>
          <p:cNvSpPr txBox="1"/>
          <p:nvPr/>
        </p:nvSpPr>
        <p:spPr>
          <a:xfrm>
            <a:off x="735480" y="4066920"/>
            <a:ext cx="302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手段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9" name="図 108"/>
          <p:cNvPicPr/>
          <p:nvPr/>
        </p:nvPicPr>
        <p:blipFill>
          <a:blip r:embed="rId5"/>
          <a:stretch/>
        </p:blipFill>
        <p:spPr>
          <a:xfrm>
            <a:off x="3944520" y="147060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テキスト ボックス 109"/>
          <p:cNvSpPr txBox="1"/>
          <p:nvPr/>
        </p:nvSpPr>
        <p:spPr>
          <a:xfrm>
            <a:off x="4245120" y="104364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被害状況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テキスト ボックス 110"/>
          <p:cNvSpPr txBox="1"/>
          <p:nvPr/>
        </p:nvSpPr>
        <p:spPr>
          <a:xfrm>
            <a:off x="4161600" y="1464840"/>
            <a:ext cx="2872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IPA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テキスト ボックス 111"/>
          <p:cNvSpPr txBox="1"/>
          <p:nvPr/>
        </p:nvSpPr>
        <p:spPr>
          <a:xfrm>
            <a:off x="4437720" y="1459800"/>
            <a:ext cx="1383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の情報セキュリティ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テキスト ボックス 112"/>
          <p:cNvSpPr txBox="1"/>
          <p:nvPr/>
        </p:nvSpPr>
        <p:spPr>
          <a:xfrm>
            <a:off x="5791680" y="1464840"/>
            <a:ext cx="192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10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テキスト ボックス 113"/>
          <p:cNvSpPr txBox="1"/>
          <p:nvPr/>
        </p:nvSpPr>
        <p:spPr>
          <a:xfrm>
            <a:off x="5982840" y="1459800"/>
            <a:ext cx="607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大脅威で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テキスト ボックス 114"/>
          <p:cNvSpPr txBox="1"/>
          <p:nvPr/>
        </p:nvSpPr>
        <p:spPr>
          <a:xfrm>
            <a:off x="3944520" y="1698840"/>
            <a:ext cx="4204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2016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4362840" y="1693440"/>
            <a:ext cx="460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年から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4814280" y="169884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9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8" name="図 117"/>
          <p:cNvPicPr/>
          <p:nvPr/>
        </p:nvPicPr>
        <p:blipFill>
          <a:blip r:embed="rId5"/>
          <a:stretch/>
        </p:blipFill>
        <p:spPr>
          <a:xfrm>
            <a:off x="3944520" y="207252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テキスト ボックス 118"/>
          <p:cNvSpPr txBox="1"/>
          <p:nvPr/>
        </p:nvSpPr>
        <p:spPr>
          <a:xfrm>
            <a:off x="4919040" y="1693440"/>
            <a:ext cx="909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年連続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で選出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テキスト ボックス 119"/>
          <p:cNvSpPr txBox="1"/>
          <p:nvPr/>
        </p:nvSpPr>
        <p:spPr>
          <a:xfrm>
            <a:off x="4161600" y="206640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テキスト ボックス 120"/>
          <p:cNvSpPr txBox="1"/>
          <p:nvPr/>
        </p:nvSpPr>
        <p:spPr>
          <a:xfrm>
            <a:off x="4209480" y="2061360"/>
            <a:ext cx="2439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優先的に対策を行うべき攻撃の一つ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2" name="図 121"/>
          <p:cNvPicPr/>
          <p:nvPr/>
        </p:nvPicPr>
        <p:blipFill>
          <a:blip r:embed="rId6"/>
          <a:stretch/>
        </p:blipFill>
        <p:spPr>
          <a:xfrm>
            <a:off x="3944520" y="2808000"/>
            <a:ext cx="74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テキスト ボックス 122"/>
          <p:cNvSpPr txBox="1"/>
          <p:nvPr/>
        </p:nvSpPr>
        <p:spPr>
          <a:xfrm>
            <a:off x="3944520" y="2421360"/>
            <a:ext cx="8427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被害の特徴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テキスト ボックス 123"/>
          <p:cNvSpPr txBox="1"/>
          <p:nvPr/>
        </p:nvSpPr>
        <p:spPr>
          <a:xfrm>
            <a:off x="4086360" y="280188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テキスト ボックス 124"/>
          <p:cNvSpPr txBox="1"/>
          <p:nvPr/>
        </p:nvSpPr>
        <p:spPr>
          <a:xfrm>
            <a:off x="4134240" y="2796840"/>
            <a:ext cx="26258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システムによるセキュリティのみでは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6" name="図 125"/>
          <p:cNvPicPr/>
          <p:nvPr/>
        </p:nvPicPr>
        <p:blipFill>
          <a:blip r:embed="rId6"/>
          <a:stretch/>
        </p:blipFill>
        <p:spPr>
          <a:xfrm>
            <a:off x="3944520" y="3409560"/>
            <a:ext cx="74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テキスト ボックス 126"/>
          <p:cNvSpPr txBox="1"/>
          <p:nvPr/>
        </p:nvSpPr>
        <p:spPr>
          <a:xfrm>
            <a:off x="3944520" y="3030840"/>
            <a:ext cx="1832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CD34D"/>
                </a:solidFill>
                <a:effectLst/>
                <a:uFillTx/>
                <a:latin typeface="WenQuanYiZenHei"/>
                <a:ea typeface="WenQuanYiZenHei"/>
              </a:rPr>
              <a:t>完全に回避することが困難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テキスト ボックス 127"/>
          <p:cNvSpPr txBox="1"/>
          <p:nvPr/>
        </p:nvSpPr>
        <p:spPr>
          <a:xfrm>
            <a:off x="4086360" y="340380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フリーフォーム 128"/>
          <p:cNvSpPr/>
          <p:nvPr/>
        </p:nvSpPr>
        <p:spPr>
          <a:xfrm>
            <a:off x="7153200" y="835560"/>
            <a:ext cx="3209400" cy="3643920"/>
          </a:xfrm>
          <a:custGeom>
            <a:avLst/>
            <a:gdLst/>
            <a:ahLst/>
            <a:cxnLst/>
            <a:rect l="0" t="0" r="r" b="b"/>
            <a:pathLst>
              <a:path w="8915" h="10122">
                <a:moveTo>
                  <a:pt x="0" y="9936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6"/>
                  <a:pt x="8789" y="9"/>
                  <a:pt x="8800" y="14"/>
                </a:cubicBezTo>
                <a:cubicBezTo>
                  <a:pt x="8811" y="19"/>
                  <a:pt x="8822" y="24"/>
                  <a:pt x="8832" y="31"/>
                </a:cubicBezTo>
                <a:cubicBezTo>
                  <a:pt x="8842" y="38"/>
                  <a:pt x="8852" y="46"/>
                  <a:pt x="8860" y="54"/>
                </a:cubicBezTo>
                <a:cubicBezTo>
                  <a:pt x="8869" y="63"/>
                  <a:pt x="8877" y="72"/>
                  <a:pt x="8883" y="82"/>
                </a:cubicBezTo>
                <a:cubicBezTo>
                  <a:pt x="8890" y="92"/>
                  <a:pt x="8896" y="103"/>
                  <a:pt x="8901" y="114"/>
                </a:cubicBezTo>
                <a:cubicBezTo>
                  <a:pt x="8905" y="126"/>
                  <a:pt x="8909" y="137"/>
                  <a:pt x="8911" y="149"/>
                </a:cubicBezTo>
                <a:cubicBezTo>
                  <a:pt x="8913" y="161"/>
                  <a:pt x="8915" y="173"/>
                  <a:pt x="8915" y="186"/>
                </a:cubicBezTo>
                <a:lnTo>
                  <a:pt x="8915" y="9936"/>
                </a:lnTo>
                <a:cubicBezTo>
                  <a:pt x="8915" y="9948"/>
                  <a:pt x="8913" y="9960"/>
                  <a:pt x="8911" y="9972"/>
                </a:cubicBezTo>
                <a:cubicBezTo>
                  <a:pt x="8909" y="9984"/>
                  <a:pt x="8905" y="9996"/>
                  <a:pt x="8901" y="10007"/>
                </a:cubicBezTo>
                <a:cubicBezTo>
                  <a:pt x="8896" y="10018"/>
                  <a:pt x="8890" y="10029"/>
                  <a:pt x="8883" y="10039"/>
                </a:cubicBezTo>
                <a:cubicBezTo>
                  <a:pt x="8877" y="10049"/>
                  <a:pt x="8869" y="10059"/>
                  <a:pt x="8860" y="10067"/>
                </a:cubicBezTo>
                <a:cubicBezTo>
                  <a:pt x="8852" y="10076"/>
                  <a:pt x="8842" y="10084"/>
                  <a:pt x="8832" y="10090"/>
                </a:cubicBezTo>
                <a:cubicBezTo>
                  <a:pt x="8822" y="10097"/>
                  <a:pt x="8811" y="10103"/>
                  <a:pt x="8800" y="10108"/>
                </a:cubicBezTo>
                <a:cubicBezTo>
                  <a:pt x="8789" y="10112"/>
                  <a:pt x="8777" y="10116"/>
                  <a:pt x="8765" y="10118"/>
                </a:cubicBezTo>
                <a:cubicBezTo>
                  <a:pt x="8753" y="10121"/>
                  <a:pt x="8741" y="10122"/>
                  <a:pt x="8729" y="10122"/>
                </a:cubicBezTo>
                <a:lnTo>
                  <a:pt x="186" y="10122"/>
                </a:lnTo>
                <a:cubicBezTo>
                  <a:pt x="173" y="10122"/>
                  <a:pt x="161" y="10121"/>
                  <a:pt x="149" y="10118"/>
                </a:cubicBezTo>
                <a:cubicBezTo>
                  <a:pt x="137" y="10116"/>
                  <a:pt x="126" y="10112"/>
                  <a:pt x="115" y="10108"/>
                </a:cubicBezTo>
                <a:cubicBezTo>
                  <a:pt x="103" y="10103"/>
                  <a:pt x="93" y="10097"/>
                  <a:pt x="82" y="10090"/>
                </a:cubicBezTo>
                <a:cubicBezTo>
                  <a:pt x="72" y="10084"/>
                  <a:pt x="63" y="10076"/>
                  <a:pt x="54" y="10067"/>
                </a:cubicBezTo>
                <a:cubicBezTo>
                  <a:pt x="46" y="10059"/>
                  <a:pt x="38" y="10049"/>
                  <a:pt x="31" y="10039"/>
                </a:cubicBezTo>
                <a:cubicBezTo>
                  <a:pt x="24" y="10029"/>
                  <a:pt x="19" y="10018"/>
                  <a:pt x="14" y="10007"/>
                </a:cubicBezTo>
                <a:cubicBezTo>
                  <a:pt x="9" y="9996"/>
                  <a:pt x="6" y="9984"/>
                  <a:pt x="3" y="9972"/>
                </a:cubicBezTo>
                <a:cubicBezTo>
                  <a:pt x="1" y="9960"/>
                  <a:pt x="0" y="9948"/>
                  <a:pt x="0" y="9936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0" name="図 129"/>
          <p:cNvPicPr/>
          <p:nvPr/>
        </p:nvPicPr>
        <p:blipFill>
          <a:blip r:embed="rId7"/>
          <a:stretch/>
        </p:blipFill>
        <p:spPr>
          <a:xfrm>
            <a:off x="7353720" y="106956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テキスト ボックス 130"/>
          <p:cNvSpPr txBox="1"/>
          <p:nvPr/>
        </p:nvSpPr>
        <p:spPr>
          <a:xfrm>
            <a:off x="4134240" y="3398400"/>
            <a:ext cx="22957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人的セキュリティとの併用が重要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2" name="図 131"/>
          <p:cNvPicPr/>
          <p:nvPr/>
        </p:nvPicPr>
        <p:blipFill>
          <a:blip r:embed="rId8"/>
          <a:stretch/>
        </p:blipFill>
        <p:spPr>
          <a:xfrm>
            <a:off x="7353720" y="147060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テキスト ボックス 132"/>
          <p:cNvSpPr txBox="1"/>
          <p:nvPr/>
        </p:nvSpPr>
        <p:spPr>
          <a:xfrm>
            <a:off x="7704720" y="1043640"/>
            <a:ext cx="2428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標的型メール訓練の重要性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テキスト ボックス 133"/>
          <p:cNvSpPr txBox="1"/>
          <p:nvPr/>
        </p:nvSpPr>
        <p:spPr>
          <a:xfrm>
            <a:off x="7571160" y="146484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5" name="図 134"/>
          <p:cNvPicPr/>
          <p:nvPr/>
        </p:nvPicPr>
        <p:blipFill>
          <a:blip r:embed="rId8"/>
          <a:stretch/>
        </p:blipFill>
        <p:spPr>
          <a:xfrm>
            <a:off x="7353720" y="183852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テキスト ボックス 135"/>
          <p:cNvSpPr txBox="1"/>
          <p:nvPr/>
        </p:nvSpPr>
        <p:spPr>
          <a:xfrm>
            <a:off x="7619040" y="1459800"/>
            <a:ext cx="2442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人的セキュリティ強化の有効な手段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テキスト ボックス 136"/>
          <p:cNvSpPr txBox="1"/>
          <p:nvPr/>
        </p:nvSpPr>
        <p:spPr>
          <a:xfrm>
            <a:off x="7571160" y="183276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8" name="図 137"/>
          <p:cNvPicPr/>
          <p:nvPr/>
        </p:nvPicPr>
        <p:blipFill>
          <a:blip r:embed="rId8"/>
          <a:stretch/>
        </p:blipFill>
        <p:spPr>
          <a:xfrm>
            <a:off x="7353720" y="220608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テキスト ボックス 138"/>
          <p:cNvSpPr txBox="1"/>
          <p:nvPr/>
        </p:nvSpPr>
        <p:spPr>
          <a:xfrm>
            <a:off x="7619040" y="1827360"/>
            <a:ext cx="1969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従業員の警戒意識向上に貢献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テキスト ボックス 139"/>
          <p:cNvSpPr txBox="1"/>
          <p:nvPr/>
        </p:nvSpPr>
        <p:spPr>
          <a:xfrm>
            <a:off x="7571160" y="220032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1" name="図 140"/>
          <p:cNvPicPr/>
          <p:nvPr/>
        </p:nvPicPr>
        <p:blipFill>
          <a:blip r:embed="rId8"/>
          <a:stretch/>
        </p:blipFill>
        <p:spPr>
          <a:xfrm>
            <a:off x="7353720" y="257400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テキスト ボックス 141"/>
          <p:cNvSpPr txBox="1"/>
          <p:nvPr/>
        </p:nvSpPr>
        <p:spPr>
          <a:xfrm>
            <a:off x="7619040" y="2194920"/>
            <a:ext cx="22849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不審メールを見分ける能力の向上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テキスト ボックス 142"/>
          <p:cNvSpPr txBox="1"/>
          <p:nvPr/>
        </p:nvSpPr>
        <p:spPr>
          <a:xfrm>
            <a:off x="7571160" y="256788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テキスト ボックス 143"/>
          <p:cNvSpPr txBox="1"/>
          <p:nvPr/>
        </p:nvSpPr>
        <p:spPr>
          <a:xfrm>
            <a:off x="7619040" y="2562840"/>
            <a:ext cx="2442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インシデント発生時の適切な対応力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フリーフォーム 144"/>
          <p:cNvSpPr/>
          <p:nvPr/>
        </p:nvSpPr>
        <p:spPr>
          <a:xfrm>
            <a:off x="334080" y="4679640"/>
            <a:ext cx="10028520" cy="1938960"/>
          </a:xfrm>
          <a:custGeom>
            <a:avLst/>
            <a:gdLst/>
            <a:ahLst/>
            <a:cxnLst/>
            <a:rect l="0" t="0" r="r" b="b"/>
            <a:pathLst>
              <a:path w="27857" h="5386">
                <a:moveTo>
                  <a:pt x="0" y="5201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27671" y="0"/>
                </a:lnTo>
                <a:cubicBezTo>
                  <a:pt x="27683" y="0"/>
                  <a:pt x="27695" y="1"/>
                  <a:pt x="27707" y="3"/>
                </a:cubicBezTo>
                <a:cubicBezTo>
                  <a:pt x="27719" y="6"/>
                  <a:pt x="27731" y="9"/>
                  <a:pt x="27742" y="14"/>
                </a:cubicBezTo>
                <a:cubicBezTo>
                  <a:pt x="27753" y="19"/>
                  <a:pt x="27764" y="24"/>
                  <a:pt x="27774" y="31"/>
                </a:cubicBezTo>
                <a:cubicBezTo>
                  <a:pt x="27784" y="38"/>
                  <a:pt x="27794" y="46"/>
                  <a:pt x="27802" y="54"/>
                </a:cubicBezTo>
                <a:cubicBezTo>
                  <a:pt x="27811" y="63"/>
                  <a:pt x="27819" y="72"/>
                  <a:pt x="27825" y="82"/>
                </a:cubicBezTo>
                <a:cubicBezTo>
                  <a:pt x="27832" y="92"/>
                  <a:pt x="27838" y="103"/>
                  <a:pt x="27843" y="114"/>
                </a:cubicBezTo>
                <a:cubicBezTo>
                  <a:pt x="27847" y="126"/>
                  <a:pt x="27851" y="137"/>
                  <a:pt x="27853" y="149"/>
                </a:cubicBezTo>
                <a:cubicBezTo>
                  <a:pt x="27855" y="161"/>
                  <a:pt x="27857" y="173"/>
                  <a:pt x="27857" y="186"/>
                </a:cubicBezTo>
                <a:lnTo>
                  <a:pt x="27857" y="5201"/>
                </a:lnTo>
                <a:cubicBezTo>
                  <a:pt x="27857" y="5213"/>
                  <a:pt x="27855" y="5225"/>
                  <a:pt x="27853" y="5237"/>
                </a:cubicBezTo>
                <a:cubicBezTo>
                  <a:pt x="27851" y="5249"/>
                  <a:pt x="27847" y="5260"/>
                  <a:pt x="27843" y="5272"/>
                </a:cubicBezTo>
                <a:cubicBezTo>
                  <a:pt x="27838" y="5283"/>
                  <a:pt x="27832" y="5294"/>
                  <a:pt x="27825" y="5304"/>
                </a:cubicBezTo>
                <a:cubicBezTo>
                  <a:pt x="27819" y="5314"/>
                  <a:pt x="27811" y="5323"/>
                  <a:pt x="27802" y="5332"/>
                </a:cubicBezTo>
                <a:cubicBezTo>
                  <a:pt x="27794" y="5340"/>
                  <a:pt x="27784" y="5348"/>
                  <a:pt x="27774" y="5355"/>
                </a:cubicBezTo>
                <a:cubicBezTo>
                  <a:pt x="27764" y="5362"/>
                  <a:pt x="27753" y="5367"/>
                  <a:pt x="27742" y="5372"/>
                </a:cubicBezTo>
                <a:cubicBezTo>
                  <a:pt x="27731" y="5377"/>
                  <a:pt x="27719" y="5380"/>
                  <a:pt x="27707" y="5383"/>
                </a:cubicBezTo>
                <a:cubicBezTo>
                  <a:pt x="27695" y="5385"/>
                  <a:pt x="27683" y="5386"/>
                  <a:pt x="27671" y="5386"/>
                </a:cubicBezTo>
                <a:lnTo>
                  <a:pt x="186" y="5386"/>
                </a:lnTo>
                <a:cubicBezTo>
                  <a:pt x="174" y="5386"/>
                  <a:pt x="161" y="5385"/>
                  <a:pt x="149" y="5383"/>
                </a:cubicBezTo>
                <a:cubicBezTo>
                  <a:pt x="138" y="5380"/>
                  <a:pt x="126" y="5377"/>
                  <a:pt x="115" y="5372"/>
                </a:cubicBezTo>
                <a:cubicBezTo>
                  <a:pt x="103" y="5367"/>
                  <a:pt x="93" y="5362"/>
                  <a:pt x="83" y="5355"/>
                </a:cubicBezTo>
                <a:cubicBezTo>
                  <a:pt x="72" y="5348"/>
                  <a:pt x="63" y="5340"/>
                  <a:pt x="54" y="5332"/>
                </a:cubicBezTo>
                <a:cubicBezTo>
                  <a:pt x="46" y="5323"/>
                  <a:pt x="38" y="5314"/>
                  <a:pt x="31" y="5304"/>
                </a:cubicBezTo>
                <a:cubicBezTo>
                  <a:pt x="25" y="5294"/>
                  <a:pt x="19" y="5283"/>
                  <a:pt x="14" y="5272"/>
                </a:cubicBezTo>
                <a:cubicBezTo>
                  <a:pt x="9" y="5260"/>
                  <a:pt x="6" y="5249"/>
                  <a:pt x="4" y="5237"/>
                </a:cubicBezTo>
                <a:cubicBezTo>
                  <a:pt x="1" y="5225"/>
                  <a:pt x="0" y="5213"/>
                  <a:pt x="0" y="5201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テキスト ボックス 145"/>
          <p:cNvSpPr txBox="1"/>
          <p:nvPr/>
        </p:nvSpPr>
        <p:spPr>
          <a:xfrm>
            <a:off x="7353720" y="2796840"/>
            <a:ext cx="302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向上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7" name="図 146"/>
          <p:cNvPicPr/>
          <p:nvPr/>
        </p:nvPicPr>
        <p:blipFill>
          <a:blip r:embed="rId9"/>
          <a:stretch/>
        </p:blipFill>
        <p:spPr>
          <a:xfrm>
            <a:off x="534960" y="53150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テキスト ボックス 147"/>
          <p:cNvSpPr txBox="1"/>
          <p:nvPr/>
        </p:nvSpPr>
        <p:spPr>
          <a:xfrm>
            <a:off x="534960" y="4887720"/>
            <a:ext cx="30369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標的型メール訓練の課題と解決策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フリーフォーム 148"/>
          <p:cNvSpPr/>
          <p:nvPr/>
        </p:nvSpPr>
        <p:spPr>
          <a:xfrm>
            <a:off x="584640" y="568224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0"/>
                </a:moveTo>
                <a:cubicBezTo>
                  <a:pt x="141" y="79"/>
                  <a:pt x="139" y="88"/>
                  <a:pt x="135" y="97"/>
                </a:cubicBezTo>
                <a:cubicBezTo>
                  <a:pt x="132" y="105"/>
                  <a:pt x="127" y="113"/>
                  <a:pt x="120" y="119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1"/>
                  <a:pt x="27" y="126"/>
                  <a:pt x="21" y="119"/>
                </a:cubicBezTo>
                <a:cubicBezTo>
                  <a:pt x="14" y="113"/>
                  <a:pt x="9" y="105"/>
                  <a:pt x="6" y="97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1"/>
                  <a:pt x="2" y="52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テキスト ボックス 149"/>
          <p:cNvSpPr txBox="1"/>
          <p:nvPr/>
        </p:nvSpPr>
        <p:spPr>
          <a:xfrm>
            <a:off x="768960" y="5295960"/>
            <a:ext cx="8427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現状の課題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フリーフォーム 150"/>
          <p:cNvSpPr/>
          <p:nvPr/>
        </p:nvSpPr>
        <p:spPr>
          <a:xfrm>
            <a:off x="584640" y="598320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79"/>
                  <a:pt x="139" y="88"/>
                  <a:pt x="135" y="96"/>
                </a:cubicBezTo>
                <a:cubicBezTo>
                  <a:pt x="132" y="105"/>
                  <a:pt x="127" y="112"/>
                  <a:pt x="120" y="119"/>
                </a:cubicBezTo>
                <a:cubicBezTo>
                  <a:pt x="113" y="125"/>
                  <a:pt x="105" y="131"/>
                  <a:pt x="97" y="135"/>
                </a:cubicBezTo>
                <a:cubicBezTo>
                  <a:pt x="88" y="139"/>
                  <a:pt x="79" y="140"/>
                  <a:pt x="70" y="140"/>
                </a:cubicBezTo>
                <a:cubicBezTo>
                  <a:pt x="61" y="140"/>
                  <a:pt x="52" y="139"/>
                  <a:pt x="43" y="135"/>
                </a:cubicBezTo>
                <a:cubicBezTo>
                  <a:pt x="35" y="131"/>
                  <a:pt x="27" y="125"/>
                  <a:pt x="21" y="119"/>
                </a:cubicBezTo>
                <a:cubicBezTo>
                  <a:pt x="14" y="112"/>
                  <a:pt x="9" y="105"/>
                  <a:pt x="6" y="96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0"/>
                  <a:pt x="2" y="52"/>
                  <a:pt x="6" y="43"/>
                </a:cubicBezTo>
                <a:cubicBezTo>
                  <a:pt x="9" y="35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0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テキスト ボックス 151"/>
          <p:cNvSpPr txBox="1"/>
          <p:nvPr/>
        </p:nvSpPr>
        <p:spPr>
          <a:xfrm>
            <a:off x="735480" y="5604480"/>
            <a:ext cx="1674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訓練サービス費用の問題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フリーフォーム 152"/>
          <p:cNvSpPr/>
          <p:nvPr/>
        </p:nvSpPr>
        <p:spPr>
          <a:xfrm>
            <a:off x="584640" y="628416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69"/>
                </a:moveTo>
                <a:cubicBezTo>
                  <a:pt x="141" y="79"/>
                  <a:pt x="139" y="87"/>
                  <a:pt x="135" y="96"/>
                </a:cubicBezTo>
                <a:cubicBezTo>
                  <a:pt x="132" y="105"/>
                  <a:pt x="127" y="112"/>
                  <a:pt x="120" y="119"/>
                </a:cubicBezTo>
                <a:cubicBezTo>
                  <a:pt x="113" y="125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5"/>
                  <a:pt x="21" y="119"/>
                </a:cubicBezTo>
                <a:cubicBezTo>
                  <a:pt x="14" y="112"/>
                  <a:pt x="9" y="105"/>
                  <a:pt x="6" y="96"/>
                </a:cubicBezTo>
                <a:cubicBezTo>
                  <a:pt x="2" y="87"/>
                  <a:pt x="0" y="79"/>
                  <a:pt x="0" y="69"/>
                </a:cubicBezTo>
                <a:cubicBezTo>
                  <a:pt x="0" y="60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1"/>
                  <a:pt x="61" y="0"/>
                  <a:pt x="70" y="0"/>
                </a:cubicBezTo>
                <a:cubicBezTo>
                  <a:pt x="79" y="0"/>
                  <a:pt x="88" y="1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0"/>
                  <a:pt x="141" y="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テキスト ボックス 153"/>
          <p:cNvSpPr txBox="1"/>
          <p:nvPr/>
        </p:nvSpPr>
        <p:spPr>
          <a:xfrm>
            <a:off x="735480" y="5905440"/>
            <a:ext cx="1969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独自環境構築の技術的困難さ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" name="図 154"/>
          <p:cNvPicPr/>
          <p:nvPr/>
        </p:nvPicPr>
        <p:blipFill>
          <a:blip r:embed="rId10"/>
          <a:stretch/>
        </p:blipFill>
        <p:spPr>
          <a:xfrm>
            <a:off x="5515560" y="531504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テキスト ボックス 155"/>
          <p:cNvSpPr txBox="1"/>
          <p:nvPr/>
        </p:nvSpPr>
        <p:spPr>
          <a:xfrm>
            <a:off x="735480" y="6206400"/>
            <a:ext cx="2127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訓練用メールの質と多様性確保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フリーフォーム 156"/>
          <p:cNvSpPr/>
          <p:nvPr/>
        </p:nvSpPr>
        <p:spPr>
          <a:xfrm>
            <a:off x="5565240" y="568224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0"/>
                </a:moveTo>
                <a:cubicBezTo>
                  <a:pt x="141" y="79"/>
                  <a:pt x="139" y="88"/>
                  <a:pt x="135" y="97"/>
                </a:cubicBezTo>
                <a:cubicBezTo>
                  <a:pt x="132" y="105"/>
                  <a:pt x="127" y="113"/>
                  <a:pt x="120" y="119"/>
                </a:cubicBezTo>
                <a:cubicBezTo>
                  <a:pt x="114" y="126"/>
                  <a:pt x="106" y="131"/>
                  <a:pt x="98" y="135"/>
                </a:cubicBezTo>
                <a:cubicBezTo>
                  <a:pt x="89" y="139"/>
                  <a:pt x="80" y="141"/>
                  <a:pt x="71" y="141"/>
                </a:cubicBezTo>
                <a:cubicBezTo>
                  <a:pt x="62" y="141"/>
                  <a:pt x="53" y="139"/>
                  <a:pt x="44" y="135"/>
                </a:cubicBezTo>
                <a:cubicBezTo>
                  <a:pt x="35" y="131"/>
                  <a:pt x="27" y="126"/>
                  <a:pt x="21" y="119"/>
                </a:cubicBezTo>
                <a:cubicBezTo>
                  <a:pt x="14" y="113"/>
                  <a:pt x="9" y="105"/>
                  <a:pt x="6" y="97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1"/>
                  <a:pt x="2" y="52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4" y="6"/>
                </a:cubicBezTo>
                <a:cubicBezTo>
                  <a:pt x="53" y="2"/>
                  <a:pt x="62" y="0"/>
                  <a:pt x="71" y="0"/>
                </a:cubicBezTo>
                <a:cubicBezTo>
                  <a:pt x="80" y="0"/>
                  <a:pt x="89" y="2"/>
                  <a:pt x="98" y="6"/>
                </a:cubicBezTo>
                <a:cubicBezTo>
                  <a:pt x="106" y="9"/>
                  <a:pt x="114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5707800" y="5295960"/>
            <a:ext cx="10105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本研究の提案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フリーフォーム 158"/>
          <p:cNvSpPr/>
          <p:nvPr/>
        </p:nvSpPr>
        <p:spPr>
          <a:xfrm>
            <a:off x="5565240" y="598320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79"/>
                  <a:pt x="139" y="88"/>
                  <a:pt x="135" y="96"/>
                </a:cubicBezTo>
                <a:cubicBezTo>
                  <a:pt x="132" y="105"/>
                  <a:pt x="127" y="112"/>
                  <a:pt x="120" y="119"/>
                </a:cubicBezTo>
                <a:cubicBezTo>
                  <a:pt x="114" y="125"/>
                  <a:pt x="106" y="131"/>
                  <a:pt x="98" y="135"/>
                </a:cubicBezTo>
                <a:cubicBezTo>
                  <a:pt x="89" y="139"/>
                  <a:pt x="80" y="140"/>
                  <a:pt x="71" y="140"/>
                </a:cubicBezTo>
                <a:cubicBezTo>
                  <a:pt x="62" y="140"/>
                  <a:pt x="53" y="139"/>
                  <a:pt x="44" y="135"/>
                </a:cubicBezTo>
                <a:cubicBezTo>
                  <a:pt x="35" y="131"/>
                  <a:pt x="27" y="125"/>
                  <a:pt x="21" y="119"/>
                </a:cubicBezTo>
                <a:cubicBezTo>
                  <a:pt x="14" y="112"/>
                  <a:pt x="9" y="105"/>
                  <a:pt x="6" y="96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0"/>
                  <a:pt x="2" y="52"/>
                  <a:pt x="6" y="43"/>
                </a:cubicBezTo>
                <a:cubicBezTo>
                  <a:pt x="9" y="35"/>
                  <a:pt x="14" y="27"/>
                  <a:pt x="21" y="20"/>
                </a:cubicBezTo>
                <a:cubicBezTo>
                  <a:pt x="27" y="14"/>
                  <a:pt x="35" y="9"/>
                  <a:pt x="44" y="5"/>
                </a:cubicBezTo>
                <a:cubicBezTo>
                  <a:pt x="53" y="2"/>
                  <a:pt x="62" y="0"/>
                  <a:pt x="71" y="0"/>
                </a:cubicBezTo>
                <a:cubicBezTo>
                  <a:pt x="80" y="0"/>
                  <a:pt x="89" y="2"/>
                  <a:pt x="98" y="5"/>
                </a:cubicBezTo>
                <a:cubicBezTo>
                  <a:pt x="106" y="9"/>
                  <a:pt x="114" y="14"/>
                  <a:pt x="120" y="20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0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テキスト ボックス 159"/>
          <p:cNvSpPr txBox="1"/>
          <p:nvPr/>
        </p:nvSpPr>
        <p:spPr>
          <a:xfrm>
            <a:off x="5716080" y="5604480"/>
            <a:ext cx="2902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自作標的型メール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を基にした訓練システム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フリーフォーム 160"/>
          <p:cNvSpPr/>
          <p:nvPr/>
        </p:nvSpPr>
        <p:spPr>
          <a:xfrm>
            <a:off x="5565240" y="628416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69"/>
                </a:moveTo>
                <a:cubicBezTo>
                  <a:pt x="141" y="79"/>
                  <a:pt x="139" y="87"/>
                  <a:pt x="135" y="96"/>
                </a:cubicBezTo>
                <a:cubicBezTo>
                  <a:pt x="132" y="105"/>
                  <a:pt x="127" y="112"/>
                  <a:pt x="120" y="119"/>
                </a:cubicBezTo>
                <a:cubicBezTo>
                  <a:pt x="114" y="125"/>
                  <a:pt x="106" y="131"/>
                  <a:pt x="98" y="135"/>
                </a:cubicBezTo>
                <a:cubicBezTo>
                  <a:pt x="89" y="138"/>
                  <a:pt x="80" y="140"/>
                  <a:pt x="71" y="140"/>
                </a:cubicBezTo>
                <a:cubicBezTo>
                  <a:pt x="62" y="140"/>
                  <a:pt x="53" y="138"/>
                  <a:pt x="44" y="135"/>
                </a:cubicBezTo>
                <a:cubicBezTo>
                  <a:pt x="35" y="131"/>
                  <a:pt x="27" y="125"/>
                  <a:pt x="21" y="119"/>
                </a:cubicBezTo>
                <a:cubicBezTo>
                  <a:pt x="14" y="112"/>
                  <a:pt x="9" y="105"/>
                  <a:pt x="6" y="96"/>
                </a:cubicBezTo>
                <a:cubicBezTo>
                  <a:pt x="2" y="87"/>
                  <a:pt x="0" y="79"/>
                  <a:pt x="0" y="69"/>
                </a:cubicBezTo>
                <a:cubicBezTo>
                  <a:pt x="0" y="60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4" y="5"/>
                </a:cubicBezTo>
                <a:cubicBezTo>
                  <a:pt x="53" y="1"/>
                  <a:pt x="62" y="0"/>
                  <a:pt x="71" y="0"/>
                </a:cubicBezTo>
                <a:cubicBezTo>
                  <a:pt x="80" y="0"/>
                  <a:pt x="89" y="1"/>
                  <a:pt x="98" y="5"/>
                </a:cubicBezTo>
                <a:cubicBezTo>
                  <a:pt x="106" y="9"/>
                  <a:pt x="114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0"/>
                  <a:pt x="141" y="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テキスト ボックス 161"/>
          <p:cNvSpPr txBox="1"/>
          <p:nvPr/>
        </p:nvSpPr>
        <p:spPr>
          <a:xfrm>
            <a:off x="5716080" y="5905440"/>
            <a:ext cx="2127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訓練用メールの</a:t>
            </a:r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自動生成と配信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3" name="図 162"/>
          <p:cNvPicPr/>
          <p:nvPr/>
        </p:nvPicPr>
        <p:blipFill>
          <a:blip r:embed="rId11"/>
          <a:stretch/>
        </p:blipFill>
        <p:spPr>
          <a:xfrm>
            <a:off x="10094760" y="6618600"/>
            <a:ext cx="46764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テキスト ボックス 163"/>
          <p:cNvSpPr txBox="1"/>
          <p:nvPr/>
        </p:nvSpPr>
        <p:spPr>
          <a:xfrm>
            <a:off x="5716080" y="6206400"/>
            <a:ext cx="2737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企業が簡単に訓練を実施できる環境構築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図 164"/>
          <p:cNvPicPr/>
          <p:nvPr/>
        </p:nvPicPr>
        <p:blipFill>
          <a:blip r:embed="rId2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テキスト ボックス 165"/>
          <p:cNvSpPr txBox="1"/>
          <p:nvPr/>
        </p:nvSpPr>
        <p:spPr>
          <a:xfrm>
            <a:off x="334440" y="326880"/>
            <a:ext cx="556812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79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先行研究：訓練用標的型メール自動生成システム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フリーフォーム 166"/>
          <p:cNvSpPr/>
          <p:nvPr/>
        </p:nvSpPr>
        <p:spPr>
          <a:xfrm>
            <a:off x="334080" y="835560"/>
            <a:ext cx="4813920" cy="1905480"/>
          </a:xfrm>
          <a:custGeom>
            <a:avLst/>
            <a:gdLst/>
            <a:ahLst/>
            <a:cxnLst/>
            <a:rect l="0" t="0" r="r" b="b"/>
            <a:pathLst>
              <a:path w="13372" h="5293">
                <a:moveTo>
                  <a:pt x="0" y="5108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13186" y="0"/>
                </a:lnTo>
                <a:cubicBezTo>
                  <a:pt x="13198" y="0"/>
                  <a:pt x="13210" y="1"/>
                  <a:pt x="13222" y="3"/>
                </a:cubicBezTo>
                <a:cubicBezTo>
                  <a:pt x="13234" y="6"/>
                  <a:pt x="13246" y="9"/>
                  <a:pt x="13257" y="14"/>
                </a:cubicBezTo>
                <a:cubicBezTo>
                  <a:pt x="13268" y="19"/>
                  <a:pt x="13279" y="24"/>
                  <a:pt x="13289" y="31"/>
                </a:cubicBezTo>
                <a:cubicBezTo>
                  <a:pt x="13299" y="38"/>
                  <a:pt x="13309" y="46"/>
                  <a:pt x="13317" y="54"/>
                </a:cubicBezTo>
                <a:cubicBezTo>
                  <a:pt x="13326" y="63"/>
                  <a:pt x="13334" y="72"/>
                  <a:pt x="13340" y="82"/>
                </a:cubicBezTo>
                <a:cubicBezTo>
                  <a:pt x="13347" y="92"/>
                  <a:pt x="13353" y="103"/>
                  <a:pt x="13358" y="114"/>
                </a:cubicBezTo>
                <a:cubicBezTo>
                  <a:pt x="13362" y="126"/>
                  <a:pt x="13366" y="137"/>
                  <a:pt x="13368" y="149"/>
                </a:cubicBezTo>
                <a:cubicBezTo>
                  <a:pt x="13371" y="161"/>
                  <a:pt x="13372" y="173"/>
                  <a:pt x="13372" y="186"/>
                </a:cubicBezTo>
                <a:lnTo>
                  <a:pt x="13372" y="5108"/>
                </a:lnTo>
                <a:cubicBezTo>
                  <a:pt x="13372" y="5120"/>
                  <a:pt x="13371" y="5132"/>
                  <a:pt x="13368" y="5144"/>
                </a:cubicBezTo>
                <a:cubicBezTo>
                  <a:pt x="13366" y="5156"/>
                  <a:pt x="13362" y="5167"/>
                  <a:pt x="13358" y="5179"/>
                </a:cubicBezTo>
                <a:cubicBezTo>
                  <a:pt x="13353" y="5190"/>
                  <a:pt x="13347" y="5201"/>
                  <a:pt x="13340" y="5211"/>
                </a:cubicBezTo>
                <a:cubicBezTo>
                  <a:pt x="13334" y="5221"/>
                  <a:pt x="13326" y="5230"/>
                  <a:pt x="13317" y="5239"/>
                </a:cubicBezTo>
                <a:cubicBezTo>
                  <a:pt x="13309" y="5248"/>
                  <a:pt x="13299" y="5255"/>
                  <a:pt x="13289" y="5262"/>
                </a:cubicBezTo>
                <a:cubicBezTo>
                  <a:pt x="13279" y="5269"/>
                  <a:pt x="13268" y="5275"/>
                  <a:pt x="13257" y="5279"/>
                </a:cubicBezTo>
                <a:cubicBezTo>
                  <a:pt x="13246" y="5284"/>
                  <a:pt x="13234" y="5287"/>
                  <a:pt x="13222" y="5290"/>
                </a:cubicBezTo>
                <a:cubicBezTo>
                  <a:pt x="13210" y="5292"/>
                  <a:pt x="13198" y="5293"/>
                  <a:pt x="13186" y="5293"/>
                </a:cubicBezTo>
                <a:lnTo>
                  <a:pt x="186" y="5293"/>
                </a:lnTo>
                <a:cubicBezTo>
                  <a:pt x="174" y="5293"/>
                  <a:pt x="161" y="5292"/>
                  <a:pt x="149" y="5290"/>
                </a:cubicBezTo>
                <a:cubicBezTo>
                  <a:pt x="138" y="5287"/>
                  <a:pt x="126" y="5284"/>
                  <a:pt x="115" y="5279"/>
                </a:cubicBezTo>
                <a:cubicBezTo>
                  <a:pt x="103" y="5275"/>
                  <a:pt x="93" y="5269"/>
                  <a:pt x="83" y="5262"/>
                </a:cubicBezTo>
                <a:cubicBezTo>
                  <a:pt x="72" y="5255"/>
                  <a:pt x="63" y="5248"/>
                  <a:pt x="54" y="5239"/>
                </a:cubicBezTo>
                <a:cubicBezTo>
                  <a:pt x="46" y="5230"/>
                  <a:pt x="38" y="5221"/>
                  <a:pt x="31" y="5211"/>
                </a:cubicBezTo>
                <a:cubicBezTo>
                  <a:pt x="25" y="5201"/>
                  <a:pt x="19" y="5190"/>
                  <a:pt x="14" y="5179"/>
                </a:cubicBezTo>
                <a:cubicBezTo>
                  <a:pt x="9" y="5167"/>
                  <a:pt x="6" y="5156"/>
                  <a:pt x="4" y="5144"/>
                </a:cubicBezTo>
                <a:cubicBezTo>
                  <a:pt x="1" y="5132"/>
                  <a:pt x="0" y="5120"/>
                  <a:pt x="0" y="5108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8" name="図 167"/>
          <p:cNvPicPr/>
          <p:nvPr/>
        </p:nvPicPr>
        <p:blipFill>
          <a:blip r:embed="rId3"/>
          <a:stretch/>
        </p:blipFill>
        <p:spPr>
          <a:xfrm>
            <a:off x="534960" y="106956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テキスト ボックス 168"/>
          <p:cNvSpPr txBox="1"/>
          <p:nvPr/>
        </p:nvSpPr>
        <p:spPr>
          <a:xfrm>
            <a:off x="9880560" y="388080"/>
            <a:ext cx="4838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4 / 12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フリーフォーム 169"/>
          <p:cNvSpPr/>
          <p:nvPr/>
        </p:nvSpPr>
        <p:spPr>
          <a:xfrm>
            <a:off x="584640" y="150408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9"/>
                  <a:pt x="0" y="80"/>
                  <a:pt x="0" y="70"/>
                </a:cubicBezTo>
                <a:cubicBezTo>
                  <a:pt x="0" y="60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0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テキスト ボックス 170"/>
          <p:cNvSpPr txBox="1"/>
          <p:nvPr/>
        </p:nvSpPr>
        <p:spPr>
          <a:xfrm>
            <a:off x="885960" y="1043640"/>
            <a:ext cx="12265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システム概要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フリーフォーム 171"/>
          <p:cNvSpPr/>
          <p:nvPr/>
        </p:nvSpPr>
        <p:spPr>
          <a:xfrm>
            <a:off x="584640" y="183816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0"/>
                </a:moveTo>
                <a:cubicBezTo>
                  <a:pt x="141" y="79"/>
                  <a:pt x="139" y="88"/>
                  <a:pt x="135" y="97"/>
                </a:cubicBezTo>
                <a:cubicBezTo>
                  <a:pt x="132" y="105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5"/>
                  <a:pt x="6" y="97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1"/>
                  <a:pt x="2" y="52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テキスト ボックス 172"/>
          <p:cNvSpPr txBox="1"/>
          <p:nvPr/>
        </p:nvSpPr>
        <p:spPr>
          <a:xfrm>
            <a:off x="735480" y="1426320"/>
            <a:ext cx="4120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マルコフ連鎖を用いた訓練用標的型メール自動生成システム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テキスト ボックス 173"/>
          <p:cNvSpPr txBox="1"/>
          <p:nvPr/>
        </p:nvSpPr>
        <p:spPr>
          <a:xfrm>
            <a:off x="735480" y="1765800"/>
            <a:ext cx="9828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Google Drive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テキスト ボックス 174"/>
          <p:cNvSpPr txBox="1"/>
          <p:nvPr/>
        </p:nvSpPr>
        <p:spPr>
          <a:xfrm>
            <a:off x="1714680" y="1760400"/>
            <a:ext cx="32011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上に保存した自作標的型メールを基にメール文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フリーフォーム 175"/>
          <p:cNvSpPr/>
          <p:nvPr/>
        </p:nvSpPr>
        <p:spPr>
          <a:xfrm>
            <a:off x="584640" y="240660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9"/>
                  <a:pt x="0" y="80"/>
                  <a:pt x="0" y="70"/>
                </a:cubicBezTo>
                <a:cubicBezTo>
                  <a:pt x="0" y="61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テキスト ボックス 176"/>
          <p:cNvSpPr txBox="1"/>
          <p:nvPr/>
        </p:nvSpPr>
        <p:spPr>
          <a:xfrm>
            <a:off x="735480" y="1994400"/>
            <a:ext cx="909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章を自動生成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フリーフォーム 177"/>
          <p:cNvSpPr/>
          <p:nvPr/>
        </p:nvSpPr>
        <p:spPr>
          <a:xfrm>
            <a:off x="334080" y="2941200"/>
            <a:ext cx="4813920" cy="2908800"/>
          </a:xfrm>
          <a:custGeom>
            <a:avLst/>
            <a:gdLst/>
            <a:ahLst/>
            <a:cxnLst/>
            <a:rect l="0" t="0" r="r" b="b"/>
            <a:pathLst>
              <a:path w="13372" h="8080">
                <a:moveTo>
                  <a:pt x="0" y="7894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4"/>
                  <a:pt x="54" y="55"/>
                </a:cubicBezTo>
                <a:cubicBezTo>
                  <a:pt x="63" y="46"/>
                  <a:pt x="72" y="39"/>
                  <a:pt x="83" y="32"/>
                </a:cubicBezTo>
                <a:cubicBezTo>
                  <a:pt x="93" y="25"/>
                  <a:pt x="103" y="19"/>
                  <a:pt x="115" y="15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2"/>
                  <a:pt x="174" y="0"/>
                  <a:pt x="186" y="0"/>
                </a:cubicBezTo>
                <a:lnTo>
                  <a:pt x="13186" y="0"/>
                </a:lnTo>
                <a:cubicBezTo>
                  <a:pt x="13198" y="0"/>
                  <a:pt x="13210" y="2"/>
                  <a:pt x="13222" y="4"/>
                </a:cubicBezTo>
                <a:cubicBezTo>
                  <a:pt x="13234" y="6"/>
                  <a:pt x="13246" y="10"/>
                  <a:pt x="13257" y="15"/>
                </a:cubicBezTo>
                <a:cubicBezTo>
                  <a:pt x="13268" y="19"/>
                  <a:pt x="13279" y="25"/>
                  <a:pt x="13289" y="32"/>
                </a:cubicBezTo>
                <a:cubicBezTo>
                  <a:pt x="13299" y="39"/>
                  <a:pt x="13309" y="46"/>
                  <a:pt x="13317" y="55"/>
                </a:cubicBezTo>
                <a:cubicBezTo>
                  <a:pt x="13326" y="64"/>
                  <a:pt x="13334" y="73"/>
                  <a:pt x="13340" y="83"/>
                </a:cubicBezTo>
                <a:cubicBezTo>
                  <a:pt x="13347" y="93"/>
                  <a:pt x="13353" y="104"/>
                  <a:pt x="13358" y="115"/>
                </a:cubicBezTo>
                <a:cubicBezTo>
                  <a:pt x="13362" y="126"/>
                  <a:pt x="13366" y="138"/>
                  <a:pt x="13368" y="150"/>
                </a:cubicBezTo>
                <a:cubicBezTo>
                  <a:pt x="13371" y="162"/>
                  <a:pt x="13372" y="174"/>
                  <a:pt x="13372" y="186"/>
                </a:cubicBezTo>
                <a:lnTo>
                  <a:pt x="13372" y="7894"/>
                </a:lnTo>
                <a:cubicBezTo>
                  <a:pt x="13372" y="7906"/>
                  <a:pt x="13371" y="7918"/>
                  <a:pt x="13368" y="7930"/>
                </a:cubicBezTo>
                <a:cubicBezTo>
                  <a:pt x="13366" y="7942"/>
                  <a:pt x="13362" y="7954"/>
                  <a:pt x="13358" y="7965"/>
                </a:cubicBezTo>
                <a:cubicBezTo>
                  <a:pt x="13353" y="7976"/>
                  <a:pt x="13347" y="7987"/>
                  <a:pt x="13340" y="7997"/>
                </a:cubicBezTo>
                <a:cubicBezTo>
                  <a:pt x="13334" y="8007"/>
                  <a:pt x="13326" y="8017"/>
                  <a:pt x="13317" y="8025"/>
                </a:cubicBezTo>
                <a:cubicBezTo>
                  <a:pt x="13309" y="8034"/>
                  <a:pt x="13299" y="8042"/>
                  <a:pt x="13289" y="8048"/>
                </a:cubicBezTo>
                <a:cubicBezTo>
                  <a:pt x="13279" y="8055"/>
                  <a:pt x="13268" y="8061"/>
                  <a:pt x="13257" y="8065"/>
                </a:cubicBezTo>
                <a:cubicBezTo>
                  <a:pt x="13246" y="8070"/>
                  <a:pt x="13234" y="8074"/>
                  <a:pt x="13222" y="8076"/>
                </a:cubicBezTo>
                <a:cubicBezTo>
                  <a:pt x="13210" y="8078"/>
                  <a:pt x="13198" y="8080"/>
                  <a:pt x="13186" y="8080"/>
                </a:cubicBezTo>
                <a:lnTo>
                  <a:pt x="186" y="8080"/>
                </a:lnTo>
                <a:cubicBezTo>
                  <a:pt x="174" y="8080"/>
                  <a:pt x="161" y="8078"/>
                  <a:pt x="149" y="8076"/>
                </a:cubicBezTo>
                <a:cubicBezTo>
                  <a:pt x="138" y="8074"/>
                  <a:pt x="126" y="8070"/>
                  <a:pt x="115" y="8065"/>
                </a:cubicBezTo>
                <a:cubicBezTo>
                  <a:pt x="103" y="8061"/>
                  <a:pt x="93" y="8055"/>
                  <a:pt x="83" y="8048"/>
                </a:cubicBezTo>
                <a:cubicBezTo>
                  <a:pt x="72" y="8042"/>
                  <a:pt x="63" y="8034"/>
                  <a:pt x="54" y="8025"/>
                </a:cubicBezTo>
                <a:cubicBezTo>
                  <a:pt x="46" y="8017"/>
                  <a:pt x="38" y="8007"/>
                  <a:pt x="31" y="7997"/>
                </a:cubicBezTo>
                <a:cubicBezTo>
                  <a:pt x="25" y="7987"/>
                  <a:pt x="19" y="7976"/>
                  <a:pt x="14" y="7965"/>
                </a:cubicBezTo>
                <a:cubicBezTo>
                  <a:pt x="9" y="7954"/>
                  <a:pt x="6" y="7942"/>
                  <a:pt x="4" y="7930"/>
                </a:cubicBezTo>
                <a:cubicBezTo>
                  <a:pt x="1" y="7918"/>
                  <a:pt x="0" y="7906"/>
                  <a:pt x="0" y="7894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フリーフォーム 178"/>
          <p:cNvSpPr/>
          <p:nvPr/>
        </p:nvSpPr>
        <p:spPr>
          <a:xfrm>
            <a:off x="534600" y="4612680"/>
            <a:ext cx="4412880" cy="1036800"/>
          </a:xfrm>
          <a:custGeom>
            <a:avLst/>
            <a:gdLst/>
            <a:ahLst/>
            <a:cxnLst/>
            <a:rect l="0" t="0" r="r" b="b"/>
            <a:pathLst>
              <a:path w="12258" h="2880">
                <a:moveTo>
                  <a:pt x="0" y="2694"/>
                </a:moveTo>
                <a:lnTo>
                  <a:pt x="0" y="187"/>
                </a:lnTo>
                <a:cubicBezTo>
                  <a:pt x="0" y="175"/>
                  <a:pt x="1" y="163"/>
                  <a:pt x="4" y="151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12072" y="0"/>
                </a:lnTo>
                <a:cubicBezTo>
                  <a:pt x="12084" y="0"/>
                  <a:pt x="12096" y="1"/>
                  <a:pt x="12108" y="4"/>
                </a:cubicBezTo>
                <a:cubicBezTo>
                  <a:pt x="12120" y="6"/>
                  <a:pt x="12132" y="10"/>
                  <a:pt x="12143" y="14"/>
                </a:cubicBezTo>
                <a:cubicBezTo>
                  <a:pt x="12154" y="19"/>
                  <a:pt x="12165" y="25"/>
                  <a:pt x="12175" y="31"/>
                </a:cubicBezTo>
                <a:cubicBezTo>
                  <a:pt x="12185" y="38"/>
                  <a:pt x="12195" y="46"/>
                  <a:pt x="12203" y="54"/>
                </a:cubicBezTo>
                <a:cubicBezTo>
                  <a:pt x="12212" y="63"/>
                  <a:pt x="12220" y="72"/>
                  <a:pt x="12226" y="83"/>
                </a:cubicBezTo>
                <a:cubicBezTo>
                  <a:pt x="12233" y="93"/>
                  <a:pt x="12239" y="103"/>
                  <a:pt x="12243" y="115"/>
                </a:cubicBezTo>
                <a:cubicBezTo>
                  <a:pt x="12248" y="126"/>
                  <a:pt x="12252" y="138"/>
                  <a:pt x="12254" y="151"/>
                </a:cubicBezTo>
                <a:cubicBezTo>
                  <a:pt x="12256" y="163"/>
                  <a:pt x="12258" y="175"/>
                  <a:pt x="12258" y="187"/>
                </a:cubicBezTo>
                <a:lnTo>
                  <a:pt x="12258" y="2694"/>
                </a:lnTo>
                <a:cubicBezTo>
                  <a:pt x="12258" y="2706"/>
                  <a:pt x="12256" y="2718"/>
                  <a:pt x="12254" y="2730"/>
                </a:cubicBezTo>
                <a:cubicBezTo>
                  <a:pt x="12252" y="2742"/>
                  <a:pt x="12248" y="2754"/>
                  <a:pt x="12243" y="2765"/>
                </a:cubicBezTo>
                <a:cubicBezTo>
                  <a:pt x="12239" y="2776"/>
                  <a:pt x="12233" y="2787"/>
                  <a:pt x="12226" y="2797"/>
                </a:cubicBezTo>
                <a:cubicBezTo>
                  <a:pt x="12220" y="2807"/>
                  <a:pt x="12212" y="2817"/>
                  <a:pt x="12203" y="2825"/>
                </a:cubicBezTo>
                <a:cubicBezTo>
                  <a:pt x="12195" y="2834"/>
                  <a:pt x="12185" y="2841"/>
                  <a:pt x="12175" y="2848"/>
                </a:cubicBezTo>
                <a:cubicBezTo>
                  <a:pt x="12165" y="2855"/>
                  <a:pt x="12154" y="2861"/>
                  <a:pt x="12143" y="2865"/>
                </a:cubicBezTo>
                <a:cubicBezTo>
                  <a:pt x="12132" y="2870"/>
                  <a:pt x="12120" y="2874"/>
                  <a:pt x="12108" y="2876"/>
                </a:cubicBezTo>
                <a:cubicBezTo>
                  <a:pt x="12096" y="2878"/>
                  <a:pt x="12084" y="2880"/>
                  <a:pt x="12072" y="2880"/>
                </a:cubicBezTo>
                <a:lnTo>
                  <a:pt x="186" y="2880"/>
                </a:lnTo>
                <a:cubicBezTo>
                  <a:pt x="174" y="2880"/>
                  <a:pt x="162" y="2878"/>
                  <a:pt x="150" y="2876"/>
                </a:cubicBezTo>
                <a:cubicBezTo>
                  <a:pt x="138" y="2874"/>
                  <a:pt x="126" y="2870"/>
                  <a:pt x="115" y="2865"/>
                </a:cubicBezTo>
                <a:cubicBezTo>
                  <a:pt x="104" y="2861"/>
                  <a:pt x="93" y="2855"/>
                  <a:pt x="83" y="2848"/>
                </a:cubicBezTo>
                <a:cubicBezTo>
                  <a:pt x="73" y="2841"/>
                  <a:pt x="63" y="2834"/>
                  <a:pt x="55" y="2825"/>
                </a:cubicBezTo>
                <a:cubicBezTo>
                  <a:pt x="46" y="2817"/>
                  <a:pt x="38" y="2807"/>
                  <a:pt x="31" y="2797"/>
                </a:cubicBezTo>
                <a:cubicBezTo>
                  <a:pt x="25" y="2787"/>
                  <a:pt x="19" y="2776"/>
                  <a:pt x="14" y="2765"/>
                </a:cubicBezTo>
                <a:cubicBezTo>
                  <a:pt x="10" y="2754"/>
                  <a:pt x="6" y="2742"/>
                  <a:pt x="4" y="2730"/>
                </a:cubicBezTo>
                <a:cubicBezTo>
                  <a:pt x="1" y="2718"/>
                  <a:pt x="0" y="2706"/>
                  <a:pt x="0" y="2694"/>
                </a:cubicBezTo>
                <a:close/>
              </a:path>
            </a:pathLst>
          </a:custGeom>
          <a:solidFill>
            <a:srgbClr val="374151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0" name="図 179"/>
          <p:cNvPicPr/>
          <p:nvPr/>
        </p:nvPicPr>
        <p:blipFill>
          <a:blip r:embed="rId4"/>
          <a:stretch/>
        </p:blipFill>
        <p:spPr>
          <a:xfrm>
            <a:off x="534960" y="3175560"/>
            <a:ext cx="1749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テキスト ボックス 180"/>
          <p:cNvSpPr txBox="1"/>
          <p:nvPr/>
        </p:nvSpPr>
        <p:spPr>
          <a:xfrm>
            <a:off x="735480" y="2328840"/>
            <a:ext cx="3499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極めて短い時間で訓練用標的型メールの生成が可能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フリーフォーム 181"/>
          <p:cNvSpPr/>
          <p:nvPr/>
        </p:nvSpPr>
        <p:spPr>
          <a:xfrm>
            <a:off x="584640" y="361008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79"/>
                  <a:pt x="139" y="88"/>
                  <a:pt x="135" y="97"/>
                </a:cubicBezTo>
                <a:cubicBezTo>
                  <a:pt x="132" y="105"/>
                  <a:pt x="127" y="113"/>
                  <a:pt x="120" y="119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19"/>
                </a:cubicBezTo>
                <a:cubicBezTo>
                  <a:pt x="14" y="113"/>
                  <a:pt x="9" y="105"/>
                  <a:pt x="6" y="97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1"/>
                  <a:pt x="2" y="52"/>
                  <a:pt x="6" y="43"/>
                </a:cubicBezTo>
                <a:cubicBezTo>
                  <a:pt x="9" y="34"/>
                  <a:pt x="14" y="26"/>
                  <a:pt x="21" y="20"/>
                </a:cubicBezTo>
                <a:cubicBezTo>
                  <a:pt x="27" y="13"/>
                  <a:pt x="35" y="8"/>
                  <a:pt x="43" y="5"/>
                </a:cubicBezTo>
                <a:cubicBezTo>
                  <a:pt x="52" y="1"/>
                  <a:pt x="61" y="0"/>
                  <a:pt x="70" y="0"/>
                </a:cubicBezTo>
                <a:cubicBezTo>
                  <a:pt x="79" y="0"/>
                  <a:pt x="88" y="1"/>
                  <a:pt x="97" y="5"/>
                </a:cubicBezTo>
                <a:cubicBezTo>
                  <a:pt x="105" y="8"/>
                  <a:pt x="113" y="13"/>
                  <a:pt x="120" y="20"/>
                </a:cubicBezTo>
                <a:cubicBezTo>
                  <a:pt x="127" y="26"/>
                  <a:pt x="132" y="34"/>
                  <a:pt x="135" y="43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テキスト ボックス 182"/>
          <p:cNvSpPr txBox="1"/>
          <p:nvPr/>
        </p:nvSpPr>
        <p:spPr>
          <a:xfrm>
            <a:off x="810720" y="3149640"/>
            <a:ext cx="307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マルコフ連鎖による生成プロセス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テキスト ボックス 183"/>
          <p:cNvSpPr txBox="1"/>
          <p:nvPr/>
        </p:nvSpPr>
        <p:spPr>
          <a:xfrm>
            <a:off x="735480" y="3531960"/>
            <a:ext cx="1372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形態素解析エンジン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テキスト ボックス 184"/>
          <p:cNvSpPr txBox="1"/>
          <p:nvPr/>
        </p:nvSpPr>
        <p:spPr>
          <a:xfrm>
            <a:off x="2089080" y="3537360"/>
            <a:ext cx="5655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Janome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フリーフォーム 185"/>
          <p:cNvSpPr/>
          <p:nvPr/>
        </p:nvSpPr>
        <p:spPr>
          <a:xfrm>
            <a:off x="584640" y="394416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79"/>
                  <a:pt x="139" y="88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2"/>
                  <a:pt x="97" y="135"/>
                </a:cubicBezTo>
                <a:cubicBezTo>
                  <a:pt x="88" y="139"/>
                  <a:pt x="79" y="140"/>
                  <a:pt x="70" y="140"/>
                </a:cubicBezTo>
                <a:cubicBezTo>
                  <a:pt x="61" y="140"/>
                  <a:pt x="52" y="139"/>
                  <a:pt x="43" y="135"/>
                </a:cubicBezTo>
                <a:cubicBezTo>
                  <a:pt x="35" y="132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0"/>
                  <a:pt x="2" y="52"/>
                  <a:pt x="6" y="43"/>
                </a:cubicBezTo>
                <a:cubicBezTo>
                  <a:pt x="9" y="35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0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テキスト ボックス 186"/>
          <p:cNvSpPr txBox="1"/>
          <p:nvPr/>
        </p:nvSpPr>
        <p:spPr>
          <a:xfrm>
            <a:off x="2652120" y="3531960"/>
            <a:ext cx="1825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を用いて形態素解析を実施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フリーフォーム 187"/>
          <p:cNvSpPr/>
          <p:nvPr/>
        </p:nvSpPr>
        <p:spPr>
          <a:xfrm>
            <a:off x="584640" y="427860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69"/>
                </a:moveTo>
                <a:cubicBezTo>
                  <a:pt x="141" y="78"/>
                  <a:pt x="139" y="87"/>
                  <a:pt x="135" y="96"/>
                </a:cubicBezTo>
                <a:cubicBezTo>
                  <a:pt x="132" y="104"/>
                  <a:pt x="127" y="112"/>
                  <a:pt x="120" y="118"/>
                </a:cubicBezTo>
                <a:cubicBezTo>
                  <a:pt x="113" y="125"/>
                  <a:pt x="105" y="130"/>
                  <a:pt x="97" y="134"/>
                </a:cubicBezTo>
                <a:cubicBezTo>
                  <a:pt x="88" y="137"/>
                  <a:pt x="79" y="140"/>
                  <a:pt x="70" y="140"/>
                </a:cubicBezTo>
                <a:cubicBezTo>
                  <a:pt x="61" y="140"/>
                  <a:pt x="52" y="137"/>
                  <a:pt x="43" y="134"/>
                </a:cubicBezTo>
                <a:cubicBezTo>
                  <a:pt x="35" y="130"/>
                  <a:pt x="27" y="125"/>
                  <a:pt x="21" y="118"/>
                </a:cubicBezTo>
                <a:cubicBezTo>
                  <a:pt x="14" y="112"/>
                  <a:pt x="9" y="104"/>
                  <a:pt x="6" y="96"/>
                </a:cubicBezTo>
                <a:cubicBezTo>
                  <a:pt x="2" y="87"/>
                  <a:pt x="0" y="78"/>
                  <a:pt x="0" y="69"/>
                </a:cubicBezTo>
                <a:cubicBezTo>
                  <a:pt x="0" y="60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3"/>
                  <a:pt x="35" y="8"/>
                  <a:pt x="43" y="5"/>
                </a:cubicBezTo>
                <a:cubicBezTo>
                  <a:pt x="52" y="1"/>
                  <a:pt x="61" y="0"/>
                  <a:pt x="70" y="0"/>
                </a:cubicBezTo>
                <a:cubicBezTo>
                  <a:pt x="79" y="0"/>
                  <a:pt x="88" y="1"/>
                  <a:pt x="97" y="5"/>
                </a:cubicBezTo>
                <a:cubicBezTo>
                  <a:pt x="105" y="8"/>
                  <a:pt x="113" y="13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0"/>
                  <a:pt x="141" y="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テキスト ボックス 188"/>
          <p:cNvSpPr txBox="1"/>
          <p:nvPr/>
        </p:nvSpPr>
        <p:spPr>
          <a:xfrm>
            <a:off x="735480" y="3866400"/>
            <a:ext cx="3965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マルコフ連鎖を用いて単語の連鎖確率に基づき文章を生成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テキスト ボックス 189"/>
          <p:cNvSpPr txBox="1"/>
          <p:nvPr/>
        </p:nvSpPr>
        <p:spPr>
          <a:xfrm>
            <a:off x="735480" y="420588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テキスト ボックス 190"/>
          <p:cNvSpPr txBox="1"/>
          <p:nvPr/>
        </p:nvSpPr>
        <p:spPr>
          <a:xfrm>
            <a:off x="831240" y="4200480"/>
            <a:ext cx="36640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階マルコフ連鎖により、より自然な文章の生成が可能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テキスト ボックス 191"/>
          <p:cNvSpPr txBox="1"/>
          <p:nvPr/>
        </p:nvSpPr>
        <p:spPr>
          <a:xfrm>
            <a:off x="668520" y="4761000"/>
            <a:ext cx="671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DE68A"/>
                </a:solidFill>
                <a:effectLst/>
                <a:uFillTx/>
                <a:latin typeface="WenQuanYiZenHei"/>
                <a:ea typeface="WenQuanYiZenHei"/>
              </a:rPr>
              <a:t>生成例：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テキスト ボックス 192"/>
          <p:cNvSpPr txBox="1"/>
          <p:nvPr/>
        </p:nvSpPr>
        <p:spPr>
          <a:xfrm>
            <a:off x="704880" y="5069880"/>
            <a:ext cx="7779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E5E7EB"/>
                </a:solidFill>
                <a:effectLst/>
                <a:uFillTx/>
                <a:latin typeface="WenQuanYiZenHei"/>
                <a:ea typeface="WenQuanYiZenHei"/>
              </a:rPr>
              <a:t>「行政法人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テキスト ボックス 193"/>
          <p:cNvSpPr txBox="1"/>
          <p:nvPr/>
        </p:nvSpPr>
        <p:spPr>
          <a:xfrm>
            <a:off x="1455480" y="5074920"/>
            <a:ext cx="6494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×××O○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テキスト ボックス 194"/>
          <p:cNvSpPr txBox="1"/>
          <p:nvPr/>
        </p:nvSpPr>
        <p:spPr>
          <a:xfrm>
            <a:off x="2084760" y="5069880"/>
            <a:ext cx="6224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E5E7EB"/>
                </a:solidFill>
                <a:effectLst/>
                <a:uFillTx/>
                <a:latin typeface="WenQuanYiZenHei"/>
                <a:ea typeface="WenQuanYiZenHei"/>
              </a:rPr>
              <a:t>申。故、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テキスト ボックス 195"/>
          <p:cNvSpPr txBox="1"/>
          <p:nvPr/>
        </p:nvSpPr>
        <p:spPr>
          <a:xfrm>
            <a:off x="2684880" y="5074920"/>
            <a:ext cx="1501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○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テキスト ボックス 196"/>
          <p:cNvSpPr txBox="1"/>
          <p:nvPr/>
        </p:nvSpPr>
        <p:spPr>
          <a:xfrm>
            <a:off x="2817720" y="5069880"/>
            <a:ext cx="20325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E5E7EB"/>
                </a:solidFill>
                <a:effectLst/>
                <a:uFillTx/>
                <a:latin typeface="WenQuanYiZenHei"/>
                <a:ea typeface="WenQuanYiZenHei"/>
              </a:rPr>
              <a:t>の事の揭载定。平素上格别の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フリーフォーム 197"/>
          <p:cNvSpPr/>
          <p:nvPr/>
        </p:nvSpPr>
        <p:spPr>
          <a:xfrm>
            <a:off x="5415120" y="835560"/>
            <a:ext cx="4947480" cy="4847040"/>
          </a:xfrm>
          <a:custGeom>
            <a:avLst/>
            <a:gdLst/>
            <a:ahLst/>
            <a:cxnLst/>
            <a:rect l="0" t="0" r="r" b="b"/>
            <a:pathLst>
              <a:path w="13743" h="13464">
                <a:moveTo>
                  <a:pt x="0" y="13279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3557" y="0"/>
                </a:lnTo>
                <a:cubicBezTo>
                  <a:pt x="13569" y="0"/>
                  <a:pt x="13581" y="1"/>
                  <a:pt x="13593" y="3"/>
                </a:cubicBezTo>
                <a:cubicBezTo>
                  <a:pt x="13605" y="6"/>
                  <a:pt x="13617" y="9"/>
                  <a:pt x="13628" y="14"/>
                </a:cubicBezTo>
                <a:cubicBezTo>
                  <a:pt x="13639" y="19"/>
                  <a:pt x="13650" y="24"/>
                  <a:pt x="13660" y="31"/>
                </a:cubicBezTo>
                <a:cubicBezTo>
                  <a:pt x="13670" y="38"/>
                  <a:pt x="13680" y="46"/>
                  <a:pt x="13688" y="54"/>
                </a:cubicBezTo>
                <a:cubicBezTo>
                  <a:pt x="13697" y="63"/>
                  <a:pt x="13705" y="72"/>
                  <a:pt x="13711" y="82"/>
                </a:cubicBezTo>
                <a:cubicBezTo>
                  <a:pt x="13718" y="92"/>
                  <a:pt x="13724" y="103"/>
                  <a:pt x="13729" y="114"/>
                </a:cubicBezTo>
                <a:cubicBezTo>
                  <a:pt x="13733" y="126"/>
                  <a:pt x="13737" y="137"/>
                  <a:pt x="13739" y="149"/>
                </a:cubicBezTo>
                <a:cubicBezTo>
                  <a:pt x="13741" y="161"/>
                  <a:pt x="13743" y="173"/>
                  <a:pt x="13743" y="186"/>
                </a:cubicBezTo>
                <a:lnTo>
                  <a:pt x="13743" y="13279"/>
                </a:lnTo>
                <a:cubicBezTo>
                  <a:pt x="13743" y="13291"/>
                  <a:pt x="13741" y="13303"/>
                  <a:pt x="13739" y="13315"/>
                </a:cubicBezTo>
                <a:cubicBezTo>
                  <a:pt x="13737" y="13327"/>
                  <a:pt x="13733" y="13338"/>
                  <a:pt x="13729" y="13350"/>
                </a:cubicBezTo>
                <a:cubicBezTo>
                  <a:pt x="13724" y="13361"/>
                  <a:pt x="13718" y="13372"/>
                  <a:pt x="13711" y="13382"/>
                </a:cubicBezTo>
                <a:cubicBezTo>
                  <a:pt x="13705" y="13392"/>
                  <a:pt x="13697" y="13401"/>
                  <a:pt x="13688" y="13410"/>
                </a:cubicBezTo>
                <a:cubicBezTo>
                  <a:pt x="13680" y="13419"/>
                  <a:pt x="13670" y="13426"/>
                  <a:pt x="13660" y="13433"/>
                </a:cubicBezTo>
                <a:cubicBezTo>
                  <a:pt x="13650" y="13440"/>
                  <a:pt x="13639" y="13446"/>
                  <a:pt x="13628" y="13450"/>
                </a:cubicBezTo>
                <a:cubicBezTo>
                  <a:pt x="13617" y="13455"/>
                  <a:pt x="13605" y="13458"/>
                  <a:pt x="13593" y="13461"/>
                </a:cubicBezTo>
                <a:cubicBezTo>
                  <a:pt x="13581" y="13463"/>
                  <a:pt x="13569" y="13464"/>
                  <a:pt x="13557" y="13464"/>
                </a:cubicBezTo>
                <a:lnTo>
                  <a:pt x="185" y="13464"/>
                </a:lnTo>
                <a:cubicBezTo>
                  <a:pt x="173" y="13464"/>
                  <a:pt x="161" y="13463"/>
                  <a:pt x="149" y="13461"/>
                </a:cubicBezTo>
                <a:cubicBezTo>
                  <a:pt x="137" y="13458"/>
                  <a:pt x="125" y="13455"/>
                  <a:pt x="114" y="13450"/>
                </a:cubicBezTo>
                <a:cubicBezTo>
                  <a:pt x="103" y="13446"/>
                  <a:pt x="92" y="13440"/>
                  <a:pt x="82" y="13433"/>
                </a:cubicBezTo>
                <a:cubicBezTo>
                  <a:pt x="72" y="13426"/>
                  <a:pt x="63" y="13419"/>
                  <a:pt x="54" y="13410"/>
                </a:cubicBezTo>
                <a:cubicBezTo>
                  <a:pt x="45" y="13401"/>
                  <a:pt x="38" y="13392"/>
                  <a:pt x="31" y="13382"/>
                </a:cubicBezTo>
                <a:cubicBezTo>
                  <a:pt x="24" y="13372"/>
                  <a:pt x="18" y="13361"/>
                  <a:pt x="14" y="13350"/>
                </a:cubicBezTo>
                <a:cubicBezTo>
                  <a:pt x="9" y="13338"/>
                  <a:pt x="6" y="13327"/>
                  <a:pt x="3" y="13315"/>
                </a:cubicBezTo>
                <a:cubicBezTo>
                  <a:pt x="1" y="13303"/>
                  <a:pt x="0" y="13291"/>
                  <a:pt x="0" y="13279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9" name="図 198"/>
          <p:cNvPicPr/>
          <p:nvPr/>
        </p:nvPicPr>
        <p:blipFill>
          <a:blip r:embed="rId5"/>
          <a:stretch/>
        </p:blipFill>
        <p:spPr>
          <a:xfrm>
            <a:off x="5615640" y="1069560"/>
            <a:ext cx="2253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テキスト ボックス 199"/>
          <p:cNvSpPr txBox="1"/>
          <p:nvPr/>
        </p:nvSpPr>
        <p:spPr>
          <a:xfrm>
            <a:off x="704880" y="5303880"/>
            <a:ext cx="37314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E5E7EB"/>
                </a:solidFill>
                <a:effectLst/>
                <a:uFillTx/>
                <a:latin typeface="WenQuanYiZenHei"/>
                <a:ea typeface="WenQuanYiZenHei"/>
              </a:rPr>
              <a:t>指摘伺、質周内容添付。忙、恐、連絡。、連絡頂。」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1" name="図 200"/>
          <p:cNvPicPr/>
          <p:nvPr/>
        </p:nvPicPr>
        <p:blipFill>
          <a:blip r:embed="rId6"/>
          <a:stretch/>
        </p:blipFill>
        <p:spPr>
          <a:xfrm>
            <a:off x="5615640" y="1571040"/>
            <a:ext cx="4545720" cy="22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フリーフォーム 201"/>
          <p:cNvSpPr/>
          <p:nvPr/>
        </p:nvSpPr>
        <p:spPr>
          <a:xfrm>
            <a:off x="5615640" y="4077720"/>
            <a:ext cx="4546440" cy="1404360"/>
          </a:xfrm>
          <a:custGeom>
            <a:avLst/>
            <a:gdLst/>
            <a:ahLst/>
            <a:cxnLst/>
            <a:rect l="0" t="0" r="r" b="b"/>
            <a:pathLst>
              <a:path w="12629" h="3901">
                <a:moveTo>
                  <a:pt x="0" y="3716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9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2443" y="0"/>
                </a:lnTo>
                <a:cubicBezTo>
                  <a:pt x="12455" y="0"/>
                  <a:pt x="12467" y="2"/>
                  <a:pt x="12479" y="4"/>
                </a:cubicBezTo>
                <a:cubicBezTo>
                  <a:pt x="12491" y="6"/>
                  <a:pt x="12503" y="10"/>
                  <a:pt x="12514" y="15"/>
                </a:cubicBezTo>
                <a:cubicBezTo>
                  <a:pt x="12525" y="19"/>
                  <a:pt x="12536" y="25"/>
                  <a:pt x="12546" y="32"/>
                </a:cubicBezTo>
                <a:cubicBezTo>
                  <a:pt x="12556" y="39"/>
                  <a:pt x="12566" y="46"/>
                  <a:pt x="12574" y="55"/>
                </a:cubicBezTo>
                <a:cubicBezTo>
                  <a:pt x="12583" y="63"/>
                  <a:pt x="12590" y="73"/>
                  <a:pt x="12597" y="83"/>
                </a:cubicBezTo>
                <a:cubicBezTo>
                  <a:pt x="12604" y="93"/>
                  <a:pt x="12610" y="104"/>
                  <a:pt x="12614" y="115"/>
                </a:cubicBezTo>
                <a:cubicBezTo>
                  <a:pt x="12619" y="126"/>
                  <a:pt x="12623" y="138"/>
                  <a:pt x="12625" y="150"/>
                </a:cubicBezTo>
                <a:cubicBezTo>
                  <a:pt x="12627" y="162"/>
                  <a:pt x="12629" y="174"/>
                  <a:pt x="12629" y="186"/>
                </a:cubicBezTo>
                <a:lnTo>
                  <a:pt x="12629" y="3716"/>
                </a:lnTo>
                <a:cubicBezTo>
                  <a:pt x="12629" y="3728"/>
                  <a:pt x="12627" y="3740"/>
                  <a:pt x="12625" y="3752"/>
                </a:cubicBezTo>
                <a:cubicBezTo>
                  <a:pt x="12623" y="3764"/>
                  <a:pt x="12619" y="3775"/>
                  <a:pt x="12614" y="3787"/>
                </a:cubicBezTo>
                <a:cubicBezTo>
                  <a:pt x="12610" y="3798"/>
                  <a:pt x="12604" y="3809"/>
                  <a:pt x="12597" y="3819"/>
                </a:cubicBezTo>
                <a:cubicBezTo>
                  <a:pt x="12590" y="3829"/>
                  <a:pt x="12583" y="3838"/>
                  <a:pt x="12574" y="3847"/>
                </a:cubicBezTo>
                <a:cubicBezTo>
                  <a:pt x="12566" y="3855"/>
                  <a:pt x="12556" y="3863"/>
                  <a:pt x="12546" y="3870"/>
                </a:cubicBezTo>
                <a:cubicBezTo>
                  <a:pt x="12536" y="3877"/>
                  <a:pt x="12525" y="3882"/>
                  <a:pt x="12514" y="3887"/>
                </a:cubicBezTo>
                <a:cubicBezTo>
                  <a:pt x="12503" y="3892"/>
                  <a:pt x="12491" y="3895"/>
                  <a:pt x="12479" y="3898"/>
                </a:cubicBezTo>
                <a:cubicBezTo>
                  <a:pt x="12467" y="3900"/>
                  <a:pt x="12455" y="3901"/>
                  <a:pt x="12443" y="3901"/>
                </a:cubicBezTo>
                <a:lnTo>
                  <a:pt x="185" y="3901"/>
                </a:lnTo>
                <a:cubicBezTo>
                  <a:pt x="173" y="3901"/>
                  <a:pt x="161" y="3900"/>
                  <a:pt x="149" y="3898"/>
                </a:cubicBezTo>
                <a:cubicBezTo>
                  <a:pt x="137" y="3895"/>
                  <a:pt x="126" y="3892"/>
                  <a:pt x="114" y="3887"/>
                </a:cubicBezTo>
                <a:cubicBezTo>
                  <a:pt x="103" y="3882"/>
                  <a:pt x="92" y="3877"/>
                  <a:pt x="82" y="3870"/>
                </a:cubicBezTo>
                <a:cubicBezTo>
                  <a:pt x="72" y="3863"/>
                  <a:pt x="63" y="3855"/>
                  <a:pt x="54" y="3847"/>
                </a:cubicBezTo>
                <a:cubicBezTo>
                  <a:pt x="45" y="3838"/>
                  <a:pt x="38" y="3829"/>
                  <a:pt x="31" y="3819"/>
                </a:cubicBezTo>
                <a:cubicBezTo>
                  <a:pt x="24" y="3809"/>
                  <a:pt x="18" y="3798"/>
                  <a:pt x="14" y="3787"/>
                </a:cubicBezTo>
                <a:cubicBezTo>
                  <a:pt x="9" y="3775"/>
                  <a:pt x="6" y="3764"/>
                  <a:pt x="3" y="3752"/>
                </a:cubicBezTo>
                <a:cubicBezTo>
                  <a:pt x="1" y="3740"/>
                  <a:pt x="0" y="3728"/>
                  <a:pt x="0" y="3716"/>
                </a:cubicBezTo>
                <a:close/>
              </a:path>
            </a:pathLst>
          </a:custGeom>
          <a:solidFill>
            <a:srgbClr val="1E3A8A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03" name="図 202"/>
          <p:cNvPicPr/>
          <p:nvPr/>
        </p:nvPicPr>
        <p:blipFill>
          <a:blip r:embed="rId7"/>
          <a:stretch/>
        </p:blipFill>
        <p:spPr>
          <a:xfrm>
            <a:off x="5749560" y="424512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テキスト ボックス 203"/>
          <p:cNvSpPr txBox="1"/>
          <p:nvPr/>
        </p:nvSpPr>
        <p:spPr>
          <a:xfrm>
            <a:off x="5941440" y="1043640"/>
            <a:ext cx="14277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システム構成図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フリーフォーム 204"/>
          <p:cNvSpPr/>
          <p:nvPr/>
        </p:nvSpPr>
        <p:spPr>
          <a:xfrm>
            <a:off x="5799240" y="461268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1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4" y="127"/>
                  <a:pt x="106" y="132"/>
                  <a:pt x="98" y="135"/>
                </a:cubicBezTo>
                <a:cubicBezTo>
                  <a:pt x="89" y="139"/>
                  <a:pt x="79" y="140"/>
                  <a:pt x="70" y="140"/>
                </a:cubicBezTo>
                <a:cubicBezTo>
                  <a:pt x="61" y="140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2"/>
                  <a:pt x="2" y="53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9" y="2"/>
                  <a:pt x="98" y="5"/>
                </a:cubicBezTo>
                <a:cubicBezTo>
                  <a:pt x="106" y="9"/>
                  <a:pt x="114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3"/>
                  <a:pt x="141" y="62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テキスト ボックス 205"/>
          <p:cNvSpPr txBox="1"/>
          <p:nvPr/>
        </p:nvSpPr>
        <p:spPr>
          <a:xfrm>
            <a:off x="5941440" y="4226400"/>
            <a:ext cx="11937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システムの特長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フリーフォーム 206"/>
          <p:cNvSpPr/>
          <p:nvPr/>
        </p:nvSpPr>
        <p:spPr>
          <a:xfrm>
            <a:off x="5799240" y="491364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4" y="126"/>
                  <a:pt x="106" y="131"/>
                  <a:pt x="98" y="135"/>
                </a:cubicBezTo>
                <a:cubicBezTo>
                  <a:pt x="89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9"/>
                  <a:pt x="0" y="80"/>
                  <a:pt x="0" y="70"/>
                </a:cubicBezTo>
                <a:cubicBezTo>
                  <a:pt x="0" y="61"/>
                  <a:pt x="2" y="52"/>
                  <a:pt x="6" y="44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9" y="2"/>
                  <a:pt x="98" y="5"/>
                </a:cubicBezTo>
                <a:cubicBezTo>
                  <a:pt x="106" y="9"/>
                  <a:pt x="114" y="14"/>
                  <a:pt x="120" y="20"/>
                </a:cubicBezTo>
                <a:cubicBezTo>
                  <a:pt x="127" y="27"/>
                  <a:pt x="132" y="34"/>
                  <a:pt x="135" y="44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テキスト ボックス 207"/>
          <p:cNvSpPr txBox="1"/>
          <p:nvPr/>
        </p:nvSpPr>
        <p:spPr>
          <a:xfrm>
            <a:off x="5950080" y="4534920"/>
            <a:ext cx="2895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自作標的型メールを学習データとして活用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フリーフォーム 208"/>
          <p:cNvSpPr/>
          <p:nvPr/>
        </p:nvSpPr>
        <p:spPr>
          <a:xfrm>
            <a:off x="5799240" y="521424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1"/>
                </a:moveTo>
                <a:cubicBezTo>
                  <a:pt x="141" y="80"/>
                  <a:pt x="139" y="89"/>
                  <a:pt x="135" y="98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4" y="127"/>
                  <a:pt x="106" y="132"/>
                  <a:pt x="98" y="135"/>
                </a:cubicBezTo>
                <a:cubicBezTo>
                  <a:pt x="89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8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2"/>
                  <a:pt x="2" y="53"/>
                  <a:pt x="6" y="44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9" y="2"/>
                  <a:pt x="98" y="6"/>
                </a:cubicBezTo>
                <a:cubicBezTo>
                  <a:pt x="106" y="9"/>
                  <a:pt x="114" y="14"/>
                  <a:pt x="120" y="21"/>
                </a:cubicBezTo>
                <a:cubicBezTo>
                  <a:pt x="127" y="27"/>
                  <a:pt x="132" y="35"/>
                  <a:pt x="135" y="44"/>
                </a:cubicBezTo>
                <a:cubicBezTo>
                  <a:pt x="139" y="53"/>
                  <a:pt x="141" y="62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テキスト ボックス 209"/>
          <p:cNvSpPr txBox="1"/>
          <p:nvPr/>
        </p:nvSpPr>
        <p:spPr>
          <a:xfrm>
            <a:off x="5950080" y="4835880"/>
            <a:ext cx="3657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サンプル不足を補完し、実用的な訓練用メールを生成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1" name="図 210"/>
          <p:cNvPicPr/>
          <p:nvPr/>
        </p:nvPicPr>
        <p:blipFill>
          <a:blip r:embed="rId8"/>
          <a:stretch/>
        </p:blipFill>
        <p:spPr>
          <a:xfrm>
            <a:off x="10002960" y="5649120"/>
            <a:ext cx="55944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テキスト ボックス 211"/>
          <p:cNvSpPr txBox="1"/>
          <p:nvPr/>
        </p:nvSpPr>
        <p:spPr>
          <a:xfrm>
            <a:off x="5950080" y="5136480"/>
            <a:ext cx="3341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手作業での作成と比較し、大幅な時間短縮を実現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図 212"/>
          <p:cNvPicPr/>
          <p:nvPr/>
        </p:nvPicPr>
        <p:blipFill>
          <a:blip r:embed="rId2"/>
          <a:stretch/>
        </p:blipFill>
        <p:spPr>
          <a:xfrm>
            <a:off x="0" y="0"/>
            <a:ext cx="10696320" cy="608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テキスト ボックス 213"/>
          <p:cNvSpPr txBox="1"/>
          <p:nvPr/>
        </p:nvSpPr>
        <p:spPr>
          <a:xfrm>
            <a:off x="334440" y="326880"/>
            <a:ext cx="404748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79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自作標的型メールの特徴と作成方法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フリーフォーム 214"/>
          <p:cNvSpPr/>
          <p:nvPr/>
        </p:nvSpPr>
        <p:spPr>
          <a:xfrm>
            <a:off x="334080" y="902520"/>
            <a:ext cx="4805640" cy="2172960"/>
          </a:xfrm>
          <a:custGeom>
            <a:avLst/>
            <a:gdLst/>
            <a:ahLst/>
            <a:cxnLst/>
            <a:rect l="0" t="0" r="r" b="b"/>
            <a:pathLst>
              <a:path w="13349" h="6036">
                <a:moveTo>
                  <a:pt x="0" y="5850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8" y="5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13163" y="0"/>
                </a:lnTo>
                <a:cubicBezTo>
                  <a:pt x="13175" y="0"/>
                  <a:pt x="13187" y="1"/>
                  <a:pt x="13199" y="3"/>
                </a:cubicBezTo>
                <a:cubicBezTo>
                  <a:pt x="13211" y="5"/>
                  <a:pt x="13223" y="9"/>
                  <a:pt x="13234" y="14"/>
                </a:cubicBezTo>
                <a:cubicBezTo>
                  <a:pt x="13245" y="18"/>
                  <a:pt x="13256" y="24"/>
                  <a:pt x="13266" y="31"/>
                </a:cubicBezTo>
                <a:cubicBezTo>
                  <a:pt x="13276" y="38"/>
                  <a:pt x="13286" y="45"/>
                  <a:pt x="13294" y="54"/>
                </a:cubicBezTo>
                <a:cubicBezTo>
                  <a:pt x="13303" y="63"/>
                  <a:pt x="13310" y="72"/>
                  <a:pt x="13317" y="82"/>
                </a:cubicBezTo>
                <a:cubicBezTo>
                  <a:pt x="13324" y="92"/>
                  <a:pt x="13330" y="103"/>
                  <a:pt x="13334" y="114"/>
                </a:cubicBezTo>
                <a:cubicBezTo>
                  <a:pt x="13339" y="125"/>
                  <a:pt x="13343" y="137"/>
                  <a:pt x="13345" y="149"/>
                </a:cubicBezTo>
                <a:cubicBezTo>
                  <a:pt x="13347" y="161"/>
                  <a:pt x="13349" y="173"/>
                  <a:pt x="13349" y="185"/>
                </a:cubicBezTo>
                <a:lnTo>
                  <a:pt x="13349" y="5850"/>
                </a:lnTo>
                <a:cubicBezTo>
                  <a:pt x="13349" y="5862"/>
                  <a:pt x="13347" y="5874"/>
                  <a:pt x="13345" y="5886"/>
                </a:cubicBezTo>
                <a:cubicBezTo>
                  <a:pt x="13343" y="5898"/>
                  <a:pt x="13339" y="5910"/>
                  <a:pt x="13334" y="5921"/>
                </a:cubicBezTo>
                <a:cubicBezTo>
                  <a:pt x="13330" y="5933"/>
                  <a:pt x="13324" y="5943"/>
                  <a:pt x="13317" y="5953"/>
                </a:cubicBezTo>
                <a:cubicBezTo>
                  <a:pt x="13310" y="5964"/>
                  <a:pt x="13303" y="5973"/>
                  <a:pt x="13294" y="5982"/>
                </a:cubicBezTo>
                <a:cubicBezTo>
                  <a:pt x="13286" y="5990"/>
                  <a:pt x="13276" y="5998"/>
                  <a:pt x="13266" y="6005"/>
                </a:cubicBezTo>
                <a:cubicBezTo>
                  <a:pt x="13256" y="6011"/>
                  <a:pt x="13245" y="6017"/>
                  <a:pt x="13234" y="6022"/>
                </a:cubicBezTo>
                <a:cubicBezTo>
                  <a:pt x="13223" y="6026"/>
                  <a:pt x="13211" y="6030"/>
                  <a:pt x="13199" y="6032"/>
                </a:cubicBezTo>
                <a:cubicBezTo>
                  <a:pt x="13187" y="6035"/>
                  <a:pt x="13175" y="6036"/>
                  <a:pt x="13163" y="6036"/>
                </a:cubicBezTo>
                <a:lnTo>
                  <a:pt x="186" y="6036"/>
                </a:lnTo>
                <a:cubicBezTo>
                  <a:pt x="174" y="6036"/>
                  <a:pt x="161" y="6035"/>
                  <a:pt x="149" y="6032"/>
                </a:cubicBezTo>
                <a:cubicBezTo>
                  <a:pt x="138" y="6030"/>
                  <a:pt x="126" y="6026"/>
                  <a:pt x="115" y="6022"/>
                </a:cubicBezTo>
                <a:cubicBezTo>
                  <a:pt x="103" y="6017"/>
                  <a:pt x="93" y="6011"/>
                  <a:pt x="83" y="6005"/>
                </a:cubicBezTo>
                <a:cubicBezTo>
                  <a:pt x="72" y="5998"/>
                  <a:pt x="63" y="5990"/>
                  <a:pt x="54" y="5982"/>
                </a:cubicBezTo>
                <a:cubicBezTo>
                  <a:pt x="46" y="5973"/>
                  <a:pt x="38" y="5964"/>
                  <a:pt x="31" y="5953"/>
                </a:cubicBezTo>
                <a:cubicBezTo>
                  <a:pt x="25" y="5943"/>
                  <a:pt x="19" y="5933"/>
                  <a:pt x="14" y="5921"/>
                </a:cubicBezTo>
                <a:cubicBezTo>
                  <a:pt x="9" y="5910"/>
                  <a:pt x="6" y="5898"/>
                  <a:pt x="4" y="5886"/>
                </a:cubicBezTo>
                <a:cubicBezTo>
                  <a:pt x="1" y="5874"/>
                  <a:pt x="0" y="5862"/>
                  <a:pt x="0" y="585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6" name="図 215"/>
          <p:cNvPicPr/>
          <p:nvPr/>
        </p:nvPicPr>
        <p:blipFill>
          <a:blip r:embed="rId3"/>
          <a:stretch/>
        </p:blipFill>
        <p:spPr>
          <a:xfrm>
            <a:off x="534960" y="11365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テキスト ボックス 216"/>
          <p:cNvSpPr txBox="1"/>
          <p:nvPr/>
        </p:nvSpPr>
        <p:spPr>
          <a:xfrm>
            <a:off x="9880560" y="388080"/>
            <a:ext cx="4838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5 / 12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フリーフォーム 217"/>
          <p:cNvSpPr/>
          <p:nvPr/>
        </p:nvSpPr>
        <p:spPr>
          <a:xfrm>
            <a:off x="584640" y="160416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1"/>
                </a:moveTo>
                <a:cubicBezTo>
                  <a:pt x="141" y="80"/>
                  <a:pt x="139" y="89"/>
                  <a:pt x="135" y="98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8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1"/>
                  <a:pt x="2" y="52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1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テキスト ボックス 218"/>
          <p:cNvSpPr txBox="1"/>
          <p:nvPr/>
        </p:nvSpPr>
        <p:spPr>
          <a:xfrm>
            <a:off x="835560" y="111060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作成方法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テキスト ボックス 219"/>
          <p:cNvSpPr txBox="1"/>
          <p:nvPr/>
        </p:nvSpPr>
        <p:spPr>
          <a:xfrm>
            <a:off x="735480" y="1531800"/>
            <a:ext cx="239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IPA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テキスト ボックス 220"/>
          <p:cNvSpPr txBox="1"/>
          <p:nvPr/>
        </p:nvSpPr>
        <p:spPr>
          <a:xfrm>
            <a:off x="963720" y="1526400"/>
            <a:ext cx="3972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テクニカルウォッチ「標的型攻撃メールの例と見分け方」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フリーフォーム 221"/>
          <p:cNvSpPr/>
          <p:nvPr/>
        </p:nvSpPr>
        <p:spPr>
          <a:xfrm>
            <a:off x="584640" y="213912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79"/>
                  <a:pt x="139" y="88"/>
                  <a:pt x="135" y="96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9"/>
                  <a:pt x="79" y="140"/>
                  <a:pt x="70" y="140"/>
                </a:cubicBezTo>
                <a:cubicBezTo>
                  <a:pt x="61" y="140"/>
                  <a:pt x="52" y="139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6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0"/>
                  <a:pt x="2" y="52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2"/>
                  <a:pt x="141" y="60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テキスト ボックス 222"/>
          <p:cNvSpPr txBox="1"/>
          <p:nvPr/>
        </p:nvSpPr>
        <p:spPr>
          <a:xfrm>
            <a:off x="735480" y="1760400"/>
            <a:ext cx="4568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を参考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フリーフォーム 223"/>
          <p:cNvSpPr/>
          <p:nvPr/>
        </p:nvSpPr>
        <p:spPr>
          <a:xfrm>
            <a:off x="584640" y="244008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69"/>
                </a:moveTo>
                <a:cubicBezTo>
                  <a:pt x="141" y="79"/>
                  <a:pt x="139" y="87"/>
                  <a:pt x="135" y="96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6"/>
                </a:cubicBezTo>
                <a:cubicBezTo>
                  <a:pt x="2" y="87"/>
                  <a:pt x="0" y="79"/>
                  <a:pt x="0" y="69"/>
                </a:cubicBezTo>
                <a:cubicBezTo>
                  <a:pt x="0" y="60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1"/>
                  <a:pt x="61" y="0"/>
                  <a:pt x="70" y="0"/>
                </a:cubicBezTo>
                <a:cubicBezTo>
                  <a:pt x="79" y="0"/>
                  <a:pt x="88" y="1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0"/>
                  <a:pt x="141" y="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テキスト ボックス 224"/>
          <p:cNvSpPr txBox="1"/>
          <p:nvPr/>
        </p:nvSpPr>
        <p:spPr>
          <a:xfrm>
            <a:off x="735480" y="2061360"/>
            <a:ext cx="27518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セキュリティ企業が提供する実例を参照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テキスト ボックス 225"/>
          <p:cNvSpPr txBox="1"/>
          <p:nvPr/>
        </p:nvSpPr>
        <p:spPr>
          <a:xfrm>
            <a:off x="735480" y="2362320"/>
            <a:ext cx="10746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異なるテーマの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テキスト ボックス 226"/>
          <p:cNvSpPr txBox="1"/>
          <p:nvPr/>
        </p:nvSpPr>
        <p:spPr>
          <a:xfrm>
            <a:off x="1788480" y="2367360"/>
            <a:ext cx="210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12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フリーフォーム 227"/>
          <p:cNvSpPr/>
          <p:nvPr/>
        </p:nvSpPr>
        <p:spPr>
          <a:xfrm>
            <a:off x="584640" y="274068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0"/>
                </a:moveTo>
                <a:cubicBezTo>
                  <a:pt x="141" y="79"/>
                  <a:pt x="139" y="88"/>
                  <a:pt x="135" y="97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7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1"/>
                  <a:pt x="2" y="52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テキスト ボックス 228"/>
          <p:cNvSpPr txBox="1"/>
          <p:nvPr/>
        </p:nvSpPr>
        <p:spPr>
          <a:xfrm>
            <a:off x="1997640" y="2362320"/>
            <a:ext cx="2130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通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の標的型メールを参考に作成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テキスト ボックス 229"/>
          <p:cNvSpPr txBox="1"/>
          <p:nvPr/>
        </p:nvSpPr>
        <p:spPr>
          <a:xfrm>
            <a:off x="735480" y="2662920"/>
            <a:ext cx="7585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研究室で</a:t>
            </a:r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計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テキスト ボックス 230"/>
          <p:cNvSpPr txBox="1"/>
          <p:nvPr/>
        </p:nvSpPr>
        <p:spPr>
          <a:xfrm>
            <a:off x="1487520" y="2668320"/>
            <a:ext cx="315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480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フリーフォーム 231"/>
          <p:cNvSpPr/>
          <p:nvPr/>
        </p:nvSpPr>
        <p:spPr>
          <a:xfrm>
            <a:off x="334080" y="3275640"/>
            <a:ext cx="4805640" cy="2473920"/>
          </a:xfrm>
          <a:custGeom>
            <a:avLst/>
            <a:gdLst/>
            <a:ahLst/>
            <a:cxnLst/>
            <a:rect l="0" t="0" r="r" b="b"/>
            <a:pathLst>
              <a:path w="13349" h="6872">
                <a:moveTo>
                  <a:pt x="0" y="6686"/>
                </a:moveTo>
                <a:lnTo>
                  <a:pt x="0" y="186"/>
                </a:lnTo>
                <a:cubicBezTo>
                  <a:pt x="0" y="174"/>
                  <a:pt x="1" y="161"/>
                  <a:pt x="4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4" y="0"/>
                  <a:pt x="186" y="0"/>
                </a:cubicBezTo>
                <a:lnTo>
                  <a:pt x="13163" y="0"/>
                </a:lnTo>
                <a:cubicBezTo>
                  <a:pt x="13175" y="0"/>
                  <a:pt x="13187" y="1"/>
                  <a:pt x="13199" y="4"/>
                </a:cubicBezTo>
                <a:cubicBezTo>
                  <a:pt x="13211" y="6"/>
                  <a:pt x="13223" y="9"/>
                  <a:pt x="13234" y="14"/>
                </a:cubicBezTo>
                <a:cubicBezTo>
                  <a:pt x="13245" y="19"/>
                  <a:pt x="13256" y="25"/>
                  <a:pt x="13266" y="31"/>
                </a:cubicBezTo>
                <a:cubicBezTo>
                  <a:pt x="13276" y="38"/>
                  <a:pt x="13286" y="46"/>
                  <a:pt x="13294" y="54"/>
                </a:cubicBezTo>
                <a:cubicBezTo>
                  <a:pt x="13303" y="63"/>
                  <a:pt x="13310" y="72"/>
                  <a:pt x="13317" y="83"/>
                </a:cubicBezTo>
                <a:cubicBezTo>
                  <a:pt x="13324" y="93"/>
                  <a:pt x="13330" y="103"/>
                  <a:pt x="13334" y="115"/>
                </a:cubicBezTo>
                <a:cubicBezTo>
                  <a:pt x="13339" y="126"/>
                  <a:pt x="13343" y="138"/>
                  <a:pt x="13345" y="149"/>
                </a:cubicBezTo>
                <a:cubicBezTo>
                  <a:pt x="13347" y="161"/>
                  <a:pt x="13349" y="174"/>
                  <a:pt x="13349" y="186"/>
                </a:cubicBezTo>
                <a:lnTo>
                  <a:pt x="13349" y="6686"/>
                </a:lnTo>
                <a:cubicBezTo>
                  <a:pt x="13349" y="6699"/>
                  <a:pt x="13347" y="6711"/>
                  <a:pt x="13345" y="6723"/>
                </a:cubicBezTo>
                <a:cubicBezTo>
                  <a:pt x="13343" y="6735"/>
                  <a:pt x="13339" y="6746"/>
                  <a:pt x="13334" y="6757"/>
                </a:cubicBezTo>
                <a:cubicBezTo>
                  <a:pt x="13330" y="6769"/>
                  <a:pt x="13324" y="6779"/>
                  <a:pt x="13317" y="6790"/>
                </a:cubicBezTo>
                <a:cubicBezTo>
                  <a:pt x="13310" y="6800"/>
                  <a:pt x="13303" y="6809"/>
                  <a:pt x="13294" y="6818"/>
                </a:cubicBezTo>
                <a:cubicBezTo>
                  <a:pt x="13286" y="6826"/>
                  <a:pt x="13276" y="6834"/>
                  <a:pt x="13266" y="6841"/>
                </a:cubicBezTo>
                <a:cubicBezTo>
                  <a:pt x="13256" y="6848"/>
                  <a:pt x="13245" y="6853"/>
                  <a:pt x="13234" y="6858"/>
                </a:cubicBezTo>
                <a:cubicBezTo>
                  <a:pt x="13223" y="6863"/>
                  <a:pt x="13211" y="6866"/>
                  <a:pt x="13199" y="6869"/>
                </a:cubicBezTo>
                <a:cubicBezTo>
                  <a:pt x="13187" y="6871"/>
                  <a:pt x="13175" y="6872"/>
                  <a:pt x="13163" y="6872"/>
                </a:cubicBezTo>
                <a:lnTo>
                  <a:pt x="186" y="6872"/>
                </a:lnTo>
                <a:cubicBezTo>
                  <a:pt x="174" y="6872"/>
                  <a:pt x="161" y="6871"/>
                  <a:pt x="149" y="6869"/>
                </a:cubicBezTo>
                <a:cubicBezTo>
                  <a:pt x="138" y="6866"/>
                  <a:pt x="126" y="6863"/>
                  <a:pt x="115" y="6858"/>
                </a:cubicBezTo>
                <a:cubicBezTo>
                  <a:pt x="103" y="6853"/>
                  <a:pt x="93" y="6848"/>
                  <a:pt x="83" y="6841"/>
                </a:cubicBezTo>
                <a:cubicBezTo>
                  <a:pt x="72" y="6834"/>
                  <a:pt x="63" y="6826"/>
                  <a:pt x="54" y="6818"/>
                </a:cubicBezTo>
                <a:cubicBezTo>
                  <a:pt x="46" y="6809"/>
                  <a:pt x="38" y="6800"/>
                  <a:pt x="31" y="6790"/>
                </a:cubicBezTo>
                <a:cubicBezTo>
                  <a:pt x="25" y="6779"/>
                  <a:pt x="19" y="6769"/>
                  <a:pt x="14" y="6757"/>
                </a:cubicBezTo>
                <a:cubicBezTo>
                  <a:pt x="9" y="6746"/>
                  <a:pt x="6" y="6735"/>
                  <a:pt x="4" y="6723"/>
                </a:cubicBezTo>
                <a:cubicBezTo>
                  <a:pt x="1" y="6711"/>
                  <a:pt x="0" y="6699"/>
                  <a:pt x="0" y="6686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3" name="図 232"/>
          <p:cNvPicPr/>
          <p:nvPr/>
        </p:nvPicPr>
        <p:blipFill>
          <a:blip r:embed="rId4"/>
          <a:stretch/>
        </p:blipFill>
        <p:spPr>
          <a:xfrm>
            <a:off x="534960" y="350964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テキスト ボックス 233"/>
          <p:cNvSpPr txBox="1"/>
          <p:nvPr/>
        </p:nvSpPr>
        <p:spPr>
          <a:xfrm>
            <a:off x="1801440" y="2662920"/>
            <a:ext cx="1976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通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の自作標的型メールを作成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フリーフォーム 234"/>
          <p:cNvSpPr/>
          <p:nvPr/>
        </p:nvSpPr>
        <p:spPr>
          <a:xfrm>
            <a:off x="584640" y="397764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1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1"/>
                  <a:pt x="2" y="52"/>
                  <a:pt x="6" y="44"/>
                </a:cubicBezTo>
                <a:cubicBezTo>
                  <a:pt x="9" y="35"/>
                  <a:pt x="14" y="28"/>
                  <a:pt x="21" y="21"/>
                </a:cubicBezTo>
                <a:cubicBezTo>
                  <a:pt x="27" y="15"/>
                  <a:pt x="35" y="10"/>
                  <a:pt x="43" y="6"/>
                </a:cubicBezTo>
                <a:cubicBezTo>
                  <a:pt x="52" y="3"/>
                  <a:pt x="61" y="0"/>
                  <a:pt x="70" y="0"/>
                </a:cubicBezTo>
                <a:cubicBezTo>
                  <a:pt x="79" y="0"/>
                  <a:pt x="88" y="3"/>
                  <a:pt x="97" y="6"/>
                </a:cubicBezTo>
                <a:cubicBezTo>
                  <a:pt x="105" y="10"/>
                  <a:pt x="113" y="15"/>
                  <a:pt x="120" y="21"/>
                </a:cubicBezTo>
                <a:cubicBezTo>
                  <a:pt x="127" y="28"/>
                  <a:pt x="132" y="35"/>
                  <a:pt x="135" y="44"/>
                </a:cubicBezTo>
                <a:cubicBezTo>
                  <a:pt x="139" y="52"/>
                  <a:pt x="141" y="61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テキスト ボックス 235"/>
          <p:cNvSpPr txBox="1"/>
          <p:nvPr/>
        </p:nvSpPr>
        <p:spPr>
          <a:xfrm>
            <a:off x="835560" y="3483720"/>
            <a:ext cx="403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特徴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7" name="図 236"/>
          <p:cNvPicPr/>
          <p:nvPr/>
        </p:nvPicPr>
        <p:blipFill>
          <a:blip r:embed="rId5"/>
          <a:stretch/>
        </p:blipFill>
        <p:spPr>
          <a:xfrm>
            <a:off x="869040" y="4245120"/>
            <a:ext cx="10836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テキスト ボックス 237"/>
          <p:cNvSpPr txBox="1"/>
          <p:nvPr/>
        </p:nvSpPr>
        <p:spPr>
          <a:xfrm>
            <a:off x="735480" y="3899880"/>
            <a:ext cx="3348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文字数の統計値を参考メールと一致させる設計：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テキスト ボックス 238"/>
          <p:cNvSpPr txBox="1"/>
          <p:nvPr/>
        </p:nvSpPr>
        <p:spPr>
          <a:xfrm>
            <a:off x="1044720" y="4200480"/>
            <a:ext cx="453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最小：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テキスト ボックス 239"/>
          <p:cNvSpPr txBox="1"/>
          <p:nvPr/>
        </p:nvSpPr>
        <p:spPr>
          <a:xfrm>
            <a:off x="1495800" y="4205880"/>
            <a:ext cx="315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101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1" name="図 240"/>
          <p:cNvPicPr/>
          <p:nvPr/>
        </p:nvPicPr>
        <p:blipFill>
          <a:blip r:embed="rId6"/>
          <a:stretch/>
        </p:blipFill>
        <p:spPr>
          <a:xfrm>
            <a:off x="2941560" y="4245120"/>
            <a:ext cx="10836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テキスト ボックス 241"/>
          <p:cNvSpPr txBox="1"/>
          <p:nvPr/>
        </p:nvSpPr>
        <p:spPr>
          <a:xfrm>
            <a:off x="1809720" y="4200480"/>
            <a:ext cx="302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文字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テキスト ボックス 242"/>
          <p:cNvSpPr txBox="1"/>
          <p:nvPr/>
        </p:nvSpPr>
        <p:spPr>
          <a:xfrm>
            <a:off x="3112920" y="4200480"/>
            <a:ext cx="453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最大：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テキスト ボックス 243"/>
          <p:cNvSpPr txBox="1"/>
          <p:nvPr/>
        </p:nvSpPr>
        <p:spPr>
          <a:xfrm>
            <a:off x="3564000" y="4205880"/>
            <a:ext cx="315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350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5" name="図 244"/>
          <p:cNvPicPr/>
          <p:nvPr/>
        </p:nvPicPr>
        <p:blipFill>
          <a:blip r:embed="rId7"/>
          <a:stretch/>
        </p:blipFill>
        <p:spPr>
          <a:xfrm>
            <a:off x="869040" y="4546080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テキスト ボックス 245"/>
          <p:cNvSpPr txBox="1"/>
          <p:nvPr/>
        </p:nvSpPr>
        <p:spPr>
          <a:xfrm>
            <a:off x="3878280" y="4200480"/>
            <a:ext cx="302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文字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テキスト ボックス 246"/>
          <p:cNvSpPr txBox="1"/>
          <p:nvPr/>
        </p:nvSpPr>
        <p:spPr>
          <a:xfrm>
            <a:off x="1036080" y="4501440"/>
            <a:ext cx="6040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平均：</a:t>
            </a:r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約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テキスト ボックス 247"/>
          <p:cNvSpPr txBox="1"/>
          <p:nvPr/>
        </p:nvSpPr>
        <p:spPr>
          <a:xfrm>
            <a:off x="1638000" y="4506840"/>
            <a:ext cx="315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191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9" name="図 248"/>
          <p:cNvPicPr/>
          <p:nvPr/>
        </p:nvPicPr>
        <p:blipFill>
          <a:blip r:embed="rId8"/>
          <a:stretch/>
        </p:blipFill>
        <p:spPr>
          <a:xfrm>
            <a:off x="2941560" y="454608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テキスト ボックス 249"/>
          <p:cNvSpPr txBox="1"/>
          <p:nvPr/>
        </p:nvSpPr>
        <p:spPr>
          <a:xfrm>
            <a:off x="1951920" y="4501440"/>
            <a:ext cx="302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文字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テキスト ボックス 250"/>
          <p:cNvSpPr txBox="1"/>
          <p:nvPr/>
        </p:nvSpPr>
        <p:spPr>
          <a:xfrm>
            <a:off x="3121200" y="4501440"/>
            <a:ext cx="9061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標準偏差：</a:t>
            </a:r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約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テキスト ボックス 251"/>
          <p:cNvSpPr txBox="1"/>
          <p:nvPr/>
        </p:nvSpPr>
        <p:spPr>
          <a:xfrm>
            <a:off x="4023720" y="4506840"/>
            <a:ext cx="3729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71.3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フリーフォーム 252"/>
          <p:cNvSpPr/>
          <p:nvPr/>
        </p:nvSpPr>
        <p:spPr>
          <a:xfrm>
            <a:off x="584640" y="488016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79"/>
                  <a:pt x="139" y="88"/>
                  <a:pt x="135" y="96"/>
                </a:cubicBezTo>
                <a:cubicBezTo>
                  <a:pt x="132" y="105"/>
                  <a:pt x="127" y="112"/>
                  <a:pt x="120" y="119"/>
                </a:cubicBezTo>
                <a:cubicBezTo>
                  <a:pt x="113" y="125"/>
                  <a:pt x="105" y="130"/>
                  <a:pt x="97" y="134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4"/>
                </a:cubicBezTo>
                <a:cubicBezTo>
                  <a:pt x="35" y="130"/>
                  <a:pt x="27" y="125"/>
                  <a:pt x="21" y="119"/>
                </a:cubicBezTo>
                <a:cubicBezTo>
                  <a:pt x="14" y="112"/>
                  <a:pt x="9" y="105"/>
                  <a:pt x="6" y="96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0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0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テキスト ボックス 253"/>
          <p:cNvSpPr txBox="1"/>
          <p:nvPr/>
        </p:nvSpPr>
        <p:spPr>
          <a:xfrm>
            <a:off x="4394880" y="4501440"/>
            <a:ext cx="302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文字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テキスト ボックス 254"/>
          <p:cNvSpPr txBox="1"/>
          <p:nvPr/>
        </p:nvSpPr>
        <p:spPr>
          <a:xfrm>
            <a:off x="735480" y="4802400"/>
            <a:ext cx="4098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形態素解析によって判定された固有名詞（人名、組織名、地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フリーフォーム 255"/>
          <p:cNvSpPr/>
          <p:nvPr/>
        </p:nvSpPr>
        <p:spPr>
          <a:xfrm>
            <a:off x="584640" y="541512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79"/>
                  <a:pt x="139" y="88"/>
                  <a:pt x="135" y="97"/>
                </a:cubicBezTo>
                <a:cubicBezTo>
                  <a:pt x="132" y="105"/>
                  <a:pt x="127" y="113"/>
                  <a:pt x="120" y="119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19"/>
                </a:cubicBezTo>
                <a:cubicBezTo>
                  <a:pt x="14" y="113"/>
                  <a:pt x="9" y="105"/>
                  <a:pt x="6" y="97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1"/>
                  <a:pt x="2" y="52"/>
                  <a:pt x="6" y="44"/>
                </a:cubicBezTo>
                <a:cubicBezTo>
                  <a:pt x="9" y="34"/>
                  <a:pt x="14" y="26"/>
                  <a:pt x="21" y="20"/>
                </a:cubicBezTo>
                <a:cubicBezTo>
                  <a:pt x="27" y="13"/>
                  <a:pt x="35" y="8"/>
                  <a:pt x="43" y="5"/>
                </a:cubicBezTo>
                <a:cubicBezTo>
                  <a:pt x="52" y="1"/>
                  <a:pt x="61" y="0"/>
                  <a:pt x="70" y="0"/>
                </a:cubicBezTo>
                <a:cubicBezTo>
                  <a:pt x="79" y="0"/>
                  <a:pt x="88" y="1"/>
                  <a:pt x="97" y="5"/>
                </a:cubicBezTo>
                <a:cubicBezTo>
                  <a:pt x="105" y="8"/>
                  <a:pt x="113" y="13"/>
                  <a:pt x="120" y="20"/>
                </a:cubicBezTo>
                <a:cubicBezTo>
                  <a:pt x="127" y="26"/>
                  <a:pt x="132" y="34"/>
                  <a:pt x="135" y="44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テキスト ボックス 256"/>
          <p:cNvSpPr txBox="1"/>
          <p:nvPr/>
        </p:nvSpPr>
        <p:spPr>
          <a:xfrm>
            <a:off x="735480" y="5036400"/>
            <a:ext cx="1372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域名など）は伏字に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フリーフォーム 257"/>
          <p:cNvSpPr/>
          <p:nvPr/>
        </p:nvSpPr>
        <p:spPr>
          <a:xfrm>
            <a:off x="5540400" y="902520"/>
            <a:ext cx="4822200" cy="4847040"/>
          </a:xfrm>
          <a:custGeom>
            <a:avLst/>
            <a:gdLst/>
            <a:ahLst/>
            <a:cxnLst/>
            <a:rect l="0" t="0" r="r" b="b"/>
            <a:pathLst>
              <a:path w="13395" h="13464">
                <a:moveTo>
                  <a:pt x="0" y="1327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6" y="9"/>
                  <a:pt x="137" y="5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3209" y="0"/>
                </a:lnTo>
                <a:cubicBezTo>
                  <a:pt x="13221" y="0"/>
                  <a:pt x="13233" y="1"/>
                  <a:pt x="13245" y="3"/>
                </a:cubicBezTo>
                <a:cubicBezTo>
                  <a:pt x="13257" y="5"/>
                  <a:pt x="13269" y="9"/>
                  <a:pt x="13280" y="14"/>
                </a:cubicBezTo>
                <a:cubicBezTo>
                  <a:pt x="13291" y="18"/>
                  <a:pt x="13302" y="24"/>
                  <a:pt x="13312" y="31"/>
                </a:cubicBezTo>
                <a:cubicBezTo>
                  <a:pt x="13322" y="38"/>
                  <a:pt x="13332" y="45"/>
                  <a:pt x="13340" y="54"/>
                </a:cubicBezTo>
                <a:cubicBezTo>
                  <a:pt x="13349" y="63"/>
                  <a:pt x="13357" y="72"/>
                  <a:pt x="13363" y="82"/>
                </a:cubicBezTo>
                <a:cubicBezTo>
                  <a:pt x="13370" y="92"/>
                  <a:pt x="13376" y="103"/>
                  <a:pt x="13381" y="114"/>
                </a:cubicBezTo>
                <a:cubicBezTo>
                  <a:pt x="13385" y="125"/>
                  <a:pt x="13389" y="137"/>
                  <a:pt x="13391" y="149"/>
                </a:cubicBezTo>
                <a:cubicBezTo>
                  <a:pt x="13393" y="161"/>
                  <a:pt x="13395" y="173"/>
                  <a:pt x="13395" y="185"/>
                </a:cubicBezTo>
                <a:lnTo>
                  <a:pt x="13395" y="13278"/>
                </a:lnTo>
                <a:cubicBezTo>
                  <a:pt x="13395" y="13291"/>
                  <a:pt x="13393" y="13303"/>
                  <a:pt x="13391" y="13315"/>
                </a:cubicBezTo>
                <a:cubicBezTo>
                  <a:pt x="13389" y="13327"/>
                  <a:pt x="13385" y="13338"/>
                  <a:pt x="13381" y="13349"/>
                </a:cubicBezTo>
                <a:cubicBezTo>
                  <a:pt x="13376" y="13361"/>
                  <a:pt x="13370" y="13371"/>
                  <a:pt x="13363" y="13382"/>
                </a:cubicBezTo>
                <a:cubicBezTo>
                  <a:pt x="13357" y="13392"/>
                  <a:pt x="13349" y="13401"/>
                  <a:pt x="13340" y="13410"/>
                </a:cubicBezTo>
                <a:cubicBezTo>
                  <a:pt x="13332" y="13418"/>
                  <a:pt x="13322" y="13426"/>
                  <a:pt x="13312" y="13433"/>
                </a:cubicBezTo>
                <a:cubicBezTo>
                  <a:pt x="13302" y="13440"/>
                  <a:pt x="13291" y="13445"/>
                  <a:pt x="13280" y="13450"/>
                </a:cubicBezTo>
                <a:cubicBezTo>
                  <a:pt x="13269" y="13455"/>
                  <a:pt x="13257" y="13458"/>
                  <a:pt x="13245" y="13461"/>
                </a:cubicBezTo>
                <a:cubicBezTo>
                  <a:pt x="13233" y="13463"/>
                  <a:pt x="13221" y="13464"/>
                  <a:pt x="13209" y="13464"/>
                </a:cubicBezTo>
                <a:lnTo>
                  <a:pt x="185" y="13464"/>
                </a:lnTo>
                <a:cubicBezTo>
                  <a:pt x="173" y="13464"/>
                  <a:pt x="161" y="13463"/>
                  <a:pt x="149" y="13461"/>
                </a:cubicBezTo>
                <a:cubicBezTo>
                  <a:pt x="137" y="13458"/>
                  <a:pt x="126" y="13455"/>
                  <a:pt x="114" y="13450"/>
                </a:cubicBezTo>
                <a:cubicBezTo>
                  <a:pt x="103" y="13445"/>
                  <a:pt x="92" y="13440"/>
                  <a:pt x="82" y="13433"/>
                </a:cubicBezTo>
                <a:cubicBezTo>
                  <a:pt x="72" y="13426"/>
                  <a:pt x="63" y="13418"/>
                  <a:pt x="54" y="13410"/>
                </a:cubicBezTo>
                <a:cubicBezTo>
                  <a:pt x="46" y="13401"/>
                  <a:pt x="38" y="13392"/>
                  <a:pt x="31" y="13382"/>
                </a:cubicBezTo>
                <a:cubicBezTo>
                  <a:pt x="24" y="13371"/>
                  <a:pt x="19" y="13361"/>
                  <a:pt x="14" y="13349"/>
                </a:cubicBezTo>
                <a:cubicBezTo>
                  <a:pt x="9" y="13338"/>
                  <a:pt x="6" y="13327"/>
                  <a:pt x="3" y="13315"/>
                </a:cubicBezTo>
                <a:cubicBezTo>
                  <a:pt x="1" y="13303"/>
                  <a:pt x="0" y="13291"/>
                  <a:pt x="0" y="13278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フリーフォーム 258"/>
          <p:cNvSpPr/>
          <p:nvPr/>
        </p:nvSpPr>
        <p:spPr>
          <a:xfrm>
            <a:off x="5740920" y="1504080"/>
            <a:ext cx="4421160" cy="3067200"/>
          </a:xfrm>
          <a:custGeom>
            <a:avLst/>
            <a:gdLst/>
            <a:ahLst/>
            <a:cxnLst/>
            <a:rect l="0" t="0" r="r" b="b"/>
            <a:pathLst>
              <a:path w="12281" h="8520">
                <a:moveTo>
                  <a:pt x="14" y="115"/>
                </a:moveTo>
                <a:cubicBezTo>
                  <a:pt x="23" y="93"/>
                  <a:pt x="37" y="72"/>
                  <a:pt x="54" y="54"/>
                </a:cubicBezTo>
                <a:cubicBezTo>
                  <a:pt x="72" y="37"/>
                  <a:pt x="92" y="23"/>
                  <a:pt x="115" y="14"/>
                </a:cubicBezTo>
                <a:cubicBezTo>
                  <a:pt x="137" y="5"/>
                  <a:pt x="161" y="0"/>
                  <a:pt x="186" y="0"/>
                </a:cubicBezTo>
                <a:lnTo>
                  <a:pt x="12095" y="0"/>
                </a:lnTo>
                <a:cubicBezTo>
                  <a:pt x="12120" y="0"/>
                  <a:pt x="12143" y="5"/>
                  <a:pt x="12166" y="14"/>
                </a:cubicBezTo>
                <a:cubicBezTo>
                  <a:pt x="12189" y="23"/>
                  <a:pt x="12209" y="37"/>
                  <a:pt x="12226" y="54"/>
                </a:cubicBezTo>
                <a:cubicBezTo>
                  <a:pt x="12244" y="72"/>
                  <a:pt x="12257" y="93"/>
                  <a:pt x="12266" y="115"/>
                </a:cubicBezTo>
                <a:cubicBezTo>
                  <a:pt x="12276" y="138"/>
                  <a:pt x="12281" y="162"/>
                  <a:pt x="12281" y="187"/>
                </a:cubicBezTo>
                <a:lnTo>
                  <a:pt x="12281" y="8334"/>
                </a:lnTo>
                <a:cubicBezTo>
                  <a:pt x="12281" y="8359"/>
                  <a:pt x="12276" y="8383"/>
                  <a:pt x="12266" y="8405"/>
                </a:cubicBezTo>
                <a:cubicBezTo>
                  <a:pt x="12257" y="8428"/>
                  <a:pt x="12244" y="8448"/>
                  <a:pt x="12226" y="8466"/>
                </a:cubicBezTo>
                <a:cubicBezTo>
                  <a:pt x="12209" y="8483"/>
                  <a:pt x="12189" y="8496"/>
                  <a:pt x="12166" y="8506"/>
                </a:cubicBezTo>
                <a:cubicBezTo>
                  <a:pt x="12143" y="8515"/>
                  <a:pt x="12119" y="8520"/>
                  <a:pt x="12095" y="8520"/>
                </a:cubicBezTo>
                <a:lnTo>
                  <a:pt x="186" y="8520"/>
                </a:lnTo>
                <a:cubicBezTo>
                  <a:pt x="161" y="8520"/>
                  <a:pt x="137" y="8515"/>
                  <a:pt x="115" y="8506"/>
                </a:cubicBezTo>
                <a:cubicBezTo>
                  <a:pt x="92" y="8496"/>
                  <a:pt x="72" y="8483"/>
                  <a:pt x="54" y="8466"/>
                </a:cubicBezTo>
                <a:cubicBezTo>
                  <a:pt x="37" y="8448"/>
                  <a:pt x="23" y="8428"/>
                  <a:pt x="14" y="8405"/>
                </a:cubicBezTo>
                <a:cubicBezTo>
                  <a:pt x="5" y="8383"/>
                  <a:pt x="0" y="8359"/>
                  <a:pt x="0" y="8334"/>
                </a:cubicBezTo>
                <a:lnTo>
                  <a:pt x="0" y="186"/>
                </a:lnTo>
                <a:cubicBezTo>
                  <a:pt x="0" y="162"/>
                  <a:pt x="5" y="138"/>
                  <a:pt x="14" y="115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フリーフォーム 259"/>
          <p:cNvSpPr/>
          <p:nvPr/>
        </p:nvSpPr>
        <p:spPr>
          <a:xfrm>
            <a:off x="5740920" y="1504080"/>
            <a:ext cx="4421160" cy="3067200"/>
          </a:xfrm>
          <a:custGeom>
            <a:avLst/>
            <a:gdLst/>
            <a:ahLst/>
            <a:cxnLst/>
            <a:rect l="0" t="0" r="r" b="b"/>
            <a:pathLst>
              <a:path w="12281" h="8520">
                <a:moveTo>
                  <a:pt x="0" y="8334"/>
                </a:moveTo>
                <a:lnTo>
                  <a:pt x="0" y="187"/>
                </a:lnTo>
                <a:cubicBezTo>
                  <a:pt x="0" y="162"/>
                  <a:pt x="5" y="138"/>
                  <a:pt x="14" y="115"/>
                </a:cubicBezTo>
                <a:cubicBezTo>
                  <a:pt x="23" y="93"/>
                  <a:pt x="37" y="72"/>
                  <a:pt x="54" y="54"/>
                </a:cubicBezTo>
                <a:cubicBezTo>
                  <a:pt x="72" y="37"/>
                  <a:pt x="92" y="23"/>
                  <a:pt x="115" y="14"/>
                </a:cubicBezTo>
                <a:cubicBezTo>
                  <a:pt x="137" y="5"/>
                  <a:pt x="161" y="0"/>
                  <a:pt x="186" y="0"/>
                </a:cubicBezTo>
                <a:lnTo>
                  <a:pt x="12095" y="0"/>
                </a:lnTo>
                <a:cubicBezTo>
                  <a:pt x="12119" y="0"/>
                  <a:pt x="12143" y="5"/>
                  <a:pt x="12166" y="14"/>
                </a:cubicBezTo>
                <a:cubicBezTo>
                  <a:pt x="12189" y="23"/>
                  <a:pt x="12209" y="37"/>
                  <a:pt x="12226" y="54"/>
                </a:cubicBezTo>
                <a:cubicBezTo>
                  <a:pt x="12244" y="72"/>
                  <a:pt x="12257" y="93"/>
                  <a:pt x="12266" y="115"/>
                </a:cubicBezTo>
                <a:cubicBezTo>
                  <a:pt x="12276" y="138"/>
                  <a:pt x="12281" y="162"/>
                  <a:pt x="12281" y="187"/>
                </a:cubicBezTo>
                <a:lnTo>
                  <a:pt x="12281" y="8334"/>
                </a:lnTo>
                <a:cubicBezTo>
                  <a:pt x="12281" y="8359"/>
                  <a:pt x="12276" y="8383"/>
                  <a:pt x="12266" y="8405"/>
                </a:cubicBezTo>
                <a:cubicBezTo>
                  <a:pt x="12257" y="8428"/>
                  <a:pt x="12244" y="8448"/>
                  <a:pt x="12226" y="8466"/>
                </a:cubicBezTo>
                <a:cubicBezTo>
                  <a:pt x="12209" y="8483"/>
                  <a:pt x="12189" y="8496"/>
                  <a:pt x="12166" y="8506"/>
                </a:cubicBezTo>
                <a:cubicBezTo>
                  <a:pt x="12143" y="8515"/>
                  <a:pt x="12119" y="8520"/>
                  <a:pt x="12095" y="8520"/>
                </a:cubicBezTo>
                <a:lnTo>
                  <a:pt x="186" y="8520"/>
                </a:lnTo>
                <a:cubicBezTo>
                  <a:pt x="161" y="8520"/>
                  <a:pt x="137" y="8515"/>
                  <a:pt x="115" y="8506"/>
                </a:cubicBezTo>
                <a:cubicBezTo>
                  <a:pt x="92" y="8496"/>
                  <a:pt x="72" y="8483"/>
                  <a:pt x="54" y="8466"/>
                </a:cubicBezTo>
                <a:cubicBezTo>
                  <a:pt x="37" y="8448"/>
                  <a:pt x="23" y="8428"/>
                  <a:pt x="14" y="8405"/>
                </a:cubicBezTo>
                <a:cubicBezTo>
                  <a:pt x="5" y="8383"/>
                  <a:pt x="0" y="8359"/>
                  <a:pt x="0" y="8334"/>
                </a:cubicBezTo>
                <a:moveTo>
                  <a:pt x="46" y="187"/>
                </a:moveTo>
                <a:lnTo>
                  <a:pt x="46" y="8334"/>
                </a:lnTo>
                <a:cubicBezTo>
                  <a:pt x="46" y="8353"/>
                  <a:pt x="50" y="8371"/>
                  <a:pt x="57" y="8388"/>
                </a:cubicBezTo>
                <a:cubicBezTo>
                  <a:pt x="64" y="8405"/>
                  <a:pt x="74" y="8420"/>
                  <a:pt x="87" y="8433"/>
                </a:cubicBezTo>
                <a:cubicBezTo>
                  <a:pt x="100" y="8446"/>
                  <a:pt x="115" y="8456"/>
                  <a:pt x="132" y="8463"/>
                </a:cubicBezTo>
                <a:cubicBezTo>
                  <a:pt x="149" y="8470"/>
                  <a:pt x="167" y="8474"/>
                  <a:pt x="186" y="8474"/>
                </a:cubicBezTo>
                <a:lnTo>
                  <a:pt x="12095" y="8474"/>
                </a:lnTo>
                <a:cubicBezTo>
                  <a:pt x="12113" y="8474"/>
                  <a:pt x="12131" y="8470"/>
                  <a:pt x="12148" y="8463"/>
                </a:cubicBezTo>
                <a:cubicBezTo>
                  <a:pt x="12165" y="8456"/>
                  <a:pt x="12180" y="8446"/>
                  <a:pt x="12193" y="8433"/>
                </a:cubicBezTo>
                <a:cubicBezTo>
                  <a:pt x="12206" y="8420"/>
                  <a:pt x="12216" y="8405"/>
                  <a:pt x="12224" y="8388"/>
                </a:cubicBezTo>
                <a:cubicBezTo>
                  <a:pt x="12231" y="8371"/>
                  <a:pt x="12234" y="8353"/>
                  <a:pt x="12234" y="8334"/>
                </a:cubicBezTo>
                <a:lnTo>
                  <a:pt x="12234" y="187"/>
                </a:lnTo>
                <a:cubicBezTo>
                  <a:pt x="12234" y="168"/>
                  <a:pt x="12231" y="150"/>
                  <a:pt x="12224" y="133"/>
                </a:cubicBezTo>
                <a:cubicBezTo>
                  <a:pt x="12216" y="116"/>
                  <a:pt x="12206" y="101"/>
                  <a:pt x="12193" y="88"/>
                </a:cubicBezTo>
                <a:cubicBezTo>
                  <a:pt x="12180" y="74"/>
                  <a:pt x="12165" y="64"/>
                  <a:pt x="12148" y="57"/>
                </a:cubicBezTo>
                <a:cubicBezTo>
                  <a:pt x="12131" y="50"/>
                  <a:pt x="12113" y="46"/>
                  <a:pt x="12095" y="46"/>
                </a:cubicBezTo>
                <a:lnTo>
                  <a:pt x="186" y="46"/>
                </a:lnTo>
                <a:cubicBezTo>
                  <a:pt x="167" y="46"/>
                  <a:pt x="149" y="50"/>
                  <a:pt x="132" y="57"/>
                </a:cubicBezTo>
                <a:cubicBezTo>
                  <a:pt x="115" y="64"/>
                  <a:pt x="100" y="74"/>
                  <a:pt x="87" y="88"/>
                </a:cubicBezTo>
                <a:cubicBezTo>
                  <a:pt x="74" y="101"/>
                  <a:pt x="64" y="116"/>
                  <a:pt x="57" y="133"/>
                </a:cubicBezTo>
                <a:cubicBezTo>
                  <a:pt x="50" y="150"/>
                  <a:pt x="46" y="168"/>
                  <a:pt x="46" y="187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1" name="図 260"/>
          <p:cNvPicPr/>
          <p:nvPr/>
        </p:nvPicPr>
        <p:blipFill>
          <a:blip r:embed="rId9"/>
          <a:stretch/>
        </p:blipFill>
        <p:spPr>
          <a:xfrm>
            <a:off x="5740920" y="11365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テキスト ボックス 261"/>
          <p:cNvSpPr txBox="1"/>
          <p:nvPr/>
        </p:nvSpPr>
        <p:spPr>
          <a:xfrm>
            <a:off x="735480" y="5337000"/>
            <a:ext cx="3344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実際の標的型メールに近い文章構成と特徴を再現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3" name="図 262"/>
          <p:cNvPicPr/>
          <p:nvPr/>
        </p:nvPicPr>
        <p:blipFill>
          <a:blip r:embed="rId10"/>
          <a:stretch/>
        </p:blipFill>
        <p:spPr>
          <a:xfrm>
            <a:off x="5924880" y="1688040"/>
            <a:ext cx="4052520" cy="226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フリーフォーム 263"/>
          <p:cNvSpPr/>
          <p:nvPr/>
        </p:nvSpPr>
        <p:spPr>
          <a:xfrm>
            <a:off x="6877440" y="4178160"/>
            <a:ext cx="2148120" cy="200880"/>
          </a:xfrm>
          <a:custGeom>
            <a:avLst/>
            <a:gdLst/>
            <a:ahLst/>
            <a:cxnLst/>
            <a:rect l="0" t="0" r="r" b="b"/>
            <a:pathLst>
              <a:path w="5967" h="558">
                <a:moveTo>
                  <a:pt x="0" y="465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5874" y="0"/>
                </a:lnTo>
                <a:cubicBezTo>
                  <a:pt x="5886" y="0"/>
                  <a:pt x="5898" y="2"/>
                  <a:pt x="5909" y="7"/>
                </a:cubicBezTo>
                <a:cubicBezTo>
                  <a:pt x="5921" y="12"/>
                  <a:pt x="5931" y="19"/>
                  <a:pt x="5939" y="27"/>
                </a:cubicBezTo>
                <a:cubicBezTo>
                  <a:pt x="5948" y="36"/>
                  <a:pt x="5955" y="46"/>
                  <a:pt x="5960" y="57"/>
                </a:cubicBezTo>
                <a:cubicBezTo>
                  <a:pt x="5964" y="69"/>
                  <a:pt x="5967" y="81"/>
                  <a:pt x="5967" y="93"/>
                </a:cubicBezTo>
                <a:lnTo>
                  <a:pt x="5967" y="465"/>
                </a:lnTo>
                <a:cubicBezTo>
                  <a:pt x="5967" y="478"/>
                  <a:pt x="5964" y="489"/>
                  <a:pt x="5960" y="501"/>
                </a:cubicBezTo>
                <a:cubicBezTo>
                  <a:pt x="5955" y="512"/>
                  <a:pt x="5948" y="522"/>
                  <a:pt x="5939" y="531"/>
                </a:cubicBezTo>
                <a:cubicBezTo>
                  <a:pt x="5931" y="540"/>
                  <a:pt x="5921" y="546"/>
                  <a:pt x="5909" y="551"/>
                </a:cubicBezTo>
                <a:cubicBezTo>
                  <a:pt x="5898" y="556"/>
                  <a:pt x="5886" y="558"/>
                  <a:pt x="5874" y="558"/>
                </a:cubicBezTo>
                <a:lnTo>
                  <a:pt x="93" y="558"/>
                </a:lnTo>
                <a:cubicBezTo>
                  <a:pt x="80" y="558"/>
                  <a:pt x="69" y="556"/>
                  <a:pt x="57" y="551"/>
                </a:cubicBezTo>
                <a:cubicBezTo>
                  <a:pt x="46" y="546"/>
                  <a:pt x="36" y="540"/>
                  <a:pt x="27" y="531"/>
                </a:cubicBezTo>
                <a:cubicBezTo>
                  <a:pt x="18" y="522"/>
                  <a:pt x="12" y="512"/>
                  <a:pt x="7" y="501"/>
                </a:cubicBezTo>
                <a:cubicBezTo>
                  <a:pt x="2" y="489"/>
                  <a:pt x="0" y="478"/>
                  <a:pt x="0" y="465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テキスト ボックス 264"/>
          <p:cNvSpPr txBox="1"/>
          <p:nvPr/>
        </p:nvSpPr>
        <p:spPr>
          <a:xfrm>
            <a:off x="6041880" y="1110600"/>
            <a:ext cx="20264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自作標的型メールの例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テキスト ボックス 265"/>
          <p:cNvSpPr txBox="1"/>
          <p:nvPr/>
        </p:nvSpPr>
        <p:spPr>
          <a:xfrm>
            <a:off x="6978240" y="420768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図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テキスト ボックス 266"/>
          <p:cNvSpPr txBox="1"/>
          <p:nvPr/>
        </p:nvSpPr>
        <p:spPr>
          <a:xfrm>
            <a:off x="7095240" y="4212000"/>
            <a:ext cx="116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8" name="図 267"/>
          <p:cNvPicPr/>
          <p:nvPr/>
        </p:nvPicPr>
        <p:blipFill>
          <a:blip r:embed="rId11"/>
          <a:stretch/>
        </p:blipFill>
        <p:spPr>
          <a:xfrm>
            <a:off x="5740920" y="480528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テキスト ボックス 268"/>
          <p:cNvSpPr txBox="1"/>
          <p:nvPr/>
        </p:nvSpPr>
        <p:spPr>
          <a:xfrm>
            <a:off x="7169400" y="4207680"/>
            <a:ext cx="1774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：自作した標的型メール文章の例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テキスト ボックス 269"/>
          <p:cNvSpPr txBox="1"/>
          <p:nvPr/>
        </p:nvSpPr>
        <p:spPr>
          <a:xfrm>
            <a:off x="5958360" y="4794120"/>
            <a:ext cx="4106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自作標的型メールは、実際の標的型メールと同じ母集団に属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1" name="図 270"/>
          <p:cNvPicPr/>
          <p:nvPr/>
        </p:nvPicPr>
        <p:blipFill>
          <a:blip r:embed="rId12"/>
          <a:stretch/>
        </p:blipFill>
        <p:spPr>
          <a:xfrm>
            <a:off x="10053000" y="5716080"/>
            <a:ext cx="50940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テキスト ボックス 271"/>
          <p:cNvSpPr txBox="1"/>
          <p:nvPr/>
        </p:nvSpPr>
        <p:spPr>
          <a:xfrm>
            <a:off x="5958360" y="5028120"/>
            <a:ext cx="1846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すように設計されています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図 272"/>
          <p:cNvPicPr/>
          <p:nvPr/>
        </p:nvPicPr>
        <p:blipFill>
          <a:blip r:embed="rId2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テキスト ボックス 273"/>
          <p:cNvSpPr txBox="1"/>
          <p:nvPr/>
        </p:nvSpPr>
        <p:spPr>
          <a:xfrm>
            <a:off x="334440" y="326880"/>
            <a:ext cx="303588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79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自動生成メールの評価結果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フリーフォーム 274"/>
          <p:cNvSpPr/>
          <p:nvPr/>
        </p:nvSpPr>
        <p:spPr>
          <a:xfrm>
            <a:off x="334080" y="835560"/>
            <a:ext cx="4914000" cy="4713480"/>
          </a:xfrm>
          <a:custGeom>
            <a:avLst/>
            <a:gdLst/>
            <a:ahLst/>
            <a:cxnLst/>
            <a:rect l="0" t="0" r="r" b="b"/>
            <a:pathLst>
              <a:path w="13650" h="13093">
                <a:moveTo>
                  <a:pt x="0" y="12907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13465" y="0"/>
                </a:lnTo>
                <a:cubicBezTo>
                  <a:pt x="13477" y="0"/>
                  <a:pt x="13489" y="1"/>
                  <a:pt x="13501" y="3"/>
                </a:cubicBezTo>
                <a:cubicBezTo>
                  <a:pt x="13513" y="6"/>
                  <a:pt x="13524" y="9"/>
                  <a:pt x="13536" y="14"/>
                </a:cubicBezTo>
                <a:cubicBezTo>
                  <a:pt x="13547" y="19"/>
                  <a:pt x="13558" y="24"/>
                  <a:pt x="13568" y="31"/>
                </a:cubicBezTo>
                <a:cubicBezTo>
                  <a:pt x="13578" y="38"/>
                  <a:pt x="13587" y="46"/>
                  <a:pt x="13596" y="54"/>
                </a:cubicBezTo>
                <a:cubicBezTo>
                  <a:pt x="13605" y="63"/>
                  <a:pt x="13612" y="72"/>
                  <a:pt x="13619" y="82"/>
                </a:cubicBezTo>
                <a:cubicBezTo>
                  <a:pt x="13626" y="92"/>
                  <a:pt x="13631" y="103"/>
                  <a:pt x="13636" y="114"/>
                </a:cubicBezTo>
                <a:cubicBezTo>
                  <a:pt x="13641" y="126"/>
                  <a:pt x="13644" y="137"/>
                  <a:pt x="13647" y="149"/>
                </a:cubicBezTo>
                <a:cubicBezTo>
                  <a:pt x="13649" y="161"/>
                  <a:pt x="13650" y="173"/>
                  <a:pt x="13650" y="186"/>
                </a:cubicBezTo>
                <a:lnTo>
                  <a:pt x="13650" y="12907"/>
                </a:lnTo>
                <a:cubicBezTo>
                  <a:pt x="13650" y="12919"/>
                  <a:pt x="13649" y="12932"/>
                  <a:pt x="13647" y="12943"/>
                </a:cubicBezTo>
                <a:cubicBezTo>
                  <a:pt x="13644" y="12955"/>
                  <a:pt x="13641" y="12967"/>
                  <a:pt x="13636" y="12978"/>
                </a:cubicBezTo>
                <a:cubicBezTo>
                  <a:pt x="13631" y="12990"/>
                  <a:pt x="13626" y="13000"/>
                  <a:pt x="13619" y="13010"/>
                </a:cubicBezTo>
                <a:cubicBezTo>
                  <a:pt x="13612" y="13021"/>
                  <a:pt x="13605" y="13030"/>
                  <a:pt x="13596" y="13039"/>
                </a:cubicBezTo>
                <a:cubicBezTo>
                  <a:pt x="13587" y="13047"/>
                  <a:pt x="13578" y="13055"/>
                  <a:pt x="13568" y="13062"/>
                </a:cubicBezTo>
                <a:cubicBezTo>
                  <a:pt x="13558" y="13068"/>
                  <a:pt x="13547" y="13074"/>
                  <a:pt x="13536" y="13079"/>
                </a:cubicBezTo>
                <a:cubicBezTo>
                  <a:pt x="13524" y="13083"/>
                  <a:pt x="13513" y="13087"/>
                  <a:pt x="13501" y="13089"/>
                </a:cubicBezTo>
                <a:cubicBezTo>
                  <a:pt x="13489" y="13092"/>
                  <a:pt x="13477" y="13093"/>
                  <a:pt x="13465" y="13093"/>
                </a:cubicBezTo>
                <a:lnTo>
                  <a:pt x="186" y="13093"/>
                </a:lnTo>
                <a:cubicBezTo>
                  <a:pt x="174" y="13093"/>
                  <a:pt x="161" y="13092"/>
                  <a:pt x="149" y="13089"/>
                </a:cubicBezTo>
                <a:cubicBezTo>
                  <a:pt x="138" y="13087"/>
                  <a:pt x="126" y="13083"/>
                  <a:pt x="115" y="13079"/>
                </a:cubicBezTo>
                <a:cubicBezTo>
                  <a:pt x="103" y="13074"/>
                  <a:pt x="93" y="13068"/>
                  <a:pt x="83" y="13062"/>
                </a:cubicBezTo>
                <a:cubicBezTo>
                  <a:pt x="72" y="13055"/>
                  <a:pt x="63" y="13047"/>
                  <a:pt x="54" y="13039"/>
                </a:cubicBezTo>
                <a:cubicBezTo>
                  <a:pt x="46" y="13030"/>
                  <a:pt x="38" y="13021"/>
                  <a:pt x="31" y="13010"/>
                </a:cubicBezTo>
                <a:cubicBezTo>
                  <a:pt x="25" y="13000"/>
                  <a:pt x="19" y="12990"/>
                  <a:pt x="14" y="12978"/>
                </a:cubicBezTo>
                <a:cubicBezTo>
                  <a:pt x="9" y="12967"/>
                  <a:pt x="6" y="12955"/>
                  <a:pt x="4" y="12943"/>
                </a:cubicBezTo>
                <a:cubicBezTo>
                  <a:pt x="1" y="12932"/>
                  <a:pt x="0" y="12919"/>
                  <a:pt x="0" y="12907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6" name="図 275"/>
          <p:cNvPicPr/>
          <p:nvPr/>
        </p:nvPicPr>
        <p:blipFill>
          <a:blip r:embed="rId3"/>
          <a:stretch/>
        </p:blipFill>
        <p:spPr>
          <a:xfrm>
            <a:off x="534960" y="1069560"/>
            <a:ext cx="1749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テキスト ボックス 276"/>
          <p:cNvSpPr txBox="1"/>
          <p:nvPr/>
        </p:nvSpPr>
        <p:spPr>
          <a:xfrm>
            <a:off x="9880560" y="388080"/>
            <a:ext cx="4838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6 / 12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フリーフォーム 277"/>
          <p:cNvSpPr/>
          <p:nvPr/>
        </p:nvSpPr>
        <p:spPr>
          <a:xfrm>
            <a:off x="584640" y="153756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69"/>
                </a:moveTo>
                <a:cubicBezTo>
                  <a:pt x="141" y="79"/>
                  <a:pt x="139" y="87"/>
                  <a:pt x="135" y="96"/>
                </a:cubicBezTo>
                <a:cubicBezTo>
                  <a:pt x="132" y="105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5"/>
                  <a:pt x="6" y="96"/>
                </a:cubicBezTo>
                <a:cubicBezTo>
                  <a:pt x="2" y="87"/>
                  <a:pt x="0" y="79"/>
                  <a:pt x="0" y="69"/>
                </a:cubicBezTo>
                <a:cubicBezTo>
                  <a:pt x="0" y="60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1"/>
                  <a:pt x="61" y="0"/>
                  <a:pt x="70" y="0"/>
                </a:cubicBezTo>
                <a:cubicBezTo>
                  <a:pt x="79" y="0"/>
                  <a:pt x="88" y="1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0"/>
                  <a:pt x="141" y="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テキスト ボックス 278"/>
          <p:cNvSpPr txBox="1"/>
          <p:nvPr/>
        </p:nvSpPr>
        <p:spPr>
          <a:xfrm>
            <a:off x="810720" y="1043640"/>
            <a:ext cx="1413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評価実験の方法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フリーフォーム 279"/>
          <p:cNvSpPr/>
          <p:nvPr/>
        </p:nvSpPr>
        <p:spPr>
          <a:xfrm>
            <a:off x="584640" y="187164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1"/>
                </a:moveTo>
                <a:cubicBezTo>
                  <a:pt x="141" y="80"/>
                  <a:pt x="139" y="89"/>
                  <a:pt x="135" y="98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8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2"/>
                  <a:pt x="2" y="53"/>
                  <a:pt x="6" y="44"/>
                </a:cubicBezTo>
                <a:cubicBezTo>
                  <a:pt x="9" y="36"/>
                  <a:pt x="14" y="28"/>
                  <a:pt x="21" y="22"/>
                </a:cubicBezTo>
                <a:cubicBezTo>
                  <a:pt x="27" y="15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5"/>
                  <a:pt x="120" y="22"/>
                </a:cubicBezTo>
                <a:cubicBezTo>
                  <a:pt x="127" y="28"/>
                  <a:pt x="132" y="36"/>
                  <a:pt x="135" y="44"/>
                </a:cubicBezTo>
                <a:cubicBezTo>
                  <a:pt x="139" y="53"/>
                  <a:pt x="141" y="62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テキスト ボックス 280"/>
          <p:cNvSpPr txBox="1"/>
          <p:nvPr/>
        </p:nvSpPr>
        <p:spPr>
          <a:xfrm>
            <a:off x="735480" y="1459800"/>
            <a:ext cx="1520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単一盲検法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による評価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テキスト ボックス 281"/>
          <p:cNvSpPr txBox="1"/>
          <p:nvPr/>
        </p:nvSpPr>
        <p:spPr>
          <a:xfrm>
            <a:off x="735480" y="1793880"/>
            <a:ext cx="755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評価対象：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テキスト ボックス 282"/>
          <p:cNvSpPr txBox="1"/>
          <p:nvPr/>
        </p:nvSpPr>
        <p:spPr>
          <a:xfrm>
            <a:off x="1487520" y="179928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フリーフォーム 283"/>
          <p:cNvSpPr/>
          <p:nvPr/>
        </p:nvSpPr>
        <p:spPr>
          <a:xfrm>
            <a:off x="584640" y="220608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9"/>
                  <a:pt x="0" y="80"/>
                  <a:pt x="0" y="70"/>
                </a:cubicBezTo>
                <a:cubicBezTo>
                  <a:pt x="0" y="61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テキスト ボックス 284"/>
          <p:cNvSpPr txBox="1"/>
          <p:nvPr/>
        </p:nvSpPr>
        <p:spPr>
          <a:xfrm>
            <a:off x="1583280" y="1793880"/>
            <a:ext cx="3502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階マルコフ連鎖で自動生成した訓練用標的型メール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テキスト ボックス 285"/>
          <p:cNvSpPr txBox="1"/>
          <p:nvPr/>
        </p:nvSpPr>
        <p:spPr>
          <a:xfrm>
            <a:off x="735480" y="2128320"/>
            <a:ext cx="755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被験者：計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テキスト ボックス 286"/>
          <p:cNvSpPr txBox="1"/>
          <p:nvPr/>
        </p:nvSpPr>
        <p:spPr>
          <a:xfrm>
            <a:off x="1487520" y="2133360"/>
            <a:ext cx="192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38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テキスト ボックス 287"/>
          <p:cNvSpPr txBox="1"/>
          <p:nvPr/>
        </p:nvSpPr>
        <p:spPr>
          <a:xfrm>
            <a:off x="1679040" y="2128320"/>
            <a:ext cx="151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人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テキスト ボックス 288"/>
          <p:cNvSpPr txBox="1"/>
          <p:nvPr/>
        </p:nvSpPr>
        <p:spPr>
          <a:xfrm>
            <a:off x="936000" y="2395440"/>
            <a:ext cx="6040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社会人（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テキスト ボックス 289"/>
          <p:cNvSpPr txBox="1"/>
          <p:nvPr/>
        </p:nvSpPr>
        <p:spPr>
          <a:xfrm>
            <a:off x="1537560" y="2400840"/>
            <a:ext cx="192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20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テキスト ボックス 290"/>
          <p:cNvSpPr txBox="1"/>
          <p:nvPr/>
        </p:nvSpPr>
        <p:spPr>
          <a:xfrm>
            <a:off x="1729080" y="2395440"/>
            <a:ext cx="302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代～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テキスト ボックス 291"/>
          <p:cNvSpPr txBox="1"/>
          <p:nvPr/>
        </p:nvSpPr>
        <p:spPr>
          <a:xfrm>
            <a:off x="2030040" y="2400840"/>
            <a:ext cx="192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60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テキスト ボックス 292"/>
          <p:cNvSpPr txBox="1"/>
          <p:nvPr/>
        </p:nvSpPr>
        <p:spPr>
          <a:xfrm>
            <a:off x="2221200" y="2395440"/>
            <a:ext cx="453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代）：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テキスト ボックス 293"/>
          <p:cNvSpPr txBox="1"/>
          <p:nvPr/>
        </p:nvSpPr>
        <p:spPr>
          <a:xfrm>
            <a:off x="2672640" y="2400840"/>
            <a:ext cx="192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22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テキスト ボックス 294"/>
          <p:cNvSpPr txBox="1"/>
          <p:nvPr/>
        </p:nvSpPr>
        <p:spPr>
          <a:xfrm>
            <a:off x="2863800" y="2395440"/>
            <a:ext cx="151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人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テキスト ボックス 295"/>
          <p:cNvSpPr txBox="1"/>
          <p:nvPr/>
        </p:nvSpPr>
        <p:spPr>
          <a:xfrm>
            <a:off x="936000" y="2629440"/>
            <a:ext cx="453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学生（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テキスト ボックス 296"/>
          <p:cNvSpPr txBox="1"/>
          <p:nvPr/>
        </p:nvSpPr>
        <p:spPr>
          <a:xfrm>
            <a:off x="1387080" y="2634840"/>
            <a:ext cx="192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20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テキスト ボックス 297"/>
          <p:cNvSpPr txBox="1"/>
          <p:nvPr/>
        </p:nvSpPr>
        <p:spPr>
          <a:xfrm>
            <a:off x="1578600" y="2629440"/>
            <a:ext cx="453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代）：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テキスト ボックス 298"/>
          <p:cNvSpPr txBox="1"/>
          <p:nvPr/>
        </p:nvSpPr>
        <p:spPr>
          <a:xfrm>
            <a:off x="2030040" y="2634840"/>
            <a:ext cx="192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16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フリーフォーム 299"/>
          <p:cNvSpPr/>
          <p:nvPr/>
        </p:nvSpPr>
        <p:spPr>
          <a:xfrm>
            <a:off x="584640" y="304164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79"/>
                  <a:pt x="139" y="88"/>
                  <a:pt x="135" y="96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9"/>
                  <a:pt x="79" y="140"/>
                  <a:pt x="70" y="140"/>
                </a:cubicBezTo>
                <a:cubicBezTo>
                  <a:pt x="61" y="140"/>
                  <a:pt x="52" y="139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6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0"/>
                  <a:pt x="2" y="52"/>
                  <a:pt x="6" y="43"/>
                </a:cubicBezTo>
                <a:cubicBezTo>
                  <a:pt x="9" y="35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0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テキスト ボックス 300"/>
          <p:cNvSpPr txBox="1"/>
          <p:nvPr/>
        </p:nvSpPr>
        <p:spPr>
          <a:xfrm>
            <a:off x="2221200" y="2629440"/>
            <a:ext cx="151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人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テキスト ボックス 301"/>
          <p:cNvSpPr txBox="1"/>
          <p:nvPr/>
        </p:nvSpPr>
        <p:spPr>
          <a:xfrm>
            <a:off x="735480" y="2963880"/>
            <a:ext cx="4274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評価タスク：各メールが「人が作成」か「プログラムが生成」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3" name="図 302"/>
          <p:cNvPicPr/>
          <p:nvPr/>
        </p:nvPicPr>
        <p:blipFill>
          <a:blip r:embed="rId4"/>
          <a:stretch/>
        </p:blipFill>
        <p:spPr>
          <a:xfrm>
            <a:off x="534960" y="36435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テキスト ボックス 303"/>
          <p:cNvSpPr txBox="1"/>
          <p:nvPr/>
        </p:nvSpPr>
        <p:spPr>
          <a:xfrm>
            <a:off x="735480" y="3197880"/>
            <a:ext cx="611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かを判断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5" name="図 304"/>
          <p:cNvPicPr/>
          <p:nvPr/>
        </p:nvPicPr>
        <p:blipFill>
          <a:blip r:embed="rId5"/>
          <a:stretch/>
        </p:blipFill>
        <p:spPr>
          <a:xfrm>
            <a:off x="735480" y="4044600"/>
            <a:ext cx="74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テキスト ボックス 305"/>
          <p:cNvSpPr txBox="1"/>
          <p:nvPr/>
        </p:nvSpPr>
        <p:spPr>
          <a:xfrm>
            <a:off x="835560" y="361764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評価基準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テキスト ボックス 306"/>
          <p:cNvSpPr txBox="1"/>
          <p:nvPr/>
        </p:nvSpPr>
        <p:spPr>
          <a:xfrm>
            <a:off x="877320" y="403884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5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テキスト ボックス 307"/>
          <p:cNvSpPr txBox="1"/>
          <p:nvPr/>
        </p:nvSpPr>
        <p:spPr>
          <a:xfrm>
            <a:off x="973080" y="4033440"/>
            <a:ext cx="4109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割以上の被験者が「</a:t>
            </a:r>
            <a:r>
              <a:rPr lang="zh-CN" sz="1180" b="0" u="none" strike="noStrike">
                <a:solidFill>
                  <a:srgbClr val="FCD34D"/>
                </a:solidFill>
                <a:effectLst/>
                <a:uFillTx/>
                <a:latin typeface="WenQuanYiZenHei"/>
                <a:ea typeface="WenQuanYiZenHei"/>
              </a:rPr>
              <a:t>人が作成した標的型メール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」と判断した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テキスト ボックス 308"/>
          <p:cNvSpPr txBox="1"/>
          <p:nvPr/>
        </p:nvSpPr>
        <p:spPr>
          <a:xfrm>
            <a:off x="735480" y="4267440"/>
            <a:ext cx="453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場合：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テキスト ボックス 309"/>
          <p:cNvSpPr txBox="1"/>
          <p:nvPr/>
        </p:nvSpPr>
        <p:spPr>
          <a:xfrm>
            <a:off x="869040" y="4568400"/>
            <a:ext cx="2597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文章精度が高く、ランダム性を含んだ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フリーフォーム 310"/>
          <p:cNvSpPr/>
          <p:nvPr/>
        </p:nvSpPr>
        <p:spPr>
          <a:xfrm>
            <a:off x="5448240" y="835560"/>
            <a:ext cx="4914360" cy="4713480"/>
          </a:xfrm>
          <a:custGeom>
            <a:avLst/>
            <a:gdLst/>
            <a:ahLst/>
            <a:cxnLst/>
            <a:rect l="0" t="0" r="r" b="b"/>
            <a:pathLst>
              <a:path w="13651" h="13093">
                <a:moveTo>
                  <a:pt x="0" y="12907"/>
                </a:moveTo>
                <a:lnTo>
                  <a:pt x="0" y="186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3465" y="0"/>
                </a:lnTo>
                <a:cubicBezTo>
                  <a:pt x="13477" y="0"/>
                  <a:pt x="13489" y="1"/>
                  <a:pt x="13501" y="3"/>
                </a:cubicBezTo>
                <a:cubicBezTo>
                  <a:pt x="13513" y="6"/>
                  <a:pt x="13525" y="9"/>
                  <a:pt x="13536" y="14"/>
                </a:cubicBezTo>
                <a:cubicBezTo>
                  <a:pt x="13547" y="19"/>
                  <a:pt x="13558" y="24"/>
                  <a:pt x="13568" y="31"/>
                </a:cubicBezTo>
                <a:cubicBezTo>
                  <a:pt x="13578" y="38"/>
                  <a:pt x="13588" y="46"/>
                  <a:pt x="13596" y="54"/>
                </a:cubicBezTo>
                <a:cubicBezTo>
                  <a:pt x="13605" y="63"/>
                  <a:pt x="13613" y="72"/>
                  <a:pt x="13619" y="82"/>
                </a:cubicBezTo>
                <a:cubicBezTo>
                  <a:pt x="13626" y="92"/>
                  <a:pt x="13632" y="103"/>
                  <a:pt x="13637" y="114"/>
                </a:cubicBezTo>
                <a:cubicBezTo>
                  <a:pt x="13641" y="126"/>
                  <a:pt x="13645" y="137"/>
                  <a:pt x="13647" y="149"/>
                </a:cubicBezTo>
                <a:cubicBezTo>
                  <a:pt x="13649" y="161"/>
                  <a:pt x="13651" y="173"/>
                  <a:pt x="13651" y="186"/>
                </a:cubicBezTo>
                <a:lnTo>
                  <a:pt x="13651" y="12907"/>
                </a:lnTo>
                <a:cubicBezTo>
                  <a:pt x="13651" y="12919"/>
                  <a:pt x="13649" y="12932"/>
                  <a:pt x="13647" y="12943"/>
                </a:cubicBezTo>
                <a:cubicBezTo>
                  <a:pt x="13645" y="12955"/>
                  <a:pt x="13641" y="12967"/>
                  <a:pt x="13637" y="12978"/>
                </a:cubicBezTo>
                <a:cubicBezTo>
                  <a:pt x="13632" y="12990"/>
                  <a:pt x="13626" y="13000"/>
                  <a:pt x="13619" y="13010"/>
                </a:cubicBezTo>
                <a:cubicBezTo>
                  <a:pt x="13613" y="13021"/>
                  <a:pt x="13605" y="13030"/>
                  <a:pt x="13596" y="13039"/>
                </a:cubicBezTo>
                <a:cubicBezTo>
                  <a:pt x="13588" y="13047"/>
                  <a:pt x="13578" y="13055"/>
                  <a:pt x="13568" y="13062"/>
                </a:cubicBezTo>
                <a:cubicBezTo>
                  <a:pt x="13558" y="13068"/>
                  <a:pt x="13547" y="13074"/>
                  <a:pt x="13536" y="13079"/>
                </a:cubicBezTo>
                <a:cubicBezTo>
                  <a:pt x="13525" y="13083"/>
                  <a:pt x="13513" y="13087"/>
                  <a:pt x="13501" y="13089"/>
                </a:cubicBezTo>
                <a:cubicBezTo>
                  <a:pt x="13489" y="13092"/>
                  <a:pt x="13477" y="13093"/>
                  <a:pt x="13465" y="13093"/>
                </a:cubicBezTo>
                <a:lnTo>
                  <a:pt x="186" y="13093"/>
                </a:lnTo>
                <a:cubicBezTo>
                  <a:pt x="174" y="13093"/>
                  <a:pt x="162" y="13092"/>
                  <a:pt x="150" y="13089"/>
                </a:cubicBezTo>
                <a:cubicBezTo>
                  <a:pt x="138" y="13087"/>
                  <a:pt x="126" y="13083"/>
                  <a:pt x="115" y="13079"/>
                </a:cubicBezTo>
                <a:cubicBezTo>
                  <a:pt x="104" y="13074"/>
                  <a:pt x="93" y="13068"/>
                  <a:pt x="83" y="13062"/>
                </a:cubicBezTo>
                <a:cubicBezTo>
                  <a:pt x="73" y="13055"/>
                  <a:pt x="63" y="13047"/>
                  <a:pt x="55" y="13039"/>
                </a:cubicBezTo>
                <a:cubicBezTo>
                  <a:pt x="46" y="13030"/>
                  <a:pt x="38" y="13021"/>
                  <a:pt x="32" y="13010"/>
                </a:cubicBezTo>
                <a:cubicBezTo>
                  <a:pt x="25" y="13000"/>
                  <a:pt x="19" y="12990"/>
                  <a:pt x="15" y="12978"/>
                </a:cubicBezTo>
                <a:cubicBezTo>
                  <a:pt x="10" y="12967"/>
                  <a:pt x="6" y="12955"/>
                  <a:pt x="4" y="12943"/>
                </a:cubicBezTo>
                <a:cubicBezTo>
                  <a:pt x="2" y="12932"/>
                  <a:pt x="0" y="12919"/>
                  <a:pt x="0" y="12907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フリーフォーム 311"/>
          <p:cNvSpPr/>
          <p:nvPr/>
        </p:nvSpPr>
        <p:spPr>
          <a:xfrm>
            <a:off x="5649120" y="4378680"/>
            <a:ext cx="4512960" cy="969840"/>
          </a:xfrm>
          <a:custGeom>
            <a:avLst/>
            <a:gdLst/>
            <a:ahLst/>
            <a:cxnLst/>
            <a:rect l="0" t="0" r="r" b="b"/>
            <a:pathLst>
              <a:path w="12536" h="2694">
                <a:moveTo>
                  <a:pt x="0" y="2507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2350" y="0"/>
                </a:lnTo>
                <a:cubicBezTo>
                  <a:pt x="12362" y="0"/>
                  <a:pt x="12374" y="1"/>
                  <a:pt x="12386" y="4"/>
                </a:cubicBezTo>
                <a:cubicBezTo>
                  <a:pt x="12398" y="6"/>
                  <a:pt x="12410" y="10"/>
                  <a:pt x="12421" y="14"/>
                </a:cubicBezTo>
                <a:cubicBezTo>
                  <a:pt x="12432" y="19"/>
                  <a:pt x="12443" y="25"/>
                  <a:pt x="12453" y="31"/>
                </a:cubicBezTo>
                <a:cubicBezTo>
                  <a:pt x="12463" y="38"/>
                  <a:pt x="12473" y="46"/>
                  <a:pt x="12481" y="55"/>
                </a:cubicBezTo>
                <a:cubicBezTo>
                  <a:pt x="12490" y="63"/>
                  <a:pt x="12497" y="73"/>
                  <a:pt x="12504" y="83"/>
                </a:cubicBezTo>
                <a:cubicBezTo>
                  <a:pt x="12511" y="93"/>
                  <a:pt x="12517" y="104"/>
                  <a:pt x="12521" y="115"/>
                </a:cubicBezTo>
                <a:cubicBezTo>
                  <a:pt x="12526" y="126"/>
                  <a:pt x="12530" y="138"/>
                  <a:pt x="12532" y="150"/>
                </a:cubicBezTo>
                <a:cubicBezTo>
                  <a:pt x="12534" y="162"/>
                  <a:pt x="12536" y="174"/>
                  <a:pt x="12536" y="186"/>
                </a:cubicBezTo>
                <a:lnTo>
                  <a:pt x="12536" y="2507"/>
                </a:lnTo>
                <a:cubicBezTo>
                  <a:pt x="12536" y="2519"/>
                  <a:pt x="12534" y="2531"/>
                  <a:pt x="12532" y="2543"/>
                </a:cubicBezTo>
                <a:cubicBezTo>
                  <a:pt x="12530" y="2555"/>
                  <a:pt x="12526" y="2567"/>
                  <a:pt x="12521" y="2578"/>
                </a:cubicBezTo>
                <a:cubicBezTo>
                  <a:pt x="12517" y="2589"/>
                  <a:pt x="12511" y="2600"/>
                  <a:pt x="12504" y="2610"/>
                </a:cubicBezTo>
                <a:cubicBezTo>
                  <a:pt x="12497" y="2620"/>
                  <a:pt x="12490" y="2630"/>
                  <a:pt x="12481" y="2638"/>
                </a:cubicBezTo>
                <a:cubicBezTo>
                  <a:pt x="12473" y="2648"/>
                  <a:pt x="12463" y="2656"/>
                  <a:pt x="12453" y="2663"/>
                </a:cubicBezTo>
                <a:cubicBezTo>
                  <a:pt x="12443" y="2669"/>
                  <a:pt x="12432" y="2675"/>
                  <a:pt x="12421" y="2680"/>
                </a:cubicBezTo>
                <a:cubicBezTo>
                  <a:pt x="12410" y="2684"/>
                  <a:pt x="12398" y="2688"/>
                  <a:pt x="12386" y="2690"/>
                </a:cubicBezTo>
                <a:cubicBezTo>
                  <a:pt x="12374" y="2693"/>
                  <a:pt x="12362" y="2694"/>
                  <a:pt x="12350" y="2694"/>
                </a:cubicBezTo>
                <a:lnTo>
                  <a:pt x="185" y="2694"/>
                </a:lnTo>
                <a:cubicBezTo>
                  <a:pt x="173" y="2694"/>
                  <a:pt x="161" y="2693"/>
                  <a:pt x="149" y="2690"/>
                </a:cubicBezTo>
                <a:cubicBezTo>
                  <a:pt x="137" y="2688"/>
                  <a:pt x="125" y="2684"/>
                  <a:pt x="114" y="2680"/>
                </a:cubicBezTo>
                <a:cubicBezTo>
                  <a:pt x="103" y="2675"/>
                  <a:pt x="92" y="2669"/>
                  <a:pt x="82" y="2663"/>
                </a:cubicBezTo>
                <a:cubicBezTo>
                  <a:pt x="72" y="2656"/>
                  <a:pt x="63" y="2648"/>
                  <a:pt x="54" y="2638"/>
                </a:cubicBezTo>
                <a:cubicBezTo>
                  <a:pt x="45" y="2630"/>
                  <a:pt x="38" y="2620"/>
                  <a:pt x="31" y="2610"/>
                </a:cubicBezTo>
                <a:cubicBezTo>
                  <a:pt x="24" y="2600"/>
                  <a:pt x="18" y="2589"/>
                  <a:pt x="14" y="2578"/>
                </a:cubicBezTo>
                <a:cubicBezTo>
                  <a:pt x="9" y="2567"/>
                  <a:pt x="5" y="2555"/>
                  <a:pt x="3" y="2543"/>
                </a:cubicBezTo>
                <a:cubicBezTo>
                  <a:pt x="1" y="2531"/>
                  <a:pt x="0" y="2519"/>
                  <a:pt x="0" y="2507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13" name="図 312"/>
          <p:cNvPicPr/>
          <p:nvPr/>
        </p:nvPicPr>
        <p:blipFill>
          <a:blip r:embed="rId6"/>
          <a:stretch/>
        </p:blipFill>
        <p:spPr>
          <a:xfrm>
            <a:off x="5649120" y="1069560"/>
            <a:ext cx="2253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テキスト ボックス 313"/>
          <p:cNvSpPr txBox="1"/>
          <p:nvPr/>
        </p:nvSpPr>
        <p:spPr>
          <a:xfrm>
            <a:off x="869040" y="4802400"/>
            <a:ext cx="24289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実用的な訓練用標的型メール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と評価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5" name="図 314"/>
          <p:cNvPicPr/>
          <p:nvPr/>
        </p:nvPicPr>
        <p:blipFill>
          <a:blip r:embed="rId7"/>
          <a:stretch/>
        </p:blipFill>
        <p:spPr>
          <a:xfrm>
            <a:off x="5649120" y="1437480"/>
            <a:ext cx="4512240" cy="167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テキスト ボックス 315"/>
          <p:cNvSpPr txBox="1"/>
          <p:nvPr/>
        </p:nvSpPr>
        <p:spPr>
          <a:xfrm>
            <a:off x="5974920" y="1043640"/>
            <a:ext cx="805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評価結果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テキスト ボックス 316"/>
          <p:cNvSpPr txBox="1"/>
          <p:nvPr/>
        </p:nvSpPr>
        <p:spPr>
          <a:xfrm>
            <a:off x="6261480" y="3323520"/>
            <a:ext cx="2808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FCD34D"/>
                </a:solidFill>
                <a:effectLst/>
                <a:uFillTx/>
                <a:latin typeface="DejaVuSans"/>
                <a:ea typeface="DejaVuSans"/>
              </a:rPr>
              <a:t>12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テキスト ボックス 317"/>
          <p:cNvSpPr txBox="1"/>
          <p:nvPr/>
        </p:nvSpPr>
        <p:spPr>
          <a:xfrm>
            <a:off x="6540840" y="3316680"/>
            <a:ext cx="2019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CD34D"/>
                </a:solidFill>
                <a:effectLst/>
                <a:uFillTx/>
                <a:latin typeface="WenQuanYiZenHei"/>
                <a:ea typeface="WenQuanYiZenHei"/>
              </a:rPr>
              <a:t>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テキスト ボックス 318"/>
          <p:cNvSpPr txBox="1"/>
          <p:nvPr/>
        </p:nvSpPr>
        <p:spPr>
          <a:xfrm>
            <a:off x="6741360" y="33858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テキスト ボックス 319"/>
          <p:cNvSpPr txBox="1"/>
          <p:nvPr/>
        </p:nvSpPr>
        <p:spPr>
          <a:xfrm>
            <a:off x="6783840" y="3348720"/>
            <a:ext cx="22035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の自動生成メール文章のうち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テキスト ボックス 320"/>
          <p:cNvSpPr txBox="1"/>
          <p:nvPr/>
        </p:nvSpPr>
        <p:spPr>
          <a:xfrm>
            <a:off x="8956800" y="33858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テキスト ボックス 321"/>
          <p:cNvSpPr txBox="1"/>
          <p:nvPr/>
        </p:nvSpPr>
        <p:spPr>
          <a:xfrm>
            <a:off x="8999280" y="3323520"/>
            <a:ext cx="20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7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テキスト ボックス 322"/>
          <p:cNvSpPr txBox="1"/>
          <p:nvPr/>
        </p:nvSpPr>
        <p:spPr>
          <a:xfrm>
            <a:off x="9138960" y="3316680"/>
            <a:ext cx="2019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6EE7B7"/>
                </a:solidFill>
                <a:effectLst/>
                <a:uFillTx/>
                <a:latin typeface="WenQuanYiZenHei"/>
                <a:ea typeface="WenQuanYiZenHei"/>
              </a:rPr>
              <a:t>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テキスト ボックス 323"/>
          <p:cNvSpPr txBox="1"/>
          <p:nvPr/>
        </p:nvSpPr>
        <p:spPr>
          <a:xfrm>
            <a:off x="9339480" y="338580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テキスト ボックス 324"/>
          <p:cNvSpPr txBox="1"/>
          <p:nvPr/>
        </p:nvSpPr>
        <p:spPr>
          <a:xfrm>
            <a:off x="9381960" y="3348720"/>
            <a:ext cx="17244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が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6" name="図 325"/>
          <p:cNvPicPr/>
          <p:nvPr/>
        </p:nvPicPr>
        <p:blipFill>
          <a:blip r:embed="rId8"/>
          <a:stretch/>
        </p:blipFill>
        <p:spPr>
          <a:xfrm>
            <a:off x="5649120" y="4044600"/>
            <a:ext cx="1501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テキスト ボックス 326"/>
          <p:cNvSpPr txBox="1"/>
          <p:nvPr/>
        </p:nvSpPr>
        <p:spPr>
          <a:xfrm>
            <a:off x="6234120" y="3591360"/>
            <a:ext cx="338904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「人が作成した標的型メール」と判断された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テキスト ボックス 327"/>
          <p:cNvSpPr txBox="1"/>
          <p:nvPr/>
        </p:nvSpPr>
        <p:spPr>
          <a:xfrm>
            <a:off x="5899680" y="4018680"/>
            <a:ext cx="403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結論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テキスト ボックス 328"/>
          <p:cNvSpPr txBox="1"/>
          <p:nvPr/>
        </p:nvSpPr>
        <p:spPr>
          <a:xfrm>
            <a:off x="5782680" y="4534920"/>
            <a:ext cx="42818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生成したすべてのメール文章が利用可能とはいえないが、</a:t>
            </a:r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訓練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テキスト ボックス 329"/>
          <p:cNvSpPr txBox="1"/>
          <p:nvPr/>
        </p:nvSpPr>
        <p:spPr>
          <a:xfrm>
            <a:off x="5782680" y="4768920"/>
            <a:ext cx="4271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用標的型メールとして利用可能なメール文章が生成できた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と評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1" name="図 330"/>
          <p:cNvPicPr/>
          <p:nvPr/>
        </p:nvPicPr>
        <p:blipFill>
          <a:blip r:embed="rId9"/>
          <a:stretch/>
        </p:blipFill>
        <p:spPr>
          <a:xfrm>
            <a:off x="10002960" y="5649120"/>
            <a:ext cx="55944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テキスト ボックス 331"/>
          <p:cNvSpPr txBox="1"/>
          <p:nvPr/>
        </p:nvSpPr>
        <p:spPr>
          <a:xfrm>
            <a:off x="5782680" y="5002920"/>
            <a:ext cx="151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価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図 332"/>
          <p:cNvPicPr/>
          <p:nvPr/>
        </p:nvPicPr>
        <p:blipFill>
          <a:blip r:embed="rId2"/>
          <a:stretch/>
        </p:blipFill>
        <p:spPr>
          <a:xfrm>
            <a:off x="0" y="0"/>
            <a:ext cx="10696320" cy="611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テキスト ボックス 333"/>
          <p:cNvSpPr txBox="1"/>
          <p:nvPr/>
        </p:nvSpPr>
        <p:spPr>
          <a:xfrm>
            <a:off x="334440" y="326880"/>
            <a:ext cx="456840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79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訓練用標的型メール配信システムの開発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テキスト ボックス 334"/>
          <p:cNvSpPr txBox="1"/>
          <p:nvPr/>
        </p:nvSpPr>
        <p:spPr>
          <a:xfrm>
            <a:off x="9880560" y="388080"/>
            <a:ext cx="4838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7 / 12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フリーフォーム 335"/>
          <p:cNvSpPr/>
          <p:nvPr/>
        </p:nvSpPr>
        <p:spPr>
          <a:xfrm>
            <a:off x="334080" y="2038680"/>
            <a:ext cx="2373840" cy="1613520"/>
          </a:xfrm>
          <a:custGeom>
            <a:avLst/>
            <a:gdLst/>
            <a:ahLst/>
            <a:cxnLst/>
            <a:rect l="0" t="0" r="r" b="b"/>
            <a:pathLst>
              <a:path w="6594" h="4482">
                <a:moveTo>
                  <a:pt x="0" y="4296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9"/>
                  <a:pt x="83" y="32"/>
                </a:cubicBezTo>
                <a:cubicBezTo>
                  <a:pt x="93" y="25"/>
                  <a:pt x="103" y="19"/>
                  <a:pt x="115" y="15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2"/>
                  <a:pt x="174" y="0"/>
                  <a:pt x="186" y="0"/>
                </a:cubicBezTo>
                <a:lnTo>
                  <a:pt x="6408" y="0"/>
                </a:lnTo>
                <a:cubicBezTo>
                  <a:pt x="6420" y="0"/>
                  <a:pt x="6432" y="2"/>
                  <a:pt x="6444" y="4"/>
                </a:cubicBezTo>
                <a:cubicBezTo>
                  <a:pt x="6456" y="6"/>
                  <a:pt x="6468" y="10"/>
                  <a:pt x="6479" y="15"/>
                </a:cubicBezTo>
                <a:cubicBezTo>
                  <a:pt x="6490" y="19"/>
                  <a:pt x="6501" y="25"/>
                  <a:pt x="6511" y="32"/>
                </a:cubicBezTo>
                <a:cubicBezTo>
                  <a:pt x="6521" y="39"/>
                  <a:pt x="6531" y="46"/>
                  <a:pt x="6539" y="55"/>
                </a:cubicBezTo>
                <a:cubicBezTo>
                  <a:pt x="6548" y="63"/>
                  <a:pt x="6555" y="73"/>
                  <a:pt x="6562" y="83"/>
                </a:cubicBezTo>
                <a:cubicBezTo>
                  <a:pt x="6569" y="93"/>
                  <a:pt x="6575" y="104"/>
                  <a:pt x="6579" y="115"/>
                </a:cubicBezTo>
                <a:cubicBezTo>
                  <a:pt x="6584" y="126"/>
                  <a:pt x="6588" y="138"/>
                  <a:pt x="6590" y="150"/>
                </a:cubicBezTo>
                <a:cubicBezTo>
                  <a:pt x="6592" y="162"/>
                  <a:pt x="6594" y="174"/>
                  <a:pt x="6594" y="186"/>
                </a:cubicBezTo>
                <a:lnTo>
                  <a:pt x="6594" y="4296"/>
                </a:lnTo>
                <a:cubicBezTo>
                  <a:pt x="6594" y="4308"/>
                  <a:pt x="6592" y="4320"/>
                  <a:pt x="6590" y="4332"/>
                </a:cubicBezTo>
                <a:cubicBezTo>
                  <a:pt x="6588" y="4344"/>
                  <a:pt x="6584" y="4356"/>
                  <a:pt x="6579" y="4367"/>
                </a:cubicBezTo>
                <a:cubicBezTo>
                  <a:pt x="6575" y="4378"/>
                  <a:pt x="6569" y="4389"/>
                  <a:pt x="6562" y="4399"/>
                </a:cubicBezTo>
                <a:cubicBezTo>
                  <a:pt x="6555" y="4409"/>
                  <a:pt x="6548" y="4419"/>
                  <a:pt x="6539" y="4427"/>
                </a:cubicBezTo>
                <a:cubicBezTo>
                  <a:pt x="6531" y="4436"/>
                  <a:pt x="6521" y="4444"/>
                  <a:pt x="6511" y="4450"/>
                </a:cubicBezTo>
                <a:cubicBezTo>
                  <a:pt x="6501" y="4457"/>
                  <a:pt x="6490" y="4463"/>
                  <a:pt x="6479" y="4467"/>
                </a:cubicBezTo>
                <a:cubicBezTo>
                  <a:pt x="6468" y="4472"/>
                  <a:pt x="6456" y="4476"/>
                  <a:pt x="6444" y="4478"/>
                </a:cubicBezTo>
                <a:cubicBezTo>
                  <a:pt x="6432" y="4480"/>
                  <a:pt x="6420" y="4482"/>
                  <a:pt x="6408" y="4482"/>
                </a:cubicBezTo>
                <a:lnTo>
                  <a:pt x="186" y="4482"/>
                </a:lnTo>
                <a:cubicBezTo>
                  <a:pt x="174" y="4482"/>
                  <a:pt x="161" y="4480"/>
                  <a:pt x="149" y="4478"/>
                </a:cubicBezTo>
                <a:cubicBezTo>
                  <a:pt x="138" y="4476"/>
                  <a:pt x="126" y="4472"/>
                  <a:pt x="115" y="4467"/>
                </a:cubicBezTo>
                <a:cubicBezTo>
                  <a:pt x="103" y="4463"/>
                  <a:pt x="93" y="4457"/>
                  <a:pt x="83" y="4450"/>
                </a:cubicBezTo>
                <a:cubicBezTo>
                  <a:pt x="72" y="4444"/>
                  <a:pt x="63" y="4436"/>
                  <a:pt x="54" y="4427"/>
                </a:cubicBezTo>
                <a:cubicBezTo>
                  <a:pt x="46" y="4419"/>
                  <a:pt x="38" y="4409"/>
                  <a:pt x="31" y="4399"/>
                </a:cubicBezTo>
                <a:cubicBezTo>
                  <a:pt x="25" y="4389"/>
                  <a:pt x="19" y="4378"/>
                  <a:pt x="14" y="4367"/>
                </a:cubicBezTo>
                <a:cubicBezTo>
                  <a:pt x="9" y="4356"/>
                  <a:pt x="6" y="4344"/>
                  <a:pt x="4" y="4332"/>
                </a:cubicBezTo>
                <a:cubicBezTo>
                  <a:pt x="1" y="4320"/>
                  <a:pt x="0" y="4308"/>
                  <a:pt x="0" y="4296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7" name="図 336"/>
          <p:cNvPicPr/>
          <p:nvPr/>
        </p:nvPicPr>
        <p:blipFill>
          <a:blip r:embed="rId3"/>
          <a:stretch/>
        </p:blipFill>
        <p:spPr>
          <a:xfrm>
            <a:off x="1270080" y="2239560"/>
            <a:ext cx="501120" cy="40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テキスト ボックス 337"/>
          <p:cNvSpPr txBox="1"/>
          <p:nvPr/>
        </p:nvSpPr>
        <p:spPr>
          <a:xfrm>
            <a:off x="3509640" y="916920"/>
            <a:ext cx="37281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本研究で開発したメール配信システムの全体構成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テキスト ボックス 338"/>
          <p:cNvSpPr txBox="1"/>
          <p:nvPr/>
        </p:nvSpPr>
        <p:spPr>
          <a:xfrm>
            <a:off x="1187280" y="2763720"/>
            <a:ext cx="671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先行研究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テキスト ボックス 339"/>
          <p:cNvSpPr txBox="1"/>
          <p:nvPr/>
        </p:nvSpPr>
        <p:spPr>
          <a:xfrm>
            <a:off x="920160" y="3063600"/>
            <a:ext cx="1213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訓練用標的型メール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フリーフォーム 340"/>
          <p:cNvSpPr/>
          <p:nvPr/>
        </p:nvSpPr>
        <p:spPr>
          <a:xfrm>
            <a:off x="2841120" y="2832840"/>
            <a:ext cx="794160" cy="25200"/>
          </a:xfrm>
          <a:custGeom>
            <a:avLst/>
            <a:gdLst/>
            <a:ahLst/>
            <a:cxnLst/>
            <a:rect l="0" t="0" r="r" b="b"/>
            <a:pathLst>
              <a:path w="2206" h="70">
                <a:moveTo>
                  <a:pt x="0" y="0"/>
                </a:moveTo>
                <a:lnTo>
                  <a:pt x="2206" y="0"/>
                </a:lnTo>
                <a:lnTo>
                  <a:pt x="2206" y="70"/>
                </a:lnTo>
                <a:lnTo>
                  <a:pt x="0" y="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フリーフォーム 341"/>
          <p:cNvSpPr/>
          <p:nvPr/>
        </p:nvSpPr>
        <p:spPr>
          <a:xfrm>
            <a:off x="3509640" y="2774160"/>
            <a:ext cx="125640" cy="167400"/>
          </a:xfrm>
          <a:custGeom>
            <a:avLst/>
            <a:gdLst/>
            <a:ahLst/>
            <a:cxnLst/>
            <a:rect l="0" t="0" r="r" b="b"/>
            <a:pathLst>
              <a:path w="349" h="465">
                <a:moveTo>
                  <a:pt x="0" y="0"/>
                </a:moveTo>
                <a:lnTo>
                  <a:pt x="0" y="465"/>
                </a:lnTo>
                <a:lnTo>
                  <a:pt x="349" y="2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フリーフォーム 342"/>
          <p:cNvSpPr/>
          <p:nvPr/>
        </p:nvSpPr>
        <p:spPr>
          <a:xfrm>
            <a:off x="3768840" y="1470600"/>
            <a:ext cx="3159000" cy="2741400"/>
          </a:xfrm>
          <a:custGeom>
            <a:avLst/>
            <a:gdLst/>
            <a:ahLst/>
            <a:cxnLst/>
            <a:rect l="0" t="0" r="r" b="b"/>
            <a:pathLst>
              <a:path w="8775" h="7615">
                <a:moveTo>
                  <a:pt x="0" y="7429"/>
                </a:moveTo>
                <a:lnTo>
                  <a:pt x="0" y="186"/>
                </a:lnTo>
                <a:cubicBezTo>
                  <a:pt x="0" y="174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589" y="0"/>
                </a:lnTo>
                <a:cubicBezTo>
                  <a:pt x="8602" y="0"/>
                  <a:pt x="8614" y="1"/>
                  <a:pt x="8626" y="4"/>
                </a:cubicBezTo>
                <a:cubicBezTo>
                  <a:pt x="8638" y="6"/>
                  <a:pt x="8649" y="9"/>
                  <a:pt x="8660" y="14"/>
                </a:cubicBezTo>
                <a:cubicBezTo>
                  <a:pt x="8672" y="19"/>
                  <a:pt x="8682" y="25"/>
                  <a:pt x="8693" y="31"/>
                </a:cubicBezTo>
                <a:cubicBezTo>
                  <a:pt x="8703" y="38"/>
                  <a:pt x="8712" y="46"/>
                  <a:pt x="8721" y="54"/>
                </a:cubicBezTo>
                <a:cubicBezTo>
                  <a:pt x="8729" y="63"/>
                  <a:pt x="8737" y="72"/>
                  <a:pt x="8744" y="83"/>
                </a:cubicBezTo>
                <a:cubicBezTo>
                  <a:pt x="8751" y="93"/>
                  <a:pt x="8756" y="103"/>
                  <a:pt x="8761" y="115"/>
                </a:cubicBezTo>
                <a:cubicBezTo>
                  <a:pt x="8766" y="126"/>
                  <a:pt x="8769" y="138"/>
                  <a:pt x="8772" y="149"/>
                </a:cubicBezTo>
                <a:cubicBezTo>
                  <a:pt x="8774" y="161"/>
                  <a:pt x="8775" y="174"/>
                  <a:pt x="8775" y="186"/>
                </a:cubicBezTo>
                <a:lnTo>
                  <a:pt x="8775" y="7429"/>
                </a:lnTo>
                <a:cubicBezTo>
                  <a:pt x="8775" y="7441"/>
                  <a:pt x="8774" y="7453"/>
                  <a:pt x="8772" y="7465"/>
                </a:cubicBezTo>
                <a:cubicBezTo>
                  <a:pt x="8769" y="7477"/>
                  <a:pt x="8766" y="7489"/>
                  <a:pt x="8761" y="7500"/>
                </a:cubicBezTo>
                <a:cubicBezTo>
                  <a:pt x="8756" y="7512"/>
                  <a:pt x="8751" y="7522"/>
                  <a:pt x="8744" y="7532"/>
                </a:cubicBezTo>
                <a:cubicBezTo>
                  <a:pt x="8737" y="7542"/>
                  <a:pt x="8729" y="7552"/>
                  <a:pt x="8721" y="7560"/>
                </a:cubicBezTo>
                <a:cubicBezTo>
                  <a:pt x="8712" y="7569"/>
                  <a:pt x="8703" y="7577"/>
                  <a:pt x="8693" y="7584"/>
                </a:cubicBezTo>
                <a:cubicBezTo>
                  <a:pt x="8682" y="7590"/>
                  <a:pt x="8672" y="7596"/>
                  <a:pt x="8660" y="7601"/>
                </a:cubicBezTo>
                <a:cubicBezTo>
                  <a:pt x="8649" y="7605"/>
                  <a:pt x="8638" y="7609"/>
                  <a:pt x="8626" y="7611"/>
                </a:cubicBezTo>
                <a:cubicBezTo>
                  <a:pt x="8614" y="7614"/>
                  <a:pt x="8602" y="7615"/>
                  <a:pt x="8589" y="7615"/>
                </a:cubicBezTo>
                <a:lnTo>
                  <a:pt x="185" y="7615"/>
                </a:lnTo>
                <a:cubicBezTo>
                  <a:pt x="173" y="7615"/>
                  <a:pt x="161" y="7614"/>
                  <a:pt x="149" y="7611"/>
                </a:cubicBezTo>
                <a:cubicBezTo>
                  <a:pt x="137" y="7609"/>
                  <a:pt x="125" y="7605"/>
                  <a:pt x="114" y="7601"/>
                </a:cubicBezTo>
                <a:cubicBezTo>
                  <a:pt x="103" y="7596"/>
                  <a:pt x="92" y="7590"/>
                  <a:pt x="82" y="7584"/>
                </a:cubicBezTo>
                <a:cubicBezTo>
                  <a:pt x="72" y="7577"/>
                  <a:pt x="63" y="7569"/>
                  <a:pt x="54" y="7560"/>
                </a:cubicBezTo>
                <a:cubicBezTo>
                  <a:pt x="45" y="7552"/>
                  <a:pt x="38" y="7542"/>
                  <a:pt x="31" y="7532"/>
                </a:cubicBezTo>
                <a:cubicBezTo>
                  <a:pt x="24" y="7522"/>
                  <a:pt x="18" y="7512"/>
                  <a:pt x="14" y="7500"/>
                </a:cubicBezTo>
                <a:cubicBezTo>
                  <a:pt x="9" y="7489"/>
                  <a:pt x="6" y="7477"/>
                  <a:pt x="3" y="7465"/>
                </a:cubicBezTo>
                <a:cubicBezTo>
                  <a:pt x="1" y="7453"/>
                  <a:pt x="0" y="7441"/>
                  <a:pt x="0" y="7429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フリーフォーム 343"/>
          <p:cNvSpPr/>
          <p:nvPr/>
        </p:nvSpPr>
        <p:spPr>
          <a:xfrm>
            <a:off x="3969360" y="2038680"/>
            <a:ext cx="2757960" cy="802800"/>
          </a:xfrm>
          <a:custGeom>
            <a:avLst/>
            <a:gdLst/>
            <a:ahLst/>
            <a:cxnLst/>
            <a:rect l="0" t="0" r="r" b="b"/>
            <a:pathLst>
              <a:path w="7661" h="2230">
                <a:moveTo>
                  <a:pt x="0" y="2043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9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7475" y="0"/>
                </a:lnTo>
                <a:cubicBezTo>
                  <a:pt x="7487" y="0"/>
                  <a:pt x="7500" y="2"/>
                  <a:pt x="7512" y="4"/>
                </a:cubicBezTo>
                <a:cubicBezTo>
                  <a:pt x="7523" y="6"/>
                  <a:pt x="7535" y="10"/>
                  <a:pt x="7546" y="15"/>
                </a:cubicBezTo>
                <a:cubicBezTo>
                  <a:pt x="7558" y="19"/>
                  <a:pt x="7568" y="25"/>
                  <a:pt x="7578" y="32"/>
                </a:cubicBezTo>
                <a:cubicBezTo>
                  <a:pt x="7589" y="39"/>
                  <a:pt x="7598" y="46"/>
                  <a:pt x="7607" y="55"/>
                </a:cubicBezTo>
                <a:cubicBezTo>
                  <a:pt x="7615" y="63"/>
                  <a:pt x="7623" y="73"/>
                  <a:pt x="7630" y="83"/>
                </a:cubicBezTo>
                <a:cubicBezTo>
                  <a:pt x="7636" y="93"/>
                  <a:pt x="7642" y="104"/>
                  <a:pt x="7647" y="115"/>
                </a:cubicBezTo>
                <a:cubicBezTo>
                  <a:pt x="7652" y="126"/>
                  <a:pt x="7655" y="138"/>
                  <a:pt x="7657" y="150"/>
                </a:cubicBezTo>
                <a:cubicBezTo>
                  <a:pt x="7660" y="162"/>
                  <a:pt x="7661" y="174"/>
                  <a:pt x="7661" y="186"/>
                </a:cubicBezTo>
                <a:lnTo>
                  <a:pt x="7661" y="2043"/>
                </a:lnTo>
                <a:cubicBezTo>
                  <a:pt x="7661" y="2055"/>
                  <a:pt x="7660" y="2068"/>
                  <a:pt x="7657" y="2079"/>
                </a:cubicBezTo>
                <a:cubicBezTo>
                  <a:pt x="7655" y="2091"/>
                  <a:pt x="7652" y="2103"/>
                  <a:pt x="7647" y="2114"/>
                </a:cubicBezTo>
                <a:cubicBezTo>
                  <a:pt x="7642" y="2126"/>
                  <a:pt x="7636" y="2137"/>
                  <a:pt x="7630" y="2147"/>
                </a:cubicBezTo>
                <a:cubicBezTo>
                  <a:pt x="7623" y="2158"/>
                  <a:pt x="7615" y="2167"/>
                  <a:pt x="7607" y="2176"/>
                </a:cubicBezTo>
                <a:cubicBezTo>
                  <a:pt x="7598" y="2184"/>
                  <a:pt x="7589" y="2192"/>
                  <a:pt x="7578" y="2199"/>
                </a:cubicBezTo>
                <a:cubicBezTo>
                  <a:pt x="7568" y="2205"/>
                  <a:pt x="7558" y="2211"/>
                  <a:pt x="7546" y="2216"/>
                </a:cubicBezTo>
                <a:cubicBezTo>
                  <a:pt x="7535" y="2220"/>
                  <a:pt x="7523" y="2224"/>
                  <a:pt x="7512" y="2226"/>
                </a:cubicBezTo>
                <a:cubicBezTo>
                  <a:pt x="7500" y="2229"/>
                  <a:pt x="7487" y="2230"/>
                  <a:pt x="7475" y="2230"/>
                </a:cubicBezTo>
                <a:lnTo>
                  <a:pt x="185" y="2230"/>
                </a:lnTo>
                <a:cubicBezTo>
                  <a:pt x="173" y="2230"/>
                  <a:pt x="161" y="2229"/>
                  <a:pt x="149" y="2226"/>
                </a:cubicBezTo>
                <a:cubicBezTo>
                  <a:pt x="137" y="2224"/>
                  <a:pt x="126" y="2220"/>
                  <a:pt x="114" y="2216"/>
                </a:cubicBezTo>
                <a:cubicBezTo>
                  <a:pt x="103" y="2211"/>
                  <a:pt x="92" y="2205"/>
                  <a:pt x="82" y="2199"/>
                </a:cubicBezTo>
                <a:cubicBezTo>
                  <a:pt x="72" y="2192"/>
                  <a:pt x="63" y="2184"/>
                  <a:pt x="54" y="2176"/>
                </a:cubicBezTo>
                <a:cubicBezTo>
                  <a:pt x="45" y="2167"/>
                  <a:pt x="38" y="2158"/>
                  <a:pt x="31" y="2147"/>
                </a:cubicBezTo>
                <a:cubicBezTo>
                  <a:pt x="24" y="2137"/>
                  <a:pt x="19" y="2126"/>
                  <a:pt x="14" y="2114"/>
                </a:cubicBezTo>
                <a:cubicBezTo>
                  <a:pt x="9" y="2103"/>
                  <a:pt x="6" y="2091"/>
                  <a:pt x="3" y="2079"/>
                </a:cubicBezTo>
                <a:cubicBezTo>
                  <a:pt x="1" y="2068"/>
                  <a:pt x="0" y="2055"/>
                  <a:pt x="0" y="2043"/>
                </a:cubicBezTo>
                <a:close/>
              </a:path>
            </a:pathLst>
          </a:custGeom>
          <a:solidFill>
            <a:srgbClr val="1E40A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フリーフォーム 344"/>
          <p:cNvSpPr/>
          <p:nvPr/>
        </p:nvSpPr>
        <p:spPr>
          <a:xfrm>
            <a:off x="3969360" y="3041640"/>
            <a:ext cx="2757960" cy="969840"/>
          </a:xfrm>
          <a:custGeom>
            <a:avLst/>
            <a:gdLst/>
            <a:ahLst/>
            <a:cxnLst/>
            <a:rect l="0" t="0" r="r" b="b"/>
            <a:pathLst>
              <a:path w="7661" h="2694">
                <a:moveTo>
                  <a:pt x="0" y="2508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475" y="0"/>
                </a:lnTo>
                <a:cubicBezTo>
                  <a:pt x="7487" y="0"/>
                  <a:pt x="7500" y="1"/>
                  <a:pt x="7512" y="4"/>
                </a:cubicBezTo>
                <a:cubicBezTo>
                  <a:pt x="7523" y="6"/>
                  <a:pt x="7535" y="10"/>
                  <a:pt x="7546" y="14"/>
                </a:cubicBezTo>
                <a:cubicBezTo>
                  <a:pt x="7558" y="19"/>
                  <a:pt x="7568" y="25"/>
                  <a:pt x="7578" y="31"/>
                </a:cubicBezTo>
                <a:cubicBezTo>
                  <a:pt x="7589" y="38"/>
                  <a:pt x="7598" y="46"/>
                  <a:pt x="7607" y="54"/>
                </a:cubicBezTo>
                <a:cubicBezTo>
                  <a:pt x="7615" y="63"/>
                  <a:pt x="7623" y="72"/>
                  <a:pt x="7630" y="83"/>
                </a:cubicBezTo>
                <a:cubicBezTo>
                  <a:pt x="7636" y="93"/>
                  <a:pt x="7642" y="103"/>
                  <a:pt x="7647" y="115"/>
                </a:cubicBezTo>
                <a:cubicBezTo>
                  <a:pt x="7652" y="126"/>
                  <a:pt x="7655" y="138"/>
                  <a:pt x="7657" y="150"/>
                </a:cubicBezTo>
                <a:cubicBezTo>
                  <a:pt x="7660" y="161"/>
                  <a:pt x="7661" y="174"/>
                  <a:pt x="7661" y="186"/>
                </a:cubicBezTo>
                <a:lnTo>
                  <a:pt x="7661" y="2508"/>
                </a:lnTo>
                <a:cubicBezTo>
                  <a:pt x="7661" y="2520"/>
                  <a:pt x="7660" y="2532"/>
                  <a:pt x="7657" y="2544"/>
                </a:cubicBezTo>
                <a:cubicBezTo>
                  <a:pt x="7655" y="2556"/>
                  <a:pt x="7652" y="2568"/>
                  <a:pt x="7647" y="2579"/>
                </a:cubicBezTo>
                <a:cubicBezTo>
                  <a:pt x="7642" y="2590"/>
                  <a:pt x="7636" y="2601"/>
                  <a:pt x="7630" y="2611"/>
                </a:cubicBezTo>
                <a:cubicBezTo>
                  <a:pt x="7623" y="2621"/>
                  <a:pt x="7615" y="2631"/>
                  <a:pt x="7607" y="2639"/>
                </a:cubicBezTo>
                <a:cubicBezTo>
                  <a:pt x="7598" y="2648"/>
                  <a:pt x="7589" y="2656"/>
                  <a:pt x="7578" y="2662"/>
                </a:cubicBezTo>
                <a:cubicBezTo>
                  <a:pt x="7568" y="2669"/>
                  <a:pt x="7558" y="2675"/>
                  <a:pt x="7546" y="2680"/>
                </a:cubicBezTo>
                <a:cubicBezTo>
                  <a:pt x="7535" y="2684"/>
                  <a:pt x="7523" y="2688"/>
                  <a:pt x="7512" y="2690"/>
                </a:cubicBezTo>
                <a:cubicBezTo>
                  <a:pt x="7500" y="2693"/>
                  <a:pt x="7487" y="2694"/>
                  <a:pt x="7475" y="2694"/>
                </a:cubicBezTo>
                <a:lnTo>
                  <a:pt x="185" y="2694"/>
                </a:lnTo>
                <a:cubicBezTo>
                  <a:pt x="173" y="2694"/>
                  <a:pt x="161" y="2693"/>
                  <a:pt x="149" y="2690"/>
                </a:cubicBezTo>
                <a:cubicBezTo>
                  <a:pt x="137" y="2688"/>
                  <a:pt x="126" y="2684"/>
                  <a:pt x="114" y="2680"/>
                </a:cubicBezTo>
                <a:cubicBezTo>
                  <a:pt x="103" y="2675"/>
                  <a:pt x="92" y="2669"/>
                  <a:pt x="82" y="2662"/>
                </a:cubicBezTo>
                <a:cubicBezTo>
                  <a:pt x="72" y="2656"/>
                  <a:pt x="63" y="2648"/>
                  <a:pt x="54" y="2639"/>
                </a:cubicBezTo>
                <a:cubicBezTo>
                  <a:pt x="45" y="2631"/>
                  <a:pt x="38" y="2621"/>
                  <a:pt x="31" y="2611"/>
                </a:cubicBezTo>
                <a:cubicBezTo>
                  <a:pt x="24" y="2601"/>
                  <a:pt x="19" y="2590"/>
                  <a:pt x="14" y="2579"/>
                </a:cubicBezTo>
                <a:cubicBezTo>
                  <a:pt x="9" y="2568"/>
                  <a:pt x="6" y="2556"/>
                  <a:pt x="3" y="2544"/>
                </a:cubicBezTo>
                <a:cubicBezTo>
                  <a:pt x="1" y="2532"/>
                  <a:pt x="0" y="2520"/>
                  <a:pt x="0" y="2508"/>
                </a:cubicBezTo>
                <a:close/>
              </a:path>
            </a:pathLst>
          </a:custGeom>
          <a:solidFill>
            <a:srgbClr val="1E40A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テキスト ボックス 345"/>
          <p:cNvSpPr txBox="1"/>
          <p:nvPr/>
        </p:nvSpPr>
        <p:spPr>
          <a:xfrm>
            <a:off x="986760" y="3264120"/>
            <a:ext cx="1086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自動生成システム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7" name="図 346"/>
          <p:cNvPicPr/>
          <p:nvPr/>
        </p:nvPicPr>
        <p:blipFill>
          <a:blip r:embed="rId4"/>
          <a:stretch/>
        </p:blipFill>
        <p:spPr>
          <a:xfrm>
            <a:off x="4103280" y="228132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テキスト ボックス 347"/>
          <p:cNvSpPr txBox="1"/>
          <p:nvPr/>
        </p:nvSpPr>
        <p:spPr>
          <a:xfrm>
            <a:off x="4094640" y="1685880"/>
            <a:ext cx="25387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訓練用標的型メール配信システム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テキスト ボックス 348"/>
          <p:cNvSpPr txBox="1"/>
          <p:nvPr/>
        </p:nvSpPr>
        <p:spPr>
          <a:xfrm>
            <a:off x="4534920" y="2185920"/>
            <a:ext cx="945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メール送信機能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テキスト ボックス 349"/>
          <p:cNvSpPr txBox="1"/>
          <p:nvPr/>
        </p:nvSpPr>
        <p:spPr>
          <a:xfrm>
            <a:off x="4534920" y="2386080"/>
            <a:ext cx="1777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自動生成したメール文章を取得し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1" name="図 350"/>
          <p:cNvPicPr/>
          <p:nvPr/>
        </p:nvPicPr>
        <p:blipFill>
          <a:blip r:embed="rId5"/>
          <a:stretch/>
        </p:blipFill>
        <p:spPr>
          <a:xfrm>
            <a:off x="4103280" y="336780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テキスト ボックス 351"/>
          <p:cNvSpPr txBox="1"/>
          <p:nvPr/>
        </p:nvSpPr>
        <p:spPr>
          <a:xfrm>
            <a:off x="4534920" y="2553120"/>
            <a:ext cx="1193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メールとして送信する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テキスト ボックス 352"/>
          <p:cNvSpPr txBox="1"/>
          <p:nvPr/>
        </p:nvSpPr>
        <p:spPr>
          <a:xfrm>
            <a:off x="4534920" y="3193560"/>
            <a:ext cx="298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テキスト ボックス 353"/>
          <p:cNvSpPr txBox="1"/>
          <p:nvPr/>
        </p:nvSpPr>
        <p:spPr>
          <a:xfrm>
            <a:off x="4831560" y="3188880"/>
            <a:ext cx="1220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クリック者検知機能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テキスト ボックス 354"/>
          <p:cNvSpPr txBox="1"/>
          <p:nvPr/>
        </p:nvSpPr>
        <p:spPr>
          <a:xfrm>
            <a:off x="4534920" y="3388680"/>
            <a:ext cx="595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メール内の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テキスト ボックス 355"/>
          <p:cNvSpPr txBox="1"/>
          <p:nvPr/>
        </p:nvSpPr>
        <p:spPr>
          <a:xfrm>
            <a:off x="5119920" y="3393000"/>
            <a:ext cx="233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テキスト ボックス 356"/>
          <p:cNvSpPr txBox="1"/>
          <p:nvPr/>
        </p:nvSpPr>
        <p:spPr>
          <a:xfrm>
            <a:off x="5351760" y="3388680"/>
            <a:ext cx="1201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がクリックされたこと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テキスト ボックス 357"/>
          <p:cNvSpPr txBox="1"/>
          <p:nvPr/>
        </p:nvSpPr>
        <p:spPr>
          <a:xfrm>
            <a:off x="4534920" y="3556080"/>
            <a:ext cx="120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を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フリーフォーム 358"/>
          <p:cNvSpPr/>
          <p:nvPr/>
        </p:nvSpPr>
        <p:spPr>
          <a:xfrm>
            <a:off x="7061400" y="2832840"/>
            <a:ext cx="794160" cy="25200"/>
          </a:xfrm>
          <a:custGeom>
            <a:avLst/>
            <a:gdLst/>
            <a:ahLst/>
            <a:cxnLst/>
            <a:rect l="0" t="0" r="r" b="b"/>
            <a:pathLst>
              <a:path w="2206" h="70">
                <a:moveTo>
                  <a:pt x="0" y="0"/>
                </a:moveTo>
                <a:lnTo>
                  <a:pt x="2206" y="0"/>
                </a:lnTo>
                <a:lnTo>
                  <a:pt x="2206" y="70"/>
                </a:lnTo>
                <a:lnTo>
                  <a:pt x="0" y="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フリーフォーム 359"/>
          <p:cNvSpPr/>
          <p:nvPr/>
        </p:nvSpPr>
        <p:spPr>
          <a:xfrm>
            <a:off x="7729920" y="2774160"/>
            <a:ext cx="125640" cy="167400"/>
          </a:xfrm>
          <a:custGeom>
            <a:avLst/>
            <a:gdLst/>
            <a:ahLst/>
            <a:cxnLst/>
            <a:rect l="0" t="0" r="r" b="b"/>
            <a:pathLst>
              <a:path w="349" h="465">
                <a:moveTo>
                  <a:pt x="0" y="0"/>
                </a:moveTo>
                <a:lnTo>
                  <a:pt x="0" y="465"/>
                </a:lnTo>
                <a:lnTo>
                  <a:pt x="349" y="2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フリーフォーム 360"/>
          <p:cNvSpPr/>
          <p:nvPr/>
        </p:nvSpPr>
        <p:spPr>
          <a:xfrm>
            <a:off x="7988760" y="1938600"/>
            <a:ext cx="2373840" cy="1813680"/>
          </a:xfrm>
          <a:custGeom>
            <a:avLst/>
            <a:gdLst/>
            <a:ahLst/>
            <a:cxnLst/>
            <a:rect l="0" t="0" r="r" b="b"/>
            <a:pathLst>
              <a:path w="6594" h="5038">
                <a:moveTo>
                  <a:pt x="0" y="4852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1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6408" y="0"/>
                </a:lnTo>
                <a:cubicBezTo>
                  <a:pt x="6420" y="0"/>
                  <a:pt x="6432" y="1"/>
                  <a:pt x="6444" y="3"/>
                </a:cubicBezTo>
                <a:cubicBezTo>
                  <a:pt x="6456" y="6"/>
                  <a:pt x="6468" y="9"/>
                  <a:pt x="6479" y="14"/>
                </a:cubicBezTo>
                <a:cubicBezTo>
                  <a:pt x="6490" y="19"/>
                  <a:pt x="6501" y="24"/>
                  <a:pt x="6511" y="31"/>
                </a:cubicBezTo>
                <a:cubicBezTo>
                  <a:pt x="6521" y="38"/>
                  <a:pt x="6531" y="46"/>
                  <a:pt x="6539" y="54"/>
                </a:cubicBezTo>
                <a:cubicBezTo>
                  <a:pt x="6548" y="63"/>
                  <a:pt x="6556" y="72"/>
                  <a:pt x="6562" y="82"/>
                </a:cubicBezTo>
                <a:cubicBezTo>
                  <a:pt x="6569" y="93"/>
                  <a:pt x="6575" y="103"/>
                  <a:pt x="6580" y="115"/>
                </a:cubicBezTo>
                <a:cubicBezTo>
                  <a:pt x="6584" y="126"/>
                  <a:pt x="6588" y="137"/>
                  <a:pt x="6590" y="149"/>
                </a:cubicBezTo>
                <a:cubicBezTo>
                  <a:pt x="6592" y="161"/>
                  <a:pt x="6594" y="173"/>
                  <a:pt x="6594" y="186"/>
                </a:cubicBezTo>
                <a:lnTo>
                  <a:pt x="6594" y="4852"/>
                </a:lnTo>
                <a:cubicBezTo>
                  <a:pt x="6594" y="4865"/>
                  <a:pt x="6592" y="4877"/>
                  <a:pt x="6590" y="4889"/>
                </a:cubicBezTo>
                <a:cubicBezTo>
                  <a:pt x="6588" y="4901"/>
                  <a:pt x="6584" y="4912"/>
                  <a:pt x="6580" y="4924"/>
                </a:cubicBezTo>
                <a:cubicBezTo>
                  <a:pt x="6575" y="4935"/>
                  <a:pt x="6569" y="4945"/>
                  <a:pt x="6562" y="4956"/>
                </a:cubicBezTo>
                <a:cubicBezTo>
                  <a:pt x="6556" y="4966"/>
                  <a:pt x="6548" y="4975"/>
                  <a:pt x="6539" y="4984"/>
                </a:cubicBezTo>
                <a:cubicBezTo>
                  <a:pt x="6531" y="4992"/>
                  <a:pt x="6521" y="5000"/>
                  <a:pt x="6511" y="5007"/>
                </a:cubicBezTo>
                <a:cubicBezTo>
                  <a:pt x="6501" y="5014"/>
                  <a:pt x="6490" y="5019"/>
                  <a:pt x="6479" y="5024"/>
                </a:cubicBezTo>
                <a:cubicBezTo>
                  <a:pt x="6468" y="5029"/>
                  <a:pt x="6456" y="5032"/>
                  <a:pt x="6444" y="5035"/>
                </a:cubicBezTo>
                <a:cubicBezTo>
                  <a:pt x="6432" y="5037"/>
                  <a:pt x="6420" y="5038"/>
                  <a:pt x="6408" y="5038"/>
                </a:cubicBezTo>
                <a:lnTo>
                  <a:pt x="186" y="5038"/>
                </a:lnTo>
                <a:cubicBezTo>
                  <a:pt x="174" y="5038"/>
                  <a:pt x="162" y="5037"/>
                  <a:pt x="150" y="5035"/>
                </a:cubicBezTo>
                <a:cubicBezTo>
                  <a:pt x="138" y="5032"/>
                  <a:pt x="126" y="5029"/>
                  <a:pt x="115" y="5024"/>
                </a:cubicBezTo>
                <a:cubicBezTo>
                  <a:pt x="104" y="5019"/>
                  <a:pt x="93" y="5014"/>
                  <a:pt x="83" y="5007"/>
                </a:cubicBezTo>
                <a:cubicBezTo>
                  <a:pt x="73" y="5000"/>
                  <a:pt x="63" y="4992"/>
                  <a:pt x="55" y="4984"/>
                </a:cubicBezTo>
                <a:cubicBezTo>
                  <a:pt x="46" y="4975"/>
                  <a:pt x="38" y="4966"/>
                  <a:pt x="31" y="4956"/>
                </a:cubicBezTo>
                <a:cubicBezTo>
                  <a:pt x="25" y="4945"/>
                  <a:pt x="19" y="4935"/>
                  <a:pt x="14" y="4924"/>
                </a:cubicBezTo>
                <a:cubicBezTo>
                  <a:pt x="10" y="4912"/>
                  <a:pt x="6" y="4901"/>
                  <a:pt x="4" y="4889"/>
                </a:cubicBezTo>
                <a:cubicBezTo>
                  <a:pt x="1" y="4877"/>
                  <a:pt x="0" y="4865"/>
                  <a:pt x="0" y="4852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2" name="図 361"/>
          <p:cNvPicPr/>
          <p:nvPr/>
        </p:nvPicPr>
        <p:blipFill>
          <a:blip r:embed="rId6"/>
          <a:stretch/>
        </p:blipFill>
        <p:spPr>
          <a:xfrm>
            <a:off x="8925120" y="2139480"/>
            <a:ext cx="501120" cy="40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テキスト ボックス 362"/>
          <p:cNvSpPr txBox="1"/>
          <p:nvPr/>
        </p:nvSpPr>
        <p:spPr>
          <a:xfrm>
            <a:off x="4534920" y="3723120"/>
            <a:ext cx="827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検知・記録する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テキスト ボックス 363"/>
          <p:cNvSpPr txBox="1"/>
          <p:nvPr/>
        </p:nvSpPr>
        <p:spPr>
          <a:xfrm>
            <a:off x="8757000" y="2663640"/>
            <a:ext cx="8388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訓練対象者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テキスト ボックス 364"/>
          <p:cNvSpPr txBox="1"/>
          <p:nvPr/>
        </p:nvSpPr>
        <p:spPr>
          <a:xfrm>
            <a:off x="8846640" y="296316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最大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テキスト ボックス 365"/>
          <p:cNvSpPr txBox="1"/>
          <p:nvPr/>
        </p:nvSpPr>
        <p:spPr>
          <a:xfrm>
            <a:off x="9113760" y="2967840"/>
            <a:ext cx="256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300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テキスト ボックス 366"/>
          <p:cNvSpPr txBox="1"/>
          <p:nvPr/>
        </p:nvSpPr>
        <p:spPr>
          <a:xfrm>
            <a:off x="9369000" y="2963160"/>
            <a:ext cx="135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テキスト ボックス 367"/>
          <p:cNvSpPr txBox="1"/>
          <p:nvPr/>
        </p:nvSpPr>
        <p:spPr>
          <a:xfrm>
            <a:off x="8305560" y="3163680"/>
            <a:ext cx="1750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（中小企業の従業員規模を想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フリーフォーム 368"/>
          <p:cNvSpPr/>
          <p:nvPr/>
        </p:nvSpPr>
        <p:spPr>
          <a:xfrm>
            <a:off x="334080" y="4545720"/>
            <a:ext cx="10028520" cy="1237320"/>
          </a:xfrm>
          <a:custGeom>
            <a:avLst/>
            <a:gdLst/>
            <a:ahLst/>
            <a:cxnLst/>
            <a:rect l="0" t="0" r="r" b="b"/>
            <a:pathLst>
              <a:path w="27857" h="3437">
                <a:moveTo>
                  <a:pt x="0" y="3251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5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2"/>
                  <a:pt x="174" y="0"/>
                  <a:pt x="186" y="0"/>
                </a:cubicBezTo>
                <a:lnTo>
                  <a:pt x="27671" y="0"/>
                </a:lnTo>
                <a:cubicBezTo>
                  <a:pt x="27683" y="0"/>
                  <a:pt x="27695" y="2"/>
                  <a:pt x="27707" y="4"/>
                </a:cubicBezTo>
                <a:cubicBezTo>
                  <a:pt x="27719" y="6"/>
                  <a:pt x="27731" y="10"/>
                  <a:pt x="27742" y="15"/>
                </a:cubicBezTo>
                <a:cubicBezTo>
                  <a:pt x="27753" y="19"/>
                  <a:pt x="27764" y="25"/>
                  <a:pt x="27774" y="32"/>
                </a:cubicBezTo>
                <a:cubicBezTo>
                  <a:pt x="27784" y="38"/>
                  <a:pt x="27794" y="46"/>
                  <a:pt x="27802" y="55"/>
                </a:cubicBezTo>
                <a:cubicBezTo>
                  <a:pt x="27811" y="63"/>
                  <a:pt x="27819" y="73"/>
                  <a:pt x="27825" y="83"/>
                </a:cubicBezTo>
                <a:cubicBezTo>
                  <a:pt x="27832" y="93"/>
                  <a:pt x="27838" y="104"/>
                  <a:pt x="27843" y="115"/>
                </a:cubicBezTo>
                <a:cubicBezTo>
                  <a:pt x="27847" y="126"/>
                  <a:pt x="27851" y="138"/>
                  <a:pt x="27853" y="150"/>
                </a:cubicBezTo>
                <a:cubicBezTo>
                  <a:pt x="27855" y="162"/>
                  <a:pt x="27857" y="174"/>
                  <a:pt x="27857" y="186"/>
                </a:cubicBezTo>
                <a:lnTo>
                  <a:pt x="27857" y="3251"/>
                </a:lnTo>
                <a:cubicBezTo>
                  <a:pt x="27857" y="3263"/>
                  <a:pt x="27855" y="3275"/>
                  <a:pt x="27853" y="3287"/>
                </a:cubicBezTo>
                <a:cubicBezTo>
                  <a:pt x="27851" y="3299"/>
                  <a:pt x="27847" y="3311"/>
                  <a:pt x="27843" y="3322"/>
                </a:cubicBezTo>
                <a:cubicBezTo>
                  <a:pt x="27838" y="3334"/>
                  <a:pt x="27832" y="3344"/>
                  <a:pt x="27825" y="3354"/>
                </a:cubicBezTo>
                <a:cubicBezTo>
                  <a:pt x="27819" y="3365"/>
                  <a:pt x="27811" y="3374"/>
                  <a:pt x="27802" y="3383"/>
                </a:cubicBezTo>
                <a:cubicBezTo>
                  <a:pt x="27794" y="3391"/>
                  <a:pt x="27784" y="3399"/>
                  <a:pt x="27774" y="3406"/>
                </a:cubicBezTo>
                <a:cubicBezTo>
                  <a:pt x="27764" y="3412"/>
                  <a:pt x="27753" y="3418"/>
                  <a:pt x="27742" y="3423"/>
                </a:cubicBezTo>
                <a:cubicBezTo>
                  <a:pt x="27731" y="3427"/>
                  <a:pt x="27719" y="3431"/>
                  <a:pt x="27707" y="3433"/>
                </a:cubicBezTo>
                <a:cubicBezTo>
                  <a:pt x="27695" y="3436"/>
                  <a:pt x="27683" y="3437"/>
                  <a:pt x="27671" y="3437"/>
                </a:cubicBezTo>
                <a:lnTo>
                  <a:pt x="186" y="3437"/>
                </a:lnTo>
                <a:cubicBezTo>
                  <a:pt x="174" y="3437"/>
                  <a:pt x="161" y="3436"/>
                  <a:pt x="149" y="3433"/>
                </a:cubicBezTo>
                <a:cubicBezTo>
                  <a:pt x="138" y="3431"/>
                  <a:pt x="126" y="3427"/>
                  <a:pt x="115" y="3423"/>
                </a:cubicBezTo>
                <a:cubicBezTo>
                  <a:pt x="103" y="3418"/>
                  <a:pt x="93" y="3412"/>
                  <a:pt x="83" y="3406"/>
                </a:cubicBezTo>
                <a:cubicBezTo>
                  <a:pt x="72" y="3399"/>
                  <a:pt x="63" y="3391"/>
                  <a:pt x="54" y="3383"/>
                </a:cubicBezTo>
                <a:cubicBezTo>
                  <a:pt x="46" y="3374"/>
                  <a:pt x="38" y="3365"/>
                  <a:pt x="31" y="3354"/>
                </a:cubicBezTo>
                <a:cubicBezTo>
                  <a:pt x="25" y="3344"/>
                  <a:pt x="19" y="3334"/>
                  <a:pt x="14" y="3322"/>
                </a:cubicBezTo>
                <a:cubicBezTo>
                  <a:pt x="9" y="3311"/>
                  <a:pt x="6" y="3299"/>
                  <a:pt x="4" y="3287"/>
                </a:cubicBezTo>
                <a:cubicBezTo>
                  <a:pt x="1" y="3275"/>
                  <a:pt x="0" y="3263"/>
                  <a:pt x="0" y="3251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0" name="図 369"/>
          <p:cNvPicPr/>
          <p:nvPr/>
        </p:nvPicPr>
        <p:blipFill>
          <a:blip r:embed="rId7"/>
          <a:stretch/>
        </p:blipFill>
        <p:spPr>
          <a:xfrm>
            <a:off x="534960" y="47800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テキスト ボックス 370"/>
          <p:cNvSpPr txBox="1"/>
          <p:nvPr/>
        </p:nvSpPr>
        <p:spPr>
          <a:xfrm>
            <a:off x="9041040" y="3364200"/>
            <a:ext cx="26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定）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2" name="図 371"/>
          <p:cNvPicPr/>
          <p:nvPr/>
        </p:nvPicPr>
        <p:blipFill>
          <a:blip r:embed="rId8"/>
          <a:stretch/>
        </p:blipFill>
        <p:spPr>
          <a:xfrm>
            <a:off x="534960" y="5114160"/>
            <a:ext cx="666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テキスト ボックス 372"/>
          <p:cNvSpPr txBox="1"/>
          <p:nvPr/>
        </p:nvSpPr>
        <p:spPr>
          <a:xfrm>
            <a:off x="802080" y="4761000"/>
            <a:ext cx="11937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システムの特徴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4" name="図 373"/>
          <p:cNvPicPr/>
          <p:nvPr/>
        </p:nvPicPr>
        <p:blipFill>
          <a:blip r:embed="rId8"/>
          <a:stretch/>
        </p:blipFill>
        <p:spPr>
          <a:xfrm>
            <a:off x="5482080" y="5114160"/>
            <a:ext cx="666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テキスト ボックス 374"/>
          <p:cNvSpPr txBox="1"/>
          <p:nvPr/>
        </p:nvSpPr>
        <p:spPr>
          <a:xfrm>
            <a:off x="668520" y="5094000"/>
            <a:ext cx="2836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自動生成した訓練用標的型メールの配信を実現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テキスト ボックス 375"/>
          <p:cNvSpPr txBox="1"/>
          <p:nvPr/>
        </p:nvSpPr>
        <p:spPr>
          <a:xfrm>
            <a:off x="5615640" y="5098680"/>
            <a:ext cx="266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7" name="図 376"/>
          <p:cNvPicPr/>
          <p:nvPr/>
        </p:nvPicPr>
        <p:blipFill>
          <a:blip r:embed="rId8"/>
          <a:stretch/>
        </p:blipFill>
        <p:spPr>
          <a:xfrm>
            <a:off x="534960" y="5415120"/>
            <a:ext cx="666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テキスト ボックス 377"/>
          <p:cNvSpPr txBox="1"/>
          <p:nvPr/>
        </p:nvSpPr>
        <p:spPr>
          <a:xfrm>
            <a:off x="5880960" y="5094000"/>
            <a:ext cx="2858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パラメータを使用してクリック者を個別に識別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テキスト ボックス 378"/>
          <p:cNvSpPr txBox="1"/>
          <p:nvPr/>
        </p:nvSpPr>
        <p:spPr>
          <a:xfrm>
            <a:off x="668520" y="5399640"/>
            <a:ext cx="899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Google Cloud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テキスト ボックス 379"/>
          <p:cNvSpPr txBox="1"/>
          <p:nvPr/>
        </p:nvSpPr>
        <p:spPr>
          <a:xfrm>
            <a:off x="1564560" y="5394960"/>
            <a:ext cx="272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上で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テキスト ボックス 380"/>
          <p:cNvSpPr txBox="1"/>
          <p:nvPr/>
        </p:nvSpPr>
        <p:spPr>
          <a:xfrm>
            <a:off x="1832040" y="5399640"/>
            <a:ext cx="343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Web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2" name="図 381"/>
          <p:cNvPicPr/>
          <p:nvPr/>
        </p:nvPicPr>
        <p:blipFill>
          <a:blip r:embed="rId8"/>
          <a:stretch/>
        </p:blipFill>
        <p:spPr>
          <a:xfrm>
            <a:off x="5482080" y="5415120"/>
            <a:ext cx="666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テキスト ボックス 382"/>
          <p:cNvSpPr txBox="1"/>
          <p:nvPr/>
        </p:nvSpPr>
        <p:spPr>
          <a:xfrm>
            <a:off x="2165760" y="5394960"/>
            <a:ext cx="1092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プログラムを実装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4" name="図 383"/>
          <p:cNvPicPr/>
          <p:nvPr/>
        </p:nvPicPr>
        <p:blipFill>
          <a:blip r:embed="rId9"/>
          <a:stretch/>
        </p:blipFill>
        <p:spPr>
          <a:xfrm>
            <a:off x="10053000" y="5749560"/>
            <a:ext cx="50940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テキスト ボックス 384"/>
          <p:cNvSpPr txBox="1"/>
          <p:nvPr/>
        </p:nvSpPr>
        <p:spPr>
          <a:xfrm>
            <a:off x="5615640" y="5394960"/>
            <a:ext cx="25646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柔軟な訓練設定が可能（通知の有無など）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図 385"/>
          <p:cNvPicPr/>
          <p:nvPr/>
        </p:nvPicPr>
        <p:blipFill>
          <a:blip r:embed="rId2"/>
          <a:stretch/>
        </p:blipFill>
        <p:spPr>
          <a:xfrm>
            <a:off x="0" y="0"/>
            <a:ext cx="10696320" cy="665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テキスト ボックス 386"/>
          <p:cNvSpPr txBox="1"/>
          <p:nvPr/>
        </p:nvSpPr>
        <p:spPr>
          <a:xfrm>
            <a:off x="334440" y="326880"/>
            <a:ext cx="253296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79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メール送信機能の詳細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フリーフォーム 387"/>
          <p:cNvSpPr/>
          <p:nvPr/>
        </p:nvSpPr>
        <p:spPr>
          <a:xfrm>
            <a:off x="334080" y="835560"/>
            <a:ext cx="4805640" cy="2373480"/>
          </a:xfrm>
          <a:custGeom>
            <a:avLst/>
            <a:gdLst/>
            <a:ahLst/>
            <a:cxnLst/>
            <a:rect l="0" t="0" r="r" b="b"/>
            <a:pathLst>
              <a:path w="13349" h="6593">
                <a:moveTo>
                  <a:pt x="0" y="6408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13163" y="0"/>
                </a:lnTo>
                <a:cubicBezTo>
                  <a:pt x="13175" y="0"/>
                  <a:pt x="13187" y="1"/>
                  <a:pt x="13199" y="3"/>
                </a:cubicBezTo>
                <a:cubicBezTo>
                  <a:pt x="13211" y="6"/>
                  <a:pt x="13223" y="9"/>
                  <a:pt x="13234" y="14"/>
                </a:cubicBezTo>
                <a:cubicBezTo>
                  <a:pt x="13245" y="19"/>
                  <a:pt x="13256" y="24"/>
                  <a:pt x="13266" y="31"/>
                </a:cubicBezTo>
                <a:cubicBezTo>
                  <a:pt x="13276" y="38"/>
                  <a:pt x="13286" y="46"/>
                  <a:pt x="13294" y="54"/>
                </a:cubicBezTo>
                <a:cubicBezTo>
                  <a:pt x="13303" y="63"/>
                  <a:pt x="13310" y="72"/>
                  <a:pt x="13317" y="82"/>
                </a:cubicBezTo>
                <a:cubicBezTo>
                  <a:pt x="13324" y="92"/>
                  <a:pt x="13330" y="103"/>
                  <a:pt x="13334" y="114"/>
                </a:cubicBezTo>
                <a:cubicBezTo>
                  <a:pt x="13339" y="126"/>
                  <a:pt x="13343" y="137"/>
                  <a:pt x="13345" y="149"/>
                </a:cubicBezTo>
                <a:cubicBezTo>
                  <a:pt x="13347" y="161"/>
                  <a:pt x="13349" y="173"/>
                  <a:pt x="13349" y="186"/>
                </a:cubicBezTo>
                <a:lnTo>
                  <a:pt x="13349" y="6408"/>
                </a:lnTo>
                <a:cubicBezTo>
                  <a:pt x="13349" y="6420"/>
                  <a:pt x="13347" y="6432"/>
                  <a:pt x="13345" y="6444"/>
                </a:cubicBezTo>
                <a:cubicBezTo>
                  <a:pt x="13343" y="6456"/>
                  <a:pt x="13339" y="6467"/>
                  <a:pt x="13334" y="6479"/>
                </a:cubicBezTo>
                <a:cubicBezTo>
                  <a:pt x="13330" y="6490"/>
                  <a:pt x="13324" y="6501"/>
                  <a:pt x="13317" y="6511"/>
                </a:cubicBezTo>
                <a:cubicBezTo>
                  <a:pt x="13310" y="6521"/>
                  <a:pt x="13303" y="6530"/>
                  <a:pt x="13294" y="6539"/>
                </a:cubicBezTo>
                <a:cubicBezTo>
                  <a:pt x="13286" y="6548"/>
                  <a:pt x="13276" y="6555"/>
                  <a:pt x="13266" y="6562"/>
                </a:cubicBezTo>
                <a:cubicBezTo>
                  <a:pt x="13256" y="6569"/>
                  <a:pt x="13245" y="6575"/>
                  <a:pt x="13234" y="6579"/>
                </a:cubicBezTo>
                <a:cubicBezTo>
                  <a:pt x="13223" y="6584"/>
                  <a:pt x="13211" y="6587"/>
                  <a:pt x="13199" y="6590"/>
                </a:cubicBezTo>
                <a:cubicBezTo>
                  <a:pt x="13187" y="6592"/>
                  <a:pt x="13175" y="6593"/>
                  <a:pt x="13163" y="6593"/>
                </a:cubicBezTo>
                <a:lnTo>
                  <a:pt x="186" y="6593"/>
                </a:lnTo>
                <a:cubicBezTo>
                  <a:pt x="174" y="6593"/>
                  <a:pt x="161" y="6592"/>
                  <a:pt x="149" y="6590"/>
                </a:cubicBezTo>
                <a:cubicBezTo>
                  <a:pt x="138" y="6587"/>
                  <a:pt x="126" y="6584"/>
                  <a:pt x="115" y="6579"/>
                </a:cubicBezTo>
                <a:cubicBezTo>
                  <a:pt x="103" y="6575"/>
                  <a:pt x="93" y="6569"/>
                  <a:pt x="83" y="6562"/>
                </a:cubicBezTo>
                <a:cubicBezTo>
                  <a:pt x="72" y="6555"/>
                  <a:pt x="63" y="6548"/>
                  <a:pt x="54" y="6539"/>
                </a:cubicBezTo>
                <a:cubicBezTo>
                  <a:pt x="46" y="6530"/>
                  <a:pt x="38" y="6521"/>
                  <a:pt x="31" y="6511"/>
                </a:cubicBezTo>
                <a:cubicBezTo>
                  <a:pt x="25" y="6501"/>
                  <a:pt x="19" y="6490"/>
                  <a:pt x="14" y="6479"/>
                </a:cubicBezTo>
                <a:cubicBezTo>
                  <a:pt x="9" y="6467"/>
                  <a:pt x="6" y="6456"/>
                  <a:pt x="4" y="6444"/>
                </a:cubicBezTo>
                <a:cubicBezTo>
                  <a:pt x="1" y="6432"/>
                  <a:pt x="0" y="6420"/>
                  <a:pt x="0" y="6408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9" name="図 388"/>
          <p:cNvPicPr/>
          <p:nvPr/>
        </p:nvPicPr>
        <p:blipFill>
          <a:blip r:embed="rId3"/>
          <a:stretch/>
        </p:blipFill>
        <p:spPr>
          <a:xfrm>
            <a:off x="534960" y="10695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0" name="テキスト ボックス 389"/>
          <p:cNvSpPr txBox="1"/>
          <p:nvPr/>
        </p:nvSpPr>
        <p:spPr>
          <a:xfrm>
            <a:off x="9880560" y="388080"/>
            <a:ext cx="4838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8 / 12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フリーフォーム 390"/>
          <p:cNvSpPr/>
          <p:nvPr/>
        </p:nvSpPr>
        <p:spPr>
          <a:xfrm>
            <a:off x="584640" y="153756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69"/>
                </a:moveTo>
                <a:cubicBezTo>
                  <a:pt x="141" y="79"/>
                  <a:pt x="139" y="87"/>
                  <a:pt x="135" y="96"/>
                </a:cubicBezTo>
                <a:cubicBezTo>
                  <a:pt x="132" y="105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5"/>
                  <a:pt x="6" y="96"/>
                </a:cubicBezTo>
                <a:cubicBezTo>
                  <a:pt x="2" y="87"/>
                  <a:pt x="0" y="79"/>
                  <a:pt x="0" y="69"/>
                </a:cubicBezTo>
                <a:cubicBezTo>
                  <a:pt x="0" y="60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1"/>
                  <a:pt x="61" y="0"/>
                  <a:pt x="70" y="0"/>
                </a:cubicBezTo>
                <a:cubicBezTo>
                  <a:pt x="79" y="0"/>
                  <a:pt x="88" y="1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0"/>
                  <a:pt x="141" y="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テキスト ボックス 391"/>
          <p:cNvSpPr txBox="1"/>
          <p:nvPr/>
        </p:nvSpPr>
        <p:spPr>
          <a:xfrm>
            <a:off x="835560" y="1043640"/>
            <a:ext cx="20264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メール送信機能の概要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フリーフォーム 392"/>
          <p:cNvSpPr/>
          <p:nvPr/>
        </p:nvSpPr>
        <p:spPr>
          <a:xfrm>
            <a:off x="584640" y="187164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1"/>
                </a:moveTo>
                <a:cubicBezTo>
                  <a:pt x="141" y="80"/>
                  <a:pt x="139" y="89"/>
                  <a:pt x="135" y="98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8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2"/>
                  <a:pt x="2" y="53"/>
                  <a:pt x="6" y="44"/>
                </a:cubicBezTo>
                <a:cubicBezTo>
                  <a:pt x="9" y="36"/>
                  <a:pt x="14" y="28"/>
                  <a:pt x="21" y="22"/>
                </a:cubicBezTo>
                <a:cubicBezTo>
                  <a:pt x="27" y="15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5"/>
                  <a:pt x="120" y="22"/>
                </a:cubicBezTo>
                <a:cubicBezTo>
                  <a:pt x="127" y="28"/>
                  <a:pt x="132" y="36"/>
                  <a:pt x="135" y="44"/>
                </a:cubicBezTo>
                <a:cubicBezTo>
                  <a:pt x="139" y="53"/>
                  <a:pt x="141" y="62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テキスト ボックス 393"/>
          <p:cNvSpPr txBox="1"/>
          <p:nvPr/>
        </p:nvSpPr>
        <p:spPr>
          <a:xfrm>
            <a:off x="735480" y="1459800"/>
            <a:ext cx="2586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自動生成したメール文章を取得し送信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テキスト ボックス 394"/>
          <p:cNvSpPr txBox="1"/>
          <p:nvPr/>
        </p:nvSpPr>
        <p:spPr>
          <a:xfrm>
            <a:off x="735480" y="1799280"/>
            <a:ext cx="9828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Google Drive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テキスト ボックス 395"/>
          <p:cNvSpPr txBox="1"/>
          <p:nvPr/>
        </p:nvSpPr>
        <p:spPr>
          <a:xfrm>
            <a:off x="1714680" y="1793880"/>
            <a:ext cx="306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上の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テキスト ボックス 396"/>
          <p:cNvSpPr txBox="1"/>
          <p:nvPr/>
        </p:nvSpPr>
        <p:spPr>
          <a:xfrm>
            <a:off x="2015640" y="1799280"/>
            <a:ext cx="3049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CSV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フリーフォーム 397"/>
          <p:cNvSpPr/>
          <p:nvPr/>
        </p:nvSpPr>
        <p:spPr>
          <a:xfrm>
            <a:off x="584640" y="220608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9"/>
                  <a:pt x="0" y="80"/>
                  <a:pt x="0" y="70"/>
                </a:cubicBezTo>
                <a:cubicBezTo>
                  <a:pt x="0" y="61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テキスト ボックス 398"/>
          <p:cNvSpPr txBox="1"/>
          <p:nvPr/>
        </p:nvSpPr>
        <p:spPr>
          <a:xfrm>
            <a:off x="2318760" y="1793880"/>
            <a:ext cx="2446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ファイルから訓練者情報を読み込み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フリーフォーム 399"/>
          <p:cNvSpPr/>
          <p:nvPr/>
        </p:nvSpPr>
        <p:spPr>
          <a:xfrm>
            <a:off x="584640" y="254016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0"/>
                </a:moveTo>
                <a:cubicBezTo>
                  <a:pt x="141" y="79"/>
                  <a:pt x="139" y="88"/>
                  <a:pt x="135" y="97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7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1"/>
                  <a:pt x="2" y="52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テキスト ボックス 400"/>
          <p:cNvSpPr txBox="1"/>
          <p:nvPr/>
        </p:nvSpPr>
        <p:spPr>
          <a:xfrm>
            <a:off x="735480" y="2128320"/>
            <a:ext cx="2274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文章内の伏字を訓練者情報で置換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テキスト ボックス 401"/>
          <p:cNvSpPr txBox="1"/>
          <p:nvPr/>
        </p:nvSpPr>
        <p:spPr>
          <a:xfrm>
            <a:off x="735480" y="2462400"/>
            <a:ext cx="611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指定した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テキスト ボックス 402"/>
          <p:cNvSpPr txBox="1"/>
          <p:nvPr/>
        </p:nvSpPr>
        <p:spPr>
          <a:xfrm>
            <a:off x="1337040" y="2467800"/>
            <a:ext cx="299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フリーフォーム 403"/>
          <p:cNvSpPr/>
          <p:nvPr/>
        </p:nvSpPr>
        <p:spPr>
          <a:xfrm>
            <a:off x="584640" y="287460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9"/>
                  <a:pt x="0" y="80"/>
                  <a:pt x="0" y="70"/>
                </a:cubicBezTo>
                <a:cubicBezTo>
                  <a:pt x="0" y="61"/>
                  <a:pt x="2" y="52"/>
                  <a:pt x="6" y="44"/>
                </a:cubicBezTo>
                <a:cubicBezTo>
                  <a:pt x="9" y="35"/>
                  <a:pt x="14" y="28"/>
                  <a:pt x="21" y="21"/>
                </a:cubicBezTo>
                <a:cubicBezTo>
                  <a:pt x="27" y="15"/>
                  <a:pt x="35" y="10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10"/>
                  <a:pt x="113" y="15"/>
                  <a:pt x="120" y="21"/>
                </a:cubicBezTo>
                <a:cubicBezTo>
                  <a:pt x="127" y="28"/>
                  <a:pt x="132" y="35"/>
                  <a:pt x="135" y="44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テキスト ボックス 404"/>
          <p:cNvSpPr txBox="1"/>
          <p:nvPr/>
        </p:nvSpPr>
        <p:spPr>
          <a:xfrm>
            <a:off x="1635480" y="2462400"/>
            <a:ext cx="2759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を指定した文章にリンクとして埋め込み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テキスト ボックス 405"/>
          <p:cNvSpPr txBox="1"/>
          <p:nvPr/>
        </p:nvSpPr>
        <p:spPr>
          <a:xfrm>
            <a:off x="735480" y="2796840"/>
            <a:ext cx="2137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訓練者ごとにユニークな数値（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テキスト ボックス 406"/>
          <p:cNvSpPr txBox="1"/>
          <p:nvPr/>
        </p:nvSpPr>
        <p:spPr>
          <a:xfrm>
            <a:off x="2841120" y="2801880"/>
            <a:ext cx="348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フリーフォーム 407"/>
          <p:cNvSpPr/>
          <p:nvPr/>
        </p:nvSpPr>
        <p:spPr>
          <a:xfrm>
            <a:off x="334080" y="3409200"/>
            <a:ext cx="4805640" cy="2774880"/>
          </a:xfrm>
          <a:custGeom>
            <a:avLst/>
            <a:gdLst/>
            <a:ahLst/>
            <a:cxnLst/>
            <a:rect l="0" t="0" r="r" b="b"/>
            <a:pathLst>
              <a:path w="13349" h="7708">
                <a:moveTo>
                  <a:pt x="0" y="7522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5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2"/>
                  <a:pt x="174" y="0"/>
                  <a:pt x="186" y="0"/>
                </a:cubicBezTo>
                <a:lnTo>
                  <a:pt x="13163" y="0"/>
                </a:lnTo>
                <a:cubicBezTo>
                  <a:pt x="13175" y="0"/>
                  <a:pt x="13187" y="2"/>
                  <a:pt x="13199" y="4"/>
                </a:cubicBezTo>
                <a:cubicBezTo>
                  <a:pt x="13211" y="6"/>
                  <a:pt x="13223" y="10"/>
                  <a:pt x="13234" y="15"/>
                </a:cubicBezTo>
                <a:cubicBezTo>
                  <a:pt x="13245" y="19"/>
                  <a:pt x="13256" y="25"/>
                  <a:pt x="13266" y="32"/>
                </a:cubicBezTo>
                <a:cubicBezTo>
                  <a:pt x="13276" y="38"/>
                  <a:pt x="13286" y="46"/>
                  <a:pt x="13294" y="55"/>
                </a:cubicBezTo>
                <a:cubicBezTo>
                  <a:pt x="13303" y="63"/>
                  <a:pt x="13310" y="73"/>
                  <a:pt x="13317" y="83"/>
                </a:cubicBezTo>
                <a:cubicBezTo>
                  <a:pt x="13324" y="93"/>
                  <a:pt x="13330" y="104"/>
                  <a:pt x="13334" y="115"/>
                </a:cubicBezTo>
                <a:cubicBezTo>
                  <a:pt x="13339" y="126"/>
                  <a:pt x="13343" y="138"/>
                  <a:pt x="13345" y="150"/>
                </a:cubicBezTo>
                <a:cubicBezTo>
                  <a:pt x="13347" y="162"/>
                  <a:pt x="13349" y="174"/>
                  <a:pt x="13349" y="186"/>
                </a:cubicBezTo>
                <a:lnTo>
                  <a:pt x="13349" y="7522"/>
                </a:lnTo>
                <a:cubicBezTo>
                  <a:pt x="13349" y="7535"/>
                  <a:pt x="13347" y="7547"/>
                  <a:pt x="13345" y="7559"/>
                </a:cubicBezTo>
                <a:cubicBezTo>
                  <a:pt x="13343" y="7571"/>
                  <a:pt x="13339" y="7582"/>
                  <a:pt x="13334" y="7594"/>
                </a:cubicBezTo>
                <a:cubicBezTo>
                  <a:pt x="13330" y="7605"/>
                  <a:pt x="13324" y="7615"/>
                  <a:pt x="13317" y="7626"/>
                </a:cubicBezTo>
                <a:cubicBezTo>
                  <a:pt x="13310" y="7636"/>
                  <a:pt x="13303" y="7645"/>
                  <a:pt x="13294" y="7654"/>
                </a:cubicBezTo>
                <a:cubicBezTo>
                  <a:pt x="13286" y="7662"/>
                  <a:pt x="13276" y="7670"/>
                  <a:pt x="13266" y="7677"/>
                </a:cubicBezTo>
                <a:cubicBezTo>
                  <a:pt x="13256" y="7684"/>
                  <a:pt x="13245" y="7689"/>
                  <a:pt x="13234" y="7694"/>
                </a:cubicBezTo>
                <a:cubicBezTo>
                  <a:pt x="13223" y="7699"/>
                  <a:pt x="13211" y="7702"/>
                  <a:pt x="13199" y="7705"/>
                </a:cubicBezTo>
                <a:cubicBezTo>
                  <a:pt x="13187" y="7707"/>
                  <a:pt x="13175" y="7708"/>
                  <a:pt x="13163" y="7708"/>
                </a:cubicBezTo>
                <a:lnTo>
                  <a:pt x="186" y="7708"/>
                </a:lnTo>
                <a:cubicBezTo>
                  <a:pt x="174" y="7708"/>
                  <a:pt x="161" y="7707"/>
                  <a:pt x="149" y="7705"/>
                </a:cubicBezTo>
                <a:cubicBezTo>
                  <a:pt x="138" y="7702"/>
                  <a:pt x="126" y="7699"/>
                  <a:pt x="115" y="7694"/>
                </a:cubicBezTo>
                <a:cubicBezTo>
                  <a:pt x="103" y="7689"/>
                  <a:pt x="93" y="7684"/>
                  <a:pt x="83" y="7677"/>
                </a:cubicBezTo>
                <a:cubicBezTo>
                  <a:pt x="72" y="7670"/>
                  <a:pt x="63" y="7662"/>
                  <a:pt x="54" y="7654"/>
                </a:cubicBezTo>
                <a:cubicBezTo>
                  <a:pt x="46" y="7645"/>
                  <a:pt x="38" y="7636"/>
                  <a:pt x="31" y="7626"/>
                </a:cubicBezTo>
                <a:cubicBezTo>
                  <a:pt x="25" y="7615"/>
                  <a:pt x="19" y="7605"/>
                  <a:pt x="14" y="7594"/>
                </a:cubicBezTo>
                <a:cubicBezTo>
                  <a:pt x="9" y="7582"/>
                  <a:pt x="6" y="7571"/>
                  <a:pt x="4" y="7559"/>
                </a:cubicBezTo>
                <a:cubicBezTo>
                  <a:pt x="1" y="7547"/>
                  <a:pt x="0" y="7535"/>
                  <a:pt x="0" y="7522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9" name="図 408"/>
          <p:cNvPicPr/>
          <p:nvPr/>
        </p:nvPicPr>
        <p:blipFill>
          <a:blip r:embed="rId4"/>
          <a:stretch/>
        </p:blipFill>
        <p:spPr>
          <a:xfrm>
            <a:off x="534960" y="3643560"/>
            <a:ext cx="1501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テキスト ボックス 409"/>
          <p:cNvSpPr txBox="1"/>
          <p:nvPr/>
        </p:nvSpPr>
        <p:spPr>
          <a:xfrm>
            <a:off x="3187440" y="2796840"/>
            <a:ext cx="1376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パラメータ）を設定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テキスト ボックス 410"/>
          <p:cNvSpPr txBox="1"/>
          <p:nvPr/>
        </p:nvSpPr>
        <p:spPr>
          <a:xfrm>
            <a:off x="785520" y="3624480"/>
            <a:ext cx="4489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CSV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フリーフォーム 411"/>
          <p:cNvSpPr/>
          <p:nvPr/>
        </p:nvSpPr>
        <p:spPr>
          <a:xfrm>
            <a:off x="584640" y="411120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1"/>
                </a:moveTo>
                <a:cubicBezTo>
                  <a:pt x="141" y="80"/>
                  <a:pt x="139" y="89"/>
                  <a:pt x="135" y="98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8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2"/>
                  <a:pt x="2" y="53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3"/>
                  <a:pt x="141" y="62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テキスト ボックス 412"/>
          <p:cNvSpPr txBox="1"/>
          <p:nvPr/>
        </p:nvSpPr>
        <p:spPr>
          <a:xfrm>
            <a:off x="1236240" y="3617640"/>
            <a:ext cx="12265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管理システム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テキスト ボックス 413"/>
          <p:cNvSpPr txBox="1"/>
          <p:nvPr/>
        </p:nvSpPr>
        <p:spPr>
          <a:xfrm>
            <a:off x="735480" y="4038840"/>
            <a:ext cx="3049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CSV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テキスト ボックス 414"/>
          <p:cNvSpPr txBox="1"/>
          <p:nvPr/>
        </p:nvSpPr>
        <p:spPr>
          <a:xfrm>
            <a:off x="1038960" y="4033440"/>
            <a:ext cx="2141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ファイルには以下の情報を入力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テキスト ボックス 415"/>
          <p:cNvSpPr txBox="1"/>
          <p:nvPr/>
        </p:nvSpPr>
        <p:spPr>
          <a:xfrm>
            <a:off x="3144600" y="403884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: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テキスト ボックス 416"/>
          <p:cNvSpPr txBox="1"/>
          <p:nvPr/>
        </p:nvSpPr>
        <p:spPr>
          <a:xfrm>
            <a:off x="936000" y="4334400"/>
            <a:ext cx="909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訓練者の氏名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フリーフォーム 417"/>
          <p:cNvSpPr/>
          <p:nvPr/>
        </p:nvSpPr>
        <p:spPr>
          <a:xfrm>
            <a:off x="584640" y="498024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0"/>
                </a:moveTo>
                <a:cubicBezTo>
                  <a:pt x="141" y="79"/>
                  <a:pt x="139" y="88"/>
                  <a:pt x="135" y="97"/>
                </a:cubicBezTo>
                <a:cubicBezTo>
                  <a:pt x="132" y="105"/>
                  <a:pt x="127" y="113"/>
                  <a:pt x="120" y="119"/>
                </a:cubicBezTo>
                <a:cubicBezTo>
                  <a:pt x="113" y="126"/>
                  <a:pt x="105" y="131"/>
                  <a:pt x="97" y="134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4"/>
                </a:cubicBezTo>
                <a:cubicBezTo>
                  <a:pt x="35" y="131"/>
                  <a:pt x="27" y="126"/>
                  <a:pt x="21" y="119"/>
                </a:cubicBezTo>
                <a:cubicBezTo>
                  <a:pt x="14" y="113"/>
                  <a:pt x="9" y="105"/>
                  <a:pt x="6" y="97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1"/>
                  <a:pt x="2" y="52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テキスト ボックス 418"/>
          <p:cNvSpPr txBox="1"/>
          <p:nvPr/>
        </p:nvSpPr>
        <p:spPr>
          <a:xfrm>
            <a:off x="936000" y="4568400"/>
            <a:ext cx="1078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メールアドレス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フリーフォーム 419"/>
          <p:cNvSpPr/>
          <p:nvPr/>
        </p:nvSpPr>
        <p:spPr>
          <a:xfrm>
            <a:off x="584640" y="531468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1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9"/>
                  <a:pt x="79" y="140"/>
                  <a:pt x="70" y="140"/>
                </a:cubicBezTo>
                <a:cubicBezTo>
                  <a:pt x="61" y="140"/>
                  <a:pt x="52" y="139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1"/>
                  <a:pt x="2" y="53"/>
                  <a:pt x="6" y="44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4"/>
                </a:cubicBezTo>
                <a:cubicBezTo>
                  <a:pt x="139" y="53"/>
                  <a:pt x="141" y="61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テキスト ボックス 420"/>
          <p:cNvSpPr txBox="1"/>
          <p:nvPr/>
        </p:nvSpPr>
        <p:spPr>
          <a:xfrm>
            <a:off x="735480" y="4902480"/>
            <a:ext cx="31975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標的型メール訓練実施者が入力することを想定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テキスト ボックス 421"/>
          <p:cNvSpPr txBox="1"/>
          <p:nvPr/>
        </p:nvSpPr>
        <p:spPr>
          <a:xfrm>
            <a:off x="735480" y="5236920"/>
            <a:ext cx="1207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CD34D"/>
                </a:solidFill>
                <a:effectLst/>
                <a:uFillTx/>
                <a:latin typeface="WenQuanYiZenHei"/>
                <a:ea typeface="WenQuanYiZenHei"/>
              </a:rPr>
              <a:t>最大訓練対象者数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テキスト ボックス 422"/>
          <p:cNvSpPr txBox="1"/>
          <p:nvPr/>
        </p:nvSpPr>
        <p:spPr>
          <a:xfrm>
            <a:off x="1938600" y="5241960"/>
            <a:ext cx="428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FCD34D"/>
                </a:solidFill>
                <a:effectLst/>
                <a:uFillTx/>
                <a:latin typeface="DejaVuSans"/>
                <a:ea typeface="DejaVuSans"/>
              </a:rPr>
              <a:t>: 300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テキスト ボックス 423"/>
          <p:cNvSpPr txBox="1"/>
          <p:nvPr/>
        </p:nvSpPr>
        <p:spPr>
          <a:xfrm>
            <a:off x="2365200" y="5236920"/>
            <a:ext cx="151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CD34D"/>
                </a:solidFill>
                <a:effectLst/>
                <a:uFillTx/>
                <a:latin typeface="WenQuanYiZenHei"/>
                <a:ea typeface="WenQuanYiZenHei"/>
              </a:rPr>
              <a:t>名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テキスト ボックス 424"/>
          <p:cNvSpPr txBox="1"/>
          <p:nvPr/>
        </p:nvSpPr>
        <p:spPr>
          <a:xfrm>
            <a:off x="936000" y="5498640"/>
            <a:ext cx="116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(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テキスト ボックス 425"/>
          <p:cNvSpPr txBox="1"/>
          <p:nvPr/>
        </p:nvSpPr>
        <p:spPr>
          <a:xfrm>
            <a:off x="981720" y="5494680"/>
            <a:ext cx="1654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中小企業基本法の定義に基づく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フリーフォーム 426"/>
          <p:cNvSpPr/>
          <p:nvPr/>
        </p:nvSpPr>
        <p:spPr>
          <a:xfrm>
            <a:off x="584640" y="584964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69"/>
                </a:moveTo>
                <a:cubicBezTo>
                  <a:pt x="141" y="79"/>
                  <a:pt x="139" y="88"/>
                  <a:pt x="135" y="97"/>
                </a:cubicBezTo>
                <a:cubicBezTo>
                  <a:pt x="132" y="105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5"/>
                  <a:pt x="6" y="97"/>
                </a:cubicBezTo>
                <a:cubicBezTo>
                  <a:pt x="2" y="88"/>
                  <a:pt x="0" y="79"/>
                  <a:pt x="0" y="69"/>
                </a:cubicBezTo>
                <a:cubicBezTo>
                  <a:pt x="0" y="60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8"/>
                  <a:pt x="43" y="5"/>
                </a:cubicBezTo>
                <a:cubicBezTo>
                  <a:pt x="52" y="1"/>
                  <a:pt x="61" y="0"/>
                  <a:pt x="70" y="0"/>
                </a:cubicBezTo>
                <a:cubicBezTo>
                  <a:pt x="79" y="0"/>
                  <a:pt x="88" y="1"/>
                  <a:pt x="97" y="5"/>
                </a:cubicBezTo>
                <a:cubicBezTo>
                  <a:pt x="105" y="8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0"/>
                  <a:pt x="141" y="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テキスト ボックス 427"/>
          <p:cNvSpPr txBox="1"/>
          <p:nvPr/>
        </p:nvSpPr>
        <p:spPr>
          <a:xfrm>
            <a:off x="2619360" y="5498640"/>
            <a:ext cx="116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)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フリーフォーム 428"/>
          <p:cNvSpPr/>
          <p:nvPr/>
        </p:nvSpPr>
        <p:spPr>
          <a:xfrm>
            <a:off x="5540400" y="835560"/>
            <a:ext cx="4822200" cy="5482440"/>
          </a:xfrm>
          <a:custGeom>
            <a:avLst/>
            <a:gdLst/>
            <a:ahLst/>
            <a:cxnLst/>
            <a:rect l="0" t="0" r="r" b="b"/>
            <a:pathLst>
              <a:path w="13395" h="15229">
                <a:moveTo>
                  <a:pt x="0" y="15043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3209" y="0"/>
                </a:lnTo>
                <a:cubicBezTo>
                  <a:pt x="13221" y="0"/>
                  <a:pt x="13233" y="1"/>
                  <a:pt x="13245" y="3"/>
                </a:cubicBezTo>
                <a:cubicBezTo>
                  <a:pt x="13257" y="6"/>
                  <a:pt x="13269" y="9"/>
                  <a:pt x="13280" y="14"/>
                </a:cubicBezTo>
                <a:cubicBezTo>
                  <a:pt x="13291" y="19"/>
                  <a:pt x="13302" y="24"/>
                  <a:pt x="13312" y="31"/>
                </a:cubicBezTo>
                <a:cubicBezTo>
                  <a:pt x="13322" y="38"/>
                  <a:pt x="13332" y="46"/>
                  <a:pt x="13340" y="54"/>
                </a:cubicBezTo>
                <a:cubicBezTo>
                  <a:pt x="13349" y="63"/>
                  <a:pt x="13357" y="72"/>
                  <a:pt x="13363" y="82"/>
                </a:cubicBezTo>
                <a:cubicBezTo>
                  <a:pt x="13370" y="92"/>
                  <a:pt x="13376" y="103"/>
                  <a:pt x="13381" y="114"/>
                </a:cubicBezTo>
                <a:cubicBezTo>
                  <a:pt x="13385" y="126"/>
                  <a:pt x="13389" y="137"/>
                  <a:pt x="13391" y="149"/>
                </a:cubicBezTo>
                <a:cubicBezTo>
                  <a:pt x="13393" y="161"/>
                  <a:pt x="13395" y="173"/>
                  <a:pt x="13395" y="186"/>
                </a:cubicBezTo>
                <a:lnTo>
                  <a:pt x="13395" y="15043"/>
                </a:lnTo>
                <a:cubicBezTo>
                  <a:pt x="13395" y="15055"/>
                  <a:pt x="13393" y="15067"/>
                  <a:pt x="13391" y="15079"/>
                </a:cubicBezTo>
                <a:cubicBezTo>
                  <a:pt x="13389" y="15091"/>
                  <a:pt x="13385" y="15103"/>
                  <a:pt x="13381" y="15114"/>
                </a:cubicBezTo>
                <a:cubicBezTo>
                  <a:pt x="13376" y="15125"/>
                  <a:pt x="13370" y="15136"/>
                  <a:pt x="13363" y="15146"/>
                </a:cubicBezTo>
                <a:cubicBezTo>
                  <a:pt x="13357" y="15156"/>
                  <a:pt x="13349" y="15166"/>
                  <a:pt x="13340" y="15174"/>
                </a:cubicBezTo>
                <a:cubicBezTo>
                  <a:pt x="13332" y="15183"/>
                  <a:pt x="13322" y="15190"/>
                  <a:pt x="13312" y="15197"/>
                </a:cubicBezTo>
                <a:cubicBezTo>
                  <a:pt x="13302" y="15204"/>
                  <a:pt x="13291" y="15210"/>
                  <a:pt x="13280" y="15214"/>
                </a:cubicBezTo>
                <a:cubicBezTo>
                  <a:pt x="13269" y="15219"/>
                  <a:pt x="13257" y="15223"/>
                  <a:pt x="13245" y="15225"/>
                </a:cubicBezTo>
                <a:cubicBezTo>
                  <a:pt x="13233" y="15227"/>
                  <a:pt x="13221" y="15229"/>
                  <a:pt x="13209" y="15229"/>
                </a:cubicBezTo>
                <a:lnTo>
                  <a:pt x="185" y="15229"/>
                </a:lnTo>
                <a:cubicBezTo>
                  <a:pt x="173" y="15229"/>
                  <a:pt x="161" y="15227"/>
                  <a:pt x="149" y="15225"/>
                </a:cubicBezTo>
                <a:cubicBezTo>
                  <a:pt x="137" y="15223"/>
                  <a:pt x="126" y="15219"/>
                  <a:pt x="114" y="15214"/>
                </a:cubicBezTo>
                <a:cubicBezTo>
                  <a:pt x="103" y="15210"/>
                  <a:pt x="92" y="15204"/>
                  <a:pt x="82" y="15197"/>
                </a:cubicBezTo>
                <a:cubicBezTo>
                  <a:pt x="72" y="15190"/>
                  <a:pt x="63" y="15183"/>
                  <a:pt x="54" y="15174"/>
                </a:cubicBezTo>
                <a:cubicBezTo>
                  <a:pt x="46" y="15166"/>
                  <a:pt x="38" y="15156"/>
                  <a:pt x="31" y="15146"/>
                </a:cubicBezTo>
                <a:cubicBezTo>
                  <a:pt x="24" y="15136"/>
                  <a:pt x="19" y="15125"/>
                  <a:pt x="14" y="15114"/>
                </a:cubicBezTo>
                <a:cubicBezTo>
                  <a:pt x="9" y="15103"/>
                  <a:pt x="6" y="15091"/>
                  <a:pt x="3" y="15079"/>
                </a:cubicBezTo>
                <a:cubicBezTo>
                  <a:pt x="1" y="15067"/>
                  <a:pt x="0" y="15055"/>
                  <a:pt x="0" y="15043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フリーフォーム 429"/>
          <p:cNvSpPr/>
          <p:nvPr/>
        </p:nvSpPr>
        <p:spPr>
          <a:xfrm>
            <a:off x="5740920" y="4846680"/>
            <a:ext cx="4421160" cy="1270440"/>
          </a:xfrm>
          <a:custGeom>
            <a:avLst/>
            <a:gdLst/>
            <a:ahLst/>
            <a:cxnLst/>
            <a:rect l="0" t="0" r="r" b="b"/>
            <a:pathLst>
              <a:path w="12281" h="3529">
                <a:moveTo>
                  <a:pt x="0" y="3344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12095" y="0"/>
                </a:lnTo>
                <a:cubicBezTo>
                  <a:pt x="12107" y="0"/>
                  <a:pt x="12119" y="1"/>
                  <a:pt x="12131" y="4"/>
                </a:cubicBezTo>
                <a:cubicBezTo>
                  <a:pt x="12143" y="6"/>
                  <a:pt x="12155" y="10"/>
                  <a:pt x="12166" y="14"/>
                </a:cubicBezTo>
                <a:cubicBezTo>
                  <a:pt x="12177" y="19"/>
                  <a:pt x="12188" y="25"/>
                  <a:pt x="12198" y="31"/>
                </a:cubicBezTo>
                <a:cubicBezTo>
                  <a:pt x="12208" y="38"/>
                  <a:pt x="12218" y="46"/>
                  <a:pt x="12226" y="54"/>
                </a:cubicBezTo>
                <a:cubicBezTo>
                  <a:pt x="12235" y="63"/>
                  <a:pt x="12242" y="72"/>
                  <a:pt x="12249" y="83"/>
                </a:cubicBezTo>
                <a:cubicBezTo>
                  <a:pt x="12256" y="93"/>
                  <a:pt x="12262" y="103"/>
                  <a:pt x="12266" y="115"/>
                </a:cubicBezTo>
                <a:cubicBezTo>
                  <a:pt x="12271" y="126"/>
                  <a:pt x="12275" y="138"/>
                  <a:pt x="12277" y="150"/>
                </a:cubicBezTo>
                <a:cubicBezTo>
                  <a:pt x="12279" y="162"/>
                  <a:pt x="12281" y="174"/>
                  <a:pt x="12281" y="186"/>
                </a:cubicBezTo>
                <a:lnTo>
                  <a:pt x="12281" y="3344"/>
                </a:lnTo>
                <a:cubicBezTo>
                  <a:pt x="12281" y="3356"/>
                  <a:pt x="12279" y="3368"/>
                  <a:pt x="12277" y="3380"/>
                </a:cubicBezTo>
                <a:cubicBezTo>
                  <a:pt x="12275" y="3392"/>
                  <a:pt x="12271" y="3404"/>
                  <a:pt x="12266" y="3415"/>
                </a:cubicBezTo>
                <a:cubicBezTo>
                  <a:pt x="12262" y="3426"/>
                  <a:pt x="12256" y="3437"/>
                  <a:pt x="12249" y="3447"/>
                </a:cubicBezTo>
                <a:cubicBezTo>
                  <a:pt x="12242" y="3457"/>
                  <a:pt x="12235" y="3466"/>
                  <a:pt x="12226" y="3475"/>
                </a:cubicBezTo>
                <a:cubicBezTo>
                  <a:pt x="12218" y="3484"/>
                  <a:pt x="12208" y="3491"/>
                  <a:pt x="12198" y="3498"/>
                </a:cubicBezTo>
                <a:cubicBezTo>
                  <a:pt x="12188" y="3505"/>
                  <a:pt x="12177" y="3511"/>
                  <a:pt x="12166" y="3515"/>
                </a:cubicBezTo>
                <a:cubicBezTo>
                  <a:pt x="12155" y="3520"/>
                  <a:pt x="12143" y="3524"/>
                  <a:pt x="12131" y="3526"/>
                </a:cubicBezTo>
                <a:cubicBezTo>
                  <a:pt x="12119" y="3528"/>
                  <a:pt x="12107" y="3529"/>
                  <a:pt x="12095" y="3529"/>
                </a:cubicBezTo>
                <a:lnTo>
                  <a:pt x="186" y="3529"/>
                </a:lnTo>
                <a:cubicBezTo>
                  <a:pt x="173" y="3529"/>
                  <a:pt x="161" y="3528"/>
                  <a:pt x="149" y="3526"/>
                </a:cubicBezTo>
                <a:cubicBezTo>
                  <a:pt x="137" y="3524"/>
                  <a:pt x="126" y="3520"/>
                  <a:pt x="115" y="3515"/>
                </a:cubicBezTo>
                <a:cubicBezTo>
                  <a:pt x="103" y="3511"/>
                  <a:pt x="93" y="3505"/>
                  <a:pt x="82" y="3498"/>
                </a:cubicBezTo>
                <a:cubicBezTo>
                  <a:pt x="72" y="3491"/>
                  <a:pt x="63" y="3484"/>
                  <a:pt x="54" y="3475"/>
                </a:cubicBezTo>
                <a:cubicBezTo>
                  <a:pt x="46" y="3466"/>
                  <a:pt x="38" y="3457"/>
                  <a:pt x="31" y="3447"/>
                </a:cubicBezTo>
                <a:cubicBezTo>
                  <a:pt x="24" y="3437"/>
                  <a:pt x="19" y="3426"/>
                  <a:pt x="14" y="3415"/>
                </a:cubicBezTo>
                <a:cubicBezTo>
                  <a:pt x="9" y="3404"/>
                  <a:pt x="6" y="3392"/>
                  <a:pt x="3" y="3380"/>
                </a:cubicBezTo>
                <a:cubicBezTo>
                  <a:pt x="1" y="3368"/>
                  <a:pt x="0" y="3356"/>
                  <a:pt x="0" y="3344"/>
                </a:cubicBezTo>
                <a:close/>
              </a:path>
            </a:pathLst>
          </a:custGeom>
          <a:solidFill>
            <a:srgbClr val="1E3A8A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31" name="図 430"/>
          <p:cNvPicPr/>
          <p:nvPr/>
        </p:nvPicPr>
        <p:blipFill>
          <a:blip r:embed="rId5"/>
          <a:stretch/>
        </p:blipFill>
        <p:spPr>
          <a:xfrm>
            <a:off x="5740920" y="1069560"/>
            <a:ext cx="2253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2" name="テキスト ボックス 431"/>
          <p:cNvSpPr txBox="1"/>
          <p:nvPr/>
        </p:nvSpPr>
        <p:spPr>
          <a:xfrm>
            <a:off x="735480" y="5771520"/>
            <a:ext cx="30430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部や課単位での訓練なら大企業でも利用可能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フリーフォーム 432"/>
          <p:cNvSpPr/>
          <p:nvPr/>
        </p:nvSpPr>
        <p:spPr>
          <a:xfrm>
            <a:off x="6091920" y="1445400"/>
            <a:ext cx="3719160" cy="3192840"/>
          </a:xfrm>
          <a:custGeom>
            <a:avLst/>
            <a:gdLst/>
            <a:ahLst/>
            <a:cxnLst/>
            <a:rect l="0" t="0" r="r" b="b"/>
            <a:pathLst>
              <a:path w="10331" h="8869" fill="none">
                <a:moveTo>
                  <a:pt x="0" y="8706"/>
                </a:moveTo>
                <a:lnTo>
                  <a:pt x="0" y="163"/>
                </a:lnTo>
                <a:cubicBezTo>
                  <a:pt x="0" y="152"/>
                  <a:pt x="1" y="142"/>
                  <a:pt x="3" y="131"/>
                </a:cubicBezTo>
                <a:cubicBezTo>
                  <a:pt x="5" y="121"/>
                  <a:pt x="8" y="111"/>
                  <a:pt x="12" y="101"/>
                </a:cubicBezTo>
                <a:cubicBezTo>
                  <a:pt x="16" y="91"/>
                  <a:pt x="21" y="81"/>
                  <a:pt x="27" y="73"/>
                </a:cubicBezTo>
                <a:cubicBezTo>
                  <a:pt x="33" y="64"/>
                  <a:pt x="40" y="55"/>
                  <a:pt x="47" y="48"/>
                </a:cubicBezTo>
                <a:cubicBezTo>
                  <a:pt x="55" y="40"/>
                  <a:pt x="63" y="34"/>
                  <a:pt x="72" y="28"/>
                </a:cubicBezTo>
                <a:cubicBezTo>
                  <a:pt x="81" y="22"/>
                  <a:pt x="90" y="17"/>
                  <a:pt x="100" y="13"/>
                </a:cubicBezTo>
                <a:cubicBezTo>
                  <a:pt x="110" y="9"/>
                  <a:pt x="120" y="6"/>
                  <a:pt x="131" y="3"/>
                </a:cubicBezTo>
                <a:cubicBezTo>
                  <a:pt x="141" y="1"/>
                  <a:pt x="152" y="0"/>
                  <a:pt x="162" y="0"/>
                </a:cubicBezTo>
                <a:lnTo>
                  <a:pt x="10168" y="0"/>
                </a:lnTo>
                <a:cubicBezTo>
                  <a:pt x="10179" y="0"/>
                  <a:pt x="10189" y="1"/>
                  <a:pt x="10200" y="3"/>
                </a:cubicBezTo>
                <a:cubicBezTo>
                  <a:pt x="10210" y="6"/>
                  <a:pt x="10220" y="9"/>
                  <a:pt x="10230" y="13"/>
                </a:cubicBezTo>
                <a:cubicBezTo>
                  <a:pt x="10240" y="17"/>
                  <a:pt x="10250" y="22"/>
                  <a:pt x="10258" y="28"/>
                </a:cubicBezTo>
                <a:cubicBezTo>
                  <a:pt x="10267" y="34"/>
                  <a:pt x="10275" y="40"/>
                  <a:pt x="10283" y="48"/>
                </a:cubicBezTo>
                <a:cubicBezTo>
                  <a:pt x="10291" y="55"/>
                  <a:pt x="10297" y="64"/>
                  <a:pt x="10303" y="73"/>
                </a:cubicBezTo>
                <a:cubicBezTo>
                  <a:pt x="10309" y="81"/>
                  <a:pt x="10314" y="91"/>
                  <a:pt x="10318" y="101"/>
                </a:cubicBezTo>
                <a:cubicBezTo>
                  <a:pt x="10322" y="111"/>
                  <a:pt x="10325" y="121"/>
                  <a:pt x="10328" y="131"/>
                </a:cubicBezTo>
                <a:cubicBezTo>
                  <a:pt x="10330" y="142"/>
                  <a:pt x="10331" y="152"/>
                  <a:pt x="10331" y="163"/>
                </a:cubicBezTo>
                <a:lnTo>
                  <a:pt x="10331" y="8706"/>
                </a:lnTo>
                <a:cubicBezTo>
                  <a:pt x="10331" y="8717"/>
                  <a:pt x="10330" y="8727"/>
                  <a:pt x="10328" y="8738"/>
                </a:cubicBezTo>
                <a:cubicBezTo>
                  <a:pt x="10325" y="8748"/>
                  <a:pt x="10322" y="8759"/>
                  <a:pt x="10318" y="8768"/>
                </a:cubicBezTo>
                <a:cubicBezTo>
                  <a:pt x="10314" y="8778"/>
                  <a:pt x="10309" y="8788"/>
                  <a:pt x="10303" y="8797"/>
                </a:cubicBezTo>
                <a:cubicBezTo>
                  <a:pt x="10297" y="8805"/>
                  <a:pt x="10291" y="8814"/>
                  <a:pt x="10283" y="8821"/>
                </a:cubicBezTo>
                <a:cubicBezTo>
                  <a:pt x="10275" y="8829"/>
                  <a:pt x="10267" y="8835"/>
                  <a:pt x="10258" y="8841"/>
                </a:cubicBezTo>
                <a:cubicBezTo>
                  <a:pt x="10250" y="8847"/>
                  <a:pt x="10240" y="8852"/>
                  <a:pt x="10230" y="8856"/>
                </a:cubicBezTo>
                <a:cubicBezTo>
                  <a:pt x="10220" y="8860"/>
                  <a:pt x="10210" y="8864"/>
                  <a:pt x="10200" y="8866"/>
                </a:cubicBezTo>
                <a:cubicBezTo>
                  <a:pt x="10189" y="8868"/>
                  <a:pt x="10179" y="8869"/>
                  <a:pt x="10168" y="8869"/>
                </a:cubicBezTo>
                <a:lnTo>
                  <a:pt x="162" y="8869"/>
                </a:lnTo>
                <a:cubicBezTo>
                  <a:pt x="152" y="8869"/>
                  <a:pt x="141" y="8868"/>
                  <a:pt x="131" y="8866"/>
                </a:cubicBezTo>
                <a:cubicBezTo>
                  <a:pt x="120" y="8864"/>
                  <a:pt x="110" y="8860"/>
                  <a:pt x="100" y="8856"/>
                </a:cubicBezTo>
                <a:cubicBezTo>
                  <a:pt x="90" y="8852"/>
                  <a:pt x="81" y="8847"/>
                  <a:pt x="72" y="8841"/>
                </a:cubicBezTo>
                <a:cubicBezTo>
                  <a:pt x="63" y="8835"/>
                  <a:pt x="55" y="8829"/>
                  <a:pt x="47" y="8821"/>
                </a:cubicBezTo>
                <a:cubicBezTo>
                  <a:pt x="40" y="8814"/>
                  <a:pt x="33" y="8805"/>
                  <a:pt x="27" y="8797"/>
                </a:cubicBezTo>
                <a:cubicBezTo>
                  <a:pt x="21" y="8788"/>
                  <a:pt x="16" y="8778"/>
                  <a:pt x="12" y="8768"/>
                </a:cubicBezTo>
                <a:cubicBezTo>
                  <a:pt x="8" y="8759"/>
                  <a:pt x="5" y="8748"/>
                  <a:pt x="3" y="8738"/>
                </a:cubicBezTo>
                <a:cubicBezTo>
                  <a:pt x="1" y="8727"/>
                  <a:pt x="0" y="8717"/>
                  <a:pt x="0" y="8706"/>
                </a:cubicBezTo>
              </a:path>
            </a:pathLst>
          </a:custGeom>
          <a:ln w="16560">
            <a:solidFill>
              <a:srgbClr val="93C5FD"/>
            </a:solidFill>
            <a:miter/>
          </a:ln>
        </p:spPr>
        <p:txBody>
          <a:bodyPr lIns="8280" tIns="8280" rIns="8280" bIns="82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4" name="図 433"/>
          <p:cNvPicPr/>
          <p:nvPr/>
        </p:nvPicPr>
        <p:blipFill>
          <a:blip r:embed="rId6"/>
          <a:stretch/>
        </p:blipFill>
        <p:spPr>
          <a:xfrm>
            <a:off x="6100560" y="1454040"/>
            <a:ext cx="3701520" cy="317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図 434"/>
          <p:cNvPicPr/>
          <p:nvPr/>
        </p:nvPicPr>
        <p:blipFill>
          <a:blip r:embed="rId7"/>
          <a:stretch/>
        </p:blipFill>
        <p:spPr>
          <a:xfrm>
            <a:off x="5874840" y="50140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テキスト ボックス 435"/>
          <p:cNvSpPr txBox="1"/>
          <p:nvPr/>
        </p:nvSpPr>
        <p:spPr>
          <a:xfrm>
            <a:off x="6067080" y="1043640"/>
            <a:ext cx="28501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メール送信機能のシーケンス図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テキスト ボックス 436"/>
          <p:cNvSpPr txBox="1"/>
          <p:nvPr/>
        </p:nvSpPr>
        <p:spPr>
          <a:xfrm>
            <a:off x="6108840" y="5001120"/>
            <a:ext cx="372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テキスト ボックス 437"/>
          <p:cNvSpPr txBox="1"/>
          <p:nvPr/>
        </p:nvSpPr>
        <p:spPr>
          <a:xfrm>
            <a:off x="6479640" y="4995000"/>
            <a:ext cx="13615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パラメータの役割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テキスト ボックス 438"/>
          <p:cNvSpPr txBox="1"/>
          <p:nvPr/>
        </p:nvSpPr>
        <p:spPr>
          <a:xfrm>
            <a:off x="5874840" y="5303880"/>
            <a:ext cx="30571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訓練者ごとに設定されたユニークな数値は、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テキスト ボックス 439"/>
          <p:cNvSpPr txBox="1"/>
          <p:nvPr/>
        </p:nvSpPr>
        <p:spPr>
          <a:xfrm>
            <a:off x="8883000" y="5308920"/>
            <a:ext cx="299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テキスト ボックス 440"/>
          <p:cNvSpPr txBox="1"/>
          <p:nvPr/>
        </p:nvSpPr>
        <p:spPr>
          <a:xfrm>
            <a:off x="9181440" y="5303880"/>
            <a:ext cx="7693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クリック者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テキスト ボックス 441"/>
          <p:cNvSpPr txBox="1"/>
          <p:nvPr/>
        </p:nvSpPr>
        <p:spPr>
          <a:xfrm>
            <a:off x="5874840" y="5537880"/>
            <a:ext cx="413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検知機能において</a:t>
            </a:r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クリックした訓練者を特定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するために使用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3" name="図 442"/>
          <p:cNvPicPr/>
          <p:nvPr/>
        </p:nvPicPr>
        <p:blipFill>
          <a:blip r:embed="rId8"/>
          <a:stretch/>
        </p:blipFill>
        <p:spPr>
          <a:xfrm>
            <a:off x="10053000" y="6284160"/>
            <a:ext cx="50940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テキスト ボックス 443"/>
          <p:cNvSpPr txBox="1"/>
          <p:nvPr/>
        </p:nvSpPr>
        <p:spPr>
          <a:xfrm>
            <a:off x="5874840" y="5771520"/>
            <a:ext cx="7693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されます。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図 444"/>
          <p:cNvPicPr/>
          <p:nvPr/>
        </p:nvPicPr>
        <p:blipFill>
          <a:blip r:embed="rId2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テキスト ボックス 445"/>
          <p:cNvSpPr txBox="1"/>
          <p:nvPr/>
        </p:nvSpPr>
        <p:spPr>
          <a:xfrm>
            <a:off x="334440" y="335520"/>
            <a:ext cx="558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テキスト ボックス 446"/>
          <p:cNvSpPr txBox="1"/>
          <p:nvPr/>
        </p:nvSpPr>
        <p:spPr>
          <a:xfrm>
            <a:off x="890640" y="326880"/>
            <a:ext cx="304776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79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クリック者検知機能の詳細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フリーフォーム 447"/>
          <p:cNvSpPr/>
          <p:nvPr/>
        </p:nvSpPr>
        <p:spPr>
          <a:xfrm>
            <a:off x="2857680" y="1244880"/>
            <a:ext cx="167760" cy="251280"/>
          </a:xfrm>
          <a:custGeom>
            <a:avLst/>
            <a:gdLst/>
            <a:ahLst/>
            <a:cxnLst/>
            <a:rect l="0" t="0" r="r" b="b"/>
            <a:pathLst>
              <a:path w="466" h="698">
                <a:moveTo>
                  <a:pt x="0" y="0"/>
                </a:moveTo>
                <a:lnTo>
                  <a:pt x="0" y="698"/>
                </a:lnTo>
                <a:lnTo>
                  <a:pt x="466" y="348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フリーフォーム 448"/>
          <p:cNvSpPr/>
          <p:nvPr/>
        </p:nvSpPr>
        <p:spPr>
          <a:xfrm>
            <a:off x="5264640" y="1244880"/>
            <a:ext cx="167400" cy="251280"/>
          </a:xfrm>
          <a:custGeom>
            <a:avLst/>
            <a:gdLst/>
            <a:ahLst/>
            <a:cxnLst/>
            <a:rect l="0" t="0" r="r" b="b"/>
            <a:pathLst>
              <a:path w="465" h="698">
                <a:moveTo>
                  <a:pt x="0" y="0"/>
                </a:moveTo>
                <a:lnTo>
                  <a:pt x="0" y="698"/>
                </a:lnTo>
                <a:lnTo>
                  <a:pt x="465" y="348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フリーフォーム 449"/>
          <p:cNvSpPr/>
          <p:nvPr/>
        </p:nvSpPr>
        <p:spPr>
          <a:xfrm>
            <a:off x="7671240" y="1244880"/>
            <a:ext cx="167400" cy="251280"/>
          </a:xfrm>
          <a:custGeom>
            <a:avLst/>
            <a:gdLst/>
            <a:ahLst/>
            <a:cxnLst/>
            <a:rect l="0" t="0" r="r" b="b"/>
            <a:pathLst>
              <a:path w="465" h="698">
                <a:moveTo>
                  <a:pt x="0" y="0"/>
                </a:moveTo>
                <a:lnTo>
                  <a:pt x="0" y="698"/>
                </a:lnTo>
                <a:lnTo>
                  <a:pt x="465" y="348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フリーフォーム 450"/>
          <p:cNvSpPr/>
          <p:nvPr/>
        </p:nvSpPr>
        <p:spPr>
          <a:xfrm>
            <a:off x="668520" y="835560"/>
            <a:ext cx="2139480" cy="1069920"/>
          </a:xfrm>
          <a:custGeom>
            <a:avLst/>
            <a:gdLst/>
            <a:ahLst/>
            <a:cxnLst/>
            <a:rect l="0" t="0" r="r" b="b"/>
            <a:pathLst>
              <a:path w="5943" h="2972">
                <a:moveTo>
                  <a:pt x="0" y="2786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5757" y="0"/>
                </a:lnTo>
                <a:cubicBezTo>
                  <a:pt x="5770" y="0"/>
                  <a:pt x="5782" y="1"/>
                  <a:pt x="5794" y="3"/>
                </a:cubicBezTo>
                <a:cubicBezTo>
                  <a:pt x="5806" y="6"/>
                  <a:pt x="5817" y="9"/>
                  <a:pt x="5828" y="14"/>
                </a:cubicBezTo>
                <a:cubicBezTo>
                  <a:pt x="5840" y="19"/>
                  <a:pt x="5850" y="24"/>
                  <a:pt x="5861" y="31"/>
                </a:cubicBezTo>
                <a:cubicBezTo>
                  <a:pt x="5871" y="38"/>
                  <a:pt x="5880" y="46"/>
                  <a:pt x="5889" y="54"/>
                </a:cubicBezTo>
                <a:cubicBezTo>
                  <a:pt x="5897" y="63"/>
                  <a:pt x="5905" y="72"/>
                  <a:pt x="5912" y="82"/>
                </a:cubicBezTo>
                <a:cubicBezTo>
                  <a:pt x="5919" y="92"/>
                  <a:pt x="5924" y="103"/>
                  <a:pt x="5929" y="114"/>
                </a:cubicBezTo>
                <a:cubicBezTo>
                  <a:pt x="5934" y="126"/>
                  <a:pt x="5937" y="137"/>
                  <a:pt x="5940" y="149"/>
                </a:cubicBezTo>
                <a:cubicBezTo>
                  <a:pt x="5942" y="161"/>
                  <a:pt x="5943" y="173"/>
                  <a:pt x="5943" y="186"/>
                </a:cubicBezTo>
                <a:lnTo>
                  <a:pt x="5943" y="2786"/>
                </a:lnTo>
                <a:cubicBezTo>
                  <a:pt x="5943" y="2799"/>
                  <a:pt x="5942" y="2811"/>
                  <a:pt x="5940" y="2823"/>
                </a:cubicBezTo>
                <a:cubicBezTo>
                  <a:pt x="5937" y="2835"/>
                  <a:pt x="5934" y="2846"/>
                  <a:pt x="5929" y="2857"/>
                </a:cubicBezTo>
                <a:cubicBezTo>
                  <a:pt x="5924" y="2869"/>
                  <a:pt x="5919" y="2879"/>
                  <a:pt x="5912" y="2890"/>
                </a:cubicBezTo>
                <a:cubicBezTo>
                  <a:pt x="5905" y="2900"/>
                  <a:pt x="5897" y="2909"/>
                  <a:pt x="5889" y="2918"/>
                </a:cubicBezTo>
                <a:cubicBezTo>
                  <a:pt x="5880" y="2926"/>
                  <a:pt x="5871" y="2934"/>
                  <a:pt x="5861" y="2941"/>
                </a:cubicBezTo>
                <a:cubicBezTo>
                  <a:pt x="5850" y="2948"/>
                  <a:pt x="5840" y="2953"/>
                  <a:pt x="5828" y="2958"/>
                </a:cubicBezTo>
                <a:cubicBezTo>
                  <a:pt x="5817" y="2963"/>
                  <a:pt x="5806" y="2966"/>
                  <a:pt x="5794" y="2969"/>
                </a:cubicBezTo>
                <a:cubicBezTo>
                  <a:pt x="5782" y="2971"/>
                  <a:pt x="5770" y="2972"/>
                  <a:pt x="5757" y="2972"/>
                </a:cubicBezTo>
                <a:lnTo>
                  <a:pt x="185" y="2972"/>
                </a:lnTo>
                <a:cubicBezTo>
                  <a:pt x="173" y="2972"/>
                  <a:pt x="161" y="2971"/>
                  <a:pt x="149" y="2969"/>
                </a:cubicBezTo>
                <a:cubicBezTo>
                  <a:pt x="137" y="2966"/>
                  <a:pt x="125" y="2963"/>
                  <a:pt x="114" y="2958"/>
                </a:cubicBezTo>
                <a:cubicBezTo>
                  <a:pt x="103" y="2953"/>
                  <a:pt x="92" y="2948"/>
                  <a:pt x="82" y="2941"/>
                </a:cubicBezTo>
                <a:cubicBezTo>
                  <a:pt x="72" y="2934"/>
                  <a:pt x="63" y="2926"/>
                  <a:pt x="54" y="2918"/>
                </a:cubicBezTo>
                <a:cubicBezTo>
                  <a:pt x="45" y="2909"/>
                  <a:pt x="38" y="2900"/>
                  <a:pt x="31" y="2890"/>
                </a:cubicBezTo>
                <a:cubicBezTo>
                  <a:pt x="24" y="2879"/>
                  <a:pt x="18" y="2869"/>
                  <a:pt x="14" y="2857"/>
                </a:cubicBezTo>
                <a:cubicBezTo>
                  <a:pt x="9" y="2846"/>
                  <a:pt x="5" y="2835"/>
                  <a:pt x="3" y="2823"/>
                </a:cubicBezTo>
                <a:cubicBezTo>
                  <a:pt x="1" y="2811"/>
                  <a:pt x="0" y="2799"/>
                  <a:pt x="0" y="2786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2" name="図 451"/>
          <p:cNvPicPr/>
          <p:nvPr/>
        </p:nvPicPr>
        <p:blipFill>
          <a:blip r:embed="rId3"/>
          <a:stretch/>
        </p:blipFill>
        <p:spPr>
          <a:xfrm>
            <a:off x="1587600" y="96948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テキスト ボックス 452"/>
          <p:cNvSpPr txBox="1"/>
          <p:nvPr/>
        </p:nvSpPr>
        <p:spPr>
          <a:xfrm>
            <a:off x="9880560" y="388080"/>
            <a:ext cx="4838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9 / 12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テキスト ボックス 453"/>
          <p:cNvSpPr txBox="1"/>
          <p:nvPr/>
        </p:nvSpPr>
        <p:spPr>
          <a:xfrm>
            <a:off x="1287000" y="1392840"/>
            <a:ext cx="912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訓練用メール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テキスト ボックス 454"/>
          <p:cNvSpPr txBox="1"/>
          <p:nvPr/>
        </p:nvSpPr>
        <p:spPr>
          <a:xfrm>
            <a:off x="1095480" y="1617120"/>
            <a:ext cx="235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固有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テキスト ボックス 455"/>
          <p:cNvSpPr txBox="1"/>
          <p:nvPr/>
        </p:nvSpPr>
        <p:spPr>
          <a:xfrm>
            <a:off x="1329480" y="1621440"/>
            <a:ext cx="233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フリーフォーム 456"/>
          <p:cNvSpPr/>
          <p:nvPr/>
        </p:nvSpPr>
        <p:spPr>
          <a:xfrm>
            <a:off x="3075120" y="835560"/>
            <a:ext cx="2139480" cy="1069920"/>
          </a:xfrm>
          <a:custGeom>
            <a:avLst/>
            <a:gdLst/>
            <a:ahLst/>
            <a:cxnLst/>
            <a:rect l="0" t="0" r="r" b="b"/>
            <a:pathLst>
              <a:path w="5943" h="2972">
                <a:moveTo>
                  <a:pt x="0" y="2786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5758" y="0"/>
                </a:lnTo>
                <a:cubicBezTo>
                  <a:pt x="5770" y="0"/>
                  <a:pt x="5782" y="1"/>
                  <a:pt x="5794" y="3"/>
                </a:cubicBezTo>
                <a:cubicBezTo>
                  <a:pt x="5806" y="6"/>
                  <a:pt x="5818" y="9"/>
                  <a:pt x="5829" y="14"/>
                </a:cubicBezTo>
                <a:cubicBezTo>
                  <a:pt x="5840" y="19"/>
                  <a:pt x="5851" y="24"/>
                  <a:pt x="5861" y="31"/>
                </a:cubicBezTo>
                <a:cubicBezTo>
                  <a:pt x="5871" y="38"/>
                  <a:pt x="5880" y="46"/>
                  <a:pt x="5889" y="54"/>
                </a:cubicBezTo>
                <a:cubicBezTo>
                  <a:pt x="5898" y="63"/>
                  <a:pt x="5905" y="72"/>
                  <a:pt x="5912" y="82"/>
                </a:cubicBezTo>
                <a:cubicBezTo>
                  <a:pt x="5919" y="92"/>
                  <a:pt x="5925" y="103"/>
                  <a:pt x="5929" y="114"/>
                </a:cubicBezTo>
                <a:cubicBezTo>
                  <a:pt x="5934" y="126"/>
                  <a:pt x="5937" y="137"/>
                  <a:pt x="5940" y="149"/>
                </a:cubicBezTo>
                <a:cubicBezTo>
                  <a:pt x="5942" y="161"/>
                  <a:pt x="5943" y="173"/>
                  <a:pt x="5943" y="186"/>
                </a:cubicBezTo>
                <a:lnTo>
                  <a:pt x="5943" y="2786"/>
                </a:lnTo>
                <a:cubicBezTo>
                  <a:pt x="5943" y="2799"/>
                  <a:pt x="5942" y="2811"/>
                  <a:pt x="5940" y="2823"/>
                </a:cubicBezTo>
                <a:cubicBezTo>
                  <a:pt x="5937" y="2835"/>
                  <a:pt x="5934" y="2846"/>
                  <a:pt x="5929" y="2857"/>
                </a:cubicBezTo>
                <a:cubicBezTo>
                  <a:pt x="5925" y="2869"/>
                  <a:pt x="5919" y="2879"/>
                  <a:pt x="5912" y="2890"/>
                </a:cubicBezTo>
                <a:cubicBezTo>
                  <a:pt x="5905" y="2900"/>
                  <a:pt x="5898" y="2909"/>
                  <a:pt x="5889" y="2918"/>
                </a:cubicBezTo>
                <a:cubicBezTo>
                  <a:pt x="5880" y="2926"/>
                  <a:pt x="5871" y="2934"/>
                  <a:pt x="5861" y="2941"/>
                </a:cubicBezTo>
                <a:cubicBezTo>
                  <a:pt x="5851" y="2948"/>
                  <a:pt x="5840" y="2953"/>
                  <a:pt x="5829" y="2958"/>
                </a:cubicBezTo>
                <a:cubicBezTo>
                  <a:pt x="5818" y="2963"/>
                  <a:pt x="5806" y="2966"/>
                  <a:pt x="5794" y="2969"/>
                </a:cubicBezTo>
                <a:cubicBezTo>
                  <a:pt x="5782" y="2971"/>
                  <a:pt x="5770" y="2972"/>
                  <a:pt x="5758" y="2972"/>
                </a:cubicBezTo>
                <a:lnTo>
                  <a:pt x="186" y="2972"/>
                </a:lnTo>
                <a:cubicBezTo>
                  <a:pt x="173" y="2972"/>
                  <a:pt x="161" y="2971"/>
                  <a:pt x="149" y="2969"/>
                </a:cubicBezTo>
                <a:cubicBezTo>
                  <a:pt x="137" y="2966"/>
                  <a:pt x="126" y="2963"/>
                  <a:pt x="115" y="2958"/>
                </a:cubicBezTo>
                <a:cubicBezTo>
                  <a:pt x="103" y="2953"/>
                  <a:pt x="93" y="2948"/>
                  <a:pt x="82" y="2941"/>
                </a:cubicBezTo>
                <a:cubicBezTo>
                  <a:pt x="72" y="2934"/>
                  <a:pt x="63" y="2926"/>
                  <a:pt x="54" y="2918"/>
                </a:cubicBezTo>
                <a:cubicBezTo>
                  <a:pt x="46" y="2909"/>
                  <a:pt x="38" y="2900"/>
                  <a:pt x="31" y="2890"/>
                </a:cubicBezTo>
                <a:cubicBezTo>
                  <a:pt x="24" y="2879"/>
                  <a:pt x="19" y="2869"/>
                  <a:pt x="14" y="2857"/>
                </a:cubicBezTo>
                <a:cubicBezTo>
                  <a:pt x="9" y="2846"/>
                  <a:pt x="6" y="2835"/>
                  <a:pt x="3" y="2823"/>
                </a:cubicBezTo>
                <a:cubicBezTo>
                  <a:pt x="1" y="2811"/>
                  <a:pt x="0" y="2799"/>
                  <a:pt x="0" y="2786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8" name="図 457"/>
          <p:cNvPicPr/>
          <p:nvPr/>
        </p:nvPicPr>
        <p:blipFill>
          <a:blip r:embed="rId4"/>
          <a:stretch/>
        </p:blipFill>
        <p:spPr>
          <a:xfrm>
            <a:off x="4052880" y="969480"/>
            <a:ext cx="19188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テキスト ボックス 458"/>
          <p:cNvSpPr txBox="1"/>
          <p:nvPr/>
        </p:nvSpPr>
        <p:spPr>
          <a:xfrm>
            <a:off x="1561680" y="1617120"/>
            <a:ext cx="835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パラメータ付き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テキスト ボックス 459"/>
          <p:cNvSpPr txBox="1"/>
          <p:nvPr/>
        </p:nvSpPr>
        <p:spPr>
          <a:xfrm>
            <a:off x="3768840" y="1392840"/>
            <a:ext cx="755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訓練対象者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テキスト ボックス 460"/>
          <p:cNvSpPr txBox="1"/>
          <p:nvPr/>
        </p:nvSpPr>
        <p:spPr>
          <a:xfrm>
            <a:off x="3560760" y="1621440"/>
            <a:ext cx="233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フリーフォーム 461"/>
          <p:cNvSpPr/>
          <p:nvPr/>
        </p:nvSpPr>
        <p:spPr>
          <a:xfrm>
            <a:off x="5481720" y="835560"/>
            <a:ext cx="2139840" cy="1069920"/>
          </a:xfrm>
          <a:custGeom>
            <a:avLst/>
            <a:gdLst/>
            <a:ahLst/>
            <a:cxnLst/>
            <a:rect l="0" t="0" r="r" b="b"/>
            <a:pathLst>
              <a:path w="5944" h="2972">
                <a:moveTo>
                  <a:pt x="0" y="2786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5758" y="0"/>
                </a:lnTo>
                <a:cubicBezTo>
                  <a:pt x="5770" y="0"/>
                  <a:pt x="5782" y="1"/>
                  <a:pt x="5794" y="3"/>
                </a:cubicBezTo>
                <a:cubicBezTo>
                  <a:pt x="5806" y="6"/>
                  <a:pt x="5818" y="9"/>
                  <a:pt x="5829" y="14"/>
                </a:cubicBezTo>
                <a:cubicBezTo>
                  <a:pt x="5840" y="19"/>
                  <a:pt x="5851" y="24"/>
                  <a:pt x="5861" y="31"/>
                </a:cubicBezTo>
                <a:cubicBezTo>
                  <a:pt x="5871" y="38"/>
                  <a:pt x="5881" y="46"/>
                  <a:pt x="5889" y="54"/>
                </a:cubicBezTo>
                <a:cubicBezTo>
                  <a:pt x="5898" y="63"/>
                  <a:pt x="5906" y="72"/>
                  <a:pt x="5913" y="82"/>
                </a:cubicBezTo>
                <a:cubicBezTo>
                  <a:pt x="5919" y="92"/>
                  <a:pt x="5925" y="103"/>
                  <a:pt x="5930" y="114"/>
                </a:cubicBezTo>
                <a:cubicBezTo>
                  <a:pt x="5934" y="126"/>
                  <a:pt x="5938" y="137"/>
                  <a:pt x="5940" y="149"/>
                </a:cubicBezTo>
                <a:cubicBezTo>
                  <a:pt x="5943" y="161"/>
                  <a:pt x="5944" y="173"/>
                  <a:pt x="5944" y="186"/>
                </a:cubicBezTo>
                <a:lnTo>
                  <a:pt x="5944" y="2786"/>
                </a:lnTo>
                <a:cubicBezTo>
                  <a:pt x="5944" y="2799"/>
                  <a:pt x="5943" y="2811"/>
                  <a:pt x="5940" y="2823"/>
                </a:cubicBezTo>
                <a:cubicBezTo>
                  <a:pt x="5938" y="2835"/>
                  <a:pt x="5934" y="2846"/>
                  <a:pt x="5930" y="2857"/>
                </a:cubicBezTo>
                <a:cubicBezTo>
                  <a:pt x="5925" y="2869"/>
                  <a:pt x="5919" y="2879"/>
                  <a:pt x="5913" y="2890"/>
                </a:cubicBezTo>
                <a:cubicBezTo>
                  <a:pt x="5906" y="2900"/>
                  <a:pt x="5898" y="2909"/>
                  <a:pt x="5889" y="2918"/>
                </a:cubicBezTo>
                <a:cubicBezTo>
                  <a:pt x="5881" y="2926"/>
                  <a:pt x="5871" y="2934"/>
                  <a:pt x="5861" y="2941"/>
                </a:cubicBezTo>
                <a:cubicBezTo>
                  <a:pt x="5851" y="2948"/>
                  <a:pt x="5840" y="2953"/>
                  <a:pt x="5829" y="2958"/>
                </a:cubicBezTo>
                <a:cubicBezTo>
                  <a:pt x="5818" y="2963"/>
                  <a:pt x="5806" y="2966"/>
                  <a:pt x="5794" y="2969"/>
                </a:cubicBezTo>
                <a:cubicBezTo>
                  <a:pt x="5782" y="2971"/>
                  <a:pt x="5770" y="2972"/>
                  <a:pt x="5758" y="2972"/>
                </a:cubicBezTo>
                <a:lnTo>
                  <a:pt x="186" y="2972"/>
                </a:lnTo>
                <a:cubicBezTo>
                  <a:pt x="174" y="2972"/>
                  <a:pt x="162" y="2971"/>
                  <a:pt x="150" y="2969"/>
                </a:cubicBezTo>
                <a:cubicBezTo>
                  <a:pt x="138" y="2966"/>
                  <a:pt x="126" y="2963"/>
                  <a:pt x="115" y="2958"/>
                </a:cubicBezTo>
                <a:cubicBezTo>
                  <a:pt x="104" y="2953"/>
                  <a:pt x="93" y="2948"/>
                  <a:pt x="83" y="2941"/>
                </a:cubicBezTo>
                <a:cubicBezTo>
                  <a:pt x="73" y="2934"/>
                  <a:pt x="63" y="2926"/>
                  <a:pt x="55" y="2918"/>
                </a:cubicBezTo>
                <a:cubicBezTo>
                  <a:pt x="46" y="2909"/>
                  <a:pt x="38" y="2900"/>
                  <a:pt x="32" y="2890"/>
                </a:cubicBezTo>
                <a:cubicBezTo>
                  <a:pt x="25" y="2879"/>
                  <a:pt x="19" y="2869"/>
                  <a:pt x="14" y="2857"/>
                </a:cubicBezTo>
                <a:cubicBezTo>
                  <a:pt x="10" y="2846"/>
                  <a:pt x="6" y="2835"/>
                  <a:pt x="4" y="2823"/>
                </a:cubicBezTo>
                <a:cubicBezTo>
                  <a:pt x="1" y="2811"/>
                  <a:pt x="0" y="2799"/>
                  <a:pt x="0" y="2786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3" name="図 462"/>
          <p:cNvPicPr/>
          <p:nvPr/>
        </p:nvPicPr>
        <p:blipFill>
          <a:blip r:embed="rId5"/>
          <a:stretch/>
        </p:blipFill>
        <p:spPr>
          <a:xfrm>
            <a:off x="6367680" y="969480"/>
            <a:ext cx="37584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テキスト ボックス 463"/>
          <p:cNvSpPr txBox="1"/>
          <p:nvPr/>
        </p:nvSpPr>
        <p:spPr>
          <a:xfrm>
            <a:off x="3792960" y="1617120"/>
            <a:ext cx="961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リンクをクリック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テキスト ボックス 464"/>
          <p:cNvSpPr txBox="1"/>
          <p:nvPr/>
        </p:nvSpPr>
        <p:spPr>
          <a:xfrm>
            <a:off x="5989680" y="1397880"/>
            <a:ext cx="1127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Google Cloud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テキスト ボックス 465"/>
          <p:cNvSpPr txBox="1"/>
          <p:nvPr/>
        </p:nvSpPr>
        <p:spPr>
          <a:xfrm>
            <a:off x="6131520" y="1621440"/>
            <a:ext cx="263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Web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フリーフォーム 466"/>
          <p:cNvSpPr/>
          <p:nvPr/>
        </p:nvSpPr>
        <p:spPr>
          <a:xfrm>
            <a:off x="7888680" y="835560"/>
            <a:ext cx="2139480" cy="1069920"/>
          </a:xfrm>
          <a:custGeom>
            <a:avLst/>
            <a:gdLst/>
            <a:ahLst/>
            <a:cxnLst/>
            <a:rect l="0" t="0" r="r" b="b"/>
            <a:pathLst>
              <a:path w="5943" h="2972">
                <a:moveTo>
                  <a:pt x="0" y="2786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5757" y="0"/>
                </a:lnTo>
                <a:cubicBezTo>
                  <a:pt x="5770" y="0"/>
                  <a:pt x="5782" y="1"/>
                  <a:pt x="5794" y="3"/>
                </a:cubicBezTo>
                <a:cubicBezTo>
                  <a:pt x="5806" y="6"/>
                  <a:pt x="5817" y="9"/>
                  <a:pt x="5829" y="14"/>
                </a:cubicBezTo>
                <a:cubicBezTo>
                  <a:pt x="5840" y="19"/>
                  <a:pt x="5850" y="24"/>
                  <a:pt x="5861" y="31"/>
                </a:cubicBezTo>
                <a:cubicBezTo>
                  <a:pt x="5871" y="38"/>
                  <a:pt x="5880" y="46"/>
                  <a:pt x="5889" y="54"/>
                </a:cubicBezTo>
                <a:cubicBezTo>
                  <a:pt x="5897" y="63"/>
                  <a:pt x="5905" y="72"/>
                  <a:pt x="5912" y="82"/>
                </a:cubicBezTo>
                <a:cubicBezTo>
                  <a:pt x="5919" y="92"/>
                  <a:pt x="5924" y="103"/>
                  <a:pt x="5929" y="114"/>
                </a:cubicBezTo>
                <a:cubicBezTo>
                  <a:pt x="5934" y="126"/>
                  <a:pt x="5937" y="137"/>
                  <a:pt x="5940" y="149"/>
                </a:cubicBezTo>
                <a:cubicBezTo>
                  <a:pt x="5942" y="161"/>
                  <a:pt x="5943" y="173"/>
                  <a:pt x="5943" y="186"/>
                </a:cubicBezTo>
                <a:lnTo>
                  <a:pt x="5943" y="2786"/>
                </a:lnTo>
                <a:cubicBezTo>
                  <a:pt x="5943" y="2799"/>
                  <a:pt x="5942" y="2811"/>
                  <a:pt x="5940" y="2823"/>
                </a:cubicBezTo>
                <a:cubicBezTo>
                  <a:pt x="5937" y="2835"/>
                  <a:pt x="5934" y="2846"/>
                  <a:pt x="5929" y="2857"/>
                </a:cubicBezTo>
                <a:cubicBezTo>
                  <a:pt x="5924" y="2869"/>
                  <a:pt x="5919" y="2879"/>
                  <a:pt x="5912" y="2890"/>
                </a:cubicBezTo>
                <a:cubicBezTo>
                  <a:pt x="5905" y="2900"/>
                  <a:pt x="5897" y="2909"/>
                  <a:pt x="5889" y="2918"/>
                </a:cubicBezTo>
                <a:cubicBezTo>
                  <a:pt x="5880" y="2926"/>
                  <a:pt x="5871" y="2934"/>
                  <a:pt x="5861" y="2941"/>
                </a:cubicBezTo>
                <a:cubicBezTo>
                  <a:pt x="5850" y="2948"/>
                  <a:pt x="5840" y="2953"/>
                  <a:pt x="5829" y="2958"/>
                </a:cubicBezTo>
                <a:cubicBezTo>
                  <a:pt x="5817" y="2963"/>
                  <a:pt x="5806" y="2966"/>
                  <a:pt x="5794" y="2969"/>
                </a:cubicBezTo>
                <a:cubicBezTo>
                  <a:pt x="5782" y="2971"/>
                  <a:pt x="5770" y="2972"/>
                  <a:pt x="5757" y="2972"/>
                </a:cubicBezTo>
                <a:lnTo>
                  <a:pt x="185" y="2972"/>
                </a:lnTo>
                <a:cubicBezTo>
                  <a:pt x="173" y="2972"/>
                  <a:pt x="161" y="2971"/>
                  <a:pt x="149" y="2969"/>
                </a:cubicBezTo>
                <a:cubicBezTo>
                  <a:pt x="137" y="2966"/>
                  <a:pt x="126" y="2963"/>
                  <a:pt x="114" y="2958"/>
                </a:cubicBezTo>
                <a:cubicBezTo>
                  <a:pt x="103" y="2953"/>
                  <a:pt x="92" y="2948"/>
                  <a:pt x="82" y="2941"/>
                </a:cubicBezTo>
                <a:cubicBezTo>
                  <a:pt x="72" y="2934"/>
                  <a:pt x="63" y="2926"/>
                  <a:pt x="54" y="2918"/>
                </a:cubicBezTo>
                <a:cubicBezTo>
                  <a:pt x="45" y="2909"/>
                  <a:pt x="38" y="2900"/>
                  <a:pt x="31" y="2890"/>
                </a:cubicBezTo>
                <a:cubicBezTo>
                  <a:pt x="24" y="2879"/>
                  <a:pt x="18" y="2869"/>
                  <a:pt x="14" y="2857"/>
                </a:cubicBezTo>
                <a:cubicBezTo>
                  <a:pt x="9" y="2846"/>
                  <a:pt x="6" y="2835"/>
                  <a:pt x="3" y="2823"/>
                </a:cubicBezTo>
                <a:cubicBezTo>
                  <a:pt x="1" y="2811"/>
                  <a:pt x="0" y="2799"/>
                  <a:pt x="0" y="2786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8" name="図 467"/>
          <p:cNvPicPr/>
          <p:nvPr/>
        </p:nvPicPr>
        <p:blipFill>
          <a:blip r:embed="rId6"/>
          <a:stretch/>
        </p:blipFill>
        <p:spPr>
          <a:xfrm>
            <a:off x="8849880" y="969480"/>
            <a:ext cx="22536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テキスト ボックス 468"/>
          <p:cNvSpPr txBox="1"/>
          <p:nvPr/>
        </p:nvSpPr>
        <p:spPr>
          <a:xfrm>
            <a:off x="6386760" y="1617120"/>
            <a:ext cx="601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プログラム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テキスト ボックス 469"/>
          <p:cNvSpPr txBox="1"/>
          <p:nvPr/>
        </p:nvSpPr>
        <p:spPr>
          <a:xfrm>
            <a:off x="8488440" y="1397880"/>
            <a:ext cx="3369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CSV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テキスト ボックス 470"/>
          <p:cNvSpPr txBox="1"/>
          <p:nvPr/>
        </p:nvSpPr>
        <p:spPr>
          <a:xfrm>
            <a:off x="8826480" y="1392840"/>
            <a:ext cx="618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ファイル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フリーフォーム 471"/>
          <p:cNvSpPr/>
          <p:nvPr/>
        </p:nvSpPr>
        <p:spPr>
          <a:xfrm>
            <a:off x="334080" y="2172600"/>
            <a:ext cx="4914000" cy="1713600"/>
          </a:xfrm>
          <a:custGeom>
            <a:avLst/>
            <a:gdLst/>
            <a:ahLst/>
            <a:cxnLst/>
            <a:rect l="0" t="0" r="r" b="b"/>
            <a:pathLst>
              <a:path w="13650" h="4760">
                <a:moveTo>
                  <a:pt x="0" y="4574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5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13465" y="0"/>
                </a:lnTo>
                <a:cubicBezTo>
                  <a:pt x="13477" y="0"/>
                  <a:pt x="13489" y="1"/>
                  <a:pt x="13501" y="3"/>
                </a:cubicBezTo>
                <a:cubicBezTo>
                  <a:pt x="13513" y="6"/>
                  <a:pt x="13524" y="9"/>
                  <a:pt x="13536" y="14"/>
                </a:cubicBezTo>
                <a:cubicBezTo>
                  <a:pt x="13547" y="19"/>
                  <a:pt x="13558" y="24"/>
                  <a:pt x="13568" y="31"/>
                </a:cubicBezTo>
                <a:cubicBezTo>
                  <a:pt x="13578" y="38"/>
                  <a:pt x="13587" y="46"/>
                  <a:pt x="13596" y="54"/>
                </a:cubicBezTo>
                <a:cubicBezTo>
                  <a:pt x="13605" y="63"/>
                  <a:pt x="13612" y="72"/>
                  <a:pt x="13619" y="82"/>
                </a:cubicBezTo>
                <a:cubicBezTo>
                  <a:pt x="13626" y="93"/>
                  <a:pt x="13631" y="103"/>
                  <a:pt x="13636" y="115"/>
                </a:cubicBezTo>
                <a:cubicBezTo>
                  <a:pt x="13641" y="126"/>
                  <a:pt x="13644" y="137"/>
                  <a:pt x="13647" y="149"/>
                </a:cubicBezTo>
                <a:cubicBezTo>
                  <a:pt x="13649" y="161"/>
                  <a:pt x="13650" y="173"/>
                  <a:pt x="13650" y="186"/>
                </a:cubicBezTo>
                <a:lnTo>
                  <a:pt x="13650" y="4574"/>
                </a:lnTo>
                <a:cubicBezTo>
                  <a:pt x="13650" y="4586"/>
                  <a:pt x="13649" y="4598"/>
                  <a:pt x="13647" y="4610"/>
                </a:cubicBezTo>
                <a:cubicBezTo>
                  <a:pt x="13644" y="4622"/>
                  <a:pt x="13641" y="4634"/>
                  <a:pt x="13636" y="4645"/>
                </a:cubicBezTo>
                <a:cubicBezTo>
                  <a:pt x="13631" y="4656"/>
                  <a:pt x="13626" y="4667"/>
                  <a:pt x="13619" y="4677"/>
                </a:cubicBezTo>
                <a:cubicBezTo>
                  <a:pt x="13612" y="4687"/>
                  <a:pt x="13605" y="4697"/>
                  <a:pt x="13596" y="4705"/>
                </a:cubicBezTo>
                <a:cubicBezTo>
                  <a:pt x="13587" y="4714"/>
                  <a:pt x="13578" y="4721"/>
                  <a:pt x="13568" y="4728"/>
                </a:cubicBezTo>
                <a:cubicBezTo>
                  <a:pt x="13558" y="4735"/>
                  <a:pt x="13547" y="4741"/>
                  <a:pt x="13536" y="4745"/>
                </a:cubicBezTo>
                <a:cubicBezTo>
                  <a:pt x="13524" y="4750"/>
                  <a:pt x="13513" y="4754"/>
                  <a:pt x="13501" y="4756"/>
                </a:cubicBezTo>
                <a:cubicBezTo>
                  <a:pt x="13489" y="4758"/>
                  <a:pt x="13477" y="4760"/>
                  <a:pt x="13465" y="4760"/>
                </a:cubicBezTo>
                <a:lnTo>
                  <a:pt x="186" y="4760"/>
                </a:lnTo>
                <a:cubicBezTo>
                  <a:pt x="174" y="4760"/>
                  <a:pt x="161" y="4758"/>
                  <a:pt x="149" y="4756"/>
                </a:cubicBezTo>
                <a:cubicBezTo>
                  <a:pt x="138" y="4754"/>
                  <a:pt x="126" y="4750"/>
                  <a:pt x="115" y="4745"/>
                </a:cubicBezTo>
                <a:cubicBezTo>
                  <a:pt x="103" y="4741"/>
                  <a:pt x="93" y="4735"/>
                  <a:pt x="83" y="4728"/>
                </a:cubicBezTo>
                <a:cubicBezTo>
                  <a:pt x="72" y="4721"/>
                  <a:pt x="63" y="4714"/>
                  <a:pt x="54" y="4705"/>
                </a:cubicBezTo>
                <a:cubicBezTo>
                  <a:pt x="46" y="4697"/>
                  <a:pt x="38" y="4687"/>
                  <a:pt x="31" y="4677"/>
                </a:cubicBezTo>
                <a:cubicBezTo>
                  <a:pt x="25" y="4667"/>
                  <a:pt x="19" y="4656"/>
                  <a:pt x="14" y="4645"/>
                </a:cubicBezTo>
                <a:cubicBezTo>
                  <a:pt x="9" y="4634"/>
                  <a:pt x="6" y="4622"/>
                  <a:pt x="4" y="4610"/>
                </a:cubicBezTo>
                <a:cubicBezTo>
                  <a:pt x="1" y="4598"/>
                  <a:pt x="0" y="4586"/>
                  <a:pt x="0" y="4574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3" name="図 472"/>
          <p:cNvPicPr/>
          <p:nvPr/>
        </p:nvPicPr>
        <p:blipFill>
          <a:blip r:embed="rId7"/>
          <a:stretch/>
        </p:blipFill>
        <p:spPr>
          <a:xfrm>
            <a:off x="534960" y="240660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テキスト ボックス 473"/>
          <p:cNvSpPr txBox="1"/>
          <p:nvPr/>
        </p:nvSpPr>
        <p:spPr>
          <a:xfrm>
            <a:off x="8373240" y="1617120"/>
            <a:ext cx="1188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クリック者情報を記録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テキスト ボックス 474"/>
          <p:cNvSpPr txBox="1"/>
          <p:nvPr/>
        </p:nvSpPr>
        <p:spPr>
          <a:xfrm>
            <a:off x="885960" y="2387880"/>
            <a:ext cx="4471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フリーフォーム 475"/>
          <p:cNvSpPr/>
          <p:nvPr/>
        </p:nvSpPr>
        <p:spPr>
          <a:xfrm>
            <a:off x="584640" y="287460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70"/>
                </a:moveTo>
                <a:cubicBezTo>
                  <a:pt x="141" y="80"/>
                  <a:pt x="139" y="89"/>
                  <a:pt x="135" y="97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7"/>
                </a:cubicBezTo>
                <a:cubicBezTo>
                  <a:pt x="2" y="89"/>
                  <a:pt x="0" y="80"/>
                  <a:pt x="0" y="70"/>
                </a:cubicBezTo>
                <a:cubicBezTo>
                  <a:pt x="0" y="61"/>
                  <a:pt x="2" y="52"/>
                  <a:pt x="6" y="44"/>
                </a:cubicBezTo>
                <a:cubicBezTo>
                  <a:pt x="9" y="35"/>
                  <a:pt x="14" y="28"/>
                  <a:pt x="21" y="21"/>
                </a:cubicBezTo>
                <a:cubicBezTo>
                  <a:pt x="27" y="15"/>
                  <a:pt x="35" y="10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10"/>
                  <a:pt x="113" y="15"/>
                  <a:pt x="120" y="21"/>
                </a:cubicBezTo>
                <a:cubicBezTo>
                  <a:pt x="127" y="28"/>
                  <a:pt x="132" y="35"/>
                  <a:pt x="135" y="44"/>
                </a:cubicBezTo>
                <a:cubicBezTo>
                  <a:pt x="139" y="52"/>
                  <a:pt x="141" y="61"/>
                  <a:pt x="141" y="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テキスト ボックス 476"/>
          <p:cNvSpPr txBox="1"/>
          <p:nvPr/>
        </p:nvSpPr>
        <p:spPr>
          <a:xfrm>
            <a:off x="1330920" y="2380680"/>
            <a:ext cx="18396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パラメータの仕組み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フリーフォーム 477"/>
          <p:cNvSpPr/>
          <p:nvPr/>
        </p:nvSpPr>
        <p:spPr>
          <a:xfrm>
            <a:off x="584640" y="3208680"/>
            <a:ext cx="50760" cy="50760"/>
          </a:xfrm>
          <a:custGeom>
            <a:avLst/>
            <a:gdLst/>
            <a:ahLst/>
            <a:cxnLst/>
            <a:rect l="0" t="0" r="r" b="b"/>
            <a:pathLst>
              <a:path w="141" h="141">
                <a:moveTo>
                  <a:pt x="141" y="71"/>
                </a:moveTo>
                <a:cubicBezTo>
                  <a:pt x="141" y="80"/>
                  <a:pt x="139" y="89"/>
                  <a:pt x="135" y="98"/>
                </a:cubicBezTo>
                <a:cubicBezTo>
                  <a:pt x="132" y="106"/>
                  <a:pt x="127" y="114"/>
                  <a:pt x="120" y="120"/>
                </a:cubicBezTo>
                <a:cubicBezTo>
                  <a:pt x="113" y="127"/>
                  <a:pt x="105" y="132"/>
                  <a:pt x="97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1" y="141"/>
                  <a:pt x="52" y="139"/>
                  <a:pt x="43" y="135"/>
                </a:cubicBezTo>
                <a:cubicBezTo>
                  <a:pt x="35" y="132"/>
                  <a:pt x="27" y="127"/>
                  <a:pt x="21" y="120"/>
                </a:cubicBezTo>
                <a:cubicBezTo>
                  <a:pt x="14" y="114"/>
                  <a:pt x="9" y="106"/>
                  <a:pt x="6" y="98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2"/>
                  <a:pt x="2" y="52"/>
                  <a:pt x="6" y="43"/>
                </a:cubicBezTo>
                <a:cubicBezTo>
                  <a:pt x="9" y="35"/>
                  <a:pt x="14" y="27"/>
                  <a:pt x="21" y="21"/>
                </a:cubicBezTo>
                <a:cubicBezTo>
                  <a:pt x="27" y="14"/>
                  <a:pt x="35" y="9"/>
                  <a:pt x="43" y="6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6"/>
                </a:cubicBezTo>
                <a:cubicBezTo>
                  <a:pt x="105" y="9"/>
                  <a:pt x="113" y="14"/>
                  <a:pt x="120" y="21"/>
                </a:cubicBezTo>
                <a:cubicBezTo>
                  <a:pt x="127" y="27"/>
                  <a:pt x="132" y="35"/>
                  <a:pt x="135" y="43"/>
                </a:cubicBezTo>
                <a:cubicBezTo>
                  <a:pt x="139" y="52"/>
                  <a:pt x="141" y="62"/>
                  <a:pt x="141" y="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テキスト ボックス 478"/>
          <p:cNvSpPr txBox="1"/>
          <p:nvPr/>
        </p:nvSpPr>
        <p:spPr>
          <a:xfrm>
            <a:off x="735480" y="2796840"/>
            <a:ext cx="3509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メール送信時に</a:t>
            </a:r>
            <a:r>
              <a:rPr lang="zh-CN" sz="1180" b="0" u="none" strike="noStrike">
                <a:solidFill>
                  <a:srgbClr val="FCD34D"/>
                </a:solidFill>
                <a:effectLst/>
                <a:uFillTx/>
                <a:latin typeface="WenQuanYiZenHei"/>
                <a:ea typeface="WenQuanYiZenHei"/>
              </a:rPr>
              <a:t>訓練者ごとにユニークな数値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を設定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テキスト ボックス 479"/>
          <p:cNvSpPr txBox="1"/>
          <p:nvPr/>
        </p:nvSpPr>
        <p:spPr>
          <a:xfrm>
            <a:off x="735480" y="3136320"/>
            <a:ext cx="299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テキスト ボックス 480"/>
          <p:cNvSpPr txBox="1"/>
          <p:nvPr/>
        </p:nvSpPr>
        <p:spPr>
          <a:xfrm>
            <a:off x="1033920" y="3130920"/>
            <a:ext cx="1232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パラメータとして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テキスト ボックス 481"/>
          <p:cNvSpPr txBox="1"/>
          <p:nvPr/>
        </p:nvSpPr>
        <p:spPr>
          <a:xfrm>
            <a:off x="2237400" y="3136320"/>
            <a:ext cx="1605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id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テキスト ボックス 482"/>
          <p:cNvSpPr txBox="1"/>
          <p:nvPr/>
        </p:nvSpPr>
        <p:spPr>
          <a:xfrm>
            <a:off x="2396520" y="3130920"/>
            <a:ext cx="155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と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テキスト ボックス 483"/>
          <p:cNvSpPr txBox="1"/>
          <p:nvPr/>
        </p:nvSpPr>
        <p:spPr>
          <a:xfrm>
            <a:off x="2547000" y="3136320"/>
            <a:ext cx="372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num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テキスト ボックス 484"/>
          <p:cNvSpPr txBox="1"/>
          <p:nvPr/>
        </p:nvSpPr>
        <p:spPr>
          <a:xfrm>
            <a:off x="2917800" y="3130920"/>
            <a:ext cx="155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の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テキスト ボックス 485"/>
          <p:cNvSpPr txBox="1"/>
          <p:nvPr/>
        </p:nvSpPr>
        <p:spPr>
          <a:xfrm>
            <a:off x="3068280" y="313632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フリーフォーム 486"/>
          <p:cNvSpPr/>
          <p:nvPr/>
        </p:nvSpPr>
        <p:spPr>
          <a:xfrm>
            <a:off x="584640" y="3543120"/>
            <a:ext cx="50760" cy="50400"/>
          </a:xfrm>
          <a:custGeom>
            <a:avLst/>
            <a:gdLst/>
            <a:ahLst/>
            <a:cxnLst/>
            <a:rect l="0" t="0" r="r" b="b"/>
            <a:pathLst>
              <a:path w="141" h="140">
                <a:moveTo>
                  <a:pt x="141" y="69"/>
                </a:moveTo>
                <a:cubicBezTo>
                  <a:pt x="141" y="79"/>
                  <a:pt x="139" y="88"/>
                  <a:pt x="135" y="96"/>
                </a:cubicBezTo>
                <a:cubicBezTo>
                  <a:pt x="132" y="106"/>
                  <a:pt x="127" y="113"/>
                  <a:pt x="120" y="120"/>
                </a:cubicBezTo>
                <a:cubicBezTo>
                  <a:pt x="113" y="126"/>
                  <a:pt x="105" y="131"/>
                  <a:pt x="97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1" y="140"/>
                  <a:pt x="52" y="138"/>
                  <a:pt x="43" y="135"/>
                </a:cubicBezTo>
                <a:cubicBezTo>
                  <a:pt x="35" y="131"/>
                  <a:pt x="27" y="126"/>
                  <a:pt x="21" y="120"/>
                </a:cubicBezTo>
                <a:cubicBezTo>
                  <a:pt x="14" y="113"/>
                  <a:pt x="9" y="106"/>
                  <a:pt x="6" y="96"/>
                </a:cubicBezTo>
                <a:cubicBezTo>
                  <a:pt x="2" y="88"/>
                  <a:pt x="0" y="79"/>
                  <a:pt x="0" y="69"/>
                </a:cubicBezTo>
                <a:cubicBezTo>
                  <a:pt x="0" y="60"/>
                  <a:pt x="2" y="51"/>
                  <a:pt x="6" y="43"/>
                </a:cubicBezTo>
                <a:cubicBezTo>
                  <a:pt x="9" y="34"/>
                  <a:pt x="14" y="27"/>
                  <a:pt x="21" y="20"/>
                </a:cubicBezTo>
                <a:cubicBezTo>
                  <a:pt x="27" y="14"/>
                  <a:pt x="35" y="9"/>
                  <a:pt x="43" y="5"/>
                </a:cubicBezTo>
                <a:cubicBezTo>
                  <a:pt x="52" y="2"/>
                  <a:pt x="61" y="0"/>
                  <a:pt x="70" y="0"/>
                </a:cubicBezTo>
                <a:cubicBezTo>
                  <a:pt x="79" y="0"/>
                  <a:pt x="88" y="2"/>
                  <a:pt x="97" y="5"/>
                </a:cubicBezTo>
                <a:cubicBezTo>
                  <a:pt x="105" y="9"/>
                  <a:pt x="113" y="14"/>
                  <a:pt x="120" y="20"/>
                </a:cubicBezTo>
                <a:cubicBezTo>
                  <a:pt x="127" y="27"/>
                  <a:pt x="132" y="34"/>
                  <a:pt x="135" y="43"/>
                </a:cubicBezTo>
                <a:cubicBezTo>
                  <a:pt x="139" y="51"/>
                  <a:pt x="141" y="60"/>
                  <a:pt x="141" y="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テキスト ボックス 487"/>
          <p:cNvSpPr txBox="1"/>
          <p:nvPr/>
        </p:nvSpPr>
        <p:spPr>
          <a:xfrm>
            <a:off x="3164040" y="3130920"/>
            <a:ext cx="1225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つの値を組み込み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テキスト ボックス 488"/>
          <p:cNvSpPr txBox="1"/>
          <p:nvPr/>
        </p:nvSpPr>
        <p:spPr>
          <a:xfrm>
            <a:off x="735480" y="3465360"/>
            <a:ext cx="151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例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フリーフォーム 489"/>
          <p:cNvSpPr/>
          <p:nvPr/>
        </p:nvSpPr>
        <p:spPr>
          <a:xfrm>
            <a:off x="986040" y="3450960"/>
            <a:ext cx="3017160" cy="234360"/>
          </a:xfrm>
          <a:custGeom>
            <a:avLst/>
            <a:gdLst/>
            <a:ahLst/>
            <a:cxnLst/>
            <a:rect l="0" t="0" r="r" b="b"/>
            <a:pathLst>
              <a:path w="8381" h="651">
                <a:moveTo>
                  <a:pt x="0" y="559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8288" y="0"/>
                </a:lnTo>
                <a:cubicBezTo>
                  <a:pt x="8300" y="0"/>
                  <a:pt x="8312" y="3"/>
                  <a:pt x="8323" y="8"/>
                </a:cubicBezTo>
                <a:cubicBezTo>
                  <a:pt x="8335" y="12"/>
                  <a:pt x="8345" y="19"/>
                  <a:pt x="8353" y="28"/>
                </a:cubicBezTo>
                <a:cubicBezTo>
                  <a:pt x="8362" y="36"/>
                  <a:pt x="8369" y="46"/>
                  <a:pt x="8373" y="58"/>
                </a:cubicBezTo>
                <a:cubicBezTo>
                  <a:pt x="8378" y="69"/>
                  <a:pt x="8381" y="81"/>
                  <a:pt x="8381" y="93"/>
                </a:cubicBezTo>
                <a:lnTo>
                  <a:pt x="8381" y="559"/>
                </a:lnTo>
                <a:cubicBezTo>
                  <a:pt x="8381" y="571"/>
                  <a:pt x="8378" y="583"/>
                  <a:pt x="8373" y="594"/>
                </a:cubicBezTo>
                <a:cubicBezTo>
                  <a:pt x="8369" y="606"/>
                  <a:pt x="8362" y="616"/>
                  <a:pt x="8353" y="624"/>
                </a:cubicBezTo>
                <a:cubicBezTo>
                  <a:pt x="8345" y="633"/>
                  <a:pt x="8335" y="640"/>
                  <a:pt x="8323" y="644"/>
                </a:cubicBezTo>
                <a:cubicBezTo>
                  <a:pt x="8312" y="649"/>
                  <a:pt x="8300" y="651"/>
                  <a:pt x="8288" y="651"/>
                </a:cubicBezTo>
                <a:lnTo>
                  <a:pt x="92" y="651"/>
                </a:lnTo>
                <a:cubicBezTo>
                  <a:pt x="80" y="651"/>
                  <a:pt x="68" y="649"/>
                  <a:pt x="57" y="644"/>
                </a:cubicBezTo>
                <a:cubicBezTo>
                  <a:pt x="46" y="640"/>
                  <a:pt x="36" y="633"/>
                  <a:pt x="27" y="624"/>
                </a:cubicBezTo>
                <a:cubicBezTo>
                  <a:pt x="18" y="616"/>
                  <a:pt x="11" y="606"/>
                  <a:pt x="7" y="594"/>
                </a:cubicBezTo>
                <a:cubicBezTo>
                  <a:pt x="2" y="583"/>
                  <a:pt x="0" y="571"/>
                  <a:pt x="0" y="559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テキスト ボックス 490"/>
          <p:cNvSpPr txBox="1"/>
          <p:nvPr/>
        </p:nvSpPr>
        <p:spPr>
          <a:xfrm>
            <a:off x="885960" y="347040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: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テキスト ボックス 491"/>
          <p:cNvSpPr txBox="1"/>
          <p:nvPr/>
        </p:nvSpPr>
        <p:spPr>
          <a:xfrm>
            <a:off x="1051200" y="3484800"/>
            <a:ext cx="2898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https://example.com/?id=123#=456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図 492"/>
          <p:cNvPicPr/>
          <p:nvPr/>
        </p:nvPicPr>
        <p:blipFill>
          <a:blip r:embed="rId2"/>
          <a:stretch/>
        </p:blipFill>
        <p:spPr>
          <a:xfrm>
            <a:off x="0" y="0"/>
            <a:ext cx="10696320" cy="615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テキスト ボックス 493"/>
          <p:cNvSpPr txBox="1"/>
          <p:nvPr/>
        </p:nvSpPr>
        <p:spPr>
          <a:xfrm>
            <a:off x="334440" y="326880"/>
            <a:ext cx="332280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79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システムのテスト方法と結果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フリーフォーム 494"/>
          <p:cNvSpPr/>
          <p:nvPr/>
        </p:nvSpPr>
        <p:spPr>
          <a:xfrm>
            <a:off x="334080" y="902520"/>
            <a:ext cx="4914000" cy="3777480"/>
          </a:xfrm>
          <a:custGeom>
            <a:avLst/>
            <a:gdLst/>
            <a:ahLst/>
            <a:cxnLst/>
            <a:rect l="0" t="0" r="r" b="b"/>
            <a:pathLst>
              <a:path w="13650" h="10493">
                <a:moveTo>
                  <a:pt x="0" y="10307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8" y="5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13465" y="0"/>
                </a:lnTo>
                <a:cubicBezTo>
                  <a:pt x="13477" y="0"/>
                  <a:pt x="13489" y="1"/>
                  <a:pt x="13501" y="3"/>
                </a:cubicBezTo>
                <a:cubicBezTo>
                  <a:pt x="13513" y="5"/>
                  <a:pt x="13524" y="9"/>
                  <a:pt x="13536" y="14"/>
                </a:cubicBezTo>
                <a:cubicBezTo>
                  <a:pt x="13547" y="18"/>
                  <a:pt x="13558" y="24"/>
                  <a:pt x="13568" y="31"/>
                </a:cubicBezTo>
                <a:cubicBezTo>
                  <a:pt x="13578" y="38"/>
                  <a:pt x="13587" y="45"/>
                  <a:pt x="13596" y="54"/>
                </a:cubicBezTo>
                <a:cubicBezTo>
                  <a:pt x="13605" y="63"/>
                  <a:pt x="13612" y="72"/>
                  <a:pt x="13619" y="82"/>
                </a:cubicBezTo>
                <a:cubicBezTo>
                  <a:pt x="13626" y="92"/>
                  <a:pt x="13631" y="103"/>
                  <a:pt x="13636" y="114"/>
                </a:cubicBezTo>
                <a:cubicBezTo>
                  <a:pt x="13641" y="125"/>
                  <a:pt x="13644" y="137"/>
                  <a:pt x="13647" y="149"/>
                </a:cubicBezTo>
                <a:cubicBezTo>
                  <a:pt x="13649" y="161"/>
                  <a:pt x="13650" y="173"/>
                  <a:pt x="13650" y="185"/>
                </a:cubicBezTo>
                <a:lnTo>
                  <a:pt x="13650" y="10307"/>
                </a:lnTo>
                <a:cubicBezTo>
                  <a:pt x="13650" y="10319"/>
                  <a:pt x="13649" y="10331"/>
                  <a:pt x="13647" y="10343"/>
                </a:cubicBezTo>
                <a:cubicBezTo>
                  <a:pt x="13644" y="10355"/>
                  <a:pt x="13641" y="10367"/>
                  <a:pt x="13636" y="10378"/>
                </a:cubicBezTo>
                <a:cubicBezTo>
                  <a:pt x="13631" y="10389"/>
                  <a:pt x="13626" y="10400"/>
                  <a:pt x="13619" y="10410"/>
                </a:cubicBezTo>
                <a:cubicBezTo>
                  <a:pt x="13612" y="10420"/>
                  <a:pt x="13605" y="10430"/>
                  <a:pt x="13596" y="10438"/>
                </a:cubicBezTo>
                <a:cubicBezTo>
                  <a:pt x="13587" y="10447"/>
                  <a:pt x="13578" y="10455"/>
                  <a:pt x="13568" y="10462"/>
                </a:cubicBezTo>
                <a:cubicBezTo>
                  <a:pt x="13558" y="10468"/>
                  <a:pt x="13547" y="10474"/>
                  <a:pt x="13536" y="10479"/>
                </a:cubicBezTo>
                <a:cubicBezTo>
                  <a:pt x="13524" y="10483"/>
                  <a:pt x="13513" y="10487"/>
                  <a:pt x="13501" y="10489"/>
                </a:cubicBezTo>
                <a:cubicBezTo>
                  <a:pt x="13489" y="10492"/>
                  <a:pt x="13477" y="10493"/>
                  <a:pt x="13465" y="10493"/>
                </a:cubicBezTo>
                <a:lnTo>
                  <a:pt x="186" y="10493"/>
                </a:lnTo>
                <a:cubicBezTo>
                  <a:pt x="174" y="10493"/>
                  <a:pt x="161" y="10492"/>
                  <a:pt x="149" y="10489"/>
                </a:cubicBezTo>
                <a:cubicBezTo>
                  <a:pt x="138" y="10487"/>
                  <a:pt x="126" y="10483"/>
                  <a:pt x="115" y="10479"/>
                </a:cubicBezTo>
                <a:cubicBezTo>
                  <a:pt x="103" y="10474"/>
                  <a:pt x="93" y="10468"/>
                  <a:pt x="83" y="10462"/>
                </a:cubicBezTo>
                <a:cubicBezTo>
                  <a:pt x="72" y="10455"/>
                  <a:pt x="63" y="10447"/>
                  <a:pt x="54" y="10438"/>
                </a:cubicBezTo>
                <a:cubicBezTo>
                  <a:pt x="46" y="10430"/>
                  <a:pt x="38" y="10420"/>
                  <a:pt x="31" y="10410"/>
                </a:cubicBezTo>
                <a:cubicBezTo>
                  <a:pt x="25" y="10400"/>
                  <a:pt x="19" y="10389"/>
                  <a:pt x="14" y="10378"/>
                </a:cubicBezTo>
                <a:cubicBezTo>
                  <a:pt x="9" y="10367"/>
                  <a:pt x="6" y="10355"/>
                  <a:pt x="4" y="10343"/>
                </a:cubicBezTo>
                <a:cubicBezTo>
                  <a:pt x="1" y="10331"/>
                  <a:pt x="0" y="10319"/>
                  <a:pt x="0" y="10307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フリーフォーム 495"/>
          <p:cNvSpPr/>
          <p:nvPr/>
        </p:nvSpPr>
        <p:spPr>
          <a:xfrm>
            <a:off x="534600" y="3142080"/>
            <a:ext cx="4512960" cy="1036440"/>
          </a:xfrm>
          <a:custGeom>
            <a:avLst/>
            <a:gdLst/>
            <a:ahLst/>
            <a:cxnLst/>
            <a:rect l="0" t="0" r="r" b="b"/>
            <a:pathLst>
              <a:path w="12536" h="2879">
                <a:moveTo>
                  <a:pt x="0" y="269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2350" y="0"/>
                </a:lnTo>
                <a:cubicBezTo>
                  <a:pt x="12363" y="0"/>
                  <a:pt x="12375" y="1"/>
                  <a:pt x="12387" y="3"/>
                </a:cubicBezTo>
                <a:cubicBezTo>
                  <a:pt x="12399" y="6"/>
                  <a:pt x="12410" y="9"/>
                  <a:pt x="12422" y="14"/>
                </a:cubicBezTo>
                <a:cubicBezTo>
                  <a:pt x="12433" y="18"/>
                  <a:pt x="12444" y="24"/>
                  <a:pt x="12454" y="31"/>
                </a:cubicBezTo>
                <a:cubicBezTo>
                  <a:pt x="12464" y="38"/>
                  <a:pt x="12473" y="45"/>
                  <a:pt x="12482" y="54"/>
                </a:cubicBezTo>
                <a:cubicBezTo>
                  <a:pt x="12490" y="63"/>
                  <a:pt x="12498" y="72"/>
                  <a:pt x="12505" y="82"/>
                </a:cubicBezTo>
                <a:cubicBezTo>
                  <a:pt x="12512" y="92"/>
                  <a:pt x="12517" y="103"/>
                  <a:pt x="12522" y="114"/>
                </a:cubicBezTo>
                <a:cubicBezTo>
                  <a:pt x="12527" y="126"/>
                  <a:pt x="12530" y="137"/>
                  <a:pt x="12533" y="149"/>
                </a:cubicBezTo>
                <a:cubicBezTo>
                  <a:pt x="12535" y="161"/>
                  <a:pt x="12536" y="173"/>
                  <a:pt x="12536" y="185"/>
                </a:cubicBezTo>
                <a:lnTo>
                  <a:pt x="12536" y="2693"/>
                </a:lnTo>
                <a:cubicBezTo>
                  <a:pt x="12536" y="2706"/>
                  <a:pt x="12535" y="2718"/>
                  <a:pt x="12533" y="2730"/>
                </a:cubicBezTo>
                <a:cubicBezTo>
                  <a:pt x="12530" y="2742"/>
                  <a:pt x="12527" y="2753"/>
                  <a:pt x="12522" y="2764"/>
                </a:cubicBezTo>
                <a:cubicBezTo>
                  <a:pt x="12517" y="2776"/>
                  <a:pt x="12512" y="2786"/>
                  <a:pt x="12505" y="2796"/>
                </a:cubicBezTo>
                <a:cubicBezTo>
                  <a:pt x="12498" y="2807"/>
                  <a:pt x="12490" y="2816"/>
                  <a:pt x="12482" y="2825"/>
                </a:cubicBezTo>
                <a:cubicBezTo>
                  <a:pt x="12473" y="2833"/>
                  <a:pt x="12464" y="2841"/>
                  <a:pt x="12454" y="2848"/>
                </a:cubicBezTo>
                <a:cubicBezTo>
                  <a:pt x="12444" y="2855"/>
                  <a:pt x="12433" y="2860"/>
                  <a:pt x="12422" y="2865"/>
                </a:cubicBezTo>
                <a:cubicBezTo>
                  <a:pt x="12410" y="2870"/>
                  <a:pt x="12399" y="2873"/>
                  <a:pt x="12387" y="2875"/>
                </a:cubicBezTo>
                <a:cubicBezTo>
                  <a:pt x="12375" y="2878"/>
                  <a:pt x="12363" y="2879"/>
                  <a:pt x="12350" y="2879"/>
                </a:cubicBezTo>
                <a:lnTo>
                  <a:pt x="186" y="2879"/>
                </a:lnTo>
                <a:cubicBezTo>
                  <a:pt x="174" y="2879"/>
                  <a:pt x="162" y="2878"/>
                  <a:pt x="150" y="2875"/>
                </a:cubicBezTo>
                <a:cubicBezTo>
                  <a:pt x="138" y="2873"/>
                  <a:pt x="126" y="2870"/>
                  <a:pt x="115" y="2865"/>
                </a:cubicBezTo>
                <a:cubicBezTo>
                  <a:pt x="104" y="2860"/>
                  <a:pt x="93" y="2855"/>
                  <a:pt x="83" y="2848"/>
                </a:cubicBezTo>
                <a:cubicBezTo>
                  <a:pt x="73" y="2841"/>
                  <a:pt x="63" y="2833"/>
                  <a:pt x="55" y="2825"/>
                </a:cubicBezTo>
                <a:cubicBezTo>
                  <a:pt x="46" y="2816"/>
                  <a:pt x="38" y="2807"/>
                  <a:pt x="31" y="2796"/>
                </a:cubicBezTo>
                <a:cubicBezTo>
                  <a:pt x="25" y="2786"/>
                  <a:pt x="19" y="2776"/>
                  <a:pt x="14" y="2764"/>
                </a:cubicBezTo>
                <a:cubicBezTo>
                  <a:pt x="10" y="2753"/>
                  <a:pt x="6" y="2742"/>
                  <a:pt x="4" y="2730"/>
                </a:cubicBezTo>
                <a:cubicBezTo>
                  <a:pt x="1" y="2718"/>
                  <a:pt x="0" y="2706"/>
                  <a:pt x="0" y="2693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97" name="図 496"/>
          <p:cNvPicPr/>
          <p:nvPr/>
        </p:nvPicPr>
        <p:blipFill>
          <a:blip r:embed="rId3"/>
          <a:stretch/>
        </p:blipFill>
        <p:spPr>
          <a:xfrm>
            <a:off x="534960" y="11365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テキスト ボックス 497"/>
          <p:cNvSpPr txBox="1"/>
          <p:nvPr/>
        </p:nvSpPr>
        <p:spPr>
          <a:xfrm>
            <a:off x="9774360" y="388080"/>
            <a:ext cx="5904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10 / 12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9" name="図 498"/>
          <p:cNvPicPr/>
          <p:nvPr/>
        </p:nvPicPr>
        <p:blipFill>
          <a:blip r:embed="rId4"/>
          <a:stretch/>
        </p:blipFill>
        <p:spPr>
          <a:xfrm>
            <a:off x="534960" y="153756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テキスト ボックス 499"/>
          <p:cNvSpPr txBox="1"/>
          <p:nvPr/>
        </p:nvSpPr>
        <p:spPr>
          <a:xfrm>
            <a:off x="835560" y="1110600"/>
            <a:ext cx="10206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テスト方法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テキスト ボックス 500"/>
          <p:cNvSpPr txBox="1"/>
          <p:nvPr/>
        </p:nvSpPr>
        <p:spPr>
          <a:xfrm>
            <a:off x="785520" y="153180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FDE68A"/>
                </a:solidFill>
                <a:effectLst/>
                <a:uFillTx/>
                <a:latin typeface="DejaVuSans"/>
                <a:ea typeface="DejaVuSans"/>
              </a:rPr>
              <a:t>5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テキスト ボックス 501"/>
          <p:cNvSpPr txBox="1"/>
          <p:nvPr/>
        </p:nvSpPr>
        <p:spPr>
          <a:xfrm>
            <a:off x="890280" y="1526400"/>
            <a:ext cx="21517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DE68A"/>
                </a:solidFill>
                <a:effectLst/>
                <a:uFillTx/>
                <a:latin typeface="WenQuanYiZenHei"/>
                <a:ea typeface="WenQuanYiZenHei"/>
              </a:rPr>
              <a:t>つのメールアドレス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に対して、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テキスト ボックス 502"/>
          <p:cNvSpPr txBox="1"/>
          <p:nvPr/>
        </p:nvSpPr>
        <p:spPr>
          <a:xfrm>
            <a:off x="2996280" y="153180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テキスト ボックス 503"/>
          <p:cNvSpPr txBox="1"/>
          <p:nvPr/>
        </p:nvSpPr>
        <p:spPr>
          <a:xfrm>
            <a:off x="3043800" y="1526400"/>
            <a:ext cx="151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各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テキスト ボックス 504"/>
          <p:cNvSpPr txBox="1"/>
          <p:nvPr/>
        </p:nvSpPr>
        <p:spPr>
          <a:xfrm>
            <a:off x="3194640" y="1531800"/>
            <a:ext cx="210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FDE68A"/>
                </a:solidFill>
                <a:effectLst/>
                <a:uFillTx/>
                <a:latin typeface="DejaVuSans"/>
                <a:ea typeface="DejaVuSans"/>
              </a:rPr>
              <a:t>60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テキスト ボックス 505"/>
          <p:cNvSpPr txBox="1"/>
          <p:nvPr/>
        </p:nvSpPr>
        <p:spPr>
          <a:xfrm>
            <a:off x="3403800" y="1526400"/>
            <a:ext cx="611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DE68A"/>
                </a:solidFill>
                <a:effectLst/>
                <a:uFillTx/>
                <a:latin typeface="WenQuanYiZenHei"/>
                <a:ea typeface="WenQuanYiZenHei"/>
              </a:rPr>
              <a:t>通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ずつ、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テキスト ボックス 506"/>
          <p:cNvSpPr txBox="1"/>
          <p:nvPr/>
        </p:nvSpPr>
        <p:spPr>
          <a:xfrm>
            <a:off x="4005720" y="153180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テキスト ボックス 507"/>
          <p:cNvSpPr txBox="1"/>
          <p:nvPr/>
        </p:nvSpPr>
        <p:spPr>
          <a:xfrm>
            <a:off x="4053240" y="1526400"/>
            <a:ext cx="151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計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テキスト ボックス 508"/>
          <p:cNvSpPr txBox="1"/>
          <p:nvPr/>
        </p:nvSpPr>
        <p:spPr>
          <a:xfrm>
            <a:off x="4204080" y="1531800"/>
            <a:ext cx="315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FDE68A"/>
                </a:solidFill>
                <a:effectLst/>
                <a:uFillTx/>
                <a:latin typeface="DejaVuSans"/>
                <a:ea typeface="DejaVuSans"/>
              </a:rPr>
              <a:t>300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テキスト ボックス 509"/>
          <p:cNvSpPr txBox="1"/>
          <p:nvPr/>
        </p:nvSpPr>
        <p:spPr>
          <a:xfrm>
            <a:off x="4518000" y="1526400"/>
            <a:ext cx="4568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DE68A"/>
                </a:solidFill>
                <a:effectLst/>
                <a:uFillTx/>
                <a:latin typeface="WenQuanYiZenHei"/>
                <a:ea typeface="WenQuanYiZenHei"/>
              </a:rPr>
              <a:t>通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の自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1" name="図 510"/>
          <p:cNvPicPr/>
          <p:nvPr/>
        </p:nvPicPr>
        <p:blipFill>
          <a:blip r:embed="rId5"/>
          <a:stretch/>
        </p:blipFill>
        <p:spPr>
          <a:xfrm>
            <a:off x="534960" y="213948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テキスト ボックス 511"/>
          <p:cNvSpPr txBox="1"/>
          <p:nvPr/>
        </p:nvSpPr>
        <p:spPr>
          <a:xfrm>
            <a:off x="785520" y="1760400"/>
            <a:ext cx="15199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作標的型メールを送信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テキスト ボックス 512"/>
          <p:cNvSpPr txBox="1"/>
          <p:nvPr/>
        </p:nvSpPr>
        <p:spPr>
          <a:xfrm>
            <a:off x="827280" y="2128320"/>
            <a:ext cx="1067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メール文章内に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テキスト ボックス 513"/>
          <p:cNvSpPr txBox="1"/>
          <p:nvPr/>
        </p:nvSpPr>
        <p:spPr>
          <a:xfrm>
            <a:off x="1880280" y="2133360"/>
            <a:ext cx="338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Web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テキスト ボックス 514"/>
          <p:cNvSpPr txBox="1"/>
          <p:nvPr/>
        </p:nvSpPr>
        <p:spPr>
          <a:xfrm>
            <a:off x="2208240" y="2128320"/>
            <a:ext cx="464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サイト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テキスト ボックス 515"/>
          <p:cNvSpPr txBox="1"/>
          <p:nvPr/>
        </p:nvSpPr>
        <p:spPr>
          <a:xfrm>
            <a:off x="2659320" y="2133360"/>
            <a:ext cx="299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テキスト ボックス 516"/>
          <p:cNvSpPr txBox="1"/>
          <p:nvPr/>
        </p:nvSpPr>
        <p:spPr>
          <a:xfrm>
            <a:off x="2957760" y="2128320"/>
            <a:ext cx="20008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を</a:t>
            </a:r>
            <a:r>
              <a:rPr lang="zh-CN" sz="1180" b="0" u="none" strike="noStrike">
                <a:solidFill>
                  <a:srgbClr val="FDE68A"/>
                </a:solidFill>
                <a:effectLst/>
                <a:uFillTx/>
                <a:latin typeface="WenQuanYiZenHei"/>
                <a:ea typeface="WenQuanYiZenHei"/>
              </a:rPr>
              <a:t>「ダウンロードはこちらか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8" name="図 517"/>
          <p:cNvPicPr/>
          <p:nvPr/>
        </p:nvPicPr>
        <p:blipFill>
          <a:blip r:embed="rId6"/>
          <a:stretch/>
        </p:blipFill>
        <p:spPr>
          <a:xfrm>
            <a:off x="534960" y="274104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9" name="テキスト ボックス 518"/>
          <p:cNvSpPr txBox="1"/>
          <p:nvPr/>
        </p:nvSpPr>
        <p:spPr>
          <a:xfrm>
            <a:off x="827280" y="2362320"/>
            <a:ext cx="1843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DE68A"/>
                </a:solidFill>
                <a:effectLst/>
                <a:uFillTx/>
                <a:latin typeface="WenQuanYiZenHei"/>
                <a:ea typeface="WenQuanYiZenHei"/>
              </a:rPr>
              <a:t>ら」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としてリンク埋め込み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テキスト ボックス 519"/>
          <p:cNvSpPr txBox="1"/>
          <p:nvPr/>
        </p:nvSpPr>
        <p:spPr>
          <a:xfrm>
            <a:off x="827280" y="2729880"/>
            <a:ext cx="2902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伏字となっている氏名を</a:t>
            </a:r>
            <a:r>
              <a:rPr lang="zh-CN" sz="1180" b="0" u="none" strike="noStrike">
                <a:solidFill>
                  <a:srgbClr val="FDE68A"/>
                </a:solidFill>
                <a:effectLst/>
                <a:uFillTx/>
                <a:latin typeface="WenQuanYiZenHei"/>
                <a:ea typeface="WenQuanYiZenHei"/>
              </a:rPr>
              <a:t>受信者ごとに置換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テキスト ボックス 520"/>
          <p:cNvSpPr txBox="1"/>
          <p:nvPr/>
        </p:nvSpPr>
        <p:spPr>
          <a:xfrm>
            <a:off x="668520" y="3290400"/>
            <a:ext cx="13575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テスト規模の根拠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テキスト ボックス 521"/>
          <p:cNvSpPr txBox="1"/>
          <p:nvPr/>
        </p:nvSpPr>
        <p:spPr>
          <a:xfrm>
            <a:off x="668520" y="3598920"/>
            <a:ext cx="4257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中小企業基本法の定義に基づき、常時雇用する従業員の数とし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テキスト ボックス 522"/>
          <p:cNvSpPr txBox="1"/>
          <p:nvPr/>
        </p:nvSpPr>
        <p:spPr>
          <a:xfrm>
            <a:off x="668520" y="3832920"/>
            <a:ext cx="15307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て最も多い人数である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テキスト ボックス 523"/>
          <p:cNvSpPr txBox="1"/>
          <p:nvPr/>
        </p:nvSpPr>
        <p:spPr>
          <a:xfrm>
            <a:off x="2172600" y="3838320"/>
            <a:ext cx="315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FDE68A"/>
                </a:solidFill>
                <a:effectLst/>
                <a:uFillTx/>
                <a:latin typeface="DejaVuSans"/>
                <a:ea typeface="DejaVuSans"/>
              </a:rPr>
              <a:t>300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フリーフォーム 524"/>
          <p:cNvSpPr/>
          <p:nvPr/>
        </p:nvSpPr>
        <p:spPr>
          <a:xfrm>
            <a:off x="5448240" y="902520"/>
            <a:ext cx="4914360" cy="3777480"/>
          </a:xfrm>
          <a:custGeom>
            <a:avLst/>
            <a:gdLst/>
            <a:ahLst/>
            <a:cxnLst/>
            <a:rect l="0" t="0" r="r" b="b"/>
            <a:pathLst>
              <a:path w="13651" h="10493">
                <a:moveTo>
                  <a:pt x="0" y="10307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5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3465" y="0"/>
                </a:lnTo>
                <a:cubicBezTo>
                  <a:pt x="13477" y="0"/>
                  <a:pt x="13489" y="1"/>
                  <a:pt x="13501" y="3"/>
                </a:cubicBezTo>
                <a:cubicBezTo>
                  <a:pt x="13513" y="5"/>
                  <a:pt x="13525" y="9"/>
                  <a:pt x="13536" y="14"/>
                </a:cubicBezTo>
                <a:cubicBezTo>
                  <a:pt x="13547" y="18"/>
                  <a:pt x="13558" y="24"/>
                  <a:pt x="13568" y="31"/>
                </a:cubicBezTo>
                <a:cubicBezTo>
                  <a:pt x="13578" y="38"/>
                  <a:pt x="13588" y="45"/>
                  <a:pt x="13596" y="54"/>
                </a:cubicBezTo>
                <a:cubicBezTo>
                  <a:pt x="13605" y="63"/>
                  <a:pt x="13613" y="72"/>
                  <a:pt x="13619" y="82"/>
                </a:cubicBezTo>
                <a:cubicBezTo>
                  <a:pt x="13626" y="92"/>
                  <a:pt x="13632" y="103"/>
                  <a:pt x="13637" y="114"/>
                </a:cubicBezTo>
                <a:cubicBezTo>
                  <a:pt x="13641" y="125"/>
                  <a:pt x="13645" y="137"/>
                  <a:pt x="13647" y="149"/>
                </a:cubicBezTo>
                <a:cubicBezTo>
                  <a:pt x="13649" y="161"/>
                  <a:pt x="13651" y="173"/>
                  <a:pt x="13651" y="185"/>
                </a:cubicBezTo>
                <a:lnTo>
                  <a:pt x="13651" y="10307"/>
                </a:lnTo>
                <a:cubicBezTo>
                  <a:pt x="13651" y="10319"/>
                  <a:pt x="13649" y="10331"/>
                  <a:pt x="13647" y="10343"/>
                </a:cubicBezTo>
                <a:cubicBezTo>
                  <a:pt x="13645" y="10355"/>
                  <a:pt x="13641" y="10367"/>
                  <a:pt x="13637" y="10378"/>
                </a:cubicBezTo>
                <a:cubicBezTo>
                  <a:pt x="13632" y="10389"/>
                  <a:pt x="13626" y="10400"/>
                  <a:pt x="13619" y="10410"/>
                </a:cubicBezTo>
                <a:cubicBezTo>
                  <a:pt x="13613" y="10420"/>
                  <a:pt x="13605" y="10430"/>
                  <a:pt x="13596" y="10438"/>
                </a:cubicBezTo>
                <a:cubicBezTo>
                  <a:pt x="13588" y="10447"/>
                  <a:pt x="13578" y="10455"/>
                  <a:pt x="13568" y="10462"/>
                </a:cubicBezTo>
                <a:cubicBezTo>
                  <a:pt x="13558" y="10468"/>
                  <a:pt x="13547" y="10474"/>
                  <a:pt x="13536" y="10479"/>
                </a:cubicBezTo>
                <a:cubicBezTo>
                  <a:pt x="13525" y="10483"/>
                  <a:pt x="13513" y="10487"/>
                  <a:pt x="13501" y="10489"/>
                </a:cubicBezTo>
                <a:cubicBezTo>
                  <a:pt x="13489" y="10492"/>
                  <a:pt x="13477" y="10493"/>
                  <a:pt x="13465" y="10493"/>
                </a:cubicBezTo>
                <a:lnTo>
                  <a:pt x="186" y="10493"/>
                </a:lnTo>
                <a:cubicBezTo>
                  <a:pt x="174" y="10493"/>
                  <a:pt x="162" y="10492"/>
                  <a:pt x="150" y="10489"/>
                </a:cubicBezTo>
                <a:cubicBezTo>
                  <a:pt x="138" y="10487"/>
                  <a:pt x="126" y="10483"/>
                  <a:pt x="115" y="10479"/>
                </a:cubicBezTo>
                <a:cubicBezTo>
                  <a:pt x="104" y="10474"/>
                  <a:pt x="93" y="10468"/>
                  <a:pt x="83" y="10462"/>
                </a:cubicBezTo>
                <a:cubicBezTo>
                  <a:pt x="73" y="10455"/>
                  <a:pt x="63" y="10447"/>
                  <a:pt x="55" y="10438"/>
                </a:cubicBezTo>
                <a:cubicBezTo>
                  <a:pt x="46" y="10430"/>
                  <a:pt x="38" y="10420"/>
                  <a:pt x="32" y="10410"/>
                </a:cubicBezTo>
                <a:cubicBezTo>
                  <a:pt x="25" y="10400"/>
                  <a:pt x="19" y="10389"/>
                  <a:pt x="15" y="10378"/>
                </a:cubicBezTo>
                <a:cubicBezTo>
                  <a:pt x="10" y="10367"/>
                  <a:pt x="6" y="10355"/>
                  <a:pt x="4" y="10343"/>
                </a:cubicBezTo>
                <a:cubicBezTo>
                  <a:pt x="2" y="10331"/>
                  <a:pt x="0" y="10319"/>
                  <a:pt x="0" y="10307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フリーフォーム 525"/>
          <p:cNvSpPr/>
          <p:nvPr/>
        </p:nvSpPr>
        <p:spPr>
          <a:xfrm>
            <a:off x="5649120" y="3142080"/>
            <a:ext cx="4512960" cy="1337400"/>
          </a:xfrm>
          <a:custGeom>
            <a:avLst/>
            <a:gdLst/>
            <a:ahLst/>
            <a:cxnLst/>
            <a:rect l="0" t="0" r="r" b="b"/>
            <a:pathLst>
              <a:path w="12536" h="3715">
                <a:moveTo>
                  <a:pt x="0" y="352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2350" y="0"/>
                </a:lnTo>
                <a:cubicBezTo>
                  <a:pt x="12362" y="0"/>
                  <a:pt x="12374" y="1"/>
                  <a:pt x="12386" y="3"/>
                </a:cubicBezTo>
                <a:cubicBezTo>
                  <a:pt x="12398" y="6"/>
                  <a:pt x="12410" y="9"/>
                  <a:pt x="12421" y="14"/>
                </a:cubicBezTo>
                <a:cubicBezTo>
                  <a:pt x="12432" y="18"/>
                  <a:pt x="12443" y="24"/>
                  <a:pt x="12453" y="31"/>
                </a:cubicBezTo>
                <a:cubicBezTo>
                  <a:pt x="12463" y="38"/>
                  <a:pt x="12473" y="45"/>
                  <a:pt x="12481" y="54"/>
                </a:cubicBezTo>
                <a:cubicBezTo>
                  <a:pt x="12490" y="63"/>
                  <a:pt x="12497" y="72"/>
                  <a:pt x="12504" y="82"/>
                </a:cubicBezTo>
                <a:cubicBezTo>
                  <a:pt x="12511" y="92"/>
                  <a:pt x="12517" y="103"/>
                  <a:pt x="12521" y="114"/>
                </a:cubicBezTo>
                <a:cubicBezTo>
                  <a:pt x="12526" y="126"/>
                  <a:pt x="12530" y="137"/>
                  <a:pt x="12532" y="149"/>
                </a:cubicBezTo>
                <a:cubicBezTo>
                  <a:pt x="12534" y="161"/>
                  <a:pt x="12536" y="173"/>
                  <a:pt x="12536" y="185"/>
                </a:cubicBezTo>
                <a:lnTo>
                  <a:pt x="12536" y="3529"/>
                </a:lnTo>
                <a:cubicBezTo>
                  <a:pt x="12536" y="3541"/>
                  <a:pt x="12534" y="3553"/>
                  <a:pt x="12532" y="3565"/>
                </a:cubicBezTo>
                <a:cubicBezTo>
                  <a:pt x="12530" y="3577"/>
                  <a:pt x="12526" y="3589"/>
                  <a:pt x="12521" y="3600"/>
                </a:cubicBezTo>
                <a:cubicBezTo>
                  <a:pt x="12517" y="3611"/>
                  <a:pt x="12511" y="3622"/>
                  <a:pt x="12504" y="3632"/>
                </a:cubicBezTo>
                <a:cubicBezTo>
                  <a:pt x="12497" y="3642"/>
                  <a:pt x="12490" y="3652"/>
                  <a:pt x="12481" y="3660"/>
                </a:cubicBezTo>
                <a:cubicBezTo>
                  <a:pt x="12473" y="3669"/>
                  <a:pt x="12463" y="3677"/>
                  <a:pt x="12453" y="3683"/>
                </a:cubicBezTo>
                <a:cubicBezTo>
                  <a:pt x="12443" y="3690"/>
                  <a:pt x="12432" y="3696"/>
                  <a:pt x="12421" y="3701"/>
                </a:cubicBezTo>
                <a:cubicBezTo>
                  <a:pt x="12410" y="3705"/>
                  <a:pt x="12398" y="3709"/>
                  <a:pt x="12386" y="3711"/>
                </a:cubicBezTo>
                <a:cubicBezTo>
                  <a:pt x="12374" y="3714"/>
                  <a:pt x="12362" y="3715"/>
                  <a:pt x="12350" y="3715"/>
                </a:cubicBezTo>
                <a:lnTo>
                  <a:pt x="185" y="3715"/>
                </a:lnTo>
                <a:cubicBezTo>
                  <a:pt x="173" y="3715"/>
                  <a:pt x="161" y="3714"/>
                  <a:pt x="149" y="3711"/>
                </a:cubicBezTo>
                <a:cubicBezTo>
                  <a:pt x="137" y="3709"/>
                  <a:pt x="125" y="3705"/>
                  <a:pt x="114" y="3701"/>
                </a:cubicBezTo>
                <a:cubicBezTo>
                  <a:pt x="103" y="3696"/>
                  <a:pt x="92" y="3690"/>
                  <a:pt x="82" y="3683"/>
                </a:cubicBezTo>
                <a:cubicBezTo>
                  <a:pt x="72" y="3677"/>
                  <a:pt x="63" y="3669"/>
                  <a:pt x="54" y="3660"/>
                </a:cubicBezTo>
                <a:cubicBezTo>
                  <a:pt x="45" y="3652"/>
                  <a:pt x="38" y="3642"/>
                  <a:pt x="31" y="3632"/>
                </a:cubicBezTo>
                <a:cubicBezTo>
                  <a:pt x="24" y="3622"/>
                  <a:pt x="18" y="3611"/>
                  <a:pt x="14" y="3600"/>
                </a:cubicBezTo>
                <a:cubicBezTo>
                  <a:pt x="9" y="3589"/>
                  <a:pt x="5" y="3577"/>
                  <a:pt x="3" y="3565"/>
                </a:cubicBezTo>
                <a:cubicBezTo>
                  <a:pt x="1" y="3553"/>
                  <a:pt x="0" y="3541"/>
                  <a:pt x="0" y="3529"/>
                </a:cubicBezTo>
                <a:close/>
              </a:path>
            </a:pathLst>
          </a:custGeom>
          <a:solidFill>
            <a:srgbClr val="064E3B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27" name="図 526"/>
          <p:cNvPicPr/>
          <p:nvPr/>
        </p:nvPicPr>
        <p:blipFill>
          <a:blip r:embed="rId7"/>
          <a:stretch/>
        </p:blipFill>
        <p:spPr>
          <a:xfrm>
            <a:off x="5649120" y="1136520"/>
            <a:ext cx="1501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8" name="テキスト ボックス 527"/>
          <p:cNvSpPr txBox="1"/>
          <p:nvPr/>
        </p:nvSpPr>
        <p:spPr>
          <a:xfrm>
            <a:off x="2486880" y="3832920"/>
            <a:ext cx="1372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DE68A"/>
                </a:solidFill>
                <a:effectLst/>
                <a:uFillTx/>
                <a:latin typeface="WenQuanYiZenHei"/>
                <a:ea typeface="WenQuanYiZenHei"/>
              </a:rPr>
              <a:t>人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を基準として設定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9" name="図 528"/>
          <p:cNvPicPr/>
          <p:nvPr/>
        </p:nvPicPr>
        <p:blipFill>
          <a:blip r:embed="rId8"/>
          <a:stretch/>
        </p:blipFill>
        <p:spPr>
          <a:xfrm>
            <a:off x="5649120" y="1537560"/>
            <a:ext cx="400680" cy="40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テキスト ボックス 529"/>
          <p:cNvSpPr txBox="1"/>
          <p:nvPr/>
        </p:nvSpPr>
        <p:spPr>
          <a:xfrm>
            <a:off x="5899680" y="1110600"/>
            <a:ext cx="10206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テスト結果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テキスト ボックス 530"/>
          <p:cNvSpPr txBox="1"/>
          <p:nvPr/>
        </p:nvSpPr>
        <p:spPr>
          <a:xfrm>
            <a:off x="6184080" y="1518840"/>
            <a:ext cx="134964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メール送受信確認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テキスト ボックス 531"/>
          <p:cNvSpPr txBox="1"/>
          <p:nvPr/>
        </p:nvSpPr>
        <p:spPr>
          <a:xfrm>
            <a:off x="6184080" y="1765800"/>
            <a:ext cx="288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300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3" name="図 532"/>
          <p:cNvPicPr/>
          <p:nvPr/>
        </p:nvPicPr>
        <p:blipFill>
          <a:blip r:embed="rId8"/>
          <a:stretch/>
        </p:blipFill>
        <p:spPr>
          <a:xfrm>
            <a:off x="5649120" y="2323080"/>
            <a:ext cx="400680" cy="40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4" name="テキスト ボックス 533"/>
          <p:cNvSpPr txBox="1"/>
          <p:nvPr/>
        </p:nvSpPr>
        <p:spPr>
          <a:xfrm>
            <a:off x="6471000" y="1760400"/>
            <a:ext cx="2755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通のメールがすべて正常に送受信された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テキスト ボックス 534"/>
          <p:cNvSpPr txBox="1"/>
          <p:nvPr/>
        </p:nvSpPr>
        <p:spPr>
          <a:xfrm>
            <a:off x="6184080" y="2193120"/>
            <a:ext cx="372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テキスト ボックス 535"/>
          <p:cNvSpPr txBox="1"/>
          <p:nvPr/>
        </p:nvSpPr>
        <p:spPr>
          <a:xfrm>
            <a:off x="6554880" y="2187360"/>
            <a:ext cx="100656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検知機能確認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テキスト ボックス 536"/>
          <p:cNvSpPr txBox="1"/>
          <p:nvPr/>
        </p:nvSpPr>
        <p:spPr>
          <a:xfrm>
            <a:off x="6184080" y="2428920"/>
            <a:ext cx="1677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メール受信者を識別する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テキスト ボックス 537"/>
          <p:cNvSpPr txBox="1"/>
          <p:nvPr/>
        </p:nvSpPr>
        <p:spPr>
          <a:xfrm>
            <a:off x="7838640" y="2434320"/>
            <a:ext cx="299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テキスト ボックス 538"/>
          <p:cNvSpPr txBox="1"/>
          <p:nvPr/>
        </p:nvSpPr>
        <p:spPr>
          <a:xfrm>
            <a:off x="8137080" y="2428920"/>
            <a:ext cx="1990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パラメータが正常に記録され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0" name="図 539"/>
          <p:cNvPicPr/>
          <p:nvPr/>
        </p:nvPicPr>
        <p:blipFill>
          <a:blip r:embed="rId9"/>
          <a:stretch/>
        </p:blipFill>
        <p:spPr>
          <a:xfrm>
            <a:off x="5782680" y="330912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1" name="テキスト ボックス 540"/>
          <p:cNvSpPr txBox="1"/>
          <p:nvPr/>
        </p:nvSpPr>
        <p:spPr>
          <a:xfrm>
            <a:off x="6184080" y="2662920"/>
            <a:ext cx="155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た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テキスト ボックス 541"/>
          <p:cNvSpPr txBox="1"/>
          <p:nvPr/>
        </p:nvSpPr>
        <p:spPr>
          <a:xfrm>
            <a:off x="5974920" y="3290400"/>
            <a:ext cx="33588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考察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3" name="図 542"/>
          <p:cNvPicPr/>
          <p:nvPr/>
        </p:nvPicPr>
        <p:blipFill>
          <a:blip r:embed="rId10"/>
          <a:stretch/>
        </p:blipFill>
        <p:spPr>
          <a:xfrm>
            <a:off x="5782680" y="391104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テキスト ボックス 543"/>
          <p:cNvSpPr txBox="1"/>
          <p:nvPr/>
        </p:nvSpPr>
        <p:spPr>
          <a:xfrm>
            <a:off x="5782680" y="3598920"/>
            <a:ext cx="41346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開発したメール配信システムは</a:t>
            </a:r>
            <a:r>
              <a:rPr lang="zh-CN" sz="1180" b="0" u="none" strike="noStrike">
                <a:solidFill>
                  <a:srgbClr val="6EE7B7"/>
                </a:solidFill>
                <a:effectLst/>
                <a:uFillTx/>
                <a:latin typeface="WenQuanYiZenHei"/>
                <a:ea typeface="WenQuanYiZenHei"/>
              </a:rPr>
              <a:t>実用に耐えうる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と評価できる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テキスト ボックス 544"/>
          <p:cNvSpPr txBox="1"/>
          <p:nvPr/>
        </p:nvSpPr>
        <p:spPr>
          <a:xfrm>
            <a:off x="6000120" y="390492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テキスト ボックス 545"/>
          <p:cNvSpPr txBox="1"/>
          <p:nvPr/>
        </p:nvSpPr>
        <p:spPr>
          <a:xfrm>
            <a:off x="6048000" y="3899880"/>
            <a:ext cx="3965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ただし、実際の環境では同一環境でも同様の結果を得られ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フリーフォーム 546"/>
          <p:cNvSpPr/>
          <p:nvPr/>
        </p:nvSpPr>
        <p:spPr>
          <a:xfrm>
            <a:off x="334080" y="4880160"/>
            <a:ext cx="10028520" cy="936360"/>
          </a:xfrm>
          <a:custGeom>
            <a:avLst/>
            <a:gdLst/>
            <a:ahLst/>
            <a:cxnLst/>
            <a:rect l="0" t="0" r="r" b="b"/>
            <a:pathLst>
              <a:path w="27857" h="2601">
                <a:moveTo>
                  <a:pt x="0" y="2415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5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27671" y="0"/>
                </a:lnTo>
                <a:cubicBezTo>
                  <a:pt x="27683" y="0"/>
                  <a:pt x="27695" y="1"/>
                  <a:pt x="27707" y="3"/>
                </a:cubicBezTo>
                <a:cubicBezTo>
                  <a:pt x="27719" y="6"/>
                  <a:pt x="27731" y="9"/>
                  <a:pt x="27742" y="14"/>
                </a:cubicBezTo>
                <a:cubicBezTo>
                  <a:pt x="27753" y="19"/>
                  <a:pt x="27764" y="24"/>
                  <a:pt x="27774" y="31"/>
                </a:cubicBezTo>
                <a:cubicBezTo>
                  <a:pt x="27784" y="38"/>
                  <a:pt x="27794" y="46"/>
                  <a:pt x="27802" y="54"/>
                </a:cubicBezTo>
                <a:cubicBezTo>
                  <a:pt x="27811" y="63"/>
                  <a:pt x="27819" y="72"/>
                  <a:pt x="27825" y="82"/>
                </a:cubicBezTo>
                <a:cubicBezTo>
                  <a:pt x="27832" y="93"/>
                  <a:pt x="27838" y="103"/>
                  <a:pt x="27843" y="115"/>
                </a:cubicBezTo>
                <a:cubicBezTo>
                  <a:pt x="27847" y="126"/>
                  <a:pt x="27851" y="137"/>
                  <a:pt x="27853" y="149"/>
                </a:cubicBezTo>
                <a:cubicBezTo>
                  <a:pt x="27855" y="161"/>
                  <a:pt x="27857" y="173"/>
                  <a:pt x="27857" y="186"/>
                </a:cubicBezTo>
                <a:lnTo>
                  <a:pt x="27857" y="2415"/>
                </a:lnTo>
                <a:cubicBezTo>
                  <a:pt x="27857" y="2427"/>
                  <a:pt x="27855" y="2439"/>
                  <a:pt x="27853" y="2451"/>
                </a:cubicBezTo>
                <a:cubicBezTo>
                  <a:pt x="27851" y="2463"/>
                  <a:pt x="27847" y="2475"/>
                  <a:pt x="27843" y="2486"/>
                </a:cubicBezTo>
                <a:cubicBezTo>
                  <a:pt x="27838" y="2497"/>
                  <a:pt x="27832" y="2508"/>
                  <a:pt x="27825" y="2518"/>
                </a:cubicBezTo>
                <a:cubicBezTo>
                  <a:pt x="27819" y="2528"/>
                  <a:pt x="27811" y="2538"/>
                  <a:pt x="27802" y="2546"/>
                </a:cubicBezTo>
                <a:cubicBezTo>
                  <a:pt x="27794" y="2555"/>
                  <a:pt x="27784" y="2563"/>
                  <a:pt x="27774" y="2569"/>
                </a:cubicBezTo>
                <a:cubicBezTo>
                  <a:pt x="27764" y="2576"/>
                  <a:pt x="27753" y="2582"/>
                  <a:pt x="27742" y="2587"/>
                </a:cubicBezTo>
                <a:cubicBezTo>
                  <a:pt x="27731" y="2591"/>
                  <a:pt x="27719" y="2595"/>
                  <a:pt x="27707" y="2597"/>
                </a:cubicBezTo>
                <a:cubicBezTo>
                  <a:pt x="27695" y="2600"/>
                  <a:pt x="27683" y="2601"/>
                  <a:pt x="27671" y="2601"/>
                </a:cubicBezTo>
                <a:lnTo>
                  <a:pt x="186" y="2601"/>
                </a:lnTo>
                <a:cubicBezTo>
                  <a:pt x="174" y="2601"/>
                  <a:pt x="161" y="2600"/>
                  <a:pt x="149" y="2597"/>
                </a:cubicBezTo>
                <a:cubicBezTo>
                  <a:pt x="138" y="2595"/>
                  <a:pt x="126" y="2591"/>
                  <a:pt x="115" y="2587"/>
                </a:cubicBezTo>
                <a:cubicBezTo>
                  <a:pt x="103" y="2582"/>
                  <a:pt x="93" y="2576"/>
                  <a:pt x="83" y="2569"/>
                </a:cubicBezTo>
                <a:cubicBezTo>
                  <a:pt x="72" y="2563"/>
                  <a:pt x="63" y="2555"/>
                  <a:pt x="54" y="2546"/>
                </a:cubicBezTo>
                <a:cubicBezTo>
                  <a:pt x="46" y="2538"/>
                  <a:pt x="38" y="2528"/>
                  <a:pt x="31" y="2518"/>
                </a:cubicBezTo>
                <a:cubicBezTo>
                  <a:pt x="25" y="2508"/>
                  <a:pt x="19" y="2497"/>
                  <a:pt x="14" y="2486"/>
                </a:cubicBezTo>
                <a:cubicBezTo>
                  <a:pt x="9" y="2475"/>
                  <a:pt x="6" y="2463"/>
                  <a:pt x="4" y="2451"/>
                </a:cubicBezTo>
                <a:cubicBezTo>
                  <a:pt x="1" y="2439"/>
                  <a:pt x="0" y="2427"/>
                  <a:pt x="0" y="2415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8" name="図 547"/>
          <p:cNvPicPr/>
          <p:nvPr/>
        </p:nvPicPr>
        <p:blipFill>
          <a:blip r:embed="rId11"/>
          <a:stretch/>
        </p:blipFill>
        <p:spPr>
          <a:xfrm>
            <a:off x="1387080" y="510588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テキスト ボックス 548"/>
          <p:cNvSpPr txBox="1"/>
          <p:nvPr/>
        </p:nvSpPr>
        <p:spPr>
          <a:xfrm>
            <a:off x="5782680" y="4133880"/>
            <a:ext cx="1225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ない可能性がある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0" name="図 549"/>
          <p:cNvPicPr/>
          <p:nvPr/>
        </p:nvPicPr>
        <p:blipFill>
          <a:blip r:embed="rId12"/>
          <a:stretch/>
        </p:blipFill>
        <p:spPr>
          <a:xfrm>
            <a:off x="2632320" y="5248080"/>
            <a:ext cx="17496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1" name="図 550"/>
          <p:cNvPicPr/>
          <p:nvPr/>
        </p:nvPicPr>
        <p:blipFill>
          <a:blip r:embed="rId13"/>
          <a:stretch/>
        </p:blipFill>
        <p:spPr>
          <a:xfrm>
            <a:off x="3685320" y="510588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テキスト ボックス 551"/>
          <p:cNvSpPr txBox="1"/>
          <p:nvPr/>
        </p:nvSpPr>
        <p:spPr>
          <a:xfrm>
            <a:off x="869040" y="5436360"/>
            <a:ext cx="1307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メール自動生成システム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テキスト ボックス 552"/>
          <p:cNvSpPr txBox="1"/>
          <p:nvPr/>
        </p:nvSpPr>
        <p:spPr>
          <a:xfrm>
            <a:off x="3287160" y="5440320"/>
            <a:ext cx="224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300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4" name="図 553"/>
          <p:cNvPicPr/>
          <p:nvPr/>
        </p:nvPicPr>
        <p:blipFill>
          <a:blip r:embed="rId12"/>
          <a:stretch/>
        </p:blipFill>
        <p:spPr>
          <a:xfrm>
            <a:off x="4805280" y="5248080"/>
            <a:ext cx="17496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5" name="図 554"/>
          <p:cNvPicPr/>
          <p:nvPr/>
        </p:nvPicPr>
        <p:blipFill>
          <a:blip r:embed="rId14"/>
          <a:stretch/>
        </p:blipFill>
        <p:spPr>
          <a:xfrm>
            <a:off x="5740920" y="510588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6" name="テキスト ボックス 555"/>
          <p:cNvSpPr txBox="1"/>
          <p:nvPr/>
        </p:nvSpPr>
        <p:spPr>
          <a:xfrm>
            <a:off x="3510360" y="5436360"/>
            <a:ext cx="830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通のメール送信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7" name="図 556"/>
          <p:cNvPicPr/>
          <p:nvPr/>
        </p:nvPicPr>
        <p:blipFill>
          <a:blip r:embed="rId15"/>
          <a:stretch/>
        </p:blipFill>
        <p:spPr>
          <a:xfrm>
            <a:off x="6760440" y="5248080"/>
            <a:ext cx="17496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8" name="図 557"/>
          <p:cNvPicPr/>
          <p:nvPr/>
        </p:nvPicPr>
        <p:blipFill>
          <a:blip r:embed="rId16"/>
          <a:stretch/>
        </p:blipFill>
        <p:spPr>
          <a:xfrm>
            <a:off x="7679880" y="5105880"/>
            <a:ext cx="1584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9" name="テキスト ボックス 558"/>
          <p:cNvSpPr txBox="1"/>
          <p:nvPr/>
        </p:nvSpPr>
        <p:spPr>
          <a:xfrm>
            <a:off x="5460480" y="5436360"/>
            <a:ext cx="827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メール受信確認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テキスト ボックス 559"/>
          <p:cNvSpPr txBox="1"/>
          <p:nvPr/>
        </p:nvSpPr>
        <p:spPr>
          <a:xfrm>
            <a:off x="7410600" y="5440320"/>
            <a:ext cx="233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1" name="図 560"/>
          <p:cNvPicPr/>
          <p:nvPr/>
        </p:nvPicPr>
        <p:blipFill>
          <a:blip r:embed="rId15"/>
          <a:stretch/>
        </p:blipFill>
        <p:spPr>
          <a:xfrm>
            <a:off x="8590680" y="5248080"/>
            <a:ext cx="17496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2" name="図 561"/>
          <p:cNvPicPr/>
          <p:nvPr/>
        </p:nvPicPr>
        <p:blipFill>
          <a:blip r:embed="rId17"/>
          <a:stretch/>
        </p:blipFill>
        <p:spPr>
          <a:xfrm>
            <a:off x="9409680" y="510588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3" name="テキスト ボックス 562"/>
          <p:cNvSpPr txBox="1"/>
          <p:nvPr/>
        </p:nvSpPr>
        <p:spPr>
          <a:xfrm>
            <a:off x="7642440" y="5436360"/>
            <a:ext cx="47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検知確認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4" name="図 563"/>
          <p:cNvPicPr/>
          <p:nvPr/>
        </p:nvPicPr>
        <p:blipFill>
          <a:blip r:embed="rId18"/>
          <a:stretch/>
        </p:blipFill>
        <p:spPr>
          <a:xfrm>
            <a:off x="10053000" y="5782680"/>
            <a:ext cx="50940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5" name="テキスト ボックス 564"/>
          <p:cNvSpPr txBox="1"/>
          <p:nvPr/>
        </p:nvSpPr>
        <p:spPr>
          <a:xfrm>
            <a:off x="9241560" y="5436360"/>
            <a:ext cx="595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テスト成功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図 565"/>
          <p:cNvPicPr/>
          <p:nvPr/>
        </p:nvPicPr>
        <p:blipFill>
          <a:blip r:embed="rId2"/>
          <a:stretch/>
        </p:blipFill>
        <p:spPr>
          <a:xfrm>
            <a:off x="0" y="0"/>
            <a:ext cx="10696320" cy="638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テキスト ボックス 566"/>
          <p:cNvSpPr txBox="1"/>
          <p:nvPr/>
        </p:nvSpPr>
        <p:spPr>
          <a:xfrm>
            <a:off x="334440" y="326880"/>
            <a:ext cx="228168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79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受信メールの表示例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フリーフォーム 567"/>
          <p:cNvSpPr/>
          <p:nvPr/>
        </p:nvSpPr>
        <p:spPr>
          <a:xfrm>
            <a:off x="334080" y="1805040"/>
            <a:ext cx="3209400" cy="2674440"/>
          </a:xfrm>
          <a:custGeom>
            <a:avLst/>
            <a:gdLst/>
            <a:ahLst/>
            <a:cxnLst/>
            <a:rect l="0" t="0" r="r" b="b"/>
            <a:pathLst>
              <a:path w="8915" h="7429">
                <a:moveTo>
                  <a:pt x="0" y="724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8" y="5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9"/>
                  <a:pt x="8800" y="14"/>
                </a:cubicBezTo>
                <a:cubicBezTo>
                  <a:pt x="8811" y="18"/>
                  <a:pt x="8822" y="24"/>
                  <a:pt x="8832" y="31"/>
                </a:cubicBezTo>
                <a:cubicBezTo>
                  <a:pt x="8842" y="38"/>
                  <a:pt x="8852" y="45"/>
                  <a:pt x="8860" y="54"/>
                </a:cubicBezTo>
                <a:cubicBezTo>
                  <a:pt x="8869" y="63"/>
                  <a:pt x="8877" y="72"/>
                  <a:pt x="8884" y="82"/>
                </a:cubicBezTo>
                <a:cubicBezTo>
                  <a:pt x="8890" y="92"/>
                  <a:pt x="8896" y="103"/>
                  <a:pt x="8901" y="114"/>
                </a:cubicBezTo>
                <a:cubicBezTo>
                  <a:pt x="8905" y="125"/>
                  <a:pt x="8909" y="137"/>
                  <a:pt x="8911" y="149"/>
                </a:cubicBezTo>
                <a:cubicBezTo>
                  <a:pt x="8914" y="161"/>
                  <a:pt x="8915" y="173"/>
                  <a:pt x="8915" y="185"/>
                </a:cubicBezTo>
                <a:lnTo>
                  <a:pt x="8915" y="7243"/>
                </a:lnTo>
                <a:cubicBezTo>
                  <a:pt x="8915" y="7255"/>
                  <a:pt x="8914" y="7267"/>
                  <a:pt x="8911" y="7279"/>
                </a:cubicBezTo>
                <a:cubicBezTo>
                  <a:pt x="8909" y="7291"/>
                  <a:pt x="8905" y="7303"/>
                  <a:pt x="8901" y="7314"/>
                </a:cubicBezTo>
                <a:cubicBezTo>
                  <a:pt x="8896" y="7325"/>
                  <a:pt x="8890" y="7336"/>
                  <a:pt x="8884" y="7346"/>
                </a:cubicBezTo>
                <a:cubicBezTo>
                  <a:pt x="8877" y="7356"/>
                  <a:pt x="8869" y="7366"/>
                  <a:pt x="8860" y="7374"/>
                </a:cubicBezTo>
                <a:cubicBezTo>
                  <a:pt x="8852" y="7383"/>
                  <a:pt x="8842" y="7391"/>
                  <a:pt x="8832" y="7397"/>
                </a:cubicBezTo>
                <a:cubicBezTo>
                  <a:pt x="8822" y="7404"/>
                  <a:pt x="8811" y="7410"/>
                  <a:pt x="8800" y="7415"/>
                </a:cubicBezTo>
                <a:cubicBezTo>
                  <a:pt x="8789" y="7419"/>
                  <a:pt x="8777" y="7423"/>
                  <a:pt x="8765" y="7425"/>
                </a:cubicBezTo>
                <a:cubicBezTo>
                  <a:pt x="8753" y="7428"/>
                  <a:pt x="8741" y="7429"/>
                  <a:pt x="8729" y="7429"/>
                </a:cubicBezTo>
                <a:lnTo>
                  <a:pt x="186" y="7429"/>
                </a:lnTo>
                <a:cubicBezTo>
                  <a:pt x="174" y="7429"/>
                  <a:pt x="161" y="7428"/>
                  <a:pt x="149" y="7425"/>
                </a:cubicBezTo>
                <a:cubicBezTo>
                  <a:pt x="138" y="7423"/>
                  <a:pt x="126" y="7419"/>
                  <a:pt x="115" y="7415"/>
                </a:cubicBezTo>
                <a:cubicBezTo>
                  <a:pt x="103" y="7410"/>
                  <a:pt x="93" y="7404"/>
                  <a:pt x="83" y="7397"/>
                </a:cubicBezTo>
                <a:cubicBezTo>
                  <a:pt x="72" y="7391"/>
                  <a:pt x="63" y="7383"/>
                  <a:pt x="54" y="7374"/>
                </a:cubicBezTo>
                <a:cubicBezTo>
                  <a:pt x="46" y="7366"/>
                  <a:pt x="38" y="7356"/>
                  <a:pt x="31" y="7346"/>
                </a:cubicBezTo>
                <a:cubicBezTo>
                  <a:pt x="25" y="7336"/>
                  <a:pt x="19" y="7325"/>
                  <a:pt x="14" y="7314"/>
                </a:cubicBezTo>
                <a:cubicBezTo>
                  <a:pt x="9" y="7303"/>
                  <a:pt x="6" y="7291"/>
                  <a:pt x="4" y="7279"/>
                </a:cubicBezTo>
                <a:cubicBezTo>
                  <a:pt x="1" y="7267"/>
                  <a:pt x="0" y="7255"/>
                  <a:pt x="0" y="72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フリーフォーム 568"/>
          <p:cNvSpPr/>
          <p:nvPr/>
        </p:nvSpPr>
        <p:spPr>
          <a:xfrm>
            <a:off x="334080" y="1805040"/>
            <a:ext cx="3209400" cy="309240"/>
          </a:xfrm>
          <a:custGeom>
            <a:avLst/>
            <a:gdLst/>
            <a:ahLst/>
            <a:cxnLst/>
            <a:rect l="0" t="0" r="r" b="b"/>
            <a:pathLst>
              <a:path w="8915" h="859">
                <a:moveTo>
                  <a:pt x="14" y="114"/>
                </a:moveTo>
                <a:cubicBezTo>
                  <a:pt x="24" y="91"/>
                  <a:pt x="37" y="71"/>
                  <a:pt x="54" y="54"/>
                </a:cubicBezTo>
                <a:cubicBezTo>
                  <a:pt x="72" y="36"/>
                  <a:pt x="92" y="23"/>
                  <a:pt x="115" y="14"/>
                </a:cubicBezTo>
                <a:cubicBezTo>
                  <a:pt x="137" y="4"/>
                  <a:pt x="161" y="0"/>
                  <a:pt x="186" y="0"/>
                </a:cubicBezTo>
                <a:lnTo>
                  <a:pt x="8729" y="0"/>
                </a:lnTo>
                <a:cubicBezTo>
                  <a:pt x="8754" y="0"/>
                  <a:pt x="8777" y="4"/>
                  <a:pt x="8800" y="14"/>
                </a:cubicBezTo>
                <a:cubicBezTo>
                  <a:pt x="8823" y="23"/>
                  <a:pt x="8843" y="36"/>
                  <a:pt x="8860" y="54"/>
                </a:cubicBezTo>
                <a:cubicBezTo>
                  <a:pt x="8878" y="71"/>
                  <a:pt x="8891" y="91"/>
                  <a:pt x="8901" y="114"/>
                </a:cubicBezTo>
                <a:cubicBezTo>
                  <a:pt x="8910" y="137"/>
                  <a:pt x="8915" y="161"/>
                  <a:pt x="8915" y="185"/>
                </a:cubicBezTo>
                <a:lnTo>
                  <a:pt x="8915" y="859"/>
                </a:lnTo>
                <a:lnTo>
                  <a:pt x="0" y="859"/>
                </a:lnTo>
                <a:lnTo>
                  <a:pt x="0" y="185"/>
                </a:lnTo>
                <a:cubicBezTo>
                  <a:pt x="0" y="161"/>
                  <a:pt x="5" y="137"/>
                  <a:pt x="14" y="114"/>
                </a:cubicBezTo>
                <a:close/>
              </a:path>
            </a:pathLst>
          </a:custGeom>
          <a:solidFill>
            <a:srgbClr val="F6F8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フリーフォーム 569"/>
          <p:cNvSpPr/>
          <p:nvPr/>
        </p:nvSpPr>
        <p:spPr>
          <a:xfrm>
            <a:off x="334080" y="2105640"/>
            <a:ext cx="3209400" cy="8640"/>
          </a:xfrm>
          <a:custGeom>
            <a:avLst/>
            <a:gdLst/>
            <a:ahLst/>
            <a:cxnLst/>
            <a:rect l="0" t="0" r="r" b="b"/>
            <a:pathLst>
              <a:path w="8915" h="24">
                <a:moveTo>
                  <a:pt x="0" y="0"/>
                </a:moveTo>
                <a:lnTo>
                  <a:pt x="8915" y="0"/>
                </a:lnTo>
                <a:lnTo>
                  <a:pt x="8915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フリーフォーム 570"/>
          <p:cNvSpPr/>
          <p:nvPr/>
        </p:nvSpPr>
        <p:spPr>
          <a:xfrm>
            <a:off x="467640" y="2749320"/>
            <a:ext cx="2941920" cy="8640"/>
          </a:xfrm>
          <a:custGeom>
            <a:avLst/>
            <a:gdLst/>
            <a:ahLst/>
            <a:cxnLst/>
            <a:rect l="0" t="0" r="r" b="b"/>
            <a:pathLst>
              <a:path w="8172" h="24">
                <a:moveTo>
                  <a:pt x="0" y="0"/>
                </a:moveTo>
                <a:lnTo>
                  <a:pt x="8172" y="0"/>
                </a:lnTo>
                <a:lnTo>
                  <a:pt x="8172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2" name="図 571"/>
          <p:cNvPicPr/>
          <p:nvPr/>
        </p:nvPicPr>
        <p:blipFill>
          <a:blip r:embed="rId3"/>
          <a:stretch/>
        </p:blipFill>
        <p:spPr>
          <a:xfrm>
            <a:off x="334440" y="1554480"/>
            <a:ext cx="15840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3" name="テキスト ボックス 572"/>
          <p:cNvSpPr txBox="1"/>
          <p:nvPr/>
        </p:nvSpPr>
        <p:spPr>
          <a:xfrm>
            <a:off x="9774360" y="388080"/>
            <a:ext cx="5904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11 / 12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テキスト ボックス 573"/>
          <p:cNvSpPr txBox="1"/>
          <p:nvPr/>
        </p:nvSpPr>
        <p:spPr>
          <a:xfrm>
            <a:off x="559800" y="1555560"/>
            <a:ext cx="947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Gmail (PC) -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5" name="図 574"/>
          <p:cNvPicPr/>
          <p:nvPr/>
        </p:nvPicPr>
        <p:blipFill>
          <a:blip r:embed="rId4"/>
          <a:stretch/>
        </p:blipFill>
        <p:spPr>
          <a:xfrm>
            <a:off x="401040" y="1888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6" name="テキスト ボックス 575"/>
          <p:cNvSpPr txBox="1"/>
          <p:nvPr/>
        </p:nvSpPr>
        <p:spPr>
          <a:xfrm>
            <a:off x="1504440" y="155088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佐藤様宛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7" name="図 576"/>
          <p:cNvPicPr/>
          <p:nvPr/>
        </p:nvPicPr>
        <p:blipFill>
          <a:blip r:embed="rId5"/>
          <a:stretch/>
        </p:blipFill>
        <p:spPr>
          <a:xfrm>
            <a:off x="3342600" y="1888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テキスト ボックス 577"/>
          <p:cNvSpPr txBox="1"/>
          <p:nvPr/>
        </p:nvSpPr>
        <p:spPr>
          <a:xfrm>
            <a:off x="601560" y="1884600"/>
            <a:ext cx="595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受信トレイ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テキスト ボックス 578"/>
          <p:cNvSpPr txBox="1"/>
          <p:nvPr/>
        </p:nvSpPr>
        <p:spPr>
          <a:xfrm>
            <a:off x="468000" y="2261160"/>
            <a:ext cx="1488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資料の内容確認のお願い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テキスト ボックス 579"/>
          <p:cNvSpPr txBox="1"/>
          <p:nvPr/>
        </p:nvSpPr>
        <p:spPr>
          <a:xfrm>
            <a:off x="468000" y="2518920"/>
            <a:ext cx="30240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790" b="0" u="none" strike="noStrike">
                <a:solidFill>
                  <a:srgbClr val="6B7280"/>
                </a:solidFill>
                <a:effectLst/>
                <a:uFillTx/>
                <a:latin typeface="WenQuanYiZenHei"/>
                <a:ea typeface="WenQuanYiZenHei"/>
              </a:rPr>
              <a:t>送信者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テキスト ボックス 580"/>
          <p:cNvSpPr txBox="1"/>
          <p:nvPr/>
        </p:nvSpPr>
        <p:spPr>
          <a:xfrm>
            <a:off x="768960" y="2522520"/>
            <a:ext cx="13284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 &lt;sender@example.com&gt;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テキスト ボックス 581"/>
          <p:cNvSpPr txBox="1"/>
          <p:nvPr/>
        </p:nvSpPr>
        <p:spPr>
          <a:xfrm>
            <a:off x="468000" y="2870640"/>
            <a:ext cx="2939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资料の内容確の上、期日以内纳指示正部分置換状熊添付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テキスト ボックス 582"/>
          <p:cNvSpPr txBox="1"/>
          <p:nvPr/>
        </p:nvSpPr>
        <p:spPr>
          <a:xfrm>
            <a:off x="468000" y="3037680"/>
            <a:ext cx="2353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加筆所反映済资料の内容查の上、期日以内纳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テキスト ボックス 583"/>
          <p:cNvSpPr txBox="1"/>
          <p:nvPr/>
        </p:nvSpPr>
        <p:spPr>
          <a:xfrm>
            <a:off x="468000" y="3271680"/>
            <a:ext cx="1528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平素格别の爱厚御礼申上主口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フリーフォーム 584"/>
          <p:cNvSpPr/>
          <p:nvPr/>
        </p:nvSpPr>
        <p:spPr>
          <a:xfrm>
            <a:off x="3810600" y="1805040"/>
            <a:ext cx="3209040" cy="2674440"/>
          </a:xfrm>
          <a:custGeom>
            <a:avLst/>
            <a:gdLst/>
            <a:ahLst/>
            <a:cxnLst/>
            <a:rect l="0" t="0" r="r" b="b"/>
            <a:pathLst>
              <a:path w="8914" h="7429">
                <a:moveTo>
                  <a:pt x="0" y="724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6" y="9"/>
                  <a:pt x="137" y="5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9"/>
                  <a:pt x="8800" y="14"/>
                </a:cubicBezTo>
                <a:cubicBezTo>
                  <a:pt x="8811" y="18"/>
                  <a:pt x="8822" y="24"/>
                  <a:pt x="8832" y="31"/>
                </a:cubicBezTo>
                <a:cubicBezTo>
                  <a:pt x="8842" y="38"/>
                  <a:pt x="8851" y="45"/>
                  <a:pt x="8860" y="54"/>
                </a:cubicBezTo>
                <a:cubicBezTo>
                  <a:pt x="8869" y="63"/>
                  <a:pt x="8876" y="72"/>
                  <a:pt x="8883" y="82"/>
                </a:cubicBezTo>
                <a:cubicBezTo>
                  <a:pt x="8890" y="92"/>
                  <a:pt x="8896" y="103"/>
                  <a:pt x="8900" y="114"/>
                </a:cubicBezTo>
                <a:cubicBezTo>
                  <a:pt x="8905" y="125"/>
                  <a:pt x="8909" y="137"/>
                  <a:pt x="8911" y="149"/>
                </a:cubicBezTo>
                <a:cubicBezTo>
                  <a:pt x="8913" y="161"/>
                  <a:pt x="8914" y="173"/>
                  <a:pt x="8914" y="185"/>
                </a:cubicBezTo>
                <a:lnTo>
                  <a:pt x="8914" y="7243"/>
                </a:lnTo>
                <a:cubicBezTo>
                  <a:pt x="8914" y="7255"/>
                  <a:pt x="8913" y="7267"/>
                  <a:pt x="8911" y="7279"/>
                </a:cubicBezTo>
                <a:cubicBezTo>
                  <a:pt x="8909" y="7291"/>
                  <a:pt x="8905" y="7303"/>
                  <a:pt x="8900" y="7314"/>
                </a:cubicBezTo>
                <a:cubicBezTo>
                  <a:pt x="8896" y="7325"/>
                  <a:pt x="8890" y="7336"/>
                  <a:pt x="8883" y="7346"/>
                </a:cubicBezTo>
                <a:cubicBezTo>
                  <a:pt x="8876" y="7356"/>
                  <a:pt x="8869" y="7366"/>
                  <a:pt x="8860" y="7374"/>
                </a:cubicBezTo>
                <a:cubicBezTo>
                  <a:pt x="8851" y="7383"/>
                  <a:pt x="8842" y="7391"/>
                  <a:pt x="8832" y="7397"/>
                </a:cubicBezTo>
                <a:cubicBezTo>
                  <a:pt x="8822" y="7404"/>
                  <a:pt x="8811" y="7410"/>
                  <a:pt x="8800" y="7415"/>
                </a:cubicBezTo>
                <a:cubicBezTo>
                  <a:pt x="8789" y="7419"/>
                  <a:pt x="8777" y="7423"/>
                  <a:pt x="8765" y="7425"/>
                </a:cubicBezTo>
                <a:cubicBezTo>
                  <a:pt x="8753" y="7428"/>
                  <a:pt x="8741" y="7429"/>
                  <a:pt x="8729" y="7429"/>
                </a:cubicBezTo>
                <a:lnTo>
                  <a:pt x="185" y="7429"/>
                </a:lnTo>
                <a:cubicBezTo>
                  <a:pt x="173" y="7429"/>
                  <a:pt x="161" y="7428"/>
                  <a:pt x="149" y="7425"/>
                </a:cubicBezTo>
                <a:cubicBezTo>
                  <a:pt x="137" y="7423"/>
                  <a:pt x="126" y="7419"/>
                  <a:pt x="114" y="7415"/>
                </a:cubicBezTo>
                <a:cubicBezTo>
                  <a:pt x="103" y="7410"/>
                  <a:pt x="92" y="7404"/>
                  <a:pt x="82" y="7397"/>
                </a:cubicBezTo>
                <a:cubicBezTo>
                  <a:pt x="72" y="7391"/>
                  <a:pt x="63" y="7383"/>
                  <a:pt x="54" y="7374"/>
                </a:cubicBezTo>
                <a:cubicBezTo>
                  <a:pt x="45" y="7366"/>
                  <a:pt x="38" y="7356"/>
                  <a:pt x="31" y="7346"/>
                </a:cubicBezTo>
                <a:cubicBezTo>
                  <a:pt x="24" y="7336"/>
                  <a:pt x="18" y="7325"/>
                  <a:pt x="14" y="7314"/>
                </a:cubicBezTo>
                <a:cubicBezTo>
                  <a:pt x="9" y="7303"/>
                  <a:pt x="6" y="7291"/>
                  <a:pt x="3" y="7279"/>
                </a:cubicBezTo>
                <a:cubicBezTo>
                  <a:pt x="1" y="7267"/>
                  <a:pt x="0" y="7255"/>
                  <a:pt x="0" y="72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フリーフォーム 585"/>
          <p:cNvSpPr/>
          <p:nvPr/>
        </p:nvSpPr>
        <p:spPr>
          <a:xfrm>
            <a:off x="3810600" y="1805040"/>
            <a:ext cx="3209040" cy="309240"/>
          </a:xfrm>
          <a:custGeom>
            <a:avLst/>
            <a:gdLst/>
            <a:ahLst/>
            <a:cxnLst/>
            <a:rect l="0" t="0" r="r" b="b"/>
            <a:pathLst>
              <a:path w="8914" h="859">
                <a:moveTo>
                  <a:pt x="0" y="185"/>
                </a:moveTo>
                <a:cubicBezTo>
                  <a:pt x="0" y="161"/>
                  <a:pt x="4" y="137"/>
                  <a:pt x="14" y="114"/>
                </a:cubicBezTo>
                <a:cubicBezTo>
                  <a:pt x="23" y="91"/>
                  <a:pt x="37" y="71"/>
                  <a:pt x="54" y="54"/>
                </a:cubicBezTo>
                <a:cubicBezTo>
                  <a:pt x="71" y="36"/>
                  <a:pt x="92" y="23"/>
                  <a:pt x="114" y="14"/>
                </a:cubicBezTo>
                <a:cubicBezTo>
                  <a:pt x="137" y="4"/>
                  <a:pt x="161" y="0"/>
                  <a:pt x="185" y="0"/>
                </a:cubicBezTo>
                <a:lnTo>
                  <a:pt x="8729" y="0"/>
                </a:lnTo>
                <a:cubicBezTo>
                  <a:pt x="8753" y="0"/>
                  <a:pt x="8777" y="4"/>
                  <a:pt x="8800" y="14"/>
                </a:cubicBezTo>
                <a:cubicBezTo>
                  <a:pt x="8823" y="23"/>
                  <a:pt x="8843" y="36"/>
                  <a:pt x="8860" y="54"/>
                </a:cubicBezTo>
                <a:cubicBezTo>
                  <a:pt x="8877" y="71"/>
                  <a:pt x="8891" y="91"/>
                  <a:pt x="8900" y="114"/>
                </a:cubicBezTo>
                <a:cubicBezTo>
                  <a:pt x="8910" y="137"/>
                  <a:pt x="8914" y="161"/>
                  <a:pt x="8914" y="185"/>
                </a:cubicBezTo>
                <a:lnTo>
                  <a:pt x="8914" y="859"/>
                </a:lnTo>
                <a:lnTo>
                  <a:pt x="0" y="859"/>
                </a:lnTo>
                <a:lnTo>
                  <a:pt x="0" y="185"/>
                </a:lnTo>
                <a:close/>
              </a:path>
            </a:pathLst>
          </a:custGeom>
          <a:solidFill>
            <a:srgbClr val="F6F8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フリーフォーム 586"/>
          <p:cNvSpPr/>
          <p:nvPr/>
        </p:nvSpPr>
        <p:spPr>
          <a:xfrm>
            <a:off x="3810600" y="2105640"/>
            <a:ext cx="3209040" cy="8640"/>
          </a:xfrm>
          <a:custGeom>
            <a:avLst/>
            <a:gdLst/>
            <a:ahLst/>
            <a:cxnLst/>
            <a:rect l="0" t="0" r="r" b="b"/>
            <a:pathLst>
              <a:path w="8914" h="24">
                <a:moveTo>
                  <a:pt x="0" y="0"/>
                </a:moveTo>
                <a:lnTo>
                  <a:pt x="8914" y="0"/>
                </a:lnTo>
                <a:lnTo>
                  <a:pt x="8914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フリーフォーム 587"/>
          <p:cNvSpPr/>
          <p:nvPr/>
        </p:nvSpPr>
        <p:spPr>
          <a:xfrm>
            <a:off x="3944160" y="2749320"/>
            <a:ext cx="2941920" cy="8640"/>
          </a:xfrm>
          <a:custGeom>
            <a:avLst/>
            <a:gdLst/>
            <a:ahLst/>
            <a:cxnLst/>
            <a:rect l="0" t="0" r="r" b="b"/>
            <a:pathLst>
              <a:path w="8172" h="24">
                <a:moveTo>
                  <a:pt x="0" y="0"/>
                </a:moveTo>
                <a:lnTo>
                  <a:pt x="8172" y="0"/>
                </a:lnTo>
                <a:lnTo>
                  <a:pt x="8172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9" name="図 588"/>
          <p:cNvPicPr/>
          <p:nvPr/>
        </p:nvPicPr>
        <p:blipFill>
          <a:blip r:embed="rId3"/>
          <a:stretch/>
        </p:blipFill>
        <p:spPr>
          <a:xfrm>
            <a:off x="3810600" y="1554480"/>
            <a:ext cx="15840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0" name="テキスト ボックス 589"/>
          <p:cNvSpPr txBox="1"/>
          <p:nvPr/>
        </p:nvSpPr>
        <p:spPr>
          <a:xfrm>
            <a:off x="468000" y="3572640"/>
            <a:ext cx="1439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2563EB"/>
                </a:solidFill>
                <a:effectLst/>
                <a:uFillTx/>
                <a:latin typeface="WenQuanYiZenHei"/>
                <a:ea typeface="WenQuanYiZenHei"/>
              </a:rPr>
              <a:t>ダウンロードはこちらから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テキスト ボックス 590"/>
          <p:cNvSpPr txBox="1"/>
          <p:nvPr/>
        </p:nvSpPr>
        <p:spPr>
          <a:xfrm>
            <a:off x="4036320" y="1555560"/>
            <a:ext cx="947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Gmail (PC) -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2" name="図 591"/>
          <p:cNvPicPr/>
          <p:nvPr/>
        </p:nvPicPr>
        <p:blipFill>
          <a:blip r:embed="rId4"/>
          <a:stretch/>
        </p:blipFill>
        <p:spPr>
          <a:xfrm>
            <a:off x="3877560" y="1888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3" name="テキスト ボックス 592"/>
          <p:cNvSpPr txBox="1"/>
          <p:nvPr/>
        </p:nvSpPr>
        <p:spPr>
          <a:xfrm>
            <a:off x="4980600" y="155088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田中様宛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4" name="図 593"/>
          <p:cNvPicPr/>
          <p:nvPr/>
        </p:nvPicPr>
        <p:blipFill>
          <a:blip r:embed="rId5"/>
          <a:stretch/>
        </p:blipFill>
        <p:spPr>
          <a:xfrm>
            <a:off x="6819120" y="1888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5" name="テキスト ボックス 594"/>
          <p:cNvSpPr txBox="1"/>
          <p:nvPr/>
        </p:nvSpPr>
        <p:spPr>
          <a:xfrm>
            <a:off x="4078080" y="1884600"/>
            <a:ext cx="595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受信トレイ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テキスト ボックス 595"/>
          <p:cNvSpPr txBox="1"/>
          <p:nvPr/>
        </p:nvSpPr>
        <p:spPr>
          <a:xfrm>
            <a:off x="3944520" y="2261160"/>
            <a:ext cx="1488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資料の内容確認のお願い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テキスト ボックス 596"/>
          <p:cNvSpPr txBox="1"/>
          <p:nvPr/>
        </p:nvSpPr>
        <p:spPr>
          <a:xfrm>
            <a:off x="3944520" y="2518920"/>
            <a:ext cx="30240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790" b="0" u="none" strike="noStrike">
                <a:solidFill>
                  <a:srgbClr val="6B7280"/>
                </a:solidFill>
                <a:effectLst/>
                <a:uFillTx/>
                <a:latin typeface="WenQuanYiZenHei"/>
                <a:ea typeface="WenQuanYiZenHei"/>
              </a:rPr>
              <a:t>送信者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テキスト ボックス 597"/>
          <p:cNvSpPr txBox="1"/>
          <p:nvPr/>
        </p:nvSpPr>
        <p:spPr>
          <a:xfrm>
            <a:off x="4245120" y="2522520"/>
            <a:ext cx="13284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 &lt;sender@example.com&gt;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テキスト ボックス 598"/>
          <p:cNvSpPr txBox="1"/>
          <p:nvPr/>
        </p:nvSpPr>
        <p:spPr>
          <a:xfrm>
            <a:off x="3944520" y="2870640"/>
            <a:ext cx="2939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资料の内容確の上、期日以内纳指示正部分置換状添付加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テキスト ボックス 599"/>
          <p:cNvSpPr txBox="1"/>
          <p:nvPr/>
        </p:nvSpPr>
        <p:spPr>
          <a:xfrm>
            <a:off x="3944520" y="3037680"/>
            <a:ext cx="2235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筆所反映清资料の内容查の上、期日以内纳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テキスト ボックス 600"/>
          <p:cNvSpPr txBox="1"/>
          <p:nvPr/>
        </p:nvSpPr>
        <p:spPr>
          <a:xfrm>
            <a:off x="3944520" y="3271680"/>
            <a:ext cx="1294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平素格别の爱厚御礼申上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フリーフォーム 601"/>
          <p:cNvSpPr/>
          <p:nvPr/>
        </p:nvSpPr>
        <p:spPr>
          <a:xfrm>
            <a:off x="7153200" y="1805040"/>
            <a:ext cx="3209400" cy="2674440"/>
          </a:xfrm>
          <a:custGeom>
            <a:avLst/>
            <a:gdLst/>
            <a:ahLst/>
            <a:cxnLst/>
            <a:rect l="0" t="0" r="r" b="b"/>
            <a:pathLst>
              <a:path w="8915" h="7429">
                <a:moveTo>
                  <a:pt x="0" y="724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9"/>
                  <a:pt x="8800" y="14"/>
                </a:cubicBezTo>
                <a:cubicBezTo>
                  <a:pt x="8811" y="18"/>
                  <a:pt x="8822" y="24"/>
                  <a:pt x="8832" y="31"/>
                </a:cubicBezTo>
                <a:cubicBezTo>
                  <a:pt x="8842" y="38"/>
                  <a:pt x="8852" y="45"/>
                  <a:pt x="8860" y="54"/>
                </a:cubicBezTo>
                <a:cubicBezTo>
                  <a:pt x="8869" y="63"/>
                  <a:pt x="8877" y="72"/>
                  <a:pt x="8883" y="82"/>
                </a:cubicBezTo>
                <a:cubicBezTo>
                  <a:pt x="8890" y="92"/>
                  <a:pt x="8896" y="103"/>
                  <a:pt x="8901" y="114"/>
                </a:cubicBezTo>
                <a:cubicBezTo>
                  <a:pt x="8905" y="125"/>
                  <a:pt x="8909" y="137"/>
                  <a:pt x="8911" y="149"/>
                </a:cubicBezTo>
                <a:cubicBezTo>
                  <a:pt x="8913" y="161"/>
                  <a:pt x="8915" y="173"/>
                  <a:pt x="8915" y="185"/>
                </a:cubicBezTo>
                <a:lnTo>
                  <a:pt x="8915" y="7243"/>
                </a:lnTo>
                <a:cubicBezTo>
                  <a:pt x="8915" y="7255"/>
                  <a:pt x="8913" y="7267"/>
                  <a:pt x="8911" y="7279"/>
                </a:cubicBezTo>
                <a:cubicBezTo>
                  <a:pt x="8909" y="7291"/>
                  <a:pt x="8905" y="7303"/>
                  <a:pt x="8901" y="7314"/>
                </a:cubicBezTo>
                <a:cubicBezTo>
                  <a:pt x="8896" y="7325"/>
                  <a:pt x="8890" y="7336"/>
                  <a:pt x="8883" y="7346"/>
                </a:cubicBezTo>
                <a:cubicBezTo>
                  <a:pt x="8877" y="7356"/>
                  <a:pt x="8869" y="7366"/>
                  <a:pt x="8860" y="7374"/>
                </a:cubicBezTo>
                <a:cubicBezTo>
                  <a:pt x="8852" y="7383"/>
                  <a:pt x="8842" y="7391"/>
                  <a:pt x="8832" y="7397"/>
                </a:cubicBezTo>
                <a:cubicBezTo>
                  <a:pt x="8822" y="7404"/>
                  <a:pt x="8811" y="7410"/>
                  <a:pt x="8800" y="7415"/>
                </a:cubicBezTo>
                <a:cubicBezTo>
                  <a:pt x="8789" y="7419"/>
                  <a:pt x="8777" y="7423"/>
                  <a:pt x="8765" y="7425"/>
                </a:cubicBezTo>
                <a:cubicBezTo>
                  <a:pt x="8753" y="7428"/>
                  <a:pt x="8741" y="7429"/>
                  <a:pt x="8729" y="7429"/>
                </a:cubicBezTo>
                <a:lnTo>
                  <a:pt x="186" y="7429"/>
                </a:lnTo>
                <a:cubicBezTo>
                  <a:pt x="173" y="7429"/>
                  <a:pt x="161" y="7428"/>
                  <a:pt x="149" y="7425"/>
                </a:cubicBezTo>
                <a:cubicBezTo>
                  <a:pt x="137" y="7423"/>
                  <a:pt x="126" y="7419"/>
                  <a:pt x="115" y="7415"/>
                </a:cubicBezTo>
                <a:cubicBezTo>
                  <a:pt x="103" y="7410"/>
                  <a:pt x="93" y="7404"/>
                  <a:pt x="82" y="7397"/>
                </a:cubicBezTo>
                <a:cubicBezTo>
                  <a:pt x="72" y="7391"/>
                  <a:pt x="63" y="7383"/>
                  <a:pt x="54" y="7374"/>
                </a:cubicBezTo>
                <a:cubicBezTo>
                  <a:pt x="46" y="7366"/>
                  <a:pt x="38" y="7356"/>
                  <a:pt x="31" y="7346"/>
                </a:cubicBezTo>
                <a:cubicBezTo>
                  <a:pt x="24" y="7336"/>
                  <a:pt x="19" y="7325"/>
                  <a:pt x="14" y="7314"/>
                </a:cubicBezTo>
                <a:cubicBezTo>
                  <a:pt x="9" y="7303"/>
                  <a:pt x="6" y="7291"/>
                  <a:pt x="3" y="7279"/>
                </a:cubicBezTo>
                <a:cubicBezTo>
                  <a:pt x="1" y="7267"/>
                  <a:pt x="0" y="7255"/>
                  <a:pt x="0" y="72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フリーフォーム 602"/>
          <p:cNvSpPr/>
          <p:nvPr/>
        </p:nvSpPr>
        <p:spPr>
          <a:xfrm>
            <a:off x="7153200" y="1805040"/>
            <a:ext cx="3209400" cy="276120"/>
          </a:xfrm>
          <a:custGeom>
            <a:avLst/>
            <a:gdLst/>
            <a:ahLst/>
            <a:cxnLst/>
            <a:rect l="0" t="0" r="r" b="b"/>
            <a:pathLst>
              <a:path w="8915" h="767">
                <a:moveTo>
                  <a:pt x="0" y="185"/>
                </a:moveTo>
                <a:cubicBezTo>
                  <a:pt x="0" y="161"/>
                  <a:pt x="5" y="137"/>
                  <a:pt x="14" y="114"/>
                </a:cubicBezTo>
                <a:cubicBezTo>
                  <a:pt x="23" y="91"/>
                  <a:pt x="37" y="71"/>
                  <a:pt x="54" y="54"/>
                </a:cubicBezTo>
                <a:cubicBezTo>
                  <a:pt x="72" y="36"/>
                  <a:pt x="92" y="23"/>
                  <a:pt x="115" y="14"/>
                </a:cubicBezTo>
                <a:cubicBezTo>
                  <a:pt x="137" y="4"/>
                  <a:pt x="161" y="0"/>
                  <a:pt x="186" y="0"/>
                </a:cubicBezTo>
                <a:lnTo>
                  <a:pt x="8729" y="0"/>
                </a:lnTo>
                <a:cubicBezTo>
                  <a:pt x="8754" y="0"/>
                  <a:pt x="8777" y="4"/>
                  <a:pt x="8800" y="14"/>
                </a:cubicBezTo>
                <a:cubicBezTo>
                  <a:pt x="8823" y="23"/>
                  <a:pt x="8843" y="36"/>
                  <a:pt x="8860" y="54"/>
                </a:cubicBezTo>
                <a:cubicBezTo>
                  <a:pt x="8878" y="71"/>
                  <a:pt x="8891" y="91"/>
                  <a:pt x="8901" y="114"/>
                </a:cubicBezTo>
                <a:cubicBezTo>
                  <a:pt x="8910" y="137"/>
                  <a:pt x="8915" y="161"/>
                  <a:pt x="8915" y="185"/>
                </a:cubicBezTo>
                <a:lnTo>
                  <a:pt x="8915" y="767"/>
                </a:lnTo>
                <a:lnTo>
                  <a:pt x="0" y="767"/>
                </a:lnTo>
                <a:lnTo>
                  <a:pt x="0" y="185"/>
                </a:lnTo>
                <a:close/>
              </a:path>
            </a:pathLst>
          </a:custGeom>
          <a:solidFill>
            <a:srgbClr val="F3F3F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フリーフォーム 603"/>
          <p:cNvSpPr/>
          <p:nvPr/>
        </p:nvSpPr>
        <p:spPr>
          <a:xfrm>
            <a:off x="7153200" y="2072160"/>
            <a:ext cx="3209400" cy="9000"/>
          </a:xfrm>
          <a:custGeom>
            <a:avLst/>
            <a:gdLst/>
            <a:ahLst/>
            <a:cxnLst/>
            <a:rect l="0" t="0" r="r" b="b"/>
            <a:pathLst>
              <a:path w="8915" h="25">
                <a:moveTo>
                  <a:pt x="0" y="0"/>
                </a:moveTo>
                <a:lnTo>
                  <a:pt x="8915" y="0"/>
                </a:lnTo>
                <a:lnTo>
                  <a:pt x="8915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フリーフォーム 604"/>
          <p:cNvSpPr/>
          <p:nvPr/>
        </p:nvSpPr>
        <p:spPr>
          <a:xfrm>
            <a:off x="7286760" y="2815920"/>
            <a:ext cx="2941920" cy="9000"/>
          </a:xfrm>
          <a:custGeom>
            <a:avLst/>
            <a:gdLst/>
            <a:ahLst/>
            <a:cxnLst/>
            <a:rect l="0" t="0" r="r" b="b"/>
            <a:pathLst>
              <a:path w="8172" h="25">
                <a:moveTo>
                  <a:pt x="0" y="0"/>
                </a:moveTo>
                <a:lnTo>
                  <a:pt x="8172" y="0"/>
                </a:lnTo>
                <a:lnTo>
                  <a:pt x="8172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6" name="図 605"/>
          <p:cNvPicPr/>
          <p:nvPr/>
        </p:nvPicPr>
        <p:blipFill>
          <a:blip r:embed="rId6"/>
          <a:stretch/>
        </p:blipFill>
        <p:spPr>
          <a:xfrm>
            <a:off x="7153200" y="155448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7" name="テキスト ボックス 606"/>
          <p:cNvSpPr txBox="1"/>
          <p:nvPr/>
        </p:nvSpPr>
        <p:spPr>
          <a:xfrm>
            <a:off x="3944520" y="3572640"/>
            <a:ext cx="1439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2563EB"/>
                </a:solidFill>
                <a:effectLst/>
                <a:uFillTx/>
                <a:latin typeface="WenQuanYiZenHei"/>
                <a:ea typeface="WenQuanYiZenHei"/>
              </a:rPr>
              <a:t>ダウンロードはこちらから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テキスト ボックス 607"/>
          <p:cNvSpPr txBox="1"/>
          <p:nvPr/>
        </p:nvSpPr>
        <p:spPr>
          <a:xfrm>
            <a:off x="7345440" y="1555560"/>
            <a:ext cx="565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iPhone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テキスト ボックス 608"/>
          <p:cNvSpPr txBox="1"/>
          <p:nvPr/>
        </p:nvSpPr>
        <p:spPr>
          <a:xfrm>
            <a:off x="7908840" y="1550880"/>
            <a:ext cx="821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メールアプリ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テキスト ボックス 609"/>
          <p:cNvSpPr txBox="1"/>
          <p:nvPr/>
        </p:nvSpPr>
        <p:spPr>
          <a:xfrm>
            <a:off x="8710920" y="1555560"/>
            <a:ext cx="149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-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1" name="図 610"/>
          <p:cNvPicPr/>
          <p:nvPr/>
        </p:nvPicPr>
        <p:blipFill>
          <a:blip r:embed="rId7"/>
          <a:stretch/>
        </p:blipFill>
        <p:spPr>
          <a:xfrm>
            <a:off x="7220160" y="1872000"/>
            <a:ext cx="8316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2" name="図 611"/>
          <p:cNvPicPr/>
          <p:nvPr/>
        </p:nvPicPr>
        <p:blipFill>
          <a:blip r:embed="rId8"/>
          <a:stretch/>
        </p:blipFill>
        <p:spPr>
          <a:xfrm>
            <a:off x="9777240" y="18720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3" name="図 612"/>
          <p:cNvPicPr/>
          <p:nvPr/>
        </p:nvPicPr>
        <p:blipFill>
          <a:blip r:embed="rId9"/>
          <a:stretch/>
        </p:blipFill>
        <p:spPr>
          <a:xfrm>
            <a:off x="10178280" y="187200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4" name="テキスト ボックス 613"/>
          <p:cNvSpPr txBox="1"/>
          <p:nvPr/>
        </p:nvSpPr>
        <p:spPr>
          <a:xfrm>
            <a:off x="8859600" y="1550880"/>
            <a:ext cx="53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佐藤様宛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テキスト ボックス 614"/>
          <p:cNvSpPr txBox="1"/>
          <p:nvPr/>
        </p:nvSpPr>
        <p:spPr>
          <a:xfrm>
            <a:off x="7287120" y="2227680"/>
            <a:ext cx="1488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资料の内容確認のお願い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テキスト ボックス 615"/>
          <p:cNvSpPr txBox="1"/>
          <p:nvPr/>
        </p:nvSpPr>
        <p:spPr>
          <a:xfrm>
            <a:off x="7287120" y="2452320"/>
            <a:ext cx="30240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790" b="0" u="none" strike="noStrike">
                <a:solidFill>
                  <a:srgbClr val="6B7280"/>
                </a:solidFill>
                <a:effectLst/>
                <a:uFillTx/>
                <a:latin typeface="WenQuanYiZenHei"/>
                <a:ea typeface="WenQuanYiZenHei"/>
              </a:rPr>
              <a:t>送信者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テキスト ボックス 616"/>
          <p:cNvSpPr txBox="1"/>
          <p:nvPr/>
        </p:nvSpPr>
        <p:spPr>
          <a:xfrm>
            <a:off x="7587720" y="2455560"/>
            <a:ext cx="11937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: sender@example.com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テキスト ボックス 617"/>
          <p:cNvSpPr txBox="1"/>
          <p:nvPr/>
        </p:nvSpPr>
        <p:spPr>
          <a:xfrm>
            <a:off x="7287120" y="2585880"/>
            <a:ext cx="20196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790" b="0" u="none" strike="noStrike">
                <a:solidFill>
                  <a:srgbClr val="6B7280"/>
                </a:solidFill>
                <a:effectLst/>
                <a:uFillTx/>
                <a:latin typeface="WenQuanYiZenHei"/>
                <a:ea typeface="WenQuanYiZenHei"/>
              </a:rPr>
              <a:t>宛先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テキスト ボックス 618"/>
          <p:cNvSpPr txBox="1"/>
          <p:nvPr/>
        </p:nvSpPr>
        <p:spPr>
          <a:xfrm>
            <a:off x="7487640" y="2589480"/>
            <a:ext cx="100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: 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テキスト ボックス 619"/>
          <p:cNvSpPr txBox="1"/>
          <p:nvPr/>
        </p:nvSpPr>
        <p:spPr>
          <a:xfrm>
            <a:off x="7553160" y="2585880"/>
            <a:ext cx="50364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790" b="0" u="none" strike="noStrike">
                <a:solidFill>
                  <a:srgbClr val="6B7280"/>
                </a:solidFill>
                <a:effectLst/>
                <a:uFillTx/>
                <a:latin typeface="WenQuanYiZenHei"/>
                <a:ea typeface="WenQuanYiZenHei"/>
              </a:rPr>
              <a:t>升株式会社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テキスト ボックス 620"/>
          <p:cNvSpPr txBox="1"/>
          <p:nvPr/>
        </p:nvSpPr>
        <p:spPr>
          <a:xfrm>
            <a:off x="8054640" y="2589480"/>
            <a:ext cx="100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テキスト ボックス 621"/>
          <p:cNvSpPr txBox="1"/>
          <p:nvPr/>
        </p:nvSpPr>
        <p:spPr>
          <a:xfrm>
            <a:off x="8086680" y="2585880"/>
            <a:ext cx="30240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790" b="0" u="none" strike="noStrike">
                <a:solidFill>
                  <a:srgbClr val="6B7280"/>
                </a:solidFill>
                <a:effectLst/>
                <a:uFillTx/>
                <a:latin typeface="WenQuanYiZenHei"/>
                <a:ea typeface="WenQuanYiZenHei"/>
              </a:rPr>
              <a:t>佐藤様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テキスト ボックス 622"/>
          <p:cNvSpPr txBox="1"/>
          <p:nvPr/>
        </p:nvSpPr>
        <p:spPr>
          <a:xfrm>
            <a:off x="7287120" y="2937600"/>
            <a:ext cx="1411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资料内容確の上、期日以内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テキスト ボックス 623"/>
          <p:cNvSpPr txBox="1"/>
          <p:nvPr/>
        </p:nvSpPr>
        <p:spPr>
          <a:xfrm>
            <a:off x="8691120" y="2941560"/>
            <a:ext cx="116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テキスト ボックス 624"/>
          <p:cNvSpPr txBox="1"/>
          <p:nvPr/>
        </p:nvSpPr>
        <p:spPr>
          <a:xfrm>
            <a:off x="8728200" y="293760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纳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テキスト ボックス 625"/>
          <p:cNvSpPr txBox="1"/>
          <p:nvPr/>
        </p:nvSpPr>
        <p:spPr>
          <a:xfrm>
            <a:off x="8845200" y="2941560"/>
            <a:ext cx="116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テキスト ボックス 626"/>
          <p:cNvSpPr txBox="1"/>
          <p:nvPr/>
        </p:nvSpPr>
        <p:spPr>
          <a:xfrm>
            <a:off x="8882280" y="2937600"/>
            <a:ext cx="47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指示部換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テキスト ボックス 627"/>
          <p:cNvSpPr txBox="1"/>
          <p:nvPr/>
        </p:nvSpPr>
        <p:spPr>
          <a:xfrm>
            <a:off x="9350280" y="2941560"/>
            <a:ext cx="116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テキスト ボックス 628"/>
          <p:cNvSpPr txBox="1"/>
          <p:nvPr/>
        </p:nvSpPr>
        <p:spPr>
          <a:xfrm>
            <a:off x="9387360" y="293760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状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テキスト ボックス 629"/>
          <p:cNvSpPr txBox="1"/>
          <p:nvPr/>
        </p:nvSpPr>
        <p:spPr>
          <a:xfrm>
            <a:off x="9504360" y="2941560"/>
            <a:ext cx="116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テキスト ボックス 630"/>
          <p:cNvSpPr txBox="1"/>
          <p:nvPr/>
        </p:nvSpPr>
        <p:spPr>
          <a:xfrm>
            <a:off x="9541800" y="2937600"/>
            <a:ext cx="587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添加筆所反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テキスト ボックス 631"/>
          <p:cNvSpPr txBox="1"/>
          <p:nvPr/>
        </p:nvSpPr>
        <p:spPr>
          <a:xfrm>
            <a:off x="7287120" y="310464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映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テキスト ボックス 632"/>
          <p:cNvSpPr txBox="1"/>
          <p:nvPr/>
        </p:nvSpPr>
        <p:spPr>
          <a:xfrm>
            <a:off x="7404120" y="3108600"/>
            <a:ext cx="116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テキスト ボックス 633"/>
          <p:cNvSpPr txBox="1"/>
          <p:nvPr/>
        </p:nvSpPr>
        <p:spPr>
          <a:xfrm>
            <a:off x="7441200" y="3104640"/>
            <a:ext cx="1531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资料の内容查の上、期日以内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テキスト ボックス 634"/>
          <p:cNvSpPr txBox="1"/>
          <p:nvPr/>
        </p:nvSpPr>
        <p:spPr>
          <a:xfrm>
            <a:off x="7287120" y="3338640"/>
            <a:ext cx="1176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1F2937"/>
                </a:solidFill>
                <a:effectLst/>
                <a:uFillTx/>
                <a:latin typeface="WenQuanYiZenHei"/>
                <a:ea typeface="WenQuanYiZenHei"/>
              </a:rPr>
              <a:t>平素格别の厚御礼申上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フリーフォーム 635"/>
          <p:cNvSpPr/>
          <p:nvPr/>
        </p:nvSpPr>
        <p:spPr>
          <a:xfrm>
            <a:off x="334080" y="835560"/>
            <a:ext cx="10028520" cy="501840"/>
          </a:xfrm>
          <a:custGeom>
            <a:avLst/>
            <a:gdLst/>
            <a:ahLst/>
            <a:cxnLst/>
            <a:rect l="0" t="0" r="r" b="b"/>
            <a:pathLst>
              <a:path w="27857" h="1394">
                <a:moveTo>
                  <a:pt x="0" y="1208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27671" y="0"/>
                </a:lnTo>
                <a:cubicBezTo>
                  <a:pt x="27683" y="0"/>
                  <a:pt x="27695" y="1"/>
                  <a:pt x="27707" y="3"/>
                </a:cubicBezTo>
                <a:cubicBezTo>
                  <a:pt x="27719" y="6"/>
                  <a:pt x="27731" y="9"/>
                  <a:pt x="27742" y="14"/>
                </a:cubicBezTo>
                <a:cubicBezTo>
                  <a:pt x="27753" y="19"/>
                  <a:pt x="27764" y="24"/>
                  <a:pt x="27774" y="31"/>
                </a:cubicBezTo>
                <a:cubicBezTo>
                  <a:pt x="27784" y="38"/>
                  <a:pt x="27794" y="46"/>
                  <a:pt x="27802" y="54"/>
                </a:cubicBezTo>
                <a:cubicBezTo>
                  <a:pt x="27811" y="63"/>
                  <a:pt x="27819" y="72"/>
                  <a:pt x="27825" y="82"/>
                </a:cubicBezTo>
                <a:cubicBezTo>
                  <a:pt x="27832" y="92"/>
                  <a:pt x="27838" y="103"/>
                  <a:pt x="27843" y="114"/>
                </a:cubicBezTo>
                <a:cubicBezTo>
                  <a:pt x="27847" y="126"/>
                  <a:pt x="27851" y="137"/>
                  <a:pt x="27853" y="149"/>
                </a:cubicBezTo>
                <a:cubicBezTo>
                  <a:pt x="27855" y="161"/>
                  <a:pt x="27857" y="173"/>
                  <a:pt x="27857" y="186"/>
                </a:cubicBezTo>
                <a:lnTo>
                  <a:pt x="27857" y="1208"/>
                </a:lnTo>
                <a:cubicBezTo>
                  <a:pt x="27857" y="1220"/>
                  <a:pt x="27855" y="1232"/>
                  <a:pt x="27853" y="1244"/>
                </a:cubicBezTo>
                <a:cubicBezTo>
                  <a:pt x="27851" y="1256"/>
                  <a:pt x="27847" y="1268"/>
                  <a:pt x="27843" y="1279"/>
                </a:cubicBezTo>
                <a:cubicBezTo>
                  <a:pt x="27838" y="1290"/>
                  <a:pt x="27832" y="1301"/>
                  <a:pt x="27825" y="1311"/>
                </a:cubicBezTo>
                <a:cubicBezTo>
                  <a:pt x="27819" y="1321"/>
                  <a:pt x="27811" y="1331"/>
                  <a:pt x="27802" y="1339"/>
                </a:cubicBezTo>
                <a:cubicBezTo>
                  <a:pt x="27794" y="1348"/>
                  <a:pt x="27784" y="1356"/>
                  <a:pt x="27774" y="1362"/>
                </a:cubicBezTo>
                <a:cubicBezTo>
                  <a:pt x="27764" y="1369"/>
                  <a:pt x="27753" y="1375"/>
                  <a:pt x="27742" y="1379"/>
                </a:cubicBezTo>
                <a:cubicBezTo>
                  <a:pt x="27731" y="1384"/>
                  <a:pt x="27719" y="1388"/>
                  <a:pt x="27707" y="1390"/>
                </a:cubicBezTo>
                <a:cubicBezTo>
                  <a:pt x="27695" y="1392"/>
                  <a:pt x="27683" y="1394"/>
                  <a:pt x="27671" y="1394"/>
                </a:cubicBezTo>
                <a:lnTo>
                  <a:pt x="186" y="1394"/>
                </a:lnTo>
                <a:cubicBezTo>
                  <a:pt x="174" y="1394"/>
                  <a:pt x="161" y="1392"/>
                  <a:pt x="149" y="1390"/>
                </a:cubicBezTo>
                <a:cubicBezTo>
                  <a:pt x="138" y="1388"/>
                  <a:pt x="126" y="1384"/>
                  <a:pt x="115" y="1379"/>
                </a:cubicBezTo>
                <a:cubicBezTo>
                  <a:pt x="103" y="1375"/>
                  <a:pt x="93" y="1369"/>
                  <a:pt x="83" y="1362"/>
                </a:cubicBezTo>
                <a:cubicBezTo>
                  <a:pt x="72" y="1356"/>
                  <a:pt x="63" y="1348"/>
                  <a:pt x="54" y="1339"/>
                </a:cubicBezTo>
                <a:cubicBezTo>
                  <a:pt x="46" y="1331"/>
                  <a:pt x="38" y="1321"/>
                  <a:pt x="31" y="1311"/>
                </a:cubicBezTo>
                <a:cubicBezTo>
                  <a:pt x="25" y="1301"/>
                  <a:pt x="19" y="1290"/>
                  <a:pt x="14" y="1279"/>
                </a:cubicBezTo>
                <a:cubicBezTo>
                  <a:pt x="9" y="1268"/>
                  <a:pt x="6" y="1256"/>
                  <a:pt x="4" y="1244"/>
                </a:cubicBezTo>
                <a:cubicBezTo>
                  <a:pt x="1" y="1232"/>
                  <a:pt x="0" y="1220"/>
                  <a:pt x="0" y="1208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37" name="図 636"/>
          <p:cNvPicPr/>
          <p:nvPr/>
        </p:nvPicPr>
        <p:blipFill>
          <a:blip r:embed="rId10"/>
          <a:stretch/>
        </p:blipFill>
        <p:spPr>
          <a:xfrm>
            <a:off x="468000" y="100296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8" name="テキスト ボックス 637"/>
          <p:cNvSpPr txBox="1"/>
          <p:nvPr/>
        </p:nvSpPr>
        <p:spPr>
          <a:xfrm>
            <a:off x="7287120" y="3639600"/>
            <a:ext cx="1439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2563EB"/>
                </a:solidFill>
                <a:effectLst/>
                <a:uFillTx/>
                <a:latin typeface="WenQuanYiZenHei"/>
                <a:ea typeface="WenQuanYiZenHei"/>
              </a:rPr>
              <a:t>ダウンロードはこちらから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テキスト ボックス 638"/>
          <p:cNvSpPr txBox="1"/>
          <p:nvPr/>
        </p:nvSpPr>
        <p:spPr>
          <a:xfrm>
            <a:off x="685080" y="99684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 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フリーフォーム 639"/>
          <p:cNvSpPr/>
          <p:nvPr/>
        </p:nvSpPr>
        <p:spPr>
          <a:xfrm>
            <a:off x="334080" y="4679640"/>
            <a:ext cx="10028520" cy="1370880"/>
          </a:xfrm>
          <a:custGeom>
            <a:avLst/>
            <a:gdLst/>
            <a:ahLst/>
            <a:cxnLst/>
            <a:rect l="0" t="0" r="r" b="b"/>
            <a:pathLst>
              <a:path w="27857" h="3808">
                <a:moveTo>
                  <a:pt x="0" y="3622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27671" y="0"/>
                </a:lnTo>
                <a:cubicBezTo>
                  <a:pt x="27683" y="0"/>
                  <a:pt x="27695" y="1"/>
                  <a:pt x="27707" y="3"/>
                </a:cubicBezTo>
                <a:cubicBezTo>
                  <a:pt x="27719" y="6"/>
                  <a:pt x="27731" y="9"/>
                  <a:pt x="27742" y="14"/>
                </a:cubicBezTo>
                <a:cubicBezTo>
                  <a:pt x="27753" y="19"/>
                  <a:pt x="27764" y="24"/>
                  <a:pt x="27774" y="31"/>
                </a:cubicBezTo>
                <a:cubicBezTo>
                  <a:pt x="27784" y="38"/>
                  <a:pt x="27794" y="46"/>
                  <a:pt x="27802" y="54"/>
                </a:cubicBezTo>
                <a:cubicBezTo>
                  <a:pt x="27811" y="63"/>
                  <a:pt x="27819" y="72"/>
                  <a:pt x="27825" y="82"/>
                </a:cubicBezTo>
                <a:cubicBezTo>
                  <a:pt x="27832" y="92"/>
                  <a:pt x="27838" y="103"/>
                  <a:pt x="27843" y="114"/>
                </a:cubicBezTo>
                <a:cubicBezTo>
                  <a:pt x="27847" y="126"/>
                  <a:pt x="27851" y="137"/>
                  <a:pt x="27853" y="149"/>
                </a:cubicBezTo>
                <a:cubicBezTo>
                  <a:pt x="27855" y="161"/>
                  <a:pt x="27857" y="173"/>
                  <a:pt x="27857" y="186"/>
                </a:cubicBezTo>
                <a:lnTo>
                  <a:pt x="27857" y="3622"/>
                </a:lnTo>
                <a:cubicBezTo>
                  <a:pt x="27857" y="3634"/>
                  <a:pt x="27855" y="3646"/>
                  <a:pt x="27853" y="3658"/>
                </a:cubicBezTo>
                <a:cubicBezTo>
                  <a:pt x="27851" y="3670"/>
                  <a:pt x="27847" y="3682"/>
                  <a:pt x="27843" y="3693"/>
                </a:cubicBezTo>
                <a:cubicBezTo>
                  <a:pt x="27838" y="3704"/>
                  <a:pt x="27832" y="3715"/>
                  <a:pt x="27825" y="3725"/>
                </a:cubicBezTo>
                <a:cubicBezTo>
                  <a:pt x="27819" y="3735"/>
                  <a:pt x="27811" y="3745"/>
                  <a:pt x="27802" y="3753"/>
                </a:cubicBezTo>
                <a:cubicBezTo>
                  <a:pt x="27794" y="3762"/>
                  <a:pt x="27784" y="3770"/>
                  <a:pt x="27774" y="3776"/>
                </a:cubicBezTo>
                <a:cubicBezTo>
                  <a:pt x="27764" y="3783"/>
                  <a:pt x="27753" y="3789"/>
                  <a:pt x="27742" y="3794"/>
                </a:cubicBezTo>
                <a:cubicBezTo>
                  <a:pt x="27731" y="3798"/>
                  <a:pt x="27719" y="3802"/>
                  <a:pt x="27707" y="3804"/>
                </a:cubicBezTo>
                <a:cubicBezTo>
                  <a:pt x="27695" y="3807"/>
                  <a:pt x="27683" y="3808"/>
                  <a:pt x="27671" y="3808"/>
                </a:cubicBezTo>
                <a:lnTo>
                  <a:pt x="186" y="3808"/>
                </a:lnTo>
                <a:cubicBezTo>
                  <a:pt x="174" y="3808"/>
                  <a:pt x="161" y="3807"/>
                  <a:pt x="149" y="3804"/>
                </a:cubicBezTo>
                <a:cubicBezTo>
                  <a:pt x="138" y="3802"/>
                  <a:pt x="126" y="3798"/>
                  <a:pt x="115" y="3794"/>
                </a:cubicBezTo>
                <a:cubicBezTo>
                  <a:pt x="103" y="3789"/>
                  <a:pt x="93" y="3783"/>
                  <a:pt x="83" y="3776"/>
                </a:cubicBezTo>
                <a:cubicBezTo>
                  <a:pt x="72" y="3770"/>
                  <a:pt x="63" y="3762"/>
                  <a:pt x="54" y="3753"/>
                </a:cubicBezTo>
                <a:cubicBezTo>
                  <a:pt x="46" y="3745"/>
                  <a:pt x="38" y="3735"/>
                  <a:pt x="31" y="3725"/>
                </a:cubicBezTo>
                <a:cubicBezTo>
                  <a:pt x="25" y="3715"/>
                  <a:pt x="19" y="3704"/>
                  <a:pt x="14" y="3693"/>
                </a:cubicBezTo>
                <a:cubicBezTo>
                  <a:pt x="9" y="3682"/>
                  <a:pt x="6" y="3670"/>
                  <a:pt x="4" y="3658"/>
                </a:cubicBezTo>
                <a:cubicBezTo>
                  <a:pt x="1" y="3646"/>
                  <a:pt x="0" y="3634"/>
                  <a:pt x="0" y="3622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1" name="図 640"/>
          <p:cNvPicPr/>
          <p:nvPr/>
        </p:nvPicPr>
        <p:blipFill>
          <a:blip r:embed="rId11"/>
          <a:stretch/>
        </p:blipFill>
        <p:spPr>
          <a:xfrm>
            <a:off x="468000" y="48470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テキスト ボックス 641"/>
          <p:cNvSpPr txBox="1"/>
          <p:nvPr/>
        </p:nvSpPr>
        <p:spPr>
          <a:xfrm>
            <a:off x="732960" y="991800"/>
            <a:ext cx="6584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テスト中に送信・受信されたメールの表示例（異なるメールクライアントとデバイスでの表示）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フリーフォーム 642"/>
          <p:cNvSpPr/>
          <p:nvPr/>
        </p:nvSpPr>
        <p:spPr>
          <a:xfrm>
            <a:off x="793800" y="5189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10"/>
                  <a:pt x="81" y="112"/>
                </a:cubicBezTo>
                <a:cubicBezTo>
                  <a:pt x="74" y="115"/>
                  <a:pt x="66" y="117"/>
                  <a:pt x="59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8" y="110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30"/>
                  <a:pt x="11" y="22"/>
                  <a:pt x="17" y="17"/>
                </a:cubicBezTo>
                <a:cubicBezTo>
                  <a:pt x="22" y="11"/>
                  <a:pt x="28" y="7"/>
                  <a:pt x="36" y="4"/>
                </a:cubicBezTo>
                <a:cubicBezTo>
                  <a:pt x="43" y="1"/>
                  <a:pt x="50" y="0"/>
                  <a:pt x="59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30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テキスト ボックス 643"/>
          <p:cNvSpPr txBox="1"/>
          <p:nvPr/>
        </p:nvSpPr>
        <p:spPr>
          <a:xfrm>
            <a:off x="735480" y="4835880"/>
            <a:ext cx="7657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テスト結果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テキスト ボックス 644"/>
          <p:cNvSpPr txBox="1"/>
          <p:nvPr/>
        </p:nvSpPr>
        <p:spPr>
          <a:xfrm>
            <a:off x="936000" y="5132160"/>
            <a:ext cx="256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300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フリーフォーム 645"/>
          <p:cNvSpPr/>
          <p:nvPr/>
        </p:nvSpPr>
        <p:spPr>
          <a:xfrm>
            <a:off x="793800" y="53899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4" y="105"/>
                  <a:pt x="88" y="110"/>
                  <a:pt x="81" y="113"/>
                </a:cubicBezTo>
                <a:cubicBezTo>
                  <a:pt x="74" y="116"/>
                  <a:pt x="66" y="117"/>
                  <a:pt x="59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8" y="110"/>
                  <a:pt x="22" y="105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1"/>
                  <a:pt x="28" y="7"/>
                  <a:pt x="36" y="4"/>
                </a:cubicBezTo>
                <a:cubicBezTo>
                  <a:pt x="43" y="1"/>
                  <a:pt x="50" y="0"/>
                  <a:pt x="59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3"/>
                  <a:pt x="117" y="51"/>
                  <a:pt x="117" y="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テキスト ボックス 646"/>
          <p:cNvSpPr txBox="1"/>
          <p:nvPr/>
        </p:nvSpPr>
        <p:spPr>
          <a:xfrm>
            <a:off x="1191240" y="5127480"/>
            <a:ext cx="2449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通のメールがすべて正常に送受信された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フリーフォーム 647"/>
          <p:cNvSpPr/>
          <p:nvPr/>
        </p:nvSpPr>
        <p:spPr>
          <a:xfrm>
            <a:off x="793800" y="55904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3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6" y="117"/>
                  <a:pt x="59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8" y="110"/>
                  <a:pt x="22" y="106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28" y="7"/>
                  <a:pt x="36" y="4"/>
                </a:cubicBezTo>
                <a:cubicBezTo>
                  <a:pt x="43" y="2"/>
                  <a:pt x="50" y="0"/>
                  <a:pt x="59" y="0"/>
                </a:cubicBezTo>
                <a:cubicBezTo>
                  <a:pt x="66" y="0"/>
                  <a:pt x="74" y="2"/>
                  <a:pt x="81" y="4"/>
                </a:cubicBezTo>
                <a:cubicBezTo>
                  <a:pt x="88" y="7"/>
                  <a:pt x="94" y="12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テキスト ボックス 648"/>
          <p:cNvSpPr txBox="1"/>
          <p:nvPr/>
        </p:nvSpPr>
        <p:spPr>
          <a:xfrm>
            <a:off x="936000" y="5328000"/>
            <a:ext cx="2995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各メールに含まれる氏名が正しく置換されている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フリーフォーム 649"/>
          <p:cNvSpPr/>
          <p:nvPr/>
        </p:nvSpPr>
        <p:spPr>
          <a:xfrm>
            <a:off x="793800" y="57909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3"/>
                  <a:pt x="112" y="80"/>
                </a:cubicBezTo>
                <a:cubicBezTo>
                  <a:pt x="109" y="87"/>
                  <a:pt x="105" y="94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6" y="117"/>
                  <a:pt x="59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8" y="110"/>
                  <a:pt x="22" y="106"/>
                  <a:pt x="17" y="100"/>
                </a:cubicBezTo>
                <a:cubicBezTo>
                  <a:pt x="11" y="94"/>
                  <a:pt x="7" y="87"/>
                  <a:pt x="4" y="80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3"/>
                  <a:pt x="17" y="17"/>
                </a:cubicBezTo>
                <a:cubicBezTo>
                  <a:pt x="22" y="12"/>
                  <a:pt x="28" y="8"/>
                  <a:pt x="36" y="5"/>
                </a:cubicBezTo>
                <a:cubicBezTo>
                  <a:pt x="43" y="2"/>
                  <a:pt x="50" y="0"/>
                  <a:pt x="59" y="0"/>
                </a:cubicBezTo>
                <a:cubicBezTo>
                  <a:pt x="66" y="0"/>
                  <a:pt x="74" y="2"/>
                  <a:pt x="81" y="5"/>
                </a:cubicBezTo>
                <a:cubicBezTo>
                  <a:pt x="88" y="8"/>
                  <a:pt x="94" y="12"/>
                  <a:pt x="100" y="17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テキスト ボックス 650"/>
          <p:cNvSpPr txBox="1"/>
          <p:nvPr/>
        </p:nvSpPr>
        <p:spPr>
          <a:xfrm>
            <a:off x="936000" y="5528880"/>
            <a:ext cx="3272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異なるデバイス・メールクライアントでも適切に表示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テキスト ボックス 651"/>
          <p:cNvSpPr txBox="1"/>
          <p:nvPr/>
        </p:nvSpPr>
        <p:spPr>
          <a:xfrm>
            <a:off x="936000" y="5734080"/>
            <a:ext cx="266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53" name="図 652"/>
          <p:cNvPicPr/>
          <p:nvPr/>
        </p:nvPicPr>
        <p:blipFill>
          <a:blip r:embed="rId12"/>
          <a:stretch/>
        </p:blipFill>
        <p:spPr>
          <a:xfrm>
            <a:off x="10161720" y="6058440"/>
            <a:ext cx="40068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4" name="テキスト ボックス 653"/>
          <p:cNvSpPr txBox="1"/>
          <p:nvPr/>
        </p:nvSpPr>
        <p:spPr>
          <a:xfrm>
            <a:off x="1201320" y="5729400"/>
            <a:ext cx="3400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パラメータが正しく記録され、クリック者の識別が可能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図 654"/>
          <p:cNvPicPr/>
          <p:nvPr/>
        </p:nvPicPr>
        <p:blipFill>
          <a:blip r:embed="rId2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6" name="テキスト ボックス 655"/>
          <p:cNvSpPr txBox="1"/>
          <p:nvPr/>
        </p:nvSpPr>
        <p:spPr>
          <a:xfrm>
            <a:off x="334440" y="326880"/>
            <a:ext cx="229320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79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まとめと今後の課題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フリーフォーム 656"/>
          <p:cNvSpPr/>
          <p:nvPr/>
        </p:nvSpPr>
        <p:spPr>
          <a:xfrm>
            <a:off x="334080" y="902520"/>
            <a:ext cx="4746960" cy="3510000"/>
          </a:xfrm>
          <a:custGeom>
            <a:avLst/>
            <a:gdLst/>
            <a:ahLst/>
            <a:cxnLst/>
            <a:rect l="0" t="0" r="r" b="b"/>
            <a:pathLst>
              <a:path w="13186" h="9750">
                <a:moveTo>
                  <a:pt x="0" y="9564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8" y="5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13000" y="0"/>
                </a:lnTo>
                <a:cubicBezTo>
                  <a:pt x="13013" y="0"/>
                  <a:pt x="13025" y="1"/>
                  <a:pt x="13037" y="3"/>
                </a:cubicBezTo>
                <a:cubicBezTo>
                  <a:pt x="13049" y="5"/>
                  <a:pt x="13060" y="9"/>
                  <a:pt x="13071" y="14"/>
                </a:cubicBezTo>
                <a:cubicBezTo>
                  <a:pt x="13083" y="18"/>
                  <a:pt x="13093" y="24"/>
                  <a:pt x="13104" y="31"/>
                </a:cubicBezTo>
                <a:cubicBezTo>
                  <a:pt x="13114" y="38"/>
                  <a:pt x="13123" y="45"/>
                  <a:pt x="13132" y="54"/>
                </a:cubicBezTo>
                <a:cubicBezTo>
                  <a:pt x="13140" y="63"/>
                  <a:pt x="13148" y="72"/>
                  <a:pt x="13155" y="82"/>
                </a:cubicBezTo>
                <a:cubicBezTo>
                  <a:pt x="13162" y="92"/>
                  <a:pt x="13167" y="103"/>
                  <a:pt x="13172" y="114"/>
                </a:cubicBezTo>
                <a:cubicBezTo>
                  <a:pt x="13177" y="125"/>
                  <a:pt x="13180" y="137"/>
                  <a:pt x="13182" y="149"/>
                </a:cubicBezTo>
                <a:cubicBezTo>
                  <a:pt x="13185" y="161"/>
                  <a:pt x="13186" y="173"/>
                  <a:pt x="13186" y="185"/>
                </a:cubicBezTo>
                <a:lnTo>
                  <a:pt x="13186" y="9564"/>
                </a:lnTo>
                <a:cubicBezTo>
                  <a:pt x="13186" y="9576"/>
                  <a:pt x="13185" y="9589"/>
                  <a:pt x="13182" y="9601"/>
                </a:cubicBezTo>
                <a:cubicBezTo>
                  <a:pt x="13180" y="9612"/>
                  <a:pt x="13177" y="9624"/>
                  <a:pt x="13172" y="9635"/>
                </a:cubicBezTo>
                <a:cubicBezTo>
                  <a:pt x="13167" y="9647"/>
                  <a:pt x="13162" y="9657"/>
                  <a:pt x="13155" y="9667"/>
                </a:cubicBezTo>
                <a:cubicBezTo>
                  <a:pt x="13148" y="9678"/>
                  <a:pt x="13140" y="9687"/>
                  <a:pt x="13132" y="9696"/>
                </a:cubicBezTo>
                <a:cubicBezTo>
                  <a:pt x="13123" y="9704"/>
                  <a:pt x="13114" y="9712"/>
                  <a:pt x="13104" y="9719"/>
                </a:cubicBezTo>
                <a:cubicBezTo>
                  <a:pt x="13093" y="9725"/>
                  <a:pt x="13083" y="9731"/>
                  <a:pt x="13071" y="9736"/>
                </a:cubicBezTo>
                <a:cubicBezTo>
                  <a:pt x="13060" y="9741"/>
                  <a:pt x="13049" y="9744"/>
                  <a:pt x="13037" y="9746"/>
                </a:cubicBezTo>
                <a:cubicBezTo>
                  <a:pt x="13025" y="9749"/>
                  <a:pt x="13013" y="9750"/>
                  <a:pt x="13000" y="9750"/>
                </a:cubicBezTo>
                <a:lnTo>
                  <a:pt x="186" y="9750"/>
                </a:lnTo>
                <a:cubicBezTo>
                  <a:pt x="174" y="9750"/>
                  <a:pt x="161" y="9749"/>
                  <a:pt x="149" y="9746"/>
                </a:cubicBezTo>
                <a:cubicBezTo>
                  <a:pt x="138" y="9744"/>
                  <a:pt x="126" y="9741"/>
                  <a:pt x="115" y="9736"/>
                </a:cubicBezTo>
                <a:cubicBezTo>
                  <a:pt x="103" y="9731"/>
                  <a:pt x="93" y="9725"/>
                  <a:pt x="83" y="9719"/>
                </a:cubicBezTo>
                <a:cubicBezTo>
                  <a:pt x="72" y="9712"/>
                  <a:pt x="63" y="9704"/>
                  <a:pt x="54" y="9696"/>
                </a:cubicBezTo>
                <a:cubicBezTo>
                  <a:pt x="46" y="9687"/>
                  <a:pt x="38" y="9678"/>
                  <a:pt x="31" y="9667"/>
                </a:cubicBezTo>
                <a:cubicBezTo>
                  <a:pt x="25" y="9657"/>
                  <a:pt x="19" y="9647"/>
                  <a:pt x="14" y="9635"/>
                </a:cubicBezTo>
                <a:cubicBezTo>
                  <a:pt x="9" y="9624"/>
                  <a:pt x="6" y="9612"/>
                  <a:pt x="4" y="9601"/>
                </a:cubicBezTo>
                <a:cubicBezTo>
                  <a:pt x="1" y="9589"/>
                  <a:pt x="0" y="9576"/>
                  <a:pt x="0" y="9564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フリーフォーム 657"/>
          <p:cNvSpPr/>
          <p:nvPr/>
        </p:nvSpPr>
        <p:spPr>
          <a:xfrm>
            <a:off x="534600" y="3476160"/>
            <a:ext cx="4345920" cy="735840"/>
          </a:xfrm>
          <a:custGeom>
            <a:avLst/>
            <a:gdLst/>
            <a:ahLst/>
            <a:cxnLst/>
            <a:rect l="0" t="0" r="r" b="b"/>
            <a:pathLst>
              <a:path w="12072" h="2044">
                <a:moveTo>
                  <a:pt x="0" y="1858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11886" y="0"/>
                </a:lnTo>
                <a:cubicBezTo>
                  <a:pt x="11898" y="0"/>
                  <a:pt x="11910" y="1"/>
                  <a:pt x="11922" y="4"/>
                </a:cubicBezTo>
                <a:cubicBezTo>
                  <a:pt x="11934" y="6"/>
                  <a:pt x="11946" y="10"/>
                  <a:pt x="11957" y="14"/>
                </a:cubicBezTo>
                <a:cubicBezTo>
                  <a:pt x="11969" y="19"/>
                  <a:pt x="11979" y="25"/>
                  <a:pt x="11989" y="31"/>
                </a:cubicBezTo>
                <a:cubicBezTo>
                  <a:pt x="12000" y="38"/>
                  <a:pt x="12009" y="46"/>
                  <a:pt x="12018" y="55"/>
                </a:cubicBezTo>
                <a:cubicBezTo>
                  <a:pt x="12026" y="63"/>
                  <a:pt x="12034" y="73"/>
                  <a:pt x="12041" y="83"/>
                </a:cubicBezTo>
                <a:cubicBezTo>
                  <a:pt x="12047" y="93"/>
                  <a:pt x="12053" y="104"/>
                  <a:pt x="12058" y="115"/>
                </a:cubicBezTo>
                <a:cubicBezTo>
                  <a:pt x="12062" y="126"/>
                  <a:pt x="12066" y="138"/>
                  <a:pt x="12068" y="150"/>
                </a:cubicBezTo>
                <a:cubicBezTo>
                  <a:pt x="12071" y="162"/>
                  <a:pt x="12072" y="174"/>
                  <a:pt x="12072" y="186"/>
                </a:cubicBezTo>
                <a:lnTo>
                  <a:pt x="12072" y="1858"/>
                </a:lnTo>
                <a:cubicBezTo>
                  <a:pt x="12072" y="1870"/>
                  <a:pt x="12071" y="1882"/>
                  <a:pt x="12068" y="1894"/>
                </a:cubicBezTo>
                <a:cubicBezTo>
                  <a:pt x="12066" y="1906"/>
                  <a:pt x="12062" y="1918"/>
                  <a:pt x="12058" y="1929"/>
                </a:cubicBezTo>
                <a:cubicBezTo>
                  <a:pt x="12053" y="1941"/>
                  <a:pt x="12047" y="1951"/>
                  <a:pt x="12041" y="1961"/>
                </a:cubicBezTo>
                <a:cubicBezTo>
                  <a:pt x="12034" y="1971"/>
                  <a:pt x="12026" y="1981"/>
                  <a:pt x="12018" y="1989"/>
                </a:cubicBezTo>
                <a:cubicBezTo>
                  <a:pt x="12009" y="1998"/>
                  <a:pt x="12000" y="2006"/>
                  <a:pt x="11989" y="2013"/>
                </a:cubicBezTo>
                <a:cubicBezTo>
                  <a:pt x="11979" y="2019"/>
                  <a:pt x="11969" y="2025"/>
                  <a:pt x="11957" y="2030"/>
                </a:cubicBezTo>
                <a:cubicBezTo>
                  <a:pt x="11946" y="2034"/>
                  <a:pt x="11934" y="2038"/>
                  <a:pt x="11922" y="2040"/>
                </a:cubicBezTo>
                <a:cubicBezTo>
                  <a:pt x="11910" y="2043"/>
                  <a:pt x="11898" y="2044"/>
                  <a:pt x="11886" y="2044"/>
                </a:cubicBezTo>
                <a:lnTo>
                  <a:pt x="186" y="2044"/>
                </a:lnTo>
                <a:cubicBezTo>
                  <a:pt x="174" y="2044"/>
                  <a:pt x="162" y="2043"/>
                  <a:pt x="150" y="2040"/>
                </a:cubicBezTo>
                <a:cubicBezTo>
                  <a:pt x="138" y="2038"/>
                  <a:pt x="126" y="2034"/>
                  <a:pt x="115" y="2030"/>
                </a:cubicBezTo>
                <a:cubicBezTo>
                  <a:pt x="104" y="2025"/>
                  <a:pt x="93" y="2019"/>
                  <a:pt x="83" y="2013"/>
                </a:cubicBezTo>
                <a:cubicBezTo>
                  <a:pt x="73" y="2006"/>
                  <a:pt x="63" y="1998"/>
                  <a:pt x="55" y="1989"/>
                </a:cubicBezTo>
                <a:cubicBezTo>
                  <a:pt x="46" y="1981"/>
                  <a:pt x="38" y="1971"/>
                  <a:pt x="31" y="1961"/>
                </a:cubicBezTo>
                <a:cubicBezTo>
                  <a:pt x="25" y="1951"/>
                  <a:pt x="19" y="1941"/>
                  <a:pt x="14" y="1929"/>
                </a:cubicBezTo>
                <a:cubicBezTo>
                  <a:pt x="10" y="1918"/>
                  <a:pt x="6" y="1906"/>
                  <a:pt x="4" y="1894"/>
                </a:cubicBezTo>
                <a:cubicBezTo>
                  <a:pt x="1" y="1882"/>
                  <a:pt x="0" y="1870"/>
                  <a:pt x="0" y="1858"/>
                </a:cubicBezTo>
                <a:close/>
              </a:path>
            </a:pathLst>
          </a:custGeom>
          <a:solidFill>
            <a:srgbClr val="1E3A8A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59" name="図 658"/>
          <p:cNvPicPr/>
          <p:nvPr/>
        </p:nvPicPr>
        <p:blipFill>
          <a:blip r:embed="rId3"/>
          <a:stretch/>
        </p:blipFill>
        <p:spPr>
          <a:xfrm>
            <a:off x="534960" y="11365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0" name="テキスト ボックス 659"/>
          <p:cNvSpPr txBox="1"/>
          <p:nvPr/>
        </p:nvSpPr>
        <p:spPr>
          <a:xfrm>
            <a:off x="9774360" y="388080"/>
            <a:ext cx="5904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12 / 12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1" name="図 660"/>
          <p:cNvPicPr/>
          <p:nvPr/>
        </p:nvPicPr>
        <p:blipFill>
          <a:blip r:embed="rId4"/>
          <a:stretch/>
        </p:blipFill>
        <p:spPr>
          <a:xfrm>
            <a:off x="534960" y="157104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2" name="テキスト ボックス 661"/>
          <p:cNvSpPr txBox="1"/>
          <p:nvPr/>
        </p:nvSpPr>
        <p:spPr>
          <a:xfrm>
            <a:off x="835560" y="1110600"/>
            <a:ext cx="403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成果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テキスト ボックス 662"/>
          <p:cNvSpPr txBox="1"/>
          <p:nvPr/>
        </p:nvSpPr>
        <p:spPr>
          <a:xfrm>
            <a:off x="785520" y="1559880"/>
            <a:ext cx="4106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自動生成した標的型メールを用いた</a:t>
            </a:r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訓練用標的型メール配信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4" name="図 663"/>
          <p:cNvPicPr/>
          <p:nvPr/>
        </p:nvPicPr>
        <p:blipFill>
          <a:blip r:embed="rId4"/>
          <a:stretch/>
        </p:blipFill>
        <p:spPr>
          <a:xfrm>
            <a:off x="534960" y="217260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5" name="テキスト ボックス 664"/>
          <p:cNvSpPr txBox="1"/>
          <p:nvPr/>
        </p:nvSpPr>
        <p:spPr>
          <a:xfrm>
            <a:off x="785520" y="1793880"/>
            <a:ext cx="10746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システム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を開発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テキスト ボックス 665"/>
          <p:cNvSpPr txBox="1"/>
          <p:nvPr/>
        </p:nvSpPr>
        <p:spPr>
          <a:xfrm>
            <a:off x="785520" y="2166840"/>
            <a:ext cx="288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300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テキスト ボックス 666"/>
          <p:cNvSpPr txBox="1"/>
          <p:nvPr/>
        </p:nvSpPr>
        <p:spPr>
          <a:xfrm>
            <a:off x="1072800" y="2161440"/>
            <a:ext cx="21340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通のメールを正常に送受信し、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テキスト ボックス 667"/>
          <p:cNvSpPr txBox="1"/>
          <p:nvPr/>
        </p:nvSpPr>
        <p:spPr>
          <a:xfrm>
            <a:off x="3178440" y="2166840"/>
            <a:ext cx="299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テキスト ボックス 668"/>
          <p:cNvSpPr txBox="1"/>
          <p:nvPr/>
        </p:nvSpPr>
        <p:spPr>
          <a:xfrm>
            <a:off x="3476880" y="2161440"/>
            <a:ext cx="13798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パラメータを記録で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70" name="図 669"/>
          <p:cNvPicPr/>
          <p:nvPr/>
        </p:nvPicPr>
        <p:blipFill>
          <a:blip r:embed="rId4"/>
          <a:stretch/>
        </p:blipFill>
        <p:spPr>
          <a:xfrm>
            <a:off x="534960" y="277452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1" name="テキスト ボックス 670"/>
          <p:cNvSpPr txBox="1"/>
          <p:nvPr/>
        </p:nvSpPr>
        <p:spPr>
          <a:xfrm>
            <a:off x="785520" y="2395440"/>
            <a:ext cx="10746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きることを確認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テキスト ボックス 671"/>
          <p:cNvSpPr txBox="1"/>
          <p:nvPr/>
        </p:nvSpPr>
        <p:spPr>
          <a:xfrm>
            <a:off x="785520" y="2768400"/>
            <a:ext cx="299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URL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テキスト ボックス 672"/>
          <p:cNvSpPr txBox="1"/>
          <p:nvPr/>
        </p:nvSpPr>
        <p:spPr>
          <a:xfrm>
            <a:off x="1083960" y="2763360"/>
            <a:ext cx="38113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が含まれる自作標的型メールを用いた</a:t>
            </a:r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標的型メール訓練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74" name="図 673"/>
          <p:cNvPicPr/>
          <p:nvPr/>
        </p:nvPicPr>
        <p:blipFill>
          <a:blip r:embed="rId5"/>
          <a:stretch/>
        </p:blipFill>
        <p:spPr>
          <a:xfrm>
            <a:off x="668520" y="3768840"/>
            <a:ext cx="11664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5" name="テキスト ボックス 674"/>
          <p:cNvSpPr txBox="1"/>
          <p:nvPr/>
        </p:nvSpPr>
        <p:spPr>
          <a:xfrm>
            <a:off x="785520" y="2997360"/>
            <a:ext cx="1685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システムとして実用可能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テキスト ボックス 675"/>
          <p:cNvSpPr txBox="1"/>
          <p:nvPr/>
        </p:nvSpPr>
        <p:spPr>
          <a:xfrm>
            <a:off x="921960" y="3632400"/>
            <a:ext cx="33051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本システムにより、企業が標的型メール訓練を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フリーフォーム 676"/>
          <p:cNvSpPr/>
          <p:nvPr/>
        </p:nvSpPr>
        <p:spPr>
          <a:xfrm>
            <a:off x="5615640" y="902520"/>
            <a:ext cx="4746960" cy="3510000"/>
          </a:xfrm>
          <a:custGeom>
            <a:avLst/>
            <a:gdLst/>
            <a:ahLst/>
            <a:cxnLst/>
            <a:rect l="0" t="0" r="r" b="b"/>
            <a:pathLst>
              <a:path w="13186" h="9750">
                <a:moveTo>
                  <a:pt x="0" y="956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6" y="9"/>
                  <a:pt x="137" y="5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3000" y="0"/>
                </a:lnTo>
                <a:cubicBezTo>
                  <a:pt x="13012" y="0"/>
                  <a:pt x="13024" y="1"/>
                  <a:pt x="13036" y="3"/>
                </a:cubicBezTo>
                <a:cubicBezTo>
                  <a:pt x="13048" y="5"/>
                  <a:pt x="13060" y="9"/>
                  <a:pt x="13071" y="14"/>
                </a:cubicBezTo>
                <a:cubicBezTo>
                  <a:pt x="13082" y="18"/>
                  <a:pt x="13093" y="24"/>
                  <a:pt x="13103" y="31"/>
                </a:cubicBezTo>
                <a:cubicBezTo>
                  <a:pt x="13113" y="38"/>
                  <a:pt x="13123" y="45"/>
                  <a:pt x="13131" y="54"/>
                </a:cubicBezTo>
                <a:cubicBezTo>
                  <a:pt x="13140" y="63"/>
                  <a:pt x="13148" y="72"/>
                  <a:pt x="13154" y="82"/>
                </a:cubicBezTo>
                <a:cubicBezTo>
                  <a:pt x="13161" y="92"/>
                  <a:pt x="13167" y="103"/>
                  <a:pt x="13172" y="114"/>
                </a:cubicBezTo>
                <a:cubicBezTo>
                  <a:pt x="13176" y="125"/>
                  <a:pt x="13180" y="137"/>
                  <a:pt x="13182" y="149"/>
                </a:cubicBezTo>
                <a:cubicBezTo>
                  <a:pt x="13184" y="161"/>
                  <a:pt x="13186" y="173"/>
                  <a:pt x="13186" y="185"/>
                </a:cubicBezTo>
                <a:lnTo>
                  <a:pt x="13186" y="9564"/>
                </a:lnTo>
                <a:cubicBezTo>
                  <a:pt x="13186" y="9576"/>
                  <a:pt x="13184" y="9589"/>
                  <a:pt x="13182" y="9601"/>
                </a:cubicBezTo>
                <a:cubicBezTo>
                  <a:pt x="13180" y="9612"/>
                  <a:pt x="13176" y="9624"/>
                  <a:pt x="13172" y="9635"/>
                </a:cubicBezTo>
                <a:cubicBezTo>
                  <a:pt x="13167" y="9647"/>
                  <a:pt x="13161" y="9657"/>
                  <a:pt x="13154" y="9667"/>
                </a:cubicBezTo>
                <a:cubicBezTo>
                  <a:pt x="13148" y="9678"/>
                  <a:pt x="13140" y="9687"/>
                  <a:pt x="13131" y="9696"/>
                </a:cubicBezTo>
                <a:cubicBezTo>
                  <a:pt x="13123" y="9704"/>
                  <a:pt x="13113" y="9712"/>
                  <a:pt x="13103" y="9719"/>
                </a:cubicBezTo>
                <a:cubicBezTo>
                  <a:pt x="13093" y="9725"/>
                  <a:pt x="13082" y="9731"/>
                  <a:pt x="13071" y="9736"/>
                </a:cubicBezTo>
                <a:cubicBezTo>
                  <a:pt x="13060" y="9741"/>
                  <a:pt x="13048" y="9744"/>
                  <a:pt x="13036" y="9746"/>
                </a:cubicBezTo>
                <a:cubicBezTo>
                  <a:pt x="13024" y="9749"/>
                  <a:pt x="13012" y="9750"/>
                  <a:pt x="13000" y="9750"/>
                </a:cubicBezTo>
                <a:lnTo>
                  <a:pt x="185" y="9750"/>
                </a:lnTo>
                <a:cubicBezTo>
                  <a:pt x="173" y="9750"/>
                  <a:pt x="161" y="9749"/>
                  <a:pt x="149" y="9746"/>
                </a:cubicBezTo>
                <a:cubicBezTo>
                  <a:pt x="137" y="9744"/>
                  <a:pt x="126" y="9741"/>
                  <a:pt x="114" y="9736"/>
                </a:cubicBezTo>
                <a:cubicBezTo>
                  <a:pt x="103" y="9731"/>
                  <a:pt x="92" y="9725"/>
                  <a:pt x="82" y="9719"/>
                </a:cubicBezTo>
                <a:cubicBezTo>
                  <a:pt x="72" y="9712"/>
                  <a:pt x="63" y="9704"/>
                  <a:pt x="54" y="9696"/>
                </a:cubicBezTo>
                <a:cubicBezTo>
                  <a:pt x="45" y="9687"/>
                  <a:pt x="38" y="9678"/>
                  <a:pt x="31" y="9667"/>
                </a:cubicBezTo>
                <a:cubicBezTo>
                  <a:pt x="24" y="9657"/>
                  <a:pt x="18" y="9647"/>
                  <a:pt x="14" y="9635"/>
                </a:cubicBezTo>
                <a:cubicBezTo>
                  <a:pt x="9" y="9624"/>
                  <a:pt x="6" y="9612"/>
                  <a:pt x="3" y="9601"/>
                </a:cubicBezTo>
                <a:cubicBezTo>
                  <a:pt x="1" y="9589"/>
                  <a:pt x="0" y="9576"/>
                  <a:pt x="0" y="9564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78" name="図 677"/>
          <p:cNvPicPr/>
          <p:nvPr/>
        </p:nvPicPr>
        <p:blipFill>
          <a:blip r:embed="rId6"/>
          <a:stretch/>
        </p:blipFill>
        <p:spPr>
          <a:xfrm>
            <a:off x="5816160" y="11365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9" name="テキスト ボックス 678"/>
          <p:cNvSpPr txBox="1"/>
          <p:nvPr/>
        </p:nvSpPr>
        <p:spPr>
          <a:xfrm>
            <a:off x="921960" y="3866400"/>
            <a:ext cx="31460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積極的に行える環境を提供することが可能に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0" name="図 679"/>
          <p:cNvPicPr/>
          <p:nvPr/>
        </p:nvPicPr>
        <p:blipFill>
          <a:blip r:embed="rId7"/>
          <a:stretch/>
        </p:blipFill>
        <p:spPr>
          <a:xfrm>
            <a:off x="5883120" y="163800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1" name="テキスト ボックス 680"/>
          <p:cNvSpPr txBox="1"/>
          <p:nvPr/>
        </p:nvSpPr>
        <p:spPr>
          <a:xfrm>
            <a:off x="6117120" y="1110600"/>
            <a:ext cx="1011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今後の課題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テキスト ボックス 681"/>
          <p:cNvSpPr txBox="1"/>
          <p:nvPr/>
        </p:nvSpPr>
        <p:spPr>
          <a:xfrm>
            <a:off x="6083640" y="1626840"/>
            <a:ext cx="3987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添付ファイルの送信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およびファイルダウンロードの検知機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3" name="図 682"/>
          <p:cNvPicPr/>
          <p:nvPr/>
        </p:nvPicPr>
        <p:blipFill>
          <a:blip r:embed="rId8"/>
          <a:stretch/>
        </p:blipFill>
        <p:spPr>
          <a:xfrm>
            <a:off x="5883120" y="23400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4" name="テキスト ボックス 683"/>
          <p:cNvSpPr txBox="1"/>
          <p:nvPr/>
        </p:nvSpPr>
        <p:spPr>
          <a:xfrm>
            <a:off x="6083640" y="1860840"/>
            <a:ext cx="607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能の実装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5" name="図 684"/>
          <p:cNvPicPr/>
          <p:nvPr/>
        </p:nvPicPr>
        <p:blipFill>
          <a:blip r:embed="rId9"/>
          <a:stretch/>
        </p:blipFill>
        <p:spPr>
          <a:xfrm>
            <a:off x="5883120" y="280800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テキスト ボックス 685"/>
          <p:cNvSpPr txBox="1"/>
          <p:nvPr/>
        </p:nvSpPr>
        <p:spPr>
          <a:xfrm>
            <a:off x="6117120" y="2328840"/>
            <a:ext cx="2442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メールサーバによる利用停止の対策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7" name="図 686"/>
          <p:cNvPicPr/>
          <p:nvPr/>
        </p:nvPicPr>
        <p:blipFill>
          <a:blip r:embed="rId10"/>
          <a:stretch/>
        </p:blipFill>
        <p:spPr>
          <a:xfrm>
            <a:off x="5883120" y="327600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8" name="テキスト ボックス 687"/>
          <p:cNvSpPr txBox="1"/>
          <p:nvPr/>
        </p:nvSpPr>
        <p:spPr>
          <a:xfrm>
            <a:off x="6083640" y="2796840"/>
            <a:ext cx="22885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93C5FD"/>
                </a:solidFill>
                <a:effectLst/>
                <a:uFillTx/>
                <a:latin typeface="WenQuanYiZenHei"/>
                <a:ea typeface="WenQuanYiZenHei"/>
              </a:rPr>
              <a:t>実際の環境</a:t>
            </a:r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でのシステム動作検証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9" name="図 688"/>
          <p:cNvPicPr/>
          <p:nvPr/>
        </p:nvPicPr>
        <p:blipFill>
          <a:blip r:embed="rId11"/>
          <a:stretch/>
        </p:blipFill>
        <p:spPr>
          <a:xfrm>
            <a:off x="5883120" y="37436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0" name="テキスト ボックス 689"/>
          <p:cNvSpPr txBox="1"/>
          <p:nvPr/>
        </p:nvSpPr>
        <p:spPr>
          <a:xfrm>
            <a:off x="6100560" y="3264840"/>
            <a:ext cx="1821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訓練者への通知機能の実装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フリーフォーム 690"/>
          <p:cNvSpPr/>
          <p:nvPr/>
        </p:nvSpPr>
        <p:spPr>
          <a:xfrm>
            <a:off x="334080" y="4612680"/>
            <a:ext cx="10028520" cy="802800"/>
          </a:xfrm>
          <a:custGeom>
            <a:avLst/>
            <a:gdLst/>
            <a:ahLst/>
            <a:cxnLst/>
            <a:rect l="0" t="0" r="r" b="b"/>
            <a:pathLst>
              <a:path w="27857" h="2230">
                <a:moveTo>
                  <a:pt x="0" y="2044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1"/>
                  <a:pt x="174" y="0"/>
                  <a:pt x="186" y="0"/>
                </a:cubicBezTo>
                <a:lnTo>
                  <a:pt x="27671" y="0"/>
                </a:lnTo>
                <a:cubicBezTo>
                  <a:pt x="27683" y="0"/>
                  <a:pt x="27695" y="1"/>
                  <a:pt x="27707" y="4"/>
                </a:cubicBezTo>
                <a:cubicBezTo>
                  <a:pt x="27719" y="6"/>
                  <a:pt x="27731" y="10"/>
                  <a:pt x="27742" y="14"/>
                </a:cubicBezTo>
                <a:cubicBezTo>
                  <a:pt x="27753" y="19"/>
                  <a:pt x="27764" y="25"/>
                  <a:pt x="27774" y="31"/>
                </a:cubicBezTo>
                <a:cubicBezTo>
                  <a:pt x="27784" y="38"/>
                  <a:pt x="27794" y="46"/>
                  <a:pt x="27802" y="54"/>
                </a:cubicBezTo>
                <a:cubicBezTo>
                  <a:pt x="27811" y="63"/>
                  <a:pt x="27819" y="72"/>
                  <a:pt x="27825" y="83"/>
                </a:cubicBezTo>
                <a:cubicBezTo>
                  <a:pt x="27832" y="93"/>
                  <a:pt x="27838" y="103"/>
                  <a:pt x="27843" y="115"/>
                </a:cubicBezTo>
                <a:cubicBezTo>
                  <a:pt x="27847" y="126"/>
                  <a:pt x="27851" y="138"/>
                  <a:pt x="27853" y="150"/>
                </a:cubicBezTo>
                <a:cubicBezTo>
                  <a:pt x="27855" y="162"/>
                  <a:pt x="27857" y="174"/>
                  <a:pt x="27857" y="186"/>
                </a:cubicBezTo>
                <a:lnTo>
                  <a:pt x="27857" y="2044"/>
                </a:lnTo>
                <a:cubicBezTo>
                  <a:pt x="27857" y="2056"/>
                  <a:pt x="27855" y="2068"/>
                  <a:pt x="27853" y="2080"/>
                </a:cubicBezTo>
                <a:cubicBezTo>
                  <a:pt x="27851" y="2092"/>
                  <a:pt x="27847" y="2104"/>
                  <a:pt x="27843" y="2115"/>
                </a:cubicBezTo>
                <a:cubicBezTo>
                  <a:pt x="27838" y="2126"/>
                  <a:pt x="27832" y="2137"/>
                  <a:pt x="27825" y="2147"/>
                </a:cubicBezTo>
                <a:cubicBezTo>
                  <a:pt x="27819" y="2157"/>
                  <a:pt x="27811" y="2167"/>
                  <a:pt x="27802" y="2175"/>
                </a:cubicBezTo>
                <a:cubicBezTo>
                  <a:pt x="27794" y="2184"/>
                  <a:pt x="27784" y="2191"/>
                  <a:pt x="27774" y="2198"/>
                </a:cubicBezTo>
                <a:cubicBezTo>
                  <a:pt x="27764" y="2205"/>
                  <a:pt x="27753" y="2211"/>
                  <a:pt x="27742" y="2215"/>
                </a:cubicBezTo>
                <a:cubicBezTo>
                  <a:pt x="27731" y="2220"/>
                  <a:pt x="27719" y="2224"/>
                  <a:pt x="27707" y="2226"/>
                </a:cubicBezTo>
                <a:cubicBezTo>
                  <a:pt x="27695" y="2228"/>
                  <a:pt x="27683" y="2230"/>
                  <a:pt x="27671" y="2230"/>
                </a:cubicBezTo>
                <a:lnTo>
                  <a:pt x="186" y="2230"/>
                </a:lnTo>
                <a:cubicBezTo>
                  <a:pt x="174" y="2230"/>
                  <a:pt x="161" y="2228"/>
                  <a:pt x="149" y="2226"/>
                </a:cubicBezTo>
                <a:cubicBezTo>
                  <a:pt x="138" y="2224"/>
                  <a:pt x="126" y="2220"/>
                  <a:pt x="115" y="2215"/>
                </a:cubicBezTo>
                <a:cubicBezTo>
                  <a:pt x="103" y="2211"/>
                  <a:pt x="93" y="2205"/>
                  <a:pt x="83" y="2198"/>
                </a:cubicBezTo>
                <a:cubicBezTo>
                  <a:pt x="72" y="2191"/>
                  <a:pt x="63" y="2184"/>
                  <a:pt x="54" y="2175"/>
                </a:cubicBezTo>
                <a:cubicBezTo>
                  <a:pt x="46" y="2167"/>
                  <a:pt x="38" y="2157"/>
                  <a:pt x="31" y="2147"/>
                </a:cubicBezTo>
                <a:cubicBezTo>
                  <a:pt x="25" y="2137"/>
                  <a:pt x="19" y="2126"/>
                  <a:pt x="14" y="2115"/>
                </a:cubicBezTo>
                <a:cubicBezTo>
                  <a:pt x="9" y="2104"/>
                  <a:pt x="6" y="2092"/>
                  <a:pt x="4" y="2080"/>
                </a:cubicBezTo>
                <a:cubicBezTo>
                  <a:pt x="1" y="2068"/>
                  <a:pt x="0" y="2056"/>
                  <a:pt x="0" y="2044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テキスト ボックス 691"/>
          <p:cNvSpPr txBox="1"/>
          <p:nvPr/>
        </p:nvSpPr>
        <p:spPr>
          <a:xfrm>
            <a:off x="6117120" y="3732480"/>
            <a:ext cx="31939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8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送信の時間差や送信先のランダム抽出設定機能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テキスト ボックス 692"/>
          <p:cNvSpPr txBox="1"/>
          <p:nvPr/>
        </p:nvSpPr>
        <p:spPr>
          <a:xfrm>
            <a:off x="1170000" y="4794480"/>
            <a:ext cx="848484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これらの課題を解決することで、</a:t>
            </a:r>
            <a:r>
              <a:rPr lang="zh-CN" sz="1320" b="0" u="none" strike="noStrike">
                <a:solidFill>
                  <a:srgbClr val="FCD34D"/>
                </a:solidFill>
                <a:effectLst/>
                <a:uFillTx/>
                <a:latin typeface="WenQuanYiZenHei"/>
                <a:ea typeface="WenQuanYiZenHei"/>
              </a:rPr>
              <a:t>自動生成した標的型メールを用いた訓練用標的型メール配信システム</a:t>
            </a:r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として、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94" name="図 693"/>
          <p:cNvPicPr/>
          <p:nvPr/>
        </p:nvPicPr>
        <p:blipFill>
          <a:blip r:embed="rId12"/>
          <a:stretch/>
        </p:blipFill>
        <p:spPr>
          <a:xfrm>
            <a:off x="10053000" y="5649120"/>
            <a:ext cx="50940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5" name="テキスト ボックス 694"/>
          <p:cNvSpPr txBox="1"/>
          <p:nvPr/>
        </p:nvSpPr>
        <p:spPr>
          <a:xfrm>
            <a:off x="2590560" y="5028480"/>
            <a:ext cx="561528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u="none" strike="noStrike">
                <a:solidFill>
                  <a:srgbClr val="FFFFFF"/>
                </a:solidFill>
                <a:effectLst/>
                <a:uFillTx/>
                <a:latin typeface="WenQuanYiZenHei"/>
                <a:ea typeface="WenQuanYiZenHei"/>
              </a:rPr>
              <a:t>より実用的なシステムになり、社会のセキュリティ意識向上に貢献できる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1892</Words>
  <Application>Microsoft Macintosh PowerPoint</Application>
  <PresentationFormat>ユーザー設定</PresentationFormat>
  <Paragraphs>430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0" baseType="lpstr">
      <vt:lpstr>DejaVuSans</vt:lpstr>
      <vt:lpstr>WenQuanYiZenHei</vt:lpstr>
      <vt:lpstr>Arial</vt:lpstr>
      <vt:lpstr>Courier New</vt:lpstr>
      <vt:lpstr>Symbol</vt:lpstr>
      <vt:lpstr>Times New Roman</vt:lpstr>
      <vt:lpstr>Wingdings</vt:lpstr>
      <vt:lpstr>Office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トクノヒビキ</cp:lastModifiedBy>
  <cp:revision>1</cp:revision>
  <dcterms:modified xsi:type="dcterms:W3CDTF">2025-07-16T01:28:33Z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