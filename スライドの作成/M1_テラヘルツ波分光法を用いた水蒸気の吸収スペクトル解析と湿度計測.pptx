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65" r:id="rId4"/>
    <p:sldId id="259" r:id="rId5"/>
    <p:sldId id="260" r:id="rId6"/>
    <p:sldId id="261" r:id="rId7"/>
    <p:sldId id="262" r:id="rId8"/>
    <p:sldId id="263" r:id="rId9"/>
    <p:sldId id="264" r:id="rId10"/>
  </p:sldIdLst>
  <p:sldSz cx="12192000" cy="6781800"/>
  <p:notesSz cx="12192000" cy="75438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6" d="100"/>
          <a:sy n="56" d="100"/>
        </p:scale>
        <p:origin x="976"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5283200" cy="37782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6905625" y="0"/>
            <a:ext cx="5283200" cy="377825"/>
          </a:xfrm>
          <a:prstGeom prst="rect">
            <a:avLst/>
          </a:prstGeom>
        </p:spPr>
        <p:txBody>
          <a:bodyPr vert="horz" lIns="91440" tIns="45720" rIns="91440" bIns="45720" rtlCol="0"/>
          <a:lstStyle>
            <a:lvl1pPr algn="r">
              <a:defRPr sz="1200"/>
            </a:lvl1pPr>
          </a:lstStyle>
          <a:p>
            <a:fld id="{7F7A2533-B427-472E-971C-872AF14B1901}" type="datetimeFigureOut">
              <a:rPr kumimoji="1" lang="ja-JP" altLang="en-US" smtClean="0"/>
              <a:t>2025/8/1</a:t>
            </a:fld>
            <a:endParaRPr kumimoji="1" lang="ja-JP" altLang="en-US"/>
          </a:p>
        </p:txBody>
      </p:sp>
      <p:sp>
        <p:nvSpPr>
          <p:cNvPr id="4" name="スライド イメージ プレースホルダー 3"/>
          <p:cNvSpPr>
            <a:spLocks noGrp="1" noRot="1" noChangeAspect="1"/>
          </p:cNvSpPr>
          <p:nvPr>
            <p:ph type="sldImg" idx="2"/>
          </p:nvPr>
        </p:nvSpPr>
        <p:spPr>
          <a:xfrm>
            <a:off x="3806825" y="942975"/>
            <a:ext cx="4578350" cy="254635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1219200" y="3630613"/>
            <a:ext cx="9753600" cy="2970212"/>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7165975"/>
            <a:ext cx="5283200" cy="377825"/>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6905625" y="7165975"/>
            <a:ext cx="5283200" cy="377825"/>
          </a:xfrm>
          <a:prstGeom prst="rect">
            <a:avLst/>
          </a:prstGeom>
        </p:spPr>
        <p:txBody>
          <a:bodyPr vert="horz" lIns="91440" tIns="45720" rIns="91440" bIns="45720" rtlCol="0" anchor="b"/>
          <a:lstStyle>
            <a:lvl1pPr algn="r">
              <a:defRPr sz="1200"/>
            </a:lvl1pPr>
          </a:lstStyle>
          <a:p>
            <a:fld id="{6C5498F3-AEDD-49A3-937E-1B4EF5AFEB89}" type="slidenum">
              <a:rPr kumimoji="1" lang="ja-JP" altLang="en-US" smtClean="0"/>
              <a:t>‹#›</a:t>
            </a:fld>
            <a:endParaRPr kumimoji="1" lang="ja-JP" altLang="en-US"/>
          </a:p>
        </p:txBody>
      </p:sp>
    </p:spTree>
    <p:extLst>
      <p:ext uri="{BB962C8B-B14F-4D97-AF65-F5344CB8AC3E}">
        <p14:creationId xmlns:p14="http://schemas.microsoft.com/office/powerpoint/2010/main" val="330788327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218499"/>
            <a:ext cx="10363200" cy="1502854"/>
          </a:xfrm>
          <a:prstGeom prst="rect">
            <a:avLst/>
          </a:prstGeom>
        </p:spPr>
        <p:txBody>
          <a:bodyPr wrap="square" lIns="0" tIns="0" rIns="0" bIns="0">
            <a:spAutoFit/>
          </a:bodyPr>
          <a:lstStyle>
            <a:lvl1pPr>
              <a:defRPr sz="2250" b="0" i="0">
                <a:solidFill>
                  <a:schemeClr val="bg1"/>
                </a:solidFill>
                <a:latin typeface="PMingLiU"/>
                <a:cs typeface="PMingLiU"/>
              </a:defRPr>
            </a:lvl1pPr>
          </a:lstStyle>
          <a:p>
            <a:endParaRPr/>
          </a:p>
        </p:txBody>
      </p:sp>
      <p:sp>
        <p:nvSpPr>
          <p:cNvPr id="3" name="Holder 3"/>
          <p:cNvSpPr>
            <a:spLocks noGrp="1"/>
          </p:cNvSpPr>
          <p:nvPr>
            <p:ph type="subTitle" idx="4"/>
          </p:nvPr>
        </p:nvSpPr>
        <p:spPr>
          <a:xfrm>
            <a:off x="1828800" y="4007612"/>
            <a:ext cx="8534400" cy="1789112"/>
          </a:xfrm>
          <a:prstGeom prst="rect">
            <a:avLst/>
          </a:prstGeom>
        </p:spPr>
        <p:txBody>
          <a:bodyPr wrap="square" lIns="0" tIns="0" rIns="0" bIns="0">
            <a:spAutoFit/>
          </a:bodyPr>
          <a:lstStyle>
            <a:lvl1pPr>
              <a:defRPr sz="1950" b="0" i="0">
                <a:solidFill>
                  <a:srgbClr val="1F2937"/>
                </a:solidFill>
                <a:latin typeface="SimSun"/>
                <a:cs typeface="SimSu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50" b="0" i="0">
                <a:solidFill>
                  <a:schemeClr val="bg1"/>
                </a:solidFill>
                <a:latin typeface="PMingLiU"/>
                <a:cs typeface="PMingLiU"/>
              </a:defRPr>
            </a:lvl1pPr>
          </a:lstStyle>
          <a:p>
            <a:endParaRPr/>
          </a:p>
        </p:txBody>
      </p:sp>
      <p:sp>
        <p:nvSpPr>
          <p:cNvPr id="3" name="Holder 3"/>
          <p:cNvSpPr>
            <a:spLocks noGrp="1"/>
          </p:cNvSpPr>
          <p:nvPr>
            <p:ph type="body" idx="1"/>
          </p:nvPr>
        </p:nvSpPr>
        <p:spPr/>
        <p:txBody>
          <a:bodyPr lIns="0" tIns="0" rIns="0" bIns="0"/>
          <a:lstStyle>
            <a:lvl1pPr>
              <a:defRPr sz="1950" b="0" i="0">
                <a:solidFill>
                  <a:srgbClr val="1F2937"/>
                </a:solidFill>
                <a:latin typeface="SimSun"/>
                <a:cs typeface="SimSu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50" b="0" i="0">
                <a:solidFill>
                  <a:schemeClr val="bg1"/>
                </a:solidFill>
                <a:latin typeface="PMingLiU"/>
                <a:cs typeface="PMingLiU"/>
              </a:defRPr>
            </a:lvl1pPr>
          </a:lstStyle>
          <a:p>
            <a:endParaRPr/>
          </a:p>
        </p:txBody>
      </p:sp>
      <p:sp>
        <p:nvSpPr>
          <p:cNvPr id="3" name="Holder 3"/>
          <p:cNvSpPr>
            <a:spLocks noGrp="1"/>
          </p:cNvSpPr>
          <p:nvPr>
            <p:ph sz="half" idx="2"/>
          </p:nvPr>
        </p:nvSpPr>
        <p:spPr>
          <a:xfrm>
            <a:off x="609600" y="1645983"/>
            <a:ext cx="5303520" cy="472325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645983"/>
            <a:ext cx="5303520" cy="472325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50" b="0" i="0">
                <a:solidFill>
                  <a:schemeClr val="bg1"/>
                </a:solidFill>
                <a:latin typeface="PMingLiU"/>
                <a:cs typeface="PMingLiU"/>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7111365"/>
          </a:xfrm>
          <a:custGeom>
            <a:avLst/>
            <a:gdLst/>
            <a:ahLst/>
            <a:cxnLst/>
            <a:rect l="l" t="t" r="r" b="b"/>
            <a:pathLst>
              <a:path w="12192000" h="7111365">
                <a:moveTo>
                  <a:pt x="12191999" y="7110983"/>
                </a:moveTo>
                <a:lnTo>
                  <a:pt x="0" y="7110983"/>
                </a:lnTo>
                <a:lnTo>
                  <a:pt x="0" y="0"/>
                </a:lnTo>
                <a:lnTo>
                  <a:pt x="12191999" y="0"/>
                </a:lnTo>
                <a:lnTo>
                  <a:pt x="12191999" y="7110983"/>
                </a:lnTo>
                <a:close/>
              </a:path>
            </a:pathLst>
          </a:custGeom>
          <a:solidFill>
            <a:srgbClr val="F2F4F5"/>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0" y="0"/>
            <a:ext cx="12191999" cy="647699"/>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92099" y="77396"/>
            <a:ext cx="5982335" cy="420418"/>
          </a:xfrm>
          <a:prstGeom prst="rect">
            <a:avLst/>
          </a:prstGeom>
        </p:spPr>
        <p:txBody>
          <a:bodyPr wrap="square" lIns="0" tIns="0" rIns="0" bIns="0">
            <a:spAutoFit/>
          </a:bodyPr>
          <a:lstStyle>
            <a:lvl1pPr>
              <a:defRPr sz="2250" b="0" i="0">
                <a:solidFill>
                  <a:schemeClr val="bg1"/>
                </a:solidFill>
                <a:latin typeface="PMingLiU"/>
                <a:cs typeface="PMingLiU"/>
              </a:defRPr>
            </a:lvl1pPr>
          </a:lstStyle>
          <a:p>
            <a:endParaRPr/>
          </a:p>
        </p:txBody>
      </p:sp>
      <p:sp>
        <p:nvSpPr>
          <p:cNvPr id="3" name="Holder 3"/>
          <p:cNvSpPr>
            <a:spLocks noGrp="1"/>
          </p:cNvSpPr>
          <p:nvPr>
            <p:ph type="body" idx="1"/>
          </p:nvPr>
        </p:nvSpPr>
        <p:spPr>
          <a:xfrm>
            <a:off x="1200149" y="3240234"/>
            <a:ext cx="4970145" cy="1684020"/>
          </a:xfrm>
          <a:prstGeom prst="rect">
            <a:avLst/>
          </a:prstGeom>
        </p:spPr>
        <p:txBody>
          <a:bodyPr wrap="square" lIns="0" tIns="0" rIns="0" bIns="0">
            <a:spAutoFit/>
          </a:bodyPr>
          <a:lstStyle>
            <a:lvl1pPr>
              <a:defRPr sz="1950" b="0" i="0">
                <a:solidFill>
                  <a:srgbClr val="1F2937"/>
                </a:solidFill>
                <a:latin typeface="SimSun"/>
                <a:cs typeface="SimSun"/>
              </a:defRPr>
            </a:lvl1pPr>
          </a:lstStyle>
          <a:p>
            <a:endParaRPr/>
          </a:p>
        </p:txBody>
      </p:sp>
      <p:sp>
        <p:nvSpPr>
          <p:cNvPr id="4" name="Holder 4"/>
          <p:cNvSpPr>
            <a:spLocks noGrp="1"/>
          </p:cNvSpPr>
          <p:nvPr>
            <p:ph type="ftr" sz="quarter" idx="5"/>
          </p:nvPr>
        </p:nvSpPr>
        <p:spPr>
          <a:xfrm>
            <a:off x="4145280" y="6655498"/>
            <a:ext cx="3901440" cy="35782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655498"/>
            <a:ext cx="2804160" cy="35782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8/1/2025</a:t>
            </a:fld>
            <a:endParaRPr lang="en-US"/>
          </a:p>
        </p:txBody>
      </p:sp>
      <p:sp>
        <p:nvSpPr>
          <p:cNvPr id="6" name="Holder 6"/>
          <p:cNvSpPr>
            <a:spLocks noGrp="1"/>
          </p:cNvSpPr>
          <p:nvPr>
            <p:ph type="sldNum" sz="quarter" idx="7"/>
          </p:nvPr>
        </p:nvSpPr>
        <p:spPr>
          <a:xfrm>
            <a:off x="8778240" y="6655498"/>
            <a:ext cx="2804160" cy="35782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0.png"/></Relationships>
</file>

<file path=ppt/slides/_rels/slide7.xml.rels><?xml version="1.0" encoding="UTF-8" standalone="yes"?>
<Relationships xmlns="http://schemas.openxmlformats.org/package/2006/relationships"><Relationship Id="rId8" Type="http://schemas.openxmlformats.org/officeDocument/2006/relationships/image" Target="../media/image46.jp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8.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17.png"/><Relationship Id="rId7"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54.png"/><Relationship Id="rId7" Type="http://schemas.openxmlformats.org/officeDocument/2006/relationships/image" Target="../media/image58.png"/><Relationship Id="rId12" Type="http://schemas.openxmlformats.org/officeDocument/2006/relationships/image" Target="../media/image6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image" Target="../media/image61.png"/><Relationship Id="rId5" Type="http://schemas.openxmlformats.org/officeDocument/2006/relationships/image" Target="../media/image56.png"/><Relationship Id="rId10" Type="http://schemas.openxmlformats.org/officeDocument/2006/relationships/image" Target="../media/image60.png"/><Relationship Id="rId4" Type="http://schemas.openxmlformats.org/officeDocument/2006/relationships/image" Target="../media/image55.png"/><Relationship Id="rId9"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1999" cy="6781800"/>
          </a:xfrm>
          <a:custGeom>
            <a:avLst/>
            <a:gdLst/>
            <a:ahLst/>
            <a:cxnLst/>
            <a:rect l="l" t="t" r="r" b="b"/>
            <a:pathLst>
              <a:path w="12192000" h="7150734">
                <a:moveTo>
                  <a:pt x="12191999" y="7150607"/>
                </a:moveTo>
                <a:lnTo>
                  <a:pt x="0" y="7150607"/>
                </a:lnTo>
                <a:lnTo>
                  <a:pt x="0" y="0"/>
                </a:lnTo>
                <a:lnTo>
                  <a:pt x="12191999" y="0"/>
                </a:lnTo>
                <a:lnTo>
                  <a:pt x="12191999" y="7150607"/>
                </a:lnTo>
                <a:close/>
              </a:path>
            </a:pathLst>
          </a:custGeom>
          <a:solidFill>
            <a:srgbClr val="F2F4F5"/>
          </a:solidFill>
        </p:spPr>
        <p:txBody>
          <a:bodyPr wrap="square" lIns="0" tIns="0" rIns="0" bIns="0" rtlCol="0"/>
          <a:lstStyle/>
          <a:p>
            <a:endParaRPr/>
          </a:p>
        </p:txBody>
      </p:sp>
      <p:grpSp>
        <p:nvGrpSpPr>
          <p:cNvPr id="3" name="object 3"/>
          <p:cNvGrpSpPr/>
          <p:nvPr/>
        </p:nvGrpSpPr>
        <p:grpSpPr>
          <a:xfrm>
            <a:off x="952499" y="2381249"/>
            <a:ext cx="4762500" cy="4486275"/>
            <a:chOff x="952499" y="2381249"/>
            <a:chExt cx="4762500" cy="4486275"/>
          </a:xfrm>
        </p:grpSpPr>
        <p:pic>
          <p:nvPicPr>
            <p:cNvPr id="4" name="object 4"/>
            <p:cNvPicPr/>
            <p:nvPr/>
          </p:nvPicPr>
          <p:blipFill>
            <a:blip r:embed="rId2" cstate="print"/>
            <a:stretch>
              <a:fillRect/>
            </a:stretch>
          </p:blipFill>
          <p:spPr>
            <a:xfrm>
              <a:off x="1904999" y="3333749"/>
              <a:ext cx="2857499" cy="2857499"/>
            </a:xfrm>
            <a:prstGeom prst="rect">
              <a:avLst/>
            </a:prstGeom>
          </p:spPr>
        </p:pic>
        <p:pic>
          <p:nvPicPr>
            <p:cNvPr id="5" name="object 5"/>
            <p:cNvPicPr/>
            <p:nvPr/>
          </p:nvPicPr>
          <p:blipFill>
            <a:blip r:embed="rId3" cstate="print"/>
            <a:stretch>
              <a:fillRect/>
            </a:stretch>
          </p:blipFill>
          <p:spPr>
            <a:xfrm>
              <a:off x="1428749" y="2857499"/>
              <a:ext cx="3809999" cy="3809999"/>
            </a:xfrm>
            <a:prstGeom prst="rect">
              <a:avLst/>
            </a:prstGeom>
          </p:spPr>
        </p:pic>
        <p:pic>
          <p:nvPicPr>
            <p:cNvPr id="6" name="object 6"/>
            <p:cNvPicPr/>
            <p:nvPr/>
          </p:nvPicPr>
          <p:blipFill>
            <a:blip r:embed="rId4" cstate="print"/>
            <a:stretch>
              <a:fillRect/>
            </a:stretch>
          </p:blipFill>
          <p:spPr>
            <a:xfrm>
              <a:off x="952499" y="2381249"/>
              <a:ext cx="4762499" cy="4486274"/>
            </a:xfrm>
            <a:prstGeom prst="rect">
              <a:avLst/>
            </a:prstGeom>
          </p:spPr>
        </p:pic>
      </p:grpSp>
      <p:pic>
        <p:nvPicPr>
          <p:cNvPr id="7" name="object 7"/>
          <p:cNvPicPr/>
          <p:nvPr/>
        </p:nvPicPr>
        <p:blipFill>
          <a:blip r:embed="rId5" cstate="print"/>
          <a:stretch>
            <a:fillRect/>
          </a:stretch>
        </p:blipFill>
        <p:spPr>
          <a:xfrm>
            <a:off x="952499" y="1428749"/>
            <a:ext cx="76200" cy="76199"/>
          </a:xfrm>
          <a:prstGeom prst="rect">
            <a:avLst/>
          </a:prstGeom>
        </p:spPr>
      </p:pic>
      <p:pic>
        <p:nvPicPr>
          <p:cNvPr id="8" name="object 8"/>
          <p:cNvPicPr/>
          <p:nvPr/>
        </p:nvPicPr>
        <p:blipFill>
          <a:blip r:embed="rId5" cstate="print"/>
          <a:stretch>
            <a:fillRect/>
          </a:stretch>
        </p:blipFill>
        <p:spPr>
          <a:xfrm>
            <a:off x="1904999" y="1904999"/>
            <a:ext cx="76200" cy="76199"/>
          </a:xfrm>
          <a:prstGeom prst="rect">
            <a:avLst/>
          </a:prstGeom>
        </p:spPr>
      </p:pic>
      <p:pic>
        <p:nvPicPr>
          <p:cNvPr id="9" name="object 9"/>
          <p:cNvPicPr/>
          <p:nvPr/>
        </p:nvPicPr>
        <p:blipFill>
          <a:blip r:embed="rId5" cstate="print"/>
          <a:stretch>
            <a:fillRect/>
          </a:stretch>
        </p:blipFill>
        <p:spPr>
          <a:xfrm>
            <a:off x="1428749" y="2857499"/>
            <a:ext cx="76200" cy="76199"/>
          </a:xfrm>
          <a:prstGeom prst="rect">
            <a:avLst/>
          </a:prstGeom>
        </p:spPr>
      </p:pic>
      <p:pic>
        <p:nvPicPr>
          <p:cNvPr id="10" name="object 10"/>
          <p:cNvPicPr/>
          <p:nvPr/>
        </p:nvPicPr>
        <p:blipFill>
          <a:blip r:embed="rId5" cstate="print"/>
          <a:stretch>
            <a:fillRect/>
          </a:stretch>
        </p:blipFill>
        <p:spPr>
          <a:xfrm>
            <a:off x="2381249" y="3809999"/>
            <a:ext cx="76200" cy="76199"/>
          </a:xfrm>
          <a:prstGeom prst="rect">
            <a:avLst/>
          </a:prstGeom>
        </p:spPr>
      </p:pic>
      <p:pic>
        <p:nvPicPr>
          <p:cNvPr id="11" name="object 11"/>
          <p:cNvPicPr/>
          <p:nvPr/>
        </p:nvPicPr>
        <p:blipFill>
          <a:blip r:embed="rId5" cstate="print"/>
          <a:stretch>
            <a:fillRect/>
          </a:stretch>
        </p:blipFill>
        <p:spPr>
          <a:xfrm>
            <a:off x="1142999" y="4286249"/>
            <a:ext cx="76200" cy="76199"/>
          </a:xfrm>
          <a:prstGeom prst="rect">
            <a:avLst/>
          </a:prstGeom>
        </p:spPr>
      </p:pic>
      <p:pic>
        <p:nvPicPr>
          <p:cNvPr id="12" name="object 12"/>
          <p:cNvPicPr/>
          <p:nvPr/>
        </p:nvPicPr>
        <p:blipFill>
          <a:blip r:embed="rId5" cstate="print"/>
          <a:stretch>
            <a:fillRect/>
          </a:stretch>
        </p:blipFill>
        <p:spPr>
          <a:xfrm>
            <a:off x="1714499" y="4762499"/>
            <a:ext cx="76199" cy="76199"/>
          </a:xfrm>
          <a:prstGeom prst="rect">
            <a:avLst/>
          </a:prstGeom>
        </p:spPr>
      </p:pic>
      <p:pic>
        <p:nvPicPr>
          <p:cNvPr id="13" name="object 13"/>
          <p:cNvPicPr/>
          <p:nvPr/>
        </p:nvPicPr>
        <p:blipFill>
          <a:blip r:embed="rId5" cstate="print"/>
          <a:stretch>
            <a:fillRect/>
          </a:stretch>
        </p:blipFill>
        <p:spPr>
          <a:xfrm>
            <a:off x="9048748" y="1904999"/>
            <a:ext cx="76200" cy="76199"/>
          </a:xfrm>
          <a:prstGeom prst="rect">
            <a:avLst/>
          </a:prstGeom>
        </p:spPr>
      </p:pic>
      <p:pic>
        <p:nvPicPr>
          <p:cNvPr id="14" name="object 14"/>
          <p:cNvPicPr/>
          <p:nvPr/>
        </p:nvPicPr>
        <p:blipFill>
          <a:blip r:embed="rId5" cstate="print"/>
          <a:stretch>
            <a:fillRect/>
          </a:stretch>
        </p:blipFill>
        <p:spPr>
          <a:xfrm>
            <a:off x="9524998" y="2857499"/>
            <a:ext cx="76201" cy="76199"/>
          </a:xfrm>
          <a:prstGeom prst="rect">
            <a:avLst/>
          </a:prstGeom>
        </p:spPr>
      </p:pic>
      <p:pic>
        <p:nvPicPr>
          <p:cNvPr id="15" name="object 15"/>
          <p:cNvPicPr/>
          <p:nvPr/>
        </p:nvPicPr>
        <p:blipFill>
          <a:blip r:embed="rId5" cstate="print"/>
          <a:stretch>
            <a:fillRect/>
          </a:stretch>
        </p:blipFill>
        <p:spPr>
          <a:xfrm>
            <a:off x="9048748" y="3809999"/>
            <a:ext cx="76200" cy="76199"/>
          </a:xfrm>
          <a:prstGeom prst="rect">
            <a:avLst/>
          </a:prstGeom>
        </p:spPr>
      </p:pic>
      <p:pic>
        <p:nvPicPr>
          <p:cNvPr id="16" name="object 16"/>
          <p:cNvPicPr/>
          <p:nvPr/>
        </p:nvPicPr>
        <p:blipFill>
          <a:blip r:embed="rId5" cstate="print"/>
          <a:stretch>
            <a:fillRect/>
          </a:stretch>
        </p:blipFill>
        <p:spPr>
          <a:xfrm>
            <a:off x="9524998" y="4762499"/>
            <a:ext cx="76201" cy="76199"/>
          </a:xfrm>
          <a:prstGeom prst="rect">
            <a:avLst/>
          </a:prstGeom>
        </p:spPr>
      </p:pic>
      <p:sp>
        <p:nvSpPr>
          <p:cNvPr id="17" name="object 17"/>
          <p:cNvSpPr txBox="1">
            <a:spLocks noGrp="1"/>
          </p:cNvSpPr>
          <p:nvPr>
            <p:ph type="title"/>
          </p:nvPr>
        </p:nvSpPr>
        <p:spPr>
          <a:xfrm>
            <a:off x="1225549" y="1478446"/>
            <a:ext cx="9740265" cy="878840"/>
          </a:xfrm>
          <a:prstGeom prst="rect">
            <a:avLst/>
          </a:prstGeom>
        </p:spPr>
        <p:txBody>
          <a:bodyPr vert="horz" wrap="square" lIns="0" tIns="102235" rIns="0" bIns="0" rtlCol="0">
            <a:spAutoFit/>
          </a:bodyPr>
          <a:lstStyle/>
          <a:p>
            <a:pPr marL="3303270" marR="5080" indent="-3291204">
              <a:lnSpc>
                <a:spcPts val="3000"/>
              </a:lnSpc>
              <a:spcBef>
                <a:spcPts val="805"/>
              </a:spcBef>
            </a:pPr>
            <a:r>
              <a:rPr sz="2800" spc="-55" dirty="0">
                <a:solidFill>
                  <a:srgbClr val="1F2937"/>
                </a:solidFill>
              </a:rPr>
              <a:t>テラヘルツ</a:t>
            </a:r>
            <a:r>
              <a:rPr sz="3000" spc="-300" dirty="0">
                <a:solidFill>
                  <a:srgbClr val="1F2937"/>
                </a:solidFill>
                <a:latin typeface="SimSun"/>
                <a:cs typeface="SimSun"/>
              </a:rPr>
              <a:t>波分光</a:t>
            </a:r>
            <a:r>
              <a:rPr sz="2800" spc="-55" dirty="0">
                <a:solidFill>
                  <a:srgbClr val="1F2937"/>
                </a:solidFill>
              </a:rPr>
              <a:t>を</a:t>
            </a:r>
            <a:r>
              <a:rPr sz="2850" spc="-180" dirty="0">
                <a:solidFill>
                  <a:srgbClr val="1F2937"/>
                </a:solidFill>
              </a:rPr>
              <a:t>用</a:t>
            </a:r>
            <a:r>
              <a:rPr sz="2550" spc="210" dirty="0">
                <a:solidFill>
                  <a:srgbClr val="1F2937"/>
                </a:solidFill>
              </a:rPr>
              <a:t>い</a:t>
            </a:r>
            <a:r>
              <a:rPr sz="2800" spc="-55" dirty="0">
                <a:solidFill>
                  <a:srgbClr val="1F2937"/>
                </a:solidFill>
              </a:rPr>
              <a:t>た</a:t>
            </a:r>
            <a:r>
              <a:rPr sz="2950" spc="-270" dirty="0">
                <a:solidFill>
                  <a:srgbClr val="1F2937"/>
                </a:solidFill>
              </a:rPr>
              <a:t>絶</a:t>
            </a:r>
            <a:r>
              <a:rPr sz="3100" spc="-405" dirty="0">
                <a:solidFill>
                  <a:srgbClr val="1F2937"/>
                </a:solidFill>
                <a:latin typeface="SimSun"/>
                <a:cs typeface="SimSun"/>
              </a:rPr>
              <a:t>対</a:t>
            </a:r>
            <a:r>
              <a:rPr sz="3000" spc="-300" dirty="0">
                <a:solidFill>
                  <a:srgbClr val="1F2937"/>
                </a:solidFill>
                <a:latin typeface="SimSun"/>
                <a:cs typeface="SimSun"/>
              </a:rPr>
              <a:t>湿</a:t>
            </a:r>
            <a:r>
              <a:rPr sz="3100" spc="-405" dirty="0">
                <a:solidFill>
                  <a:srgbClr val="1F2937"/>
                </a:solidFill>
                <a:latin typeface="SimSun"/>
                <a:cs typeface="SimSun"/>
              </a:rPr>
              <a:t>度</a:t>
            </a:r>
            <a:r>
              <a:rPr sz="3050" spc="-370" dirty="0">
                <a:solidFill>
                  <a:srgbClr val="1F2937"/>
                </a:solidFill>
                <a:latin typeface="SimSun"/>
                <a:cs typeface="SimSun"/>
              </a:rPr>
              <a:t>計</a:t>
            </a:r>
            <a:r>
              <a:rPr sz="3000" spc="-300" dirty="0">
                <a:solidFill>
                  <a:srgbClr val="1F2937"/>
                </a:solidFill>
                <a:latin typeface="SimSun"/>
                <a:cs typeface="SimSun"/>
              </a:rPr>
              <a:t>測</a:t>
            </a:r>
            <a:r>
              <a:rPr sz="2800" spc="-55" dirty="0">
                <a:solidFill>
                  <a:srgbClr val="1F2937"/>
                </a:solidFill>
              </a:rPr>
              <a:t>の</a:t>
            </a:r>
            <a:r>
              <a:rPr sz="3100" spc="-405" dirty="0">
                <a:solidFill>
                  <a:srgbClr val="1F2937"/>
                </a:solidFill>
                <a:latin typeface="SimSun"/>
                <a:cs typeface="SimSun"/>
              </a:rPr>
              <a:t>実</a:t>
            </a:r>
            <a:r>
              <a:rPr sz="2900" spc="-210" dirty="0">
                <a:solidFill>
                  <a:srgbClr val="1F2937"/>
                </a:solidFill>
              </a:rPr>
              <a:t>現</a:t>
            </a:r>
            <a:r>
              <a:rPr sz="2800" spc="-55" dirty="0">
                <a:solidFill>
                  <a:srgbClr val="1F2937"/>
                </a:solidFill>
              </a:rPr>
              <a:t>に</a:t>
            </a:r>
            <a:r>
              <a:rPr sz="3000" spc="-330" dirty="0">
                <a:solidFill>
                  <a:srgbClr val="1F2937"/>
                </a:solidFill>
                <a:latin typeface="SimSun"/>
                <a:cs typeface="SimSun"/>
              </a:rPr>
              <a:t>向</a:t>
            </a:r>
            <a:r>
              <a:rPr sz="2800" spc="-55" dirty="0">
                <a:solidFill>
                  <a:srgbClr val="1F2937"/>
                </a:solidFill>
              </a:rPr>
              <a:t>けた</a:t>
            </a:r>
            <a:r>
              <a:rPr sz="3000" spc="-330" dirty="0">
                <a:solidFill>
                  <a:srgbClr val="1F2937"/>
                </a:solidFill>
                <a:latin typeface="SimSun"/>
                <a:cs typeface="SimSun"/>
              </a:rPr>
              <a:t>水蒸気</a:t>
            </a:r>
            <a:r>
              <a:rPr sz="3000" spc="-300" dirty="0">
                <a:solidFill>
                  <a:srgbClr val="1F2937"/>
                </a:solidFill>
                <a:latin typeface="SimSun"/>
                <a:cs typeface="SimSun"/>
              </a:rPr>
              <a:t>吸収</a:t>
            </a:r>
            <a:r>
              <a:rPr sz="2800" spc="-55" dirty="0">
                <a:solidFill>
                  <a:srgbClr val="1F2937"/>
                </a:solidFill>
              </a:rPr>
              <a:t>スペクトル</a:t>
            </a:r>
            <a:r>
              <a:rPr sz="3050" spc="-370" dirty="0">
                <a:solidFill>
                  <a:srgbClr val="1F2937"/>
                </a:solidFill>
                <a:latin typeface="SimSun"/>
                <a:cs typeface="SimSun"/>
              </a:rPr>
              <a:t>解</a:t>
            </a:r>
            <a:r>
              <a:rPr sz="2950" spc="-320" dirty="0">
                <a:solidFill>
                  <a:srgbClr val="1F2937"/>
                </a:solidFill>
                <a:latin typeface="SimSun"/>
                <a:cs typeface="SimSun"/>
              </a:rPr>
              <a:t>析</a:t>
            </a:r>
            <a:endParaRPr sz="2950">
              <a:latin typeface="SimSun"/>
              <a:cs typeface="SimSun"/>
            </a:endParaRPr>
          </a:p>
        </p:txBody>
      </p:sp>
      <p:sp>
        <p:nvSpPr>
          <p:cNvPr id="18" name="object 18"/>
          <p:cNvSpPr txBox="1"/>
          <p:nvPr/>
        </p:nvSpPr>
        <p:spPr>
          <a:xfrm>
            <a:off x="1219447" y="2482850"/>
            <a:ext cx="975296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374050"/>
                </a:solidFill>
                <a:latin typeface="Trebuchet MS"/>
                <a:cs typeface="Trebuchet MS"/>
              </a:rPr>
              <a:t>Terahertz</a:t>
            </a:r>
            <a:r>
              <a:rPr sz="1800" spc="110" dirty="0">
                <a:solidFill>
                  <a:srgbClr val="374050"/>
                </a:solidFill>
                <a:latin typeface="Trebuchet MS"/>
                <a:cs typeface="Trebuchet MS"/>
              </a:rPr>
              <a:t> </a:t>
            </a:r>
            <a:r>
              <a:rPr sz="1800" spc="105" dirty="0">
                <a:solidFill>
                  <a:srgbClr val="374050"/>
                </a:solidFill>
                <a:latin typeface="Trebuchet MS"/>
                <a:cs typeface="Trebuchet MS"/>
              </a:rPr>
              <a:t>Spectroscopic</a:t>
            </a:r>
            <a:r>
              <a:rPr sz="1800" spc="114" dirty="0">
                <a:solidFill>
                  <a:srgbClr val="374050"/>
                </a:solidFill>
                <a:latin typeface="Trebuchet MS"/>
                <a:cs typeface="Trebuchet MS"/>
              </a:rPr>
              <a:t> </a:t>
            </a:r>
            <a:r>
              <a:rPr sz="1800" spc="125" dirty="0">
                <a:solidFill>
                  <a:srgbClr val="374050"/>
                </a:solidFill>
                <a:latin typeface="Trebuchet MS"/>
                <a:cs typeface="Trebuchet MS"/>
              </a:rPr>
              <a:t>Analysis</a:t>
            </a:r>
            <a:r>
              <a:rPr sz="1800" spc="110" dirty="0">
                <a:solidFill>
                  <a:srgbClr val="374050"/>
                </a:solidFill>
                <a:latin typeface="Trebuchet MS"/>
                <a:cs typeface="Trebuchet MS"/>
              </a:rPr>
              <a:t> </a:t>
            </a:r>
            <a:r>
              <a:rPr sz="1800" dirty="0">
                <a:solidFill>
                  <a:srgbClr val="374050"/>
                </a:solidFill>
                <a:latin typeface="Trebuchet MS"/>
                <a:cs typeface="Trebuchet MS"/>
              </a:rPr>
              <a:t>of</a:t>
            </a:r>
            <a:r>
              <a:rPr sz="1800" spc="114" dirty="0">
                <a:solidFill>
                  <a:srgbClr val="374050"/>
                </a:solidFill>
                <a:latin typeface="Trebuchet MS"/>
                <a:cs typeface="Trebuchet MS"/>
              </a:rPr>
              <a:t> </a:t>
            </a:r>
            <a:r>
              <a:rPr sz="1800" spc="80" dirty="0">
                <a:solidFill>
                  <a:srgbClr val="374050"/>
                </a:solidFill>
                <a:latin typeface="Trebuchet MS"/>
                <a:cs typeface="Trebuchet MS"/>
              </a:rPr>
              <a:t>Water</a:t>
            </a:r>
            <a:r>
              <a:rPr sz="1800" spc="114" dirty="0">
                <a:solidFill>
                  <a:srgbClr val="374050"/>
                </a:solidFill>
                <a:latin typeface="Trebuchet MS"/>
                <a:cs typeface="Trebuchet MS"/>
              </a:rPr>
              <a:t> </a:t>
            </a:r>
            <a:r>
              <a:rPr sz="1800" spc="95" dirty="0">
                <a:solidFill>
                  <a:srgbClr val="374050"/>
                </a:solidFill>
                <a:latin typeface="Trebuchet MS"/>
                <a:cs typeface="Trebuchet MS"/>
              </a:rPr>
              <a:t>Vapor</a:t>
            </a:r>
            <a:r>
              <a:rPr sz="1800" spc="110" dirty="0">
                <a:solidFill>
                  <a:srgbClr val="374050"/>
                </a:solidFill>
                <a:latin typeface="Trebuchet MS"/>
                <a:cs typeface="Trebuchet MS"/>
              </a:rPr>
              <a:t> </a:t>
            </a:r>
            <a:r>
              <a:rPr sz="1800" dirty="0">
                <a:solidFill>
                  <a:srgbClr val="374050"/>
                </a:solidFill>
                <a:latin typeface="Trebuchet MS"/>
                <a:cs typeface="Trebuchet MS"/>
              </a:rPr>
              <a:t>for</a:t>
            </a:r>
            <a:r>
              <a:rPr sz="1800" spc="114" dirty="0">
                <a:solidFill>
                  <a:srgbClr val="374050"/>
                </a:solidFill>
                <a:latin typeface="Trebuchet MS"/>
                <a:cs typeface="Trebuchet MS"/>
              </a:rPr>
              <a:t> </a:t>
            </a:r>
            <a:r>
              <a:rPr sz="1800" spc="100" dirty="0">
                <a:solidFill>
                  <a:srgbClr val="374050"/>
                </a:solidFill>
                <a:latin typeface="Trebuchet MS"/>
                <a:cs typeface="Trebuchet MS"/>
              </a:rPr>
              <a:t>Absolute</a:t>
            </a:r>
            <a:r>
              <a:rPr sz="1800" spc="110" dirty="0">
                <a:solidFill>
                  <a:srgbClr val="374050"/>
                </a:solidFill>
                <a:latin typeface="Trebuchet MS"/>
                <a:cs typeface="Trebuchet MS"/>
              </a:rPr>
              <a:t> </a:t>
            </a:r>
            <a:r>
              <a:rPr sz="1800" spc="100" dirty="0">
                <a:solidFill>
                  <a:srgbClr val="374050"/>
                </a:solidFill>
                <a:latin typeface="Trebuchet MS"/>
                <a:cs typeface="Trebuchet MS"/>
              </a:rPr>
              <a:t>Humidity</a:t>
            </a:r>
            <a:r>
              <a:rPr sz="1800" spc="114" dirty="0">
                <a:solidFill>
                  <a:srgbClr val="374050"/>
                </a:solidFill>
                <a:latin typeface="Trebuchet MS"/>
                <a:cs typeface="Trebuchet MS"/>
              </a:rPr>
              <a:t> </a:t>
            </a:r>
            <a:r>
              <a:rPr sz="1800" spc="125" dirty="0">
                <a:solidFill>
                  <a:srgbClr val="374050"/>
                </a:solidFill>
                <a:latin typeface="Trebuchet MS"/>
                <a:cs typeface="Trebuchet MS"/>
              </a:rPr>
              <a:t>Measurement</a:t>
            </a:r>
            <a:endParaRPr sz="1800">
              <a:latin typeface="Trebuchet MS"/>
              <a:cs typeface="Trebuchet MS"/>
            </a:endParaRPr>
          </a:p>
        </p:txBody>
      </p:sp>
      <p:sp>
        <p:nvSpPr>
          <p:cNvPr id="19" name="object 19"/>
          <p:cNvSpPr txBox="1"/>
          <p:nvPr/>
        </p:nvSpPr>
        <p:spPr>
          <a:xfrm>
            <a:off x="4410918" y="4513460"/>
            <a:ext cx="3370579" cy="1052830"/>
          </a:xfrm>
          <a:prstGeom prst="rect">
            <a:avLst/>
          </a:prstGeom>
        </p:spPr>
        <p:txBody>
          <a:bodyPr vert="horz" wrap="square" lIns="0" tIns="13970" rIns="0" bIns="0" rtlCol="0">
            <a:spAutoFit/>
          </a:bodyPr>
          <a:lstStyle/>
          <a:p>
            <a:pPr algn="ctr">
              <a:lnSpc>
                <a:spcPct val="100000"/>
              </a:lnSpc>
              <a:spcBef>
                <a:spcPts val="110"/>
              </a:spcBef>
            </a:pPr>
            <a:r>
              <a:rPr sz="1950" spc="-165" dirty="0">
                <a:solidFill>
                  <a:srgbClr val="374050"/>
                </a:solidFill>
                <a:latin typeface="PMingLiU"/>
                <a:cs typeface="PMingLiU"/>
              </a:rPr>
              <a:t>住</a:t>
            </a:r>
            <a:r>
              <a:rPr sz="2000" spc="-290" dirty="0">
                <a:solidFill>
                  <a:srgbClr val="374050"/>
                </a:solidFill>
                <a:latin typeface="SimSun"/>
                <a:cs typeface="SimSun"/>
              </a:rPr>
              <a:t>山 </a:t>
            </a:r>
            <a:r>
              <a:rPr sz="1950" spc="-165" dirty="0">
                <a:solidFill>
                  <a:srgbClr val="374050"/>
                </a:solidFill>
                <a:latin typeface="SimSun"/>
                <a:cs typeface="SimSun"/>
              </a:rPr>
              <a:t>智</a:t>
            </a:r>
            <a:r>
              <a:rPr sz="2000" dirty="0">
                <a:solidFill>
                  <a:srgbClr val="374050"/>
                </a:solidFill>
                <a:latin typeface="PMingLiU"/>
                <a:cs typeface="PMingLiU"/>
              </a:rPr>
              <a:t>基 </a:t>
            </a:r>
            <a:r>
              <a:rPr sz="1750" dirty="0">
                <a:solidFill>
                  <a:srgbClr val="374050"/>
                </a:solidFill>
                <a:latin typeface="PMingLiU"/>
                <a:cs typeface="PMingLiU"/>
              </a:rPr>
              <a:t>＊，</a:t>
            </a:r>
            <a:r>
              <a:rPr sz="2000" spc="-260" dirty="0">
                <a:solidFill>
                  <a:srgbClr val="374050"/>
                </a:solidFill>
                <a:latin typeface="SimSun"/>
                <a:cs typeface="SimSun"/>
              </a:rPr>
              <a:t>大谷 </a:t>
            </a:r>
            <a:r>
              <a:rPr sz="1950" spc="-165" dirty="0">
                <a:solidFill>
                  <a:srgbClr val="374050"/>
                </a:solidFill>
                <a:latin typeface="SimSun"/>
                <a:cs typeface="SimSun"/>
              </a:rPr>
              <a:t>昭</a:t>
            </a:r>
            <a:r>
              <a:rPr sz="1950" spc="-50" dirty="0">
                <a:solidFill>
                  <a:srgbClr val="374050"/>
                </a:solidFill>
                <a:latin typeface="PMingLiU"/>
                <a:cs typeface="PMingLiU"/>
              </a:rPr>
              <a:t>仁</a:t>
            </a:r>
            <a:endParaRPr sz="1950">
              <a:latin typeface="PMingLiU"/>
              <a:cs typeface="PMingLiU"/>
            </a:endParaRPr>
          </a:p>
          <a:p>
            <a:pPr algn="ctr">
              <a:lnSpc>
                <a:spcPct val="100000"/>
              </a:lnSpc>
              <a:spcBef>
                <a:spcPts val="1175"/>
              </a:spcBef>
            </a:pPr>
            <a:r>
              <a:rPr sz="1500" spc="50" dirty="0">
                <a:solidFill>
                  <a:srgbClr val="4A5462"/>
                </a:solidFill>
                <a:latin typeface="Trebuchet MS"/>
                <a:cs typeface="Trebuchet MS"/>
              </a:rPr>
              <a:t>Tomoki</a:t>
            </a:r>
            <a:r>
              <a:rPr sz="1500" dirty="0">
                <a:solidFill>
                  <a:srgbClr val="4A5462"/>
                </a:solidFill>
                <a:latin typeface="Trebuchet MS"/>
                <a:cs typeface="Trebuchet MS"/>
              </a:rPr>
              <a:t> </a:t>
            </a:r>
            <a:r>
              <a:rPr sz="1500" spc="140" dirty="0">
                <a:solidFill>
                  <a:srgbClr val="4A5462"/>
                </a:solidFill>
                <a:latin typeface="Trebuchet MS"/>
                <a:cs typeface="Trebuchet MS"/>
              </a:rPr>
              <a:t>Sumiyama</a:t>
            </a:r>
            <a:r>
              <a:rPr sz="1500" spc="15" dirty="0">
                <a:solidFill>
                  <a:srgbClr val="4A5462"/>
                </a:solidFill>
                <a:latin typeface="Trebuchet MS"/>
                <a:cs typeface="Trebuchet MS"/>
              </a:rPr>
              <a:t> </a:t>
            </a:r>
            <a:r>
              <a:rPr sz="1500" dirty="0">
                <a:solidFill>
                  <a:srgbClr val="4A5462"/>
                </a:solidFill>
                <a:latin typeface="PMingLiU"/>
                <a:cs typeface="PMingLiU"/>
              </a:rPr>
              <a:t>＊</a:t>
            </a:r>
            <a:r>
              <a:rPr sz="1500" dirty="0">
                <a:solidFill>
                  <a:srgbClr val="4A5462"/>
                </a:solidFill>
                <a:latin typeface="Trebuchet MS"/>
                <a:cs typeface="Trebuchet MS"/>
              </a:rPr>
              <a:t>,</a:t>
            </a:r>
            <a:r>
              <a:rPr sz="1500" spc="15" dirty="0">
                <a:solidFill>
                  <a:srgbClr val="4A5462"/>
                </a:solidFill>
                <a:latin typeface="Trebuchet MS"/>
                <a:cs typeface="Trebuchet MS"/>
              </a:rPr>
              <a:t> </a:t>
            </a:r>
            <a:r>
              <a:rPr sz="1500" spc="60" dirty="0">
                <a:solidFill>
                  <a:srgbClr val="4A5462"/>
                </a:solidFill>
                <a:latin typeface="Trebuchet MS"/>
                <a:cs typeface="Trebuchet MS"/>
              </a:rPr>
              <a:t>Akihito</a:t>
            </a:r>
            <a:r>
              <a:rPr sz="1500" spc="15" dirty="0">
                <a:solidFill>
                  <a:srgbClr val="4A5462"/>
                </a:solidFill>
                <a:latin typeface="Trebuchet MS"/>
                <a:cs typeface="Trebuchet MS"/>
              </a:rPr>
              <a:t> </a:t>
            </a:r>
            <a:r>
              <a:rPr sz="1500" spc="60" dirty="0">
                <a:solidFill>
                  <a:srgbClr val="4A5462"/>
                </a:solidFill>
                <a:latin typeface="Trebuchet MS"/>
                <a:cs typeface="Trebuchet MS"/>
              </a:rPr>
              <a:t>Otani</a:t>
            </a:r>
            <a:endParaRPr sz="1500">
              <a:latin typeface="Trebuchet MS"/>
              <a:cs typeface="Trebuchet MS"/>
            </a:endParaRPr>
          </a:p>
          <a:p>
            <a:pPr algn="ctr">
              <a:lnSpc>
                <a:spcPct val="100000"/>
              </a:lnSpc>
              <a:spcBef>
                <a:spcPts val="900"/>
              </a:spcBef>
            </a:pPr>
            <a:r>
              <a:rPr sz="1500" spc="15" dirty="0">
                <a:solidFill>
                  <a:srgbClr val="4A5462"/>
                </a:solidFill>
                <a:latin typeface="PMingLiU"/>
                <a:cs typeface="PMingLiU"/>
              </a:rPr>
              <a:t>日本大学 </a:t>
            </a:r>
            <a:r>
              <a:rPr sz="1500" spc="85" dirty="0">
                <a:solidFill>
                  <a:srgbClr val="4A5462"/>
                </a:solidFill>
                <a:latin typeface="Trebuchet MS"/>
                <a:cs typeface="Trebuchet MS"/>
              </a:rPr>
              <a:t>(Nihon</a:t>
            </a:r>
            <a:r>
              <a:rPr sz="1500" spc="30" dirty="0">
                <a:solidFill>
                  <a:srgbClr val="4A5462"/>
                </a:solidFill>
                <a:latin typeface="Trebuchet MS"/>
                <a:cs typeface="Trebuchet MS"/>
              </a:rPr>
              <a:t> </a:t>
            </a:r>
            <a:r>
              <a:rPr sz="1500" spc="60" dirty="0">
                <a:solidFill>
                  <a:srgbClr val="4A5462"/>
                </a:solidFill>
                <a:latin typeface="Trebuchet MS"/>
                <a:cs typeface="Trebuchet MS"/>
              </a:rPr>
              <a:t>University)</a:t>
            </a:r>
            <a:endParaRPr sz="1500">
              <a:latin typeface="Trebuchet MS"/>
              <a:cs typeface="Trebuchet MS"/>
            </a:endParaRPr>
          </a:p>
        </p:txBody>
      </p:sp>
      <p:pic>
        <p:nvPicPr>
          <p:cNvPr id="20" name="object 20"/>
          <p:cNvPicPr/>
          <p:nvPr/>
        </p:nvPicPr>
        <p:blipFill>
          <a:blip r:embed="rId6" cstate="print"/>
          <a:stretch>
            <a:fillRect/>
          </a:stretch>
        </p:blipFill>
        <p:spPr>
          <a:xfrm>
            <a:off x="0" y="0"/>
            <a:ext cx="12191999" cy="609599"/>
          </a:xfrm>
          <a:prstGeom prst="rect">
            <a:avLst/>
          </a:prstGeom>
        </p:spPr>
      </p:pic>
      <p:grpSp>
        <p:nvGrpSpPr>
          <p:cNvPr id="21" name="object 21"/>
          <p:cNvGrpSpPr/>
          <p:nvPr/>
        </p:nvGrpSpPr>
        <p:grpSpPr>
          <a:xfrm>
            <a:off x="1219199" y="3524250"/>
            <a:ext cx="9753600" cy="381000"/>
            <a:chOff x="1219199" y="3524250"/>
            <a:chExt cx="9753600" cy="381000"/>
          </a:xfrm>
        </p:grpSpPr>
        <p:pic>
          <p:nvPicPr>
            <p:cNvPr id="22" name="object 22"/>
            <p:cNvPicPr/>
            <p:nvPr/>
          </p:nvPicPr>
          <p:blipFill>
            <a:blip r:embed="rId7" cstate="print"/>
            <a:stretch>
              <a:fillRect/>
            </a:stretch>
          </p:blipFill>
          <p:spPr>
            <a:xfrm>
              <a:off x="1219199" y="3524250"/>
              <a:ext cx="9753599" cy="380999"/>
            </a:xfrm>
            <a:prstGeom prst="rect">
              <a:avLst/>
            </a:prstGeom>
          </p:spPr>
        </p:pic>
        <p:pic>
          <p:nvPicPr>
            <p:cNvPr id="23" name="object 23"/>
            <p:cNvPicPr/>
            <p:nvPr/>
          </p:nvPicPr>
          <p:blipFill>
            <a:blip r:embed="rId8" cstate="print"/>
            <a:stretch>
              <a:fillRect/>
            </a:stretch>
          </p:blipFill>
          <p:spPr>
            <a:xfrm>
              <a:off x="10467974" y="3562349"/>
              <a:ext cx="200024" cy="304799"/>
            </a:xfrm>
            <a:prstGeom prst="rect">
              <a:avLst/>
            </a:prstGeom>
          </p:spPr>
        </p:pic>
      </p:grpSp>
      <p:pic>
        <p:nvPicPr>
          <p:cNvPr id="25" name="object 25"/>
          <p:cNvPicPr/>
          <p:nvPr/>
        </p:nvPicPr>
        <p:blipFill>
          <a:blip r:embed="rId9" cstate="print"/>
          <a:stretch>
            <a:fillRect/>
          </a:stretch>
        </p:blipFill>
        <p:spPr>
          <a:xfrm>
            <a:off x="304799" y="6372224"/>
            <a:ext cx="190499" cy="133349"/>
          </a:xfrm>
          <a:prstGeom prst="rect">
            <a:avLst/>
          </a:prstGeom>
        </p:spPr>
      </p:pic>
      <p:sp>
        <p:nvSpPr>
          <p:cNvPr id="26" name="object 26"/>
          <p:cNvSpPr txBox="1"/>
          <p:nvPr/>
        </p:nvSpPr>
        <p:spPr>
          <a:xfrm>
            <a:off x="558800" y="6321424"/>
            <a:ext cx="939800"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4A5462"/>
                </a:solidFill>
                <a:latin typeface="PMingLiU"/>
                <a:cs typeface="PMingLiU"/>
              </a:rPr>
              <a:t>テラヘルツ波</a:t>
            </a:r>
            <a:endParaRPr sz="1200">
              <a:latin typeface="PMingLiU"/>
              <a:cs typeface="PMingLiU"/>
            </a:endParaRPr>
          </a:p>
        </p:txBody>
      </p:sp>
      <p:pic>
        <p:nvPicPr>
          <p:cNvPr id="27" name="object 27"/>
          <p:cNvPicPr/>
          <p:nvPr/>
        </p:nvPicPr>
        <p:blipFill>
          <a:blip r:embed="rId10" cstate="print"/>
          <a:stretch>
            <a:fillRect/>
          </a:stretch>
        </p:blipFill>
        <p:spPr>
          <a:xfrm>
            <a:off x="1714500" y="6362699"/>
            <a:ext cx="114299" cy="152399"/>
          </a:xfrm>
          <a:prstGeom prst="rect">
            <a:avLst/>
          </a:prstGeom>
        </p:spPr>
      </p:pic>
      <p:sp>
        <p:nvSpPr>
          <p:cNvPr id="28" name="object 28"/>
          <p:cNvSpPr txBox="1"/>
          <p:nvPr/>
        </p:nvSpPr>
        <p:spPr>
          <a:xfrm>
            <a:off x="1892300" y="6321424"/>
            <a:ext cx="482600"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4A5462"/>
                </a:solidFill>
                <a:latin typeface="PMingLiU"/>
                <a:cs typeface="PMingLiU"/>
              </a:rPr>
              <a:t>水蒸気</a:t>
            </a:r>
            <a:endParaRPr sz="1200">
              <a:latin typeface="PMingLiU"/>
              <a:cs typeface="PMingLiU"/>
            </a:endParaRPr>
          </a:p>
        </p:txBody>
      </p:sp>
      <p:pic>
        <p:nvPicPr>
          <p:cNvPr id="29" name="object 29"/>
          <p:cNvPicPr/>
          <p:nvPr/>
        </p:nvPicPr>
        <p:blipFill>
          <a:blip r:embed="rId11" cstate="print"/>
          <a:stretch>
            <a:fillRect/>
          </a:stretch>
        </p:blipFill>
        <p:spPr>
          <a:xfrm>
            <a:off x="2590799" y="6372224"/>
            <a:ext cx="152399" cy="133349"/>
          </a:xfrm>
          <a:prstGeom prst="rect">
            <a:avLst/>
          </a:prstGeom>
        </p:spPr>
      </p:pic>
      <p:sp>
        <p:nvSpPr>
          <p:cNvPr id="30" name="object 30"/>
          <p:cNvSpPr txBox="1"/>
          <p:nvPr/>
        </p:nvSpPr>
        <p:spPr>
          <a:xfrm>
            <a:off x="2806699" y="6321424"/>
            <a:ext cx="635000" cy="208279"/>
          </a:xfrm>
          <a:prstGeom prst="rect">
            <a:avLst/>
          </a:prstGeom>
        </p:spPr>
        <p:txBody>
          <a:bodyPr vert="horz" wrap="square" lIns="0" tIns="12700" rIns="0" bIns="0" rtlCol="0">
            <a:spAutoFit/>
          </a:bodyPr>
          <a:lstStyle/>
          <a:p>
            <a:pPr marL="12700">
              <a:lnSpc>
                <a:spcPct val="100000"/>
              </a:lnSpc>
              <a:spcBef>
                <a:spcPts val="100"/>
              </a:spcBef>
            </a:pPr>
            <a:r>
              <a:rPr sz="1200" spc="-15" dirty="0">
                <a:solidFill>
                  <a:srgbClr val="4A5462"/>
                </a:solidFill>
                <a:latin typeface="PMingLiU"/>
                <a:cs typeface="PMingLiU"/>
              </a:rPr>
              <a:t>分光分析</a:t>
            </a:r>
            <a:endParaRPr sz="1200">
              <a:latin typeface="PMingLiU"/>
              <a:cs typeface="PMingLiU"/>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14300"/>
            <a:ext cx="12192000" cy="6896100"/>
          </a:xfrm>
          <a:custGeom>
            <a:avLst/>
            <a:gdLst/>
            <a:ahLst/>
            <a:cxnLst/>
            <a:rect l="l" t="t" r="r" b="b"/>
            <a:pathLst>
              <a:path w="12192000" h="7277100">
                <a:moveTo>
                  <a:pt x="12191999" y="7277099"/>
                </a:moveTo>
                <a:lnTo>
                  <a:pt x="0" y="7277099"/>
                </a:lnTo>
                <a:lnTo>
                  <a:pt x="0" y="0"/>
                </a:lnTo>
                <a:lnTo>
                  <a:pt x="12191999" y="0"/>
                </a:lnTo>
                <a:lnTo>
                  <a:pt x="12191999" y="7277099"/>
                </a:lnTo>
                <a:close/>
              </a:path>
            </a:pathLst>
          </a:custGeom>
          <a:solidFill>
            <a:srgbClr val="F2F4F5"/>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2191999" cy="647699"/>
          </a:xfrm>
          <a:prstGeom prst="rect">
            <a:avLst/>
          </a:prstGeom>
        </p:spPr>
      </p:pic>
      <p:sp>
        <p:nvSpPr>
          <p:cNvPr id="4" name="object 4"/>
          <p:cNvSpPr txBox="1">
            <a:spLocks noGrp="1"/>
          </p:cNvSpPr>
          <p:nvPr>
            <p:ph type="title"/>
          </p:nvPr>
        </p:nvSpPr>
        <p:spPr>
          <a:xfrm>
            <a:off x="292099" y="79350"/>
            <a:ext cx="1168400" cy="418465"/>
          </a:xfrm>
          <a:prstGeom prst="rect">
            <a:avLst/>
          </a:prstGeom>
        </p:spPr>
        <p:txBody>
          <a:bodyPr vert="horz" wrap="square" lIns="0" tIns="15875" rIns="0" bIns="0" rtlCol="0">
            <a:spAutoFit/>
          </a:bodyPr>
          <a:lstStyle/>
          <a:p>
            <a:pPr marL="12700">
              <a:lnSpc>
                <a:spcPct val="100000"/>
              </a:lnSpc>
              <a:spcBef>
                <a:spcPts val="125"/>
              </a:spcBef>
            </a:pPr>
            <a:r>
              <a:rPr sz="2350" spc="-125" dirty="0"/>
              <a:t>研</a:t>
            </a:r>
            <a:r>
              <a:rPr sz="2550" spc="-310" dirty="0">
                <a:latin typeface="SimSun"/>
                <a:cs typeface="SimSun"/>
              </a:rPr>
              <a:t>究</a:t>
            </a:r>
            <a:r>
              <a:rPr sz="2500" spc="-250" dirty="0">
                <a:latin typeface="SimSun"/>
                <a:cs typeface="SimSun"/>
              </a:rPr>
              <a:t>背</a:t>
            </a:r>
            <a:r>
              <a:rPr sz="2450" spc="-135" dirty="0">
                <a:latin typeface="SimSun"/>
                <a:cs typeface="SimSun"/>
              </a:rPr>
              <a:t>景</a:t>
            </a:r>
            <a:endParaRPr sz="2450">
              <a:latin typeface="SimSun"/>
              <a:cs typeface="SimSun"/>
            </a:endParaRPr>
          </a:p>
        </p:txBody>
      </p:sp>
      <p:sp>
        <p:nvSpPr>
          <p:cNvPr id="5" name="object 5"/>
          <p:cNvSpPr txBox="1"/>
          <p:nvPr/>
        </p:nvSpPr>
        <p:spPr>
          <a:xfrm>
            <a:off x="11609585" y="-114300"/>
            <a:ext cx="290830" cy="254000"/>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Arial"/>
                <a:cs typeface="Arial"/>
              </a:rPr>
              <a:t>2/9</a:t>
            </a:r>
            <a:endParaRPr sz="1500">
              <a:latin typeface="Arial"/>
              <a:cs typeface="Arial"/>
            </a:endParaRPr>
          </a:p>
        </p:txBody>
      </p:sp>
      <p:grpSp>
        <p:nvGrpSpPr>
          <p:cNvPr id="6" name="object 6"/>
          <p:cNvGrpSpPr/>
          <p:nvPr/>
        </p:nvGrpSpPr>
        <p:grpSpPr>
          <a:xfrm>
            <a:off x="304799" y="1066800"/>
            <a:ext cx="5562600" cy="1790700"/>
            <a:chOff x="304799" y="1295399"/>
            <a:chExt cx="5562600" cy="1790700"/>
          </a:xfrm>
        </p:grpSpPr>
        <p:sp>
          <p:nvSpPr>
            <p:cNvPr id="7" name="object 7"/>
            <p:cNvSpPr/>
            <p:nvPr/>
          </p:nvSpPr>
          <p:spPr>
            <a:xfrm>
              <a:off x="304799" y="1295399"/>
              <a:ext cx="5562600" cy="1790700"/>
            </a:xfrm>
            <a:custGeom>
              <a:avLst/>
              <a:gdLst/>
              <a:ahLst/>
              <a:cxnLst/>
              <a:rect l="l" t="t" r="r" b="b"/>
              <a:pathLst>
                <a:path w="5562600" h="1790700">
                  <a:moveTo>
                    <a:pt x="5562599" y="1790699"/>
                  </a:moveTo>
                  <a:lnTo>
                    <a:pt x="0" y="1790699"/>
                  </a:lnTo>
                  <a:lnTo>
                    <a:pt x="0" y="0"/>
                  </a:lnTo>
                  <a:lnTo>
                    <a:pt x="5562599" y="0"/>
                  </a:lnTo>
                  <a:lnTo>
                    <a:pt x="5562599" y="1790699"/>
                  </a:lnTo>
                  <a:close/>
                </a:path>
              </a:pathLst>
            </a:custGeom>
            <a:solidFill>
              <a:srgbClr val="FFFFFF">
                <a:alpha val="90199"/>
              </a:srgbClr>
            </a:solidFill>
          </p:spPr>
          <p:txBody>
            <a:bodyPr wrap="square" lIns="0" tIns="0" rIns="0" bIns="0" rtlCol="0"/>
            <a:lstStyle/>
            <a:p>
              <a:endParaRPr/>
            </a:p>
          </p:txBody>
        </p:sp>
        <p:sp>
          <p:nvSpPr>
            <p:cNvPr id="8" name="object 8"/>
            <p:cNvSpPr/>
            <p:nvPr/>
          </p:nvSpPr>
          <p:spPr>
            <a:xfrm>
              <a:off x="304799" y="1295399"/>
              <a:ext cx="38100" cy="1790700"/>
            </a:xfrm>
            <a:custGeom>
              <a:avLst/>
              <a:gdLst/>
              <a:ahLst/>
              <a:cxnLst/>
              <a:rect l="l" t="t" r="r" b="b"/>
              <a:pathLst>
                <a:path w="38100" h="1790700">
                  <a:moveTo>
                    <a:pt x="38099" y="1790699"/>
                  </a:moveTo>
                  <a:lnTo>
                    <a:pt x="0" y="1790699"/>
                  </a:lnTo>
                  <a:lnTo>
                    <a:pt x="0" y="0"/>
                  </a:lnTo>
                  <a:lnTo>
                    <a:pt x="38099" y="0"/>
                  </a:lnTo>
                  <a:lnTo>
                    <a:pt x="38099" y="1790699"/>
                  </a:lnTo>
                  <a:close/>
                </a:path>
              </a:pathLst>
            </a:custGeom>
            <a:solidFill>
              <a:srgbClr val="FF9900"/>
            </a:solidFill>
          </p:spPr>
          <p:txBody>
            <a:bodyPr wrap="square" lIns="0" tIns="0" rIns="0" bIns="0" rtlCol="0"/>
            <a:lstStyle/>
            <a:p>
              <a:endParaRPr/>
            </a:p>
          </p:txBody>
        </p:sp>
        <p:sp>
          <p:nvSpPr>
            <p:cNvPr id="9" name="object 9"/>
            <p:cNvSpPr/>
            <p:nvPr/>
          </p:nvSpPr>
          <p:spPr>
            <a:xfrm>
              <a:off x="571499" y="1523999"/>
              <a:ext cx="571500" cy="571500"/>
            </a:xfrm>
            <a:custGeom>
              <a:avLst/>
              <a:gdLst/>
              <a:ahLst/>
              <a:cxnLst/>
              <a:rect l="l" t="t" r="r" b="b"/>
              <a:pathLst>
                <a:path w="571500" h="571500">
                  <a:moveTo>
                    <a:pt x="285749" y="571499"/>
                  </a:moveTo>
                  <a:lnTo>
                    <a:pt x="243821" y="568407"/>
                  </a:lnTo>
                  <a:lnTo>
                    <a:pt x="202801" y="559195"/>
                  </a:lnTo>
                  <a:lnTo>
                    <a:pt x="163575" y="544064"/>
                  </a:lnTo>
                  <a:lnTo>
                    <a:pt x="126995" y="523342"/>
                  </a:lnTo>
                  <a:lnTo>
                    <a:pt x="93851" y="497476"/>
                  </a:lnTo>
                  <a:lnTo>
                    <a:pt x="64862" y="467027"/>
                  </a:lnTo>
                  <a:lnTo>
                    <a:pt x="40653" y="432654"/>
                  </a:lnTo>
                  <a:lnTo>
                    <a:pt x="21751" y="395101"/>
                  </a:lnTo>
                  <a:lnTo>
                    <a:pt x="8563" y="355181"/>
                  </a:lnTo>
                  <a:lnTo>
                    <a:pt x="1375" y="313758"/>
                  </a:lnTo>
                  <a:lnTo>
                    <a:pt x="0" y="285749"/>
                  </a:lnTo>
                  <a:lnTo>
                    <a:pt x="343" y="271728"/>
                  </a:lnTo>
                  <a:lnTo>
                    <a:pt x="5490" y="230002"/>
                  </a:lnTo>
                  <a:lnTo>
                    <a:pt x="16703" y="189483"/>
                  </a:lnTo>
                  <a:lnTo>
                    <a:pt x="33740" y="151048"/>
                  </a:lnTo>
                  <a:lnTo>
                    <a:pt x="56233" y="115528"/>
                  </a:lnTo>
                  <a:lnTo>
                    <a:pt x="83694" y="83694"/>
                  </a:lnTo>
                  <a:lnTo>
                    <a:pt x="115528" y="56233"/>
                  </a:lnTo>
                  <a:lnTo>
                    <a:pt x="151048" y="33741"/>
                  </a:lnTo>
                  <a:lnTo>
                    <a:pt x="189483" y="16703"/>
                  </a:lnTo>
                  <a:lnTo>
                    <a:pt x="230002" y="5490"/>
                  </a:lnTo>
                  <a:lnTo>
                    <a:pt x="271728" y="344"/>
                  </a:lnTo>
                  <a:lnTo>
                    <a:pt x="285749" y="0"/>
                  </a:lnTo>
                  <a:lnTo>
                    <a:pt x="299771" y="344"/>
                  </a:lnTo>
                  <a:lnTo>
                    <a:pt x="341497" y="5490"/>
                  </a:lnTo>
                  <a:lnTo>
                    <a:pt x="382016" y="16703"/>
                  </a:lnTo>
                  <a:lnTo>
                    <a:pt x="420451" y="33741"/>
                  </a:lnTo>
                  <a:lnTo>
                    <a:pt x="455971" y="56233"/>
                  </a:lnTo>
                  <a:lnTo>
                    <a:pt x="487805" y="83694"/>
                  </a:lnTo>
                  <a:lnTo>
                    <a:pt x="515266" y="115528"/>
                  </a:lnTo>
                  <a:lnTo>
                    <a:pt x="537758" y="151048"/>
                  </a:lnTo>
                  <a:lnTo>
                    <a:pt x="554796" y="189483"/>
                  </a:lnTo>
                  <a:lnTo>
                    <a:pt x="566009" y="230002"/>
                  </a:lnTo>
                  <a:lnTo>
                    <a:pt x="571155" y="271728"/>
                  </a:lnTo>
                  <a:lnTo>
                    <a:pt x="571499" y="285749"/>
                  </a:lnTo>
                  <a:lnTo>
                    <a:pt x="571155" y="299770"/>
                  </a:lnTo>
                  <a:lnTo>
                    <a:pt x="566009" y="341496"/>
                  </a:lnTo>
                  <a:lnTo>
                    <a:pt x="554796" y="382016"/>
                  </a:lnTo>
                  <a:lnTo>
                    <a:pt x="537758" y="420451"/>
                  </a:lnTo>
                  <a:lnTo>
                    <a:pt x="515266" y="455971"/>
                  </a:lnTo>
                  <a:lnTo>
                    <a:pt x="487805" y="487805"/>
                  </a:lnTo>
                  <a:lnTo>
                    <a:pt x="455971" y="515266"/>
                  </a:lnTo>
                  <a:lnTo>
                    <a:pt x="420451" y="537758"/>
                  </a:lnTo>
                  <a:lnTo>
                    <a:pt x="382016" y="554796"/>
                  </a:lnTo>
                  <a:lnTo>
                    <a:pt x="341496" y="566009"/>
                  </a:lnTo>
                  <a:lnTo>
                    <a:pt x="299771" y="571155"/>
                  </a:lnTo>
                  <a:lnTo>
                    <a:pt x="285749" y="571499"/>
                  </a:lnTo>
                  <a:close/>
                </a:path>
              </a:pathLst>
            </a:custGeom>
            <a:solidFill>
              <a:srgbClr val="003366"/>
            </a:solidFill>
          </p:spPr>
          <p:txBody>
            <a:bodyPr wrap="square" lIns="0" tIns="0" rIns="0" bIns="0" rtlCol="0"/>
            <a:lstStyle/>
            <a:p>
              <a:endParaRPr/>
            </a:p>
          </p:txBody>
        </p:sp>
        <p:pic>
          <p:nvPicPr>
            <p:cNvPr id="10" name="object 10"/>
            <p:cNvPicPr/>
            <p:nvPr/>
          </p:nvPicPr>
          <p:blipFill>
            <a:blip r:embed="rId3" cstate="print"/>
            <a:stretch>
              <a:fillRect/>
            </a:stretch>
          </p:blipFill>
          <p:spPr>
            <a:xfrm>
              <a:off x="771524" y="1695449"/>
              <a:ext cx="171449" cy="228599"/>
            </a:xfrm>
            <a:prstGeom prst="rect">
              <a:avLst/>
            </a:prstGeom>
          </p:spPr>
        </p:pic>
      </p:grpSp>
      <p:sp>
        <p:nvSpPr>
          <p:cNvPr id="11" name="object 11"/>
          <p:cNvSpPr txBox="1"/>
          <p:nvPr/>
        </p:nvSpPr>
        <p:spPr>
          <a:xfrm>
            <a:off x="342899" y="1066326"/>
            <a:ext cx="5524500" cy="1381125"/>
          </a:xfrm>
          <a:prstGeom prst="rect">
            <a:avLst/>
          </a:prstGeom>
        </p:spPr>
        <p:txBody>
          <a:bodyPr vert="horz" wrap="square" lIns="0" tIns="196850" rIns="0" bIns="0" rtlCol="0">
            <a:spAutoFit/>
          </a:bodyPr>
          <a:lstStyle/>
          <a:p>
            <a:pPr marL="951865">
              <a:lnSpc>
                <a:spcPct val="100000"/>
              </a:lnSpc>
              <a:spcBef>
                <a:spcPts val="1550"/>
              </a:spcBef>
            </a:pPr>
            <a:r>
              <a:rPr sz="2000" spc="-200" dirty="0">
                <a:solidFill>
                  <a:srgbClr val="1F2937"/>
                </a:solidFill>
                <a:latin typeface="SimSun"/>
                <a:cs typeface="SimSun"/>
              </a:rPr>
              <a:t>湿</a:t>
            </a:r>
            <a:r>
              <a:rPr sz="2050" spc="-270" dirty="0">
                <a:solidFill>
                  <a:srgbClr val="1F2937"/>
                </a:solidFill>
                <a:latin typeface="SimSun"/>
                <a:cs typeface="SimSun"/>
              </a:rPr>
              <a:t>度</a:t>
            </a:r>
            <a:r>
              <a:rPr sz="2000" spc="-200" dirty="0">
                <a:solidFill>
                  <a:srgbClr val="1F2937"/>
                </a:solidFill>
                <a:latin typeface="SimSun"/>
                <a:cs typeface="SimSun"/>
              </a:rPr>
              <a:t>測</a:t>
            </a:r>
            <a:r>
              <a:rPr sz="2050" spc="-270" dirty="0">
                <a:solidFill>
                  <a:srgbClr val="1F2937"/>
                </a:solidFill>
                <a:latin typeface="SimSun"/>
                <a:cs typeface="SimSun"/>
              </a:rPr>
              <a:t>定</a:t>
            </a:r>
            <a:r>
              <a:rPr sz="1850" dirty="0">
                <a:solidFill>
                  <a:srgbClr val="1F2937"/>
                </a:solidFill>
                <a:latin typeface="PMingLiU"/>
                <a:cs typeface="PMingLiU"/>
              </a:rPr>
              <a:t>の</a:t>
            </a:r>
            <a:r>
              <a:rPr sz="2000" spc="-200" dirty="0">
                <a:solidFill>
                  <a:srgbClr val="1F2937"/>
                </a:solidFill>
                <a:latin typeface="PMingLiU"/>
                <a:cs typeface="PMingLiU"/>
              </a:rPr>
              <a:t>重</a:t>
            </a:r>
            <a:r>
              <a:rPr sz="1900" spc="-120" dirty="0">
                <a:solidFill>
                  <a:srgbClr val="1F2937"/>
                </a:solidFill>
                <a:latin typeface="PMingLiU"/>
                <a:cs typeface="PMingLiU"/>
              </a:rPr>
              <a:t>要</a:t>
            </a:r>
            <a:r>
              <a:rPr sz="1950" spc="-50" dirty="0">
                <a:solidFill>
                  <a:srgbClr val="1F2937"/>
                </a:solidFill>
                <a:latin typeface="SimSun"/>
                <a:cs typeface="SimSun"/>
              </a:rPr>
              <a:t>性</a:t>
            </a:r>
            <a:endParaRPr sz="1950">
              <a:latin typeface="SimSun"/>
              <a:cs typeface="SimSun"/>
            </a:endParaRPr>
          </a:p>
          <a:p>
            <a:pPr marL="951865" marR="273685" algn="just">
              <a:lnSpc>
                <a:spcPct val="129600"/>
              </a:lnSpc>
              <a:spcBef>
                <a:spcPts val="464"/>
              </a:spcBef>
            </a:pPr>
            <a:r>
              <a:rPr sz="1350" spc="-35" dirty="0">
                <a:solidFill>
                  <a:srgbClr val="374050"/>
                </a:solidFill>
                <a:latin typeface="PMingLiU"/>
                <a:cs typeface="PMingLiU"/>
              </a:rPr>
              <a:t>湿度は身近な物理量であり，感染症対策や電池製造，医</a:t>
            </a:r>
            <a:r>
              <a:rPr sz="1350" spc="-40" dirty="0">
                <a:solidFill>
                  <a:srgbClr val="374050"/>
                </a:solidFill>
                <a:latin typeface="PMingLiU"/>
                <a:cs typeface="PMingLiU"/>
              </a:rPr>
              <a:t>薬品の品質管理など，さまざまな分野で重要視されてい</a:t>
            </a:r>
            <a:r>
              <a:rPr sz="1350" spc="-25" dirty="0">
                <a:solidFill>
                  <a:srgbClr val="374050"/>
                </a:solidFill>
                <a:latin typeface="PMingLiU"/>
                <a:cs typeface="PMingLiU"/>
              </a:rPr>
              <a:t>ます。</a:t>
            </a:r>
            <a:endParaRPr sz="1350">
              <a:latin typeface="PMingLiU"/>
              <a:cs typeface="PMingLiU"/>
            </a:endParaRPr>
          </a:p>
        </p:txBody>
      </p:sp>
      <p:grpSp>
        <p:nvGrpSpPr>
          <p:cNvPr id="12" name="object 12"/>
          <p:cNvGrpSpPr/>
          <p:nvPr/>
        </p:nvGrpSpPr>
        <p:grpSpPr>
          <a:xfrm>
            <a:off x="304799" y="3695700"/>
            <a:ext cx="5562600" cy="2705100"/>
            <a:chOff x="304799" y="3924299"/>
            <a:chExt cx="5562600" cy="2705100"/>
          </a:xfrm>
        </p:grpSpPr>
        <p:sp>
          <p:nvSpPr>
            <p:cNvPr id="13" name="object 13"/>
            <p:cNvSpPr/>
            <p:nvPr/>
          </p:nvSpPr>
          <p:spPr>
            <a:xfrm>
              <a:off x="304799" y="3924299"/>
              <a:ext cx="5562600" cy="2705100"/>
            </a:xfrm>
            <a:custGeom>
              <a:avLst/>
              <a:gdLst/>
              <a:ahLst/>
              <a:cxnLst/>
              <a:rect l="l" t="t" r="r" b="b"/>
              <a:pathLst>
                <a:path w="5562600" h="2705100">
                  <a:moveTo>
                    <a:pt x="5562599" y="2705099"/>
                  </a:moveTo>
                  <a:lnTo>
                    <a:pt x="0" y="2705099"/>
                  </a:lnTo>
                  <a:lnTo>
                    <a:pt x="0" y="0"/>
                  </a:lnTo>
                  <a:lnTo>
                    <a:pt x="5562599" y="0"/>
                  </a:lnTo>
                  <a:lnTo>
                    <a:pt x="5562599" y="2705099"/>
                  </a:lnTo>
                  <a:close/>
                </a:path>
              </a:pathLst>
            </a:custGeom>
            <a:solidFill>
              <a:srgbClr val="FFFFFF">
                <a:alpha val="90199"/>
              </a:srgbClr>
            </a:solidFill>
          </p:spPr>
          <p:txBody>
            <a:bodyPr wrap="square" lIns="0" tIns="0" rIns="0" bIns="0" rtlCol="0"/>
            <a:lstStyle/>
            <a:p>
              <a:endParaRPr/>
            </a:p>
          </p:txBody>
        </p:sp>
        <p:sp>
          <p:nvSpPr>
            <p:cNvPr id="14" name="object 14"/>
            <p:cNvSpPr/>
            <p:nvPr/>
          </p:nvSpPr>
          <p:spPr>
            <a:xfrm>
              <a:off x="304799" y="3924299"/>
              <a:ext cx="38100" cy="2705100"/>
            </a:xfrm>
            <a:custGeom>
              <a:avLst/>
              <a:gdLst/>
              <a:ahLst/>
              <a:cxnLst/>
              <a:rect l="l" t="t" r="r" b="b"/>
              <a:pathLst>
                <a:path w="38100" h="2705100">
                  <a:moveTo>
                    <a:pt x="38099" y="2705099"/>
                  </a:moveTo>
                  <a:lnTo>
                    <a:pt x="0" y="2705099"/>
                  </a:lnTo>
                  <a:lnTo>
                    <a:pt x="0" y="0"/>
                  </a:lnTo>
                  <a:lnTo>
                    <a:pt x="38099" y="0"/>
                  </a:lnTo>
                  <a:lnTo>
                    <a:pt x="38099" y="2705099"/>
                  </a:lnTo>
                  <a:close/>
                </a:path>
              </a:pathLst>
            </a:custGeom>
            <a:solidFill>
              <a:srgbClr val="FF9900"/>
            </a:solidFill>
          </p:spPr>
          <p:txBody>
            <a:bodyPr wrap="square" lIns="0" tIns="0" rIns="0" bIns="0" rtlCol="0"/>
            <a:lstStyle/>
            <a:p>
              <a:endParaRPr/>
            </a:p>
          </p:txBody>
        </p:sp>
        <p:sp>
          <p:nvSpPr>
            <p:cNvPr id="15" name="object 15"/>
            <p:cNvSpPr/>
            <p:nvPr/>
          </p:nvSpPr>
          <p:spPr>
            <a:xfrm>
              <a:off x="571499" y="4152899"/>
              <a:ext cx="571500" cy="571500"/>
            </a:xfrm>
            <a:custGeom>
              <a:avLst/>
              <a:gdLst/>
              <a:ahLst/>
              <a:cxnLst/>
              <a:rect l="l" t="t" r="r" b="b"/>
              <a:pathLst>
                <a:path w="571500" h="571500">
                  <a:moveTo>
                    <a:pt x="285749" y="571499"/>
                  </a:moveTo>
                  <a:lnTo>
                    <a:pt x="243821" y="568407"/>
                  </a:lnTo>
                  <a:lnTo>
                    <a:pt x="202801" y="559195"/>
                  </a:lnTo>
                  <a:lnTo>
                    <a:pt x="163575" y="544064"/>
                  </a:lnTo>
                  <a:lnTo>
                    <a:pt x="126995" y="523341"/>
                  </a:lnTo>
                  <a:lnTo>
                    <a:pt x="93851" y="497476"/>
                  </a:lnTo>
                  <a:lnTo>
                    <a:pt x="64862" y="467027"/>
                  </a:lnTo>
                  <a:lnTo>
                    <a:pt x="40653" y="432654"/>
                  </a:lnTo>
                  <a:lnTo>
                    <a:pt x="21751" y="395101"/>
                  </a:lnTo>
                  <a:lnTo>
                    <a:pt x="8563" y="355181"/>
                  </a:lnTo>
                  <a:lnTo>
                    <a:pt x="1375" y="313758"/>
                  </a:lnTo>
                  <a:lnTo>
                    <a:pt x="0" y="285749"/>
                  </a:lnTo>
                  <a:lnTo>
                    <a:pt x="343" y="271728"/>
                  </a:lnTo>
                  <a:lnTo>
                    <a:pt x="5490" y="230002"/>
                  </a:lnTo>
                  <a:lnTo>
                    <a:pt x="16703" y="189483"/>
                  </a:lnTo>
                  <a:lnTo>
                    <a:pt x="33740" y="151047"/>
                  </a:lnTo>
                  <a:lnTo>
                    <a:pt x="56233" y="115528"/>
                  </a:lnTo>
                  <a:lnTo>
                    <a:pt x="83694" y="83693"/>
                  </a:lnTo>
                  <a:lnTo>
                    <a:pt x="115528" y="56233"/>
                  </a:lnTo>
                  <a:lnTo>
                    <a:pt x="151048" y="33740"/>
                  </a:lnTo>
                  <a:lnTo>
                    <a:pt x="189483" y="16703"/>
                  </a:lnTo>
                  <a:lnTo>
                    <a:pt x="230002" y="5490"/>
                  </a:lnTo>
                  <a:lnTo>
                    <a:pt x="271728" y="344"/>
                  </a:lnTo>
                  <a:lnTo>
                    <a:pt x="285749" y="0"/>
                  </a:lnTo>
                  <a:lnTo>
                    <a:pt x="299771" y="344"/>
                  </a:lnTo>
                  <a:lnTo>
                    <a:pt x="341497" y="5490"/>
                  </a:lnTo>
                  <a:lnTo>
                    <a:pt x="382016" y="16703"/>
                  </a:lnTo>
                  <a:lnTo>
                    <a:pt x="420451" y="33740"/>
                  </a:lnTo>
                  <a:lnTo>
                    <a:pt x="455971" y="56233"/>
                  </a:lnTo>
                  <a:lnTo>
                    <a:pt x="487805" y="83693"/>
                  </a:lnTo>
                  <a:lnTo>
                    <a:pt x="515266" y="115528"/>
                  </a:lnTo>
                  <a:lnTo>
                    <a:pt x="537758" y="151048"/>
                  </a:lnTo>
                  <a:lnTo>
                    <a:pt x="554796" y="189483"/>
                  </a:lnTo>
                  <a:lnTo>
                    <a:pt x="566009" y="230002"/>
                  </a:lnTo>
                  <a:lnTo>
                    <a:pt x="571155" y="271728"/>
                  </a:lnTo>
                  <a:lnTo>
                    <a:pt x="571499" y="285749"/>
                  </a:lnTo>
                  <a:lnTo>
                    <a:pt x="571155" y="299771"/>
                  </a:lnTo>
                  <a:lnTo>
                    <a:pt x="566009" y="341496"/>
                  </a:lnTo>
                  <a:lnTo>
                    <a:pt x="554796" y="382016"/>
                  </a:lnTo>
                  <a:lnTo>
                    <a:pt x="537758" y="420451"/>
                  </a:lnTo>
                  <a:lnTo>
                    <a:pt x="515266" y="455970"/>
                  </a:lnTo>
                  <a:lnTo>
                    <a:pt x="487805" y="487805"/>
                  </a:lnTo>
                  <a:lnTo>
                    <a:pt x="455971" y="515266"/>
                  </a:lnTo>
                  <a:lnTo>
                    <a:pt x="420451" y="537758"/>
                  </a:lnTo>
                  <a:lnTo>
                    <a:pt x="382016" y="554796"/>
                  </a:lnTo>
                  <a:lnTo>
                    <a:pt x="341496" y="566008"/>
                  </a:lnTo>
                  <a:lnTo>
                    <a:pt x="299771" y="571155"/>
                  </a:lnTo>
                  <a:lnTo>
                    <a:pt x="285749" y="571499"/>
                  </a:lnTo>
                  <a:close/>
                </a:path>
              </a:pathLst>
            </a:custGeom>
            <a:solidFill>
              <a:srgbClr val="003366"/>
            </a:solidFill>
          </p:spPr>
          <p:txBody>
            <a:bodyPr wrap="square" lIns="0" tIns="0" rIns="0" bIns="0" rtlCol="0"/>
            <a:lstStyle/>
            <a:p>
              <a:endParaRPr/>
            </a:p>
          </p:txBody>
        </p:sp>
        <p:pic>
          <p:nvPicPr>
            <p:cNvPr id="16" name="object 16"/>
            <p:cNvPicPr/>
            <p:nvPr/>
          </p:nvPicPr>
          <p:blipFill>
            <a:blip r:embed="rId4" cstate="print"/>
            <a:stretch>
              <a:fillRect/>
            </a:stretch>
          </p:blipFill>
          <p:spPr>
            <a:xfrm>
              <a:off x="742949" y="4324349"/>
              <a:ext cx="228599" cy="228599"/>
            </a:xfrm>
            <a:prstGeom prst="rect">
              <a:avLst/>
            </a:prstGeom>
          </p:spPr>
        </p:pic>
        <p:sp>
          <p:nvSpPr>
            <p:cNvPr id="17" name="object 17"/>
            <p:cNvSpPr/>
            <p:nvPr/>
          </p:nvSpPr>
          <p:spPr>
            <a:xfrm>
              <a:off x="1362062" y="4657724"/>
              <a:ext cx="47625" cy="1114425"/>
            </a:xfrm>
            <a:custGeom>
              <a:avLst/>
              <a:gdLst/>
              <a:ahLst/>
              <a:cxnLst/>
              <a:rect l="l" t="t" r="r" b="b"/>
              <a:pathLst>
                <a:path w="47625" h="1114425">
                  <a:moveTo>
                    <a:pt x="47625" y="1087462"/>
                  </a:moveTo>
                  <a:lnTo>
                    <a:pt x="26974" y="1066800"/>
                  </a:lnTo>
                  <a:lnTo>
                    <a:pt x="20662" y="1066800"/>
                  </a:lnTo>
                  <a:lnTo>
                    <a:pt x="0" y="1087462"/>
                  </a:lnTo>
                  <a:lnTo>
                    <a:pt x="0" y="1093774"/>
                  </a:lnTo>
                  <a:lnTo>
                    <a:pt x="20662" y="1114425"/>
                  </a:lnTo>
                  <a:lnTo>
                    <a:pt x="26974" y="1114425"/>
                  </a:lnTo>
                  <a:lnTo>
                    <a:pt x="47625" y="1093774"/>
                  </a:lnTo>
                  <a:lnTo>
                    <a:pt x="47625" y="1090612"/>
                  </a:lnTo>
                  <a:lnTo>
                    <a:pt x="47625" y="1087462"/>
                  </a:lnTo>
                  <a:close/>
                </a:path>
                <a:path w="47625" h="1114425">
                  <a:moveTo>
                    <a:pt x="47625" y="554062"/>
                  </a:moveTo>
                  <a:lnTo>
                    <a:pt x="26974" y="533400"/>
                  </a:lnTo>
                  <a:lnTo>
                    <a:pt x="20662" y="533400"/>
                  </a:lnTo>
                  <a:lnTo>
                    <a:pt x="0" y="554062"/>
                  </a:lnTo>
                  <a:lnTo>
                    <a:pt x="0" y="560374"/>
                  </a:lnTo>
                  <a:lnTo>
                    <a:pt x="20662" y="581025"/>
                  </a:lnTo>
                  <a:lnTo>
                    <a:pt x="26974" y="581025"/>
                  </a:lnTo>
                  <a:lnTo>
                    <a:pt x="47625" y="560374"/>
                  </a:lnTo>
                  <a:lnTo>
                    <a:pt x="47625" y="557212"/>
                  </a:lnTo>
                  <a:lnTo>
                    <a:pt x="47625" y="554062"/>
                  </a:lnTo>
                  <a:close/>
                </a:path>
                <a:path w="47625" h="1114425">
                  <a:moveTo>
                    <a:pt x="47625" y="20662"/>
                  </a:moveTo>
                  <a:lnTo>
                    <a:pt x="26974" y="0"/>
                  </a:lnTo>
                  <a:lnTo>
                    <a:pt x="20662" y="0"/>
                  </a:lnTo>
                  <a:lnTo>
                    <a:pt x="0" y="20662"/>
                  </a:lnTo>
                  <a:lnTo>
                    <a:pt x="0" y="26974"/>
                  </a:lnTo>
                  <a:lnTo>
                    <a:pt x="20662" y="47625"/>
                  </a:lnTo>
                  <a:lnTo>
                    <a:pt x="26974" y="47625"/>
                  </a:lnTo>
                  <a:lnTo>
                    <a:pt x="47625" y="26974"/>
                  </a:lnTo>
                  <a:lnTo>
                    <a:pt x="47625" y="23812"/>
                  </a:lnTo>
                  <a:lnTo>
                    <a:pt x="47625" y="20662"/>
                  </a:lnTo>
                  <a:close/>
                </a:path>
              </a:pathLst>
            </a:custGeom>
            <a:solidFill>
              <a:srgbClr val="374050"/>
            </a:solidFill>
          </p:spPr>
          <p:txBody>
            <a:bodyPr wrap="square" lIns="0" tIns="0" rIns="0" bIns="0" rtlCol="0"/>
            <a:lstStyle/>
            <a:p>
              <a:endParaRPr/>
            </a:p>
          </p:txBody>
        </p:sp>
      </p:grpSp>
      <p:sp>
        <p:nvSpPr>
          <p:cNvPr id="18" name="object 18"/>
          <p:cNvSpPr txBox="1"/>
          <p:nvPr/>
        </p:nvSpPr>
        <p:spPr>
          <a:xfrm>
            <a:off x="342899" y="3695226"/>
            <a:ext cx="5524500" cy="2447925"/>
          </a:xfrm>
          <a:prstGeom prst="rect">
            <a:avLst/>
          </a:prstGeom>
        </p:spPr>
        <p:txBody>
          <a:bodyPr vert="horz" wrap="square" lIns="0" tIns="196850" rIns="0" bIns="0" rtlCol="0">
            <a:spAutoFit/>
          </a:bodyPr>
          <a:lstStyle/>
          <a:p>
            <a:pPr marL="951865">
              <a:lnSpc>
                <a:spcPct val="100000"/>
              </a:lnSpc>
              <a:spcBef>
                <a:spcPts val="1550"/>
              </a:spcBef>
            </a:pPr>
            <a:r>
              <a:rPr sz="2000" spc="-200" dirty="0">
                <a:solidFill>
                  <a:srgbClr val="1F2937"/>
                </a:solidFill>
                <a:latin typeface="SimSun"/>
                <a:cs typeface="SimSun"/>
              </a:rPr>
              <a:t>従来</a:t>
            </a:r>
            <a:r>
              <a:rPr sz="1850" dirty="0">
                <a:solidFill>
                  <a:srgbClr val="1F2937"/>
                </a:solidFill>
                <a:latin typeface="PMingLiU"/>
                <a:cs typeface="PMingLiU"/>
              </a:rPr>
              <a:t>の</a:t>
            </a:r>
            <a:r>
              <a:rPr sz="2000" spc="-200" dirty="0">
                <a:solidFill>
                  <a:srgbClr val="1F2937"/>
                </a:solidFill>
                <a:latin typeface="SimSun"/>
                <a:cs typeface="SimSun"/>
              </a:rPr>
              <a:t>湿</a:t>
            </a:r>
            <a:r>
              <a:rPr sz="2050" spc="-270" dirty="0">
                <a:solidFill>
                  <a:srgbClr val="1F2937"/>
                </a:solidFill>
                <a:latin typeface="SimSun"/>
                <a:cs typeface="SimSun"/>
              </a:rPr>
              <a:t>度</a:t>
            </a:r>
            <a:r>
              <a:rPr sz="2000" spc="-200" dirty="0">
                <a:solidFill>
                  <a:srgbClr val="1F2937"/>
                </a:solidFill>
                <a:latin typeface="SimSun"/>
                <a:cs typeface="SimSun"/>
              </a:rPr>
              <a:t>計</a:t>
            </a:r>
            <a:r>
              <a:rPr sz="1850" dirty="0">
                <a:solidFill>
                  <a:srgbClr val="1F2937"/>
                </a:solidFill>
                <a:latin typeface="PMingLiU"/>
                <a:cs typeface="PMingLiU"/>
              </a:rPr>
              <a:t>の</a:t>
            </a:r>
            <a:r>
              <a:rPr sz="1950" spc="-165" dirty="0">
                <a:solidFill>
                  <a:srgbClr val="1F2937"/>
                </a:solidFill>
                <a:latin typeface="PMingLiU"/>
                <a:cs typeface="PMingLiU"/>
              </a:rPr>
              <a:t>問題</a:t>
            </a:r>
            <a:r>
              <a:rPr sz="2000" spc="-50" dirty="0">
                <a:solidFill>
                  <a:srgbClr val="1F2937"/>
                </a:solidFill>
                <a:latin typeface="SimSun"/>
                <a:cs typeface="SimSun"/>
              </a:rPr>
              <a:t>点</a:t>
            </a:r>
            <a:endParaRPr sz="2000">
              <a:latin typeface="SimSun"/>
              <a:cs typeface="SimSun"/>
            </a:endParaRPr>
          </a:p>
          <a:p>
            <a:pPr marL="1180465" marR="221615">
              <a:lnSpc>
                <a:spcPct val="129600"/>
              </a:lnSpc>
              <a:spcBef>
                <a:spcPts val="464"/>
              </a:spcBef>
            </a:pPr>
            <a:r>
              <a:rPr sz="1350" spc="-40" dirty="0">
                <a:solidFill>
                  <a:srgbClr val="374050"/>
                </a:solidFill>
                <a:latin typeface="PMingLiU"/>
                <a:cs typeface="PMingLiU"/>
              </a:rPr>
              <a:t>市販の湿度計は精度が低く，特に低湿度環境では誤差</a:t>
            </a:r>
            <a:r>
              <a:rPr sz="1350" spc="-25" dirty="0">
                <a:solidFill>
                  <a:srgbClr val="374050"/>
                </a:solidFill>
                <a:latin typeface="PMingLiU"/>
                <a:cs typeface="PMingLiU"/>
              </a:rPr>
              <a:t>が大きくなる</a:t>
            </a:r>
            <a:endParaRPr sz="1350">
              <a:latin typeface="PMingLiU"/>
              <a:cs typeface="PMingLiU"/>
            </a:endParaRPr>
          </a:p>
          <a:p>
            <a:pPr marL="1180465" marR="393065">
              <a:lnSpc>
                <a:spcPct val="129600"/>
              </a:lnSpc>
            </a:pPr>
            <a:r>
              <a:rPr sz="1350" spc="-5" dirty="0">
                <a:solidFill>
                  <a:srgbClr val="374050"/>
                </a:solidFill>
                <a:latin typeface="PMingLiU"/>
                <a:cs typeface="PMingLiU"/>
              </a:rPr>
              <a:t>静電容量測定方式，水晶発振測定方式，鏡面冷却方</a:t>
            </a:r>
            <a:r>
              <a:rPr sz="1350" spc="-35" dirty="0">
                <a:solidFill>
                  <a:srgbClr val="374050"/>
                </a:solidFill>
                <a:latin typeface="PMingLiU"/>
                <a:cs typeface="PMingLiU"/>
              </a:rPr>
              <a:t>式，レーザー吸収分光法式などが普及している</a:t>
            </a:r>
            <a:endParaRPr sz="1350">
              <a:latin typeface="PMingLiU"/>
              <a:cs typeface="PMingLiU"/>
            </a:endParaRPr>
          </a:p>
          <a:p>
            <a:pPr marL="1180465" marR="220345" algn="just">
              <a:lnSpc>
                <a:spcPct val="129600"/>
              </a:lnSpc>
            </a:pPr>
            <a:r>
              <a:rPr sz="1350" spc="-5" dirty="0">
                <a:solidFill>
                  <a:srgbClr val="374050"/>
                </a:solidFill>
                <a:latin typeface="PMingLiU"/>
                <a:cs typeface="PMingLiU"/>
              </a:rPr>
              <a:t>光学的計測法の</a:t>
            </a:r>
            <a:r>
              <a:rPr sz="1350" dirty="0">
                <a:solidFill>
                  <a:srgbClr val="374050"/>
                </a:solidFill>
                <a:latin typeface="Arial"/>
                <a:cs typeface="Arial"/>
              </a:rPr>
              <a:t>1</a:t>
            </a:r>
            <a:r>
              <a:rPr sz="1350" spc="-10" dirty="0">
                <a:solidFill>
                  <a:srgbClr val="374050"/>
                </a:solidFill>
                <a:latin typeface="PMingLiU"/>
                <a:cs typeface="PMingLiU"/>
              </a:rPr>
              <a:t>つである非分散赤外吸収法（</a:t>
            </a:r>
            <a:r>
              <a:rPr sz="1350" spc="-10" dirty="0">
                <a:solidFill>
                  <a:srgbClr val="374050"/>
                </a:solidFill>
                <a:latin typeface="Arial"/>
                <a:cs typeface="Arial"/>
              </a:rPr>
              <a:t>NDIR</a:t>
            </a:r>
            <a:r>
              <a:rPr sz="1350" spc="-10" dirty="0">
                <a:solidFill>
                  <a:srgbClr val="374050"/>
                </a:solidFill>
                <a:latin typeface="PMingLiU"/>
                <a:cs typeface="PMingLiU"/>
              </a:rPr>
              <a:t>）</a:t>
            </a:r>
            <a:r>
              <a:rPr sz="1350" spc="-35" dirty="0">
                <a:solidFill>
                  <a:srgbClr val="374050"/>
                </a:solidFill>
                <a:latin typeface="PMingLiU"/>
                <a:cs typeface="PMingLiU"/>
              </a:rPr>
              <a:t>が利用されているが，中赤外域で吸収が大きい水蒸気</a:t>
            </a:r>
            <a:r>
              <a:rPr sz="1350" spc="-25" dirty="0">
                <a:solidFill>
                  <a:srgbClr val="374050"/>
                </a:solidFill>
                <a:latin typeface="PMingLiU"/>
                <a:cs typeface="PMingLiU"/>
              </a:rPr>
              <a:t>に関しては実用化されていない</a:t>
            </a:r>
            <a:endParaRPr sz="1350">
              <a:latin typeface="PMingLiU"/>
              <a:cs typeface="PMingLiU"/>
            </a:endParaRPr>
          </a:p>
        </p:txBody>
      </p:sp>
      <p:grpSp>
        <p:nvGrpSpPr>
          <p:cNvPr id="19" name="object 19"/>
          <p:cNvGrpSpPr/>
          <p:nvPr/>
        </p:nvGrpSpPr>
        <p:grpSpPr>
          <a:xfrm>
            <a:off x="6324599" y="723900"/>
            <a:ext cx="5562600" cy="6019800"/>
            <a:chOff x="6324599" y="952499"/>
            <a:chExt cx="5562600" cy="6019800"/>
          </a:xfrm>
        </p:grpSpPr>
        <p:sp>
          <p:nvSpPr>
            <p:cNvPr id="20" name="object 20"/>
            <p:cNvSpPr/>
            <p:nvPr/>
          </p:nvSpPr>
          <p:spPr>
            <a:xfrm>
              <a:off x="6324599" y="952499"/>
              <a:ext cx="5562600" cy="6019800"/>
            </a:xfrm>
            <a:custGeom>
              <a:avLst/>
              <a:gdLst/>
              <a:ahLst/>
              <a:cxnLst/>
              <a:rect l="l" t="t" r="r" b="b"/>
              <a:pathLst>
                <a:path w="5562600" h="6019800">
                  <a:moveTo>
                    <a:pt x="5562599" y="6019799"/>
                  </a:moveTo>
                  <a:lnTo>
                    <a:pt x="0" y="6019799"/>
                  </a:lnTo>
                  <a:lnTo>
                    <a:pt x="0" y="0"/>
                  </a:lnTo>
                  <a:lnTo>
                    <a:pt x="5562599" y="0"/>
                  </a:lnTo>
                  <a:lnTo>
                    <a:pt x="5562599" y="6019799"/>
                  </a:lnTo>
                  <a:close/>
                </a:path>
              </a:pathLst>
            </a:custGeom>
            <a:solidFill>
              <a:srgbClr val="FFFFFF">
                <a:alpha val="90199"/>
              </a:srgbClr>
            </a:solidFill>
          </p:spPr>
          <p:txBody>
            <a:bodyPr wrap="square" lIns="0" tIns="0" rIns="0" bIns="0" rtlCol="0"/>
            <a:lstStyle/>
            <a:p>
              <a:endParaRPr/>
            </a:p>
          </p:txBody>
        </p:sp>
        <p:sp>
          <p:nvSpPr>
            <p:cNvPr id="21" name="object 21"/>
            <p:cNvSpPr/>
            <p:nvPr/>
          </p:nvSpPr>
          <p:spPr>
            <a:xfrm>
              <a:off x="6324599" y="952499"/>
              <a:ext cx="38100" cy="6019800"/>
            </a:xfrm>
            <a:custGeom>
              <a:avLst/>
              <a:gdLst/>
              <a:ahLst/>
              <a:cxnLst/>
              <a:rect l="l" t="t" r="r" b="b"/>
              <a:pathLst>
                <a:path w="38100" h="6019800">
                  <a:moveTo>
                    <a:pt x="38099" y="6019799"/>
                  </a:moveTo>
                  <a:lnTo>
                    <a:pt x="0" y="6019799"/>
                  </a:lnTo>
                  <a:lnTo>
                    <a:pt x="0" y="0"/>
                  </a:lnTo>
                  <a:lnTo>
                    <a:pt x="38099" y="0"/>
                  </a:lnTo>
                  <a:lnTo>
                    <a:pt x="38099" y="6019799"/>
                  </a:lnTo>
                  <a:close/>
                </a:path>
              </a:pathLst>
            </a:custGeom>
            <a:solidFill>
              <a:srgbClr val="FF9900"/>
            </a:solidFill>
          </p:spPr>
          <p:txBody>
            <a:bodyPr wrap="square" lIns="0" tIns="0" rIns="0" bIns="0" rtlCol="0"/>
            <a:lstStyle/>
            <a:p>
              <a:endParaRPr/>
            </a:p>
          </p:txBody>
        </p:sp>
        <p:sp>
          <p:nvSpPr>
            <p:cNvPr id="22" name="object 22"/>
            <p:cNvSpPr/>
            <p:nvPr/>
          </p:nvSpPr>
          <p:spPr>
            <a:xfrm>
              <a:off x="6591299" y="1181099"/>
              <a:ext cx="571500" cy="571500"/>
            </a:xfrm>
            <a:custGeom>
              <a:avLst/>
              <a:gdLst/>
              <a:ahLst/>
              <a:cxnLst/>
              <a:rect l="l" t="t" r="r" b="b"/>
              <a:pathLst>
                <a:path w="571500" h="571500">
                  <a:moveTo>
                    <a:pt x="285749" y="571499"/>
                  </a:moveTo>
                  <a:lnTo>
                    <a:pt x="243821" y="568407"/>
                  </a:lnTo>
                  <a:lnTo>
                    <a:pt x="202801" y="559195"/>
                  </a:lnTo>
                  <a:lnTo>
                    <a:pt x="163575" y="544065"/>
                  </a:lnTo>
                  <a:lnTo>
                    <a:pt x="126994" y="523342"/>
                  </a:lnTo>
                  <a:lnTo>
                    <a:pt x="93852" y="497477"/>
                  </a:lnTo>
                  <a:lnTo>
                    <a:pt x="64861" y="467027"/>
                  </a:lnTo>
                  <a:lnTo>
                    <a:pt x="40653" y="432654"/>
                  </a:lnTo>
                  <a:lnTo>
                    <a:pt x="21751" y="395101"/>
                  </a:lnTo>
                  <a:lnTo>
                    <a:pt x="8563" y="355181"/>
                  </a:lnTo>
                  <a:lnTo>
                    <a:pt x="1376" y="313758"/>
                  </a:lnTo>
                  <a:lnTo>
                    <a:pt x="0" y="285749"/>
                  </a:lnTo>
                  <a:lnTo>
                    <a:pt x="344" y="271728"/>
                  </a:lnTo>
                  <a:lnTo>
                    <a:pt x="5490" y="230002"/>
                  </a:lnTo>
                  <a:lnTo>
                    <a:pt x="16703" y="189483"/>
                  </a:lnTo>
                  <a:lnTo>
                    <a:pt x="33740" y="151048"/>
                  </a:lnTo>
                  <a:lnTo>
                    <a:pt x="56232" y="115528"/>
                  </a:lnTo>
                  <a:lnTo>
                    <a:pt x="83693" y="83694"/>
                  </a:lnTo>
                  <a:lnTo>
                    <a:pt x="115527" y="56233"/>
                  </a:lnTo>
                  <a:lnTo>
                    <a:pt x="151048" y="33740"/>
                  </a:lnTo>
                  <a:lnTo>
                    <a:pt x="189483" y="16703"/>
                  </a:lnTo>
                  <a:lnTo>
                    <a:pt x="230002" y="5490"/>
                  </a:lnTo>
                  <a:lnTo>
                    <a:pt x="271728" y="344"/>
                  </a:lnTo>
                  <a:lnTo>
                    <a:pt x="285749" y="0"/>
                  </a:lnTo>
                  <a:lnTo>
                    <a:pt x="299771" y="344"/>
                  </a:lnTo>
                  <a:lnTo>
                    <a:pt x="341496" y="5490"/>
                  </a:lnTo>
                  <a:lnTo>
                    <a:pt x="382015" y="16703"/>
                  </a:lnTo>
                  <a:lnTo>
                    <a:pt x="420451" y="33740"/>
                  </a:lnTo>
                  <a:lnTo>
                    <a:pt x="455970" y="56233"/>
                  </a:lnTo>
                  <a:lnTo>
                    <a:pt x="487805" y="83694"/>
                  </a:lnTo>
                  <a:lnTo>
                    <a:pt x="515265" y="115528"/>
                  </a:lnTo>
                  <a:lnTo>
                    <a:pt x="537758" y="151048"/>
                  </a:lnTo>
                  <a:lnTo>
                    <a:pt x="554795" y="189483"/>
                  </a:lnTo>
                  <a:lnTo>
                    <a:pt x="566008" y="230002"/>
                  </a:lnTo>
                  <a:lnTo>
                    <a:pt x="571156" y="271728"/>
                  </a:lnTo>
                  <a:lnTo>
                    <a:pt x="571499" y="285749"/>
                  </a:lnTo>
                  <a:lnTo>
                    <a:pt x="571156" y="299771"/>
                  </a:lnTo>
                  <a:lnTo>
                    <a:pt x="566008" y="341496"/>
                  </a:lnTo>
                  <a:lnTo>
                    <a:pt x="554795" y="382016"/>
                  </a:lnTo>
                  <a:lnTo>
                    <a:pt x="537757" y="420451"/>
                  </a:lnTo>
                  <a:lnTo>
                    <a:pt x="515265" y="455971"/>
                  </a:lnTo>
                  <a:lnTo>
                    <a:pt x="487805" y="487805"/>
                  </a:lnTo>
                  <a:lnTo>
                    <a:pt x="455970" y="515266"/>
                  </a:lnTo>
                  <a:lnTo>
                    <a:pt x="420451" y="537758"/>
                  </a:lnTo>
                  <a:lnTo>
                    <a:pt x="382015" y="554796"/>
                  </a:lnTo>
                  <a:lnTo>
                    <a:pt x="341496" y="566009"/>
                  </a:lnTo>
                  <a:lnTo>
                    <a:pt x="299771" y="571155"/>
                  </a:lnTo>
                  <a:lnTo>
                    <a:pt x="285749" y="571499"/>
                  </a:lnTo>
                  <a:close/>
                </a:path>
              </a:pathLst>
            </a:custGeom>
            <a:solidFill>
              <a:srgbClr val="003366"/>
            </a:solidFill>
          </p:spPr>
          <p:txBody>
            <a:bodyPr wrap="square" lIns="0" tIns="0" rIns="0" bIns="0" rtlCol="0"/>
            <a:lstStyle/>
            <a:p>
              <a:endParaRPr/>
            </a:p>
          </p:txBody>
        </p:sp>
        <p:pic>
          <p:nvPicPr>
            <p:cNvPr id="23" name="object 23"/>
            <p:cNvPicPr/>
            <p:nvPr/>
          </p:nvPicPr>
          <p:blipFill>
            <a:blip r:embed="rId5" cstate="print"/>
            <a:stretch>
              <a:fillRect/>
            </a:stretch>
          </p:blipFill>
          <p:spPr>
            <a:xfrm>
              <a:off x="6734174" y="1352549"/>
              <a:ext cx="285749" cy="228599"/>
            </a:xfrm>
            <a:prstGeom prst="rect">
              <a:avLst/>
            </a:prstGeom>
          </p:spPr>
        </p:pic>
        <p:sp>
          <p:nvSpPr>
            <p:cNvPr id="24" name="object 24"/>
            <p:cNvSpPr/>
            <p:nvPr/>
          </p:nvSpPr>
          <p:spPr>
            <a:xfrm>
              <a:off x="7315187" y="1943099"/>
              <a:ext cx="4343400" cy="4800600"/>
            </a:xfrm>
            <a:custGeom>
              <a:avLst/>
              <a:gdLst/>
              <a:ahLst/>
              <a:cxnLst/>
              <a:rect l="l" t="t" r="r" b="b"/>
              <a:pathLst>
                <a:path w="4343400" h="4800600">
                  <a:moveTo>
                    <a:pt x="4343400" y="3423996"/>
                  </a:moveTo>
                  <a:lnTo>
                    <a:pt x="4327779" y="3382505"/>
                  </a:lnTo>
                  <a:lnTo>
                    <a:pt x="4291736" y="3356686"/>
                  </a:lnTo>
                  <a:lnTo>
                    <a:pt x="4272204" y="3352800"/>
                  </a:lnTo>
                  <a:lnTo>
                    <a:pt x="71196" y="3352800"/>
                  </a:lnTo>
                  <a:lnTo>
                    <a:pt x="29705" y="3368421"/>
                  </a:lnTo>
                  <a:lnTo>
                    <a:pt x="3886" y="3404463"/>
                  </a:lnTo>
                  <a:lnTo>
                    <a:pt x="0" y="3423996"/>
                  </a:lnTo>
                  <a:lnTo>
                    <a:pt x="0" y="4724400"/>
                  </a:lnTo>
                  <a:lnTo>
                    <a:pt x="0" y="4729404"/>
                  </a:lnTo>
                  <a:lnTo>
                    <a:pt x="15621" y="4770894"/>
                  </a:lnTo>
                  <a:lnTo>
                    <a:pt x="51663" y="4796714"/>
                  </a:lnTo>
                  <a:lnTo>
                    <a:pt x="71196" y="4800600"/>
                  </a:lnTo>
                  <a:lnTo>
                    <a:pt x="4272204" y="4800600"/>
                  </a:lnTo>
                  <a:lnTo>
                    <a:pt x="4313694" y="4784979"/>
                  </a:lnTo>
                  <a:lnTo>
                    <a:pt x="4339514" y="4748936"/>
                  </a:lnTo>
                  <a:lnTo>
                    <a:pt x="4343400" y="4729404"/>
                  </a:lnTo>
                  <a:lnTo>
                    <a:pt x="4343400" y="3423996"/>
                  </a:lnTo>
                  <a:close/>
                </a:path>
                <a:path w="4343400" h="4800600">
                  <a:moveTo>
                    <a:pt x="4343400" y="1747608"/>
                  </a:moveTo>
                  <a:lnTo>
                    <a:pt x="4327779" y="1706105"/>
                  </a:lnTo>
                  <a:lnTo>
                    <a:pt x="4291736" y="1680286"/>
                  </a:lnTo>
                  <a:lnTo>
                    <a:pt x="4272204" y="1676400"/>
                  </a:lnTo>
                  <a:lnTo>
                    <a:pt x="71196" y="1676400"/>
                  </a:lnTo>
                  <a:lnTo>
                    <a:pt x="29705" y="1692021"/>
                  </a:lnTo>
                  <a:lnTo>
                    <a:pt x="3886" y="1728063"/>
                  </a:lnTo>
                  <a:lnTo>
                    <a:pt x="0" y="1747608"/>
                  </a:lnTo>
                  <a:lnTo>
                    <a:pt x="0" y="3124200"/>
                  </a:lnTo>
                  <a:lnTo>
                    <a:pt x="0" y="3129203"/>
                  </a:lnTo>
                  <a:lnTo>
                    <a:pt x="15621" y="3170694"/>
                  </a:lnTo>
                  <a:lnTo>
                    <a:pt x="51663" y="3196513"/>
                  </a:lnTo>
                  <a:lnTo>
                    <a:pt x="71196" y="3200400"/>
                  </a:lnTo>
                  <a:lnTo>
                    <a:pt x="4272204" y="3200400"/>
                  </a:lnTo>
                  <a:lnTo>
                    <a:pt x="4313694" y="3184779"/>
                  </a:lnTo>
                  <a:lnTo>
                    <a:pt x="4339514" y="3148749"/>
                  </a:lnTo>
                  <a:lnTo>
                    <a:pt x="4343400" y="3129203"/>
                  </a:lnTo>
                  <a:lnTo>
                    <a:pt x="4343400" y="1747608"/>
                  </a:lnTo>
                  <a:close/>
                </a:path>
                <a:path w="4343400" h="4800600">
                  <a:moveTo>
                    <a:pt x="4343400" y="71208"/>
                  </a:moveTo>
                  <a:lnTo>
                    <a:pt x="4327779" y="29705"/>
                  </a:lnTo>
                  <a:lnTo>
                    <a:pt x="4291736" y="3886"/>
                  </a:lnTo>
                  <a:lnTo>
                    <a:pt x="4272204" y="0"/>
                  </a:lnTo>
                  <a:lnTo>
                    <a:pt x="71196" y="0"/>
                  </a:lnTo>
                  <a:lnTo>
                    <a:pt x="29705" y="15633"/>
                  </a:lnTo>
                  <a:lnTo>
                    <a:pt x="3886" y="51663"/>
                  </a:lnTo>
                  <a:lnTo>
                    <a:pt x="0" y="71208"/>
                  </a:lnTo>
                  <a:lnTo>
                    <a:pt x="0" y="1447800"/>
                  </a:lnTo>
                  <a:lnTo>
                    <a:pt x="0" y="1452803"/>
                  </a:lnTo>
                  <a:lnTo>
                    <a:pt x="15621" y="1494294"/>
                  </a:lnTo>
                  <a:lnTo>
                    <a:pt x="51663" y="1520113"/>
                  </a:lnTo>
                  <a:lnTo>
                    <a:pt x="71196" y="1524000"/>
                  </a:lnTo>
                  <a:lnTo>
                    <a:pt x="4272204" y="1524000"/>
                  </a:lnTo>
                  <a:lnTo>
                    <a:pt x="4313694" y="1508379"/>
                  </a:lnTo>
                  <a:lnTo>
                    <a:pt x="4339514" y="1472349"/>
                  </a:lnTo>
                  <a:lnTo>
                    <a:pt x="4343400" y="1452803"/>
                  </a:lnTo>
                  <a:lnTo>
                    <a:pt x="4343400" y="71208"/>
                  </a:lnTo>
                  <a:close/>
                </a:path>
              </a:pathLst>
            </a:custGeom>
            <a:solidFill>
              <a:srgbClr val="EFF5FF"/>
            </a:solidFill>
          </p:spPr>
          <p:txBody>
            <a:bodyPr wrap="square" lIns="0" tIns="0" rIns="0" bIns="0" rtlCol="0"/>
            <a:lstStyle/>
            <a:p>
              <a:endParaRPr/>
            </a:p>
          </p:txBody>
        </p:sp>
      </p:grpSp>
      <p:sp>
        <p:nvSpPr>
          <p:cNvPr id="25" name="object 25"/>
          <p:cNvSpPr txBox="1"/>
          <p:nvPr/>
        </p:nvSpPr>
        <p:spPr>
          <a:xfrm>
            <a:off x="6362699" y="906091"/>
            <a:ext cx="5524500" cy="5427980"/>
          </a:xfrm>
          <a:prstGeom prst="rect">
            <a:avLst/>
          </a:prstGeom>
        </p:spPr>
        <p:txBody>
          <a:bodyPr vert="horz" wrap="square" lIns="0" tIns="31115" rIns="0" bIns="0" rtlCol="0">
            <a:spAutoFit/>
          </a:bodyPr>
          <a:lstStyle/>
          <a:p>
            <a:pPr marL="952500" marR="348615">
              <a:lnSpc>
                <a:spcPts val="2400"/>
              </a:lnSpc>
              <a:spcBef>
                <a:spcPts val="245"/>
              </a:spcBef>
            </a:pPr>
            <a:r>
              <a:rPr sz="1850" dirty="0">
                <a:solidFill>
                  <a:srgbClr val="1F2937"/>
                </a:solidFill>
                <a:latin typeface="PMingLiU"/>
                <a:cs typeface="PMingLiU"/>
              </a:rPr>
              <a:t>テラヘルツ</a:t>
            </a:r>
            <a:r>
              <a:rPr sz="2000" spc="-200" dirty="0">
                <a:solidFill>
                  <a:srgbClr val="1F2937"/>
                </a:solidFill>
                <a:latin typeface="SimSun"/>
                <a:cs typeface="SimSun"/>
              </a:rPr>
              <a:t>波</a:t>
            </a:r>
            <a:r>
              <a:rPr sz="1850" dirty="0">
                <a:solidFill>
                  <a:srgbClr val="1F2937"/>
                </a:solidFill>
                <a:latin typeface="PMingLiU"/>
                <a:cs typeface="PMingLiU"/>
              </a:rPr>
              <a:t>を</a:t>
            </a:r>
            <a:r>
              <a:rPr sz="1900" spc="-120" dirty="0">
                <a:solidFill>
                  <a:srgbClr val="1F2937"/>
                </a:solidFill>
                <a:latin typeface="PMingLiU"/>
                <a:cs typeface="PMingLiU"/>
              </a:rPr>
              <a:t>用</a:t>
            </a:r>
            <a:r>
              <a:rPr sz="1700" spc="165" dirty="0">
                <a:solidFill>
                  <a:srgbClr val="1F2937"/>
                </a:solidFill>
                <a:latin typeface="PMingLiU"/>
                <a:cs typeface="PMingLiU"/>
              </a:rPr>
              <a:t>い</a:t>
            </a:r>
            <a:r>
              <a:rPr sz="1850" dirty="0">
                <a:solidFill>
                  <a:srgbClr val="1F2937"/>
                </a:solidFill>
                <a:latin typeface="PMingLiU"/>
                <a:cs typeface="PMingLiU"/>
              </a:rPr>
              <a:t>た</a:t>
            </a:r>
            <a:r>
              <a:rPr sz="2050" spc="-270" dirty="0">
                <a:solidFill>
                  <a:srgbClr val="1F2937"/>
                </a:solidFill>
                <a:latin typeface="SimSun"/>
                <a:cs typeface="SimSun"/>
              </a:rPr>
              <a:t>新</a:t>
            </a:r>
            <a:r>
              <a:rPr sz="1850" dirty="0">
                <a:solidFill>
                  <a:srgbClr val="1F2937"/>
                </a:solidFill>
                <a:latin typeface="PMingLiU"/>
                <a:cs typeface="PMingLiU"/>
              </a:rPr>
              <a:t>たな</a:t>
            </a:r>
            <a:r>
              <a:rPr sz="2000" spc="-200" dirty="0">
                <a:solidFill>
                  <a:srgbClr val="1F2937"/>
                </a:solidFill>
                <a:latin typeface="SimSun"/>
                <a:cs typeface="SimSun"/>
              </a:rPr>
              <a:t>測</a:t>
            </a:r>
            <a:r>
              <a:rPr sz="2050" spc="-270" dirty="0">
                <a:solidFill>
                  <a:srgbClr val="1F2937"/>
                </a:solidFill>
                <a:latin typeface="SimSun"/>
                <a:cs typeface="SimSun"/>
              </a:rPr>
              <a:t>定</a:t>
            </a:r>
            <a:r>
              <a:rPr sz="2000" spc="-200" dirty="0">
                <a:solidFill>
                  <a:srgbClr val="1F2937"/>
                </a:solidFill>
                <a:latin typeface="SimSun"/>
                <a:cs typeface="SimSun"/>
              </a:rPr>
              <a:t>手法</a:t>
            </a:r>
            <a:r>
              <a:rPr sz="1850" spc="-50" dirty="0">
                <a:solidFill>
                  <a:srgbClr val="1F2937"/>
                </a:solidFill>
                <a:latin typeface="PMingLiU"/>
                <a:cs typeface="PMingLiU"/>
              </a:rPr>
              <a:t>の</a:t>
            </a:r>
            <a:r>
              <a:rPr sz="1900" spc="-120" dirty="0">
                <a:solidFill>
                  <a:srgbClr val="1F2937"/>
                </a:solidFill>
                <a:latin typeface="PMingLiU"/>
                <a:cs typeface="PMingLiU"/>
              </a:rPr>
              <a:t>可</a:t>
            </a:r>
            <a:r>
              <a:rPr sz="2000" spc="-200" dirty="0">
                <a:solidFill>
                  <a:srgbClr val="1F2937"/>
                </a:solidFill>
                <a:latin typeface="PMingLiU"/>
                <a:cs typeface="PMingLiU"/>
              </a:rPr>
              <a:t>能</a:t>
            </a:r>
            <a:r>
              <a:rPr sz="1950" spc="-50" dirty="0">
                <a:solidFill>
                  <a:srgbClr val="1F2937"/>
                </a:solidFill>
                <a:latin typeface="SimSun"/>
                <a:cs typeface="SimSun"/>
              </a:rPr>
              <a:t>性</a:t>
            </a:r>
            <a:endParaRPr sz="1950">
              <a:latin typeface="SimSun"/>
              <a:cs typeface="SimSun"/>
            </a:endParaRPr>
          </a:p>
          <a:p>
            <a:pPr>
              <a:lnSpc>
                <a:spcPct val="100000"/>
              </a:lnSpc>
              <a:spcBef>
                <a:spcPts val="135"/>
              </a:spcBef>
            </a:pPr>
            <a:endParaRPr sz="1800">
              <a:latin typeface="SimSun"/>
              <a:cs typeface="SimSun"/>
            </a:endParaRPr>
          </a:p>
          <a:p>
            <a:pPr marL="1104900">
              <a:lnSpc>
                <a:spcPct val="100000"/>
              </a:lnSpc>
              <a:spcBef>
                <a:spcPts val="5"/>
              </a:spcBef>
            </a:pPr>
            <a:r>
              <a:rPr sz="1500" spc="-10" dirty="0">
                <a:solidFill>
                  <a:srgbClr val="003366"/>
                </a:solidFill>
                <a:latin typeface="PMingLiU"/>
                <a:cs typeface="PMingLiU"/>
              </a:rPr>
              <a:t>テラヘルツ</a:t>
            </a:r>
            <a:r>
              <a:rPr sz="1650" spc="-165" dirty="0">
                <a:solidFill>
                  <a:srgbClr val="003366"/>
                </a:solidFill>
                <a:latin typeface="SimSun"/>
                <a:cs typeface="SimSun"/>
              </a:rPr>
              <a:t>波</a:t>
            </a:r>
            <a:r>
              <a:rPr sz="1500" spc="-10" dirty="0">
                <a:solidFill>
                  <a:srgbClr val="003366"/>
                </a:solidFill>
                <a:latin typeface="PMingLiU"/>
                <a:cs typeface="PMingLiU"/>
              </a:rPr>
              <a:t>の</a:t>
            </a:r>
            <a:r>
              <a:rPr sz="1650" spc="-110" dirty="0">
                <a:solidFill>
                  <a:srgbClr val="003366"/>
                </a:solidFill>
                <a:latin typeface="SimSun"/>
                <a:cs typeface="SimSun"/>
              </a:rPr>
              <a:t>特徴</a:t>
            </a:r>
            <a:endParaRPr sz="1650">
              <a:latin typeface="SimSun"/>
              <a:cs typeface="SimSun"/>
            </a:endParaRPr>
          </a:p>
          <a:p>
            <a:pPr marL="1104900" marR="469265">
              <a:lnSpc>
                <a:spcPct val="129600"/>
              </a:lnSpc>
              <a:spcBef>
                <a:spcPts val="464"/>
              </a:spcBef>
            </a:pPr>
            <a:r>
              <a:rPr sz="1350" spc="-10" dirty="0">
                <a:solidFill>
                  <a:srgbClr val="374050"/>
                </a:solidFill>
                <a:latin typeface="PMingLiU"/>
                <a:cs typeface="PMingLiU"/>
              </a:rPr>
              <a:t>テラヘルツ波</a:t>
            </a:r>
            <a:r>
              <a:rPr sz="1350" dirty="0">
                <a:solidFill>
                  <a:srgbClr val="374050"/>
                </a:solidFill>
                <a:latin typeface="PMingLiU"/>
                <a:cs typeface="PMingLiU"/>
              </a:rPr>
              <a:t>（</a:t>
            </a:r>
            <a:r>
              <a:rPr sz="1350" dirty="0">
                <a:solidFill>
                  <a:srgbClr val="374050"/>
                </a:solidFill>
                <a:latin typeface="Arial"/>
                <a:cs typeface="Arial"/>
              </a:rPr>
              <a:t>100GHz</a:t>
            </a:r>
            <a:r>
              <a:rPr sz="1350" dirty="0">
                <a:solidFill>
                  <a:srgbClr val="374050"/>
                </a:solidFill>
                <a:latin typeface="PMingLiU"/>
                <a:cs typeface="PMingLiU"/>
              </a:rPr>
              <a:t>～</a:t>
            </a:r>
            <a:r>
              <a:rPr sz="1350" dirty="0">
                <a:solidFill>
                  <a:srgbClr val="374050"/>
                </a:solidFill>
                <a:latin typeface="Arial"/>
                <a:cs typeface="Arial"/>
              </a:rPr>
              <a:t>10THz</a:t>
            </a:r>
            <a:r>
              <a:rPr sz="1350" dirty="0">
                <a:solidFill>
                  <a:srgbClr val="374050"/>
                </a:solidFill>
                <a:latin typeface="PMingLiU"/>
                <a:cs typeface="PMingLiU"/>
              </a:rPr>
              <a:t>）</a:t>
            </a:r>
            <a:r>
              <a:rPr sz="1350" spc="-25" dirty="0">
                <a:solidFill>
                  <a:srgbClr val="374050"/>
                </a:solidFill>
                <a:latin typeface="PMingLiU"/>
                <a:cs typeface="PMingLiU"/>
              </a:rPr>
              <a:t>が注目されてお</a:t>
            </a:r>
            <a:r>
              <a:rPr sz="1350" spc="-35" dirty="0">
                <a:solidFill>
                  <a:srgbClr val="374050"/>
                </a:solidFill>
                <a:latin typeface="PMingLiU"/>
                <a:cs typeface="PMingLiU"/>
              </a:rPr>
              <a:t>り，テラヘルツ帯域の光源を用いることで，分子間振動や結晶格子間運動を高感度に検出できる。</a:t>
            </a:r>
            <a:endParaRPr sz="1350">
              <a:latin typeface="PMingLiU"/>
              <a:cs typeface="PMingLiU"/>
            </a:endParaRPr>
          </a:p>
          <a:p>
            <a:pPr>
              <a:lnSpc>
                <a:spcPct val="100000"/>
              </a:lnSpc>
            </a:pPr>
            <a:endParaRPr sz="1350">
              <a:latin typeface="PMingLiU"/>
              <a:cs typeface="PMingLiU"/>
            </a:endParaRPr>
          </a:p>
          <a:p>
            <a:pPr>
              <a:lnSpc>
                <a:spcPct val="100000"/>
              </a:lnSpc>
              <a:spcBef>
                <a:spcPts val="675"/>
              </a:spcBef>
            </a:pPr>
            <a:endParaRPr sz="1350">
              <a:latin typeface="PMingLiU"/>
              <a:cs typeface="PMingLiU"/>
            </a:endParaRPr>
          </a:p>
          <a:p>
            <a:pPr marL="1104900">
              <a:lnSpc>
                <a:spcPct val="100000"/>
              </a:lnSpc>
            </a:pPr>
            <a:r>
              <a:rPr sz="1650" spc="-165" dirty="0">
                <a:solidFill>
                  <a:srgbClr val="003366"/>
                </a:solidFill>
                <a:latin typeface="SimSun"/>
                <a:cs typeface="SimSun"/>
              </a:rPr>
              <a:t>水蒸気</a:t>
            </a:r>
            <a:r>
              <a:rPr sz="1500" spc="-10" dirty="0">
                <a:solidFill>
                  <a:srgbClr val="003366"/>
                </a:solidFill>
                <a:latin typeface="PMingLiU"/>
                <a:cs typeface="PMingLiU"/>
              </a:rPr>
              <a:t>の</a:t>
            </a:r>
            <a:r>
              <a:rPr sz="1650" spc="-110" dirty="0">
                <a:solidFill>
                  <a:srgbClr val="003366"/>
                </a:solidFill>
                <a:latin typeface="SimSun"/>
                <a:cs typeface="SimSun"/>
              </a:rPr>
              <a:t>特性</a:t>
            </a:r>
            <a:endParaRPr sz="1650">
              <a:latin typeface="SimSun"/>
              <a:cs typeface="SimSun"/>
            </a:endParaRPr>
          </a:p>
          <a:p>
            <a:pPr marL="1104900" marR="464184" algn="just">
              <a:lnSpc>
                <a:spcPct val="129600"/>
              </a:lnSpc>
              <a:spcBef>
                <a:spcPts val="470"/>
              </a:spcBef>
            </a:pPr>
            <a:r>
              <a:rPr sz="1350" spc="-30" dirty="0">
                <a:solidFill>
                  <a:srgbClr val="374050"/>
                </a:solidFill>
                <a:latin typeface="PMingLiU"/>
                <a:cs typeface="PMingLiU"/>
              </a:rPr>
              <a:t>特に，テラヘルツ帯域には水蒸気特有の吸収係数の</a:t>
            </a:r>
            <a:r>
              <a:rPr sz="1350" spc="-40" dirty="0">
                <a:solidFill>
                  <a:srgbClr val="374050"/>
                </a:solidFill>
                <a:latin typeface="PMingLiU"/>
                <a:cs typeface="PMingLiU"/>
              </a:rPr>
              <a:t>異なる吸収線が複数存在し，これを利用することで</a:t>
            </a:r>
            <a:r>
              <a:rPr sz="1350" spc="-25" dirty="0">
                <a:solidFill>
                  <a:srgbClr val="374050"/>
                </a:solidFill>
                <a:latin typeface="PMingLiU"/>
                <a:cs typeface="PMingLiU"/>
              </a:rPr>
              <a:t>高精度な絶対湿度計測が可能となる。</a:t>
            </a:r>
            <a:endParaRPr sz="1350">
              <a:latin typeface="PMingLiU"/>
              <a:cs typeface="PMingLiU"/>
            </a:endParaRPr>
          </a:p>
          <a:p>
            <a:pPr>
              <a:lnSpc>
                <a:spcPct val="100000"/>
              </a:lnSpc>
            </a:pPr>
            <a:endParaRPr sz="1350">
              <a:latin typeface="PMingLiU"/>
              <a:cs typeface="PMingLiU"/>
            </a:endParaRPr>
          </a:p>
          <a:p>
            <a:pPr>
              <a:lnSpc>
                <a:spcPct val="100000"/>
              </a:lnSpc>
              <a:spcBef>
                <a:spcPts val="625"/>
              </a:spcBef>
            </a:pPr>
            <a:endParaRPr sz="1350">
              <a:latin typeface="PMingLiU"/>
              <a:cs typeface="PMingLiU"/>
            </a:endParaRPr>
          </a:p>
          <a:p>
            <a:pPr marL="1104900">
              <a:lnSpc>
                <a:spcPct val="100000"/>
              </a:lnSpc>
            </a:pPr>
            <a:r>
              <a:rPr sz="1650" spc="-165" dirty="0">
                <a:solidFill>
                  <a:srgbClr val="003366"/>
                </a:solidFill>
                <a:latin typeface="SimSun"/>
                <a:cs typeface="SimSun"/>
              </a:rPr>
              <a:t>本</a:t>
            </a:r>
            <a:r>
              <a:rPr sz="1550" spc="-70" dirty="0">
                <a:solidFill>
                  <a:srgbClr val="003366"/>
                </a:solidFill>
                <a:latin typeface="PMingLiU"/>
                <a:cs typeface="PMingLiU"/>
              </a:rPr>
              <a:t>研</a:t>
            </a:r>
            <a:r>
              <a:rPr sz="1700" spc="-210" dirty="0">
                <a:solidFill>
                  <a:srgbClr val="003366"/>
                </a:solidFill>
                <a:latin typeface="SimSun"/>
                <a:cs typeface="SimSun"/>
              </a:rPr>
              <a:t>究</a:t>
            </a:r>
            <a:r>
              <a:rPr sz="1500" spc="-10" dirty="0">
                <a:solidFill>
                  <a:srgbClr val="003366"/>
                </a:solidFill>
                <a:latin typeface="PMingLiU"/>
                <a:cs typeface="PMingLiU"/>
              </a:rPr>
              <a:t>の</a:t>
            </a:r>
            <a:r>
              <a:rPr sz="1550" spc="-70" dirty="0">
                <a:solidFill>
                  <a:srgbClr val="003366"/>
                </a:solidFill>
                <a:latin typeface="PMingLiU"/>
                <a:cs typeface="PMingLiU"/>
              </a:rPr>
              <a:t>目</a:t>
            </a:r>
            <a:r>
              <a:rPr sz="1650" spc="-50" dirty="0">
                <a:solidFill>
                  <a:srgbClr val="003366"/>
                </a:solidFill>
                <a:latin typeface="PMingLiU"/>
                <a:cs typeface="PMingLiU"/>
              </a:rPr>
              <a:t>的</a:t>
            </a:r>
            <a:endParaRPr sz="1650">
              <a:latin typeface="PMingLiU"/>
              <a:cs typeface="PMingLiU"/>
            </a:endParaRPr>
          </a:p>
          <a:p>
            <a:pPr marL="1104900" marR="469265">
              <a:lnSpc>
                <a:spcPct val="129600"/>
              </a:lnSpc>
              <a:spcBef>
                <a:spcPts val="459"/>
              </a:spcBef>
            </a:pPr>
            <a:r>
              <a:rPr sz="1350" spc="-35" dirty="0">
                <a:solidFill>
                  <a:srgbClr val="374050"/>
                </a:solidFill>
                <a:latin typeface="PMingLiU"/>
                <a:cs typeface="PMingLiU"/>
              </a:rPr>
              <a:t>本研究では，テラヘルツ波を用いた透過測定によ</a:t>
            </a:r>
            <a:r>
              <a:rPr sz="1350" spc="500" dirty="0">
                <a:solidFill>
                  <a:srgbClr val="374050"/>
                </a:solidFill>
                <a:latin typeface="PMingLiU"/>
                <a:cs typeface="PMingLiU"/>
              </a:rPr>
              <a:t> </a:t>
            </a:r>
            <a:r>
              <a:rPr sz="1350" spc="-25" dirty="0">
                <a:solidFill>
                  <a:srgbClr val="374050"/>
                </a:solidFill>
                <a:latin typeface="PMingLiU"/>
                <a:cs typeface="PMingLiU"/>
              </a:rPr>
              <a:t>り，広いダイナミックレンジでの高精度な絶対湿度</a:t>
            </a:r>
            <a:r>
              <a:rPr sz="1350" spc="-30" dirty="0">
                <a:solidFill>
                  <a:srgbClr val="374050"/>
                </a:solidFill>
                <a:latin typeface="PMingLiU"/>
                <a:cs typeface="PMingLiU"/>
              </a:rPr>
              <a:t>計測の実現を目指す。</a:t>
            </a:r>
            <a:endParaRPr sz="1350">
              <a:latin typeface="PMingLiU"/>
              <a:cs typeface="PMingLiU"/>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4F64104-C36F-F11C-8050-454A0AE77E4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E2EB6B0-2B9E-8FF0-7D4D-4D540F6B667A}"/>
              </a:ext>
            </a:extLst>
          </p:cNvPr>
          <p:cNvSpPr/>
          <p:nvPr/>
        </p:nvSpPr>
        <p:spPr>
          <a:xfrm>
            <a:off x="0" y="0"/>
            <a:ext cx="12192000" cy="6781800"/>
          </a:xfrm>
          <a:custGeom>
            <a:avLst/>
            <a:gdLst/>
            <a:ahLst/>
            <a:cxnLst/>
            <a:rect l="l" t="t" r="r" b="b"/>
            <a:pathLst>
              <a:path w="12192000" h="7391400">
                <a:moveTo>
                  <a:pt x="12191999" y="7391399"/>
                </a:moveTo>
                <a:lnTo>
                  <a:pt x="0" y="7391399"/>
                </a:lnTo>
                <a:lnTo>
                  <a:pt x="0" y="0"/>
                </a:lnTo>
                <a:lnTo>
                  <a:pt x="12191999" y="0"/>
                </a:lnTo>
                <a:lnTo>
                  <a:pt x="12191999" y="7391399"/>
                </a:lnTo>
                <a:close/>
              </a:path>
            </a:pathLst>
          </a:custGeom>
          <a:solidFill>
            <a:srgbClr val="F2F4F5"/>
          </a:solidFill>
        </p:spPr>
        <p:txBody>
          <a:bodyPr wrap="square" lIns="0" tIns="0" rIns="0" bIns="0" rtlCol="0"/>
          <a:lstStyle/>
          <a:p>
            <a:endParaRPr/>
          </a:p>
        </p:txBody>
      </p:sp>
      <p:pic>
        <p:nvPicPr>
          <p:cNvPr id="3" name="object 3">
            <a:extLst>
              <a:ext uri="{FF2B5EF4-FFF2-40B4-BE49-F238E27FC236}">
                <a16:creationId xmlns:a16="http://schemas.microsoft.com/office/drawing/2014/main" id="{3BBEA3D1-55DA-4E80-C9B0-BBD041A48061}"/>
              </a:ext>
            </a:extLst>
          </p:cNvPr>
          <p:cNvPicPr/>
          <p:nvPr/>
        </p:nvPicPr>
        <p:blipFill>
          <a:blip r:embed="rId2" cstate="print"/>
          <a:stretch>
            <a:fillRect/>
          </a:stretch>
        </p:blipFill>
        <p:spPr>
          <a:xfrm>
            <a:off x="0" y="0"/>
            <a:ext cx="12191999" cy="647699"/>
          </a:xfrm>
          <a:prstGeom prst="rect">
            <a:avLst/>
          </a:prstGeom>
        </p:spPr>
      </p:pic>
      <p:sp>
        <p:nvSpPr>
          <p:cNvPr id="4" name="object 4">
            <a:extLst>
              <a:ext uri="{FF2B5EF4-FFF2-40B4-BE49-F238E27FC236}">
                <a16:creationId xmlns:a16="http://schemas.microsoft.com/office/drawing/2014/main" id="{E5D2B8F8-57F4-6173-AEC5-72F131973FD1}"/>
              </a:ext>
            </a:extLst>
          </p:cNvPr>
          <p:cNvSpPr txBox="1">
            <a:spLocks noGrp="1"/>
          </p:cNvSpPr>
          <p:nvPr>
            <p:ph type="title"/>
          </p:nvPr>
        </p:nvSpPr>
        <p:spPr>
          <a:xfrm>
            <a:off x="292099" y="77396"/>
            <a:ext cx="2597150" cy="396262"/>
          </a:xfrm>
          <a:prstGeom prst="rect">
            <a:avLst/>
          </a:prstGeom>
        </p:spPr>
        <p:txBody>
          <a:bodyPr vert="horz" wrap="square" lIns="0" tIns="11430" rIns="0" bIns="0" rtlCol="0">
            <a:spAutoFit/>
          </a:bodyPr>
          <a:lstStyle/>
          <a:p>
            <a:pPr marL="12700">
              <a:lnSpc>
                <a:spcPct val="100000"/>
              </a:lnSpc>
              <a:spcBef>
                <a:spcPts val="90"/>
              </a:spcBef>
            </a:pPr>
            <a:r>
              <a:rPr lang="ja-JP" altLang="en-US" sz="2500" spc="-250" dirty="0">
                <a:latin typeface="SimSun"/>
                <a:cs typeface="SimSun"/>
              </a:rPr>
              <a:t>原理</a:t>
            </a:r>
            <a:endParaRPr sz="2550" dirty="0">
              <a:latin typeface="SimSun"/>
              <a:cs typeface="SimSun"/>
            </a:endParaRPr>
          </a:p>
        </p:txBody>
      </p:sp>
      <p:sp>
        <p:nvSpPr>
          <p:cNvPr id="5" name="object 5">
            <a:extLst>
              <a:ext uri="{FF2B5EF4-FFF2-40B4-BE49-F238E27FC236}">
                <a16:creationId xmlns:a16="http://schemas.microsoft.com/office/drawing/2014/main" id="{9362E550-9196-C196-C373-7794D897C05B}"/>
              </a:ext>
            </a:extLst>
          </p:cNvPr>
          <p:cNvSpPr txBox="1"/>
          <p:nvPr/>
        </p:nvSpPr>
        <p:spPr>
          <a:xfrm>
            <a:off x="11609585" y="187325"/>
            <a:ext cx="290830" cy="254000"/>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Arial"/>
                <a:cs typeface="Arial"/>
              </a:rPr>
              <a:t>4/9</a:t>
            </a:r>
            <a:endParaRPr sz="1500">
              <a:latin typeface="Arial"/>
              <a:cs typeface="Arial"/>
            </a:endParaRPr>
          </a:p>
        </p:txBody>
      </p:sp>
      <p:sp>
        <p:nvSpPr>
          <p:cNvPr id="61" name="object 5">
            <a:extLst>
              <a:ext uri="{FF2B5EF4-FFF2-40B4-BE49-F238E27FC236}">
                <a16:creationId xmlns:a16="http://schemas.microsoft.com/office/drawing/2014/main" id="{CDBA5684-E9B8-5B9F-35D2-28C81D20E8B2}"/>
              </a:ext>
            </a:extLst>
          </p:cNvPr>
          <p:cNvSpPr/>
          <p:nvPr/>
        </p:nvSpPr>
        <p:spPr>
          <a:xfrm>
            <a:off x="228599" y="781044"/>
            <a:ext cx="5715000" cy="5448300"/>
          </a:xfrm>
          <a:custGeom>
            <a:avLst/>
            <a:gdLst/>
            <a:ahLst/>
            <a:cxnLst/>
            <a:rect l="l" t="t" r="r" b="b"/>
            <a:pathLst>
              <a:path w="5715000" h="5448300">
                <a:moveTo>
                  <a:pt x="5714999" y="5448299"/>
                </a:moveTo>
                <a:lnTo>
                  <a:pt x="0" y="5448299"/>
                </a:lnTo>
                <a:lnTo>
                  <a:pt x="0" y="0"/>
                </a:lnTo>
                <a:lnTo>
                  <a:pt x="5714999" y="0"/>
                </a:lnTo>
                <a:lnTo>
                  <a:pt x="5714999" y="5448299"/>
                </a:lnTo>
                <a:close/>
              </a:path>
            </a:pathLst>
          </a:custGeom>
          <a:solidFill>
            <a:srgbClr val="FFFFFF">
              <a:alpha val="90199"/>
            </a:srgbClr>
          </a:solidFill>
        </p:spPr>
        <p:txBody>
          <a:bodyPr wrap="square" lIns="0" tIns="0" rIns="0" bIns="0" rtlCol="0"/>
          <a:lstStyle/>
          <a:p>
            <a:endParaRPr/>
          </a:p>
        </p:txBody>
      </p:sp>
      <p:sp>
        <p:nvSpPr>
          <p:cNvPr id="62" name="object 6">
            <a:extLst>
              <a:ext uri="{FF2B5EF4-FFF2-40B4-BE49-F238E27FC236}">
                <a16:creationId xmlns:a16="http://schemas.microsoft.com/office/drawing/2014/main" id="{4CC070DE-8494-4022-4645-5FFC12EC72BB}"/>
              </a:ext>
            </a:extLst>
          </p:cNvPr>
          <p:cNvSpPr/>
          <p:nvPr/>
        </p:nvSpPr>
        <p:spPr>
          <a:xfrm>
            <a:off x="228599" y="781044"/>
            <a:ext cx="38100" cy="5448300"/>
          </a:xfrm>
          <a:custGeom>
            <a:avLst/>
            <a:gdLst/>
            <a:ahLst/>
            <a:cxnLst/>
            <a:rect l="l" t="t" r="r" b="b"/>
            <a:pathLst>
              <a:path w="38100" h="5448300">
                <a:moveTo>
                  <a:pt x="38099" y="5448299"/>
                </a:moveTo>
                <a:lnTo>
                  <a:pt x="0" y="5448299"/>
                </a:lnTo>
                <a:lnTo>
                  <a:pt x="0" y="0"/>
                </a:lnTo>
                <a:lnTo>
                  <a:pt x="38099" y="0"/>
                </a:lnTo>
                <a:lnTo>
                  <a:pt x="38099" y="5448299"/>
                </a:lnTo>
                <a:close/>
              </a:path>
            </a:pathLst>
          </a:custGeom>
          <a:solidFill>
            <a:srgbClr val="FF9900"/>
          </a:solidFill>
        </p:spPr>
        <p:txBody>
          <a:bodyPr wrap="square" lIns="0" tIns="0" rIns="0" bIns="0" rtlCol="0"/>
          <a:lstStyle/>
          <a:p>
            <a:endParaRPr/>
          </a:p>
        </p:txBody>
      </p:sp>
      <p:pic>
        <p:nvPicPr>
          <p:cNvPr id="63" name="object 7">
            <a:extLst>
              <a:ext uri="{FF2B5EF4-FFF2-40B4-BE49-F238E27FC236}">
                <a16:creationId xmlns:a16="http://schemas.microsoft.com/office/drawing/2014/main" id="{24699532-7D39-891C-02D0-577ED845E1F4}"/>
              </a:ext>
            </a:extLst>
          </p:cNvPr>
          <p:cNvPicPr/>
          <p:nvPr/>
        </p:nvPicPr>
        <p:blipFill>
          <a:blip r:embed="rId3" cstate="print"/>
          <a:stretch>
            <a:fillRect/>
          </a:stretch>
        </p:blipFill>
        <p:spPr>
          <a:xfrm>
            <a:off x="457199" y="1009644"/>
            <a:ext cx="228599" cy="228599"/>
          </a:xfrm>
          <a:prstGeom prst="rect">
            <a:avLst/>
          </a:prstGeom>
        </p:spPr>
      </p:pic>
      <p:pic>
        <p:nvPicPr>
          <p:cNvPr id="64" name="object 8">
            <a:extLst>
              <a:ext uri="{FF2B5EF4-FFF2-40B4-BE49-F238E27FC236}">
                <a16:creationId xmlns:a16="http://schemas.microsoft.com/office/drawing/2014/main" id="{2E661381-00B7-92A4-23AB-9009EDD0117D}"/>
              </a:ext>
            </a:extLst>
          </p:cNvPr>
          <p:cNvPicPr/>
          <p:nvPr/>
        </p:nvPicPr>
        <p:blipFill>
          <a:blip r:embed="rId4" cstate="print"/>
          <a:stretch>
            <a:fillRect/>
          </a:stretch>
        </p:blipFill>
        <p:spPr>
          <a:xfrm>
            <a:off x="1638299" y="1390643"/>
            <a:ext cx="2943224" cy="2666999"/>
          </a:xfrm>
          <a:prstGeom prst="rect">
            <a:avLst/>
          </a:prstGeom>
        </p:spPr>
      </p:pic>
      <p:sp>
        <p:nvSpPr>
          <p:cNvPr id="65" name="object 9">
            <a:extLst>
              <a:ext uri="{FF2B5EF4-FFF2-40B4-BE49-F238E27FC236}">
                <a16:creationId xmlns:a16="http://schemas.microsoft.com/office/drawing/2014/main" id="{776561AF-8501-B03C-DC3D-3417DA3D6A3D}"/>
              </a:ext>
            </a:extLst>
          </p:cNvPr>
          <p:cNvSpPr/>
          <p:nvPr/>
        </p:nvSpPr>
        <p:spPr>
          <a:xfrm>
            <a:off x="523862" y="4295768"/>
            <a:ext cx="47625" cy="1381125"/>
          </a:xfrm>
          <a:custGeom>
            <a:avLst/>
            <a:gdLst/>
            <a:ahLst/>
            <a:cxnLst/>
            <a:rect l="l" t="t" r="r" b="b"/>
            <a:pathLst>
              <a:path w="47625" h="1381125">
                <a:moveTo>
                  <a:pt x="47625" y="1354162"/>
                </a:moveTo>
                <a:lnTo>
                  <a:pt x="26974" y="1333500"/>
                </a:lnTo>
                <a:lnTo>
                  <a:pt x="20662" y="1333500"/>
                </a:lnTo>
                <a:lnTo>
                  <a:pt x="0" y="1354162"/>
                </a:lnTo>
                <a:lnTo>
                  <a:pt x="0" y="1360474"/>
                </a:lnTo>
                <a:lnTo>
                  <a:pt x="20662" y="1381125"/>
                </a:lnTo>
                <a:lnTo>
                  <a:pt x="26974" y="1381125"/>
                </a:lnTo>
                <a:lnTo>
                  <a:pt x="47625" y="1360474"/>
                </a:lnTo>
                <a:lnTo>
                  <a:pt x="47625" y="1357312"/>
                </a:lnTo>
                <a:lnTo>
                  <a:pt x="47625" y="1354162"/>
                </a:lnTo>
                <a:close/>
              </a:path>
              <a:path w="47625" h="1381125">
                <a:moveTo>
                  <a:pt x="47625" y="820762"/>
                </a:moveTo>
                <a:lnTo>
                  <a:pt x="26974" y="800100"/>
                </a:lnTo>
                <a:lnTo>
                  <a:pt x="20662" y="800100"/>
                </a:lnTo>
                <a:lnTo>
                  <a:pt x="0" y="820762"/>
                </a:lnTo>
                <a:lnTo>
                  <a:pt x="0" y="827074"/>
                </a:lnTo>
                <a:lnTo>
                  <a:pt x="20662" y="847725"/>
                </a:lnTo>
                <a:lnTo>
                  <a:pt x="26974" y="847725"/>
                </a:lnTo>
                <a:lnTo>
                  <a:pt x="47625" y="827074"/>
                </a:lnTo>
                <a:lnTo>
                  <a:pt x="47625" y="823912"/>
                </a:lnTo>
                <a:lnTo>
                  <a:pt x="47625" y="820762"/>
                </a:lnTo>
                <a:close/>
              </a:path>
              <a:path w="47625" h="1381125">
                <a:moveTo>
                  <a:pt x="47625" y="287362"/>
                </a:moveTo>
                <a:lnTo>
                  <a:pt x="26974" y="266700"/>
                </a:lnTo>
                <a:lnTo>
                  <a:pt x="20662" y="266700"/>
                </a:lnTo>
                <a:lnTo>
                  <a:pt x="0" y="287362"/>
                </a:lnTo>
                <a:lnTo>
                  <a:pt x="0" y="293674"/>
                </a:lnTo>
                <a:lnTo>
                  <a:pt x="20662" y="314325"/>
                </a:lnTo>
                <a:lnTo>
                  <a:pt x="26974" y="314325"/>
                </a:lnTo>
                <a:lnTo>
                  <a:pt x="47625" y="293674"/>
                </a:lnTo>
                <a:lnTo>
                  <a:pt x="47625" y="290512"/>
                </a:lnTo>
                <a:lnTo>
                  <a:pt x="47625" y="287362"/>
                </a:lnTo>
                <a:close/>
              </a:path>
              <a:path w="47625" h="1381125">
                <a:moveTo>
                  <a:pt x="47625" y="20662"/>
                </a:moveTo>
                <a:lnTo>
                  <a:pt x="26974" y="0"/>
                </a:lnTo>
                <a:lnTo>
                  <a:pt x="20662" y="0"/>
                </a:lnTo>
                <a:lnTo>
                  <a:pt x="0" y="20662"/>
                </a:lnTo>
                <a:lnTo>
                  <a:pt x="0" y="26974"/>
                </a:lnTo>
                <a:lnTo>
                  <a:pt x="20662" y="47625"/>
                </a:lnTo>
                <a:lnTo>
                  <a:pt x="26974" y="47625"/>
                </a:lnTo>
                <a:lnTo>
                  <a:pt x="47625" y="26974"/>
                </a:lnTo>
                <a:lnTo>
                  <a:pt x="47625" y="23812"/>
                </a:lnTo>
                <a:lnTo>
                  <a:pt x="47625" y="20662"/>
                </a:lnTo>
                <a:close/>
              </a:path>
            </a:pathLst>
          </a:custGeom>
          <a:solidFill>
            <a:srgbClr val="374050"/>
          </a:solidFill>
        </p:spPr>
        <p:txBody>
          <a:bodyPr wrap="square" lIns="0" tIns="0" rIns="0" bIns="0" rtlCol="0"/>
          <a:lstStyle/>
          <a:p>
            <a:endParaRPr/>
          </a:p>
        </p:txBody>
      </p:sp>
      <p:sp>
        <p:nvSpPr>
          <p:cNvPr id="66" name="object 10">
            <a:extLst>
              <a:ext uri="{FF2B5EF4-FFF2-40B4-BE49-F238E27FC236}">
                <a16:creationId xmlns:a16="http://schemas.microsoft.com/office/drawing/2014/main" id="{2C9F3A58-F88C-B306-C610-09AE760AA7A8}"/>
              </a:ext>
            </a:extLst>
          </p:cNvPr>
          <p:cNvSpPr txBox="1"/>
          <p:nvPr/>
        </p:nvSpPr>
        <p:spPr>
          <a:xfrm>
            <a:off x="266699" y="925134"/>
            <a:ext cx="5676900" cy="5085080"/>
          </a:xfrm>
          <a:prstGeom prst="rect">
            <a:avLst/>
          </a:prstGeom>
        </p:spPr>
        <p:txBody>
          <a:bodyPr vert="horz" wrap="square" lIns="0" tIns="14604" rIns="0" bIns="0" rtlCol="0">
            <a:spAutoFit/>
          </a:bodyPr>
          <a:lstStyle/>
          <a:p>
            <a:pPr marL="532765">
              <a:lnSpc>
                <a:spcPct val="100000"/>
              </a:lnSpc>
              <a:spcBef>
                <a:spcPts val="114"/>
              </a:spcBef>
            </a:pPr>
            <a:r>
              <a:rPr sz="2000" spc="-200" dirty="0">
                <a:solidFill>
                  <a:srgbClr val="003366"/>
                </a:solidFill>
                <a:latin typeface="SimSun"/>
                <a:cs typeface="SimSun"/>
              </a:rPr>
              <a:t>測</a:t>
            </a:r>
            <a:r>
              <a:rPr sz="2050" spc="-270" dirty="0">
                <a:solidFill>
                  <a:srgbClr val="003366"/>
                </a:solidFill>
                <a:latin typeface="SimSun"/>
                <a:cs typeface="SimSun"/>
              </a:rPr>
              <a:t>定</a:t>
            </a:r>
            <a:r>
              <a:rPr sz="2000" spc="-200" dirty="0">
                <a:solidFill>
                  <a:srgbClr val="003366"/>
                </a:solidFill>
                <a:latin typeface="SimSun"/>
                <a:cs typeface="SimSun"/>
              </a:rPr>
              <a:t>光</a:t>
            </a:r>
            <a:r>
              <a:rPr sz="2050" spc="-270" dirty="0">
                <a:solidFill>
                  <a:srgbClr val="003366"/>
                </a:solidFill>
                <a:latin typeface="SimSun"/>
                <a:cs typeface="SimSun"/>
              </a:rPr>
              <a:t>学</a:t>
            </a:r>
            <a:r>
              <a:rPr sz="2000" spc="-50" dirty="0">
                <a:solidFill>
                  <a:srgbClr val="003366"/>
                </a:solidFill>
                <a:latin typeface="SimSun"/>
                <a:cs typeface="SimSun"/>
              </a:rPr>
              <a:t>系</a:t>
            </a:r>
            <a:endParaRPr sz="20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spcBef>
                <a:spcPts val="75"/>
              </a:spcBef>
            </a:pPr>
            <a:endParaRPr sz="1800" dirty="0">
              <a:latin typeface="SimSun"/>
              <a:cs typeface="SimSun"/>
            </a:endParaRPr>
          </a:p>
          <a:p>
            <a:pPr marL="418465">
              <a:lnSpc>
                <a:spcPct val="100000"/>
              </a:lnSpc>
            </a:pPr>
            <a:endParaRPr lang="en-US" sz="1350" spc="-25" dirty="0">
              <a:solidFill>
                <a:srgbClr val="374050"/>
              </a:solidFill>
              <a:latin typeface="PMingLiU"/>
              <a:cs typeface="PMingLiU"/>
            </a:endParaRPr>
          </a:p>
          <a:p>
            <a:pPr marL="418465">
              <a:lnSpc>
                <a:spcPct val="100000"/>
              </a:lnSpc>
            </a:pPr>
            <a:r>
              <a:rPr sz="1350" spc="-25" dirty="0" err="1">
                <a:solidFill>
                  <a:srgbClr val="374050"/>
                </a:solidFill>
                <a:latin typeface="PMingLiU"/>
                <a:cs typeface="PMingLiU"/>
              </a:rPr>
              <a:t>測定にはマイケルソン干渉計を使用</a:t>
            </a:r>
            <a:endParaRPr sz="1350" dirty="0">
              <a:latin typeface="PMingLiU"/>
              <a:cs typeface="PMingLiU"/>
            </a:endParaRPr>
          </a:p>
          <a:p>
            <a:pPr marL="418465" marR="229870">
              <a:lnSpc>
                <a:spcPct val="129600"/>
              </a:lnSpc>
            </a:pPr>
            <a:r>
              <a:rPr sz="1350" spc="-15" dirty="0">
                <a:solidFill>
                  <a:srgbClr val="374050"/>
                </a:solidFill>
                <a:latin typeface="PMingLiU"/>
                <a:cs typeface="PMingLiU"/>
              </a:rPr>
              <a:t>光源は日本大学電子線利用施設</a:t>
            </a:r>
            <a:r>
              <a:rPr sz="1350" dirty="0">
                <a:solidFill>
                  <a:srgbClr val="374050"/>
                </a:solidFill>
                <a:latin typeface="Arial"/>
                <a:cs typeface="Arial"/>
              </a:rPr>
              <a:t>LABRA</a:t>
            </a:r>
            <a:r>
              <a:rPr sz="1350" spc="-20" dirty="0">
                <a:solidFill>
                  <a:srgbClr val="374050"/>
                </a:solidFill>
                <a:latin typeface="PMingLiU"/>
                <a:cs typeface="PMingLiU"/>
              </a:rPr>
              <a:t>のテラヘルツ帯域のコヒーレントエッジ放射ビーム</a:t>
            </a:r>
            <a:endParaRPr sz="1350" dirty="0">
              <a:latin typeface="PMingLiU"/>
              <a:cs typeface="PMingLiU"/>
            </a:endParaRPr>
          </a:p>
          <a:p>
            <a:pPr marL="418465" marR="244475">
              <a:lnSpc>
                <a:spcPct val="129600"/>
              </a:lnSpc>
            </a:pPr>
            <a:r>
              <a:rPr sz="1350" spc="-30" dirty="0">
                <a:solidFill>
                  <a:srgbClr val="374050"/>
                </a:solidFill>
                <a:latin typeface="PMingLiU"/>
                <a:cs typeface="PMingLiU"/>
              </a:rPr>
              <a:t>光源はビーム強度を検出する</a:t>
            </a:r>
            <a:r>
              <a:rPr sz="1350" dirty="0">
                <a:solidFill>
                  <a:srgbClr val="374050"/>
                </a:solidFill>
                <a:latin typeface="Arial"/>
                <a:cs typeface="Arial"/>
              </a:rPr>
              <a:t>Detector 1</a:t>
            </a:r>
            <a:r>
              <a:rPr sz="1350" spc="-25" dirty="0">
                <a:solidFill>
                  <a:srgbClr val="374050"/>
                </a:solidFill>
                <a:latin typeface="PMingLiU"/>
                <a:cs typeface="PMingLiU"/>
              </a:rPr>
              <a:t>と干渉計に入る光で</a:t>
            </a:r>
            <a:r>
              <a:rPr sz="1350" dirty="0">
                <a:solidFill>
                  <a:srgbClr val="374050"/>
                </a:solidFill>
                <a:latin typeface="Arial"/>
                <a:cs typeface="Arial"/>
              </a:rPr>
              <a:t>2</a:t>
            </a:r>
            <a:r>
              <a:rPr sz="1350" spc="-30" dirty="0">
                <a:solidFill>
                  <a:srgbClr val="374050"/>
                </a:solidFill>
                <a:latin typeface="PMingLiU"/>
                <a:cs typeface="PMingLiU"/>
              </a:rPr>
              <a:t>つに</a:t>
            </a:r>
            <a:r>
              <a:rPr sz="1350" spc="-25" dirty="0">
                <a:solidFill>
                  <a:srgbClr val="374050"/>
                </a:solidFill>
                <a:latin typeface="PMingLiU"/>
                <a:cs typeface="PMingLiU"/>
              </a:rPr>
              <a:t>分かれる</a:t>
            </a:r>
            <a:endParaRPr sz="1350" dirty="0">
              <a:latin typeface="PMingLiU"/>
              <a:cs typeface="PMingLiU"/>
            </a:endParaRPr>
          </a:p>
          <a:p>
            <a:pPr marL="418465" marR="278765">
              <a:lnSpc>
                <a:spcPct val="129600"/>
              </a:lnSpc>
              <a:spcBef>
                <a:spcPts val="5"/>
              </a:spcBef>
            </a:pPr>
            <a:r>
              <a:rPr sz="1350" spc="-35" dirty="0">
                <a:solidFill>
                  <a:srgbClr val="374050"/>
                </a:solidFill>
                <a:latin typeface="PMingLiU"/>
                <a:cs typeface="PMingLiU"/>
              </a:rPr>
              <a:t>移動鏡による透過光の強度を各地点で測定することで、インター</a:t>
            </a:r>
            <a:r>
              <a:rPr sz="1350" spc="-10" dirty="0">
                <a:solidFill>
                  <a:srgbClr val="374050"/>
                </a:solidFill>
                <a:latin typeface="PMingLiU"/>
                <a:cs typeface="PMingLiU"/>
              </a:rPr>
              <a:t>フェログラム</a:t>
            </a:r>
            <a:r>
              <a:rPr sz="1350" spc="-10" dirty="0">
                <a:solidFill>
                  <a:srgbClr val="374050"/>
                </a:solidFill>
                <a:latin typeface="Arial"/>
                <a:cs typeface="Arial"/>
              </a:rPr>
              <a:t>I(t)</a:t>
            </a:r>
            <a:r>
              <a:rPr sz="1350" spc="-20" dirty="0">
                <a:solidFill>
                  <a:srgbClr val="374050"/>
                </a:solidFill>
                <a:latin typeface="PMingLiU"/>
                <a:cs typeface="PMingLiU"/>
              </a:rPr>
              <a:t>を計測</a:t>
            </a:r>
            <a:endParaRPr sz="1350" dirty="0">
              <a:latin typeface="PMingLiU"/>
              <a:cs typeface="PMingLiU"/>
            </a:endParaRPr>
          </a:p>
        </p:txBody>
      </p:sp>
      <p:sp>
        <p:nvSpPr>
          <p:cNvPr id="67" name="object 12">
            <a:extLst>
              <a:ext uri="{FF2B5EF4-FFF2-40B4-BE49-F238E27FC236}">
                <a16:creationId xmlns:a16="http://schemas.microsoft.com/office/drawing/2014/main" id="{C486738A-9A5E-8F26-FBE3-338FB1FEFC72}"/>
              </a:ext>
            </a:extLst>
          </p:cNvPr>
          <p:cNvSpPr/>
          <p:nvPr/>
        </p:nvSpPr>
        <p:spPr>
          <a:xfrm>
            <a:off x="6248399" y="781044"/>
            <a:ext cx="5715000" cy="6000750"/>
          </a:xfrm>
          <a:custGeom>
            <a:avLst/>
            <a:gdLst/>
            <a:ahLst/>
            <a:cxnLst/>
            <a:rect l="l" t="t" r="r" b="b"/>
            <a:pathLst>
              <a:path w="5715000" h="6000750">
                <a:moveTo>
                  <a:pt x="5714999" y="6000749"/>
                </a:moveTo>
                <a:lnTo>
                  <a:pt x="0" y="6000749"/>
                </a:lnTo>
                <a:lnTo>
                  <a:pt x="0" y="0"/>
                </a:lnTo>
                <a:lnTo>
                  <a:pt x="5714999" y="0"/>
                </a:lnTo>
                <a:lnTo>
                  <a:pt x="5714999" y="6000749"/>
                </a:lnTo>
                <a:close/>
              </a:path>
            </a:pathLst>
          </a:custGeom>
          <a:solidFill>
            <a:srgbClr val="FFFFFF">
              <a:alpha val="90199"/>
            </a:srgbClr>
          </a:solidFill>
        </p:spPr>
        <p:txBody>
          <a:bodyPr wrap="square" lIns="0" tIns="0" rIns="0" bIns="0" rtlCol="0"/>
          <a:lstStyle/>
          <a:p>
            <a:endParaRPr/>
          </a:p>
        </p:txBody>
      </p:sp>
      <p:sp>
        <p:nvSpPr>
          <p:cNvPr id="68" name="object 13">
            <a:extLst>
              <a:ext uri="{FF2B5EF4-FFF2-40B4-BE49-F238E27FC236}">
                <a16:creationId xmlns:a16="http://schemas.microsoft.com/office/drawing/2014/main" id="{82D8E815-EC26-815C-F111-AFBCC4653B5B}"/>
              </a:ext>
            </a:extLst>
          </p:cNvPr>
          <p:cNvSpPr/>
          <p:nvPr/>
        </p:nvSpPr>
        <p:spPr>
          <a:xfrm>
            <a:off x="6248399" y="781044"/>
            <a:ext cx="38100" cy="6000750"/>
          </a:xfrm>
          <a:custGeom>
            <a:avLst/>
            <a:gdLst/>
            <a:ahLst/>
            <a:cxnLst/>
            <a:rect l="l" t="t" r="r" b="b"/>
            <a:pathLst>
              <a:path w="38100" h="6000750">
                <a:moveTo>
                  <a:pt x="38099" y="6000749"/>
                </a:moveTo>
                <a:lnTo>
                  <a:pt x="0" y="6000749"/>
                </a:lnTo>
                <a:lnTo>
                  <a:pt x="0" y="0"/>
                </a:lnTo>
                <a:lnTo>
                  <a:pt x="38099" y="0"/>
                </a:lnTo>
                <a:lnTo>
                  <a:pt x="38099" y="6000749"/>
                </a:lnTo>
                <a:close/>
              </a:path>
            </a:pathLst>
          </a:custGeom>
          <a:solidFill>
            <a:srgbClr val="FF9900"/>
          </a:solidFill>
        </p:spPr>
        <p:txBody>
          <a:bodyPr wrap="square" lIns="0" tIns="0" rIns="0" bIns="0" rtlCol="0"/>
          <a:lstStyle/>
          <a:p>
            <a:endParaRPr/>
          </a:p>
        </p:txBody>
      </p:sp>
      <p:sp>
        <p:nvSpPr>
          <p:cNvPr id="69" name="object 14">
            <a:extLst>
              <a:ext uri="{FF2B5EF4-FFF2-40B4-BE49-F238E27FC236}">
                <a16:creationId xmlns:a16="http://schemas.microsoft.com/office/drawing/2014/main" id="{E0FB4C26-A768-5835-4E2E-BB43521BCFC5}"/>
              </a:ext>
            </a:extLst>
          </p:cNvPr>
          <p:cNvSpPr/>
          <p:nvPr/>
        </p:nvSpPr>
        <p:spPr>
          <a:xfrm>
            <a:off x="6476999" y="3524243"/>
            <a:ext cx="5295900" cy="3067050"/>
          </a:xfrm>
          <a:custGeom>
            <a:avLst/>
            <a:gdLst/>
            <a:ahLst/>
            <a:cxnLst/>
            <a:rect l="l" t="t" r="r" b="b"/>
            <a:pathLst>
              <a:path w="5295900" h="3067050">
                <a:moveTo>
                  <a:pt x="5224702" y="3067049"/>
                </a:moveTo>
                <a:lnTo>
                  <a:pt x="71196" y="3067049"/>
                </a:lnTo>
                <a:lnTo>
                  <a:pt x="66240" y="3066561"/>
                </a:lnTo>
                <a:lnTo>
                  <a:pt x="29705" y="3051426"/>
                </a:lnTo>
                <a:lnTo>
                  <a:pt x="3885" y="3015387"/>
                </a:lnTo>
                <a:lnTo>
                  <a:pt x="0" y="2995852"/>
                </a:lnTo>
                <a:lnTo>
                  <a:pt x="0" y="2990849"/>
                </a:lnTo>
                <a:lnTo>
                  <a:pt x="0" y="71196"/>
                </a:lnTo>
                <a:lnTo>
                  <a:pt x="15621" y="29704"/>
                </a:lnTo>
                <a:lnTo>
                  <a:pt x="51661" y="3885"/>
                </a:lnTo>
                <a:lnTo>
                  <a:pt x="71196" y="0"/>
                </a:lnTo>
                <a:lnTo>
                  <a:pt x="5224702" y="0"/>
                </a:lnTo>
                <a:lnTo>
                  <a:pt x="5266192" y="15621"/>
                </a:lnTo>
                <a:lnTo>
                  <a:pt x="5292012" y="51661"/>
                </a:lnTo>
                <a:lnTo>
                  <a:pt x="5295898" y="71196"/>
                </a:lnTo>
                <a:lnTo>
                  <a:pt x="5295898" y="2995852"/>
                </a:lnTo>
                <a:lnTo>
                  <a:pt x="5280276" y="3037344"/>
                </a:lnTo>
                <a:lnTo>
                  <a:pt x="5244236" y="3063163"/>
                </a:lnTo>
                <a:lnTo>
                  <a:pt x="5229657" y="3066561"/>
                </a:lnTo>
                <a:lnTo>
                  <a:pt x="5224702" y="3067049"/>
                </a:lnTo>
                <a:close/>
              </a:path>
            </a:pathLst>
          </a:custGeom>
          <a:solidFill>
            <a:srgbClr val="EFF5FF"/>
          </a:solidFill>
        </p:spPr>
        <p:txBody>
          <a:bodyPr wrap="square" lIns="0" tIns="0" rIns="0" bIns="0" rtlCol="0"/>
          <a:lstStyle/>
          <a:p>
            <a:endParaRPr/>
          </a:p>
        </p:txBody>
      </p:sp>
      <p:pic>
        <p:nvPicPr>
          <p:cNvPr id="70" name="object 15">
            <a:extLst>
              <a:ext uri="{FF2B5EF4-FFF2-40B4-BE49-F238E27FC236}">
                <a16:creationId xmlns:a16="http://schemas.microsoft.com/office/drawing/2014/main" id="{BB76FA52-C0C6-BADE-00E6-C194E2D15FD8}"/>
              </a:ext>
            </a:extLst>
          </p:cNvPr>
          <p:cNvPicPr/>
          <p:nvPr/>
        </p:nvPicPr>
        <p:blipFill>
          <a:blip r:embed="rId5" cstate="print"/>
          <a:stretch>
            <a:fillRect/>
          </a:stretch>
        </p:blipFill>
        <p:spPr>
          <a:xfrm>
            <a:off x="6476999" y="1009644"/>
            <a:ext cx="171449" cy="228599"/>
          </a:xfrm>
          <a:prstGeom prst="rect">
            <a:avLst/>
          </a:prstGeom>
        </p:spPr>
      </p:pic>
      <p:sp>
        <p:nvSpPr>
          <p:cNvPr id="71" name="object 16">
            <a:extLst>
              <a:ext uri="{FF2B5EF4-FFF2-40B4-BE49-F238E27FC236}">
                <a16:creationId xmlns:a16="http://schemas.microsoft.com/office/drawing/2014/main" id="{00A23A07-FBF6-6822-D7B4-C4809A91CA22}"/>
              </a:ext>
            </a:extLst>
          </p:cNvPr>
          <p:cNvSpPr/>
          <p:nvPr/>
        </p:nvSpPr>
        <p:spPr>
          <a:xfrm>
            <a:off x="6476999" y="2190743"/>
            <a:ext cx="3886200" cy="571500"/>
          </a:xfrm>
          <a:custGeom>
            <a:avLst/>
            <a:gdLst/>
            <a:ahLst/>
            <a:cxnLst/>
            <a:rect l="l" t="t" r="r" b="b"/>
            <a:pathLst>
              <a:path w="3886200" h="571500">
                <a:moveTo>
                  <a:pt x="3815002" y="571499"/>
                </a:moveTo>
                <a:lnTo>
                  <a:pt x="71196" y="571499"/>
                </a:lnTo>
                <a:lnTo>
                  <a:pt x="66240" y="571011"/>
                </a:lnTo>
                <a:lnTo>
                  <a:pt x="29705" y="555877"/>
                </a:lnTo>
                <a:lnTo>
                  <a:pt x="3885" y="519837"/>
                </a:lnTo>
                <a:lnTo>
                  <a:pt x="0" y="500303"/>
                </a:lnTo>
                <a:lnTo>
                  <a:pt x="0" y="495299"/>
                </a:lnTo>
                <a:lnTo>
                  <a:pt x="0" y="71196"/>
                </a:lnTo>
                <a:lnTo>
                  <a:pt x="15621" y="29705"/>
                </a:lnTo>
                <a:lnTo>
                  <a:pt x="51661" y="3885"/>
                </a:lnTo>
                <a:lnTo>
                  <a:pt x="71196" y="0"/>
                </a:lnTo>
                <a:lnTo>
                  <a:pt x="3815002" y="0"/>
                </a:lnTo>
                <a:lnTo>
                  <a:pt x="3856492" y="15621"/>
                </a:lnTo>
                <a:lnTo>
                  <a:pt x="3882312" y="51661"/>
                </a:lnTo>
                <a:lnTo>
                  <a:pt x="3886198" y="71196"/>
                </a:lnTo>
                <a:lnTo>
                  <a:pt x="3886198" y="500303"/>
                </a:lnTo>
                <a:lnTo>
                  <a:pt x="3870576" y="541794"/>
                </a:lnTo>
                <a:lnTo>
                  <a:pt x="3834536" y="567613"/>
                </a:lnTo>
                <a:lnTo>
                  <a:pt x="3819957" y="571011"/>
                </a:lnTo>
                <a:lnTo>
                  <a:pt x="3815002" y="571499"/>
                </a:lnTo>
                <a:close/>
              </a:path>
            </a:pathLst>
          </a:custGeom>
          <a:solidFill>
            <a:srgbClr val="F7F7F7"/>
          </a:solidFill>
        </p:spPr>
        <p:txBody>
          <a:bodyPr wrap="square" lIns="0" tIns="0" rIns="0" bIns="0" rtlCol="0"/>
          <a:lstStyle/>
          <a:p>
            <a:endParaRPr/>
          </a:p>
        </p:txBody>
      </p:sp>
      <p:sp>
        <p:nvSpPr>
          <p:cNvPr id="72" name="object 17">
            <a:extLst>
              <a:ext uri="{FF2B5EF4-FFF2-40B4-BE49-F238E27FC236}">
                <a16:creationId xmlns:a16="http://schemas.microsoft.com/office/drawing/2014/main" id="{F71F2577-0181-33AA-EAEF-6A25A128DA78}"/>
              </a:ext>
            </a:extLst>
          </p:cNvPr>
          <p:cNvSpPr/>
          <p:nvPr/>
        </p:nvSpPr>
        <p:spPr>
          <a:xfrm>
            <a:off x="7953362" y="2333631"/>
            <a:ext cx="2266950" cy="285750"/>
          </a:xfrm>
          <a:custGeom>
            <a:avLst/>
            <a:gdLst/>
            <a:ahLst/>
            <a:cxnLst/>
            <a:rect l="l" t="t" r="r" b="b"/>
            <a:pathLst>
              <a:path w="2266950" h="285750">
                <a:moveTo>
                  <a:pt x="952500" y="0"/>
                </a:moveTo>
                <a:lnTo>
                  <a:pt x="38100" y="0"/>
                </a:lnTo>
                <a:lnTo>
                  <a:pt x="38100" y="9525"/>
                </a:lnTo>
                <a:lnTo>
                  <a:pt x="952500" y="9525"/>
                </a:lnTo>
                <a:lnTo>
                  <a:pt x="952500" y="0"/>
                </a:lnTo>
                <a:close/>
              </a:path>
              <a:path w="2266950" h="285750">
                <a:moveTo>
                  <a:pt x="2228850" y="0"/>
                </a:moveTo>
                <a:lnTo>
                  <a:pt x="1238250" y="0"/>
                </a:lnTo>
                <a:lnTo>
                  <a:pt x="1238250" y="9525"/>
                </a:lnTo>
                <a:lnTo>
                  <a:pt x="2228850" y="9525"/>
                </a:lnTo>
                <a:lnTo>
                  <a:pt x="2228850" y="0"/>
                </a:lnTo>
                <a:close/>
              </a:path>
              <a:path w="2266950" h="285750">
                <a:moveTo>
                  <a:pt x="2266950" y="276225"/>
                </a:moveTo>
                <a:lnTo>
                  <a:pt x="0" y="276225"/>
                </a:lnTo>
                <a:lnTo>
                  <a:pt x="0" y="285750"/>
                </a:lnTo>
                <a:lnTo>
                  <a:pt x="2266950" y="285750"/>
                </a:lnTo>
                <a:lnTo>
                  <a:pt x="2266950" y="276225"/>
                </a:lnTo>
                <a:close/>
              </a:path>
            </a:pathLst>
          </a:custGeom>
          <a:solidFill>
            <a:srgbClr val="374050"/>
          </a:solidFill>
        </p:spPr>
        <p:txBody>
          <a:bodyPr wrap="square" lIns="0" tIns="0" rIns="0" bIns="0" rtlCol="0"/>
          <a:lstStyle/>
          <a:p>
            <a:endParaRPr/>
          </a:p>
        </p:txBody>
      </p:sp>
      <p:sp>
        <p:nvSpPr>
          <p:cNvPr id="73" name="object 18">
            <a:extLst>
              <a:ext uri="{FF2B5EF4-FFF2-40B4-BE49-F238E27FC236}">
                <a16:creationId xmlns:a16="http://schemas.microsoft.com/office/drawing/2014/main" id="{9C10AD45-C198-BDE8-09AC-63D35EFCEB8C}"/>
              </a:ext>
            </a:extLst>
          </p:cNvPr>
          <p:cNvSpPr/>
          <p:nvPr/>
        </p:nvSpPr>
        <p:spPr>
          <a:xfrm>
            <a:off x="6629399" y="4133843"/>
            <a:ext cx="866775" cy="552450"/>
          </a:xfrm>
          <a:custGeom>
            <a:avLst/>
            <a:gdLst/>
            <a:ahLst/>
            <a:cxnLst/>
            <a:rect l="l" t="t" r="r" b="b"/>
            <a:pathLst>
              <a:path w="866775" h="552450">
                <a:moveTo>
                  <a:pt x="795578" y="552449"/>
                </a:moveTo>
                <a:lnTo>
                  <a:pt x="71196" y="552449"/>
                </a:lnTo>
                <a:lnTo>
                  <a:pt x="66241" y="551961"/>
                </a:lnTo>
                <a:lnTo>
                  <a:pt x="29705" y="536827"/>
                </a:lnTo>
                <a:lnTo>
                  <a:pt x="3885" y="500787"/>
                </a:lnTo>
                <a:lnTo>
                  <a:pt x="0" y="481253"/>
                </a:lnTo>
                <a:lnTo>
                  <a:pt x="0" y="476249"/>
                </a:lnTo>
                <a:lnTo>
                  <a:pt x="0" y="71196"/>
                </a:lnTo>
                <a:lnTo>
                  <a:pt x="15621" y="29705"/>
                </a:lnTo>
                <a:lnTo>
                  <a:pt x="51661" y="3885"/>
                </a:lnTo>
                <a:lnTo>
                  <a:pt x="71196" y="0"/>
                </a:lnTo>
                <a:lnTo>
                  <a:pt x="795578" y="0"/>
                </a:lnTo>
                <a:lnTo>
                  <a:pt x="837069" y="15621"/>
                </a:lnTo>
                <a:lnTo>
                  <a:pt x="862888" y="51661"/>
                </a:lnTo>
                <a:lnTo>
                  <a:pt x="866774" y="71196"/>
                </a:lnTo>
                <a:lnTo>
                  <a:pt x="866774" y="481253"/>
                </a:lnTo>
                <a:lnTo>
                  <a:pt x="851153" y="522743"/>
                </a:lnTo>
                <a:lnTo>
                  <a:pt x="815112" y="548563"/>
                </a:lnTo>
                <a:lnTo>
                  <a:pt x="800533" y="551961"/>
                </a:lnTo>
                <a:lnTo>
                  <a:pt x="795578" y="552449"/>
                </a:lnTo>
                <a:close/>
              </a:path>
            </a:pathLst>
          </a:custGeom>
          <a:solidFill>
            <a:srgbClr val="F7F7F7"/>
          </a:solidFill>
        </p:spPr>
        <p:txBody>
          <a:bodyPr wrap="square" lIns="0" tIns="0" rIns="0" bIns="0" rtlCol="0"/>
          <a:lstStyle/>
          <a:p>
            <a:endParaRPr/>
          </a:p>
        </p:txBody>
      </p:sp>
      <p:sp>
        <p:nvSpPr>
          <p:cNvPr id="74" name="object 19">
            <a:extLst>
              <a:ext uri="{FF2B5EF4-FFF2-40B4-BE49-F238E27FC236}">
                <a16:creationId xmlns:a16="http://schemas.microsoft.com/office/drawing/2014/main" id="{0FE71C08-D5D0-43BC-CF27-7567186FA6D5}"/>
              </a:ext>
            </a:extLst>
          </p:cNvPr>
          <p:cNvSpPr/>
          <p:nvPr/>
        </p:nvSpPr>
        <p:spPr>
          <a:xfrm>
            <a:off x="6629399" y="5295893"/>
            <a:ext cx="304800" cy="304800"/>
          </a:xfrm>
          <a:custGeom>
            <a:avLst/>
            <a:gdLst/>
            <a:ahLst/>
            <a:cxnLst/>
            <a:rect l="l" t="t" r="r" b="b"/>
            <a:pathLst>
              <a:path w="304800" h="304800">
                <a:moveTo>
                  <a:pt x="152399" y="304799"/>
                </a:moveTo>
                <a:lnTo>
                  <a:pt x="108159" y="298238"/>
                </a:lnTo>
                <a:lnTo>
                  <a:pt x="67730" y="279114"/>
                </a:lnTo>
                <a:lnTo>
                  <a:pt x="34590" y="249082"/>
                </a:lnTo>
                <a:lnTo>
                  <a:pt x="11599" y="210720"/>
                </a:lnTo>
                <a:lnTo>
                  <a:pt x="731" y="167338"/>
                </a:lnTo>
                <a:lnTo>
                  <a:pt x="0" y="152399"/>
                </a:lnTo>
                <a:lnTo>
                  <a:pt x="182" y="144912"/>
                </a:lnTo>
                <a:lnTo>
                  <a:pt x="8903" y="101065"/>
                </a:lnTo>
                <a:lnTo>
                  <a:pt x="29994" y="61606"/>
                </a:lnTo>
                <a:lnTo>
                  <a:pt x="61606" y="29995"/>
                </a:lnTo>
                <a:lnTo>
                  <a:pt x="101065" y="8903"/>
                </a:lnTo>
                <a:lnTo>
                  <a:pt x="144912" y="183"/>
                </a:lnTo>
                <a:lnTo>
                  <a:pt x="152399" y="0"/>
                </a:lnTo>
                <a:lnTo>
                  <a:pt x="159886" y="183"/>
                </a:lnTo>
                <a:lnTo>
                  <a:pt x="203732" y="8903"/>
                </a:lnTo>
                <a:lnTo>
                  <a:pt x="243191" y="29995"/>
                </a:lnTo>
                <a:lnTo>
                  <a:pt x="274803" y="61606"/>
                </a:lnTo>
                <a:lnTo>
                  <a:pt x="295894" y="101065"/>
                </a:lnTo>
                <a:lnTo>
                  <a:pt x="304616" y="144912"/>
                </a:lnTo>
                <a:lnTo>
                  <a:pt x="304799" y="152399"/>
                </a:lnTo>
                <a:lnTo>
                  <a:pt x="304616" y="159887"/>
                </a:lnTo>
                <a:lnTo>
                  <a:pt x="295894" y="203732"/>
                </a:lnTo>
                <a:lnTo>
                  <a:pt x="274803" y="243191"/>
                </a:lnTo>
                <a:lnTo>
                  <a:pt x="243191" y="274803"/>
                </a:lnTo>
                <a:lnTo>
                  <a:pt x="203732" y="295894"/>
                </a:lnTo>
                <a:lnTo>
                  <a:pt x="159886" y="304616"/>
                </a:lnTo>
                <a:lnTo>
                  <a:pt x="152399" y="304799"/>
                </a:lnTo>
                <a:close/>
              </a:path>
            </a:pathLst>
          </a:custGeom>
          <a:solidFill>
            <a:srgbClr val="003366"/>
          </a:solidFill>
        </p:spPr>
        <p:txBody>
          <a:bodyPr wrap="square" lIns="0" tIns="0" rIns="0" bIns="0" rtlCol="0"/>
          <a:lstStyle/>
          <a:p>
            <a:endParaRPr/>
          </a:p>
        </p:txBody>
      </p:sp>
      <p:pic>
        <p:nvPicPr>
          <p:cNvPr id="75" name="object 20">
            <a:extLst>
              <a:ext uri="{FF2B5EF4-FFF2-40B4-BE49-F238E27FC236}">
                <a16:creationId xmlns:a16="http://schemas.microsoft.com/office/drawing/2014/main" id="{E3948615-FD5C-495B-E0E4-90085B1E3DFF}"/>
              </a:ext>
            </a:extLst>
          </p:cNvPr>
          <p:cNvPicPr/>
          <p:nvPr/>
        </p:nvPicPr>
        <p:blipFill>
          <a:blip r:embed="rId6" cstate="print"/>
          <a:stretch>
            <a:fillRect/>
          </a:stretch>
        </p:blipFill>
        <p:spPr>
          <a:xfrm>
            <a:off x="6705599" y="5381619"/>
            <a:ext cx="152399" cy="133349"/>
          </a:xfrm>
          <a:prstGeom prst="rect">
            <a:avLst/>
          </a:prstGeom>
        </p:spPr>
      </p:pic>
      <p:sp>
        <p:nvSpPr>
          <p:cNvPr id="76" name="object 21">
            <a:extLst>
              <a:ext uri="{FF2B5EF4-FFF2-40B4-BE49-F238E27FC236}">
                <a16:creationId xmlns:a16="http://schemas.microsoft.com/office/drawing/2014/main" id="{B559ABAD-D750-E1B3-F643-731F960440F6}"/>
              </a:ext>
            </a:extLst>
          </p:cNvPr>
          <p:cNvSpPr/>
          <p:nvPr/>
        </p:nvSpPr>
        <p:spPr>
          <a:xfrm>
            <a:off x="6629399" y="5676893"/>
            <a:ext cx="304800" cy="304800"/>
          </a:xfrm>
          <a:custGeom>
            <a:avLst/>
            <a:gdLst/>
            <a:ahLst/>
            <a:cxnLst/>
            <a:rect l="l" t="t" r="r" b="b"/>
            <a:pathLst>
              <a:path w="304800" h="304800">
                <a:moveTo>
                  <a:pt x="152399" y="304799"/>
                </a:moveTo>
                <a:lnTo>
                  <a:pt x="108159" y="298238"/>
                </a:lnTo>
                <a:lnTo>
                  <a:pt x="67730" y="279115"/>
                </a:lnTo>
                <a:lnTo>
                  <a:pt x="34590" y="249082"/>
                </a:lnTo>
                <a:lnTo>
                  <a:pt x="11599" y="210720"/>
                </a:lnTo>
                <a:lnTo>
                  <a:pt x="731" y="167338"/>
                </a:lnTo>
                <a:lnTo>
                  <a:pt x="0" y="152399"/>
                </a:lnTo>
                <a:lnTo>
                  <a:pt x="182" y="144912"/>
                </a:lnTo>
                <a:lnTo>
                  <a:pt x="8903" y="101065"/>
                </a:lnTo>
                <a:lnTo>
                  <a:pt x="29994" y="61607"/>
                </a:lnTo>
                <a:lnTo>
                  <a:pt x="61606" y="29995"/>
                </a:lnTo>
                <a:lnTo>
                  <a:pt x="101065" y="8903"/>
                </a:lnTo>
                <a:lnTo>
                  <a:pt x="144912" y="183"/>
                </a:lnTo>
                <a:lnTo>
                  <a:pt x="152399" y="0"/>
                </a:lnTo>
                <a:lnTo>
                  <a:pt x="159886" y="183"/>
                </a:lnTo>
                <a:lnTo>
                  <a:pt x="203732" y="8903"/>
                </a:lnTo>
                <a:lnTo>
                  <a:pt x="243191" y="29995"/>
                </a:lnTo>
                <a:lnTo>
                  <a:pt x="274803" y="61607"/>
                </a:lnTo>
                <a:lnTo>
                  <a:pt x="295894" y="101065"/>
                </a:lnTo>
                <a:lnTo>
                  <a:pt x="304616" y="144912"/>
                </a:lnTo>
                <a:lnTo>
                  <a:pt x="304799" y="152399"/>
                </a:lnTo>
                <a:lnTo>
                  <a:pt x="304616" y="159887"/>
                </a:lnTo>
                <a:lnTo>
                  <a:pt x="295894" y="203733"/>
                </a:lnTo>
                <a:lnTo>
                  <a:pt x="274803" y="243191"/>
                </a:lnTo>
                <a:lnTo>
                  <a:pt x="243191" y="274803"/>
                </a:lnTo>
                <a:lnTo>
                  <a:pt x="203732" y="295894"/>
                </a:lnTo>
                <a:lnTo>
                  <a:pt x="159886" y="304616"/>
                </a:lnTo>
                <a:lnTo>
                  <a:pt x="152399" y="304799"/>
                </a:lnTo>
                <a:close/>
              </a:path>
            </a:pathLst>
          </a:custGeom>
          <a:solidFill>
            <a:srgbClr val="003366"/>
          </a:solidFill>
        </p:spPr>
        <p:txBody>
          <a:bodyPr wrap="square" lIns="0" tIns="0" rIns="0" bIns="0" rtlCol="0"/>
          <a:lstStyle/>
          <a:p>
            <a:endParaRPr/>
          </a:p>
        </p:txBody>
      </p:sp>
      <p:pic>
        <p:nvPicPr>
          <p:cNvPr id="77" name="object 22">
            <a:extLst>
              <a:ext uri="{FF2B5EF4-FFF2-40B4-BE49-F238E27FC236}">
                <a16:creationId xmlns:a16="http://schemas.microsoft.com/office/drawing/2014/main" id="{6F80287F-E5BA-A9CB-18F1-EC7F53AE591C}"/>
              </a:ext>
            </a:extLst>
          </p:cNvPr>
          <p:cNvPicPr/>
          <p:nvPr/>
        </p:nvPicPr>
        <p:blipFill>
          <a:blip r:embed="rId7" cstate="print"/>
          <a:stretch>
            <a:fillRect/>
          </a:stretch>
        </p:blipFill>
        <p:spPr>
          <a:xfrm>
            <a:off x="6715124" y="5753094"/>
            <a:ext cx="133349" cy="152399"/>
          </a:xfrm>
          <a:prstGeom prst="rect">
            <a:avLst/>
          </a:prstGeom>
        </p:spPr>
      </p:pic>
      <p:sp>
        <p:nvSpPr>
          <p:cNvPr id="78" name="object 23">
            <a:extLst>
              <a:ext uri="{FF2B5EF4-FFF2-40B4-BE49-F238E27FC236}">
                <a16:creationId xmlns:a16="http://schemas.microsoft.com/office/drawing/2014/main" id="{7E674F4F-EF57-C2A8-3179-D13963DB342E}"/>
              </a:ext>
            </a:extLst>
          </p:cNvPr>
          <p:cNvSpPr/>
          <p:nvPr/>
        </p:nvSpPr>
        <p:spPr>
          <a:xfrm>
            <a:off x="6629399" y="6057893"/>
            <a:ext cx="304800" cy="304800"/>
          </a:xfrm>
          <a:custGeom>
            <a:avLst/>
            <a:gdLst/>
            <a:ahLst/>
            <a:cxnLst/>
            <a:rect l="l" t="t" r="r" b="b"/>
            <a:pathLst>
              <a:path w="304800" h="304800">
                <a:moveTo>
                  <a:pt x="152399" y="304799"/>
                </a:moveTo>
                <a:lnTo>
                  <a:pt x="108159" y="298238"/>
                </a:lnTo>
                <a:lnTo>
                  <a:pt x="67730" y="279115"/>
                </a:lnTo>
                <a:lnTo>
                  <a:pt x="34590" y="249082"/>
                </a:lnTo>
                <a:lnTo>
                  <a:pt x="11599" y="210720"/>
                </a:lnTo>
                <a:lnTo>
                  <a:pt x="731" y="167338"/>
                </a:lnTo>
                <a:lnTo>
                  <a:pt x="0" y="152399"/>
                </a:lnTo>
                <a:lnTo>
                  <a:pt x="182" y="144912"/>
                </a:lnTo>
                <a:lnTo>
                  <a:pt x="8903" y="101065"/>
                </a:lnTo>
                <a:lnTo>
                  <a:pt x="29994" y="61607"/>
                </a:lnTo>
                <a:lnTo>
                  <a:pt x="61606" y="29995"/>
                </a:lnTo>
                <a:lnTo>
                  <a:pt x="101065" y="8904"/>
                </a:lnTo>
                <a:lnTo>
                  <a:pt x="144912" y="183"/>
                </a:lnTo>
                <a:lnTo>
                  <a:pt x="152399" y="0"/>
                </a:lnTo>
                <a:lnTo>
                  <a:pt x="159886" y="183"/>
                </a:lnTo>
                <a:lnTo>
                  <a:pt x="203732" y="8904"/>
                </a:lnTo>
                <a:lnTo>
                  <a:pt x="243191" y="29995"/>
                </a:lnTo>
                <a:lnTo>
                  <a:pt x="274803" y="61607"/>
                </a:lnTo>
                <a:lnTo>
                  <a:pt x="295894" y="101065"/>
                </a:lnTo>
                <a:lnTo>
                  <a:pt x="304616" y="144912"/>
                </a:lnTo>
                <a:lnTo>
                  <a:pt x="304799" y="152399"/>
                </a:lnTo>
                <a:lnTo>
                  <a:pt x="304616" y="159887"/>
                </a:lnTo>
                <a:lnTo>
                  <a:pt x="295894" y="203733"/>
                </a:lnTo>
                <a:lnTo>
                  <a:pt x="274803" y="243192"/>
                </a:lnTo>
                <a:lnTo>
                  <a:pt x="243191" y="274803"/>
                </a:lnTo>
                <a:lnTo>
                  <a:pt x="203732" y="295894"/>
                </a:lnTo>
                <a:lnTo>
                  <a:pt x="159886" y="304616"/>
                </a:lnTo>
                <a:lnTo>
                  <a:pt x="152399" y="304799"/>
                </a:lnTo>
                <a:close/>
              </a:path>
            </a:pathLst>
          </a:custGeom>
          <a:solidFill>
            <a:srgbClr val="003366"/>
          </a:solidFill>
        </p:spPr>
        <p:txBody>
          <a:bodyPr wrap="square" lIns="0" tIns="0" rIns="0" bIns="0" rtlCol="0"/>
          <a:lstStyle/>
          <a:p>
            <a:endParaRPr/>
          </a:p>
        </p:txBody>
      </p:sp>
      <p:pic>
        <p:nvPicPr>
          <p:cNvPr id="79" name="object 24">
            <a:extLst>
              <a:ext uri="{FF2B5EF4-FFF2-40B4-BE49-F238E27FC236}">
                <a16:creationId xmlns:a16="http://schemas.microsoft.com/office/drawing/2014/main" id="{CD442059-EE2C-3944-2A5D-A111C213BC84}"/>
              </a:ext>
            </a:extLst>
          </p:cNvPr>
          <p:cNvPicPr/>
          <p:nvPr/>
        </p:nvPicPr>
        <p:blipFill>
          <a:blip r:embed="rId8" cstate="print"/>
          <a:stretch>
            <a:fillRect/>
          </a:stretch>
        </p:blipFill>
        <p:spPr>
          <a:xfrm>
            <a:off x="6705599" y="6134094"/>
            <a:ext cx="152399" cy="152399"/>
          </a:xfrm>
          <a:prstGeom prst="rect">
            <a:avLst/>
          </a:prstGeom>
        </p:spPr>
      </p:pic>
      <p:sp>
        <p:nvSpPr>
          <p:cNvPr id="80" name="object 25">
            <a:extLst>
              <a:ext uri="{FF2B5EF4-FFF2-40B4-BE49-F238E27FC236}">
                <a16:creationId xmlns:a16="http://schemas.microsoft.com/office/drawing/2014/main" id="{0055FB80-5067-6ED0-C832-607A9E63406E}"/>
              </a:ext>
            </a:extLst>
          </p:cNvPr>
          <p:cNvSpPr txBox="1"/>
          <p:nvPr/>
        </p:nvSpPr>
        <p:spPr>
          <a:xfrm>
            <a:off x="6261099" y="924687"/>
            <a:ext cx="5727700" cy="5376545"/>
          </a:xfrm>
          <a:prstGeom prst="rect">
            <a:avLst/>
          </a:prstGeom>
        </p:spPr>
        <p:txBody>
          <a:bodyPr vert="horz" wrap="square" lIns="0" tIns="14604" rIns="0" bIns="0" rtlCol="0">
            <a:spAutoFit/>
          </a:bodyPr>
          <a:lstStyle/>
          <a:p>
            <a:pPr marL="501650">
              <a:lnSpc>
                <a:spcPct val="100000"/>
              </a:lnSpc>
              <a:spcBef>
                <a:spcPts val="114"/>
              </a:spcBef>
            </a:pPr>
            <a:r>
              <a:rPr sz="1950" spc="-165" dirty="0">
                <a:solidFill>
                  <a:srgbClr val="003366"/>
                </a:solidFill>
                <a:latin typeface="PMingLiU"/>
                <a:cs typeface="PMingLiU"/>
              </a:rPr>
              <a:t>吸</a:t>
            </a:r>
            <a:r>
              <a:rPr sz="2000" spc="-200" dirty="0">
                <a:solidFill>
                  <a:srgbClr val="003366"/>
                </a:solidFill>
                <a:latin typeface="SimSun"/>
                <a:cs typeface="SimSun"/>
              </a:rPr>
              <a:t>光</a:t>
            </a:r>
            <a:r>
              <a:rPr sz="2050" spc="-270" dirty="0">
                <a:solidFill>
                  <a:srgbClr val="003366"/>
                </a:solidFill>
                <a:latin typeface="SimSun"/>
                <a:cs typeface="SimSun"/>
              </a:rPr>
              <a:t>度</a:t>
            </a:r>
            <a:r>
              <a:rPr sz="1700" spc="165" dirty="0">
                <a:solidFill>
                  <a:srgbClr val="003366"/>
                </a:solidFill>
                <a:latin typeface="PMingLiU"/>
                <a:cs typeface="PMingLiU"/>
              </a:rPr>
              <a:t>の</a:t>
            </a:r>
            <a:r>
              <a:rPr sz="2000" spc="-125" dirty="0">
                <a:solidFill>
                  <a:srgbClr val="003366"/>
                </a:solidFill>
                <a:latin typeface="SimSun"/>
                <a:cs typeface="SimSun"/>
              </a:rPr>
              <a:t>計算</a:t>
            </a:r>
            <a:endParaRPr sz="2000" dirty="0">
              <a:latin typeface="SimSun"/>
              <a:cs typeface="SimSun"/>
            </a:endParaRPr>
          </a:p>
          <a:p>
            <a:pPr marL="215900" marR="401320">
              <a:lnSpc>
                <a:spcPct val="129600"/>
              </a:lnSpc>
              <a:spcBef>
                <a:spcPts val="765"/>
              </a:spcBef>
            </a:pPr>
            <a:r>
              <a:rPr sz="1350" spc="-15" dirty="0">
                <a:solidFill>
                  <a:srgbClr val="374050"/>
                </a:solidFill>
                <a:latin typeface="PMingLiU"/>
                <a:cs typeface="PMingLiU"/>
              </a:rPr>
              <a:t>試料のない場合</a:t>
            </a:r>
            <a:r>
              <a:rPr sz="1350" dirty="0">
                <a:solidFill>
                  <a:srgbClr val="374050"/>
                </a:solidFill>
                <a:latin typeface="PMingLiU"/>
                <a:cs typeface="PMingLiU"/>
              </a:rPr>
              <a:t>（基準光）</a:t>
            </a:r>
            <a:r>
              <a:rPr sz="1350" spc="-35" dirty="0">
                <a:solidFill>
                  <a:srgbClr val="374050"/>
                </a:solidFill>
                <a:latin typeface="PMingLiU"/>
                <a:cs typeface="PMingLiU"/>
              </a:rPr>
              <a:t>を</a:t>
            </a:r>
            <a:r>
              <a:rPr sz="1350" spc="-10" dirty="0">
                <a:solidFill>
                  <a:srgbClr val="374050"/>
                </a:solidFill>
                <a:latin typeface="Arial"/>
                <a:cs typeface="Arial"/>
              </a:rPr>
              <a:t>I</a:t>
            </a:r>
            <a:r>
              <a:rPr sz="1500" spc="-15" baseline="-13888" dirty="0">
                <a:solidFill>
                  <a:srgbClr val="374050"/>
                </a:solidFill>
                <a:latin typeface="Arial"/>
                <a:cs typeface="Arial"/>
              </a:rPr>
              <a:t>ref</a:t>
            </a:r>
            <a:r>
              <a:rPr sz="1350" spc="-10" dirty="0">
                <a:solidFill>
                  <a:srgbClr val="374050"/>
                </a:solidFill>
                <a:latin typeface="Arial"/>
                <a:cs typeface="Arial"/>
              </a:rPr>
              <a:t>(t)</a:t>
            </a:r>
            <a:r>
              <a:rPr sz="1350" spc="-20" dirty="0">
                <a:solidFill>
                  <a:srgbClr val="374050"/>
                </a:solidFill>
                <a:latin typeface="PMingLiU"/>
                <a:cs typeface="PMingLiU"/>
              </a:rPr>
              <a:t>，試料のある場合を</a:t>
            </a:r>
            <a:r>
              <a:rPr sz="1350" dirty="0">
                <a:solidFill>
                  <a:srgbClr val="374050"/>
                </a:solidFill>
                <a:latin typeface="Arial"/>
                <a:cs typeface="Arial"/>
              </a:rPr>
              <a:t>I</a:t>
            </a:r>
            <a:r>
              <a:rPr sz="1500" baseline="-13888" dirty="0">
                <a:solidFill>
                  <a:srgbClr val="374050"/>
                </a:solidFill>
                <a:latin typeface="Arial"/>
                <a:cs typeface="Arial"/>
              </a:rPr>
              <a:t>sam</a:t>
            </a:r>
            <a:r>
              <a:rPr sz="1350" dirty="0">
                <a:solidFill>
                  <a:srgbClr val="374050"/>
                </a:solidFill>
                <a:latin typeface="Arial"/>
                <a:cs typeface="Arial"/>
              </a:rPr>
              <a:t>(t)</a:t>
            </a:r>
            <a:r>
              <a:rPr sz="1350" spc="-25" dirty="0">
                <a:solidFill>
                  <a:srgbClr val="374050"/>
                </a:solidFill>
                <a:latin typeface="PMingLiU"/>
                <a:cs typeface="PMingLiU"/>
              </a:rPr>
              <a:t>とする</a:t>
            </a:r>
            <a:r>
              <a:rPr sz="1350" spc="-5" dirty="0">
                <a:solidFill>
                  <a:srgbClr val="374050"/>
                </a:solidFill>
                <a:latin typeface="PMingLiU"/>
                <a:cs typeface="PMingLiU"/>
              </a:rPr>
              <a:t>と，透過率</a:t>
            </a:r>
            <a:r>
              <a:rPr sz="1350" spc="-10" dirty="0">
                <a:solidFill>
                  <a:srgbClr val="374050"/>
                </a:solidFill>
                <a:latin typeface="Arial"/>
                <a:cs typeface="Arial"/>
              </a:rPr>
              <a:t>T</a:t>
            </a:r>
            <a:r>
              <a:rPr sz="1350" spc="-10" dirty="0">
                <a:solidFill>
                  <a:srgbClr val="374050"/>
                </a:solidFill>
                <a:latin typeface="PMingLiU"/>
                <a:cs typeface="PMingLiU"/>
              </a:rPr>
              <a:t>から吸光度</a:t>
            </a:r>
            <a:r>
              <a:rPr sz="1350" dirty="0">
                <a:solidFill>
                  <a:srgbClr val="374050"/>
                </a:solidFill>
                <a:latin typeface="Arial"/>
                <a:cs typeface="Arial"/>
              </a:rPr>
              <a:t>A</a:t>
            </a:r>
            <a:r>
              <a:rPr sz="1350" spc="-30" dirty="0">
                <a:solidFill>
                  <a:srgbClr val="374050"/>
                </a:solidFill>
                <a:latin typeface="PMingLiU"/>
                <a:cs typeface="PMingLiU"/>
              </a:rPr>
              <a:t>は以下の式で表すことができます。</a:t>
            </a:r>
            <a:endParaRPr sz="1350" dirty="0">
              <a:latin typeface="PMingLiU"/>
              <a:cs typeface="PMingLiU"/>
            </a:endParaRPr>
          </a:p>
          <a:p>
            <a:pPr>
              <a:lnSpc>
                <a:spcPct val="100000"/>
              </a:lnSpc>
              <a:spcBef>
                <a:spcPts val="1814"/>
              </a:spcBef>
            </a:pPr>
            <a:endParaRPr sz="1350" dirty="0">
              <a:latin typeface="PMingLiU"/>
              <a:cs typeface="PMingLiU"/>
            </a:endParaRPr>
          </a:p>
          <a:p>
            <a:pPr marL="358775">
              <a:lnSpc>
                <a:spcPct val="100000"/>
              </a:lnSpc>
            </a:pPr>
            <a:r>
              <a:rPr sz="1500" spc="-20" dirty="0">
                <a:latin typeface="Times New Roman"/>
                <a:cs typeface="Times New Roman"/>
              </a:rPr>
              <a:t>A</a:t>
            </a:r>
            <a:r>
              <a:rPr sz="1500" spc="-85" dirty="0">
                <a:latin typeface="Times New Roman"/>
                <a:cs typeface="Times New Roman"/>
              </a:rPr>
              <a:t> </a:t>
            </a:r>
            <a:r>
              <a:rPr sz="1500" dirty="0">
                <a:latin typeface="Times New Roman"/>
                <a:cs typeface="Times New Roman"/>
              </a:rPr>
              <a:t>=</a:t>
            </a:r>
            <a:r>
              <a:rPr sz="1500" spc="10" dirty="0">
                <a:latin typeface="Times New Roman"/>
                <a:cs typeface="Times New Roman"/>
              </a:rPr>
              <a:t> </a:t>
            </a:r>
            <a:r>
              <a:rPr sz="1500" dirty="0">
                <a:latin typeface="Times New Roman"/>
                <a:cs typeface="Times New Roman"/>
              </a:rPr>
              <a:t>-</a:t>
            </a:r>
            <a:r>
              <a:rPr sz="1500" spc="5" dirty="0">
                <a:latin typeface="Times New Roman"/>
                <a:cs typeface="Times New Roman"/>
              </a:rPr>
              <a:t> </a:t>
            </a:r>
            <a:r>
              <a:rPr sz="1500" dirty="0">
                <a:latin typeface="Times New Roman"/>
                <a:cs typeface="Times New Roman"/>
              </a:rPr>
              <a:t>log</a:t>
            </a:r>
            <a:r>
              <a:rPr sz="1500" spc="-25" dirty="0">
                <a:latin typeface="Times New Roman"/>
                <a:cs typeface="Times New Roman"/>
              </a:rPr>
              <a:t> </a:t>
            </a:r>
            <a:r>
              <a:rPr sz="1500" dirty="0">
                <a:latin typeface="Times New Roman"/>
                <a:cs typeface="Times New Roman"/>
              </a:rPr>
              <a:t>T</a:t>
            </a:r>
            <a:r>
              <a:rPr sz="1500" spc="-25" dirty="0">
                <a:latin typeface="Times New Roman"/>
                <a:cs typeface="Times New Roman"/>
              </a:rPr>
              <a:t> </a:t>
            </a:r>
            <a:r>
              <a:rPr sz="1500" dirty="0">
                <a:latin typeface="Times New Roman"/>
                <a:cs typeface="Times New Roman"/>
              </a:rPr>
              <a:t>=</a:t>
            </a:r>
            <a:r>
              <a:rPr sz="1500" spc="5" dirty="0">
                <a:latin typeface="Times New Roman"/>
                <a:cs typeface="Times New Roman"/>
              </a:rPr>
              <a:t> </a:t>
            </a:r>
            <a:r>
              <a:rPr sz="1500" dirty="0">
                <a:latin typeface="Times New Roman"/>
                <a:cs typeface="Times New Roman"/>
              </a:rPr>
              <a:t>log</a:t>
            </a:r>
            <a:r>
              <a:rPr sz="1500" spc="315" dirty="0">
                <a:latin typeface="Times New Roman"/>
                <a:cs typeface="Times New Roman"/>
              </a:rPr>
              <a:t> </a:t>
            </a:r>
            <a:r>
              <a:rPr sz="1500" dirty="0">
                <a:latin typeface="Times New Roman"/>
                <a:cs typeface="Times New Roman"/>
              </a:rPr>
              <a:t>∫I</a:t>
            </a:r>
            <a:r>
              <a:rPr sz="1650" baseline="-15151" dirty="0">
                <a:latin typeface="Times New Roman"/>
                <a:cs typeface="Times New Roman"/>
              </a:rPr>
              <a:t>ref</a:t>
            </a:r>
            <a:r>
              <a:rPr sz="1500" dirty="0">
                <a:latin typeface="Times New Roman"/>
                <a:cs typeface="Times New Roman"/>
              </a:rPr>
              <a:t>(t)e</a:t>
            </a:r>
            <a:r>
              <a:rPr sz="1650" baseline="25252" dirty="0">
                <a:latin typeface="Times New Roman"/>
                <a:cs typeface="Times New Roman"/>
              </a:rPr>
              <a:t>-jwt</a:t>
            </a:r>
            <a:r>
              <a:rPr sz="1500" dirty="0">
                <a:latin typeface="Times New Roman"/>
                <a:cs typeface="Times New Roman"/>
              </a:rPr>
              <a:t>dt</a:t>
            </a:r>
            <a:r>
              <a:rPr sz="1500" spc="80" dirty="0">
                <a:latin typeface="Times New Roman"/>
                <a:cs typeface="Times New Roman"/>
              </a:rPr>
              <a:t>  </a:t>
            </a:r>
            <a:r>
              <a:rPr sz="1500" b="1" dirty="0">
                <a:latin typeface="Times New Roman"/>
                <a:cs typeface="Times New Roman"/>
              </a:rPr>
              <a:t>/</a:t>
            </a:r>
            <a:r>
              <a:rPr sz="1500" b="1" spc="85" dirty="0">
                <a:latin typeface="Times New Roman"/>
                <a:cs typeface="Times New Roman"/>
              </a:rPr>
              <a:t>  </a:t>
            </a:r>
            <a:r>
              <a:rPr sz="1500" dirty="0">
                <a:latin typeface="Times New Roman"/>
                <a:cs typeface="Times New Roman"/>
              </a:rPr>
              <a:t>∫I</a:t>
            </a:r>
            <a:r>
              <a:rPr sz="1650" baseline="-15151" dirty="0">
                <a:latin typeface="Times New Roman"/>
                <a:cs typeface="Times New Roman"/>
              </a:rPr>
              <a:t>sam</a:t>
            </a:r>
            <a:r>
              <a:rPr sz="1500" dirty="0">
                <a:latin typeface="Times New Roman"/>
                <a:cs typeface="Times New Roman"/>
              </a:rPr>
              <a:t>(t)e</a:t>
            </a:r>
            <a:r>
              <a:rPr sz="1650" baseline="25252" dirty="0">
                <a:latin typeface="Times New Roman"/>
                <a:cs typeface="Times New Roman"/>
              </a:rPr>
              <a:t>-</a:t>
            </a:r>
            <a:r>
              <a:rPr sz="1650" spc="-30" baseline="25252" dirty="0">
                <a:latin typeface="Times New Roman"/>
                <a:cs typeface="Times New Roman"/>
              </a:rPr>
              <a:t>jwt</a:t>
            </a:r>
            <a:r>
              <a:rPr sz="1500" spc="-20" dirty="0">
                <a:latin typeface="Times New Roman"/>
                <a:cs typeface="Times New Roman"/>
              </a:rPr>
              <a:t>dt</a:t>
            </a:r>
            <a:endParaRPr sz="1500" dirty="0">
              <a:latin typeface="Times New Roman"/>
              <a:cs typeface="Times New Roman"/>
            </a:endParaRPr>
          </a:p>
          <a:p>
            <a:pPr>
              <a:lnSpc>
                <a:spcPct val="100000"/>
              </a:lnSpc>
            </a:pPr>
            <a:endParaRPr sz="1500" dirty="0">
              <a:latin typeface="Times New Roman"/>
              <a:cs typeface="Times New Roman"/>
            </a:endParaRPr>
          </a:p>
          <a:p>
            <a:pPr>
              <a:lnSpc>
                <a:spcPct val="100000"/>
              </a:lnSpc>
              <a:spcBef>
                <a:spcPts val="825"/>
              </a:spcBef>
            </a:pPr>
            <a:endParaRPr sz="1500" dirty="0">
              <a:latin typeface="Times New Roman"/>
              <a:cs typeface="Times New Roman"/>
            </a:endParaRPr>
          </a:p>
          <a:p>
            <a:pPr marL="215900">
              <a:lnSpc>
                <a:spcPct val="100000"/>
              </a:lnSpc>
            </a:pPr>
            <a:r>
              <a:rPr sz="1350" spc="-10" dirty="0">
                <a:solidFill>
                  <a:srgbClr val="374050"/>
                </a:solidFill>
                <a:latin typeface="PMingLiU"/>
                <a:cs typeface="PMingLiU"/>
              </a:rPr>
              <a:t>ここで，</a:t>
            </a:r>
            <a:r>
              <a:rPr sz="1350" spc="-10" dirty="0">
                <a:solidFill>
                  <a:srgbClr val="374050"/>
                </a:solidFill>
                <a:latin typeface="Arial"/>
                <a:cs typeface="Arial"/>
              </a:rPr>
              <a:t>j</a:t>
            </a:r>
            <a:r>
              <a:rPr sz="1350" spc="-5" dirty="0">
                <a:solidFill>
                  <a:srgbClr val="374050"/>
                </a:solidFill>
                <a:latin typeface="PMingLiU"/>
                <a:cs typeface="PMingLiU"/>
              </a:rPr>
              <a:t>は虚数単位，</a:t>
            </a:r>
            <a:r>
              <a:rPr sz="1350" dirty="0">
                <a:solidFill>
                  <a:srgbClr val="374050"/>
                </a:solidFill>
                <a:latin typeface="Arial"/>
                <a:cs typeface="Arial"/>
              </a:rPr>
              <a:t>ω</a:t>
            </a:r>
            <a:r>
              <a:rPr sz="1350" spc="-5" dirty="0">
                <a:solidFill>
                  <a:srgbClr val="374050"/>
                </a:solidFill>
                <a:latin typeface="PMingLiU"/>
                <a:cs typeface="PMingLiU"/>
              </a:rPr>
              <a:t>は角周波数，</a:t>
            </a:r>
            <a:r>
              <a:rPr sz="1350" dirty="0">
                <a:solidFill>
                  <a:srgbClr val="374050"/>
                </a:solidFill>
                <a:latin typeface="Arial"/>
                <a:cs typeface="Arial"/>
              </a:rPr>
              <a:t>t</a:t>
            </a:r>
            <a:r>
              <a:rPr sz="1350" spc="-25" dirty="0">
                <a:solidFill>
                  <a:srgbClr val="374050"/>
                </a:solidFill>
                <a:latin typeface="PMingLiU"/>
                <a:cs typeface="PMingLiU"/>
              </a:rPr>
              <a:t>は時間です。</a:t>
            </a:r>
            <a:endParaRPr sz="1350" dirty="0">
              <a:latin typeface="PMingLiU"/>
              <a:cs typeface="PMingLiU"/>
            </a:endParaRPr>
          </a:p>
          <a:p>
            <a:pPr>
              <a:lnSpc>
                <a:spcPct val="100000"/>
              </a:lnSpc>
              <a:spcBef>
                <a:spcPts val="715"/>
              </a:spcBef>
            </a:pPr>
            <a:endParaRPr sz="1350" dirty="0">
              <a:latin typeface="PMingLiU"/>
              <a:cs typeface="PMingLiU"/>
            </a:endParaRPr>
          </a:p>
          <a:p>
            <a:pPr marL="368300">
              <a:lnSpc>
                <a:spcPct val="100000"/>
              </a:lnSpc>
            </a:pPr>
            <a:r>
              <a:rPr sz="1600" spc="-120" dirty="0">
                <a:solidFill>
                  <a:srgbClr val="003366"/>
                </a:solidFill>
                <a:latin typeface="PMingLiU"/>
                <a:cs typeface="PMingLiU"/>
              </a:rPr>
              <a:t>吸</a:t>
            </a:r>
            <a:r>
              <a:rPr sz="1650" spc="-165" dirty="0">
                <a:solidFill>
                  <a:srgbClr val="003366"/>
                </a:solidFill>
                <a:latin typeface="SimSun"/>
                <a:cs typeface="SimSun"/>
              </a:rPr>
              <a:t>光</a:t>
            </a:r>
            <a:r>
              <a:rPr sz="1700" spc="-210" dirty="0">
                <a:solidFill>
                  <a:srgbClr val="003366"/>
                </a:solidFill>
                <a:latin typeface="SimSun"/>
                <a:cs typeface="SimSun"/>
              </a:rPr>
              <a:t>度</a:t>
            </a:r>
            <a:r>
              <a:rPr sz="1400" spc="85" dirty="0">
                <a:solidFill>
                  <a:srgbClr val="003366"/>
                </a:solidFill>
                <a:latin typeface="PMingLiU"/>
                <a:cs typeface="PMingLiU"/>
              </a:rPr>
              <a:t>の</a:t>
            </a:r>
            <a:r>
              <a:rPr sz="1600" spc="-120" dirty="0">
                <a:solidFill>
                  <a:srgbClr val="003366"/>
                </a:solidFill>
                <a:latin typeface="PMingLiU"/>
                <a:cs typeface="PMingLiU"/>
              </a:rPr>
              <a:t>最</a:t>
            </a:r>
            <a:r>
              <a:rPr sz="1650" spc="-110" dirty="0">
                <a:solidFill>
                  <a:srgbClr val="003366"/>
                </a:solidFill>
                <a:latin typeface="SimSun"/>
                <a:cs typeface="SimSun"/>
              </a:rPr>
              <a:t>終式</a:t>
            </a:r>
            <a:endParaRPr sz="1650" dirty="0">
              <a:latin typeface="SimSun"/>
              <a:cs typeface="SimSun"/>
            </a:endParaRPr>
          </a:p>
          <a:p>
            <a:pPr>
              <a:lnSpc>
                <a:spcPct val="100000"/>
              </a:lnSpc>
              <a:spcBef>
                <a:spcPts val="965"/>
              </a:spcBef>
            </a:pPr>
            <a:endParaRPr sz="1500" dirty="0">
              <a:latin typeface="SimSun"/>
              <a:cs typeface="SimSun"/>
            </a:endParaRPr>
          </a:p>
          <a:p>
            <a:pPr marL="511175">
              <a:lnSpc>
                <a:spcPct val="100000"/>
              </a:lnSpc>
            </a:pPr>
            <a:r>
              <a:rPr sz="1500" spc="-20" dirty="0">
                <a:latin typeface="Times New Roman"/>
                <a:cs typeface="Times New Roman"/>
              </a:rPr>
              <a:t>A</a:t>
            </a:r>
            <a:r>
              <a:rPr sz="1500" spc="-85" dirty="0">
                <a:latin typeface="Times New Roman"/>
                <a:cs typeface="Times New Roman"/>
              </a:rPr>
              <a:t> </a:t>
            </a:r>
            <a:r>
              <a:rPr sz="1500" dirty="0">
                <a:latin typeface="Times New Roman"/>
                <a:cs typeface="Times New Roman"/>
              </a:rPr>
              <a:t>= </a:t>
            </a:r>
            <a:r>
              <a:rPr sz="1500" spc="-25" dirty="0">
                <a:latin typeface="Times New Roman"/>
                <a:cs typeface="Times New Roman"/>
              </a:rPr>
              <a:t>εcℓ</a:t>
            </a:r>
            <a:endParaRPr sz="1500" dirty="0">
              <a:latin typeface="Times New Roman"/>
              <a:cs typeface="Times New Roman"/>
            </a:endParaRPr>
          </a:p>
          <a:p>
            <a:pPr>
              <a:lnSpc>
                <a:spcPct val="100000"/>
              </a:lnSpc>
            </a:pPr>
            <a:endParaRPr sz="1500" dirty="0">
              <a:latin typeface="Times New Roman"/>
              <a:cs typeface="Times New Roman"/>
            </a:endParaRPr>
          </a:p>
          <a:p>
            <a:pPr>
              <a:lnSpc>
                <a:spcPct val="100000"/>
              </a:lnSpc>
            </a:pPr>
            <a:endParaRPr sz="1500" dirty="0">
              <a:latin typeface="Times New Roman"/>
              <a:cs typeface="Times New Roman"/>
            </a:endParaRPr>
          </a:p>
          <a:p>
            <a:pPr marL="368300">
              <a:lnSpc>
                <a:spcPct val="100000"/>
              </a:lnSpc>
            </a:pPr>
            <a:r>
              <a:rPr sz="1450" spc="-110" dirty="0">
                <a:solidFill>
                  <a:srgbClr val="374050"/>
                </a:solidFill>
                <a:latin typeface="PMingLiU"/>
                <a:cs typeface="PMingLiU"/>
              </a:rPr>
              <a:t>各</a:t>
            </a:r>
            <a:r>
              <a:rPr sz="1400" spc="-70" dirty="0">
                <a:solidFill>
                  <a:srgbClr val="374050"/>
                </a:solidFill>
                <a:latin typeface="PMingLiU"/>
                <a:cs typeface="PMingLiU"/>
              </a:rPr>
              <a:t>パラメータの</a:t>
            </a:r>
            <a:r>
              <a:rPr sz="1500" spc="-150" dirty="0">
                <a:solidFill>
                  <a:srgbClr val="374050"/>
                </a:solidFill>
                <a:latin typeface="SimSun"/>
                <a:cs typeface="SimSun"/>
              </a:rPr>
              <a:t>意味</a:t>
            </a:r>
            <a:r>
              <a:rPr sz="1300" spc="-50" dirty="0">
                <a:solidFill>
                  <a:srgbClr val="374050"/>
                </a:solidFill>
                <a:latin typeface="PMingLiU"/>
                <a:cs typeface="PMingLiU"/>
              </a:rPr>
              <a:t>：</a:t>
            </a:r>
            <a:endParaRPr sz="1300" dirty="0">
              <a:latin typeface="PMingLiU"/>
              <a:cs typeface="PMingLiU"/>
            </a:endParaRPr>
          </a:p>
          <a:p>
            <a:pPr marL="768350" marR="3067050">
              <a:lnSpc>
                <a:spcPts val="3000"/>
              </a:lnSpc>
            </a:pPr>
            <a:r>
              <a:rPr sz="1200" b="1" dirty="0">
                <a:latin typeface="Arial"/>
                <a:cs typeface="Arial"/>
              </a:rPr>
              <a:t>ε</a:t>
            </a:r>
            <a:r>
              <a:rPr sz="1200" spc="-10" dirty="0">
                <a:latin typeface="PMingLiU"/>
                <a:cs typeface="PMingLiU"/>
              </a:rPr>
              <a:t>：モル吸光係数 </a:t>
            </a:r>
            <a:r>
              <a:rPr sz="1200" spc="-10" dirty="0">
                <a:latin typeface="Arial"/>
                <a:cs typeface="Arial"/>
              </a:rPr>
              <a:t>[L/mol/cm] </a:t>
            </a:r>
            <a:r>
              <a:rPr sz="1200" b="1" dirty="0">
                <a:latin typeface="Arial"/>
                <a:cs typeface="Arial"/>
              </a:rPr>
              <a:t>c</a:t>
            </a:r>
            <a:r>
              <a:rPr sz="1200" spc="-10" dirty="0">
                <a:latin typeface="PMingLiU"/>
                <a:cs typeface="PMingLiU"/>
              </a:rPr>
              <a:t>：モル濃度 </a:t>
            </a:r>
            <a:r>
              <a:rPr sz="1200" spc="-10" dirty="0">
                <a:latin typeface="Arial"/>
                <a:cs typeface="Arial"/>
              </a:rPr>
              <a:t>[mol/L]</a:t>
            </a:r>
            <a:r>
              <a:rPr sz="1200" spc="500" dirty="0">
                <a:latin typeface="Arial"/>
                <a:cs typeface="Arial"/>
              </a:rPr>
              <a:t>    </a:t>
            </a:r>
            <a:endParaRPr lang="en-US" sz="1200" spc="500" dirty="0">
              <a:latin typeface="Arial"/>
              <a:cs typeface="Arial"/>
            </a:endParaRPr>
          </a:p>
          <a:p>
            <a:pPr marL="768350" marR="3067050">
              <a:lnSpc>
                <a:spcPts val="3000"/>
              </a:lnSpc>
            </a:pPr>
            <a:r>
              <a:rPr sz="1200" b="1" spc="-10" dirty="0">
                <a:latin typeface="Arial"/>
                <a:cs typeface="Arial"/>
              </a:rPr>
              <a:t>ℓ</a:t>
            </a:r>
            <a:r>
              <a:rPr sz="1200" dirty="0">
                <a:latin typeface="PMingLiU"/>
                <a:cs typeface="PMingLiU"/>
              </a:rPr>
              <a:t>：光路長 </a:t>
            </a:r>
            <a:r>
              <a:rPr sz="1200" spc="-20" dirty="0">
                <a:latin typeface="Arial"/>
                <a:cs typeface="Arial"/>
              </a:rPr>
              <a:t>[cm]</a:t>
            </a:r>
            <a:endParaRPr sz="1200" dirty="0">
              <a:latin typeface="Arial"/>
              <a:cs typeface="Arial"/>
            </a:endParaRPr>
          </a:p>
        </p:txBody>
      </p:sp>
    </p:spTree>
    <p:extLst>
      <p:ext uri="{BB962C8B-B14F-4D97-AF65-F5344CB8AC3E}">
        <p14:creationId xmlns:p14="http://schemas.microsoft.com/office/powerpoint/2010/main" val="3109149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781800"/>
          </a:xfrm>
          <a:custGeom>
            <a:avLst/>
            <a:gdLst/>
            <a:ahLst/>
            <a:cxnLst/>
            <a:rect l="l" t="t" r="r" b="b"/>
            <a:pathLst>
              <a:path w="12192000" h="7391400">
                <a:moveTo>
                  <a:pt x="12191999" y="7391399"/>
                </a:moveTo>
                <a:lnTo>
                  <a:pt x="0" y="7391399"/>
                </a:lnTo>
                <a:lnTo>
                  <a:pt x="0" y="0"/>
                </a:lnTo>
                <a:lnTo>
                  <a:pt x="12191999" y="0"/>
                </a:lnTo>
                <a:lnTo>
                  <a:pt x="12191999" y="7391399"/>
                </a:lnTo>
                <a:close/>
              </a:path>
            </a:pathLst>
          </a:custGeom>
          <a:solidFill>
            <a:srgbClr val="F2F4F5"/>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2191999" cy="647699"/>
          </a:xfrm>
          <a:prstGeom prst="rect">
            <a:avLst/>
          </a:prstGeom>
        </p:spPr>
      </p:pic>
      <p:sp>
        <p:nvSpPr>
          <p:cNvPr id="4" name="object 4"/>
          <p:cNvSpPr txBox="1">
            <a:spLocks noGrp="1"/>
          </p:cNvSpPr>
          <p:nvPr>
            <p:ph type="title"/>
          </p:nvPr>
        </p:nvSpPr>
        <p:spPr>
          <a:xfrm>
            <a:off x="292099" y="77396"/>
            <a:ext cx="2597150" cy="420370"/>
          </a:xfrm>
          <a:prstGeom prst="rect">
            <a:avLst/>
          </a:prstGeom>
        </p:spPr>
        <p:txBody>
          <a:bodyPr vert="horz" wrap="square" lIns="0" tIns="11430" rIns="0" bIns="0" rtlCol="0">
            <a:spAutoFit/>
          </a:bodyPr>
          <a:lstStyle/>
          <a:p>
            <a:pPr marL="12700">
              <a:lnSpc>
                <a:spcPct val="100000"/>
              </a:lnSpc>
              <a:spcBef>
                <a:spcPts val="90"/>
              </a:spcBef>
            </a:pPr>
            <a:r>
              <a:rPr sz="2500" spc="-250" dirty="0">
                <a:latin typeface="SimSun"/>
                <a:cs typeface="SimSun"/>
              </a:rPr>
              <a:t>測</a:t>
            </a:r>
            <a:r>
              <a:rPr sz="2550" spc="-310" dirty="0">
                <a:latin typeface="SimSun"/>
                <a:cs typeface="SimSun"/>
              </a:rPr>
              <a:t>定</a:t>
            </a:r>
            <a:r>
              <a:rPr sz="2600" spc="-365" dirty="0">
                <a:latin typeface="SimSun"/>
                <a:cs typeface="SimSun"/>
              </a:rPr>
              <a:t>方</a:t>
            </a:r>
            <a:r>
              <a:rPr sz="2500" spc="-250" dirty="0">
                <a:latin typeface="SimSun"/>
                <a:cs typeface="SimSun"/>
              </a:rPr>
              <a:t>法</a:t>
            </a:r>
            <a:r>
              <a:rPr sz="2150" spc="85" dirty="0"/>
              <a:t>：</a:t>
            </a:r>
            <a:r>
              <a:rPr sz="2400" spc="-175" dirty="0"/>
              <a:t>環</a:t>
            </a:r>
            <a:r>
              <a:rPr sz="2550" spc="-310" dirty="0"/>
              <a:t>境</a:t>
            </a:r>
            <a:r>
              <a:rPr sz="2550" spc="-335" dirty="0">
                <a:latin typeface="SimSun"/>
                <a:cs typeface="SimSun"/>
              </a:rPr>
              <a:t>設定</a:t>
            </a:r>
            <a:endParaRPr sz="2550">
              <a:latin typeface="SimSun"/>
              <a:cs typeface="SimSun"/>
            </a:endParaRPr>
          </a:p>
        </p:txBody>
      </p:sp>
      <p:sp>
        <p:nvSpPr>
          <p:cNvPr id="5" name="object 5"/>
          <p:cNvSpPr txBox="1"/>
          <p:nvPr/>
        </p:nvSpPr>
        <p:spPr>
          <a:xfrm>
            <a:off x="11609585" y="187325"/>
            <a:ext cx="290830" cy="254000"/>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Arial"/>
                <a:cs typeface="Arial"/>
              </a:rPr>
              <a:t>4/9</a:t>
            </a:r>
            <a:endParaRPr sz="1500">
              <a:latin typeface="Arial"/>
              <a:cs typeface="Arial"/>
            </a:endParaRPr>
          </a:p>
        </p:txBody>
      </p:sp>
      <p:grpSp>
        <p:nvGrpSpPr>
          <p:cNvPr id="6" name="object 6"/>
          <p:cNvGrpSpPr/>
          <p:nvPr/>
        </p:nvGrpSpPr>
        <p:grpSpPr>
          <a:xfrm>
            <a:off x="304799" y="3771900"/>
            <a:ext cx="5676900" cy="2133600"/>
            <a:chOff x="304799" y="4190999"/>
            <a:chExt cx="5676900" cy="2133600"/>
          </a:xfrm>
        </p:grpSpPr>
        <p:sp>
          <p:nvSpPr>
            <p:cNvPr id="7" name="object 7"/>
            <p:cNvSpPr/>
            <p:nvPr/>
          </p:nvSpPr>
          <p:spPr>
            <a:xfrm>
              <a:off x="323849" y="4190999"/>
              <a:ext cx="5657850" cy="2133600"/>
            </a:xfrm>
            <a:custGeom>
              <a:avLst/>
              <a:gdLst/>
              <a:ahLst/>
              <a:cxnLst/>
              <a:rect l="l" t="t" r="r" b="b"/>
              <a:pathLst>
                <a:path w="5657850" h="2133600">
                  <a:moveTo>
                    <a:pt x="5586652" y="2133599"/>
                  </a:moveTo>
                  <a:lnTo>
                    <a:pt x="53397" y="2133599"/>
                  </a:lnTo>
                  <a:lnTo>
                    <a:pt x="49681" y="2133111"/>
                  </a:lnTo>
                  <a:lnTo>
                    <a:pt x="14085" y="2107742"/>
                  </a:lnTo>
                  <a:lnTo>
                    <a:pt x="366" y="2067357"/>
                  </a:lnTo>
                  <a:lnTo>
                    <a:pt x="0" y="2062403"/>
                  </a:lnTo>
                  <a:lnTo>
                    <a:pt x="0" y="2057399"/>
                  </a:lnTo>
                  <a:lnTo>
                    <a:pt x="0" y="71196"/>
                  </a:lnTo>
                  <a:lnTo>
                    <a:pt x="11716" y="29704"/>
                  </a:lnTo>
                  <a:lnTo>
                    <a:pt x="42320" y="2440"/>
                  </a:lnTo>
                  <a:lnTo>
                    <a:pt x="53397" y="0"/>
                  </a:lnTo>
                  <a:lnTo>
                    <a:pt x="5586652" y="0"/>
                  </a:lnTo>
                  <a:lnTo>
                    <a:pt x="5628143" y="15621"/>
                  </a:lnTo>
                  <a:lnTo>
                    <a:pt x="5653962" y="51661"/>
                  </a:lnTo>
                  <a:lnTo>
                    <a:pt x="5657849" y="71196"/>
                  </a:lnTo>
                  <a:lnTo>
                    <a:pt x="5657849" y="2062403"/>
                  </a:lnTo>
                  <a:lnTo>
                    <a:pt x="5642226" y="2103893"/>
                  </a:lnTo>
                  <a:lnTo>
                    <a:pt x="5606187" y="2129713"/>
                  </a:lnTo>
                  <a:lnTo>
                    <a:pt x="5591607" y="2133111"/>
                  </a:lnTo>
                  <a:lnTo>
                    <a:pt x="5586652" y="2133599"/>
                  </a:lnTo>
                  <a:close/>
                </a:path>
              </a:pathLst>
            </a:custGeom>
            <a:solidFill>
              <a:srgbClr val="FFFFFF"/>
            </a:solidFill>
          </p:spPr>
          <p:txBody>
            <a:bodyPr wrap="square" lIns="0" tIns="0" rIns="0" bIns="0" rtlCol="0"/>
            <a:lstStyle/>
            <a:p>
              <a:endParaRPr/>
            </a:p>
          </p:txBody>
        </p:sp>
        <p:sp>
          <p:nvSpPr>
            <p:cNvPr id="8" name="object 8"/>
            <p:cNvSpPr/>
            <p:nvPr/>
          </p:nvSpPr>
          <p:spPr>
            <a:xfrm>
              <a:off x="304799" y="4191277"/>
              <a:ext cx="70485" cy="2133600"/>
            </a:xfrm>
            <a:custGeom>
              <a:avLst/>
              <a:gdLst/>
              <a:ahLst/>
              <a:cxnLst/>
              <a:rect l="l" t="t" r="r" b="b"/>
              <a:pathLst>
                <a:path w="70485" h="2133600">
                  <a:moveTo>
                    <a:pt x="70450" y="2133044"/>
                  </a:moveTo>
                  <a:lnTo>
                    <a:pt x="33857" y="2120490"/>
                  </a:lnTo>
                  <a:lnTo>
                    <a:pt x="5800" y="2086282"/>
                  </a:lnTo>
                  <a:lnTo>
                    <a:pt x="0" y="2057122"/>
                  </a:lnTo>
                  <a:lnTo>
                    <a:pt x="0" y="75922"/>
                  </a:lnTo>
                  <a:lnTo>
                    <a:pt x="12830" y="33579"/>
                  </a:lnTo>
                  <a:lnTo>
                    <a:pt x="47039" y="5522"/>
                  </a:lnTo>
                  <a:lnTo>
                    <a:pt x="70449" y="0"/>
                  </a:lnTo>
                  <a:lnTo>
                    <a:pt x="66287" y="1655"/>
                  </a:lnTo>
                  <a:lnTo>
                    <a:pt x="56951" y="9389"/>
                  </a:lnTo>
                  <a:lnTo>
                    <a:pt x="41000" y="46760"/>
                  </a:lnTo>
                  <a:lnTo>
                    <a:pt x="38100" y="75922"/>
                  </a:lnTo>
                  <a:lnTo>
                    <a:pt x="38100" y="2057122"/>
                  </a:lnTo>
                  <a:lnTo>
                    <a:pt x="44515" y="2099463"/>
                  </a:lnTo>
                  <a:lnTo>
                    <a:pt x="66287" y="2131388"/>
                  </a:lnTo>
                  <a:lnTo>
                    <a:pt x="70450" y="2133044"/>
                  </a:lnTo>
                  <a:close/>
                </a:path>
              </a:pathLst>
            </a:custGeom>
            <a:solidFill>
              <a:srgbClr val="FF9900"/>
            </a:solidFill>
          </p:spPr>
          <p:txBody>
            <a:bodyPr wrap="square" lIns="0" tIns="0" rIns="0" bIns="0" rtlCol="0"/>
            <a:lstStyle/>
            <a:p>
              <a:endParaRPr/>
            </a:p>
          </p:txBody>
        </p:sp>
        <p:pic>
          <p:nvPicPr>
            <p:cNvPr id="9" name="object 9"/>
            <p:cNvPicPr/>
            <p:nvPr/>
          </p:nvPicPr>
          <p:blipFill>
            <a:blip r:embed="rId3" cstate="print"/>
            <a:stretch>
              <a:fillRect/>
            </a:stretch>
          </p:blipFill>
          <p:spPr>
            <a:xfrm>
              <a:off x="533399" y="4419599"/>
              <a:ext cx="238124" cy="190499"/>
            </a:xfrm>
            <a:prstGeom prst="rect">
              <a:avLst/>
            </a:prstGeom>
          </p:spPr>
        </p:pic>
        <p:sp>
          <p:nvSpPr>
            <p:cNvPr id="10" name="object 10"/>
            <p:cNvSpPr/>
            <p:nvPr/>
          </p:nvSpPr>
          <p:spPr>
            <a:xfrm>
              <a:off x="609587" y="4857749"/>
              <a:ext cx="47625" cy="657225"/>
            </a:xfrm>
            <a:custGeom>
              <a:avLst/>
              <a:gdLst/>
              <a:ahLst/>
              <a:cxnLst/>
              <a:rect l="l" t="t" r="r" b="b"/>
              <a:pathLst>
                <a:path w="47625" h="657225">
                  <a:moveTo>
                    <a:pt x="47625" y="630262"/>
                  </a:moveTo>
                  <a:lnTo>
                    <a:pt x="26974" y="609600"/>
                  </a:lnTo>
                  <a:lnTo>
                    <a:pt x="20662" y="609600"/>
                  </a:lnTo>
                  <a:lnTo>
                    <a:pt x="0" y="630262"/>
                  </a:lnTo>
                  <a:lnTo>
                    <a:pt x="0" y="636574"/>
                  </a:lnTo>
                  <a:lnTo>
                    <a:pt x="20662" y="657225"/>
                  </a:lnTo>
                  <a:lnTo>
                    <a:pt x="26974" y="657225"/>
                  </a:lnTo>
                  <a:lnTo>
                    <a:pt x="47625" y="636574"/>
                  </a:lnTo>
                  <a:lnTo>
                    <a:pt x="47625" y="633412"/>
                  </a:lnTo>
                  <a:lnTo>
                    <a:pt x="47625" y="630262"/>
                  </a:lnTo>
                  <a:close/>
                </a:path>
                <a:path w="47625" h="657225">
                  <a:moveTo>
                    <a:pt x="47625" y="325462"/>
                  </a:moveTo>
                  <a:lnTo>
                    <a:pt x="26974" y="304800"/>
                  </a:lnTo>
                  <a:lnTo>
                    <a:pt x="20662" y="304800"/>
                  </a:lnTo>
                  <a:lnTo>
                    <a:pt x="0" y="325462"/>
                  </a:lnTo>
                  <a:lnTo>
                    <a:pt x="0" y="331774"/>
                  </a:lnTo>
                  <a:lnTo>
                    <a:pt x="20662" y="352425"/>
                  </a:lnTo>
                  <a:lnTo>
                    <a:pt x="26974" y="352425"/>
                  </a:lnTo>
                  <a:lnTo>
                    <a:pt x="47625" y="331774"/>
                  </a:lnTo>
                  <a:lnTo>
                    <a:pt x="47625" y="328612"/>
                  </a:lnTo>
                  <a:lnTo>
                    <a:pt x="47625" y="325462"/>
                  </a:lnTo>
                  <a:close/>
                </a:path>
                <a:path w="47625" h="657225">
                  <a:moveTo>
                    <a:pt x="47625" y="20662"/>
                  </a:moveTo>
                  <a:lnTo>
                    <a:pt x="26974" y="0"/>
                  </a:lnTo>
                  <a:lnTo>
                    <a:pt x="20662" y="0"/>
                  </a:lnTo>
                  <a:lnTo>
                    <a:pt x="0" y="20662"/>
                  </a:lnTo>
                  <a:lnTo>
                    <a:pt x="0" y="26974"/>
                  </a:lnTo>
                  <a:lnTo>
                    <a:pt x="20662" y="47625"/>
                  </a:lnTo>
                  <a:lnTo>
                    <a:pt x="26974" y="47625"/>
                  </a:lnTo>
                  <a:lnTo>
                    <a:pt x="47625" y="26974"/>
                  </a:lnTo>
                  <a:lnTo>
                    <a:pt x="47625" y="23812"/>
                  </a:lnTo>
                  <a:lnTo>
                    <a:pt x="47625" y="20662"/>
                  </a:lnTo>
                  <a:close/>
                </a:path>
              </a:pathLst>
            </a:custGeom>
            <a:solidFill>
              <a:srgbClr val="374050"/>
            </a:solidFill>
          </p:spPr>
          <p:txBody>
            <a:bodyPr wrap="square" lIns="0" tIns="0" rIns="0" bIns="0" rtlCol="0"/>
            <a:lstStyle/>
            <a:p>
              <a:endParaRPr/>
            </a:p>
          </p:txBody>
        </p:sp>
      </p:grpSp>
      <p:sp>
        <p:nvSpPr>
          <p:cNvPr id="11" name="object 11"/>
          <p:cNvSpPr txBox="1"/>
          <p:nvPr/>
        </p:nvSpPr>
        <p:spPr>
          <a:xfrm>
            <a:off x="749299" y="3931134"/>
            <a:ext cx="3832860" cy="1227455"/>
          </a:xfrm>
          <a:prstGeom prst="rect">
            <a:avLst/>
          </a:prstGeom>
        </p:spPr>
        <p:txBody>
          <a:bodyPr vert="horz" wrap="square" lIns="0" tIns="15240" rIns="0" bIns="0" rtlCol="0">
            <a:spAutoFit/>
          </a:bodyPr>
          <a:lstStyle/>
          <a:p>
            <a:pPr marL="135890">
              <a:lnSpc>
                <a:spcPct val="100000"/>
              </a:lnSpc>
              <a:spcBef>
                <a:spcPts val="120"/>
              </a:spcBef>
            </a:pPr>
            <a:r>
              <a:rPr sz="1650" spc="-165" dirty="0">
                <a:solidFill>
                  <a:srgbClr val="003366"/>
                </a:solidFill>
                <a:latin typeface="SimSun"/>
                <a:cs typeface="SimSun"/>
              </a:rPr>
              <a:t>測</a:t>
            </a:r>
            <a:r>
              <a:rPr sz="1700" spc="-210" dirty="0">
                <a:solidFill>
                  <a:srgbClr val="003366"/>
                </a:solidFill>
                <a:latin typeface="SimSun"/>
                <a:cs typeface="SimSun"/>
              </a:rPr>
              <a:t>定</a:t>
            </a:r>
            <a:r>
              <a:rPr sz="1650" spc="-165" dirty="0">
                <a:solidFill>
                  <a:srgbClr val="003366"/>
                </a:solidFill>
                <a:latin typeface="SimSun"/>
                <a:cs typeface="SimSun"/>
              </a:rPr>
              <a:t>装</a:t>
            </a:r>
            <a:r>
              <a:rPr sz="1650" spc="-165" dirty="0">
                <a:solidFill>
                  <a:srgbClr val="003366"/>
                </a:solidFill>
                <a:latin typeface="PMingLiU"/>
                <a:cs typeface="PMingLiU"/>
              </a:rPr>
              <a:t>置</a:t>
            </a:r>
            <a:r>
              <a:rPr sz="1700" spc="-210" dirty="0">
                <a:solidFill>
                  <a:srgbClr val="003366"/>
                </a:solidFill>
                <a:latin typeface="SimSun"/>
                <a:cs typeface="SimSun"/>
              </a:rPr>
              <a:t>の</a:t>
            </a:r>
            <a:r>
              <a:rPr sz="1650" spc="-110" dirty="0">
                <a:solidFill>
                  <a:srgbClr val="003366"/>
                </a:solidFill>
                <a:latin typeface="SimSun"/>
                <a:cs typeface="SimSun"/>
              </a:rPr>
              <a:t>構成</a:t>
            </a:r>
            <a:endParaRPr sz="1650">
              <a:latin typeface="SimSun"/>
              <a:cs typeface="SimSun"/>
            </a:endParaRPr>
          </a:p>
          <a:p>
            <a:pPr marL="12700">
              <a:lnSpc>
                <a:spcPct val="100000"/>
              </a:lnSpc>
              <a:spcBef>
                <a:spcPts val="1160"/>
              </a:spcBef>
            </a:pPr>
            <a:r>
              <a:rPr sz="1200" spc="-30" dirty="0">
                <a:solidFill>
                  <a:srgbClr val="374050"/>
                </a:solidFill>
                <a:latin typeface="PMingLiU"/>
                <a:cs typeface="PMingLiU"/>
              </a:rPr>
              <a:t>マイケルソン干渉計はグローブボックス内に配置</a:t>
            </a:r>
            <a:endParaRPr sz="1200">
              <a:latin typeface="PMingLiU"/>
              <a:cs typeface="PMingLiU"/>
            </a:endParaRPr>
          </a:p>
          <a:p>
            <a:pPr marL="12700">
              <a:lnSpc>
                <a:spcPct val="100000"/>
              </a:lnSpc>
              <a:spcBef>
                <a:spcPts val="960"/>
              </a:spcBef>
            </a:pPr>
            <a:r>
              <a:rPr sz="1200" dirty="0">
                <a:solidFill>
                  <a:srgbClr val="374050"/>
                </a:solidFill>
                <a:latin typeface="PMingLiU"/>
                <a:cs typeface="PMingLiU"/>
              </a:rPr>
              <a:t>湿度制御装置（</a:t>
            </a:r>
            <a:r>
              <a:rPr sz="1200" dirty="0">
                <a:solidFill>
                  <a:srgbClr val="374050"/>
                </a:solidFill>
                <a:latin typeface="Arial"/>
                <a:cs typeface="Arial"/>
              </a:rPr>
              <a:t>AHCU-2</a:t>
            </a:r>
            <a:r>
              <a:rPr sz="1200" dirty="0">
                <a:solidFill>
                  <a:srgbClr val="374050"/>
                </a:solidFill>
                <a:latin typeface="PMingLiU"/>
                <a:cs typeface="PMingLiU"/>
              </a:rPr>
              <a:t>）</a:t>
            </a:r>
            <a:r>
              <a:rPr sz="1200" spc="-35" dirty="0">
                <a:solidFill>
                  <a:srgbClr val="374050"/>
                </a:solidFill>
                <a:latin typeface="PMingLiU"/>
                <a:cs typeface="PMingLiU"/>
              </a:rPr>
              <a:t>でボックス内の湿度を制御</a:t>
            </a:r>
            <a:endParaRPr sz="1200">
              <a:latin typeface="PMingLiU"/>
              <a:cs typeface="PMingLiU"/>
            </a:endParaRPr>
          </a:p>
          <a:p>
            <a:pPr marL="12700">
              <a:lnSpc>
                <a:spcPct val="100000"/>
              </a:lnSpc>
              <a:spcBef>
                <a:spcPts val="960"/>
              </a:spcBef>
            </a:pPr>
            <a:r>
              <a:rPr sz="1200" spc="-10" dirty="0">
                <a:solidFill>
                  <a:srgbClr val="374050"/>
                </a:solidFill>
                <a:latin typeface="PMingLiU"/>
                <a:cs typeface="PMingLiU"/>
              </a:rPr>
              <a:t>電気容量型絶対湿度センサ</a:t>
            </a:r>
            <a:r>
              <a:rPr sz="1200" spc="-20" dirty="0">
                <a:solidFill>
                  <a:srgbClr val="374050"/>
                </a:solidFill>
                <a:latin typeface="PMingLiU"/>
                <a:cs typeface="PMingLiU"/>
              </a:rPr>
              <a:t>（</a:t>
            </a:r>
            <a:r>
              <a:rPr sz="1200" spc="-20" dirty="0">
                <a:solidFill>
                  <a:srgbClr val="374050"/>
                </a:solidFill>
                <a:latin typeface="Arial"/>
                <a:cs typeface="Arial"/>
              </a:rPr>
              <a:t>TAA80</a:t>
            </a:r>
            <a:r>
              <a:rPr sz="1200" spc="-20" dirty="0">
                <a:solidFill>
                  <a:srgbClr val="374050"/>
                </a:solidFill>
                <a:latin typeface="PMingLiU"/>
                <a:cs typeface="PMingLiU"/>
              </a:rPr>
              <a:t>）で湿度基準を測定</a:t>
            </a:r>
            <a:endParaRPr sz="1200">
              <a:latin typeface="PMingLiU"/>
              <a:cs typeface="PMingLiU"/>
            </a:endParaRPr>
          </a:p>
        </p:txBody>
      </p:sp>
      <p:grpSp>
        <p:nvGrpSpPr>
          <p:cNvPr id="12" name="object 12"/>
          <p:cNvGrpSpPr/>
          <p:nvPr/>
        </p:nvGrpSpPr>
        <p:grpSpPr>
          <a:xfrm>
            <a:off x="6210299" y="3771900"/>
            <a:ext cx="5676900" cy="2133600"/>
            <a:chOff x="6210299" y="4190999"/>
            <a:chExt cx="5676900" cy="2133600"/>
          </a:xfrm>
        </p:grpSpPr>
        <p:sp>
          <p:nvSpPr>
            <p:cNvPr id="13" name="object 13"/>
            <p:cNvSpPr/>
            <p:nvPr/>
          </p:nvSpPr>
          <p:spPr>
            <a:xfrm>
              <a:off x="6229349" y="4190999"/>
              <a:ext cx="5657850" cy="2133600"/>
            </a:xfrm>
            <a:custGeom>
              <a:avLst/>
              <a:gdLst/>
              <a:ahLst/>
              <a:cxnLst/>
              <a:rect l="l" t="t" r="r" b="b"/>
              <a:pathLst>
                <a:path w="5657850" h="2133600">
                  <a:moveTo>
                    <a:pt x="5586652" y="2133599"/>
                  </a:moveTo>
                  <a:lnTo>
                    <a:pt x="53397" y="2133599"/>
                  </a:lnTo>
                  <a:lnTo>
                    <a:pt x="49680" y="2133111"/>
                  </a:lnTo>
                  <a:lnTo>
                    <a:pt x="14084" y="2107742"/>
                  </a:lnTo>
                  <a:lnTo>
                    <a:pt x="365" y="2067357"/>
                  </a:lnTo>
                  <a:lnTo>
                    <a:pt x="0" y="2062403"/>
                  </a:lnTo>
                  <a:lnTo>
                    <a:pt x="0" y="2057399"/>
                  </a:lnTo>
                  <a:lnTo>
                    <a:pt x="0" y="71196"/>
                  </a:lnTo>
                  <a:lnTo>
                    <a:pt x="11714" y="29704"/>
                  </a:lnTo>
                  <a:lnTo>
                    <a:pt x="42319" y="2440"/>
                  </a:lnTo>
                  <a:lnTo>
                    <a:pt x="53397" y="0"/>
                  </a:lnTo>
                  <a:lnTo>
                    <a:pt x="5586652" y="0"/>
                  </a:lnTo>
                  <a:lnTo>
                    <a:pt x="5628142" y="15621"/>
                  </a:lnTo>
                  <a:lnTo>
                    <a:pt x="5653962" y="51661"/>
                  </a:lnTo>
                  <a:lnTo>
                    <a:pt x="5657848" y="71196"/>
                  </a:lnTo>
                  <a:lnTo>
                    <a:pt x="5657848" y="2062403"/>
                  </a:lnTo>
                  <a:lnTo>
                    <a:pt x="5642226" y="2103893"/>
                  </a:lnTo>
                  <a:lnTo>
                    <a:pt x="5606186" y="2129713"/>
                  </a:lnTo>
                  <a:lnTo>
                    <a:pt x="5591607" y="2133111"/>
                  </a:lnTo>
                  <a:lnTo>
                    <a:pt x="5586652" y="2133599"/>
                  </a:lnTo>
                  <a:close/>
                </a:path>
              </a:pathLst>
            </a:custGeom>
            <a:solidFill>
              <a:srgbClr val="FFFFFF"/>
            </a:solidFill>
          </p:spPr>
          <p:txBody>
            <a:bodyPr wrap="square" lIns="0" tIns="0" rIns="0" bIns="0" rtlCol="0"/>
            <a:lstStyle/>
            <a:p>
              <a:endParaRPr/>
            </a:p>
          </p:txBody>
        </p:sp>
        <p:sp>
          <p:nvSpPr>
            <p:cNvPr id="14" name="object 14"/>
            <p:cNvSpPr/>
            <p:nvPr/>
          </p:nvSpPr>
          <p:spPr>
            <a:xfrm>
              <a:off x="6210299" y="4191277"/>
              <a:ext cx="70485" cy="2133600"/>
            </a:xfrm>
            <a:custGeom>
              <a:avLst/>
              <a:gdLst/>
              <a:ahLst/>
              <a:cxnLst/>
              <a:rect l="l" t="t" r="r" b="b"/>
              <a:pathLst>
                <a:path w="70485" h="2133600">
                  <a:moveTo>
                    <a:pt x="70450" y="2133044"/>
                  </a:moveTo>
                  <a:lnTo>
                    <a:pt x="33857" y="2120490"/>
                  </a:lnTo>
                  <a:lnTo>
                    <a:pt x="5800" y="2086282"/>
                  </a:lnTo>
                  <a:lnTo>
                    <a:pt x="0" y="2057122"/>
                  </a:lnTo>
                  <a:lnTo>
                    <a:pt x="0" y="75922"/>
                  </a:lnTo>
                  <a:lnTo>
                    <a:pt x="12829" y="33579"/>
                  </a:lnTo>
                  <a:lnTo>
                    <a:pt x="47038" y="5522"/>
                  </a:lnTo>
                  <a:lnTo>
                    <a:pt x="70449" y="0"/>
                  </a:lnTo>
                  <a:lnTo>
                    <a:pt x="66287" y="1655"/>
                  </a:lnTo>
                  <a:lnTo>
                    <a:pt x="56951" y="9389"/>
                  </a:lnTo>
                  <a:lnTo>
                    <a:pt x="40999" y="46760"/>
                  </a:lnTo>
                  <a:lnTo>
                    <a:pt x="38100" y="75922"/>
                  </a:lnTo>
                  <a:lnTo>
                    <a:pt x="38100" y="2057122"/>
                  </a:lnTo>
                  <a:lnTo>
                    <a:pt x="44514" y="2099463"/>
                  </a:lnTo>
                  <a:lnTo>
                    <a:pt x="66287" y="2131388"/>
                  </a:lnTo>
                  <a:lnTo>
                    <a:pt x="70450" y="2133044"/>
                  </a:lnTo>
                  <a:close/>
                </a:path>
              </a:pathLst>
            </a:custGeom>
            <a:solidFill>
              <a:srgbClr val="FF9900"/>
            </a:solidFill>
          </p:spPr>
          <p:txBody>
            <a:bodyPr wrap="square" lIns="0" tIns="0" rIns="0" bIns="0" rtlCol="0"/>
            <a:lstStyle/>
            <a:p>
              <a:endParaRPr/>
            </a:p>
          </p:txBody>
        </p:sp>
        <p:pic>
          <p:nvPicPr>
            <p:cNvPr id="15" name="object 15"/>
            <p:cNvPicPr/>
            <p:nvPr/>
          </p:nvPicPr>
          <p:blipFill>
            <a:blip r:embed="rId4" cstate="print"/>
            <a:stretch>
              <a:fillRect/>
            </a:stretch>
          </p:blipFill>
          <p:spPr>
            <a:xfrm>
              <a:off x="6438899" y="4419599"/>
              <a:ext cx="171449" cy="190499"/>
            </a:xfrm>
            <a:prstGeom prst="rect">
              <a:avLst/>
            </a:prstGeom>
          </p:spPr>
        </p:pic>
        <p:sp>
          <p:nvSpPr>
            <p:cNvPr id="16" name="object 16"/>
            <p:cNvSpPr/>
            <p:nvPr/>
          </p:nvSpPr>
          <p:spPr>
            <a:xfrm>
              <a:off x="6515087" y="4857749"/>
              <a:ext cx="47625" cy="1114425"/>
            </a:xfrm>
            <a:custGeom>
              <a:avLst/>
              <a:gdLst/>
              <a:ahLst/>
              <a:cxnLst/>
              <a:rect l="l" t="t" r="r" b="b"/>
              <a:pathLst>
                <a:path w="47625" h="1114425">
                  <a:moveTo>
                    <a:pt x="47625" y="1087462"/>
                  </a:moveTo>
                  <a:lnTo>
                    <a:pt x="26974" y="1066800"/>
                  </a:lnTo>
                  <a:lnTo>
                    <a:pt x="20662" y="1066800"/>
                  </a:lnTo>
                  <a:lnTo>
                    <a:pt x="0" y="1087462"/>
                  </a:lnTo>
                  <a:lnTo>
                    <a:pt x="0" y="1093774"/>
                  </a:lnTo>
                  <a:lnTo>
                    <a:pt x="20662" y="1114425"/>
                  </a:lnTo>
                  <a:lnTo>
                    <a:pt x="26974" y="1114425"/>
                  </a:lnTo>
                  <a:lnTo>
                    <a:pt x="47625" y="1093774"/>
                  </a:lnTo>
                  <a:lnTo>
                    <a:pt x="47625" y="1090612"/>
                  </a:lnTo>
                  <a:lnTo>
                    <a:pt x="47625" y="1087462"/>
                  </a:lnTo>
                  <a:close/>
                </a:path>
                <a:path w="47625" h="1114425">
                  <a:moveTo>
                    <a:pt x="47625" y="554062"/>
                  </a:moveTo>
                  <a:lnTo>
                    <a:pt x="26974" y="533400"/>
                  </a:lnTo>
                  <a:lnTo>
                    <a:pt x="20662" y="533400"/>
                  </a:lnTo>
                  <a:lnTo>
                    <a:pt x="0" y="554062"/>
                  </a:lnTo>
                  <a:lnTo>
                    <a:pt x="0" y="560374"/>
                  </a:lnTo>
                  <a:lnTo>
                    <a:pt x="20662" y="581025"/>
                  </a:lnTo>
                  <a:lnTo>
                    <a:pt x="26974" y="581025"/>
                  </a:lnTo>
                  <a:lnTo>
                    <a:pt x="47625" y="560374"/>
                  </a:lnTo>
                  <a:lnTo>
                    <a:pt x="47625" y="557212"/>
                  </a:lnTo>
                  <a:lnTo>
                    <a:pt x="47625" y="554062"/>
                  </a:lnTo>
                  <a:close/>
                </a:path>
                <a:path w="47625" h="1114425">
                  <a:moveTo>
                    <a:pt x="47625" y="20662"/>
                  </a:moveTo>
                  <a:lnTo>
                    <a:pt x="26974" y="0"/>
                  </a:lnTo>
                  <a:lnTo>
                    <a:pt x="20662" y="0"/>
                  </a:lnTo>
                  <a:lnTo>
                    <a:pt x="0" y="20662"/>
                  </a:lnTo>
                  <a:lnTo>
                    <a:pt x="0" y="26974"/>
                  </a:lnTo>
                  <a:lnTo>
                    <a:pt x="20662" y="47625"/>
                  </a:lnTo>
                  <a:lnTo>
                    <a:pt x="26974" y="47625"/>
                  </a:lnTo>
                  <a:lnTo>
                    <a:pt x="47625" y="26974"/>
                  </a:lnTo>
                  <a:lnTo>
                    <a:pt x="47625" y="23812"/>
                  </a:lnTo>
                  <a:lnTo>
                    <a:pt x="47625" y="20662"/>
                  </a:lnTo>
                  <a:close/>
                </a:path>
              </a:pathLst>
            </a:custGeom>
            <a:solidFill>
              <a:srgbClr val="374050"/>
            </a:solidFill>
          </p:spPr>
          <p:txBody>
            <a:bodyPr wrap="square" lIns="0" tIns="0" rIns="0" bIns="0" rtlCol="0"/>
            <a:lstStyle/>
            <a:p>
              <a:endParaRPr/>
            </a:p>
          </p:txBody>
        </p:sp>
      </p:grpSp>
      <p:sp>
        <p:nvSpPr>
          <p:cNvPr id="17" name="object 17"/>
          <p:cNvSpPr txBox="1"/>
          <p:nvPr/>
        </p:nvSpPr>
        <p:spPr>
          <a:xfrm>
            <a:off x="6654800" y="3930390"/>
            <a:ext cx="5058410" cy="1685289"/>
          </a:xfrm>
          <a:prstGeom prst="rect">
            <a:avLst/>
          </a:prstGeom>
        </p:spPr>
        <p:txBody>
          <a:bodyPr vert="horz" wrap="square" lIns="0" tIns="15875" rIns="0" bIns="0" rtlCol="0">
            <a:spAutoFit/>
          </a:bodyPr>
          <a:lstStyle/>
          <a:p>
            <a:pPr marL="69215">
              <a:lnSpc>
                <a:spcPct val="100000"/>
              </a:lnSpc>
              <a:spcBef>
                <a:spcPts val="125"/>
              </a:spcBef>
            </a:pPr>
            <a:r>
              <a:rPr sz="1650" spc="-165" dirty="0">
                <a:solidFill>
                  <a:srgbClr val="003366"/>
                </a:solidFill>
                <a:latin typeface="PMingLiU"/>
                <a:cs typeface="PMingLiU"/>
              </a:rPr>
              <a:t>基</a:t>
            </a:r>
            <a:r>
              <a:rPr sz="1650" spc="-165" dirty="0">
                <a:solidFill>
                  <a:srgbClr val="003366"/>
                </a:solidFill>
                <a:latin typeface="SimSun"/>
                <a:cs typeface="SimSun"/>
              </a:rPr>
              <a:t>準光</a:t>
            </a:r>
            <a:r>
              <a:rPr sz="1700" spc="-210" dirty="0">
                <a:solidFill>
                  <a:srgbClr val="003366"/>
                </a:solidFill>
                <a:latin typeface="SimSun"/>
                <a:cs typeface="SimSun"/>
              </a:rPr>
              <a:t>の</a:t>
            </a:r>
            <a:r>
              <a:rPr sz="1650" spc="-165" dirty="0">
                <a:solidFill>
                  <a:srgbClr val="003366"/>
                </a:solidFill>
                <a:latin typeface="SimSun"/>
                <a:cs typeface="SimSun"/>
              </a:rPr>
              <a:t>測</a:t>
            </a:r>
            <a:r>
              <a:rPr sz="1700" spc="-210" dirty="0">
                <a:solidFill>
                  <a:srgbClr val="003366"/>
                </a:solidFill>
                <a:latin typeface="SimSun"/>
                <a:cs typeface="SimSun"/>
              </a:rPr>
              <a:t>定方</a:t>
            </a:r>
            <a:r>
              <a:rPr sz="1650" spc="-50" dirty="0">
                <a:solidFill>
                  <a:srgbClr val="003366"/>
                </a:solidFill>
                <a:latin typeface="SimSun"/>
                <a:cs typeface="SimSun"/>
              </a:rPr>
              <a:t>法</a:t>
            </a:r>
            <a:endParaRPr sz="1650">
              <a:latin typeface="SimSun"/>
              <a:cs typeface="SimSun"/>
            </a:endParaRPr>
          </a:p>
          <a:p>
            <a:pPr marL="12700" marR="13335">
              <a:lnSpc>
                <a:spcPct val="125000"/>
              </a:lnSpc>
              <a:spcBef>
                <a:spcPts val="800"/>
              </a:spcBef>
            </a:pPr>
            <a:r>
              <a:rPr sz="1200" spc="-10" dirty="0">
                <a:solidFill>
                  <a:srgbClr val="374050"/>
                </a:solidFill>
                <a:latin typeface="PMingLiU"/>
                <a:cs typeface="PMingLiU"/>
              </a:rPr>
              <a:t>小型乾燥剤式エアドライヤ</a:t>
            </a:r>
            <a:r>
              <a:rPr sz="1200" dirty="0">
                <a:solidFill>
                  <a:srgbClr val="374050"/>
                </a:solidFill>
                <a:latin typeface="PMingLiU"/>
                <a:cs typeface="PMingLiU"/>
              </a:rPr>
              <a:t>（</a:t>
            </a:r>
            <a:r>
              <a:rPr sz="1200" dirty="0">
                <a:solidFill>
                  <a:srgbClr val="374050"/>
                </a:solidFill>
                <a:latin typeface="Arial"/>
                <a:cs typeface="Arial"/>
              </a:rPr>
              <a:t>HD Series</a:t>
            </a:r>
            <a:r>
              <a:rPr sz="1200" dirty="0">
                <a:solidFill>
                  <a:srgbClr val="374050"/>
                </a:solidFill>
                <a:latin typeface="PMingLiU"/>
                <a:cs typeface="PMingLiU"/>
              </a:rPr>
              <a:t>）</a:t>
            </a:r>
            <a:r>
              <a:rPr sz="1200" spc="-10" dirty="0">
                <a:solidFill>
                  <a:srgbClr val="374050"/>
                </a:solidFill>
                <a:latin typeface="PMingLiU"/>
                <a:cs typeface="PMingLiU"/>
              </a:rPr>
              <a:t>で超露点</a:t>
            </a:r>
            <a:r>
              <a:rPr sz="1200" dirty="0">
                <a:solidFill>
                  <a:srgbClr val="374050"/>
                </a:solidFill>
                <a:latin typeface="PMingLiU"/>
                <a:cs typeface="PMingLiU"/>
              </a:rPr>
              <a:t>（</a:t>
            </a:r>
            <a:r>
              <a:rPr sz="1200" dirty="0">
                <a:solidFill>
                  <a:srgbClr val="374050"/>
                </a:solidFill>
                <a:latin typeface="Arial"/>
                <a:cs typeface="Arial"/>
              </a:rPr>
              <a:t>-60~-</a:t>
            </a:r>
            <a:r>
              <a:rPr sz="1200" spc="-25" dirty="0">
                <a:solidFill>
                  <a:srgbClr val="374050"/>
                </a:solidFill>
                <a:latin typeface="Arial"/>
                <a:cs typeface="Arial"/>
              </a:rPr>
              <a:t>72</a:t>
            </a:r>
            <a:r>
              <a:rPr sz="1200" spc="-25" dirty="0">
                <a:solidFill>
                  <a:srgbClr val="374050"/>
                </a:solidFill>
                <a:latin typeface="PMingLiU"/>
                <a:cs typeface="PMingLiU"/>
              </a:rPr>
              <a:t>℃）</a:t>
            </a:r>
            <a:r>
              <a:rPr sz="1200" spc="-20" dirty="0">
                <a:solidFill>
                  <a:srgbClr val="374050"/>
                </a:solidFill>
                <a:latin typeface="PMingLiU"/>
                <a:cs typeface="PMingLiU"/>
              </a:rPr>
              <a:t>の乾燥空</a:t>
            </a:r>
            <a:r>
              <a:rPr sz="1200" spc="-25" dirty="0">
                <a:solidFill>
                  <a:srgbClr val="374050"/>
                </a:solidFill>
                <a:latin typeface="PMingLiU"/>
                <a:cs typeface="PMingLiU"/>
              </a:rPr>
              <a:t>気を送り込む</a:t>
            </a:r>
            <a:endParaRPr sz="1200">
              <a:latin typeface="PMingLiU"/>
              <a:cs typeface="PMingLiU"/>
            </a:endParaRPr>
          </a:p>
          <a:p>
            <a:pPr marL="12700" marR="5080">
              <a:lnSpc>
                <a:spcPct val="125000"/>
              </a:lnSpc>
              <a:spcBef>
                <a:spcPts val="600"/>
              </a:spcBef>
            </a:pPr>
            <a:r>
              <a:rPr sz="1200" spc="-25" dirty="0">
                <a:solidFill>
                  <a:srgbClr val="374050"/>
                </a:solidFill>
                <a:latin typeface="PMingLiU"/>
                <a:cs typeface="PMingLiU"/>
              </a:rPr>
              <a:t>この乾燥空気を用いて，試料のない場合</a:t>
            </a:r>
            <a:r>
              <a:rPr sz="1200" dirty="0">
                <a:solidFill>
                  <a:srgbClr val="374050"/>
                </a:solidFill>
                <a:latin typeface="PMingLiU"/>
                <a:cs typeface="PMingLiU"/>
              </a:rPr>
              <a:t>（基準光）</a:t>
            </a:r>
            <a:r>
              <a:rPr sz="1200" spc="-30" dirty="0">
                <a:solidFill>
                  <a:srgbClr val="374050"/>
                </a:solidFill>
                <a:latin typeface="PMingLiU"/>
                <a:cs typeface="PMingLiU"/>
              </a:rPr>
              <a:t>のインターフェログラ</a:t>
            </a:r>
            <a:r>
              <a:rPr sz="1200" spc="-10" dirty="0">
                <a:solidFill>
                  <a:srgbClr val="374050"/>
                </a:solidFill>
                <a:latin typeface="PMingLiU"/>
                <a:cs typeface="PMingLiU"/>
              </a:rPr>
              <a:t>ム </a:t>
            </a:r>
            <a:r>
              <a:rPr sz="1200" dirty="0">
                <a:solidFill>
                  <a:srgbClr val="374050"/>
                </a:solidFill>
                <a:latin typeface="Arial"/>
                <a:cs typeface="Arial"/>
              </a:rPr>
              <a:t>I_ref(t)</a:t>
            </a:r>
            <a:r>
              <a:rPr sz="1200" spc="-5" dirty="0">
                <a:solidFill>
                  <a:srgbClr val="374050"/>
                </a:solidFill>
                <a:latin typeface="Arial"/>
                <a:cs typeface="Arial"/>
              </a:rPr>
              <a:t> </a:t>
            </a:r>
            <a:r>
              <a:rPr sz="1200" spc="-20" dirty="0">
                <a:solidFill>
                  <a:srgbClr val="374050"/>
                </a:solidFill>
                <a:latin typeface="PMingLiU"/>
                <a:cs typeface="PMingLiU"/>
              </a:rPr>
              <a:t>を測定</a:t>
            </a:r>
            <a:endParaRPr sz="1200">
              <a:latin typeface="PMingLiU"/>
              <a:cs typeface="PMingLiU"/>
            </a:endParaRPr>
          </a:p>
          <a:p>
            <a:pPr marL="12700">
              <a:lnSpc>
                <a:spcPct val="100000"/>
              </a:lnSpc>
              <a:spcBef>
                <a:spcPts val="960"/>
              </a:spcBef>
            </a:pPr>
            <a:r>
              <a:rPr sz="1200" spc="-20" dirty="0">
                <a:solidFill>
                  <a:srgbClr val="374050"/>
                </a:solidFill>
                <a:latin typeface="PMingLiU"/>
                <a:cs typeface="PMingLiU"/>
              </a:rPr>
              <a:t>試料のある場合のインターフェログラム </a:t>
            </a:r>
            <a:r>
              <a:rPr sz="1200" dirty="0">
                <a:solidFill>
                  <a:srgbClr val="374050"/>
                </a:solidFill>
                <a:latin typeface="Arial"/>
                <a:cs typeface="Arial"/>
              </a:rPr>
              <a:t>I_sam(t)</a:t>
            </a:r>
            <a:r>
              <a:rPr sz="1200" spc="45" dirty="0">
                <a:solidFill>
                  <a:srgbClr val="374050"/>
                </a:solidFill>
                <a:latin typeface="Arial"/>
                <a:cs typeface="Arial"/>
              </a:rPr>
              <a:t> </a:t>
            </a:r>
            <a:r>
              <a:rPr sz="1200" spc="-20" dirty="0">
                <a:solidFill>
                  <a:srgbClr val="374050"/>
                </a:solidFill>
                <a:latin typeface="PMingLiU"/>
                <a:cs typeface="PMingLiU"/>
              </a:rPr>
              <a:t>を測定</a:t>
            </a:r>
            <a:endParaRPr sz="1200">
              <a:latin typeface="PMingLiU"/>
              <a:cs typeface="PMingLiU"/>
            </a:endParaRPr>
          </a:p>
        </p:txBody>
      </p:sp>
      <p:grpSp>
        <p:nvGrpSpPr>
          <p:cNvPr id="18" name="object 18"/>
          <p:cNvGrpSpPr/>
          <p:nvPr/>
        </p:nvGrpSpPr>
        <p:grpSpPr>
          <a:xfrm>
            <a:off x="304799" y="6134100"/>
            <a:ext cx="11582400" cy="533400"/>
            <a:chOff x="304799" y="6553199"/>
            <a:chExt cx="11582400" cy="533400"/>
          </a:xfrm>
        </p:grpSpPr>
        <p:sp>
          <p:nvSpPr>
            <p:cNvPr id="19" name="object 19"/>
            <p:cNvSpPr/>
            <p:nvPr/>
          </p:nvSpPr>
          <p:spPr>
            <a:xfrm>
              <a:off x="323849" y="6553199"/>
              <a:ext cx="11563350" cy="533400"/>
            </a:xfrm>
            <a:custGeom>
              <a:avLst/>
              <a:gdLst/>
              <a:ahLst/>
              <a:cxnLst/>
              <a:rect l="l" t="t" r="r" b="b"/>
              <a:pathLst>
                <a:path w="11563350" h="533400">
                  <a:moveTo>
                    <a:pt x="11492152" y="533399"/>
                  </a:moveTo>
                  <a:lnTo>
                    <a:pt x="53397" y="533399"/>
                  </a:lnTo>
                  <a:lnTo>
                    <a:pt x="49681" y="532911"/>
                  </a:lnTo>
                  <a:lnTo>
                    <a:pt x="14085" y="507542"/>
                  </a:lnTo>
                  <a:lnTo>
                    <a:pt x="366" y="467158"/>
                  </a:lnTo>
                  <a:lnTo>
                    <a:pt x="0" y="462203"/>
                  </a:lnTo>
                  <a:lnTo>
                    <a:pt x="0" y="457199"/>
                  </a:lnTo>
                  <a:lnTo>
                    <a:pt x="0" y="71196"/>
                  </a:lnTo>
                  <a:lnTo>
                    <a:pt x="11716" y="29704"/>
                  </a:lnTo>
                  <a:lnTo>
                    <a:pt x="42320" y="2439"/>
                  </a:lnTo>
                  <a:lnTo>
                    <a:pt x="53397" y="0"/>
                  </a:lnTo>
                  <a:lnTo>
                    <a:pt x="11492152" y="0"/>
                  </a:lnTo>
                  <a:lnTo>
                    <a:pt x="11533641" y="15621"/>
                  </a:lnTo>
                  <a:lnTo>
                    <a:pt x="11559462" y="51661"/>
                  </a:lnTo>
                  <a:lnTo>
                    <a:pt x="11563347" y="71196"/>
                  </a:lnTo>
                  <a:lnTo>
                    <a:pt x="11563347" y="462203"/>
                  </a:lnTo>
                  <a:lnTo>
                    <a:pt x="11547725" y="503693"/>
                  </a:lnTo>
                  <a:lnTo>
                    <a:pt x="11511685" y="529513"/>
                  </a:lnTo>
                  <a:lnTo>
                    <a:pt x="11497106" y="532911"/>
                  </a:lnTo>
                  <a:lnTo>
                    <a:pt x="11492152" y="533399"/>
                  </a:lnTo>
                  <a:close/>
                </a:path>
              </a:pathLst>
            </a:custGeom>
            <a:solidFill>
              <a:srgbClr val="EFF5FF"/>
            </a:solidFill>
          </p:spPr>
          <p:txBody>
            <a:bodyPr wrap="square" lIns="0" tIns="0" rIns="0" bIns="0" rtlCol="0"/>
            <a:lstStyle/>
            <a:p>
              <a:endParaRPr/>
            </a:p>
          </p:txBody>
        </p:sp>
        <p:sp>
          <p:nvSpPr>
            <p:cNvPr id="20" name="object 20"/>
            <p:cNvSpPr/>
            <p:nvPr/>
          </p:nvSpPr>
          <p:spPr>
            <a:xfrm>
              <a:off x="304799" y="6553477"/>
              <a:ext cx="70485" cy="533400"/>
            </a:xfrm>
            <a:custGeom>
              <a:avLst/>
              <a:gdLst/>
              <a:ahLst/>
              <a:cxnLst/>
              <a:rect l="l" t="t" r="r" b="b"/>
              <a:pathLst>
                <a:path w="70485" h="533400">
                  <a:moveTo>
                    <a:pt x="70450" y="532844"/>
                  </a:moveTo>
                  <a:lnTo>
                    <a:pt x="33857" y="520291"/>
                  </a:lnTo>
                  <a:lnTo>
                    <a:pt x="5800" y="486081"/>
                  </a:lnTo>
                  <a:lnTo>
                    <a:pt x="0" y="456922"/>
                  </a:lnTo>
                  <a:lnTo>
                    <a:pt x="0" y="75922"/>
                  </a:lnTo>
                  <a:lnTo>
                    <a:pt x="12830" y="33579"/>
                  </a:lnTo>
                  <a:lnTo>
                    <a:pt x="47039" y="5522"/>
                  </a:lnTo>
                  <a:lnTo>
                    <a:pt x="70449" y="0"/>
                  </a:lnTo>
                  <a:lnTo>
                    <a:pt x="66287" y="1655"/>
                  </a:lnTo>
                  <a:lnTo>
                    <a:pt x="56951" y="9388"/>
                  </a:lnTo>
                  <a:lnTo>
                    <a:pt x="41000" y="46761"/>
                  </a:lnTo>
                  <a:lnTo>
                    <a:pt x="38100" y="75922"/>
                  </a:lnTo>
                  <a:lnTo>
                    <a:pt x="38100" y="456922"/>
                  </a:lnTo>
                  <a:lnTo>
                    <a:pt x="44515" y="499263"/>
                  </a:lnTo>
                  <a:lnTo>
                    <a:pt x="66287" y="531187"/>
                  </a:lnTo>
                  <a:lnTo>
                    <a:pt x="70450" y="532844"/>
                  </a:lnTo>
                  <a:close/>
                </a:path>
              </a:pathLst>
            </a:custGeom>
            <a:solidFill>
              <a:srgbClr val="003366"/>
            </a:solidFill>
          </p:spPr>
          <p:txBody>
            <a:bodyPr wrap="square" lIns="0" tIns="0" rIns="0" bIns="0" rtlCol="0"/>
            <a:lstStyle/>
            <a:p>
              <a:endParaRPr/>
            </a:p>
          </p:txBody>
        </p:sp>
        <p:pic>
          <p:nvPicPr>
            <p:cNvPr id="21" name="object 21"/>
            <p:cNvPicPr/>
            <p:nvPr/>
          </p:nvPicPr>
          <p:blipFill>
            <a:blip r:embed="rId5" cstate="print"/>
            <a:stretch>
              <a:fillRect/>
            </a:stretch>
          </p:blipFill>
          <p:spPr>
            <a:xfrm>
              <a:off x="495299" y="6743699"/>
              <a:ext cx="152399" cy="152399"/>
            </a:xfrm>
            <a:prstGeom prst="rect">
              <a:avLst/>
            </a:prstGeom>
          </p:spPr>
        </p:pic>
      </p:grpSp>
      <p:sp>
        <p:nvSpPr>
          <p:cNvPr id="22" name="object 22"/>
          <p:cNvSpPr txBox="1"/>
          <p:nvPr/>
        </p:nvSpPr>
        <p:spPr>
          <a:xfrm>
            <a:off x="711199" y="6283326"/>
            <a:ext cx="7188200" cy="208279"/>
          </a:xfrm>
          <a:prstGeom prst="rect">
            <a:avLst/>
          </a:prstGeom>
        </p:spPr>
        <p:txBody>
          <a:bodyPr vert="horz" wrap="square" lIns="0" tIns="12700" rIns="0" bIns="0" rtlCol="0">
            <a:spAutoFit/>
          </a:bodyPr>
          <a:lstStyle/>
          <a:p>
            <a:pPr marL="12700">
              <a:lnSpc>
                <a:spcPct val="100000"/>
              </a:lnSpc>
              <a:spcBef>
                <a:spcPts val="100"/>
              </a:spcBef>
            </a:pPr>
            <a:r>
              <a:rPr sz="1200" spc="-35" dirty="0">
                <a:solidFill>
                  <a:srgbClr val="374050"/>
                </a:solidFill>
                <a:latin typeface="PMingLiU"/>
                <a:cs typeface="PMingLiU"/>
              </a:rPr>
              <a:t>この環境設定により，水蒸気濃度の変化に伴う透過率の変化を高精度で測定することが可能になります。</a:t>
            </a:r>
            <a:endParaRPr sz="1200">
              <a:latin typeface="PMingLiU"/>
              <a:cs typeface="PMingLiU"/>
            </a:endParaRPr>
          </a:p>
        </p:txBody>
      </p:sp>
      <p:grpSp>
        <p:nvGrpSpPr>
          <p:cNvPr id="23" name="object 23"/>
          <p:cNvGrpSpPr/>
          <p:nvPr/>
        </p:nvGrpSpPr>
        <p:grpSpPr>
          <a:xfrm>
            <a:off x="3638549" y="723900"/>
            <a:ext cx="1905000" cy="2019300"/>
            <a:chOff x="3638549" y="1142999"/>
            <a:chExt cx="1905000" cy="2019300"/>
          </a:xfrm>
        </p:grpSpPr>
        <p:sp>
          <p:nvSpPr>
            <p:cNvPr id="24" name="object 24"/>
            <p:cNvSpPr/>
            <p:nvPr/>
          </p:nvSpPr>
          <p:spPr>
            <a:xfrm>
              <a:off x="3657599" y="1142999"/>
              <a:ext cx="1885950" cy="2019300"/>
            </a:xfrm>
            <a:custGeom>
              <a:avLst/>
              <a:gdLst/>
              <a:ahLst/>
              <a:cxnLst/>
              <a:rect l="l" t="t" r="r" b="b"/>
              <a:pathLst>
                <a:path w="1885950" h="2019300">
                  <a:moveTo>
                    <a:pt x="1814753" y="2019299"/>
                  </a:moveTo>
                  <a:lnTo>
                    <a:pt x="53397" y="2019299"/>
                  </a:lnTo>
                  <a:lnTo>
                    <a:pt x="49680" y="2018811"/>
                  </a:lnTo>
                  <a:lnTo>
                    <a:pt x="14085" y="1993443"/>
                  </a:lnTo>
                  <a:lnTo>
                    <a:pt x="365" y="1953058"/>
                  </a:lnTo>
                  <a:lnTo>
                    <a:pt x="0" y="1948103"/>
                  </a:lnTo>
                  <a:lnTo>
                    <a:pt x="0" y="1943099"/>
                  </a:lnTo>
                  <a:lnTo>
                    <a:pt x="0" y="71196"/>
                  </a:lnTo>
                  <a:lnTo>
                    <a:pt x="11716" y="29705"/>
                  </a:lnTo>
                  <a:lnTo>
                    <a:pt x="42320" y="2440"/>
                  </a:lnTo>
                  <a:lnTo>
                    <a:pt x="53397" y="0"/>
                  </a:lnTo>
                  <a:lnTo>
                    <a:pt x="1814753" y="0"/>
                  </a:lnTo>
                  <a:lnTo>
                    <a:pt x="1856243" y="15621"/>
                  </a:lnTo>
                  <a:lnTo>
                    <a:pt x="1882063" y="51661"/>
                  </a:lnTo>
                  <a:lnTo>
                    <a:pt x="1885950" y="71196"/>
                  </a:lnTo>
                  <a:lnTo>
                    <a:pt x="1885950" y="1948103"/>
                  </a:lnTo>
                  <a:lnTo>
                    <a:pt x="1870327" y="1989594"/>
                  </a:lnTo>
                  <a:lnTo>
                    <a:pt x="1834287" y="2015414"/>
                  </a:lnTo>
                  <a:lnTo>
                    <a:pt x="1819708" y="2018811"/>
                  </a:lnTo>
                  <a:lnTo>
                    <a:pt x="1814753" y="2019299"/>
                  </a:lnTo>
                  <a:close/>
                </a:path>
              </a:pathLst>
            </a:custGeom>
            <a:solidFill>
              <a:srgbClr val="FFFFFF"/>
            </a:solidFill>
          </p:spPr>
          <p:txBody>
            <a:bodyPr wrap="square" lIns="0" tIns="0" rIns="0" bIns="0" rtlCol="0"/>
            <a:lstStyle/>
            <a:p>
              <a:endParaRPr/>
            </a:p>
          </p:txBody>
        </p:sp>
        <p:sp>
          <p:nvSpPr>
            <p:cNvPr id="25" name="object 25"/>
            <p:cNvSpPr/>
            <p:nvPr/>
          </p:nvSpPr>
          <p:spPr>
            <a:xfrm>
              <a:off x="3638549" y="1143277"/>
              <a:ext cx="70485" cy="2019300"/>
            </a:xfrm>
            <a:custGeom>
              <a:avLst/>
              <a:gdLst/>
              <a:ahLst/>
              <a:cxnLst/>
              <a:rect l="l" t="t" r="r" b="b"/>
              <a:pathLst>
                <a:path w="70485" h="2019300">
                  <a:moveTo>
                    <a:pt x="70449" y="2018744"/>
                  </a:moveTo>
                  <a:lnTo>
                    <a:pt x="33857" y="2006191"/>
                  </a:lnTo>
                  <a:lnTo>
                    <a:pt x="5800" y="1971982"/>
                  </a:lnTo>
                  <a:lnTo>
                    <a:pt x="0" y="1942822"/>
                  </a:lnTo>
                  <a:lnTo>
                    <a:pt x="0" y="75922"/>
                  </a:lnTo>
                  <a:lnTo>
                    <a:pt x="12829" y="33579"/>
                  </a:lnTo>
                  <a:lnTo>
                    <a:pt x="47039" y="5522"/>
                  </a:lnTo>
                  <a:lnTo>
                    <a:pt x="70449" y="0"/>
                  </a:lnTo>
                  <a:lnTo>
                    <a:pt x="66287" y="1655"/>
                  </a:lnTo>
                  <a:lnTo>
                    <a:pt x="56951" y="9389"/>
                  </a:lnTo>
                  <a:lnTo>
                    <a:pt x="40999" y="46761"/>
                  </a:lnTo>
                  <a:lnTo>
                    <a:pt x="38100" y="75922"/>
                  </a:lnTo>
                  <a:lnTo>
                    <a:pt x="38100" y="1942822"/>
                  </a:lnTo>
                  <a:lnTo>
                    <a:pt x="44514" y="1985164"/>
                  </a:lnTo>
                  <a:lnTo>
                    <a:pt x="66287" y="2017088"/>
                  </a:lnTo>
                  <a:lnTo>
                    <a:pt x="70449" y="2018744"/>
                  </a:lnTo>
                  <a:close/>
                </a:path>
              </a:pathLst>
            </a:custGeom>
            <a:solidFill>
              <a:srgbClr val="FF9900"/>
            </a:solidFill>
          </p:spPr>
          <p:txBody>
            <a:bodyPr wrap="square" lIns="0" tIns="0" rIns="0" bIns="0" rtlCol="0"/>
            <a:lstStyle/>
            <a:p>
              <a:endParaRPr/>
            </a:p>
          </p:txBody>
        </p:sp>
        <p:sp>
          <p:nvSpPr>
            <p:cNvPr id="26" name="object 26"/>
            <p:cNvSpPr/>
            <p:nvPr/>
          </p:nvSpPr>
          <p:spPr>
            <a:xfrm>
              <a:off x="4324349" y="1333499"/>
              <a:ext cx="571500" cy="571500"/>
            </a:xfrm>
            <a:custGeom>
              <a:avLst/>
              <a:gdLst/>
              <a:ahLst/>
              <a:cxnLst/>
              <a:rect l="l" t="t" r="r" b="b"/>
              <a:pathLst>
                <a:path w="571500" h="571500">
                  <a:moveTo>
                    <a:pt x="285749" y="571499"/>
                  </a:moveTo>
                  <a:lnTo>
                    <a:pt x="243821" y="568407"/>
                  </a:lnTo>
                  <a:lnTo>
                    <a:pt x="202800" y="559195"/>
                  </a:lnTo>
                  <a:lnTo>
                    <a:pt x="163575" y="544064"/>
                  </a:lnTo>
                  <a:lnTo>
                    <a:pt x="126995" y="523342"/>
                  </a:lnTo>
                  <a:lnTo>
                    <a:pt x="93851" y="497476"/>
                  </a:lnTo>
                  <a:lnTo>
                    <a:pt x="64862" y="467027"/>
                  </a:lnTo>
                  <a:lnTo>
                    <a:pt x="40653" y="432654"/>
                  </a:lnTo>
                  <a:lnTo>
                    <a:pt x="21750" y="395101"/>
                  </a:lnTo>
                  <a:lnTo>
                    <a:pt x="8562" y="355181"/>
                  </a:lnTo>
                  <a:lnTo>
                    <a:pt x="1376" y="313758"/>
                  </a:lnTo>
                  <a:lnTo>
                    <a:pt x="0" y="285749"/>
                  </a:lnTo>
                  <a:lnTo>
                    <a:pt x="344" y="271728"/>
                  </a:lnTo>
                  <a:lnTo>
                    <a:pt x="5490" y="230002"/>
                  </a:lnTo>
                  <a:lnTo>
                    <a:pt x="16702" y="189483"/>
                  </a:lnTo>
                  <a:lnTo>
                    <a:pt x="33740" y="151048"/>
                  </a:lnTo>
                  <a:lnTo>
                    <a:pt x="56232" y="115528"/>
                  </a:lnTo>
                  <a:lnTo>
                    <a:pt x="83693" y="83694"/>
                  </a:lnTo>
                  <a:lnTo>
                    <a:pt x="115528" y="56233"/>
                  </a:lnTo>
                  <a:lnTo>
                    <a:pt x="151048" y="33740"/>
                  </a:lnTo>
                  <a:lnTo>
                    <a:pt x="189483" y="16703"/>
                  </a:lnTo>
                  <a:lnTo>
                    <a:pt x="230002" y="5490"/>
                  </a:lnTo>
                  <a:lnTo>
                    <a:pt x="271728" y="344"/>
                  </a:lnTo>
                  <a:lnTo>
                    <a:pt x="285749" y="0"/>
                  </a:lnTo>
                  <a:lnTo>
                    <a:pt x="299771" y="344"/>
                  </a:lnTo>
                  <a:lnTo>
                    <a:pt x="341496" y="5490"/>
                  </a:lnTo>
                  <a:lnTo>
                    <a:pt x="382015" y="16703"/>
                  </a:lnTo>
                  <a:lnTo>
                    <a:pt x="420451" y="33740"/>
                  </a:lnTo>
                  <a:lnTo>
                    <a:pt x="455970" y="56233"/>
                  </a:lnTo>
                  <a:lnTo>
                    <a:pt x="487805" y="83694"/>
                  </a:lnTo>
                  <a:lnTo>
                    <a:pt x="515266" y="115528"/>
                  </a:lnTo>
                  <a:lnTo>
                    <a:pt x="537758" y="151048"/>
                  </a:lnTo>
                  <a:lnTo>
                    <a:pt x="554796" y="189483"/>
                  </a:lnTo>
                  <a:lnTo>
                    <a:pt x="566008" y="230002"/>
                  </a:lnTo>
                  <a:lnTo>
                    <a:pt x="571155" y="271728"/>
                  </a:lnTo>
                  <a:lnTo>
                    <a:pt x="571499" y="285749"/>
                  </a:lnTo>
                  <a:lnTo>
                    <a:pt x="571155" y="299770"/>
                  </a:lnTo>
                  <a:lnTo>
                    <a:pt x="566008" y="341496"/>
                  </a:lnTo>
                  <a:lnTo>
                    <a:pt x="554796" y="382016"/>
                  </a:lnTo>
                  <a:lnTo>
                    <a:pt x="537758" y="420451"/>
                  </a:lnTo>
                  <a:lnTo>
                    <a:pt x="515266" y="455971"/>
                  </a:lnTo>
                  <a:lnTo>
                    <a:pt x="487805" y="487805"/>
                  </a:lnTo>
                  <a:lnTo>
                    <a:pt x="455970" y="515266"/>
                  </a:lnTo>
                  <a:lnTo>
                    <a:pt x="420451" y="537758"/>
                  </a:lnTo>
                  <a:lnTo>
                    <a:pt x="382015" y="554796"/>
                  </a:lnTo>
                  <a:lnTo>
                    <a:pt x="341496" y="566008"/>
                  </a:lnTo>
                  <a:lnTo>
                    <a:pt x="299771" y="571155"/>
                  </a:lnTo>
                  <a:lnTo>
                    <a:pt x="285749" y="571499"/>
                  </a:lnTo>
                  <a:close/>
                </a:path>
              </a:pathLst>
            </a:custGeom>
            <a:solidFill>
              <a:srgbClr val="003366"/>
            </a:solidFill>
          </p:spPr>
          <p:txBody>
            <a:bodyPr wrap="square" lIns="0" tIns="0" rIns="0" bIns="0" rtlCol="0"/>
            <a:lstStyle/>
            <a:p>
              <a:endParaRPr/>
            </a:p>
          </p:txBody>
        </p:sp>
        <p:pic>
          <p:nvPicPr>
            <p:cNvPr id="27" name="object 27"/>
            <p:cNvPicPr/>
            <p:nvPr/>
          </p:nvPicPr>
          <p:blipFill>
            <a:blip r:embed="rId6" cstate="print"/>
            <a:stretch>
              <a:fillRect/>
            </a:stretch>
          </p:blipFill>
          <p:spPr>
            <a:xfrm>
              <a:off x="4514849" y="1504949"/>
              <a:ext cx="200024" cy="228599"/>
            </a:xfrm>
            <a:prstGeom prst="rect">
              <a:avLst/>
            </a:prstGeom>
          </p:spPr>
        </p:pic>
      </p:grpSp>
      <p:sp>
        <p:nvSpPr>
          <p:cNvPr id="28" name="object 28"/>
          <p:cNvSpPr txBox="1"/>
          <p:nvPr/>
        </p:nvSpPr>
        <p:spPr>
          <a:xfrm>
            <a:off x="3930650" y="1571353"/>
            <a:ext cx="1363980" cy="285115"/>
          </a:xfrm>
          <a:prstGeom prst="rect">
            <a:avLst/>
          </a:prstGeom>
        </p:spPr>
        <p:txBody>
          <a:bodyPr vert="horz" wrap="square" lIns="0" tIns="12700" rIns="0" bIns="0" rtlCol="0">
            <a:spAutoFit/>
          </a:bodyPr>
          <a:lstStyle/>
          <a:p>
            <a:pPr marL="12700">
              <a:lnSpc>
                <a:spcPct val="100000"/>
              </a:lnSpc>
              <a:spcBef>
                <a:spcPts val="100"/>
              </a:spcBef>
            </a:pPr>
            <a:r>
              <a:rPr sz="1700" spc="-190" dirty="0">
                <a:solidFill>
                  <a:srgbClr val="003366"/>
                </a:solidFill>
                <a:latin typeface="SimSun"/>
                <a:cs typeface="SimSun"/>
              </a:rPr>
              <a:t>グローブボック</a:t>
            </a:r>
            <a:endParaRPr sz="1700">
              <a:latin typeface="SimSun"/>
              <a:cs typeface="SimSun"/>
            </a:endParaRPr>
          </a:p>
        </p:txBody>
      </p:sp>
      <p:sp>
        <p:nvSpPr>
          <p:cNvPr id="29" name="object 29"/>
          <p:cNvSpPr txBox="1"/>
          <p:nvPr/>
        </p:nvSpPr>
        <p:spPr>
          <a:xfrm>
            <a:off x="3863975" y="1722849"/>
            <a:ext cx="1492250" cy="821690"/>
          </a:xfrm>
          <a:prstGeom prst="rect">
            <a:avLst/>
          </a:prstGeom>
        </p:spPr>
        <p:txBody>
          <a:bodyPr vert="horz" wrap="square" lIns="0" tIns="128270" rIns="0" bIns="0" rtlCol="0">
            <a:spAutoFit/>
          </a:bodyPr>
          <a:lstStyle/>
          <a:p>
            <a:pPr marL="4445" algn="ctr">
              <a:lnSpc>
                <a:spcPct val="100000"/>
              </a:lnSpc>
              <a:spcBef>
                <a:spcPts val="1010"/>
              </a:spcBef>
            </a:pPr>
            <a:r>
              <a:rPr sz="1700" spc="-50" dirty="0">
                <a:solidFill>
                  <a:srgbClr val="003366"/>
                </a:solidFill>
                <a:latin typeface="SimSun"/>
                <a:cs typeface="SimSun"/>
              </a:rPr>
              <a:t>ス</a:t>
            </a:r>
            <a:endParaRPr sz="1700">
              <a:latin typeface="SimSun"/>
              <a:cs typeface="SimSun"/>
            </a:endParaRPr>
          </a:p>
          <a:p>
            <a:pPr marL="12700" marR="5080" algn="ctr">
              <a:lnSpc>
                <a:spcPct val="119000"/>
              </a:lnSpc>
              <a:spcBef>
                <a:spcPts val="320"/>
              </a:spcBef>
            </a:pPr>
            <a:r>
              <a:rPr sz="1050" spc="-15" dirty="0">
                <a:solidFill>
                  <a:srgbClr val="4A5462"/>
                </a:solidFill>
                <a:latin typeface="PMingLiU"/>
                <a:cs typeface="PMingLiU"/>
              </a:rPr>
              <a:t>内にマイケルソン干渉計</a:t>
            </a:r>
            <a:r>
              <a:rPr sz="1050" spc="-20" dirty="0">
                <a:solidFill>
                  <a:srgbClr val="4A5462"/>
                </a:solidFill>
                <a:latin typeface="PMingLiU"/>
                <a:cs typeface="PMingLiU"/>
              </a:rPr>
              <a:t>を配置</a:t>
            </a:r>
            <a:endParaRPr sz="1050">
              <a:latin typeface="PMingLiU"/>
              <a:cs typeface="PMingLiU"/>
            </a:endParaRPr>
          </a:p>
        </p:txBody>
      </p:sp>
      <p:grpSp>
        <p:nvGrpSpPr>
          <p:cNvPr id="30" name="object 30"/>
          <p:cNvGrpSpPr/>
          <p:nvPr/>
        </p:nvGrpSpPr>
        <p:grpSpPr>
          <a:xfrm>
            <a:off x="1733549" y="1485900"/>
            <a:ext cx="1714500" cy="1676400"/>
            <a:chOff x="1733549" y="1904999"/>
            <a:chExt cx="1714500" cy="1676400"/>
          </a:xfrm>
        </p:grpSpPr>
        <p:sp>
          <p:nvSpPr>
            <p:cNvPr id="31" name="object 31"/>
            <p:cNvSpPr/>
            <p:nvPr/>
          </p:nvSpPr>
          <p:spPr>
            <a:xfrm>
              <a:off x="1752599" y="1904999"/>
              <a:ext cx="1695450" cy="1676400"/>
            </a:xfrm>
            <a:custGeom>
              <a:avLst/>
              <a:gdLst/>
              <a:ahLst/>
              <a:cxnLst/>
              <a:rect l="l" t="t" r="r" b="b"/>
              <a:pathLst>
                <a:path w="1695450" h="1676400">
                  <a:moveTo>
                    <a:pt x="1624253" y="1676399"/>
                  </a:moveTo>
                  <a:lnTo>
                    <a:pt x="53397" y="1676399"/>
                  </a:lnTo>
                  <a:lnTo>
                    <a:pt x="49681" y="1675911"/>
                  </a:lnTo>
                  <a:lnTo>
                    <a:pt x="14085" y="1650543"/>
                  </a:lnTo>
                  <a:lnTo>
                    <a:pt x="366" y="1610158"/>
                  </a:lnTo>
                  <a:lnTo>
                    <a:pt x="0" y="1605203"/>
                  </a:lnTo>
                  <a:lnTo>
                    <a:pt x="0" y="1600199"/>
                  </a:lnTo>
                  <a:lnTo>
                    <a:pt x="0" y="71196"/>
                  </a:lnTo>
                  <a:lnTo>
                    <a:pt x="11716" y="29705"/>
                  </a:lnTo>
                  <a:lnTo>
                    <a:pt x="42320" y="2440"/>
                  </a:lnTo>
                  <a:lnTo>
                    <a:pt x="53397" y="0"/>
                  </a:lnTo>
                  <a:lnTo>
                    <a:pt x="1624253" y="0"/>
                  </a:lnTo>
                  <a:lnTo>
                    <a:pt x="1665744" y="15621"/>
                  </a:lnTo>
                  <a:lnTo>
                    <a:pt x="1691563" y="51661"/>
                  </a:lnTo>
                  <a:lnTo>
                    <a:pt x="1695449" y="71196"/>
                  </a:lnTo>
                  <a:lnTo>
                    <a:pt x="1695449" y="1605203"/>
                  </a:lnTo>
                  <a:lnTo>
                    <a:pt x="1679827" y="1646694"/>
                  </a:lnTo>
                  <a:lnTo>
                    <a:pt x="1643787" y="1672513"/>
                  </a:lnTo>
                  <a:lnTo>
                    <a:pt x="1629208" y="1675911"/>
                  </a:lnTo>
                  <a:lnTo>
                    <a:pt x="1624253" y="1676399"/>
                  </a:lnTo>
                  <a:close/>
                </a:path>
              </a:pathLst>
            </a:custGeom>
            <a:solidFill>
              <a:srgbClr val="FFFFFF"/>
            </a:solidFill>
          </p:spPr>
          <p:txBody>
            <a:bodyPr wrap="square" lIns="0" tIns="0" rIns="0" bIns="0" rtlCol="0"/>
            <a:lstStyle/>
            <a:p>
              <a:endParaRPr/>
            </a:p>
          </p:txBody>
        </p:sp>
        <p:sp>
          <p:nvSpPr>
            <p:cNvPr id="32" name="object 32"/>
            <p:cNvSpPr/>
            <p:nvPr/>
          </p:nvSpPr>
          <p:spPr>
            <a:xfrm>
              <a:off x="1733549" y="1905277"/>
              <a:ext cx="70485" cy="1676400"/>
            </a:xfrm>
            <a:custGeom>
              <a:avLst/>
              <a:gdLst/>
              <a:ahLst/>
              <a:cxnLst/>
              <a:rect l="l" t="t" r="r" b="b"/>
              <a:pathLst>
                <a:path w="70485" h="1676400">
                  <a:moveTo>
                    <a:pt x="70450" y="1675844"/>
                  </a:moveTo>
                  <a:lnTo>
                    <a:pt x="33857" y="1663291"/>
                  </a:lnTo>
                  <a:lnTo>
                    <a:pt x="5800" y="1629082"/>
                  </a:lnTo>
                  <a:lnTo>
                    <a:pt x="0" y="1599922"/>
                  </a:lnTo>
                  <a:lnTo>
                    <a:pt x="0" y="75922"/>
                  </a:lnTo>
                  <a:lnTo>
                    <a:pt x="12830" y="33579"/>
                  </a:lnTo>
                  <a:lnTo>
                    <a:pt x="47039" y="5522"/>
                  </a:lnTo>
                  <a:lnTo>
                    <a:pt x="70449" y="0"/>
                  </a:lnTo>
                  <a:lnTo>
                    <a:pt x="66287" y="1655"/>
                  </a:lnTo>
                  <a:lnTo>
                    <a:pt x="56951" y="9389"/>
                  </a:lnTo>
                  <a:lnTo>
                    <a:pt x="41000" y="46761"/>
                  </a:lnTo>
                  <a:lnTo>
                    <a:pt x="38100" y="75922"/>
                  </a:lnTo>
                  <a:lnTo>
                    <a:pt x="38100" y="1599922"/>
                  </a:lnTo>
                  <a:lnTo>
                    <a:pt x="44514" y="1642264"/>
                  </a:lnTo>
                  <a:lnTo>
                    <a:pt x="66287" y="1674188"/>
                  </a:lnTo>
                  <a:lnTo>
                    <a:pt x="70450" y="1675844"/>
                  </a:lnTo>
                  <a:close/>
                </a:path>
              </a:pathLst>
            </a:custGeom>
            <a:solidFill>
              <a:srgbClr val="FF9900"/>
            </a:solidFill>
          </p:spPr>
          <p:txBody>
            <a:bodyPr wrap="square" lIns="0" tIns="0" rIns="0" bIns="0" rtlCol="0"/>
            <a:lstStyle/>
            <a:p>
              <a:endParaRPr/>
            </a:p>
          </p:txBody>
        </p:sp>
        <p:sp>
          <p:nvSpPr>
            <p:cNvPr id="33" name="object 33"/>
            <p:cNvSpPr/>
            <p:nvPr/>
          </p:nvSpPr>
          <p:spPr>
            <a:xfrm>
              <a:off x="2324099" y="2095499"/>
              <a:ext cx="571500" cy="571500"/>
            </a:xfrm>
            <a:custGeom>
              <a:avLst/>
              <a:gdLst/>
              <a:ahLst/>
              <a:cxnLst/>
              <a:rect l="l" t="t" r="r" b="b"/>
              <a:pathLst>
                <a:path w="571500" h="571500">
                  <a:moveTo>
                    <a:pt x="285749" y="571499"/>
                  </a:moveTo>
                  <a:lnTo>
                    <a:pt x="243821" y="568407"/>
                  </a:lnTo>
                  <a:lnTo>
                    <a:pt x="202800" y="559195"/>
                  </a:lnTo>
                  <a:lnTo>
                    <a:pt x="163575" y="544064"/>
                  </a:lnTo>
                  <a:lnTo>
                    <a:pt x="126995" y="523341"/>
                  </a:lnTo>
                  <a:lnTo>
                    <a:pt x="93852" y="497476"/>
                  </a:lnTo>
                  <a:lnTo>
                    <a:pt x="64862" y="467027"/>
                  </a:lnTo>
                  <a:lnTo>
                    <a:pt x="40653" y="432654"/>
                  </a:lnTo>
                  <a:lnTo>
                    <a:pt x="21751" y="395101"/>
                  </a:lnTo>
                  <a:lnTo>
                    <a:pt x="8563" y="355181"/>
                  </a:lnTo>
                  <a:lnTo>
                    <a:pt x="1376" y="313758"/>
                  </a:lnTo>
                  <a:lnTo>
                    <a:pt x="0" y="285749"/>
                  </a:lnTo>
                  <a:lnTo>
                    <a:pt x="344" y="271728"/>
                  </a:lnTo>
                  <a:lnTo>
                    <a:pt x="5490" y="230002"/>
                  </a:lnTo>
                  <a:lnTo>
                    <a:pt x="16703" y="189483"/>
                  </a:lnTo>
                  <a:lnTo>
                    <a:pt x="33740" y="151048"/>
                  </a:lnTo>
                  <a:lnTo>
                    <a:pt x="56233" y="115528"/>
                  </a:lnTo>
                  <a:lnTo>
                    <a:pt x="83694" y="83693"/>
                  </a:lnTo>
                  <a:lnTo>
                    <a:pt x="115528" y="56233"/>
                  </a:lnTo>
                  <a:lnTo>
                    <a:pt x="151048" y="33741"/>
                  </a:lnTo>
                  <a:lnTo>
                    <a:pt x="189483" y="16703"/>
                  </a:lnTo>
                  <a:lnTo>
                    <a:pt x="230002" y="5490"/>
                  </a:lnTo>
                  <a:lnTo>
                    <a:pt x="271728" y="344"/>
                  </a:lnTo>
                  <a:lnTo>
                    <a:pt x="285749" y="0"/>
                  </a:lnTo>
                  <a:lnTo>
                    <a:pt x="299771" y="344"/>
                  </a:lnTo>
                  <a:lnTo>
                    <a:pt x="341496" y="5490"/>
                  </a:lnTo>
                  <a:lnTo>
                    <a:pt x="382016" y="16703"/>
                  </a:lnTo>
                  <a:lnTo>
                    <a:pt x="420451" y="33741"/>
                  </a:lnTo>
                  <a:lnTo>
                    <a:pt x="455971" y="56233"/>
                  </a:lnTo>
                  <a:lnTo>
                    <a:pt x="487805" y="83693"/>
                  </a:lnTo>
                  <a:lnTo>
                    <a:pt x="515266" y="115528"/>
                  </a:lnTo>
                  <a:lnTo>
                    <a:pt x="537758" y="151048"/>
                  </a:lnTo>
                  <a:lnTo>
                    <a:pt x="554796" y="189483"/>
                  </a:lnTo>
                  <a:lnTo>
                    <a:pt x="566008" y="230002"/>
                  </a:lnTo>
                  <a:lnTo>
                    <a:pt x="571155" y="271728"/>
                  </a:lnTo>
                  <a:lnTo>
                    <a:pt x="571499" y="285749"/>
                  </a:lnTo>
                  <a:lnTo>
                    <a:pt x="571155" y="299771"/>
                  </a:lnTo>
                  <a:lnTo>
                    <a:pt x="566008" y="341496"/>
                  </a:lnTo>
                  <a:lnTo>
                    <a:pt x="554796" y="382016"/>
                  </a:lnTo>
                  <a:lnTo>
                    <a:pt x="537758" y="420451"/>
                  </a:lnTo>
                  <a:lnTo>
                    <a:pt x="515266" y="455970"/>
                  </a:lnTo>
                  <a:lnTo>
                    <a:pt x="487805" y="487805"/>
                  </a:lnTo>
                  <a:lnTo>
                    <a:pt x="455971" y="515266"/>
                  </a:lnTo>
                  <a:lnTo>
                    <a:pt x="420451" y="537758"/>
                  </a:lnTo>
                  <a:lnTo>
                    <a:pt x="382016" y="554796"/>
                  </a:lnTo>
                  <a:lnTo>
                    <a:pt x="341496" y="566008"/>
                  </a:lnTo>
                  <a:lnTo>
                    <a:pt x="299771" y="571155"/>
                  </a:lnTo>
                  <a:lnTo>
                    <a:pt x="285749" y="571499"/>
                  </a:lnTo>
                  <a:close/>
                </a:path>
              </a:pathLst>
            </a:custGeom>
            <a:solidFill>
              <a:srgbClr val="003366"/>
            </a:solidFill>
          </p:spPr>
          <p:txBody>
            <a:bodyPr wrap="square" lIns="0" tIns="0" rIns="0" bIns="0" rtlCol="0"/>
            <a:lstStyle/>
            <a:p>
              <a:endParaRPr/>
            </a:p>
          </p:txBody>
        </p:sp>
        <p:pic>
          <p:nvPicPr>
            <p:cNvPr id="34" name="object 34"/>
            <p:cNvPicPr/>
            <p:nvPr/>
          </p:nvPicPr>
          <p:blipFill>
            <a:blip r:embed="rId7" cstate="print"/>
            <a:stretch>
              <a:fillRect/>
            </a:stretch>
          </p:blipFill>
          <p:spPr>
            <a:xfrm>
              <a:off x="2495549" y="2266949"/>
              <a:ext cx="228599" cy="228599"/>
            </a:xfrm>
            <a:prstGeom prst="rect">
              <a:avLst/>
            </a:prstGeom>
          </p:spPr>
        </p:pic>
      </p:grpSp>
      <p:sp>
        <p:nvSpPr>
          <p:cNvPr id="35" name="object 35"/>
          <p:cNvSpPr txBox="1"/>
          <p:nvPr/>
        </p:nvSpPr>
        <p:spPr>
          <a:xfrm>
            <a:off x="1968500" y="2213820"/>
            <a:ext cx="1285875" cy="755650"/>
          </a:xfrm>
          <a:prstGeom prst="rect">
            <a:avLst/>
          </a:prstGeom>
        </p:spPr>
        <p:txBody>
          <a:bodyPr vert="horz" wrap="square" lIns="0" tIns="141605" rIns="0" bIns="0" rtlCol="0">
            <a:spAutoFit/>
          </a:bodyPr>
          <a:lstStyle/>
          <a:p>
            <a:pPr algn="ctr">
              <a:lnSpc>
                <a:spcPct val="100000"/>
              </a:lnSpc>
              <a:spcBef>
                <a:spcPts val="1115"/>
              </a:spcBef>
            </a:pPr>
            <a:r>
              <a:rPr sz="1500" spc="-150" dirty="0">
                <a:solidFill>
                  <a:srgbClr val="003366"/>
                </a:solidFill>
                <a:latin typeface="SimSun"/>
                <a:cs typeface="SimSun"/>
              </a:rPr>
              <a:t>湿</a:t>
            </a:r>
            <a:r>
              <a:rPr sz="1550" spc="-215" dirty="0">
                <a:solidFill>
                  <a:srgbClr val="003366"/>
                </a:solidFill>
                <a:latin typeface="SimSun"/>
                <a:cs typeface="SimSun"/>
              </a:rPr>
              <a:t>度制</a:t>
            </a:r>
            <a:r>
              <a:rPr sz="1500" spc="-150" dirty="0">
                <a:solidFill>
                  <a:srgbClr val="003366"/>
                </a:solidFill>
                <a:latin typeface="SimSun"/>
                <a:cs typeface="SimSun"/>
              </a:rPr>
              <a:t>御装</a:t>
            </a:r>
            <a:r>
              <a:rPr sz="1450" spc="-50" dirty="0">
                <a:solidFill>
                  <a:srgbClr val="003366"/>
                </a:solidFill>
                <a:latin typeface="PMingLiU"/>
                <a:cs typeface="PMingLiU"/>
              </a:rPr>
              <a:t>置</a:t>
            </a:r>
            <a:endParaRPr sz="1450">
              <a:latin typeface="PMingLiU"/>
              <a:cs typeface="PMingLiU"/>
            </a:endParaRPr>
          </a:p>
          <a:p>
            <a:pPr marL="12700" marR="5715" algn="ctr">
              <a:lnSpc>
                <a:spcPct val="111100"/>
              </a:lnSpc>
              <a:spcBef>
                <a:spcPts val="470"/>
              </a:spcBef>
            </a:pPr>
            <a:r>
              <a:rPr sz="900" spc="-15" dirty="0">
                <a:solidFill>
                  <a:srgbClr val="4A5462"/>
                </a:solidFill>
                <a:latin typeface="PMingLiU"/>
                <a:cs typeface="PMingLiU"/>
              </a:rPr>
              <a:t>キッツマイクロフィルタ</a:t>
            </a:r>
            <a:r>
              <a:rPr sz="900" dirty="0">
                <a:solidFill>
                  <a:srgbClr val="4A5462"/>
                </a:solidFill>
                <a:latin typeface="PMingLiU"/>
                <a:cs typeface="PMingLiU"/>
              </a:rPr>
              <a:t>社製：</a:t>
            </a:r>
            <a:r>
              <a:rPr sz="900" dirty="0">
                <a:solidFill>
                  <a:srgbClr val="4A5462"/>
                </a:solidFill>
                <a:latin typeface="Arial"/>
                <a:cs typeface="Arial"/>
              </a:rPr>
              <a:t>AHCU-</a:t>
            </a:r>
            <a:r>
              <a:rPr sz="900" spc="-50" dirty="0">
                <a:solidFill>
                  <a:srgbClr val="4A5462"/>
                </a:solidFill>
                <a:latin typeface="Arial"/>
                <a:cs typeface="Arial"/>
              </a:rPr>
              <a:t>2</a:t>
            </a:r>
            <a:endParaRPr sz="900">
              <a:latin typeface="Arial"/>
              <a:cs typeface="Arial"/>
            </a:endParaRPr>
          </a:p>
        </p:txBody>
      </p:sp>
      <p:grpSp>
        <p:nvGrpSpPr>
          <p:cNvPr id="36" name="object 36"/>
          <p:cNvGrpSpPr/>
          <p:nvPr/>
        </p:nvGrpSpPr>
        <p:grpSpPr>
          <a:xfrm>
            <a:off x="3438525" y="1485900"/>
            <a:ext cx="3819525" cy="1828800"/>
            <a:chOff x="3438525" y="1904999"/>
            <a:chExt cx="3819525" cy="1828800"/>
          </a:xfrm>
        </p:grpSpPr>
        <p:sp>
          <p:nvSpPr>
            <p:cNvPr id="37" name="object 37"/>
            <p:cNvSpPr/>
            <p:nvPr/>
          </p:nvSpPr>
          <p:spPr>
            <a:xfrm>
              <a:off x="3448050" y="2105024"/>
              <a:ext cx="952500" cy="19050"/>
            </a:xfrm>
            <a:custGeom>
              <a:avLst/>
              <a:gdLst/>
              <a:ahLst/>
              <a:cxnLst/>
              <a:rect l="l" t="t" r="r" b="b"/>
              <a:pathLst>
                <a:path w="952500" h="19050">
                  <a:moveTo>
                    <a:pt x="0" y="0"/>
                  </a:moveTo>
                  <a:lnTo>
                    <a:pt x="952499" y="0"/>
                  </a:lnTo>
                </a:path>
                <a:path w="952500" h="19050">
                  <a:moveTo>
                    <a:pt x="0" y="19049"/>
                  </a:moveTo>
                  <a:lnTo>
                    <a:pt x="952499" y="19049"/>
                  </a:lnTo>
                </a:path>
              </a:pathLst>
            </a:custGeom>
            <a:ln w="19049">
              <a:solidFill>
                <a:srgbClr val="66CCFF"/>
              </a:solidFill>
              <a:prstDash val="sysDash"/>
            </a:ln>
          </p:spPr>
          <p:txBody>
            <a:bodyPr wrap="square" lIns="0" tIns="0" rIns="0" bIns="0" rtlCol="0"/>
            <a:lstStyle/>
            <a:p>
              <a:endParaRPr/>
            </a:p>
          </p:txBody>
        </p:sp>
        <p:sp>
          <p:nvSpPr>
            <p:cNvPr id="38" name="object 38"/>
            <p:cNvSpPr/>
            <p:nvPr/>
          </p:nvSpPr>
          <p:spPr>
            <a:xfrm>
              <a:off x="3457574" y="2095499"/>
              <a:ext cx="933450" cy="38100"/>
            </a:xfrm>
            <a:custGeom>
              <a:avLst/>
              <a:gdLst/>
              <a:ahLst/>
              <a:cxnLst/>
              <a:rect l="l" t="t" r="r" b="b"/>
              <a:pathLst>
                <a:path w="933450" h="38100">
                  <a:moveTo>
                    <a:pt x="933449" y="0"/>
                  </a:moveTo>
                  <a:lnTo>
                    <a:pt x="933449" y="38099"/>
                  </a:lnTo>
                </a:path>
                <a:path w="933450" h="38100">
                  <a:moveTo>
                    <a:pt x="0" y="0"/>
                  </a:moveTo>
                  <a:lnTo>
                    <a:pt x="0" y="38099"/>
                  </a:lnTo>
                </a:path>
              </a:pathLst>
            </a:custGeom>
            <a:ln w="19049">
              <a:solidFill>
                <a:srgbClr val="66CCFF"/>
              </a:solidFill>
            </a:ln>
          </p:spPr>
          <p:txBody>
            <a:bodyPr wrap="square" lIns="0" tIns="0" rIns="0" bIns="0" rtlCol="0"/>
            <a:lstStyle/>
            <a:p>
              <a:endParaRPr/>
            </a:p>
          </p:txBody>
        </p:sp>
        <p:sp>
          <p:nvSpPr>
            <p:cNvPr id="39" name="object 39"/>
            <p:cNvSpPr/>
            <p:nvPr/>
          </p:nvSpPr>
          <p:spPr>
            <a:xfrm>
              <a:off x="5562599" y="1904999"/>
              <a:ext cx="1695450" cy="1828800"/>
            </a:xfrm>
            <a:custGeom>
              <a:avLst/>
              <a:gdLst/>
              <a:ahLst/>
              <a:cxnLst/>
              <a:rect l="l" t="t" r="r" b="b"/>
              <a:pathLst>
                <a:path w="1695450" h="1828800">
                  <a:moveTo>
                    <a:pt x="1624254" y="1828799"/>
                  </a:moveTo>
                  <a:lnTo>
                    <a:pt x="53397" y="1828799"/>
                  </a:lnTo>
                  <a:lnTo>
                    <a:pt x="49681" y="1828311"/>
                  </a:lnTo>
                  <a:lnTo>
                    <a:pt x="14085" y="1802943"/>
                  </a:lnTo>
                  <a:lnTo>
                    <a:pt x="366" y="1762558"/>
                  </a:lnTo>
                  <a:lnTo>
                    <a:pt x="0" y="1757603"/>
                  </a:lnTo>
                  <a:lnTo>
                    <a:pt x="0" y="1752599"/>
                  </a:lnTo>
                  <a:lnTo>
                    <a:pt x="0" y="71196"/>
                  </a:lnTo>
                  <a:lnTo>
                    <a:pt x="11716" y="29705"/>
                  </a:lnTo>
                  <a:lnTo>
                    <a:pt x="42320" y="2440"/>
                  </a:lnTo>
                  <a:lnTo>
                    <a:pt x="53397" y="0"/>
                  </a:lnTo>
                  <a:lnTo>
                    <a:pt x="1624254" y="0"/>
                  </a:lnTo>
                  <a:lnTo>
                    <a:pt x="1665744" y="15621"/>
                  </a:lnTo>
                  <a:lnTo>
                    <a:pt x="1691564" y="51661"/>
                  </a:lnTo>
                  <a:lnTo>
                    <a:pt x="1695450" y="71196"/>
                  </a:lnTo>
                  <a:lnTo>
                    <a:pt x="1695450" y="1757603"/>
                  </a:lnTo>
                  <a:lnTo>
                    <a:pt x="1679828" y="1799094"/>
                  </a:lnTo>
                  <a:lnTo>
                    <a:pt x="1643787" y="1824913"/>
                  </a:lnTo>
                  <a:lnTo>
                    <a:pt x="1629209" y="1828311"/>
                  </a:lnTo>
                  <a:lnTo>
                    <a:pt x="1624254" y="1828799"/>
                  </a:lnTo>
                  <a:close/>
                </a:path>
              </a:pathLst>
            </a:custGeom>
            <a:solidFill>
              <a:srgbClr val="FFFFFF"/>
            </a:solidFill>
          </p:spPr>
          <p:txBody>
            <a:bodyPr wrap="square" lIns="0" tIns="0" rIns="0" bIns="0" rtlCol="0"/>
            <a:lstStyle/>
            <a:p>
              <a:endParaRPr/>
            </a:p>
          </p:txBody>
        </p:sp>
        <p:sp>
          <p:nvSpPr>
            <p:cNvPr id="40" name="object 40"/>
            <p:cNvSpPr/>
            <p:nvPr/>
          </p:nvSpPr>
          <p:spPr>
            <a:xfrm>
              <a:off x="5543549" y="1905277"/>
              <a:ext cx="70485" cy="1828800"/>
            </a:xfrm>
            <a:custGeom>
              <a:avLst/>
              <a:gdLst/>
              <a:ahLst/>
              <a:cxnLst/>
              <a:rect l="l" t="t" r="r" b="b"/>
              <a:pathLst>
                <a:path w="70485" h="1828800">
                  <a:moveTo>
                    <a:pt x="70449" y="1828244"/>
                  </a:moveTo>
                  <a:lnTo>
                    <a:pt x="33856" y="1815691"/>
                  </a:lnTo>
                  <a:lnTo>
                    <a:pt x="5799" y="1781482"/>
                  </a:lnTo>
                  <a:lnTo>
                    <a:pt x="0" y="1752322"/>
                  </a:lnTo>
                  <a:lnTo>
                    <a:pt x="0" y="75922"/>
                  </a:lnTo>
                  <a:lnTo>
                    <a:pt x="12829" y="33579"/>
                  </a:lnTo>
                  <a:lnTo>
                    <a:pt x="47038" y="5522"/>
                  </a:lnTo>
                  <a:lnTo>
                    <a:pt x="70449" y="0"/>
                  </a:lnTo>
                  <a:lnTo>
                    <a:pt x="66286" y="1655"/>
                  </a:lnTo>
                  <a:lnTo>
                    <a:pt x="56951" y="9389"/>
                  </a:lnTo>
                  <a:lnTo>
                    <a:pt x="40999" y="46761"/>
                  </a:lnTo>
                  <a:lnTo>
                    <a:pt x="38100" y="75922"/>
                  </a:lnTo>
                  <a:lnTo>
                    <a:pt x="38100" y="1752322"/>
                  </a:lnTo>
                  <a:lnTo>
                    <a:pt x="44514" y="1794664"/>
                  </a:lnTo>
                  <a:lnTo>
                    <a:pt x="66286" y="1826588"/>
                  </a:lnTo>
                  <a:lnTo>
                    <a:pt x="70449" y="1828244"/>
                  </a:lnTo>
                  <a:close/>
                </a:path>
              </a:pathLst>
            </a:custGeom>
            <a:solidFill>
              <a:srgbClr val="FF9900"/>
            </a:solidFill>
          </p:spPr>
          <p:txBody>
            <a:bodyPr wrap="square" lIns="0" tIns="0" rIns="0" bIns="0" rtlCol="0"/>
            <a:lstStyle/>
            <a:p>
              <a:endParaRPr/>
            </a:p>
          </p:txBody>
        </p:sp>
        <p:sp>
          <p:nvSpPr>
            <p:cNvPr id="41" name="object 41"/>
            <p:cNvSpPr/>
            <p:nvPr/>
          </p:nvSpPr>
          <p:spPr>
            <a:xfrm>
              <a:off x="6134099" y="2095499"/>
              <a:ext cx="571500" cy="571500"/>
            </a:xfrm>
            <a:custGeom>
              <a:avLst/>
              <a:gdLst/>
              <a:ahLst/>
              <a:cxnLst/>
              <a:rect l="l" t="t" r="r" b="b"/>
              <a:pathLst>
                <a:path w="571500" h="571500">
                  <a:moveTo>
                    <a:pt x="285749" y="571499"/>
                  </a:moveTo>
                  <a:lnTo>
                    <a:pt x="243821" y="568407"/>
                  </a:lnTo>
                  <a:lnTo>
                    <a:pt x="202800" y="559195"/>
                  </a:lnTo>
                  <a:lnTo>
                    <a:pt x="163575" y="544064"/>
                  </a:lnTo>
                  <a:lnTo>
                    <a:pt x="126995" y="523341"/>
                  </a:lnTo>
                  <a:lnTo>
                    <a:pt x="93851" y="497476"/>
                  </a:lnTo>
                  <a:lnTo>
                    <a:pt x="64861" y="467027"/>
                  </a:lnTo>
                  <a:lnTo>
                    <a:pt x="40653" y="432654"/>
                  </a:lnTo>
                  <a:lnTo>
                    <a:pt x="21751" y="395101"/>
                  </a:lnTo>
                  <a:lnTo>
                    <a:pt x="8562" y="355181"/>
                  </a:lnTo>
                  <a:lnTo>
                    <a:pt x="1376" y="313758"/>
                  </a:lnTo>
                  <a:lnTo>
                    <a:pt x="0" y="285749"/>
                  </a:lnTo>
                  <a:lnTo>
                    <a:pt x="344" y="271728"/>
                  </a:lnTo>
                  <a:lnTo>
                    <a:pt x="5490" y="230002"/>
                  </a:lnTo>
                  <a:lnTo>
                    <a:pt x="16703" y="189483"/>
                  </a:lnTo>
                  <a:lnTo>
                    <a:pt x="33740" y="151048"/>
                  </a:lnTo>
                  <a:lnTo>
                    <a:pt x="56232" y="115528"/>
                  </a:lnTo>
                  <a:lnTo>
                    <a:pt x="83693" y="83693"/>
                  </a:lnTo>
                  <a:lnTo>
                    <a:pt x="115528" y="56233"/>
                  </a:lnTo>
                  <a:lnTo>
                    <a:pt x="151047" y="33741"/>
                  </a:lnTo>
                  <a:lnTo>
                    <a:pt x="189483" y="16703"/>
                  </a:lnTo>
                  <a:lnTo>
                    <a:pt x="230002" y="5490"/>
                  </a:lnTo>
                  <a:lnTo>
                    <a:pt x="271729" y="344"/>
                  </a:lnTo>
                  <a:lnTo>
                    <a:pt x="285749" y="0"/>
                  </a:lnTo>
                  <a:lnTo>
                    <a:pt x="299771" y="344"/>
                  </a:lnTo>
                  <a:lnTo>
                    <a:pt x="341495" y="5490"/>
                  </a:lnTo>
                  <a:lnTo>
                    <a:pt x="382015" y="16703"/>
                  </a:lnTo>
                  <a:lnTo>
                    <a:pt x="420451" y="33741"/>
                  </a:lnTo>
                  <a:lnTo>
                    <a:pt x="455970" y="56233"/>
                  </a:lnTo>
                  <a:lnTo>
                    <a:pt x="487805" y="83693"/>
                  </a:lnTo>
                  <a:lnTo>
                    <a:pt x="515266" y="115528"/>
                  </a:lnTo>
                  <a:lnTo>
                    <a:pt x="537758" y="151048"/>
                  </a:lnTo>
                  <a:lnTo>
                    <a:pt x="554796" y="189483"/>
                  </a:lnTo>
                  <a:lnTo>
                    <a:pt x="566008" y="230002"/>
                  </a:lnTo>
                  <a:lnTo>
                    <a:pt x="571155" y="271728"/>
                  </a:lnTo>
                  <a:lnTo>
                    <a:pt x="571499" y="285749"/>
                  </a:lnTo>
                  <a:lnTo>
                    <a:pt x="571155" y="299771"/>
                  </a:lnTo>
                  <a:lnTo>
                    <a:pt x="566008" y="341496"/>
                  </a:lnTo>
                  <a:lnTo>
                    <a:pt x="554796" y="382016"/>
                  </a:lnTo>
                  <a:lnTo>
                    <a:pt x="537758" y="420451"/>
                  </a:lnTo>
                  <a:lnTo>
                    <a:pt x="515266" y="455970"/>
                  </a:lnTo>
                  <a:lnTo>
                    <a:pt x="487805" y="487805"/>
                  </a:lnTo>
                  <a:lnTo>
                    <a:pt x="455970" y="515266"/>
                  </a:lnTo>
                  <a:lnTo>
                    <a:pt x="420451" y="537758"/>
                  </a:lnTo>
                  <a:lnTo>
                    <a:pt x="382015" y="554796"/>
                  </a:lnTo>
                  <a:lnTo>
                    <a:pt x="341495" y="566008"/>
                  </a:lnTo>
                  <a:lnTo>
                    <a:pt x="299771" y="571155"/>
                  </a:lnTo>
                  <a:lnTo>
                    <a:pt x="285749" y="571499"/>
                  </a:lnTo>
                  <a:close/>
                </a:path>
              </a:pathLst>
            </a:custGeom>
            <a:solidFill>
              <a:srgbClr val="003366"/>
            </a:solidFill>
          </p:spPr>
          <p:txBody>
            <a:bodyPr wrap="square" lIns="0" tIns="0" rIns="0" bIns="0" rtlCol="0"/>
            <a:lstStyle/>
            <a:p>
              <a:endParaRPr/>
            </a:p>
          </p:txBody>
        </p:sp>
        <p:pic>
          <p:nvPicPr>
            <p:cNvPr id="42" name="object 42"/>
            <p:cNvPicPr/>
            <p:nvPr/>
          </p:nvPicPr>
          <p:blipFill>
            <a:blip r:embed="rId8" cstate="print"/>
            <a:stretch>
              <a:fillRect/>
            </a:stretch>
          </p:blipFill>
          <p:spPr>
            <a:xfrm>
              <a:off x="6353174" y="2266949"/>
              <a:ext cx="142874" cy="228599"/>
            </a:xfrm>
            <a:prstGeom prst="rect">
              <a:avLst/>
            </a:prstGeom>
          </p:spPr>
        </p:pic>
      </p:grpSp>
      <p:sp>
        <p:nvSpPr>
          <p:cNvPr id="43" name="object 43"/>
          <p:cNvSpPr txBox="1"/>
          <p:nvPr/>
        </p:nvSpPr>
        <p:spPr>
          <a:xfrm>
            <a:off x="5778499" y="2213600"/>
            <a:ext cx="1285875" cy="908685"/>
          </a:xfrm>
          <a:prstGeom prst="rect">
            <a:avLst/>
          </a:prstGeom>
        </p:spPr>
        <p:txBody>
          <a:bodyPr vert="horz" wrap="square" lIns="0" tIns="142240" rIns="0" bIns="0" rtlCol="0">
            <a:spAutoFit/>
          </a:bodyPr>
          <a:lstStyle/>
          <a:p>
            <a:pPr marL="1270" algn="ctr">
              <a:lnSpc>
                <a:spcPct val="100000"/>
              </a:lnSpc>
              <a:spcBef>
                <a:spcPts val="1120"/>
              </a:spcBef>
            </a:pPr>
            <a:r>
              <a:rPr sz="1450" spc="-110" dirty="0">
                <a:solidFill>
                  <a:srgbClr val="003366"/>
                </a:solidFill>
                <a:latin typeface="PMingLiU"/>
                <a:cs typeface="PMingLiU"/>
              </a:rPr>
              <a:t>絶</a:t>
            </a:r>
            <a:r>
              <a:rPr sz="1550" spc="-210" dirty="0">
                <a:solidFill>
                  <a:srgbClr val="003366"/>
                </a:solidFill>
                <a:latin typeface="SimSun"/>
                <a:cs typeface="SimSun"/>
              </a:rPr>
              <a:t>対</a:t>
            </a:r>
            <a:r>
              <a:rPr sz="1500" spc="-150" dirty="0">
                <a:solidFill>
                  <a:srgbClr val="003366"/>
                </a:solidFill>
                <a:latin typeface="SimSun"/>
                <a:cs typeface="SimSun"/>
              </a:rPr>
              <a:t>湿</a:t>
            </a:r>
            <a:r>
              <a:rPr sz="1550" spc="-210" dirty="0">
                <a:solidFill>
                  <a:srgbClr val="003366"/>
                </a:solidFill>
                <a:latin typeface="SimSun"/>
                <a:cs typeface="SimSun"/>
              </a:rPr>
              <a:t>度</a:t>
            </a:r>
            <a:r>
              <a:rPr sz="1400" spc="-65" dirty="0">
                <a:solidFill>
                  <a:srgbClr val="003366"/>
                </a:solidFill>
                <a:latin typeface="PMingLiU"/>
                <a:cs typeface="PMingLiU"/>
              </a:rPr>
              <a:t>センサ</a:t>
            </a:r>
            <a:endParaRPr sz="1400">
              <a:latin typeface="PMingLiU"/>
              <a:cs typeface="PMingLiU"/>
            </a:endParaRPr>
          </a:p>
          <a:p>
            <a:pPr marL="12065" marR="5080" algn="ctr">
              <a:lnSpc>
                <a:spcPct val="111100"/>
              </a:lnSpc>
              <a:spcBef>
                <a:spcPts val="470"/>
              </a:spcBef>
            </a:pPr>
            <a:r>
              <a:rPr sz="900" spc="-15" dirty="0">
                <a:solidFill>
                  <a:srgbClr val="4A5462"/>
                </a:solidFill>
                <a:latin typeface="PMingLiU"/>
                <a:cs typeface="PMingLiU"/>
              </a:rPr>
              <a:t>トウプラスエンジニアリ</a:t>
            </a:r>
            <a:r>
              <a:rPr sz="900" spc="-10" dirty="0">
                <a:solidFill>
                  <a:srgbClr val="4A5462"/>
                </a:solidFill>
                <a:latin typeface="PMingLiU"/>
                <a:cs typeface="PMingLiU"/>
              </a:rPr>
              <a:t>ング社製：</a:t>
            </a:r>
            <a:r>
              <a:rPr sz="900" spc="-10" dirty="0">
                <a:solidFill>
                  <a:srgbClr val="4A5462"/>
                </a:solidFill>
                <a:latin typeface="Arial"/>
                <a:cs typeface="Arial"/>
              </a:rPr>
              <a:t>TAA80</a:t>
            </a:r>
            <a:endParaRPr sz="900">
              <a:latin typeface="Arial"/>
              <a:cs typeface="Arial"/>
            </a:endParaRPr>
          </a:p>
          <a:p>
            <a:pPr algn="ctr">
              <a:lnSpc>
                <a:spcPct val="100000"/>
              </a:lnSpc>
              <a:spcBef>
                <a:spcPts val="120"/>
              </a:spcBef>
            </a:pPr>
            <a:r>
              <a:rPr sz="900" spc="-5" dirty="0">
                <a:solidFill>
                  <a:srgbClr val="4A5462"/>
                </a:solidFill>
                <a:latin typeface="PMingLiU"/>
                <a:cs typeface="PMingLiU"/>
              </a:rPr>
              <a:t>分解能：</a:t>
            </a:r>
            <a:r>
              <a:rPr sz="900" spc="-10" dirty="0">
                <a:solidFill>
                  <a:srgbClr val="4A5462"/>
                </a:solidFill>
                <a:latin typeface="Arial"/>
                <a:cs typeface="Arial"/>
              </a:rPr>
              <a:t>0.06[g/m³]</a:t>
            </a:r>
            <a:endParaRPr sz="900">
              <a:latin typeface="Arial"/>
              <a:cs typeface="Arial"/>
            </a:endParaRPr>
          </a:p>
        </p:txBody>
      </p:sp>
      <p:grpSp>
        <p:nvGrpSpPr>
          <p:cNvPr id="44" name="object 44"/>
          <p:cNvGrpSpPr/>
          <p:nvPr/>
        </p:nvGrpSpPr>
        <p:grpSpPr>
          <a:xfrm>
            <a:off x="4591049" y="1676400"/>
            <a:ext cx="952500" cy="38100"/>
            <a:chOff x="4591049" y="2095499"/>
            <a:chExt cx="952500" cy="38100"/>
          </a:xfrm>
        </p:grpSpPr>
        <p:sp>
          <p:nvSpPr>
            <p:cNvPr id="45" name="object 45"/>
            <p:cNvSpPr/>
            <p:nvPr/>
          </p:nvSpPr>
          <p:spPr>
            <a:xfrm>
              <a:off x="4591049" y="2105024"/>
              <a:ext cx="952500" cy="19050"/>
            </a:xfrm>
            <a:custGeom>
              <a:avLst/>
              <a:gdLst/>
              <a:ahLst/>
              <a:cxnLst/>
              <a:rect l="l" t="t" r="r" b="b"/>
              <a:pathLst>
                <a:path w="952500" h="19050">
                  <a:moveTo>
                    <a:pt x="0" y="0"/>
                  </a:moveTo>
                  <a:lnTo>
                    <a:pt x="952499" y="0"/>
                  </a:lnTo>
                </a:path>
                <a:path w="952500" h="19050">
                  <a:moveTo>
                    <a:pt x="0" y="19049"/>
                  </a:moveTo>
                  <a:lnTo>
                    <a:pt x="952499" y="19049"/>
                  </a:lnTo>
                </a:path>
              </a:pathLst>
            </a:custGeom>
            <a:ln w="19049">
              <a:solidFill>
                <a:srgbClr val="66CCFF"/>
              </a:solidFill>
              <a:prstDash val="sysDash"/>
            </a:ln>
          </p:spPr>
          <p:txBody>
            <a:bodyPr wrap="square" lIns="0" tIns="0" rIns="0" bIns="0" rtlCol="0"/>
            <a:lstStyle/>
            <a:p>
              <a:endParaRPr/>
            </a:p>
          </p:txBody>
        </p:sp>
        <p:sp>
          <p:nvSpPr>
            <p:cNvPr id="46" name="object 46"/>
            <p:cNvSpPr/>
            <p:nvPr/>
          </p:nvSpPr>
          <p:spPr>
            <a:xfrm>
              <a:off x="4600574" y="2095499"/>
              <a:ext cx="933450" cy="38100"/>
            </a:xfrm>
            <a:custGeom>
              <a:avLst/>
              <a:gdLst/>
              <a:ahLst/>
              <a:cxnLst/>
              <a:rect l="l" t="t" r="r" b="b"/>
              <a:pathLst>
                <a:path w="933450" h="38100">
                  <a:moveTo>
                    <a:pt x="933449" y="0"/>
                  </a:moveTo>
                  <a:lnTo>
                    <a:pt x="933449" y="38099"/>
                  </a:lnTo>
                </a:path>
                <a:path w="933450" h="38100">
                  <a:moveTo>
                    <a:pt x="0" y="0"/>
                  </a:moveTo>
                  <a:lnTo>
                    <a:pt x="0" y="38099"/>
                  </a:lnTo>
                </a:path>
              </a:pathLst>
            </a:custGeom>
            <a:ln w="19049">
              <a:solidFill>
                <a:srgbClr val="66CCFF"/>
              </a:solidFill>
            </a:ln>
          </p:spPr>
          <p:txBody>
            <a:bodyPr wrap="square" lIns="0" tIns="0" rIns="0" bIns="0" rtlCol="0"/>
            <a:lstStyle/>
            <a:p>
              <a:endParaRPr/>
            </a:p>
          </p:txBody>
        </p:sp>
      </p:grpSp>
      <p:grpSp>
        <p:nvGrpSpPr>
          <p:cNvPr id="47" name="object 47"/>
          <p:cNvGrpSpPr/>
          <p:nvPr/>
        </p:nvGrpSpPr>
        <p:grpSpPr>
          <a:xfrm>
            <a:off x="7448549" y="723900"/>
            <a:ext cx="1714500" cy="1943100"/>
            <a:chOff x="7448549" y="1142999"/>
            <a:chExt cx="1714500" cy="1943100"/>
          </a:xfrm>
        </p:grpSpPr>
        <p:sp>
          <p:nvSpPr>
            <p:cNvPr id="48" name="object 48"/>
            <p:cNvSpPr/>
            <p:nvPr/>
          </p:nvSpPr>
          <p:spPr>
            <a:xfrm>
              <a:off x="7467599" y="1142999"/>
              <a:ext cx="1695450" cy="1943100"/>
            </a:xfrm>
            <a:custGeom>
              <a:avLst/>
              <a:gdLst/>
              <a:ahLst/>
              <a:cxnLst/>
              <a:rect l="l" t="t" r="r" b="b"/>
              <a:pathLst>
                <a:path w="1695450" h="1943100">
                  <a:moveTo>
                    <a:pt x="1624253" y="1943099"/>
                  </a:moveTo>
                  <a:lnTo>
                    <a:pt x="53397" y="1943099"/>
                  </a:lnTo>
                  <a:lnTo>
                    <a:pt x="49680" y="1942611"/>
                  </a:lnTo>
                  <a:lnTo>
                    <a:pt x="14085" y="1917243"/>
                  </a:lnTo>
                  <a:lnTo>
                    <a:pt x="366" y="1876858"/>
                  </a:lnTo>
                  <a:lnTo>
                    <a:pt x="0" y="1871903"/>
                  </a:lnTo>
                  <a:lnTo>
                    <a:pt x="0" y="1866899"/>
                  </a:lnTo>
                  <a:lnTo>
                    <a:pt x="0" y="71196"/>
                  </a:lnTo>
                  <a:lnTo>
                    <a:pt x="11716" y="29705"/>
                  </a:lnTo>
                  <a:lnTo>
                    <a:pt x="42319" y="2440"/>
                  </a:lnTo>
                  <a:lnTo>
                    <a:pt x="53397" y="0"/>
                  </a:lnTo>
                  <a:lnTo>
                    <a:pt x="1624253" y="0"/>
                  </a:lnTo>
                  <a:lnTo>
                    <a:pt x="1665744" y="15621"/>
                  </a:lnTo>
                  <a:lnTo>
                    <a:pt x="1691563" y="51661"/>
                  </a:lnTo>
                  <a:lnTo>
                    <a:pt x="1695449" y="71196"/>
                  </a:lnTo>
                  <a:lnTo>
                    <a:pt x="1695449" y="1871903"/>
                  </a:lnTo>
                  <a:lnTo>
                    <a:pt x="1679828" y="1913394"/>
                  </a:lnTo>
                  <a:lnTo>
                    <a:pt x="1643787" y="1939213"/>
                  </a:lnTo>
                  <a:lnTo>
                    <a:pt x="1629208" y="1942611"/>
                  </a:lnTo>
                  <a:lnTo>
                    <a:pt x="1624253" y="1943099"/>
                  </a:lnTo>
                  <a:close/>
                </a:path>
              </a:pathLst>
            </a:custGeom>
            <a:solidFill>
              <a:srgbClr val="FFFFFF"/>
            </a:solidFill>
          </p:spPr>
          <p:txBody>
            <a:bodyPr wrap="square" lIns="0" tIns="0" rIns="0" bIns="0" rtlCol="0"/>
            <a:lstStyle/>
            <a:p>
              <a:endParaRPr/>
            </a:p>
          </p:txBody>
        </p:sp>
        <p:sp>
          <p:nvSpPr>
            <p:cNvPr id="49" name="object 49"/>
            <p:cNvSpPr/>
            <p:nvPr/>
          </p:nvSpPr>
          <p:spPr>
            <a:xfrm>
              <a:off x="7448549" y="1143277"/>
              <a:ext cx="70485" cy="1943100"/>
            </a:xfrm>
            <a:custGeom>
              <a:avLst/>
              <a:gdLst/>
              <a:ahLst/>
              <a:cxnLst/>
              <a:rect l="l" t="t" r="r" b="b"/>
              <a:pathLst>
                <a:path w="70484" h="1943100">
                  <a:moveTo>
                    <a:pt x="70449" y="1942544"/>
                  </a:moveTo>
                  <a:lnTo>
                    <a:pt x="33857" y="1929991"/>
                  </a:lnTo>
                  <a:lnTo>
                    <a:pt x="5800" y="1895782"/>
                  </a:lnTo>
                  <a:lnTo>
                    <a:pt x="0" y="1866622"/>
                  </a:lnTo>
                  <a:lnTo>
                    <a:pt x="0" y="75922"/>
                  </a:lnTo>
                  <a:lnTo>
                    <a:pt x="12829" y="33579"/>
                  </a:lnTo>
                  <a:lnTo>
                    <a:pt x="47039" y="5522"/>
                  </a:lnTo>
                  <a:lnTo>
                    <a:pt x="70449" y="0"/>
                  </a:lnTo>
                  <a:lnTo>
                    <a:pt x="66287" y="1655"/>
                  </a:lnTo>
                  <a:lnTo>
                    <a:pt x="56951" y="9389"/>
                  </a:lnTo>
                  <a:lnTo>
                    <a:pt x="40999" y="46761"/>
                  </a:lnTo>
                  <a:lnTo>
                    <a:pt x="38100" y="75922"/>
                  </a:lnTo>
                  <a:lnTo>
                    <a:pt x="38100" y="1866622"/>
                  </a:lnTo>
                  <a:lnTo>
                    <a:pt x="44515" y="1908964"/>
                  </a:lnTo>
                  <a:lnTo>
                    <a:pt x="66287" y="1940888"/>
                  </a:lnTo>
                  <a:lnTo>
                    <a:pt x="70449" y="1942544"/>
                  </a:lnTo>
                  <a:close/>
                </a:path>
              </a:pathLst>
            </a:custGeom>
            <a:solidFill>
              <a:srgbClr val="FF9900"/>
            </a:solidFill>
          </p:spPr>
          <p:txBody>
            <a:bodyPr wrap="square" lIns="0" tIns="0" rIns="0" bIns="0" rtlCol="0"/>
            <a:lstStyle/>
            <a:p>
              <a:endParaRPr/>
            </a:p>
          </p:txBody>
        </p:sp>
        <p:sp>
          <p:nvSpPr>
            <p:cNvPr id="50" name="object 50"/>
            <p:cNvSpPr/>
            <p:nvPr/>
          </p:nvSpPr>
          <p:spPr>
            <a:xfrm>
              <a:off x="8039099" y="1333499"/>
              <a:ext cx="571500" cy="571500"/>
            </a:xfrm>
            <a:custGeom>
              <a:avLst/>
              <a:gdLst/>
              <a:ahLst/>
              <a:cxnLst/>
              <a:rect l="l" t="t" r="r" b="b"/>
              <a:pathLst>
                <a:path w="571500" h="571500">
                  <a:moveTo>
                    <a:pt x="285749" y="571499"/>
                  </a:moveTo>
                  <a:lnTo>
                    <a:pt x="243821" y="568407"/>
                  </a:lnTo>
                  <a:lnTo>
                    <a:pt x="202801" y="559195"/>
                  </a:lnTo>
                  <a:lnTo>
                    <a:pt x="163575" y="544064"/>
                  </a:lnTo>
                  <a:lnTo>
                    <a:pt x="126994" y="523342"/>
                  </a:lnTo>
                  <a:lnTo>
                    <a:pt x="93852" y="497476"/>
                  </a:lnTo>
                  <a:lnTo>
                    <a:pt x="64861" y="467027"/>
                  </a:lnTo>
                  <a:lnTo>
                    <a:pt x="40652" y="432654"/>
                  </a:lnTo>
                  <a:lnTo>
                    <a:pt x="21750" y="395101"/>
                  </a:lnTo>
                  <a:lnTo>
                    <a:pt x="8562" y="355181"/>
                  </a:lnTo>
                  <a:lnTo>
                    <a:pt x="1376" y="313758"/>
                  </a:lnTo>
                  <a:lnTo>
                    <a:pt x="0" y="285749"/>
                  </a:lnTo>
                  <a:lnTo>
                    <a:pt x="344" y="271728"/>
                  </a:lnTo>
                  <a:lnTo>
                    <a:pt x="5489" y="230002"/>
                  </a:lnTo>
                  <a:lnTo>
                    <a:pt x="16703" y="189483"/>
                  </a:lnTo>
                  <a:lnTo>
                    <a:pt x="33740" y="151048"/>
                  </a:lnTo>
                  <a:lnTo>
                    <a:pt x="56232" y="115528"/>
                  </a:lnTo>
                  <a:lnTo>
                    <a:pt x="83693" y="83694"/>
                  </a:lnTo>
                  <a:lnTo>
                    <a:pt x="115528" y="56233"/>
                  </a:lnTo>
                  <a:lnTo>
                    <a:pt x="151048" y="33740"/>
                  </a:lnTo>
                  <a:lnTo>
                    <a:pt x="189483" y="16703"/>
                  </a:lnTo>
                  <a:lnTo>
                    <a:pt x="230002" y="5490"/>
                  </a:lnTo>
                  <a:lnTo>
                    <a:pt x="271728" y="344"/>
                  </a:lnTo>
                  <a:lnTo>
                    <a:pt x="285749" y="0"/>
                  </a:lnTo>
                  <a:lnTo>
                    <a:pt x="299771" y="344"/>
                  </a:lnTo>
                  <a:lnTo>
                    <a:pt x="341496" y="5490"/>
                  </a:lnTo>
                  <a:lnTo>
                    <a:pt x="382015" y="16703"/>
                  </a:lnTo>
                  <a:lnTo>
                    <a:pt x="420451" y="33740"/>
                  </a:lnTo>
                  <a:lnTo>
                    <a:pt x="455970" y="56233"/>
                  </a:lnTo>
                  <a:lnTo>
                    <a:pt x="487805" y="83694"/>
                  </a:lnTo>
                  <a:lnTo>
                    <a:pt x="515266" y="115528"/>
                  </a:lnTo>
                  <a:lnTo>
                    <a:pt x="537758" y="151048"/>
                  </a:lnTo>
                  <a:lnTo>
                    <a:pt x="554796" y="189483"/>
                  </a:lnTo>
                  <a:lnTo>
                    <a:pt x="566008" y="230002"/>
                  </a:lnTo>
                  <a:lnTo>
                    <a:pt x="571156" y="271728"/>
                  </a:lnTo>
                  <a:lnTo>
                    <a:pt x="571499" y="285749"/>
                  </a:lnTo>
                  <a:lnTo>
                    <a:pt x="571156" y="299770"/>
                  </a:lnTo>
                  <a:lnTo>
                    <a:pt x="566008" y="341496"/>
                  </a:lnTo>
                  <a:lnTo>
                    <a:pt x="554796" y="382016"/>
                  </a:lnTo>
                  <a:lnTo>
                    <a:pt x="537758" y="420451"/>
                  </a:lnTo>
                  <a:lnTo>
                    <a:pt x="515266" y="455971"/>
                  </a:lnTo>
                  <a:lnTo>
                    <a:pt x="487805" y="487805"/>
                  </a:lnTo>
                  <a:lnTo>
                    <a:pt x="455970" y="515266"/>
                  </a:lnTo>
                  <a:lnTo>
                    <a:pt x="420451" y="537758"/>
                  </a:lnTo>
                  <a:lnTo>
                    <a:pt x="382016" y="554796"/>
                  </a:lnTo>
                  <a:lnTo>
                    <a:pt x="341496" y="566008"/>
                  </a:lnTo>
                  <a:lnTo>
                    <a:pt x="299771" y="571155"/>
                  </a:lnTo>
                  <a:lnTo>
                    <a:pt x="285749" y="571499"/>
                  </a:lnTo>
                  <a:close/>
                </a:path>
              </a:pathLst>
            </a:custGeom>
            <a:solidFill>
              <a:srgbClr val="003366"/>
            </a:solidFill>
          </p:spPr>
          <p:txBody>
            <a:bodyPr wrap="square" lIns="0" tIns="0" rIns="0" bIns="0" rtlCol="0"/>
            <a:lstStyle/>
            <a:p>
              <a:endParaRPr/>
            </a:p>
          </p:txBody>
        </p:sp>
        <p:pic>
          <p:nvPicPr>
            <p:cNvPr id="51" name="object 51"/>
            <p:cNvPicPr/>
            <p:nvPr/>
          </p:nvPicPr>
          <p:blipFill>
            <a:blip r:embed="rId9" cstate="print"/>
            <a:stretch>
              <a:fillRect/>
            </a:stretch>
          </p:blipFill>
          <p:spPr>
            <a:xfrm>
              <a:off x="8210549" y="1504949"/>
              <a:ext cx="228599" cy="228599"/>
            </a:xfrm>
            <a:prstGeom prst="rect">
              <a:avLst/>
            </a:prstGeom>
          </p:spPr>
        </p:pic>
      </p:grpSp>
      <p:sp>
        <p:nvSpPr>
          <p:cNvPr id="52" name="object 52"/>
          <p:cNvSpPr txBox="1"/>
          <p:nvPr/>
        </p:nvSpPr>
        <p:spPr>
          <a:xfrm>
            <a:off x="7712075" y="1527725"/>
            <a:ext cx="1229995" cy="946785"/>
          </a:xfrm>
          <a:prstGeom prst="rect">
            <a:avLst/>
          </a:prstGeom>
        </p:spPr>
        <p:txBody>
          <a:bodyPr vert="horz" wrap="square" lIns="0" tIns="16510" rIns="0" bIns="0" rtlCol="0">
            <a:spAutoFit/>
          </a:bodyPr>
          <a:lstStyle/>
          <a:p>
            <a:pPr marL="12700" marR="5080" algn="ctr">
              <a:lnSpc>
                <a:spcPct val="121000"/>
              </a:lnSpc>
              <a:spcBef>
                <a:spcPts val="130"/>
              </a:spcBef>
            </a:pPr>
            <a:r>
              <a:rPr sz="1450" spc="-110" dirty="0">
                <a:solidFill>
                  <a:srgbClr val="003366"/>
                </a:solidFill>
                <a:latin typeface="PMingLiU"/>
                <a:cs typeface="PMingLiU"/>
              </a:rPr>
              <a:t>乾燥</a:t>
            </a:r>
            <a:r>
              <a:rPr sz="1550" spc="-215" dirty="0">
                <a:solidFill>
                  <a:srgbClr val="003366"/>
                </a:solidFill>
                <a:latin typeface="SimSun"/>
                <a:cs typeface="SimSun"/>
              </a:rPr>
              <a:t>剤</a:t>
            </a:r>
            <a:r>
              <a:rPr sz="1500" spc="-160" dirty="0">
                <a:solidFill>
                  <a:srgbClr val="003366"/>
                </a:solidFill>
                <a:latin typeface="SimSun"/>
                <a:cs typeface="SimSun"/>
              </a:rPr>
              <a:t>式</a:t>
            </a:r>
            <a:r>
              <a:rPr sz="1400" spc="-65" dirty="0">
                <a:solidFill>
                  <a:srgbClr val="003366"/>
                </a:solidFill>
                <a:latin typeface="PMingLiU"/>
                <a:cs typeface="PMingLiU"/>
              </a:rPr>
              <a:t>エアドライヤ</a:t>
            </a:r>
            <a:endParaRPr sz="1400">
              <a:latin typeface="PMingLiU"/>
              <a:cs typeface="PMingLiU"/>
            </a:endParaRPr>
          </a:p>
          <a:p>
            <a:pPr algn="ctr">
              <a:lnSpc>
                <a:spcPct val="100000"/>
              </a:lnSpc>
              <a:spcBef>
                <a:spcPts val="620"/>
              </a:spcBef>
            </a:pPr>
            <a:r>
              <a:rPr sz="900" dirty="0">
                <a:solidFill>
                  <a:srgbClr val="4A5462"/>
                </a:solidFill>
                <a:latin typeface="Arial"/>
                <a:cs typeface="Arial"/>
              </a:rPr>
              <a:t>CKD</a:t>
            </a:r>
            <a:r>
              <a:rPr sz="900" dirty="0">
                <a:solidFill>
                  <a:srgbClr val="4A5462"/>
                </a:solidFill>
                <a:latin typeface="PMingLiU"/>
                <a:cs typeface="PMingLiU"/>
              </a:rPr>
              <a:t>社製：</a:t>
            </a:r>
            <a:r>
              <a:rPr sz="900" dirty="0">
                <a:solidFill>
                  <a:srgbClr val="4A5462"/>
                </a:solidFill>
                <a:latin typeface="Arial"/>
                <a:cs typeface="Arial"/>
              </a:rPr>
              <a:t>HD</a:t>
            </a:r>
            <a:r>
              <a:rPr sz="900" spc="-20" dirty="0">
                <a:solidFill>
                  <a:srgbClr val="4A5462"/>
                </a:solidFill>
                <a:latin typeface="Arial"/>
                <a:cs typeface="Arial"/>
              </a:rPr>
              <a:t> </a:t>
            </a:r>
            <a:r>
              <a:rPr sz="900" spc="-10" dirty="0">
                <a:solidFill>
                  <a:srgbClr val="4A5462"/>
                </a:solidFill>
                <a:latin typeface="Arial"/>
                <a:cs typeface="Arial"/>
              </a:rPr>
              <a:t>Series</a:t>
            </a:r>
            <a:endParaRPr sz="900">
              <a:latin typeface="Arial"/>
              <a:cs typeface="Arial"/>
            </a:endParaRPr>
          </a:p>
          <a:p>
            <a:pPr algn="ctr">
              <a:lnSpc>
                <a:spcPct val="100000"/>
              </a:lnSpc>
              <a:spcBef>
                <a:spcPts val="120"/>
              </a:spcBef>
            </a:pPr>
            <a:r>
              <a:rPr sz="900" spc="-5" dirty="0">
                <a:solidFill>
                  <a:srgbClr val="4A5462"/>
                </a:solidFill>
                <a:latin typeface="PMingLiU"/>
                <a:cs typeface="PMingLiU"/>
              </a:rPr>
              <a:t>超露点：</a:t>
            </a:r>
            <a:r>
              <a:rPr sz="900" spc="-10" dirty="0">
                <a:solidFill>
                  <a:srgbClr val="4A5462"/>
                </a:solidFill>
                <a:latin typeface="Arial"/>
                <a:cs typeface="Arial"/>
              </a:rPr>
              <a:t>-60~-</a:t>
            </a:r>
            <a:r>
              <a:rPr sz="900" spc="-20" dirty="0">
                <a:solidFill>
                  <a:srgbClr val="4A5462"/>
                </a:solidFill>
                <a:latin typeface="Arial"/>
                <a:cs typeface="Arial"/>
              </a:rPr>
              <a:t>72°C</a:t>
            </a:r>
            <a:endParaRPr sz="900">
              <a:latin typeface="Arial"/>
              <a:cs typeface="Arial"/>
            </a:endParaRPr>
          </a:p>
        </p:txBody>
      </p:sp>
      <p:grpSp>
        <p:nvGrpSpPr>
          <p:cNvPr id="53" name="object 53"/>
          <p:cNvGrpSpPr/>
          <p:nvPr/>
        </p:nvGrpSpPr>
        <p:grpSpPr>
          <a:xfrm>
            <a:off x="8305799" y="1676400"/>
            <a:ext cx="1714500" cy="2286000"/>
            <a:chOff x="8305799" y="2095499"/>
            <a:chExt cx="1714500" cy="2286000"/>
          </a:xfrm>
        </p:grpSpPr>
        <p:sp>
          <p:nvSpPr>
            <p:cNvPr id="54" name="object 54"/>
            <p:cNvSpPr/>
            <p:nvPr/>
          </p:nvSpPr>
          <p:spPr>
            <a:xfrm>
              <a:off x="8305799" y="2105024"/>
              <a:ext cx="38100" cy="742950"/>
            </a:xfrm>
            <a:custGeom>
              <a:avLst/>
              <a:gdLst/>
              <a:ahLst/>
              <a:cxnLst/>
              <a:rect l="l" t="t" r="r" b="b"/>
              <a:pathLst>
                <a:path w="38100" h="742950">
                  <a:moveTo>
                    <a:pt x="0" y="0"/>
                  </a:moveTo>
                  <a:lnTo>
                    <a:pt x="38099" y="0"/>
                  </a:lnTo>
                </a:path>
                <a:path w="38100" h="742950">
                  <a:moveTo>
                    <a:pt x="0" y="742949"/>
                  </a:moveTo>
                  <a:lnTo>
                    <a:pt x="38099" y="742949"/>
                  </a:lnTo>
                </a:path>
              </a:pathLst>
            </a:custGeom>
            <a:ln w="19049">
              <a:solidFill>
                <a:srgbClr val="66CCFF"/>
              </a:solidFill>
            </a:ln>
          </p:spPr>
          <p:txBody>
            <a:bodyPr wrap="square" lIns="0" tIns="0" rIns="0" bIns="0" rtlCol="0"/>
            <a:lstStyle/>
            <a:p>
              <a:endParaRPr/>
            </a:p>
          </p:txBody>
        </p:sp>
        <p:sp>
          <p:nvSpPr>
            <p:cNvPr id="55" name="object 55"/>
            <p:cNvSpPr/>
            <p:nvPr/>
          </p:nvSpPr>
          <p:spPr>
            <a:xfrm>
              <a:off x="8315324" y="2095499"/>
              <a:ext cx="19050" cy="762000"/>
            </a:xfrm>
            <a:custGeom>
              <a:avLst/>
              <a:gdLst/>
              <a:ahLst/>
              <a:cxnLst/>
              <a:rect l="l" t="t" r="r" b="b"/>
              <a:pathLst>
                <a:path w="19050" h="762000">
                  <a:moveTo>
                    <a:pt x="19049" y="0"/>
                  </a:moveTo>
                  <a:lnTo>
                    <a:pt x="19049" y="761999"/>
                  </a:lnTo>
                </a:path>
                <a:path w="19050" h="762000">
                  <a:moveTo>
                    <a:pt x="0" y="0"/>
                  </a:moveTo>
                  <a:lnTo>
                    <a:pt x="0" y="761999"/>
                  </a:lnTo>
                </a:path>
              </a:pathLst>
            </a:custGeom>
            <a:ln w="19049">
              <a:solidFill>
                <a:srgbClr val="66CCFF"/>
              </a:solidFill>
              <a:prstDash val="sysDash"/>
            </a:ln>
          </p:spPr>
          <p:txBody>
            <a:bodyPr wrap="square" lIns="0" tIns="0" rIns="0" bIns="0" rtlCol="0"/>
            <a:lstStyle/>
            <a:p>
              <a:endParaRPr/>
            </a:p>
          </p:txBody>
        </p:sp>
        <p:sp>
          <p:nvSpPr>
            <p:cNvPr id="56" name="object 56"/>
            <p:cNvSpPr/>
            <p:nvPr/>
          </p:nvSpPr>
          <p:spPr>
            <a:xfrm>
              <a:off x="8324849" y="2857499"/>
              <a:ext cx="1695450" cy="1524000"/>
            </a:xfrm>
            <a:custGeom>
              <a:avLst/>
              <a:gdLst/>
              <a:ahLst/>
              <a:cxnLst/>
              <a:rect l="l" t="t" r="r" b="b"/>
              <a:pathLst>
                <a:path w="1695450" h="1524000">
                  <a:moveTo>
                    <a:pt x="1624253" y="1523999"/>
                  </a:moveTo>
                  <a:lnTo>
                    <a:pt x="53397" y="1523999"/>
                  </a:lnTo>
                  <a:lnTo>
                    <a:pt x="49680" y="1523511"/>
                  </a:lnTo>
                  <a:lnTo>
                    <a:pt x="14084" y="1498143"/>
                  </a:lnTo>
                  <a:lnTo>
                    <a:pt x="366" y="1457758"/>
                  </a:lnTo>
                  <a:lnTo>
                    <a:pt x="0" y="1452803"/>
                  </a:lnTo>
                  <a:lnTo>
                    <a:pt x="0" y="1447799"/>
                  </a:lnTo>
                  <a:lnTo>
                    <a:pt x="0" y="71196"/>
                  </a:lnTo>
                  <a:lnTo>
                    <a:pt x="11715" y="29704"/>
                  </a:lnTo>
                  <a:lnTo>
                    <a:pt x="42319" y="2440"/>
                  </a:lnTo>
                  <a:lnTo>
                    <a:pt x="53397" y="0"/>
                  </a:lnTo>
                  <a:lnTo>
                    <a:pt x="1624253" y="0"/>
                  </a:lnTo>
                  <a:lnTo>
                    <a:pt x="1665744" y="15621"/>
                  </a:lnTo>
                  <a:lnTo>
                    <a:pt x="1691564" y="51661"/>
                  </a:lnTo>
                  <a:lnTo>
                    <a:pt x="1695450" y="71196"/>
                  </a:lnTo>
                  <a:lnTo>
                    <a:pt x="1695450" y="1452803"/>
                  </a:lnTo>
                  <a:lnTo>
                    <a:pt x="1679828" y="1494293"/>
                  </a:lnTo>
                  <a:lnTo>
                    <a:pt x="1643787" y="1520113"/>
                  </a:lnTo>
                  <a:lnTo>
                    <a:pt x="1629207" y="1523511"/>
                  </a:lnTo>
                  <a:lnTo>
                    <a:pt x="1624253" y="1523999"/>
                  </a:lnTo>
                  <a:close/>
                </a:path>
              </a:pathLst>
            </a:custGeom>
            <a:solidFill>
              <a:srgbClr val="FFFFFF"/>
            </a:solidFill>
          </p:spPr>
          <p:txBody>
            <a:bodyPr wrap="square" lIns="0" tIns="0" rIns="0" bIns="0" rtlCol="0"/>
            <a:lstStyle/>
            <a:p>
              <a:endParaRPr/>
            </a:p>
          </p:txBody>
        </p:sp>
        <p:sp>
          <p:nvSpPr>
            <p:cNvPr id="57" name="object 57"/>
            <p:cNvSpPr/>
            <p:nvPr/>
          </p:nvSpPr>
          <p:spPr>
            <a:xfrm>
              <a:off x="8305799" y="2857777"/>
              <a:ext cx="70485" cy="1524000"/>
            </a:xfrm>
            <a:custGeom>
              <a:avLst/>
              <a:gdLst/>
              <a:ahLst/>
              <a:cxnLst/>
              <a:rect l="l" t="t" r="r" b="b"/>
              <a:pathLst>
                <a:path w="70484" h="1524000">
                  <a:moveTo>
                    <a:pt x="70450" y="1523444"/>
                  </a:moveTo>
                  <a:lnTo>
                    <a:pt x="33857" y="1510891"/>
                  </a:lnTo>
                  <a:lnTo>
                    <a:pt x="5800" y="1476682"/>
                  </a:lnTo>
                  <a:lnTo>
                    <a:pt x="0" y="1447522"/>
                  </a:lnTo>
                  <a:lnTo>
                    <a:pt x="0" y="75922"/>
                  </a:lnTo>
                  <a:lnTo>
                    <a:pt x="12829" y="33579"/>
                  </a:lnTo>
                  <a:lnTo>
                    <a:pt x="47039" y="5522"/>
                  </a:lnTo>
                  <a:lnTo>
                    <a:pt x="70449" y="0"/>
                  </a:lnTo>
                  <a:lnTo>
                    <a:pt x="66287" y="1655"/>
                  </a:lnTo>
                  <a:lnTo>
                    <a:pt x="56951" y="9389"/>
                  </a:lnTo>
                  <a:lnTo>
                    <a:pt x="41000" y="46761"/>
                  </a:lnTo>
                  <a:lnTo>
                    <a:pt x="38100" y="75922"/>
                  </a:lnTo>
                  <a:lnTo>
                    <a:pt x="38100" y="1447522"/>
                  </a:lnTo>
                  <a:lnTo>
                    <a:pt x="44514" y="1489864"/>
                  </a:lnTo>
                  <a:lnTo>
                    <a:pt x="66287" y="1521788"/>
                  </a:lnTo>
                  <a:lnTo>
                    <a:pt x="70450" y="1523444"/>
                  </a:lnTo>
                  <a:close/>
                </a:path>
              </a:pathLst>
            </a:custGeom>
            <a:solidFill>
              <a:srgbClr val="FF9900"/>
            </a:solidFill>
          </p:spPr>
          <p:txBody>
            <a:bodyPr wrap="square" lIns="0" tIns="0" rIns="0" bIns="0" rtlCol="0"/>
            <a:lstStyle/>
            <a:p>
              <a:endParaRPr/>
            </a:p>
          </p:txBody>
        </p:sp>
        <p:sp>
          <p:nvSpPr>
            <p:cNvPr id="58" name="object 58"/>
            <p:cNvSpPr/>
            <p:nvPr/>
          </p:nvSpPr>
          <p:spPr>
            <a:xfrm>
              <a:off x="8896349" y="3047999"/>
              <a:ext cx="571500" cy="571500"/>
            </a:xfrm>
            <a:custGeom>
              <a:avLst/>
              <a:gdLst/>
              <a:ahLst/>
              <a:cxnLst/>
              <a:rect l="l" t="t" r="r" b="b"/>
              <a:pathLst>
                <a:path w="571500" h="571500">
                  <a:moveTo>
                    <a:pt x="285749" y="571499"/>
                  </a:moveTo>
                  <a:lnTo>
                    <a:pt x="243821" y="568407"/>
                  </a:lnTo>
                  <a:lnTo>
                    <a:pt x="202801" y="559195"/>
                  </a:lnTo>
                  <a:lnTo>
                    <a:pt x="163575" y="544064"/>
                  </a:lnTo>
                  <a:lnTo>
                    <a:pt x="126994" y="523341"/>
                  </a:lnTo>
                  <a:lnTo>
                    <a:pt x="93851" y="497476"/>
                  </a:lnTo>
                  <a:lnTo>
                    <a:pt x="64861" y="467027"/>
                  </a:lnTo>
                  <a:lnTo>
                    <a:pt x="40652" y="432654"/>
                  </a:lnTo>
                  <a:lnTo>
                    <a:pt x="21750" y="395101"/>
                  </a:lnTo>
                  <a:lnTo>
                    <a:pt x="8562" y="355181"/>
                  </a:lnTo>
                  <a:lnTo>
                    <a:pt x="1376" y="313758"/>
                  </a:lnTo>
                  <a:lnTo>
                    <a:pt x="0" y="285749"/>
                  </a:lnTo>
                  <a:lnTo>
                    <a:pt x="344" y="271728"/>
                  </a:lnTo>
                  <a:lnTo>
                    <a:pt x="5489" y="230002"/>
                  </a:lnTo>
                  <a:lnTo>
                    <a:pt x="16702" y="189483"/>
                  </a:lnTo>
                  <a:lnTo>
                    <a:pt x="33739" y="151047"/>
                  </a:lnTo>
                  <a:lnTo>
                    <a:pt x="56232" y="115528"/>
                  </a:lnTo>
                  <a:lnTo>
                    <a:pt x="83693" y="83693"/>
                  </a:lnTo>
                  <a:lnTo>
                    <a:pt x="115528" y="56233"/>
                  </a:lnTo>
                  <a:lnTo>
                    <a:pt x="151047" y="33740"/>
                  </a:lnTo>
                  <a:lnTo>
                    <a:pt x="189483" y="16703"/>
                  </a:lnTo>
                  <a:lnTo>
                    <a:pt x="230002" y="5490"/>
                  </a:lnTo>
                  <a:lnTo>
                    <a:pt x="271729" y="344"/>
                  </a:lnTo>
                  <a:lnTo>
                    <a:pt x="285749" y="0"/>
                  </a:lnTo>
                  <a:lnTo>
                    <a:pt x="299771" y="344"/>
                  </a:lnTo>
                  <a:lnTo>
                    <a:pt x="341495" y="5490"/>
                  </a:lnTo>
                  <a:lnTo>
                    <a:pt x="382015" y="16703"/>
                  </a:lnTo>
                  <a:lnTo>
                    <a:pt x="420451" y="33740"/>
                  </a:lnTo>
                  <a:lnTo>
                    <a:pt x="455970" y="56233"/>
                  </a:lnTo>
                  <a:lnTo>
                    <a:pt x="487805" y="83693"/>
                  </a:lnTo>
                  <a:lnTo>
                    <a:pt x="515265" y="115528"/>
                  </a:lnTo>
                  <a:lnTo>
                    <a:pt x="537758" y="151048"/>
                  </a:lnTo>
                  <a:lnTo>
                    <a:pt x="554795" y="189483"/>
                  </a:lnTo>
                  <a:lnTo>
                    <a:pt x="566007" y="230002"/>
                  </a:lnTo>
                  <a:lnTo>
                    <a:pt x="571155" y="271728"/>
                  </a:lnTo>
                  <a:lnTo>
                    <a:pt x="571499" y="285749"/>
                  </a:lnTo>
                  <a:lnTo>
                    <a:pt x="571155" y="299771"/>
                  </a:lnTo>
                  <a:lnTo>
                    <a:pt x="566007" y="341496"/>
                  </a:lnTo>
                  <a:lnTo>
                    <a:pt x="554795" y="382015"/>
                  </a:lnTo>
                  <a:lnTo>
                    <a:pt x="537757" y="420451"/>
                  </a:lnTo>
                  <a:lnTo>
                    <a:pt x="515265" y="455970"/>
                  </a:lnTo>
                  <a:lnTo>
                    <a:pt x="487805" y="487805"/>
                  </a:lnTo>
                  <a:lnTo>
                    <a:pt x="455970" y="515266"/>
                  </a:lnTo>
                  <a:lnTo>
                    <a:pt x="420451" y="537758"/>
                  </a:lnTo>
                  <a:lnTo>
                    <a:pt x="382015" y="554796"/>
                  </a:lnTo>
                  <a:lnTo>
                    <a:pt x="341495" y="566009"/>
                  </a:lnTo>
                  <a:lnTo>
                    <a:pt x="299771" y="571155"/>
                  </a:lnTo>
                  <a:lnTo>
                    <a:pt x="285749" y="571499"/>
                  </a:lnTo>
                  <a:close/>
                </a:path>
              </a:pathLst>
            </a:custGeom>
            <a:solidFill>
              <a:srgbClr val="003366"/>
            </a:solidFill>
          </p:spPr>
          <p:txBody>
            <a:bodyPr wrap="square" lIns="0" tIns="0" rIns="0" bIns="0" rtlCol="0"/>
            <a:lstStyle/>
            <a:p>
              <a:endParaRPr/>
            </a:p>
          </p:txBody>
        </p:sp>
        <p:pic>
          <p:nvPicPr>
            <p:cNvPr id="59" name="object 59"/>
            <p:cNvPicPr/>
            <p:nvPr/>
          </p:nvPicPr>
          <p:blipFill>
            <a:blip r:embed="rId10" cstate="print"/>
            <a:stretch>
              <a:fillRect/>
            </a:stretch>
          </p:blipFill>
          <p:spPr>
            <a:xfrm>
              <a:off x="9096374" y="3219449"/>
              <a:ext cx="171449" cy="228599"/>
            </a:xfrm>
            <a:prstGeom prst="rect">
              <a:avLst/>
            </a:prstGeom>
          </p:spPr>
        </p:pic>
      </p:grpSp>
      <p:sp>
        <p:nvSpPr>
          <p:cNvPr id="60" name="object 60"/>
          <p:cNvSpPr txBox="1"/>
          <p:nvPr/>
        </p:nvSpPr>
        <p:spPr>
          <a:xfrm>
            <a:off x="8740775" y="3166101"/>
            <a:ext cx="882650" cy="603885"/>
          </a:xfrm>
          <a:prstGeom prst="rect">
            <a:avLst/>
          </a:prstGeom>
        </p:spPr>
        <p:txBody>
          <a:bodyPr vert="horz" wrap="square" lIns="0" tIns="142240" rIns="0" bIns="0" rtlCol="0">
            <a:spAutoFit/>
          </a:bodyPr>
          <a:lstStyle/>
          <a:p>
            <a:pPr algn="ctr">
              <a:lnSpc>
                <a:spcPct val="100000"/>
              </a:lnSpc>
              <a:spcBef>
                <a:spcPts val="1120"/>
              </a:spcBef>
            </a:pPr>
            <a:r>
              <a:rPr sz="1500" spc="-150" dirty="0">
                <a:solidFill>
                  <a:srgbClr val="003366"/>
                </a:solidFill>
                <a:latin typeface="PMingLiU"/>
                <a:cs typeface="PMingLiU"/>
              </a:rPr>
              <a:t>基</a:t>
            </a:r>
            <a:r>
              <a:rPr sz="1500" spc="-150" dirty="0">
                <a:solidFill>
                  <a:srgbClr val="003366"/>
                </a:solidFill>
                <a:latin typeface="SimSun"/>
                <a:cs typeface="SimSun"/>
              </a:rPr>
              <a:t>準光測</a:t>
            </a:r>
            <a:r>
              <a:rPr sz="1550" spc="-50" dirty="0">
                <a:solidFill>
                  <a:srgbClr val="003366"/>
                </a:solidFill>
                <a:latin typeface="SimSun"/>
                <a:cs typeface="SimSun"/>
              </a:rPr>
              <a:t>定</a:t>
            </a:r>
            <a:endParaRPr sz="1550">
              <a:latin typeface="SimSun"/>
              <a:cs typeface="SimSun"/>
            </a:endParaRPr>
          </a:p>
          <a:p>
            <a:pPr algn="ctr">
              <a:lnSpc>
                <a:spcPct val="100000"/>
              </a:lnSpc>
              <a:spcBef>
                <a:spcPts val="590"/>
              </a:spcBef>
            </a:pPr>
            <a:r>
              <a:rPr sz="900" dirty="0">
                <a:solidFill>
                  <a:srgbClr val="4A5462"/>
                </a:solidFill>
                <a:latin typeface="Arial"/>
                <a:cs typeface="Arial"/>
              </a:rPr>
              <a:t>I_ref(t)</a:t>
            </a:r>
            <a:r>
              <a:rPr sz="900" spc="-20" dirty="0">
                <a:solidFill>
                  <a:srgbClr val="4A5462"/>
                </a:solidFill>
                <a:latin typeface="PMingLiU"/>
                <a:cs typeface="PMingLiU"/>
              </a:rPr>
              <a:t>の測定</a:t>
            </a:r>
            <a:endParaRPr sz="900">
              <a:latin typeface="PMingLiU"/>
              <a:cs typeface="PMingLiU"/>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781800"/>
          </a:xfrm>
          <a:custGeom>
            <a:avLst/>
            <a:gdLst/>
            <a:ahLst/>
            <a:cxnLst/>
            <a:rect l="l" t="t" r="r" b="b"/>
            <a:pathLst>
              <a:path w="12192000" h="7162800">
                <a:moveTo>
                  <a:pt x="12191999" y="7162799"/>
                </a:moveTo>
                <a:lnTo>
                  <a:pt x="0" y="7162799"/>
                </a:lnTo>
                <a:lnTo>
                  <a:pt x="0" y="0"/>
                </a:lnTo>
                <a:lnTo>
                  <a:pt x="12191999" y="0"/>
                </a:lnTo>
                <a:lnTo>
                  <a:pt x="12191999" y="7162799"/>
                </a:lnTo>
                <a:close/>
              </a:path>
            </a:pathLst>
          </a:custGeom>
          <a:solidFill>
            <a:srgbClr val="F2F4F5"/>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2191999" cy="647699"/>
          </a:xfrm>
          <a:prstGeom prst="rect">
            <a:avLst/>
          </a:prstGeom>
        </p:spPr>
      </p:pic>
      <p:sp>
        <p:nvSpPr>
          <p:cNvPr id="4" name="object 4"/>
          <p:cNvSpPr txBox="1">
            <a:spLocks noGrp="1"/>
          </p:cNvSpPr>
          <p:nvPr>
            <p:ph type="title"/>
          </p:nvPr>
        </p:nvSpPr>
        <p:spPr>
          <a:xfrm>
            <a:off x="292099" y="77396"/>
            <a:ext cx="4848225" cy="420370"/>
          </a:xfrm>
          <a:prstGeom prst="rect">
            <a:avLst/>
          </a:prstGeom>
        </p:spPr>
        <p:txBody>
          <a:bodyPr vert="horz" wrap="square" lIns="0" tIns="11430" rIns="0" bIns="0" rtlCol="0">
            <a:spAutoFit/>
          </a:bodyPr>
          <a:lstStyle/>
          <a:p>
            <a:pPr marL="12700">
              <a:lnSpc>
                <a:spcPct val="100000"/>
              </a:lnSpc>
              <a:spcBef>
                <a:spcPts val="90"/>
              </a:spcBef>
            </a:pPr>
            <a:r>
              <a:rPr sz="2500" spc="-250" dirty="0">
                <a:latin typeface="SimSun"/>
                <a:cs typeface="SimSun"/>
              </a:rPr>
              <a:t>測</a:t>
            </a:r>
            <a:r>
              <a:rPr sz="2550" spc="-310" dirty="0">
                <a:latin typeface="SimSun"/>
                <a:cs typeface="SimSun"/>
              </a:rPr>
              <a:t>定</a:t>
            </a:r>
            <a:r>
              <a:rPr sz="2600" spc="-365" dirty="0">
                <a:latin typeface="SimSun"/>
                <a:cs typeface="SimSun"/>
              </a:rPr>
              <a:t>方</a:t>
            </a:r>
            <a:r>
              <a:rPr sz="2500" spc="-250" dirty="0">
                <a:latin typeface="SimSun"/>
                <a:cs typeface="SimSun"/>
              </a:rPr>
              <a:t>法</a:t>
            </a:r>
            <a:r>
              <a:rPr sz="2150" dirty="0"/>
              <a:t>：</a:t>
            </a:r>
            <a:r>
              <a:rPr b="1" dirty="0">
                <a:latin typeface="Arial"/>
                <a:cs typeface="Arial"/>
              </a:rPr>
              <a:t>HITRAN</a:t>
            </a:r>
            <a:r>
              <a:rPr sz="2300" dirty="0"/>
              <a:t>による</a:t>
            </a:r>
            <a:r>
              <a:rPr sz="2400" spc="-175" dirty="0"/>
              <a:t>吸</a:t>
            </a:r>
            <a:r>
              <a:rPr sz="2500" spc="-250" dirty="0">
                <a:latin typeface="SimSun"/>
                <a:cs typeface="SimSun"/>
              </a:rPr>
              <a:t>光</a:t>
            </a:r>
            <a:r>
              <a:rPr sz="2550" spc="-310" dirty="0">
                <a:latin typeface="SimSun"/>
                <a:cs typeface="SimSun"/>
              </a:rPr>
              <a:t>度計</a:t>
            </a:r>
            <a:r>
              <a:rPr sz="2500" spc="-50" dirty="0">
                <a:latin typeface="SimSun"/>
                <a:cs typeface="SimSun"/>
              </a:rPr>
              <a:t>算</a:t>
            </a:r>
            <a:endParaRPr sz="2500">
              <a:latin typeface="SimSun"/>
              <a:cs typeface="SimSun"/>
            </a:endParaRPr>
          </a:p>
        </p:txBody>
      </p:sp>
      <p:sp>
        <p:nvSpPr>
          <p:cNvPr id="5" name="object 5"/>
          <p:cNvSpPr txBox="1"/>
          <p:nvPr/>
        </p:nvSpPr>
        <p:spPr>
          <a:xfrm>
            <a:off x="11609585" y="187325"/>
            <a:ext cx="290830" cy="254000"/>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Arial"/>
                <a:cs typeface="Arial"/>
              </a:rPr>
              <a:t>5/9</a:t>
            </a:r>
            <a:endParaRPr sz="1500">
              <a:latin typeface="Arial"/>
              <a:cs typeface="Arial"/>
            </a:endParaRPr>
          </a:p>
        </p:txBody>
      </p:sp>
      <p:grpSp>
        <p:nvGrpSpPr>
          <p:cNvPr id="6" name="object 6"/>
          <p:cNvGrpSpPr/>
          <p:nvPr/>
        </p:nvGrpSpPr>
        <p:grpSpPr>
          <a:xfrm>
            <a:off x="304799" y="761999"/>
            <a:ext cx="476250" cy="476250"/>
            <a:chOff x="304799" y="952499"/>
            <a:chExt cx="476250" cy="476250"/>
          </a:xfrm>
        </p:grpSpPr>
        <p:sp>
          <p:nvSpPr>
            <p:cNvPr id="7" name="object 7"/>
            <p:cNvSpPr/>
            <p:nvPr/>
          </p:nvSpPr>
          <p:spPr>
            <a:xfrm>
              <a:off x="304799" y="952499"/>
              <a:ext cx="476250" cy="476250"/>
            </a:xfrm>
            <a:custGeom>
              <a:avLst/>
              <a:gdLst/>
              <a:ahLst/>
              <a:cxnLst/>
              <a:rect l="l" t="t" r="r" b="b"/>
              <a:pathLst>
                <a:path w="476250" h="476250">
                  <a:moveTo>
                    <a:pt x="245923" y="476249"/>
                  </a:moveTo>
                  <a:lnTo>
                    <a:pt x="230326" y="476249"/>
                  </a:lnTo>
                  <a:lnTo>
                    <a:pt x="222546" y="475867"/>
                  </a:lnTo>
                  <a:lnTo>
                    <a:pt x="184020" y="470152"/>
                  </a:lnTo>
                  <a:lnTo>
                    <a:pt x="139793" y="455139"/>
                  </a:lnTo>
                  <a:lnTo>
                    <a:pt x="99345" y="431785"/>
                  </a:lnTo>
                  <a:lnTo>
                    <a:pt x="64230" y="400990"/>
                  </a:lnTo>
                  <a:lnTo>
                    <a:pt x="35798" y="363935"/>
                  </a:lnTo>
                  <a:lnTo>
                    <a:pt x="15141" y="322046"/>
                  </a:lnTo>
                  <a:lnTo>
                    <a:pt x="3053" y="276931"/>
                  </a:lnTo>
                  <a:lnTo>
                    <a:pt x="0" y="245923"/>
                  </a:lnTo>
                  <a:lnTo>
                    <a:pt x="0" y="230326"/>
                  </a:lnTo>
                  <a:lnTo>
                    <a:pt x="6096" y="184019"/>
                  </a:lnTo>
                  <a:lnTo>
                    <a:pt x="21110" y="139793"/>
                  </a:lnTo>
                  <a:lnTo>
                    <a:pt x="44464" y="99345"/>
                  </a:lnTo>
                  <a:lnTo>
                    <a:pt x="75259" y="64230"/>
                  </a:lnTo>
                  <a:lnTo>
                    <a:pt x="112314" y="35798"/>
                  </a:lnTo>
                  <a:lnTo>
                    <a:pt x="154203" y="15141"/>
                  </a:lnTo>
                  <a:lnTo>
                    <a:pt x="199318" y="3054"/>
                  </a:lnTo>
                  <a:lnTo>
                    <a:pt x="230326" y="0"/>
                  </a:lnTo>
                  <a:lnTo>
                    <a:pt x="245923" y="0"/>
                  </a:lnTo>
                  <a:lnTo>
                    <a:pt x="292229" y="6096"/>
                  </a:lnTo>
                  <a:lnTo>
                    <a:pt x="336456" y="21110"/>
                  </a:lnTo>
                  <a:lnTo>
                    <a:pt x="376904" y="44464"/>
                  </a:lnTo>
                  <a:lnTo>
                    <a:pt x="412019" y="75259"/>
                  </a:lnTo>
                  <a:lnTo>
                    <a:pt x="440451" y="112314"/>
                  </a:lnTo>
                  <a:lnTo>
                    <a:pt x="461108" y="154203"/>
                  </a:lnTo>
                  <a:lnTo>
                    <a:pt x="473195" y="199318"/>
                  </a:lnTo>
                  <a:lnTo>
                    <a:pt x="476249" y="230326"/>
                  </a:lnTo>
                  <a:lnTo>
                    <a:pt x="476249" y="238124"/>
                  </a:lnTo>
                  <a:lnTo>
                    <a:pt x="476249" y="245923"/>
                  </a:lnTo>
                  <a:lnTo>
                    <a:pt x="470152" y="292229"/>
                  </a:lnTo>
                  <a:lnTo>
                    <a:pt x="455139" y="336456"/>
                  </a:lnTo>
                  <a:lnTo>
                    <a:pt x="431785" y="376904"/>
                  </a:lnTo>
                  <a:lnTo>
                    <a:pt x="400990" y="412019"/>
                  </a:lnTo>
                  <a:lnTo>
                    <a:pt x="363935" y="440451"/>
                  </a:lnTo>
                  <a:lnTo>
                    <a:pt x="322046" y="461108"/>
                  </a:lnTo>
                  <a:lnTo>
                    <a:pt x="276931" y="473195"/>
                  </a:lnTo>
                  <a:lnTo>
                    <a:pt x="253704" y="475867"/>
                  </a:lnTo>
                  <a:lnTo>
                    <a:pt x="245923" y="476249"/>
                  </a:lnTo>
                  <a:close/>
                </a:path>
              </a:pathLst>
            </a:custGeom>
            <a:solidFill>
              <a:srgbClr val="003366"/>
            </a:solidFill>
          </p:spPr>
          <p:txBody>
            <a:bodyPr wrap="square" lIns="0" tIns="0" rIns="0" bIns="0" rtlCol="0"/>
            <a:lstStyle/>
            <a:p>
              <a:endParaRPr/>
            </a:p>
          </p:txBody>
        </p:sp>
        <p:pic>
          <p:nvPicPr>
            <p:cNvPr id="8" name="object 8"/>
            <p:cNvPicPr/>
            <p:nvPr/>
          </p:nvPicPr>
          <p:blipFill>
            <a:blip r:embed="rId3" cstate="print"/>
            <a:stretch>
              <a:fillRect/>
            </a:stretch>
          </p:blipFill>
          <p:spPr>
            <a:xfrm>
              <a:off x="457199" y="1095374"/>
              <a:ext cx="171449" cy="190499"/>
            </a:xfrm>
            <a:prstGeom prst="rect">
              <a:avLst/>
            </a:prstGeom>
          </p:spPr>
        </p:pic>
      </p:grpSp>
      <p:grpSp>
        <p:nvGrpSpPr>
          <p:cNvPr id="9" name="object 9"/>
          <p:cNvGrpSpPr/>
          <p:nvPr/>
        </p:nvGrpSpPr>
        <p:grpSpPr>
          <a:xfrm>
            <a:off x="933449" y="761999"/>
            <a:ext cx="10953750" cy="1219200"/>
            <a:chOff x="933449" y="952499"/>
            <a:chExt cx="10953750" cy="1219200"/>
          </a:xfrm>
        </p:grpSpPr>
        <p:sp>
          <p:nvSpPr>
            <p:cNvPr id="10" name="object 10"/>
            <p:cNvSpPr/>
            <p:nvPr/>
          </p:nvSpPr>
          <p:spPr>
            <a:xfrm>
              <a:off x="933449" y="952499"/>
              <a:ext cx="10953750" cy="1219200"/>
            </a:xfrm>
            <a:custGeom>
              <a:avLst/>
              <a:gdLst/>
              <a:ahLst/>
              <a:cxnLst/>
              <a:rect l="l" t="t" r="r" b="b"/>
              <a:pathLst>
                <a:path w="10953750" h="1219200">
                  <a:moveTo>
                    <a:pt x="10953749" y="1219199"/>
                  </a:moveTo>
                  <a:lnTo>
                    <a:pt x="0" y="1219199"/>
                  </a:lnTo>
                  <a:lnTo>
                    <a:pt x="0" y="0"/>
                  </a:lnTo>
                  <a:lnTo>
                    <a:pt x="10953749" y="0"/>
                  </a:lnTo>
                  <a:lnTo>
                    <a:pt x="10953749" y="1219199"/>
                  </a:lnTo>
                  <a:close/>
                </a:path>
              </a:pathLst>
            </a:custGeom>
            <a:solidFill>
              <a:srgbClr val="FFFFFF"/>
            </a:solidFill>
          </p:spPr>
          <p:txBody>
            <a:bodyPr wrap="square" lIns="0" tIns="0" rIns="0" bIns="0" rtlCol="0"/>
            <a:lstStyle/>
            <a:p>
              <a:endParaRPr/>
            </a:p>
          </p:txBody>
        </p:sp>
        <p:sp>
          <p:nvSpPr>
            <p:cNvPr id="11" name="object 11"/>
            <p:cNvSpPr/>
            <p:nvPr/>
          </p:nvSpPr>
          <p:spPr>
            <a:xfrm>
              <a:off x="933449" y="952499"/>
              <a:ext cx="38100" cy="1219200"/>
            </a:xfrm>
            <a:custGeom>
              <a:avLst/>
              <a:gdLst/>
              <a:ahLst/>
              <a:cxnLst/>
              <a:rect l="l" t="t" r="r" b="b"/>
              <a:pathLst>
                <a:path w="38100" h="1219200">
                  <a:moveTo>
                    <a:pt x="38099" y="1219199"/>
                  </a:moveTo>
                  <a:lnTo>
                    <a:pt x="0" y="1219199"/>
                  </a:lnTo>
                  <a:lnTo>
                    <a:pt x="0" y="0"/>
                  </a:lnTo>
                  <a:lnTo>
                    <a:pt x="38099" y="0"/>
                  </a:lnTo>
                  <a:lnTo>
                    <a:pt x="38099" y="1219199"/>
                  </a:lnTo>
                  <a:close/>
                </a:path>
              </a:pathLst>
            </a:custGeom>
            <a:solidFill>
              <a:srgbClr val="FF9900"/>
            </a:solidFill>
          </p:spPr>
          <p:txBody>
            <a:bodyPr wrap="square" lIns="0" tIns="0" rIns="0" bIns="0" rtlCol="0"/>
            <a:lstStyle/>
            <a:p>
              <a:endParaRPr/>
            </a:p>
          </p:txBody>
        </p:sp>
      </p:grpSp>
      <p:sp>
        <p:nvSpPr>
          <p:cNvPr id="12" name="object 12"/>
          <p:cNvSpPr txBox="1"/>
          <p:nvPr/>
        </p:nvSpPr>
        <p:spPr>
          <a:xfrm>
            <a:off x="971549" y="890091"/>
            <a:ext cx="10915650" cy="909955"/>
          </a:xfrm>
          <a:prstGeom prst="rect">
            <a:avLst/>
          </a:prstGeom>
        </p:spPr>
        <p:txBody>
          <a:bodyPr vert="horz" wrap="square" lIns="0" tIns="11430" rIns="0" bIns="0" rtlCol="0">
            <a:spAutoFit/>
          </a:bodyPr>
          <a:lstStyle/>
          <a:p>
            <a:pPr marL="152400">
              <a:lnSpc>
                <a:spcPct val="100000"/>
              </a:lnSpc>
              <a:spcBef>
                <a:spcPts val="90"/>
              </a:spcBef>
            </a:pPr>
            <a:r>
              <a:rPr sz="1800" b="1" spc="-20" dirty="0">
                <a:solidFill>
                  <a:srgbClr val="003366"/>
                </a:solidFill>
                <a:latin typeface="Arial"/>
                <a:cs typeface="Arial"/>
              </a:rPr>
              <a:t>HITRAN</a:t>
            </a:r>
            <a:r>
              <a:rPr sz="1900" spc="-80" dirty="0">
                <a:solidFill>
                  <a:srgbClr val="003366"/>
                </a:solidFill>
                <a:latin typeface="PMingLiU"/>
                <a:cs typeface="PMingLiU"/>
              </a:rPr>
              <a:t>データベース</a:t>
            </a:r>
            <a:endParaRPr sz="1900">
              <a:latin typeface="PMingLiU"/>
              <a:cs typeface="PMingLiU"/>
            </a:endParaRPr>
          </a:p>
          <a:p>
            <a:pPr marL="152400" marR="199390">
              <a:lnSpc>
                <a:spcPct val="129600"/>
              </a:lnSpc>
              <a:spcBef>
                <a:spcPts val="490"/>
              </a:spcBef>
            </a:pPr>
            <a:r>
              <a:rPr sz="1350" spc="-10" dirty="0">
                <a:solidFill>
                  <a:srgbClr val="374050"/>
                </a:solidFill>
                <a:latin typeface="Arial"/>
                <a:cs typeface="Arial"/>
              </a:rPr>
              <a:t>HITRAN</a:t>
            </a:r>
            <a:r>
              <a:rPr sz="1350" spc="-10" dirty="0">
                <a:solidFill>
                  <a:srgbClr val="374050"/>
                </a:solidFill>
                <a:latin typeface="PMingLiU"/>
                <a:cs typeface="PMingLiU"/>
              </a:rPr>
              <a:t>とは「</a:t>
            </a:r>
            <a:r>
              <a:rPr sz="1350" dirty="0">
                <a:solidFill>
                  <a:srgbClr val="374050"/>
                </a:solidFill>
                <a:latin typeface="Arial"/>
                <a:cs typeface="Arial"/>
              </a:rPr>
              <a:t>High-resolution</a:t>
            </a:r>
            <a:r>
              <a:rPr sz="1350" spc="-5" dirty="0">
                <a:solidFill>
                  <a:srgbClr val="374050"/>
                </a:solidFill>
                <a:latin typeface="Arial"/>
                <a:cs typeface="Arial"/>
              </a:rPr>
              <a:t> </a:t>
            </a:r>
            <a:r>
              <a:rPr sz="1350" dirty="0">
                <a:solidFill>
                  <a:srgbClr val="374050"/>
                </a:solidFill>
                <a:latin typeface="Arial"/>
                <a:cs typeface="Arial"/>
              </a:rPr>
              <a:t>Transmission molecular absorption database</a:t>
            </a:r>
            <a:r>
              <a:rPr sz="1350" spc="-35" dirty="0">
                <a:solidFill>
                  <a:srgbClr val="374050"/>
                </a:solidFill>
                <a:latin typeface="PMingLiU"/>
                <a:cs typeface="PMingLiU"/>
              </a:rPr>
              <a:t>」の頭文字を取ったもので，ハーバード・スミソニアン天体物</a:t>
            </a:r>
            <a:r>
              <a:rPr sz="1350" spc="-40" dirty="0">
                <a:solidFill>
                  <a:srgbClr val="374050"/>
                </a:solidFill>
                <a:latin typeface="PMingLiU"/>
                <a:cs typeface="PMingLiU"/>
              </a:rPr>
              <a:t>理学センターが管理する分子の分光パラメータを集めた世界標準のデータベースです。</a:t>
            </a:r>
            <a:endParaRPr sz="1350">
              <a:latin typeface="PMingLiU"/>
              <a:cs typeface="PMingLiU"/>
            </a:endParaRPr>
          </a:p>
        </p:txBody>
      </p:sp>
      <p:grpSp>
        <p:nvGrpSpPr>
          <p:cNvPr id="13" name="object 13"/>
          <p:cNvGrpSpPr/>
          <p:nvPr/>
        </p:nvGrpSpPr>
        <p:grpSpPr>
          <a:xfrm>
            <a:off x="3343274" y="2209800"/>
            <a:ext cx="476250" cy="476250"/>
            <a:chOff x="3343274" y="2400300"/>
            <a:chExt cx="476250" cy="476250"/>
          </a:xfrm>
        </p:grpSpPr>
        <p:sp>
          <p:nvSpPr>
            <p:cNvPr id="14" name="object 14"/>
            <p:cNvSpPr/>
            <p:nvPr/>
          </p:nvSpPr>
          <p:spPr>
            <a:xfrm>
              <a:off x="3343274" y="2400300"/>
              <a:ext cx="476250" cy="476250"/>
            </a:xfrm>
            <a:custGeom>
              <a:avLst/>
              <a:gdLst/>
              <a:ahLst/>
              <a:cxnLst/>
              <a:rect l="l" t="t" r="r" b="b"/>
              <a:pathLst>
                <a:path w="476250" h="476250">
                  <a:moveTo>
                    <a:pt x="245924" y="476249"/>
                  </a:moveTo>
                  <a:lnTo>
                    <a:pt x="230326" y="476249"/>
                  </a:lnTo>
                  <a:lnTo>
                    <a:pt x="222545" y="475867"/>
                  </a:lnTo>
                  <a:lnTo>
                    <a:pt x="184019" y="470152"/>
                  </a:lnTo>
                  <a:lnTo>
                    <a:pt x="139792" y="455138"/>
                  </a:lnTo>
                  <a:lnTo>
                    <a:pt x="99345" y="431785"/>
                  </a:lnTo>
                  <a:lnTo>
                    <a:pt x="64230" y="400989"/>
                  </a:lnTo>
                  <a:lnTo>
                    <a:pt x="35798" y="363935"/>
                  </a:lnTo>
                  <a:lnTo>
                    <a:pt x="15141" y="322046"/>
                  </a:lnTo>
                  <a:lnTo>
                    <a:pt x="3053" y="276931"/>
                  </a:lnTo>
                  <a:lnTo>
                    <a:pt x="0" y="245923"/>
                  </a:lnTo>
                  <a:lnTo>
                    <a:pt x="0" y="230325"/>
                  </a:lnTo>
                  <a:lnTo>
                    <a:pt x="6096" y="184019"/>
                  </a:lnTo>
                  <a:lnTo>
                    <a:pt x="21110" y="139792"/>
                  </a:lnTo>
                  <a:lnTo>
                    <a:pt x="44464" y="99345"/>
                  </a:lnTo>
                  <a:lnTo>
                    <a:pt x="75259" y="64230"/>
                  </a:lnTo>
                  <a:lnTo>
                    <a:pt x="112314" y="35798"/>
                  </a:lnTo>
                  <a:lnTo>
                    <a:pt x="154203" y="15141"/>
                  </a:lnTo>
                  <a:lnTo>
                    <a:pt x="199317" y="3053"/>
                  </a:lnTo>
                  <a:lnTo>
                    <a:pt x="230326" y="0"/>
                  </a:lnTo>
                  <a:lnTo>
                    <a:pt x="245924" y="0"/>
                  </a:lnTo>
                  <a:lnTo>
                    <a:pt x="292229" y="6096"/>
                  </a:lnTo>
                  <a:lnTo>
                    <a:pt x="336456" y="21110"/>
                  </a:lnTo>
                  <a:lnTo>
                    <a:pt x="376904" y="44463"/>
                  </a:lnTo>
                  <a:lnTo>
                    <a:pt x="412019" y="75259"/>
                  </a:lnTo>
                  <a:lnTo>
                    <a:pt x="440451" y="112314"/>
                  </a:lnTo>
                  <a:lnTo>
                    <a:pt x="461108" y="154203"/>
                  </a:lnTo>
                  <a:lnTo>
                    <a:pt x="473196" y="199317"/>
                  </a:lnTo>
                  <a:lnTo>
                    <a:pt x="476250" y="230325"/>
                  </a:lnTo>
                  <a:lnTo>
                    <a:pt x="476249" y="238124"/>
                  </a:lnTo>
                  <a:lnTo>
                    <a:pt x="476250" y="245923"/>
                  </a:lnTo>
                  <a:lnTo>
                    <a:pt x="470152" y="292229"/>
                  </a:lnTo>
                  <a:lnTo>
                    <a:pt x="455139" y="336456"/>
                  </a:lnTo>
                  <a:lnTo>
                    <a:pt x="431785" y="376904"/>
                  </a:lnTo>
                  <a:lnTo>
                    <a:pt x="400989" y="412019"/>
                  </a:lnTo>
                  <a:lnTo>
                    <a:pt x="363935" y="440451"/>
                  </a:lnTo>
                  <a:lnTo>
                    <a:pt x="322046" y="461107"/>
                  </a:lnTo>
                  <a:lnTo>
                    <a:pt x="276931" y="473195"/>
                  </a:lnTo>
                  <a:lnTo>
                    <a:pt x="253704" y="475867"/>
                  </a:lnTo>
                  <a:lnTo>
                    <a:pt x="245924" y="476249"/>
                  </a:lnTo>
                  <a:close/>
                </a:path>
              </a:pathLst>
            </a:custGeom>
            <a:solidFill>
              <a:srgbClr val="003366"/>
            </a:solidFill>
          </p:spPr>
          <p:txBody>
            <a:bodyPr wrap="square" lIns="0" tIns="0" rIns="0" bIns="0" rtlCol="0"/>
            <a:lstStyle/>
            <a:p>
              <a:endParaRPr/>
            </a:p>
          </p:txBody>
        </p:sp>
        <p:pic>
          <p:nvPicPr>
            <p:cNvPr id="15" name="object 15"/>
            <p:cNvPicPr/>
            <p:nvPr/>
          </p:nvPicPr>
          <p:blipFill>
            <a:blip r:embed="rId4" cstate="print"/>
            <a:stretch>
              <a:fillRect/>
            </a:stretch>
          </p:blipFill>
          <p:spPr>
            <a:xfrm>
              <a:off x="3486149" y="2543174"/>
              <a:ext cx="190499" cy="190499"/>
            </a:xfrm>
            <a:prstGeom prst="rect">
              <a:avLst/>
            </a:prstGeom>
          </p:spPr>
        </p:pic>
      </p:grpSp>
      <p:grpSp>
        <p:nvGrpSpPr>
          <p:cNvPr id="16" name="object 16"/>
          <p:cNvGrpSpPr/>
          <p:nvPr/>
        </p:nvGrpSpPr>
        <p:grpSpPr>
          <a:xfrm>
            <a:off x="5019674" y="2209800"/>
            <a:ext cx="476250" cy="476250"/>
            <a:chOff x="5019674" y="2400300"/>
            <a:chExt cx="476250" cy="476250"/>
          </a:xfrm>
        </p:grpSpPr>
        <p:sp>
          <p:nvSpPr>
            <p:cNvPr id="17" name="object 17"/>
            <p:cNvSpPr/>
            <p:nvPr/>
          </p:nvSpPr>
          <p:spPr>
            <a:xfrm>
              <a:off x="5019674" y="2400300"/>
              <a:ext cx="476250" cy="476250"/>
            </a:xfrm>
            <a:custGeom>
              <a:avLst/>
              <a:gdLst/>
              <a:ahLst/>
              <a:cxnLst/>
              <a:rect l="l" t="t" r="r" b="b"/>
              <a:pathLst>
                <a:path w="476250" h="476250">
                  <a:moveTo>
                    <a:pt x="245923" y="476249"/>
                  </a:moveTo>
                  <a:lnTo>
                    <a:pt x="230326" y="476249"/>
                  </a:lnTo>
                  <a:lnTo>
                    <a:pt x="222546" y="475867"/>
                  </a:lnTo>
                  <a:lnTo>
                    <a:pt x="184019" y="470152"/>
                  </a:lnTo>
                  <a:lnTo>
                    <a:pt x="139792" y="455138"/>
                  </a:lnTo>
                  <a:lnTo>
                    <a:pt x="99344" y="431785"/>
                  </a:lnTo>
                  <a:lnTo>
                    <a:pt x="64230" y="400989"/>
                  </a:lnTo>
                  <a:lnTo>
                    <a:pt x="35797" y="363935"/>
                  </a:lnTo>
                  <a:lnTo>
                    <a:pt x="15140" y="322046"/>
                  </a:lnTo>
                  <a:lnTo>
                    <a:pt x="3053" y="276931"/>
                  </a:lnTo>
                  <a:lnTo>
                    <a:pt x="0" y="245923"/>
                  </a:lnTo>
                  <a:lnTo>
                    <a:pt x="0" y="230325"/>
                  </a:lnTo>
                  <a:lnTo>
                    <a:pt x="6096" y="184019"/>
                  </a:lnTo>
                  <a:lnTo>
                    <a:pt x="21110" y="139792"/>
                  </a:lnTo>
                  <a:lnTo>
                    <a:pt x="44462" y="99345"/>
                  </a:lnTo>
                  <a:lnTo>
                    <a:pt x="75259" y="64230"/>
                  </a:lnTo>
                  <a:lnTo>
                    <a:pt x="112313" y="35798"/>
                  </a:lnTo>
                  <a:lnTo>
                    <a:pt x="154203" y="15141"/>
                  </a:lnTo>
                  <a:lnTo>
                    <a:pt x="199317" y="3053"/>
                  </a:lnTo>
                  <a:lnTo>
                    <a:pt x="230326" y="0"/>
                  </a:lnTo>
                  <a:lnTo>
                    <a:pt x="245923" y="0"/>
                  </a:lnTo>
                  <a:lnTo>
                    <a:pt x="292229" y="6096"/>
                  </a:lnTo>
                  <a:lnTo>
                    <a:pt x="336456" y="21110"/>
                  </a:lnTo>
                  <a:lnTo>
                    <a:pt x="376903" y="44463"/>
                  </a:lnTo>
                  <a:lnTo>
                    <a:pt x="412018" y="75259"/>
                  </a:lnTo>
                  <a:lnTo>
                    <a:pt x="440450" y="112314"/>
                  </a:lnTo>
                  <a:lnTo>
                    <a:pt x="461107" y="154203"/>
                  </a:lnTo>
                  <a:lnTo>
                    <a:pt x="473195" y="199317"/>
                  </a:lnTo>
                  <a:lnTo>
                    <a:pt x="476249" y="230325"/>
                  </a:lnTo>
                  <a:lnTo>
                    <a:pt x="476249" y="238124"/>
                  </a:lnTo>
                  <a:lnTo>
                    <a:pt x="476249" y="245923"/>
                  </a:lnTo>
                  <a:lnTo>
                    <a:pt x="470152" y="292229"/>
                  </a:lnTo>
                  <a:lnTo>
                    <a:pt x="455138" y="336456"/>
                  </a:lnTo>
                  <a:lnTo>
                    <a:pt x="431785" y="376904"/>
                  </a:lnTo>
                  <a:lnTo>
                    <a:pt x="400989" y="412019"/>
                  </a:lnTo>
                  <a:lnTo>
                    <a:pt x="363935" y="440451"/>
                  </a:lnTo>
                  <a:lnTo>
                    <a:pt x="322046" y="461107"/>
                  </a:lnTo>
                  <a:lnTo>
                    <a:pt x="276931" y="473195"/>
                  </a:lnTo>
                  <a:lnTo>
                    <a:pt x="253704" y="475867"/>
                  </a:lnTo>
                  <a:lnTo>
                    <a:pt x="245923" y="476249"/>
                  </a:lnTo>
                  <a:close/>
                </a:path>
              </a:pathLst>
            </a:custGeom>
            <a:solidFill>
              <a:srgbClr val="004080"/>
            </a:solidFill>
          </p:spPr>
          <p:txBody>
            <a:bodyPr wrap="square" lIns="0" tIns="0" rIns="0" bIns="0" rtlCol="0"/>
            <a:lstStyle/>
            <a:p>
              <a:endParaRPr/>
            </a:p>
          </p:txBody>
        </p:sp>
        <p:pic>
          <p:nvPicPr>
            <p:cNvPr id="18" name="object 18"/>
            <p:cNvPicPr/>
            <p:nvPr/>
          </p:nvPicPr>
          <p:blipFill>
            <a:blip r:embed="rId5" cstate="print"/>
            <a:stretch>
              <a:fillRect/>
            </a:stretch>
          </p:blipFill>
          <p:spPr>
            <a:xfrm>
              <a:off x="5162549" y="2543174"/>
              <a:ext cx="190499" cy="190499"/>
            </a:xfrm>
            <a:prstGeom prst="rect">
              <a:avLst/>
            </a:prstGeom>
          </p:spPr>
        </p:pic>
      </p:grpSp>
      <p:grpSp>
        <p:nvGrpSpPr>
          <p:cNvPr id="19" name="object 19"/>
          <p:cNvGrpSpPr/>
          <p:nvPr/>
        </p:nvGrpSpPr>
        <p:grpSpPr>
          <a:xfrm>
            <a:off x="6696074" y="2209800"/>
            <a:ext cx="476250" cy="476250"/>
            <a:chOff x="6696074" y="2400300"/>
            <a:chExt cx="476250" cy="476250"/>
          </a:xfrm>
        </p:grpSpPr>
        <p:sp>
          <p:nvSpPr>
            <p:cNvPr id="20" name="object 20"/>
            <p:cNvSpPr/>
            <p:nvPr/>
          </p:nvSpPr>
          <p:spPr>
            <a:xfrm>
              <a:off x="6696074" y="2400300"/>
              <a:ext cx="476250" cy="476250"/>
            </a:xfrm>
            <a:custGeom>
              <a:avLst/>
              <a:gdLst/>
              <a:ahLst/>
              <a:cxnLst/>
              <a:rect l="l" t="t" r="r" b="b"/>
              <a:pathLst>
                <a:path w="476250" h="476250">
                  <a:moveTo>
                    <a:pt x="245923" y="476249"/>
                  </a:moveTo>
                  <a:lnTo>
                    <a:pt x="230326" y="476249"/>
                  </a:lnTo>
                  <a:lnTo>
                    <a:pt x="222545" y="475867"/>
                  </a:lnTo>
                  <a:lnTo>
                    <a:pt x="184018" y="470152"/>
                  </a:lnTo>
                  <a:lnTo>
                    <a:pt x="139792" y="455138"/>
                  </a:lnTo>
                  <a:lnTo>
                    <a:pt x="99345" y="431785"/>
                  </a:lnTo>
                  <a:lnTo>
                    <a:pt x="64230" y="400989"/>
                  </a:lnTo>
                  <a:lnTo>
                    <a:pt x="35797" y="363935"/>
                  </a:lnTo>
                  <a:lnTo>
                    <a:pt x="15141" y="322046"/>
                  </a:lnTo>
                  <a:lnTo>
                    <a:pt x="3053" y="276931"/>
                  </a:lnTo>
                  <a:lnTo>
                    <a:pt x="0" y="245923"/>
                  </a:lnTo>
                  <a:lnTo>
                    <a:pt x="0" y="230325"/>
                  </a:lnTo>
                  <a:lnTo>
                    <a:pt x="6096" y="184019"/>
                  </a:lnTo>
                  <a:lnTo>
                    <a:pt x="21110" y="139792"/>
                  </a:lnTo>
                  <a:lnTo>
                    <a:pt x="44463" y="99345"/>
                  </a:lnTo>
                  <a:lnTo>
                    <a:pt x="75259" y="64230"/>
                  </a:lnTo>
                  <a:lnTo>
                    <a:pt x="112313" y="35798"/>
                  </a:lnTo>
                  <a:lnTo>
                    <a:pt x="154202" y="15141"/>
                  </a:lnTo>
                  <a:lnTo>
                    <a:pt x="199316" y="3053"/>
                  </a:lnTo>
                  <a:lnTo>
                    <a:pt x="230326" y="0"/>
                  </a:lnTo>
                  <a:lnTo>
                    <a:pt x="245923" y="0"/>
                  </a:lnTo>
                  <a:lnTo>
                    <a:pt x="292229" y="6096"/>
                  </a:lnTo>
                  <a:lnTo>
                    <a:pt x="336456" y="21110"/>
                  </a:lnTo>
                  <a:lnTo>
                    <a:pt x="376904" y="44463"/>
                  </a:lnTo>
                  <a:lnTo>
                    <a:pt x="412019" y="75259"/>
                  </a:lnTo>
                  <a:lnTo>
                    <a:pt x="440451" y="112314"/>
                  </a:lnTo>
                  <a:lnTo>
                    <a:pt x="461107" y="154203"/>
                  </a:lnTo>
                  <a:lnTo>
                    <a:pt x="473195" y="199317"/>
                  </a:lnTo>
                  <a:lnTo>
                    <a:pt x="476249" y="230325"/>
                  </a:lnTo>
                  <a:lnTo>
                    <a:pt x="476249" y="238124"/>
                  </a:lnTo>
                  <a:lnTo>
                    <a:pt x="476249" y="245923"/>
                  </a:lnTo>
                  <a:lnTo>
                    <a:pt x="470152" y="292229"/>
                  </a:lnTo>
                  <a:lnTo>
                    <a:pt x="455138" y="336456"/>
                  </a:lnTo>
                  <a:lnTo>
                    <a:pt x="431784" y="376904"/>
                  </a:lnTo>
                  <a:lnTo>
                    <a:pt x="400989" y="412019"/>
                  </a:lnTo>
                  <a:lnTo>
                    <a:pt x="363935" y="440451"/>
                  </a:lnTo>
                  <a:lnTo>
                    <a:pt x="322046" y="461107"/>
                  </a:lnTo>
                  <a:lnTo>
                    <a:pt x="276931" y="473195"/>
                  </a:lnTo>
                  <a:lnTo>
                    <a:pt x="253704" y="475867"/>
                  </a:lnTo>
                  <a:lnTo>
                    <a:pt x="245923" y="476249"/>
                  </a:lnTo>
                  <a:close/>
                </a:path>
              </a:pathLst>
            </a:custGeom>
            <a:solidFill>
              <a:srgbClr val="0054A3"/>
            </a:solidFill>
          </p:spPr>
          <p:txBody>
            <a:bodyPr wrap="square" lIns="0" tIns="0" rIns="0" bIns="0" rtlCol="0"/>
            <a:lstStyle/>
            <a:p>
              <a:endParaRPr/>
            </a:p>
          </p:txBody>
        </p:sp>
        <p:pic>
          <p:nvPicPr>
            <p:cNvPr id="21" name="object 21"/>
            <p:cNvPicPr/>
            <p:nvPr/>
          </p:nvPicPr>
          <p:blipFill>
            <a:blip r:embed="rId6" cstate="print"/>
            <a:stretch>
              <a:fillRect/>
            </a:stretch>
          </p:blipFill>
          <p:spPr>
            <a:xfrm>
              <a:off x="6867524" y="2543174"/>
              <a:ext cx="142874" cy="190499"/>
            </a:xfrm>
            <a:prstGeom prst="rect">
              <a:avLst/>
            </a:prstGeom>
          </p:spPr>
        </p:pic>
      </p:grpSp>
      <p:grpSp>
        <p:nvGrpSpPr>
          <p:cNvPr id="22" name="object 22"/>
          <p:cNvGrpSpPr/>
          <p:nvPr/>
        </p:nvGrpSpPr>
        <p:grpSpPr>
          <a:xfrm>
            <a:off x="8372475" y="2209800"/>
            <a:ext cx="476250" cy="476250"/>
            <a:chOff x="8372475" y="2400300"/>
            <a:chExt cx="476250" cy="476250"/>
          </a:xfrm>
        </p:grpSpPr>
        <p:sp>
          <p:nvSpPr>
            <p:cNvPr id="23" name="object 23"/>
            <p:cNvSpPr/>
            <p:nvPr/>
          </p:nvSpPr>
          <p:spPr>
            <a:xfrm>
              <a:off x="8372475" y="2400300"/>
              <a:ext cx="476250" cy="476250"/>
            </a:xfrm>
            <a:custGeom>
              <a:avLst/>
              <a:gdLst/>
              <a:ahLst/>
              <a:cxnLst/>
              <a:rect l="l" t="t" r="r" b="b"/>
              <a:pathLst>
                <a:path w="476250" h="476250">
                  <a:moveTo>
                    <a:pt x="245923" y="476249"/>
                  </a:moveTo>
                  <a:lnTo>
                    <a:pt x="230325" y="476249"/>
                  </a:lnTo>
                  <a:lnTo>
                    <a:pt x="222545" y="475867"/>
                  </a:lnTo>
                  <a:lnTo>
                    <a:pt x="184018" y="470152"/>
                  </a:lnTo>
                  <a:lnTo>
                    <a:pt x="139792" y="455138"/>
                  </a:lnTo>
                  <a:lnTo>
                    <a:pt x="99343" y="431785"/>
                  </a:lnTo>
                  <a:lnTo>
                    <a:pt x="64229" y="400989"/>
                  </a:lnTo>
                  <a:lnTo>
                    <a:pt x="35797" y="363935"/>
                  </a:lnTo>
                  <a:lnTo>
                    <a:pt x="15140" y="322046"/>
                  </a:lnTo>
                  <a:lnTo>
                    <a:pt x="3052" y="276931"/>
                  </a:lnTo>
                  <a:lnTo>
                    <a:pt x="0" y="245923"/>
                  </a:lnTo>
                  <a:lnTo>
                    <a:pt x="0" y="230325"/>
                  </a:lnTo>
                  <a:lnTo>
                    <a:pt x="6096" y="184019"/>
                  </a:lnTo>
                  <a:lnTo>
                    <a:pt x="21109" y="139792"/>
                  </a:lnTo>
                  <a:lnTo>
                    <a:pt x="44462" y="99345"/>
                  </a:lnTo>
                  <a:lnTo>
                    <a:pt x="75259" y="64230"/>
                  </a:lnTo>
                  <a:lnTo>
                    <a:pt x="112312" y="35798"/>
                  </a:lnTo>
                  <a:lnTo>
                    <a:pt x="154202" y="15141"/>
                  </a:lnTo>
                  <a:lnTo>
                    <a:pt x="199316" y="3053"/>
                  </a:lnTo>
                  <a:lnTo>
                    <a:pt x="230325" y="0"/>
                  </a:lnTo>
                  <a:lnTo>
                    <a:pt x="245923" y="0"/>
                  </a:lnTo>
                  <a:lnTo>
                    <a:pt x="292228" y="6096"/>
                  </a:lnTo>
                  <a:lnTo>
                    <a:pt x="336455" y="21110"/>
                  </a:lnTo>
                  <a:lnTo>
                    <a:pt x="376903" y="44463"/>
                  </a:lnTo>
                  <a:lnTo>
                    <a:pt x="412017" y="75259"/>
                  </a:lnTo>
                  <a:lnTo>
                    <a:pt x="440449" y="112314"/>
                  </a:lnTo>
                  <a:lnTo>
                    <a:pt x="461106" y="154203"/>
                  </a:lnTo>
                  <a:lnTo>
                    <a:pt x="473194" y="199317"/>
                  </a:lnTo>
                  <a:lnTo>
                    <a:pt x="476249" y="230325"/>
                  </a:lnTo>
                  <a:lnTo>
                    <a:pt x="476249" y="238124"/>
                  </a:lnTo>
                  <a:lnTo>
                    <a:pt x="476249" y="245923"/>
                  </a:lnTo>
                  <a:lnTo>
                    <a:pt x="470151" y="292229"/>
                  </a:lnTo>
                  <a:lnTo>
                    <a:pt x="455137" y="336456"/>
                  </a:lnTo>
                  <a:lnTo>
                    <a:pt x="431783" y="376904"/>
                  </a:lnTo>
                  <a:lnTo>
                    <a:pt x="400988" y="412019"/>
                  </a:lnTo>
                  <a:lnTo>
                    <a:pt x="363933" y="440451"/>
                  </a:lnTo>
                  <a:lnTo>
                    <a:pt x="322044" y="461107"/>
                  </a:lnTo>
                  <a:lnTo>
                    <a:pt x="276930" y="473195"/>
                  </a:lnTo>
                  <a:lnTo>
                    <a:pt x="253703" y="475867"/>
                  </a:lnTo>
                  <a:lnTo>
                    <a:pt x="245923" y="476249"/>
                  </a:lnTo>
                  <a:close/>
                </a:path>
              </a:pathLst>
            </a:custGeom>
            <a:solidFill>
              <a:srgbClr val="FF9900"/>
            </a:solidFill>
          </p:spPr>
          <p:txBody>
            <a:bodyPr wrap="square" lIns="0" tIns="0" rIns="0" bIns="0" rtlCol="0"/>
            <a:lstStyle/>
            <a:p>
              <a:endParaRPr/>
            </a:p>
          </p:txBody>
        </p:sp>
        <p:pic>
          <p:nvPicPr>
            <p:cNvPr id="24" name="object 24"/>
            <p:cNvPicPr/>
            <p:nvPr/>
          </p:nvPicPr>
          <p:blipFill>
            <a:blip r:embed="rId7" cstate="print"/>
            <a:stretch>
              <a:fillRect/>
            </a:stretch>
          </p:blipFill>
          <p:spPr>
            <a:xfrm>
              <a:off x="8543924" y="2543174"/>
              <a:ext cx="142874" cy="190499"/>
            </a:xfrm>
            <a:prstGeom prst="rect">
              <a:avLst/>
            </a:prstGeom>
          </p:spPr>
        </p:pic>
      </p:grpSp>
      <p:grpSp>
        <p:nvGrpSpPr>
          <p:cNvPr id="25" name="object 25"/>
          <p:cNvGrpSpPr/>
          <p:nvPr/>
        </p:nvGrpSpPr>
        <p:grpSpPr>
          <a:xfrm>
            <a:off x="304799" y="2914649"/>
            <a:ext cx="2781300" cy="1333500"/>
            <a:chOff x="304799" y="3105149"/>
            <a:chExt cx="2781300" cy="1333500"/>
          </a:xfrm>
        </p:grpSpPr>
        <p:sp>
          <p:nvSpPr>
            <p:cNvPr id="26" name="object 26"/>
            <p:cNvSpPr/>
            <p:nvPr/>
          </p:nvSpPr>
          <p:spPr>
            <a:xfrm>
              <a:off x="304799" y="3105149"/>
              <a:ext cx="2781300" cy="1333500"/>
            </a:xfrm>
            <a:custGeom>
              <a:avLst/>
              <a:gdLst/>
              <a:ahLst/>
              <a:cxnLst/>
              <a:rect l="l" t="t" r="r" b="b"/>
              <a:pathLst>
                <a:path w="2781300" h="1333500">
                  <a:moveTo>
                    <a:pt x="2781299" y="1333499"/>
                  </a:moveTo>
                  <a:lnTo>
                    <a:pt x="0" y="1333499"/>
                  </a:lnTo>
                  <a:lnTo>
                    <a:pt x="0" y="0"/>
                  </a:lnTo>
                  <a:lnTo>
                    <a:pt x="2781299" y="0"/>
                  </a:lnTo>
                  <a:lnTo>
                    <a:pt x="2781299" y="1333499"/>
                  </a:lnTo>
                  <a:close/>
                </a:path>
              </a:pathLst>
            </a:custGeom>
            <a:solidFill>
              <a:srgbClr val="FFFFFF"/>
            </a:solidFill>
          </p:spPr>
          <p:txBody>
            <a:bodyPr wrap="square" lIns="0" tIns="0" rIns="0" bIns="0" rtlCol="0"/>
            <a:lstStyle/>
            <a:p>
              <a:endParaRPr/>
            </a:p>
          </p:txBody>
        </p:sp>
        <p:sp>
          <p:nvSpPr>
            <p:cNvPr id="27" name="object 27"/>
            <p:cNvSpPr/>
            <p:nvPr/>
          </p:nvSpPr>
          <p:spPr>
            <a:xfrm>
              <a:off x="304799" y="3105149"/>
              <a:ext cx="38100" cy="1333500"/>
            </a:xfrm>
            <a:custGeom>
              <a:avLst/>
              <a:gdLst/>
              <a:ahLst/>
              <a:cxnLst/>
              <a:rect l="l" t="t" r="r" b="b"/>
              <a:pathLst>
                <a:path w="38100" h="1333500">
                  <a:moveTo>
                    <a:pt x="38099" y="1333499"/>
                  </a:moveTo>
                  <a:lnTo>
                    <a:pt x="0" y="1333499"/>
                  </a:lnTo>
                  <a:lnTo>
                    <a:pt x="0" y="0"/>
                  </a:lnTo>
                  <a:lnTo>
                    <a:pt x="38099" y="0"/>
                  </a:lnTo>
                  <a:lnTo>
                    <a:pt x="38099" y="1333499"/>
                  </a:lnTo>
                  <a:close/>
                </a:path>
              </a:pathLst>
            </a:custGeom>
            <a:solidFill>
              <a:srgbClr val="FF9900"/>
            </a:solidFill>
          </p:spPr>
          <p:txBody>
            <a:bodyPr wrap="square" lIns="0" tIns="0" rIns="0" bIns="0" rtlCol="0"/>
            <a:lstStyle/>
            <a:p>
              <a:endParaRPr/>
            </a:p>
          </p:txBody>
        </p:sp>
      </p:grpSp>
      <p:sp>
        <p:nvSpPr>
          <p:cNvPr id="28" name="object 28"/>
          <p:cNvSpPr txBox="1"/>
          <p:nvPr/>
        </p:nvSpPr>
        <p:spPr>
          <a:xfrm>
            <a:off x="342899" y="3035039"/>
            <a:ext cx="2743200" cy="1037590"/>
          </a:xfrm>
          <a:prstGeom prst="rect">
            <a:avLst/>
          </a:prstGeom>
        </p:spPr>
        <p:txBody>
          <a:bodyPr vert="horz" wrap="square" lIns="0" tIns="15875" rIns="0" bIns="0" rtlCol="0">
            <a:spAutoFit/>
          </a:bodyPr>
          <a:lstStyle/>
          <a:p>
            <a:pPr marL="152400">
              <a:lnSpc>
                <a:spcPct val="100000"/>
              </a:lnSpc>
              <a:spcBef>
                <a:spcPts val="125"/>
              </a:spcBef>
            </a:pPr>
            <a:r>
              <a:rPr sz="1650" spc="-165" dirty="0">
                <a:solidFill>
                  <a:srgbClr val="003366"/>
                </a:solidFill>
                <a:latin typeface="PMingLiU"/>
                <a:cs typeface="PMingLiU"/>
              </a:rPr>
              <a:t>線</a:t>
            </a:r>
            <a:r>
              <a:rPr sz="1600" spc="-120" dirty="0">
                <a:solidFill>
                  <a:srgbClr val="003366"/>
                </a:solidFill>
                <a:latin typeface="PMingLiU"/>
                <a:cs typeface="PMingLiU"/>
              </a:rPr>
              <a:t>の</a:t>
            </a:r>
            <a:r>
              <a:rPr sz="1650" spc="-165" dirty="0">
                <a:solidFill>
                  <a:srgbClr val="003366"/>
                </a:solidFill>
                <a:latin typeface="SimSun"/>
                <a:cs typeface="SimSun"/>
              </a:rPr>
              <a:t>強</a:t>
            </a:r>
            <a:r>
              <a:rPr sz="1700" spc="-210" dirty="0">
                <a:solidFill>
                  <a:srgbClr val="003366"/>
                </a:solidFill>
                <a:latin typeface="SimSun"/>
                <a:cs typeface="SimSun"/>
              </a:rPr>
              <a:t>度</a:t>
            </a:r>
            <a:r>
              <a:rPr sz="1600" spc="-120" dirty="0">
                <a:solidFill>
                  <a:srgbClr val="003366"/>
                </a:solidFill>
                <a:latin typeface="PMingLiU"/>
                <a:cs typeface="PMingLiU"/>
              </a:rPr>
              <a:t>と</a:t>
            </a:r>
            <a:r>
              <a:rPr sz="1700" spc="-210" dirty="0">
                <a:solidFill>
                  <a:srgbClr val="003366"/>
                </a:solidFill>
                <a:latin typeface="SimSun"/>
                <a:cs typeface="SimSun"/>
              </a:rPr>
              <a:t>広</a:t>
            </a:r>
            <a:r>
              <a:rPr sz="1600" spc="-120" dirty="0">
                <a:solidFill>
                  <a:srgbClr val="003366"/>
                </a:solidFill>
                <a:latin typeface="PMingLiU"/>
                <a:cs typeface="PMingLiU"/>
              </a:rPr>
              <a:t>がり</a:t>
            </a:r>
            <a:r>
              <a:rPr sz="1650" spc="-165" dirty="0">
                <a:solidFill>
                  <a:srgbClr val="003366"/>
                </a:solidFill>
                <a:latin typeface="SimSun"/>
                <a:cs typeface="SimSun"/>
              </a:rPr>
              <a:t>半値</a:t>
            </a:r>
            <a:r>
              <a:rPr sz="1700" spc="-50" dirty="0">
                <a:solidFill>
                  <a:srgbClr val="003366"/>
                </a:solidFill>
                <a:latin typeface="SimSun"/>
                <a:cs typeface="SimSun"/>
              </a:rPr>
              <a:t>幅</a:t>
            </a:r>
            <a:endParaRPr sz="1700">
              <a:latin typeface="SimSun"/>
              <a:cs typeface="SimSun"/>
            </a:endParaRPr>
          </a:p>
          <a:p>
            <a:pPr marL="152400" marR="140970">
              <a:lnSpc>
                <a:spcPct val="125000"/>
              </a:lnSpc>
              <a:spcBef>
                <a:spcPts val="500"/>
              </a:spcBef>
            </a:pPr>
            <a:r>
              <a:rPr sz="1200" dirty="0">
                <a:solidFill>
                  <a:srgbClr val="374050"/>
                </a:solidFill>
                <a:latin typeface="Arial"/>
                <a:cs typeface="Arial"/>
              </a:rPr>
              <a:t>HITRAN</a:t>
            </a:r>
            <a:r>
              <a:rPr sz="1200" spc="-25" dirty="0">
                <a:solidFill>
                  <a:srgbClr val="374050"/>
                </a:solidFill>
                <a:latin typeface="PMingLiU"/>
                <a:cs typeface="PMingLiU"/>
              </a:rPr>
              <a:t>に収録されている線の強度</a:t>
            </a:r>
            <a:r>
              <a:rPr sz="1200" spc="-30" dirty="0">
                <a:solidFill>
                  <a:srgbClr val="374050"/>
                </a:solidFill>
                <a:latin typeface="PMingLiU"/>
                <a:cs typeface="PMingLiU"/>
              </a:rPr>
              <a:t>や広がり半値幅などのパラメータを</a:t>
            </a:r>
            <a:r>
              <a:rPr sz="1200" spc="-20" dirty="0">
                <a:solidFill>
                  <a:srgbClr val="374050"/>
                </a:solidFill>
                <a:latin typeface="PMingLiU"/>
                <a:cs typeface="PMingLiU"/>
              </a:rPr>
              <a:t>活用します。</a:t>
            </a:r>
            <a:endParaRPr sz="1200">
              <a:latin typeface="PMingLiU"/>
              <a:cs typeface="PMingLiU"/>
            </a:endParaRPr>
          </a:p>
        </p:txBody>
      </p:sp>
      <p:grpSp>
        <p:nvGrpSpPr>
          <p:cNvPr id="29" name="object 29"/>
          <p:cNvGrpSpPr/>
          <p:nvPr/>
        </p:nvGrpSpPr>
        <p:grpSpPr>
          <a:xfrm>
            <a:off x="3238499" y="2914649"/>
            <a:ext cx="2781300" cy="1333500"/>
            <a:chOff x="3238499" y="3105149"/>
            <a:chExt cx="2781300" cy="1333500"/>
          </a:xfrm>
        </p:grpSpPr>
        <p:sp>
          <p:nvSpPr>
            <p:cNvPr id="30" name="object 30"/>
            <p:cNvSpPr/>
            <p:nvPr/>
          </p:nvSpPr>
          <p:spPr>
            <a:xfrm>
              <a:off x="3238499" y="3105149"/>
              <a:ext cx="2781300" cy="1333500"/>
            </a:xfrm>
            <a:custGeom>
              <a:avLst/>
              <a:gdLst/>
              <a:ahLst/>
              <a:cxnLst/>
              <a:rect l="l" t="t" r="r" b="b"/>
              <a:pathLst>
                <a:path w="2781300" h="1333500">
                  <a:moveTo>
                    <a:pt x="2781299" y="1333499"/>
                  </a:moveTo>
                  <a:lnTo>
                    <a:pt x="0" y="1333499"/>
                  </a:lnTo>
                  <a:lnTo>
                    <a:pt x="0" y="0"/>
                  </a:lnTo>
                  <a:lnTo>
                    <a:pt x="2781299" y="0"/>
                  </a:lnTo>
                  <a:lnTo>
                    <a:pt x="2781299" y="1333499"/>
                  </a:lnTo>
                  <a:close/>
                </a:path>
              </a:pathLst>
            </a:custGeom>
            <a:solidFill>
              <a:srgbClr val="FFFFFF"/>
            </a:solidFill>
          </p:spPr>
          <p:txBody>
            <a:bodyPr wrap="square" lIns="0" tIns="0" rIns="0" bIns="0" rtlCol="0"/>
            <a:lstStyle/>
            <a:p>
              <a:endParaRPr/>
            </a:p>
          </p:txBody>
        </p:sp>
        <p:sp>
          <p:nvSpPr>
            <p:cNvPr id="31" name="object 31"/>
            <p:cNvSpPr/>
            <p:nvPr/>
          </p:nvSpPr>
          <p:spPr>
            <a:xfrm>
              <a:off x="3238499" y="3105149"/>
              <a:ext cx="38100" cy="1333500"/>
            </a:xfrm>
            <a:custGeom>
              <a:avLst/>
              <a:gdLst/>
              <a:ahLst/>
              <a:cxnLst/>
              <a:rect l="l" t="t" r="r" b="b"/>
              <a:pathLst>
                <a:path w="38100" h="1333500">
                  <a:moveTo>
                    <a:pt x="38099" y="1333499"/>
                  </a:moveTo>
                  <a:lnTo>
                    <a:pt x="0" y="1333499"/>
                  </a:lnTo>
                  <a:lnTo>
                    <a:pt x="0" y="0"/>
                  </a:lnTo>
                  <a:lnTo>
                    <a:pt x="38099" y="0"/>
                  </a:lnTo>
                  <a:lnTo>
                    <a:pt x="38099" y="1333499"/>
                  </a:lnTo>
                  <a:close/>
                </a:path>
              </a:pathLst>
            </a:custGeom>
            <a:solidFill>
              <a:srgbClr val="FF9900"/>
            </a:solidFill>
          </p:spPr>
          <p:txBody>
            <a:bodyPr wrap="square" lIns="0" tIns="0" rIns="0" bIns="0" rtlCol="0"/>
            <a:lstStyle/>
            <a:p>
              <a:endParaRPr/>
            </a:p>
          </p:txBody>
        </p:sp>
      </p:grpSp>
      <p:sp>
        <p:nvSpPr>
          <p:cNvPr id="32" name="object 32"/>
          <p:cNvSpPr txBox="1"/>
          <p:nvPr/>
        </p:nvSpPr>
        <p:spPr>
          <a:xfrm>
            <a:off x="3276599" y="3041550"/>
            <a:ext cx="2743200" cy="1031240"/>
          </a:xfrm>
          <a:prstGeom prst="rect">
            <a:avLst/>
          </a:prstGeom>
        </p:spPr>
        <p:txBody>
          <a:bodyPr vert="horz" wrap="square" lIns="0" tIns="15875" rIns="0" bIns="0" rtlCol="0">
            <a:spAutoFit/>
          </a:bodyPr>
          <a:lstStyle/>
          <a:p>
            <a:pPr marL="152400">
              <a:lnSpc>
                <a:spcPct val="100000"/>
              </a:lnSpc>
              <a:spcBef>
                <a:spcPts val="125"/>
              </a:spcBef>
            </a:pPr>
            <a:r>
              <a:rPr sz="1500" b="1" spc="-30" dirty="0">
                <a:solidFill>
                  <a:srgbClr val="003366"/>
                </a:solidFill>
                <a:latin typeface="Arial"/>
                <a:cs typeface="Arial"/>
              </a:rPr>
              <a:t>Voigt</a:t>
            </a:r>
            <a:r>
              <a:rPr sz="1600" spc="-114" dirty="0">
                <a:solidFill>
                  <a:srgbClr val="003366"/>
                </a:solidFill>
                <a:latin typeface="PMingLiU"/>
                <a:cs typeface="PMingLiU"/>
              </a:rPr>
              <a:t>関</a:t>
            </a:r>
            <a:r>
              <a:rPr sz="1600" spc="-120" dirty="0">
                <a:solidFill>
                  <a:srgbClr val="003366"/>
                </a:solidFill>
                <a:latin typeface="SimSun"/>
                <a:cs typeface="SimSun"/>
              </a:rPr>
              <a:t>数</a:t>
            </a:r>
            <a:r>
              <a:rPr sz="1600" spc="-120" dirty="0">
                <a:solidFill>
                  <a:srgbClr val="003366"/>
                </a:solidFill>
                <a:latin typeface="PMingLiU"/>
                <a:cs typeface="PMingLiU"/>
              </a:rPr>
              <a:t>によるモデル</a:t>
            </a:r>
            <a:r>
              <a:rPr sz="1650" spc="-50" dirty="0">
                <a:solidFill>
                  <a:srgbClr val="003366"/>
                </a:solidFill>
                <a:latin typeface="SimSun"/>
                <a:cs typeface="SimSun"/>
              </a:rPr>
              <a:t>化</a:t>
            </a:r>
            <a:endParaRPr sz="1650">
              <a:latin typeface="SimSun"/>
              <a:cs typeface="SimSun"/>
            </a:endParaRPr>
          </a:p>
          <a:p>
            <a:pPr marL="152400" marR="145415">
              <a:lnSpc>
                <a:spcPct val="125000"/>
              </a:lnSpc>
              <a:spcBef>
                <a:spcPts val="509"/>
              </a:spcBef>
            </a:pPr>
            <a:r>
              <a:rPr sz="1200" spc="-20" dirty="0">
                <a:solidFill>
                  <a:srgbClr val="374050"/>
                </a:solidFill>
                <a:latin typeface="PMingLiU"/>
                <a:cs typeface="PMingLiU"/>
              </a:rPr>
              <a:t>特定の温度・圧力条件下での吸収線</a:t>
            </a:r>
            <a:r>
              <a:rPr sz="1200" spc="-15" dirty="0">
                <a:solidFill>
                  <a:srgbClr val="374050"/>
                </a:solidFill>
                <a:latin typeface="PMingLiU"/>
                <a:cs typeface="PMingLiU"/>
              </a:rPr>
              <a:t>の形を</a:t>
            </a:r>
            <a:r>
              <a:rPr sz="1200" spc="-20" dirty="0">
                <a:solidFill>
                  <a:srgbClr val="374050"/>
                </a:solidFill>
                <a:latin typeface="Arial"/>
                <a:cs typeface="Arial"/>
              </a:rPr>
              <a:t>Voigt</a:t>
            </a:r>
            <a:r>
              <a:rPr sz="1200" spc="-20" dirty="0">
                <a:solidFill>
                  <a:srgbClr val="374050"/>
                </a:solidFill>
                <a:latin typeface="PMingLiU"/>
                <a:cs typeface="PMingLiU"/>
              </a:rPr>
              <a:t>関数でモデル化しま</a:t>
            </a:r>
            <a:endParaRPr sz="1200">
              <a:latin typeface="PMingLiU"/>
              <a:cs typeface="PMingLiU"/>
            </a:endParaRPr>
          </a:p>
          <a:p>
            <a:pPr marL="152400">
              <a:lnSpc>
                <a:spcPct val="100000"/>
              </a:lnSpc>
              <a:spcBef>
                <a:spcPts val="360"/>
              </a:spcBef>
            </a:pPr>
            <a:r>
              <a:rPr sz="1200" spc="-30" dirty="0">
                <a:solidFill>
                  <a:srgbClr val="374050"/>
                </a:solidFill>
                <a:latin typeface="PMingLiU"/>
                <a:cs typeface="PMingLiU"/>
              </a:rPr>
              <a:t>す。</a:t>
            </a:r>
            <a:endParaRPr sz="1200">
              <a:latin typeface="PMingLiU"/>
              <a:cs typeface="PMingLiU"/>
            </a:endParaRPr>
          </a:p>
        </p:txBody>
      </p:sp>
      <p:grpSp>
        <p:nvGrpSpPr>
          <p:cNvPr id="33" name="object 33"/>
          <p:cNvGrpSpPr/>
          <p:nvPr/>
        </p:nvGrpSpPr>
        <p:grpSpPr>
          <a:xfrm>
            <a:off x="6172199" y="2914649"/>
            <a:ext cx="2781300" cy="1333500"/>
            <a:chOff x="6172199" y="3105149"/>
            <a:chExt cx="2781300" cy="1333500"/>
          </a:xfrm>
        </p:grpSpPr>
        <p:sp>
          <p:nvSpPr>
            <p:cNvPr id="34" name="object 34"/>
            <p:cNvSpPr/>
            <p:nvPr/>
          </p:nvSpPr>
          <p:spPr>
            <a:xfrm>
              <a:off x="6172199" y="3105149"/>
              <a:ext cx="2781300" cy="1333500"/>
            </a:xfrm>
            <a:custGeom>
              <a:avLst/>
              <a:gdLst/>
              <a:ahLst/>
              <a:cxnLst/>
              <a:rect l="l" t="t" r="r" b="b"/>
              <a:pathLst>
                <a:path w="2781300" h="1333500">
                  <a:moveTo>
                    <a:pt x="2781299" y="1333499"/>
                  </a:moveTo>
                  <a:lnTo>
                    <a:pt x="0" y="1333499"/>
                  </a:lnTo>
                  <a:lnTo>
                    <a:pt x="0" y="0"/>
                  </a:lnTo>
                  <a:lnTo>
                    <a:pt x="2781299" y="0"/>
                  </a:lnTo>
                  <a:lnTo>
                    <a:pt x="2781299" y="1333499"/>
                  </a:lnTo>
                  <a:close/>
                </a:path>
              </a:pathLst>
            </a:custGeom>
            <a:solidFill>
              <a:srgbClr val="FFFFFF"/>
            </a:solidFill>
          </p:spPr>
          <p:txBody>
            <a:bodyPr wrap="square" lIns="0" tIns="0" rIns="0" bIns="0" rtlCol="0"/>
            <a:lstStyle/>
            <a:p>
              <a:endParaRPr/>
            </a:p>
          </p:txBody>
        </p:sp>
        <p:sp>
          <p:nvSpPr>
            <p:cNvPr id="35" name="object 35"/>
            <p:cNvSpPr/>
            <p:nvPr/>
          </p:nvSpPr>
          <p:spPr>
            <a:xfrm>
              <a:off x="6172199" y="3105149"/>
              <a:ext cx="38100" cy="1333500"/>
            </a:xfrm>
            <a:custGeom>
              <a:avLst/>
              <a:gdLst/>
              <a:ahLst/>
              <a:cxnLst/>
              <a:rect l="l" t="t" r="r" b="b"/>
              <a:pathLst>
                <a:path w="38100" h="1333500">
                  <a:moveTo>
                    <a:pt x="38099" y="1333499"/>
                  </a:moveTo>
                  <a:lnTo>
                    <a:pt x="0" y="1333499"/>
                  </a:lnTo>
                  <a:lnTo>
                    <a:pt x="0" y="0"/>
                  </a:lnTo>
                  <a:lnTo>
                    <a:pt x="38099" y="0"/>
                  </a:lnTo>
                  <a:lnTo>
                    <a:pt x="38099" y="1333499"/>
                  </a:lnTo>
                  <a:close/>
                </a:path>
              </a:pathLst>
            </a:custGeom>
            <a:solidFill>
              <a:srgbClr val="FF9900"/>
            </a:solidFill>
          </p:spPr>
          <p:txBody>
            <a:bodyPr wrap="square" lIns="0" tIns="0" rIns="0" bIns="0" rtlCol="0"/>
            <a:lstStyle/>
            <a:p>
              <a:endParaRPr/>
            </a:p>
          </p:txBody>
        </p:sp>
      </p:grpSp>
      <p:sp>
        <p:nvSpPr>
          <p:cNvPr id="36" name="object 36"/>
          <p:cNvSpPr txBox="1"/>
          <p:nvPr/>
        </p:nvSpPr>
        <p:spPr>
          <a:xfrm>
            <a:off x="6210299" y="3041550"/>
            <a:ext cx="2743200" cy="802640"/>
          </a:xfrm>
          <a:prstGeom prst="rect">
            <a:avLst/>
          </a:prstGeom>
        </p:spPr>
        <p:txBody>
          <a:bodyPr vert="horz" wrap="square" lIns="0" tIns="15875" rIns="0" bIns="0" rtlCol="0">
            <a:spAutoFit/>
          </a:bodyPr>
          <a:lstStyle/>
          <a:p>
            <a:pPr marL="152400">
              <a:lnSpc>
                <a:spcPct val="100000"/>
              </a:lnSpc>
              <a:spcBef>
                <a:spcPts val="125"/>
              </a:spcBef>
            </a:pPr>
            <a:r>
              <a:rPr sz="1600" spc="-120" dirty="0">
                <a:solidFill>
                  <a:srgbClr val="003366"/>
                </a:solidFill>
                <a:latin typeface="PMingLiU"/>
                <a:cs typeface="PMingLiU"/>
              </a:rPr>
              <a:t>吸</a:t>
            </a:r>
            <a:r>
              <a:rPr sz="1650" spc="-165" dirty="0">
                <a:solidFill>
                  <a:srgbClr val="003366"/>
                </a:solidFill>
                <a:latin typeface="SimSun"/>
                <a:cs typeface="SimSun"/>
              </a:rPr>
              <a:t>収係</a:t>
            </a:r>
            <a:r>
              <a:rPr sz="1600" spc="-120" dirty="0">
                <a:solidFill>
                  <a:srgbClr val="003366"/>
                </a:solidFill>
                <a:latin typeface="SimSun"/>
                <a:cs typeface="SimSun"/>
              </a:rPr>
              <a:t>数</a:t>
            </a:r>
            <a:r>
              <a:rPr sz="1600" spc="-120" dirty="0">
                <a:solidFill>
                  <a:srgbClr val="003366"/>
                </a:solidFill>
                <a:latin typeface="PMingLiU"/>
                <a:cs typeface="PMingLiU"/>
              </a:rPr>
              <a:t>の</a:t>
            </a:r>
            <a:r>
              <a:rPr sz="1650" spc="-110" dirty="0">
                <a:solidFill>
                  <a:srgbClr val="003366"/>
                </a:solidFill>
                <a:latin typeface="SimSun"/>
                <a:cs typeface="SimSun"/>
              </a:rPr>
              <a:t>算出</a:t>
            </a:r>
            <a:endParaRPr sz="1650">
              <a:latin typeface="SimSun"/>
              <a:cs typeface="SimSun"/>
            </a:endParaRPr>
          </a:p>
          <a:p>
            <a:pPr marL="152400" marR="179705">
              <a:lnSpc>
                <a:spcPct val="125000"/>
              </a:lnSpc>
              <a:spcBef>
                <a:spcPts val="509"/>
              </a:spcBef>
            </a:pPr>
            <a:r>
              <a:rPr sz="1200" spc="-15" dirty="0">
                <a:solidFill>
                  <a:srgbClr val="374050"/>
                </a:solidFill>
                <a:latin typeface="PMingLiU"/>
                <a:cs typeface="PMingLiU"/>
              </a:rPr>
              <a:t>モデル化によって，吸収係数</a:t>
            </a:r>
            <a:r>
              <a:rPr sz="1200" spc="-10" dirty="0">
                <a:solidFill>
                  <a:srgbClr val="374050"/>
                </a:solidFill>
                <a:latin typeface="Arial"/>
                <a:cs typeface="Arial"/>
              </a:rPr>
              <a:t>α(ν)</a:t>
            </a:r>
            <a:r>
              <a:rPr sz="1200" spc="-50" dirty="0">
                <a:solidFill>
                  <a:srgbClr val="374050"/>
                </a:solidFill>
                <a:latin typeface="PMingLiU"/>
                <a:cs typeface="PMingLiU"/>
              </a:rPr>
              <a:t>を</a:t>
            </a:r>
            <a:r>
              <a:rPr sz="1200" spc="-20" dirty="0">
                <a:solidFill>
                  <a:srgbClr val="374050"/>
                </a:solidFill>
                <a:latin typeface="PMingLiU"/>
                <a:cs typeface="PMingLiU"/>
              </a:rPr>
              <a:t>算出します。</a:t>
            </a:r>
            <a:endParaRPr sz="1200">
              <a:latin typeface="PMingLiU"/>
              <a:cs typeface="PMingLiU"/>
            </a:endParaRPr>
          </a:p>
        </p:txBody>
      </p:sp>
      <p:grpSp>
        <p:nvGrpSpPr>
          <p:cNvPr id="37" name="object 37"/>
          <p:cNvGrpSpPr/>
          <p:nvPr/>
        </p:nvGrpSpPr>
        <p:grpSpPr>
          <a:xfrm>
            <a:off x="9105899" y="2914649"/>
            <a:ext cx="2781300" cy="1333500"/>
            <a:chOff x="9105899" y="3105149"/>
            <a:chExt cx="2781300" cy="1333500"/>
          </a:xfrm>
        </p:grpSpPr>
        <p:sp>
          <p:nvSpPr>
            <p:cNvPr id="38" name="object 38"/>
            <p:cNvSpPr/>
            <p:nvPr/>
          </p:nvSpPr>
          <p:spPr>
            <a:xfrm>
              <a:off x="9105899" y="3105149"/>
              <a:ext cx="2781300" cy="1333500"/>
            </a:xfrm>
            <a:custGeom>
              <a:avLst/>
              <a:gdLst/>
              <a:ahLst/>
              <a:cxnLst/>
              <a:rect l="l" t="t" r="r" b="b"/>
              <a:pathLst>
                <a:path w="2781300" h="1333500">
                  <a:moveTo>
                    <a:pt x="2781299" y="1333499"/>
                  </a:moveTo>
                  <a:lnTo>
                    <a:pt x="0" y="1333499"/>
                  </a:lnTo>
                  <a:lnTo>
                    <a:pt x="0" y="0"/>
                  </a:lnTo>
                  <a:lnTo>
                    <a:pt x="2781299" y="0"/>
                  </a:lnTo>
                  <a:lnTo>
                    <a:pt x="2781299" y="1333499"/>
                  </a:lnTo>
                  <a:close/>
                </a:path>
              </a:pathLst>
            </a:custGeom>
            <a:solidFill>
              <a:srgbClr val="FFFFFF"/>
            </a:solidFill>
          </p:spPr>
          <p:txBody>
            <a:bodyPr wrap="square" lIns="0" tIns="0" rIns="0" bIns="0" rtlCol="0"/>
            <a:lstStyle/>
            <a:p>
              <a:endParaRPr/>
            </a:p>
          </p:txBody>
        </p:sp>
        <p:sp>
          <p:nvSpPr>
            <p:cNvPr id="39" name="object 39"/>
            <p:cNvSpPr/>
            <p:nvPr/>
          </p:nvSpPr>
          <p:spPr>
            <a:xfrm>
              <a:off x="9105899" y="3105149"/>
              <a:ext cx="38100" cy="1333500"/>
            </a:xfrm>
            <a:custGeom>
              <a:avLst/>
              <a:gdLst/>
              <a:ahLst/>
              <a:cxnLst/>
              <a:rect l="l" t="t" r="r" b="b"/>
              <a:pathLst>
                <a:path w="38100" h="1333500">
                  <a:moveTo>
                    <a:pt x="38099" y="1333499"/>
                  </a:moveTo>
                  <a:lnTo>
                    <a:pt x="0" y="1333499"/>
                  </a:lnTo>
                  <a:lnTo>
                    <a:pt x="0" y="0"/>
                  </a:lnTo>
                  <a:lnTo>
                    <a:pt x="38099" y="0"/>
                  </a:lnTo>
                  <a:lnTo>
                    <a:pt x="38099" y="1333499"/>
                  </a:lnTo>
                  <a:close/>
                </a:path>
              </a:pathLst>
            </a:custGeom>
            <a:solidFill>
              <a:srgbClr val="FF9900"/>
            </a:solidFill>
          </p:spPr>
          <p:txBody>
            <a:bodyPr wrap="square" lIns="0" tIns="0" rIns="0" bIns="0" rtlCol="0"/>
            <a:lstStyle/>
            <a:p>
              <a:endParaRPr/>
            </a:p>
          </p:txBody>
        </p:sp>
      </p:grpSp>
      <p:sp>
        <p:nvSpPr>
          <p:cNvPr id="40" name="object 40"/>
          <p:cNvSpPr txBox="1"/>
          <p:nvPr/>
        </p:nvSpPr>
        <p:spPr>
          <a:xfrm>
            <a:off x="9143999" y="3035039"/>
            <a:ext cx="2743200" cy="808990"/>
          </a:xfrm>
          <a:prstGeom prst="rect">
            <a:avLst/>
          </a:prstGeom>
        </p:spPr>
        <p:txBody>
          <a:bodyPr vert="horz" wrap="square" lIns="0" tIns="15875" rIns="0" bIns="0" rtlCol="0">
            <a:spAutoFit/>
          </a:bodyPr>
          <a:lstStyle/>
          <a:p>
            <a:pPr marL="152400">
              <a:lnSpc>
                <a:spcPct val="100000"/>
              </a:lnSpc>
              <a:spcBef>
                <a:spcPts val="125"/>
              </a:spcBef>
            </a:pPr>
            <a:r>
              <a:rPr sz="1600" spc="-120" dirty="0">
                <a:solidFill>
                  <a:srgbClr val="003366"/>
                </a:solidFill>
                <a:latin typeface="PMingLiU"/>
                <a:cs typeface="PMingLiU"/>
              </a:rPr>
              <a:t>吸</a:t>
            </a:r>
            <a:r>
              <a:rPr sz="1650" spc="-165" dirty="0">
                <a:solidFill>
                  <a:srgbClr val="003366"/>
                </a:solidFill>
                <a:latin typeface="SimSun"/>
                <a:cs typeface="SimSun"/>
              </a:rPr>
              <a:t>光</a:t>
            </a:r>
            <a:r>
              <a:rPr sz="1700" spc="-210" dirty="0">
                <a:solidFill>
                  <a:srgbClr val="003366"/>
                </a:solidFill>
                <a:latin typeface="SimSun"/>
                <a:cs typeface="SimSun"/>
              </a:rPr>
              <a:t>度</a:t>
            </a:r>
            <a:r>
              <a:rPr sz="1600" spc="-120" dirty="0">
                <a:solidFill>
                  <a:srgbClr val="003366"/>
                </a:solidFill>
                <a:latin typeface="PMingLiU"/>
                <a:cs typeface="PMingLiU"/>
              </a:rPr>
              <a:t>の</a:t>
            </a:r>
            <a:r>
              <a:rPr sz="1700" spc="-210" dirty="0">
                <a:solidFill>
                  <a:srgbClr val="003366"/>
                </a:solidFill>
                <a:latin typeface="SimSun"/>
                <a:cs typeface="SimSun"/>
              </a:rPr>
              <a:t>計</a:t>
            </a:r>
            <a:r>
              <a:rPr sz="1650" spc="-50" dirty="0">
                <a:solidFill>
                  <a:srgbClr val="003366"/>
                </a:solidFill>
                <a:latin typeface="SimSun"/>
                <a:cs typeface="SimSun"/>
              </a:rPr>
              <a:t>算</a:t>
            </a:r>
            <a:endParaRPr sz="1650">
              <a:latin typeface="SimSun"/>
              <a:cs typeface="SimSun"/>
            </a:endParaRPr>
          </a:p>
          <a:p>
            <a:pPr marL="152400" marR="285115">
              <a:lnSpc>
                <a:spcPct val="125000"/>
              </a:lnSpc>
              <a:spcBef>
                <a:spcPts val="500"/>
              </a:spcBef>
            </a:pPr>
            <a:r>
              <a:rPr sz="1200" dirty="0">
                <a:solidFill>
                  <a:srgbClr val="374050"/>
                </a:solidFill>
                <a:latin typeface="Arial"/>
                <a:cs typeface="Arial"/>
              </a:rPr>
              <a:t>α(ν)</a:t>
            </a:r>
            <a:r>
              <a:rPr sz="1200" spc="-15" dirty="0">
                <a:solidFill>
                  <a:srgbClr val="374050"/>
                </a:solidFill>
                <a:latin typeface="Arial"/>
                <a:cs typeface="Arial"/>
              </a:rPr>
              <a:t> = </a:t>
            </a:r>
            <a:r>
              <a:rPr sz="1200" spc="-10" dirty="0">
                <a:solidFill>
                  <a:srgbClr val="374050"/>
                </a:solidFill>
                <a:latin typeface="Arial"/>
                <a:cs typeface="Arial"/>
              </a:rPr>
              <a:t>εc</a:t>
            </a:r>
            <a:r>
              <a:rPr sz="1200" spc="-10" dirty="0">
                <a:solidFill>
                  <a:srgbClr val="374050"/>
                </a:solidFill>
                <a:latin typeface="PMingLiU"/>
                <a:cs typeface="PMingLiU"/>
              </a:rPr>
              <a:t>となることから，式</a:t>
            </a:r>
            <a:r>
              <a:rPr sz="1200" dirty="0">
                <a:solidFill>
                  <a:srgbClr val="374050"/>
                </a:solidFill>
                <a:latin typeface="Arial"/>
                <a:cs typeface="Arial"/>
              </a:rPr>
              <a:t>(1)</a:t>
            </a:r>
            <a:r>
              <a:rPr sz="1200" spc="-50" dirty="0">
                <a:solidFill>
                  <a:srgbClr val="374050"/>
                </a:solidFill>
                <a:latin typeface="PMingLiU"/>
                <a:cs typeface="PMingLiU"/>
              </a:rPr>
              <a:t>よ</a:t>
            </a:r>
            <a:r>
              <a:rPr sz="1200" spc="-20" dirty="0">
                <a:solidFill>
                  <a:srgbClr val="374050"/>
                </a:solidFill>
                <a:latin typeface="PMingLiU"/>
                <a:cs typeface="PMingLiU"/>
              </a:rPr>
              <a:t>り吸光度を計算します。</a:t>
            </a:r>
            <a:endParaRPr sz="1200">
              <a:latin typeface="PMingLiU"/>
              <a:cs typeface="PMingLiU"/>
            </a:endParaRPr>
          </a:p>
        </p:txBody>
      </p:sp>
      <p:grpSp>
        <p:nvGrpSpPr>
          <p:cNvPr id="41" name="object 41"/>
          <p:cNvGrpSpPr/>
          <p:nvPr/>
        </p:nvGrpSpPr>
        <p:grpSpPr>
          <a:xfrm>
            <a:off x="304799" y="4476750"/>
            <a:ext cx="11582400" cy="2190750"/>
            <a:chOff x="304799" y="4667250"/>
            <a:chExt cx="11582400" cy="2190750"/>
          </a:xfrm>
        </p:grpSpPr>
        <p:sp>
          <p:nvSpPr>
            <p:cNvPr id="42" name="object 42"/>
            <p:cNvSpPr/>
            <p:nvPr/>
          </p:nvSpPr>
          <p:spPr>
            <a:xfrm>
              <a:off x="304799" y="4667250"/>
              <a:ext cx="11582400" cy="2190750"/>
            </a:xfrm>
            <a:custGeom>
              <a:avLst/>
              <a:gdLst/>
              <a:ahLst/>
              <a:cxnLst/>
              <a:rect l="l" t="t" r="r" b="b"/>
              <a:pathLst>
                <a:path w="11582400" h="2190750">
                  <a:moveTo>
                    <a:pt x="11511202" y="2190749"/>
                  </a:moveTo>
                  <a:lnTo>
                    <a:pt x="71196" y="2190749"/>
                  </a:lnTo>
                  <a:lnTo>
                    <a:pt x="66241" y="2190261"/>
                  </a:lnTo>
                  <a:lnTo>
                    <a:pt x="29705" y="2175127"/>
                  </a:lnTo>
                  <a:lnTo>
                    <a:pt x="3885" y="2139086"/>
                  </a:lnTo>
                  <a:lnTo>
                    <a:pt x="0" y="2119553"/>
                  </a:lnTo>
                  <a:lnTo>
                    <a:pt x="0" y="2114549"/>
                  </a:lnTo>
                  <a:lnTo>
                    <a:pt x="0" y="71196"/>
                  </a:lnTo>
                  <a:lnTo>
                    <a:pt x="15621" y="29704"/>
                  </a:lnTo>
                  <a:lnTo>
                    <a:pt x="51662" y="3884"/>
                  </a:lnTo>
                  <a:lnTo>
                    <a:pt x="71196" y="0"/>
                  </a:lnTo>
                  <a:lnTo>
                    <a:pt x="11511202" y="0"/>
                  </a:lnTo>
                  <a:lnTo>
                    <a:pt x="11552691" y="15621"/>
                  </a:lnTo>
                  <a:lnTo>
                    <a:pt x="11578512" y="51661"/>
                  </a:lnTo>
                  <a:lnTo>
                    <a:pt x="11582397" y="71196"/>
                  </a:lnTo>
                  <a:lnTo>
                    <a:pt x="11582397" y="2119553"/>
                  </a:lnTo>
                  <a:lnTo>
                    <a:pt x="11566775" y="2161043"/>
                  </a:lnTo>
                  <a:lnTo>
                    <a:pt x="11530735" y="2186863"/>
                  </a:lnTo>
                  <a:lnTo>
                    <a:pt x="11516156" y="2190261"/>
                  </a:lnTo>
                  <a:lnTo>
                    <a:pt x="11511202" y="2190749"/>
                  </a:lnTo>
                  <a:close/>
                </a:path>
              </a:pathLst>
            </a:custGeom>
            <a:solidFill>
              <a:srgbClr val="FFFFFF"/>
            </a:solidFill>
          </p:spPr>
          <p:txBody>
            <a:bodyPr wrap="square" lIns="0" tIns="0" rIns="0" bIns="0" rtlCol="0"/>
            <a:lstStyle/>
            <a:p>
              <a:endParaRPr/>
            </a:p>
          </p:txBody>
        </p:sp>
        <p:sp>
          <p:nvSpPr>
            <p:cNvPr id="43" name="object 43"/>
            <p:cNvSpPr/>
            <p:nvPr/>
          </p:nvSpPr>
          <p:spPr>
            <a:xfrm>
              <a:off x="495299" y="5743574"/>
              <a:ext cx="7467600" cy="495300"/>
            </a:xfrm>
            <a:custGeom>
              <a:avLst/>
              <a:gdLst/>
              <a:ahLst/>
              <a:cxnLst/>
              <a:rect l="l" t="t" r="r" b="b"/>
              <a:pathLst>
                <a:path w="7467600" h="495300">
                  <a:moveTo>
                    <a:pt x="7434551" y="495299"/>
                  </a:moveTo>
                  <a:lnTo>
                    <a:pt x="33047" y="495299"/>
                  </a:lnTo>
                  <a:lnTo>
                    <a:pt x="28187" y="494332"/>
                  </a:lnTo>
                  <a:lnTo>
                    <a:pt x="966" y="467111"/>
                  </a:lnTo>
                  <a:lnTo>
                    <a:pt x="0" y="462252"/>
                  </a:lnTo>
                  <a:lnTo>
                    <a:pt x="0" y="457199"/>
                  </a:lnTo>
                  <a:lnTo>
                    <a:pt x="0" y="33047"/>
                  </a:lnTo>
                  <a:lnTo>
                    <a:pt x="28187" y="966"/>
                  </a:lnTo>
                  <a:lnTo>
                    <a:pt x="33047" y="0"/>
                  </a:lnTo>
                  <a:lnTo>
                    <a:pt x="7434551" y="0"/>
                  </a:lnTo>
                  <a:lnTo>
                    <a:pt x="7466632" y="28186"/>
                  </a:lnTo>
                  <a:lnTo>
                    <a:pt x="7467598" y="33047"/>
                  </a:lnTo>
                  <a:lnTo>
                    <a:pt x="7467598" y="462252"/>
                  </a:lnTo>
                  <a:lnTo>
                    <a:pt x="7439411" y="494332"/>
                  </a:lnTo>
                  <a:lnTo>
                    <a:pt x="7434551" y="495299"/>
                  </a:lnTo>
                  <a:close/>
                </a:path>
              </a:pathLst>
            </a:custGeom>
            <a:solidFill>
              <a:srgbClr val="EFF5FF"/>
            </a:solidFill>
          </p:spPr>
          <p:txBody>
            <a:bodyPr wrap="square" lIns="0" tIns="0" rIns="0" bIns="0" rtlCol="0"/>
            <a:lstStyle/>
            <a:p>
              <a:endParaRPr/>
            </a:p>
          </p:txBody>
        </p:sp>
        <p:pic>
          <p:nvPicPr>
            <p:cNvPr id="44" name="object 44"/>
            <p:cNvPicPr/>
            <p:nvPr/>
          </p:nvPicPr>
          <p:blipFill>
            <a:blip r:embed="rId8" cstate="print"/>
            <a:stretch>
              <a:fillRect/>
            </a:stretch>
          </p:blipFill>
          <p:spPr>
            <a:xfrm>
              <a:off x="8877299" y="5238749"/>
              <a:ext cx="1904999" cy="1428749"/>
            </a:xfrm>
            <a:prstGeom prst="rect">
              <a:avLst/>
            </a:prstGeom>
          </p:spPr>
        </p:pic>
      </p:grpSp>
      <p:sp>
        <p:nvSpPr>
          <p:cNvPr id="45" name="object 45"/>
          <p:cNvSpPr/>
          <p:nvPr/>
        </p:nvSpPr>
        <p:spPr>
          <a:xfrm>
            <a:off x="3962387" y="2400299"/>
            <a:ext cx="962025" cy="95250"/>
          </a:xfrm>
          <a:custGeom>
            <a:avLst/>
            <a:gdLst/>
            <a:ahLst/>
            <a:cxnLst/>
            <a:rect l="l" t="t" r="r" b="b"/>
            <a:pathLst>
              <a:path w="962025" h="95250">
                <a:moveTo>
                  <a:pt x="962025" y="47625"/>
                </a:moveTo>
                <a:lnTo>
                  <a:pt x="866775" y="0"/>
                </a:lnTo>
                <a:lnTo>
                  <a:pt x="866775" y="38100"/>
                </a:lnTo>
                <a:lnTo>
                  <a:pt x="0" y="38100"/>
                </a:lnTo>
                <a:lnTo>
                  <a:pt x="0" y="57150"/>
                </a:lnTo>
                <a:lnTo>
                  <a:pt x="866775" y="57150"/>
                </a:lnTo>
                <a:lnTo>
                  <a:pt x="866775" y="95250"/>
                </a:lnTo>
                <a:lnTo>
                  <a:pt x="962025" y="47625"/>
                </a:lnTo>
                <a:close/>
              </a:path>
            </a:pathLst>
          </a:custGeom>
          <a:solidFill>
            <a:srgbClr val="003366"/>
          </a:solidFill>
        </p:spPr>
        <p:txBody>
          <a:bodyPr wrap="square" lIns="0" tIns="0" rIns="0" bIns="0" rtlCol="0"/>
          <a:lstStyle/>
          <a:p>
            <a:endParaRPr/>
          </a:p>
        </p:txBody>
      </p:sp>
      <p:sp>
        <p:nvSpPr>
          <p:cNvPr id="46" name="object 46"/>
          <p:cNvSpPr/>
          <p:nvPr/>
        </p:nvSpPr>
        <p:spPr>
          <a:xfrm>
            <a:off x="5638787" y="2400299"/>
            <a:ext cx="962025" cy="95250"/>
          </a:xfrm>
          <a:custGeom>
            <a:avLst/>
            <a:gdLst/>
            <a:ahLst/>
            <a:cxnLst/>
            <a:rect l="l" t="t" r="r" b="b"/>
            <a:pathLst>
              <a:path w="962025" h="95250">
                <a:moveTo>
                  <a:pt x="962025" y="47625"/>
                </a:moveTo>
                <a:lnTo>
                  <a:pt x="866775" y="0"/>
                </a:lnTo>
                <a:lnTo>
                  <a:pt x="866775" y="38100"/>
                </a:lnTo>
                <a:lnTo>
                  <a:pt x="0" y="38100"/>
                </a:lnTo>
                <a:lnTo>
                  <a:pt x="0" y="57150"/>
                </a:lnTo>
                <a:lnTo>
                  <a:pt x="866775" y="57150"/>
                </a:lnTo>
                <a:lnTo>
                  <a:pt x="866775" y="95250"/>
                </a:lnTo>
                <a:lnTo>
                  <a:pt x="962025" y="47625"/>
                </a:lnTo>
                <a:close/>
              </a:path>
            </a:pathLst>
          </a:custGeom>
          <a:solidFill>
            <a:srgbClr val="003366"/>
          </a:solidFill>
        </p:spPr>
        <p:txBody>
          <a:bodyPr wrap="square" lIns="0" tIns="0" rIns="0" bIns="0" rtlCol="0"/>
          <a:lstStyle/>
          <a:p>
            <a:endParaRPr/>
          </a:p>
        </p:txBody>
      </p:sp>
      <p:sp>
        <p:nvSpPr>
          <p:cNvPr id="47" name="object 47"/>
          <p:cNvSpPr/>
          <p:nvPr/>
        </p:nvSpPr>
        <p:spPr>
          <a:xfrm>
            <a:off x="7315187" y="2400299"/>
            <a:ext cx="962025" cy="95250"/>
          </a:xfrm>
          <a:custGeom>
            <a:avLst/>
            <a:gdLst/>
            <a:ahLst/>
            <a:cxnLst/>
            <a:rect l="l" t="t" r="r" b="b"/>
            <a:pathLst>
              <a:path w="962025" h="95250">
                <a:moveTo>
                  <a:pt x="962025" y="47625"/>
                </a:moveTo>
                <a:lnTo>
                  <a:pt x="866775" y="0"/>
                </a:lnTo>
                <a:lnTo>
                  <a:pt x="866775" y="38100"/>
                </a:lnTo>
                <a:lnTo>
                  <a:pt x="0" y="38100"/>
                </a:lnTo>
                <a:lnTo>
                  <a:pt x="0" y="57150"/>
                </a:lnTo>
                <a:lnTo>
                  <a:pt x="866775" y="57150"/>
                </a:lnTo>
                <a:lnTo>
                  <a:pt x="866775" y="95250"/>
                </a:lnTo>
                <a:lnTo>
                  <a:pt x="962025" y="47625"/>
                </a:lnTo>
                <a:close/>
              </a:path>
            </a:pathLst>
          </a:custGeom>
          <a:solidFill>
            <a:srgbClr val="003366"/>
          </a:solidFill>
        </p:spPr>
        <p:txBody>
          <a:bodyPr wrap="square" lIns="0" tIns="0" rIns="0" bIns="0" rtlCol="0"/>
          <a:lstStyle/>
          <a:p>
            <a:endParaRPr/>
          </a:p>
        </p:txBody>
      </p:sp>
      <p:sp>
        <p:nvSpPr>
          <p:cNvPr id="48" name="object 48"/>
          <p:cNvSpPr txBox="1"/>
          <p:nvPr/>
        </p:nvSpPr>
        <p:spPr>
          <a:xfrm>
            <a:off x="444500" y="4639518"/>
            <a:ext cx="5355590" cy="1667510"/>
          </a:xfrm>
          <a:prstGeom prst="rect">
            <a:avLst/>
          </a:prstGeom>
        </p:spPr>
        <p:txBody>
          <a:bodyPr vert="horz" wrap="square" lIns="0" tIns="11430" rIns="0" bIns="0" rtlCol="0">
            <a:spAutoFit/>
          </a:bodyPr>
          <a:lstStyle/>
          <a:p>
            <a:pPr marL="50800">
              <a:lnSpc>
                <a:spcPct val="100000"/>
              </a:lnSpc>
              <a:spcBef>
                <a:spcPts val="90"/>
              </a:spcBef>
            </a:pPr>
            <a:r>
              <a:rPr sz="1700" spc="-210" dirty="0">
                <a:solidFill>
                  <a:srgbClr val="003366"/>
                </a:solidFill>
                <a:latin typeface="SimSun"/>
                <a:cs typeface="SimSun"/>
              </a:rPr>
              <a:t>計</a:t>
            </a:r>
            <a:r>
              <a:rPr sz="1650" spc="-110" dirty="0">
                <a:solidFill>
                  <a:srgbClr val="003366"/>
                </a:solidFill>
                <a:latin typeface="SimSun"/>
                <a:cs typeface="SimSun"/>
              </a:rPr>
              <a:t>算式</a:t>
            </a:r>
            <a:endParaRPr sz="1650">
              <a:latin typeface="SimSun"/>
              <a:cs typeface="SimSun"/>
            </a:endParaRPr>
          </a:p>
          <a:p>
            <a:pPr>
              <a:lnSpc>
                <a:spcPct val="100000"/>
              </a:lnSpc>
              <a:spcBef>
                <a:spcPts val="590"/>
              </a:spcBef>
            </a:pPr>
            <a:endParaRPr sz="1500">
              <a:latin typeface="SimSun"/>
              <a:cs typeface="SimSun"/>
            </a:endParaRPr>
          </a:p>
          <a:p>
            <a:pPr marL="50800">
              <a:lnSpc>
                <a:spcPct val="100000"/>
              </a:lnSpc>
            </a:pPr>
            <a:r>
              <a:rPr sz="1350" dirty="0">
                <a:solidFill>
                  <a:srgbClr val="374050"/>
                </a:solidFill>
                <a:latin typeface="PMingLiU"/>
                <a:cs typeface="PMingLiU"/>
              </a:rPr>
              <a:t>吸収係数</a:t>
            </a:r>
            <a:r>
              <a:rPr sz="1350" dirty="0">
                <a:solidFill>
                  <a:srgbClr val="374050"/>
                </a:solidFill>
                <a:latin typeface="Arial"/>
                <a:cs typeface="Arial"/>
              </a:rPr>
              <a:t>α(ν)</a:t>
            </a:r>
            <a:r>
              <a:rPr sz="1350" spc="-40" dirty="0">
                <a:solidFill>
                  <a:srgbClr val="374050"/>
                </a:solidFill>
                <a:latin typeface="PMingLiU"/>
                <a:cs typeface="PMingLiU"/>
              </a:rPr>
              <a:t>を算出した後，以下の関係式から吸光度を計算します：</a:t>
            </a:r>
            <a:endParaRPr sz="1350">
              <a:latin typeface="PMingLiU"/>
              <a:cs typeface="PMingLiU"/>
            </a:endParaRPr>
          </a:p>
          <a:p>
            <a:pPr>
              <a:lnSpc>
                <a:spcPct val="100000"/>
              </a:lnSpc>
              <a:spcBef>
                <a:spcPts val="15"/>
              </a:spcBef>
            </a:pPr>
            <a:endParaRPr sz="1350">
              <a:latin typeface="PMingLiU"/>
              <a:cs typeface="PMingLiU"/>
            </a:endParaRPr>
          </a:p>
          <a:p>
            <a:pPr marL="2263775">
              <a:lnSpc>
                <a:spcPct val="100000"/>
              </a:lnSpc>
            </a:pPr>
            <a:r>
              <a:rPr sz="1500" i="1" dirty="0">
                <a:latin typeface="Times New Roman"/>
                <a:cs typeface="Times New Roman"/>
              </a:rPr>
              <a:t>A</a:t>
            </a:r>
            <a:r>
              <a:rPr sz="1500" i="1" spc="-35" dirty="0">
                <a:latin typeface="Times New Roman"/>
                <a:cs typeface="Times New Roman"/>
              </a:rPr>
              <a:t> </a:t>
            </a:r>
            <a:r>
              <a:rPr sz="1500" i="1" dirty="0">
                <a:latin typeface="Times New Roman"/>
                <a:cs typeface="Times New Roman"/>
              </a:rPr>
              <a:t>= -</a:t>
            </a:r>
            <a:r>
              <a:rPr sz="1500" i="1" spc="-5" dirty="0">
                <a:latin typeface="Times New Roman"/>
                <a:cs typeface="Times New Roman"/>
              </a:rPr>
              <a:t> </a:t>
            </a:r>
            <a:r>
              <a:rPr sz="1500" i="1" dirty="0">
                <a:latin typeface="Times New Roman"/>
                <a:cs typeface="Times New Roman"/>
              </a:rPr>
              <a:t>log T</a:t>
            </a:r>
            <a:r>
              <a:rPr sz="1500" i="1" spc="-35" dirty="0">
                <a:latin typeface="Times New Roman"/>
                <a:cs typeface="Times New Roman"/>
              </a:rPr>
              <a:t> </a:t>
            </a:r>
            <a:r>
              <a:rPr sz="1500" i="1" dirty="0">
                <a:latin typeface="Times New Roman"/>
                <a:cs typeface="Times New Roman"/>
              </a:rPr>
              <a:t>= log</a:t>
            </a:r>
            <a:r>
              <a:rPr sz="1500" i="1" spc="295" dirty="0">
                <a:latin typeface="Times New Roman"/>
                <a:cs typeface="Times New Roman"/>
              </a:rPr>
              <a:t> </a:t>
            </a:r>
            <a:r>
              <a:rPr sz="1500" i="1" dirty="0">
                <a:latin typeface="Times New Roman"/>
                <a:cs typeface="Times New Roman"/>
              </a:rPr>
              <a:t>(I</a:t>
            </a:r>
            <a:r>
              <a:rPr sz="1650" i="1" baseline="-15151" dirty="0">
                <a:latin typeface="Times New Roman"/>
                <a:cs typeface="Times New Roman"/>
              </a:rPr>
              <a:t>ref</a:t>
            </a:r>
            <a:r>
              <a:rPr sz="1500" i="1" dirty="0">
                <a:latin typeface="Times New Roman"/>
                <a:cs typeface="Times New Roman"/>
              </a:rPr>
              <a:t>(t) /</a:t>
            </a:r>
            <a:r>
              <a:rPr sz="1500" i="1" spc="-5" dirty="0">
                <a:latin typeface="Times New Roman"/>
                <a:cs typeface="Times New Roman"/>
              </a:rPr>
              <a:t> </a:t>
            </a:r>
            <a:r>
              <a:rPr sz="1500" i="1" dirty="0">
                <a:latin typeface="Times New Roman"/>
                <a:cs typeface="Times New Roman"/>
              </a:rPr>
              <a:t>I</a:t>
            </a:r>
            <a:r>
              <a:rPr sz="1650" i="1" baseline="-15151" dirty="0">
                <a:latin typeface="Times New Roman"/>
                <a:cs typeface="Times New Roman"/>
              </a:rPr>
              <a:t>sam</a:t>
            </a:r>
            <a:r>
              <a:rPr sz="1500" i="1" dirty="0">
                <a:latin typeface="Times New Roman"/>
                <a:cs typeface="Times New Roman"/>
              </a:rPr>
              <a:t>(t))</a:t>
            </a:r>
            <a:r>
              <a:rPr sz="1500" i="1" spc="295" dirty="0">
                <a:latin typeface="Times New Roman"/>
                <a:cs typeface="Times New Roman"/>
              </a:rPr>
              <a:t> </a:t>
            </a:r>
            <a:r>
              <a:rPr sz="1500" i="1" dirty="0">
                <a:latin typeface="Times New Roman"/>
                <a:cs typeface="Times New Roman"/>
              </a:rPr>
              <a:t>= </a:t>
            </a:r>
            <a:r>
              <a:rPr sz="1500" i="1" spc="-25" dirty="0">
                <a:latin typeface="Times New Roman"/>
                <a:cs typeface="Times New Roman"/>
              </a:rPr>
              <a:t>εcℓ</a:t>
            </a:r>
            <a:endParaRPr sz="1500">
              <a:latin typeface="Times New Roman"/>
              <a:cs typeface="Times New Roman"/>
            </a:endParaRPr>
          </a:p>
          <a:p>
            <a:pPr>
              <a:lnSpc>
                <a:spcPct val="100000"/>
              </a:lnSpc>
              <a:spcBef>
                <a:spcPts val="75"/>
              </a:spcBef>
            </a:pPr>
            <a:endParaRPr sz="1500">
              <a:latin typeface="Times New Roman"/>
              <a:cs typeface="Times New Roman"/>
            </a:endParaRPr>
          </a:p>
          <a:p>
            <a:pPr marL="50800">
              <a:lnSpc>
                <a:spcPct val="100000"/>
              </a:lnSpc>
            </a:pPr>
            <a:r>
              <a:rPr sz="1050" spc="-10" dirty="0">
                <a:solidFill>
                  <a:srgbClr val="4A5462"/>
                </a:solidFill>
                <a:latin typeface="PMingLiU"/>
                <a:cs typeface="PMingLiU"/>
              </a:rPr>
              <a:t>ここで，</a:t>
            </a:r>
            <a:r>
              <a:rPr sz="1050" dirty="0">
                <a:solidFill>
                  <a:srgbClr val="4A5462"/>
                </a:solidFill>
                <a:latin typeface="Arial"/>
                <a:cs typeface="Arial"/>
              </a:rPr>
              <a:t>ε</a:t>
            </a:r>
            <a:r>
              <a:rPr sz="1050" spc="-10" dirty="0">
                <a:solidFill>
                  <a:srgbClr val="4A5462"/>
                </a:solidFill>
                <a:latin typeface="PMingLiU"/>
                <a:cs typeface="PMingLiU"/>
              </a:rPr>
              <a:t>：モル吸光係数，</a:t>
            </a:r>
            <a:r>
              <a:rPr sz="1050" dirty="0">
                <a:solidFill>
                  <a:srgbClr val="4A5462"/>
                </a:solidFill>
                <a:latin typeface="Arial"/>
                <a:cs typeface="Arial"/>
              </a:rPr>
              <a:t>c</a:t>
            </a:r>
            <a:r>
              <a:rPr sz="1050" spc="-10" dirty="0">
                <a:solidFill>
                  <a:srgbClr val="4A5462"/>
                </a:solidFill>
                <a:latin typeface="PMingLiU"/>
                <a:cs typeface="PMingLiU"/>
              </a:rPr>
              <a:t>：モル濃度，</a:t>
            </a:r>
            <a:r>
              <a:rPr sz="1050" dirty="0">
                <a:solidFill>
                  <a:srgbClr val="4A5462"/>
                </a:solidFill>
                <a:latin typeface="Arial"/>
                <a:cs typeface="Arial"/>
              </a:rPr>
              <a:t>ℓ</a:t>
            </a:r>
            <a:r>
              <a:rPr sz="1050" spc="-15" dirty="0">
                <a:solidFill>
                  <a:srgbClr val="4A5462"/>
                </a:solidFill>
                <a:latin typeface="PMingLiU"/>
                <a:cs typeface="PMingLiU"/>
              </a:rPr>
              <a:t>：光路長</a:t>
            </a:r>
            <a:endParaRPr sz="1050">
              <a:latin typeface="PMingLiU"/>
              <a:cs typeface="PMingLiU"/>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1999" cy="6781800"/>
          </a:xfrm>
          <a:custGeom>
            <a:avLst/>
            <a:gdLst/>
            <a:ahLst/>
            <a:cxnLst/>
            <a:rect l="l" t="t" r="r" b="b"/>
            <a:pathLst>
              <a:path w="12192000" h="7429500">
                <a:moveTo>
                  <a:pt x="12191999" y="7429499"/>
                </a:moveTo>
                <a:lnTo>
                  <a:pt x="0" y="7429499"/>
                </a:lnTo>
                <a:lnTo>
                  <a:pt x="0" y="0"/>
                </a:lnTo>
                <a:lnTo>
                  <a:pt x="12191999" y="0"/>
                </a:lnTo>
                <a:lnTo>
                  <a:pt x="12191999" y="7429499"/>
                </a:lnTo>
                <a:close/>
              </a:path>
            </a:pathLst>
          </a:custGeom>
          <a:solidFill>
            <a:srgbClr val="F2F4F5"/>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2191999" cy="647699"/>
          </a:xfrm>
          <a:prstGeom prst="rect">
            <a:avLst/>
          </a:prstGeom>
        </p:spPr>
      </p:pic>
      <p:sp>
        <p:nvSpPr>
          <p:cNvPr id="4" name="object 4"/>
          <p:cNvSpPr txBox="1">
            <a:spLocks noGrp="1"/>
          </p:cNvSpPr>
          <p:nvPr>
            <p:ph type="title"/>
          </p:nvPr>
        </p:nvSpPr>
        <p:spPr>
          <a:xfrm>
            <a:off x="292099" y="77396"/>
            <a:ext cx="4267200" cy="420370"/>
          </a:xfrm>
          <a:prstGeom prst="rect">
            <a:avLst/>
          </a:prstGeom>
        </p:spPr>
        <p:txBody>
          <a:bodyPr vert="horz" wrap="square" lIns="0" tIns="11430" rIns="0" bIns="0" rtlCol="0">
            <a:spAutoFit/>
          </a:bodyPr>
          <a:lstStyle/>
          <a:p>
            <a:pPr marL="12700">
              <a:lnSpc>
                <a:spcPct val="100000"/>
              </a:lnSpc>
              <a:spcBef>
                <a:spcPts val="90"/>
              </a:spcBef>
            </a:pPr>
            <a:r>
              <a:rPr sz="2450" spc="-229" dirty="0"/>
              <a:t>結</a:t>
            </a:r>
            <a:r>
              <a:rPr sz="2400" spc="-175" dirty="0"/>
              <a:t>果</a:t>
            </a:r>
            <a:r>
              <a:rPr sz="2500" spc="-509" dirty="0">
                <a:latin typeface="Calibri"/>
                <a:cs typeface="Calibri"/>
              </a:rPr>
              <a:t>①</a:t>
            </a:r>
            <a:r>
              <a:rPr sz="2150" spc="-509" dirty="0"/>
              <a:t>：</a:t>
            </a:r>
            <a:r>
              <a:rPr sz="2600" spc="-365" dirty="0">
                <a:latin typeface="SimSun"/>
                <a:cs typeface="SimSun"/>
              </a:rPr>
              <a:t>実</a:t>
            </a:r>
            <a:r>
              <a:rPr sz="2500" spc="-250" dirty="0">
                <a:latin typeface="SimSun"/>
                <a:cs typeface="SimSun"/>
              </a:rPr>
              <a:t>測値</a:t>
            </a:r>
            <a:r>
              <a:rPr sz="2200" spc="105" dirty="0"/>
              <a:t>と</a:t>
            </a:r>
            <a:r>
              <a:rPr b="1" spc="-20" dirty="0">
                <a:latin typeface="Arial"/>
                <a:cs typeface="Arial"/>
              </a:rPr>
              <a:t>HITRAN</a:t>
            </a:r>
            <a:r>
              <a:rPr sz="2200" spc="105" dirty="0"/>
              <a:t>の</a:t>
            </a:r>
            <a:r>
              <a:rPr sz="2500" spc="-150" dirty="0">
                <a:latin typeface="SimSun"/>
                <a:cs typeface="SimSun"/>
              </a:rPr>
              <a:t>比較</a:t>
            </a:r>
            <a:endParaRPr sz="2500">
              <a:latin typeface="SimSun"/>
              <a:cs typeface="SimSun"/>
            </a:endParaRPr>
          </a:p>
        </p:txBody>
      </p:sp>
      <p:sp>
        <p:nvSpPr>
          <p:cNvPr id="5" name="object 5"/>
          <p:cNvSpPr txBox="1"/>
          <p:nvPr/>
        </p:nvSpPr>
        <p:spPr>
          <a:xfrm>
            <a:off x="11609585" y="187325"/>
            <a:ext cx="290830" cy="254000"/>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Arial"/>
                <a:cs typeface="Arial"/>
              </a:rPr>
              <a:t>6/9</a:t>
            </a:r>
            <a:endParaRPr sz="1500">
              <a:latin typeface="Arial"/>
              <a:cs typeface="Arial"/>
            </a:endParaRPr>
          </a:p>
        </p:txBody>
      </p:sp>
      <p:pic>
        <p:nvPicPr>
          <p:cNvPr id="6" name="object 6"/>
          <p:cNvPicPr/>
          <p:nvPr/>
        </p:nvPicPr>
        <p:blipFill>
          <a:blip r:embed="rId3" cstate="print"/>
          <a:stretch>
            <a:fillRect/>
          </a:stretch>
        </p:blipFill>
        <p:spPr>
          <a:xfrm>
            <a:off x="1366838" y="711699"/>
            <a:ext cx="3409949" cy="2857499"/>
          </a:xfrm>
          <a:prstGeom prst="rect">
            <a:avLst/>
          </a:prstGeom>
        </p:spPr>
      </p:pic>
      <p:grpSp>
        <p:nvGrpSpPr>
          <p:cNvPr id="8" name="object 8"/>
          <p:cNvGrpSpPr/>
          <p:nvPr/>
        </p:nvGrpSpPr>
        <p:grpSpPr>
          <a:xfrm>
            <a:off x="228599" y="3619500"/>
            <a:ext cx="5715000" cy="1428750"/>
            <a:chOff x="228599" y="4114799"/>
            <a:chExt cx="5715000" cy="1428750"/>
          </a:xfrm>
        </p:grpSpPr>
        <p:sp>
          <p:nvSpPr>
            <p:cNvPr id="9" name="object 9"/>
            <p:cNvSpPr/>
            <p:nvPr/>
          </p:nvSpPr>
          <p:spPr>
            <a:xfrm>
              <a:off x="233362" y="4119562"/>
              <a:ext cx="5705475" cy="1419225"/>
            </a:xfrm>
            <a:custGeom>
              <a:avLst/>
              <a:gdLst/>
              <a:ahLst/>
              <a:cxnLst/>
              <a:rect l="l" t="t" r="r" b="b"/>
              <a:pathLst>
                <a:path w="5705475" h="1419225">
                  <a:moveTo>
                    <a:pt x="5638728" y="1419224"/>
                  </a:moveTo>
                  <a:lnTo>
                    <a:pt x="66746" y="1419224"/>
                  </a:lnTo>
                  <a:lnTo>
                    <a:pt x="62101" y="1418767"/>
                  </a:lnTo>
                  <a:lnTo>
                    <a:pt x="24240" y="1401617"/>
                  </a:lnTo>
                  <a:lnTo>
                    <a:pt x="2287" y="1366324"/>
                  </a:lnTo>
                  <a:lnTo>
                    <a:pt x="0" y="1352477"/>
                  </a:lnTo>
                  <a:lnTo>
                    <a:pt x="0" y="1347787"/>
                  </a:lnTo>
                  <a:lnTo>
                    <a:pt x="0" y="66746"/>
                  </a:lnTo>
                  <a:lnTo>
                    <a:pt x="14645" y="27848"/>
                  </a:lnTo>
                  <a:lnTo>
                    <a:pt x="48433" y="3642"/>
                  </a:lnTo>
                  <a:lnTo>
                    <a:pt x="66746" y="0"/>
                  </a:lnTo>
                  <a:lnTo>
                    <a:pt x="5638728" y="0"/>
                  </a:lnTo>
                  <a:lnTo>
                    <a:pt x="5677625" y="14644"/>
                  </a:lnTo>
                  <a:lnTo>
                    <a:pt x="5701831" y="48432"/>
                  </a:lnTo>
                  <a:lnTo>
                    <a:pt x="5705473" y="66746"/>
                  </a:lnTo>
                  <a:lnTo>
                    <a:pt x="5705473" y="1352477"/>
                  </a:lnTo>
                  <a:lnTo>
                    <a:pt x="5690828" y="1391375"/>
                  </a:lnTo>
                  <a:lnTo>
                    <a:pt x="5657040" y="1415581"/>
                  </a:lnTo>
                  <a:lnTo>
                    <a:pt x="5643373" y="1418767"/>
                  </a:lnTo>
                  <a:lnTo>
                    <a:pt x="5638728" y="1419224"/>
                  </a:lnTo>
                  <a:close/>
                </a:path>
              </a:pathLst>
            </a:custGeom>
            <a:solidFill>
              <a:srgbClr val="FFFFFF">
                <a:alpha val="70199"/>
              </a:srgbClr>
            </a:solidFill>
          </p:spPr>
          <p:txBody>
            <a:bodyPr wrap="square" lIns="0" tIns="0" rIns="0" bIns="0" rtlCol="0"/>
            <a:lstStyle/>
            <a:p>
              <a:endParaRPr/>
            </a:p>
          </p:txBody>
        </p:sp>
        <p:sp>
          <p:nvSpPr>
            <p:cNvPr id="10" name="object 10"/>
            <p:cNvSpPr/>
            <p:nvPr/>
          </p:nvSpPr>
          <p:spPr>
            <a:xfrm>
              <a:off x="233362" y="4119562"/>
              <a:ext cx="5705475" cy="1419225"/>
            </a:xfrm>
            <a:custGeom>
              <a:avLst/>
              <a:gdLst/>
              <a:ahLst/>
              <a:cxnLst/>
              <a:rect l="l" t="t" r="r" b="b"/>
              <a:pathLst>
                <a:path w="5705475" h="1419225">
                  <a:moveTo>
                    <a:pt x="0" y="1347787"/>
                  </a:moveTo>
                  <a:lnTo>
                    <a:pt x="0" y="71437"/>
                  </a:lnTo>
                  <a:lnTo>
                    <a:pt x="0" y="66746"/>
                  </a:lnTo>
                  <a:lnTo>
                    <a:pt x="457" y="62100"/>
                  </a:lnTo>
                  <a:lnTo>
                    <a:pt x="17606" y="24239"/>
                  </a:lnTo>
                  <a:lnTo>
                    <a:pt x="20923" y="20923"/>
                  </a:lnTo>
                  <a:lnTo>
                    <a:pt x="24240" y="17606"/>
                  </a:lnTo>
                  <a:lnTo>
                    <a:pt x="44099" y="5437"/>
                  </a:lnTo>
                  <a:lnTo>
                    <a:pt x="48433" y="3642"/>
                  </a:lnTo>
                  <a:lnTo>
                    <a:pt x="52900" y="2287"/>
                  </a:lnTo>
                  <a:lnTo>
                    <a:pt x="57500" y="1372"/>
                  </a:lnTo>
                  <a:lnTo>
                    <a:pt x="62101" y="457"/>
                  </a:lnTo>
                  <a:lnTo>
                    <a:pt x="66746" y="0"/>
                  </a:lnTo>
                  <a:lnTo>
                    <a:pt x="71437" y="0"/>
                  </a:lnTo>
                  <a:lnTo>
                    <a:pt x="5634037" y="0"/>
                  </a:lnTo>
                  <a:lnTo>
                    <a:pt x="5638728" y="0"/>
                  </a:lnTo>
                  <a:lnTo>
                    <a:pt x="5643373" y="457"/>
                  </a:lnTo>
                  <a:lnTo>
                    <a:pt x="5673724" y="12038"/>
                  </a:lnTo>
                  <a:lnTo>
                    <a:pt x="5677625" y="14644"/>
                  </a:lnTo>
                  <a:lnTo>
                    <a:pt x="5681234" y="17606"/>
                  </a:lnTo>
                  <a:lnTo>
                    <a:pt x="5684550" y="20923"/>
                  </a:lnTo>
                  <a:lnTo>
                    <a:pt x="5687867" y="24239"/>
                  </a:lnTo>
                  <a:lnTo>
                    <a:pt x="5690828" y="27848"/>
                  </a:lnTo>
                  <a:lnTo>
                    <a:pt x="5693434" y="31748"/>
                  </a:lnTo>
                  <a:lnTo>
                    <a:pt x="5696040" y="35648"/>
                  </a:lnTo>
                  <a:lnTo>
                    <a:pt x="5698241" y="39765"/>
                  </a:lnTo>
                  <a:lnTo>
                    <a:pt x="5700036" y="44099"/>
                  </a:lnTo>
                  <a:lnTo>
                    <a:pt x="5701831" y="48432"/>
                  </a:lnTo>
                  <a:lnTo>
                    <a:pt x="5703186" y="52899"/>
                  </a:lnTo>
                  <a:lnTo>
                    <a:pt x="5704101" y="57500"/>
                  </a:lnTo>
                  <a:lnTo>
                    <a:pt x="5705016" y="62100"/>
                  </a:lnTo>
                  <a:lnTo>
                    <a:pt x="5705473" y="66746"/>
                  </a:lnTo>
                  <a:lnTo>
                    <a:pt x="5705474" y="71437"/>
                  </a:lnTo>
                  <a:lnTo>
                    <a:pt x="5705474" y="1347787"/>
                  </a:lnTo>
                  <a:lnTo>
                    <a:pt x="5705473" y="1352477"/>
                  </a:lnTo>
                  <a:lnTo>
                    <a:pt x="5705016" y="1357123"/>
                  </a:lnTo>
                  <a:lnTo>
                    <a:pt x="5704101" y="1361723"/>
                  </a:lnTo>
                  <a:lnTo>
                    <a:pt x="5703186" y="1366324"/>
                  </a:lnTo>
                  <a:lnTo>
                    <a:pt x="5701831" y="1370791"/>
                  </a:lnTo>
                  <a:lnTo>
                    <a:pt x="5700036" y="1375124"/>
                  </a:lnTo>
                  <a:lnTo>
                    <a:pt x="5698241" y="1379458"/>
                  </a:lnTo>
                  <a:lnTo>
                    <a:pt x="5696040" y="1383575"/>
                  </a:lnTo>
                  <a:lnTo>
                    <a:pt x="5693434" y="1387475"/>
                  </a:lnTo>
                  <a:lnTo>
                    <a:pt x="5690828" y="1391375"/>
                  </a:lnTo>
                  <a:lnTo>
                    <a:pt x="5687867" y="1394984"/>
                  </a:lnTo>
                  <a:lnTo>
                    <a:pt x="5684550" y="1398301"/>
                  </a:lnTo>
                  <a:lnTo>
                    <a:pt x="5681234" y="1401617"/>
                  </a:lnTo>
                  <a:lnTo>
                    <a:pt x="5661374" y="1413786"/>
                  </a:lnTo>
                  <a:lnTo>
                    <a:pt x="5657040" y="1415581"/>
                  </a:lnTo>
                  <a:lnTo>
                    <a:pt x="5652573" y="1416936"/>
                  </a:lnTo>
                  <a:lnTo>
                    <a:pt x="5647973" y="1417851"/>
                  </a:lnTo>
                  <a:lnTo>
                    <a:pt x="5643373" y="1418767"/>
                  </a:lnTo>
                  <a:lnTo>
                    <a:pt x="5638728" y="1419224"/>
                  </a:lnTo>
                  <a:lnTo>
                    <a:pt x="5634037" y="1419224"/>
                  </a:lnTo>
                  <a:lnTo>
                    <a:pt x="71437" y="1419224"/>
                  </a:lnTo>
                  <a:lnTo>
                    <a:pt x="66746" y="1419224"/>
                  </a:lnTo>
                  <a:lnTo>
                    <a:pt x="62101" y="1418767"/>
                  </a:lnTo>
                  <a:lnTo>
                    <a:pt x="57500" y="1417851"/>
                  </a:lnTo>
                  <a:lnTo>
                    <a:pt x="52900" y="1416936"/>
                  </a:lnTo>
                  <a:lnTo>
                    <a:pt x="48433" y="1415581"/>
                  </a:lnTo>
                  <a:lnTo>
                    <a:pt x="44099" y="1413786"/>
                  </a:lnTo>
                  <a:lnTo>
                    <a:pt x="39765" y="1411991"/>
                  </a:lnTo>
                  <a:lnTo>
                    <a:pt x="35649" y="1409791"/>
                  </a:lnTo>
                  <a:lnTo>
                    <a:pt x="31748" y="1407184"/>
                  </a:lnTo>
                  <a:lnTo>
                    <a:pt x="27848" y="1404578"/>
                  </a:lnTo>
                  <a:lnTo>
                    <a:pt x="24240" y="1401617"/>
                  </a:lnTo>
                  <a:lnTo>
                    <a:pt x="20923" y="1398301"/>
                  </a:lnTo>
                  <a:lnTo>
                    <a:pt x="17606" y="1394984"/>
                  </a:lnTo>
                  <a:lnTo>
                    <a:pt x="5437" y="1375124"/>
                  </a:lnTo>
                  <a:lnTo>
                    <a:pt x="3642" y="1370791"/>
                  </a:lnTo>
                  <a:lnTo>
                    <a:pt x="2287" y="1366324"/>
                  </a:lnTo>
                  <a:lnTo>
                    <a:pt x="1372" y="1361723"/>
                  </a:lnTo>
                  <a:lnTo>
                    <a:pt x="457" y="1357123"/>
                  </a:lnTo>
                  <a:lnTo>
                    <a:pt x="0" y="1352477"/>
                  </a:lnTo>
                  <a:lnTo>
                    <a:pt x="0" y="1347787"/>
                  </a:lnTo>
                  <a:close/>
                </a:path>
              </a:pathLst>
            </a:custGeom>
            <a:ln w="9524">
              <a:solidFill>
                <a:srgbClr val="66CCFF"/>
              </a:solidFill>
            </a:ln>
          </p:spPr>
          <p:txBody>
            <a:bodyPr wrap="square" lIns="0" tIns="0" rIns="0" bIns="0" rtlCol="0"/>
            <a:lstStyle/>
            <a:p>
              <a:endParaRPr/>
            </a:p>
          </p:txBody>
        </p:sp>
        <p:sp>
          <p:nvSpPr>
            <p:cNvPr id="11" name="object 11"/>
            <p:cNvSpPr/>
            <p:nvPr/>
          </p:nvSpPr>
          <p:spPr>
            <a:xfrm>
              <a:off x="390524" y="4276724"/>
              <a:ext cx="476250" cy="476250"/>
            </a:xfrm>
            <a:custGeom>
              <a:avLst/>
              <a:gdLst/>
              <a:ahLst/>
              <a:cxnLst/>
              <a:rect l="l" t="t" r="r" b="b"/>
              <a:pathLst>
                <a:path w="476250" h="476250">
                  <a:moveTo>
                    <a:pt x="245923" y="476249"/>
                  </a:moveTo>
                  <a:lnTo>
                    <a:pt x="230326" y="476249"/>
                  </a:lnTo>
                  <a:lnTo>
                    <a:pt x="222546" y="475867"/>
                  </a:lnTo>
                  <a:lnTo>
                    <a:pt x="184020" y="470152"/>
                  </a:lnTo>
                  <a:lnTo>
                    <a:pt x="139793" y="455138"/>
                  </a:lnTo>
                  <a:lnTo>
                    <a:pt x="99345" y="431785"/>
                  </a:lnTo>
                  <a:lnTo>
                    <a:pt x="64230" y="400989"/>
                  </a:lnTo>
                  <a:lnTo>
                    <a:pt x="35798" y="363935"/>
                  </a:lnTo>
                  <a:lnTo>
                    <a:pt x="15141" y="322045"/>
                  </a:lnTo>
                  <a:lnTo>
                    <a:pt x="3054" y="276931"/>
                  </a:lnTo>
                  <a:lnTo>
                    <a:pt x="0" y="245923"/>
                  </a:lnTo>
                  <a:lnTo>
                    <a:pt x="0" y="230326"/>
                  </a:lnTo>
                  <a:lnTo>
                    <a:pt x="6096" y="184019"/>
                  </a:lnTo>
                  <a:lnTo>
                    <a:pt x="21110" y="139792"/>
                  </a:lnTo>
                  <a:lnTo>
                    <a:pt x="44464" y="99344"/>
                  </a:lnTo>
                  <a:lnTo>
                    <a:pt x="75259" y="64230"/>
                  </a:lnTo>
                  <a:lnTo>
                    <a:pt x="112314" y="35798"/>
                  </a:lnTo>
                  <a:lnTo>
                    <a:pt x="154203" y="15141"/>
                  </a:lnTo>
                  <a:lnTo>
                    <a:pt x="199318" y="3053"/>
                  </a:lnTo>
                  <a:lnTo>
                    <a:pt x="230326" y="0"/>
                  </a:lnTo>
                  <a:lnTo>
                    <a:pt x="245923" y="0"/>
                  </a:lnTo>
                  <a:lnTo>
                    <a:pt x="292229" y="6096"/>
                  </a:lnTo>
                  <a:lnTo>
                    <a:pt x="336456" y="21110"/>
                  </a:lnTo>
                  <a:lnTo>
                    <a:pt x="376904" y="44463"/>
                  </a:lnTo>
                  <a:lnTo>
                    <a:pt x="412019" y="75259"/>
                  </a:lnTo>
                  <a:lnTo>
                    <a:pt x="440451" y="112313"/>
                  </a:lnTo>
                  <a:lnTo>
                    <a:pt x="461108" y="154203"/>
                  </a:lnTo>
                  <a:lnTo>
                    <a:pt x="473195" y="199317"/>
                  </a:lnTo>
                  <a:lnTo>
                    <a:pt x="476249" y="230326"/>
                  </a:lnTo>
                  <a:lnTo>
                    <a:pt x="476249" y="238124"/>
                  </a:lnTo>
                  <a:lnTo>
                    <a:pt x="476249" y="245923"/>
                  </a:lnTo>
                  <a:lnTo>
                    <a:pt x="470152" y="292229"/>
                  </a:lnTo>
                  <a:lnTo>
                    <a:pt x="455139" y="336455"/>
                  </a:lnTo>
                  <a:lnTo>
                    <a:pt x="431785" y="376904"/>
                  </a:lnTo>
                  <a:lnTo>
                    <a:pt x="400990" y="412019"/>
                  </a:lnTo>
                  <a:lnTo>
                    <a:pt x="363935" y="440451"/>
                  </a:lnTo>
                  <a:lnTo>
                    <a:pt x="322046" y="461107"/>
                  </a:lnTo>
                  <a:lnTo>
                    <a:pt x="276931" y="473195"/>
                  </a:lnTo>
                  <a:lnTo>
                    <a:pt x="253703" y="475867"/>
                  </a:lnTo>
                  <a:lnTo>
                    <a:pt x="245923" y="476249"/>
                  </a:lnTo>
                  <a:close/>
                </a:path>
              </a:pathLst>
            </a:custGeom>
            <a:solidFill>
              <a:srgbClr val="003366"/>
            </a:solidFill>
          </p:spPr>
          <p:txBody>
            <a:bodyPr wrap="square" lIns="0" tIns="0" rIns="0" bIns="0" rtlCol="0"/>
            <a:lstStyle/>
            <a:p>
              <a:endParaRPr/>
            </a:p>
          </p:txBody>
        </p:sp>
        <p:pic>
          <p:nvPicPr>
            <p:cNvPr id="12" name="object 12"/>
            <p:cNvPicPr/>
            <p:nvPr/>
          </p:nvPicPr>
          <p:blipFill>
            <a:blip r:embed="rId4" cstate="print"/>
            <a:stretch>
              <a:fillRect/>
            </a:stretch>
          </p:blipFill>
          <p:spPr>
            <a:xfrm>
              <a:off x="533399" y="4419599"/>
              <a:ext cx="190499" cy="190499"/>
            </a:xfrm>
            <a:prstGeom prst="rect">
              <a:avLst/>
            </a:prstGeom>
          </p:spPr>
        </p:pic>
      </p:grpSp>
      <p:sp>
        <p:nvSpPr>
          <p:cNvPr id="13" name="object 13"/>
          <p:cNvSpPr txBox="1"/>
          <p:nvPr/>
        </p:nvSpPr>
        <p:spPr>
          <a:xfrm>
            <a:off x="968375" y="3750159"/>
            <a:ext cx="4707890" cy="1113155"/>
          </a:xfrm>
          <a:prstGeom prst="rect">
            <a:avLst/>
          </a:prstGeom>
        </p:spPr>
        <p:txBody>
          <a:bodyPr vert="horz" wrap="square" lIns="0" tIns="15240" rIns="0" bIns="0" rtlCol="0">
            <a:spAutoFit/>
          </a:bodyPr>
          <a:lstStyle/>
          <a:p>
            <a:pPr marL="12700">
              <a:lnSpc>
                <a:spcPct val="100000"/>
              </a:lnSpc>
              <a:spcBef>
                <a:spcPts val="120"/>
              </a:spcBef>
            </a:pPr>
            <a:r>
              <a:rPr sz="1650" spc="-165" dirty="0">
                <a:solidFill>
                  <a:srgbClr val="003366"/>
                </a:solidFill>
                <a:latin typeface="SimSun"/>
                <a:cs typeface="SimSun"/>
              </a:rPr>
              <a:t>第</a:t>
            </a:r>
            <a:r>
              <a:rPr sz="1500" b="1" spc="-10" dirty="0">
                <a:solidFill>
                  <a:srgbClr val="003366"/>
                </a:solidFill>
                <a:latin typeface="Arial"/>
                <a:cs typeface="Arial"/>
              </a:rPr>
              <a:t>1</a:t>
            </a:r>
            <a:r>
              <a:rPr sz="1600" spc="-120" dirty="0">
                <a:solidFill>
                  <a:srgbClr val="003366"/>
                </a:solidFill>
                <a:latin typeface="PMingLiU"/>
                <a:cs typeface="PMingLiU"/>
              </a:rPr>
              <a:t>回</a:t>
            </a:r>
            <a:r>
              <a:rPr sz="1650" spc="-165" dirty="0">
                <a:solidFill>
                  <a:srgbClr val="003366"/>
                </a:solidFill>
                <a:latin typeface="SimSun"/>
                <a:cs typeface="SimSun"/>
              </a:rPr>
              <a:t>測</a:t>
            </a:r>
            <a:r>
              <a:rPr sz="1700" spc="-210" dirty="0">
                <a:solidFill>
                  <a:srgbClr val="003366"/>
                </a:solidFill>
                <a:latin typeface="SimSun"/>
                <a:cs typeface="SimSun"/>
              </a:rPr>
              <a:t>定</a:t>
            </a:r>
            <a:r>
              <a:rPr sz="1400" spc="85" dirty="0">
                <a:solidFill>
                  <a:srgbClr val="003366"/>
                </a:solidFill>
                <a:latin typeface="PMingLiU"/>
                <a:cs typeface="PMingLiU"/>
              </a:rPr>
              <a:t>の</a:t>
            </a:r>
            <a:r>
              <a:rPr sz="1600" spc="-120" dirty="0">
                <a:solidFill>
                  <a:srgbClr val="003366"/>
                </a:solidFill>
                <a:latin typeface="PMingLiU"/>
                <a:cs typeface="PMingLiU"/>
              </a:rPr>
              <a:t>結</a:t>
            </a:r>
            <a:r>
              <a:rPr sz="1650" spc="-50" dirty="0">
                <a:solidFill>
                  <a:srgbClr val="003366"/>
                </a:solidFill>
                <a:latin typeface="SimSun"/>
                <a:cs typeface="SimSun"/>
              </a:rPr>
              <a:t>果</a:t>
            </a:r>
            <a:endParaRPr sz="1650">
              <a:latin typeface="SimSun"/>
              <a:cs typeface="SimSun"/>
            </a:endParaRPr>
          </a:p>
          <a:p>
            <a:pPr marL="12700" marR="5080">
              <a:lnSpc>
                <a:spcPct val="125000"/>
              </a:lnSpc>
              <a:spcBef>
                <a:spcPts val="500"/>
              </a:spcBef>
            </a:pPr>
            <a:r>
              <a:rPr sz="1200" dirty="0">
                <a:solidFill>
                  <a:srgbClr val="374050"/>
                </a:solidFill>
                <a:latin typeface="Arial"/>
                <a:cs typeface="Arial"/>
              </a:rPr>
              <a:t>HITRAN</a:t>
            </a:r>
            <a:r>
              <a:rPr sz="1200" spc="-35" dirty="0">
                <a:solidFill>
                  <a:srgbClr val="374050"/>
                </a:solidFill>
                <a:latin typeface="PMingLiU"/>
                <a:cs typeface="PMingLiU"/>
              </a:rPr>
              <a:t>を用いた計算により，水蒸気固有の吸収線の位置特定が可能</a:t>
            </a:r>
            <a:r>
              <a:rPr sz="1200" spc="-20" dirty="0">
                <a:solidFill>
                  <a:srgbClr val="374050"/>
                </a:solidFill>
                <a:latin typeface="PMingLiU"/>
                <a:cs typeface="PMingLiU"/>
              </a:rPr>
              <a:t>になりました。</a:t>
            </a:r>
            <a:endParaRPr sz="1200">
              <a:latin typeface="PMingLiU"/>
              <a:cs typeface="PMingLiU"/>
            </a:endParaRPr>
          </a:p>
          <a:p>
            <a:pPr marL="12700">
              <a:lnSpc>
                <a:spcPct val="100000"/>
              </a:lnSpc>
              <a:spcBef>
                <a:spcPts val="960"/>
              </a:spcBef>
            </a:pPr>
            <a:r>
              <a:rPr sz="1200" spc="-35" dirty="0">
                <a:solidFill>
                  <a:srgbClr val="374050"/>
                </a:solidFill>
                <a:latin typeface="PMingLiU"/>
                <a:cs typeface="PMingLiU"/>
              </a:rPr>
              <a:t>実測値と同様の場所に吸収線が存在していることが分かりました。</a:t>
            </a:r>
            <a:endParaRPr sz="1200">
              <a:latin typeface="PMingLiU"/>
              <a:cs typeface="PMingLiU"/>
            </a:endParaRPr>
          </a:p>
        </p:txBody>
      </p:sp>
      <p:grpSp>
        <p:nvGrpSpPr>
          <p:cNvPr id="14" name="object 14"/>
          <p:cNvGrpSpPr/>
          <p:nvPr/>
        </p:nvGrpSpPr>
        <p:grpSpPr>
          <a:xfrm>
            <a:off x="228599" y="5200650"/>
            <a:ext cx="5715000" cy="1504950"/>
            <a:chOff x="228599" y="5695949"/>
            <a:chExt cx="5715000" cy="1504950"/>
          </a:xfrm>
        </p:grpSpPr>
        <p:sp>
          <p:nvSpPr>
            <p:cNvPr id="15" name="object 15"/>
            <p:cNvSpPr/>
            <p:nvPr/>
          </p:nvSpPr>
          <p:spPr>
            <a:xfrm>
              <a:off x="233362" y="5700712"/>
              <a:ext cx="5705475" cy="1495425"/>
            </a:xfrm>
            <a:custGeom>
              <a:avLst/>
              <a:gdLst/>
              <a:ahLst/>
              <a:cxnLst/>
              <a:rect l="l" t="t" r="r" b="b"/>
              <a:pathLst>
                <a:path w="5705475" h="1495425">
                  <a:moveTo>
                    <a:pt x="5638728" y="1495424"/>
                  </a:moveTo>
                  <a:lnTo>
                    <a:pt x="66746" y="1495424"/>
                  </a:lnTo>
                  <a:lnTo>
                    <a:pt x="62101" y="1494966"/>
                  </a:lnTo>
                  <a:lnTo>
                    <a:pt x="24240" y="1477817"/>
                  </a:lnTo>
                  <a:lnTo>
                    <a:pt x="2287" y="1442524"/>
                  </a:lnTo>
                  <a:lnTo>
                    <a:pt x="0" y="1428677"/>
                  </a:lnTo>
                  <a:lnTo>
                    <a:pt x="0" y="1423987"/>
                  </a:lnTo>
                  <a:lnTo>
                    <a:pt x="0" y="66746"/>
                  </a:lnTo>
                  <a:lnTo>
                    <a:pt x="14645" y="27848"/>
                  </a:lnTo>
                  <a:lnTo>
                    <a:pt x="48433" y="3642"/>
                  </a:lnTo>
                  <a:lnTo>
                    <a:pt x="66746" y="0"/>
                  </a:lnTo>
                  <a:lnTo>
                    <a:pt x="5638728" y="0"/>
                  </a:lnTo>
                  <a:lnTo>
                    <a:pt x="5677625" y="14644"/>
                  </a:lnTo>
                  <a:lnTo>
                    <a:pt x="5701831" y="48432"/>
                  </a:lnTo>
                  <a:lnTo>
                    <a:pt x="5705473" y="66746"/>
                  </a:lnTo>
                  <a:lnTo>
                    <a:pt x="5705473" y="1428677"/>
                  </a:lnTo>
                  <a:lnTo>
                    <a:pt x="5690828" y="1467575"/>
                  </a:lnTo>
                  <a:lnTo>
                    <a:pt x="5657040" y="1491781"/>
                  </a:lnTo>
                  <a:lnTo>
                    <a:pt x="5643373" y="1494966"/>
                  </a:lnTo>
                  <a:lnTo>
                    <a:pt x="5638728" y="1495424"/>
                  </a:lnTo>
                  <a:close/>
                </a:path>
              </a:pathLst>
            </a:custGeom>
            <a:solidFill>
              <a:srgbClr val="FFFFFF">
                <a:alpha val="70199"/>
              </a:srgbClr>
            </a:solidFill>
          </p:spPr>
          <p:txBody>
            <a:bodyPr wrap="square" lIns="0" tIns="0" rIns="0" bIns="0" rtlCol="0"/>
            <a:lstStyle/>
            <a:p>
              <a:endParaRPr/>
            </a:p>
          </p:txBody>
        </p:sp>
        <p:sp>
          <p:nvSpPr>
            <p:cNvPr id="16" name="object 16"/>
            <p:cNvSpPr/>
            <p:nvPr/>
          </p:nvSpPr>
          <p:spPr>
            <a:xfrm>
              <a:off x="233362" y="5700712"/>
              <a:ext cx="5705475" cy="1495425"/>
            </a:xfrm>
            <a:custGeom>
              <a:avLst/>
              <a:gdLst/>
              <a:ahLst/>
              <a:cxnLst/>
              <a:rect l="l" t="t" r="r" b="b"/>
              <a:pathLst>
                <a:path w="5705475" h="1495425">
                  <a:moveTo>
                    <a:pt x="0" y="1423987"/>
                  </a:moveTo>
                  <a:lnTo>
                    <a:pt x="0" y="71437"/>
                  </a:lnTo>
                  <a:lnTo>
                    <a:pt x="0" y="66746"/>
                  </a:lnTo>
                  <a:lnTo>
                    <a:pt x="457" y="62100"/>
                  </a:lnTo>
                  <a:lnTo>
                    <a:pt x="12039" y="31748"/>
                  </a:lnTo>
                  <a:lnTo>
                    <a:pt x="14645" y="27848"/>
                  </a:lnTo>
                  <a:lnTo>
                    <a:pt x="17606" y="24239"/>
                  </a:lnTo>
                  <a:lnTo>
                    <a:pt x="20923" y="20923"/>
                  </a:lnTo>
                  <a:lnTo>
                    <a:pt x="24240" y="17605"/>
                  </a:lnTo>
                  <a:lnTo>
                    <a:pt x="27848" y="14644"/>
                  </a:lnTo>
                  <a:lnTo>
                    <a:pt x="31748" y="12038"/>
                  </a:lnTo>
                  <a:lnTo>
                    <a:pt x="35649" y="9432"/>
                  </a:lnTo>
                  <a:lnTo>
                    <a:pt x="39765" y="7232"/>
                  </a:lnTo>
                  <a:lnTo>
                    <a:pt x="44099" y="5437"/>
                  </a:lnTo>
                  <a:lnTo>
                    <a:pt x="48433" y="3642"/>
                  </a:lnTo>
                  <a:lnTo>
                    <a:pt x="52900" y="2287"/>
                  </a:lnTo>
                  <a:lnTo>
                    <a:pt x="57500" y="1372"/>
                  </a:lnTo>
                  <a:lnTo>
                    <a:pt x="62101" y="457"/>
                  </a:lnTo>
                  <a:lnTo>
                    <a:pt x="66746" y="0"/>
                  </a:lnTo>
                  <a:lnTo>
                    <a:pt x="71437" y="0"/>
                  </a:lnTo>
                  <a:lnTo>
                    <a:pt x="5634037" y="0"/>
                  </a:lnTo>
                  <a:lnTo>
                    <a:pt x="5638728" y="0"/>
                  </a:lnTo>
                  <a:lnTo>
                    <a:pt x="5643373" y="457"/>
                  </a:lnTo>
                  <a:lnTo>
                    <a:pt x="5647973" y="1372"/>
                  </a:lnTo>
                  <a:lnTo>
                    <a:pt x="5652573" y="2287"/>
                  </a:lnTo>
                  <a:lnTo>
                    <a:pt x="5657040" y="3642"/>
                  </a:lnTo>
                  <a:lnTo>
                    <a:pt x="5661374" y="5437"/>
                  </a:lnTo>
                  <a:lnTo>
                    <a:pt x="5665707" y="7232"/>
                  </a:lnTo>
                  <a:lnTo>
                    <a:pt x="5669824" y="9433"/>
                  </a:lnTo>
                  <a:lnTo>
                    <a:pt x="5673724" y="12039"/>
                  </a:lnTo>
                  <a:lnTo>
                    <a:pt x="5677625" y="14644"/>
                  </a:lnTo>
                  <a:lnTo>
                    <a:pt x="5681234" y="17605"/>
                  </a:lnTo>
                  <a:lnTo>
                    <a:pt x="5684550" y="20923"/>
                  </a:lnTo>
                  <a:lnTo>
                    <a:pt x="5687867" y="24239"/>
                  </a:lnTo>
                  <a:lnTo>
                    <a:pt x="5690828" y="27848"/>
                  </a:lnTo>
                  <a:lnTo>
                    <a:pt x="5693434" y="31748"/>
                  </a:lnTo>
                  <a:lnTo>
                    <a:pt x="5696040" y="35648"/>
                  </a:lnTo>
                  <a:lnTo>
                    <a:pt x="5698241" y="39764"/>
                  </a:lnTo>
                  <a:lnTo>
                    <a:pt x="5700036" y="44098"/>
                  </a:lnTo>
                  <a:lnTo>
                    <a:pt x="5701831" y="48432"/>
                  </a:lnTo>
                  <a:lnTo>
                    <a:pt x="5703186" y="52899"/>
                  </a:lnTo>
                  <a:lnTo>
                    <a:pt x="5704101" y="57499"/>
                  </a:lnTo>
                  <a:lnTo>
                    <a:pt x="5705016" y="62100"/>
                  </a:lnTo>
                  <a:lnTo>
                    <a:pt x="5705473" y="66746"/>
                  </a:lnTo>
                  <a:lnTo>
                    <a:pt x="5705474" y="71437"/>
                  </a:lnTo>
                  <a:lnTo>
                    <a:pt x="5705474" y="1423987"/>
                  </a:lnTo>
                  <a:lnTo>
                    <a:pt x="5705473" y="1428677"/>
                  </a:lnTo>
                  <a:lnTo>
                    <a:pt x="5705016" y="1433323"/>
                  </a:lnTo>
                  <a:lnTo>
                    <a:pt x="5704101" y="1437923"/>
                  </a:lnTo>
                  <a:lnTo>
                    <a:pt x="5703186" y="1442524"/>
                  </a:lnTo>
                  <a:lnTo>
                    <a:pt x="5701831" y="1446991"/>
                  </a:lnTo>
                  <a:lnTo>
                    <a:pt x="5700036" y="1451324"/>
                  </a:lnTo>
                  <a:lnTo>
                    <a:pt x="5698241" y="1455658"/>
                  </a:lnTo>
                  <a:lnTo>
                    <a:pt x="5684550" y="1474501"/>
                  </a:lnTo>
                  <a:lnTo>
                    <a:pt x="5681234" y="1477817"/>
                  </a:lnTo>
                  <a:lnTo>
                    <a:pt x="5677625" y="1480779"/>
                  </a:lnTo>
                  <a:lnTo>
                    <a:pt x="5673724" y="1483384"/>
                  </a:lnTo>
                  <a:lnTo>
                    <a:pt x="5669824" y="1485991"/>
                  </a:lnTo>
                  <a:lnTo>
                    <a:pt x="5647973" y="1494051"/>
                  </a:lnTo>
                  <a:lnTo>
                    <a:pt x="5643373" y="1494966"/>
                  </a:lnTo>
                  <a:lnTo>
                    <a:pt x="5638728" y="1495424"/>
                  </a:lnTo>
                  <a:lnTo>
                    <a:pt x="5634037" y="1495424"/>
                  </a:lnTo>
                  <a:lnTo>
                    <a:pt x="71437" y="1495424"/>
                  </a:lnTo>
                  <a:lnTo>
                    <a:pt x="66746" y="1495424"/>
                  </a:lnTo>
                  <a:lnTo>
                    <a:pt x="62101" y="1494966"/>
                  </a:lnTo>
                  <a:lnTo>
                    <a:pt x="57500" y="1494051"/>
                  </a:lnTo>
                  <a:lnTo>
                    <a:pt x="52900" y="1493136"/>
                  </a:lnTo>
                  <a:lnTo>
                    <a:pt x="31748" y="1483384"/>
                  </a:lnTo>
                  <a:lnTo>
                    <a:pt x="27848" y="1480779"/>
                  </a:lnTo>
                  <a:lnTo>
                    <a:pt x="24240" y="1477817"/>
                  </a:lnTo>
                  <a:lnTo>
                    <a:pt x="20923" y="1474501"/>
                  </a:lnTo>
                  <a:lnTo>
                    <a:pt x="17606" y="1471184"/>
                  </a:lnTo>
                  <a:lnTo>
                    <a:pt x="1372" y="1437923"/>
                  </a:lnTo>
                  <a:lnTo>
                    <a:pt x="457" y="1433322"/>
                  </a:lnTo>
                  <a:lnTo>
                    <a:pt x="0" y="1428677"/>
                  </a:lnTo>
                  <a:lnTo>
                    <a:pt x="0" y="1423987"/>
                  </a:lnTo>
                  <a:close/>
                </a:path>
              </a:pathLst>
            </a:custGeom>
            <a:ln w="9524">
              <a:solidFill>
                <a:srgbClr val="FF9900"/>
              </a:solidFill>
            </a:ln>
          </p:spPr>
          <p:txBody>
            <a:bodyPr wrap="square" lIns="0" tIns="0" rIns="0" bIns="0" rtlCol="0"/>
            <a:lstStyle/>
            <a:p>
              <a:endParaRPr/>
            </a:p>
          </p:txBody>
        </p:sp>
        <p:sp>
          <p:nvSpPr>
            <p:cNvPr id="17" name="object 17"/>
            <p:cNvSpPr/>
            <p:nvPr/>
          </p:nvSpPr>
          <p:spPr>
            <a:xfrm>
              <a:off x="390524" y="5857874"/>
              <a:ext cx="476250" cy="476250"/>
            </a:xfrm>
            <a:custGeom>
              <a:avLst/>
              <a:gdLst/>
              <a:ahLst/>
              <a:cxnLst/>
              <a:rect l="l" t="t" r="r" b="b"/>
              <a:pathLst>
                <a:path w="476250" h="476250">
                  <a:moveTo>
                    <a:pt x="245923" y="476249"/>
                  </a:moveTo>
                  <a:lnTo>
                    <a:pt x="230326" y="476249"/>
                  </a:lnTo>
                  <a:lnTo>
                    <a:pt x="222546" y="475868"/>
                  </a:lnTo>
                  <a:lnTo>
                    <a:pt x="184020" y="470152"/>
                  </a:lnTo>
                  <a:lnTo>
                    <a:pt x="139793" y="455139"/>
                  </a:lnTo>
                  <a:lnTo>
                    <a:pt x="99345" y="431785"/>
                  </a:lnTo>
                  <a:lnTo>
                    <a:pt x="64230" y="400990"/>
                  </a:lnTo>
                  <a:lnTo>
                    <a:pt x="35798" y="363935"/>
                  </a:lnTo>
                  <a:lnTo>
                    <a:pt x="15141" y="322046"/>
                  </a:lnTo>
                  <a:lnTo>
                    <a:pt x="3054" y="276931"/>
                  </a:lnTo>
                  <a:lnTo>
                    <a:pt x="0" y="245923"/>
                  </a:lnTo>
                  <a:lnTo>
                    <a:pt x="0" y="230326"/>
                  </a:lnTo>
                  <a:lnTo>
                    <a:pt x="6096" y="184020"/>
                  </a:lnTo>
                  <a:lnTo>
                    <a:pt x="21110" y="139792"/>
                  </a:lnTo>
                  <a:lnTo>
                    <a:pt x="44464" y="99344"/>
                  </a:lnTo>
                  <a:lnTo>
                    <a:pt x="75259" y="64230"/>
                  </a:lnTo>
                  <a:lnTo>
                    <a:pt x="112314" y="35797"/>
                  </a:lnTo>
                  <a:lnTo>
                    <a:pt x="154203" y="15141"/>
                  </a:lnTo>
                  <a:lnTo>
                    <a:pt x="199318" y="3054"/>
                  </a:lnTo>
                  <a:lnTo>
                    <a:pt x="230326" y="0"/>
                  </a:lnTo>
                  <a:lnTo>
                    <a:pt x="245923" y="0"/>
                  </a:lnTo>
                  <a:lnTo>
                    <a:pt x="292229" y="6097"/>
                  </a:lnTo>
                  <a:lnTo>
                    <a:pt x="336456" y="21110"/>
                  </a:lnTo>
                  <a:lnTo>
                    <a:pt x="376904" y="44462"/>
                  </a:lnTo>
                  <a:lnTo>
                    <a:pt x="412019" y="75259"/>
                  </a:lnTo>
                  <a:lnTo>
                    <a:pt x="440451" y="112314"/>
                  </a:lnTo>
                  <a:lnTo>
                    <a:pt x="461108" y="154203"/>
                  </a:lnTo>
                  <a:lnTo>
                    <a:pt x="473195" y="199318"/>
                  </a:lnTo>
                  <a:lnTo>
                    <a:pt x="476249" y="230326"/>
                  </a:lnTo>
                  <a:lnTo>
                    <a:pt x="476249" y="238124"/>
                  </a:lnTo>
                  <a:lnTo>
                    <a:pt x="476249" y="245923"/>
                  </a:lnTo>
                  <a:lnTo>
                    <a:pt x="470152" y="292229"/>
                  </a:lnTo>
                  <a:lnTo>
                    <a:pt x="455139" y="336456"/>
                  </a:lnTo>
                  <a:lnTo>
                    <a:pt x="431785" y="376904"/>
                  </a:lnTo>
                  <a:lnTo>
                    <a:pt x="400990" y="412019"/>
                  </a:lnTo>
                  <a:lnTo>
                    <a:pt x="363935" y="440451"/>
                  </a:lnTo>
                  <a:lnTo>
                    <a:pt x="322046" y="461107"/>
                  </a:lnTo>
                  <a:lnTo>
                    <a:pt x="276931" y="473195"/>
                  </a:lnTo>
                  <a:lnTo>
                    <a:pt x="253703" y="475868"/>
                  </a:lnTo>
                  <a:lnTo>
                    <a:pt x="245923" y="476249"/>
                  </a:lnTo>
                  <a:close/>
                </a:path>
              </a:pathLst>
            </a:custGeom>
            <a:solidFill>
              <a:srgbClr val="FF9900"/>
            </a:solidFill>
          </p:spPr>
          <p:txBody>
            <a:bodyPr wrap="square" lIns="0" tIns="0" rIns="0" bIns="0" rtlCol="0"/>
            <a:lstStyle/>
            <a:p>
              <a:endParaRPr/>
            </a:p>
          </p:txBody>
        </p:sp>
        <p:pic>
          <p:nvPicPr>
            <p:cNvPr id="18" name="object 18"/>
            <p:cNvPicPr/>
            <p:nvPr/>
          </p:nvPicPr>
          <p:blipFill>
            <a:blip r:embed="rId5" cstate="print"/>
            <a:stretch>
              <a:fillRect/>
            </a:stretch>
          </p:blipFill>
          <p:spPr>
            <a:xfrm>
              <a:off x="609599" y="6000749"/>
              <a:ext cx="47624" cy="190499"/>
            </a:xfrm>
            <a:prstGeom prst="rect">
              <a:avLst/>
            </a:prstGeom>
          </p:spPr>
        </p:pic>
      </p:grpSp>
      <p:sp>
        <p:nvSpPr>
          <p:cNvPr id="19" name="object 19"/>
          <p:cNvSpPr txBox="1"/>
          <p:nvPr/>
        </p:nvSpPr>
        <p:spPr>
          <a:xfrm>
            <a:off x="968375" y="5331309"/>
            <a:ext cx="4686300" cy="1113155"/>
          </a:xfrm>
          <a:prstGeom prst="rect">
            <a:avLst/>
          </a:prstGeom>
        </p:spPr>
        <p:txBody>
          <a:bodyPr vert="horz" wrap="square" lIns="0" tIns="15240" rIns="0" bIns="0" rtlCol="0">
            <a:spAutoFit/>
          </a:bodyPr>
          <a:lstStyle/>
          <a:p>
            <a:pPr marL="12700">
              <a:lnSpc>
                <a:spcPct val="100000"/>
              </a:lnSpc>
              <a:spcBef>
                <a:spcPts val="120"/>
              </a:spcBef>
            </a:pPr>
            <a:r>
              <a:rPr sz="1600" spc="-120" dirty="0">
                <a:solidFill>
                  <a:srgbClr val="003366"/>
                </a:solidFill>
                <a:latin typeface="PMingLiU"/>
                <a:cs typeface="PMingLiU"/>
              </a:rPr>
              <a:t>問題</a:t>
            </a:r>
            <a:r>
              <a:rPr sz="1650" spc="-165" dirty="0">
                <a:solidFill>
                  <a:srgbClr val="003366"/>
                </a:solidFill>
                <a:latin typeface="SimSun"/>
                <a:cs typeface="SimSun"/>
              </a:rPr>
              <a:t>点</a:t>
            </a:r>
            <a:r>
              <a:rPr sz="1400" spc="85" dirty="0">
                <a:solidFill>
                  <a:srgbClr val="003366"/>
                </a:solidFill>
                <a:latin typeface="PMingLiU"/>
                <a:cs typeface="PMingLiU"/>
              </a:rPr>
              <a:t>の</a:t>
            </a:r>
            <a:r>
              <a:rPr sz="1650" spc="-165" dirty="0">
                <a:solidFill>
                  <a:srgbClr val="003366"/>
                </a:solidFill>
                <a:latin typeface="SimSun"/>
                <a:cs typeface="SimSun"/>
              </a:rPr>
              <a:t>特</a:t>
            </a:r>
            <a:r>
              <a:rPr sz="1700" spc="-50" dirty="0">
                <a:solidFill>
                  <a:srgbClr val="003366"/>
                </a:solidFill>
                <a:latin typeface="SimSun"/>
                <a:cs typeface="SimSun"/>
              </a:rPr>
              <a:t>定</a:t>
            </a:r>
            <a:endParaRPr sz="1700">
              <a:latin typeface="SimSun"/>
              <a:cs typeface="SimSun"/>
            </a:endParaRPr>
          </a:p>
          <a:p>
            <a:pPr marL="12700">
              <a:lnSpc>
                <a:spcPct val="100000"/>
              </a:lnSpc>
              <a:spcBef>
                <a:spcPts val="860"/>
              </a:spcBef>
            </a:pPr>
            <a:r>
              <a:rPr sz="1200" dirty="0">
                <a:solidFill>
                  <a:srgbClr val="374050"/>
                </a:solidFill>
                <a:latin typeface="Arial"/>
                <a:cs typeface="Arial"/>
              </a:rPr>
              <a:t>1.67[THz]</a:t>
            </a:r>
            <a:r>
              <a:rPr sz="1200" spc="-30" dirty="0">
                <a:solidFill>
                  <a:srgbClr val="374050"/>
                </a:solidFill>
                <a:latin typeface="PMingLiU"/>
                <a:cs typeface="PMingLiU"/>
              </a:rPr>
              <a:t>では実測値から大きく外れています。</a:t>
            </a:r>
            <a:endParaRPr sz="1200">
              <a:latin typeface="PMingLiU"/>
              <a:cs typeface="PMingLiU"/>
            </a:endParaRPr>
          </a:p>
          <a:p>
            <a:pPr marL="12700" marR="5080">
              <a:lnSpc>
                <a:spcPct val="125000"/>
              </a:lnSpc>
              <a:spcBef>
                <a:spcPts val="600"/>
              </a:spcBef>
            </a:pPr>
            <a:r>
              <a:rPr sz="1200" spc="-10" dirty="0">
                <a:solidFill>
                  <a:srgbClr val="374050"/>
                </a:solidFill>
                <a:latin typeface="PMingLiU"/>
                <a:cs typeface="PMingLiU"/>
              </a:rPr>
              <a:t>吸光度が</a:t>
            </a:r>
            <a:r>
              <a:rPr sz="1200" dirty="0">
                <a:solidFill>
                  <a:srgbClr val="374050"/>
                </a:solidFill>
                <a:latin typeface="Arial"/>
                <a:cs typeface="Arial"/>
              </a:rPr>
              <a:t>2</a:t>
            </a:r>
            <a:r>
              <a:rPr sz="1200" spc="-35" dirty="0">
                <a:solidFill>
                  <a:srgbClr val="374050"/>
                </a:solidFill>
                <a:latin typeface="PMingLiU"/>
                <a:cs typeface="PMingLiU"/>
              </a:rPr>
              <a:t>を超えると，ランベルト・ベールの法則に従わなくなるた</a:t>
            </a:r>
            <a:r>
              <a:rPr sz="1200" spc="-30" dirty="0">
                <a:solidFill>
                  <a:srgbClr val="374050"/>
                </a:solidFill>
                <a:latin typeface="PMingLiU"/>
                <a:cs typeface="PMingLiU"/>
              </a:rPr>
              <a:t>め，この吸収線は本研究目的には向かないです。</a:t>
            </a:r>
            <a:endParaRPr sz="1200">
              <a:latin typeface="PMingLiU"/>
              <a:cs typeface="PMingLiU"/>
            </a:endParaRPr>
          </a:p>
        </p:txBody>
      </p:sp>
      <p:grpSp>
        <p:nvGrpSpPr>
          <p:cNvPr id="20" name="object 20"/>
          <p:cNvGrpSpPr/>
          <p:nvPr/>
        </p:nvGrpSpPr>
        <p:grpSpPr>
          <a:xfrm>
            <a:off x="6248398" y="876299"/>
            <a:ext cx="5715000" cy="1123950"/>
            <a:chOff x="6248398" y="876299"/>
            <a:chExt cx="5715000" cy="1123950"/>
          </a:xfrm>
        </p:grpSpPr>
        <p:sp>
          <p:nvSpPr>
            <p:cNvPr id="21" name="object 21"/>
            <p:cNvSpPr/>
            <p:nvPr/>
          </p:nvSpPr>
          <p:spPr>
            <a:xfrm>
              <a:off x="6253161" y="881062"/>
              <a:ext cx="5705475" cy="1114425"/>
            </a:xfrm>
            <a:custGeom>
              <a:avLst/>
              <a:gdLst/>
              <a:ahLst/>
              <a:cxnLst/>
              <a:rect l="l" t="t" r="r" b="b"/>
              <a:pathLst>
                <a:path w="5705475" h="1114425">
                  <a:moveTo>
                    <a:pt x="5638726" y="1114424"/>
                  </a:moveTo>
                  <a:lnTo>
                    <a:pt x="66747" y="1114424"/>
                  </a:lnTo>
                  <a:lnTo>
                    <a:pt x="62102" y="1113967"/>
                  </a:lnTo>
                  <a:lnTo>
                    <a:pt x="24240" y="1096817"/>
                  </a:lnTo>
                  <a:lnTo>
                    <a:pt x="2287" y="1061524"/>
                  </a:lnTo>
                  <a:lnTo>
                    <a:pt x="0" y="1047678"/>
                  </a:lnTo>
                  <a:lnTo>
                    <a:pt x="0" y="1042987"/>
                  </a:lnTo>
                  <a:lnTo>
                    <a:pt x="0" y="66746"/>
                  </a:lnTo>
                  <a:lnTo>
                    <a:pt x="14645" y="27848"/>
                  </a:lnTo>
                  <a:lnTo>
                    <a:pt x="48433" y="3642"/>
                  </a:lnTo>
                  <a:lnTo>
                    <a:pt x="66747" y="0"/>
                  </a:lnTo>
                  <a:lnTo>
                    <a:pt x="5638726" y="0"/>
                  </a:lnTo>
                  <a:lnTo>
                    <a:pt x="5677624" y="14645"/>
                  </a:lnTo>
                  <a:lnTo>
                    <a:pt x="5701829" y="48433"/>
                  </a:lnTo>
                  <a:lnTo>
                    <a:pt x="5705475" y="66746"/>
                  </a:lnTo>
                  <a:lnTo>
                    <a:pt x="5705475" y="1047678"/>
                  </a:lnTo>
                  <a:lnTo>
                    <a:pt x="5690828" y="1086575"/>
                  </a:lnTo>
                  <a:lnTo>
                    <a:pt x="5657040" y="1110781"/>
                  </a:lnTo>
                  <a:lnTo>
                    <a:pt x="5643371" y="1113967"/>
                  </a:lnTo>
                  <a:lnTo>
                    <a:pt x="5638726" y="1114424"/>
                  </a:lnTo>
                  <a:close/>
                </a:path>
              </a:pathLst>
            </a:custGeom>
            <a:solidFill>
              <a:srgbClr val="FFFFFF">
                <a:alpha val="70199"/>
              </a:srgbClr>
            </a:solidFill>
          </p:spPr>
          <p:txBody>
            <a:bodyPr wrap="square" lIns="0" tIns="0" rIns="0" bIns="0" rtlCol="0"/>
            <a:lstStyle/>
            <a:p>
              <a:endParaRPr/>
            </a:p>
          </p:txBody>
        </p:sp>
        <p:sp>
          <p:nvSpPr>
            <p:cNvPr id="22" name="object 22"/>
            <p:cNvSpPr/>
            <p:nvPr/>
          </p:nvSpPr>
          <p:spPr>
            <a:xfrm>
              <a:off x="6253161" y="881062"/>
              <a:ext cx="5705475" cy="1114425"/>
            </a:xfrm>
            <a:custGeom>
              <a:avLst/>
              <a:gdLst/>
              <a:ahLst/>
              <a:cxnLst/>
              <a:rect l="l" t="t" r="r" b="b"/>
              <a:pathLst>
                <a:path w="5705475" h="1114425">
                  <a:moveTo>
                    <a:pt x="0" y="1042987"/>
                  </a:moveTo>
                  <a:lnTo>
                    <a:pt x="0" y="71437"/>
                  </a:lnTo>
                  <a:lnTo>
                    <a:pt x="0" y="66746"/>
                  </a:lnTo>
                  <a:lnTo>
                    <a:pt x="457" y="62101"/>
                  </a:lnTo>
                  <a:lnTo>
                    <a:pt x="1372" y="57500"/>
                  </a:lnTo>
                  <a:lnTo>
                    <a:pt x="2287" y="52900"/>
                  </a:lnTo>
                  <a:lnTo>
                    <a:pt x="3642" y="48433"/>
                  </a:lnTo>
                  <a:lnTo>
                    <a:pt x="5438" y="44099"/>
                  </a:lnTo>
                  <a:lnTo>
                    <a:pt x="7232" y="39765"/>
                  </a:lnTo>
                  <a:lnTo>
                    <a:pt x="9433" y="35648"/>
                  </a:lnTo>
                  <a:lnTo>
                    <a:pt x="12039" y="31748"/>
                  </a:lnTo>
                  <a:lnTo>
                    <a:pt x="14645" y="27848"/>
                  </a:lnTo>
                  <a:lnTo>
                    <a:pt x="17607" y="24240"/>
                  </a:lnTo>
                  <a:lnTo>
                    <a:pt x="20923" y="20923"/>
                  </a:lnTo>
                  <a:lnTo>
                    <a:pt x="24240" y="17606"/>
                  </a:lnTo>
                  <a:lnTo>
                    <a:pt x="27848" y="14645"/>
                  </a:lnTo>
                  <a:lnTo>
                    <a:pt x="31748" y="12039"/>
                  </a:lnTo>
                  <a:lnTo>
                    <a:pt x="35648" y="9433"/>
                  </a:lnTo>
                  <a:lnTo>
                    <a:pt x="66747" y="0"/>
                  </a:lnTo>
                  <a:lnTo>
                    <a:pt x="71438" y="0"/>
                  </a:lnTo>
                  <a:lnTo>
                    <a:pt x="5634037" y="0"/>
                  </a:lnTo>
                  <a:lnTo>
                    <a:pt x="5638726" y="0"/>
                  </a:lnTo>
                  <a:lnTo>
                    <a:pt x="5643371" y="457"/>
                  </a:lnTo>
                  <a:lnTo>
                    <a:pt x="5681233" y="17606"/>
                  </a:lnTo>
                  <a:lnTo>
                    <a:pt x="5703185" y="52900"/>
                  </a:lnTo>
                  <a:lnTo>
                    <a:pt x="5705475" y="66746"/>
                  </a:lnTo>
                  <a:lnTo>
                    <a:pt x="5705475" y="71437"/>
                  </a:lnTo>
                  <a:lnTo>
                    <a:pt x="5705475" y="1042987"/>
                  </a:lnTo>
                  <a:lnTo>
                    <a:pt x="5705475" y="1047678"/>
                  </a:lnTo>
                  <a:lnTo>
                    <a:pt x="5705016" y="1052323"/>
                  </a:lnTo>
                  <a:lnTo>
                    <a:pt x="5687866" y="1090184"/>
                  </a:lnTo>
                  <a:lnTo>
                    <a:pt x="5652573" y="1112136"/>
                  </a:lnTo>
                  <a:lnTo>
                    <a:pt x="5634037" y="1114424"/>
                  </a:lnTo>
                  <a:lnTo>
                    <a:pt x="71438" y="1114424"/>
                  </a:lnTo>
                  <a:lnTo>
                    <a:pt x="44099" y="1108986"/>
                  </a:lnTo>
                  <a:lnTo>
                    <a:pt x="39765" y="1107191"/>
                  </a:lnTo>
                  <a:lnTo>
                    <a:pt x="35648" y="1104991"/>
                  </a:lnTo>
                  <a:lnTo>
                    <a:pt x="31748" y="1102385"/>
                  </a:lnTo>
                  <a:lnTo>
                    <a:pt x="27848" y="1099779"/>
                  </a:lnTo>
                  <a:lnTo>
                    <a:pt x="24240" y="1096817"/>
                  </a:lnTo>
                  <a:lnTo>
                    <a:pt x="20923" y="1093501"/>
                  </a:lnTo>
                  <a:lnTo>
                    <a:pt x="17607" y="1090184"/>
                  </a:lnTo>
                  <a:lnTo>
                    <a:pt x="5438" y="1070325"/>
                  </a:lnTo>
                  <a:lnTo>
                    <a:pt x="3642" y="1065991"/>
                  </a:lnTo>
                  <a:lnTo>
                    <a:pt x="2287" y="1061524"/>
                  </a:lnTo>
                  <a:lnTo>
                    <a:pt x="1372" y="1056924"/>
                  </a:lnTo>
                  <a:lnTo>
                    <a:pt x="457" y="1052323"/>
                  </a:lnTo>
                  <a:lnTo>
                    <a:pt x="0" y="1047678"/>
                  </a:lnTo>
                  <a:lnTo>
                    <a:pt x="0" y="1042987"/>
                  </a:lnTo>
                  <a:close/>
                </a:path>
              </a:pathLst>
            </a:custGeom>
            <a:ln w="9524">
              <a:solidFill>
                <a:srgbClr val="66CCFF"/>
              </a:solidFill>
            </a:ln>
          </p:spPr>
          <p:txBody>
            <a:bodyPr wrap="square" lIns="0" tIns="0" rIns="0" bIns="0" rtlCol="0"/>
            <a:lstStyle/>
            <a:p>
              <a:endParaRPr/>
            </a:p>
          </p:txBody>
        </p:sp>
        <p:sp>
          <p:nvSpPr>
            <p:cNvPr id="23" name="object 23"/>
            <p:cNvSpPr/>
            <p:nvPr/>
          </p:nvSpPr>
          <p:spPr>
            <a:xfrm>
              <a:off x="6410324" y="1038224"/>
              <a:ext cx="476250" cy="476250"/>
            </a:xfrm>
            <a:custGeom>
              <a:avLst/>
              <a:gdLst/>
              <a:ahLst/>
              <a:cxnLst/>
              <a:rect l="l" t="t" r="r" b="b"/>
              <a:pathLst>
                <a:path w="476250" h="476250">
                  <a:moveTo>
                    <a:pt x="245923" y="476249"/>
                  </a:moveTo>
                  <a:lnTo>
                    <a:pt x="230326" y="476249"/>
                  </a:lnTo>
                  <a:lnTo>
                    <a:pt x="222546" y="475867"/>
                  </a:lnTo>
                  <a:lnTo>
                    <a:pt x="184019" y="470152"/>
                  </a:lnTo>
                  <a:lnTo>
                    <a:pt x="139792" y="455139"/>
                  </a:lnTo>
                  <a:lnTo>
                    <a:pt x="99344" y="431785"/>
                  </a:lnTo>
                  <a:lnTo>
                    <a:pt x="64229" y="400990"/>
                  </a:lnTo>
                  <a:lnTo>
                    <a:pt x="35797" y="363935"/>
                  </a:lnTo>
                  <a:lnTo>
                    <a:pt x="15140" y="322046"/>
                  </a:lnTo>
                  <a:lnTo>
                    <a:pt x="3053" y="276931"/>
                  </a:lnTo>
                  <a:lnTo>
                    <a:pt x="0" y="245923"/>
                  </a:lnTo>
                  <a:lnTo>
                    <a:pt x="0" y="230326"/>
                  </a:lnTo>
                  <a:lnTo>
                    <a:pt x="6096" y="184019"/>
                  </a:lnTo>
                  <a:lnTo>
                    <a:pt x="21109" y="139793"/>
                  </a:lnTo>
                  <a:lnTo>
                    <a:pt x="44462" y="99345"/>
                  </a:lnTo>
                  <a:lnTo>
                    <a:pt x="75259" y="64230"/>
                  </a:lnTo>
                  <a:lnTo>
                    <a:pt x="112314" y="35798"/>
                  </a:lnTo>
                  <a:lnTo>
                    <a:pt x="154202" y="15141"/>
                  </a:lnTo>
                  <a:lnTo>
                    <a:pt x="199318" y="3053"/>
                  </a:lnTo>
                  <a:lnTo>
                    <a:pt x="230326" y="0"/>
                  </a:lnTo>
                  <a:lnTo>
                    <a:pt x="245923" y="0"/>
                  </a:lnTo>
                  <a:lnTo>
                    <a:pt x="292229" y="6097"/>
                  </a:lnTo>
                  <a:lnTo>
                    <a:pt x="336456" y="21110"/>
                  </a:lnTo>
                  <a:lnTo>
                    <a:pt x="376904" y="44463"/>
                  </a:lnTo>
                  <a:lnTo>
                    <a:pt x="412018" y="75259"/>
                  </a:lnTo>
                  <a:lnTo>
                    <a:pt x="440451" y="112314"/>
                  </a:lnTo>
                  <a:lnTo>
                    <a:pt x="461107" y="154203"/>
                  </a:lnTo>
                  <a:lnTo>
                    <a:pt x="473195" y="199317"/>
                  </a:lnTo>
                  <a:lnTo>
                    <a:pt x="476250" y="230326"/>
                  </a:lnTo>
                  <a:lnTo>
                    <a:pt x="476249" y="238124"/>
                  </a:lnTo>
                  <a:lnTo>
                    <a:pt x="476250" y="245923"/>
                  </a:lnTo>
                  <a:lnTo>
                    <a:pt x="470152" y="292229"/>
                  </a:lnTo>
                  <a:lnTo>
                    <a:pt x="455138" y="336456"/>
                  </a:lnTo>
                  <a:lnTo>
                    <a:pt x="431785" y="376904"/>
                  </a:lnTo>
                  <a:lnTo>
                    <a:pt x="400989" y="412019"/>
                  </a:lnTo>
                  <a:lnTo>
                    <a:pt x="363935" y="440451"/>
                  </a:lnTo>
                  <a:lnTo>
                    <a:pt x="322046" y="461108"/>
                  </a:lnTo>
                  <a:lnTo>
                    <a:pt x="276931" y="473195"/>
                  </a:lnTo>
                  <a:lnTo>
                    <a:pt x="253704" y="475867"/>
                  </a:lnTo>
                  <a:lnTo>
                    <a:pt x="245923" y="476249"/>
                  </a:lnTo>
                  <a:close/>
                </a:path>
              </a:pathLst>
            </a:custGeom>
            <a:solidFill>
              <a:srgbClr val="003366"/>
            </a:solidFill>
          </p:spPr>
          <p:txBody>
            <a:bodyPr wrap="square" lIns="0" tIns="0" rIns="0" bIns="0" rtlCol="0"/>
            <a:lstStyle/>
            <a:p>
              <a:endParaRPr/>
            </a:p>
          </p:txBody>
        </p:sp>
        <p:pic>
          <p:nvPicPr>
            <p:cNvPr id="24" name="object 24"/>
            <p:cNvPicPr/>
            <p:nvPr/>
          </p:nvPicPr>
          <p:blipFill>
            <a:blip r:embed="rId6" cstate="print"/>
            <a:stretch>
              <a:fillRect/>
            </a:stretch>
          </p:blipFill>
          <p:spPr>
            <a:xfrm>
              <a:off x="6553199" y="1181099"/>
              <a:ext cx="190499" cy="190499"/>
            </a:xfrm>
            <a:prstGeom prst="rect">
              <a:avLst/>
            </a:prstGeom>
          </p:spPr>
        </p:pic>
      </p:grpSp>
      <p:grpSp>
        <p:nvGrpSpPr>
          <p:cNvPr id="25" name="object 25"/>
          <p:cNvGrpSpPr/>
          <p:nvPr/>
        </p:nvGrpSpPr>
        <p:grpSpPr>
          <a:xfrm>
            <a:off x="6248398" y="2152649"/>
            <a:ext cx="5715000" cy="2533650"/>
            <a:chOff x="6248398" y="2152649"/>
            <a:chExt cx="5715000" cy="2533650"/>
          </a:xfrm>
        </p:grpSpPr>
        <p:sp>
          <p:nvSpPr>
            <p:cNvPr id="26" name="object 26"/>
            <p:cNvSpPr/>
            <p:nvPr/>
          </p:nvSpPr>
          <p:spPr>
            <a:xfrm>
              <a:off x="6253161" y="2157412"/>
              <a:ext cx="5705475" cy="2524125"/>
            </a:xfrm>
            <a:custGeom>
              <a:avLst/>
              <a:gdLst/>
              <a:ahLst/>
              <a:cxnLst/>
              <a:rect l="l" t="t" r="r" b="b"/>
              <a:pathLst>
                <a:path w="5705475" h="2524125">
                  <a:moveTo>
                    <a:pt x="5638726" y="2524124"/>
                  </a:moveTo>
                  <a:lnTo>
                    <a:pt x="66747" y="2524124"/>
                  </a:lnTo>
                  <a:lnTo>
                    <a:pt x="62102" y="2523666"/>
                  </a:lnTo>
                  <a:lnTo>
                    <a:pt x="24240" y="2506517"/>
                  </a:lnTo>
                  <a:lnTo>
                    <a:pt x="2287" y="2471224"/>
                  </a:lnTo>
                  <a:lnTo>
                    <a:pt x="0" y="2457377"/>
                  </a:lnTo>
                  <a:lnTo>
                    <a:pt x="0" y="2452687"/>
                  </a:lnTo>
                  <a:lnTo>
                    <a:pt x="0" y="66746"/>
                  </a:lnTo>
                  <a:lnTo>
                    <a:pt x="14645" y="27848"/>
                  </a:lnTo>
                  <a:lnTo>
                    <a:pt x="48433" y="3642"/>
                  </a:lnTo>
                  <a:lnTo>
                    <a:pt x="66747" y="0"/>
                  </a:lnTo>
                  <a:lnTo>
                    <a:pt x="5638726" y="0"/>
                  </a:lnTo>
                  <a:lnTo>
                    <a:pt x="5677624" y="14645"/>
                  </a:lnTo>
                  <a:lnTo>
                    <a:pt x="5701829" y="48432"/>
                  </a:lnTo>
                  <a:lnTo>
                    <a:pt x="5705475" y="66746"/>
                  </a:lnTo>
                  <a:lnTo>
                    <a:pt x="5705475" y="2457377"/>
                  </a:lnTo>
                  <a:lnTo>
                    <a:pt x="5690828" y="2496275"/>
                  </a:lnTo>
                  <a:lnTo>
                    <a:pt x="5657040" y="2520481"/>
                  </a:lnTo>
                  <a:lnTo>
                    <a:pt x="5643371" y="2523666"/>
                  </a:lnTo>
                  <a:lnTo>
                    <a:pt x="5638726" y="2524124"/>
                  </a:lnTo>
                  <a:close/>
                </a:path>
              </a:pathLst>
            </a:custGeom>
            <a:solidFill>
              <a:srgbClr val="FFFFFF">
                <a:alpha val="70199"/>
              </a:srgbClr>
            </a:solidFill>
          </p:spPr>
          <p:txBody>
            <a:bodyPr wrap="square" lIns="0" tIns="0" rIns="0" bIns="0" rtlCol="0"/>
            <a:lstStyle/>
            <a:p>
              <a:endParaRPr/>
            </a:p>
          </p:txBody>
        </p:sp>
        <p:sp>
          <p:nvSpPr>
            <p:cNvPr id="27" name="object 27"/>
            <p:cNvSpPr/>
            <p:nvPr/>
          </p:nvSpPr>
          <p:spPr>
            <a:xfrm>
              <a:off x="6253161" y="2157412"/>
              <a:ext cx="5705475" cy="2524125"/>
            </a:xfrm>
            <a:custGeom>
              <a:avLst/>
              <a:gdLst/>
              <a:ahLst/>
              <a:cxnLst/>
              <a:rect l="l" t="t" r="r" b="b"/>
              <a:pathLst>
                <a:path w="5705475" h="2524125">
                  <a:moveTo>
                    <a:pt x="0" y="2452687"/>
                  </a:moveTo>
                  <a:lnTo>
                    <a:pt x="0" y="71437"/>
                  </a:lnTo>
                  <a:lnTo>
                    <a:pt x="0" y="66746"/>
                  </a:lnTo>
                  <a:lnTo>
                    <a:pt x="457" y="62101"/>
                  </a:lnTo>
                  <a:lnTo>
                    <a:pt x="1372" y="57500"/>
                  </a:lnTo>
                  <a:lnTo>
                    <a:pt x="2287" y="52899"/>
                  </a:lnTo>
                  <a:lnTo>
                    <a:pt x="3642" y="48432"/>
                  </a:lnTo>
                  <a:lnTo>
                    <a:pt x="5438" y="44099"/>
                  </a:lnTo>
                  <a:lnTo>
                    <a:pt x="7232" y="39765"/>
                  </a:lnTo>
                  <a:lnTo>
                    <a:pt x="20923" y="20923"/>
                  </a:lnTo>
                  <a:lnTo>
                    <a:pt x="24240" y="17606"/>
                  </a:lnTo>
                  <a:lnTo>
                    <a:pt x="44099" y="5437"/>
                  </a:lnTo>
                  <a:lnTo>
                    <a:pt x="48433" y="3642"/>
                  </a:lnTo>
                  <a:lnTo>
                    <a:pt x="52900" y="2287"/>
                  </a:lnTo>
                  <a:lnTo>
                    <a:pt x="57501" y="1372"/>
                  </a:lnTo>
                  <a:lnTo>
                    <a:pt x="62102" y="457"/>
                  </a:lnTo>
                  <a:lnTo>
                    <a:pt x="66747" y="0"/>
                  </a:lnTo>
                  <a:lnTo>
                    <a:pt x="71438" y="0"/>
                  </a:lnTo>
                  <a:lnTo>
                    <a:pt x="5634037" y="0"/>
                  </a:lnTo>
                  <a:lnTo>
                    <a:pt x="5638726" y="0"/>
                  </a:lnTo>
                  <a:lnTo>
                    <a:pt x="5643371" y="457"/>
                  </a:lnTo>
                  <a:lnTo>
                    <a:pt x="5647972" y="1372"/>
                  </a:lnTo>
                  <a:lnTo>
                    <a:pt x="5652573" y="2287"/>
                  </a:lnTo>
                  <a:lnTo>
                    <a:pt x="5657040" y="3642"/>
                  </a:lnTo>
                  <a:lnTo>
                    <a:pt x="5661374" y="5437"/>
                  </a:lnTo>
                  <a:lnTo>
                    <a:pt x="5665707" y="7232"/>
                  </a:lnTo>
                  <a:lnTo>
                    <a:pt x="5696040" y="35648"/>
                  </a:lnTo>
                  <a:lnTo>
                    <a:pt x="5705475" y="66746"/>
                  </a:lnTo>
                  <a:lnTo>
                    <a:pt x="5705475" y="71437"/>
                  </a:lnTo>
                  <a:lnTo>
                    <a:pt x="5705475" y="2452687"/>
                  </a:lnTo>
                  <a:lnTo>
                    <a:pt x="5705475" y="2457377"/>
                  </a:lnTo>
                  <a:lnTo>
                    <a:pt x="5705016" y="2462023"/>
                  </a:lnTo>
                  <a:lnTo>
                    <a:pt x="5687866" y="2499883"/>
                  </a:lnTo>
                  <a:lnTo>
                    <a:pt x="5652573" y="2521836"/>
                  </a:lnTo>
                  <a:lnTo>
                    <a:pt x="5647972" y="2522751"/>
                  </a:lnTo>
                  <a:lnTo>
                    <a:pt x="5643371" y="2523666"/>
                  </a:lnTo>
                  <a:lnTo>
                    <a:pt x="5638726" y="2524124"/>
                  </a:lnTo>
                  <a:lnTo>
                    <a:pt x="5634037" y="2524124"/>
                  </a:lnTo>
                  <a:lnTo>
                    <a:pt x="71438" y="2524124"/>
                  </a:lnTo>
                  <a:lnTo>
                    <a:pt x="66747" y="2524124"/>
                  </a:lnTo>
                  <a:lnTo>
                    <a:pt x="62102" y="2523666"/>
                  </a:lnTo>
                  <a:lnTo>
                    <a:pt x="57501" y="2522751"/>
                  </a:lnTo>
                  <a:lnTo>
                    <a:pt x="52900" y="2521836"/>
                  </a:lnTo>
                  <a:lnTo>
                    <a:pt x="31748" y="2512084"/>
                  </a:lnTo>
                  <a:lnTo>
                    <a:pt x="27848" y="2509478"/>
                  </a:lnTo>
                  <a:lnTo>
                    <a:pt x="5438" y="2480024"/>
                  </a:lnTo>
                  <a:lnTo>
                    <a:pt x="3642" y="2475691"/>
                  </a:lnTo>
                  <a:lnTo>
                    <a:pt x="2287" y="2471224"/>
                  </a:lnTo>
                  <a:lnTo>
                    <a:pt x="1372" y="2466623"/>
                  </a:lnTo>
                  <a:lnTo>
                    <a:pt x="457" y="2462023"/>
                  </a:lnTo>
                  <a:lnTo>
                    <a:pt x="0" y="2457377"/>
                  </a:lnTo>
                  <a:lnTo>
                    <a:pt x="0" y="2452687"/>
                  </a:lnTo>
                  <a:close/>
                </a:path>
              </a:pathLst>
            </a:custGeom>
            <a:ln w="9524">
              <a:solidFill>
                <a:srgbClr val="FF9900"/>
              </a:solidFill>
            </a:ln>
          </p:spPr>
          <p:txBody>
            <a:bodyPr wrap="square" lIns="0" tIns="0" rIns="0" bIns="0" rtlCol="0"/>
            <a:lstStyle/>
            <a:p>
              <a:endParaRPr/>
            </a:p>
          </p:txBody>
        </p:sp>
        <p:sp>
          <p:nvSpPr>
            <p:cNvPr id="28" name="object 28"/>
            <p:cNvSpPr/>
            <p:nvPr/>
          </p:nvSpPr>
          <p:spPr>
            <a:xfrm>
              <a:off x="6410324" y="2314574"/>
              <a:ext cx="476250" cy="476250"/>
            </a:xfrm>
            <a:custGeom>
              <a:avLst/>
              <a:gdLst/>
              <a:ahLst/>
              <a:cxnLst/>
              <a:rect l="l" t="t" r="r" b="b"/>
              <a:pathLst>
                <a:path w="476250" h="476250">
                  <a:moveTo>
                    <a:pt x="245923" y="476249"/>
                  </a:moveTo>
                  <a:lnTo>
                    <a:pt x="230326" y="476249"/>
                  </a:lnTo>
                  <a:lnTo>
                    <a:pt x="222546" y="475867"/>
                  </a:lnTo>
                  <a:lnTo>
                    <a:pt x="184019" y="470152"/>
                  </a:lnTo>
                  <a:lnTo>
                    <a:pt x="139792" y="455138"/>
                  </a:lnTo>
                  <a:lnTo>
                    <a:pt x="99344" y="431785"/>
                  </a:lnTo>
                  <a:lnTo>
                    <a:pt x="64229" y="400989"/>
                  </a:lnTo>
                  <a:lnTo>
                    <a:pt x="35797" y="363935"/>
                  </a:lnTo>
                  <a:lnTo>
                    <a:pt x="15140" y="322045"/>
                  </a:lnTo>
                  <a:lnTo>
                    <a:pt x="3053" y="276931"/>
                  </a:lnTo>
                  <a:lnTo>
                    <a:pt x="0" y="245923"/>
                  </a:lnTo>
                  <a:lnTo>
                    <a:pt x="0" y="230325"/>
                  </a:lnTo>
                  <a:lnTo>
                    <a:pt x="6096" y="184019"/>
                  </a:lnTo>
                  <a:lnTo>
                    <a:pt x="21109" y="139792"/>
                  </a:lnTo>
                  <a:lnTo>
                    <a:pt x="44462" y="99345"/>
                  </a:lnTo>
                  <a:lnTo>
                    <a:pt x="75259" y="64230"/>
                  </a:lnTo>
                  <a:lnTo>
                    <a:pt x="112314" y="35798"/>
                  </a:lnTo>
                  <a:lnTo>
                    <a:pt x="154202" y="15141"/>
                  </a:lnTo>
                  <a:lnTo>
                    <a:pt x="199318" y="3053"/>
                  </a:lnTo>
                  <a:lnTo>
                    <a:pt x="230326" y="0"/>
                  </a:lnTo>
                  <a:lnTo>
                    <a:pt x="245923" y="0"/>
                  </a:lnTo>
                  <a:lnTo>
                    <a:pt x="292229" y="6096"/>
                  </a:lnTo>
                  <a:lnTo>
                    <a:pt x="336456" y="21110"/>
                  </a:lnTo>
                  <a:lnTo>
                    <a:pt x="376904" y="44463"/>
                  </a:lnTo>
                  <a:lnTo>
                    <a:pt x="412018" y="75259"/>
                  </a:lnTo>
                  <a:lnTo>
                    <a:pt x="440451" y="112314"/>
                  </a:lnTo>
                  <a:lnTo>
                    <a:pt x="461107" y="154203"/>
                  </a:lnTo>
                  <a:lnTo>
                    <a:pt x="473195" y="199318"/>
                  </a:lnTo>
                  <a:lnTo>
                    <a:pt x="476250" y="230325"/>
                  </a:lnTo>
                  <a:lnTo>
                    <a:pt x="476249" y="238124"/>
                  </a:lnTo>
                  <a:lnTo>
                    <a:pt x="476250" y="245923"/>
                  </a:lnTo>
                  <a:lnTo>
                    <a:pt x="470152" y="292229"/>
                  </a:lnTo>
                  <a:lnTo>
                    <a:pt x="455138" y="336456"/>
                  </a:lnTo>
                  <a:lnTo>
                    <a:pt x="431785" y="376904"/>
                  </a:lnTo>
                  <a:lnTo>
                    <a:pt x="400989" y="412019"/>
                  </a:lnTo>
                  <a:lnTo>
                    <a:pt x="363935" y="440451"/>
                  </a:lnTo>
                  <a:lnTo>
                    <a:pt x="322046" y="461107"/>
                  </a:lnTo>
                  <a:lnTo>
                    <a:pt x="276931" y="473195"/>
                  </a:lnTo>
                  <a:lnTo>
                    <a:pt x="253704" y="475867"/>
                  </a:lnTo>
                  <a:lnTo>
                    <a:pt x="245923" y="476249"/>
                  </a:lnTo>
                  <a:close/>
                </a:path>
              </a:pathLst>
            </a:custGeom>
            <a:solidFill>
              <a:srgbClr val="FF9900"/>
            </a:solidFill>
          </p:spPr>
          <p:txBody>
            <a:bodyPr wrap="square" lIns="0" tIns="0" rIns="0" bIns="0" rtlCol="0"/>
            <a:lstStyle/>
            <a:p>
              <a:endParaRPr/>
            </a:p>
          </p:txBody>
        </p:sp>
        <p:pic>
          <p:nvPicPr>
            <p:cNvPr id="29" name="object 29"/>
            <p:cNvPicPr/>
            <p:nvPr/>
          </p:nvPicPr>
          <p:blipFill>
            <a:blip r:embed="rId7" cstate="print"/>
            <a:stretch>
              <a:fillRect/>
            </a:stretch>
          </p:blipFill>
          <p:spPr>
            <a:xfrm>
              <a:off x="6553199" y="2457449"/>
              <a:ext cx="190499" cy="190499"/>
            </a:xfrm>
            <a:prstGeom prst="rect">
              <a:avLst/>
            </a:prstGeom>
          </p:spPr>
        </p:pic>
        <p:sp>
          <p:nvSpPr>
            <p:cNvPr id="30" name="object 30"/>
            <p:cNvSpPr/>
            <p:nvPr/>
          </p:nvSpPr>
          <p:spPr>
            <a:xfrm>
              <a:off x="7000873" y="3838574"/>
              <a:ext cx="4800600" cy="685800"/>
            </a:xfrm>
            <a:custGeom>
              <a:avLst/>
              <a:gdLst/>
              <a:ahLst/>
              <a:cxnLst/>
              <a:rect l="l" t="t" r="r" b="b"/>
              <a:pathLst>
                <a:path w="4800600" h="685800">
                  <a:moveTo>
                    <a:pt x="4729403" y="685799"/>
                  </a:moveTo>
                  <a:lnTo>
                    <a:pt x="71196" y="685799"/>
                  </a:lnTo>
                  <a:lnTo>
                    <a:pt x="66241" y="685311"/>
                  </a:lnTo>
                  <a:lnTo>
                    <a:pt x="29704" y="670177"/>
                  </a:lnTo>
                  <a:lnTo>
                    <a:pt x="3884" y="634137"/>
                  </a:lnTo>
                  <a:lnTo>
                    <a:pt x="0" y="614603"/>
                  </a:lnTo>
                  <a:lnTo>
                    <a:pt x="0" y="609599"/>
                  </a:lnTo>
                  <a:lnTo>
                    <a:pt x="0" y="71196"/>
                  </a:lnTo>
                  <a:lnTo>
                    <a:pt x="15620" y="29704"/>
                  </a:lnTo>
                  <a:lnTo>
                    <a:pt x="51661" y="3885"/>
                  </a:lnTo>
                  <a:lnTo>
                    <a:pt x="71196" y="0"/>
                  </a:lnTo>
                  <a:lnTo>
                    <a:pt x="4729403" y="0"/>
                  </a:lnTo>
                  <a:lnTo>
                    <a:pt x="4770892" y="15621"/>
                  </a:lnTo>
                  <a:lnTo>
                    <a:pt x="4796712" y="51661"/>
                  </a:lnTo>
                  <a:lnTo>
                    <a:pt x="4800599" y="71196"/>
                  </a:lnTo>
                  <a:lnTo>
                    <a:pt x="4800599" y="614603"/>
                  </a:lnTo>
                  <a:lnTo>
                    <a:pt x="4784975" y="656093"/>
                  </a:lnTo>
                  <a:lnTo>
                    <a:pt x="4748935" y="681913"/>
                  </a:lnTo>
                  <a:lnTo>
                    <a:pt x="4734357" y="685311"/>
                  </a:lnTo>
                  <a:lnTo>
                    <a:pt x="4729403" y="685799"/>
                  </a:lnTo>
                  <a:close/>
                </a:path>
              </a:pathLst>
            </a:custGeom>
            <a:solidFill>
              <a:srgbClr val="EFF5FF"/>
            </a:solidFill>
          </p:spPr>
          <p:txBody>
            <a:bodyPr wrap="square" lIns="0" tIns="0" rIns="0" bIns="0" rtlCol="0"/>
            <a:lstStyle/>
            <a:p>
              <a:endParaRPr/>
            </a:p>
          </p:txBody>
        </p:sp>
      </p:grpSp>
      <p:sp>
        <p:nvSpPr>
          <p:cNvPr id="31" name="object 31"/>
          <p:cNvSpPr txBox="1"/>
          <p:nvPr/>
        </p:nvSpPr>
        <p:spPr>
          <a:xfrm>
            <a:off x="6988175" y="1006958"/>
            <a:ext cx="4801235" cy="808355"/>
          </a:xfrm>
          <a:prstGeom prst="rect">
            <a:avLst/>
          </a:prstGeom>
        </p:spPr>
        <p:txBody>
          <a:bodyPr vert="horz" wrap="square" lIns="0" tIns="15240" rIns="0" bIns="0" rtlCol="0">
            <a:spAutoFit/>
          </a:bodyPr>
          <a:lstStyle/>
          <a:p>
            <a:pPr marL="12700">
              <a:lnSpc>
                <a:spcPct val="100000"/>
              </a:lnSpc>
              <a:spcBef>
                <a:spcPts val="120"/>
              </a:spcBef>
            </a:pPr>
            <a:r>
              <a:rPr sz="1650" spc="-165" dirty="0">
                <a:solidFill>
                  <a:srgbClr val="003366"/>
                </a:solidFill>
                <a:latin typeface="SimSun"/>
                <a:cs typeface="SimSun"/>
              </a:rPr>
              <a:t>第</a:t>
            </a:r>
            <a:r>
              <a:rPr sz="1500" b="1" spc="-10" dirty="0">
                <a:solidFill>
                  <a:srgbClr val="003366"/>
                </a:solidFill>
                <a:latin typeface="Arial"/>
                <a:cs typeface="Arial"/>
              </a:rPr>
              <a:t>2</a:t>
            </a:r>
            <a:r>
              <a:rPr sz="1600" spc="-120" dirty="0">
                <a:solidFill>
                  <a:srgbClr val="003366"/>
                </a:solidFill>
                <a:latin typeface="PMingLiU"/>
                <a:cs typeface="PMingLiU"/>
              </a:rPr>
              <a:t>回</a:t>
            </a:r>
            <a:r>
              <a:rPr sz="1650" spc="-165" dirty="0">
                <a:solidFill>
                  <a:srgbClr val="003366"/>
                </a:solidFill>
                <a:latin typeface="SimSun"/>
                <a:cs typeface="SimSun"/>
              </a:rPr>
              <a:t>測</a:t>
            </a:r>
            <a:r>
              <a:rPr sz="1700" spc="-210" dirty="0">
                <a:solidFill>
                  <a:srgbClr val="003366"/>
                </a:solidFill>
                <a:latin typeface="SimSun"/>
                <a:cs typeface="SimSun"/>
              </a:rPr>
              <a:t>定</a:t>
            </a:r>
            <a:r>
              <a:rPr sz="1400" spc="85" dirty="0">
                <a:solidFill>
                  <a:srgbClr val="003366"/>
                </a:solidFill>
                <a:latin typeface="PMingLiU"/>
                <a:cs typeface="PMingLiU"/>
              </a:rPr>
              <a:t>の</a:t>
            </a:r>
            <a:r>
              <a:rPr sz="1600" spc="-120" dirty="0">
                <a:solidFill>
                  <a:srgbClr val="003366"/>
                </a:solidFill>
                <a:latin typeface="PMingLiU"/>
                <a:cs typeface="PMingLiU"/>
              </a:rPr>
              <a:t>結</a:t>
            </a:r>
            <a:r>
              <a:rPr sz="1650" spc="-50" dirty="0">
                <a:solidFill>
                  <a:srgbClr val="003366"/>
                </a:solidFill>
                <a:latin typeface="SimSun"/>
                <a:cs typeface="SimSun"/>
              </a:rPr>
              <a:t>果</a:t>
            </a:r>
            <a:endParaRPr sz="1650">
              <a:latin typeface="SimSun"/>
              <a:cs typeface="SimSun"/>
            </a:endParaRPr>
          </a:p>
          <a:p>
            <a:pPr marL="12700" marR="5080">
              <a:lnSpc>
                <a:spcPct val="125000"/>
              </a:lnSpc>
              <a:spcBef>
                <a:spcPts val="500"/>
              </a:spcBef>
            </a:pPr>
            <a:r>
              <a:rPr sz="1200" dirty="0">
                <a:solidFill>
                  <a:srgbClr val="374050"/>
                </a:solidFill>
                <a:latin typeface="Arial"/>
                <a:cs typeface="Arial"/>
              </a:rPr>
              <a:t>1.40[THz]</a:t>
            </a:r>
            <a:r>
              <a:rPr sz="1200" spc="-30" dirty="0">
                <a:solidFill>
                  <a:srgbClr val="374050"/>
                </a:solidFill>
                <a:latin typeface="PMingLiU"/>
                <a:cs typeface="PMingLiU"/>
              </a:rPr>
              <a:t>付近の吸収線の再現性のために測定を繰り返しましたが，低域における吸収線が潰れてしまっています。</a:t>
            </a:r>
            <a:endParaRPr sz="1200">
              <a:latin typeface="PMingLiU"/>
              <a:cs typeface="PMingLiU"/>
            </a:endParaRPr>
          </a:p>
        </p:txBody>
      </p:sp>
      <p:sp>
        <p:nvSpPr>
          <p:cNvPr id="32" name="object 32"/>
          <p:cNvSpPr txBox="1"/>
          <p:nvPr/>
        </p:nvSpPr>
        <p:spPr>
          <a:xfrm>
            <a:off x="6988175" y="2291680"/>
            <a:ext cx="4749800" cy="1371600"/>
          </a:xfrm>
          <a:prstGeom prst="rect">
            <a:avLst/>
          </a:prstGeom>
        </p:spPr>
        <p:txBody>
          <a:bodyPr vert="horz" wrap="square" lIns="0" tIns="13335" rIns="0" bIns="0" rtlCol="0">
            <a:spAutoFit/>
          </a:bodyPr>
          <a:lstStyle/>
          <a:p>
            <a:pPr marL="12700">
              <a:lnSpc>
                <a:spcPct val="100000"/>
              </a:lnSpc>
              <a:spcBef>
                <a:spcPts val="105"/>
              </a:spcBef>
            </a:pPr>
            <a:r>
              <a:rPr sz="1600" spc="-120" dirty="0">
                <a:solidFill>
                  <a:srgbClr val="003366"/>
                </a:solidFill>
                <a:latin typeface="PMingLiU"/>
                <a:cs typeface="PMingLiU"/>
              </a:rPr>
              <a:t>問題</a:t>
            </a:r>
            <a:r>
              <a:rPr sz="1400" spc="85" dirty="0">
                <a:solidFill>
                  <a:srgbClr val="003366"/>
                </a:solidFill>
                <a:latin typeface="PMingLiU"/>
                <a:cs typeface="PMingLiU"/>
              </a:rPr>
              <a:t>の</a:t>
            </a:r>
            <a:r>
              <a:rPr sz="1650" spc="-110" dirty="0">
                <a:solidFill>
                  <a:srgbClr val="003366"/>
                </a:solidFill>
                <a:latin typeface="SimSun"/>
                <a:cs typeface="SimSun"/>
              </a:rPr>
              <a:t>分析</a:t>
            </a:r>
            <a:endParaRPr sz="1650">
              <a:latin typeface="SimSun"/>
              <a:cs typeface="SimSun"/>
            </a:endParaRPr>
          </a:p>
          <a:p>
            <a:pPr marL="12700" marR="153670">
              <a:lnSpc>
                <a:spcPct val="125000"/>
              </a:lnSpc>
              <a:spcBef>
                <a:spcPts val="509"/>
              </a:spcBef>
            </a:pPr>
            <a:r>
              <a:rPr sz="1200" spc="-30" dirty="0">
                <a:solidFill>
                  <a:srgbClr val="374050"/>
                </a:solidFill>
                <a:latin typeface="PMingLiU"/>
                <a:cs typeface="PMingLiU"/>
              </a:rPr>
              <a:t>通常，湿度制御により，ボックス内の水蒸気濃度が高くなることか</a:t>
            </a:r>
            <a:r>
              <a:rPr sz="1200" spc="-45" dirty="0">
                <a:solidFill>
                  <a:srgbClr val="374050"/>
                </a:solidFill>
                <a:latin typeface="PMingLiU"/>
                <a:cs typeface="PMingLiU"/>
              </a:rPr>
              <a:t>ら，</a:t>
            </a:r>
            <a:r>
              <a:rPr sz="1200" spc="-75" dirty="0">
                <a:solidFill>
                  <a:srgbClr val="374050"/>
                </a:solidFill>
                <a:latin typeface="Cambria"/>
                <a:cs typeface="Cambria"/>
              </a:rPr>
              <a:t>𝐼𝑠𝑎𝑚</a:t>
            </a:r>
            <a:r>
              <a:rPr sz="1200" spc="-75" dirty="0">
                <a:solidFill>
                  <a:srgbClr val="374050"/>
                </a:solidFill>
                <a:latin typeface="Arial"/>
                <a:cs typeface="Arial"/>
              </a:rPr>
              <a:t>(</a:t>
            </a:r>
            <a:r>
              <a:rPr sz="1200" spc="-75" dirty="0">
                <a:solidFill>
                  <a:srgbClr val="374050"/>
                </a:solidFill>
                <a:latin typeface="Cambria"/>
                <a:cs typeface="Cambria"/>
              </a:rPr>
              <a:t>𝑡</a:t>
            </a:r>
            <a:r>
              <a:rPr sz="1200" spc="-75" dirty="0">
                <a:solidFill>
                  <a:srgbClr val="374050"/>
                </a:solidFill>
                <a:latin typeface="Arial"/>
                <a:cs typeface="Arial"/>
              </a:rPr>
              <a:t>)</a:t>
            </a:r>
            <a:r>
              <a:rPr sz="1200" spc="-10" dirty="0">
                <a:solidFill>
                  <a:srgbClr val="374050"/>
                </a:solidFill>
                <a:latin typeface="PMingLiU"/>
                <a:cs typeface="PMingLiU"/>
              </a:rPr>
              <a:t>は</a:t>
            </a:r>
            <a:r>
              <a:rPr sz="1200" spc="-130" dirty="0">
                <a:solidFill>
                  <a:srgbClr val="374050"/>
                </a:solidFill>
                <a:latin typeface="Cambria"/>
                <a:cs typeface="Cambria"/>
              </a:rPr>
              <a:t>𝐼𝑟𝑒𝑓</a:t>
            </a:r>
            <a:r>
              <a:rPr sz="1200" spc="-130" dirty="0">
                <a:solidFill>
                  <a:srgbClr val="374050"/>
                </a:solidFill>
                <a:latin typeface="Arial"/>
                <a:cs typeface="Arial"/>
              </a:rPr>
              <a:t>(</a:t>
            </a:r>
            <a:r>
              <a:rPr sz="1200" spc="-130" dirty="0">
                <a:solidFill>
                  <a:srgbClr val="374050"/>
                </a:solidFill>
                <a:latin typeface="Cambria"/>
                <a:cs typeface="Cambria"/>
              </a:rPr>
              <a:t>𝑡</a:t>
            </a:r>
            <a:r>
              <a:rPr sz="1200" spc="-130" dirty="0">
                <a:solidFill>
                  <a:srgbClr val="374050"/>
                </a:solidFill>
                <a:latin typeface="Arial"/>
                <a:cs typeface="Arial"/>
              </a:rPr>
              <a:t>)</a:t>
            </a:r>
            <a:r>
              <a:rPr sz="1200" spc="-20" dirty="0">
                <a:solidFill>
                  <a:srgbClr val="374050"/>
                </a:solidFill>
                <a:latin typeface="PMingLiU"/>
                <a:cs typeface="PMingLiU"/>
              </a:rPr>
              <a:t>よりも小さくなるはずです。</a:t>
            </a:r>
            <a:endParaRPr sz="1200">
              <a:latin typeface="PMingLiU"/>
              <a:cs typeface="PMingLiU"/>
            </a:endParaRPr>
          </a:p>
          <a:p>
            <a:pPr marL="12700" marR="5080">
              <a:lnSpc>
                <a:spcPct val="125000"/>
              </a:lnSpc>
              <a:spcBef>
                <a:spcPts val="900"/>
              </a:spcBef>
            </a:pPr>
            <a:r>
              <a:rPr sz="1200" spc="-30" dirty="0">
                <a:solidFill>
                  <a:srgbClr val="374050"/>
                </a:solidFill>
                <a:latin typeface="PMingLiU"/>
                <a:cs typeface="PMingLiU"/>
              </a:rPr>
              <a:t>しかし，大きくなってしまったことにより，低域における吸収線が潰</a:t>
            </a:r>
            <a:r>
              <a:rPr sz="1200" spc="-20" dirty="0">
                <a:solidFill>
                  <a:srgbClr val="374050"/>
                </a:solidFill>
                <a:latin typeface="PMingLiU"/>
                <a:cs typeface="PMingLiU"/>
              </a:rPr>
              <a:t>れてしまったのではないかと考えられます。</a:t>
            </a:r>
            <a:endParaRPr sz="1200">
              <a:latin typeface="PMingLiU"/>
              <a:cs typeface="PMingLiU"/>
            </a:endParaRPr>
          </a:p>
        </p:txBody>
      </p:sp>
      <p:pic>
        <p:nvPicPr>
          <p:cNvPr id="33" name="object 33"/>
          <p:cNvPicPr/>
          <p:nvPr/>
        </p:nvPicPr>
        <p:blipFill>
          <a:blip r:embed="rId8" cstate="print"/>
          <a:stretch>
            <a:fillRect/>
          </a:stretch>
        </p:blipFill>
        <p:spPr>
          <a:xfrm>
            <a:off x="7115175" y="4029074"/>
            <a:ext cx="171449" cy="304799"/>
          </a:xfrm>
          <a:prstGeom prst="rect">
            <a:avLst/>
          </a:prstGeom>
        </p:spPr>
      </p:pic>
      <p:sp>
        <p:nvSpPr>
          <p:cNvPr id="34" name="object 34"/>
          <p:cNvSpPr txBox="1"/>
          <p:nvPr/>
        </p:nvSpPr>
        <p:spPr>
          <a:xfrm>
            <a:off x="7388225" y="3903979"/>
            <a:ext cx="4284345" cy="482600"/>
          </a:xfrm>
          <a:prstGeom prst="rect">
            <a:avLst/>
          </a:prstGeom>
        </p:spPr>
        <p:txBody>
          <a:bodyPr vert="horz" wrap="square" lIns="0" tIns="12700" rIns="0" bIns="0" rtlCol="0">
            <a:spAutoFit/>
          </a:bodyPr>
          <a:lstStyle/>
          <a:p>
            <a:pPr marL="12700" marR="5080">
              <a:lnSpc>
                <a:spcPct val="125000"/>
              </a:lnSpc>
              <a:spcBef>
                <a:spcPts val="100"/>
              </a:spcBef>
            </a:pPr>
            <a:r>
              <a:rPr sz="1200" spc="-25" dirty="0">
                <a:solidFill>
                  <a:srgbClr val="374050"/>
                </a:solidFill>
                <a:latin typeface="PMingLiU"/>
                <a:cs typeface="PMingLiU"/>
              </a:rPr>
              <a:t>改善策としては，グローブボックス内に</a:t>
            </a:r>
            <a:r>
              <a:rPr sz="1200" spc="-35" dirty="0">
                <a:solidFill>
                  <a:srgbClr val="374050"/>
                </a:solidFill>
                <a:latin typeface="Arial"/>
                <a:cs typeface="Arial"/>
              </a:rPr>
              <a:t>FAN</a:t>
            </a:r>
            <a:r>
              <a:rPr sz="1200" spc="-25" dirty="0">
                <a:solidFill>
                  <a:srgbClr val="374050"/>
                </a:solidFill>
                <a:latin typeface="PMingLiU"/>
                <a:cs typeface="PMingLiU"/>
              </a:rPr>
              <a:t>の導入を検討し，</a:t>
            </a:r>
            <a:r>
              <a:rPr sz="1200" spc="-35" dirty="0">
                <a:solidFill>
                  <a:srgbClr val="374050"/>
                </a:solidFill>
                <a:latin typeface="PMingLiU"/>
                <a:cs typeface="PMingLiU"/>
              </a:rPr>
              <a:t>空気循環を改善することで，測定精度の向上が見込める。</a:t>
            </a:r>
            <a:endParaRPr sz="1200">
              <a:latin typeface="PMingLiU"/>
              <a:cs typeface="PMingLiU"/>
            </a:endParaRPr>
          </a:p>
        </p:txBody>
      </p:sp>
      <p:grpSp>
        <p:nvGrpSpPr>
          <p:cNvPr id="35" name="object 35"/>
          <p:cNvGrpSpPr/>
          <p:nvPr/>
        </p:nvGrpSpPr>
        <p:grpSpPr>
          <a:xfrm>
            <a:off x="6248398" y="4838699"/>
            <a:ext cx="5715000" cy="1352550"/>
            <a:chOff x="6248398" y="4838699"/>
            <a:chExt cx="5715000" cy="1352550"/>
          </a:xfrm>
        </p:grpSpPr>
        <p:sp>
          <p:nvSpPr>
            <p:cNvPr id="36" name="object 36"/>
            <p:cNvSpPr/>
            <p:nvPr/>
          </p:nvSpPr>
          <p:spPr>
            <a:xfrm>
              <a:off x="6253161" y="4843462"/>
              <a:ext cx="5705475" cy="1343025"/>
            </a:xfrm>
            <a:custGeom>
              <a:avLst/>
              <a:gdLst/>
              <a:ahLst/>
              <a:cxnLst/>
              <a:rect l="l" t="t" r="r" b="b"/>
              <a:pathLst>
                <a:path w="5705475" h="1343025">
                  <a:moveTo>
                    <a:pt x="5638726" y="1343024"/>
                  </a:moveTo>
                  <a:lnTo>
                    <a:pt x="66747" y="1343024"/>
                  </a:lnTo>
                  <a:lnTo>
                    <a:pt x="62102" y="1342567"/>
                  </a:lnTo>
                  <a:lnTo>
                    <a:pt x="24240" y="1325417"/>
                  </a:lnTo>
                  <a:lnTo>
                    <a:pt x="2287" y="1290123"/>
                  </a:lnTo>
                  <a:lnTo>
                    <a:pt x="0" y="1276276"/>
                  </a:lnTo>
                  <a:lnTo>
                    <a:pt x="0" y="1271587"/>
                  </a:lnTo>
                  <a:lnTo>
                    <a:pt x="0" y="66746"/>
                  </a:lnTo>
                  <a:lnTo>
                    <a:pt x="14645" y="27848"/>
                  </a:lnTo>
                  <a:lnTo>
                    <a:pt x="48433" y="3642"/>
                  </a:lnTo>
                  <a:lnTo>
                    <a:pt x="66747" y="0"/>
                  </a:lnTo>
                  <a:lnTo>
                    <a:pt x="5638726" y="0"/>
                  </a:lnTo>
                  <a:lnTo>
                    <a:pt x="5677624" y="14644"/>
                  </a:lnTo>
                  <a:lnTo>
                    <a:pt x="5701829" y="48432"/>
                  </a:lnTo>
                  <a:lnTo>
                    <a:pt x="5705475" y="66746"/>
                  </a:lnTo>
                  <a:lnTo>
                    <a:pt x="5705475" y="1276276"/>
                  </a:lnTo>
                  <a:lnTo>
                    <a:pt x="5690828" y="1315175"/>
                  </a:lnTo>
                  <a:lnTo>
                    <a:pt x="5657040" y="1339380"/>
                  </a:lnTo>
                  <a:lnTo>
                    <a:pt x="5643371" y="1342567"/>
                  </a:lnTo>
                  <a:lnTo>
                    <a:pt x="5638726" y="1343024"/>
                  </a:lnTo>
                  <a:close/>
                </a:path>
              </a:pathLst>
            </a:custGeom>
            <a:solidFill>
              <a:srgbClr val="FFFFFF">
                <a:alpha val="70199"/>
              </a:srgbClr>
            </a:solidFill>
          </p:spPr>
          <p:txBody>
            <a:bodyPr wrap="square" lIns="0" tIns="0" rIns="0" bIns="0" rtlCol="0"/>
            <a:lstStyle/>
            <a:p>
              <a:endParaRPr/>
            </a:p>
          </p:txBody>
        </p:sp>
        <p:sp>
          <p:nvSpPr>
            <p:cNvPr id="37" name="object 37"/>
            <p:cNvSpPr/>
            <p:nvPr/>
          </p:nvSpPr>
          <p:spPr>
            <a:xfrm>
              <a:off x="6253161" y="4843462"/>
              <a:ext cx="5705475" cy="1343025"/>
            </a:xfrm>
            <a:custGeom>
              <a:avLst/>
              <a:gdLst/>
              <a:ahLst/>
              <a:cxnLst/>
              <a:rect l="l" t="t" r="r" b="b"/>
              <a:pathLst>
                <a:path w="5705475" h="1343025">
                  <a:moveTo>
                    <a:pt x="0" y="1271587"/>
                  </a:moveTo>
                  <a:lnTo>
                    <a:pt x="0" y="71437"/>
                  </a:lnTo>
                  <a:lnTo>
                    <a:pt x="0" y="66746"/>
                  </a:lnTo>
                  <a:lnTo>
                    <a:pt x="457" y="62100"/>
                  </a:lnTo>
                  <a:lnTo>
                    <a:pt x="1372" y="57500"/>
                  </a:lnTo>
                  <a:lnTo>
                    <a:pt x="2287" y="52899"/>
                  </a:lnTo>
                  <a:lnTo>
                    <a:pt x="3642" y="48432"/>
                  </a:lnTo>
                  <a:lnTo>
                    <a:pt x="5438" y="44099"/>
                  </a:lnTo>
                  <a:lnTo>
                    <a:pt x="7232" y="39764"/>
                  </a:lnTo>
                  <a:lnTo>
                    <a:pt x="9433" y="35648"/>
                  </a:lnTo>
                  <a:lnTo>
                    <a:pt x="12039" y="31748"/>
                  </a:lnTo>
                  <a:lnTo>
                    <a:pt x="14645" y="27848"/>
                  </a:lnTo>
                  <a:lnTo>
                    <a:pt x="17607" y="24239"/>
                  </a:lnTo>
                  <a:lnTo>
                    <a:pt x="20923" y="20923"/>
                  </a:lnTo>
                  <a:lnTo>
                    <a:pt x="24240" y="17606"/>
                  </a:lnTo>
                  <a:lnTo>
                    <a:pt x="27848" y="14644"/>
                  </a:lnTo>
                  <a:lnTo>
                    <a:pt x="31748" y="12038"/>
                  </a:lnTo>
                  <a:lnTo>
                    <a:pt x="35648" y="9432"/>
                  </a:lnTo>
                  <a:lnTo>
                    <a:pt x="71438" y="0"/>
                  </a:lnTo>
                  <a:lnTo>
                    <a:pt x="5634037" y="0"/>
                  </a:lnTo>
                  <a:lnTo>
                    <a:pt x="5673724" y="12038"/>
                  </a:lnTo>
                  <a:lnTo>
                    <a:pt x="5700035" y="44099"/>
                  </a:lnTo>
                  <a:lnTo>
                    <a:pt x="5701829" y="48432"/>
                  </a:lnTo>
                  <a:lnTo>
                    <a:pt x="5703185" y="52899"/>
                  </a:lnTo>
                  <a:lnTo>
                    <a:pt x="5704101" y="57500"/>
                  </a:lnTo>
                  <a:lnTo>
                    <a:pt x="5705016" y="62100"/>
                  </a:lnTo>
                  <a:lnTo>
                    <a:pt x="5705475" y="66746"/>
                  </a:lnTo>
                  <a:lnTo>
                    <a:pt x="5705475" y="71437"/>
                  </a:lnTo>
                  <a:lnTo>
                    <a:pt x="5705475" y="1271587"/>
                  </a:lnTo>
                  <a:lnTo>
                    <a:pt x="5705475" y="1276277"/>
                  </a:lnTo>
                  <a:lnTo>
                    <a:pt x="5705016" y="1280922"/>
                  </a:lnTo>
                  <a:lnTo>
                    <a:pt x="5687866" y="1318784"/>
                  </a:lnTo>
                  <a:lnTo>
                    <a:pt x="5652573" y="1340736"/>
                  </a:lnTo>
                  <a:lnTo>
                    <a:pt x="5647972" y="1341651"/>
                  </a:lnTo>
                  <a:lnTo>
                    <a:pt x="5643371" y="1342567"/>
                  </a:lnTo>
                  <a:lnTo>
                    <a:pt x="5638726" y="1343024"/>
                  </a:lnTo>
                  <a:lnTo>
                    <a:pt x="5634037" y="1343024"/>
                  </a:lnTo>
                  <a:lnTo>
                    <a:pt x="71438" y="1343024"/>
                  </a:lnTo>
                  <a:lnTo>
                    <a:pt x="66747" y="1343024"/>
                  </a:lnTo>
                  <a:lnTo>
                    <a:pt x="62102" y="1342567"/>
                  </a:lnTo>
                  <a:lnTo>
                    <a:pt x="24240" y="1325417"/>
                  </a:lnTo>
                  <a:lnTo>
                    <a:pt x="20923" y="1322101"/>
                  </a:lnTo>
                  <a:lnTo>
                    <a:pt x="17607" y="1318784"/>
                  </a:lnTo>
                  <a:lnTo>
                    <a:pt x="5438" y="1298924"/>
                  </a:lnTo>
                  <a:lnTo>
                    <a:pt x="3642" y="1294590"/>
                  </a:lnTo>
                  <a:lnTo>
                    <a:pt x="2287" y="1290123"/>
                  </a:lnTo>
                  <a:lnTo>
                    <a:pt x="1372" y="1285523"/>
                  </a:lnTo>
                  <a:lnTo>
                    <a:pt x="457" y="1280922"/>
                  </a:lnTo>
                  <a:lnTo>
                    <a:pt x="0" y="1276277"/>
                  </a:lnTo>
                  <a:lnTo>
                    <a:pt x="0" y="1271587"/>
                  </a:lnTo>
                  <a:close/>
                </a:path>
              </a:pathLst>
            </a:custGeom>
            <a:ln w="9524">
              <a:solidFill>
                <a:srgbClr val="66CCFF"/>
              </a:solidFill>
            </a:ln>
          </p:spPr>
          <p:txBody>
            <a:bodyPr wrap="square" lIns="0" tIns="0" rIns="0" bIns="0" rtlCol="0"/>
            <a:lstStyle/>
            <a:p>
              <a:endParaRPr/>
            </a:p>
          </p:txBody>
        </p:sp>
        <p:sp>
          <p:nvSpPr>
            <p:cNvPr id="38" name="object 38"/>
            <p:cNvSpPr/>
            <p:nvPr/>
          </p:nvSpPr>
          <p:spPr>
            <a:xfrm>
              <a:off x="6410324" y="5000625"/>
              <a:ext cx="476250" cy="476250"/>
            </a:xfrm>
            <a:custGeom>
              <a:avLst/>
              <a:gdLst/>
              <a:ahLst/>
              <a:cxnLst/>
              <a:rect l="l" t="t" r="r" b="b"/>
              <a:pathLst>
                <a:path w="476250" h="476250">
                  <a:moveTo>
                    <a:pt x="245923" y="476249"/>
                  </a:moveTo>
                  <a:lnTo>
                    <a:pt x="230326" y="476249"/>
                  </a:lnTo>
                  <a:lnTo>
                    <a:pt x="222546" y="475867"/>
                  </a:lnTo>
                  <a:lnTo>
                    <a:pt x="184019" y="470152"/>
                  </a:lnTo>
                  <a:lnTo>
                    <a:pt x="139792" y="455138"/>
                  </a:lnTo>
                  <a:lnTo>
                    <a:pt x="99344" y="431785"/>
                  </a:lnTo>
                  <a:lnTo>
                    <a:pt x="64229" y="400989"/>
                  </a:lnTo>
                  <a:lnTo>
                    <a:pt x="35797" y="363934"/>
                  </a:lnTo>
                  <a:lnTo>
                    <a:pt x="15140" y="322045"/>
                  </a:lnTo>
                  <a:lnTo>
                    <a:pt x="3053" y="276931"/>
                  </a:lnTo>
                  <a:lnTo>
                    <a:pt x="0" y="245923"/>
                  </a:lnTo>
                  <a:lnTo>
                    <a:pt x="0" y="230325"/>
                  </a:lnTo>
                  <a:lnTo>
                    <a:pt x="6096" y="184018"/>
                  </a:lnTo>
                  <a:lnTo>
                    <a:pt x="21109" y="139792"/>
                  </a:lnTo>
                  <a:lnTo>
                    <a:pt x="44462" y="99345"/>
                  </a:lnTo>
                  <a:lnTo>
                    <a:pt x="75259" y="64230"/>
                  </a:lnTo>
                  <a:lnTo>
                    <a:pt x="112314" y="35797"/>
                  </a:lnTo>
                  <a:lnTo>
                    <a:pt x="154202" y="15140"/>
                  </a:lnTo>
                  <a:lnTo>
                    <a:pt x="199318" y="3053"/>
                  </a:lnTo>
                  <a:lnTo>
                    <a:pt x="230326" y="0"/>
                  </a:lnTo>
                  <a:lnTo>
                    <a:pt x="245923" y="0"/>
                  </a:lnTo>
                  <a:lnTo>
                    <a:pt x="292229" y="6096"/>
                  </a:lnTo>
                  <a:lnTo>
                    <a:pt x="336456" y="21109"/>
                  </a:lnTo>
                  <a:lnTo>
                    <a:pt x="376904" y="44463"/>
                  </a:lnTo>
                  <a:lnTo>
                    <a:pt x="412018" y="75259"/>
                  </a:lnTo>
                  <a:lnTo>
                    <a:pt x="440451" y="112314"/>
                  </a:lnTo>
                  <a:lnTo>
                    <a:pt x="461107" y="154203"/>
                  </a:lnTo>
                  <a:lnTo>
                    <a:pt x="473195" y="199317"/>
                  </a:lnTo>
                  <a:lnTo>
                    <a:pt x="476250" y="230325"/>
                  </a:lnTo>
                  <a:lnTo>
                    <a:pt x="476249" y="238124"/>
                  </a:lnTo>
                  <a:lnTo>
                    <a:pt x="476250" y="245923"/>
                  </a:lnTo>
                  <a:lnTo>
                    <a:pt x="470152" y="292229"/>
                  </a:lnTo>
                  <a:lnTo>
                    <a:pt x="455138" y="336455"/>
                  </a:lnTo>
                  <a:lnTo>
                    <a:pt x="431785" y="376903"/>
                  </a:lnTo>
                  <a:lnTo>
                    <a:pt x="400989" y="412018"/>
                  </a:lnTo>
                  <a:lnTo>
                    <a:pt x="363935" y="440451"/>
                  </a:lnTo>
                  <a:lnTo>
                    <a:pt x="322046" y="461107"/>
                  </a:lnTo>
                  <a:lnTo>
                    <a:pt x="276931" y="473194"/>
                  </a:lnTo>
                  <a:lnTo>
                    <a:pt x="253704" y="475867"/>
                  </a:lnTo>
                  <a:lnTo>
                    <a:pt x="245923" y="476249"/>
                  </a:lnTo>
                  <a:close/>
                </a:path>
              </a:pathLst>
            </a:custGeom>
            <a:solidFill>
              <a:srgbClr val="003366"/>
            </a:solidFill>
          </p:spPr>
          <p:txBody>
            <a:bodyPr wrap="square" lIns="0" tIns="0" rIns="0" bIns="0" rtlCol="0"/>
            <a:lstStyle/>
            <a:p>
              <a:endParaRPr/>
            </a:p>
          </p:txBody>
        </p:sp>
        <p:pic>
          <p:nvPicPr>
            <p:cNvPr id="39" name="object 39"/>
            <p:cNvPicPr/>
            <p:nvPr/>
          </p:nvPicPr>
          <p:blipFill>
            <a:blip r:embed="rId9" cstate="print"/>
            <a:stretch>
              <a:fillRect/>
            </a:stretch>
          </p:blipFill>
          <p:spPr>
            <a:xfrm>
              <a:off x="6553199" y="5143499"/>
              <a:ext cx="190499" cy="190499"/>
            </a:xfrm>
            <a:prstGeom prst="rect">
              <a:avLst/>
            </a:prstGeom>
          </p:spPr>
        </p:pic>
      </p:grpSp>
      <p:sp>
        <p:nvSpPr>
          <p:cNvPr id="40" name="object 40"/>
          <p:cNvSpPr txBox="1"/>
          <p:nvPr/>
        </p:nvSpPr>
        <p:spPr>
          <a:xfrm>
            <a:off x="6988175" y="4968614"/>
            <a:ext cx="4772025" cy="1037590"/>
          </a:xfrm>
          <a:prstGeom prst="rect">
            <a:avLst/>
          </a:prstGeom>
        </p:spPr>
        <p:txBody>
          <a:bodyPr vert="horz" wrap="square" lIns="0" tIns="15875" rIns="0" bIns="0" rtlCol="0">
            <a:spAutoFit/>
          </a:bodyPr>
          <a:lstStyle/>
          <a:p>
            <a:pPr marL="12700">
              <a:lnSpc>
                <a:spcPct val="100000"/>
              </a:lnSpc>
              <a:spcBef>
                <a:spcPts val="125"/>
              </a:spcBef>
            </a:pPr>
            <a:r>
              <a:rPr sz="1600" spc="-120" dirty="0">
                <a:solidFill>
                  <a:srgbClr val="003366"/>
                </a:solidFill>
                <a:latin typeface="SimSun"/>
                <a:cs typeface="SimSun"/>
              </a:rPr>
              <a:t>次</a:t>
            </a:r>
            <a:r>
              <a:rPr sz="1400" spc="85" dirty="0">
                <a:solidFill>
                  <a:srgbClr val="003366"/>
                </a:solidFill>
                <a:latin typeface="PMingLiU"/>
                <a:cs typeface="PMingLiU"/>
              </a:rPr>
              <a:t>の</a:t>
            </a:r>
            <a:r>
              <a:rPr sz="1550" spc="-70" dirty="0">
                <a:solidFill>
                  <a:srgbClr val="003366"/>
                </a:solidFill>
                <a:latin typeface="PMingLiU"/>
                <a:cs typeface="PMingLiU"/>
              </a:rPr>
              <a:t>研</a:t>
            </a:r>
            <a:r>
              <a:rPr sz="1700" spc="-210" dirty="0">
                <a:solidFill>
                  <a:srgbClr val="003366"/>
                </a:solidFill>
                <a:latin typeface="SimSun"/>
                <a:cs typeface="SimSun"/>
              </a:rPr>
              <a:t>究方</a:t>
            </a:r>
            <a:r>
              <a:rPr sz="1650" spc="-500" dirty="0">
                <a:solidFill>
                  <a:srgbClr val="003366"/>
                </a:solidFill>
                <a:latin typeface="SimSun"/>
                <a:cs typeface="SimSun"/>
              </a:rPr>
              <a:t>向</a:t>
            </a:r>
            <a:endParaRPr sz="1650">
              <a:latin typeface="SimSun"/>
              <a:cs typeface="SimSun"/>
            </a:endParaRPr>
          </a:p>
          <a:p>
            <a:pPr marL="12700" marR="5080" algn="just">
              <a:lnSpc>
                <a:spcPct val="125000"/>
              </a:lnSpc>
              <a:spcBef>
                <a:spcPts val="500"/>
              </a:spcBef>
            </a:pPr>
            <a:r>
              <a:rPr sz="1200" spc="-35" dirty="0">
                <a:solidFill>
                  <a:srgbClr val="374050"/>
                </a:solidFill>
                <a:latin typeface="PMingLiU"/>
                <a:cs typeface="PMingLiU"/>
              </a:rPr>
              <a:t>測定点を増やしたさらなる高精度の検量線の算出が求められます。そ</a:t>
            </a:r>
            <a:r>
              <a:rPr sz="1200" spc="-20" dirty="0">
                <a:solidFill>
                  <a:srgbClr val="374050"/>
                </a:solidFill>
                <a:latin typeface="PMingLiU"/>
                <a:cs typeface="PMingLiU"/>
              </a:rPr>
              <a:t>のためには，両インターフェログラム</a:t>
            </a:r>
            <a:r>
              <a:rPr sz="1200" spc="-130" dirty="0">
                <a:solidFill>
                  <a:srgbClr val="374050"/>
                </a:solidFill>
                <a:latin typeface="Cambria"/>
                <a:cs typeface="Cambria"/>
              </a:rPr>
              <a:t>𝐼𝑟𝑒𝑓</a:t>
            </a:r>
            <a:r>
              <a:rPr sz="1200" spc="-130" dirty="0">
                <a:solidFill>
                  <a:srgbClr val="374050"/>
                </a:solidFill>
                <a:latin typeface="Arial"/>
                <a:cs typeface="Arial"/>
              </a:rPr>
              <a:t>(</a:t>
            </a:r>
            <a:r>
              <a:rPr sz="1200" spc="-130" dirty="0">
                <a:solidFill>
                  <a:srgbClr val="374050"/>
                </a:solidFill>
                <a:latin typeface="Cambria"/>
                <a:cs typeface="Cambria"/>
              </a:rPr>
              <a:t>𝑡</a:t>
            </a:r>
            <a:r>
              <a:rPr sz="1200" spc="-130" dirty="0">
                <a:solidFill>
                  <a:srgbClr val="374050"/>
                </a:solidFill>
                <a:latin typeface="Arial"/>
                <a:cs typeface="Arial"/>
              </a:rPr>
              <a:t>)</a:t>
            </a:r>
            <a:r>
              <a:rPr sz="1200" spc="-10" dirty="0">
                <a:solidFill>
                  <a:srgbClr val="374050"/>
                </a:solidFill>
                <a:latin typeface="PMingLiU"/>
                <a:cs typeface="PMingLiU"/>
              </a:rPr>
              <a:t>と</a:t>
            </a:r>
            <a:r>
              <a:rPr sz="1200" spc="-85" dirty="0">
                <a:solidFill>
                  <a:srgbClr val="374050"/>
                </a:solidFill>
                <a:latin typeface="Cambria"/>
                <a:cs typeface="Cambria"/>
              </a:rPr>
              <a:t>𝐼𝑠𝑎𝑚</a:t>
            </a:r>
            <a:r>
              <a:rPr sz="1200" spc="-85" dirty="0">
                <a:solidFill>
                  <a:srgbClr val="374050"/>
                </a:solidFill>
                <a:latin typeface="Arial"/>
                <a:cs typeface="Arial"/>
              </a:rPr>
              <a:t>(</a:t>
            </a:r>
            <a:r>
              <a:rPr sz="1200" spc="-85" dirty="0">
                <a:solidFill>
                  <a:srgbClr val="374050"/>
                </a:solidFill>
                <a:latin typeface="Cambria"/>
                <a:cs typeface="Cambria"/>
              </a:rPr>
              <a:t>𝑡</a:t>
            </a:r>
            <a:r>
              <a:rPr sz="1200" spc="-85" dirty="0">
                <a:solidFill>
                  <a:srgbClr val="374050"/>
                </a:solidFill>
                <a:latin typeface="Arial"/>
                <a:cs typeface="Arial"/>
              </a:rPr>
              <a:t>)</a:t>
            </a:r>
            <a:r>
              <a:rPr sz="1200" spc="-15" dirty="0">
                <a:solidFill>
                  <a:srgbClr val="374050"/>
                </a:solidFill>
                <a:latin typeface="PMingLiU"/>
                <a:cs typeface="PMingLiU"/>
              </a:rPr>
              <a:t>の精度向上が必要</a:t>
            </a:r>
            <a:r>
              <a:rPr sz="1200" spc="-30" dirty="0">
                <a:solidFill>
                  <a:srgbClr val="374050"/>
                </a:solidFill>
                <a:latin typeface="PMingLiU"/>
                <a:cs typeface="PMingLiU"/>
              </a:rPr>
              <a:t>です。</a:t>
            </a:r>
            <a:endParaRPr sz="1200">
              <a:latin typeface="PMingLiU"/>
              <a:cs typeface="PMingLiU"/>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781800"/>
          </a:xfrm>
          <a:custGeom>
            <a:avLst/>
            <a:gdLst/>
            <a:ahLst/>
            <a:cxnLst/>
            <a:rect l="l" t="t" r="r" b="b"/>
            <a:pathLst>
              <a:path w="12192000" h="6896100">
                <a:moveTo>
                  <a:pt x="12191999" y="6896099"/>
                </a:moveTo>
                <a:lnTo>
                  <a:pt x="0" y="6896099"/>
                </a:lnTo>
                <a:lnTo>
                  <a:pt x="0" y="0"/>
                </a:lnTo>
                <a:lnTo>
                  <a:pt x="12191999" y="0"/>
                </a:lnTo>
                <a:lnTo>
                  <a:pt x="12191999" y="6896099"/>
                </a:lnTo>
                <a:close/>
              </a:path>
            </a:pathLst>
          </a:custGeom>
          <a:solidFill>
            <a:srgbClr val="F2F4F5"/>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2191999" cy="647699"/>
          </a:xfrm>
          <a:prstGeom prst="rect">
            <a:avLst/>
          </a:prstGeom>
        </p:spPr>
      </p:pic>
      <p:sp>
        <p:nvSpPr>
          <p:cNvPr id="4" name="object 4"/>
          <p:cNvSpPr txBox="1">
            <a:spLocks noGrp="1"/>
          </p:cNvSpPr>
          <p:nvPr>
            <p:ph type="title"/>
          </p:nvPr>
        </p:nvSpPr>
        <p:spPr>
          <a:xfrm>
            <a:off x="292099" y="83815"/>
            <a:ext cx="4267835" cy="412750"/>
          </a:xfrm>
          <a:prstGeom prst="rect">
            <a:avLst/>
          </a:prstGeom>
        </p:spPr>
        <p:txBody>
          <a:bodyPr vert="horz" wrap="square" lIns="0" tIns="11430" rIns="0" bIns="0" rtlCol="0">
            <a:spAutoFit/>
          </a:bodyPr>
          <a:lstStyle/>
          <a:p>
            <a:pPr marL="12700">
              <a:lnSpc>
                <a:spcPct val="100000"/>
              </a:lnSpc>
              <a:spcBef>
                <a:spcPts val="90"/>
              </a:spcBef>
            </a:pPr>
            <a:r>
              <a:rPr sz="2450" spc="-229" dirty="0"/>
              <a:t>結</a:t>
            </a:r>
            <a:r>
              <a:rPr sz="2400" spc="-175" dirty="0"/>
              <a:t>果</a:t>
            </a:r>
            <a:r>
              <a:rPr sz="2500" spc="-509" dirty="0">
                <a:latin typeface="Calibri"/>
                <a:cs typeface="Calibri"/>
              </a:rPr>
              <a:t>②</a:t>
            </a:r>
            <a:r>
              <a:rPr sz="2150" spc="-509" dirty="0"/>
              <a:t>：</a:t>
            </a:r>
            <a:r>
              <a:rPr sz="2500" spc="-275" dirty="0">
                <a:latin typeface="SimSun"/>
                <a:cs typeface="SimSun"/>
              </a:rPr>
              <a:t>検</a:t>
            </a:r>
            <a:r>
              <a:rPr sz="2400" spc="-175" dirty="0"/>
              <a:t>量</a:t>
            </a:r>
            <a:r>
              <a:rPr sz="2450" spc="-229" dirty="0"/>
              <a:t>線</a:t>
            </a:r>
            <a:r>
              <a:rPr sz="2200" spc="105" dirty="0"/>
              <a:t>と</a:t>
            </a:r>
            <a:r>
              <a:rPr b="1" dirty="0">
                <a:latin typeface="Arial"/>
                <a:cs typeface="Arial"/>
              </a:rPr>
              <a:t>1.40THz</a:t>
            </a:r>
            <a:r>
              <a:rPr sz="2200" spc="105" dirty="0"/>
              <a:t>の</a:t>
            </a:r>
            <a:r>
              <a:rPr sz="2500" spc="-275" dirty="0">
                <a:latin typeface="SimSun"/>
                <a:cs typeface="SimSun"/>
              </a:rPr>
              <a:t>検</a:t>
            </a:r>
            <a:r>
              <a:rPr sz="2550" spc="-360" dirty="0">
                <a:latin typeface="SimSun"/>
                <a:cs typeface="SimSun"/>
              </a:rPr>
              <a:t>討</a:t>
            </a:r>
            <a:endParaRPr sz="2550">
              <a:latin typeface="SimSun"/>
              <a:cs typeface="SimSun"/>
            </a:endParaRPr>
          </a:p>
        </p:txBody>
      </p:sp>
      <p:sp>
        <p:nvSpPr>
          <p:cNvPr id="5" name="object 5"/>
          <p:cNvSpPr txBox="1"/>
          <p:nvPr/>
        </p:nvSpPr>
        <p:spPr>
          <a:xfrm>
            <a:off x="11609585" y="187325"/>
            <a:ext cx="290830" cy="254000"/>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Arial"/>
                <a:cs typeface="Arial"/>
              </a:rPr>
              <a:t>7/9</a:t>
            </a:r>
            <a:endParaRPr sz="1500">
              <a:latin typeface="Arial"/>
              <a:cs typeface="Arial"/>
            </a:endParaRPr>
          </a:p>
        </p:txBody>
      </p:sp>
      <p:grpSp>
        <p:nvGrpSpPr>
          <p:cNvPr id="6" name="object 6"/>
          <p:cNvGrpSpPr/>
          <p:nvPr/>
        </p:nvGrpSpPr>
        <p:grpSpPr>
          <a:xfrm>
            <a:off x="228599" y="876299"/>
            <a:ext cx="5715000" cy="3009900"/>
            <a:chOff x="228599" y="876299"/>
            <a:chExt cx="5715000" cy="3009900"/>
          </a:xfrm>
        </p:grpSpPr>
        <p:sp>
          <p:nvSpPr>
            <p:cNvPr id="7" name="object 7"/>
            <p:cNvSpPr/>
            <p:nvPr/>
          </p:nvSpPr>
          <p:spPr>
            <a:xfrm>
              <a:off x="228599" y="876299"/>
              <a:ext cx="5715000" cy="3009900"/>
            </a:xfrm>
            <a:custGeom>
              <a:avLst/>
              <a:gdLst/>
              <a:ahLst/>
              <a:cxnLst/>
              <a:rect l="l" t="t" r="r" b="b"/>
              <a:pathLst>
                <a:path w="5715000" h="3009900">
                  <a:moveTo>
                    <a:pt x="5714999" y="3009899"/>
                  </a:moveTo>
                  <a:lnTo>
                    <a:pt x="0" y="3009899"/>
                  </a:lnTo>
                  <a:lnTo>
                    <a:pt x="0" y="0"/>
                  </a:lnTo>
                  <a:lnTo>
                    <a:pt x="5714999" y="0"/>
                  </a:lnTo>
                  <a:lnTo>
                    <a:pt x="5714999" y="3009899"/>
                  </a:lnTo>
                  <a:close/>
                </a:path>
              </a:pathLst>
            </a:custGeom>
            <a:solidFill>
              <a:srgbClr val="FFFFFF">
                <a:alpha val="90199"/>
              </a:srgbClr>
            </a:solidFill>
          </p:spPr>
          <p:txBody>
            <a:bodyPr wrap="square" lIns="0" tIns="0" rIns="0" bIns="0" rtlCol="0"/>
            <a:lstStyle/>
            <a:p>
              <a:endParaRPr/>
            </a:p>
          </p:txBody>
        </p:sp>
        <p:sp>
          <p:nvSpPr>
            <p:cNvPr id="8" name="object 8"/>
            <p:cNvSpPr/>
            <p:nvPr/>
          </p:nvSpPr>
          <p:spPr>
            <a:xfrm>
              <a:off x="228599" y="876299"/>
              <a:ext cx="38100" cy="3009900"/>
            </a:xfrm>
            <a:custGeom>
              <a:avLst/>
              <a:gdLst/>
              <a:ahLst/>
              <a:cxnLst/>
              <a:rect l="l" t="t" r="r" b="b"/>
              <a:pathLst>
                <a:path w="38100" h="3009900">
                  <a:moveTo>
                    <a:pt x="38099" y="3009899"/>
                  </a:moveTo>
                  <a:lnTo>
                    <a:pt x="0" y="3009899"/>
                  </a:lnTo>
                  <a:lnTo>
                    <a:pt x="0" y="0"/>
                  </a:lnTo>
                  <a:lnTo>
                    <a:pt x="38099" y="0"/>
                  </a:lnTo>
                  <a:lnTo>
                    <a:pt x="38099" y="3009899"/>
                  </a:lnTo>
                  <a:close/>
                </a:path>
              </a:pathLst>
            </a:custGeom>
            <a:solidFill>
              <a:srgbClr val="FF9900"/>
            </a:solidFill>
          </p:spPr>
          <p:txBody>
            <a:bodyPr wrap="square" lIns="0" tIns="0" rIns="0" bIns="0" rtlCol="0"/>
            <a:lstStyle/>
            <a:p>
              <a:endParaRPr/>
            </a:p>
          </p:txBody>
        </p:sp>
        <p:sp>
          <p:nvSpPr>
            <p:cNvPr id="9" name="object 9"/>
            <p:cNvSpPr/>
            <p:nvPr/>
          </p:nvSpPr>
          <p:spPr>
            <a:xfrm>
              <a:off x="457199" y="1866899"/>
              <a:ext cx="5295900" cy="1104900"/>
            </a:xfrm>
            <a:custGeom>
              <a:avLst/>
              <a:gdLst/>
              <a:ahLst/>
              <a:cxnLst/>
              <a:rect l="l" t="t" r="r" b="b"/>
              <a:pathLst>
                <a:path w="5295900" h="1104900">
                  <a:moveTo>
                    <a:pt x="5295899" y="1104899"/>
                  </a:moveTo>
                  <a:lnTo>
                    <a:pt x="0" y="1104899"/>
                  </a:lnTo>
                  <a:lnTo>
                    <a:pt x="0" y="0"/>
                  </a:lnTo>
                  <a:lnTo>
                    <a:pt x="5295899" y="0"/>
                  </a:lnTo>
                  <a:lnTo>
                    <a:pt x="5295899" y="1104899"/>
                  </a:lnTo>
                  <a:close/>
                </a:path>
              </a:pathLst>
            </a:custGeom>
            <a:solidFill>
              <a:srgbClr val="F0F6FF"/>
            </a:solidFill>
          </p:spPr>
          <p:txBody>
            <a:bodyPr wrap="square" lIns="0" tIns="0" rIns="0" bIns="0" rtlCol="0"/>
            <a:lstStyle/>
            <a:p>
              <a:endParaRPr/>
            </a:p>
          </p:txBody>
        </p:sp>
        <p:sp>
          <p:nvSpPr>
            <p:cNvPr id="10" name="object 10"/>
            <p:cNvSpPr/>
            <p:nvPr/>
          </p:nvSpPr>
          <p:spPr>
            <a:xfrm>
              <a:off x="457199" y="1866899"/>
              <a:ext cx="38100" cy="1104900"/>
            </a:xfrm>
            <a:custGeom>
              <a:avLst/>
              <a:gdLst/>
              <a:ahLst/>
              <a:cxnLst/>
              <a:rect l="l" t="t" r="r" b="b"/>
              <a:pathLst>
                <a:path w="38100" h="1104900">
                  <a:moveTo>
                    <a:pt x="38099" y="1104899"/>
                  </a:moveTo>
                  <a:lnTo>
                    <a:pt x="0" y="1104899"/>
                  </a:lnTo>
                  <a:lnTo>
                    <a:pt x="0" y="0"/>
                  </a:lnTo>
                  <a:lnTo>
                    <a:pt x="38099" y="0"/>
                  </a:lnTo>
                  <a:lnTo>
                    <a:pt x="38099" y="1104899"/>
                  </a:lnTo>
                  <a:close/>
                </a:path>
              </a:pathLst>
            </a:custGeom>
            <a:solidFill>
              <a:srgbClr val="003366"/>
            </a:solidFill>
          </p:spPr>
          <p:txBody>
            <a:bodyPr wrap="square" lIns="0" tIns="0" rIns="0" bIns="0" rtlCol="0"/>
            <a:lstStyle/>
            <a:p>
              <a:endParaRPr/>
            </a:p>
          </p:txBody>
        </p:sp>
        <p:pic>
          <p:nvPicPr>
            <p:cNvPr id="11" name="object 11"/>
            <p:cNvPicPr/>
            <p:nvPr/>
          </p:nvPicPr>
          <p:blipFill>
            <a:blip r:embed="rId3" cstate="print"/>
            <a:stretch>
              <a:fillRect/>
            </a:stretch>
          </p:blipFill>
          <p:spPr>
            <a:xfrm>
              <a:off x="457199" y="1104899"/>
              <a:ext cx="228599" cy="228599"/>
            </a:xfrm>
            <a:prstGeom prst="rect">
              <a:avLst/>
            </a:prstGeom>
          </p:spPr>
        </p:pic>
      </p:grpSp>
      <p:sp>
        <p:nvSpPr>
          <p:cNvPr id="12" name="object 12"/>
          <p:cNvSpPr txBox="1"/>
          <p:nvPr/>
        </p:nvSpPr>
        <p:spPr>
          <a:xfrm>
            <a:off x="495299" y="1936220"/>
            <a:ext cx="5257800" cy="854075"/>
          </a:xfrm>
          <a:prstGeom prst="rect">
            <a:avLst/>
          </a:prstGeom>
        </p:spPr>
        <p:txBody>
          <a:bodyPr vert="horz" wrap="square" lIns="0" tIns="76835" rIns="0" bIns="0" rtlCol="0">
            <a:spAutoFit/>
          </a:bodyPr>
          <a:lstStyle/>
          <a:p>
            <a:pPr marL="152400">
              <a:lnSpc>
                <a:spcPct val="100000"/>
              </a:lnSpc>
              <a:spcBef>
                <a:spcPts val="605"/>
              </a:spcBef>
            </a:pPr>
            <a:r>
              <a:rPr sz="1500" spc="-150" dirty="0">
                <a:solidFill>
                  <a:srgbClr val="003366"/>
                </a:solidFill>
                <a:latin typeface="SimSun"/>
                <a:cs typeface="SimSun"/>
              </a:rPr>
              <a:t>決</a:t>
            </a:r>
            <a:r>
              <a:rPr sz="1550" spc="-210" dirty="0">
                <a:solidFill>
                  <a:srgbClr val="003366"/>
                </a:solidFill>
                <a:latin typeface="SimSun"/>
                <a:cs typeface="SimSun"/>
              </a:rPr>
              <a:t>定</a:t>
            </a:r>
            <a:r>
              <a:rPr sz="1500" spc="-150" dirty="0">
                <a:solidFill>
                  <a:srgbClr val="003366"/>
                </a:solidFill>
                <a:latin typeface="SimSun"/>
                <a:cs typeface="SimSun"/>
              </a:rPr>
              <a:t>係</a:t>
            </a:r>
            <a:r>
              <a:rPr sz="1450" spc="-225" dirty="0">
                <a:solidFill>
                  <a:srgbClr val="003366"/>
                </a:solidFill>
                <a:latin typeface="SimSun"/>
                <a:cs typeface="SimSun"/>
              </a:rPr>
              <a:t>数 </a:t>
            </a:r>
            <a:r>
              <a:rPr sz="1350" b="1" spc="-25" dirty="0">
                <a:solidFill>
                  <a:srgbClr val="003366"/>
                </a:solidFill>
                <a:latin typeface="Arial"/>
                <a:cs typeface="Arial"/>
              </a:rPr>
              <a:t>R²</a:t>
            </a:r>
            <a:endParaRPr sz="1350">
              <a:latin typeface="Arial"/>
              <a:cs typeface="Arial"/>
            </a:endParaRPr>
          </a:p>
          <a:p>
            <a:pPr marL="152400" marR="249554">
              <a:lnSpc>
                <a:spcPts val="2100"/>
              </a:lnSpc>
              <a:spcBef>
                <a:spcPts val="60"/>
              </a:spcBef>
            </a:pPr>
            <a:r>
              <a:rPr sz="1350" dirty="0">
                <a:solidFill>
                  <a:srgbClr val="374050"/>
                </a:solidFill>
                <a:latin typeface="Arial"/>
                <a:cs typeface="Arial"/>
              </a:rPr>
              <a:t>0~1</a:t>
            </a:r>
            <a:r>
              <a:rPr sz="1350" spc="-15" dirty="0">
                <a:solidFill>
                  <a:srgbClr val="374050"/>
                </a:solidFill>
                <a:latin typeface="PMingLiU"/>
                <a:cs typeface="PMingLiU"/>
              </a:rPr>
              <a:t>の値をとり，</a:t>
            </a:r>
            <a:r>
              <a:rPr sz="1350" dirty="0">
                <a:solidFill>
                  <a:srgbClr val="374050"/>
                </a:solidFill>
                <a:latin typeface="Arial"/>
                <a:cs typeface="Arial"/>
              </a:rPr>
              <a:t>1</a:t>
            </a:r>
            <a:r>
              <a:rPr sz="1350" spc="-35" dirty="0">
                <a:solidFill>
                  <a:srgbClr val="374050"/>
                </a:solidFill>
                <a:latin typeface="PMingLiU"/>
                <a:cs typeface="PMingLiU"/>
              </a:rPr>
              <a:t>に近いほど検量線の精度が高いことを意味す</a:t>
            </a:r>
            <a:r>
              <a:rPr sz="1350" spc="-30" dirty="0">
                <a:solidFill>
                  <a:srgbClr val="374050"/>
                </a:solidFill>
                <a:latin typeface="PMingLiU"/>
                <a:cs typeface="PMingLiU"/>
              </a:rPr>
              <a:t>る。</a:t>
            </a:r>
            <a:endParaRPr sz="1350">
              <a:latin typeface="PMingLiU"/>
              <a:cs typeface="PMingLiU"/>
            </a:endParaRPr>
          </a:p>
        </p:txBody>
      </p:sp>
      <p:grpSp>
        <p:nvGrpSpPr>
          <p:cNvPr id="13" name="object 13"/>
          <p:cNvGrpSpPr/>
          <p:nvPr/>
        </p:nvGrpSpPr>
        <p:grpSpPr>
          <a:xfrm>
            <a:off x="457199" y="3162299"/>
            <a:ext cx="219075" cy="381000"/>
            <a:chOff x="457199" y="3162299"/>
            <a:chExt cx="219075" cy="381000"/>
          </a:xfrm>
        </p:grpSpPr>
        <p:sp>
          <p:nvSpPr>
            <p:cNvPr id="14" name="object 14"/>
            <p:cNvSpPr/>
            <p:nvPr/>
          </p:nvSpPr>
          <p:spPr>
            <a:xfrm>
              <a:off x="457199" y="3162299"/>
              <a:ext cx="219075" cy="381000"/>
            </a:xfrm>
            <a:custGeom>
              <a:avLst/>
              <a:gdLst/>
              <a:ahLst/>
              <a:cxnLst/>
              <a:rect l="l" t="t" r="r" b="b"/>
              <a:pathLst>
                <a:path w="219075" h="381000">
                  <a:moveTo>
                    <a:pt x="116729" y="380999"/>
                  </a:moveTo>
                  <a:lnTo>
                    <a:pt x="102345" y="380999"/>
                  </a:lnTo>
                  <a:lnTo>
                    <a:pt x="95221" y="379790"/>
                  </a:lnTo>
                  <a:lnTo>
                    <a:pt x="57901" y="358704"/>
                  </a:lnTo>
                  <a:lnTo>
                    <a:pt x="32082" y="325692"/>
                  </a:lnTo>
                  <a:lnTo>
                    <a:pt x="15580" y="289237"/>
                  </a:lnTo>
                  <a:lnTo>
                    <a:pt x="4715" y="246983"/>
                  </a:lnTo>
                  <a:lnTo>
                    <a:pt x="131" y="201444"/>
                  </a:lnTo>
                  <a:lnTo>
                    <a:pt x="0" y="192167"/>
                  </a:lnTo>
                  <a:lnTo>
                    <a:pt x="131" y="179555"/>
                  </a:lnTo>
                  <a:lnTo>
                    <a:pt x="4715" y="134016"/>
                  </a:lnTo>
                  <a:lnTo>
                    <a:pt x="15580" y="91761"/>
                  </a:lnTo>
                  <a:lnTo>
                    <a:pt x="32082" y="55307"/>
                  </a:lnTo>
                  <a:lnTo>
                    <a:pt x="57901" y="22294"/>
                  </a:lnTo>
                  <a:lnTo>
                    <a:pt x="95221" y="1209"/>
                  </a:lnTo>
                  <a:lnTo>
                    <a:pt x="102345" y="0"/>
                  </a:lnTo>
                  <a:lnTo>
                    <a:pt x="116729" y="0"/>
                  </a:lnTo>
                  <a:lnTo>
                    <a:pt x="156376" y="18133"/>
                  </a:lnTo>
                  <a:lnTo>
                    <a:pt x="183093" y="48908"/>
                  </a:lnTo>
                  <a:lnTo>
                    <a:pt x="200614" y="83922"/>
                  </a:lnTo>
                  <a:lnTo>
                    <a:pt x="212674" y="125226"/>
                  </a:lnTo>
                  <a:lnTo>
                    <a:pt x="218548" y="170323"/>
                  </a:lnTo>
                  <a:lnTo>
                    <a:pt x="219074" y="192167"/>
                  </a:lnTo>
                  <a:lnTo>
                    <a:pt x="218943" y="201444"/>
                  </a:lnTo>
                  <a:lnTo>
                    <a:pt x="214359" y="246983"/>
                  </a:lnTo>
                  <a:lnTo>
                    <a:pt x="203494" y="289237"/>
                  </a:lnTo>
                  <a:lnTo>
                    <a:pt x="186992" y="325692"/>
                  </a:lnTo>
                  <a:lnTo>
                    <a:pt x="161173" y="358704"/>
                  </a:lnTo>
                  <a:lnTo>
                    <a:pt x="123853" y="379790"/>
                  </a:lnTo>
                  <a:lnTo>
                    <a:pt x="116729" y="380999"/>
                  </a:lnTo>
                  <a:close/>
                </a:path>
              </a:pathLst>
            </a:custGeom>
            <a:solidFill>
              <a:srgbClr val="FF9900"/>
            </a:solidFill>
          </p:spPr>
          <p:txBody>
            <a:bodyPr wrap="square" lIns="0" tIns="0" rIns="0" bIns="0" rtlCol="0"/>
            <a:lstStyle/>
            <a:p>
              <a:endParaRPr/>
            </a:p>
          </p:txBody>
        </p:sp>
        <p:pic>
          <p:nvPicPr>
            <p:cNvPr id="15" name="object 15"/>
            <p:cNvPicPr/>
            <p:nvPr/>
          </p:nvPicPr>
          <p:blipFill>
            <a:blip r:embed="rId4" cstate="print"/>
            <a:stretch>
              <a:fillRect/>
            </a:stretch>
          </p:blipFill>
          <p:spPr>
            <a:xfrm>
              <a:off x="504824" y="3295649"/>
              <a:ext cx="152399" cy="114299"/>
            </a:xfrm>
            <a:prstGeom prst="rect">
              <a:avLst/>
            </a:prstGeom>
          </p:spPr>
        </p:pic>
      </p:grpSp>
      <p:sp>
        <p:nvSpPr>
          <p:cNvPr id="16" name="object 16"/>
          <p:cNvSpPr txBox="1"/>
          <p:nvPr/>
        </p:nvSpPr>
        <p:spPr>
          <a:xfrm>
            <a:off x="266699" y="1024185"/>
            <a:ext cx="5676900" cy="2566670"/>
          </a:xfrm>
          <a:prstGeom prst="rect">
            <a:avLst/>
          </a:prstGeom>
        </p:spPr>
        <p:txBody>
          <a:bodyPr vert="horz" wrap="square" lIns="0" tIns="17145" rIns="0" bIns="0" rtlCol="0">
            <a:spAutoFit/>
          </a:bodyPr>
          <a:lstStyle/>
          <a:p>
            <a:pPr marL="532765">
              <a:lnSpc>
                <a:spcPct val="100000"/>
              </a:lnSpc>
              <a:spcBef>
                <a:spcPts val="135"/>
              </a:spcBef>
            </a:pPr>
            <a:r>
              <a:rPr sz="2000" spc="-220" dirty="0">
                <a:solidFill>
                  <a:srgbClr val="003366"/>
                </a:solidFill>
                <a:latin typeface="SimSun"/>
                <a:cs typeface="SimSun"/>
              </a:rPr>
              <a:t>検</a:t>
            </a:r>
            <a:r>
              <a:rPr sz="1900" spc="-120" dirty="0">
                <a:solidFill>
                  <a:srgbClr val="003366"/>
                </a:solidFill>
                <a:latin typeface="PMingLiU"/>
                <a:cs typeface="PMingLiU"/>
              </a:rPr>
              <a:t>量</a:t>
            </a:r>
            <a:r>
              <a:rPr sz="1950" spc="-165" dirty="0">
                <a:solidFill>
                  <a:srgbClr val="003366"/>
                </a:solidFill>
                <a:latin typeface="PMingLiU"/>
                <a:cs typeface="PMingLiU"/>
              </a:rPr>
              <a:t>線</a:t>
            </a:r>
            <a:r>
              <a:rPr sz="1700" spc="165" dirty="0">
                <a:solidFill>
                  <a:srgbClr val="003366"/>
                </a:solidFill>
                <a:latin typeface="PMingLiU"/>
                <a:cs typeface="PMingLiU"/>
              </a:rPr>
              <a:t>の</a:t>
            </a:r>
            <a:r>
              <a:rPr sz="2000" spc="-200" dirty="0">
                <a:solidFill>
                  <a:srgbClr val="003366"/>
                </a:solidFill>
                <a:latin typeface="SimSun"/>
                <a:cs typeface="SimSun"/>
              </a:rPr>
              <a:t>評</a:t>
            </a:r>
            <a:r>
              <a:rPr sz="1950" spc="-50" dirty="0">
                <a:solidFill>
                  <a:srgbClr val="003366"/>
                </a:solidFill>
                <a:latin typeface="SimSun"/>
                <a:cs typeface="SimSun"/>
              </a:rPr>
              <a:t>価</a:t>
            </a:r>
            <a:endParaRPr sz="1950">
              <a:latin typeface="SimSun"/>
              <a:cs typeface="SimSun"/>
            </a:endParaRPr>
          </a:p>
          <a:p>
            <a:pPr marL="190500">
              <a:lnSpc>
                <a:spcPct val="100000"/>
              </a:lnSpc>
              <a:spcBef>
                <a:spcPts val="1250"/>
              </a:spcBef>
            </a:pPr>
            <a:r>
              <a:rPr sz="1350" spc="-35" dirty="0">
                <a:solidFill>
                  <a:srgbClr val="374050"/>
                </a:solidFill>
                <a:latin typeface="PMingLiU"/>
                <a:cs typeface="PMingLiU"/>
              </a:rPr>
              <a:t>最小二乗法により，水蒸気固有の吸収線に対する検量線を求めた。</a:t>
            </a:r>
            <a:endParaRPr sz="1350">
              <a:latin typeface="PMingLiU"/>
              <a:cs typeface="PMingLiU"/>
            </a:endParaRPr>
          </a:p>
          <a:p>
            <a:pPr>
              <a:lnSpc>
                <a:spcPct val="100000"/>
              </a:lnSpc>
            </a:pPr>
            <a:endParaRPr sz="1350">
              <a:latin typeface="PMingLiU"/>
              <a:cs typeface="PMingLiU"/>
            </a:endParaRPr>
          </a:p>
          <a:p>
            <a:pPr>
              <a:lnSpc>
                <a:spcPct val="100000"/>
              </a:lnSpc>
            </a:pPr>
            <a:endParaRPr sz="1350">
              <a:latin typeface="PMingLiU"/>
              <a:cs typeface="PMingLiU"/>
            </a:endParaRPr>
          </a:p>
          <a:p>
            <a:pPr>
              <a:lnSpc>
                <a:spcPct val="100000"/>
              </a:lnSpc>
            </a:pPr>
            <a:endParaRPr sz="1350">
              <a:latin typeface="PMingLiU"/>
              <a:cs typeface="PMingLiU"/>
            </a:endParaRPr>
          </a:p>
          <a:p>
            <a:pPr>
              <a:lnSpc>
                <a:spcPct val="100000"/>
              </a:lnSpc>
            </a:pPr>
            <a:endParaRPr sz="1350">
              <a:latin typeface="PMingLiU"/>
              <a:cs typeface="PMingLiU"/>
            </a:endParaRPr>
          </a:p>
          <a:p>
            <a:pPr>
              <a:lnSpc>
                <a:spcPct val="100000"/>
              </a:lnSpc>
              <a:spcBef>
                <a:spcPts val="1060"/>
              </a:spcBef>
            </a:pPr>
            <a:endParaRPr sz="1350">
              <a:latin typeface="PMingLiU"/>
              <a:cs typeface="PMingLiU"/>
            </a:endParaRPr>
          </a:p>
          <a:p>
            <a:pPr marL="525780" marR="185420">
              <a:lnSpc>
                <a:spcPct val="129600"/>
              </a:lnSpc>
            </a:pPr>
            <a:r>
              <a:rPr sz="1350" dirty="0">
                <a:solidFill>
                  <a:srgbClr val="374050"/>
                </a:solidFill>
                <a:latin typeface="Arial"/>
                <a:cs typeface="Arial"/>
              </a:rPr>
              <a:t>4</a:t>
            </a:r>
            <a:r>
              <a:rPr sz="1350" spc="-20" dirty="0">
                <a:solidFill>
                  <a:srgbClr val="374050"/>
                </a:solidFill>
                <a:latin typeface="PMingLiU"/>
                <a:cs typeface="PMingLiU"/>
              </a:rPr>
              <a:t>本の検量線の中で，</a:t>
            </a:r>
            <a:r>
              <a:rPr sz="1350" dirty="0">
                <a:solidFill>
                  <a:srgbClr val="374050"/>
                </a:solidFill>
                <a:latin typeface="Arial"/>
                <a:cs typeface="Arial"/>
              </a:rPr>
              <a:t>1.40[THz]</a:t>
            </a:r>
            <a:r>
              <a:rPr sz="1350" spc="-15" dirty="0">
                <a:solidFill>
                  <a:srgbClr val="374050"/>
                </a:solidFill>
                <a:latin typeface="PMingLiU"/>
                <a:cs typeface="PMingLiU"/>
              </a:rPr>
              <a:t>の吸収線の決定係数</a:t>
            </a:r>
            <a:r>
              <a:rPr sz="1350" spc="-10" dirty="0">
                <a:solidFill>
                  <a:srgbClr val="374050"/>
                </a:solidFill>
                <a:latin typeface="Arial"/>
                <a:cs typeface="Arial"/>
              </a:rPr>
              <a:t>R²</a:t>
            </a:r>
            <a:r>
              <a:rPr sz="1350" spc="-10" dirty="0">
                <a:solidFill>
                  <a:srgbClr val="374050"/>
                </a:solidFill>
                <a:latin typeface="PMingLiU"/>
                <a:cs typeface="PMingLiU"/>
              </a:rPr>
              <a:t>が</a:t>
            </a:r>
            <a:r>
              <a:rPr sz="1350" b="1" dirty="0">
                <a:solidFill>
                  <a:srgbClr val="F97316"/>
                </a:solidFill>
                <a:latin typeface="Arial"/>
                <a:cs typeface="Arial"/>
              </a:rPr>
              <a:t>0.97</a:t>
            </a:r>
            <a:r>
              <a:rPr sz="1350" spc="-30" dirty="0">
                <a:solidFill>
                  <a:srgbClr val="374050"/>
                </a:solidFill>
                <a:latin typeface="PMingLiU"/>
                <a:cs typeface="PMingLiU"/>
              </a:rPr>
              <a:t>であ</a:t>
            </a:r>
            <a:r>
              <a:rPr sz="1350" spc="-25" dirty="0">
                <a:solidFill>
                  <a:srgbClr val="374050"/>
                </a:solidFill>
                <a:latin typeface="PMingLiU"/>
                <a:cs typeface="PMingLiU"/>
              </a:rPr>
              <a:t>ることから，本研究目的に最適であると判断。</a:t>
            </a:r>
            <a:endParaRPr sz="1350">
              <a:latin typeface="PMingLiU"/>
              <a:cs typeface="PMingLiU"/>
            </a:endParaRPr>
          </a:p>
        </p:txBody>
      </p:sp>
      <p:grpSp>
        <p:nvGrpSpPr>
          <p:cNvPr id="17" name="object 17"/>
          <p:cNvGrpSpPr/>
          <p:nvPr/>
        </p:nvGrpSpPr>
        <p:grpSpPr>
          <a:xfrm>
            <a:off x="228599" y="4038599"/>
            <a:ext cx="5715000" cy="2628900"/>
            <a:chOff x="228599" y="4038599"/>
            <a:chExt cx="5715000" cy="2628900"/>
          </a:xfrm>
        </p:grpSpPr>
        <p:sp>
          <p:nvSpPr>
            <p:cNvPr id="18" name="object 18"/>
            <p:cNvSpPr/>
            <p:nvPr/>
          </p:nvSpPr>
          <p:spPr>
            <a:xfrm>
              <a:off x="228599" y="4038599"/>
              <a:ext cx="5715000" cy="2628900"/>
            </a:xfrm>
            <a:custGeom>
              <a:avLst/>
              <a:gdLst/>
              <a:ahLst/>
              <a:cxnLst/>
              <a:rect l="l" t="t" r="r" b="b"/>
              <a:pathLst>
                <a:path w="5715000" h="2628900">
                  <a:moveTo>
                    <a:pt x="5714999" y="2628899"/>
                  </a:moveTo>
                  <a:lnTo>
                    <a:pt x="0" y="2628899"/>
                  </a:lnTo>
                  <a:lnTo>
                    <a:pt x="0" y="0"/>
                  </a:lnTo>
                  <a:lnTo>
                    <a:pt x="5714999" y="0"/>
                  </a:lnTo>
                  <a:lnTo>
                    <a:pt x="5714999" y="2628899"/>
                  </a:lnTo>
                  <a:close/>
                </a:path>
              </a:pathLst>
            </a:custGeom>
            <a:solidFill>
              <a:srgbClr val="FFFFFF">
                <a:alpha val="90199"/>
              </a:srgbClr>
            </a:solidFill>
          </p:spPr>
          <p:txBody>
            <a:bodyPr wrap="square" lIns="0" tIns="0" rIns="0" bIns="0" rtlCol="0"/>
            <a:lstStyle/>
            <a:p>
              <a:endParaRPr/>
            </a:p>
          </p:txBody>
        </p:sp>
        <p:sp>
          <p:nvSpPr>
            <p:cNvPr id="19" name="object 19"/>
            <p:cNvSpPr/>
            <p:nvPr/>
          </p:nvSpPr>
          <p:spPr>
            <a:xfrm>
              <a:off x="228599" y="4038599"/>
              <a:ext cx="38100" cy="2628900"/>
            </a:xfrm>
            <a:custGeom>
              <a:avLst/>
              <a:gdLst/>
              <a:ahLst/>
              <a:cxnLst/>
              <a:rect l="l" t="t" r="r" b="b"/>
              <a:pathLst>
                <a:path w="38100" h="2628900">
                  <a:moveTo>
                    <a:pt x="38099" y="2628899"/>
                  </a:moveTo>
                  <a:lnTo>
                    <a:pt x="0" y="2628899"/>
                  </a:lnTo>
                  <a:lnTo>
                    <a:pt x="0" y="0"/>
                  </a:lnTo>
                  <a:lnTo>
                    <a:pt x="38099" y="0"/>
                  </a:lnTo>
                  <a:lnTo>
                    <a:pt x="38099" y="2628899"/>
                  </a:lnTo>
                  <a:close/>
                </a:path>
              </a:pathLst>
            </a:custGeom>
            <a:solidFill>
              <a:srgbClr val="FF9900"/>
            </a:solidFill>
          </p:spPr>
          <p:txBody>
            <a:bodyPr wrap="square" lIns="0" tIns="0" rIns="0" bIns="0" rtlCol="0"/>
            <a:lstStyle/>
            <a:p>
              <a:endParaRPr/>
            </a:p>
          </p:txBody>
        </p:sp>
        <p:pic>
          <p:nvPicPr>
            <p:cNvPr id="20" name="object 20"/>
            <p:cNvPicPr/>
            <p:nvPr/>
          </p:nvPicPr>
          <p:blipFill>
            <a:blip r:embed="rId5" cstate="print"/>
            <a:stretch>
              <a:fillRect/>
            </a:stretch>
          </p:blipFill>
          <p:spPr>
            <a:xfrm>
              <a:off x="457199" y="4267199"/>
              <a:ext cx="171449" cy="228599"/>
            </a:xfrm>
            <a:prstGeom prst="rect">
              <a:avLst/>
            </a:prstGeom>
          </p:spPr>
        </p:pic>
        <p:sp>
          <p:nvSpPr>
            <p:cNvPr id="21" name="object 21"/>
            <p:cNvSpPr/>
            <p:nvPr/>
          </p:nvSpPr>
          <p:spPr>
            <a:xfrm>
              <a:off x="457199" y="4686299"/>
              <a:ext cx="276225" cy="381000"/>
            </a:xfrm>
            <a:custGeom>
              <a:avLst/>
              <a:gdLst/>
              <a:ahLst/>
              <a:cxnLst/>
              <a:rect l="l" t="t" r="r" b="b"/>
              <a:pathLst>
                <a:path w="276225" h="381000">
                  <a:moveTo>
                    <a:pt x="138112" y="380999"/>
                  </a:moveTo>
                  <a:lnTo>
                    <a:pt x="98020" y="372859"/>
                  </a:lnTo>
                  <a:lnTo>
                    <a:pt x="61381" y="349134"/>
                  </a:lnTo>
                  <a:lnTo>
                    <a:pt x="35771" y="318892"/>
                  </a:lnTo>
                  <a:lnTo>
                    <a:pt x="16306" y="281055"/>
                  </a:lnTo>
                  <a:lnTo>
                    <a:pt x="4140" y="237878"/>
                  </a:lnTo>
                  <a:lnTo>
                    <a:pt x="0" y="191926"/>
                  </a:lnTo>
                  <a:lnTo>
                    <a:pt x="165" y="179784"/>
                  </a:lnTo>
                  <a:lnTo>
                    <a:pt x="5945" y="134187"/>
                  </a:lnTo>
                  <a:lnTo>
                    <a:pt x="19644" y="91878"/>
                  </a:lnTo>
                  <a:lnTo>
                    <a:pt x="40452" y="55377"/>
                  </a:lnTo>
                  <a:lnTo>
                    <a:pt x="67114" y="26892"/>
                  </a:lnTo>
                  <a:lnTo>
                    <a:pt x="104545" y="5667"/>
                  </a:lnTo>
                  <a:lnTo>
                    <a:pt x="138112" y="0"/>
                  </a:lnTo>
                  <a:lnTo>
                    <a:pt x="144897" y="227"/>
                  </a:lnTo>
                  <a:lnTo>
                    <a:pt x="184633" y="11047"/>
                  </a:lnTo>
                  <a:lnTo>
                    <a:pt x="220393" y="37213"/>
                  </a:lnTo>
                  <a:lnTo>
                    <a:pt x="244876" y="69124"/>
                  </a:lnTo>
                  <a:lnTo>
                    <a:pt x="262961" y="108223"/>
                  </a:lnTo>
                  <a:lnTo>
                    <a:pt x="273571" y="152186"/>
                  </a:lnTo>
                  <a:lnTo>
                    <a:pt x="276224" y="191926"/>
                  </a:lnTo>
                  <a:lnTo>
                    <a:pt x="276059" y="201214"/>
                  </a:lnTo>
                  <a:lnTo>
                    <a:pt x="270279" y="246811"/>
                  </a:lnTo>
                  <a:lnTo>
                    <a:pt x="256580" y="289119"/>
                  </a:lnTo>
                  <a:lnTo>
                    <a:pt x="235772" y="325620"/>
                  </a:lnTo>
                  <a:lnTo>
                    <a:pt x="209109" y="354106"/>
                  </a:lnTo>
                  <a:lnTo>
                    <a:pt x="171679" y="375331"/>
                  </a:lnTo>
                  <a:lnTo>
                    <a:pt x="138112" y="380999"/>
                  </a:lnTo>
                  <a:close/>
                </a:path>
              </a:pathLst>
            </a:custGeom>
            <a:solidFill>
              <a:srgbClr val="FF9900"/>
            </a:solidFill>
          </p:spPr>
          <p:txBody>
            <a:bodyPr wrap="square" lIns="0" tIns="0" rIns="0" bIns="0" rtlCol="0"/>
            <a:lstStyle/>
            <a:p>
              <a:endParaRPr/>
            </a:p>
          </p:txBody>
        </p:sp>
        <p:pic>
          <p:nvPicPr>
            <p:cNvPr id="22" name="object 22"/>
            <p:cNvPicPr/>
            <p:nvPr/>
          </p:nvPicPr>
          <p:blipFill>
            <a:blip r:embed="rId6" cstate="print"/>
            <a:stretch>
              <a:fillRect/>
            </a:stretch>
          </p:blipFill>
          <p:spPr>
            <a:xfrm>
              <a:off x="523874" y="4791074"/>
              <a:ext cx="161924" cy="171449"/>
            </a:xfrm>
            <a:prstGeom prst="rect">
              <a:avLst/>
            </a:prstGeom>
          </p:spPr>
        </p:pic>
        <p:sp>
          <p:nvSpPr>
            <p:cNvPr id="23" name="object 23"/>
            <p:cNvSpPr/>
            <p:nvPr/>
          </p:nvSpPr>
          <p:spPr>
            <a:xfrm>
              <a:off x="457199" y="5333999"/>
              <a:ext cx="361950" cy="381000"/>
            </a:xfrm>
            <a:custGeom>
              <a:avLst/>
              <a:gdLst/>
              <a:ahLst/>
              <a:cxnLst/>
              <a:rect l="l" t="t" r="r" b="b"/>
              <a:pathLst>
                <a:path w="361950" h="381000">
                  <a:moveTo>
                    <a:pt x="178668" y="380999"/>
                  </a:moveTo>
                  <a:lnTo>
                    <a:pt x="135244" y="375288"/>
                  </a:lnTo>
                  <a:lnTo>
                    <a:pt x="94443" y="358506"/>
                  </a:lnTo>
                  <a:lnTo>
                    <a:pt x="58688" y="331658"/>
                  </a:lnTo>
                  <a:lnTo>
                    <a:pt x="30110" y="296335"/>
                  </a:lnTo>
                  <a:lnTo>
                    <a:pt x="10439" y="254666"/>
                  </a:lnTo>
                  <a:lnTo>
                    <a:pt x="858" y="209172"/>
                  </a:lnTo>
                  <a:lnTo>
                    <a:pt x="0" y="190499"/>
                  </a:lnTo>
                  <a:lnTo>
                    <a:pt x="214" y="181141"/>
                  </a:lnTo>
                  <a:lnTo>
                    <a:pt x="7691" y="135199"/>
                  </a:lnTo>
                  <a:lnTo>
                    <a:pt x="25412" y="92572"/>
                  </a:lnTo>
                  <a:lnTo>
                    <a:pt x="52330" y="55796"/>
                  </a:lnTo>
                  <a:lnTo>
                    <a:pt x="86822" y="27095"/>
                  </a:lnTo>
                  <a:lnTo>
                    <a:pt x="126802" y="8200"/>
                  </a:lnTo>
                  <a:lnTo>
                    <a:pt x="169890" y="228"/>
                  </a:lnTo>
                  <a:lnTo>
                    <a:pt x="183281" y="0"/>
                  </a:lnTo>
                  <a:lnTo>
                    <a:pt x="192059" y="228"/>
                  </a:lnTo>
                  <a:lnTo>
                    <a:pt x="235146" y="8200"/>
                  </a:lnTo>
                  <a:lnTo>
                    <a:pt x="275127" y="27095"/>
                  </a:lnTo>
                  <a:lnTo>
                    <a:pt x="309619" y="55796"/>
                  </a:lnTo>
                  <a:lnTo>
                    <a:pt x="336536" y="92572"/>
                  </a:lnTo>
                  <a:lnTo>
                    <a:pt x="354258" y="135199"/>
                  </a:lnTo>
                  <a:lnTo>
                    <a:pt x="361735" y="181141"/>
                  </a:lnTo>
                  <a:lnTo>
                    <a:pt x="361949" y="190499"/>
                  </a:lnTo>
                  <a:lnTo>
                    <a:pt x="361735" y="199858"/>
                  </a:lnTo>
                  <a:lnTo>
                    <a:pt x="354258" y="245799"/>
                  </a:lnTo>
                  <a:lnTo>
                    <a:pt x="336536" y="288426"/>
                  </a:lnTo>
                  <a:lnTo>
                    <a:pt x="309619" y="325203"/>
                  </a:lnTo>
                  <a:lnTo>
                    <a:pt x="275127" y="353902"/>
                  </a:lnTo>
                  <a:lnTo>
                    <a:pt x="235146" y="372797"/>
                  </a:lnTo>
                  <a:lnTo>
                    <a:pt x="192059" y="380770"/>
                  </a:lnTo>
                  <a:lnTo>
                    <a:pt x="178668" y="380999"/>
                  </a:lnTo>
                  <a:close/>
                </a:path>
              </a:pathLst>
            </a:custGeom>
            <a:solidFill>
              <a:srgbClr val="FF9900"/>
            </a:solidFill>
          </p:spPr>
          <p:txBody>
            <a:bodyPr wrap="square" lIns="0" tIns="0" rIns="0" bIns="0" rtlCol="0"/>
            <a:lstStyle/>
            <a:p>
              <a:endParaRPr/>
            </a:p>
          </p:txBody>
        </p:sp>
        <p:pic>
          <p:nvPicPr>
            <p:cNvPr id="24" name="object 24"/>
            <p:cNvPicPr/>
            <p:nvPr/>
          </p:nvPicPr>
          <p:blipFill>
            <a:blip r:embed="rId6" cstate="print"/>
            <a:stretch>
              <a:fillRect/>
            </a:stretch>
          </p:blipFill>
          <p:spPr>
            <a:xfrm>
              <a:off x="561974" y="5438774"/>
              <a:ext cx="161924" cy="171449"/>
            </a:xfrm>
            <a:prstGeom prst="rect">
              <a:avLst/>
            </a:prstGeom>
          </p:spPr>
        </p:pic>
        <p:sp>
          <p:nvSpPr>
            <p:cNvPr id="25" name="object 25"/>
            <p:cNvSpPr/>
            <p:nvPr/>
          </p:nvSpPr>
          <p:spPr>
            <a:xfrm>
              <a:off x="457199" y="5981699"/>
              <a:ext cx="247650" cy="381000"/>
            </a:xfrm>
            <a:custGeom>
              <a:avLst/>
              <a:gdLst/>
              <a:ahLst/>
              <a:cxnLst/>
              <a:rect l="l" t="t" r="r" b="b"/>
              <a:pathLst>
                <a:path w="247650" h="381000">
                  <a:moveTo>
                    <a:pt x="131955" y="380999"/>
                  </a:moveTo>
                  <a:lnTo>
                    <a:pt x="115694" y="380999"/>
                  </a:lnTo>
                  <a:lnTo>
                    <a:pt x="107642" y="379795"/>
                  </a:lnTo>
                  <a:lnTo>
                    <a:pt x="70875" y="362944"/>
                  </a:lnTo>
                  <a:lnTo>
                    <a:pt x="40674" y="332302"/>
                  </a:lnTo>
                  <a:lnTo>
                    <a:pt x="20868" y="297439"/>
                  </a:lnTo>
                  <a:lnTo>
                    <a:pt x="7234" y="256314"/>
                  </a:lnTo>
                  <a:lnTo>
                    <a:pt x="594" y="211414"/>
                  </a:lnTo>
                  <a:lnTo>
                    <a:pt x="0" y="192985"/>
                  </a:lnTo>
                  <a:lnTo>
                    <a:pt x="148" y="178776"/>
                  </a:lnTo>
                  <a:lnTo>
                    <a:pt x="5330" y="133434"/>
                  </a:lnTo>
                  <a:lnTo>
                    <a:pt x="17612" y="91363"/>
                  </a:lnTo>
                  <a:lnTo>
                    <a:pt x="36267" y="55068"/>
                  </a:lnTo>
                  <a:lnTo>
                    <a:pt x="65453" y="22198"/>
                  </a:lnTo>
                  <a:lnTo>
                    <a:pt x="99667" y="3612"/>
                  </a:lnTo>
                  <a:lnTo>
                    <a:pt x="115694" y="0"/>
                  </a:lnTo>
                  <a:lnTo>
                    <a:pt x="131955" y="0"/>
                  </a:lnTo>
                  <a:lnTo>
                    <a:pt x="171210" y="14311"/>
                  </a:lnTo>
                  <a:lnTo>
                    <a:pt x="202379" y="42675"/>
                  </a:lnTo>
                  <a:lnTo>
                    <a:pt x="223278" y="76004"/>
                  </a:lnTo>
                  <a:lnTo>
                    <a:pt x="238224" y="116063"/>
                  </a:lnTo>
                  <a:lnTo>
                    <a:pt x="246311" y="160436"/>
                  </a:lnTo>
                  <a:lnTo>
                    <a:pt x="247649" y="192985"/>
                  </a:lnTo>
                  <a:lnTo>
                    <a:pt x="247501" y="202222"/>
                  </a:lnTo>
                  <a:lnTo>
                    <a:pt x="242319" y="247562"/>
                  </a:lnTo>
                  <a:lnTo>
                    <a:pt x="230037" y="289634"/>
                  </a:lnTo>
                  <a:lnTo>
                    <a:pt x="211382" y="325931"/>
                  </a:lnTo>
                  <a:lnTo>
                    <a:pt x="182196" y="358800"/>
                  </a:lnTo>
                  <a:lnTo>
                    <a:pt x="147981" y="377386"/>
                  </a:lnTo>
                  <a:lnTo>
                    <a:pt x="131955" y="380999"/>
                  </a:lnTo>
                  <a:close/>
                </a:path>
              </a:pathLst>
            </a:custGeom>
            <a:solidFill>
              <a:srgbClr val="FF9900"/>
            </a:solidFill>
          </p:spPr>
          <p:txBody>
            <a:bodyPr wrap="square" lIns="0" tIns="0" rIns="0" bIns="0" rtlCol="0"/>
            <a:lstStyle/>
            <a:p>
              <a:endParaRPr/>
            </a:p>
          </p:txBody>
        </p:sp>
        <p:pic>
          <p:nvPicPr>
            <p:cNvPr id="26" name="object 26"/>
            <p:cNvPicPr/>
            <p:nvPr/>
          </p:nvPicPr>
          <p:blipFill>
            <a:blip r:embed="rId7" cstate="print"/>
            <a:stretch>
              <a:fillRect/>
            </a:stretch>
          </p:blipFill>
          <p:spPr>
            <a:xfrm>
              <a:off x="495299" y="6086474"/>
              <a:ext cx="171449" cy="171449"/>
            </a:xfrm>
            <a:prstGeom prst="rect">
              <a:avLst/>
            </a:prstGeom>
          </p:spPr>
        </p:pic>
      </p:grpSp>
      <p:sp>
        <p:nvSpPr>
          <p:cNvPr id="27" name="object 27"/>
          <p:cNvSpPr txBox="1"/>
          <p:nvPr/>
        </p:nvSpPr>
        <p:spPr>
          <a:xfrm>
            <a:off x="266699" y="4192289"/>
            <a:ext cx="5676900" cy="2255520"/>
          </a:xfrm>
          <a:prstGeom prst="rect">
            <a:avLst/>
          </a:prstGeom>
        </p:spPr>
        <p:txBody>
          <a:bodyPr vert="horz" wrap="square" lIns="0" tIns="17780" rIns="0" bIns="0" rtlCol="0">
            <a:spAutoFit/>
          </a:bodyPr>
          <a:lstStyle/>
          <a:p>
            <a:pPr marL="475615">
              <a:lnSpc>
                <a:spcPct val="100000"/>
              </a:lnSpc>
              <a:spcBef>
                <a:spcPts val="140"/>
              </a:spcBef>
            </a:pPr>
            <a:r>
              <a:rPr sz="1800" b="1" spc="-10" dirty="0">
                <a:solidFill>
                  <a:srgbClr val="003366"/>
                </a:solidFill>
                <a:latin typeface="Arial"/>
                <a:cs typeface="Arial"/>
              </a:rPr>
              <a:t>1.40THz</a:t>
            </a:r>
            <a:r>
              <a:rPr sz="1700" spc="165" dirty="0">
                <a:solidFill>
                  <a:srgbClr val="003366"/>
                </a:solidFill>
                <a:latin typeface="PMingLiU"/>
                <a:cs typeface="PMingLiU"/>
              </a:rPr>
              <a:t>の</a:t>
            </a:r>
            <a:r>
              <a:rPr sz="1950" spc="-165" dirty="0">
                <a:solidFill>
                  <a:srgbClr val="003366"/>
                </a:solidFill>
                <a:latin typeface="PMingLiU"/>
                <a:cs typeface="PMingLiU"/>
              </a:rPr>
              <a:t>優</a:t>
            </a:r>
            <a:r>
              <a:rPr sz="1950" spc="-114" dirty="0">
                <a:solidFill>
                  <a:srgbClr val="003366"/>
                </a:solidFill>
                <a:latin typeface="SimSun"/>
                <a:cs typeface="SimSun"/>
              </a:rPr>
              <a:t>位性</a:t>
            </a:r>
            <a:endParaRPr sz="1950">
              <a:latin typeface="SimSun"/>
              <a:cs typeface="SimSun"/>
            </a:endParaRPr>
          </a:p>
          <a:p>
            <a:pPr marL="582930" marR="260985">
              <a:lnSpc>
                <a:spcPct val="129600"/>
              </a:lnSpc>
              <a:spcBef>
                <a:spcPts val="780"/>
              </a:spcBef>
            </a:pPr>
            <a:r>
              <a:rPr sz="1350" spc="-10" dirty="0">
                <a:solidFill>
                  <a:srgbClr val="374050"/>
                </a:solidFill>
                <a:latin typeface="PMingLiU"/>
                <a:cs typeface="PMingLiU"/>
              </a:rPr>
              <a:t>高い決定係数</a:t>
            </a:r>
            <a:r>
              <a:rPr sz="1350" dirty="0">
                <a:solidFill>
                  <a:srgbClr val="374050"/>
                </a:solidFill>
                <a:latin typeface="PMingLiU"/>
                <a:cs typeface="PMingLiU"/>
              </a:rPr>
              <a:t>（</a:t>
            </a:r>
            <a:r>
              <a:rPr sz="1350" dirty="0">
                <a:solidFill>
                  <a:srgbClr val="374050"/>
                </a:solidFill>
                <a:latin typeface="Arial"/>
                <a:cs typeface="Arial"/>
              </a:rPr>
              <a:t>R² = 0.97</a:t>
            </a:r>
            <a:r>
              <a:rPr sz="1350" dirty="0">
                <a:solidFill>
                  <a:srgbClr val="374050"/>
                </a:solidFill>
                <a:latin typeface="PMingLiU"/>
                <a:cs typeface="PMingLiU"/>
              </a:rPr>
              <a:t>）</a:t>
            </a:r>
            <a:r>
              <a:rPr sz="1350" spc="-35" dirty="0">
                <a:solidFill>
                  <a:srgbClr val="374050"/>
                </a:solidFill>
                <a:latin typeface="PMingLiU"/>
                <a:cs typeface="PMingLiU"/>
              </a:rPr>
              <a:t>を示し，測定値と理論値との間に高</a:t>
            </a:r>
            <a:r>
              <a:rPr sz="1350" spc="-15" dirty="0">
                <a:solidFill>
                  <a:srgbClr val="374050"/>
                </a:solidFill>
                <a:latin typeface="PMingLiU"/>
                <a:cs typeface="PMingLiU"/>
              </a:rPr>
              <a:t>い相関関係があります。</a:t>
            </a:r>
            <a:endParaRPr sz="1350">
              <a:latin typeface="PMingLiU"/>
              <a:cs typeface="PMingLiU"/>
            </a:endParaRPr>
          </a:p>
          <a:p>
            <a:pPr marL="661670" marR="201930">
              <a:lnSpc>
                <a:spcPct val="129600"/>
              </a:lnSpc>
              <a:spcBef>
                <a:spcPts val="900"/>
              </a:spcBef>
            </a:pPr>
            <a:r>
              <a:rPr sz="1350" spc="-40" dirty="0">
                <a:solidFill>
                  <a:srgbClr val="374050"/>
                </a:solidFill>
                <a:latin typeface="PMingLiU"/>
                <a:cs typeface="PMingLiU"/>
              </a:rPr>
              <a:t>線形関係が明確に示され、測定範囲内でほぼ直線的に変化しま</a:t>
            </a:r>
            <a:r>
              <a:rPr sz="1350" spc="-30" dirty="0">
                <a:solidFill>
                  <a:srgbClr val="374050"/>
                </a:solidFill>
                <a:latin typeface="PMingLiU"/>
                <a:cs typeface="PMingLiU"/>
              </a:rPr>
              <a:t>す。</a:t>
            </a:r>
            <a:endParaRPr sz="1350">
              <a:latin typeface="PMingLiU"/>
              <a:cs typeface="PMingLiU"/>
            </a:endParaRPr>
          </a:p>
          <a:p>
            <a:pPr marL="555625" marR="193040">
              <a:lnSpc>
                <a:spcPct val="129600"/>
              </a:lnSpc>
              <a:spcBef>
                <a:spcPts val="900"/>
              </a:spcBef>
            </a:pPr>
            <a:r>
              <a:rPr sz="1350" spc="-10" dirty="0">
                <a:solidFill>
                  <a:srgbClr val="374050"/>
                </a:solidFill>
                <a:latin typeface="PMingLiU"/>
                <a:cs typeface="PMingLiU"/>
              </a:rPr>
              <a:t>他の周波数</a:t>
            </a:r>
            <a:r>
              <a:rPr sz="1350" dirty="0">
                <a:solidFill>
                  <a:srgbClr val="374050"/>
                </a:solidFill>
                <a:latin typeface="PMingLiU"/>
                <a:cs typeface="PMingLiU"/>
              </a:rPr>
              <a:t>（</a:t>
            </a:r>
            <a:r>
              <a:rPr sz="1350" dirty="0">
                <a:solidFill>
                  <a:srgbClr val="374050"/>
                </a:solidFill>
                <a:latin typeface="Arial"/>
                <a:cs typeface="Arial"/>
              </a:rPr>
              <a:t>0.56, 1.10, 1.67[THz]</a:t>
            </a:r>
            <a:r>
              <a:rPr sz="1350" dirty="0">
                <a:solidFill>
                  <a:srgbClr val="374050"/>
                </a:solidFill>
                <a:latin typeface="PMingLiU"/>
                <a:cs typeface="PMingLiU"/>
              </a:rPr>
              <a:t>）</a:t>
            </a:r>
            <a:r>
              <a:rPr sz="1350" spc="-20" dirty="0">
                <a:solidFill>
                  <a:srgbClr val="374050"/>
                </a:solidFill>
                <a:latin typeface="PMingLiU"/>
                <a:cs typeface="PMingLiU"/>
              </a:rPr>
              <a:t>に比べて，</a:t>
            </a:r>
            <a:r>
              <a:rPr sz="1350" dirty="0">
                <a:solidFill>
                  <a:srgbClr val="374050"/>
                </a:solidFill>
                <a:latin typeface="Arial"/>
                <a:cs typeface="Arial"/>
              </a:rPr>
              <a:t>1.40[THz]</a:t>
            </a:r>
            <a:r>
              <a:rPr sz="1350" spc="-20" dirty="0">
                <a:solidFill>
                  <a:srgbClr val="374050"/>
                </a:solidFill>
                <a:latin typeface="PMingLiU"/>
                <a:cs typeface="PMingLiU"/>
              </a:rPr>
              <a:t>が最も</a:t>
            </a:r>
            <a:r>
              <a:rPr sz="1350" spc="-30" dirty="0">
                <a:solidFill>
                  <a:srgbClr val="374050"/>
                </a:solidFill>
                <a:latin typeface="PMingLiU"/>
                <a:cs typeface="PMingLiU"/>
              </a:rPr>
              <a:t>安定した測定結果を提供します。</a:t>
            </a:r>
            <a:endParaRPr sz="1350">
              <a:latin typeface="PMingLiU"/>
              <a:cs typeface="PMingLiU"/>
            </a:endParaRPr>
          </a:p>
        </p:txBody>
      </p:sp>
      <p:grpSp>
        <p:nvGrpSpPr>
          <p:cNvPr id="28" name="object 28"/>
          <p:cNvGrpSpPr/>
          <p:nvPr/>
        </p:nvGrpSpPr>
        <p:grpSpPr>
          <a:xfrm>
            <a:off x="6248399" y="876299"/>
            <a:ext cx="5715000" cy="5791200"/>
            <a:chOff x="6248399" y="876299"/>
            <a:chExt cx="5715000" cy="5791200"/>
          </a:xfrm>
        </p:grpSpPr>
        <p:sp>
          <p:nvSpPr>
            <p:cNvPr id="29" name="object 29"/>
            <p:cNvSpPr/>
            <p:nvPr/>
          </p:nvSpPr>
          <p:spPr>
            <a:xfrm>
              <a:off x="6248399" y="876299"/>
              <a:ext cx="5715000" cy="5791200"/>
            </a:xfrm>
            <a:custGeom>
              <a:avLst/>
              <a:gdLst/>
              <a:ahLst/>
              <a:cxnLst/>
              <a:rect l="l" t="t" r="r" b="b"/>
              <a:pathLst>
                <a:path w="5715000" h="5791200">
                  <a:moveTo>
                    <a:pt x="5714999" y="5791199"/>
                  </a:moveTo>
                  <a:lnTo>
                    <a:pt x="0" y="5791199"/>
                  </a:lnTo>
                  <a:lnTo>
                    <a:pt x="0" y="0"/>
                  </a:lnTo>
                  <a:lnTo>
                    <a:pt x="5714999" y="0"/>
                  </a:lnTo>
                  <a:lnTo>
                    <a:pt x="5714999" y="5791199"/>
                  </a:lnTo>
                  <a:close/>
                </a:path>
              </a:pathLst>
            </a:custGeom>
            <a:solidFill>
              <a:srgbClr val="FFFFFF">
                <a:alpha val="90199"/>
              </a:srgbClr>
            </a:solidFill>
          </p:spPr>
          <p:txBody>
            <a:bodyPr wrap="square" lIns="0" tIns="0" rIns="0" bIns="0" rtlCol="0"/>
            <a:lstStyle/>
            <a:p>
              <a:endParaRPr/>
            </a:p>
          </p:txBody>
        </p:sp>
        <p:sp>
          <p:nvSpPr>
            <p:cNvPr id="30" name="object 30"/>
            <p:cNvSpPr/>
            <p:nvPr/>
          </p:nvSpPr>
          <p:spPr>
            <a:xfrm>
              <a:off x="6248399" y="876299"/>
              <a:ext cx="38100" cy="5791200"/>
            </a:xfrm>
            <a:custGeom>
              <a:avLst/>
              <a:gdLst/>
              <a:ahLst/>
              <a:cxnLst/>
              <a:rect l="l" t="t" r="r" b="b"/>
              <a:pathLst>
                <a:path w="38100" h="5791200">
                  <a:moveTo>
                    <a:pt x="38099" y="5791199"/>
                  </a:moveTo>
                  <a:lnTo>
                    <a:pt x="0" y="5791199"/>
                  </a:lnTo>
                  <a:lnTo>
                    <a:pt x="0" y="0"/>
                  </a:lnTo>
                  <a:lnTo>
                    <a:pt x="38099" y="0"/>
                  </a:lnTo>
                  <a:lnTo>
                    <a:pt x="38099" y="5791199"/>
                  </a:lnTo>
                  <a:close/>
                </a:path>
              </a:pathLst>
            </a:custGeom>
            <a:solidFill>
              <a:srgbClr val="FF9900"/>
            </a:solidFill>
          </p:spPr>
          <p:txBody>
            <a:bodyPr wrap="square" lIns="0" tIns="0" rIns="0" bIns="0" rtlCol="0"/>
            <a:lstStyle/>
            <a:p>
              <a:endParaRPr/>
            </a:p>
          </p:txBody>
        </p:sp>
        <p:pic>
          <p:nvPicPr>
            <p:cNvPr id="31" name="object 31"/>
            <p:cNvPicPr/>
            <p:nvPr/>
          </p:nvPicPr>
          <p:blipFill>
            <a:blip r:embed="rId8" cstate="print"/>
            <a:srcRect b="10625"/>
            <a:stretch>
              <a:fillRect/>
            </a:stretch>
          </p:blipFill>
          <p:spPr>
            <a:xfrm>
              <a:off x="6515099" y="1524000"/>
              <a:ext cx="5219699" cy="4086224"/>
            </a:xfrm>
            <a:prstGeom prst="rect">
              <a:avLst/>
            </a:prstGeom>
          </p:spPr>
        </p:pic>
      </p:grpSp>
      <p:sp>
        <p:nvSpPr>
          <p:cNvPr id="32" name="object 32"/>
          <p:cNvSpPr txBox="1"/>
          <p:nvPr/>
        </p:nvSpPr>
        <p:spPr>
          <a:xfrm>
            <a:off x="6286499" y="1027757"/>
            <a:ext cx="5676900" cy="4984057"/>
          </a:xfrm>
          <a:prstGeom prst="rect">
            <a:avLst/>
          </a:prstGeom>
        </p:spPr>
        <p:txBody>
          <a:bodyPr vert="horz" wrap="square" lIns="0" tIns="13335" rIns="0" bIns="0" rtlCol="0">
            <a:spAutoFit/>
          </a:bodyPr>
          <a:lstStyle/>
          <a:p>
            <a:pPr algn="ctr">
              <a:lnSpc>
                <a:spcPct val="100000"/>
              </a:lnSpc>
              <a:spcBef>
                <a:spcPts val="105"/>
              </a:spcBef>
            </a:pPr>
            <a:r>
              <a:rPr sz="2000" spc="-220" dirty="0">
                <a:solidFill>
                  <a:srgbClr val="003366"/>
                </a:solidFill>
                <a:latin typeface="SimSun"/>
                <a:cs typeface="SimSun"/>
              </a:rPr>
              <a:t>検</a:t>
            </a:r>
            <a:r>
              <a:rPr sz="1900" spc="-120" dirty="0">
                <a:solidFill>
                  <a:srgbClr val="003366"/>
                </a:solidFill>
                <a:latin typeface="PMingLiU"/>
                <a:cs typeface="PMingLiU"/>
              </a:rPr>
              <a:t>量</a:t>
            </a:r>
            <a:r>
              <a:rPr sz="1950" spc="-165" dirty="0">
                <a:solidFill>
                  <a:srgbClr val="003366"/>
                </a:solidFill>
                <a:latin typeface="PMingLiU"/>
                <a:cs typeface="PMingLiU"/>
              </a:rPr>
              <a:t>線</a:t>
            </a:r>
            <a:r>
              <a:rPr sz="1700" spc="165" dirty="0">
                <a:solidFill>
                  <a:srgbClr val="003366"/>
                </a:solidFill>
                <a:latin typeface="PMingLiU"/>
                <a:cs typeface="PMingLiU"/>
              </a:rPr>
              <a:t>の</a:t>
            </a:r>
            <a:r>
              <a:rPr sz="2000" spc="-125" dirty="0">
                <a:solidFill>
                  <a:srgbClr val="003366"/>
                </a:solidFill>
                <a:latin typeface="SimSun"/>
                <a:cs typeface="SimSun"/>
              </a:rPr>
              <a:t>比較</a:t>
            </a:r>
            <a:endParaRPr sz="20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pPr>
            <a:endParaRPr sz="1800" dirty="0">
              <a:latin typeface="SimSun"/>
              <a:cs typeface="SimSun"/>
            </a:endParaRPr>
          </a:p>
          <a:p>
            <a:pPr>
              <a:lnSpc>
                <a:spcPct val="100000"/>
              </a:lnSpc>
              <a:spcBef>
                <a:spcPts val="1775"/>
              </a:spcBef>
            </a:pPr>
            <a:endParaRPr sz="1800" dirty="0">
              <a:latin typeface="SimSun"/>
              <a:cs typeface="SimSu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1999" cy="6781800"/>
          </a:xfrm>
          <a:custGeom>
            <a:avLst/>
            <a:gdLst/>
            <a:ahLst/>
            <a:cxnLst/>
            <a:rect l="l" t="t" r="r" b="b"/>
            <a:pathLst>
              <a:path w="12192000" h="7543800">
                <a:moveTo>
                  <a:pt x="12191999" y="7543799"/>
                </a:moveTo>
                <a:lnTo>
                  <a:pt x="0" y="7543799"/>
                </a:lnTo>
                <a:lnTo>
                  <a:pt x="0" y="0"/>
                </a:lnTo>
                <a:lnTo>
                  <a:pt x="12191999" y="0"/>
                </a:lnTo>
                <a:lnTo>
                  <a:pt x="12191999" y="7543799"/>
                </a:lnTo>
                <a:close/>
              </a:path>
            </a:pathLst>
          </a:custGeom>
          <a:solidFill>
            <a:srgbClr val="F2F4F5"/>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2191999" cy="647699"/>
          </a:xfrm>
          <a:prstGeom prst="rect">
            <a:avLst/>
          </a:prstGeom>
        </p:spPr>
      </p:pic>
      <p:sp>
        <p:nvSpPr>
          <p:cNvPr id="4" name="object 4"/>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z="2450" spc="-229" dirty="0"/>
              <a:t>結</a:t>
            </a:r>
            <a:r>
              <a:rPr sz="2400" spc="-175" dirty="0"/>
              <a:t>果</a:t>
            </a:r>
            <a:r>
              <a:rPr sz="2500" spc="-120" dirty="0">
                <a:latin typeface="Calibri"/>
                <a:cs typeface="Calibri"/>
              </a:rPr>
              <a:t>③</a:t>
            </a:r>
            <a:r>
              <a:rPr sz="2150" spc="-120" dirty="0"/>
              <a:t>：</a:t>
            </a:r>
            <a:r>
              <a:rPr b="1" spc="-120" dirty="0">
                <a:latin typeface="Arial"/>
                <a:cs typeface="Arial"/>
              </a:rPr>
              <a:t>1.40THz</a:t>
            </a:r>
            <a:r>
              <a:rPr sz="2300" dirty="0"/>
              <a:t>における</a:t>
            </a:r>
            <a:r>
              <a:rPr sz="2450" spc="-229" dirty="0">
                <a:latin typeface="SimSun"/>
                <a:cs typeface="SimSun"/>
              </a:rPr>
              <a:t>信頼</a:t>
            </a:r>
            <a:r>
              <a:rPr sz="2400" spc="-170" dirty="0"/>
              <a:t>区間</a:t>
            </a:r>
            <a:r>
              <a:rPr sz="2300" dirty="0"/>
              <a:t>と</a:t>
            </a:r>
            <a:r>
              <a:rPr sz="2450" spc="-229" dirty="0">
                <a:latin typeface="SimSun"/>
                <a:cs typeface="SimSun"/>
              </a:rPr>
              <a:t>推</a:t>
            </a:r>
            <a:r>
              <a:rPr sz="2550" spc="-310" dirty="0">
                <a:latin typeface="SimSun"/>
                <a:cs typeface="SimSun"/>
              </a:rPr>
              <a:t>定</a:t>
            </a:r>
            <a:r>
              <a:rPr sz="2400" spc="-305" dirty="0"/>
              <a:t>区間</a:t>
            </a:r>
            <a:endParaRPr sz="2400">
              <a:latin typeface="SimSun"/>
              <a:cs typeface="SimSun"/>
            </a:endParaRPr>
          </a:p>
        </p:txBody>
      </p:sp>
      <p:sp>
        <p:nvSpPr>
          <p:cNvPr id="5" name="object 5"/>
          <p:cNvSpPr txBox="1"/>
          <p:nvPr/>
        </p:nvSpPr>
        <p:spPr>
          <a:xfrm>
            <a:off x="11609585" y="187325"/>
            <a:ext cx="290830" cy="254000"/>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Arial"/>
                <a:cs typeface="Arial"/>
              </a:rPr>
              <a:t>8/9</a:t>
            </a:r>
            <a:endParaRPr sz="1500">
              <a:latin typeface="Arial"/>
              <a:cs typeface="Arial"/>
            </a:endParaRPr>
          </a:p>
        </p:txBody>
      </p:sp>
      <p:grpSp>
        <p:nvGrpSpPr>
          <p:cNvPr id="6" name="object 6"/>
          <p:cNvGrpSpPr/>
          <p:nvPr/>
        </p:nvGrpSpPr>
        <p:grpSpPr>
          <a:xfrm>
            <a:off x="228599" y="685800"/>
            <a:ext cx="5715000" cy="3390900"/>
            <a:chOff x="228599" y="876299"/>
            <a:chExt cx="5715000" cy="3390900"/>
          </a:xfrm>
        </p:grpSpPr>
        <p:sp>
          <p:nvSpPr>
            <p:cNvPr id="7" name="object 7"/>
            <p:cNvSpPr/>
            <p:nvPr/>
          </p:nvSpPr>
          <p:spPr>
            <a:xfrm>
              <a:off x="228599" y="876299"/>
              <a:ext cx="5715000" cy="3390900"/>
            </a:xfrm>
            <a:custGeom>
              <a:avLst/>
              <a:gdLst/>
              <a:ahLst/>
              <a:cxnLst/>
              <a:rect l="l" t="t" r="r" b="b"/>
              <a:pathLst>
                <a:path w="5715000" h="3390900">
                  <a:moveTo>
                    <a:pt x="5714999" y="3390899"/>
                  </a:moveTo>
                  <a:lnTo>
                    <a:pt x="0" y="3390899"/>
                  </a:lnTo>
                  <a:lnTo>
                    <a:pt x="0" y="0"/>
                  </a:lnTo>
                  <a:lnTo>
                    <a:pt x="5714999" y="0"/>
                  </a:lnTo>
                  <a:lnTo>
                    <a:pt x="5714999" y="3390899"/>
                  </a:lnTo>
                  <a:close/>
                </a:path>
              </a:pathLst>
            </a:custGeom>
            <a:solidFill>
              <a:srgbClr val="FFFFFF">
                <a:alpha val="90199"/>
              </a:srgbClr>
            </a:solidFill>
          </p:spPr>
          <p:txBody>
            <a:bodyPr wrap="square" lIns="0" tIns="0" rIns="0" bIns="0" rtlCol="0"/>
            <a:lstStyle/>
            <a:p>
              <a:endParaRPr/>
            </a:p>
          </p:txBody>
        </p:sp>
        <p:sp>
          <p:nvSpPr>
            <p:cNvPr id="8" name="object 8"/>
            <p:cNvSpPr/>
            <p:nvPr/>
          </p:nvSpPr>
          <p:spPr>
            <a:xfrm>
              <a:off x="228599" y="876299"/>
              <a:ext cx="38100" cy="3390900"/>
            </a:xfrm>
            <a:custGeom>
              <a:avLst/>
              <a:gdLst/>
              <a:ahLst/>
              <a:cxnLst/>
              <a:rect l="l" t="t" r="r" b="b"/>
              <a:pathLst>
                <a:path w="38100" h="3390900">
                  <a:moveTo>
                    <a:pt x="38099" y="3390899"/>
                  </a:moveTo>
                  <a:lnTo>
                    <a:pt x="0" y="3390899"/>
                  </a:lnTo>
                  <a:lnTo>
                    <a:pt x="0" y="0"/>
                  </a:lnTo>
                  <a:lnTo>
                    <a:pt x="38099" y="0"/>
                  </a:lnTo>
                  <a:lnTo>
                    <a:pt x="38099" y="3390899"/>
                  </a:lnTo>
                  <a:close/>
                </a:path>
              </a:pathLst>
            </a:custGeom>
            <a:solidFill>
              <a:srgbClr val="FF9900"/>
            </a:solidFill>
          </p:spPr>
          <p:txBody>
            <a:bodyPr wrap="square" lIns="0" tIns="0" rIns="0" bIns="0" rtlCol="0"/>
            <a:lstStyle/>
            <a:p>
              <a:endParaRPr/>
            </a:p>
          </p:txBody>
        </p:sp>
        <p:pic>
          <p:nvPicPr>
            <p:cNvPr id="9" name="object 9"/>
            <p:cNvPicPr/>
            <p:nvPr/>
          </p:nvPicPr>
          <p:blipFill>
            <a:blip r:embed="rId3" cstate="print"/>
            <a:stretch>
              <a:fillRect/>
            </a:stretch>
          </p:blipFill>
          <p:spPr>
            <a:xfrm>
              <a:off x="457199" y="1104899"/>
              <a:ext cx="171449" cy="228599"/>
            </a:xfrm>
            <a:prstGeom prst="rect">
              <a:avLst/>
            </a:prstGeom>
          </p:spPr>
        </p:pic>
        <p:sp>
          <p:nvSpPr>
            <p:cNvPr id="10" name="object 10"/>
            <p:cNvSpPr/>
            <p:nvPr/>
          </p:nvSpPr>
          <p:spPr>
            <a:xfrm>
              <a:off x="457187" y="2438399"/>
              <a:ext cx="4429125" cy="1333500"/>
            </a:xfrm>
            <a:custGeom>
              <a:avLst/>
              <a:gdLst/>
              <a:ahLst/>
              <a:cxnLst/>
              <a:rect l="l" t="t" r="r" b="b"/>
              <a:pathLst>
                <a:path w="4429125" h="1333500">
                  <a:moveTo>
                    <a:pt x="4171950" y="71208"/>
                  </a:moveTo>
                  <a:lnTo>
                    <a:pt x="4156329" y="29705"/>
                  </a:lnTo>
                  <a:lnTo>
                    <a:pt x="4120299" y="3886"/>
                  </a:lnTo>
                  <a:lnTo>
                    <a:pt x="4100753" y="0"/>
                  </a:lnTo>
                  <a:lnTo>
                    <a:pt x="71208" y="0"/>
                  </a:lnTo>
                  <a:lnTo>
                    <a:pt x="29718" y="15633"/>
                  </a:lnTo>
                  <a:lnTo>
                    <a:pt x="3886" y="51663"/>
                  </a:lnTo>
                  <a:lnTo>
                    <a:pt x="0" y="71208"/>
                  </a:lnTo>
                  <a:lnTo>
                    <a:pt x="0" y="381000"/>
                  </a:lnTo>
                  <a:lnTo>
                    <a:pt x="0" y="386003"/>
                  </a:lnTo>
                  <a:lnTo>
                    <a:pt x="15633" y="427494"/>
                  </a:lnTo>
                  <a:lnTo>
                    <a:pt x="51663" y="453313"/>
                  </a:lnTo>
                  <a:lnTo>
                    <a:pt x="71208" y="457200"/>
                  </a:lnTo>
                  <a:lnTo>
                    <a:pt x="4100753" y="457200"/>
                  </a:lnTo>
                  <a:lnTo>
                    <a:pt x="4142244" y="441579"/>
                  </a:lnTo>
                  <a:lnTo>
                    <a:pt x="4168063" y="405549"/>
                  </a:lnTo>
                  <a:lnTo>
                    <a:pt x="4171950" y="386003"/>
                  </a:lnTo>
                  <a:lnTo>
                    <a:pt x="4171950" y="71208"/>
                  </a:lnTo>
                  <a:close/>
                </a:path>
                <a:path w="4429125" h="1333500">
                  <a:moveTo>
                    <a:pt x="4429125" y="947508"/>
                  </a:moveTo>
                  <a:lnTo>
                    <a:pt x="4413504" y="906005"/>
                  </a:lnTo>
                  <a:lnTo>
                    <a:pt x="4377474" y="880186"/>
                  </a:lnTo>
                  <a:lnTo>
                    <a:pt x="4357929" y="876300"/>
                  </a:lnTo>
                  <a:lnTo>
                    <a:pt x="71208" y="876300"/>
                  </a:lnTo>
                  <a:lnTo>
                    <a:pt x="29718" y="891921"/>
                  </a:lnTo>
                  <a:lnTo>
                    <a:pt x="3886" y="927963"/>
                  </a:lnTo>
                  <a:lnTo>
                    <a:pt x="0" y="947508"/>
                  </a:lnTo>
                  <a:lnTo>
                    <a:pt x="0" y="1257300"/>
                  </a:lnTo>
                  <a:lnTo>
                    <a:pt x="0" y="1262303"/>
                  </a:lnTo>
                  <a:lnTo>
                    <a:pt x="15633" y="1303794"/>
                  </a:lnTo>
                  <a:lnTo>
                    <a:pt x="51663" y="1329626"/>
                  </a:lnTo>
                  <a:lnTo>
                    <a:pt x="71208" y="1333500"/>
                  </a:lnTo>
                  <a:lnTo>
                    <a:pt x="4357929" y="1333500"/>
                  </a:lnTo>
                  <a:lnTo>
                    <a:pt x="4399419" y="1317879"/>
                  </a:lnTo>
                  <a:lnTo>
                    <a:pt x="4425239" y="1281849"/>
                  </a:lnTo>
                  <a:lnTo>
                    <a:pt x="4429125" y="1262303"/>
                  </a:lnTo>
                  <a:lnTo>
                    <a:pt x="4429125" y="947508"/>
                  </a:lnTo>
                  <a:close/>
                </a:path>
              </a:pathLst>
            </a:custGeom>
            <a:solidFill>
              <a:srgbClr val="F0F0F0"/>
            </a:solidFill>
          </p:spPr>
          <p:txBody>
            <a:bodyPr wrap="square" lIns="0" tIns="0" rIns="0" bIns="0" rtlCol="0"/>
            <a:lstStyle/>
            <a:p>
              <a:endParaRPr/>
            </a:p>
          </p:txBody>
        </p:sp>
      </p:grpSp>
      <p:grpSp>
        <p:nvGrpSpPr>
          <p:cNvPr id="11" name="object 11"/>
          <p:cNvGrpSpPr/>
          <p:nvPr/>
        </p:nvGrpSpPr>
        <p:grpSpPr>
          <a:xfrm>
            <a:off x="228599" y="3771900"/>
            <a:ext cx="5715000" cy="2895600"/>
            <a:chOff x="228599" y="4419599"/>
            <a:chExt cx="5715000" cy="2895600"/>
          </a:xfrm>
        </p:grpSpPr>
        <p:sp>
          <p:nvSpPr>
            <p:cNvPr id="12" name="object 12"/>
            <p:cNvSpPr/>
            <p:nvPr/>
          </p:nvSpPr>
          <p:spPr>
            <a:xfrm>
              <a:off x="228599" y="4419599"/>
              <a:ext cx="5715000" cy="2895600"/>
            </a:xfrm>
            <a:custGeom>
              <a:avLst/>
              <a:gdLst/>
              <a:ahLst/>
              <a:cxnLst/>
              <a:rect l="l" t="t" r="r" b="b"/>
              <a:pathLst>
                <a:path w="5715000" h="2895600">
                  <a:moveTo>
                    <a:pt x="5714999" y="2895599"/>
                  </a:moveTo>
                  <a:lnTo>
                    <a:pt x="0" y="2895599"/>
                  </a:lnTo>
                  <a:lnTo>
                    <a:pt x="0" y="0"/>
                  </a:lnTo>
                  <a:lnTo>
                    <a:pt x="5714999" y="0"/>
                  </a:lnTo>
                  <a:lnTo>
                    <a:pt x="5714999" y="2895599"/>
                  </a:lnTo>
                  <a:close/>
                </a:path>
              </a:pathLst>
            </a:custGeom>
            <a:solidFill>
              <a:srgbClr val="FFFFFF">
                <a:alpha val="90199"/>
              </a:srgbClr>
            </a:solidFill>
          </p:spPr>
          <p:txBody>
            <a:bodyPr wrap="square" lIns="0" tIns="0" rIns="0" bIns="0" rtlCol="0"/>
            <a:lstStyle/>
            <a:p>
              <a:endParaRPr/>
            </a:p>
          </p:txBody>
        </p:sp>
        <p:sp>
          <p:nvSpPr>
            <p:cNvPr id="13" name="object 13"/>
            <p:cNvSpPr/>
            <p:nvPr/>
          </p:nvSpPr>
          <p:spPr>
            <a:xfrm>
              <a:off x="228599" y="4419599"/>
              <a:ext cx="38100" cy="2895600"/>
            </a:xfrm>
            <a:custGeom>
              <a:avLst/>
              <a:gdLst/>
              <a:ahLst/>
              <a:cxnLst/>
              <a:rect l="l" t="t" r="r" b="b"/>
              <a:pathLst>
                <a:path w="38100" h="2895600">
                  <a:moveTo>
                    <a:pt x="38099" y="2895599"/>
                  </a:moveTo>
                  <a:lnTo>
                    <a:pt x="0" y="2895599"/>
                  </a:lnTo>
                  <a:lnTo>
                    <a:pt x="0" y="0"/>
                  </a:lnTo>
                  <a:lnTo>
                    <a:pt x="38099" y="0"/>
                  </a:lnTo>
                  <a:lnTo>
                    <a:pt x="38099" y="2895599"/>
                  </a:lnTo>
                  <a:close/>
                </a:path>
              </a:pathLst>
            </a:custGeom>
            <a:solidFill>
              <a:srgbClr val="FF9900"/>
            </a:solidFill>
          </p:spPr>
          <p:txBody>
            <a:bodyPr wrap="square" lIns="0" tIns="0" rIns="0" bIns="0" rtlCol="0"/>
            <a:lstStyle/>
            <a:p>
              <a:endParaRPr/>
            </a:p>
          </p:txBody>
        </p:sp>
        <p:sp>
          <p:nvSpPr>
            <p:cNvPr id="14" name="object 14"/>
            <p:cNvSpPr/>
            <p:nvPr/>
          </p:nvSpPr>
          <p:spPr>
            <a:xfrm>
              <a:off x="457199" y="5943599"/>
              <a:ext cx="5295900" cy="1066800"/>
            </a:xfrm>
            <a:custGeom>
              <a:avLst/>
              <a:gdLst/>
              <a:ahLst/>
              <a:cxnLst/>
              <a:rect l="l" t="t" r="r" b="b"/>
              <a:pathLst>
                <a:path w="5295900" h="1066800">
                  <a:moveTo>
                    <a:pt x="5224702" y="1066799"/>
                  </a:moveTo>
                  <a:lnTo>
                    <a:pt x="71196" y="1066799"/>
                  </a:lnTo>
                  <a:lnTo>
                    <a:pt x="66241" y="1066310"/>
                  </a:lnTo>
                  <a:lnTo>
                    <a:pt x="29705" y="1051177"/>
                  </a:lnTo>
                  <a:lnTo>
                    <a:pt x="3885" y="1015137"/>
                  </a:lnTo>
                  <a:lnTo>
                    <a:pt x="0" y="995603"/>
                  </a:lnTo>
                  <a:lnTo>
                    <a:pt x="0" y="990599"/>
                  </a:lnTo>
                  <a:lnTo>
                    <a:pt x="0" y="71196"/>
                  </a:lnTo>
                  <a:lnTo>
                    <a:pt x="15621" y="29703"/>
                  </a:lnTo>
                  <a:lnTo>
                    <a:pt x="51661" y="3885"/>
                  </a:lnTo>
                  <a:lnTo>
                    <a:pt x="71196" y="0"/>
                  </a:lnTo>
                  <a:lnTo>
                    <a:pt x="5224702" y="0"/>
                  </a:lnTo>
                  <a:lnTo>
                    <a:pt x="5266193" y="15621"/>
                  </a:lnTo>
                  <a:lnTo>
                    <a:pt x="5292013" y="51660"/>
                  </a:lnTo>
                  <a:lnTo>
                    <a:pt x="5295899" y="71196"/>
                  </a:lnTo>
                  <a:lnTo>
                    <a:pt x="5295899" y="995603"/>
                  </a:lnTo>
                  <a:lnTo>
                    <a:pt x="5280277" y="1037094"/>
                  </a:lnTo>
                  <a:lnTo>
                    <a:pt x="5244237" y="1062912"/>
                  </a:lnTo>
                  <a:lnTo>
                    <a:pt x="5229657" y="1066310"/>
                  </a:lnTo>
                  <a:lnTo>
                    <a:pt x="5224702" y="1066799"/>
                  </a:lnTo>
                  <a:close/>
                </a:path>
              </a:pathLst>
            </a:custGeom>
            <a:solidFill>
              <a:srgbClr val="EFF5FF"/>
            </a:solidFill>
          </p:spPr>
          <p:txBody>
            <a:bodyPr wrap="square" lIns="0" tIns="0" rIns="0" bIns="0" rtlCol="0"/>
            <a:lstStyle/>
            <a:p>
              <a:endParaRPr/>
            </a:p>
          </p:txBody>
        </p:sp>
        <p:pic>
          <p:nvPicPr>
            <p:cNvPr id="15" name="object 15"/>
            <p:cNvPicPr/>
            <p:nvPr/>
          </p:nvPicPr>
          <p:blipFill>
            <a:blip r:embed="rId4" cstate="print"/>
            <a:stretch>
              <a:fillRect/>
            </a:stretch>
          </p:blipFill>
          <p:spPr>
            <a:xfrm>
              <a:off x="457199" y="4648199"/>
              <a:ext cx="228599" cy="228599"/>
            </a:xfrm>
            <a:prstGeom prst="rect">
              <a:avLst/>
            </a:prstGeom>
          </p:spPr>
        </p:pic>
      </p:grpSp>
      <p:grpSp>
        <p:nvGrpSpPr>
          <p:cNvPr id="16" name="object 16"/>
          <p:cNvGrpSpPr/>
          <p:nvPr/>
        </p:nvGrpSpPr>
        <p:grpSpPr>
          <a:xfrm>
            <a:off x="6248399" y="685800"/>
            <a:ext cx="5715000" cy="3695700"/>
            <a:chOff x="6248399" y="876299"/>
            <a:chExt cx="5715000" cy="3695700"/>
          </a:xfrm>
        </p:grpSpPr>
        <p:sp>
          <p:nvSpPr>
            <p:cNvPr id="17" name="object 17"/>
            <p:cNvSpPr/>
            <p:nvPr/>
          </p:nvSpPr>
          <p:spPr>
            <a:xfrm>
              <a:off x="6248399" y="876299"/>
              <a:ext cx="5715000" cy="3695700"/>
            </a:xfrm>
            <a:custGeom>
              <a:avLst/>
              <a:gdLst/>
              <a:ahLst/>
              <a:cxnLst/>
              <a:rect l="l" t="t" r="r" b="b"/>
              <a:pathLst>
                <a:path w="5715000" h="3695700">
                  <a:moveTo>
                    <a:pt x="5714999" y="3695699"/>
                  </a:moveTo>
                  <a:lnTo>
                    <a:pt x="0" y="3695699"/>
                  </a:lnTo>
                  <a:lnTo>
                    <a:pt x="0" y="0"/>
                  </a:lnTo>
                  <a:lnTo>
                    <a:pt x="5714999" y="0"/>
                  </a:lnTo>
                  <a:lnTo>
                    <a:pt x="5714999" y="3695699"/>
                  </a:lnTo>
                  <a:close/>
                </a:path>
              </a:pathLst>
            </a:custGeom>
            <a:solidFill>
              <a:srgbClr val="FFFFFF">
                <a:alpha val="90199"/>
              </a:srgbClr>
            </a:solidFill>
          </p:spPr>
          <p:txBody>
            <a:bodyPr wrap="square" lIns="0" tIns="0" rIns="0" bIns="0" rtlCol="0"/>
            <a:lstStyle/>
            <a:p>
              <a:endParaRPr/>
            </a:p>
          </p:txBody>
        </p:sp>
        <p:sp>
          <p:nvSpPr>
            <p:cNvPr id="18" name="object 18"/>
            <p:cNvSpPr/>
            <p:nvPr/>
          </p:nvSpPr>
          <p:spPr>
            <a:xfrm>
              <a:off x="6248399" y="876299"/>
              <a:ext cx="38100" cy="3695700"/>
            </a:xfrm>
            <a:custGeom>
              <a:avLst/>
              <a:gdLst/>
              <a:ahLst/>
              <a:cxnLst/>
              <a:rect l="l" t="t" r="r" b="b"/>
              <a:pathLst>
                <a:path w="38100" h="3695700">
                  <a:moveTo>
                    <a:pt x="38099" y="3695699"/>
                  </a:moveTo>
                  <a:lnTo>
                    <a:pt x="0" y="3695699"/>
                  </a:lnTo>
                  <a:lnTo>
                    <a:pt x="0" y="0"/>
                  </a:lnTo>
                  <a:lnTo>
                    <a:pt x="38099" y="0"/>
                  </a:lnTo>
                  <a:lnTo>
                    <a:pt x="38099" y="3695699"/>
                  </a:lnTo>
                  <a:close/>
                </a:path>
              </a:pathLst>
            </a:custGeom>
            <a:solidFill>
              <a:srgbClr val="FF9900"/>
            </a:solidFill>
          </p:spPr>
          <p:txBody>
            <a:bodyPr wrap="square" lIns="0" tIns="0" rIns="0" bIns="0" rtlCol="0"/>
            <a:lstStyle/>
            <a:p>
              <a:endParaRPr/>
            </a:p>
          </p:txBody>
        </p:sp>
        <p:pic>
          <p:nvPicPr>
            <p:cNvPr id="19" name="object 19"/>
            <p:cNvPicPr/>
            <p:nvPr/>
          </p:nvPicPr>
          <p:blipFill>
            <a:blip r:embed="rId5" cstate="print"/>
            <a:stretch>
              <a:fillRect/>
            </a:stretch>
          </p:blipFill>
          <p:spPr>
            <a:xfrm>
              <a:off x="6476999" y="1104899"/>
              <a:ext cx="228599" cy="228599"/>
            </a:xfrm>
            <a:prstGeom prst="rect">
              <a:avLst/>
            </a:prstGeom>
          </p:spPr>
        </p:pic>
      </p:grpSp>
      <p:sp>
        <p:nvSpPr>
          <p:cNvPr id="20" name="object 20"/>
          <p:cNvSpPr txBox="1"/>
          <p:nvPr/>
        </p:nvSpPr>
        <p:spPr>
          <a:xfrm>
            <a:off x="6286499" y="829891"/>
            <a:ext cx="5676900" cy="340360"/>
          </a:xfrm>
          <a:prstGeom prst="rect">
            <a:avLst/>
          </a:prstGeom>
        </p:spPr>
        <p:txBody>
          <a:bodyPr vert="horz" wrap="square" lIns="0" tIns="14604" rIns="0" bIns="0" rtlCol="0">
            <a:spAutoFit/>
          </a:bodyPr>
          <a:lstStyle/>
          <a:p>
            <a:pPr marL="533400">
              <a:lnSpc>
                <a:spcPct val="100000"/>
              </a:lnSpc>
              <a:spcBef>
                <a:spcPts val="114"/>
              </a:spcBef>
            </a:pPr>
            <a:r>
              <a:rPr sz="1950" spc="-165" dirty="0">
                <a:solidFill>
                  <a:srgbClr val="003366"/>
                </a:solidFill>
                <a:latin typeface="SimSun"/>
                <a:cs typeface="SimSun"/>
              </a:rPr>
              <a:t>信頼区</a:t>
            </a:r>
            <a:r>
              <a:rPr sz="1900" spc="-105" dirty="0">
                <a:solidFill>
                  <a:srgbClr val="003366"/>
                </a:solidFill>
                <a:latin typeface="PMingLiU"/>
                <a:cs typeface="PMingLiU"/>
              </a:rPr>
              <a:t>間</a:t>
            </a:r>
            <a:r>
              <a:rPr sz="1750" spc="114" dirty="0">
                <a:solidFill>
                  <a:srgbClr val="003366"/>
                </a:solidFill>
                <a:latin typeface="PMingLiU"/>
                <a:cs typeface="PMingLiU"/>
              </a:rPr>
              <a:t>と</a:t>
            </a:r>
            <a:r>
              <a:rPr sz="1950" spc="-165" dirty="0">
                <a:solidFill>
                  <a:srgbClr val="003366"/>
                </a:solidFill>
                <a:latin typeface="SimSun"/>
                <a:cs typeface="SimSun"/>
              </a:rPr>
              <a:t>推</a:t>
            </a:r>
            <a:r>
              <a:rPr sz="2050" spc="-270" dirty="0">
                <a:solidFill>
                  <a:srgbClr val="003366"/>
                </a:solidFill>
                <a:latin typeface="SimSun"/>
                <a:cs typeface="SimSun"/>
              </a:rPr>
              <a:t>定</a:t>
            </a:r>
            <a:r>
              <a:rPr sz="1950" spc="-165" dirty="0">
                <a:solidFill>
                  <a:srgbClr val="003366"/>
                </a:solidFill>
                <a:latin typeface="SimSun"/>
                <a:cs typeface="SimSun"/>
              </a:rPr>
              <a:t>区</a:t>
            </a:r>
            <a:r>
              <a:rPr sz="1900" spc="-105" dirty="0">
                <a:solidFill>
                  <a:srgbClr val="003366"/>
                </a:solidFill>
                <a:latin typeface="PMingLiU"/>
                <a:cs typeface="PMingLiU"/>
              </a:rPr>
              <a:t>間</a:t>
            </a:r>
            <a:r>
              <a:rPr sz="1750" spc="114" dirty="0">
                <a:solidFill>
                  <a:srgbClr val="003366"/>
                </a:solidFill>
                <a:latin typeface="PMingLiU"/>
                <a:cs typeface="PMingLiU"/>
              </a:rPr>
              <a:t>の</a:t>
            </a:r>
            <a:r>
              <a:rPr sz="2050" spc="-270" dirty="0">
                <a:solidFill>
                  <a:srgbClr val="003366"/>
                </a:solidFill>
                <a:latin typeface="SimSun"/>
                <a:cs typeface="SimSun"/>
              </a:rPr>
              <a:t>視覚</a:t>
            </a:r>
            <a:r>
              <a:rPr sz="1950" spc="-50" dirty="0">
                <a:solidFill>
                  <a:srgbClr val="003366"/>
                </a:solidFill>
                <a:latin typeface="SimSun"/>
                <a:cs typeface="SimSun"/>
              </a:rPr>
              <a:t>化</a:t>
            </a:r>
            <a:endParaRPr sz="1950">
              <a:latin typeface="SimSun"/>
              <a:cs typeface="SimSun"/>
            </a:endParaRPr>
          </a:p>
        </p:txBody>
      </p:sp>
      <p:grpSp>
        <p:nvGrpSpPr>
          <p:cNvPr id="22" name="object 22"/>
          <p:cNvGrpSpPr/>
          <p:nvPr/>
        </p:nvGrpSpPr>
        <p:grpSpPr>
          <a:xfrm>
            <a:off x="6248399" y="4076700"/>
            <a:ext cx="5715000" cy="2590800"/>
            <a:chOff x="6248399" y="4724399"/>
            <a:chExt cx="5715000" cy="2590800"/>
          </a:xfrm>
        </p:grpSpPr>
        <p:sp>
          <p:nvSpPr>
            <p:cNvPr id="23" name="object 23"/>
            <p:cNvSpPr/>
            <p:nvPr/>
          </p:nvSpPr>
          <p:spPr>
            <a:xfrm>
              <a:off x="6248399" y="4724399"/>
              <a:ext cx="5715000" cy="2590800"/>
            </a:xfrm>
            <a:custGeom>
              <a:avLst/>
              <a:gdLst/>
              <a:ahLst/>
              <a:cxnLst/>
              <a:rect l="l" t="t" r="r" b="b"/>
              <a:pathLst>
                <a:path w="5715000" h="2590800">
                  <a:moveTo>
                    <a:pt x="5714999" y="2590799"/>
                  </a:moveTo>
                  <a:lnTo>
                    <a:pt x="0" y="2590799"/>
                  </a:lnTo>
                  <a:lnTo>
                    <a:pt x="0" y="0"/>
                  </a:lnTo>
                  <a:lnTo>
                    <a:pt x="5714999" y="0"/>
                  </a:lnTo>
                  <a:lnTo>
                    <a:pt x="5714999" y="2590799"/>
                  </a:lnTo>
                  <a:close/>
                </a:path>
              </a:pathLst>
            </a:custGeom>
            <a:solidFill>
              <a:srgbClr val="FFFFFF">
                <a:alpha val="90199"/>
              </a:srgbClr>
            </a:solidFill>
          </p:spPr>
          <p:txBody>
            <a:bodyPr wrap="square" lIns="0" tIns="0" rIns="0" bIns="0" rtlCol="0"/>
            <a:lstStyle/>
            <a:p>
              <a:endParaRPr/>
            </a:p>
          </p:txBody>
        </p:sp>
        <p:sp>
          <p:nvSpPr>
            <p:cNvPr id="24" name="object 24"/>
            <p:cNvSpPr/>
            <p:nvPr/>
          </p:nvSpPr>
          <p:spPr>
            <a:xfrm>
              <a:off x="6248399" y="4724399"/>
              <a:ext cx="38100" cy="2590800"/>
            </a:xfrm>
            <a:custGeom>
              <a:avLst/>
              <a:gdLst/>
              <a:ahLst/>
              <a:cxnLst/>
              <a:rect l="l" t="t" r="r" b="b"/>
              <a:pathLst>
                <a:path w="38100" h="2590800">
                  <a:moveTo>
                    <a:pt x="38099" y="2590799"/>
                  </a:moveTo>
                  <a:lnTo>
                    <a:pt x="0" y="2590799"/>
                  </a:lnTo>
                  <a:lnTo>
                    <a:pt x="0" y="0"/>
                  </a:lnTo>
                  <a:lnTo>
                    <a:pt x="38099" y="0"/>
                  </a:lnTo>
                  <a:lnTo>
                    <a:pt x="38099" y="2590799"/>
                  </a:lnTo>
                  <a:close/>
                </a:path>
              </a:pathLst>
            </a:custGeom>
            <a:solidFill>
              <a:srgbClr val="FF9900"/>
            </a:solidFill>
          </p:spPr>
          <p:txBody>
            <a:bodyPr wrap="square" lIns="0" tIns="0" rIns="0" bIns="0" rtlCol="0"/>
            <a:lstStyle/>
            <a:p>
              <a:endParaRPr/>
            </a:p>
          </p:txBody>
        </p:sp>
        <p:pic>
          <p:nvPicPr>
            <p:cNvPr id="25" name="object 25"/>
            <p:cNvPicPr/>
            <p:nvPr/>
          </p:nvPicPr>
          <p:blipFill>
            <a:blip r:embed="rId6" cstate="print"/>
            <a:stretch>
              <a:fillRect/>
            </a:stretch>
          </p:blipFill>
          <p:spPr>
            <a:xfrm>
              <a:off x="6476999" y="4952999"/>
              <a:ext cx="171449" cy="228599"/>
            </a:xfrm>
            <a:prstGeom prst="rect">
              <a:avLst/>
            </a:prstGeom>
          </p:spPr>
        </p:pic>
        <p:sp>
          <p:nvSpPr>
            <p:cNvPr id="26" name="object 26"/>
            <p:cNvSpPr/>
            <p:nvPr/>
          </p:nvSpPr>
          <p:spPr>
            <a:xfrm>
              <a:off x="6476999" y="5333999"/>
              <a:ext cx="304800" cy="381000"/>
            </a:xfrm>
            <a:custGeom>
              <a:avLst/>
              <a:gdLst/>
              <a:ahLst/>
              <a:cxnLst/>
              <a:rect l="l" t="t" r="r" b="b"/>
              <a:pathLst>
                <a:path w="304800" h="381000">
                  <a:moveTo>
                    <a:pt x="152399" y="380999"/>
                  </a:moveTo>
                  <a:lnTo>
                    <a:pt x="108159" y="374438"/>
                  </a:lnTo>
                  <a:lnTo>
                    <a:pt x="67730" y="355315"/>
                  </a:lnTo>
                  <a:lnTo>
                    <a:pt x="34591" y="325282"/>
                  </a:lnTo>
                  <a:lnTo>
                    <a:pt x="11600" y="286920"/>
                  </a:lnTo>
                  <a:lnTo>
                    <a:pt x="732" y="243538"/>
                  </a:lnTo>
                  <a:lnTo>
                    <a:pt x="0" y="228599"/>
                  </a:lnTo>
                  <a:lnTo>
                    <a:pt x="0" y="152399"/>
                  </a:lnTo>
                  <a:lnTo>
                    <a:pt x="6560" y="108159"/>
                  </a:lnTo>
                  <a:lnTo>
                    <a:pt x="25683" y="67730"/>
                  </a:lnTo>
                  <a:lnTo>
                    <a:pt x="55717" y="34591"/>
                  </a:lnTo>
                  <a:lnTo>
                    <a:pt x="94078" y="11600"/>
                  </a:lnTo>
                  <a:lnTo>
                    <a:pt x="137461" y="732"/>
                  </a:lnTo>
                  <a:lnTo>
                    <a:pt x="152399" y="0"/>
                  </a:lnTo>
                  <a:lnTo>
                    <a:pt x="159886" y="183"/>
                  </a:lnTo>
                  <a:lnTo>
                    <a:pt x="203732" y="8904"/>
                  </a:lnTo>
                  <a:lnTo>
                    <a:pt x="243190" y="29995"/>
                  </a:lnTo>
                  <a:lnTo>
                    <a:pt x="274802" y="61607"/>
                  </a:lnTo>
                  <a:lnTo>
                    <a:pt x="295894" y="101065"/>
                  </a:lnTo>
                  <a:lnTo>
                    <a:pt x="304616" y="144912"/>
                  </a:lnTo>
                  <a:lnTo>
                    <a:pt x="304799" y="152399"/>
                  </a:lnTo>
                  <a:lnTo>
                    <a:pt x="304799" y="228599"/>
                  </a:lnTo>
                  <a:lnTo>
                    <a:pt x="298238" y="272839"/>
                  </a:lnTo>
                  <a:lnTo>
                    <a:pt x="279114" y="313268"/>
                  </a:lnTo>
                  <a:lnTo>
                    <a:pt x="249081" y="346407"/>
                  </a:lnTo>
                  <a:lnTo>
                    <a:pt x="210719" y="369398"/>
                  </a:lnTo>
                  <a:lnTo>
                    <a:pt x="167337" y="380267"/>
                  </a:lnTo>
                  <a:lnTo>
                    <a:pt x="152399" y="380999"/>
                  </a:lnTo>
                  <a:close/>
                </a:path>
              </a:pathLst>
            </a:custGeom>
            <a:solidFill>
              <a:srgbClr val="2562EB"/>
            </a:solidFill>
          </p:spPr>
          <p:txBody>
            <a:bodyPr wrap="square" lIns="0" tIns="0" rIns="0" bIns="0" rtlCol="0"/>
            <a:lstStyle/>
            <a:p>
              <a:endParaRPr/>
            </a:p>
          </p:txBody>
        </p:sp>
        <p:pic>
          <p:nvPicPr>
            <p:cNvPr id="27" name="object 27"/>
            <p:cNvPicPr/>
            <p:nvPr/>
          </p:nvPicPr>
          <p:blipFill>
            <a:blip r:embed="rId7" cstate="print"/>
            <a:stretch>
              <a:fillRect/>
            </a:stretch>
          </p:blipFill>
          <p:spPr>
            <a:xfrm>
              <a:off x="6562724" y="5467349"/>
              <a:ext cx="133349" cy="95249"/>
            </a:xfrm>
            <a:prstGeom prst="rect">
              <a:avLst/>
            </a:prstGeom>
          </p:spPr>
        </p:pic>
        <p:sp>
          <p:nvSpPr>
            <p:cNvPr id="28" name="object 28"/>
            <p:cNvSpPr/>
            <p:nvPr/>
          </p:nvSpPr>
          <p:spPr>
            <a:xfrm>
              <a:off x="6476999" y="5829299"/>
              <a:ext cx="285750" cy="381000"/>
            </a:xfrm>
            <a:custGeom>
              <a:avLst/>
              <a:gdLst/>
              <a:ahLst/>
              <a:cxnLst/>
              <a:rect l="l" t="t" r="r" b="b"/>
              <a:pathLst>
                <a:path w="285750" h="381000">
                  <a:moveTo>
                    <a:pt x="142874" y="380999"/>
                  </a:moveTo>
                  <a:lnTo>
                    <a:pt x="101399" y="374848"/>
                  </a:lnTo>
                  <a:lnTo>
                    <a:pt x="63497" y="356920"/>
                  </a:lnTo>
                  <a:lnTo>
                    <a:pt x="32429" y="328763"/>
                  </a:lnTo>
                  <a:lnTo>
                    <a:pt x="10875" y="292799"/>
                  </a:lnTo>
                  <a:lnTo>
                    <a:pt x="686" y="252129"/>
                  </a:lnTo>
                  <a:lnTo>
                    <a:pt x="0" y="238124"/>
                  </a:lnTo>
                  <a:lnTo>
                    <a:pt x="0" y="142874"/>
                  </a:lnTo>
                  <a:lnTo>
                    <a:pt x="6149" y="101398"/>
                  </a:lnTo>
                  <a:lnTo>
                    <a:pt x="24078" y="63496"/>
                  </a:lnTo>
                  <a:lnTo>
                    <a:pt x="52235" y="32428"/>
                  </a:lnTo>
                  <a:lnTo>
                    <a:pt x="88198" y="10874"/>
                  </a:lnTo>
                  <a:lnTo>
                    <a:pt x="128870" y="686"/>
                  </a:lnTo>
                  <a:lnTo>
                    <a:pt x="142874" y="0"/>
                  </a:lnTo>
                  <a:lnTo>
                    <a:pt x="149893" y="171"/>
                  </a:lnTo>
                  <a:lnTo>
                    <a:pt x="190999" y="8347"/>
                  </a:lnTo>
                  <a:lnTo>
                    <a:pt x="227991" y="28120"/>
                  </a:lnTo>
                  <a:lnTo>
                    <a:pt x="257627" y="57755"/>
                  </a:lnTo>
                  <a:lnTo>
                    <a:pt x="277400" y="94748"/>
                  </a:lnTo>
                  <a:lnTo>
                    <a:pt x="285578" y="135855"/>
                  </a:lnTo>
                  <a:lnTo>
                    <a:pt x="285749" y="142874"/>
                  </a:lnTo>
                  <a:lnTo>
                    <a:pt x="285749" y="238124"/>
                  </a:lnTo>
                  <a:lnTo>
                    <a:pt x="279598" y="279599"/>
                  </a:lnTo>
                  <a:lnTo>
                    <a:pt x="261670" y="317500"/>
                  </a:lnTo>
                  <a:lnTo>
                    <a:pt x="233513" y="348569"/>
                  </a:lnTo>
                  <a:lnTo>
                    <a:pt x="197550" y="370123"/>
                  </a:lnTo>
                  <a:lnTo>
                    <a:pt x="156878" y="380313"/>
                  </a:lnTo>
                  <a:lnTo>
                    <a:pt x="142874" y="380999"/>
                  </a:lnTo>
                  <a:close/>
                </a:path>
              </a:pathLst>
            </a:custGeom>
            <a:solidFill>
              <a:srgbClr val="2562EB"/>
            </a:solidFill>
          </p:spPr>
          <p:txBody>
            <a:bodyPr wrap="square" lIns="0" tIns="0" rIns="0" bIns="0" rtlCol="0"/>
            <a:lstStyle/>
            <a:p>
              <a:endParaRPr/>
            </a:p>
          </p:txBody>
        </p:sp>
        <p:pic>
          <p:nvPicPr>
            <p:cNvPr id="29" name="object 29"/>
            <p:cNvPicPr/>
            <p:nvPr/>
          </p:nvPicPr>
          <p:blipFill>
            <a:blip r:embed="rId8" cstate="print"/>
            <a:stretch>
              <a:fillRect/>
            </a:stretch>
          </p:blipFill>
          <p:spPr>
            <a:xfrm>
              <a:off x="6553199" y="5953124"/>
              <a:ext cx="133349" cy="114299"/>
            </a:xfrm>
            <a:prstGeom prst="rect">
              <a:avLst/>
            </a:prstGeom>
          </p:spPr>
        </p:pic>
        <p:sp>
          <p:nvSpPr>
            <p:cNvPr id="30" name="object 30"/>
            <p:cNvSpPr/>
            <p:nvPr/>
          </p:nvSpPr>
          <p:spPr>
            <a:xfrm>
              <a:off x="6476999" y="6324599"/>
              <a:ext cx="304800" cy="381000"/>
            </a:xfrm>
            <a:custGeom>
              <a:avLst/>
              <a:gdLst/>
              <a:ahLst/>
              <a:cxnLst/>
              <a:rect l="l" t="t" r="r" b="b"/>
              <a:pathLst>
                <a:path w="304800" h="381000">
                  <a:moveTo>
                    <a:pt x="152399" y="380999"/>
                  </a:moveTo>
                  <a:lnTo>
                    <a:pt x="108159" y="374439"/>
                  </a:lnTo>
                  <a:lnTo>
                    <a:pt x="67730" y="355315"/>
                  </a:lnTo>
                  <a:lnTo>
                    <a:pt x="34591" y="325282"/>
                  </a:lnTo>
                  <a:lnTo>
                    <a:pt x="11600" y="286920"/>
                  </a:lnTo>
                  <a:lnTo>
                    <a:pt x="732" y="243537"/>
                  </a:lnTo>
                  <a:lnTo>
                    <a:pt x="0" y="228599"/>
                  </a:lnTo>
                  <a:lnTo>
                    <a:pt x="0" y="152399"/>
                  </a:lnTo>
                  <a:lnTo>
                    <a:pt x="6560" y="108159"/>
                  </a:lnTo>
                  <a:lnTo>
                    <a:pt x="25683" y="67730"/>
                  </a:lnTo>
                  <a:lnTo>
                    <a:pt x="55717" y="34591"/>
                  </a:lnTo>
                  <a:lnTo>
                    <a:pt x="94078" y="11600"/>
                  </a:lnTo>
                  <a:lnTo>
                    <a:pt x="137461" y="732"/>
                  </a:lnTo>
                  <a:lnTo>
                    <a:pt x="152399" y="0"/>
                  </a:lnTo>
                  <a:lnTo>
                    <a:pt x="159886" y="183"/>
                  </a:lnTo>
                  <a:lnTo>
                    <a:pt x="203732" y="8904"/>
                  </a:lnTo>
                  <a:lnTo>
                    <a:pt x="243190" y="29995"/>
                  </a:lnTo>
                  <a:lnTo>
                    <a:pt x="274802" y="61607"/>
                  </a:lnTo>
                  <a:lnTo>
                    <a:pt x="295894" y="101065"/>
                  </a:lnTo>
                  <a:lnTo>
                    <a:pt x="304616" y="144912"/>
                  </a:lnTo>
                  <a:lnTo>
                    <a:pt x="304799" y="152399"/>
                  </a:lnTo>
                  <a:lnTo>
                    <a:pt x="304799" y="228599"/>
                  </a:lnTo>
                  <a:lnTo>
                    <a:pt x="298238" y="272838"/>
                  </a:lnTo>
                  <a:lnTo>
                    <a:pt x="279114" y="313268"/>
                  </a:lnTo>
                  <a:lnTo>
                    <a:pt x="249081" y="346407"/>
                  </a:lnTo>
                  <a:lnTo>
                    <a:pt x="210719" y="369398"/>
                  </a:lnTo>
                  <a:lnTo>
                    <a:pt x="167337" y="380267"/>
                  </a:lnTo>
                  <a:lnTo>
                    <a:pt x="152399" y="380999"/>
                  </a:lnTo>
                  <a:close/>
                </a:path>
              </a:pathLst>
            </a:custGeom>
            <a:solidFill>
              <a:srgbClr val="2562EB"/>
            </a:solidFill>
          </p:spPr>
          <p:txBody>
            <a:bodyPr wrap="square" lIns="0" tIns="0" rIns="0" bIns="0" rtlCol="0"/>
            <a:lstStyle/>
            <a:p>
              <a:endParaRPr/>
            </a:p>
          </p:txBody>
        </p:sp>
        <p:pic>
          <p:nvPicPr>
            <p:cNvPr id="31" name="object 31"/>
            <p:cNvPicPr/>
            <p:nvPr/>
          </p:nvPicPr>
          <p:blipFill>
            <a:blip r:embed="rId9" cstate="print"/>
            <a:stretch>
              <a:fillRect/>
            </a:stretch>
          </p:blipFill>
          <p:spPr>
            <a:xfrm>
              <a:off x="6553199" y="6429374"/>
              <a:ext cx="152399" cy="152399"/>
            </a:xfrm>
            <a:prstGeom prst="rect">
              <a:avLst/>
            </a:prstGeom>
          </p:spPr>
        </p:pic>
      </p:grpSp>
      <p:sp>
        <p:nvSpPr>
          <p:cNvPr id="32" name="object 32"/>
          <p:cNvSpPr txBox="1"/>
          <p:nvPr/>
        </p:nvSpPr>
        <p:spPr>
          <a:xfrm>
            <a:off x="241299" y="829891"/>
            <a:ext cx="5727700" cy="3048635"/>
          </a:xfrm>
          <a:prstGeom prst="rect">
            <a:avLst/>
          </a:prstGeom>
        </p:spPr>
        <p:txBody>
          <a:bodyPr vert="horz" wrap="square" lIns="0" tIns="14604" rIns="0" bIns="0" rtlCol="0">
            <a:spAutoFit/>
          </a:bodyPr>
          <a:lstStyle/>
          <a:p>
            <a:pPr marL="501015">
              <a:lnSpc>
                <a:spcPct val="100000"/>
              </a:lnSpc>
              <a:spcBef>
                <a:spcPts val="114"/>
              </a:spcBef>
            </a:pPr>
            <a:r>
              <a:rPr sz="1950" spc="-165" dirty="0">
                <a:solidFill>
                  <a:srgbClr val="003366"/>
                </a:solidFill>
                <a:latin typeface="SimSun"/>
                <a:cs typeface="SimSun"/>
              </a:rPr>
              <a:t>信頼区</a:t>
            </a:r>
            <a:r>
              <a:rPr sz="1900" spc="-105" dirty="0">
                <a:solidFill>
                  <a:srgbClr val="003366"/>
                </a:solidFill>
                <a:latin typeface="PMingLiU"/>
                <a:cs typeface="PMingLiU"/>
              </a:rPr>
              <a:t>間</a:t>
            </a:r>
            <a:r>
              <a:rPr sz="1750" spc="114" dirty="0">
                <a:solidFill>
                  <a:srgbClr val="003366"/>
                </a:solidFill>
                <a:latin typeface="PMingLiU"/>
                <a:cs typeface="PMingLiU"/>
              </a:rPr>
              <a:t>と</a:t>
            </a:r>
            <a:r>
              <a:rPr sz="1950" spc="-165" dirty="0">
                <a:solidFill>
                  <a:srgbClr val="003366"/>
                </a:solidFill>
                <a:latin typeface="SimSun"/>
                <a:cs typeface="SimSun"/>
              </a:rPr>
              <a:t>推</a:t>
            </a:r>
            <a:r>
              <a:rPr sz="2050" spc="-270" dirty="0">
                <a:solidFill>
                  <a:srgbClr val="003366"/>
                </a:solidFill>
                <a:latin typeface="SimSun"/>
                <a:cs typeface="SimSun"/>
              </a:rPr>
              <a:t>定</a:t>
            </a:r>
            <a:r>
              <a:rPr sz="1950" spc="-165" dirty="0">
                <a:solidFill>
                  <a:srgbClr val="003366"/>
                </a:solidFill>
                <a:latin typeface="SimSun"/>
                <a:cs typeface="SimSun"/>
              </a:rPr>
              <a:t>区</a:t>
            </a:r>
            <a:r>
              <a:rPr sz="1900" spc="-105" dirty="0">
                <a:solidFill>
                  <a:srgbClr val="003366"/>
                </a:solidFill>
                <a:latin typeface="PMingLiU"/>
                <a:cs typeface="PMingLiU"/>
              </a:rPr>
              <a:t>間</a:t>
            </a:r>
            <a:r>
              <a:rPr sz="1750" spc="114" dirty="0">
                <a:solidFill>
                  <a:srgbClr val="003366"/>
                </a:solidFill>
                <a:latin typeface="PMingLiU"/>
                <a:cs typeface="PMingLiU"/>
              </a:rPr>
              <a:t>の</a:t>
            </a:r>
            <a:r>
              <a:rPr sz="2000" spc="-125" dirty="0">
                <a:solidFill>
                  <a:srgbClr val="003366"/>
                </a:solidFill>
                <a:latin typeface="SimSun"/>
                <a:cs typeface="SimSun"/>
              </a:rPr>
              <a:t>計算</a:t>
            </a:r>
            <a:endParaRPr sz="2000">
              <a:latin typeface="SimSun"/>
              <a:cs typeface="SimSun"/>
            </a:endParaRPr>
          </a:p>
          <a:p>
            <a:pPr marL="215900" marR="264795">
              <a:lnSpc>
                <a:spcPct val="129600"/>
              </a:lnSpc>
              <a:spcBef>
                <a:spcPts val="760"/>
              </a:spcBef>
            </a:pPr>
            <a:r>
              <a:rPr sz="1350" spc="-15" dirty="0">
                <a:solidFill>
                  <a:srgbClr val="374050"/>
                </a:solidFill>
                <a:latin typeface="PMingLiU"/>
                <a:cs typeface="PMingLiU"/>
              </a:rPr>
              <a:t>信頼区間と推定区間は、</a:t>
            </a:r>
            <a:r>
              <a:rPr sz="1350" dirty="0">
                <a:solidFill>
                  <a:srgbClr val="374050"/>
                </a:solidFill>
                <a:latin typeface="Arial"/>
                <a:cs typeface="Arial"/>
              </a:rPr>
              <a:t>2</a:t>
            </a:r>
            <a:r>
              <a:rPr sz="1350" spc="-35" dirty="0">
                <a:solidFill>
                  <a:srgbClr val="374050"/>
                </a:solidFill>
                <a:latin typeface="PMingLiU"/>
                <a:cs typeface="PMingLiU"/>
              </a:rPr>
              <a:t>つの式で挟まれた領域のことを指します。</a:t>
            </a:r>
            <a:r>
              <a:rPr sz="1350" spc="-15" dirty="0">
                <a:solidFill>
                  <a:srgbClr val="374050"/>
                </a:solidFill>
                <a:latin typeface="PMingLiU"/>
                <a:cs typeface="PMingLiU"/>
              </a:rPr>
              <a:t>これらの計算には、通常、</a:t>
            </a:r>
            <a:r>
              <a:rPr sz="1350" spc="-180" dirty="0">
                <a:solidFill>
                  <a:srgbClr val="374050"/>
                </a:solidFill>
                <a:latin typeface="Cambria"/>
                <a:cs typeface="Cambria"/>
              </a:rPr>
              <a:t>𝑡</a:t>
            </a:r>
            <a:r>
              <a:rPr sz="1350" spc="-15" dirty="0">
                <a:solidFill>
                  <a:srgbClr val="374050"/>
                </a:solidFill>
                <a:latin typeface="PMingLiU"/>
                <a:cs typeface="PMingLiU"/>
              </a:rPr>
              <a:t>値が</a:t>
            </a:r>
            <a:r>
              <a:rPr sz="1350" dirty="0">
                <a:solidFill>
                  <a:srgbClr val="374050"/>
                </a:solidFill>
                <a:latin typeface="Arial"/>
                <a:cs typeface="Arial"/>
              </a:rPr>
              <a:t>95%</a:t>
            </a:r>
            <a:r>
              <a:rPr sz="1350" spc="-20" dirty="0">
                <a:solidFill>
                  <a:srgbClr val="374050"/>
                </a:solidFill>
                <a:latin typeface="PMingLiU"/>
                <a:cs typeface="PMingLiU"/>
              </a:rPr>
              <a:t>で行われます。</a:t>
            </a:r>
            <a:endParaRPr sz="1350">
              <a:latin typeface="PMingLiU"/>
              <a:cs typeface="PMingLiU"/>
            </a:endParaRPr>
          </a:p>
          <a:p>
            <a:pPr marL="215900">
              <a:lnSpc>
                <a:spcPct val="100000"/>
              </a:lnSpc>
              <a:spcBef>
                <a:spcPts val="1230"/>
              </a:spcBef>
            </a:pPr>
            <a:r>
              <a:rPr sz="1500" spc="-150" dirty="0">
                <a:solidFill>
                  <a:srgbClr val="1F2937"/>
                </a:solidFill>
                <a:latin typeface="SimSun"/>
                <a:cs typeface="SimSun"/>
              </a:rPr>
              <a:t>信頼</a:t>
            </a:r>
            <a:r>
              <a:rPr sz="1450" spc="-114" dirty="0">
                <a:solidFill>
                  <a:srgbClr val="1F2937"/>
                </a:solidFill>
                <a:latin typeface="PMingLiU"/>
                <a:cs typeface="PMingLiU"/>
              </a:rPr>
              <a:t>区間</a:t>
            </a:r>
            <a:r>
              <a:rPr sz="1300" spc="-50" dirty="0">
                <a:solidFill>
                  <a:srgbClr val="1F2937"/>
                </a:solidFill>
                <a:latin typeface="PMingLiU"/>
                <a:cs typeface="PMingLiU"/>
              </a:rPr>
              <a:t>：</a:t>
            </a:r>
            <a:endParaRPr sz="1300">
              <a:latin typeface="PMingLiU"/>
              <a:cs typeface="PMingLiU"/>
            </a:endParaRPr>
          </a:p>
          <a:p>
            <a:pPr marL="358140">
              <a:lnSpc>
                <a:spcPct val="100000"/>
              </a:lnSpc>
              <a:spcBef>
                <a:spcPts val="1500"/>
              </a:spcBef>
            </a:pPr>
            <a:r>
              <a:rPr sz="1350" dirty="0">
                <a:latin typeface="Times New Roman"/>
                <a:cs typeface="Times New Roman"/>
              </a:rPr>
              <a:t>y</a:t>
            </a:r>
            <a:r>
              <a:rPr sz="1500" baseline="-13888" dirty="0">
                <a:latin typeface="Times New Roman"/>
                <a:cs typeface="Times New Roman"/>
              </a:rPr>
              <a:t>CB</a:t>
            </a:r>
            <a:r>
              <a:rPr sz="1500" spc="135" baseline="-13888" dirty="0">
                <a:latin typeface="Times New Roman"/>
                <a:cs typeface="Times New Roman"/>
              </a:rPr>
              <a:t> </a:t>
            </a:r>
            <a:r>
              <a:rPr sz="1350" dirty="0">
                <a:latin typeface="Times New Roman"/>
                <a:cs typeface="Times New Roman"/>
              </a:rPr>
              <a:t>=</a:t>
            </a:r>
            <a:r>
              <a:rPr sz="1350" spc="5" dirty="0">
                <a:latin typeface="Times New Roman"/>
                <a:cs typeface="Times New Roman"/>
              </a:rPr>
              <a:t> </a:t>
            </a:r>
            <a:r>
              <a:rPr sz="1350" dirty="0">
                <a:latin typeface="Times New Roman"/>
                <a:cs typeface="Times New Roman"/>
              </a:rPr>
              <a:t>ax</a:t>
            </a:r>
            <a:r>
              <a:rPr sz="1350" spc="10" dirty="0">
                <a:latin typeface="Times New Roman"/>
                <a:cs typeface="Times New Roman"/>
              </a:rPr>
              <a:t> </a:t>
            </a:r>
            <a:r>
              <a:rPr sz="1350" dirty="0">
                <a:latin typeface="Times New Roman"/>
                <a:cs typeface="Times New Roman"/>
              </a:rPr>
              <a:t>+</a:t>
            </a:r>
            <a:r>
              <a:rPr sz="1350" spc="5" dirty="0">
                <a:latin typeface="Times New Roman"/>
                <a:cs typeface="Times New Roman"/>
              </a:rPr>
              <a:t> </a:t>
            </a:r>
            <a:r>
              <a:rPr sz="1350" dirty="0">
                <a:latin typeface="Times New Roman"/>
                <a:cs typeface="Times New Roman"/>
              </a:rPr>
              <a:t>b</a:t>
            </a:r>
            <a:r>
              <a:rPr sz="1350" spc="5" dirty="0">
                <a:latin typeface="Times New Roman"/>
                <a:cs typeface="Times New Roman"/>
              </a:rPr>
              <a:t> </a:t>
            </a:r>
            <a:r>
              <a:rPr sz="1350" dirty="0">
                <a:latin typeface="Times New Roman"/>
                <a:cs typeface="Times New Roman"/>
              </a:rPr>
              <a:t>±</a:t>
            </a:r>
            <a:r>
              <a:rPr sz="1350" spc="10" dirty="0">
                <a:latin typeface="Times New Roman"/>
                <a:cs typeface="Times New Roman"/>
              </a:rPr>
              <a:t> </a:t>
            </a:r>
            <a:r>
              <a:rPr sz="1350" spc="-10" dirty="0">
                <a:latin typeface="Times New Roman"/>
                <a:cs typeface="Times New Roman"/>
              </a:rPr>
              <a:t>t(N-</a:t>
            </a:r>
            <a:r>
              <a:rPr sz="1350" dirty="0">
                <a:latin typeface="Times New Roman"/>
                <a:cs typeface="Times New Roman"/>
              </a:rPr>
              <a:t>2,</a:t>
            </a:r>
            <a:r>
              <a:rPr sz="1350" spc="5" dirty="0">
                <a:latin typeface="Times New Roman"/>
                <a:cs typeface="Times New Roman"/>
              </a:rPr>
              <a:t> </a:t>
            </a:r>
            <a:r>
              <a:rPr sz="1350" dirty="0">
                <a:latin typeface="Times New Roman"/>
                <a:cs typeface="Times New Roman"/>
              </a:rPr>
              <a:t>α)</a:t>
            </a:r>
            <a:r>
              <a:rPr sz="1350" spc="5" dirty="0">
                <a:latin typeface="Times New Roman"/>
                <a:cs typeface="Times New Roman"/>
              </a:rPr>
              <a:t> </a:t>
            </a:r>
            <a:r>
              <a:rPr sz="1350" dirty="0">
                <a:latin typeface="Times New Roman"/>
                <a:cs typeface="Times New Roman"/>
              </a:rPr>
              <a:t>√[(1/N)</a:t>
            </a:r>
            <a:r>
              <a:rPr sz="1350" spc="10" dirty="0">
                <a:latin typeface="Times New Roman"/>
                <a:cs typeface="Times New Roman"/>
              </a:rPr>
              <a:t> </a:t>
            </a:r>
            <a:r>
              <a:rPr sz="1350" dirty="0">
                <a:latin typeface="Times New Roman"/>
                <a:cs typeface="Times New Roman"/>
              </a:rPr>
              <a:t>+</a:t>
            </a:r>
            <a:r>
              <a:rPr sz="1350" spc="5" dirty="0">
                <a:latin typeface="Times New Roman"/>
                <a:cs typeface="Times New Roman"/>
              </a:rPr>
              <a:t> </a:t>
            </a:r>
            <a:r>
              <a:rPr sz="1350" spc="-10" dirty="0">
                <a:latin typeface="Times New Roman"/>
                <a:cs typeface="Times New Roman"/>
              </a:rPr>
              <a:t>((x-</a:t>
            </a:r>
            <a:r>
              <a:rPr sz="1350" dirty="0">
                <a:latin typeface="Cambria"/>
                <a:cs typeface="Cambria"/>
              </a:rPr>
              <a:t>x̄</a:t>
            </a:r>
            <a:r>
              <a:rPr sz="1350" dirty="0">
                <a:latin typeface="Times New Roman"/>
                <a:cs typeface="Times New Roman"/>
              </a:rPr>
              <a:t>)</a:t>
            </a:r>
            <a:r>
              <a:rPr sz="1500" baseline="27777" dirty="0">
                <a:latin typeface="Times New Roman"/>
                <a:cs typeface="Times New Roman"/>
              </a:rPr>
              <a:t>2</a:t>
            </a:r>
            <a:r>
              <a:rPr sz="1350" dirty="0">
                <a:latin typeface="Times New Roman"/>
                <a:cs typeface="Times New Roman"/>
              </a:rPr>
              <a:t>)/(Σ(x</a:t>
            </a:r>
            <a:r>
              <a:rPr sz="1500" baseline="-13888" dirty="0">
                <a:latin typeface="Times New Roman"/>
                <a:cs typeface="Times New Roman"/>
              </a:rPr>
              <a:t>i</a:t>
            </a:r>
            <a:r>
              <a:rPr sz="1350" dirty="0">
                <a:latin typeface="Times New Roman"/>
                <a:cs typeface="Times New Roman"/>
              </a:rPr>
              <a:t>-</a:t>
            </a:r>
            <a:r>
              <a:rPr sz="1350" spc="-10" dirty="0">
                <a:latin typeface="Cambria"/>
                <a:cs typeface="Cambria"/>
              </a:rPr>
              <a:t>x̄</a:t>
            </a:r>
            <a:r>
              <a:rPr sz="1350" spc="-10" dirty="0">
                <a:latin typeface="Times New Roman"/>
                <a:cs typeface="Times New Roman"/>
              </a:rPr>
              <a:t>)</a:t>
            </a:r>
            <a:r>
              <a:rPr sz="1500" spc="-15" baseline="27777" dirty="0">
                <a:latin typeface="Times New Roman"/>
                <a:cs typeface="Times New Roman"/>
              </a:rPr>
              <a:t>2</a:t>
            </a:r>
            <a:r>
              <a:rPr sz="1350" spc="-10" dirty="0">
                <a:latin typeface="Times New Roman"/>
                <a:cs typeface="Times New Roman"/>
              </a:rPr>
              <a:t>)]V</a:t>
            </a:r>
            <a:r>
              <a:rPr sz="1500" spc="-15" baseline="-13888" dirty="0">
                <a:latin typeface="Times New Roman"/>
                <a:cs typeface="Times New Roman"/>
              </a:rPr>
              <a:t>e</a:t>
            </a:r>
            <a:endParaRPr sz="1500" baseline="-13888">
              <a:latin typeface="Times New Roman"/>
              <a:cs typeface="Times New Roman"/>
            </a:endParaRPr>
          </a:p>
          <a:p>
            <a:pPr>
              <a:lnSpc>
                <a:spcPct val="100000"/>
              </a:lnSpc>
              <a:spcBef>
                <a:spcPts val="375"/>
              </a:spcBef>
            </a:pPr>
            <a:endParaRPr sz="1350">
              <a:latin typeface="Times New Roman"/>
              <a:cs typeface="Times New Roman"/>
            </a:endParaRPr>
          </a:p>
          <a:p>
            <a:pPr marL="215900">
              <a:lnSpc>
                <a:spcPct val="100000"/>
              </a:lnSpc>
            </a:pPr>
            <a:r>
              <a:rPr sz="1500" spc="-165" dirty="0">
                <a:solidFill>
                  <a:srgbClr val="1F2937"/>
                </a:solidFill>
                <a:latin typeface="SimSun"/>
                <a:cs typeface="SimSun"/>
              </a:rPr>
              <a:t>推</a:t>
            </a:r>
            <a:r>
              <a:rPr sz="1550" spc="-210" dirty="0">
                <a:solidFill>
                  <a:srgbClr val="1F2937"/>
                </a:solidFill>
                <a:latin typeface="SimSun"/>
                <a:cs typeface="SimSun"/>
              </a:rPr>
              <a:t>定</a:t>
            </a:r>
            <a:r>
              <a:rPr sz="1450" spc="-114" dirty="0">
                <a:solidFill>
                  <a:srgbClr val="1F2937"/>
                </a:solidFill>
                <a:latin typeface="PMingLiU"/>
                <a:cs typeface="PMingLiU"/>
              </a:rPr>
              <a:t>区間</a:t>
            </a:r>
            <a:r>
              <a:rPr sz="1300" spc="-60" dirty="0">
                <a:solidFill>
                  <a:srgbClr val="1F2937"/>
                </a:solidFill>
                <a:latin typeface="PMingLiU"/>
                <a:cs typeface="PMingLiU"/>
              </a:rPr>
              <a:t>：</a:t>
            </a:r>
            <a:endParaRPr sz="1300">
              <a:latin typeface="PMingLiU"/>
              <a:cs typeface="PMingLiU"/>
            </a:endParaRPr>
          </a:p>
          <a:p>
            <a:pPr marL="358140">
              <a:lnSpc>
                <a:spcPct val="100000"/>
              </a:lnSpc>
              <a:spcBef>
                <a:spcPts val="1490"/>
              </a:spcBef>
            </a:pPr>
            <a:r>
              <a:rPr sz="1350" dirty="0">
                <a:latin typeface="Times New Roman"/>
                <a:cs typeface="Times New Roman"/>
              </a:rPr>
              <a:t>y</a:t>
            </a:r>
            <a:r>
              <a:rPr sz="1500" baseline="-13888" dirty="0">
                <a:latin typeface="Times New Roman"/>
                <a:cs typeface="Times New Roman"/>
              </a:rPr>
              <a:t>PB</a:t>
            </a:r>
            <a:r>
              <a:rPr sz="1500" spc="127" baseline="-13888" dirty="0">
                <a:latin typeface="Times New Roman"/>
                <a:cs typeface="Times New Roman"/>
              </a:rPr>
              <a:t> </a:t>
            </a:r>
            <a:r>
              <a:rPr sz="1350" dirty="0">
                <a:latin typeface="Times New Roman"/>
                <a:cs typeface="Times New Roman"/>
              </a:rPr>
              <a:t>=</a:t>
            </a:r>
            <a:r>
              <a:rPr sz="1350" spc="5" dirty="0">
                <a:latin typeface="Times New Roman"/>
                <a:cs typeface="Times New Roman"/>
              </a:rPr>
              <a:t> </a:t>
            </a:r>
            <a:r>
              <a:rPr sz="1350" dirty="0">
                <a:latin typeface="Times New Roman"/>
                <a:cs typeface="Times New Roman"/>
              </a:rPr>
              <a:t>ax</a:t>
            </a:r>
            <a:r>
              <a:rPr sz="1350" spc="5" dirty="0">
                <a:latin typeface="Times New Roman"/>
                <a:cs typeface="Times New Roman"/>
              </a:rPr>
              <a:t> </a:t>
            </a:r>
            <a:r>
              <a:rPr sz="1350" dirty="0">
                <a:latin typeface="Times New Roman"/>
                <a:cs typeface="Times New Roman"/>
              </a:rPr>
              <a:t>+ b</a:t>
            </a:r>
            <a:r>
              <a:rPr sz="1350" spc="5" dirty="0">
                <a:latin typeface="Times New Roman"/>
                <a:cs typeface="Times New Roman"/>
              </a:rPr>
              <a:t> </a:t>
            </a:r>
            <a:r>
              <a:rPr sz="1350" dirty="0">
                <a:latin typeface="Times New Roman"/>
                <a:cs typeface="Times New Roman"/>
              </a:rPr>
              <a:t>±</a:t>
            </a:r>
            <a:r>
              <a:rPr sz="1350" spc="5" dirty="0">
                <a:latin typeface="Times New Roman"/>
                <a:cs typeface="Times New Roman"/>
              </a:rPr>
              <a:t> </a:t>
            </a:r>
            <a:r>
              <a:rPr sz="1350" spc="-10" dirty="0">
                <a:latin typeface="Times New Roman"/>
                <a:cs typeface="Times New Roman"/>
              </a:rPr>
              <a:t>t(N-</a:t>
            </a:r>
            <a:r>
              <a:rPr sz="1350" dirty="0">
                <a:latin typeface="Times New Roman"/>
                <a:cs typeface="Times New Roman"/>
              </a:rPr>
              <a:t>2, α)</a:t>
            </a:r>
            <a:r>
              <a:rPr sz="1350" spc="5" dirty="0">
                <a:latin typeface="Times New Roman"/>
                <a:cs typeface="Times New Roman"/>
              </a:rPr>
              <a:t> </a:t>
            </a:r>
            <a:r>
              <a:rPr sz="1350" dirty="0">
                <a:latin typeface="Times New Roman"/>
                <a:cs typeface="Times New Roman"/>
              </a:rPr>
              <a:t>√[1</a:t>
            </a:r>
            <a:r>
              <a:rPr sz="1350" spc="5" dirty="0">
                <a:latin typeface="Times New Roman"/>
                <a:cs typeface="Times New Roman"/>
              </a:rPr>
              <a:t> </a:t>
            </a:r>
            <a:r>
              <a:rPr sz="1350" dirty="0">
                <a:latin typeface="Times New Roman"/>
                <a:cs typeface="Times New Roman"/>
              </a:rPr>
              <a:t>+</a:t>
            </a:r>
            <a:r>
              <a:rPr sz="1350" spc="5" dirty="0">
                <a:latin typeface="Times New Roman"/>
                <a:cs typeface="Times New Roman"/>
              </a:rPr>
              <a:t> </a:t>
            </a:r>
            <a:r>
              <a:rPr sz="1350" dirty="0">
                <a:latin typeface="Times New Roman"/>
                <a:cs typeface="Times New Roman"/>
              </a:rPr>
              <a:t>(1/N) +</a:t>
            </a:r>
            <a:r>
              <a:rPr sz="1350" spc="5" dirty="0">
                <a:latin typeface="Times New Roman"/>
                <a:cs typeface="Times New Roman"/>
              </a:rPr>
              <a:t> </a:t>
            </a:r>
            <a:r>
              <a:rPr sz="1350" spc="-10" dirty="0">
                <a:latin typeface="Times New Roman"/>
                <a:cs typeface="Times New Roman"/>
              </a:rPr>
              <a:t>((x-</a:t>
            </a:r>
            <a:r>
              <a:rPr sz="1350" dirty="0">
                <a:latin typeface="Cambria"/>
                <a:cs typeface="Cambria"/>
              </a:rPr>
              <a:t>x̄</a:t>
            </a:r>
            <a:r>
              <a:rPr sz="1350" dirty="0">
                <a:latin typeface="Times New Roman"/>
                <a:cs typeface="Times New Roman"/>
              </a:rPr>
              <a:t>)</a:t>
            </a:r>
            <a:r>
              <a:rPr sz="1500" baseline="27777" dirty="0">
                <a:latin typeface="Times New Roman"/>
                <a:cs typeface="Times New Roman"/>
              </a:rPr>
              <a:t>2</a:t>
            </a:r>
            <a:r>
              <a:rPr sz="1350" dirty="0">
                <a:latin typeface="Times New Roman"/>
                <a:cs typeface="Times New Roman"/>
              </a:rPr>
              <a:t>)/(Σ(x</a:t>
            </a:r>
            <a:r>
              <a:rPr sz="1500" baseline="-13888" dirty="0">
                <a:latin typeface="Times New Roman"/>
                <a:cs typeface="Times New Roman"/>
              </a:rPr>
              <a:t>i</a:t>
            </a:r>
            <a:r>
              <a:rPr sz="1350" dirty="0">
                <a:latin typeface="Times New Roman"/>
                <a:cs typeface="Times New Roman"/>
              </a:rPr>
              <a:t>-</a:t>
            </a:r>
            <a:r>
              <a:rPr sz="1350" spc="-10" dirty="0">
                <a:latin typeface="Cambria"/>
                <a:cs typeface="Cambria"/>
              </a:rPr>
              <a:t>x̄</a:t>
            </a:r>
            <a:r>
              <a:rPr sz="1350" spc="-10" dirty="0">
                <a:latin typeface="Times New Roman"/>
                <a:cs typeface="Times New Roman"/>
              </a:rPr>
              <a:t>)</a:t>
            </a:r>
            <a:r>
              <a:rPr sz="1500" spc="-15" baseline="27777" dirty="0">
                <a:latin typeface="Times New Roman"/>
                <a:cs typeface="Times New Roman"/>
              </a:rPr>
              <a:t>2</a:t>
            </a:r>
            <a:r>
              <a:rPr sz="1350" spc="-10" dirty="0">
                <a:latin typeface="Times New Roman"/>
                <a:cs typeface="Times New Roman"/>
              </a:rPr>
              <a:t>)]V</a:t>
            </a:r>
            <a:r>
              <a:rPr sz="1500" spc="-15" baseline="-13888" dirty="0">
                <a:latin typeface="Times New Roman"/>
                <a:cs typeface="Times New Roman"/>
              </a:rPr>
              <a:t>e</a:t>
            </a:r>
            <a:endParaRPr sz="1500" baseline="-13888">
              <a:latin typeface="Times New Roman"/>
              <a:cs typeface="Times New Roman"/>
            </a:endParaRPr>
          </a:p>
          <a:p>
            <a:pPr>
              <a:lnSpc>
                <a:spcPct val="100000"/>
              </a:lnSpc>
              <a:spcBef>
                <a:spcPts val="505"/>
              </a:spcBef>
            </a:pPr>
            <a:endParaRPr sz="1350">
              <a:latin typeface="Times New Roman"/>
              <a:cs typeface="Times New Roman"/>
            </a:endParaRPr>
          </a:p>
          <a:p>
            <a:pPr marL="215900">
              <a:lnSpc>
                <a:spcPct val="100000"/>
              </a:lnSpc>
            </a:pPr>
            <a:r>
              <a:rPr sz="1050" spc="-10" dirty="0">
                <a:solidFill>
                  <a:srgbClr val="4A5462"/>
                </a:solidFill>
                <a:latin typeface="PMingLiU"/>
                <a:cs typeface="PMingLiU"/>
              </a:rPr>
              <a:t>ここで、</a:t>
            </a:r>
            <a:r>
              <a:rPr sz="1050" spc="-85" dirty="0">
                <a:solidFill>
                  <a:srgbClr val="4A5462"/>
                </a:solidFill>
                <a:latin typeface="Cambria"/>
                <a:cs typeface="Cambria"/>
              </a:rPr>
              <a:t>𝑡</a:t>
            </a:r>
            <a:r>
              <a:rPr sz="1050" spc="-85" dirty="0">
                <a:solidFill>
                  <a:srgbClr val="4A5462"/>
                </a:solidFill>
                <a:latin typeface="PMingLiU"/>
                <a:cs typeface="PMingLiU"/>
              </a:rPr>
              <a:t>：</a:t>
            </a:r>
            <a:r>
              <a:rPr sz="1050" spc="-85" dirty="0">
                <a:solidFill>
                  <a:srgbClr val="4A5462"/>
                </a:solidFill>
                <a:latin typeface="Cambria"/>
                <a:cs typeface="Cambria"/>
              </a:rPr>
              <a:t>𝑡</a:t>
            </a:r>
            <a:r>
              <a:rPr sz="1050" dirty="0">
                <a:solidFill>
                  <a:srgbClr val="4A5462"/>
                </a:solidFill>
                <a:latin typeface="PMingLiU"/>
                <a:cs typeface="PMingLiU"/>
              </a:rPr>
              <a:t>値、</a:t>
            </a:r>
            <a:r>
              <a:rPr sz="1050" spc="-25" dirty="0">
                <a:solidFill>
                  <a:srgbClr val="4A5462"/>
                </a:solidFill>
                <a:latin typeface="Cambria"/>
                <a:cs typeface="Cambria"/>
              </a:rPr>
              <a:t>𝛼</a:t>
            </a:r>
            <a:r>
              <a:rPr sz="1050" spc="-10" dirty="0">
                <a:solidFill>
                  <a:srgbClr val="4A5462"/>
                </a:solidFill>
                <a:latin typeface="PMingLiU"/>
                <a:cs typeface="PMingLiU"/>
              </a:rPr>
              <a:t>：有意水準</a:t>
            </a:r>
            <a:r>
              <a:rPr sz="1050" spc="-10" dirty="0">
                <a:solidFill>
                  <a:srgbClr val="4A5462"/>
                </a:solidFill>
                <a:latin typeface="Arial"/>
                <a:cs typeface="Arial"/>
              </a:rPr>
              <a:t>(</a:t>
            </a:r>
            <a:r>
              <a:rPr sz="1050" spc="-10" dirty="0">
                <a:solidFill>
                  <a:srgbClr val="4A5462"/>
                </a:solidFill>
                <a:latin typeface="PMingLiU"/>
                <a:cs typeface="PMingLiU"/>
              </a:rPr>
              <a:t>一般的に</a:t>
            </a:r>
            <a:r>
              <a:rPr sz="1050" spc="-10" dirty="0">
                <a:solidFill>
                  <a:srgbClr val="4A5462"/>
                </a:solidFill>
                <a:latin typeface="Arial"/>
                <a:cs typeface="Arial"/>
              </a:rPr>
              <a:t>0.05)</a:t>
            </a:r>
            <a:r>
              <a:rPr sz="1050" dirty="0">
                <a:solidFill>
                  <a:srgbClr val="4A5462"/>
                </a:solidFill>
                <a:latin typeface="PMingLiU"/>
                <a:cs typeface="PMingLiU"/>
              </a:rPr>
              <a:t>、</a:t>
            </a:r>
            <a:r>
              <a:rPr sz="1050" spc="-50" dirty="0">
                <a:solidFill>
                  <a:srgbClr val="4A5462"/>
                </a:solidFill>
                <a:latin typeface="Cambria"/>
                <a:cs typeface="Cambria"/>
              </a:rPr>
              <a:t>𝑁</a:t>
            </a:r>
            <a:r>
              <a:rPr sz="1050" spc="-25" dirty="0">
                <a:solidFill>
                  <a:srgbClr val="4A5462"/>
                </a:solidFill>
                <a:latin typeface="PMingLiU"/>
                <a:cs typeface="PMingLiU"/>
              </a:rPr>
              <a:t>：サンプル数、</a:t>
            </a:r>
            <a:r>
              <a:rPr sz="1050" dirty="0">
                <a:solidFill>
                  <a:srgbClr val="4A5462"/>
                </a:solidFill>
                <a:latin typeface="Cambria"/>
                <a:cs typeface="Cambria"/>
              </a:rPr>
              <a:t>𝑉</a:t>
            </a:r>
            <a:r>
              <a:rPr sz="1125" baseline="-18518" dirty="0">
                <a:solidFill>
                  <a:srgbClr val="4A5462"/>
                </a:solidFill>
                <a:latin typeface="Arial"/>
                <a:cs typeface="Arial"/>
              </a:rPr>
              <a:t>e</a:t>
            </a:r>
            <a:r>
              <a:rPr sz="1050" spc="-20" dirty="0">
                <a:solidFill>
                  <a:srgbClr val="4A5462"/>
                </a:solidFill>
                <a:latin typeface="PMingLiU"/>
                <a:cs typeface="PMingLiU"/>
              </a:rPr>
              <a:t>：誤差の分散</a:t>
            </a:r>
            <a:endParaRPr sz="1050">
              <a:latin typeface="PMingLiU"/>
              <a:cs typeface="PMingLiU"/>
            </a:endParaRPr>
          </a:p>
        </p:txBody>
      </p:sp>
      <p:sp>
        <p:nvSpPr>
          <p:cNvPr id="33" name="object 33"/>
          <p:cNvSpPr txBox="1"/>
          <p:nvPr/>
        </p:nvSpPr>
        <p:spPr>
          <a:xfrm>
            <a:off x="241299" y="3915991"/>
            <a:ext cx="5727700" cy="2303780"/>
          </a:xfrm>
          <a:prstGeom prst="rect">
            <a:avLst/>
          </a:prstGeom>
        </p:spPr>
        <p:txBody>
          <a:bodyPr vert="horz" wrap="square" lIns="0" tIns="14604" rIns="0" bIns="0" rtlCol="0">
            <a:spAutoFit/>
          </a:bodyPr>
          <a:lstStyle/>
          <a:p>
            <a:pPr marL="558165">
              <a:lnSpc>
                <a:spcPct val="100000"/>
              </a:lnSpc>
              <a:spcBef>
                <a:spcPts val="114"/>
              </a:spcBef>
            </a:pPr>
            <a:r>
              <a:rPr sz="2000" spc="-200" dirty="0">
                <a:solidFill>
                  <a:srgbClr val="003366"/>
                </a:solidFill>
                <a:latin typeface="SimSun"/>
                <a:cs typeface="SimSun"/>
              </a:rPr>
              <a:t>第</a:t>
            </a:r>
            <a:r>
              <a:rPr sz="1800" b="1" dirty="0">
                <a:solidFill>
                  <a:srgbClr val="003366"/>
                </a:solidFill>
                <a:latin typeface="Arial"/>
                <a:cs typeface="Arial"/>
              </a:rPr>
              <a:t>2</a:t>
            </a:r>
            <a:r>
              <a:rPr sz="1900" spc="-120" dirty="0">
                <a:solidFill>
                  <a:srgbClr val="003366"/>
                </a:solidFill>
                <a:latin typeface="PMingLiU"/>
                <a:cs typeface="PMingLiU"/>
              </a:rPr>
              <a:t>回</a:t>
            </a:r>
            <a:r>
              <a:rPr sz="2000" spc="-200" dirty="0">
                <a:solidFill>
                  <a:srgbClr val="003366"/>
                </a:solidFill>
                <a:latin typeface="SimSun"/>
                <a:cs typeface="SimSun"/>
              </a:rPr>
              <a:t>測</a:t>
            </a:r>
            <a:r>
              <a:rPr sz="2050" spc="-270" dirty="0">
                <a:solidFill>
                  <a:srgbClr val="003366"/>
                </a:solidFill>
                <a:latin typeface="SimSun"/>
                <a:cs typeface="SimSun"/>
              </a:rPr>
              <a:t>定</a:t>
            </a:r>
            <a:r>
              <a:rPr sz="1750" spc="114" dirty="0">
                <a:solidFill>
                  <a:srgbClr val="003366"/>
                </a:solidFill>
                <a:latin typeface="PMingLiU"/>
                <a:cs typeface="PMingLiU"/>
              </a:rPr>
              <a:t>の</a:t>
            </a:r>
            <a:r>
              <a:rPr sz="1950" spc="-165" dirty="0">
                <a:solidFill>
                  <a:srgbClr val="003366"/>
                </a:solidFill>
                <a:latin typeface="PMingLiU"/>
                <a:cs typeface="PMingLiU"/>
              </a:rPr>
              <a:t>結</a:t>
            </a:r>
            <a:r>
              <a:rPr sz="1900" spc="-50" dirty="0">
                <a:solidFill>
                  <a:srgbClr val="003366"/>
                </a:solidFill>
                <a:latin typeface="PMingLiU"/>
                <a:cs typeface="PMingLiU"/>
              </a:rPr>
              <a:t>果</a:t>
            </a:r>
            <a:endParaRPr sz="1900">
              <a:latin typeface="PMingLiU"/>
              <a:cs typeface="PMingLiU"/>
            </a:endParaRPr>
          </a:p>
          <a:p>
            <a:pPr marL="215900" marR="356235" algn="just">
              <a:lnSpc>
                <a:spcPct val="129600"/>
              </a:lnSpc>
              <a:spcBef>
                <a:spcPts val="760"/>
              </a:spcBef>
            </a:pPr>
            <a:r>
              <a:rPr sz="1350" dirty="0">
                <a:solidFill>
                  <a:srgbClr val="374050"/>
                </a:solidFill>
                <a:latin typeface="PMingLiU"/>
                <a:cs typeface="PMingLiU"/>
              </a:rPr>
              <a:t>第</a:t>
            </a:r>
            <a:r>
              <a:rPr sz="1350" dirty="0">
                <a:solidFill>
                  <a:srgbClr val="374050"/>
                </a:solidFill>
                <a:latin typeface="Arial"/>
                <a:cs typeface="Arial"/>
              </a:rPr>
              <a:t>2</a:t>
            </a:r>
            <a:r>
              <a:rPr sz="1350" spc="-15" dirty="0">
                <a:solidFill>
                  <a:srgbClr val="374050"/>
                </a:solidFill>
                <a:latin typeface="PMingLiU"/>
                <a:cs typeface="PMingLiU"/>
              </a:rPr>
              <a:t>回の</a:t>
            </a:r>
            <a:r>
              <a:rPr sz="1350" dirty="0">
                <a:solidFill>
                  <a:srgbClr val="374050"/>
                </a:solidFill>
                <a:latin typeface="Arial"/>
                <a:cs typeface="Arial"/>
              </a:rPr>
              <a:t>1.40[THz]</a:t>
            </a:r>
            <a:r>
              <a:rPr sz="1350" spc="-35" dirty="0">
                <a:solidFill>
                  <a:srgbClr val="374050"/>
                </a:solidFill>
                <a:latin typeface="PMingLiU"/>
                <a:cs typeface="PMingLiU"/>
              </a:rPr>
              <a:t>における吸光度は、すべて推定区間内に位置して</a:t>
            </a:r>
            <a:r>
              <a:rPr sz="1350" spc="-40" dirty="0">
                <a:solidFill>
                  <a:srgbClr val="374050"/>
                </a:solidFill>
                <a:latin typeface="PMingLiU"/>
                <a:cs typeface="PMingLiU"/>
              </a:rPr>
              <a:t>います。これは、算出した検量線が測定のばらつきを統計的に正し</a:t>
            </a:r>
            <a:r>
              <a:rPr sz="1350" spc="-25" dirty="0">
                <a:solidFill>
                  <a:srgbClr val="374050"/>
                </a:solidFill>
                <a:latin typeface="PMingLiU"/>
                <a:cs typeface="PMingLiU"/>
              </a:rPr>
              <a:t>く予測できていることを意味します。</a:t>
            </a:r>
            <a:endParaRPr sz="1350">
              <a:latin typeface="PMingLiU"/>
              <a:cs typeface="PMingLiU"/>
            </a:endParaRPr>
          </a:p>
          <a:p>
            <a:pPr>
              <a:lnSpc>
                <a:spcPct val="100000"/>
              </a:lnSpc>
              <a:spcBef>
                <a:spcPts val="165"/>
              </a:spcBef>
            </a:pPr>
            <a:endParaRPr sz="1350">
              <a:latin typeface="PMingLiU"/>
              <a:cs typeface="PMingLiU"/>
            </a:endParaRPr>
          </a:p>
          <a:p>
            <a:pPr marL="329565">
              <a:lnSpc>
                <a:spcPct val="100000"/>
              </a:lnSpc>
            </a:pPr>
            <a:r>
              <a:rPr sz="1650" spc="-165" dirty="0">
                <a:solidFill>
                  <a:srgbClr val="003366"/>
                </a:solidFill>
                <a:latin typeface="SimSun"/>
                <a:cs typeface="SimSun"/>
              </a:rPr>
              <a:t>特</a:t>
            </a:r>
            <a:r>
              <a:rPr sz="1500" spc="-10" dirty="0">
                <a:solidFill>
                  <a:srgbClr val="003366"/>
                </a:solidFill>
                <a:latin typeface="PMingLiU"/>
                <a:cs typeface="PMingLiU"/>
              </a:rPr>
              <a:t>に</a:t>
            </a:r>
            <a:r>
              <a:rPr sz="1500" b="1" dirty="0">
                <a:solidFill>
                  <a:srgbClr val="003366"/>
                </a:solidFill>
                <a:latin typeface="Arial"/>
                <a:cs typeface="Arial"/>
              </a:rPr>
              <a:t>AH</a:t>
            </a:r>
            <a:r>
              <a:rPr sz="1500" b="1" spc="-15" dirty="0">
                <a:solidFill>
                  <a:srgbClr val="003366"/>
                </a:solidFill>
                <a:latin typeface="Arial"/>
                <a:cs typeface="Arial"/>
              </a:rPr>
              <a:t> </a:t>
            </a:r>
            <a:r>
              <a:rPr sz="1500" b="1" dirty="0">
                <a:solidFill>
                  <a:srgbClr val="003366"/>
                </a:solidFill>
                <a:latin typeface="Arial"/>
                <a:cs typeface="Arial"/>
              </a:rPr>
              <a:t>4.5[g/m</a:t>
            </a:r>
            <a:r>
              <a:rPr sz="1650" b="1" baseline="25252" dirty="0">
                <a:solidFill>
                  <a:srgbClr val="003366"/>
                </a:solidFill>
                <a:latin typeface="Arial"/>
                <a:cs typeface="Arial"/>
              </a:rPr>
              <a:t>3</a:t>
            </a:r>
            <a:r>
              <a:rPr sz="1500" b="1" dirty="0">
                <a:solidFill>
                  <a:srgbClr val="003366"/>
                </a:solidFill>
                <a:latin typeface="Arial"/>
                <a:cs typeface="Arial"/>
              </a:rPr>
              <a:t>]</a:t>
            </a:r>
            <a:r>
              <a:rPr sz="1500" spc="-10" dirty="0">
                <a:solidFill>
                  <a:srgbClr val="003366"/>
                </a:solidFill>
                <a:latin typeface="PMingLiU"/>
                <a:cs typeface="PMingLiU"/>
              </a:rPr>
              <a:t>では</a:t>
            </a:r>
            <a:r>
              <a:rPr sz="1400" spc="45" dirty="0">
                <a:solidFill>
                  <a:srgbClr val="003366"/>
                </a:solidFill>
                <a:latin typeface="PMingLiU"/>
                <a:cs typeface="PMingLiU"/>
              </a:rPr>
              <a:t>：</a:t>
            </a:r>
            <a:endParaRPr sz="1400">
              <a:latin typeface="PMingLiU"/>
              <a:cs typeface="PMingLiU"/>
            </a:endParaRPr>
          </a:p>
          <a:p>
            <a:pPr marL="329565" marR="336550">
              <a:lnSpc>
                <a:spcPct val="129600"/>
              </a:lnSpc>
              <a:spcBef>
                <a:spcPts val="165"/>
              </a:spcBef>
            </a:pPr>
            <a:r>
              <a:rPr sz="1350" dirty="0">
                <a:solidFill>
                  <a:srgbClr val="374050"/>
                </a:solidFill>
                <a:latin typeface="PMingLiU"/>
                <a:cs typeface="PMingLiU"/>
              </a:rPr>
              <a:t>第</a:t>
            </a:r>
            <a:r>
              <a:rPr sz="1350" dirty="0">
                <a:solidFill>
                  <a:srgbClr val="374050"/>
                </a:solidFill>
                <a:latin typeface="Arial"/>
                <a:cs typeface="Arial"/>
              </a:rPr>
              <a:t>1</a:t>
            </a:r>
            <a:r>
              <a:rPr sz="1350" spc="-10" dirty="0">
                <a:solidFill>
                  <a:srgbClr val="374050"/>
                </a:solidFill>
                <a:latin typeface="PMingLiU"/>
                <a:cs typeface="PMingLiU"/>
              </a:rPr>
              <a:t>回と第</a:t>
            </a:r>
            <a:r>
              <a:rPr sz="1350" dirty="0">
                <a:solidFill>
                  <a:srgbClr val="374050"/>
                </a:solidFill>
                <a:latin typeface="Arial"/>
                <a:cs typeface="Arial"/>
              </a:rPr>
              <a:t>2</a:t>
            </a:r>
            <a:r>
              <a:rPr sz="1350" spc="-20" dirty="0">
                <a:solidFill>
                  <a:srgbClr val="374050"/>
                </a:solidFill>
                <a:latin typeface="PMingLiU"/>
                <a:cs typeface="PMingLiU"/>
              </a:rPr>
              <a:t>回の吸光度がよく一致していることから、</a:t>
            </a:r>
            <a:r>
              <a:rPr sz="1350" dirty="0">
                <a:solidFill>
                  <a:srgbClr val="374050"/>
                </a:solidFill>
                <a:latin typeface="Arial"/>
                <a:cs typeface="Arial"/>
              </a:rPr>
              <a:t>1.40[THz]</a:t>
            </a:r>
            <a:r>
              <a:rPr sz="1350" spc="-50" dirty="0">
                <a:solidFill>
                  <a:srgbClr val="374050"/>
                </a:solidFill>
                <a:latin typeface="PMingLiU"/>
                <a:cs typeface="PMingLiU"/>
              </a:rPr>
              <a:t>に</a:t>
            </a:r>
            <a:r>
              <a:rPr sz="1350" spc="-30" dirty="0">
                <a:solidFill>
                  <a:srgbClr val="374050"/>
                </a:solidFill>
                <a:latin typeface="PMingLiU"/>
                <a:cs typeface="PMingLiU"/>
              </a:rPr>
              <a:t>おける検量線の有効性が確認されています。</a:t>
            </a:r>
            <a:endParaRPr sz="1350">
              <a:latin typeface="PMingLiU"/>
              <a:cs typeface="PMingLiU"/>
            </a:endParaRPr>
          </a:p>
        </p:txBody>
      </p:sp>
      <p:sp>
        <p:nvSpPr>
          <p:cNvPr id="34" name="object 34"/>
          <p:cNvSpPr txBox="1"/>
          <p:nvPr/>
        </p:nvSpPr>
        <p:spPr>
          <a:xfrm>
            <a:off x="6261099" y="4219898"/>
            <a:ext cx="5727700" cy="2228215"/>
          </a:xfrm>
          <a:prstGeom prst="rect">
            <a:avLst/>
          </a:prstGeom>
        </p:spPr>
        <p:txBody>
          <a:bodyPr vert="horz" wrap="square" lIns="0" tIns="15240" rIns="0" bIns="0" rtlCol="0">
            <a:spAutoFit/>
          </a:bodyPr>
          <a:lstStyle/>
          <a:p>
            <a:pPr marL="501650">
              <a:lnSpc>
                <a:spcPct val="100000"/>
              </a:lnSpc>
              <a:spcBef>
                <a:spcPts val="120"/>
              </a:spcBef>
            </a:pPr>
            <a:r>
              <a:rPr sz="2050" spc="-270" dirty="0">
                <a:solidFill>
                  <a:srgbClr val="003366"/>
                </a:solidFill>
                <a:latin typeface="SimSun"/>
                <a:cs typeface="SimSun"/>
              </a:rPr>
              <a:t>意</a:t>
            </a:r>
            <a:r>
              <a:rPr sz="2000" spc="-200" dirty="0">
                <a:solidFill>
                  <a:srgbClr val="003366"/>
                </a:solidFill>
                <a:latin typeface="SimSun"/>
                <a:cs typeface="SimSun"/>
              </a:rPr>
              <a:t>味</a:t>
            </a:r>
            <a:r>
              <a:rPr sz="1750" spc="114" dirty="0">
                <a:solidFill>
                  <a:srgbClr val="003366"/>
                </a:solidFill>
                <a:latin typeface="PMingLiU"/>
                <a:cs typeface="PMingLiU"/>
              </a:rPr>
              <a:t>と</a:t>
            </a:r>
            <a:r>
              <a:rPr sz="1950" spc="-165" dirty="0">
                <a:solidFill>
                  <a:srgbClr val="003366"/>
                </a:solidFill>
                <a:latin typeface="SimSun"/>
                <a:cs typeface="SimSun"/>
              </a:rPr>
              <a:t>今</a:t>
            </a:r>
            <a:r>
              <a:rPr sz="2000" spc="-200" dirty="0">
                <a:solidFill>
                  <a:srgbClr val="003366"/>
                </a:solidFill>
                <a:latin typeface="SimSun"/>
                <a:cs typeface="SimSun"/>
              </a:rPr>
              <a:t>後</a:t>
            </a:r>
            <a:r>
              <a:rPr sz="1750" spc="114" dirty="0">
                <a:solidFill>
                  <a:srgbClr val="003366"/>
                </a:solidFill>
                <a:latin typeface="PMingLiU"/>
                <a:cs typeface="PMingLiU"/>
              </a:rPr>
              <a:t>の</a:t>
            </a:r>
            <a:r>
              <a:rPr sz="2050" spc="-270" dirty="0">
                <a:solidFill>
                  <a:srgbClr val="003366"/>
                </a:solidFill>
                <a:latin typeface="SimSun"/>
                <a:cs typeface="SimSun"/>
              </a:rPr>
              <a:t>方</a:t>
            </a:r>
            <a:r>
              <a:rPr sz="2000" spc="-220" dirty="0">
                <a:solidFill>
                  <a:srgbClr val="003366"/>
                </a:solidFill>
                <a:latin typeface="SimSun"/>
                <a:cs typeface="SimSun"/>
              </a:rPr>
              <a:t>向</a:t>
            </a:r>
            <a:r>
              <a:rPr sz="1950" spc="-50" dirty="0">
                <a:solidFill>
                  <a:srgbClr val="003366"/>
                </a:solidFill>
                <a:latin typeface="SimSun"/>
                <a:cs typeface="SimSun"/>
              </a:rPr>
              <a:t>性</a:t>
            </a:r>
            <a:endParaRPr sz="1950">
              <a:latin typeface="SimSun"/>
              <a:cs typeface="SimSun"/>
            </a:endParaRPr>
          </a:p>
          <a:p>
            <a:pPr marL="635000">
              <a:lnSpc>
                <a:spcPct val="100000"/>
              </a:lnSpc>
              <a:spcBef>
                <a:spcPts val="1240"/>
              </a:spcBef>
            </a:pPr>
            <a:r>
              <a:rPr sz="1350" dirty="0">
                <a:solidFill>
                  <a:srgbClr val="374050"/>
                </a:solidFill>
                <a:latin typeface="Arial"/>
                <a:cs typeface="Arial"/>
              </a:rPr>
              <a:t>1.40[THz]</a:t>
            </a:r>
            <a:r>
              <a:rPr sz="1350" spc="-35" dirty="0">
                <a:solidFill>
                  <a:srgbClr val="374050"/>
                </a:solidFill>
                <a:latin typeface="PMingLiU"/>
                <a:cs typeface="PMingLiU"/>
              </a:rPr>
              <a:t>の検量線の有効性が統計的に確認できた</a:t>
            </a:r>
            <a:endParaRPr sz="1350">
              <a:latin typeface="PMingLiU"/>
              <a:cs typeface="PMingLiU"/>
            </a:endParaRPr>
          </a:p>
          <a:p>
            <a:pPr>
              <a:lnSpc>
                <a:spcPct val="100000"/>
              </a:lnSpc>
              <a:spcBef>
                <a:spcPts val="390"/>
              </a:spcBef>
            </a:pPr>
            <a:endParaRPr sz="1350">
              <a:latin typeface="PMingLiU"/>
              <a:cs typeface="PMingLiU"/>
            </a:endParaRPr>
          </a:p>
          <a:p>
            <a:pPr marL="615950">
              <a:lnSpc>
                <a:spcPct val="100000"/>
              </a:lnSpc>
              <a:spcBef>
                <a:spcPts val="5"/>
              </a:spcBef>
            </a:pPr>
            <a:r>
              <a:rPr sz="1350" dirty="0">
                <a:solidFill>
                  <a:srgbClr val="374050"/>
                </a:solidFill>
                <a:latin typeface="Arial"/>
                <a:cs typeface="Arial"/>
              </a:rPr>
              <a:t>AH</a:t>
            </a:r>
            <a:r>
              <a:rPr sz="1350" spc="65" dirty="0">
                <a:solidFill>
                  <a:srgbClr val="374050"/>
                </a:solidFill>
                <a:latin typeface="Arial"/>
                <a:cs typeface="Arial"/>
              </a:rPr>
              <a:t> </a:t>
            </a:r>
            <a:r>
              <a:rPr sz="1350" dirty="0">
                <a:solidFill>
                  <a:srgbClr val="374050"/>
                </a:solidFill>
                <a:latin typeface="Arial"/>
                <a:cs typeface="Arial"/>
              </a:rPr>
              <a:t>4.5[g/m</a:t>
            </a:r>
            <a:r>
              <a:rPr sz="1500" baseline="27777" dirty="0">
                <a:solidFill>
                  <a:srgbClr val="374050"/>
                </a:solidFill>
                <a:latin typeface="Arial"/>
                <a:cs typeface="Arial"/>
              </a:rPr>
              <a:t>3</a:t>
            </a:r>
            <a:r>
              <a:rPr sz="1350" dirty="0">
                <a:solidFill>
                  <a:srgbClr val="374050"/>
                </a:solidFill>
                <a:latin typeface="Arial"/>
                <a:cs typeface="Arial"/>
              </a:rPr>
              <a:t>]</a:t>
            </a:r>
            <a:r>
              <a:rPr sz="1350" spc="-10" dirty="0">
                <a:solidFill>
                  <a:srgbClr val="374050"/>
                </a:solidFill>
                <a:latin typeface="PMingLiU"/>
                <a:cs typeface="PMingLiU"/>
              </a:rPr>
              <a:t>では第</a:t>
            </a:r>
            <a:r>
              <a:rPr sz="1350" dirty="0">
                <a:solidFill>
                  <a:srgbClr val="374050"/>
                </a:solidFill>
                <a:latin typeface="Arial"/>
                <a:cs typeface="Arial"/>
              </a:rPr>
              <a:t>1</a:t>
            </a:r>
            <a:r>
              <a:rPr sz="1350" spc="-10" dirty="0">
                <a:solidFill>
                  <a:srgbClr val="374050"/>
                </a:solidFill>
                <a:latin typeface="PMingLiU"/>
                <a:cs typeface="PMingLiU"/>
              </a:rPr>
              <a:t>回と第</a:t>
            </a:r>
            <a:r>
              <a:rPr sz="1350" dirty="0">
                <a:solidFill>
                  <a:srgbClr val="374050"/>
                </a:solidFill>
                <a:latin typeface="Arial"/>
                <a:cs typeface="Arial"/>
              </a:rPr>
              <a:t>2</a:t>
            </a:r>
            <a:r>
              <a:rPr sz="1350" spc="-25" dirty="0">
                <a:solidFill>
                  <a:srgbClr val="374050"/>
                </a:solidFill>
                <a:latin typeface="PMingLiU"/>
                <a:cs typeface="PMingLiU"/>
              </a:rPr>
              <a:t>回の結果がよく一致している</a:t>
            </a:r>
            <a:endParaRPr sz="1350">
              <a:latin typeface="PMingLiU"/>
              <a:cs typeface="PMingLiU"/>
            </a:endParaRPr>
          </a:p>
          <a:p>
            <a:pPr marL="635000" marR="285115" algn="just">
              <a:lnSpc>
                <a:spcPct val="129600"/>
              </a:lnSpc>
              <a:spcBef>
                <a:spcPts val="1800"/>
              </a:spcBef>
            </a:pPr>
            <a:r>
              <a:rPr sz="1350" spc="-20" dirty="0">
                <a:solidFill>
                  <a:srgbClr val="374050"/>
                </a:solidFill>
                <a:latin typeface="PMingLiU"/>
                <a:cs typeface="PMingLiU"/>
              </a:rPr>
              <a:t>グローブボックス内に</a:t>
            </a:r>
            <a:r>
              <a:rPr sz="1350" spc="-35" dirty="0">
                <a:solidFill>
                  <a:srgbClr val="374050"/>
                </a:solidFill>
                <a:latin typeface="Arial"/>
                <a:cs typeface="Arial"/>
              </a:rPr>
              <a:t>FAN</a:t>
            </a:r>
            <a:r>
              <a:rPr sz="1350" spc="-30" dirty="0">
                <a:solidFill>
                  <a:srgbClr val="374050"/>
                </a:solidFill>
                <a:latin typeface="PMingLiU"/>
                <a:cs typeface="PMingLiU"/>
              </a:rPr>
              <a:t>を導入し、各インターフェログラム</a:t>
            </a:r>
            <a:r>
              <a:rPr sz="1350" spc="-35" dirty="0">
                <a:solidFill>
                  <a:srgbClr val="374050"/>
                </a:solidFill>
                <a:latin typeface="PMingLiU"/>
                <a:cs typeface="PMingLiU"/>
              </a:rPr>
              <a:t>の精度を向上させることで、測定点を増やしたさらなる高精度な検量線とデータの再現性が求められる</a:t>
            </a:r>
            <a:endParaRPr sz="1350">
              <a:latin typeface="PMingLiU"/>
              <a:cs typeface="PMingLiU"/>
            </a:endParaRPr>
          </a:p>
        </p:txBody>
      </p:sp>
      <p:pic>
        <p:nvPicPr>
          <p:cNvPr id="35" name="図 34" descr="グラフ&#10;&#10;AI 生成コンテンツは誤りを含む可能性があります。">
            <a:extLst>
              <a:ext uri="{FF2B5EF4-FFF2-40B4-BE49-F238E27FC236}">
                <a16:creationId xmlns:a16="http://schemas.microsoft.com/office/drawing/2014/main" id="{E74295C6-A8D3-30E7-B3BD-2818047F53FF}"/>
              </a:ext>
            </a:extLst>
          </p:cNvPr>
          <p:cNvPicPr>
            <a:picLocks noChangeAspect="1"/>
          </p:cNvPicPr>
          <p:nvPr/>
        </p:nvPicPr>
        <p:blipFill>
          <a:blip r:embed="rId10" cstate="print">
            <a:extLst>
              <a:ext uri="{28A0092B-C50C-407E-A947-70E740481C1C}">
                <a14:useLocalDpi xmlns:a14="http://schemas.microsoft.com/office/drawing/2010/main" val="0"/>
              </a:ext>
            </a:extLst>
          </a:blip>
          <a:srcRect l="5319" t="5000" r="4766" b="4666"/>
          <a:stretch>
            <a:fillRect/>
          </a:stretch>
        </p:blipFill>
        <p:spPr>
          <a:xfrm>
            <a:off x="7142478" y="1266409"/>
            <a:ext cx="3926841" cy="30189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781800"/>
          </a:xfrm>
          <a:custGeom>
            <a:avLst/>
            <a:gdLst/>
            <a:ahLst/>
            <a:cxnLst/>
            <a:rect l="l" t="t" r="r" b="b"/>
            <a:pathLst>
              <a:path w="12192000" h="7277100">
                <a:moveTo>
                  <a:pt x="12191999" y="7277099"/>
                </a:moveTo>
                <a:lnTo>
                  <a:pt x="0" y="7277099"/>
                </a:lnTo>
                <a:lnTo>
                  <a:pt x="0" y="0"/>
                </a:lnTo>
                <a:lnTo>
                  <a:pt x="12191999" y="0"/>
                </a:lnTo>
                <a:lnTo>
                  <a:pt x="12191999" y="7277099"/>
                </a:lnTo>
                <a:close/>
              </a:path>
            </a:pathLst>
          </a:custGeom>
          <a:solidFill>
            <a:srgbClr val="F2F4F5"/>
          </a:solidFill>
        </p:spPr>
        <p:txBody>
          <a:bodyPr wrap="square" lIns="0" tIns="0" rIns="0" bIns="0" rtlCol="0"/>
          <a:lstStyle/>
          <a:p>
            <a:endParaRPr/>
          </a:p>
        </p:txBody>
      </p:sp>
      <p:pic>
        <p:nvPicPr>
          <p:cNvPr id="3" name="object 3"/>
          <p:cNvPicPr/>
          <p:nvPr/>
        </p:nvPicPr>
        <p:blipFill>
          <a:blip r:embed="rId2" cstate="print"/>
          <a:stretch>
            <a:fillRect/>
          </a:stretch>
        </p:blipFill>
        <p:spPr>
          <a:xfrm>
            <a:off x="0" y="0"/>
            <a:ext cx="12191999" cy="647699"/>
          </a:xfrm>
          <a:prstGeom prst="rect">
            <a:avLst/>
          </a:prstGeom>
        </p:spPr>
      </p:pic>
      <p:sp>
        <p:nvSpPr>
          <p:cNvPr id="4" name="object 4"/>
          <p:cNvSpPr txBox="1">
            <a:spLocks noGrp="1"/>
          </p:cNvSpPr>
          <p:nvPr>
            <p:ph type="title"/>
          </p:nvPr>
        </p:nvSpPr>
        <p:spPr>
          <a:xfrm>
            <a:off x="292099" y="80466"/>
            <a:ext cx="2644775" cy="416559"/>
          </a:xfrm>
          <a:prstGeom prst="rect">
            <a:avLst/>
          </a:prstGeom>
        </p:spPr>
        <p:txBody>
          <a:bodyPr vert="horz" wrap="square" lIns="0" tIns="14604" rIns="0" bIns="0" rtlCol="0">
            <a:spAutoFit/>
          </a:bodyPr>
          <a:lstStyle/>
          <a:p>
            <a:pPr marL="12700">
              <a:lnSpc>
                <a:spcPct val="100000"/>
              </a:lnSpc>
              <a:spcBef>
                <a:spcPts val="114"/>
              </a:spcBef>
            </a:pPr>
            <a:r>
              <a:rPr sz="2300" dirty="0"/>
              <a:t>まとめと</a:t>
            </a:r>
            <a:r>
              <a:rPr sz="2450" spc="-229" dirty="0">
                <a:latin typeface="SimSun"/>
                <a:cs typeface="SimSun"/>
              </a:rPr>
              <a:t>今</a:t>
            </a:r>
            <a:r>
              <a:rPr sz="2500" spc="-250" dirty="0">
                <a:latin typeface="SimSun"/>
                <a:cs typeface="SimSun"/>
              </a:rPr>
              <a:t>後</a:t>
            </a:r>
            <a:r>
              <a:rPr sz="2300" dirty="0"/>
              <a:t>の</a:t>
            </a:r>
            <a:r>
              <a:rPr sz="2400" spc="-175" dirty="0"/>
              <a:t>展</a:t>
            </a:r>
            <a:r>
              <a:rPr sz="2550" spc="-360" dirty="0"/>
              <a:t>望</a:t>
            </a:r>
            <a:endParaRPr sz="2550">
              <a:latin typeface="SimSun"/>
              <a:cs typeface="SimSun"/>
            </a:endParaRPr>
          </a:p>
        </p:txBody>
      </p:sp>
      <p:sp>
        <p:nvSpPr>
          <p:cNvPr id="5" name="object 5"/>
          <p:cNvSpPr txBox="1"/>
          <p:nvPr/>
        </p:nvSpPr>
        <p:spPr>
          <a:xfrm>
            <a:off x="11609585" y="187325"/>
            <a:ext cx="290830" cy="254000"/>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Arial"/>
                <a:cs typeface="Arial"/>
              </a:rPr>
              <a:t>9/9</a:t>
            </a:r>
            <a:endParaRPr sz="1500">
              <a:latin typeface="Arial"/>
              <a:cs typeface="Arial"/>
            </a:endParaRPr>
          </a:p>
        </p:txBody>
      </p:sp>
      <p:grpSp>
        <p:nvGrpSpPr>
          <p:cNvPr id="6" name="object 6"/>
          <p:cNvGrpSpPr/>
          <p:nvPr/>
        </p:nvGrpSpPr>
        <p:grpSpPr>
          <a:xfrm>
            <a:off x="304799" y="838200"/>
            <a:ext cx="11582400" cy="2019300"/>
            <a:chOff x="304799" y="952499"/>
            <a:chExt cx="11582400" cy="2019300"/>
          </a:xfrm>
        </p:grpSpPr>
        <p:sp>
          <p:nvSpPr>
            <p:cNvPr id="7" name="object 7"/>
            <p:cNvSpPr/>
            <p:nvPr/>
          </p:nvSpPr>
          <p:spPr>
            <a:xfrm>
              <a:off x="304799" y="952499"/>
              <a:ext cx="11582400" cy="2019300"/>
            </a:xfrm>
            <a:custGeom>
              <a:avLst/>
              <a:gdLst/>
              <a:ahLst/>
              <a:cxnLst/>
              <a:rect l="l" t="t" r="r" b="b"/>
              <a:pathLst>
                <a:path w="11582400" h="2019300">
                  <a:moveTo>
                    <a:pt x="11582399" y="2019299"/>
                  </a:moveTo>
                  <a:lnTo>
                    <a:pt x="0" y="2019299"/>
                  </a:lnTo>
                  <a:lnTo>
                    <a:pt x="0" y="0"/>
                  </a:lnTo>
                  <a:lnTo>
                    <a:pt x="11582399" y="0"/>
                  </a:lnTo>
                  <a:lnTo>
                    <a:pt x="11582399" y="2019299"/>
                  </a:lnTo>
                  <a:close/>
                </a:path>
              </a:pathLst>
            </a:custGeom>
            <a:solidFill>
              <a:srgbClr val="FFFFFF">
                <a:alpha val="90199"/>
              </a:srgbClr>
            </a:solidFill>
          </p:spPr>
          <p:txBody>
            <a:bodyPr wrap="square" lIns="0" tIns="0" rIns="0" bIns="0" rtlCol="0"/>
            <a:lstStyle/>
            <a:p>
              <a:endParaRPr/>
            </a:p>
          </p:txBody>
        </p:sp>
        <p:sp>
          <p:nvSpPr>
            <p:cNvPr id="8" name="object 8"/>
            <p:cNvSpPr/>
            <p:nvPr/>
          </p:nvSpPr>
          <p:spPr>
            <a:xfrm>
              <a:off x="304799" y="952499"/>
              <a:ext cx="38100" cy="2019300"/>
            </a:xfrm>
            <a:custGeom>
              <a:avLst/>
              <a:gdLst/>
              <a:ahLst/>
              <a:cxnLst/>
              <a:rect l="l" t="t" r="r" b="b"/>
              <a:pathLst>
                <a:path w="38100" h="2019300">
                  <a:moveTo>
                    <a:pt x="38099" y="2019299"/>
                  </a:moveTo>
                  <a:lnTo>
                    <a:pt x="0" y="2019299"/>
                  </a:lnTo>
                  <a:lnTo>
                    <a:pt x="0" y="0"/>
                  </a:lnTo>
                  <a:lnTo>
                    <a:pt x="38099" y="0"/>
                  </a:lnTo>
                  <a:lnTo>
                    <a:pt x="38099" y="2019299"/>
                  </a:lnTo>
                  <a:close/>
                </a:path>
              </a:pathLst>
            </a:custGeom>
            <a:solidFill>
              <a:srgbClr val="FF9900"/>
            </a:solidFill>
          </p:spPr>
          <p:txBody>
            <a:bodyPr wrap="square" lIns="0" tIns="0" rIns="0" bIns="0" rtlCol="0"/>
            <a:lstStyle/>
            <a:p>
              <a:endParaRPr/>
            </a:p>
          </p:txBody>
        </p:sp>
        <p:sp>
          <p:nvSpPr>
            <p:cNvPr id="9" name="object 9"/>
            <p:cNvSpPr/>
            <p:nvPr/>
          </p:nvSpPr>
          <p:spPr>
            <a:xfrm>
              <a:off x="571499" y="1181099"/>
              <a:ext cx="476250" cy="476250"/>
            </a:xfrm>
            <a:custGeom>
              <a:avLst/>
              <a:gdLst/>
              <a:ahLst/>
              <a:cxnLst/>
              <a:rect l="l" t="t" r="r" b="b"/>
              <a:pathLst>
                <a:path w="476250" h="476250">
                  <a:moveTo>
                    <a:pt x="245923" y="476249"/>
                  </a:moveTo>
                  <a:lnTo>
                    <a:pt x="230326" y="476249"/>
                  </a:lnTo>
                  <a:lnTo>
                    <a:pt x="222545" y="475867"/>
                  </a:lnTo>
                  <a:lnTo>
                    <a:pt x="184020" y="470152"/>
                  </a:lnTo>
                  <a:lnTo>
                    <a:pt x="139793" y="455138"/>
                  </a:lnTo>
                  <a:lnTo>
                    <a:pt x="99345" y="431785"/>
                  </a:lnTo>
                  <a:lnTo>
                    <a:pt x="64230" y="400989"/>
                  </a:lnTo>
                  <a:lnTo>
                    <a:pt x="35798" y="363935"/>
                  </a:lnTo>
                  <a:lnTo>
                    <a:pt x="15141" y="322045"/>
                  </a:lnTo>
                  <a:lnTo>
                    <a:pt x="3053" y="276931"/>
                  </a:lnTo>
                  <a:lnTo>
                    <a:pt x="0" y="245923"/>
                  </a:lnTo>
                  <a:lnTo>
                    <a:pt x="0" y="230325"/>
                  </a:lnTo>
                  <a:lnTo>
                    <a:pt x="6096" y="184019"/>
                  </a:lnTo>
                  <a:lnTo>
                    <a:pt x="21110" y="139793"/>
                  </a:lnTo>
                  <a:lnTo>
                    <a:pt x="44464" y="99345"/>
                  </a:lnTo>
                  <a:lnTo>
                    <a:pt x="75259" y="64230"/>
                  </a:lnTo>
                  <a:lnTo>
                    <a:pt x="112314" y="35798"/>
                  </a:lnTo>
                  <a:lnTo>
                    <a:pt x="154203" y="15141"/>
                  </a:lnTo>
                  <a:lnTo>
                    <a:pt x="199318" y="3053"/>
                  </a:lnTo>
                  <a:lnTo>
                    <a:pt x="230326" y="0"/>
                  </a:lnTo>
                  <a:lnTo>
                    <a:pt x="245923" y="0"/>
                  </a:lnTo>
                  <a:lnTo>
                    <a:pt x="292229" y="6096"/>
                  </a:lnTo>
                  <a:lnTo>
                    <a:pt x="336456" y="21110"/>
                  </a:lnTo>
                  <a:lnTo>
                    <a:pt x="376904" y="44464"/>
                  </a:lnTo>
                  <a:lnTo>
                    <a:pt x="412019" y="75259"/>
                  </a:lnTo>
                  <a:lnTo>
                    <a:pt x="440451" y="112313"/>
                  </a:lnTo>
                  <a:lnTo>
                    <a:pt x="461108" y="154203"/>
                  </a:lnTo>
                  <a:lnTo>
                    <a:pt x="473195" y="199317"/>
                  </a:lnTo>
                  <a:lnTo>
                    <a:pt x="476249" y="230325"/>
                  </a:lnTo>
                  <a:lnTo>
                    <a:pt x="476249" y="238124"/>
                  </a:lnTo>
                  <a:lnTo>
                    <a:pt x="476249" y="245923"/>
                  </a:lnTo>
                  <a:lnTo>
                    <a:pt x="470152" y="292229"/>
                  </a:lnTo>
                  <a:lnTo>
                    <a:pt x="455139" y="336456"/>
                  </a:lnTo>
                  <a:lnTo>
                    <a:pt x="431785" y="376904"/>
                  </a:lnTo>
                  <a:lnTo>
                    <a:pt x="400990" y="412019"/>
                  </a:lnTo>
                  <a:lnTo>
                    <a:pt x="363935" y="440451"/>
                  </a:lnTo>
                  <a:lnTo>
                    <a:pt x="322046" y="461108"/>
                  </a:lnTo>
                  <a:lnTo>
                    <a:pt x="276931" y="473195"/>
                  </a:lnTo>
                  <a:lnTo>
                    <a:pt x="253703" y="475867"/>
                  </a:lnTo>
                  <a:lnTo>
                    <a:pt x="245923" y="476249"/>
                  </a:lnTo>
                  <a:close/>
                </a:path>
              </a:pathLst>
            </a:custGeom>
            <a:solidFill>
              <a:srgbClr val="003366"/>
            </a:solidFill>
          </p:spPr>
          <p:txBody>
            <a:bodyPr wrap="square" lIns="0" tIns="0" rIns="0" bIns="0" rtlCol="0"/>
            <a:lstStyle/>
            <a:p>
              <a:endParaRPr/>
            </a:p>
          </p:txBody>
        </p:sp>
        <p:pic>
          <p:nvPicPr>
            <p:cNvPr id="10" name="object 10"/>
            <p:cNvPicPr/>
            <p:nvPr/>
          </p:nvPicPr>
          <p:blipFill>
            <a:blip r:embed="rId3" cstate="print"/>
            <a:stretch>
              <a:fillRect/>
            </a:stretch>
          </p:blipFill>
          <p:spPr>
            <a:xfrm>
              <a:off x="714374" y="1323974"/>
              <a:ext cx="190499" cy="190499"/>
            </a:xfrm>
            <a:prstGeom prst="rect">
              <a:avLst/>
            </a:prstGeom>
          </p:spPr>
        </p:pic>
      </p:grpSp>
      <p:sp>
        <p:nvSpPr>
          <p:cNvPr id="11" name="object 11"/>
          <p:cNvSpPr txBox="1"/>
          <p:nvPr/>
        </p:nvSpPr>
        <p:spPr>
          <a:xfrm>
            <a:off x="1200149" y="1021061"/>
            <a:ext cx="927100" cy="339725"/>
          </a:xfrm>
          <a:prstGeom prst="rect">
            <a:avLst/>
          </a:prstGeom>
        </p:spPr>
        <p:txBody>
          <a:bodyPr vert="horz" wrap="square" lIns="0" tIns="13970" rIns="0" bIns="0" rtlCol="0">
            <a:spAutoFit/>
          </a:bodyPr>
          <a:lstStyle/>
          <a:p>
            <a:pPr>
              <a:lnSpc>
                <a:spcPct val="100000"/>
              </a:lnSpc>
              <a:spcBef>
                <a:spcPts val="110"/>
              </a:spcBef>
            </a:pPr>
            <a:r>
              <a:rPr sz="1900" spc="-120" dirty="0">
                <a:solidFill>
                  <a:srgbClr val="1F2937"/>
                </a:solidFill>
                <a:latin typeface="PMingLiU"/>
                <a:cs typeface="PMingLiU"/>
              </a:rPr>
              <a:t>研</a:t>
            </a:r>
            <a:r>
              <a:rPr sz="2050" spc="-270" dirty="0">
                <a:solidFill>
                  <a:srgbClr val="1F2937"/>
                </a:solidFill>
                <a:latin typeface="SimSun"/>
                <a:cs typeface="SimSun"/>
              </a:rPr>
              <a:t>究</a:t>
            </a:r>
            <a:r>
              <a:rPr sz="2000" spc="-215" dirty="0">
                <a:solidFill>
                  <a:srgbClr val="1F2937"/>
                </a:solidFill>
                <a:latin typeface="SimSun"/>
                <a:cs typeface="SimSun"/>
              </a:rPr>
              <a:t>成</a:t>
            </a:r>
            <a:r>
              <a:rPr sz="2050" spc="-320" dirty="0">
                <a:solidFill>
                  <a:srgbClr val="1F2937"/>
                </a:solidFill>
                <a:latin typeface="SimSun"/>
                <a:cs typeface="SimSun"/>
              </a:rPr>
              <a:t>果</a:t>
            </a:r>
            <a:endParaRPr sz="2050">
              <a:latin typeface="SimSun"/>
              <a:cs typeface="SimSun"/>
            </a:endParaRPr>
          </a:p>
        </p:txBody>
      </p:sp>
      <p:grpSp>
        <p:nvGrpSpPr>
          <p:cNvPr id="12" name="object 12"/>
          <p:cNvGrpSpPr/>
          <p:nvPr/>
        </p:nvGrpSpPr>
        <p:grpSpPr>
          <a:xfrm>
            <a:off x="1200149" y="1485900"/>
            <a:ext cx="4591050" cy="495300"/>
            <a:chOff x="1200149" y="1600199"/>
            <a:chExt cx="4591050" cy="495300"/>
          </a:xfrm>
        </p:grpSpPr>
        <p:sp>
          <p:nvSpPr>
            <p:cNvPr id="13" name="object 13"/>
            <p:cNvSpPr/>
            <p:nvPr/>
          </p:nvSpPr>
          <p:spPr>
            <a:xfrm>
              <a:off x="1200149" y="1600199"/>
              <a:ext cx="4591050" cy="495300"/>
            </a:xfrm>
            <a:custGeom>
              <a:avLst/>
              <a:gdLst/>
              <a:ahLst/>
              <a:cxnLst/>
              <a:rect l="l" t="t" r="r" b="b"/>
              <a:pathLst>
                <a:path w="4591050" h="495300">
                  <a:moveTo>
                    <a:pt x="4519852" y="495299"/>
                  </a:moveTo>
                  <a:lnTo>
                    <a:pt x="71196" y="495299"/>
                  </a:lnTo>
                  <a:lnTo>
                    <a:pt x="66241" y="494811"/>
                  </a:lnTo>
                  <a:lnTo>
                    <a:pt x="29705" y="479677"/>
                  </a:lnTo>
                  <a:lnTo>
                    <a:pt x="3885" y="443637"/>
                  </a:lnTo>
                  <a:lnTo>
                    <a:pt x="0" y="424103"/>
                  </a:lnTo>
                  <a:lnTo>
                    <a:pt x="0" y="419099"/>
                  </a:lnTo>
                  <a:lnTo>
                    <a:pt x="0" y="71196"/>
                  </a:lnTo>
                  <a:lnTo>
                    <a:pt x="15621" y="29705"/>
                  </a:lnTo>
                  <a:lnTo>
                    <a:pt x="51661" y="3885"/>
                  </a:lnTo>
                  <a:lnTo>
                    <a:pt x="71196" y="0"/>
                  </a:lnTo>
                  <a:lnTo>
                    <a:pt x="4519852" y="0"/>
                  </a:lnTo>
                  <a:lnTo>
                    <a:pt x="4561343" y="15621"/>
                  </a:lnTo>
                  <a:lnTo>
                    <a:pt x="4587162" y="51661"/>
                  </a:lnTo>
                  <a:lnTo>
                    <a:pt x="4591049" y="71196"/>
                  </a:lnTo>
                  <a:lnTo>
                    <a:pt x="4591049" y="424103"/>
                  </a:lnTo>
                  <a:lnTo>
                    <a:pt x="4575427" y="465594"/>
                  </a:lnTo>
                  <a:lnTo>
                    <a:pt x="4539387" y="491414"/>
                  </a:lnTo>
                  <a:lnTo>
                    <a:pt x="4524807" y="494811"/>
                  </a:lnTo>
                  <a:lnTo>
                    <a:pt x="4519852" y="495299"/>
                  </a:lnTo>
                  <a:close/>
                </a:path>
              </a:pathLst>
            </a:custGeom>
            <a:solidFill>
              <a:srgbClr val="EFF5FF"/>
            </a:solidFill>
          </p:spPr>
          <p:txBody>
            <a:bodyPr wrap="square" lIns="0" tIns="0" rIns="0" bIns="0" rtlCol="0"/>
            <a:lstStyle/>
            <a:p>
              <a:endParaRPr/>
            </a:p>
          </p:txBody>
        </p:sp>
        <p:pic>
          <p:nvPicPr>
            <p:cNvPr id="14" name="object 14"/>
            <p:cNvPicPr/>
            <p:nvPr/>
          </p:nvPicPr>
          <p:blipFill>
            <a:blip r:embed="rId4" cstate="print"/>
            <a:stretch>
              <a:fillRect/>
            </a:stretch>
          </p:blipFill>
          <p:spPr>
            <a:xfrm>
              <a:off x="1314449" y="1752599"/>
              <a:ext cx="190499" cy="171449"/>
            </a:xfrm>
            <a:prstGeom prst="rect">
              <a:avLst/>
            </a:prstGeom>
          </p:spPr>
        </p:pic>
      </p:grpSp>
      <p:sp>
        <p:nvSpPr>
          <p:cNvPr id="15" name="object 15"/>
          <p:cNvSpPr txBox="1"/>
          <p:nvPr/>
        </p:nvSpPr>
        <p:spPr>
          <a:xfrm>
            <a:off x="1581149" y="1606551"/>
            <a:ext cx="3908425" cy="231140"/>
          </a:xfrm>
          <a:prstGeom prst="rect">
            <a:avLst/>
          </a:prstGeom>
        </p:spPr>
        <p:txBody>
          <a:bodyPr vert="horz" wrap="square" lIns="0" tIns="12700" rIns="0" bIns="0" rtlCol="0">
            <a:spAutoFit/>
          </a:bodyPr>
          <a:lstStyle/>
          <a:p>
            <a:pPr>
              <a:lnSpc>
                <a:spcPct val="100000"/>
              </a:lnSpc>
              <a:spcBef>
                <a:spcPts val="100"/>
              </a:spcBef>
            </a:pPr>
            <a:r>
              <a:rPr sz="1350" spc="-20" dirty="0">
                <a:solidFill>
                  <a:srgbClr val="374050"/>
                </a:solidFill>
                <a:latin typeface="PMingLiU"/>
                <a:cs typeface="PMingLiU"/>
              </a:rPr>
              <a:t>水蒸気固有の吸収線の位置を</a:t>
            </a:r>
            <a:r>
              <a:rPr sz="1350" spc="-10" dirty="0">
                <a:solidFill>
                  <a:srgbClr val="374050"/>
                </a:solidFill>
                <a:latin typeface="Arial"/>
                <a:cs typeface="Arial"/>
              </a:rPr>
              <a:t>HITRAN</a:t>
            </a:r>
            <a:r>
              <a:rPr sz="1350" spc="-25" dirty="0">
                <a:solidFill>
                  <a:srgbClr val="374050"/>
                </a:solidFill>
                <a:latin typeface="PMingLiU"/>
                <a:cs typeface="PMingLiU"/>
              </a:rPr>
              <a:t>を用いて特定</a:t>
            </a:r>
            <a:endParaRPr sz="1350">
              <a:latin typeface="PMingLiU"/>
              <a:cs typeface="PMingLiU"/>
            </a:endParaRPr>
          </a:p>
        </p:txBody>
      </p:sp>
      <p:grpSp>
        <p:nvGrpSpPr>
          <p:cNvPr id="16" name="object 16"/>
          <p:cNvGrpSpPr/>
          <p:nvPr/>
        </p:nvGrpSpPr>
        <p:grpSpPr>
          <a:xfrm>
            <a:off x="5943598" y="1485900"/>
            <a:ext cx="4591050" cy="495300"/>
            <a:chOff x="5943598" y="1600199"/>
            <a:chExt cx="4591050" cy="495300"/>
          </a:xfrm>
        </p:grpSpPr>
        <p:sp>
          <p:nvSpPr>
            <p:cNvPr id="17" name="object 17"/>
            <p:cNvSpPr/>
            <p:nvPr/>
          </p:nvSpPr>
          <p:spPr>
            <a:xfrm>
              <a:off x="5943598" y="1600199"/>
              <a:ext cx="4591050" cy="495300"/>
            </a:xfrm>
            <a:custGeom>
              <a:avLst/>
              <a:gdLst/>
              <a:ahLst/>
              <a:cxnLst/>
              <a:rect l="l" t="t" r="r" b="b"/>
              <a:pathLst>
                <a:path w="4591050" h="495300">
                  <a:moveTo>
                    <a:pt x="4519853" y="495299"/>
                  </a:moveTo>
                  <a:lnTo>
                    <a:pt x="71196" y="495299"/>
                  </a:lnTo>
                  <a:lnTo>
                    <a:pt x="66241" y="494811"/>
                  </a:lnTo>
                  <a:lnTo>
                    <a:pt x="29704" y="479677"/>
                  </a:lnTo>
                  <a:lnTo>
                    <a:pt x="3885" y="443637"/>
                  </a:lnTo>
                  <a:lnTo>
                    <a:pt x="0" y="424103"/>
                  </a:lnTo>
                  <a:lnTo>
                    <a:pt x="0" y="419099"/>
                  </a:lnTo>
                  <a:lnTo>
                    <a:pt x="0" y="71196"/>
                  </a:lnTo>
                  <a:lnTo>
                    <a:pt x="15621" y="29705"/>
                  </a:lnTo>
                  <a:lnTo>
                    <a:pt x="51661" y="3885"/>
                  </a:lnTo>
                  <a:lnTo>
                    <a:pt x="71196" y="0"/>
                  </a:lnTo>
                  <a:lnTo>
                    <a:pt x="4519853" y="0"/>
                  </a:lnTo>
                  <a:lnTo>
                    <a:pt x="4561343" y="15621"/>
                  </a:lnTo>
                  <a:lnTo>
                    <a:pt x="4587163" y="51661"/>
                  </a:lnTo>
                  <a:lnTo>
                    <a:pt x="4591049" y="71196"/>
                  </a:lnTo>
                  <a:lnTo>
                    <a:pt x="4591049" y="424103"/>
                  </a:lnTo>
                  <a:lnTo>
                    <a:pt x="4575426" y="465594"/>
                  </a:lnTo>
                  <a:lnTo>
                    <a:pt x="4539388" y="491414"/>
                  </a:lnTo>
                  <a:lnTo>
                    <a:pt x="4524807" y="494811"/>
                  </a:lnTo>
                  <a:lnTo>
                    <a:pt x="4519853" y="495299"/>
                  </a:lnTo>
                  <a:close/>
                </a:path>
              </a:pathLst>
            </a:custGeom>
            <a:solidFill>
              <a:srgbClr val="EFF5FF"/>
            </a:solidFill>
          </p:spPr>
          <p:txBody>
            <a:bodyPr wrap="square" lIns="0" tIns="0" rIns="0" bIns="0" rtlCol="0"/>
            <a:lstStyle/>
            <a:p>
              <a:endParaRPr/>
            </a:p>
          </p:txBody>
        </p:sp>
        <p:pic>
          <p:nvPicPr>
            <p:cNvPr id="18" name="object 18"/>
            <p:cNvPicPr/>
            <p:nvPr/>
          </p:nvPicPr>
          <p:blipFill>
            <a:blip r:embed="rId5" cstate="print"/>
            <a:stretch>
              <a:fillRect/>
            </a:stretch>
          </p:blipFill>
          <p:spPr>
            <a:xfrm>
              <a:off x="6057899" y="1762124"/>
              <a:ext cx="171449" cy="152399"/>
            </a:xfrm>
            <a:prstGeom prst="rect">
              <a:avLst/>
            </a:prstGeom>
          </p:spPr>
        </p:pic>
      </p:grpSp>
      <p:sp>
        <p:nvSpPr>
          <p:cNvPr id="19" name="object 19"/>
          <p:cNvSpPr txBox="1"/>
          <p:nvPr/>
        </p:nvSpPr>
        <p:spPr>
          <a:xfrm>
            <a:off x="6305549" y="1606551"/>
            <a:ext cx="3842385" cy="231140"/>
          </a:xfrm>
          <a:prstGeom prst="rect">
            <a:avLst/>
          </a:prstGeom>
        </p:spPr>
        <p:txBody>
          <a:bodyPr vert="horz" wrap="square" lIns="0" tIns="12700" rIns="0" bIns="0" rtlCol="0">
            <a:spAutoFit/>
          </a:bodyPr>
          <a:lstStyle/>
          <a:p>
            <a:pPr>
              <a:lnSpc>
                <a:spcPct val="100000"/>
              </a:lnSpc>
              <a:spcBef>
                <a:spcPts val="100"/>
              </a:spcBef>
            </a:pPr>
            <a:r>
              <a:rPr sz="1350" dirty="0">
                <a:solidFill>
                  <a:srgbClr val="374050"/>
                </a:solidFill>
                <a:latin typeface="Arial"/>
                <a:cs typeface="Arial"/>
              </a:rPr>
              <a:t>1.40[THz]</a:t>
            </a:r>
            <a:r>
              <a:rPr sz="1350" spc="-15" dirty="0">
                <a:solidFill>
                  <a:srgbClr val="374050"/>
                </a:solidFill>
                <a:latin typeface="PMingLiU"/>
                <a:cs typeface="PMingLiU"/>
              </a:rPr>
              <a:t>の検量線の決定係数</a:t>
            </a:r>
            <a:r>
              <a:rPr sz="1350" spc="-10" dirty="0">
                <a:solidFill>
                  <a:srgbClr val="374050"/>
                </a:solidFill>
                <a:latin typeface="Arial"/>
                <a:cs typeface="Arial"/>
              </a:rPr>
              <a:t>R²</a:t>
            </a:r>
            <a:r>
              <a:rPr sz="1350" spc="-10" dirty="0">
                <a:solidFill>
                  <a:srgbClr val="374050"/>
                </a:solidFill>
                <a:latin typeface="PMingLiU"/>
                <a:cs typeface="PMingLiU"/>
              </a:rPr>
              <a:t>が</a:t>
            </a:r>
            <a:r>
              <a:rPr sz="1350" dirty="0">
                <a:solidFill>
                  <a:srgbClr val="374050"/>
                </a:solidFill>
                <a:latin typeface="Arial"/>
                <a:cs typeface="Arial"/>
              </a:rPr>
              <a:t>0.97</a:t>
            </a:r>
            <a:r>
              <a:rPr sz="1350" spc="-15" dirty="0">
                <a:solidFill>
                  <a:srgbClr val="374050"/>
                </a:solidFill>
                <a:latin typeface="PMingLiU"/>
                <a:cs typeface="PMingLiU"/>
              </a:rPr>
              <a:t>と高精度化</a:t>
            </a:r>
            <a:endParaRPr sz="1350">
              <a:latin typeface="PMingLiU"/>
              <a:cs typeface="PMingLiU"/>
            </a:endParaRPr>
          </a:p>
        </p:txBody>
      </p:sp>
      <p:grpSp>
        <p:nvGrpSpPr>
          <p:cNvPr id="20" name="object 20"/>
          <p:cNvGrpSpPr/>
          <p:nvPr/>
        </p:nvGrpSpPr>
        <p:grpSpPr>
          <a:xfrm>
            <a:off x="1200149" y="2133600"/>
            <a:ext cx="4591050" cy="495300"/>
            <a:chOff x="1200149" y="2247899"/>
            <a:chExt cx="4591050" cy="495300"/>
          </a:xfrm>
        </p:grpSpPr>
        <p:sp>
          <p:nvSpPr>
            <p:cNvPr id="21" name="object 21"/>
            <p:cNvSpPr/>
            <p:nvPr/>
          </p:nvSpPr>
          <p:spPr>
            <a:xfrm>
              <a:off x="1200149" y="2247899"/>
              <a:ext cx="4591050" cy="495300"/>
            </a:xfrm>
            <a:custGeom>
              <a:avLst/>
              <a:gdLst/>
              <a:ahLst/>
              <a:cxnLst/>
              <a:rect l="l" t="t" r="r" b="b"/>
              <a:pathLst>
                <a:path w="4591050" h="495300">
                  <a:moveTo>
                    <a:pt x="4519852" y="495299"/>
                  </a:moveTo>
                  <a:lnTo>
                    <a:pt x="71196" y="495299"/>
                  </a:lnTo>
                  <a:lnTo>
                    <a:pt x="66241" y="494811"/>
                  </a:lnTo>
                  <a:lnTo>
                    <a:pt x="29705" y="479677"/>
                  </a:lnTo>
                  <a:lnTo>
                    <a:pt x="3885" y="443637"/>
                  </a:lnTo>
                  <a:lnTo>
                    <a:pt x="0" y="424103"/>
                  </a:lnTo>
                  <a:lnTo>
                    <a:pt x="0" y="419099"/>
                  </a:lnTo>
                  <a:lnTo>
                    <a:pt x="0" y="71196"/>
                  </a:lnTo>
                  <a:lnTo>
                    <a:pt x="15621" y="29705"/>
                  </a:lnTo>
                  <a:lnTo>
                    <a:pt x="51661" y="3885"/>
                  </a:lnTo>
                  <a:lnTo>
                    <a:pt x="71196" y="0"/>
                  </a:lnTo>
                  <a:lnTo>
                    <a:pt x="4519852" y="0"/>
                  </a:lnTo>
                  <a:lnTo>
                    <a:pt x="4561343" y="15621"/>
                  </a:lnTo>
                  <a:lnTo>
                    <a:pt x="4587162" y="51661"/>
                  </a:lnTo>
                  <a:lnTo>
                    <a:pt x="4591049" y="71196"/>
                  </a:lnTo>
                  <a:lnTo>
                    <a:pt x="4591049" y="424103"/>
                  </a:lnTo>
                  <a:lnTo>
                    <a:pt x="4575427" y="465593"/>
                  </a:lnTo>
                  <a:lnTo>
                    <a:pt x="4539387" y="491413"/>
                  </a:lnTo>
                  <a:lnTo>
                    <a:pt x="4524807" y="494811"/>
                  </a:lnTo>
                  <a:lnTo>
                    <a:pt x="4519852" y="495299"/>
                  </a:lnTo>
                  <a:close/>
                </a:path>
              </a:pathLst>
            </a:custGeom>
            <a:solidFill>
              <a:srgbClr val="EFF5FF"/>
            </a:solidFill>
          </p:spPr>
          <p:txBody>
            <a:bodyPr wrap="square" lIns="0" tIns="0" rIns="0" bIns="0" rtlCol="0"/>
            <a:lstStyle/>
            <a:p>
              <a:endParaRPr/>
            </a:p>
          </p:txBody>
        </p:sp>
        <p:pic>
          <p:nvPicPr>
            <p:cNvPr id="22" name="object 22"/>
            <p:cNvPicPr/>
            <p:nvPr/>
          </p:nvPicPr>
          <p:blipFill>
            <a:blip r:embed="rId6" cstate="print"/>
            <a:stretch>
              <a:fillRect/>
            </a:stretch>
          </p:blipFill>
          <p:spPr>
            <a:xfrm>
              <a:off x="1314449" y="2400299"/>
              <a:ext cx="171449" cy="171449"/>
            </a:xfrm>
            <a:prstGeom prst="rect">
              <a:avLst/>
            </a:prstGeom>
          </p:spPr>
        </p:pic>
      </p:grpSp>
      <p:sp>
        <p:nvSpPr>
          <p:cNvPr id="23" name="object 23"/>
          <p:cNvSpPr txBox="1"/>
          <p:nvPr/>
        </p:nvSpPr>
        <p:spPr>
          <a:xfrm>
            <a:off x="1562099" y="2254251"/>
            <a:ext cx="4127500" cy="231140"/>
          </a:xfrm>
          <a:prstGeom prst="rect">
            <a:avLst/>
          </a:prstGeom>
        </p:spPr>
        <p:txBody>
          <a:bodyPr vert="horz" wrap="square" lIns="0" tIns="12700" rIns="0" bIns="0" rtlCol="0">
            <a:spAutoFit/>
          </a:bodyPr>
          <a:lstStyle/>
          <a:p>
            <a:pPr>
              <a:lnSpc>
                <a:spcPct val="100000"/>
              </a:lnSpc>
              <a:spcBef>
                <a:spcPts val="100"/>
              </a:spcBef>
            </a:pPr>
            <a:r>
              <a:rPr sz="1350" spc="-35" dirty="0">
                <a:solidFill>
                  <a:srgbClr val="374050"/>
                </a:solidFill>
                <a:latin typeface="PMingLiU"/>
                <a:cs typeface="PMingLiU"/>
              </a:rPr>
              <a:t>全ての測定値が推定区間内に位置していることを確認</a:t>
            </a:r>
            <a:endParaRPr sz="1350">
              <a:latin typeface="PMingLiU"/>
              <a:cs typeface="PMingLiU"/>
            </a:endParaRPr>
          </a:p>
        </p:txBody>
      </p:sp>
      <p:grpSp>
        <p:nvGrpSpPr>
          <p:cNvPr id="24" name="object 24"/>
          <p:cNvGrpSpPr/>
          <p:nvPr/>
        </p:nvGrpSpPr>
        <p:grpSpPr>
          <a:xfrm>
            <a:off x="5943598" y="2133600"/>
            <a:ext cx="4591050" cy="495300"/>
            <a:chOff x="5943598" y="2247899"/>
            <a:chExt cx="4591050" cy="495300"/>
          </a:xfrm>
        </p:grpSpPr>
        <p:sp>
          <p:nvSpPr>
            <p:cNvPr id="25" name="object 25"/>
            <p:cNvSpPr/>
            <p:nvPr/>
          </p:nvSpPr>
          <p:spPr>
            <a:xfrm>
              <a:off x="5943598" y="2247899"/>
              <a:ext cx="4591050" cy="495300"/>
            </a:xfrm>
            <a:custGeom>
              <a:avLst/>
              <a:gdLst/>
              <a:ahLst/>
              <a:cxnLst/>
              <a:rect l="l" t="t" r="r" b="b"/>
              <a:pathLst>
                <a:path w="4591050" h="495300">
                  <a:moveTo>
                    <a:pt x="4519853" y="495299"/>
                  </a:moveTo>
                  <a:lnTo>
                    <a:pt x="71196" y="495299"/>
                  </a:lnTo>
                  <a:lnTo>
                    <a:pt x="66241" y="494811"/>
                  </a:lnTo>
                  <a:lnTo>
                    <a:pt x="29704" y="479677"/>
                  </a:lnTo>
                  <a:lnTo>
                    <a:pt x="3885" y="443637"/>
                  </a:lnTo>
                  <a:lnTo>
                    <a:pt x="0" y="424103"/>
                  </a:lnTo>
                  <a:lnTo>
                    <a:pt x="0" y="419099"/>
                  </a:lnTo>
                  <a:lnTo>
                    <a:pt x="0" y="71196"/>
                  </a:lnTo>
                  <a:lnTo>
                    <a:pt x="15621" y="29705"/>
                  </a:lnTo>
                  <a:lnTo>
                    <a:pt x="51661" y="3885"/>
                  </a:lnTo>
                  <a:lnTo>
                    <a:pt x="71196" y="0"/>
                  </a:lnTo>
                  <a:lnTo>
                    <a:pt x="4519853" y="0"/>
                  </a:lnTo>
                  <a:lnTo>
                    <a:pt x="4561343" y="15621"/>
                  </a:lnTo>
                  <a:lnTo>
                    <a:pt x="4587163" y="51661"/>
                  </a:lnTo>
                  <a:lnTo>
                    <a:pt x="4591049" y="71196"/>
                  </a:lnTo>
                  <a:lnTo>
                    <a:pt x="4591049" y="424103"/>
                  </a:lnTo>
                  <a:lnTo>
                    <a:pt x="4575426" y="465593"/>
                  </a:lnTo>
                  <a:lnTo>
                    <a:pt x="4539388" y="491413"/>
                  </a:lnTo>
                  <a:lnTo>
                    <a:pt x="4524807" y="494811"/>
                  </a:lnTo>
                  <a:lnTo>
                    <a:pt x="4519853" y="495299"/>
                  </a:lnTo>
                  <a:close/>
                </a:path>
              </a:pathLst>
            </a:custGeom>
            <a:solidFill>
              <a:srgbClr val="EFF5FF"/>
            </a:solidFill>
          </p:spPr>
          <p:txBody>
            <a:bodyPr wrap="square" lIns="0" tIns="0" rIns="0" bIns="0" rtlCol="0"/>
            <a:lstStyle/>
            <a:p>
              <a:endParaRPr/>
            </a:p>
          </p:txBody>
        </p:sp>
        <p:pic>
          <p:nvPicPr>
            <p:cNvPr id="26" name="object 26"/>
            <p:cNvPicPr/>
            <p:nvPr/>
          </p:nvPicPr>
          <p:blipFill>
            <a:blip r:embed="rId7" cstate="print"/>
            <a:stretch>
              <a:fillRect/>
            </a:stretch>
          </p:blipFill>
          <p:spPr>
            <a:xfrm>
              <a:off x="6067424" y="2409824"/>
              <a:ext cx="152399" cy="161924"/>
            </a:xfrm>
            <a:prstGeom prst="rect">
              <a:avLst/>
            </a:prstGeom>
          </p:spPr>
        </p:pic>
      </p:grpSp>
      <p:sp>
        <p:nvSpPr>
          <p:cNvPr id="27" name="object 27"/>
          <p:cNvSpPr txBox="1"/>
          <p:nvPr/>
        </p:nvSpPr>
        <p:spPr>
          <a:xfrm>
            <a:off x="6305549" y="2254251"/>
            <a:ext cx="3909060" cy="231140"/>
          </a:xfrm>
          <a:prstGeom prst="rect">
            <a:avLst/>
          </a:prstGeom>
        </p:spPr>
        <p:txBody>
          <a:bodyPr vert="horz" wrap="square" lIns="0" tIns="12700" rIns="0" bIns="0" rtlCol="0">
            <a:spAutoFit/>
          </a:bodyPr>
          <a:lstStyle/>
          <a:p>
            <a:pPr>
              <a:lnSpc>
                <a:spcPct val="100000"/>
              </a:lnSpc>
              <a:spcBef>
                <a:spcPts val="100"/>
              </a:spcBef>
            </a:pPr>
            <a:r>
              <a:rPr sz="1350" dirty="0">
                <a:solidFill>
                  <a:srgbClr val="374050"/>
                </a:solidFill>
                <a:latin typeface="Arial"/>
                <a:cs typeface="Arial"/>
              </a:rPr>
              <a:t>AH</a:t>
            </a:r>
            <a:r>
              <a:rPr sz="1350" spc="50" dirty="0">
                <a:solidFill>
                  <a:srgbClr val="374050"/>
                </a:solidFill>
                <a:latin typeface="Arial"/>
                <a:cs typeface="Arial"/>
              </a:rPr>
              <a:t> </a:t>
            </a:r>
            <a:r>
              <a:rPr sz="1350" dirty="0">
                <a:solidFill>
                  <a:srgbClr val="374050"/>
                </a:solidFill>
                <a:latin typeface="Arial"/>
                <a:cs typeface="Arial"/>
              </a:rPr>
              <a:t>4.5[g/m³]</a:t>
            </a:r>
            <a:r>
              <a:rPr sz="1350" spc="-10" dirty="0">
                <a:solidFill>
                  <a:srgbClr val="374050"/>
                </a:solidFill>
                <a:latin typeface="PMingLiU"/>
                <a:cs typeface="PMingLiU"/>
              </a:rPr>
              <a:t>では第</a:t>
            </a:r>
            <a:r>
              <a:rPr sz="1350" dirty="0">
                <a:solidFill>
                  <a:srgbClr val="374050"/>
                </a:solidFill>
                <a:latin typeface="Arial"/>
                <a:cs typeface="Arial"/>
              </a:rPr>
              <a:t>1</a:t>
            </a:r>
            <a:r>
              <a:rPr sz="1350" spc="-10" dirty="0">
                <a:solidFill>
                  <a:srgbClr val="374050"/>
                </a:solidFill>
                <a:latin typeface="PMingLiU"/>
                <a:cs typeface="PMingLiU"/>
              </a:rPr>
              <a:t>回と第</a:t>
            </a:r>
            <a:r>
              <a:rPr sz="1350" dirty="0">
                <a:solidFill>
                  <a:srgbClr val="374050"/>
                </a:solidFill>
                <a:latin typeface="Arial"/>
                <a:cs typeface="Arial"/>
              </a:rPr>
              <a:t>2</a:t>
            </a:r>
            <a:r>
              <a:rPr sz="1350" spc="-20" dirty="0">
                <a:solidFill>
                  <a:srgbClr val="374050"/>
                </a:solidFill>
                <a:latin typeface="PMingLiU"/>
                <a:cs typeface="PMingLiU"/>
              </a:rPr>
              <a:t>回の吸光度がよく一致</a:t>
            </a:r>
            <a:endParaRPr sz="1350">
              <a:latin typeface="PMingLiU"/>
              <a:cs typeface="PMingLiU"/>
            </a:endParaRPr>
          </a:p>
        </p:txBody>
      </p:sp>
      <p:grpSp>
        <p:nvGrpSpPr>
          <p:cNvPr id="28" name="object 28"/>
          <p:cNvGrpSpPr/>
          <p:nvPr/>
        </p:nvGrpSpPr>
        <p:grpSpPr>
          <a:xfrm>
            <a:off x="304799" y="3059110"/>
            <a:ext cx="11582400" cy="3314700"/>
            <a:chOff x="304799" y="3200399"/>
            <a:chExt cx="11582400" cy="3314700"/>
          </a:xfrm>
        </p:grpSpPr>
        <p:sp>
          <p:nvSpPr>
            <p:cNvPr id="29" name="object 29"/>
            <p:cNvSpPr/>
            <p:nvPr/>
          </p:nvSpPr>
          <p:spPr>
            <a:xfrm>
              <a:off x="304799" y="3200399"/>
              <a:ext cx="11582400" cy="3314700"/>
            </a:xfrm>
            <a:custGeom>
              <a:avLst/>
              <a:gdLst/>
              <a:ahLst/>
              <a:cxnLst/>
              <a:rect l="l" t="t" r="r" b="b"/>
              <a:pathLst>
                <a:path w="11582400" h="3314700">
                  <a:moveTo>
                    <a:pt x="11582399" y="3314699"/>
                  </a:moveTo>
                  <a:lnTo>
                    <a:pt x="0" y="3314699"/>
                  </a:lnTo>
                  <a:lnTo>
                    <a:pt x="0" y="0"/>
                  </a:lnTo>
                  <a:lnTo>
                    <a:pt x="11582399" y="0"/>
                  </a:lnTo>
                  <a:lnTo>
                    <a:pt x="11582399" y="3314699"/>
                  </a:lnTo>
                  <a:close/>
                </a:path>
              </a:pathLst>
            </a:custGeom>
            <a:solidFill>
              <a:srgbClr val="FFFFFF">
                <a:alpha val="90199"/>
              </a:srgbClr>
            </a:solidFill>
          </p:spPr>
          <p:txBody>
            <a:bodyPr wrap="square" lIns="0" tIns="0" rIns="0" bIns="0" rtlCol="0"/>
            <a:lstStyle/>
            <a:p>
              <a:endParaRPr/>
            </a:p>
          </p:txBody>
        </p:sp>
        <p:sp>
          <p:nvSpPr>
            <p:cNvPr id="30" name="object 30"/>
            <p:cNvSpPr/>
            <p:nvPr/>
          </p:nvSpPr>
          <p:spPr>
            <a:xfrm>
              <a:off x="304799" y="3200399"/>
              <a:ext cx="38100" cy="3314700"/>
            </a:xfrm>
            <a:custGeom>
              <a:avLst/>
              <a:gdLst/>
              <a:ahLst/>
              <a:cxnLst/>
              <a:rect l="l" t="t" r="r" b="b"/>
              <a:pathLst>
                <a:path w="38100" h="3314700">
                  <a:moveTo>
                    <a:pt x="38099" y="3314699"/>
                  </a:moveTo>
                  <a:lnTo>
                    <a:pt x="0" y="3314699"/>
                  </a:lnTo>
                  <a:lnTo>
                    <a:pt x="0" y="0"/>
                  </a:lnTo>
                  <a:lnTo>
                    <a:pt x="38099" y="0"/>
                  </a:lnTo>
                  <a:lnTo>
                    <a:pt x="38099" y="3314699"/>
                  </a:lnTo>
                  <a:close/>
                </a:path>
              </a:pathLst>
            </a:custGeom>
            <a:solidFill>
              <a:srgbClr val="66CCFF"/>
            </a:solidFill>
          </p:spPr>
          <p:txBody>
            <a:bodyPr wrap="square" lIns="0" tIns="0" rIns="0" bIns="0" rtlCol="0"/>
            <a:lstStyle/>
            <a:p>
              <a:endParaRPr/>
            </a:p>
          </p:txBody>
        </p:sp>
        <p:sp>
          <p:nvSpPr>
            <p:cNvPr id="31" name="object 31"/>
            <p:cNvSpPr/>
            <p:nvPr/>
          </p:nvSpPr>
          <p:spPr>
            <a:xfrm>
              <a:off x="571499" y="3428999"/>
              <a:ext cx="476250" cy="476250"/>
            </a:xfrm>
            <a:custGeom>
              <a:avLst/>
              <a:gdLst/>
              <a:ahLst/>
              <a:cxnLst/>
              <a:rect l="l" t="t" r="r" b="b"/>
              <a:pathLst>
                <a:path w="476250" h="476250">
                  <a:moveTo>
                    <a:pt x="245923" y="476249"/>
                  </a:moveTo>
                  <a:lnTo>
                    <a:pt x="230326" y="476249"/>
                  </a:lnTo>
                  <a:lnTo>
                    <a:pt x="222545" y="475867"/>
                  </a:lnTo>
                  <a:lnTo>
                    <a:pt x="184020" y="470152"/>
                  </a:lnTo>
                  <a:lnTo>
                    <a:pt x="139793" y="455139"/>
                  </a:lnTo>
                  <a:lnTo>
                    <a:pt x="99345" y="431785"/>
                  </a:lnTo>
                  <a:lnTo>
                    <a:pt x="64230" y="400990"/>
                  </a:lnTo>
                  <a:lnTo>
                    <a:pt x="35798" y="363935"/>
                  </a:lnTo>
                  <a:lnTo>
                    <a:pt x="15141" y="322046"/>
                  </a:lnTo>
                  <a:lnTo>
                    <a:pt x="3053" y="276931"/>
                  </a:lnTo>
                  <a:lnTo>
                    <a:pt x="0" y="245924"/>
                  </a:lnTo>
                  <a:lnTo>
                    <a:pt x="0" y="230326"/>
                  </a:lnTo>
                  <a:lnTo>
                    <a:pt x="6096" y="184020"/>
                  </a:lnTo>
                  <a:lnTo>
                    <a:pt x="21110" y="139793"/>
                  </a:lnTo>
                  <a:lnTo>
                    <a:pt x="44464" y="99345"/>
                  </a:lnTo>
                  <a:lnTo>
                    <a:pt x="75259" y="64230"/>
                  </a:lnTo>
                  <a:lnTo>
                    <a:pt x="112314" y="35798"/>
                  </a:lnTo>
                  <a:lnTo>
                    <a:pt x="154203" y="15141"/>
                  </a:lnTo>
                  <a:lnTo>
                    <a:pt x="199318" y="3053"/>
                  </a:lnTo>
                  <a:lnTo>
                    <a:pt x="230326" y="0"/>
                  </a:lnTo>
                  <a:lnTo>
                    <a:pt x="245923" y="0"/>
                  </a:lnTo>
                  <a:lnTo>
                    <a:pt x="292229" y="6097"/>
                  </a:lnTo>
                  <a:lnTo>
                    <a:pt x="336456" y="21110"/>
                  </a:lnTo>
                  <a:lnTo>
                    <a:pt x="376904" y="44464"/>
                  </a:lnTo>
                  <a:lnTo>
                    <a:pt x="412019" y="75260"/>
                  </a:lnTo>
                  <a:lnTo>
                    <a:pt x="440451" y="112314"/>
                  </a:lnTo>
                  <a:lnTo>
                    <a:pt x="461108" y="154203"/>
                  </a:lnTo>
                  <a:lnTo>
                    <a:pt x="473195" y="199318"/>
                  </a:lnTo>
                  <a:lnTo>
                    <a:pt x="476249" y="230326"/>
                  </a:lnTo>
                  <a:lnTo>
                    <a:pt x="476249" y="238124"/>
                  </a:lnTo>
                  <a:lnTo>
                    <a:pt x="476249" y="245924"/>
                  </a:lnTo>
                  <a:lnTo>
                    <a:pt x="470152" y="292230"/>
                  </a:lnTo>
                  <a:lnTo>
                    <a:pt x="455139" y="336456"/>
                  </a:lnTo>
                  <a:lnTo>
                    <a:pt x="431785" y="376904"/>
                  </a:lnTo>
                  <a:lnTo>
                    <a:pt x="400990" y="412019"/>
                  </a:lnTo>
                  <a:lnTo>
                    <a:pt x="363935" y="440451"/>
                  </a:lnTo>
                  <a:lnTo>
                    <a:pt x="322046" y="461108"/>
                  </a:lnTo>
                  <a:lnTo>
                    <a:pt x="276931" y="473195"/>
                  </a:lnTo>
                  <a:lnTo>
                    <a:pt x="253703" y="475867"/>
                  </a:lnTo>
                  <a:lnTo>
                    <a:pt x="245923" y="476249"/>
                  </a:lnTo>
                  <a:close/>
                </a:path>
              </a:pathLst>
            </a:custGeom>
            <a:solidFill>
              <a:srgbClr val="005499"/>
            </a:solidFill>
          </p:spPr>
          <p:txBody>
            <a:bodyPr wrap="square" lIns="0" tIns="0" rIns="0" bIns="0" rtlCol="0"/>
            <a:lstStyle/>
            <a:p>
              <a:endParaRPr/>
            </a:p>
          </p:txBody>
        </p:sp>
        <p:pic>
          <p:nvPicPr>
            <p:cNvPr id="32" name="object 32"/>
            <p:cNvPicPr/>
            <p:nvPr/>
          </p:nvPicPr>
          <p:blipFill>
            <a:blip r:embed="rId8" cstate="print"/>
            <a:stretch>
              <a:fillRect/>
            </a:stretch>
          </p:blipFill>
          <p:spPr>
            <a:xfrm>
              <a:off x="742949" y="3571874"/>
              <a:ext cx="142874" cy="190499"/>
            </a:xfrm>
            <a:prstGeom prst="rect">
              <a:avLst/>
            </a:prstGeom>
          </p:spPr>
        </p:pic>
        <p:sp>
          <p:nvSpPr>
            <p:cNvPr id="33" name="object 33"/>
            <p:cNvSpPr/>
            <p:nvPr/>
          </p:nvSpPr>
          <p:spPr>
            <a:xfrm>
              <a:off x="1200149" y="3848099"/>
              <a:ext cx="381000" cy="457200"/>
            </a:xfrm>
            <a:custGeom>
              <a:avLst/>
              <a:gdLst/>
              <a:ahLst/>
              <a:cxnLst/>
              <a:rect l="l" t="t" r="r" b="b"/>
              <a:pathLst>
                <a:path w="381000" h="457200">
                  <a:moveTo>
                    <a:pt x="190499" y="457199"/>
                  </a:moveTo>
                  <a:lnTo>
                    <a:pt x="144200" y="451489"/>
                  </a:lnTo>
                  <a:lnTo>
                    <a:pt x="100697" y="434707"/>
                  </a:lnTo>
                  <a:lnTo>
                    <a:pt x="62575" y="407859"/>
                  </a:lnTo>
                  <a:lnTo>
                    <a:pt x="32105" y="372535"/>
                  </a:lnTo>
                  <a:lnTo>
                    <a:pt x="11130" y="330866"/>
                  </a:lnTo>
                  <a:lnTo>
                    <a:pt x="915" y="285372"/>
                  </a:lnTo>
                  <a:lnTo>
                    <a:pt x="0" y="266699"/>
                  </a:lnTo>
                  <a:lnTo>
                    <a:pt x="0" y="190499"/>
                  </a:lnTo>
                  <a:lnTo>
                    <a:pt x="5710" y="144200"/>
                  </a:lnTo>
                  <a:lnTo>
                    <a:pt x="22491" y="100697"/>
                  </a:lnTo>
                  <a:lnTo>
                    <a:pt x="49340" y="62575"/>
                  </a:lnTo>
                  <a:lnTo>
                    <a:pt x="84663" y="32104"/>
                  </a:lnTo>
                  <a:lnTo>
                    <a:pt x="126332" y="11130"/>
                  </a:lnTo>
                  <a:lnTo>
                    <a:pt x="171827" y="915"/>
                  </a:lnTo>
                  <a:lnTo>
                    <a:pt x="190499" y="0"/>
                  </a:lnTo>
                  <a:lnTo>
                    <a:pt x="199858" y="228"/>
                  </a:lnTo>
                  <a:lnTo>
                    <a:pt x="245799" y="8200"/>
                  </a:lnTo>
                  <a:lnTo>
                    <a:pt x="288427" y="27095"/>
                  </a:lnTo>
                  <a:lnTo>
                    <a:pt x="325203" y="55796"/>
                  </a:lnTo>
                  <a:lnTo>
                    <a:pt x="353904" y="92571"/>
                  </a:lnTo>
                  <a:lnTo>
                    <a:pt x="372799" y="135199"/>
                  </a:lnTo>
                  <a:lnTo>
                    <a:pt x="380771" y="181141"/>
                  </a:lnTo>
                  <a:lnTo>
                    <a:pt x="380999" y="190499"/>
                  </a:lnTo>
                  <a:lnTo>
                    <a:pt x="380999" y="266699"/>
                  </a:lnTo>
                  <a:lnTo>
                    <a:pt x="375289" y="312998"/>
                  </a:lnTo>
                  <a:lnTo>
                    <a:pt x="358507" y="356501"/>
                  </a:lnTo>
                  <a:lnTo>
                    <a:pt x="331659" y="394624"/>
                  </a:lnTo>
                  <a:lnTo>
                    <a:pt x="296335" y="425094"/>
                  </a:lnTo>
                  <a:lnTo>
                    <a:pt x="254667" y="446068"/>
                  </a:lnTo>
                  <a:lnTo>
                    <a:pt x="209172" y="456284"/>
                  </a:lnTo>
                  <a:lnTo>
                    <a:pt x="190499" y="457199"/>
                  </a:lnTo>
                  <a:close/>
                </a:path>
              </a:pathLst>
            </a:custGeom>
            <a:solidFill>
              <a:srgbClr val="DAE9FE"/>
            </a:solidFill>
          </p:spPr>
          <p:txBody>
            <a:bodyPr wrap="square" lIns="0" tIns="0" rIns="0" bIns="0" rtlCol="0"/>
            <a:lstStyle/>
            <a:p>
              <a:endParaRPr/>
            </a:p>
          </p:txBody>
        </p:sp>
        <p:pic>
          <p:nvPicPr>
            <p:cNvPr id="34" name="object 34"/>
            <p:cNvPicPr/>
            <p:nvPr/>
          </p:nvPicPr>
          <p:blipFill>
            <a:blip r:embed="rId9" cstate="print"/>
            <a:stretch>
              <a:fillRect/>
            </a:stretch>
          </p:blipFill>
          <p:spPr>
            <a:xfrm>
              <a:off x="1314449" y="3990974"/>
              <a:ext cx="152399" cy="152399"/>
            </a:xfrm>
            <a:prstGeom prst="rect">
              <a:avLst/>
            </a:prstGeom>
          </p:spPr>
        </p:pic>
      </p:grpSp>
      <p:sp>
        <p:nvSpPr>
          <p:cNvPr id="35" name="object 35"/>
          <p:cNvSpPr txBox="1">
            <a:spLocks noGrp="1"/>
          </p:cNvSpPr>
          <p:nvPr>
            <p:ph type="body" idx="1"/>
          </p:nvPr>
        </p:nvSpPr>
        <p:spPr>
          <a:xfrm>
            <a:off x="1200149" y="3098945"/>
            <a:ext cx="4970145" cy="1684020"/>
          </a:xfrm>
          <a:prstGeom prst="rect">
            <a:avLst/>
          </a:prstGeom>
        </p:spPr>
        <p:txBody>
          <a:bodyPr vert="horz" wrap="square" lIns="0" tIns="156845" rIns="0" bIns="0" rtlCol="0">
            <a:spAutoFit/>
          </a:bodyPr>
          <a:lstStyle/>
          <a:p>
            <a:pPr>
              <a:lnSpc>
                <a:spcPct val="100000"/>
              </a:lnSpc>
              <a:spcBef>
                <a:spcPts val="1235"/>
              </a:spcBef>
            </a:pPr>
            <a:r>
              <a:rPr spc="-165" dirty="0"/>
              <a:t>今</a:t>
            </a:r>
            <a:r>
              <a:rPr sz="2000" spc="-200" dirty="0"/>
              <a:t>後</a:t>
            </a:r>
            <a:r>
              <a:rPr sz="1700" spc="165" dirty="0">
                <a:latin typeface="PMingLiU"/>
                <a:cs typeface="PMingLiU"/>
              </a:rPr>
              <a:t>の</a:t>
            </a:r>
            <a:r>
              <a:rPr spc="-165" dirty="0">
                <a:latin typeface="PMingLiU"/>
                <a:cs typeface="PMingLiU"/>
              </a:rPr>
              <a:t>展</a:t>
            </a:r>
            <a:r>
              <a:rPr sz="2050" spc="-320" dirty="0"/>
              <a:t>望</a:t>
            </a:r>
            <a:endParaRPr sz="2050">
              <a:latin typeface="PMingLiU"/>
              <a:cs typeface="PMingLiU"/>
            </a:endParaRPr>
          </a:p>
          <a:p>
            <a:pPr marL="494665">
              <a:lnSpc>
                <a:spcPct val="100000"/>
              </a:lnSpc>
              <a:spcBef>
                <a:spcPts val="965"/>
              </a:spcBef>
            </a:pPr>
            <a:r>
              <a:rPr sz="1700" spc="-210" dirty="0">
                <a:solidFill>
                  <a:srgbClr val="005499"/>
                </a:solidFill>
              </a:rPr>
              <a:t>グローブボックス内に</a:t>
            </a:r>
            <a:r>
              <a:rPr sz="1500" b="1" spc="-45" dirty="0">
                <a:solidFill>
                  <a:srgbClr val="005499"/>
                </a:solidFill>
                <a:latin typeface="Arial"/>
                <a:cs typeface="Arial"/>
              </a:rPr>
              <a:t>FAN</a:t>
            </a:r>
            <a:r>
              <a:rPr sz="1700" spc="-160" dirty="0">
                <a:solidFill>
                  <a:srgbClr val="005499"/>
                </a:solidFill>
              </a:rPr>
              <a:t>の導入</a:t>
            </a:r>
            <a:endParaRPr sz="1700">
              <a:latin typeface="Arial"/>
              <a:cs typeface="Arial"/>
            </a:endParaRPr>
          </a:p>
          <a:p>
            <a:pPr marL="494665" marR="5080" algn="just">
              <a:lnSpc>
                <a:spcPct val="129600"/>
              </a:lnSpc>
              <a:spcBef>
                <a:spcPts val="155"/>
              </a:spcBef>
            </a:pPr>
            <a:r>
              <a:rPr sz="1350" spc="-40" dirty="0">
                <a:solidFill>
                  <a:srgbClr val="374050"/>
                </a:solidFill>
                <a:latin typeface="PMingLiU"/>
                <a:cs typeface="PMingLiU"/>
              </a:rPr>
              <a:t>ボックス内の空気循環を改善し、測定精度を向上させるこ</a:t>
            </a:r>
            <a:r>
              <a:rPr sz="1350" spc="-35" dirty="0">
                <a:solidFill>
                  <a:srgbClr val="374050"/>
                </a:solidFill>
                <a:latin typeface="PMingLiU"/>
                <a:cs typeface="PMingLiU"/>
              </a:rPr>
              <a:t>とで、測定点を増やしたさらなる高精度な検量線の算出が</a:t>
            </a:r>
            <a:r>
              <a:rPr sz="1350" spc="-20" dirty="0">
                <a:solidFill>
                  <a:srgbClr val="374050"/>
                </a:solidFill>
                <a:latin typeface="PMingLiU"/>
                <a:cs typeface="PMingLiU"/>
              </a:rPr>
              <a:t>可能になります。</a:t>
            </a:r>
            <a:endParaRPr sz="1350">
              <a:latin typeface="PMingLiU"/>
              <a:cs typeface="PMingLiU"/>
            </a:endParaRPr>
          </a:p>
        </p:txBody>
      </p:sp>
      <p:grpSp>
        <p:nvGrpSpPr>
          <p:cNvPr id="36" name="object 36"/>
          <p:cNvGrpSpPr/>
          <p:nvPr/>
        </p:nvGrpSpPr>
        <p:grpSpPr>
          <a:xfrm>
            <a:off x="1200149" y="3706810"/>
            <a:ext cx="5724525" cy="1790700"/>
            <a:chOff x="1200149" y="3848099"/>
            <a:chExt cx="5724525" cy="1790700"/>
          </a:xfrm>
        </p:grpSpPr>
        <p:sp>
          <p:nvSpPr>
            <p:cNvPr id="37" name="object 37"/>
            <p:cNvSpPr/>
            <p:nvPr/>
          </p:nvSpPr>
          <p:spPr>
            <a:xfrm>
              <a:off x="6543674" y="3848099"/>
              <a:ext cx="381000" cy="457200"/>
            </a:xfrm>
            <a:custGeom>
              <a:avLst/>
              <a:gdLst/>
              <a:ahLst/>
              <a:cxnLst/>
              <a:rect l="l" t="t" r="r" b="b"/>
              <a:pathLst>
                <a:path w="381000" h="457200">
                  <a:moveTo>
                    <a:pt x="190499" y="457199"/>
                  </a:moveTo>
                  <a:lnTo>
                    <a:pt x="144200" y="451489"/>
                  </a:lnTo>
                  <a:lnTo>
                    <a:pt x="100696" y="434707"/>
                  </a:lnTo>
                  <a:lnTo>
                    <a:pt x="62574" y="407859"/>
                  </a:lnTo>
                  <a:lnTo>
                    <a:pt x="32103" y="372535"/>
                  </a:lnTo>
                  <a:lnTo>
                    <a:pt x="11129" y="330866"/>
                  </a:lnTo>
                  <a:lnTo>
                    <a:pt x="914" y="285372"/>
                  </a:lnTo>
                  <a:lnTo>
                    <a:pt x="0" y="266699"/>
                  </a:lnTo>
                  <a:lnTo>
                    <a:pt x="0" y="190499"/>
                  </a:lnTo>
                  <a:lnTo>
                    <a:pt x="5709" y="144200"/>
                  </a:lnTo>
                  <a:lnTo>
                    <a:pt x="22491" y="100697"/>
                  </a:lnTo>
                  <a:lnTo>
                    <a:pt x="49339" y="62575"/>
                  </a:lnTo>
                  <a:lnTo>
                    <a:pt x="84662" y="32104"/>
                  </a:lnTo>
                  <a:lnTo>
                    <a:pt x="126331" y="11130"/>
                  </a:lnTo>
                  <a:lnTo>
                    <a:pt x="171827" y="915"/>
                  </a:lnTo>
                  <a:lnTo>
                    <a:pt x="190499" y="0"/>
                  </a:lnTo>
                  <a:lnTo>
                    <a:pt x="199858" y="228"/>
                  </a:lnTo>
                  <a:lnTo>
                    <a:pt x="245798" y="8200"/>
                  </a:lnTo>
                  <a:lnTo>
                    <a:pt x="288426" y="27095"/>
                  </a:lnTo>
                  <a:lnTo>
                    <a:pt x="325203" y="55796"/>
                  </a:lnTo>
                  <a:lnTo>
                    <a:pt x="353902" y="92571"/>
                  </a:lnTo>
                  <a:lnTo>
                    <a:pt x="372798" y="135199"/>
                  </a:lnTo>
                  <a:lnTo>
                    <a:pt x="380771" y="181141"/>
                  </a:lnTo>
                  <a:lnTo>
                    <a:pt x="380999" y="190499"/>
                  </a:lnTo>
                  <a:lnTo>
                    <a:pt x="380999" y="266699"/>
                  </a:lnTo>
                  <a:lnTo>
                    <a:pt x="375288" y="312998"/>
                  </a:lnTo>
                  <a:lnTo>
                    <a:pt x="358506" y="356501"/>
                  </a:lnTo>
                  <a:lnTo>
                    <a:pt x="331658" y="394624"/>
                  </a:lnTo>
                  <a:lnTo>
                    <a:pt x="296335" y="425094"/>
                  </a:lnTo>
                  <a:lnTo>
                    <a:pt x="254666" y="446068"/>
                  </a:lnTo>
                  <a:lnTo>
                    <a:pt x="209172" y="456284"/>
                  </a:lnTo>
                  <a:lnTo>
                    <a:pt x="190499" y="457199"/>
                  </a:lnTo>
                  <a:close/>
                </a:path>
              </a:pathLst>
            </a:custGeom>
            <a:solidFill>
              <a:srgbClr val="DAE9FE"/>
            </a:solidFill>
          </p:spPr>
          <p:txBody>
            <a:bodyPr wrap="square" lIns="0" tIns="0" rIns="0" bIns="0" rtlCol="0"/>
            <a:lstStyle/>
            <a:p>
              <a:endParaRPr/>
            </a:p>
          </p:txBody>
        </p:sp>
        <p:pic>
          <p:nvPicPr>
            <p:cNvPr id="38" name="object 38"/>
            <p:cNvPicPr/>
            <p:nvPr/>
          </p:nvPicPr>
          <p:blipFill>
            <a:blip r:embed="rId10" cstate="print"/>
            <a:stretch>
              <a:fillRect/>
            </a:stretch>
          </p:blipFill>
          <p:spPr>
            <a:xfrm>
              <a:off x="6657974" y="3990974"/>
              <a:ext cx="152399" cy="152399"/>
            </a:xfrm>
            <a:prstGeom prst="rect">
              <a:avLst/>
            </a:prstGeom>
          </p:spPr>
        </p:pic>
        <p:sp>
          <p:nvSpPr>
            <p:cNvPr id="39" name="object 39"/>
            <p:cNvSpPr/>
            <p:nvPr/>
          </p:nvSpPr>
          <p:spPr>
            <a:xfrm>
              <a:off x="1200149" y="5181599"/>
              <a:ext cx="361950" cy="457200"/>
            </a:xfrm>
            <a:custGeom>
              <a:avLst/>
              <a:gdLst/>
              <a:ahLst/>
              <a:cxnLst/>
              <a:rect l="l" t="t" r="r" b="b"/>
              <a:pathLst>
                <a:path w="361950" h="457200">
                  <a:moveTo>
                    <a:pt x="180974" y="457199"/>
                  </a:moveTo>
                  <a:lnTo>
                    <a:pt x="136990" y="451774"/>
                  </a:lnTo>
                  <a:lnTo>
                    <a:pt x="95662" y="435831"/>
                  </a:lnTo>
                  <a:lnTo>
                    <a:pt x="59446" y="410326"/>
                  </a:lnTo>
                  <a:lnTo>
                    <a:pt x="30499" y="376768"/>
                  </a:lnTo>
                  <a:lnTo>
                    <a:pt x="10574" y="337183"/>
                  </a:lnTo>
                  <a:lnTo>
                    <a:pt x="869" y="293963"/>
                  </a:lnTo>
                  <a:lnTo>
                    <a:pt x="0" y="276224"/>
                  </a:lnTo>
                  <a:lnTo>
                    <a:pt x="0" y="180974"/>
                  </a:lnTo>
                  <a:lnTo>
                    <a:pt x="5424" y="136990"/>
                  </a:lnTo>
                  <a:lnTo>
                    <a:pt x="21367" y="95662"/>
                  </a:lnTo>
                  <a:lnTo>
                    <a:pt x="46873" y="59446"/>
                  </a:lnTo>
                  <a:lnTo>
                    <a:pt x="80430" y="30499"/>
                  </a:lnTo>
                  <a:lnTo>
                    <a:pt x="120015" y="10573"/>
                  </a:lnTo>
                  <a:lnTo>
                    <a:pt x="163236" y="869"/>
                  </a:lnTo>
                  <a:lnTo>
                    <a:pt x="180974" y="0"/>
                  </a:lnTo>
                  <a:lnTo>
                    <a:pt x="189865" y="217"/>
                  </a:lnTo>
                  <a:lnTo>
                    <a:pt x="233509" y="7790"/>
                  </a:lnTo>
                  <a:lnTo>
                    <a:pt x="274005" y="25740"/>
                  </a:lnTo>
                  <a:lnTo>
                    <a:pt x="308943" y="53006"/>
                  </a:lnTo>
                  <a:lnTo>
                    <a:pt x="336208" y="87943"/>
                  </a:lnTo>
                  <a:lnTo>
                    <a:pt x="354159" y="128439"/>
                  </a:lnTo>
                  <a:lnTo>
                    <a:pt x="361732" y="172083"/>
                  </a:lnTo>
                  <a:lnTo>
                    <a:pt x="361949" y="180974"/>
                  </a:lnTo>
                  <a:lnTo>
                    <a:pt x="361949" y="276224"/>
                  </a:lnTo>
                  <a:lnTo>
                    <a:pt x="356524" y="320208"/>
                  </a:lnTo>
                  <a:lnTo>
                    <a:pt x="340582" y="361536"/>
                  </a:lnTo>
                  <a:lnTo>
                    <a:pt x="315076" y="397752"/>
                  </a:lnTo>
                  <a:lnTo>
                    <a:pt x="281519" y="426699"/>
                  </a:lnTo>
                  <a:lnTo>
                    <a:pt x="241933" y="446625"/>
                  </a:lnTo>
                  <a:lnTo>
                    <a:pt x="198713" y="456330"/>
                  </a:lnTo>
                  <a:lnTo>
                    <a:pt x="180974" y="457199"/>
                  </a:lnTo>
                  <a:close/>
                </a:path>
              </a:pathLst>
            </a:custGeom>
            <a:solidFill>
              <a:srgbClr val="DAE9FE"/>
            </a:solidFill>
          </p:spPr>
          <p:txBody>
            <a:bodyPr wrap="square" lIns="0" tIns="0" rIns="0" bIns="0" rtlCol="0"/>
            <a:lstStyle/>
            <a:p>
              <a:endParaRPr/>
            </a:p>
          </p:txBody>
        </p:sp>
        <p:pic>
          <p:nvPicPr>
            <p:cNvPr id="40" name="object 40"/>
            <p:cNvPicPr/>
            <p:nvPr/>
          </p:nvPicPr>
          <p:blipFill>
            <a:blip r:embed="rId11" cstate="print"/>
            <a:stretch>
              <a:fillRect/>
            </a:stretch>
          </p:blipFill>
          <p:spPr>
            <a:xfrm>
              <a:off x="1314449" y="5324474"/>
              <a:ext cx="133349" cy="152399"/>
            </a:xfrm>
            <a:prstGeom prst="rect">
              <a:avLst/>
            </a:prstGeom>
          </p:spPr>
        </p:pic>
        <p:sp>
          <p:nvSpPr>
            <p:cNvPr id="41" name="object 41"/>
            <p:cNvSpPr/>
            <p:nvPr/>
          </p:nvSpPr>
          <p:spPr>
            <a:xfrm>
              <a:off x="6543674" y="5181599"/>
              <a:ext cx="381000" cy="457200"/>
            </a:xfrm>
            <a:custGeom>
              <a:avLst/>
              <a:gdLst/>
              <a:ahLst/>
              <a:cxnLst/>
              <a:rect l="l" t="t" r="r" b="b"/>
              <a:pathLst>
                <a:path w="381000" h="457200">
                  <a:moveTo>
                    <a:pt x="190499" y="457199"/>
                  </a:moveTo>
                  <a:lnTo>
                    <a:pt x="144200" y="451488"/>
                  </a:lnTo>
                  <a:lnTo>
                    <a:pt x="100696" y="434706"/>
                  </a:lnTo>
                  <a:lnTo>
                    <a:pt x="62574" y="407858"/>
                  </a:lnTo>
                  <a:lnTo>
                    <a:pt x="32103" y="372535"/>
                  </a:lnTo>
                  <a:lnTo>
                    <a:pt x="11129" y="330866"/>
                  </a:lnTo>
                  <a:lnTo>
                    <a:pt x="914" y="285372"/>
                  </a:lnTo>
                  <a:lnTo>
                    <a:pt x="0" y="266699"/>
                  </a:lnTo>
                  <a:lnTo>
                    <a:pt x="0" y="190499"/>
                  </a:lnTo>
                  <a:lnTo>
                    <a:pt x="5709" y="144200"/>
                  </a:lnTo>
                  <a:lnTo>
                    <a:pt x="22491" y="100697"/>
                  </a:lnTo>
                  <a:lnTo>
                    <a:pt x="49339" y="62575"/>
                  </a:lnTo>
                  <a:lnTo>
                    <a:pt x="84662" y="32105"/>
                  </a:lnTo>
                  <a:lnTo>
                    <a:pt x="126331" y="11130"/>
                  </a:lnTo>
                  <a:lnTo>
                    <a:pt x="171827" y="915"/>
                  </a:lnTo>
                  <a:lnTo>
                    <a:pt x="190499" y="0"/>
                  </a:lnTo>
                  <a:lnTo>
                    <a:pt x="199858" y="228"/>
                  </a:lnTo>
                  <a:lnTo>
                    <a:pt x="245798" y="8200"/>
                  </a:lnTo>
                  <a:lnTo>
                    <a:pt x="288426" y="27095"/>
                  </a:lnTo>
                  <a:lnTo>
                    <a:pt x="325203" y="55796"/>
                  </a:lnTo>
                  <a:lnTo>
                    <a:pt x="353902" y="92571"/>
                  </a:lnTo>
                  <a:lnTo>
                    <a:pt x="372798" y="135199"/>
                  </a:lnTo>
                  <a:lnTo>
                    <a:pt x="380771" y="181140"/>
                  </a:lnTo>
                  <a:lnTo>
                    <a:pt x="380999" y="190499"/>
                  </a:lnTo>
                  <a:lnTo>
                    <a:pt x="380999" y="266699"/>
                  </a:lnTo>
                  <a:lnTo>
                    <a:pt x="375288" y="312998"/>
                  </a:lnTo>
                  <a:lnTo>
                    <a:pt x="358506" y="356501"/>
                  </a:lnTo>
                  <a:lnTo>
                    <a:pt x="331658" y="394623"/>
                  </a:lnTo>
                  <a:lnTo>
                    <a:pt x="296335" y="425093"/>
                  </a:lnTo>
                  <a:lnTo>
                    <a:pt x="254666" y="446068"/>
                  </a:lnTo>
                  <a:lnTo>
                    <a:pt x="209172" y="456284"/>
                  </a:lnTo>
                  <a:lnTo>
                    <a:pt x="190499" y="457199"/>
                  </a:lnTo>
                  <a:close/>
                </a:path>
              </a:pathLst>
            </a:custGeom>
            <a:solidFill>
              <a:srgbClr val="DAE9FE"/>
            </a:solidFill>
          </p:spPr>
          <p:txBody>
            <a:bodyPr wrap="square" lIns="0" tIns="0" rIns="0" bIns="0" rtlCol="0"/>
            <a:lstStyle/>
            <a:p>
              <a:endParaRPr/>
            </a:p>
          </p:txBody>
        </p:sp>
        <p:pic>
          <p:nvPicPr>
            <p:cNvPr id="42" name="object 42"/>
            <p:cNvPicPr/>
            <p:nvPr/>
          </p:nvPicPr>
          <p:blipFill>
            <a:blip r:embed="rId12" cstate="print"/>
            <a:stretch>
              <a:fillRect/>
            </a:stretch>
          </p:blipFill>
          <p:spPr>
            <a:xfrm>
              <a:off x="6657974" y="5333999"/>
              <a:ext cx="152399" cy="133349"/>
            </a:xfrm>
            <a:prstGeom prst="rect">
              <a:avLst/>
            </a:prstGeom>
          </p:spPr>
        </p:pic>
      </p:grpSp>
      <p:sp>
        <p:nvSpPr>
          <p:cNvPr id="43" name="object 43"/>
          <p:cNvSpPr txBox="1"/>
          <p:nvPr/>
        </p:nvSpPr>
        <p:spPr>
          <a:xfrm>
            <a:off x="7038975" y="3572510"/>
            <a:ext cx="4636770" cy="1210310"/>
          </a:xfrm>
          <a:prstGeom prst="rect">
            <a:avLst/>
          </a:prstGeom>
        </p:spPr>
        <p:txBody>
          <a:bodyPr vert="horz" wrap="square" lIns="0" tIns="118110" rIns="0" bIns="0" rtlCol="0">
            <a:spAutoFit/>
          </a:bodyPr>
          <a:lstStyle/>
          <a:p>
            <a:pPr>
              <a:lnSpc>
                <a:spcPct val="100000"/>
              </a:lnSpc>
              <a:spcBef>
                <a:spcPts val="930"/>
              </a:spcBef>
            </a:pPr>
            <a:r>
              <a:rPr sz="1700" spc="-210" dirty="0">
                <a:solidFill>
                  <a:srgbClr val="005499"/>
                </a:solidFill>
                <a:latin typeface="SimSun"/>
                <a:cs typeface="SimSun"/>
              </a:rPr>
              <a:t>インターフェログラムの</a:t>
            </a:r>
            <a:r>
              <a:rPr sz="1650" spc="-165" dirty="0">
                <a:solidFill>
                  <a:srgbClr val="005499"/>
                </a:solidFill>
                <a:latin typeface="SimSun"/>
                <a:cs typeface="SimSun"/>
              </a:rPr>
              <a:t>精</a:t>
            </a:r>
            <a:r>
              <a:rPr sz="1700" spc="-210" dirty="0">
                <a:solidFill>
                  <a:srgbClr val="005499"/>
                </a:solidFill>
                <a:latin typeface="SimSun"/>
                <a:cs typeface="SimSun"/>
              </a:rPr>
              <a:t>度</a:t>
            </a:r>
            <a:r>
              <a:rPr sz="1650" spc="-175" dirty="0">
                <a:solidFill>
                  <a:srgbClr val="005499"/>
                </a:solidFill>
                <a:latin typeface="SimSun"/>
                <a:cs typeface="SimSun"/>
              </a:rPr>
              <a:t>向</a:t>
            </a:r>
            <a:r>
              <a:rPr sz="1650" spc="-50" dirty="0">
                <a:solidFill>
                  <a:srgbClr val="005499"/>
                </a:solidFill>
                <a:latin typeface="PMingLiU"/>
                <a:cs typeface="PMingLiU"/>
              </a:rPr>
              <a:t>上</a:t>
            </a:r>
            <a:endParaRPr sz="1650">
              <a:latin typeface="PMingLiU"/>
              <a:cs typeface="PMingLiU"/>
            </a:endParaRPr>
          </a:p>
          <a:p>
            <a:pPr marR="5080">
              <a:lnSpc>
                <a:spcPct val="129600"/>
              </a:lnSpc>
              <a:spcBef>
                <a:spcPts val="155"/>
              </a:spcBef>
            </a:pPr>
            <a:r>
              <a:rPr sz="1350" spc="-20" dirty="0">
                <a:solidFill>
                  <a:srgbClr val="374050"/>
                </a:solidFill>
                <a:latin typeface="PMingLiU"/>
                <a:cs typeface="PMingLiU"/>
              </a:rPr>
              <a:t>グローブボックス内に</a:t>
            </a:r>
            <a:r>
              <a:rPr sz="1350" spc="-35" dirty="0">
                <a:solidFill>
                  <a:srgbClr val="374050"/>
                </a:solidFill>
                <a:latin typeface="Arial"/>
                <a:cs typeface="Arial"/>
              </a:rPr>
              <a:t>FAN</a:t>
            </a:r>
            <a:r>
              <a:rPr sz="1350" spc="-25" dirty="0">
                <a:solidFill>
                  <a:srgbClr val="374050"/>
                </a:solidFill>
                <a:latin typeface="PMingLiU"/>
                <a:cs typeface="PMingLiU"/>
              </a:rPr>
              <a:t>を導入することで、各インターフ</a:t>
            </a:r>
            <a:r>
              <a:rPr sz="1350" spc="-10" dirty="0">
                <a:solidFill>
                  <a:srgbClr val="374050"/>
                </a:solidFill>
                <a:latin typeface="PMingLiU"/>
                <a:cs typeface="PMingLiU"/>
              </a:rPr>
              <a:t>ェログラム</a:t>
            </a:r>
            <a:r>
              <a:rPr sz="1350" spc="-10" dirty="0">
                <a:solidFill>
                  <a:srgbClr val="374050"/>
                </a:solidFill>
                <a:latin typeface="Arial"/>
                <a:cs typeface="Arial"/>
              </a:rPr>
              <a:t>I(t)</a:t>
            </a:r>
            <a:r>
              <a:rPr sz="1350" spc="-30" dirty="0">
                <a:solidFill>
                  <a:srgbClr val="374050"/>
                </a:solidFill>
                <a:latin typeface="PMingLiU"/>
                <a:cs typeface="PMingLiU"/>
              </a:rPr>
              <a:t>の精度を向上させ、測定のばらつきを統計的</a:t>
            </a:r>
            <a:r>
              <a:rPr sz="1350" spc="-25" dirty="0">
                <a:solidFill>
                  <a:srgbClr val="374050"/>
                </a:solidFill>
                <a:latin typeface="PMingLiU"/>
                <a:cs typeface="PMingLiU"/>
              </a:rPr>
              <a:t>に正しく予測できます。</a:t>
            </a:r>
            <a:endParaRPr sz="1350">
              <a:latin typeface="PMingLiU"/>
              <a:cs typeface="PMingLiU"/>
            </a:endParaRPr>
          </a:p>
        </p:txBody>
      </p:sp>
      <p:sp>
        <p:nvSpPr>
          <p:cNvPr id="44" name="object 44"/>
          <p:cNvSpPr txBox="1"/>
          <p:nvPr/>
        </p:nvSpPr>
        <p:spPr>
          <a:xfrm>
            <a:off x="1676400" y="4903089"/>
            <a:ext cx="4646295" cy="1213485"/>
          </a:xfrm>
          <a:prstGeom prst="rect">
            <a:avLst/>
          </a:prstGeom>
        </p:spPr>
        <p:txBody>
          <a:bodyPr vert="horz" wrap="square" lIns="0" tIns="114935" rIns="0" bIns="0" rtlCol="0">
            <a:spAutoFit/>
          </a:bodyPr>
          <a:lstStyle/>
          <a:p>
            <a:pPr>
              <a:lnSpc>
                <a:spcPct val="100000"/>
              </a:lnSpc>
              <a:spcBef>
                <a:spcPts val="905"/>
              </a:spcBef>
            </a:pPr>
            <a:r>
              <a:rPr sz="1650" spc="-165" dirty="0">
                <a:solidFill>
                  <a:srgbClr val="005499"/>
                </a:solidFill>
                <a:latin typeface="SimSun"/>
                <a:cs typeface="SimSun"/>
              </a:rPr>
              <a:t>測</a:t>
            </a:r>
            <a:r>
              <a:rPr sz="1700" spc="-210" dirty="0">
                <a:solidFill>
                  <a:srgbClr val="005499"/>
                </a:solidFill>
                <a:latin typeface="SimSun"/>
                <a:cs typeface="SimSun"/>
              </a:rPr>
              <a:t>定</a:t>
            </a:r>
            <a:r>
              <a:rPr sz="1650" spc="-165" dirty="0">
                <a:solidFill>
                  <a:srgbClr val="005499"/>
                </a:solidFill>
                <a:latin typeface="SimSun"/>
                <a:cs typeface="SimSun"/>
              </a:rPr>
              <a:t>点</a:t>
            </a:r>
            <a:r>
              <a:rPr sz="1700" spc="-210" dirty="0">
                <a:solidFill>
                  <a:srgbClr val="005499"/>
                </a:solidFill>
                <a:latin typeface="SimSun"/>
                <a:cs typeface="SimSun"/>
              </a:rPr>
              <a:t>の</a:t>
            </a:r>
            <a:r>
              <a:rPr sz="1750" spc="-265" dirty="0">
                <a:solidFill>
                  <a:srgbClr val="005499"/>
                </a:solidFill>
                <a:latin typeface="SimSun"/>
                <a:cs typeface="SimSun"/>
              </a:rPr>
              <a:t>増</a:t>
            </a:r>
            <a:r>
              <a:rPr sz="1650" spc="-50" dirty="0">
                <a:solidFill>
                  <a:srgbClr val="005499"/>
                </a:solidFill>
                <a:latin typeface="PMingLiU"/>
                <a:cs typeface="PMingLiU"/>
              </a:rPr>
              <a:t>加</a:t>
            </a:r>
            <a:endParaRPr sz="1650">
              <a:latin typeface="PMingLiU"/>
              <a:cs typeface="PMingLiU"/>
            </a:endParaRPr>
          </a:p>
          <a:p>
            <a:pPr>
              <a:lnSpc>
                <a:spcPct val="100000"/>
              </a:lnSpc>
              <a:spcBef>
                <a:spcPts val="625"/>
              </a:spcBef>
            </a:pPr>
            <a:r>
              <a:rPr sz="1350" dirty="0">
                <a:solidFill>
                  <a:srgbClr val="374050"/>
                </a:solidFill>
                <a:latin typeface="Arial"/>
                <a:cs typeface="Arial"/>
              </a:rPr>
              <a:t>AH 1.07[g/m³]</a:t>
            </a:r>
            <a:r>
              <a:rPr sz="1350" spc="-30" dirty="0">
                <a:solidFill>
                  <a:srgbClr val="374050"/>
                </a:solidFill>
                <a:latin typeface="PMingLiU"/>
                <a:cs typeface="PMingLiU"/>
              </a:rPr>
              <a:t>以上は湿度制御装置の制御範囲内であるた</a:t>
            </a:r>
            <a:endParaRPr sz="1350">
              <a:latin typeface="PMingLiU"/>
              <a:cs typeface="PMingLiU"/>
            </a:endParaRPr>
          </a:p>
          <a:p>
            <a:pPr marR="5080">
              <a:lnSpc>
                <a:spcPct val="129600"/>
              </a:lnSpc>
            </a:pPr>
            <a:r>
              <a:rPr sz="1350" spc="-35" dirty="0">
                <a:solidFill>
                  <a:srgbClr val="374050"/>
                </a:solidFill>
                <a:latin typeface="PMingLiU"/>
                <a:cs typeface="PMingLiU"/>
              </a:rPr>
              <a:t>め、測定点を増やしたさらなる高精度な検量線の算出が求め</a:t>
            </a:r>
            <a:r>
              <a:rPr sz="1350" spc="-20" dirty="0">
                <a:solidFill>
                  <a:srgbClr val="374050"/>
                </a:solidFill>
                <a:latin typeface="PMingLiU"/>
                <a:cs typeface="PMingLiU"/>
              </a:rPr>
              <a:t>られます。</a:t>
            </a:r>
            <a:endParaRPr sz="1350">
              <a:latin typeface="PMingLiU"/>
              <a:cs typeface="PMingLiU"/>
            </a:endParaRPr>
          </a:p>
        </p:txBody>
      </p:sp>
      <p:sp>
        <p:nvSpPr>
          <p:cNvPr id="45" name="object 45"/>
          <p:cNvSpPr txBox="1"/>
          <p:nvPr/>
        </p:nvSpPr>
        <p:spPr>
          <a:xfrm>
            <a:off x="7038975" y="4906010"/>
            <a:ext cx="4531995" cy="1210310"/>
          </a:xfrm>
          <a:prstGeom prst="rect">
            <a:avLst/>
          </a:prstGeom>
        </p:spPr>
        <p:txBody>
          <a:bodyPr vert="horz" wrap="square" lIns="0" tIns="118110" rIns="0" bIns="0" rtlCol="0">
            <a:spAutoFit/>
          </a:bodyPr>
          <a:lstStyle/>
          <a:p>
            <a:pPr>
              <a:lnSpc>
                <a:spcPct val="100000"/>
              </a:lnSpc>
              <a:spcBef>
                <a:spcPts val="930"/>
              </a:spcBef>
            </a:pPr>
            <a:r>
              <a:rPr sz="1700" spc="-210" dirty="0">
                <a:solidFill>
                  <a:srgbClr val="005499"/>
                </a:solidFill>
                <a:latin typeface="SimSun"/>
                <a:cs typeface="SimSun"/>
              </a:rPr>
              <a:t>広</a:t>
            </a:r>
            <a:r>
              <a:rPr sz="1650" spc="-165" dirty="0">
                <a:solidFill>
                  <a:srgbClr val="005499"/>
                </a:solidFill>
                <a:latin typeface="PMingLiU"/>
                <a:cs typeface="PMingLiU"/>
              </a:rPr>
              <a:t>範</a:t>
            </a:r>
            <a:r>
              <a:rPr sz="1600" spc="-120" dirty="0">
                <a:solidFill>
                  <a:srgbClr val="005499"/>
                </a:solidFill>
                <a:latin typeface="PMingLiU"/>
                <a:cs typeface="PMingLiU"/>
              </a:rPr>
              <a:t>囲</a:t>
            </a:r>
            <a:r>
              <a:rPr sz="1700" spc="-210" dirty="0">
                <a:solidFill>
                  <a:srgbClr val="005499"/>
                </a:solidFill>
                <a:latin typeface="SimSun"/>
                <a:cs typeface="SimSun"/>
              </a:rPr>
              <a:t>の</a:t>
            </a:r>
            <a:r>
              <a:rPr sz="1650" spc="-165" dirty="0">
                <a:solidFill>
                  <a:srgbClr val="005499"/>
                </a:solidFill>
                <a:latin typeface="SimSun"/>
                <a:cs typeface="SimSun"/>
              </a:rPr>
              <a:t>湿</a:t>
            </a:r>
            <a:r>
              <a:rPr sz="1700" spc="-210" dirty="0">
                <a:solidFill>
                  <a:srgbClr val="005499"/>
                </a:solidFill>
                <a:latin typeface="SimSun"/>
                <a:cs typeface="SimSun"/>
              </a:rPr>
              <a:t>度計</a:t>
            </a:r>
            <a:r>
              <a:rPr sz="1650" spc="-50" dirty="0">
                <a:solidFill>
                  <a:srgbClr val="005499"/>
                </a:solidFill>
                <a:latin typeface="SimSun"/>
                <a:cs typeface="SimSun"/>
              </a:rPr>
              <a:t>測</a:t>
            </a:r>
            <a:endParaRPr sz="1650">
              <a:latin typeface="SimSun"/>
              <a:cs typeface="SimSun"/>
            </a:endParaRPr>
          </a:p>
          <a:p>
            <a:pPr marR="5080">
              <a:lnSpc>
                <a:spcPct val="129600"/>
              </a:lnSpc>
              <a:spcBef>
                <a:spcPts val="155"/>
              </a:spcBef>
            </a:pPr>
            <a:r>
              <a:rPr sz="1350" dirty="0">
                <a:solidFill>
                  <a:srgbClr val="374050"/>
                </a:solidFill>
                <a:latin typeface="Arial"/>
                <a:cs typeface="Arial"/>
              </a:rPr>
              <a:t>1.40[THz]</a:t>
            </a:r>
            <a:r>
              <a:rPr sz="1350" spc="-35" dirty="0">
                <a:solidFill>
                  <a:srgbClr val="374050"/>
                </a:solidFill>
                <a:latin typeface="PMingLiU"/>
                <a:cs typeface="PMingLiU"/>
              </a:rPr>
              <a:t>の検量線の有効性が確認できたことから、広いダ</a:t>
            </a:r>
            <a:r>
              <a:rPr sz="1350" spc="-30" dirty="0">
                <a:solidFill>
                  <a:srgbClr val="374050"/>
                </a:solidFill>
                <a:latin typeface="PMingLiU"/>
                <a:cs typeface="PMingLiU"/>
              </a:rPr>
              <a:t>イナミックレンジでの高精度な絶対湿度計測の実現が見込</a:t>
            </a:r>
            <a:r>
              <a:rPr sz="1350" spc="-20" dirty="0">
                <a:solidFill>
                  <a:srgbClr val="374050"/>
                </a:solidFill>
                <a:latin typeface="PMingLiU"/>
                <a:cs typeface="PMingLiU"/>
              </a:rPr>
              <a:t>れます。</a:t>
            </a:r>
            <a:endParaRPr sz="1350">
              <a:latin typeface="PMingLiU"/>
              <a:cs typeface="PMingLiU"/>
            </a:endParaRPr>
          </a:p>
        </p:txBody>
      </p:sp>
      <p:sp>
        <p:nvSpPr>
          <p:cNvPr id="46" name="object 46"/>
          <p:cNvSpPr txBox="1"/>
          <p:nvPr/>
        </p:nvSpPr>
        <p:spPr>
          <a:xfrm>
            <a:off x="5106986" y="6421120"/>
            <a:ext cx="2873375" cy="322580"/>
          </a:xfrm>
          <a:prstGeom prst="rect">
            <a:avLst/>
          </a:prstGeom>
        </p:spPr>
        <p:txBody>
          <a:bodyPr vert="horz" wrap="square" lIns="0" tIns="12700" rIns="0" bIns="0" rtlCol="0">
            <a:spAutoFit/>
          </a:bodyPr>
          <a:lstStyle/>
          <a:p>
            <a:pPr marL="12700">
              <a:lnSpc>
                <a:spcPct val="100000"/>
              </a:lnSpc>
              <a:spcBef>
                <a:spcPts val="100"/>
              </a:spcBef>
            </a:pPr>
            <a:r>
              <a:rPr sz="1900" spc="-55" dirty="0">
                <a:solidFill>
                  <a:srgbClr val="003366"/>
                </a:solidFill>
                <a:latin typeface="PMingLiU"/>
                <a:cs typeface="PMingLiU"/>
              </a:rPr>
              <a:t>あ</a:t>
            </a:r>
            <a:r>
              <a:rPr sz="1950" spc="-95" dirty="0">
                <a:solidFill>
                  <a:srgbClr val="003366"/>
                </a:solidFill>
                <a:latin typeface="PMingLiU"/>
                <a:cs typeface="PMingLiU"/>
              </a:rPr>
              <a:t>りがと</a:t>
            </a:r>
            <a:r>
              <a:rPr sz="1900" spc="-55" dirty="0">
                <a:solidFill>
                  <a:srgbClr val="003366"/>
                </a:solidFill>
                <a:latin typeface="PMingLiU"/>
                <a:cs typeface="PMingLiU"/>
              </a:rPr>
              <a:t>う</a:t>
            </a:r>
            <a:r>
              <a:rPr sz="1950" spc="-95" dirty="0">
                <a:solidFill>
                  <a:srgbClr val="003366"/>
                </a:solidFill>
                <a:latin typeface="PMingLiU"/>
                <a:cs typeface="PMingLiU"/>
              </a:rPr>
              <a:t>ござ</a:t>
            </a:r>
            <a:r>
              <a:rPr sz="1900" spc="-55" dirty="0">
                <a:solidFill>
                  <a:srgbClr val="003366"/>
                </a:solidFill>
                <a:latin typeface="PMingLiU"/>
                <a:cs typeface="PMingLiU"/>
              </a:rPr>
              <a:t>い</a:t>
            </a:r>
            <a:r>
              <a:rPr sz="1950" spc="-95" dirty="0">
                <a:solidFill>
                  <a:srgbClr val="003366"/>
                </a:solidFill>
                <a:latin typeface="PMingLiU"/>
                <a:cs typeface="PMingLiU"/>
              </a:rPr>
              <a:t>ました</a:t>
            </a:r>
            <a:r>
              <a:rPr sz="1750" spc="-50" dirty="0">
                <a:solidFill>
                  <a:srgbClr val="003366"/>
                </a:solidFill>
                <a:latin typeface="PMingLiU"/>
                <a:cs typeface="PMingLiU"/>
              </a:rPr>
              <a:t>！</a:t>
            </a:r>
            <a:endParaRPr sz="1750" dirty="0">
              <a:latin typeface="PMingLiU"/>
              <a:cs typeface="PMingLiU"/>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TotalTime>
  <Words>812</Words>
  <Application>Microsoft Office PowerPoint</Application>
  <PresentationFormat>ユーザー設定</PresentationFormat>
  <Paragraphs>193</Paragraphs>
  <Slides>9</Slides>
  <Notes>0</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9</vt:i4>
      </vt:variant>
    </vt:vector>
  </HeadingPairs>
  <TitlesOfParts>
    <vt:vector size="18" baseType="lpstr">
      <vt:lpstr>PMingLiU</vt:lpstr>
      <vt:lpstr>SimSun</vt:lpstr>
      <vt:lpstr>游ゴシック</vt:lpstr>
      <vt:lpstr>Arial</vt:lpstr>
      <vt:lpstr>Calibri</vt:lpstr>
      <vt:lpstr>Cambria</vt:lpstr>
      <vt:lpstr>Times New Roman</vt:lpstr>
      <vt:lpstr>Trebuchet MS</vt:lpstr>
      <vt:lpstr>Office Theme</vt:lpstr>
      <vt:lpstr>テラヘルツ波分光を用いた絶対湿度計測の実現に向けた水蒸気吸収スペクトル解析</vt:lpstr>
      <vt:lpstr>研究背景</vt:lpstr>
      <vt:lpstr>原理</vt:lpstr>
      <vt:lpstr>測定方法：環境設定</vt:lpstr>
      <vt:lpstr>測定方法：HITRANによる吸光度計算</vt:lpstr>
      <vt:lpstr>結果①：実測値とHITRANの比較</vt:lpstr>
      <vt:lpstr>結果②：検量線と1.40THzの検討</vt:lpstr>
      <vt:lpstr>結果③：1.40THzにおける信頼区間と推定区間</vt:lpstr>
      <vt:lpstr>まとめと今後の展望</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住山智基</dc:creator>
  <cp:lastModifiedBy>智基 住山</cp:lastModifiedBy>
  <cp:revision>2</cp:revision>
  <dcterms:created xsi:type="dcterms:W3CDTF">2025-08-01T06:34:18Z</dcterms:created>
  <dcterms:modified xsi:type="dcterms:W3CDTF">2025-08-01T06:49:41Z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2025-08-01T00:00:00Z</vt:filetime>
  </property>
  <property fmtid="{D5CDD505-2E9C-101B-9397-08002B2CF9AE}" pid="3" name="LastSaved">
    <vt:filetime>2025-08-01T00:00:00Z</vt:filetime>
  </property>
</Properties>
</file>