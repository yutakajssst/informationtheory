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8229600" cx="14630400"/>
  <p:notesSz cx="8229600" cy="14630400"/>
  <p:embeddedFontLst>
    <p:embeddedFont>
      <p:font typeface="Instrument Sans"/>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InstrumentSans-regular.fntdata"/><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InstrumentSans-italic.fntdata"/><Relationship Id="rId25" Type="http://schemas.openxmlformats.org/officeDocument/2006/relationships/font" Target="fonts/InstrumentSans-bold.fntdata"/><Relationship Id="rId27" Type="http://schemas.openxmlformats.org/officeDocument/2006/relationships/font" Target="fonts/InstrumentSans-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 name="Google Shape;7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 name="Google Shape;39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DE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3" name="Shape 13"/>
        <p:cNvGrpSpPr/>
        <p:nvPr/>
      </p:nvGrpSpPr>
      <p:grpSpPr>
        <a:xfrm>
          <a:off x="0" y="0"/>
          <a:ext cx="0" cy="0"/>
          <a:chOff x="0" y="0"/>
          <a:chExt cx="0" cy="0"/>
        </a:xfrm>
      </p:grpSpPr>
      <p:sp>
        <p:nvSpPr>
          <p:cNvPr id="14" name="Google Shape;14;p3"/>
          <p:cNvSpPr/>
          <p:nvPr/>
        </p:nvSpPr>
        <p:spPr>
          <a:xfrm>
            <a:off x="0" y="0"/>
            <a:ext cx="14630400" cy="8229600"/>
          </a:xfrm>
          <a:prstGeom prst="rect">
            <a:avLst/>
          </a:prstGeom>
          <a:solidFill>
            <a:srgbClr val="DE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6" name="Shape 16"/>
        <p:cNvGrpSpPr/>
        <p:nvPr/>
      </p:nvGrpSpPr>
      <p:grpSpPr>
        <a:xfrm>
          <a:off x="0" y="0"/>
          <a:ext cx="0" cy="0"/>
          <a:chOff x="0" y="0"/>
          <a:chExt cx="0" cy="0"/>
        </a:xfrm>
      </p:grpSpPr>
      <p:sp>
        <p:nvSpPr>
          <p:cNvPr id="17" name="Google Shape;17;p4"/>
          <p:cNvSpPr/>
          <p:nvPr/>
        </p:nvSpPr>
        <p:spPr>
          <a:xfrm>
            <a:off x="0" y="0"/>
            <a:ext cx="14630400" cy="8229600"/>
          </a:xfrm>
          <a:prstGeom prst="rect">
            <a:avLst/>
          </a:prstGeom>
          <a:solidFill>
            <a:srgbClr val="DE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19" name="Shape 19"/>
        <p:cNvGrpSpPr/>
        <p:nvPr/>
      </p:nvGrpSpPr>
      <p:grpSpPr>
        <a:xfrm>
          <a:off x="0" y="0"/>
          <a:ext cx="0" cy="0"/>
          <a:chOff x="0" y="0"/>
          <a:chExt cx="0" cy="0"/>
        </a:xfrm>
      </p:grpSpPr>
      <p:sp>
        <p:nvSpPr>
          <p:cNvPr id="20" name="Google Shape;20;p5"/>
          <p:cNvSpPr/>
          <p:nvPr/>
        </p:nvSpPr>
        <p:spPr>
          <a:xfrm>
            <a:off x="0" y="0"/>
            <a:ext cx="14630400" cy="8229600"/>
          </a:xfrm>
          <a:prstGeom prst="rect">
            <a:avLst/>
          </a:prstGeom>
          <a:solidFill>
            <a:srgbClr val="DE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2" name="Shape 22"/>
        <p:cNvGrpSpPr/>
        <p:nvPr/>
      </p:nvGrpSpPr>
      <p:grpSpPr>
        <a:xfrm>
          <a:off x="0" y="0"/>
          <a:ext cx="0" cy="0"/>
          <a:chOff x="0" y="0"/>
          <a:chExt cx="0" cy="0"/>
        </a:xfrm>
      </p:grpSpPr>
      <p:sp>
        <p:nvSpPr>
          <p:cNvPr id="23" name="Google Shape;23;p6"/>
          <p:cNvSpPr/>
          <p:nvPr/>
        </p:nvSpPr>
        <p:spPr>
          <a:xfrm>
            <a:off x="0" y="0"/>
            <a:ext cx="14630400" cy="8229600"/>
          </a:xfrm>
          <a:prstGeom prst="rect">
            <a:avLst/>
          </a:prstGeom>
          <a:solidFill>
            <a:srgbClr val="DE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25" name="Shape 25"/>
        <p:cNvGrpSpPr/>
        <p:nvPr/>
      </p:nvGrpSpPr>
      <p:grpSpPr>
        <a:xfrm>
          <a:off x="0" y="0"/>
          <a:ext cx="0" cy="0"/>
          <a:chOff x="0" y="0"/>
          <a:chExt cx="0" cy="0"/>
        </a:xfrm>
      </p:grpSpPr>
      <p:sp>
        <p:nvSpPr>
          <p:cNvPr id="26" name="Google Shape;26;p7"/>
          <p:cNvSpPr/>
          <p:nvPr/>
        </p:nvSpPr>
        <p:spPr>
          <a:xfrm>
            <a:off x="0" y="0"/>
            <a:ext cx="14630400" cy="8229600"/>
          </a:xfrm>
          <a:prstGeom prst="rect">
            <a:avLst/>
          </a:prstGeom>
          <a:solidFill>
            <a:srgbClr val="DE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28" name="Shape 28"/>
        <p:cNvGrpSpPr/>
        <p:nvPr/>
      </p:nvGrpSpPr>
      <p:grpSpPr>
        <a:xfrm>
          <a:off x="0" y="0"/>
          <a:ext cx="0" cy="0"/>
          <a:chOff x="0" y="0"/>
          <a:chExt cx="0" cy="0"/>
        </a:xfrm>
      </p:grpSpPr>
      <p:sp>
        <p:nvSpPr>
          <p:cNvPr id="29" name="Google Shape;29;p8"/>
          <p:cNvSpPr/>
          <p:nvPr/>
        </p:nvSpPr>
        <p:spPr>
          <a:xfrm>
            <a:off x="0" y="0"/>
            <a:ext cx="14630400" cy="8229600"/>
          </a:xfrm>
          <a:prstGeom prst="rect">
            <a:avLst/>
          </a:prstGeom>
          <a:solidFill>
            <a:srgbClr val="DE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1" name="Shape 31"/>
        <p:cNvGrpSpPr/>
        <p:nvPr/>
      </p:nvGrpSpPr>
      <p:grpSpPr>
        <a:xfrm>
          <a:off x="0" y="0"/>
          <a:ext cx="0" cy="0"/>
          <a:chOff x="0" y="0"/>
          <a:chExt cx="0" cy="0"/>
        </a:xfrm>
      </p:grpSpPr>
      <p:sp>
        <p:nvSpPr>
          <p:cNvPr id="32" name="Google Shape;32;p9"/>
          <p:cNvSpPr/>
          <p:nvPr/>
        </p:nvSpPr>
        <p:spPr>
          <a:xfrm>
            <a:off x="0" y="0"/>
            <a:ext cx="14630400" cy="8229600"/>
          </a:xfrm>
          <a:prstGeom prst="rect">
            <a:avLst/>
          </a:prstGeom>
          <a:solidFill>
            <a:srgbClr val="DE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34" name="Shape 34"/>
        <p:cNvGrpSpPr/>
        <p:nvPr/>
      </p:nvGrpSpPr>
      <p:grpSpPr>
        <a:xfrm>
          <a:off x="0" y="0"/>
          <a:ext cx="0" cy="0"/>
          <a:chOff x="0" y="0"/>
          <a:chExt cx="0" cy="0"/>
        </a:xfrm>
      </p:grpSpPr>
      <p:sp>
        <p:nvSpPr>
          <p:cNvPr id="35" name="Google Shape;35;p10"/>
          <p:cNvSpPr/>
          <p:nvPr/>
        </p:nvSpPr>
        <p:spPr>
          <a:xfrm>
            <a:off x="0" y="0"/>
            <a:ext cx="14630400" cy="8229600"/>
          </a:xfrm>
          <a:prstGeom prst="rect">
            <a:avLst/>
          </a:prstGeom>
          <a:solidFill>
            <a:srgbClr val="DE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37" name="Shape 37"/>
        <p:cNvGrpSpPr/>
        <p:nvPr/>
      </p:nvGrpSpPr>
      <p:grpSpPr>
        <a:xfrm>
          <a:off x="0" y="0"/>
          <a:ext cx="0" cy="0"/>
          <a:chOff x="0" y="0"/>
          <a:chExt cx="0" cy="0"/>
        </a:xfrm>
      </p:grpSpPr>
      <p:sp>
        <p:nvSpPr>
          <p:cNvPr id="38" name="Google Shape;38;p11"/>
          <p:cNvSpPr/>
          <p:nvPr/>
        </p:nvSpPr>
        <p:spPr>
          <a:xfrm>
            <a:off x="0" y="0"/>
            <a:ext cx="14630400" cy="8229600"/>
          </a:xfrm>
          <a:prstGeom prst="rect">
            <a:avLst/>
          </a:prstGeom>
          <a:solidFill>
            <a:srgbClr val="DE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1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40" name="Shape 40"/>
        <p:cNvGrpSpPr/>
        <p:nvPr/>
      </p:nvGrpSpPr>
      <p:grpSpPr>
        <a:xfrm>
          <a:off x="0" y="0"/>
          <a:ext cx="0" cy="0"/>
          <a:chOff x="0" y="0"/>
          <a:chExt cx="0" cy="0"/>
        </a:xfrm>
      </p:grpSpPr>
      <p:sp>
        <p:nvSpPr>
          <p:cNvPr id="41" name="Google Shape;41;p12"/>
          <p:cNvSpPr/>
          <p:nvPr/>
        </p:nvSpPr>
        <p:spPr>
          <a:xfrm>
            <a:off x="0" y="0"/>
            <a:ext cx="14630400" cy="8229600"/>
          </a:xfrm>
          <a:prstGeom prst="rect">
            <a:avLst/>
          </a:prstGeom>
          <a:solidFill>
            <a:srgbClr val="DE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spTree>
      <p:nvGrpSpPr>
        <p:cNvPr id="43" name="Shape 43"/>
        <p:cNvGrpSpPr/>
        <p:nvPr/>
      </p:nvGrpSpPr>
      <p:grpSpPr>
        <a:xfrm>
          <a:off x="0" y="0"/>
          <a:ext cx="0" cy="0"/>
          <a:chOff x="0" y="0"/>
          <a:chExt cx="0" cy="0"/>
        </a:xfrm>
      </p:grpSpPr>
      <p:sp>
        <p:nvSpPr>
          <p:cNvPr id="44" name="Google Shape;44;p13"/>
          <p:cNvSpPr/>
          <p:nvPr/>
        </p:nvSpPr>
        <p:spPr>
          <a:xfrm>
            <a:off x="0" y="0"/>
            <a:ext cx="14630400" cy="8229600"/>
          </a:xfrm>
          <a:prstGeom prst="rect">
            <a:avLst/>
          </a:prstGeom>
          <a:solidFill>
            <a:srgbClr val="DE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1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spTree>
      <p:nvGrpSpPr>
        <p:cNvPr id="46" name="Shape 46"/>
        <p:cNvGrpSpPr/>
        <p:nvPr/>
      </p:nvGrpSpPr>
      <p:grpSpPr>
        <a:xfrm>
          <a:off x="0" y="0"/>
          <a:ext cx="0" cy="0"/>
          <a:chOff x="0" y="0"/>
          <a:chExt cx="0" cy="0"/>
        </a:xfrm>
      </p:grpSpPr>
      <p:sp>
        <p:nvSpPr>
          <p:cNvPr id="47" name="Google Shape;47;p14"/>
          <p:cNvSpPr/>
          <p:nvPr/>
        </p:nvSpPr>
        <p:spPr>
          <a:xfrm>
            <a:off x="0" y="0"/>
            <a:ext cx="14630400" cy="8229600"/>
          </a:xfrm>
          <a:prstGeom prst="rect">
            <a:avLst/>
          </a:prstGeom>
          <a:solidFill>
            <a:srgbClr val="DE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1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spTree>
      <p:nvGrpSpPr>
        <p:cNvPr id="49" name="Shape 49"/>
        <p:cNvGrpSpPr/>
        <p:nvPr/>
      </p:nvGrpSpPr>
      <p:grpSpPr>
        <a:xfrm>
          <a:off x="0" y="0"/>
          <a:ext cx="0" cy="0"/>
          <a:chOff x="0" y="0"/>
          <a:chExt cx="0" cy="0"/>
        </a:xfrm>
      </p:grpSpPr>
      <p:sp>
        <p:nvSpPr>
          <p:cNvPr id="50" name="Google Shape;50;p15"/>
          <p:cNvSpPr/>
          <p:nvPr/>
        </p:nvSpPr>
        <p:spPr>
          <a:xfrm>
            <a:off x="0" y="0"/>
            <a:ext cx="14630400" cy="8229600"/>
          </a:xfrm>
          <a:prstGeom prst="rect">
            <a:avLst/>
          </a:prstGeom>
          <a:solidFill>
            <a:srgbClr val="DE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1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spTree>
      <p:nvGrpSpPr>
        <p:cNvPr id="52" name="Shape 52"/>
        <p:cNvGrpSpPr/>
        <p:nvPr/>
      </p:nvGrpSpPr>
      <p:grpSpPr>
        <a:xfrm>
          <a:off x="0" y="0"/>
          <a:ext cx="0" cy="0"/>
          <a:chOff x="0" y="0"/>
          <a:chExt cx="0" cy="0"/>
        </a:xfrm>
      </p:grpSpPr>
      <p:sp>
        <p:nvSpPr>
          <p:cNvPr id="53" name="Google Shape;53;p16"/>
          <p:cNvSpPr/>
          <p:nvPr/>
        </p:nvSpPr>
        <p:spPr>
          <a:xfrm>
            <a:off x="0" y="0"/>
            <a:ext cx="14630400" cy="8229600"/>
          </a:xfrm>
          <a:prstGeom prst="rect">
            <a:avLst/>
          </a:prstGeom>
          <a:solidFill>
            <a:srgbClr val="DE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6 master">
  <p:cSld name="Slide 16 master">
    <p:spTree>
      <p:nvGrpSpPr>
        <p:cNvPr id="55" name="Shape 55"/>
        <p:cNvGrpSpPr/>
        <p:nvPr/>
      </p:nvGrpSpPr>
      <p:grpSpPr>
        <a:xfrm>
          <a:off x="0" y="0"/>
          <a:ext cx="0" cy="0"/>
          <a:chOff x="0" y="0"/>
          <a:chExt cx="0" cy="0"/>
        </a:xfrm>
      </p:grpSpPr>
      <p:sp>
        <p:nvSpPr>
          <p:cNvPr id="56" name="Google Shape;56;p17"/>
          <p:cNvSpPr/>
          <p:nvPr/>
        </p:nvSpPr>
        <p:spPr>
          <a:xfrm>
            <a:off x="0" y="0"/>
            <a:ext cx="14630400" cy="8229600"/>
          </a:xfrm>
          <a:prstGeom prst="rect">
            <a:avLst/>
          </a:prstGeom>
          <a:solidFill>
            <a:srgbClr val="DE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7 master">
  <p:cSld name="Slide 17 master">
    <p:spTree>
      <p:nvGrpSpPr>
        <p:cNvPr id="58" name="Shape 58"/>
        <p:cNvGrpSpPr/>
        <p:nvPr/>
      </p:nvGrpSpPr>
      <p:grpSpPr>
        <a:xfrm>
          <a:off x="0" y="0"/>
          <a:ext cx="0" cy="0"/>
          <a:chOff x="0" y="0"/>
          <a:chExt cx="0" cy="0"/>
        </a:xfrm>
      </p:grpSpPr>
      <p:sp>
        <p:nvSpPr>
          <p:cNvPr id="59" name="Google Shape;59;p18"/>
          <p:cNvSpPr/>
          <p:nvPr/>
        </p:nvSpPr>
        <p:spPr>
          <a:xfrm>
            <a:off x="0" y="0"/>
            <a:ext cx="14630400" cy="8229600"/>
          </a:xfrm>
          <a:prstGeom prst="rect">
            <a:avLst/>
          </a:prstGeom>
          <a:solidFill>
            <a:srgbClr val="DE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8 master">
  <p:cSld name="Slide 18 master">
    <p:spTree>
      <p:nvGrpSpPr>
        <p:cNvPr id="61" name="Shape 61"/>
        <p:cNvGrpSpPr/>
        <p:nvPr/>
      </p:nvGrpSpPr>
      <p:grpSpPr>
        <a:xfrm>
          <a:off x="0" y="0"/>
          <a:ext cx="0" cy="0"/>
          <a:chOff x="0" y="0"/>
          <a:chExt cx="0" cy="0"/>
        </a:xfrm>
      </p:grpSpPr>
      <p:sp>
        <p:nvSpPr>
          <p:cNvPr id="62" name="Google Shape;62;p19"/>
          <p:cNvSpPr/>
          <p:nvPr/>
        </p:nvSpPr>
        <p:spPr>
          <a:xfrm>
            <a:off x="0" y="0"/>
            <a:ext cx="14630400" cy="8229600"/>
          </a:xfrm>
          <a:prstGeom prst="rect">
            <a:avLst/>
          </a:prstGeom>
          <a:solidFill>
            <a:srgbClr val="DE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9 master">
  <p:cSld name="Slide 19 master">
    <p:spTree>
      <p:nvGrpSpPr>
        <p:cNvPr id="64" name="Shape 64"/>
        <p:cNvGrpSpPr/>
        <p:nvPr/>
      </p:nvGrpSpPr>
      <p:grpSpPr>
        <a:xfrm>
          <a:off x="0" y="0"/>
          <a:ext cx="0" cy="0"/>
          <a:chOff x="0" y="0"/>
          <a:chExt cx="0" cy="0"/>
        </a:xfrm>
      </p:grpSpPr>
      <p:sp>
        <p:nvSpPr>
          <p:cNvPr id="65" name="Google Shape;65;p20"/>
          <p:cNvSpPr/>
          <p:nvPr/>
        </p:nvSpPr>
        <p:spPr>
          <a:xfrm>
            <a:off x="0" y="0"/>
            <a:ext cx="14630400" cy="8229600"/>
          </a:xfrm>
          <a:prstGeom prst="rect">
            <a:avLst/>
          </a:prstGeom>
          <a:solidFill>
            <a:srgbClr val="DE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0 master">
  <p:cSld name="Slide 20 master">
    <p:spTree>
      <p:nvGrpSpPr>
        <p:cNvPr id="67" name="Shape 67"/>
        <p:cNvGrpSpPr/>
        <p:nvPr/>
      </p:nvGrpSpPr>
      <p:grpSpPr>
        <a:xfrm>
          <a:off x="0" y="0"/>
          <a:ext cx="0" cy="0"/>
          <a:chOff x="0" y="0"/>
          <a:chExt cx="0" cy="0"/>
        </a:xfrm>
      </p:grpSpPr>
      <p:sp>
        <p:nvSpPr>
          <p:cNvPr id="68" name="Google Shape;68;p21"/>
          <p:cNvSpPr/>
          <p:nvPr/>
        </p:nvSpPr>
        <p:spPr>
          <a:xfrm>
            <a:off x="0" y="0"/>
            <a:ext cx="14630400" cy="8229600"/>
          </a:xfrm>
          <a:prstGeom prst="rect">
            <a:avLst/>
          </a:prstGeom>
          <a:solidFill>
            <a:srgbClr val="DE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0" name="Shape 7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6.png"/><Relationship Id="rId5" Type="http://schemas.openxmlformats.org/officeDocument/2006/relationships/image" Target="../media/image12.png"/></Relationships>
</file>

<file path=ppt/slides/_rels/slide5.xml.rels><?xml version="1.0" encoding="UTF-8" standalone="yes"?><Relationships xmlns="http://schemas.openxmlformats.org/package/2006/relationships"><Relationship Id="rId10" Type="http://schemas.openxmlformats.org/officeDocument/2006/relationships/image" Target="../media/image9.png"/><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21.png"/><Relationship Id="rId4" Type="http://schemas.openxmlformats.org/officeDocument/2006/relationships/image" Target="../media/image25.png"/><Relationship Id="rId9" Type="http://schemas.openxmlformats.org/officeDocument/2006/relationships/image" Target="../media/image5.png"/><Relationship Id="rId5" Type="http://schemas.openxmlformats.org/officeDocument/2006/relationships/image" Target="../media/image13.png"/><Relationship Id="rId6" Type="http://schemas.openxmlformats.org/officeDocument/2006/relationships/image" Target="../media/image8.png"/><Relationship Id="rId7" Type="http://schemas.openxmlformats.org/officeDocument/2006/relationships/image" Target="../media/image22.png"/><Relationship Id="rId8"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4.png"/><Relationship Id="rId7"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9.png"/><Relationship Id="rId5" Type="http://schemas.openxmlformats.org/officeDocument/2006/relationships/image" Target="../media/image32.png"/><Relationship Id="rId6" Type="http://schemas.openxmlformats.org/officeDocument/2006/relationships/image" Target="../media/image35.png"/><Relationship Id="rId7" Type="http://schemas.openxmlformats.org/officeDocument/2006/relationships/image" Target="../media/image2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3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0" Type="http://schemas.openxmlformats.org/officeDocument/2006/relationships/image" Target="../media/image36.png"/><Relationship Id="rId1" Type="http://schemas.openxmlformats.org/officeDocument/2006/relationships/slideLayout" Target="../slideLayouts/slideLayout18.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33.png"/><Relationship Id="rId9" Type="http://schemas.openxmlformats.org/officeDocument/2006/relationships/image" Target="../media/image5.png"/><Relationship Id="rId5" Type="http://schemas.openxmlformats.org/officeDocument/2006/relationships/image" Target="../media/image13.png"/><Relationship Id="rId6" Type="http://schemas.openxmlformats.org/officeDocument/2006/relationships/image" Target="../media/image30.png"/><Relationship Id="rId7" Type="http://schemas.openxmlformats.org/officeDocument/2006/relationships/image" Target="../media/image22.png"/><Relationship Id="rId8"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descr="preencoded.png" id="76" name="Google Shape;76;p23"/>
          <p:cNvPicPr preferRelativeResize="0"/>
          <p:nvPr/>
        </p:nvPicPr>
        <p:blipFill rotWithShape="1">
          <a:blip r:embed="rId3">
            <a:alphaModFix/>
          </a:blip>
          <a:srcRect b="0" l="0" r="0" t="0"/>
          <a:stretch/>
        </p:blipFill>
        <p:spPr>
          <a:xfrm>
            <a:off x="8869680" y="0"/>
            <a:ext cx="5760720" cy="8229600"/>
          </a:xfrm>
          <a:prstGeom prst="rect">
            <a:avLst/>
          </a:prstGeom>
          <a:noFill/>
          <a:ln>
            <a:noFill/>
          </a:ln>
        </p:spPr>
      </p:pic>
      <p:sp>
        <p:nvSpPr>
          <p:cNvPr id="77" name="Google Shape;77;p23"/>
          <p:cNvSpPr/>
          <p:nvPr/>
        </p:nvSpPr>
        <p:spPr>
          <a:xfrm>
            <a:off x="412800" y="1811525"/>
            <a:ext cx="8427900" cy="1860300"/>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091C53"/>
              </a:buClr>
              <a:buSzPts val="3900"/>
              <a:buFont typeface="Instrument Sans"/>
              <a:buNone/>
            </a:pPr>
            <a:r>
              <a:rPr b="0" i="0" lang="en-US" sz="3900" u="none" cap="none" strike="noStrike">
                <a:solidFill>
                  <a:srgbClr val="091C53"/>
                </a:solidFill>
                <a:latin typeface="Instrument Sans"/>
                <a:ea typeface="Instrument Sans"/>
                <a:cs typeface="Instrument Sans"/>
                <a:sym typeface="Instrument Sans"/>
              </a:rPr>
              <a:t>研究を最強の武器に！大学院生のための「伝わるガクチカ」作成演習</a:t>
            </a:r>
            <a:endParaRPr b="0" i="0" sz="3900" u="none" cap="none" strike="noStrike"/>
          </a:p>
        </p:txBody>
      </p:sp>
      <p:sp>
        <p:nvSpPr>
          <p:cNvPr id="78" name="Google Shape;78;p23"/>
          <p:cNvSpPr/>
          <p:nvPr/>
        </p:nvSpPr>
        <p:spPr>
          <a:xfrm>
            <a:off x="793790" y="3969425"/>
            <a:ext cx="7169229"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091C53"/>
              </a:buClr>
              <a:buSzPts val="1950"/>
              <a:buFont typeface="Instrument Sans"/>
              <a:buNone/>
            </a:pPr>
            <a:r>
              <a:rPr b="0" i="0" lang="en-US" sz="1950" u="none" cap="none" strike="noStrike">
                <a:solidFill>
                  <a:srgbClr val="091C53"/>
                </a:solidFill>
                <a:latin typeface="Instrument Sans"/>
                <a:ea typeface="Instrument Sans"/>
                <a:cs typeface="Instrument Sans"/>
                <a:sym typeface="Instrument Sans"/>
              </a:rPr>
              <a:t>～AIを思考のパートナーにして、自分だけの強みを見つけよう～</a:t>
            </a:r>
            <a:endParaRPr b="0" i="0" sz="1950" u="none" cap="none" strike="noStrike"/>
          </a:p>
        </p:txBody>
      </p:sp>
      <p:sp>
        <p:nvSpPr>
          <p:cNvPr id="79" name="Google Shape;79;p23"/>
          <p:cNvSpPr/>
          <p:nvPr/>
        </p:nvSpPr>
        <p:spPr>
          <a:xfrm>
            <a:off x="793790" y="4577239"/>
            <a:ext cx="7556421" cy="127015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大学院での研究経験は、就職活動における最大の武器になります。本演習では、研究活動をどのように言語化し、企業に伝わるガクチカ（学生時代に力を入れたこと）にするかを学びます。AIを活用しながら、あなただけの魅力的なストーリーを完成させましょう。</a:t>
            </a:r>
            <a:endParaRPr b="0" i="0" sz="1550" u="none" cap="none" strike="noStrike"/>
          </a:p>
        </p:txBody>
      </p:sp>
      <p:sp>
        <p:nvSpPr>
          <p:cNvPr id="80" name="Google Shape;80;p23"/>
          <p:cNvSpPr/>
          <p:nvPr/>
        </p:nvSpPr>
        <p:spPr>
          <a:xfrm>
            <a:off x="793790" y="6085523"/>
            <a:ext cx="317540" cy="317540"/>
          </a:xfrm>
          <a:prstGeom prst="roundRect">
            <a:avLst>
              <a:gd fmla="val 28793492"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1" name="Google Shape;81;p23"/>
          <p:cNvPicPr preferRelativeResize="0"/>
          <p:nvPr/>
        </p:nvPicPr>
        <p:blipFill rotWithShape="1">
          <a:blip r:embed="rId4">
            <a:alphaModFix/>
          </a:blip>
          <a:srcRect b="0" l="0" r="0" t="0"/>
          <a:stretch/>
        </p:blipFill>
        <p:spPr>
          <a:xfrm>
            <a:off x="801410" y="6093142"/>
            <a:ext cx="302300" cy="302300"/>
          </a:xfrm>
          <a:prstGeom prst="rect">
            <a:avLst/>
          </a:prstGeom>
          <a:noFill/>
          <a:ln>
            <a:noFill/>
          </a:ln>
        </p:spPr>
      </p:pic>
      <p:sp>
        <p:nvSpPr>
          <p:cNvPr id="82" name="Google Shape;82;p23"/>
          <p:cNvSpPr/>
          <p:nvPr/>
        </p:nvSpPr>
        <p:spPr>
          <a:xfrm>
            <a:off x="1210508" y="6070640"/>
            <a:ext cx="2899767" cy="347305"/>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1E3063"/>
              </a:buClr>
              <a:buSzPts val="1950"/>
              <a:buFont typeface="Instrument Sans"/>
              <a:buNone/>
            </a:pPr>
            <a:r>
              <a:rPr b="1" i="0" lang="en-US" sz="1950" u="none" cap="none" strike="noStrike">
                <a:solidFill>
                  <a:srgbClr val="1E3063"/>
                </a:solidFill>
                <a:latin typeface="Instrument Sans"/>
                <a:ea typeface="Instrument Sans"/>
                <a:cs typeface="Instrument Sans"/>
                <a:sym typeface="Instrument Sans"/>
              </a:rPr>
              <a:t>作成者：Yutaka Matsuno</a:t>
            </a:r>
            <a:endParaRPr b="0" i="0" sz="195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descr="preencoded.png" id="88" name="Google Shape;88;p24"/>
          <p:cNvPicPr preferRelativeResize="0"/>
          <p:nvPr/>
        </p:nvPicPr>
        <p:blipFill rotWithShape="1">
          <a:blip r:embed="rId3">
            <a:alphaModFix/>
          </a:blip>
          <a:srcRect b="0" l="0" r="0" t="0"/>
          <a:stretch/>
        </p:blipFill>
        <p:spPr>
          <a:xfrm>
            <a:off x="8869680" y="0"/>
            <a:ext cx="5760720" cy="8229600"/>
          </a:xfrm>
          <a:prstGeom prst="rect">
            <a:avLst/>
          </a:prstGeom>
          <a:noFill/>
          <a:ln>
            <a:noFill/>
          </a:ln>
        </p:spPr>
      </p:pic>
      <p:sp>
        <p:nvSpPr>
          <p:cNvPr id="89" name="Google Shape;89;p24"/>
          <p:cNvSpPr/>
          <p:nvPr/>
        </p:nvSpPr>
        <p:spPr>
          <a:xfrm>
            <a:off x="793790" y="1560314"/>
            <a:ext cx="4961811"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091C53"/>
              </a:buClr>
              <a:buSzPts val="3900"/>
              <a:buFont typeface="Instrument Sans"/>
              <a:buNone/>
            </a:pPr>
            <a:r>
              <a:rPr b="0" i="0" lang="en-US" sz="3900" u="none" cap="none" strike="noStrike">
                <a:solidFill>
                  <a:srgbClr val="091C53"/>
                </a:solidFill>
                <a:latin typeface="Instrument Sans"/>
                <a:ea typeface="Instrument Sans"/>
                <a:cs typeface="Instrument Sans"/>
                <a:sym typeface="Instrument Sans"/>
              </a:rPr>
              <a:t>本日のゴール</a:t>
            </a:r>
            <a:endParaRPr b="0" i="0" sz="3900" u="none" cap="none" strike="noStrike"/>
          </a:p>
        </p:txBody>
      </p:sp>
      <p:sp>
        <p:nvSpPr>
          <p:cNvPr id="90" name="Google Shape;90;p24"/>
          <p:cNvSpPr/>
          <p:nvPr/>
        </p:nvSpPr>
        <p:spPr>
          <a:xfrm>
            <a:off x="793790" y="2478048"/>
            <a:ext cx="446484" cy="446484"/>
          </a:xfrm>
          <a:prstGeom prst="roundRect">
            <a:avLst>
              <a:gd fmla="val 40008"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4"/>
          <p:cNvSpPr/>
          <p:nvPr/>
        </p:nvSpPr>
        <p:spPr>
          <a:xfrm>
            <a:off x="1438632" y="2546271"/>
            <a:ext cx="2976086"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1E3063"/>
              </a:buClr>
              <a:buSzPts val="1950"/>
              <a:buFont typeface="Instrument Sans"/>
              <a:buNone/>
            </a:pPr>
            <a:r>
              <a:rPr b="0" i="0" lang="en-US" sz="1950" u="none" cap="none" strike="noStrike">
                <a:solidFill>
                  <a:srgbClr val="1E3063"/>
                </a:solidFill>
                <a:latin typeface="Instrument Sans"/>
                <a:ea typeface="Instrument Sans"/>
                <a:cs typeface="Instrument Sans"/>
                <a:sym typeface="Instrument Sans"/>
              </a:rPr>
              <a:t>ガクチカの本質を理解する</a:t>
            </a:r>
            <a:endParaRPr b="0" i="0" sz="1950" u="none" cap="none" strike="noStrike"/>
          </a:p>
        </p:txBody>
      </p:sp>
      <p:sp>
        <p:nvSpPr>
          <p:cNvPr id="92" name="Google Shape;92;p24"/>
          <p:cNvSpPr/>
          <p:nvPr/>
        </p:nvSpPr>
        <p:spPr>
          <a:xfrm>
            <a:off x="1438632" y="2975491"/>
            <a:ext cx="6911578"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企業がガクチカを通して見ているものは何か、その背景にある採用担当者の意図を明確に理解します。</a:t>
            </a:r>
            <a:endParaRPr b="0" i="0" sz="1550" u="none" cap="none" strike="noStrike"/>
          </a:p>
        </p:txBody>
      </p:sp>
      <p:sp>
        <p:nvSpPr>
          <p:cNvPr id="93" name="Google Shape;93;p24"/>
          <p:cNvSpPr/>
          <p:nvPr/>
        </p:nvSpPr>
        <p:spPr>
          <a:xfrm>
            <a:off x="793790" y="4007406"/>
            <a:ext cx="446484" cy="446484"/>
          </a:xfrm>
          <a:prstGeom prst="roundRect">
            <a:avLst>
              <a:gd fmla="val 40008"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4"/>
          <p:cNvSpPr/>
          <p:nvPr/>
        </p:nvSpPr>
        <p:spPr>
          <a:xfrm>
            <a:off x="1438624" y="4075625"/>
            <a:ext cx="5404500" cy="3102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1E3063"/>
              </a:buClr>
              <a:buSzPts val="1950"/>
              <a:buFont typeface="Instrument Sans"/>
              <a:buNone/>
            </a:pPr>
            <a:r>
              <a:rPr b="0" i="0" lang="en-US" sz="1950" u="none" cap="none" strike="noStrike">
                <a:solidFill>
                  <a:srgbClr val="1E3063"/>
                </a:solidFill>
                <a:latin typeface="Instrument Sans"/>
                <a:ea typeface="Instrument Sans"/>
                <a:cs typeface="Instrument Sans"/>
                <a:sym typeface="Instrument Sans"/>
              </a:rPr>
              <a:t>研究経験を魅力的に伝える「型」を習得する</a:t>
            </a:r>
            <a:endParaRPr b="0" i="0" sz="1950" u="none" cap="none" strike="noStrike"/>
          </a:p>
        </p:txBody>
      </p:sp>
      <p:sp>
        <p:nvSpPr>
          <p:cNvPr id="95" name="Google Shape;95;p24"/>
          <p:cNvSpPr/>
          <p:nvPr/>
        </p:nvSpPr>
        <p:spPr>
          <a:xfrm>
            <a:off x="1438632" y="4504849"/>
            <a:ext cx="6911578"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研究という専門性の高い活動を、誰にでも伝わる言葉で構造化する方法を身につけます。</a:t>
            </a:r>
            <a:endParaRPr b="0" i="0" sz="1550" u="none" cap="none" strike="noStrike"/>
          </a:p>
        </p:txBody>
      </p:sp>
      <p:sp>
        <p:nvSpPr>
          <p:cNvPr id="96" name="Google Shape;96;p24"/>
          <p:cNvSpPr/>
          <p:nvPr/>
        </p:nvSpPr>
        <p:spPr>
          <a:xfrm>
            <a:off x="793790" y="5536763"/>
            <a:ext cx="446484" cy="446484"/>
          </a:xfrm>
          <a:prstGeom prst="roundRect">
            <a:avLst>
              <a:gd fmla="val 40008"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4"/>
          <p:cNvSpPr/>
          <p:nvPr/>
        </p:nvSpPr>
        <p:spPr>
          <a:xfrm>
            <a:off x="1438632" y="5604986"/>
            <a:ext cx="6692979"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1E3063"/>
              </a:buClr>
              <a:buSzPts val="1950"/>
              <a:buFont typeface="Instrument Sans"/>
              <a:buNone/>
            </a:pPr>
            <a:r>
              <a:rPr b="0" i="0" lang="en-US" sz="1950" u="none" cap="none" strike="noStrike">
                <a:solidFill>
                  <a:srgbClr val="1E3063"/>
                </a:solidFill>
                <a:latin typeface="Instrument Sans"/>
                <a:ea typeface="Instrument Sans"/>
                <a:cs typeface="Instrument Sans"/>
                <a:sym typeface="Instrument Sans"/>
              </a:rPr>
              <a:t>AIを賢く使いこなし、自分だけのガクチカ骨子を完成させる</a:t>
            </a:r>
            <a:endParaRPr b="0" i="0" sz="1950" u="none" cap="none" strike="noStrike"/>
          </a:p>
        </p:txBody>
      </p:sp>
      <p:sp>
        <p:nvSpPr>
          <p:cNvPr id="98" name="Google Shape;98;p24"/>
          <p:cNvSpPr/>
          <p:nvPr/>
        </p:nvSpPr>
        <p:spPr>
          <a:xfrm>
            <a:off x="1438632" y="6034207"/>
            <a:ext cx="6911578"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生成AIを思考の補助ツールとして活用し、オリジナリティあふれるガクチカの土台を作ります。</a:t>
            </a:r>
            <a:endParaRPr b="0" i="0" sz="15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5"/>
          <p:cNvSpPr/>
          <p:nvPr/>
        </p:nvSpPr>
        <p:spPr>
          <a:xfrm>
            <a:off x="793801" y="2276600"/>
            <a:ext cx="9442500" cy="620100"/>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091C53"/>
              </a:buClr>
              <a:buSzPts val="3900"/>
              <a:buFont typeface="Instrument Sans"/>
              <a:buNone/>
            </a:pPr>
            <a:r>
              <a:rPr b="0" i="0" lang="en-US" sz="3900" u="none" cap="none" strike="noStrike">
                <a:solidFill>
                  <a:srgbClr val="091C53"/>
                </a:solidFill>
                <a:latin typeface="Instrument Sans"/>
                <a:ea typeface="Instrument Sans"/>
                <a:cs typeface="Instrument Sans"/>
                <a:sym typeface="Instrument Sans"/>
              </a:rPr>
              <a:t>大学院生が抱える「ガクチカの悩み」</a:t>
            </a:r>
            <a:endParaRPr b="0" i="0" sz="3900" u="none" cap="none" strike="noStrike"/>
          </a:p>
        </p:txBody>
      </p:sp>
      <p:sp>
        <p:nvSpPr>
          <p:cNvPr id="105" name="Google Shape;105;p25"/>
          <p:cNvSpPr/>
          <p:nvPr/>
        </p:nvSpPr>
        <p:spPr>
          <a:xfrm>
            <a:off x="1091446" y="3417570"/>
            <a:ext cx="5981700" cy="31754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「研究の専門的な内容って、企業の人に伝わるのだろうか...」</a:t>
            </a:r>
            <a:endParaRPr b="0" i="0" sz="1550" u="none" cap="none" strike="noStrike"/>
          </a:p>
        </p:txBody>
      </p:sp>
      <p:sp>
        <p:nvSpPr>
          <p:cNvPr id="106" name="Google Shape;106;p25"/>
          <p:cNvSpPr/>
          <p:nvPr/>
        </p:nvSpPr>
        <p:spPr>
          <a:xfrm>
            <a:off x="793790" y="3417570"/>
            <a:ext cx="22860" cy="317540"/>
          </a:xfrm>
          <a:prstGeom prst="rect">
            <a:avLst/>
          </a:prstGeom>
          <a:solidFill>
            <a:srgbClr val="84C1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5"/>
          <p:cNvSpPr/>
          <p:nvPr/>
        </p:nvSpPr>
        <p:spPr>
          <a:xfrm>
            <a:off x="1091446" y="3958352"/>
            <a:ext cx="5981700" cy="31754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「まだ研究の成果が出ていないから、アピールできるものがない」</a:t>
            </a:r>
            <a:endParaRPr b="0" i="0" sz="1550" u="none" cap="none" strike="noStrike"/>
          </a:p>
        </p:txBody>
      </p:sp>
      <p:sp>
        <p:nvSpPr>
          <p:cNvPr id="108" name="Google Shape;108;p25"/>
          <p:cNvSpPr/>
          <p:nvPr/>
        </p:nvSpPr>
        <p:spPr>
          <a:xfrm>
            <a:off x="793790" y="3958352"/>
            <a:ext cx="22860" cy="317540"/>
          </a:xfrm>
          <a:prstGeom prst="rect">
            <a:avLst/>
          </a:prstGeom>
          <a:solidFill>
            <a:srgbClr val="84C1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5"/>
          <p:cNvSpPr/>
          <p:nvPr/>
        </p:nvSpPr>
        <p:spPr>
          <a:xfrm>
            <a:off x="1091446" y="4499134"/>
            <a:ext cx="5981700" cy="31754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「学部時代の活動を話すべき？それとも大学院での研究？」</a:t>
            </a:r>
            <a:endParaRPr b="0" i="0" sz="1550" u="none" cap="none" strike="noStrike"/>
          </a:p>
        </p:txBody>
      </p:sp>
      <p:sp>
        <p:nvSpPr>
          <p:cNvPr id="110" name="Google Shape;110;p25"/>
          <p:cNvSpPr/>
          <p:nvPr/>
        </p:nvSpPr>
        <p:spPr>
          <a:xfrm>
            <a:off x="793790" y="4499134"/>
            <a:ext cx="22860" cy="317540"/>
          </a:xfrm>
          <a:prstGeom prst="rect">
            <a:avLst/>
          </a:prstGeom>
          <a:solidFill>
            <a:srgbClr val="84C1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5"/>
          <p:cNvSpPr/>
          <p:nvPr/>
        </p:nvSpPr>
        <p:spPr>
          <a:xfrm>
            <a:off x="7564874" y="3372922"/>
            <a:ext cx="6279356" cy="127015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これらの悩みは大学院生に共通するものです。専門性の高い研究内容をどう伝えるか、成果が出ていない段階でどうアピールするか、学部と大学院のどちらの経験を話すべきか—こうした疑問を持つのは当然です。</a:t>
            </a:r>
            <a:endParaRPr b="0" i="0" sz="1550" u="none" cap="none" strike="noStrike"/>
          </a:p>
        </p:txBody>
      </p:sp>
      <p:sp>
        <p:nvSpPr>
          <p:cNvPr id="112" name="Google Shape;112;p25"/>
          <p:cNvSpPr/>
          <p:nvPr/>
        </p:nvSpPr>
        <p:spPr>
          <a:xfrm>
            <a:off x="7564874" y="4821674"/>
            <a:ext cx="6279356"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今日の演習では、これらの悩みを解決し、あなたの研究経験を最大限に活かす方法を学びます。大学院生だからこそ持つ強みを発見し、それを効果的に伝えるスキルを身につけましょう。</a:t>
            </a:r>
            <a:endParaRPr b="0" i="0" sz="155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6"/>
          <p:cNvSpPr/>
          <p:nvPr/>
        </p:nvSpPr>
        <p:spPr>
          <a:xfrm>
            <a:off x="793790" y="1094661"/>
            <a:ext cx="12343328"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091C53"/>
              </a:buClr>
              <a:buSzPts val="3900"/>
              <a:buFont typeface="Instrument Sans"/>
              <a:buNone/>
            </a:pPr>
            <a:r>
              <a:rPr b="0" i="0" lang="en-US" sz="3900" u="none" cap="none" strike="noStrike">
                <a:solidFill>
                  <a:srgbClr val="091C53"/>
                </a:solidFill>
                <a:latin typeface="Instrument Sans"/>
                <a:ea typeface="Instrument Sans"/>
                <a:cs typeface="Instrument Sans"/>
                <a:sym typeface="Instrument Sans"/>
              </a:rPr>
              <a:t>「ガクチカ」とは？ - 企業が見ているのは「経験の奥」</a:t>
            </a:r>
            <a:endParaRPr b="0" i="0" sz="3900" u="none" cap="none" strike="noStrike"/>
          </a:p>
        </p:txBody>
      </p:sp>
      <p:sp>
        <p:nvSpPr>
          <p:cNvPr id="119" name="Google Shape;119;p26"/>
          <p:cNvSpPr/>
          <p:nvPr/>
        </p:nvSpPr>
        <p:spPr>
          <a:xfrm>
            <a:off x="793790" y="2111573"/>
            <a:ext cx="13042821" cy="31754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ガクチカとは「学生時代に力を入れたこと」を意味しますが、企業が本当に知りたいのは活動の内容そのものではありません。</a:t>
            </a:r>
            <a:endParaRPr b="0" i="0" sz="1550" u="none" cap="none" strike="noStrike"/>
          </a:p>
        </p:txBody>
      </p:sp>
      <p:pic>
        <p:nvPicPr>
          <p:cNvPr descr="preencoded.png" id="120" name="Google Shape;120;p26"/>
          <p:cNvPicPr preferRelativeResize="0"/>
          <p:nvPr/>
        </p:nvPicPr>
        <p:blipFill rotWithShape="1">
          <a:blip r:embed="rId3">
            <a:alphaModFix/>
          </a:blip>
          <a:srcRect b="0" l="0" r="0" t="0"/>
          <a:stretch/>
        </p:blipFill>
        <p:spPr>
          <a:xfrm>
            <a:off x="793790" y="2652355"/>
            <a:ext cx="4182189" cy="2584728"/>
          </a:xfrm>
          <a:prstGeom prst="rect">
            <a:avLst/>
          </a:prstGeom>
          <a:noFill/>
          <a:ln>
            <a:noFill/>
          </a:ln>
        </p:spPr>
      </p:pic>
      <p:sp>
        <p:nvSpPr>
          <p:cNvPr id="121" name="Google Shape;121;p26"/>
          <p:cNvSpPr/>
          <p:nvPr/>
        </p:nvSpPr>
        <p:spPr>
          <a:xfrm>
            <a:off x="793790" y="5435441"/>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1E3063"/>
              </a:buClr>
              <a:buSzPts val="1950"/>
              <a:buFont typeface="Instrument Sans"/>
              <a:buNone/>
            </a:pPr>
            <a:r>
              <a:rPr b="0" i="0" lang="en-US" sz="1950" u="none" cap="none" strike="noStrike">
                <a:solidFill>
                  <a:srgbClr val="1E3063"/>
                </a:solidFill>
                <a:latin typeface="Instrument Sans"/>
                <a:ea typeface="Instrument Sans"/>
                <a:cs typeface="Instrument Sans"/>
                <a:sym typeface="Instrument Sans"/>
              </a:rPr>
              <a:t>表面的な活動</a:t>
            </a:r>
            <a:endParaRPr b="0" i="0" sz="1950" u="none" cap="none" strike="noStrike"/>
          </a:p>
        </p:txBody>
      </p:sp>
      <p:sp>
        <p:nvSpPr>
          <p:cNvPr id="122" name="Google Shape;122;p26"/>
          <p:cNvSpPr/>
          <p:nvPr/>
        </p:nvSpPr>
        <p:spPr>
          <a:xfrm>
            <a:off x="793790" y="5864662"/>
            <a:ext cx="4182189" cy="127015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企業は「何をしたか」という表面的な活動内容だけでなく、その奥にある本質を見ています。活動の詳細だけを語っても、採用担当者の心には響きません。</a:t>
            </a:r>
            <a:endParaRPr b="0" i="0" sz="1550" u="none" cap="none" strike="noStrike"/>
          </a:p>
        </p:txBody>
      </p:sp>
      <p:pic>
        <p:nvPicPr>
          <p:cNvPr descr="preencoded.png" id="123" name="Google Shape;123;p26"/>
          <p:cNvPicPr preferRelativeResize="0"/>
          <p:nvPr/>
        </p:nvPicPr>
        <p:blipFill rotWithShape="1">
          <a:blip r:embed="rId4">
            <a:alphaModFix/>
          </a:blip>
          <a:srcRect b="0" l="0" r="0" t="0"/>
          <a:stretch/>
        </p:blipFill>
        <p:spPr>
          <a:xfrm>
            <a:off x="5223986" y="2652355"/>
            <a:ext cx="4182308" cy="2584847"/>
          </a:xfrm>
          <a:prstGeom prst="rect">
            <a:avLst/>
          </a:prstGeom>
          <a:noFill/>
          <a:ln>
            <a:noFill/>
          </a:ln>
        </p:spPr>
      </p:pic>
      <p:sp>
        <p:nvSpPr>
          <p:cNvPr id="124" name="Google Shape;124;p26"/>
          <p:cNvSpPr/>
          <p:nvPr/>
        </p:nvSpPr>
        <p:spPr>
          <a:xfrm>
            <a:off x="5223986" y="5435560"/>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1E3063"/>
              </a:buClr>
              <a:buSzPts val="1950"/>
              <a:buFont typeface="Instrument Sans"/>
              <a:buNone/>
            </a:pPr>
            <a:r>
              <a:rPr b="0" i="0" lang="en-US" sz="1950" u="none" cap="none" strike="noStrike">
                <a:solidFill>
                  <a:srgbClr val="1E3063"/>
                </a:solidFill>
                <a:latin typeface="Instrument Sans"/>
                <a:ea typeface="Instrument Sans"/>
                <a:cs typeface="Instrument Sans"/>
                <a:sym typeface="Instrument Sans"/>
              </a:rPr>
              <a:t>人柄・価値観</a:t>
            </a:r>
            <a:endParaRPr b="0" i="0" sz="1950" u="none" cap="none" strike="noStrike"/>
          </a:p>
        </p:txBody>
      </p:sp>
      <p:sp>
        <p:nvSpPr>
          <p:cNvPr id="125" name="Google Shape;125;p26"/>
          <p:cNvSpPr/>
          <p:nvPr/>
        </p:nvSpPr>
        <p:spPr>
          <a:xfrm>
            <a:off x="5223986" y="5864781"/>
            <a:ext cx="4182308" cy="127015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なぜその活動を選んだのか、どのような価値観で取り組んだのかという「あなたらしさ」は、企業文化との相性を判断する重要な材料となります。</a:t>
            </a:r>
            <a:endParaRPr b="0" i="0" sz="1550" u="none" cap="none" strike="noStrike"/>
          </a:p>
        </p:txBody>
      </p:sp>
      <p:pic>
        <p:nvPicPr>
          <p:cNvPr descr="preencoded.png" id="126" name="Google Shape;126;p26"/>
          <p:cNvPicPr preferRelativeResize="0"/>
          <p:nvPr/>
        </p:nvPicPr>
        <p:blipFill rotWithShape="1">
          <a:blip r:embed="rId5">
            <a:alphaModFix/>
          </a:blip>
          <a:srcRect b="0" l="0" r="0" t="0"/>
          <a:stretch/>
        </p:blipFill>
        <p:spPr>
          <a:xfrm>
            <a:off x="9654302" y="2652355"/>
            <a:ext cx="4182308" cy="2584847"/>
          </a:xfrm>
          <a:prstGeom prst="rect">
            <a:avLst/>
          </a:prstGeom>
          <a:noFill/>
          <a:ln>
            <a:noFill/>
          </a:ln>
        </p:spPr>
      </p:pic>
      <p:sp>
        <p:nvSpPr>
          <p:cNvPr id="127" name="Google Shape;127;p26"/>
          <p:cNvSpPr/>
          <p:nvPr/>
        </p:nvSpPr>
        <p:spPr>
          <a:xfrm>
            <a:off x="9654302" y="5435560"/>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1E3063"/>
              </a:buClr>
              <a:buSzPts val="1950"/>
              <a:buFont typeface="Instrument Sans"/>
              <a:buNone/>
            </a:pPr>
            <a:r>
              <a:rPr b="0" i="0" lang="en-US" sz="1950" u="none" cap="none" strike="noStrike">
                <a:solidFill>
                  <a:srgbClr val="1E3063"/>
                </a:solidFill>
                <a:latin typeface="Instrument Sans"/>
                <a:ea typeface="Instrument Sans"/>
                <a:cs typeface="Instrument Sans"/>
                <a:sym typeface="Instrument Sans"/>
              </a:rPr>
              <a:t>ビジネスでの可能性</a:t>
            </a:r>
            <a:endParaRPr b="0" i="0" sz="1950" u="none" cap="none" strike="noStrike"/>
          </a:p>
        </p:txBody>
      </p:sp>
      <p:sp>
        <p:nvSpPr>
          <p:cNvPr id="128" name="Google Shape;128;p26"/>
          <p:cNvSpPr/>
          <p:nvPr/>
        </p:nvSpPr>
        <p:spPr>
          <a:xfrm>
            <a:off x="9654302" y="5864781"/>
            <a:ext cx="4182308" cy="127015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その経験を通して身につけた能力が、入社後どのように活かせるのか。企業はあなたの「仕事へのポテンシャル」を見極めようとしています。</a:t>
            </a:r>
            <a:endParaRPr b="0" i="0" sz="155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7"/>
          <p:cNvSpPr/>
          <p:nvPr/>
        </p:nvSpPr>
        <p:spPr>
          <a:xfrm>
            <a:off x="793790" y="912257"/>
            <a:ext cx="7747159"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091C53"/>
              </a:buClr>
              <a:buSzPts val="3900"/>
              <a:buFont typeface="Instrument Sans"/>
              <a:buNone/>
            </a:pPr>
            <a:r>
              <a:rPr b="0" i="0" lang="en-US" sz="3900" u="none" cap="none" strike="noStrike">
                <a:solidFill>
                  <a:srgbClr val="091C53"/>
                </a:solidFill>
                <a:latin typeface="Instrument Sans"/>
                <a:ea typeface="Instrument Sans"/>
                <a:cs typeface="Instrument Sans"/>
                <a:sym typeface="Instrument Sans"/>
              </a:rPr>
              <a:t>企業が見ている4つのポテンシャル</a:t>
            </a:r>
            <a:endParaRPr b="0" i="0" sz="3900" u="none" cap="none" strike="noStrike"/>
          </a:p>
        </p:txBody>
      </p:sp>
      <p:sp>
        <p:nvSpPr>
          <p:cNvPr id="135" name="Google Shape;135;p27"/>
          <p:cNvSpPr/>
          <p:nvPr/>
        </p:nvSpPr>
        <p:spPr>
          <a:xfrm>
            <a:off x="2254091" y="1929170"/>
            <a:ext cx="2480905" cy="310158"/>
          </a:xfrm>
          <a:prstGeom prst="rect">
            <a:avLst/>
          </a:prstGeom>
          <a:noFill/>
          <a:ln>
            <a:noFill/>
          </a:ln>
        </p:spPr>
        <p:txBody>
          <a:bodyPr anchorCtr="0" anchor="t" bIns="0" lIns="0" spcFirstLastPara="1" rIns="0" wrap="square" tIns="0">
            <a:noAutofit/>
          </a:bodyPr>
          <a:lstStyle/>
          <a:p>
            <a:pPr indent="0" lvl="0" marL="0" marR="0" rtl="0" algn="r">
              <a:lnSpc>
                <a:spcPct val="123076"/>
              </a:lnSpc>
              <a:spcBef>
                <a:spcPts val="0"/>
              </a:spcBef>
              <a:spcAft>
                <a:spcPts val="0"/>
              </a:spcAft>
              <a:buClr>
                <a:srgbClr val="1E3063"/>
              </a:buClr>
              <a:buSzPts val="1950"/>
              <a:buFont typeface="Instrument Sans"/>
              <a:buNone/>
            </a:pPr>
            <a:r>
              <a:rPr b="0" i="0" lang="en-US" sz="1950" u="none" cap="none" strike="noStrike">
                <a:solidFill>
                  <a:srgbClr val="1E3063"/>
                </a:solidFill>
                <a:latin typeface="Instrument Sans"/>
                <a:ea typeface="Instrument Sans"/>
                <a:cs typeface="Instrument Sans"/>
                <a:sym typeface="Instrument Sans"/>
              </a:rPr>
              <a:t>課題解決能力</a:t>
            </a:r>
            <a:endParaRPr b="0" i="0" sz="1950" u="none" cap="none" strike="noStrike"/>
          </a:p>
        </p:txBody>
      </p:sp>
      <p:sp>
        <p:nvSpPr>
          <p:cNvPr id="136" name="Google Shape;136;p27"/>
          <p:cNvSpPr/>
          <p:nvPr/>
        </p:nvSpPr>
        <p:spPr>
          <a:xfrm>
            <a:off x="793790" y="2358390"/>
            <a:ext cx="3941207" cy="635079"/>
          </a:xfrm>
          <a:prstGeom prst="rect">
            <a:avLst/>
          </a:prstGeom>
          <a:noFill/>
          <a:ln>
            <a:noFill/>
          </a:ln>
        </p:spPr>
        <p:txBody>
          <a:bodyPr anchorCtr="0" anchor="t" bIns="0" lIns="0" spcFirstLastPara="1" rIns="0" wrap="square" tIns="0">
            <a:noAutofit/>
          </a:bodyPr>
          <a:lstStyle/>
          <a:p>
            <a:pPr indent="0" lvl="0" marL="0" marR="0" rtl="0" algn="r">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問題を発見し、分析し、解決策を見出す能力</a:t>
            </a:r>
            <a:endParaRPr b="0" i="0" sz="1550" u="none" cap="none" strike="noStrike"/>
          </a:p>
        </p:txBody>
      </p:sp>
      <p:sp>
        <p:nvSpPr>
          <p:cNvPr id="137" name="Google Shape;137;p27"/>
          <p:cNvSpPr/>
          <p:nvPr/>
        </p:nvSpPr>
        <p:spPr>
          <a:xfrm>
            <a:off x="793790" y="3112532"/>
            <a:ext cx="3941207"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1E3063"/>
              </a:buClr>
              <a:buSzPts val="1550"/>
              <a:buFont typeface="Instrument Sans"/>
              <a:buChar char="•"/>
            </a:pPr>
            <a:r>
              <a:rPr b="0" i="0" lang="en-US" sz="1550" u="none" cap="none" strike="noStrike">
                <a:solidFill>
                  <a:srgbClr val="1E3063"/>
                </a:solidFill>
                <a:latin typeface="Instrument Sans"/>
                <a:ea typeface="Instrument Sans"/>
                <a:cs typeface="Instrument Sans"/>
                <a:sym typeface="Instrument Sans"/>
              </a:rPr>
              <a:t>仮説を立てて検証するプロセス</a:t>
            </a:r>
            <a:endParaRPr b="0" i="0" sz="1550" u="none" cap="none" strike="noStrike"/>
          </a:p>
        </p:txBody>
      </p:sp>
      <p:sp>
        <p:nvSpPr>
          <p:cNvPr id="138" name="Google Shape;138;p27"/>
          <p:cNvSpPr/>
          <p:nvPr/>
        </p:nvSpPr>
        <p:spPr>
          <a:xfrm>
            <a:off x="793790" y="3499485"/>
            <a:ext cx="3941207"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1E3063"/>
              </a:buClr>
              <a:buSzPts val="1550"/>
              <a:buFont typeface="Instrument Sans"/>
              <a:buChar char="•"/>
            </a:pPr>
            <a:r>
              <a:rPr b="0" i="0" lang="en-US" sz="1550" u="none" cap="none" strike="noStrike">
                <a:solidFill>
                  <a:srgbClr val="1E3063"/>
                </a:solidFill>
                <a:latin typeface="Instrument Sans"/>
                <a:ea typeface="Instrument Sans"/>
                <a:cs typeface="Instrument Sans"/>
                <a:sym typeface="Instrument Sans"/>
              </a:rPr>
              <a:t>データに基づく意思決定</a:t>
            </a:r>
            <a:endParaRPr b="0" i="0" sz="1550" u="none" cap="none" strike="noStrike"/>
          </a:p>
        </p:txBody>
      </p:sp>
      <p:sp>
        <p:nvSpPr>
          <p:cNvPr id="139" name="Google Shape;139;p27"/>
          <p:cNvSpPr/>
          <p:nvPr/>
        </p:nvSpPr>
        <p:spPr>
          <a:xfrm>
            <a:off x="793790" y="3886438"/>
            <a:ext cx="3941207"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1E3063"/>
              </a:buClr>
              <a:buSzPts val="1550"/>
              <a:buFont typeface="Instrument Sans"/>
              <a:buChar char="•"/>
            </a:pPr>
            <a:r>
              <a:rPr b="0" i="0" lang="en-US" sz="1550" u="none" cap="none" strike="noStrike">
                <a:solidFill>
                  <a:srgbClr val="1E3063"/>
                </a:solidFill>
                <a:latin typeface="Instrument Sans"/>
                <a:ea typeface="Instrument Sans"/>
                <a:cs typeface="Instrument Sans"/>
                <a:sym typeface="Instrument Sans"/>
              </a:rPr>
              <a:t>根本原因の追求</a:t>
            </a:r>
            <a:endParaRPr b="0" i="0" sz="1550" u="none" cap="none" strike="noStrike"/>
          </a:p>
        </p:txBody>
      </p:sp>
      <p:pic>
        <p:nvPicPr>
          <p:cNvPr descr="preencoded.png" id="140" name="Google Shape;140;p27"/>
          <p:cNvPicPr preferRelativeResize="0"/>
          <p:nvPr/>
        </p:nvPicPr>
        <p:blipFill rotWithShape="1">
          <a:blip r:embed="rId3">
            <a:alphaModFix/>
          </a:blip>
          <a:srcRect b="0" l="0" r="0" t="0"/>
          <a:stretch/>
        </p:blipFill>
        <p:spPr>
          <a:xfrm>
            <a:off x="5032653" y="2070259"/>
            <a:ext cx="4564975" cy="4564975"/>
          </a:xfrm>
          <a:prstGeom prst="rect">
            <a:avLst/>
          </a:prstGeom>
          <a:noFill/>
          <a:ln>
            <a:noFill/>
          </a:ln>
        </p:spPr>
      </p:pic>
      <p:pic>
        <p:nvPicPr>
          <p:cNvPr descr="preencoded.png" id="141" name="Google Shape;141;p27"/>
          <p:cNvPicPr preferRelativeResize="0"/>
          <p:nvPr/>
        </p:nvPicPr>
        <p:blipFill rotWithShape="1">
          <a:blip r:embed="rId4">
            <a:alphaModFix/>
          </a:blip>
          <a:srcRect b="0" l="0" r="0" t="0"/>
          <a:stretch/>
        </p:blipFill>
        <p:spPr>
          <a:xfrm>
            <a:off x="6036766" y="3037344"/>
            <a:ext cx="296942" cy="371118"/>
          </a:xfrm>
          <a:prstGeom prst="rect">
            <a:avLst/>
          </a:prstGeom>
          <a:noFill/>
          <a:ln>
            <a:noFill/>
          </a:ln>
        </p:spPr>
      </p:pic>
      <p:sp>
        <p:nvSpPr>
          <p:cNvPr id="142" name="Google Shape;142;p27"/>
          <p:cNvSpPr/>
          <p:nvPr/>
        </p:nvSpPr>
        <p:spPr>
          <a:xfrm>
            <a:off x="9895284" y="1929170"/>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1E3063"/>
              </a:buClr>
              <a:buSzPts val="1950"/>
              <a:buFont typeface="Instrument Sans"/>
              <a:buNone/>
            </a:pPr>
            <a:r>
              <a:rPr b="0" i="0" lang="en-US" sz="1950" u="none" cap="none" strike="noStrike">
                <a:solidFill>
                  <a:srgbClr val="1E3063"/>
                </a:solidFill>
                <a:latin typeface="Instrument Sans"/>
                <a:ea typeface="Instrument Sans"/>
                <a:cs typeface="Instrument Sans"/>
                <a:sym typeface="Instrument Sans"/>
              </a:rPr>
              <a:t>主体性・粘り強さ</a:t>
            </a:r>
            <a:endParaRPr b="0" i="0" sz="1950" u="none" cap="none" strike="noStrike"/>
          </a:p>
        </p:txBody>
      </p:sp>
      <p:sp>
        <p:nvSpPr>
          <p:cNvPr id="143" name="Google Shape;143;p27"/>
          <p:cNvSpPr/>
          <p:nvPr/>
        </p:nvSpPr>
        <p:spPr>
          <a:xfrm>
            <a:off x="9895284" y="2358390"/>
            <a:ext cx="3941326"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自ら考えて行動し、困難に直面しても諦めない姿勢</a:t>
            </a:r>
            <a:endParaRPr b="0" i="0" sz="1550" u="none" cap="none" strike="noStrike"/>
          </a:p>
        </p:txBody>
      </p:sp>
      <p:sp>
        <p:nvSpPr>
          <p:cNvPr id="144" name="Google Shape;144;p27"/>
          <p:cNvSpPr/>
          <p:nvPr/>
        </p:nvSpPr>
        <p:spPr>
          <a:xfrm>
            <a:off x="9895284" y="3112532"/>
            <a:ext cx="3941326"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1E3063"/>
              </a:buClr>
              <a:buSzPts val="1550"/>
              <a:buFont typeface="Instrument Sans"/>
              <a:buChar char="•"/>
            </a:pPr>
            <a:r>
              <a:rPr b="0" i="0" lang="en-US" sz="1550" u="none" cap="none" strike="noStrike">
                <a:solidFill>
                  <a:srgbClr val="1E3063"/>
                </a:solidFill>
                <a:latin typeface="Instrument Sans"/>
                <a:ea typeface="Instrument Sans"/>
                <a:cs typeface="Instrument Sans"/>
                <a:sym typeface="Instrument Sans"/>
              </a:rPr>
              <a:t>自発的な目標設定</a:t>
            </a:r>
            <a:endParaRPr b="0" i="0" sz="1550" u="none" cap="none" strike="noStrike"/>
          </a:p>
        </p:txBody>
      </p:sp>
      <p:sp>
        <p:nvSpPr>
          <p:cNvPr id="145" name="Google Shape;145;p27"/>
          <p:cNvSpPr/>
          <p:nvPr/>
        </p:nvSpPr>
        <p:spPr>
          <a:xfrm>
            <a:off x="9895284" y="3499485"/>
            <a:ext cx="3941326"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1E3063"/>
              </a:buClr>
              <a:buSzPts val="1550"/>
              <a:buFont typeface="Instrument Sans"/>
              <a:buChar char="•"/>
            </a:pPr>
            <a:r>
              <a:rPr b="0" i="0" lang="en-US" sz="1550" u="none" cap="none" strike="noStrike">
                <a:solidFill>
                  <a:srgbClr val="1E3063"/>
                </a:solidFill>
                <a:latin typeface="Instrument Sans"/>
                <a:ea typeface="Instrument Sans"/>
                <a:cs typeface="Instrument Sans"/>
                <a:sym typeface="Instrument Sans"/>
              </a:rPr>
              <a:t>障害を乗り越える経験</a:t>
            </a:r>
            <a:endParaRPr b="0" i="0" sz="1550" u="none" cap="none" strike="noStrike"/>
          </a:p>
        </p:txBody>
      </p:sp>
      <p:sp>
        <p:nvSpPr>
          <p:cNvPr id="146" name="Google Shape;146;p27"/>
          <p:cNvSpPr/>
          <p:nvPr/>
        </p:nvSpPr>
        <p:spPr>
          <a:xfrm>
            <a:off x="9895284" y="3886438"/>
            <a:ext cx="3941326"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1E3063"/>
              </a:buClr>
              <a:buSzPts val="1550"/>
              <a:buFont typeface="Instrument Sans"/>
              <a:buChar char="•"/>
            </a:pPr>
            <a:r>
              <a:rPr b="0" i="0" lang="en-US" sz="1550" u="none" cap="none" strike="noStrike">
                <a:solidFill>
                  <a:srgbClr val="1E3063"/>
                </a:solidFill>
                <a:latin typeface="Instrument Sans"/>
                <a:ea typeface="Instrument Sans"/>
                <a:cs typeface="Instrument Sans"/>
                <a:sym typeface="Instrument Sans"/>
              </a:rPr>
              <a:t>失敗からの学習と成長</a:t>
            </a:r>
            <a:endParaRPr b="0" i="0" sz="1550" u="none" cap="none" strike="noStrike"/>
          </a:p>
        </p:txBody>
      </p:sp>
      <p:pic>
        <p:nvPicPr>
          <p:cNvPr descr="preencoded.png" id="147" name="Google Shape;147;p27"/>
          <p:cNvPicPr preferRelativeResize="0"/>
          <p:nvPr/>
        </p:nvPicPr>
        <p:blipFill rotWithShape="1">
          <a:blip r:embed="rId5">
            <a:alphaModFix/>
          </a:blip>
          <a:srcRect b="0" l="0" r="0" t="0"/>
          <a:stretch/>
        </p:blipFill>
        <p:spPr>
          <a:xfrm>
            <a:off x="5032653" y="2070259"/>
            <a:ext cx="4564975" cy="4564975"/>
          </a:xfrm>
          <a:prstGeom prst="rect">
            <a:avLst/>
          </a:prstGeom>
          <a:noFill/>
          <a:ln>
            <a:noFill/>
          </a:ln>
        </p:spPr>
      </p:pic>
      <p:pic>
        <p:nvPicPr>
          <p:cNvPr descr="preencoded.png" id="148" name="Google Shape;148;p27"/>
          <p:cNvPicPr preferRelativeResize="0"/>
          <p:nvPr/>
        </p:nvPicPr>
        <p:blipFill rotWithShape="1">
          <a:blip r:embed="rId6">
            <a:alphaModFix/>
          </a:blip>
          <a:srcRect b="0" l="0" r="0" t="0"/>
          <a:stretch/>
        </p:blipFill>
        <p:spPr>
          <a:xfrm>
            <a:off x="8296335" y="3037344"/>
            <a:ext cx="296942" cy="371118"/>
          </a:xfrm>
          <a:prstGeom prst="rect">
            <a:avLst/>
          </a:prstGeom>
          <a:noFill/>
          <a:ln>
            <a:noFill/>
          </a:ln>
        </p:spPr>
      </p:pic>
      <p:sp>
        <p:nvSpPr>
          <p:cNvPr id="149" name="Google Shape;149;p27"/>
          <p:cNvSpPr/>
          <p:nvPr/>
        </p:nvSpPr>
        <p:spPr>
          <a:xfrm>
            <a:off x="9895284" y="4501634"/>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1E3063"/>
              </a:buClr>
              <a:buSzPts val="1950"/>
              <a:buFont typeface="Instrument Sans"/>
              <a:buNone/>
            </a:pPr>
            <a:r>
              <a:rPr b="0" i="0" lang="en-US" sz="1950" u="none" cap="none" strike="noStrike">
                <a:solidFill>
                  <a:srgbClr val="1E3063"/>
                </a:solidFill>
                <a:latin typeface="Instrument Sans"/>
                <a:ea typeface="Instrument Sans"/>
                <a:cs typeface="Instrument Sans"/>
                <a:sym typeface="Instrument Sans"/>
              </a:rPr>
              <a:t>周りを巻き込む力</a:t>
            </a:r>
            <a:endParaRPr b="0" i="0" sz="1950" u="none" cap="none" strike="noStrike"/>
          </a:p>
        </p:txBody>
      </p:sp>
      <p:sp>
        <p:nvSpPr>
          <p:cNvPr id="150" name="Google Shape;150;p27"/>
          <p:cNvSpPr/>
          <p:nvPr/>
        </p:nvSpPr>
        <p:spPr>
          <a:xfrm>
            <a:off x="9895284" y="4930854"/>
            <a:ext cx="3941326"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チームで成果を出すためのコミュニケーション能力</a:t>
            </a:r>
            <a:endParaRPr b="0" i="0" sz="1550" u="none" cap="none" strike="noStrike"/>
          </a:p>
        </p:txBody>
      </p:sp>
      <p:sp>
        <p:nvSpPr>
          <p:cNvPr id="151" name="Google Shape;151;p27"/>
          <p:cNvSpPr/>
          <p:nvPr/>
        </p:nvSpPr>
        <p:spPr>
          <a:xfrm>
            <a:off x="9895284" y="5684996"/>
            <a:ext cx="3941326"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1E3063"/>
              </a:buClr>
              <a:buSzPts val="1550"/>
              <a:buFont typeface="Instrument Sans"/>
              <a:buChar char="•"/>
            </a:pPr>
            <a:r>
              <a:rPr b="0" i="0" lang="en-US" sz="1550" u="none" cap="none" strike="noStrike">
                <a:solidFill>
                  <a:srgbClr val="1E3063"/>
                </a:solidFill>
                <a:latin typeface="Instrument Sans"/>
                <a:ea typeface="Instrument Sans"/>
                <a:cs typeface="Instrument Sans"/>
                <a:sym typeface="Instrument Sans"/>
              </a:rPr>
              <a:t>共同研究での調整力</a:t>
            </a:r>
            <a:endParaRPr b="0" i="0" sz="1550" u="none" cap="none" strike="noStrike"/>
          </a:p>
        </p:txBody>
      </p:sp>
      <p:sp>
        <p:nvSpPr>
          <p:cNvPr id="152" name="Google Shape;152;p27"/>
          <p:cNvSpPr/>
          <p:nvPr/>
        </p:nvSpPr>
        <p:spPr>
          <a:xfrm>
            <a:off x="9895284" y="6071949"/>
            <a:ext cx="3941326"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1E3063"/>
              </a:buClr>
              <a:buSzPts val="1550"/>
              <a:buFont typeface="Instrument Sans"/>
              <a:buChar char="•"/>
            </a:pPr>
            <a:r>
              <a:rPr b="0" i="0" lang="en-US" sz="1550" u="none" cap="none" strike="noStrike">
                <a:solidFill>
                  <a:srgbClr val="1E3063"/>
                </a:solidFill>
                <a:latin typeface="Instrument Sans"/>
                <a:ea typeface="Instrument Sans"/>
                <a:cs typeface="Instrument Sans"/>
                <a:sym typeface="Instrument Sans"/>
              </a:rPr>
              <a:t>専門外の人への説明力</a:t>
            </a:r>
            <a:endParaRPr b="0" i="0" sz="1550" u="none" cap="none" strike="noStrike"/>
          </a:p>
        </p:txBody>
      </p:sp>
      <p:sp>
        <p:nvSpPr>
          <p:cNvPr id="153" name="Google Shape;153;p27"/>
          <p:cNvSpPr/>
          <p:nvPr/>
        </p:nvSpPr>
        <p:spPr>
          <a:xfrm>
            <a:off x="9895284" y="6458903"/>
            <a:ext cx="3941326"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1E3063"/>
              </a:buClr>
              <a:buSzPts val="1550"/>
              <a:buFont typeface="Instrument Sans"/>
              <a:buChar char="•"/>
            </a:pPr>
            <a:r>
              <a:rPr b="0" i="0" lang="en-US" sz="1550" u="none" cap="none" strike="noStrike">
                <a:solidFill>
                  <a:srgbClr val="1E3063"/>
                </a:solidFill>
                <a:latin typeface="Instrument Sans"/>
                <a:ea typeface="Instrument Sans"/>
                <a:cs typeface="Instrument Sans"/>
                <a:sym typeface="Instrument Sans"/>
              </a:rPr>
              <a:t>異なる意見の調整</a:t>
            </a:r>
            <a:endParaRPr b="0" i="0" sz="1550" u="none" cap="none" strike="noStrike"/>
          </a:p>
        </p:txBody>
      </p:sp>
      <p:pic>
        <p:nvPicPr>
          <p:cNvPr descr="preencoded.png" id="154" name="Google Shape;154;p27"/>
          <p:cNvPicPr preferRelativeResize="0"/>
          <p:nvPr/>
        </p:nvPicPr>
        <p:blipFill rotWithShape="1">
          <a:blip r:embed="rId7">
            <a:alphaModFix/>
          </a:blip>
          <a:srcRect b="0" l="0" r="0" t="0"/>
          <a:stretch/>
        </p:blipFill>
        <p:spPr>
          <a:xfrm>
            <a:off x="5032653" y="2070259"/>
            <a:ext cx="4564975" cy="4564975"/>
          </a:xfrm>
          <a:prstGeom prst="rect">
            <a:avLst/>
          </a:prstGeom>
          <a:noFill/>
          <a:ln>
            <a:noFill/>
          </a:ln>
        </p:spPr>
      </p:pic>
      <p:pic>
        <p:nvPicPr>
          <p:cNvPr descr="preencoded.png" id="155" name="Google Shape;155;p27"/>
          <p:cNvPicPr preferRelativeResize="0"/>
          <p:nvPr/>
        </p:nvPicPr>
        <p:blipFill rotWithShape="1">
          <a:blip r:embed="rId8">
            <a:alphaModFix/>
          </a:blip>
          <a:srcRect b="0" l="0" r="0" t="0"/>
          <a:stretch/>
        </p:blipFill>
        <p:spPr>
          <a:xfrm>
            <a:off x="8296335" y="5296912"/>
            <a:ext cx="296942" cy="371118"/>
          </a:xfrm>
          <a:prstGeom prst="rect">
            <a:avLst/>
          </a:prstGeom>
          <a:noFill/>
          <a:ln>
            <a:noFill/>
          </a:ln>
        </p:spPr>
      </p:pic>
      <p:sp>
        <p:nvSpPr>
          <p:cNvPr id="156" name="Google Shape;156;p27"/>
          <p:cNvSpPr/>
          <p:nvPr/>
        </p:nvSpPr>
        <p:spPr>
          <a:xfrm>
            <a:off x="2254091" y="4660344"/>
            <a:ext cx="2480905" cy="310158"/>
          </a:xfrm>
          <a:prstGeom prst="rect">
            <a:avLst/>
          </a:prstGeom>
          <a:noFill/>
          <a:ln>
            <a:noFill/>
          </a:ln>
        </p:spPr>
        <p:txBody>
          <a:bodyPr anchorCtr="0" anchor="t" bIns="0" lIns="0" spcFirstLastPara="1" rIns="0" wrap="square" tIns="0">
            <a:noAutofit/>
          </a:bodyPr>
          <a:lstStyle/>
          <a:p>
            <a:pPr indent="0" lvl="0" marL="0" marR="0" rtl="0" algn="r">
              <a:lnSpc>
                <a:spcPct val="123076"/>
              </a:lnSpc>
              <a:spcBef>
                <a:spcPts val="0"/>
              </a:spcBef>
              <a:spcAft>
                <a:spcPts val="0"/>
              </a:spcAft>
              <a:buClr>
                <a:srgbClr val="1E3063"/>
              </a:buClr>
              <a:buSzPts val="1950"/>
              <a:buFont typeface="Instrument Sans"/>
              <a:buNone/>
            </a:pPr>
            <a:r>
              <a:rPr b="0" i="0" lang="en-US" sz="1950" u="none" cap="none" strike="noStrike">
                <a:solidFill>
                  <a:srgbClr val="1E3063"/>
                </a:solidFill>
                <a:latin typeface="Instrument Sans"/>
                <a:ea typeface="Instrument Sans"/>
                <a:cs typeface="Instrument Sans"/>
                <a:sym typeface="Instrument Sans"/>
              </a:rPr>
              <a:t>論理的説明能力</a:t>
            </a:r>
            <a:endParaRPr b="0" i="0" sz="1950" u="none" cap="none" strike="noStrike"/>
          </a:p>
        </p:txBody>
      </p:sp>
      <p:sp>
        <p:nvSpPr>
          <p:cNvPr id="157" name="Google Shape;157;p27"/>
          <p:cNvSpPr/>
          <p:nvPr/>
        </p:nvSpPr>
        <p:spPr>
          <a:xfrm>
            <a:off x="793790" y="5089565"/>
            <a:ext cx="3941207" cy="317540"/>
          </a:xfrm>
          <a:prstGeom prst="rect">
            <a:avLst/>
          </a:prstGeom>
          <a:noFill/>
          <a:ln>
            <a:noFill/>
          </a:ln>
        </p:spPr>
        <p:txBody>
          <a:bodyPr anchorCtr="0" anchor="t" bIns="0" lIns="0" spcFirstLastPara="1" rIns="0" wrap="square" tIns="0">
            <a:noAutofit/>
          </a:bodyPr>
          <a:lstStyle/>
          <a:p>
            <a:pPr indent="0" lvl="0" marL="0" marR="0" rtl="0" algn="r">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複雑な内容を分かりやすく伝える力</a:t>
            </a:r>
            <a:endParaRPr b="0" i="0" sz="1550" u="none" cap="none" strike="noStrike"/>
          </a:p>
        </p:txBody>
      </p:sp>
      <p:sp>
        <p:nvSpPr>
          <p:cNvPr id="158" name="Google Shape;158;p27"/>
          <p:cNvSpPr/>
          <p:nvPr/>
        </p:nvSpPr>
        <p:spPr>
          <a:xfrm>
            <a:off x="793790" y="5526167"/>
            <a:ext cx="3941207"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1E3063"/>
              </a:buClr>
              <a:buSzPts val="1550"/>
              <a:buFont typeface="Instrument Sans"/>
              <a:buChar char="•"/>
            </a:pPr>
            <a:r>
              <a:rPr b="0" i="0" lang="en-US" sz="1550" u="none" cap="none" strike="noStrike">
                <a:solidFill>
                  <a:srgbClr val="1E3063"/>
                </a:solidFill>
                <a:latin typeface="Instrument Sans"/>
                <a:ea typeface="Instrument Sans"/>
                <a:cs typeface="Instrument Sans"/>
                <a:sym typeface="Instrument Sans"/>
              </a:rPr>
              <a:t>構造化された情報提示</a:t>
            </a:r>
            <a:endParaRPr b="0" i="0" sz="1550" u="none" cap="none" strike="noStrike"/>
          </a:p>
        </p:txBody>
      </p:sp>
      <p:sp>
        <p:nvSpPr>
          <p:cNvPr id="159" name="Google Shape;159;p27"/>
          <p:cNvSpPr/>
          <p:nvPr/>
        </p:nvSpPr>
        <p:spPr>
          <a:xfrm>
            <a:off x="793790" y="5913120"/>
            <a:ext cx="3941207"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1E3063"/>
              </a:buClr>
              <a:buSzPts val="1550"/>
              <a:buFont typeface="Instrument Sans"/>
              <a:buChar char="•"/>
            </a:pPr>
            <a:r>
              <a:rPr b="0" i="0" lang="en-US" sz="1550" u="none" cap="none" strike="noStrike">
                <a:solidFill>
                  <a:srgbClr val="1E3063"/>
                </a:solidFill>
                <a:latin typeface="Instrument Sans"/>
                <a:ea typeface="Instrument Sans"/>
                <a:cs typeface="Instrument Sans"/>
                <a:sym typeface="Instrument Sans"/>
              </a:rPr>
              <a:t>エビデンスに基づく説得</a:t>
            </a:r>
            <a:endParaRPr b="0" i="0" sz="1550" u="none" cap="none" strike="noStrike"/>
          </a:p>
        </p:txBody>
      </p:sp>
      <p:sp>
        <p:nvSpPr>
          <p:cNvPr id="160" name="Google Shape;160;p27"/>
          <p:cNvSpPr/>
          <p:nvPr/>
        </p:nvSpPr>
        <p:spPr>
          <a:xfrm>
            <a:off x="793790" y="6300073"/>
            <a:ext cx="3941207"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1E3063"/>
              </a:buClr>
              <a:buSzPts val="1550"/>
              <a:buFont typeface="Instrument Sans"/>
              <a:buChar char="•"/>
            </a:pPr>
            <a:r>
              <a:rPr b="0" i="0" lang="en-US" sz="1550" u="none" cap="none" strike="noStrike">
                <a:solidFill>
                  <a:srgbClr val="1E3063"/>
                </a:solidFill>
                <a:latin typeface="Instrument Sans"/>
                <a:ea typeface="Instrument Sans"/>
                <a:cs typeface="Instrument Sans"/>
                <a:sym typeface="Instrument Sans"/>
              </a:rPr>
              <a:t>相手に合わせた表現</a:t>
            </a:r>
            <a:endParaRPr b="0" i="0" sz="1550" u="none" cap="none" strike="noStrike"/>
          </a:p>
        </p:txBody>
      </p:sp>
      <p:pic>
        <p:nvPicPr>
          <p:cNvPr descr="preencoded.png" id="161" name="Google Shape;161;p27"/>
          <p:cNvPicPr preferRelativeResize="0"/>
          <p:nvPr/>
        </p:nvPicPr>
        <p:blipFill rotWithShape="1">
          <a:blip r:embed="rId9">
            <a:alphaModFix/>
          </a:blip>
          <a:srcRect b="0" l="0" r="0" t="0"/>
          <a:stretch/>
        </p:blipFill>
        <p:spPr>
          <a:xfrm>
            <a:off x="5032653" y="2070259"/>
            <a:ext cx="4564975" cy="4564975"/>
          </a:xfrm>
          <a:prstGeom prst="rect">
            <a:avLst/>
          </a:prstGeom>
          <a:noFill/>
          <a:ln>
            <a:noFill/>
          </a:ln>
        </p:spPr>
      </p:pic>
      <p:pic>
        <p:nvPicPr>
          <p:cNvPr descr="preencoded.png" id="162" name="Google Shape;162;p27"/>
          <p:cNvPicPr preferRelativeResize="0"/>
          <p:nvPr/>
        </p:nvPicPr>
        <p:blipFill rotWithShape="1">
          <a:blip r:embed="rId10">
            <a:alphaModFix/>
          </a:blip>
          <a:srcRect b="0" l="0" r="0" t="0"/>
          <a:stretch/>
        </p:blipFill>
        <p:spPr>
          <a:xfrm>
            <a:off x="6036766" y="5296912"/>
            <a:ext cx="296942" cy="371118"/>
          </a:xfrm>
          <a:prstGeom prst="rect">
            <a:avLst/>
          </a:prstGeom>
          <a:noFill/>
          <a:ln>
            <a:noFill/>
          </a:ln>
        </p:spPr>
      </p:pic>
      <p:sp>
        <p:nvSpPr>
          <p:cNvPr id="163" name="Google Shape;163;p27"/>
          <p:cNvSpPr/>
          <p:nvPr/>
        </p:nvSpPr>
        <p:spPr>
          <a:xfrm>
            <a:off x="793790" y="6999684"/>
            <a:ext cx="13042821" cy="31754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これらの能力は、研究活動を通じて磨かれるものであり、ビジネスの場でも高く評価されます。大学院生の強みを活かせるポイントです。</a:t>
            </a:r>
            <a:endParaRPr b="0" i="0" sz="15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descr="preencoded.png" id="169" name="Google Shape;169;p28"/>
          <p:cNvPicPr preferRelativeResize="0"/>
          <p:nvPr/>
        </p:nvPicPr>
        <p:blipFill rotWithShape="1">
          <a:blip r:embed="rId3">
            <a:alphaModFix/>
          </a:blip>
          <a:srcRect b="0" l="0" r="0" t="0"/>
          <a:stretch/>
        </p:blipFill>
        <p:spPr>
          <a:xfrm>
            <a:off x="8869680" y="0"/>
            <a:ext cx="5760720" cy="8231743"/>
          </a:xfrm>
          <a:prstGeom prst="rect">
            <a:avLst/>
          </a:prstGeom>
          <a:noFill/>
          <a:ln>
            <a:noFill/>
          </a:ln>
        </p:spPr>
      </p:pic>
      <p:sp>
        <p:nvSpPr>
          <p:cNvPr id="170" name="Google Shape;170;p28"/>
          <p:cNvSpPr/>
          <p:nvPr/>
        </p:nvSpPr>
        <p:spPr>
          <a:xfrm>
            <a:off x="666274" y="458033"/>
            <a:ext cx="7811453" cy="1041083"/>
          </a:xfrm>
          <a:prstGeom prst="rect">
            <a:avLst/>
          </a:prstGeom>
          <a:noFill/>
          <a:ln>
            <a:noFill/>
          </a:ln>
        </p:spPr>
        <p:txBody>
          <a:bodyPr anchorCtr="0" anchor="t" bIns="0" lIns="0" spcFirstLastPara="1" rIns="0" wrap="square" tIns="0">
            <a:noAutofit/>
          </a:bodyPr>
          <a:lstStyle/>
          <a:p>
            <a:pPr indent="0" lvl="0" marL="0" marR="0" rtl="0" algn="l">
              <a:lnSpc>
                <a:spcPct val="124615"/>
              </a:lnSpc>
              <a:spcBef>
                <a:spcPts val="0"/>
              </a:spcBef>
              <a:spcAft>
                <a:spcPts val="0"/>
              </a:spcAft>
              <a:buClr>
                <a:srgbClr val="091C53"/>
              </a:buClr>
              <a:buSzPts val="3250"/>
              <a:buFont typeface="Instrument Sans"/>
              <a:buNone/>
            </a:pPr>
            <a:r>
              <a:rPr b="0" i="0" lang="en-US" sz="3250" u="none" cap="none" strike="noStrike">
                <a:solidFill>
                  <a:srgbClr val="091C53"/>
                </a:solidFill>
                <a:latin typeface="Instrument Sans"/>
                <a:ea typeface="Instrument Sans"/>
                <a:cs typeface="Instrument Sans"/>
                <a:sym typeface="Instrument Sans"/>
              </a:rPr>
              <a:t>誰でも論理的に書ける！最強のフレームワーク「STARメソッド」</a:t>
            </a:r>
            <a:endParaRPr b="0" i="0" sz="3250" u="none" cap="none" strike="noStrike"/>
          </a:p>
        </p:txBody>
      </p:sp>
      <p:pic>
        <p:nvPicPr>
          <p:cNvPr descr="preencoded.png" id="171" name="Google Shape;171;p28"/>
          <p:cNvPicPr preferRelativeResize="0"/>
          <p:nvPr/>
        </p:nvPicPr>
        <p:blipFill rotWithShape="1">
          <a:blip r:embed="rId4">
            <a:alphaModFix/>
          </a:blip>
          <a:srcRect b="0" l="0" r="0" t="0"/>
          <a:stretch/>
        </p:blipFill>
        <p:spPr>
          <a:xfrm>
            <a:off x="666274" y="1748909"/>
            <a:ext cx="832842" cy="1326118"/>
          </a:xfrm>
          <a:prstGeom prst="rect">
            <a:avLst/>
          </a:prstGeom>
          <a:noFill/>
          <a:ln>
            <a:noFill/>
          </a:ln>
        </p:spPr>
      </p:pic>
      <p:sp>
        <p:nvSpPr>
          <p:cNvPr id="172" name="Google Shape;172;p28"/>
          <p:cNvSpPr/>
          <p:nvPr/>
        </p:nvSpPr>
        <p:spPr>
          <a:xfrm>
            <a:off x="1665684" y="1915478"/>
            <a:ext cx="2082284" cy="26027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E3063"/>
              </a:buClr>
              <a:buSzPts val="1600"/>
              <a:buFont typeface="Instrument Sans"/>
              <a:buNone/>
            </a:pPr>
            <a:r>
              <a:rPr b="0" i="0" lang="en-US" sz="1600" u="none" cap="none" strike="noStrike">
                <a:solidFill>
                  <a:srgbClr val="1E3063"/>
                </a:solidFill>
                <a:latin typeface="Instrument Sans"/>
                <a:ea typeface="Instrument Sans"/>
                <a:cs typeface="Instrument Sans"/>
                <a:sym typeface="Instrument Sans"/>
              </a:rPr>
              <a:t>Situation (状況)</a:t>
            </a:r>
            <a:endParaRPr b="0" i="0" sz="1600" u="none" cap="none" strike="noStrike"/>
          </a:p>
        </p:txBody>
      </p:sp>
      <p:sp>
        <p:nvSpPr>
          <p:cNvPr id="173" name="Google Shape;173;p28"/>
          <p:cNvSpPr/>
          <p:nvPr/>
        </p:nvSpPr>
        <p:spPr>
          <a:xfrm>
            <a:off x="1665684" y="2275642"/>
            <a:ext cx="6812042" cy="266462"/>
          </a:xfrm>
          <a:prstGeom prst="rect">
            <a:avLst/>
          </a:prstGeom>
          <a:noFill/>
          <a:ln>
            <a:noFill/>
          </a:ln>
        </p:spPr>
        <p:txBody>
          <a:bodyPr anchorCtr="0" anchor="t" bIns="0" lIns="0" spcFirstLastPara="1" rIns="0" wrap="square" tIns="0">
            <a:noAutofit/>
          </a:bodyPr>
          <a:lstStyle/>
          <a:p>
            <a:pPr indent="0" lvl="0" marL="0" marR="0" rtl="0" algn="l">
              <a:lnSpc>
                <a:spcPct val="157692"/>
              </a:lnSpc>
              <a:spcBef>
                <a:spcPts val="0"/>
              </a:spcBef>
              <a:spcAft>
                <a:spcPts val="0"/>
              </a:spcAft>
              <a:buClr>
                <a:srgbClr val="1E3063"/>
              </a:buClr>
              <a:buSzPts val="1300"/>
              <a:buFont typeface="Instrument Sans"/>
              <a:buNone/>
            </a:pPr>
            <a:r>
              <a:rPr b="0" i="0" lang="en-US" sz="1300" u="none" cap="none" strike="noStrike">
                <a:solidFill>
                  <a:srgbClr val="1E3063"/>
                </a:solidFill>
                <a:latin typeface="Instrument Sans"/>
                <a:ea typeface="Instrument Sans"/>
                <a:cs typeface="Instrument Sans"/>
                <a:sym typeface="Instrument Sans"/>
              </a:rPr>
              <a:t>いつ、どこで、どのような状況だったのか。背景を簡潔に説明します。</a:t>
            </a:r>
            <a:endParaRPr b="0" i="0" sz="1300" u="none" cap="none" strike="noStrike"/>
          </a:p>
        </p:txBody>
      </p:sp>
      <p:sp>
        <p:nvSpPr>
          <p:cNvPr id="174" name="Google Shape;174;p28"/>
          <p:cNvSpPr/>
          <p:nvPr/>
        </p:nvSpPr>
        <p:spPr>
          <a:xfrm>
            <a:off x="1665684" y="2641997"/>
            <a:ext cx="6812042" cy="266462"/>
          </a:xfrm>
          <a:prstGeom prst="rect">
            <a:avLst/>
          </a:prstGeom>
          <a:noFill/>
          <a:ln>
            <a:noFill/>
          </a:ln>
        </p:spPr>
        <p:txBody>
          <a:bodyPr anchorCtr="0" anchor="t" bIns="0" lIns="0" spcFirstLastPara="1" rIns="0" wrap="square" tIns="0">
            <a:noAutofit/>
          </a:bodyPr>
          <a:lstStyle/>
          <a:p>
            <a:pPr indent="0" lvl="0" marL="0" marR="0" rtl="0" algn="l">
              <a:lnSpc>
                <a:spcPct val="157692"/>
              </a:lnSpc>
              <a:spcBef>
                <a:spcPts val="0"/>
              </a:spcBef>
              <a:spcAft>
                <a:spcPts val="0"/>
              </a:spcAft>
              <a:buClr>
                <a:srgbClr val="1E3063"/>
              </a:buClr>
              <a:buSzPts val="1300"/>
              <a:buFont typeface="Instrument Sans"/>
              <a:buNone/>
            </a:pPr>
            <a:r>
              <a:rPr b="0" i="0" lang="en-US" sz="1300" u="none" cap="none" strike="noStrike">
                <a:solidFill>
                  <a:srgbClr val="1E3063"/>
                </a:solidFill>
                <a:latin typeface="Instrument Sans"/>
                <a:ea typeface="Instrument Sans"/>
                <a:cs typeface="Instrument Sans"/>
                <a:sym typeface="Instrument Sans"/>
              </a:rPr>
              <a:t>例：「修士1年次に取り組んだ○○に関する研究プロジェクトで...」</a:t>
            </a:r>
            <a:endParaRPr b="0" i="0" sz="1300" u="none" cap="none" strike="noStrike"/>
          </a:p>
        </p:txBody>
      </p:sp>
      <p:pic>
        <p:nvPicPr>
          <p:cNvPr descr="preencoded.png" id="175" name="Google Shape;175;p28"/>
          <p:cNvPicPr preferRelativeResize="0"/>
          <p:nvPr/>
        </p:nvPicPr>
        <p:blipFill rotWithShape="1">
          <a:blip r:embed="rId5">
            <a:alphaModFix/>
          </a:blip>
          <a:srcRect b="0" l="0" r="0" t="0"/>
          <a:stretch/>
        </p:blipFill>
        <p:spPr>
          <a:xfrm>
            <a:off x="666274" y="3075027"/>
            <a:ext cx="832842" cy="1326118"/>
          </a:xfrm>
          <a:prstGeom prst="rect">
            <a:avLst/>
          </a:prstGeom>
          <a:noFill/>
          <a:ln>
            <a:noFill/>
          </a:ln>
        </p:spPr>
      </p:pic>
      <p:sp>
        <p:nvSpPr>
          <p:cNvPr id="176" name="Google Shape;176;p28"/>
          <p:cNvSpPr/>
          <p:nvPr/>
        </p:nvSpPr>
        <p:spPr>
          <a:xfrm>
            <a:off x="1665684" y="3241596"/>
            <a:ext cx="2082284" cy="26027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E3063"/>
              </a:buClr>
              <a:buSzPts val="1600"/>
              <a:buFont typeface="Instrument Sans"/>
              <a:buNone/>
            </a:pPr>
            <a:r>
              <a:rPr b="0" i="0" lang="en-US" sz="1600" u="none" cap="none" strike="noStrike">
                <a:solidFill>
                  <a:srgbClr val="1E3063"/>
                </a:solidFill>
                <a:latin typeface="Instrument Sans"/>
                <a:ea typeface="Instrument Sans"/>
                <a:cs typeface="Instrument Sans"/>
                <a:sym typeface="Instrument Sans"/>
              </a:rPr>
              <a:t>Task (課題/目標)</a:t>
            </a:r>
            <a:endParaRPr b="0" i="0" sz="1600" u="none" cap="none" strike="noStrike"/>
          </a:p>
        </p:txBody>
      </p:sp>
      <p:sp>
        <p:nvSpPr>
          <p:cNvPr id="177" name="Google Shape;177;p28"/>
          <p:cNvSpPr/>
          <p:nvPr/>
        </p:nvSpPr>
        <p:spPr>
          <a:xfrm>
            <a:off x="1665684" y="3601760"/>
            <a:ext cx="6812042" cy="266462"/>
          </a:xfrm>
          <a:prstGeom prst="rect">
            <a:avLst/>
          </a:prstGeom>
          <a:noFill/>
          <a:ln>
            <a:noFill/>
          </a:ln>
        </p:spPr>
        <p:txBody>
          <a:bodyPr anchorCtr="0" anchor="t" bIns="0" lIns="0" spcFirstLastPara="1" rIns="0" wrap="square" tIns="0">
            <a:noAutofit/>
          </a:bodyPr>
          <a:lstStyle/>
          <a:p>
            <a:pPr indent="0" lvl="0" marL="0" marR="0" rtl="0" algn="l">
              <a:lnSpc>
                <a:spcPct val="157692"/>
              </a:lnSpc>
              <a:spcBef>
                <a:spcPts val="0"/>
              </a:spcBef>
              <a:spcAft>
                <a:spcPts val="0"/>
              </a:spcAft>
              <a:buClr>
                <a:srgbClr val="1E3063"/>
              </a:buClr>
              <a:buSzPts val="1300"/>
              <a:buFont typeface="Instrument Sans"/>
              <a:buNone/>
            </a:pPr>
            <a:r>
              <a:rPr b="0" i="0" lang="en-US" sz="1300" u="none" cap="none" strike="noStrike">
                <a:solidFill>
                  <a:srgbClr val="1E3063"/>
                </a:solidFill>
                <a:latin typeface="Instrument Sans"/>
                <a:ea typeface="Instrument Sans"/>
                <a:cs typeface="Instrument Sans"/>
                <a:sym typeface="Instrument Sans"/>
              </a:rPr>
              <a:t>あなたが達成すべき課題や目標は何だったのか。</a:t>
            </a:r>
            <a:endParaRPr b="0" i="0" sz="1300" u="none" cap="none" strike="noStrike"/>
          </a:p>
        </p:txBody>
      </p:sp>
      <p:sp>
        <p:nvSpPr>
          <p:cNvPr id="178" name="Google Shape;178;p28"/>
          <p:cNvSpPr/>
          <p:nvPr/>
        </p:nvSpPr>
        <p:spPr>
          <a:xfrm>
            <a:off x="1665684" y="3968115"/>
            <a:ext cx="6812042" cy="266462"/>
          </a:xfrm>
          <a:prstGeom prst="rect">
            <a:avLst/>
          </a:prstGeom>
          <a:noFill/>
          <a:ln>
            <a:noFill/>
          </a:ln>
        </p:spPr>
        <p:txBody>
          <a:bodyPr anchorCtr="0" anchor="t" bIns="0" lIns="0" spcFirstLastPara="1" rIns="0" wrap="square" tIns="0">
            <a:noAutofit/>
          </a:bodyPr>
          <a:lstStyle/>
          <a:p>
            <a:pPr indent="0" lvl="0" marL="0" marR="0" rtl="0" algn="l">
              <a:lnSpc>
                <a:spcPct val="157692"/>
              </a:lnSpc>
              <a:spcBef>
                <a:spcPts val="0"/>
              </a:spcBef>
              <a:spcAft>
                <a:spcPts val="0"/>
              </a:spcAft>
              <a:buClr>
                <a:srgbClr val="1E3063"/>
              </a:buClr>
              <a:buSzPts val="1300"/>
              <a:buFont typeface="Instrument Sans"/>
              <a:buNone/>
            </a:pPr>
            <a:r>
              <a:rPr b="0" i="0" lang="en-US" sz="1300" u="none" cap="none" strike="noStrike">
                <a:solidFill>
                  <a:srgbClr val="1E3063"/>
                </a:solidFill>
                <a:latin typeface="Instrument Sans"/>
                <a:ea typeface="Instrument Sans"/>
                <a:cs typeface="Instrument Sans"/>
                <a:sym typeface="Instrument Sans"/>
              </a:rPr>
              <a:t>例：「従来の手法では△△という問題があり、□□という新しいアプローチが必要だった」</a:t>
            </a:r>
            <a:endParaRPr b="0" i="0" sz="1300" u="none" cap="none" strike="noStrike"/>
          </a:p>
        </p:txBody>
      </p:sp>
      <p:pic>
        <p:nvPicPr>
          <p:cNvPr descr="preencoded.png" id="179" name="Google Shape;179;p28"/>
          <p:cNvPicPr preferRelativeResize="0"/>
          <p:nvPr/>
        </p:nvPicPr>
        <p:blipFill rotWithShape="1">
          <a:blip r:embed="rId6">
            <a:alphaModFix/>
          </a:blip>
          <a:srcRect b="0" l="0" r="0" t="0"/>
          <a:stretch/>
        </p:blipFill>
        <p:spPr>
          <a:xfrm>
            <a:off x="666274" y="4401145"/>
            <a:ext cx="832842" cy="1326118"/>
          </a:xfrm>
          <a:prstGeom prst="rect">
            <a:avLst/>
          </a:prstGeom>
          <a:noFill/>
          <a:ln>
            <a:noFill/>
          </a:ln>
        </p:spPr>
      </p:pic>
      <p:sp>
        <p:nvSpPr>
          <p:cNvPr id="180" name="Google Shape;180;p28"/>
          <p:cNvSpPr/>
          <p:nvPr/>
        </p:nvSpPr>
        <p:spPr>
          <a:xfrm>
            <a:off x="1665684" y="4567714"/>
            <a:ext cx="2082284" cy="26027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E3063"/>
              </a:buClr>
              <a:buSzPts val="1600"/>
              <a:buFont typeface="Instrument Sans"/>
              <a:buNone/>
            </a:pPr>
            <a:r>
              <a:rPr b="0" i="0" lang="en-US" sz="1600" u="none" cap="none" strike="noStrike">
                <a:solidFill>
                  <a:srgbClr val="1E3063"/>
                </a:solidFill>
                <a:latin typeface="Instrument Sans"/>
                <a:ea typeface="Instrument Sans"/>
                <a:cs typeface="Instrument Sans"/>
                <a:sym typeface="Instrument Sans"/>
              </a:rPr>
              <a:t>Action (行動)</a:t>
            </a:r>
            <a:endParaRPr b="0" i="0" sz="1600" u="none" cap="none" strike="noStrike"/>
          </a:p>
        </p:txBody>
      </p:sp>
      <p:sp>
        <p:nvSpPr>
          <p:cNvPr id="181" name="Google Shape;181;p28"/>
          <p:cNvSpPr/>
          <p:nvPr/>
        </p:nvSpPr>
        <p:spPr>
          <a:xfrm>
            <a:off x="1665684" y="4927878"/>
            <a:ext cx="6812042" cy="266462"/>
          </a:xfrm>
          <a:prstGeom prst="rect">
            <a:avLst/>
          </a:prstGeom>
          <a:noFill/>
          <a:ln>
            <a:noFill/>
          </a:ln>
        </p:spPr>
        <p:txBody>
          <a:bodyPr anchorCtr="0" anchor="t" bIns="0" lIns="0" spcFirstLastPara="1" rIns="0" wrap="square" tIns="0">
            <a:noAutofit/>
          </a:bodyPr>
          <a:lstStyle/>
          <a:p>
            <a:pPr indent="0" lvl="0" marL="0" marR="0" rtl="0" algn="l">
              <a:lnSpc>
                <a:spcPct val="157692"/>
              </a:lnSpc>
              <a:spcBef>
                <a:spcPts val="0"/>
              </a:spcBef>
              <a:spcAft>
                <a:spcPts val="0"/>
              </a:spcAft>
              <a:buClr>
                <a:srgbClr val="1E3063"/>
              </a:buClr>
              <a:buSzPts val="1300"/>
              <a:buFont typeface="Instrument Sans"/>
              <a:buNone/>
            </a:pPr>
            <a:r>
              <a:rPr b="0" i="0" lang="en-US" sz="1300" u="none" cap="none" strike="noStrike">
                <a:solidFill>
                  <a:srgbClr val="1E3063"/>
                </a:solidFill>
                <a:latin typeface="Instrument Sans"/>
                <a:ea typeface="Instrument Sans"/>
                <a:cs typeface="Instrument Sans"/>
                <a:sym typeface="Instrument Sans"/>
              </a:rPr>
              <a:t>課題解決のためにあなたが取った具体的な行動。</a:t>
            </a:r>
            <a:endParaRPr b="0" i="0" sz="1300" u="none" cap="none" strike="noStrike"/>
          </a:p>
        </p:txBody>
      </p:sp>
      <p:sp>
        <p:nvSpPr>
          <p:cNvPr id="182" name="Google Shape;182;p28"/>
          <p:cNvSpPr/>
          <p:nvPr/>
        </p:nvSpPr>
        <p:spPr>
          <a:xfrm>
            <a:off x="1665684" y="5294233"/>
            <a:ext cx="6812042" cy="266462"/>
          </a:xfrm>
          <a:prstGeom prst="rect">
            <a:avLst/>
          </a:prstGeom>
          <a:noFill/>
          <a:ln>
            <a:noFill/>
          </a:ln>
        </p:spPr>
        <p:txBody>
          <a:bodyPr anchorCtr="0" anchor="t" bIns="0" lIns="0" spcFirstLastPara="1" rIns="0" wrap="square" tIns="0">
            <a:noAutofit/>
          </a:bodyPr>
          <a:lstStyle/>
          <a:p>
            <a:pPr indent="0" lvl="0" marL="0" marR="0" rtl="0" algn="l">
              <a:lnSpc>
                <a:spcPct val="157692"/>
              </a:lnSpc>
              <a:spcBef>
                <a:spcPts val="0"/>
              </a:spcBef>
              <a:spcAft>
                <a:spcPts val="0"/>
              </a:spcAft>
              <a:buClr>
                <a:srgbClr val="1E3063"/>
              </a:buClr>
              <a:buSzPts val="1300"/>
              <a:buFont typeface="Instrument Sans"/>
              <a:buNone/>
            </a:pPr>
            <a:r>
              <a:rPr b="0" i="0" lang="en-US" sz="1300" u="none" cap="none" strike="noStrike">
                <a:solidFill>
                  <a:srgbClr val="1E3063"/>
                </a:solidFill>
                <a:latin typeface="Instrument Sans"/>
                <a:ea typeface="Instrument Sans"/>
                <a:cs typeface="Instrument Sans"/>
                <a:sym typeface="Instrument Sans"/>
              </a:rPr>
              <a:t>例：「まず◇◇の文献調査を行い、次に■■という仮説を立てて...」</a:t>
            </a:r>
            <a:endParaRPr b="0" i="0" sz="1300" u="none" cap="none" strike="noStrike"/>
          </a:p>
        </p:txBody>
      </p:sp>
      <p:pic>
        <p:nvPicPr>
          <p:cNvPr descr="preencoded.png" id="183" name="Google Shape;183;p28"/>
          <p:cNvPicPr preferRelativeResize="0"/>
          <p:nvPr/>
        </p:nvPicPr>
        <p:blipFill rotWithShape="1">
          <a:blip r:embed="rId7">
            <a:alphaModFix/>
          </a:blip>
          <a:srcRect b="0" l="0" r="0" t="0"/>
          <a:stretch/>
        </p:blipFill>
        <p:spPr>
          <a:xfrm>
            <a:off x="666274" y="5727263"/>
            <a:ext cx="832842" cy="1326118"/>
          </a:xfrm>
          <a:prstGeom prst="rect">
            <a:avLst/>
          </a:prstGeom>
          <a:noFill/>
          <a:ln>
            <a:noFill/>
          </a:ln>
        </p:spPr>
      </p:pic>
      <p:sp>
        <p:nvSpPr>
          <p:cNvPr id="184" name="Google Shape;184;p28"/>
          <p:cNvSpPr/>
          <p:nvPr/>
        </p:nvSpPr>
        <p:spPr>
          <a:xfrm>
            <a:off x="1665684" y="5893832"/>
            <a:ext cx="2082284" cy="26027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E3063"/>
              </a:buClr>
              <a:buSzPts val="1600"/>
              <a:buFont typeface="Instrument Sans"/>
              <a:buNone/>
            </a:pPr>
            <a:r>
              <a:rPr b="0" i="0" lang="en-US" sz="1600" u="none" cap="none" strike="noStrike">
                <a:solidFill>
                  <a:srgbClr val="1E3063"/>
                </a:solidFill>
                <a:latin typeface="Instrument Sans"/>
                <a:ea typeface="Instrument Sans"/>
                <a:cs typeface="Instrument Sans"/>
                <a:sym typeface="Instrument Sans"/>
              </a:rPr>
              <a:t>Result (結果/学び)</a:t>
            </a:r>
            <a:endParaRPr b="0" i="0" sz="1600" u="none" cap="none" strike="noStrike"/>
          </a:p>
        </p:txBody>
      </p:sp>
      <p:sp>
        <p:nvSpPr>
          <p:cNvPr id="185" name="Google Shape;185;p28"/>
          <p:cNvSpPr/>
          <p:nvPr/>
        </p:nvSpPr>
        <p:spPr>
          <a:xfrm>
            <a:off x="1665684" y="6253996"/>
            <a:ext cx="6812042" cy="266462"/>
          </a:xfrm>
          <a:prstGeom prst="rect">
            <a:avLst/>
          </a:prstGeom>
          <a:noFill/>
          <a:ln>
            <a:noFill/>
          </a:ln>
        </p:spPr>
        <p:txBody>
          <a:bodyPr anchorCtr="0" anchor="t" bIns="0" lIns="0" spcFirstLastPara="1" rIns="0" wrap="square" tIns="0">
            <a:noAutofit/>
          </a:bodyPr>
          <a:lstStyle/>
          <a:p>
            <a:pPr indent="0" lvl="0" marL="0" marR="0" rtl="0" algn="l">
              <a:lnSpc>
                <a:spcPct val="157692"/>
              </a:lnSpc>
              <a:spcBef>
                <a:spcPts val="0"/>
              </a:spcBef>
              <a:spcAft>
                <a:spcPts val="0"/>
              </a:spcAft>
              <a:buClr>
                <a:srgbClr val="1E3063"/>
              </a:buClr>
              <a:buSzPts val="1300"/>
              <a:buFont typeface="Instrument Sans"/>
              <a:buNone/>
            </a:pPr>
            <a:r>
              <a:rPr b="0" i="0" lang="en-US" sz="1300" u="none" cap="none" strike="noStrike">
                <a:solidFill>
                  <a:srgbClr val="1E3063"/>
                </a:solidFill>
                <a:latin typeface="Instrument Sans"/>
                <a:ea typeface="Instrument Sans"/>
                <a:cs typeface="Instrument Sans"/>
                <a:sym typeface="Instrument Sans"/>
              </a:rPr>
              <a:t>行動の結果と、そこから得た学びや成長。</a:t>
            </a:r>
            <a:endParaRPr b="0" i="0" sz="1300" u="none" cap="none" strike="noStrike"/>
          </a:p>
        </p:txBody>
      </p:sp>
      <p:sp>
        <p:nvSpPr>
          <p:cNvPr id="186" name="Google Shape;186;p28"/>
          <p:cNvSpPr/>
          <p:nvPr/>
        </p:nvSpPr>
        <p:spPr>
          <a:xfrm>
            <a:off x="1665684" y="6620351"/>
            <a:ext cx="6812042" cy="266462"/>
          </a:xfrm>
          <a:prstGeom prst="rect">
            <a:avLst/>
          </a:prstGeom>
          <a:noFill/>
          <a:ln>
            <a:noFill/>
          </a:ln>
        </p:spPr>
        <p:txBody>
          <a:bodyPr anchorCtr="0" anchor="t" bIns="0" lIns="0" spcFirstLastPara="1" rIns="0" wrap="square" tIns="0">
            <a:noAutofit/>
          </a:bodyPr>
          <a:lstStyle/>
          <a:p>
            <a:pPr indent="0" lvl="0" marL="0" marR="0" rtl="0" algn="l">
              <a:lnSpc>
                <a:spcPct val="157692"/>
              </a:lnSpc>
              <a:spcBef>
                <a:spcPts val="0"/>
              </a:spcBef>
              <a:spcAft>
                <a:spcPts val="0"/>
              </a:spcAft>
              <a:buClr>
                <a:srgbClr val="1E3063"/>
              </a:buClr>
              <a:buSzPts val="1300"/>
              <a:buFont typeface="Instrument Sans"/>
              <a:buNone/>
            </a:pPr>
            <a:r>
              <a:rPr b="0" i="0" lang="en-US" sz="1300" u="none" cap="none" strike="noStrike">
                <a:solidFill>
                  <a:srgbClr val="1E3063"/>
                </a:solidFill>
                <a:latin typeface="Instrument Sans"/>
                <a:ea typeface="Instrument Sans"/>
                <a:cs typeface="Instrument Sans"/>
                <a:sym typeface="Instrument Sans"/>
              </a:rPr>
              <a:t>例：「結果として▽▽という成果が得られ、私は××という能力を身につけた」</a:t>
            </a:r>
            <a:endParaRPr b="0" i="0" sz="1300" u="none" cap="none" strike="noStrike"/>
          </a:p>
        </p:txBody>
      </p:sp>
      <p:sp>
        <p:nvSpPr>
          <p:cNvPr id="187" name="Google Shape;187;p28"/>
          <p:cNvSpPr/>
          <p:nvPr/>
        </p:nvSpPr>
        <p:spPr>
          <a:xfrm>
            <a:off x="666274" y="7240786"/>
            <a:ext cx="7811453" cy="532924"/>
          </a:xfrm>
          <a:prstGeom prst="rect">
            <a:avLst/>
          </a:prstGeom>
          <a:noFill/>
          <a:ln>
            <a:noFill/>
          </a:ln>
        </p:spPr>
        <p:txBody>
          <a:bodyPr anchorCtr="0" anchor="t" bIns="0" lIns="0" spcFirstLastPara="1" rIns="0" wrap="square" tIns="0">
            <a:noAutofit/>
          </a:bodyPr>
          <a:lstStyle/>
          <a:p>
            <a:pPr indent="0" lvl="0" marL="0" marR="0" rtl="0" algn="l">
              <a:lnSpc>
                <a:spcPct val="157692"/>
              </a:lnSpc>
              <a:spcBef>
                <a:spcPts val="0"/>
              </a:spcBef>
              <a:spcAft>
                <a:spcPts val="0"/>
              </a:spcAft>
              <a:buClr>
                <a:srgbClr val="1E3063"/>
              </a:buClr>
              <a:buSzPts val="1300"/>
              <a:buFont typeface="Instrument Sans"/>
              <a:buNone/>
            </a:pPr>
            <a:r>
              <a:rPr b="0" i="0" lang="en-US" sz="1300" u="none" cap="none" strike="noStrike">
                <a:solidFill>
                  <a:srgbClr val="1E3063"/>
                </a:solidFill>
                <a:latin typeface="Instrument Sans"/>
                <a:ea typeface="Instrument Sans"/>
                <a:cs typeface="Instrument Sans"/>
                <a:sym typeface="Instrument Sans"/>
              </a:rPr>
              <a:t>このSTARメソッドは、経験を構造化して伝えるための強力なツールです。ガクチカ作成の基本となるだけでなく、AIに指示を出す際にも役立つ「型」として活用できます。</a:t>
            </a:r>
            <a:endParaRPr b="0" i="0" sz="130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9"/>
          <p:cNvSpPr/>
          <p:nvPr/>
        </p:nvSpPr>
        <p:spPr>
          <a:xfrm>
            <a:off x="793790" y="1997631"/>
            <a:ext cx="11681103"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091C53"/>
              </a:buClr>
              <a:buSzPts val="3900"/>
              <a:buFont typeface="Instrument Sans"/>
              <a:buNone/>
            </a:pPr>
            <a:r>
              <a:rPr b="0" i="0" lang="en-US" sz="3900" u="none" cap="none" strike="noStrike">
                <a:solidFill>
                  <a:srgbClr val="091C53"/>
                </a:solidFill>
                <a:latin typeface="Instrument Sans"/>
                <a:ea typeface="Instrument Sans"/>
                <a:cs typeface="Instrument Sans"/>
                <a:sym typeface="Instrument Sans"/>
              </a:rPr>
              <a:t>【最重要】研究活動を「STARメソッド」で分解する</a:t>
            </a:r>
            <a:endParaRPr b="0" i="0" sz="3900" u="none" cap="none" strike="noStrike"/>
          </a:p>
        </p:txBody>
      </p:sp>
      <p:sp>
        <p:nvSpPr>
          <p:cNvPr id="194" name="Google Shape;194;p29"/>
          <p:cNvSpPr/>
          <p:nvPr/>
        </p:nvSpPr>
        <p:spPr>
          <a:xfrm>
            <a:off x="793790" y="3113722"/>
            <a:ext cx="2601397"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091C53"/>
              </a:buClr>
              <a:buSzPts val="1950"/>
              <a:buFont typeface="Instrument Sans"/>
              <a:buNone/>
            </a:pPr>
            <a:r>
              <a:rPr b="0" i="0" lang="en-US" sz="1950" u="none" cap="none" strike="noStrike">
                <a:solidFill>
                  <a:srgbClr val="091C53"/>
                </a:solidFill>
                <a:latin typeface="Instrument Sans"/>
                <a:ea typeface="Instrument Sans"/>
                <a:cs typeface="Instrument Sans"/>
                <a:sym typeface="Instrument Sans"/>
              </a:rPr>
              <a:t>NG例：専門用語の羅列</a:t>
            </a:r>
            <a:endParaRPr b="0" i="0" sz="1950" u="none" cap="none" strike="noStrike"/>
          </a:p>
        </p:txBody>
      </p:sp>
      <p:sp>
        <p:nvSpPr>
          <p:cNvPr id="195" name="Google Shape;195;p29"/>
          <p:cNvSpPr/>
          <p:nvPr/>
        </p:nvSpPr>
        <p:spPr>
          <a:xfrm>
            <a:off x="793790" y="3622238"/>
            <a:ext cx="6279356"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「私は○○分野における△△効果の検証を行いました。□□法を用いて実験を行い、◇◇を明らかにしました。」</a:t>
            </a:r>
            <a:endParaRPr b="0" i="0" sz="1550" u="none" cap="none" strike="noStrike"/>
          </a:p>
        </p:txBody>
      </p:sp>
      <p:sp>
        <p:nvSpPr>
          <p:cNvPr id="196" name="Google Shape;196;p29"/>
          <p:cNvSpPr/>
          <p:nvPr/>
        </p:nvSpPr>
        <p:spPr>
          <a:xfrm>
            <a:off x="793790" y="4435912"/>
            <a:ext cx="6279356" cy="31754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問題点：</a:t>
            </a:r>
            <a:endParaRPr b="0" i="0" sz="1550" u="none" cap="none" strike="noStrike"/>
          </a:p>
        </p:txBody>
      </p:sp>
      <p:sp>
        <p:nvSpPr>
          <p:cNvPr id="197" name="Google Shape;197;p29"/>
          <p:cNvSpPr/>
          <p:nvPr/>
        </p:nvSpPr>
        <p:spPr>
          <a:xfrm>
            <a:off x="793790" y="4932045"/>
            <a:ext cx="6279356"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1E3063"/>
              </a:buClr>
              <a:buSzPts val="1550"/>
              <a:buFont typeface="Instrument Sans"/>
              <a:buChar char="•"/>
            </a:pPr>
            <a:r>
              <a:rPr b="0" i="0" lang="en-US" sz="1550" u="none" cap="none" strike="noStrike">
                <a:solidFill>
                  <a:srgbClr val="1E3063"/>
                </a:solidFill>
                <a:latin typeface="Instrument Sans"/>
                <a:ea typeface="Instrument Sans"/>
                <a:cs typeface="Instrument Sans"/>
                <a:sym typeface="Instrument Sans"/>
              </a:rPr>
              <a:t>専門知識がない人には理解できない</a:t>
            </a:r>
            <a:endParaRPr b="0" i="0" sz="1550" u="none" cap="none" strike="noStrike"/>
          </a:p>
        </p:txBody>
      </p:sp>
      <p:sp>
        <p:nvSpPr>
          <p:cNvPr id="198" name="Google Shape;198;p29"/>
          <p:cNvSpPr/>
          <p:nvPr/>
        </p:nvSpPr>
        <p:spPr>
          <a:xfrm>
            <a:off x="793790" y="5318998"/>
            <a:ext cx="6279356"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1E3063"/>
              </a:buClr>
              <a:buSzPts val="1550"/>
              <a:buFont typeface="Instrument Sans"/>
              <a:buChar char="•"/>
            </a:pPr>
            <a:r>
              <a:rPr b="0" i="0" lang="en-US" sz="1550" u="none" cap="none" strike="noStrike">
                <a:solidFill>
                  <a:srgbClr val="1E3063"/>
                </a:solidFill>
                <a:latin typeface="Instrument Sans"/>
                <a:ea typeface="Instrument Sans"/>
                <a:cs typeface="Instrument Sans"/>
                <a:sym typeface="Instrument Sans"/>
              </a:rPr>
              <a:t>あなたの思考プロセスが見えない</a:t>
            </a:r>
            <a:endParaRPr b="0" i="0" sz="1550" u="none" cap="none" strike="noStrike"/>
          </a:p>
        </p:txBody>
      </p:sp>
      <p:sp>
        <p:nvSpPr>
          <p:cNvPr id="199" name="Google Shape;199;p29"/>
          <p:cNvSpPr/>
          <p:nvPr/>
        </p:nvSpPr>
        <p:spPr>
          <a:xfrm>
            <a:off x="793790" y="5705951"/>
            <a:ext cx="6279356"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1E3063"/>
              </a:buClr>
              <a:buSzPts val="1550"/>
              <a:buFont typeface="Instrument Sans"/>
              <a:buChar char="•"/>
            </a:pPr>
            <a:r>
              <a:rPr b="0" i="0" lang="en-US" sz="1550" u="none" cap="none" strike="noStrike">
                <a:solidFill>
                  <a:srgbClr val="1E3063"/>
                </a:solidFill>
                <a:latin typeface="Instrument Sans"/>
                <a:ea typeface="Instrument Sans"/>
                <a:cs typeface="Instrument Sans"/>
                <a:sym typeface="Instrument Sans"/>
              </a:rPr>
              <a:t>何が大変だったのか、どう乗り越えたのかが不明</a:t>
            </a:r>
            <a:endParaRPr b="0" i="0" sz="1550" u="none" cap="none" strike="noStrike"/>
          </a:p>
        </p:txBody>
      </p:sp>
      <p:sp>
        <p:nvSpPr>
          <p:cNvPr id="200" name="Google Shape;200;p29"/>
          <p:cNvSpPr/>
          <p:nvPr/>
        </p:nvSpPr>
        <p:spPr>
          <a:xfrm>
            <a:off x="7564874" y="3113722"/>
            <a:ext cx="3101578"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091C53"/>
              </a:buClr>
              <a:buSzPts val="1950"/>
              <a:buFont typeface="Instrument Sans"/>
              <a:buNone/>
            </a:pPr>
            <a:r>
              <a:rPr b="0" i="0" lang="en-US" sz="1950" u="none" cap="none" strike="noStrike">
                <a:solidFill>
                  <a:srgbClr val="091C53"/>
                </a:solidFill>
                <a:latin typeface="Instrument Sans"/>
                <a:ea typeface="Instrument Sans"/>
                <a:cs typeface="Instrument Sans"/>
                <a:sym typeface="Instrument Sans"/>
              </a:rPr>
              <a:t>OK例：思考プロセスを語る</a:t>
            </a:r>
            <a:endParaRPr b="0" i="0" sz="1950" u="none" cap="none" strike="noStrike"/>
          </a:p>
        </p:txBody>
      </p:sp>
      <p:sp>
        <p:nvSpPr>
          <p:cNvPr id="201" name="Google Shape;201;p29"/>
          <p:cNvSpPr/>
          <p:nvPr/>
        </p:nvSpPr>
        <p:spPr>
          <a:xfrm>
            <a:off x="7564874" y="3622238"/>
            <a:ext cx="6279356" cy="127015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修士研究では、日常生活で使われる製品の耐久性向上という課題に取り組みました。従来の測定法では実際の使用環境を再現できないという問題があったため、独自の実験装置を開発。試行錯誤の末、実用的な評価方法を確立し、製品寿命を20%延ばすことに成功しました。」</a:t>
            </a:r>
            <a:endParaRPr b="0" i="0" sz="1550" u="none" cap="none" strike="noStrike"/>
          </a:p>
        </p:txBody>
      </p:sp>
      <p:sp>
        <p:nvSpPr>
          <p:cNvPr id="202" name="Google Shape;202;p29"/>
          <p:cNvSpPr/>
          <p:nvPr/>
        </p:nvSpPr>
        <p:spPr>
          <a:xfrm>
            <a:off x="7564874" y="5070991"/>
            <a:ext cx="6279356"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1E3063"/>
              </a:buClr>
              <a:buSzPts val="1550"/>
              <a:buFont typeface="Instrument Sans"/>
              <a:buChar char="•"/>
            </a:pPr>
            <a:r>
              <a:rPr b="0" i="0" lang="en-US" sz="1550" u="none" cap="none" strike="noStrike">
                <a:solidFill>
                  <a:srgbClr val="1E3063"/>
                </a:solidFill>
                <a:latin typeface="Instrument Sans"/>
                <a:ea typeface="Instrument Sans"/>
                <a:cs typeface="Instrument Sans"/>
                <a:sym typeface="Instrument Sans"/>
              </a:rPr>
              <a:t>誰でも理解できる言葉で表現</a:t>
            </a:r>
            <a:endParaRPr b="0" i="0" sz="1550" u="none" cap="none" strike="noStrike"/>
          </a:p>
        </p:txBody>
      </p:sp>
      <p:sp>
        <p:nvSpPr>
          <p:cNvPr id="203" name="Google Shape;203;p29"/>
          <p:cNvSpPr/>
          <p:nvPr/>
        </p:nvSpPr>
        <p:spPr>
          <a:xfrm>
            <a:off x="7564874" y="5457944"/>
            <a:ext cx="6279356"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1E3063"/>
              </a:buClr>
              <a:buSzPts val="1550"/>
              <a:buFont typeface="Instrument Sans"/>
              <a:buChar char="•"/>
            </a:pPr>
            <a:r>
              <a:rPr b="0" i="0" lang="en-US" sz="1550" u="none" cap="none" strike="noStrike">
                <a:solidFill>
                  <a:srgbClr val="1E3063"/>
                </a:solidFill>
                <a:latin typeface="Instrument Sans"/>
                <a:ea typeface="Instrument Sans"/>
                <a:cs typeface="Instrument Sans"/>
                <a:sym typeface="Instrument Sans"/>
              </a:rPr>
              <a:t>問題発見→解決策考案→実行のプロセスが明確</a:t>
            </a:r>
            <a:endParaRPr b="0" i="0" sz="1550" u="none" cap="none" strike="noStrike"/>
          </a:p>
        </p:txBody>
      </p:sp>
      <p:sp>
        <p:nvSpPr>
          <p:cNvPr id="204" name="Google Shape;204;p29"/>
          <p:cNvSpPr/>
          <p:nvPr/>
        </p:nvSpPr>
        <p:spPr>
          <a:xfrm>
            <a:off x="7564874" y="5844897"/>
            <a:ext cx="6279356"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1E3063"/>
              </a:buClr>
              <a:buSzPts val="1550"/>
              <a:buFont typeface="Instrument Sans"/>
              <a:buChar char="•"/>
            </a:pPr>
            <a:r>
              <a:rPr b="0" i="0" lang="en-US" sz="1550" u="none" cap="none" strike="noStrike">
                <a:solidFill>
                  <a:srgbClr val="1E3063"/>
                </a:solidFill>
                <a:latin typeface="Instrument Sans"/>
                <a:ea typeface="Instrument Sans"/>
                <a:cs typeface="Instrument Sans"/>
                <a:sym typeface="Instrument Sans"/>
              </a:rPr>
              <a:t>具体的な成果で締めくくる</a:t>
            </a:r>
            <a:endParaRPr b="0" i="0" sz="155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descr="preencoded.png" id="210" name="Google Shape;210;p30"/>
          <p:cNvPicPr preferRelativeResize="0"/>
          <p:nvPr/>
        </p:nvPicPr>
        <p:blipFill rotWithShape="1">
          <a:blip r:embed="rId3">
            <a:alphaModFix/>
          </a:blip>
          <a:srcRect b="0" l="0" r="0" t="0"/>
          <a:stretch/>
        </p:blipFill>
        <p:spPr>
          <a:xfrm>
            <a:off x="0" y="0"/>
            <a:ext cx="5760720" cy="8229600"/>
          </a:xfrm>
          <a:prstGeom prst="rect">
            <a:avLst/>
          </a:prstGeom>
          <a:noFill/>
          <a:ln>
            <a:noFill/>
          </a:ln>
        </p:spPr>
      </p:pic>
      <p:sp>
        <p:nvSpPr>
          <p:cNvPr id="211" name="Google Shape;211;p30"/>
          <p:cNvSpPr/>
          <p:nvPr/>
        </p:nvSpPr>
        <p:spPr>
          <a:xfrm>
            <a:off x="6061948" y="458510"/>
            <a:ext cx="6447115" cy="44958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91C53"/>
              </a:buClr>
              <a:buSzPts val="2800"/>
              <a:buFont typeface="Instrument Sans"/>
              <a:buNone/>
            </a:pPr>
            <a:r>
              <a:rPr b="0" i="0" lang="en-US" sz="2800" u="none" cap="none" strike="noStrike">
                <a:solidFill>
                  <a:srgbClr val="091C53"/>
                </a:solidFill>
                <a:latin typeface="Instrument Sans"/>
                <a:ea typeface="Instrument Sans"/>
                <a:cs typeface="Instrument Sans"/>
                <a:sym typeface="Instrument Sans"/>
              </a:rPr>
              <a:t>アピールすべきは「ポータブルスキル」</a:t>
            </a:r>
            <a:endParaRPr b="0" i="0" sz="2800" u="none" cap="none" strike="noStrike"/>
          </a:p>
        </p:txBody>
      </p:sp>
      <p:sp>
        <p:nvSpPr>
          <p:cNvPr id="212" name="Google Shape;212;p30"/>
          <p:cNvSpPr/>
          <p:nvPr/>
        </p:nvSpPr>
        <p:spPr>
          <a:xfrm>
            <a:off x="6061948" y="1123831"/>
            <a:ext cx="7992904" cy="460534"/>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1E3063"/>
              </a:buClr>
              <a:buSzPts val="1100"/>
              <a:buFont typeface="Instrument Sans"/>
              <a:buNone/>
            </a:pPr>
            <a:r>
              <a:rPr b="0" i="0" lang="en-US" sz="1100" u="none" cap="none" strike="noStrike">
                <a:solidFill>
                  <a:srgbClr val="1E3063"/>
                </a:solidFill>
                <a:latin typeface="Instrument Sans"/>
                <a:ea typeface="Instrument Sans"/>
                <a:cs typeface="Instrument Sans"/>
                <a:sym typeface="Instrument Sans"/>
              </a:rPr>
              <a:t>研究内容そのものではなく、研究を通して身につけた「どんな環境でも通用するスキル」をアピールしましょう。これを「ポータブルスキル」と呼びます。</a:t>
            </a:r>
            <a:endParaRPr b="0" i="0" sz="1100" u="none" cap="none" strike="noStrike"/>
          </a:p>
        </p:txBody>
      </p:sp>
      <p:pic>
        <p:nvPicPr>
          <p:cNvPr descr="preencoded.png" id="213" name="Google Shape;213;p30"/>
          <p:cNvPicPr preferRelativeResize="0"/>
          <p:nvPr/>
        </p:nvPicPr>
        <p:blipFill rotWithShape="1">
          <a:blip r:embed="rId4">
            <a:alphaModFix/>
          </a:blip>
          <a:srcRect b="0" l="0" r="0" t="0"/>
          <a:stretch/>
        </p:blipFill>
        <p:spPr>
          <a:xfrm>
            <a:off x="6061948" y="1746171"/>
            <a:ext cx="359688" cy="359688"/>
          </a:xfrm>
          <a:prstGeom prst="rect">
            <a:avLst/>
          </a:prstGeom>
          <a:noFill/>
          <a:ln>
            <a:noFill/>
          </a:ln>
        </p:spPr>
      </p:pic>
      <p:sp>
        <p:nvSpPr>
          <p:cNvPr id="214" name="Google Shape;214;p30"/>
          <p:cNvSpPr/>
          <p:nvPr/>
        </p:nvSpPr>
        <p:spPr>
          <a:xfrm>
            <a:off x="6061948" y="2285643"/>
            <a:ext cx="1798558" cy="22479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E3063"/>
              </a:buClr>
              <a:buSzPts val="1400"/>
              <a:buFont typeface="Instrument Sans"/>
              <a:buNone/>
            </a:pPr>
            <a:r>
              <a:rPr b="0" i="0" lang="en-US" sz="1400" u="none" cap="none" strike="noStrike">
                <a:solidFill>
                  <a:srgbClr val="1E3063"/>
                </a:solidFill>
                <a:latin typeface="Instrument Sans"/>
                <a:ea typeface="Instrument Sans"/>
                <a:cs typeface="Instrument Sans"/>
                <a:sym typeface="Instrument Sans"/>
              </a:rPr>
              <a:t>仮説構築力</a:t>
            </a:r>
            <a:endParaRPr b="0" i="0" sz="1400" u="none" cap="none" strike="noStrike"/>
          </a:p>
        </p:txBody>
      </p:sp>
      <p:sp>
        <p:nvSpPr>
          <p:cNvPr id="215" name="Google Shape;215;p30"/>
          <p:cNvSpPr/>
          <p:nvPr/>
        </p:nvSpPr>
        <p:spPr>
          <a:xfrm>
            <a:off x="6061948" y="2596753"/>
            <a:ext cx="7992904" cy="230267"/>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1E3063"/>
              </a:buClr>
              <a:buSzPts val="1100"/>
              <a:buFont typeface="Instrument Sans"/>
              <a:buNone/>
            </a:pPr>
            <a:r>
              <a:rPr b="0" i="0" lang="en-US" sz="1100" u="none" cap="none" strike="noStrike">
                <a:solidFill>
                  <a:srgbClr val="1E3063"/>
                </a:solidFill>
                <a:latin typeface="Instrument Sans"/>
                <a:ea typeface="Instrument Sans"/>
                <a:cs typeface="Instrument Sans"/>
                <a:sym typeface="Instrument Sans"/>
              </a:rPr>
              <a:t>文献調査や予備実験から、検証すべき仮説を論理的に組み立てる能力。ビジネスでは市場分析や新規事業開発に活きます。</a:t>
            </a:r>
            <a:endParaRPr b="0" i="0" sz="1100" u="none" cap="none" strike="noStrike"/>
          </a:p>
        </p:txBody>
      </p:sp>
      <p:pic>
        <p:nvPicPr>
          <p:cNvPr descr="preencoded.png" id="216" name="Google Shape;216;p30"/>
          <p:cNvPicPr preferRelativeResize="0"/>
          <p:nvPr/>
        </p:nvPicPr>
        <p:blipFill rotWithShape="1">
          <a:blip r:embed="rId5">
            <a:alphaModFix/>
          </a:blip>
          <a:srcRect b="0" l="0" r="0" t="0"/>
          <a:stretch/>
        </p:blipFill>
        <p:spPr>
          <a:xfrm>
            <a:off x="6061948" y="3186708"/>
            <a:ext cx="359688" cy="359688"/>
          </a:xfrm>
          <a:prstGeom prst="rect">
            <a:avLst/>
          </a:prstGeom>
          <a:noFill/>
          <a:ln>
            <a:noFill/>
          </a:ln>
        </p:spPr>
      </p:pic>
      <p:sp>
        <p:nvSpPr>
          <p:cNvPr id="217" name="Google Shape;217;p30"/>
          <p:cNvSpPr/>
          <p:nvPr/>
        </p:nvSpPr>
        <p:spPr>
          <a:xfrm>
            <a:off x="6061948" y="3726180"/>
            <a:ext cx="1798558" cy="22479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E3063"/>
              </a:buClr>
              <a:buSzPts val="1400"/>
              <a:buFont typeface="Instrument Sans"/>
              <a:buNone/>
            </a:pPr>
            <a:r>
              <a:rPr b="0" i="0" lang="en-US" sz="1400" u="none" cap="none" strike="noStrike">
                <a:solidFill>
                  <a:srgbClr val="1E3063"/>
                </a:solidFill>
                <a:latin typeface="Instrument Sans"/>
                <a:ea typeface="Instrument Sans"/>
                <a:cs typeface="Instrument Sans"/>
                <a:sym typeface="Instrument Sans"/>
              </a:rPr>
              <a:t>問題発見能力</a:t>
            </a:r>
            <a:endParaRPr b="0" i="0" sz="1400" u="none" cap="none" strike="noStrike"/>
          </a:p>
        </p:txBody>
      </p:sp>
      <p:sp>
        <p:nvSpPr>
          <p:cNvPr id="218" name="Google Shape;218;p30"/>
          <p:cNvSpPr/>
          <p:nvPr/>
        </p:nvSpPr>
        <p:spPr>
          <a:xfrm>
            <a:off x="6061948" y="4037290"/>
            <a:ext cx="7992904" cy="230267"/>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1E3063"/>
              </a:buClr>
              <a:buSzPts val="1100"/>
              <a:buFont typeface="Instrument Sans"/>
              <a:buNone/>
            </a:pPr>
            <a:r>
              <a:rPr b="0" i="0" lang="en-US" sz="1100" u="none" cap="none" strike="noStrike">
                <a:solidFill>
                  <a:srgbClr val="1E3063"/>
                </a:solidFill>
                <a:latin typeface="Instrument Sans"/>
                <a:ea typeface="Instrument Sans"/>
                <a:cs typeface="Instrument Sans"/>
                <a:sym typeface="Instrument Sans"/>
              </a:rPr>
              <a:t>既存研究の限界を見極め、解決すべき課題を見出す能力。ビジネスでは業務改善や顧客ニーズの発掘に直結します。</a:t>
            </a:r>
            <a:endParaRPr b="0" i="0" sz="1100" u="none" cap="none" strike="noStrike"/>
          </a:p>
        </p:txBody>
      </p:sp>
      <p:pic>
        <p:nvPicPr>
          <p:cNvPr descr="preencoded.png" id="219" name="Google Shape;219;p30"/>
          <p:cNvPicPr preferRelativeResize="0"/>
          <p:nvPr/>
        </p:nvPicPr>
        <p:blipFill rotWithShape="1">
          <a:blip r:embed="rId6">
            <a:alphaModFix/>
          </a:blip>
          <a:srcRect b="0" l="0" r="0" t="0"/>
          <a:stretch/>
        </p:blipFill>
        <p:spPr>
          <a:xfrm>
            <a:off x="6061948" y="4627245"/>
            <a:ext cx="359688" cy="359688"/>
          </a:xfrm>
          <a:prstGeom prst="rect">
            <a:avLst/>
          </a:prstGeom>
          <a:noFill/>
          <a:ln>
            <a:noFill/>
          </a:ln>
        </p:spPr>
      </p:pic>
      <p:sp>
        <p:nvSpPr>
          <p:cNvPr id="220" name="Google Shape;220;p30"/>
          <p:cNvSpPr/>
          <p:nvPr/>
        </p:nvSpPr>
        <p:spPr>
          <a:xfrm>
            <a:off x="6061948" y="5166717"/>
            <a:ext cx="1798558" cy="22479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E3063"/>
              </a:buClr>
              <a:buSzPts val="1400"/>
              <a:buFont typeface="Instrument Sans"/>
              <a:buNone/>
            </a:pPr>
            <a:r>
              <a:rPr b="0" i="0" lang="en-US" sz="1400" u="none" cap="none" strike="noStrike">
                <a:solidFill>
                  <a:srgbClr val="1E3063"/>
                </a:solidFill>
                <a:latin typeface="Instrument Sans"/>
                <a:ea typeface="Instrument Sans"/>
                <a:cs typeface="Instrument Sans"/>
                <a:sym typeface="Instrument Sans"/>
              </a:rPr>
              <a:t>データ分析力</a:t>
            </a:r>
            <a:endParaRPr b="0" i="0" sz="1400" u="none" cap="none" strike="noStrike"/>
          </a:p>
        </p:txBody>
      </p:sp>
      <p:sp>
        <p:nvSpPr>
          <p:cNvPr id="221" name="Google Shape;221;p30"/>
          <p:cNvSpPr/>
          <p:nvPr/>
        </p:nvSpPr>
        <p:spPr>
          <a:xfrm>
            <a:off x="6061948" y="5477828"/>
            <a:ext cx="7992904" cy="230267"/>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1E3063"/>
              </a:buClr>
              <a:buSzPts val="1100"/>
              <a:buFont typeface="Instrument Sans"/>
              <a:buNone/>
            </a:pPr>
            <a:r>
              <a:rPr b="0" i="0" lang="en-US" sz="1100" u="none" cap="none" strike="noStrike">
                <a:solidFill>
                  <a:srgbClr val="1E3063"/>
                </a:solidFill>
                <a:latin typeface="Instrument Sans"/>
                <a:ea typeface="Instrument Sans"/>
                <a:cs typeface="Instrument Sans"/>
                <a:sym typeface="Instrument Sans"/>
              </a:rPr>
              <a:t>実験結果や統計データから意味のある知見を引き出す能力。マーケティングや経営判断の基盤となります。</a:t>
            </a:r>
            <a:endParaRPr b="0" i="0" sz="1100" u="none" cap="none" strike="noStrike"/>
          </a:p>
        </p:txBody>
      </p:sp>
      <p:pic>
        <p:nvPicPr>
          <p:cNvPr descr="preencoded.png" id="222" name="Google Shape;222;p30"/>
          <p:cNvPicPr preferRelativeResize="0"/>
          <p:nvPr/>
        </p:nvPicPr>
        <p:blipFill rotWithShape="1">
          <a:blip r:embed="rId7">
            <a:alphaModFix/>
          </a:blip>
          <a:srcRect b="0" l="0" r="0" t="0"/>
          <a:stretch/>
        </p:blipFill>
        <p:spPr>
          <a:xfrm>
            <a:off x="6061948" y="6067782"/>
            <a:ext cx="359688" cy="359688"/>
          </a:xfrm>
          <a:prstGeom prst="rect">
            <a:avLst/>
          </a:prstGeom>
          <a:noFill/>
          <a:ln>
            <a:noFill/>
          </a:ln>
        </p:spPr>
      </p:pic>
      <p:sp>
        <p:nvSpPr>
          <p:cNvPr id="223" name="Google Shape;223;p30"/>
          <p:cNvSpPr/>
          <p:nvPr/>
        </p:nvSpPr>
        <p:spPr>
          <a:xfrm>
            <a:off x="6061948" y="6607254"/>
            <a:ext cx="1798558" cy="22479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E3063"/>
              </a:buClr>
              <a:buSzPts val="1400"/>
              <a:buFont typeface="Instrument Sans"/>
              <a:buNone/>
            </a:pPr>
            <a:r>
              <a:rPr b="0" i="0" lang="en-US" sz="1400" u="none" cap="none" strike="noStrike">
                <a:solidFill>
                  <a:srgbClr val="1E3063"/>
                </a:solidFill>
                <a:latin typeface="Instrument Sans"/>
                <a:ea typeface="Instrument Sans"/>
                <a:cs typeface="Instrument Sans"/>
                <a:sym typeface="Instrument Sans"/>
              </a:rPr>
              <a:t>GRIT（やり抜く力）</a:t>
            </a:r>
            <a:endParaRPr b="0" i="0" sz="1400" u="none" cap="none" strike="noStrike"/>
          </a:p>
        </p:txBody>
      </p:sp>
      <p:sp>
        <p:nvSpPr>
          <p:cNvPr id="224" name="Google Shape;224;p30"/>
          <p:cNvSpPr/>
          <p:nvPr/>
        </p:nvSpPr>
        <p:spPr>
          <a:xfrm>
            <a:off x="6061948" y="6918365"/>
            <a:ext cx="7992904" cy="230267"/>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1E3063"/>
              </a:buClr>
              <a:buSzPts val="1100"/>
              <a:buFont typeface="Instrument Sans"/>
              <a:buNone/>
            </a:pPr>
            <a:r>
              <a:rPr b="0" i="0" lang="en-US" sz="1100" u="none" cap="none" strike="noStrike">
                <a:solidFill>
                  <a:srgbClr val="1E3063"/>
                </a:solidFill>
                <a:latin typeface="Instrument Sans"/>
                <a:ea typeface="Instrument Sans"/>
                <a:cs typeface="Instrument Sans"/>
                <a:sym typeface="Instrument Sans"/>
              </a:rPr>
              <a:t>予想外の結果や失敗に直面しても粘り強く研究を続ける精神力。どんな業界でも評価される普遍的な資質です。</a:t>
            </a:r>
            <a:endParaRPr b="0" i="0" sz="1100" u="none" cap="none" strike="noStrike"/>
          </a:p>
        </p:txBody>
      </p:sp>
      <p:sp>
        <p:nvSpPr>
          <p:cNvPr id="225" name="Google Shape;225;p30"/>
          <p:cNvSpPr/>
          <p:nvPr/>
        </p:nvSpPr>
        <p:spPr>
          <a:xfrm>
            <a:off x="6061948" y="7310438"/>
            <a:ext cx="7992904" cy="460534"/>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1E3063"/>
              </a:buClr>
              <a:buSzPts val="1100"/>
              <a:buFont typeface="Instrument Sans"/>
              <a:buNone/>
            </a:pPr>
            <a:r>
              <a:rPr b="0" i="0" lang="en-US" sz="1100" u="none" cap="none" strike="noStrike">
                <a:solidFill>
                  <a:srgbClr val="1E3063"/>
                </a:solidFill>
                <a:latin typeface="Instrument Sans"/>
                <a:ea typeface="Instrument Sans"/>
                <a:cs typeface="Instrument Sans"/>
                <a:sym typeface="Instrument Sans"/>
              </a:rPr>
              <a:t>これらのスキルは、研究の分野や内容に関わらず、あらゆるビジネスシーンで活用できる強みとなります。自分の研究経験からどのようなポータブルスキルが身についたか、具体的なエピソードと共に整理しておきましょう。</a:t>
            </a:r>
            <a:endParaRPr b="0" i="0" sz="110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1"/>
          <p:cNvSpPr/>
          <p:nvPr/>
        </p:nvSpPr>
        <p:spPr>
          <a:xfrm>
            <a:off x="793790" y="602337"/>
            <a:ext cx="6945987"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091C53"/>
              </a:buClr>
              <a:buSzPts val="3900"/>
              <a:buFont typeface="Instrument Sans"/>
              <a:buNone/>
            </a:pPr>
            <a:r>
              <a:rPr b="0" i="0" lang="en-US" sz="3900" u="none" cap="none" strike="noStrike">
                <a:solidFill>
                  <a:srgbClr val="091C53"/>
                </a:solidFill>
                <a:latin typeface="Instrument Sans"/>
                <a:ea typeface="Instrument Sans"/>
                <a:cs typeface="Instrument Sans"/>
                <a:sym typeface="Instrument Sans"/>
              </a:rPr>
              <a:t>研究以外のテーマも武器になる</a:t>
            </a:r>
            <a:endParaRPr b="0" i="0" sz="3900" u="none" cap="none" strike="noStrike"/>
          </a:p>
        </p:txBody>
      </p:sp>
      <p:sp>
        <p:nvSpPr>
          <p:cNvPr id="232" name="Google Shape;232;p31"/>
          <p:cNvSpPr/>
          <p:nvPr/>
        </p:nvSpPr>
        <p:spPr>
          <a:xfrm>
            <a:off x="793790" y="1520071"/>
            <a:ext cx="7556421"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大学院生活では研究以外にも、さまざまな経験があるはずです。それらもSTARメソッドで語れば、立派なガクチカになります。</a:t>
            </a:r>
            <a:endParaRPr b="0" i="0" sz="1550" u="none" cap="none" strike="noStrike"/>
          </a:p>
        </p:txBody>
      </p:sp>
      <p:sp>
        <p:nvSpPr>
          <p:cNvPr id="233" name="Google Shape;233;p31"/>
          <p:cNvSpPr/>
          <p:nvPr/>
        </p:nvSpPr>
        <p:spPr>
          <a:xfrm>
            <a:off x="793790" y="2378393"/>
            <a:ext cx="3679031" cy="2413635"/>
          </a:xfrm>
          <a:prstGeom prst="roundRect">
            <a:avLst>
              <a:gd fmla="val 7401"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1"/>
          <p:cNvSpPr/>
          <p:nvPr/>
        </p:nvSpPr>
        <p:spPr>
          <a:xfrm>
            <a:off x="992148" y="2576751"/>
            <a:ext cx="3282315" cy="620316"/>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1E3063"/>
              </a:buClr>
              <a:buSzPts val="1950"/>
              <a:buFont typeface="Instrument Sans"/>
              <a:buNone/>
            </a:pPr>
            <a:r>
              <a:rPr b="0" i="0" lang="en-US" sz="1950" u="none" cap="none" strike="noStrike">
                <a:solidFill>
                  <a:srgbClr val="1E3063"/>
                </a:solidFill>
                <a:latin typeface="Instrument Sans"/>
                <a:ea typeface="Instrument Sans"/>
                <a:cs typeface="Instrument Sans"/>
                <a:sym typeface="Instrument Sans"/>
              </a:rPr>
              <a:t>ティーチングアシスタント(TA)</a:t>
            </a:r>
            <a:endParaRPr b="0" i="0" sz="1950" u="none" cap="none" strike="noStrike"/>
          </a:p>
        </p:txBody>
      </p:sp>
      <p:sp>
        <p:nvSpPr>
          <p:cNvPr id="235" name="Google Shape;235;p31"/>
          <p:cNvSpPr/>
          <p:nvPr/>
        </p:nvSpPr>
        <p:spPr>
          <a:xfrm>
            <a:off x="992148" y="3316129"/>
            <a:ext cx="3282315" cy="127015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学部生に実験指導を行った経験は、「専門知識をわかりやすく伝える力」「異なる理解度の人に合わせた説明能力」として語れます。</a:t>
            </a:r>
            <a:endParaRPr b="0" i="0" sz="1550" u="none" cap="none" strike="noStrike"/>
          </a:p>
        </p:txBody>
      </p:sp>
      <p:sp>
        <p:nvSpPr>
          <p:cNvPr id="236" name="Google Shape;236;p31"/>
          <p:cNvSpPr/>
          <p:nvPr/>
        </p:nvSpPr>
        <p:spPr>
          <a:xfrm>
            <a:off x="4671179" y="2378393"/>
            <a:ext cx="3679031" cy="2413635"/>
          </a:xfrm>
          <a:prstGeom prst="roundRect">
            <a:avLst>
              <a:gd fmla="val 7401"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1"/>
          <p:cNvSpPr/>
          <p:nvPr/>
        </p:nvSpPr>
        <p:spPr>
          <a:xfrm>
            <a:off x="4869537" y="2576751"/>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1E3063"/>
              </a:buClr>
              <a:buSzPts val="1950"/>
              <a:buFont typeface="Instrument Sans"/>
              <a:buNone/>
            </a:pPr>
            <a:r>
              <a:rPr b="0" i="0" lang="en-US" sz="1950" u="none" cap="none" strike="noStrike">
                <a:solidFill>
                  <a:srgbClr val="1E3063"/>
                </a:solidFill>
                <a:latin typeface="Instrument Sans"/>
                <a:ea typeface="Instrument Sans"/>
                <a:cs typeface="Instrument Sans"/>
                <a:sym typeface="Instrument Sans"/>
              </a:rPr>
              <a:t>学会運営への参加</a:t>
            </a:r>
            <a:endParaRPr b="0" i="0" sz="1950" u="none" cap="none" strike="noStrike"/>
          </a:p>
        </p:txBody>
      </p:sp>
      <p:sp>
        <p:nvSpPr>
          <p:cNvPr id="238" name="Google Shape;238;p31"/>
          <p:cNvSpPr/>
          <p:nvPr/>
        </p:nvSpPr>
        <p:spPr>
          <a:xfrm>
            <a:off x="4869537" y="3005971"/>
            <a:ext cx="3282315" cy="1587698"/>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研究発表会の企画・運営は「限られたリソースでの最適化」「多様な関係者との調整能力」「期限内に成果を出す計画力」としてアピールできます。</a:t>
            </a:r>
            <a:endParaRPr b="0" i="0" sz="1550" u="none" cap="none" strike="noStrike"/>
          </a:p>
        </p:txBody>
      </p:sp>
      <p:sp>
        <p:nvSpPr>
          <p:cNvPr id="239" name="Google Shape;239;p31"/>
          <p:cNvSpPr/>
          <p:nvPr/>
        </p:nvSpPr>
        <p:spPr>
          <a:xfrm>
            <a:off x="793790" y="4990386"/>
            <a:ext cx="7556421" cy="1461016"/>
          </a:xfrm>
          <a:prstGeom prst="roundRect">
            <a:avLst>
              <a:gd fmla="val 12226"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1"/>
          <p:cNvSpPr/>
          <p:nvPr/>
        </p:nvSpPr>
        <p:spPr>
          <a:xfrm>
            <a:off x="992148" y="5188744"/>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1E3063"/>
              </a:buClr>
              <a:buSzPts val="1950"/>
              <a:buFont typeface="Instrument Sans"/>
              <a:buNone/>
            </a:pPr>
            <a:r>
              <a:rPr b="0" i="0" lang="en-US" sz="1950" u="none" cap="none" strike="noStrike">
                <a:solidFill>
                  <a:srgbClr val="1E3063"/>
                </a:solidFill>
                <a:latin typeface="Instrument Sans"/>
                <a:ea typeface="Instrument Sans"/>
                <a:cs typeface="Instrument Sans"/>
                <a:sym typeface="Instrument Sans"/>
              </a:rPr>
              <a:t>アルバイト経験</a:t>
            </a:r>
            <a:endParaRPr b="0" i="0" sz="1950" u="none" cap="none" strike="noStrike"/>
          </a:p>
        </p:txBody>
      </p:sp>
      <p:sp>
        <p:nvSpPr>
          <p:cNvPr id="241" name="Google Shape;241;p31"/>
          <p:cNvSpPr/>
          <p:nvPr/>
        </p:nvSpPr>
        <p:spPr>
          <a:xfrm>
            <a:off x="992148" y="5617964"/>
            <a:ext cx="7159704"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研究と両立させたアルバイト経験は「時間管理能力」「優先順位付けのスキル」「異なる環境への適応力」の証明になります。</a:t>
            </a:r>
            <a:endParaRPr b="0" i="0" sz="1550" u="none" cap="none" strike="noStrike"/>
          </a:p>
        </p:txBody>
      </p:sp>
      <p:sp>
        <p:nvSpPr>
          <p:cNvPr id="242" name="Google Shape;242;p31"/>
          <p:cNvSpPr/>
          <p:nvPr/>
        </p:nvSpPr>
        <p:spPr>
          <a:xfrm>
            <a:off x="793790" y="6674644"/>
            <a:ext cx="7556421"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どの経験を選ぶにしても重要なのは、その経験を通して得た「ポータブルスキル」を意識すること。企業が求める能力とどう結びつくのかを明確にすれば、研究以外の活動も強力なガクチカになります。</a:t>
            </a:r>
            <a:endParaRPr b="0" i="0" sz="155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2"/>
          <p:cNvSpPr/>
          <p:nvPr/>
        </p:nvSpPr>
        <p:spPr>
          <a:xfrm>
            <a:off x="793801" y="2095625"/>
            <a:ext cx="11133600" cy="620100"/>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091C53"/>
              </a:buClr>
              <a:buSzPts val="3900"/>
              <a:buFont typeface="Instrument Sans"/>
              <a:buNone/>
            </a:pPr>
            <a:r>
              <a:rPr b="0" i="0" lang="en-US" sz="3900" u="none" cap="none" strike="noStrike">
                <a:solidFill>
                  <a:srgbClr val="091C53"/>
                </a:solidFill>
                <a:latin typeface="Instrument Sans"/>
                <a:ea typeface="Instrument Sans"/>
                <a:cs typeface="Instrument Sans"/>
                <a:sym typeface="Instrument Sans"/>
              </a:rPr>
              <a:t>AIとガクチカ作成 - 賢い使い方とNGな使い方</a:t>
            </a:r>
            <a:endParaRPr b="0" i="0" sz="3900" u="none" cap="none" strike="noStrike"/>
          </a:p>
        </p:txBody>
      </p:sp>
      <p:sp>
        <p:nvSpPr>
          <p:cNvPr id="249" name="Google Shape;249;p32"/>
          <p:cNvSpPr/>
          <p:nvPr/>
        </p:nvSpPr>
        <p:spPr>
          <a:xfrm>
            <a:off x="793790" y="3211711"/>
            <a:ext cx="3964067" cy="31777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091C53"/>
              </a:buClr>
              <a:buSzPts val="1950"/>
              <a:buFont typeface="Instrument Sans"/>
              <a:buNone/>
            </a:pPr>
            <a:r>
              <a:rPr b="0" i="0" lang="en-US" sz="1950" u="none" cap="none" strike="noStrike">
                <a:solidFill>
                  <a:srgbClr val="091C53"/>
                </a:solidFill>
                <a:latin typeface="Instrument Sans"/>
                <a:ea typeface="Instrument Sans"/>
                <a:cs typeface="Instrument Sans"/>
                <a:sym typeface="Instrument Sans"/>
              </a:rPr>
              <a:t>Good</a:t>
            </a:r>
            <a:r>
              <a:rPr b="0" i="0" lang="en-US" sz="1950" u="none" cap="none" strike="noStrike">
                <a:solidFill>
                  <a:srgbClr val="000000"/>
                </a:solidFill>
                <a:latin typeface="Instrument Sans"/>
                <a:ea typeface="Instrument Sans"/>
                <a:cs typeface="Instrument Sans"/>
                <a:sym typeface="Instrument Sans"/>
              </a:rPr>
              <a:t>👍</a:t>
            </a:r>
            <a:r>
              <a:rPr b="0" i="0" lang="en-US" sz="1950" u="none" cap="none" strike="noStrike">
                <a:solidFill>
                  <a:srgbClr val="091C53"/>
                </a:solidFill>
                <a:latin typeface="Instrument Sans"/>
                <a:ea typeface="Instrument Sans"/>
                <a:cs typeface="Instrument Sans"/>
                <a:sym typeface="Instrument Sans"/>
              </a:rPr>
              <a:t> AIを思考の補助として活用</a:t>
            </a:r>
            <a:endParaRPr b="0" i="0" sz="1950" u="none" cap="none" strike="noStrike"/>
          </a:p>
        </p:txBody>
      </p:sp>
      <p:sp>
        <p:nvSpPr>
          <p:cNvPr id="250" name="Google Shape;250;p32"/>
          <p:cNvSpPr/>
          <p:nvPr/>
        </p:nvSpPr>
        <p:spPr>
          <a:xfrm>
            <a:off x="793790" y="3727847"/>
            <a:ext cx="6279356"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1E3063"/>
              </a:buClr>
              <a:buSzPts val="1550"/>
              <a:buFont typeface="Instrument Sans"/>
              <a:buChar char="•"/>
            </a:pPr>
            <a:r>
              <a:rPr b="0" i="0" lang="en-US" sz="1550" u="none" cap="none" strike="noStrike">
                <a:solidFill>
                  <a:srgbClr val="1E3063"/>
                </a:solidFill>
                <a:latin typeface="Instrument Sans"/>
                <a:ea typeface="Instrument Sans"/>
                <a:cs typeface="Instrument Sans"/>
                <a:sym typeface="Instrument Sans"/>
              </a:rPr>
              <a:t>自分の経験を整理する壁打ち相手として</a:t>
            </a:r>
            <a:endParaRPr b="0" i="0" sz="1550" u="none" cap="none" strike="noStrike"/>
          </a:p>
        </p:txBody>
      </p:sp>
      <p:sp>
        <p:nvSpPr>
          <p:cNvPr id="251" name="Google Shape;251;p32"/>
          <p:cNvSpPr/>
          <p:nvPr/>
        </p:nvSpPr>
        <p:spPr>
          <a:xfrm>
            <a:off x="793790" y="4114800"/>
            <a:ext cx="6279356"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1E3063"/>
              </a:buClr>
              <a:buSzPts val="1550"/>
              <a:buFont typeface="Instrument Sans"/>
              <a:buChar char="•"/>
            </a:pPr>
            <a:r>
              <a:rPr b="0" i="0" lang="en-US" sz="1550" u="none" cap="none" strike="noStrike">
                <a:solidFill>
                  <a:srgbClr val="1E3063"/>
                </a:solidFill>
                <a:latin typeface="Instrument Sans"/>
                <a:ea typeface="Instrument Sans"/>
                <a:cs typeface="Instrument Sans"/>
                <a:sym typeface="Instrument Sans"/>
              </a:rPr>
              <a:t>文章表現のブラッシュアップツールとして</a:t>
            </a:r>
            <a:endParaRPr b="0" i="0" sz="1550" u="none" cap="none" strike="noStrike"/>
          </a:p>
        </p:txBody>
      </p:sp>
      <p:sp>
        <p:nvSpPr>
          <p:cNvPr id="252" name="Google Shape;252;p32"/>
          <p:cNvSpPr/>
          <p:nvPr/>
        </p:nvSpPr>
        <p:spPr>
          <a:xfrm>
            <a:off x="793790" y="4501753"/>
            <a:ext cx="6279356"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1E3063"/>
              </a:buClr>
              <a:buSzPts val="1550"/>
              <a:buFont typeface="Instrument Sans"/>
              <a:buChar char="•"/>
            </a:pPr>
            <a:r>
              <a:rPr b="0" i="0" lang="en-US" sz="1550" u="none" cap="none" strike="noStrike">
                <a:solidFill>
                  <a:srgbClr val="1E3063"/>
                </a:solidFill>
                <a:latin typeface="Instrument Sans"/>
                <a:ea typeface="Instrument Sans"/>
                <a:cs typeface="Instrument Sans"/>
                <a:sym typeface="Instrument Sans"/>
              </a:rPr>
              <a:t>客観的な視点での質問・フィードバック役として</a:t>
            </a:r>
            <a:endParaRPr b="0" i="0" sz="1550" u="none" cap="none" strike="noStrike"/>
          </a:p>
        </p:txBody>
      </p:sp>
      <p:sp>
        <p:nvSpPr>
          <p:cNvPr id="253" name="Google Shape;253;p32"/>
          <p:cNvSpPr/>
          <p:nvPr/>
        </p:nvSpPr>
        <p:spPr>
          <a:xfrm>
            <a:off x="793790" y="4888706"/>
            <a:ext cx="6279356"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1E3063"/>
              </a:buClr>
              <a:buSzPts val="1550"/>
              <a:buFont typeface="Instrument Sans"/>
              <a:buChar char="•"/>
            </a:pPr>
            <a:r>
              <a:rPr b="0" i="0" lang="en-US" sz="1550" u="none" cap="none" strike="noStrike">
                <a:solidFill>
                  <a:srgbClr val="1E3063"/>
                </a:solidFill>
                <a:latin typeface="Instrument Sans"/>
                <a:ea typeface="Instrument Sans"/>
                <a:cs typeface="Instrument Sans"/>
                <a:sym typeface="Instrument Sans"/>
              </a:rPr>
              <a:t>アイデアの発想や視点の多様化のために</a:t>
            </a:r>
            <a:endParaRPr b="0" i="0" sz="1550" u="none" cap="none" strike="noStrike"/>
          </a:p>
        </p:txBody>
      </p:sp>
      <p:sp>
        <p:nvSpPr>
          <p:cNvPr id="254" name="Google Shape;254;p32"/>
          <p:cNvSpPr/>
          <p:nvPr/>
        </p:nvSpPr>
        <p:spPr>
          <a:xfrm>
            <a:off x="7564874" y="3211711"/>
            <a:ext cx="2538293" cy="31777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091C53"/>
              </a:buClr>
              <a:buSzPts val="1950"/>
              <a:buFont typeface="Instrument Sans"/>
              <a:buNone/>
            </a:pPr>
            <a:r>
              <a:rPr b="0" i="0" lang="en-US" sz="1950" u="none" cap="none" strike="noStrike">
                <a:solidFill>
                  <a:srgbClr val="091C53"/>
                </a:solidFill>
                <a:latin typeface="Instrument Sans"/>
                <a:ea typeface="Instrument Sans"/>
                <a:cs typeface="Instrument Sans"/>
                <a:sym typeface="Instrument Sans"/>
              </a:rPr>
              <a:t>Bad</a:t>
            </a:r>
            <a:r>
              <a:rPr b="0" i="0" lang="en-US" sz="1950" u="none" cap="none" strike="noStrike">
                <a:solidFill>
                  <a:srgbClr val="000000"/>
                </a:solidFill>
                <a:latin typeface="Instrument Sans"/>
                <a:ea typeface="Instrument Sans"/>
                <a:cs typeface="Instrument Sans"/>
                <a:sym typeface="Instrument Sans"/>
              </a:rPr>
              <a:t>👎</a:t>
            </a:r>
            <a:r>
              <a:rPr b="0" i="0" lang="en-US" sz="1950" u="none" cap="none" strike="noStrike">
                <a:solidFill>
                  <a:srgbClr val="091C53"/>
                </a:solidFill>
                <a:latin typeface="Instrument Sans"/>
                <a:ea typeface="Instrument Sans"/>
                <a:cs typeface="Instrument Sans"/>
                <a:sym typeface="Instrument Sans"/>
              </a:rPr>
              <a:t> AIに丸投げする</a:t>
            </a:r>
            <a:endParaRPr b="0" i="0" sz="1950" u="none" cap="none" strike="noStrike"/>
          </a:p>
        </p:txBody>
      </p:sp>
      <p:sp>
        <p:nvSpPr>
          <p:cNvPr id="255" name="Google Shape;255;p32"/>
          <p:cNvSpPr/>
          <p:nvPr/>
        </p:nvSpPr>
        <p:spPr>
          <a:xfrm>
            <a:off x="7564874" y="3727847"/>
            <a:ext cx="6279356"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1E3063"/>
              </a:buClr>
              <a:buSzPts val="1550"/>
              <a:buFont typeface="Instrument Sans"/>
              <a:buChar char="•"/>
            </a:pPr>
            <a:r>
              <a:rPr b="0" i="0" lang="en-US" sz="1550" u="none" cap="none" strike="noStrike">
                <a:solidFill>
                  <a:srgbClr val="1E3063"/>
                </a:solidFill>
                <a:latin typeface="Instrument Sans"/>
                <a:ea typeface="Instrument Sans"/>
                <a:cs typeface="Instrument Sans"/>
                <a:sym typeface="Instrument Sans"/>
              </a:rPr>
              <a:t>「ガクチカを書いて」と指示するだけ</a:t>
            </a:r>
            <a:endParaRPr b="0" i="0" sz="1550" u="none" cap="none" strike="noStrike"/>
          </a:p>
        </p:txBody>
      </p:sp>
      <p:sp>
        <p:nvSpPr>
          <p:cNvPr id="256" name="Google Shape;256;p32"/>
          <p:cNvSpPr/>
          <p:nvPr/>
        </p:nvSpPr>
        <p:spPr>
          <a:xfrm>
            <a:off x="7564874" y="4114800"/>
            <a:ext cx="6279356"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1E3063"/>
              </a:buClr>
              <a:buSzPts val="1550"/>
              <a:buFont typeface="Instrument Sans"/>
              <a:buChar char="•"/>
            </a:pPr>
            <a:r>
              <a:rPr b="0" i="0" lang="en-US" sz="1550" u="none" cap="none" strike="noStrike">
                <a:solidFill>
                  <a:srgbClr val="1E3063"/>
                </a:solidFill>
                <a:latin typeface="Instrument Sans"/>
                <a:ea typeface="Instrument Sans"/>
                <a:cs typeface="Instrument Sans"/>
                <a:sym typeface="Instrument Sans"/>
              </a:rPr>
              <a:t>AIの出力をそのまま使用する</a:t>
            </a:r>
            <a:endParaRPr b="0" i="0" sz="1550" u="none" cap="none" strike="noStrike"/>
          </a:p>
        </p:txBody>
      </p:sp>
      <p:sp>
        <p:nvSpPr>
          <p:cNvPr id="257" name="Google Shape;257;p32"/>
          <p:cNvSpPr/>
          <p:nvPr/>
        </p:nvSpPr>
        <p:spPr>
          <a:xfrm>
            <a:off x="7564874" y="4501753"/>
            <a:ext cx="6279356"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1E3063"/>
              </a:buClr>
              <a:buSzPts val="1550"/>
              <a:buFont typeface="Instrument Sans"/>
              <a:buChar char="•"/>
            </a:pPr>
            <a:r>
              <a:rPr b="0" i="0" lang="en-US" sz="1550" u="none" cap="none" strike="noStrike">
                <a:solidFill>
                  <a:srgbClr val="1E3063"/>
                </a:solidFill>
                <a:latin typeface="Instrument Sans"/>
                <a:ea typeface="Instrument Sans"/>
                <a:cs typeface="Instrument Sans"/>
                <a:sym typeface="Instrument Sans"/>
              </a:rPr>
              <a:t>自分の言葉で語れない内容を含める</a:t>
            </a:r>
            <a:endParaRPr b="0" i="0" sz="1550" u="none" cap="none" strike="noStrike"/>
          </a:p>
        </p:txBody>
      </p:sp>
      <p:sp>
        <p:nvSpPr>
          <p:cNvPr id="258" name="Google Shape;258;p32"/>
          <p:cNvSpPr/>
          <p:nvPr/>
        </p:nvSpPr>
        <p:spPr>
          <a:xfrm>
            <a:off x="7564874" y="4888706"/>
            <a:ext cx="6279356" cy="317540"/>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1E3063"/>
              </a:buClr>
              <a:buSzPts val="1550"/>
              <a:buFont typeface="Instrument Sans"/>
              <a:buChar char="•"/>
            </a:pPr>
            <a:r>
              <a:rPr b="0" i="0" lang="en-US" sz="1550" u="none" cap="none" strike="noStrike">
                <a:solidFill>
                  <a:srgbClr val="1E3063"/>
                </a:solidFill>
                <a:latin typeface="Instrument Sans"/>
                <a:ea typeface="Instrument Sans"/>
                <a:cs typeface="Instrument Sans"/>
                <a:sym typeface="Instrument Sans"/>
              </a:rPr>
              <a:t>自分の経験や価値観を反映しない</a:t>
            </a:r>
            <a:endParaRPr b="0" i="0" sz="1550" u="none" cap="none" strike="noStrike"/>
          </a:p>
        </p:txBody>
      </p:sp>
      <p:sp>
        <p:nvSpPr>
          <p:cNvPr id="259" name="Google Shape;259;p32"/>
          <p:cNvSpPr/>
          <p:nvPr/>
        </p:nvSpPr>
        <p:spPr>
          <a:xfrm>
            <a:off x="793790" y="5498902"/>
            <a:ext cx="13042821"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AIは「思考の補助輪」であり、運転手はあくまで「あなた自身」です。AIを使ってガクチカを作る過程そのものが、自己分析になります。AIとの対話を通じて自分の経験を掘り下げ、言語化する過程で、自分でも気づいていなかった強みや価値観が明確になることもあるでしょう。</a:t>
            </a:r>
            <a:endParaRPr b="0" i="0" sz="1550" u="none" cap="none" strike="noStrike"/>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descr="preencoded.png" id="265" name="Google Shape;265;p33"/>
          <p:cNvPicPr preferRelativeResize="0"/>
          <p:nvPr/>
        </p:nvPicPr>
        <p:blipFill rotWithShape="1">
          <a:blip r:embed="rId3">
            <a:alphaModFix/>
          </a:blip>
          <a:srcRect b="0" l="0" r="0" t="0"/>
          <a:stretch/>
        </p:blipFill>
        <p:spPr>
          <a:xfrm>
            <a:off x="8869680" y="0"/>
            <a:ext cx="5760720" cy="8229600"/>
          </a:xfrm>
          <a:prstGeom prst="rect">
            <a:avLst/>
          </a:prstGeom>
          <a:noFill/>
          <a:ln>
            <a:noFill/>
          </a:ln>
        </p:spPr>
      </p:pic>
      <p:sp>
        <p:nvSpPr>
          <p:cNvPr id="266" name="Google Shape;266;p33"/>
          <p:cNvSpPr/>
          <p:nvPr/>
        </p:nvSpPr>
        <p:spPr>
          <a:xfrm>
            <a:off x="793790" y="558760"/>
            <a:ext cx="7556421" cy="1240155"/>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091C53"/>
              </a:buClr>
              <a:buSzPts val="3900"/>
              <a:buFont typeface="Instrument Sans"/>
              <a:buNone/>
            </a:pPr>
            <a:r>
              <a:rPr b="0" i="0" lang="en-US" sz="3900" u="none" cap="none" strike="noStrike">
                <a:solidFill>
                  <a:srgbClr val="091C53"/>
                </a:solidFill>
                <a:latin typeface="Instrument Sans"/>
                <a:ea typeface="Instrument Sans"/>
                <a:cs typeface="Instrument Sans"/>
                <a:sym typeface="Instrument Sans"/>
              </a:rPr>
              <a:t>【Step 1】AIを使った「経験の深掘り」</a:t>
            </a:r>
            <a:endParaRPr b="0" i="0" sz="3900" u="none" cap="none" strike="noStrike"/>
          </a:p>
        </p:txBody>
      </p:sp>
      <p:sp>
        <p:nvSpPr>
          <p:cNvPr id="267" name="Google Shape;267;p33"/>
          <p:cNvSpPr/>
          <p:nvPr/>
        </p:nvSpPr>
        <p:spPr>
          <a:xfrm>
            <a:off x="793790" y="2096572"/>
            <a:ext cx="4949547"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091C53"/>
              </a:buClr>
              <a:buSzPts val="1950"/>
              <a:buFont typeface="Instrument Sans"/>
              <a:buNone/>
            </a:pPr>
            <a:r>
              <a:rPr b="0" i="0" lang="en-US" sz="1950" u="none" cap="none" strike="noStrike">
                <a:solidFill>
                  <a:srgbClr val="091C53"/>
                </a:solidFill>
                <a:latin typeface="Instrument Sans"/>
                <a:ea typeface="Instrument Sans"/>
                <a:cs typeface="Instrument Sans"/>
                <a:sym typeface="Instrument Sans"/>
              </a:rPr>
              <a:t>AIをキャリアコンサルタントとして活用する</a:t>
            </a:r>
            <a:endParaRPr b="0" i="0" sz="1950" u="none" cap="none" strike="noStrike"/>
          </a:p>
        </p:txBody>
      </p:sp>
      <p:sp>
        <p:nvSpPr>
          <p:cNvPr id="268" name="Google Shape;268;p33"/>
          <p:cNvSpPr/>
          <p:nvPr/>
        </p:nvSpPr>
        <p:spPr>
          <a:xfrm>
            <a:off x="793790" y="2704386"/>
            <a:ext cx="7556421" cy="3790593"/>
          </a:xfrm>
          <a:prstGeom prst="roundRect">
            <a:avLst>
              <a:gd fmla="val 4712"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3"/>
          <p:cNvSpPr/>
          <p:nvPr/>
        </p:nvSpPr>
        <p:spPr>
          <a:xfrm>
            <a:off x="783908" y="2704386"/>
            <a:ext cx="7576185" cy="3790593"/>
          </a:xfrm>
          <a:prstGeom prst="roundRect">
            <a:avLst>
              <a:gd fmla="val 785"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3"/>
          <p:cNvSpPr/>
          <p:nvPr/>
        </p:nvSpPr>
        <p:spPr>
          <a:xfrm>
            <a:off x="982266" y="2853214"/>
            <a:ext cx="7179469" cy="3492937"/>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Consolas"/>
              <a:buNone/>
            </a:pPr>
            <a:r>
              <a:rPr b="0" i="0" lang="en-US" sz="1550" u="none" cap="none" strike="noStrike">
                <a:solidFill>
                  <a:srgbClr val="1E3063"/>
                </a:solidFill>
                <a:highlight>
                  <a:srgbClr val="CEE6FD"/>
                </a:highlight>
                <a:latin typeface="Consolas"/>
                <a:ea typeface="Consolas"/>
                <a:cs typeface="Consolas"/>
                <a:sym typeface="Consolas"/>
              </a:rPr>
              <a:t>あなたはキャリアコンサルタントです。私は大学院で○○の研究をしています。この経験から、就職活動で使えるガクチカ（学生時代に力を入れたこと）を作りたいと考えています。以下の点について質問してください：1. どのような困難に直面し、どう乗り越えたか2. その過程で身についたスキルは何か3. そのスキルはビジネスでどう活かせるか4. 企業が知りたいと思う具体的なエピソードは何か私の回答を踏まえて、より具体的な質問を続けてください。</a:t>
            </a:r>
            <a:endParaRPr b="0" i="0" sz="1550" u="none" cap="none" strike="noStrike"/>
          </a:p>
        </p:txBody>
      </p:sp>
      <p:sp>
        <p:nvSpPr>
          <p:cNvPr id="271" name="Google Shape;271;p33"/>
          <p:cNvSpPr/>
          <p:nvPr/>
        </p:nvSpPr>
        <p:spPr>
          <a:xfrm>
            <a:off x="793790" y="6718221"/>
            <a:ext cx="7556421"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このようなプロンプトでAIに指示すると、自分では気づかなかった経験の価値を発見できることがあります。AIの質問に答えていく過程で、自分の行動の「なぜ？」が明確になり、より深い自己理解につながります。</a:t>
            </a:r>
            <a:endParaRPr b="0" i="0" sz="1550" u="none" cap="none" strike="noStrike"/>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4"/>
          <p:cNvSpPr/>
          <p:nvPr/>
        </p:nvSpPr>
        <p:spPr>
          <a:xfrm>
            <a:off x="703183" y="483394"/>
            <a:ext cx="10075426" cy="549235"/>
          </a:xfrm>
          <a:prstGeom prst="rect">
            <a:avLst/>
          </a:prstGeom>
          <a:noFill/>
          <a:ln>
            <a:noFill/>
          </a:ln>
        </p:spPr>
        <p:txBody>
          <a:bodyPr anchorCtr="0" anchor="t" bIns="0" lIns="0" spcFirstLastPara="1" rIns="0" wrap="square" tIns="0">
            <a:noAutofit/>
          </a:bodyPr>
          <a:lstStyle/>
          <a:p>
            <a:pPr indent="0" lvl="0" marL="0" marR="0" rtl="0" algn="l">
              <a:lnSpc>
                <a:spcPct val="124637"/>
              </a:lnSpc>
              <a:spcBef>
                <a:spcPts val="0"/>
              </a:spcBef>
              <a:spcAft>
                <a:spcPts val="0"/>
              </a:spcAft>
              <a:buClr>
                <a:srgbClr val="091C53"/>
              </a:buClr>
              <a:buSzPts val="3450"/>
              <a:buFont typeface="Instrument Sans"/>
              <a:buNone/>
            </a:pPr>
            <a:r>
              <a:rPr b="0" i="0" lang="en-US" sz="3450" u="none" cap="none" strike="noStrike">
                <a:solidFill>
                  <a:srgbClr val="091C53"/>
                </a:solidFill>
                <a:latin typeface="Instrument Sans"/>
                <a:ea typeface="Instrument Sans"/>
                <a:cs typeface="Instrument Sans"/>
                <a:sym typeface="Instrument Sans"/>
              </a:rPr>
              <a:t>【Step 2】AIを使った「文章のブラッシュアップ」</a:t>
            </a:r>
            <a:endParaRPr b="0" i="0" sz="3450" u="none" cap="none" strike="noStrike"/>
          </a:p>
        </p:txBody>
      </p:sp>
      <p:sp>
        <p:nvSpPr>
          <p:cNvPr id="278" name="Google Shape;278;p34"/>
          <p:cNvSpPr/>
          <p:nvPr/>
        </p:nvSpPr>
        <p:spPr>
          <a:xfrm>
            <a:off x="703183" y="1471970"/>
            <a:ext cx="2852976" cy="274677"/>
          </a:xfrm>
          <a:prstGeom prst="rect">
            <a:avLst/>
          </a:prstGeom>
          <a:noFill/>
          <a:ln>
            <a:noFill/>
          </a:ln>
        </p:spPr>
        <p:txBody>
          <a:bodyPr anchorCtr="0" anchor="t" bIns="0" lIns="0" spcFirstLastPara="1" rIns="0" wrap="square" tIns="0">
            <a:noAutofit/>
          </a:bodyPr>
          <a:lstStyle/>
          <a:p>
            <a:pPr indent="0" lvl="0" marL="0" marR="0" rtl="0" algn="l">
              <a:lnSpc>
                <a:spcPct val="126470"/>
              </a:lnSpc>
              <a:spcBef>
                <a:spcPts val="0"/>
              </a:spcBef>
              <a:spcAft>
                <a:spcPts val="0"/>
              </a:spcAft>
              <a:buClr>
                <a:srgbClr val="091C53"/>
              </a:buClr>
              <a:buSzPts val="1700"/>
              <a:buFont typeface="Instrument Sans"/>
              <a:buNone/>
            </a:pPr>
            <a:r>
              <a:rPr b="0" i="0" lang="en-US" sz="1700" u="none" cap="none" strike="noStrike">
                <a:solidFill>
                  <a:srgbClr val="091C53"/>
                </a:solidFill>
                <a:latin typeface="Instrument Sans"/>
                <a:ea typeface="Instrument Sans"/>
                <a:cs typeface="Instrument Sans"/>
                <a:sym typeface="Instrument Sans"/>
              </a:rPr>
              <a:t>自分で作った骨子をAIに渡す</a:t>
            </a:r>
            <a:endParaRPr b="0" i="0" sz="1700" u="none" cap="none" strike="noStrike"/>
          </a:p>
        </p:txBody>
      </p:sp>
      <p:sp>
        <p:nvSpPr>
          <p:cNvPr id="279" name="Google Shape;279;p34"/>
          <p:cNvSpPr/>
          <p:nvPr/>
        </p:nvSpPr>
        <p:spPr>
          <a:xfrm>
            <a:off x="703183" y="1944410"/>
            <a:ext cx="6397585" cy="5609153"/>
          </a:xfrm>
          <a:prstGeom prst="roundRect">
            <a:avLst>
              <a:gd fmla="val 2821"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4"/>
          <p:cNvSpPr/>
          <p:nvPr/>
        </p:nvSpPr>
        <p:spPr>
          <a:xfrm>
            <a:off x="694492" y="1944410"/>
            <a:ext cx="6414968" cy="5609153"/>
          </a:xfrm>
          <a:prstGeom prst="roundRect">
            <a:avLst>
              <a:gd fmla="val 470"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4"/>
          <p:cNvSpPr/>
          <p:nvPr/>
        </p:nvSpPr>
        <p:spPr>
          <a:xfrm>
            <a:off x="870228" y="2076212"/>
            <a:ext cx="6063496" cy="5345549"/>
          </a:xfrm>
          <a:prstGeom prst="rect">
            <a:avLst/>
          </a:prstGeom>
          <a:noFill/>
          <a:ln>
            <a:noFill/>
          </a:ln>
        </p:spPr>
        <p:txBody>
          <a:bodyPr anchorCtr="0" anchor="t" bIns="0" lIns="0" spcFirstLastPara="1" rIns="0" wrap="square" tIns="0">
            <a:noAutofit/>
          </a:bodyPr>
          <a:lstStyle/>
          <a:p>
            <a:pPr indent="0" lvl="0" marL="0" marR="0" rtl="0" algn="l">
              <a:lnSpc>
                <a:spcPct val="162962"/>
              </a:lnSpc>
              <a:spcBef>
                <a:spcPts val="0"/>
              </a:spcBef>
              <a:spcAft>
                <a:spcPts val="0"/>
              </a:spcAft>
              <a:buClr>
                <a:srgbClr val="1E3063"/>
              </a:buClr>
              <a:buSzPts val="1350"/>
              <a:buFont typeface="Consolas"/>
              <a:buNone/>
            </a:pPr>
            <a:r>
              <a:rPr b="0" i="0" lang="en-US" sz="1350" u="none" cap="none" strike="noStrike">
                <a:solidFill>
                  <a:srgbClr val="1E3063"/>
                </a:solidFill>
                <a:highlight>
                  <a:srgbClr val="CEE6FD"/>
                </a:highlight>
                <a:latin typeface="Consolas"/>
                <a:ea typeface="Consolas"/>
                <a:cs typeface="Consolas"/>
                <a:sym typeface="Consolas"/>
              </a:rPr>
              <a:t>以下は私が作成したガクチカの骨子です：【状況】大学院1年次に○○の研究に取り組んでいた際、△△という問題に直面した。【課題】従来の方法では□□が難しく、新たなアプローチが必要だった。【行動】◇◇の文献を調査し、■■というアプローチを試みた。壁にぶつかった際は...【結果】最終的に▽▽という成果を得られ、××というスキルが身についた。これを、企業の採用担当者が読んで魅力的に感じる文章にブラッシュアップしてください。専門用語は避け、具体的なエピソードを残しつつ、簡潔にまとめてください。</a:t>
            </a:r>
            <a:endParaRPr b="0" i="0" sz="1350" u="none" cap="none" strike="noStrike"/>
          </a:p>
        </p:txBody>
      </p:sp>
      <p:sp>
        <p:nvSpPr>
          <p:cNvPr id="282" name="Google Shape;282;p34"/>
          <p:cNvSpPr/>
          <p:nvPr/>
        </p:nvSpPr>
        <p:spPr>
          <a:xfrm>
            <a:off x="7537252" y="1471970"/>
            <a:ext cx="2197418" cy="274677"/>
          </a:xfrm>
          <a:prstGeom prst="rect">
            <a:avLst/>
          </a:prstGeom>
          <a:noFill/>
          <a:ln>
            <a:noFill/>
          </a:ln>
        </p:spPr>
        <p:txBody>
          <a:bodyPr anchorCtr="0" anchor="t" bIns="0" lIns="0" spcFirstLastPara="1" rIns="0" wrap="square" tIns="0">
            <a:noAutofit/>
          </a:bodyPr>
          <a:lstStyle/>
          <a:p>
            <a:pPr indent="0" lvl="0" marL="0" marR="0" rtl="0" algn="l">
              <a:lnSpc>
                <a:spcPct val="126470"/>
              </a:lnSpc>
              <a:spcBef>
                <a:spcPts val="0"/>
              </a:spcBef>
              <a:spcAft>
                <a:spcPts val="0"/>
              </a:spcAft>
              <a:buClr>
                <a:srgbClr val="091C53"/>
              </a:buClr>
              <a:buSzPts val="1700"/>
              <a:buFont typeface="Instrument Sans"/>
              <a:buNone/>
            </a:pPr>
            <a:r>
              <a:rPr b="0" i="0" lang="en-US" sz="1700" u="none" cap="none" strike="noStrike">
                <a:solidFill>
                  <a:srgbClr val="091C53"/>
                </a:solidFill>
                <a:latin typeface="Instrument Sans"/>
                <a:ea typeface="Instrument Sans"/>
                <a:cs typeface="Instrument Sans"/>
                <a:sym typeface="Instrument Sans"/>
              </a:rPr>
              <a:t>ポイント</a:t>
            </a:r>
            <a:endParaRPr b="0" i="0" sz="1700" u="none" cap="none" strike="noStrike"/>
          </a:p>
        </p:txBody>
      </p:sp>
      <p:sp>
        <p:nvSpPr>
          <p:cNvPr id="283" name="Google Shape;283;p34"/>
          <p:cNvSpPr/>
          <p:nvPr/>
        </p:nvSpPr>
        <p:spPr>
          <a:xfrm>
            <a:off x="7537252" y="1922383"/>
            <a:ext cx="6397585" cy="281345"/>
          </a:xfrm>
          <a:prstGeom prst="rect">
            <a:avLst/>
          </a:prstGeom>
          <a:noFill/>
          <a:ln>
            <a:noFill/>
          </a:ln>
        </p:spPr>
        <p:txBody>
          <a:bodyPr anchorCtr="0" anchor="t" bIns="0" lIns="0" spcFirstLastPara="1" rIns="0" wrap="square" tIns="0">
            <a:noAutofit/>
          </a:bodyPr>
          <a:lstStyle/>
          <a:p>
            <a:pPr indent="-342900" lvl="0" marL="342900" marR="0" rtl="0" algn="l">
              <a:lnSpc>
                <a:spcPct val="162962"/>
              </a:lnSpc>
              <a:spcBef>
                <a:spcPts val="0"/>
              </a:spcBef>
              <a:spcAft>
                <a:spcPts val="0"/>
              </a:spcAft>
              <a:buClr>
                <a:srgbClr val="1E3063"/>
              </a:buClr>
              <a:buSzPts val="1350"/>
              <a:buFont typeface="Instrument Sans"/>
              <a:buChar char="•"/>
            </a:pPr>
            <a:r>
              <a:rPr b="0" i="0" lang="en-US" sz="1350" u="none" cap="none" strike="noStrike">
                <a:solidFill>
                  <a:srgbClr val="1E3063"/>
                </a:solidFill>
                <a:latin typeface="Instrument Sans"/>
                <a:ea typeface="Instrument Sans"/>
                <a:cs typeface="Instrument Sans"/>
                <a:sym typeface="Instrument Sans"/>
              </a:rPr>
              <a:t>必ず自分で骨子（箇条書き）を作ってからAIに渡す</a:t>
            </a:r>
            <a:endParaRPr b="0" i="0" sz="1350" u="none" cap="none" strike="noStrike"/>
          </a:p>
        </p:txBody>
      </p:sp>
      <p:sp>
        <p:nvSpPr>
          <p:cNvPr id="284" name="Google Shape;284;p34"/>
          <p:cNvSpPr/>
          <p:nvPr/>
        </p:nvSpPr>
        <p:spPr>
          <a:xfrm>
            <a:off x="7537252" y="2265164"/>
            <a:ext cx="6397585" cy="281345"/>
          </a:xfrm>
          <a:prstGeom prst="rect">
            <a:avLst/>
          </a:prstGeom>
          <a:noFill/>
          <a:ln>
            <a:noFill/>
          </a:ln>
        </p:spPr>
        <p:txBody>
          <a:bodyPr anchorCtr="0" anchor="t" bIns="0" lIns="0" spcFirstLastPara="1" rIns="0" wrap="square" tIns="0">
            <a:noAutofit/>
          </a:bodyPr>
          <a:lstStyle/>
          <a:p>
            <a:pPr indent="-342900" lvl="0" marL="342900" marR="0" rtl="0" algn="l">
              <a:lnSpc>
                <a:spcPct val="162962"/>
              </a:lnSpc>
              <a:spcBef>
                <a:spcPts val="0"/>
              </a:spcBef>
              <a:spcAft>
                <a:spcPts val="0"/>
              </a:spcAft>
              <a:buClr>
                <a:srgbClr val="1E3063"/>
              </a:buClr>
              <a:buSzPts val="1350"/>
              <a:buFont typeface="Instrument Sans"/>
              <a:buChar char="•"/>
            </a:pPr>
            <a:r>
              <a:rPr b="0" i="0" lang="en-US" sz="1350" u="none" cap="none" strike="noStrike">
                <a:solidFill>
                  <a:srgbClr val="1E3063"/>
                </a:solidFill>
                <a:latin typeface="Instrument Sans"/>
                <a:ea typeface="Instrument Sans"/>
                <a:cs typeface="Instrument Sans"/>
                <a:sym typeface="Instrument Sans"/>
              </a:rPr>
              <a:t>AIの出力はあくまで「たたき台」</a:t>
            </a:r>
            <a:endParaRPr b="0" i="0" sz="1350" u="none" cap="none" strike="noStrike"/>
          </a:p>
        </p:txBody>
      </p:sp>
      <p:sp>
        <p:nvSpPr>
          <p:cNvPr id="285" name="Google Shape;285;p34"/>
          <p:cNvSpPr/>
          <p:nvPr/>
        </p:nvSpPr>
        <p:spPr>
          <a:xfrm>
            <a:off x="7537252" y="2607945"/>
            <a:ext cx="6397585" cy="281345"/>
          </a:xfrm>
          <a:prstGeom prst="rect">
            <a:avLst/>
          </a:prstGeom>
          <a:noFill/>
          <a:ln>
            <a:noFill/>
          </a:ln>
        </p:spPr>
        <p:txBody>
          <a:bodyPr anchorCtr="0" anchor="t" bIns="0" lIns="0" spcFirstLastPara="1" rIns="0" wrap="square" tIns="0">
            <a:noAutofit/>
          </a:bodyPr>
          <a:lstStyle/>
          <a:p>
            <a:pPr indent="-342900" lvl="0" marL="342900" marR="0" rtl="0" algn="l">
              <a:lnSpc>
                <a:spcPct val="162962"/>
              </a:lnSpc>
              <a:spcBef>
                <a:spcPts val="0"/>
              </a:spcBef>
              <a:spcAft>
                <a:spcPts val="0"/>
              </a:spcAft>
              <a:buClr>
                <a:srgbClr val="1E3063"/>
              </a:buClr>
              <a:buSzPts val="1350"/>
              <a:buFont typeface="Instrument Sans"/>
              <a:buChar char="•"/>
            </a:pPr>
            <a:r>
              <a:rPr b="0" i="0" lang="en-US" sz="1350" u="none" cap="none" strike="noStrike">
                <a:solidFill>
                  <a:srgbClr val="1E3063"/>
                </a:solidFill>
                <a:latin typeface="Instrument Sans"/>
                <a:ea typeface="Instrument Sans"/>
                <a:cs typeface="Instrument Sans"/>
                <a:sym typeface="Instrument Sans"/>
              </a:rPr>
              <a:t>違和感のある表現は自分の言葉に置き換える</a:t>
            </a:r>
            <a:endParaRPr b="0" i="0" sz="1350" u="none" cap="none" strike="noStrike"/>
          </a:p>
        </p:txBody>
      </p:sp>
      <p:sp>
        <p:nvSpPr>
          <p:cNvPr id="286" name="Google Shape;286;p34"/>
          <p:cNvSpPr/>
          <p:nvPr/>
        </p:nvSpPr>
        <p:spPr>
          <a:xfrm>
            <a:off x="7537252" y="2950726"/>
            <a:ext cx="6397585" cy="281345"/>
          </a:xfrm>
          <a:prstGeom prst="rect">
            <a:avLst/>
          </a:prstGeom>
          <a:noFill/>
          <a:ln>
            <a:noFill/>
          </a:ln>
        </p:spPr>
        <p:txBody>
          <a:bodyPr anchorCtr="0" anchor="t" bIns="0" lIns="0" spcFirstLastPara="1" rIns="0" wrap="square" tIns="0">
            <a:noAutofit/>
          </a:bodyPr>
          <a:lstStyle/>
          <a:p>
            <a:pPr indent="-342900" lvl="0" marL="342900" marR="0" rtl="0" algn="l">
              <a:lnSpc>
                <a:spcPct val="162962"/>
              </a:lnSpc>
              <a:spcBef>
                <a:spcPts val="0"/>
              </a:spcBef>
              <a:spcAft>
                <a:spcPts val="0"/>
              </a:spcAft>
              <a:buClr>
                <a:srgbClr val="1E3063"/>
              </a:buClr>
              <a:buSzPts val="1350"/>
              <a:buFont typeface="Instrument Sans"/>
              <a:buChar char="•"/>
            </a:pPr>
            <a:r>
              <a:rPr b="0" i="0" lang="en-US" sz="1350" u="none" cap="none" strike="noStrike">
                <a:solidFill>
                  <a:srgbClr val="1E3063"/>
                </a:solidFill>
                <a:latin typeface="Instrument Sans"/>
                <a:ea typeface="Instrument Sans"/>
                <a:cs typeface="Instrument Sans"/>
                <a:sym typeface="Instrument Sans"/>
              </a:rPr>
              <a:t>STARメソッドの構造が崩れていないか確認する</a:t>
            </a:r>
            <a:endParaRPr b="0" i="0" sz="1350" u="none" cap="none" strike="noStrike"/>
          </a:p>
        </p:txBody>
      </p:sp>
      <p:sp>
        <p:nvSpPr>
          <p:cNvPr id="287" name="Google Shape;287;p34"/>
          <p:cNvSpPr/>
          <p:nvPr/>
        </p:nvSpPr>
        <p:spPr>
          <a:xfrm>
            <a:off x="7537252" y="3293507"/>
            <a:ext cx="6397585" cy="281345"/>
          </a:xfrm>
          <a:prstGeom prst="rect">
            <a:avLst/>
          </a:prstGeom>
          <a:noFill/>
          <a:ln>
            <a:noFill/>
          </a:ln>
        </p:spPr>
        <p:txBody>
          <a:bodyPr anchorCtr="0" anchor="t" bIns="0" lIns="0" spcFirstLastPara="1" rIns="0" wrap="square" tIns="0">
            <a:noAutofit/>
          </a:bodyPr>
          <a:lstStyle/>
          <a:p>
            <a:pPr indent="-342900" lvl="0" marL="342900" marR="0" rtl="0" algn="l">
              <a:lnSpc>
                <a:spcPct val="162962"/>
              </a:lnSpc>
              <a:spcBef>
                <a:spcPts val="0"/>
              </a:spcBef>
              <a:spcAft>
                <a:spcPts val="0"/>
              </a:spcAft>
              <a:buClr>
                <a:srgbClr val="1E3063"/>
              </a:buClr>
              <a:buSzPts val="1350"/>
              <a:buFont typeface="Instrument Sans"/>
              <a:buChar char="•"/>
            </a:pPr>
            <a:r>
              <a:rPr b="0" i="0" lang="en-US" sz="1350" u="none" cap="none" strike="noStrike">
                <a:solidFill>
                  <a:srgbClr val="1E3063"/>
                </a:solidFill>
                <a:latin typeface="Instrument Sans"/>
                <a:ea typeface="Instrument Sans"/>
                <a:cs typeface="Instrument Sans"/>
                <a:sym typeface="Instrument Sans"/>
              </a:rPr>
              <a:t>専門用語が一般的な表現に置き換わっているか確認</a:t>
            </a:r>
            <a:endParaRPr b="0" i="0" sz="1350" u="none" cap="none" strike="noStrike"/>
          </a:p>
        </p:txBody>
      </p:sp>
      <p:sp>
        <p:nvSpPr>
          <p:cNvPr id="288" name="Google Shape;288;p34"/>
          <p:cNvSpPr/>
          <p:nvPr/>
        </p:nvSpPr>
        <p:spPr>
          <a:xfrm>
            <a:off x="7537252" y="3732967"/>
            <a:ext cx="6397585" cy="844034"/>
          </a:xfrm>
          <a:prstGeom prst="rect">
            <a:avLst/>
          </a:prstGeom>
          <a:noFill/>
          <a:ln>
            <a:noFill/>
          </a:ln>
        </p:spPr>
        <p:txBody>
          <a:bodyPr anchorCtr="0" anchor="t" bIns="0" lIns="0" spcFirstLastPara="1" rIns="0" wrap="square" tIns="0">
            <a:noAutofit/>
          </a:bodyPr>
          <a:lstStyle/>
          <a:p>
            <a:pPr indent="0" lvl="0" marL="0" marR="0" rtl="0" algn="l">
              <a:lnSpc>
                <a:spcPct val="162962"/>
              </a:lnSpc>
              <a:spcBef>
                <a:spcPts val="0"/>
              </a:spcBef>
              <a:spcAft>
                <a:spcPts val="0"/>
              </a:spcAft>
              <a:buClr>
                <a:srgbClr val="1E3063"/>
              </a:buClr>
              <a:buSzPts val="1350"/>
              <a:buFont typeface="Instrument Sans"/>
              <a:buNone/>
            </a:pPr>
            <a:r>
              <a:rPr b="0" i="0" lang="en-US" sz="1350" u="none" cap="none" strike="noStrike">
                <a:solidFill>
                  <a:srgbClr val="1E3063"/>
                </a:solidFill>
                <a:latin typeface="Instrument Sans"/>
                <a:ea typeface="Instrument Sans"/>
                <a:cs typeface="Instrument Sans"/>
                <a:sym typeface="Instrument Sans"/>
              </a:rPr>
              <a:t>AIの提案を鵜呑みにせず、自分の言葉で語れるか確認しながら修正を加えていきましょう。AIとの「共同作業」を通じて、より洗練された文章に仕上げていきます。</a:t>
            </a:r>
            <a:endParaRPr b="0" i="0" sz="1350" u="none" cap="none" strike="noStrike"/>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pic>
        <p:nvPicPr>
          <p:cNvPr descr="preencoded.png" id="294" name="Google Shape;294;p35"/>
          <p:cNvPicPr preferRelativeResize="0"/>
          <p:nvPr/>
        </p:nvPicPr>
        <p:blipFill rotWithShape="1">
          <a:blip r:embed="rId3">
            <a:alphaModFix/>
          </a:blip>
          <a:srcRect b="0" l="0" r="0" t="0"/>
          <a:stretch/>
        </p:blipFill>
        <p:spPr>
          <a:xfrm>
            <a:off x="0" y="0"/>
            <a:ext cx="5760720" cy="8229600"/>
          </a:xfrm>
          <a:prstGeom prst="rect">
            <a:avLst/>
          </a:prstGeom>
          <a:noFill/>
          <a:ln>
            <a:noFill/>
          </a:ln>
        </p:spPr>
      </p:pic>
      <p:sp>
        <p:nvSpPr>
          <p:cNvPr id="295" name="Google Shape;295;p35"/>
          <p:cNvSpPr/>
          <p:nvPr/>
        </p:nvSpPr>
        <p:spPr>
          <a:xfrm>
            <a:off x="6061948" y="496372"/>
            <a:ext cx="7887176" cy="44958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91C53"/>
              </a:buClr>
              <a:buSzPts val="2800"/>
              <a:buFont typeface="Instrument Sans"/>
              <a:buNone/>
            </a:pPr>
            <a:r>
              <a:rPr b="0" i="0" lang="en-US" sz="2800" u="none" cap="none" strike="noStrike">
                <a:solidFill>
                  <a:srgbClr val="091C53"/>
                </a:solidFill>
                <a:latin typeface="Instrument Sans"/>
                <a:ea typeface="Instrument Sans"/>
                <a:cs typeface="Instrument Sans"/>
                <a:sym typeface="Instrument Sans"/>
              </a:rPr>
              <a:t>【Step 3】AIを使った「面接シミュレーション」</a:t>
            </a:r>
            <a:endParaRPr b="0" i="0" sz="2800" u="none" cap="none" strike="noStrike"/>
          </a:p>
        </p:txBody>
      </p:sp>
      <p:sp>
        <p:nvSpPr>
          <p:cNvPr id="296" name="Google Shape;296;p35"/>
          <p:cNvSpPr/>
          <p:nvPr/>
        </p:nvSpPr>
        <p:spPr>
          <a:xfrm>
            <a:off x="6061948" y="1161693"/>
            <a:ext cx="7992904" cy="230267"/>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1E3063"/>
              </a:buClr>
              <a:buSzPts val="1100"/>
              <a:buFont typeface="Instrument Sans"/>
              <a:buNone/>
            </a:pPr>
            <a:r>
              <a:rPr b="0" i="0" lang="en-US" sz="1100" u="none" cap="none" strike="noStrike">
                <a:solidFill>
                  <a:srgbClr val="1E3063"/>
                </a:solidFill>
                <a:latin typeface="Instrument Sans"/>
                <a:ea typeface="Instrument Sans"/>
                <a:cs typeface="Instrument Sans"/>
                <a:sym typeface="Instrument Sans"/>
              </a:rPr>
              <a:t>作成したガクチカを客観的に評価し、弱点を補強するために、AIに面接官役を演じてもらいましょう。</a:t>
            </a:r>
            <a:endParaRPr b="0" i="0" sz="1100" u="none" cap="none" strike="noStrike"/>
          </a:p>
        </p:txBody>
      </p:sp>
      <p:sp>
        <p:nvSpPr>
          <p:cNvPr id="297" name="Google Shape;297;p35"/>
          <p:cNvSpPr/>
          <p:nvPr/>
        </p:nvSpPr>
        <p:spPr>
          <a:xfrm>
            <a:off x="6061948" y="1553766"/>
            <a:ext cx="7992904" cy="3669744"/>
          </a:xfrm>
          <a:prstGeom prst="roundRect">
            <a:avLst>
              <a:gd fmla="val 3529"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5"/>
          <p:cNvSpPr/>
          <p:nvPr/>
        </p:nvSpPr>
        <p:spPr>
          <a:xfrm>
            <a:off x="6054804" y="1553766"/>
            <a:ext cx="8007191" cy="3669744"/>
          </a:xfrm>
          <a:prstGeom prst="roundRect">
            <a:avLst>
              <a:gd fmla="val 588"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5"/>
          <p:cNvSpPr/>
          <p:nvPr/>
        </p:nvSpPr>
        <p:spPr>
          <a:xfrm>
            <a:off x="6198632" y="1661636"/>
            <a:ext cx="7719536" cy="3454003"/>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1E3063"/>
              </a:buClr>
              <a:buSzPts val="1100"/>
              <a:buFont typeface="Consolas"/>
              <a:buNone/>
            </a:pPr>
            <a:r>
              <a:rPr b="0" i="0" lang="en-US" sz="1100" u="none" cap="none" strike="noStrike">
                <a:solidFill>
                  <a:srgbClr val="1E3063"/>
                </a:solidFill>
                <a:highlight>
                  <a:srgbClr val="CEE6FD"/>
                </a:highlight>
                <a:latin typeface="Consolas"/>
                <a:ea typeface="Consolas"/>
                <a:cs typeface="Consolas"/>
                <a:sym typeface="Consolas"/>
              </a:rPr>
              <a:t>あなたは厳しい企業の面接官です。私が作成したガクチカを読み、実際の面接でありそうな深掘りの質問をしてください。特に以下の点を中心に質問してください：1. 具体性が足りない部分2. 論理的に飛躍している部分3. 成果やスキルの証明が弱い部分4. 入社後どう活かせるかが見えない部分私のガクチカ：「大学院では○○の研究に取り組み...（中略）...という能力が身につきました。」質問後、改善すべきポイントも教えてください。</a:t>
            </a:r>
            <a:endParaRPr b="0" i="0" sz="1100" u="none" cap="none" strike="noStrike"/>
          </a:p>
        </p:txBody>
      </p:sp>
      <p:sp>
        <p:nvSpPr>
          <p:cNvPr id="300" name="Google Shape;300;p35"/>
          <p:cNvSpPr/>
          <p:nvPr/>
        </p:nvSpPr>
        <p:spPr>
          <a:xfrm>
            <a:off x="6061948" y="5385316"/>
            <a:ext cx="323731" cy="323731"/>
          </a:xfrm>
          <a:prstGeom prst="roundRect">
            <a:avLst>
              <a:gd fmla="val 40004"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5"/>
          <p:cNvSpPr/>
          <p:nvPr/>
        </p:nvSpPr>
        <p:spPr>
          <a:xfrm>
            <a:off x="6115883" y="5412224"/>
            <a:ext cx="215741" cy="26979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E3063"/>
              </a:buClr>
              <a:buSzPts val="1650"/>
              <a:buFont typeface="Instrument Sans"/>
              <a:buNone/>
            </a:pPr>
            <a:r>
              <a:rPr b="0" i="0" lang="en-US" sz="1650" u="none" cap="none" strike="noStrike">
                <a:solidFill>
                  <a:srgbClr val="1E3063"/>
                </a:solidFill>
                <a:latin typeface="Instrument Sans"/>
                <a:ea typeface="Instrument Sans"/>
                <a:cs typeface="Instrument Sans"/>
                <a:sym typeface="Instrument Sans"/>
              </a:rPr>
              <a:t>1</a:t>
            </a:r>
            <a:endParaRPr b="0" i="0" sz="1650" u="none" cap="none" strike="noStrike"/>
          </a:p>
        </p:txBody>
      </p:sp>
      <p:sp>
        <p:nvSpPr>
          <p:cNvPr id="302" name="Google Shape;302;p35"/>
          <p:cNvSpPr/>
          <p:nvPr/>
        </p:nvSpPr>
        <p:spPr>
          <a:xfrm>
            <a:off x="6529507" y="5434727"/>
            <a:ext cx="2337197" cy="22479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E3063"/>
              </a:buClr>
              <a:buSzPts val="1400"/>
              <a:buFont typeface="Instrument Sans"/>
              <a:buNone/>
            </a:pPr>
            <a:r>
              <a:rPr b="0" i="0" lang="en-US" sz="1400" u="none" cap="none" strike="noStrike">
                <a:solidFill>
                  <a:srgbClr val="1E3063"/>
                </a:solidFill>
                <a:latin typeface="Instrument Sans"/>
                <a:ea typeface="Instrument Sans"/>
                <a:cs typeface="Instrument Sans"/>
                <a:sym typeface="Instrument Sans"/>
              </a:rPr>
              <a:t>想定質問への回答を準備する</a:t>
            </a:r>
            <a:endParaRPr b="0" i="0" sz="1400" u="none" cap="none" strike="noStrike"/>
          </a:p>
        </p:txBody>
      </p:sp>
      <p:sp>
        <p:nvSpPr>
          <p:cNvPr id="303" name="Google Shape;303;p35"/>
          <p:cNvSpPr/>
          <p:nvPr/>
        </p:nvSpPr>
        <p:spPr>
          <a:xfrm>
            <a:off x="6529507" y="5745837"/>
            <a:ext cx="7525345" cy="230267"/>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1E3063"/>
              </a:buClr>
              <a:buSzPts val="1100"/>
              <a:buFont typeface="Instrument Sans"/>
              <a:buNone/>
            </a:pPr>
            <a:r>
              <a:rPr b="0" i="0" lang="en-US" sz="1100" u="none" cap="none" strike="noStrike">
                <a:solidFill>
                  <a:srgbClr val="1E3063"/>
                </a:solidFill>
                <a:latin typeface="Instrument Sans"/>
                <a:ea typeface="Instrument Sans"/>
                <a:cs typeface="Instrument Sans"/>
                <a:sym typeface="Instrument Sans"/>
              </a:rPr>
              <a:t>AIが指摘した弱点や提示した質問に対する回答を考えておくことで、実際の面接でも余裕を持って対応できます。</a:t>
            </a:r>
            <a:endParaRPr b="0" i="0" sz="1100" u="none" cap="none" strike="noStrike"/>
          </a:p>
        </p:txBody>
      </p:sp>
      <p:sp>
        <p:nvSpPr>
          <p:cNvPr id="304" name="Google Shape;304;p35"/>
          <p:cNvSpPr/>
          <p:nvPr/>
        </p:nvSpPr>
        <p:spPr>
          <a:xfrm>
            <a:off x="6061948" y="6263878"/>
            <a:ext cx="323731" cy="323731"/>
          </a:xfrm>
          <a:prstGeom prst="roundRect">
            <a:avLst>
              <a:gd fmla="val 40004"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5"/>
          <p:cNvSpPr/>
          <p:nvPr/>
        </p:nvSpPr>
        <p:spPr>
          <a:xfrm>
            <a:off x="6115883" y="6290786"/>
            <a:ext cx="215741" cy="26979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E3063"/>
              </a:buClr>
              <a:buSzPts val="1650"/>
              <a:buFont typeface="Instrument Sans"/>
              <a:buNone/>
            </a:pPr>
            <a:r>
              <a:rPr b="0" i="0" lang="en-US" sz="1650" u="none" cap="none" strike="noStrike">
                <a:solidFill>
                  <a:srgbClr val="1E3063"/>
                </a:solidFill>
                <a:latin typeface="Instrument Sans"/>
                <a:ea typeface="Instrument Sans"/>
                <a:cs typeface="Instrument Sans"/>
                <a:sym typeface="Instrument Sans"/>
              </a:rPr>
              <a:t>2</a:t>
            </a:r>
            <a:endParaRPr b="0" i="0" sz="1650" u="none" cap="none" strike="noStrike"/>
          </a:p>
        </p:txBody>
      </p:sp>
      <p:sp>
        <p:nvSpPr>
          <p:cNvPr id="306" name="Google Shape;306;p35"/>
          <p:cNvSpPr/>
          <p:nvPr/>
        </p:nvSpPr>
        <p:spPr>
          <a:xfrm>
            <a:off x="6529507" y="6313289"/>
            <a:ext cx="2337197" cy="22479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E3063"/>
              </a:buClr>
              <a:buSzPts val="1400"/>
              <a:buFont typeface="Instrument Sans"/>
              <a:buNone/>
            </a:pPr>
            <a:r>
              <a:rPr b="0" i="0" lang="en-US" sz="1400" u="none" cap="none" strike="noStrike">
                <a:solidFill>
                  <a:srgbClr val="1E3063"/>
                </a:solidFill>
                <a:latin typeface="Instrument Sans"/>
                <a:ea typeface="Instrument Sans"/>
                <a:cs typeface="Instrument Sans"/>
                <a:sym typeface="Instrument Sans"/>
              </a:rPr>
              <a:t>エピソードの具体性を高める</a:t>
            </a:r>
            <a:endParaRPr b="0" i="0" sz="1400" u="none" cap="none" strike="noStrike"/>
          </a:p>
        </p:txBody>
      </p:sp>
      <p:sp>
        <p:nvSpPr>
          <p:cNvPr id="307" name="Google Shape;307;p35"/>
          <p:cNvSpPr/>
          <p:nvPr/>
        </p:nvSpPr>
        <p:spPr>
          <a:xfrm>
            <a:off x="6529507" y="6624399"/>
            <a:ext cx="7525345" cy="230267"/>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1E3063"/>
              </a:buClr>
              <a:buSzPts val="1100"/>
              <a:buFont typeface="Instrument Sans"/>
              <a:buNone/>
            </a:pPr>
            <a:r>
              <a:rPr b="0" i="0" lang="en-US" sz="1100" u="none" cap="none" strike="noStrike">
                <a:solidFill>
                  <a:srgbClr val="1E3063"/>
                </a:solidFill>
                <a:latin typeface="Instrument Sans"/>
                <a:ea typeface="Instrument Sans"/>
                <a:cs typeface="Instrument Sans"/>
                <a:sym typeface="Instrument Sans"/>
              </a:rPr>
              <a:t>「どのような状況だったのか」「なぜその方法を選んだのか」など、より詳細な背景情報を追加します。</a:t>
            </a:r>
            <a:endParaRPr b="0" i="0" sz="1100" u="none" cap="none" strike="noStrike"/>
          </a:p>
        </p:txBody>
      </p:sp>
      <p:sp>
        <p:nvSpPr>
          <p:cNvPr id="308" name="Google Shape;308;p35"/>
          <p:cNvSpPr/>
          <p:nvPr/>
        </p:nvSpPr>
        <p:spPr>
          <a:xfrm>
            <a:off x="6061948" y="7142440"/>
            <a:ext cx="323731" cy="323731"/>
          </a:xfrm>
          <a:prstGeom prst="roundRect">
            <a:avLst>
              <a:gd fmla="val 40004"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5"/>
          <p:cNvSpPr/>
          <p:nvPr/>
        </p:nvSpPr>
        <p:spPr>
          <a:xfrm>
            <a:off x="6115883" y="7169348"/>
            <a:ext cx="215741" cy="26979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E3063"/>
              </a:buClr>
              <a:buSzPts val="1650"/>
              <a:buFont typeface="Instrument Sans"/>
              <a:buNone/>
            </a:pPr>
            <a:r>
              <a:rPr b="0" i="0" lang="en-US" sz="1650" u="none" cap="none" strike="noStrike">
                <a:solidFill>
                  <a:srgbClr val="1E3063"/>
                </a:solidFill>
                <a:latin typeface="Instrument Sans"/>
                <a:ea typeface="Instrument Sans"/>
                <a:cs typeface="Instrument Sans"/>
                <a:sym typeface="Instrument Sans"/>
              </a:rPr>
              <a:t>3</a:t>
            </a:r>
            <a:endParaRPr b="0" i="0" sz="1650" u="none" cap="none" strike="noStrike"/>
          </a:p>
        </p:txBody>
      </p:sp>
      <p:sp>
        <p:nvSpPr>
          <p:cNvPr id="310" name="Google Shape;310;p35"/>
          <p:cNvSpPr/>
          <p:nvPr/>
        </p:nvSpPr>
        <p:spPr>
          <a:xfrm>
            <a:off x="6529507" y="7191851"/>
            <a:ext cx="1798558" cy="22479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E3063"/>
              </a:buClr>
              <a:buSzPts val="1400"/>
              <a:buFont typeface="Instrument Sans"/>
              <a:buNone/>
            </a:pPr>
            <a:r>
              <a:rPr b="0" i="0" lang="en-US" sz="1400" u="none" cap="none" strike="noStrike">
                <a:solidFill>
                  <a:srgbClr val="1E3063"/>
                </a:solidFill>
                <a:latin typeface="Instrument Sans"/>
                <a:ea typeface="Instrument Sans"/>
                <a:cs typeface="Instrument Sans"/>
                <a:sym typeface="Instrument Sans"/>
              </a:rPr>
              <a:t>数字や事実で裏付ける</a:t>
            </a:r>
            <a:endParaRPr b="0" i="0" sz="1400" u="none" cap="none" strike="noStrike"/>
          </a:p>
        </p:txBody>
      </p:sp>
      <p:sp>
        <p:nvSpPr>
          <p:cNvPr id="311" name="Google Shape;311;p35"/>
          <p:cNvSpPr/>
          <p:nvPr/>
        </p:nvSpPr>
        <p:spPr>
          <a:xfrm>
            <a:off x="6529507" y="7502962"/>
            <a:ext cx="7525345" cy="230267"/>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1E3063"/>
              </a:buClr>
              <a:buSzPts val="1100"/>
              <a:buFont typeface="Instrument Sans"/>
              <a:buNone/>
            </a:pPr>
            <a:r>
              <a:rPr b="0" i="0" lang="en-US" sz="1100" u="none" cap="none" strike="noStrike">
                <a:solidFill>
                  <a:srgbClr val="1E3063"/>
                </a:solidFill>
                <a:latin typeface="Instrument Sans"/>
                <a:ea typeface="Instrument Sans"/>
                <a:cs typeface="Instrument Sans"/>
                <a:sym typeface="Instrument Sans"/>
              </a:rPr>
              <a:t>「何%改善した」「どれくらいの期間で」など、具体的な数値や事実関係を盛り込みます。</a:t>
            </a:r>
            <a:endParaRPr b="0" i="0" sz="1100" u="none" cap="none" strike="noStrike"/>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pic>
        <p:nvPicPr>
          <p:cNvPr descr="preencoded.png" id="317" name="Google Shape;317;p36"/>
          <p:cNvPicPr preferRelativeResize="0"/>
          <p:nvPr/>
        </p:nvPicPr>
        <p:blipFill rotWithShape="1">
          <a:blip r:embed="rId3">
            <a:alphaModFix/>
          </a:blip>
          <a:srcRect b="0" l="0" r="0" t="0"/>
          <a:stretch/>
        </p:blipFill>
        <p:spPr>
          <a:xfrm>
            <a:off x="8869680" y="0"/>
            <a:ext cx="5760720" cy="8229600"/>
          </a:xfrm>
          <a:prstGeom prst="rect">
            <a:avLst/>
          </a:prstGeom>
          <a:noFill/>
          <a:ln>
            <a:noFill/>
          </a:ln>
        </p:spPr>
      </p:pic>
      <p:sp>
        <p:nvSpPr>
          <p:cNvPr id="318" name="Google Shape;318;p36"/>
          <p:cNvSpPr/>
          <p:nvPr/>
        </p:nvSpPr>
        <p:spPr>
          <a:xfrm>
            <a:off x="700925" y="611500"/>
            <a:ext cx="8259000" cy="1095300"/>
          </a:xfrm>
          <a:prstGeom prst="rect">
            <a:avLst/>
          </a:prstGeom>
          <a:noFill/>
          <a:ln>
            <a:noFill/>
          </a:ln>
        </p:spPr>
        <p:txBody>
          <a:bodyPr anchorCtr="0" anchor="t" bIns="0" lIns="0" spcFirstLastPara="1" rIns="0" wrap="square" tIns="0">
            <a:noAutofit/>
          </a:bodyPr>
          <a:lstStyle/>
          <a:p>
            <a:pPr indent="0" lvl="0" marL="0" marR="0" rtl="0" algn="l">
              <a:lnSpc>
                <a:spcPct val="126470"/>
              </a:lnSpc>
              <a:spcBef>
                <a:spcPts val="0"/>
              </a:spcBef>
              <a:spcAft>
                <a:spcPts val="0"/>
              </a:spcAft>
              <a:buClr>
                <a:srgbClr val="091C53"/>
              </a:buClr>
              <a:buSzPts val="3400"/>
              <a:buFont typeface="Instrument Sans"/>
              <a:buNone/>
            </a:pPr>
            <a:r>
              <a:rPr b="0" i="0" lang="en-US" sz="3400" u="none" cap="none" strike="noStrike">
                <a:solidFill>
                  <a:srgbClr val="091C53"/>
                </a:solidFill>
                <a:latin typeface="Instrument Sans"/>
                <a:ea typeface="Instrument Sans"/>
                <a:cs typeface="Instrument Sans"/>
                <a:sym typeface="Instrument Sans"/>
              </a:rPr>
              <a:t>【Work 1】経験の棚卸し＆骨子作成 (15分)</a:t>
            </a:r>
            <a:endParaRPr b="0" i="0" sz="3400" u="none" cap="none" strike="noStrike"/>
          </a:p>
        </p:txBody>
      </p:sp>
      <p:sp>
        <p:nvSpPr>
          <p:cNvPr id="319" name="Google Shape;319;p36"/>
          <p:cNvSpPr/>
          <p:nvPr/>
        </p:nvSpPr>
        <p:spPr>
          <a:xfrm>
            <a:off x="700921" y="1512451"/>
            <a:ext cx="7742100" cy="560700"/>
          </a:xfrm>
          <a:prstGeom prst="rect">
            <a:avLst/>
          </a:prstGeom>
          <a:noFill/>
          <a:ln>
            <a:noFill/>
          </a:ln>
        </p:spPr>
        <p:txBody>
          <a:bodyPr anchorCtr="0" anchor="t" bIns="0" lIns="0" spcFirstLastPara="1" rIns="0" wrap="square" tIns="0">
            <a:noAutofit/>
          </a:bodyPr>
          <a:lstStyle/>
          <a:p>
            <a:pPr indent="0" lvl="0" marL="0" marR="0" rtl="0" algn="l">
              <a:lnSpc>
                <a:spcPct val="162962"/>
              </a:lnSpc>
              <a:spcBef>
                <a:spcPts val="0"/>
              </a:spcBef>
              <a:spcAft>
                <a:spcPts val="0"/>
              </a:spcAft>
              <a:buClr>
                <a:srgbClr val="1E3063"/>
              </a:buClr>
              <a:buSzPts val="1350"/>
              <a:buFont typeface="Instrument Sans"/>
              <a:buNone/>
            </a:pPr>
            <a:r>
              <a:rPr b="0" i="0" lang="en-US" sz="1300" u="none" cap="none" strike="noStrike">
                <a:solidFill>
                  <a:srgbClr val="1E3063"/>
                </a:solidFill>
                <a:latin typeface="Instrument Sans"/>
                <a:ea typeface="Instrument Sans"/>
                <a:cs typeface="Instrument Sans"/>
                <a:sym typeface="Instrument Sans"/>
              </a:rPr>
              <a:t>ここからは実践ワークです。まずは自分の力で経験を整理し、STARメソッドに沿った骨子を作成しましょう。</a:t>
            </a:r>
            <a:r>
              <a:rPr lang="en-US" sz="1300">
                <a:solidFill>
                  <a:srgbClr val="1A1C1E"/>
                </a:solidFill>
                <a:highlight>
                  <a:srgbClr val="FFFFFF"/>
                </a:highlight>
              </a:rPr>
              <a:t>まずは、エントリーシートで最も一般的な</a:t>
            </a:r>
            <a:r>
              <a:rPr b="1" lang="en-US" sz="1300">
                <a:solidFill>
                  <a:srgbClr val="1A1C1E"/>
                </a:solidFill>
                <a:highlight>
                  <a:srgbClr val="FFFFFF"/>
                </a:highlight>
              </a:rPr>
              <a:t>400字</a:t>
            </a:r>
            <a:r>
              <a:rPr lang="en-US" sz="1300">
                <a:solidFill>
                  <a:srgbClr val="1A1C1E"/>
                </a:solidFill>
                <a:highlight>
                  <a:srgbClr val="FFFFFF"/>
                </a:highlight>
              </a:rPr>
              <a:t>で書くことを想定して、骨子を作りましょう。この400字版が、あなたのガクチカの『基本形』になります。</a:t>
            </a:r>
            <a:endParaRPr b="0" i="0" sz="1300" u="none" cap="none" strike="noStrike"/>
          </a:p>
        </p:txBody>
      </p:sp>
      <p:sp>
        <p:nvSpPr>
          <p:cNvPr id="320" name="Google Shape;320;p36"/>
          <p:cNvSpPr/>
          <p:nvPr/>
        </p:nvSpPr>
        <p:spPr>
          <a:xfrm>
            <a:off x="700921" y="2727484"/>
            <a:ext cx="175141" cy="1290042"/>
          </a:xfrm>
          <a:prstGeom prst="roundRect">
            <a:avLst>
              <a:gd fmla="val 90053"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6"/>
          <p:cNvSpPr/>
          <p:nvPr/>
        </p:nvSpPr>
        <p:spPr>
          <a:xfrm>
            <a:off x="1051203" y="2902625"/>
            <a:ext cx="2190512" cy="273844"/>
          </a:xfrm>
          <a:prstGeom prst="rect">
            <a:avLst/>
          </a:prstGeom>
          <a:noFill/>
          <a:ln>
            <a:noFill/>
          </a:ln>
        </p:spPr>
        <p:txBody>
          <a:bodyPr anchorCtr="0" anchor="t" bIns="0" lIns="0" spcFirstLastPara="1" rIns="0" wrap="square" tIns="0">
            <a:noAutofit/>
          </a:bodyPr>
          <a:lstStyle/>
          <a:p>
            <a:pPr indent="0" lvl="0" marL="0" marR="0" rtl="0" algn="l">
              <a:lnSpc>
                <a:spcPct val="126470"/>
              </a:lnSpc>
              <a:spcBef>
                <a:spcPts val="0"/>
              </a:spcBef>
              <a:spcAft>
                <a:spcPts val="0"/>
              </a:spcAft>
              <a:buClr>
                <a:srgbClr val="1E3063"/>
              </a:buClr>
              <a:buSzPts val="1700"/>
              <a:buFont typeface="Instrument Sans"/>
              <a:buNone/>
            </a:pPr>
            <a:r>
              <a:rPr b="0" i="0" lang="en-US" sz="1700" u="none" cap="none" strike="noStrike">
                <a:solidFill>
                  <a:srgbClr val="1E3063"/>
                </a:solidFill>
                <a:latin typeface="Instrument Sans"/>
                <a:ea typeface="Instrument Sans"/>
                <a:cs typeface="Instrument Sans"/>
                <a:sym typeface="Instrument Sans"/>
              </a:rPr>
              <a:t>経験の棚卸し</a:t>
            </a:r>
            <a:endParaRPr b="0" i="0" sz="1700" u="none" cap="none" strike="noStrike"/>
          </a:p>
        </p:txBody>
      </p:sp>
      <p:sp>
        <p:nvSpPr>
          <p:cNvPr id="322" name="Google Shape;322;p36"/>
          <p:cNvSpPr/>
          <p:nvPr/>
        </p:nvSpPr>
        <p:spPr>
          <a:xfrm>
            <a:off x="1051203" y="3281601"/>
            <a:ext cx="7391876" cy="560784"/>
          </a:xfrm>
          <a:prstGeom prst="rect">
            <a:avLst/>
          </a:prstGeom>
          <a:noFill/>
          <a:ln>
            <a:noFill/>
          </a:ln>
        </p:spPr>
        <p:txBody>
          <a:bodyPr anchorCtr="0" anchor="t" bIns="0" lIns="0" spcFirstLastPara="1" rIns="0" wrap="square" tIns="0">
            <a:noAutofit/>
          </a:bodyPr>
          <a:lstStyle/>
          <a:p>
            <a:pPr indent="0" lvl="0" marL="0" marR="0" rtl="0" algn="l">
              <a:lnSpc>
                <a:spcPct val="162962"/>
              </a:lnSpc>
              <a:spcBef>
                <a:spcPts val="0"/>
              </a:spcBef>
              <a:spcAft>
                <a:spcPts val="0"/>
              </a:spcAft>
              <a:buClr>
                <a:srgbClr val="1E3063"/>
              </a:buClr>
              <a:buSzPts val="1350"/>
              <a:buFont typeface="Instrument Sans"/>
              <a:buNone/>
            </a:pPr>
            <a:r>
              <a:rPr b="0" i="0" lang="en-US" sz="1350" u="none" cap="none" strike="noStrike">
                <a:solidFill>
                  <a:srgbClr val="1E3063"/>
                </a:solidFill>
                <a:latin typeface="Instrument Sans"/>
                <a:ea typeface="Instrument Sans"/>
                <a:cs typeface="Instrument Sans"/>
                <a:sym typeface="Instrument Sans"/>
              </a:rPr>
              <a:t>これまでの研究活動や課外活動の中から、「困難を乗り越えた経験」「工夫して成果を出した経験」「協力して問題解決した経験」などを3つ程度リストアップします。</a:t>
            </a:r>
            <a:endParaRPr b="0" i="0" sz="1350" u="none" cap="none" strike="noStrike"/>
          </a:p>
        </p:txBody>
      </p:sp>
      <p:sp>
        <p:nvSpPr>
          <p:cNvPr id="323" name="Google Shape;323;p36"/>
          <p:cNvSpPr/>
          <p:nvPr/>
        </p:nvSpPr>
        <p:spPr>
          <a:xfrm>
            <a:off x="963692" y="4148852"/>
            <a:ext cx="175141" cy="1290042"/>
          </a:xfrm>
          <a:prstGeom prst="roundRect">
            <a:avLst>
              <a:gd fmla="val 90053"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6"/>
          <p:cNvSpPr/>
          <p:nvPr/>
        </p:nvSpPr>
        <p:spPr>
          <a:xfrm>
            <a:off x="1313974" y="4323993"/>
            <a:ext cx="2190512" cy="273844"/>
          </a:xfrm>
          <a:prstGeom prst="rect">
            <a:avLst/>
          </a:prstGeom>
          <a:noFill/>
          <a:ln>
            <a:noFill/>
          </a:ln>
        </p:spPr>
        <p:txBody>
          <a:bodyPr anchorCtr="0" anchor="t" bIns="0" lIns="0" spcFirstLastPara="1" rIns="0" wrap="square" tIns="0">
            <a:noAutofit/>
          </a:bodyPr>
          <a:lstStyle/>
          <a:p>
            <a:pPr indent="0" lvl="0" marL="0" marR="0" rtl="0" algn="l">
              <a:lnSpc>
                <a:spcPct val="126470"/>
              </a:lnSpc>
              <a:spcBef>
                <a:spcPts val="0"/>
              </a:spcBef>
              <a:spcAft>
                <a:spcPts val="0"/>
              </a:spcAft>
              <a:buClr>
                <a:srgbClr val="1E3063"/>
              </a:buClr>
              <a:buSzPts val="1700"/>
              <a:buFont typeface="Instrument Sans"/>
              <a:buNone/>
            </a:pPr>
            <a:r>
              <a:rPr b="0" i="0" lang="en-US" sz="1700" u="none" cap="none" strike="noStrike">
                <a:solidFill>
                  <a:srgbClr val="1E3063"/>
                </a:solidFill>
                <a:latin typeface="Instrument Sans"/>
                <a:ea typeface="Instrument Sans"/>
                <a:cs typeface="Instrument Sans"/>
                <a:sym typeface="Instrument Sans"/>
              </a:rPr>
              <a:t>最適な経験を1つ選ぶ</a:t>
            </a:r>
            <a:endParaRPr b="0" i="0" sz="1700" u="none" cap="none" strike="noStrike"/>
          </a:p>
        </p:txBody>
      </p:sp>
      <p:sp>
        <p:nvSpPr>
          <p:cNvPr id="325" name="Google Shape;325;p36"/>
          <p:cNvSpPr/>
          <p:nvPr/>
        </p:nvSpPr>
        <p:spPr>
          <a:xfrm>
            <a:off x="1313974" y="4702969"/>
            <a:ext cx="7129105" cy="560784"/>
          </a:xfrm>
          <a:prstGeom prst="rect">
            <a:avLst/>
          </a:prstGeom>
          <a:noFill/>
          <a:ln>
            <a:noFill/>
          </a:ln>
        </p:spPr>
        <p:txBody>
          <a:bodyPr anchorCtr="0" anchor="t" bIns="0" lIns="0" spcFirstLastPara="1" rIns="0" wrap="square" tIns="0">
            <a:noAutofit/>
          </a:bodyPr>
          <a:lstStyle/>
          <a:p>
            <a:pPr indent="0" lvl="0" marL="0" marR="0" rtl="0" algn="l">
              <a:lnSpc>
                <a:spcPct val="162962"/>
              </a:lnSpc>
              <a:spcBef>
                <a:spcPts val="0"/>
              </a:spcBef>
              <a:spcAft>
                <a:spcPts val="0"/>
              </a:spcAft>
              <a:buClr>
                <a:srgbClr val="1E3063"/>
              </a:buClr>
              <a:buSzPts val="1350"/>
              <a:buFont typeface="Instrument Sans"/>
              <a:buNone/>
            </a:pPr>
            <a:r>
              <a:rPr b="0" i="0" lang="en-US" sz="1350" u="none" cap="none" strike="noStrike">
                <a:solidFill>
                  <a:srgbClr val="1E3063"/>
                </a:solidFill>
                <a:latin typeface="Instrument Sans"/>
                <a:ea typeface="Instrument Sans"/>
                <a:cs typeface="Instrument Sans"/>
                <a:sym typeface="Instrument Sans"/>
              </a:rPr>
              <a:t>リストアップした経験の中から、「具体的なエピソードがある」「自分の強みが表れている」「話すと熱が入る」という観点で最も適した経験を1つ選びます。</a:t>
            </a:r>
            <a:endParaRPr b="0" i="0" sz="1350" u="none" cap="none" strike="noStrike"/>
          </a:p>
        </p:txBody>
      </p:sp>
      <p:sp>
        <p:nvSpPr>
          <p:cNvPr id="326" name="Google Shape;326;p36"/>
          <p:cNvSpPr/>
          <p:nvPr/>
        </p:nvSpPr>
        <p:spPr>
          <a:xfrm>
            <a:off x="1226582" y="5570220"/>
            <a:ext cx="175141" cy="1290042"/>
          </a:xfrm>
          <a:prstGeom prst="roundRect">
            <a:avLst>
              <a:gd fmla="val 90053"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6"/>
          <p:cNvSpPr/>
          <p:nvPr/>
        </p:nvSpPr>
        <p:spPr>
          <a:xfrm>
            <a:off x="1576864" y="5745361"/>
            <a:ext cx="2527697" cy="273844"/>
          </a:xfrm>
          <a:prstGeom prst="rect">
            <a:avLst/>
          </a:prstGeom>
          <a:noFill/>
          <a:ln>
            <a:noFill/>
          </a:ln>
        </p:spPr>
        <p:txBody>
          <a:bodyPr anchorCtr="0" anchor="t" bIns="0" lIns="0" spcFirstLastPara="1" rIns="0" wrap="square" tIns="0">
            <a:noAutofit/>
          </a:bodyPr>
          <a:lstStyle/>
          <a:p>
            <a:pPr indent="0" lvl="0" marL="0" marR="0" rtl="0" algn="l">
              <a:lnSpc>
                <a:spcPct val="126470"/>
              </a:lnSpc>
              <a:spcBef>
                <a:spcPts val="0"/>
              </a:spcBef>
              <a:spcAft>
                <a:spcPts val="0"/>
              </a:spcAft>
              <a:buClr>
                <a:srgbClr val="1E3063"/>
              </a:buClr>
              <a:buSzPts val="1700"/>
              <a:buFont typeface="Instrument Sans"/>
              <a:buNone/>
            </a:pPr>
            <a:r>
              <a:rPr b="0" i="0" lang="en-US" sz="1700" u="none" cap="none" strike="noStrike">
                <a:solidFill>
                  <a:srgbClr val="1E3063"/>
                </a:solidFill>
                <a:latin typeface="Instrument Sans"/>
                <a:ea typeface="Instrument Sans"/>
                <a:cs typeface="Instrument Sans"/>
                <a:sym typeface="Instrument Sans"/>
              </a:rPr>
              <a:t>STARメソッドで骨子作成</a:t>
            </a:r>
            <a:endParaRPr b="0" i="0" sz="1700" u="none" cap="none" strike="noStrike"/>
          </a:p>
        </p:txBody>
      </p:sp>
      <p:sp>
        <p:nvSpPr>
          <p:cNvPr id="328" name="Google Shape;328;p36"/>
          <p:cNvSpPr/>
          <p:nvPr/>
        </p:nvSpPr>
        <p:spPr>
          <a:xfrm>
            <a:off x="1576864" y="6124337"/>
            <a:ext cx="6866215" cy="560784"/>
          </a:xfrm>
          <a:prstGeom prst="rect">
            <a:avLst/>
          </a:prstGeom>
          <a:noFill/>
          <a:ln>
            <a:noFill/>
          </a:ln>
        </p:spPr>
        <p:txBody>
          <a:bodyPr anchorCtr="0" anchor="t" bIns="0" lIns="0" spcFirstLastPara="1" rIns="0" wrap="square" tIns="0">
            <a:noAutofit/>
          </a:bodyPr>
          <a:lstStyle/>
          <a:p>
            <a:pPr indent="0" lvl="0" marL="0" marR="0" rtl="0" algn="l">
              <a:lnSpc>
                <a:spcPct val="162962"/>
              </a:lnSpc>
              <a:spcBef>
                <a:spcPts val="0"/>
              </a:spcBef>
              <a:spcAft>
                <a:spcPts val="0"/>
              </a:spcAft>
              <a:buClr>
                <a:srgbClr val="1E3063"/>
              </a:buClr>
              <a:buSzPts val="1350"/>
              <a:buFont typeface="Instrument Sans"/>
              <a:buNone/>
            </a:pPr>
            <a:r>
              <a:rPr b="0" i="0" lang="en-US" sz="1350" u="none" cap="none" strike="noStrike">
                <a:solidFill>
                  <a:srgbClr val="1E3063"/>
                </a:solidFill>
                <a:latin typeface="Instrument Sans"/>
                <a:ea typeface="Instrument Sans"/>
                <a:cs typeface="Instrument Sans"/>
                <a:sym typeface="Instrument Sans"/>
              </a:rPr>
              <a:t>選んだ経験をSTARメソッドの4要素（状況・課題・行動・結果）に分解し、各要素を箇条書きで整理します。専門用語を避け、誰にでも伝わる言葉を意識しましょう。</a:t>
            </a:r>
            <a:endParaRPr b="0" i="0" sz="1350" u="none" cap="none" strike="noStrike"/>
          </a:p>
        </p:txBody>
      </p:sp>
      <p:sp>
        <p:nvSpPr>
          <p:cNvPr id="329" name="Google Shape;329;p36"/>
          <p:cNvSpPr/>
          <p:nvPr/>
        </p:nvSpPr>
        <p:spPr>
          <a:xfrm>
            <a:off x="700921" y="7057311"/>
            <a:ext cx="7742158" cy="560784"/>
          </a:xfrm>
          <a:prstGeom prst="rect">
            <a:avLst/>
          </a:prstGeom>
          <a:noFill/>
          <a:ln>
            <a:noFill/>
          </a:ln>
        </p:spPr>
        <p:txBody>
          <a:bodyPr anchorCtr="0" anchor="t" bIns="0" lIns="0" spcFirstLastPara="1" rIns="0" wrap="square" tIns="0">
            <a:noAutofit/>
          </a:bodyPr>
          <a:lstStyle/>
          <a:p>
            <a:pPr indent="0" lvl="0" marL="0" marR="0" rtl="0" algn="l">
              <a:lnSpc>
                <a:spcPct val="162962"/>
              </a:lnSpc>
              <a:spcBef>
                <a:spcPts val="0"/>
              </a:spcBef>
              <a:spcAft>
                <a:spcPts val="0"/>
              </a:spcAft>
              <a:buClr>
                <a:srgbClr val="1E3063"/>
              </a:buClr>
              <a:buSzPts val="1350"/>
              <a:buFont typeface="Instrument Sans"/>
              <a:buNone/>
            </a:pPr>
            <a:r>
              <a:rPr b="0" i="0" lang="en-US" sz="1350" u="none" cap="none" strike="noStrike">
                <a:solidFill>
                  <a:srgbClr val="1E3063"/>
                </a:solidFill>
                <a:latin typeface="Instrument Sans"/>
                <a:ea typeface="Instrument Sans"/>
                <a:cs typeface="Instrument Sans"/>
                <a:sym typeface="Instrument Sans"/>
              </a:rPr>
              <a:t>骨子は完璧である必要はありません。重要なのは、「自分の言葉で」経験を整理することです。講師は会場を巡回し、テーマ選びや骨子作成のサポートをします。</a:t>
            </a:r>
            <a:endParaRPr b="0" i="0" sz="1350" u="none" cap="none" strike="noStrike"/>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pic>
        <p:nvPicPr>
          <p:cNvPr descr="preencoded.png" id="335" name="Google Shape;335;p37"/>
          <p:cNvPicPr preferRelativeResize="0"/>
          <p:nvPr/>
        </p:nvPicPr>
        <p:blipFill rotWithShape="1">
          <a:blip r:embed="rId3">
            <a:alphaModFix/>
          </a:blip>
          <a:srcRect b="0" l="0" r="0" t="0"/>
          <a:stretch/>
        </p:blipFill>
        <p:spPr>
          <a:xfrm>
            <a:off x="8869680" y="0"/>
            <a:ext cx="5760720" cy="8229600"/>
          </a:xfrm>
          <a:prstGeom prst="rect">
            <a:avLst/>
          </a:prstGeom>
          <a:noFill/>
          <a:ln>
            <a:noFill/>
          </a:ln>
        </p:spPr>
      </p:pic>
      <p:sp>
        <p:nvSpPr>
          <p:cNvPr id="336" name="Google Shape;336;p37"/>
          <p:cNvSpPr/>
          <p:nvPr/>
        </p:nvSpPr>
        <p:spPr>
          <a:xfrm>
            <a:off x="659844" y="516612"/>
            <a:ext cx="7824311" cy="1031081"/>
          </a:xfrm>
          <a:prstGeom prst="rect">
            <a:avLst/>
          </a:prstGeom>
          <a:noFill/>
          <a:ln>
            <a:noFill/>
          </a:ln>
        </p:spPr>
        <p:txBody>
          <a:bodyPr anchorCtr="0" anchor="t" bIns="0" lIns="0" spcFirstLastPara="1" rIns="0" wrap="square" tIns="0">
            <a:noAutofit/>
          </a:bodyPr>
          <a:lstStyle/>
          <a:p>
            <a:pPr indent="0" lvl="0" marL="0" marR="0" rtl="0" algn="l">
              <a:lnSpc>
                <a:spcPct val="126562"/>
              </a:lnSpc>
              <a:spcBef>
                <a:spcPts val="0"/>
              </a:spcBef>
              <a:spcAft>
                <a:spcPts val="0"/>
              </a:spcAft>
              <a:buClr>
                <a:srgbClr val="091C53"/>
              </a:buClr>
              <a:buSzPts val="3200"/>
              <a:buFont typeface="Instrument Sans"/>
              <a:buNone/>
            </a:pPr>
            <a:r>
              <a:rPr b="0" i="0" lang="en-US" sz="3200" u="none" cap="none" strike="noStrike">
                <a:solidFill>
                  <a:srgbClr val="091C53"/>
                </a:solidFill>
                <a:latin typeface="Instrument Sans"/>
                <a:ea typeface="Instrument Sans"/>
                <a:cs typeface="Instrument Sans"/>
                <a:sym typeface="Instrument Sans"/>
              </a:rPr>
              <a:t>【Work 2】AIを使ってブラッシュアップ＆深掘り (15分)</a:t>
            </a:r>
            <a:endParaRPr b="0" i="0" sz="3200" u="none" cap="none" strike="noStrike"/>
          </a:p>
        </p:txBody>
      </p:sp>
      <p:sp>
        <p:nvSpPr>
          <p:cNvPr id="337" name="Google Shape;337;p37"/>
          <p:cNvSpPr/>
          <p:nvPr/>
        </p:nvSpPr>
        <p:spPr>
          <a:xfrm>
            <a:off x="159544" y="7210905"/>
            <a:ext cx="7824300" cy="264000"/>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1E3063"/>
              </a:buClr>
              <a:buSzPts val="1250"/>
              <a:buFont typeface="Instrument Sans"/>
              <a:buNone/>
            </a:pPr>
            <a:r>
              <a:rPr b="0" i="0" lang="en-US" sz="1300" u="none" cap="none" strike="noStrike">
                <a:solidFill>
                  <a:srgbClr val="1E3063"/>
                </a:solidFill>
                <a:latin typeface="Instrument Sans"/>
                <a:ea typeface="Instrument Sans"/>
                <a:cs typeface="Instrument Sans"/>
                <a:sym typeface="Instrument Sans"/>
              </a:rPr>
              <a:t>PC/スマートフォンで生成AIを起動し、Work 1で作成した骨子をブラッシュアップしていきましょう。</a:t>
            </a:r>
            <a:r>
              <a:rPr lang="en-US" sz="1300">
                <a:solidFill>
                  <a:srgbClr val="1A1C1E"/>
                </a:solidFill>
                <a:highlight>
                  <a:srgbClr val="FFFFFF"/>
                </a:highlight>
              </a:rPr>
              <a:t>AIに文章を作成してもらう際も、『400字程度で』という指示を加えてみましょう。出てきた文章が長すぎたり短すぎたりした場合は、自分で調整する練習も重要です。</a:t>
            </a:r>
            <a:endParaRPr sz="1300">
              <a:solidFill>
                <a:srgbClr val="1E3063"/>
              </a:solidFill>
              <a:latin typeface="Instrument Sans"/>
              <a:ea typeface="Instrument Sans"/>
              <a:cs typeface="Instrument Sans"/>
              <a:sym typeface="Instrument Sans"/>
            </a:endParaRPr>
          </a:p>
        </p:txBody>
      </p:sp>
      <p:sp>
        <p:nvSpPr>
          <p:cNvPr id="338" name="Google Shape;338;p37"/>
          <p:cNvSpPr/>
          <p:nvPr/>
        </p:nvSpPr>
        <p:spPr>
          <a:xfrm>
            <a:off x="845344" y="2244566"/>
            <a:ext cx="22860" cy="4754999"/>
          </a:xfrm>
          <a:prstGeom prst="roundRect">
            <a:avLst>
              <a:gd fmla="val 649540" name="adj"/>
            </a:avLst>
          </a:prstGeom>
          <a:solidFill>
            <a:srgbClr val="B4CC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7"/>
          <p:cNvSpPr/>
          <p:nvPr/>
        </p:nvSpPr>
        <p:spPr>
          <a:xfrm>
            <a:off x="1008043" y="2418636"/>
            <a:ext cx="494943" cy="22860"/>
          </a:xfrm>
          <a:prstGeom prst="roundRect">
            <a:avLst>
              <a:gd fmla="val 649540" name="adj"/>
            </a:avLst>
          </a:prstGeom>
          <a:solidFill>
            <a:srgbClr val="B4CC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7"/>
          <p:cNvSpPr/>
          <p:nvPr/>
        </p:nvSpPr>
        <p:spPr>
          <a:xfrm>
            <a:off x="659785" y="2244566"/>
            <a:ext cx="371118" cy="371118"/>
          </a:xfrm>
          <a:prstGeom prst="roundRect">
            <a:avLst>
              <a:gd fmla="val 40010"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7"/>
          <p:cNvSpPr/>
          <p:nvPr/>
        </p:nvSpPr>
        <p:spPr>
          <a:xfrm>
            <a:off x="721578" y="2275403"/>
            <a:ext cx="247412" cy="30932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E3063"/>
              </a:buClr>
              <a:buSzPts val="1900"/>
              <a:buFont typeface="Instrument Sans"/>
              <a:buNone/>
            </a:pPr>
            <a:r>
              <a:rPr b="0" i="0" lang="en-US" sz="1900" u="none" cap="none" strike="noStrike">
                <a:solidFill>
                  <a:srgbClr val="1E3063"/>
                </a:solidFill>
                <a:latin typeface="Instrument Sans"/>
                <a:ea typeface="Instrument Sans"/>
                <a:cs typeface="Instrument Sans"/>
                <a:sym typeface="Instrument Sans"/>
              </a:rPr>
              <a:t>1</a:t>
            </a:r>
            <a:endParaRPr b="0" i="0" sz="1900" u="none" cap="none" strike="noStrike"/>
          </a:p>
        </p:txBody>
      </p:sp>
      <p:sp>
        <p:nvSpPr>
          <p:cNvPr id="342" name="Google Shape;342;p37"/>
          <p:cNvSpPr/>
          <p:nvPr/>
        </p:nvSpPr>
        <p:spPr>
          <a:xfrm>
            <a:off x="1670328" y="2301240"/>
            <a:ext cx="2062282" cy="25777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E3063"/>
              </a:buClr>
              <a:buSzPts val="1600"/>
              <a:buFont typeface="Instrument Sans"/>
              <a:buNone/>
            </a:pPr>
            <a:r>
              <a:rPr b="0" i="0" lang="en-US" sz="1600" u="none" cap="none" strike="noStrike">
                <a:solidFill>
                  <a:srgbClr val="1E3063"/>
                </a:solidFill>
                <a:latin typeface="Instrument Sans"/>
                <a:ea typeface="Instrument Sans"/>
                <a:cs typeface="Instrument Sans"/>
                <a:sym typeface="Instrument Sans"/>
              </a:rPr>
              <a:t>Step 1: 文章化</a:t>
            </a:r>
            <a:endParaRPr b="0" i="0" sz="1600" u="none" cap="none" strike="noStrike"/>
          </a:p>
        </p:txBody>
      </p:sp>
      <p:sp>
        <p:nvSpPr>
          <p:cNvPr id="343" name="Google Shape;343;p37"/>
          <p:cNvSpPr/>
          <p:nvPr/>
        </p:nvSpPr>
        <p:spPr>
          <a:xfrm>
            <a:off x="1670328" y="2657951"/>
            <a:ext cx="6813828" cy="527923"/>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1E3063"/>
              </a:buClr>
              <a:buSzPts val="1250"/>
              <a:buFont typeface="Instrument Sans"/>
              <a:buNone/>
            </a:pPr>
            <a:r>
              <a:rPr b="0" i="0" lang="en-US" sz="1250" u="none" cap="none" strike="noStrike">
                <a:solidFill>
                  <a:srgbClr val="1E3063"/>
                </a:solidFill>
                <a:latin typeface="Instrument Sans"/>
                <a:ea typeface="Instrument Sans"/>
                <a:cs typeface="Instrument Sans"/>
                <a:sym typeface="Instrument Sans"/>
              </a:rPr>
              <a:t>作成した骨子をAIに渡し、まとまりのある文章にしてもらいます。AIには「専門用語を避け、具体的なエピソードを残しつつ、簡潔にまとめる」よう指示しましょう。</a:t>
            </a:r>
            <a:endParaRPr b="0" i="0" sz="1250" u="none" cap="none" strike="noStrike"/>
          </a:p>
        </p:txBody>
      </p:sp>
      <p:sp>
        <p:nvSpPr>
          <p:cNvPr id="344" name="Google Shape;344;p37"/>
          <p:cNvSpPr/>
          <p:nvPr/>
        </p:nvSpPr>
        <p:spPr>
          <a:xfrm>
            <a:off x="1008043" y="3689866"/>
            <a:ext cx="494943" cy="22860"/>
          </a:xfrm>
          <a:prstGeom prst="roundRect">
            <a:avLst>
              <a:gd fmla="val 649540" name="adj"/>
            </a:avLst>
          </a:prstGeom>
          <a:solidFill>
            <a:srgbClr val="B4CC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7"/>
          <p:cNvSpPr/>
          <p:nvPr/>
        </p:nvSpPr>
        <p:spPr>
          <a:xfrm>
            <a:off x="659785" y="3515797"/>
            <a:ext cx="371118" cy="371118"/>
          </a:xfrm>
          <a:prstGeom prst="roundRect">
            <a:avLst>
              <a:gd fmla="val 40010"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7"/>
          <p:cNvSpPr/>
          <p:nvPr/>
        </p:nvSpPr>
        <p:spPr>
          <a:xfrm>
            <a:off x="721578" y="3546634"/>
            <a:ext cx="247412" cy="30932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E3063"/>
              </a:buClr>
              <a:buSzPts val="1900"/>
              <a:buFont typeface="Instrument Sans"/>
              <a:buNone/>
            </a:pPr>
            <a:r>
              <a:rPr b="0" i="0" lang="en-US" sz="1900" u="none" cap="none" strike="noStrike">
                <a:solidFill>
                  <a:srgbClr val="1E3063"/>
                </a:solidFill>
                <a:latin typeface="Instrument Sans"/>
                <a:ea typeface="Instrument Sans"/>
                <a:cs typeface="Instrument Sans"/>
                <a:sym typeface="Instrument Sans"/>
              </a:rPr>
              <a:t>2</a:t>
            </a:r>
            <a:endParaRPr b="0" i="0" sz="1900" u="none" cap="none" strike="noStrike"/>
          </a:p>
        </p:txBody>
      </p:sp>
      <p:sp>
        <p:nvSpPr>
          <p:cNvPr id="347" name="Google Shape;347;p37"/>
          <p:cNvSpPr/>
          <p:nvPr/>
        </p:nvSpPr>
        <p:spPr>
          <a:xfrm>
            <a:off x="1670328" y="3572470"/>
            <a:ext cx="2974062" cy="25777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E3063"/>
              </a:buClr>
              <a:buSzPts val="1600"/>
              <a:buFont typeface="Instrument Sans"/>
              <a:buNone/>
            </a:pPr>
            <a:r>
              <a:rPr b="0" i="0" lang="en-US" sz="1600" u="none" cap="none" strike="noStrike">
                <a:solidFill>
                  <a:srgbClr val="1E3063"/>
                </a:solidFill>
                <a:latin typeface="Instrument Sans"/>
                <a:ea typeface="Instrument Sans"/>
                <a:cs typeface="Instrument Sans"/>
                <a:sym typeface="Instrument Sans"/>
              </a:rPr>
              <a:t>Step 2: 自分らしい言葉への修正</a:t>
            </a:r>
            <a:endParaRPr b="0" i="0" sz="1600" u="none" cap="none" strike="noStrike"/>
          </a:p>
        </p:txBody>
      </p:sp>
      <p:sp>
        <p:nvSpPr>
          <p:cNvPr id="348" name="Google Shape;348;p37"/>
          <p:cNvSpPr/>
          <p:nvPr/>
        </p:nvSpPr>
        <p:spPr>
          <a:xfrm>
            <a:off x="1670328" y="3929182"/>
            <a:ext cx="6813828" cy="527923"/>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1E3063"/>
              </a:buClr>
              <a:buSzPts val="1250"/>
              <a:buFont typeface="Instrument Sans"/>
              <a:buNone/>
            </a:pPr>
            <a:r>
              <a:rPr b="0" i="0" lang="en-US" sz="1250" u="none" cap="none" strike="noStrike">
                <a:solidFill>
                  <a:srgbClr val="1E3063"/>
                </a:solidFill>
                <a:latin typeface="Instrument Sans"/>
                <a:ea typeface="Instrument Sans"/>
                <a:cs typeface="Instrument Sans"/>
                <a:sym typeface="Instrument Sans"/>
              </a:rPr>
              <a:t>AIが作成した文章を読み、違和感のある表現や言い回しを自分の言葉に修正します。この過程で、より具体的なエピソードを追加してもよいでしょう。</a:t>
            </a:r>
            <a:endParaRPr b="0" i="0" sz="1250" u="none" cap="none" strike="noStrike"/>
          </a:p>
        </p:txBody>
      </p:sp>
      <p:sp>
        <p:nvSpPr>
          <p:cNvPr id="349" name="Google Shape;349;p37"/>
          <p:cNvSpPr/>
          <p:nvPr/>
        </p:nvSpPr>
        <p:spPr>
          <a:xfrm>
            <a:off x="1008043" y="4961096"/>
            <a:ext cx="494943" cy="22860"/>
          </a:xfrm>
          <a:prstGeom prst="roundRect">
            <a:avLst>
              <a:gd fmla="val 649540" name="adj"/>
            </a:avLst>
          </a:prstGeom>
          <a:solidFill>
            <a:srgbClr val="B4CC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7"/>
          <p:cNvSpPr/>
          <p:nvPr/>
        </p:nvSpPr>
        <p:spPr>
          <a:xfrm>
            <a:off x="659785" y="4787027"/>
            <a:ext cx="371118" cy="371118"/>
          </a:xfrm>
          <a:prstGeom prst="roundRect">
            <a:avLst>
              <a:gd fmla="val 40010"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7"/>
          <p:cNvSpPr/>
          <p:nvPr/>
        </p:nvSpPr>
        <p:spPr>
          <a:xfrm>
            <a:off x="721578" y="4817864"/>
            <a:ext cx="247412" cy="30932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E3063"/>
              </a:buClr>
              <a:buSzPts val="1900"/>
              <a:buFont typeface="Instrument Sans"/>
              <a:buNone/>
            </a:pPr>
            <a:r>
              <a:rPr b="0" i="0" lang="en-US" sz="1900" u="none" cap="none" strike="noStrike">
                <a:solidFill>
                  <a:srgbClr val="1E3063"/>
                </a:solidFill>
                <a:latin typeface="Instrument Sans"/>
                <a:ea typeface="Instrument Sans"/>
                <a:cs typeface="Instrument Sans"/>
                <a:sym typeface="Instrument Sans"/>
              </a:rPr>
              <a:t>3</a:t>
            </a:r>
            <a:endParaRPr b="0" i="0" sz="1900" u="none" cap="none" strike="noStrike"/>
          </a:p>
        </p:txBody>
      </p:sp>
      <p:sp>
        <p:nvSpPr>
          <p:cNvPr id="352" name="Google Shape;352;p37"/>
          <p:cNvSpPr/>
          <p:nvPr/>
        </p:nvSpPr>
        <p:spPr>
          <a:xfrm>
            <a:off x="1670328" y="4843701"/>
            <a:ext cx="2357557" cy="25777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E3063"/>
              </a:buClr>
              <a:buSzPts val="1600"/>
              <a:buFont typeface="Instrument Sans"/>
              <a:buNone/>
            </a:pPr>
            <a:r>
              <a:rPr b="0" i="0" lang="en-US" sz="1600" u="none" cap="none" strike="noStrike">
                <a:solidFill>
                  <a:srgbClr val="1E3063"/>
                </a:solidFill>
                <a:latin typeface="Instrument Sans"/>
                <a:ea typeface="Instrument Sans"/>
                <a:cs typeface="Instrument Sans"/>
                <a:sym typeface="Instrument Sans"/>
              </a:rPr>
              <a:t>Step 3: 面接官役での質問</a:t>
            </a:r>
            <a:endParaRPr b="0" i="0" sz="1600" u="none" cap="none" strike="noStrike"/>
          </a:p>
        </p:txBody>
      </p:sp>
      <p:sp>
        <p:nvSpPr>
          <p:cNvPr id="353" name="Google Shape;353;p37"/>
          <p:cNvSpPr/>
          <p:nvPr/>
        </p:nvSpPr>
        <p:spPr>
          <a:xfrm>
            <a:off x="1670328" y="5200412"/>
            <a:ext cx="6813828" cy="527923"/>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1E3063"/>
              </a:buClr>
              <a:buSzPts val="1250"/>
              <a:buFont typeface="Instrument Sans"/>
              <a:buNone/>
            </a:pPr>
            <a:r>
              <a:rPr b="0" i="0" lang="en-US" sz="1250" u="none" cap="none" strike="noStrike">
                <a:solidFill>
                  <a:srgbClr val="1E3063"/>
                </a:solidFill>
                <a:latin typeface="Instrument Sans"/>
                <a:ea typeface="Instrument Sans"/>
                <a:cs typeface="Instrument Sans"/>
                <a:sym typeface="Instrument Sans"/>
              </a:rPr>
              <a:t>修正した文章をAIに渡し、「厳しい面接官として深掘りの質問をしてください」と指示します。AIからの質問に対する回答を考えることで、ガクチカの弱点を発見できます。</a:t>
            </a:r>
            <a:endParaRPr b="0" i="0" sz="1250" u="none" cap="none" strike="noStrike"/>
          </a:p>
        </p:txBody>
      </p:sp>
      <p:sp>
        <p:nvSpPr>
          <p:cNvPr id="354" name="Google Shape;354;p37"/>
          <p:cNvSpPr/>
          <p:nvPr/>
        </p:nvSpPr>
        <p:spPr>
          <a:xfrm>
            <a:off x="1008043" y="6232327"/>
            <a:ext cx="494943" cy="22860"/>
          </a:xfrm>
          <a:prstGeom prst="roundRect">
            <a:avLst>
              <a:gd fmla="val 649540" name="adj"/>
            </a:avLst>
          </a:prstGeom>
          <a:solidFill>
            <a:srgbClr val="B4CC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7"/>
          <p:cNvSpPr/>
          <p:nvPr/>
        </p:nvSpPr>
        <p:spPr>
          <a:xfrm>
            <a:off x="659785" y="6058257"/>
            <a:ext cx="371118" cy="371118"/>
          </a:xfrm>
          <a:prstGeom prst="roundRect">
            <a:avLst>
              <a:gd fmla="val 40010"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7"/>
          <p:cNvSpPr/>
          <p:nvPr/>
        </p:nvSpPr>
        <p:spPr>
          <a:xfrm>
            <a:off x="721578" y="6089094"/>
            <a:ext cx="247412" cy="30932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E3063"/>
              </a:buClr>
              <a:buSzPts val="1900"/>
              <a:buFont typeface="Instrument Sans"/>
              <a:buNone/>
            </a:pPr>
            <a:r>
              <a:rPr b="0" i="0" lang="en-US" sz="1900" u="none" cap="none" strike="noStrike">
                <a:solidFill>
                  <a:srgbClr val="1E3063"/>
                </a:solidFill>
                <a:latin typeface="Instrument Sans"/>
                <a:ea typeface="Instrument Sans"/>
                <a:cs typeface="Instrument Sans"/>
                <a:sym typeface="Instrument Sans"/>
              </a:rPr>
              <a:t>4</a:t>
            </a:r>
            <a:endParaRPr b="0" i="0" sz="1900" u="none" cap="none" strike="noStrike"/>
          </a:p>
        </p:txBody>
      </p:sp>
      <p:sp>
        <p:nvSpPr>
          <p:cNvPr id="357" name="Google Shape;357;p37"/>
          <p:cNvSpPr/>
          <p:nvPr/>
        </p:nvSpPr>
        <p:spPr>
          <a:xfrm>
            <a:off x="1670328" y="6114931"/>
            <a:ext cx="2062282" cy="25777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E3063"/>
              </a:buClr>
              <a:buSzPts val="1600"/>
              <a:buFont typeface="Instrument Sans"/>
              <a:buNone/>
            </a:pPr>
            <a:r>
              <a:rPr b="0" i="0" lang="en-US" sz="1600" u="none" cap="none" strike="noStrike">
                <a:solidFill>
                  <a:srgbClr val="1E3063"/>
                </a:solidFill>
                <a:latin typeface="Instrument Sans"/>
                <a:ea typeface="Instrument Sans"/>
                <a:cs typeface="Instrument Sans"/>
                <a:sym typeface="Instrument Sans"/>
              </a:rPr>
              <a:t>Step 4: 再修正</a:t>
            </a:r>
            <a:endParaRPr b="0" i="0" sz="1600" u="none" cap="none" strike="noStrike"/>
          </a:p>
        </p:txBody>
      </p:sp>
      <p:sp>
        <p:nvSpPr>
          <p:cNvPr id="358" name="Google Shape;358;p37"/>
          <p:cNvSpPr/>
          <p:nvPr/>
        </p:nvSpPr>
        <p:spPr>
          <a:xfrm>
            <a:off x="1670328" y="6471642"/>
            <a:ext cx="6813828" cy="527923"/>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1E3063"/>
              </a:buClr>
              <a:buSzPts val="1250"/>
              <a:buFont typeface="Instrument Sans"/>
              <a:buNone/>
            </a:pPr>
            <a:r>
              <a:rPr b="0" i="0" lang="en-US" sz="1250" u="none" cap="none" strike="noStrike">
                <a:solidFill>
                  <a:srgbClr val="1E3063"/>
                </a:solidFill>
                <a:latin typeface="Instrument Sans"/>
                <a:ea typeface="Instrument Sans"/>
                <a:cs typeface="Instrument Sans"/>
                <a:sym typeface="Instrument Sans"/>
              </a:rPr>
              <a:t>AIからの質問や指摘を踏まえて、再度ガクチカを修正します。具体性を高め、論理的な飛躍をなくし、成果やスキルの証明を強化しましょう。</a:t>
            </a:r>
            <a:endParaRPr b="0" i="0" sz="1250" u="none" cap="none" strike="noStrike"/>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8"/>
          <p:cNvSpPr/>
          <p:nvPr/>
        </p:nvSpPr>
        <p:spPr>
          <a:xfrm>
            <a:off x="793790" y="1729621"/>
            <a:ext cx="7926824"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091C53"/>
              </a:buClr>
              <a:buSzPts val="3900"/>
              <a:buFont typeface="Instrument Sans"/>
              <a:buNone/>
            </a:pPr>
            <a:r>
              <a:rPr b="0" i="0" lang="en-US" sz="3900" u="none" cap="none" strike="noStrike">
                <a:solidFill>
                  <a:srgbClr val="091C53"/>
                </a:solidFill>
                <a:latin typeface="Instrument Sans"/>
                <a:ea typeface="Instrument Sans"/>
                <a:cs typeface="Instrument Sans"/>
                <a:sym typeface="Instrument Sans"/>
              </a:rPr>
              <a:t>AIが作った文章は「下書き」である</a:t>
            </a:r>
            <a:endParaRPr b="0" i="0" sz="3900" u="none" cap="none" strike="noStrike"/>
          </a:p>
        </p:txBody>
      </p:sp>
      <p:sp>
        <p:nvSpPr>
          <p:cNvPr id="365" name="Google Shape;365;p38"/>
          <p:cNvSpPr/>
          <p:nvPr/>
        </p:nvSpPr>
        <p:spPr>
          <a:xfrm>
            <a:off x="793790" y="2845713"/>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091C53"/>
              </a:buClr>
              <a:buSzPts val="1950"/>
              <a:buFont typeface="Instrument Sans"/>
              <a:buNone/>
            </a:pPr>
            <a:r>
              <a:rPr b="0" i="0" lang="en-US" sz="1950" u="none" cap="none" strike="noStrike">
                <a:solidFill>
                  <a:srgbClr val="091C53"/>
                </a:solidFill>
                <a:latin typeface="Instrument Sans"/>
                <a:ea typeface="Instrument Sans"/>
                <a:cs typeface="Instrument Sans"/>
                <a:sym typeface="Instrument Sans"/>
              </a:rPr>
              <a:t>AI文章の限界</a:t>
            </a:r>
            <a:endParaRPr b="0" i="0" sz="1950" u="none" cap="none" strike="noStrike"/>
          </a:p>
        </p:txBody>
      </p:sp>
      <p:sp>
        <p:nvSpPr>
          <p:cNvPr id="366" name="Google Shape;366;p38"/>
          <p:cNvSpPr/>
          <p:nvPr/>
        </p:nvSpPr>
        <p:spPr>
          <a:xfrm>
            <a:off x="793790" y="3354229"/>
            <a:ext cx="6279356" cy="127015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AIは膨大な文章データから学習しているため、一見すると流暢で説得力のある文章を生成します。しかし、それはあくまで「一般的な良さ」であり、あなた固有の経験や感情、価値観を完全に反映したものではありません。</a:t>
            </a:r>
            <a:endParaRPr b="0" i="0" sz="1550" u="none" cap="none" strike="noStrike"/>
          </a:p>
        </p:txBody>
      </p:sp>
      <p:sp>
        <p:nvSpPr>
          <p:cNvPr id="367" name="Google Shape;367;p38"/>
          <p:cNvSpPr/>
          <p:nvPr/>
        </p:nvSpPr>
        <p:spPr>
          <a:xfrm>
            <a:off x="793790" y="4802981"/>
            <a:ext cx="6279356"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また、AIは事実の正確性を保証するものではなく、時に「もっともらしい虚構」を作り出すこともあります。そのため、AIの出力はあくまで「たたき台」と考え、自分の言葉で練り直す必要があります。</a:t>
            </a:r>
            <a:endParaRPr b="0" i="0" sz="1550" u="none" cap="none" strike="noStrike"/>
          </a:p>
        </p:txBody>
      </p:sp>
      <p:sp>
        <p:nvSpPr>
          <p:cNvPr id="368" name="Google Shape;368;p38"/>
          <p:cNvSpPr/>
          <p:nvPr/>
        </p:nvSpPr>
        <p:spPr>
          <a:xfrm>
            <a:off x="7564874" y="2845713"/>
            <a:ext cx="2728079"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091C53"/>
              </a:buClr>
              <a:buSzPts val="1950"/>
              <a:buFont typeface="Instrument Sans"/>
              <a:buNone/>
            </a:pPr>
            <a:r>
              <a:rPr b="0" i="0" lang="en-US" sz="1950" u="none" cap="none" strike="noStrike">
                <a:solidFill>
                  <a:srgbClr val="091C53"/>
                </a:solidFill>
                <a:latin typeface="Instrument Sans"/>
                <a:ea typeface="Instrument Sans"/>
                <a:cs typeface="Instrument Sans"/>
                <a:sym typeface="Instrument Sans"/>
              </a:rPr>
              <a:t>自分の言葉と魂を込める</a:t>
            </a:r>
            <a:endParaRPr b="0" i="0" sz="1950" u="none" cap="none" strike="noStrike"/>
          </a:p>
        </p:txBody>
      </p:sp>
      <p:sp>
        <p:nvSpPr>
          <p:cNvPr id="369" name="Google Shape;369;p38"/>
          <p:cNvSpPr/>
          <p:nvPr/>
        </p:nvSpPr>
        <p:spPr>
          <a:xfrm>
            <a:off x="7862530" y="3379113"/>
            <a:ext cx="5981700"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「採用面接で最も重要なのは、あなたの言葉で語られる熱意と誠実さです」</a:t>
            </a:r>
            <a:endParaRPr b="0" i="0" sz="1550" u="none" cap="none" strike="noStrike"/>
          </a:p>
        </p:txBody>
      </p:sp>
      <p:sp>
        <p:nvSpPr>
          <p:cNvPr id="370" name="Google Shape;370;p38"/>
          <p:cNvSpPr/>
          <p:nvPr/>
        </p:nvSpPr>
        <p:spPr>
          <a:xfrm>
            <a:off x="7564874" y="3379113"/>
            <a:ext cx="22860" cy="635079"/>
          </a:xfrm>
          <a:prstGeom prst="rect">
            <a:avLst/>
          </a:prstGeom>
          <a:solidFill>
            <a:srgbClr val="84C1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8"/>
          <p:cNvSpPr/>
          <p:nvPr/>
        </p:nvSpPr>
        <p:spPr>
          <a:xfrm>
            <a:off x="7564874" y="4237434"/>
            <a:ext cx="6279356"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面接官は、あなたの言葉に含まれる熱意や誠実さ、一貫性を見ています。AIが生成した文章をそのまま暗記して話しても、その言葉に魂が宿っていなければ、面接官の心を動かすことはできません。</a:t>
            </a:r>
            <a:endParaRPr b="0" i="0" sz="1550" u="none" cap="none" strike="noStrike"/>
          </a:p>
        </p:txBody>
      </p:sp>
      <p:sp>
        <p:nvSpPr>
          <p:cNvPr id="372" name="Google Shape;372;p38"/>
          <p:cNvSpPr/>
          <p:nvPr/>
        </p:nvSpPr>
        <p:spPr>
          <a:xfrm>
            <a:off x="7564874" y="5368647"/>
            <a:ext cx="6279356"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AIの助けを借りて作成したガクチカも、最終的には「自分の言葉」と「自分の魂」を込めて語れるものに仕上げることが重要です。それこそが、AIと人間の協働の理想的な形です。</a:t>
            </a:r>
            <a:endParaRPr b="0" i="0" sz="1550" u="none" cap="none" strike="noStrike"/>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pic>
        <p:nvPicPr>
          <p:cNvPr descr="preencoded.png" id="378" name="Google Shape;378;p39"/>
          <p:cNvPicPr preferRelativeResize="0"/>
          <p:nvPr/>
        </p:nvPicPr>
        <p:blipFill rotWithShape="1">
          <a:blip r:embed="rId3">
            <a:alphaModFix/>
          </a:blip>
          <a:srcRect b="0" l="0" r="0" t="0"/>
          <a:stretch/>
        </p:blipFill>
        <p:spPr>
          <a:xfrm>
            <a:off x="0" y="0"/>
            <a:ext cx="5760720" cy="8229600"/>
          </a:xfrm>
          <a:prstGeom prst="rect">
            <a:avLst/>
          </a:prstGeom>
          <a:noFill/>
          <a:ln>
            <a:noFill/>
          </a:ln>
        </p:spPr>
      </p:pic>
      <p:sp>
        <p:nvSpPr>
          <p:cNvPr id="379" name="Google Shape;379;p39"/>
          <p:cNvSpPr/>
          <p:nvPr/>
        </p:nvSpPr>
        <p:spPr>
          <a:xfrm>
            <a:off x="6219825" y="651867"/>
            <a:ext cx="5957530" cy="57292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91C53"/>
              </a:buClr>
              <a:buSzPts val="3600"/>
              <a:buFont typeface="Instrument Sans"/>
              <a:buNone/>
            </a:pPr>
            <a:r>
              <a:rPr b="0" i="0" lang="en-US" sz="3600" u="none" cap="none" strike="noStrike">
                <a:solidFill>
                  <a:srgbClr val="091C53"/>
                </a:solidFill>
                <a:latin typeface="Instrument Sans"/>
                <a:ea typeface="Instrument Sans"/>
                <a:cs typeface="Instrument Sans"/>
                <a:sym typeface="Instrument Sans"/>
              </a:rPr>
              <a:t>ガクチカ最終チェックリスト</a:t>
            </a:r>
            <a:endParaRPr b="0" i="0" sz="3600" u="none" cap="none" strike="noStrike"/>
          </a:p>
        </p:txBody>
      </p:sp>
      <p:sp>
        <p:nvSpPr>
          <p:cNvPr id="380" name="Google Shape;380;p39"/>
          <p:cNvSpPr/>
          <p:nvPr/>
        </p:nvSpPr>
        <p:spPr>
          <a:xfrm>
            <a:off x="6219825" y="1499830"/>
            <a:ext cx="412552" cy="412552"/>
          </a:xfrm>
          <a:prstGeom prst="roundRect">
            <a:avLst>
              <a:gd fmla="val 40002"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9"/>
          <p:cNvSpPr/>
          <p:nvPr/>
        </p:nvSpPr>
        <p:spPr>
          <a:xfrm>
            <a:off x="6815733" y="1562814"/>
            <a:ext cx="2508409" cy="28646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E3063"/>
              </a:buClr>
              <a:buSzPts val="1800"/>
              <a:buFont typeface="Instrument Sans"/>
              <a:buNone/>
            </a:pPr>
            <a:r>
              <a:rPr b="0" i="0" lang="en-US" sz="1800" u="none" cap="none" strike="noStrike">
                <a:solidFill>
                  <a:srgbClr val="1E3063"/>
                </a:solidFill>
                <a:latin typeface="Instrument Sans"/>
                <a:ea typeface="Instrument Sans"/>
                <a:cs typeface="Instrument Sans"/>
                <a:sym typeface="Instrument Sans"/>
              </a:rPr>
              <a:t>結論から語っているか？</a:t>
            </a:r>
            <a:endParaRPr b="0" i="0" sz="1800" u="none" cap="none" strike="noStrike"/>
          </a:p>
        </p:txBody>
      </p:sp>
      <p:sp>
        <p:nvSpPr>
          <p:cNvPr id="382" name="Google Shape;382;p39"/>
          <p:cNvSpPr/>
          <p:nvPr/>
        </p:nvSpPr>
        <p:spPr>
          <a:xfrm>
            <a:off x="6815733" y="1959293"/>
            <a:ext cx="7081242" cy="586740"/>
          </a:xfrm>
          <a:prstGeom prst="rect">
            <a:avLst/>
          </a:prstGeom>
          <a:noFill/>
          <a:ln>
            <a:noFill/>
          </a:ln>
        </p:spPr>
        <p:txBody>
          <a:bodyPr anchorCtr="0" anchor="t" bIns="0" lIns="0" spcFirstLastPara="1" rIns="0" wrap="square" tIns="0">
            <a:noAutofit/>
          </a:bodyPr>
          <a:lstStyle/>
          <a:p>
            <a:pPr indent="0" lvl="0" marL="0" marR="0" rtl="0" algn="l">
              <a:lnSpc>
                <a:spcPct val="164285"/>
              </a:lnSpc>
              <a:spcBef>
                <a:spcPts val="0"/>
              </a:spcBef>
              <a:spcAft>
                <a:spcPts val="0"/>
              </a:spcAft>
              <a:buClr>
                <a:srgbClr val="1E3063"/>
              </a:buClr>
              <a:buSzPts val="1400"/>
              <a:buFont typeface="Instrument Sans"/>
              <a:buNone/>
            </a:pPr>
            <a:r>
              <a:rPr b="0" i="0" lang="en-US" sz="1400" u="none" cap="none" strike="noStrike">
                <a:solidFill>
                  <a:srgbClr val="1E3063"/>
                </a:solidFill>
                <a:latin typeface="Instrument Sans"/>
                <a:ea typeface="Instrument Sans"/>
                <a:cs typeface="Instrument Sans"/>
                <a:sym typeface="Instrument Sans"/>
              </a:rPr>
              <a:t>「結論→理由→具体例」の順で語ると伝わりやすくなります。特に冒頭で「この経験を通して何を学んだのか」「どんな能力が身についたのか」を明確に示しましょう。</a:t>
            </a:r>
            <a:endParaRPr b="0" i="0" sz="1400" u="none" cap="none" strike="noStrike"/>
          </a:p>
        </p:txBody>
      </p:sp>
      <p:sp>
        <p:nvSpPr>
          <p:cNvPr id="383" name="Google Shape;383;p39"/>
          <p:cNvSpPr/>
          <p:nvPr/>
        </p:nvSpPr>
        <p:spPr>
          <a:xfrm>
            <a:off x="6219825" y="2912745"/>
            <a:ext cx="412552" cy="412552"/>
          </a:xfrm>
          <a:prstGeom prst="roundRect">
            <a:avLst>
              <a:gd fmla="val 40002"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9"/>
          <p:cNvSpPr/>
          <p:nvPr/>
        </p:nvSpPr>
        <p:spPr>
          <a:xfrm>
            <a:off x="6815733" y="2975729"/>
            <a:ext cx="2291953" cy="28646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E3063"/>
              </a:buClr>
              <a:buSzPts val="1800"/>
              <a:buFont typeface="Instrument Sans"/>
              <a:buNone/>
            </a:pPr>
            <a:r>
              <a:rPr b="0" i="0" lang="en-US" sz="1800" u="none" cap="none" strike="noStrike">
                <a:solidFill>
                  <a:srgbClr val="1E3063"/>
                </a:solidFill>
                <a:latin typeface="Instrument Sans"/>
                <a:ea typeface="Instrument Sans"/>
                <a:cs typeface="Instrument Sans"/>
                <a:sym typeface="Instrument Sans"/>
              </a:rPr>
              <a:t>独自の工夫があるか？</a:t>
            </a:r>
            <a:endParaRPr b="0" i="0" sz="1800" u="none" cap="none" strike="noStrike"/>
          </a:p>
        </p:txBody>
      </p:sp>
      <p:sp>
        <p:nvSpPr>
          <p:cNvPr id="385" name="Google Shape;385;p39"/>
          <p:cNvSpPr/>
          <p:nvPr/>
        </p:nvSpPr>
        <p:spPr>
          <a:xfrm>
            <a:off x="6815733" y="3372207"/>
            <a:ext cx="7081242" cy="586740"/>
          </a:xfrm>
          <a:prstGeom prst="rect">
            <a:avLst/>
          </a:prstGeom>
          <a:noFill/>
          <a:ln>
            <a:noFill/>
          </a:ln>
        </p:spPr>
        <p:txBody>
          <a:bodyPr anchorCtr="0" anchor="t" bIns="0" lIns="0" spcFirstLastPara="1" rIns="0" wrap="square" tIns="0">
            <a:noAutofit/>
          </a:bodyPr>
          <a:lstStyle/>
          <a:p>
            <a:pPr indent="0" lvl="0" marL="0" marR="0" rtl="0" algn="l">
              <a:lnSpc>
                <a:spcPct val="164285"/>
              </a:lnSpc>
              <a:spcBef>
                <a:spcPts val="0"/>
              </a:spcBef>
              <a:spcAft>
                <a:spcPts val="0"/>
              </a:spcAft>
              <a:buClr>
                <a:srgbClr val="1E3063"/>
              </a:buClr>
              <a:buSzPts val="1400"/>
              <a:buFont typeface="Instrument Sans"/>
              <a:buNone/>
            </a:pPr>
            <a:r>
              <a:rPr b="0" i="0" lang="en-US" sz="1400" u="none" cap="none" strike="noStrike">
                <a:solidFill>
                  <a:srgbClr val="1E3063"/>
                </a:solidFill>
                <a:latin typeface="Instrument Sans"/>
                <a:ea typeface="Instrument Sans"/>
                <a:cs typeface="Instrument Sans"/>
                <a:sym typeface="Instrument Sans"/>
              </a:rPr>
              <a:t>「誰でもできること」ではなく、「あなただからこそできたこと」「あなたならではの工夫」を強調しましょう。それがあなたの個性を際立たせます。</a:t>
            </a:r>
            <a:endParaRPr b="0" i="0" sz="1400" u="none" cap="none" strike="noStrike"/>
          </a:p>
        </p:txBody>
      </p:sp>
      <p:sp>
        <p:nvSpPr>
          <p:cNvPr id="386" name="Google Shape;386;p39"/>
          <p:cNvSpPr/>
          <p:nvPr/>
        </p:nvSpPr>
        <p:spPr>
          <a:xfrm>
            <a:off x="6219825" y="4325660"/>
            <a:ext cx="412552" cy="412552"/>
          </a:xfrm>
          <a:prstGeom prst="roundRect">
            <a:avLst>
              <a:gd fmla="val 40002"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9"/>
          <p:cNvSpPr/>
          <p:nvPr/>
        </p:nvSpPr>
        <p:spPr>
          <a:xfrm>
            <a:off x="6815733" y="4388644"/>
            <a:ext cx="2291953" cy="28646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E3063"/>
              </a:buClr>
              <a:buSzPts val="1800"/>
              <a:buFont typeface="Instrument Sans"/>
              <a:buNone/>
            </a:pPr>
            <a:r>
              <a:rPr b="0" i="0" lang="en-US" sz="1800" u="none" cap="none" strike="noStrike">
                <a:solidFill>
                  <a:srgbClr val="1E3063"/>
                </a:solidFill>
                <a:latin typeface="Instrument Sans"/>
                <a:ea typeface="Instrument Sans"/>
                <a:cs typeface="Instrument Sans"/>
                <a:sym typeface="Instrument Sans"/>
              </a:rPr>
              <a:t>数字で具体的か？</a:t>
            </a:r>
            <a:endParaRPr b="0" i="0" sz="1800" u="none" cap="none" strike="noStrike"/>
          </a:p>
        </p:txBody>
      </p:sp>
      <p:sp>
        <p:nvSpPr>
          <p:cNvPr id="388" name="Google Shape;388;p39"/>
          <p:cNvSpPr/>
          <p:nvPr/>
        </p:nvSpPr>
        <p:spPr>
          <a:xfrm>
            <a:off x="6815733" y="4785122"/>
            <a:ext cx="7081242" cy="586740"/>
          </a:xfrm>
          <a:prstGeom prst="rect">
            <a:avLst/>
          </a:prstGeom>
          <a:noFill/>
          <a:ln>
            <a:noFill/>
          </a:ln>
        </p:spPr>
        <p:txBody>
          <a:bodyPr anchorCtr="0" anchor="t" bIns="0" lIns="0" spcFirstLastPara="1" rIns="0" wrap="square" tIns="0">
            <a:noAutofit/>
          </a:bodyPr>
          <a:lstStyle/>
          <a:p>
            <a:pPr indent="0" lvl="0" marL="0" marR="0" rtl="0" algn="l">
              <a:lnSpc>
                <a:spcPct val="164285"/>
              </a:lnSpc>
              <a:spcBef>
                <a:spcPts val="0"/>
              </a:spcBef>
              <a:spcAft>
                <a:spcPts val="0"/>
              </a:spcAft>
              <a:buClr>
                <a:srgbClr val="1E3063"/>
              </a:buClr>
              <a:buSzPts val="1400"/>
              <a:buFont typeface="Instrument Sans"/>
              <a:buNone/>
            </a:pPr>
            <a:r>
              <a:rPr b="0" i="0" lang="en-US" sz="1400" u="none" cap="none" strike="noStrike">
                <a:solidFill>
                  <a:srgbClr val="1E3063"/>
                </a:solidFill>
                <a:latin typeface="Instrument Sans"/>
                <a:ea typeface="Instrument Sans"/>
                <a:cs typeface="Instrument Sans"/>
                <a:sym typeface="Instrument Sans"/>
              </a:rPr>
              <a:t>「多くの」「長時間」といった曖昧な表現ではなく、「週20時間」「3ヶ月で30%改善」など、具体的な数字を使うと説得力が増します。</a:t>
            </a:r>
            <a:endParaRPr b="0" i="0" sz="1400" u="none" cap="none" strike="noStrike"/>
          </a:p>
        </p:txBody>
      </p:sp>
      <p:sp>
        <p:nvSpPr>
          <p:cNvPr id="389" name="Google Shape;389;p39"/>
          <p:cNvSpPr/>
          <p:nvPr/>
        </p:nvSpPr>
        <p:spPr>
          <a:xfrm>
            <a:off x="6219825" y="5738574"/>
            <a:ext cx="412552" cy="412552"/>
          </a:xfrm>
          <a:prstGeom prst="roundRect">
            <a:avLst>
              <a:gd fmla="val 40002"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39"/>
          <p:cNvSpPr/>
          <p:nvPr/>
        </p:nvSpPr>
        <p:spPr>
          <a:xfrm>
            <a:off x="6815733" y="5801558"/>
            <a:ext cx="2748915" cy="28646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E3063"/>
              </a:buClr>
              <a:buSzPts val="1800"/>
              <a:buFont typeface="Instrument Sans"/>
              <a:buNone/>
            </a:pPr>
            <a:r>
              <a:rPr b="0" i="0" lang="en-US" sz="1800" u="none" cap="none" strike="noStrike">
                <a:solidFill>
                  <a:srgbClr val="1E3063"/>
                </a:solidFill>
                <a:latin typeface="Instrument Sans"/>
                <a:ea typeface="Instrument Sans"/>
                <a:cs typeface="Instrument Sans"/>
                <a:sym typeface="Instrument Sans"/>
              </a:rPr>
              <a:t>入社後の貢献に繋がるか？</a:t>
            </a:r>
            <a:endParaRPr b="0" i="0" sz="1800" u="none" cap="none" strike="noStrike"/>
          </a:p>
        </p:txBody>
      </p:sp>
      <p:sp>
        <p:nvSpPr>
          <p:cNvPr id="391" name="Google Shape;391;p39"/>
          <p:cNvSpPr/>
          <p:nvPr/>
        </p:nvSpPr>
        <p:spPr>
          <a:xfrm>
            <a:off x="6815733" y="6198037"/>
            <a:ext cx="7081242" cy="586740"/>
          </a:xfrm>
          <a:prstGeom prst="rect">
            <a:avLst/>
          </a:prstGeom>
          <a:noFill/>
          <a:ln>
            <a:noFill/>
          </a:ln>
        </p:spPr>
        <p:txBody>
          <a:bodyPr anchorCtr="0" anchor="t" bIns="0" lIns="0" spcFirstLastPara="1" rIns="0" wrap="square" tIns="0">
            <a:noAutofit/>
          </a:bodyPr>
          <a:lstStyle/>
          <a:p>
            <a:pPr indent="0" lvl="0" marL="0" marR="0" rtl="0" algn="l">
              <a:lnSpc>
                <a:spcPct val="164285"/>
              </a:lnSpc>
              <a:spcBef>
                <a:spcPts val="0"/>
              </a:spcBef>
              <a:spcAft>
                <a:spcPts val="0"/>
              </a:spcAft>
              <a:buClr>
                <a:srgbClr val="1E3063"/>
              </a:buClr>
              <a:buSzPts val="1400"/>
              <a:buFont typeface="Instrument Sans"/>
              <a:buNone/>
            </a:pPr>
            <a:r>
              <a:rPr b="0" i="0" lang="en-US" sz="1400" u="none" cap="none" strike="noStrike">
                <a:solidFill>
                  <a:srgbClr val="1E3063"/>
                </a:solidFill>
                <a:latin typeface="Instrument Sans"/>
                <a:ea typeface="Instrument Sans"/>
                <a:cs typeface="Instrument Sans"/>
                <a:sym typeface="Instrument Sans"/>
              </a:rPr>
              <a:t>身につけた能力やスキルが、志望企業でどのように活かせるのかを明示しましょう。「だから御社で活躍できる」という結びつけが重要です。</a:t>
            </a:r>
            <a:endParaRPr b="0" i="0" sz="1400" u="none" cap="none" strike="noStrike"/>
          </a:p>
        </p:txBody>
      </p:sp>
      <p:sp>
        <p:nvSpPr>
          <p:cNvPr id="392" name="Google Shape;392;p39"/>
          <p:cNvSpPr/>
          <p:nvPr/>
        </p:nvSpPr>
        <p:spPr>
          <a:xfrm>
            <a:off x="6219825" y="6990993"/>
            <a:ext cx="7677150" cy="586740"/>
          </a:xfrm>
          <a:prstGeom prst="rect">
            <a:avLst/>
          </a:prstGeom>
          <a:noFill/>
          <a:ln>
            <a:noFill/>
          </a:ln>
        </p:spPr>
        <p:txBody>
          <a:bodyPr anchorCtr="0" anchor="t" bIns="0" lIns="0" spcFirstLastPara="1" rIns="0" wrap="square" tIns="0">
            <a:noAutofit/>
          </a:bodyPr>
          <a:lstStyle/>
          <a:p>
            <a:pPr indent="0" lvl="0" marL="0" marR="0" rtl="0" algn="l">
              <a:lnSpc>
                <a:spcPct val="164285"/>
              </a:lnSpc>
              <a:spcBef>
                <a:spcPts val="0"/>
              </a:spcBef>
              <a:spcAft>
                <a:spcPts val="0"/>
              </a:spcAft>
              <a:buClr>
                <a:srgbClr val="1E3063"/>
              </a:buClr>
              <a:buSzPts val="1400"/>
              <a:buFont typeface="Instrument Sans"/>
              <a:buNone/>
            </a:pPr>
            <a:r>
              <a:rPr b="0" i="0" lang="en-US" sz="1400" u="none" cap="none" strike="noStrike">
                <a:solidFill>
                  <a:srgbClr val="1E3063"/>
                </a:solidFill>
                <a:latin typeface="Instrument Sans"/>
                <a:ea typeface="Instrument Sans"/>
                <a:cs typeface="Instrument Sans"/>
                <a:sym typeface="Instrument Sans"/>
              </a:rPr>
              <a:t>このチェックリストを使って、作成したガクチカの完成度を高めていきましょう。特に「入社後の貢献」との結びつけは、多くの学生が見落としがちなポイントです。</a:t>
            </a:r>
            <a:endParaRPr b="0" i="0" sz="1400" u="none" cap="none" strike="noStrike"/>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0"/>
          <p:cNvSpPr/>
          <p:nvPr/>
        </p:nvSpPr>
        <p:spPr>
          <a:xfrm>
            <a:off x="793790" y="894636"/>
            <a:ext cx="5533906"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091C53"/>
              </a:buClr>
              <a:buSzPts val="3900"/>
              <a:buFont typeface="Instrument Sans"/>
              <a:buNone/>
            </a:pPr>
            <a:r>
              <a:rPr b="0" i="0" lang="en-US" sz="3900" u="none" cap="none" strike="noStrike">
                <a:solidFill>
                  <a:srgbClr val="091C53"/>
                </a:solidFill>
                <a:latin typeface="Instrument Sans"/>
                <a:ea typeface="Instrument Sans"/>
                <a:cs typeface="Instrument Sans"/>
                <a:sym typeface="Instrument Sans"/>
              </a:rPr>
              <a:t>本日のまとめ &amp; 質疑応答</a:t>
            </a:r>
            <a:endParaRPr b="0" i="0" sz="3900" u="none" cap="none" strike="noStrike"/>
          </a:p>
        </p:txBody>
      </p:sp>
      <p:sp>
        <p:nvSpPr>
          <p:cNvPr id="399" name="Google Shape;399;p40"/>
          <p:cNvSpPr/>
          <p:nvPr/>
        </p:nvSpPr>
        <p:spPr>
          <a:xfrm>
            <a:off x="2254091" y="2128599"/>
            <a:ext cx="2480905" cy="310158"/>
          </a:xfrm>
          <a:prstGeom prst="rect">
            <a:avLst/>
          </a:prstGeom>
          <a:noFill/>
          <a:ln>
            <a:noFill/>
          </a:ln>
        </p:spPr>
        <p:txBody>
          <a:bodyPr anchorCtr="0" anchor="t" bIns="0" lIns="0" spcFirstLastPara="1" rIns="0" wrap="square" tIns="0">
            <a:noAutofit/>
          </a:bodyPr>
          <a:lstStyle/>
          <a:p>
            <a:pPr indent="0" lvl="0" marL="0" marR="0" rtl="0" algn="r">
              <a:lnSpc>
                <a:spcPct val="123076"/>
              </a:lnSpc>
              <a:spcBef>
                <a:spcPts val="0"/>
              </a:spcBef>
              <a:spcAft>
                <a:spcPts val="0"/>
              </a:spcAft>
              <a:buClr>
                <a:srgbClr val="1E3063"/>
              </a:buClr>
              <a:buSzPts val="1950"/>
              <a:buFont typeface="Instrument Sans"/>
              <a:buNone/>
            </a:pPr>
            <a:r>
              <a:rPr b="0" i="0" lang="en-US" sz="1950" u="none" cap="none" strike="noStrike">
                <a:solidFill>
                  <a:srgbClr val="1E3063"/>
                </a:solidFill>
                <a:latin typeface="Instrument Sans"/>
                <a:ea typeface="Instrument Sans"/>
                <a:cs typeface="Instrument Sans"/>
                <a:sym typeface="Instrument Sans"/>
              </a:rPr>
              <a:t>ガクチカの本質を理解</a:t>
            </a:r>
            <a:endParaRPr b="0" i="0" sz="1950" u="none" cap="none" strike="noStrike"/>
          </a:p>
        </p:txBody>
      </p:sp>
      <p:sp>
        <p:nvSpPr>
          <p:cNvPr id="400" name="Google Shape;400;p40"/>
          <p:cNvSpPr/>
          <p:nvPr/>
        </p:nvSpPr>
        <p:spPr>
          <a:xfrm>
            <a:off x="793790" y="2557820"/>
            <a:ext cx="3941207" cy="1270159"/>
          </a:xfrm>
          <a:prstGeom prst="rect">
            <a:avLst/>
          </a:prstGeom>
          <a:noFill/>
          <a:ln>
            <a:noFill/>
          </a:ln>
        </p:spPr>
        <p:txBody>
          <a:bodyPr anchorCtr="0" anchor="t" bIns="0" lIns="0" spcFirstLastPara="1" rIns="0" wrap="square" tIns="0">
            <a:noAutofit/>
          </a:bodyPr>
          <a:lstStyle/>
          <a:p>
            <a:pPr indent="0" lvl="0" marL="0" marR="0" rtl="0" algn="r">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企業が見ているのは活動内容そのものではなく、「あなたの人柄・価値観」と「仕事へのポテンシャル」であることを学びました。</a:t>
            </a:r>
            <a:endParaRPr b="0" i="0" sz="1550" u="none" cap="none" strike="noStrike"/>
          </a:p>
        </p:txBody>
      </p:sp>
      <p:pic>
        <p:nvPicPr>
          <p:cNvPr descr="preencoded.png" id="401" name="Google Shape;401;p40"/>
          <p:cNvPicPr preferRelativeResize="0"/>
          <p:nvPr/>
        </p:nvPicPr>
        <p:blipFill rotWithShape="1">
          <a:blip r:embed="rId3">
            <a:alphaModFix/>
          </a:blip>
          <a:srcRect b="0" l="0" r="0" t="0"/>
          <a:stretch/>
        </p:blipFill>
        <p:spPr>
          <a:xfrm>
            <a:off x="5032653" y="1911548"/>
            <a:ext cx="4564975" cy="4564975"/>
          </a:xfrm>
          <a:prstGeom prst="rect">
            <a:avLst/>
          </a:prstGeom>
          <a:noFill/>
          <a:ln>
            <a:noFill/>
          </a:ln>
        </p:spPr>
      </p:pic>
      <p:pic>
        <p:nvPicPr>
          <p:cNvPr descr="preencoded.png" id="402" name="Google Shape;402;p40"/>
          <p:cNvPicPr preferRelativeResize="0"/>
          <p:nvPr/>
        </p:nvPicPr>
        <p:blipFill rotWithShape="1">
          <a:blip r:embed="rId4">
            <a:alphaModFix/>
          </a:blip>
          <a:srcRect b="0" l="0" r="0" t="0"/>
          <a:stretch/>
        </p:blipFill>
        <p:spPr>
          <a:xfrm>
            <a:off x="6036766" y="2878634"/>
            <a:ext cx="296942" cy="371118"/>
          </a:xfrm>
          <a:prstGeom prst="rect">
            <a:avLst/>
          </a:prstGeom>
          <a:noFill/>
          <a:ln>
            <a:noFill/>
          </a:ln>
        </p:spPr>
      </p:pic>
      <p:sp>
        <p:nvSpPr>
          <p:cNvPr id="403" name="Google Shape;403;p40"/>
          <p:cNvSpPr/>
          <p:nvPr/>
        </p:nvSpPr>
        <p:spPr>
          <a:xfrm>
            <a:off x="9895284" y="2128599"/>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1E3063"/>
              </a:buClr>
              <a:buSzPts val="1950"/>
              <a:buFont typeface="Instrument Sans"/>
              <a:buNone/>
            </a:pPr>
            <a:r>
              <a:rPr b="0" i="0" lang="en-US" sz="1950" u="none" cap="none" strike="noStrike">
                <a:solidFill>
                  <a:srgbClr val="1E3063"/>
                </a:solidFill>
                <a:latin typeface="Instrument Sans"/>
                <a:ea typeface="Instrument Sans"/>
                <a:cs typeface="Instrument Sans"/>
                <a:sym typeface="Instrument Sans"/>
              </a:rPr>
              <a:t>STARメソッドの習得</a:t>
            </a:r>
            <a:endParaRPr b="0" i="0" sz="1950" u="none" cap="none" strike="noStrike"/>
          </a:p>
        </p:txBody>
      </p:sp>
      <p:sp>
        <p:nvSpPr>
          <p:cNvPr id="404" name="Google Shape;404;p40"/>
          <p:cNvSpPr/>
          <p:nvPr/>
        </p:nvSpPr>
        <p:spPr>
          <a:xfrm>
            <a:off x="9895284" y="2557820"/>
            <a:ext cx="3941326" cy="127015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Situation(状況)、Task(課題)、Action(行動)、Result(結果)の4要素で経験を構造化し、誰にでも伝わる言葉で表現する方法を身につけました。</a:t>
            </a:r>
            <a:endParaRPr b="0" i="0" sz="1550" u="none" cap="none" strike="noStrike"/>
          </a:p>
        </p:txBody>
      </p:sp>
      <p:pic>
        <p:nvPicPr>
          <p:cNvPr descr="preencoded.png" id="405" name="Google Shape;405;p40"/>
          <p:cNvPicPr preferRelativeResize="0"/>
          <p:nvPr/>
        </p:nvPicPr>
        <p:blipFill rotWithShape="1">
          <a:blip r:embed="rId5">
            <a:alphaModFix/>
          </a:blip>
          <a:srcRect b="0" l="0" r="0" t="0"/>
          <a:stretch/>
        </p:blipFill>
        <p:spPr>
          <a:xfrm>
            <a:off x="5032653" y="1911548"/>
            <a:ext cx="4564975" cy="4564975"/>
          </a:xfrm>
          <a:prstGeom prst="rect">
            <a:avLst/>
          </a:prstGeom>
          <a:noFill/>
          <a:ln>
            <a:noFill/>
          </a:ln>
        </p:spPr>
      </p:pic>
      <p:pic>
        <p:nvPicPr>
          <p:cNvPr descr="preencoded.png" id="406" name="Google Shape;406;p40"/>
          <p:cNvPicPr preferRelativeResize="0"/>
          <p:nvPr/>
        </p:nvPicPr>
        <p:blipFill rotWithShape="1">
          <a:blip r:embed="rId6">
            <a:alphaModFix/>
          </a:blip>
          <a:srcRect b="0" l="0" r="0" t="0"/>
          <a:stretch/>
        </p:blipFill>
        <p:spPr>
          <a:xfrm>
            <a:off x="8296335" y="2878634"/>
            <a:ext cx="296942" cy="371118"/>
          </a:xfrm>
          <a:prstGeom prst="rect">
            <a:avLst/>
          </a:prstGeom>
          <a:noFill/>
          <a:ln>
            <a:noFill/>
          </a:ln>
        </p:spPr>
      </p:pic>
      <p:sp>
        <p:nvSpPr>
          <p:cNvPr id="407" name="Google Shape;407;p40"/>
          <p:cNvSpPr/>
          <p:nvPr/>
        </p:nvSpPr>
        <p:spPr>
          <a:xfrm>
            <a:off x="9895284" y="4559975"/>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1E3063"/>
              </a:buClr>
              <a:buSzPts val="1950"/>
              <a:buFont typeface="Instrument Sans"/>
              <a:buNone/>
            </a:pPr>
            <a:r>
              <a:rPr b="0" i="0" lang="en-US" sz="1950" u="none" cap="none" strike="noStrike">
                <a:solidFill>
                  <a:srgbClr val="1E3063"/>
                </a:solidFill>
                <a:latin typeface="Instrument Sans"/>
                <a:ea typeface="Instrument Sans"/>
                <a:cs typeface="Instrument Sans"/>
                <a:sym typeface="Instrument Sans"/>
              </a:rPr>
              <a:t>AIの賢い活用法</a:t>
            </a:r>
            <a:endParaRPr b="0" i="0" sz="1950" u="none" cap="none" strike="noStrike"/>
          </a:p>
        </p:txBody>
      </p:sp>
      <p:sp>
        <p:nvSpPr>
          <p:cNvPr id="408" name="Google Shape;408;p40"/>
          <p:cNvSpPr/>
          <p:nvPr/>
        </p:nvSpPr>
        <p:spPr>
          <a:xfrm>
            <a:off x="9895284" y="4989195"/>
            <a:ext cx="3941326" cy="127015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AIを「思考の補助輪」として活用し、経験の深掘りや文章のブラッシュアップ、面接シミュレーションに役立てる方法を実践しました。</a:t>
            </a:r>
            <a:endParaRPr b="0" i="0" sz="1550" u="none" cap="none" strike="noStrike"/>
          </a:p>
        </p:txBody>
      </p:sp>
      <p:pic>
        <p:nvPicPr>
          <p:cNvPr descr="preencoded.png" id="409" name="Google Shape;409;p40"/>
          <p:cNvPicPr preferRelativeResize="0"/>
          <p:nvPr/>
        </p:nvPicPr>
        <p:blipFill rotWithShape="1">
          <a:blip r:embed="rId7">
            <a:alphaModFix/>
          </a:blip>
          <a:srcRect b="0" l="0" r="0" t="0"/>
          <a:stretch/>
        </p:blipFill>
        <p:spPr>
          <a:xfrm>
            <a:off x="5032653" y="1911548"/>
            <a:ext cx="4564975" cy="4564975"/>
          </a:xfrm>
          <a:prstGeom prst="rect">
            <a:avLst/>
          </a:prstGeom>
          <a:noFill/>
          <a:ln>
            <a:noFill/>
          </a:ln>
        </p:spPr>
      </p:pic>
      <p:pic>
        <p:nvPicPr>
          <p:cNvPr descr="preencoded.png" id="410" name="Google Shape;410;p40"/>
          <p:cNvPicPr preferRelativeResize="0"/>
          <p:nvPr/>
        </p:nvPicPr>
        <p:blipFill rotWithShape="1">
          <a:blip r:embed="rId8">
            <a:alphaModFix/>
          </a:blip>
          <a:srcRect b="0" l="0" r="0" t="0"/>
          <a:stretch/>
        </p:blipFill>
        <p:spPr>
          <a:xfrm>
            <a:off x="8296335" y="5138202"/>
            <a:ext cx="296942" cy="371118"/>
          </a:xfrm>
          <a:prstGeom prst="rect">
            <a:avLst/>
          </a:prstGeom>
          <a:noFill/>
          <a:ln>
            <a:noFill/>
          </a:ln>
        </p:spPr>
      </p:pic>
      <p:sp>
        <p:nvSpPr>
          <p:cNvPr id="411" name="Google Shape;411;p40"/>
          <p:cNvSpPr/>
          <p:nvPr/>
        </p:nvSpPr>
        <p:spPr>
          <a:xfrm>
            <a:off x="2254091" y="4718685"/>
            <a:ext cx="2480905" cy="310158"/>
          </a:xfrm>
          <a:prstGeom prst="rect">
            <a:avLst/>
          </a:prstGeom>
          <a:noFill/>
          <a:ln>
            <a:noFill/>
          </a:ln>
        </p:spPr>
        <p:txBody>
          <a:bodyPr anchorCtr="0" anchor="t" bIns="0" lIns="0" spcFirstLastPara="1" rIns="0" wrap="square" tIns="0">
            <a:noAutofit/>
          </a:bodyPr>
          <a:lstStyle/>
          <a:p>
            <a:pPr indent="0" lvl="0" marL="0" marR="0" rtl="0" algn="r">
              <a:lnSpc>
                <a:spcPct val="123076"/>
              </a:lnSpc>
              <a:spcBef>
                <a:spcPts val="0"/>
              </a:spcBef>
              <a:spcAft>
                <a:spcPts val="0"/>
              </a:spcAft>
              <a:buClr>
                <a:srgbClr val="1E3063"/>
              </a:buClr>
              <a:buSzPts val="1950"/>
              <a:buFont typeface="Instrument Sans"/>
              <a:buNone/>
            </a:pPr>
            <a:r>
              <a:rPr b="0" i="0" lang="en-US" sz="1950" u="none" cap="none" strike="noStrike">
                <a:solidFill>
                  <a:srgbClr val="1E3063"/>
                </a:solidFill>
                <a:latin typeface="Instrument Sans"/>
                <a:ea typeface="Instrument Sans"/>
                <a:cs typeface="Instrument Sans"/>
                <a:sym typeface="Instrument Sans"/>
              </a:rPr>
              <a:t>ガクチカ骨子の完成</a:t>
            </a:r>
            <a:endParaRPr b="0" i="0" sz="1950" u="none" cap="none" strike="noStrike"/>
          </a:p>
        </p:txBody>
      </p:sp>
      <p:sp>
        <p:nvSpPr>
          <p:cNvPr id="412" name="Google Shape;412;p40"/>
          <p:cNvSpPr/>
          <p:nvPr/>
        </p:nvSpPr>
        <p:spPr>
          <a:xfrm>
            <a:off x="793790" y="5147905"/>
            <a:ext cx="3941207" cy="952619"/>
          </a:xfrm>
          <a:prstGeom prst="rect">
            <a:avLst/>
          </a:prstGeom>
          <a:noFill/>
          <a:ln>
            <a:noFill/>
          </a:ln>
        </p:spPr>
        <p:txBody>
          <a:bodyPr anchorCtr="0" anchor="t" bIns="0" lIns="0" spcFirstLastPara="1" rIns="0" wrap="square" tIns="0">
            <a:noAutofit/>
          </a:bodyPr>
          <a:lstStyle/>
          <a:p>
            <a:pPr indent="0" lvl="0" marL="0" marR="0" rtl="0" algn="r">
              <a:lnSpc>
                <a:spcPct val="161290"/>
              </a:lnSpc>
              <a:spcBef>
                <a:spcPts val="0"/>
              </a:spcBef>
              <a:spcAft>
                <a:spcPts val="0"/>
              </a:spcAft>
              <a:buClr>
                <a:srgbClr val="1E3063"/>
              </a:buClr>
              <a:buSzPts val="1550"/>
              <a:buFont typeface="Instrument Sans"/>
              <a:buNone/>
            </a:pPr>
            <a:r>
              <a:rPr b="0" i="0" lang="en-US" sz="1550" u="none" cap="none" strike="noStrike">
                <a:solidFill>
                  <a:srgbClr val="1E3063"/>
                </a:solidFill>
                <a:latin typeface="Instrument Sans"/>
                <a:ea typeface="Instrument Sans"/>
                <a:cs typeface="Instrument Sans"/>
                <a:sym typeface="Instrument Sans"/>
              </a:rPr>
              <a:t>自分の研究経験を棚卸しし、STARメソッドを用いてガクチカの骨子を作成。AIの助けを借りてブラッシュアップしました。</a:t>
            </a:r>
            <a:endParaRPr b="0" i="0" sz="1550" u="none" cap="none" strike="noStrike"/>
          </a:p>
        </p:txBody>
      </p:sp>
      <p:pic>
        <p:nvPicPr>
          <p:cNvPr descr="preencoded.png" id="413" name="Google Shape;413;p40"/>
          <p:cNvPicPr preferRelativeResize="0"/>
          <p:nvPr/>
        </p:nvPicPr>
        <p:blipFill rotWithShape="1">
          <a:blip r:embed="rId9">
            <a:alphaModFix/>
          </a:blip>
          <a:srcRect b="0" l="0" r="0" t="0"/>
          <a:stretch/>
        </p:blipFill>
        <p:spPr>
          <a:xfrm>
            <a:off x="5032653" y="1911548"/>
            <a:ext cx="4564975" cy="4564975"/>
          </a:xfrm>
          <a:prstGeom prst="rect">
            <a:avLst/>
          </a:prstGeom>
          <a:noFill/>
          <a:ln>
            <a:noFill/>
          </a:ln>
        </p:spPr>
      </p:pic>
      <p:pic>
        <p:nvPicPr>
          <p:cNvPr descr="preencoded.png" id="414" name="Google Shape;414;p40"/>
          <p:cNvPicPr preferRelativeResize="0"/>
          <p:nvPr/>
        </p:nvPicPr>
        <p:blipFill rotWithShape="1">
          <a:blip r:embed="rId10">
            <a:alphaModFix/>
          </a:blip>
          <a:srcRect b="0" l="0" r="0" t="0"/>
          <a:stretch/>
        </p:blipFill>
        <p:spPr>
          <a:xfrm>
            <a:off x="6036766" y="5138202"/>
            <a:ext cx="296942" cy="371118"/>
          </a:xfrm>
          <a:prstGeom prst="rect">
            <a:avLst/>
          </a:prstGeom>
          <a:noFill/>
          <a:ln>
            <a:noFill/>
          </a:ln>
        </p:spPr>
      </p:pic>
      <p:sp>
        <p:nvSpPr>
          <p:cNvPr id="415" name="Google Shape;415;p40"/>
          <p:cNvSpPr/>
          <p:nvPr/>
        </p:nvSpPr>
        <p:spPr>
          <a:xfrm>
            <a:off x="793790" y="6699766"/>
            <a:ext cx="13042821"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1E3063"/>
              </a:buClr>
              <a:buSzPts val="1550"/>
              <a:buFont typeface="Instrument Sans"/>
              <a:buNone/>
            </a:pPr>
            <a:r>
              <a:rPr b="0" i="0" lang="en-US" sz="1600" u="none" cap="none" strike="noStrike">
                <a:solidFill>
                  <a:srgbClr val="1E3063"/>
                </a:solidFill>
                <a:latin typeface="Instrument Sans"/>
                <a:ea typeface="Instrument Sans"/>
                <a:cs typeface="Instrument Sans"/>
                <a:sym typeface="Instrument Sans"/>
              </a:rPr>
              <a:t>今日学んだことを活かして、ぜひ複数のガクチカを準備してみてください</a:t>
            </a:r>
            <a:r>
              <a:rPr lang="en-US" sz="1600">
                <a:solidFill>
                  <a:srgbClr val="1E3063"/>
                </a:solidFill>
                <a:latin typeface="Instrument Sans"/>
                <a:ea typeface="Instrument Sans"/>
                <a:cs typeface="Instrument Sans"/>
                <a:sym typeface="Instrument Sans"/>
              </a:rPr>
              <a:t>。</a:t>
            </a:r>
            <a:r>
              <a:rPr lang="en-US" sz="1600">
                <a:solidFill>
                  <a:srgbClr val="1A1C1E"/>
                </a:solidFill>
                <a:highlight>
                  <a:srgbClr val="FFFFFF"/>
                </a:highlight>
              </a:rPr>
              <a:t>今日作成した400字のガクチカをベースに、志望企業に合わせて200字や600字に調整する練習もしておきましょう。基本ができていれば、応用は難しくありません。</a:t>
            </a:r>
            <a:endParaRPr b="0" i="0" sz="1600" u="none" cap="none" strike="noStrike"/>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pic>
        <p:nvPicPr>
          <p:cNvPr descr="preencoded.png" id="421" name="Google Shape;421;p41"/>
          <p:cNvPicPr preferRelativeResize="0"/>
          <p:nvPr/>
        </p:nvPicPr>
        <p:blipFill rotWithShape="1">
          <a:blip r:embed="rId3">
            <a:alphaModFix/>
          </a:blip>
          <a:srcRect b="0" l="0" r="0" t="0"/>
          <a:stretch/>
        </p:blipFill>
        <p:spPr>
          <a:xfrm>
            <a:off x="8869680" y="0"/>
            <a:ext cx="5760720" cy="8233529"/>
          </a:xfrm>
          <a:prstGeom prst="rect">
            <a:avLst/>
          </a:prstGeom>
          <a:noFill/>
          <a:ln>
            <a:noFill/>
          </a:ln>
        </p:spPr>
      </p:pic>
      <p:sp>
        <p:nvSpPr>
          <p:cNvPr id="422" name="Google Shape;422;p41"/>
          <p:cNvSpPr/>
          <p:nvPr/>
        </p:nvSpPr>
        <p:spPr>
          <a:xfrm>
            <a:off x="692587" y="476131"/>
            <a:ext cx="7758827" cy="108227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91C53"/>
              </a:buClr>
              <a:buSzPts val="3400"/>
              <a:buFont typeface="Instrument Sans"/>
              <a:buNone/>
            </a:pPr>
            <a:r>
              <a:rPr b="0" i="0" lang="en-US" sz="3400" u="none" cap="none" strike="noStrike">
                <a:solidFill>
                  <a:srgbClr val="091C53"/>
                </a:solidFill>
                <a:latin typeface="Instrument Sans"/>
                <a:ea typeface="Instrument Sans"/>
                <a:cs typeface="Instrument Sans"/>
                <a:sym typeface="Instrument Sans"/>
              </a:rPr>
              <a:t>次のステップ：ガクチカを実践で活かすために</a:t>
            </a:r>
            <a:endParaRPr b="0" i="0" sz="3400" u="none" cap="none" strike="noStrike"/>
          </a:p>
        </p:txBody>
      </p:sp>
      <p:sp>
        <p:nvSpPr>
          <p:cNvPr id="423" name="Google Shape;423;p41"/>
          <p:cNvSpPr/>
          <p:nvPr/>
        </p:nvSpPr>
        <p:spPr>
          <a:xfrm>
            <a:off x="692587" y="1818084"/>
            <a:ext cx="173117" cy="1551384"/>
          </a:xfrm>
          <a:prstGeom prst="roundRect">
            <a:avLst>
              <a:gd fmla="val 90021"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41"/>
          <p:cNvSpPr/>
          <p:nvPr/>
        </p:nvSpPr>
        <p:spPr>
          <a:xfrm>
            <a:off x="1038820" y="1991201"/>
            <a:ext cx="2596158" cy="27051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1E3063"/>
              </a:buClr>
              <a:buSzPts val="1700"/>
              <a:buFont typeface="Instrument Sans"/>
              <a:buNone/>
            </a:pPr>
            <a:r>
              <a:rPr b="0" i="0" lang="en-US" sz="1700" u="none" cap="none" strike="noStrike">
                <a:solidFill>
                  <a:srgbClr val="1E3063"/>
                </a:solidFill>
                <a:latin typeface="Instrument Sans"/>
                <a:ea typeface="Instrument Sans"/>
                <a:cs typeface="Instrument Sans"/>
                <a:sym typeface="Instrument Sans"/>
              </a:rPr>
              <a:t>複数のガクチカを準備する</a:t>
            </a:r>
            <a:endParaRPr b="0" i="0" sz="1700" u="none" cap="none" strike="noStrike"/>
          </a:p>
        </p:txBody>
      </p:sp>
      <p:sp>
        <p:nvSpPr>
          <p:cNvPr id="425" name="Google Shape;425;p41"/>
          <p:cNvSpPr/>
          <p:nvPr/>
        </p:nvSpPr>
        <p:spPr>
          <a:xfrm>
            <a:off x="1038820" y="2365534"/>
            <a:ext cx="7412593" cy="830818"/>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1E3063"/>
              </a:buClr>
              <a:buSzPts val="1350"/>
              <a:buFont typeface="Instrument Sans"/>
              <a:buNone/>
            </a:pPr>
            <a:r>
              <a:rPr b="0" i="0" lang="en-US" sz="1350" u="none" cap="none" strike="noStrike">
                <a:solidFill>
                  <a:srgbClr val="1E3063"/>
                </a:solidFill>
                <a:latin typeface="Instrument Sans"/>
                <a:ea typeface="Instrument Sans"/>
                <a:cs typeface="Instrument Sans"/>
                <a:sym typeface="Instrument Sans"/>
              </a:rPr>
              <a:t>今日学んだ方法で、研究以外の経験も含めて3〜5つのガクチカを準備しておきましょう。企業や職種によって使い分けられるよう、異なる強みをアピールするガクチカを用意しておくと安心です。</a:t>
            </a:r>
            <a:endParaRPr b="0" i="0" sz="1350" u="none" cap="none" strike="noStrike"/>
          </a:p>
        </p:txBody>
      </p:sp>
      <p:sp>
        <p:nvSpPr>
          <p:cNvPr id="426" name="Google Shape;426;p41"/>
          <p:cNvSpPr/>
          <p:nvPr/>
        </p:nvSpPr>
        <p:spPr>
          <a:xfrm>
            <a:off x="952262" y="3499247"/>
            <a:ext cx="173117" cy="1551384"/>
          </a:xfrm>
          <a:prstGeom prst="roundRect">
            <a:avLst>
              <a:gd fmla="val 90021"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41"/>
          <p:cNvSpPr/>
          <p:nvPr/>
        </p:nvSpPr>
        <p:spPr>
          <a:xfrm>
            <a:off x="1298496" y="3672364"/>
            <a:ext cx="2164437" cy="27051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1E3063"/>
              </a:buClr>
              <a:buSzPts val="1700"/>
              <a:buFont typeface="Instrument Sans"/>
              <a:buNone/>
            </a:pPr>
            <a:r>
              <a:rPr b="0" i="0" lang="en-US" sz="1700" u="none" cap="none" strike="noStrike">
                <a:solidFill>
                  <a:srgbClr val="1E3063"/>
                </a:solidFill>
                <a:latin typeface="Instrument Sans"/>
                <a:ea typeface="Instrument Sans"/>
                <a:cs typeface="Instrument Sans"/>
                <a:sym typeface="Instrument Sans"/>
              </a:rPr>
              <a:t>模擬面接で練習する</a:t>
            </a:r>
            <a:endParaRPr b="0" i="0" sz="1700" u="none" cap="none" strike="noStrike"/>
          </a:p>
        </p:txBody>
      </p:sp>
      <p:sp>
        <p:nvSpPr>
          <p:cNvPr id="428" name="Google Shape;428;p41"/>
          <p:cNvSpPr/>
          <p:nvPr/>
        </p:nvSpPr>
        <p:spPr>
          <a:xfrm>
            <a:off x="1298496" y="4046696"/>
            <a:ext cx="7152918" cy="830818"/>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1E3063"/>
              </a:buClr>
              <a:buSzPts val="1350"/>
              <a:buFont typeface="Instrument Sans"/>
              <a:buNone/>
            </a:pPr>
            <a:r>
              <a:rPr b="0" i="0" lang="en-US" sz="1350" u="none" cap="none" strike="noStrike">
                <a:solidFill>
                  <a:srgbClr val="1E3063"/>
                </a:solidFill>
                <a:latin typeface="Instrument Sans"/>
                <a:ea typeface="Instrument Sans"/>
                <a:cs typeface="Instrument Sans"/>
                <a:sym typeface="Instrument Sans"/>
              </a:rPr>
              <a:t>友人や先輩、キャリア</a:t>
            </a:r>
            <a:r>
              <a:rPr lang="en-US" sz="1350">
                <a:solidFill>
                  <a:srgbClr val="1E3063"/>
                </a:solidFill>
                <a:latin typeface="Instrument Sans"/>
                <a:ea typeface="Instrument Sans"/>
                <a:cs typeface="Instrument Sans"/>
                <a:sym typeface="Instrument Sans"/>
              </a:rPr>
              <a:t>アップ</a:t>
            </a:r>
            <a:r>
              <a:rPr b="0" i="0" lang="en-US" sz="1350" u="none" cap="none" strike="noStrike">
                <a:solidFill>
                  <a:srgbClr val="1E3063"/>
                </a:solidFill>
                <a:latin typeface="Instrument Sans"/>
                <a:ea typeface="Instrument Sans"/>
                <a:cs typeface="Instrument Sans"/>
                <a:sym typeface="Instrument Sans"/>
              </a:rPr>
              <a:t>センターのアドバイザーなどに協力してもらい、実際に声に出して話す練習をしましょう。話しながら考えるのではなく、スムーズに話せるよう準備しておくことが重要です。</a:t>
            </a:r>
            <a:endParaRPr b="0" i="0" sz="1350" u="none" cap="none" strike="noStrike"/>
          </a:p>
        </p:txBody>
      </p:sp>
      <p:sp>
        <p:nvSpPr>
          <p:cNvPr id="429" name="Google Shape;429;p41"/>
          <p:cNvSpPr/>
          <p:nvPr/>
        </p:nvSpPr>
        <p:spPr>
          <a:xfrm>
            <a:off x="1212056" y="5180409"/>
            <a:ext cx="173117" cy="1551384"/>
          </a:xfrm>
          <a:prstGeom prst="roundRect">
            <a:avLst>
              <a:gd fmla="val 90021"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41"/>
          <p:cNvSpPr/>
          <p:nvPr/>
        </p:nvSpPr>
        <p:spPr>
          <a:xfrm>
            <a:off x="1558290" y="5353526"/>
            <a:ext cx="2164437" cy="27051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1E3063"/>
              </a:buClr>
              <a:buSzPts val="1700"/>
              <a:buFont typeface="Instrument Sans"/>
              <a:buNone/>
            </a:pPr>
            <a:r>
              <a:rPr b="0" i="0" lang="en-US" sz="1700" u="none" cap="none" strike="noStrike">
                <a:solidFill>
                  <a:srgbClr val="1E3063"/>
                </a:solidFill>
                <a:latin typeface="Instrument Sans"/>
                <a:ea typeface="Instrument Sans"/>
                <a:cs typeface="Instrument Sans"/>
                <a:sym typeface="Instrument Sans"/>
              </a:rPr>
              <a:t>企業研究と結びつける</a:t>
            </a:r>
            <a:endParaRPr b="0" i="0" sz="1700" u="none" cap="none" strike="noStrike"/>
          </a:p>
        </p:txBody>
      </p:sp>
      <p:sp>
        <p:nvSpPr>
          <p:cNvPr id="431" name="Google Shape;431;p41"/>
          <p:cNvSpPr/>
          <p:nvPr/>
        </p:nvSpPr>
        <p:spPr>
          <a:xfrm>
            <a:off x="1558290" y="5727859"/>
            <a:ext cx="6893123" cy="830818"/>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1E3063"/>
              </a:buClr>
              <a:buSzPts val="1350"/>
              <a:buFont typeface="Instrument Sans"/>
              <a:buNone/>
            </a:pPr>
            <a:r>
              <a:rPr b="0" i="0" lang="en-US" sz="1350" u="none" cap="none" strike="noStrike">
                <a:solidFill>
                  <a:srgbClr val="1E3063"/>
                </a:solidFill>
                <a:latin typeface="Instrument Sans"/>
                <a:ea typeface="Instrument Sans"/>
                <a:cs typeface="Instrument Sans"/>
                <a:sym typeface="Instrument Sans"/>
              </a:rPr>
              <a:t>志望企業の求める人材像や事業内容を調査し、自分のガクチカがその企業でどう活かせるかを具体的に考えておきましょう。企業ごとにカスタマイズすることで、採用担当者の心に響くガクチカになります。</a:t>
            </a:r>
            <a:endParaRPr b="0" i="0" sz="1350" u="none" cap="none" strike="noStrike"/>
          </a:p>
        </p:txBody>
      </p:sp>
      <p:sp>
        <p:nvSpPr>
          <p:cNvPr id="432" name="Google Shape;432;p41"/>
          <p:cNvSpPr/>
          <p:nvPr/>
        </p:nvSpPr>
        <p:spPr>
          <a:xfrm>
            <a:off x="692587" y="6926580"/>
            <a:ext cx="7758827" cy="830818"/>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1E3063"/>
              </a:buClr>
              <a:buSzPts val="1350"/>
              <a:buFont typeface="Instrument Sans"/>
              <a:buNone/>
            </a:pPr>
            <a:r>
              <a:rPr b="0" i="0" lang="en-US" sz="1350" u="none" cap="none" strike="noStrike">
                <a:solidFill>
                  <a:srgbClr val="1E3063"/>
                </a:solidFill>
                <a:latin typeface="Instrument Sans"/>
                <a:ea typeface="Instrument Sans"/>
                <a:cs typeface="Instrument Sans"/>
                <a:sym typeface="Instrument Sans"/>
              </a:rPr>
              <a:t>就職活動は自己理解と企業理解の融合です。今日作成したガクチカを基盤に、さらに企業研究を深め、自分と企業の接点を見つけていきましょう。キャリアセンターでの個別相談も積極的に活用してください。</a:t>
            </a:r>
            <a:endParaRPr b="0" i="0" sz="13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